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Override PartName="/ppt/slides/slide152.xml" ContentType="application/vnd.openxmlformats-officedocument.presentationml.slide+xml"/>
  <Override PartName="/ppt/notesSlides/notesSlide152.xml" ContentType="application/vnd.openxmlformats-officedocument.presentationml.notesSlide+xml"/>
  <Override PartName="/ppt/slides/slide153.xml" ContentType="application/vnd.openxmlformats-officedocument.presentationml.slide+xml"/>
  <Override PartName="/ppt/notesSlides/notesSlide153.xml" ContentType="application/vnd.openxmlformats-officedocument.presentationml.notesSlide+xml"/>
  <Override PartName="/ppt/slides/slide154.xml" ContentType="application/vnd.openxmlformats-officedocument.presentationml.slide+xml"/>
  <Override PartName="/ppt/notesSlides/notesSlide154.xml" ContentType="application/vnd.openxmlformats-officedocument.presentationml.notesSlide+xml"/>
  <Override PartName="/ppt/slides/slide155.xml" ContentType="application/vnd.openxmlformats-officedocument.presentationml.slide+xml"/>
  <Override PartName="/ppt/notesSlides/notesSlide155.xml" ContentType="application/vnd.openxmlformats-officedocument.presentationml.notesSlide+xml"/>
  <Override PartName="/ppt/slides/slide156.xml" ContentType="application/vnd.openxmlformats-officedocument.presentationml.slide+xml"/>
  <Override PartName="/ppt/notesSlides/notesSlide156.xml" ContentType="application/vnd.openxmlformats-officedocument.presentationml.notesSlide+xml"/>
  <Override PartName="/ppt/slides/slide157.xml" ContentType="application/vnd.openxmlformats-officedocument.presentationml.slide+xml"/>
  <Override PartName="/ppt/notesSlides/notesSlide157.xml" ContentType="application/vnd.openxmlformats-officedocument.presentationml.notesSlide+xml"/>
  <Override PartName="/ppt/slides/slide158.xml" ContentType="application/vnd.openxmlformats-officedocument.presentationml.slide+xml"/>
  <Override PartName="/ppt/notesSlides/notesSlide158.xml" ContentType="application/vnd.openxmlformats-officedocument.presentationml.notesSlide+xml"/>
  <Override PartName="/ppt/slides/slide159.xml" ContentType="application/vnd.openxmlformats-officedocument.presentationml.slide+xml"/>
  <Override PartName="/ppt/notesSlides/notesSlide159.xml" ContentType="application/vnd.openxmlformats-officedocument.presentationml.notesSlide+xml"/>
  <Override PartName="/ppt/slides/slide160.xml" ContentType="application/vnd.openxmlformats-officedocument.presentationml.slide+xml"/>
  <Override PartName="/ppt/notesSlides/notesSlide160.xml" ContentType="application/vnd.openxmlformats-officedocument.presentationml.notesSlide+xml"/>
  <Override PartName="/ppt/slides/slide161.xml" ContentType="application/vnd.openxmlformats-officedocument.presentationml.slide+xml"/>
  <Override PartName="/ppt/notesSlides/notesSlide161.xml" ContentType="application/vnd.openxmlformats-officedocument.presentationml.notesSlide+xml"/>
  <Override PartName="/ppt/slides/slide162.xml" ContentType="application/vnd.openxmlformats-officedocument.presentationml.slide+xml"/>
  <Override PartName="/ppt/notesSlides/notesSlide162.xml" ContentType="application/vnd.openxmlformats-officedocument.presentationml.notesSlide+xml"/>
  <Override PartName="/ppt/slides/slide163.xml" ContentType="application/vnd.openxmlformats-officedocument.presentationml.slide+xml"/>
  <Override PartName="/ppt/notesSlides/notesSlide163.xml" ContentType="application/vnd.openxmlformats-officedocument.presentationml.notesSlide+xml"/>
  <Override PartName="/ppt/slides/slide164.xml" ContentType="application/vnd.openxmlformats-officedocument.presentationml.slide+xml"/>
  <Override PartName="/ppt/notesSlides/notesSlide164.xml" ContentType="application/vnd.openxmlformats-officedocument.presentationml.notesSlide+xml"/>
  <Override PartName="/ppt/slides/slide165.xml" ContentType="application/vnd.openxmlformats-officedocument.presentationml.slide+xml"/>
  <Override PartName="/ppt/notesSlides/notesSlide165.xml" ContentType="application/vnd.openxmlformats-officedocument.presentationml.notesSlide+xml"/>
  <Override PartName="/ppt/slides/slide166.xml" ContentType="application/vnd.openxmlformats-officedocument.presentationml.slide+xml"/>
  <Override PartName="/ppt/notesSlides/notesSlide16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6b051b9da1b4af4" /><Relationship Type="http://schemas.openxmlformats.org/officeDocument/2006/relationships/extended-properties" Target="/docProps/app.xml" Id="Rf8ae44490dbf4042" /><Relationship Type="http://schemas.openxmlformats.org/officeDocument/2006/relationships/officeDocument" Target="/ppt/presentation.xml" Id="R166aaf3dcb9f4300" /></Relationships>
</file>

<file path=ppt/presentation.xml><?xml version="1.0" encoding="utf-8"?>
<p:presentation xmlns:p="http://schemas.openxmlformats.org/presentationml/2006/main">
  <p:sldMasterIdLst>
    <p:sldMasterId xmlns:r="http://schemas.openxmlformats.org/officeDocument/2006/relationships" id="2147483648" r:id="R460865f309ff4056"/>
  </p:sldMasterIdLst>
  <p:notesMasterIdLst>
    <p:notesMasterId xmlns:r="http://schemas.openxmlformats.org/officeDocument/2006/relationships" r:id="R22f445dea5c3434b"/>
  </p:notesMasterIdLst>
  <p:sldIdLst>
    <p:sldId xmlns:r="http://schemas.openxmlformats.org/officeDocument/2006/relationships" id="256" r:id="R3b1a70d8b92a49ab"/>
    <p:sldId xmlns:r="http://schemas.openxmlformats.org/officeDocument/2006/relationships" id="257" r:id="R2680c4d3bf574c62"/>
    <p:sldId xmlns:r="http://schemas.openxmlformats.org/officeDocument/2006/relationships" id="258" r:id="R9c1375db24814b80"/>
    <p:sldId xmlns:r="http://schemas.openxmlformats.org/officeDocument/2006/relationships" id="259" r:id="Rd91fdd40bfe0496e"/>
    <p:sldId xmlns:r="http://schemas.openxmlformats.org/officeDocument/2006/relationships" id="260" r:id="R579b0bb4c62647dd"/>
    <p:sldId xmlns:r="http://schemas.openxmlformats.org/officeDocument/2006/relationships" id="261" r:id="R37209d0217fa43aa"/>
    <p:sldId xmlns:r="http://schemas.openxmlformats.org/officeDocument/2006/relationships" id="262" r:id="R144cdcf8402541cf"/>
    <p:sldId xmlns:r="http://schemas.openxmlformats.org/officeDocument/2006/relationships" id="263" r:id="R73aa6dcf059d4611"/>
    <p:sldId xmlns:r="http://schemas.openxmlformats.org/officeDocument/2006/relationships" id="264" r:id="Rb9d61c2ccf9a43b2"/>
    <p:sldId xmlns:r="http://schemas.openxmlformats.org/officeDocument/2006/relationships" id="265" r:id="R0928b33fdc6b467d"/>
    <p:sldId xmlns:r="http://schemas.openxmlformats.org/officeDocument/2006/relationships" id="266" r:id="Rfdc1f18e243948a2"/>
    <p:sldId xmlns:r="http://schemas.openxmlformats.org/officeDocument/2006/relationships" id="267" r:id="R384d4a0306ed4441"/>
    <p:sldId xmlns:r="http://schemas.openxmlformats.org/officeDocument/2006/relationships" id="268" r:id="R009a8f96d1f64a06"/>
    <p:sldId xmlns:r="http://schemas.openxmlformats.org/officeDocument/2006/relationships" id="269" r:id="Rfe488d3cef0e4dff"/>
    <p:sldId xmlns:r="http://schemas.openxmlformats.org/officeDocument/2006/relationships" id="270" r:id="R5ad854eccb7946ab"/>
    <p:sldId xmlns:r="http://schemas.openxmlformats.org/officeDocument/2006/relationships" id="271" r:id="R1768c37bea324e25"/>
    <p:sldId xmlns:r="http://schemas.openxmlformats.org/officeDocument/2006/relationships" id="272" r:id="Re917839cd14642c1"/>
    <p:sldId xmlns:r="http://schemas.openxmlformats.org/officeDocument/2006/relationships" id="273" r:id="R23090bff158e43c9"/>
    <p:sldId xmlns:r="http://schemas.openxmlformats.org/officeDocument/2006/relationships" id="274" r:id="Rbb74017464e9402f"/>
    <p:sldId xmlns:r="http://schemas.openxmlformats.org/officeDocument/2006/relationships" id="275" r:id="R16923c857efb48ff"/>
    <p:sldId xmlns:r="http://schemas.openxmlformats.org/officeDocument/2006/relationships" id="276" r:id="R98101f7fae3345f3"/>
    <p:sldId xmlns:r="http://schemas.openxmlformats.org/officeDocument/2006/relationships" id="277" r:id="R5bd49df415144389"/>
    <p:sldId xmlns:r="http://schemas.openxmlformats.org/officeDocument/2006/relationships" id="278" r:id="R0db30cf6ed8f4a08"/>
    <p:sldId xmlns:r="http://schemas.openxmlformats.org/officeDocument/2006/relationships" id="279" r:id="R9eac37d6183d403a"/>
    <p:sldId xmlns:r="http://schemas.openxmlformats.org/officeDocument/2006/relationships" id="280" r:id="R337cc2efa675450f"/>
    <p:sldId xmlns:r="http://schemas.openxmlformats.org/officeDocument/2006/relationships" id="281" r:id="R8913d16781d745ac"/>
    <p:sldId xmlns:r="http://schemas.openxmlformats.org/officeDocument/2006/relationships" id="282" r:id="Ra1cd25eae9d54087"/>
    <p:sldId xmlns:r="http://schemas.openxmlformats.org/officeDocument/2006/relationships" id="283" r:id="Rb332f68784d547be"/>
    <p:sldId xmlns:r="http://schemas.openxmlformats.org/officeDocument/2006/relationships" id="284" r:id="R96cc500e6a23446a"/>
    <p:sldId xmlns:r="http://schemas.openxmlformats.org/officeDocument/2006/relationships" id="285" r:id="R6df56bb705434d4f"/>
    <p:sldId xmlns:r="http://schemas.openxmlformats.org/officeDocument/2006/relationships" id="286" r:id="Rc70d6367d1e547d2"/>
    <p:sldId xmlns:r="http://schemas.openxmlformats.org/officeDocument/2006/relationships" id="287" r:id="R92e5ab8a353f4cf3"/>
    <p:sldId xmlns:r="http://schemas.openxmlformats.org/officeDocument/2006/relationships" id="288" r:id="R9da73104e0814835"/>
    <p:sldId xmlns:r="http://schemas.openxmlformats.org/officeDocument/2006/relationships" id="289" r:id="Rb7d8eede988e4d31"/>
    <p:sldId xmlns:r="http://schemas.openxmlformats.org/officeDocument/2006/relationships" id="290" r:id="Rfb2bc9d5a4164707"/>
    <p:sldId xmlns:r="http://schemas.openxmlformats.org/officeDocument/2006/relationships" id="291" r:id="Ra46d71fbdc5b45da"/>
    <p:sldId xmlns:r="http://schemas.openxmlformats.org/officeDocument/2006/relationships" id="292" r:id="R0524c2803d184186"/>
    <p:sldId xmlns:r="http://schemas.openxmlformats.org/officeDocument/2006/relationships" id="293" r:id="Re2d199964a6b4621"/>
    <p:sldId xmlns:r="http://schemas.openxmlformats.org/officeDocument/2006/relationships" id="294" r:id="R3d111fa0471e41e6"/>
    <p:sldId xmlns:r="http://schemas.openxmlformats.org/officeDocument/2006/relationships" id="295" r:id="Rdfc6b174d69444e2"/>
    <p:sldId xmlns:r="http://schemas.openxmlformats.org/officeDocument/2006/relationships" id="296" r:id="Rde25b6804aff4887"/>
    <p:sldId xmlns:r="http://schemas.openxmlformats.org/officeDocument/2006/relationships" id="297" r:id="R42d018dd779a4b01"/>
    <p:sldId xmlns:r="http://schemas.openxmlformats.org/officeDocument/2006/relationships" id="298" r:id="R84d8aa2a406a43a7"/>
    <p:sldId xmlns:r="http://schemas.openxmlformats.org/officeDocument/2006/relationships" id="299" r:id="R1e3f556a76094797"/>
    <p:sldId xmlns:r="http://schemas.openxmlformats.org/officeDocument/2006/relationships" id="300" r:id="R99e55fc028fb4033"/>
    <p:sldId xmlns:r="http://schemas.openxmlformats.org/officeDocument/2006/relationships" id="301" r:id="R05d46b58dba24617"/>
    <p:sldId xmlns:r="http://schemas.openxmlformats.org/officeDocument/2006/relationships" id="302" r:id="R89d460d46cdc4e25"/>
    <p:sldId xmlns:r="http://schemas.openxmlformats.org/officeDocument/2006/relationships" id="303" r:id="R7ce77cd02599458e"/>
    <p:sldId xmlns:r="http://schemas.openxmlformats.org/officeDocument/2006/relationships" id="304" r:id="Rdefb0c5d5a054876"/>
    <p:sldId xmlns:r="http://schemas.openxmlformats.org/officeDocument/2006/relationships" id="305" r:id="R827a2e1a21db4254"/>
    <p:sldId xmlns:r="http://schemas.openxmlformats.org/officeDocument/2006/relationships" id="306" r:id="R54ed87601cc74fcb"/>
    <p:sldId xmlns:r="http://schemas.openxmlformats.org/officeDocument/2006/relationships" id="307" r:id="Rc50b80ed4c7145f9"/>
    <p:sldId xmlns:r="http://schemas.openxmlformats.org/officeDocument/2006/relationships" id="308" r:id="Ra3a0d725985249f1"/>
    <p:sldId xmlns:r="http://schemas.openxmlformats.org/officeDocument/2006/relationships" id="309" r:id="R62050df19e87415b"/>
    <p:sldId xmlns:r="http://schemas.openxmlformats.org/officeDocument/2006/relationships" id="310" r:id="R1bac8d8c316b40d4"/>
    <p:sldId xmlns:r="http://schemas.openxmlformats.org/officeDocument/2006/relationships" id="311" r:id="Ra6672614a985493a"/>
    <p:sldId xmlns:r="http://schemas.openxmlformats.org/officeDocument/2006/relationships" id="312" r:id="R623e226adfb84315"/>
    <p:sldId xmlns:r="http://schemas.openxmlformats.org/officeDocument/2006/relationships" id="313" r:id="R776d8ec39fb64f4c"/>
    <p:sldId xmlns:r="http://schemas.openxmlformats.org/officeDocument/2006/relationships" id="314" r:id="R9159f4947b784e09"/>
    <p:sldId xmlns:r="http://schemas.openxmlformats.org/officeDocument/2006/relationships" id="315" r:id="Rbab24d6f06734108"/>
    <p:sldId xmlns:r="http://schemas.openxmlformats.org/officeDocument/2006/relationships" id="316" r:id="R55ad4ea9b4ec4831"/>
    <p:sldId xmlns:r="http://schemas.openxmlformats.org/officeDocument/2006/relationships" id="317" r:id="R8c4d38965f30431e"/>
    <p:sldId xmlns:r="http://schemas.openxmlformats.org/officeDocument/2006/relationships" id="318" r:id="Rf4708b06e34f451b"/>
    <p:sldId xmlns:r="http://schemas.openxmlformats.org/officeDocument/2006/relationships" id="319" r:id="Rabf79f0d05d249fa"/>
    <p:sldId xmlns:r="http://schemas.openxmlformats.org/officeDocument/2006/relationships" id="320" r:id="Rd4a43ecbe90e45fe"/>
    <p:sldId xmlns:r="http://schemas.openxmlformats.org/officeDocument/2006/relationships" id="321" r:id="R0c2460016ad04df7"/>
    <p:sldId xmlns:r="http://schemas.openxmlformats.org/officeDocument/2006/relationships" id="322" r:id="Rbb38f895b1404c45"/>
    <p:sldId xmlns:r="http://schemas.openxmlformats.org/officeDocument/2006/relationships" id="323" r:id="R2f0e8dc9a94f47f0"/>
    <p:sldId xmlns:r="http://schemas.openxmlformats.org/officeDocument/2006/relationships" id="324" r:id="R95e54fc128af436d"/>
    <p:sldId xmlns:r="http://schemas.openxmlformats.org/officeDocument/2006/relationships" id="325" r:id="R8e41e7213eb049be"/>
    <p:sldId xmlns:r="http://schemas.openxmlformats.org/officeDocument/2006/relationships" id="326" r:id="R05a4cefbb5ef4e15"/>
    <p:sldId xmlns:r="http://schemas.openxmlformats.org/officeDocument/2006/relationships" id="327" r:id="Re73a97c04e904b4a"/>
    <p:sldId xmlns:r="http://schemas.openxmlformats.org/officeDocument/2006/relationships" id="328" r:id="R17d014a3f4cb4e50"/>
    <p:sldId xmlns:r="http://schemas.openxmlformats.org/officeDocument/2006/relationships" id="329" r:id="R3e8d21ffd43d4fc8"/>
    <p:sldId xmlns:r="http://schemas.openxmlformats.org/officeDocument/2006/relationships" id="330" r:id="Ra6a68757fb9641cb"/>
    <p:sldId xmlns:r="http://schemas.openxmlformats.org/officeDocument/2006/relationships" id="331" r:id="Rccbecc176a9843ff"/>
    <p:sldId xmlns:r="http://schemas.openxmlformats.org/officeDocument/2006/relationships" id="332" r:id="Rd0ecfe9a05304a9f"/>
    <p:sldId xmlns:r="http://schemas.openxmlformats.org/officeDocument/2006/relationships" id="333" r:id="R7cfa62b7e8ce4b2f"/>
    <p:sldId xmlns:r="http://schemas.openxmlformats.org/officeDocument/2006/relationships" id="334" r:id="Rb19f2e41fbe84043"/>
    <p:sldId xmlns:r="http://schemas.openxmlformats.org/officeDocument/2006/relationships" id="335" r:id="R025fc1b2ecba4803"/>
    <p:sldId xmlns:r="http://schemas.openxmlformats.org/officeDocument/2006/relationships" id="336" r:id="R4987a7a3445b46b5"/>
    <p:sldId xmlns:r="http://schemas.openxmlformats.org/officeDocument/2006/relationships" id="337" r:id="R498b581860a047f1"/>
    <p:sldId xmlns:r="http://schemas.openxmlformats.org/officeDocument/2006/relationships" id="338" r:id="R7d273813f63c476c"/>
    <p:sldId xmlns:r="http://schemas.openxmlformats.org/officeDocument/2006/relationships" id="339" r:id="R9c454372173e45d2"/>
    <p:sldId xmlns:r="http://schemas.openxmlformats.org/officeDocument/2006/relationships" id="340" r:id="R6b15387d24864166"/>
    <p:sldId xmlns:r="http://schemas.openxmlformats.org/officeDocument/2006/relationships" id="341" r:id="R6c2dae72f6904ae3"/>
    <p:sldId xmlns:r="http://schemas.openxmlformats.org/officeDocument/2006/relationships" id="342" r:id="Rdc907bfa30454134"/>
    <p:sldId xmlns:r="http://schemas.openxmlformats.org/officeDocument/2006/relationships" id="343" r:id="R39fd3e71f07d493a"/>
    <p:sldId xmlns:r="http://schemas.openxmlformats.org/officeDocument/2006/relationships" id="344" r:id="R61b43153321d4eee"/>
    <p:sldId xmlns:r="http://schemas.openxmlformats.org/officeDocument/2006/relationships" id="345" r:id="Rd43a74c71b4d46db"/>
    <p:sldId xmlns:r="http://schemas.openxmlformats.org/officeDocument/2006/relationships" id="346" r:id="R4d96bcbf3ff449c1"/>
    <p:sldId xmlns:r="http://schemas.openxmlformats.org/officeDocument/2006/relationships" id="347" r:id="Ra199e1329e4e48a1"/>
    <p:sldId xmlns:r="http://schemas.openxmlformats.org/officeDocument/2006/relationships" id="348" r:id="Rbec795016746489e"/>
    <p:sldId xmlns:r="http://schemas.openxmlformats.org/officeDocument/2006/relationships" id="349" r:id="Ra03b9ce1e8fb4f11"/>
    <p:sldId xmlns:r="http://schemas.openxmlformats.org/officeDocument/2006/relationships" id="350" r:id="R72383ad63db94b2d"/>
    <p:sldId xmlns:r="http://schemas.openxmlformats.org/officeDocument/2006/relationships" id="351" r:id="R75c301549be441e1"/>
    <p:sldId xmlns:r="http://schemas.openxmlformats.org/officeDocument/2006/relationships" id="352" r:id="Rc3e7ed771cbb42cd"/>
    <p:sldId xmlns:r="http://schemas.openxmlformats.org/officeDocument/2006/relationships" id="353" r:id="R34110366b67e4a6e"/>
    <p:sldId xmlns:r="http://schemas.openxmlformats.org/officeDocument/2006/relationships" id="354" r:id="R7c91687d00634138"/>
    <p:sldId xmlns:r="http://schemas.openxmlformats.org/officeDocument/2006/relationships" id="355" r:id="Rd084a89249954b31"/>
    <p:sldId xmlns:r="http://schemas.openxmlformats.org/officeDocument/2006/relationships" id="356" r:id="R0410cddbd3c64139"/>
    <p:sldId xmlns:r="http://schemas.openxmlformats.org/officeDocument/2006/relationships" id="357" r:id="R6d9f0edd1a4e439c"/>
    <p:sldId xmlns:r="http://schemas.openxmlformats.org/officeDocument/2006/relationships" id="358" r:id="R4659ace597284fa0"/>
    <p:sldId xmlns:r="http://schemas.openxmlformats.org/officeDocument/2006/relationships" id="359" r:id="R12a4d97ab4e74801"/>
    <p:sldId xmlns:r="http://schemas.openxmlformats.org/officeDocument/2006/relationships" id="360" r:id="R76e122c10da94de5"/>
    <p:sldId xmlns:r="http://schemas.openxmlformats.org/officeDocument/2006/relationships" id="361" r:id="R30f18fc3bd5f4fde"/>
    <p:sldId xmlns:r="http://schemas.openxmlformats.org/officeDocument/2006/relationships" id="362" r:id="R8769afb2f9ce4db9"/>
    <p:sldId xmlns:r="http://schemas.openxmlformats.org/officeDocument/2006/relationships" id="363" r:id="R29b53d4ddbb14f03"/>
    <p:sldId xmlns:r="http://schemas.openxmlformats.org/officeDocument/2006/relationships" id="364" r:id="R3bcfd0b3c9084d2b"/>
    <p:sldId xmlns:r="http://schemas.openxmlformats.org/officeDocument/2006/relationships" id="365" r:id="R65c2e5102fe9442d"/>
    <p:sldId xmlns:r="http://schemas.openxmlformats.org/officeDocument/2006/relationships" id="366" r:id="Rb8e43b8e728b416e"/>
    <p:sldId xmlns:r="http://schemas.openxmlformats.org/officeDocument/2006/relationships" id="367" r:id="Re0252ccc37a04dac"/>
    <p:sldId xmlns:r="http://schemas.openxmlformats.org/officeDocument/2006/relationships" id="368" r:id="R9f182623ed40430a"/>
    <p:sldId xmlns:r="http://schemas.openxmlformats.org/officeDocument/2006/relationships" id="369" r:id="Rac2f1f4becce4903"/>
    <p:sldId xmlns:r="http://schemas.openxmlformats.org/officeDocument/2006/relationships" id="370" r:id="Rbdcf139f81a54035"/>
    <p:sldId xmlns:r="http://schemas.openxmlformats.org/officeDocument/2006/relationships" id="371" r:id="R1a7605d1f24c4e92"/>
    <p:sldId xmlns:r="http://schemas.openxmlformats.org/officeDocument/2006/relationships" id="372" r:id="R60a84d7c2cea4d82"/>
    <p:sldId xmlns:r="http://schemas.openxmlformats.org/officeDocument/2006/relationships" id="373" r:id="Rb0baf0b33f73421e"/>
    <p:sldId xmlns:r="http://schemas.openxmlformats.org/officeDocument/2006/relationships" id="374" r:id="R2a05a91feee14f42"/>
    <p:sldId xmlns:r="http://schemas.openxmlformats.org/officeDocument/2006/relationships" id="375" r:id="R01fca217477c443f"/>
    <p:sldId xmlns:r="http://schemas.openxmlformats.org/officeDocument/2006/relationships" id="376" r:id="R567eb45cc3d14998"/>
    <p:sldId xmlns:r="http://schemas.openxmlformats.org/officeDocument/2006/relationships" id="377" r:id="R5be8948addb34e99"/>
    <p:sldId xmlns:r="http://schemas.openxmlformats.org/officeDocument/2006/relationships" id="378" r:id="Rd0469710180b4cd2"/>
    <p:sldId xmlns:r="http://schemas.openxmlformats.org/officeDocument/2006/relationships" id="379" r:id="Rd04c318717494ddb"/>
    <p:sldId xmlns:r="http://schemas.openxmlformats.org/officeDocument/2006/relationships" id="380" r:id="R85c18bfc91134242"/>
    <p:sldId xmlns:r="http://schemas.openxmlformats.org/officeDocument/2006/relationships" id="381" r:id="Rb90773c085f54924"/>
    <p:sldId xmlns:r="http://schemas.openxmlformats.org/officeDocument/2006/relationships" id="382" r:id="Rcf6ca234e1a8459c"/>
    <p:sldId xmlns:r="http://schemas.openxmlformats.org/officeDocument/2006/relationships" id="383" r:id="R142034f3051c4a8d"/>
    <p:sldId xmlns:r="http://schemas.openxmlformats.org/officeDocument/2006/relationships" id="384" r:id="Rb9e20270ba944964"/>
    <p:sldId xmlns:r="http://schemas.openxmlformats.org/officeDocument/2006/relationships" id="385" r:id="R811c7a26dc9a41ec"/>
    <p:sldId xmlns:r="http://schemas.openxmlformats.org/officeDocument/2006/relationships" id="386" r:id="R1d6c13f8ca234dde"/>
    <p:sldId xmlns:r="http://schemas.openxmlformats.org/officeDocument/2006/relationships" id="387" r:id="R6698c9c89e3742ba"/>
    <p:sldId xmlns:r="http://schemas.openxmlformats.org/officeDocument/2006/relationships" id="388" r:id="R13d7f75b25c74363"/>
    <p:sldId xmlns:r="http://schemas.openxmlformats.org/officeDocument/2006/relationships" id="389" r:id="R599e462e4b6643c0"/>
    <p:sldId xmlns:r="http://schemas.openxmlformats.org/officeDocument/2006/relationships" id="390" r:id="Rcd71679b6fb74e3e"/>
    <p:sldId xmlns:r="http://schemas.openxmlformats.org/officeDocument/2006/relationships" id="391" r:id="R0c96218f03504401"/>
    <p:sldId xmlns:r="http://schemas.openxmlformats.org/officeDocument/2006/relationships" id="392" r:id="R1e04eb1df0ab4e00"/>
    <p:sldId xmlns:r="http://schemas.openxmlformats.org/officeDocument/2006/relationships" id="393" r:id="Rb3e0af2faeff4819"/>
    <p:sldId xmlns:r="http://schemas.openxmlformats.org/officeDocument/2006/relationships" id="394" r:id="Rf6db09f402d94a69"/>
    <p:sldId xmlns:r="http://schemas.openxmlformats.org/officeDocument/2006/relationships" id="395" r:id="R5dc134105efe4fb1"/>
    <p:sldId xmlns:r="http://schemas.openxmlformats.org/officeDocument/2006/relationships" id="396" r:id="R8410823b86004210"/>
    <p:sldId xmlns:r="http://schemas.openxmlformats.org/officeDocument/2006/relationships" id="397" r:id="Re21d0cca3f0b4709"/>
    <p:sldId xmlns:r="http://schemas.openxmlformats.org/officeDocument/2006/relationships" id="398" r:id="Rb81557f7d56f4d77"/>
    <p:sldId xmlns:r="http://schemas.openxmlformats.org/officeDocument/2006/relationships" id="399" r:id="R14ace4cff5a04450"/>
    <p:sldId xmlns:r="http://schemas.openxmlformats.org/officeDocument/2006/relationships" id="400" r:id="R289802b55afc45ba"/>
    <p:sldId xmlns:r="http://schemas.openxmlformats.org/officeDocument/2006/relationships" id="401" r:id="Rb3a0bc7fb5a04c5d"/>
    <p:sldId xmlns:r="http://schemas.openxmlformats.org/officeDocument/2006/relationships" id="402" r:id="R47d020f4ba034efc"/>
    <p:sldId xmlns:r="http://schemas.openxmlformats.org/officeDocument/2006/relationships" id="403" r:id="R9205a1678e2f4e83"/>
    <p:sldId xmlns:r="http://schemas.openxmlformats.org/officeDocument/2006/relationships" id="404" r:id="R84f34ab862464757"/>
    <p:sldId xmlns:r="http://schemas.openxmlformats.org/officeDocument/2006/relationships" id="405" r:id="R79b63ec518fc40a8"/>
    <p:sldId xmlns:r="http://schemas.openxmlformats.org/officeDocument/2006/relationships" id="406" r:id="R5f890cf9bb484ed3"/>
    <p:sldId xmlns:r="http://schemas.openxmlformats.org/officeDocument/2006/relationships" id="407" r:id="R19e6397c021b43c9"/>
    <p:sldId xmlns:r="http://schemas.openxmlformats.org/officeDocument/2006/relationships" id="408" r:id="Rc6c2f20e28a4453a"/>
    <p:sldId xmlns:r="http://schemas.openxmlformats.org/officeDocument/2006/relationships" id="409" r:id="R5aa6f26ee8b14de4"/>
    <p:sldId xmlns:r="http://schemas.openxmlformats.org/officeDocument/2006/relationships" id="410" r:id="Ra3d487e3b702488f"/>
    <p:sldId xmlns:r="http://schemas.openxmlformats.org/officeDocument/2006/relationships" id="411" r:id="Rca6eec1e64a64743"/>
    <p:sldId xmlns:r="http://schemas.openxmlformats.org/officeDocument/2006/relationships" id="412" r:id="R2c096e78312e4d95"/>
    <p:sldId xmlns:r="http://schemas.openxmlformats.org/officeDocument/2006/relationships" id="413" r:id="R9edb994af3394f47"/>
    <p:sldId xmlns:r="http://schemas.openxmlformats.org/officeDocument/2006/relationships" id="414" r:id="Rc1bf577d37c14d50"/>
    <p:sldId xmlns:r="http://schemas.openxmlformats.org/officeDocument/2006/relationships" id="415" r:id="Rb205507f929a49e8"/>
    <p:sldId xmlns:r="http://schemas.openxmlformats.org/officeDocument/2006/relationships" id="416" r:id="Re7da66bbb0844616"/>
    <p:sldId xmlns:r="http://schemas.openxmlformats.org/officeDocument/2006/relationships" id="417" r:id="R0f114a7dc38f47b0"/>
    <p:sldId xmlns:r="http://schemas.openxmlformats.org/officeDocument/2006/relationships" id="418" r:id="Rf9036afed1574f81"/>
    <p:sldId xmlns:r="http://schemas.openxmlformats.org/officeDocument/2006/relationships" id="419" r:id="Rf150fc88c7cb42d1"/>
    <p:sldId xmlns:r="http://schemas.openxmlformats.org/officeDocument/2006/relationships" id="420" r:id="Ra3bf774950a648bd"/>
    <p:sldId xmlns:r="http://schemas.openxmlformats.org/officeDocument/2006/relationships" id="421" r:id="R5375f0e864d74b9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98aea3602540f7" /><Relationship Type="http://schemas.openxmlformats.org/officeDocument/2006/relationships/slideMaster" Target="/ppt/slideMasters/slideMaster1.xml" Id="R460865f309ff4056" /><Relationship Type="http://schemas.openxmlformats.org/officeDocument/2006/relationships/notesMaster" Target="/ppt/notesMasters/notesMaster1.xml" Id="R22f445dea5c3434b" /><Relationship Type="http://schemas.openxmlformats.org/officeDocument/2006/relationships/presProps" Target="/ppt/presProps.xml" Id="R51e391e86e314df9" /><Relationship Type="http://schemas.openxmlformats.org/officeDocument/2006/relationships/tableStyles" Target="/ppt/tableStyles.xml" Id="Re5c60e5b4de0454e" /><Relationship Type="http://schemas.openxmlformats.org/officeDocument/2006/relationships/slide" Target="/ppt/slides/slide1.xml" Id="R3b1a70d8b92a49ab" /><Relationship Type="http://schemas.openxmlformats.org/officeDocument/2006/relationships/slide" Target="/ppt/slides/slide2.xml" Id="R2680c4d3bf574c62" /><Relationship Type="http://schemas.openxmlformats.org/officeDocument/2006/relationships/slide" Target="/ppt/slides/slide3.xml" Id="R9c1375db24814b80" /><Relationship Type="http://schemas.openxmlformats.org/officeDocument/2006/relationships/slide" Target="/ppt/slides/slide4.xml" Id="Rd91fdd40bfe0496e" /><Relationship Type="http://schemas.openxmlformats.org/officeDocument/2006/relationships/slide" Target="/ppt/slides/slide5.xml" Id="R579b0bb4c62647dd" /><Relationship Type="http://schemas.openxmlformats.org/officeDocument/2006/relationships/slide" Target="/ppt/slides/slide6.xml" Id="R37209d0217fa43aa" /><Relationship Type="http://schemas.openxmlformats.org/officeDocument/2006/relationships/slide" Target="/ppt/slides/slide7.xml" Id="R144cdcf8402541cf" /><Relationship Type="http://schemas.openxmlformats.org/officeDocument/2006/relationships/slide" Target="/ppt/slides/slide8.xml" Id="R73aa6dcf059d4611" /><Relationship Type="http://schemas.openxmlformats.org/officeDocument/2006/relationships/slide" Target="/ppt/slides/slide9.xml" Id="Rb9d61c2ccf9a43b2" /><Relationship Type="http://schemas.openxmlformats.org/officeDocument/2006/relationships/slide" Target="/ppt/slides/slide10.xml" Id="R0928b33fdc6b467d" /><Relationship Type="http://schemas.openxmlformats.org/officeDocument/2006/relationships/slide" Target="/ppt/slides/slide11.xml" Id="Rfdc1f18e243948a2" /><Relationship Type="http://schemas.openxmlformats.org/officeDocument/2006/relationships/slide" Target="/ppt/slides/slide12.xml" Id="R384d4a0306ed4441" /><Relationship Type="http://schemas.openxmlformats.org/officeDocument/2006/relationships/slide" Target="/ppt/slides/slide13.xml" Id="R009a8f96d1f64a06" /><Relationship Type="http://schemas.openxmlformats.org/officeDocument/2006/relationships/slide" Target="/ppt/slides/slide14.xml" Id="Rfe488d3cef0e4dff" /><Relationship Type="http://schemas.openxmlformats.org/officeDocument/2006/relationships/slide" Target="/ppt/slides/slide15.xml" Id="R5ad854eccb7946ab" /><Relationship Type="http://schemas.openxmlformats.org/officeDocument/2006/relationships/slide" Target="/ppt/slides/slide16.xml" Id="R1768c37bea324e25" /><Relationship Type="http://schemas.openxmlformats.org/officeDocument/2006/relationships/slide" Target="/ppt/slides/slide17.xml" Id="Re917839cd14642c1" /><Relationship Type="http://schemas.openxmlformats.org/officeDocument/2006/relationships/slide" Target="/ppt/slides/slide18.xml" Id="R23090bff158e43c9" /><Relationship Type="http://schemas.openxmlformats.org/officeDocument/2006/relationships/slide" Target="/ppt/slides/slide19.xml" Id="Rbb74017464e9402f" /><Relationship Type="http://schemas.openxmlformats.org/officeDocument/2006/relationships/slide" Target="/ppt/slides/slide20.xml" Id="R16923c857efb48ff" /><Relationship Type="http://schemas.openxmlformats.org/officeDocument/2006/relationships/slide" Target="/ppt/slides/slide21.xml" Id="R98101f7fae3345f3" /><Relationship Type="http://schemas.openxmlformats.org/officeDocument/2006/relationships/slide" Target="/ppt/slides/slide22.xml" Id="R5bd49df415144389" /><Relationship Type="http://schemas.openxmlformats.org/officeDocument/2006/relationships/slide" Target="/ppt/slides/slide23.xml" Id="R0db30cf6ed8f4a08" /><Relationship Type="http://schemas.openxmlformats.org/officeDocument/2006/relationships/slide" Target="/ppt/slides/slide24.xml" Id="R9eac37d6183d403a" /><Relationship Type="http://schemas.openxmlformats.org/officeDocument/2006/relationships/slide" Target="/ppt/slides/slide25.xml" Id="R337cc2efa675450f" /><Relationship Type="http://schemas.openxmlformats.org/officeDocument/2006/relationships/slide" Target="/ppt/slides/slide26.xml" Id="R8913d16781d745ac" /><Relationship Type="http://schemas.openxmlformats.org/officeDocument/2006/relationships/slide" Target="/ppt/slides/slide27.xml" Id="Ra1cd25eae9d54087" /><Relationship Type="http://schemas.openxmlformats.org/officeDocument/2006/relationships/slide" Target="/ppt/slides/slide28.xml" Id="Rb332f68784d547be" /><Relationship Type="http://schemas.openxmlformats.org/officeDocument/2006/relationships/slide" Target="/ppt/slides/slide29.xml" Id="R96cc500e6a23446a" /><Relationship Type="http://schemas.openxmlformats.org/officeDocument/2006/relationships/slide" Target="/ppt/slides/slide30.xml" Id="R6df56bb705434d4f" /><Relationship Type="http://schemas.openxmlformats.org/officeDocument/2006/relationships/slide" Target="/ppt/slides/slide31.xml" Id="Rc70d6367d1e547d2" /><Relationship Type="http://schemas.openxmlformats.org/officeDocument/2006/relationships/slide" Target="/ppt/slides/slide32.xml" Id="R92e5ab8a353f4cf3" /><Relationship Type="http://schemas.openxmlformats.org/officeDocument/2006/relationships/slide" Target="/ppt/slides/slide33.xml" Id="R9da73104e0814835" /><Relationship Type="http://schemas.openxmlformats.org/officeDocument/2006/relationships/slide" Target="/ppt/slides/slide34.xml" Id="Rb7d8eede988e4d31" /><Relationship Type="http://schemas.openxmlformats.org/officeDocument/2006/relationships/slide" Target="/ppt/slides/slide35.xml" Id="Rfb2bc9d5a4164707" /><Relationship Type="http://schemas.openxmlformats.org/officeDocument/2006/relationships/slide" Target="/ppt/slides/slide36.xml" Id="Ra46d71fbdc5b45da" /><Relationship Type="http://schemas.openxmlformats.org/officeDocument/2006/relationships/slide" Target="/ppt/slides/slide37.xml" Id="R0524c2803d184186" /><Relationship Type="http://schemas.openxmlformats.org/officeDocument/2006/relationships/slide" Target="/ppt/slides/slide38.xml" Id="Re2d199964a6b4621" /><Relationship Type="http://schemas.openxmlformats.org/officeDocument/2006/relationships/slide" Target="/ppt/slides/slide39.xml" Id="R3d111fa0471e41e6" /><Relationship Type="http://schemas.openxmlformats.org/officeDocument/2006/relationships/slide" Target="/ppt/slides/slide40.xml" Id="Rdfc6b174d69444e2" /><Relationship Type="http://schemas.openxmlformats.org/officeDocument/2006/relationships/slide" Target="/ppt/slides/slide41.xml" Id="Rde25b6804aff4887" /><Relationship Type="http://schemas.openxmlformats.org/officeDocument/2006/relationships/slide" Target="/ppt/slides/slide42.xml" Id="R42d018dd779a4b01" /><Relationship Type="http://schemas.openxmlformats.org/officeDocument/2006/relationships/slide" Target="/ppt/slides/slide43.xml" Id="R84d8aa2a406a43a7" /><Relationship Type="http://schemas.openxmlformats.org/officeDocument/2006/relationships/slide" Target="/ppt/slides/slide44.xml" Id="R1e3f556a76094797" /><Relationship Type="http://schemas.openxmlformats.org/officeDocument/2006/relationships/slide" Target="/ppt/slides/slide45.xml" Id="R99e55fc028fb4033" /><Relationship Type="http://schemas.openxmlformats.org/officeDocument/2006/relationships/slide" Target="/ppt/slides/slide46.xml" Id="R05d46b58dba24617" /><Relationship Type="http://schemas.openxmlformats.org/officeDocument/2006/relationships/slide" Target="/ppt/slides/slide47.xml" Id="R89d460d46cdc4e25" /><Relationship Type="http://schemas.openxmlformats.org/officeDocument/2006/relationships/slide" Target="/ppt/slides/slide48.xml" Id="R7ce77cd02599458e" /><Relationship Type="http://schemas.openxmlformats.org/officeDocument/2006/relationships/slide" Target="/ppt/slides/slide49.xml" Id="Rdefb0c5d5a054876" /><Relationship Type="http://schemas.openxmlformats.org/officeDocument/2006/relationships/slide" Target="/ppt/slides/slide50.xml" Id="R827a2e1a21db4254" /><Relationship Type="http://schemas.openxmlformats.org/officeDocument/2006/relationships/slide" Target="/ppt/slides/slide51.xml" Id="R54ed87601cc74fcb" /><Relationship Type="http://schemas.openxmlformats.org/officeDocument/2006/relationships/slide" Target="/ppt/slides/slide52.xml" Id="Rc50b80ed4c7145f9" /><Relationship Type="http://schemas.openxmlformats.org/officeDocument/2006/relationships/slide" Target="/ppt/slides/slide53.xml" Id="Ra3a0d725985249f1" /><Relationship Type="http://schemas.openxmlformats.org/officeDocument/2006/relationships/slide" Target="/ppt/slides/slide54.xml" Id="R62050df19e87415b" /><Relationship Type="http://schemas.openxmlformats.org/officeDocument/2006/relationships/slide" Target="/ppt/slides/slide55.xml" Id="R1bac8d8c316b40d4" /><Relationship Type="http://schemas.openxmlformats.org/officeDocument/2006/relationships/slide" Target="/ppt/slides/slide56.xml" Id="Ra6672614a985493a" /><Relationship Type="http://schemas.openxmlformats.org/officeDocument/2006/relationships/slide" Target="/ppt/slides/slide57.xml" Id="R623e226adfb84315" /><Relationship Type="http://schemas.openxmlformats.org/officeDocument/2006/relationships/slide" Target="/ppt/slides/slide58.xml" Id="R776d8ec39fb64f4c" /><Relationship Type="http://schemas.openxmlformats.org/officeDocument/2006/relationships/slide" Target="/ppt/slides/slide59.xml" Id="R9159f4947b784e09" /><Relationship Type="http://schemas.openxmlformats.org/officeDocument/2006/relationships/slide" Target="/ppt/slides/slide60.xml" Id="Rbab24d6f06734108" /><Relationship Type="http://schemas.openxmlformats.org/officeDocument/2006/relationships/slide" Target="/ppt/slides/slide61.xml" Id="R55ad4ea9b4ec4831" /><Relationship Type="http://schemas.openxmlformats.org/officeDocument/2006/relationships/slide" Target="/ppt/slides/slide62.xml" Id="R8c4d38965f30431e" /><Relationship Type="http://schemas.openxmlformats.org/officeDocument/2006/relationships/slide" Target="/ppt/slides/slide63.xml" Id="Rf4708b06e34f451b" /><Relationship Type="http://schemas.openxmlformats.org/officeDocument/2006/relationships/slide" Target="/ppt/slides/slide64.xml" Id="Rabf79f0d05d249fa" /><Relationship Type="http://schemas.openxmlformats.org/officeDocument/2006/relationships/slide" Target="/ppt/slides/slide65.xml" Id="Rd4a43ecbe90e45fe" /><Relationship Type="http://schemas.openxmlformats.org/officeDocument/2006/relationships/slide" Target="/ppt/slides/slide66.xml" Id="R0c2460016ad04df7" /><Relationship Type="http://schemas.openxmlformats.org/officeDocument/2006/relationships/slide" Target="/ppt/slides/slide67.xml" Id="Rbb38f895b1404c45" /><Relationship Type="http://schemas.openxmlformats.org/officeDocument/2006/relationships/slide" Target="/ppt/slides/slide68.xml" Id="R2f0e8dc9a94f47f0" /><Relationship Type="http://schemas.openxmlformats.org/officeDocument/2006/relationships/slide" Target="/ppt/slides/slide69.xml" Id="R95e54fc128af436d" /><Relationship Type="http://schemas.openxmlformats.org/officeDocument/2006/relationships/slide" Target="/ppt/slides/slide70.xml" Id="R8e41e7213eb049be" /><Relationship Type="http://schemas.openxmlformats.org/officeDocument/2006/relationships/slide" Target="/ppt/slides/slide71.xml" Id="R05a4cefbb5ef4e15" /><Relationship Type="http://schemas.openxmlformats.org/officeDocument/2006/relationships/slide" Target="/ppt/slides/slide72.xml" Id="Re73a97c04e904b4a" /><Relationship Type="http://schemas.openxmlformats.org/officeDocument/2006/relationships/slide" Target="/ppt/slides/slide73.xml" Id="R17d014a3f4cb4e50" /><Relationship Type="http://schemas.openxmlformats.org/officeDocument/2006/relationships/slide" Target="/ppt/slides/slide74.xml" Id="R3e8d21ffd43d4fc8" /><Relationship Type="http://schemas.openxmlformats.org/officeDocument/2006/relationships/slide" Target="/ppt/slides/slide75.xml" Id="Ra6a68757fb9641cb" /><Relationship Type="http://schemas.openxmlformats.org/officeDocument/2006/relationships/slide" Target="/ppt/slides/slide76.xml" Id="Rccbecc176a9843ff" /><Relationship Type="http://schemas.openxmlformats.org/officeDocument/2006/relationships/slide" Target="/ppt/slides/slide77.xml" Id="Rd0ecfe9a05304a9f" /><Relationship Type="http://schemas.openxmlformats.org/officeDocument/2006/relationships/slide" Target="/ppt/slides/slide78.xml" Id="R7cfa62b7e8ce4b2f" /><Relationship Type="http://schemas.openxmlformats.org/officeDocument/2006/relationships/slide" Target="/ppt/slides/slide79.xml" Id="Rb19f2e41fbe84043" /><Relationship Type="http://schemas.openxmlformats.org/officeDocument/2006/relationships/slide" Target="/ppt/slides/slide80.xml" Id="R025fc1b2ecba4803" /><Relationship Type="http://schemas.openxmlformats.org/officeDocument/2006/relationships/slide" Target="/ppt/slides/slide81.xml" Id="R4987a7a3445b46b5" /><Relationship Type="http://schemas.openxmlformats.org/officeDocument/2006/relationships/slide" Target="/ppt/slides/slide82.xml" Id="R498b581860a047f1" /><Relationship Type="http://schemas.openxmlformats.org/officeDocument/2006/relationships/slide" Target="/ppt/slides/slide83.xml" Id="R7d273813f63c476c" /><Relationship Type="http://schemas.openxmlformats.org/officeDocument/2006/relationships/slide" Target="/ppt/slides/slide84.xml" Id="R9c454372173e45d2" /><Relationship Type="http://schemas.openxmlformats.org/officeDocument/2006/relationships/slide" Target="/ppt/slides/slide85.xml" Id="R6b15387d24864166" /><Relationship Type="http://schemas.openxmlformats.org/officeDocument/2006/relationships/slide" Target="/ppt/slides/slide86.xml" Id="R6c2dae72f6904ae3" /><Relationship Type="http://schemas.openxmlformats.org/officeDocument/2006/relationships/slide" Target="/ppt/slides/slide87.xml" Id="Rdc907bfa30454134" /><Relationship Type="http://schemas.openxmlformats.org/officeDocument/2006/relationships/slide" Target="/ppt/slides/slide88.xml" Id="R39fd3e71f07d493a" /><Relationship Type="http://schemas.openxmlformats.org/officeDocument/2006/relationships/slide" Target="/ppt/slides/slide89.xml" Id="R61b43153321d4eee" /><Relationship Type="http://schemas.openxmlformats.org/officeDocument/2006/relationships/slide" Target="/ppt/slides/slide90.xml" Id="Rd43a74c71b4d46db" /><Relationship Type="http://schemas.openxmlformats.org/officeDocument/2006/relationships/slide" Target="/ppt/slides/slide91.xml" Id="R4d96bcbf3ff449c1" /><Relationship Type="http://schemas.openxmlformats.org/officeDocument/2006/relationships/slide" Target="/ppt/slides/slide92.xml" Id="Ra199e1329e4e48a1" /><Relationship Type="http://schemas.openxmlformats.org/officeDocument/2006/relationships/slide" Target="/ppt/slides/slide93.xml" Id="Rbec795016746489e" /><Relationship Type="http://schemas.openxmlformats.org/officeDocument/2006/relationships/slide" Target="/ppt/slides/slide94.xml" Id="Ra03b9ce1e8fb4f11" /><Relationship Type="http://schemas.openxmlformats.org/officeDocument/2006/relationships/slide" Target="/ppt/slides/slide95.xml" Id="R72383ad63db94b2d" /><Relationship Type="http://schemas.openxmlformats.org/officeDocument/2006/relationships/slide" Target="/ppt/slides/slide96.xml" Id="R75c301549be441e1" /><Relationship Type="http://schemas.openxmlformats.org/officeDocument/2006/relationships/slide" Target="/ppt/slides/slide97.xml" Id="Rc3e7ed771cbb42cd" /><Relationship Type="http://schemas.openxmlformats.org/officeDocument/2006/relationships/slide" Target="/ppt/slides/slide98.xml" Id="R34110366b67e4a6e" /><Relationship Type="http://schemas.openxmlformats.org/officeDocument/2006/relationships/slide" Target="/ppt/slides/slide99.xml" Id="R7c91687d00634138" /><Relationship Type="http://schemas.openxmlformats.org/officeDocument/2006/relationships/slide" Target="/ppt/slides/slide100.xml" Id="Rd084a89249954b31" /><Relationship Type="http://schemas.openxmlformats.org/officeDocument/2006/relationships/slide" Target="/ppt/slides/slide101.xml" Id="R0410cddbd3c64139" /><Relationship Type="http://schemas.openxmlformats.org/officeDocument/2006/relationships/slide" Target="/ppt/slides/slide102.xml" Id="R6d9f0edd1a4e439c" /><Relationship Type="http://schemas.openxmlformats.org/officeDocument/2006/relationships/slide" Target="/ppt/slides/slide103.xml" Id="R4659ace597284fa0" /><Relationship Type="http://schemas.openxmlformats.org/officeDocument/2006/relationships/slide" Target="/ppt/slides/slide104.xml" Id="R12a4d97ab4e74801" /><Relationship Type="http://schemas.openxmlformats.org/officeDocument/2006/relationships/slide" Target="/ppt/slides/slide105.xml" Id="R76e122c10da94de5" /><Relationship Type="http://schemas.openxmlformats.org/officeDocument/2006/relationships/slide" Target="/ppt/slides/slide106.xml" Id="R30f18fc3bd5f4fde" /><Relationship Type="http://schemas.openxmlformats.org/officeDocument/2006/relationships/slide" Target="/ppt/slides/slide107.xml" Id="R8769afb2f9ce4db9" /><Relationship Type="http://schemas.openxmlformats.org/officeDocument/2006/relationships/slide" Target="/ppt/slides/slide108.xml" Id="R29b53d4ddbb14f03" /><Relationship Type="http://schemas.openxmlformats.org/officeDocument/2006/relationships/slide" Target="/ppt/slides/slide109.xml" Id="R3bcfd0b3c9084d2b" /><Relationship Type="http://schemas.openxmlformats.org/officeDocument/2006/relationships/slide" Target="/ppt/slides/slide110.xml" Id="R65c2e5102fe9442d" /><Relationship Type="http://schemas.openxmlformats.org/officeDocument/2006/relationships/slide" Target="/ppt/slides/slide111.xml" Id="Rb8e43b8e728b416e" /><Relationship Type="http://schemas.openxmlformats.org/officeDocument/2006/relationships/slide" Target="/ppt/slides/slide112.xml" Id="Re0252ccc37a04dac" /><Relationship Type="http://schemas.openxmlformats.org/officeDocument/2006/relationships/slide" Target="/ppt/slides/slide113.xml" Id="R9f182623ed40430a" /><Relationship Type="http://schemas.openxmlformats.org/officeDocument/2006/relationships/slide" Target="/ppt/slides/slide114.xml" Id="Rac2f1f4becce4903" /><Relationship Type="http://schemas.openxmlformats.org/officeDocument/2006/relationships/slide" Target="/ppt/slides/slide115.xml" Id="Rbdcf139f81a54035" /><Relationship Type="http://schemas.openxmlformats.org/officeDocument/2006/relationships/slide" Target="/ppt/slides/slide116.xml" Id="R1a7605d1f24c4e92" /><Relationship Type="http://schemas.openxmlformats.org/officeDocument/2006/relationships/slide" Target="/ppt/slides/slide117.xml" Id="R60a84d7c2cea4d82" /><Relationship Type="http://schemas.openxmlformats.org/officeDocument/2006/relationships/slide" Target="/ppt/slides/slide118.xml" Id="Rb0baf0b33f73421e" /><Relationship Type="http://schemas.openxmlformats.org/officeDocument/2006/relationships/slide" Target="/ppt/slides/slide119.xml" Id="R2a05a91feee14f42" /><Relationship Type="http://schemas.openxmlformats.org/officeDocument/2006/relationships/slide" Target="/ppt/slides/slide120.xml" Id="R01fca217477c443f" /><Relationship Type="http://schemas.openxmlformats.org/officeDocument/2006/relationships/slide" Target="/ppt/slides/slide121.xml" Id="R567eb45cc3d14998" /><Relationship Type="http://schemas.openxmlformats.org/officeDocument/2006/relationships/slide" Target="/ppt/slides/slide122.xml" Id="R5be8948addb34e99" /><Relationship Type="http://schemas.openxmlformats.org/officeDocument/2006/relationships/slide" Target="/ppt/slides/slide123.xml" Id="Rd0469710180b4cd2" /><Relationship Type="http://schemas.openxmlformats.org/officeDocument/2006/relationships/slide" Target="/ppt/slides/slide124.xml" Id="Rd04c318717494ddb" /><Relationship Type="http://schemas.openxmlformats.org/officeDocument/2006/relationships/slide" Target="/ppt/slides/slide125.xml" Id="R85c18bfc91134242" /><Relationship Type="http://schemas.openxmlformats.org/officeDocument/2006/relationships/slide" Target="/ppt/slides/slide126.xml" Id="Rb90773c085f54924" /><Relationship Type="http://schemas.openxmlformats.org/officeDocument/2006/relationships/slide" Target="/ppt/slides/slide127.xml" Id="Rcf6ca234e1a8459c" /><Relationship Type="http://schemas.openxmlformats.org/officeDocument/2006/relationships/slide" Target="/ppt/slides/slide128.xml" Id="R142034f3051c4a8d" /><Relationship Type="http://schemas.openxmlformats.org/officeDocument/2006/relationships/slide" Target="/ppt/slides/slide129.xml" Id="Rb9e20270ba944964" /><Relationship Type="http://schemas.openxmlformats.org/officeDocument/2006/relationships/slide" Target="/ppt/slides/slide130.xml" Id="R811c7a26dc9a41ec" /><Relationship Type="http://schemas.openxmlformats.org/officeDocument/2006/relationships/slide" Target="/ppt/slides/slide131.xml" Id="R1d6c13f8ca234dde" /><Relationship Type="http://schemas.openxmlformats.org/officeDocument/2006/relationships/slide" Target="/ppt/slides/slide132.xml" Id="R6698c9c89e3742ba" /><Relationship Type="http://schemas.openxmlformats.org/officeDocument/2006/relationships/slide" Target="/ppt/slides/slide133.xml" Id="R13d7f75b25c74363" /><Relationship Type="http://schemas.openxmlformats.org/officeDocument/2006/relationships/slide" Target="/ppt/slides/slide134.xml" Id="R599e462e4b6643c0" /><Relationship Type="http://schemas.openxmlformats.org/officeDocument/2006/relationships/slide" Target="/ppt/slides/slide135.xml" Id="Rcd71679b6fb74e3e" /><Relationship Type="http://schemas.openxmlformats.org/officeDocument/2006/relationships/slide" Target="/ppt/slides/slide136.xml" Id="R0c96218f03504401" /><Relationship Type="http://schemas.openxmlformats.org/officeDocument/2006/relationships/slide" Target="/ppt/slides/slide137.xml" Id="R1e04eb1df0ab4e00" /><Relationship Type="http://schemas.openxmlformats.org/officeDocument/2006/relationships/slide" Target="/ppt/slides/slide138.xml" Id="Rb3e0af2faeff4819" /><Relationship Type="http://schemas.openxmlformats.org/officeDocument/2006/relationships/slide" Target="/ppt/slides/slide139.xml" Id="Rf6db09f402d94a69" /><Relationship Type="http://schemas.openxmlformats.org/officeDocument/2006/relationships/slide" Target="/ppt/slides/slide140.xml" Id="R5dc134105efe4fb1" /><Relationship Type="http://schemas.openxmlformats.org/officeDocument/2006/relationships/slide" Target="/ppt/slides/slide141.xml" Id="R8410823b86004210" /><Relationship Type="http://schemas.openxmlformats.org/officeDocument/2006/relationships/slide" Target="/ppt/slides/slide142.xml" Id="Re21d0cca3f0b4709" /><Relationship Type="http://schemas.openxmlformats.org/officeDocument/2006/relationships/slide" Target="/ppt/slides/slide143.xml" Id="Rb81557f7d56f4d77" /><Relationship Type="http://schemas.openxmlformats.org/officeDocument/2006/relationships/slide" Target="/ppt/slides/slide144.xml" Id="R14ace4cff5a04450" /><Relationship Type="http://schemas.openxmlformats.org/officeDocument/2006/relationships/slide" Target="/ppt/slides/slide145.xml" Id="R289802b55afc45ba" /><Relationship Type="http://schemas.openxmlformats.org/officeDocument/2006/relationships/slide" Target="/ppt/slides/slide146.xml" Id="Rb3a0bc7fb5a04c5d" /><Relationship Type="http://schemas.openxmlformats.org/officeDocument/2006/relationships/slide" Target="/ppt/slides/slide147.xml" Id="R47d020f4ba034efc" /><Relationship Type="http://schemas.openxmlformats.org/officeDocument/2006/relationships/slide" Target="/ppt/slides/slide148.xml" Id="R9205a1678e2f4e83" /><Relationship Type="http://schemas.openxmlformats.org/officeDocument/2006/relationships/slide" Target="/ppt/slides/slide149.xml" Id="R84f34ab862464757" /><Relationship Type="http://schemas.openxmlformats.org/officeDocument/2006/relationships/slide" Target="/ppt/slides/slide150.xml" Id="R79b63ec518fc40a8" /><Relationship Type="http://schemas.openxmlformats.org/officeDocument/2006/relationships/slide" Target="/ppt/slides/slide151.xml" Id="R5f890cf9bb484ed3" /><Relationship Type="http://schemas.openxmlformats.org/officeDocument/2006/relationships/slide" Target="/ppt/slides/slide152.xml" Id="R19e6397c021b43c9" /><Relationship Type="http://schemas.openxmlformats.org/officeDocument/2006/relationships/slide" Target="/ppt/slides/slide153.xml" Id="Rc6c2f20e28a4453a" /><Relationship Type="http://schemas.openxmlformats.org/officeDocument/2006/relationships/slide" Target="/ppt/slides/slide154.xml" Id="R5aa6f26ee8b14de4" /><Relationship Type="http://schemas.openxmlformats.org/officeDocument/2006/relationships/slide" Target="/ppt/slides/slide155.xml" Id="Ra3d487e3b702488f" /><Relationship Type="http://schemas.openxmlformats.org/officeDocument/2006/relationships/slide" Target="/ppt/slides/slide156.xml" Id="Rca6eec1e64a64743" /><Relationship Type="http://schemas.openxmlformats.org/officeDocument/2006/relationships/slide" Target="/ppt/slides/slide157.xml" Id="R2c096e78312e4d95" /><Relationship Type="http://schemas.openxmlformats.org/officeDocument/2006/relationships/slide" Target="/ppt/slides/slide158.xml" Id="R9edb994af3394f47" /><Relationship Type="http://schemas.openxmlformats.org/officeDocument/2006/relationships/slide" Target="/ppt/slides/slide159.xml" Id="Rc1bf577d37c14d50" /><Relationship Type="http://schemas.openxmlformats.org/officeDocument/2006/relationships/slide" Target="/ppt/slides/slide160.xml" Id="Rb205507f929a49e8" /><Relationship Type="http://schemas.openxmlformats.org/officeDocument/2006/relationships/slide" Target="/ppt/slides/slide161.xml" Id="Re7da66bbb0844616" /><Relationship Type="http://schemas.openxmlformats.org/officeDocument/2006/relationships/slide" Target="/ppt/slides/slide162.xml" Id="R0f114a7dc38f47b0" /><Relationship Type="http://schemas.openxmlformats.org/officeDocument/2006/relationships/slide" Target="/ppt/slides/slide163.xml" Id="Rf9036afed1574f81" /><Relationship Type="http://schemas.openxmlformats.org/officeDocument/2006/relationships/slide" Target="/ppt/slides/slide164.xml" Id="Rf150fc88c7cb42d1" /><Relationship Type="http://schemas.openxmlformats.org/officeDocument/2006/relationships/slide" Target="/ppt/slides/slide165.xml" Id="Ra3bf774950a648bd" /><Relationship Type="http://schemas.openxmlformats.org/officeDocument/2006/relationships/slide" Target="/ppt/slides/slide166.xml" Id="R5375f0e864d74b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44cd80e2c948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Pretendard"/>
        <a:ea typeface=""/>
        <a:cs typeface=""/>
      </a:majorFont>
      <a:minorFont>
        <a:latin typeface="Pretendard"/>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33880fdae34ead" /><Relationship Type="http://schemas.openxmlformats.org/officeDocument/2006/relationships/notesMaster" Target="/ppt/notesMasters/notesMaster1.xml" Id="R5966bf77815b420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e110b664004377" /><Relationship Type="http://schemas.openxmlformats.org/officeDocument/2006/relationships/notesMaster" Target="/ppt/notesMasters/notesMaster1.xml" Id="R8cafdb6e14bf49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fad91ae3604e5e" /><Relationship Type="http://schemas.openxmlformats.org/officeDocument/2006/relationships/notesMaster" Target="/ppt/notesMasters/notesMaster1.xml" Id="R91f6877b92614f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d5145ed2344ba2" /><Relationship Type="http://schemas.openxmlformats.org/officeDocument/2006/relationships/notesMaster" Target="/ppt/notesMasters/notesMaster1.xml" Id="R38beae20bd6d4d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496362335b4cda" /><Relationship Type="http://schemas.openxmlformats.org/officeDocument/2006/relationships/notesMaster" Target="/ppt/notesMasters/notesMaster1.xml" Id="R3847a9077ee44f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f770abf46d4a99" /><Relationship Type="http://schemas.openxmlformats.org/officeDocument/2006/relationships/notesMaster" Target="/ppt/notesMasters/notesMaster1.xml" Id="Rab58827a7c3146ab"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b46966731b4e99" /><Relationship Type="http://schemas.openxmlformats.org/officeDocument/2006/relationships/notesMaster" Target="/ppt/notesMasters/notesMaster1.xml" Id="R53b8a1a19cb84d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ee5d229980433a" /><Relationship Type="http://schemas.openxmlformats.org/officeDocument/2006/relationships/notesMaster" Target="/ppt/notesMasters/notesMaster1.xml" Id="R46d1afbded634a6e" /></Relationships>
</file>

<file path=ppt/notesSlides/_rels/notesSlide9.xml.rels>&#65279;<?xml version="1.0" encoding="utf-8"?><Relationships xmlns="http://schemas.openxmlformats.org/package/2006/relationships"><Relationship Type="http://schemas.openxmlformats.org/officeDocument/2006/relationships/slide" Target="/ppt/slides/slide9.xml" Id="R940154e53724415d" /><Relationship Type="http://schemas.openxmlformats.org/officeDocument/2006/relationships/notesMaster" Target="/ppt/notesMasters/notesMaster1.xml" Id="Raeada9de8df34ab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149a727c96f4ca7" /><Relationship Type="http://schemas.openxmlformats.org/officeDocument/2006/relationships/notesMaster" Target="/ppt/notesMasters/notesMaster1.xml" Id="Ra734d81d742d4e3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9d3d105d57549e1" /><Relationship Type="http://schemas.openxmlformats.org/officeDocument/2006/relationships/notesMaster" Target="/ppt/notesMasters/notesMaster1.xml" Id="Rf711eb734eae441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c7f49a80dde493b" /><Relationship Type="http://schemas.openxmlformats.org/officeDocument/2006/relationships/notesMaster" Target="/ppt/notesMasters/notesMaster1.xml" Id="Rcdf3e338192b4ac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ee3ac50242428a" /><Relationship Type="http://schemas.openxmlformats.org/officeDocument/2006/relationships/notesMaster" Target="/ppt/notesMasters/notesMaster1.xml" Id="R3d9182cd39224cc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984f0f2ed194948" /><Relationship Type="http://schemas.openxmlformats.org/officeDocument/2006/relationships/notesMaster" Target="/ppt/notesMasters/notesMaster1.xml" Id="Refa4c97f0edc4d4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162633f336a4791" /><Relationship Type="http://schemas.openxmlformats.org/officeDocument/2006/relationships/notesMaster" Target="/ppt/notesMasters/notesMaster1.xml" Id="Ra05c32dcfecf45c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465622d07cf4516" /><Relationship Type="http://schemas.openxmlformats.org/officeDocument/2006/relationships/notesMaster" Target="/ppt/notesMasters/notesMaster1.xml" Id="R85b07d57ff454ae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51d57c9305541a8" /><Relationship Type="http://schemas.openxmlformats.org/officeDocument/2006/relationships/notesMaster" Target="/ppt/notesMasters/notesMaster1.xml" Id="R98a0553b93a043c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8731589b08042bd" /><Relationship Type="http://schemas.openxmlformats.org/officeDocument/2006/relationships/notesMaster" Target="/ppt/notesMasters/notesMaster1.xml" Id="Ra1180beb864f40f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bb1d5e0446442eb" /><Relationship Type="http://schemas.openxmlformats.org/officeDocument/2006/relationships/notesMaster" Target="/ppt/notesMasters/notesMaster1.xml" Id="R03fc7b1488bf476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191bac6af814e8f" /><Relationship Type="http://schemas.openxmlformats.org/officeDocument/2006/relationships/notesMaster" Target="/ppt/notesMasters/notesMaster1.xml" Id="R96d50ffcfa064d9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f97016958fe4d47" /><Relationship Type="http://schemas.openxmlformats.org/officeDocument/2006/relationships/notesMaster" Target="/ppt/notesMasters/notesMaster1.xml" Id="R876b244d2cbe408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c5c1eff820b4564" /><Relationship Type="http://schemas.openxmlformats.org/officeDocument/2006/relationships/notesMaster" Target="/ppt/notesMasters/notesMaster1.xml" Id="Rb455197c2292413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41a52956efb4997" /><Relationship Type="http://schemas.openxmlformats.org/officeDocument/2006/relationships/notesMaster" Target="/ppt/notesMasters/notesMaster1.xml" Id="Rb206fca5e580415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e5c20657e12425f" /><Relationship Type="http://schemas.openxmlformats.org/officeDocument/2006/relationships/notesMaster" Target="/ppt/notesMasters/notesMaster1.xml" Id="R6dae67fb033e4f7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2a577915da2411e" /><Relationship Type="http://schemas.openxmlformats.org/officeDocument/2006/relationships/notesMaster" Target="/ppt/notesMasters/notesMaster1.xml" Id="R6904d38ce6e2477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6db3cdf304744cc" /><Relationship Type="http://schemas.openxmlformats.org/officeDocument/2006/relationships/notesMaster" Target="/ppt/notesMasters/notesMaster1.xml" Id="R3bfaf01a9c4c4c2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faa1bf8e9f844e1" /><Relationship Type="http://schemas.openxmlformats.org/officeDocument/2006/relationships/notesMaster" Target="/ppt/notesMasters/notesMaster1.xml" Id="R9dc58216074d4f4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02ce1195fe14e52" /><Relationship Type="http://schemas.openxmlformats.org/officeDocument/2006/relationships/notesMaster" Target="/ppt/notesMasters/notesMaster1.xml" Id="R9f7ea4abd68e476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4c0244287ab4c0b" /><Relationship Type="http://schemas.openxmlformats.org/officeDocument/2006/relationships/notesMaster" Target="/ppt/notesMasters/notesMaster1.xml" Id="R99525ace1593462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4a1726ef59a4372" /><Relationship Type="http://schemas.openxmlformats.org/officeDocument/2006/relationships/notesMaster" Target="/ppt/notesMasters/notesMaster1.xml" Id="R95fd87792e64411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466a67ae3dd416a" /><Relationship Type="http://schemas.openxmlformats.org/officeDocument/2006/relationships/notesMaster" Target="/ppt/notesMasters/notesMaster1.xml" Id="Rba0d6e3196db4ef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82f7ea067ac4d57" /><Relationship Type="http://schemas.openxmlformats.org/officeDocument/2006/relationships/notesMaster" Target="/ppt/notesMasters/notesMaster1.xml" Id="Reca8ca67bc71425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6dc0c5976ee4a83" /><Relationship Type="http://schemas.openxmlformats.org/officeDocument/2006/relationships/notesMaster" Target="/ppt/notesMasters/notesMaster1.xml" Id="Raefe77fd1fc141c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4eeb8a93c974015" /><Relationship Type="http://schemas.openxmlformats.org/officeDocument/2006/relationships/notesMaster" Target="/ppt/notesMasters/notesMaster1.xml" Id="R3d42766cdab14b8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903218cd7d4441d" /><Relationship Type="http://schemas.openxmlformats.org/officeDocument/2006/relationships/notesMaster" Target="/ppt/notesMasters/notesMaster1.xml" Id="Rb665d3f15ce04ea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0b91beefdd94e36" /><Relationship Type="http://schemas.openxmlformats.org/officeDocument/2006/relationships/notesMaster" Target="/ppt/notesMasters/notesMaster1.xml" Id="R6a727486b2464ad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e585fd965564b51" /><Relationship Type="http://schemas.openxmlformats.org/officeDocument/2006/relationships/notesMaster" Target="/ppt/notesMasters/notesMaster1.xml" Id="Rb81080b29775474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a8cf903b55c4f40" /><Relationship Type="http://schemas.openxmlformats.org/officeDocument/2006/relationships/notesMaster" Target="/ppt/notesMasters/notesMaster1.xml" Id="Rc7cc2bf79b0f492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045bfcd60084bcc" /><Relationship Type="http://schemas.openxmlformats.org/officeDocument/2006/relationships/notesMaster" Target="/ppt/notesMasters/notesMaster1.xml" Id="Rdebe21268fe74aa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c21856369144f1f" /><Relationship Type="http://schemas.openxmlformats.org/officeDocument/2006/relationships/notesMaster" Target="/ppt/notesMasters/notesMaster1.xml" Id="Re88b72a8350f424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26f7383599b4dcb" /><Relationship Type="http://schemas.openxmlformats.org/officeDocument/2006/relationships/notesMaster" Target="/ppt/notesMasters/notesMaster1.xml" Id="R130806f3816e49c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43a16f1951d45da" /><Relationship Type="http://schemas.openxmlformats.org/officeDocument/2006/relationships/notesMaster" Target="/ppt/notesMasters/notesMaster1.xml" Id="R2c1e30467bba42d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8a5733776cd4963" /><Relationship Type="http://schemas.openxmlformats.org/officeDocument/2006/relationships/notesMaster" Target="/ppt/notesMasters/notesMaster1.xml" Id="Ra0f0e63e8349489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9e48d1a12bc441c" /><Relationship Type="http://schemas.openxmlformats.org/officeDocument/2006/relationships/notesMaster" Target="/ppt/notesMasters/notesMaster1.xml" Id="Re2cd4768edd24e3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d854ebb7dae4c00" /><Relationship Type="http://schemas.openxmlformats.org/officeDocument/2006/relationships/notesMaster" Target="/ppt/notesMasters/notesMaster1.xml" Id="R00c9971f8d6c425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6439d6e7a864a55" /><Relationship Type="http://schemas.openxmlformats.org/officeDocument/2006/relationships/notesMaster" Target="/ppt/notesMasters/notesMaster1.xml" Id="R42a773d3800d4d9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e14f177baed84e97" /><Relationship Type="http://schemas.openxmlformats.org/officeDocument/2006/relationships/notesMaster" Target="/ppt/notesMasters/notesMaster1.xml" Id="Rb6681e8c4e64431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62957a1b42dd42a0" /><Relationship Type="http://schemas.openxmlformats.org/officeDocument/2006/relationships/notesMaster" Target="/ppt/notesMasters/notesMaster1.xml" Id="Rd1901df4d0f3469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e5156e4d6b94327" /><Relationship Type="http://schemas.openxmlformats.org/officeDocument/2006/relationships/notesMaster" Target="/ppt/notesMasters/notesMaster1.xml" Id="Rd77a2926c01c4822"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6a84017ed835478a" /><Relationship Type="http://schemas.openxmlformats.org/officeDocument/2006/relationships/notesMaster" Target="/ppt/notesMasters/notesMaster1.xml" Id="R17416ad4abcb430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9cc80f0bdfc74bf7" /><Relationship Type="http://schemas.openxmlformats.org/officeDocument/2006/relationships/notesMaster" Target="/ppt/notesMasters/notesMaster1.xml" Id="Rccd37309bbd34a17"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2cfdd71710114355" /><Relationship Type="http://schemas.openxmlformats.org/officeDocument/2006/relationships/notesMaster" Target="/ppt/notesMasters/notesMaster1.xml" Id="Ra3aae2a8ea5e43e7"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f88f678bb1b4990" /><Relationship Type="http://schemas.openxmlformats.org/officeDocument/2006/relationships/notesMaster" Target="/ppt/notesMasters/notesMaster1.xml" Id="Rd0015a163220440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f2e60f45c7e14de5" /><Relationship Type="http://schemas.openxmlformats.org/officeDocument/2006/relationships/notesMaster" Target="/ppt/notesMasters/notesMaster1.xml" Id="R127161ee5cdc417f"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b2486bc22b15423f" /><Relationship Type="http://schemas.openxmlformats.org/officeDocument/2006/relationships/notesMaster" Target="/ppt/notesMasters/notesMaster1.xml" Id="Rabfe3129029b4a69"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d72febab7ddf4682" /><Relationship Type="http://schemas.openxmlformats.org/officeDocument/2006/relationships/notesMaster" Target="/ppt/notesMasters/notesMaster1.xml" Id="Rad6b287c618449c0"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c65d9646d4f74e5f" /><Relationship Type="http://schemas.openxmlformats.org/officeDocument/2006/relationships/notesMaster" Target="/ppt/notesMasters/notesMaster1.xml" Id="R2c476fa969d24751"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e3eba23e540948a6" /><Relationship Type="http://schemas.openxmlformats.org/officeDocument/2006/relationships/notesMaster" Target="/ppt/notesMasters/notesMaster1.xml" Id="Rc4bc3154ab934109"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be4a9b18b9e94550" /><Relationship Type="http://schemas.openxmlformats.org/officeDocument/2006/relationships/notesMaster" Target="/ppt/notesMasters/notesMaster1.xml" Id="Rec71d1522e1d4811"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b7342106e0f640ea" /><Relationship Type="http://schemas.openxmlformats.org/officeDocument/2006/relationships/notesMaster" Target="/ppt/notesMasters/notesMaster1.xml" Id="Reafd2a4634b64f10"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cabfcc10d635469b" /><Relationship Type="http://schemas.openxmlformats.org/officeDocument/2006/relationships/notesMaster" Target="/ppt/notesMasters/notesMaster1.xml" Id="Rb8d11437c6fb4afb"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bf5d5c46b08b488b" /><Relationship Type="http://schemas.openxmlformats.org/officeDocument/2006/relationships/notesMaster" Target="/ppt/notesMasters/notesMaster1.xml" Id="Rdf85debe87c04043"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8a32f7e263af4b4e" /><Relationship Type="http://schemas.openxmlformats.org/officeDocument/2006/relationships/notesMaster" Target="/ppt/notesMasters/notesMaster1.xml" Id="Re45d62b6e37e4645"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3570700443024cb1" /><Relationship Type="http://schemas.openxmlformats.org/officeDocument/2006/relationships/notesMaster" Target="/ppt/notesMasters/notesMaster1.xml" Id="R009e8a19784f4194"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d3461125c96d4ea4" /><Relationship Type="http://schemas.openxmlformats.org/officeDocument/2006/relationships/notesMaster" Target="/ppt/notesMasters/notesMaster1.xml" Id="Rf21dc76898e544b2"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b18c0f55813b4aa0" /><Relationship Type="http://schemas.openxmlformats.org/officeDocument/2006/relationships/notesMaster" Target="/ppt/notesMasters/notesMaster1.xml" Id="R893c9591248b4f19"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2a739716081c42b4" /><Relationship Type="http://schemas.openxmlformats.org/officeDocument/2006/relationships/notesMaster" Target="/ppt/notesMasters/notesMaster1.xml" Id="R76089ff59703494d"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85b9b12528284e20" /><Relationship Type="http://schemas.openxmlformats.org/officeDocument/2006/relationships/notesMaster" Target="/ppt/notesMasters/notesMaster1.xml" Id="R9d778cb98f2849cb"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966689666d724aa4" /><Relationship Type="http://schemas.openxmlformats.org/officeDocument/2006/relationships/notesMaster" Target="/ppt/notesMasters/notesMaster1.xml" Id="R147a6b04145141fb"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1a76542c05f247a4" /><Relationship Type="http://schemas.openxmlformats.org/officeDocument/2006/relationships/notesMaster" Target="/ppt/notesMasters/notesMaster1.xml" Id="Rda303a74df2b4e80"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8d370a5ab42f4586" /><Relationship Type="http://schemas.openxmlformats.org/officeDocument/2006/relationships/notesMaster" Target="/ppt/notesMasters/notesMaster1.xml" Id="R9b9b4c4cdb474164"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c444973d3ba6477e" /><Relationship Type="http://schemas.openxmlformats.org/officeDocument/2006/relationships/notesMaster" Target="/ppt/notesMasters/notesMaster1.xml" Id="R80ec9f6762de4a42"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e5252c9968c84ace" /><Relationship Type="http://schemas.openxmlformats.org/officeDocument/2006/relationships/notesMaster" Target="/ppt/notesMasters/notesMaster1.xml" Id="Ra5f1949eea954df1"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95acf110fe1f4178" /><Relationship Type="http://schemas.openxmlformats.org/officeDocument/2006/relationships/notesMaster" Target="/ppt/notesMasters/notesMaster1.xml" Id="Rc11c5be64d234b28"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2198755baece48c6" /><Relationship Type="http://schemas.openxmlformats.org/officeDocument/2006/relationships/notesMaster" Target="/ppt/notesMasters/notesMaster1.xml" Id="Rd3490ed0107246bc"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27a2f101b4474a92" /><Relationship Type="http://schemas.openxmlformats.org/officeDocument/2006/relationships/notesMaster" Target="/ppt/notesMasters/notesMaster1.xml" Id="Rd44c2ef56351463e"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992ae6adff244350" /><Relationship Type="http://schemas.openxmlformats.org/officeDocument/2006/relationships/notesMaster" Target="/ppt/notesMasters/notesMaster1.xml" Id="R8c5a01586bad4eed"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11061da201b14ee3" /><Relationship Type="http://schemas.openxmlformats.org/officeDocument/2006/relationships/notesMaster" Target="/ppt/notesMasters/notesMaster1.xml" Id="R7c4b35e9fc3b4cd9"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0b1567de3e41406c" /><Relationship Type="http://schemas.openxmlformats.org/officeDocument/2006/relationships/notesMaster" Target="/ppt/notesMasters/notesMaster1.xml" Id="R903605d5aed24085"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88093eda9c8945eb" /><Relationship Type="http://schemas.openxmlformats.org/officeDocument/2006/relationships/notesMaster" Target="/ppt/notesMasters/notesMaster1.xml" Id="Re69d20f4eec34053"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b3e03dda33c04287" /><Relationship Type="http://schemas.openxmlformats.org/officeDocument/2006/relationships/notesMaster" Target="/ppt/notesMasters/notesMaster1.xml" Id="R925961d3a0b1451a"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3417eebafd884ed1" /><Relationship Type="http://schemas.openxmlformats.org/officeDocument/2006/relationships/notesMaster" Target="/ppt/notesMasters/notesMaster1.xml" Id="R40dc0f47fde34fb1"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4c705f6eb99f4e1b" /><Relationship Type="http://schemas.openxmlformats.org/officeDocument/2006/relationships/notesMaster" Target="/ppt/notesMasters/notesMaster1.xml" Id="Re3980bb4ebdb4cbe"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0a7830effb054ab1" /><Relationship Type="http://schemas.openxmlformats.org/officeDocument/2006/relationships/notesMaster" Target="/ppt/notesMasters/notesMaster1.xml" Id="Re01af2ae8459433d"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7de46de38a8e4777" /><Relationship Type="http://schemas.openxmlformats.org/officeDocument/2006/relationships/notesMaster" Target="/ppt/notesMasters/notesMaster1.xml" Id="Rc062281decf948de"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4eb1f63c292d45ae" /><Relationship Type="http://schemas.openxmlformats.org/officeDocument/2006/relationships/notesMaster" Target="/ppt/notesMasters/notesMaster1.xml" Id="R87a8b6035af843cc"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5499165d3aa943c9" /><Relationship Type="http://schemas.openxmlformats.org/officeDocument/2006/relationships/notesMaster" Target="/ppt/notesMasters/notesMaster1.xml" Id="R9d76a0e2ac02457c"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de1a7ac126244fe3" /><Relationship Type="http://schemas.openxmlformats.org/officeDocument/2006/relationships/notesMaster" Target="/ppt/notesMasters/notesMaster1.xml" Id="Ra55267120cf3473a"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ed49773abbd84e41" /><Relationship Type="http://schemas.openxmlformats.org/officeDocument/2006/relationships/notesMaster" Target="/ppt/notesMasters/notesMaster1.xml" Id="Rddca46ff09ec4ee5"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efb2a1e94a924f94" /><Relationship Type="http://schemas.openxmlformats.org/officeDocument/2006/relationships/notesMaster" Target="/ppt/notesMasters/notesMaster1.xml" Id="Rceec6c21ef2d4d40"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bdd292600b7b428c" /><Relationship Type="http://schemas.openxmlformats.org/officeDocument/2006/relationships/notesMaster" Target="/ppt/notesMasters/notesMaster1.xml" Id="Rb41423388803412d"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0eb8d25b91a04762" /><Relationship Type="http://schemas.openxmlformats.org/officeDocument/2006/relationships/notesMaster" Target="/ppt/notesMasters/notesMaster1.xml" Id="Rce931018ec174b9b"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98487b614693469c" /><Relationship Type="http://schemas.openxmlformats.org/officeDocument/2006/relationships/notesMaster" Target="/ppt/notesMasters/notesMaster1.xml" Id="Racb7d3f5974040af"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6a10dac8cb7449f8" /><Relationship Type="http://schemas.openxmlformats.org/officeDocument/2006/relationships/notesMaster" Target="/ppt/notesMasters/notesMaster1.xml" Id="Ref901c5b52894270"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0133920f53574a82" /><Relationship Type="http://schemas.openxmlformats.org/officeDocument/2006/relationships/notesMaster" Target="/ppt/notesMasters/notesMaster1.xml" Id="Ra9b88001dc0a4cb8"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1aa2d295ce2f42c6" /><Relationship Type="http://schemas.openxmlformats.org/officeDocument/2006/relationships/notesMaster" Target="/ppt/notesMasters/notesMaster1.xml" Id="R611ded9dc7c246c9"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d8c3fc3efda944a2" /><Relationship Type="http://schemas.openxmlformats.org/officeDocument/2006/relationships/notesMaster" Target="/ppt/notesMasters/notesMaster1.xml" Id="Rfed5e32b1c3d4bd6"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f6ec023788164d16" /><Relationship Type="http://schemas.openxmlformats.org/officeDocument/2006/relationships/notesMaster" Target="/ppt/notesMasters/notesMaster1.xml" Id="R19e1386b7de8498f"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1e6b03653baa4089" /><Relationship Type="http://schemas.openxmlformats.org/officeDocument/2006/relationships/notesMaster" Target="/ppt/notesMasters/notesMaster1.xml" Id="Re87d948f5c26436b"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85b539c7547c4cae" /><Relationship Type="http://schemas.openxmlformats.org/officeDocument/2006/relationships/notesMaster" Target="/ppt/notesMasters/notesMaster1.xml" Id="Rc37cb4818eb74221"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79a40e866f014dc2" /><Relationship Type="http://schemas.openxmlformats.org/officeDocument/2006/relationships/notesMaster" Target="/ppt/notesMasters/notesMaster1.xml" Id="R24e0d124bdbf4f12"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088bd3795de24b0c" /><Relationship Type="http://schemas.openxmlformats.org/officeDocument/2006/relationships/notesMaster" Target="/ppt/notesMasters/notesMaster1.xml" Id="R26f50bc185e2464d"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d6cee56836c04eb5" /><Relationship Type="http://schemas.openxmlformats.org/officeDocument/2006/relationships/notesMaster" Target="/ppt/notesMasters/notesMaster1.xml" Id="R4354f9de23c34ee0"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9c39f41745de4971" /><Relationship Type="http://schemas.openxmlformats.org/officeDocument/2006/relationships/notesMaster" Target="/ppt/notesMasters/notesMaster1.xml" Id="R48d8c41b967749cb"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43d8ecaddc83450e" /><Relationship Type="http://schemas.openxmlformats.org/officeDocument/2006/relationships/notesMaster" Target="/ppt/notesMasters/notesMaster1.xml" Id="R339660e32b814171"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465c80a15850497e" /><Relationship Type="http://schemas.openxmlformats.org/officeDocument/2006/relationships/notesMaster" Target="/ppt/notesMasters/notesMaster1.xml" Id="R69f2a8b0f13b49c0"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71d8eb2be1ff4d6c" /><Relationship Type="http://schemas.openxmlformats.org/officeDocument/2006/relationships/notesMaster" Target="/ppt/notesMasters/notesMaster1.xml" Id="R8687864e469342aa"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bd82e62838a04ec9" /><Relationship Type="http://schemas.openxmlformats.org/officeDocument/2006/relationships/notesMaster" Target="/ppt/notesMasters/notesMaster1.xml" Id="Rc2b6a14630154a6d"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e6070215e4364cbd" /><Relationship Type="http://schemas.openxmlformats.org/officeDocument/2006/relationships/notesMaster" Target="/ppt/notesMasters/notesMaster1.xml" Id="R5e66629da1c24927"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024a1f94b8d74282" /><Relationship Type="http://schemas.openxmlformats.org/officeDocument/2006/relationships/notesMaster" Target="/ppt/notesMasters/notesMaster1.xml" Id="R8f9c2d5bde054f34"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7719396e1e2d4638" /><Relationship Type="http://schemas.openxmlformats.org/officeDocument/2006/relationships/notesMaster" Target="/ppt/notesMasters/notesMaster1.xml" Id="R75eb245c6f66499f"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836ec714cf45463b" /><Relationship Type="http://schemas.openxmlformats.org/officeDocument/2006/relationships/notesMaster" Target="/ppt/notesMasters/notesMaster1.xml" Id="Re1d15cb2b7344eae"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084c4e48140f454c" /><Relationship Type="http://schemas.openxmlformats.org/officeDocument/2006/relationships/notesMaster" Target="/ppt/notesMasters/notesMaster1.xml" Id="R91e996593fc645cc"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01b31b6c6aa24e0d" /><Relationship Type="http://schemas.openxmlformats.org/officeDocument/2006/relationships/notesMaster" Target="/ppt/notesMasters/notesMaster1.xml" Id="R9c1803a7d9344e39"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707a455d8e0d4de7" /><Relationship Type="http://schemas.openxmlformats.org/officeDocument/2006/relationships/notesMaster" Target="/ppt/notesMasters/notesMaster1.xml" Id="R21918bc92e504aaf"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88fa0cb9bd3d40d4" /><Relationship Type="http://schemas.openxmlformats.org/officeDocument/2006/relationships/notesMaster" Target="/ppt/notesMasters/notesMaster1.xml" Id="R85ebaca6500f403f"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5385e2efd2c04920" /><Relationship Type="http://schemas.openxmlformats.org/officeDocument/2006/relationships/notesMaster" Target="/ppt/notesMasters/notesMaster1.xml" Id="Rf477380c730d4c08"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00269616d54a4c19" /><Relationship Type="http://schemas.openxmlformats.org/officeDocument/2006/relationships/notesMaster" Target="/ppt/notesMasters/notesMaster1.xml" Id="Re56c760c57f64fa1"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4babd3382dff44db" /><Relationship Type="http://schemas.openxmlformats.org/officeDocument/2006/relationships/notesMaster" Target="/ppt/notesMasters/notesMaster1.xml" Id="Ra9300aecc6674842"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26b2f19258f04403" /><Relationship Type="http://schemas.openxmlformats.org/officeDocument/2006/relationships/notesMaster" Target="/ppt/notesMasters/notesMaster1.xml" Id="R21e94ee6c7a242ae"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cd960760437547a4" /><Relationship Type="http://schemas.openxmlformats.org/officeDocument/2006/relationships/notesMaster" Target="/ppt/notesMasters/notesMaster1.xml" Id="R2e30727bc7fe4643"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6881d4e7d97c4bfa" /><Relationship Type="http://schemas.openxmlformats.org/officeDocument/2006/relationships/notesMaster" Target="/ppt/notesMasters/notesMaster1.xml" Id="Rfa28fc244575479e"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527aad9cf5e24451" /><Relationship Type="http://schemas.openxmlformats.org/officeDocument/2006/relationships/notesMaster" Target="/ppt/notesMasters/notesMaster1.xml" Id="R56f485749f014c11"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7845a8db823b49a9" /><Relationship Type="http://schemas.openxmlformats.org/officeDocument/2006/relationships/notesMaster" Target="/ppt/notesMasters/notesMaster1.xml" Id="Rc4f93e4747564c3b"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c73e077871814e92" /><Relationship Type="http://schemas.openxmlformats.org/officeDocument/2006/relationships/notesMaster" Target="/ppt/notesMasters/notesMaster1.xml" Id="R4bd44d5304a040e3"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12d8965c8c4f45dd" /><Relationship Type="http://schemas.openxmlformats.org/officeDocument/2006/relationships/notesMaster" Target="/ppt/notesMasters/notesMaster1.xml" Id="R6fb1c590596c4e8f"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ba7980a9b7784436" /><Relationship Type="http://schemas.openxmlformats.org/officeDocument/2006/relationships/notesMaster" Target="/ppt/notesMasters/notesMaster1.xml" Id="Re9453388d9fb426e"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667a976e7daa4b1a" /><Relationship Type="http://schemas.openxmlformats.org/officeDocument/2006/relationships/notesMaster" Target="/ppt/notesMasters/notesMaster1.xml" Id="Rf9d0af69d16c45fb"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4ca087bcab994b6d" /><Relationship Type="http://schemas.openxmlformats.org/officeDocument/2006/relationships/notesMaster" Target="/ppt/notesMasters/notesMaster1.xml" Id="R5ef2c913d3ae4c1b"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d94e0726a07c4c9d" /><Relationship Type="http://schemas.openxmlformats.org/officeDocument/2006/relationships/notesMaster" Target="/ppt/notesMasters/notesMaster1.xml" Id="R6edfab8fedcc4778"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cd32414e713d45f3" /><Relationship Type="http://schemas.openxmlformats.org/officeDocument/2006/relationships/notesMaster" Target="/ppt/notesMasters/notesMaster1.xml" Id="Rf04be98525654ea0"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6446cda935eb41bd" /><Relationship Type="http://schemas.openxmlformats.org/officeDocument/2006/relationships/notesMaster" Target="/ppt/notesMasters/notesMaster1.xml" Id="R4cae8a275e5d4ddc"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8b945858c3534d85" /><Relationship Type="http://schemas.openxmlformats.org/officeDocument/2006/relationships/notesMaster" Target="/ppt/notesMasters/notesMaster1.xml" Id="R6365ce2ac7534cb4"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7b5c3a22f81a4cc2" /><Relationship Type="http://schemas.openxmlformats.org/officeDocument/2006/relationships/notesMaster" Target="/ppt/notesMasters/notesMaster1.xml" Id="Rc458cc6b1caa4d32"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67f3db6142c84e3c" /><Relationship Type="http://schemas.openxmlformats.org/officeDocument/2006/relationships/notesMaster" Target="/ppt/notesMasters/notesMaster1.xml" Id="R2971f18e2c864a86"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87c66c8a228c491b" /><Relationship Type="http://schemas.openxmlformats.org/officeDocument/2006/relationships/notesMaster" Target="/ppt/notesMasters/notesMaster1.xml" Id="Rb7083c34e3994140"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f39b01bb40c64a31" /><Relationship Type="http://schemas.openxmlformats.org/officeDocument/2006/relationships/notesMaster" Target="/ppt/notesMasters/notesMaster1.xml" Id="R8cf5ad19f6dc441d"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f5441b8551c847a9" /><Relationship Type="http://schemas.openxmlformats.org/officeDocument/2006/relationships/notesMaster" Target="/ppt/notesMasters/notesMaster1.xml" Id="R4367a665cbc64dd7"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d36395c803c84634" /><Relationship Type="http://schemas.openxmlformats.org/officeDocument/2006/relationships/notesMaster" Target="/ppt/notesMasters/notesMaster1.xml" Id="Ra6599a9ca78f4fe0" /></Relationships>
</file>

<file path=ppt/notesSlides/_rels/notesSlide140.xml.rels>&#65279;<?xml version="1.0" encoding="utf-8"?><Relationships xmlns="http://schemas.openxmlformats.org/package/2006/relationships"><Relationship Type="http://schemas.openxmlformats.org/officeDocument/2006/relationships/slide" Target="/ppt/slides/slide140.xml" Id="Rd3f76855ef974530" /><Relationship Type="http://schemas.openxmlformats.org/officeDocument/2006/relationships/notesMaster" Target="/ppt/notesMasters/notesMaster1.xml" Id="R904a4d688b3d463c" /></Relationships>
</file>

<file path=ppt/notesSlides/_rels/notesSlide141.xml.rels>&#65279;<?xml version="1.0" encoding="utf-8"?><Relationships xmlns="http://schemas.openxmlformats.org/package/2006/relationships"><Relationship Type="http://schemas.openxmlformats.org/officeDocument/2006/relationships/slide" Target="/ppt/slides/slide141.xml" Id="Ra1ec4724cba741ad" /><Relationship Type="http://schemas.openxmlformats.org/officeDocument/2006/relationships/notesMaster" Target="/ppt/notesMasters/notesMaster1.xml" Id="Rd7ec9be2307c40d6" /></Relationships>
</file>

<file path=ppt/notesSlides/_rels/notesSlide142.xml.rels>&#65279;<?xml version="1.0" encoding="utf-8"?><Relationships xmlns="http://schemas.openxmlformats.org/package/2006/relationships"><Relationship Type="http://schemas.openxmlformats.org/officeDocument/2006/relationships/slide" Target="/ppt/slides/slide142.xml" Id="R468dcbf0352b4217" /><Relationship Type="http://schemas.openxmlformats.org/officeDocument/2006/relationships/notesMaster" Target="/ppt/notesMasters/notesMaster1.xml" Id="R6b8b59735167429b" /></Relationships>
</file>

<file path=ppt/notesSlides/_rels/notesSlide143.xml.rels>&#65279;<?xml version="1.0" encoding="utf-8"?><Relationships xmlns="http://schemas.openxmlformats.org/package/2006/relationships"><Relationship Type="http://schemas.openxmlformats.org/officeDocument/2006/relationships/slide" Target="/ppt/slides/slide143.xml" Id="Rb91ae5541b654a19" /><Relationship Type="http://schemas.openxmlformats.org/officeDocument/2006/relationships/notesMaster" Target="/ppt/notesMasters/notesMaster1.xml" Id="Ra7b669502fa44e2b" /></Relationships>
</file>

<file path=ppt/notesSlides/_rels/notesSlide144.xml.rels>&#65279;<?xml version="1.0" encoding="utf-8"?><Relationships xmlns="http://schemas.openxmlformats.org/package/2006/relationships"><Relationship Type="http://schemas.openxmlformats.org/officeDocument/2006/relationships/slide" Target="/ppt/slides/slide144.xml" Id="R677e2db8a29142d6" /><Relationship Type="http://schemas.openxmlformats.org/officeDocument/2006/relationships/notesMaster" Target="/ppt/notesMasters/notesMaster1.xml" Id="Rab91a22823e04d38" /></Relationships>
</file>

<file path=ppt/notesSlides/_rels/notesSlide145.xml.rels>&#65279;<?xml version="1.0" encoding="utf-8"?><Relationships xmlns="http://schemas.openxmlformats.org/package/2006/relationships"><Relationship Type="http://schemas.openxmlformats.org/officeDocument/2006/relationships/slide" Target="/ppt/slides/slide145.xml" Id="R6ca6c47594f74074" /><Relationship Type="http://schemas.openxmlformats.org/officeDocument/2006/relationships/notesMaster" Target="/ppt/notesMasters/notesMaster1.xml" Id="R880b85ea25be4f16" /></Relationships>
</file>

<file path=ppt/notesSlides/_rels/notesSlide146.xml.rels>&#65279;<?xml version="1.0" encoding="utf-8"?><Relationships xmlns="http://schemas.openxmlformats.org/package/2006/relationships"><Relationship Type="http://schemas.openxmlformats.org/officeDocument/2006/relationships/slide" Target="/ppt/slides/slide146.xml" Id="Rd71d3026eeed4c7c" /><Relationship Type="http://schemas.openxmlformats.org/officeDocument/2006/relationships/notesMaster" Target="/ppt/notesMasters/notesMaster1.xml" Id="R541c17a2f6134268" /></Relationships>
</file>

<file path=ppt/notesSlides/_rels/notesSlide147.xml.rels>&#65279;<?xml version="1.0" encoding="utf-8"?><Relationships xmlns="http://schemas.openxmlformats.org/package/2006/relationships"><Relationship Type="http://schemas.openxmlformats.org/officeDocument/2006/relationships/slide" Target="/ppt/slides/slide147.xml" Id="R794ecc9269db4fd2" /><Relationship Type="http://schemas.openxmlformats.org/officeDocument/2006/relationships/notesMaster" Target="/ppt/notesMasters/notesMaster1.xml" Id="R579bf18bfa184434" /></Relationships>
</file>

<file path=ppt/notesSlides/_rels/notesSlide148.xml.rels>&#65279;<?xml version="1.0" encoding="utf-8"?><Relationships xmlns="http://schemas.openxmlformats.org/package/2006/relationships"><Relationship Type="http://schemas.openxmlformats.org/officeDocument/2006/relationships/slide" Target="/ppt/slides/slide148.xml" Id="R33241e32fc9a42b4" /><Relationship Type="http://schemas.openxmlformats.org/officeDocument/2006/relationships/notesMaster" Target="/ppt/notesMasters/notesMaster1.xml" Id="R9de5fcc2f77b43ae" /></Relationships>
</file>

<file path=ppt/notesSlides/_rels/notesSlide149.xml.rels>&#65279;<?xml version="1.0" encoding="utf-8"?><Relationships xmlns="http://schemas.openxmlformats.org/package/2006/relationships"><Relationship Type="http://schemas.openxmlformats.org/officeDocument/2006/relationships/slide" Target="/ppt/slides/slide149.xml" Id="R450c955f33214b86" /><Relationship Type="http://schemas.openxmlformats.org/officeDocument/2006/relationships/notesMaster" Target="/ppt/notesMasters/notesMaster1.xml" Id="R4e44145545074420" /></Relationships>
</file>

<file path=ppt/notesSlides/_rels/notesSlide150.xml.rels>&#65279;<?xml version="1.0" encoding="utf-8"?><Relationships xmlns="http://schemas.openxmlformats.org/package/2006/relationships"><Relationship Type="http://schemas.openxmlformats.org/officeDocument/2006/relationships/slide" Target="/ppt/slides/slide150.xml" Id="R1ea9655fb7a0495b" /><Relationship Type="http://schemas.openxmlformats.org/officeDocument/2006/relationships/notesMaster" Target="/ppt/notesMasters/notesMaster1.xml" Id="R1ae6997006c24ce5" /></Relationships>
</file>

<file path=ppt/notesSlides/_rels/notesSlide151.xml.rels>&#65279;<?xml version="1.0" encoding="utf-8"?><Relationships xmlns="http://schemas.openxmlformats.org/package/2006/relationships"><Relationship Type="http://schemas.openxmlformats.org/officeDocument/2006/relationships/slide" Target="/ppt/slides/slide151.xml" Id="R7790cd70a6174e48" /><Relationship Type="http://schemas.openxmlformats.org/officeDocument/2006/relationships/notesMaster" Target="/ppt/notesMasters/notesMaster1.xml" Id="Rcc479ab84b804346" /></Relationships>
</file>

<file path=ppt/notesSlides/_rels/notesSlide152.xml.rels>&#65279;<?xml version="1.0" encoding="utf-8"?><Relationships xmlns="http://schemas.openxmlformats.org/package/2006/relationships"><Relationship Type="http://schemas.openxmlformats.org/officeDocument/2006/relationships/slide" Target="/ppt/slides/slide152.xml" Id="Rd4d2666bbbc14697" /><Relationship Type="http://schemas.openxmlformats.org/officeDocument/2006/relationships/notesMaster" Target="/ppt/notesMasters/notesMaster1.xml" Id="Rc0318087c1524bfe" /></Relationships>
</file>

<file path=ppt/notesSlides/_rels/notesSlide153.xml.rels>&#65279;<?xml version="1.0" encoding="utf-8"?><Relationships xmlns="http://schemas.openxmlformats.org/package/2006/relationships"><Relationship Type="http://schemas.openxmlformats.org/officeDocument/2006/relationships/slide" Target="/ppt/slides/slide153.xml" Id="R578344439d4f4756" /><Relationship Type="http://schemas.openxmlformats.org/officeDocument/2006/relationships/notesMaster" Target="/ppt/notesMasters/notesMaster1.xml" Id="R3e165452c5644112" /></Relationships>
</file>

<file path=ppt/notesSlides/_rels/notesSlide154.xml.rels>&#65279;<?xml version="1.0" encoding="utf-8"?><Relationships xmlns="http://schemas.openxmlformats.org/package/2006/relationships"><Relationship Type="http://schemas.openxmlformats.org/officeDocument/2006/relationships/slide" Target="/ppt/slides/slide154.xml" Id="R60d7c24e8e57417d" /><Relationship Type="http://schemas.openxmlformats.org/officeDocument/2006/relationships/notesMaster" Target="/ppt/notesMasters/notesMaster1.xml" Id="Re6200e3b88f14fbd" /></Relationships>
</file>

<file path=ppt/notesSlides/_rels/notesSlide155.xml.rels>&#65279;<?xml version="1.0" encoding="utf-8"?><Relationships xmlns="http://schemas.openxmlformats.org/package/2006/relationships"><Relationship Type="http://schemas.openxmlformats.org/officeDocument/2006/relationships/slide" Target="/ppt/slides/slide155.xml" Id="Rbd2def02c97a4652" /><Relationship Type="http://schemas.openxmlformats.org/officeDocument/2006/relationships/notesMaster" Target="/ppt/notesMasters/notesMaster1.xml" Id="Rf4f0ec2d6aee47f7" /></Relationships>
</file>

<file path=ppt/notesSlides/_rels/notesSlide156.xml.rels>&#65279;<?xml version="1.0" encoding="utf-8"?><Relationships xmlns="http://schemas.openxmlformats.org/package/2006/relationships"><Relationship Type="http://schemas.openxmlformats.org/officeDocument/2006/relationships/slide" Target="/ppt/slides/slide156.xml" Id="R0b59ac4885d2413f" /><Relationship Type="http://schemas.openxmlformats.org/officeDocument/2006/relationships/notesMaster" Target="/ppt/notesMasters/notesMaster1.xml" Id="R4af8d831ae844959" /></Relationships>
</file>

<file path=ppt/notesSlides/_rels/notesSlide157.xml.rels>&#65279;<?xml version="1.0" encoding="utf-8"?><Relationships xmlns="http://schemas.openxmlformats.org/package/2006/relationships"><Relationship Type="http://schemas.openxmlformats.org/officeDocument/2006/relationships/slide" Target="/ppt/slides/slide157.xml" Id="Ra1b4278cfbe6419a" /><Relationship Type="http://schemas.openxmlformats.org/officeDocument/2006/relationships/notesMaster" Target="/ppt/notesMasters/notesMaster1.xml" Id="R8402c1b262f54d32" /></Relationships>
</file>

<file path=ppt/notesSlides/_rels/notesSlide158.xml.rels>&#65279;<?xml version="1.0" encoding="utf-8"?><Relationships xmlns="http://schemas.openxmlformats.org/package/2006/relationships"><Relationship Type="http://schemas.openxmlformats.org/officeDocument/2006/relationships/slide" Target="/ppt/slides/slide158.xml" Id="R62d8fc5c05004d87" /><Relationship Type="http://schemas.openxmlformats.org/officeDocument/2006/relationships/notesMaster" Target="/ppt/notesMasters/notesMaster1.xml" Id="R9a8ec49dce4e4e83" /></Relationships>
</file>

<file path=ppt/notesSlides/_rels/notesSlide159.xml.rels>&#65279;<?xml version="1.0" encoding="utf-8"?><Relationships xmlns="http://schemas.openxmlformats.org/package/2006/relationships"><Relationship Type="http://schemas.openxmlformats.org/officeDocument/2006/relationships/slide" Target="/ppt/slides/slide159.xml" Id="R27fb30f818da4d26" /><Relationship Type="http://schemas.openxmlformats.org/officeDocument/2006/relationships/notesMaster" Target="/ppt/notesMasters/notesMaster1.xml" Id="Rcdc1859325ba48bf" /></Relationships>
</file>

<file path=ppt/notesSlides/_rels/notesSlide160.xml.rels>&#65279;<?xml version="1.0" encoding="utf-8"?><Relationships xmlns="http://schemas.openxmlformats.org/package/2006/relationships"><Relationship Type="http://schemas.openxmlformats.org/officeDocument/2006/relationships/slide" Target="/ppt/slides/slide160.xml" Id="R894dea11c93545b7" /><Relationship Type="http://schemas.openxmlformats.org/officeDocument/2006/relationships/notesMaster" Target="/ppt/notesMasters/notesMaster1.xml" Id="R0ed293abe5e34ec1" /></Relationships>
</file>

<file path=ppt/notesSlides/_rels/notesSlide161.xml.rels>&#65279;<?xml version="1.0" encoding="utf-8"?><Relationships xmlns="http://schemas.openxmlformats.org/package/2006/relationships"><Relationship Type="http://schemas.openxmlformats.org/officeDocument/2006/relationships/slide" Target="/ppt/slides/slide161.xml" Id="Rd3697e415ac24044" /><Relationship Type="http://schemas.openxmlformats.org/officeDocument/2006/relationships/notesMaster" Target="/ppt/notesMasters/notesMaster1.xml" Id="Re002773a49d147d6" /></Relationships>
</file>

<file path=ppt/notesSlides/_rels/notesSlide162.xml.rels>&#65279;<?xml version="1.0" encoding="utf-8"?><Relationships xmlns="http://schemas.openxmlformats.org/package/2006/relationships"><Relationship Type="http://schemas.openxmlformats.org/officeDocument/2006/relationships/slide" Target="/ppt/slides/slide162.xml" Id="Rebe0cf19f3fb4da2" /><Relationship Type="http://schemas.openxmlformats.org/officeDocument/2006/relationships/notesMaster" Target="/ppt/notesMasters/notesMaster1.xml" Id="R452e962f65a641c1" /></Relationships>
</file>

<file path=ppt/notesSlides/_rels/notesSlide163.xml.rels>&#65279;<?xml version="1.0" encoding="utf-8"?><Relationships xmlns="http://schemas.openxmlformats.org/package/2006/relationships"><Relationship Type="http://schemas.openxmlformats.org/officeDocument/2006/relationships/slide" Target="/ppt/slides/slide163.xml" Id="Rfbb05febdb324240" /><Relationship Type="http://schemas.openxmlformats.org/officeDocument/2006/relationships/notesMaster" Target="/ppt/notesMasters/notesMaster1.xml" Id="R16f31ee64dad4ec3" /></Relationships>
</file>

<file path=ppt/notesSlides/_rels/notesSlide164.xml.rels>&#65279;<?xml version="1.0" encoding="utf-8"?><Relationships xmlns="http://schemas.openxmlformats.org/package/2006/relationships"><Relationship Type="http://schemas.openxmlformats.org/officeDocument/2006/relationships/slide" Target="/ppt/slides/slide164.xml" Id="R3ba2c60c679f4975" /><Relationship Type="http://schemas.openxmlformats.org/officeDocument/2006/relationships/notesMaster" Target="/ppt/notesMasters/notesMaster1.xml" Id="Rc0a23be430c54f51" /></Relationships>
</file>

<file path=ppt/notesSlides/_rels/notesSlide165.xml.rels>&#65279;<?xml version="1.0" encoding="utf-8"?><Relationships xmlns="http://schemas.openxmlformats.org/package/2006/relationships"><Relationship Type="http://schemas.openxmlformats.org/officeDocument/2006/relationships/slide" Target="/ppt/slides/slide165.xml" Id="R5118107f339a40db" /><Relationship Type="http://schemas.openxmlformats.org/officeDocument/2006/relationships/notesMaster" Target="/ppt/notesMasters/notesMaster1.xml" Id="Rb7cf8e9189c24976" /></Relationships>
</file>

<file path=ppt/notesSlides/_rels/notesSlide166.xml.rels>&#65279;<?xml version="1.0" encoding="utf-8"?><Relationships xmlns="http://schemas.openxmlformats.org/package/2006/relationships"><Relationship Type="http://schemas.openxmlformats.org/officeDocument/2006/relationships/slide" Target="/ppt/slides/slide166.xml" Id="R8dfc845e5a164a82" /><Relationship Type="http://schemas.openxmlformats.org/officeDocument/2006/relationships/notesMaster" Target="/ppt/notesMasters/notesMaster1.xml" Id="R66fccca4fd44499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홈페이지와 동일한 사례·분석·요구사항 데이터 사용.</a:t>
            </a:r>
          </a:p>
          <a:p xmlns:a="http://schemas.openxmlformats.org/drawingml/2006/main">
            <a:r>
              <a:t>사실과 요구사항은 출처 기준. 아키텍처의 연결·운영 환류는 CCK 논리 설계. 실제 설치 배치도와 구분.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"PF-R01",</a:t>
            </a:r>
          </a:p>
          <a:p xmlns:a="http://schemas.openxmlformats.org/drawingml/2006/main">
            <a:r>
              <a:t>    "sourceId": "R01",</a:t>
            </a:r>
          </a:p>
          <a:p xmlns:a="http://schemas.openxmlformats.org/drawingml/2006/main">
            <a:r>
              <a:t>    "title": "HUG 문서·민원 AI",</a:t>
            </a:r>
          </a:p>
          <a:p xmlns:a="http://schemas.openxmlformats.org/drawingml/2006/main">
            <a:r>
              <a:t>    "region": "국내",</a:t>
            </a:r>
          </a:p>
          <a:p xmlns:a="http://schemas.openxmlformats.org/drawingml/2006/main">
            <a:r>
              <a:t>    "owner": "주택도시보증공사(HUG)",</a:t>
            </a:r>
          </a:p>
          <a:p xmlns:a="http://schemas.openxmlformats.org/drawingml/2006/main">
            <a:r>
              <a:t>    "state": "RFP 확인 / 실제 운영·검수 미확인",</a:t>
            </a:r>
          </a:p>
          <a:p xmlns:a="http://schemas.openxmlformats.org/drawingml/2006/main">
            <a:r>
              <a:t>    "period": "기존 원장 확인 2026.10.16",</a:t>
            </a:r>
          </a:p>
          <a:p xmlns:a="http://schemas.openxmlformats.org/drawingml/2006/main">
            <a:r>
              <a:t>    "fact": "직원 검색·전세보증 이행서류 검토·민원 지원을 공통 플랫폼에 구성",</a:t>
            </a:r>
          </a:p>
          <a:p xmlns:a="http://schemas.openxmlformats.org/drawingml/2006/main">
            <a:r>
              <a:t>    "limit": "전세보증과 TS 전세버스는 업무 기준이 다름. 공통 기능만 이식 가능",</a:t>
            </a:r>
          </a:p>
          <a:p xmlns:a="http://schemas.openxmlformats.org/drawingml/2006/main">
            <a:r>
              <a:t>    "nodes": [</a:t>
            </a:r>
          </a:p>
          <a:p xmlns:a="http://schemas.openxmlformats.org/drawingml/2006/main">
            <a:r>
              <a:t>      "보증 서류",</a:t>
            </a:r>
          </a:p>
          <a:p xmlns:a="http://schemas.openxmlformats.org/drawingml/2006/main">
            <a:r>
              <a:t>      "OCR·원본 대조",</a:t>
            </a:r>
          </a:p>
          <a:p xmlns:a="http://schemas.openxmlformats.org/drawingml/2006/main">
            <a:r>
              <a:t>      "규칙·누락 검토",</a:t>
            </a:r>
          </a:p>
          <a:p xmlns:a="http://schemas.openxmlformats.org/drawingml/2006/main">
            <a:r>
              <a:t>      "담당자 확정"</a:t>
            </a:r>
          </a:p>
          <a:p xmlns:a="http://schemas.openxmlformats.org/drawingml/2006/main">
            <a:r>
              <a:t>    ],</a:t>
            </a:r>
          </a:p>
          <a:p xmlns:a="http://schemas.openxmlformats.org/drawingml/2006/main">
            <a:r>
              <a:t>    "apply": "심사 서류의 추출값과 원본 위치를 연결하고 담당자가 최종 판정하는 증거 중심 검토",</a:t>
            </a:r>
          </a:p>
          <a:p xmlns:a="http://schemas.openxmlformats.org/drawingml/2006/main">
            <a:r>
              <a:t>    "delta": "서류 종류·필수항목 사전 / 추출값–원본 좌표 / 사건별 비교 규칙",</a:t>
            </a:r>
          </a:p>
          <a:p xmlns:a="http://schemas.openxmlformats.org/drawingml/2006/main">
            <a:r>
              <a:t>    "test": "저화질·누락·다른 사건 서류 주입 후 원본 대조·판정 보류 확인",</a:t>
            </a:r>
          </a:p>
          <a:p xmlns:a="http://schemas.openxmlformats.org/drawingml/2006/main">
            <a:r>
              <a:t>    "url": "https://www.g2b.go.kr/pn/pnp/pnpe/UntyAtchFile/downloadFile.do?bidPbancNo=R26BK01639098&amp;bidPbancOrd=000&amp;fileSeq=3&amp;fileType=&amp;prcmBsneSeCd=03",</a:t>
            </a:r>
          </a:p>
          <a:p xmlns:a="http://schemas.openxmlformats.org/drawingml/2006/main">
            <a:r>
              <a:t>    "urls": [</a:t>
            </a:r>
          </a:p>
          <a:p xmlns:a="http://schemas.openxmlformats.org/drawingml/2006/main">
            <a:r>
              <a:t>      "https://www.g2b.go.kr/pn/pnp/pnpe/UntyAtchFile/downloadFile.do?bidPbancNo=R26BK01639098&amp;bidPbancOrd=000&amp;fileSeq=3&amp;fileType=&amp;prcmBsneSeCd=03"</a:t>
            </a:r>
          </a:p>
          <a:p xmlns:a="http://schemas.openxmlformats.org/drawingml/2006/main">
            <a:r>
              <a:t>    ],</a:t>
            </a:r>
          </a:p>
          <a:p xmlns:a="http://schemas.openxmlformats.org/drawingml/2006/main">
            <a:r>
              <a:t>    "basis": "SFR-006~008, PMR-004~005 / Word T026",</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"심사 검토시간 / 필수 항목 누락률 / 재보완 횟수",</a:t>
            </a:r>
          </a:p>
          <a:p xmlns:a="http://schemas.openxmlformats.org/drawingml/2006/main">
            <a:r>
              <a:t>    "group": "요구·구축",</a:t>
            </a:r>
          </a:p>
          <a:p xmlns:a="http://schemas.openxmlformats.org/drawingml/2006/main">
            <a:r>
              <a:t>    "sourceDetail": "OCR/VLM→추출값·원본 매핑→누락·정합성 비교→사람 확정; 문서 승인·버전·권한별 RAG 분리",</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"PF-R01",</a:t>
            </a:r>
          </a:p>
          <a:p xmlns:a="http://schemas.openxmlformats.org/drawingml/2006/main">
            <a:r>
              <a:t>    "canonicalId": "PF-R01",</a:t>
            </a:r>
          </a:p>
          <a:p xmlns:a="http://schemas.openxmlformats.org/drawingml/2006/main">
            <a:r>
              <a:t>    "purpose": "보증 이행서류 검토와 민원업무의 공통 AI화",</a:t>
            </a:r>
          </a:p>
          <a:p xmlns:a="http://schemas.openxmlformats.org/drawingml/2006/main">
            <a:r>
              <a:t>    "users": "심사 직원·민원 담당·지식 관리자",</a:t>
            </a:r>
          </a:p>
          <a:p xmlns:a="http://schemas.openxmlformats.org/drawingml/2006/main">
            <a:r>
              <a:t>    "scope": [</a:t>
            </a:r>
          </a:p>
          <a:p xmlns:a="http://schemas.openxmlformats.org/drawingml/2006/main">
            <a:r>
              <a:t>      "직원 검색",</a:t>
            </a:r>
          </a:p>
          <a:p xmlns:a="http://schemas.openxmlformats.org/drawingml/2006/main">
            <a:r>
              <a:t>      "이행서류 검토",</a:t>
            </a:r>
          </a:p>
          <a:p xmlns:a="http://schemas.openxmlformats.org/drawingml/2006/main">
            <a:r>
              <a:t>      "민원 지원"</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"보증 문서 접수",</a:t>
            </a:r>
          </a:p>
          <a:p xmlns:a="http://schemas.openxmlformats.org/drawingml/2006/main">
            <a:r>
              <a:t>        "detail": "SSO·문서 접근권한·사건별 서류 묶음",</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"직원 검색 / 이행서류 검토 / 민원 지원",</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"OCR·규칙 검토",</a:t>
            </a:r>
          </a:p>
          <a:p xmlns:a="http://schemas.openxmlformats.org/drawingml/2006/main">
            <a:r>
              <a:t>        "detail": "OCR/VLM 추출 모듈과 정합성 비교 모듈 분리",</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"보증·민원 담당",</a:t>
            </a:r>
          </a:p>
          <a:p xmlns:a="http://schemas.openxmlformats.org/drawingml/2006/main">
            <a:r>
              <a:t>        "detail": "불일치·누락 항목을 원본과 함께 심사자에게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"원본·추출 항목",</a:t>
            </a:r>
          </a:p>
          <a:p xmlns:a="http://schemas.openxmlformats.org/drawingml/2006/main">
            <a:r>
              <a:t>        "detail": "원문 좌표·추출값·문서 판본·승인상태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"사람 확정값과 인식 오류를 품질 개선에 반영",</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"보증 서류",</a:t>
            </a:r>
          </a:p>
          <a:p xmlns:a="http://schemas.openxmlformats.org/drawingml/2006/main">
            <a:r>
              <a:t>        "input": "SSO·문서 접근권한·사건별 서류 묶음",</a:t>
            </a:r>
          </a:p>
          <a:p xmlns:a="http://schemas.openxmlformats.org/drawingml/2006/main">
            <a:r>
              <a:t>        "process": "원문 좌표·추출값·문서 판본·승인상태 연결",</a:t>
            </a:r>
          </a:p>
          <a:p xmlns:a="http://schemas.openxmlformats.org/drawingml/2006/main">
            <a:r>
              <a:t>        "output": "보증 원문"</a:t>
            </a:r>
          </a:p>
          <a:p xmlns:a="http://schemas.openxmlformats.org/drawingml/2006/main">
            <a:r>
              <a:t>      },</a:t>
            </a:r>
          </a:p>
          <a:p xmlns:a="http://schemas.openxmlformats.org/drawingml/2006/main">
            <a:r>
              <a:t>      {</a:t>
            </a:r>
          </a:p>
          <a:p xmlns:a="http://schemas.openxmlformats.org/drawingml/2006/main">
            <a:r>
              <a:t>        "title": "OCR·원본 대조",</a:t>
            </a:r>
          </a:p>
          <a:p xmlns:a="http://schemas.openxmlformats.org/drawingml/2006/main">
            <a:r>
              <a:t>        "input": "보증 원문",</a:t>
            </a:r>
          </a:p>
          <a:p xmlns:a="http://schemas.openxmlformats.org/drawingml/2006/main">
            <a:r>
              <a:t>        "process": "OCR/VLM 추출 모듈과 정합성 비교 모듈 분리",</a:t>
            </a:r>
          </a:p>
          <a:p xmlns:a="http://schemas.openxmlformats.org/drawingml/2006/main">
            <a:r>
              <a:t>        "output": "추출 항목"</a:t>
            </a:r>
          </a:p>
          <a:p xmlns:a="http://schemas.openxmlformats.org/drawingml/2006/main">
            <a:r>
              <a:t>      },</a:t>
            </a:r>
          </a:p>
          <a:p xmlns:a="http://schemas.openxmlformats.org/drawingml/2006/main">
            <a:r>
              <a:t>      {</a:t>
            </a:r>
          </a:p>
          <a:p xmlns:a="http://schemas.openxmlformats.org/drawingml/2006/main">
            <a:r>
              <a:t>        "title": "규칙·누락 검토",</a:t>
            </a:r>
          </a:p>
          <a:p xmlns:a="http://schemas.openxmlformats.org/drawingml/2006/main">
            <a:r>
              <a:t>        "input": "추출 항목",</a:t>
            </a:r>
          </a:p>
          <a:p xmlns:a="http://schemas.openxmlformats.org/drawingml/2006/main">
            <a:r>
              <a:t>        "process": "원본·추출값 대조와 자동 확정 제한",</a:t>
            </a:r>
          </a:p>
          <a:p xmlns:a="http://schemas.openxmlformats.org/drawingml/2006/main">
            <a:r>
              <a:t>        "output": "누락·불일치"</a:t>
            </a:r>
          </a:p>
          <a:p xmlns:a="http://schemas.openxmlformats.org/drawingml/2006/main">
            <a:r>
              <a:t>      },</a:t>
            </a:r>
          </a:p>
          <a:p xmlns:a="http://schemas.openxmlformats.org/drawingml/2006/main">
            <a:r>
              <a:t>      {</a:t>
            </a:r>
          </a:p>
          <a:p xmlns:a="http://schemas.openxmlformats.org/drawingml/2006/main">
            <a:r>
              <a:t>        "title": "담당자 확정",</a:t>
            </a:r>
          </a:p>
          <a:p xmlns:a="http://schemas.openxmlformats.org/drawingml/2006/main">
            <a:r>
              <a:t>        "input": "누락·불일치",</a:t>
            </a:r>
          </a:p>
          <a:p xmlns:a="http://schemas.openxmlformats.org/drawingml/2006/main">
            <a:r>
              <a:t>        "process": "불일치·누락 항목을 원본과 함께 심사자에게 제공",</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"한 사건의 신청 서류에서 필수 항목과 문서 간 일치 여부 확인",</a:t>
            </a:r>
          </a:p>
          <a:p xmlns:a="http://schemas.openxmlformats.org/drawingml/2006/main">
            <a:r>
              <a:t>      "exception": "스캔 저화질·서명 누락·주소 불일치·다른 사건 서류",</a:t>
            </a:r>
          </a:p>
          <a:p xmlns:a="http://schemas.openxmlformats.org/drawingml/2006/main">
            <a:r>
              <a:t>      "evidence": "추출값–원본 좌표–불일치 판정–심사자 확정 추적표",</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"심사 직원·민원 담당·지식 관리자",</a:t>
            </a:r>
          </a:p>
          <a:p xmlns:a="http://schemas.openxmlformats.org/drawingml/2006/main">
            <a:r>
              <a:t>          "processing": "SSO·문서 접근권한·사건별 서류 묶음",</a:t>
            </a:r>
          </a:p>
          <a:p xmlns:a="http://schemas.openxmlformats.org/drawingml/2006/main">
            <a:r>
              <a:t>          "output": "보증 원문"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"원본·추출 항목",</a:t>
            </a:r>
          </a:p>
          <a:p xmlns:a="http://schemas.openxmlformats.org/drawingml/2006/main">
            <a:r>
              <a:t>          "processing": "원문 좌표·추출값·문서 판본·승인상태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"보증 원문",</a:t>
            </a:r>
          </a:p>
          <a:p xmlns:a="http://schemas.openxmlformats.org/drawingml/2006/main">
            <a:r>
              <a:t>          "processing": "OCR/VLM 추출 모듈과 정합성 비교 모듈 분리",</a:t>
            </a:r>
          </a:p>
          <a:p xmlns:a="http://schemas.openxmlformats.org/drawingml/2006/main">
            <a:r>
              <a:t>          "output": "누락·불일치"</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"누락·불일치",</a:t>
            </a:r>
          </a:p>
          <a:p xmlns:a="http://schemas.openxmlformats.org/drawingml/2006/main">
            <a:r>
              <a:t>          "processing": "불일치·누락 항목을 원본과 함께 심사자에게 제공",</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"사람 확정값과 인식 오류를 품질 개선에 반영",</a:t>
            </a:r>
          </a:p>
          <a:p xmlns:a="http://schemas.openxmlformats.org/drawingml/2006/main">
            <a:r>
              <a:t>          "output": "추출값–원본 좌표–불일치 판정–심사자 확정 추적표"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"사람 확정값과 인식 오류를 품질 개선에 반영",</a:t>
            </a:r>
          </a:p>
          <a:p xmlns:a="http://schemas.openxmlformats.org/drawingml/2006/main">
            <a:r>
              <a:t>    "status": "RFP 기반 논리 설계",</a:t>
            </a:r>
          </a:p>
          <a:p xmlns:a="http://schemas.openxmlformats.org/drawingml/2006/main">
            <a:r>
              <a:t>    "basis": "본공고 RFP · SFR-006~008",</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"SFR-006~008, PMR-004~005 / Word T026",</a:t>
            </a:r>
          </a:p>
          <a:p xmlns:a="http://schemas.openxmlformats.org/drawingml/2006/main">
            <a:r>
              <a:t>        "url": "https://www.g2b.go.kr/pn/pnp/pnpe/UntyAtchFile/downloadFile.do?bidPbancNo=R26BK01639098&amp;bidPbancOrd=000&amp;fileSeq=3&amp;fileType=&amp;prcmBsneSeCd=03"</a:t>
            </a:r>
          </a:p>
          <a:p xmlns:a="http://schemas.openxmlformats.org/drawingml/2006/main">
            <a:r>
              <a:t>      }</a:t>
            </a:r>
          </a:p>
          <a:p xmlns:a="http://schemas.openxmlformats.org/drawingml/2006/main">
            <a:r>
              <a:t>    ],</a:t>
            </a:r>
          </a:p>
          <a:p xmlns:a="http://schemas.openxmlformats.org/drawingml/2006/main">
            <a:r>
              <a:t>    "implication": "심사 서류의 추출값과 원본 위치를 연결하고 담당자가 최종 판정하는 증거 중심 검토",</a:t>
            </a:r>
          </a:p>
          <a:p xmlns:a="http://schemas.openxmlformats.org/drawingml/2006/main">
            <a:r>
              <a:t>    "local": "심사 서류의 추출값과 원본 위치를 연결하고 담당자가 최종 판정하는 증거 중심 검토",</a:t>
            </a:r>
          </a:p>
          <a:p xmlns:a="http://schemas.openxmlformats.org/drawingml/2006/main">
            <a:r>
              <a:t>    "sourceDetail": "OCR/VLM→추출값·원본 매핑→누락·정합성 비교→사람 확정; 문서 승인·버전·권한별 RAG 분리",</a:t>
            </a:r>
          </a:p>
          <a:p xmlns:a="http://schemas.openxmlformats.org/drawingml/2006/main">
            <a:r>
              <a:t>    "narrative": [</a:t>
            </a:r>
          </a:p>
          <a:p xmlns:a="http://schemas.openxmlformats.org/drawingml/2006/main">
            <a:r>
              <a:t>      "규정 검색, 전세보증 이행서류 심사, 민원 처리의 세 업무를 공통 AI 기반 위에 구성하는 사업. 심사자가 여러 서류의 주소·계약·보증정보를 맞춰 보는 과정과 민원 담당자가 관련 규정·과거 답변을 찾는 과정을 각각 지원하는 범위.",</a:t>
            </a:r>
          </a:p>
          <a:p xmlns:a="http://schemas.openxmlformats.org/drawingml/2006/main">
            <a:r>
              <a:t>      "SFR-007의 핵심은 OCR 도입을 넘어 업무 건별 서류 묶음, 원본 위치와 추출값의 연결, 서류 간 비교, 심사자 수정·승인, 승인값의 후속 전달까지 이어지는 처리 구조. 검색용 청크와 심사용 구조화 항목을 별도 데이터로 관리하는 설계 필요.",</a:t>
            </a:r>
          </a:p>
          <a:p xmlns:a="http://schemas.openxmlformats.org/drawingml/2006/main">
            <a:r>
              <a:t>      "원문 인식률만으로 심사 지원 품질을 평가하기 어려운 구조. 문서 종류별 항목 추출, 다른 서류 간 정합성 판정, 누락 탐지, 사람 확인 후 전달을 단계별로 분리해 비교할 대상. TS 검사·인증 서류에도 사건 ID와 원본 좌표를 유지하는 방식의 적용 가능성."</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"SFR-006",</a:t>
            </a:r>
          </a:p>
          <a:p xmlns:a="http://schemas.openxmlformats.org/drawingml/2006/main">
            <a:r>
              <a:t>        "title": "AI 서비스_직원용 지식검색",</a:t>
            </a:r>
          </a:p>
          <a:p xmlns:a="http://schemas.openxmlformats.org/drawingml/2006/main">
            <a:r>
              <a:t>        "locator": "SFR-006",</a:t>
            </a:r>
          </a:p>
          <a:p xmlns:a="http://schemas.openxmlformats.org/drawingml/2006/main">
            <a:r>
              <a:t>        "summary": "규정·매뉴얼·판례의 구조를 추출하고 키워드·문맥 검색을 결합하는 직원용 지식검색. 승인 문서의 판본·개정일·보안등급 관리와 근거 조항·페이지 제공.",</a:t>
            </a:r>
          </a:p>
          <a:p xmlns:a="http://schemas.openxmlformats.org/drawingml/2006/main">
            <a:r>
              <a:t>        "data": "승인 문서·질의·검색 조건 → 근거 청크·조항·페이지·답변",</a:t>
            </a:r>
          </a:p>
          <a:p xmlns:a="http://schemas.openxmlformats.org/drawingml/2006/main">
            <a:r>
              <a:t>        "components": [</a:t>
            </a:r>
          </a:p>
          <a:p xmlns:a="http://schemas.openxmlformats.org/drawingml/2006/main">
            <a:r>
              <a:t>          "C03",</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"표·각주 포함 문서, 개정·삭제 문서, 다른 보안등급 문서를 투입해 인용 위치·최신성·검색 제외 여부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"fcb9809f74155d757fc4e05a0ba909eee1de897f306e8e7f1cdd6551c6525a6f"</a:t>
            </a:r>
          </a:p>
          <a:p xmlns:a="http://schemas.openxmlformats.org/drawingml/2006/main">
            <a:r>
              <a:t>      },</a:t>
            </a:r>
          </a:p>
          <a:p xmlns:a="http://schemas.openxmlformats.org/drawingml/2006/main">
            <a:r>
              <a:t>      {</a:t>
            </a:r>
          </a:p>
          <a:p xmlns:a="http://schemas.openxmlformats.org/drawingml/2006/main">
            <a:r>
              <a:t>        "id": "SFR-007",</a:t>
            </a:r>
          </a:p>
          <a:p xmlns:a="http://schemas.openxmlformats.org/drawingml/2006/main">
            <a:r>
              <a:t>        "title": "AI 서비스_전세이행 업무지원",</a:t>
            </a:r>
          </a:p>
          <a:p xmlns:a="http://schemas.openxmlformats.org/drawingml/2006/main">
            <a:r>
              <a:t>        "locator": "SFR-007",</a:t>
            </a:r>
          </a:p>
          <a:p xmlns:a="http://schemas.openxmlformats.org/drawingml/2006/main">
            <a:r>
              <a:t>        "summary": "업무 건별 제출서류 묶음과 OCR/VLM 추출값 관리. 원본 좌표 표시, 필드 수정, 유효기간·누락·서류 간 일치 검사, 심사표 생성, 승인값의 후속 전달.",</a:t>
            </a:r>
          </a:p>
          <a:p xmlns:a="http://schemas.openxmlformats.org/drawingml/2006/main">
            <a:r>
              <a:t>        "data": "사건 ID·서류·원본 좌표 → 항목값·불일치 목록·심사표·승인 상태",</a:t>
            </a:r>
          </a:p>
          <a:p xmlns:a="http://schemas.openxmlformats.org/drawingml/2006/main">
            <a:r>
              <a:t>        "components": [</a:t>
            </a:r>
          </a:p>
          <a:p xmlns:a="http://schemas.openxmlformats.org/drawingml/2006/main">
            <a:r>
              <a:t>          "C04",</a:t>
            </a:r>
          </a:p>
          <a:p xmlns:a="http://schemas.openxmlformats.org/drawingml/2006/main">
            <a:r>
              <a:t>          "C05",</a:t>
            </a:r>
          </a:p>
          <a:p xmlns:a="http://schemas.openxmlformats.org/drawingml/2006/main">
            <a:r>
              <a:t>          "C06",</a:t>
            </a:r>
          </a:p>
          <a:p xmlns:a="http://schemas.openxmlformats.org/drawingml/2006/main">
            <a:r>
              <a:t>          "C07"</a:t>
            </a:r>
          </a:p>
          <a:p xmlns:a="http://schemas.openxmlformats.org/drawingml/2006/main">
            <a:r>
              <a:t>        ],</a:t>
            </a:r>
          </a:p>
          <a:p xmlns:a="http://schemas.openxmlformats.org/drawingml/2006/main">
            <a:r>
              <a:t>        "acceptance": "흐린 스캔·다른 주소·누락 서류를 투입해 경고와 원본 위치 확인, 미승인 값의 전달 차단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"425cf0594ef5751da0b20f6a635f6c48577778b07fc85d00329082de815934fc"</a:t>
            </a:r>
          </a:p>
          <a:p xmlns:a="http://schemas.openxmlformats.org/drawingml/2006/main">
            <a:r>
              <a:t>      },</a:t>
            </a:r>
          </a:p>
          <a:p xmlns:a="http://schemas.openxmlformats.org/drawingml/2006/main">
            <a:r>
              <a:t>      {</a:t>
            </a:r>
          </a:p>
          <a:p xmlns:a="http://schemas.openxmlformats.org/drawingml/2006/main">
            <a:r>
              <a:t>        "id": "SFR-008",</a:t>
            </a:r>
          </a:p>
          <a:p xmlns:a="http://schemas.openxmlformats.org/drawingml/2006/main">
            <a:r>
              <a:t>        "title": "AI 서비스_지능형 민원처리 시스템",</a:t>
            </a:r>
          </a:p>
          <a:p xmlns:a="http://schemas.openxmlformats.org/drawingml/2006/main">
            <a:r>
              <a:t>        "locator": "SFR-008",</a:t>
            </a:r>
          </a:p>
          <a:p xmlns:a="http://schemas.openxmlformats.org/drawingml/2006/main">
            <a:r>
              <a:t>        "summary": "민원 부서 후보 추천, 유사민원 검색, 답변 초안·요약 제공. 사용자의 부서 선택·답변 확정과 담당 부서의 FAQ 후보 승인.",</a:t>
            </a:r>
          </a:p>
          <a:p xmlns:a="http://schemas.openxmlformats.org/drawingml/2006/main">
            <a:r>
              <a:t>        "data": "민원·지역·업무 유형 → 후보 부서·유사 사례·근거·답변 초안",</a:t>
            </a:r>
          </a:p>
          <a:p xmlns:a="http://schemas.openxmlformats.org/drawingml/2006/main">
            <a:r>
              <a:t>        "components": [</a:t>
            </a:r>
          </a:p>
          <a:p xmlns:a="http://schemas.openxmlformats.org/drawingml/2006/main">
            <a:r>
              <a:t>          "C02",</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"다부서 민원·유사사례 없음·FAQ 중복 입력 시 후보와 규정 대체 근거, 확정 전후 변경 이력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"8ab0ac34f0143f16766050d69a0283c485e048e2b4d17f33befa947fd660c3aa"</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"직원·문서 접점",</a:t>
            </a:r>
          </a:p>
          <a:p xmlns:a="http://schemas.openxmlformats.org/drawingml/2006/main">
            <a:r>
              <a:t>          "layer": "이용 접점",</a:t>
            </a:r>
          </a:p>
          <a:p xmlns:a="http://schemas.openxmlformats.org/drawingml/2006/main">
            <a:r>
              <a:t>          "detail": "심사 직원·민원 담당·지식 관리자",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"SSO·사건·권한",</a:t>
            </a:r>
          </a:p>
          <a:p xmlns:a="http://schemas.openxmlformats.org/drawingml/2006/main">
            <a:r>
              <a:t>          "layer": "업무 문맥",</a:t>
            </a:r>
          </a:p>
          <a:p xmlns:a="http://schemas.openxmlformats.org/drawingml/2006/main">
            <a:r>
              <a:t>          "detail": "SSO·문서 접근권한·사건별 서류 묶음",</a:t>
            </a:r>
          </a:p>
          <a:p xmlns:a="http://schemas.openxmlformats.org/drawingml/2006/main">
            <a:r>
              <a:t>          "requirements": [</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"문서·규정 조회",</a:t>
            </a:r>
          </a:p>
          <a:p xmlns:a="http://schemas.openxmlformats.org/drawingml/2006/main">
            <a:r>
              <a:t>          "layer": "자료 조회",</a:t>
            </a:r>
          </a:p>
          <a:p xmlns:a="http://schemas.openxmlformats.org/drawingml/2006/main">
            <a:r>
              <a:t>          "detail": "보증 원문",</a:t>
            </a:r>
          </a:p>
          <a:p xmlns:a="http://schemas.openxmlformats.org/drawingml/2006/main">
            <a:r>
              <a:t>          "requirements": [</a:t>
            </a:r>
          </a:p>
          <a:p xmlns:a="http://schemas.openxmlformats.org/drawingml/2006/main">
            <a:r>
              <a:t>            "SFR-006",</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"OCR·VLM 추출",</a:t>
            </a:r>
          </a:p>
          <a:p xmlns:a="http://schemas.openxmlformats.org/drawingml/2006/main">
            <a:r>
              <a:t>          "layer": "핵심 처리",</a:t>
            </a:r>
          </a:p>
          <a:p xmlns:a="http://schemas.openxmlformats.org/drawingml/2006/main">
            <a:r>
              <a:t>          "detail": "OCR/VLM 추출 모듈과 정합성 비교 모듈 분리",</a:t>
            </a:r>
          </a:p>
          <a:p xmlns:a="http://schemas.openxmlformats.org/drawingml/2006/main">
            <a:r>
              <a:t>          "requirements": [</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"누락·정합성 비교",</a:t>
            </a:r>
          </a:p>
          <a:p xmlns:a="http://schemas.openxmlformats.org/drawingml/2006/main">
            <a:r>
              <a:t>          "layer": "결과 검증",</a:t>
            </a:r>
          </a:p>
          <a:p xmlns:a="http://schemas.openxmlformats.org/drawingml/2006/main">
            <a:r>
              <a:t>          "detail": "원본·추출값 대조와 자동 확정 제한",</a:t>
            </a:r>
          </a:p>
          <a:p xmlns:a="http://schemas.openxmlformats.org/drawingml/2006/main">
            <a:r>
              <a:t>          "requirements": [</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"원본·값 사람 확인",</a:t>
            </a:r>
          </a:p>
          <a:p xmlns:a="http://schemas.openxmlformats.org/drawingml/2006/main">
            <a:r>
              <a:t>          "layer": "사람 확인",</a:t>
            </a:r>
          </a:p>
          <a:p xmlns:a="http://schemas.openxmlformats.org/drawingml/2006/main">
            <a:r>
              <a:t>          "detail": "한 사건의 신청 서류에서 필수 항목과 문서 간 일치 여부 확인",</a:t>
            </a:r>
          </a:p>
          <a:p xmlns:a="http://schemas.openxmlformats.org/drawingml/2006/main">
            <a:r>
              <a:t>          "requirements": [</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"심사·민원 초안",</a:t>
            </a:r>
          </a:p>
          <a:p xmlns:a="http://schemas.openxmlformats.org/drawingml/2006/main">
            <a:r>
              <a:t>          "layer": "업무 연결",</a:t>
            </a:r>
          </a:p>
          <a:p xmlns:a="http://schemas.openxmlformats.org/drawingml/2006/main">
            <a:r>
              <a:t>          "detail": "불일치·누락 항목을 원본과 함께 심사자에게 제공",</a:t>
            </a:r>
          </a:p>
          <a:p xmlns:a="http://schemas.openxmlformats.org/drawingml/2006/main">
            <a:r>
              <a:t>          "requirements": [</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"항목별 오류 평가",</a:t>
            </a:r>
          </a:p>
          <a:p xmlns:a="http://schemas.openxmlformats.org/drawingml/2006/main">
            <a:r>
              <a:t>          "layer": "운영 관측",</a:t>
            </a:r>
          </a:p>
          <a:p xmlns:a="http://schemas.openxmlformats.org/drawingml/2006/main">
            <a:r>
              <a:t>          "detail": "사람 확정값과 인식 오류를 품질 개선에 반영",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"이행서류·규정",</a:t>
            </a:r>
          </a:p>
          <a:p xmlns:a="http://schemas.openxmlformats.org/drawingml/2006/main">
            <a:r>
              <a:t>          "layer": "데이터 원천",</a:t>
            </a:r>
          </a:p>
          <a:p xmlns:a="http://schemas.openxmlformats.org/drawingml/2006/main">
            <a:r>
              <a:t>          "detail": "원본·추출 항목",</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"좌표·판본·승인태그",</a:t>
            </a:r>
          </a:p>
          <a:p xmlns:a="http://schemas.openxmlformats.org/drawingml/2006/main">
            <a:r>
              <a:t>          "layer": "준비·갱신",</a:t>
            </a:r>
          </a:p>
          <a:p xmlns:a="http://schemas.openxmlformats.org/drawingml/2006/main">
            <a:r>
              <a:t>          "detail": "원문 좌표·추출값·문서 판본·승인상태 연결",</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"원본·추출값·색인",</a:t>
            </a:r>
          </a:p>
          <a:p xmlns:a="http://schemas.openxmlformats.org/drawingml/2006/main">
            <a:r>
              <a:t>          "layer": "상태·지식 저장",</a:t>
            </a:r>
          </a:p>
          <a:p xmlns:a="http://schemas.openxmlformats.org/drawingml/2006/main">
            <a:r>
              <a:t>          "detail": "추출값–원본 좌표–불일치 판정–심사자 확정 추적표",</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"문서별 접근정책",</a:t>
            </a:r>
          </a:p>
          <a:p xmlns:a="http://schemas.openxmlformats.org/drawingml/2006/main">
            <a:r>
              <a:t>          "layer": "권한·정책",</a:t>
            </a:r>
          </a:p>
          <a:p xmlns:a="http://schemas.openxmlformats.org/drawingml/2006/main">
            <a:r>
              <a:t>          "detail": "스캔 저화질·서명 누락·주소 불일치·다른 사건 서류",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"SSO·문서 접근권한·사건별 서류 묶음",</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"보증 원문",</a:t>
            </a:r>
          </a:p>
          <a:p xmlns:a="http://schemas.openxmlformats.org/drawingml/2006/main">
            <a:r>
              <a:t>          "check": "원본·추출값 대조와 자동 확정 제한"</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"추출 항목",</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"원문 좌표·추출 항목·인식 신뢰도",</a:t>
            </a:r>
          </a:p>
          <a:p xmlns:a="http://schemas.openxmlformats.org/drawingml/2006/main">
            <a:r>
              <a:t>          "check": "스캔 저화질·서명 누락·주소 불일치·다른 사건 서류"</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"누락·불일치",</a:t>
            </a:r>
          </a:p>
          <a:p xmlns:a="http://schemas.openxmlformats.org/drawingml/2006/main">
            <a:r>
              <a:t>          "check": "불일치·누락 항목을 원본과 함께 심사자에게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 결과",</a:t>
            </a:r>
          </a:p>
          <a:p xmlns:a="http://schemas.openxmlformats.org/drawingml/2006/main">
            <a:r>
              <a:t>          "check": "추출값–원본 좌표–불일치 판정–심사자 확정 추적표"</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"SFR-006~008",</a:t>
            </a:r>
          </a:p>
          <a:p xmlns:a="http://schemas.openxmlformats.org/drawingml/2006/main">
            <a:r>
              <a:t>        "extracted": "OCR/VLM 항목 추출과 문서 정합성 비교의 분리",</a:t>
            </a:r>
          </a:p>
          <a:p xmlns:a="http://schemas.openxmlformats.org/drawingml/2006/main">
            <a:r>
              <a:t>        "extension": "문서 좌표·추출값과 심사 확정값의 별도 보존"</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"PF-R01",</a:t>
            </a:r>
          </a:p>
          <a:p xmlns:a="http://schemas.openxmlformats.org/drawingml/2006/main">
            <a:r>
              <a:t>          "path": "assets/casebook-sources/PF-R01-01.png",</a:t>
            </a:r>
          </a:p>
          <a:p xmlns:a="http://schemas.openxmlformats.org/drawingml/2006/main">
            <a:r>
              <a:t>          "title": "HUG AI 인프라·업무시스템 연계",</a:t>
            </a:r>
          </a:p>
          <a:p xmlns:a="http://schemas.openxmlformats.org/drawingml/2006/main">
            <a:r>
              <a:t>          "status": "RFP 목표 구성도",</a:t>
            </a:r>
          </a:p>
          <a:p xmlns:a="http://schemas.openxmlformats.org/drawingml/2006/main">
            <a:r>
              <a:t>          "caption": "통합 클라우드·GPU Kubernetes·AI 웹서비스·그룹웨어 연계",</a:t>
            </a:r>
          </a:p>
          <a:p xmlns:a="http://schemas.openxmlformats.org/drawingml/2006/main">
            <a:r>
              <a:t>          "locator": "rId10 / BinData/image4_jpg",</a:t>
            </a:r>
          </a:p>
          <a:p xmlns:a="http://schemas.openxmlformats.org/drawingml/2006/main">
            <a:r>
              <a:t>          "checked": "2026-10-16",</a:t>
            </a:r>
          </a:p>
          <a:p xmlns:a="http://schemas.openxmlformats.org/drawingml/2006/main">
            <a:r>
              <a:t>          "sha256": "435b1f344867be6beab5f24852d1c79cba1e48a9361c9e0976f78dab55a1e9c9",</a:t>
            </a:r>
          </a:p>
          <a:p xmlns:a="http://schemas.openxmlformats.org/drawingml/2006/main">
            <a:r>
              <a:t>          "explanation": {</a:t>
            </a:r>
          </a:p>
          <a:p xmlns:a="http://schemas.openxmlformats.org/drawingml/2006/main">
            <a:r>
              <a:t>            "read": "클라우드·GPU Kubernetes는 AI 처리 자원, 웹서비스는 직원 접점, 그룹웨어는 기존 업무와의 연결 영역. 인프라 블록만으로 문서 심사 승인 절차까지 구현됐다고 해석하지 않는 구조.",</a:t>
            </a:r>
          </a:p>
          <a:p xmlns:a="http://schemas.openxmlformats.org/drawingml/2006/main">
            <a:r>
              <a:t>            "requirements": [</a:t>
            </a:r>
          </a:p>
          <a:p xmlns:a="http://schemas.openxmlformats.org/drawingml/2006/main">
            <a:r>
              <a:t>              "SFR-006",</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"connection": "문서 반입·검색·추출은 공통 자원을 사용하되 지식검색, 보증이행 심사, 민원답변의 결과 저장·승인 경로는 각각 분리하는 CCK 재구성."</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"스캔 저화질·서명 누락·주소 불일치·다른 사건 서류",</a:t>
            </a:r>
          </a:p>
          <a:p xmlns:a="http://schemas.openxmlformats.org/drawingml/2006/main">
            <a:r>
              <a:t>        "hold": "원본·추출값 대조와 자동 확정 제한",</a:t>
            </a:r>
          </a:p>
          <a:p xmlns:a="http://schemas.openxmlformats.org/drawingml/2006/main">
            <a:r>
              <a:t>        "recovery": "사람 확정값과 인식 오류를 품질 개선에 반영",</a:t>
            </a:r>
          </a:p>
          <a:p xmlns:a="http://schemas.openxmlformats.org/drawingml/2006/main">
            <a:r>
              <a:t>        "evidence": "추출값–원본 좌표–불일치 판정–심사자 확정 추적표"</a:t>
            </a:r>
          </a:p>
          <a:p xmlns:a="http://schemas.openxmlformats.org/drawingml/2006/main">
            <a:r>
              <a:t>      },</a:t>
            </a:r>
          </a:p>
          <a:p xmlns:a="http://schemas.openxmlformats.org/drawingml/2006/main">
            <a:r>
              <a:t>      "data": {</a:t>
            </a:r>
          </a:p>
          <a:p xmlns:a="http://schemas.openxmlformats.org/drawingml/2006/main">
            <a:r>
              <a:t>        "source": "원본·추출 항목",</a:t>
            </a:r>
          </a:p>
          <a:p xmlns:a="http://schemas.openxmlformats.org/drawingml/2006/main">
            <a:r>
              <a:t>        "prepare": "원문 좌표·추출값·문서 판본·승인상태 연결",</a:t>
            </a:r>
          </a:p>
          <a:p xmlns:a="http://schemas.openxmlformats.org/drawingml/2006/main">
            <a:r>
              <a:t>        "output": "보증 원문",</a:t>
            </a:r>
          </a:p>
          <a:p xmlns:a="http://schemas.openxmlformats.org/drawingml/2006/main">
            <a:r>
              <a:t>        "refresh": "사람 확정값과 인식 오류를 품질 개선에 반영"</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"PF-R01",</a:t>
            </a:r>
          </a:p>
          <a:p xmlns:a="http://schemas.openxmlformats.org/drawingml/2006/main">
            <a:r>
              <a:t>    "success": [</a:t>
            </a:r>
          </a:p>
          <a:p xmlns:a="http://schemas.openxmlformats.org/drawingml/2006/main">
            <a:r>
              <a:t>      "보증서류와 검토 규칙의 연결",</a:t>
            </a:r>
          </a:p>
          <a:p xmlns:a="http://schemas.openxmlformats.org/drawingml/2006/main">
            <a:r>
              <a:t>      "검색·민원 지원의 공통 기반 활용"</a:t>
            </a:r>
          </a:p>
          <a:p xmlns:a="http://schemas.openxmlformats.org/drawingml/2006/main">
            <a:r>
              <a:t>    ],</a:t>
            </a:r>
          </a:p>
          <a:p xmlns:a="http://schemas.openxmlformats.org/drawingml/2006/main">
            <a:r>
              <a:t>    "risks": [</a:t>
            </a:r>
          </a:p>
          <a:p xmlns:a="http://schemas.openxmlformats.org/drawingml/2006/main">
            <a:r>
              <a:t>      "OCR 오독에 따른 누락 판단",</a:t>
            </a:r>
          </a:p>
          <a:p xmlns:a="http://schemas.openxmlformats.org/drawingml/2006/main">
            <a:r>
              <a:t>      "요구 명세와 운영 효과의 혼동"</a:t>
            </a:r>
          </a:p>
          <a:p xmlns:a="http://schemas.openxmlformats.org/drawingml/2006/main">
            <a:r>
              <a:t>    ],</a:t>
            </a:r>
          </a:p>
          <a:p xmlns:a="http://schemas.openxmlformats.org/drawingml/2006/main">
            <a:r>
              <a:t>    "architecture": [</a:t>
            </a:r>
          </a:p>
          <a:p xmlns:a="http://schemas.openxmlformats.org/drawingml/2006/main">
            <a:r>
              <a:t>      "보증 문서 접수",</a:t>
            </a:r>
          </a:p>
          <a:p xmlns:a="http://schemas.openxmlformats.org/drawingml/2006/main">
            <a:r>
              <a:t>      "OCR·규칙 검토",</a:t>
            </a:r>
          </a:p>
          <a:p xmlns:a="http://schemas.openxmlformats.org/drawingml/2006/main">
            <a:r>
              <a:t>      "원본·추출 항목",</a:t>
            </a:r>
          </a:p>
          <a:p xmlns:a="http://schemas.openxmlformats.org/drawingml/2006/main">
            <a:r>
              <a:t>      "보증·민원 담당"</a:t>
            </a:r>
          </a:p>
          <a:p xmlns:a="http://schemas.openxmlformats.org/drawingml/2006/main">
            <a:r>
              <a:t>    ],</a:t>
            </a:r>
          </a:p>
          <a:p xmlns:a="http://schemas.openxmlformats.org/drawingml/2006/main">
            <a:r>
              <a:t>    "transfers": [</a:t>
            </a:r>
          </a:p>
          <a:p xmlns:a="http://schemas.openxmlformats.org/drawingml/2006/main">
            <a:r>
              <a:t>      "보증 원문",</a:t>
            </a:r>
          </a:p>
          <a:p xmlns:a="http://schemas.openxmlformats.org/drawingml/2006/main">
            <a:r>
              <a:t>      "추출 항목",</a:t>
            </a:r>
          </a:p>
          <a:p xmlns:a="http://schemas.openxmlformats.org/drawingml/2006/main">
            <a:r>
              <a:t>      "누락·불일치",</a:t>
            </a:r>
          </a:p>
          <a:p xmlns:a="http://schemas.openxmlformats.org/drawingml/2006/main">
            <a:r>
              <a:t>      "검토 결과"</a:t>
            </a:r>
          </a:p>
          <a:p xmlns:a="http://schemas.openxmlformats.org/drawingml/2006/main">
            <a:r>
              <a:t>    ],</a:t>
            </a:r>
          </a:p>
          <a:p xmlns:a="http://schemas.openxmlformats.org/drawingml/2006/main">
            <a:r>
              <a:t>    "control": "원본·추출값 대조와 자동 확정 제한",</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SFR-006~008, PMR-004~005 / Word T026 https://www.g2b.go.kr/pn/pnp/pnpe/UntyAtchFile/downloadFile.do?bidPbancNo=R26BK01639098&amp;bidPbancOrd=000&amp;fileSeq=3&amp;fileType=&amp;prcmBsneSeCd=03</a:t>
            </a:r>
          </a:p>
          <a:p xmlns:a="http://schemas.openxmlformats.org/drawingml/2006/main">
            <a:r>
              <a:t>홈페이지 https://heen1987-ops.github.io/TS-business-Plan-001/index.html?view=platform-cases&amp;case=PF-R01</a:t>
            </a:r>
          </a:p>
          <a:p xmlns:a="http://schemas.openxmlformats.org/drawingml/2006/main">
            <a:r>
              <a:t>한계: 전세보증과 TS 전세버스는 업무 기준이 다름. 공통 기능만 이식 가능</a:t>
            </a:r>
          </a:p>
          <a:p xmlns:a="http://schemas.openxmlformats.org/drawingml/2006/main">
            <a:r>
              <a:t>실패 위험: OCR 오독에 따른 누락 판단 / 요구 명세와 운영 효과의 혼동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"PF-R01",</a:t>
            </a:r>
          </a:p>
          <a:p xmlns:a="http://schemas.openxmlformats.org/drawingml/2006/main">
            <a:r>
              <a:t>    "sourceId": "R01",</a:t>
            </a:r>
          </a:p>
          <a:p xmlns:a="http://schemas.openxmlformats.org/drawingml/2006/main">
            <a:r>
              <a:t>    "title": "HUG 문서·민원 AI",</a:t>
            </a:r>
          </a:p>
          <a:p xmlns:a="http://schemas.openxmlformats.org/drawingml/2006/main">
            <a:r>
              <a:t>    "region": "국내",</a:t>
            </a:r>
          </a:p>
          <a:p xmlns:a="http://schemas.openxmlformats.org/drawingml/2006/main">
            <a:r>
              <a:t>    "owner": "주택도시보증공사(HUG)",</a:t>
            </a:r>
          </a:p>
          <a:p xmlns:a="http://schemas.openxmlformats.org/drawingml/2006/main">
            <a:r>
              <a:t>    "state": "RFP 확인 / 실제 운영·검수 미확인",</a:t>
            </a:r>
          </a:p>
          <a:p xmlns:a="http://schemas.openxmlformats.org/drawingml/2006/main">
            <a:r>
              <a:t>    "period": "기존 원장 확인 2026.10.16",</a:t>
            </a:r>
          </a:p>
          <a:p xmlns:a="http://schemas.openxmlformats.org/drawingml/2006/main">
            <a:r>
              <a:t>    "fact": "직원 검색·전세보증 이행서류 검토·민원 지원을 공통 플랫폼에 구성",</a:t>
            </a:r>
          </a:p>
          <a:p xmlns:a="http://schemas.openxmlformats.org/drawingml/2006/main">
            <a:r>
              <a:t>    "limit": "전세보증과 TS 전세버스는 업무 기준이 다름. 공통 기능만 이식 가능",</a:t>
            </a:r>
          </a:p>
          <a:p xmlns:a="http://schemas.openxmlformats.org/drawingml/2006/main">
            <a:r>
              <a:t>    "nodes": [</a:t>
            </a:r>
          </a:p>
          <a:p xmlns:a="http://schemas.openxmlformats.org/drawingml/2006/main">
            <a:r>
              <a:t>      "보증 서류",</a:t>
            </a:r>
          </a:p>
          <a:p xmlns:a="http://schemas.openxmlformats.org/drawingml/2006/main">
            <a:r>
              <a:t>      "OCR·원본 대조",</a:t>
            </a:r>
          </a:p>
          <a:p xmlns:a="http://schemas.openxmlformats.org/drawingml/2006/main">
            <a:r>
              <a:t>      "규칙·누락 검토",</a:t>
            </a:r>
          </a:p>
          <a:p xmlns:a="http://schemas.openxmlformats.org/drawingml/2006/main">
            <a:r>
              <a:t>      "담당자 확정"</a:t>
            </a:r>
          </a:p>
          <a:p xmlns:a="http://schemas.openxmlformats.org/drawingml/2006/main">
            <a:r>
              <a:t>    ],</a:t>
            </a:r>
          </a:p>
          <a:p xmlns:a="http://schemas.openxmlformats.org/drawingml/2006/main">
            <a:r>
              <a:t>    "apply": "심사 서류의 추출값과 원본 위치를 연결하고 담당자가 최종 판정하는 증거 중심 검토",</a:t>
            </a:r>
          </a:p>
          <a:p xmlns:a="http://schemas.openxmlformats.org/drawingml/2006/main">
            <a:r>
              <a:t>    "delta": "서류 종류·필수항목 사전 / 추출값–원본 좌표 / 사건별 비교 규칙",</a:t>
            </a:r>
          </a:p>
          <a:p xmlns:a="http://schemas.openxmlformats.org/drawingml/2006/main">
            <a:r>
              <a:t>    "test": "저화질·누락·다른 사건 서류 주입 후 원본 대조·판정 보류 확인",</a:t>
            </a:r>
          </a:p>
          <a:p xmlns:a="http://schemas.openxmlformats.org/drawingml/2006/main">
            <a:r>
              <a:t>    "url": "https://www.g2b.go.kr/pn/pnp/pnpe/UntyAtchFile/downloadFile.do?bidPbancNo=R26BK01639098&amp;bidPbancOrd=000&amp;fileSeq=3&amp;fileType=&amp;prcmBsneSeCd=03",</a:t>
            </a:r>
          </a:p>
          <a:p xmlns:a="http://schemas.openxmlformats.org/drawingml/2006/main">
            <a:r>
              <a:t>    "urls": [</a:t>
            </a:r>
          </a:p>
          <a:p xmlns:a="http://schemas.openxmlformats.org/drawingml/2006/main">
            <a:r>
              <a:t>      "https://www.g2b.go.kr/pn/pnp/pnpe/UntyAtchFile/downloadFile.do?bidPbancNo=R26BK01639098&amp;bidPbancOrd=000&amp;fileSeq=3&amp;fileType=&amp;prcmBsneSeCd=03"</a:t>
            </a:r>
          </a:p>
          <a:p xmlns:a="http://schemas.openxmlformats.org/drawingml/2006/main">
            <a:r>
              <a:t>    ],</a:t>
            </a:r>
          </a:p>
          <a:p xmlns:a="http://schemas.openxmlformats.org/drawingml/2006/main">
            <a:r>
              <a:t>    "basis": "SFR-006~008, PMR-004~005 / Word T026",</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"심사 검토시간 / 필수 항목 누락률 / 재보완 횟수",</a:t>
            </a:r>
          </a:p>
          <a:p xmlns:a="http://schemas.openxmlformats.org/drawingml/2006/main">
            <a:r>
              <a:t>    "group": "요구·구축",</a:t>
            </a:r>
          </a:p>
          <a:p xmlns:a="http://schemas.openxmlformats.org/drawingml/2006/main">
            <a:r>
              <a:t>    "sourceDetail": "OCR/VLM→추출값·원본 매핑→누락·정합성 비교→사람 확정; 문서 승인·버전·권한별 RAG 분리",</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"PF-R01",</a:t>
            </a:r>
          </a:p>
          <a:p xmlns:a="http://schemas.openxmlformats.org/drawingml/2006/main">
            <a:r>
              <a:t>    "canonicalId": "PF-R01",</a:t>
            </a:r>
          </a:p>
          <a:p xmlns:a="http://schemas.openxmlformats.org/drawingml/2006/main">
            <a:r>
              <a:t>    "purpose": "보증 이행서류 검토와 민원업무의 공통 AI화",</a:t>
            </a:r>
          </a:p>
          <a:p xmlns:a="http://schemas.openxmlformats.org/drawingml/2006/main">
            <a:r>
              <a:t>    "users": "심사 직원·민원 담당·지식 관리자",</a:t>
            </a:r>
          </a:p>
          <a:p xmlns:a="http://schemas.openxmlformats.org/drawingml/2006/main">
            <a:r>
              <a:t>    "scope": [</a:t>
            </a:r>
          </a:p>
          <a:p xmlns:a="http://schemas.openxmlformats.org/drawingml/2006/main">
            <a:r>
              <a:t>      "직원 검색",</a:t>
            </a:r>
          </a:p>
          <a:p xmlns:a="http://schemas.openxmlformats.org/drawingml/2006/main">
            <a:r>
              <a:t>      "이행서류 검토",</a:t>
            </a:r>
          </a:p>
          <a:p xmlns:a="http://schemas.openxmlformats.org/drawingml/2006/main">
            <a:r>
              <a:t>      "민원 지원"</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"보증 문서 접수",</a:t>
            </a:r>
          </a:p>
          <a:p xmlns:a="http://schemas.openxmlformats.org/drawingml/2006/main">
            <a:r>
              <a:t>        "detail": "SSO·문서 접근권한·사건별 서류 묶음",</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"직원 검색 / 이행서류 검토 / 민원 지원",</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"OCR·규칙 검토",</a:t>
            </a:r>
          </a:p>
          <a:p xmlns:a="http://schemas.openxmlformats.org/drawingml/2006/main">
            <a:r>
              <a:t>        "detail": "OCR/VLM 추출 모듈과 정합성 비교 모듈 분리",</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"보증·민원 담당",</a:t>
            </a:r>
          </a:p>
          <a:p xmlns:a="http://schemas.openxmlformats.org/drawingml/2006/main">
            <a:r>
              <a:t>        "detail": "불일치·누락 항목을 원본과 함께 심사자에게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"원본·추출 항목",</a:t>
            </a:r>
          </a:p>
          <a:p xmlns:a="http://schemas.openxmlformats.org/drawingml/2006/main">
            <a:r>
              <a:t>        "detail": "원문 좌표·추출값·문서 판본·승인상태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"사람 확정값과 인식 오류를 품질 개선에 반영",</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"보증 서류",</a:t>
            </a:r>
          </a:p>
          <a:p xmlns:a="http://schemas.openxmlformats.org/drawingml/2006/main">
            <a:r>
              <a:t>        "input": "SSO·문서 접근권한·사건별 서류 묶음",</a:t>
            </a:r>
          </a:p>
          <a:p xmlns:a="http://schemas.openxmlformats.org/drawingml/2006/main">
            <a:r>
              <a:t>        "process": "원문 좌표·추출값·문서 판본·승인상태 연결",</a:t>
            </a:r>
          </a:p>
          <a:p xmlns:a="http://schemas.openxmlformats.org/drawingml/2006/main">
            <a:r>
              <a:t>        "output": "보증 원문"</a:t>
            </a:r>
          </a:p>
          <a:p xmlns:a="http://schemas.openxmlformats.org/drawingml/2006/main">
            <a:r>
              <a:t>      },</a:t>
            </a:r>
          </a:p>
          <a:p xmlns:a="http://schemas.openxmlformats.org/drawingml/2006/main">
            <a:r>
              <a:t>      {</a:t>
            </a:r>
          </a:p>
          <a:p xmlns:a="http://schemas.openxmlformats.org/drawingml/2006/main">
            <a:r>
              <a:t>        "title": "OCR·원본 대조",</a:t>
            </a:r>
          </a:p>
          <a:p xmlns:a="http://schemas.openxmlformats.org/drawingml/2006/main">
            <a:r>
              <a:t>        "input": "보증 원문",</a:t>
            </a:r>
          </a:p>
          <a:p xmlns:a="http://schemas.openxmlformats.org/drawingml/2006/main">
            <a:r>
              <a:t>        "process": "OCR/VLM 추출 모듈과 정합성 비교 모듈 분리",</a:t>
            </a:r>
          </a:p>
          <a:p xmlns:a="http://schemas.openxmlformats.org/drawingml/2006/main">
            <a:r>
              <a:t>        "output": "추출 항목"</a:t>
            </a:r>
          </a:p>
          <a:p xmlns:a="http://schemas.openxmlformats.org/drawingml/2006/main">
            <a:r>
              <a:t>      },</a:t>
            </a:r>
          </a:p>
          <a:p xmlns:a="http://schemas.openxmlformats.org/drawingml/2006/main">
            <a:r>
              <a:t>      {</a:t>
            </a:r>
          </a:p>
          <a:p xmlns:a="http://schemas.openxmlformats.org/drawingml/2006/main">
            <a:r>
              <a:t>        "title": "규칙·누락 검토",</a:t>
            </a:r>
          </a:p>
          <a:p xmlns:a="http://schemas.openxmlformats.org/drawingml/2006/main">
            <a:r>
              <a:t>        "input": "추출 항목",</a:t>
            </a:r>
          </a:p>
          <a:p xmlns:a="http://schemas.openxmlformats.org/drawingml/2006/main">
            <a:r>
              <a:t>        "process": "원본·추출값 대조와 자동 확정 제한",</a:t>
            </a:r>
          </a:p>
          <a:p xmlns:a="http://schemas.openxmlformats.org/drawingml/2006/main">
            <a:r>
              <a:t>        "output": "누락·불일치"</a:t>
            </a:r>
          </a:p>
          <a:p xmlns:a="http://schemas.openxmlformats.org/drawingml/2006/main">
            <a:r>
              <a:t>      },</a:t>
            </a:r>
          </a:p>
          <a:p xmlns:a="http://schemas.openxmlformats.org/drawingml/2006/main">
            <a:r>
              <a:t>      {</a:t>
            </a:r>
          </a:p>
          <a:p xmlns:a="http://schemas.openxmlformats.org/drawingml/2006/main">
            <a:r>
              <a:t>        "title": "담당자 확정",</a:t>
            </a:r>
          </a:p>
          <a:p xmlns:a="http://schemas.openxmlformats.org/drawingml/2006/main">
            <a:r>
              <a:t>        "input": "누락·불일치",</a:t>
            </a:r>
          </a:p>
          <a:p xmlns:a="http://schemas.openxmlformats.org/drawingml/2006/main">
            <a:r>
              <a:t>        "process": "불일치·누락 항목을 원본과 함께 심사자에게 제공",</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"한 사건의 신청 서류에서 필수 항목과 문서 간 일치 여부 확인",</a:t>
            </a:r>
          </a:p>
          <a:p xmlns:a="http://schemas.openxmlformats.org/drawingml/2006/main">
            <a:r>
              <a:t>      "exception": "스캔 저화질·서명 누락·주소 불일치·다른 사건 서류",</a:t>
            </a:r>
          </a:p>
          <a:p xmlns:a="http://schemas.openxmlformats.org/drawingml/2006/main">
            <a:r>
              <a:t>      "evidence": "추출값–원본 좌표–불일치 판정–심사자 확정 추적표",</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"심사 직원·민원 담당·지식 관리자",</a:t>
            </a:r>
          </a:p>
          <a:p xmlns:a="http://schemas.openxmlformats.org/drawingml/2006/main">
            <a:r>
              <a:t>          "processing": "SSO·문서 접근권한·사건별 서류 묶음",</a:t>
            </a:r>
          </a:p>
          <a:p xmlns:a="http://schemas.openxmlformats.org/drawingml/2006/main">
            <a:r>
              <a:t>          "output": "보증 원문"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"원본·추출 항목",</a:t>
            </a:r>
          </a:p>
          <a:p xmlns:a="http://schemas.openxmlformats.org/drawingml/2006/main">
            <a:r>
              <a:t>          "processing": "원문 좌표·추출값·문서 판본·승인상태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"보증 원문",</a:t>
            </a:r>
          </a:p>
          <a:p xmlns:a="http://schemas.openxmlformats.org/drawingml/2006/main">
            <a:r>
              <a:t>          "processing": "OCR/VLM 추출 모듈과 정합성 비교 모듈 분리",</a:t>
            </a:r>
          </a:p>
          <a:p xmlns:a="http://schemas.openxmlformats.org/drawingml/2006/main">
            <a:r>
              <a:t>          "output": "누락·불일치"</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"누락·불일치",</a:t>
            </a:r>
          </a:p>
          <a:p xmlns:a="http://schemas.openxmlformats.org/drawingml/2006/main">
            <a:r>
              <a:t>          "processing": "불일치·누락 항목을 원본과 함께 심사자에게 제공",</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"사람 확정값과 인식 오류를 품질 개선에 반영",</a:t>
            </a:r>
          </a:p>
          <a:p xmlns:a="http://schemas.openxmlformats.org/drawingml/2006/main">
            <a:r>
              <a:t>          "output": "추출값–원본 좌표–불일치 판정–심사자 확정 추적표"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"사람 확정값과 인식 오류를 품질 개선에 반영",</a:t>
            </a:r>
          </a:p>
          <a:p xmlns:a="http://schemas.openxmlformats.org/drawingml/2006/main">
            <a:r>
              <a:t>    "status": "RFP 기반 논리 설계",</a:t>
            </a:r>
          </a:p>
          <a:p xmlns:a="http://schemas.openxmlformats.org/drawingml/2006/main">
            <a:r>
              <a:t>    "basis": "본공고 RFP · SFR-006~008",</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"SFR-006~008, PMR-004~005 / Word T026",</a:t>
            </a:r>
          </a:p>
          <a:p xmlns:a="http://schemas.openxmlformats.org/drawingml/2006/main">
            <a:r>
              <a:t>        "url": "https://www.g2b.go.kr/pn/pnp/pnpe/UntyAtchFile/downloadFile.do?bidPbancNo=R26BK01639098&amp;bidPbancOrd=000&amp;fileSeq=3&amp;fileType=&amp;prcmBsneSeCd=03"</a:t>
            </a:r>
          </a:p>
          <a:p xmlns:a="http://schemas.openxmlformats.org/drawingml/2006/main">
            <a:r>
              <a:t>      }</a:t>
            </a:r>
          </a:p>
          <a:p xmlns:a="http://schemas.openxmlformats.org/drawingml/2006/main">
            <a:r>
              <a:t>    ],</a:t>
            </a:r>
          </a:p>
          <a:p xmlns:a="http://schemas.openxmlformats.org/drawingml/2006/main">
            <a:r>
              <a:t>    "implication": "심사 서류의 추출값과 원본 위치를 연결하고 담당자가 최종 판정하는 증거 중심 검토",</a:t>
            </a:r>
          </a:p>
          <a:p xmlns:a="http://schemas.openxmlformats.org/drawingml/2006/main">
            <a:r>
              <a:t>    "local": "심사 서류의 추출값과 원본 위치를 연결하고 담당자가 최종 판정하는 증거 중심 검토",</a:t>
            </a:r>
          </a:p>
          <a:p xmlns:a="http://schemas.openxmlformats.org/drawingml/2006/main">
            <a:r>
              <a:t>    "sourceDetail": "OCR/VLM→추출값·원본 매핑→누락·정합성 비교→사람 확정; 문서 승인·버전·권한별 RAG 분리",</a:t>
            </a:r>
          </a:p>
          <a:p xmlns:a="http://schemas.openxmlformats.org/drawingml/2006/main">
            <a:r>
              <a:t>    "narrative": [</a:t>
            </a:r>
          </a:p>
          <a:p xmlns:a="http://schemas.openxmlformats.org/drawingml/2006/main">
            <a:r>
              <a:t>      "규정 검색, 전세보증 이행서류 심사, 민원 처리의 세 업무를 공통 AI 기반 위에 구성하는 사업. 심사자가 여러 서류의 주소·계약·보증정보를 맞춰 보는 과정과 민원 담당자가 관련 규정·과거 답변을 찾는 과정을 각각 지원하는 범위.",</a:t>
            </a:r>
          </a:p>
          <a:p xmlns:a="http://schemas.openxmlformats.org/drawingml/2006/main">
            <a:r>
              <a:t>      "SFR-007의 핵심은 OCR 도입을 넘어 업무 건별 서류 묶음, 원본 위치와 추출값의 연결, 서류 간 비교, 심사자 수정·승인, 승인값의 후속 전달까지 이어지는 처리 구조. 검색용 청크와 심사용 구조화 항목을 별도 데이터로 관리하는 설계 필요.",</a:t>
            </a:r>
          </a:p>
          <a:p xmlns:a="http://schemas.openxmlformats.org/drawingml/2006/main">
            <a:r>
              <a:t>      "원문 인식률만으로 심사 지원 품질을 평가하기 어려운 구조. 문서 종류별 항목 추출, 다른 서류 간 정합성 판정, 누락 탐지, 사람 확인 후 전달을 단계별로 분리해 비교할 대상. TS 검사·인증 서류에도 사건 ID와 원본 좌표를 유지하는 방식의 적용 가능성."</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"SFR-006",</a:t>
            </a:r>
          </a:p>
          <a:p xmlns:a="http://schemas.openxmlformats.org/drawingml/2006/main">
            <a:r>
              <a:t>        "title": "AI 서비스_직원용 지식검색",</a:t>
            </a:r>
          </a:p>
          <a:p xmlns:a="http://schemas.openxmlformats.org/drawingml/2006/main">
            <a:r>
              <a:t>        "locator": "SFR-006",</a:t>
            </a:r>
          </a:p>
          <a:p xmlns:a="http://schemas.openxmlformats.org/drawingml/2006/main">
            <a:r>
              <a:t>        "summary": "규정·매뉴얼·판례의 구조를 추출하고 키워드·문맥 검색을 결합하는 직원용 지식검색. 승인 문서의 판본·개정일·보안등급 관리와 근거 조항·페이지 제공.",</a:t>
            </a:r>
          </a:p>
          <a:p xmlns:a="http://schemas.openxmlformats.org/drawingml/2006/main">
            <a:r>
              <a:t>        "data": "승인 문서·질의·검색 조건 → 근거 청크·조항·페이지·답변",</a:t>
            </a:r>
          </a:p>
          <a:p xmlns:a="http://schemas.openxmlformats.org/drawingml/2006/main">
            <a:r>
              <a:t>        "components": [</a:t>
            </a:r>
          </a:p>
          <a:p xmlns:a="http://schemas.openxmlformats.org/drawingml/2006/main">
            <a:r>
              <a:t>          "C03",</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"표·각주 포함 문서, 개정·삭제 문서, 다른 보안등급 문서를 투입해 인용 위치·최신성·검색 제외 여부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"fcb9809f74155d757fc4e05a0ba909eee1de897f306e8e7f1cdd6551c6525a6f"</a:t>
            </a:r>
          </a:p>
          <a:p xmlns:a="http://schemas.openxmlformats.org/drawingml/2006/main">
            <a:r>
              <a:t>      },</a:t>
            </a:r>
          </a:p>
          <a:p xmlns:a="http://schemas.openxmlformats.org/drawingml/2006/main">
            <a:r>
              <a:t>      {</a:t>
            </a:r>
          </a:p>
          <a:p xmlns:a="http://schemas.openxmlformats.org/drawingml/2006/main">
            <a:r>
              <a:t>        "id": "SFR-007",</a:t>
            </a:r>
          </a:p>
          <a:p xmlns:a="http://schemas.openxmlformats.org/drawingml/2006/main">
            <a:r>
              <a:t>        "title": "AI 서비스_전세이행 업무지원",</a:t>
            </a:r>
          </a:p>
          <a:p xmlns:a="http://schemas.openxmlformats.org/drawingml/2006/main">
            <a:r>
              <a:t>        "locator": "SFR-007",</a:t>
            </a:r>
          </a:p>
          <a:p xmlns:a="http://schemas.openxmlformats.org/drawingml/2006/main">
            <a:r>
              <a:t>        "summary": "업무 건별 제출서류 묶음과 OCR/VLM 추출값 관리. 원본 좌표 표시, 필드 수정, 유효기간·누락·서류 간 일치 검사, 심사표 생성, 승인값의 후속 전달.",</a:t>
            </a:r>
          </a:p>
          <a:p xmlns:a="http://schemas.openxmlformats.org/drawingml/2006/main">
            <a:r>
              <a:t>        "data": "사건 ID·서류·원본 좌표 → 항목값·불일치 목록·심사표·승인 상태",</a:t>
            </a:r>
          </a:p>
          <a:p xmlns:a="http://schemas.openxmlformats.org/drawingml/2006/main">
            <a:r>
              <a:t>        "components": [</a:t>
            </a:r>
          </a:p>
          <a:p xmlns:a="http://schemas.openxmlformats.org/drawingml/2006/main">
            <a:r>
              <a:t>          "C04",</a:t>
            </a:r>
          </a:p>
          <a:p xmlns:a="http://schemas.openxmlformats.org/drawingml/2006/main">
            <a:r>
              <a:t>          "C05",</a:t>
            </a:r>
          </a:p>
          <a:p xmlns:a="http://schemas.openxmlformats.org/drawingml/2006/main">
            <a:r>
              <a:t>          "C06",</a:t>
            </a:r>
          </a:p>
          <a:p xmlns:a="http://schemas.openxmlformats.org/drawingml/2006/main">
            <a:r>
              <a:t>          "C07"</a:t>
            </a:r>
          </a:p>
          <a:p xmlns:a="http://schemas.openxmlformats.org/drawingml/2006/main">
            <a:r>
              <a:t>        ],</a:t>
            </a:r>
          </a:p>
          <a:p xmlns:a="http://schemas.openxmlformats.org/drawingml/2006/main">
            <a:r>
              <a:t>        "acceptance": "흐린 스캔·다른 주소·누락 서류를 투입해 경고와 원본 위치 확인, 미승인 값의 전달 차단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"425cf0594ef5751da0b20f6a635f6c48577778b07fc85d00329082de815934fc"</a:t>
            </a:r>
          </a:p>
          <a:p xmlns:a="http://schemas.openxmlformats.org/drawingml/2006/main">
            <a:r>
              <a:t>      },</a:t>
            </a:r>
          </a:p>
          <a:p xmlns:a="http://schemas.openxmlformats.org/drawingml/2006/main">
            <a:r>
              <a:t>      {</a:t>
            </a:r>
          </a:p>
          <a:p xmlns:a="http://schemas.openxmlformats.org/drawingml/2006/main">
            <a:r>
              <a:t>        "id": "SFR-008",</a:t>
            </a:r>
          </a:p>
          <a:p xmlns:a="http://schemas.openxmlformats.org/drawingml/2006/main">
            <a:r>
              <a:t>        "title": "AI 서비스_지능형 민원처리 시스템",</a:t>
            </a:r>
          </a:p>
          <a:p xmlns:a="http://schemas.openxmlformats.org/drawingml/2006/main">
            <a:r>
              <a:t>        "locator": "SFR-008",</a:t>
            </a:r>
          </a:p>
          <a:p xmlns:a="http://schemas.openxmlformats.org/drawingml/2006/main">
            <a:r>
              <a:t>        "summary": "민원 부서 후보 추천, 유사민원 검색, 답변 초안·요약 제공. 사용자의 부서 선택·답변 확정과 담당 부서의 FAQ 후보 승인.",</a:t>
            </a:r>
          </a:p>
          <a:p xmlns:a="http://schemas.openxmlformats.org/drawingml/2006/main">
            <a:r>
              <a:t>        "data": "민원·지역·업무 유형 → 후보 부서·유사 사례·근거·답변 초안",</a:t>
            </a:r>
          </a:p>
          <a:p xmlns:a="http://schemas.openxmlformats.org/drawingml/2006/main">
            <a:r>
              <a:t>        "components": [</a:t>
            </a:r>
          </a:p>
          <a:p xmlns:a="http://schemas.openxmlformats.org/drawingml/2006/main">
            <a:r>
              <a:t>          "C02",</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"다부서 민원·유사사례 없음·FAQ 중복 입력 시 후보와 규정 대체 근거, 확정 전후 변경 이력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"8ab0ac34f0143f16766050d69a0283c485e048e2b4d17f33befa947fd660c3aa"</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"직원·문서 접점",</a:t>
            </a:r>
          </a:p>
          <a:p xmlns:a="http://schemas.openxmlformats.org/drawingml/2006/main">
            <a:r>
              <a:t>          "layer": "이용 접점",</a:t>
            </a:r>
          </a:p>
          <a:p xmlns:a="http://schemas.openxmlformats.org/drawingml/2006/main">
            <a:r>
              <a:t>          "detail": "심사 직원·민원 담당·지식 관리자",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"SSO·사건·권한",</a:t>
            </a:r>
          </a:p>
          <a:p xmlns:a="http://schemas.openxmlformats.org/drawingml/2006/main">
            <a:r>
              <a:t>          "layer": "업무 문맥",</a:t>
            </a:r>
          </a:p>
          <a:p xmlns:a="http://schemas.openxmlformats.org/drawingml/2006/main">
            <a:r>
              <a:t>          "detail": "SSO·문서 접근권한·사건별 서류 묶음",</a:t>
            </a:r>
          </a:p>
          <a:p xmlns:a="http://schemas.openxmlformats.org/drawingml/2006/main">
            <a:r>
              <a:t>          "requirements": [</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"문서·규정 조회",</a:t>
            </a:r>
          </a:p>
          <a:p xmlns:a="http://schemas.openxmlformats.org/drawingml/2006/main">
            <a:r>
              <a:t>          "layer": "자료 조회",</a:t>
            </a:r>
          </a:p>
          <a:p xmlns:a="http://schemas.openxmlformats.org/drawingml/2006/main">
            <a:r>
              <a:t>          "detail": "보증 원문",</a:t>
            </a:r>
          </a:p>
          <a:p xmlns:a="http://schemas.openxmlformats.org/drawingml/2006/main">
            <a:r>
              <a:t>          "requirements": [</a:t>
            </a:r>
          </a:p>
          <a:p xmlns:a="http://schemas.openxmlformats.org/drawingml/2006/main">
            <a:r>
              <a:t>            "SFR-006",</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"OCR·VLM 추출",</a:t>
            </a:r>
          </a:p>
          <a:p xmlns:a="http://schemas.openxmlformats.org/drawingml/2006/main">
            <a:r>
              <a:t>          "layer": "핵심 처리",</a:t>
            </a:r>
          </a:p>
          <a:p xmlns:a="http://schemas.openxmlformats.org/drawingml/2006/main">
            <a:r>
              <a:t>          "detail": "OCR/VLM 추출 모듈과 정합성 비교 모듈 분리",</a:t>
            </a:r>
          </a:p>
          <a:p xmlns:a="http://schemas.openxmlformats.org/drawingml/2006/main">
            <a:r>
              <a:t>          "requirements": [</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"누락·정합성 비교",</a:t>
            </a:r>
          </a:p>
          <a:p xmlns:a="http://schemas.openxmlformats.org/drawingml/2006/main">
            <a:r>
              <a:t>          "layer": "결과 검증",</a:t>
            </a:r>
          </a:p>
          <a:p xmlns:a="http://schemas.openxmlformats.org/drawingml/2006/main">
            <a:r>
              <a:t>          "detail": "원본·추출값 대조와 자동 확정 제한",</a:t>
            </a:r>
          </a:p>
          <a:p xmlns:a="http://schemas.openxmlformats.org/drawingml/2006/main">
            <a:r>
              <a:t>          "requirements": [</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"원본·값 사람 확인",</a:t>
            </a:r>
          </a:p>
          <a:p xmlns:a="http://schemas.openxmlformats.org/drawingml/2006/main">
            <a:r>
              <a:t>          "layer": "사람 확인",</a:t>
            </a:r>
          </a:p>
          <a:p xmlns:a="http://schemas.openxmlformats.org/drawingml/2006/main">
            <a:r>
              <a:t>          "detail": "한 사건의 신청 서류에서 필수 항목과 문서 간 일치 여부 확인",</a:t>
            </a:r>
          </a:p>
          <a:p xmlns:a="http://schemas.openxmlformats.org/drawingml/2006/main">
            <a:r>
              <a:t>          "requirements": [</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"심사·민원 초안",</a:t>
            </a:r>
          </a:p>
          <a:p xmlns:a="http://schemas.openxmlformats.org/drawingml/2006/main">
            <a:r>
              <a:t>          "layer": "업무 연결",</a:t>
            </a:r>
          </a:p>
          <a:p xmlns:a="http://schemas.openxmlformats.org/drawingml/2006/main">
            <a:r>
              <a:t>          "detail": "불일치·누락 항목을 원본과 함께 심사자에게 제공",</a:t>
            </a:r>
          </a:p>
          <a:p xmlns:a="http://schemas.openxmlformats.org/drawingml/2006/main">
            <a:r>
              <a:t>          "requirements": [</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"항목별 오류 평가",</a:t>
            </a:r>
          </a:p>
          <a:p xmlns:a="http://schemas.openxmlformats.org/drawingml/2006/main">
            <a:r>
              <a:t>          "layer": "운영 관측",</a:t>
            </a:r>
          </a:p>
          <a:p xmlns:a="http://schemas.openxmlformats.org/drawingml/2006/main">
            <a:r>
              <a:t>          "detail": "사람 확정값과 인식 오류를 품질 개선에 반영",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"이행서류·규정",</a:t>
            </a:r>
          </a:p>
          <a:p xmlns:a="http://schemas.openxmlformats.org/drawingml/2006/main">
            <a:r>
              <a:t>          "layer": "데이터 원천",</a:t>
            </a:r>
          </a:p>
          <a:p xmlns:a="http://schemas.openxmlformats.org/drawingml/2006/main">
            <a:r>
              <a:t>          "detail": "원본·추출 항목",</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"좌표·판본·승인태그",</a:t>
            </a:r>
          </a:p>
          <a:p xmlns:a="http://schemas.openxmlformats.org/drawingml/2006/main">
            <a:r>
              <a:t>          "layer": "준비·갱신",</a:t>
            </a:r>
          </a:p>
          <a:p xmlns:a="http://schemas.openxmlformats.org/drawingml/2006/main">
            <a:r>
              <a:t>          "detail": "원문 좌표·추출값·문서 판본·승인상태 연결",</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"원본·추출값·색인",</a:t>
            </a:r>
          </a:p>
          <a:p xmlns:a="http://schemas.openxmlformats.org/drawingml/2006/main">
            <a:r>
              <a:t>          "layer": "상태·지식 저장",</a:t>
            </a:r>
          </a:p>
          <a:p xmlns:a="http://schemas.openxmlformats.org/drawingml/2006/main">
            <a:r>
              <a:t>          "detail": "추출값–원본 좌표–불일치 판정–심사자 확정 추적표",</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"문서별 접근정책",</a:t>
            </a:r>
          </a:p>
          <a:p xmlns:a="http://schemas.openxmlformats.org/drawingml/2006/main">
            <a:r>
              <a:t>          "layer": "권한·정책",</a:t>
            </a:r>
          </a:p>
          <a:p xmlns:a="http://schemas.openxmlformats.org/drawingml/2006/main">
            <a:r>
              <a:t>          "detail": "스캔 저화질·서명 누락·주소 불일치·다른 사건 서류",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"SSO·문서 접근권한·사건별 서류 묶음",</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"보증 원문",</a:t>
            </a:r>
          </a:p>
          <a:p xmlns:a="http://schemas.openxmlformats.org/drawingml/2006/main">
            <a:r>
              <a:t>          "check": "원본·추출값 대조와 자동 확정 제한"</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"추출 항목",</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"원문 좌표·추출 항목·인식 신뢰도",</a:t>
            </a:r>
          </a:p>
          <a:p xmlns:a="http://schemas.openxmlformats.org/drawingml/2006/main">
            <a:r>
              <a:t>          "check": "스캔 저화질·서명 누락·주소 불일치·다른 사건 서류"</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"누락·불일치",</a:t>
            </a:r>
          </a:p>
          <a:p xmlns:a="http://schemas.openxmlformats.org/drawingml/2006/main">
            <a:r>
              <a:t>          "check": "불일치·누락 항목을 원본과 함께 심사자에게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 결과",</a:t>
            </a:r>
          </a:p>
          <a:p xmlns:a="http://schemas.openxmlformats.org/drawingml/2006/main">
            <a:r>
              <a:t>          "check": "추출값–원본 좌표–불일치 판정–심사자 확정 추적표"</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"SFR-006~008",</a:t>
            </a:r>
          </a:p>
          <a:p xmlns:a="http://schemas.openxmlformats.org/drawingml/2006/main">
            <a:r>
              <a:t>        "extracted": "OCR/VLM 항목 추출과 문서 정합성 비교의 분리",</a:t>
            </a:r>
          </a:p>
          <a:p xmlns:a="http://schemas.openxmlformats.org/drawingml/2006/main">
            <a:r>
              <a:t>        "extension": "문서 좌표·추출값과 심사 확정값의 별도 보존"</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"PF-R01",</a:t>
            </a:r>
          </a:p>
          <a:p xmlns:a="http://schemas.openxmlformats.org/drawingml/2006/main">
            <a:r>
              <a:t>          "path": "assets/casebook-sources/PF-R01-01.png",</a:t>
            </a:r>
          </a:p>
          <a:p xmlns:a="http://schemas.openxmlformats.org/drawingml/2006/main">
            <a:r>
              <a:t>          "title": "HUG AI 인프라·업무시스템 연계",</a:t>
            </a:r>
          </a:p>
          <a:p xmlns:a="http://schemas.openxmlformats.org/drawingml/2006/main">
            <a:r>
              <a:t>          "status": "RFP 목표 구성도",</a:t>
            </a:r>
          </a:p>
          <a:p xmlns:a="http://schemas.openxmlformats.org/drawingml/2006/main">
            <a:r>
              <a:t>          "caption": "통합 클라우드·GPU Kubernetes·AI 웹서비스·그룹웨어 연계",</a:t>
            </a:r>
          </a:p>
          <a:p xmlns:a="http://schemas.openxmlformats.org/drawingml/2006/main">
            <a:r>
              <a:t>          "locator": "rId10 / BinData/image4_jpg",</a:t>
            </a:r>
          </a:p>
          <a:p xmlns:a="http://schemas.openxmlformats.org/drawingml/2006/main">
            <a:r>
              <a:t>          "checked": "2026-10-16",</a:t>
            </a:r>
          </a:p>
          <a:p xmlns:a="http://schemas.openxmlformats.org/drawingml/2006/main">
            <a:r>
              <a:t>          "sha256": "435b1f344867be6beab5f24852d1c79cba1e48a9361c9e0976f78dab55a1e9c9",</a:t>
            </a:r>
          </a:p>
          <a:p xmlns:a="http://schemas.openxmlformats.org/drawingml/2006/main">
            <a:r>
              <a:t>          "explanation": {</a:t>
            </a:r>
          </a:p>
          <a:p xmlns:a="http://schemas.openxmlformats.org/drawingml/2006/main">
            <a:r>
              <a:t>            "read": "클라우드·GPU Kubernetes는 AI 처리 자원, 웹서비스는 직원 접점, 그룹웨어는 기존 업무와의 연결 영역. 인프라 블록만으로 문서 심사 승인 절차까지 구현됐다고 해석하지 않는 구조.",</a:t>
            </a:r>
          </a:p>
          <a:p xmlns:a="http://schemas.openxmlformats.org/drawingml/2006/main">
            <a:r>
              <a:t>            "requirements": [</a:t>
            </a:r>
          </a:p>
          <a:p xmlns:a="http://schemas.openxmlformats.org/drawingml/2006/main">
            <a:r>
              <a:t>              "SFR-006",</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"connection": "문서 반입·검색·추출은 공통 자원을 사용하되 지식검색, 보증이행 심사, 민원답변의 결과 저장·승인 경로는 각각 분리하는 CCK 재구성."</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"스캔 저화질·서명 누락·주소 불일치·다른 사건 서류",</a:t>
            </a:r>
          </a:p>
          <a:p xmlns:a="http://schemas.openxmlformats.org/drawingml/2006/main">
            <a:r>
              <a:t>        "hold": "원본·추출값 대조와 자동 확정 제한",</a:t>
            </a:r>
          </a:p>
          <a:p xmlns:a="http://schemas.openxmlformats.org/drawingml/2006/main">
            <a:r>
              <a:t>        "recovery": "사람 확정값과 인식 오류를 품질 개선에 반영",</a:t>
            </a:r>
          </a:p>
          <a:p xmlns:a="http://schemas.openxmlformats.org/drawingml/2006/main">
            <a:r>
              <a:t>        "evidence": "추출값–원본 좌표–불일치 판정–심사자 확정 추적표"</a:t>
            </a:r>
          </a:p>
          <a:p xmlns:a="http://schemas.openxmlformats.org/drawingml/2006/main">
            <a:r>
              <a:t>      },</a:t>
            </a:r>
          </a:p>
          <a:p xmlns:a="http://schemas.openxmlformats.org/drawingml/2006/main">
            <a:r>
              <a:t>      "data": {</a:t>
            </a:r>
          </a:p>
          <a:p xmlns:a="http://schemas.openxmlformats.org/drawingml/2006/main">
            <a:r>
              <a:t>        "source": "원본·추출 항목",</a:t>
            </a:r>
          </a:p>
          <a:p xmlns:a="http://schemas.openxmlformats.org/drawingml/2006/main">
            <a:r>
              <a:t>        "prepare": "원문 좌표·추출값·문서 판본·승인상태 연결",</a:t>
            </a:r>
          </a:p>
          <a:p xmlns:a="http://schemas.openxmlformats.org/drawingml/2006/main">
            <a:r>
              <a:t>        "output": "보증 원문",</a:t>
            </a:r>
          </a:p>
          <a:p xmlns:a="http://schemas.openxmlformats.org/drawingml/2006/main">
            <a:r>
              <a:t>        "refresh": "사람 확정값과 인식 오류를 품질 개선에 반영"</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"PF-R01",</a:t>
            </a:r>
          </a:p>
          <a:p xmlns:a="http://schemas.openxmlformats.org/drawingml/2006/main">
            <a:r>
              <a:t>    "success": [</a:t>
            </a:r>
          </a:p>
          <a:p xmlns:a="http://schemas.openxmlformats.org/drawingml/2006/main">
            <a:r>
              <a:t>      "보증서류와 검토 규칙의 연결",</a:t>
            </a:r>
          </a:p>
          <a:p xmlns:a="http://schemas.openxmlformats.org/drawingml/2006/main">
            <a:r>
              <a:t>      "검색·민원 지원의 공통 기반 활용"</a:t>
            </a:r>
          </a:p>
          <a:p xmlns:a="http://schemas.openxmlformats.org/drawingml/2006/main">
            <a:r>
              <a:t>    ],</a:t>
            </a:r>
          </a:p>
          <a:p xmlns:a="http://schemas.openxmlformats.org/drawingml/2006/main">
            <a:r>
              <a:t>    "risks": [</a:t>
            </a:r>
          </a:p>
          <a:p xmlns:a="http://schemas.openxmlformats.org/drawingml/2006/main">
            <a:r>
              <a:t>      "OCR 오독에 따른 누락 판단",</a:t>
            </a:r>
          </a:p>
          <a:p xmlns:a="http://schemas.openxmlformats.org/drawingml/2006/main">
            <a:r>
              <a:t>      "요구 명세와 운영 효과의 혼동"</a:t>
            </a:r>
          </a:p>
          <a:p xmlns:a="http://schemas.openxmlformats.org/drawingml/2006/main">
            <a:r>
              <a:t>    ],</a:t>
            </a:r>
          </a:p>
          <a:p xmlns:a="http://schemas.openxmlformats.org/drawingml/2006/main">
            <a:r>
              <a:t>    "architecture": [</a:t>
            </a:r>
          </a:p>
          <a:p xmlns:a="http://schemas.openxmlformats.org/drawingml/2006/main">
            <a:r>
              <a:t>      "보증 문서 접수",</a:t>
            </a:r>
          </a:p>
          <a:p xmlns:a="http://schemas.openxmlformats.org/drawingml/2006/main">
            <a:r>
              <a:t>      "OCR·규칙 검토",</a:t>
            </a:r>
          </a:p>
          <a:p xmlns:a="http://schemas.openxmlformats.org/drawingml/2006/main">
            <a:r>
              <a:t>      "원본·추출 항목",</a:t>
            </a:r>
          </a:p>
          <a:p xmlns:a="http://schemas.openxmlformats.org/drawingml/2006/main">
            <a:r>
              <a:t>      "보증·민원 담당"</a:t>
            </a:r>
          </a:p>
          <a:p xmlns:a="http://schemas.openxmlformats.org/drawingml/2006/main">
            <a:r>
              <a:t>    ],</a:t>
            </a:r>
          </a:p>
          <a:p xmlns:a="http://schemas.openxmlformats.org/drawingml/2006/main">
            <a:r>
              <a:t>    "transfers": [</a:t>
            </a:r>
          </a:p>
          <a:p xmlns:a="http://schemas.openxmlformats.org/drawingml/2006/main">
            <a:r>
              <a:t>      "보증 원문",</a:t>
            </a:r>
          </a:p>
          <a:p xmlns:a="http://schemas.openxmlformats.org/drawingml/2006/main">
            <a:r>
              <a:t>      "추출 항목",</a:t>
            </a:r>
          </a:p>
          <a:p xmlns:a="http://schemas.openxmlformats.org/drawingml/2006/main">
            <a:r>
              <a:t>      "누락·불일치",</a:t>
            </a:r>
          </a:p>
          <a:p xmlns:a="http://schemas.openxmlformats.org/drawingml/2006/main">
            <a:r>
              <a:t>      "검토 결과"</a:t>
            </a:r>
          </a:p>
          <a:p xmlns:a="http://schemas.openxmlformats.org/drawingml/2006/main">
            <a:r>
              <a:t>    ],</a:t>
            </a:r>
          </a:p>
          <a:p xmlns:a="http://schemas.openxmlformats.org/drawingml/2006/main">
            <a:r>
              <a:t>    "control": "원본·추출값 대조와 자동 확정 제한",</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SFR-006~008, PMR-004~005 / Word T026 https://www.g2b.go.kr/pn/pnp/pnpe/UntyAtchFile/downloadFile.do?bidPbancNo=R26BK01639098&amp;bidPbancOrd=000&amp;fileSeq=3&amp;fileType=&amp;prcmBsneSeCd=03</a:t>
            </a:r>
          </a:p>
          <a:p xmlns:a="http://schemas.openxmlformats.org/drawingml/2006/main">
            <a:r>
              <a:t>홈페이지 https://heen1987-ops.github.io/TS-business-Plan-001/index.html?view=platform-cases&amp;case=PF-R01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"PF-R01",</a:t>
            </a:r>
          </a:p>
          <a:p xmlns:a="http://schemas.openxmlformats.org/drawingml/2006/main">
            <a:r>
              <a:t>    "sourceId": "R01",</a:t>
            </a:r>
          </a:p>
          <a:p xmlns:a="http://schemas.openxmlformats.org/drawingml/2006/main">
            <a:r>
              <a:t>    "title": "HUG 문서·민원 AI",</a:t>
            </a:r>
          </a:p>
          <a:p xmlns:a="http://schemas.openxmlformats.org/drawingml/2006/main">
            <a:r>
              <a:t>    "region": "국내",</a:t>
            </a:r>
          </a:p>
          <a:p xmlns:a="http://schemas.openxmlformats.org/drawingml/2006/main">
            <a:r>
              <a:t>    "owner": "주택도시보증공사(HUG)",</a:t>
            </a:r>
          </a:p>
          <a:p xmlns:a="http://schemas.openxmlformats.org/drawingml/2006/main">
            <a:r>
              <a:t>    "state": "RFP 확인 / 실제 운영·검수 미확인",</a:t>
            </a:r>
          </a:p>
          <a:p xmlns:a="http://schemas.openxmlformats.org/drawingml/2006/main">
            <a:r>
              <a:t>    "period": "기존 원장 확인 2026.10.16",</a:t>
            </a:r>
          </a:p>
          <a:p xmlns:a="http://schemas.openxmlformats.org/drawingml/2006/main">
            <a:r>
              <a:t>    "fact": "직원 검색·전세보증 이행서류 검토·민원 지원을 공통 플랫폼에 구성",</a:t>
            </a:r>
          </a:p>
          <a:p xmlns:a="http://schemas.openxmlformats.org/drawingml/2006/main">
            <a:r>
              <a:t>    "limit": "전세보증과 TS 전세버스는 업무 기준이 다름. 공통 기능만 이식 가능",</a:t>
            </a:r>
          </a:p>
          <a:p xmlns:a="http://schemas.openxmlformats.org/drawingml/2006/main">
            <a:r>
              <a:t>    "nodes": [</a:t>
            </a:r>
          </a:p>
          <a:p xmlns:a="http://schemas.openxmlformats.org/drawingml/2006/main">
            <a:r>
              <a:t>      "보증 서류",</a:t>
            </a:r>
          </a:p>
          <a:p xmlns:a="http://schemas.openxmlformats.org/drawingml/2006/main">
            <a:r>
              <a:t>      "OCR·원본 대조",</a:t>
            </a:r>
          </a:p>
          <a:p xmlns:a="http://schemas.openxmlformats.org/drawingml/2006/main">
            <a:r>
              <a:t>      "규칙·누락 검토",</a:t>
            </a:r>
          </a:p>
          <a:p xmlns:a="http://schemas.openxmlformats.org/drawingml/2006/main">
            <a:r>
              <a:t>      "담당자 확정"</a:t>
            </a:r>
          </a:p>
          <a:p xmlns:a="http://schemas.openxmlformats.org/drawingml/2006/main">
            <a:r>
              <a:t>    ],</a:t>
            </a:r>
          </a:p>
          <a:p xmlns:a="http://schemas.openxmlformats.org/drawingml/2006/main">
            <a:r>
              <a:t>    "apply": "심사 서류의 추출값과 원본 위치를 연결하고 담당자가 최종 판정하는 증거 중심 검토",</a:t>
            </a:r>
          </a:p>
          <a:p xmlns:a="http://schemas.openxmlformats.org/drawingml/2006/main">
            <a:r>
              <a:t>    "delta": "서류 종류·필수항목 사전 / 추출값–원본 좌표 / 사건별 비교 규칙",</a:t>
            </a:r>
          </a:p>
          <a:p xmlns:a="http://schemas.openxmlformats.org/drawingml/2006/main">
            <a:r>
              <a:t>    "test": "저화질·누락·다른 사건 서류 주입 후 원본 대조·판정 보류 확인",</a:t>
            </a:r>
          </a:p>
          <a:p xmlns:a="http://schemas.openxmlformats.org/drawingml/2006/main">
            <a:r>
              <a:t>    "url": "https://www.g2b.go.kr/pn/pnp/pnpe/UntyAtchFile/downloadFile.do?bidPbancNo=R26BK01639098&amp;bidPbancOrd=000&amp;fileSeq=3&amp;fileType=&amp;prcmBsneSeCd=03",</a:t>
            </a:r>
          </a:p>
          <a:p xmlns:a="http://schemas.openxmlformats.org/drawingml/2006/main">
            <a:r>
              <a:t>    "urls": [</a:t>
            </a:r>
          </a:p>
          <a:p xmlns:a="http://schemas.openxmlformats.org/drawingml/2006/main">
            <a:r>
              <a:t>      "https://www.g2b.go.kr/pn/pnp/pnpe/UntyAtchFile/downloadFile.do?bidPbancNo=R26BK01639098&amp;bidPbancOrd=000&amp;fileSeq=3&amp;fileType=&amp;prcmBsneSeCd=03"</a:t>
            </a:r>
          </a:p>
          <a:p xmlns:a="http://schemas.openxmlformats.org/drawingml/2006/main">
            <a:r>
              <a:t>    ],</a:t>
            </a:r>
          </a:p>
          <a:p xmlns:a="http://schemas.openxmlformats.org/drawingml/2006/main">
            <a:r>
              <a:t>    "basis": "SFR-006~008, PMR-004~005 / Word T026",</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"심사 검토시간 / 필수 항목 누락률 / 재보완 횟수",</a:t>
            </a:r>
          </a:p>
          <a:p xmlns:a="http://schemas.openxmlformats.org/drawingml/2006/main">
            <a:r>
              <a:t>    "group": "요구·구축",</a:t>
            </a:r>
          </a:p>
          <a:p xmlns:a="http://schemas.openxmlformats.org/drawingml/2006/main">
            <a:r>
              <a:t>    "sourceDetail": "OCR/VLM→추출값·원본 매핑→누락·정합성 비교→사람 확정; 문서 승인·버전·권한별 RAG 분리",</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"PF-R01",</a:t>
            </a:r>
          </a:p>
          <a:p xmlns:a="http://schemas.openxmlformats.org/drawingml/2006/main">
            <a:r>
              <a:t>    "canonicalId": "PF-R01",</a:t>
            </a:r>
          </a:p>
          <a:p xmlns:a="http://schemas.openxmlformats.org/drawingml/2006/main">
            <a:r>
              <a:t>    "purpose": "보증 이행서류 검토와 민원업무의 공통 AI화",</a:t>
            </a:r>
          </a:p>
          <a:p xmlns:a="http://schemas.openxmlformats.org/drawingml/2006/main">
            <a:r>
              <a:t>    "users": "심사 직원·민원 담당·지식 관리자",</a:t>
            </a:r>
          </a:p>
          <a:p xmlns:a="http://schemas.openxmlformats.org/drawingml/2006/main">
            <a:r>
              <a:t>    "scope": [</a:t>
            </a:r>
          </a:p>
          <a:p xmlns:a="http://schemas.openxmlformats.org/drawingml/2006/main">
            <a:r>
              <a:t>      "직원 검색",</a:t>
            </a:r>
          </a:p>
          <a:p xmlns:a="http://schemas.openxmlformats.org/drawingml/2006/main">
            <a:r>
              <a:t>      "이행서류 검토",</a:t>
            </a:r>
          </a:p>
          <a:p xmlns:a="http://schemas.openxmlformats.org/drawingml/2006/main">
            <a:r>
              <a:t>      "민원 지원"</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"보증 문서 접수",</a:t>
            </a:r>
          </a:p>
          <a:p xmlns:a="http://schemas.openxmlformats.org/drawingml/2006/main">
            <a:r>
              <a:t>        "detail": "SSO·문서 접근권한·사건별 서류 묶음",</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"직원 검색 / 이행서류 검토 / 민원 지원",</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"OCR·규칙 검토",</a:t>
            </a:r>
          </a:p>
          <a:p xmlns:a="http://schemas.openxmlformats.org/drawingml/2006/main">
            <a:r>
              <a:t>        "detail": "OCR/VLM 추출 모듈과 정합성 비교 모듈 분리",</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"보증·민원 담당",</a:t>
            </a:r>
          </a:p>
          <a:p xmlns:a="http://schemas.openxmlformats.org/drawingml/2006/main">
            <a:r>
              <a:t>        "detail": "불일치·누락 항목을 원본과 함께 심사자에게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"원본·추출 항목",</a:t>
            </a:r>
          </a:p>
          <a:p xmlns:a="http://schemas.openxmlformats.org/drawingml/2006/main">
            <a:r>
              <a:t>        "detail": "원문 좌표·추출값·문서 판본·승인상태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"사람 확정값과 인식 오류를 품질 개선에 반영",</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"보증 서류",</a:t>
            </a:r>
          </a:p>
          <a:p xmlns:a="http://schemas.openxmlformats.org/drawingml/2006/main">
            <a:r>
              <a:t>        "input": "SSO·문서 접근권한·사건별 서류 묶음",</a:t>
            </a:r>
          </a:p>
          <a:p xmlns:a="http://schemas.openxmlformats.org/drawingml/2006/main">
            <a:r>
              <a:t>        "process": "원문 좌표·추출값·문서 판본·승인상태 연결",</a:t>
            </a:r>
          </a:p>
          <a:p xmlns:a="http://schemas.openxmlformats.org/drawingml/2006/main">
            <a:r>
              <a:t>        "output": "보증 원문"</a:t>
            </a:r>
          </a:p>
          <a:p xmlns:a="http://schemas.openxmlformats.org/drawingml/2006/main">
            <a:r>
              <a:t>      },</a:t>
            </a:r>
          </a:p>
          <a:p xmlns:a="http://schemas.openxmlformats.org/drawingml/2006/main">
            <a:r>
              <a:t>      {</a:t>
            </a:r>
          </a:p>
          <a:p xmlns:a="http://schemas.openxmlformats.org/drawingml/2006/main">
            <a:r>
              <a:t>        "title": "OCR·원본 대조",</a:t>
            </a:r>
          </a:p>
          <a:p xmlns:a="http://schemas.openxmlformats.org/drawingml/2006/main">
            <a:r>
              <a:t>        "input": "보증 원문",</a:t>
            </a:r>
          </a:p>
          <a:p xmlns:a="http://schemas.openxmlformats.org/drawingml/2006/main">
            <a:r>
              <a:t>        "process": "OCR/VLM 추출 모듈과 정합성 비교 모듈 분리",</a:t>
            </a:r>
          </a:p>
          <a:p xmlns:a="http://schemas.openxmlformats.org/drawingml/2006/main">
            <a:r>
              <a:t>        "output": "추출 항목"</a:t>
            </a:r>
          </a:p>
          <a:p xmlns:a="http://schemas.openxmlformats.org/drawingml/2006/main">
            <a:r>
              <a:t>      },</a:t>
            </a:r>
          </a:p>
          <a:p xmlns:a="http://schemas.openxmlformats.org/drawingml/2006/main">
            <a:r>
              <a:t>      {</a:t>
            </a:r>
          </a:p>
          <a:p xmlns:a="http://schemas.openxmlformats.org/drawingml/2006/main">
            <a:r>
              <a:t>        "title": "규칙·누락 검토",</a:t>
            </a:r>
          </a:p>
          <a:p xmlns:a="http://schemas.openxmlformats.org/drawingml/2006/main">
            <a:r>
              <a:t>        "input": "추출 항목",</a:t>
            </a:r>
          </a:p>
          <a:p xmlns:a="http://schemas.openxmlformats.org/drawingml/2006/main">
            <a:r>
              <a:t>        "process": "원본·추출값 대조와 자동 확정 제한",</a:t>
            </a:r>
          </a:p>
          <a:p xmlns:a="http://schemas.openxmlformats.org/drawingml/2006/main">
            <a:r>
              <a:t>        "output": "누락·불일치"</a:t>
            </a:r>
          </a:p>
          <a:p xmlns:a="http://schemas.openxmlformats.org/drawingml/2006/main">
            <a:r>
              <a:t>      },</a:t>
            </a:r>
          </a:p>
          <a:p xmlns:a="http://schemas.openxmlformats.org/drawingml/2006/main">
            <a:r>
              <a:t>      {</a:t>
            </a:r>
          </a:p>
          <a:p xmlns:a="http://schemas.openxmlformats.org/drawingml/2006/main">
            <a:r>
              <a:t>        "title": "담당자 확정",</a:t>
            </a:r>
          </a:p>
          <a:p xmlns:a="http://schemas.openxmlformats.org/drawingml/2006/main">
            <a:r>
              <a:t>        "input": "누락·불일치",</a:t>
            </a:r>
          </a:p>
          <a:p xmlns:a="http://schemas.openxmlformats.org/drawingml/2006/main">
            <a:r>
              <a:t>        "process": "불일치·누락 항목을 원본과 함께 심사자에게 제공",</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"한 사건의 신청 서류에서 필수 항목과 문서 간 일치 여부 확인",</a:t>
            </a:r>
          </a:p>
          <a:p xmlns:a="http://schemas.openxmlformats.org/drawingml/2006/main">
            <a:r>
              <a:t>      "exception": "스캔 저화질·서명 누락·주소 불일치·다른 사건 서류",</a:t>
            </a:r>
          </a:p>
          <a:p xmlns:a="http://schemas.openxmlformats.org/drawingml/2006/main">
            <a:r>
              <a:t>      "evidence": "추출값–원본 좌표–불일치 판정–심사자 확정 추적표",</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"심사 직원·민원 담당·지식 관리자",</a:t>
            </a:r>
          </a:p>
          <a:p xmlns:a="http://schemas.openxmlformats.org/drawingml/2006/main">
            <a:r>
              <a:t>          "processing": "SSO·문서 접근권한·사건별 서류 묶음",</a:t>
            </a:r>
          </a:p>
          <a:p xmlns:a="http://schemas.openxmlformats.org/drawingml/2006/main">
            <a:r>
              <a:t>          "output": "보증 원문"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"원본·추출 항목",</a:t>
            </a:r>
          </a:p>
          <a:p xmlns:a="http://schemas.openxmlformats.org/drawingml/2006/main">
            <a:r>
              <a:t>          "processing": "원문 좌표·추출값·문서 판본·승인상태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"보증 원문",</a:t>
            </a:r>
          </a:p>
          <a:p xmlns:a="http://schemas.openxmlformats.org/drawingml/2006/main">
            <a:r>
              <a:t>          "processing": "OCR/VLM 추출 모듈과 정합성 비교 모듈 분리",</a:t>
            </a:r>
          </a:p>
          <a:p xmlns:a="http://schemas.openxmlformats.org/drawingml/2006/main">
            <a:r>
              <a:t>          "output": "누락·불일치"</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"누락·불일치",</a:t>
            </a:r>
          </a:p>
          <a:p xmlns:a="http://schemas.openxmlformats.org/drawingml/2006/main">
            <a:r>
              <a:t>          "processing": "불일치·누락 항목을 원본과 함께 심사자에게 제공",</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"사람 확정값과 인식 오류를 품질 개선에 반영",</a:t>
            </a:r>
          </a:p>
          <a:p xmlns:a="http://schemas.openxmlformats.org/drawingml/2006/main">
            <a:r>
              <a:t>          "output": "추출값–원본 좌표–불일치 판정–심사자 확정 추적표"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"사람 확정값과 인식 오류를 품질 개선에 반영",</a:t>
            </a:r>
          </a:p>
          <a:p xmlns:a="http://schemas.openxmlformats.org/drawingml/2006/main">
            <a:r>
              <a:t>    "status": "RFP 기반 논리 설계",</a:t>
            </a:r>
          </a:p>
          <a:p xmlns:a="http://schemas.openxmlformats.org/drawingml/2006/main">
            <a:r>
              <a:t>    "basis": "본공고 RFP · SFR-006~008",</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"SFR-006~008, PMR-004~005 / Word T026",</a:t>
            </a:r>
          </a:p>
          <a:p xmlns:a="http://schemas.openxmlformats.org/drawingml/2006/main">
            <a:r>
              <a:t>        "url": "https://www.g2b.go.kr/pn/pnp/pnpe/UntyAtchFile/downloadFile.do?bidPbancNo=R26BK01639098&amp;bidPbancOrd=000&amp;fileSeq=3&amp;fileType=&amp;prcmBsneSeCd=03"</a:t>
            </a:r>
          </a:p>
          <a:p xmlns:a="http://schemas.openxmlformats.org/drawingml/2006/main">
            <a:r>
              <a:t>      }</a:t>
            </a:r>
          </a:p>
          <a:p xmlns:a="http://schemas.openxmlformats.org/drawingml/2006/main">
            <a:r>
              <a:t>    ],</a:t>
            </a:r>
          </a:p>
          <a:p xmlns:a="http://schemas.openxmlformats.org/drawingml/2006/main">
            <a:r>
              <a:t>    "implication": "심사 서류의 추출값과 원본 위치를 연결하고 담당자가 최종 판정하는 증거 중심 검토",</a:t>
            </a:r>
          </a:p>
          <a:p xmlns:a="http://schemas.openxmlformats.org/drawingml/2006/main">
            <a:r>
              <a:t>    "local": "심사 서류의 추출값과 원본 위치를 연결하고 담당자가 최종 판정하는 증거 중심 검토",</a:t>
            </a:r>
          </a:p>
          <a:p xmlns:a="http://schemas.openxmlformats.org/drawingml/2006/main">
            <a:r>
              <a:t>    "sourceDetail": "OCR/VLM→추출값·원본 매핑→누락·정합성 비교→사람 확정; 문서 승인·버전·권한별 RAG 분리",</a:t>
            </a:r>
          </a:p>
          <a:p xmlns:a="http://schemas.openxmlformats.org/drawingml/2006/main">
            <a:r>
              <a:t>    "narrative": [</a:t>
            </a:r>
          </a:p>
          <a:p xmlns:a="http://schemas.openxmlformats.org/drawingml/2006/main">
            <a:r>
              <a:t>      "규정 검색, 전세보증 이행서류 심사, 민원 처리의 세 업무를 공통 AI 기반 위에 구성하는 사업. 심사자가 여러 서류의 주소·계약·보증정보를 맞춰 보는 과정과 민원 담당자가 관련 규정·과거 답변을 찾는 과정을 각각 지원하는 범위.",</a:t>
            </a:r>
          </a:p>
          <a:p xmlns:a="http://schemas.openxmlformats.org/drawingml/2006/main">
            <a:r>
              <a:t>      "SFR-007의 핵심은 OCR 도입을 넘어 업무 건별 서류 묶음, 원본 위치와 추출값의 연결, 서류 간 비교, 심사자 수정·승인, 승인값의 후속 전달까지 이어지는 처리 구조. 검색용 청크와 심사용 구조화 항목을 별도 데이터로 관리하는 설계 필요.",</a:t>
            </a:r>
          </a:p>
          <a:p xmlns:a="http://schemas.openxmlformats.org/drawingml/2006/main">
            <a:r>
              <a:t>      "원문 인식률만으로 심사 지원 품질을 평가하기 어려운 구조. 문서 종류별 항목 추출, 다른 서류 간 정합성 판정, 누락 탐지, 사람 확인 후 전달을 단계별로 분리해 비교할 대상. TS 검사·인증 서류에도 사건 ID와 원본 좌표를 유지하는 방식의 적용 가능성."</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"SFR-006",</a:t>
            </a:r>
          </a:p>
          <a:p xmlns:a="http://schemas.openxmlformats.org/drawingml/2006/main">
            <a:r>
              <a:t>        "title": "AI 서비스_직원용 지식검색",</a:t>
            </a:r>
          </a:p>
          <a:p xmlns:a="http://schemas.openxmlformats.org/drawingml/2006/main">
            <a:r>
              <a:t>        "locator": "SFR-006",</a:t>
            </a:r>
          </a:p>
          <a:p xmlns:a="http://schemas.openxmlformats.org/drawingml/2006/main">
            <a:r>
              <a:t>        "summary": "규정·매뉴얼·판례의 구조를 추출하고 키워드·문맥 검색을 결합하는 직원용 지식검색. 승인 문서의 판본·개정일·보안등급 관리와 근거 조항·페이지 제공.",</a:t>
            </a:r>
          </a:p>
          <a:p xmlns:a="http://schemas.openxmlformats.org/drawingml/2006/main">
            <a:r>
              <a:t>        "data": "승인 문서·질의·검색 조건 → 근거 청크·조항·페이지·답변",</a:t>
            </a:r>
          </a:p>
          <a:p xmlns:a="http://schemas.openxmlformats.org/drawingml/2006/main">
            <a:r>
              <a:t>        "components": [</a:t>
            </a:r>
          </a:p>
          <a:p xmlns:a="http://schemas.openxmlformats.org/drawingml/2006/main">
            <a:r>
              <a:t>          "C03",</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"표·각주 포함 문서, 개정·삭제 문서, 다른 보안등급 문서를 투입해 인용 위치·최신성·검색 제외 여부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"fcb9809f74155d757fc4e05a0ba909eee1de897f306e8e7f1cdd6551c6525a6f"</a:t>
            </a:r>
          </a:p>
          <a:p xmlns:a="http://schemas.openxmlformats.org/drawingml/2006/main">
            <a:r>
              <a:t>      },</a:t>
            </a:r>
          </a:p>
          <a:p xmlns:a="http://schemas.openxmlformats.org/drawingml/2006/main">
            <a:r>
              <a:t>      {</a:t>
            </a:r>
          </a:p>
          <a:p xmlns:a="http://schemas.openxmlformats.org/drawingml/2006/main">
            <a:r>
              <a:t>        "id": "SFR-007",</a:t>
            </a:r>
          </a:p>
          <a:p xmlns:a="http://schemas.openxmlformats.org/drawingml/2006/main">
            <a:r>
              <a:t>        "title": "AI 서비스_전세이행 업무지원",</a:t>
            </a:r>
          </a:p>
          <a:p xmlns:a="http://schemas.openxmlformats.org/drawingml/2006/main">
            <a:r>
              <a:t>        "locator": "SFR-007",</a:t>
            </a:r>
          </a:p>
          <a:p xmlns:a="http://schemas.openxmlformats.org/drawingml/2006/main">
            <a:r>
              <a:t>        "summary": "업무 건별 제출서류 묶음과 OCR/VLM 추출값 관리. 원본 좌표 표시, 필드 수정, 유효기간·누락·서류 간 일치 검사, 심사표 생성, 승인값의 후속 전달.",</a:t>
            </a:r>
          </a:p>
          <a:p xmlns:a="http://schemas.openxmlformats.org/drawingml/2006/main">
            <a:r>
              <a:t>        "data": "사건 ID·서류·원본 좌표 → 항목값·불일치 목록·심사표·승인 상태",</a:t>
            </a:r>
          </a:p>
          <a:p xmlns:a="http://schemas.openxmlformats.org/drawingml/2006/main">
            <a:r>
              <a:t>        "components": [</a:t>
            </a:r>
          </a:p>
          <a:p xmlns:a="http://schemas.openxmlformats.org/drawingml/2006/main">
            <a:r>
              <a:t>          "C04",</a:t>
            </a:r>
          </a:p>
          <a:p xmlns:a="http://schemas.openxmlformats.org/drawingml/2006/main">
            <a:r>
              <a:t>          "C05",</a:t>
            </a:r>
          </a:p>
          <a:p xmlns:a="http://schemas.openxmlformats.org/drawingml/2006/main">
            <a:r>
              <a:t>          "C06",</a:t>
            </a:r>
          </a:p>
          <a:p xmlns:a="http://schemas.openxmlformats.org/drawingml/2006/main">
            <a:r>
              <a:t>          "C07"</a:t>
            </a:r>
          </a:p>
          <a:p xmlns:a="http://schemas.openxmlformats.org/drawingml/2006/main">
            <a:r>
              <a:t>        ],</a:t>
            </a:r>
          </a:p>
          <a:p xmlns:a="http://schemas.openxmlformats.org/drawingml/2006/main">
            <a:r>
              <a:t>        "acceptance": "흐린 스캔·다른 주소·누락 서류를 투입해 경고와 원본 위치 확인, 미승인 값의 전달 차단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"425cf0594ef5751da0b20f6a635f6c48577778b07fc85d00329082de815934fc"</a:t>
            </a:r>
          </a:p>
          <a:p xmlns:a="http://schemas.openxmlformats.org/drawingml/2006/main">
            <a:r>
              <a:t>      },</a:t>
            </a:r>
          </a:p>
          <a:p xmlns:a="http://schemas.openxmlformats.org/drawingml/2006/main">
            <a:r>
              <a:t>      {</a:t>
            </a:r>
          </a:p>
          <a:p xmlns:a="http://schemas.openxmlformats.org/drawingml/2006/main">
            <a:r>
              <a:t>        "id": "SFR-008",</a:t>
            </a:r>
          </a:p>
          <a:p xmlns:a="http://schemas.openxmlformats.org/drawingml/2006/main">
            <a:r>
              <a:t>        "title": "AI 서비스_지능형 민원처리 시스템",</a:t>
            </a:r>
          </a:p>
          <a:p xmlns:a="http://schemas.openxmlformats.org/drawingml/2006/main">
            <a:r>
              <a:t>        "locator": "SFR-008",</a:t>
            </a:r>
          </a:p>
          <a:p xmlns:a="http://schemas.openxmlformats.org/drawingml/2006/main">
            <a:r>
              <a:t>        "summary": "민원 부서 후보 추천, 유사민원 검색, 답변 초안·요약 제공. 사용자의 부서 선택·답변 확정과 담당 부서의 FAQ 후보 승인.",</a:t>
            </a:r>
          </a:p>
          <a:p xmlns:a="http://schemas.openxmlformats.org/drawingml/2006/main">
            <a:r>
              <a:t>        "data": "민원·지역·업무 유형 → 후보 부서·유사 사례·근거·답변 초안",</a:t>
            </a:r>
          </a:p>
          <a:p xmlns:a="http://schemas.openxmlformats.org/drawingml/2006/main">
            <a:r>
              <a:t>        "components": [</a:t>
            </a:r>
          </a:p>
          <a:p xmlns:a="http://schemas.openxmlformats.org/drawingml/2006/main">
            <a:r>
              <a:t>          "C02",</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"다부서 민원·유사사례 없음·FAQ 중복 입력 시 후보와 규정 대체 근거, 확정 전후 변경 이력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"8ab0ac34f0143f16766050d69a0283c485e048e2b4d17f33befa947fd660c3aa"</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"직원·문서 접점",</a:t>
            </a:r>
          </a:p>
          <a:p xmlns:a="http://schemas.openxmlformats.org/drawingml/2006/main">
            <a:r>
              <a:t>          "layer": "이용 접점",</a:t>
            </a:r>
          </a:p>
          <a:p xmlns:a="http://schemas.openxmlformats.org/drawingml/2006/main">
            <a:r>
              <a:t>          "detail": "심사 직원·민원 담당·지식 관리자",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"SSO·사건·권한",</a:t>
            </a:r>
          </a:p>
          <a:p xmlns:a="http://schemas.openxmlformats.org/drawingml/2006/main">
            <a:r>
              <a:t>          "layer": "업무 문맥",</a:t>
            </a:r>
          </a:p>
          <a:p xmlns:a="http://schemas.openxmlformats.org/drawingml/2006/main">
            <a:r>
              <a:t>          "detail": "SSO·문서 접근권한·사건별 서류 묶음",</a:t>
            </a:r>
          </a:p>
          <a:p xmlns:a="http://schemas.openxmlformats.org/drawingml/2006/main">
            <a:r>
              <a:t>          "requirements": [</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"문서·규정 조회",</a:t>
            </a:r>
          </a:p>
          <a:p xmlns:a="http://schemas.openxmlformats.org/drawingml/2006/main">
            <a:r>
              <a:t>          "layer": "자료 조회",</a:t>
            </a:r>
          </a:p>
          <a:p xmlns:a="http://schemas.openxmlformats.org/drawingml/2006/main">
            <a:r>
              <a:t>          "detail": "보증 원문",</a:t>
            </a:r>
          </a:p>
          <a:p xmlns:a="http://schemas.openxmlformats.org/drawingml/2006/main">
            <a:r>
              <a:t>          "requirements": [</a:t>
            </a:r>
          </a:p>
          <a:p xmlns:a="http://schemas.openxmlformats.org/drawingml/2006/main">
            <a:r>
              <a:t>            "SFR-006",</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"OCR·VLM 추출",</a:t>
            </a:r>
          </a:p>
          <a:p xmlns:a="http://schemas.openxmlformats.org/drawingml/2006/main">
            <a:r>
              <a:t>          "layer": "핵심 처리",</a:t>
            </a:r>
          </a:p>
          <a:p xmlns:a="http://schemas.openxmlformats.org/drawingml/2006/main">
            <a:r>
              <a:t>          "detail": "OCR/VLM 추출 모듈과 정합성 비교 모듈 분리",</a:t>
            </a:r>
          </a:p>
          <a:p xmlns:a="http://schemas.openxmlformats.org/drawingml/2006/main">
            <a:r>
              <a:t>          "requirements": [</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"누락·정합성 비교",</a:t>
            </a:r>
          </a:p>
          <a:p xmlns:a="http://schemas.openxmlformats.org/drawingml/2006/main">
            <a:r>
              <a:t>          "layer": "결과 검증",</a:t>
            </a:r>
          </a:p>
          <a:p xmlns:a="http://schemas.openxmlformats.org/drawingml/2006/main">
            <a:r>
              <a:t>          "detail": "원본·추출값 대조와 자동 확정 제한",</a:t>
            </a:r>
          </a:p>
          <a:p xmlns:a="http://schemas.openxmlformats.org/drawingml/2006/main">
            <a:r>
              <a:t>          "requirements": [</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"원본·값 사람 확인",</a:t>
            </a:r>
          </a:p>
          <a:p xmlns:a="http://schemas.openxmlformats.org/drawingml/2006/main">
            <a:r>
              <a:t>          "layer": "사람 확인",</a:t>
            </a:r>
          </a:p>
          <a:p xmlns:a="http://schemas.openxmlformats.org/drawingml/2006/main">
            <a:r>
              <a:t>          "detail": "한 사건의 신청 서류에서 필수 항목과 문서 간 일치 여부 확인",</a:t>
            </a:r>
          </a:p>
          <a:p xmlns:a="http://schemas.openxmlformats.org/drawingml/2006/main">
            <a:r>
              <a:t>          "requirements": [</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"심사·민원 초안",</a:t>
            </a:r>
          </a:p>
          <a:p xmlns:a="http://schemas.openxmlformats.org/drawingml/2006/main">
            <a:r>
              <a:t>          "layer": "업무 연결",</a:t>
            </a:r>
          </a:p>
          <a:p xmlns:a="http://schemas.openxmlformats.org/drawingml/2006/main">
            <a:r>
              <a:t>          "detail": "불일치·누락 항목을 원본과 함께 심사자에게 제공",</a:t>
            </a:r>
          </a:p>
          <a:p xmlns:a="http://schemas.openxmlformats.org/drawingml/2006/main">
            <a:r>
              <a:t>          "requirements": [</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"항목별 오류 평가",</a:t>
            </a:r>
          </a:p>
          <a:p xmlns:a="http://schemas.openxmlformats.org/drawingml/2006/main">
            <a:r>
              <a:t>          "layer": "운영 관측",</a:t>
            </a:r>
          </a:p>
          <a:p xmlns:a="http://schemas.openxmlformats.org/drawingml/2006/main">
            <a:r>
              <a:t>          "detail": "사람 확정값과 인식 오류를 품질 개선에 반영",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"이행서류·규정",</a:t>
            </a:r>
          </a:p>
          <a:p xmlns:a="http://schemas.openxmlformats.org/drawingml/2006/main">
            <a:r>
              <a:t>          "layer": "데이터 원천",</a:t>
            </a:r>
          </a:p>
          <a:p xmlns:a="http://schemas.openxmlformats.org/drawingml/2006/main">
            <a:r>
              <a:t>          "detail": "원본·추출 항목",</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"좌표·판본·승인태그",</a:t>
            </a:r>
          </a:p>
          <a:p xmlns:a="http://schemas.openxmlformats.org/drawingml/2006/main">
            <a:r>
              <a:t>          "layer": "준비·갱신",</a:t>
            </a:r>
          </a:p>
          <a:p xmlns:a="http://schemas.openxmlformats.org/drawingml/2006/main">
            <a:r>
              <a:t>          "detail": "원문 좌표·추출값·문서 판본·승인상태 연결",</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"원본·추출값·색인",</a:t>
            </a:r>
          </a:p>
          <a:p xmlns:a="http://schemas.openxmlformats.org/drawingml/2006/main">
            <a:r>
              <a:t>          "layer": "상태·지식 저장",</a:t>
            </a:r>
          </a:p>
          <a:p xmlns:a="http://schemas.openxmlformats.org/drawingml/2006/main">
            <a:r>
              <a:t>          "detail": "추출값–원본 좌표–불일치 판정–심사자 확정 추적표",</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"문서별 접근정책",</a:t>
            </a:r>
          </a:p>
          <a:p xmlns:a="http://schemas.openxmlformats.org/drawingml/2006/main">
            <a:r>
              <a:t>          "layer": "권한·정책",</a:t>
            </a:r>
          </a:p>
          <a:p xmlns:a="http://schemas.openxmlformats.org/drawingml/2006/main">
            <a:r>
              <a:t>          "detail": "스캔 저화질·서명 누락·주소 불일치·다른 사건 서류",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"SSO·문서 접근권한·사건별 서류 묶음",</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"보증 원문",</a:t>
            </a:r>
          </a:p>
          <a:p xmlns:a="http://schemas.openxmlformats.org/drawingml/2006/main">
            <a:r>
              <a:t>          "check": "원본·추출값 대조와 자동 확정 제한"</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"추출 항목",</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"원문 좌표·추출 항목·인식 신뢰도",</a:t>
            </a:r>
          </a:p>
          <a:p xmlns:a="http://schemas.openxmlformats.org/drawingml/2006/main">
            <a:r>
              <a:t>          "check": "스캔 저화질·서명 누락·주소 불일치·다른 사건 서류"</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"누락·불일치",</a:t>
            </a:r>
          </a:p>
          <a:p xmlns:a="http://schemas.openxmlformats.org/drawingml/2006/main">
            <a:r>
              <a:t>          "check": "불일치·누락 항목을 원본과 함께 심사자에게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 결과",</a:t>
            </a:r>
          </a:p>
          <a:p xmlns:a="http://schemas.openxmlformats.org/drawingml/2006/main">
            <a:r>
              <a:t>          "check": "추출값–원본 좌표–불일치 판정–심사자 확정 추적표"</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"SFR-006~008",</a:t>
            </a:r>
          </a:p>
          <a:p xmlns:a="http://schemas.openxmlformats.org/drawingml/2006/main">
            <a:r>
              <a:t>        "extracted": "OCR/VLM 항목 추출과 문서 정합성 비교의 분리",</a:t>
            </a:r>
          </a:p>
          <a:p xmlns:a="http://schemas.openxmlformats.org/drawingml/2006/main">
            <a:r>
              <a:t>        "extension": "문서 좌표·추출값과 심사 확정값의 별도 보존"</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"PF-R01",</a:t>
            </a:r>
          </a:p>
          <a:p xmlns:a="http://schemas.openxmlformats.org/drawingml/2006/main">
            <a:r>
              <a:t>          "path": "assets/casebook-sources/PF-R01-01.png",</a:t>
            </a:r>
          </a:p>
          <a:p xmlns:a="http://schemas.openxmlformats.org/drawingml/2006/main">
            <a:r>
              <a:t>          "title": "HUG AI 인프라·업무시스템 연계",</a:t>
            </a:r>
          </a:p>
          <a:p xmlns:a="http://schemas.openxmlformats.org/drawingml/2006/main">
            <a:r>
              <a:t>          "status": "RFP 목표 구성도",</a:t>
            </a:r>
          </a:p>
          <a:p xmlns:a="http://schemas.openxmlformats.org/drawingml/2006/main">
            <a:r>
              <a:t>          "caption": "통합 클라우드·GPU Kubernetes·AI 웹서비스·그룹웨어 연계",</a:t>
            </a:r>
          </a:p>
          <a:p xmlns:a="http://schemas.openxmlformats.org/drawingml/2006/main">
            <a:r>
              <a:t>          "locator": "rId10 / BinData/image4_jpg",</a:t>
            </a:r>
          </a:p>
          <a:p xmlns:a="http://schemas.openxmlformats.org/drawingml/2006/main">
            <a:r>
              <a:t>          "checked": "2026-10-16",</a:t>
            </a:r>
          </a:p>
          <a:p xmlns:a="http://schemas.openxmlformats.org/drawingml/2006/main">
            <a:r>
              <a:t>          "sha256": "435b1f344867be6beab5f24852d1c79cba1e48a9361c9e0976f78dab55a1e9c9",</a:t>
            </a:r>
          </a:p>
          <a:p xmlns:a="http://schemas.openxmlformats.org/drawingml/2006/main">
            <a:r>
              <a:t>          "explanation": {</a:t>
            </a:r>
          </a:p>
          <a:p xmlns:a="http://schemas.openxmlformats.org/drawingml/2006/main">
            <a:r>
              <a:t>            "read": "클라우드·GPU Kubernetes는 AI 처리 자원, 웹서비스는 직원 접점, 그룹웨어는 기존 업무와의 연결 영역. 인프라 블록만으로 문서 심사 승인 절차까지 구현됐다고 해석하지 않는 구조.",</a:t>
            </a:r>
          </a:p>
          <a:p xmlns:a="http://schemas.openxmlformats.org/drawingml/2006/main">
            <a:r>
              <a:t>            "requirements": [</a:t>
            </a:r>
          </a:p>
          <a:p xmlns:a="http://schemas.openxmlformats.org/drawingml/2006/main">
            <a:r>
              <a:t>              "SFR-006",</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"connection": "문서 반입·검색·추출은 공통 자원을 사용하되 지식검색, 보증이행 심사, 민원답변의 결과 저장·승인 경로는 각각 분리하는 CCK 재구성."</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"스캔 저화질·서명 누락·주소 불일치·다른 사건 서류",</a:t>
            </a:r>
          </a:p>
          <a:p xmlns:a="http://schemas.openxmlformats.org/drawingml/2006/main">
            <a:r>
              <a:t>        "hold": "원본·추출값 대조와 자동 확정 제한",</a:t>
            </a:r>
          </a:p>
          <a:p xmlns:a="http://schemas.openxmlformats.org/drawingml/2006/main">
            <a:r>
              <a:t>        "recovery": "사람 확정값과 인식 오류를 품질 개선에 반영",</a:t>
            </a:r>
          </a:p>
          <a:p xmlns:a="http://schemas.openxmlformats.org/drawingml/2006/main">
            <a:r>
              <a:t>        "evidence": "추출값–원본 좌표–불일치 판정–심사자 확정 추적표"</a:t>
            </a:r>
          </a:p>
          <a:p xmlns:a="http://schemas.openxmlformats.org/drawingml/2006/main">
            <a:r>
              <a:t>      },</a:t>
            </a:r>
          </a:p>
          <a:p xmlns:a="http://schemas.openxmlformats.org/drawingml/2006/main">
            <a:r>
              <a:t>      "data": {</a:t>
            </a:r>
          </a:p>
          <a:p xmlns:a="http://schemas.openxmlformats.org/drawingml/2006/main">
            <a:r>
              <a:t>        "source": "원본·추출 항목",</a:t>
            </a:r>
          </a:p>
          <a:p xmlns:a="http://schemas.openxmlformats.org/drawingml/2006/main">
            <a:r>
              <a:t>        "prepare": "원문 좌표·추출값·문서 판본·승인상태 연결",</a:t>
            </a:r>
          </a:p>
          <a:p xmlns:a="http://schemas.openxmlformats.org/drawingml/2006/main">
            <a:r>
              <a:t>        "output": "보증 원문",</a:t>
            </a:r>
          </a:p>
          <a:p xmlns:a="http://schemas.openxmlformats.org/drawingml/2006/main">
            <a:r>
              <a:t>        "refresh": "사람 확정값과 인식 오류를 품질 개선에 반영"</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"PF-R01",</a:t>
            </a:r>
          </a:p>
          <a:p xmlns:a="http://schemas.openxmlformats.org/drawingml/2006/main">
            <a:r>
              <a:t>    "success": [</a:t>
            </a:r>
          </a:p>
          <a:p xmlns:a="http://schemas.openxmlformats.org/drawingml/2006/main">
            <a:r>
              <a:t>      "보증서류와 검토 규칙의 연결",</a:t>
            </a:r>
          </a:p>
          <a:p xmlns:a="http://schemas.openxmlformats.org/drawingml/2006/main">
            <a:r>
              <a:t>      "검색·민원 지원의 공통 기반 활용"</a:t>
            </a:r>
          </a:p>
          <a:p xmlns:a="http://schemas.openxmlformats.org/drawingml/2006/main">
            <a:r>
              <a:t>    ],</a:t>
            </a:r>
          </a:p>
          <a:p xmlns:a="http://schemas.openxmlformats.org/drawingml/2006/main">
            <a:r>
              <a:t>    "risks": [</a:t>
            </a:r>
          </a:p>
          <a:p xmlns:a="http://schemas.openxmlformats.org/drawingml/2006/main">
            <a:r>
              <a:t>      "OCR 오독에 따른 누락 판단",</a:t>
            </a:r>
          </a:p>
          <a:p xmlns:a="http://schemas.openxmlformats.org/drawingml/2006/main">
            <a:r>
              <a:t>      "요구 명세와 운영 효과의 혼동"</a:t>
            </a:r>
          </a:p>
          <a:p xmlns:a="http://schemas.openxmlformats.org/drawingml/2006/main">
            <a:r>
              <a:t>    ],</a:t>
            </a:r>
          </a:p>
          <a:p xmlns:a="http://schemas.openxmlformats.org/drawingml/2006/main">
            <a:r>
              <a:t>    "architecture": [</a:t>
            </a:r>
          </a:p>
          <a:p xmlns:a="http://schemas.openxmlformats.org/drawingml/2006/main">
            <a:r>
              <a:t>      "보증 문서 접수",</a:t>
            </a:r>
          </a:p>
          <a:p xmlns:a="http://schemas.openxmlformats.org/drawingml/2006/main">
            <a:r>
              <a:t>      "OCR·규칙 검토",</a:t>
            </a:r>
          </a:p>
          <a:p xmlns:a="http://schemas.openxmlformats.org/drawingml/2006/main">
            <a:r>
              <a:t>      "원본·추출 항목",</a:t>
            </a:r>
          </a:p>
          <a:p xmlns:a="http://schemas.openxmlformats.org/drawingml/2006/main">
            <a:r>
              <a:t>      "보증·민원 담당"</a:t>
            </a:r>
          </a:p>
          <a:p xmlns:a="http://schemas.openxmlformats.org/drawingml/2006/main">
            <a:r>
              <a:t>    ],</a:t>
            </a:r>
          </a:p>
          <a:p xmlns:a="http://schemas.openxmlformats.org/drawingml/2006/main">
            <a:r>
              <a:t>    "transfers": [</a:t>
            </a:r>
          </a:p>
          <a:p xmlns:a="http://schemas.openxmlformats.org/drawingml/2006/main">
            <a:r>
              <a:t>      "보증 원문",</a:t>
            </a:r>
          </a:p>
          <a:p xmlns:a="http://schemas.openxmlformats.org/drawingml/2006/main">
            <a:r>
              <a:t>      "추출 항목",</a:t>
            </a:r>
          </a:p>
          <a:p xmlns:a="http://schemas.openxmlformats.org/drawingml/2006/main">
            <a:r>
              <a:t>      "누락·불일치",</a:t>
            </a:r>
          </a:p>
          <a:p xmlns:a="http://schemas.openxmlformats.org/drawingml/2006/main">
            <a:r>
              <a:t>      "검토 결과"</a:t>
            </a:r>
          </a:p>
          <a:p xmlns:a="http://schemas.openxmlformats.org/drawingml/2006/main">
            <a:r>
              <a:t>    ],</a:t>
            </a:r>
          </a:p>
          <a:p xmlns:a="http://schemas.openxmlformats.org/drawingml/2006/main">
            <a:r>
              <a:t>    "control": "원본·추출값 대조와 자동 확정 제한",</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SFR-006~008, PMR-004~005 / Word T026 https://www.g2b.go.kr/pn/pnp/pnpe/UntyAtchFile/downloadFile.do?bidPbancNo=R26BK01639098&amp;bidPbancOrd=000&amp;fileSeq=3&amp;fileType=&amp;prcmBsneSeCd=03</a:t>
            </a:r>
          </a:p>
          <a:p xmlns:a="http://schemas.openxmlformats.org/drawingml/2006/main">
            <a:r>
              <a:t>홈페이지 https://heen1987-ops.github.io/TS-business-Plan-001/index.html?view=platform-cases&amp;case=PF-R01</a:t>
            </a:r>
          </a:p>
          <a:p xmlns:a="http://schemas.openxmlformats.org/drawingml/2006/main">
            <a:r>
              <a:t>원문 도면 {"caseId":"PF-R01","path":"assets/casebook-sources/PF-R01-01.png","title":"HUG AI 인프라·업무시스템 연계","status":"RFP 목표 구성도","caption":"통합 클라우드·GPU Kubernetes·AI 웹서비스·그룹웨어 연계","locator":"rId10 / BinData/image4_jpg","checked":"2026-10-16","sha256":"435b1f344867be6beab5f24852d1c79cba1e48a9361c9e0976f78dab55a1e9c9","explanation":{"read":"클라우드·GPU Kubernetes는 AI 처리 자원, 웹서비스는 직원 접점, 그룹웨어는 기존 업무와의 연결 영역. 인프라 블록만으로 문서 심사 승인 절차까지 구현됐다고 해석하지 않는 구조.","requirements":["SFR-006","SFR-007","SFR-008"],"connection":"문서 반입·검색·추출은 공통 자원을 사용하되 지식검색, 보증이행 심사, 민원답변의 결과 저장·승인 경로는 각각 분리하는 CCK 재구성."}}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"PF-R01",</a:t>
            </a:r>
          </a:p>
          <a:p xmlns:a="http://schemas.openxmlformats.org/drawingml/2006/main">
            <a:r>
              <a:t>    "sourceId": "R01",</a:t>
            </a:r>
          </a:p>
          <a:p xmlns:a="http://schemas.openxmlformats.org/drawingml/2006/main">
            <a:r>
              <a:t>    "title": "HUG 문서·민원 AI",</a:t>
            </a:r>
          </a:p>
          <a:p xmlns:a="http://schemas.openxmlformats.org/drawingml/2006/main">
            <a:r>
              <a:t>    "region": "국내",</a:t>
            </a:r>
          </a:p>
          <a:p xmlns:a="http://schemas.openxmlformats.org/drawingml/2006/main">
            <a:r>
              <a:t>    "owner": "주택도시보증공사(HUG)",</a:t>
            </a:r>
          </a:p>
          <a:p xmlns:a="http://schemas.openxmlformats.org/drawingml/2006/main">
            <a:r>
              <a:t>    "state": "RFP 확인 / 실제 운영·검수 미확인",</a:t>
            </a:r>
          </a:p>
          <a:p xmlns:a="http://schemas.openxmlformats.org/drawingml/2006/main">
            <a:r>
              <a:t>    "period": "기존 원장 확인 2026.10.16",</a:t>
            </a:r>
          </a:p>
          <a:p xmlns:a="http://schemas.openxmlformats.org/drawingml/2006/main">
            <a:r>
              <a:t>    "fact": "직원 검색·전세보증 이행서류 검토·민원 지원을 공통 플랫폼에 구성",</a:t>
            </a:r>
          </a:p>
          <a:p xmlns:a="http://schemas.openxmlformats.org/drawingml/2006/main">
            <a:r>
              <a:t>    "limit": "전세보증과 TS 전세버스는 업무 기준이 다름. 공통 기능만 이식 가능",</a:t>
            </a:r>
          </a:p>
          <a:p xmlns:a="http://schemas.openxmlformats.org/drawingml/2006/main">
            <a:r>
              <a:t>    "nodes": [</a:t>
            </a:r>
          </a:p>
          <a:p xmlns:a="http://schemas.openxmlformats.org/drawingml/2006/main">
            <a:r>
              <a:t>      "보증 서류",</a:t>
            </a:r>
          </a:p>
          <a:p xmlns:a="http://schemas.openxmlformats.org/drawingml/2006/main">
            <a:r>
              <a:t>      "OCR·원본 대조",</a:t>
            </a:r>
          </a:p>
          <a:p xmlns:a="http://schemas.openxmlformats.org/drawingml/2006/main">
            <a:r>
              <a:t>      "규칙·누락 검토",</a:t>
            </a:r>
          </a:p>
          <a:p xmlns:a="http://schemas.openxmlformats.org/drawingml/2006/main">
            <a:r>
              <a:t>      "담당자 확정"</a:t>
            </a:r>
          </a:p>
          <a:p xmlns:a="http://schemas.openxmlformats.org/drawingml/2006/main">
            <a:r>
              <a:t>    ],</a:t>
            </a:r>
          </a:p>
          <a:p xmlns:a="http://schemas.openxmlformats.org/drawingml/2006/main">
            <a:r>
              <a:t>    "apply": "심사 서류의 추출값과 원본 위치를 연결하고 담당자가 최종 판정하는 증거 중심 검토",</a:t>
            </a:r>
          </a:p>
          <a:p xmlns:a="http://schemas.openxmlformats.org/drawingml/2006/main">
            <a:r>
              <a:t>    "delta": "서류 종류·필수항목 사전 / 추출값–원본 좌표 / 사건별 비교 규칙",</a:t>
            </a:r>
          </a:p>
          <a:p xmlns:a="http://schemas.openxmlformats.org/drawingml/2006/main">
            <a:r>
              <a:t>    "test": "저화질·누락·다른 사건 서류 주입 후 원본 대조·판정 보류 확인",</a:t>
            </a:r>
          </a:p>
          <a:p xmlns:a="http://schemas.openxmlformats.org/drawingml/2006/main">
            <a:r>
              <a:t>    "url": "https://www.g2b.go.kr/pn/pnp/pnpe/UntyAtchFile/downloadFile.do?bidPbancNo=R26BK01639098&amp;bidPbancOrd=000&amp;fileSeq=3&amp;fileType=&amp;prcmBsneSeCd=03",</a:t>
            </a:r>
          </a:p>
          <a:p xmlns:a="http://schemas.openxmlformats.org/drawingml/2006/main">
            <a:r>
              <a:t>    "urls": [</a:t>
            </a:r>
          </a:p>
          <a:p xmlns:a="http://schemas.openxmlformats.org/drawingml/2006/main">
            <a:r>
              <a:t>      "https://www.g2b.go.kr/pn/pnp/pnpe/UntyAtchFile/downloadFile.do?bidPbancNo=R26BK01639098&amp;bidPbancOrd=000&amp;fileSeq=3&amp;fileType=&amp;prcmBsneSeCd=03"</a:t>
            </a:r>
          </a:p>
          <a:p xmlns:a="http://schemas.openxmlformats.org/drawingml/2006/main">
            <a:r>
              <a:t>    ],</a:t>
            </a:r>
          </a:p>
          <a:p xmlns:a="http://schemas.openxmlformats.org/drawingml/2006/main">
            <a:r>
              <a:t>    "basis": "SFR-006~008, PMR-004~005 / Word T026",</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"심사 검토시간 / 필수 항목 누락률 / 재보완 횟수",</a:t>
            </a:r>
          </a:p>
          <a:p xmlns:a="http://schemas.openxmlformats.org/drawingml/2006/main">
            <a:r>
              <a:t>    "group": "요구·구축",</a:t>
            </a:r>
          </a:p>
          <a:p xmlns:a="http://schemas.openxmlformats.org/drawingml/2006/main">
            <a:r>
              <a:t>    "sourceDetail": "OCR/VLM→추출값·원본 매핑→누락·정합성 비교→사람 확정; 문서 승인·버전·권한별 RAG 분리",</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"PF-R01",</a:t>
            </a:r>
          </a:p>
          <a:p xmlns:a="http://schemas.openxmlformats.org/drawingml/2006/main">
            <a:r>
              <a:t>    "canonicalId": "PF-R01",</a:t>
            </a:r>
          </a:p>
          <a:p xmlns:a="http://schemas.openxmlformats.org/drawingml/2006/main">
            <a:r>
              <a:t>    "purpose": "보증 이행서류 검토와 민원업무의 공통 AI화",</a:t>
            </a:r>
          </a:p>
          <a:p xmlns:a="http://schemas.openxmlformats.org/drawingml/2006/main">
            <a:r>
              <a:t>    "users": "심사 직원·민원 담당·지식 관리자",</a:t>
            </a:r>
          </a:p>
          <a:p xmlns:a="http://schemas.openxmlformats.org/drawingml/2006/main">
            <a:r>
              <a:t>    "scope": [</a:t>
            </a:r>
          </a:p>
          <a:p xmlns:a="http://schemas.openxmlformats.org/drawingml/2006/main">
            <a:r>
              <a:t>      "직원 검색",</a:t>
            </a:r>
          </a:p>
          <a:p xmlns:a="http://schemas.openxmlformats.org/drawingml/2006/main">
            <a:r>
              <a:t>      "이행서류 검토",</a:t>
            </a:r>
          </a:p>
          <a:p xmlns:a="http://schemas.openxmlformats.org/drawingml/2006/main">
            <a:r>
              <a:t>      "민원 지원"</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"보증 문서 접수",</a:t>
            </a:r>
          </a:p>
          <a:p xmlns:a="http://schemas.openxmlformats.org/drawingml/2006/main">
            <a:r>
              <a:t>        "detail": "SSO·문서 접근권한·사건별 서류 묶음",</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"직원 검색 / 이행서류 검토 / 민원 지원",</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"OCR·규칙 검토",</a:t>
            </a:r>
          </a:p>
          <a:p xmlns:a="http://schemas.openxmlformats.org/drawingml/2006/main">
            <a:r>
              <a:t>        "detail": "OCR/VLM 추출 모듈과 정합성 비교 모듈 분리",</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"보증·민원 담당",</a:t>
            </a:r>
          </a:p>
          <a:p xmlns:a="http://schemas.openxmlformats.org/drawingml/2006/main">
            <a:r>
              <a:t>        "detail": "불일치·누락 항목을 원본과 함께 심사자에게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"원본·추출 항목",</a:t>
            </a:r>
          </a:p>
          <a:p xmlns:a="http://schemas.openxmlformats.org/drawingml/2006/main">
            <a:r>
              <a:t>        "detail": "원문 좌표·추출값·문서 판본·승인상태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"사람 확정값과 인식 오류를 품질 개선에 반영",</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"보증 서류",</a:t>
            </a:r>
          </a:p>
          <a:p xmlns:a="http://schemas.openxmlformats.org/drawingml/2006/main">
            <a:r>
              <a:t>        "input": "SSO·문서 접근권한·사건별 서류 묶음",</a:t>
            </a:r>
          </a:p>
          <a:p xmlns:a="http://schemas.openxmlformats.org/drawingml/2006/main">
            <a:r>
              <a:t>        "process": "원문 좌표·추출값·문서 판본·승인상태 연결",</a:t>
            </a:r>
          </a:p>
          <a:p xmlns:a="http://schemas.openxmlformats.org/drawingml/2006/main">
            <a:r>
              <a:t>        "output": "보증 원문"</a:t>
            </a:r>
          </a:p>
          <a:p xmlns:a="http://schemas.openxmlformats.org/drawingml/2006/main">
            <a:r>
              <a:t>      },</a:t>
            </a:r>
          </a:p>
          <a:p xmlns:a="http://schemas.openxmlformats.org/drawingml/2006/main">
            <a:r>
              <a:t>      {</a:t>
            </a:r>
          </a:p>
          <a:p xmlns:a="http://schemas.openxmlformats.org/drawingml/2006/main">
            <a:r>
              <a:t>        "title": "OCR·원본 대조",</a:t>
            </a:r>
          </a:p>
          <a:p xmlns:a="http://schemas.openxmlformats.org/drawingml/2006/main">
            <a:r>
              <a:t>        "input": "보증 원문",</a:t>
            </a:r>
          </a:p>
          <a:p xmlns:a="http://schemas.openxmlformats.org/drawingml/2006/main">
            <a:r>
              <a:t>        "process": "OCR/VLM 추출 모듈과 정합성 비교 모듈 분리",</a:t>
            </a:r>
          </a:p>
          <a:p xmlns:a="http://schemas.openxmlformats.org/drawingml/2006/main">
            <a:r>
              <a:t>        "output": "추출 항목"</a:t>
            </a:r>
          </a:p>
          <a:p xmlns:a="http://schemas.openxmlformats.org/drawingml/2006/main">
            <a:r>
              <a:t>      },</a:t>
            </a:r>
          </a:p>
          <a:p xmlns:a="http://schemas.openxmlformats.org/drawingml/2006/main">
            <a:r>
              <a:t>      {</a:t>
            </a:r>
          </a:p>
          <a:p xmlns:a="http://schemas.openxmlformats.org/drawingml/2006/main">
            <a:r>
              <a:t>        "title": "규칙·누락 검토",</a:t>
            </a:r>
          </a:p>
          <a:p xmlns:a="http://schemas.openxmlformats.org/drawingml/2006/main">
            <a:r>
              <a:t>        "input": "추출 항목",</a:t>
            </a:r>
          </a:p>
          <a:p xmlns:a="http://schemas.openxmlformats.org/drawingml/2006/main">
            <a:r>
              <a:t>        "process": "원본·추출값 대조와 자동 확정 제한",</a:t>
            </a:r>
          </a:p>
          <a:p xmlns:a="http://schemas.openxmlformats.org/drawingml/2006/main">
            <a:r>
              <a:t>        "output": "누락·불일치"</a:t>
            </a:r>
          </a:p>
          <a:p xmlns:a="http://schemas.openxmlformats.org/drawingml/2006/main">
            <a:r>
              <a:t>      },</a:t>
            </a:r>
          </a:p>
          <a:p xmlns:a="http://schemas.openxmlformats.org/drawingml/2006/main">
            <a:r>
              <a:t>      {</a:t>
            </a:r>
          </a:p>
          <a:p xmlns:a="http://schemas.openxmlformats.org/drawingml/2006/main">
            <a:r>
              <a:t>        "title": "담당자 확정",</a:t>
            </a:r>
          </a:p>
          <a:p xmlns:a="http://schemas.openxmlformats.org/drawingml/2006/main">
            <a:r>
              <a:t>        "input": "누락·불일치",</a:t>
            </a:r>
          </a:p>
          <a:p xmlns:a="http://schemas.openxmlformats.org/drawingml/2006/main">
            <a:r>
              <a:t>        "process": "불일치·누락 항목을 원본과 함께 심사자에게 제공",</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"한 사건의 신청 서류에서 필수 항목과 문서 간 일치 여부 확인",</a:t>
            </a:r>
          </a:p>
          <a:p xmlns:a="http://schemas.openxmlformats.org/drawingml/2006/main">
            <a:r>
              <a:t>      "exception": "스캔 저화질·서명 누락·주소 불일치·다른 사건 서류",</a:t>
            </a:r>
          </a:p>
          <a:p xmlns:a="http://schemas.openxmlformats.org/drawingml/2006/main">
            <a:r>
              <a:t>      "evidence": "추출값–원본 좌표–불일치 판정–심사자 확정 추적표",</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"심사 직원·민원 담당·지식 관리자",</a:t>
            </a:r>
          </a:p>
          <a:p xmlns:a="http://schemas.openxmlformats.org/drawingml/2006/main">
            <a:r>
              <a:t>          "processing": "SSO·문서 접근권한·사건별 서류 묶음",</a:t>
            </a:r>
          </a:p>
          <a:p xmlns:a="http://schemas.openxmlformats.org/drawingml/2006/main">
            <a:r>
              <a:t>          "output": "보증 원문"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"원본·추출 항목",</a:t>
            </a:r>
          </a:p>
          <a:p xmlns:a="http://schemas.openxmlformats.org/drawingml/2006/main">
            <a:r>
              <a:t>          "processing": "원문 좌표·추출값·문서 판본·승인상태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"보증 원문",</a:t>
            </a:r>
          </a:p>
          <a:p xmlns:a="http://schemas.openxmlformats.org/drawingml/2006/main">
            <a:r>
              <a:t>          "processing": "OCR/VLM 추출 모듈과 정합성 비교 모듈 분리",</a:t>
            </a:r>
          </a:p>
          <a:p xmlns:a="http://schemas.openxmlformats.org/drawingml/2006/main">
            <a:r>
              <a:t>          "output": "누락·불일치"</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"누락·불일치",</a:t>
            </a:r>
          </a:p>
          <a:p xmlns:a="http://schemas.openxmlformats.org/drawingml/2006/main">
            <a:r>
              <a:t>          "processing": "불일치·누락 항목을 원본과 함께 심사자에게 제공",</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"사람 확정값과 인식 오류를 품질 개선에 반영",</a:t>
            </a:r>
          </a:p>
          <a:p xmlns:a="http://schemas.openxmlformats.org/drawingml/2006/main">
            <a:r>
              <a:t>          "output": "추출값–원본 좌표–불일치 판정–심사자 확정 추적표"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"사람 확정값과 인식 오류를 품질 개선에 반영",</a:t>
            </a:r>
          </a:p>
          <a:p xmlns:a="http://schemas.openxmlformats.org/drawingml/2006/main">
            <a:r>
              <a:t>    "status": "RFP 기반 논리 설계",</a:t>
            </a:r>
          </a:p>
          <a:p xmlns:a="http://schemas.openxmlformats.org/drawingml/2006/main">
            <a:r>
              <a:t>    "basis": "본공고 RFP · SFR-006~008",</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"SFR-006~008, PMR-004~005 / Word T026",</a:t>
            </a:r>
          </a:p>
          <a:p xmlns:a="http://schemas.openxmlformats.org/drawingml/2006/main">
            <a:r>
              <a:t>        "url": "https://www.g2b.go.kr/pn/pnp/pnpe/UntyAtchFile/downloadFile.do?bidPbancNo=R26BK01639098&amp;bidPbancOrd=000&amp;fileSeq=3&amp;fileType=&amp;prcmBsneSeCd=03"</a:t>
            </a:r>
          </a:p>
          <a:p xmlns:a="http://schemas.openxmlformats.org/drawingml/2006/main">
            <a:r>
              <a:t>      }</a:t>
            </a:r>
          </a:p>
          <a:p xmlns:a="http://schemas.openxmlformats.org/drawingml/2006/main">
            <a:r>
              <a:t>    ],</a:t>
            </a:r>
          </a:p>
          <a:p xmlns:a="http://schemas.openxmlformats.org/drawingml/2006/main">
            <a:r>
              <a:t>    "implication": "심사 서류의 추출값과 원본 위치를 연결하고 담당자가 최종 판정하는 증거 중심 검토",</a:t>
            </a:r>
          </a:p>
          <a:p xmlns:a="http://schemas.openxmlformats.org/drawingml/2006/main">
            <a:r>
              <a:t>    "local": "심사 서류의 추출값과 원본 위치를 연결하고 담당자가 최종 판정하는 증거 중심 검토",</a:t>
            </a:r>
          </a:p>
          <a:p xmlns:a="http://schemas.openxmlformats.org/drawingml/2006/main">
            <a:r>
              <a:t>    "sourceDetail": "OCR/VLM→추출값·원본 매핑→누락·정합성 비교→사람 확정; 문서 승인·버전·권한별 RAG 분리",</a:t>
            </a:r>
          </a:p>
          <a:p xmlns:a="http://schemas.openxmlformats.org/drawingml/2006/main">
            <a:r>
              <a:t>    "narrative": [</a:t>
            </a:r>
          </a:p>
          <a:p xmlns:a="http://schemas.openxmlformats.org/drawingml/2006/main">
            <a:r>
              <a:t>      "규정 검색, 전세보증 이행서류 심사, 민원 처리의 세 업무를 공통 AI 기반 위에 구성하는 사업. 심사자가 여러 서류의 주소·계약·보증정보를 맞춰 보는 과정과 민원 담당자가 관련 규정·과거 답변을 찾는 과정을 각각 지원하는 범위.",</a:t>
            </a:r>
          </a:p>
          <a:p xmlns:a="http://schemas.openxmlformats.org/drawingml/2006/main">
            <a:r>
              <a:t>      "SFR-007의 핵심은 OCR 도입을 넘어 업무 건별 서류 묶음, 원본 위치와 추출값의 연결, 서류 간 비교, 심사자 수정·승인, 승인값의 후속 전달까지 이어지는 처리 구조. 검색용 청크와 심사용 구조화 항목을 별도 데이터로 관리하는 설계 필요.",</a:t>
            </a:r>
          </a:p>
          <a:p xmlns:a="http://schemas.openxmlformats.org/drawingml/2006/main">
            <a:r>
              <a:t>      "원문 인식률만으로 심사 지원 품질을 평가하기 어려운 구조. 문서 종류별 항목 추출, 다른 서류 간 정합성 판정, 누락 탐지, 사람 확인 후 전달을 단계별로 분리해 비교할 대상. TS 검사·인증 서류에도 사건 ID와 원본 좌표를 유지하는 방식의 적용 가능성."</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"SFR-006",</a:t>
            </a:r>
          </a:p>
          <a:p xmlns:a="http://schemas.openxmlformats.org/drawingml/2006/main">
            <a:r>
              <a:t>        "title": "AI 서비스_직원용 지식검색",</a:t>
            </a:r>
          </a:p>
          <a:p xmlns:a="http://schemas.openxmlformats.org/drawingml/2006/main">
            <a:r>
              <a:t>        "locator": "SFR-006",</a:t>
            </a:r>
          </a:p>
          <a:p xmlns:a="http://schemas.openxmlformats.org/drawingml/2006/main">
            <a:r>
              <a:t>        "summary": "규정·매뉴얼·판례의 구조를 추출하고 키워드·문맥 검색을 결합하는 직원용 지식검색. 승인 문서의 판본·개정일·보안등급 관리와 근거 조항·페이지 제공.",</a:t>
            </a:r>
          </a:p>
          <a:p xmlns:a="http://schemas.openxmlformats.org/drawingml/2006/main">
            <a:r>
              <a:t>        "data": "승인 문서·질의·검색 조건 → 근거 청크·조항·페이지·답변",</a:t>
            </a:r>
          </a:p>
          <a:p xmlns:a="http://schemas.openxmlformats.org/drawingml/2006/main">
            <a:r>
              <a:t>        "components": [</a:t>
            </a:r>
          </a:p>
          <a:p xmlns:a="http://schemas.openxmlformats.org/drawingml/2006/main">
            <a:r>
              <a:t>          "C03",</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"표·각주 포함 문서, 개정·삭제 문서, 다른 보안등급 문서를 투입해 인용 위치·최신성·검색 제외 여부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"fcb9809f74155d757fc4e05a0ba909eee1de897f306e8e7f1cdd6551c6525a6f"</a:t>
            </a:r>
          </a:p>
          <a:p xmlns:a="http://schemas.openxmlformats.org/drawingml/2006/main">
            <a:r>
              <a:t>      },</a:t>
            </a:r>
          </a:p>
          <a:p xmlns:a="http://schemas.openxmlformats.org/drawingml/2006/main">
            <a:r>
              <a:t>      {</a:t>
            </a:r>
          </a:p>
          <a:p xmlns:a="http://schemas.openxmlformats.org/drawingml/2006/main">
            <a:r>
              <a:t>        "id": "SFR-007",</a:t>
            </a:r>
          </a:p>
          <a:p xmlns:a="http://schemas.openxmlformats.org/drawingml/2006/main">
            <a:r>
              <a:t>        "title": "AI 서비스_전세이행 업무지원",</a:t>
            </a:r>
          </a:p>
          <a:p xmlns:a="http://schemas.openxmlformats.org/drawingml/2006/main">
            <a:r>
              <a:t>        "locator": "SFR-007",</a:t>
            </a:r>
          </a:p>
          <a:p xmlns:a="http://schemas.openxmlformats.org/drawingml/2006/main">
            <a:r>
              <a:t>        "summary": "업무 건별 제출서류 묶음과 OCR/VLM 추출값 관리. 원본 좌표 표시, 필드 수정, 유효기간·누락·서류 간 일치 검사, 심사표 생성, 승인값의 후속 전달.",</a:t>
            </a:r>
          </a:p>
          <a:p xmlns:a="http://schemas.openxmlformats.org/drawingml/2006/main">
            <a:r>
              <a:t>        "data": "사건 ID·서류·원본 좌표 → 항목값·불일치 목록·심사표·승인 상태",</a:t>
            </a:r>
          </a:p>
          <a:p xmlns:a="http://schemas.openxmlformats.org/drawingml/2006/main">
            <a:r>
              <a:t>        "components": [</a:t>
            </a:r>
          </a:p>
          <a:p xmlns:a="http://schemas.openxmlformats.org/drawingml/2006/main">
            <a:r>
              <a:t>          "C04",</a:t>
            </a:r>
          </a:p>
          <a:p xmlns:a="http://schemas.openxmlformats.org/drawingml/2006/main">
            <a:r>
              <a:t>          "C05",</a:t>
            </a:r>
          </a:p>
          <a:p xmlns:a="http://schemas.openxmlformats.org/drawingml/2006/main">
            <a:r>
              <a:t>          "C06",</a:t>
            </a:r>
          </a:p>
          <a:p xmlns:a="http://schemas.openxmlformats.org/drawingml/2006/main">
            <a:r>
              <a:t>          "C07"</a:t>
            </a:r>
          </a:p>
          <a:p xmlns:a="http://schemas.openxmlformats.org/drawingml/2006/main">
            <a:r>
              <a:t>        ],</a:t>
            </a:r>
          </a:p>
          <a:p xmlns:a="http://schemas.openxmlformats.org/drawingml/2006/main">
            <a:r>
              <a:t>        "acceptance": "흐린 스캔·다른 주소·누락 서류를 투입해 경고와 원본 위치 확인, 미승인 값의 전달 차단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"425cf0594ef5751da0b20f6a635f6c48577778b07fc85d00329082de815934fc"</a:t>
            </a:r>
          </a:p>
          <a:p xmlns:a="http://schemas.openxmlformats.org/drawingml/2006/main">
            <a:r>
              <a:t>      },</a:t>
            </a:r>
          </a:p>
          <a:p xmlns:a="http://schemas.openxmlformats.org/drawingml/2006/main">
            <a:r>
              <a:t>      {</a:t>
            </a:r>
          </a:p>
          <a:p xmlns:a="http://schemas.openxmlformats.org/drawingml/2006/main">
            <a:r>
              <a:t>        "id": "SFR-008",</a:t>
            </a:r>
          </a:p>
          <a:p xmlns:a="http://schemas.openxmlformats.org/drawingml/2006/main">
            <a:r>
              <a:t>        "title": "AI 서비스_지능형 민원처리 시스템",</a:t>
            </a:r>
          </a:p>
          <a:p xmlns:a="http://schemas.openxmlformats.org/drawingml/2006/main">
            <a:r>
              <a:t>        "locator": "SFR-008",</a:t>
            </a:r>
          </a:p>
          <a:p xmlns:a="http://schemas.openxmlformats.org/drawingml/2006/main">
            <a:r>
              <a:t>        "summary": "민원 부서 후보 추천, 유사민원 검색, 답변 초안·요약 제공. 사용자의 부서 선택·답변 확정과 담당 부서의 FAQ 후보 승인.",</a:t>
            </a:r>
          </a:p>
          <a:p xmlns:a="http://schemas.openxmlformats.org/drawingml/2006/main">
            <a:r>
              <a:t>        "data": "민원·지역·업무 유형 → 후보 부서·유사 사례·근거·답변 초안",</a:t>
            </a:r>
          </a:p>
          <a:p xmlns:a="http://schemas.openxmlformats.org/drawingml/2006/main">
            <a:r>
              <a:t>        "components": [</a:t>
            </a:r>
          </a:p>
          <a:p xmlns:a="http://schemas.openxmlformats.org/drawingml/2006/main">
            <a:r>
              <a:t>          "C02",</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"다부서 민원·유사사례 없음·FAQ 중복 입력 시 후보와 규정 대체 근거, 확정 전후 변경 이력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"8ab0ac34f0143f16766050d69a0283c485e048e2b4d17f33befa947fd660c3aa"</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"직원·문서 접점",</a:t>
            </a:r>
          </a:p>
          <a:p xmlns:a="http://schemas.openxmlformats.org/drawingml/2006/main">
            <a:r>
              <a:t>          "layer": "이용 접점",</a:t>
            </a:r>
          </a:p>
          <a:p xmlns:a="http://schemas.openxmlformats.org/drawingml/2006/main">
            <a:r>
              <a:t>          "detail": "심사 직원·민원 담당·지식 관리자",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"SSO·사건·권한",</a:t>
            </a:r>
          </a:p>
          <a:p xmlns:a="http://schemas.openxmlformats.org/drawingml/2006/main">
            <a:r>
              <a:t>          "layer": "업무 문맥",</a:t>
            </a:r>
          </a:p>
          <a:p xmlns:a="http://schemas.openxmlformats.org/drawingml/2006/main">
            <a:r>
              <a:t>          "detail": "SSO·문서 접근권한·사건별 서류 묶음",</a:t>
            </a:r>
          </a:p>
          <a:p xmlns:a="http://schemas.openxmlformats.org/drawingml/2006/main">
            <a:r>
              <a:t>          "requirements": [</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"문서·규정 조회",</a:t>
            </a:r>
          </a:p>
          <a:p xmlns:a="http://schemas.openxmlformats.org/drawingml/2006/main">
            <a:r>
              <a:t>          "layer": "자료 조회",</a:t>
            </a:r>
          </a:p>
          <a:p xmlns:a="http://schemas.openxmlformats.org/drawingml/2006/main">
            <a:r>
              <a:t>          "detail": "보증 원문",</a:t>
            </a:r>
          </a:p>
          <a:p xmlns:a="http://schemas.openxmlformats.org/drawingml/2006/main">
            <a:r>
              <a:t>          "requirements": [</a:t>
            </a:r>
          </a:p>
          <a:p xmlns:a="http://schemas.openxmlformats.org/drawingml/2006/main">
            <a:r>
              <a:t>            "SFR-006",</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"OCR·VLM 추출",</a:t>
            </a:r>
          </a:p>
          <a:p xmlns:a="http://schemas.openxmlformats.org/drawingml/2006/main">
            <a:r>
              <a:t>          "layer": "핵심 처리",</a:t>
            </a:r>
          </a:p>
          <a:p xmlns:a="http://schemas.openxmlformats.org/drawingml/2006/main">
            <a:r>
              <a:t>          "detail": "OCR/VLM 추출 모듈과 정합성 비교 모듈 분리",</a:t>
            </a:r>
          </a:p>
          <a:p xmlns:a="http://schemas.openxmlformats.org/drawingml/2006/main">
            <a:r>
              <a:t>          "requirements": [</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"누락·정합성 비교",</a:t>
            </a:r>
          </a:p>
          <a:p xmlns:a="http://schemas.openxmlformats.org/drawingml/2006/main">
            <a:r>
              <a:t>          "layer": "결과 검증",</a:t>
            </a:r>
          </a:p>
          <a:p xmlns:a="http://schemas.openxmlformats.org/drawingml/2006/main">
            <a:r>
              <a:t>          "detail": "원본·추출값 대조와 자동 확정 제한",</a:t>
            </a:r>
          </a:p>
          <a:p xmlns:a="http://schemas.openxmlformats.org/drawingml/2006/main">
            <a:r>
              <a:t>          "requirements": [</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"원본·값 사람 확인",</a:t>
            </a:r>
          </a:p>
          <a:p xmlns:a="http://schemas.openxmlformats.org/drawingml/2006/main">
            <a:r>
              <a:t>          "layer": "사람 확인",</a:t>
            </a:r>
          </a:p>
          <a:p xmlns:a="http://schemas.openxmlformats.org/drawingml/2006/main">
            <a:r>
              <a:t>          "detail": "한 사건의 신청 서류에서 필수 항목과 문서 간 일치 여부 확인",</a:t>
            </a:r>
          </a:p>
          <a:p xmlns:a="http://schemas.openxmlformats.org/drawingml/2006/main">
            <a:r>
              <a:t>          "requirements": [</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"심사·민원 초안",</a:t>
            </a:r>
          </a:p>
          <a:p xmlns:a="http://schemas.openxmlformats.org/drawingml/2006/main">
            <a:r>
              <a:t>          "layer": "업무 연결",</a:t>
            </a:r>
          </a:p>
          <a:p xmlns:a="http://schemas.openxmlformats.org/drawingml/2006/main">
            <a:r>
              <a:t>          "detail": "불일치·누락 항목을 원본과 함께 심사자에게 제공",</a:t>
            </a:r>
          </a:p>
          <a:p xmlns:a="http://schemas.openxmlformats.org/drawingml/2006/main">
            <a:r>
              <a:t>          "requirements": [</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"항목별 오류 평가",</a:t>
            </a:r>
          </a:p>
          <a:p xmlns:a="http://schemas.openxmlformats.org/drawingml/2006/main">
            <a:r>
              <a:t>          "layer": "운영 관측",</a:t>
            </a:r>
          </a:p>
          <a:p xmlns:a="http://schemas.openxmlformats.org/drawingml/2006/main">
            <a:r>
              <a:t>          "detail": "사람 확정값과 인식 오류를 품질 개선에 반영",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"이행서류·규정",</a:t>
            </a:r>
          </a:p>
          <a:p xmlns:a="http://schemas.openxmlformats.org/drawingml/2006/main">
            <a:r>
              <a:t>          "layer": "데이터 원천",</a:t>
            </a:r>
          </a:p>
          <a:p xmlns:a="http://schemas.openxmlformats.org/drawingml/2006/main">
            <a:r>
              <a:t>          "detail": "원본·추출 항목",</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"좌표·판본·승인태그",</a:t>
            </a:r>
          </a:p>
          <a:p xmlns:a="http://schemas.openxmlformats.org/drawingml/2006/main">
            <a:r>
              <a:t>          "layer": "준비·갱신",</a:t>
            </a:r>
          </a:p>
          <a:p xmlns:a="http://schemas.openxmlformats.org/drawingml/2006/main">
            <a:r>
              <a:t>          "detail": "원문 좌표·추출값·문서 판본·승인상태 연결",</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"원본·추출값·색인",</a:t>
            </a:r>
          </a:p>
          <a:p xmlns:a="http://schemas.openxmlformats.org/drawingml/2006/main">
            <a:r>
              <a:t>          "layer": "상태·지식 저장",</a:t>
            </a:r>
          </a:p>
          <a:p xmlns:a="http://schemas.openxmlformats.org/drawingml/2006/main">
            <a:r>
              <a:t>          "detail": "추출값–원본 좌표–불일치 판정–심사자 확정 추적표",</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"문서별 접근정책",</a:t>
            </a:r>
          </a:p>
          <a:p xmlns:a="http://schemas.openxmlformats.org/drawingml/2006/main">
            <a:r>
              <a:t>          "layer": "권한·정책",</a:t>
            </a:r>
          </a:p>
          <a:p xmlns:a="http://schemas.openxmlformats.org/drawingml/2006/main">
            <a:r>
              <a:t>          "detail": "스캔 저화질·서명 누락·주소 불일치·다른 사건 서류",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"SSO·문서 접근권한·사건별 서류 묶음",</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"보증 원문",</a:t>
            </a:r>
          </a:p>
          <a:p xmlns:a="http://schemas.openxmlformats.org/drawingml/2006/main">
            <a:r>
              <a:t>          "check": "원본·추출값 대조와 자동 확정 제한"</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"추출 항목",</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"원문 좌표·추출 항목·인식 신뢰도",</a:t>
            </a:r>
          </a:p>
          <a:p xmlns:a="http://schemas.openxmlformats.org/drawingml/2006/main">
            <a:r>
              <a:t>          "check": "스캔 저화질·서명 누락·주소 불일치·다른 사건 서류"</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"누락·불일치",</a:t>
            </a:r>
          </a:p>
          <a:p xmlns:a="http://schemas.openxmlformats.org/drawingml/2006/main">
            <a:r>
              <a:t>          "check": "불일치·누락 항목을 원본과 함께 심사자에게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 결과",</a:t>
            </a:r>
          </a:p>
          <a:p xmlns:a="http://schemas.openxmlformats.org/drawingml/2006/main">
            <a:r>
              <a:t>          "check": "추출값–원본 좌표–불일치 판정–심사자 확정 추적표"</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"SFR-006~008",</a:t>
            </a:r>
          </a:p>
          <a:p xmlns:a="http://schemas.openxmlformats.org/drawingml/2006/main">
            <a:r>
              <a:t>        "extracted": "OCR/VLM 항목 추출과 문서 정합성 비교의 분리",</a:t>
            </a:r>
          </a:p>
          <a:p xmlns:a="http://schemas.openxmlformats.org/drawingml/2006/main">
            <a:r>
              <a:t>        "extension": "문서 좌표·추출값과 심사 확정값의 별도 보존"</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"PF-R01",</a:t>
            </a:r>
          </a:p>
          <a:p xmlns:a="http://schemas.openxmlformats.org/drawingml/2006/main">
            <a:r>
              <a:t>          "path": "assets/casebook-sources/PF-R01-01.png",</a:t>
            </a:r>
          </a:p>
          <a:p xmlns:a="http://schemas.openxmlformats.org/drawingml/2006/main">
            <a:r>
              <a:t>          "title": "HUG AI 인프라·업무시스템 연계",</a:t>
            </a:r>
          </a:p>
          <a:p xmlns:a="http://schemas.openxmlformats.org/drawingml/2006/main">
            <a:r>
              <a:t>          "status": "RFP 목표 구성도",</a:t>
            </a:r>
          </a:p>
          <a:p xmlns:a="http://schemas.openxmlformats.org/drawingml/2006/main">
            <a:r>
              <a:t>          "caption": "통합 클라우드·GPU Kubernetes·AI 웹서비스·그룹웨어 연계",</a:t>
            </a:r>
          </a:p>
          <a:p xmlns:a="http://schemas.openxmlformats.org/drawingml/2006/main">
            <a:r>
              <a:t>          "locator": "rId10 / BinData/image4_jpg",</a:t>
            </a:r>
          </a:p>
          <a:p xmlns:a="http://schemas.openxmlformats.org/drawingml/2006/main">
            <a:r>
              <a:t>          "checked": "2026-10-16",</a:t>
            </a:r>
          </a:p>
          <a:p xmlns:a="http://schemas.openxmlformats.org/drawingml/2006/main">
            <a:r>
              <a:t>          "sha256": "435b1f344867be6beab5f24852d1c79cba1e48a9361c9e0976f78dab55a1e9c9",</a:t>
            </a:r>
          </a:p>
          <a:p xmlns:a="http://schemas.openxmlformats.org/drawingml/2006/main">
            <a:r>
              <a:t>          "explanation": {</a:t>
            </a:r>
          </a:p>
          <a:p xmlns:a="http://schemas.openxmlformats.org/drawingml/2006/main">
            <a:r>
              <a:t>            "read": "클라우드·GPU Kubernetes는 AI 처리 자원, 웹서비스는 직원 접점, 그룹웨어는 기존 업무와의 연결 영역. 인프라 블록만으로 문서 심사 승인 절차까지 구현됐다고 해석하지 않는 구조.",</a:t>
            </a:r>
          </a:p>
          <a:p xmlns:a="http://schemas.openxmlformats.org/drawingml/2006/main">
            <a:r>
              <a:t>            "requirements": [</a:t>
            </a:r>
          </a:p>
          <a:p xmlns:a="http://schemas.openxmlformats.org/drawingml/2006/main">
            <a:r>
              <a:t>              "SFR-006",</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"connection": "문서 반입·검색·추출은 공통 자원을 사용하되 지식검색, 보증이행 심사, 민원답변의 결과 저장·승인 경로는 각각 분리하는 CCK 재구성."</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"스캔 저화질·서명 누락·주소 불일치·다른 사건 서류",</a:t>
            </a:r>
          </a:p>
          <a:p xmlns:a="http://schemas.openxmlformats.org/drawingml/2006/main">
            <a:r>
              <a:t>        "hold": "원본·추출값 대조와 자동 확정 제한",</a:t>
            </a:r>
          </a:p>
          <a:p xmlns:a="http://schemas.openxmlformats.org/drawingml/2006/main">
            <a:r>
              <a:t>        "recovery": "사람 확정값과 인식 오류를 품질 개선에 반영",</a:t>
            </a:r>
          </a:p>
          <a:p xmlns:a="http://schemas.openxmlformats.org/drawingml/2006/main">
            <a:r>
              <a:t>        "evidence": "추출값–원본 좌표–불일치 판정–심사자 확정 추적표"</a:t>
            </a:r>
          </a:p>
          <a:p xmlns:a="http://schemas.openxmlformats.org/drawingml/2006/main">
            <a:r>
              <a:t>      },</a:t>
            </a:r>
          </a:p>
          <a:p xmlns:a="http://schemas.openxmlformats.org/drawingml/2006/main">
            <a:r>
              <a:t>      "data": {</a:t>
            </a:r>
          </a:p>
          <a:p xmlns:a="http://schemas.openxmlformats.org/drawingml/2006/main">
            <a:r>
              <a:t>        "source": "원본·추출 항목",</a:t>
            </a:r>
          </a:p>
          <a:p xmlns:a="http://schemas.openxmlformats.org/drawingml/2006/main">
            <a:r>
              <a:t>        "prepare": "원문 좌표·추출값·문서 판본·승인상태 연결",</a:t>
            </a:r>
          </a:p>
          <a:p xmlns:a="http://schemas.openxmlformats.org/drawingml/2006/main">
            <a:r>
              <a:t>        "output": "보증 원문",</a:t>
            </a:r>
          </a:p>
          <a:p xmlns:a="http://schemas.openxmlformats.org/drawingml/2006/main">
            <a:r>
              <a:t>        "refresh": "사람 확정값과 인식 오류를 품질 개선에 반영"</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"PF-R01",</a:t>
            </a:r>
          </a:p>
          <a:p xmlns:a="http://schemas.openxmlformats.org/drawingml/2006/main">
            <a:r>
              <a:t>    "success": [</a:t>
            </a:r>
          </a:p>
          <a:p xmlns:a="http://schemas.openxmlformats.org/drawingml/2006/main">
            <a:r>
              <a:t>      "보증서류와 검토 규칙의 연결",</a:t>
            </a:r>
          </a:p>
          <a:p xmlns:a="http://schemas.openxmlformats.org/drawingml/2006/main">
            <a:r>
              <a:t>      "검색·민원 지원의 공통 기반 활용"</a:t>
            </a:r>
          </a:p>
          <a:p xmlns:a="http://schemas.openxmlformats.org/drawingml/2006/main">
            <a:r>
              <a:t>    ],</a:t>
            </a:r>
          </a:p>
          <a:p xmlns:a="http://schemas.openxmlformats.org/drawingml/2006/main">
            <a:r>
              <a:t>    "risks": [</a:t>
            </a:r>
          </a:p>
          <a:p xmlns:a="http://schemas.openxmlformats.org/drawingml/2006/main">
            <a:r>
              <a:t>      "OCR 오독에 따른 누락 판단",</a:t>
            </a:r>
          </a:p>
          <a:p xmlns:a="http://schemas.openxmlformats.org/drawingml/2006/main">
            <a:r>
              <a:t>      "요구 명세와 운영 효과의 혼동"</a:t>
            </a:r>
          </a:p>
          <a:p xmlns:a="http://schemas.openxmlformats.org/drawingml/2006/main">
            <a:r>
              <a:t>    ],</a:t>
            </a:r>
          </a:p>
          <a:p xmlns:a="http://schemas.openxmlformats.org/drawingml/2006/main">
            <a:r>
              <a:t>    "architecture": [</a:t>
            </a:r>
          </a:p>
          <a:p xmlns:a="http://schemas.openxmlformats.org/drawingml/2006/main">
            <a:r>
              <a:t>      "보증 문서 접수",</a:t>
            </a:r>
          </a:p>
          <a:p xmlns:a="http://schemas.openxmlformats.org/drawingml/2006/main">
            <a:r>
              <a:t>      "OCR·규칙 검토",</a:t>
            </a:r>
          </a:p>
          <a:p xmlns:a="http://schemas.openxmlformats.org/drawingml/2006/main">
            <a:r>
              <a:t>      "원본·추출 항목",</a:t>
            </a:r>
          </a:p>
          <a:p xmlns:a="http://schemas.openxmlformats.org/drawingml/2006/main">
            <a:r>
              <a:t>      "보증·민원 담당"</a:t>
            </a:r>
          </a:p>
          <a:p xmlns:a="http://schemas.openxmlformats.org/drawingml/2006/main">
            <a:r>
              <a:t>    ],</a:t>
            </a:r>
          </a:p>
          <a:p xmlns:a="http://schemas.openxmlformats.org/drawingml/2006/main">
            <a:r>
              <a:t>    "transfers": [</a:t>
            </a:r>
          </a:p>
          <a:p xmlns:a="http://schemas.openxmlformats.org/drawingml/2006/main">
            <a:r>
              <a:t>      "보증 원문",</a:t>
            </a:r>
          </a:p>
          <a:p xmlns:a="http://schemas.openxmlformats.org/drawingml/2006/main">
            <a:r>
              <a:t>      "추출 항목",</a:t>
            </a:r>
          </a:p>
          <a:p xmlns:a="http://schemas.openxmlformats.org/drawingml/2006/main">
            <a:r>
              <a:t>      "누락·불일치",</a:t>
            </a:r>
          </a:p>
          <a:p xmlns:a="http://schemas.openxmlformats.org/drawingml/2006/main">
            <a:r>
              <a:t>      "검토 결과"</a:t>
            </a:r>
          </a:p>
          <a:p xmlns:a="http://schemas.openxmlformats.org/drawingml/2006/main">
            <a:r>
              <a:t>    ],</a:t>
            </a:r>
          </a:p>
          <a:p xmlns:a="http://schemas.openxmlformats.org/drawingml/2006/main">
            <a:r>
              <a:t>    "control": "원본·추출값 대조와 자동 확정 제한",</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SFR-006~008, PMR-004~005 / Word T026 https://www.g2b.go.kr/pn/pnp/pnpe/UntyAtchFile/downloadFile.do?bidPbancNo=R26BK01639098&amp;bidPbancOrd=000&amp;fileSeq=3&amp;fileType=&amp;prcmBsneSeCd=03</a:t>
            </a:r>
          </a:p>
          <a:p xmlns:a="http://schemas.openxmlformats.org/drawingml/2006/main">
            <a:r>
              <a:t>홈페이지 https://heen1987-ops.github.io/TS-business-Plan-001/index.html?view=platform-cases&amp;case=PF-R01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"PF-R01",</a:t>
            </a:r>
          </a:p>
          <a:p xmlns:a="http://schemas.openxmlformats.org/drawingml/2006/main">
            <a:r>
              <a:t>    "sourceId": "R01",</a:t>
            </a:r>
          </a:p>
          <a:p xmlns:a="http://schemas.openxmlformats.org/drawingml/2006/main">
            <a:r>
              <a:t>    "title": "HUG 문서·민원 AI",</a:t>
            </a:r>
          </a:p>
          <a:p xmlns:a="http://schemas.openxmlformats.org/drawingml/2006/main">
            <a:r>
              <a:t>    "region": "국내",</a:t>
            </a:r>
          </a:p>
          <a:p xmlns:a="http://schemas.openxmlformats.org/drawingml/2006/main">
            <a:r>
              <a:t>    "owner": "주택도시보증공사(HUG)",</a:t>
            </a:r>
          </a:p>
          <a:p xmlns:a="http://schemas.openxmlformats.org/drawingml/2006/main">
            <a:r>
              <a:t>    "state": "RFP 확인 / 실제 운영·검수 미확인",</a:t>
            </a:r>
          </a:p>
          <a:p xmlns:a="http://schemas.openxmlformats.org/drawingml/2006/main">
            <a:r>
              <a:t>    "period": "기존 원장 확인 2026.10.16",</a:t>
            </a:r>
          </a:p>
          <a:p xmlns:a="http://schemas.openxmlformats.org/drawingml/2006/main">
            <a:r>
              <a:t>    "fact": "직원 검색·전세보증 이행서류 검토·민원 지원을 공통 플랫폼에 구성",</a:t>
            </a:r>
          </a:p>
          <a:p xmlns:a="http://schemas.openxmlformats.org/drawingml/2006/main">
            <a:r>
              <a:t>    "limit": "전세보증과 TS 전세버스는 업무 기준이 다름. 공통 기능만 이식 가능",</a:t>
            </a:r>
          </a:p>
          <a:p xmlns:a="http://schemas.openxmlformats.org/drawingml/2006/main">
            <a:r>
              <a:t>    "nodes": [</a:t>
            </a:r>
          </a:p>
          <a:p xmlns:a="http://schemas.openxmlformats.org/drawingml/2006/main">
            <a:r>
              <a:t>      "보증 서류",</a:t>
            </a:r>
          </a:p>
          <a:p xmlns:a="http://schemas.openxmlformats.org/drawingml/2006/main">
            <a:r>
              <a:t>      "OCR·원본 대조",</a:t>
            </a:r>
          </a:p>
          <a:p xmlns:a="http://schemas.openxmlformats.org/drawingml/2006/main">
            <a:r>
              <a:t>      "규칙·누락 검토",</a:t>
            </a:r>
          </a:p>
          <a:p xmlns:a="http://schemas.openxmlformats.org/drawingml/2006/main">
            <a:r>
              <a:t>      "담당자 확정"</a:t>
            </a:r>
          </a:p>
          <a:p xmlns:a="http://schemas.openxmlformats.org/drawingml/2006/main">
            <a:r>
              <a:t>    ],</a:t>
            </a:r>
          </a:p>
          <a:p xmlns:a="http://schemas.openxmlformats.org/drawingml/2006/main">
            <a:r>
              <a:t>    "apply": "심사 서류의 추출값과 원본 위치를 연결하고 담당자가 최종 판정하는 증거 중심 검토",</a:t>
            </a:r>
          </a:p>
          <a:p xmlns:a="http://schemas.openxmlformats.org/drawingml/2006/main">
            <a:r>
              <a:t>    "delta": "서류 종류·필수항목 사전 / 추출값–원본 좌표 / 사건별 비교 규칙",</a:t>
            </a:r>
          </a:p>
          <a:p xmlns:a="http://schemas.openxmlformats.org/drawingml/2006/main">
            <a:r>
              <a:t>    "test": "저화질·누락·다른 사건 서류 주입 후 원본 대조·판정 보류 확인",</a:t>
            </a:r>
          </a:p>
          <a:p xmlns:a="http://schemas.openxmlformats.org/drawingml/2006/main">
            <a:r>
              <a:t>    "url": "https://www.g2b.go.kr/pn/pnp/pnpe/UntyAtchFile/downloadFile.do?bidPbancNo=R26BK01639098&amp;bidPbancOrd=000&amp;fileSeq=3&amp;fileType=&amp;prcmBsneSeCd=03",</a:t>
            </a:r>
          </a:p>
          <a:p xmlns:a="http://schemas.openxmlformats.org/drawingml/2006/main">
            <a:r>
              <a:t>    "urls": [</a:t>
            </a:r>
          </a:p>
          <a:p xmlns:a="http://schemas.openxmlformats.org/drawingml/2006/main">
            <a:r>
              <a:t>      "https://www.g2b.go.kr/pn/pnp/pnpe/UntyAtchFile/downloadFile.do?bidPbancNo=R26BK01639098&amp;bidPbancOrd=000&amp;fileSeq=3&amp;fileType=&amp;prcmBsneSeCd=03"</a:t>
            </a:r>
          </a:p>
          <a:p xmlns:a="http://schemas.openxmlformats.org/drawingml/2006/main">
            <a:r>
              <a:t>    ],</a:t>
            </a:r>
          </a:p>
          <a:p xmlns:a="http://schemas.openxmlformats.org/drawingml/2006/main">
            <a:r>
              <a:t>    "basis": "SFR-006~008, PMR-004~005 / Word T026",</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"심사 검토시간 / 필수 항목 누락률 / 재보완 횟수",</a:t>
            </a:r>
          </a:p>
          <a:p xmlns:a="http://schemas.openxmlformats.org/drawingml/2006/main">
            <a:r>
              <a:t>    "group": "요구·구축",</a:t>
            </a:r>
          </a:p>
          <a:p xmlns:a="http://schemas.openxmlformats.org/drawingml/2006/main">
            <a:r>
              <a:t>    "sourceDetail": "OCR/VLM→추출값·원본 매핑→누락·정합성 비교→사람 확정; 문서 승인·버전·권한별 RAG 분리",</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"PF-R01",</a:t>
            </a:r>
          </a:p>
          <a:p xmlns:a="http://schemas.openxmlformats.org/drawingml/2006/main">
            <a:r>
              <a:t>    "canonicalId": "PF-R01",</a:t>
            </a:r>
          </a:p>
          <a:p xmlns:a="http://schemas.openxmlformats.org/drawingml/2006/main">
            <a:r>
              <a:t>    "purpose": "보증 이행서류 검토와 민원업무의 공통 AI화",</a:t>
            </a:r>
          </a:p>
          <a:p xmlns:a="http://schemas.openxmlformats.org/drawingml/2006/main">
            <a:r>
              <a:t>    "users": "심사 직원·민원 담당·지식 관리자",</a:t>
            </a:r>
          </a:p>
          <a:p xmlns:a="http://schemas.openxmlformats.org/drawingml/2006/main">
            <a:r>
              <a:t>    "scope": [</a:t>
            </a:r>
          </a:p>
          <a:p xmlns:a="http://schemas.openxmlformats.org/drawingml/2006/main">
            <a:r>
              <a:t>      "직원 검색",</a:t>
            </a:r>
          </a:p>
          <a:p xmlns:a="http://schemas.openxmlformats.org/drawingml/2006/main">
            <a:r>
              <a:t>      "이행서류 검토",</a:t>
            </a:r>
          </a:p>
          <a:p xmlns:a="http://schemas.openxmlformats.org/drawingml/2006/main">
            <a:r>
              <a:t>      "민원 지원"</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"보증 문서 접수",</a:t>
            </a:r>
          </a:p>
          <a:p xmlns:a="http://schemas.openxmlformats.org/drawingml/2006/main">
            <a:r>
              <a:t>        "detail": "SSO·문서 접근권한·사건별 서류 묶음",</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"직원 검색 / 이행서류 검토 / 민원 지원",</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"OCR·규칙 검토",</a:t>
            </a:r>
          </a:p>
          <a:p xmlns:a="http://schemas.openxmlformats.org/drawingml/2006/main">
            <a:r>
              <a:t>        "detail": "OCR/VLM 추출 모듈과 정합성 비교 모듈 분리",</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"보증·민원 담당",</a:t>
            </a:r>
          </a:p>
          <a:p xmlns:a="http://schemas.openxmlformats.org/drawingml/2006/main">
            <a:r>
              <a:t>        "detail": "불일치·누락 항목을 원본과 함께 심사자에게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"원본·추출 항목",</a:t>
            </a:r>
          </a:p>
          <a:p xmlns:a="http://schemas.openxmlformats.org/drawingml/2006/main">
            <a:r>
              <a:t>        "detail": "원문 좌표·추출값·문서 판본·승인상태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"사람 확정값과 인식 오류를 품질 개선에 반영",</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"보증 서류",</a:t>
            </a:r>
          </a:p>
          <a:p xmlns:a="http://schemas.openxmlformats.org/drawingml/2006/main">
            <a:r>
              <a:t>        "input": "SSO·문서 접근권한·사건별 서류 묶음",</a:t>
            </a:r>
          </a:p>
          <a:p xmlns:a="http://schemas.openxmlformats.org/drawingml/2006/main">
            <a:r>
              <a:t>        "process": "원문 좌표·추출값·문서 판본·승인상태 연결",</a:t>
            </a:r>
          </a:p>
          <a:p xmlns:a="http://schemas.openxmlformats.org/drawingml/2006/main">
            <a:r>
              <a:t>        "output": "보증 원문"</a:t>
            </a:r>
          </a:p>
          <a:p xmlns:a="http://schemas.openxmlformats.org/drawingml/2006/main">
            <a:r>
              <a:t>      },</a:t>
            </a:r>
          </a:p>
          <a:p xmlns:a="http://schemas.openxmlformats.org/drawingml/2006/main">
            <a:r>
              <a:t>      {</a:t>
            </a:r>
          </a:p>
          <a:p xmlns:a="http://schemas.openxmlformats.org/drawingml/2006/main">
            <a:r>
              <a:t>        "title": "OCR·원본 대조",</a:t>
            </a:r>
          </a:p>
          <a:p xmlns:a="http://schemas.openxmlformats.org/drawingml/2006/main">
            <a:r>
              <a:t>        "input": "보증 원문",</a:t>
            </a:r>
          </a:p>
          <a:p xmlns:a="http://schemas.openxmlformats.org/drawingml/2006/main">
            <a:r>
              <a:t>        "process": "OCR/VLM 추출 모듈과 정합성 비교 모듈 분리",</a:t>
            </a:r>
          </a:p>
          <a:p xmlns:a="http://schemas.openxmlformats.org/drawingml/2006/main">
            <a:r>
              <a:t>        "output": "추출 항목"</a:t>
            </a:r>
          </a:p>
          <a:p xmlns:a="http://schemas.openxmlformats.org/drawingml/2006/main">
            <a:r>
              <a:t>      },</a:t>
            </a:r>
          </a:p>
          <a:p xmlns:a="http://schemas.openxmlformats.org/drawingml/2006/main">
            <a:r>
              <a:t>      {</a:t>
            </a:r>
          </a:p>
          <a:p xmlns:a="http://schemas.openxmlformats.org/drawingml/2006/main">
            <a:r>
              <a:t>        "title": "규칙·누락 검토",</a:t>
            </a:r>
          </a:p>
          <a:p xmlns:a="http://schemas.openxmlformats.org/drawingml/2006/main">
            <a:r>
              <a:t>        "input": "추출 항목",</a:t>
            </a:r>
          </a:p>
          <a:p xmlns:a="http://schemas.openxmlformats.org/drawingml/2006/main">
            <a:r>
              <a:t>        "process": "원본·추출값 대조와 자동 확정 제한",</a:t>
            </a:r>
          </a:p>
          <a:p xmlns:a="http://schemas.openxmlformats.org/drawingml/2006/main">
            <a:r>
              <a:t>        "output": "누락·불일치"</a:t>
            </a:r>
          </a:p>
          <a:p xmlns:a="http://schemas.openxmlformats.org/drawingml/2006/main">
            <a:r>
              <a:t>      },</a:t>
            </a:r>
          </a:p>
          <a:p xmlns:a="http://schemas.openxmlformats.org/drawingml/2006/main">
            <a:r>
              <a:t>      {</a:t>
            </a:r>
          </a:p>
          <a:p xmlns:a="http://schemas.openxmlformats.org/drawingml/2006/main">
            <a:r>
              <a:t>        "title": "담당자 확정",</a:t>
            </a:r>
          </a:p>
          <a:p xmlns:a="http://schemas.openxmlformats.org/drawingml/2006/main">
            <a:r>
              <a:t>        "input": "누락·불일치",</a:t>
            </a:r>
          </a:p>
          <a:p xmlns:a="http://schemas.openxmlformats.org/drawingml/2006/main">
            <a:r>
              <a:t>        "process": "불일치·누락 항목을 원본과 함께 심사자에게 제공",</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"한 사건의 신청 서류에서 필수 항목과 문서 간 일치 여부 확인",</a:t>
            </a:r>
          </a:p>
          <a:p xmlns:a="http://schemas.openxmlformats.org/drawingml/2006/main">
            <a:r>
              <a:t>      "exception": "스캔 저화질·서명 누락·주소 불일치·다른 사건 서류",</a:t>
            </a:r>
          </a:p>
          <a:p xmlns:a="http://schemas.openxmlformats.org/drawingml/2006/main">
            <a:r>
              <a:t>      "evidence": "추출값–원본 좌표–불일치 판정–심사자 확정 추적표",</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"심사 직원·민원 담당·지식 관리자",</a:t>
            </a:r>
          </a:p>
          <a:p xmlns:a="http://schemas.openxmlformats.org/drawingml/2006/main">
            <a:r>
              <a:t>          "processing": "SSO·문서 접근권한·사건별 서류 묶음",</a:t>
            </a:r>
          </a:p>
          <a:p xmlns:a="http://schemas.openxmlformats.org/drawingml/2006/main">
            <a:r>
              <a:t>          "output": "보증 원문"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"원본·추출 항목",</a:t>
            </a:r>
          </a:p>
          <a:p xmlns:a="http://schemas.openxmlformats.org/drawingml/2006/main">
            <a:r>
              <a:t>          "processing": "원문 좌표·추출값·문서 판본·승인상태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"보증 원문",</a:t>
            </a:r>
          </a:p>
          <a:p xmlns:a="http://schemas.openxmlformats.org/drawingml/2006/main">
            <a:r>
              <a:t>          "processing": "OCR/VLM 추출 모듈과 정합성 비교 모듈 분리",</a:t>
            </a:r>
          </a:p>
          <a:p xmlns:a="http://schemas.openxmlformats.org/drawingml/2006/main">
            <a:r>
              <a:t>          "output": "누락·불일치"</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"누락·불일치",</a:t>
            </a:r>
          </a:p>
          <a:p xmlns:a="http://schemas.openxmlformats.org/drawingml/2006/main">
            <a:r>
              <a:t>          "processing": "불일치·누락 항목을 원본과 함께 심사자에게 제공",</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"사람 확정값과 인식 오류를 품질 개선에 반영",</a:t>
            </a:r>
          </a:p>
          <a:p xmlns:a="http://schemas.openxmlformats.org/drawingml/2006/main">
            <a:r>
              <a:t>          "output": "추출값–원본 좌표–불일치 판정–심사자 확정 추적표"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"사람 확정값과 인식 오류를 품질 개선에 반영",</a:t>
            </a:r>
          </a:p>
          <a:p xmlns:a="http://schemas.openxmlformats.org/drawingml/2006/main">
            <a:r>
              <a:t>    "status": "RFP 기반 논리 설계",</a:t>
            </a:r>
          </a:p>
          <a:p xmlns:a="http://schemas.openxmlformats.org/drawingml/2006/main">
            <a:r>
              <a:t>    "basis": "본공고 RFP · SFR-006~008",</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"SFR-006~008, PMR-004~005 / Word T026",</a:t>
            </a:r>
          </a:p>
          <a:p xmlns:a="http://schemas.openxmlformats.org/drawingml/2006/main">
            <a:r>
              <a:t>        "url": "https://www.g2b.go.kr/pn/pnp/pnpe/UntyAtchFile/downloadFile.do?bidPbancNo=R26BK01639098&amp;bidPbancOrd=000&amp;fileSeq=3&amp;fileType=&amp;prcmBsneSeCd=03"</a:t>
            </a:r>
          </a:p>
          <a:p xmlns:a="http://schemas.openxmlformats.org/drawingml/2006/main">
            <a:r>
              <a:t>      }</a:t>
            </a:r>
          </a:p>
          <a:p xmlns:a="http://schemas.openxmlformats.org/drawingml/2006/main">
            <a:r>
              <a:t>    ],</a:t>
            </a:r>
          </a:p>
          <a:p xmlns:a="http://schemas.openxmlformats.org/drawingml/2006/main">
            <a:r>
              <a:t>    "implication": "심사 서류의 추출값과 원본 위치를 연결하고 담당자가 최종 판정하는 증거 중심 검토",</a:t>
            </a:r>
          </a:p>
          <a:p xmlns:a="http://schemas.openxmlformats.org/drawingml/2006/main">
            <a:r>
              <a:t>    "local": "심사 서류의 추출값과 원본 위치를 연결하고 담당자가 최종 판정하는 증거 중심 검토",</a:t>
            </a:r>
          </a:p>
          <a:p xmlns:a="http://schemas.openxmlformats.org/drawingml/2006/main">
            <a:r>
              <a:t>    "sourceDetail": "OCR/VLM→추출값·원본 매핑→누락·정합성 비교→사람 확정; 문서 승인·버전·권한별 RAG 분리",</a:t>
            </a:r>
          </a:p>
          <a:p xmlns:a="http://schemas.openxmlformats.org/drawingml/2006/main">
            <a:r>
              <a:t>    "narrative": [</a:t>
            </a:r>
          </a:p>
          <a:p xmlns:a="http://schemas.openxmlformats.org/drawingml/2006/main">
            <a:r>
              <a:t>      "규정 검색, 전세보증 이행서류 심사, 민원 처리의 세 업무를 공통 AI 기반 위에 구성하는 사업. 심사자가 여러 서류의 주소·계약·보증정보를 맞춰 보는 과정과 민원 담당자가 관련 규정·과거 답변을 찾는 과정을 각각 지원하는 범위.",</a:t>
            </a:r>
          </a:p>
          <a:p xmlns:a="http://schemas.openxmlformats.org/drawingml/2006/main">
            <a:r>
              <a:t>      "SFR-007의 핵심은 OCR 도입을 넘어 업무 건별 서류 묶음, 원본 위치와 추출값의 연결, 서류 간 비교, 심사자 수정·승인, 승인값의 후속 전달까지 이어지는 처리 구조. 검색용 청크와 심사용 구조화 항목을 별도 데이터로 관리하는 설계 필요.",</a:t>
            </a:r>
          </a:p>
          <a:p xmlns:a="http://schemas.openxmlformats.org/drawingml/2006/main">
            <a:r>
              <a:t>      "원문 인식률만으로 심사 지원 품질을 평가하기 어려운 구조. 문서 종류별 항목 추출, 다른 서류 간 정합성 판정, 누락 탐지, 사람 확인 후 전달을 단계별로 분리해 비교할 대상. TS 검사·인증 서류에도 사건 ID와 원본 좌표를 유지하는 방식의 적용 가능성."</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"SFR-006",</a:t>
            </a:r>
          </a:p>
          <a:p xmlns:a="http://schemas.openxmlformats.org/drawingml/2006/main">
            <a:r>
              <a:t>        "title": "AI 서비스_직원용 지식검색",</a:t>
            </a:r>
          </a:p>
          <a:p xmlns:a="http://schemas.openxmlformats.org/drawingml/2006/main">
            <a:r>
              <a:t>        "locator": "SFR-006",</a:t>
            </a:r>
          </a:p>
          <a:p xmlns:a="http://schemas.openxmlformats.org/drawingml/2006/main">
            <a:r>
              <a:t>        "summary": "규정·매뉴얼·판례의 구조를 추출하고 키워드·문맥 검색을 결합하는 직원용 지식검색. 승인 문서의 판본·개정일·보안등급 관리와 근거 조항·페이지 제공.",</a:t>
            </a:r>
          </a:p>
          <a:p xmlns:a="http://schemas.openxmlformats.org/drawingml/2006/main">
            <a:r>
              <a:t>        "data": "승인 문서·질의·검색 조건 → 근거 청크·조항·페이지·답변",</a:t>
            </a:r>
          </a:p>
          <a:p xmlns:a="http://schemas.openxmlformats.org/drawingml/2006/main">
            <a:r>
              <a:t>        "components": [</a:t>
            </a:r>
          </a:p>
          <a:p xmlns:a="http://schemas.openxmlformats.org/drawingml/2006/main">
            <a:r>
              <a:t>          "C03",</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"표·각주 포함 문서, 개정·삭제 문서, 다른 보안등급 문서를 투입해 인용 위치·최신성·검색 제외 여부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"fcb9809f74155d757fc4e05a0ba909eee1de897f306e8e7f1cdd6551c6525a6f"</a:t>
            </a:r>
          </a:p>
          <a:p xmlns:a="http://schemas.openxmlformats.org/drawingml/2006/main">
            <a:r>
              <a:t>      },</a:t>
            </a:r>
          </a:p>
          <a:p xmlns:a="http://schemas.openxmlformats.org/drawingml/2006/main">
            <a:r>
              <a:t>      {</a:t>
            </a:r>
          </a:p>
          <a:p xmlns:a="http://schemas.openxmlformats.org/drawingml/2006/main">
            <a:r>
              <a:t>        "id": "SFR-007",</a:t>
            </a:r>
          </a:p>
          <a:p xmlns:a="http://schemas.openxmlformats.org/drawingml/2006/main">
            <a:r>
              <a:t>        "title": "AI 서비스_전세이행 업무지원",</a:t>
            </a:r>
          </a:p>
          <a:p xmlns:a="http://schemas.openxmlformats.org/drawingml/2006/main">
            <a:r>
              <a:t>        "locator": "SFR-007",</a:t>
            </a:r>
          </a:p>
          <a:p xmlns:a="http://schemas.openxmlformats.org/drawingml/2006/main">
            <a:r>
              <a:t>        "summary": "업무 건별 제출서류 묶음과 OCR/VLM 추출값 관리. 원본 좌표 표시, 필드 수정, 유효기간·누락·서류 간 일치 검사, 심사표 생성, 승인값의 후속 전달.",</a:t>
            </a:r>
          </a:p>
          <a:p xmlns:a="http://schemas.openxmlformats.org/drawingml/2006/main">
            <a:r>
              <a:t>        "data": "사건 ID·서류·원본 좌표 → 항목값·불일치 목록·심사표·승인 상태",</a:t>
            </a:r>
          </a:p>
          <a:p xmlns:a="http://schemas.openxmlformats.org/drawingml/2006/main">
            <a:r>
              <a:t>        "components": [</a:t>
            </a:r>
          </a:p>
          <a:p xmlns:a="http://schemas.openxmlformats.org/drawingml/2006/main">
            <a:r>
              <a:t>          "C04",</a:t>
            </a:r>
          </a:p>
          <a:p xmlns:a="http://schemas.openxmlformats.org/drawingml/2006/main">
            <a:r>
              <a:t>          "C05",</a:t>
            </a:r>
          </a:p>
          <a:p xmlns:a="http://schemas.openxmlformats.org/drawingml/2006/main">
            <a:r>
              <a:t>          "C06",</a:t>
            </a:r>
          </a:p>
          <a:p xmlns:a="http://schemas.openxmlformats.org/drawingml/2006/main">
            <a:r>
              <a:t>          "C07"</a:t>
            </a:r>
          </a:p>
          <a:p xmlns:a="http://schemas.openxmlformats.org/drawingml/2006/main">
            <a:r>
              <a:t>        ],</a:t>
            </a:r>
          </a:p>
          <a:p xmlns:a="http://schemas.openxmlformats.org/drawingml/2006/main">
            <a:r>
              <a:t>        "acceptance": "흐린 스캔·다른 주소·누락 서류를 투입해 경고와 원본 위치 확인, 미승인 값의 전달 차단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"425cf0594ef5751da0b20f6a635f6c48577778b07fc85d00329082de815934fc"</a:t>
            </a:r>
          </a:p>
          <a:p xmlns:a="http://schemas.openxmlformats.org/drawingml/2006/main">
            <a:r>
              <a:t>      },</a:t>
            </a:r>
          </a:p>
          <a:p xmlns:a="http://schemas.openxmlformats.org/drawingml/2006/main">
            <a:r>
              <a:t>      {</a:t>
            </a:r>
          </a:p>
          <a:p xmlns:a="http://schemas.openxmlformats.org/drawingml/2006/main">
            <a:r>
              <a:t>        "id": "SFR-008",</a:t>
            </a:r>
          </a:p>
          <a:p xmlns:a="http://schemas.openxmlformats.org/drawingml/2006/main">
            <a:r>
              <a:t>        "title": "AI 서비스_지능형 민원처리 시스템",</a:t>
            </a:r>
          </a:p>
          <a:p xmlns:a="http://schemas.openxmlformats.org/drawingml/2006/main">
            <a:r>
              <a:t>        "locator": "SFR-008",</a:t>
            </a:r>
          </a:p>
          <a:p xmlns:a="http://schemas.openxmlformats.org/drawingml/2006/main">
            <a:r>
              <a:t>        "summary": "민원 부서 후보 추천, 유사민원 검색, 답변 초안·요약 제공. 사용자의 부서 선택·답변 확정과 담당 부서의 FAQ 후보 승인.",</a:t>
            </a:r>
          </a:p>
          <a:p xmlns:a="http://schemas.openxmlformats.org/drawingml/2006/main">
            <a:r>
              <a:t>        "data": "민원·지역·업무 유형 → 후보 부서·유사 사례·근거·답변 초안",</a:t>
            </a:r>
          </a:p>
          <a:p xmlns:a="http://schemas.openxmlformats.org/drawingml/2006/main">
            <a:r>
              <a:t>        "components": [</a:t>
            </a:r>
          </a:p>
          <a:p xmlns:a="http://schemas.openxmlformats.org/drawingml/2006/main">
            <a:r>
              <a:t>          "C02",</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"다부서 민원·유사사례 없음·FAQ 중복 입력 시 후보와 규정 대체 근거, 확정 전후 변경 이력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"8ab0ac34f0143f16766050d69a0283c485e048e2b4d17f33befa947fd660c3aa"</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"직원·문서 접점",</a:t>
            </a:r>
          </a:p>
          <a:p xmlns:a="http://schemas.openxmlformats.org/drawingml/2006/main">
            <a:r>
              <a:t>          "layer": "이용 접점",</a:t>
            </a:r>
          </a:p>
          <a:p xmlns:a="http://schemas.openxmlformats.org/drawingml/2006/main">
            <a:r>
              <a:t>          "detail": "심사 직원·민원 담당·지식 관리자",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"SSO·사건·권한",</a:t>
            </a:r>
          </a:p>
          <a:p xmlns:a="http://schemas.openxmlformats.org/drawingml/2006/main">
            <a:r>
              <a:t>          "layer": "업무 문맥",</a:t>
            </a:r>
          </a:p>
          <a:p xmlns:a="http://schemas.openxmlformats.org/drawingml/2006/main">
            <a:r>
              <a:t>          "detail": "SSO·문서 접근권한·사건별 서류 묶음",</a:t>
            </a:r>
          </a:p>
          <a:p xmlns:a="http://schemas.openxmlformats.org/drawingml/2006/main">
            <a:r>
              <a:t>          "requirements": [</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"문서·규정 조회",</a:t>
            </a:r>
          </a:p>
          <a:p xmlns:a="http://schemas.openxmlformats.org/drawingml/2006/main">
            <a:r>
              <a:t>          "layer": "자료 조회",</a:t>
            </a:r>
          </a:p>
          <a:p xmlns:a="http://schemas.openxmlformats.org/drawingml/2006/main">
            <a:r>
              <a:t>          "detail": "보증 원문",</a:t>
            </a:r>
          </a:p>
          <a:p xmlns:a="http://schemas.openxmlformats.org/drawingml/2006/main">
            <a:r>
              <a:t>          "requirements": [</a:t>
            </a:r>
          </a:p>
          <a:p xmlns:a="http://schemas.openxmlformats.org/drawingml/2006/main">
            <a:r>
              <a:t>            "SFR-006",</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"OCR·VLM 추출",</a:t>
            </a:r>
          </a:p>
          <a:p xmlns:a="http://schemas.openxmlformats.org/drawingml/2006/main">
            <a:r>
              <a:t>          "layer": "핵심 처리",</a:t>
            </a:r>
          </a:p>
          <a:p xmlns:a="http://schemas.openxmlformats.org/drawingml/2006/main">
            <a:r>
              <a:t>          "detail": "OCR/VLM 추출 모듈과 정합성 비교 모듈 분리",</a:t>
            </a:r>
          </a:p>
          <a:p xmlns:a="http://schemas.openxmlformats.org/drawingml/2006/main">
            <a:r>
              <a:t>          "requirements": [</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"누락·정합성 비교",</a:t>
            </a:r>
          </a:p>
          <a:p xmlns:a="http://schemas.openxmlformats.org/drawingml/2006/main">
            <a:r>
              <a:t>          "layer": "결과 검증",</a:t>
            </a:r>
          </a:p>
          <a:p xmlns:a="http://schemas.openxmlformats.org/drawingml/2006/main">
            <a:r>
              <a:t>          "detail": "원본·추출값 대조와 자동 확정 제한",</a:t>
            </a:r>
          </a:p>
          <a:p xmlns:a="http://schemas.openxmlformats.org/drawingml/2006/main">
            <a:r>
              <a:t>          "requirements": [</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"원본·값 사람 확인",</a:t>
            </a:r>
          </a:p>
          <a:p xmlns:a="http://schemas.openxmlformats.org/drawingml/2006/main">
            <a:r>
              <a:t>          "layer": "사람 확인",</a:t>
            </a:r>
          </a:p>
          <a:p xmlns:a="http://schemas.openxmlformats.org/drawingml/2006/main">
            <a:r>
              <a:t>          "detail": "한 사건의 신청 서류에서 필수 항목과 문서 간 일치 여부 확인",</a:t>
            </a:r>
          </a:p>
          <a:p xmlns:a="http://schemas.openxmlformats.org/drawingml/2006/main">
            <a:r>
              <a:t>          "requirements": [</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"심사·민원 초안",</a:t>
            </a:r>
          </a:p>
          <a:p xmlns:a="http://schemas.openxmlformats.org/drawingml/2006/main">
            <a:r>
              <a:t>          "layer": "업무 연결",</a:t>
            </a:r>
          </a:p>
          <a:p xmlns:a="http://schemas.openxmlformats.org/drawingml/2006/main">
            <a:r>
              <a:t>          "detail": "불일치·누락 항목을 원본과 함께 심사자에게 제공",</a:t>
            </a:r>
          </a:p>
          <a:p xmlns:a="http://schemas.openxmlformats.org/drawingml/2006/main">
            <a:r>
              <a:t>          "requirements": [</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"항목별 오류 평가",</a:t>
            </a:r>
          </a:p>
          <a:p xmlns:a="http://schemas.openxmlformats.org/drawingml/2006/main">
            <a:r>
              <a:t>          "layer": "운영 관측",</a:t>
            </a:r>
          </a:p>
          <a:p xmlns:a="http://schemas.openxmlformats.org/drawingml/2006/main">
            <a:r>
              <a:t>          "detail": "사람 확정값과 인식 오류를 품질 개선에 반영",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"이행서류·규정",</a:t>
            </a:r>
          </a:p>
          <a:p xmlns:a="http://schemas.openxmlformats.org/drawingml/2006/main">
            <a:r>
              <a:t>          "layer": "데이터 원천",</a:t>
            </a:r>
          </a:p>
          <a:p xmlns:a="http://schemas.openxmlformats.org/drawingml/2006/main">
            <a:r>
              <a:t>          "detail": "원본·추출 항목",</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"좌표·판본·승인태그",</a:t>
            </a:r>
          </a:p>
          <a:p xmlns:a="http://schemas.openxmlformats.org/drawingml/2006/main">
            <a:r>
              <a:t>          "layer": "준비·갱신",</a:t>
            </a:r>
          </a:p>
          <a:p xmlns:a="http://schemas.openxmlformats.org/drawingml/2006/main">
            <a:r>
              <a:t>          "detail": "원문 좌표·추출값·문서 판본·승인상태 연결",</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"원본·추출값·색인",</a:t>
            </a:r>
          </a:p>
          <a:p xmlns:a="http://schemas.openxmlformats.org/drawingml/2006/main">
            <a:r>
              <a:t>          "layer": "상태·지식 저장",</a:t>
            </a:r>
          </a:p>
          <a:p xmlns:a="http://schemas.openxmlformats.org/drawingml/2006/main">
            <a:r>
              <a:t>          "detail": "추출값–원본 좌표–불일치 판정–심사자 확정 추적표",</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"문서별 접근정책",</a:t>
            </a:r>
          </a:p>
          <a:p xmlns:a="http://schemas.openxmlformats.org/drawingml/2006/main">
            <a:r>
              <a:t>          "layer": "권한·정책",</a:t>
            </a:r>
          </a:p>
          <a:p xmlns:a="http://schemas.openxmlformats.org/drawingml/2006/main">
            <a:r>
              <a:t>          "detail": "스캔 저화질·서명 누락·주소 불일치·다른 사건 서류",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"SSO·문서 접근권한·사건별 서류 묶음",</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"보증 원문",</a:t>
            </a:r>
          </a:p>
          <a:p xmlns:a="http://schemas.openxmlformats.org/drawingml/2006/main">
            <a:r>
              <a:t>          "check": "원본·추출값 대조와 자동 확정 제한"</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"추출 항목",</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"원문 좌표·추출 항목·인식 신뢰도",</a:t>
            </a:r>
          </a:p>
          <a:p xmlns:a="http://schemas.openxmlformats.org/drawingml/2006/main">
            <a:r>
              <a:t>          "check": "스캔 저화질·서명 누락·주소 불일치·다른 사건 서류"</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"누락·불일치",</a:t>
            </a:r>
          </a:p>
          <a:p xmlns:a="http://schemas.openxmlformats.org/drawingml/2006/main">
            <a:r>
              <a:t>          "check": "불일치·누락 항목을 원본과 함께 심사자에게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 결과",</a:t>
            </a:r>
          </a:p>
          <a:p xmlns:a="http://schemas.openxmlformats.org/drawingml/2006/main">
            <a:r>
              <a:t>          "check": "추출값–원본 좌표–불일치 판정–심사자 확정 추적표"</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"SFR-006~008",</a:t>
            </a:r>
          </a:p>
          <a:p xmlns:a="http://schemas.openxmlformats.org/drawingml/2006/main">
            <a:r>
              <a:t>        "extracted": "OCR/VLM 항목 추출과 문서 정합성 비교의 분리",</a:t>
            </a:r>
          </a:p>
          <a:p xmlns:a="http://schemas.openxmlformats.org/drawingml/2006/main">
            <a:r>
              <a:t>        "extension": "문서 좌표·추출값과 심사 확정값의 별도 보존"</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"PF-R01",</a:t>
            </a:r>
          </a:p>
          <a:p xmlns:a="http://schemas.openxmlformats.org/drawingml/2006/main">
            <a:r>
              <a:t>          "path": "assets/casebook-sources/PF-R01-01.png",</a:t>
            </a:r>
          </a:p>
          <a:p xmlns:a="http://schemas.openxmlformats.org/drawingml/2006/main">
            <a:r>
              <a:t>          "title": "HUG AI 인프라·업무시스템 연계",</a:t>
            </a:r>
          </a:p>
          <a:p xmlns:a="http://schemas.openxmlformats.org/drawingml/2006/main">
            <a:r>
              <a:t>          "status": "RFP 목표 구성도",</a:t>
            </a:r>
          </a:p>
          <a:p xmlns:a="http://schemas.openxmlformats.org/drawingml/2006/main">
            <a:r>
              <a:t>          "caption": "통합 클라우드·GPU Kubernetes·AI 웹서비스·그룹웨어 연계",</a:t>
            </a:r>
          </a:p>
          <a:p xmlns:a="http://schemas.openxmlformats.org/drawingml/2006/main">
            <a:r>
              <a:t>          "locator": "rId10 / BinData/image4_jpg",</a:t>
            </a:r>
          </a:p>
          <a:p xmlns:a="http://schemas.openxmlformats.org/drawingml/2006/main">
            <a:r>
              <a:t>          "checked": "2026-10-16",</a:t>
            </a:r>
          </a:p>
          <a:p xmlns:a="http://schemas.openxmlformats.org/drawingml/2006/main">
            <a:r>
              <a:t>          "sha256": "435b1f344867be6beab5f24852d1c79cba1e48a9361c9e0976f78dab55a1e9c9",</a:t>
            </a:r>
          </a:p>
          <a:p xmlns:a="http://schemas.openxmlformats.org/drawingml/2006/main">
            <a:r>
              <a:t>          "explanation": {</a:t>
            </a:r>
          </a:p>
          <a:p xmlns:a="http://schemas.openxmlformats.org/drawingml/2006/main">
            <a:r>
              <a:t>            "read": "클라우드·GPU Kubernetes는 AI 처리 자원, 웹서비스는 직원 접점, 그룹웨어는 기존 업무와의 연결 영역. 인프라 블록만으로 문서 심사 승인 절차까지 구현됐다고 해석하지 않는 구조.",</a:t>
            </a:r>
          </a:p>
          <a:p xmlns:a="http://schemas.openxmlformats.org/drawingml/2006/main">
            <a:r>
              <a:t>            "requirements": [</a:t>
            </a:r>
          </a:p>
          <a:p xmlns:a="http://schemas.openxmlformats.org/drawingml/2006/main">
            <a:r>
              <a:t>              "SFR-006",</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"connection": "문서 반입·검색·추출은 공통 자원을 사용하되 지식검색, 보증이행 심사, 민원답변의 결과 저장·승인 경로는 각각 분리하는 CCK 재구성."</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"스캔 저화질·서명 누락·주소 불일치·다른 사건 서류",</a:t>
            </a:r>
          </a:p>
          <a:p xmlns:a="http://schemas.openxmlformats.org/drawingml/2006/main">
            <a:r>
              <a:t>        "hold": "원본·추출값 대조와 자동 확정 제한",</a:t>
            </a:r>
          </a:p>
          <a:p xmlns:a="http://schemas.openxmlformats.org/drawingml/2006/main">
            <a:r>
              <a:t>        "recovery": "사람 확정값과 인식 오류를 품질 개선에 반영",</a:t>
            </a:r>
          </a:p>
          <a:p xmlns:a="http://schemas.openxmlformats.org/drawingml/2006/main">
            <a:r>
              <a:t>        "evidence": "추출값–원본 좌표–불일치 판정–심사자 확정 추적표"</a:t>
            </a:r>
          </a:p>
          <a:p xmlns:a="http://schemas.openxmlformats.org/drawingml/2006/main">
            <a:r>
              <a:t>      },</a:t>
            </a:r>
          </a:p>
          <a:p xmlns:a="http://schemas.openxmlformats.org/drawingml/2006/main">
            <a:r>
              <a:t>      "data": {</a:t>
            </a:r>
          </a:p>
          <a:p xmlns:a="http://schemas.openxmlformats.org/drawingml/2006/main">
            <a:r>
              <a:t>        "source": "원본·추출 항목",</a:t>
            </a:r>
          </a:p>
          <a:p xmlns:a="http://schemas.openxmlformats.org/drawingml/2006/main">
            <a:r>
              <a:t>        "prepare": "원문 좌표·추출값·문서 판본·승인상태 연결",</a:t>
            </a:r>
          </a:p>
          <a:p xmlns:a="http://schemas.openxmlformats.org/drawingml/2006/main">
            <a:r>
              <a:t>        "output": "보증 원문",</a:t>
            </a:r>
          </a:p>
          <a:p xmlns:a="http://schemas.openxmlformats.org/drawingml/2006/main">
            <a:r>
              <a:t>        "refresh": "사람 확정값과 인식 오류를 품질 개선에 반영"</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"PF-R01",</a:t>
            </a:r>
          </a:p>
          <a:p xmlns:a="http://schemas.openxmlformats.org/drawingml/2006/main">
            <a:r>
              <a:t>    "success": [</a:t>
            </a:r>
          </a:p>
          <a:p xmlns:a="http://schemas.openxmlformats.org/drawingml/2006/main">
            <a:r>
              <a:t>      "보증서류와 검토 규칙의 연결",</a:t>
            </a:r>
          </a:p>
          <a:p xmlns:a="http://schemas.openxmlformats.org/drawingml/2006/main">
            <a:r>
              <a:t>      "검색·민원 지원의 공통 기반 활용"</a:t>
            </a:r>
          </a:p>
          <a:p xmlns:a="http://schemas.openxmlformats.org/drawingml/2006/main">
            <a:r>
              <a:t>    ],</a:t>
            </a:r>
          </a:p>
          <a:p xmlns:a="http://schemas.openxmlformats.org/drawingml/2006/main">
            <a:r>
              <a:t>    "risks": [</a:t>
            </a:r>
          </a:p>
          <a:p xmlns:a="http://schemas.openxmlformats.org/drawingml/2006/main">
            <a:r>
              <a:t>      "OCR 오독에 따른 누락 판단",</a:t>
            </a:r>
          </a:p>
          <a:p xmlns:a="http://schemas.openxmlformats.org/drawingml/2006/main">
            <a:r>
              <a:t>      "요구 명세와 운영 효과의 혼동"</a:t>
            </a:r>
          </a:p>
          <a:p xmlns:a="http://schemas.openxmlformats.org/drawingml/2006/main">
            <a:r>
              <a:t>    ],</a:t>
            </a:r>
          </a:p>
          <a:p xmlns:a="http://schemas.openxmlformats.org/drawingml/2006/main">
            <a:r>
              <a:t>    "architecture": [</a:t>
            </a:r>
          </a:p>
          <a:p xmlns:a="http://schemas.openxmlformats.org/drawingml/2006/main">
            <a:r>
              <a:t>      "보증 문서 접수",</a:t>
            </a:r>
          </a:p>
          <a:p xmlns:a="http://schemas.openxmlformats.org/drawingml/2006/main">
            <a:r>
              <a:t>      "OCR·규칙 검토",</a:t>
            </a:r>
          </a:p>
          <a:p xmlns:a="http://schemas.openxmlformats.org/drawingml/2006/main">
            <a:r>
              <a:t>      "원본·추출 항목",</a:t>
            </a:r>
          </a:p>
          <a:p xmlns:a="http://schemas.openxmlformats.org/drawingml/2006/main">
            <a:r>
              <a:t>      "보증·민원 담당"</a:t>
            </a:r>
          </a:p>
          <a:p xmlns:a="http://schemas.openxmlformats.org/drawingml/2006/main">
            <a:r>
              <a:t>    ],</a:t>
            </a:r>
          </a:p>
          <a:p xmlns:a="http://schemas.openxmlformats.org/drawingml/2006/main">
            <a:r>
              <a:t>    "transfers": [</a:t>
            </a:r>
          </a:p>
          <a:p xmlns:a="http://schemas.openxmlformats.org/drawingml/2006/main">
            <a:r>
              <a:t>      "보증 원문",</a:t>
            </a:r>
          </a:p>
          <a:p xmlns:a="http://schemas.openxmlformats.org/drawingml/2006/main">
            <a:r>
              <a:t>      "추출 항목",</a:t>
            </a:r>
          </a:p>
          <a:p xmlns:a="http://schemas.openxmlformats.org/drawingml/2006/main">
            <a:r>
              <a:t>      "누락·불일치",</a:t>
            </a:r>
          </a:p>
          <a:p xmlns:a="http://schemas.openxmlformats.org/drawingml/2006/main">
            <a:r>
              <a:t>      "검토 결과"</a:t>
            </a:r>
          </a:p>
          <a:p xmlns:a="http://schemas.openxmlformats.org/drawingml/2006/main">
            <a:r>
              <a:t>    ],</a:t>
            </a:r>
          </a:p>
          <a:p xmlns:a="http://schemas.openxmlformats.org/drawingml/2006/main">
            <a:r>
              <a:t>    "control": "원본·추출값 대조와 자동 확정 제한",</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SFR-006~008, PMR-004~005 / Word T026 https://www.g2b.go.kr/pn/pnp/pnpe/UntyAtchFile/downloadFile.do?bidPbancNo=R26BK01639098&amp;bidPbancOrd=000&amp;fileSeq=3&amp;fileType=&amp;prcmBsneSeCd=03</a:t>
            </a:r>
          </a:p>
          <a:p xmlns:a="http://schemas.openxmlformats.org/drawingml/2006/main">
            <a:r>
              <a:t>홈페이지 https://heen1987-ops.github.io/TS-business-Plan-001/index.html?view=platform-cases&amp;case=PF-R01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"PF-R01",</a:t>
            </a:r>
          </a:p>
          <a:p xmlns:a="http://schemas.openxmlformats.org/drawingml/2006/main">
            <a:r>
              <a:t>    "sourceId": "R01",</a:t>
            </a:r>
          </a:p>
          <a:p xmlns:a="http://schemas.openxmlformats.org/drawingml/2006/main">
            <a:r>
              <a:t>    "title": "HUG 문서·민원 AI",</a:t>
            </a:r>
          </a:p>
          <a:p xmlns:a="http://schemas.openxmlformats.org/drawingml/2006/main">
            <a:r>
              <a:t>    "region": "국내",</a:t>
            </a:r>
          </a:p>
          <a:p xmlns:a="http://schemas.openxmlformats.org/drawingml/2006/main">
            <a:r>
              <a:t>    "owner": "주택도시보증공사(HUG)",</a:t>
            </a:r>
          </a:p>
          <a:p xmlns:a="http://schemas.openxmlformats.org/drawingml/2006/main">
            <a:r>
              <a:t>    "state": "RFP 확인 / 실제 운영·검수 미확인",</a:t>
            </a:r>
          </a:p>
          <a:p xmlns:a="http://schemas.openxmlformats.org/drawingml/2006/main">
            <a:r>
              <a:t>    "period": "기존 원장 확인 2026.10.16",</a:t>
            </a:r>
          </a:p>
          <a:p xmlns:a="http://schemas.openxmlformats.org/drawingml/2006/main">
            <a:r>
              <a:t>    "fact": "직원 검색·전세보증 이행서류 검토·민원 지원을 공통 플랫폼에 구성",</a:t>
            </a:r>
          </a:p>
          <a:p xmlns:a="http://schemas.openxmlformats.org/drawingml/2006/main">
            <a:r>
              <a:t>    "limit": "전세보증과 TS 전세버스는 업무 기준이 다름. 공통 기능만 이식 가능",</a:t>
            </a:r>
          </a:p>
          <a:p xmlns:a="http://schemas.openxmlformats.org/drawingml/2006/main">
            <a:r>
              <a:t>    "nodes": [</a:t>
            </a:r>
          </a:p>
          <a:p xmlns:a="http://schemas.openxmlformats.org/drawingml/2006/main">
            <a:r>
              <a:t>      "보증 서류",</a:t>
            </a:r>
          </a:p>
          <a:p xmlns:a="http://schemas.openxmlformats.org/drawingml/2006/main">
            <a:r>
              <a:t>      "OCR·원본 대조",</a:t>
            </a:r>
          </a:p>
          <a:p xmlns:a="http://schemas.openxmlformats.org/drawingml/2006/main">
            <a:r>
              <a:t>      "규칙·누락 검토",</a:t>
            </a:r>
          </a:p>
          <a:p xmlns:a="http://schemas.openxmlformats.org/drawingml/2006/main">
            <a:r>
              <a:t>      "담당자 확정"</a:t>
            </a:r>
          </a:p>
          <a:p xmlns:a="http://schemas.openxmlformats.org/drawingml/2006/main">
            <a:r>
              <a:t>    ],</a:t>
            </a:r>
          </a:p>
          <a:p xmlns:a="http://schemas.openxmlformats.org/drawingml/2006/main">
            <a:r>
              <a:t>    "apply": "심사 서류의 추출값과 원본 위치를 연결하고 담당자가 최종 판정하는 증거 중심 검토",</a:t>
            </a:r>
          </a:p>
          <a:p xmlns:a="http://schemas.openxmlformats.org/drawingml/2006/main">
            <a:r>
              <a:t>    "delta": "서류 종류·필수항목 사전 / 추출값–원본 좌표 / 사건별 비교 규칙",</a:t>
            </a:r>
          </a:p>
          <a:p xmlns:a="http://schemas.openxmlformats.org/drawingml/2006/main">
            <a:r>
              <a:t>    "test": "저화질·누락·다른 사건 서류 주입 후 원본 대조·판정 보류 확인",</a:t>
            </a:r>
          </a:p>
          <a:p xmlns:a="http://schemas.openxmlformats.org/drawingml/2006/main">
            <a:r>
              <a:t>    "url": "https://www.g2b.go.kr/pn/pnp/pnpe/UntyAtchFile/downloadFile.do?bidPbancNo=R26BK01639098&amp;bidPbancOrd=000&amp;fileSeq=3&amp;fileType=&amp;prcmBsneSeCd=03",</a:t>
            </a:r>
          </a:p>
          <a:p xmlns:a="http://schemas.openxmlformats.org/drawingml/2006/main">
            <a:r>
              <a:t>    "urls": [</a:t>
            </a:r>
          </a:p>
          <a:p xmlns:a="http://schemas.openxmlformats.org/drawingml/2006/main">
            <a:r>
              <a:t>      "https://www.g2b.go.kr/pn/pnp/pnpe/UntyAtchFile/downloadFile.do?bidPbancNo=R26BK01639098&amp;bidPbancOrd=000&amp;fileSeq=3&amp;fileType=&amp;prcmBsneSeCd=03"</a:t>
            </a:r>
          </a:p>
          <a:p xmlns:a="http://schemas.openxmlformats.org/drawingml/2006/main">
            <a:r>
              <a:t>    ],</a:t>
            </a:r>
          </a:p>
          <a:p xmlns:a="http://schemas.openxmlformats.org/drawingml/2006/main">
            <a:r>
              <a:t>    "basis": "SFR-006~008, PMR-004~005 / Word T026",</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"심사 검토시간 / 필수 항목 누락률 / 재보완 횟수",</a:t>
            </a:r>
          </a:p>
          <a:p xmlns:a="http://schemas.openxmlformats.org/drawingml/2006/main">
            <a:r>
              <a:t>    "group": "요구·구축",</a:t>
            </a:r>
          </a:p>
          <a:p xmlns:a="http://schemas.openxmlformats.org/drawingml/2006/main">
            <a:r>
              <a:t>    "sourceDetail": "OCR/VLM→추출값·원본 매핑→누락·정합성 비교→사람 확정; 문서 승인·버전·권한별 RAG 분리",</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"PF-R01",</a:t>
            </a:r>
          </a:p>
          <a:p xmlns:a="http://schemas.openxmlformats.org/drawingml/2006/main">
            <a:r>
              <a:t>    "canonicalId": "PF-R01",</a:t>
            </a:r>
          </a:p>
          <a:p xmlns:a="http://schemas.openxmlformats.org/drawingml/2006/main">
            <a:r>
              <a:t>    "purpose": "보증 이행서류 검토와 민원업무의 공통 AI화",</a:t>
            </a:r>
          </a:p>
          <a:p xmlns:a="http://schemas.openxmlformats.org/drawingml/2006/main">
            <a:r>
              <a:t>    "users": "심사 직원·민원 담당·지식 관리자",</a:t>
            </a:r>
          </a:p>
          <a:p xmlns:a="http://schemas.openxmlformats.org/drawingml/2006/main">
            <a:r>
              <a:t>    "scope": [</a:t>
            </a:r>
          </a:p>
          <a:p xmlns:a="http://schemas.openxmlformats.org/drawingml/2006/main">
            <a:r>
              <a:t>      "직원 검색",</a:t>
            </a:r>
          </a:p>
          <a:p xmlns:a="http://schemas.openxmlformats.org/drawingml/2006/main">
            <a:r>
              <a:t>      "이행서류 검토",</a:t>
            </a:r>
          </a:p>
          <a:p xmlns:a="http://schemas.openxmlformats.org/drawingml/2006/main">
            <a:r>
              <a:t>      "민원 지원"</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"보증 문서 접수",</a:t>
            </a:r>
          </a:p>
          <a:p xmlns:a="http://schemas.openxmlformats.org/drawingml/2006/main">
            <a:r>
              <a:t>        "detail": "SSO·문서 접근권한·사건별 서류 묶음",</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"직원 검색 / 이행서류 검토 / 민원 지원",</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"OCR·규칙 검토",</a:t>
            </a:r>
          </a:p>
          <a:p xmlns:a="http://schemas.openxmlformats.org/drawingml/2006/main">
            <a:r>
              <a:t>        "detail": "OCR/VLM 추출 모듈과 정합성 비교 모듈 분리",</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"보증·민원 담당",</a:t>
            </a:r>
          </a:p>
          <a:p xmlns:a="http://schemas.openxmlformats.org/drawingml/2006/main">
            <a:r>
              <a:t>        "detail": "불일치·누락 항목을 원본과 함께 심사자에게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"원본·추출 항목",</a:t>
            </a:r>
          </a:p>
          <a:p xmlns:a="http://schemas.openxmlformats.org/drawingml/2006/main">
            <a:r>
              <a:t>        "detail": "원문 좌표·추출값·문서 판본·승인상태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"사람 확정값과 인식 오류를 품질 개선에 반영",</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"보증 서류",</a:t>
            </a:r>
          </a:p>
          <a:p xmlns:a="http://schemas.openxmlformats.org/drawingml/2006/main">
            <a:r>
              <a:t>        "input": "SSO·문서 접근권한·사건별 서류 묶음",</a:t>
            </a:r>
          </a:p>
          <a:p xmlns:a="http://schemas.openxmlformats.org/drawingml/2006/main">
            <a:r>
              <a:t>        "process": "원문 좌표·추출값·문서 판본·승인상태 연결",</a:t>
            </a:r>
          </a:p>
          <a:p xmlns:a="http://schemas.openxmlformats.org/drawingml/2006/main">
            <a:r>
              <a:t>        "output": "보증 원문"</a:t>
            </a:r>
          </a:p>
          <a:p xmlns:a="http://schemas.openxmlformats.org/drawingml/2006/main">
            <a:r>
              <a:t>      },</a:t>
            </a:r>
          </a:p>
          <a:p xmlns:a="http://schemas.openxmlformats.org/drawingml/2006/main">
            <a:r>
              <a:t>      {</a:t>
            </a:r>
          </a:p>
          <a:p xmlns:a="http://schemas.openxmlformats.org/drawingml/2006/main">
            <a:r>
              <a:t>        "title": "OCR·원본 대조",</a:t>
            </a:r>
          </a:p>
          <a:p xmlns:a="http://schemas.openxmlformats.org/drawingml/2006/main">
            <a:r>
              <a:t>        "input": "보증 원문",</a:t>
            </a:r>
          </a:p>
          <a:p xmlns:a="http://schemas.openxmlformats.org/drawingml/2006/main">
            <a:r>
              <a:t>        "process": "OCR/VLM 추출 모듈과 정합성 비교 모듈 분리",</a:t>
            </a:r>
          </a:p>
          <a:p xmlns:a="http://schemas.openxmlformats.org/drawingml/2006/main">
            <a:r>
              <a:t>        "output": "추출 항목"</a:t>
            </a:r>
          </a:p>
          <a:p xmlns:a="http://schemas.openxmlformats.org/drawingml/2006/main">
            <a:r>
              <a:t>      },</a:t>
            </a:r>
          </a:p>
          <a:p xmlns:a="http://schemas.openxmlformats.org/drawingml/2006/main">
            <a:r>
              <a:t>      {</a:t>
            </a:r>
          </a:p>
          <a:p xmlns:a="http://schemas.openxmlformats.org/drawingml/2006/main">
            <a:r>
              <a:t>        "title": "규칙·누락 검토",</a:t>
            </a:r>
          </a:p>
          <a:p xmlns:a="http://schemas.openxmlformats.org/drawingml/2006/main">
            <a:r>
              <a:t>        "input": "추출 항목",</a:t>
            </a:r>
          </a:p>
          <a:p xmlns:a="http://schemas.openxmlformats.org/drawingml/2006/main">
            <a:r>
              <a:t>        "process": "원본·추출값 대조와 자동 확정 제한",</a:t>
            </a:r>
          </a:p>
          <a:p xmlns:a="http://schemas.openxmlformats.org/drawingml/2006/main">
            <a:r>
              <a:t>        "output": "누락·불일치"</a:t>
            </a:r>
          </a:p>
          <a:p xmlns:a="http://schemas.openxmlformats.org/drawingml/2006/main">
            <a:r>
              <a:t>      },</a:t>
            </a:r>
          </a:p>
          <a:p xmlns:a="http://schemas.openxmlformats.org/drawingml/2006/main">
            <a:r>
              <a:t>      {</a:t>
            </a:r>
          </a:p>
          <a:p xmlns:a="http://schemas.openxmlformats.org/drawingml/2006/main">
            <a:r>
              <a:t>        "title": "담당자 확정",</a:t>
            </a:r>
          </a:p>
          <a:p xmlns:a="http://schemas.openxmlformats.org/drawingml/2006/main">
            <a:r>
              <a:t>        "input": "누락·불일치",</a:t>
            </a:r>
          </a:p>
          <a:p xmlns:a="http://schemas.openxmlformats.org/drawingml/2006/main">
            <a:r>
              <a:t>        "process": "불일치·누락 항목을 원본과 함께 심사자에게 제공",</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"한 사건의 신청 서류에서 필수 항목과 문서 간 일치 여부 확인",</a:t>
            </a:r>
          </a:p>
          <a:p xmlns:a="http://schemas.openxmlformats.org/drawingml/2006/main">
            <a:r>
              <a:t>      "exception": "스캔 저화질·서명 누락·주소 불일치·다른 사건 서류",</a:t>
            </a:r>
          </a:p>
          <a:p xmlns:a="http://schemas.openxmlformats.org/drawingml/2006/main">
            <a:r>
              <a:t>      "evidence": "추출값–원본 좌표–불일치 판정–심사자 확정 추적표",</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"심사 직원·민원 담당·지식 관리자",</a:t>
            </a:r>
          </a:p>
          <a:p xmlns:a="http://schemas.openxmlformats.org/drawingml/2006/main">
            <a:r>
              <a:t>          "processing": "SSO·문서 접근권한·사건별 서류 묶음",</a:t>
            </a:r>
          </a:p>
          <a:p xmlns:a="http://schemas.openxmlformats.org/drawingml/2006/main">
            <a:r>
              <a:t>          "output": "보증 원문"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"원본·추출 항목",</a:t>
            </a:r>
          </a:p>
          <a:p xmlns:a="http://schemas.openxmlformats.org/drawingml/2006/main">
            <a:r>
              <a:t>          "processing": "원문 좌표·추출값·문서 판본·승인상태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"보증 원문",</a:t>
            </a:r>
          </a:p>
          <a:p xmlns:a="http://schemas.openxmlformats.org/drawingml/2006/main">
            <a:r>
              <a:t>          "processing": "OCR/VLM 추출 모듈과 정합성 비교 모듈 분리",</a:t>
            </a:r>
          </a:p>
          <a:p xmlns:a="http://schemas.openxmlformats.org/drawingml/2006/main">
            <a:r>
              <a:t>          "output": "누락·불일치"</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"누락·불일치",</a:t>
            </a:r>
          </a:p>
          <a:p xmlns:a="http://schemas.openxmlformats.org/drawingml/2006/main">
            <a:r>
              <a:t>          "processing": "불일치·누락 항목을 원본과 함께 심사자에게 제공",</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"사람 확정값과 인식 오류를 품질 개선에 반영",</a:t>
            </a:r>
          </a:p>
          <a:p xmlns:a="http://schemas.openxmlformats.org/drawingml/2006/main">
            <a:r>
              <a:t>          "output": "추출값–원본 좌표–불일치 판정–심사자 확정 추적표"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"사람 확정값과 인식 오류를 품질 개선에 반영",</a:t>
            </a:r>
          </a:p>
          <a:p xmlns:a="http://schemas.openxmlformats.org/drawingml/2006/main">
            <a:r>
              <a:t>    "status": "RFP 기반 논리 설계",</a:t>
            </a:r>
          </a:p>
          <a:p xmlns:a="http://schemas.openxmlformats.org/drawingml/2006/main">
            <a:r>
              <a:t>    "basis": "본공고 RFP · SFR-006~008",</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"SFR-006~008, PMR-004~005 / Word T026",</a:t>
            </a:r>
          </a:p>
          <a:p xmlns:a="http://schemas.openxmlformats.org/drawingml/2006/main">
            <a:r>
              <a:t>        "url": "https://www.g2b.go.kr/pn/pnp/pnpe/UntyAtchFile/downloadFile.do?bidPbancNo=R26BK01639098&amp;bidPbancOrd=000&amp;fileSeq=3&amp;fileType=&amp;prcmBsneSeCd=03"</a:t>
            </a:r>
          </a:p>
          <a:p xmlns:a="http://schemas.openxmlformats.org/drawingml/2006/main">
            <a:r>
              <a:t>      }</a:t>
            </a:r>
          </a:p>
          <a:p xmlns:a="http://schemas.openxmlformats.org/drawingml/2006/main">
            <a:r>
              <a:t>    ],</a:t>
            </a:r>
          </a:p>
          <a:p xmlns:a="http://schemas.openxmlformats.org/drawingml/2006/main">
            <a:r>
              <a:t>    "implication": "심사 서류의 추출값과 원본 위치를 연결하고 담당자가 최종 판정하는 증거 중심 검토",</a:t>
            </a:r>
          </a:p>
          <a:p xmlns:a="http://schemas.openxmlformats.org/drawingml/2006/main">
            <a:r>
              <a:t>    "local": "심사 서류의 추출값과 원본 위치를 연결하고 담당자가 최종 판정하는 증거 중심 검토",</a:t>
            </a:r>
          </a:p>
          <a:p xmlns:a="http://schemas.openxmlformats.org/drawingml/2006/main">
            <a:r>
              <a:t>    "sourceDetail": "OCR/VLM→추출값·원본 매핑→누락·정합성 비교→사람 확정; 문서 승인·버전·권한별 RAG 분리",</a:t>
            </a:r>
          </a:p>
          <a:p xmlns:a="http://schemas.openxmlformats.org/drawingml/2006/main">
            <a:r>
              <a:t>    "narrative": [</a:t>
            </a:r>
          </a:p>
          <a:p xmlns:a="http://schemas.openxmlformats.org/drawingml/2006/main">
            <a:r>
              <a:t>      "규정 검색, 전세보증 이행서류 심사, 민원 처리의 세 업무를 공통 AI 기반 위에 구성하는 사업. 심사자가 여러 서류의 주소·계약·보증정보를 맞춰 보는 과정과 민원 담당자가 관련 규정·과거 답변을 찾는 과정을 각각 지원하는 범위.",</a:t>
            </a:r>
          </a:p>
          <a:p xmlns:a="http://schemas.openxmlformats.org/drawingml/2006/main">
            <a:r>
              <a:t>      "SFR-007의 핵심은 OCR 도입을 넘어 업무 건별 서류 묶음, 원본 위치와 추출값의 연결, 서류 간 비교, 심사자 수정·승인, 승인값의 후속 전달까지 이어지는 처리 구조. 검색용 청크와 심사용 구조화 항목을 별도 데이터로 관리하는 설계 필요.",</a:t>
            </a:r>
          </a:p>
          <a:p xmlns:a="http://schemas.openxmlformats.org/drawingml/2006/main">
            <a:r>
              <a:t>      "원문 인식률만으로 심사 지원 품질을 평가하기 어려운 구조. 문서 종류별 항목 추출, 다른 서류 간 정합성 판정, 누락 탐지, 사람 확인 후 전달을 단계별로 분리해 비교할 대상. TS 검사·인증 서류에도 사건 ID와 원본 좌표를 유지하는 방식의 적용 가능성."</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"SFR-006",</a:t>
            </a:r>
          </a:p>
          <a:p xmlns:a="http://schemas.openxmlformats.org/drawingml/2006/main">
            <a:r>
              <a:t>        "title": "AI 서비스_직원용 지식검색",</a:t>
            </a:r>
          </a:p>
          <a:p xmlns:a="http://schemas.openxmlformats.org/drawingml/2006/main">
            <a:r>
              <a:t>        "locator": "SFR-006",</a:t>
            </a:r>
          </a:p>
          <a:p xmlns:a="http://schemas.openxmlformats.org/drawingml/2006/main">
            <a:r>
              <a:t>        "summary": "규정·매뉴얼·판례의 구조를 추출하고 키워드·문맥 검색을 결합하는 직원용 지식검색. 승인 문서의 판본·개정일·보안등급 관리와 근거 조항·페이지 제공.",</a:t>
            </a:r>
          </a:p>
          <a:p xmlns:a="http://schemas.openxmlformats.org/drawingml/2006/main">
            <a:r>
              <a:t>        "data": "승인 문서·질의·검색 조건 → 근거 청크·조항·페이지·답변",</a:t>
            </a:r>
          </a:p>
          <a:p xmlns:a="http://schemas.openxmlformats.org/drawingml/2006/main">
            <a:r>
              <a:t>        "components": [</a:t>
            </a:r>
          </a:p>
          <a:p xmlns:a="http://schemas.openxmlformats.org/drawingml/2006/main">
            <a:r>
              <a:t>          "C03",</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"표·각주 포함 문서, 개정·삭제 문서, 다른 보안등급 문서를 투입해 인용 위치·최신성·검색 제외 여부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"fcb9809f74155d757fc4e05a0ba909eee1de897f306e8e7f1cdd6551c6525a6f"</a:t>
            </a:r>
          </a:p>
          <a:p xmlns:a="http://schemas.openxmlformats.org/drawingml/2006/main">
            <a:r>
              <a:t>      },</a:t>
            </a:r>
          </a:p>
          <a:p xmlns:a="http://schemas.openxmlformats.org/drawingml/2006/main">
            <a:r>
              <a:t>      {</a:t>
            </a:r>
          </a:p>
          <a:p xmlns:a="http://schemas.openxmlformats.org/drawingml/2006/main">
            <a:r>
              <a:t>        "id": "SFR-007",</a:t>
            </a:r>
          </a:p>
          <a:p xmlns:a="http://schemas.openxmlformats.org/drawingml/2006/main">
            <a:r>
              <a:t>        "title": "AI 서비스_전세이행 업무지원",</a:t>
            </a:r>
          </a:p>
          <a:p xmlns:a="http://schemas.openxmlformats.org/drawingml/2006/main">
            <a:r>
              <a:t>        "locator": "SFR-007",</a:t>
            </a:r>
          </a:p>
          <a:p xmlns:a="http://schemas.openxmlformats.org/drawingml/2006/main">
            <a:r>
              <a:t>        "summary": "업무 건별 제출서류 묶음과 OCR/VLM 추출값 관리. 원본 좌표 표시, 필드 수정, 유효기간·누락·서류 간 일치 검사, 심사표 생성, 승인값의 후속 전달.",</a:t>
            </a:r>
          </a:p>
          <a:p xmlns:a="http://schemas.openxmlformats.org/drawingml/2006/main">
            <a:r>
              <a:t>        "data": "사건 ID·서류·원본 좌표 → 항목값·불일치 목록·심사표·승인 상태",</a:t>
            </a:r>
          </a:p>
          <a:p xmlns:a="http://schemas.openxmlformats.org/drawingml/2006/main">
            <a:r>
              <a:t>        "components": [</a:t>
            </a:r>
          </a:p>
          <a:p xmlns:a="http://schemas.openxmlformats.org/drawingml/2006/main">
            <a:r>
              <a:t>          "C04",</a:t>
            </a:r>
          </a:p>
          <a:p xmlns:a="http://schemas.openxmlformats.org/drawingml/2006/main">
            <a:r>
              <a:t>          "C05",</a:t>
            </a:r>
          </a:p>
          <a:p xmlns:a="http://schemas.openxmlformats.org/drawingml/2006/main">
            <a:r>
              <a:t>          "C06",</a:t>
            </a:r>
          </a:p>
          <a:p xmlns:a="http://schemas.openxmlformats.org/drawingml/2006/main">
            <a:r>
              <a:t>          "C07"</a:t>
            </a:r>
          </a:p>
          <a:p xmlns:a="http://schemas.openxmlformats.org/drawingml/2006/main">
            <a:r>
              <a:t>        ],</a:t>
            </a:r>
          </a:p>
          <a:p xmlns:a="http://schemas.openxmlformats.org/drawingml/2006/main">
            <a:r>
              <a:t>        "acceptance": "흐린 스캔·다른 주소·누락 서류를 투입해 경고와 원본 위치 확인, 미승인 값의 전달 차단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"425cf0594ef5751da0b20f6a635f6c48577778b07fc85d00329082de815934fc"</a:t>
            </a:r>
          </a:p>
          <a:p xmlns:a="http://schemas.openxmlformats.org/drawingml/2006/main">
            <a:r>
              <a:t>      },</a:t>
            </a:r>
          </a:p>
          <a:p xmlns:a="http://schemas.openxmlformats.org/drawingml/2006/main">
            <a:r>
              <a:t>      {</a:t>
            </a:r>
          </a:p>
          <a:p xmlns:a="http://schemas.openxmlformats.org/drawingml/2006/main">
            <a:r>
              <a:t>        "id": "SFR-008",</a:t>
            </a:r>
          </a:p>
          <a:p xmlns:a="http://schemas.openxmlformats.org/drawingml/2006/main">
            <a:r>
              <a:t>        "title": "AI 서비스_지능형 민원처리 시스템",</a:t>
            </a:r>
          </a:p>
          <a:p xmlns:a="http://schemas.openxmlformats.org/drawingml/2006/main">
            <a:r>
              <a:t>        "locator": "SFR-008",</a:t>
            </a:r>
          </a:p>
          <a:p xmlns:a="http://schemas.openxmlformats.org/drawingml/2006/main">
            <a:r>
              <a:t>        "summary": "민원 부서 후보 추천, 유사민원 검색, 답변 초안·요약 제공. 사용자의 부서 선택·답변 확정과 담당 부서의 FAQ 후보 승인.",</a:t>
            </a:r>
          </a:p>
          <a:p xmlns:a="http://schemas.openxmlformats.org/drawingml/2006/main">
            <a:r>
              <a:t>        "data": "민원·지역·업무 유형 → 후보 부서·유사 사례·근거·답변 초안",</a:t>
            </a:r>
          </a:p>
          <a:p xmlns:a="http://schemas.openxmlformats.org/drawingml/2006/main">
            <a:r>
              <a:t>        "components": [</a:t>
            </a:r>
          </a:p>
          <a:p xmlns:a="http://schemas.openxmlformats.org/drawingml/2006/main">
            <a:r>
              <a:t>          "C02",</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"다부서 민원·유사사례 없음·FAQ 중복 입력 시 후보와 규정 대체 근거, 확정 전후 변경 이력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"8ab0ac34f0143f16766050d69a0283c485e048e2b4d17f33befa947fd660c3aa"</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"직원·문서 접점",</a:t>
            </a:r>
          </a:p>
          <a:p xmlns:a="http://schemas.openxmlformats.org/drawingml/2006/main">
            <a:r>
              <a:t>          "layer": "이용 접점",</a:t>
            </a:r>
          </a:p>
          <a:p xmlns:a="http://schemas.openxmlformats.org/drawingml/2006/main">
            <a:r>
              <a:t>          "detail": "심사 직원·민원 담당·지식 관리자",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"SSO·사건·권한",</a:t>
            </a:r>
          </a:p>
          <a:p xmlns:a="http://schemas.openxmlformats.org/drawingml/2006/main">
            <a:r>
              <a:t>          "layer": "업무 문맥",</a:t>
            </a:r>
          </a:p>
          <a:p xmlns:a="http://schemas.openxmlformats.org/drawingml/2006/main">
            <a:r>
              <a:t>          "detail": "SSO·문서 접근권한·사건별 서류 묶음",</a:t>
            </a:r>
          </a:p>
          <a:p xmlns:a="http://schemas.openxmlformats.org/drawingml/2006/main">
            <a:r>
              <a:t>          "requirements": [</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"문서·규정 조회",</a:t>
            </a:r>
          </a:p>
          <a:p xmlns:a="http://schemas.openxmlformats.org/drawingml/2006/main">
            <a:r>
              <a:t>          "layer": "자료 조회",</a:t>
            </a:r>
          </a:p>
          <a:p xmlns:a="http://schemas.openxmlformats.org/drawingml/2006/main">
            <a:r>
              <a:t>          "detail": "보증 원문",</a:t>
            </a:r>
          </a:p>
          <a:p xmlns:a="http://schemas.openxmlformats.org/drawingml/2006/main">
            <a:r>
              <a:t>          "requirements": [</a:t>
            </a:r>
          </a:p>
          <a:p xmlns:a="http://schemas.openxmlformats.org/drawingml/2006/main">
            <a:r>
              <a:t>            "SFR-006",</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"OCR·VLM 추출",</a:t>
            </a:r>
          </a:p>
          <a:p xmlns:a="http://schemas.openxmlformats.org/drawingml/2006/main">
            <a:r>
              <a:t>          "layer": "핵심 처리",</a:t>
            </a:r>
          </a:p>
          <a:p xmlns:a="http://schemas.openxmlformats.org/drawingml/2006/main">
            <a:r>
              <a:t>          "detail": "OCR/VLM 추출 모듈과 정합성 비교 모듈 분리",</a:t>
            </a:r>
          </a:p>
          <a:p xmlns:a="http://schemas.openxmlformats.org/drawingml/2006/main">
            <a:r>
              <a:t>          "requirements": [</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"누락·정합성 비교",</a:t>
            </a:r>
          </a:p>
          <a:p xmlns:a="http://schemas.openxmlformats.org/drawingml/2006/main">
            <a:r>
              <a:t>          "layer": "결과 검증",</a:t>
            </a:r>
          </a:p>
          <a:p xmlns:a="http://schemas.openxmlformats.org/drawingml/2006/main">
            <a:r>
              <a:t>          "detail": "원본·추출값 대조와 자동 확정 제한",</a:t>
            </a:r>
          </a:p>
          <a:p xmlns:a="http://schemas.openxmlformats.org/drawingml/2006/main">
            <a:r>
              <a:t>          "requirements": [</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"원본·값 사람 확인",</a:t>
            </a:r>
          </a:p>
          <a:p xmlns:a="http://schemas.openxmlformats.org/drawingml/2006/main">
            <a:r>
              <a:t>          "layer": "사람 확인",</a:t>
            </a:r>
          </a:p>
          <a:p xmlns:a="http://schemas.openxmlformats.org/drawingml/2006/main">
            <a:r>
              <a:t>          "detail": "한 사건의 신청 서류에서 필수 항목과 문서 간 일치 여부 확인",</a:t>
            </a:r>
          </a:p>
          <a:p xmlns:a="http://schemas.openxmlformats.org/drawingml/2006/main">
            <a:r>
              <a:t>          "requirements": [</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"심사·민원 초안",</a:t>
            </a:r>
          </a:p>
          <a:p xmlns:a="http://schemas.openxmlformats.org/drawingml/2006/main">
            <a:r>
              <a:t>          "layer": "업무 연결",</a:t>
            </a:r>
          </a:p>
          <a:p xmlns:a="http://schemas.openxmlformats.org/drawingml/2006/main">
            <a:r>
              <a:t>          "detail": "불일치·누락 항목을 원본과 함께 심사자에게 제공",</a:t>
            </a:r>
          </a:p>
          <a:p xmlns:a="http://schemas.openxmlformats.org/drawingml/2006/main">
            <a:r>
              <a:t>          "requirements": [</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"항목별 오류 평가",</a:t>
            </a:r>
          </a:p>
          <a:p xmlns:a="http://schemas.openxmlformats.org/drawingml/2006/main">
            <a:r>
              <a:t>          "layer": "운영 관측",</a:t>
            </a:r>
          </a:p>
          <a:p xmlns:a="http://schemas.openxmlformats.org/drawingml/2006/main">
            <a:r>
              <a:t>          "detail": "사람 확정값과 인식 오류를 품질 개선에 반영",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"이행서류·규정",</a:t>
            </a:r>
          </a:p>
          <a:p xmlns:a="http://schemas.openxmlformats.org/drawingml/2006/main">
            <a:r>
              <a:t>          "layer": "데이터 원천",</a:t>
            </a:r>
          </a:p>
          <a:p xmlns:a="http://schemas.openxmlformats.org/drawingml/2006/main">
            <a:r>
              <a:t>          "detail": "원본·추출 항목",</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"좌표·판본·승인태그",</a:t>
            </a:r>
          </a:p>
          <a:p xmlns:a="http://schemas.openxmlformats.org/drawingml/2006/main">
            <a:r>
              <a:t>          "layer": "준비·갱신",</a:t>
            </a:r>
          </a:p>
          <a:p xmlns:a="http://schemas.openxmlformats.org/drawingml/2006/main">
            <a:r>
              <a:t>          "detail": "원문 좌표·추출값·문서 판본·승인상태 연결",</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"원본·추출값·색인",</a:t>
            </a:r>
          </a:p>
          <a:p xmlns:a="http://schemas.openxmlformats.org/drawingml/2006/main">
            <a:r>
              <a:t>          "layer": "상태·지식 저장",</a:t>
            </a:r>
          </a:p>
          <a:p xmlns:a="http://schemas.openxmlformats.org/drawingml/2006/main">
            <a:r>
              <a:t>          "detail": "추출값–원본 좌표–불일치 판정–심사자 확정 추적표",</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"문서별 접근정책",</a:t>
            </a:r>
          </a:p>
          <a:p xmlns:a="http://schemas.openxmlformats.org/drawingml/2006/main">
            <a:r>
              <a:t>          "layer": "권한·정책",</a:t>
            </a:r>
          </a:p>
          <a:p xmlns:a="http://schemas.openxmlformats.org/drawingml/2006/main">
            <a:r>
              <a:t>          "detail": "스캔 저화질·서명 누락·주소 불일치·다른 사건 서류",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"SSO·문서 접근권한·사건별 서류 묶음",</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"보증 원문",</a:t>
            </a:r>
          </a:p>
          <a:p xmlns:a="http://schemas.openxmlformats.org/drawingml/2006/main">
            <a:r>
              <a:t>          "check": "원본·추출값 대조와 자동 확정 제한"</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"추출 항목",</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"원문 좌표·추출 항목·인식 신뢰도",</a:t>
            </a:r>
          </a:p>
          <a:p xmlns:a="http://schemas.openxmlformats.org/drawingml/2006/main">
            <a:r>
              <a:t>          "check": "스캔 저화질·서명 누락·주소 불일치·다른 사건 서류"</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"누락·불일치",</a:t>
            </a:r>
          </a:p>
          <a:p xmlns:a="http://schemas.openxmlformats.org/drawingml/2006/main">
            <a:r>
              <a:t>          "check": "불일치·누락 항목을 원본과 함께 심사자에게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 결과",</a:t>
            </a:r>
          </a:p>
          <a:p xmlns:a="http://schemas.openxmlformats.org/drawingml/2006/main">
            <a:r>
              <a:t>          "check": "추출값–원본 좌표–불일치 판정–심사자 확정 추적표"</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"SFR-006~008",</a:t>
            </a:r>
          </a:p>
          <a:p xmlns:a="http://schemas.openxmlformats.org/drawingml/2006/main">
            <a:r>
              <a:t>        "extracted": "OCR/VLM 항목 추출과 문서 정합성 비교의 분리",</a:t>
            </a:r>
          </a:p>
          <a:p xmlns:a="http://schemas.openxmlformats.org/drawingml/2006/main">
            <a:r>
              <a:t>        "extension": "문서 좌표·추출값과 심사 확정값의 별도 보존"</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"PF-R01",</a:t>
            </a:r>
          </a:p>
          <a:p xmlns:a="http://schemas.openxmlformats.org/drawingml/2006/main">
            <a:r>
              <a:t>          "path": "assets/casebook-sources/PF-R01-01.png",</a:t>
            </a:r>
          </a:p>
          <a:p xmlns:a="http://schemas.openxmlformats.org/drawingml/2006/main">
            <a:r>
              <a:t>          "title": "HUG AI 인프라·업무시스템 연계",</a:t>
            </a:r>
          </a:p>
          <a:p xmlns:a="http://schemas.openxmlformats.org/drawingml/2006/main">
            <a:r>
              <a:t>          "status": "RFP 목표 구성도",</a:t>
            </a:r>
          </a:p>
          <a:p xmlns:a="http://schemas.openxmlformats.org/drawingml/2006/main">
            <a:r>
              <a:t>          "caption": "통합 클라우드·GPU Kubernetes·AI 웹서비스·그룹웨어 연계",</a:t>
            </a:r>
          </a:p>
          <a:p xmlns:a="http://schemas.openxmlformats.org/drawingml/2006/main">
            <a:r>
              <a:t>          "locator": "rId10 / BinData/image4_jpg",</a:t>
            </a:r>
          </a:p>
          <a:p xmlns:a="http://schemas.openxmlformats.org/drawingml/2006/main">
            <a:r>
              <a:t>          "checked": "2026-10-16",</a:t>
            </a:r>
          </a:p>
          <a:p xmlns:a="http://schemas.openxmlformats.org/drawingml/2006/main">
            <a:r>
              <a:t>          "sha256": "435b1f344867be6beab5f24852d1c79cba1e48a9361c9e0976f78dab55a1e9c9",</a:t>
            </a:r>
          </a:p>
          <a:p xmlns:a="http://schemas.openxmlformats.org/drawingml/2006/main">
            <a:r>
              <a:t>          "explanation": {</a:t>
            </a:r>
          </a:p>
          <a:p xmlns:a="http://schemas.openxmlformats.org/drawingml/2006/main">
            <a:r>
              <a:t>            "read": "클라우드·GPU Kubernetes는 AI 처리 자원, 웹서비스는 직원 접점, 그룹웨어는 기존 업무와의 연결 영역. 인프라 블록만으로 문서 심사 승인 절차까지 구현됐다고 해석하지 않는 구조.",</a:t>
            </a:r>
          </a:p>
          <a:p xmlns:a="http://schemas.openxmlformats.org/drawingml/2006/main">
            <a:r>
              <a:t>            "requirements": [</a:t>
            </a:r>
          </a:p>
          <a:p xmlns:a="http://schemas.openxmlformats.org/drawingml/2006/main">
            <a:r>
              <a:t>              "SFR-006",</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"connection": "문서 반입·검색·추출은 공통 자원을 사용하되 지식검색, 보증이행 심사, 민원답변의 결과 저장·승인 경로는 각각 분리하는 CCK 재구성."</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"스캔 저화질·서명 누락·주소 불일치·다른 사건 서류",</a:t>
            </a:r>
          </a:p>
          <a:p xmlns:a="http://schemas.openxmlformats.org/drawingml/2006/main">
            <a:r>
              <a:t>        "hold": "원본·추출값 대조와 자동 확정 제한",</a:t>
            </a:r>
          </a:p>
          <a:p xmlns:a="http://schemas.openxmlformats.org/drawingml/2006/main">
            <a:r>
              <a:t>        "recovery": "사람 확정값과 인식 오류를 품질 개선에 반영",</a:t>
            </a:r>
          </a:p>
          <a:p xmlns:a="http://schemas.openxmlformats.org/drawingml/2006/main">
            <a:r>
              <a:t>        "evidence": "추출값–원본 좌표–불일치 판정–심사자 확정 추적표"</a:t>
            </a:r>
          </a:p>
          <a:p xmlns:a="http://schemas.openxmlformats.org/drawingml/2006/main">
            <a:r>
              <a:t>      },</a:t>
            </a:r>
          </a:p>
          <a:p xmlns:a="http://schemas.openxmlformats.org/drawingml/2006/main">
            <a:r>
              <a:t>      "data": {</a:t>
            </a:r>
          </a:p>
          <a:p xmlns:a="http://schemas.openxmlformats.org/drawingml/2006/main">
            <a:r>
              <a:t>        "source": "원본·추출 항목",</a:t>
            </a:r>
          </a:p>
          <a:p xmlns:a="http://schemas.openxmlformats.org/drawingml/2006/main">
            <a:r>
              <a:t>        "prepare": "원문 좌표·추출값·문서 판본·승인상태 연결",</a:t>
            </a:r>
          </a:p>
          <a:p xmlns:a="http://schemas.openxmlformats.org/drawingml/2006/main">
            <a:r>
              <a:t>        "output": "보증 원문",</a:t>
            </a:r>
          </a:p>
          <a:p xmlns:a="http://schemas.openxmlformats.org/drawingml/2006/main">
            <a:r>
              <a:t>        "refresh": "사람 확정값과 인식 오류를 품질 개선에 반영"</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"PF-R01",</a:t>
            </a:r>
          </a:p>
          <a:p xmlns:a="http://schemas.openxmlformats.org/drawingml/2006/main">
            <a:r>
              <a:t>    "success": [</a:t>
            </a:r>
          </a:p>
          <a:p xmlns:a="http://schemas.openxmlformats.org/drawingml/2006/main">
            <a:r>
              <a:t>      "보증서류와 검토 규칙의 연결",</a:t>
            </a:r>
          </a:p>
          <a:p xmlns:a="http://schemas.openxmlformats.org/drawingml/2006/main">
            <a:r>
              <a:t>      "검색·민원 지원의 공통 기반 활용"</a:t>
            </a:r>
          </a:p>
          <a:p xmlns:a="http://schemas.openxmlformats.org/drawingml/2006/main">
            <a:r>
              <a:t>    ],</a:t>
            </a:r>
          </a:p>
          <a:p xmlns:a="http://schemas.openxmlformats.org/drawingml/2006/main">
            <a:r>
              <a:t>    "risks": [</a:t>
            </a:r>
          </a:p>
          <a:p xmlns:a="http://schemas.openxmlformats.org/drawingml/2006/main">
            <a:r>
              <a:t>      "OCR 오독에 따른 누락 판단",</a:t>
            </a:r>
          </a:p>
          <a:p xmlns:a="http://schemas.openxmlformats.org/drawingml/2006/main">
            <a:r>
              <a:t>      "요구 명세와 운영 효과의 혼동"</a:t>
            </a:r>
          </a:p>
          <a:p xmlns:a="http://schemas.openxmlformats.org/drawingml/2006/main">
            <a:r>
              <a:t>    ],</a:t>
            </a:r>
          </a:p>
          <a:p xmlns:a="http://schemas.openxmlformats.org/drawingml/2006/main">
            <a:r>
              <a:t>    "architecture": [</a:t>
            </a:r>
          </a:p>
          <a:p xmlns:a="http://schemas.openxmlformats.org/drawingml/2006/main">
            <a:r>
              <a:t>      "보증 문서 접수",</a:t>
            </a:r>
          </a:p>
          <a:p xmlns:a="http://schemas.openxmlformats.org/drawingml/2006/main">
            <a:r>
              <a:t>      "OCR·규칙 검토",</a:t>
            </a:r>
          </a:p>
          <a:p xmlns:a="http://schemas.openxmlformats.org/drawingml/2006/main">
            <a:r>
              <a:t>      "원본·추출 항목",</a:t>
            </a:r>
          </a:p>
          <a:p xmlns:a="http://schemas.openxmlformats.org/drawingml/2006/main">
            <a:r>
              <a:t>      "보증·민원 담당"</a:t>
            </a:r>
          </a:p>
          <a:p xmlns:a="http://schemas.openxmlformats.org/drawingml/2006/main">
            <a:r>
              <a:t>    ],</a:t>
            </a:r>
          </a:p>
          <a:p xmlns:a="http://schemas.openxmlformats.org/drawingml/2006/main">
            <a:r>
              <a:t>    "transfers": [</a:t>
            </a:r>
          </a:p>
          <a:p xmlns:a="http://schemas.openxmlformats.org/drawingml/2006/main">
            <a:r>
              <a:t>      "보증 원문",</a:t>
            </a:r>
          </a:p>
          <a:p xmlns:a="http://schemas.openxmlformats.org/drawingml/2006/main">
            <a:r>
              <a:t>      "추출 항목",</a:t>
            </a:r>
          </a:p>
          <a:p xmlns:a="http://schemas.openxmlformats.org/drawingml/2006/main">
            <a:r>
              <a:t>      "누락·불일치",</a:t>
            </a:r>
          </a:p>
          <a:p xmlns:a="http://schemas.openxmlformats.org/drawingml/2006/main">
            <a:r>
              <a:t>      "검토 결과"</a:t>
            </a:r>
          </a:p>
          <a:p xmlns:a="http://schemas.openxmlformats.org/drawingml/2006/main">
            <a:r>
              <a:t>    ],</a:t>
            </a:r>
          </a:p>
          <a:p xmlns:a="http://schemas.openxmlformats.org/drawingml/2006/main">
            <a:r>
              <a:t>    "control": "원본·추출값 대조와 자동 확정 제한",</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SFR-006~008, PMR-004~005 / Word T026 https://www.g2b.go.kr/pn/pnp/pnpe/UntyAtchFile/downloadFile.do?bidPbancNo=R26BK01639098&amp;bidPbancOrd=000&amp;fileSeq=3&amp;fileType=&amp;prcmBsneSeCd=03</a:t>
            </a:r>
          </a:p>
          <a:p xmlns:a="http://schemas.openxmlformats.org/drawingml/2006/main">
            <a:r>
              <a:t>홈페이지 https://heen1987-ops.github.io/TS-business-Plan-001/index.html?view=platform-cases&amp;case=PF-R01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"PF-R02",</a:t>
            </a:r>
          </a:p>
          <a:p xmlns:a="http://schemas.openxmlformats.org/drawingml/2006/main">
            <a:r>
              <a:t>    "sourceId": "R02",</a:t>
            </a:r>
          </a:p>
          <a:p xmlns:a="http://schemas.openxmlformats.org/drawingml/2006/main">
            <a:r>
              <a:t>    "title": "국민권익위 민원 AI",</a:t>
            </a:r>
          </a:p>
          <a:p xmlns:a="http://schemas.openxmlformats.org/drawingml/2006/main">
            <a:r>
              <a:t>    "region": "국내",</a:t>
            </a:r>
          </a:p>
          <a:p xmlns:a="http://schemas.openxmlformats.org/drawingml/2006/main">
            <a:r>
              <a:t>    "owner": "국민권익위원회·NIA",</a:t>
            </a:r>
          </a:p>
          <a:p xmlns:a="http://schemas.openxmlformats.org/drawingml/2006/main">
            <a:r>
              <a:t>    "state": "공식 서비스 개시 확인(2026-02-05)",</a:t>
            </a:r>
          </a:p>
          <a:p xmlns:a="http://schemas.openxmlformats.org/drawingml/2006/main">
            <a:r>
              <a:t>    "period": "기존 원장 확인 2026.10.16",</a:t>
            </a:r>
          </a:p>
          <a:p xmlns:a="http://schemas.openxmlformats.org/drawingml/2006/main">
            <a:r>
              <a:t>    "fact": "민원답변 추천·빈발중복민원 병합·의미 기반 민원 분석",</a:t>
            </a:r>
          </a:p>
          <a:p xmlns:a="http://schemas.openxmlformats.org/drawingml/2006/main">
            <a:r>
              <a:t>    "limit": "추천답변 도출시간·배정 처리시간·최종 답변 처리시간의 정의와 분모를 구분해야 함",</a:t>
            </a:r>
          </a:p>
          <a:p xmlns:a="http://schemas.openxmlformats.org/drawingml/2006/main">
            <a:r>
              <a:t>    "nodes": [</a:t>
            </a:r>
          </a:p>
          <a:p xmlns:a="http://schemas.openxmlformats.org/drawingml/2006/main">
            <a:r>
              <a:t>      "국민신문고",</a:t>
            </a:r>
          </a:p>
          <a:p xmlns:a="http://schemas.openxmlformats.org/drawingml/2006/main">
            <a:r>
              <a:t>      "분류·유사민원",</a:t>
            </a:r>
          </a:p>
          <a:p xmlns:a="http://schemas.openxmlformats.org/drawingml/2006/main">
            <a:r>
              <a:t>      "답변 추천",</a:t>
            </a:r>
          </a:p>
          <a:p xmlns:a="http://schemas.openxmlformats.org/drawingml/2006/main">
            <a:r>
              <a:t>      "현업 수정"</a:t>
            </a:r>
          </a:p>
          <a:p xmlns:a="http://schemas.openxmlformats.org/drawingml/2006/main">
            <a:r>
              <a:t>    ],</a:t>
            </a:r>
          </a:p>
          <a:p xmlns:a="http://schemas.openxmlformats.org/drawingml/2006/main">
            <a:r>
              <a:t>    "apply": "유사 문구와 동일 사건을 구분하는 민원 분류 및 소관부서별 답변 검토",</a:t>
            </a:r>
          </a:p>
          <a:p xmlns:a="http://schemas.openxmlformats.org/drawingml/2006/main">
            <a:r>
              <a:t>    "delta": "민원 사건·기관·업무 분류 / 유사군 검토 UI / 현업 수정 이력",</a:t>
            </a:r>
          </a:p>
          <a:p xmlns:a="http://schemas.openxmlformats.org/drawingml/2006/main">
            <a:r>
              <a:t>    "test": "같은 표현의 다른 사건·반대 취지 민원에 대한 오병합·답변 오류 측정",</a:t>
            </a:r>
          </a:p>
          <a:p xmlns:a="http://schemas.openxmlformats.org/drawingml/2006/main">
            <a:r>
              <a:t>    "url": "https://www.nia.or.kr/common/board/Download.do?bcIdx=28233&amp;cbIdx=78336&amp;fileNo=2",</a:t>
            </a:r>
          </a:p>
          <a:p xmlns:a="http://schemas.openxmlformats.org/drawingml/2006/main">
            <a:r>
              <a:t>    "urls": [</a:t>
            </a:r>
          </a:p>
          <a:p xmlns:a="http://schemas.openxmlformats.org/drawingml/2006/main">
            <a:r>
              <a:t>      "https://www.nia.or.kr/common/board/Download.do?bcIdx=28233&amp;cbIdx=78336&amp;fileNo=2",</a:t>
            </a:r>
          </a:p>
          <a:p xmlns:a="http://schemas.openxmlformats.org/drawingml/2006/main">
            <a:r>
              <a:t>      "https://www.acrc.go.kr/board.es?act=view&amp;bid=ACH&amp;list_no=106584&amp;mid=a10403070000&amp;nPage=1"</a:t>
            </a:r>
          </a:p>
          <a:p xmlns:a="http://schemas.openxmlformats.org/drawingml/2006/main">
            <a:r>
              <a:t>    ],</a:t>
            </a:r>
          </a:p>
          <a:p xmlns:a="http://schemas.openxmlformats.org/drawingml/2006/main">
            <a:r>
              <a:t>    "basis": "추진계획·성과지표, 기능 요구사항 / Word T035",</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"민원 분류 정확도 / 오병합률 / 최종 답변 작성시간",</a:t>
            </a:r>
          </a:p>
          <a:p xmlns:a="http://schemas.openxmlformats.org/drawingml/2006/main">
            <a:r>
              <a:t>    "group": "요구·구축",</a:t>
            </a:r>
          </a:p>
          <a:p xmlns:a="http://schemas.openxmlformats.org/drawingml/2006/main">
            <a:r>
              <a:t>    "sourceDetail": "국민신문고/민원정보분석 연계, RAG·요약·유사도 군집, 현업 수정 및 시범기관 확산",</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"PF-R02",</a:t>
            </a:r>
          </a:p>
          <a:p xmlns:a="http://schemas.openxmlformats.org/drawingml/2006/main">
            <a:r>
              <a:t>    "canonicalId": "PF-R02",</a:t>
            </a:r>
          </a:p>
          <a:p xmlns:a="http://schemas.openxmlformats.org/drawingml/2006/main">
            <a:r>
              <a:t>    "purpose": "민원답변 추천과 빈발·중복민원 분석",</a:t>
            </a:r>
          </a:p>
          <a:p xmlns:a="http://schemas.openxmlformats.org/drawingml/2006/main">
            <a:r>
              <a:t>    "users": "민원 처리자·정책 분석자",</a:t>
            </a:r>
          </a:p>
          <a:p xmlns:a="http://schemas.openxmlformats.org/drawingml/2006/main">
            <a:r>
              <a:t>    "scope": [</a:t>
            </a:r>
          </a:p>
          <a:p xmlns:a="http://schemas.openxmlformats.org/drawingml/2006/main">
            <a:r>
              <a:t>      "답변 초안",</a:t>
            </a:r>
          </a:p>
          <a:p xmlns:a="http://schemas.openxmlformats.org/drawingml/2006/main">
            <a:r>
              <a:t>      "유사민원 병합",</a:t>
            </a:r>
          </a:p>
          <a:p xmlns:a="http://schemas.openxmlformats.org/drawingml/2006/main">
            <a:r>
              <a:t>      "의미 분석"</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"국민신문고",</a:t>
            </a:r>
          </a:p>
          <a:p xmlns:a="http://schemas.openxmlformats.org/drawingml/2006/main">
            <a:r>
              <a:t>        "detail": "민원요지·유형·처리기관 문맥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"답변 초안 / 유사민원 병합 / 의미 분석",</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"분류·답변 추천",</a:t>
            </a:r>
          </a:p>
          <a:p xmlns:a="http://schemas.openxmlformats.org/drawingml/2006/main">
            <a:r>
              <a:t>        "detail": "RAG 답변 추천과 의미 유사도 군집",</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"민원 담당",</a:t>
            </a:r>
          </a:p>
          <a:p xmlns:a="http://schemas.openxmlformats.org/drawingml/2006/main">
            <a:r>
              <a:t>        "detail": "담당자의 군집·초안 수정 후 민원 처리",</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"민원·답변 자료",</a:t>
            </a:r>
          </a:p>
          <a:p xmlns:a="http://schemas.openxmlformats.org/drawingml/2006/main">
            <a:r>
              <a:t>        "detail": "국민신문고·민원정보분석 자료의 연계·정제",</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"기관별 답변 적합성과 병합 오류 분석",</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"국민신문고",</a:t>
            </a:r>
          </a:p>
          <a:p xmlns:a="http://schemas.openxmlformats.org/drawingml/2006/main">
            <a:r>
              <a:t>        "input": "민원요지·유형·처리기관 문맥 구성",</a:t>
            </a:r>
          </a:p>
          <a:p xmlns:a="http://schemas.openxmlformats.org/drawingml/2006/main">
            <a:r>
              <a:t>        "process": "국민신문고·민원정보분석 자료의 연계·정제",</a:t>
            </a:r>
          </a:p>
          <a:p xmlns:a="http://schemas.openxmlformats.org/drawingml/2006/main">
            <a:r>
              <a:t>        "output": "민원 본문"</a:t>
            </a:r>
          </a:p>
          <a:p xmlns:a="http://schemas.openxmlformats.org/drawingml/2006/main">
            <a:r>
              <a:t>      },</a:t>
            </a:r>
          </a:p>
          <a:p xmlns:a="http://schemas.openxmlformats.org/drawingml/2006/main">
            <a:r>
              <a:t>      {</a:t>
            </a:r>
          </a:p>
          <a:p xmlns:a="http://schemas.openxmlformats.org/drawingml/2006/main">
            <a:r>
              <a:t>        "title": "분류·유사민원",</a:t>
            </a:r>
          </a:p>
          <a:p xmlns:a="http://schemas.openxmlformats.org/drawingml/2006/main">
            <a:r>
              <a:t>        "input": "민원 본문",</a:t>
            </a:r>
          </a:p>
          <a:p xmlns:a="http://schemas.openxmlformats.org/drawingml/2006/main">
            <a:r>
              <a:t>        "process": "RAG 답변 추천과 의미 유사도 군집",</a:t>
            </a:r>
          </a:p>
          <a:p xmlns:a="http://schemas.openxmlformats.org/drawingml/2006/main">
            <a:r>
              <a:t>        "output": "유사 사건"</a:t>
            </a:r>
          </a:p>
          <a:p xmlns:a="http://schemas.openxmlformats.org/drawingml/2006/main">
            <a:r>
              <a:t>      },</a:t>
            </a:r>
          </a:p>
          <a:p xmlns:a="http://schemas.openxmlformats.org/drawingml/2006/main">
            <a:r>
              <a:t>      {</a:t>
            </a:r>
          </a:p>
          <a:p xmlns:a="http://schemas.openxmlformats.org/drawingml/2006/main">
            <a:r>
              <a:t>        "title": "답변 추천",</a:t>
            </a:r>
          </a:p>
          <a:p xmlns:a="http://schemas.openxmlformats.org/drawingml/2006/main">
            <a:r>
              <a:t>        "input": "유사 사건",</a:t>
            </a:r>
          </a:p>
          <a:p xmlns:a="http://schemas.openxmlformats.org/drawingml/2006/main">
            <a:r>
              <a:t>        "process": "동일 사건 여부·개인정보 범위 검토",</a:t>
            </a:r>
          </a:p>
          <a:p xmlns:a="http://schemas.openxmlformats.org/drawingml/2006/main">
            <a:r>
              <a:t>        "output": "추천 답변"</a:t>
            </a:r>
          </a:p>
          <a:p xmlns:a="http://schemas.openxmlformats.org/drawingml/2006/main">
            <a:r>
              <a:t>      },</a:t>
            </a:r>
          </a:p>
          <a:p xmlns:a="http://schemas.openxmlformats.org/drawingml/2006/main">
            <a:r>
              <a:t>      {</a:t>
            </a:r>
          </a:p>
          <a:p xmlns:a="http://schemas.openxmlformats.org/drawingml/2006/main">
            <a:r>
              <a:t>        "title": "현업 수정",</a:t>
            </a:r>
          </a:p>
          <a:p xmlns:a="http://schemas.openxmlformats.org/drawingml/2006/main">
            <a:r>
              <a:t>        "input": "추천 답변",</a:t>
            </a:r>
          </a:p>
          <a:p xmlns:a="http://schemas.openxmlformats.org/drawingml/2006/main">
            <a:r>
              <a:t>        "process": "담당자의 군집·초안 수정 후 민원 처리",</a:t>
            </a:r>
          </a:p>
          <a:p xmlns:a="http://schemas.openxmlformats.org/drawingml/2006/main">
            <a:r>
              <a:t>        "output": "수정·회신"</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"같은 사안의 반복 민원을 묶고 기관별 답변 초안 제시",</a:t>
            </a:r>
          </a:p>
          <a:p xmlns:a="http://schemas.openxmlformats.org/drawingml/2006/main">
            <a:r>
              <a:t>      "exception": "표현이 같은 다른 사건·소관기관 차이·반대 취지",</a:t>
            </a:r>
          </a:p>
          <a:p xmlns:a="http://schemas.openxmlformats.org/drawingml/2006/main">
            <a:r>
              <a:t>      "evidence": "군집 정답표·잘못된 병합 건·담당자 수정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"민원 처리자·정책 분석자",</a:t>
            </a:r>
          </a:p>
          <a:p xmlns:a="http://schemas.openxmlformats.org/drawingml/2006/main">
            <a:r>
              <a:t>          "processing": "민원요지·유형·처리기관 문맥 구성",</a:t>
            </a:r>
          </a:p>
          <a:p xmlns:a="http://schemas.openxmlformats.org/drawingml/2006/main">
            <a:r>
              <a:t>          "output": "민원 본문"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"민원·답변 자료",</a:t>
            </a:r>
          </a:p>
          <a:p xmlns:a="http://schemas.openxmlformats.org/drawingml/2006/main">
            <a:r>
              <a:t>          "processing": "국민신문고·민원정보분석 자료의 연계·정제",</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"민원 본문",</a:t>
            </a:r>
          </a:p>
          <a:p xmlns:a="http://schemas.openxmlformats.org/drawingml/2006/main">
            <a:r>
              <a:t>          "processing": "RAG 답변 추천과 의미 유사도 군집",</a:t>
            </a:r>
          </a:p>
          <a:p xmlns:a="http://schemas.openxmlformats.org/drawingml/2006/main">
            <a:r>
              <a:t>          "output": "추천 답변"</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"추천 답변",</a:t>
            </a:r>
          </a:p>
          <a:p xmlns:a="http://schemas.openxmlformats.org/drawingml/2006/main">
            <a:r>
              <a:t>          "processing": "담당자의 군집·초안 수정 후 민원 처리",</a:t>
            </a:r>
          </a:p>
          <a:p xmlns:a="http://schemas.openxmlformats.org/drawingml/2006/main">
            <a:r>
              <a:t>          "output": "수정·회신"</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"기관별 답변 적합성과 병합 오류 분석",</a:t>
            </a:r>
          </a:p>
          <a:p xmlns:a="http://schemas.openxmlformats.org/drawingml/2006/main">
            <a:r>
              <a:t>          "output": "군집 정답표·잘못된 병합 건·담당자 수정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"기관별 답변 적합성과 병합 오류 분석",</a:t>
            </a:r>
          </a:p>
          <a:p xmlns:a="http://schemas.openxmlformats.org/drawingml/2006/main">
            <a:r>
              <a:t>    "status": "RFP 기반 논리 설계",</a:t>
            </a:r>
          </a:p>
          <a:p xmlns:a="http://schemas.openxmlformats.org/drawingml/2006/main">
            <a:r>
              <a:t>    "basis": "본공고 RFP · 사업계획·민원답변 작성지원·빈발중복민원",</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"추진계획·성과지표, 기능 요구사항 / Word T035",</a:t>
            </a:r>
          </a:p>
          <a:p xmlns:a="http://schemas.openxmlformats.org/drawingml/2006/main">
            <a:r>
              <a:t>        "url": "https://www.nia.or.kr/common/board/Download.do?bcIdx=28233&amp;cbIdx=78336&amp;fileNo=2"</a:t>
            </a:r>
          </a:p>
          <a:p xmlns:a="http://schemas.openxmlformats.org/drawingml/2006/main">
            <a:r>
              <a:t>      }</a:t>
            </a:r>
          </a:p>
          <a:p xmlns:a="http://schemas.openxmlformats.org/drawingml/2006/main">
            <a:r>
              <a:t>    ],</a:t>
            </a:r>
          </a:p>
          <a:p xmlns:a="http://schemas.openxmlformats.org/drawingml/2006/main">
            <a:r>
              <a:t>    "implication": "유사 문구와 동일 사건을 구분하는 민원 분류 및 소관부서별 답변 검토",</a:t>
            </a:r>
          </a:p>
          <a:p xmlns:a="http://schemas.openxmlformats.org/drawingml/2006/main">
            <a:r>
              <a:t>    "local": "유사 문구와 동일 사건을 구분하는 민원 분류 및 소관부서별 답변 검토",</a:t>
            </a:r>
          </a:p>
          <a:p xmlns:a="http://schemas.openxmlformats.org/drawingml/2006/main">
            <a:r>
              <a:t>    "sourceDetail": "국민신문고/민원정보분석 연계, RAG·요약·유사도 군집, 현업 수정 및 시범기관 확산",</a:t>
            </a:r>
          </a:p>
          <a:p xmlns:a="http://schemas.openxmlformats.org/drawingml/2006/main">
            <a:r>
              <a:t>    "narrative": [</a:t>
            </a:r>
          </a:p>
          <a:p xmlns:a="http://schemas.openxmlformats.org/drawingml/2006/main">
            <a:r>
              <a:t>      "국민신문고의 접수·처리와 민원정보분석 업무를 연결하는 AI 고도화. 담당자의 답변 초안 작성과 유사민원 식별, 정책 분석자의 의미 기반 이슈 탐색을 서로 다른 업무 결과로 구분하는 사업.",</a:t>
            </a:r>
          </a:p>
          <a:p xmlns:a="http://schemas.openxmlformats.org/drawingml/2006/main">
            <a:r>
              <a:t>      "원문 목표 구성도는 기존 포털·DB, API Gateway, 답변·분석·중복 검색 모듈, 데이터 처리 계층, 운영 관리 계층으로 구성. OCR·메타정보 추출 후 키워드·벡터 검색을 병렬 수행하고, 재정렬된 근거를 업무 모듈에 전달하는 구조. 서비스 화면과 모델 운영의 별도 책임 분리가 핵심.",</a:t>
            </a:r>
          </a:p>
          <a:p xmlns:a="http://schemas.openxmlformats.org/drawingml/2006/main">
            <a:r>
              <a:t>      "표현이 비슷하다는 이유만으로 같은 사건으로 병합하면 이의·반대 민원의 취지 소실 가능성. CCK 비교시험에서는 문장 유사도 외에 사건·기관·지역·처리 단계의 일치 여부와 담당자의 수정·채택 이력을 함께 평가할 필요. 답변 추천시간과 최종 회신시간의 별도 계측."</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"SFR-004",</a:t>
            </a:r>
          </a:p>
          <a:p xmlns:a="http://schemas.openxmlformats.org/drawingml/2006/main">
            <a:r>
              <a:t>        "title": "민원 종류 분류",</a:t>
            </a:r>
          </a:p>
          <a:p xmlns:a="http://schemas.openxmlformats.org/drawingml/2006/main">
            <a:r>
              <a:t>        "locator": "SFR-004",</a:t>
            </a:r>
          </a:p>
          <a:p xmlns:a="http://schemas.openxmlformats.org/drawingml/2006/main">
            <a:r>
              <a:t>        "summary": "민원 본문을 민원 종류로 분류해 담당 업무의 처리 경로를 지원하는 기능.",</a:t>
            </a:r>
          </a:p>
          <a:p xmlns:a="http://schemas.openxmlformats.org/drawingml/2006/main">
            <a:r>
              <a:t>        "data": "민원 원문·분류 체계 → 분류 후보·검토 결과",</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"복합 주제·짧은 문장·오탈자 민원의 오분류와 담당자 수정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"6b4913cc0ae5b5169d9646773f4136e5246b9263738a4827b1ab87a16891f0b5"</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"민원 처리내용 초안 제공",</a:t>
            </a:r>
          </a:p>
          <a:p xmlns:a="http://schemas.openxmlformats.org/drawingml/2006/main">
            <a:r>
              <a:t>        "locator": "SFR-005",</a:t>
            </a:r>
          </a:p>
          <a:p xmlns:a="http://schemas.openxmlformats.org/drawingml/2006/main">
            <a:r>
              <a:t>        "summary": "관련 규정과 기존 처리내용을 참조한 민원답변 초안 지원. 초안과 최종 답변의 담당자 확인 경로 구성.",</a:t>
            </a:r>
          </a:p>
          <a:p xmlns:a="http://schemas.openxmlformats.org/drawingml/2006/main">
            <a:r>
              <a:t>        "data": "접수 민원·참조 자료 → 근거가 연결된 답변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"과거 규정과 현행 규정이 충돌하는 사례의 근거 판본 및 담당자 수정 흔적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"4f5defef29ed25fd79e46a89d680a461cb449aef69766f422194dd69e74fe07d"</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"유사민원 식별 기능 제공",</a:t>
            </a:r>
          </a:p>
          <a:p xmlns:a="http://schemas.openxmlformats.org/drawingml/2006/main">
            <a:r>
              <a:t>        "locator": "SFR-006",</a:t>
            </a:r>
          </a:p>
          <a:p xmlns:a="http://schemas.openxmlformats.org/drawingml/2006/main">
            <a:r>
              <a:t>        "summary": "같거나 유사한 민원을 식별해 반복 업무를 지원하는 기능. 검색 후보와 실제 병합 판단의 구분.",</a:t>
            </a:r>
          </a:p>
          <a:p xmlns:a="http://schemas.openxmlformats.org/drawingml/2006/main">
            <a:r>
              <a:t>        "data": "민원 집합·사건 문맥 → 유사도·후보 묶음",</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"C05"</a:t>
            </a:r>
          </a:p>
          <a:p xmlns:a="http://schemas.openxmlformats.org/drawingml/2006/main">
            <a:r>
              <a:t>        ],</a:t>
            </a:r>
          </a:p>
          <a:p xmlns:a="http://schemas.openxmlformats.org/drawingml/2006/main">
            <a:r>
              <a:t>        "acceptance": "문장은 같지만 사건·지역·신청인이 다른 사례로 오병합 여부와 원문 복원 가능성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"4153e591c032d301106aff35c38940a0d476dc7d8c4d31155d7221e129da66dd"</a:t>
            </a:r>
          </a:p>
          <a:p xmlns:a="http://schemas.openxmlformats.org/drawingml/2006/main">
            <a:r>
              <a:t>      },</a:t>
            </a:r>
          </a:p>
          <a:p xmlns:a="http://schemas.openxmlformats.org/drawingml/2006/main">
            <a:r>
              <a:t>      {</a:t>
            </a:r>
          </a:p>
          <a:p xmlns:a="http://schemas.openxmlformats.org/drawingml/2006/main">
            <a:r>
              <a:t>        "id": "SFR-010",</a:t>
            </a:r>
          </a:p>
          <a:p xmlns:a="http://schemas.openxmlformats.org/drawingml/2006/main">
            <a:r>
              <a:t>        "title": "민원업무 고도화 서비스 관리기능",</a:t>
            </a:r>
          </a:p>
          <a:p xmlns:a="http://schemas.openxmlformats.org/drawingml/2006/main">
            <a:r>
              <a:t>        "locator": "SFR-010",</a:t>
            </a:r>
          </a:p>
          <a:p xmlns:a="http://schemas.openxmlformats.org/drawingml/2006/main">
            <a:r>
              <a:t>        "summary": "민원업무 고도화 서비스의 이용·관리 기능 구성. 운영자가 업무별 서비스 상태와 관리 대상을 확인하는 경로.",</a:t>
            </a:r>
          </a:p>
          <a:p xmlns:a="http://schemas.openxmlformats.org/drawingml/2006/main">
            <a:r>
              <a:t>        "data": "운영 설정·사용 이력 → 관리 상태·변경 기록",</a:t>
            </a:r>
          </a:p>
          <a:p xmlns:a="http://schemas.openxmlformats.org/drawingml/2006/main">
            <a:r>
              <a:t>        "components": [</a:t>
            </a:r>
          </a:p>
          <a:p xmlns:a="http://schemas.openxmlformats.org/drawingml/2006/main">
            <a:r>
              <a:t>          "C06",</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"관리 역할별 허용 작업과 변경 이력, 설정 변경 후 서비스 반영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"d0f1ab9389b360af8d77e62f3eeb2326716b450c2d1575dcec42b79fbb02d49b"</a:t>
            </a:r>
          </a:p>
          <a:p xmlns:a="http://schemas.openxmlformats.org/drawingml/2006/main">
            <a:r>
              <a:t>      },</a:t>
            </a:r>
          </a:p>
          <a:p xmlns:a="http://schemas.openxmlformats.org/drawingml/2006/main">
            <a:r>
              <a:t>      {</a:t>
            </a:r>
          </a:p>
          <a:p xmlns:a="http://schemas.openxmlformats.org/drawingml/2006/main">
            <a:r>
              <a:t>        "id": "SFR-011",</a:t>
            </a:r>
          </a:p>
          <a:p xmlns:a="http://schemas.openxmlformats.org/drawingml/2006/main">
            <a:r>
              <a:t>        "title": "의미 기반 검색과 분석",</a:t>
            </a:r>
          </a:p>
          <a:p xmlns:a="http://schemas.openxmlformats.org/drawingml/2006/main">
            <a:r>
              <a:t>        "locator": "SFR-011",</a:t>
            </a:r>
          </a:p>
          <a:p xmlns:a="http://schemas.openxmlformats.org/drawingml/2006/main">
            <a:r>
              <a:t>        "summary": "단순 키워드 일치를 넘어 민원 의미를 이용한 검색·분석 지원.",</a:t>
            </a:r>
          </a:p>
          <a:p xmlns:a="http://schemas.openxmlformats.org/drawingml/2006/main">
            <a:r>
              <a:t>        "data": "검색 질의·민원 색인 → 의미상 관련 민원·분석 결과",</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"C11"</a:t>
            </a:r>
          </a:p>
          <a:p xmlns:a="http://schemas.openxmlformats.org/drawingml/2006/main">
            <a:r>
              <a:t>        ],</a:t>
            </a:r>
          </a:p>
          <a:p xmlns:a="http://schemas.openxmlformats.org/drawingml/2006/main">
            <a:r>
              <a:t>        "acceptance": "다른 표현의 같은 의도와 같은 단어의 다른 의도를 구분한 검색 정답셋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"cb3704532e53b7b70bc4764b544e7f549cec4553215296f437e5601fe00168f1"</a:t>
            </a:r>
          </a:p>
          <a:p xmlns:a="http://schemas.openxmlformats.org/drawingml/2006/main">
            <a:r>
              <a:t>      },</a:t>
            </a:r>
          </a:p>
          <a:p xmlns:a="http://schemas.openxmlformats.org/drawingml/2006/main">
            <a:r>
              <a:t>      {</a:t>
            </a:r>
          </a:p>
          <a:p xmlns:a="http://schemas.openxmlformats.org/drawingml/2006/main">
            <a:r>
              <a:t>        "id": "SFR-015",</a:t>
            </a:r>
          </a:p>
          <a:p xmlns:a="http://schemas.openxmlformats.org/drawingml/2006/main">
            <a:r>
              <a:t>        "title": "실시간 데이터 수집 및 검증",</a:t>
            </a:r>
          </a:p>
          <a:p xmlns:a="http://schemas.openxmlformats.org/drawingml/2006/main">
            <a:r>
              <a:t>        "locator": "SFR-015",</a:t>
            </a:r>
          </a:p>
          <a:p xmlns:a="http://schemas.openxmlformats.org/drawingml/2006/main">
            <a:r>
              <a:t>        "summary": "OGG 기반 원천 변경 수집과 데이터 검증을 통한 실시간 연계. 수집 이후 정합성 확인이 필요한 데이터 흐름.",</a:t>
            </a:r>
          </a:p>
          <a:p xmlns:a="http://schemas.openxmlformats.org/drawingml/2006/main">
            <a:r>
              <a:t>        "data": "원천 DB 변경분 → 검증된 연계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"삽입·수정·삭제·중단 후 재개 시 건수·키·시점 대사와 중복 적재 여부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"bcca0bc62529ccf5ac36e787dc506c0b54f8f16e1b96c873fa31cca5157a057c"</a:t>
            </a:r>
          </a:p>
          <a:p xmlns:a="http://schemas.openxmlformats.org/drawingml/2006/main">
            <a:r>
              <a:t>      },</a:t>
            </a:r>
          </a:p>
          <a:p xmlns:a="http://schemas.openxmlformats.org/drawingml/2006/main">
            <a:r>
              <a:t>      {</a:t>
            </a:r>
          </a:p>
          <a:p xmlns:a="http://schemas.openxmlformats.org/drawingml/2006/main">
            <a:r>
              <a:t>        "id": "SFR-018",</a:t>
            </a:r>
          </a:p>
          <a:p xmlns:a="http://schemas.openxmlformats.org/drawingml/2006/main">
            <a:r>
              <a:t>        "title": "AI 기반 민원 자동 처리",</a:t>
            </a:r>
          </a:p>
          <a:p xmlns:a="http://schemas.openxmlformats.org/drawingml/2006/main">
            <a:r>
              <a:t>        "locator": "SFR-018",</a:t>
            </a:r>
          </a:p>
          <a:p xmlns:a="http://schemas.openxmlformats.org/drawingml/2006/main">
            <a:r>
              <a:t>        "summary": "AI 기반 민원 처리 지원에 담당자 검토·채택 결과를 연결하고 운영 개선에 활용하는 흐름.",</a:t>
            </a:r>
          </a:p>
          <a:p xmlns:a="http://schemas.openxmlformats.org/drawingml/2006/main">
            <a:r>
              <a:t>        "data": "처리 후보·담당자 검토 → 채택·수정 결과·피드백",</a:t>
            </a:r>
          </a:p>
          <a:p xmlns:a="http://schemas.openxmlformats.org/drawingml/2006/main">
            <a:r>
              <a:t>        "components": [</a:t>
            </a:r>
          </a:p>
          <a:p xmlns:a="http://schemas.openxmlformats.org/drawingml/2006/main">
            <a:r>
              <a:t>          "C04",</a:t>
            </a:r>
          </a:p>
          <a:p xmlns:a="http://schemas.openxmlformats.org/drawingml/2006/main">
            <a:r>
              <a:t>          "C06",</a:t>
            </a:r>
          </a:p>
          <a:p xmlns:a="http://schemas.openxmlformats.org/drawingml/2006/main">
            <a:r>
              <a:t>          "C08"</a:t>
            </a:r>
          </a:p>
          <a:p xmlns:a="http://schemas.openxmlformats.org/drawingml/2006/main">
            <a:r>
              <a:t>        ],</a:t>
            </a:r>
          </a:p>
          <a:p xmlns:a="http://schemas.openxmlformats.org/drawingml/2006/main">
            <a:r>
              <a:t>        "acceptance": "추천과 확정 상태를 구분하고 수정·반려가 다음 처리 기록에 누락 없이 남는지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"35bf9ae1174266075e30936c9e150e97a0d68cd55f83071656309743e2875dca"</a:t>
            </a:r>
          </a:p>
          <a:p xmlns:a="http://schemas.openxmlformats.org/drawingml/2006/main">
            <a:r>
              <a:t>      },</a:t>
            </a:r>
          </a:p>
          <a:p xmlns:a="http://schemas.openxmlformats.org/drawingml/2006/main">
            <a:r>
              <a:t>      {</a:t>
            </a:r>
          </a:p>
          <a:p xmlns:a="http://schemas.openxmlformats.org/drawingml/2006/main">
            <a:r>
              <a:t>        "id": "SFR-019",</a:t>
            </a:r>
          </a:p>
          <a:p xmlns:a="http://schemas.openxmlformats.org/drawingml/2006/main">
            <a:r>
              <a:t>        "title": "API 통합 관리 및 성능 모니터링",</a:t>
            </a:r>
          </a:p>
          <a:p xmlns:a="http://schemas.openxmlformats.org/drawingml/2006/main">
            <a:r>
              <a:t>        "locator": "SFR-019",</a:t>
            </a:r>
          </a:p>
          <a:p xmlns:a="http://schemas.openxmlformats.org/drawingml/2006/main">
            <a:r>
              <a:t>        "summary": "API 통합 관리와 성능 모니터링을 통한 업무 모듈·기간계 연결 관리.",</a:t>
            </a:r>
          </a:p>
          <a:p xmlns:a="http://schemas.openxmlformats.org/drawingml/2006/main">
            <a:r>
              <a:t>        "data": "API 요청·응답·호출 이력 → 상태·성능·오류 기록",</a:t>
            </a:r>
          </a:p>
          <a:p xmlns:a="http://schemas.openxmlformats.org/drawingml/2006/main">
            <a:r>
              <a:t>        "components": [</a:t>
            </a:r>
          </a:p>
          <a:p xmlns:a="http://schemas.openxmlformats.org/drawingml/2006/main">
            <a:r>
              <a:t>          "C02",</a:t>
            </a:r>
          </a:p>
          <a:p xmlns:a="http://schemas.openxmlformats.org/drawingml/2006/main">
            <a:r>
              <a:t>          "C07",</a:t>
            </a:r>
          </a:p>
          <a:p xmlns:a="http://schemas.openxmlformats.org/drawingml/2006/main">
            <a:r>
              <a:t>          "C08"</a:t>
            </a:r>
          </a:p>
          <a:p xmlns:a="http://schemas.openxmlformats.org/drawingml/2006/main">
            <a:r>
              <a:t>        ],</a:t>
            </a:r>
          </a:p>
          <a:p xmlns:a="http://schemas.openxmlformats.org/drawingml/2006/main">
            <a:r>
              <a:t>        "acceptance": "호출 실패·시간초과·중복 요청을 주입하고 호출 경로별 원인과 처리 상태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"ff7c0fe41f6cc841f53d73ace372872ebb0dfc391d7d7ca1a21b446c4dfa32b4"</a:t>
            </a:r>
          </a:p>
          <a:p xmlns:a="http://schemas.openxmlformats.org/drawingml/2006/main">
            <a:r>
              <a:t>      },</a:t>
            </a:r>
          </a:p>
          <a:p xmlns:a="http://schemas.openxmlformats.org/drawingml/2006/main">
            <a:r>
              <a:t>      {</a:t>
            </a:r>
          </a:p>
          <a:p xmlns:a="http://schemas.openxmlformats.org/drawingml/2006/main">
            <a:r>
              <a:t>        "id": "SFR-020",</a:t>
            </a:r>
          </a:p>
          <a:p xmlns:a="http://schemas.openxmlformats.org/drawingml/2006/main">
            <a:r>
              <a:t>        "title": "시스템 설정 및 운영 모니터링 통합 관리",</a:t>
            </a:r>
          </a:p>
          <a:p xmlns:a="http://schemas.openxmlformats.org/drawingml/2006/main">
            <a:r>
              <a:t>        "locator": "SFR-020",</a:t>
            </a:r>
          </a:p>
          <a:p xmlns:a="http://schemas.openxmlformats.org/drawingml/2006/main">
            <a:r>
              <a:t>        "summary": "시스템 설정과 운영 모니터링의 통합 관리. 업무 기능과 운영 정책의 일관된 상태 확인.",</a:t>
            </a:r>
          </a:p>
          <a:p xmlns:a="http://schemas.openxmlformats.org/drawingml/2006/main">
            <a:r>
              <a:t>        "data": "시스템 설정·운영 지표 → 관리 화면·이상 상태",</a:t>
            </a:r>
          </a:p>
          <a:p xmlns:a="http://schemas.openxmlformats.org/drawingml/2006/main">
            <a:r>
              <a:t>        "components": [</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"설정 변경 권한, 변경 전후 상태, 장애 탐지·복구 기록의 연결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"700952e7f3297506bdddffe81782d75953ec64aa85c0f75fd9ce24f75b54747a"</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"국민신문고 접점",</a:t>
            </a:r>
          </a:p>
          <a:p xmlns:a="http://schemas.openxmlformats.org/drawingml/2006/main">
            <a:r>
              <a:t>          "layer": "이용 접점",</a:t>
            </a:r>
          </a:p>
          <a:p xmlns:a="http://schemas.openxmlformats.org/drawingml/2006/main">
            <a:r>
              <a:t>          "detail": "민원 처리자·정책 분석자",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"요지·기관·유형",</a:t>
            </a:r>
          </a:p>
          <a:p xmlns:a="http://schemas.openxmlformats.org/drawingml/2006/main">
            <a:r>
              <a:t>          "layer": "업무 문맥",</a:t>
            </a:r>
          </a:p>
          <a:p xmlns:a="http://schemas.openxmlformats.org/drawingml/2006/main">
            <a:r>
              <a:t>          "detail": "민원요지·유형·처리기관 문맥 구성",</a:t>
            </a:r>
          </a:p>
          <a:p xmlns:a="http://schemas.openxmlformats.org/drawingml/2006/main">
            <a:r>
              <a:t>          "requirements": [</a:t>
            </a:r>
          </a:p>
          <a:p xmlns:a="http://schemas.openxmlformats.org/drawingml/2006/main">
            <a:r>
              <a:t>            "SFR-004",</a:t>
            </a:r>
          </a:p>
          <a:p xmlns:a="http://schemas.openxmlformats.org/drawingml/2006/main">
            <a:r>
              <a:t>            "SFR-019"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"키워드·벡터 검색",</a:t>
            </a:r>
          </a:p>
          <a:p xmlns:a="http://schemas.openxmlformats.org/drawingml/2006/main">
            <a:r>
              <a:t>          "layer": "자료 조회",</a:t>
            </a:r>
          </a:p>
          <a:p xmlns:a="http://schemas.openxmlformats.org/drawingml/2006/main">
            <a:r>
              <a:t>          "detail": "민원 본문",</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"재정렬·답변·군집",</a:t>
            </a:r>
          </a:p>
          <a:p xmlns:a="http://schemas.openxmlformats.org/drawingml/2006/main">
            <a:r>
              <a:t>          "layer": "핵심 처리",</a:t>
            </a:r>
          </a:p>
          <a:p xmlns:a="http://schemas.openxmlformats.org/drawingml/2006/main">
            <a:r>
              <a:t>          "detail": "RAG 답변 추천과 의미 유사도 군집",</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"SFR-018"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"동일 사건 대조",</a:t>
            </a:r>
          </a:p>
          <a:p xmlns:a="http://schemas.openxmlformats.org/drawingml/2006/main">
            <a:r>
              <a:t>          "layer": "결과 검증",</a:t>
            </a:r>
          </a:p>
          <a:p xmlns:a="http://schemas.openxmlformats.org/drawingml/2006/main">
            <a:r>
              <a:t>          "detail": "동일 사건 여부·개인정보 범위 검토",</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"담당자 수정",</a:t>
            </a:r>
          </a:p>
          <a:p xmlns:a="http://schemas.openxmlformats.org/drawingml/2006/main">
            <a:r>
              <a:t>          "layer": "사람 확인",</a:t>
            </a:r>
          </a:p>
          <a:p xmlns:a="http://schemas.openxmlformats.org/drawingml/2006/main">
            <a:r>
              <a:t>          "detail": "같은 사안의 반복 민원을 묶고 기관별 답변 초안 제시",</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"SFR-010",</a:t>
            </a:r>
          </a:p>
          <a:p xmlns:a="http://schemas.openxmlformats.org/drawingml/2006/main">
            <a:r>
              <a:t>            "SFR-018"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"민원 처리·분석",</a:t>
            </a:r>
          </a:p>
          <a:p xmlns:a="http://schemas.openxmlformats.org/drawingml/2006/main">
            <a:r>
              <a:t>          "layer": "업무 연결",</a:t>
            </a:r>
          </a:p>
          <a:p xmlns:a="http://schemas.openxmlformats.org/drawingml/2006/main">
            <a:r>
              <a:t>          "detail": "담당자의 군집·초안 수정 후 민원 처리",</a:t>
            </a:r>
          </a:p>
          <a:p xmlns:a="http://schemas.openxmlformats.org/drawingml/2006/main">
            <a:r>
              <a:t>          "requirements": [</a:t>
            </a:r>
          </a:p>
          <a:p xmlns:a="http://schemas.openxmlformats.org/drawingml/2006/main">
            <a:r>
              <a:t>            "SFR-019"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"오답·병합 오류",</a:t>
            </a:r>
          </a:p>
          <a:p xmlns:a="http://schemas.openxmlformats.org/drawingml/2006/main">
            <a:r>
              <a:t>          "layer": "운영 관측",</a:t>
            </a:r>
          </a:p>
          <a:p xmlns:a="http://schemas.openxmlformats.org/drawingml/2006/main">
            <a:r>
              <a:t>          "detail": "기관별 답변 적합성과 병합 오류 분석",</a:t>
            </a:r>
          </a:p>
          <a:p xmlns:a="http://schemas.openxmlformats.org/drawingml/2006/main">
            <a:r>
              <a:t>          "requirements": [</a:t>
            </a:r>
          </a:p>
          <a:p xmlns:a="http://schemas.openxmlformats.org/drawingml/2006/main">
            <a:r>
              <a:t>            "SFR-010",</a:t>
            </a:r>
          </a:p>
          <a:p xmlns:a="http://schemas.openxmlformats.org/drawingml/2006/main">
            <a:r>
              <a:t>            "SFR-018",</a:t>
            </a:r>
          </a:p>
          <a:p xmlns:a="http://schemas.openxmlformats.org/drawingml/2006/main">
            <a:r>
              <a:t>            "SFR-019",</a:t>
            </a:r>
          </a:p>
          <a:p xmlns:a="http://schemas.openxmlformats.org/drawingml/2006/main">
            <a:r>
              <a:t>            "SFR-020"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"민원·답변·지침",</a:t>
            </a:r>
          </a:p>
          <a:p xmlns:a="http://schemas.openxmlformats.org/drawingml/2006/main">
            <a:r>
              <a:t>          "layer": "데이터 원천",</a:t>
            </a:r>
          </a:p>
          <a:p xmlns:a="http://schemas.openxmlformats.org/drawingml/2006/main">
            <a:r>
              <a:t>          "detail": "민원·답변 자료",</a:t>
            </a:r>
          </a:p>
          <a:p xmlns:a="http://schemas.openxmlformats.org/drawingml/2006/main">
            <a:r>
              <a:t>          "requirements": [</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"OCR·메타정보 추출",</a:t>
            </a:r>
          </a:p>
          <a:p xmlns:a="http://schemas.openxmlformats.org/drawingml/2006/main">
            <a:r>
              <a:t>          "layer": "준비·갱신",</a:t>
            </a:r>
          </a:p>
          <a:p xmlns:a="http://schemas.openxmlformats.org/drawingml/2006/main">
            <a:r>
              <a:t>          "detail": "국민신문고·민원정보분석 자료의 연계·정제",</a:t>
            </a:r>
          </a:p>
          <a:p xmlns:a="http://schemas.openxmlformats.org/drawingml/2006/main">
            <a:r>
              <a:t>          "requirements": [</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"지식 DB·색인",</a:t>
            </a:r>
          </a:p>
          <a:p xmlns:a="http://schemas.openxmlformats.org/drawingml/2006/main">
            <a:r>
              <a:t>          "layer": "상태·지식 저장",</a:t>
            </a:r>
          </a:p>
          <a:p xmlns:a="http://schemas.openxmlformats.org/drawingml/2006/main">
            <a:r>
              <a:t>          "detail": "군집 정답표·잘못된 병합 건·담당자 수정 이력",</a:t>
            </a:r>
          </a:p>
          <a:p xmlns:a="http://schemas.openxmlformats.org/drawingml/2006/main">
            <a:r>
              <a:t>          "requirements": [</a:t>
            </a:r>
          </a:p>
          <a:p xmlns:a="http://schemas.openxmlformats.org/drawingml/2006/main">
            <a:r>
              <a:t>            "SFR-011",</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"모델·프롬프트 관리",</a:t>
            </a:r>
          </a:p>
          <a:p xmlns:a="http://schemas.openxmlformats.org/drawingml/2006/main">
            <a:r>
              <a:t>          "layer": "권한·정책",</a:t>
            </a:r>
          </a:p>
          <a:p xmlns:a="http://schemas.openxmlformats.org/drawingml/2006/main">
            <a:r>
              <a:t>          "detail": "표현이 같은 다른 사건·소관기관 차이·반대 취지",</a:t>
            </a:r>
          </a:p>
          <a:p xmlns:a="http://schemas.openxmlformats.org/drawingml/2006/main">
            <a:r>
              <a:t>          "requirements": [</a:t>
            </a:r>
          </a:p>
          <a:p xmlns:a="http://schemas.openxmlformats.org/drawingml/2006/main">
            <a:r>
              <a:t>            "SFR-010",</a:t>
            </a:r>
          </a:p>
          <a:p xmlns:a="http://schemas.openxmlformats.org/drawingml/2006/main">
            <a:r>
              <a:t>            "SFR-020"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"민원요지·유형·처리기관 문맥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"민원 본문",</a:t>
            </a:r>
          </a:p>
          <a:p xmlns:a="http://schemas.openxmlformats.org/drawingml/2006/main">
            <a:r>
              <a:t>          "check": "동일 사건 여부·개인정보 범위 검토"</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"유사 사건",</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"답변 초안·유사군 후보·근거 문서",</a:t>
            </a:r>
          </a:p>
          <a:p xmlns:a="http://schemas.openxmlformats.org/drawingml/2006/main">
            <a:r>
              <a:t>          "check": "표현이 같은 다른 사건·소관기관 차이·반대 취지"</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"추천 답변",</a:t>
            </a:r>
          </a:p>
          <a:p xmlns:a="http://schemas.openxmlformats.org/drawingml/2006/main">
            <a:r>
              <a:t>          "check": "담당자의 군집·초안 수정 후 민원 처리"</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"수정·회신",</a:t>
            </a:r>
          </a:p>
          <a:p xmlns:a="http://schemas.openxmlformats.org/drawingml/2006/main">
            <a:r>
              <a:t>          "check": "군집 정답표·잘못된 병합 건·담당자 수정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"목표시스템 개념도·RAG 구성 예시",</a:t>
            </a:r>
          </a:p>
          <a:p xmlns:a="http://schemas.openxmlformats.org/drawingml/2006/main">
            <a:r>
              <a:t>        "extracted": "API Gateway, OCR·메타정보 추출, 키워드/벡터 검색과 재정렬",</a:t>
            </a:r>
          </a:p>
          <a:p xmlns:a="http://schemas.openxmlformats.org/drawingml/2006/main">
            <a:r>
              <a:t>        "extension": "민원 중복 후보와 공식 병합·회신의 승인 경계"</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"PF-R02",</a:t>
            </a:r>
          </a:p>
          <a:p xmlns:a="http://schemas.openxmlformats.org/drawingml/2006/main">
            <a:r>
              <a:t>          "path": "assets/casebook-sources/PF-R02-01.png",</a:t>
            </a:r>
          </a:p>
          <a:p xmlns:a="http://schemas.openxmlformats.org/drawingml/2006/main">
            <a:r>
              <a:t>          "title": "국민소통 플랫폼 목표시스템",</a:t>
            </a:r>
          </a:p>
          <a:p xmlns:a="http://schemas.openxmlformats.org/drawingml/2006/main">
            <a:r>
              <a:t>          "status": "RFP 목표시스템 개념도",</a:t>
            </a:r>
          </a:p>
          <a:p xmlns:a="http://schemas.openxmlformats.org/drawingml/2006/main">
            <a:r>
              <a:t>          "caption": "접점·API Gateway·업무 모듈·데이터 처리·운영 관리",</a:t>
            </a:r>
          </a:p>
          <a:p xmlns:a="http://schemas.openxmlformats.org/drawingml/2006/main">
            <a:r>
              <a:t>          "locator": "NIA_RFP_RFP / BinData/image33_bmp",</a:t>
            </a:r>
          </a:p>
          <a:p xmlns:a="http://schemas.openxmlformats.org/drawingml/2006/main">
            <a:r>
              <a:t>          "checked": "2026-10-16",</a:t>
            </a:r>
          </a:p>
          <a:p xmlns:a="http://schemas.openxmlformats.org/drawingml/2006/main">
            <a:r>
              <a:t>          "sha256": "91feb890184edf04ccccd8d86995147aa6c2181b0a66c58436263cafccdae911",</a:t>
            </a:r>
          </a:p>
          <a:p xmlns:a="http://schemas.openxmlformats.org/drawingml/2006/main">
            <a:r>
              <a:t>          "explanation": {</a:t>
            </a:r>
          </a:p>
          <a:p xmlns:a="http://schemas.openxmlformats.org/drawingml/2006/main">
            <a:r>
              <a:t>            "read": "접점에서 받은 요청을 API Gateway를 통해 민원 답변·분석·중복 식별 모듈로 전달하는 목표 구성. 데이터 처리 계층은 공통 근거를 공급하고 운영 관리 계층은 서비스·모델 상태를 관찰하는 역할.",</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"SFR-019",</a:t>
            </a:r>
          </a:p>
          <a:p xmlns:a="http://schemas.openxmlformats.org/drawingml/2006/main">
            <a:r>
              <a:t>              "SFR-020"</a:t>
            </a:r>
          </a:p>
          <a:p xmlns:a="http://schemas.openxmlformats.org/drawingml/2006/main">
            <a:r>
              <a:t>            ],</a:t>
            </a:r>
          </a:p>
          <a:p xmlns:a="http://schemas.openxmlformats.org/drawingml/2006/main">
            <a:r>
              <a:t>            "connection": "담당자 답변 초안, 유사민원 후보, 정책 분석 결과를 서로 다른 출력 계약으로 정의하고 기존 민원시스템의 확정·회신 절차에 연결하는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"assets/casebook-sources/PF-R02-02.png",</a:t>
            </a:r>
          </a:p>
          <a:p xmlns:a="http://schemas.openxmlformats.org/drawingml/2006/main">
            <a:r>
              <a:t>          "title": "키워드·벡터 검색과 Reranker",</a:t>
            </a:r>
          </a:p>
          <a:p xmlns:a="http://schemas.openxmlformats.org/drawingml/2006/main">
            <a:r>
              <a:t>          "status": "RFP RAG 구성 예시",</a:t>
            </a:r>
          </a:p>
          <a:p xmlns:a="http://schemas.openxmlformats.org/drawingml/2006/main">
            <a:r>
              <a:t>          "caption": "키워드/벡터 검색 병렬 처리 → 재정렬 → 근거 응답",</a:t>
            </a:r>
          </a:p>
          <a:p xmlns:a="http://schemas.openxmlformats.org/drawingml/2006/main">
            <a:r>
              <a:t>          "locator": "NIA_RFP_RFP / BinData/image18_bmp",</a:t>
            </a:r>
          </a:p>
          <a:p xmlns:a="http://schemas.openxmlformats.org/drawingml/2006/main">
            <a:r>
              <a:t>          "checked": "2026-10-16",</a:t>
            </a:r>
          </a:p>
          <a:p xmlns:a="http://schemas.openxmlformats.org/drawingml/2006/main">
            <a:r>
              <a:t>          "sha256": "a6ab4248256ee300422789627dbe5b8f09ec60657419e13d082c95b32f3f4f90",</a:t>
            </a:r>
          </a:p>
          <a:p xmlns:a="http://schemas.openxmlformats.org/drawingml/2006/main">
            <a:r>
              <a:t>          "explanation": {</a:t>
            </a:r>
          </a:p>
          <a:p xmlns:a="http://schemas.openxmlformats.org/drawingml/2006/main">
            <a:r>
              <a:t>            "read": "키워드 검색은 정확한 용어·조항의 일치 후보, 벡터 검색은 표현이 다른 유사 의미 후보를 제공. Reranker는 통합 후보를 질의 관련성에 따라 다시 정렬하고 생성 모델에 근거를 전달하는 역할.",</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a:t>
            </a:r>
          </a:p>
          <a:p xmlns:a="http://schemas.openxmlformats.org/drawingml/2006/main">
            <a:r>
              <a:t>            "connection": "재정렬 점수를 법적 정답이나 민원 병합 승인으로 해석하지 않고 기관·사건·시점과 출처 일치를 별도로 확인하는 검증 단계의 추가."</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"assets/casebook-sources/PF-R02-03.png",</a:t>
            </a:r>
          </a:p>
          <a:p xmlns:a="http://schemas.openxmlformats.org/drawingml/2006/main">
            <a:r>
              <a:t>          "title": "민원 AI 입출력 데이터",</a:t>
            </a:r>
          </a:p>
          <a:p xmlns:a="http://schemas.openxmlformats.org/drawingml/2006/main">
            <a:r>
              <a:t>          "status": "RFP 데이터 흐름도",</a:t>
            </a:r>
          </a:p>
          <a:p xmlns:a="http://schemas.openxmlformats.org/drawingml/2006/main">
            <a:r>
              <a:t>          "caption": "국민신문고·시범기관 매뉴얼 → 전처리·RAG → 답변·유사도",</a:t>
            </a:r>
          </a:p>
          <a:p xmlns:a="http://schemas.openxmlformats.org/drawingml/2006/main">
            <a:r>
              <a:t>          "locator": "NIA_RFP_RFP / BinData/image34_bmp",</a:t>
            </a:r>
          </a:p>
          <a:p xmlns:a="http://schemas.openxmlformats.org/drawingml/2006/main">
            <a:r>
              <a:t>          "checked": "2026-10-16",</a:t>
            </a:r>
          </a:p>
          <a:p xmlns:a="http://schemas.openxmlformats.org/drawingml/2006/main">
            <a:r>
              <a:t>          "sha256": "0e09409295bbb0aae0a61666cf01982d012392b3f4bccd2e98499654b4b690d0",</a:t>
            </a:r>
          </a:p>
          <a:p xmlns:a="http://schemas.openxmlformats.org/drawingml/2006/main">
            <a:r>
              <a:t>          "explanation": {</a:t>
            </a:r>
          </a:p>
          <a:p xmlns:a="http://schemas.openxmlformats.org/drawingml/2006/main">
            <a:r>
              <a:t>            "read": "국민신문고 데이터와 시범기관 매뉴얼 등 입력을 전처리·RAG 경로에 투입하고 업무별 답변·유사도 결과로 변환하는 입출력 구조. 동일 원천을 이용하더라도 답변과 군집의 산출물은 별도 관리 대상.",</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"SFR-015",</a:t>
            </a:r>
          </a:p>
          <a:p xmlns:a="http://schemas.openxmlformats.org/drawingml/2006/main">
            <a:r>
              <a:t>              "SFR-018"</a:t>
            </a:r>
          </a:p>
          <a:p xmlns:a="http://schemas.openxmlformats.org/drawingml/2006/main">
            <a:r>
              <a:t>            ],</a:t>
            </a:r>
          </a:p>
          <a:p xmlns:a="http://schemas.openxmlformats.org/drawingml/2006/main">
            <a:r>
              <a:t>            "connection": "원천 민원 ID·문서 판본·근거 위치를 결과에 유지해 담당자 수정과 최종 회신의 차이를 재현할 수 있도록 하는 데이터 계약."</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"assets/casebook-sources/PF-R02-04.png",</a:t>
            </a:r>
          </a:p>
          <a:p xmlns:a="http://schemas.openxmlformats.org/drawingml/2006/main">
            <a:r>
              <a:t>          "title": "데이터 구축·학습·운영 흐름",</a:t>
            </a:r>
          </a:p>
          <a:p xmlns:a="http://schemas.openxmlformats.org/drawingml/2006/main">
            <a:r>
              <a:t>          "status": "RFP 데이터 처리 구조",</a:t>
            </a:r>
          </a:p>
          <a:p xmlns:a="http://schemas.openxmlformats.org/drawingml/2006/main">
            <a:r>
              <a:t>          "caption": "수집·정제·가공·학습·운영의 환류",</a:t>
            </a:r>
          </a:p>
          <a:p xmlns:a="http://schemas.openxmlformats.org/drawingml/2006/main">
            <a:r>
              <a:t>          "locator": "NIA_RFP_RFP / BinData/image32_png",</a:t>
            </a:r>
          </a:p>
          <a:p xmlns:a="http://schemas.openxmlformats.org/drawingml/2006/main">
            <a:r>
              <a:t>          "checked": "2026-10-16",</a:t>
            </a:r>
          </a:p>
          <a:p xmlns:a="http://schemas.openxmlformats.org/drawingml/2006/main">
            <a:r>
              <a:t>          "sha256": "b6c466b110d91bceff5a9f806d658aa54f010e0a5b8a358a16771181bea77c50",</a:t>
            </a:r>
          </a:p>
          <a:p xmlns:a="http://schemas.openxmlformats.org/drawingml/2006/main">
            <a:r>
              <a:t>          "explanation": {</a:t>
            </a:r>
          </a:p>
          <a:p xmlns:a="http://schemas.openxmlformats.org/drawingml/2006/main">
            <a:r>
              <a:t>            "read": "수집·정제·가공·학습·운영이 연결된 데이터 생애주기. 온라인 요청 처리와 모델·지식 갱신의 작업이 서로 다른 주기로 수행되는 구성.",</a:t>
            </a:r>
          </a:p>
          <a:p xmlns:a="http://schemas.openxmlformats.org/drawingml/2006/main">
            <a:r>
              <a:t>            "requirements": [</a:t>
            </a:r>
          </a:p>
          <a:p xmlns:a="http://schemas.openxmlformats.org/drawingml/2006/main">
            <a:r>
              <a:t>              "SFR-015",</a:t>
            </a:r>
          </a:p>
          <a:p xmlns:a="http://schemas.openxmlformats.org/drawingml/2006/main">
            <a:r>
              <a:t>              "SFR-018",</a:t>
            </a:r>
          </a:p>
          <a:p xmlns:a="http://schemas.openxmlformats.org/drawingml/2006/main">
            <a:r>
              <a:t>              "SFR-020"</a:t>
            </a:r>
          </a:p>
          <a:p xmlns:a="http://schemas.openxmlformats.org/drawingml/2006/main">
            <a:r>
              <a:t>            ],</a:t>
            </a:r>
          </a:p>
          <a:p xmlns:a="http://schemas.openxmlformats.org/drawingml/2006/main">
            <a:r>
              <a:t>            "connection": "원천 변경 시 수집 완료·정제 완료·색인 반영 상태를 분리하고 실패 자료만 재처리하는 운영 설계. 검토 피드백의 자동 학습 투입 전 품질 확인 단계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"표현이 같은 다른 사건·소관기관 차이·반대 취지",</a:t>
            </a:r>
          </a:p>
          <a:p xmlns:a="http://schemas.openxmlformats.org/drawingml/2006/main">
            <a:r>
              <a:t>        "hold": "동일 사건 여부·개인정보 범위 검토",</a:t>
            </a:r>
          </a:p>
          <a:p xmlns:a="http://schemas.openxmlformats.org/drawingml/2006/main">
            <a:r>
              <a:t>        "recovery": "기관별 답변 적합성과 병합 오류 분석",</a:t>
            </a:r>
          </a:p>
          <a:p xmlns:a="http://schemas.openxmlformats.org/drawingml/2006/main">
            <a:r>
              <a:t>        "evidence": "군집 정답표·잘못된 병합 건·담당자 수정 이력"</a:t>
            </a:r>
          </a:p>
          <a:p xmlns:a="http://schemas.openxmlformats.org/drawingml/2006/main">
            <a:r>
              <a:t>      },</a:t>
            </a:r>
          </a:p>
          <a:p xmlns:a="http://schemas.openxmlformats.org/drawingml/2006/main">
            <a:r>
              <a:t>      "data": {</a:t>
            </a:r>
          </a:p>
          <a:p xmlns:a="http://schemas.openxmlformats.org/drawingml/2006/main">
            <a:r>
              <a:t>        "source": "민원·답변 자료",</a:t>
            </a:r>
          </a:p>
          <a:p xmlns:a="http://schemas.openxmlformats.org/drawingml/2006/main">
            <a:r>
              <a:t>        "prepare": "국민신문고·민원정보분석 자료의 연계·정제",</a:t>
            </a:r>
          </a:p>
          <a:p xmlns:a="http://schemas.openxmlformats.org/drawingml/2006/main">
            <a:r>
              <a:t>        "output": "민원 본문",</a:t>
            </a:r>
          </a:p>
          <a:p xmlns:a="http://schemas.openxmlformats.org/drawingml/2006/main">
            <a:r>
              <a:t>        "refresh": "기관별 답변 적합성과 병합 오류 분석"</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"PF-R02",</a:t>
            </a:r>
          </a:p>
          <a:p xmlns:a="http://schemas.openxmlformats.org/drawingml/2006/main">
            <a:r>
              <a:t>    "success": [</a:t>
            </a:r>
          </a:p>
          <a:p xmlns:a="http://schemas.openxmlformats.org/drawingml/2006/main">
            <a:r>
              <a:t>      "유사민원과 답변 추천 결합",</a:t>
            </a:r>
          </a:p>
          <a:p xmlns:a="http://schemas.openxmlformats.org/drawingml/2006/main">
            <a:r>
              <a:t>      "현업 수정을 반영한 활용"</a:t>
            </a:r>
          </a:p>
          <a:p xmlns:a="http://schemas.openxmlformats.org/drawingml/2006/main">
            <a:r>
              <a:t>    ],</a:t>
            </a:r>
          </a:p>
          <a:p xmlns:a="http://schemas.openxmlformats.org/drawingml/2006/main">
            <a:r>
              <a:t>    "risks": [</a:t>
            </a:r>
          </a:p>
          <a:p xmlns:a="http://schemas.openxmlformats.org/drawingml/2006/main">
            <a:r>
              <a:t>      "다른 사건의 무리한 병합",</a:t>
            </a:r>
          </a:p>
          <a:p xmlns:a="http://schemas.openxmlformats.org/drawingml/2006/main">
            <a:r>
              <a:t>      "답변 추천을 공식 회신으로 오인"</a:t>
            </a:r>
          </a:p>
          <a:p xmlns:a="http://schemas.openxmlformats.org/drawingml/2006/main">
            <a:r>
              <a:t>    ],</a:t>
            </a:r>
          </a:p>
          <a:p xmlns:a="http://schemas.openxmlformats.org/drawingml/2006/main">
            <a:r>
              <a:t>    "architecture": [</a:t>
            </a:r>
          </a:p>
          <a:p xmlns:a="http://schemas.openxmlformats.org/drawingml/2006/main">
            <a:r>
              <a:t>      "국민신문고",</a:t>
            </a:r>
          </a:p>
          <a:p xmlns:a="http://schemas.openxmlformats.org/drawingml/2006/main">
            <a:r>
              <a:t>      "분류·답변 추천",</a:t>
            </a:r>
          </a:p>
          <a:p xmlns:a="http://schemas.openxmlformats.org/drawingml/2006/main">
            <a:r>
              <a:t>      "민원·답변 자료",</a:t>
            </a:r>
          </a:p>
          <a:p xmlns:a="http://schemas.openxmlformats.org/drawingml/2006/main">
            <a:r>
              <a:t>      "민원 담당"</a:t>
            </a:r>
          </a:p>
          <a:p xmlns:a="http://schemas.openxmlformats.org/drawingml/2006/main">
            <a:r>
              <a:t>    ],</a:t>
            </a:r>
          </a:p>
          <a:p xmlns:a="http://schemas.openxmlformats.org/drawingml/2006/main">
            <a:r>
              <a:t>    "transfers": [</a:t>
            </a:r>
          </a:p>
          <a:p xmlns:a="http://schemas.openxmlformats.org/drawingml/2006/main">
            <a:r>
              <a:t>      "민원 본문",</a:t>
            </a:r>
          </a:p>
          <a:p xmlns:a="http://schemas.openxmlformats.org/drawingml/2006/main">
            <a:r>
              <a:t>      "유사 사건",</a:t>
            </a:r>
          </a:p>
          <a:p xmlns:a="http://schemas.openxmlformats.org/drawingml/2006/main">
            <a:r>
              <a:t>      "추천 답변",</a:t>
            </a:r>
          </a:p>
          <a:p xmlns:a="http://schemas.openxmlformats.org/drawingml/2006/main">
            <a:r>
              <a:t>      "수정·회신"</a:t>
            </a:r>
          </a:p>
          <a:p xmlns:a="http://schemas.openxmlformats.org/drawingml/2006/main">
            <a:r>
              <a:t>    ],</a:t>
            </a:r>
          </a:p>
          <a:p xmlns:a="http://schemas.openxmlformats.org/drawingml/2006/main">
            <a:r>
              <a:t>    "control": "동일 사건 여부·개인정보 범위 검토",</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추진계획·성과지표, 기능 요구사항 / Word T035 https://www.nia.or.kr/common/board/Download.do?bcIdx=28233&amp;cbIdx=78336&amp;fileNo=2</a:t>
            </a:r>
          </a:p>
          <a:p xmlns:a="http://schemas.openxmlformats.org/drawingml/2006/main">
            <a:r>
              <a:t>홈페이지 https://heen1987-ops.github.io/TS-business-Plan-001/index.html?view=platform-cases&amp;case=PF-R02</a:t>
            </a:r>
          </a:p>
          <a:p xmlns:a="http://schemas.openxmlformats.org/drawingml/2006/main">
            <a:r>
              <a:t>한계: 추천답변 도출시간·배정 처리시간·최종 답변 처리시간의 정의와 분모를 구분해야 함</a:t>
            </a:r>
          </a:p>
          <a:p xmlns:a="http://schemas.openxmlformats.org/drawingml/2006/main">
            <a:r>
              <a:t>실패 위험: 다른 사건의 무리한 병합 / 답변 추천을 공식 회신으로 오인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"PF-R02",</a:t>
            </a:r>
          </a:p>
          <a:p xmlns:a="http://schemas.openxmlformats.org/drawingml/2006/main">
            <a:r>
              <a:t>    "sourceId": "R02",</a:t>
            </a:r>
          </a:p>
          <a:p xmlns:a="http://schemas.openxmlformats.org/drawingml/2006/main">
            <a:r>
              <a:t>    "title": "국민권익위 민원 AI",</a:t>
            </a:r>
          </a:p>
          <a:p xmlns:a="http://schemas.openxmlformats.org/drawingml/2006/main">
            <a:r>
              <a:t>    "region": "국내",</a:t>
            </a:r>
          </a:p>
          <a:p xmlns:a="http://schemas.openxmlformats.org/drawingml/2006/main">
            <a:r>
              <a:t>    "owner": "국민권익위원회·NIA",</a:t>
            </a:r>
          </a:p>
          <a:p xmlns:a="http://schemas.openxmlformats.org/drawingml/2006/main">
            <a:r>
              <a:t>    "state": "공식 서비스 개시 확인(2026-02-05)",</a:t>
            </a:r>
          </a:p>
          <a:p xmlns:a="http://schemas.openxmlformats.org/drawingml/2006/main">
            <a:r>
              <a:t>    "period": "기존 원장 확인 2026.10.16",</a:t>
            </a:r>
          </a:p>
          <a:p xmlns:a="http://schemas.openxmlformats.org/drawingml/2006/main">
            <a:r>
              <a:t>    "fact": "민원답변 추천·빈발중복민원 병합·의미 기반 민원 분석",</a:t>
            </a:r>
          </a:p>
          <a:p xmlns:a="http://schemas.openxmlformats.org/drawingml/2006/main">
            <a:r>
              <a:t>    "limit": "추천답변 도출시간·배정 처리시간·최종 답변 처리시간의 정의와 분모를 구분해야 함",</a:t>
            </a:r>
          </a:p>
          <a:p xmlns:a="http://schemas.openxmlformats.org/drawingml/2006/main">
            <a:r>
              <a:t>    "nodes": [</a:t>
            </a:r>
          </a:p>
          <a:p xmlns:a="http://schemas.openxmlformats.org/drawingml/2006/main">
            <a:r>
              <a:t>      "국민신문고",</a:t>
            </a:r>
          </a:p>
          <a:p xmlns:a="http://schemas.openxmlformats.org/drawingml/2006/main">
            <a:r>
              <a:t>      "분류·유사민원",</a:t>
            </a:r>
          </a:p>
          <a:p xmlns:a="http://schemas.openxmlformats.org/drawingml/2006/main">
            <a:r>
              <a:t>      "답변 추천",</a:t>
            </a:r>
          </a:p>
          <a:p xmlns:a="http://schemas.openxmlformats.org/drawingml/2006/main">
            <a:r>
              <a:t>      "현업 수정"</a:t>
            </a:r>
          </a:p>
          <a:p xmlns:a="http://schemas.openxmlformats.org/drawingml/2006/main">
            <a:r>
              <a:t>    ],</a:t>
            </a:r>
          </a:p>
          <a:p xmlns:a="http://schemas.openxmlformats.org/drawingml/2006/main">
            <a:r>
              <a:t>    "apply": "유사 문구와 동일 사건을 구분하는 민원 분류 및 소관부서별 답변 검토",</a:t>
            </a:r>
          </a:p>
          <a:p xmlns:a="http://schemas.openxmlformats.org/drawingml/2006/main">
            <a:r>
              <a:t>    "delta": "민원 사건·기관·업무 분류 / 유사군 검토 UI / 현업 수정 이력",</a:t>
            </a:r>
          </a:p>
          <a:p xmlns:a="http://schemas.openxmlformats.org/drawingml/2006/main">
            <a:r>
              <a:t>    "test": "같은 표현의 다른 사건·반대 취지 민원에 대한 오병합·답변 오류 측정",</a:t>
            </a:r>
          </a:p>
          <a:p xmlns:a="http://schemas.openxmlformats.org/drawingml/2006/main">
            <a:r>
              <a:t>    "url": "https://www.nia.or.kr/common/board/Download.do?bcIdx=28233&amp;cbIdx=78336&amp;fileNo=2",</a:t>
            </a:r>
          </a:p>
          <a:p xmlns:a="http://schemas.openxmlformats.org/drawingml/2006/main">
            <a:r>
              <a:t>    "urls": [</a:t>
            </a:r>
          </a:p>
          <a:p xmlns:a="http://schemas.openxmlformats.org/drawingml/2006/main">
            <a:r>
              <a:t>      "https://www.nia.or.kr/common/board/Download.do?bcIdx=28233&amp;cbIdx=78336&amp;fileNo=2",</a:t>
            </a:r>
          </a:p>
          <a:p xmlns:a="http://schemas.openxmlformats.org/drawingml/2006/main">
            <a:r>
              <a:t>      "https://www.acrc.go.kr/board.es?act=view&amp;bid=ACH&amp;list_no=106584&amp;mid=a10403070000&amp;nPage=1"</a:t>
            </a:r>
          </a:p>
          <a:p xmlns:a="http://schemas.openxmlformats.org/drawingml/2006/main">
            <a:r>
              <a:t>    ],</a:t>
            </a:r>
          </a:p>
          <a:p xmlns:a="http://schemas.openxmlformats.org/drawingml/2006/main">
            <a:r>
              <a:t>    "basis": "추진계획·성과지표, 기능 요구사항 / Word T035",</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"민원 분류 정확도 / 오병합률 / 최종 답변 작성시간",</a:t>
            </a:r>
          </a:p>
          <a:p xmlns:a="http://schemas.openxmlformats.org/drawingml/2006/main">
            <a:r>
              <a:t>    "group": "요구·구축",</a:t>
            </a:r>
          </a:p>
          <a:p xmlns:a="http://schemas.openxmlformats.org/drawingml/2006/main">
            <a:r>
              <a:t>    "sourceDetail": "국민신문고/민원정보분석 연계, RAG·요약·유사도 군집, 현업 수정 및 시범기관 확산",</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"PF-R02",</a:t>
            </a:r>
          </a:p>
          <a:p xmlns:a="http://schemas.openxmlformats.org/drawingml/2006/main">
            <a:r>
              <a:t>    "canonicalId": "PF-R02",</a:t>
            </a:r>
          </a:p>
          <a:p xmlns:a="http://schemas.openxmlformats.org/drawingml/2006/main">
            <a:r>
              <a:t>    "purpose": "민원답변 추천과 빈발·중복민원 분석",</a:t>
            </a:r>
          </a:p>
          <a:p xmlns:a="http://schemas.openxmlformats.org/drawingml/2006/main">
            <a:r>
              <a:t>    "users": "민원 처리자·정책 분석자",</a:t>
            </a:r>
          </a:p>
          <a:p xmlns:a="http://schemas.openxmlformats.org/drawingml/2006/main">
            <a:r>
              <a:t>    "scope": [</a:t>
            </a:r>
          </a:p>
          <a:p xmlns:a="http://schemas.openxmlformats.org/drawingml/2006/main">
            <a:r>
              <a:t>      "답변 초안",</a:t>
            </a:r>
          </a:p>
          <a:p xmlns:a="http://schemas.openxmlformats.org/drawingml/2006/main">
            <a:r>
              <a:t>      "유사민원 병합",</a:t>
            </a:r>
          </a:p>
          <a:p xmlns:a="http://schemas.openxmlformats.org/drawingml/2006/main">
            <a:r>
              <a:t>      "의미 분석"</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"국민신문고",</a:t>
            </a:r>
          </a:p>
          <a:p xmlns:a="http://schemas.openxmlformats.org/drawingml/2006/main">
            <a:r>
              <a:t>        "detail": "민원요지·유형·처리기관 문맥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"답변 초안 / 유사민원 병합 / 의미 분석",</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"분류·답변 추천",</a:t>
            </a:r>
          </a:p>
          <a:p xmlns:a="http://schemas.openxmlformats.org/drawingml/2006/main">
            <a:r>
              <a:t>        "detail": "RAG 답변 추천과 의미 유사도 군집",</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"민원 담당",</a:t>
            </a:r>
          </a:p>
          <a:p xmlns:a="http://schemas.openxmlformats.org/drawingml/2006/main">
            <a:r>
              <a:t>        "detail": "담당자의 군집·초안 수정 후 민원 처리",</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"민원·답변 자료",</a:t>
            </a:r>
          </a:p>
          <a:p xmlns:a="http://schemas.openxmlformats.org/drawingml/2006/main">
            <a:r>
              <a:t>        "detail": "국민신문고·민원정보분석 자료의 연계·정제",</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"기관별 답변 적합성과 병합 오류 분석",</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"국민신문고",</a:t>
            </a:r>
          </a:p>
          <a:p xmlns:a="http://schemas.openxmlformats.org/drawingml/2006/main">
            <a:r>
              <a:t>        "input": "민원요지·유형·처리기관 문맥 구성",</a:t>
            </a:r>
          </a:p>
          <a:p xmlns:a="http://schemas.openxmlformats.org/drawingml/2006/main">
            <a:r>
              <a:t>        "process": "국민신문고·민원정보분석 자료의 연계·정제",</a:t>
            </a:r>
          </a:p>
          <a:p xmlns:a="http://schemas.openxmlformats.org/drawingml/2006/main">
            <a:r>
              <a:t>        "output": "민원 본문"</a:t>
            </a:r>
          </a:p>
          <a:p xmlns:a="http://schemas.openxmlformats.org/drawingml/2006/main">
            <a:r>
              <a:t>      },</a:t>
            </a:r>
          </a:p>
          <a:p xmlns:a="http://schemas.openxmlformats.org/drawingml/2006/main">
            <a:r>
              <a:t>      {</a:t>
            </a:r>
          </a:p>
          <a:p xmlns:a="http://schemas.openxmlformats.org/drawingml/2006/main">
            <a:r>
              <a:t>        "title": "분류·유사민원",</a:t>
            </a:r>
          </a:p>
          <a:p xmlns:a="http://schemas.openxmlformats.org/drawingml/2006/main">
            <a:r>
              <a:t>        "input": "민원 본문",</a:t>
            </a:r>
          </a:p>
          <a:p xmlns:a="http://schemas.openxmlformats.org/drawingml/2006/main">
            <a:r>
              <a:t>        "process": "RAG 답변 추천과 의미 유사도 군집",</a:t>
            </a:r>
          </a:p>
          <a:p xmlns:a="http://schemas.openxmlformats.org/drawingml/2006/main">
            <a:r>
              <a:t>        "output": "유사 사건"</a:t>
            </a:r>
          </a:p>
          <a:p xmlns:a="http://schemas.openxmlformats.org/drawingml/2006/main">
            <a:r>
              <a:t>      },</a:t>
            </a:r>
          </a:p>
          <a:p xmlns:a="http://schemas.openxmlformats.org/drawingml/2006/main">
            <a:r>
              <a:t>      {</a:t>
            </a:r>
          </a:p>
          <a:p xmlns:a="http://schemas.openxmlformats.org/drawingml/2006/main">
            <a:r>
              <a:t>        "title": "답변 추천",</a:t>
            </a:r>
          </a:p>
          <a:p xmlns:a="http://schemas.openxmlformats.org/drawingml/2006/main">
            <a:r>
              <a:t>        "input": "유사 사건",</a:t>
            </a:r>
          </a:p>
          <a:p xmlns:a="http://schemas.openxmlformats.org/drawingml/2006/main">
            <a:r>
              <a:t>        "process": "동일 사건 여부·개인정보 범위 검토",</a:t>
            </a:r>
          </a:p>
          <a:p xmlns:a="http://schemas.openxmlformats.org/drawingml/2006/main">
            <a:r>
              <a:t>        "output": "추천 답변"</a:t>
            </a:r>
          </a:p>
          <a:p xmlns:a="http://schemas.openxmlformats.org/drawingml/2006/main">
            <a:r>
              <a:t>      },</a:t>
            </a:r>
          </a:p>
          <a:p xmlns:a="http://schemas.openxmlformats.org/drawingml/2006/main">
            <a:r>
              <a:t>      {</a:t>
            </a:r>
          </a:p>
          <a:p xmlns:a="http://schemas.openxmlformats.org/drawingml/2006/main">
            <a:r>
              <a:t>        "title": "현업 수정",</a:t>
            </a:r>
          </a:p>
          <a:p xmlns:a="http://schemas.openxmlformats.org/drawingml/2006/main">
            <a:r>
              <a:t>        "input": "추천 답변",</a:t>
            </a:r>
          </a:p>
          <a:p xmlns:a="http://schemas.openxmlformats.org/drawingml/2006/main">
            <a:r>
              <a:t>        "process": "담당자의 군집·초안 수정 후 민원 처리",</a:t>
            </a:r>
          </a:p>
          <a:p xmlns:a="http://schemas.openxmlformats.org/drawingml/2006/main">
            <a:r>
              <a:t>        "output": "수정·회신"</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"같은 사안의 반복 민원을 묶고 기관별 답변 초안 제시",</a:t>
            </a:r>
          </a:p>
          <a:p xmlns:a="http://schemas.openxmlformats.org/drawingml/2006/main">
            <a:r>
              <a:t>      "exception": "표현이 같은 다른 사건·소관기관 차이·반대 취지",</a:t>
            </a:r>
          </a:p>
          <a:p xmlns:a="http://schemas.openxmlformats.org/drawingml/2006/main">
            <a:r>
              <a:t>      "evidence": "군집 정답표·잘못된 병합 건·담당자 수정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"민원 처리자·정책 분석자",</a:t>
            </a:r>
          </a:p>
          <a:p xmlns:a="http://schemas.openxmlformats.org/drawingml/2006/main">
            <a:r>
              <a:t>          "processing": "민원요지·유형·처리기관 문맥 구성",</a:t>
            </a:r>
          </a:p>
          <a:p xmlns:a="http://schemas.openxmlformats.org/drawingml/2006/main">
            <a:r>
              <a:t>          "output": "민원 본문"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"민원·답변 자료",</a:t>
            </a:r>
          </a:p>
          <a:p xmlns:a="http://schemas.openxmlformats.org/drawingml/2006/main">
            <a:r>
              <a:t>          "processing": "국민신문고·민원정보분석 자료의 연계·정제",</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"민원 본문",</a:t>
            </a:r>
          </a:p>
          <a:p xmlns:a="http://schemas.openxmlformats.org/drawingml/2006/main">
            <a:r>
              <a:t>          "processing": "RAG 답변 추천과 의미 유사도 군집",</a:t>
            </a:r>
          </a:p>
          <a:p xmlns:a="http://schemas.openxmlformats.org/drawingml/2006/main">
            <a:r>
              <a:t>          "output": "추천 답변"</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"추천 답변",</a:t>
            </a:r>
          </a:p>
          <a:p xmlns:a="http://schemas.openxmlformats.org/drawingml/2006/main">
            <a:r>
              <a:t>          "processing": "담당자의 군집·초안 수정 후 민원 처리",</a:t>
            </a:r>
          </a:p>
          <a:p xmlns:a="http://schemas.openxmlformats.org/drawingml/2006/main">
            <a:r>
              <a:t>          "output": "수정·회신"</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"기관별 답변 적합성과 병합 오류 분석",</a:t>
            </a:r>
          </a:p>
          <a:p xmlns:a="http://schemas.openxmlformats.org/drawingml/2006/main">
            <a:r>
              <a:t>          "output": "군집 정답표·잘못된 병합 건·담당자 수정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"기관별 답변 적합성과 병합 오류 분석",</a:t>
            </a:r>
          </a:p>
          <a:p xmlns:a="http://schemas.openxmlformats.org/drawingml/2006/main">
            <a:r>
              <a:t>    "status": "RFP 기반 논리 설계",</a:t>
            </a:r>
          </a:p>
          <a:p xmlns:a="http://schemas.openxmlformats.org/drawingml/2006/main">
            <a:r>
              <a:t>    "basis": "본공고 RFP · 사업계획·민원답변 작성지원·빈발중복민원",</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"추진계획·성과지표, 기능 요구사항 / Word T035",</a:t>
            </a:r>
          </a:p>
          <a:p xmlns:a="http://schemas.openxmlformats.org/drawingml/2006/main">
            <a:r>
              <a:t>        "url": "https://www.nia.or.kr/common/board/Download.do?bcIdx=28233&amp;cbIdx=78336&amp;fileNo=2"</a:t>
            </a:r>
          </a:p>
          <a:p xmlns:a="http://schemas.openxmlformats.org/drawingml/2006/main">
            <a:r>
              <a:t>      }</a:t>
            </a:r>
          </a:p>
          <a:p xmlns:a="http://schemas.openxmlformats.org/drawingml/2006/main">
            <a:r>
              <a:t>    ],</a:t>
            </a:r>
          </a:p>
          <a:p xmlns:a="http://schemas.openxmlformats.org/drawingml/2006/main">
            <a:r>
              <a:t>    "implication": "유사 문구와 동일 사건을 구분하는 민원 분류 및 소관부서별 답변 검토",</a:t>
            </a:r>
          </a:p>
          <a:p xmlns:a="http://schemas.openxmlformats.org/drawingml/2006/main">
            <a:r>
              <a:t>    "local": "유사 문구와 동일 사건을 구분하는 민원 분류 및 소관부서별 답변 검토",</a:t>
            </a:r>
          </a:p>
          <a:p xmlns:a="http://schemas.openxmlformats.org/drawingml/2006/main">
            <a:r>
              <a:t>    "sourceDetail": "국민신문고/민원정보분석 연계, RAG·요약·유사도 군집, 현업 수정 및 시범기관 확산",</a:t>
            </a:r>
          </a:p>
          <a:p xmlns:a="http://schemas.openxmlformats.org/drawingml/2006/main">
            <a:r>
              <a:t>    "narrative": [</a:t>
            </a:r>
          </a:p>
          <a:p xmlns:a="http://schemas.openxmlformats.org/drawingml/2006/main">
            <a:r>
              <a:t>      "국민신문고의 접수·처리와 민원정보분석 업무를 연결하는 AI 고도화. 담당자의 답변 초안 작성과 유사민원 식별, 정책 분석자의 의미 기반 이슈 탐색을 서로 다른 업무 결과로 구분하는 사업.",</a:t>
            </a:r>
          </a:p>
          <a:p xmlns:a="http://schemas.openxmlformats.org/drawingml/2006/main">
            <a:r>
              <a:t>      "원문 목표 구성도는 기존 포털·DB, API Gateway, 답변·분석·중복 검색 모듈, 데이터 처리 계층, 운영 관리 계층으로 구성. OCR·메타정보 추출 후 키워드·벡터 검색을 병렬 수행하고, 재정렬된 근거를 업무 모듈에 전달하는 구조. 서비스 화면과 모델 운영의 별도 책임 분리가 핵심.",</a:t>
            </a:r>
          </a:p>
          <a:p xmlns:a="http://schemas.openxmlformats.org/drawingml/2006/main">
            <a:r>
              <a:t>      "표현이 비슷하다는 이유만으로 같은 사건으로 병합하면 이의·반대 민원의 취지 소실 가능성. CCK 비교시험에서는 문장 유사도 외에 사건·기관·지역·처리 단계의 일치 여부와 담당자의 수정·채택 이력을 함께 평가할 필요. 답변 추천시간과 최종 회신시간의 별도 계측."</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"SFR-004",</a:t>
            </a:r>
          </a:p>
          <a:p xmlns:a="http://schemas.openxmlformats.org/drawingml/2006/main">
            <a:r>
              <a:t>        "title": "민원 종류 분류",</a:t>
            </a:r>
          </a:p>
          <a:p xmlns:a="http://schemas.openxmlformats.org/drawingml/2006/main">
            <a:r>
              <a:t>        "locator": "SFR-004",</a:t>
            </a:r>
          </a:p>
          <a:p xmlns:a="http://schemas.openxmlformats.org/drawingml/2006/main">
            <a:r>
              <a:t>        "summary": "민원 본문을 민원 종류로 분류해 담당 업무의 처리 경로를 지원하는 기능.",</a:t>
            </a:r>
          </a:p>
          <a:p xmlns:a="http://schemas.openxmlformats.org/drawingml/2006/main">
            <a:r>
              <a:t>        "data": "민원 원문·분류 체계 → 분류 후보·검토 결과",</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"복합 주제·짧은 문장·오탈자 민원의 오분류와 담당자 수정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"6b4913cc0ae5b5169d9646773f4136e5246b9263738a4827b1ab87a16891f0b5"</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"민원 처리내용 초안 제공",</a:t>
            </a:r>
          </a:p>
          <a:p xmlns:a="http://schemas.openxmlformats.org/drawingml/2006/main">
            <a:r>
              <a:t>        "locator": "SFR-005",</a:t>
            </a:r>
          </a:p>
          <a:p xmlns:a="http://schemas.openxmlformats.org/drawingml/2006/main">
            <a:r>
              <a:t>        "summary": "관련 규정과 기존 처리내용을 참조한 민원답변 초안 지원. 초안과 최종 답변의 담당자 확인 경로 구성.",</a:t>
            </a:r>
          </a:p>
          <a:p xmlns:a="http://schemas.openxmlformats.org/drawingml/2006/main">
            <a:r>
              <a:t>        "data": "접수 민원·참조 자료 → 근거가 연결된 답변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"과거 규정과 현행 규정이 충돌하는 사례의 근거 판본 및 담당자 수정 흔적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"4f5defef29ed25fd79e46a89d680a461cb449aef69766f422194dd69e74fe07d"</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"유사민원 식별 기능 제공",</a:t>
            </a:r>
          </a:p>
          <a:p xmlns:a="http://schemas.openxmlformats.org/drawingml/2006/main">
            <a:r>
              <a:t>        "locator": "SFR-006",</a:t>
            </a:r>
          </a:p>
          <a:p xmlns:a="http://schemas.openxmlformats.org/drawingml/2006/main">
            <a:r>
              <a:t>        "summary": "같거나 유사한 민원을 식별해 반복 업무를 지원하는 기능. 검색 후보와 실제 병합 판단의 구분.",</a:t>
            </a:r>
          </a:p>
          <a:p xmlns:a="http://schemas.openxmlformats.org/drawingml/2006/main">
            <a:r>
              <a:t>        "data": "민원 집합·사건 문맥 → 유사도·후보 묶음",</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"C05"</a:t>
            </a:r>
          </a:p>
          <a:p xmlns:a="http://schemas.openxmlformats.org/drawingml/2006/main">
            <a:r>
              <a:t>        ],</a:t>
            </a:r>
          </a:p>
          <a:p xmlns:a="http://schemas.openxmlformats.org/drawingml/2006/main">
            <a:r>
              <a:t>        "acceptance": "문장은 같지만 사건·지역·신청인이 다른 사례로 오병합 여부와 원문 복원 가능성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"4153e591c032d301106aff35c38940a0d476dc7d8c4d31155d7221e129da66dd"</a:t>
            </a:r>
          </a:p>
          <a:p xmlns:a="http://schemas.openxmlformats.org/drawingml/2006/main">
            <a:r>
              <a:t>      },</a:t>
            </a:r>
          </a:p>
          <a:p xmlns:a="http://schemas.openxmlformats.org/drawingml/2006/main">
            <a:r>
              <a:t>      {</a:t>
            </a:r>
          </a:p>
          <a:p xmlns:a="http://schemas.openxmlformats.org/drawingml/2006/main">
            <a:r>
              <a:t>        "id": "SFR-010",</a:t>
            </a:r>
          </a:p>
          <a:p xmlns:a="http://schemas.openxmlformats.org/drawingml/2006/main">
            <a:r>
              <a:t>        "title": "민원업무 고도화 서비스 관리기능",</a:t>
            </a:r>
          </a:p>
          <a:p xmlns:a="http://schemas.openxmlformats.org/drawingml/2006/main">
            <a:r>
              <a:t>        "locator": "SFR-010",</a:t>
            </a:r>
          </a:p>
          <a:p xmlns:a="http://schemas.openxmlformats.org/drawingml/2006/main">
            <a:r>
              <a:t>        "summary": "민원업무 고도화 서비스의 이용·관리 기능 구성. 운영자가 업무별 서비스 상태와 관리 대상을 확인하는 경로.",</a:t>
            </a:r>
          </a:p>
          <a:p xmlns:a="http://schemas.openxmlformats.org/drawingml/2006/main">
            <a:r>
              <a:t>        "data": "운영 설정·사용 이력 → 관리 상태·변경 기록",</a:t>
            </a:r>
          </a:p>
          <a:p xmlns:a="http://schemas.openxmlformats.org/drawingml/2006/main">
            <a:r>
              <a:t>        "components": [</a:t>
            </a:r>
          </a:p>
          <a:p xmlns:a="http://schemas.openxmlformats.org/drawingml/2006/main">
            <a:r>
              <a:t>          "C06",</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"관리 역할별 허용 작업과 변경 이력, 설정 변경 후 서비스 반영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"d0f1ab9389b360af8d77e62f3eeb2326716b450c2d1575dcec42b79fbb02d49b"</a:t>
            </a:r>
          </a:p>
          <a:p xmlns:a="http://schemas.openxmlformats.org/drawingml/2006/main">
            <a:r>
              <a:t>      },</a:t>
            </a:r>
          </a:p>
          <a:p xmlns:a="http://schemas.openxmlformats.org/drawingml/2006/main">
            <a:r>
              <a:t>      {</a:t>
            </a:r>
          </a:p>
          <a:p xmlns:a="http://schemas.openxmlformats.org/drawingml/2006/main">
            <a:r>
              <a:t>        "id": "SFR-011",</a:t>
            </a:r>
          </a:p>
          <a:p xmlns:a="http://schemas.openxmlformats.org/drawingml/2006/main">
            <a:r>
              <a:t>        "title": "의미 기반 검색과 분석",</a:t>
            </a:r>
          </a:p>
          <a:p xmlns:a="http://schemas.openxmlformats.org/drawingml/2006/main">
            <a:r>
              <a:t>        "locator": "SFR-011",</a:t>
            </a:r>
          </a:p>
          <a:p xmlns:a="http://schemas.openxmlformats.org/drawingml/2006/main">
            <a:r>
              <a:t>        "summary": "단순 키워드 일치를 넘어 민원 의미를 이용한 검색·분석 지원.",</a:t>
            </a:r>
          </a:p>
          <a:p xmlns:a="http://schemas.openxmlformats.org/drawingml/2006/main">
            <a:r>
              <a:t>        "data": "검색 질의·민원 색인 → 의미상 관련 민원·분석 결과",</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"C11"</a:t>
            </a:r>
          </a:p>
          <a:p xmlns:a="http://schemas.openxmlformats.org/drawingml/2006/main">
            <a:r>
              <a:t>        ],</a:t>
            </a:r>
          </a:p>
          <a:p xmlns:a="http://schemas.openxmlformats.org/drawingml/2006/main">
            <a:r>
              <a:t>        "acceptance": "다른 표현의 같은 의도와 같은 단어의 다른 의도를 구분한 검색 정답셋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"cb3704532e53b7b70bc4764b544e7f549cec4553215296f437e5601fe00168f1"</a:t>
            </a:r>
          </a:p>
          <a:p xmlns:a="http://schemas.openxmlformats.org/drawingml/2006/main">
            <a:r>
              <a:t>      },</a:t>
            </a:r>
          </a:p>
          <a:p xmlns:a="http://schemas.openxmlformats.org/drawingml/2006/main">
            <a:r>
              <a:t>      {</a:t>
            </a:r>
          </a:p>
          <a:p xmlns:a="http://schemas.openxmlformats.org/drawingml/2006/main">
            <a:r>
              <a:t>        "id": "SFR-015",</a:t>
            </a:r>
          </a:p>
          <a:p xmlns:a="http://schemas.openxmlformats.org/drawingml/2006/main">
            <a:r>
              <a:t>        "title": "실시간 데이터 수집 및 검증",</a:t>
            </a:r>
          </a:p>
          <a:p xmlns:a="http://schemas.openxmlformats.org/drawingml/2006/main">
            <a:r>
              <a:t>        "locator": "SFR-015",</a:t>
            </a:r>
          </a:p>
          <a:p xmlns:a="http://schemas.openxmlformats.org/drawingml/2006/main">
            <a:r>
              <a:t>        "summary": "OGG 기반 원천 변경 수집과 데이터 검증을 통한 실시간 연계. 수집 이후 정합성 확인이 필요한 데이터 흐름.",</a:t>
            </a:r>
          </a:p>
          <a:p xmlns:a="http://schemas.openxmlformats.org/drawingml/2006/main">
            <a:r>
              <a:t>        "data": "원천 DB 변경분 → 검증된 연계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"삽입·수정·삭제·중단 후 재개 시 건수·키·시점 대사와 중복 적재 여부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"bcca0bc62529ccf5ac36e787dc506c0b54f8f16e1b96c873fa31cca5157a057c"</a:t>
            </a:r>
          </a:p>
          <a:p xmlns:a="http://schemas.openxmlformats.org/drawingml/2006/main">
            <a:r>
              <a:t>      },</a:t>
            </a:r>
          </a:p>
          <a:p xmlns:a="http://schemas.openxmlformats.org/drawingml/2006/main">
            <a:r>
              <a:t>      {</a:t>
            </a:r>
          </a:p>
          <a:p xmlns:a="http://schemas.openxmlformats.org/drawingml/2006/main">
            <a:r>
              <a:t>        "id": "SFR-018",</a:t>
            </a:r>
          </a:p>
          <a:p xmlns:a="http://schemas.openxmlformats.org/drawingml/2006/main">
            <a:r>
              <a:t>        "title": "AI 기반 민원 자동 처리",</a:t>
            </a:r>
          </a:p>
          <a:p xmlns:a="http://schemas.openxmlformats.org/drawingml/2006/main">
            <a:r>
              <a:t>        "locator": "SFR-018",</a:t>
            </a:r>
          </a:p>
          <a:p xmlns:a="http://schemas.openxmlformats.org/drawingml/2006/main">
            <a:r>
              <a:t>        "summary": "AI 기반 민원 처리 지원에 담당자 검토·채택 결과를 연결하고 운영 개선에 활용하는 흐름.",</a:t>
            </a:r>
          </a:p>
          <a:p xmlns:a="http://schemas.openxmlformats.org/drawingml/2006/main">
            <a:r>
              <a:t>        "data": "처리 후보·담당자 검토 → 채택·수정 결과·피드백",</a:t>
            </a:r>
          </a:p>
          <a:p xmlns:a="http://schemas.openxmlformats.org/drawingml/2006/main">
            <a:r>
              <a:t>        "components": [</a:t>
            </a:r>
          </a:p>
          <a:p xmlns:a="http://schemas.openxmlformats.org/drawingml/2006/main">
            <a:r>
              <a:t>          "C04",</a:t>
            </a:r>
          </a:p>
          <a:p xmlns:a="http://schemas.openxmlformats.org/drawingml/2006/main">
            <a:r>
              <a:t>          "C06",</a:t>
            </a:r>
          </a:p>
          <a:p xmlns:a="http://schemas.openxmlformats.org/drawingml/2006/main">
            <a:r>
              <a:t>          "C08"</a:t>
            </a:r>
          </a:p>
          <a:p xmlns:a="http://schemas.openxmlformats.org/drawingml/2006/main">
            <a:r>
              <a:t>        ],</a:t>
            </a:r>
          </a:p>
          <a:p xmlns:a="http://schemas.openxmlformats.org/drawingml/2006/main">
            <a:r>
              <a:t>        "acceptance": "추천과 확정 상태를 구분하고 수정·반려가 다음 처리 기록에 누락 없이 남는지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"35bf9ae1174266075e30936c9e150e97a0d68cd55f83071656309743e2875dca"</a:t>
            </a:r>
          </a:p>
          <a:p xmlns:a="http://schemas.openxmlformats.org/drawingml/2006/main">
            <a:r>
              <a:t>      },</a:t>
            </a:r>
          </a:p>
          <a:p xmlns:a="http://schemas.openxmlformats.org/drawingml/2006/main">
            <a:r>
              <a:t>      {</a:t>
            </a:r>
          </a:p>
          <a:p xmlns:a="http://schemas.openxmlformats.org/drawingml/2006/main">
            <a:r>
              <a:t>        "id": "SFR-019",</a:t>
            </a:r>
          </a:p>
          <a:p xmlns:a="http://schemas.openxmlformats.org/drawingml/2006/main">
            <a:r>
              <a:t>        "title": "API 통합 관리 및 성능 모니터링",</a:t>
            </a:r>
          </a:p>
          <a:p xmlns:a="http://schemas.openxmlformats.org/drawingml/2006/main">
            <a:r>
              <a:t>        "locator": "SFR-019",</a:t>
            </a:r>
          </a:p>
          <a:p xmlns:a="http://schemas.openxmlformats.org/drawingml/2006/main">
            <a:r>
              <a:t>        "summary": "API 통합 관리와 성능 모니터링을 통한 업무 모듈·기간계 연결 관리.",</a:t>
            </a:r>
          </a:p>
          <a:p xmlns:a="http://schemas.openxmlformats.org/drawingml/2006/main">
            <a:r>
              <a:t>        "data": "API 요청·응답·호출 이력 → 상태·성능·오류 기록",</a:t>
            </a:r>
          </a:p>
          <a:p xmlns:a="http://schemas.openxmlformats.org/drawingml/2006/main">
            <a:r>
              <a:t>        "components": [</a:t>
            </a:r>
          </a:p>
          <a:p xmlns:a="http://schemas.openxmlformats.org/drawingml/2006/main">
            <a:r>
              <a:t>          "C02",</a:t>
            </a:r>
          </a:p>
          <a:p xmlns:a="http://schemas.openxmlformats.org/drawingml/2006/main">
            <a:r>
              <a:t>          "C07",</a:t>
            </a:r>
          </a:p>
          <a:p xmlns:a="http://schemas.openxmlformats.org/drawingml/2006/main">
            <a:r>
              <a:t>          "C08"</a:t>
            </a:r>
          </a:p>
          <a:p xmlns:a="http://schemas.openxmlformats.org/drawingml/2006/main">
            <a:r>
              <a:t>        ],</a:t>
            </a:r>
          </a:p>
          <a:p xmlns:a="http://schemas.openxmlformats.org/drawingml/2006/main">
            <a:r>
              <a:t>        "acceptance": "호출 실패·시간초과·중복 요청을 주입하고 호출 경로별 원인과 처리 상태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"ff7c0fe41f6cc841f53d73ace372872ebb0dfc391d7d7ca1a21b446c4dfa32b4"</a:t>
            </a:r>
          </a:p>
          <a:p xmlns:a="http://schemas.openxmlformats.org/drawingml/2006/main">
            <a:r>
              <a:t>      },</a:t>
            </a:r>
          </a:p>
          <a:p xmlns:a="http://schemas.openxmlformats.org/drawingml/2006/main">
            <a:r>
              <a:t>      {</a:t>
            </a:r>
          </a:p>
          <a:p xmlns:a="http://schemas.openxmlformats.org/drawingml/2006/main">
            <a:r>
              <a:t>        "id": "SFR-020",</a:t>
            </a:r>
          </a:p>
          <a:p xmlns:a="http://schemas.openxmlformats.org/drawingml/2006/main">
            <a:r>
              <a:t>        "title": "시스템 설정 및 운영 모니터링 통합 관리",</a:t>
            </a:r>
          </a:p>
          <a:p xmlns:a="http://schemas.openxmlformats.org/drawingml/2006/main">
            <a:r>
              <a:t>        "locator": "SFR-020",</a:t>
            </a:r>
          </a:p>
          <a:p xmlns:a="http://schemas.openxmlformats.org/drawingml/2006/main">
            <a:r>
              <a:t>        "summary": "시스템 설정과 운영 모니터링의 통합 관리. 업무 기능과 운영 정책의 일관된 상태 확인.",</a:t>
            </a:r>
          </a:p>
          <a:p xmlns:a="http://schemas.openxmlformats.org/drawingml/2006/main">
            <a:r>
              <a:t>        "data": "시스템 설정·운영 지표 → 관리 화면·이상 상태",</a:t>
            </a:r>
          </a:p>
          <a:p xmlns:a="http://schemas.openxmlformats.org/drawingml/2006/main">
            <a:r>
              <a:t>        "components": [</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"설정 변경 권한, 변경 전후 상태, 장애 탐지·복구 기록의 연결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"700952e7f3297506bdddffe81782d75953ec64aa85c0f75fd9ce24f75b54747a"</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"국민신문고 접점",</a:t>
            </a:r>
          </a:p>
          <a:p xmlns:a="http://schemas.openxmlformats.org/drawingml/2006/main">
            <a:r>
              <a:t>          "layer": "이용 접점",</a:t>
            </a:r>
          </a:p>
          <a:p xmlns:a="http://schemas.openxmlformats.org/drawingml/2006/main">
            <a:r>
              <a:t>          "detail": "민원 처리자·정책 분석자",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"요지·기관·유형",</a:t>
            </a:r>
          </a:p>
          <a:p xmlns:a="http://schemas.openxmlformats.org/drawingml/2006/main">
            <a:r>
              <a:t>          "layer": "업무 문맥",</a:t>
            </a:r>
          </a:p>
          <a:p xmlns:a="http://schemas.openxmlformats.org/drawingml/2006/main">
            <a:r>
              <a:t>          "detail": "민원요지·유형·처리기관 문맥 구성",</a:t>
            </a:r>
          </a:p>
          <a:p xmlns:a="http://schemas.openxmlformats.org/drawingml/2006/main">
            <a:r>
              <a:t>          "requirements": [</a:t>
            </a:r>
          </a:p>
          <a:p xmlns:a="http://schemas.openxmlformats.org/drawingml/2006/main">
            <a:r>
              <a:t>            "SFR-004",</a:t>
            </a:r>
          </a:p>
          <a:p xmlns:a="http://schemas.openxmlformats.org/drawingml/2006/main">
            <a:r>
              <a:t>            "SFR-019"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"키워드·벡터 검색",</a:t>
            </a:r>
          </a:p>
          <a:p xmlns:a="http://schemas.openxmlformats.org/drawingml/2006/main">
            <a:r>
              <a:t>          "layer": "자료 조회",</a:t>
            </a:r>
          </a:p>
          <a:p xmlns:a="http://schemas.openxmlformats.org/drawingml/2006/main">
            <a:r>
              <a:t>          "detail": "민원 본문",</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"재정렬·답변·군집",</a:t>
            </a:r>
          </a:p>
          <a:p xmlns:a="http://schemas.openxmlformats.org/drawingml/2006/main">
            <a:r>
              <a:t>          "layer": "핵심 처리",</a:t>
            </a:r>
          </a:p>
          <a:p xmlns:a="http://schemas.openxmlformats.org/drawingml/2006/main">
            <a:r>
              <a:t>          "detail": "RAG 답변 추천과 의미 유사도 군집",</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"SFR-018"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"동일 사건 대조",</a:t>
            </a:r>
          </a:p>
          <a:p xmlns:a="http://schemas.openxmlformats.org/drawingml/2006/main">
            <a:r>
              <a:t>          "layer": "결과 검증",</a:t>
            </a:r>
          </a:p>
          <a:p xmlns:a="http://schemas.openxmlformats.org/drawingml/2006/main">
            <a:r>
              <a:t>          "detail": "동일 사건 여부·개인정보 범위 검토",</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"담당자 수정",</a:t>
            </a:r>
          </a:p>
          <a:p xmlns:a="http://schemas.openxmlformats.org/drawingml/2006/main">
            <a:r>
              <a:t>          "layer": "사람 확인",</a:t>
            </a:r>
          </a:p>
          <a:p xmlns:a="http://schemas.openxmlformats.org/drawingml/2006/main">
            <a:r>
              <a:t>          "detail": "같은 사안의 반복 민원을 묶고 기관별 답변 초안 제시",</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"SFR-010",</a:t>
            </a:r>
          </a:p>
          <a:p xmlns:a="http://schemas.openxmlformats.org/drawingml/2006/main">
            <a:r>
              <a:t>            "SFR-018"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"민원 처리·분석",</a:t>
            </a:r>
          </a:p>
          <a:p xmlns:a="http://schemas.openxmlformats.org/drawingml/2006/main">
            <a:r>
              <a:t>          "layer": "업무 연결",</a:t>
            </a:r>
          </a:p>
          <a:p xmlns:a="http://schemas.openxmlformats.org/drawingml/2006/main">
            <a:r>
              <a:t>          "detail": "담당자의 군집·초안 수정 후 민원 처리",</a:t>
            </a:r>
          </a:p>
          <a:p xmlns:a="http://schemas.openxmlformats.org/drawingml/2006/main">
            <a:r>
              <a:t>          "requirements": [</a:t>
            </a:r>
          </a:p>
          <a:p xmlns:a="http://schemas.openxmlformats.org/drawingml/2006/main">
            <a:r>
              <a:t>            "SFR-019"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"오답·병합 오류",</a:t>
            </a:r>
          </a:p>
          <a:p xmlns:a="http://schemas.openxmlformats.org/drawingml/2006/main">
            <a:r>
              <a:t>          "layer": "운영 관측",</a:t>
            </a:r>
          </a:p>
          <a:p xmlns:a="http://schemas.openxmlformats.org/drawingml/2006/main">
            <a:r>
              <a:t>          "detail": "기관별 답변 적합성과 병합 오류 분석",</a:t>
            </a:r>
          </a:p>
          <a:p xmlns:a="http://schemas.openxmlformats.org/drawingml/2006/main">
            <a:r>
              <a:t>          "requirements": [</a:t>
            </a:r>
          </a:p>
          <a:p xmlns:a="http://schemas.openxmlformats.org/drawingml/2006/main">
            <a:r>
              <a:t>            "SFR-010",</a:t>
            </a:r>
          </a:p>
          <a:p xmlns:a="http://schemas.openxmlformats.org/drawingml/2006/main">
            <a:r>
              <a:t>            "SFR-018",</a:t>
            </a:r>
          </a:p>
          <a:p xmlns:a="http://schemas.openxmlformats.org/drawingml/2006/main">
            <a:r>
              <a:t>            "SFR-019",</a:t>
            </a:r>
          </a:p>
          <a:p xmlns:a="http://schemas.openxmlformats.org/drawingml/2006/main">
            <a:r>
              <a:t>            "SFR-020"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"민원·답변·지침",</a:t>
            </a:r>
          </a:p>
          <a:p xmlns:a="http://schemas.openxmlformats.org/drawingml/2006/main">
            <a:r>
              <a:t>          "layer": "데이터 원천",</a:t>
            </a:r>
          </a:p>
          <a:p xmlns:a="http://schemas.openxmlformats.org/drawingml/2006/main">
            <a:r>
              <a:t>          "detail": "민원·답변 자료",</a:t>
            </a:r>
          </a:p>
          <a:p xmlns:a="http://schemas.openxmlformats.org/drawingml/2006/main">
            <a:r>
              <a:t>          "requirements": [</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"OCR·메타정보 추출",</a:t>
            </a:r>
          </a:p>
          <a:p xmlns:a="http://schemas.openxmlformats.org/drawingml/2006/main">
            <a:r>
              <a:t>          "layer": "준비·갱신",</a:t>
            </a:r>
          </a:p>
          <a:p xmlns:a="http://schemas.openxmlformats.org/drawingml/2006/main">
            <a:r>
              <a:t>          "detail": "국민신문고·민원정보분석 자료의 연계·정제",</a:t>
            </a:r>
          </a:p>
          <a:p xmlns:a="http://schemas.openxmlformats.org/drawingml/2006/main">
            <a:r>
              <a:t>          "requirements": [</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"지식 DB·색인",</a:t>
            </a:r>
          </a:p>
          <a:p xmlns:a="http://schemas.openxmlformats.org/drawingml/2006/main">
            <a:r>
              <a:t>          "layer": "상태·지식 저장",</a:t>
            </a:r>
          </a:p>
          <a:p xmlns:a="http://schemas.openxmlformats.org/drawingml/2006/main">
            <a:r>
              <a:t>          "detail": "군집 정답표·잘못된 병합 건·담당자 수정 이력",</a:t>
            </a:r>
          </a:p>
          <a:p xmlns:a="http://schemas.openxmlformats.org/drawingml/2006/main">
            <a:r>
              <a:t>          "requirements": [</a:t>
            </a:r>
          </a:p>
          <a:p xmlns:a="http://schemas.openxmlformats.org/drawingml/2006/main">
            <a:r>
              <a:t>            "SFR-011",</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"모델·프롬프트 관리",</a:t>
            </a:r>
          </a:p>
          <a:p xmlns:a="http://schemas.openxmlformats.org/drawingml/2006/main">
            <a:r>
              <a:t>          "layer": "권한·정책",</a:t>
            </a:r>
          </a:p>
          <a:p xmlns:a="http://schemas.openxmlformats.org/drawingml/2006/main">
            <a:r>
              <a:t>          "detail": "표현이 같은 다른 사건·소관기관 차이·반대 취지",</a:t>
            </a:r>
          </a:p>
          <a:p xmlns:a="http://schemas.openxmlformats.org/drawingml/2006/main">
            <a:r>
              <a:t>          "requirements": [</a:t>
            </a:r>
          </a:p>
          <a:p xmlns:a="http://schemas.openxmlformats.org/drawingml/2006/main">
            <a:r>
              <a:t>            "SFR-010",</a:t>
            </a:r>
          </a:p>
          <a:p xmlns:a="http://schemas.openxmlformats.org/drawingml/2006/main">
            <a:r>
              <a:t>            "SFR-020"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"민원요지·유형·처리기관 문맥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"민원 본문",</a:t>
            </a:r>
          </a:p>
          <a:p xmlns:a="http://schemas.openxmlformats.org/drawingml/2006/main">
            <a:r>
              <a:t>          "check": "동일 사건 여부·개인정보 범위 검토"</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"유사 사건",</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"답변 초안·유사군 후보·근거 문서",</a:t>
            </a:r>
          </a:p>
          <a:p xmlns:a="http://schemas.openxmlformats.org/drawingml/2006/main">
            <a:r>
              <a:t>          "check": "표현이 같은 다른 사건·소관기관 차이·반대 취지"</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"추천 답변",</a:t>
            </a:r>
          </a:p>
          <a:p xmlns:a="http://schemas.openxmlformats.org/drawingml/2006/main">
            <a:r>
              <a:t>          "check": "담당자의 군집·초안 수정 후 민원 처리"</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"수정·회신",</a:t>
            </a:r>
          </a:p>
          <a:p xmlns:a="http://schemas.openxmlformats.org/drawingml/2006/main">
            <a:r>
              <a:t>          "check": "군집 정답표·잘못된 병합 건·담당자 수정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"목표시스템 개념도·RAG 구성 예시",</a:t>
            </a:r>
          </a:p>
          <a:p xmlns:a="http://schemas.openxmlformats.org/drawingml/2006/main">
            <a:r>
              <a:t>        "extracted": "API Gateway, OCR·메타정보 추출, 키워드/벡터 검색과 재정렬",</a:t>
            </a:r>
          </a:p>
          <a:p xmlns:a="http://schemas.openxmlformats.org/drawingml/2006/main">
            <a:r>
              <a:t>        "extension": "민원 중복 후보와 공식 병합·회신의 승인 경계"</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"PF-R02",</a:t>
            </a:r>
          </a:p>
          <a:p xmlns:a="http://schemas.openxmlformats.org/drawingml/2006/main">
            <a:r>
              <a:t>          "path": "assets/casebook-sources/PF-R02-01.png",</a:t>
            </a:r>
          </a:p>
          <a:p xmlns:a="http://schemas.openxmlformats.org/drawingml/2006/main">
            <a:r>
              <a:t>          "title": "국민소통 플랫폼 목표시스템",</a:t>
            </a:r>
          </a:p>
          <a:p xmlns:a="http://schemas.openxmlformats.org/drawingml/2006/main">
            <a:r>
              <a:t>          "status": "RFP 목표시스템 개념도",</a:t>
            </a:r>
          </a:p>
          <a:p xmlns:a="http://schemas.openxmlformats.org/drawingml/2006/main">
            <a:r>
              <a:t>          "caption": "접점·API Gateway·업무 모듈·데이터 처리·운영 관리",</a:t>
            </a:r>
          </a:p>
          <a:p xmlns:a="http://schemas.openxmlformats.org/drawingml/2006/main">
            <a:r>
              <a:t>          "locator": "NIA_RFP_RFP / BinData/image33_bmp",</a:t>
            </a:r>
          </a:p>
          <a:p xmlns:a="http://schemas.openxmlformats.org/drawingml/2006/main">
            <a:r>
              <a:t>          "checked": "2026-10-16",</a:t>
            </a:r>
          </a:p>
          <a:p xmlns:a="http://schemas.openxmlformats.org/drawingml/2006/main">
            <a:r>
              <a:t>          "sha256": "91feb890184edf04ccccd8d86995147aa6c2181b0a66c58436263cafccdae911",</a:t>
            </a:r>
          </a:p>
          <a:p xmlns:a="http://schemas.openxmlformats.org/drawingml/2006/main">
            <a:r>
              <a:t>          "explanation": {</a:t>
            </a:r>
          </a:p>
          <a:p xmlns:a="http://schemas.openxmlformats.org/drawingml/2006/main">
            <a:r>
              <a:t>            "read": "접점에서 받은 요청을 API Gateway를 통해 민원 답변·분석·중복 식별 모듈로 전달하는 목표 구성. 데이터 처리 계층은 공통 근거를 공급하고 운영 관리 계층은 서비스·모델 상태를 관찰하는 역할.",</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"SFR-019",</a:t>
            </a:r>
          </a:p>
          <a:p xmlns:a="http://schemas.openxmlformats.org/drawingml/2006/main">
            <a:r>
              <a:t>              "SFR-020"</a:t>
            </a:r>
          </a:p>
          <a:p xmlns:a="http://schemas.openxmlformats.org/drawingml/2006/main">
            <a:r>
              <a:t>            ],</a:t>
            </a:r>
          </a:p>
          <a:p xmlns:a="http://schemas.openxmlformats.org/drawingml/2006/main">
            <a:r>
              <a:t>            "connection": "담당자 답변 초안, 유사민원 후보, 정책 분석 결과를 서로 다른 출력 계약으로 정의하고 기존 민원시스템의 확정·회신 절차에 연결하는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"assets/casebook-sources/PF-R02-02.png",</a:t>
            </a:r>
          </a:p>
          <a:p xmlns:a="http://schemas.openxmlformats.org/drawingml/2006/main">
            <a:r>
              <a:t>          "title": "키워드·벡터 검색과 Reranker",</a:t>
            </a:r>
          </a:p>
          <a:p xmlns:a="http://schemas.openxmlformats.org/drawingml/2006/main">
            <a:r>
              <a:t>          "status": "RFP RAG 구성 예시",</a:t>
            </a:r>
          </a:p>
          <a:p xmlns:a="http://schemas.openxmlformats.org/drawingml/2006/main">
            <a:r>
              <a:t>          "caption": "키워드/벡터 검색 병렬 처리 → 재정렬 → 근거 응답",</a:t>
            </a:r>
          </a:p>
          <a:p xmlns:a="http://schemas.openxmlformats.org/drawingml/2006/main">
            <a:r>
              <a:t>          "locator": "NIA_RFP_RFP / BinData/image18_bmp",</a:t>
            </a:r>
          </a:p>
          <a:p xmlns:a="http://schemas.openxmlformats.org/drawingml/2006/main">
            <a:r>
              <a:t>          "checked": "2026-10-16",</a:t>
            </a:r>
          </a:p>
          <a:p xmlns:a="http://schemas.openxmlformats.org/drawingml/2006/main">
            <a:r>
              <a:t>          "sha256": "a6ab4248256ee300422789627dbe5b8f09ec60657419e13d082c95b32f3f4f90",</a:t>
            </a:r>
          </a:p>
          <a:p xmlns:a="http://schemas.openxmlformats.org/drawingml/2006/main">
            <a:r>
              <a:t>          "explanation": {</a:t>
            </a:r>
          </a:p>
          <a:p xmlns:a="http://schemas.openxmlformats.org/drawingml/2006/main">
            <a:r>
              <a:t>            "read": "키워드 검색은 정확한 용어·조항의 일치 후보, 벡터 검색은 표현이 다른 유사 의미 후보를 제공. Reranker는 통합 후보를 질의 관련성에 따라 다시 정렬하고 생성 모델에 근거를 전달하는 역할.",</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a:t>
            </a:r>
          </a:p>
          <a:p xmlns:a="http://schemas.openxmlformats.org/drawingml/2006/main">
            <a:r>
              <a:t>            "connection": "재정렬 점수를 법적 정답이나 민원 병합 승인으로 해석하지 않고 기관·사건·시점과 출처 일치를 별도로 확인하는 검증 단계의 추가."</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"assets/casebook-sources/PF-R02-03.png",</a:t>
            </a:r>
          </a:p>
          <a:p xmlns:a="http://schemas.openxmlformats.org/drawingml/2006/main">
            <a:r>
              <a:t>          "title": "민원 AI 입출력 데이터",</a:t>
            </a:r>
          </a:p>
          <a:p xmlns:a="http://schemas.openxmlformats.org/drawingml/2006/main">
            <a:r>
              <a:t>          "status": "RFP 데이터 흐름도",</a:t>
            </a:r>
          </a:p>
          <a:p xmlns:a="http://schemas.openxmlformats.org/drawingml/2006/main">
            <a:r>
              <a:t>          "caption": "국민신문고·시범기관 매뉴얼 → 전처리·RAG → 답변·유사도",</a:t>
            </a:r>
          </a:p>
          <a:p xmlns:a="http://schemas.openxmlformats.org/drawingml/2006/main">
            <a:r>
              <a:t>          "locator": "NIA_RFP_RFP / BinData/image34_bmp",</a:t>
            </a:r>
          </a:p>
          <a:p xmlns:a="http://schemas.openxmlformats.org/drawingml/2006/main">
            <a:r>
              <a:t>          "checked": "2026-10-16",</a:t>
            </a:r>
          </a:p>
          <a:p xmlns:a="http://schemas.openxmlformats.org/drawingml/2006/main">
            <a:r>
              <a:t>          "sha256": "0e09409295bbb0aae0a61666cf01982d012392b3f4bccd2e98499654b4b690d0",</a:t>
            </a:r>
          </a:p>
          <a:p xmlns:a="http://schemas.openxmlformats.org/drawingml/2006/main">
            <a:r>
              <a:t>          "explanation": {</a:t>
            </a:r>
          </a:p>
          <a:p xmlns:a="http://schemas.openxmlformats.org/drawingml/2006/main">
            <a:r>
              <a:t>            "read": "국민신문고 데이터와 시범기관 매뉴얼 등 입력을 전처리·RAG 경로에 투입하고 업무별 답변·유사도 결과로 변환하는 입출력 구조. 동일 원천을 이용하더라도 답변과 군집의 산출물은 별도 관리 대상.",</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"SFR-015",</a:t>
            </a:r>
          </a:p>
          <a:p xmlns:a="http://schemas.openxmlformats.org/drawingml/2006/main">
            <a:r>
              <a:t>              "SFR-018"</a:t>
            </a:r>
          </a:p>
          <a:p xmlns:a="http://schemas.openxmlformats.org/drawingml/2006/main">
            <a:r>
              <a:t>            ],</a:t>
            </a:r>
          </a:p>
          <a:p xmlns:a="http://schemas.openxmlformats.org/drawingml/2006/main">
            <a:r>
              <a:t>            "connection": "원천 민원 ID·문서 판본·근거 위치를 결과에 유지해 담당자 수정과 최종 회신의 차이를 재현할 수 있도록 하는 데이터 계약."</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"assets/casebook-sources/PF-R02-04.png",</a:t>
            </a:r>
          </a:p>
          <a:p xmlns:a="http://schemas.openxmlformats.org/drawingml/2006/main">
            <a:r>
              <a:t>          "title": "데이터 구축·학습·운영 흐름",</a:t>
            </a:r>
          </a:p>
          <a:p xmlns:a="http://schemas.openxmlformats.org/drawingml/2006/main">
            <a:r>
              <a:t>          "status": "RFP 데이터 처리 구조",</a:t>
            </a:r>
          </a:p>
          <a:p xmlns:a="http://schemas.openxmlformats.org/drawingml/2006/main">
            <a:r>
              <a:t>          "caption": "수집·정제·가공·학습·운영의 환류",</a:t>
            </a:r>
          </a:p>
          <a:p xmlns:a="http://schemas.openxmlformats.org/drawingml/2006/main">
            <a:r>
              <a:t>          "locator": "NIA_RFP_RFP / BinData/image32_png",</a:t>
            </a:r>
          </a:p>
          <a:p xmlns:a="http://schemas.openxmlformats.org/drawingml/2006/main">
            <a:r>
              <a:t>          "checked": "2026-10-16",</a:t>
            </a:r>
          </a:p>
          <a:p xmlns:a="http://schemas.openxmlformats.org/drawingml/2006/main">
            <a:r>
              <a:t>          "sha256": "b6c466b110d91bceff5a9f806d658aa54f010e0a5b8a358a16771181bea77c50",</a:t>
            </a:r>
          </a:p>
          <a:p xmlns:a="http://schemas.openxmlformats.org/drawingml/2006/main">
            <a:r>
              <a:t>          "explanation": {</a:t>
            </a:r>
          </a:p>
          <a:p xmlns:a="http://schemas.openxmlformats.org/drawingml/2006/main">
            <a:r>
              <a:t>            "read": "수집·정제·가공·학습·운영이 연결된 데이터 생애주기. 온라인 요청 처리와 모델·지식 갱신의 작업이 서로 다른 주기로 수행되는 구성.",</a:t>
            </a:r>
          </a:p>
          <a:p xmlns:a="http://schemas.openxmlformats.org/drawingml/2006/main">
            <a:r>
              <a:t>            "requirements": [</a:t>
            </a:r>
          </a:p>
          <a:p xmlns:a="http://schemas.openxmlformats.org/drawingml/2006/main">
            <a:r>
              <a:t>              "SFR-015",</a:t>
            </a:r>
          </a:p>
          <a:p xmlns:a="http://schemas.openxmlformats.org/drawingml/2006/main">
            <a:r>
              <a:t>              "SFR-018",</a:t>
            </a:r>
          </a:p>
          <a:p xmlns:a="http://schemas.openxmlformats.org/drawingml/2006/main">
            <a:r>
              <a:t>              "SFR-020"</a:t>
            </a:r>
          </a:p>
          <a:p xmlns:a="http://schemas.openxmlformats.org/drawingml/2006/main">
            <a:r>
              <a:t>            ],</a:t>
            </a:r>
          </a:p>
          <a:p xmlns:a="http://schemas.openxmlformats.org/drawingml/2006/main">
            <a:r>
              <a:t>            "connection": "원천 변경 시 수집 완료·정제 완료·색인 반영 상태를 분리하고 실패 자료만 재처리하는 운영 설계. 검토 피드백의 자동 학습 투입 전 품질 확인 단계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"표현이 같은 다른 사건·소관기관 차이·반대 취지",</a:t>
            </a:r>
          </a:p>
          <a:p xmlns:a="http://schemas.openxmlformats.org/drawingml/2006/main">
            <a:r>
              <a:t>        "hold": "동일 사건 여부·개인정보 범위 검토",</a:t>
            </a:r>
          </a:p>
          <a:p xmlns:a="http://schemas.openxmlformats.org/drawingml/2006/main">
            <a:r>
              <a:t>        "recovery": "기관별 답변 적합성과 병합 오류 분석",</a:t>
            </a:r>
          </a:p>
          <a:p xmlns:a="http://schemas.openxmlformats.org/drawingml/2006/main">
            <a:r>
              <a:t>        "evidence": "군집 정답표·잘못된 병합 건·담당자 수정 이력"</a:t>
            </a:r>
          </a:p>
          <a:p xmlns:a="http://schemas.openxmlformats.org/drawingml/2006/main">
            <a:r>
              <a:t>      },</a:t>
            </a:r>
          </a:p>
          <a:p xmlns:a="http://schemas.openxmlformats.org/drawingml/2006/main">
            <a:r>
              <a:t>      "data": {</a:t>
            </a:r>
          </a:p>
          <a:p xmlns:a="http://schemas.openxmlformats.org/drawingml/2006/main">
            <a:r>
              <a:t>        "source": "민원·답변 자료",</a:t>
            </a:r>
          </a:p>
          <a:p xmlns:a="http://schemas.openxmlformats.org/drawingml/2006/main">
            <a:r>
              <a:t>        "prepare": "국민신문고·민원정보분석 자료의 연계·정제",</a:t>
            </a:r>
          </a:p>
          <a:p xmlns:a="http://schemas.openxmlformats.org/drawingml/2006/main">
            <a:r>
              <a:t>        "output": "민원 본문",</a:t>
            </a:r>
          </a:p>
          <a:p xmlns:a="http://schemas.openxmlformats.org/drawingml/2006/main">
            <a:r>
              <a:t>        "refresh": "기관별 답변 적합성과 병합 오류 분석"</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"PF-R02",</a:t>
            </a:r>
          </a:p>
          <a:p xmlns:a="http://schemas.openxmlformats.org/drawingml/2006/main">
            <a:r>
              <a:t>    "success": [</a:t>
            </a:r>
          </a:p>
          <a:p xmlns:a="http://schemas.openxmlformats.org/drawingml/2006/main">
            <a:r>
              <a:t>      "유사민원과 답변 추천 결합",</a:t>
            </a:r>
          </a:p>
          <a:p xmlns:a="http://schemas.openxmlformats.org/drawingml/2006/main">
            <a:r>
              <a:t>      "현업 수정을 반영한 활용"</a:t>
            </a:r>
          </a:p>
          <a:p xmlns:a="http://schemas.openxmlformats.org/drawingml/2006/main">
            <a:r>
              <a:t>    ],</a:t>
            </a:r>
          </a:p>
          <a:p xmlns:a="http://schemas.openxmlformats.org/drawingml/2006/main">
            <a:r>
              <a:t>    "risks": [</a:t>
            </a:r>
          </a:p>
          <a:p xmlns:a="http://schemas.openxmlformats.org/drawingml/2006/main">
            <a:r>
              <a:t>      "다른 사건의 무리한 병합",</a:t>
            </a:r>
          </a:p>
          <a:p xmlns:a="http://schemas.openxmlformats.org/drawingml/2006/main">
            <a:r>
              <a:t>      "답변 추천을 공식 회신으로 오인"</a:t>
            </a:r>
          </a:p>
          <a:p xmlns:a="http://schemas.openxmlformats.org/drawingml/2006/main">
            <a:r>
              <a:t>    ],</a:t>
            </a:r>
          </a:p>
          <a:p xmlns:a="http://schemas.openxmlformats.org/drawingml/2006/main">
            <a:r>
              <a:t>    "architecture": [</a:t>
            </a:r>
          </a:p>
          <a:p xmlns:a="http://schemas.openxmlformats.org/drawingml/2006/main">
            <a:r>
              <a:t>      "국민신문고",</a:t>
            </a:r>
          </a:p>
          <a:p xmlns:a="http://schemas.openxmlformats.org/drawingml/2006/main">
            <a:r>
              <a:t>      "분류·답변 추천",</a:t>
            </a:r>
          </a:p>
          <a:p xmlns:a="http://schemas.openxmlformats.org/drawingml/2006/main">
            <a:r>
              <a:t>      "민원·답변 자료",</a:t>
            </a:r>
          </a:p>
          <a:p xmlns:a="http://schemas.openxmlformats.org/drawingml/2006/main">
            <a:r>
              <a:t>      "민원 담당"</a:t>
            </a:r>
          </a:p>
          <a:p xmlns:a="http://schemas.openxmlformats.org/drawingml/2006/main">
            <a:r>
              <a:t>    ],</a:t>
            </a:r>
          </a:p>
          <a:p xmlns:a="http://schemas.openxmlformats.org/drawingml/2006/main">
            <a:r>
              <a:t>    "transfers": [</a:t>
            </a:r>
          </a:p>
          <a:p xmlns:a="http://schemas.openxmlformats.org/drawingml/2006/main">
            <a:r>
              <a:t>      "민원 본문",</a:t>
            </a:r>
          </a:p>
          <a:p xmlns:a="http://schemas.openxmlformats.org/drawingml/2006/main">
            <a:r>
              <a:t>      "유사 사건",</a:t>
            </a:r>
          </a:p>
          <a:p xmlns:a="http://schemas.openxmlformats.org/drawingml/2006/main">
            <a:r>
              <a:t>      "추천 답변",</a:t>
            </a:r>
          </a:p>
          <a:p xmlns:a="http://schemas.openxmlformats.org/drawingml/2006/main">
            <a:r>
              <a:t>      "수정·회신"</a:t>
            </a:r>
          </a:p>
          <a:p xmlns:a="http://schemas.openxmlformats.org/drawingml/2006/main">
            <a:r>
              <a:t>    ],</a:t>
            </a:r>
          </a:p>
          <a:p xmlns:a="http://schemas.openxmlformats.org/drawingml/2006/main">
            <a:r>
              <a:t>    "control": "동일 사건 여부·개인정보 범위 검토",</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추진계획·성과지표, 기능 요구사항 / Word T035 https://www.nia.or.kr/common/board/Download.do?bcIdx=28233&amp;cbIdx=78336&amp;fileNo=2</a:t>
            </a:r>
          </a:p>
          <a:p xmlns:a="http://schemas.openxmlformats.org/drawingml/2006/main">
            <a:r>
              <a:t>홈페이지 https://heen1987-ops.github.io/TS-business-Plan-001/index.html?view=platform-cases&amp;case=PF-R02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"PF-R02",</a:t>
            </a:r>
          </a:p>
          <a:p xmlns:a="http://schemas.openxmlformats.org/drawingml/2006/main">
            <a:r>
              <a:t>    "sourceId": "R02",</a:t>
            </a:r>
          </a:p>
          <a:p xmlns:a="http://schemas.openxmlformats.org/drawingml/2006/main">
            <a:r>
              <a:t>    "title": "국민권익위 민원 AI",</a:t>
            </a:r>
          </a:p>
          <a:p xmlns:a="http://schemas.openxmlformats.org/drawingml/2006/main">
            <a:r>
              <a:t>    "region": "국내",</a:t>
            </a:r>
          </a:p>
          <a:p xmlns:a="http://schemas.openxmlformats.org/drawingml/2006/main">
            <a:r>
              <a:t>    "owner": "국민권익위원회·NIA",</a:t>
            </a:r>
          </a:p>
          <a:p xmlns:a="http://schemas.openxmlformats.org/drawingml/2006/main">
            <a:r>
              <a:t>    "state": "공식 서비스 개시 확인(2026-02-05)",</a:t>
            </a:r>
          </a:p>
          <a:p xmlns:a="http://schemas.openxmlformats.org/drawingml/2006/main">
            <a:r>
              <a:t>    "period": "기존 원장 확인 2026.10.16",</a:t>
            </a:r>
          </a:p>
          <a:p xmlns:a="http://schemas.openxmlformats.org/drawingml/2006/main">
            <a:r>
              <a:t>    "fact": "민원답변 추천·빈발중복민원 병합·의미 기반 민원 분석",</a:t>
            </a:r>
          </a:p>
          <a:p xmlns:a="http://schemas.openxmlformats.org/drawingml/2006/main">
            <a:r>
              <a:t>    "limit": "추천답변 도출시간·배정 처리시간·최종 답변 처리시간의 정의와 분모를 구분해야 함",</a:t>
            </a:r>
          </a:p>
          <a:p xmlns:a="http://schemas.openxmlformats.org/drawingml/2006/main">
            <a:r>
              <a:t>    "nodes": [</a:t>
            </a:r>
          </a:p>
          <a:p xmlns:a="http://schemas.openxmlformats.org/drawingml/2006/main">
            <a:r>
              <a:t>      "국민신문고",</a:t>
            </a:r>
          </a:p>
          <a:p xmlns:a="http://schemas.openxmlformats.org/drawingml/2006/main">
            <a:r>
              <a:t>      "분류·유사민원",</a:t>
            </a:r>
          </a:p>
          <a:p xmlns:a="http://schemas.openxmlformats.org/drawingml/2006/main">
            <a:r>
              <a:t>      "답변 추천",</a:t>
            </a:r>
          </a:p>
          <a:p xmlns:a="http://schemas.openxmlformats.org/drawingml/2006/main">
            <a:r>
              <a:t>      "현업 수정"</a:t>
            </a:r>
          </a:p>
          <a:p xmlns:a="http://schemas.openxmlformats.org/drawingml/2006/main">
            <a:r>
              <a:t>    ],</a:t>
            </a:r>
          </a:p>
          <a:p xmlns:a="http://schemas.openxmlformats.org/drawingml/2006/main">
            <a:r>
              <a:t>    "apply": "유사 문구와 동일 사건을 구분하는 민원 분류 및 소관부서별 답변 검토",</a:t>
            </a:r>
          </a:p>
          <a:p xmlns:a="http://schemas.openxmlformats.org/drawingml/2006/main">
            <a:r>
              <a:t>    "delta": "민원 사건·기관·업무 분류 / 유사군 검토 UI / 현업 수정 이력",</a:t>
            </a:r>
          </a:p>
          <a:p xmlns:a="http://schemas.openxmlformats.org/drawingml/2006/main">
            <a:r>
              <a:t>    "test": "같은 표현의 다른 사건·반대 취지 민원에 대한 오병합·답변 오류 측정",</a:t>
            </a:r>
          </a:p>
          <a:p xmlns:a="http://schemas.openxmlformats.org/drawingml/2006/main">
            <a:r>
              <a:t>    "url": "https://www.nia.or.kr/common/board/Download.do?bcIdx=28233&amp;cbIdx=78336&amp;fileNo=2",</a:t>
            </a:r>
          </a:p>
          <a:p xmlns:a="http://schemas.openxmlformats.org/drawingml/2006/main">
            <a:r>
              <a:t>    "urls": [</a:t>
            </a:r>
          </a:p>
          <a:p xmlns:a="http://schemas.openxmlformats.org/drawingml/2006/main">
            <a:r>
              <a:t>      "https://www.nia.or.kr/common/board/Download.do?bcIdx=28233&amp;cbIdx=78336&amp;fileNo=2",</a:t>
            </a:r>
          </a:p>
          <a:p xmlns:a="http://schemas.openxmlformats.org/drawingml/2006/main">
            <a:r>
              <a:t>      "https://www.acrc.go.kr/board.es?act=view&amp;bid=ACH&amp;list_no=106584&amp;mid=a10403070000&amp;nPage=1"</a:t>
            </a:r>
          </a:p>
          <a:p xmlns:a="http://schemas.openxmlformats.org/drawingml/2006/main">
            <a:r>
              <a:t>    ],</a:t>
            </a:r>
          </a:p>
          <a:p xmlns:a="http://schemas.openxmlformats.org/drawingml/2006/main">
            <a:r>
              <a:t>    "basis": "추진계획·성과지표, 기능 요구사항 / Word T035",</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"민원 분류 정확도 / 오병합률 / 최종 답변 작성시간",</a:t>
            </a:r>
          </a:p>
          <a:p xmlns:a="http://schemas.openxmlformats.org/drawingml/2006/main">
            <a:r>
              <a:t>    "group": "요구·구축",</a:t>
            </a:r>
          </a:p>
          <a:p xmlns:a="http://schemas.openxmlformats.org/drawingml/2006/main">
            <a:r>
              <a:t>    "sourceDetail": "국민신문고/민원정보분석 연계, RAG·요약·유사도 군집, 현업 수정 및 시범기관 확산",</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"PF-R02",</a:t>
            </a:r>
          </a:p>
          <a:p xmlns:a="http://schemas.openxmlformats.org/drawingml/2006/main">
            <a:r>
              <a:t>    "canonicalId": "PF-R02",</a:t>
            </a:r>
          </a:p>
          <a:p xmlns:a="http://schemas.openxmlformats.org/drawingml/2006/main">
            <a:r>
              <a:t>    "purpose": "민원답변 추천과 빈발·중복민원 분석",</a:t>
            </a:r>
          </a:p>
          <a:p xmlns:a="http://schemas.openxmlformats.org/drawingml/2006/main">
            <a:r>
              <a:t>    "users": "민원 처리자·정책 분석자",</a:t>
            </a:r>
          </a:p>
          <a:p xmlns:a="http://schemas.openxmlformats.org/drawingml/2006/main">
            <a:r>
              <a:t>    "scope": [</a:t>
            </a:r>
          </a:p>
          <a:p xmlns:a="http://schemas.openxmlformats.org/drawingml/2006/main">
            <a:r>
              <a:t>      "답변 초안",</a:t>
            </a:r>
          </a:p>
          <a:p xmlns:a="http://schemas.openxmlformats.org/drawingml/2006/main">
            <a:r>
              <a:t>      "유사민원 병합",</a:t>
            </a:r>
          </a:p>
          <a:p xmlns:a="http://schemas.openxmlformats.org/drawingml/2006/main">
            <a:r>
              <a:t>      "의미 분석"</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"국민신문고",</a:t>
            </a:r>
          </a:p>
          <a:p xmlns:a="http://schemas.openxmlformats.org/drawingml/2006/main">
            <a:r>
              <a:t>        "detail": "민원요지·유형·처리기관 문맥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"답변 초안 / 유사민원 병합 / 의미 분석",</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"분류·답변 추천",</a:t>
            </a:r>
          </a:p>
          <a:p xmlns:a="http://schemas.openxmlformats.org/drawingml/2006/main">
            <a:r>
              <a:t>        "detail": "RAG 답변 추천과 의미 유사도 군집",</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"민원 담당",</a:t>
            </a:r>
          </a:p>
          <a:p xmlns:a="http://schemas.openxmlformats.org/drawingml/2006/main">
            <a:r>
              <a:t>        "detail": "담당자의 군집·초안 수정 후 민원 처리",</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"민원·답변 자료",</a:t>
            </a:r>
          </a:p>
          <a:p xmlns:a="http://schemas.openxmlformats.org/drawingml/2006/main">
            <a:r>
              <a:t>        "detail": "국민신문고·민원정보분석 자료의 연계·정제",</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"기관별 답변 적합성과 병합 오류 분석",</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"국민신문고",</a:t>
            </a:r>
          </a:p>
          <a:p xmlns:a="http://schemas.openxmlformats.org/drawingml/2006/main">
            <a:r>
              <a:t>        "input": "민원요지·유형·처리기관 문맥 구성",</a:t>
            </a:r>
          </a:p>
          <a:p xmlns:a="http://schemas.openxmlformats.org/drawingml/2006/main">
            <a:r>
              <a:t>        "process": "국민신문고·민원정보분석 자료의 연계·정제",</a:t>
            </a:r>
          </a:p>
          <a:p xmlns:a="http://schemas.openxmlformats.org/drawingml/2006/main">
            <a:r>
              <a:t>        "output": "민원 본문"</a:t>
            </a:r>
          </a:p>
          <a:p xmlns:a="http://schemas.openxmlformats.org/drawingml/2006/main">
            <a:r>
              <a:t>      },</a:t>
            </a:r>
          </a:p>
          <a:p xmlns:a="http://schemas.openxmlformats.org/drawingml/2006/main">
            <a:r>
              <a:t>      {</a:t>
            </a:r>
          </a:p>
          <a:p xmlns:a="http://schemas.openxmlformats.org/drawingml/2006/main">
            <a:r>
              <a:t>        "title": "분류·유사민원",</a:t>
            </a:r>
          </a:p>
          <a:p xmlns:a="http://schemas.openxmlformats.org/drawingml/2006/main">
            <a:r>
              <a:t>        "input": "민원 본문",</a:t>
            </a:r>
          </a:p>
          <a:p xmlns:a="http://schemas.openxmlformats.org/drawingml/2006/main">
            <a:r>
              <a:t>        "process": "RAG 답변 추천과 의미 유사도 군집",</a:t>
            </a:r>
          </a:p>
          <a:p xmlns:a="http://schemas.openxmlformats.org/drawingml/2006/main">
            <a:r>
              <a:t>        "output": "유사 사건"</a:t>
            </a:r>
          </a:p>
          <a:p xmlns:a="http://schemas.openxmlformats.org/drawingml/2006/main">
            <a:r>
              <a:t>      },</a:t>
            </a:r>
          </a:p>
          <a:p xmlns:a="http://schemas.openxmlformats.org/drawingml/2006/main">
            <a:r>
              <a:t>      {</a:t>
            </a:r>
          </a:p>
          <a:p xmlns:a="http://schemas.openxmlformats.org/drawingml/2006/main">
            <a:r>
              <a:t>        "title": "답변 추천",</a:t>
            </a:r>
          </a:p>
          <a:p xmlns:a="http://schemas.openxmlformats.org/drawingml/2006/main">
            <a:r>
              <a:t>        "input": "유사 사건",</a:t>
            </a:r>
          </a:p>
          <a:p xmlns:a="http://schemas.openxmlformats.org/drawingml/2006/main">
            <a:r>
              <a:t>        "process": "동일 사건 여부·개인정보 범위 검토",</a:t>
            </a:r>
          </a:p>
          <a:p xmlns:a="http://schemas.openxmlformats.org/drawingml/2006/main">
            <a:r>
              <a:t>        "output": "추천 답변"</a:t>
            </a:r>
          </a:p>
          <a:p xmlns:a="http://schemas.openxmlformats.org/drawingml/2006/main">
            <a:r>
              <a:t>      },</a:t>
            </a:r>
          </a:p>
          <a:p xmlns:a="http://schemas.openxmlformats.org/drawingml/2006/main">
            <a:r>
              <a:t>      {</a:t>
            </a:r>
          </a:p>
          <a:p xmlns:a="http://schemas.openxmlformats.org/drawingml/2006/main">
            <a:r>
              <a:t>        "title": "현업 수정",</a:t>
            </a:r>
          </a:p>
          <a:p xmlns:a="http://schemas.openxmlformats.org/drawingml/2006/main">
            <a:r>
              <a:t>        "input": "추천 답변",</a:t>
            </a:r>
          </a:p>
          <a:p xmlns:a="http://schemas.openxmlformats.org/drawingml/2006/main">
            <a:r>
              <a:t>        "process": "담당자의 군집·초안 수정 후 민원 처리",</a:t>
            </a:r>
          </a:p>
          <a:p xmlns:a="http://schemas.openxmlformats.org/drawingml/2006/main">
            <a:r>
              <a:t>        "output": "수정·회신"</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"같은 사안의 반복 민원을 묶고 기관별 답변 초안 제시",</a:t>
            </a:r>
          </a:p>
          <a:p xmlns:a="http://schemas.openxmlformats.org/drawingml/2006/main">
            <a:r>
              <a:t>      "exception": "표현이 같은 다른 사건·소관기관 차이·반대 취지",</a:t>
            </a:r>
          </a:p>
          <a:p xmlns:a="http://schemas.openxmlformats.org/drawingml/2006/main">
            <a:r>
              <a:t>      "evidence": "군집 정답표·잘못된 병합 건·담당자 수정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"민원 처리자·정책 분석자",</a:t>
            </a:r>
          </a:p>
          <a:p xmlns:a="http://schemas.openxmlformats.org/drawingml/2006/main">
            <a:r>
              <a:t>          "processing": "민원요지·유형·처리기관 문맥 구성",</a:t>
            </a:r>
          </a:p>
          <a:p xmlns:a="http://schemas.openxmlformats.org/drawingml/2006/main">
            <a:r>
              <a:t>          "output": "민원 본문"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"민원·답변 자료",</a:t>
            </a:r>
          </a:p>
          <a:p xmlns:a="http://schemas.openxmlformats.org/drawingml/2006/main">
            <a:r>
              <a:t>          "processing": "국민신문고·민원정보분석 자료의 연계·정제",</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"민원 본문",</a:t>
            </a:r>
          </a:p>
          <a:p xmlns:a="http://schemas.openxmlformats.org/drawingml/2006/main">
            <a:r>
              <a:t>          "processing": "RAG 답변 추천과 의미 유사도 군집",</a:t>
            </a:r>
          </a:p>
          <a:p xmlns:a="http://schemas.openxmlformats.org/drawingml/2006/main">
            <a:r>
              <a:t>          "output": "추천 답변"</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"추천 답변",</a:t>
            </a:r>
          </a:p>
          <a:p xmlns:a="http://schemas.openxmlformats.org/drawingml/2006/main">
            <a:r>
              <a:t>          "processing": "담당자의 군집·초안 수정 후 민원 처리",</a:t>
            </a:r>
          </a:p>
          <a:p xmlns:a="http://schemas.openxmlformats.org/drawingml/2006/main">
            <a:r>
              <a:t>          "output": "수정·회신"</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"기관별 답변 적합성과 병합 오류 분석",</a:t>
            </a:r>
          </a:p>
          <a:p xmlns:a="http://schemas.openxmlformats.org/drawingml/2006/main">
            <a:r>
              <a:t>          "output": "군집 정답표·잘못된 병합 건·담당자 수정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"기관별 답변 적합성과 병합 오류 분석",</a:t>
            </a:r>
          </a:p>
          <a:p xmlns:a="http://schemas.openxmlformats.org/drawingml/2006/main">
            <a:r>
              <a:t>    "status": "RFP 기반 논리 설계",</a:t>
            </a:r>
          </a:p>
          <a:p xmlns:a="http://schemas.openxmlformats.org/drawingml/2006/main">
            <a:r>
              <a:t>    "basis": "본공고 RFP · 사업계획·민원답변 작성지원·빈발중복민원",</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"추진계획·성과지표, 기능 요구사항 / Word T035",</a:t>
            </a:r>
          </a:p>
          <a:p xmlns:a="http://schemas.openxmlformats.org/drawingml/2006/main">
            <a:r>
              <a:t>        "url": "https://www.nia.or.kr/common/board/Download.do?bcIdx=28233&amp;cbIdx=78336&amp;fileNo=2"</a:t>
            </a:r>
          </a:p>
          <a:p xmlns:a="http://schemas.openxmlformats.org/drawingml/2006/main">
            <a:r>
              <a:t>      }</a:t>
            </a:r>
          </a:p>
          <a:p xmlns:a="http://schemas.openxmlformats.org/drawingml/2006/main">
            <a:r>
              <a:t>    ],</a:t>
            </a:r>
          </a:p>
          <a:p xmlns:a="http://schemas.openxmlformats.org/drawingml/2006/main">
            <a:r>
              <a:t>    "implication": "유사 문구와 동일 사건을 구분하는 민원 분류 및 소관부서별 답변 검토",</a:t>
            </a:r>
          </a:p>
          <a:p xmlns:a="http://schemas.openxmlformats.org/drawingml/2006/main">
            <a:r>
              <a:t>    "local": "유사 문구와 동일 사건을 구분하는 민원 분류 및 소관부서별 답변 검토",</a:t>
            </a:r>
          </a:p>
          <a:p xmlns:a="http://schemas.openxmlformats.org/drawingml/2006/main">
            <a:r>
              <a:t>    "sourceDetail": "국민신문고/민원정보분석 연계, RAG·요약·유사도 군집, 현업 수정 및 시범기관 확산",</a:t>
            </a:r>
          </a:p>
          <a:p xmlns:a="http://schemas.openxmlformats.org/drawingml/2006/main">
            <a:r>
              <a:t>    "narrative": [</a:t>
            </a:r>
          </a:p>
          <a:p xmlns:a="http://schemas.openxmlformats.org/drawingml/2006/main">
            <a:r>
              <a:t>      "국민신문고의 접수·처리와 민원정보분석 업무를 연결하는 AI 고도화. 담당자의 답변 초안 작성과 유사민원 식별, 정책 분석자의 의미 기반 이슈 탐색을 서로 다른 업무 결과로 구분하는 사업.",</a:t>
            </a:r>
          </a:p>
          <a:p xmlns:a="http://schemas.openxmlformats.org/drawingml/2006/main">
            <a:r>
              <a:t>      "원문 목표 구성도는 기존 포털·DB, API Gateway, 답변·분석·중복 검색 모듈, 데이터 처리 계층, 운영 관리 계층으로 구성. OCR·메타정보 추출 후 키워드·벡터 검색을 병렬 수행하고, 재정렬된 근거를 업무 모듈에 전달하는 구조. 서비스 화면과 모델 운영의 별도 책임 분리가 핵심.",</a:t>
            </a:r>
          </a:p>
          <a:p xmlns:a="http://schemas.openxmlformats.org/drawingml/2006/main">
            <a:r>
              <a:t>      "표현이 비슷하다는 이유만으로 같은 사건으로 병합하면 이의·반대 민원의 취지 소실 가능성. CCK 비교시험에서는 문장 유사도 외에 사건·기관·지역·처리 단계의 일치 여부와 담당자의 수정·채택 이력을 함께 평가할 필요. 답변 추천시간과 최종 회신시간의 별도 계측."</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"SFR-004",</a:t>
            </a:r>
          </a:p>
          <a:p xmlns:a="http://schemas.openxmlformats.org/drawingml/2006/main">
            <a:r>
              <a:t>        "title": "민원 종류 분류",</a:t>
            </a:r>
          </a:p>
          <a:p xmlns:a="http://schemas.openxmlformats.org/drawingml/2006/main">
            <a:r>
              <a:t>        "locator": "SFR-004",</a:t>
            </a:r>
          </a:p>
          <a:p xmlns:a="http://schemas.openxmlformats.org/drawingml/2006/main">
            <a:r>
              <a:t>        "summary": "민원 본문을 민원 종류로 분류해 담당 업무의 처리 경로를 지원하는 기능.",</a:t>
            </a:r>
          </a:p>
          <a:p xmlns:a="http://schemas.openxmlformats.org/drawingml/2006/main">
            <a:r>
              <a:t>        "data": "민원 원문·분류 체계 → 분류 후보·검토 결과",</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"복합 주제·짧은 문장·오탈자 민원의 오분류와 담당자 수정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"6b4913cc0ae5b5169d9646773f4136e5246b9263738a4827b1ab87a16891f0b5"</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"민원 처리내용 초안 제공",</a:t>
            </a:r>
          </a:p>
          <a:p xmlns:a="http://schemas.openxmlformats.org/drawingml/2006/main">
            <a:r>
              <a:t>        "locator": "SFR-005",</a:t>
            </a:r>
          </a:p>
          <a:p xmlns:a="http://schemas.openxmlformats.org/drawingml/2006/main">
            <a:r>
              <a:t>        "summary": "관련 규정과 기존 처리내용을 참조한 민원답변 초안 지원. 초안과 최종 답변의 담당자 확인 경로 구성.",</a:t>
            </a:r>
          </a:p>
          <a:p xmlns:a="http://schemas.openxmlformats.org/drawingml/2006/main">
            <a:r>
              <a:t>        "data": "접수 민원·참조 자료 → 근거가 연결된 답변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"과거 규정과 현행 규정이 충돌하는 사례의 근거 판본 및 담당자 수정 흔적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"4f5defef29ed25fd79e46a89d680a461cb449aef69766f422194dd69e74fe07d"</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"유사민원 식별 기능 제공",</a:t>
            </a:r>
          </a:p>
          <a:p xmlns:a="http://schemas.openxmlformats.org/drawingml/2006/main">
            <a:r>
              <a:t>        "locator": "SFR-006",</a:t>
            </a:r>
          </a:p>
          <a:p xmlns:a="http://schemas.openxmlformats.org/drawingml/2006/main">
            <a:r>
              <a:t>        "summary": "같거나 유사한 민원을 식별해 반복 업무를 지원하는 기능. 검색 후보와 실제 병합 판단의 구분.",</a:t>
            </a:r>
          </a:p>
          <a:p xmlns:a="http://schemas.openxmlformats.org/drawingml/2006/main">
            <a:r>
              <a:t>        "data": "민원 집합·사건 문맥 → 유사도·후보 묶음",</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"C05"</a:t>
            </a:r>
          </a:p>
          <a:p xmlns:a="http://schemas.openxmlformats.org/drawingml/2006/main">
            <a:r>
              <a:t>        ],</a:t>
            </a:r>
          </a:p>
          <a:p xmlns:a="http://schemas.openxmlformats.org/drawingml/2006/main">
            <a:r>
              <a:t>        "acceptance": "문장은 같지만 사건·지역·신청인이 다른 사례로 오병합 여부와 원문 복원 가능성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"4153e591c032d301106aff35c38940a0d476dc7d8c4d31155d7221e129da66dd"</a:t>
            </a:r>
          </a:p>
          <a:p xmlns:a="http://schemas.openxmlformats.org/drawingml/2006/main">
            <a:r>
              <a:t>      },</a:t>
            </a:r>
          </a:p>
          <a:p xmlns:a="http://schemas.openxmlformats.org/drawingml/2006/main">
            <a:r>
              <a:t>      {</a:t>
            </a:r>
          </a:p>
          <a:p xmlns:a="http://schemas.openxmlformats.org/drawingml/2006/main">
            <a:r>
              <a:t>        "id": "SFR-010",</a:t>
            </a:r>
          </a:p>
          <a:p xmlns:a="http://schemas.openxmlformats.org/drawingml/2006/main">
            <a:r>
              <a:t>        "title": "민원업무 고도화 서비스 관리기능",</a:t>
            </a:r>
          </a:p>
          <a:p xmlns:a="http://schemas.openxmlformats.org/drawingml/2006/main">
            <a:r>
              <a:t>        "locator": "SFR-010",</a:t>
            </a:r>
          </a:p>
          <a:p xmlns:a="http://schemas.openxmlformats.org/drawingml/2006/main">
            <a:r>
              <a:t>        "summary": "민원업무 고도화 서비스의 이용·관리 기능 구성. 운영자가 업무별 서비스 상태와 관리 대상을 확인하는 경로.",</a:t>
            </a:r>
          </a:p>
          <a:p xmlns:a="http://schemas.openxmlformats.org/drawingml/2006/main">
            <a:r>
              <a:t>        "data": "운영 설정·사용 이력 → 관리 상태·변경 기록",</a:t>
            </a:r>
          </a:p>
          <a:p xmlns:a="http://schemas.openxmlformats.org/drawingml/2006/main">
            <a:r>
              <a:t>        "components": [</a:t>
            </a:r>
          </a:p>
          <a:p xmlns:a="http://schemas.openxmlformats.org/drawingml/2006/main">
            <a:r>
              <a:t>          "C06",</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"관리 역할별 허용 작업과 변경 이력, 설정 변경 후 서비스 반영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"d0f1ab9389b360af8d77e62f3eeb2326716b450c2d1575dcec42b79fbb02d49b"</a:t>
            </a:r>
          </a:p>
          <a:p xmlns:a="http://schemas.openxmlformats.org/drawingml/2006/main">
            <a:r>
              <a:t>      },</a:t>
            </a:r>
          </a:p>
          <a:p xmlns:a="http://schemas.openxmlformats.org/drawingml/2006/main">
            <a:r>
              <a:t>      {</a:t>
            </a:r>
          </a:p>
          <a:p xmlns:a="http://schemas.openxmlformats.org/drawingml/2006/main">
            <a:r>
              <a:t>        "id": "SFR-011",</a:t>
            </a:r>
          </a:p>
          <a:p xmlns:a="http://schemas.openxmlformats.org/drawingml/2006/main">
            <a:r>
              <a:t>        "title": "의미 기반 검색과 분석",</a:t>
            </a:r>
          </a:p>
          <a:p xmlns:a="http://schemas.openxmlformats.org/drawingml/2006/main">
            <a:r>
              <a:t>        "locator": "SFR-011",</a:t>
            </a:r>
          </a:p>
          <a:p xmlns:a="http://schemas.openxmlformats.org/drawingml/2006/main">
            <a:r>
              <a:t>        "summary": "단순 키워드 일치를 넘어 민원 의미를 이용한 검색·분석 지원.",</a:t>
            </a:r>
          </a:p>
          <a:p xmlns:a="http://schemas.openxmlformats.org/drawingml/2006/main">
            <a:r>
              <a:t>        "data": "검색 질의·민원 색인 → 의미상 관련 민원·분석 결과",</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"C11"</a:t>
            </a:r>
          </a:p>
          <a:p xmlns:a="http://schemas.openxmlformats.org/drawingml/2006/main">
            <a:r>
              <a:t>        ],</a:t>
            </a:r>
          </a:p>
          <a:p xmlns:a="http://schemas.openxmlformats.org/drawingml/2006/main">
            <a:r>
              <a:t>        "acceptance": "다른 표현의 같은 의도와 같은 단어의 다른 의도를 구분한 검색 정답셋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"cb3704532e53b7b70bc4764b544e7f549cec4553215296f437e5601fe00168f1"</a:t>
            </a:r>
          </a:p>
          <a:p xmlns:a="http://schemas.openxmlformats.org/drawingml/2006/main">
            <a:r>
              <a:t>      },</a:t>
            </a:r>
          </a:p>
          <a:p xmlns:a="http://schemas.openxmlformats.org/drawingml/2006/main">
            <a:r>
              <a:t>      {</a:t>
            </a:r>
          </a:p>
          <a:p xmlns:a="http://schemas.openxmlformats.org/drawingml/2006/main">
            <a:r>
              <a:t>        "id": "SFR-015",</a:t>
            </a:r>
          </a:p>
          <a:p xmlns:a="http://schemas.openxmlformats.org/drawingml/2006/main">
            <a:r>
              <a:t>        "title": "실시간 데이터 수집 및 검증",</a:t>
            </a:r>
          </a:p>
          <a:p xmlns:a="http://schemas.openxmlformats.org/drawingml/2006/main">
            <a:r>
              <a:t>        "locator": "SFR-015",</a:t>
            </a:r>
          </a:p>
          <a:p xmlns:a="http://schemas.openxmlformats.org/drawingml/2006/main">
            <a:r>
              <a:t>        "summary": "OGG 기반 원천 변경 수집과 데이터 검증을 통한 실시간 연계. 수집 이후 정합성 확인이 필요한 데이터 흐름.",</a:t>
            </a:r>
          </a:p>
          <a:p xmlns:a="http://schemas.openxmlformats.org/drawingml/2006/main">
            <a:r>
              <a:t>        "data": "원천 DB 변경분 → 검증된 연계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"삽입·수정·삭제·중단 후 재개 시 건수·키·시점 대사와 중복 적재 여부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"bcca0bc62529ccf5ac36e787dc506c0b54f8f16e1b96c873fa31cca5157a057c"</a:t>
            </a:r>
          </a:p>
          <a:p xmlns:a="http://schemas.openxmlformats.org/drawingml/2006/main">
            <a:r>
              <a:t>      },</a:t>
            </a:r>
          </a:p>
          <a:p xmlns:a="http://schemas.openxmlformats.org/drawingml/2006/main">
            <a:r>
              <a:t>      {</a:t>
            </a:r>
          </a:p>
          <a:p xmlns:a="http://schemas.openxmlformats.org/drawingml/2006/main">
            <a:r>
              <a:t>        "id": "SFR-018",</a:t>
            </a:r>
          </a:p>
          <a:p xmlns:a="http://schemas.openxmlformats.org/drawingml/2006/main">
            <a:r>
              <a:t>        "title": "AI 기반 민원 자동 처리",</a:t>
            </a:r>
          </a:p>
          <a:p xmlns:a="http://schemas.openxmlformats.org/drawingml/2006/main">
            <a:r>
              <a:t>        "locator": "SFR-018",</a:t>
            </a:r>
          </a:p>
          <a:p xmlns:a="http://schemas.openxmlformats.org/drawingml/2006/main">
            <a:r>
              <a:t>        "summary": "AI 기반 민원 처리 지원에 담당자 검토·채택 결과를 연결하고 운영 개선에 활용하는 흐름.",</a:t>
            </a:r>
          </a:p>
          <a:p xmlns:a="http://schemas.openxmlformats.org/drawingml/2006/main">
            <a:r>
              <a:t>        "data": "처리 후보·담당자 검토 → 채택·수정 결과·피드백",</a:t>
            </a:r>
          </a:p>
          <a:p xmlns:a="http://schemas.openxmlformats.org/drawingml/2006/main">
            <a:r>
              <a:t>        "components": [</a:t>
            </a:r>
          </a:p>
          <a:p xmlns:a="http://schemas.openxmlformats.org/drawingml/2006/main">
            <a:r>
              <a:t>          "C04",</a:t>
            </a:r>
          </a:p>
          <a:p xmlns:a="http://schemas.openxmlformats.org/drawingml/2006/main">
            <a:r>
              <a:t>          "C06",</a:t>
            </a:r>
          </a:p>
          <a:p xmlns:a="http://schemas.openxmlformats.org/drawingml/2006/main">
            <a:r>
              <a:t>          "C08"</a:t>
            </a:r>
          </a:p>
          <a:p xmlns:a="http://schemas.openxmlformats.org/drawingml/2006/main">
            <a:r>
              <a:t>        ],</a:t>
            </a:r>
          </a:p>
          <a:p xmlns:a="http://schemas.openxmlformats.org/drawingml/2006/main">
            <a:r>
              <a:t>        "acceptance": "추천과 확정 상태를 구분하고 수정·반려가 다음 처리 기록에 누락 없이 남는지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"35bf9ae1174266075e30936c9e150e97a0d68cd55f83071656309743e2875dca"</a:t>
            </a:r>
          </a:p>
          <a:p xmlns:a="http://schemas.openxmlformats.org/drawingml/2006/main">
            <a:r>
              <a:t>      },</a:t>
            </a:r>
          </a:p>
          <a:p xmlns:a="http://schemas.openxmlformats.org/drawingml/2006/main">
            <a:r>
              <a:t>      {</a:t>
            </a:r>
          </a:p>
          <a:p xmlns:a="http://schemas.openxmlformats.org/drawingml/2006/main">
            <a:r>
              <a:t>        "id": "SFR-019",</a:t>
            </a:r>
          </a:p>
          <a:p xmlns:a="http://schemas.openxmlformats.org/drawingml/2006/main">
            <a:r>
              <a:t>        "title": "API 통합 관리 및 성능 모니터링",</a:t>
            </a:r>
          </a:p>
          <a:p xmlns:a="http://schemas.openxmlformats.org/drawingml/2006/main">
            <a:r>
              <a:t>        "locator": "SFR-019",</a:t>
            </a:r>
          </a:p>
          <a:p xmlns:a="http://schemas.openxmlformats.org/drawingml/2006/main">
            <a:r>
              <a:t>        "summary": "API 통합 관리와 성능 모니터링을 통한 업무 모듈·기간계 연결 관리.",</a:t>
            </a:r>
          </a:p>
          <a:p xmlns:a="http://schemas.openxmlformats.org/drawingml/2006/main">
            <a:r>
              <a:t>        "data": "API 요청·응답·호출 이력 → 상태·성능·오류 기록",</a:t>
            </a:r>
          </a:p>
          <a:p xmlns:a="http://schemas.openxmlformats.org/drawingml/2006/main">
            <a:r>
              <a:t>        "components": [</a:t>
            </a:r>
          </a:p>
          <a:p xmlns:a="http://schemas.openxmlformats.org/drawingml/2006/main">
            <a:r>
              <a:t>          "C02",</a:t>
            </a:r>
          </a:p>
          <a:p xmlns:a="http://schemas.openxmlformats.org/drawingml/2006/main">
            <a:r>
              <a:t>          "C07",</a:t>
            </a:r>
          </a:p>
          <a:p xmlns:a="http://schemas.openxmlformats.org/drawingml/2006/main">
            <a:r>
              <a:t>          "C08"</a:t>
            </a:r>
          </a:p>
          <a:p xmlns:a="http://schemas.openxmlformats.org/drawingml/2006/main">
            <a:r>
              <a:t>        ],</a:t>
            </a:r>
          </a:p>
          <a:p xmlns:a="http://schemas.openxmlformats.org/drawingml/2006/main">
            <a:r>
              <a:t>        "acceptance": "호출 실패·시간초과·중복 요청을 주입하고 호출 경로별 원인과 처리 상태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"ff7c0fe41f6cc841f53d73ace372872ebb0dfc391d7d7ca1a21b446c4dfa32b4"</a:t>
            </a:r>
          </a:p>
          <a:p xmlns:a="http://schemas.openxmlformats.org/drawingml/2006/main">
            <a:r>
              <a:t>      },</a:t>
            </a:r>
          </a:p>
          <a:p xmlns:a="http://schemas.openxmlformats.org/drawingml/2006/main">
            <a:r>
              <a:t>      {</a:t>
            </a:r>
          </a:p>
          <a:p xmlns:a="http://schemas.openxmlformats.org/drawingml/2006/main">
            <a:r>
              <a:t>        "id": "SFR-020",</a:t>
            </a:r>
          </a:p>
          <a:p xmlns:a="http://schemas.openxmlformats.org/drawingml/2006/main">
            <a:r>
              <a:t>        "title": "시스템 설정 및 운영 모니터링 통합 관리",</a:t>
            </a:r>
          </a:p>
          <a:p xmlns:a="http://schemas.openxmlformats.org/drawingml/2006/main">
            <a:r>
              <a:t>        "locator": "SFR-020",</a:t>
            </a:r>
          </a:p>
          <a:p xmlns:a="http://schemas.openxmlformats.org/drawingml/2006/main">
            <a:r>
              <a:t>        "summary": "시스템 설정과 운영 모니터링의 통합 관리. 업무 기능과 운영 정책의 일관된 상태 확인.",</a:t>
            </a:r>
          </a:p>
          <a:p xmlns:a="http://schemas.openxmlformats.org/drawingml/2006/main">
            <a:r>
              <a:t>        "data": "시스템 설정·운영 지표 → 관리 화면·이상 상태",</a:t>
            </a:r>
          </a:p>
          <a:p xmlns:a="http://schemas.openxmlformats.org/drawingml/2006/main">
            <a:r>
              <a:t>        "components": [</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"설정 변경 권한, 변경 전후 상태, 장애 탐지·복구 기록의 연결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"700952e7f3297506bdddffe81782d75953ec64aa85c0f75fd9ce24f75b54747a"</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"국민신문고 접점",</a:t>
            </a:r>
          </a:p>
          <a:p xmlns:a="http://schemas.openxmlformats.org/drawingml/2006/main">
            <a:r>
              <a:t>          "layer": "이용 접점",</a:t>
            </a:r>
          </a:p>
          <a:p xmlns:a="http://schemas.openxmlformats.org/drawingml/2006/main">
            <a:r>
              <a:t>          "detail": "민원 처리자·정책 분석자",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"요지·기관·유형",</a:t>
            </a:r>
          </a:p>
          <a:p xmlns:a="http://schemas.openxmlformats.org/drawingml/2006/main">
            <a:r>
              <a:t>          "layer": "업무 문맥",</a:t>
            </a:r>
          </a:p>
          <a:p xmlns:a="http://schemas.openxmlformats.org/drawingml/2006/main">
            <a:r>
              <a:t>          "detail": "민원요지·유형·처리기관 문맥 구성",</a:t>
            </a:r>
          </a:p>
          <a:p xmlns:a="http://schemas.openxmlformats.org/drawingml/2006/main">
            <a:r>
              <a:t>          "requirements": [</a:t>
            </a:r>
          </a:p>
          <a:p xmlns:a="http://schemas.openxmlformats.org/drawingml/2006/main">
            <a:r>
              <a:t>            "SFR-004",</a:t>
            </a:r>
          </a:p>
          <a:p xmlns:a="http://schemas.openxmlformats.org/drawingml/2006/main">
            <a:r>
              <a:t>            "SFR-019"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"키워드·벡터 검색",</a:t>
            </a:r>
          </a:p>
          <a:p xmlns:a="http://schemas.openxmlformats.org/drawingml/2006/main">
            <a:r>
              <a:t>          "layer": "자료 조회",</a:t>
            </a:r>
          </a:p>
          <a:p xmlns:a="http://schemas.openxmlformats.org/drawingml/2006/main">
            <a:r>
              <a:t>          "detail": "민원 본문",</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"재정렬·답변·군집",</a:t>
            </a:r>
          </a:p>
          <a:p xmlns:a="http://schemas.openxmlformats.org/drawingml/2006/main">
            <a:r>
              <a:t>          "layer": "핵심 처리",</a:t>
            </a:r>
          </a:p>
          <a:p xmlns:a="http://schemas.openxmlformats.org/drawingml/2006/main">
            <a:r>
              <a:t>          "detail": "RAG 답변 추천과 의미 유사도 군집",</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"SFR-018"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"동일 사건 대조",</a:t>
            </a:r>
          </a:p>
          <a:p xmlns:a="http://schemas.openxmlformats.org/drawingml/2006/main">
            <a:r>
              <a:t>          "layer": "결과 검증",</a:t>
            </a:r>
          </a:p>
          <a:p xmlns:a="http://schemas.openxmlformats.org/drawingml/2006/main">
            <a:r>
              <a:t>          "detail": "동일 사건 여부·개인정보 범위 검토",</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"담당자 수정",</a:t>
            </a:r>
          </a:p>
          <a:p xmlns:a="http://schemas.openxmlformats.org/drawingml/2006/main">
            <a:r>
              <a:t>          "layer": "사람 확인",</a:t>
            </a:r>
          </a:p>
          <a:p xmlns:a="http://schemas.openxmlformats.org/drawingml/2006/main">
            <a:r>
              <a:t>          "detail": "같은 사안의 반복 민원을 묶고 기관별 답변 초안 제시",</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"SFR-010",</a:t>
            </a:r>
          </a:p>
          <a:p xmlns:a="http://schemas.openxmlformats.org/drawingml/2006/main">
            <a:r>
              <a:t>            "SFR-018"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"민원 처리·분석",</a:t>
            </a:r>
          </a:p>
          <a:p xmlns:a="http://schemas.openxmlformats.org/drawingml/2006/main">
            <a:r>
              <a:t>          "layer": "업무 연결",</a:t>
            </a:r>
          </a:p>
          <a:p xmlns:a="http://schemas.openxmlformats.org/drawingml/2006/main">
            <a:r>
              <a:t>          "detail": "담당자의 군집·초안 수정 후 민원 처리",</a:t>
            </a:r>
          </a:p>
          <a:p xmlns:a="http://schemas.openxmlformats.org/drawingml/2006/main">
            <a:r>
              <a:t>          "requirements": [</a:t>
            </a:r>
          </a:p>
          <a:p xmlns:a="http://schemas.openxmlformats.org/drawingml/2006/main">
            <a:r>
              <a:t>            "SFR-019"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"오답·병합 오류",</a:t>
            </a:r>
          </a:p>
          <a:p xmlns:a="http://schemas.openxmlformats.org/drawingml/2006/main">
            <a:r>
              <a:t>          "layer": "운영 관측",</a:t>
            </a:r>
          </a:p>
          <a:p xmlns:a="http://schemas.openxmlformats.org/drawingml/2006/main">
            <a:r>
              <a:t>          "detail": "기관별 답변 적합성과 병합 오류 분석",</a:t>
            </a:r>
          </a:p>
          <a:p xmlns:a="http://schemas.openxmlformats.org/drawingml/2006/main">
            <a:r>
              <a:t>          "requirements": [</a:t>
            </a:r>
          </a:p>
          <a:p xmlns:a="http://schemas.openxmlformats.org/drawingml/2006/main">
            <a:r>
              <a:t>            "SFR-010",</a:t>
            </a:r>
          </a:p>
          <a:p xmlns:a="http://schemas.openxmlformats.org/drawingml/2006/main">
            <a:r>
              <a:t>            "SFR-018",</a:t>
            </a:r>
          </a:p>
          <a:p xmlns:a="http://schemas.openxmlformats.org/drawingml/2006/main">
            <a:r>
              <a:t>            "SFR-019",</a:t>
            </a:r>
          </a:p>
          <a:p xmlns:a="http://schemas.openxmlformats.org/drawingml/2006/main">
            <a:r>
              <a:t>            "SFR-020"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"민원·답변·지침",</a:t>
            </a:r>
          </a:p>
          <a:p xmlns:a="http://schemas.openxmlformats.org/drawingml/2006/main">
            <a:r>
              <a:t>          "layer": "데이터 원천",</a:t>
            </a:r>
          </a:p>
          <a:p xmlns:a="http://schemas.openxmlformats.org/drawingml/2006/main">
            <a:r>
              <a:t>          "detail": "민원·답변 자료",</a:t>
            </a:r>
          </a:p>
          <a:p xmlns:a="http://schemas.openxmlformats.org/drawingml/2006/main">
            <a:r>
              <a:t>          "requirements": [</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"OCR·메타정보 추출",</a:t>
            </a:r>
          </a:p>
          <a:p xmlns:a="http://schemas.openxmlformats.org/drawingml/2006/main">
            <a:r>
              <a:t>          "layer": "준비·갱신",</a:t>
            </a:r>
          </a:p>
          <a:p xmlns:a="http://schemas.openxmlformats.org/drawingml/2006/main">
            <a:r>
              <a:t>          "detail": "국민신문고·민원정보분석 자료의 연계·정제",</a:t>
            </a:r>
          </a:p>
          <a:p xmlns:a="http://schemas.openxmlformats.org/drawingml/2006/main">
            <a:r>
              <a:t>          "requirements": [</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"지식 DB·색인",</a:t>
            </a:r>
          </a:p>
          <a:p xmlns:a="http://schemas.openxmlformats.org/drawingml/2006/main">
            <a:r>
              <a:t>          "layer": "상태·지식 저장",</a:t>
            </a:r>
          </a:p>
          <a:p xmlns:a="http://schemas.openxmlformats.org/drawingml/2006/main">
            <a:r>
              <a:t>          "detail": "군집 정답표·잘못된 병합 건·담당자 수정 이력",</a:t>
            </a:r>
          </a:p>
          <a:p xmlns:a="http://schemas.openxmlformats.org/drawingml/2006/main">
            <a:r>
              <a:t>          "requirements": [</a:t>
            </a:r>
          </a:p>
          <a:p xmlns:a="http://schemas.openxmlformats.org/drawingml/2006/main">
            <a:r>
              <a:t>            "SFR-011",</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"모델·프롬프트 관리",</a:t>
            </a:r>
          </a:p>
          <a:p xmlns:a="http://schemas.openxmlformats.org/drawingml/2006/main">
            <a:r>
              <a:t>          "layer": "권한·정책",</a:t>
            </a:r>
          </a:p>
          <a:p xmlns:a="http://schemas.openxmlformats.org/drawingml/2006/main">
            <a:r>
              <a:t>          "detail": "표현이 같은 다른 사건·소관기관 차이·반대 취지",</a:t>
            </a:r>
          </a:p>
          <a:p xmlns:a="http://schemas.openxmlformats.org/drawingml/2006/main">
            <a:r>
              <a:t>          "requirements": [</a:t>
            </a:r>
          </a:p>
          <a:p xmlns:a="http://schemas.openxmlformats.org/drawingml/2006/main">
            <a:r>
              <a:t>            "SFR-010",</a:t>
            </a:r>
          </a:p>
          <a:p xmlns:a="http://schemas.openxmlformats.org/drawingml/2006/main">
            <a:r>
              <a:t>            "SFR-020"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"민원요지·유형·처리기관 문맥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"민원 본문",</a:t>
            </a:r>
          </a:p>
          <a:p xmlns:a="http://schemas.openxmlformats.org/drawingml/2006/main">
            <a:r>
              <a:t>          "check": "동일 사건 여부·개인정보 범위 검토"</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"유사 사건",</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"답변 초안·유사군 후보·근거 문서",</a:t>
            </a:r>
          </a:p>
          <a:p xmlns:a="http://schemas.openxmlformats.org/drawingml/2006/main">
            <a:r>
              <a:t>          "check": "표현이 같은 다른 사건·소관기관 차이·반대 취지"</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"추천 답변",</a:t>
            </a:r>
          </a:p>
          <a:p xmlns:a="http://schemas.openxmlformats.org/drawingml/2006/main">
            <a:r>
              <a:t>          "check": "담당자의 군집·초안 수정 후 민원 처리"</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"수정·회신",</a:t>
            </a:r>
          </a:p>
          <a:p xmlns:a="http://schemas.openxmlformats.org/drawingml/2006/main">
            <a:r>
              <a:t>          "check": "군집 정답표·잘못된 병합 건·담당자 수정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"목표시스템 개념도·RAG 구성 예시",</a:t>
            </a:r>
          </a:p>
          <a:p xmlns:a="http://schemas.openxmlformats.org/drawingml/2006/main">
            <a:r>
              <a:t>        "extracted": "API Gateway, OCR·메타정보 추출, 키워드/벡터 검색과 재정렬",</a:t>
            </a:r>
          </a:p>
          <a:p xmlns:a="http://schemas.openxmlformats.org/drawingml/2006/main">
            <a:r>
              <a:t>        "extension": "민원 중복 후보와 공식 병합·회신의 승인 경계"</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"PF-R02",</a:t>
            </a:r>
          </a:p>
          <a:p xmlns:a="http://schemas.openxmlformats.org/drawingml/2006/main">
            <a:r>
              <a:t>          "path": "assets/casebook-sources/PF-R02-01.png",</a:t>
            </a:r>
          </a:p>
          <a:p xmlns:a="http://schemas.openxmlformats.org/drawingml/2006/main">
            <a:r>
              <a:t>          "title": "국민소통 플랫폼 목표시스템",</a:t>
            </a:r>
          </a:p>
          <a:p xmlns:a="http://schemas.openxmlformats.org/drawingml/2006/main">
            <a:r>
              <a:t>          "status": "RFP 목표시스템 개념도",</a:t>
            </a:r>
          </a:p>
          <a:p xmlns:a="http://schemas.openxmlformats.org/drawingml/2006/main">
            <a:r>
              <a:t>          "caption": "접점·API Gateway·업무 모듈·데이터 처리·운영 관리",</a:t>
            </a:r>
          </a:p>
          <a:p xmlns:a="http://schemas.openxmlformats.org/drawingml/2006/main">
            <a:r>
              <a:t>          "locator": "NIA_RFP_RFP / BinData/image33_bmp",</a:t>
            </a:r>
          </a:p>
          <a:p xmlns:a="http://schemas.openxmlformats.org/drawingml/2006/main">
            <a:r>
              <a:t>          "checked": "2026-10-16",</a:t>
            </a:r>
          </a:p>
          <a:p xmlns:a="http://schemas.openxmlformats.org/drawingml/2006/main">
            <a:r>
              <a:t>          "sha256": "91feb890184edf04ccccd8d86995147aa6c2181b0a66c58436263cafccdae911",</a:t>
            </a:r>
          </a:p>
          <a:p xmlns:a="http://schemas.openxmlformats.org/drawingml/2006/main">
            <a:r>
              <a:t>          "explanation": {</a:t>
            </a:r>
          </a:p>
          <a:p xmlns:a="http://schemas.openxmlformats.org/drawingml/2006/main">
            <a:r>
              <a:t>            "read": "접점에서 받은 요청을 API Gateway를 통해 민원 답변·분석·중복 식별 모듈로 전달하는 목표 구성. 데이터 처리 계층은 공통 근거를 공급하고 운영 관리 계층은 서비스·모델 상태를 관찰하는 역할.",</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"SFR-019",</a:t>
            </a:r>
          </a:p>
          <a:p xmlns:a="http://schemas.openxmlformats.org/drawingml/2006/main">
            <a:r>
              <a:t>              "SFR-020"</a:t>
            </a:r>
          </a:p>
          <a:p xmlns:a="http://schemas.openxmlformats.org/drawingml/2006/main">
            <a:r>
              <a:t>            ],</a:t>
            </a:r>
          </a:p>
          <a:p xmlns:a="http://schemas.openxmlformats.org/drawingml/2006/main">
            <a:r>
              <a:t>            "connection": "담당자 답변 초안, 유사민원 후보, 정책 분석 결과를 서로 다른 출력 계약으로 정의하고 기존 민원시스템의 확정·회신 절차에 연결하는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"assets/casebook-sources/PF-R02-02.png",</a:t>
            </a:r>
          </a:p>
          <a:p xmlns:a="http://schemas.openxmlformats.org/drawingml/2006/main">
            <a:r>
              <a:t>          "title": "키워드·벡터 검색과 Reranker",</a:t>
            </a:r>
          </a:p>
          <a:p xmlns:a="http://schemas.openxmlformats.org/drawingml/2006/main">
            <a:r>
              <a:t>          "status": "RFP RAG 구성 예시",</a:t>
            </a:r>
          </a:p>
          <a:p xmlns:a="http://schemas.openxmlformats.org/drawingml/2006/main">
            <a:r>
              <a:t>          "caption": "키워드/벡터 검색 병렬 처리 → 재정렬 → 근거 응답",</a:t>
            </a:r>
          </a:p>
          <a:p xmlns:a="http://schemas.openxmlformats.org/drawingml/2006/main">
            <a:r>
              <a:t>          "locator": "NIA_RFP_RFP / BinData/image18_bmp",</a:t>
            </a:r>
          </a:p>
          <a:p xmlns:a="http://schemas.openxmlformats.org/drawingml/2006/main">
            <a:r>
              <a:t>          "checked": "2026-10-16",</a:t>
            </a:r>
          </a:p>
          <a:p xmlns:a="http://schemas.openxmlformats.org/drawingml/2006/main">
            <a:r>
              <a:t>          "sha256": "a6ab4248256ee300422789627dbe5b8f09ec60657419e13d082c95b32f3f4f90",</a:t>
            </a:r>
          </a:p>
          <a:p xmlns:a="http://schemas.openxmlformats.org/drawingml/2006/main">
            <a:r>
              <a:t>          "explanation": {</a:t>
            </a:r>
          </a:p>
          <a:p xmlns:a="http://schemas.openxmlformats.org/drawingml/2006/main">
            <a:r>
              <a:t>            "read": "키워드 검색은 정확한 용어·조항의 일치 후보, 벡터 검색은 표현이 다른 유사 의미 후보를 제공. Reranker는 통합 후보를 질의 관련성에 따라 다시 정렬하고 생성 모델에 근거를 전달하는 역할.",</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a:t>
            </a:r>
          </a:p>
          <a:p xmlns:a="http://schemas.openxmlformats.org/drawingml/2006/main">
            <a:r>
              <a:t>            "connection": "재정렬 점수를 법적 정답이나 민원 병합 승인으로 해석하지 않고 기관·사건·시점과 출처 일치를 별도로 확인하는 검증 단계의 추가."</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"assets/casebook-sources/PF-R02-03.png",</a:t>
            </a:r>
          </a:p>
          <a:p xmlns:a="http://schemas.openxmlformats.org/drawingml/2006/main">
            <a:r>
              <a:t>          "title": "민원 AI 입출력 데이터",</a:t>
            </a:r>
          </a:p>
          <a:p xmlns:a="http://schemas.openxmlformats.org/drawingml/2006/main">
            <a:r>
              <a:t>          "status": "RFP 데이터 흐름도",</a:t>
            </a:r>
          </a:p>
          <a:p xmlns:a="http://schemas.openxmlformats.org/drawingml/2006/main">
            <a:r>
              <a:t>          "caption": "국민신문고·시범기관 매뉴얼 → 전처리·RAG → 답변·유사도",</a:t>
            </a:r>
          </a:p>
          <a:p xmlns:a="http://schemas.openxmlformats.org/drawingml/2006/main">
            <a:r>
              <a:t>          "locator": "NIA_RFP_RFP / BinData/image34_bmp",</a:t>
            </a:r>
          </a:p>
          <a:p xmlns:a="http://schemas.openxmlformats.org/drawingml/2006/main">
            <a:r>
              <a:t>          "checked": "2026-10-16",</a:t>
            </a:r>
          </a:p>
          <a:p xmlns:a="http://schemas.openxmlformats.org/drawingml/2006/main">
            <a:r>
              <a:t>          "sha256": "0e09409295bbb0aae0a61666cf01982d012392b3f4bccd2e98499654b4b690d0",</a:t>
            </a:r>
          </a:p>
          <a:p xmlns:a="http://schemas.openxmlformats.org/drawingml/2006/main">
            <a:r>
              <a:t>          "explanation": {</a:t>
            </a:r>
          </a:p>
          <a:p xmlns:a="http://schemas.openxmlformats.org/drawingml/2006/main">
            <a:r>
              <a:t>            "read": "국민신문고 데이터와 시범기관 매뉴얼 등 입력을 전처리·RAG 경로에 투입하고 업무별 답변·유사도 결과로 변환하는 입출력 구조. 동일 원천을 이용하더라도 답변과 군집의 산출물은 별도 관리 대상.",</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"SFR-015",</a:t>
            </a:r>
          </a:p>
          <a:p xmlns:a="http://schemas.openxmlformats.org/drawingml/2006/main">
            <a:r>
              <a:t>              "SFR-018"</a:t>
            </a:r>
          </a:p>
          <a:p xmlns:a="http://schemas.openxmlformats.org/drawingml/2006/main">
            <a:r>
              <a:t>            ],</a:t>
            </a:r>
          </a:p>
          <a:p xmlns:a="http://schemas.openxmlformats.org/drawingml/2006/main">
            <a:r>
              <a:t>            "connection": "원천 민원 ID·문서 판본·근거 위치를 결과에 유지해 담당자 수정과 최종 회신의 차이를 재현할 수 있도록 하는 데이터 계약."</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"assets/casebook-sources/PF-R02-04.png",</a:t>
            </a:r>
          </a:p>
          <a:p xmlns:a="http://schemas.openxmlformats.org/drawingml/2006/main">
            <a:r>
              <a:t>          "title": "데이터 구축·학습·운영 흐름",</a:t>
            </a:r>
          </a:p>
          <a:p xmlns:a="http://schemas.openxmlformats.org/drawingml/2006/main">
            <a:r>
              <a:t>          "status": "RFP 데이터 처리 구조",</a:t>
            </a:r>
          </a:p>
          <a:p xmlns:a="http://schemas.openxmlformats.org/drawingml/2006/main">
            <a:r>
              <a:t>          "caption": "수집·정제·가공·학습·운영의 환류",</a:t>
            </a:r>
          </a:p>
          <a:p xmlns:a="http://schemas.openxmlformats.org/drawingml/2006/main">
            <a:r>
              <a:t>          "locator": "NIA_RFP_RFP / BinData/image32_png",</a:t>
            </a:r>
          </a:p>
          <a:p xmlns:a="http://schemas.openxmlformats.org/drawingml/2006/main">
            <a:r>
              <a:t>          "checked": "2026-10-16",</a:t>
            </a:r>
          </a:p>
          <a:p xmlns:a="http://schemas.openxmlformats.org/drawingml/2006/main">
            <a:r>
              <a:t>          "sha256": "b6c466b110d91bceff5a9f806d658aa54f010e0a5b8a358a16771181bea77c50",</a:t>
            </a:r>
          </a:p>
          <a:p xmlns:a="http://schemas.openxmlformats.org/drawingml/2006/main">
            <a:r>
              <a:t>          "explanation": {</a:t>
            </a:r>
          </a:p>
          <a:p xmlns:a="http://schemas.openxmlformats.org/drawingml/2006/main">
            <a:r>
              <a:t>            "read": "수집·정제·가공·학습·운영이 연결된 데이터 생애주기. 온라인 요청 처리와 모델·지식 갱신의 작업이 서로 다른 주기로 수행되는 구성.",</a:t>
            </a:r>
          </a:p>
          <a:p xmlns:a="http://schemas.openxmlformats.org/drawingml/2006/main">
            <a:r>
              <a:t>            "requirements": [</a:t>
            </a:r>
          </a:p>
          <a:p xmlns:a="http://schemas.openxmlformats.org/drawingml/2006/main">
            <a:r>
              <a:t>              "SFR-015",</a:t>
            </a:r>
          </a:p>
          <a:p xmlns:a="http://schemas.openxmlformats.org/drawingml/2006/main">
            <a:r>
              <a:t>              "SFR-018",</a:t>
            </a:r>
          </a:p>
          <a:p xmlns:a="http://schemas.openxmlformats.org/drawingml/2006/main">
            <a:r>
              <a:t>              "SFR-020"</a:t>
            </a:r>
          </a:p>
          <a:p xmlns:a="http://schemas.openxmlformats.org/drawingml/2006/main">
            <a:r>
              <a:t>            ],</a:t>
            </a:r>
          </a:p>
          <a:p xmlns:a="http://schemas.openxmlformats.org/drawingml/2006/main">
            <a:r>
              <a:t>            "connection": "원천 변경 시 수집 완료·정제 완료·색인 반영 상태를 분리하고 실패 자료만 재처리하는 운영 설계. 검토 피드백의 자동 학습 투입 전 품질 확인 단계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"표현이 같은 다른 사건·소관기관 차이·반대 취지",</a:t>
            </a:r>
          </a:p>
          <a:p xmlns:a="http://schemas.openxmlformats.org/drawingml/2006/main">
            <a:r>
              <a:t>        "hold": "동일 사건 여부·개인정보 범위 검토",</a:t>
            </a:r>
          </a:p>
          <a:p xmlns:a="http://schemas.openxmlformats.org/drawingml/2006/main">
            <a:r>
              <a:t>        "recovery": "기관별 답변 적합성과 병합 오류 분석",</a:t>
            </a:r>
          </a:p>
          <a:p xmlns:a="http://schemas.openxmlformats.org/drawingml/2006/main">
            <a:r>
              <a:t>        "evidence": "군집 정답표·잘못된 병합 건·담당자 수정 이력"</a:t>
            </a:r>
          </a:p>
          <a:p xmlns:a="http://schemas.openxmlformats.org/drawingml/2006/main">
            <a:r>
              <a:t>      },</a:t>
            </a:r>
          </a:p>
          <a:p xmlns:a="http://schemas.openxmlformats.org/drawingml/2006/main">
            <a:r>
              <a:t>      "data": {</a:t>
            </a:r>
          </a:p>
          <a:p xmlns:a="http://schemas.openxmlformats.org/drawingml/2006/main">
            <a:r>
              <a:t>        "source": "민원·답변 자료",</a:t>
            </a:r>
          </a:p>
          <a:p xmlns:a="http://schemas.openxmlformats.org/drawingml/2006/main">
            <a:r>
              <a:t>        "prepare": "국민신문고·민원정보분석 자료의 연계·정제",</a:t>
            </a:r>
          </a:p>
          <a:p xmlns:a="http://schemas.openxmlformats.org/drawingml/2006/main">
            <a:r>
              <a:t>        "output": "민원 본문",</a:t>
            </a:r>
          </a:p>
          <a:p xmlns:a="http://schemas.openxmlformats.org/drawingml/2006/main">
            <a:r>
              <a:t>        "refresh": "기관별 답변 적합성과 병합 오류 분석"</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"PF-R02",</a:t>
            </a:r>
          </a:p>
          <a:p xmlns:a="http://schemas.openxmlformats.org/drawingml/2006/main">
            <a:r>
              <a:t>    "success": [</a:t>
            </a:r>
          </a:p>
          <a:p xmlns:a="http://schemas.openxmlformats.org/drawingml/2006/main">
            <a:r>
              <a:t>      "유사민원과 답변 추천 결합",</a:t>
            </a:r>
          </a:p>
          <a:p xmlns:a="http://schemas.openxmlformats.org/drawingml/2006/main">
            <a:r>
              <a:t>      "현업 수정을 반영한 활용"</a:t>
            </a:r>
          </a:p>
          <a:p xmlns:a="http://schemas.openxmlformats.org/drawingml/2006/main">
            <a:r>
              <a:t>    ],</a:t>
            </a:r>
          </a:p>
          <a:p xmlns:a="http://schemas.openxmlformats.org/drawingml/2006/main">
            <a:r>
              <a:t>    "risks": [</a:t>
            </a:r>
          </a:p>
          <a:p xmlns:a="http://schemas.openxmlformats.org/drawingml/2006/main">
            <a:r>
              <a:t>      "다른 사건의 무리한 병합",</a:t>
            </a:r>
          </a:p>
          <a:p xmlns:a="http://schemas.openxmlformats.org/drawingml/2006/main">
            <a:r>
              <a:t>      "답변 추천을 공식 회신으로 오인"</a:t>
            </a:r>
          </a:p>
          <a:p xmlns:a="http://schemas.openxmlformats.org/drawingml/2006/main">
            <a:r>
              <a:t>    ],</a:t>
            </a:r>
          </a:p>
          <a:p xmlns:a="http://schemas.openxmlformats.org/drawingml/2006/main">
            <a:r>
              <a:t>    "architecture": [</a:t>
            </a:r>
          </a:p>
          <a:p xmlns:a="http://schemas.openxmlformats.org/drawingml/2006/main">
            <a:r>
              <a:t>      "국민신문고",</a:t>
            </a:r>
          </a:p>
          <a:p xmlns:a="http://schemas.openxmlformats.org/drawingml/2006/main">
            <a:r>
              <a:t>      "분류·답변 추천",</a:t>
            </a:r>
          </a:p>
          <a:p xmlns:a="http://schemas.openxmlformats.org/drawingml/2006/main">
            <a:r>
              <a:t>      "민원·답변 자료",</a:t>
            </a:r>
          </a:p>
          <a:p xmlns:a="http://schemas.openxmlformats.org/drawingml/2006/main">
            <a:r>
              <a:t>      "민원 담당"</a:t>
            </a:r>
          </a:p>
          <a:p xmlns:a="http://schemas.openxmlformats.org/drawingml/2006/main">
            <a:r>
              <a:t>    ],</a:t>
            </a:r>
          </a:p>
          <a:p xmlns:a="http://schemas.openxmlformats.org/drawingml/2006/main">
            <a:r>
              <a:t>    "transfers": [</a:t>
            </a:r>
          </a:p>
          <a:p xmlns:a="http://schemas.openxmlformats.org/drawingml/2006/main">
            <a:r>
              <a:t>      "민원 본문",</a:t>
            </a:r>
          </a:p>
          <a:p xmlns:a="http://schemas.openxmlformats.org/drawingml/2006/main">
            <a:r>
              <a:t>      "유사 사건",</a:t>
            </a:r>
          </a:p>
          <a:p xmlns:a="http://schemas.openxmlformats.org/drawingml/2006/main">
            <a:r>
              <a:t>      "추천 답변",</a:t>
            </a:r>
          </a:p>
          <a:p xmlns:a="http://schemas.openxmlformats.org/drawingml/2006/main">
            <a:r>
              <a:t>      "수정·회신"</a:t>
            </a:r>
          </a:p>
          <a:p xmlns:a="http://schemas.openxmlformats.org/drawingml/2006/main">
            <a:r>
              <a:t>    ],</a:t>
            </a:r>
          </a:p>
          <a:p xmlns:a="http://schemas.openxmlformats.org/drawingml/2006/main">
            <a:r>
              <a:t>    "control": "동일 사건 여부·개인정보 범위 검토",</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추진계획·성과지표, 기능 요구사항 / Word T035 https://www.nia.or.kr/common/board/Download.do?bcIdx=28233&amp;cbIdx=78336&amp;fileNo=2</a:t>
            </a:r>
          </a:p>
          <a:p xmlns:a="http://schemas.openxmlformats.org/drawingml/2006/main">
            <a:r>
              <a:t>홈페이지 https://heen1987-ops.github.io/TS-business-Plan-001/index.html?view=platform-cases&amp;case=PF-R02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"PF-R02",</a:t>
            </a:r>
          </a:p>
          <a:p xmlns:a="http://schemas.openxmlformats.org/drawingml/2006/main">
            <a:r>
              <a:t>    "sourceId": "R02",</a:t>
            </a:r>
          </a:p>
          <a:p xmlns:a="http://schemas.openxmlformats.org/drawingml/2006/main">
            <a:r>
              <a:t>    "title": "국민권익위 민원 AI",</a:t>
            </a:r>
          </a:p>
          <a:p xmlns:a="http://schemas.openxmlformats.org/drawingml/2006/main">
            <a:r>
              <a:t>    "region": "국내",</a:t>
            </a:r>
          </a:p>
          <a:p xmlns:a="http://schemas.openxmlformats.org/drawingml/2006/main">
            <a:r>
              <a:t>    "owner": "국민권익위원회·NIA",</a:t>
            </a:r>
          </a:p>
          <a:p xmlns:a="http://schemas.openxmlformats.org/drawingml/2006/main">
            <a:r>
              <a:t>    "state": "공식 서비스 개시 확인(2026-02-05)",</a:t>
            </a:r>
          </a:p>
          <a:p xmlns:a="http://schemas.openxmlformats.org/drawingml/2006/main">
            <a:r>
              <a:t>    "period": "기존 원장 확인 2026.10.16",</a:t>
            </a:r>
          </a:p>
          <a:p xmlns:a="http://schemas.openxmlformats.org/drawingml/2006/main">
            <a:r>
              <a:t>    "fact": "민원답변 추천·빈발중복민원 병합·의미 기반 민원 분석",</a:t>
            </a:r>
          </a:p>
          <a:p xmlns:a="http://schemas.openxmlformats.org/drawingml/2006/main">
            <a:r>
              <a:t>    "limit": "추천답변 도출시간·배정 처리시간·최종 답변 처리시간의 정의와 분모를 구분해야 함",</a:t>
            </a:r>
          </a:p>
          <a:p xmlns:a="http://schemas.openxmlformats.org/drawingml/2006/main">
            <a:r>
              <a:t>    "nodes": [</a:t>
            </a:r>
          </a:p>
          <a:p xmlns:a="http://schemas.openxmlformats.org/drawingml/2006/main">
            <a:r>
              <a:t>      "국민신문고",</a:t>
            </a:r>
          </a:p>
          <a:p xmlns:a="http://schemas.openxmlformats.org/drawingml/2006/main">
            <a:r>
              <a:t>      "분류·유사민원",</a:t>
            </a:r>
          </a:p>
          <a:p xmlns:a="http://schemas.openxmlformats.org/drawingml/2006/main">
            <a:r>
              <a:t>      "답변 추천",</a:t>
            </a:r>
          </a:p>
          <a:p xmlns:a="http://schemas.openxmlformats.org/drawingml/2006/main">
            <a:r>
              <a:t>      "현업 수정"</a:t>
            </a:r>
          </a:p>
          <a:p xmlns:a="http://schemas.openxmlformats.org/drawingml/2006/main">
            <a:r>
              <a:t>    ],</a:t>
            </a:r>
          </a:p>
          <a:p xmlns:a="http://schemas.openxmlformats.org/drawingml/2006/main">
            <a:r>
              <a:t>    "apply": "유사 문구와 동일 사건을 구분하는 민원 분류 및 소관부서별 답변 검토",</a:t>
            </a:r>
          </a:p>
          <a:p xmlns:a="http://schemas.openxmlformats.org/drawingml/2006/main">
            <a:r>
              <a:t>    "delta": "민원 사건·기관·업무 분류 / 유사군 검토 UI / 현업 수정 이력",</a:t>
            </a:r>
          </a:p>
          <a:p xmlns:a="http://schemas.openxmlformats.org/drawingml/2006/main">
            <a:r>
              <a:t>    "test": "같은 표현의 다른 사건·반대 취지 민원에 대한 오병합·답변 오류 측정",</a:t>
            </a:r>
          </a:p>
          <a:p xmlns:a="http://schemas.openxmlformats.org/drawingml/2006/main">
            <a:r>
              <a:t>    "url": "https://www.nia.or.kr/common/board/Download.do?bcIdx=28233&amp;cbIdx=78336&amp;fileNo=2",</a:t>
            </a:r>
          </a:p>
          <a:p xmlns:a="http://schemas.openxmlformats.org/drawingml/2006/main">
            <a:r>
              <a:t>    "urls": [</a:t>
            </a:r>
          </a:p>
          <a:p xmlns:a="http://schemas.openxmlformats.org/drawingml/2006/main">
            <a:r>
              <a:t>      "https://www.nia.or.kr/common/board/Download.do?bcIdx=28233&amp;cbIdx=78336&amp;fileNo=2",</a:t>
            </a:r>
          </a:p>
          <a:p xmlns:a="http://schemas.openxmlformats.org/drawingml/2006/main">
            <a:r>
              <a:t>      "https://www.acrc.go.kr/board.es?act=view&amp;bid=ACH&amp;list_no=106584&amp;mid=a10403070000&amp;nPage=1"</a:t>
            </a:r>
          </a:p>
          <a:p xmlns:a="http://schemas.openxmlformats.org/drawingml/2006/main">
            <a:r>
              <a:t>    ],</a:t>
            </a:r>
          </a:p>
          <a:p xmlns:a="http://schemas.openxmlformats.org/drawingml/2006/main">
            <a:r>
              <a:t>    "basis": "추진계획·성과지표, 기능 요구사항 / Word T035",</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"민원 분류 정확도 / 오병합률 / 최종 답변 작성시간",</a:t>
            </a:r>
          </a:p>
          <a:p xmlns:a="http://schemas.openxmlformats.org/drawingml/2006/main">
            <a:r>
              <a:t>    "group": "요구·구축",</a:t>
            </a:r>
          </a:p>
          <a:p xmlns:a="http://schemas.openxmlformats.org/drawingml/2006/main">
            <a:r>
              <a:t>    "sourceDetail": "국민신문고/민원정보분석 연계, RAG·요약·유사도 군집, 현업 수정 및 시범기관 확산",</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"PF-R02",</a:t>
            </a:r>
          </a:p>
          <a:p xmlns:a="http://schemas.openxmlformats.org/drawingml/2006/main">
            <a:r>
              <a:t>    "canonicalId": "PF-R02",</a:t>
            </a:r>
          </a:p>
          <a:p xmlns:a="http://schemas.openxmlformats.org/drawingml/2006/main">
            <a:r>
              <a:t>    "purpose": "민원답변 추천과 빈발·중복민원 분석",</a:t>
            </a:r>
          </a:p>
          <a:p xmlns:a="http://schemas.openxmlformats.org/drawingml/2006/main">
            <a:r>
              <a:t>    "users": "민원 처리자·정책 분석자",</a:t>
            </a:r>
          </a:p>
          <a:p xmlns:a="http://schemas.openxmlformats.org/drawingml/2006/main">
            <a:r>
              <a:t>    "scope": [</a:t>
            </a:r>
          </a:p>
          <a:p xmlns:a="http://schemas.openxmlformats.org/drawingml/2006/main">
            <a:r>
              <a:t>      "답변 초안",</a:t>
            </a:r>
          </a:p>
          <a:p xmlns:a="http://schemas.openxmlformats.org/drawingml/2006/main">
            <a:r>
              <a:t>      "유사민원 병합",</a:t>
            </a:r>
          </a:p>
          <a:p xmlns:a="http://schemas.openxmlformats.org/drawingml/2006/main">
            <a:r>
              <a:t>      "의미 분석"</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"국민신문고",</a:t>
            </a:r>
          </a:p>
          <a:p xmlns:a="http://schemas.openxmlformats.org/drawingml/2006/main">
            <a:r>
              <a:t>        "detail": "민원요지·유형·처리기관 문맥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"답변 초안 / 유사민원 병합 / 의미 분석",</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"분류·답변 추천",</a:t>
            </a:r>
          </a:p>
          <a:p xmlns:a="http://schemas.openxmlformats.org/drawingml/2006/main">
            <a:r>
              <a:t>        "detail": "RAG 답변 추천과 의미 유사도 군집",</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"민원 담당",</a:t>
            </a:r>
          </a:p>
          <a:p xmlns:a="http://schemas.openxmlformats.org/drawingml/2006/main">
            <a:r>
              <a:t>        "detail": "담당자의 군집·초안 수정 후 민원 처리",</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"민원·답변 자료",</a:t>
            </a:r>
          </a:p>
          <a:p xmlns:a="http://schemas.openxmlformats.org/drawingml/2006/main">
            <a:r>
              <a:t>        "detail": "국민신문고·민원정보분석 자료의 연계·정제",</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"기관별 답변 적합성과 병합 오류 분석",</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"국민신문고",</a:t>
            </a:r>
          </a:p>
          <a:p xmlns:a="http://schemas.openxmlformats.org/drawingml/2006/main">
            <a:r>
              <a:t>        "input": "민원요지·유형·처리기관 문맥 구성",</a:t>
            </a:r>
          </a:p>
          <a:p xmlns:a="http://schemas.openxmlformats.org/drawingml/2006/main">
            <a:r>
              <a:t>        "process": "국민신문고·민원정보분석 자료의 연계·정제",</a:t>
            </a:r>
          </a:p>
          <a:p xmlns:a="http://schemas.openxmlformats.org/drawingml/2006/main">
            <a:r>
              <a:t>        "output": "민원 본문"</a:t>
            </a:r>
          </a:p>
          <a:p xmlns:a="http://schemas.openxmlformats.org/drawingml/2006/main">
            <a:r>
              <a:t>      },</a:t>
            </a:r>
          </a:p>
          <a:p xmlns:a="http://schemas.openxmlformats.org/drawingml/2006/main">
            <a:r>
              <a:t>      {</a:t>
            </a:r>
          </a:p>
          <a:p xmlns:a="http://schemas.openxmlformats.org/drawingml/2006/main">
            <a:r>
              <a:t>        "title": "분류·유사민원",</a:t>
            </a:r>
          </a:p>
          <a:p xmlns:a="http://schemas.openxmlformats.org/drawingml/2006/main">
            <a:r>
              <a:t>        "input": "민원 본문",</a:t>
            </a:r>
          </a:p>
          <a:p xmlns:a="http://schemas.openxmlformats.org/drawingml/2006/main">
            <a:r>
              <a:t>        "process": "RAG 답변 추천과 의미 유사도 군집",</a:t>
            </a:r>
          </a:p>
          <a:p xmlns:a="http://schemas.openxmlformats.org/drawingml/2006/main">
            <a:r>
              <a:t>        "output": "유사 사건"</a:t>
            </a:r>
          </a:p>
          <a:p xmlns:a="http://schemas.openxmlformats.org/drawingml/2006/main">
            <a:r>
              <a:t>      },</a:t>
            </a:r>
          </a:p>
          <a:p xmlns:a="http://schemas.openxmlformats.org/drawingml/2006/main">
            <a:r>
              <a:t>      {</a:t>
            </a:r>
          </a:p>
          <a:p xmlns:a="http://schemas.openxmlformats.org/drawingml/2006/main">
            <a:r>
              <a:t>        "title": "답변 추천",</a:t>
            </a:r>
          </a:p>
          <a:p xmlns:a="http://schemas.openxmlformats.org/drawingml/2006/main">
            <a:r>
              <a:t>        "input": "유사 사건",</a:t>
            </a:r>
          </a:p>
          <a:p xmlns:a="http://schemas.openxmlformats.org/drawingml/2006/main">
            <a:r>
              <a:t>        "process": "동일 사건 여부·개인정보 범위 검토",</a:t>
            </a:r>
          </a:p>
          <a:p xmlns:a="http://schemas.openxmlformats.org/drawingml/2006/main">
            <a:r>
              <a:t>        "output": "추천 답변"</a:t>
            </a:r>
          </a:p>
          <a:p xmlns:a="http://schemas.openxmlformats.org/drawingml/2006/main">
            <a:r>
              <a:t>      },</a:t>
            </a:r>
          </a:p>
          <a:p xmlns:a="http://schemas.openxmlformats.org/drawingml/2006/main">
            <a:r>
              <a:t>      {</a:t>
            </a:r>
          </a:p>
          <a:p xmlns:a="http://schemas.openxmlformats.org/drawingml/2006/main">
            <a:r>
              <a:t>        "title": "현업 수정",</a:t>
            </a:r>
          </a:p>
          <a:p xmlns:a="http://schemas.openxmlformats.org/drawingml/2006/main">
            <a:r>
              <a:t>        "input": "추천 답변",</a:t>
            </a:r>
          </a:p>
          <a:p xmlns:a="http://schemas.openxmlformats.org/drawingml/2006/main">
            <a:r>
              <a:t>        "process": "담당자의 군집·초안 수정 후 민원 처리",</a:t>
            </a:r>
          </a:p>
          <a:p xmlns:a="http://schemas.openxmlformats.org/drawingml/2006/main">
            <a:r>
              <a:t>        "output": "수정·회신"</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"같은 사안의 반복 민원을 묶고 기관별 답변 초안 제시",</a:t>
            </a:r>
          </a:p>
          <a:p xmlns:a="http://schemas.openxmlformats.org/drawingml/2006/main">
            <a:r>
              <a:t>      "exception": "표현이 같은 다른 사건·소관기관 차이·반대 취지",</a:t>
            </a:r>
          </a:p>
          <a:p xmlns:a="http://schemas.openxmlformats.org/drawingml/2006/main">
            <a:r>
              <a:t>      "evidence": "군집 정답표·잘못된 병합 건·담당자 수정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"민원 처리자·정책 분석자",</a:t>
            </a:r>
          </a:p>
          <a:p xmlns:a="http://schemas.openxmlformats.org/drawingml/2006/main">
            <a:r>
              <a:t>          "processing": "민원요지·유형·처리기관 문맥 구성",</a:t>
            </a:r>
          </a:p>
          <a:p xmlns:a="http://schemas.openxmlformats.org/drawingml/2006/main">
            <a:r>
              <a:t>          "output": "민원 본문"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"민원·답변 자료",</a:t>
            </a:r>
          </a:p>
          <a:p xmlns:a="http://schemas.openxmlformats.org/drawingml/2006/main">
            <a:r>
              <a:t>          "processing": "국민신문고·민원정보분석 자료의 연계·정제",</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"민원 본문",</a:t>
            </a:r>
          </a:p>
          <a:p xmlns:a="http://schemas.openxmlformats.org/drawingml/2006/main">
            <a:r>
              <a:t>          "processing": "RAG 답변 추천과 의미 유사도 군집",</a:t>
            </a:r>
          </a:p>
          <a:p xmlns:a="http://schemas.openxmlformats.org/drawingml/2006/main">
            <a:r>
              <a:t>          "output": "추천 답변"</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"추천 답변",</a:t>
            </a:r>
          </a:p>
          <a:p xmlns:a="http://schemas.openxmlformats.org/drawingml/2006/main">
            <a:r>
              <a:t>          "processing": "담당자의 군집·초안 수정 후 민원 처리",</a:t>
            </a:r>
          </a:p>
          <a:p xmlns:a="http://schemas.openxmlformats.org/drawingml/2006/main">
            <a:r>
              <a:t>          "output": "수정·회신"</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"기관별 답변 적합성과 병합 오류 분석",</a:t>
            </a:r>
          </a:p>
          <a:p xmlns:a="http://schemas.openxmlformats.org/drawingml/2006/main">
            <a:r>
              <a:t>          "output": "군집 정답표·잘못된 병합 건·담당자 수정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"기관별 답변 적합성과 병합 오류 분석",</a:t>
            </a:r>
          </a:p>
          <a:p xmlns:a="http://schemas.openxmlformats.org/drawingml/2006/main">
            <a:r>
              <a:t>    "status": "RFP 기반 논리 설계",</a:t>
            </a:r>
          </a:p>
          <a:p xmlns:a="http://schemas.openxmlformats.org/drawingml/2006/main">
            <a:r>
              <a:t>    "basis": "본공고 RFP · 사업계획·민원답변 작성지원·빈발중복민원",</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"추진계획·성과지표, 기능 요구사항 / Word T035",</a:t>
            </a:r>
          </a:p>
          <a:p xmlns:a="http://schemas.openxmlformats.org/drawingml/2006/main">
            <a:r>
              <a:t>        "url": "https://www.nia.or.kr/common/board/Download.do?bcIdx=28233&amp;cbIdx=78336&amp;fileNo=2"</a:t>
            </a:r>
          </a:p>
          <a:p xmlns:a="http://schemas.openxmlformats.org/drawingml/2006/main">
            <a:r>
              <a:t>      }</a:t>
            </a:r>
          </a:p>
          <a:p xmlns:a="http://schemas.openxmlformats.org/drawingml/2006/main">
            <a:r>
              <a:t>    ],</a:t>
            </a:r>
          </a:p>
          <a:p xmlns:a="http://schemas.openxmlformats.org/drawingml/2006/main">
            <a:r>
              <a:t>    "implication": "유사 문구와 동일 사건을 구분하는 민원 분류 및 소관부서별 답변 검토",</a:t>
            </a:r>
          </a:p>
          <a:p xmlns:a="http://schemas.openxmlformats.org/drawingml/2006/main">
            <a:r>
              <a:t>    "local": "유사 문구와 동일 사건을 구분하는 민원 분류 및 소관부서별 답변 검토",</a:t>
            </a:r>
          </a:p>
          <a:p xmlns:a="http://schemas.openxmlformats.org/drawingml/2006/main">
            <a:r>
              <a:t>    "sourceDetail": "국민신문고/민원정보분석 연계, RAG·요약·유사도 군집, 현업 수정 및 시범기관 확산",</a:t>
            </a:r>
          </a:p>
          <a:p xmlns:a="http://schemas.openxmlformats.org/drawingml/2006/main">
            <a:r>
              <a:t>    "narrative": [</a:t>
            </a:r>
          </a:p>
          <a:p xmlns:a="http://schemas.openxmlformats.org/drawingml/2006/main">
            <a:r>
              <a:t>      "국민신문고의 접수·처리와 민원정보분석 업무를 연결하는 AI 고도화. 담당자의 답변 초안 작성과 유사민원 식별, 정책 분석자의 의미 기반 이슈 탐색을 서로 다른 업무 결과로 구분하는 사업.",</a:t>
            </a:r>
          </a:p>
          <a:p xmlns:a="http://schemas.openxmlformats.org/drawingml/2006/main">
            <a:r>
              <a:t>      "원문 목표 구성도는 기존 포털·DB, API Gateway, 답변·분석·중복 검색 모듈, 데이터 처리 계층, 운영 관리 계층으로 구성. OCR·메타정보 추출 후 키워드·벡터 검색을 병렬 수행하고, 재정렬된 근거를 업무 모듈에 전달하는 구조. 서비스 화면과 모델 운영의 별도 책임 분리가 핵심.",</a:t>
            </a:r>
          </a:p>
          <a:p xmlns:a="http://schemas.openxmlformats.org/drawingml/2006/main">
            <a:r>
              <a:t>      "표현이 비슷하다는 이유만으로 같은 사건으로 병합하면 이의·반대 민원의 취지 소실 가능성. CCK 비교시험에서는 문장 유사도 외에 사건·기관·지역·처리 단계의 일치 여부와 담당자의 수정·채택 이력을 함께 평가할 필요. 답변 추천시간과 최종 회신시간의 별도 계측."</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"SFR-004",</a:t>
            </a:r>
          </a:p>
          <a:p xmlns:a="http://schemas.openxmlformats.org/drawingml/2006/main">
            <a:r>
              <a:t>        "title": "민원 종류 분류",</a:t>
            </a:r>
          </a:p>
          <a:p xmlns:a="http://schemas.openxmlformats.org/drawingml/2006/main">
            <a:r>
              <a:t>        "locator": "SFR-004",</a:t>
            </a:r>
          </a:p>
          <a:p xmlns:a="http://schemas.openxmlformats.org/drawingml/2006/main">
            <a:r>
              <a:t>        "summary": "민원 본문을 민원 종류로 분류해 담당 업무의 처리 경로를 지원하는 기능.",</a:t>
            </a:r>
          </a:p>
          <a:p xmlns:a="http://schemas.openxmlformats.org/drawingml/2006/main">
            <a:r>
              <a:t>        "data": "민원 원문·분류 체계 → 분류 후보·검토 결과",</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"복합 주제·짧은 문장·오탈자 민원의 오분류와 담당자 수정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"6b4913cc0ae5b5169d9646773f4136e5246b9263738a4827b1ab87a16891f0b5"</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"민원 처리내용 초안 제공",</a:t>
            </a:r>
          </a:p>
          <a:p xmlns:a="http://schemas.openxmlformats.org/drawingml/2006/main">
            <a:r>
              <a:t>        "locator": "SFR-005",</a:t>
            </a:r>
          </a:p>
          <a:p xmlns:a="http://schemas.openxmlformats.org/drawingml/2006/main">
            <a:r>
              <a:t>        "summary": "관련 규정과 기존 처리내용을 참조한 민원답변 초안 지원. 초안과 최종 답변의 담당자 확인 경로 구성.",</a:t>
            </a:r>
          </a:p>
          <a:p xmlns:a="http://schemas.openxmlformats.org/drawingml/2006/main">
            <a:r>
              <a:t>        "data": "접수 민원·참조 자료 → 근거가 연결된 답변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"과거 규정과 현행 규정이 충돌하는 사례의 근거 판본 및 담당자 수정 흔적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"4f5defef29ed25fd79e46a89d680a461cb449aef69766f422194dd69e74fe07d"</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"유사민원 식별 기능 제공",</a:t>
            </a:r>
          </a:p>
          <a:p xmlns:a="http://schemas.openxmlformats.org/drawingml/2006/main">
            <a:r>
              <a:t>        "locator": "SFR-006",</a:t>
            </a:r>
          </a:p>
          <a:p xmlns:a="http://schemas.openxmlformats.org/drawingml/2006/main">
            <a:r>
              <a:t>        "summary": "같거나 유사한 민원을 식별해 반복 업무를 지원하는 기능. 검색 후보와 실제 병합 판단의 구분.",</a:t>
            </a:r>
          </a:p>
          <a:p xmlns:a="http://schemas.openxmlformats.org/drawingml/2006/main">
            <a:r>
              <a:t>        "data": "민원 집합·사건 문맥 → 유사도·후보 묶음",</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"C05"</a:t>
            </a:r>
          </a:p>
          <a:p xmlns:a="http://schemas.openxmlformats.org/drawingml/2006/main">
            <a:r>
              <a:t>        ],</a:t>
            </a:r>
          </a:p>
          <a:p xmlns:a="http://schemas.openxmlformats.org/drawingml/2006/main">
            <a:r>
              <a:t>        "acceptance": "문장은 같지만 사건·지역·신청인이 다른 사례로 오병합 여부와 원문 복원 가능성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"4153e591c032d301106aff35c38940a0d476dc7d8c4d31155d7221e129da66dd"</a:t>
            </a:r>
          </a:p>
          <a:p xmlns:a="http://schemas.openxmlformats.org/drawingml/2006/main">
            <a:r>
              <a:t>      },</a:t>
            </a:r>
          </a:p>
          <a:p xmlns:a="http://schemas.openxmlformats.org/drawingml/2006/main">
            <a:r>
              <a:t>      {</a:t>
            </a:r>
          </a:p>
          <a:p xmlns:a="http://schemas.openxmlformats.org/drawingml/2006/main">
            <a:r>
              <a:t>        "id": "SFR-010",</a:t>
            </a:r>
          </a:p>
          <a:p xmlns:a="http://schemas.openxmlformats.org/drawingml/2006/main">
            <a:r>
              <a:t>        "title": "민원업무 고도화 서비스 관리기능",</a:t>
            </a:r>
          </a:p>
          <a:p xmlns:a="http://schemas.openxmlformats.org/drawingml/2006/main">
            <a:r>
              <a:t>        "locator": "SFR-010",</a:t>
            </a:r>
          </a:p>
          <a:p xmlns:a="http://schemas.openxmlformats.org/drawingml/2006/main">
            <a:r>
              <a:t>        "summary": "민원업무 고도화 서비스의 이용·관리 기능 구성. 운영자가 업무별 서비스 상태와 관리 대상을 확인하는 경로.",</a:t>
            </a:r>
          </a:p>
          <a:p xmlns:a="http://schemas.openxmlformats.org/drawingml/2006/main">
            <a:r>
              <a:t>        "data": "운영 설정·사용 이력 → 관리 상태·변경 기록",</a:t>
            </a:r>
          </a:p>
          <a:p xmlns:a="http://schemas.openxmlformats.org/drawingml/2006/main">
            <a:r>
              <a:t>        "components": [</a:t>
            </a:r>
          </a:p>
          <a:p xmlns:a="http://schemas.openxmlformats.org/drawingml/2006/main">
            <a:r>
              <a:t>          "C06",</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"관리 역할별 허용 작업과 변경 이력, 설정 변경 후 서비스 반영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"d0f1ab9389b360af8d77e62f3eeb2326716b450c2d1575dcec42b79fbb02d49b"</a:t>
            </a:r>
          </a:p>
          <a:p xmlns:a="http://schemas.openxmlformats.org/drawingml/2006/main">
            <a:r>
              <a:t>      },</a:t>
            </a:r>
          </a:p>
          <a:p xmlns:a="http://schemas.openxmlformats.org/drawingml/2006/main">
            <a:r>
              <a:t>      {</a:t>
            </a:r>
          </a:p>
          <a:p xmlns:a="http://schemas.openxmlformats.org/drawingml/2006/main">
            <a:r>
              <a:t>        "id": "SFR-011",</a:t>
            </a:r>
          </a:p>
          <a:p xmlns:a="http://schemas.openxmlformats.org/drawingml/2006/main">
            <a:r>
              <a:t>        "title": "의미 기반 검색과 분석",</a:t>
            </a:r>
          </a:p>
          <a:p xmlns:a="http://schemas.openxmlformats.org/drawingml/2006/main">
            <a:r>
              <a:t>        "locator": "SFR-011",</a:t>
            </a:r>
          </a:p>
          <a:p xmlns:a="http://schemas.openxmlformats.org/drawingml/2006/main">
            <a:r>
              <a:t>        "summary": "단순 키워드 일치를 넘어 민원 의미를 이용한 검색·분석 지원.",</a:t>
            </a:r>
          </a:p>
          <a:p xmlns:a="http://schemas.openxmlformats.org/drawingml/2006/main">
            <a:r>
              <a:t>        "data": "검색 질의·민원 색인 → 의미상 관련 민원·분석 결과",</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"C11"</a:t>
            </a:r>
          </a:p>
          <a:p xmlns:a="http://schemas.openxmlformats.org/drawingml/2006/main">
            <a:r>
              <a:t>        ],</a:t>
            </a:r>
          </a:p>
          <a:p xmlns:a="http://schemas.openxmlformats.org/drawingml/2006/main">
            <a:r>
              <a:t>        "acceptance": "다른 표현의 같은 의도와 같은 단어의 다른 의도를 구분한 검색 정답셋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"cb3704532e53b7b70bc4764b544e7f549cec4553215296f437e5601fe00168f1"</a:t>
            </a:r>
          </a:p>
          <a:p xmlns:a="http://schemas.openxmlformats.org/drawingml/2006/main">
            <a:r>
              <a:t>      },</a:t>
            </a:r>
          </a:p>
          <a:p xmlns:a="http://schemas.openxmlformats.org/drawingml/2006/main">
            <a:r>
              <a:t>      {</a:t>
            </a:r>
          </a:p>
          <a:p xmlns:a="http://schemas.openxmlformats.org/drawingml/2006/main">
            <a:r>
              <a:t>        "id": "SFR-015",</a:t>
            </a:r>
          </a:p>
          <a:p xmlns:a="http://schemas.openxmlformats.org/drawingml/2006/main">
            <a:r>
              <a:t>        "title": "실시간 데이터 수집 및 검증",</a:t>
            </a:r>
          </a:p>
          <a:p xmlns:a="http://schemas.openxmlformats.org/drawingml/2006/main">
            <a:r>
              <a:t>        "locator": "SFR-015",</a:t>
            </a:r>
          </a:p>
          <a:p xmlns:a="http://schemas.openxmlformats.org/drawingml/2006/main">
            <a:r>
              <a:t>        "summary": "OGG 기반 원천 변경 수집과 데이터 검증을 통한 실시간 연계. 수집 이후 정합성 확인이 필요한 데이터 흐름.",</a:t>
            </a:r>
          </a:p>
          <a:p xmlns:a="http://schemas.openxmlformats.org/drawingml/2006/main">
            <a:r>
              <a:t>        "data": "원천 DB 변경분 → 검증된 연계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"삽입·수정·삭제·중단 후 재개 시 건수·키·시점 대사와 중복 적재 여부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"bcca0bc62529ccf5ac36e787dc506c0b54f8f16e1b96c873fa31cca5157a057c"</a:t>
            </a:r>
          </a:p>
          <a:p xmlns:a="http://schemas.openxmlformats.org/drawingml/2006/main">
            <a:r>
              <a:t>      },</a:t>
            </a:r>
          </a:p>
          <a:p xmlns:a="http://schemas.openxmlformats.org/drawingml/2006/main">
            <a:r>
              <a:t>      {</a:t>
            </a:r>
          </a:p>
          <a:p xmlns:a="http://schemas.openxmlformats.org/drawingml/2006/main">
            <a:r>
              <a:t>        "id": "SFR-018",</a:t>
            </a:r>
          </a:p>
          <a:p xmlns:a="http://schemas.openxmlformats.org/drawingml/2006/main">
            <a:r>
              <a:t>        "title": "AI 기반 민원 자동 처리",</a:t>
            </a:r>
          </a:p>
          <a:p xmlns:a="http://schemas.openxmlformats.org/drawingml/2006/main">
            <a:r>
              <a:t>        "locator": "SFR-018",</a:t>
            </a:r>
          </a:p>
          <a:p xmlns:a="http://schemas.openxmlformats.org/drawingml/2006/main">
            <a:r>
              <a:t>        "summary": "AI 기반 민원 처리 지원에 담당자 검토·채택 결과를 연결하고 운영 개선에 활용하는 흐름.",</a:t>
            </a:r>
          </a:p>
          <a:p xmlns:a="http://schemas.openxmlformats.org/drawingml/2006/main">
            <a:r>
              <a:t>        "data": "처리 후보·담당자 검토 → 채택·수정 결과·피드백",</a:t>
            </a:r>
          </a:p>
          <a:p xmlns:a="http://schemas.openxmlformats.org/drawingml/2006/main">
            <a:r>
              <a:t>        "components": [</a:t>
            </a:r>
          </a:p>
          <a:p xmlns:a="http://schemas.openxmlformats.org/drawingml/2006/main">
            <a:r>
              <a:t>          "C04",</a:t>
            </a:r>
          </a:p>
          <a:p xmlns:a="http://schemas.openxmlformats.org/drawingml/2006/main">
            <a:r>
              <a:t>          "C06",</a:t>
            </a:r>
          </a:p>
          <a:p xmlns:a="http://schemas.openxmlformats.org/drawingml/2006/main">
            <a:r>
              <a:t>          "C08"</a:t>
            </a:r>
          </a:p>
          <a:p xmlns:a="http://schemas.openxmlformats.org/drawingml/2006/main">
            <a:r>
              <a:t>        ],</a:t>
            </a:r>
          </a:p>
          <a:p xmlns:a="http://schemas.openxmlformats.org/drawingml/2006/main">
            <a:r>
              <a:t>        "acceptance": "추천과 확정 상태를 구분하고 수정·반려가 다음 처리 기록에 누락 없이 남는지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"35bf9ae1174266075e30936c9e150e97a0d68cd55f83071656309743e2875dca"</a:t>
            </a:r>
          </a:p>
          <a:p xmlns:a="http://schemas.openxmlformats.org/drawingml/2006/main">
            <a:r>
              <a:t>      },</a:t>
            </a:r>
          </a:p>
          <a:p xmlns:a="http://schemas.openxmlformats.org/drawingml/2006/main">
            <a:r>
              <a:t>      {</a:t>
            </a:r>
          </a:p>
          <a:p xmlns:a="http://schemas.openxmlformats.org/drawingml/2006/main">
            <a:r>
              <a:t>        "id": "SFR-019",</a:t>
            </a:r>
          </a:p>
          <a:p xmlns:a="http://schemas.openxmlformats.org/drawingml/2006/main">
            <a:r>
              <a:t>        "title": "API 통합 관리 및 성능 모니터링",</a:t>
            </a:r>
          </a:p>
          <a:p xmlns:a="http://schemas.openxmlformats.org/drawingml/2006/main">
            <a:r>
              <a:t>        "locator": "SFR-019",</a:t>
            </a:r>
          </a:p>
          <a:p xmlns:a="http://schemas.openxmlformats.org/drawingml/2006/main">
            <a:r>
              <a:t>        "summary": "API 통합 관리와 성능 모니터링을 통한 업무 모듈·기간계 연결 관리.",</a:t>
            </a:r>
          </a:p>
          <a:p xmlns:a="http://schemas.openxmlformats.org/drawingml/2006/main">
            <a:r>
              <a:t>        "data": "API 요청·응답·호출 이력 → 상태·성능·오류 기록",</a:t>
            </a:r>
          </a:p>
          <a:p xmlns:a="http://schemas.openxmlformats.org/drawingml/2006/main">
            <a:r>
              <a:t>        "components": [</a:t>
            </a:r>
          </a:p>
          <a:p xmlns:a="http://schemas.openxmlformats.org/drawingml/2006/main">
            <a:r>
              <a:t>          "C02",</a:t>
            </a:r>
          </a:p>
          <a:p xmlns:a="http://schemas.openxmlformats.org/drawingml/2006/main">
            <a:r>
              <a:t>          "C07",</a:t>
            </a:r>
          </a:p>
          <a:p xmlns:a="http://schemas.openxmlformats.org/drawingml/2006/main">
            <a:r>
              <a:t>          "C08"</a:t>
            </a:r>
          </a:p>
          <a:p xmlns:a="http://schemas.openxmlformats.org/drawingml/2006/main">
            <a:r>
              <a:t>        ],</a:t>
            </a:r>
          </a:p>
          <a:p xmlns:a="http://schemas.openxmlformats.org/drawingml/2006/main">
            <a:r>
              <a:t>        "acceptance": "호출 실패·시간초과·중복 요청을 주입하고 호출 경로별 원인과 처리 상태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"ff7c0fe41f6cc841f53d73ace372872ebb0dfc391d7d7ca1a21b446c4dfa32b4"</a:t>
            </a:r>
          </a:p>
          <a:p xmlns:a="http://schemas.openxmlformats.org/drawingml/2006/main">
            <a:r>
              <a:t>      },</a:t>
            </a:r>
          </a:p>
          <a:p xmlns:a="http://schemas.openxmlformats.org/drawingml/2006/main">
            <a:r>
              <a:t>      {</a:t>
            </a:r>
          </a:p>
          <a:p xmlns:a="http://schemas.openxmlformats.org/drawingml/2006/main">
            <a:r>
              <a:t>        "id": "SFR-020",</a:t>
            </a:r>
          </a:p>
          <a:p xmlns:a="http://schemas.openxmlformats.org/drawingml/2006/main">
            <a:r>
              <a:t>        "title": "시스템 설정 및 운영 모니터링 통합 관리",</a:t>
            </a:r>
          </a:p>
          <a:p xmlns:a="http://schemas.openxmlformats.org/drawingml/2006/main">
            <a:r>
              <a:t>        "locator": "SFR-020",</a:t>
            </a:r>
          </a:p>
          <a:p xmlns:a="http://schemas.openxmlformats.org/drawingml/2006/main">
            <a:r>
              <a:t>        "summary": "시스템 설정과 운영 모니터링의 통합 관리. 업무 기능과 운영 정책의 일관된 상태 확인.",</a:t>
            </a:r>
          </a:p>
          <a:p xmlns:a="http://schemas.openxmlformats.org/drawingml/2006/main">
            <a:r>
              <a:t>        "data": "시스템 설정·운영 지표 → 관리 화면·이상 상태",</a:t>
            </a:r>
          </a:p>
          <a:p xmlns:a="http://schemas.openxmlformats.org/drawingml/2006/main">
            <a:r>
              <a:t>        "components": [</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"설정 변경 권한, 변경 전후 상태, 장애 탐지·복구 기록의 연결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"700952e7f3297506bdddffe81782d75953ec64aa85c0f75fd9ce24f75b54747a"</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"국민신문고 접점",</a:t>
            </a:r>
          </a:p>
          <a:p xmlns:a="http://schemas.openxmlformats.org/drawingml/2006/main">
            <a:r>
              <a:t>          "layer": "이용 접점",</a:t>
            </a:r>
          </a:p>
          <a:p xmlns:a="http://schemas.openxmlformats.org/drawingml/2006/main">
            <a:r>
              <a:t>          "detail": "민원 처리자·정책 분석자",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"요지·기관·유형",</a:t>
            </a:r>
          </a:p>
          <a:p xmlns:a="http://schemas.openxmlformats.org/drawingml/2006/main">
            <a:r>
              <a:t>          "layer": "업무 문맥",</a:t>
            </a:r>
          </a:p>
          <a:p xmlns:a="http://schemas.openxmlformats.org/drawingml/2006/main">
            <a:r>
              <a:t>          "detail": "민원요지·유형·처리기관 문맥 구성",</a:t>
            </a:r>
          </a:p>
          <a:p xmlns:a="http://schemas.openxmlformats.org/drawingml/2006/main">
            <a:r>
              <a:t>          "requirements": [</a:t>
            </a:r>
          </a:p>
          <a:p xmlns:a="http://schemas.openxmlformats.org/drawingml/2006/main">
            <a:r>
              <a:t>            "SFR-004",</a:t>
            </a:r>
          </a:p>
          <a:p xmlns:a="http://schemas.openxmlformats.org/drawingml/2006/main">
            <a:r>
              <a:t>            "SFR-019"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"키워드·벡터 검색",</a:t>
            </a:r>
          </a:p>
          <a:p xmlns:a="http://schemas.openxmlformats.org/drawingml/2006/main">
            <a:r>
              <a:t>          "layer": "자료 조회",</a:t>
            </a:r>
          </a:p>
          <a:p xmlns:a="http://schemas.openxmlformats.org/drawingml/2006/main">
            <a:r>
              <a:t>          "detail": "민원 본문",</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"재정렬·답변·군집",</a:t>
            </a:r>
          </a:p>
          <a:p xmlns:a="http://schemas.openxmlformats.org/drawingml/2006/main">
            <a:r>
              <a:t>          "layer": "핵심 처리",</a:t>
            </a:r>
          </a:p>
          <a:p xmlns:a="http://schemas.openxmlformats.org/drawingml/2006/main">
            <a:r>
              <a:t>          "detail": "RAG 답변 추천과 의미 유사도 군집",</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"SFR-018"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"동일 사건 대조",</a:t>
            </a:r>
          </a:p>
          <a:p xmlns:a="http://schemas.openxmlformats.org/drawingml/2006/main">
            <a:r>
              <a:t>          "layer": "결과 검증",</a:t>
            </a:r>
          </a:p>
          <a:p xmlns:a="http://schemas.openxmlformats.org/drawingml/2006/main">
            <a:r>
              <a:t>          "detail": "동일 사건 여부·개인정보 범위 검토",</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"담당자 수정",</a:t>
            </a:r>
          </a:p>
          <a:p xmlns:a="http://schemas.openxmlformats.org/drawingml/2006/main">
            <a:r>
              <a:t>          "layer": "사람 확인",</a:t>
            </a:r>
          </a:p>
          <a:p xmlns:a="http://schemas.openxmlformats.org/drawingml/2006/main">
            <a:r>
              <a:t>          "detail": "같은 사안의 반복 민원을 묶고 기관별 답변 초안 제시",</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"SFR-010",</a:t>
            </a:r>
          </a:p>
          <a:p xmlns:a="http://schemas.openxmlformats.org/drawingml/2006/main">
            <a:r>
              <a:t>            "SFR-018"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"민원 처리·분석",</a:t>
            </a:r>
          </a:p>
          <a:p xmlns:a="http://schemas.openxmlformats.org/drawingml/2006/main">
            <a:r>
              <a:t>          "layer": "업무 연결",</a:t>
            </a:r>
          </a:p>
          <a:p xmlns:a="http://schemas.openxmlformats.org/drawingml/2006/main">
            <a:r>
              <a:t>          "detail": "담당자의 군집·초안 수정 후 민원 처리",</a:t>
            </a:r>
          </a:p>
          <a:p xmlns:a="http://schemas.openxmlformats.org/drawingml/2006/main">
            <a:r>
              <a:t>          "requirements": [</a:t>
            </a:r>
          </a:p>
          <a:p xmlns:a="http://schemas.openxmlformats.org/drawingml/2006/main">
            <a:r>
              <a:t>            "SFR-019"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"오답·병합 오류",</a:t>
            </a:r>
          </a:p>
          <a:p xmlns:a="http://schemas.openxmlformats.org/drawingml/2006/main">
            <a:r>
              <a:t>          "layer": "운영 관측",</a:t>
            </a:r>
          </a:p>
          <a:p xmlns:a="http://schemas.openxmlformats.org/drawingml/2006/main">
            <a:r>
              <a:t>          "detail": "기관별 답변 적합성과 병합 오류 분석",</a:t>
            </a:r>
          </a:p>
          <a:p xmlns:a="http://schemas.openxmlformats.org/drawingml/2006/main">
            <a:r>
              <a:t>          "requirements": [</a:t>
            </a:r>
          </a:p>
          <a:p xmlns:a="http://schemas.openxmlformats.org/drawingml/2006/main">
            <a:r>
              <a:t>            "SFR-010",</a:t>
            </a:r>
          </a:p>
          <a:p xmlns:a="http://schemas.openxmlformats.org/drawingml/2006/main">
            <a:r>
              <a:t>            "SFR-018",</a:t>
            </a:r>
          </a:p>
          <a:p xmlns:a="http://schemas.openxmlformats.org/drawingml/2006/main">
            <a:r>
              <a:t>            "SFR-019",</a:t>
            </a:r>
          </a:p>
          <a:p xmlns:a="http://schemas.openxmlformats.org/drawingml/2006/main">
            <a:r>
              <a:t>            "SFR-020"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"민원·답변·지침",</a:t>
            </a:r>
          </a:p>
          <a:p xmlns:a="http://schemas.openxmlformats.org/drawingml/2006/main">
            <a:r>
              <a:t>          "layer": "데이터 원천",</a:t>
            </a:r>
          </a:p>
          <a:p xmlns:a="http://schemas.openxmlformats.org/drawingml/2006/main">
            <a:r>
              <a:t>          "detail": "민원·답변 자료",</a:t>
            </a:r>
          </a:p>
          <a:p xmlns:a="http://schemas.openxmlformats.org/drawingml/2006/main">
            <a:r>
              <a:t>          "requirements": [</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"OCR·메타정보 추출",</a:t>
            </a:r>
          </a:p>
          <a:p xmlns:a="http://schemas.openxmlformats.org/drawingml/2006/main">
            <a:r>
              <a:t>          "layer": "준비·갱신",</a:t>
            </a:r>
          </a:p>
          <a:p xmlns:a="http://schemas.openxmlformats.org/drawingml/2006/main">
            <a:r>
              <a:t>          "detail": "국민신문고·민원정보분석 자료의 연계·정제",</a:t>
            </a:r>
          </a:p>
          <a:p xmlns:a="http://schemas.openxmlformats.org/drawingml/2006/main">
            <a:r>
              <a:t>          "requirements": [</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"지식 DB·색인",</a:t>
            </a:r>
          </a:p>
          <a:p xmlns:a="http://schemas.openxmlformats.org/drawingml/2006/main">
            <a:r>
              <a:t>          "layer": "상태·지식 저장",</a:t>
            </a:r>
          </a:p>
          <a:p xmlns:a="http://schemas.openxmlformats.org/drawingml/2006/main">
            <a:r>
              <a:t>          "detail": "군집 정답표·잘못된 병합 건·담당자 수정 이력",</a:t>
            </a:r>
          </a:p>
          <a:p xmlns:a="http://schemas.openxmlformats.org/drawingml/2006/main">
            <a:r>
              <a:t>          "requirements": [</a:t>
            </a:r>
          </a:p>
          <a:p xmlns:a="http://schemas.openxmlformats.org/drawingml/2006/main">
            <a:r>
              <a:t>            "SFR-011",</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"모델·프롬프트 관리",</a:t>
            </a:r>
          </a:p>
          <a:p xmlns:a="http://schemas.openxmlformats.org/drawingml/2006/main">
            <a:r>
              <a:t>          "layer": "권한·정책",</a:t>
            </a:r>
          </a:p>
          <a:p xmlns:a="http://schemas.openxmlformats.org/drawingml/2006/main">
            <a:r>
              <a:t>          "detail": "표현이 같은 다른 사건·소관기관 차이·반대 취지",</a:t>
            </a:r>
          </a:p>
          <a:p xmlns:a="http://schemas.openxmlformats.org/drawingml/2006/main">
            <a:r>
              <a:t>          "requirements": [</a:t>
            </a:r>
          </a:p>
          <a:p xmlns:a="http://schemas.openxmlformats.org/drawingml/2006/main">
            <a:r>
              <a:t>            "SFR-010",</a:t>
            </a:r>
          </a:p>
          <a:p xmlns:a="http://schemas.openxmlformats.org/drawingml/2006/main">
            <a:r>
              <a:t>            "SFR-020"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"민원요지·유형·처리기관 문맥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"민원 본문",</a:t>
            </a:r>
          </a:p>
          <a:p xmlns:a="http://schemas.openxmlformats.org/drawingml/2006/main">
            <a:r>
              <a:t>          "check": "동일 사건 여부·개인정보 범위 검토"</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"유사 사건",</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"답변 초안·유사군 후보·근거 문서",</a:t>
            </a:r>
          </a:p>
          <a:p xmlns:a="http://schemas.openxmlformats.org/drawingml/2006/main">
            <a:r>
              <a:t>          "check": "표현이 같은 다른 사건·소관기관 차이·반대 취지"</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"추천 답변",</a:t>
            </a:r>
          </a:p>
          <a:p xmlns:a="http://schemas.openxmlformats.org/drawingml/2006/main">
            <a:r>
              <a:t>          "check": "담당자의 군집·초안 수정 후 민원 처리"</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"수정·회신",</a:t>
            </a:r>
          </a:p>
          <a:p xmlns:a="http://schemas.openxmlformats.org/drawingml/2006/main">
            <a:r>
              <a:t>          "check": "군집 정답표·잘못된 병합 건·담당자 수정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"목표시스템 개념도·RAG 구성 예시",</a:t>
            </a:r>
          </a:p>
          <a:p xmlns:a="http://schemas.openxmlformats.org/drawingml/2006/main">
            <a:r>
              <a:t>        "extracted": "API Gateway, OCR·메타정보 추출, 키워드/벡터 검색과 재정렬",</a:t>
            </a:r>
          </a:p>
          <a:p xmlns:a="http://schemas.openxmlformats.org/drawingml/2006/main">
            <a:r>
              <a:t>        "extension": "민원 중복 후보와 공식 병합·회신의 승인 경계"</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"PF-R02",</a:t>
            </a:r>
          </a:p>
          <a:p xmlns:a="http://schemas.openxmlformats.org/drawingml/2006/main">
            <a:r>
              <a:t>          "path": "assets/casebook-sources/PF-R02-01.png",</a:t>
            </a:r>
          </a:p>
          <a:p xmlns:a="http://schemas.openxmlformats.org/drawingml/2006/main">
            <a:r>
              <a:t>          "title": "국민소통 플랫폼 목표시스템",</a:t>
            </a:r>
          </a:p>
          <a:p xmlns:a="http://schemas.openxmlformats.org/drawingml/2006/main">
            <a:r>
              <a:t>          "status": "RFP 목표시스템 개념도",</a:t>
            </a:r>
          </a:p>
          <a:p xmlns:a="http://schemas.openxmlformats.org/drawingml/2006/main">
            <a:r>
              <a:t>          "caption": "접점·API Gateway·업무 모듈·데이터 처리·운영 관리",</a:t>
            </a:r>
          </a:p>
          <a:p xmlns:a="http://schemas.openxmlformats.org/drawingml/2006/main">
            <a:r>
              <a:t>          "locator": "NIA_RFP_RFP / BinData/image33_bmp",</a:t>
            </a:r>
          </a:p>
          <a:p xmlns:a="http://schemas.openxmlformats.org/drawingml/2006/main">
            <a:r>
              <a:t>          "checked": "2026-10-16",</a:t>
            </a:r>
          </a:p>
          <a:p xmlns:a="http://schemas.openxmlformats.org/drawingml/2006/main">
            <a:r>
              <a:t>          "sha256": "91feb890184edf04ccccd8d86995147aa6c2181b0a66c58436263cafccdae911",</a:t>
            </a:r>
          </a:p>
          <a:p xmlns:a="http://schemas.openxmlformats.org/drawingml/2006/main">
            <a:r>
              <a:t>          "explanation": {</a:t>
            </a:r>
          </a:p>
          <a:p xmlns:a="http://schemas.openxmlformats.org/drawingml/2006/main">
            <a:r>
              <a:t>            "read": "접점에서 받은 요청을 API Gateway를 통해 민원 답변·분석·중복 식별 모듈로 전달하는 목표 구성. 데이터 처리 계층은 공통 근거를 공급하고 운영 관리 계층은 서비스·모델 상태를 관찰하는 역할.",</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"SFR-019",</a:t>
            </a:r>
          </a:p>
          <a:p xmlns:a="http://schemas.openxmlformats.org/drawingml/2006/main">
            <a:r>
              <a:t>              "SFR-020"</a:t>
            </a:r>
          </a:p>
          <a:p xmlns:a="http://schemas.openxmlformats.org/drawingml/2006/main">
            <a:r>
              <a:t>            ],</a:t>
            </a:r>
          </a:p>
          <a:p xmlns:a="http://schemas.openxmlformats.org/drawingml/2006/main">
            <a:r>
              <a:t>            "connection": "담당자 답변 초안, 유사민원 후보, 정책 분석 결과를 서로 다른 출력 계약으로 정의하고 기존 민원시스템의 확정·회신 절차에 연결하는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"assets/casebook-sources/PF-R02-02.png",</a:t>
            </a:r>
          </a:p>
          <a:p xmlns:a="http://schemas.openxmlformats.org/drawingml/2006/main">
            <a:r>
              <a:t>          "title": "키워드·벡터 검색과 Reranker",</a:t>
            </a:r>
          </a:p>
          <a:p xmlns:a="http://schemas.openxmlformats.org/drawingml/2006/main">
            <a:r>
              <a:t>          "status": "RFP RAG 구성 예시",</a:t>
            </a:r>
          </a:p>
          <a:p xmlns:a="http://schemas.openxmlformats.org/drawingml/2006/main">
            <a:r>
              <a:t>          "caption": "키워드/벡터 검색 병렬 처리 → 재정렬 → 근거 응답",</a:t>
            </a:r>
          </a:p>
          <a:p xmlns:a="http://schemas.openxmlformats.org/drawingml/2006/main">
            <a:r>
              <a:t>          "locator": "NIA_RFP_RFP / BinData/image18_bmp",</a:t>
            </a:r>
          </a:p>
          <a:p xmlns:a="http://schemas.openxmlformats.org/drawingml/2006/main">
            <a:r>
              <a:t>          "checked": "2026-10-16",</a:t>
            </a:r>
          </a:p>
          <a:p xmlns:a="http://schemas.openxmlformats.org/drawingml/2006/main">
            <a:r>
              <a:t>          "sha256": "a6ab4248256ee300422789627dbe5b8f09ec60657419e13d082c95b32f3f4f90",</a:t>
            </a:r>
          </a:p>
          <a:p xmlns:a="http://schemas.openxmlformats.org/drawingml/2006/main">
            <a:r>
              <a:t>          "explanation": {</a:t>
            </a:r>
          </a:p>
          <a:p xmlns:a="http://schemas.openxmlformats.org/drawingml/2006/main">
            <a:r>
              <a:t>            "read": "키워드 검색은 정확한 용어·조항의 일치 후보, 벡터 검색은 표현이 다른 유사 의미 후보를 제공. Reranker는 통합 후보를 질의 관련성에 따라 다시 정렬하고 생성 모델에 근거를 전달하는 역할.",</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a:t>
            </a:r>
          </a:p>
          <a:p xmlns:a="http://schemas.openxmlformats.org/drawingml/2006/main">
            <a:r>
              <a:t>            "connection": "재정렬 점수를 법적 정답이나 민원 병합 승인으로 해석하지 않고 기관·사건·시점과 출처 일치를 별도로 확인하는 검증 단계의 추가."</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"assets/casebook-sources/PF-R02-03.png",</a:t>
            </a:r>
          </a:p>
          <a:p xmlns:a="http://schemas.openxmlformats.org/drawingml/2006/main">
            <a:r>
              <a:t>          "title": "민원 AI 입출력 데이터",</a:t>
            </a:r>
          </a:p>
          <a:p xmlns:a="http://schemas.openxmlformats.org/drawingml/2006/main">
            <a:r>
              <a:t>          "status": "RFP 데이터 흐름도",</a:t>
            </a:r>
          </a:p>
          <a:p xmlns:a="http://schemas.openxmlformats.org/drawingml/2006/main">
            <a:r>
              <a:t>          "caption": "국민신문고·시범기관 매뉴얼 → 전처리·RAG → 답변·유사도",</a:t>
            </a:r>
          </a:p>
          <a:p xmlns:a="http://schemas.openxmlformats.org/drawingml/2006/main">
            <a:r>
              <a:t>          "locator": "NIA_RFP_RFP / BinData/image34_bmp",</a:t>
            </a:r>
          </a:p>
          <a:p xmlns:a="http://schemas.openxmlformats.org/drawingml/2006/main">
            <a:r>
              <a:t>          "checked": "2026-10-16",</a:t>
            </a:r>
          </a:p>
          <a:p xmlns:a="http://schemas.openxmlformats.org/drawingml/2006/main">
            <a:r>
              <a:t>          "sha256": "0e09409295bbb0aae0a61666cf01982d012392b3f4bccd2e98499654b4b690d0",</a:t>
            </a:r>
          </a:p>
          <a:p xmlns:a="http://schemas.openxmlformats.org/drawingml/2006/main">
            <a:r>
              <a:t>          "explanation": {</a:t>
            </a:r>
          </a:p>
          <a:p xmlns:a="http://schemas.openxmlformats.org/drawingml/2006/main">
            <a:r>
              <a:t>            "read": "국민신문고 데이터와 시범기관 매뉴얼 등 입력을 전처리·RAG 경로에 투입하고 업무별 답변·유사도 결과로 변환하는 입출력 구조. 동일 원천을 이용하더라도 답변과 군집의 산출물은 별도 관리 대상.",</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"SFR-015",</a:t>
            </a:r>
          </a:p>
          <a:p xmlns:a="http://schemas.openxmlformats.org/drawingml/2006/main">
            <a:r>
              <a:t>              "SFR-018"</a:t>
            </a:r>
          </a:p>
          <a:p xmlns:a="http://schemas.openxmlformats.org/drawingml/2006/main">
            <a:r>
              <a:t>            ],</a:t>
            </a:r>
          </a:p>
          <a:p xmlns:a="http://schemas.openxmlformats.org/drawingml/2006/main">
            <a:r>
              <a:t>            "connection": "원천 민원 ID·문서 판본·근거 위치를 결과에 유지해 담당자 수정과 최종 회신의 차이를 재현할 수 있도록 하는 데이터 계약."</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"assets/casebook-sources/PF-R02-04.png",</a:t>
            </a:r>
          </a:p>
          <a:p xmlns:a="http://schemas.openxmlformats.org/drawingml/2006/main">
            <a:r>
              <a:t>          "title": "데이터 구축·학습·운영 흐름",</a:t>
            </a:r>
          </a:p>
          <a:p xmlns:a="http://schemas.openxmlformats.org/drawingml/2006/main">
            <a:r>
              <a:t>          "status": "RFP 데이터 처리 구조",</a:t>
            </a:r>
          </a:p>
          <a:p xmlns:a="http://schemas.openxmlformats.org/drawingml/2006/main">
            <a:r>
              <a:t>          "caption": "수집·정제·가공·학습·운영의 환류",</a:t>
            </a:r>
          </a:p>
          <a:p xmlns:a="http://schemas.openxmlformats.org/drawingml/2006/main">
            <a:r>
              <a:t>          "locator": "NIA_RFP_RFP / BinData/image32_png",</a:t>
            </a:r>
          </a:p>
          <a:p xmlns:a="http://schemas.openxmlformats.org/drawingml/2006/main">
            <a:r>
              <a:t>          "checked": "2026-10-16",</a:t>
            </a:r>
          </a:p>
          <a:p xmlns:a="http://schemas.openxmlformats.org/drawingml/2006/main">
            <a:r>
              <a:t>          "sha256": "b6c466b110d91bceff5a9f806d658aa54f010e0a5b8a358a16771181bea77c50",</a:t>
            </a:r>
          </a:p>
          <a:p xmlns:a="http://schemas.openxmlformats.org/drawingml/2006/main">
            <a:r>
              <a:t>          "explanation": {</a:t>
            </a:r>
          </a:p>
          <a:p xmlns:a="http://schemas.openxmlformats.org/drawingml/2006/main">
            <a:r>
              <a:t>            "read": "수집·정제·가공·학습·운영이 연결된 데이터 생애주기. 온라인 요청 처리와 모델·지식 갱신의 작업이 서로 다른 주기로 수행되는 구성.",</a:t>
            </a:r>
          </a:p>
          <a:p xmlns:a="http://schemas.openxmlformats.org/drawingml/2006/main">
            <a:r>
              <a:t>            "requirements": [</a:t>
            </a:r>
          </a:p>
          <a:p xmlns:a="http://schemas.openxmlformats.org/drawingml/2006/main">
            <a:r>
              <a:t>              "SFR-015",</a:t>
            </a:r>
          </a:p>
          <a:p xmlns:a="http://schemas.openxmlformats.org/drawingml/2006/main">
            <a:r>
              <a:t>              "SFR-018",</a:t>
            </a:r>
          </a:p>
          <a:p xmlns:a="http://schemas.openxmlformats.org/drawingml/2006/main">
            <a:r>
              <a:t>              "SFR-020"</a:t>
            </a:r>
          </a:p>
          <a:p xmlns:a="http://schemas.openxmlformats.org/drawingml/2006/main">
            <a:r>
              <a:t>            ],</a:t>
            </a:r>
          </a:p>
          <a:p xmlns:a="http://schemas.openxmlformats.org/drawingml/2006/main">
            <a:r>
              <a:t>            "connection": "원천 변경 시 수집 완료·정제 완료·색인 반영 상태를 분리하고 실패 자료만 재처리하는 운영 설계. 검토 피드백의 자동 학습 투입 전 품질 확인 단계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"표현이 같은 다른 사건·소관기관 차이·반대 취지",</a:t>
            </a:r>
          </a:p>
          <a:p xmlns:a="http://schemas.openxmlformats.org/drawingml/2006/main">
            <a:r>
              <a:t>        "hold": "동일 사건 여부·개인정보 범위 검토",</a:t>
            </a:r>
          </a:p>
          <a:p xmlns:a="http://schemas.openxmlformats.org/drawingml/2006/main">
            <a:r>
              <a:t>        "recovery": "기관별 답변 적합성과 병합 오류 분석",</a:t>
            </a:r>
          </a:p>
          <a:p xmlns:a="http://schemas.openxmlformats.org/drawingml/2006/main">
            <a:r>
              <a:t>        "evidence": "군집 정답표·잘못된 병합 건·담당자 수정 이력"</a:t>
            </a:r>
          </a:p>
          <a:p xmlns:a="http://schemas.openxmlformats.org/drawingml/2006/main">
            <a:r>
              <a:t>      },</a:t>
            </a:r>
          </a:p>
          <a:p xmlns:a="http://schemas.openxmlformats.org/drawingml/2006/main">
            <a:r>
              <a:t>      "data": {</a:t>
            </a:r>
          </a:p>
          <a:p xmlns:a="http://schemas.openxmlformats.org/drawingml/2006/main">
            <a:r>
              <a:t>        "source": "민원·답변 자료",</a:t>
            </a:r>
          </a:p>
          <a:p xmlns:a="http://schemas.openxmlformats.org/drawingml/2006/main">
            <a:r>
              <a:t>        "prepare": "국민신문고·민원정보분석 자료의 연계·정제",</a:t>
            </a:r>
          </a:p>
          <a:p xmlns:a="http://schemas.openxmlformats.org/drawingml/2006/main">
            <a:r>
              <a:t>        "output": "민원 본문",</a:t>
            </a:r>
          </a:p>
          <a:p xmlns:a="http://schemas.openxmlformats.org/drawingml/2006/main">
            <a:r>
              <a:t>        "refresh": "기관별 답변 적합성과 병합 오류 분석"</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"PF-R02",</a:t>
            </a:r>
          </a:p>
          <a:p xmlns:a="http://schemas.openxmlformats.org/drawingml/2006/main">
            <a:r>
              <a:t>    "success": [</a:t>
            </a:r>
          </a:p>
          <a:p xmlns:a="http://schemas.openxmlformats.org/drawingml/2006/main">
            <a:r>
              <a:t>      "유사민원과 답변 추천 결합",</a:t>
            </a:r>
          </a:p>
          <a:p xmlns:a="http://schemas.openxmlformats.org/drawingml/2006/main">
            <a:r>
              <a:t>      "현업 수정을 반영한 활용"</a:t>
            </a:r>
          </a:p>
          <a:p xmlns:a="http://schemas.openxmlformats.org/drawingml/2006/main">
            <a:r>
              <a:t>    ],</a:t>
            </a:r>
          </a:p>
          <a:p xmlns:a="http://schemas.openxmlformats.org/drawingml/2006/main">
            <a:r>
              <a:t>    "risks": [</a:t>
            </a:r>
          </a:p>
          <a:p xmlns:a="http://schemas.openxmlformats.org/drawingml/2006/main">
            <a:r>
              <a:t>      "다른 사건의 무리한 병합",</a:t>
            </a:r>
          </a:p>
          <a:p xmlns:a="http://schemas.openxmlformats.org/drawingml/2006/main">
            <a:r>
              <a:t>      "답변 추천을 공식 회신으로 오인"</a:t>
            </a:r>
          </a:p>
          <a:p xmlns:a="http://schemas.openxmlformats.org/drawingml/2006/main">
            <a:r>
              <a:t>    ],</a:t>
            </a:r>
          </a:p>
          <a:p xmlns:a="http://schemas.openxmlformats.org/drawingml/2006/main">
            <a:r>
              <a:t>    "architecture": [</a:t>
            </a:r>
          </a:p>
          <a:p xmlns:a="http://schemas.openxmlformats.org/drawingml/2006/main">
            <a:r>
              <a:t>      "국민신문고",</a:t>
            </a:r>
          </a:p>
          <a:p xmlns:a="http://schemas.openxmlformats.org/drawingml/2006/main">
            <a:r>
              <a:t>      "분류·답변 추천",</a:t>
            </a:r>
          </a:p>
          <a:p xmlns:a="http://schemas.openxmlformats.org/drawingml/2006/main">
            <a:r>
              <a:t>      "민원·답변 자료",</a:t>
            </a:r>
          </a:p>
          <a:p xmlns:a="http://schemas.openxmlformats.org/drawingml/2006/main">
            <a:r>
              <a:t>      "민원 담당"</a:t>
            </a:r>
          </a:p>
          <a:p xmlns:a="http://schemas.openxmlformats.org/drawingml/2006/main">
            <a:r>
              <a:t>    ],</a:t>
            </a:r>
          </a:p>
          <a:p xmlns:a="http://schemas.openxmlformats.org/drawingml/2006/main">
            <a:r>
              <a:t>    "transfers": [</a:t>
            </a:r>
          </a:p>
          <a:p xmlns:a="http://schemas.openxmlformats.org/drawingml/2006/main">
            <a:r>
              <a:t>      "민원 본문",</a:t>
            </a:r>
          </a:p>
          <a:p xmlns:a="http://schemas.openxmlformats.org/drawingml/2006/main">
            <a:r>
              <a:t>      "유사 사건",</a:t>
            </a:r>
          </a:p>
          <a:p xmlns:a="http://schemas.openxmlformats.org/drawingml/2006/main">
            <a:r>
              <a:t>      "추천 답변",</a:t>
            </a:r>
          </a:p>
          <a:p xmlns:a="http://schemas.openxmlformats.org/drawingml/2006/main">
            <a:r>
              <a:t>      "수정·회신"</a:t>
            </a:r>
          </a:p>
          <a:p xmlns:a="http://schemas.openxmlformats.org/drawingml/2006/main">
            <a:r>
              <a:t>    ],</a:t>
            </a:r>
          </a:p>
          <a:p xmlns:a="http://schemas.openxmlformats.org/drawingml/2006/main">
            <a:r>
              <a:t>    "control": "동일 사건 여부·개인정보 범위 검토",</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추진계획·성과지표, 기능 요구사항 / Word T035 https://www.nia.or.kr/common/board/Download.do?bcIdx=28233&amp;cbIdx=78336&amp;fileNo=2</a:t>
            </a:r>
          </a:p>
          <a:p xmlns:a="http://schemas.openxmlformats.org/drawingml/2006/main">
            <a:r>
              <a:t>홈페이지 https://heen1987-ops.github.io/TS-business-Plan-001/index.html?view=platform-cases&amp;case=PF-R02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"PF-R02",</a:t>
            </a:r>
          </a:p>
          <a:p xmlns:a="http://schemas.openxmlformats.org/drawingml/2006/main">
            <a:r>
              <a:t>    "sourceId": "R02",</a:t>
            </a:r>
          </a:p>
          <a:p xmlns:a="http://schemas.openxmlformats.org/drawingml/2006/main">
            <a:r>
              <a:t>    "title": "국민권익위 민원 AI",</a:t>
            </a:r>
          </a:p>
          <a:p xmlns:a="http://schemas.openxmlformats.org/drawingml/2006/main">
            <a:r>
              <a:t>    "region": "국내",</a:t>
            </a:r>
          </a:p>
          <a:p xmlns:a="http://schemas.openxmlformats.org/drawingml/2006/main">
            <a:r>
              <a:t>    "owner": "국민권익위원회·NIA",</a:t>
            </a:r>
          </a:p>
          <a:p xmlns:a="http://schemas.openxmlformats.org/drawingml/2006/main">
            <a:r>
              <a:t>    "state": "공식 서비스 개시 확인(2026-02-05)",</a:t>
            </a:r>
          </a:p>
          <a:p xmlns:a="http://schemas.openxmlformats.org/drawingml/2006/main">
            <a:r>
              <a:t>    "period": "기존 원장 확인 2026.10.16",</a:t>
            </a:r>
          </a:p>
          <a:p xmlns:a="http://schemas.openxmlformats.org/drawingml/2006/main">
            <a:r>
              <a:t>    "fact": "민원답변 추천·빈발중복민원 병합·의미 기반 민원 분석",</a:t>
            </a:r>
          </a:p>
          <a:p xmlns:a="http://schemas.openxmlformats.org/drawingml/2006/main">
            <a:r>
              <a:t>    "limit": "추천답변 도출시간·배정 처리시간·최종 답변 처리시간의 정의와 분모를 구분해야 함",</a:t>
            </a:r>
          </a:p>
          <a:p xmlns:a="http://schemas.openxmlformats.org/drawingml/2006/main">
            <a:r>
              <a:t>    "nodes": [</a:t>
            </a:r>
          </a:p>
          <a:p xmlns:a="http://schemas.openxmlformats.org/drawingml/2006/main">
            <a:r>
              <a:t>      "국민신문고",</a:t>
            </a:r>
          </a:p>
          <a:p xmlns:a="http://schemas.openxmlformats.org/drawingml/2006/main">
            <a:r>
              <a:t>      "분류·유사민원",</a:t>
            </a:r>
          </a:p>
          <a:p xmlns:a="http://schemas.openxmlformats.org/drawingml/2006/main">
            <a:r>
              <a:t>      "답변 추천",</a:t>
            </a:r>
          </a:p>
          <a:p xmlns:a="http://schemas.openxmlformats.org/drawingml/2006/main">
            <a:r>
              <a:t>      "현업 수정"</a:t>
            </a:r>
          </a:p>
          <a:p xmlns:a="http://schemas.openxmlformats.org/drawingml/2006/main">
            <a:r>
              <a:t>    ],</a:t>
            </a:r>
          </a:p>
          <a:p xmlns:a="http://schemas.openxmlformats.org/drawingml/2006/main">
            <a:r>
              <a:t>    "apply": "유사 문구와 동일 사건을 구분하는 민원 분류 및 소관부서별 답변 검토",</a:t>
            </a:r>
          </a:p>
          <a:p xmlns:a="http://schemas.openxmlformats.org/drawingml/2006/main">
            <a:r>
              <a:t>    "delta": "민원 사건·기관·업무 분류 / 유사군 검토 UI / 현업 수정 이력",</a:t>
            </a:r>
          </a:p>
          <a:p xmlns:a="http://schemas.openxmlformats.org/drawingml/2006/main">
            <a:r>
              <a:t>    "test": "같은 표현의 다른 사건·반대 취지 민원에 대한 오병합·답변 오류 측정",</a:t>
            </a:r>
          </a:p>
          <a:p xmlns:a="http://schemas.openxmlformats.org/drawingml/2006/main">
            <a:r>
              <a:t>    "url": "https://www.nia.or.kr/common/board/Download.do?bcIdx=28233&amp;cbIdx=78336&amp;fileNo=2",</a:t>
            </a:r>
          </a:p>
          <a:p xmlns:a="http://schemas.openxmlformats.org/drawingml/2006/main">
            <a:r>
              <a:t>    "urls": [</a:t>
            </a:r>
          </a:p>
          <a:p xmlns:a="http://schemas.openxmlformats.org/drawingml/2006/main">
            <a:r>
              <a:t>      "https://www.nia.or.kr/common/board/Download.do?bcIdx=28233&amp;cbIdx=78336&amp;fileNo=2",</a:t>
            </a:r>
          </a:p>
          <a:p xmlns:a="http://schemas.openxmlformats.org/drawingml/2006/main">
            <a:r>
              <a:t>      "https://www.acrc.go.kr/board.es?act=view&amp;bid=ACH&amp;list_no=106584&amp;mid=a10403070000&amp;nPage=1"</a:t>
            </a:r>
          </a:p>
          <a:p xmlns:a="http://schemas.openxmlformats.org/drawingml/2006/main">
            <a:r>
              <a:t>    ],</a:t>
            </a:r>
          </a:p>
          <a:p xmlns:a="http://schemas.openxmlformats.org/drawingml/2006/main">
            <a:r>
              <a:t>    "basis": "추진계획·성과지표, 기능 요구사항 / Word T035",</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"민원 분류 정확도 / 오병합률 / 최종 답변 작성시간",</a:t>
            </a:r>
          </a:p>
          <a:p xmlns:a="http://schemas.openxmlformats.org/drawingml/2006/main">
            <a:r>
              <a:t>    "group": "요구·구축",</a:t>
            </a:r>
          </a:p>
          <a:p xmlns:a="http://schemas.openxmlformats.org/drawingml/2006/main">
            <a:r>
              <a:t>    "sourceDetail": "국민신문고/민원정보분석 연계, RAG·요약·유사도 군집, 현업 수정 및 시범기관 확산",</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"PF-R02",</a:t>
            </a:r>
          </a:p>
          <a:p xmlns:a="http://schemas.openxmlformats.org/drawingml/2006/main">
            <a:r>
              <a:t>    "canonicalId": "PF-R02",</a:t>
            </a:r>
          </a:p>
          <a:p xmlns:a="http://schemas.openxmlformats.org/drawingml/2006/main">
            <a:r>
              <a:t>    "purpose": "민원답변 추천과 빈발·중복민원 분석",</a:t>
            </a:r>
          </a:p>
          <a:p xmlns:a="http://schemas.openxmlformats.org/drawingml/2006/main">
            <a:r>
              <a:t>    "users": "민원 처리자·정책 분석자",</a:t>
            </a:r>
          </a:p>
          <a:p xmlns:a="http://schemas.openxmlformats.org/drawingml/2006/main">
            <a:r>
              <a:t>    "scope": [</a:t>
            </a:r>
          </a:p>
          <a:p xmlns:a="http://schemas.openxmlformats.org/drawingml/2006/main">
            <a:r>
              <a:t>      "답변 초안",</a:t>
            </a:r>
          </a:p>
          <a:p xmlns:a="http://schemas.openxmlformats.org/drawingml/2006/main">
            <a:r>
              <a:t>      "유사민원 병합",</a:t>
            </a:r>
          </a:p>
          <a:p xmlns:a="http://schemas.openxmlformats.org/drawingml/2006/main">
            <a:r>
              <a:t>      "의미 분석"</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"국민신문고",</a:t>
            </a:r>
          </a:p>
          <a:p xmlns:a="http://schemas.openxmlformats.org/drawingml/2006/main">
            <a:r>
              <a:t>        "detail": "민원요지·유형·처리기관 문맥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"답변 초안 / 유사민원 병합 / 의미 분석",</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"분류·답변 추천",</a:t>
            </a:r>
          </a:p>
          <a:p xmlns:a="http://schemas.openxmlformats.org/drawingml/2006/main">
            <a:r>
              <a:t>        "detail": "RAG 답변 추천과 의미 유사도 군집",</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"민원 담당",</a:t>
            </a:r>
          </a:p>
          <a:p xmlns:a="http://schemas.openxmlformats.org/drawingml/2006/main">
            <a:r>
              <a:t>        "detail": "담당자의 군집·초안 수정 후 민원 처리",</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"민원·답변 자료",</a:t>
            </a:r>
          </a:p>
          <a:p xmlns:a="http://schemas.openxmlformats.org/drawingml/2006/main">
            <a:r>
              <a:t>        "detail": "국민신문고·민원정보분석 자료의 연계·정제",</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"기관별 답변 적합성과 병합 오류 분석",</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"국민신문고",</a:t>
            </a:r>
          </a:p>
          <a:p xmlns:a="http://schemas.openxmlformats.org/drawingml/2006/main">
            <a:r>
              <a:t>        "input": "민원요지·유형·처리기관 문맥 구성",</a:t>
            </a:r>
          </a:p>
          <a:p xmlns:a="http://schemas.openxmlformats.org/drawingml/2006/main">
            <a:r>
              <a:t>        "process": "국민신문고·민원정보분석 자료의 연계·정제",</a:t>
            </a:r>
          </a:p>
          <a:p xmlns:a="http://schemas.openxmlformats.org/drawingml/2006/main">
            <a:r>
              <a:t>        "output": "민원 본문"</a:t>
            </a:r>
          </a:p>
          <a:p xmlns:a="http://schemas.openxmlformats.org/drawingml/2006/main">
            <a:r>
              <a:t>      },</a:t>
            </a:r>
          </a:p>
          <a:p xmlns:a="http://schemas.openxmlformats.org/drawingml/2006/main">
            <a:r>
              <a:t>      {</a:t>
            </a:r>
          </a:p>
          <a:p xmlns:a="http://schemas.openxmlformats.org/drawingml/2006/main">
            <a:r>
              <a:t>        "title": "분류·유사민원",</a:t>
            </a:r>
          </a:p>
          <a:p xmlns:a="http://schemas.openxmlformats.org/drawingml/2006/main">
            <a:r>
              <a:t>        "input": "민원 본문",</a:t>
            </a:r>
          </a:p>
          <a:p xmlns:a="http://schemas.openxmlformats.org/drawingml/2006/main">
            <a:r>
              <a:t>        "process": "RAG 답변 추천과 의미 유사도 군집",</a:t>
            </a:r>
          </a:p>
          <a:p xmlns:a="http://schemas.openxmlformats.org/drawingml/2006/main">
            <a:r>
              <a:t>        "output": "유사 사건"</a:t>
            </a:r>
          </a:p>
          <a:p xmlns:a="http://schemas.openxmlformats.org/drawingml/2006/main">
            <a:r>
              <a:t>      },</a:t>
            </a:r>
          </a:p>
          <a:p xmlns:a="http://schemas.openxmlformats.org/drawingml/2006/main">
            <a:r>
              <a:t>      {</a:t>
            </a:r>
          </a:p>
          <a:p xmlns:a="http://schemas.openxmlformats.org/drawingml/2006/main">
            <a:r>
              <a:t>        "title": "답변 추천",</a:t>
            </a:r>
          </a:p>
          <a:p xmlns:a="http://schemas.openxmlformats.org/drawingml/2006/main">
            <a:r>
              <a:t>        "input": "유사 사건",</a:t>
            </a:r>
          </a:p>
          <a:p xmlns:a="http://schemas.openxmlformats.org/drawingml/2006/main">
            <a:r>
              <a:t>        "process": "동일 사건 여부·개인정보 범위 검토",</a:t>
            </a:r>
          </a:p>
          <a:p xmlns:a="http://schemas.openxmlformats.org/drawingml/2006/main">
            <a:r>
              <a:t>        "output": "추천 답변"</a:t>
            </a:r>
          </a:p>
          <a:p xmlns:a="http://schemas.openxmlformats.org/drawingml/2006/main">
            <a:r>
              <a:t>      },</a:t>
            </a:r>
          </a:p>
          <a:p xmlns:a="http://schemas.openxmlformats.org/drawingml/2006/main">
            <a:r>
              <a:t>      {</a:t>
            </a:r>
          </a:p>
          <a:p xmlns:a="http://schemas.openxmlformats.org/drawingml/2006/main">
            <a:r>
              <a:t>        "title": "현업 수정",</a:t>
            </a:r>
          </a:p>
          <a:p xmlns:a="http://schemas.openxmlformats.org/drawingml/2006/main">
            <a:r>
              <a:t>        "input": "추천 답변",</a:t>
            </a:r>
          </a:p>
          <a:p xmlns:a="http://schemas.openxmlformats.org/drawingml/2006/main">
            <a:r>
              <a:t>        "process": "담당자의 군집·초안 수정 후 민원 처리",</a:t>
            </a:r>
          </a:p>
          <a:p xmlns:a="http://schemas.openxmlformats.org/drawingml/2006/main">
            <a:r>
              <a:t>        "output": "수정·회신"</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"같은 사안의 반복 민원을 묶고 기관별 답변 초안 제시",</a:t>
            </a:r>
          </a:p>
          <a:p xmlns:a="http://schemas.openxmlformats.org/drawingml/2006/main">
            <a:r>
              <a:t>      "exception": "표현이 같은 다른 사건·소관기관 차이·반대 취지",</a:t>
            </a:r>
          </a:p>
          <a:p xmlns:a="http://schemas.openxmlformats.org/drawingml/2006/main">
            <a:r>
              <a:t>      "evidence": "군집 정답표·잘못된 병합 건·담당자 수정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"민원 처리자·정책 분석자",</a:t>
            </a:r>
          </a:p>
          <a:p xmlns:a="http://schemas.openxmlformats.org/drawingml/2006/main">
            <a:r>
              <a:t>          "processing": "민원요지·유형·처리기관 문맥 구성",</a:t>
            </a:r>
          </a:p>
          <a:p xmlns:a="http://schemas.openxmlformats.org/drawingml/2006/main">
            <a:r>
              <a:t>          "output": "민원 본문"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"민원·답변 자료",</a:t>
            </a:r>
          </a:p>
          <a:p xmlns:a="http://schemas.openxmlformats.org/drawingml/2006/main">
            <a:r>
              <a:t>          "processing": "국민신문고·민원정보분석 자료의 연계·정제",</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"민원 본문",</a:t>
            </a:r>
          </a:p>
          <a:p xmlns:a="http://schemas.openxmlformats.org/drawingml/2006/main">
            <a:r>
              <a:t>          "processing": "RAG 답변 추천과 의미 유사도 군집",</a:t>
            </a:r>
          </a:p>
          <a:p xmlns:a="http://schemas.openxmlformats.org/drawingml/2006/main">
            <a:r>
              <a:t>          "output": "추천 답변"</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"추천 답변",</a:t>
            </a:r>
          </a:p>
          <a:p xmlns:a="http://schemas.openxmlformats.org/drawingml/2006/main">
            <a:r>
              <a:t>          "processing": "담당자의 군집·초안 수정 후 민원 처리",</a:t>
            </a:r>
          </a:p>
          <a:p xmlns:a="http://schemas.openxmlformats.org/drawingml/2006/main">
            <a:r>
              <a:t>          "output": "수정·회신"</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"기관별 답변 적합성과 병합 오류 분석",</a:t>
            </a:r>
          </a:p>
          <a:p xmlns:a="http://schemas.openxmlformats.org/drawingml/2006/main">
            <a:r>
              <a:t>          "output": "군집 정답표·잘못된 병합 건·담당자 수정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"기관별 답변 적합성과 병합 오류 분석",</a:t>
            </a:r>
          </a:p>
          <a:p xmlns:a="http://schemas.openxmlformats.org/drawingml/2006/main">
            <a:r>
              <a:t>    "status": "RFP 기반 논리 설계",</a:t>
            </a:r>
          </a:p>
          <a:p xmlns:a="http://schemas.openxmlformats.org/drawingml/2006/main">
            <a:r>
              <a:t>    "basis": "본공고 RFP · 사업계획·민원답변 작성지원·빈발중복민원",</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"추진계획·성과지표, 기능 요구사항 / Word T035",</a:t>
            </a:r>
          </a:p>
          <a:p xmlns:a="http://schemas.openxmlformats.org/drawingml/2006/main">
            <a:r>
              <a:t>        "url": "https://www.nia.or.kr/common/board/Download.do?bcIdx=28233&amp;cbIdx=78336&amp;fileNo=2"</a:t>
            </a:r>
          </a:p>
          <a:p xmlns:a="http://schemas.openxmlformats.org/drawingml/2006/main">
            <a:r>
              <a:t>      }</a:t>
            </a:r>
          </a:p>
          <a:p xmlns:a="http://schemas.openxmlformats.org/drawingml/2006/main">
            <a:r>
              <a:t>    ],</a:t>
            </a:r>
          </a:p>
          <a:p xmlns:a="http://schemas.openxmlformats.org/drawingml/2006/main">
            <a:r>
              <a:t>    "implication": "유사 문구와 동일 사건을 구분하는 민원 분류 및 소관부서별 답변 검토",</a:t>
            </a:r>
          </a:p>
          <a:p xmlns:a="http://schemas.openxmlformats.org/drawingml/2006/main">
            <a:r>
              <a:t>    "local": "유사 문구와 동일 사건을 구분하는 민원 분류 및 소관부서별 답변 검토",</a:t>
            </a:r>
          </a:p>
          <a:p xmlns:a="http://schemas.openxmlformats.org/drawingml/2006/main">
            <a:r>
              <a:t>    "sourceDetail": "국민신문고/민원정보분석 연계, RAG·요약·유사도 군집, 현업 수정 및 시범기관 확산",</a:t>
            </a:r>
          </a:p>
          <a:p xmlns:a="http://schemas.openxmlformats.org/drawingml/2006/main">
            <a:r>
              <a:t>    "narrative": [</a:t>
            </a:r>
          </a:p>
          <a:p xmlns:a="http://schemas.openxmlformats.org/drawingml/2006/main">
            <a:r>
              <a:t>      "국민신문고의 접수·처리와 민원정보분석 업무를 연결하는 AI 고도화. 담당자의 답변 초안 작성과 유사민원 식별, 정책 분석자의 의미 기반 이슈 탐색을 서로 다른 업무 결과로 구분하는 사업.",</a:t>
            </a:r>
          </a:p>
          <a:p xmlns:a="http://schemas.openxmlformats.org/drawingml/2006/main">
            <a:r>
              <a:t>      "원문 목표 구성도는 기존 포털·DB, API Gateway, 답변·분석·중복 검색 모듈, 데이터 처리 계층, 운영 관리 계층으로 구성. OCR·메타정보 추출 후 키워드·벡터 검색을 병렬 수행하고, 재정렬된 근거를 업무 모듈에 전달하는 구조. 서비스 화면과 모델 운영의 별도 책임 분리가 핵심.",</a:t>
            </a:r>
          </a:p>
          <a:p xmlns:a="http://schemas.openxmlformats.org/drawingml/2006/main">
            <a:r>
              <a:t>      "표현이 비슷하다는 이유만으로 같은 사건으로 병합하면 이의·반대 민원의 취지 소실 가능성. CCK 비교시험에서는 문장 유사도 외에 사건·기관·지역·처리 단계의 일치 여부와 담당자의 수정·채택 이력을 함께 평가할 필요. 답변 추천시간과 최종 회신시간의 별도 계측."</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"SFR-004",</a:t>
            </a:r>
          </a:p>
          <a:p xmlns:a="http://schemas.openxmlformats.org/drawingml/2006/main">
            <a:r>
              <a:t>        "title": "민원 종류 분류",</a:t>
            </a:r>
          </a:p>
          <a:p xmlns:a="http://schemas.openxmlformats.org/drawingml/2006/main">
            <a:r>
              <a:t>        "locator": "SFR-004",</a:t>
            </a:r>
          </a:p>
          <a:p xmlns:a="http://schemas.openxmlformats.org/drawingml/2006/main">
            <a:r>
              <a:t>        "summary": "민원 본문을 민원 종류로 분류해 담당 업무의 처리 경로를 지원하는 기능.",</a:t>
            </a:r>
          </a:p>
          <a:p xmlns:a="http://schemas.openxmlformats.org/drawingml/2006/main">
            <a:r>
              <a:t>        "data": "민원 원문·분류 체계 → 분류 후보·검토 결과",</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"복합 주제·짧은 문장·오탈자 민원의 오분류와 담당자 수정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"6b4913cc0ae5b5169d9646773f4136e5246b9263738a4827b1ab87a16891f0b5"</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"민원 처리내용 초안 제공",</a:t>
            </a:r>
          </a:p>
          <a:p xmlns:a="http://schemas.openxmlformats.org/drawingml/2006/main">
            <a:r>
              <a:t>        "locator": "SFR-005",</a:t>
            </a:r>
          </a:p>
          <a:p xmlns:a="http://schemas.openxmlformats.org/drawingml/2006/main">
            <a:r>
              <a:t>        "summary": "관련 규정과 기존 처리내용을 참조한 민원답변 초안 지원. 초안과 최종 답변의 담당자 확인 경로 구성.",</a:t>
            </a:r>
          </a:p>
          <a:p xmlns:a="http://schemas.openxmlformats.org/drawingml/2006/main">
            <a:r>
              <a:t>        "data": "접수 민원·참조 자료 → 근거가 연결된 답변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"과거 규정과 현행 규정이 충돌하는 사례의 근거 판본 및 담당자 수정 흔적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"4f5defef29ed25fd79e46a89d680a461cb449aef69766f422194dd69e74fe07d"</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"유사민원 식별 기능 제공",</a:t>
            </a:r>
          </a:p>
          <a:p xmlns:a="http://schemas.openxmlformats.org/drawingml/2006/main">
            <a:r>
              <a:t>        "locator": "SFR-006",</a:t>
            </a:r>
          </a:p>
          <a:p xmlns:a="http://schemas.openxmlformats.org/drawingml/2006/main">
            <a:r>
              <a:t>        "summary": "같거나 유사한 민원을 식별해 반복 업무를 지원하는 기능. 검색 후보와 실제 병합 판단의 구분.",</a:t>
            </a:r>
          </a:p>
          <a:p xmlns:a="http://schemas.openxmlformats.org/drawingml/2006/main">
            <a:r>
              <a:t>        "data": "민원 집합·사건 문맥 → 유사도·후보 묶음",</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"C05"</a:t>
            </a:r>
          </a:p>
          <a:p xmlns:a="http://schemas.openxmlformats.org/drawingml/2006/main">
            <a:r>
              <a:t>        ],</a:t>
            </a:r>
          </a:p>
          <a:p xmlns:a="http://schemas.openxmlformats.org/drawingml/2006/main">
            <a:r>
              <a:t>        "acceptance": "문장은 같지만 사건·지역·신청인이 다른 사례로 오병합 여부와 원문 복원 가능성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"4153e591c032d301106aff35c38940a0d476dc7d8c4d31155d7221e129da66dd"</a:t>
            </a:r>
          </a:p>
          <a:p xmlns:a="http://schemas.openxmlformats.org/drawingml/2006/main">
            <a:r>
              <a:t>      },</a:t>
            </a:r>
          </a:p>
          <a:p xmlns:a="http://schemas.openxmlformats.org/drawingml/2006/main">
            <a:r>
              <a:t>      {</a:t>
            </a:r>
          </a:p>
          <a:p xmlns:a="http://schemas.openxmlformats.org/drawingml/2006/main">
            <a:r>
              <a:t>        "id": "SFR-010",</a:t>
            </a:r>
          </a:p>
          <a:p xmlns:a="http://schemas.openxmlformats.org/drawingml/2006/main">
            <a:r>
              <a:t>        "title": "민원업무 고도화 서비스 관리기능",</a:t>
            </a:r>
          </a:p>
          <a:p xmlns:a="http://schemas.openxmlformats.org/drawingml/2006/main">
            <a:r>
              <a:t>        "locator": "SFR-010",</a:t>
            </a:r>
          </a:p>
          <a:p xmlns:a="http://schemas.openxmlformats.org/drawingml/2006/main">
            <a:r>
              <a:t>        "summary": "민원업무 고도화 서비스의 이용·관리 기능 구성. 운영자가 업무별 서비스 상태와 관리 대상을 확인하는 경로.",</a:t>
            </a:r>
          </a:p>
          <a:p xmlns:a="http://schemas.openxmlformats.org/drawingml/2006/main">
            <a:r>
              <a:t>        "data": "운영 설정·사용 이력 → 관리 상태·변경 기록",</a:t>
            </a:r>
          </a:p>
          <a:p xmlns:a="http://schemas.openxmlformats.org/drawingml/2006/main">
            <a:r>
              <a:t>        "components": [</a:t>
            </a:r>
          </a:p>
          <a:p xmlns:a="http://schemas.openxmlformats.org/drawingml/2006/main">
            <a:r>
              <a:t>          "C06",</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"관리 역할별 허용 작업과 변경 이력, 설정 변경 후 서비스 반영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"d0f1ab9389b360af8d77e62f3eeb2326716b450c2d1575dcec42b79fbb02d49b"</a:t>
            </a:r>
          </a:p>
          <a:p xmlns:a="http://schemas.openxmlformats.org/drawingml/2006/main">
            <a:r>
              <a:t>      },</a:t>
            </a:r>
          </a:p>
          <a:p xmlns:a="http://schemas.openxmlformats.org/drawingml/2006/main">
            <a:r>
              <a:t>      {</a:t>
            </a:r>
          </a:p>
          <a:p xmlns:a="http://schemas.openxmlformats.org/drawingml/2006/main">
            <a:r>
              <a:t>        "id": "SFR-011",</a:t>
            </a:r>
          </a:p>
          <a:p xmlns:a="http://schemas.openxmlformats.org/drawingml/2006/main">
            <a:r>
              <a:t>        "title": "의미 기반 검색과 분석",</a:t>
            </a:r>
          </a:p>
          <a:p xmlns:a="http://schemas.openxmlformats.org/drawingml/2006/main">
            <a:r>
              <a:t>        "locator": "SFR-011",</a:t>
            </a:r>
          </a:p>
          <a:p xmlns:a="http://schemas.openxmlformats.org/drawingml/2006/main">
            <a:r>
              <a:t>        "summary": "단순 키워드 일치를 넘어 민원 의미를 이용한 검색·분석 지원.",</a:t>
            </a:r>
          </a:p>
          <a:p xmlns:a="http://schemas.openxmlformats.org/drawingml/2006/main">
            <a:r>
              <a:t>        "data": "검색 질의·민원 색인 → 의미상 관련 민원·분석 결과",</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"C11"</a:t>
            </a:r>
          </a:p>
          <a:p xmlns:a="http://schemas.openxmlformats.org/drawingml/2006/main">
            <a:r>
              <a:t>        ],</a:t>
            </a:r>
          </a:p>
          <a:p xmlns:a="http://schemas.openxmlformats.org/drawingml/2006/main">
            <a:r>
              <a:t>        "acceptance": "다른 표현의 같은 의도와 같은 단어의 다른 의도를 구분한 검색 정답셋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"cb3704532e53b7b70bc4764b544e7f549cec4553215296f437e5601fe00168f1"</a:t>
            </a:r>
          </a:p>
          <a:p xmlns:a="http://schemas.openxmlformats.org/drawingml/2006/main">
            <a:r>
              <a:t>      },</a:t>
            </a:r>
          </a:p>
          <a:p xmlns:a="http://schemas.openxmlformats.org/drawingml/2006/main">
            <a:r>
              <a:t>      {</a:t>
            </a:r>
          </a:p>
          <a:p xmlns:a="http://schemas.openxmlformats.org/drawingml/2006/main">
            <a:r>
              <a:t>        "id": "SFR-015",</a:t>
            </a:r>
          </a:p>
          <a:p xmlns:a="http://schemas.openxmlformats.org/drawingml/2006/main">
            <a:r>
              <a:t>        "title": "실시간 데이터 수집 및 검증",</a:t>
            </a:r>
          </a:p>
          <a:p xmlns:a="http://schemas.openxmlformats.org/drawingml/2006/main">
            <a:r>
              <a:t>        "locator": "SFR-015",</a:t>
            </a:r>
          </a:p>
          <a:p xmlns:a="http://schemas.openxmlformats.org/drawingml/2006/main">
            <a:r>
              <a:t>        "summary": "OGG 기반 원천 변경 수집과 데이터 검증을 통한 실시간 연계. 수집 이후 정합성 확인이 필요한 데이터 흐름.",</a:t>
            </a:r>
          </a:p>
          <a:p xmlns:a="http://schemas.openxmlformats.org/drawingml/2006/main">
            <a:r>
              <a:t>        "data": "원천 DB 변경분 → 검증된 연계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"삽입·수정·삭제·중단 후 재개 시 건수·키·시점 대사와 중복 적재 여부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"bcca0bc62529ccf5ac36e787dc506c0b54f8f16e1b96c873fa31cca5157a057c"</a:t>
            </a:r>
          </a:p>
          <a:p xmlns:a="http://schemas.openxmlformats.org/drawingml/2006/main">
            <a:r>
              <a:t>      },</a:t>
            </a:r>
          </a:p>
          <a:p xmlns:a="http://schemas.openxmlformats.org/drawingml/2006/main">
            <a:r>
              <a:t>      {</a:t>
            </a:r>
          </a:p>
          <a:p xmlns:a="http://schemas.openxmlformats.org/drawingml/2006/main">
            <a:r>
              <a:t>        "id": "SFR-018",</a:t>
            </a:r>
          </a:p>
          <a:p xmlns:a="http://schemas.openxmlformats.org/drawingml/2006/main">
            <a:r>
              <a:t>        "title": "AI 기반 민원 자동 처리",</a:t>
            </a:r>
          </a:p>
          <a:p xmlns:a="http://schemas.openxmlformats.org/drawingml/2006/main">
            <a:r>
              <a:t>        "locator": "SFR-018",</a:t>
            </a:r>
          </a:p>
          <a:p xmlns:a="http://schemas.openxmlformats.org/drawingml/2006/main">
            <a:r>
              <a:t>        "summary": "AI 기반 민원 처리 지원에 담당자 검토·채택 결과를 연결하고 운영 개선에 활용하는 흐름.",</a:t>
            </a:r>
          </a:p>
          <a:p xmlns:a="http://schemas.openxmlformats.org/drawingml/2006/main">
            <a:r>
              <a:t>        "data": "처리 후보·담당자 검토 → 채택·수정 결과·피드백",</a:t>
            </a:r>
          </a:p>
          <a:p xmlns:a="http://schemas.openxmlformats.org/drawingml/2006/main">
            <a:r>
              <a:t>        "components": [</a:t>
            </a:r>
          </a:p>
          <a:p xmlns:a="http://schemas.openxmlformats.org/drawingml/2006/main">
            <a:r>
              <a:t>          "C04",</a:t>
            </a:r>
          </a:p>
          <a:p xmlns:a="http://schemas.openxmlformats.org/drawingml/2006/main">
            <a:r>
              <a:t>          "C06",</a:t>
            </a:r>
          </a:p>
          <a:p xmlns:a="http://schemas.openxmlformats.org/drawingml/2006/main">
            <a:r>
              <a:t>          "C08"</a:t>
            </a:r>
          </a:p>
          <a:p xmlns:a="http://schemas.openxmlformats.org/drawingml/2006/main">
            <a:r>
              <a:t>        ],</a:t>
            </a:r>
          </a:p>
          <a:p xmlns:a="http://schemas.openxmlformats.org/drawingml/2006/main">
            <a:r>
              <a:t>        "acceptance": "추천과 확정 상태를 구분하고 수정·반려가 다음 처리 기록에 누락 없이 남는지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"35bf9ae1174266075e30936c9e150e97a0d68cd55f83071656309743e2875dca"</a:t>
            </a:r>
          </a:p>
          <a:p xmlns:a="http://schemas.openxmlformats.org/drawingml/2006/main">
            <a:r>
              <a:t>      },</a:t>
            </a:r>
          </a:p>
          <a:p xmlns:a="http://schemas.openxmlformats.org/drawingml/2006/main">
            <a:r>
              <a:t>      {</a:t>
            </a:r>
          </a:p>
          <a:p xmlns:a="http://schemas.openxmlformats.org/drawingml/2006/main">
            <a:r>
              <a:t>        "id": "SFR-019",</a:t>
            </a:r>
          </a:p>
          <a:p xmlns:a="http://schemas.openxmlformats.org/drawingml/2006/main">
            <a:r>
              <a:t>        "title": "API 통합 관리 및 성능 모니터링",</a:t>
            </a:r>
          </a:p>
          <a:p xmlns:a="http://schemas.openxmlformats.org/drawingml/2006/main">
            <a:r>
              <a:t>        "locator": "SFR-019",</a:t>
            </a:r>
          </a:p>
          <a:p xmlns:a="http://schemas.openxmlformats.org/drawingml/2006/main">
            <a:r>
              <a:t>        "summary": "API 통합 관리와 성능 모니터링을 통한 업무 모듈·기간계 연결 관리.",</a:t>
            </a:r>
          </a:p>
          <a:p xmlns:a="http://schemas.openxmlformats.org/drawingml/2006/main">
            <a:r>
              <a:t>        "data": "API 요청·응답·호출 이력 → 상태·성능·오류 기록",</a:t>
            </a:r>
          </a:p>
          <a:p xmlns:a="http://schemas.openxmlformats.org/drawingml/2006/main">
            <a:r>
              <a:t>        "components": [</a:t>
            </a:r>
          </a:p>
          <a:p xmlns:a="http://schemas.openxmlformats.org/drawingml/2006/main">
            <a:r>
              <a:t>          "C02",</a:t>
            </a:r>
          </a:p>
          <a:p xmlns:a="http://schemas.openxmlformats.org/drawingml/2006/main">
            <a:r>
              <a:t>          "C07",</a:t>
            </a:r>
          </a:p>
          <a:p xmlns:a="http://schemas.openxmlformats.org/drawingml/2006/main">
            <a:r>
              <a:t>          "C08"</a:t>
            </a:r>
          </a:p>
          <a:p xmlns:a="http://schemas.openxmlformats.org/drawingml/2006/main">
            <a:r>
              <a:t>        ],</a:t>
            </a:r>
          </a:p>
          <a:p xmlns:a="http://schemas.openxmlformats.org/drawingml/2006/main">
            <a:r>
              <a:t>        "acceptance": "호출 실패·시간초과·중복 요청을 주입하고 호출 경로별 원인과 처리 상태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"ff7c0fe41f6cc841f53d73ace372872ebb0dfc391d7d7ca1a21b446c4dfa32b4"</a:t>
            </a:r>
          </a:p>
          <a:p xmlns:a="http://schemas.openxmlformats.org/drawingml/2006/main">
            <a:r>
              <a:t>      },</a:t>
            </a:r>
          </a:p>
          <a:p xmlns:a="http://schemas.openxmlformats.org/drawingml/2006/main">
            <a:r>
              <a:t>      {</a:t>
            </a:r>
          </a:p>
          <a:p xmlns:a="http://schemas.openxmlformats.org/drawingml/2006/main">
            <a:r>
              <a:t>        "id": "SFR-020",</a:t>
            </a:r>
          </a:p>
          <a:p xmlns:a="http://schemas.openxmlformats.org/drawingml/2006/main">
            <a:r>
              <a:t>        "title": "시스템 설정 및 운영 모니터링 통합 관리",</a:t>
            </a:r>
          </a:p>
          <a:p xmlns:a="http://schemas.openxmlformats.org/drawingml/2006/main">
            <a:r>
              <a:t>        "locator": "SFR-020",</a:t>
            </a:r>
          </a:p>
          <a:p xmlns:a="http://schemas.openxmlformats.org/drawingml/2006/main">
            <a:r>
              <a:t>        "summary": "시스템 설정과 운영 모니터링의 통합 관리. 업무 기능과 운영 정책의 일관된 상태 확인.",</a:t>
            </a:r>
          </a:p>
          <a:p xmlns:a="http://schemas.openxmlformats.org/drawingml/2006/main">
            <a:r>
              <a:t>        "data": "시스템 설정·운영 지표 → 관리 화면·이상 상태",</a:t>
            </a:r>
          </a:p>
          <a:p xmlns:a="http://schemas.openxmlformats.org/drawingml/2006/main">
            <a:r>
              <a:t>        "components": [</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"설정 변경 권한, 변경 전후 상태, 장애 탐지·복구 기록의 연결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"700952e7f3297506bdddffe81782d75953ec64aa85c0f75fd9ce24f75b54747a"</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"국민신문고 접점",</a:t>
            </a:r>
          </a:p>
          <a:p xmlns:a="http://schemas.openxmlformats.org/drawingml/2006/main">
            <a:r>
              <a:t>          "layer": "이용 접점",</a:t>
            </a:r>
          </a:p>
          <a:p xmlns:a="http://schemas.openxmlformats.org/drawingml/2006/main">
            <a:r>
              <a:t>          "detail": "민원 처리자·정책 분석자",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"요지·기관·유형",</a:t>
            </a:r>
          </a:p>
          <a:p xmlns:a="http://schemas.openxmlformats.org/drawingml/2006/main">
            <a:r>
              <a:t>          "layer": "업무 문맥",</a:t>
            </a:r>
          </a:p>
          <a:p xmlns:a="http://schemas.openxmlformats.org/drawingml/2006/main">
            <a:r>
              <a:t>          "detail": "민원요지·유형·처리기관 문맥 구성",</a:t>
            </a:r>
          </a:p>
          <a:p xmlns:a="http://schemas.openxmlformats.org/drawingml/2006/main">
            <a:r>
              <a:t>          "requirements": [</a:t>
            </a:r>
          </a:p>
          <a:p xmlns:a="http://schemas.openxmlformats.org/drawingml/2006/main">
            <a:r>
              <a:t>            "SFR-004",</a:t>
            </a:r>
          </a:p>
          <a:p xmlns:a="http://schemas.openxmlformats.org/drawingml/2006/main">
            <a:r>
              <a:t>            "SFR-019"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"키워드·벡터 검색",</a:t>
            </a:r>
          </a:p>
          <a:p xmlns:a="http://schemas.openxmlformats.org/drawingml/2006/main">
            <a:r>
              <a:t>          "layer": "자료 조회",</a:t>
            </a:r>
          </a:p>
          <a:p xmlns:a="http://schemas.openxmlformats.org/drawingml/2006/main">
            <a:r>
              <a:t>          "detail": "민원 본문",</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"재정렬·답변·군집",</a:t>
            </a:r>
          </a:p>
          <a:p xmlns:a="http://schemas.openxmlformats.org/drawingml/2006/main">
            <a:r>
              <a:t>          "layer": "핵심 처리",</a:t>
            </a:r>
          </a:p>
          <a:p xmlns:a="http://schemas.openxmlformats.org/drawingml/2006/main">
            <a:r>
              <a:t>          "detail": "RAG 답변 추천과 의미 유사도 군집",</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"SFR-018"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"동일 사건 대조",</a:t>
            </a:r>
          </a:p>
          <a:p xmlns:a="http://schemas.openxmlformats.org/drawingml/2006/main">
            <a:r>
              <a:t>          "layer": "결과 검증",</a:t>
            </a:r>
          </a:p>
          <a:p xmlns:a="http://schemas.openxmlformats.org/drawingml/2006/main">
            <a:r>
              <a:t>          "detail": "동일 사건 여부·개인정보 범위 검토",</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"담당자 수정",</a:t>
            </a:r>
          </a:p>
          <a:p xmlns:a="http://schemas.openxmlformats.org/drawingml/2006/main">
            <a:r>
              <a:t>          "layer": "사람 확인",</a:t>
            </a:r>
          </a:p>
          <a:p xmlns:a="http://schemas.openxmlformats.org/drawingml/2006/main">
            <a:r>
              <a:t>          "detail": "같은 사안의 반복 민원을 묶고 기관별 답변 초안 제시",</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"SFR-010",</a:t>
            </a:r>
          </a:p>
          <a:p xmlns:a="http://schemas.openxmlformats.org/drawingml/2006/main">
            <a:r>
              <a:t>            "SFR-018"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"민원 처리·분석",</a:t>
            </a:r>
          </a:p>
          <a:p xmlns:a="http://schemas.openxmlformats.org/drawingml/2006/main">
            <a:r>
              <a:t>          "layer": "업무 연결",</a:t>
            </a:r>
          </a:p>
          <a:p xmlns:a="http://schemas.openxmlformats.org/drawingml/2006/main">
            <a:r>
              <a:t>          "detail": "담당자의 군집·초안 수정 후 민원 처리",</a:t>
            </a:r>
          </a:p>
          <a:p xmlns:a="http://schemas.openxmlformats.org/drawingml/2006/main">
            <a:r>
              <a:t>          "requirements": [</a:t>
            </a:r>
          </a:p>
          <a:p xmlns:a="http://schemas.openxmlformats.org/drawingml/2006/main">
            <a:r>
              <a:t>            "SFR-019"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"오답·병합 오류",</a:t>
            </a:r>
          </a:p>
          <a:p xmlns:a="http://schemas.openxmlformats.org/drawingml/2006/main">
            <a:r>
              <a:t>          "layer": "운영 관측",</a:t>
            </a:r>
          </a:p>
          <a:p xmlns:a="http://schemas.openxmlformats.org/drawingml/2006/main">
            <a:r>
              <a:t>          "detail": "기관별 답변 적합성과 병합 오류 분석",</a:t>
            </a:r>
          </a:p>
          <a:p xmlns:a="http://schemas.openxmlformats.org/drawingml/2006/main">
            <a:r>
              <a:t>          "requirements": [</a:t>
            </a:r>
          </a:p>
          <a:p xmlns:a="http://schemas.openxmlformats.org/drawingml/2006/main">
            <a:r>
              <a:t>            "SFR-010",</a:t>
            </a:r>
          </a:p>
          <a:p xmlns:a="http://schemas.openxmlformats.org/drawingml/2006/main">
            <a:r>
              <a:t>            "SFR-018",</a:t>
            </a:r>
          </a:p>
          <a:p xmlns:a="http://schemas.openxmlformats.org/drawingml/2006/main">
            <a:r>
              <a:t>            "SFR-019",</a:t>
            </a:r>
          </a:p>
          <a:p xmlns:a="http://schemas.openxmlformats.org/drawingml/2006/main">
            <a:r>
              <a:t>            "SFR-020"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"민원·답변·지침",</a:t>
            </a:r>
          </a:p>
          <a:p xmlns:a="http://schemas.openxmlformats.org/drawingml/2006/main">
            <a:r>
              <a:t>          "layer": "데이터 원천",</a:t>
            </a:r>
          </a:p>
          <a:p xmlns:a="http://schemas.openxmlformats.org/drawingml/2006/main">
            <a:r>
              <a:t>          "detail": "민원·답변 자료",</a:t>
            </a:r>
          </a:p>
          <a:p xmlns:a="http://schemas.openxmlformats.org/drawingml/2006/main">
            <a:r>
              <a:t>          "requirements": [</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"OCR·메타정보 추출",</a:t>
            </a:r>
          </a:p>
          <a:p xmlns:a="http://schemas.openxmlformats.org/drawingml/2006/main">
            <a:r>
              <a:t>          "layer": "준비·갱신",</a:t>
            </a:r>
          </a:p>
          <a:p xmlns:a="http://schemas.openxmlformats.org/drawingml/2006/main">
            <a:r>
              <a:t>          "detail": "국민신문고·민원정보분석 자료의 연계·정제",</a:t>
            </a:r>
          </a:p>
          <a:p xmlns:a="http://schemas.openxmlformats.org/drawingml/2006/main">
            <a:r>
              <a:t>          "requirements": [</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"지식 DB·색인",</a:t>
            </a:r>
          </a:p>
          <a:p xmlns:a="http://schemas.openxmlformats.org/drawingml/2006/main">
            <a:r>
              <a:t>          "layer": "상태·지식 저장",</a:t>
            </a:r>
          </a:p>
          <a:p xmlns:a="http://schemas.openxmlformats.org/drawingml/2006/main">
            <a:r>
              <a:t>          "detail": "군집 정답표·잘못된 병합 건·담당자 수정 이력",</a:t>
            </a:r>
          </a:p>
          <a:p xmlns:a="http://schemas.openxmlformats.org/drawingml/2006/main">
            <a:r>
              <a:t>          "requirements": [</a:t>
            </a:r>
          </a:p>
          <a:p xmlns:a="http://schemas.openxmlformats.org/drawingml/2006/main">
            <a:r>
              <a:t>            "SFR-011",</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"모델·프롬프트 관리",</a:t>
            </a:r>
          </a:p>
          <a:p xmlns:a="http://schemas.openxmlformats.org/drawingml/2006/main">
            <a:r>
              <a:t>          "layer": "권한·정책",</a:t>
            </a:r>
          </a:p>
          <a:p xmlns:a="http://schemas.openxmlformats.org/drawingml/2006/main">
            <a:r>
              <a:t>          "detail": "표현이 같은 다른 사건·소관기관 차이·반대 취지",</a:t>
            </a:r>
          </a:p>
          <a:p xmlns:a="http://schemas.openxmlformats.org/drawingml/2006/main">
            <a:r>
              <a:t>          "requirements": [</a:t>
            </a:r>
          </a:p>
          <a:p xmlns:a="http://schemas.openxmlformats.org/drawingml/2006/main">
            <a:r>
              <a:t>            "SFR-010",</a:t>
            </a:r>
          </a:p>
          <a:p xmlns:a="http://schemas.openxmlformats.org/drawingml/2006/main">
            <a:r>
              <a:t>            "SFR-020"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"민원요지·유형·처리기관 문맥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"민원 본문",</a:t>
            </a:r>
          </a:p>
          <a:p xmlns:a="http://schemas.openxmlformats.org/drawingml/2006/main">
            <a:r>
              <a:t>          "check": "동일 사건 여부·개인정보 범위 검토"</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"유사 사건",</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"답변 초안·유사군 후보·근거 문서",</a:t>
            </a:r>
          </a:p>
          <a:p xmlns:a="http://schemas.openxmlformats.org/drawingml/2006/main">
            <a:r>
              <a:t>          "check": "표현이 같은 다른 사건·소관기관 차이·반대 취지"</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"추천 답변",</a:t>
            </a:r>
          </a:p>
          <a:p xmlns:a="http://schemas.openxmlformats.org/drawingml/2006/main">
            <a:r>
              <a:t>          "check": "담당자의 군집·초안 수정 후 민원 처리"</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"수정·회신",</a:t>
            </a:r>
          </a:p>
          <a:p xmlns:a="http://schemas.openxmlformats.org/drawingml/2006/main">
            <a:r>
              <a:t>          "check": "군집 정답표·잘못된 병합 건·담당자 수정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"목표시스템 개념도·RAG 구성 예시",</a:t>
            </a:r>
          </a:p>
          <a:p xmlns:a="http://schemas.openxmlformats.org/drawingml/2006/main">
            <a:r>
              <a:t>        "extracted": "API Gateway, OCR·메타정보 추출, 키워드/벡터 검색과 재정렬",</a:t>
            </a:r>
          </a:p>
          <a:p xmlns:a="http://schemas.openxmlformats.org/drawingml/2006/main">
            <a:r>
              <a:t>        "extension": "민원 중복 후보와 공식 병합·회신의 승인 경계"</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"PF-R02",</a:t>
            </a:r>
          </a:p>
          <a:p xmlns:a="http://schemas.openxmlformats.org/drawingml/2006/main">
            <a:r>
              <a:t>          "path": "assets/casebook-sources/PF-R02-01.png",</a:t>
            </a:r>
          </a:p>
          <a:p xmlns:a="http://schemas.openxmlformats.org/drawingml/2006/main">
            <a:r>
              <a:t>          "title": "국민소통 플랫폼 목표시스템",</a:t>
            </a:r>
          </a:p>
          <a:p xmlns:a="http://schemas.openxmlformats.org/drawingml/2006/main">
            <a:r>
              <a:t>          "status": "RFP 목표시스템 개념도",</a:t>
            </a:r>
          </a:p>
          <a:p xmlns:a="http://schemas.openxmlformats.org/drawingml/2006/main">
            <a:r>
              <a:t>          "caption": "접점·API Gateway·업무 모듈·데이터 처리·운영 관리",</a:t>
            </a:r>
          </a:p>
          <a:p xmlns:a="http://schemas.openxmlformats.org/drawingml/2006/main">
            <a:r>
              <a:t>          "locator": "NIA_RFP_RFP / BinData/image33_bmp",</a:t>
            </a:r>
          </a:p>
          <a:p xmlns:a="http://schemas.openxmlformats.org/drawingml/2006/main">
            <a:r>
              <a:t>          "checked": "2026-10-16",</a:t>
            </a:r>
          </a:p>
          <a:p xmlns:a="http://schemas.openxmlformats.org/drawingml/2006/main">
            <a:r>
              <a:t>          "sha256": "91feb890184edf04ccccd8d86995147aa6c2181b0a66c58436263cafccdae911",</a:t>
            </a:r>
          </a:p>
          <a:p xmlns:a="http://schemas.openxmlformats.org/drawingml/2006/main">
            <a:r>
              <a:t>          "explanation": {</a:t>
            </a:r>
          </a:p>
          <a:p xmlns:a="http://schemas.openxmlformats.org/drawingml/2006/main">
            <a:r>
              <a:t>            "read": "접점에서 받은 요청을 API Gateway를 통해 민원 답변·분석·중복 식별 모듈로 전달하는 목표 구성. 데이터 처리 계층은 공통 근거를 공급하고 운영 관리 계층은 서비스·모델 상태를 관찰하는 역할.",</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"SFR-019",</a:t>
            </a:r>
          </a:p>
          <a:p xmlns:a="http://schemas.openxmlformats.org/drawingml/2006/main">
            <a:r>
              <a:t>              "SFR-020"</a:t>
            </a:r>
          </a:p>
          <a:p xmlns:a="http://schemas.openxmlformats.org/drawingml/2006/main">
            <a:r>
              <a:t>            ],</a:t>
            </a:r>
          </a:p>
          <a:p xmlns:a="http://schemas.openxmlformats.org/drawingml/2006/main">
            <a:r>
              <a:t>            "connection": "담당자 답변 초안, 유사민원 후보, 정책 분석 결과를 서로 다른 출력 계약으로 정의하고 기존 민원시스템의 확정·회신 절차에 연결하는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"assets/casebook-sources/PF-R02-02.png",</a:t>
            </a:r>
          </a:p>
          <a:p xmlns:a="http://schemas.openxmlformats.org/drawingml/2006/main">
            <a:r>
              <a:t>          "title": "키워드·벡터 검색과 Reranker",</a:t>
            </a:r>
          </a:p>
          <a:p xmlns:a="http://schemas.openxmlformats.org/drawingml/2006/main">
            <a:r>
              <a:t>          "status": "RFP RAG 구성 예시",</a:t>
            </a:r>
          </a:p>
          <a:p xmlns:a="http://schemas.openxmlformats.org/drawingml/2006/main">
            <a:r>
              <a:t>          "caption": "키워드/벡터 검색 병렬 처리 → 재정렬 → 근거 응답",</a:t>
            </a:r>
          </a:p>
          <a:p xmlns:a="http://schemas.openxmlformats.org/drawingml/2006/main">
            <a:r>
              <a:t>          "locator": "NIA_RFP_RFP / BinData/image18_bmp",</a:t>
            </a:r>
          </a:p>
          <a:p xmlns:a="http://schemas.openxmlformats.org/drawingml/2006/main">
            <a:r>
              <a:t>          "checked": "2026-10-16",</a:t>
            </a:r>
          </a:p>
          <a:p xmlns:a="http://schemas.openxmlformats.org/drawingml/2006/main">
            <a:r>
              <a:t>          "sha256": "a6ab4248256ee300422789627dbe5b8f09ec60657419e13d082c95b32f3f4f90",</a:t>
            </a:r>
          </a:p>
          <a:p xmlns:a="http://schemas.openxmlformats.org/drawingml/2006/main">
            <a:r>
              <a:t>          "explanation": {</a:t>
            </a:r>
          </a:p>
          <a:p xmlns:a="http://schemas.openxmlformats.org/drawingml/2006/main">
            <a:r>
              <a:t>            "read": "키워드 검색은 정확한 용어·조항의 일치 후보, 벡터 검색은 표현이 다른 유사 의미 후보를 제공. Reranker는 통합 후보를 질의 관련성에 따라 다시 정렬하고 생성 모델에 근거를 전달하는 역할.",</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a:t>
            </a:r>
          </a:p>
          <a:p xmlns:a="http://schemas.openxmlformats.org/drawingml/2006/main">
            <a:r>
              <a:t>            "connection": "재정렬 점수를 법적 정답이나 민원 병합 승인으로 해석하지 않고 기관·사건·시점과 출처 일치를 별도로 확인하는 검증 단계의 추가."</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"assets/casebook-sources/PF-R02-03.png",</a:t>
            </a:r>
          </a:p>
          <a:p xmlns:a="http://schemas.openxmlformats.org/drawingml/2006/main">
            <a:r>
              <a:t>          "title": "민원 AI 입출력 데이터",</a:t>
            </a:r>
          </a:p>
          <a:p xmlns:a="http://schemas.openxmlformats.org/drawingml/2006/main">
            <a:r>
              <a:t>          "status": "RFP 데이터 흐름도",</a:t>
            </a:r>
          </a:p>
          <a:p xmlns:a="http://schemas.openxmlformats.org/drawingml/2006/main">
            <a:r>
              <a:t>          "caption": "국민신문고·시범기관 매뉴얼 → 전처리·RAG → 답변·유사도",</a:t>
            </a:r>
          </a:p>
          <a:p xmlns:a="http://schemas.openxmlformats.org/drawingml/2006/main">
            <a:r>
              <a:t>          "locator": "NIA_RFP_RFP / BinData/image34_bmp",</a:t>
            </a:r>
          </a:p>
          <a:p xmlns:a="http://schemas.openxmlformats.org/drawingml/2006/main">
            <a:r>
              <a:t>          "checked": "2026-10-16",</a:t>
            </a:r>
          </a:p>
          <a:p xmlns:a="http://schemas.openxmlformats.org/drawingml/2006/main">
            <a:r>
              <a:t>          "sha256": "0e09409295bbb0aae0a61666cf01982d012392b3f4bccd2e98499654b4b690d0",</a:t>
            </a:r>
          </a:p>
          <a:p xmlns:a="http://schemas.openxmlformats.org/drawingml/2006/main">
            <a:r>
              <a:t>          "explanation": {</a:t>
            </a:r>
          </a:p>
          <a:p xmlns:a="http://schemas.openxmlformats.org/drawingml/2006/main">
            <a:r>
              <a:t>            "read": "국민신문고 데이터와 시범기관 매뉴얼 등 입력을 전처리·RAG 경로에 투입하고 업무별 답변·유사도 결과로 변환하는 입출력 구조. 동일 원천을 이용하더라도 답변과 군집의 산출물은 별도 관리 대상.",</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"SFR-015",</a:t>
            </a:r>
          </a:p>
          <a:p xmlns:a="http://schemas.openxmlformats.org/drawingml/2006/main">
            <a:r>
              <a:t>              "SFR-018"</a:t>
            </a:r>
          </a:p>
          <a:p xmlns:a="http://schemas.openxmlformats.org/drawingml/2006/main">
            <a:r>
              <a:t>            ],</a:t>
            </a:r>
          </a:p>
          <a:p xmlns:a="http://schemas.openxmlformats.org/drawingml/2006/main">
            <a:r>
              <a:t>            "connection": "원천 민원 ID·문서 판본·근거 위치를 결과에 유지해 담당자 수정과 최종 회신의 차이를 재현할 수 있도록 하는 데이터 계약."</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"assets/casebook-sources/PF-R02-04.png",</a:t>
            </a:r>
          </a:p>
          <a:p xmlns:a="http://schemas.openxmlformats.org/drawingml/2006/main">
            <a:r>
              <a:t>          "title": "데이터 구축·학습·운영 흐름",</a:t>
            </a:r>
          </a:p>
          <a:p xmlns:a="http://schemas.openxmlformats.org/drawingml/2006/main">
            <a:r>
              <a:t>          "status": "RFP 데이터 처리 구조",</a:t>
            </a:r>
          </a:p>
          <a:p xmlns:a="http://schemas.openxmlformats.org/drawingml/2006/main">
            <a:r>
              <a:t>          "caption": "수집·정제·가공·학습·운영의 환류",</a:t>
            </a:r>
          </a:p>
          <a:p xmlns:a="http://schemas.openxmlformats.org/drawingml/2006/main">
            <a:r>
              <a:t>          "locator": "NIA_RFP_RFP / BinData/image32_png",</a:t>
            </a:r>
          </a:p>
          <a:p xmlns:a="http://schemas.openxmlformats.org/drawingml/2006/main">
            <a:r>
              <a:t>          "checked": "2026-10-16",</a:t>
            </a:r>
          </a:p>
          <a:p xmlns:a="http://schemas.openxmlformats.org/drawingml/2006/main">
            <a:r>
              <a:t>          "sha256": "b6c466b110d91bceff5a9f806d658aa54f010e0a5b8a358a16771181bea77c50",</a:t>
            </a:r>
          </a:p>
          <a:p xmlns:a="http://schemas.openxmlformats.org/drawingml/2006/main">
            <a:r>
              <a:t>          "explanation": {</a:t>
            </a:r>
          </a:p>
          <a:p xmlns:a="http://schemas.openxmlformats.org/drawingml/2006/main">
            <a:r>
              <a:t>            "read": "수집·정제·가공·학습·운영이 연결된 데이터 생애주기. 온라인 요청 처리와 모델·지식 갱신의 작업이 서로 다른 주기로 수행되는 구성.",</a:t>
            </a:r>
          </a:p>
          <a:p xmlns:a="http://schemas.openxmlformats.org/drawingml/2006/main">
            <a:r>
              <a:t>            "requirements": [</a:t>
            </a:r>
          </a:p>
          <a:p xmlns:a="http://schemas.openxmlformats.org/drawingml/2006/main">
            <a:r>
              <a:t>              "SFR-015",</a:t>
            </a:r>
          </a:p>
          <a:p xmlns:a="http://schemas.openxmlformats.org/drawingml/2006/main">
            <a:r>
              <a:t>              "SFR-018",</a:t>
            </a:r>
          </a:p>
          <a:p xmlns:a="http://schemas.openxmlformats.org/drawingml/2006/main">
            <a:r>
              <a:t>              "SFR-020"</a:t>
            </a:r>
          </a:p>
          <a:p xmlns:a="http://schemas.openxmlformats.org/drawingml/2006/main">
            <a:r>
              <a:t>            ],</a:t>
            </a:r>
          </a:p>
          <a:p xmlns:a="http://schemas.openxmlformats.org/drawingml/2006/main">
            <a:r>
              <a:t>            "connection": "원천 변경 시 수집 완료·정제 완료·색인 반영 상태를 분리하고 실패 자료만 재처리하는 운영 설계. 검토 피드백의 자동 학습 투입 전 품질 확인 단계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"표현이 같은 다른 사건·소관기관 차이·반대 취지",</a:t>
            </a:r>
          </a:p>
          <a:p xmlns:a="http://schemas.openxmlformats.org/drawingml/2006/main">
            <a:r>
              <a:t>        "hold": "동일 사건 여부·개인정보 범위 검토",</a:t>
            </a:r>
          </a:p>
          <a:p xmlns:a="http://schemas.openxmlformats.org/drawingml/2006/main">
            <a:r>
              <a:t>        "recovery": "기관별 답변 적합성과 병합 오류 분석",</a:t>
            </a:r>
          </a:p>
          <a:p xmlns:a="http://schemas.openxmlformats.org/drawingml/2006/main">
            <a:r>
              <a:t>        "evidence": "군집 정답표·잘못된 병합 건·담당자 수정 이력"</a:t>
            </a:r>
          </a:p>
          <a:p xmlns:a="http://schemas.openxmlformats.org/drawingml/2006/main">
            <a:r>
              <a:t>      },</a:t>
            </a:r>
          </a:p>
          <a:p xmlns:a="http://schemas.openxmlformats.org/drawingml/2006/main">
            <a:r>
              <a:t>      "data": {</a:t>
            </a:r>
          </a:p>
          <a:p xmlns:a="http://schemas.openxmlformats.org/drawingml/2006/main">
            <a:r>
              <a:t>        "source": "민원·답변 자료",</a:t>
            </a:r>
          </a:p>
          <a:p xmlns:a="http://schemas.openxmlformats.org/drawingml/2006/main">
            <a:r>
              <a:t>        "prepare": "국민신문고·민원정보분석 자료의 연계·정제",</a:t>
            </a:r>
          </a:p>
          <a:p xmlns:a="http://schemas.openxmlformats.org/drawingml/2006/main">
            <a:r>
              <a:t>        "output": "민원 본문",</a:t>
            </a:r>
          </a:p>
          <a:p xmlns:a="http://schemas.openxmlformats.org/drawingml/2006/main">
            <a:r>
              <a:t>        "refresh": "기관별 답변 적합성과 병합 오류 분석"</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"PF-R02",</a:t>
            </a:r>
          </a:p>
          <a:p xmlns:a="http://schemas.openxmlformats.org/drawingml/2006/main">
            <a:r>
              <a:t>    "success": [</a:t>
            </a:r>
          </a:p>
          <a:p xmlns:a="http://schemas.openxmlformats.org/drawingml/2006/main">
            <a:r>
              <a:t>      "유사민원과 답변 추천 결합",</a:t>
            </a:r>
          </a:p>
          <a:p xmlns:a="http://schemas.openxmlformats.org/drawingml/2006/main">
            <a:r>
              <a:t>      "현업 수정을 반영한 활용"</a:t>
            </a:r>
          </a:p>
          <a:p xmlns:a="http://schemas.openxmlformats.org/drawingml/2006/main">
            <a:r>
              <a:t>    ],</a:t>
            </a:r>
          </a:p>
          <a:p xmlns:a="http://schemas.openxmlformats.org/drawingml/2006/main">
            <a:r>
              <a:t>    "risks": [</a:t>
            </a:r>
          </a:p>
          <a:p xmlns:a="http://schemas.openxmlformats.org/drawingml/2006/main">
            <a:r>
              <a:t>      "다른 사건의 무리한 병합",</a:t>
            </a:r>
          </a:p>
          <a:p xmlns:a="http://schemas.openxmlformats.org/drawingml/2006/main">
            <a:r>
              <a:t>      "답변 추천을 공식 회신으로 오인"</a:t>
            </a:r>
          </a:p>
          <a:p xmlns:a="http://schemas.openxmlformats.org/drawingml/2006/main">
            <a:r>
              <a:t>    ],</a:t>
            </a:r>
          </a:p>
          <a:p xmlns:a="http://schemas.openxmlformats.org/drawingml/2006/main">
            <a:r>
              <a:t>    "architecture": [</a:t>
            </a:r>
          </a:p>
          <a:p xmlns:a="http://schemas.openxmlformats.org/drawingml/2006/main">
            <a:r>
              <a:t>      "국민신문고",</a:t>
            </a:r>
          </a:p>
          <a:p xmlns:a="http://schemas.openxmlformats.org/drawingml/2006/main">
            <a:r>
              <a:t>      "분류·답변 추천",</a:t>
            </a:r>
          </a:p>
          <a:p xmlns:a="http://schemas.openxmlformats.org/drawingml/2006/main">
            <a:r>
              <a:t>      "민원·답변 자료",</a:t>
            </a:r>
          </a:p>
          <a:p xmlns:a="http://schemas.openxmlformats.org/drawingml/2006/main">
            <a:r>
              <a:t>      "민원 담당"</a:t>
            </a:r>
          </a:p>
          <a:p xmlns:a="http://schemas.openxmlformats.org/drawingml/2006/main">
            <a:r>
              <a:t>    ],</a:t>
            </a:r>
          </a:p>
          <a:p xmlns:a="http://schemas.openxmlformats.org/drawingml/2006/main">
            <a:r>
              <a:t>    "transfers": [</a:t>
            </a:r>
          </a:p>
          <a:p xmlns:a="http://schemas.openxmlformats.org/drawingml/2006/main">
            <a:r>
              <a:t>      "민원 본문",</a:t>
            </a:r>
          </a:p>
          <a:p xmlns:a="http://schemas.openxmlformats.org/drawingml/2006/main">
            <a:r>
              <a:t>      "유사 사건",</a:t>
            </a:r>
          </a:p>
          <a:p xmlns:a="http://schemas.openxmlformats.org/drawingml/2006/main">
            <a:r>
              <a:t>      "추천 답변",</a:t>
            </a:r>
          </a:p>
          <a:p xmlns:a="http://schemas.openxmlformats.org/drawingml/2006/main">
            <a:r>
              <a:t>      "수정·회신"</a:t>
            </a:r>
          </a:p>
          <a:p xmlns:a="http://schemas.openxmlformats.org/drawingml/2006/main">
            <a:r>
              <a:t>    ],</a:t>
            </a:r>
          </a:p>
          <a:p xmlns:a="http://schemas.openxmlformats.org/drawingml/2006/main">
            <a:r>
              <a:t>    "control": "동일 사건 여부·개인정보 범위 검토",</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추진계획·성과지표, 기능 요구사항 / Word T035 https://www.nia.or.kr/common/board/Download.do?bcIdx=28233&amp;cbIdx=78336&amp;fileNo=2</a:t>
            </a:r>
          </a:p>
          <a:p xmlns:a="http://schemas.openxmlformats.org/drawingml/2006/main">
            <a:r>
              <a:t>홈페이지 https://heen1987-ops.github.io/TS-business-Plan-001/index.html?view=platform-cases&amp;case=PF-R02</a:t>
            </a:r>
          </a:p>
          <a:p xmlns:a="http://schemas.openxmlformats.org/drawingml/2006/main">
            <a:r>
              <a:t>원문 도면 {"caseId":"PF-R02","path":"assets/casebook-sources/PF-R02-01.png","title":"국민소통 플랫폼 목표시스템","status":"RFP 목표시스템 개념도","caption":"접점·API Gateway·업무 모듈·데이터 처리·운영 관리","locator":"NIA_RFP_RFP / BinData/image33_bmp","checked":"2026-10-16","sha256":"91feb890184edf04ccccd8d86995147aa6c2181b0a66c58436263cafccdae911","explanation":{"read":"접점에서 받은 요청을 API Gateway를 통해 민원 답변·분석·중복 식별 모듈로 전달하는 목표 구성. 데이터 처리 계층은 공통 근거를 공급하고 운영 관리 계층은 서비스·모델 상태를 관찰하는 역할.","requirements":["SFR-005","SFR-006","SFR-019","SFR-020"],"connection":"담당자 답변 초안, 유사민원 후보, 정책 분석 결과를 서로 다른 출력 계약으로 정의하고 기존 민원시스템의 확정·회신 절차에 연결하는 설계."}}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"PF-R02",</a:t>
            </a:r>
          </a:p>
          <a:p xmlns:a="http://schemas.openxmlformats.org/drawingml/2006/main">
            <a:r>
              <a:t>    "sourceId": "R02",</a:t>
            </a:r>
          </a:p>
          <a:p xmlns:a="http://schemas.openxmlformats.org/drawingml/2006/main">
            <a:r>
              <a:t>    "title": "국민권익위 민원 AI",</a:t>
            </a:r>
          </a:p>
          <a:p xmlns:a="http://schemas.openxmlformats.org/drawingml/2006/main">
            <a:r>
              <a:t>    "region": "국내",</a:t>
            </a:r>
          </a:p>
          <a:p xmlns:a="http://schemas.openxmlformats.org/drawingml/2006/main">
            <a:r>
              <a:t>    "owner": "국민권익위원회·NIA",</a:t>
            </a:r>
          </a:p>
          <a:p xmlns:a="http://schemas.openxmlformats.org/drawingml/2006/main">
            <a:r>
              <a:t>    "state": "공식 서비스 개시 확인(2026-02-05)",</a:t>
            </a:r>
          </a:p>
          <a:p xmlns:a="http://schemas.openxmlformats.org/drawingml/2006/main">
            <a:r>
              <a:t>    "period": "기존 원장 확인 2026.10.16",</a:t>
            </a:r>
          </a:p>
          <a:p xmlns:a="http://schemas.openxmlformats.org/drawingml/2006/main">
            <a:r>
              <a:t>    "fact": "민원답변 추천·빈발중복민원 병합·의미 기반 민원 분석",</a:t>
            </a:r>
          </a:p>
          <a:p xmlns:a="http://schemas.openxmlformats.org/drawingml/2006/main">
            <a:r>
              <a:t>    "limit": "추천답변 도출시간·배정 처리시간·최종 답변 처리시간의 정의와 분모를 구분해야 함",</a:t>
            </a:r>
          </a:p>
          <a:p xmlns:a="http://schemas.openxmlformats.org/drawingml/2006/main">
            <a:r>
              <a:t>    "nodes": [</a:t>
            </a:r>
          </a:p>
          <a:p xmlns:a="http://schemas.openxmlformats.org/drawingml/2006/main">
            <a:r>
              <a:t>      "국민신문고",</a:t>
            </a:r>
          </a:p>
          <a:p xmlns:a="http://schemas.openxmlformats.org/drawingml/2006/main">
            <a:r>
              <a:t>      "분류·유사민원",</a:t>
            </a:r>
          </a:p>
          <a:p xmlns:a="http://schemas.openxmlformats.org/drawingml/2006/main">
            <a:r>
              <a:t>      "답변 추천",</a:t>
            </a:r>
          </a:p>
          <a:p xmlns:a="http://schemas.openxmlformats.org/drawingml/2006/main">
            <a:r>
              <a:t>      "현업 수정"</a:t>
            </a:r>
          </a:p>
          <a:p xmlns:a="http://schemas.openxmlformats.org/drawingml/2006/main">
            <a:r>
              <a:t>    ],</a:t>
            </a:r>
          </a:p>
          <a:p xmlns:a="http://schemas.openxmlformats.org/drawingml/2006/main">
            <a:r>
              <a:t>    "apply": "유사 문구와 동일 사건을 구분하는 민원 분류 및 소관부서별 답변 검토",</a:t>
            </a:r>
          </a:p>
          <a:p xmlns:a="http://schemas.openxmlformats.org/drawingml/2006/main">
            <a:r>
              <a:t>    "delta": "민원 사건·기관·업무 분류 / 유사군 검토 UI / 현업 수정 이력",</a:t>
            </a:r>
          </a:p>
          <a:p xmlns:a="http://schemas.openxmlformats.org/drawingml/2006/main">
            <a:r>
              <a:t>    "test": "같은 표현의 다른 사건·반대 취지 민원에 대한 오병합·답변 오류 측정",</a:t>
            </a:r>
          </a:p>
          <a:p xmlns:a="http://schemas.openxmlformats.org/drawingml/2006/main">
            <a:r>
              <a:t>    "url": "https://www.nia.or.kr/common/board/Download.do?bcIdx=28233&amp;cbIdx=78336&amp;fileNo=2",</a:t>
            </a:r>
          </a:p>
          <a:p xmlns:a="http://schemas.openxmlformats.org/drawingml/2006/main">
            <a:r>
              <a:t>    "urls": [</a:t>
            </a:r>
          </a:p>
          <a:p xmlns:a="http://schemas.openxmlformats.org/drawingml/2006/main">
            <a:r>
              <a:t>      "https://www.nia.or.kr/common/board/Download.do?bcIdx=28233&amp;cbIdx=78336&amp;fileNo=2",</a:t>
            </a:r>
          </a:p>
          <a:p xmlns:a="http://schemas.openxmlformats.org/drawingml/2006/main">
            <a:r>
              <a:t>      "https://www.acrc.go.kr/board.es?act=view&amp;bid=ACH&amp;list_no=106584&amp;mid=a10403070000&amp;nPage=1"</a:t>
            </a:r>
          </a:p>
          <a:p xmlns:a="http://schemas.openxmlformats.org/drawingml/2006/main">
            <a:r>
              <a:t>    ],</a:t>
            </a:r>
          </a:p>
          <a:p xmlns:a="http://schemas.openxmlformats.org/drawingml/2006/main">
            <a:r>
              <a:t>    "basis": "추진계획·성과지표, 기능 요구사항 / Word T035",</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"민원 분류 정확도 / 오병합률 / 최종 답변 작성시간",</a:t>
            </a:r>
          </a:p>
          <a:p xmlns:a="http://schemas.openxmlformats.org/drawingml/2006/main">
            <a:r>
              <a:t>    "group": "요구·구축",</a:t>
            </a:r>
          </a:p>
          <a:p xmlns:a="http://schemas.openxmlformats.org/drawingml/2006/main">
            <a:r>
              <a:t>    "sourceDetail": "국민신문고/민원정보분석 연계, RAG·요약·유사도 군집, 현업 수정 및 시범기관 확산",</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"PF-R02",</a:t>
            </a:r>
          </a:p>
          <a:p xmlns:a="http://schemas.openxmlformats.org/drawingml/2006/main">
            <a:r>
              <a:t>    "canonicalId": "PF-R02",</a:t>
            </a:r>
          </a:p>
          <a:p xmlns:a="http://schemas.openxmlformats.org/drawingml/2006/main">
            <a:r>
              <a:t>    "purpose": "민원답변 추천과 빈발·중복민원 분석",</a:t>
            </a:r>
          </a:p>
          <a:p xmlns:a="http://schemas.openxmlformats.org/drawingml/2006/main">
            <a:r>
              <a:t>    "users": "민원 처리자·정책 분석자",</a:t>
            </a:r>
          </a:p>
          <a:p xmlns:a="http://schemas.openxmlformats.org/drawingml/2006/main">
            <a:r>
              <a:t>    "scope": [</a:t>
            </a:r>
          </a:p>
          <a:p xmlns:a="http://schemas.openxmlformats.org/drawingml/2006/main">
            <a:r>
              <a:t>      "답변 초안",</a:t>
            </a:r>
          </a:p>
          <a:p xmlns:a="http://schemas.openxmlformats.org/drawingml/2006/main">
            <a:r>
              <a:t>      "유사민원 병합",</a:t>
            </a:r>
          </a:p>
          <a:p xmlns:a="http://schemas.openxmlformats.org/drawingml/2006/main">
            <a:r>
              <a:t>      "의미 분석"</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"국민신문고",</a:t>
            </a:r>
          </a:p>
          <a:p xmlns:a="http://schemas.openxmlformats.org/drawingml/2006/main">
            <a:r>
              <a:t>        "detail": "민원요지·유형·처리기관 문맥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"답변 초안 / 유사민원 병합 / 의미 분석",</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"분류·답변 추천",</a:t>
            </a:r>
          </a:p>
          <a:p xmlns:a="http://schemas.openxmlformats.org/drawingml/2006/main">
            <a:r>
              <a:t>        "detail": "RAG 답변 추천과 의미 유사도 군집",</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"민원 담당",</a:t>
            </a:r>
          </a:p>
          <a:p xmlns:a="http://schemas.openxmlformats.org/drawingml/2006/main">
            <a:r>
              <a:t>        "detail": "담당자의 군집·초안 수정 후 민원 처리",</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"민원·답변 자료",</a:t>
            </a:r>
          </a:p>
          <a:p xmlns:a="http://schemas.openxmlformats.org/drawingml/2006/main">
            <a:r>
              <a:t>        "detail": "국민신문고·민원정보분석 자료의 연계·정제",</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"기관별 답변 적합성과 병합 오류 분석",</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"국민신문고",</a:t>
            </a:r>
          </a:p>
          <a:p xmlns:a="http://schemas.openxmlformats.org/drawingml/2006/main">
            <a:r>
              <a:t>        "input": "민원요지·유형·처리기관 문맥 구성",</a:t>
            </a:r>
          </a:p>
          <a:p xmlns:a="http://schemas.openxmlformats.org/drawingml/2006/main">
            <a:r>
              <a:t>        "process": "국민신문고·민원정보분석 자료의 연계·정제",</a:t>
            </a:r>
          </a:p>
          <a:p xmlns:a="http://schemas.openxmlformats.org/drawingml/2006/main">
            <a:r>
              <a:t>        "output": "민원 본문"</a:t>
            </a:r>
          </a:p>
          <a:p xmlns:a="http://schemas.openxmlformats.org/drawingml/2006/main">
            <a:r>
              <a:t>      },</a:t>
            </a:r>
          </a:p>
          <a:p xmlns:a="http://schemas.openxmlformats.org/drawingml/2006/main">
            <a:r>
              <a:t>      {</a:t>
            </a:r>
          </a:p>
          <a:p xmlns:a="http://schemas.openxmlformats.org/drawingml/2006/main">
            <a:r>
              <a:t>        "title": "분류·유사민원",</a:t>
            </a:r>
          </a:p>
          <a:p xmlns:a="http://schemas.openxmlformats.org/drawingml/2006/main">
            <a:r>
              <a:t>        "input": "민원 본문",</a:t>
            </a:r>
          </a:p>
          <a:p xmlns:a="http://schemas.openxmlformats.org/drawingml/2006/main">
            <a:r>
              <a:t>        "process": "RAG 답변 추천과 의미 유사도 군집",</a:t>
            </a:r>
          </a:p>
          <a:p xmlns:a="http://schemas.openxmlformats.org/drawingml/2006/main">
            <a:r>
              <a:t>        "output": "유사 사건"</a:t>
            </a:r>
          </a:p>
          <a:p xmlns:a="http://schemas.openxmlformats.org/drawingml/2006/main">
            <a:r>
              <a:t>      },</a:t>
            </a:r>
          </a:p>
          <a:p xmlns:a="http://schemas.openxmlformats.org/drawingml/2006/main">
            <a:r>
              <a:t>      {</a:t>
            </a:r>
          </a:p>
          <a:p xmlns:a="http://schemas.openxmlformats.org/drawingml/2006/main">
            <a:r>
              <a:t>        "title": "답변 추천",</a:t>
            </a:r>
          </a:p>
          <a:p xmlns:a="http://schemas.openxmlformats.org/drawingml/2006/main">
            <a:r>
              <a:t>        "input": "유사 사건",</a:t>
            </a:r>
          </a:p>
          <a:p xmlns:a="http://schemas.openxmlformats.org/drawingml/2006/main">
            <a:r>
              <a:t>        "process": "동일 사건 여부·개인정보 범위 검토",</a:t>
            </a:r>
          </a:p>
          <a:p xmlns:a="http://schemas.openxmlformats.org/drawingml/2006/main">
            <a:r>
              <a:t>        "output": "추천 답변"</a:t>
            </a:r>
          </a:p>
          <a:p xmlns:a="http://schemas.openxmlformats.org/drawingml/2006/main">
            <a:r>
              <a:t>      },</a:t>
            </a:r>
          </a:p>
          <a:p xmlns:a="http://schemas.openxmlformats.org/drawingml/2006/main">
            <a:r>
              <a:t>      {</a:t>
            </a:r>
          </a:p>
          <a:p xmlns:a="http://schemas.openxmlformats.org/drawingml/2006/main">
            <a:r>
              <a:t>        "title": "현업 수정",</a:t>
            </a:r>
          </a:p>
          <a:p xmlns:a="http://schemas.openxmlformats.org/drawingml/2006/main">
            <a:r>
              <a:t>        "input": "추천 답변",</a:t>
            </a:r>
          </a:p>
          <a:p xmlns:a="http://schemas.openxmlformats.org/drawingml/2006/main">
            <a:r>
              <a:t>        "process": "담당자의 군집·초안 수정 후 민원 처리",</a:t>
            </a:r>
          </a:p>
          <a:p xmlns:a="http://schemas.openxmlformats.org/drawingml/2006/main">
            <a:r>
              <a:t>        "output": "수정·회신"</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"같은 사안의 반복 민원을 묶고 기관별 답변 초안 제시",</a:t>
            </a:r>
          </a:p>
          <a:p xmlns:a="http://schemas.openxmlformats.org/drawingml/2006/main">
            <a:r>
              <a:t>      "exception": "표현이 같은 다른 사건·소관기관 차이·반대 취지",</a:t>
            </a:r>
          </a:p>
          <a:p xmlns:a="http://schemas.openxmlformats.org/drawingml/2006/main">
            <a:r>
              <a:t>      "evidence": "군집 정답표·잘못된 병합 건·담당자 수정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"민원 처리자·정책 분석자",</a:t>
            </a:r>
          </a:p>
          <a:p xmlns:a="http://schemas.openxmlformats.org/drawingml/2006/main">
            <a:r>
              <a:t>          "processing": "민원요지·유형·처리기관 문맥 구성",</a:t>
            </a:r>
          </a:p>
          <a:p xmlns:a="http://schemas.openxmlformats.org/drawingml/2006/main">
            <a:r>
              <a:t>          "output": "민원 본문"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"민원·답변 자료",</a:t>
            </a:r>
          </a:p>
          <a:p xmlns:a="http://schemas.openxmlformats.org/drawingml/2006/main">
            <a:r>
              <a:t>          "processing": "국민신문고·민원정보분석 자료의 연계·정제",</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"민원 본문",</a:t>
            </a:r>
          </a:p>
          <a:p xmlns:a="http://schemas.openxmlformats.org/drawingml/2006/main">
            <a:r>
              <a:t>          "processing": "RAG 답변 추천과 의미 유사도 군집",</a:t>
            </a:r>
          </a:p>
          <a:p xmlns:a="http://schemas.openxmlformats.org/drawingml/2006/main">
            <a:r>
              <a:t>          "output": "추천 답변"</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"추천 답변",</a:t>
            </a:r>
          </a:p>
          <a:p xmlns:a="http://schemas.openxmlformats.org/drawingml/2006/main">
            <a:r>
              <a:t>          "processing": "담당자의 군집·초안 수정 후 민원 처리",</a:t>
            </a:r>
          </a:p>
          <a:p xmlns:a="http://schemas.openxmlformats.org/drawingml/2006/main">
            <a:r>
              <a:t>          "output": "수정·회신"</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"기관별 답변 적합성과 병합 오류 분석",</a:t>
            </a:r>
          </a:p>
          <a:p xmlns:a="http://schemas.openxmlformats.org/drawingml/2006/main">
            <a:r>
              <a:t>          "output": "군집 정답표·잘못된 병합 건·담당자 수정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"기관별 답변 적합성과 병합 오류 분석",</a:t>
            </a:r>
          </a:p>
          <a:p xmlns:a="http://schemas.openxmlformats.org/drawingml/2006/main">
            <a:r>
              <a:t>    "status": "RFP 기반 논리 설계",</a:t>
            </a:r>
          </a:p>
          <a:p xmlns:a="http://schemas.openxmlformats.org/drawingml/2006/main">
            <a:r>
              <a:t>    "basis": "본공고 RFP · 사업계획·민원답변 작성지원·빈발중복민원",</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"추진계획·성과지표, 기능 요구사항 / Word T035",</a:t>
            </a:r>
          </a:p>
          <a:p xmlns:a="http://schemas.openxmlformats.org/drawingml/2006/main">
            <a:r>
              <a:t>        "url": "https://www.nia.or.kr/common/board/Download.do?bcIdx=28233&amp;cbIdx=78336&amp;fileNo=2"</a:t>
            </a:r>
          </a:p>
          <a:p xmlns:a="http://schemas.openxmlformats.org/drawingml/2006/main">
            <a:r>
              <a:t>      }</a:t>
            </a:r>
          </a:p>
          <a:p xmlns:a="http://schemas.openxmlformats.org/drawingml/2006/main">
            <a:r>
              <a:t>    ],</a:t>
            </a:r>
          </a:p>
          <a:p xmlns:a="http://schemas.openxmlformats.org/drawingml/2006/main">
            <a:r>
              <a:t>    "implication": "유사 문구와 동일 사건을 구분하는 민원 분류 및 소관부서별 답변 검토",</a:t>
            </a:r>
          </a:p>
          <a:p xmlns:a="http://schemas.openxmlformats.org/drawingml/2006/main">
            <a:r>
              <a:t>    "local": "유사 문구와 동일 사건을 구분하는 민원 분류 및 소관부서별 답변 검토",</a:t>
            </a:r>
          </a:p>
          <a:p xmlns:a="http://schemas.openxmlformats.org/drawingml/2006/main">
            <a:r>
              <a:t>    "sourceDetail": "국민신문고/민원정보분석 연계, RAG·요약·유사도 군집, 현업 수정 및 시범기관 확산",</a:t>
            </a:r>
          </a:p>
          <a:p xmlns:a="http://schemas.openxmlformats.org/drawingml/2006/main">
            <a:r>
              <a:t>    "narrative": [</a:t>
            </a:r>
          </a:p>
          <a:p xmlns:a="http://schemas.openxmlformats.org/drawingml/2006/main">
            <a:r>
              <a:t>      "국민신문고의 접수·처리와 민원정보분석 업무를 연결하는 AI 고도화. 담당자의 답변 초안 작성과 유사민원 식별, 정책 분석자의 의미 기반 이슈 탐색을 서로 다른 업무 결과로 구분하는 사업.",</a:t>
            </a:r>
          </a:p>
          <a:p xmlns:a="http://schemas.openxmlformats.org/drawingml/2006/main">
            <a:r>
              <a:t>      "원문 목표 구성도는 기존 포털·DB, API Gateway, 답변·분석·중복 검색 모듈, 데이터 처리 계층, 운영 관리 계층으로 구성. OCR·메타정보 추출 후 키워드·벡터 검색을 병렬 수행하고, 재정렬된 근거를 업무 모듈에 전달하는 구조. 서비스 화면과 모델 운영의 별도 책임 분리가 핵심.",</a:t>
            </a:r>
          </a:p>
          <a:p xmlns:a="http://schemas.openxmlformats.org/drawingml/2006/main">
            <a:r>
              <a:t>      "표현이 비슷하다는 이유만으로 같은 사건으로 병합하면 이의·반대 민원의 취지 소실 가능성. CCK 비교시험에서는 문장 유사도 외에 사건·기관·지역·처리 단계의 일치 여부와 담당자의 수정·채택 이력을 함께 평가할 필요. 답변 추천시간과 최종 회신시간의 별도 계측."</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"SFR-004",</a:t>
            </a:r>
          </a:p>
          <a:p xmlns:a="http://schemas.openxmlformats.org/drawingml/2006/main">
            <a:r>
              <a:t>        "title": "민원 종류 분류",</a:t>
            </a:r>
          </a:p>
          <a:p xmlns:a="http://schemas.openxmlformats.org/drawingml/2006/main">
            <a:r>
              <a:t>        "locator": "SFR-004",</a:t>
            </a:r>
          </a:p>
          <a:p xmlns:a="http://schemas.openxmlformats.org/drawingml/2006/main">
            <a:r>
              <a:t>        "summary": "민원 본문을 민원 종류로 분류해 담당 업무의 처리 경로를 지원하는 기능.",</a:t>
            </a:r>
          </a:p>
          <a:p xmlns:a="http://schemas.openxmlformats.org/drawingml/2006/main">
            <a:r>
              <a:t>        "data": "민원 원문·분류 체계 → 분류 후보·검토 결과",</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"복합 주제·짧은 문장·오탈자 민원의 오분류와 담당자 수정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"6b4913cc0ae5b5169d9646773f4136e5246b9263738a4827b1ab87a16891f0b5"</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"민원 처리내용 초안 제공",</a:t>
            </a:r>
          </a:p>
          <a:p xmlns:a="http://schemas.openxmlformats.org/drawingml/2006/main">
            <a:r>
              <a:t>        "locator": "SFR-005",</a:t>
            </a:r>
          </a:p>
          <a:p xmlns:a="http://schemas.openxmlformats.org/drawingml/2006/main">
            <a:r>
              <a:t>        "summary": "관련 규정과 기존 처리내용을 참조한 민원답변 초안 지원. 초안과 최종 답변의 담당자 확인 경로 구성.",</a:t>
            </a:r>
          </a:p>
          <a:p xmlns:a="http://schemas.openxmlformats.org/drawingml/2006/main">
            <a:r>
              <a:t>        "data": "접수 민원·참조 자료 → 근거가 연결된 답변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"과거 규정과 현행 규정이 충돌하는 사례의 근거 판본 및 담당자 수정 흔적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"4f5defef29ed25fd79e46a89d680a461cb449aef69766f422194dd69e74fe07d"</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"유사민원 식별 기능 제공",</a:t>
            </a:r>
          </a:p>
          <a:p xmlns:a="http://schemas.openxmlformats.org/drawingml/2006/main">
            <a:r>
              <a:t>        "locator": "SFR-006",</a:t>
            </a:r>
          </a:p>
          <a:p xmlns:a="http://schemas.openxmlformats.org/drawingml/2006/main">
            <a:r>
              <a:t>        "summary": "같거나 유사한 민원을 식별해 반복 업무를 지원하는 기능. 검색 후보와 실제 병합 판단의 구분.",</a:t>
            </a:r>
          </a:p>
          <a:p xmlns:a="http://schemas.openxmlformats.org/drawingml/2006/main">
            <a:r>
              <a:t>        "data": "민원 집합·사건 문맥 → 유사도·후보 묶음",</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"C05"</a:t>
            </a:r>
          </a:p>
          <a:p xmlns:a="http://schemas.openxmlformats.org/drawingml/2006/main">
            <a:r>
              <a:t>        ],</a:t>
            </a:r>
          </a:p>
          <a:p xmlns:a="http://schemas.openxmlformats.org/drawingml/2006/main">
            <a:r>
              <a:t>        "acceptance": "문장은 같지만 사건·지역·신청인이 다른 사례로 오병합 여부와 원문 복원 가능성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"4153e591c032d301106aff35c38940a0d476dc7d8c4d31155d7221e129da66dd"</a:t>
            </a:r>
          </a:p>
          <a:p xmlns:a="http://schemas.openxmlformats.org/drawingml/2006/main">
            <a:r>
              <a:t>      },</a:t>
            </a:r>
          </a:p>
          <a:p xmlns:a="http://schemas.openxmlformats.org/drawingml/2006/main">
            <a:r>
              <a:t>      {</a:t>
            </a:r>
          </a:p>
          <a:p xmlns:a="http://schemas.openxmlformats.org/drawingml/2006/main">
            <a:r>
              <a:t>        "id": "SFR-010",</a:t>
            </a:r>
          </a:p>
          <a:p xmlns:a="http://schemas.openxmlformats.org/drawingml/2006/main">
            <a:r>
              <a:t>        "title": "민원업무 고도화 서비스 관리기능",</a:t>
            </a:r>
          </a:p>
          <a:p xmlns:a="http://schemas.openxmlformats.org/drawingml/2006/main">
            <a:r>
              <a:t>        "locator": "SFR-010",</a:t>
            </a:r>
          </a:p>
          <a:p xmlns:a="http://schemas.openxmlformats.org/drawingml/2006/main">
            <a:r>
              <a:t>        "summary": "민원업무 고도화 서비스의 이용·관리 기능 구성. 운영자가 업무별 서비스 상태와 관리 대상을 확인하는 경로.",</a:t>
            </a:r>
          </a:p>
          <a:p xmlns:a="http://schemas.openxmlformats.org/drawingml/2006/main">
            <a:r>
              <a:t>        "data": "운영 설정·사용 이력 → 관리 상태·변경 기록",</a:t>
            </a:r>
          </a:p>
          <a:p xmlns:a="http://schemas.openxmlformats.org/drawingml/2006/main">
            <a:r>
              <a:t>        "components": [</a:t>
            </a:r>
          </a:p>
          <a:p xmlns:a="http://schemas.openxmlformats.org/drawingml/2006/main">
            <a:r>
              <a:t>          "C06",</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"관리 역할별 허용 작업과 변경 이력, 설정 변경 후 서비스 반영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"d0f1ab9389b360af8d77e62f3eeb2326716b450c2d1575dcec42b79fbb02d49b"</a:t>
            </a:r>
          </a:p>
          <a:p xmlns:a="http://schemas.openxmlformats.org/drawingml/2006/main">
            <a:r>
              <a:t>      },</a:t>
            </a:r>
          </a:p>
          <a:p xmlns:a="http://schemas.openxmlformats.org/drawingml/2006/main">
            <a:r>
              <a:t>      {</a:t>
            </a:r>
          </a:p>
          <a:p xmlns:a="http://schemas.openxmlformats.org/drawingml/2006/main">
            <a:r>
              <a:t>        "id": "SFR-011",</a:t>
            </a:r>
          </a:p>
          <a:p xmlns:a="http://schemas.openxmlformats.org/drawingml/2006/main">
            <a:r>
              <a:t>        "title": "의미 기반 검색과 분석",</a:t>
            </a:r>
          </a:p>
          <a:p xmlns:a="http://schemas.openxmlformats.org/drawingml/2006/main">
            <a:r>
              <a:t>        "locator": "SFR-011",</a:t>
            </a:r>
          </a:p>
          <a:p xmlns:a="http://schemas.openxmlformats.org/drawingml/2006/main">
            <a:r>
              <a:t>        "summary": "단순 키워드 일치를 넘어 민원 의미를 이용한 검색·분석 지원.",</a:t>
            </a:r>
          </a:p>
          <a:p xmlns:a="http://schemas.openxmlformats.org/drawingml/2006/main">
            <a:r>
              <a:t>        "data": "검색 질의·민원 색인 → 의미상 관련 민원·분석 결과",</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"C11"</a:t>
            </a:r>
          </a:p>
          <a:p xmlns:a="http://schemas.openxmlformats.org/drawingml/2006/main">
            <a:r>
              <a:t>        ],</a:t>
            </a:r>
          </a:p>
          <a:p xmlns:a="http://schemas.openxmlformats.org/drawingml/2006/main">
            <a:r>
              <a:t>        "acceptance": "다른 표현의 같은 의도와 같은 단어의 다른 의도를 구분한 검색 정답셋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"cb3704532e53b7b70bc4764b544e7f549cec4553215296f437e5601fe00168f1"</a:t>
            </a:r>
          </a:p>
          <a:p xmlns:a="http://schemas.openxmlformats.org/drawingml/2006/main">
            <a:r>
              <a:t>      },</a:t>
            </a:r>
          </a:p>
          <a:p xmlns:a="http://schemas.openxmlformats.org/drawingml/2006/main">
            <a:r>
              <a:t>      {</a:t>
            </a:r>
          </a:p>
          <a:p xmlns:a="http://schemas.openxmlformats.org/drawingml/2006/main">
            <a:r>
              <a:t>        "id": "SFR-015",</a:t>
            </a:r>
          </a:p>
          <a:p xmlns:a="http://schemas.openxmlformats.org/drawingml/2006/main">
            <a:r>
              <a:t>        "title": "실시간 데이터 수집 및 검증",</a:t>
            </a:r>
          </a:p>
          <a:p xmlns:a="http://schemas.openxmlformats.org/drawingml/2006/main">
            <a:r>
              <a:t>        "locator": "SFR-015",</a:t>
            </a:r>
          </a:p>
          <a:p xmlns:a="http://schemas.openxmlformats.org/drawingml/2006/main">
            <a:r>
              <a:t>        "summary": "OGG 기반 원천 변경 수집과 데이터 검증을 통한 실시간 연계. 수집 이후 정합성 확인이 필요한 데이터 흐름.",</a:t>
            </a:r>
          </a:p>
          <a:p xmlns:a="http://schemas.openxmlformats.org/drawingml/2006/main">
            <a:r>
              <a:t>        "data": "원천 DB 변경분 → 검증된 연계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"삽입·수정·삭제·중단 후 재개 시 건수·키·시점 대사와 중복 적재 여부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"bcca0bc62529ccf5ac36e787dc506c0b54f8f16e1b96c873fa31cca5157a057c"</a:t>
            </a:r>
          </a:p>
          <a:p xmlns:a="http://schemas.openxmlformats.org/drawingml/2006/main">
            <a:r>
              <a:t>      },</a:t>
            </a:r>
          </a:p>
          <a:p xmlns:a="http://schemas.openxmlformats.org/drawingml/2006/main">
            <a:r>
              <a:t>      {</a:t>
            </a:r>
          </a:p>
          <a:p xmlns:a="http://schemas.openxmlformats.org/drawingml/2006/main">
            <a:r>
              <a:t>        "id": "SFR-018",</a:t>
            </a:r>
          </a:p>
          <a:p xmlns:a="http://schemas.openxmlformats.org/drawingml/2006/main">
            <a:r>
              <a:t>        "title": "AI 기반 민원 자동 처리",</a:t>
            </a:r>
          </a:p>
          <a:p xmlns:a="http://schemas.openxmlformats.org/drawingml/2006/main">
            <a:r>
              <a:t>        "locator": "SFR-018",</a:t>
            </a:r>
          </a:p>
          <a:p xmlns:a="http://schemas.openxmlformats.org/drawingml/2006/main">
            <a:r>
              <a:t>        "summary": "AI 기반 민원 처리 지원에 담당자 검토·채택 결과를 연결하고 운영 개선에 활용하는 흐름.",</a:t>
            </a:r>
          </a:p>
          <a:p xmlns:a="http://schemas.openxmlformats.org/drawingml/2006/main">
            <a:r>
              <a:t>        "data": "처리 후보·담당자 검토 → 채택·수정 결과·피드백",</a:t>
            </a:r>
          </a:p>
          <a:p xmlns:a="http://schemas.openxmlformats.org/drawingml/2006/main">
            <a:r>
              <a:t>        "components": [</a:t>
            </a:r>
          </a:p>
          <a:p xmlns:a="http://schemas.openxmlformats.org/drawingml/2006/main">
            <a:r>
              <a:t>          "C04",</a:t>
            </a:r>
          </a:p>
          <a:p xmlns:a="http://schemas.openxmlformats.org/drawingml/2006/main">
            <a:r>
              <a:t>          "C06",</a:t>
            </a:r>
          </a:p>
          <a:p xmlns:a="http://schemas.openxmlformats.org/drawingml/2006/main">
            <a:r>
              <a:t>          "C08"</a:t>
            </a:r>
          </a:p>
          <a:p xmlns:a="http://schemas.openxmlformats.org/drawingml/2006/main">
            <a:r>
              <a:t>        ],</a:t>
            </a:r>
          </a:p>
          <a:p xmlns:a="http://schemas.openxmlformats.org/drawingml/2006/main">
            <a:r>
              <a:t>        "acceptance": "추천과 확정 상태를 구분하고 수정·반려가 다음 처리 기록에 누락 없이 남는지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"35bf9ae1174266075e30936c9e150e97a0d68cd55f83071656309743e2875dca"</a:t>
            </a:r>
          </a:p>
          <a:p xmlns:a="http://schemas.openxmlformats.org/drawingml/2006/main">
            <a:r>
              <a:t>      },</a:t>
            </a:r>
          </a:p>
          <a:p xmlns:a="http://schemas.openxmlformats.org/drawingml/2006/main">
            <a:r>
              <a:t>      {</a:t>
            </a:r>
          </a:p>
          <a:p xmlns:a="http://schemas.openxmlformats.org/drawingml/2006/main">
            <a:r>
              <a:t>        "id": "SFR-019",</a:t>
            </a:r>
          </a:p>
          <a:p xmlns:a="http://schemas.openxmlformats.org/drawingml/2006/main">
            <a:r>
              <a:t>        "title": "API 통합 관리 및 성능 모니터링",</a:t>
            </a:r>
          </a:p>
          <a:p xmlns:a="http://schemas.openxmlformats.org/drawingml/2006/main">
            <a:r>
              <a:t>        "locator": "SFR-019",</a:t>
            </a:r>
          </a:p>
          <a:p xmlns:a="http://schemas.openxmlformats.org/drawingml/2006/main">
            <a:r>
              <a:t>        "summary": "API 통합 관리와 성능 모니터링을 통한 업무 모듈·기간계 연결 관리.",</a:t>
            </a:r>
          </a:p>
          <a:p xmlns:a="http://schemas.openxmlformats.org/drawingml/2006/main">
            <a:r>
              <a:t>        "data": "API 요청·응답·호출 이력 → 상태·성능·오류 기록",</a:t>
            </a:r>
          </a:p>
          <a:p xmlns:a="http://schemas.openxmlformats.org/drawingml/2006/main">
            <a:r>
              <a:t>        "components": [</a:t>
            </a:r>
          </a:p>
          <a:p xmlns:a="http://schemas.openxmlformats.org/drawingml/2006/main">
            <a:r>
              <a:t>          "C02",</a:t>
            </a:r>
          </a:p>
          <a:p xmlns:a="http://schemas.openxmlformats.org/drawingml/2006/main">
            <a:r>
              <a:t>          "C07",</a:t>
            </a:r>
          </a:p>
          <a:p xmlns:a="http://schemas.openxmlformats.org/drawingml/2006/main">
            <a:r>
              <a:t>          "C08"</a:t>
            </a:r>
          </a:p>
          <a:p xmlns:a="http://schemas.openxmlformats.org/drawingml/2006/main">
            <a:r>
              <a:t>        ],</a:t>
            </a:r>
          </a:p>
          <a:p xmlns:a="http://schemas.openxmlformats.org/drawingml/2006/main">
            <a:r>
              <a:t>        "acceptance": "호출 실패·시간초과·중복 요청을 주입하고 호출 경로별 원인과 처리 상태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"ff7c0fe41f6cc841f53d73ace372872ebb0dfc391d7d7ca1a21b446c4dfa32b4"</a:t>
            </a:r>
          </a:p>
          <a:p xmlns:a="http://schemas.openxmlformats.org/drawingml/2006/main">
            <a:r>
              <a:t>      },</a:t>
            </a:r>
          </a:p>
          <a:p xmlns:a="http://schemas.openxmlformats.org/drawingml/2006/main">
            <a:r>
              <a:t>      {</a:t>
            </a:r>
          </a:p>
          <a:p xmlns:a="http://schemas.openxmlformats.org/drawingml/2006/main">
            <a:r>
              <a:t>        "id": "SFR-020",</a:t>
            </a:r>
          </a:p>
          <a:p xmlns:a="http://schemas.openxmlformats.org/drawingml/2006/main">
            <a:r>
              <a:t>        "title": "시스템 설정 및 운영 모니터링 통합 관리",</a:t>
            </a:r>
          </a:p>
          <a:p xmlns:a="http://schemas.openxmlformats.org/drawingml/2006/main">
            <a:r>
              <a:t>        "locator": "SFR-020",</a:t>
            </a:r>
          </a:p>
          <a:p xmlns:a="http://schemas.openxmlformats.org/drawingml/2006/main">
            <a:r>
              <a:t>        "summary": "시스템 설정과 운영 모니터링의 통합 관리. 업무 기능과 운영 정책의 일관된 상태 확인.",</a:t>
            </a:r>
          </a:p>
          <a:p xmlns:a="http://schemas.openxmlformats.org/drawingml/2006/main">
            <a:r>
              <a:t>        "data": "시스템 설정·운영 지표 → 관리 화면·이상 상태",</a:t>
            </a:r>
          </a:p>
          <a:p xmlns:a="http://schemas.openxmlformats.org/drawingml/2006/main">
            <a:r>
              <a:t>        "components": [</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"설정 변경 권한, 변경 전후 상태, 장애 탐지·복구 기록의 연결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"700952e7f3297506bdddffe81782d75953ec64aa85c0f75fd9ce24f75b54747a"</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"국민신문고 접점",</a:t>
            </a:r>
          </a:p>
          <a:p xmlns:a="http://schemas.openxmlformats.org/drawingml/2006/main">
            <a:r>
              <a:t>          "layer": "이용 접점",</a:t>
            </a:r>
          </a:p>
          <a:p xmlns:a="http://schemas.openxmlformats.org/drawingml/2006/main">
            <a:r>
              <a:t>          "detail": "민원 처리자·정책 분석자",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"요지·기관·유형",</a:t>
            </a:r>
          </a:p>
          <a:p xmlns:a="http://schemas.openxmlformats.org/drawingml/2006/main">
            <a:r>
              <a:t>          "layer": "업무 문맥",</a:t>
            </a:r>
          </a:p>
          <a:p xmlns:a="http://schemas.openxmlformats.org/drawingml/2006/main">
            <a:r>
              <a:t>          "detail": "민원요지·유형·처리기관 문맥 구성",</a:t>
            </a:r>
          </a:p>
          <a:p xmlns:a="http://schemas.openxmlformats.org/drawingml/2006/main">
            <a:r>
              <a:t>          "requirements": [</a:t>
            </a:r>
          </a:p>
          <a:p xmlns:a="http://schemas.openxmlformats.org/drawingml/2006/main">
            <a:r>
              <a:t>            "SFR-004",</a:t>
            </a:r>
          </a:p>
          <a:p xmlns:a="http://schemas.openxmlformats.org/drawingml/2006/main">
            <a:r>
              <a:t>            "SFR-019"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"키워드·벡터 검색",</a:t>
            </a:r>
          </a:p>
          <a:p xmlns:a="http://schemas.openxmlformats.org/drawingml/2006/main">
            <a:r>
              <a:t>          "layer": "자료 조회",</a:t>
            </a:r>
          </a:p>
          <a:p xmlns:a="http://schemas.openxmlformats.org/drawingml/2006/main">
            <a:r>
              <a:t>          "detail": "민원 본문",</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"재정렬·답변·군집",</a:t>
            </a:r>
          </a:p>
          <a:p xmlns:a="http://schemas.openxmlformats.org/drawingml/2006/main">
            <a:r>
              <a:t>          "layer": "핵심 처리",</a:t>
            </a:r>
          </a:p>
          <a:p xmlns:a="http://schemas.openxmlformats.org/drawingml/2006/main">
            <a:r>
              <a:t>          "detail": "RAG 답변 추천과 의미 유사도 군집",</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"SFR-018"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"동일 사건 대조",</a:t>
            </a:r>
          </a:p>
          <a:p xmlns:a="http://schemas.openxmlformats.org/drawingml/2006/main">
            <a:r>
              <a:t>          "layer": "결과 검증",</a:t>
            </a:r>
          </a:p>
          <a:p xmlns:a="http://schemas.openxmlformats.org/drawingml/2006/main">
            <a:r>
              <a:t>          "detail": "동일 사건 여부·개인정보 범위 검토",</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"담당자 수정",</a:t>
            </a:r>
          </a:p>
          <a:p xmlns:a="http://schemas.openxmlformats.org/drawingml/2006/main">
            <a:r>
              <a:t>          "layer": "사람 확인",</a:t>
            </a:r>
          </a:p>
          <a:p xmlns:a="http://schemas.openxmlformats.org/drawingml/2006/main">
            <a:r>
              <a:t>          "detail": "같은 사안의 반복 민원을 묶고 기관별 답변 초안 제시",</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"SFR-010",</a:t>
            </a:r>
          </a:p>
          <a:p xmlns:a="http://schemas.openxmlformats.org/drawingml/2006/main">
            <a:r>
              <a:t>            "SFR-018"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"민원 처리·분석",</a:t>
            </a:r>
          </a:p>
          <a:p xmlns:a="http://schemas.openxmlformats.org/drawingml/2006/main">
            <a:r>
              <a:t>          "layer": "업무 연결",</a:t>
            </a:r>
          </a:p>
          <a:p xmlns:a="http://schemas.openxmlformats.org/drawingml/2006/main">
            <a:r>
              <a:t>          "detail": "담당자의 군집·초안 수정 후 민원 처리",</a:t>
            </a:r>
          </a:p>
          <a:p xmlns:a="http://schemas.openxmlformats.org/drawingml/2006/main">
            <a:r>
              <a:t>          "requirements": [</a:t>
            </a:r>
          </a:p>
          <a:p xmlns:a="http://schemas.openxmlformats.org/drawingml/2006/main">
            <a:r>
              <a:t>            "SFR-019"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"오답·병합 오류",</a:t>
            </a:r>
          </a:p>
          <a:p xmlns:a="http://schemas.openxmlformats.org/drawingml/2006/main">
            <a:r>
              <a:t>          "layer": "운영 관측",</a:t>
            </a:r>
          </a:p>
          <a:p xmlns:a="http://schemas.openxmlformats.org/drawingml/2006/main">
            <a:r>
              <a:t>          "detail": "기관별 답변 적합성과 병합 오류 분석",</a:t>
            </a:r>
          </a:p>
          <a:p xmlns:a="http://schemas.openxmlformats.org/drawingml/2006/main">
            <a:r>
              <a:t>          "requirements": [</a:t>
            </a:r>
          </a:p>
          <a:p xmlns:a="http://schemas.openxmlformats.org/drawingml/2006/main">
            <a:r>
              <a:t>            "SFR-010",</a:t>
            </a:r>
          </a:p>
          <a:p xmlns:a="http://schemas.openxmlformats.org/drawingml/2006/main">
            <a:r>
              <a:t>            "SFR-018",</a:t>
            </a:r>
          </a:p>
          <a:p xmlns:a="http://schemas.openxmlformats.org/drawingml/2006/main">
            <a:r>
              <a:t>            "SFR-019",</a:t>
            </a:r>
          </a:p>
          <a:p xmlns:a="http://schemas.openxmlformats.org/drawingml/2006/main">
            <a:r>
              <a:t>            "SFR-020"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"민원·답변·지침",</a:t>
            </a:r>
          </a:p>
          <a:p xmlns:a="http://schemas.openxmlformats.org/drawingml/2006/main">
            <a:r>
              <a:t>          "layer": "데이터 원천",</a:t>
            </a:r>
          </a:p>
          <a:p xmlns:a="http://schemas.openxmlformats.org/drawingml/2006/main">
            <a:r>
              <a:t>          "detail": "민원·답변 자료",</a:t>
            </a:r>
          </a:p>
          <a:p xmlns:a="http://schemas.openxmlformats.org/drawingml/2006/main">
            <a:r>
              <a:t>          "requirements": [</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"OCR·메타정보 추출",</a:t>
            </a:r>
          </a:p>
          <a:p xmlns:a="http://schemas.openxmlformats.org/drawingml/2006/main">
            <a:r>
              <a:t>          "layer": "준비·갱신",</a:t>
            </a:r>
          </a:p>
          <a:p xmlns:a="http://schemas.openxmlformats.org/drawingml/2006/main">
            <a:r>
              <a:t>          "detail": "국민신문고·민원정보분석 자료의 연계·정제",</a:t>
            </a:r>
          </a:p>
          <a:p xmlns:a="http://schemas.openxmlformats.org/drawingml/2006/main">
            <a:r>
              <a:t>          "requirements": [</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"지식 DB·색인",</a:t>
            </a:r>
          </a:p>
          <a:p xmlns:a="http://schemas.openxmlformats.org/drawingml/2006/main">
            <a:r>
              <a:t>          "layer": "상태·지식 저장",</a:t>
            </a:r>
          </a:p>
          <a:p xmlns:a="http://schemas.openxmlformats.org/drawingml/2006/main">
            <a:r>
              <a:t>          "detail": "군집 정답표·잘못된 병합 건·담당자 수정 이력",</a:t>
            </a:r>
          </a:p>
          <a:p xmlns:a="http://schemas.openxmlformats.org/drawingml/2006/main">
            <a:r>
              <a:t>          "requirements": [</a:t>
            </a:r>
          </a:p>
          <a:p xmlns:a="http://schemas.openxmlformats.org/drawingml/2006/main">
            <a:r>
              <a:t>            "SFR-011",</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"모델·프롬프트 관리",</a:t>
            </a:r>
          </a:p>
          <a:p xmlns:a="http://schemas.openxmlformats.org/drawingml/2006/main">
            <a:r>
              <a:t>          "layer": "권한·정책",</a:t>
            </a:r>
          </a:p>
          <a:p xmlns:a="http://schemas.openxmlformats.org/drawingml/2006/main">
            <a:r>
              <a:t>          "detail": "표현이 같은 다른 사건·소관기관 차이·반대 취지",</a:t>
            </a:r>
          </a:p>
          <a:p xmlns:a="http://schemas.openxmlformats.org/drawingml/2006/main">
            <a:r>
              <a:t>          "requirements": [</a:t>
            </a:r>
          </a:p>
          <a:p xmlns:a="http://schemas.openxmlformats.org/drawingml/2006/main">
            <a:r>
              <a:t>            "SFR-010",</a:t>
            </a:r>
          </a:p>
          <a:p xmlns:a="http://schemas.openxmlformats.org/drawingml/2006/main">
            <a:r>
              <a:t>            "SFR-020"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"민원요지·유형·처리기관 문맥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"민원 본문",</a:t>
            </a:r>
          </a:p>
          <a:p xmlns:a="http://schemas.openxmlformats.org/drawingml/2006/main">
            <a:r>
              <a:t>          "check": "동일 사건 여부·개인정보 범위 검토"</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"유사 사건",</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"답변 초안·유사군 후보·근거 문서",</a:t>
            </a:r>
          </a:p>
          <a:p xmlns:a="http://schemas.openxmlformats.org/drawingml/2006/main">
            <a:r>
              <a:t>          "check": "표현이 같은 다른 사건·소관기관 차이·반대 취지"</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"추천 답변",</a:t>
            </a:r>
          </a:p>
          <a:p xmlns:a="http://schemas.openxmlformats.org/drawingml/2006/main">
            <a:r>
              <a:t>          "check": "담당자의 군집·초안 수정 후 민원 처리"</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"수정·회신",</a:t>
            </a:r>
          </a:p>
          <a:p xmlns:a="http://schemas.openxmlformats.org/drawingml/2006/main">
            <a:r>
              <a:t>          "check": "군집 정답표·잘못된 병합 건·담당자 수정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"목표시스템 개념도·RAG 구성 예시",</a:t>
            </a:r>
          </a:p>
          <a:p xmlns:a="http://schemas.openxmlformats.org/drawingml/2006/main">
            <a:r>
              <a:t>        "extracted": "API Gateway, OCR·메타정보 추출, 키워드/벡터 검색과 재정렬",</a:t>
            </a:r>
          </a:p>
          <a:p xmlns:a="http://schemas.openxmlformats.org/drawingml/2006/main">
            <a:r>
              <a:t>        "extension": "민원 중복 후보와 공식 병합·회신의 승인 경계"</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"PF-R02",</a:t>
            </a:r>
          </a:p>
          <a:p xmlns:a="http://schemas.openxmlformats.org/drawingml/2006/main">
            <a:r>
              <a:t>          "path": "assets/casebook-sources/PF-R02-01.png",</a:t>
            </a:r>
          </a:p>
          <a:p xmlns:a="http://schemas.openxmlformats.org/drawingml/2006/main">
            <a:r>
              <a:t>          "title": "국민소통 플랫폼 목표시스템",</a:t>
            </a:r>
          </a:p>
          <a:p xmlns:a="http://schemas.openxmlformats.org/drawingml/2006/main">
            <a:r>
              <a:t>          "status": "RFP 목표시스템 개념도",</a:t>
            </a:r>
          </a:p>
          <a:p xmlns:a="http://schemas.openxmlformats.org/drawingml/2006/main">
            <a:r>
              <a:t>          "caption": "접점·API Gateway·업무 모듈·데이터 처리·운영 관리",</a:t>
            </a:r>
          </a:p>
          <a:p xmlns:a="http://schemas.openxmlformats.org/drawingml/2006/main">
            <a:r>
              <a:t>          "locator": "NIA_RFP_RFP / BinData/image33_bmp",</a:t>
            </a:r>
          </a:p>
          <a:p xmlns:a="http://schemas.openxmlformats.org/drawingml/2006/main">
            <a:r>
              <a:t>          "checked": "2026-10-16",</a:t>
            </a:r>
          </a:p>
          <a:p xmlns:a="http://schemas.openxmlformats.org/drawingml/2006/main">
            <a:r>
              <a:t>          "sha256": "91feb890184edf04ccccd8d86995147aa6c2181b0a66c58436263cafccdae911",</a:t>
            </a:r>
          </a:p>
          <a:p xmlns:a="http://schemas.openxmlformats.org/drawingml/2006/main">
            <a:r>
              <a:t>          "explanation": {</a:t>
            </a:r>
          </a:p>
          <a:p xmlns:a="http://schemas.openxmlformats.org/drawingml/2006/main">
            <a:r>
              <a:t>            "read": "접점에서 받은 요청을 API Gateway를 통해 민원 답변·분석·중복 식별 모듈로 전달하는 목표 구성. 데이터 처리 계층은 공통 근거를 공급하고 운영 관리 계층은 서비스·모델 상태를 관찰하는 역할.",</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"SFR-019",</a:t>
            </a:r>
          </a:p>
          <a:p xmlns:a="http://schemas.openxmlformats.org/drawingml/2006/main">
            <a:r>
              <a:t>              "SFR-020"</a:t>
            </a:r>
          </a:p>
          <a:p xmlns:a="http://schemas.openxmlformats.org/drawingml/2006/main">
            <a:r>
              <a:t>            ],</a:t>
            </a:r>
          </a:p>
          <a:p xmlns:a="http://schemas.openxmlformats.org/drawingml/2006/main">
            <a:r>
              <a:t>            "connection": "담당자 답변 초안, 유사민원 후보, 정책 분석 결과를 서로 다른 출력 계약으로 정의하고 기존 민원시스템의 확정·회신 절차에 연결하는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"assets/casebook-sources/PF-R02-02.png",</a:t>
            </a:r>
          </a:p>
          <a:p xmlns:a="http://schemas.openxmlformats.org/drawingml/2006/main">
            <a:r>
              <a:t>          "title": "키워드·벡터 검색과 Reranker",</a:t>
            </a:r>
          </a:p>
          <a:p xmlns:a="http://schemas.openxmlformats.org/drawingml/2006/main">
            <a:r>
              <a:t>          "status": "RFP RAG 구성 예시",</a:t>
            </a:r>
          </a:p>
          <a:p xmlns:a="http://schemas.openxmlformats.org/drawingml/2006/main">
            <a:r>
              <a:t>          "caption": "키워드/벡터 검색 병렬 처리 → 재정렬 → 근거 응답",</a:t>
            </a:r>
          </a:p>
          <a:p xmlns:a="http://schemas.openxmlformats.org/drawingml/2006/main">
            <a:r>
              <a:t>          "locator": "NIA_RFP_RFP / BinData/image18_bmp",</a:t>
            </a:r>
          </a:p>
          <a:p xmlns:a="http://schemas.openxmlformats.org/drawingml/2006/main">
            <a:r>
              <a:t>          "checked": "2026-10-16",</a:t>
            </a:r>
          </a:p>
          <a:p xmlns:a="http://schemas.openxmlformats.org/drawingml/2006/main">
            <a:r>
              <a:t>          "sha256": "a6ab4248256ee300422789627dbe5b8f09ec60657419e13d082c95b32f3f4f90",</a:t>
            </a:r>
          </a:p>
          <a:p xmlns:a="http://schemas.openxmlformats.org/drawingml/2006/main">
            <a:r>
              <a:t>          "explanation": {</a:t>
            </a:r>
          </a:p>
          <a:p xmlns:a="http://schemas.openxmlformats.org/drawingml/2006/main">
            <a:r>
              <a:t>            "read": "키워드 검색은 정확한 용어·조항의 일치 후보, 벡터 검색은 표현이 다른 유사 의미 후보를 제공. Reranker는 통합 후보를 질의 관련성에 따라 다시 정렬하고 생성 모델에 근거를 전달하는 역할.",</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a:t>
            </a:r>
          </a:p>
          <a:p xmlns:a="http://schemas.openxmlformats.org/drawingml/2006/main">
            <a:r>
              <a:t>            "connection": "재정렬 점수를 법적 정답이나 민원 병합 승인으로 해석하지 않고 기관·사건·시점과 출처 일치를 별도로 확인하는 검증 단계의 추가."</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"assets/casebook-sources/PF-R02-03.png",</a:t>
            </a:r>
          </a:p>
          <a:p xmlns:a="http://schemas.openxmlformats.org/drawingml/2006/main">
            <a:r>
              <a:t>          "title": "민원 AI 입출력 데이터",</a:t>
            </a:r>
          </a:p>
          <a:p xmlns:a="http://schemas.openxmlformats.org/drawingml/2006/main">
            <a:r>
              <a:t>          "status": "RFP 데이터 흐름도",</a:t>
            </a:r>
          </a:p>
          <a:p xmlns:a="http://schemas.openxmlformats.org/drawingml/2006/main">
            <a:r>
              <a:t>          "caption": "국민신문고·시범기관 매뉴얼 → 전처리·RAG → 답변·유사도",</a:t>
            </a:r>
          </a:p>
          <a:p xmlns:a="http://schemas.openxmlformats.org/drawingml/2006/main">
            <a:r>
              <a:t>          "locator": "NIA_RFP_RFP / BinData/image34_bmp",</a:t>
            </a:r>
          </a:p>
          <a:p xmlns:a="http://schemas.openxmlformats.org/drawingml/2006/main">
            <a:r>
              <a:t>          "checked": "2026-10-16",</a:t>
            </a:r>
          </a:p>
          <a:p xmlns:a="http://schemas.openxmlformats.org/drawingml/2006/main">
            <a:r>
              <a:t>          "sha256": "0e09409295bbb0aae0a61666cf01982d012392b3f4bccd2e98499654b4b690d0",</a:t>
            </a:r>
          </a:p>
          <a:p xmlns:a="http://schemas.openxmlformats.org/drawingml/2006/main">
            <a:r>
              <a:t>          "explanation": {</a:t>
            </a:r>
          </a:p>
          <a:p xmlns:a="http://schemas.openxmlformats.org/drawingml/2006/main">
            <a:r>
              <a:t>            "read": "국민신문고 데이터와 시범기관 매뉴얼 등 입력을 전처리·RAG 경로에 투입하고 업무별 답변·유사도 결과로 변환하는 입출력 구조. 동일 원천을 이용하더라도 답변과 군집의 산출물은 별도 관리 대상.",</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"SFR-015",</a:t>
            </a:r>
          </a:p>
          <a:p xmlns:a="http://schemas.openxmlformats.org/drawingml/2006/main">
            <a:r>
              <a:t>              "SFR-018"</a:t>
            </a:r>
          </a:p>
          <a:p xmlns:a="http://schemas.openxmlformats.org/drawingml/2006/main">
            <a:r>
              <a:t>            ],</a:t>
            </a:r>
          </a:p>
          <a:p xmlns:a="http://schemas.openxmlformats.org/drawingml/2006/main">
            <a:r>
              <a:t>            "connection": "원천 민원 ID·문서 판본·근거 위치를 결과에 유지해 담당자 수정과 최종 회신의 차이를 재현할 수 있도록 하는 데이터 계약."</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"assets/casebook-sources/PF-R02-04.png",</a:t>
            </a:r>
          </a:p>
          <a:p xmlns:a="http://schemas.openxmlformats.org/drawingml/2006/main">
            <a:r>
              <a:t>          "title": "데이터 구축·학습·운영 흐름",</a:t>
            </a:r>
          </a:p>
          <a:p xmlns:a="http://schemas.openxmlformats.org/drawingml/2006/main">
            <a:r>
              <a:t>          "status": "RFP 데이터 처리 구조",</a:t>
            </a:r>
          </a:p>
          <a:p xmlns:a="http://schemas.openxmlformats.org/drawingml/2006/main">
            <a:r>
              <a:t>          "caption": "수집·정제·가공·학습·운영의 환류",</a:t>
            </a:r>
          </a:p>
          <a:p xmlns:a="http://schemas.openxmlformats.org/drawingml/2006/main">
            <a:r>
              <a:t>          "locator": "NIA_RFP_RFP / BinData/image32_png",</a:t>
            </a:r>
          </a:p>
          <a:p xmlns:a="http://schemas.openxmlformats.org/drawingml/2006/main">
            <a:r>
              <a:t>          "checked": "2026-10-16",</a:t>
            </a:r>
          </a:p>
          <a:p xmlns:a="http://schemas.openxmlformats.org/drawingml/2006/main">
            <a:r>
              <a:t>          "sha256": "b6c466b110d91bceff5a9f806d658aa54f010e0a5b8a358a16771181bea77c50",</a:t>
            </a:r>
          </a:p>
          <a:p xmlns:a="http://schemas.openxmlformats.org/drawingml/2006/main">
            <a:r>
              <a:t>          "explanation": {</a:t>
            </a:r>
          </a:p>
          <a:p xmlns:a="http://schemas.openxmlformats.org/drawingml/2006/main">
            <a:r>
              <a:t>            "read": "수집·정제·가공·학습·운영이 연결된 데이터 생애주기. 온라인 요청 처리와 모델·지식 갱신의 작업이 서로 다른 주기로 수행되는 구성.",</a:t>
            </a:r>
          </a:p>
          <a:p xmlns:a="http://schemas.openxmlformats.org/drawingml/2006/main">
            <a:r>
              <a:t>            "requirements": [</a:t>
            </a:r>
          </a:p>
          <a:p xmlns:a="http://schemas.openxmlformats.org/drawingml/2006/main">
            <a:r>
              <a:t>              "SFR-015",</a:t>
            </a:r>
          </a:p>
          <a:p xmlns:a="http://schemas.openxmlformats.org/drawingml/2006/main">
            <a:r>
              <a:t>              "SFR-018",</a:t>
            </a:r>
          </a:p>
          <a:p xmlns:a="http://schemas.openxmlformats.org/drawingml/2006/main">
            <a:r>
              <a:t>              "SFR-020"</a:t>
            </a:r>
          </a:p>
          <a:p xmlns:a="http://schemas.openxmlformats.org/drawingml/2006/main">
            <a:r>
              <a:t>            ],</a:t>
            </a:r>
          </a:p>
          <a:p xmlns:a="http://schemas.openxmlformats.org/drawingml/2006/main">
            <a:r>
              <a:t>            "connection": "원천 변경 시 수집 완료·정제 완료·색인 반영 상태를 분리하고 실패 자료만 재처리하는 운영 설계. 검토 피드백의 자동 학습 투입 전 품질 확인 단계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"표현이 같은 다른 사건·소관기관 차이·반대 취지",</a:t>
            </a:r>
          </a:p>
          <a:p xmlns:a="http://schemas.openxmlformats.org/drawingml/2006/main">
            <a:r>
              <a:t>        "hold": "동일 사건 여부·개인정보 범위 검토",</a:t>
            </a:r>
          </a:p>
          <a:p xmlns:a="http://schemas.openxmlformats.org/drawingml/2006/main">
            <a:r>
              <a:t>        "recovery": "기관별 답변 적합성과 병합 오류 분석",</a:t>
            </a:r>
          </a:p>
          <a:p xmlns:a="http://schemas.openxmlformats.org/drawingml/2006/main">
            <a:r>
              <a:t>        "evidence": "군집 정답표·잘못된 병합 건·담당자 수정 이력"</a:t>
            </a:r>
          </a:p>
          <a:p xmlns:a="http://schemas.openxmlformats.org/drawingml/2006/main">
            <a:r>
              <a:t>      },</a:t>
            </a:r>
          </a:p>
          <a:p xmlns:a="http://schemas.openxmlformats.org/drawingml/2006/main">
            <a:r>
              <a:t>      "data": {</a:t>
            </a:r>
          </a:p>
          <a:p xmlns:a="http://schemas.openxmlformats.org/drawingml/2006/main">
            <a:r>
              <a:t>        "source": "민원·답변 자료",</a:t>
            </a:r>
          </a:p>
          <a:p xmlns:a="http://schemas.openxmlformats.org/drawingml/2006/main">
            <a:r>
              <a:t>        "prepare": "국민신문고·민원정보분석 자료의 연계·정제",</a:t>
            </a:r>
          </a:p>
          <a:p xmlns:a="http://schemas.openxmlformats.org/drawingml/2006/main">
            <a:r>
              <a:t>        "output": "민원 본문",</a:t>
            </a:r>
          </a:p>
          <a:p xmlns:a="http://schemas.openxmlformats.org/drawingml/2006/main">
            <a:r>
              <a:t>        "refresh": "기관별 답변 적합성과 병합 오류 분석"</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"PF-R02",</a:t>
            </a:r>
          </a:p>
          <a:p xmlns:a="http://schemas.openxmlformats.org/drawingml/2006/main">
            <a:r>
              <a:t>    "success": [</a:t>
            </a:r>
          </a:p>
          <a:p xmlns:a="http://schemas.openxmlformats.org/drawingml/2006/main">
            <a:r>
              <a:t>      "유사민원과 답변 추천 결합",</a:t>
            </a:r>
          </a:p>
          <a:p xmlns:a="http://schemas.openxmlformats.org/drawingml/2006/main">
            <a:r>
              <a:t>      "현업 수정을 반영한 활용"</a:t>
            </a:r>
          </a:p>
          <a:p xmlns:a="http://schemas.openxmlformats.org/drawingml/2006/main">
            <a:r>
              <a:t>    ],</a:t>
            </a:r>
          </a:p>
          <a:p xmlns:a="http://schemas.openxmlformats.org/drawingml/2006/main">
            <a:r>
              <a:t>    "risks": [</a:t>
            </a:r>
          </a:p>
          <a:p xmlns:a="http://schemas.openxmlformats.org/drawingml/2006/main">
            <a:r>
              <a:t>      "다른 사건의 무리한 병합",</a:t>
            </a:r>
          </a:p>
          <a:p xmlns:a="http://schemas.openxmlformats.org/drawingml/2006/main">
            <a:r>
              <a:t>      "답변 추천을 공식 회신으로 오인"</a:t>
            </a:r>
          </a:p>
          <a:p xmlns:a="http://schemas.openxmlformats.org/drawingml/2006/main">
            <a:r>
              <a:t>    ],</a:t>
            </a:r>
          </a:p>
          <a:p xmlns:a="http://schemas.openxmlformats.org/drawingml/2006/main">
            <a:r>
              <a:t>    "architecture": [</a:t>
            </a:r>
          </a:p>
          <a:p xmlns:a="http://schemas.openxmlformats.org/drawingml/2006/main">
            <a:r>
              <a:t>      "국민신문고",</a:t>
            </a:r>
          </a:p>
          <a:p xmlns:a="http://schemas.openxmlformats.org/drawingml/2006/main">
            <a:r>
              <a:t>      "분류·답변 추천",</a:t>
            </a:r>
          </a:p>
          <a:p xmlns:a="http://schemas.openxmlformats.org/drawingml/2006/main">
            <a:r>
              <a:t>      "민원·답변 자료",</a:t>
            </a:r>
          </a:p>
          <a:p xmlns:a="http://schemas.openxmlformats.org/drawingml/2006/main">
            <a:r>
              <a:t>      "민원 담당"</a:t>
            </a:r>
          </a:p>
          <a:p xmlns:a="http://schemas.openxmlformats.org/drawingml/2006/main">
            <a:r>
              <a:t>    ],</a:t>
            </a:r>
          </a:p>
          <a:p xmlns:a="http://schemas.openxmlformats.org/drawingml/2006/main">
            <a:r>
              <a:t>    "transfers": [</a:t>
            </a:r>
          </a:p>
          <a:p xmlns:a="http://schemas.openxmlformats.org/drawingml/2006/main">
            <a:r>
              <a:t>      "민원 본문",</a:t>
            </a:r>
          </a:p>
          <a:p xmlns:a="http://schemas.openxmlformats.org/drawingml/2006/main">
            <a:r>
              <a:t>      "유사 사건",</a:t>
            </a:r>
          </a:p>
          <a:p xmlns:a="http://schemas.openxmlformats.org/drawingml/2006/main">
            <a:r>
              <a:t>      "추천 답변",</a:t>
            </a:r>
          </a:p>
          <a:p xmlns:a="http://schemas.openxmlformats.org/drawingml/2006/main">
            <a:r>
              <a:t>      "수정·회신"</a:t>
            </a:r>
          </a:p>
          <a:p xmlns:a="http://schemas.openxmlformats.org/drawingml/2006/main">
            <a:r>
              <a:t>    ],</a:t>
            </a:r>
          </a:p>
          <a:p xmlns:a="http://schemas.openxmlformats.org/drawingml/2006/main">
            <a:r>
              <a:t>    "control": "동일 사건 여부·개인정보 범위 검토",</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추진계획·성과지표, 기능 요구사항 / Word T035 https://www.nia.or.kr/common/board/Download.do?bcIdx=28233&amp;cbIdx=78336&amp;fileNo=2</a:t>
            </a:r>
          </a:p>
          <a:p xmlns:a="http://schemas.openxmlformats.org/drawingml/2006/main">
            <a:r>
              <a:t>홈페이지 https://heen1987-ops.github.io/TS-business-Plan-001/index.html?view=platform-cases&amp;case=PF-R02</a:t>
            </a:r>
          </a:p>
          <a:p xmlns:a="http://schemas.openxmlformats.org/drawingml/2006/main">
            <a:r>
              <a:t>원문 도면 {"caseId":"PF-R02","path":"assets/casebook-sources/PF-R02-02.png","title":"키워드·벡터 검색과 Reranker","status":"RFP RAG 구성 예시","caption":"키워드/벡터 검색 병렬 처리 → 재정렬 → 근거 응답","locator":"NIA_RFP_RFP / BinData/image18_bmp","checked":"2026-10-16","sha256":"a6ab4248256ee300422789627dbe5b8f09ec60657419e13d082c95b32f3f4f90","explanation":{"read":"키워드 검색은 정확한 용어·조항의 일치 후보, 벡터 검색은 표현이 다른 유사 의미 후보를 제공. Reranker는 통합 후보를 질의 관련성에 따라 다시 정렬하고 생성 모델에 근거를 전달하는 역할.","requirements":["SFR-005","SFR-006","SFR-011"],"connection":"재정렬 점수를 법적 정답이나 민원 병합 승인으로 해석하지 않고 기관·사건·시점과 출처 일치를 별도로 확인하는 검증 단계의 추가."}}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"PF-R02",</a:t>
            </a:r>
          </a:p>
          <a:p xmlns:a="http://schemas.openxmlformats.org/drawingml/2006/main">
            <a:r>
              <a:t>    "sourceId": "R02",</a:t>
            </a:r>
          </a:p>
          <a:p xmlns:a="http://schemas.openxmlformats.org/drawingml/2006/main">
            <a:r>
              <a:t>    "title": "국민권익위 민원 AI",</a:t>
            </a:r>
          </a:p>
          <a:p xmlns:a="http://schemas.openxmlformats.org/drawingml/2006/main">
            <a:r>
              <a:t>    "region": "국내",</a:t>
            </a:r>
          </a:p>
          <a:p xmlns:a="http://schemas.openxmlformats.org/drawingml/2006/main">
            <a:r>
              <a:t>    "owner": "국민권익위원회·NIA",</a:t>
            </a:r>
          </a:p>
          <a:p xmlns:a="http://schemas.openxmlformats.org/drawingml/2006/main">
            <a:r>
              <a:t>    "state": "공식 서비스 개시 확인(2026-02-05)",</a:t>
            </a:r>
          </a:p>
          <a:p xmlns:a="http://schemas.openxmlformats.org/drawingml/2006/main">
            <a:r>
              <a:t>    "period": "기존 원장 확인 2026.10.16",</a:t>
            </a:r>
          </a:p>
          <a:p xmlns:a="http://schemas.openxmlformats.org/drawingml/2006/main">
            <a:r>
              <a:t>    "fact": "민원답변 추천·빈발중복민원 병합·의미 기반 민원 분석",</a:t>
            </a:r>
          </a:p>
          <a:p xmlns:a="http://schemas.openxmlformats.org/drawingml/2006/main">
            <a:r>
              <a:t>    "limit": "추천답변 도출시간·배정 처리시간·최종 답변 처리시간의 정의와 분모를 구분해야 함",</a:t>
            </a:r>
          </a:p>
          <a:p xmlns:a="http://schemas.openxmlformats.org/drawingml/2006/main">
            <a:r>
              <a:t>    "nodes": [</a:t>
            </a:r>
          </a:p>
          <a:p xmlns:a="http://schemas.openxmlformats.org/drawingml/2006/main">
            <a:r>
              <a:t>      "국민신문고",</a:t>
            </a:r>
          </a:p>
          <a:p xmlns:a="http://schemas.openxmlformats.org/drawingml/2006/main">
            <a:r>
              <a:t>      "분류·유사민원",</a:t>
            </a:r>
          </a:p>
          <a:p xmlns:a="http://schemas.openxmlformats.org/drawingml/2006/main">
            <a:r>
              <a:t>      "답변 추천",</a:t>
            </a:r>
          </a:p>
          <a:p xmlns:a="http://schemas.openxmlformats.org/drawingml/2006/main">
            <a:r>
              <a:t>      "현업 수정"</a:t>
            </a:r>
          </a:p>
          <a:p xmlns:a="http://schemas.openxmlformats.org/drawingml/2006/main">
            <a:r>
              <a:t>    ],</a:t>
            </a:r>
          </a:p>
          <a:p xmlns:a="http://schemas.openxmlformats.org/drawingml/2006/main">
            <a:r>
              <a:t>    "apply": "유사 문구와 동일 사건을 구분하는 민원 분류 및 소관부서별 답변 검토",</a:t>
            </a:r>
          </a:p>
          <a:p xmlns:a="http://schemas.openxmlformats.org/drawingml/2006/main">
            <a:r>
              <a:t>    "delta": "민원 사건·기관·업무 분류 / 유사군 검토 UI / 현업 수정 이력",</a:t>
            </a:r>
          </a:p>
          <a:p xmlns:a="http://schemas.openxmlformats.org/drawingml/2006/main">
            <a:r>
              <a:t>    "test": "같은 표현의 다른 사건·반대 취지 민원에 대한 오병합·답변 오류 측정",</a:t>
            </a:r>
          </a:p>
          <a:p xmlns:a="http://schemas.openxmlformats.org/drawingml/2006/main">
            <a:r>
              <a:t>    "url": "https://www.nia.or.kr/common/board/Download.do?bcIdx=28233&amp;cbIdx=78336&amp;fileNo=2",</a:t>
            </a:r>
          </a:p>
          <a:p xmlns:a="http://schemas.openxmlformats.org/drawingml/2006/main">
            <a:r>
              <a:t>    "urls": [</a:t>
            </a:r>
          </a:p>
          <a:p xmlns:a="http://schemas.openxmlformats.org/drawingml/2006/main">
            <a:r>
              <a:t>      "https://www.nia.or.kr/common/board/Download.do?bcIdx=28233&amp;cbIdx=78336&amp;fileNo=2",</a:t>
            </a:r>
          </a:p>
          <a:p xmlns:a="http://schemas.openxmlformats.org/drawingml/2006/main">
            <a:r>
              <a:t>      "https://www.acrc.go.kr/board.es?act=view&amp;bid=ACH&amp;list_no=106584&amp;mid=a10403070000&amp;nPage=1"</a:t>
            </a:r>
          </a:p>
          <a:p xmlns:a="http://schemas.openxmlformats.org/drawingml/2006/main">
            <a:r>
              <a:t>    ],</a:t>
            </a:r>
          </a:p>
          <a:p xmlns:a="http://schemas.openxmlformats.org/drawingml/2006/main">
            <a:r>
              <a:t>    "basis": "추진계획·성과지표, 기능 요구사항 / Word T035",</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"민원 분류 정확도 / 오병합률 / 최종 답변 작성시간",</a:t>
            </a:r>
          </a:p>
          <a:p xmlns:a="http://schemas.openxmlformats.org/drawingml/2006/main">
            <a:r>
              <a:t>    "group": "요구·구축",</a:t>
            </a:r>
          </a:p>
          <a:p xmlns:a="http://schemas.openxmlformats.org/drawingml/2006/main">
            <a:r>
              <a:t>    "sourceDetail": "국민신문고/민원정보분석 연계, RAG·요약·유사도 군집, 현업 수정 및 시범기관 확산",</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"PF-R02",</a:t>
            </a:r>
          </a:p>
          <a:p xmlns:a="http://schemas.openxmlformats.org/drawingml/2006/main">
            <a:r>
              <a:t>    "canonicalId": "PF-R02",</a:t>
            </a:r>
          </a:p>
          <a:p xmlns:a="http://schemas.openxmlformats.org/drawingml/2006/main">
            <a:r>
              <a:t>    "purpose": "민원답변 추천과 빈발·중복민원 분석",</a:t>
            </a:r>
          </a:p>
          <a:p xmlns:a="http://schemas.openxmlformats.org/drawingml/2006/main">
            <a:r>
              <a:t>    "users": "민원 처리자·정책 분석자",</a:t>
            </a:r>
          </a:p>
          <a:p xmlns:a="http://schemas.openxmlformats.org/drawingml/2006/main">
            <a:r>
              <a:t>    "scope": [</a:t>
            </a:r>
          </a:p>
          <a:p xmlns:a="http://schemas.openxmlformats.org/drawingml/2006/main">
            <a:r>
              <a:t>      "답변 초안",</a:t>
            </a:r>
          </a:p>
          <a:p xmlns:a="http://schemas.openxmlformats.org/drawingml/2006/main">
            <a:r>
              <a:t>      "유사민원 병합",</a:t>
            </a:r>
          </a:p>
          <a:p xmlns:a="http://schemas.openxmlformats.org/drawingml/2006/main">
            <a:r>
              <a:t>      "의미 분석"</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"국민신문고",</a:t>
            </a:r>
          </a:p>
          <a:p xmlns:a="http://schemas.openxmlformats.org/drawingml/2006/main">
            <a:r>
              <a:t>        "detail": "민원요지·유형·처리기관 문맥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"답변 초안 / 유사민원 병합 / 의미 분석",</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"분류·답변 추천",</a:t>
            </a:r>
          </a:p>
          <a:p xmlns:a="http://schemas.openxmlformats.org/drawingml/2006/main">
            <a:r>
              <a:t>        "detail": "RAG 답변 추천과 의미 유사도 군집",</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"민원 담당",</a:t>
            </a:r>
          </a:p>
          <a:p xmlns:a="http://schemas.openxmlformats.org/drawingml/2006/main">
            <a:r>
              <a:t>        "detail": "담당자의 군집·초안 수정 후 민원 처리",</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"민원·답변 자료",</a:t>
            </a:r>
          </a:p>
          <a:p xmlns:a="http://schemas.openxmlformats.org/drawingml/2006/main">
            <a:r>
              <a:t>        "detail": "국민신문고·민원정보분석 자료의 연계·정제",</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"기관별 답변 적합성과 병합 오류 분석",</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"국민신문고",</a:t>
            </a:r>
          </a:p>
          <a:p xmlns:a="http://schemas.openxmlformats.org/drawingml/2006/main">
            <a:r>
              <a:t>        "input": "민원요지·유형·처리기관 문맥 구성",</a:t>
            </a:r>
          </a:p>
          <a:p xmlns:a="http://schemas.openxmlformats.org/drawingml/2006/main">
            <a:r>
              <a:t>        "process": "국민신문고·민원정보분석 자료의 연계·정제",</a:t>
            </a:r>
          </a:p>
          <a:p xmlns:a="http://schemas.openxmlformats.org/drawingml/2006/main">
            <a:r>
              <a:t>        "output": "민원 본문"</a:t>
            </a:r>
          </a:p>
          <a:p xmlns:a="http://schemas.openxmlformats.org/drawingml/2006/main">
            <a:r>
              <a:t>      },</a:t>
            </a:r>
          </a:p>
          <a:p xmlns:a="http://schemas.openxmlformats.org/drawingml/2006/main">
            <a:r>
              <a:t>      {</a:t>
            </a:r>
          </a:p>
          <a:p xmlns:a="http://schemas.openxmlformats.org/drawingml/2006/main">
            <a:r>
              <a:t>        "title": "분류·유사민원",</a:t>
            </a:r>
          </a:p>
          <a:p xmlns:a="http://schemas.openxmlformats.org/drawingml/2006/main">
            <a:r>
              <a:t>        "input": "민원 본문",</a:t>
            </a:r>
          </a:p>
          <a:p xmlns:a="http://schemas.openxmlformats.org/drawingml/2006/main">
            <a:r>
              <a:t>        "process": "RAG 답변 추천과 의미 유사도 군집",</a:t>
            </a:r>
          </a:p>
          <a:p xmlns:a="http://schemas.openxmlformats.org/drawingml/2006/main">
            <a:r>
              <a:t>        "output": "유사 사건"</a:t>
            </a:r>
          </a:p>
          <a:p xmlns:a="http://schemas.openxmlformats.org/drawingml/2006/main">
            <a:r>
              <a:t>      },</a:t>
            </a:r>
          </a:p>
          <a:p xmlns:a="http://schemas.openxmlformats.org/drawingml/2006/main">
            <a:r>
              <a:t>      {</a:t>
            </a:r>
          </a:p>
          <a:p xmlns:a="http://schemas.openxmlformats.org/drawingml/2006/main">
            <a:r>
              <a:t>        "title": "답변 추천",</a:t>
            </a:r>
          </a:p>
          <a:p xmlns:a="http://schemas.openxmlformats.org/drawingml/2006/main">
            <a:r>
              <a:t>        "input": "유사 사건",</a:t>
            </a:r>
          </a:p>
          <a:p xmlns:a="http://schemas.openxmlformats.org/drawingml/2006/main">
            <a:r>
              <a:t>        "process": "동일 사건 여부·개인정보 범위 검토",</a:t>
            </a:r>
          </a:p>
          <a:p xmlns:a="http://schemas.openxmlformats.org/drawingml/2006/main">
            <a:r>
              <a:t>        "output": "추천 답변"</a:t>
            </a:r>
          </a:p>
          <a:p xmlns:a="http://schemas.openxmlformats.org/drawingml/2006/main">
            <a:r>
              <a:t>      },</a:t>
            </a:r>
          </a:p>
          <a:p xmlns:a="http://schemas.openxmlformats.org/drawingml/2006/main">
            <a:r>
              <a:t>      {</a:t>
            </a:r>
          </a:p>
          <a:p xmlns:a="http://schemas.openxmlformats.org/drawingml/2006/main">
            <a:r>
              <a:t>        "title": "현업 수정",</a:t>
            </a:r>
          </a:p>
          <a:p xmlns:a="http://schemas.openxmlformats.org/drawingml/2006/main">
            <a:r>
              <a:t>        "input": "추천 답변",</a:t>
            </a:r>
          </a:p>
          <a:p xmlns:a="http://schemas.openxmlformats.org/drawingml/2006/main">
            <a:r>
              <a:t>        "process": "담당자의 군집·초안 수정 후 민원 처리",</a:t>
            </a:r>
          </a:p>
          <a:p xmlns:a="http://schemas.openxmlformats.org/drawingml/2006/main">
            <a:r>
              <a:t>        "output": "수정·회신"</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"같은 사안의 반복 민원을 묶고 기관별 답변 초안 제시",</a:t>
            </a:r>
          </a:p>
          <a:p xmlns:a="http://schemas.openxmlformats.org/drawingml/2006/main">
            <a:r>
              <a:t>      "exception": "표현이 같은 다른 사건·소관기관 차이·반대 취지",</a:t>
            </a:r>
          </a:p>
          <a:p xmlns:a="http://schemas.openxmlformats.org/drawingml/2006/main">
            <a:r>
              <a:t>      "evidence": "군집 정답표·잘못된 병합 건·담당자 수정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"민원 처리자·정책 분석자",</a:t>
            </a:r>
          </a:p>
          <a:p xmlns:a="http://schemas.openxmlformats.org/drawingml/2006/main">
            <a:r>
              <a:t>          "processing": "민원요지·유형·처리기관 문맥 구성",</a:t>
            </a:r>
          </a:p>
          <a:p xmlns:a="http://schemas.openxmlformats.org/drawingml/2006/main">
            <a:r>
              <a:t>          "output": "민원 본문"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"민원·답변 자료",</a:t>
            </a:r>
          </a:p>
          <a:p xmlns:a="http://schemas.openxmlformats.org/drawingml/2006/main">
            <a:r>
              <a:t>          "processing": "국민신문고·민원정보분석 자료의 연계·정제",</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"민원 본문",</a:t>
            </a:r>
          </a:p>
          <a:p xmlns:a="http://schemas.openxmlformats.org/drawingml/2006/main">
            <a:r>
              <a:t>          "processing": "RAG 답변 추천과 의미 유사도 군집",</a:t>
            </a:r>
          </a:p>
          <a:p xmlns:a="http://schemas.openxmlformats.org/drawingml/2006/main">
            <a:r>
              <a:t>          "output": "추천 답변"</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"추천 답변",</a:t>
            </a:r>
          </a:p>
          <a:p xmlns:a="http://schemas.openxmlformats.org/drawingml/2006/main">
            <a:r>
              <a:t>          "processing": "담당자의 군집·초안 수정 후 민원 처리",</a:t>
            </a:r>
          </a:p>
          <a:p xmlns:a="http://schemas.openxmlformats.org/drawingml/2006/main">
            <a:r>
              <a:t>          "output": "수정·회신"</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"기관별 답변 적합성과 병합 오류 분석",</a:t>
            </a:r>
          </a:p>
          <a:p xmlns:a="http://schemas.openxmlformats.org/drawingml/2006/main">
            <a:r>
              <a:t>          "output": "군집 정답표·잘못된 병합 건·담당자 수정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"기관별 답변 적합성과 병합 오류 분석",</a:t>
            </a:r>
          </a:p>
          <a:p xmlns:a="http://schemas.openxmlformats.org/drawingml/2006/main">
            <a:r>
              <a:t>    "status": "RFP 기반 논리 설계",</a:t>
            </a:r>
          </a:p>
          <a:p xmlns:a="http://schemas.openxmlformats.org/drawingml/2006/main">
            <a:r>
              <a:t>    "basis": "본공고 RFP · 사업계획·민원답변 작성지원·빈발중복민원",</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"추진계획·성과지표, 기능 요구사항 / Word T035",</a:t>
            </a:r>
          </a:p>
          <a:p xmlns:a="http://schemas.openxmlformats.org/drawingml/2006/main">
            <a:r>
              <a:t>        "url": "https://www.nia.or.kr/common/board/Download.do?bcIdx=28233&amp;cbIdx=78336&amp;fileNo=2"</a:t>
            </a:r>
          </a:p>
          <a:p xmlns:a="http://schemas.openxmlformats.org/drawingml/2006/main">
            <a:r>
              <a:t>      }</a:t>
            </a:r>
          </a:p>
          <a:p xmlns:a="http://schemas.openxmlformats.org/drawingml/2006/main">
            <a:r>
              <a:t>    ],</a:t>
            </a:r>
          </a:p>
          <a:p xmlns:a="http://schemas.openxmlformats.org/drawingml/2006/main">
            <a:r>
              <a:t>    "implication": "유사 문구와 동일 사건을 구분하는 민원 분류 및 소관부서별 답변 검토",</a:t>
            </a:r>
          </a:p>
          <a:p xmlns:a="http://schemas.openxmlformats.org/drawingml/2006/main">
            <a:r>
              <a:t>    "local": "유사 문구와 동일 사건을 구분하는 민원 분류 및 소관부서별 답변 검토",</a:t>
            </a:r>
          </a:p>
          <a:p xmlns:a="http://schemas.openxmlformats.org/drawingml/2006/main">
            <a:r>
              <a:t>    "sourceDetail": "국민신문고/민원정보분석 연계, RAG·요약·유사도 군집, 현업 수정 및 시범기관 확산",</a:t>
            </a:r>
          </a:p>
          <a:p xmlns:a="http://schemas.openxmlformats.org/drawingml/2006/main">
            <a:r>
              <a:t>    "narrative": [</a:t>
            </a:r>
          </a:p>
          <a:p xmlns:a="http://schemas.openxmlformats.org/drawingml/2006/main">
            <a:r>
              <a:t>      "국민신문고의 접수·처리와 민원정보분석 업무를 연결하는 AI 고도화. 담당자의 답변 초안 작성과 유사민원 식별, 정책 분석자의 의미 기반 이슈 탐색을 서로 다른 업무 결과로 구분하는 사업.",</a:t>
            </a:r>
          </a:p>
          <a:p xmlns:a="http://schemas.openxmlformats.org/drawingml/2006/main">
            <a:r>
              <a:t>      "원문 목표 구성도는 기존 포털·DB, API Gateway, 답변·분석·중복 검색 모듈, 데이터 처리 계층, 운영 관리 계층으로 구성. OCR·메타정보 추출 후 키워드·벡터 검색을 병렬 수행하고, 재정렬된 근거를 업무 모듈에 전달하는 구조. 서비스 화면과 모델 운영의 별도 책임 분리가 핵심.",</a:t>
            </a:r>
          </a:p>
          <a:p xmlns:a="http://schemas.openxmlformats.org/drawingml/2006/main">
            <a:r>
              <a:t>      "표현이 비슷하다는 이유만으로 같은 사건으로 병합하면 이의·반대 민원의 취지 소실 가능성. CCK 비교시험에서는 문장 유사도 외에 사건·기관·지역·처리 단계의 일치 여부와 담당자의 수정·채택 이력을 함께 평가할 필요. 답변 추천시간과 최종 회신시간의 별도 계측."</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"SFR-004",</a:t>
            </a:r>
          </a:p>
          <a:p xmlns:a="http://schemas.openxmlformats.org/drawingml/2006/main">
            <a:r>
              <a:t>        "title": "민원 종류 분류",</a:t>
            </a:r>
          </a:p>
          <a:p xmlns:a="http://schemas.openxmlformats.org/drawingml/2006/main">
            <a:r>
              <a:t>        "locator": "SFR-004",</a:t>
            </a:r>
          </a:p>
          <a:p xmlns:a="http://schemas.openxmlformats.org/drawingml/2006/main">
            <a:r>
              <a:t>        "summary": "민원 본문을 민원 종류로 분류해 담당 업무의 처리 경로를 지원하는 기능.",</a:t>
            </a:r>
          </a:p>
          <a:p xmlns:a="http://schemas.openxmlformats.org/drawingml/2006/main">
            <a:r>
              <a:t>        "data": "민원 원문·분류 체계 → 분류 후보·검토 결과",</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"복합 주제·짧은 문장·오탈자 민원의 오분류와 담당자 수정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"6b4913cc0ae5b5169d9646773f4136e5246b9263738a4827b1ab87a16891f0b5"</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"민원 처리내용 초안 제공",</a:t>
            </a:r>
          </a:p>
          <a:p xmlns:a="http://schemas.openxmlformats.org/drawingml/2006/main">
            <a:r>
              <a:t>        "locator": "SFR-005",</a:t>
            </a:r>
          </a:p>
          <a:p xmlns:a="http://schemas.openxmlformats.org/drawingml/2006/main">
            <a:r>
              <a:t>        "summary": "관련 규정과 기존 처리내용을 참조한 민원답변 초안 지원. 초안과 최종 답변의 담당자 확인 경로 구성.",</a:t>
            </a:r>
          </a:p>
          <a:p xmlns:a="http://schemas.openxmlformats.org/drawingml/2006/main">
            <a:r>
              <a:t>        "data": "접수 민원·참조 자료 → 근거가 연결된 답변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"과거 규정과 현행 규정이 충돌하는 사례의 근거 판본 및 담당자 수정 흔적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"4f5defef29ed25fd79e46a89d680a461cb449aef69766f422194dd69e74fe07d"</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"유사민원 식별 기능 제공",</a:t>
            </a:r>
          </a:p>
          <a:p xmlns:a="http://schemas.openxmlformats.org/drawingml/2006/main">
            <a:r>
              <a:t>        "locator": "SFR-006",</a:t>
            </a:r>
          </a:p>
          <a:p xmlns:a="http://schemas.openxmlformats.org/drawingml/2006/main">
            <a:r>
              <a:t>        "summary": "같거나 유사한 민원을 식별해 반복 업무를 지원하는 기능. 검색 후보와 실제 병합 판단의 구분.",</a:t>
            </a:r>
          </a:p>
          <a:p xmlns:a="http://schemas.openxmlformats.org/drawingml/2006/main">
            <a:r>
              <a:t>        "data": "민원 집합·사건 문맥 → 유사도·후보 묶음",</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"C05"</a:t>
            </a:r>
          </a:p>
          <a:p xmlns:a="http://schemas.openxmlformats.org/drawingml/2006/main">
            <a:r>
              <a:t>        ],</a:t>
            </a:r>
          </a:p>
          <a:p xmlns:a="http://schemas.openxmlformats.org/drawingml/2006/main">
            <a:r>
              <a:t>        "acceptance": "문장은 같지만 사건·지역·신청인이 다른 사례로 오병합 여부와 원문 복원 가능성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"4153e591c032d301106aff35c38940a0d476dc7d8c4d31155d7221e129da66dd"</a:t>
            </a:r>
          </a:p>
          <a:p xmlns:a="http://schemas.openxmlformats.org/drawingml/2006/main">
            <a:r>
              <a:t>      },</a:t>
            </a:r>
          </a:p>
          <a:p xmlns:a="http://schemas.openxmlformats.org/drawingml/2006/main">
            <a:r>
              <a:t>      {</a:t>
            </a:r>
          </a:p>
          <a:p xmlns:a="http://schemas.openxmlformats.org/drawingml/2006/main">
            <a:r>
              <a:t>        "id": "SFR-010",</a:t>
            </a:r>
          </a:p>
          <a:p xmlns:a="http://schemas.openxmlformats.org/drawingml/2006/main">
            <a:r>
              <a:t>        "title": "민원업무 고도화 서비스 관리기능",</a:t>
            </a:r>
          </a:p>
          <a:p xmlns:a="http://schemas.openxmlformats.org/drawingml/2006/main">
            <a:r>
              <a:t>        "locator": "SFR-010",</a:t>
            </a:r>
          </a:p>
          <a:p xmlns:a="http://schemas.openxmlformats.org/drawingml/2006/main">
            <a:r>
              <a:t>        "summary": "민원업무 고도화 서비스의 이용·관리 기능 구성. 운영자가 업무별 서비스 상태와 관리 대상을 확인하는 경로.",</a:t>
            </a:r>
          </a:p>
          <a:p xmlns:a="http://schemas.openxmlformats.org/drawingml/2006/main">
            <a:r>
              <a:t>        "data": "운영 설정·사용 이력 → 관리 상태·변경 기록",</a:t>
            </a:r>
          </a:p>
          <a:p xmlns:a="http://schemas.openxmlformats.org/drawingml/2006/main">
            <a:r>
              <a:t>        "components": [</a:t>
            </a:r>
          </a:p>
          <a:p xmlns:a="http://schemas.openxmlformats.org/drawingml/2006/main">
            <a:r>
              <a:t>          "C06",</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"관리 역할별 허용 작업과 변경 이력, 설정 변경 후 서비스 반영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"d0f1ab9389b360af8d77e62f3eeb2326716b450c2d1575dcec42b79fbb02d49b"</a:t>
            </a:r>
          </a:p>
          <a:p xmlns:a="http://schemas.openxmlformats.org/drawingml/2006/main">
            <a:r>
              <a:t>      },</a:t>
            </a:r>
          </a:p>
          <a:p xmlns:a="http://schemas.openxmlformats.org/drawingml/2006/main">
            <a:r>
              <a:t>      {</a:t>
            </a:r>
          </a:p>
          <a:p xmlns:a="http://schemas.openxmlformats.org/drawingml/2006/main">
            <a:r>
              <a:t>        "id": "SFR-011",</a:t>
            </a:r>
          </a:p>
          <a:p xmlns:a="http://schemas.openxmlformats.org/drawingml/2006/main">
            <a:r>
              <a:t>        "title": "의미 기반 검색과 분석",</a:t>
            </a:r>
          </a:p>
          <a:p xmlns:a="http://schemas.openxmlformats.org/drawingml/2006/main">
            <a:r>
              <a:t>        "locator": "SFR-011",</a:t>
            </a:r>
          </a:p>
          <a:p xmlns:a="http://schemas.openxmlformats.org/drawingml/2006/main">
            <a:r>
              <a:t>        "summary": "단순 키워드 일치를 넘어 민원 의미를 이용한 검색·분석 지원.",</a:t>
            </a:r>
          </a:p>
          <a:p xmlns:a="http://schemas.openxmlformats.org/drawingml/2006/main">
            <a:r>
              <a:t>        "data": "검색 질의·민원 색인 → 의미상 관련 민원·분석 결과",</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"C11"</a:t>
            </a:r>
          </a:p>
          <a:p xmlns:a="http://schemas.openxmlformats.org/drawingml/2006/main">
            <a:r>
              <a:t>        ],</a:t>
            </a:r>
          </a:p>
          <a:p xmlns:a="http://schemas.openxmlformats.org/drawingml/2006/main">
            <a:r>
              <a:t>        "acceptance": "다른 표현의 같은 의도와 같은 단어의 다른 의도를 구분한 검색 정답셋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"cb3704532e53b7b70bc4764b544e7f549cec4553215296f437e5601fe00168f1"</a:t>
            </a:r>
          </a:p>
          <a:p xmlns:a="http://schemas.openxmlformats.org/drawingml/2006/main">
            <a:r>
              <a:t>      },</a:t>
            </a:r>
          </a:p>
          <a:p xmlns:a="http://schemas.openxmlformats.org/drawingml/2006/main">
            <a:r>
              <a:t>      {</a:t>
            </a:r>
          </a:p>
          <a:p xmlns:a="http://schemas.openxmlformats.org/drawingml/2006/main">
            <a:r>
              <a:t>        "id": "SFR-015",</a:t>
            </a:r>
          </a:p>
          <a:p xmlns:a="http://schemas.openxmlformats.org/drawingml/2006/main">
            <a:r>
              <a:t>        "title": "실시간 데이터 수집 및 검증",</a:t>
            </a:r>
          </a:p>
          <a:p xmlns:a="http://schemas.openxmlformats.org/drawingml/2006/main">
            <a:r>
              <a:t>        "locator": "SFR-015",</a:t>
            </a:r>
          </a:p>
          <a:p xmlns:a="http://schemas.openxmlformats.org/drawingml/2006/main">
            <a:r>
              <a:t>        "summary": "OGG 기반 원천 변경 수집과 데이터 검증을 통한 실시간 연계. 수집 이후 정합성 확인이 필요한 데이터 흐름.",</a:t>
            </a:r>
          </a:p>
          <a:p xmlns:a="http://schemas.openxmlformats.org/drawingml/2006/main">
            <a:r>
              <a:t>        "data": "원천 DB 변경분 → 검증된 연계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"삽입·수정·삭제·중단 후 재개 시 건수·키·시점 대사와 중복 적재 여부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"bcca0bc62529ccf5ac36e787dc506c0b54f8f16e1b96c873fa31cca5157a057c"</a:t>
            </a:r>
          </a:p>
          <a:p xmlns:a="http://schemas.openxmlformats.org/drawingml/2006/main">
            <a:r>
              <a:t>      },</a:t>
            </a:r>
          </a:p>
          <a:p xmlns:a="http://schemas.openxmlformats.org/drawingml/2006/main">
            <a:r>
              <a:t>      {</a:t>
            </a:r>
          </a:p>
          <a:p xmlns:a="http://schemas.openxmlformats.org/drawingml/2006/main">
            <a:r>
              <a:t>        "id": "SFR-018",</a:t>
            </a:r>
          </a:p>
          <a:p xmlns:a="http://schemas.openxmlformats.org/drawingml/2006/main">
            <a:r>
              <a:t>        "title": "AI 기반 민원 자동 처리",</a:t>
            </a:r>
          </a:p>
          <a:p xmlns:a="http://schemas.openxmlformats.org/drawingml/2006/main">
            <a:r>
              <a:t>        "locator": "SFR-018",</a:t>
            </a:r>
          </a:p>
          <a:p xmlns:a="http://schemas.openxmlformats.org/drawingml/2006/main">
            <a:r>
              <a:t>        "summary": "AI 기반 민원 처리 지원에 담당자 검토·채택 결과를 연결하고 운영 개선에 활용하는 흐름.",</a:t>
            </a:r>
          </a:p>
          <a:p xmlns:a="http://schemas.openxmlformats.org/drawingml/2006/main">
            <a:r>
              <a:t>        "data": "처리 후보·담당자 검토 → 채택·수정 결과·피드백",</a:t>
            </a:r>
          </a:p>
          <a:p xmlns:a="http://schemas.openxmlformats.org/drawingml/2006/main">
            <a:r>
              <a:t>        "components": [</a:t>
            </a:r>
          </a:p>
          <a:p xmlns:a="http://schemas.openxmlformats.org/drawingml/2006/main">
            <a:r>
              <a:t>          "C04",</a:t>
            </a:r>
          </a:p>
          <a:p xmlns:a="http://schemas.openxmlformats.org/drawingml/2006/main">
            <a:r>
              <a:t>          "C06",</a:t>
            </a:r>
          </a:p>
          <a:p xmlns:a="http://schemas.openxmlformats.org/drawingml/2006/main">
            <a:r>
              <a:t>          "C08"</a:t>
            </a:r>
          </a:p>
          <a:p xmlns:a="http://schemas.openxmlformats.org/drawingml/2006/main">
            <a:r>
              <a:t>        ],</a:t>
            </a:r>
          </a:p>
          <a:p xmlns:a="http://schemas.openxmlformats.org/drawingml/2006/main">
            <a:r>
              <a:t>        "acceptance": "추천과 확정 상태를 구분하고 수정·반려가 다음 처리 기록에 누락 없이 남는지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"35bf9ae1174266075e30936c9e150e97a0d68cd55f83071656309743e2875dca"</a:t>
            </a:r>
          </a:p>
          <a:p xmlns:a="http://schemas.openxmlformats.org/drawingml/2006/main">
            <a:r>
              <a:t>      },</a:t>
            </a:r>
          </a:p>
          <a:p xmlns:a="http://schemas.openxmlformats.org/drawingml/2006/main">
            <a:r>
              <a:t>      {</a:t>
            </a:r>
          </a:p>
          <a:p xmlns:a="http://schemas.openxmlformats.org/drawingml/2006/main">
            <a:r>
              <a:t>        "id": "SFR-019",</a:t>
            </a:r>
          </a:p>
          <a:p xmlns:a="http://schemas.openxmlformats.org/drawingml/2006/main">
            <a:r>
              <a:t>        "title": "API 통합 관리 및 성능 모니터링",</a:t>
            </a:r>
          </a:p>
          <a:p xmlns:a="http://schemas.openxmlformats.org/drawingml/2006/main">
            <a:r>
              <a:t>        "locator": "SFR-019",</a:t>
            </a:r>
          </a:p>
          <a:p xmlns:a="http://schemas.openxmlformats.org/drawingml/2006/main">
            <a:r>
              <a:t>        "summary": "API 통합 관리와 성능 모니터링을 통한 업무 모듈·기간계 연결 관리.",</a:t>
            </a:r>
          </a:p>
          <a:p xmlns:a="http://schemas.openxmlformats.org/drawingml/2006/main">
            <a:r>
              <a:t>        "data": "API 요청·응답·호출 이력 → 상태·성능·오류 기록",</a:t>
            </a:r>
          </a:p>
          <a:p xmlns:a="http://schemas.openxmlformats.org/drawingml/2006/main">
            <a:r>
              <a:t>        "components": [</a:t>
            </a:r>
          </a:p>
          <a:p xmlns:a="http://schemas.openxmlformats.org/drawingml/2006/main">
            <a:r>
              <a:t>          "C02",</a:t>
            </a:r>
          </a:p>
          <a:p xmlns:a="http://schemas.openxmlformats.org/drawingml/2006/main">
            <a:r>
              <a:t>          "C07",</a:t>
            </a:r>
          </a:p>
          <a:p xmlns:a="http://schemas.openxmlformats.org/drawingml/2006/main">
            <a:r>
              <a:t>          "C08"</a:t>
            </a:r>
          </a:p>
          <a:p xmlns:a="http://schemas.openxmlformats.org/drawingml/2006/main">
            <a:r>
              <a:t>        ],</a:t>
            </a:r>
          </a:p>
          <a:p xmlns:a="http://schemas.openxmlformats.org/drawingml/2006/main">
            <a:r>
              <a:t>        "acceptance": "호출 실패·시간초과·중복 요청을 주입하고 호출 경로별 원인과 처리 상태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"ff7c0fe41f6cc841f53d73ace372872ebb0dfc391d7d7ca1a21b446c4dfa32b4"</a:t>
            </a:r>
          </a:p>
          <a:p xmlns:a="http://schemas.openxmlformats.org/drawingml/2006/main">
            <a:r>
              <a:t>      },</a:t>
            </a:r>
          </a:p>
          <a:p xmlns:a="http://schemas.openxmlformats.org/drawingml/2006/main">
            <a:r>
              <a:t>      {</a:t>
            </a:r>
          </a:p>
          <a:p xmlns:a="http://schemas.openxmlformats.org/drawingml/2006/main">
            <a:r>
              <a:t>        "id": "SFR-020",</a:t>
            </a:r>
          </a:p>
          <a:p xmlns:a="http://schemas.openxmlformats.org/drawingml/2006/main">
            <a:r>
              <a:t>        "title": "시스템 설정 및 운영 모니터링 통합 관리",</a:t>
            </a:r>
          </a:p>
          <a:p xmlns:a="http://schemas.openxmlformats.org/drawingml/2006/main">
            <a:r>
              <a:t>        "locator": "SFR-020",</a:t>
            </a:r>
          </a:p>
          <a:p xmlns:a="http://schemas.openxmlformats.org/drawingml/2006/main">
            <a:r>
              <a:t>        "summary": "시스템 설정과 운영 모니터링의 통합 관리. 업무 기능과 운영 정책의 일관된 상태 확인.",</a:t>
            </a:r>
          </a:p>
          <a:p xmlns:a="http://schemas.openxmlformats.org/drawingml/2006/main">
            <a:r>
              <a:t>        "data": "시스템 설정·운영 지표 → 관리 화면·이상 상태",</a:t>
            </a:r>
          </a:p>
          <a:p xmlns:a="http://schemas.openxmlformats.org/drawingml/2006/main">
            <a:r>
              <a:t>        "components": [</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"설정 변경 권한, 변경 전후 상태, 장애 탐지·복구 기록의 연결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"700952e7f3297506bdddffe81782d75953ec64aa85c0f75fd9ce24f75b54747a"</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"국민신문고 접점",</a:t>
            </a:r>
          </a:p>
          <a:p xmlns:a="http://schemas.openxmlformats.org/drawingml/2006/main">
            <a:r>
              <a:t>          "layer": "이용 접점",</a:t>
            </a:r>
          </a:p>
          <a:p xmlns:a="http://schemas.openxmlformats.org/drawingml/2006/main">
            <a:r>
              <a:t>          "detail": "민원 처리자·정책 분석자",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"요지·기관·유형",</a:t>
            </a:r>
          </a:p>
          <a:p xmlns:a="http://schemas.openxmlformats.org/drawingml/2006/main">
            <a:r>
              <a:t>          "layer": "업무 문맥",</a:t>
            </a:r>
          </a:p>
          <a:p xmlns:a="http://schemas.openxmlformats.org/drawingml/2006/main">
            <a:r>
              <a:t>          "detail": "민원요지·유형·처리기관 문맥 구성",</a:t>
            </a:r>
          </a:p>
          <a:p xmlns:a="http://schemas.openxmlformats.org/drawingml/2006/main">
            <a:r>
              <a:t>          "requirements": [</a:t>
            </a:r>
          </a:p>
          <a:p xmlns:a="http://schemas.openxmlformats.org/drawingml/2006/main">
            <a:r>
              <a:t>            "SFR-004",</a:t>
            </a:r>
          </a:p>
          <a:p xmlns:a="http://schemas.openxmlformats.org/drawingml/2006/main">
            <a:r>
              <a:t>            "SFR-019"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"키워드·벡터 검색",</a:t>
            </a:r>
          </a:p>
          <a:p xmlns:a="http://schemas.openxmlformats.org/drawingml/2006/main">
            <a:r>
              <a:t>          "layer": "자료 조회",</a:t>
            </a:r>
          </a:p>
          <a:p xmlns:a="http://schemas.openxmlformats.org/drawingml/2006/main">
            <a:r>
              <a:t>          "detail": "민원 본문",</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"재정렬·답변·군집",</a:t>
            </a:r>
          </a:p>
          <a:p xmlns:a="http://schemas.openxmlformats.org/drawingml/2006/main">
            <a:r>
              <a:t>          "layer": "핵심 처리",</a:t>
            </a:r>
          </a:p>
          <a:p xmlns:a="http://schemas.openxmlformats.org/drawingml/2006/main">
            <a:r>
              <a:t>          "detail": "RAG 답변 추천과 의미 유사도 군집",</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"SFR-018"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"동일 사건 대조",</a:t>
            </a:r>
          </a:p>
          <a:p xmlns:a="http://schemas.openxmlformats.org/drawingml/2006/main">
            <a:r>
              <a:t>          "layer": "결과 검증",</a:t>
            </a:r>
          </a:p>
          <a:p xmlns:a="http://schemas.openxmlformats.org/drawingml/2006/main">
            <a:r>
              <a:t>          "detail": "동일 사건 여부·개인정보 범위 검토",</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"담당자 수정",</a:t>
            </a:r>
          </a:p>
          <a:p xmlns:a="http://schemas.openxmlformats.org/drawingml/2006/main">
            <a:r>
              <a:t>          "layer": "사람 확인",</a:t>
            </a:r>
          </a:p>
          <a:p xmlns:a="http://schemas.openxmlformats.org/drawingml/2006/main">
            <a:r>
              <a:t>          "detail": "같은 사안의 반복 민원을 묶고 기관별 답변 초안 제시",</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"SFR-010",</a:t>
            </a:r>
          </a:p>
          <a:p xmlns:a="http://schemas.openxmlformats.org/drawingml/2006/main">
            <a:r>
              <a:t>            "SFR-018"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"민원 처리·분석",</a:t>
            </a:r>
          </a:p>
          <a:p xmlns:a="http://schemas.openxmlformats.org/drawingml/2006/main">
            <a:r>
              <a:t>          "layer": "업무 연결",</a:t>
            </a:r>
          </a:p>
          <a:p xmlns:a="http://schemas.openxmlformats.org/drawingml/2006/main">
            <a:r>
              <a:t>          "detail": "담당자의 군집·초안 수정 후 민원 처리",</a:t>
            </a:r>
          </a:p>
          <a:p xmlns:a="http://schemas.openxmlformats.org/drawingml/2006/main">
            <a:r>
              <a:t>          "requirements": [</a:t>
            </a:r>
          </a:p>
          <a:p xmlns:a="http://schemas.openxmlformats.org/drawingml/2006/main">
            <a:r>
              <a:t>            "SFR-019"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"오답·병합 오류",</a:t>
            </a:r>
          </a:p>
          <a:p xmlns:a="http://schemas.openxmlformats.org/drawingml/2006/main">
            <a:r>
              <a:t>          "layer": "운영 관측",</a:t>
            </a:r>
          </a:p>
          <a:p xmlns:a="http://schemas.openxmlformats.org/drawingml/2006/main">
            <a:r>
              <a:t>          "detail": "기관별 답변 적합성과 병합 오류 분석",</a:t>
            </a:r>
          </a:p>
          <a:p xmlns:a="http://schemas.openxmlformats.org/drawingml/2006/main">
            <a:r>
              <a:t>          "requirements": [</a:t>
            </a:r>
          </a:p>
          <a:p xmlns:a="http://schemas.openxmlformats.org/drawingml/2006/main">
            <a:r>
              <a:t>            "SFR-010",</a:t>
            </a:r>
          </a:p>
          <a:p xmlns:a="http://schemas.openxmlformats.org/drawingml/2006/main">
            <a:r>
              <a:t>            "SFR-018",</a:t>
            </a:r>
          </a:p>
          <a:p xmlns:a="http://schemas.openxmlformats.org/drawingml/2006/main">
            <a:r>
              <a:t>            "SFR-019",</a:t>
            </a:r>
          </a:p>
          <a:p xmlns:a="http://schemas.openxmlformats.org/drawingml/2006/main">
            <a:r>
              <a:t>            "SFR-020"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"민원·답변·지침",</a:t>
            </a:r>
          </a:p>
          <a:p xmlns:a="http://schemas.openxmlformats.org/drawingml/2006/main">
            <a:r>
              <a:t>          "layer": "데이터 원천",</a:t>
            </a:r>
          </a:p>
          <a:p xmlns:a="http://schemas.openxmlformats.org/drawingml/2006/main">
            <a:r>
              <a:t>          "detail": "민원·답변 자료",</a:t>
            </a:r>
          </a:p>
          <a:p xmlns:a="http://schemas.openxmlformats.org/drawingml/2006/main">
            <a:r>
              <a:t>          "requirements": [</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"OCR·메타정보 추출",</a:t>
            </a:r>
          </a:p>
          <a:p xmlns:a="http://schemas.openxmlformats.org/drawingml/2006/main">
            <a:r>
              <a:t>          "layer": "준비·갱신",</a:t>
            </a:r>
          </a:p>
          <a:p xmlns:a="http://schemas.openxmlformats.org/drawingml/2006/main">
            <a:r>
              <a:t>          "detail": "국민신문고·민원정보분석 자료의 연계·정제",</a:t>
            </a:r>
          </a:p>
          <a:p xmlns:a="http://schemas.openxmlformats.org/drawingml/2006/main">
            <a:r>
              <a:t>          "requirements": [</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"지식 DB·색인",</a:t>
            </a:r>
          </a:p>
          <a:p xmlns:a="http://schemas.openxmlformats.org/drawingml/2006/main">
            <a:r>
              <a:t>          "layer": "상태·지식 저장",</a:t>
            </a:r>
          </a:p>
          <a:p xmlns:a="http://schemas.openxmlformats.org/drawingml/2006/main">
            <a:r>
              <a:t>          "detail": "군집 정답표·잘못된 병합 건·담당자 수정 이력",</a:t>
            </a:r>
          </a:p>
          <a:p xmlns:a="http://schemas.openxmlformats.org/drawingml/2006/main">
            <a:r>
              <a:t>          "requirements": [</a:t>
            </a:r>
          </a:p>
          <a:p xmlns:a="http://schemas.openxmlformats.org/drawingml/2006/main">
            <a:r>
              <a:t>            "SFR-011",</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"모델·프롬프트 관리",</a:t>
            </a:r>
          </a:p>
          <a:p xmlns:a="http://schemas.openxmlformats.org/drawingml/2006/main">
            <a:r>
              <a:t>          "layer": "권한·정책",</a:t>
            </a:r>
          </a:p>
          <a:p xmlns:a="http://schemas.openxmlformats.org/drawingml/2006/main">
            <a:r>
              <a:t>          "detail": "표현이 같은 다른 사건·소관기관 차이·반대 취지",</a:t>
            </a:r>
          </a:p>
          <a:p xmlns:a="http://schemas.openxmlformats.org/drawingml/2006/main">
            <a:r>
              <a:t>          "requirements": [</a:t>
            </a:r>
          </a:p>
          <a:p xmlns:a="http://schemas.openxmlformats.org/drawingml/2006/main">
            <a:r>
              <a:t>            "SFR-010",</a:t>
            </a:r>
          </a:p>
          <a:p xmlns:a="http://schemas.openxmlformats.org/drawingml/2006/main">
            <a:r>
              <a:t>            "SFR-020"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"민원요지·유형·처리기관 문맥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"민원 본문",</a:t>
            </a:r>
          </a:p>
          <a:p xmlns:a="http://schemas.openxmlformats.org/drawingml/2006/main">
            <a:r>
              <a:t>          "check": "동일 사건 여부·개인정보 범위 검토"</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"유사 사건",</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"답변 초안·유사군 후보·근거 문서",</a:t>
            </a:r>
          </a:p>
          <a:p xmlns:a="http://schemas.openxmlformats.org/drawingml/2006/main">
            <a:r>
              <a:t>          "check": "표현이 같은 다른 사건·소관기관 차이·반대 취지"</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"추천 답변",</a:t>
            </a:r>
          </a:p>
          <a:p xmlns:a="http://schemas.openxmlformats.org/drawingml/2006/main">
            <a:r>
              <a:t>          "check": "담당자의 군집·초안 수정 후 민원 처리"</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"수정·회신",</a:t>
            </a:r>
          </a:p>
          <a:p xmlns:a="http://schemas.openxmlformats.org/drawingml/2006/main">
            <a:r>
              <a:t>          "check": "군집 정답표·잘못된 병합 건·담당자 수정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"목표시스템 개념도·RAG 구성 예시",</a:t>
            </a:r>
          </a:p>
          <a:p xmlns:a="http://schemas.openxmlformats.org/drawingml/2006/main">
            <a:r>
              <a:t>        "extracted": "API Gateway, OCR·메타정보 추출, 키워드/벡터 검색과 재정렬",</a:t>
            </a:r>
          </a:p>
          <a:p xmlns:a="http://schemas.openxmlformats.org/drawingml/2006/main">
            <a:r>
              <a:t>        "extension": "민원 중복 후보와 공식 병합·회신의 승인 경계"</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"PF-R02",</a:t>
            </a:r>
          </a:p>
          <a:p xmlns:a="http://schemas.openxmlformats.org/drawingml/2006/main">
            <a:r>
              <a:t>          "path": "assets/casebook-sources/PF-R02-01.png",</a:t>
            </a:r>
          </a:p>
          <a:p xmlns:a="http://schemas.openxmlformats.org/drawingml/2006/main">
            <a:r>
              <a:t>          "title": "국민소통 플랫폼 목표시스템",</a:t>
            </a:r>
          </a:p>
          <a:p xmlns:a="http://schemas.openxmlformats.org/drawingml/2006/main">
            <a:r>
              <a:t>          "status": "RFP 목표시스템 개념도",</a:t>
            </a:r>
          </a:p>
          <a:p xmlns:a="http://schemas.openxmlformats.org/drawingml/2006/main">
            <a:r>
              <a:t>          "caption": "접점·API Gateway·업무 모듈·데이터 처리·운영 관리",</a:t>
            </a:r>
          </a:p>
          <a:p xmlns:a="http://schemas.openxmlformats.org/drawingml/2006/main">
            <a:r>
              <a:t>          "locator": "NIA_RFP_RFP / BinData/image33_bmp",</a:t>
            </a:r>
          </a:p>
          <a:p xmlns:a="http://schemas.openxmlformats.org/drawingml/2006/main">
            <a:r>
              <a:t>          "checked": "2026-10-16",</a:t>
            </a:r>
          </a:p>
          <a:p xmlns:a="http://schemas.openxmlformats.org/drawingml/2006/main">
            <a:r>
              <a:t>          "sha256": "91feb890184edf04ccccd8d86995147aa6c2181b0a66c58436263cafccdae911",</a:t>
            </a:r>
          </a:p>
          <a:p xmlns:a="http://schemas.openxmlformats.org/drawingml/2006/main">
            <a:r>
              <a:t>          "explanation": {</a:t>
            </a:r>
          </a:p>
          <a:p xmlns:a="http://schemas.openxmlformats.org/drawingml/2006/main">
            <a:r>
              <a:t>            "read": "접점에서 받은 요청을 API Gateway를 통해 민원 답변·분석·중복 식별 모듈로 전달하는 목표 구성. 데이터 처리 계층은 공통 근거를 공급하고 운영 관리 계층은 서비스·모델 상태를 관찰하는 역할.",</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"SFR-019",</a:t>
            </a:r>
          </a:p>
          <a:p xmlns:a="http://schemas.openxmlformats.org/drawingml/2006/main">
            <a:r>
              <a:t>              "SFR-020"</a:t>
            </a:r>
          </a:p>
          <a:p xmlns:a="http://schemas.openxmlformats.org/drawingml/2006/main">
            <a:r>
              <a:t>            ],</a:t>
            </a:r>
          </a:p>
          <a:p xmlns:a="http://schemas.openxmlformats.org/drawingml/2006/main">
            <a:r>
              <a:t>            "connection": "담당자 답변 초안, 유사민원 후보, 정책 분석 결과를 서로 다른 출력 계약으로 정의하고 기존 민원시스템의 확정·회신 절차에 연결하는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"assets/casebook-sources/PF-R02-02.png",</a:t>
            </a:r>
          </a:p>
          <a:p xmlns:a="http://schemas.openxmlformats.org/drawingml/2006/main">
            <a:r>
              <a:t>          "title": "키워드·벡터 검색과 Reranker",</a:t>
            </a:r>
          </a:p>
          <a:p xmlns:a="http://schemas.openxmlformats.org/drawingml/2006/main">
            <a:r>
              <a:t>          "status": "RFP RAG 구성 예시",</a:t>
            </a:r>
          </a:p>
          <a:p xmlns:a="http://schemas.openxmlformats.org/drawingml/2006/main">
            <a:r>
              <a:t>          "caption": "키워드/벡터 검색 병렬 처리 → 재정렬 → 근거 응답",</a:t>
            </a:r>
          </a:p>
          <a:p xmlns:a="http://schemas.openxmlformats.org/drawingml/2006/main">
            <a:r>
              <a:t>          "locator": "NIA_RFP_RFP / BinData/image18_bmp",</a:t>
            </a:r>
          </a:p>
          <a:p xmlns:a="http://schemas.openxmlformats.org/drawingml/2006/main">
            <a:r>
              <a:t>          "checked": "2026-10-16",</a:t>
            </a:r>
          </a:p>
          <a:p xmlns:a="http://schemas.openxmlformats.org/drawingml/2006/main">
            <a:r>
              <a:t>          "sha256": "a6ab4248256ee300422789627dbe5b8f09ec60657419e13d082c95b32f3f4f90",</a:t>
            </a:r>
          </a:p>
          <a:p xmlns:a="http://schemas.openxmlformats.org/drawingml/2006/main">
            <a:r>
              <a:t>          "explanation": {</a:t>
            </a:r>
          </a:p>
          <a:p xmlns:a="http://schemas.openxmlformats.org/drawingml/2006/main">
            <a:r>
              <a:t>            "read": "키워드 검색은 정확한 용어·조항의 일치 후보, 벡터 검색은 표현이 다른 유사 의미 후보를 제공. Reranker는 통합 후보를 질의 관련성에 따라 다시 정렬하고 생성 모델에 근거를 전달하는 역할.",</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a:t>
            </a:r>
          </a:p>
          <a:p xmlns:a="http://schemas.openxmlformats.org/drawingml/2006/main">
            <a:r>
              <a:t>            "connection": "재정렬 점수를 법적 정답이나 민원 병합 승인으로 해석하지 않고 기관·사건·시점과 출처 일치를 별도로 확인하는 검증 단계의 추가."</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"assets/casebook-sources/PF-R02-03.png",</a:t>
            </a:r>
          </a:p>
          <a:p xmlns:a="http://schemas.openxmlformats.org/drawingml/2006/main">
            <a:r>
              <a:t>          "title": "민원 AI 입출력 데이터",</a:t>
            </a:r>
          </a:p>
          <a:p xmlns:a="http://schemas.openxmlformats.org/drawingml/2006/main">
            <a:r>
              <a:t>          "status": "RFP 데이터 흐름도",</a:t>
            </a:r>
          </a:p>
          <a:p xmlns:a="http://schemas.openxmlformats.org/drawingml/2006/main">
            <a:r>
              <a:t>          "caption": "국민신문고·시범기관 매뉴얼 → 전처리·RAG → 답변·유사도",</a:t>
            </a:r>
          </a:p>
          <a:p xmlns:a="http://schemas.openxmlformats.org/drawingml/2006/main">
            <a:r>
              <a:t>          "locator": "NIA_RFP_RFP / BinData/image34_bmp",</a:t>
            </a:r>
          </a:p>
          <a:p xmlns:a="http://schemas.openxmlformats.org/drawingml/2006/main">
            <a:r>
              <a:t>          "checked": "2026-10-16",</a:t>
            </a:r>
          </a:p>
          <a:p xmlns:a="http://schemas.openxmlformats.org/drawingml/2006/main">
            <a:r>
              <a:t>          "sha256": "0e09409295bbb0aae0a61666cf01982d012392b3f4bccd2e98499654b4b690d0",</a:t>
            </a:r>
          </a:p>
          <a:p xmlns:a="http://schemas.openxmlformats.org/drawingml/2006/main">
            <a:r>
              <a:t>          "explanation": {</a:t>
            </a:r>
          </a:p>
          <a:p xmlns:a="http://schemas.openxmlformats.org/drawingml/2006/main">
            <a:r>
              <a:t>            "read": "국민신문고 데이터와 시범기관 매뉴얼 등 입력을 전처리·RAG 경로에 투입하고 업무별 답변·유사도 결과로 변환하는 입출력 구조. 동일 원천을 이용하더라도 답변과 군집의 산출물은 별도 관리 대상.",</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"SFR-015",</a:t>
            </a:r>
          </a:p>
          <a:p xmlns:a="http://schemas.openxmlformats.org/drawingml/2006/main">
            <a:r>
              <a:t>              "SFR-018"</a:t>
            </a:r>
          </a:p>
          <a:p xmlns:a="http://schemas.openxmlformats.org/drawingml/2006/main">
            <a:r>
              <a:t>            ],</a:t>
            </a:r>
          </a:p>
          <a:p xmlns:a="http://schemas.openxmlformats.org/drawingml/2006/main">
            <a:r>
              <a:t>            "connection": "원천 민원 ID·문서 판본·근거 위치를 결과에 유지해 담당자 수정과 최종 회신의 차이를 재현할 수 있도록 하는 데이터 계약."</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"assets/casebook-sources/PF-R02-04.png",</a:t>
            </a:r>
          </a:p>
          <a:p xmlns:a="http://schemas.openxmlformats.org/drawingml/2006/main">
            <a:r>
              <a:t>          "title": "데이터 구축·학습·운영 흐름",</a:t>
            </a:r>
          </a:p>
          <a:p xmlns:a="http://schemas.openxmlformats.org/drawingml/2006/main">
            <a:r>
              <a:t>          "status": "RFP 데이터 처리 구조",</a:t>
            </a:r>
          </a:p>
          <a:p xmlns:a="http://schemas.openxmlformats.org/drawingml/2006/main">
            <a:r>
              <a:t>          "caption": "수집·정제·가공·학습·운영의 환류",</a:t>
            </a:r>
          </a:p>
          <a:p xmlns:a="http://schemas.openxmlformats.org/drawingml/2006/main">
            <a:r>
              <a:t>          "locator": "NIA_RFP_RFP / BinData/image32_png",</a:t>
            </a:r>
          </a:p>
          <a:p xmlns:a="http://schemas.openxmlformats.org/drawingml/2006/main">
            <a:r>
              <a:t>          "checked": "2026-10-16",</a:t>
            </a:r>
          </a:p>
          <a:p xmlns:a="http://schemas.openxmlformats.org/drawingml/2006/main">
            <a:r>
              <a:t>          "sha256": "b6c466b110d91bceff5a9f806d658aa54f010e0a5b8a358a16771181bea77c50",</a:t>
            </a:r>
          </a:p>
          <a:p xmlns:a="http://schemas.openxmlformats.org/drawingml/2006/main">
            <a:r>
              <a:t>          "explanation": {</a:t>
            </a:r>
          </a:p>
          <a:p xmlns:a="http://schemas.openxmlformats.org/drawingml/2006/main">
            <a:r>
              <a:t>            "read": "수집·정제·가공·학습·운영이 연결된 데이터 생애주기. 온라인 요청 처리와 모델·지식 갱신의 작업이 서로 다른 주기로 수행되는 구성.",</a:t>
            </a:r>
          </a:p>
          <a:p xmlns:a="http://schemas.openxmlformats.org/drawingml/2006/main">
            <a:r>
              <a:t>            "requirements": [</a:t>
            </a:r>
          </a:p>
          <a:p xmlns:a="http://schemas.openxmlformats.org/drawingml/2006/main">
            <a:r>
              <a:t>              "SFR-015",</a:t>
            </a:r>
          </a:p>
          <a:p xmlns:a="http://schemas.openxmlformats.org/drawingml/2006/main">
            <a:r>
              <a:t>              "SFR-018",</a:t>
            </a:r>
          </a:p>
          <a:p xmlns:a="http://schemas.openxmlformats.org/drawingml/2006/main">
            <a:r>
              <a:t>              "SFR-020"</a:t>
            </a:r>
          </a:p>
          <a:p xmlns:a="http://schemas.openxmlformats.org/drawingml/2006/main">
            <a:r>
              <a:t>            ],</a:t>
            </a:r>
          </a:p>
          <a:p xmlns:a="http://schemas.openxmlformats.org/drawingml/2006/main">
            <a:r>
              <a:t>            "connection": "원천 변경 시 수집 완료·정제 완료·색인 반영 상태를 분리하고 실패 자료만 재처리하는 운영 설계. 검토 피드백의 자동 학습 투입 전 품질 확인 단계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"표현이 같은 다른 사건·소관기관 차이·반대 취지",</a:t>
            </a:r>
          </a:p>
          <a:p xmlns:a="http://schemas.openxmlformats.org/drawingml/2006/main">
            <a:r>
              <a:t>        "hold": "동일 사건 여부·개인정보 범위 검토",</a:t>
            </a:r>
          </a:p>
          <a:p xmlns:a="http://schemas.openxmlformats.org/drawingml/2006/main">
            <a:r>
              <a:t>        "recovery": "기관별 답변 적합성과 병합 오류 분석",</a:t>
            </a:r>
          </a:p>
          <a:p xmlns:a="http://schemas.openxmlformats.org/drawingml/2006/main">
            <a:r>
              <a:t>        "evidence": "군집 정답표·잘못된 병합 건·담당자 수정 이력"</a:t>
            </a:r>
          </a:p>
          <a:p xmlns:a="http://schemas.openxmlformats.org/drawingml/2006/main">
            <a:r>
              <a:t>      },</a:t>
            </a:r>
          </a:p>
          <a:p xmlns:a="http://schemas.openxmlformats.org/drawingml/2006/main">
            <a:r>
              <a:t>      "data": {</a:t>
            </a:r>
          </a:p>
          <a:p xmlns:a="http://schemas.openxmlformats.org/drawingml/2006/main">
            <a:r>
              <a:t>        "source": "민원·답변 자료",</a:t>
            </a:r>
          </a:p>
          <a:p xmlns:a="http://schemas.openxmlformats.org/drawingml/2006/main">
            <a:r>
              <a:t>        "prepare": "국민신문고·민원정보분석 자료의 연계·정제",</a:t>
            </a:r>
          </a:p>
          <a:p xmlns:a="http://schemas.openxmlformats.org/drawingml/2006/main">
            <a:r>
              <a:t>        "output": "민원 본문",</a:t>
            </a:r>
          </a:p>
          <a:p xmlns:a="http://schemas.openxmlformats.org/drawingml/2006/main">
            <a:r>
              <a:t>        "refresh": "기관별 답변 적합성과 병합 오류 분석"</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"PF-R02",</a:t>
            </a:r>
          </a:p>
          <a:p xmlns:a="http://schemas.openxmlformats.org/drawingml/2006/main">
            <a:r>
              <a:t>    "success": [</a:t>
            </a:r>
          </a:p>
          <a:p xmlns:a="http://schemas.openxmlformats.org/drawingml/2006/main">
            <a:r>
              <a:t>      "유사민원과 답변 추천 결합",</a:t>
            </a:r>
          </a:p>
          <a:p xmlns:a="http://schemas.openxmlformats.org/drawingml/2006/main">
            <a:r>
              <a:t>      "현업 수정을 반영한 활용"</a:t>
            </a:r>
          </a:p>
          <a:p xmlns:a="http://schemas.openxmlformats.org/drawingml/2006/main">
            <a:r>
              <a:t>    ],</a:t>
            </a:r>
          </a:p>
          <a:p xmlns:a="http://schemas.openxmlformats.org/drawingml/2006/main">
            <a:r>
              <a:t>    "risks": [</a:t>
            </a:r>
          </a:p>
          <a:p xmlns:a="http://schemas.openxmlformats.org/drawingml/2006/main">
            <a:r>
              <a:t>      "다른 사건의 무리한 병합",</a:t>
            </a:r>
          </a:p>
          <a:p xmlns:a="http://schemas.openxmlformats.org/drawingml/2006/main">
            <a:r>
              <a:t>      "답변 추천을 공식 회신으로 오인"</a:t>
            </a:r>
          </a:p>
          <a:p xmlns:a="http://schemas.openxmlformats.org/drawingml/2006/main">
            <a:r>
              <a:t>    ],</a:t>
            </a:r>
          </a:p>
          <a:p xmlns:a="http://schemas.openxmlformats.org/drawingml/2006/main">
            <a:r>
              <a:t>    "architecture": [</a:t>
            </a:r>
          </a:p>
          <a:p xmlns:a="http://schemas.openxmlformats.org/drawingml/2006/main">
            <a:r>
              <a:t>      "국민신문고",</a:t>
            </a:r>
          </a:p>
          <a:p xmlns:a="http://schemas.openxmlformats.org/drawingml/2006/main">
            <a:r>
              <a:t>      "분류·답변 추천",</a:t>
            </a:r>
          </a:p>
          <a:p xmlns:a="http://schemas.openxmlformats.org/drawingml/2006/main">
            <a:r>
              <a:t>      "민원·답변 자료",</a:t>
            </a:r>
          </a:p>
          <a:p xmlns:a="http://schemas.openxmlformats.org/drawingml/2006/main">
            <a:r>
              <a:t>      "민원 담당"</a:t>
            </a:r>
          </a:p>
          <a:p xmlns:a="http://schemas.openxmlformats.org/drawingml/2006/main">
            <a:r>
              <a:t>    ],</a:t>
            </a:r>
          </a:p>
          <a:p xmlns:a="http://schemas.openxmlformats.org/drawingml/2006/main">
            <a:r>
              <a:t>    "transfers": [</a:t>
            </a:r>
          </a:p>
          <a:p xmlns:a="http://schemas.openxmlformats.org/drawingml/2006/main">
            <a:r>
              <a:t>      "민원 본문",</a:t>
            </a:r>
          </a:p>
          <a:p xmlns:a="http://schemas.openxmlformats.org/drawingml/2006/main">
            <a:r>
              <a:t>      "유사 사건",</a:t>
            </a:r>
          </a:p>
          <a:p xmlns:a="http://schemas.openxmlformats.org/drawingml/2006/main">
            <a:r>
              <a:t>      "추천 답변",</a:t>
            </a:r>
          </a:p>
          <a:p xmlns:a="http://schemas.openxmlformats.org/drawingml/2006/main">
            <a:r>
              <a:t>      "수정·회신"</a:t>
            </a:r>
          </a:p>
          <a:p xmlns:a="http://schemas.openxmlformats.org/drawingml/2006/main">
            <a:r>
              <a:t>    ],</a:t>
            </a:r>
          </a:p>
          <a:p xmlns:a="http://schemas.openxmlformats.org/drawingml/2006/main">
            <a:r>
              <a:t>    "control": "동일 사건 여부·개인정보 범위 검토",</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추진계획·성과지표, 기능 요구사항 / Word T035 https://www.nia.or.kr/common/board/Download.do?bcIdx=28233&amp;cbIdx=78336&amp;fileNo=2</a:t>
            </a:r>
          </a:p>
          <a:p xmlns:a="http://schemas.openxmlformats.org/drawingml/2006/main">
            <a:r>
              <a:t>홈페이지 https://heen1987-ops.github.io/TS-business-Plan-001/index.html?view=platform-cases&amp;case=PF-R02</a:t>
            </a:r>
          </a:p>
          <a:p xmlns:a="http://schemas.openxmlformats.org/drawingml/2006/main">
            <a:r>
              <a:t>원문 도면 {"caseId":"PF-R02","path":"assets/casebook-sources/PF-R02-03.png","title":"민원 AI 입출력 데이터","status":"RFP 데이터 흐름도","caption":"국민신문고·시범기관 매뉴얼 → 전처리·RAG → 답변·유사도","locator":"NIA_RFP_RFP / BinData/image34_bmp","checked":"2026-10-16","sha256":"0e09409295bbb0aae0a61666cf01982d012392b3f4bccd2e98499654b4b690d0","explanation":{"read":"국민신문고 데이터와 시범기관 매뉴얼 등 입력을 전처리·RAG 경로에 투입하고 업무별 답변·유사도 결과로 변환하는 입출력 구조. 동일 원천을 이용하더라도 답변과 군집의 산출물은 별도 관리 대상.","requirements":["SFR-005","SFR-006","SFR-015","SFR-018"],"connection":"원천 민원 ID·문서 판본·근거 위치를 결과에 유지해 담당자 수정과 최종 회신의 차이를 재현할 수 있도록 하는 데이터 계약."}}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"PF-R02",</a:t>
            </a:r>
          </a:p>
          <a:p xmlns:a="http://schemas.openxmlformats.org/drawingml/2006/main">
            <a:r>
              <a:t>    "sourceId": "R02",</a:t>
            </a:r>
          </a:p>
          <a:p xmlns:a="http://schemas.openxmlformats.org/drawingml/2006/main">
            <a:r>
              <a:t>    "title": "국민권익위 민원 AI",</a:t>
            </a:r>
          </a:p>
          <a:p xmlns:a="http://schemas.openxmlformats.org/drawingml/2006/main">
            <a:r>
              <a:t>    "region": "국내",</a:t>
            </a:r>
          </a:p>
          <a:p xmlns:a="http://schemas.openxmlformats.org/drawingml/2006/main">
            <a:r>
              <a:t>    "owner": "국민권익위원회·NIA",</a:t>
            </a:r>
          </a:p>
          <a:p xmlns:a="http://schemas.openxmlformats.org/drawingml/2006/main">
            <a:r>
              <a:t>    "state": "공식 서비스 개시 확인(2026-02-05)",</a:t>
            </a:r>
          </a:p>
          <a:p xmlns:a="http://schemas.openxmlformats.org/drawingml/2006/main">
            <a:r>
              <a:t>    "period": "기존 원장 확인 2026.10.16",</a:t>
            </a:r>
          </a:p>
          <a:p xmlns:a="http://schemas.openxmlformats.org/drawingml/2006/main">
            <a:r>
              <a:t>    "fact": "민원답변 추천·빈발중복민원 병합·의미 기반 민원 분석",</a:t>
            </a:r>
          </a:p>
          <a:p xmlns:a="http://schemas.openxmlformats.org/drawingml/2006/main">
            <a:r>
              <a:t>    "limit": "추천답변 도출시간·배정 처리시간·최종 답변 처리시간의 정의와 분모를 구분해야 함",</a:t>
            </a:r>
          </a:p>
          <a:p xmlns:a="http://schemas.openxmlformats.org/drawingml/2006/main">
            <a:r>
              <a:t>    "nodes": [</a:t>
            </a:r>
          </a:p>
          <a:p xmlns:a="http://schemas.openxmlformats.org/drawingml/2006/main">
            <a:r>
              <a:t>      "국민신문고",</a:t>
            </a:r>
          </a:p>
          <a:p xmlns:a="http://schemas.openxmlformats.org/drawingml/2006/main">
            <a:r>
              <a:t>      "분류·유사민원",</a:t>
            </a:r>
          </a:p>
          <a:p xmlns:a="http://schemas.openxmlformats.org/drawingml/2006/main">
            <a:r>
              <a:t>      "답변 추천",</a:t>
            </a:r>
          </a:p>
          <a:p xmlns:a="http://schemas.openxmlformats.org/drawingml/2006/main">
            <a:r>
              <a:t>      "현업 수정"</a:t>
            </a:r>
          </a:p>
          <a:p xmlns:a="http://schemas.openxmlformats.org/drawingml/2006/main">
            <a:r>
              <a:t>    ],</a:t>
            </a:r>
          </a:p>
          <a:p xmlns:a="http://schemas.openxmlformats.org/drawingml/2006/main">
            <a:r>
              <a:t>    "apply": "유사 문구와 동일 사건을 구분하는 민원 분류 및 소관부서별 답변 검토",</a:t>
            </a:r>
          </a:p>
          <a:p xmlns:a="http://schemas.openxmlformats.org/drawingml/2006/main">
            <a:r>
              <a:t>    "delta": "민원 사건·기관·업무 분류 / 유사군 검토 UI / 현업 수정 이력",</a:t>
            </a:r>
          </a:p>
          <a:p xmlns:a="http://schemas.openxmlformats.org/drawingml/2006/main">
            <a:r>
              <a:t>    "test": "같은 표현의 다른 사건·반대 취지 민원에 대한 오병합·답변 오류 측정",</a:t>
            </a:r>
          </a:p>
          <a:p xmlns:a="http://schemas.openxmlformats.org/drawingml/2006/main">
            <a:r>
              <a:t>    "url": "https://www.nia.or.kr/common/board/Download.do?bcIdx=28233&amp;cbIdx=78336&amp;fileNo=2",</a:t>
            </a:r>
          </a:p>
          <a:p xmlns:a="http://schemas.openxmlformats.org/drawingml/2006/main">
            <a:r>
              <a:t>    "urls": [</a:t>
            </a:r>
          </a:p>
          <a:p xmlns:a="http://schemas.openxmlformats.org/drawingml/2006/main">
            <a:r>
              <a:t>      "https://www.nia.or.kr/common/board/Download.do?bcIdx=28233&amp;cbIdx=78336&amp;fileNo=2",</a:t>
            </a:r>
          </a:p>
          <a:p xmlns:a="http://schemas.openxmlformats.org/drawingml/2006/main">
            <a:r>
              <a:t>      "https://www.acrc.go.kr/board.es?act=view&amp;bid=ACH&amp;list_no=106584&amp;mid=a10403070000&amp;nPage=1"</a:t>
            </a:r>
          </a:p>
          <a:p xmlns:a="http://schemas.openxmlformats.org/drawingml/2006/main">
            <a:r>
              <a:t>    ],</a:t>
            </a:r>
          </a:p>
          <a:p xmlns:a="http://schemas.openxmlformats.org/drawingml/2006/main">
            <a:r>
              <a:t>    "basis": "추진계획·성과지표, 기능 요구사항 / Word T035",</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"민원 분류 정확도 / 오병합률 / 최종 답변 작성시간",</a:t>
            </a:r>
          </a:p>
          <a:p xmlns:a="http://schemas.openxmlformats.org/drawingml/2006/main">
            <a:r>
              <a:t>    "group": "요구·구축",</a:t>
            </a:r>
          </a:p>
          <a:p xmlns:a="http://schemas.openxmlformats.org/drawingml/2006/main">
            <a:r>
              <a:t>    "sourceDetail": "국민신문고/민원정보분석 연계, RAG·요약·유사도 군집, 현업 수정 및 시범기관 확산",</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"PF-R02",</a:t>
            </a:r>
          </a:p>
          <a:p xmlns:a="http://schemas.openxmlformats.org/drawingml/2006/main">
            <a:r>
              <a:t>    "canonicalId": "PF-R02",</a:t>
            </a:r>
          </a:p>
          <a:p xmlns:a="http://schemas.openxmlformats.org/drawingml/2006/main">
            <a:r>
              <a:t>    "purpose": "민원답변 추천과 빈발·중복민원 분석",</a:t>
            </a:r>
          </a:p>
          <a:p xmlns:a="http://schemas.openxmlformats.org/drawingml/2006/main">
            <a:r>
              <a:t>    "users": "민원 처리자·정책 분석자",</a:t>
            </a:r>
          </a:p>
          <a:p xmlns:a="http://schemas.openxmlformats.org/drawingml/2006/main">
            <a:r>
              <a:t>    "scope": [</a:t>
            </a:r>
          </a:p>
          <a:p xmlns:a="http://schemas.openxmlformats.org/drawingml/2006/main">
            <a:r>
              <a:t>      "답변 초안",</a:t>
            </a:r>
          </a:p>
          <a:p xmlns:a="http://schemas.openxmlformats.org/drawingml/2006/main">
            <a:r>
              <a:t>      "유사민원 병합",</a:t>
            </a:r>
          </a:p>
          <a:p xmlns:a="http://schemas.openxmlformats.org/drawingml/2006/main">
            <a:r>
              <a:t>      "의미 분석"</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"국민신문고",</a:t>
            </a:r>
          </a:p>
          <a:p xmlns:a="http://schemas.openxmlformats.org/drawingml/2006/main">
            <a:r>
              <a:t>        "detail": "민원요지·유형·처리기관 문맥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"답변 초안 / 유사민원 병합 / 의미 분석",</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"분류·답변 추천",</a:t>
            </a:r>
          </a:p>
          <a:p xmlns:a="http://schemas.openxmlformats.org/drawingml/2006/main">
            <a:r>
              <a:t>        "detail": "RAG 답변 추천과 의미 유사도 군집",</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"민원 담당",</a:t>
            </a:r>
          </a:p>
          <a:p xmlns:a="http://schemas.openxmlformats.org/drawingml/2006/main">
            <a:r>
              <a:t>        "detail": "담당자의 군집·초안 수정 후 민원 처리",</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"민원·답변 자료",</a:t>
            </a:r>
          </a:p>
          <a:p xmlns:a="http://schemas.openxmlformats.org/drawingml/2006/main">
            <a:r>
              <a:t>        "detail": "국민신문고·민원정보분석 자료의 연계·정제",</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"기관별 답변 적합성과 병합 오류 분석",</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"국민신문고",</a:t>
            </a:r>
          </a:p>
          <a:p xmlns:a="http://schemas.openxmlformats.org/drawingml/2006/main">
            <a:r>
              <a:t>        "input": "민원요지·유형·처리기관 문맥 구성",</a:t>
            </a:r>
          </a:p>
          <a:p xmlns:a="http://schemas.openxmlformats.org/drawingml/2006/main">
            <a:r>
              <a:t>        "process": "국민신문고·민원정보분석 자료의 연계·정제",</a:t>
            </a:r>
          </a:p>
          <a:p xmlns:a="http://schemas.openxmlformats.org/drawingml/2006/main">
            <a:r>
              <a:t>        "output": "민원 본문"</a:t>
            </a:r>
          </a:p>
          <a:p xmlns:a="http://schemas.openxmlformats.org/drawingml/2006/main">
            <a:r>
              <a:t>      },</a:t>
            </a:r>
          </a:p>
          <a:p xmlns:a="http://schemas.openxmlformats.org/drawingml/2006/main">
            <a:r>
              <a:t>      {</a:t>
            </a:r>
          </a:p>
          <a:p xmlns:a="http://schemas.openxmlformats.org/drawingml/2006/main">
            <a:r>
              <a:t>        "title": "분류·유사민원",</a:t>
            </a:r>
          </a:p>
          <a:p xmlns:a="http://schemas.openxmlformats.org/drawingml/2006/main">
            <a:r>
              <a:t>        "input": "민원 본문",</a:t>
            </a:r>
          </a:p>
          <a:p xmlns:a="http://schemas.openxmlformats.org/drawingml/2006/main">
            <a:r>
              <a:t>        "process": "RAG 답변 추천과 의미 유사도 군집",</a:t>
            </a:r>
          </a:p>
          <a:p xmlns:a="http://schemas.openxmlformats.org/drawingml/2006/main">
            <a:r>
              <a:t>        "output": "유사 사건"</a:t>
            </a:r>
          </a:p>
          <a:p xmlns:a="http://schemas.openxmlformats.org/drawingml/2006/main">
            <a:r>
              <a:t>      },</a:t>
            </a:r>
          </a:p>
          <a:p xmlns:a="http://schemas.openxmlformats.org/drawingml/2006/main">
            <a:r>
              <a:t>      {</a:t>
            </a:r>
          </a:p>
          <a:p xmlns:a="http://schemas.openxmlformats.org/drawingml/2006/main">
            <a:r>
              <a:t>        "title": "답변 추천",</a:t>
            </a:r>
          </a:p>
          <a:p xmlns:a="http://schemas.openxmlformats.org/drawingml/2006/main">
            <a:r>
              <a:t>        "input": "유사 사건",</a:t>
            </a:r>
          </a:p>
          <a:p xmlns:a="http://schemas.openxmlformats.org/drawingml/2006/main">
            <a:r>
              <a:t>        "process": "동일 사건 여부·개인정보 범위 검토",</a:t>
            </a:r>
          </a:p>
          <a:p xmlns:a="http://schemas.openxmlformats.org/drawingml/2006/main">
            <a:r>
              <a:t>        "output": "추천 답변"</a:t>
            </a:r>
          </a:p>
          <a:p xmlns:a="http://schemas.openxmlformats.org/drawingml/2006/main">
            <a:r>
              <a:t>      },</a:t>
            </a:r>
          </a:p>
          <a:p xmlns:a="http://schemas.openxmlformats.org/drawingml/2006/main">
            <a:r>
              <a:t>      {</a:t>
            </a:r>
          </a:p>
          <a:p xmlns:a="http://schemas.openxmlformats.org/drawingml/2006/main">
            <a:r>
              <a:t>        "title": "현업 수정",</a:t>
            </a:r>
          </a:p>
          <a:p xmlns:a="http://schemas.openxmlformats.org/drawingml/2006/main">
            <a:r>
              <a:t>        "input": "추천 답변",</a:t>
            </a:r>
          </a:p>
          <a:p xmlns:a="http://schemas.openxmlformats.org/drawingml/2006/main">
            <a:r>
              <a:t>        "process": "담당자의 군집·초안 수정 후 민원 처리",</a:t>
            </a:r>
          </a:p>
          <a:p xmlns:a="http://schemas.openxmlformats.org/drawingml/2006/main">
            <a:r>
              <a:t>        "output": "수정·회신"</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"같은 사안의 반복 민원을 묶고 기관별 답변 초안 제시",</a:t>
            </a:r>
          </a:p>
          <a:p xmlns:a="http://schemas.openxmlformats.org/drawingml/2006/main">
            <a:r>
              <a:t>      "exception": "표현이 같은 다른 사건·소관기관 차이·반대 취지",</a:t>
            </a:r>
          </a:p>
          <a:p xmlns:a="http://schemas.openxmlformats.org/drawingml/2006/main">
            <a:r>
              <a:t>      "evidence": "군집 정답표·잘못된 병합 건·담당자 수정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"민원 처리자·정책 분석자",</a:t>
            </a:r>
          </a:p>
          <a:p xmlns:a="http://schemas.openxmlformats.org/drawingml/2006/main">
            <a:r>
              <a:t>          "processing": "민원요지·유형·처리기관 문맥 구성",</a:t>
            </a:r>
          </a:p>
          <a:p xmlns:a="http://schemas.openxmlformats.org/drawingml/2006/main">
            <a:r>
              <a:t>          "output": "민원 본문"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"민원·답변 자료",</a:t>
            </a:r>
          </a:p>
          <a:p xmlns:a="http://schemas.openxmlformats.org/drawingml/2006/main">
            <a:r>
              <a:t>          "processing": "국민신문고·민원정보분석 자료의 연계·정제",</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"민원 본문",</a:t>
            </a:r>
          </a:p>
          <a:p xmlns:a="http://schemas.openxmlformats.org/drawingml/2006/main">
            <a:r>
              <a:t>          "processing": "RAG 답변 추천과 의미 유사도 군집",</a:t>
            </a:r>
          </a:p>
          <a:p xmlns:a="http://schemas.openxmlformats.org/drawingml/2006/main">
            <a:r>
              <a:t>          "output": "추천 답변"</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"추천 답변",</a:t>
            </a:r>
          </a:p>
          <a:p xmlns:a="http://schemas.openxmlformats.org/drawingml/2006/main">
            <a:r>
              <a:t>          "processing": "담당자의 군집·초안 수정 후 민원 처리",</a:t>
            </a:r>
          </a:p>
          <a:p xmlns:a="http://schemas.openxmlformats.org/drawingml/2006/main">
            <a:r>
              <a:t>          "output": "수정·회신"</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"기관별 답변 적합성과 병합 오류 분석",</a:t>
            </a:r>
          </a:p>
          <a:p xmlns:a="http://schemas.openxmlformats.org/drawingml/2006/main">
            <a:r>
              <a:t>          "output": "군집 정답표·잘못된 병합 건·담당자 수정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"기관별 답변 적합성과 병합 오류 분석",</a:t>
            </a:r>
          </a:p>
          <a:p xmlns:a="http://schemas.openxmlformats.org/drawingml/2006/main">
            <a:r>
              <a:t>    "status": "RFP 기반 논리 설계",</a:t>
            </a:r>
          </a:p>
          <a:p xmlns:a="http://schemas.openxmlformats.org/drawingml/2006/main">
            <a:r>
              <a:t>    "basis": "본공고 RFP · 사업계획·민원답변 작성지원·빈발중복민원",</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"추진계획·성과지표, 기능 요구사항 / Word T035",</a:t>
            </a:r>
          </a:p>
          <a:p xmlns:a="http://schemas.openxmlformats.org/drawingml/2006/main">
            <a:r>
              <a:t>        "url": "https://www.nia.or.kr/common/board/Download.do?bcIdx=28233&amp;cbIdx=78336&amp;fileNo=2"</a:t>
            </a:r>
          </a:p>
          <a:p xmlns:a="http://schemas.openxmlformats.org/drawingml/2006/main">
            <a:r>
              <a:t>      }</a:t>
            </a:r>
          </a:p>
          <a:p xmlns:a="http://schemas.openxmlformats.org/drawingml/2006/main">
            <a:r>
              <a:t>    ],</a:t>
            </a:r>
          </a:p>
          <a:p xmlns:a="http://schemas.openxmlformats.org/drawingml/2006/main">
            <a:r>
              <a:t>    "implication": "유사 문구와 동일 사건을 구분하는 민원 분류 및 소관부서별 답변 검토",</a:t>
            </a:r>
          </a:p>
          <a:p xmlns:a="http://schemas.openxmlformats.org/drawingml/2006/main">
            <a:r>
              <a:t>    "local": "유사 문구와 동일 사건을 구분하는 민원 분류 및 소관부서별 답변 검토",</a:t>
            </a:r>
          </a:p>
          <a:p xmlns:a="http://schemas.openxmlformats.org/drawingml/2006/main">
            <a:r>
              <a:t>    "sourceDetail": "국민신문고/민원정보분석 연계, RAG·요약·유사도 군집, 현업 수정 및 시범기관 확산",</a:t>
            </a:r>
          </a:p>
          <a:p xmlns:a="http://schemas.openxmlformats.org/drawingml/2006/main">
            <a:r>
              <a:t>    "narrative": [</a:t>
            </a:r>
          </a:p>
          <a:p xmlns:a="http://schemas.openxmlformats.org/drawingml/2006/main">
            <a:r>
              <a:t>      "국민신문고의 접수·처리와 민원정보분석 업무를 연결하는 AI 고도화. 담당자의 답변 초안 작성과 유사민원 식별, 정책 분석자의 의미 기반 이슈 탐색을 서로 다른 업무 결과로 구분하는 사업.",</a:t>
            </a:r>
          </a:p>
          <a:p xmlns:a="http://schemas.openxmlformats.org/drawingml/2006/main">
            <a:r>
              <a:t>      "원문 목표 구성도는 기존 포털·DB, API Gateway, 답변·분석·중복 검색 모듈, 데이터 처리 계층, 운영 관리 계층으로 구성. OCR·메타정보 추출 후 키워드·벡터 검색을 병렬 수행하고, 재정렬된 근거를 업무 모듈에 전달하는 구조. 서비스 화면과 모델 운영의 별도 책임 분리가 핵심.",</a:t>
            </a:r>
          </a:p>
          <a:p xmlns:a="http://schemas.openxmlformats.org/drawingml/2006/main">
            <a:r>
              <a:t>      "표현이 비슷하다는 이유만으로 같은 사건으로 병합하면 이의·반대 민원의 취지 소실 가능성. CCK 비교시험에서는 문장 유사도 외에 사건·기관·지역·처리 단계의 일치 여부와 담당자의 수정·채택 이력을 함께 평가할 필요. 답변 추천시간과 최종 회신시간의 별도 계측."</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"SFR-004",</a:t>
            </a:r>
          </a:p>
          <a:p xmlns:a="http://schemas.openxmlformats.org/drawingml/2006/main">
            <a:r>
              <a:t>        "title": "민원 종류 분류",</a:t>
            </a:r>
          </a:p>
          <a:p xmlns:a="http://schemas.openxmlformats.org/drawingml/2006/main">
            <a:r>
              <a:t>        "locator": "SFR-004",</a:t>
            </a:r>
          </a:p>
          <a:p xmlns:a="http://schemas.openxmlformats.org/drawingml/2006/main">
            <a:r>
              <a:t>        "summary": "민원 본문을 민원 종류로 분류해 담당 업무의 처리 경로를 지원하는 기능.",</a:t>
            </a:r>
          </a:p>
          <a:p xmlns:a="http://schemas.openxmlformats.org/drawingml/2006/main">
            <a:r>
              <a:t>        "data": "민원 원문·분류 체계 → 분류 후보·검토 결과",</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"복합 주제·짧은 문장·오탈자 민원의 오분류와 담당자 수정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"6b4913cc0ae5b5169d9646773f4136e5246b9263738a4827b1ab87a16891f0b5"</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"민원 처리내용 초안 제공",</a:t>
            </a:r>
          </a:p>
          <a:p xmlns:a="http://schemas.openxmlformats.org/drawingml/2006/main">
            <a:r>
              <a:t>        "locator": "SFR-005",</a:t>
            </a:r>
          </a:p>
          <a:p xmlns:a="http://schemas.openxmlformats.org/drawingml/2006/main">
            <a:r>
              <a:t>        "summary": "관련 규정과 기존 처리내용을 참조한 민원답변 초안 지원. 초안과 최종 답변의 담당자 확인 경로 구성.",</a:t>
            </a:r>
          </a:p>
          <a:p xmlns:a="http://schemas.openxmlformats.org/drawingml/2006/main">
            <a:r>
              <a:t>        "data": "접수 민원·참조 자료 → 근거가 연결된 답변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"과거 규정과 현행 규정이 충돌하는 사례의 근거 판본 및 담당자 수정 흔적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"4f5defef29ed25fd79e46a89d680a461cb449aef69766f422194dd69e74fe07d"</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"유사민원 식별 기능 제공",</a:t>
            </a:r>
          </a:p>
          <a:p xmlns:a="http://schemas.openxmlformats.org/drawingml/2006/main">
            <a:r>
              <a:t>        "locator": "SFR-006",</a:t>
            </a:r>
          </a:p>
          <a:p xmlns:a="http://schemas.openxmlformats.org/drawingml/2006/main">
            <a:r>
              <a:t>        "summary": "같거나 유사한 민원을 식별해 반복 업무를 지원하는 기능. 검색 후보와 실제 병합 판단의 구분.",</a:t>
            </a:r>
          </a:p>
          <a:p xmlns:a="http://schemas.openxmlformats.org/drawingml/2006/main">
            <a:r>
              <a:t>        "data": "민원 집합·사건 문맥 → 유사도·후보 묶음",</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"C05"</a:t>
            </a:r>
          </a:p>
          <a:p xmlns:a="http://schemas.openxmlformats.org/drawingml/2006/main">
            <a:r>
              <a:t>        ],</a:t>
            </a:r>
          </a:p>
          <a:p xmlns:a="http://schemas.openxmlformats.org/drawingml/2006/main">
            <a:r>
              <a:t>        "acceptance": "문장은 같지만 사건·지역·신청인이 다른 사례로 오병합 여부와 원문 복원 가능성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"4153e591c032d301106aff35c38940a0d476dc7d8c4d31155d7221e129da66dd"</a:t>
            </a:r>
          </a:p>
          <a:p xmlns:a="http://schemas.openxmlformats.org/drawingml/2006/main">
            <a:r>
              <a:t>      },</a:t>
            </a:r>
          </a:p>
          <a:p xmlns:a="http://schemas.openxmlformats.org/drawingml/2006/main">
            <a:r>
              <a:t>      {</a:t>
            </a:r>
          </a:p>
          <a:p xmlns:a="http://schemas.openxmlformats.org/drawingml/2006/main">
            <a:r>
              <a:t>        "id": "SFR-010",</a:t>
            </a:r>
          </a:p>
          <a:p xmlns:a="http://schemas.openxmlformats.org/drawingml/2006/main">
            <a:r>
              <a:t>        "title": "민원업무 고도화 서비스 관리기능",</a:t>
            </a:r>
          </a:p>
          <a:p xmlns:a="http://schemas.openxmlformats.org/drawingml/2006/main">
            <a:r>
              <a:t>        "locator": "SFR-010",</a:t>
            </a:r>
          </a:p>
          <a:p xmlns:a="http://schemas.openxmlformats.org/drawingml/2006/main">
            <a:r>
              <a:t>        "summary": "민원업무 고도화 서비스의 이용·관리 기능 구성. 운영자가 업무별 서비스 상태와 관리 대상을 확인하는 경로.",</a:t>
            </a:r>
          </a:p>
          <a:p xmlns:a="http://schemas.openxmlformats.org/drawingml/2006/main">
            <a:r>
              <a:t>        "data": "운영 설정·사용 이력 → 관리 상태·변경 기록",</a:t>
            </a:r>
          </a:p>
          <a:p xmlns:a="http://schemas.openxmlformats.org/drawingml/2006/main">
            <a:r>
              <a:t>        "components": [</a:t>
            </a:r>
          </a:p>
          <a:p xmlns:a="http://schemas.openxmlformats.org/drawingml/2006/main">
            <a:r>
              <a:t>          "C06",</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"관리 역할별 허용 작업과 변경 이력, 설정 변경 후 서비스 반영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"d0f1ab9389b360af8d77e62f3eeb2326716b450c2d1575dcec42b79fbb02d49b"</a:t>
            </a:r>
          </a:p>
          <a:p xmlns:a="http://schemas.openxmlformats.org/drawingml/2006/main">
            <a:r>
              <a:t>      },</a:t>
            </a:r>
          </a:p>
          <a:p xmlns:a="http://schemas.openxmlformats.org/drawingml/2006/main">
            <a:r>
              <a:t>      {</a:t>
            </a:r>
          </a:p>
          <a:p xmlns:a="http://schemas.openxmlformats.org/drawingml/2006/main">
            <a:r>
              <a:t>        "id": "SFR-011",</a:t>
            </a:r>
          </a:p>
          <a:p xmlns:a="http://schemas.openxmlformats.org/drawingml/2006/main">
            <a:r>
              <a:t>        "title": "의미 기반 검색과 분석",</a:t>
            </a:r>
          </a:p>
          <a:p xmlns:a="http://schemas.openxmlformats.org/drawingml/2006/main">
            <a:r>
              <a:t>        "locator": "SFR-011",</a:t>
            </a:r>
          </a:p>
          <a:p xmlns:a="http://schemas.openxmlformats.org/drawingml/2006/main">
            <a:r>
              <a:t>        "summary": "단순 키워드 일치를 넘어 민원 의미를 이용한 검색·분석 지원.",</a:t>
            </a:r>
          </a:p>
          <a:p xmlns:a="http://schemas.openxmlformats.org/drawingml/2006/main">
            <a:r>
              <a:t>        "data": "검색 질의·민원 색인 → 의미상 관련 민원·분석 결과",</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"C11"</a:t>
            </a:r>
          </a:p>
          <a:p xmlns:a="http://schemas.openxmlformats.org/drawingml/2006/main">
            <a:r>
              <a:t>        ],</a:t>
            </a:r>
          </a:p>
          <a:p xmlns:a="http://schemas.openxmlformats.org/drawingml/2006/main">
            <a:r>
              <a:t>        "acceptance": "다른 표현의 같은 의도와 같은 단어의 다른 의도를 구분한 검색 정답셋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"cb3704532e53b7b70bc4764b544e7f549cec4553215296f437e5601fe00168f1"</a:t>
            </a:r>
          </a:p>
          <a:p xmlns:a="http://schemas.openxmlformats.org/drawingml/2006/main">
            <a:r>
              <a:t>      },</a:t>
            </a:r>
          </a:p>
          <a:p xmlns:a="http://schemas.openxmlformats.org/drawingml/2006/main">
            <a:r>
              <a:t>      {</a:t>
            </a:r>
          </a:p>
          <a:p xmlns:a="http://schemas.openxmlformats.org/drawingml/2006/main">
            <a:r>
              <a:t>        "id": "SFR-015",</a:t>
            </a:r>
          </a:p>
          <a:p xmlns:a="http://schemas.openxmlformats.org/drawingml/2006/main">
            <a:r>
              <a:t>        "title": "실시간 데이터 수집 및 검증",</a:t>
            </a:r>
          </a:p>
          <a:p xmlns:a="http://schemas.openxmlformats.org/drawingml/2006/main">
            <a:r>
              <a:t>        "locator": "SFR-015",</a:t>
            </a:r>
          </a:p>
          <a:p xmlns:a="http://schemas.openxmlformats.org/drawingml/2006/main">
            <a:r>
              <a:t>        "summary": "OGG 기반 원천 변경 수집과 데이터 검증을 통한 실시간 연계. 수집 이후 정합성 확인이 필요한 데이터 흐름.",</a:t>
            </a:r>
          </a:p>
          <a:p xmlns:a="http://schemas.openxmlformats.org/drawingml/2006/main">
            <a:r>
              <a:t>        "data": "원천 DB 변경분 → 검증된 연계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"삽입·수정·삭제·중단 후 재개 시 건수·키·시점 대사와 중복 적재 여부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"bcca0bc62529ccf5ac36e787dc506c0b54f8f16e1b96c873fa31cca5157a057c"</a:t>
            </a:r>
          </a:p>
          <a:p xmlns:a="http://schemas.openxmlformats.org/drawingml/2006/main">
            <a:r>
              <a:t>      },</a:t>
            </a:r>
          </a:p>
          <a:p xmlns:a="http://schemas.openxmlformats.org/drawingml/2006/main">
            <a:r>
              <a:t>      {</a:t>
            </a:r>
          </a:p>
          <a:p xmlns:a="http://schemas.openxmlformats.org/drawingml/2006/main">
            <a:r>
              <a:t>        "id": "SFR-018",</a:t>
            </a:r>
          </a:p>
          <a:p xmlns:a="http://schemas.openxmlformats.org/drawingml/2006/main">
            <a:r>
              <a:t>        "title": "AI 기반 민원 자동 처리",</a:t>
            </a:r>
          </a:p>
          <a:p xmlns:a="http://schemas.openxmlformats.org/drawingml/2006/main">
            <a:r>
              <a:t>        "locator": "SFR-018",</a:t>
            </a:r>
          </a:p>
          <a:p xmlns:a="http://schemas.openxmlformats.org/drawingml/2006/main">
            <a:r>
              <a:t>        "summary": "AI 기반 민원 처리 지원에 담당자 검토·채택 결과를 연결하고 운영 개선에 활용하는 흐름.",</a:t>
            </a:r>
          </a:p>
          <a:p xmlns:a="http://schemas.openxmlformats.org/drawingml/2006/main">
            <a:r>
              <a:t>        "data": "처리 후보·담당자 검토 → 채택·수정 결과·피드백",</a:t>
            </a:r>
          </a:p>
          <a:p xmlns:a="http://schemas.openxmlformats.org/drawingml/2006/main">
            <a:r>
              <a:t>        "components": [</a:t>
            </a:r>
          </a:p>
          <a:p xmlns:a="http://schemas.openxmlformats.org/drawingml/2006/main">
            <a:r>
              <a:t>          "C04",</a:t>
            </a:r>
          </a:p>
          <a:p xmlns:a="http://schemas.openxmlformats.org/drawingml/2006/main">
            <a:r>
              <a:t>          "C06",</a:t>
            </a:r>
          </a:p>
          <a:p xmlns:a="http://schemas.openxmlformats.org/drawingml/2006/main">
            <a:r>
              <a:t>          "C08"</a:t>
            </a:r>
          </a:p>
          <a:p xmlns:a="http://schemas.openxmlformats.org/drawingml/2006/main">
            <a:r>
              <a:t>        ],</a:t>
            </a:r>
          </a:p>
          <a:p xmlns:a="http://schemas.openxmlformats.org/drawingml/2006/main">
            <a:r>
              <a:t>        "acceptance": "추천과 확정 상태를 구분하고 수정·반려가 다음 처리 기록에 누락 없이 남는지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"35bf9ae1174266075e30936c9e150e97a0d68cd55f83071656309743e2875dca"</a:t>
            </a:r>
          </a:p>
          <a:p xmlns:a="http://schemas.openxmlformats.org/drawingml/2006/main">
            <a:r>
              <a:t>      },</a:t>
            </a:r>
          </a:p>
          <a:p xmlns:a="http://schemas.openxmlformats.org/drawingml/2006/main">
            <a:r>
              <a:t>      {</a:t>
            </a:r>
          </a:p>
          <a:p xmlns:a="http://schemas.openxmlformats.org/drawingml/2006/main">
            <a:r>
              <a:t>        "id": "SFR-019",</a:t>
            </a:r>
          </a:p>
          <a:p xmlns:a="http://schemas.openxmlformats.org/drawingml/2006/main">
            <a:r>
              <a:t>        "title": "API 통합 관리 및 성능 모니터링",</a:t>
            </a:r>
          </a:p>
          <a:p xmlns:a="http://schemas.openxmlformats.org/drawingml/2006/main">
            <a:r>
              <a:t>        "locator": "SFR-019",</a:t>
            </a:r>
          </a:p>
          <a:p xmlns:a="http://schemas.openxmlformats.org/drawingml/2006/main">
            <a:r>
              <a:t>        "summary": "API 통합 관리와 성능 모니터링을 통한 업무 모듈·기간계 연결 관리.",</a:t>
            </a:r>
          </a:p>
          <a:p xmlns:a="http://schemas.openxmlformats.org/drawingml/2006/main">
            <a:r>
              <a:t>        "data": "API 요청·응답·호출 이력 → 상태·성능·오류 기록",</a:t>
            </a:r>
          </a:p>
          <a:p xmlns:a="http://schemas.openxmlformats.org/drawingml/2006/main">
            <a:r>
              <a:t>        "components": [</a:t>
            </a:r>
          </a:p>
          <a:p xmlns:a="http://schemas.openxmlformats.org/drawingml/2006/main">
            <a:r>
              <a:t>          "C02",</a:t>
            </a:r>
          </a:p>
          <a:p xmlns:a="http://schemas.openxmlformats.org/drawingml/2006/main">
            <a:r>
              <a:t>          "C07",</a:t>
            </a:r>
          </a:p>
          <a:p xmlns:a="http://schemas.openxmlformats.org/drawingml/2006/main">
            <a:r>
              <a:t>          "C08"</a:t>
            </a:r>
          </a:p>
          <a:p xmlns:a="http://schemas.openxmlformats.org/drawingml/2006/main">
            <a:r>
              <a:t>        ],</a:t>
            </a:r>
          </a:p>
          <a:p xmlns:a="http://schemas.openxmlformats.org/drawingml/2006/main">
            <a:r>
              <a:t>        "acceptance": "호출 실패·시간초과·중복 요청을 주입하고 호출 경로별 원인과 처리 상태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"ff7c0fe41f6cc841f53d73ace372872ebb0dfc391d7d7ca1a21b446c4dfa32b4"</a:t>
            </a:r>
          </a:p>
          <a:p xmlns:a="http://schemas.openxmlformats.org/drawingml/2006/main">
            <a:r>
              <a:t>      },</a:t>
            </a:r>
          </a:p>
          <a:p xmlns:a="http://schemas.openxmlformats.org/drawingml/2006/main">
            <a:r>
              <a:t>      {</a:t>
            </a:r>
          </a:p>
          <a:p xmlns:a="http://schemas.openxmlformats.org/drawingml/2006/main">
            <a:r>
              <a:t>        "id": "SFR-020",</a:t>
            </a:r>
          </a:p>
          <a:p xmlns:a="http://schemas.openxmlformats.org/drawingml/2006/main">
            <a:r>
              <a:t>        "title": "시스템 설정 및 운영 모니터링 통합 관리",</a:t>
            </a:r>
          </a:p>
          <a:p xmlns:a="http://schemas.openxmlformats.org/drawingml/2006/main">
            <a:r>
              <a:t>        "locator": "SFR-020",</a:t>
            </a:r>
          </a:p>
          <a:p xmlns:a="http://schemas.openxmlformats.org/drawingml/2006/main">
            <a:r>
              <a:t>        "summary": "시스템 설정과 운영 모니터링의 통합 관리. 업무 기능과 운영 정책의 일관된 상태 확인.",</a:t>
            </a:r>
          </a:p>
          <a:p xmlns:a="http://schemas.openxmlformats.org/drawingml/2006/main">
            <a:r>
              <a:t>        "data": "시스템 설정·운영 지표 → 관리 화면·이상 상태",</a:t>
            </a:r>
          </a:p>
          <a:p xmlns:a="http://schemas.openxmlformats.org/drawingml/2006/main">
            <a:r>
              <a:t>        "components": [</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"설정 변경 권한, 변경 전후 상태, 장애 탐지·복구 기록의 연결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"700952e7f3297506bdddffe81782d75953ec64aa85c0f75fd9ce24f75b54747a"</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"국민신문고 접점",</a:t>
            </a:r>
          </a:p>
          <a:p xmlns:a="http://schemas.openxmlformats.org/drawingml/2006/main">
            <a:r>
              <a:t>          "layer": "이용 접점",</a:t>
            </a:r>
          </a:p>
          <a:p xmlns:a="http://schemas.openxmlformats.org/drawingml/2006/main">
            <a:r>
              <a:t>          "detail": "민원 처리자·정책 분석자",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"요지·기관·유형",</a:t>
            </a:r>
          </a:p>
          <a:p xmlns:a="http://schemas.openxmlformats.org/drawingml/2006/main">
            <a:r>
              <a:t>          "layer": "업무 문맥",</a:t>
            </a:r>
          </a:p>
          <a:p xmlns:a="http://schemas.openxmlformats.org/drawingml/2006/main">
            <a:r>
              <a:t>          "detail": "민원요지·유형·처리기관 문맥 구성",</a:t>
            </a:r>
          </a:p>
          <a:p xmlns:a="http://schemas.openxmlformats.org/drawingml/2006/main">
            <a:r>
              <a:t>          "requirements": [</a:t>
            </a:r>
          </a:p>
          <a:p xmlns:a="http://schemas.openxmlformats.org/drawingml/2006/main">
            <a:r>
              <a:t>            "SFR-004",</a:t>
            </a:r>
          </a:p>
          <a:p xmlns:a="http://schemas.openxmlformats.org/drawingml/2006/main">
            <a:r>
              <a:t>            "SFR-019"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"키워드·벡터 검색",</a:t>
            </a:r>
          </a:p>
          <a:p xmlns:a="http://schemas.openxmlformats.org/drawingml/2006/main">
            <a:r>
              <a:t>          "layer": "자료 조회",</a:t>
            </a:r>
          </a:p>
          <a:p xmlns:a="http://schemas.openxmlformats.org/drawingml/2006/main">
            <a:r>
              <a:t>          "detail": "민원 본문",</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"재정렬·답변·군집",</a:t>
            </a:r>
          </a:p>
          <a:p xmlns:a="http://schemas.openxmlformats.org/drawingml/2006/main">
            <a:r>
              <a:t>          "layer": "핵심 처리",</a:t>
            </a:r>
          </a:p>
          <a:p xmlns:a="http://schemas.openxmlformats.org/drawingml/2006/main">
            <a:r>
              <a:t>          "detail": "RAG 답변 추천과 의미 유사도 군집",</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"SFR-018"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"동일 사건 대조",</a:t>
            </a:r>
          </a:p>
          <a:p xmlns:a="http://schemas.openxmlformats.org/drawingml/2006/main">
            <a:r>
              <a:t>          "layer": "결과 검증",</a:t>
            </a:r>
          </a:p>
          <a:p xmlns:a="http://schemas.openxmlformats.org/drawingml/2006/main">
            <a:r>
              <a:t>          "detail": "동일 사건 여부·개인정보 범위 검토",</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"담당자 수정",</a:t>
            </a:r>
          </a:p>
          <a:p xmlns:a="http://schemas.openxmlformats.org/drawingml/2006/main">
            <a:r>
              <a:t>          "layer": "사람 확인",</a:t>
            </a:r>
          </a:p>
          <a:p xmlns:a="http://schemas.openxmlformats.org/drawingml/2006/main">
            <a:r>
              <a:t>          "detail": "같은 사안의 반복 민원을 묶고 기관별 답변 초안 제시",</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"SFR-010",</a:t>
            </a:r>
          </a:p>
          <a:p xmlns:a="http://schemas.openxmlformats.org/drawingml/2006/main">
            <a:r>
              <a:t>            "SFR-018"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"민원 처리·분석",</a:t>
            </a:r>
          </a:p>
          <a:p xmlns:a="http://schemas.openxmlformats.org/drawingml/2006/main">
            <a:r>
              <a:t>          "layer": "업무 연결",</a:t>
            </a:r>
          </a:p>
          <a:p xmlns:a="http://schemas.openxmlformats.org/drawingml/2006/main">
            <a:r>
              <a:t>          "detail": "담당자의 군집·초안 수정 후 민원 처리",</a:t>
            </a:r>
          </a:p>
          <a:p xmlns:a="http://schemas.openxmlformats.org/drawingml/2006/main">
            <a:r>
              <a:t>          "requirements": [</a:t>
            </a:r>
          </a:p>
          <a:p xmlns:a="http://schemas.openxmlformats.org/drawingml/2006/main">
            <a:r>
              <a:t>            "SFR-019"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"오답·병합 오류",</a:t>
            </a:r>
          </a:p>
          <a:p xmlns:a="http://schemas.openxmlformats.org/drawingml/2006/main">
            <a:r>
              <a:t>          "layer": "운영 관측",</a:t>
            </a:r>
          </a:p>
          <a:p xmlns:a="http://schemas.openxmlformats.org/drawingml/2006/main">
            <a:r>
              <a:t>          "detail": "기관별 답변 적합성과 병합 오류 분석",</a:t>
            </a:r>
          </a:p>
          <a:p xmlns:a="http://schemas.openxmlformats.org/drawingml/2006/main">
            <a:r>
              <a:t>          "requirements": [</a:t>
            </a:r>
          </a:p>
          <a:p xmlns:a="http://schemas.openxmlformats.org/drawingml/2006/main">
            <a:r>
              <a:t>            "SFR-010",</a:t>
            </a:r>
          </a:p>
          <a:p xmlns:a="http://schemas.openxmlformats.org/drawingml/2006/main">
            <a:r>
              <a:t>            "SFR-018",</a:t>
            </a:r>
          </a:p>
          <a:p xmlns:a="http://schemas.openxmlformats.org/drawingml/2006/main">
            <a:r>
              <a:t>            "SFR-019",</a:t>
            </a:r>
          </a:p>
          <a:p xmlns:a="http://schemas.openxmlformats.org/drawingml/2006/main">
            <a:r>
              <a:t>            "SFR-020"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"민원·답변·지침",</a:t>
            </a:r>
          </a:p>
          <a:p xmlns:a="http://schemas.openxmlformats.org/drawingml/2006/main">
            <a:r>
              <a:t>          "layer": "데이터 원천",</a:t>
            </a:r>
          </a:p>
          <a:p xmlns:a="http://schemas.openxmlformats.org/drawingml/2006/main">
            <a:r>
              <a:t>          "detail": "민원·답변 자료",</a:t>
            </a:r>
          </a:p>
          <a:p xmlns:a="http://schemas.openxmlformats.org/drawingml/2006/main">
            <a:r>
              <a:t>          "requirements": [</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"OCR·메타정보 추출",</a:t>
            </a:r>
          </a:p>
          <a:p xmlns:a="http://schemas.openxmlformats.org/drawingml/2006/main">
            <a:r>
              <a:t>          "layer": "준비·갱신",</a:t>
            </a:r>
          </a:p>
          <a:p xmlns:a="http://schemas.openxmlformats.org/drawingml/2006/main">
            <a:r>
              <a:t>          "detail": "국민신문고·민원정보분석 자료의 연계·정제",</a:t>
            </a:r>
          </a:p>
          <a:p xmlns:a="http://schemas.openxmlformats.org/drawingml/2006/main">
            <a:r>
              <a:t>          "requirements": [</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"지식 DB·색인",</a:t>
            </a:r>
          </a:p>
          <a:p xmlns:a="http://schemas.openxmlformats.org/drawingml/2006/main">
            <a:r>
              <a:t>          "layer": "상태·지식 저장",</a:t>
            </a:r>
          </a:p>
          <a:p xmlns:a="http://schemas.openxmlformats.org/drawingml/2006/main">
            <a:r>
              <a:t>          "detail": "군집 정답표·잘못된 병합 건·담당자 수정 이력",</a:t>
            </a:r>
          </a:p>
          <a:p xmlns:a="http://schemas.openxmlformats.org/drawingml/2006/main">
            <a:r>
              <a:t>          "requirements": [</a:t>
            </a:r>
          </a:p>
          <a:p xmlns:a="http://schemas.openxmlformats.org/drawingml/2006/main">
            <a:r>
              <a:t>            "SFR-011",</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"모델·프롬프트 관리",</a:t>
            </a:r>
          </a:p>
          <a:p xmlns:a="http://schemas.openxmlformats.org/drawingml/2006/main">
            <a:r>
              <a:t>          "layer": "권한·정책",</a:t>
            </a:r>
          </a:p>
          <a:p xmlns:a="http://schemas.openxmlformats.org/drawingml/2006/main">
            <a:r>
              <a:t>          "detail": "표현이 같은 다른 사건·소관기관 차이·반대 취지",</a:t>
            </a:r>
          </a:p>
          <a:p xmlns:a="http://schemas.openxmlformats.org/drawingml/2006/main">
            <a:r>
              <a:t>          "requirements": [</a:t>
            </a:r>
          </a:p>
          <a:p xmlns:a="http://schemas.openxmlformats.org/drawingml/2006/main">
            <a:r>
              <a:t>            "SFR-010",</a:t>
            </a:r>
          </a:p>
          <a:p xmlns:a="http://schemas.openxmlformats.org/drawingml/2006/main">
            <a:r>
              <a:t>            "SFR-020"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"민원요지·유형·처리기관 문맥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"민원 본문",</a:t>
            </a:r>
          </a:p>
          <a:p xmlns:a="http://schemas.openxmlformats.org/drawingml/2006/main">
            <a:r>
              <a:t>          "check": "동일 사건 여부·개인정보 범위 검토"</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"유사 사건",</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"답변 초안·유사군 후보·근거 문서",</a:t>
            </a:r>
          </a:p>
          <a:p xmlns:a="http://schemas.openxmlformats.org/drawingml/2006/main">
            <a:r>
              <a:t>          "check": "표현이 같은 다른 사건·소관기관 차이·반대 취지"</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"추천 답변",</a:t>
            </a:r>
          </a:p>
          <a:p xmlns:a="http://schemas.openxmlformats.org/drawingml/2006/main">
            <a:r>
              <a:t>          "check": "담당자의 군집·초안 수정 후 민원 처리"</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"수정·회신",</a:t>
            </a:r>
          </a:p>
          <a:p xmlns:a="http://schemas.openxmlformats.org/drawingml/2006/main">
            <a:r>
              <a:t>          "check": "군집 정답표·잘못된 병합 건·담당자 수정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"목표시스템 개념도·RAG 구성 예시",</a:t>
            </a:r>
          </a:p>
          <a:p xmlns:a="http://schemas.openxmlformats.org/drawingml/2006/main">
            <a:r>
              <a:t>        "extracted": "API Gateway, OCR·메타정보 추출, 키워드/벡터 검색과 재정렬",</a:t>
            </a:r>
          </a:p>
          <a:p xmlns:a="http://schemas.openxmlformats.org/drawingml/2006/main">
            <a:r>
              <a:t>        "extension": "민원 중복 후보와 공식 병합·회신의 승인 경계"</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"PF-R02",</a:t>
            </a:r>
          </a:p>
          <a:p xmlns:a="http://schemas.openxmlformats.org/drawingml/2006/main">
            <a:r>
              <a:t>          "path": "assets/casebook-sources/PF-R02-01.png",</a:t>
            </a:r>
          </a:p>
          <a:p xmlns:a="http://schemas.openxmlformats.org/drawingml/2006/main">
            <a:r>
              <a:t>          "title": "국민소통 플랫폼 목표시스템",</a:t>
            </a:r>
          </a:p>
          <a:p xmlns:a="http://schemas.openxmlformats.org/drawingml/2006/main">
            <a:r>
              <a:t>          "status": "RFP 목표시스템 개념도",</a:t>
            </a:r>
          </a:p>
          <a:p xmlns:a="http://schemas.openxmlformats.org/drawingml/2006/main">
            <a:r>
              <a:t>          "caption": "접점·API Gateway·업무 모듈·데이터 처리·운영 관리",</a:t>
            </a:r>
          </a:p>
          <a:p xmlns:a="http://schemas.openxmlformats.org/drawingml/2006/main">
            <a:r>
              <a:t>          "locator": "NIA_RFP_RFP / BinData/image33_bmp",</a:t>
            </a:r>
          </a:p>
          <a:p xmlns:a="http://schemas.openxmlformats.org/drawingml/2006/main">
            <a:r>
              <a:t>          "checked": "2026-10-16",</a:t>
            </a:r>
          </a:p>
          <a:p xmlns:a="http://schemas.openxmlformats.org/drawingml/2006/main">
            <a:r>
              <a:t>          "sha256": "91feb890184edf04ccccd8d86995147aa6c2181b0a66c58436263cafccdae911",</a:t>
            </a:r>
          </a:p>
          <a:p xmlns:a="http://schemas.openxmlformats.org/drawingml/2006/main">
            <a:r>
              <a:t>          "explanation": {</a:t>
            </a:r>
          </a:p>
          <a:p xmlns:a="http://schemas.openxmlformats.org/drawingml/2006/main">
            <a:r>
              <a:t>            "read": "접점에서 받은 요청을 API Gateway를 통해 민원 답변·분석·중복 식별 모듈로 전달하는 목표 구성. 데이터 처리 계층은 공통 근거를 공급하고 운영 관리 계층은 서비스·모델 상태를 관찰하는 역할.",</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"SFR-019",</a:t>
            </a:r>
          </a:p>
          <a:p xmlns:a="http://schemas.openxmlformats.org/drawingml/2006/main">
            <a:r>
              <a:t>              "SFR-020"</a:t>
            </a:r>
          </a:p>
          <a:p xmlns:a="http://schemas.openxmlformats.org/drawingml/2006/main">
            <a:r>
              <a:t>            ],</a:t>
            </a:r>
          </a:p>
          <a:p xmlns:a="http://schemas.openxmlformats.org/drawingml/2006/main">
            <a:r>
              <a:t>            "connection": "담당자 답변 초안, 유사민원 후보, 정책 분석 결과를 서로 다른 출력 계약으로 정의하고 기존 민원시스템의 확정·회신 절차에 연결하는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"assets/casebook-sources/PF-R02-02.png",</a:t>
            </a:r>
          </a:p>
          <a:p xmlns:a="http://schemas.openxmlformats.org/drawingml/2006/main">
            <a:r>
              <a:t>          "title": "키워드·벡터 검색과 Reranker",</a:t>
            </a:r>
          </a:p>
          <a:p xmlns:a="http://schemas.openxmlformats.org/drawingml/2006/main">
            <a:r>
              <a:t>          "status": "RFP RAG 구성 예시",</a:t>
            </a:r>
          </a:p>
          <a:p xmlns:a="http://schemas.openxmlformats.org/drawingml/2006/main">
            <a:r>
              <a:t>          "caption": "키워드/벡터 검색 병렬 처리 → 재정렬 → 근거 응답",</a:t>
            </a:r>
          </a:p>
          <a:p xmlns:a="http://schemas.openxmlformats.org/drawingml/2006/main">
            <a:r>
              <a:t>          "locator": "NIA_RFP_RFP / BinData/image18_bmp",</a:t>
            </a:r>
          </a:p>
          <a:p xmlns:a="http://schemas.openxmlformats.org/drawingml/2006/main">
            <a:r>
              <a:t>          "checked": "2026-10-16",</a:t>
            </a:r>
          </a:p>
          <a:p xmlns:a="http://schemas.openxmlformats.org/drawingml/2006/main">
            <a:r>
              <a:t>          "sha256": "a6ab4248256ee300422789627dbe5b8f09ec60657419e13d082c95b32f3f4f90",</a:t>
            </a:r>
          </a:p>
          <a:p xmlns:a="http://schemas.openxmlformats.org/drawingml/2006/main">
            <a:r>
              <a:t>          "explanation": {</a:t>
            </a:r>
          </a:p>
          <a:p xmlns:a="http://schemas.openxmlformats.org/drawingml/2006/main">
            <a:r>
              <a:t>            "read": "키워드 검색은 정확한 용어·조항의 일치 후보, 벡터 검색은 표현이 다른 유사 의미 후보를 제공. Reranker는 통합 후보를 질의 관련성에 따라 다시 정렬하고 생성 모델에 근거를 전달하는 역할.",</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a:t>
            </a:r>
          </a:p>
          <a:p xmlns:a="http://schemas.openxmlformats.org/drawingml/2006/main">
            <a:r>
              <a:t>            "connection": "재정렬 점수를 법적 정답이나 민원 병합 승인으로 해석하지 않고 기관·사건·시점과 출처 일치를 별도로 확인하는 검증 단계의 추가."</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"assets/casebook-sources/PF-R02-03.png",</a:t>
            </a:r>
          </a:p>
          <a:p xmlns:a="http://schemas.openxmlformats.org/drawingml/2006/main">
            <a:r>
              <a:t>          "title": "민원 AI 입출력 데이터",</a:t>
            </a:r>
          </a:p>
          <a:p xmlns:a="http://schemas.openxmlformats.org/drawingml/2006/main">
            <a:r>
              <a:t>          "status": "RFP 데이터 흐름도",</a:t>
            </a:r>
          </a:p>
          <a:p xmlns:a="http://schemas.openxmlformats.org/drawingml/2006/main">
            <a:r>
              <a:t>          "caption": "국민신문고·시범기관 매뉴얼 → 전처리·RAG → 답변·유사도",</a:t>
            </a:r>
          </a:p>
          <a:p xmlns:a="http://schemas.openxmlformats.org/drawingml/2006/main">
            <a:r>
              <a:t>          "locator": "NIA_RFP_RFP / BinData/image34_bmp",</a:t>
            </a:r>
          </a:p>
          <a:p xmlns:a="http://schemas.openxmlformats.org/drawingml/2006/main">
            <a:r>
              <a:t>          "checked": "2026-10-16",</a:t>
            </a:r>
          </a:p>
          <a:p xmlns:a="http://schemas.openxmlformats.org/drawingml/2006/main">
            <a:r>
              <a:t>          "sha256": "0e09409295bbb0aae0a61666cf01982d012392b3f4bccd2e98499654b4b690d0",</a:t>
            </a:r>
          </a:p>
          <a:p xmlns:a="http://schemas.openxmlformats.org/drawingml/2006/main">
            <a:r>
              <a:t>          "explanation": {</a:t>
            </a:r>
          </a:p>
          <a:p xmlns:a="http://schemas.openxmlformats.org/drawingml/2006/main">
            <a:r>
              <a:t>            "read": "국민신문고 데이터와 시범기관 매뉴얼 등 입력을 전처리·RAG 경로에 투입하고 업무별 답변·유사도 결과로 변환하는 입출력 구조. 동일 원천을 이용하더라도 답변과 군집의 산출물은 별도 관리 대상.",</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"SFR-015",</a:t>
            </a:r>
          </a:p>
          <a:p xmlns:a="http://schemas.openxmlformats.org/drawingml/2006/main">
            <a:r>
              <a:t>              "SFR-018"</a:t>
            </a:r>
          </a:p>
          <a:p xmlns:a="http://schemas.openxmlformats.org/drawingml/2006/main">
            <a:r>
              <a:t>            ],</a:t>
            </a:r>
          </a:p>
          <a:p xmlns:a="http://schemas.openxmlformats.org/drawingml/2006/main">
            <a:r>
              <a:t>            "connection": "원천 민원 ID·문서 판본·근거 위치를 결과에 유지해 담당자 수정과 최종 회신의 차이를 재현할 수 있도록 하는 데이터 계약."</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"assets/casebook-sources/PF-R02-04.png",</a:t>
            </a:r>
          </a:p>
          <a:p xmlns:a="http://schemas.openxmlformats.org/drawingml/2006/main">
            <a:r>
              <a:t>          "title": "데이터 구축·학습·운영 흐름",</a:t>
            </a:r>
          </a:p>
          <a:p xmlns:a="http://schemas.openxmlformats.org/drawingml/2006/main">
            <a:r>
              <a:t>          "status": "RFP 데이터 처리 구조",</a:t>
            </a:r>
          </a:p>
          <a:p xmlns:a="http://schemas.openxmlformats.org/drawingml/2006/main">
            <a:r>
              <a:t>          "caption": "수집·정제·가공·학습·운영의 환류",</a:t>
            </a:r>
          </a:p>
          <a:p xmlns:a="http://schemas.openxmlformats.org/drawingml/2006/main">
            <a:r>
              <a:t>          "locator": "NIA_RFP_RFP / BinData/image32_png",</a:t>
            </a:r>
          </a:p>
          <a:p xmlns:a="http://schemas.openxmlformats.org/drawingml/2006/main">
            <a:r>
              <a:t>          "checked": "2026-10-16",</a:t>
            </a:r>
          </a:p>
          <a:p xmlns:a="http://schemas.openxmlformats.org/drawingml/2006/main">
            <a:r>
              <a:t>          "sha256": "b6c466b110d91bceff5a9f806d658aa54f010e0a5b8a358a16771181bea77c50",</a:t>
            </a:r>
          </a:p>
          <a:p xmlns:a="http://schemas.openxmlformats.org/drawingml/2006/main">
            <a:r>
              <a:t>          "explanation": {</a:t>
            </a:r>
          </a:p>
          <a:p xmlns:a="http://schemas.openxmlformats.org/drawingml/2006/main">
            <a:r>
              <a:t>            "read": "수집·정제·가공·학습·운영이 연결된 데이터 생애주기. 온라인 요청 처리와 모델·지식 갱신의 작업이 서로 다른 주기로 수행되는 구성.",</a:t>
            </a:r>
          </a:p>
          <a:p xmlns:a="http://schemas.openxmlformats.org/drawingml/2006/main">
            <a:r>
              <a:t>            "requirements": [</a:t>
            </a:r>
          </a:p>
          <a:p xmlns:a="http://schemas.openxmlformats.org/drawingml/2006/main">
            <a:r>
              <a:t>              "SFR-015",</a:t>
            </a:r>
          </a:p>
          <a:p xmlns:a="http://schemas.openxmlformats.org/drawingml/2006/main">
            <a:r>
              <a:t>              "SFR-018",</a:t>
            </a:r>
          </a:p>
          <a:p xmlns:a="http://schemas.openxmlformats.org/drawingml/2006/main">
            <a:r>
              <a:t>              "SFR-020"</a:t>
            </a:r>
          </a:p>
          <a:p xmlns:a="http://schemas.openxmlformats.org/drawingml/2006/main">
            <a:r>
              <a:t>            ],</a:t>
            </a:r>
          </a:p>
          <a:p xmlns:a="http://schemas.openxmlformats.org/drawingml/2006/main">
            <a:r>
              <a:t>            "connection": "원천 변경 시 수집 완료·정제 완료·색인 반영 상태를 분리하고 실패 자료만 재처리하는 운영 설계. 검토 피드백의 자동 학습 투입 전 품질 확인 단계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"표현이 같은 다른 사건·소관기관 차이·반대 취지",</a:t>
            </a:r>
          </a:p>
          <a:p xmlns:a="http://schemas.openxmlformats.org/drawingml/2006/main">
            <a:r>
              <a:t>        "hold": "동일 사건 여부·개인정보 범위 검토",</a:t>
            </a:r>
          </a:p>
          <a:p xmlns:a="http://schemas.openxmlformats.org/drawingml/2006/main">
            <a:r>
              <a:t>        "recovery": "기관별 답변 적합성과 병합 오류 분석",</a:t>
            </a:r>
          </a:p>
          <a:p xmlns:a="http://schemas.openxmlformats.org/drawingml/2006/main">
            <a:r>
              <a:t>        "evidence": "군집 정답표·잘못된 병합 건·담당자 수정 이력"</a:t>
            </a:r>
          </a:p>
          <a:p xmlns:a="http://schemas.openxmlformats.org/drawingml/2006/main">
            <a:r>
              <a:t>      },</a:t>
            </a:r>
          </a:p>
          <a:p xmlns:a="http://schemas.openxmlformats.org/drawingml/2006/main">
            <a:r>
              <a:t>      "data": {</a:t>
            </a:r>
          </a:p>
          <a:p xmlns:a="http://schemas.openxmlformats.org/drawingml/2006/main">
            <a:r>
              <a:t>        "source": "민원·답변 자료",</a:t>
            </a:r>
          </a:p>
          <a:p xmlns:a="http://schemas.openxmlformats.org/drawingml/2006/main">
            <a:r>
              <a:t>        "prepare": "국민신문고·민원정보분석 자료의 연계·정제",</a:t>
            </a:r>
          </a:p>
          <a:p xmlns:a="http://schemas.openxmlformats.org/drawingml/2006/main">
            <a:r>
              <a:t>        "output": "민원 본문",</a:t>
            </a:r>
          </a:p>
          <a:p xmlns:a="http://schemas.openxmlformats.org/drawingml/2006/main">
            <a:r>
              <a:t>        "refresh": "기관별 답변 적합성과 병합 오류 분석"</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"PF-R02",</a:t>
            </a:r>
          </a:p>
          <a:p xmlns:a="http://schemas.openxmlformats.org/drawingml/2006/main">
            <a:r>
              <a:t>    "success": [</a:t>
            </a:r>
          </a:p>
          <a:p xmlns:a="http://schemas.openxmlformats.org/drawingml/2006/main">
            <a:r>
              <a:t>      "유사민원과 답변 추천 결합",</a:t>
            </a:r>
          </a:p>
          <a:p xmlns:a="http://schemas.openxmlformats.org/drawingml/2006/main">
            <a:r>
              <a:t>      "현업 수정을 반영한 활용"</a:t>
            </a:r>
          </a:p>
          <a:p xmlns:a="http://schemas.openxmlformats.org/drawingml/2006/main">
            <a:r>
              <a:t>    ],</a:t>
            </a:r>
          </a:p>
          <a:p xmlns:a="http://schemas.openxmlformats.org/drawingml/2006/main">
            <a:r>
              <a:t>    "risks": [</a:t>
            </a:r>
          </a:p>
          <a:p xmlns:a="http://schemas.openxmlformats.org/drawingml/2006/main">
            <a:r>
              <a:t>      "다른 사건의 무리한 병합",</a:t>
            </a:r>
          </a:p>
          <a:p xmlns:a="http://schemas.openxmlformats.org/drawingml/2006/main">
            <a:r>
              <a:t>      "답변 추천을 공식 회신으로 오인"</a:t>
            </a:r>
          </a:p>
          <a:p xmlns:a="http://schemas.openxmlformats.org/drawingml/2006/main">
            <a:r>
              <a:t>    ],</a:t>
            </a:r>
          </a:p>
          <a:p xmlns:a="http://schemas.openxmlformats.org/drawingml/2006/main">
            <a:r>
              <a:t>    "architecture": [</a:t>
            </a:r>
          </a:p>
          <a:p xmlns:a="http://schemas.openxmlformats.org/drawingml/2006/main">
            <a:r>
              <a:t>      "국민신문고",</a:t>
            </a:r>
          </a:p>
          <a:p xmlns:a="http://schemas.openxmlformats.org/drawingml/2006/main">
            <a:r>
              <a:t>      "분류·답변 추천",</a:t>
            </a:r>
          </a:p>
          <a:p xmlns:a="http://schemas.openxmlformats.org/drawingml/2006/main">
            <a:r>
              <a:t>      "민원·답변 자료",</a:t>
            </a:r>
          </a:p>
          <a:p xmlns:a="http://schemas.openxmlformats.org/drawingml/2006/main">
            <a:r>
              <a:t>      "민원 담당"</a:t>
            </a:r>
          </a:p>
          <a:p xmlns:a="http://schemas.openxmlformats.org/drawingml/2006/main">
            <a:r>
              <a:t>    ],</a:t>
            </a:r>
          </a:p>
          <a:p xmlns:a="http://schemas.openxmlformats.org/drawingml/2006/main">
            <a:r>
              <a:t>    "transfers": [</a:t>
            </a:r>
          </a:p>
          <a:p xmlns:a="http://schemas.openxmlformats.org/drawingml/2006/main">
            <a:r>
              <a:t>      "민원 본문",</a:t>
            </a:r>
          </a:p>
          <a:p xmlns:a="http://schemas.openxmlformats.org/drawingml/2006/main">
            <a:r>
              <a:t>      "유사 사건",</a:t>
            </a:r>
          </a:p>
          <a:p xmlns:a="http://schemas.openxmlformats.org/drawingml/2006/main">
            <a:r>
              <a:t>      "추천 답변",</a:t>
            </a:r>
          </a:p>
          <a:p xmlns:a="http://schemas.openxmlformats.org/drawingml/2006/main">
            <a:r>
              <a:t>      "수정·회신"</a:t>
            </a:r>
          </a:p>
          <a:p xmlns:a="http://schemas.openxmlformats.org/drawingml/2006/main">
            <a:r>
              <a:t>    ],</a:t>
            </a:r>
          </a:p>
          <a:p xmlns:a="http://schemas.openxmlformats.org/drawingml/2006/main">
            <a:r>
              <a:t>    "control": "동일 사건 여부·개인정보 범위 검토",</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추진계획·성과지표, 기능 요구사항 / Word T035 https://www.nia.or.kr/common/board/Download.do?bcIdx=28233&amp;cbIdx=78336&amp;fileNo=2</a:t>
            </a:r>
          </a:p>
          <a:p xmlns:a="http://schemas.openxmlformats.org/drawingml/2006/main">
            <a:r>
              <a:t>홈페이지 https://heen1987-ops.github.io/TS-business-Plan-001/index.html?view=platform-cases&amp;case=PF-R02</a:t>
            </a:r>
          </a:p>
          <a:p xmlns:a="http://schemas.openxmlformats.org/drawingml/2006/main">
            <a:r>
              <a:t>원문 도면 {"caseId":"PF-R02","path":"assets/casebook-sources/PF-R02-04.png","title":"데이터 구축·학습·운영 흐름","status":"RFP 데이터 처리 구조","caption":"수집·정제·가공·학습·운영의 환류","locator":"NIA_RFP_RFP / BinData/image32_png","checked":"2026-10-16","sha256":"b6c466b110d91bceff5a9f806d658aa54f010e0a5b8a358a16771181bea77c50","explanation":{"read":"수집·정제·가공·학습·운영이 연결된 데이터 생애주기. 온라인 요청 처리와 모델·지식 갱신의 작업이 서로 다른 주기로 수행되는 구성.","requirements":["SFR-015","SFR-018","SFR-020"],"connection":"원천 변경 시 수집 완료·정제 완료·색인 반영 상태를 분리하고 실패 자료만 재처리하는 운영 설계. 검토 피드백의 자동 학습 투입 전 품질 확인 단계 필요."}}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"PF-R02",</a:t>
            </a:r>
          </a:p>
          <a:p xmlns:a="http://schemas.openxmlformats.org/drawingml/2006/main">
            <a:r>
              <a:t>    "sourceId": "R02",</a:t>
            </a:r>
          </a:p>
          <a:p xmlns:a="http://schemas.openxmlformats.org/drawingml/2006/main">
            <a:r>
              <a:t>    "title": "국민권익위 민원 AI",</a:t>
            </a:r>
          </a:p>
          <a:p xmlns:a="http://schemas.openxmlformats.org/drawingml/2006/main">
            <a:r>
              <a:t>    "region": "국내",</a:t>
            </a:r>
          </a:p>
          <a:p xmlns:a="http://schemas.openxmlformats.org/drawingml/2006/main">
            <a:r>
              <a:t>    "owner": "국민권익위원회·NIA",</a:t>
            </a:r>
          </a:p>
          <a:p xmlns:a="http://schemas.openxmlformats.org/drawingml/2006/main">
            <a:r>
              <a:t>    "state": "공식 서비스 개시 확인(2026-02-05)",</a:t>
            </a:r>
          </a:p>
          <a:p xmlns:a="http://schemas.openxmlformats.org/drawingml/2006/main">
            <a:r>
              <a:t>    "period": "기존 원장 확인 2026.10.16",</a:t>
            </a:r>
          </a:p>
          <a:p xmlns:a="http://schemas.openxmlformats.org/drawingml/2006/main">
            <a:r>
              <a:t>    "fact": "민원답변 추천·빈발중복민원 병합·의미 기반 민원 분석",</a:t>
            </a:r>
          </a:p>
          <a:p xmlns:a="http://schemas.openxmlformats.org/drawingml/2006/main">
            <a:r>
              <a:t>    "limit": "추천답변 도출시간·배정 처리시간·최종 답변 처리시간의 정의와 분모를 구분해야 함",</a:t>
            </a:r>
          </a:p>
          <a:p xmlns:a="http://schemas.openxmlformats.org/drawingml/2006/main">
            <a:r>
              <a:t>    "nodes": [</a:t>
            </a:r>
          </a:p>
          <a:p xmlns:a="http://schemas.openxmlformats.org/drawingml/2006/main">
            <a:r>
              <a:t>      "국민신문고",</a:t>
            </a:r>
          </a:p>
          <a:p xmlns:a="http://schemas.openxmlformats.org/drawingml/2006/main">
            <a:r>
              <a:t>      "분류·유사민원",</a:t>
            </a:r>
          </a:p>
          <a:p xmlns:a="http://schemas.openxmlformats.org/drawingml/2006/main">
            <a:r>
              <a:t>      "답변 추천",</a:t>
            </a:r>
          </a:p>
          <a:p xmlns:a="http://schemas.openxmlformats.org/drawingml/2006/main">
            <a:r>
              <a:t>      "현업 수정"</a:t>
            </a:r>
          </a:p>
          <a:p xmlns:a="http://schemas.openxmlformats.org/drawingml/2006/main">
            <a:r>
              <a:t>    ],</a:t>
            </a:r>
          </a:p>
          <a:p xmlns:a="http://schemas.openxmlformats.org/drawingml/2006/main">
            <a:r>
              <a:t>    "apply": "유사 문구와 동일 사건을 구분하는 민원 분류 및 소관부서별 답변 검토",</a:t>
            </a:r>
          </a:p>
          <a:p xmlns:a="http://schemas.openxmlformats.org/drawingml/2006/main">
            <a:r>
              <a:t>    "delta": "민원 사건·기관·업무 분류 / 유사군 검토 UI / 현업 수정 이력",</a:t>
            </a:r>
          </a:p>
          <a:p xmlns:a="http://schemas.openxmlformats.org/drawingml/2006/main">
            <a:r>
              <a:t>    "test": "같은 표현의 다른 사건·반대 취지 민원에 대한 오병합·답변 오류 측정",</a:t>
            </a:r>
          </a:p>
          <a:p xmlns:a="http://schemas.openxmlformats.org/drawingml/2006/main">
            <a:r>
              <a:t>    "url": "https://www.nia.or.kr/common/board/Download.do?bcIdx=28233&amp;cbIdx=78336&amp;fileNo=2",</a:t>
            </a:r>
          </a:p>
          <a:p xmlns:a="http://schemas.openxmlformats.org/drawingml/2006/main">
            <a:r>
              <a:t>    "urls": [</a:t>
            </a:r>
          </a:p>
          <a:p xmlns:a="http://schemas.openxmlformats.org/drawingml/2006/main">
            <a:r>
              <a:t>      "https://www.nia.or.kr/common/board/Download.do?bcIdx=28233&amp;cbIdx=78336&amp;fileNo=2",</a:t>
            </a:r>
          </a:p>
          <a:p xmlns:a="http://schemas.openxmlformats.org/drawingml/2006/main">
            <a:r>
              <a:t>      "https://www.acrc.go.kr/board.es?act=view&amp;bid=ACH&amp;list_no=106584&amp;mid=a10403070000&amp;nPage=1"</a:t>
            </a:r>
          </a:p>
          <a:p xmlns:a="http://schemas.openxmlformats.org/drawingml/2006/main">
            <a:r>
              <a:t>    ],</a:t>
            </a:r>
          </a:p>
          <a:p xmlns:a="http://schemas.openxmlformats.org/drawingml/2006/main">
            <a:r>
              <a:t>    "basis": "추진계획·성과지표, 기능 요구사항 / Word T035",</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"민원 분류 정확도 / 오병합률 / 최종 답변 작성시간",</a:t>
            </a:r>
          </a:p>
          <a:p xmlns:a="http://schemas.openxmlformats.org/drawingml/2006/main">
            <a:r>
              <a:t>    "group": "요구·구축",</a:t>
            </a:r>
          </a:p>
          <a:p xmlns:a="http://schemas.openxmlformats.org/drawingml/2006/main">
            <a:r>
              <a:t>    "sourceDetail": "국민신문고/민원정보분석 연계, RAG·요약·유사도 군집, 현업 수정 및 시범기관 확산",</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"PF-R02",</a:t>
            </a:r>
          </a:p>
          <a:p xmlns:a="http://schemas.openxmlformats.org/drawingml/2006/main">
            <a:r>
              <a:t>    "canonicalId": "PF-R02",</a:t>
            </a:r>
          </a:p>
          <a:p xmlns:a="http://schemas.openxmlformats.org/drawingml/2006/main">
            <a:r>
              <a:t>    "purpose": "민원답변 추천과 빈발·중복민원 분석",</a:t>
            </a:r>
          </a:p>
          <a:p xmlns:a="http://schemas.openxmlformats.org/drawingml/2006/main">
            <a:r>
              <a:t>    "users": "민원 처리자·정책 분석자",</a:t>
            </a:r>
          </a:p>
          <a:p xmlns:a="http://schemas.openxmlformats.org/drawingml/2006/main">
            <a:r>
              <a:t>    "scope": [</a:t>
            </a:r>
          </a:p>
          <a:p xmlns:a="http://schemas.openxmlformats.org/drawingml/2006/main">
            <a:r>
              <a:t>      "답변 초안",</a:t>
            </a:r>
          </a:p>
          <a:p xmlns:a="http://schemas.openxmlformats.org/drawingml/2006/main">
            <a:r>
              <a:t>      "유사민원 병합",</a:t>
            </a:r>
          </a:p>
          <a:p xmlns:a="http://schemas.openxmlformats.org/drawingml/2006/main">
            <a:r>
              <a:t>      "의미 분석"</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"국민신문고",</a:t>
            </a:r>
          </a:p>
          <a:p xmlns:a="http://schemas.openxmlformats.org/drawingml/2006/main">
            <a:r>
              <a:t>        "detail": "민원요지·유형·처리기관 문맥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"답변 초안 / 유사민원 병합 / 의미 분석",</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"분류·답변 추천",</a:t>
            </a:r>
          </a:p>
          <a:p xmlns:a="http://schemas.openxmlformats.org/drawingml/2006/main">
            <a:r>
              <a:t>        "detail": "RAG 답변 추천과 의미 유사도 군집",</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"민원 담당",</a:t>
            </a:r>
          </a:p>
          <a:p xmlns:a="http://schemas.openxmlformats.org/drawingml/2006/main">
            <a:r>
              <a:t>        "detail": "담당자의 군집·초안 수정 후 민원 처리",</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"민원·답변 자료",</a:t>
            </a:r>
          </a:p>
          <a:p xmlns:a="http://schemas.openxmlformats.org/drawingml/2006/main">
            <a:r>
              <a:t>        "detail": "국민신문고·민원정보분석 자료의 연계·정제",</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"기관별 답변 적합성과 병합 오류 분석",</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"국민신문고",</a:t>
            </a:r>
          </a:p>
          <a:p xmlns:a="http://schemas.openxmlformats.org/drawingml/2006/main">
            <a:r>
              <a:t>        "input": "민원요지·유형·처리기관 문맥 구성",</a:t>
            </a:r>
          </a:p>
          <a:p xmlns:a="http://schemas.openxmlformats.org/drawingml/2006/main">
            <a:r>
              <a:t>        "process": "국민신문고·민원정보분석 자료의 연계·정제",</a:t>
            </a:r>
          </a:p>
          <a:p xmlns:a="http://schemas.openxmlformats.org/drawingml/2006/main">
            <a:r>
              <a:t>        "output": "민원 본문"</a:t>
            </a:r>
          </a:p>
          <a:p xmlns:a="http://schemas.openxmlformats.org/drawingml/2006/main">
            <a:r>
              <a:t>      },</a:t>
            </a:r>
          </a:p>
          <a:p xmlns:a="http://schemas.openxmlformats.org/drawingml/2006/main">
            <a:r>
              <a:t>      {</a:t>
            </a:r>
          </a:p>
          <a:p xmlns:a="http://schemas.openxmlformats.org/drawingml/2006/main">
            <a:r>
              <a:t>        "title": "분류·유사민원",</a:t>
            </a:r>
          </a:p>
          <a:p xmlns:a="http://schemas.openxmlformats.org/drawingml/2006/main">
            <a:r>
              <a:t>        "input": "민원 본문",</a:t>
            </a:r>
          </a:p>
          <a:p xmlns:a="http://schemas.openxmlformats.org/drawingml/2006/main">
            <a:r>
              <a:t>        "process": "RAG 답변 추천과 의미 유사도 군집",</a:t>
            </a:r>
          </a:p>
          <a:p xmlns:a="http://schemas.openxmlformats.org/drawingml/2006/main">
            <a:r>
              <a:t>        "output": "유사 사건"</a:t>
            </a:r>
          </a:p>
          <a:p xmlns:a="http://schemas.openxmlformats.org/drawingml/2006/main">
            <a:r>
              <a:t>      },</a:t>
            </a:r>
          </a:p>
          <a:p xmlns:a="http://schemas.openxmlformats.org/drawingml/2006/main">
            <a:r>
              <a:t>      {</a:t>
            </a:r>
          </a:p>
          <a:p xmlns:a="http://schemas.openxmlformats.org/drawingml/2006/main">
            <a:r>
              <a:t>        "title": "답변 추천",</a:t>
            </a:r>
          </a:p>
          <a:p xmlns:a="http://schemas.openxmlformats.org/drawingml/2006/main">
            <a:r>
              <a:t>        "input": "유사 사건",</a:t>
            </a:r>
          </a:p>
          <a:p xmlns:a="http://schemas.openxmlformats.org/drawingml/2006/main">
            <a:r>
              <a:t>        "process": "동일 사건 여부·개인정보 범위 검토",</a:t>
            </a:r>
          </a:p>
          <a:p xmlns:a="http://schemas.openxmlformats.org/drawingml/2006/main">
            <a:r>
              <a:t>        "output": "추천 답변"</a:t>
            </a:r>
          </a:p>
          <a:p xmlns:a="http://schemas.openxmlformats.org/drawingml/2006/main">
            <a:r>
              <a:t>      },</a:t>
            </a:r>
          </a:p>
          <a:p xmlns:a="http://schemas.openxmlformats.org/drawingml/2006/main">
            <a:r>
              <a:t>      {</a:t>
            </a:r>
          </a:p>
          <a:p xmlns:a="http://schemas.openxmlformats.org/drawingml/2006/main">
            <a:r>
              <a:t>        "title": "현업 수정",</a:t>
            </a:r>
          </a:p>
          <a:p xmlns:a="http://schemas.openxmlformats.org/drawingml/2006/main">
            <a:r>
              <a:t>        "input": "추천 답변",</a:t>
            </a:r>
          </a:p>
          <a:p xmlns:a="http://schemas.openxmlformats.org/drawingml/2006/main">
            <a:r>
              <a:t>        "process": "담당자의 군집·초안 수정 후 민원 처리",</a:t>
            </a:r>
          </a:p>
          <a:p xmlns:a="http://schemas.openxmlformats.org/drawingml/2006/main">
            <a:r>
              <a:t>        "output": "수정·회신"</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"같은 사안의 반복 민원을 묶고 기관별 답변 초안 제시",</a:t>
            </a:r>
          </a:p>
          <a:p xmlns:a="http://schemas.openxmlformats.org/drawingml/2006/main">
            <a:r>
              <a:t>      "exception": "표현이 같은 다른 사건·소관기관 차이·반대 취지",</a:t>
            </a:r>
          </a:p>
          <a:p xmlns:a="http://schemas.openxmlformats.org/drawingml/2006/main">
            <a:r>
              <a:t>      "evidence": "군집 정답표·잘못된 병합 건·담당자 수정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"민원 처리자·정책 분석자",</a:t>
            </a:r>
          </a:p>
          <a:p xmlns:a="http://schemas.openxmlformats.org/drawingml/2006/main">
            <a:r>
              <a:t>          "processing": "민원요지·유형·처리기관 문맥 구성",</a:t>
            </a:r>
          </a:p>
          <a:p xmlns:a="http://schemas.openxmlformats.org/drawingml/2006/main">
            <a:r>
              <a:t>          "output": "민원 본문"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"민원·답변 자료",</a:t>
            </a:r>
          </a:p>
          <a:p xmlns:a="http://schemas.openxmlformats.org/drawingml/2006/main">
            <a:r>
              <a:t>          "processing": "국민신문고·민원정보분석 자료의 연계·정제",</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"민원 본문",</a:t>
            </a:r>
          </a:p>
          <a:p xmlns:a="http://schemas.openxmlformats.org/drawingml/2006/main">
            <a:r>
              <a:t>          "processing": "RAG 답변 추천과 의미 유사도 군집",</a:t>
            </a:r>
          </a:p>
          <a:p xmlns:a="http://schemas.openxmlformats.org/drawingml/2006/main">
            <a:r>
              <a:t>          "output": "추천 답변"</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"추천 답변",</a:t>
            </a:r>
          </a:p>
          <a:p xmlns:a="http://schemas.openxmlformats.org/drawingml/2006/main">
            <a:r>
              <a:t>          "processing": "담당자의 군집·초안 수정 후 민원 처리",</a:t>
            </a:r>
          </a:p>
          <a:p xmlns:a="http://schemas.openxmlformats.org/drawingml/2006/main">
            <a:r>
              <a:t>          "output": "수정·회신"</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"기관별 답변 적합성과 병합 오류 분석",</a:t>
            </a:r>
          </a:p>
          <a:p xmlns:a="http://schemas.openxmlformats.org/drawingml/2006/main">
            <a:r>
              <a:t>          "output": "군집 정답표·잘못된 병합 건·담당자 수정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"기관별 답변 적합성과 병합 오류 분석",</a:t>
            </a:r>
          </a:p>
          <a:p xmlns:a="http://schemas.openxmlformats.org/drawingml/2006/main">
            <a:r>
              <a:t>    "status": "RFP 기반 논리 설계",</a:t>
            </a:r>
          </a:p>
          <a:p xmlns:a="http://schemas.openxmlformats.org/drawingml/2006/main">
            <a:r>
              <a:t>    "basis": "본공고 RFP · 사업계획·민원답변 작성지원·빈발중복민원",</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"추진계획·성과지표, 기능 요구사항 / Word T035",</a:t>
            </a:r>
          </a:p>
          <a:p xmlns:a="http://schemas.openxmlformats.org/drawingml/2006/main">
            <a:r>
              <a:t>        "url": "https://www.nia.or.kr/common/board/Download.do?bcIdx=28233&amp;cbIdx=78336&amp;fileNo=2"</a:t>
            </a:r>
          </a:p>
          <a:p xmlns:a="http://schemas.openxmlformats.org/drawingml/2006/main">
            <a:r>
              <a:t>      }</a:t>
            </a:r>
          </a:p>
          <a:p xmlns:a="http://schemas.openxmlformats.org/drawingml/2006/main">
            <a:r>
              <a:t>    ],</a:t>
            </a:r>
          </a:p>
          <a:p xmlns:a="http://schemas.openxmlformats.org/drawingml/2006/main">
            <a:r>
              <a:t>    "implication": "유사 문구와 동일 사건을 구분하는 민원 분류 및 소관부서별 답변 검토",</a:t>
            </a:r>
          </a:p>
          <a:p xmlns:a="http://schemas.openxmlformats.org/drawingml/2006/main">
            <a:r>
              <a:t>    "local": "유사 문구와 동일 사건을 구분하는 민원 분류 및 소관부서별 답변 검토",</a:t>
            </a:r>
          </a:p>
          <a:p xmlns:a="http://schemas.openxmlformats.org/drawingml/2006/main">
            <a:r>
              <a:t>    "sourceDetail": "국민신문고/민원정보분석 연계, RAG·요약·유사도 군집, 현업 수정 및 시범기관 확산",</a:t>
            </a:r>
          </a:p>
          <a:p xmlns:a="http://schemas.openxmlformats.org/drawingml/2006/main">
            <a:r>
              <a:t>    "narrative": [</a:t>
            </a:r>
          </a:p>
          <a:p xmlns:a="http://schemas.openxmlformats.org/drawingml/2006/main">
            <a:r>
              <a:t>      "국민신문고의 접수·처리와 민원정보분석 업무를 연결하는 AI 고도화. 담당자의 답변 초안 작성과 유사민원 식별, 정책 분석자의 의미 기반 이슈 탐색을 서로 다른 업무 결과로 구분하는 사업.",</a:t>
            </a:r>
          </a:p>
          <a:p xmlns:a="http://schemas.openxmlformats.org/drawingml/2006/main">
            <a:r>
              <a:t>      "원문 목표 구성도는 기존 포털·DB, API Gateway, 답변·분석·중복 검색 모듈, 데이터 처리 계층, 운영 관리 계층으로 구성. OCR·메타정보 추출 후 키워드·벡터 검색을 병렬 수행하고, 재정렬된 근거를 업무 모듈에 전달하는 구조. 서비스 화면과 모델 운영의 별도 책임 분리가 핵심.",</a:t>
            </a:r>
          </a:p>
          <a:p xmlns:a="http://schemas.openxmlformats.org/drawingml/2006/main">
            <a:r>
              <a:t>      "표현이 비슷하다는 이유만으로 같은 사건으로 병합하면 이의·반대 민원의 취지 소실 가능성. CCK 비교시험에서는 문장 유사도 외에 사건·기관·지역·처리 단계의 일치 여부와 담당자의 수정·채택 이력을 함께 평가할 필요. 답변 추천시간과 최종 회신시간의 별도 계측."</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"SFR-004",</a:t>
            </a:r>
          </a:p>
          <a:p xmlns:a="http://schemas.openxmlformats.org/drawingml/2006/main">
            <a:r>
              <a:t>        "title": "민원 종류 분류",</a:t>
            </a:r>
          </a:p>
          <a:p xmlns:a="http://schemas.openxmlformats.org/drawingml/2006/main">
            <a:r>
              <a:t>        "locator": "SFR-004",</a:t>
            </a:r>
          </a:p>
          <a:p xmlns:a="http://schemas.openxmlformats.org/drawingml/2006/main">
            <a:r>
              <a:t>        "summary": "민원 본문을 민원 종류로 분류해 담당 업무의 처리 경로를 지원하는 기능.",</a:t>
            </a:r>
          </a:p>
          <a:p xmlns:a="http://schemas.openxmlformats.org/drawingml/2006/main">
            <a:r>
              <a:t>        "data": "민원 원문·분류 체계 → 분류 후보·검토 결과",</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"복합 주제·짧은 문장·오탈자 민원의 오분류와 담당자 수정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"6b4913cc0ae5b5169d9646773f4136e5246b9263738a4827b1ab87a16891f0b5"</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"민원 처리내용 초안 제공",</a:t>
            </a:r>
          </a:p>
          <a:p xmlns:a="http://schemas.openxmlformats.org/drawingml/2006/main">
            <a:r>
              <a:t>        "locator": "SFR-005",</a:t>
            </a:r>
          </a:p>
          <a:p xmlns:a="http://schemas.openxmlformats.org/drawingml/2006/main">
            <a:r>
              <a:t>        "summary": "관련 규정과 기존 처리내용을 참조한 민원답변 초안 지원. 초안과 최종 답변의 담당자 확인 경로 구성.",</a:t>
            </a:r>
          </a:p>
          <a:p xmlns:a="http://schemas.openxmlformats.org/drawingml/2006/main">
            <a:r>
              <a:t>        "data": "접수 민원·참조 자료 → 근거가 연결된 답변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"과거 규정과 현행 규정이 충돌하는 사례의 근거 판본 및 담당자 수정 흔적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"4f5defef29ed25fd79e46a89d680a461cb449aef69766f422194dd69e74fe07d"</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"유사민원 식별 기능 제공",</a:t>
            </a:r>
          </a:p>
          <a:p xmlns:a="http://schemas.openxmlformats.org/drawingml/2006/main">
            <a:r>
              <a:t>        "locator": "SFR-006",</a:t>
            </a:r>
          </a:p>
          <a:p xmlns:a="http://schemas.openxmlformats.org/drawingml/2006/main">
            <a:r>
              <a:t>        "summary": "같거나 유사한 민원을 식별해 반복 업무를 지원하는 기능. 검색 후보와 실제 병합 판단의 구분.",</a:t>
            </a:r>
          </a:p>
          <a:p xmlns:a="http://schemas.openxmlformats.org/drawingml/2006/main">
            <a:r>
              <a:t>        "data": "민원 집합·사건 문맥 → 유사도·후보 묶음",</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"C05"</a:t>
            </a:r>
          </a:p>
          <a:p xmlns:a="http://schemas.openxmlformats.org/drawingml/2006/main">
            <a:r>
              <a:t>        ],</a:t>
            </a:r>
          </a:p>
          <a:p xmlns:a="http://schemas.openxmlformats.org/drawingml/2006/main">
            <a:r>
              <a:t>        "acceptance": "문장은 같지만 사건·지역·신청인이 다른 사례로 오병합 여부와 원문 복원 가능성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"4153e591c032d301106aff35c38940a0d476dc7d8c4d31155d7221e129da66dd"</a:t>
            </a:r>
          </a:p>
          <a:p xmlns:a="http://schemas.openxmlformats.org/drawingml/2006/main">
            <a:r>
              <a:t>      },</a:t>
            </a:r>
          </a:p>
          <a:p xmlns:a="http://schemas.openxmlformats.org/drawingml/2006/main">
            <a:r>
              <a:t>      {</a:t>
            </a:r>
          </a:p>
          <a:p xmlns:a="http://schemas.openxmlformats.org/drawingml/2006/main">
            <a:r>
              <a:t>        "id": "SFR-010",</a:t>
            </a:r>
          </a:p>
          <a:p xmlns:a="http://schemas.openxmlformats.org/drawingml/2006/main">
            <a:r>
              <a:t>        "title": "민원업무 고도화 서비스 관리기능",</a:t>
            </a:r>
          </a:p>
          <a:p xmlns:a="http://schemas.openxmlformats.org/drawingml/2006/main">
            <a:r>
              <a:t>        "locator": "SFR-010",</a:t>
            </a:r>
          </a:p>
          <a:p xmlns:a="http://schemas.openxmlformats.org/drawingml/2006/main">
            <a:r>
              <a:t>        "summary": "민원업무 고도화 서비스의 이용·관리 기능 구성. 운영자가 업무별 서비스 상태와 관리 대상을 확인하는 경로.",</a:t>
            </a:r>
          </a:p>
          <a:p xmlns:a="http://schemas.openxmlformats.org/drawingml/2006/main">
            <a:r>
              <a:t>        "data": "운영 설정·사용 이력 → 관리 상태·변경 기록",</a:t>
            </a:r>
          </a:p>
          <a:p xmlns:a="http://schemas.openxmlformats.org/drawingml/2006/main">
            <a:r>
              <a:t>        "components": [</a:t>
            </a:r>
          </a:p>
          <a:p xmlns:a="http://schemas.openxmlformats.org/drawingml/2006/main">
            <a:r>
              <a:t>          "C06",</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"관리 역할별 허용 작업과 변경 이력, 설정 변경 후 서비스 반영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"d0f1ab9389b360af8d77e62f3eeb2326716b450c2d1575dcec42b79fbb02d49b"</a:t>
            </a:r>
          </a:p>
          <a:p xmlns:a="http://schemas.openxmlformats.org/drawingml/2006/main">
            <a:r>
              <a:t>      },</a:t>
            </a:r>
          </a:p>
          <a:p xmlns:a="http://schemas.openxmlformats.org/drawingml/2006/main">
            <a:r>
              <a:t>      {</a:t>
            </a:r>
          </a:p>
          <a:p xmlns:a="http://schemas.openxmlformats.org/drawingml/2006/main">
            <a:r>
              <a:t>        "id": "SFR-011",</a:t>
            </a:r>
          </a:p>
          <a:p xmlns:a="http://schemas.openxmlformats.org/drawingml/2006/main">
            <a:r>
              <a:t>        "title": "의미 기반 검색과 분석",</a:t>
            </a:r>
          </a:p>
          <a:p xmlns:a="http://schemas.openxmlformats.org/drawingml/2006/main">
            <a:r>
              <a:t>        "locator": "SFR-011",</a:t>
            </a:r>
          </a:p>
          <a:p xmlns:a="http://schemas.openxmlformats.org/drawingml/2006/main">
            <a:r>
              <a:t>        "summary": "단순 키워드 일치를 넘어 민원 의미를 이용한 검색·분석 지원.",</a:t>
            </a:r>
          </a:p>
          <a:p xmlns:a="http://schemas.openxmlformats.org/drawingml/2006/main">
            <a:r>
              <a:t>        "data": "검색 질의·민원 색인 → 의미상 관련 민원·분석 결과",</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"C11"</a:t>
            </a:r>
          </a:p>
          <a:p xmlns:a="http://schemas.openxmlformats.org/drawingml/2006/main">
            <a:r>
              <a:t>        ],</a:t>
            </a:r>
          </a:p>
          <a:p xmlns:a="http://schemas.openxmlformats.org/drawingml/2006/main">
            <a:r>
              <a:t>        "acceptance": "다른 표현의 같은 의도와 같은 단어의 다른 의도를 구분한 검색 정답셋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"cb3704532e53b7b70bc4764b544e7f549cec4553215296f437e5601fe00168f1"</a:t>
            </a:r>
          </a:p>
          <a:p xmlns:a="http://schemas.openxmlformats.org/drawingml/2006/main">
            <a:r>
              <a:t>      },</a:t>
            </a:r>
          </a:p>
          <a:p xmlns:a="http://schemas.openxmlformats.org/drawingml/2006/main">
            <a:r>
              <a:t>      {</a:t>
            </a:r>
          </a:p>
          <a:p xmlns:a="http://schemas.openxmlformats.org/drawingml/2006/main">
            <a:r>
              <a:t>        "id": "SFR-015",</a:t>
            </a:r>
          </a:p>
          <a:p xmlns:a="http://schemas.openxmlformats.org/drawingml/2006/main">
            <a:r>
              <a:t>        "title": "실시간 데이터 수집 및 검증",</a:t>
            </a:r>
          </a:p>
          <a:p xmlns:a="http://schemas.openxmlformats.org/drawingml/2006/main">
            <a:r>
              <a:t>        "locator": "SFR-015",</a:t>
            </a:r>
          </a:p>
          <a:p xmlns:a="http://schemas.openxmlformats.org/drawingml/2006/main">
            <a:r>
              <a:t>        "summary": "OGG 기반 원천 변경 수집과 데이터 검증을 통한 실시간 연계. 수집 이후 정합성 확인이 필요한 데이터 흐름.",</a:t>
            </a:r>
          </a:p>
          <a:p xmlns:a="http://schemas.openxmlformats.org/drawingml/2006/main">
            <a:r>
              <a:t>        "data": "원천 DB 변경분 → 검증된 연계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"삽입·수정·삭제·중단 후 재개 시 건수·키·시점 대사와 중복 적재 여부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"bcca0bc62529ccf5ac36e787dc506c0b54f8f16e1b96c873fa31cca5157a057c"</a:t>
            </a:r>
          </a:p>
          <a:p xmlns:a="http://schemas.openxmlformats.org/drawingml/2006/main">
            <a:r>
              <a:t>      },</a:t>
            </a:r>
          </a:p>
          <a:p xmlns:a="http://schemas.openxmlformats.org/drawingml/2006/main">
            <a:r>
              <a:t>      {</a:t>
            </a:r>
          </a:p>
          <a:p xmlns:a="http://schemas.openxmlformats.org/drawingml/2006/main">
            <a:r>
              <a:t>        "id": "SFR-018",</a:t>
            </a:r>
          </a:p>
          <a:p xmlns:a="http://schemas.openxmlformats.org/drawingml/2006/main">
            <a:r>
              <a:t>        "title": "AI 기반 민원 자동 처리",</a:t>
            </a:r>
          </a:p>
          <a:p xmlns:a="http://schemas.openxmlformats.org/drawingml/2006/main">
            <a:r>
              <a:t>        "locator": "SFR-018",</a:t>
            </a:r>
          </a:p>
          <a:p xmlns:a="http://schemas.openxmlformats.org/drawingml/2006/main">
            <a:r>
              <a:t>        "summary": "AI 기반 민원 처리 지원에 담당자 검토·채택 결과를 연결하고 운영 개선에 활용하는 흐름.",</a:t>
            </a:r>
          </a:p>
          <a:p xmlns:a="http://schemas.openxmlformats.org/drawingml/2006/main">
            <a:r>
              <a:t>        "data": "처리 후보·담당자 검토 → 채택·수정 결과·피드백",</a:t>
            </a:r>
          </a:p>
          <a:p xmlns:a="http://schemas.openxmlformats.org/drawingml/2006/main">
            <a:r>
              <a:t>        "components": [</a:t>
            </a:r>
          </a:p>
          <a:p xmlns:a="http://schemas.openxmlformats.org/drawingml/2006/main">
            <a:r>
              <a:t>          "C04",</a:t>
            </a:r>
          </a:p>
          <a:p xmlns:a="http://schemas.openxmlformats.org/drawingml/2006/main">
            <a:r>
              <a:t>          "C06",</a:t>
            </a:r>
          </a:p>
          <a:p xmlns:a="http://schemas.openxmlformats.org/drawingml/2006/main">
            <a:r>
              <a:t>          "C08"</a:t>
            </a:r>
          </a:p>
          <a:p xmlns:a="http://schemas.openxmlformats.org/drawingml/2006/main">
            <a:r>
              <a:t>        ],</a:t>
            </a:r>
          </a:p>
          <a:p xmlns:a="http://schemas.openxmlformats.org/drawingml/2006/main">
            <a:r>
              <a:t>        "acceptance": "추천과 확정 상태를 구분하고 수정·반려가 다음 처리 기록에 누락 없이 남는지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"35bf9ae1174266075e30936c9e150e97a0d68cd55f83071656309743e2875dca"</a:t>
            </a:r>
          </a:p>
          <a:p xmlns:a="http://schemas.openxmlformats.org/drawingml/2006/main">
            <a:r>
              <a:t>      },</a:t>
            </a:r>
          </a:p>
          <a:p xmlns:a="http://schemas.openxmlformats.org/drawingml/2006/main">
            <a:r>
              <a:t>      {</a:t>
            </a:r>
          </a:p>
          <a:p xmlns:a="http://schemas.openxmlformats.org/drawingml/2006/main">
            <a:r>
              <a:t>        "id": "SFR-019",</a:t>
            </a:r>
          </a:p>
          <a:p xmlns:a="http://schemas.openxmlformats.org/drawingml/2006/main">
            <a:r>
              <a:t>        "title": "API 통합 관리 및 성능 모니터링",</a:t>
            </a:r>
          </a:p>
          <a:p xmlns:a="http://schemas.openxmlformats.org/drawingml/2006/main">
            <a:r>
              <a:t>        "locator": "SFR-019",</a:t>
            </a:r>
          </a:p>
          <a:p xmlns:a="http://schemas.openxmlformats.org/drawingml/2006/main">
            <a:r>
              <a:t>        "summary": "API 통합 관리와 성능 모니터링을 통한 업무 모듈·기간계 연결 관리.",</a:t>
            </a:r>
          </a:p>
          <a:p xmlns:a="http://schemas.openxmlformats.org/drawingml/2006/main">
            <a:r>
              <a:t>        "data": "API 요청·응답·호출 이력 → 상태·성능·오류 기록",</a:t>
            </a:r>
          </a:p>
          <a:p xmlns:a="http://schemas.openxmlformats.org/drawingml/2006/main">
            <a:r>
              <a:t>        "components": [</a:t>
            </a:r>
          </a:p>
          <a:p xmlns:a="http://schemas.openxmlformats.org/drawingml/2006/main">
            <a:r>
              <a:t>          "C02",</a:t>
            </a:r>
          </a:p>
          <a:p xmlns:a="http://schemas.openxmlformats.org/drawingml/2006/main">
            <a:r>
              <a:t>          "C07",</a:t>
            </a:r>
          </a:p>
          <a:p xmlns:a="http://schemas.openxmlformats.org/drawingml/2006/main">
            <a:r>
              <a:t>          "C08"</a:t>
            </a:r>
          </a:p>
          <a:p xmlns:a="http://schemas.openxmlformats.org/drawingml/2006/main">
            <a:r>
              <a:t>        ],</a:t>
            </a:r>
          </a:p>
          <a:p xmlns:a="http://schemas.openxmlformats.org/drawingml/2006/main">
            <a:r>
              <a:t>        "acceptance": "호출 실패·시간초과·중복 요청을 주입하고 호출 경로별 원인과 처리 상태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"ff7c0fe41f6cc841f53d73ace372872ebb0dfc391d7d7ca1a21b446c4dfa32b4"</a:t>
            </a:r>
          </a:p>
          <a:p xmlns:a="http://schemas.openxmlformats.org/drawingml/2006/main">
            <a:r>
              <a:t>      },</a:t>
            </a:r>
          </a:p>
          <a:p xmlns:a="http://schemas.openxmlformats.org/drawingml/2006/main">
            <a:r>
              <a:t>      {</a:t>
            </a:r>
          </a:p>
          <a:p xmlns:a="http://schemas.openxmlformats.org/drawingml/2006/main">
            <a:r>
              <a:t>        "id": "SFR-020",</a:t>
            </a:r>
          </a:p>
          <a:p xmlns:a="http://schemas.openxmlformats.org/drawingml/2006/main">
            <a:r>
              <a:t>        "title": "시스템 설정 및 운영 모니터링 통합 관리",</a:t>
            </a:r>
          </a:p>
          <a:p xmlns:a="http://schemas.openxmlformats.org/drawingml/2006/main">
            <a:r>
              <a:t>        "locator": "SFR-020",</a:t>
            </a:r>
          </a:p>
          <a:p xmlns:a="http://schemas.openxmlformats.org/drawingml/2006/main">
            <a:r>
              <a:t>        "summary": "시스템 설정과 운영 모니터링의 통합 관리. 업무 기능과 운영 정책의 일관된 상태 확인.",</a:t>
            </a:r>
          </a:p>
          <a:p xmlns:a="http://schemas.openxmlformats.org/drawingml/2006/main">
            <a:r>
              <a:t>        "data": "시스템 설정·운영 지표 → 관리 화면·이상 상태",</a:t>
            </a:r>
          </a:p>
          <a:p xmlns:a="http://schemas.openxmlformats.org/drawingml/2006/main">
            <a:r>
              <a:t>        "components": [</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"설정 변경 권한, 변경 전후 상태, 장애 탐지·복구 기록의 연결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"700952e7f3297506bdddffe81782d75953ec64aa85c0f75fd9ce24f75b54747a"</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"국민신문고 접점",</a:t>
            </a:r>
          </a:p>
          <a:p xmlns:a="http://schemas.openxmlformats.org/drawingml/2006/main">
            <a:r>
              <a:t>          "layer": "이용 접점",</a:t>
            </a:r>
          </a:p>
          <a:p xmlns:a="http://schemas.openxmlformats.org/drawingml/2006/main">
            <a:r>
              <a:t>          "detail": "민원 처리자·정책 분석자",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"요지·기관·유형",</a:t>
            </a:r>
          </a:p>
          <a:p xmlns:a="http://schemas.openxmlformats.org/drawingml/2006/main">
            <a:r>
              <a:t>          "layer": "업무 문맥",</a:t>
            </a:r>
          </a:p>
          <a:p xmlns:a="http://schemas.openxmlformats.org/drawingml/2006/main">
            <a:r>
              <a:t>          "detail": "민원요지·유형·처리기관 문맥 구성",</a:t>
            </a:r>
          </a:p>
          <a:p xmlns:a="http://schemas.openxmlformats.org/drawingml/2006/main">
            <a:r>
              <a:t>          "requirements": [</a:t>
            </a:r>
          </a:p>
          <a:p xmlns:a="http://schemas.openxmlformats.org/drawingml/2006/main">
            <a:r>
              <a:t>            "SFR-004",</a:t>
            </a:r>
          </a:p>
          <a:p xmlns:a="http://schemas.openxmlformats.org/drawingml/2006/main">
            <a:r>
              <a:t>            "SFR-019"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"키워드·벡터 검색",</a:t>
            </a:r>
          </a:p>
          <a:p xmlns:a="http://schemas.openxmlformats.org/drawingml/2006/main">
            <a:r>
              <a:t>          "layer": "자료 조회",</a:t>
            </a:r>
          </a:p>
          <a:p xmlns:a="http://schemas.openxmlformats.org/drawingml/2006/main">
            <a:r>
              <a:t>          "detail": "민원 본문",</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"재정렬·답변·군집",</a:t>
            </a:r>
          </a:p>
          <a:p xmlns:a="http://schemas.openxmlformats.org/drawingml/2006/main">
            <a:r>
              <a:t>          "layer": "핵심 처리",</a:t>
            </a:r>
          </a:p>
          <a:p xmlns:a="http://schemas.openxmlformats.org/drawingml/2006/main">
            <a:r>
              <a:t>          "detail": "RAG 답변 추천과 의미 유사도 군집",</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"SFR-018"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"동일 사건 대조",</a:t>
            </a:r>
          </a:p>
          <a:p xmlns:a="http://schemas.openxmlformats.org/drawingml/2006/main">
            <a:r>
              <a:t>          "layer": "결과 검증",</a:t>
            </a:r>
          </a:p>
          <a:p xmlns:a="http://schemas.openxmlformats.org/drawingml/2006/main">
            <a:r>
              <a:t>          "detail": "동일 사건 여부·개인정보 범위 검토",</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"담당자 수정",</a:t>
            </a:r>
          </a:p>
          <a:p xmlns:a="http://schemas.openxmlformats.org/drawingml/2006/main">
            <a:r>
              <a:t>          "layer": "사람 확인",</a:t>
            </a:r>
          </a:p>
          <a:p xmlns:a="http://schemas.openxmlformats.org/drawingml/2006/main">
            <a:r>
              <a:t>          "detail": "같은 사안의 반복 민원을 묶고 기관별 답변 초안 제시",</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"SFR-010",</a:t>
            </a:r>
          </a:p>
          <a:p xmlns:a="http://schemas.openxmlformats.org/drawingml/2006/main">
            <a:r>
              <a:t>            "SFR-018"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"민원 처리·분석",</a:t>
            </a:r>
          </a:p>
          <a:p xmlns:a="http://schemas.openxmlformats.org/drawingml/2006/main">
            <a:r>
              <a:t>          "layer": "업무 연결",</a:t>
            </a:r>
          </a:p>
          <a:p xmlns:a="http://schemas.openxmlformats.org/drawingml/2006/main">
            <a:r>
              <a:t>          "detail": "담당자의 군집·초안 수정 후 민원 처리",</a:t>
            </a:r>
          </a:p>
          <a:p xmlns:a="http://schemas.openxmlformats.org/drawingml/2006/main">
            <a:r>
              <a:t>          "requirements": [</a:t>
            </a:r>
          </a:p>
          <a:p xmlns:a="http://schemas.openxmlformats.org/drawingml/2006/main">
            <a:r>
              <a:t>            "SFR-019"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"오답·병합 오류",</a:t>
            </a:r>
          </a:p>
          <a:p xmlns:a="http://schemas.openxmlformats.org/drawingml/2006/main">
            <a:r>
              <a:t>          "layer": "운영 관측",</a:t>
            </a:r>
          </a:p>
          <a:p xmlns:a="http://schemas.openxmlformats.org/drawingml/2006/main">
            <a:r>
              <a:t>          "detail": "기관별 답변 적합성과 병합 오류 분석",</a:t>
            </a:r>
          </a:p>
          <a:p xmlns:a="http://schemas.openxmlformats.org/drawingml/2006/main">
            <a:r>
              <a:t>          "requirements": [</a:t>
            </a:r>
          </a:p>
          <a:p xmlns:a="http://schemas.openxmlformats.org/drawingml/2006/main">
            <a:r>
              <a:t>            "SFR-010",</a:t>
            </a:r>
          </a:p>
          <a:p xmlns:a="http://schemas.openxmlformats.org/drawingml/2006/main">
            <a:r>
              <a:t>            "SFR-018",</a:t>
            </a:r>
          </a:p>
          <a:p xmlns:a="http://schemas.openxmlformats.org/drawingml/2006/main">
            <a:r>
              <a:t>            "SFR-019",</a:t>
            </a:r>
          </a:p>
          <a:p xmlns:a="http://schemas.openxmlformats.org/drawingml/2006/main">
            <a:r>
              <a:t>            "SFR-020"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"민원·답변·지침",</a:t>
            </a:r>
          </a:p>
          <a:p xmlns:a="http://schemas.openxmlformats.org/drawingml/2006/main">
            <a:r>
              <a:t>          "layer": "데이터 원천",</a:t>
            </a:r>
          </a:p>
          <a:p xmlns:a="http://schemas.openxmlformats.org/drawingml/2006/main">
            <a:r>
              <a:t>          "detail": "민원·답변 자료",</a:t>
            </a:r>
          </a:p>
          <a:p xmlns:a="http://schemas.openxmlformats.org/drawingml/2006/main">
            <a:r>
              <a:t>          "requirements": [</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"OCR·메타정보 추출",</a:t>
            </a:r>
          </a:p>
          <a:p xmlns:a="http://schemas.openxmlformats.org/drawingml/2006/main">
            <a:r>
              <a:t>          "layer": "준비·갱신",</a:t>
            </a:r>
          </a:p>
          <a:p xmlns:a="http://schemas.openxmlformats.org/drawingml/2006/main">
            <a:r>
              <a:t>          "detail": "국민신문고·민원정보분석 자료의 연계·정제",</a:t>
            </a:r>
          </a:p>
          <a:p xmlns:a="http://schemas.openxmlformats.org/drawingml/2006/main">
            <a:r>
              <a:t>          "requirements": [</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"지식 DB·색인",</a:t>
            </a:r>
          </a:p>
          <a:p xmlns:a="http://schemas.openxmlformats.org/drawingml/2006/main">
            <a:r>
              <a:t>          "layer": "상태·지식 저장",</a:t>
            </a:r>
          </a:p>
          <a:p xmlns:a="http://schemas.openxmlformats.org/drawingml/2006/main">
            <a:r>
              <a:t>          "detail": "군집 정답표·잘못된 병합 건·담당자 수정 이력",</a:t>
            </a:r>
          </a:p>
          <a:p xmlns:a="http://schemas.openxmlformats.org/drawingml/2006/main">
            <a:r>
              <a:t>          "requirements": [</a:t>
            </a:r>
          </a:p>
          <a:p xmlns:a="http://schemas.openxmlformats.org/drawingml/2006/main">
            <a:r>
              <a:t>            "SFR-011",</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"모델·프롬프트 관리",</a:t>
            </a:r>
          </a:p>
          <a:p xmlns:a="http://schemas.openxmlformats.org/drawingml/2006/main">
            <a:r>
              <a:t>          "layer": "권한·정책",</a:t>
            </a:r>
          </a:p>
          <a:p xmlns:a="http://schemas.openxmlformats.org/drawingml/2006/main">
            <a:r>
              <a:t>          "detail": "표현이 같은 다른 사건·소관기관 차이·반대 취지",</a:t>
            </a:r>
          </a:p>
          <a:p xmlns:a="http://schemas.openxmlformats.org/drawingml/2006/main">
            <a:r>
              <a:t>          "requirements": [</a:t>
            </a:r>
          </a:p>
          <a:p xmlns:a="http://schemas.openxmlformats.org/drawingml/2006/main">
            <a:r>
              <a:t>            "SFR-010",</a:t>
            </a:r>
          </a:p>
          <a:p xmlns:a="http://schemas.openxmlformats.org/drawingml/2006/main">
            <a:r>
              <a:t>            "SFR-020"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"민원요지·유형·처리기관 문맥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"민원 본문",</a:t>
            </a:r>
          </a:p>
          <a:p xmlns:a="http://schemas.openxmlformats.org/drawingml/2006/main">
            <a:r>
              <a:t>          "check": "동일 사건 여부·개인정보 범위 검토"</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"유사 사건",</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"답변 초안·유사군 후보·근거 문서",</a:t>
            </a:r>
          </a:p>
          <a:p xmlns:a="http://schemas.openxmlformats.org/drawingml/2006/main">
            <a:r>
              <a:t>          "check": "표현이 같은 다른 사건·소관기관 차이·반대 취지"</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"추천 답변",</a:t>
            </a:r>
          </a:p>
          <a:p xmlns:a="http://schemas.openxmlformats.org/drawingml/2006/main">
            <a:r>
              <a:t>          "check": "담당자의 군집·초안 수정 후 민원 처리"</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"수정·회신",</a:t>
            </a:r>
          </a:p>
          <a:p xmlns:a="http://schemas.openxmlformats.org/drawingml/2006/main">
            <a:r>
              <a:t>          "check": "군집 정답표·잘못된 병합 건·담당자 수정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"목표시스템 개념도·RAG 구성 예시",</a:t>
            </a:r>
          </a:p>
          <a:p xmlns:a="http://schemas.openxmlformats.org/drawingml/2006/main">
            <a:r>
              <a:t>        "extracted": "API Gateway, OCR·메타정보 추출, 키워드/벡터 검색과 재정렬",</a:t>
            </a:r>
          </a:p>
          <a:p xmlns:a="http://schemas.openxmlformats.org/drawingml/2006/main">
            <a:r>
              <a:t>        "extension": "민원 중복 후보와 공식 병합·회신의 승인 경계"</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"PF-R02",</a:t>
            </a:r>
          </a:p>
          <a:p xmlns:a="http://schemas.openxmlformats.org/drawingml/2006/main">
            <a:r>
              <a:t>          "path": "assets/casebook-sources/PF-R02-01.png",</a:t>
            </a:r>
          </a:p>
          <a:p xmlns:a="http://schemas.openxmlformats.org/drawingml/2006/main">
            <a:r>
              <a:t>          "title": "국민소통 플랫폼 목표시스템",</a:t>
            </a:r>
          </a:p>
          <a:p xmlns:a="http://schemas.openxmlformats.org/drawingml/2006/main">
            <a:r>
              <a:t>          "status": "RFP 목표시스템 개념도",</a:t>
            </a:r>
          </a:p>
          <a:p xmlns:a="http://schemas.openxmlformats.org/drawingml/2006/main">
            <a:r>
              <a:t>          "caption": "접점·API Gateway·업무 모듈·데이터 처리·운영 관리",</a:t>
            </a:r>
          </a:p>
          <a:p xmlns:a="http://schemas.openxmlformats.org/drawingml/2006/main">
            <a:r>
              <a:t>          "locator": "NIA_RFP_RFP / BinData/image33_bmp",</a:t>
            </a:r>
          </a:p>
          <a:p xmlns:a="http://schemas.openxmlformats.org/drawingml/2006/main">
            <a:r>
              <a:t>          "checked": "2026-10-16",</a:t>
            </a:r>
          </a:p>
          <a:p xmlns:a="http://schemas.openxmlformats.org/drawingml/2006/main">
            <a:r>
              <a:t>          "sha256": "91feb890184edf04ccccd8d86995147aa6c2181b0a66c58436263cafccdae911",</a:t>
            </a:r>
          </a:p>
          <a:p xmlns:a="http://schemas.openxmlformats.org/drawingml/2006/main">
            <a:r>
              <a:t>          "explanation": {</a:t>
            </a:r>
          </a:p>
          <a:p xmlns:a="http://schemas.openxmlformats.org/drawingml/2006/main">
            <a:r>
              <a:t>            "read": "접점에서 받은 요청을 API Gateway를 통해 민원 답변·분석·중복 식별 모듈로 전달하는 목표 구성. 데이터 처리 계층은 공통 근거를 공급하고 운영 관리 계층은 서비스·모델 상태를 관찰하는 역할.",</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"SFR-019",</a:t>
            </a:r>
          </a:p>
          <a:p xmlns:a="http://schemas.openxmlformats.org/drawingml/2006/main">
            <a:r>
              <a:t>              "SFR-020"</a:t>
            </a:r>
          </a:p>
          <a:p xmlns:a="http://schemas.openxmlformats.org/drawingml/2006/main">
            <a:r>
              <a:t>            ],</a:t>
            </a:r>
          </a:p>
          <a:p xmlns:a="http://schemas.openxmlformats.org/drawingml/2006/main">
            <a:r>
              <a:t>            "connection": "담당자 답변 초안, 유사민원 후보, 정책 분석 결과를 서로 다른 출력 계약으로 정의하고 기존 민원시스템의 확정·회신 절차에 연결하는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"assets/casebook-sources/PF-R02-02.png",</a:t>
            </a:r>
          </a:p>
          <a:p xmlns:a="http://schemas.openxmlformats.org/drawingml/2006/main">
            <a:r>
              <a:t>          "title": "키워드·벡터 검색과 Reranker",</a:t>
            </a:r>
          </a:p>
          <a:p xmlns:a="http://schemas.openxmlformats.org/drawingml/2006/main">
            <a:r>
              <a:t>          "status": "RFP RAG 구성 예시",</a:t>
            </a:r>
          </a:p>
          <a:p xmlns:a="http://schemas.openxmlformats.org/drawingml/2006/main">
            <a:r>
              <a:t>          "caption": "키워드/벡터 검색 병렬 처리 → 재정렬 → 근거 응답",</a:t>
            </a:r>
          </a:p>
          <a:p xmlns:a="http://schemas.openxmlformats.org/drawingml/2006/main">
            <a:r>
              <a:t>          "locator": "NIA_RFP_RFP / BinData/image18_bmp",</a:t>
            </a:r>
          </a:p>
          <a:p xmlns:a="http://schemas.openxmlformats.org/drawingml/2006/main">
            <a:r>
              <a:t>          "checked": "2026-10-16",</a:t>
            </a:r>
          </a:p>
          <a:p xmlns:a="http://schemas.openxmlformats.org/drawingml/2006/main">
            <a:r>
              <a:t>          "sha256": "a6ab4248256ee300422789627dbe5b8f09ec60657419e13d082c95b32f3f4f90",</a:t>
            </a:r>
          </a:p>
          <a:p xmlns:a="http://schemas.openxmlformats.org/drawingml/2006/main">
            <a:r>
              <a:t>          "explanation": {</a:t>
            </a:r>
          </a:p>
          <a:p xmlns:a="http://schemas.openxmlformats.org/drawingml/2006/main">
            <a:r>
              <a:t>            "read": "키워드 검색은 정확한 용어·조항의 일치 후보, 벡터 검색은 표현이 다른 유사 의미 후보를 제공. Reranker는 통합 후보를 질의 관련성에 따라 다시 정렬하고 생성 모델에 근거를 전달하는 역할.",</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a:t>
            </a:r>
          </a:p>
          <a:p xmlns:a="http://schemas.openxmlformats.org/drawingml/2006/main">
            <a:r>
              <a:t>            "connection": "재정렬 점수를 법적 정답이나 민원 병합 승인으로 해석하지 않고 기관·사건·시점과 출처 일치를 별도로 확인하는 검증 단계의 추가."</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"assets/casebook-sources/PF-R02-03.png",</a:t>
            </a:r>
          </a:p>
          <a:p xmlns:a="http://schemas.openxmlformats.org/drawingml/2006/main">
            <a:r>
              <a:t>          "title": "민원 AI 입출력 데이터",</a:t>
            </a:r>
          </a:p>
          <a:p xmlns:a="http://schemas.openxmlformats.org/drawingml/2006/main">
            <a:r>
              <a:t>          "status": "RFP 데이터 흐름도",</a:t>
            </a:r>
          </a:p>
          <a:p xmlns:a="http://schemas.openxmlformats.org/drawingml/2006/main">
            <a:r>
              <a:t>          "caption": "국민신문고·시범기관 매뉴얼 → 전처리·RAG → 답변·유사도",</a:t>
            </a:r>
          </a:p>
          <a:p xmlns:a="http://schemas.openxmlformats.org/drawingml/2006/main">
            <a:r>
              <a:t>          "locator": "NIA_RFP_RFP / BinData/image34_bmp",</a:t>
            </a:r>
          </a:p>
          <a:p xmlns:a="http://schemas.openxmlformats.org/drawingml/2006/main">
            <a:r>
              <a:t>          "checked": "2026-10-16",</a:t>
            </a:r>
          </a:p>
          <a:p xmlns:a="http://schemas.openxmlformats.org/drawingml/2006/main">
            <a:r>
              <a:t>          "sha256": "0e09409295bbb0aae0a61666cf01982d012392b3f4bccd2e98499654b4b690d0",</a:t>
            </a:r>
          </a:p>
          <a:p xmlns:a="http://schemas.openxmlformats.org/drawingml/2006/main">
            <a:r>
              <a:t>          "explanation": {</a:t>
            </a:r>
          </a:p>
          <a:p xmlns:a="http://schemas.openxmlformats.org/drawingml/2006/main">
            <a:r>
              <a:t>            "read": "국민신문고 데이터와 시범기관 매뉴얼 등 입력을 전처리·RAG 경로에 투입하고 업무별 답변·유사도 결과로 변환하는 입출력 구조. 동일 원천을 이용하더라도 답변과 군집의 산출물은 별도 관리 대상.",</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"SFR-015",</a:t>
            </a:r>
          </a:p>
          <a:p xmlns:a="http://schemas.openxmlformats.org/drawingml/2006/main">
            <a:r>
              <a:t>              "SFR-018"</a:t>
            </a:r>
          </a:p>
          <a:p xmlns:a="http://schemas.openxmlformats.org/drawingml/2006/main">
            <a:r>
              <a:t>            ],</a:t>
            </a:r>
          </a:p>
          <a:p xmlns:a="http://schemas.openxmlformats.org/drawingml/2006/main">
            <a:r>
              <a:t>            "connection": "원천 민원 ID·문서 판본·근거 위치를 결과에 유지해 담당자 수정과 최종 회신의 차이를 재현할 수 있도록 하는 데이터 계약."</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"assets/casebook-sources/PF-R02-04.png",</a:t>
            </a:r>
          </a:p>
          <a:p xmlns:a="http://schemas.openxmlformats.org/drawingml/2006/main">
            <a:r>
              <a:t>          "title": "데이터 구축·학습·운영 흐름",</a:t>
            </a:r>
          </a:p>
          <a:p xmlns:a="http://schemas.openxmlformats.org/drawingml/2006/main">
            <a:r>
              <a:t>          "status": "RFP 데이터 처리 구조",</a:t>
            </a:r>
          </a:p>
          <a:p xmlns:a="http://schemas.openxmlformats.org/drawingml/2006/main">
            <a:r>
              <a:t>          "caption": "수집·정제·가공·학습·운영의 환류",</a:t>
            </a:r>
          </a:p>
          <a:p xmlns:a="http://schemas.openxmlformats.org/drawingml/2006/main">
            <a:r>
              <a:t>          "locator": "NIA_RFP_RFP / BinData/image32_png",</a:t>
            </a:r>
          </a:p>
          <a:p xmlns:a="http://schemas.openxmlformats.org/drawingml/2006/main">
            <a:r>
              <a:t>          "checked": "2026-10-16",</a:t>
            </a:r>
          </a:p>
          <a:p xmlns:a="http://schemas.openxmlformats.org/drawingml/2006/main">
            <a:r>
              <a:t>          "sha256": "b6c466b110d91bceff5a9f806d658aa54f010e0a5b8a358a16771181bea77c50",</a:t>
            </a:r>
          </a:p>
          <a:p xmlns:a="http://schemas.openxmlformats.org/drawingml/2006/main">
            <a:r>
              <a:t>          "explanation": {</a:t>
            </a:r>
          </a:p>
          <a:p xmlns:a="http://schemas.openxmlformats.org/drawingml/2006/main">
            <a:r>
              <a:t>            "read": "수집·정제·가공·학습·운영이 연결된 데이터 생애주기. 온라인 요청 처리와 모델·지식 갱신의 작업이 서로 다른 주기로 수행되는 구성.",</a:t>
            </a:r>
          </a:p>
          <a:p xmlns:a="http://schemas.openxmlformats.org/drawingml/2006/main">
            <a:r>
              <a:t>            "requirements": [</a:t>
            </a:r>
          </a:p>
          <a:p xmlns:a="http://schemas.openxmlformats.org/drawingml/2006/main">
            <a:r>
              <a:t>              "SFR-015",</a:t>
            </a:r>
          </a:p>
          <a:p xmlns:a="http://schemas.openxmlformats.org/drawingml/2006/main">
            <a:r>
              <a:t>              "SFR-018",</a:t>
            </a:r>
          </a:p>
          <a:p xmlns:a="http://schemas.openxmlformats.org/drawingml/2006/main">
            <a:r>
              <a:t>              "SFR-020"</a:t>
            </a:r>
          </a:p>
          <a:p xmlns:a="http://schemas.openxmlformats.org/drawingml/2006/main">
            <a:r>
              <a:t>            ],</a:t>
            </a:r>
          </a:p>
          <a:p xmlns:a="http://schemas.openxmlformats.org/drawingml/2006/main">
            <a:r>
              <a:t>            "connection": "원천 변경 시 수집 완료·정제 완료·색인 반영 상태를 분리하고 실패 자료만 재처리하는 운영 설계. 검토 피드백의 자동 학습 투입 전 품질 확인 단계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"표현이 같은 다른 사건·소관기관 차이·반대 취지",</a:t>
            </a:r>
          </a:p>
          <a:p xmlns:a="http://schemas.openxmlformats.org/drawingml/2006/main">
            <a:r>
              <a:t>        "hold": "동일 사건 여부·개인정보 범위 검토",</a:t>
            </a:r>
          </a:p>
          <a:p xmlns:a="http://schemas.openxmlformats.org/drawingml/2006/main">
            <a:r>
              <a:t>        "recovery": "기관별 답변 적합성과 병합 오류 분석",</a:t>
            </a:r>
          </a:p>
          <a:p xmlns:a="http://schemas.openxmlformats.org/drawingml/2006/main">
            <a:r>
              <a:t>        "evidence": "군집 정답표·잘못된 병합 건·담당자 수정 이력"</a:t>
            </a:r>
          </a:p>
          <a:p xmlns:a="http://schemas.openxmlformats.org/drawingml/2006/main">
            <a:r>
              <a:t>      },</a:t>
            </a:r>
          </a:p>
          <a:p xmlns:a="http://schemas.openxmlformats.org/drawingml/2006/main">
            <a:r>
              <a:t>      "data": {</a:t>
            </a:r>
          </a:p>
          <a:p xmlns:a="http://schemas.openxmlformats.org/drawingml/2006/main">
            <a:r>
              <a:t>        "source": "민원·답변 자료",</a:t>
            </a:r>
          </a:p>
          <a:p xmlns:a="http://schemas.openxmlformats.org/drawingml/2006/main">
            <a:r>
              <a:t>        "prepare": "국민신문고·민원정보분석 자료의 연계·정제",</a:t>
            </a:r>
          </a:p>
          <a:p xmlns:a="http://schemas.openxmlformats.org/drawingml/2006/main">
            <a:r>
              <a:t>        "output": "민원 본문",</a:t>
            </a:r>
          </a:p>
          <a:p xmlns:a="http://schemas.openxmlformats.org/drawingml/2006/main">
            <a:r>
              <a:t>        "refresh": "기관별 답변 적합성과 병합 오류 분석"</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"PF-R02",</a:t>
            </a:r>
          </a:p>
          <a:p xmlns:a="http://schemas.openxmlformats.org/drawingml/2006/main">
            <a:r>
              <a:t>    "success": [</a:t>
            </a:r>
          </a:p>
          <a:p xmlns:a="http://schemas.openxmlformats.org/drawingml/2006/main">
            <a:r>
              <a:t>      "유사민원과 답변 추천 결합",</a:t>
            </a:r>
          </a:p>
          <a:p xmlns:a="http://schemas.openxmlformats.org/drawingml/2006/main">
            <a:r>
              <a:t>      "현업 수정을 반영한 활용"</a:t>
            </a:r>
          </a:p>
          <a:p xmlns:a="http://schemas.openxmlformats.org/drawingml/2006/main">
            <a:r>
              <a:t>    ],</a:t>
            </a:r>
          </a:p>
          <a:p xmlns:a="http://schemas.openxmlformats.org/drawingml/2006/main">
            <a:r>
              <a:t>    "risks": [</a:t>
            </a:r>
          </a:p>
          <a:p xmlns:a="http://schemas.openxmlformats.org/drawingml/2006/main">
            <a:r>
              <a:t>      "다른 사건의 무리한 병합",</a:t>
            </a:r>
          </a:p>
          <a:p xmlns:a="http://schemas.openxmlformats.org/drawingml/2006/main">
            <a:r>
              <a:t>      "답변 추천을 공식 회신으로 오인"</a:t>
            </a:r>
          </a:p>
          <a:p xmlns:a="http://schemas.openxmlformats.org/drawingml/2006/main">
            <a:r>
              <a:t>    ],</a:t>
            </a:r>
          </a:p>
          <a:p xmlns:a="http://schemas.openxmlformats.org/drawingml/2006/main">
            <a:r>
              <a:t>    "architecture": [</a:t>
            </a:r>
          </a:p>
          <a:p xmlns:a="http://schemas.openxmlformats.org/drawingml/2006/main">
            <a:r>
              <a:t>      "국민신문고",</a:t>
            </a:r>
          </a:p>
          <a:p xmlns:a="http://schemas.openxmlformats.org/drawingml/2006/main">
            <a:r>
              <a:t>      "분류·답변 추천",</a:t>
            </a:r>
          </a:p>
          <a:p xmlns:a="http://schemas.openxmlformats.org/drawingml/2006/main">
            <a:r>
              <a:t>      "민원·답변 자료",</a:t>
            </a:r>
          </a:p>
          <a:p xmlns:a="http://schemas.openxmlformats.org/drawingml/2006/main">
            <a:r>
              <a:t>      "민원 담당"</a:t>
            </a:r>
          </a:p>
          <a:p xmlns:a="http://schemas.openxmlformats.org/drawingml/2006/main">
            <a:r>
              <a:t>    ],</a:t>
            </a:r>
          </a:p>
          <a:p xmlns:a="http://schemas.openxmlformats.org/drawingml/2006/main">
            <a:r>
              <a:t>    "transfers": [</a:t>
            </a:r>
          </a:p>
          <a:p xmlns:a="http://schemas.openxmlformats.org/drawingml/2006/main">
            <a:r>
              <a:t>      "민원 본문",</a:t>
            </a:r>
          </a:p>
          <a:p xmlns:a="http://schemas.openxmlformats.org/drawingml/2006/main">
            <a:r>
              <a:t>      "유사 사건",</a:t>
            </a:r>
          </a:p>
          <a:p xmlns:a="http://schemas.openxmlformats.org/drawingml/2006/main">
            <a:r>
              <a:t>      "추천 답변",</a:t>
            </a:r>
          </a:p>
          <a:p xmlns:a="http://schemas.openxmlformats.org/drawingml/2006/main">
            <a:r>
              <a:t>      "수정·회신"</a:t>
            </a:r>
          </a:p>
          <a:p xmlns:a="http://schemas.openxmlformats.org/drawingml/2006/main">
            <a:r>
              <a:t>    ],</a:t>
            </a:r>
          </a:p>
          <a:p xmlns:a="http://schemas.openxmlformats.org/drawingml/2006/main">
            <a:r>
              <a:t>    "control": "동일 사건 여부·개인정보 범위 검토",</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추진계획·성과지표, 기능 요구사항 / Word T035 https://www.nia.or.kr/common/board/Download.do?bcIdx=28233&amp;cbIdx=78336&amp;fileNo=2</a:t>
            </a:r>
          </a:p>
          <a:p xmlns:a="http://schemas.openxmlformats.org/drawingml/2006/main">
            <a:r>
              <a:t>홈페이지 https://heen1987-ops.github.io/TS-business-Plan-001/index.html?view=platform-cases&amp;case=PF-R02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"PF-R02",</a:t>
            </a:r>
          </a:p>
          <a:p xmlns:a="http://schemas.openxmlformats.org/drawingml/2006/main">
            <a:r>
              <a:t>    "sourceId": "R02",</a:t>
            </a:r>
          </a:p>
          <a:p xmlns:a="http://schemas.openxmlformats.org/drawingml/2006/main">
            <a:r>
              <a:t>    "title": "국민권익위 민원 AI",</a:t>
            </a:r>
          </a:p>
          <a:p xmlns:a="http://schemas.openxmlformats.org/drawingml/2006/main">
            <a:r>
              <a:t>    "region": "국내",</a:t>
            </a:r>
          </a:p>
          <a:p xmlns:a="http://schemas.openxmlformats.org/drawingml/2006/main">
            <a:r>
              <a:t>    "owner": "국민권익위원회·NIA",</a:t>
            </a:r>
          </a:p>
          <a:p xmlns:a="http://schemas.openxmlformats.org/drawingml/2006/main">
            <a:r>
              <a:t>    "state": "공식 서비스 개시 확인(2026-02-05)",</a:t>
            </a:r>
          </a:p>
          <a:p xmlns:a="http://schemas.openxmlformats.org/drawingml/2006/main">
            <a:r>
              <a:t>    "period": "기존 원장 확인 2026.10.16",</a:t>
            </a:r>
          </a:p>
          <a:p xmlns:a="http://schemas.openxmlformats.org/drawingml/2006/main">
            <a:r>
              <a:t>    "fact": "민원답변 추천·빈발중복민원 병합·의미 기반 민원 분석",</a:t>
            </a:r>
          </a:p>
          <a:p xmlns:a="http://schemas.openxmlformats.org/drawingml/2006/main">
            <a:r>
              <a:t>    "limit": "추천답변 도출시간·배정 처리시간·최종 답변 처리시간의 정의와 분모를 구분해야 함",</a:t>
            </a:r>
          </a:p>
          <a:p xmlns:a="http://schemas.openxmlformats.org/drawingml/2006/main">
            <a:r>
              <a:t>    "nodes": [</a:t>
            </a:r>
          </a:p>
          <a:p xmlns:a="http://schemas.openxmlformats.org/drawingml/2006/main">
            <a:r>
              <a:t>      "국민신문고",</a:t>
            </a:r>
          </a:p>
          <a:p xmlns:a="http://schemas.openxmlformats.org/drawingml/2006/main">
            <a:r>
              <a:t>      "분류·유사민원",</a:t>
            </a:r>
          </a:p>
          <a:p xmlns:a="http://schemas.openxmlformats.org/drawingml/2006/main">
            <a:r>
              <a:t>      "답변 추천",</a:t>
            </a:r>
          </a:p>
          <a:p xmlns:a="http://schemas.openxmlformats.org/drawingml/2006/main">
            <a:r>
              <a:t>      "현업 수정"</a:t>
            </a:r>
          </a:p>
          <a:p xmlns:a="http://schemas.openxmlformats.org/drawingml/2006/main">
            <a:r>
              <a:t>    ],</a:t>
            </a:r>
          </a:p>
          <a:p xmlns:a="http://schemas.openxmlformats.org/drawingml/2006/main">
            <a:r>
              <a:t>    "apply": "유사 문구와 동일 사건을 구분하는 민원 분류 및 소관부서별 답변 검토",</a:t>
            </a:r>
          </a:p>
          <a:p xmlns:a="http://schemas.openxmlformats.org/drawingml/2006/main">
            <a:r>
              <a:t>    "delta": "민원 사건·기관·업무 분류 / 유사군 검토 UI / 현업 수정 이력",</a:t>
            </a:r>
          </a:p>
          <a:p xmlns:a="http://schemas.openxmlformats.org/drawingml/2006/main">
            <a:r>
              <a:t>    "test": "같은 표현의 다른 사건·반대 취지 민원에 대한 오병합·답변 오류 측정",</a:t>
            </a:r>
          </a:p>
          <a:p xmlns:a="http://schemas.openxmlformats.org/drawingml/2006/main">
            <a:r>
              <a:t>    "url": "https://www.nia.or.kr/common/board/Download.do?bcIdx=28233&amp;cbIdx=78336&amp;fileNo=2",</a:t>
            </a:r>
          </a:p>
          <a:p xmlns:a="http://schemas.openxmlformats.org/drawingml/2006/main">
            <a:r>
              <a:t>    "urls": [</a:t>
            </a:r>
          </a:p>
          <a:p xmlns:a="http://schemas.openxmlformats.org/drawingml/2006/main">
            <a:r>
              <a:t>      "https://www.nia.or.kr/common/board/Download.do?bcIdx=28233&amp;cbIdx=78336&amp;fileNo=2",</a:t>
            </a:r>
          </a:p>
          <a:p xmlns:a="http://schemas.openxmlformats.org/drawingml/2006/main">
            <a:r>
              <a:t>      "https://www.acrc.go.kr/board.es?act=view&amp;bid=ACH&amp;list_no=106584&amp;mid=a10403070000&amp;nPage=1"</a:t>
            </a:r>
          </a:p>
          <a:p xmlns:a="http://schemas.openxmlformats.org/drawingml/2006/main">
            <a:r>
              <a:t>    ],</a:t>
            </a:r>
          </a:p>
          <a:p xmlns:a="http://schemas.openxmlformats.org/drawingml/2006/main">
            <a:r>
              <a:t>    "basis": "추진계획·성과지표, 기능 요구사항 / Word T035",</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"민원 분류 정확도 / 오병합률 / 최종 답변 작성시간",</a:t>
            </a:r>
          </a:p>
          <a:p xmlns:a="http://schemas.openxmlformats.org/drawingml/2006/main">
            <a:r>
              <a:t>    "group": "요구·구축",</a:t>
            </a:r>
          </a:p>
          <a:p xmlns:a="http://schemas.openxmlformats.org/drawingml/2006/main">
            <a:r>
              <a:t>    "sourceDetail": "국민신문고/민원정보분석 연계, RAG·요약·유사도 군집, 현업 수정 및 시범기관 확산",</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"PF-R02",</a:t>
            </a:r>
          </a:p>
          <a:p xmlns:a="http://schemas.openxmlformats.org/drawingml/2006/main">
            <a:r>
              <a:t>    "canonicalId": "PF-R02",</a:t>
            </a:r>
          </a:p>
          <a:p xmlns:a="http://schemas.openxmlformats.org/drawingml/2006/main">
            <a:r>
              <a:t>    "purpose": "민원답변 추천과 빈발·중복민원 분석",</a:t>
            </a:r>
          </a:p>
          <a:p xmlns:a="http://schemas.openxmlformats.org/drawingml/2006/main">
            <a:r>
              <a:t>    "users": "민원 처리자·정책 분석자",</a:t>
            </a:r>
          </a:p>
          <a:p xmlns:a="http://schemas.openxmlformats.org/drawingml/2006/main">
            <a:r>
              <a:t>    "scope": [</a:t>
            </a:r>
          </a:p>
          <a:p xmlns:a="http://schemas.openxmlformats.org/drawingml/2006/main">
            <a:r>
              <a:t>      "답변 초안",</a:t>
            </a:r>
          </a:p>
          <a:p xmlns:a="http://schemas.openxmlformats.org/drawingml/2006/main">
            <a:r>
              <a:t>      "유사민원 병합",</a:t>
            </a:r>
          </a:p>
          <a:p xmlns:a="http://schemas.openxmlformats.org/drawingml/2006/main">
            <a:r>
              <a:t>      "의미 분석"</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"국민신문고",</a:t>
            </a:r>
          </a:p>
          <a:p xmlns:a="http://schemas.openxmlformats.org/drawingml/2006/main">
            <a:r>
              <a:t>        "detail": "민원요지·유형·처리기관 문맥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"답변 초안 / 유사민원 병합 / 의미 분석",</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"분류·답변 추천",</a:t>
            </a:r>
          </a:p>
          <a:p xmlns:a="http://schemas.openxmlformats.org/drawingml/2006/main">
            <a:r>
              <a:t>        "detail": "RAG 답변 추천과 의미 유사도 군집",</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"민원 담당",</a:t>
            </a:r>
          </a:p>
          <a:p xmlns:a="http://schemas.openxmlformats.org/drawingml/2006/main">
            <a:r>
              <a:t>        "detail": "담당자의 군집·초안 수정 후 민원 처리",</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"민원·답변 자료",</a:t>
            </a:r>
          </a:p>
          <a:p xmlns:a="http://schemas.openxmlformats.org/drawingml/2006/main">
            <a:r>
              <a:t>        "detail": "국민신문고·민원정보분석 자료의 연계·정제",</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"기관별 답변 적합성과 병합 오류 분석",</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"국민신문고",</a:t>
            </a:r>
          </a:p>
          <a:p xmlns:a="http://schemas.openxmlformats.org/drawingml/2006/main">
            <a:r>
              <a:t>        "input": "민원요지·유형·처리기관 문맥 구성",</a:t>
            </a:r>
          </a:p>
          <a:p xmlns:a="http://schemas.openxmlformats.org/drawingml/2006/main">
            <a:r>
              <a:t>        "process": "국민신문고·민원정보분석 자료의 연계·정제",</a:t>
            </a:r>
          </a:p>
          <a:p xmlns:a="http://schemas.openxmlformats.org/drawingml/2006/main">
            <a:r>
              <a:t>        "output": "민원 본문"</a:t>
            </a:r>
          </a:p>
          <a:p xmlns:a="http://schemas.openxmlformats.org/drawingml/2006/main">
            <a:r>
              <a:t>      },</a:t>
            </a:r>
          </a:p>
          <a:p xmlns:a="http://schemas.openxmlformats.org/drawingml/2006/main">
            <a:r>
              <a:t>      {</a:t>
            </a:r>
          </a:p>
          <a:p xmlns:a="http://schemas.openxmlformats.org/drawingml/2006/main">
            <a:r>
              <a:t>        "title": "분류·유사민원",</a:t>
            </a:r>
          </a:p>
          <a:p xmlns:a="http://schemas.openxmlformats.org/drawingml/2006/main">
            <a:r>
              <a:t>        "input": "민원 본문",</a:t>
            </a:r>
          </a:p>
          <a:p xmlns:a="http://schemas.openxmlformats.org/drawingml/2006/main">
            <a:r>
              <a:t>        "process": "RAG 답변 추천과 의미 유사도 군집",</a:t>
            </a:r>
          </a:p>
          <a:p xmlns:a="http://schemas.openxmlformats.org/drawingml/2006/main">
            <a:r>
              <a:t>        "output": "유사 사건"</a:t>
            </a:r>
          </a:p>
          <a:p xmlns:a="http://schemas.openxmlformats.org/drawingml/2006/main">
            <a:r>
              <a:t>      },</a:t>
            </a:r>
          </a:p>
          <a:p xmlns:a="http://schemas.openxmlformats.org/drawingml/2006/main">
            <a:r>
              <a:t>      {</a:t>
            </a:r>
          </a:p>
          <a:p xmlns:a="http://schemas.openxmlformats.org/drawingml/2006/main">
            <a:r>
              <a:t>        "title": "답변 추천",</a:t>
            </a:r>
          </a:p>
          <a:p xmlns:a="http://schemas.openxmlformats.org/drawingml/2006/main">
            <a:r>
              <a:t>        "input": "유사 사건",</a:t>
            </a:r>
          </a:p>
          <a:p xmlns:a="http://schemas.openxmlformats.org/drawingml/2006/main">
            <a:r>
              <a:t>        "process": "동일 사건 여부·개인정보 범위 검토",</a:t>
            </a:r>
          </a:p>
          <a:p xmlns:a="http://schemas.openxmlformats.org/drawingml/2006/main">
            <a:r>
              <a:t>        "output": "추천 답변"</a:t>
            </a:r>
          </a:p>
          <a:p xmlns:a="http://schemas.openxmlformats.org/drawingml/2006/main">
            <a:r>
              <a:t>      },</a:t>
            </a:r>
          </a:p>
          <a:p xmlns:a="http://schemas.openxmlformats.org/drawingml/2006/main">
            <a:r>
              <a:t>      {</a:t>
            </a:r>
          </a:p>
          <a:p xmlns:a="http://schemas.openxmlformats.org/drawingml/2006/main">
            <a:r>
              <a:t>        "title": "현업 수정",</a:t>
            </a:r>
          </a:p>
          <a:p xmlns:a="http://schemas.openxmlformats.org/drawingml/2006/main">
            <a:r>
              <a:t>        "input": "추천 답변",</a:t>
            </a:r>
          </a:p>
          <a:p xmlns:a="http://schemas.openxmlformats.org/drawingml/2006/main">
            <a:r>
              <a:t>        "process": "담당자의 군집·초안 수정 후 민원 처리",</a:t>
            </a:r>
          </a:p>
          <a:p xmlns:a="http://schemas.openxmlformats.org/drawingml/2006/main">
            <a:r>
              <a:t>        "output": "수정·회신"</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"같은 사안의 반복 민원을 묶고 기관별 답변 초안 제시",</a:t>
            </a:r>
          </a:p>
          <a:p xmlns:a="http://schemas.openxmlformats.org/drawingml/2006/main">
            <a:r>
              <a:t>      "exception": "표현이 같은 다른 사건·소관기관 차이·반대 취지",</a:t>
            </a:r>
          </a:p>
          <a:p xmlns:a="http://schemas.openxmlformats.org/drawingml/2006/main">
            <a:r>
              <a:t>      "evidence": "군집 정답표·잘못된 병합 건·담당자 수정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"민원 처리자·정책 분석자",</a:t>
            </a:r>
          </a:p>
          <a:p xmlns:a="http://schemas.openxmlformats.org/drawingml/2006/main">
            <a:r>
              <a:t>          "processing": "민원요지·유형·처리기관 문맥 구성",</a:t>
            </a:r>
          </a:p>
          <a:p xmlns:a="http://schemas.openxmlformats.org/drawingml/2006/main">
            <a:r>
              <a:t>          "output": "민원 본문"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"민원·답변 자료",</a:t>
            </a:r>
          </a:p>
          <a:p xmlns:a="http://schemas.openxmlformats.org/drawingml/2006/main">
            <a:r>
              <a:t>          "processing": "국민신문고·민원정보분석 자료의 연계·정제",</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"민원 본문",</a:t>
            </a:r>
          </a:p>
          <a:p xmlns:a="http://schemas.openxmlformats.org/drawingml/2006/main">
            <a:r>
              <a:t>          "processing": "RAG 답변 추천과 의미 유사도 군집",</a:t>
            </a:r>
          </a:p>
          <a:p xmlns:a="http://schemas.openxmlformats.org/drawingml/2006/main">
            <a:r>
              <a:t>          "output": "추천 답변"</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"추천 답변",</a:t>
            </a:r>
          </a:p>
          <a:p xmlns:a="http://schemas.openxmlformats.org/drawingml/2006/main">
            <a:r>
              <a:t>          "processing": "담당자의 군집·초안 수정 후 민원 처리",</a:t>
            </a:r>
          </a:p>
          <a:p xmlns:a="http://schemas.openxmlformats.org/drawingml/2006/main">
            <a:r>
              <a:t>          "output": "수정·회신"</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"기관별 답변 적합성과 병합 오류 분석",</a:t>
            </a:r>
          </a:p>
          <a:p xmlns:a="http://schemas.openxmlformats.org/drawingml/2006/main">
            <a:r>
              <a:t>          "output": "군집 정답표·잘못된 병합 건·담당자 수정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"기관별 답변 적합성과 병합 오류 분석",</a:t>
            </a:r>
          </a:p>
          <a:p xmlns:a="http://schemas.openxmlformats.org/drawingml/2006/main">
            <a:r>
              <a:t>    "status": "RFP 기반 논리 설계",</a:t>
            </a:r>
          </a:p>
          <a:p xmlns:a="http://schemas.openxmlformats.org/drawingml/2006/main">
            <a:r>
              <a:t>    "basis": "본공고 RFP · 사업계획·민원답변 작성지원·빈발중복민원",</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"추진계획·성과지표, 기능 요구사항 / Word T035",</a:t>
            </a:r>
          </a:p>
          <a:p xmlns:a="http://schemas.openxmlformats.org/drawingml/2006/main">
            <a:r>
              <a:t>        "url": "https://www.nia.or.kr/common/board/Download.do?bcIdx=28233&amp;cbIdx=78336&amp;fileNo=2"</a:t>
            </a:r>
          </a:p>
          <a:p xmlns:a="http://schemas.openxmlformats.org/drawingml/2006/main">
            <a:r>
              <a:t>      }</a:t>
            </a:r>
          </a:p>
          <a:p xmlns:a="http://schemas.openxmlformats.org/drawingml/2006/main">
            <a:r>
              <a:t>    ],</a:t>
            </a:r>
          </a:p>
          <a:p xmlns:a="http://schemas.openxmlformats.org/drawingml/2006/main">
            <a:r>
              <a:t>    "implication": "유사 문구와 동일 사건을 구분하는 민원 분류 및 소관부서별 답변 검토",</a:t>
            </a:r>
          </a:p>
          <a:p xmlns:a="http://schemas.openxmlformats.org/drawingml/2006/main">
            <a:r>
              <a:t>    "local": "유사 문구와 동일 사건을 구분하는 민원 분류 및 소관부서별 답변 검토",</a:t>
            </a:r>
          </a:p>
          <a:p xmlns:a="http://schemas.openxmlformats.org/drawingml/2006/main">
            <a:r>
              <a:t>    "sourceDetail": "국민신문고/민원정보분석 연계, RAG·요약·유사도 군집, 현업 수정 및 시범기관 확산",</a:t>
            </a:r>
          </a:p>
          <a:p xmlns:a="http://schemas.openxmlformats.org/drawingml/2006/main">
            <a:r>
              <a:t>    "narrative": [</a:t>
            </a:r>
          </a:p>
          <a:p xmlns:a="http://schemas.openxmlformats.org/drawingml/2006/main">
            <a:r>
              <a:t>      "국민신문고의 접수·처리와 민원정보분석 업무를 연결하는 AI 고도화. 담당자의 답변 초안 작성과 유사민원 식별, 정책 분석자의 의미 기반 이슈 탐색을 서로 다른 업무 결과로 구분하는 사업.",</a:t>
            </a:r>
          </a:p>
          <a:p xmlns:a="http://schemas.openxmlformats.org/drawingml/2006/main">
            <a:r>
              <a:t>      "원문 목표 구성도는 기존 포털·DB, API Gateway, 답변·분석·중복 검색 모듈, 데이터 처리 계층, 운영 관리 계층으로 구성. OCR·메타정보 추출 후 키워드·벡터 검색을 병렬 수행하고, 재정렬된 근거를 업무 모듈에 전달하는 구조. 서비스 화면과 모델 운영의 별도 책임 분리가 핵심.",</a:t>
            </a:r>
          </a:p>
          <a:p xmlns:a="http://schemas.openxmlformats.org/drawingml/2006/main">
            <a:r>
              <a:t>      "표현이 비슷하다는 이유만으로 같은 사건으로 병합하면 이의·반대 민원의 취지 소실 가능성. CCK 비교시험에서는 문장 유사도 외에 사건·기관·지역·처리 단계의 일치 여부와 담당자의 수정·채택 이력을 함께 평가할 필요. 답변 추천시간과 최종 회신시간의 별도 계측."</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"SFR-004",</a:t>
            </a:r>
          </a:p>
          <a:p xmlns:a="http://schemas.openxmlformats.org/drawingml/2006/main">
            <a:r>
              <a:t>        "title": "민원 종류 분류",</a:t>
            </a:r>
          </a:p>
          <a:p xmlns:a="http://schemas.openxmlformats.org/drawingml/2006/main">
            <a:r>
              <a:t>        "locator": "SFR-004",</a:t>
            </a:r>
          </a:p>
          <a:p xmlns:a="http://schemas.openxmlformats.org/drawingml/2006/main">
            <a:r>
              <a:t>        "summary": "민원 본문을 민원 종류로 분류해 담당 업무의 처리 경로를 지원하는 기능.",</a:t>
            </a:r>
          </a:p>
          <a:p xmlns:a="http://schemas.openxmlformats.org/drawingml/2006/main">
            <a:r>
              <a:t>        "data": "민원 원문·분류 체계 → 분류 후보·검토 결과",</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"복합 주제·짧은 문장·오탈자 민원의 오분류와 담당자 수정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"6b4913cc0ae5b5169d9646773f4136e5246b9263738a4827b1ab87a16891f0b5"</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"민원 처리내용 초안 제공",</a:t>
            </a:r>
          </a:p>
          <a:p xmlns:a="http://schemas.openxmlformats.org/drawingml/2006/main">
            <a:r>
              <a:t>        "locator": "SFR-005",</a:t>
            </a:r>
          </a:p>
          <a:p xmlns:a="http://schemas.openxmlformats.org/drawingml/2006/main">
            <a:r>
              <a:t>        "summary": "관련 규정과 기존 처리내용을 참조한 민원답변 초안 지원. 초안과 최종 답변의 담당자 확인 경로 구성.",</a:t>
            </a:r>
          </a:p>
          <a:p xmlns:a="http://schemas.openxmlformats.org/drawingml/2006/main">
            <a:r>
              <a:t>        "data": "접수 민원·참조 자료 → 근거가 연결된 답변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"과거 규정과 현행 규정이 충돌하는 사례의 근거 판본 및 담당자 수정 흔적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"4f5defef29ed25fd79e46a89d680a461cb449aef69766f422194dd69e74fe07d"</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"유사민원 식별 기능 제공",</a:t>
            </a:r>
          </a:p>
          <a:p xmlns:a="http://schemas.openxmlformats.org/drawingml/2006/main">
            <a:r>
              <a:t>        "locator": "SFR-006",</a:t>
            </a:r>
          </a:p>
          <a:p xmlns:a="http://schemas.openxmlformats.org/drawingml/2006/main">
            <a:r>
              <a:t>        "summary": "같거나 유사한 민원을 식별해 반복 업무를 지원하는 기능. 검색 후보와 실제 병합 판단의 구분.",</a:t>
            </a:r>
          </a:p>
          <a:p xmlns:a="http://schemas.openxmlformats.org/drawingml/2006/main">
            <a:r>
              <a:t>        "data": "민원 집합·사건 문맥 → 유사도·후보 묶음",</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"C05"</a:t>
            </a:r>
          </a:p>
          <a:p xmlns:a="http://schemas.openxmlformats.org/drawingml/2006/main">
            <a:r>
              <a:t>        ],</a:t>
            </a:r>
          </a:p>
          <a:p xmlns:a="http://schemas.openxmlformats.org/drawingml/2006/main">
            <a:r>
              <a:t>        "acceptance": "문장은 같지만 사건·지역·신청인이 다른 사례로 오병합 여부와 원문 복원 가능성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"4153e591c032d301106aff35c38940a0d476dc7d8c4d31155d7221e129da66dd"</a:t>
            </a:r>
          </a:p>
          <a:p xmlns:a="http://schemas.openxmlformats.org/drawingml/2006/main">
            <a:r>
              <a:t>      },</a:t>
            </a:r>
          </a:p>
          <a:p xmlns:a="http://schemas.openxmlformats.org/drawingml/2006/main">
            <a:r>
              <a:t>      {</a:t>
            </a:r>
          </a:p>
          <a:p xmlns:a="http://schemas.openxmlformats.org/drawingml/2006/main">
            <a:r>
              <a:t>        "id": "SFR-010",</a:t>
            </a:r>
          </a:p>
          <a:p xmlns:a="http://schemas.openxmlformats.org/drawingml/2006/main">
            <a:r>
              <a:t>        "title": "민원업무 고도화 서비스 관리기능",</a:t>
            </a:r>
          </a:p>
          <a:p xmlns:a="http://schemas.openxmlformats.org/drawingml/2006/main">
            <a:r>
              <a:t>        "locator": "SFR-010",</a:t>
            </a:r>
          </a:p>
          <a:p xmlns:a="http://schemas.openxmlformats.org/drawingml/2006/main">
            <a:r>
              <a:t>        "summary": "민원업무 고도화 서비스의 이용·관리 기능 구성. 운영자가 업무별 서비스 상태와 관리 대상을 확인하는 경로.",</a:t>
            </a:r>
          </a:p>
          <a:p xmlns:a="http://schemas.openxmlformats.org/drawingml/2006/main">
            <a:r>
              <a:t>        "data": "운영 설정·사용 이력 → 관리 상태·변경 기록",</a:t>
            </a:r>
          </a:p>
          <a:p xmlns:a="http://schemas.openxmlformats.org/drawingml/2006/main">
            <a:r>
              <a:t>        "components": [</a:t>
            </a:r>
          </a:p>
          <a:p xmlns:a="http://schemas.openxmlformats.org/drawingml/2006/main">
            <a:r>
              <a:t>          "C06",</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"관리 역할별 허용 작업과 변경 이력, 설정 변경 후 서비스 반영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"d0f1ab9389b360af8d77e62f3eeb2326716b450c2d1575dcec42b79fbb02d49b"</a:t>
            </a:r>
          </a:p>
          <a:p xmlns:a="http://schemas.openxmlformats.org/drawingml/2006/main">
            <a:r>
              <a:t>      },</a:t>
            </a:r>
          </a:p>
          <a:p xmlns:a="http://schemas.openxmlformats.org/drawingml/2006/main">
            <a:r>
              <a:t>      {</a:t>
            </a:r>
          </a:p>
          <a:p xmlns:a="http://schemas.openxmlformats.org/drawingml/2006/main">
            <a:r>
              <a:t>        "id": "SFR-011",</a:t>
            </a:r>
          </a:p>
          <a:p xmlns:a="http://schemas.openxmlformats.org/drawingml/2006/main">
            <a:r>
              <a:t>        "title": "의미 기반 검색과 분석",</a:t>
            </a:r>
          </a:p>
          <a:p xmlns:a="http://schemas.openxmlformats.org/drawingml/2006/main">
            <a:r>
              <a:t>        "locator": "SFR-011",</a:t>
            </a:r>
          </a:p>
          <a:p xmlns:a="http://schemas.openxmlformats.org/drawingml/2006/main">
            <a:r>
              <a:t>        "summary": "단순 키워드 일치를 넘어 민원 의미를 이용한 검색·분석 지원.",</a:t>
            </a:r>
          </a:p>
          <a:p xmlns:a="http://schemas.openxmlformats.org/drawingml/2006/main">
            <a:r>
              <a:t>        "data": "검색 질의·민원 색인 → 의미상 관련 민원·분석 결과",</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"C11"</a:t>
            </a:r>
          </a:p>
          <a:p xmlns:a="http://schemas.openxmlformats.org/drawingml/2006/main">
            <a:r>
              <a:t>        ],</a:t>
            </a:r>
          </a:p>
          <a:p xmlns:a="http://schemas.openxmlformats.org/drawingml/2006/main">
            <a:r>
              <a:t>        "acceptance": "다른 표현의 같은 의도와 같은 단어의 다른 의도를 구분한 검색 정답셋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"cb3704532e53b7b70bc4764b544e7f549cec4553215296f437e5601fe00168f1"</a:t>
            </a:r>
          </a:p>
          <a:p xmlns:a="http://schemas.openxmlformats.org/drawingml/2006/main">
            <a:r>
              <a:t>      },</a:t>
            </a:r>
          </a:p>
          <a:p xmlns:a="http://schemas.openxmlformats.org/drawingml/2006/main">
            <a:r>
              <a:t>      {</a:t>
            </a:r>
          </a:p>
          <a:p xmlns:a="http://schemas.openxmlformats.org/drawingml/2006/main">
            <a:r>
              <a:t>        "id": "SFR-015",</a:t>
            </a:r>
          </a:p>
          <a:p xmlns:a="http://schemas.openxmlformats.org/drawingml/2006/main">
            <a:r>
              <a:t>        "title": "실시간 데이터 수집 및 검증",</a:t>
            </a:r>
          </a:p>
          <a:p xmlns:a="http://schemas.openxmlformats.org/drawingml/2006/main">
            <a:r>
              <a:t>        "locator": "SFR-015",</a:t>
            </a:r>
          </a:p>
          <a:p xmlns:a="http://schemas.openxmlformats.org/drawingml/2006/main">
            <a:r>
              <a:t>        "summary": "OGG 기반 원천 변경 수집과 데이터 검증을 통한 실시간 연계. 수집 이후 정합성 확인이 필요한 데이터 흐름.",</a:t>
            </a:r>
          </a:p>
          <a:p xmlns:a="http://schemas.openxmlformats.org/drawingml/2006/main">
            <a:r>
              <a:t>        "data": "원천 DB 변경분 → 검증된 연계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"삽입·수정·삭제·중단 후 재개 시 건수·키·시점 대사와 중복 적재 여부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"bcca0bc62529ccf5ac36e787dc506c0b54f8f16e1b96c873fa31cca5157a057c"</a:t>
            </a:r>
          </a:p>
          <a:p xmlns:a="http://schemas.openxmlformats.org/drawingml/2006/main">
            <a:r>
              <a:t>      },</a:t>
            </a:r>
          </a:p>
          <a:p xmlns:a="http://schemas.openxmlformats.org/drawingml/2006/main">
            <a:r>
              <a:t>      {</a:t>
            </a:r>
          </a:p>
          <a:p xmlns:a="http://schemas.openxmlformats.org/drawingml/2006/main">
            <a:r>
              <a:t>        "id": "SFR-018",</a:t>
            </a:r>
          </a:p>
          <a:p xmlns:a="http://schemas.openxmlformats.org/drawingml/2006/main">
            <a:r>
              <a:t>        "title": "AI 기반 민원 자동 처리",</a:t>
            </a:r>
          </a:p>
          <a:p xmlns:a="http://schemas.openxmlformats.org/drawingml/2006/main">
            <a:r>
              <a:t>        "locator": "SFR-018",</a:t>
            </a:r>
          </a:p>
          <a:p xmlns:a="http://schemas.openxmlformats.org/drawingml/2006/main">
            <a:r>
              <a:t>        "summary": "AI 기반 민원 처리 지원에 담당자 검토·채택 결과를 연결하고 운영 개선에 활용하는 흐름.",</a:t>
            </a:r>
          </a:p>
          <a:p xmlns:a="http://schemas.openxmlformats.org/drawingml/2006/main">
            <a:r>
              <a:t>        "data": "처리 후보·담당자 검토 → 채택·수정 결과·피드백",</a:t>
            </a:r>
          </a:p>
          <a:p xmlns:a="http://schemas.openxmlformats.org/drawingml/2006/main">
            <a:r>
              <a:t>        "components": [</a:t>
            </a:r>
          </a:p>
          <a:p xmlns:a="http://schemas.openxmlformats.org/drawingml/2006/main">
            <a:r>
              <a:t>          "C04",</a:t>
            </a:r>
          </a:p>
          <a:p xmlns:a="http://schemas.openxmlformats.org/drawingml/2006/main">
            <a:r>
              <a:t>          "C06",</a:t>
            </a:r>
          </a:p>
          <a:p xmlns:a="http://schemas.openxmlformats.org/drawingml/2006/main">
            <a:r>
              <a:t>          "C08"</a:t>
            </a:r>
          </a:p>
          <a:p xmlns:a="http://schemas.openxmlformats.org/drawingml/2006/main">
            <a:r>
              <a:t>        ],</a:t>
            </a:r>
          </a:p>
          <a:p xmlns:a="http://schemas.openxmlformats.org/drawingml/2006/main">
            <a:r>
              <a:t>        "acceptance": "추천과 확정 상태를 구분하고 수정·반려가 다음 처리 기록에 누락 없이 남는지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"35bf9ae1174266075e30936c9e150e97a0d68cd55f83071656309743e2875dca"</a:t>
            </a:r>
          </a:p>
          <a:p xmlns:a="http://schemas.openxmlformats.org/drawingml/2006/main">
            <a:r>
              <a:t>      },</a:t>
            </a:r>
          </a:p>
          <a:p xmlns:a="http://schemas.openxmlformats.org/drawingml/2006/main">
            <a:r>
              <a:t>      {</a:t>
            </a:r>
          </a:p>
          <a:p xmlns:a="http://schemas.openxmlformats.org/drawingml/2006/main">
            <a:r>
              <a:t>        "id": "SFR-019",</a:t>
            </a:r>
          </a:p>
          <a:p xmlns:a="http://schemas.openxmlformats.org/drawingml/2006/main">
            <a:r>
              <a:t>        "title": "API 통합 관리 및 성능 모니터링",</a:t>
            </a:r>
          </a:p>
          <a:p xmlns:a="http://schemas.openxmlformats.org/drawingml/2006/main">
            <a:r>
              <a:t>        "locator": "SFR-019",</a:t>
            </a:r>
          </a:p>
          <a:p xmlns:a="http://schemas.openxmlformats.org/drawingml/2006/main">
            <a:r>
              <a:t>        "summary": "API 통합 관리와 성능 모니터링을 통한 업무 모듈·기간계 연결 관리.",</a:t>
            </a:r>
          </a:p>
          <a:p xmlns:a="http://schemas.openxmlformats.org/drawingml/2006/main">
            <a:r>
              <a:t>        "data": "API 요청·응답·호출 이력 → 상태·성능·오류 기록",</a:t>
            </a:r>
          </a:p>
          <a:p xmlns:a="http://schemas.openxmlformats.org/drawingml/2006/main">
            <a:r>
              <a:t>        "components": [</a:t>
            </a:r>
          </a:p>
          <a:p xmlns:a="http://schemas.openxmlformats.org/drawingml/2006/main">
            <a:r>
              <a:t>          "C02",</a:t>
            </a:r>
          </a:p>
          <a:p xmlns:a="http://schemas.openxmlformats.org/drawingml/2006/main">
            <a:r>
              <a:t>          "C07",</a:t>
            </a:r>
          </a:p>
          <a:p xmlns:a="http://schemas.openxmlformats.org/drawingml/2006/main">
            <a:r>
              <a:t>          "C08"</a:t>
            </a:r>
          </a:p>
          <a:p xmlns:a="http://schemas.openxmlformats.org/drawingml/2006/main">
            <a:r>
              <a:t>        ],</a:t>
            </a:r>
          </a:p>
          <a:p xmlns:a="http://schemas.openxmlformats.org/drawingml/2006/main">
            <a:r>
              <a:t>        "acceptance": "호출 실패·시간초과·중복 요청을 주입하고 호출 경로별 원인과 처리 상태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"ff7c0fe41f6cc841f53d73ace372872ebb0dfc391d7d7ca1a21b446c4dfa32b4"</a:t>
            </a:r>
          </a:p>
          <a:p xmlns:a="http://schemas.openxmlformats.org/drawingml/2006/main">
            <a:r>
              <a:t>      },</a:t>
            </a:r>
          </a:p>
          <a:p xmlns:a="http://schemas.openxmlformats.org/drawingml/2006/main">
            <a:r>
              <a:t>      {</a:t>
            </a:r>
          </a:p>
          <a:p xmlns:a="http://schemas.openxmlformats.org/drawingml/2006/main">
            <a:r>
              <a:t>        "id": "SFR-020",</a:t>
            </a:r>
          </a:p>
          <a:p xmlns:a="http://schemas.openxmlformats.org/drawingml/2006/main">
            <a:r>
              <a:t>        "title": "시스템 설정 및 운영 모니터링 통합 관리",</a:t>
            </a:r>
          </a:p>
          <a:p xmlns:a="http://schemas.openxmlformats.org/drawingml/2006/main">
            <a:r>
              <a:t>        "locator": "SFR-020",</a:t>
            </a:r>
          </a:p>
          <a:p xmlns:a="http://schemas.openxmlformats.org/drawingml/2006/main">
            <a:r>
              <a:t>        "summary": "시스템 설정과 운영 모니터링의 통합 관리. 업무 기능과 운영 정책의 일관된 상태 확인.",</a:t>
            </a:r>
          </a:p>
          <a:p xmlns:a="http://schemas.openxmlformats.org/drawingml/2006/main">
            <a:r>
              <a:t>        "data": "시스템 설정·운영 지표 → 관리 화면·이상 상태",</a:t>
            </a:r>
          </a:p>
          <a:p xmlns:a="http://schemas.openxmlformats.org/drawingml/2006/main">
            <a:r>
              <a:t>        "components": [</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"설정 변경 권한, 변경 전후 상태, 장애 탐지·복구 기록의 연결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"700952e7f3297506bdddffe81782d75953ec64aa85c0f75fd9ce24f75b54747a"</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"국민신문고 접점",</a:t>
            </a:r>
          </a:p>
          <a:p xmlns:a="http://schemas.openxmlformats.org/drawingml/2006/main">
            <a:r>
              <a:t>          "layer": "이용 접점",</a:t>
            </a:r>
          </a:p>
          <a:p xmlns:a="http://schemas.openxmlformats.org/drawingml/2006/main">
            <a:r>
              <a:t>          "detail": "민원 처리자·정책 분석자",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"요지·기관·유형",</a:t>
            </a:r>
          </a:p>
          <a:p xmlns:a="http://schemas.openxmlformats.org/drawingml/2006/main">
            <a:r>
              <a:t>          "layer": "업무 문맥",</a:t>
            </a:r>
          </a:p>
          <a:p xmlns:a="http://schemas.openxmlformats.org/drawingml/2006/main">
            <a:r>
              <a:t>          "detail": "민원요지·유형·처리기관 문맥 구성",</a:t>
            </a:r>
          </a:p>
          <a:p xmlns:a="http://schemas.openxmlformats.org/drawingml/2006/main">
            <a:r>
              <a:t>          "requirements": [</a:t>
            </a:r>
          </a:p>
          <a:p xmlns:a="http://schemas.openxmlformats.org/drawingml/2006/main">
            <a:r>
              <a:t>            "SFR-004",</a:t>
            </a:r>
          </a:p>
          <a:p xmlns:a="http://schemas.openxmlformats.org/drawingml/2006/main">
            <a:r>
              <a:t>            "SFR-019"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"키워드·벡터 검색",</a:t>
            </a:r>
          </a:p>
          <a:p xmlns:a="http://schemas.openxmlformats.org/drawingml/2006/main">
            <a:r>
              <a:t>          "layer": "자료 조회",</a:t>
            </a:r>
          </a:p>
          <a:p xmlns:a="http://schemas.openxmlformats.org/drawingml/2006/main">
            <a:r>
              <a:t>          "detail": "민원 본문",</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"재정렬·답변·군집",</a:t>
            </a:r>
          </a:p>
          <a:p xmlns:a="http://schemas.openxmlformats.org/drawingml/2006/main">
            <a:r>
              <a:t>          "layer": "핵심 처리",</a:t>
            </a:r>
          </a:p>
          <a:p xmlns:a="http://schemas.openxmlformats.org/drawingml/2006/main">
            <a:r>
              <a:t>          "detail": "RAG 답변 추천과 의미 유사도 군집",</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"SFR-018"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"동일 사건 대조",</a:t>
            </a:r>
          </a:p>
          <a:p xmlns:a="http://schemas.openxmlformats.org/drawingml/2006/main">
            <a:r>
              <a:t>          "layer": "결과 검증",</a:t>
            </a:r>
          </a:p>
          <a:p xmlns:a="http://schemas.openxmlformats.org/drawingml/2006/main">
            <a:r>
              <a:t>          "detail": "동일 사건 여부·개인정보 범위 검토",</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"담당자 수정",</a:t>
            </a:r>
          </a:p>
          <a:p xmlns:a="http://schemas.openxmlformats.org/drawingml/2006/main">
            <a:r>
              <a:t>          "layer": "사람 확인",</a:t>
            </a:r>
          </a:p>
          <a:p xmlns:a="http://schemas.openxmlformats.org/drawingml/2006/main">
            <a:r>
              <a:t>          "detail": "같은 사안의 반복 민원을 묶고 기관별 답변 초안 제시",</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"SFR-010",</a:t>
            </a:r>
          </a:p>
          <a:p xmlns:a="http://schemas.openxmlformats.org/drawingml/2006/main">
            <a:r>
              <a:t>            "SFR-018"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"민원 처리·분석",</a:t>
            </a:r>
          </a:p>
          <a:p xmlns:a="http://schemas.openxmlformats.org/drawingml/2006/main">
            <a:r>
              <a:t>          "layer": "업무 연결",</a:t>
            </a:r>
          </a:p>
          <a:p xmlns:a="http://schemas.openxmlformats.org/drawingml/2006/main">
            <a:r>
              <a:t>          "detail": "담당자의 군집·초안 수정 후 민원 처리",</a:t>
            </a:r>
          </a:p>
          <a:p xmlns:a="http://schemas.openxmlformats.org/drawingml/2006/main">
            <a:r>
              <a:t>          "requirements": [</a:t>
            </a:r>
          </a:p>
          <a:p xmlns:a="http://schemas.openxmlformats.org/drawingml/2006/main">
            <a:r>
              <a:t>            "SFR-019"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"오답·병합 오류",</a:t>
            </a:r>
          </a:p>
          <a:p xmlns:a="http://schemas.openxmlformats.org/drawingml/2006/main">
            <a:r>
              <a:t>          "layer": "운영 관측",</a:t>
            </a:r>
          </a:p>
          <a:p xmlns:a="http://schemas.openxmlformats.org/drawingml/2006/main">
            <a:r>
              <a:t>          "detail": "기관별 답변 적합성과 병합 오류 분석",</a:t>
            </a:r>
          </a:p>
          <a:p xmlns:a="http://schemas.openxmlformats.org/drawingml/2006/main">
            <a:r>
              <a:t>          "requirements": [</a:t>
            </a:r>
          </a:p>
          <a:p xmlns:a="http://schemas.openxmlformats.org/drawingml/2006/main">
            <a:r>
              <a:t>            "SFR-010",</a:t>
            </a:r>
          </a:p>
          <a:p xmlns:a="http://schemas.openxmlformats.org/drawingml/2006/main">
            <a:r>
              <a:t>            "SFR-018",</a:t>
            </a:r>
          </a:p>
          <a:p xmlns:a="http://schemas.openxmlformats.org/drawingml/2006/main">
            <a:r>
              <a:t>            "SFR-019",</a:t>
            </a:r>
          </a:p>
          <a:p xmlns:a="http://schemas.openxmlformats.org/drawingml/2006/main">
            <a:r>
              <a:t>            "SFR-020"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"민원·답변·지침",</a:t>
            </a:r>
          </a:p>
          <a:p xmlns:a="http://schemas.openxmlformats.org/drawingml/2006/main">
            <a:r>
              <a:t>          "layer": "데이터 원천",</a:t>
            </a:r>
          </a:p>
          <a:p xmlns:a="http://schemas.openxmlformats.org/drawingml/2006/main">
            <a:r>
              <a:t>          "detail": "민원·답변 자료",</a:t>
            </a:r>
          </a:p>
          <a:p xmlns:a="http://schemas.openxmlformats.org/drawingml/2006/main">
            <a:r>
              <a:t>          "requirements": [</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"OCR·메타정보 추출",</a:t>
            </a:r>
          </a:p>
          <a:p xmlns:a="http://schemas.openxmlformats.org/drawingml/2006/main">
            <a:r>
              <a:t>          "layer": "준비·갱신",</a:t>
            </a:r>
          </a:p>
          <a:p xmlns:a="http://schemas.openxmlformats.org/drawingml/2006/main">
            <a:r>
              <a:t>          "detail": "국민신문고·민원정보분석 자료의 연계·정제",</a:t>
            </a:r>
          </a:p>
          <a:p xmlns:a="http://schemas.openxmlformats.org/drawingml/2006/main">
            <a:r>
              <a:t>          "requirements": [</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"지식 DB·색인",</a:t>
            </a:r>
          </a:p>
          <a:p xmlns:a="http://schemas.openxmlformats.org/drawingml/2006/main">
            <a:r>
              <a:t>          "layer": "상태·지식 저장",</a:t>
            </a:r>
          </a:p>
          <a:p xmlns:a="http://schemas.openxmlformats.org/drawingml/2006/main">
            <a:r>
              <a:t>          "detail": "군집 정답표·잘못된 병합 건·담당자 수정 이력",</a:t>
            </a:r>
          </a:p>
          <a:p xmlns:a="http://schemas.openxmlformats.org/drawingml/2006/main">
            <a:r>
              <a:t>          "requirements": [</a:t>
            </a:r>
          </a:p>
          <a:p xmlns:a="http://schemas.openxmlformats.org/drawingml/2006/main">
            <a:r>
              <a:t>            "SFR-011",</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"모델·프롬프트 관리",</a:t>
            </a:r>
          </a:p>
          <a:p xmlns:a="http://schemas.openxmlformats.org/drawingml/2006/main">
            <a:r>
              <a:t>          "layer": "권한·정책",</a:t>
            </a:r>
          </a:p>
          <a:p xmlns:a="http://schemas.openxmlformats.org/drawingml/2006/main">
            <a:r>
              <a:t>          "detail": "표현이 같은 다른 사건·소관기관 차이·반대 취지",</a:t>
            </a:r>
          </a:p>
          <a:p xmlns:a="http://schemas.openxmlformats.org/drawingml/2006/main">
            <a:r>
              <a:t>          "requirements": [</a:t>
            </a:r>
          </a:p>
          <a:p xmlns:a="http://schemas.openxmlformats.org/drawingml/2006/main">
            <a:r>
              <a:t>            "SFR-010",</a:t>
            </a:r>
          </a:p>
          <a:p xmlns:a="http://schemas.openxmlformats.org/drawingml/2006/main">
            <a:r>
              <a:t>            "SFR-020"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"민원요지·유형·처리기관 문맥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"민원 본문",</a:t>
            </a:r>
          </a:p>
          <a:p xmlns:a="http://schemas.openxmlformats.org/drawingml/2006/main">
            <a:r>
              <a:t>          "check": "동일 사건 여부·개인정보 범위 검토"</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"유사 사건",</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"답변 초안·유사군 후보·근거 문서",</a:t>
            </a:r>
          </a:p>
          <a:p xmlns:a="http://schemas.openxmlformats.org/drawingml/2006/main">
            <a:r>
              <a:t>          "check": "표현이 같은 다른 사건·소관기관 차이·반대 취지"</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"추천 답변",</a:t>
            </a:r>
          </a:p>
          <a:p xmlns:a="http://schemas.openxmlformats.org/drawingml/2006/main">
            <a:r>
              <a:t>          "check": "담당자의 군집·초안 수정 후 민원 처리"</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"수정·회신",</a:t>
            </a:r>
          </a:p>
          <a:p xmlns:a="http://schemas.openxmlformats.org/drawingml/2006/main">
            <a:r>
              <a:t>          "check": "군집 정답표·잘못된 병합 건·담당자 수정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"목표시스템 개념도·RAG 구성 예시",</a:t>
            </a:r>
          </a:p>
          <a:p xmlns:a="http://schemas.openxmlformats.org/drawingml/2006/main">
            <a:r>
              <a:t>        "extracted": "API Gateway, OCR·메타정보 추출, 키워드/벡터 검색과 재정렬",</a:t>
            </a:r>
          </a:p>
          <a:p xmlns:a="http://schemas.openxmlformats.org/drawingml/2006/main">
            <a:r>
              <a:t>        "extension": "민원 중복 후보와 공식 병합·회신의 승인 경계"</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"PF-R02",</a:t>
            </a:r>
          </a:p>
          <a:p xmlns:a="http://schemas.openxmlformats.org/drawingml/2006/main">
            <a:r>
              <a:t>          "path": "assets/casebook-sources/PF-R02-01.png",</a:t>
            </a:r>
          </a:p>
          <a:p xmlns:a="http://schemas.openxmlformats.org/drawingml/2006/main">
            <a:r>
              <a:t>          "title": "국민소통 플랫폼 목표시스템",</a:t>
            </a:r>
          </a:p>
          <a:p xmlns:a="http://schemas.openxmlformats.org/drawingml/2006/main">
            <a:r>
              <a:t>          "status": "RFP 목표시스템 개념도",</a:t>
            </a:r>
          </a:p>
          <a:p xmlns:a="http://schemas.openxmlformats.org/drawingml/2006/main">
            <a:r>
              <a:t>          "caption": "접점·API Gateway·업무 모듈·데이터 처리·운영 관리",</a:t>
            </a:r>
          </a:p>
          <a:p xmlns:a="http://schemas.openxmlformats.org/drawingml/2006/main">
            <a:r>
              <a:t>          "locator": "NIA_RFP_RFP / BinData/image33_bmp",</a:t>
            </a:r>
          </a:p>
          <a:p xmlns:a="http://schemas.openxmlformats.org/drawingml/2006/main">
            <a:r>
              <a:t>          "checked": "2026-10-16",</a:t>
            </a:r>
          </a:p>
          <a:p xmlns:a="http://schemas.openxmlformats.org/drawingml/2006/main">
            <a:r>
              <a:t>          "sha256": "91feb890184edf04ccccd8d86995147aa6c2181b0a66c58436263cafccdae911",</a:t>
            </a:r>
          </a:p>
          <a:p xmlns:a="http://schemas.openxmlformats.org/drawingml/2006/main">
            <a:r>
              <a:t>          "explanation": {</a:t>
            </a:r>
          </a:p>
          <a:p xmlns:a="http://schemas.openxmlformats.org/drawingml/2006/main">
            <a:r>
              <a:t>            "read": "접점에서 받은 요청을 API Gateway를 통해 민원 답변·분석·중복 식별 모듈로 전달하는 목표 구성. 데이터 처리 계층은 공통 근거를 공급하고 운영 관리 계층은 서비스·모델 상태를 관찰하는 역할.",</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"SFR-019",</a:t>
            </a:r>
          </a:p>
          <a:p xmlns:a="http://schemas.openxmlformats.org/drawingml/2006/main">
            <a:r>
              <a:t>              "SFR-020"</a:t>
            </a:r>
          </a:p>
          <a:p xmlns:a="http://schemas.openxmlformats.org/drawingml/2006/main">
            <a:r>
              <a:t>            ],</a:t>
            </a:r>
          </a:p>
          <a:p xmlns:a="http://schemas.openxmlformats.org/drawingml/2006/main">
            <a:r>
              <a:t>            "connection": "담당자 답변 초안, 유사민원 후보, 정책 분석 결과를 서로 다른 출력 계약으로 정의하고 기존 민원시스템의 확정·회신 절차에 연결하는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"assets/casebook-sources/PF-R02-02.png",</a:t>
            </a:r>
          </a:p>
          <a:p xmlns:a="http://schemas.openxmlformats.org/drawingml/2006/main">
            <a:r>
              <a:t>          "title": "키워드·벡터 검색과 Reranker",</a:t>
            </a:r>
          </a:p>
          <a:p xmlns:a="http://schemas.openxmlformats.org/drawingml/2006/main">
            <a:r>
              <a:t>          "status": "RFP RAG 구성 예시",</a:t>
            </a:r>
          </a:p>
          <a:p xmlns:a="http://schemas.openxmlformats.org/drawingml/2006/main">
            <a:r>
              <a:t>          "caption": "키워드/벡터 검색 병렬 처리 → 재정렬 → 근거 응답",</a:t>
            </a:r>
          </a:p>
          <a:p xmlns:a="http://schemas.openxmlformats.org/drawingml/2006/main">
            <a:r>
              <a:t>          "locator": "NIA_RFP_RFP / BinData/image18_bmp",</a:t>
            </a:r>
          </a:p>
          <a:p xmlns:a="http://schemas.openxmlformats.org/drawingml/2006/main">
            <a:r>
              <a:t>          "checked": "2026-10-16",</a:t>
            </a:r>
          </a:p>
          <a:p xmlns:a="http://schemas.openxmlformats.org/drawingml/2006/main">
            <a:r>
              <a:t>          "sha256": "a6ab4248256ee300422789627dbe5b8f09ec60657419e13d082c95b32f3f4f90",</a:t>
            </a:r>
          </a:p>
          <a:p xmlns:a="http://schemas.openxmlformats.org/drawingml/2006/main">
            <a:r>
              <a:t>          "explanation": {</a:t>
            </a:r>
          </a:p>
          <a:p xmlns:a="http://schemas.openxmlformats.org/drawingml/2006/main">
            <a:r>
              <a:t>            "read": "키워드 검색은 정확한 용어·조항의 일치 후보, 벡터 검색은 표현이 다른 유사 의미 후보를 제공. Reranker는 통합 후보를 질의 관련성에 따라 다시 정렬하고 생성 모델에 근거를 전달하는 역할.",</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a:t>
            </a:r>
          </a:p>
          <a:p xmlns:a="http://schemas.openxmlformats.org/drawingml/2006/main">
            <a:r>
              <a:t>            "connection": "재정렬 점수를 법적 정답이나 민원 병합 승인으로 해석하지 않고 기관·사건·시점과 출처 일치를 별도로 확인하는 검증 단계의 추가."</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"assets/casebook-sources/PF-R02-03.png",</a:t>
            </a:r>
          </a:p>
          <a:p xmlns:a="http://schemas.openxmlformats.org/drawingml/2006/main">
            <a:r>
              <a:t>          "title": "민원 AI 입출력 데이터",</a:t>
            </a:r>
          </a:p>
          <a:p xmlns:a="http://schemas.openxmlformats.org/drawingml/2006/main">
            <a:r>
              <a:t>          "status": "RFP 데이터 흐름도",</a:t>
            </a:r>
          </a:p>
          <a:p xmlns:a="http://schemas.openxmlformats.org/drawingml/2006/main">
            <a:r>
              <a:t>          "caption": "국민신문고·시범기관 매뉴얼 → 전처리·RAG → 답변·유사도",</a:t>
            </a:r>
          </a:p>
          <a:p xmlns:a="http://schemas.openxmlformats.org/drawingml/2006/main">
            <a:r>
              <a:t>          "locator": "NIA_RFP_RFP / BinData/image34_bmp",</a:t>
            </a:r>
          </a:p>
          <a:p xmlns:a="http://schemas.openxmlformats.org/drawingml/2006/main">
            <a:r>
              <a:t>          "checked": "2026-10-16",</a:t>
            </a:r>
          </a:p>
          <a:p xmlns:a="http://schemas.openxmlformats.org/drawingml/2006/main">
            <a:r>
              <a:t>          "sha256": "0e09409295bbb0aae0a61666cf01982d012392b3f4bccd2e98499654b4b690d0",</a:t>
            </a:r>
          </a:p>
          <a:p xmlns:a="http://schemas.openxmlformats.org/drawingml/2006/main">
            <a:r>
              <a:t>          "explanation": {</a:t>
            </a:r>
          </a:p>
          <a:p xmlns:a="http://schemas.openxmlformats.org/drawingml/2006/main">
            <a:r>
              <a:t>            "read": "국민신문고 데이터와 시범기관 매뉴얼 등 입력을 전처리·RAG 경로에 투입하고 업무별 답변·유사도 결과로 변환하는 입출력 구조. 동일 원천을 이용하더라도 답변과 군집의 산출물은 별도 관리 대상.",</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"SFR-015",</a:t>
            </a:r>
          </a:p>
          <a:p xmlns:a="http://schemas.openxmlformats.org/drawingml/2006/main">
            <a:r>
              <a:t>              "SFR-018"</a:t>
            </a:r>
          </a:p>
          <a:p xmlns:a="http://schemas.openxmlformats.org/drawingml/2006/main">
            <a:r>
              <a:t>            ],</a:t>
            </a:r>
          </a:p>
          <a:p xmlns:a="http://schemas.openxmlformats.org/drawingml/2006/main">
            <a:r>
              <a:t>            "connection": "원천 민원 ID·문서 판본·근거 위치를 결과에 유지해 담당자 수정과 최종 회신의 차이를 재현할 수 있도록 하는 데이터 계약."</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"assets/casebook-sources/PF-R02-04.png",</a:t>
            </a:r>
          </a:p>
          <a:p xmlns:a="http://schemas.openxmlformats.org/drawingml/2006/main">
            <a:r>
              <a:t>          "title": "데이터 구축·학습·운영 흐름",</a:t>
            </a:r>
          </a:p>
          <a:p xmlns:a="http://schemas.openxmlformats.org/drawingml/2006/main">
            <a:r>
              <a:t>          "status": "RFP 데이터 처리 구조",</a:t>
            </a:r>
          </a:p>
          <a:p xmlns:a="http://schemas.openxmlformats.org/drawingml/2006/main">
            <a:r>
              <a:t>          "caption": "수집·정제·가공·학습·운영의 환류",</a:t>
            </a:r>
          </a:p>
          <a:p xmlns:a="http://schemas.openxmlformats.org/drawingml/2006/main">
            <a:r>
              <a:t>          "locator": "NIA_RFP_RFP / BinData/image32_png",</a:t>
            </a:r>
          </a:p>
          <a:p xmlns:a="http://schemas.openxmlformats.org/drawingml/2006/main">
            <a:r>
              <a:t>          "checked": "2026-10-16",</a:t>
            </a:r>
          </a:p>
          <a:p xmlns:a="http://schemas.openxmlformats.org/drawingml/2006/main">
            <a:r>
              <a:t>          "sha256": "b6c466b110d91bceff5a9f806d658aa54f010e0a5b8a358a16771181bea77c50",</a:t>
            </a:r>
          </a:p>
          <a:p xmlns:a="http://schemas.openxmlformats.org/drawingml/2006/main">
            <a:r>
              <a:t>          "explanation": {</a:t>
            </a:r>
          </a:p>
          <a:p xmlns:a="http://schemas.openxmlformats.org/drawingml/2006/main">
            <a:r>
              <a:t>            "read": "수집·정제·가공·학습·운영이 연결된 데이터 생애주기. 온라인 요청 처리와 모델·지식 갱신의 작업이 서로 다른 주기로 수행되는 구성.",</a:t>
            </a:r>
          </a:p>
          <a:p xmlns:a="http://schemas.openxmlformats.org/drawingml/2006/main">
            <a:r>
              <a:t>            "requirements": [</a:t>
            </a:r>
          </a:p>
          <a:p xmlns:a="http://schemas.openxmlformats.org/drawingml/2006/main">
            <a:r>
              <a:t>              "SFR-015",</a:t>
            </a:r>
          </a:p>
          <a:p xmlns:a="http://schemas.openxmlformats.org/drawingml/2006/main">
            <a:r>
              <a:t>              "SFR-018",</a:t>
            </a:r>
          </a:p>
          <a:p xmlns:a="http://schemas.openxmlformats.org/drawingml/2006/main">
            <a:r>
              <a:t>              "SFR-020"</a:t>
            </a:r>
          </a:p>
          <a:p xmlns:a="http://schemas.openxmlformats.org/drawingml/2006/main">
            <a:r>
              <a:t>            ],</a:t>
            </a:r>
          </a:p>
          <a:p xmlns:a="http://schemas.openxmlformats.org/drawingml/2006/main">
            <a:r>
              <a:t>            "connection": "원천 변경 시 수집 완료·정제 완료·색인 반영 상태를 분리하고 실패 자료만 재처리하는 운영 설계. 검토 피드백의 자동 학습 투입 전 품질 확인 단계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"표현이 같은 다른 사건·소관기관 차이·반대 취지",</a:t>
            </a:r>
          </a:p>
          <a:p xmlns:a="http://schemas.openxmlformats.org/drawingml/2006/main">
            <a:r>
              <a:t>        "hold": "동일 사건 여부·개인정보 범위 검토",</a:t>
            </a:r>
          </a:p>
          <a:p xmlns:a="http://schemas.openxmlformats.org/drawingml/2006/main">
            <a:r>
              <a:t>        "recovery": "기관별 답변 적합성과 병합 오류 분석",</a:t>
            </a:r>
          </a:p>
          <a:p xmlns:a="http://schemas.openxmlformats.org/drawingml/2006/main">
            <a:r>
              <a:t>        "evidence": "군집 정답표·잘못된 병합 건·담당자 수정 이력"</a:t>
            </a:r>
          </a:p>
          <a:p xmlns:a="http://schemas.openxmlformats.org/drawingml/2006/main">
            <a:r>
              <a:t>      },</a:t>
            </a:r>
          </a:p>
          <a:p xmlns:a="http://schemas.openxmlformats.org/drawingml/2006/main">
            <a:r>
              <a:t>      "data": {</a:t>
            </a:r>
          </a:p>
          <a:p xmlns:a="http://schemas.openxmlformats.org/drawingml/2006/main">
            <a:r>
              <a:t>        "source": "민원·답변 자료",</a:t>
            </a:r>
          </a:p>
          <a:p xmlns:a="http://schemas.openxmlformats.org/drawingml/2006/main">
            <a:r>
              <a:t>        "prepare": "국민신문고·민원정보분석 자료의 연계·정제",</a:t>
            </a:r>
          </a:p>
          <a:p xmlns:a="http://schemas.openxmlformats.org/drawingml/2006/main">
            <a:r>
              <a:t>        "output": "민원 본문",</a:t>
            </a:r>
          </a:p>
          <a:p xmlns:a="http://schemas.openxmlformats.org/drawingml/2006/main">
            <a:r>
              <a:t>        "refresh": "기관별 답변 적합성과 병합 오류 분석"</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"PF-R02",</a:t>
            </a:r>
          </a:p>
          <a:p xmlns:a="http://schemas.openxmlformats.org/drawingml/2006/main">
            <a:r>
              <a:t>    "success": [</a:t>
            </a:r>
          </a:p>
          <a:p xmlns:a="http://schemas.openxmlformats.org/drawingml/2006/main">
            <a:r>
              <a:t>      "유사민원과 답변 추천 결합",</a:t>
            </a:r>
          </a:p>
          <a:p xmlns:a="http://schemas.openxmlformats.org/drawingml/2006/main">
            <a:r>
              <a:t>      "현업 수정을 반영한 활용"</a:t>
            </a:r>
          </a:p>
          <a:p xmlns:a="http://schemas.openxmlformats.org/drawingml/2006/main">
            <a:r>
              <a:t>    ],</a:t>
            </a:r>
          </a:p>
          <a:p xmlns:a="http://schemas.openxmlformats.org/drawingml/2006/main">
            <a:r>
              <a:t>    "risks": [</a:t>
            </a:r>
          </a:p>
          <a:p xmlns:a="http://schemas.openxmlformats.org/drawingml/2006/main">
            <a:r>
              <a:t>      "다른 사건의 무리한 병합",</a:t>
            </a:r>
          </a:p>
          <a:p xmlns:a="http://schemas.openxmlformats.org/drawingml/2006/main">
            <a:r>
              <a:t>      "답변 추천을 공식 회신으로 오인"</a:t>
            </a:r>
          </a:p>
          <a:p xmlns:a="http://schemas.openxmlformats.org/drawingml/2006/main">
            <a:r>
              <a:t>    ],</a:t>
            </a:r>
          </a:p>
          <a:p xmlns:a="http://schemas.openxmlformats.org/drawingml/2006/main">
            <a:r>
              <a:t>    "architecture": [</a:t>
            </a:r>
          </a:p>
          <a:p xmlns:a="http://schemas.openxmlformats.org/drawingml/2006/main">
            <a:r>
              <a:t>      "국민신문고",</a:t>
            </a:r>
          </a:p>
          <a:p xmlns:a="http://schemas.openxmlformats.org/drawingml/2006/main">
            <a:r>
              <a:t>      "분류·답변 추천",</a:t>
            </a:r>
          </a:p>
          <a:p xmlns:a="http://schemas.openxmlformats.org/drawingml/2006/main">
            <a:r>
              <a:t>      "민원·답변 자료",</a:t>
            </a:r>
          </a:p>
          <a:p xmlns:a="http://schemas.openxmlformats.org/drawingml/2006/main">
            <a:r>
              <a:t>      "민원 담당"</a:t>
            </a:r>
          </a:p>
          <a:p xmlns:a="http://schemas.openxmlformats.org/drawingml/2006/main">
            <a:r>
              <a:t>    ],</a:t>
            </a:r>
          </a:p>
          <a:p xmlns:a="http://schemas.openxmlformats.org/drawingml/2006/main">
            <a:r>
              <a:t>    "transfers": [</a:t>
            </a:r>
          </a:p>
          <a:p xmlns:a="http://schemas.openxmlformats.org/drawingml/2006/main">
            <a:r>
              <a:t>      "민원 본문",</a:t>
            </a:r>
          </a:p>
          <a:p xmlns:a="http://schemas.openxmlformats.org/drawingml/2006/main">
            <a:r>
              <a:t>      "유사 사건",</a:t>
            </a:r>
          </a:p>
          <a:p xmlns:a="http://schemas.openxmlformats.org/drawingml/2006/main">
            <a:r>
              <a:t>      "추천 답변",</a:t>
            </a:r>
          </a:p>
          <a:p xmlns:a="http://schemas.openxmlformats.org/drawingml/2006/main">
            <a:r>
              <a:t>      "수정·회신"</a:t>
            </a:r>
          </a:p>
          <a:p xmlns:a="http://schemas.openxmlformats.org/drawingml/2006/main">
            <a:r>
              <a:t>    ],</a:t>
            </a:r>
          </a:p>
          <a:p xmlns:a="http://schemas.openxmlformats.org/drawingml/2006/main">
            <a:r>
              <a:t>    "control": "동일 사건 여부·개인정보 범위 검토",</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추진계획·성과지표, 기능 요구사항 / Word T035 https://www.nia.or.kr/common/board/Download.do?bcIdx=28233&amp;cbIdx=78336&amp;fileNo=2</a:t>
            </a:r>
          </a:p>
          <a:p xmlns:a="http://schemas.openxmlformats.org/drawingml/2006/main">
            <a:r>
              <a:t>홈페이지 https://heen1987-ops.github.io/TS-business-Plan-001/index.html?view=platform-cases&amp;case=PF-R02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"PF-R02",</a:t>
            </a:r>
          </a:p>
          <a:p xmlns:a="http://schemas.openxmlformats.org/drawingml/2006/main">
            <a:r>
              <a:t>    "sourceId": "R02",</a:t>
            </a:r>
          </a:p>
          <a:p xmlns:a="http://schemas.openxmlformats.org/drawingml/2006/main">
            <a:r>
              <a:t>    "title": "국민권익위 민원 AI",</a:t>
            </a:r>
          </a:p>
          <a:p xmlns:a="http://schemas.openxmlformats.org/drawingml/2006/main">
            <a:r>
              <a:t>    "region": "국내",</a:t>
            </a:r>
          </a:p>
          <a:p xmlns:a="http://schemas.openxmlformats.org/drawingml/2006/main">
            <a:r>
              <a:t>    "owner": "국민권익위원회·NIA",</a:t>
            </a:r>
          </a:p>
          <a:p xmlns:a="http://schemas.openxmlformats.org/drawingml/2006/main">
            <a:r>
              <a:t>    "state": "공식 서비스 개시 확인(2026-02-05)",</a:t>
            </a:r>
          </a:p>
          <a:p xmlns:a="http://schemas.openxmlformats.org/drawingml/2006/main">
            <a:r>
              <a:t>    "period": "기존 원장 확인 2026.10.16",</a:t>
            </a:r>
          </a:p>
          <a:p xmlns:a="http://schemas.openxmlformats.org/drawingml/2006/main">
            <a:r>
              <a:t>    "fact": "민원답변 추천·빈발중복민원 병합·의미 기반 민원 분석",</a:t>
            </a:r>
          </a:p>
          <a:p xmlns:a="http://schemas.openxmlformats.org/drawingml/2006/main">
            <a:r>
              <a:t>    "limit": "추천답변 도출시간·배정 처리시간·최종 답변 처리시간의 정의와 분모를 구분해야 함",</a:t>
            </a:r>
          </a:p>
          <a:p xmlns:a="http://schemas.openxmlformats.org/drawingml/2006/main">
            <a:r>
              <a:t>    "nodes": [</a:t>
            </a:r>
          </a:p>
          <a:p xmlns:a="http://schemas.openxmlformats.org/drawingml/2006/main">
            <a:r>
              <a:t>      "국민신문고",</a:t>
            </a:r>
          </a:p>
          <a:p xmlns:a="http://schemas.openxmlformats.org/drawingml/2006/main">
            <a:r>
              <a:t>      "분류·유사민원",</a:t>
            </a:r>
          </a:p>
          <a:p xmlns:a="http://schemas.openxmlformats.org/drawingml/2006/main">
            <a:r>
              <a:t>      "답변 추천",</a:t>
            </a:r>
          </a:p>
          <a:p xmlns:a="http://schemas.openxmlformats.org/drawingml/2006/main">
            <a:r>
              <a:t>      "현업 수정"</a:t>
            </a:r>
          </a:p>
          <a:p xmlns:a="http://schemas.openxmlformats.org/drawingml/2006/main">
            <a:r>
              <a:t>    ],</a:t>
            </a:r>
          </a:p>
          <a:p xmlns:a="http://schemas.openxmlformats.org/drawingml/2006/main">
            <a:r>
              <a:t>    "apply": "유사 문구와 동일 사건을 구분하는 민원 분류 및 소관부서별 답변 검토",</a:t>
            </a:r>
          </a:p>
          <a:p xmlns:a="http://schemas.openxmlformats.org/drawingml/2006/main">
            <a:r>
              <a:t>    "delta": "민원 사건·기관·업무 분류 / 유사군 검토 UI / 현업 수정 이력",</a:t>
            </a:r>
          </a:p>
          <a:p xmlns:a="http://schemas.openxmlformats.org/drawingml/2006/main">
            <a:r>
              <a:t>    "test": "같은 표현의 다른 사건·반대 취지 민원에 대한 오병합·답변 오류 측정",</a:t>
            </a:r>
          </a:p>
          <a:p xmlns:a="http://schemas.openxmlformats.org/drawingml/2006/main">
            <a:r>
              <a:t>    "url": "https://www.nia.or.kr/common/board/Download.do?bcIdx=28233&amp;cbIdx=78336&amp;fileNo=2",</a:t>
            </a:r>
          </a:p>
          <a:p xmlns:a="http://schemas.openxmlformats.org/drawingml/2006/main">
            <a:r>
              <a:t>    "urls": [</a:t>
            </a:r>
          </a:p>
          <a:p xmlns:a="http://schemas.openxmlformats.org/drawingml/2006/main">
            <a:r>
              <a:t>      "https://www.nia.or.kr/common/board/Download.do?bcIdx=28233&amp;cbIdx=78336&amp;fileNo=2",</a:t>
            </a:r>
          </a:p>
          <a:p xmlns:a="http://schemas.openxmlformats.org/drawingml/2006/main">
            <a:r>
              <a:t>      "https://www.acrc.go.kr/board.es?act=view&amp;bid=ACH&amp;list_no=106584&amp;mid=a10403070000&amp;nPage=1"</a:t>
            </a:r>
          </a:p>
          <a:p xmlns:a="http://schemas.openxmlformats.org/drawingml/2006/main">
            <a:r>
              <a:t>    ],</a:t>
            </a:r>
          </a:p>
          <a:p xmlns:a="http://schemas.openxmlformats.org/drawingml/2006/main">
            <a:r>
              <a:t>    "basis": "추진계획·성과지표, 기능 요구사항 / Word T035",</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"민원 분류 정확도 / 오병합률 / 최종 답변 작성시간",</a:t>
            </a:r>
          </a:p>
          <a:p xmlns:a="http://schemas.openxmlformats.org/drawingml/2006/main">
            <a:r>
              <a:t>    "group": "요구·구축",</a:t>
            </a:r>
          </a:p>
          <a:p xmlns:a="http://schemas.openxmlformats.org/drawingml/2006/main">
            <a:r>
              <a:t>    "sourceDetail": "국민신문고/민원정보분석 연계, RAG·요약·유사도 군집, 현업 수정 및 시범기관 확산",</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"PF-R02",</a:t>
            </a:r>
          </a:p>
          <a:p xmlns:a="http://schemas.openxmlformats.org/drawingml/2006/main">
            <a:r>
              <a:t>    "canonicalId": "PF-R02",</a:t>
            </a:r>
          </a:p>
          <a:p xmlns:a="http://schemas.openxmlformats.org/drawingml/2006/main">
            <a:r>
              <a:t>    "purpose": "민원답변 추천과 빈발·중복민원 분석",</a:t>
            </a:r>
          </a:p>
          <a:p xmlns:a="http://schemas.openxmlformats.org/drawingml/2006/main">
            <a:r>
              <a:t>    "users": "민원 처리자·정책 분석자",</a:t>
            </a:r>
          </a:p>
          <a:p xmlns:a="http://schemas.openxmlformats.org/drawingml/2006/main">
            <a:r>
              <a:t>    "scope": [</a:t>
            </a:r>
          </a:p>
          <a:p xmlns:a="http://schemas.openxmlformats.org/drawingml/2006/main">
            <a:r>
              <a:t>      "답변 초안",</a:t>
            </a:r>
          </a:p>
          <a:p xmlns:a="http://schemas.openxmlformats.org/drawingml/2006/main">
            <a:r>
              <a:t>      "유사민원 병합",</a:t>
            </a:r>
          </a:p>
          <a:p xmlns:a="http://schemas.openxmlformats.org/drawingml/2006/main">
            <a:r>
              <a:t>      "의미 분석"</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"국민신문고",</a:t>
            </a:r>
          </a:p>
          <a:p xmlns:a="http://schemas.openxmlformats.org/drawingml/2006/main">
            <a:r>
              <a:t>        "detail": "민원요지·유형·처리기관 문맥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"답변 초안 / 유사민원 병합 / 의미 분석",</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"분류·답변 추천",</a:t>
            </a:r>
          </a:p>
          <a:p xmlns:a="http://schemas.openxmlformats.org/drawingml/2006/main">
            <a:r>
              <a:t>        "detail": "RAG 답변 추천과 의미 유사도 군집",</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"민원 담당",</a:t>
            </a:r>
          </a:p>
          <a:p xmlns:a="http://schemas.openxmlformats.org/drawingml/2006/main">
            <a:r>
              <a:t>        "detail": "담당자의 군집·초안 수정 후 민원 처리",</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"민원·답변 자료",</a:t>
            </a:r>
          </a:p>
          <a:p xmlns:a="http://schemas.openxmlformats.org/drawingml/2006/main">
            <a:r>
              <a:t>        "detail": "국민신문고·민원정보분석 자료의 연계·정제",</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"기관별 답변 적합성과 병합 오류 분석",</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"국민신문고",</a:t>
            </a:r>
          </a:p>
          <a:p xmlns:a="http://schemas.openxmlformats.org/drawingml/2006/main">
            <a:r>
              <a:t>        "input": "민원요지·유형·처리기관 문맥 구성",</a:t>
            </a:r>
          </a:p>
          <a:p xmlns:a="http://schemas.openxmlformats.org/drawingml/2006/main">
            <a:r>
              <a:t>        "process": "국민신문고·민원정보분석 자료의 연계·정제",</a:t>
            </a:r>
          </a:p>
          <a:p xmlns:a="http://schemas.openxmlformats.org/drawingml/2006/main">
            <a:r>
              <a:t>        "output": "민원 본문"</a:t>
            </a:r>
          </a:p>
          <a:p xmlns:a="http://schemas.openxmlformats.org/drawingml/2006/main">
            <a:r>
              <a:t>      },</a:t>
            </a:r>
          </a:p>
          <a:p xmlns:a="http://schemas.openxmlformats.org/drawingml/2006/main">
            <a:r>
              <a:t>      {</a:t>
            </a:r>
          </a:p>
          <a:p xmlns:a="http://schemas.openxmlformats.org/drawingml/2006/main">
            <a:r>
              <a:t>        "title": "분류·유사민원",</a:t>
            </a:r>
          </a:p>
          <a:p xmlns:a="http://schemas.openxmlformats.org/drawingml/2006/main">
            <a:r>
              <a:t>        "input": "민원 본문",</a:t>
            </a:r>
          </a:p>
          <a:p xmlns:a="http://schemas.openxmlformats.org/drawingml/2006/main">
            <a:r>
              <a:t>        "process": "RAG 답변 추천과 의미 유사도 군집",</a:t>
            </a:r>
          </a:p>
          <a:p xmlns:a="http://schemas.openxmlformats.org/drawingml/2006/main">
            <a:r>
              <a:t>        "output": "유사 사건"</a:t>
            </a:r>
          </a:p>
          <a:p xmlns:a="http://schemas.openxmlformats.org/drawingml/2006/main">
            <a:r>
              <a:t>      },</a:t>
            </a:r>
          </a:p>
          <a:p xmlns:a="http://schemas.openxmlformats.org/drawingml/2006/main">
            <a:r>
              <a:t>      {</a:t>
            </a:r>
          </a:p>
          <a:p xmlns:a="http://schemas.openxmlformats.org/drawingml/2006/main">
            <a:r>
              <a:t>        "title": "답변 추천",</a:t>
            </a:r>
          </a:p>
          <a:p xmlns:a="http://schemas.openxmlformats.org/drawingml/2006/main">
            <a:r>
              <a:t>        "input": "유사 사건",</a:t>
            </a:r>
          </a:p>
          <a:p xmlns:a="http://schemas.openxmlformats.org/drawingml/2006/main">
            <a:r>
              <a:t>        "process": "동일 사건 여부·개인정보 범위 검토",</a:t>
            </a:r>
          </a:p>
          <a:p xmlns:a="http://schemas.openxmlformats.org/drawingml/2006/main">
            <a:r>
              <a:t>        "output": "추천 답변"</a:t>
            </a:r>
          </a:p>
          <a:p xmlns:a="http://schemas.openxmlformats.org/drawingml/2006/main">
            <a:r>
              <a:t>      },</a:t>
            </a:r>
          </a:p>
          <a:p xmlns:a="http://schemas.openxmlformats.org/drawingml/2006/main">
            <a:r>
              <a:t>      {</a:t>
            </a:r>
          </a:p>
          <a:p xmlns:a="http://schemas.openxmlformats.org/drawingml/2006/main">
            <a:r>
              <a:t>        "title": "현업 수정",</a:t>
            </a:r>
          </a:p>
          <a:p xmlns:a="http://schemas.openxmlformats.org/drawingml/2006/main">
            <a:r>
              <a:t>        "input": "추천 답변",</a:t>
            </a:r>
          </a:p>
          <a:p xmlns:a="http://schemas.openxmlformats.org/drawingml/2006/main">
            <a:r>
              <a:t>        "process": "담당자의 군집·초안 수정 후 민원 처리",</a:t>
            </a:r>
          </a:p>
          <a:p xmlns:a="http://schemas.openxmlformats.org/drawingml/2006/main">
            <a:r>
              <a:t>        "output": "수정·회신"</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"같은 사안의 반복 민원을 묶고 기관별 답변 초안 제시",</a:t>
            </a:r>
          </a:p>
          <a:p xmlns:a="http://schemas.openxmlformats.org/drawingml/2006/main">
            <a:r>
              <a:t>      "exception": "표현이 같은 다른 사건·소관기관 차이·반대 취지",</a:t>
            </a:r>
          </a:p>
          <a:p xmlns:a="http://schemas.openxmlformats.org/drawingml/2006/main">
            <a:r>
              <a:t>      "evidence": "군집 정답표·잘못된 병합 건·담당자 수정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"민원 처리자·정책 분석자",</a:t>
            </a:r>
          </a:p>
          <a:p xmlns:a="http://schemas.openxmlformats.org/drawingml/2006/main">
            <a:r>
              <a:t>          "processing": "민원요지·유형·처리기관 문맥 구성",</a:t>
            </a:r>
          </a:p>
          <a:p xmlns:a="http://schemas.openxmlformats.org/drawingml/2006/main">
            <a:r>
              <a:t>          "output": "민원 본문"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"민원·답변 자료",</a:t>
            </a:r>
          </a:p>
          <a:p xmlns:a="http://schemas.openxmlformats.org/drawingml/2006/main">
            <a:r>
              <a:t>          "processing": "국민신문고·민원정보분석 자료의 연계·정제",</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"민원 본문",</a:t>
            </a:r>
          </a:p>
          <a:p xmlns:a="http://schemas.openxmlformats.org/drawingml/2006/main">
            <a:r>
              <a:t>          "processing": "RAG 답변 추천과 의미 유사도 군집",</a:t>
            </a:r>
          </a:p>
          <a:p xmlns:a="http://schemas.openxmlformats.org/drawingml/2006/main">
            <a:r>
              <a:t>          "output": "추천 답변"</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"추천 답변",</a:t>
            </a:r>
          </a:p>
          <a:p xmlns:a="http://schemas.openxmlformats.org/drawingml/2006/main">
            <a:r>
              <a:t>          "processing": "담당자의 군집·초안 수정 후 민원 처리",</a:t>
            </a:r>
          </a:p>
          <a:p xmlns:a="http://schemas.openxmlformats.org/drawingml/2006/main">
            <a:r>
              <a:t>          "output": "수정·회신"</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"기관별 답변 적합성과 병합 오류 분석",</a:t>
            </a:r>
          </a:p>
          <a:p xmlns:a="http://schemas.openxmlformats.org/drawingml/2006/main">
            <a:r>
              <a:t>          "output": "군집 정답표·잘못된 병합 건·담당자 수정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"기관별 답변 적합성과 병합 오류 분석",</a:t>
            </a:r>
          </a:p>
          <a:p xmlns:a="http://schemas.openxmlformats.org/drawingml/2006/main">
            <a:r>
              <a:t>    "status": "RFP 기반 논리 설계",</a:t>
            </a:r>
          </a:p>
          <a:p xmlns:a="http://schemas.openxmlformats.org/drawingml/2006/main">
            <a:r>
              <a:t>    "basis": "본공고 RFP · 사업계획·민원답변 작성지원·빈발중복민원",</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"추진계획·성과지표, 기능 요구사항 / Word T035",</a:t>
            </a:r>
          </a:p>
          <a:p xmlns:a="http://schemas.openxmlformats.org/drawingml/2006/main">
            <a:r>
              <a:t>        "url": "https://www.nia.or.kr/common/board/Download.do?bcIdx=28233&amp;cbIdx=78336&amp;fileNo=2"</a:t>
            </a:r>
          </a:p>
          <a:p xmlns:a="http://schemas.openxmlformats.org/drawingml/2006/main">
            <a:r>
              <a:t>      }</a:t>
            </a:r>
          </a:p>
          <a:p xmlns:a="http://schemas.openxmlformats.org/drawingml/2006/main">
            <a:r>
              <a:t>    ],</a:t>
            </a:r>
          </a:p>
          <a:p xmlns:a="http://schemas.openxmlformats.org/drawingml/2006/main">
            <a:r>
              <a:t>    "implication": "유사 문구와 동일 사건을 구분하는 민원 분류 및 소관부서별 답변 검토",</a:t>
            </a:r>
          </a:p>
          <a:p xmlns:a="http://schemas.openxmlformats.org/drawingml/2006/main">
            <a:r>
              <a:t>    "local": "유사 문구와 동일 사건을 구분하는 민원 분류 및 소관부서별 답변 검토",</a:t>
            </a:r>
          </a:p>
          <a:p xmlns:a="http://schemas.openxmlformats.org/drawingml/2006/main">
            <a:r>
              <a:t>    "sourceDetail": "국민신문고/민원정보분석 연계, RAG·요약·유사도 군집, 현업 수정 및 시범기관 확산",</a:t>
            </a:r>
          </a:p>
          <a:p xmlns:a="http://schemas.openxmlformats.org/drawingml/2006/main">
            <a:r>
              <a:t>    "narrative": [</a:t>
            </a:r>
          </a:p>
          <a:p xmlns:a="http://schemas.openxmlformats.org/drawingml/2006/main">
            <a:r>
              <a:t>      "국민신문고의 접수·처리와 민원정보분석 업무를 연결하는 AI 고도화. 담당자의 답변 초안 작성과 유사민원 식별, 정책 분석자의 의미 기반 이슈 탐색을 서로 다른 업무 결과로 구분하는 사업.",</a:t>
            </a:r>
          </a:p>
          <a:p xmlns:a="http://schemas.openxmlformats.org/drawingml/2006/main">
            <a:r>
              <a:t>      "원문 목표 구성도는 기존 포털·DB, API Gateway, 답변·분석·중복 검색 모듈, 데이터 처리 계층, 운영 관리 계층으로 구성. OCR·메타정보 추출 후 키워드·벡터 검색을 병렬 수행하고, 재정렬된 근거를 업무 모듈에 전달하는 구조. 서비스 화면과 모델 운영의 별도 책임 분리가 핵심.",</a:t>
            </a:r>
          </a:p>
          <a:p xmlns:a="http://schemas.openxmlformats.org/drawingml/2006/main">
            <a:r>
              <a:t>      "표현이 비슷하다는 이유만으로 같은 사건으로 병합하면 이의·반대 민원의 취지 소실 가능성. CCK 비교시험에서는 문장 유사도 외에 사건·기관·지역·처리 단계의 일치 여부와 담당자의 수정·채택 이력을 함께 평가할 필요. 답변 추천시간과 최종 회신시간의 별도 계측."</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"SFR-004",</a:t>
            </a:r>
          </a:p>
          <a:p xmlns:a="http://schemas.openxmlformats.org/drawingml/2006/main">
            <a:r>
              <a:t>        "title": "민원 종류 분류",</a:t>
            </a:r>
          </a:p>
          <a:p xmlns:a="http://schemas.openxmlformats.org/drawingml/2006/main">
            <a:r>
              <a:t>        "locator": "SFR-004",</a:t>
            </a:r>
          </a:p>
          <a:p xmlns:a="http://schemas.openxmlformats.org/drawingml/2006/main">
            <a:r>
              <a:t>        "summary": "민원 본문을 민원 종류로 분류해 담당 업무의 처리 경로를 지원하는 기능.",</a:t>
            </a:r>
          </a:p>
          <a:p xmlns:a="http://schemas.openxmlformats.org/drawingml/2006/main">
            <a:r>
              <a:t>        "data": "민원 원문·분류 체계 → 분류 후보·검토 결과",</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"복합 주제·짧은 문장·오탈자 민원의 오분류와 담당자 수정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"6b4913cc0ae5b5169d9646773f4136e5246b9263738a4827b1ab87a16891f0b5"</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"민원 처리내용 초안 제공",</a:t>
            </a:r>
          </a:p>
          <a:p xmlns:a="http://schemas.openxmlformats.org/drawingml/2006/main">
            <a:r>
              <a:t>        "locator": "SFR-005",</a:t>
            </a:r>
          </a:p>
          <a:p xmlns:a="http://schemas.openxmlformats.org/drawingml/2006/main">
            <a:r>
              <a:t>        "summary": "관련 규정과 기존 처리내용을 참조한 민원답변 초안 지원. 초안과 최종 답변의 담당자 확인 경로 구성.",</a:t>
            </a:r>
          </a:p>
          <a:p xmlns:a="http://schemas.openxmlformats.org/drawingml/2006/main">
            <a:r>
              <a:t>        "data": "접수 민원·참조 자료 → 근거가 연결된 답변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"과거 규정과 현행 규정이 충돌하는 사례의 근거 판본 및 담당자 수정 흔적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"4f5defef29ed25fd79e46a89d680a461cb449aef69766f422194dd69e74fe07d"</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"유사민원 식별 기능 제공",</a:t>
            </a:r>
          </a:p>
          <a:p xmlns:a="http://schemas.openxmlformats.org/drawingml/2006/main">
            <a:r>
              <a:t>        "locator": "SFR-006",</a:t>
            </a:r>
          </a:p>
          <a:p xmlns:a="http://schemas.openxmlformats.org/drawingml/2006/main">
            <a:r>
              <a:t>        "summary": "같거나 유사한 민원을 식별해 반복 업무를 지원하는 기능. 검색 후보와 실제 병합 판단의 구분.",</a:t>
            </a:r>
          </a:p>
          <a:p xmlns:a="http://schemas.openxmlformats.org/drawingml/2006/main">
            <a:r>
              <a:t>        "data": "민원 집합·사건 문맥 → 유사도·후보 묶음",</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"C05"</a:t>
            </a:r>
          </a:p>
          <a:p xmlns:a="http://schemas.openxmlformats.org/drawingml/2006/main">
            <a:r>
              <a:t>        ],</a:t>
            </a:r>
          </a:p>
          <a:p xmlns:a="http://schemas.openxmlformats.org/drawingml/2006/main">
            <a:r>
              <a:t>        "acceptance": "문장은 같지만 사건·지역·신청인이 다른 사례로 오병합 여부와 원문 복원 가능성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"4153e591c032d301106aff35c38940a0d476dc7d8c4d31155d7221e129da66dd"</a:t>
            </a:r>
          </a:p>
          <a:p xmlns:a="http://schemas.openxmlformats.org/drawingml/2006/main">
            <a:r>
              <a:t>      },</a:t>
            </a:r>
          </a:p>
          <a:p xmlns:a="http://schemas.openxmlformats.org/drawingml/2006/main">
            <a:r>
              <a:t>      {</a:t>
            </a:r>
          </a:p>
          <a:p xmlns:a="http://schemas.openxmlformats.org/drawingml/2006/main">
            <a:r>
              <a:t>        "id": "SFR-010",</a:t>
            </a:r>
          </a:p>
          <a:p xmlns:a="http://schemas.openxmlformats.org/drawingml/2006/main">
            <a:r>
              <a:t>        "title": "민원업무 고도화 서비스 관리기능",</a:t>
            </a:r>
          </a:p>
          <a:p xmlns:a="http://schemas.openxmlformats.org/drawingml/2006/main">
            <a:r>
              <a:t>        "locator": "SFR-010",</a:t>
            </a:r>
          </a:p>
          <a:p xmlns:a="http://schemas.openxmlformats.org/drawingml/2006/main">
            <a:r>
              <a:t>        "summary": "민원업무 고도화 서비스의 이용·관리 기능 구성. 운영자가 업무별 서비스 상태와 관리 대상을 확인하는 경로.",</a:t>
            </a:r>
          </a:p>
          <a:p xmlns:a="http://schemas.openxmlformats.org/drawingml/2006/main">
            <a:r>
              <a:t>        "data": "운영 설정·사용 이력 → 관리 상태·변경 기록",</a:t>
            </a:r>
          </a:p>
          <a:p xmlns:a="http://schemas.openxmlformats.org/drawingml/2006/main">
            <a:r>
              <a:t>        "components": [</a:t>
            </a:r>
          </a:p>
          <a:p xmlns:a="http://schemas.openxmlformats.org/drawingml/2006/main">
            <a:r>
              <a:t>          "C06",</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"관리 역할별 허용 작업과 변경 이력, 설정 변경 후 서비스 반영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"d0f1ab9389b360af8d77e62f3eeb2326716b450c2d1575dcec42b79fbb02d49b"</a:t>
            </a:r>
          </a:p>
          <a:p xmlns:a="http://schemas.openxmlformats.org/drawingml/2006/main">
            <a:r>
              <a:t>      },</a:t>
            </a:r>
          </a:p>
          <a:p xmlns:a="http://schemas.openxmlformats.org/drawingml/2006/main">
            <a:r>
              <a:t>      {</a:t>
            </a:r>
          </a:p>
          <a:p xmlns:a="http://schemas.openxmlformats.org/drawingml/2006/main">
            <a:r>
              <a:t>        "id": "SFR-011",</a:t>
            </a:r>
          </a:p>
          <a:p xmlns:a="http://schemas.openxmlformats.org/drawingml/2006/main">
            <a:r>
              <a:t>        "title": "의미 기반 검색과 분석",</a:t>
            </a:r>
          </a:p>
          <a:p xmlns:a="http://schemas.openxmlformats.org/drawingml/2006/main">
            <a:r>
              <a:t>        "locator": "SFR-011",</a:t>
            </a:r>
          </a:p>
          <a:p xmlns:a="http://schemas.openxmlformats.org/drawingml/2006/main">
            <a:r>
              <a:t>        "summary": "단순 키워드 일치를 넘어 민원 의미를 이용한 검색·분석 지원.",</a:t>
            </a:r>
          </a:p>
          <a:p xmlns:a="http://schemas.openxmlformats.org/drawingml/2006/main">
            <a:r>
              <a:t>        "data": "검색 질의·민원 색인 → 의미상 관련 민원·분석 결과",</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"C11"</a:t>
            </a:r>
          </a:p>
          <a:p xmlns:a="http://schemas.openxmlformats.org/drawingml/2006/main">
            <a:r>
              <a:t>        ],</a:t>
            </a:r>
          </a:p>
          <a:p xmlns:a="http://schemas.openxmlformats.org/drawingml/2006/main">
            <a:r>
              <a:t>        "acceptance": "다른 표현의 같은 의도와 같은 단어의 다른 의도를 구분한 검색 정답셋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"cb3704532e53b7b70bc4764b544e7f549cec4553215296f437e5601fe00168f1"</a:t>
            </a:r>
          </a:p>
          <a:p xmlns:a="http://schemas.openxmlformats.org/drawingml/2006/main">
            <a:r>
              <a:t>      },</a:t>
            </a:r>
          </a:p>
          <a:p xmlns:a="http://schemas.openxmlformats.org/drawingml/2006/main">
            <a:r>
              <a:t>      {</a:t>
            </a:r>
          </a:p>
          <a:p xmlns:a="http://schemas.openxmlformats.org/drawingml/2006/main">
            <a:r>
              <a:t>        "id": "SFR-015",</a:t>
            </a:r>
          </a:p>
          <a:p xmlns:a="http://schemas.openxmlformats.org/drawingml/2006/main">
            <a:r>
              <a:t>        "title": "실시간 데이터 수집 및 검증",</a:t>
            </a:r>
          </a:p>
          <a:p xmlns:a="http://schemas.openxmlformats.org/drawingml/2006/main">
            <a:r>
              <a:t>        "locator": "SFR-015",</a:t>
            </a:r>
          </a:p>
          <a:p xmlns:a="http://schemas.openxmlformats.org/drawingml/2006/main">
            <a:r>
              <a:t>        "summary": "OGG 기반 원천 변경 수집과 데이터 검증을 통한 실시간 연계. 수집 이후 정합성 확인이 필요한 데이터 흐름.",</a:t>
            </a:r>
          </a:p>
          <a:p xmlns:a="http://schemas.openxmlformats.org/drawingml/2006/main">
            <a:r>
              <a:t>        "data": "원천 DB 변경분 → 검증된 연계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"삽입·수정·삭제·중단 후 재개 시 건수·키·시점 대사와 중복 적재 여부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"bcca0bc62529ccf5ac36e787dc506c0b54f8f16e1b96c873fa31cca5157a057c"</a:t>
            </a:r>
          </a:p>
          <a:p xmlns:a="http://schemas.openxmlformats.org/drawingml/2006/main">
            <a:r>
              <a:t>      },</a:t>
            </a:r>
          </a:p>
          <a:p xmlns:a="http://schemas.openxmlformats.org/drawingml/2006/main">
            <a:r>
              <a:t>      {</a:t>
            </a:r>
          </a:p>
          <a:p xmlns:a="http://schemas.openxmlformats.org/drawingml/2006/main">
            <a:r>
              <a:t>        "id": "SFR-018",</a:t>
            </a:r>
          </a:p>
          <a:p xmlns:a="http://schemas.openxmlformats.org/drawingml/2006/main">
            <a:r>
              <a:t>        "title": "AI 기반 민원 자동 처리",</a:t>
            </a:r>
          </a:p>
          <a:p xmlns:a="http://schemas.openxmlformats.org/drawingml/2006/main">
            <a:r>
              <a:t>        "locator": "SFR-018",</a:t>
            </a:r>
          </a:p>
          <a:p xmlns:a="http://schemas.openxmlformats.org/drawingml/2006/main">
            <a:r>
              <a:t>        "summary": "AI 기반 민원 처리 지원에 담당자 검토·채택 결과를 연결하고 운영 개선에 활용하는 흐름.",</a:t>
            </a:r>
          </a:p>
          <a:p xmlns:a="http://schemas.openxmlformats.org/drawingml/2006/main">
            <a:r>
              <a:t>        "data": "처리 후보·담당자 검토 → 채택·수정 결과·피드백",</a:t>
            </a:r>
          </a:p>
          <a:p xmlns:a="http://schemas.openxmlformats.org/drawingml/2006/main">
            <a:r>
              <a:t>        "components": [</a:t>
            </a:r>
          </a:p>
          <a:p xmlns:a="http://schemas.openxmlformats.org/drawingml/2006/main">
            <a:r>
              <a:t>          "C04",</a:t>
            </a:r>
          </a:p>
          <a:p xmlns:a="http://schemas.openxmlformats.org/drawingml/2006/main">
            <a:r>
              <a:t>          "C06",</a:t>
            </a:r>
          </a:p>
          <a:p xmlns:a="http://schemas.openxmlformats.org/drawingml/2006/main">
            <a:r>
              <a:t>          "C08"</a:t>
            </a:r>
          </a:p>
          <a:p xmlns:a="http://schemas.openxmlformats.org/drawingml/2006/main">
            <a:r>
              <a:t>        ],</a:t>
            </a:r>
          </a:p>
          <a:p xmlns:a="http://schemas.openxmlformats.org/drawingml/2006/main">
            <a:r>
              <a:t>        "acceptance": "추천과 확정 상태를 구분하고 수정·반려가 다음 처리 기록에 누락 없이 남는지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"35bf9ae1174266075e30936c9e150e97a0d68cd55f83071656309743e2875dca"</a:t>
            </a:r>
          </a:p>
          <a:p xmlns:a="http://schemas.openxmlformats.org/drawingml/2006/main">
            <a:r>
              <a:t>      },</a:t>
            </a:r>
          </a:p>
          <a:p xmlns:a="http://schemas.openxmlformats.org/drawingml/2006/main">
            <a:r>
              <a:t>      {</a:t>
            </a:r>
          </a:p>
          <a:p xmlns:a="http://schemas.openxmlformats.org/drawingml/2006/main">
            <a:r>
              <a:t>        "id": "SFR-019",</a:t>
            </a:r>
          </a:p>
          <a:p xmlns:a="http://schemas.openxmlformats.org/drawingml/2006/main">
            <a:r>
              <a:t>        "title": "API 통합 관리 및 성능 모니터링",</a:t>
            </a:r>
          </a:p>
          <a:p xmlns:a="http://schemas.openxmlformats.org/drawingml/2006/main">
            <a:r>
              <a:t>        "locator": "SFR-019",</a:t>
            </a:r>
          </a:p>
          <a:p xmlns:a="http://schemas.openxmlformats.org/drawingml/2006/main">
            <a:r>
              <a:t>        "summary": "API 통합 관리와 성능 모니터링을 통한 업무 모듈·기간계 연결 관리.",</a:t>
            </a:r>
          </a:p>
          <a:p xmlns:a="http://schemas.openxmlformats.org/drawingml/2006/main">
            <a:r>
              <a:t>        "data": "API 요청·응답·호출 이력 → 상태·성능·오류 기록",</a:t>
            </a:r>
          </a:p>
          <a:p xmlns:a="http://schemas.openxmlformats.org/drawingml/2006/main">
            <a:r>
              <a:t>        "components": [</a:t>
            </a:r>
          </a:p>
          <a:p xmlns:a="http://schemas.openxmlformats.org/drawingml/2006/main">
            <a:r>
              <a:t>          "C02",</a:t>
            </a:r>
          </a:p>
          <a:p xmlns:a="http://schemas.openxmlformats.org/drawingml/2006/main">
            <a:r>
              <a:t>          "C07",</a:t>
            </a:r>
          </a:p>
          <a:p xmlns:a="http://schemas.openxmlformats.org/drawingml/2006/main">
            <a:r>
              <a:t>          "C08"</a:t>
            </a:r>
          </a:p>
          <a:p xmlns:a="http://schemas.openxmlformats.org/drawingml/2006/main">
            <a:r>
              <a:t>        ],</a:t>
            </a:r>
          </a:p>
          <a:p xmlns:a="http://schemas.openxmlformats.org/drawingml/2006/main">
            <a:r>
              <a:t>        "acceptance": "호출 실패·시간초과·중복 요청을 주입하고 호출 경로별 원인과 처리 상태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"ff7c0fe41f6cc841f53d73ace372872ebb0dfc391d7d7ca1a21b446c4dfa32b4"</a:t>
            </a:r>
          </a:p>
          <a:p xmlns:a="http://schemas.openxmlformats.org/drawingml/2006/main">
            <a:r>
              <a:t>      },</a:t>
            </a:r>
          </a:p>
          <a:p xmlns:a="http://schemas.openxmlformats.org/drawingml/2006/main">
            <a:r>
              <a:t>      {</a:t>
            </a:r>
          </a:p>
          <a:p xmlns:a="http://schemas.openxmlformats.org/drawingml/2006/main">
            <a:r>
              <a:t>        "id": "SFR-020",</a:t>
            </a:r>
          </a:p>
          <a:p xmlns:a="http://schemas.openxmlformats.org/drawingml/2006/main">
            <a:r>
              <a:t>        "title": "시스템 설정 및 운영 모니터링 통합 관리",</a:t>
            </a:r>
          </a:p>
          <a:p xmlns:a="http://schemas.openxmlformats.org/drawingml/2006/main">
            <a:r>
              <a:t>        "locator": "SFR-020",</a:t>
            </a:r>
          </a:p>
          <a:p xmlns:a="http://schemas.openxmlformats.org/drawingml/2006/main">
            <a:r>
              <a:t>        "summary": "시스템 설정과 운영 모니터링의 통합 관리. 업무 기능과 운영 정책의 일관된 상태 확인.",</a:t>
            </a:r>
          </a:p>
          <a:p xmlns:a="http://schemas.openxmlformats.org/drawingml/2006/main">
            <a:r>
              <a:t>        "data": "시스템 설정·운영 지표 → 관리 화면·이상 상태",</a:t>
            </a:r>
          </a:p>
          <a:p xmlns:a="http://schemas.openxmlformats.org/drawingml/2006/main">
            <a:r>
              <a:t>        "components": [</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"설정 변경 권한, 변경 전후 상태, 장애 탐지·복구 기록의 연결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"700952e7f3297506bdddffe81782d75953ec64aa85c0f75fd9ce24f75b54747a"</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"국민신문고 접점",</a:t>
            </a:r>
          </a:p>
          <a:p xmlns:a="http://schemas.openxmlformats.org/drawingml/2006/main">
            <a:r>
              <a:t>          "layer": "이용 접점",</a:t>
            </a:r>
          </a:p>
          <a:p xmlns:a="http://schemas.openxmlformats.org/drawingml/2006/main">
            <a:r>
              <a:t>          "detail": "민원 처리자·정책 분석자",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"요지·기관·유형",</a:t>
            </a:r>
          </a:p>
          <a:p xmlns:a="http://schemas.openxmlformats.org/drawingml/2006/main">
            <a:r>
              <a:t>          "layer": "업무 문맥",</a:t>
            </a:r>
          </a:p>
          <a:p xmlns:a="http://schemas.openxmlformats.org/drawingml/2006/main">
            <a:r>
              <a:t>          "detail": "민원요지·유형·처리기관 문맥 구성",</a:t>
            </a:r>
          </a:p>
          <a:p xmlns:a="http://schemas.openxmlformats.org/drawingml/2006/main">
            <a:r>
              <a:t>          "requirements": [</a:t>
            </a:r>
          </a:p>
          <a:p xmlns:a="http://schemas.openxmlformats.org/drawingml/2006/main">
            <a:r>
              <a:t>            "SFR-004",</a:t>
            </a:r>
          </a:p>
          <a:p xmlns:a="http://schemas.openxmlformats.org/drawingml/2006/main">
            <a:r>
              <a:t>            "SFR-019"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"키워드·벡터 검색",</a:t>
            </a:r>
          </a:p>
          <a:p xmlns:a="http://schemas.openxmlformats.org/drawingml/2006/main">
            <a:r>
              <a:t>          "layer": "자료 조회",</a:t>
            </a:r>
          </a:p>
          <a:p xmlns:a="http://schemas.openxmlformats.org/drawingml/2006/main">
            <a:r>
              <a:t>          "detail": "민원 본문",</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"재정렬·답변·군집",</a:t>
            </a:r>
          </a:p>
          <a:p xmlns:a="http://schemas.openxmlformats.org/drawingml/2006/main">
            <a:r>
              <a:t>          "layer": "핵심 처리",</a:t>
            </a:r>
          </a:p>
          <a:p xmlns:a="http://schemas.openxmlformats.org/drawingml/2006/main">
            <a:r>
              <a:t>          "detail": "RAG 답변 추천과 의미 유사도 군집",</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"SFR-018"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"동일 사건 대조",</a:t>
            </a:r>
          </a:p>
          <a:p xmlns:a="http://schemas.openxmlformats.org/drawingml/2006/main">
            <a:r>
              <a:t>          "layer": "결과 검증",</a:t>
            </a:r>
          </a:p>
          <a:p xmlns:a="http://schemas.openxmlformats.org/drawingml/2006/main">
            <a:r>
              <a:t>          "detail": "동일 사건 여부·개인정보 범위 검토",</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"담당자 수정",</a:t>
            </a:r>
          </a:p>
          <a:p xmlns:a="http://schemas.openxmlformats.org/drawingml/2006/main">
            <a:r>
              <a:t>          "layer": "사람 확인",</a:t>
            </a:r>
          </a:p>
          <a:p xmlns:a="http://schemas.openxmlformats.org/drawingml/2006/main">
            <a:r>
              <a:t>          "detail": "같은 사안의 반복 민원을 묶고 기관별 답변 초안 제시",</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"SFR-010",</a:t>
            </a:r>
          </a:p>
          <a:p xmlns:a="http://schemas.openxmlformats.org/drawingml/2006/main">
            <a:r>
              <a:t>            "SFR-018"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"민원 처리·분석",</a:t>
            </a:r>
          </a:p>
          <a:p xmlns:a="http://schemas.openxmlformats.org/drawingml/2006/main">
            <a:r>
              <a:t>          "layer": "업무 연결",</a:t>
            </a:r>
          </a:p>
          <a:p xmlns:a="http://schemas.openxmlformats.org/drawingml/2006/main">
            <a:r>
              <a:t>          "detail": "담당자의 군집·초안 수정 후 민원 처리",</a:t>
            </a:r>
          </a:p>
          <a:p xmlns:a="http://schemas.openxmlformats.org/drawingml/2006/main">
            <a:r>
              <a:t>          "requirements": [</a:t>
            </a:r>
          </a:p>
          <a:p xmlns:a="http://schemas.openxmlformats.org/drawingml/2006/main">
            <a:r>
              <a:t>            "SFR-019"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"오답·병합 오류",</a:t>
            </a:r>
          </a:p>
          <a:p xmlns:a="http://schemas.openxmlformats.org/drawingml/2006/main">
            <a:r>
              <a:t>          "layer": "운영 관측",</a:t>
            </a:r>
          </a:p>
          <a:p xmlns:a="http://schemas.openxmlformats.org/drawingml/2006/main">
            <a:r>
              <a:t>          "detail": "기관별 답변 적합성과 병합 오류 분석",</a:t>
            </a:r>
          </a:p>
          <a:p xmlns:a="http://schemas.openxmlformats.org/drawingml/2006/main">
            <a:r>
              <a:t>          "requirements": [</a:t>
            </a:r>
          </a:p>
          <a:p xmlns:a="http://schemas.openxmlformats.org/drawingml/2006/main">
            <a:r>
              <a:t>            "SFR-010",</a:t>
            </a:r>
          </a:p>
          <a:p xmlns:a="http://schemas.openxmlformats.org/drawingml/2006/main">
            <a:r>
              <a:t>            "SFR-018",</a:t>
            </a:r>
          </a:p>
          <a:p xmlns:a="http://schemas.openxmlformats.org/drawingml/2006/main">
            <a:r>
              <a:t>            "SFR-019",</a:t>
            </a:r>
          </a:p>
          <a:p xmlns:a="http://schemas.openxmlformats.org/drawingml/2006/main">
            <a:r>
              <a:t>            "SFR-020"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"민원·답변·지침",</a:t>
            </a:r>
          </a:p>
          <a:p xmlns:a="http://schemas.openxmlformats.org/drawingml/2006/main">
            <a:r>
              <a:t>          "layer": "데이터 원천",</a:t>
            </a:r>
          </a:p>
          <a:p xmlns:a="http://schemas.openxmlformats.org/drawingml/2006/main">
            <a:r>
              <a:t>          "detail": "민원·답변 자료",</a:t>
            </a:r>
          </a:p>
          <a:p xmlns:a="http://schemas.openxmlformats.org/drawingml/2006/main">
            <a:r>
              <a:t>          "requirements": [</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"OCR·메타정보 추출",</a:t>
            </a:r>
          </a:p>
          <a:p xmlns:a="http://schemas.openxmlformats.org/drawingml/2006/main">
            <a:r>
              <a:t>          "layer": "준비·갱신",</a:t>
            </a:r>
          </a:p>
          <a:p xmlns:a="http://schemas.openxmlformats.org/drawingml/2006/main">
            <a:r>
              <a:t>          "detail": "국민신문고·민원정보분석 자료의 연계·정제",</a:t>
            </a:r>
          </a:p>
          <a:p xmlns:a="http://schemas.openxmlformats.org/drawingml/2006/main">
            <a:r>
              <a:t>          "requirements": [</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"지식 DB·색인",</a:t>
            </a:r>
          </a:p>
          <a:p xmlns:a="http://schemas.openxmlformats.org/drawingml/2006/main">
            <a:r>
              <a:t>          "layer": "상태·지식 저장",</a:t>
            </a:r>
          </a:p>
          <a:p xmlns:a="http://schemas.openxmlformats.org/drawingml/2006/main">
            <a:r>
              <a:t>          "detail": "군집 정답표·잘못된 병합 건·담당자 수정 이력",</a:t>
            </a:r>
          </a:p>
          <a:p xmlns:a="http://schemas.openxmlformats.org/drawingml/2006/main">
            <a:r>
              <a:t>          "requirements": [</a:t>
            </a:r>
          </a:p>
          <a:p xmlns:a="http://schemas.openxmlformats.org/drawingml/2006/main">
            <a:r>
              <a:t>            "SFR-011",</a:t>
            </a:r>
          </a:p>
          <a:p xmlns:a="http://schemas.openxmlformats.org/drawingml/2006/main">
            <a:r>
              <a:t>            "SFR-015"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"모델·프롬프트 관리",</a:t>
            </a:r>
          </a:p>
          <a:p xmlns:a="http://schemas.openxmlformats.org/drawingml/2006/main">
            <a:r>
              <a:t>          "layer": "권한·정책",</a:t>
            </a:r>
          </a:p>
          <a:p xmlns:a="http://schemas.openxmlformats.org/drawingml/2006/main">
            <a:r>
              <a:t>          "detail": "표현이 같은 다른 사건·소관기관 차이·반대 취지",</a:t>
            </a:r>
          </a:p>
          <a:p xmlns:a="http://schemas.openxmlformats.org/drawingml/2006/main">
            <a:r>
              <a:t>          "requirements": [</a:t>
            </a:r>
          </a:p>
          <a:p xmlns:a="http://schemas.openxmlformats.org/drawingml/2006/main">
            <a:r>
              <a:t>            "SFR-010",</a:t>
            </a:r>
          </a:p>
          <a:p xmlns:a="http://schemas.openxmlformats.org/drawingml/2006/main">
            <a:r>
              <a:t>            "SFR-020"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"민원요지·유형·처리기관 문맥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"민원 본문",</a:t>
            </a:r>
          </a:p>
          <a:p xmlns:a="http://schemas.openxmlformats.org/drawingml/2006/main">
            <a:r>
              <a:t>          "check": "동일 사건 여부·개인정보 범위 검토"</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"유사 사건",</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"답변 초안·유사군 후보·근거 문서",</a:t>
            </a:r>
          </a:p>
          <a:p xmlns:a="http://schemas.openxmlformats.org/drawingml/2006/main">
            <a:r>
              <a:t>          "check": "표현이 같은 다른 사건·소관기관 차이·반대 취지"</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"추천 답변",</a:t>
            </a:r>
          </a:p>
          <a:p xmlns:a="http://schemas.openxmlformats.org/drawingml/2006/main">
            <a:r>
              <a:t>          "check": "담당자의 군집·초안 수정 후 민원 처리"</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"수정·회신",</a:t>
            </a:r>
          </a:p>
          <a:p xmlns:a="http://schemas.openxmlformats.org/drawingml/2006/main">
            <a:r>
              <a:t>          "check": "군집 정답표·잘못된 병합 건·담당자 수정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"목표시스템 개념도·RAG 구성 예시",</a:t>
            </a:r>
          </a:p>
          <a:p xmlns:a="http://schemas.openxmlformats.org/drawingml/2006/main">
            <a:r>
              <a:t>        "extracted": "API Gateway, OCR·메타정보 추출, 키워드/벡터 검색과 재정렬",</a:t>
            </a:r>
          </a:p>
          <a:p xmlns:a="http://schemas.openxmlformats.org/drawingml/2006/main">
            <a:r>
              <a:t>        "extension": "민원 중복 후보와 공식 병합·회신의 승인 경계"</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"PF-R02",</a:t>
            </a:r>
          </a:p>
          <a:p xmlns:a="http://schemas.openxmlformats.org/drawingml/2006/main">
            <a:r>
              <a:t>          "path": "assets/casebook-sources/PF-R02-01.png",</a:t>
            </a:r>
          </a:p>
          <a:p xmlns:a="http://schemas.openxmlformats.org/drawingml/2006/main">
            <a:r>
              <a:t>          "title": "국민소통 플랫폼 목표시스템",</a:t>
            </a:r>
          </a:p>
          <a:p xmlns:a="http://schemas.openxmlformats.org/drawingml/2006/main">
            <a:r>
              <a:t>          "status": "RFP 목표시스템 개념도",</a:t>
            </a:r>
          </a:p>
          <a:p xmlns:a="http://schemas.openxmlformats.org/drawingml/2006/main">
            <a:r>
              <a:t>          "caption": "접점·API Gateway·업무 모듈·데이터 처리·운영 관리",</a:t>
            </a:r>
          </a:p>
          <a:p xmlns:a="http://schemas.openxmlformats.org/drawingml/2006/main">
            <a:r>
              <a:t>          "locator": "NIA_RFP_RFP / BinData/image33_bmp",</a:t>
            </a:r>
          </a:p>
          <a:p xmlns:a="http://schemas.openxmlformats.org/drawingml/2006/main">
            <a:r>
              <a:t>          "checked": "2026-10-16",</a:t>
            </a:r>
          </a:p>
          <a:p xmlns:a="http://schemas.openxmlformats.org/drawingml/2006/main">
            <a:r>
              <a:t>          "sha256": "91feb890184edf04ccccd8d86995147aa6c2181b0a66c58436263cafccdae911",</a:t>
            </a:r>
          </a:p>
          <a:p xmlns:a="http://schemas.openxmlformats.org/drawingml/2006/main">
            <a:r>
              <a:t>          "explanation": {</a:t>
            </a:r>
          </a:p>
          <a:p xmlns:a="http://schemas.openxmlformats.org/drawingml/2006/main">
            <a:r>
              <a:t>            "read": "접점에서 받은 요청을 API Gateway를 통해 민원 답변·분석·중복 식별 모듈로 전달하는 목표 구성. 데이터 처리 계층은 공통 근거를 공급하고 운영 관리 계층은 서비스·모델 상태를 관찰하는 역할.",</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"SFR-019",</a:t>
            </a:r>
          </a:p>
          <a:p xmlns:a="http://schemas.openxmlformats.org/drawingml/2006/main">
            <a:r>
              <a:t>              "SFR-020"</a:t>
            </a:r>
          </a:p>
          <a:p xmlns:a="http://schemas.openxmlformats.org/drawingml/2006/main">
            <a:r>
              <a:t>            ],</a:t>
            </a:r>
          </a:p>
          <a:p xmlns:a="http://schemas.openxmlformats.org/drawingml/2006/main">
            <a:r>
              <a:t>            "connection": "담당자 답변 초안, 유사민원 후보, 정책 분석 결과를 서로 다른 출력 계약으로 정의하고 기존 민원시스템의 확정·회신 절차에 연결하는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"assets/casebook-sources/PF-R02-02.png",</a:t>
            </a:r>
          </a:p>
          <a:p xmlns:a="http://schemas.openxmlformats.org/drawingml/2006/main">
            <a:r>
              <a:t>          "title": "키워드·벡터 검색과 Reranker",</a:t>
            </a:r>
          </a:p>
          <a:p xmlns:a="http://schemas.openxmlformats.org/drawingml/2006/main">
            <a:r>
              <a:t>          "status": "RFP RAG 구성 예시",</a:t>
            </a:r>
          </a:p>
          <a:p xmlns:a="http://schemas.openxmlformats.org/drawingml/2006/main">
            <a:r>
              <a:t>          "caption": "키워드/벡터 검색 병렬 처리 → 재정렬 → 근거 응답",</a:t>
            </a:r>
          </a:p>
          <a:p xmlns:a="http://schemas.openxmlformats.org/drawingml/2006/main">
            <a:r>
              <a:t>          "locator": "NIA_RFP_RFP / BinData/image18_bmp",</a:t>
            </a:r>
          </a:p>
          <a:p xmlns:a="http://schemas.openxmlformats.org/drawingml/2006/main">
            <a:r>
              <a:t>          "checked": "2026-10-16",</a:t>
            </a:r>
          </a:p>
          <a:p xmlns:a="http://schemas.openxmlformats.org/drawingml/2006/main">
            <a:r>
              <a:t>          "sha256": "a6ab4248256ee300422789627dbe5b8f09ec60657419e13d082c95b32f3f4f90",</a:t>
            </a:r>
          </a:p>
          <a:p xmlns:a="http://schemas.openxmlformats.org/drawingml/2006/main">
            <a:r>
              <a:t>          "explanation": {</a:t>
            </a:r>
          </a:p>
          <a:p xmlns:a="http://schemas.openxmlformats.org/drawingml/2006/main">
            <a:r>
              <a:t>            "read": "키워드 검색은 정확한 용어·조항의 일치 후보, 벡터 검색은 표현이 다른 유사 의미 후보를 제공. Reranker는 통합 후보를 질의 관련성에 따라 다시 정렬하고 생성 모델에 근거를 전달하는 역할.",</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"SFR-011"</a:t>
            </a:r>
          </a:p>
          <a:p xmlns:a="http://schemas.openxmlformats.org/drawingml/2006/main">
            <a:r>
              <a:t>            ],</a:t>
            </a:r>
          </a:p>
          <a:p xmlns:a="http://schemas.openxmlformats.org/drawingml/2006/main">
            <a:r>
              <a:t>            "connection": "재정렬 점수를 법적 정답이나 민원 병합 승인으로 해석하지 않고 기관·사건·시점과 출처 일치를 별도로 확인하는 검증 단계의 추가."</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"assets/casebook-sources/PF-R02-03.png",</a:t>
            </a:r>
          </a:p>
          <a:p xmlns:a="http://schemas.openxmlformats.org/drawingml/2006/main">
            <a:r>
              <a:t>          "title": "민원 AI 입출력 데이터",</a:t>
            </a:r>
          </a:p>
          <a:p xmlns:a="http://schemas.openxmlformats.org/drawingml/2006/main">
            <a:r>
              <a:t>          "status": "RFP 데이터 흐름도",</a:t>
            </a:r>
          </a:p>
          <a:p xmlns:a="http://schemas.openxmlformats.org/drawingml/2006/main">
            <a:r>
              <a:t>          "caption": "국민신문고·시범기관 매뉴얼 → 전처리·RAG → 답변·유사도",</a:t>
            </a:r>
          </a:p>
          <a:p xmlns:a="http://schemas.openxmlformats.org/drawingml/2006/main">
            <a:r>
              <a:t>          "locator": "NIA_RFP_RFP / BinData/image34_bmp",</a:t>
            </a:r>
          </a:p>
          <a:p xmlns:a="http://schemas.openxmlformats.org/drawingml/2006/main">
            <a:r>
              <a:t>          "checked": "2026-10-16",</a:t>
            </a:r>
          </a:p>
          <a:p xmlns:a="http://schemas.openxmlformats.org/drawingml/2006/main">
            <a:r>
              <a:t>          "sha256": "0e09409295bbb0aae0a61666cf01982d012392b3f4bccd2e98499654b4b690d0",</a:t>
            </a:r>
          </a:p>
          <a:p xmlns:a="http://schemas.openxmlformats.org/drawingml/2006/main">
            <a:r>
              <a:t>          "explanation": {</a:t>
            </a:r>
          </a:p>
          <a:p xmlns:a="http://schemas.openxmlformats.org/drawingml/2006/main">
            <a:r>
              <a:t>            "read": "국민신문고 데이터와 시범기관 매뉴얼 등 입력을 전처리·RAG 경로에 투입하고 업무별 답변·유사도 결과로 변환하는 입출력 구조. 동일 원천을 이용하더라도 답변과 군집의 산출물은 별도 관리 대상.",</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"SFR-015",</a:t>
            </a:r>
          </a:p>
          <a:p xmlns:a="http://schemas.openxmlformats.org/drawingml/2006/main">
            <a:r>
              <a:t>              "SFR-018"</a:t>
            </a:r>
          </a:p>
          <a:p xmlns:a="http://schemas.openxmlformats.org/drawingml/2006/main">
            <a:r>
              <a:t>            ],</a:t>
            </a:r>
          </a:p>
          <a:p xmlns:a="http://schemas.openxmlformats.org/drawingml/2006/main">
            <a:r>
              <a:t>            "connection": "원천 민원 ID·문서 판본·근거 위치를 결과에 유지해 담당자 수정과 최종 회신의 차이를 재현할 수 있도록 하는 데이터 계약."</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"PF-R02",</a:t>
            </a:r>
          </a:p>
          <a:p xmlns:a="http://schemas.openxmlformats.org/drawingml/2006/main">
            <a:r>
              <a:t>          "path": "assets/casebook-sources/PF-R02-04.png",</a:t>
            </a:r>
          </a:p>
          <a:p xmlns:a="http://schemas.openxmlformats.org/drawingml/2006/main">
            <a:r>
              <a:t>          "title": "데이터 구축·학습·운영 흐름",</a:t>
            </a:r>
          </a:p>
          <a:p xmlns:a="http://schemas.openxmlformats.org/drawingml/2006/main">
            <a:r>
              <a:t>          "status": "RFP 데이터 처리 구조",</a:t>
            </a:r>
          </a:p>
          <a:p xmlns:a="http://schemas.openxmlformats.org/drawingml/2006/main">
            <a:r>
              <a:t>          "caption": "수집·정제·가공·학습·운영의 환류",</a:t>
            </a:r>
          </a:p>
          <a:p xmlns:a="http://schemas.openxmlformats.org/drawingml/2006/main">
            <a:r>
              <a:t>          "locator": "NIA_RFP_RFP / BinData/image32_png",</a:t>
            </a:r>
          </a:p>
          <a:p xmlns:a="http://schemas.openxmlformats.org/drawingml/2006/main">
            <a:r>
              <a:t>          "checked": "2026-10-16",</a:t>
            </a:r>
          </a:p>
          <a:p xmlns:a="http://schemas.openxmlformats.org/drawingml/2006/main">
            <a:r>
              <a:t>          "sha256": "b6c466b110d91bceff5a9f806d658aa54f010e0a5b8a358a16771181bea77c50",</a:t>
            </a:r>
          </a:p>
          <a:p xmlns:a="http://schemas.openxmlformats.org/drawingml/2006/main">
            <a:r>
              <a:t>          "explanation": {</a:t>
            </a:r>
          </a:p>
          <a:p xmlns:a="http://schemas.openxmlformats.org/drawingml/2006/main">
            <a:r>
              <a:t>            "read": "수집·정제·가공·학습·운영이 연결된 데이터 생애주기. 온라인 요청 처리와 모델·지식 갱신의 작업이 서로 다른 주기로 수행되는 구성.",</a:t>
            </a:r>
          </a:p>
          <a:p xmlns:a="http://schemas.openxmlformats.org/drawingml/2006/main">
            <a:r>
              <a:t>            "requirements": [</a:t>
            </a:r>
          </a:p>
          <a:p xmlns:a="http://schemas.openxmlformats.org/drawingml/2006/main">
            <a:r>
              <a:t>              "SFR-015",</a:t>
            </a:r>
          </a:p>
          <a:p xmlns:a="http://schemas.openxmlformats.org/drawingml/2006/main">
            <a:r>
              <a:t>              "SFR-018",</a:t>
            </a:r>
          </a:p>
          <a:p xmlns:a="http://schemas.openxmlformats.org/drawingml/2006/main">
            <a:r>
              <a:t>              "SFR-020"</a:t>
            </a:r>
          </a:p>
          <a:p xmlns:a="http://schemas.openxmlformats.org/drawingml/2006/main">
            <a:r>
              <a:t>            ],</a:t>
            </a:r>
          </a:p>
          <a:p xmlns:a="http://schemas.openxmlformats.org/drawingml/2006/main">
            <a:r>
              <a:t>            "connection": "원천 변경 시 수집 완료·정제 완료·색인 반영 상태를 분리하고 실패 자료만 재처리하는 운영 설계. 검토 피드백의 자동 학습 투입 전 품질 확인 단계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"표현이 같은 다른 사건·소관기관 차이·반대 취지",</a:t>
            </a:r>
          </a:p>
          <a:p xmlns:a="http://schemas.openxmlformats.org/drawingml/2006/main">
            <a:r>
              <a:t>        "hold": "동일 사건 여부·개인정보 범위 검토",</a:t>
            </a:r>
          </a:p>
          <a:p xmlns:a="http://schemas.openxmlformats.org/drawingml/2006/main">
            <a:r>
              <a:t>        "recovery": "기관별 답변 적합성과 병합 오류 분석",</a:t>
            </a:r>
          </a:p>
          <a:p xmlns:a="http://schemas.openxmlformats.org/drawingml/2006/main">
            <a:r>
              <a:t>        "evidence": "군집 정답표·잘못된 병합 건·담당자 수정 이력"</a:t>
            </a:r>
          </a:p>
          <a:p xmlns:a="http://schemas.openxmlformats.org/drawingml/2006/main">
            <a:r>
              <a:t>      },</a:t>
            </a:r>
          </a:p>
          <a:p xmlns:a="http://schemas.openxmlformats.org/drawingml/2006/main">
            <a:r>
              <a:t>      "data": {</a:t>
            </a:r>
          </a:p>
          <a:p xmlns:a="http://schemas.openxmlformats.org/drawingml/2006/main">
            <a:r>
              <a:t>        "source": "민원·답변 자료",</a:t>
            </a:r>
          </a:p>
          <a:p xmlns:a="http://schemas.openxmlformats.org/drawingml/2006/main">
            <a:r>
              <a:t>        "prepare": "국민신문고·민원정보분석 자료의 연계·정제",</a:t>
            </a:r>
          </a:p>
          <a:p xmlns:a="http://schemas.openxmlformats.org/drawingml/2006/main">
            <a:r>
              <a:t>        "output": "민원 본문",</a:t>
            </a:r>
          </a:p>
          <a:p xmlns:a="http://schemas.openxmlformats.org/drawingml/2006/main">
            <a:r>
              <a:t>        "refresh": "기관별 답변 적합성과 병합 오류 분석"</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"PF-R02",</a:t>
            </a:r>
          </a:p>
          <a:p xmlns:a="http://schemas.openxmlformats.org/drawingml/2006/main">
            <a:r>
              <a:t>    "success": [</a:t>
            </a:r>
          </a:p>
          <a:p xmlns:a="http://schemas.openxmlformats.org/drawingml/2006/main">
            <a:r>
              <a:t>      "유사민원과 답변 추천 결합",</a:t>
            </a:r>
          </a:p>
          <a:p xmlns:a="http://schemas.openxmlformats.org/drawingml/2006/main">
            <a:r>
              <a:t>      "현업 수정을 반영한 활용"</a:t>
            </a:r>
          </a:p>
          <a:p xmlns:a="http://schemas.openxmlformats.org/drawingml/2006/main">
            <a:r>
              <a:t>    ],</a:t>
            </a:r>
          </a:p>
          <a:p xmlns:a="http://schemas.openxmlformats.org/drawingml/2006/main">
            <a:r>
              <a:t>    "risks": [</a:t>
            </a:r>
          </a:p>
          <a:p xmlns:a="http://schemas.openxmlformats.org/drawingml/2006/main">
            <a:r>
              <a:t>      "다른 사건의 무리한 병합",</a:t>
            </a:r>
          </a:p>
          <a:p xmlns:a="http://schemas.openxmlformats.org/drawingml/2006/main">
            <a:r>
              <a:t>      "답변 추천을 공식 회신으로 오인"</a:t>
            </a:r>
          </a:p>
          <a:p xmlns:a="http://schemas.openxmlformats.org/drawingml/2006/main">
            <a:r>
              <a:t>    ],</a:t>
            </a:r>
          </a:p>
          <a:p xmlns:a="http://schemas.openxmlformats.org/drawingml/2006/main">
            <a:r>
              <a:t>    "architecture": [</a:t>
            </a:r>
          </a:p>
          <a:p xmlns:a="http://schemas.openxmlformats.org/drawingml/2006/main">
            <a:r>
              <a:t>      "국민신문고",</a:t>
            </a:r>
          </a:p>
          <a:p xmlns:a="http://schemas.openxmlformats.org/drawingml/2006/main">
            <a:r>
              <a:t>      "분류·답변 추천",</a:t>
            </a:r>
          </a:p>
          <a:p xmlns:a="http://schemas.openxmlformats.org/drawingml/2006/main">
            <a:r>
              <a:t>      "민원·답변 자료",</a:t>
            </a:r>
          </a:p>
          <a:p xmlns:a="http://schemas.openxmlformats.org/drawingml/2006/main">
            <a:r>
              <a:t>      "민원 담당"</a:t>
            </a:r>
          </a:p>
          <a:p xmlns:a="http://schemas.openxmlformats.org/drawingml/2006/main">
            <a:r>
              <a:t>    ],</a:t>
            </a:r>
          </a:p>
          <a:p xmlns:a="http://schemas.openxmlformats.org/drawingml/2006/main">
            <a:r>
              <a:t>    "transfers": [</a:t>
            </a:r>
          </a:p>
          <a:p xmlns:a="http://schemas.openxmlformats.org/drawingml/2006/main">
            <a:r>
              <a:t>      "민원 본문",</a:t>
            </a:r>
          </a:p>
          <a:p xmlns:a="http://schemas.openxmlformats.org/drawingml/2006/main">
            <a:r>
              <a:t>      "유사 사건",</a:t>
            </a:r>
          </a:p>
          <a:p xmlns:a="http://schemas.openxmlformats.org/drawingml/2006/main">
            <a:r>
              <a:t>      "추천 답변",</a:t>
            </a:r>
          </a:p>
          <a:p xmlns:a="http://schemas.openxmlformats.org/drawingml/2006/main">
            <a:r>
              <a:t>      "수정·회신"</a:t>
            </a:r>
          </a:p>
          <a:p xmlns:a="http://schemas.openxmlformats.org/drawingml/2006/main">
            <a:r>
              <a:t>    ],</a:t>
            </a:r>
          </a:p>
          <a:p xmlns:a="http://schemas.openxmlformats.org/drawingml/2006/main">
            <a:r>
              <a:t>    "control": "동일 사건 여부·개인정보 범위 검토",</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추진계획·성과지표, 기능 요구사항 / Word T035 https://www.nia.or.kr/common/board/Download.do?bcIdx=28233&amp;cbIdx=78336&amp;fileNo=2</a:t>
            </a:r>
          </a:p>
          <a:p xmlns:a="http://schemas.openxmlformats.org/drawingml/2006/main">
            <a:r>
              <a:t>홈페이지 https://heen1987-ops.github.io/TS-business-Plan-001/index.html?view=platform-cases&amp;case=PF-R02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"PF-R03",</a:t>
            </a:r>
          </a:p>
          <a:p xmlns:a="http://schemas.openxmlformats.org/drawingml/2006/main">
            <a:r>
              <a:t>    "sourceId": "R03",</a:t>
            </a:r>
          </a:p>
          <a:p xmlns:a="http://schemas.openxmlformats.org/drawingml/2006/main">
            <a:r>
              <a:t>    "title": "생산기술연구원 AI 고도화",</a:t>
            </a:r>
          </a:p>
          <a:p xmlns:a="http://schemas.openxmlformats.org/drawingml/2006/main">
            <a:r>
              <a:t>    "region": "국내",</a:t>
            </a:r>
          </a:p>
          <a:p xmlns:a="http://schemas.openxmlformats.org/drawingml/2006/main">
            <a:r>
              <a:t>    "owner": "한국생산기술연구원",</a:t>
            </a:r>
          </a:p>
          <a:p xmlns:a="http://schemas.openxmlformats.org/drawingml/2006/main">
            <a:r>
              <a:t>    "state": "후속 공고 RFP 확인 / 계약·운영 미확인",</a:t>
            </a:r>
          </a:p>
          <a:p xmlns:a="http://schemas.openxmlformats.org/drawingml/2006/main">
            <a:r>
              <a:t>    "period": "기존 원장 확인 2026.10.16",</a:t>
            </a:r>
          </a:p>
          <a:p xmlns:a="http://schemas.openxmlformats.org/drawingml/2006/main">
            <a:r>
              <a:t>    "fact": "기존 연구행정 AI 고도화: 지능형 검색·멀티모델·도메인 에이전트·정형 문서 생성",</a:t>
            </a:r>
          </a:p>
          <a:p xmlns:a="http://schemas.openxmlformats.org/drawingml/2006/main">
            <a:r>
              <a:t>    "limit": "연구원 외부 TechGPT 성과와 본 내부사업을 혼동하지 않음",</a:t>
            </a:r>
          </a:p>
          <a:p xmlns:a="http://schemas.openxmlformats.org/drawingml/2006/main">
            <a:r>
              <a:t>    "nodes": [</a:t>
            </a:r>
          </a:p>
          <a:p xmlns:a="http://schemas.openxmlformats.org/drawingml/2006/main">
            <a:r>
              <a:t>      "직원·직무",</a:t>
            </a:r>
          </a:p>
          <a:p xmlns:a="http://schemas.openxmlformats.org/drawingml/2006/main">
            <a:r>
              <a:t>      "검색 재정렬",</a:t>
            </a:r>
          </a:p>
          <a:p xmlns:a="http://schemas.openxmlformats.org/drawingml/2006/main">
            <a:r>
              <a:t>      "업무 에이전트",</a:t>
            </a:r>
          </a:p>
          <a:p xmlns:a="http://schemas.openxmlformats.org/drawingml/2006/main">
            <a:r>
              <a:t>      "문서·운영 관리"</a:t>
            </a:r>
          </a:p>
          <a:p xmlns:a="http://schemas.openxmlformats.org/drawingml/2006/main">
            <a:r>
              <a:t>    ],</a:t>
            </a:r>
          </a:p>
          <a:p xmlns:a="http://schemas.openxmlformats.org/drawingml/2006/main">
            <a:r>
              <a:t>    "apply": "공식 소속·직무를 검색 순위·서식·업무 도구 선택에 연결하는 개인화",</a:t>
            </a:r>
          </a:p>
          <a:p xmlns:a="http://schemas.openxmlformats.org/drawingml/2006/main">
            <a:r>
              <a:t>    "delta": "사번–부서–직무–업무 연결 / 검색 재정렬 / 직무별 문서 양식",</a:t>
            </a:r>
          </a:p>
          <a:p xmlns:a="http://schemas.openxmlformats.org/drawingml/2006/main">
            <a:r>
              <a:t>    "test": "동일 질의의 직무별 정답·문서 순위·서식 비교 및 전보 후 권한 시험",</a:t>
            </a:r>
          </a:p>
          <a:p xmlns:a="http://schemas.openxmlformats.org/drawingml/2006/main">
            <a:r>
              <a:t>    "url": "https://www.g2b.go.kr/pn/pnp/pnpe/UntyAtchFile/downloadFile.do?bidPbancNo=R26BK01670411&amp;bidPbancOrd=000&amp;fileType=&amp;fileSeq=1&amp;prcmBsneSeCd=03",</a:t>
            </a:r>
          </a:p>
          <a:p xmlns:a="http://schemas.openxmlformats.org/drawingml/2006/main">
            <a:r>
              <a:t>    "urls": [</a:t>
            </a:r>
          </a:p>
          <a:p xmlns:a="http://schemas.openxmlformats.org/drawingml/2006/main">
            <a:r>
              <a:t>      "https://www.g2b.go.kr/pn/pnp/pnpe/UntyAtchFile/downloadFile.do?bidPbancNo=R26BK01670411&amp;bidPbancOrd=000&amp;fileType=&amp;fileSeq=1&amp;prcmBsneSeCd=03"</a:t>
            </a:r>
          </a:p>
          <a:p xmlns:a="http://schemas.openxmlformats.org/drawingml/2006/main">
            <a:r>
              <a:t>    ],</a:t>
            </a:r>
          </a:p>
          <a:p xmlns:a="http://schemas.openxmlformats.org/drawingml/2006/main">
            <a:r>
              <a:t>    "basis": "SFR-007~012 / Word T044",</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"직무별 과업 성공률 / 검색·문서 작성시간 / 요청당 비용",</a:t>
            </a:r>
          </a:p>
          <a:p xmlns:a="http://schemas.openxmlformats.org/drawingml/2006/main">
            <a:r>
              <a:t>    "group": "요구·구축",</a:t>
            </a:r>
          </a:p>
          <a:p xmlns:a="http://schemas.openxmlformats.org/drawingml/2006/main">
            <a:r>
              <a:t>    "sourceDetail": "소속·직무·검색이력·업무 기반 검색 재정렬, 양식/목차/입력 구조화, GPU 이중화·모델 롤백·부서별 토큰 비용",</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"PF-R03",</a:t>
            </a:r>
          </a:p>
          <a:p xmlns:a="http://schemas.openxmlformats.org/drawingml/2006/main">
            <a:r>
              <a:t>    "canonicalId": "PF-R03",</a:t>
            </a:r>
          </a:p>
          <a:p xmlns:a="http://schemas.openxmlformats.org/drawingml/2006/main">
            <a:r>
              <a:t>    "purpose": "직무별 검색과 정형 문서 작성의 고도화",</a:t>
            </a:r>
          </a:p>
          <a:p xmlns:a="http://schemas.openxmlformats.org/drawingml/2006/main">
            <a:r>
              <a:t>    "users": "연구직·행정직·플랫폼 운영자",</a:t>
            </a:r>
          </a:p>
          <a:p xmlns:a="http://schemas.openxmlformats.org/drawingml/2006/main">
            <a:r>
              <a:t>    "scope": [</a:t>
            </a:r>
          </a:p>
          <a:p xmlns:a="http://schemas.openxmlformats.org/drawingml/2006/main">
            <a:r>
              <a:t>      "검색 재정렬",</a:t>
            </a:r>
          </a:p>
          <a:p xmlns:a="http://schemas.openxmlformats.org/drawingml/2006/main">
            <a:r>
              <a:t>      "문서 생성",</a:t>
            </a:r>
          </a:p>
          <a:p xmlns:a="http://schemas.openxmlformats.org/drawingml/2006/main">
            <a:r>
              <a:t>      "멀티모델 운영"</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"연구행정 사용자",</a:t>
            </a:r>
          </a:p>
          <a:p xmlns:a="http://schemas.openxmlformats.org/drawingml/2006/main">
            <a:r>
              <a:t>        "detail": "소속·직무·검색 이력·진행업무 연결",</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"검색 재정렬 / 문서 생성 / 멀티모델 운영",</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"검색·업무 에이전트",</a:t>
            </a:r>
          </a:p>
          <a:p xmlns:a="http://schemas.openxmlformats.org/drawingml/2006/main">
            <a:r>
              <a:t>        "detail": "질의 보정·재정렬·요약·양식별 생성",</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"문서 작성 담당",</a:t>
            </a:r>
          </a:p>
          <a:p xmlns:a="http://schemas.openxmlformats.org/drawingml/2006/main">
            <a:r>
              <a:t>        "detail": "원문 근거와 목차·필드가 있는 초안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"연구행정 지식",</a:t>
            </a:r>
          </a:p>
          <a:p xmlns:a="http://schemas.openxmlformats.org/drawingml/2006/main">
            <a:r>
              <a:t>        "detail": "문서·연구성과·전문가·양식의 색인 구성",</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"GPU 이중화·모델 롤백·부서별 토큰 계측",</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"직원·직무",</a:t>
            </a:r>
          </a:p>
          <a:p xmlns:a="http://schemas.openxmlformats.org/drawingml/2006/main">
            <a:r>
              <a:t>        "input": "소속·직무·검색 이력·진행업무 연결",</a:t>
            </a:r>
          </a:p>
          <a:p xmlns:a="http://schemas.openxmlformats.org/drawingml/2006/main">
            <a:r>
              <a:t>        "process": "문서·연구성과·전문가·양식의 색인 구성",</a:t>
            </a:r>
          </a:p>
          <a:p xmlns:a="http://schemas.openxmlformats.org/drawingml/2006/main">
            <a:r>
              <a:t>        "output": "직무·질문"</a:t>
            </a:r>
          </a:p>
          <a:p xmlns:a="http://schemas.openxmlformats.org/drawingml/2006/main">
            <a:r>
              <a:t>      },</a:t>
            </a:r>
          </a:p>
          <a:p xmlns:a="http://schemas.openxmlformats.org/drawingml/2006/main">
            <a:r>
              <a:t>      {</a:t>
            </a:r>
          </a:p>
          <a:p xmlns:a="http://schemas.openxmlformats.org/drawingml/2006/main">
            <a:r>
              <a:t>        "title": "검색 재정렬",</a:t>
            </a:r>
          </a:p>
          <a:p xmlns:a="http://schemas.openxmlformats.org/drawingml/2006/main">
            <a:r>
              <a:t>        "input": "직무·질문",</a:t>
            </a:r>
          </a:p>
          <a:p xmlns:a="http://schemas.openxmlformats.org/drawingml/2006/main">
            <a:r>
              <a:t>        "process": "질의 보정·재정렬·요약·양식별 생성",</a:t>
            </a:r>
          </a:p>
          <a:p xmlns:a="http://schemas.openxmlformats.org/drawingml/2006/main">
            <a:r>
              <a:t>        "output": "재정렬 근거"</a:t>
            </a:r>
          </a:p>
          <a:p xmlns:a="http://schemas.openxmlformats.org/drawingml/2006/main">
            <a:r>
              <a:t>      },</a:t>
            </a:r>
          </a:p>
          <a:p xmlns:a="http://schemas.openxmlformats.org/drawingml/2006/main">
            <a:r>
              <a:t>      {</a:t>
            </a:r>
          </a:p>
          <a:p xmlns:a="http://schemas.openxmlformats.org/drawingml/2006/main">
            <a:r>
              <a:t>        "title": "업무 에이전트",</a:t>
            </a:r>
          </a:p>
          <a:p xmlns:a="http://schemas.openxmlformats.org/drawingml/2006/main">
            <a:r>
              <a:t>        "input": "재정렬 근거",</a:t>
            </a:r>
          </a:p>
          <a:p xmlns:a="http://schemas.openxmlformats.org/drawingml/2006/main">
            <a:r>
              <a:t>        "process": "기존 검색 대비 근거·완료시간 평가",</a:t>
            </a:r>
          </a:p>
          <a:p xmlns:a="http://schemas.openxmlformats.org/drawingml/2006/main">
            <a:r>
              <a:t>        "output": "정형 초안"</a:t>
            </a:r>
          </a:p>
          <a:p xmlns:a="http://schemas.openxmlformats.org/drawingml/2006/main">
            <a:r>
              <a:t>      },</a:t>
            </a:r>
          </a:p>
          <a:p xmlns:a="http://schemas.openxmlformats.org/drawingml/2006/main">
            <a:r>
              <a:t>      {</a:t>
            </a:r>
          </a:p>
          <a:p xmlns:a="http://schemas.openxmlformats.org/drawingml/2006/main">
            <a:r>
              <a:t>        "title": "문서·운영 관리",</a:t>
            </a:r>
          </a:p>
          <a:p xmlns:a="http://schemas.openxmlformats.org/drawingml/2006/main">
            <a:r>
              <a:t>        "input": "정형 초안",</a:t>
            </a:r>
          </a:p>
          <a:p xmlns:a="http://schemas.openxmlformats.org/drawingml/2006/main">
            <a:r>
              <a:t>        "process": "원문 근거와 목차·필드가 있는 초안 제공",</a:t>
            </a:r>
          </a:p>
          <a:p xmlns:a="http://schemas.openxmlformats.org/drawingml/2006/main">
            <a:r>
              <a:t>        "output": "검토 문서"</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"동일 질의를 연구직·행정직 계정으로 실행해 검색·서식 비교",</a:t>
            </a:r>
          </a:p>
          <a:p xmlns:a="http://schemas.openxmlformats.org/drawingml/2006/main">
            <a:r>
              <a:t>      "exception": "전보 전 캐시·권한 없는 연구자료·모델 장애",</a:t>
            </a:r>
          </a:p>
          <a:p xmlns:a="http://schemas.openxmlformats.org/drawingml/2006/main">
            <a:r>
              <a:t>      "evidence": "직무별 순위·근거·서식과 모델 전환·복구 결과",</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"연구직·행정직·플랫폼 운영자",</a:t>
            </a:r>
          </a:p>
          <a:p xmlns:a="http://schemas.openxmlformats.org/drawingml/2006/main">
            <a:r>
              <a:t>          "processing": "소속·직무·검색 이력·진행업무 연결",</a:t>
            </a:r>
          </a:p>
          <a:p xmlns:a="http://schemas.openxmlformats.org/drawingml/2006/main">
            <a:r>
              <a:t>          "output": "직무·질문"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"연구행정 지식",</a:t>
            </a:r>
          </a:p>
          <a:p xmlns:a="http://schemas.openxmlformats.org/drawingml/2006/main">
            <a:r>
              <a:t>          "processing": "문서·연구성과·전문가·양식의 색인 구성",</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"직무·질문",</a:t>
            </a:r>
          </a:p>
          <a:p xmlns:a="http://schemas.openxmlformats.org/drawingml/2006/main">
            <a:r>
              <a:t>          "processing": "질의 보정·재정렬·요약·양식별 생성",</a:t>
            </a:r>
          </a:p>
          <a:p xmlns:a="http://schemas.openxmlformats.org/drawingml/2006/main">
            <a:r>
              <a:t>          "output": "정형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"정형 초안",</a:t>
            </a:r>
          </a:p>
          <a:p xmlns:a="http://schemas.openxmlformats.org/drawingml/2006/main">
            <a:r>
              <a:t>          "processing": "원문 근거와 목차·필드가 있는 초안 제공",</a:t>
            </a:r>
          </a:p>
          <a:p xmlns:a="http://schemas.openxmlformats.org/drawingml/2006/main">
            <a:r>
              <a:t>          "output": "검토 문서"</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"GPU 이중화·모델 롤백·부서별 토큰 계측",</a:t>
            </a:r>
          </a:p>
          <a:p xmlns:a="http://schemas.openxmlformats.org/drawingml/2006/main">
            <a:r>
              <a:t>          "output": "직무별 순위·근거·서식과 모델 전환·복구 결과"</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"GPU 이중화·모델 롤백·부서별 토큰 계측",</a:t>
            </a:r>
          </a:p>
          <a:p xmlns:a="http://schemas.openxmlformats.org/drawingml/2006/main">
            <a:r>
              <a:t>    "status": "RFP 기반 논리 설계",</a:t>
            </a:r>
          </a:p>
          <a:p xmlns:a="http://schemas.openxmlformats.org/drawingml/2006/main">
            <a:r>
              <a:t>    "basis": "RFP 2026.05 · SFR-007~012",</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"SFR-007~012 / Word T044",</a:t>
            </a:r>
          </a:p>
          <a:p xmlns:a="http://schemas.openxmlformats.org/drawingml/2006/main">
            <a:r>
              <a:t>        "url": "https://www.g2b.go.kr/pn/pnp/pnpe/UntyAtchFile/downloadFile.do?bidPbancNo=R26BK01670411&amp;bidPbancOrd=000&amp;fileType=&amp;fileSeq=1&amp;prcmBsneSeCd=03"</a:t>
            </a:r>
          </a:p>
          <a:p xmlns:a="http://schemas.openxmlformats.org/drawingml/2006/main">
            <a:r>
              <a:t>      }</a:t>
            </a:r>
          </a:p>
          <a:p xmlns:a="http://schemas.openxmlformats.org/drawingml/2006/main">
            <a:r>
              <a:t>    ],</a:t>
            </a:r>
          </a:p>
          <a:p xmlns:a="http://schemas.openxmlformats.org/drawingml/2006/main">
            <a:r>
              <a:t>    "implication": "공식 소속·직무를 검색 순위·서식·업무 도구 선택에 연결하는 개인화",</a:t>
            </a:r>
          </a:p>
          <a:p xmlns:a="http://schemas.openxmlformats.org/drawingml/2006/main">
            <a:r>
              <a:t>    "local": "공식 소속·직무를 검색 순위·서식·업무 도구 선택에 연결하는 개인화",</a:t>
            </a:r>
          </a:p>
          <a:p xmlns:a="http://schemas.openxmlformats.org/drawingml/2006/main">
            <a:r>
              <a:t>    "sourceDetail": "소속·직무·검색이력·업무 기반 검색 재정렬, 양식/목차/입력 구조화, GPU 이중화·모델 롤백·부서별 토큰 비용",</a:t>
            </a:r>
          </a:p>
          <a:p xmlns:a="http://schemas.openxmlformats.org/drawingml/2006/main">
            <a:r>
              <a:t>    "narrative": [</a:t>
            </a:r>
          </a:p>
          <a:p xmlns:a="http://schemas.openxmlformats.org/drawingml/2006/main">
            <a:r>
              <a:t>      "생산기술연구원의 기존 연구행정 검색·AI 환경에 직무별 검색, 에이전트 처리, 문서 생성, 운영 관리 기능을 추가하는 고도화. 연구직과 행정직의 관심 자료가 다른 상황에서 동일 질의의 결과 순서를 다르게 구성하는 요구가 핵심.",</a:t>
            </a:r>
          </a:p>
          <a:p xmlns:a="http://schemas.openxmlformats.org/drawingml/2006/main">
            <a:r>
              <a:t>      "SFR-007은 부서·직무·검색 이력·진행 업무를 이용한 검색 최적화, SFR-009는 복합 질문의 태스크 분해와 도메인 에이전트 호출, SFR-010은 문서 양식·필수 항목·내부 과제정보의 결합을 요구. 인사 연동과 역할별 접근제어를 검색 추천보다 먼저 연결하는 설계.",</a:t>
            </a:r>
          </a:p>
          <a:p xmlns:a="http://schemas.openxmlformats.org/drawingml/2006/main">
            <a:r>
              <a:t>      "TS 조직 네이티브 AI와 직접 비교할 지점은 공식 소속·직무를 검색 문맥으로 사용하는 방식. 추천 순위 개선과 접근권한 확대를 분리하고, 전보 전후 동일 질의의 검색 범위·서식·근거 차이를 검수할 필요. 기존 검색·LLM의 재사용과 조직 매핑 추가분의 구분."</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"SFR-002",</a:t>
            </a:r>
          </a:p>
          <a:p xmlns:a="http://schemas.openxmlformats.org/drawingml/2006/main">
            <a:r>
              <a:t>        "title": "Agent 일반 사항",</a:t>
            </a:r>
          </a:p>
          <a:p xmlns:a="http://schemas.openxmlformats.org/drawingml/2006/main">
            <a:r>
              <a:t>        "locator": "SFR-002",</a:t>
            </a:r>
          </a:p>
          <a:p xmlns:a="http://schemas.openxmlformats.org/drawingml/2006/main">
            <a:r>
              <a:t>        "summary": "MCP 도구 등을 이용한 에이전트 실행의 공통 기능 구성. 업무 요청과 도구 호출의 연결 관리.",</a:t>
            </a:r>
          </a:p>
          <a:p xmlns:a="http://schemas.openxmlformats.org/drawingml/2006/main">
            <a:r>
              <a:t>        "data": "업무 요청·도구 정의 → 호출 계획·도구 결과",</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"C07"</a:t>
            </a:r>
          </a:p>
          <a:p xmlns:a="http://schemas.openxmlformats.org/drawingml/2006/main">
            <a:r>
              <a:t>        ],</a:t>
            </a:r>
          </a:p>
          <a:p xmlns:a="http://schemas.openxmlformats.org/drawingml/2006/main">
            <a:r>
              <a:t>        "acceptance": "미등록 도구·잘못된 인자·호출 실패 상황의 실행 보류와 오류 반환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"600876c2133d5557fe295a881eb90450c3e422b7ff02c531aaeae32498f9894f"</a:t>
            </a:r>
          </a:p>
          <a:p xmlns:a="http://schemas.openxmlformats.org/drawingml/2006/main">
            <a:r>
              <a:t>      },</a:t>
            </a:r>
          </a:p>
          <a:p xmlns:a="http://schemas.openxmlformats.org/drawingml/2006/main">
            <a:r>
              <a:t>      {</a:t>
            </a:r>
          </a:p>
          <a:p xmlns:a="http://schemas.openxmlformats.org/drawingml/2006/main">
            <a:r>
              <a:t>        "id": "SFR-003",</a:t>
            </a:r>
          </a:p>
          <a:p xmlns:a="http://schemas.openxmlformats.org/drawingml/2006/main">
            <a:r>
              <a:t>        "title": "접근 및 권한관리",</a:t>
            </a:r>
          </a:p>
          <a:p xmlns:a="http://schemas.openxmlformats.org/drawingml/2006/main">
            <a:r>
              <a:t>        "locator": "SFR-003",</a:t>
            </a:r>
          </a:p>
          <a:p xmlns:a="http://schemas.openxmlformats.org/drawingml/2006/main">
            <a:r>
              <a:t>        "summary": "인사·조직 정보를 반영한 접근 및 권한 관리. 사용자 역할에 맞는 데이터·기능 범위 적용.",</a:t>
            </a:r>
          </a:p>
          <a:p xmlns:a="http://schemas.openxmlformats.org/drawingml/2006/main">
            <a:r>
              <a:t>        "data": "직원·부서·역할 → 허용 데이터·기능",</a:t>
            </a:r>
          </a:p>
          <a:p xmlns:a="http://schemas.openxmlformats.org/drawingml/2006/main">
            <a:r>
              <a:t>        "components": [</a:t>
            </a:r>
          </a:p>
          <a:p xmlns:a="http://schemas.openxmlformats.org/drawingml/2006/main">
            <a:r>
              <a:t>          "C02",</a:t>
            </a:r>
          </a:p>
          <a:p xmlns:a="http://schemas.openxmlformats.org/drawingml/2006/main">
            <a:r>
              <a:t>          "C12"</a:t>
            </a:r>
          </a:p>
          <a:p xmlns:a="http://schemas.openxmlformats.org/drawingml/2006/main">
            <a:r>
              <a:t>        ],</a:t>
            </a:r>
          </a:p>
          <a:p xmlns:a="http://schemas.openxmlformats.org/drawingml/2006/main">
            <a:r>
              <a:t>        "acceptance": "전보·겸직·퇴직·권한 해제 시 검색과 실행 양쪽의 접근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"04990216c1150703cd093e78e1cf6629542fbdaca4c97f9dca5f8e4f3b400cce"</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"데이터 통합 파이프라인 구축",</a:t>
            </a:r>
          </a:p>
          <a:p xmlns:a="http://schemas.openxmlformats.org/drawingml/2006/main">
            <a:r>
              <a:t>        "locator": "SFR-004",</a:t>
            </a:r>
          </a:p>
          <a:p xmlns:a="http://schemas.openxmlformats.org/drawingml/2006/main">
            <a:r>
              <a:t>        "summary": "분산 데이터를 수집·정제·연계하는 통합 파이프라인 구축.",</a:t>
            </a:r>
          </a:p>
          <a:p xmlns:a="http://schemas.openxmlformats.org/drawingml/2006/main">
            <a:r>
              <a:t>        "data": "업무 원천·메타데이터 → 검색·AI 활용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"파일 형식 오류·중복·갱신·삭제 자료의 재처리와 원천-색인 건수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"e23449e0d4bf6fe973e547277bd671a1db47129f3f697fe40e3653855a967d51"</a:t>
            </a:r>
          </a:p>
          <a:p xmlns:a="http://schemas.openxmlformats.org/drawingml/2006/main">
            <a:r>
              <a:t>      },</a:t>
            </a:r>
          </a:p>
          <a:p xmlns:a="http://schemas.openxmlformats.org/drawingml/2006/main">
            <a:r>
              <a:t>      {</a:t>
            </a:r>
          </a:p>
          <a:p xmlns:a="http://schemas.openxmlformats.org/drawingml/2006/main">
            <a:r>
              <a:t>        "id": "SFR-007",</a:t>
            </a:r>
          </a:p>
          <a:p xmlns:a="http://schemas.openxmlformats.org/drawingml/2006/main">
            <a:r>
              <a:t>        "title": "AI 기반 지능형 검색 서비스",</a:t>
            </a:r>
          </a:p>
          <a:p xmlns:a="http://schemas.openxmlformats.org/drawingml/2006/main">
            <a:r>
              <a:t>        "locator": "SFR-007",</a:t>
            </a:r>
          </a:p>
          <a:p xmlns:a="http://schemas.openxmlformats.org/drawingml/2006/main">
            <a:r>
              <a:t>        "summary": "부서·직무·사용 이력 등을 반영한 AI 검색과 결과 재정렬.",</a:t>
            </a:r>
          </a:p>
          <a:p xmlns:a="http://schemas.openxmlformats.org/drawingml/2006/main">
            <a:r>
              <a:t>        "data": "동일 질의·다른 직무 문맥 → 직무별 관련 근거 순위",</a:t>
            </a:r>
          </a:p>
          <a:p xmlns:a="http://schemas.openxmlformats.org/drawingml/2006/main">
            <a:r>
              <a:t>        "components": [</a:t>
            </a:r>
          </a:p>
          <a:p xmlns:a="http://schemas.openxmlformats.org/drawingml/2006/main">
            <a:r>
              <a:t>          "C02",</a:t>
            </a:r>
          </a:p>
          <a:p xmlns:a="http://schemas.openxmlformats.org/drawingml/2006/main">
            <a:r>
              <a:t>          "C03",</a:t>
            </a:r>
          </a:p>
          <a:p xmlns:a="http://schemas.openxmlformats.org/drawingml/2006/main">
            <a:r>
              <a:t>          "C11"</a:t>
            </a:r>
          </a:p>
          <a:p xmlns:a="http://schemas.openxmlformats.org/drawingml/2006/main">
            <a:r>
              <a:t>        ],</a:t>
            </a:r>
          </a:p>
          <a:p xmlns:a="http://schemas.openxmlformats.org/drawingml/2006/main">
            <a:r>
              <a:t>        "acceptance": "연구직·행정직의 동일 질의에서 관련성 변화와 권한 밖 결과 제외를 함께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"3e12718b7b492badc155b10cf84e1b67c500d44a7c8333c9b026c5a4dea691ad"</a:t>
            </a:r>
          </a:p>
          <a:p xmlns:a="http://schemas.openxmlformats.org/drawingml/2006/main">
            <a:r>
              <a:t>      },</a:t>
            </a:r>
          </a:p>
          <a:p xmlns:a="http://schemas.openxmlformats.org/drawingml/2006/main">
            <a:r>
              <a:t>      {</a:t>
            </a:r>
          </a:p>
          <a:p xmlns:a="http://schemas.openxmlformats.org/drawingml/2006/main">
            <a:r>
              <a:t>        "id": "SFR-008",</a:t>
            </a:r>
          </a:p>
          <a:p xmlns:a="http://schemas.openxmlformats.org/drawingml/2006/main">
            <a:r>
              <a:t>        "title": "멀티 모델 적용",</a:t>
            </a:r>
          </a:p>
          <a:p xmlns:a="http://schemas.openxmlformats.org/drawingml/2006/main">
            <a:r>
              <a:t>        "locator": "SFR-008",</a:t>
            </a:r>
          </a:p>
          <a:p xmlns:a="http://schemas.openxmlformats.org/drawingml/2006/main">
            <a:r>
              <a:t>        "summary": "복수 모델의 적용·선택·비교를 지원하는 멀티모델 구조.",</a:t>
            </a:r>
          </a:p>
          <a:p xmlns:a="http://schemas.openxmlformats.org/drawingml/2006/main">
            <a:r>
              <a:t>        "data": "업무 유형·모델 설정 → 모델별 결과·비교 기록",</a:t>
            </a:r>
          </a:p>
          <a:p xmlns:a="http://schemas.openxmlformats.org/drawingml/2006/main">
            <a:r>
              <a:t>        "components": [</a:t>
            </a:r>
          </a:p>
          <a:p xmlns:a="http://schemas.openxmlformats.org/drawingml/2006/main">
            <a:r>
              <a:t>          "C04",</a:t>
            </a:r>
          </a:p>
          <a:p xmlns:a="http://schemas.openxmlformats.org/drawingml/2006/main">
            <a:r>
              <a:t>          "C08"</a:t>
            </a:r>
          </a:p>
          <a:p xmlns:a="http://schemas.openxmlformats.org/drawingml/2006/main">
            <a:r>
              <a:t>        ],</a:t>
            </a:r>
          </a:p>
          <a:p xmlns:a="http://schemas.openxmlformats.org/drawingml/2006/main">
            <a:r>
              <a:t>        "acceptance": "같은 입력의 모델별 정확성·시간·비용과 오류 발생 시 처리 경로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"a446f7c2f5ef6677204833f37fa4bbda4bae700a5c3c1b2e4e8a729dc569f518"</a:t>
            </a:r>
          </a:p>
          <a:p xmlns:a="http://schemas.openxmlformats.org/drawingml/2006/main">
            <a:r>
              <a:t>      },</a:t>
            </a:r>
          </a:p>
          <a:p xmlns:a="http://schemas.openxmlformats.org/drawingml/2006/main">
            <a:r>
              <a:t>      {</a:t>
            </a:r>
          </a:p>
          <a:p xmlns:a="http://schemas.openxmlformats.org/drawingml/2006/main">
            <a:r>
              <a:t>        "id": "SFR-009",</a:t>
            </a:r>
          </a:p>
          <a:p xmlns:a="http://schemas.openxmlformats.org/drawingml/2006/main">
            <a:r>
              <a:t>        "title": "지능형 질의응답 고도화 체계 구축",</a:t>
            </a:r>
          </a:p>
          <a:p xmlns:a="http://schemas.openxmlformats.org/drawingml/2006/main">
            <a:r>
              <a:t>        "locator": "SFR-009",</a:t>
            </a:r>
          </a:p>
          <a:p xmlns:a="http://schemas.openxmlformats.org/drawingml/2006/main">
            <a:r>
              <a:t>        "summary": "질의의 업무 계획 수립과 도메인 에이전트 연결을 통한 질의응답 고도화.",</a:t>
            </a:r>
          </a:p>
          <a:p xmlns:a="http://schemas.openxmlformats.org/drawingml/2006/main">
            <a:r>
              <a:t>        "data": "복합 업무 질의 → 단계별 계획·도구 결과·응답",</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"C07"</a:t>
            </a:r>
          </a:p>
          <a:p xmlns:a="http://schemas.openxmlformats.org/drawingml/2006/main">
            <a:r>
              <a:t>        ],</a:t>
            </a:r>
          </a:p>
          <a:p xmlns:a="http://schemas.openxmlformats.org/drawingml/2006/main">
            <a:r>
              <a:t>        "acceptance": "계획 일부 실패·불필요한 도구 호출·담당 영역 혼동 시 중단·재계획 경로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"86afdf5c09bd02dc72865179ec33f762956a14ddf1cf170340996155bdafaf57"</a:t>
            </a:r>
          </a:p>
          <a:p xmlns:a="http://schemas.openxmlformats.org/drawingml/2006/main">
            <a:r>
              <a:t>      },</a:t>
            </a:r>
          </a:p>
          <a:p xmlns:a="http://schemas.openxmlformats.org/drawingml/2006/main">
            <a:r>
              <a:t>      {</a:t>
            </a:r>
          </a:p>
          <a:p xmlns:a="http://schemas.openxmlformats.org/drawingml/2006/main">
            <a:r>
              <a:t>        "id": "SFR-010",</a:t>
            </a:r>
          </a:p>
          <a:p xmlns:a="http://schemas.openxmlformats.org/drawingml/2006/main">
            <a:r>
              <a:t>        "title": "문서 자동 생성 지원",</a:t>
            </a:r>
          </a:p>
          <a:p xmlns:a="http://schemas.openxmlformats.org/drawingml/2006/main">
            <a:r>
              <a:t>        "locator": "SFR-010",</a:t>
            </a:r>
          </a:p>
          <a:p xmlns:a="http://schemas.openxmlformats.org/drawingml/2006/main">
            <a:r>
              <a:t>        "summary": "템플릿·메타데이터·내부 자료를 활용한 정형 문서 생성 지원.",</a:t>
            </a:r>
          </a:p>
          <a:p xmlns:a="http://schemas.openxmlformats.org/drawingml/2006/main">
            <a:r>
              <a:t>        "data": "양식·필수 항목·근거 자료 → 편집 가능한 문서 초안",</a:t>
            </a:r>
          </a:p>
          <a:p xmlns:a="http://schemas.openxmlformats.org/drawingml/2006/main">
            <a:r>
              <a:t>        "components": [</a:t>
            </a:r>
          </a:p>
          <a:p xmlns:a="http://schemas.openxmlformats.org/drawingml/2006/main">
            <a:r>
              <a:t>          "C04",</a:t>
            </a:r>
          </a:p>
          <a:p xmlns:a="http://schemas.openxmlformats.org/drawingml/2006/main">
            <a:r>
              <a:t>          "C05",</a:t>
            </a:r>
          </a:p>
          <a:p xmlns:a="http://schemas.openxmlformats.org/drawingml/2006/main">
            <a:r>
              <a:t>          "C06"</a:t>
            </a:r>
          </a:p>
          <a:p xmlns:a="http://schemas.openxmlformats.org/drawingml/2006/main">
            <a:r>
              <a:t>        ],</a:t>
            </a:r>
          </a:p>
          <a:p xmlns:a="http://schemas.openxmlformats.org/drawingml/2006/main">
            <a:r>
              <a:t>        "acceptance": "필수 항목 누락·다른 양식 판본·숫자 인용 오류의 검출과 사용자 수정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"20df882404a76e75b24ff57eaa67d2d18ca56387f99e065033be13396d4a5f00"</a:t>
            </a:r>
          </a:p>
          <a:p xmlns:a="http://schemas.openxmlformats.org/drawingml/2006/main">
            <a:r>
              <a:t>      },</a:t>
            </a:r>
          </a:p>
          <a:p xmlns:a="http://schemas.openxmlformats.org/drawingml/2006/main">
            <a:r>
              <a:t>      {</a:t>
            </a:r>
          </a:p>
          <a:p xmlns:a="http://schemas.openxmlformats.org/drawingml/2006/main">
            <a:r>
              <a:t>        "id": "SFR-012",</a:t>
            </a:r>
          </a:p>
          <a:p xmlns:a="http://schemas.openxmlformats.org/drawingml/2006/main">
            <a:r>
              <a:t>        "title": "AI 서비스 운영 모니터링 체계구축",</a:t>
            </a:r>
          </a:p>
          <a:p xmlns:a="http://schemas.openxmlformats.org/drawingml/2006/main">
            <a:r>
              <a:t>        "locator": "SFR-012",</a:t>
            </a:r>
          </a:p>
          <a:p xmlns:a="http://schemas.openxmlformats.org/drawingml/2006/main">
            <a:r>
              <a:t>        "summary": "AI 서비스의 처리·이용·품질 상태를 확인하는 운영 모니터링 체계.",</a:t>
            </a:r>
          </a:p>
          <a:p xmlns:a="http://schemas.openxmlformats.org/drawingml/2006/main">
            <a:r>
              <a:t>        "data": "호출·서비스 상태·오류 → 관측 지표·운영 기록",</a:t>
            </a:r>
          </a:p>
          <a:p xmlns:a="http://schemas.openxmlformats.org/drawingml/2006/main">
            <a:r>
              <a:t>        "components": [</a:t>
            </a:r>
          </a:p>
          <a:p xmlns:a="http://schemas.openxmlformats.org/drawingml/2006/main">
            <a:r>
              <a:t>          "C08"</a:t>
            </a:r>
          </a:p>
          <a:p xmlns:a="http://schemas.openxmlformats.org/drawingml/2006/main">
            <a:r>
              <a:t>        ],</a:t>
            </a:r>
          </a:p>
          <a:p xmlns:a="http://schemas.openxmlformats.org/drawingml/2006/main">
            <a:r>
              <a:t>        "acceptance": "한 요청의 검색·모델·도구 단계를 연결해 실패 지점과 지연 원인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"253bfe0e809bb087229cb4b40f86856252a906181714e2b1a1a84d46237d7570"</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"연구행정 접점",</a:t>
            </a:r>
          </a:p>
          <a:p xmlns:a="http://schemas.openxmlformats.org/drawingml/2006/main">
            <a:r>
              <a:t>          "layer": "이용 접점",</a:t>
            </a:r>
          </a:p>
          <a:p xmlns:a="http://schemas.openxmlformats.org/drawingml/2006/main">
            <a:r>
              <a:t>          "detail": "연구직·행정직·플랫폼 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"소속·직무·이력",</a:t>
            </a:r>
          </a:p>
          <a:p xmlns:a="http://schemas.openxmlformats.org/drawingml/2006/main">
            <a:r>
              <a:t>          "layer": "업무 문맥",</a:t>
            </a:r>
          </a:p>
          <a:p xmlns:a="http://schemas.openxmlformats.org/drawingml/2006/main">
            <a:r>
              <a:t>          "detail": "소속·직무·검색 이력·진행업무 연결",</a:t>
            </a:r>
          </a:p>
          <a:p xmlns:a="http://schemas.openxmlformats.org/drawingml/2006/main">
            <a:r>
              <a:t>          "requirements": [</a:t>
            </a:r>
          </a:p>
          <a:p xmlns:a="http://schemas.openxmlformats.org/drawingml/2006/main">
            <a:r>
              <a:t>            "SFR-002",</a:t>
            </a:r>
          </a:p>
          <a:p xmlns:a="http://schemas.openxmlformats.org/drawingml/2006/main">
            <a:r>
              <a:t>            "SFR-003",</a:t>
            </a:r>
          </a:p>
          <a:p xmlns:a="http://schemas.openxmlformats.org/drawingml/2006/main">
            <a:r>
              <a:t>            "SFR-007",</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"업무 검색 재정렬",</a:t>
            </a:r>
          </a:p>
          <a:p xmlns:a="http://schemas.openxmlformats.org/drawingml/2006/main">
            <a:r>
              <a:t>          "layer": "자료 조회",</a:t>
            </a:r>
          </a:p>
          <a:p xmlns:a="http://schemas.openxmlformats.org/drawingml/2006/main">
            <a:r>
              <a:t>          "detail": "직무·질문",</a:t>
            </a:r>
          </a:p>
          <a:p xmlns:a="http://schemas.openxmlformats.org/drawingml/2006/main">
            <a:r>
              <a:t>          "requirements": [</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"에이전트·정형 생성",</a:t>
            </a:r>
          </a:p>
          <a:p xmlns:a="http://schemas.openxmlformats.org/drawingml/2006/main">
            <a:r>
              <a:t>          "layer": "핵심 처리",</a:t>
            </a:r>
          </a:p>
          <a:p xmlns:a="http://schemas.openxmlformats.org/drawingml/2006/main">
            <a:r>
              <a:t>          "detail": "질의 보정·재정렬·요약·양식별 생성",</a:t>
            </a:r>
          </a:p>
          <a:p xmlns:a="http://schemas.openxmlformats.org/drawingml/2006/main">
            <a:r>
              <a:t>          "requirements": [</a:t>
            </a:r>
          </a:p>
          <a:p xmlns:a="http://schemas.openxmlformats.org/drawingml/2006/main">
            <a:r>
              <a:t>            "SFR-002",</a:t>
            </a:r>
          </a:p>
          <a:p xmlns:a="http://schemas.openxmlformats.org/drawingml/2006/main">
            <a:r>
              <a:t>            "SFR-008",</a:t>
            </a:r>
          </a:p>
          <a:p xmlns:a="http://schemas.openxmlformats.org/drawingml/2006/main">
            <a:r>
              <a:t>            "SFR-009",</a:t>
            </a:r>
          </a:p>
          <a:p xmlns:a="http://schemas.openxmlformats.org/drawingml/2006/main">
            <a:r>
              <a:t>            "SFR-010"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"양식·근거 검사",</a:t>
            </a:r>
          </a:p>
          <a:p xmlns:a="http://schemas.openxmlformats.org/drawingml/2006/main">
            <a:r>
              <a:t>          "layer": "결과 검증",</a:t>
            </a:r>
          </a:p>
          <a:p xmlns:a="http://schemas.openxmlformats.org/drawingml/2006/main">
            <a:r>
              <a:t>          "detail": "기존 검색 대비 근거·완료시간 평가",</a:t>
            </a:r>
          </a:p>
          <a:p xmlns:a="http://schemas.openxmlformats.org/drawingml/2006/main">
            <a:r>
              <a:t>          "requirements": [</a:t>
            </a:r>
          </a:p>
          <a:p xmlns:a="http://schemas.openxmlformats.org/drawingml/2006/main">
            <a:r>
              <a:t>            "SFR-010"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"작성 담당 확인",</a:t>
            </a:r>
          </a:p>
          <a:p xmlns:a="http://schemas.openxmlformats.org/drawingml/2006/main">
            <a:r>
              <a:t>          "layer": "사람 확인",</a:t>
            </a:r>
          </a:p>
          <a:p xmlns:a="http://schemas.openxmlformats.org/drawingml/2006/main">
            <a:r>
              <a:t>          "detail": "동일 질의를 연구직·행정직 계정으로 실행해 검색·서식 비교",</a:t>
            </a:r>
          </a:p>
          <a:p xmlns:a="http://schemas.openxmlformats.org/drawingml/2006/main">
            <a:r>
              <a:t>          "requirements": [</a:t>
            </a:r>
          </a:p>
          <a:p xmlns:a="http://schemas.openxmlformats.org/drawingml/2006/main">
            <a:r>
              <a:t>            "SFR-010"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"문서 업무 연결",</a:t>
            </a:r>
          </a:p>
          <a:p xmlns:a="http://schemas.openxmlformats.org/drawingml/2006/main">
            <a:r>
              <a:t>          "layer": "업무 연결",</a:t>
            </a:r>
          </a:p>
          <a:p xmlns:a="http://schemas.openxmlformats.org/drawingml/2006/main">
            <a:r>
              <a:t>          "detail": "원문 근거와 목차·필드가 있는 초안 제공",</a:t>
            </a:r>
          </a:p>
          <a:p xmlns:a="http://schemas.openxmlformats.org/drawingml/2006/main">
            <a:r>
              <a:t>          "requirements": [</a:t>
            </a:r>
          </a:p>
          <a:p xmlns:a="http://schemas.openxmlformats.org/drawingml/2006/main">
            <a:r>
              <a:t>            "SFR-002",</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"토큰·회귀 평가",</a:t>
            </a:r>
          </a:p>
          <a:p xmlns:a="http://schemas.openxmlformats.org/drawingml/2006/main">
            <a:r>
              <a:t>          "layer": "운영 관측",</a:t>
            </a:r>
          </a:p>
          <a:p xmlns:a="http://schemas.openxmlformats.org/drawingml/2006/main">
            <a:r>
              <a:t>          "detail": "GPU 이중화·모델 롤백·부서별 토큰 계측",</a:t>
            </a:r>
          </a:p>
          <a:p xmlns:a="http://schemas.openxmlformats.org/drawingml/2006/main">
            <a:r>
              <a:t>          "requirements": [</a:t>
            </a:r>
          </a:p>
          <a:p xmlns:a="http://schemas.openxmlformats.org/drawingml/2006/main">
            <a:r>
              <a:t>            "SFR-008",</a:t>
            </a:r>
          </a:p>
          <a:p xmlns:a="http://schemas.openxmlformats.org/drawingml/2006/main">
            <a:r>
              <a:t>            "SFR-012"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"연구행정 자료",</a:t>
            </a:r>
          </a:p>
          <a:p xmlns:a="http://schemas.openxmlformats.org/drawingml/2006/main">
            <a:r>
              <a:t>          "layer": "데이터 원천",</a:t>
            </a:r>
          </a:p>
          <a:p xmlns:a="http://schemas.openxmlformats.org/drawingml/2006/main">
            <a:r>
              <a:t>          "detail": "연구행정 지식",</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"목차·문서 구조화",</a:t>
            </a:r>
          </a:p>
          <a:p xmlns:a="http://schemas.openxmlformats.org/drawingml/2006/main">
            <a:r>
              <a:t>          "layer": "준비·갱신",</a:t>
            </a:r>
          </a:p>
          <a:p xmlns:a="http://schemas.openxmlformats.org/drawingml/2006/main">
            <a:r>
              <a:t>          "detail": "문서·연구성과·전문가·양식의 색인 구성",</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"허용 지식·색인",</a:t>
            </a:r>
          </a:p>
          <a:p xmlns:a="http://schemas.openxmlformats.org/drawingml/2006/main">
            <a:r>
              <a:t>          "layer": "상태·지식 저장",</a:t>
            </a:r>
          </a:p>
          <a:p xmlns:a="http://schemas.openxmlformats.org/drawingml/2006/main">
            <a:r>
              <a:t>          "detail": "직무별 순위·근거·서식과 모델 전환·복구 결과",</a:t>
            </a:r>
          </a:p>
          <a:p xmlns:a="http://schemas.openxmlformats.org/drawingml/2006/main">
            <a:r>
              <a:t>          "requirements": [</a:t>
            </a:r>
          </a:p>
          <a:p xmlns:a="http://schemas.openxmlformats.org/drawingml/2006/main">
            <a:r>
              <a:t>            "SFR-004",</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"모델·롤백 정책",</a:t>
            </a:r>
          </a:p>
          <a:p xmlns:a="http://schemas.openxmlformats.org/drawingml/2006/main">
            <a:r>
              <a:t>          "layer": "권한·정책",</a:t>
            </a:r>
          </a:p>
          <a:p xmlns:a="http://schemas.openxmlformats.org/drawingml/2006/main">
            <a:r>
              <a:t>          "detail": "전보 전 캐시·권한 없는 연구자료·모델 장애",</a:t>
            </a:r>
          </a:p>
          <a:p xmlns:a="http://schemas.openxmlformats.org/drawingml/2006/main">
            <a:r>
              <a:t>          "requirements": [</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"소속·직무·검색 이력·진행업무 연결",</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"직무·질문",</a:t>
            </a:r>
          </a:p>
          <a:p xmlns:a="http://schemas.openxmlformats.org/drawingml/2006/main">
            <a:r>
              <a:t>          "check": "기존 검색 대비 근거·완료시간 평가"</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"재정렬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"정형 초안",</a:t>
            </a:r>
          </a:p>
          <a:p xmlns:a="http://schemas.openxmlformats.org/drawingml/2006/main">
            <a:r>
              <a:t>          "check": "전보 전 캐시·권한 없는 연구자료·모델 장애"</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"정형 초안",</a:t>
            </a:r>
          </a:p>
          <a:p xmlns:a="http://schemas.openxmlformats.org/drawingml/2006/main">
            <a:r>
              <a:t>          "check": "원문 근거와 목차·필드가 있는 초안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 문서",</a:t>
            </a:r>
          </a:p>
          <a:p xmlns:a="http://schemas.openxmlformats.org/drawingml/2006/main">
            <a:r>
              <a:t>          "check": "직무별 순위·근거·서식과 모델 전환·복구 결과"</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"SFR-007~012",</a:t>
            </a:r>
          </a:p>
          <a:p xmlns:a="http://schemas.openxmlformats.org/drawingml/2006/main">
            <a:r>
              <a:t>        "extracted": "부서·직무·검색이력을 이용한 재정렬과 정형 문서 생성",</a:t>
            </a:r>
          </a:p>
          <a:p xmlns:a="http://schemas.openxmlformats.org/drawingml/2006/main">
            <a:r>
              <a:t>        "extension": "검색 이력의 권한 확대 방지와 이전 모델 복귀 시험"</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"PF-R03",</a:t>
            </a:r>
          </a:p>
          <a:p xmlns:a="http://schemas.openxmlformats.org/drawingml/2006/main">
            <a:r>
              <a:t>          "path": "assets/casebook-sources/PF-R03-01.png",</a:t>
            </a:r>
          </a:p>
          <a:p xmlns:a="http://schemas.openxmlformats.org/drawingml/2006/main">
            <a:r>
              <a:t>          "title": "생산기술연구원 정보시스템 연계",</a:t>
            </a:r>
          </a:p>
          <a:p xmlns:a="http://schemas.openxmlformats.org/drawingml/2006/main">
            <a:r>
              <a:t>          "status": "RFP 수록 기존 정보시스템 현황",</a:t>
            </a:r>
          </a:p>
          <a:p xmlns:a="http://schemas.openxmlformats.org/drawingml/2006/main">
            <a:r>
              <a:t>          "caption": "연구행정·경영정보·업무지원·지능형 포털 간 연계",</a:t>
            </a:r>
          </a:p>
          <a:p xmlns:a="http://schemas.openxmlformats.org/drawingml/2006/main">
            <a:r>
              <a:t>          "locator": "rId13 / BinData/BIN0002_png",</a:t>
            </a:r>
          </a:p>
          <a:p xmlns:a="http://schemas.openxmlformats.org/drawingml/2006/main">
            <a:r>
              <a:t>          "checked": "2026-10-16",</a:t>
            </a:r>
          </a:p>
          <a:p xmlns:a="http://schemas.openxmlformats.org/drawingml/2006/main">
            <a:r>
              <a:t>          "sha256": "0b49ad15a2d50888b15fdc4d6bb439874425106d7d0a2cf9b92b1c3debb0025b",</a:t>
            </a:r>
          </a:p>
          <a:p xmlns:a="http://schemas.openxmlformats.org/drawingml/2006/main">
            <a:r>
              <a:t>          "explanation": {</a:t>
            </a:r>
          </a:p>
          <a:p xmlns:a="http://schemas.openxmlformats.org/drawingml/2006/main">
            <a:r>
              <a:t>            "read": "연구행정·경영정보·업무지원과 지능형 포털의 기존 연결 현황. 새 AI 모델의 배치도가 아니라 어떤 업무 데이터와 시스템을 고도화 시 연결해야 하는지를 보여 주는 원문.",</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"SFR-007",</a:t>
            </a:r>
          </a:p>
          <a:p xmlns:a="http://schemas.openxmlformats.org/drawingml/2006/main">
            <a:r>
              <a:t>              "SFR-010"</a:t>
            </a:r>
          </a:p>
          <a:p xmlns:a="http://schemas.openxmlformats.org/drawingml/2006/main">
            <a:r>
              <a:t>            ],</a:t>
            </a:r>
          </a:p>
          <a:p xmlns:a="http://schemas.openxmlformats.org/drawingml/2006/main">
            <a:r>
              <a:t>            "connection": "기존 사용자·조직·권한과 연구행정 자료를 재사용하고 직무별 검색, 도메인 도구, 정형 문서 생성을 추가하는 대상 경계의 설정."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"전보 전 캐시·권한 없는 연구자료·모델 장애",</a:t>
            </a:r>
          </a:p>
          <a:p xmlns:a="http://schemas.openxmlformats.org/drawingml/2006/main">
            <a:r>
              <a:t>        "hold": "기존 검색 대비 근거·완료시간 평가",</a:t>
            </a:r>
          </a:p>
          <a:p xmlns:a="http://schemas.openxmlformats.org/drawingml/2006/main">
            <a:r>
              <a:t>        "recovery": "GPU 이중화·모델 롤백·부서별 토큰 계측",</a:t>
            </a:r>
          </a:p>
          <a:p xmlns:a="http://schemas.openxmlformats.org/drawingml/2006/main">
            <a:r>
              <a:t>        "evidence": "직무별 순위·근거·서식과 모델 전환·복구 결과"</a:t>
            </a:r>
          </a:p>
          <a:p xmlns:a="http://schemas.openxmlformats.org/drawingml/2006/main">
            <a:r>
              <a:t>      },</a:t>
            </a:r>
          </a:p>
          <a:p xmlns:a="http://schemas.openxmlformats.org/drawingml/2006/main">
            <a:r>
              <a:t>      "data": {</a:t>
            </a:r>
          </a:p>
          <a:p xmlns:a="http://schemas.openxmlformats.org/drawingml/2006/main">
            <a:r>
              <a:t>        "source": "연구행정 지식",</a:t>
            </a:r>
          </a:p>
          <a:p xmlns:a="http://schemas.openxmlformats.org/drawingml/2006/main">
            <a:r>
              <a:t>        "prepare": "문서·연구성과·전문가·양식의 색인 구성",</a:t>
            </a:r>
          </a:p>
          <a:p xmlns:a="http://schemas.openxmlformats.org/drawingml/2006/main">
            <a:r>
              <a:t>        "output": "직무·질문",</a:t>
            </a:r>
          </a:p>
          <a:p xmlns:a="http://schemas.openxmlformats.org/drawingml/2006/main">
            <a:r>
              <a:t>        "refresh": "GPU 이중화·모델 롤백·부서별 토큰 계측"</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"PF-R03",</a:t>
            </a:r>
          </a:p>
          <a:p xmlns:a="http://schemas.openxmlformats.org/drawingml/2006/main">
            <a:r>
              <a:t>    "success": [</a:t>
            </a:r>
          </a:p>
          <a:p xmlns:a="http://schemas.openxmlformats.org/drawingml/2006/main">
            <a:r>
              <a:t>      "기존 연구행정 검색의 고도화",</a:t>
            </a:r>
          </a:p>
          <a:p xmlns:a="http://schemas.openxmlformats.org/drawingml/2006/main">
            <a:r>
              <a:t>      "업무별 에이전트·정형 출력 구성"</a:t>
            </a:r>
          </a:p>
          <a:p xmlns:a="http://schemas.openxmlformats.org/drawingml/2006/main">
            <a:r>
              <a:t>    ],</a:t>
            </a:r>
          </a:p>
          <a:p xmlns:a="http://schemas.openxmlformats.org/drawingml/2006/main">
            <a:r>
              <a:t>    "risks": [</a:t>
            </a:r>
          </a:p>
          <a:p xmlns:a="http://schemas.openxmlformats.org/drawingml/2006/main">
            <a:r>
              <a:t>      "검색 재정렬의 근거 누락",</a:t>
            </a:r>
          </a:p>
          <a:p xmlns:a="http://schemas.openxmlformats.org/drawingml/2006/main">
            <a:r>
              <a:t>      "후속 공고와 도입 완료의 혼동"</a:t>
            </a:r>
          </a:p>
          <a:p xmlns:a="http://schemas.openxmlformats.org/drawingml/2006/main">
            <a:r>
              <a:t>    ],</a:t>
            </a:r>
          </a:p>
          <a:p xmlns:a="http://schemas.openxmlformats.org/drawingml/2006/main">
            <a:r>
              <a:t>    "architecture": [</a:t>
            </a:r>
          </a:p>
          <a:p xmlns:a="http://schemas.openxmlformats.org/drawingml/2006/main">
            <a:r>
              <a:t>      "연구행정 사용자",</a:t>
            </a:r>
          </a:p>
          <a:p xmlns:a="http://schemas.openxmlformats.org/drawingml/2006/main">
            <a:r>
              <a:t>      "검색·업무 에이전트",</a:t>
            </a:r>
          </a:p>
          <a:p xmlns:a="http://schemas.openxmlformats.org/drawingml/2006/main">
            <a:r>
              <a:t>      "연구행정 지식",</a:t>
            </a:r>
          </a:p>
          <a:p xmlns:a="http://schemas.openxmlformats.org/drawingml/2006/main">
            <a:r>
              <a:t>      "문서 작성 담당"</a:t>
            </a:r>
          </a:p>
          <a:p xmlns:a="http://schemas.openxmlformats.org/drawingml/2006/main">
            <a:r>
              <a:t>    ],</a:t>
            </a:r>
          </a:p>
          <a:p xmlns:a="http://schemas.openxmlformats.org/drawingml/2006/main">
            <a:r>
              <a:t>    "transfers": [</a:t>
            </a:r>
          </a:p>
          <a:p xmlns:a="http://schemas.openxmlformats.org/drawingml/2006/main">
            <a:r>
              <a:t>      "직무·질문",</a:t>
            </a:r>
          </a:p>
          <a:p xmlns:a="http://schemas.openxmlformats.org/drawingml/2006/main">
            <a:r>
              <a:t>      "재정렬 근거",</a:t>
            </a:r>
          </a:p>
          <a:p xmlns:a="http://schemas.openxmlformats.org/drawingml/2006/main">
            <a:r>
              <a:t>      "정형 초안",</a:t>
            </a:r>
          </a:p>
          <a:p xmlns:a="http://schemas.openxmlformats.org/drawingml/2006/main">
            <a:r>
              <a:t>      "검토 문서"</a:t>
            </a:r>
          </a:p>
          <a:p xmlns:a="http://schemas.openxmlformats.org/drawingml/2006/main">
            <a:r>
              <a:t>    ],</a:t>
            </a:r>
          </a:p>
          <a:p xmlns:a="http://schemas.openxmlformats.org/drawingml/2006/main">
            <a:r>
              <a:t>    "control": "기존 검색 대비 근거·완료시간 평가",</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SFR-007~012 / Word T044 https://www.g2b.go.kr/pn/pnp/pnpe/UntyAtchFile/downloadFile.do?bidPbancNo=R26BK01670411&amp;bidPbancOrd=000&amp;fileType=&amp;fileSeq=1&amp;prcmBsneSeCd=03</a:t>
            </a:r>
          </a:p>
          <a:p xmlns:a="http://schemas.openxmlformats.org/drawingml/2006/main">
            <a:r>
              <a:t>홈페이지 https://heen1987-ops.github.io/TS-business-Plan-001/index.html?view=platform-cases&amp;case=PF-R03</a:t>
            </a:r>
          </a:p>
          <a:p xmlns:a="http://schemas.openxmlformats.org/drawingml/2006/main">
            <a:r>
              <a:t>한계: 연구원 외부 TechGPT 성과와 본 내부사업을 혼동하지 않음</a:t>
            </a:r>
          </a:p>
          <a:p xmlns:a="http://schemas.openxmlformats.org/drawingml/2006/main">
            <a:r>
              <a:t>실패 위험: 검색 재정렬의 근거 누락 / 후속 공고와 도입 완료의 혼동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"PF-R03",</a:t>
            </a:r>
          </a:p>
          <a:p xmlns:a="http://schemas.openxmlformats.org/drawingml/2006/main">
            <a:r>
              <a:t>    "sourceId": "R03",</a:t>
            </a:r>
          </a:p>
          <a:p xmlns:a="http://schemas.openxmlformats.org/drawingml/2006/main">
            <a:r>
              <a:t>    "title": "생산기술연구원 AI 고도화",</a:t>
            </a:r>
          </a:p>
          <a:p xmlns:a="http://schemas.openxmlformats.org/drawingml/2006/main">
            <a:r>
              <a:t>    "region": "국내",</a:t>
            </a:r>
          </a:p>
          <a:p xmlns:a="http://schemas.openxmlformats.org/drawingml/2006/main">
            <a:r>
              <a:t>    "owner": "한국생산기술연구원",</a:t>
            </a:r>
          </a:p>
          <a:p xmlns:a="http://schemas.openxmlformats.org/drawingml/2006/main">
            <a:r>
              <a:t>    "state": "후속 공고 RFP 확인 / 계약·운영 미확인",</a:t>
            </a:r>
          </a:p>
          <a:p xmlns:a="http://schemas.openxmlformats.org/drawingml/2006/main">
            <a:r>
              <a:t>    "period": "기존 원장 확인 2026.10.16",</a:t>
            </a:r>
          </a:p>
          <a:p xmlns:a="http://schemas.openxmlformats.org/drawingml/2006/main">
            <a:r>
              <a:t>    "fact": "기존 연구행정 AI 고도화: 지능형 검색·멀티모델·도메인 에이전트·정형 문서 생성",</a:t>
            </a:r>
          </a:p>
          <a:p xmlns:a="http://schemas.openxmlformats.org/drawingml/2006/main">
            <a:r>
              <a:t>    "limit": "연구원 외부 TechGPT 성과와 본 내부사업을 혼동하지 않음",</a:t>
            </a:r>
          </a:p>
          <a:p xmlns:a="http://schemas.openxmlformats.org/drawingml/2006/main">
            <a:r>
              <a:t>    "nodes": [</a:t>
            </a:r>
          </a:p>
          <a:p xmlns:a="http://schemas.openxmlformats.org/drawingml/2006/main">
            <a:r>
              <a:t>      "직원·직무",</a:t>
            </a:r>
          </a:p>
          <a:p xmlns:a="http://schemas.openxmlformats.org/drawingml/2006/main">
            <a:r>
              <a:t>      "검색 재정렬",</a:t>
            </a:r>
          </a:p>
          <a:p xmlns:a="http://schemas.openxmlformats.org/drawingml/2006/main">
            <a:r>
              <a:t>      "업무 에이전트",</a:t>
            </a:r>
          </a:p>
          <a:p xmlns:a="http://schemas.openxmlformats.org/drawingml/2006/main">
            <a:r>
              <a:t>      "문서·운영 관리"</a:t>
            </a:r>
          </a:p>
          <a:p xmlns:a="http://schemas.openxmlformats.org/drawingml/2006/main">
            <a:r>
              <a:t>    ],</a:t>
            </a:r>
          </a:p>
          <a:p xmlns:a="http://schemas.openxmlformats.org/drawingml/2006/main">
            <a:r>
              <a:t>    "apply": "공식 소속·직무를 검색 순위·서식·업무 도구 선택에 연결하는 개인화",</a:t>
            </a:r>
          </a:p>
          <a:p xmlns:a="http://schemas.openxmlformats.org/drawingml/2006/main">
            <a:r>
              <a:t>    "delta": "사번–부서–직무–업무 연결 / 검색 재정렬 / 직무별 문서 양식",</a:t>
            </a:r>
          </a:p>
          <a:p xmlns:a="http://schemas.openxmlformats.org/drawingml/2006/main">
            <a:r>
              <a:t>    "test": "동일 질의의 직무별 정답·문서 순위·서식 비교 및 전보 후 권한 시험",</a:t>
            </a:r>
          </a:p>
          <a:p xmlns:a="http://schemas.openxmlformats.org/drawingml/2006/main">
            <a:r>
              <a:t>    "url": "https://www.g2b.go.kr/pn/pnp/pnpe/UntyAtchFile/downloadFile.do?bidPbancNo=R26BK01670411&amp;bidPbancOrd=000&amp;fileType=&amp;fileSeq=1&amp;prcmBsneSeCd=03",</a:t>
            </a:r>
          </a:p>
          <a:p xmlns:a="http://schemas.openxmlformats.org/drawingml/2006/main">
            <a:r>
              <a:t>    "urls": [</a:t>
            </a:r>
          </a:p>
          <a:p xmlns:a="http://schemas.openxmlformats.org/drawingml/2006/main">
            <a:r>
              <a:t>      "https://www.g2b.go.kr/pn/pnp/pnpe/UntyAtchFile/downloadFile.do?bidPbancNo=R26BK01670411&amp;bidPbancOrd=000&amp;fileType=&amp;fileSeq=1&amp;prcmBsneSeCd=03"</a:t>
            </a:r>
          </a:p>
          <a:p xmlns:a="http://schemas.openxmlformats.org/drawingml/2006/main">
            <a:r>
              <a:t>    ],</a:t>
            </a:r>
          </a:p>
          <a:p xmlns:a="http://schemas.openxmlformats.org/drawingml/2006/main">
            <a:r>
              <a:t>    "basis": "SFR-007~012 / Word T044",</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"직무별 과업 성공률 / 검색·문서 작성시간 / 요청당 비용",</a:t>
            </a:r>
          </a:p>
          <a:p xmlns:a="http://schemas.openxmlformats.org/drawingml/2006/main">
            <a:r>
              <a:t>    "group": "요구·구축",</a:t>
            </a:r>
          </a:p>
          <a:p xmlns:a="http://schemas.openxmlformats.org/drawingml/2006/main">
            <a:r>
              <a:t>    "sourceDetail": "소속·직무·검색이력·업무 기반 검색 재정렬, 양식/목차/입력 구조화, GPU 이중화·모델 롤백·부서별 토큰 비용",</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"PF-R03",</a:t>
            </a:r>
          </a:p>
          <a:p xmlns:a="http://schemas.openxmlformats.org/drawingml/2006/main">
            <a:r>
              <a:t>    "canonicalId": "PF-R03",</a:t>
            </a:r>
          </a:p>
          <a:p xmlns:a="http://schemas.openxmlformats.org/drawingml/2006/main">
            <a:r>
              <a:t>    "purpose": "직무별 검색과 정형 문서 작성의 고도화",</a:t>
            </a:r>
          </a:p>
          <a:p xmlns:a="http://schemas.openxmlformats.org/drawingml/2006/main">
            <a:r>
              <a:t>    "users": "연구직·행정직·플랫폼 운영자",</a:t>
            </a:r>
          </a:p>
          <a:p xmlns:a="http://schemas.openxmlformats.org/drawingml/2006/main">
            <a:r>
              <a:t>    "scope": [</a:t>
            </a:r>
          </a:p>
          <a:p xmlns:a="http://schemas.openxmlformats.org/drawingml/2006/main">
            <a:r>
              <a:t>      "검색 재정렬",</a:t>
            </a:r>
          </a:p>
          <a:p xmlns:a="http://schemas.openxmlformats.org/drawingml/2006/main">
            <a:r>
              <a:t>      "문서 생성",</a:t>
            </a:r>
          </a:p>
          <a:p xmlns:a="http://schemas.openxmlformats.org/drawingml/2006/main">
            <a:r>
              <a:t>      "멀티모델 운영"</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"연구행정 사용자",</a:t>
            </a:r>
          </a:p>
          <a:p xmlns:a="http://schemas.openxmlformats.org/drawingml/2006/main">
            <a:r>
              <a:t>        "detail": "소속·직무·검색 이력·진행업무 연결",</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"검색 재정렬 / 문서 생성 / 멀티모델 운영",</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"검색·업무 에이전트",</a:t>
            </a:r>
          </a:p>
          <a:p xmlns:a="http://schemas.openxmlformats.org/drawingml/2006/main">
            <a:r>
              <a:t>        "detail": "질의 보정·재정렬·요약·양식별 생성",</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"문서 작성 담당",</a:t>
            </a:r>
          </a:p>
          <a:p xmlns:a="http://schemas.openxmlformats.org/drawingml/2006/main">
            <a:r>
              <a:t>        "detail": "원문 근거와 목차·필드가 있는 초안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"연구행정 지식",</a:t>
            </a:r>
          </a:p>
          <a:p xmlns:a="http://schemas.openxmlformats.org/drawingml/2006/main">
            <a:r>
              <a:t>        "detail": "문서·연구성과·전문가·양식의 색인 구성",</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"GPU 이중화·모델 롤백·부서별 토큰 계측",</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"직원·직무",</a:t>
            </a:r>
          </a:p>
          <a:p xmlns:a="http://schemas.openxmlformats.org/drawingml/2006/main">
            <a:r>
              <a:t>        "input": "소속·직무·검색 이력·진행업무 연결",</a:t>
            </a:r>
          </a:p>
          <a:p xmlns:a="http://schemas.openxmlformats.org/drawingml/2006/main">
            <a:r>
              <a:t>        "process": "문서·연구성과·전문가·양식의 색인 구성",</a:t>
            </a:r>
          </a:p>
          <a:p xmlns:a="http://schemas.openxmlformats.org/drawingml/2006/main">
            <a:r>
              <a:t>        "output": "직무·질문"</a:t>
            </a:r>
          </a:p>
          <a:p xmlns:a="http://schemas.openxmlformats.org/drawingml/2006/main">
            <a:r>
              <a:t>      },</a:t>
            </a:r>
          </a:p>
          <a:p xmlns:a="http://schemas.openxmlformats.org/drawingml/2006/main">
            <a:r>
              <a:t>      {</a:t>
            </a:r>
          </a:p>
          <a:p xmlns:a="http://schemas.openxmlformats.org/drawingml/2006/main">
            <a:r>
              <a:t>        "title": "검색 재정렬",</a:t>
            </a:r>
          </a:p>
          <a:p xmlns:a="http://schemas.openxmlformats.org/drawingml/2006/main">
            <a:r>
              <a:t>        "input": "직무·질문",</a:t>
            </a:r>
          </a:p>
          <a:p xmlns:a="http://schemas.openxmlformats.org/drawingml/2006/main">
            <a:r>
              <a:t>        "process": "질의 보정·재정렬·요약·양식별 생성",</a:t>
            </a:r>
          </a:p>
          <a:p xmlns:a="http://schemas.openxmlformats.org/drawingml/2006/main">
            <a:r>
              <a:t>        "output": "재정렬 근거"</a:t>
            </a:r>
          </a:p>
          <a:p xmlns:a="http://schemas.openxmlformats.org/drawingml/2006/main">
            <a:r>
              <a:t>      },</a:t>
            </a:r>
          </a:p>
          <a:p xmlns:a="http://schemas.openxmlformats.org/drawingml/2006/main">
            <a:r>
              <a:t>      {</a:t>
            </a:r>
          </a:p>
          <a:p xmlns:a="http://schemas.openxmlformats.org/drawingml/2006/main">
            <a:r>
              <a:t>        "title": "업무 에이전트",</a:t>
            </a:r>
          </a:p>
          <a:p xmlns:a="http://schemas.openxmlformats.org/drawingml/2006/main">
            <a:r>
              <a:t>        "input": "재정렬 근거",</a:t>
            </a:r>
          </a:p>
          <a:p xmlns:a="http://schemas.openxmlformats.org/drawingml/2006/main">
            <a:r>
              <a:t>        "process": "기존 검색 대비 근거·완료시간 평가",</a:t>
            </a:r>
          </a:p>
          <a:p xmlns:a="http://schemas.openxmlformats.org/drawingml/2006/main">
            <a:r>
              <a:t>        "output": "정형 초안"</a:t>
            </a:r>
          </a:p>
          <a:p xmlns:a="http://schemas.openxmlformats.org/drawingml/2006/main">
            <a:r>
              <a:t>      },</a:t>
            </a:r>
          </a:p>
          <a:p xmlns:a="http://schemas.openxmlformats.org/drawingml/2006/main">
            <a:r>
              <a:t>      {</a:t>
            </a:r>
          </a:p>
          <a:p xmlns:a="http://schemas.openxmlformats.org/drawingml/2006/main">
            <a:r>
              <a:t>        "title": "문서·운영 관리",</a:t>
            </a:r>
          </a:p>
          <a:p xmlns:a="http://schemas.openxmlformats.org/drawingml/2006/main">
            <a:r>
              <a:t>        "input": "정형 초안",</a:t>
            </a:r>
          </a:p>
          <a:p xmlns:a="http://schemas.openxmlformats.org/drawingml/2006/main">
            <a:r>
              <a:t>        "process": "원문 근거와 목차·필드가 있는 초안 제공",</a:t>
            </a:r>
          </a:p>
          <a:p xmlns:a="http://schemas.openxmlformats.org/drawingml/2006/main">
            <a:r>
              <a:t>        "output": "검토 문서"</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"동일 질의를 연구직·행정직 계정으로 실행해 검색·서식 비교",</a:t>
            </a:r>
          </a:p>
          <a:p xmlns:a="http://schemas.openxmlformats.org/drawingml/2006/main">
            <a:r>
              <a:t>      "exception": "전보 전 캐시·권한 없는 연구자료·모델 장애",</a:t>
            </a:r>
          </a:p>
          <a:p xmlns:a="http://schemas.openxmlformats.org/drawingml/2006/main">
            <a:r>
              <a:t>      "evidence": "직무별 순위·근거·서식과 모델 전환·복구 결과",</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"연구직·행정직·플랫폼 운영자",</a:t>
            </a:r>
          </a:p>
          <a:p xmlns:a="http://schemas.openxmlformats.org/drawingml/2006/main">
            <a:r>
              <a:t>          "processing": "소속·직무·검색 이력·진행업무 연결",</a:t>
            </a:r>
          </a:p>
          <a:p xmlns:a="http://schemas.openxmlformats.org/drawingml/2006/main">
            <a:r>
              <a:t>          "output": "직무·질문"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"연구행정 지식",</a:t>
            </a:r>
          </a:p>
          <a:p xmlns:a="http://schemas.openxmlformats.org/drawingml/2006/main">
            <a:r>
              <a:t>          "processing": "문서·연구성과·전문가·양식의 색인 구성",</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"직무·질문",</a:t>
            </a:r>
          </a:p>
          <a:p xmlns:a="http://schemas.openxmlformats.org/drawingml/2006/main">
            <a:r>
              <a:t>          "processing": "질의 보정·재정렬·요약·양식별 생성",</a:t>
            </a:r>
          </a:p>
          <a:p xmlns:a="http://schemas.openxmlformats.org/drawingml/2006/main">
            <a:r>
              <a:t>          "output": "정형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"정형 초안",</a:t>
            </a:r>
          </a:p>
          <a:p xmlns:a="http://schemas.openxmlformats.org/drawingml/2006/main">
            <a:r>
              <a:t>          "processing": "원문 근거와 목차·필드가 있는 초안 제공",</a:t>
            </a:r>
          </a:p>
          <a:p xmlns:a="http://schemas.openxmlformats.org/drawingml/2006/main">
            <a:r>
              <a:t>          "output": "검토 문서"</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"GPU 이중화·모델 롤백·부서별 토큰 계측",</a:t>
            </a:r>
          </a:p>
          <a:p xmlns:a="http://schemas.openxmlformats.org/drawingml/2006/main">
            <a:r>
              <a:t>          "output": "직무별 순위·근거·서식과 모델 전환·복구 결과"</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"GPU 이중화·모델 롤백·부서별 토큰 계측",</a:t>
            </a:r>
          </a:p>
          <a:p xmlns:a="http://schemas.openxmlformats.org/drawingml/2006/main">
            <a:r>
              <a:t>    "status": "RFP 기반 논리 설계",</a:t>
            </a:r>
          </a:p>
          <a:p xmlns:a="http://schemas.openxmlformats.org/drawingml/2006/main">
            <a:r>
              <a:t>    "basis": "RFP 2026.05 · SFR-007~012",</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"SFR-007~012 / Word T044",</a:t>
            </a:r>
          </a:p>
          <a:p xmlns:a="http://schemas.openxmlformats.org/drawingml/2006/main">
            <a:r>
              <a:t>        "url": "https://www.g2b.go.kr/pn/pnp/pnpe/UntyAtchFile/downloadFile.do?bidPbancNo=R26BK01670411&amp;bidPbancOrd=000&amp;fileType=&amp;fileSeq=1&amp;prcmBsneSeCd=03"</a:t>
            </a:r>
          </a:p>
          <a:p xmlns:a="http://schemas.openxmlformats.org/drawingml/2006/main">
            <a:r>
              <a:t>      }</a:t>
            </a:r>
          </a:p>
          <a:p xmlns:a="http://schemas.openxmlformats.org/drawingml/2006/main">
            <a:r>
              <a:t>    ],</a:t>
            </a:r>
          </a:p>
          <a:p xmlns:a="http://schemas.openxmlformats.org/drawingml/2006/main">
            <a:r>
              <a:t>    "implication": "공식 소속·직무를 검색 순위·서식·업무 도구 선택에 연결하는 개인화",</a:t>
            </a:r>
          </a:p>
          <a:p xmlns:a="http://schemas.openxmlformats.org/drawingml/2006/main">
            <a:r>
              <a:t>    "local": "공식 소속·직무를 검색 순위·서식·업무 도구 선택에 연결하는 개인화",</a:t>
            </a:r>
          </a:p>
          <a:p xmlns:a="http://schemas.openxmlformats.org/drawingml/2006/main">
            <a:r>
              <a:t>    "sourceDetail": "소속·직무·검색이력·업무 기반 검색 재정렬, 양식/목차/입력 구조화, GPU 이중화·모델 롤백·부서별 토큰 비용",</a:t>
            </a:r>
          </a:p>
          <a:p xmlns:a="http://schemas.openxmlformats.org/drawingml/2006/main">
            <a:r>
              <a:t>    "narrative": [</a:t>
            </a:r>
          </a:p>
          <a:p xmlns:a="http://schemas.openxmlformats.org/drawingml/2006/main">
            <a:r>
              <a:t>      "생산기술연구원의 기존 연구행정 검색·AI 환경에 직무별 검색, 에이전트 처리, 문서 생성, 운영 관리 기능을 추가하는 고도화. 연구직과 행정직의 관심 자료가 다른 상황에서 동일 질의의 결과 순서를 다르게 구성하는 요구가 핵심.",</a:t>
            </a:r>
          </a:p>
          <a:p xmlns:a="http://schemas.openxmlformats.org/drawingml/2006/main">
            <a:r>
              <a:t>      "SFR-007은 부서·직무·검색 이력·진행 업무를 이용한 검색 최적화, SFR-009는 복합 질문의 태스크 분해와 도메인 에이전트 호출, SFR-010은 문서 양식·필수 항목·내부 과제정보의 결합을 요구. 인사 연동과 역할별 접근제어를 검색 추천보다 먼저 연결하는 설계.",</a:t>
            </a:r>
          </a:p>
          <a:p xmlns:a="http://schemas.openxmlformats.org/drawingml/2006/main">
            <a:r>
              <a:t>      "TS 조직 네이티브 AI와 직접 비교할 지점은 공식 소속·직무를 검색 문맥으로 사용하는 방식. 추천 순위 개선과 접근권한 확대를 분리하고, 전보 전후 동일 질의의 검색 범위·서식·근거 차이를 검수할 필요. 기존 검색·LLM의 재사용과 조직 매핑 추가분의 구분."</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"SFR-002",</a:t>
            </a:r>
          </a:p>
          <a:p xmlns:a="http://schemas.openxmlformats.org/drawingml/2006/main">
            <a:r>
              <a:t>        "title": "Agent 일반 사항",</a:t>
            </a:r>
          </a:p>
          <a:p xmlns:a="http://schemas.openxmlformats.org/drawingml/2006/main">
            <a:r>
              <a:t>        "locator": "SFR-002",</a:t>
            </a:r>
          </a:p>
          <a:p xmlns:a="http://schemas.openxmlformats.org/drawingml/2006/main">
            <a:r>
              <a:t>        "summary": "MCP 도구 등을 이용한 에이전트 실행의 공통 기능 구성. 업무 요청과 도구 호출의 연결 관리.",</a:t>
            </a:r>
          </a:p>
          <a:p xmlns:a="http://schemas.openxmlformats.org/drawingml/2006/main">
            <a:r>
              <a:t>        "data": "업무 요청·도구 정의 → 호출 계획·도구 결과",</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"C07"</a:t>
            </a:r>
          </a:p>
          <a:p xmlns:a="http://schemas.openxmlformats.org/drawingml/2006/main">
            <a:r>
              <a:t>        ],</a:t>
            </a:r>
          </a:p>
          <a:p xmlns:a="http://schemas.openxmlformats.org/drawingml/2006/main">
            <a:r>
              <a:t>        "acceptance": "미등록 도구·잘못된 인자·호출 실패 상황의 실행 보류와 오류 반환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"600876c2133d5557fe295a881eb90450c3e422b7ff02c531aaeae32498f9894f"</a:t>
            </a:r>
          </a:p>
          <a:p xmlns:a="http://schemas.openxmlformats.org/drawingml/2006/main">
            <a:r>
              <a:t>      },</a:t>
            </a:r>
          </a:p>
          <a:p xmlns:a="http://schemas.openxmlformats.org/drawingml/2006/main">
            <a:r>
              <a:t>      {</a:t>
            </a:r>
          </a:p>
          <a:p xmlns:a="http://schemas.openxmlformats.org/drawingml/2006/main">
            <a:r>
              <a:t>        "id": "SFR-003",</a:t>
            </a:r>
          </a:p>
          <a:p xmlns:a="http://schemas.openxmlformats.org/drawingml/2006/main">
            <a:r>
              <a:t>        "title": "접근 및 권한관리",</a:t>
            </a:r>
          </a:p>
          <a:p xmlns:a="http://schemas.openxmlformats.org/drawingml/2006/main">
            <a:r>
              <a:t>        "locator": "SFR-003",</a:t>
            </a:r>
          </a:p>
          <a:p xmlns:a="http://schemas.openxmlformats.org/drawingml/2006/main">
            <a:r>
              <a:t>        "summary": "인사·조직 정보를 반영한 접근 및 권한 관리. 사용자 역할에 맞는 데이터·기능 범위 적용.",</a:t>
            </a:r>
          </a:p>
          <a:p xmlns:a="http://schemas.openxmlformats.org/drawingml/2006/main">
            <a:r>
              <a:t>        "data": "직원·부서·역할 → 허용 데이터·기능",</a:t>
            </a:r>
          </a:p>
          <a:p xmlns:a="http://schemas.openxmlformats.org/drawingml/2006/main">
            <a:r>
              <a:t>        "components": [</a:t>
            </a:r>
          </a:p>
          <a:p xmlns:a="http://schemas.openxmlformats.org/drawingml/2006/main">
            <a:r>
              <a:t>          "C02",</a:t>
            </a:r>
          </a:p>
          <a:p xmlns:a="http://schemas.openxmlformats.org/drawingml/2006/main">
            <a:r>
              <a:t>          "C12"</a:t>
            </a:r>
          </a:p>
          <a:p xmlns:a="http://schemas.openxmlformats.org/drawingml/2006/main">
            <a:r>
              <a:t>        ],</a:t>
            </a:r>
          </a:p>
          <a:p xmlns:a="http://schemas.openxmlformats.org/drawingml/2006/main">
            <a:r>
              <a:t>        "acceptance": "전보·겸직·퇴직·권한 해제 시 검색과 실행 양쪽의 접근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"04990216c1150703cd093e78e1cf6629542fbdaca4c97f9dca5f8e4f3b400cce"</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"데이터 통합 파이프라인 구축",</a:t>
            </a:r>
          </a:p>
          <a:p xmlns:a="http://schemas.openxmlformats.org/drawingml/2006/main">
            <a:r>
              <a:t>        "locator": "SFR-004",</a:t>
            </a:r>
          </a:p>
          <a:p xmlns:a="http://schemas.openxmlformats.org/drawingml/2006/main">
            <a:r>
              <a:t>        "summary": "분산 데이터를 수집·정제·연계하는 통합 파이프라인 구축.",</a:t>
            </a:r>
          </a:p>
          <a:p xmlns:a="http://schemas.openxmlformats.org/drawingml/2006/main">
            <a:r>
              <a:t>        "data": "업무 원천·메타데이터 → 검색·AI 활용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"파일 형식 오류·중복·갱신·삭제 자료의 재처리와 원천-색인 건수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"e23449e0d4bf6fe973e547277bd671a1db47129f3f697fe40e3653855a967d51"</a:t>
            </a:r>
          </a:p>
          <a:p xmlns:a="http://schemas.openxmlformats.org/drawingml/2006/main">
            <a:r>
              <a:t>      },</a:t>
            </a:r>
          </a:p>
          <a:p xmlns:a="http://schemas.openxmlformats.org/drawingml/2006/main">
            <a:r>
              <a:t>      {</a:t>
            </a:r>
          </a:p>
          <a:p xmlns:a="http://schemas.openxmlformats.org/drawingml/2006/main">
            <a:r>
              <a:t>        "id": "SFR-007",</a:t>
            </a:r>
          </a:p>
          <a:p xmlns:a="http://schemas.openxmlformats.org/drawingml/2006/main">
            <a:r>
              <a:t>        "title": "AI 기반 지능형 검색 서비스",</a:t>
            </a:r>
          </a:p>
          <a:p xmlns:a="http://schemas.openxmlformats.org/drawingml/2006/main">
            <a:r>
              <a:t>        "locator": "SFR-007",</a:t>
            </a:r>
          </a:p>
          <a:p xmlns:a="http://schemas.openxmlformats.org/drawingml/2006/main">
            <a:r>
              <a:t>        "summary": "부서·직무·사용 이력 등을 반영한 AI 검색과 결과 재정렬.",</a:t>
            </a:r>
          </a:p>
          <a:p xmlns:a="http://schemas.openxmlformats.org/drawingml/2006/main">
            <a:r>
              <a:t>        "data": "동일 질의·다른 직무 문맥 → 직무별 관련 근거 순위",</a:t>
            </a:r>
          </a:p>
          <a:p xmlns:a="http://schemas.openxmlformats.org/drawingml/2006/main">
            <a:r>
              <a:t>        "components": [</a:t>
            </a:r>
          </a:p>
          <a:p xmlns:a="http://schemas.openxmlformats.org/drawingml/2006/main">
            <a:r>
              <a:t>          "C02",</a:t>
            </a:r>
          </a:p>
          <a:p xmlns:a="http://schemas.openxmlformats.org/drawingml/2006/main">
            <a:r>
              <a:t>          "C03",</a:t>
            </a:r>
          </a:p>
          <a:p xmlns:a="http://schemas.openxmlformats.org/drawingml/2006/main">
            <a:r>
              <a:t>          "C11"</a:t>
            </a:r>
          </a:p>
          <a:p xmlns:a="http://schemas.openxmlformats.org/drawingml/2006/main">
            <a:r>
              <a:t>        ],</a:t>
            </a:r>
          </a:p>
          <a:p xmlns:a="http://schemas.openxmlformats.org/drawingml/2006/main">
            <a:r>
              <a:t>        "acceptance": "연구직·행정직의 동일 질의에서 관련성 변화와 권한 밖 결과 제외를 함께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"3e12718b7b492badc155b10cf84e1b67c500d44a7c8333c9b026c5a4dea691ad"</a:t>
            </a:r>
          </a:p>
          <a:p xmlns:a="http://schemas.openxmlformats.org/drawingml/2006/main">
            <a:r>
              <a:t>      },</a:t>
            </a:r>
          </a:p>
          <a:p xmlns:a="http://schemas.openxmlformats.org/drawingml/2006/main">
            <a:r>
              <a:t>      {</a:t>
            </a:r>
          </a:p>
          <a:p xmlns:a="http://schemas.openxmlformats.org/drawingml/2006/main">
            <a:r>
              <a:t>        "id": "SFR-008",</a:t>
            </a:r>
          </a:p>
          <a:p xmlns:a="http://schemas.openxmlformats.org/drawingml/2006/main">
            <a:r>
              <a:t>        "title": "멀티 모델 적용",</a:t>
            </a:r>
          </a:p>
          <a:p xmlns:a="http://schemas.openxmlformats.org/drawingml/2006/main">
            <a:r>
              <a:t>        "locator": "SFR-008",</a:t>
            </a:r>
          </a:p>
          <a:p xmlns:a="http://schemas.openxmlformats.org/drawingml/2006/main">
            <a:r>
              <a:t>        "summary": "복수 모델의 적용·선택·비교를 지원하는 멀티모델 구조.",</a:t>
            </a:r>
          </a:p>
          <a:p xmlns:a="http://schemas.openxmlformats.org/drawingml/2006/main">
            <a:r>
              <a:t>        "data": "업무 유형·모델 설정 → 모델별 결과·비교 기록",</a:t>
            </a:r>
          </a:p>
          <a:p xmlns:a="http://schemas.openxmlformats.org/drawingml/2006/main">
            <a:r>
              <a:t>        "components": [</a:t>
            </a:r>
          </a:p>
          <a:p xmlns:a="http://schemas.openxmlformats.org/drawingml/2006/main">
            <a:r>
              <a:t>          "C04",</a:t>
            </a:r>
          </a:p>
          <a:p xmlns:a="http://schemas.openxmlformats.org/drawingml/2006/main">
            <a:r>
              <a:t>          "C08"</a:t>
            </a:r>
          </a:p>
          <a:p xmlns:a="http://schemas.openxmlformats.org/drawingml/2006/main">
            <a:r>
              <a:t>        ],</a:t>
            </a:r>
          </a:p>
          <a:p xmlns:a="http://schemas.openxmlformats.org/drawingml/2006/main">
            <a:r>
              <a:t>        "acceptance": "같은 입력의 모델별 정확성·시간·비용과 오류 발생 시 처리 경로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"a446f7c2f5ef6677204833f37fa4bbda4bae700a5c3c1b2e4e8a729dc569f518"</a:t>
            </a:r>
          </a:p>
          <a:p xmlns:a="http://schemas.openxmlformats.org/drawingml/2006/main">
            <a:r>
              <a:t>      },</a:t>
            </a:r>
          </a:p>
          <a:p xmlns:a="http://schemas.openxmlformats.org/drawingml/2006/main">
            <a:r>
              <a:t>      {</a:t>
            </a:r>
          </a:p>
          <a:p xmlns:a="http://schemas.openxmlformats.org/drawingml/2006/main">
            <a:r>
              <a:t>        "id": "SFR-009",</a:t>
            </a:r>
          </a:p>
          <a:p xmlns:a="http://schemas.openxmlformats.org/drawingml/2006/main">
            <a:r>
              <a:t>        "title": "지능형 질의응답 고도화 체계 구축",</a:t>
            </a:r>
          </a:p>
          <a:p xmlns:a="http://schemas.openxmlformats.org/drawingml/2006/main">
            <a:r>
              <a:t>        "locator": "SFR-009",</a:t>
            </a:r>
          </a:p>
          <a:p xmlns:a="http://schemas.openxmlformats.org/drawingml/2006/main">
            <a:r>
              <a:t>        "summary": "질의의 업무 계획 수립과 도메인 에이전트 연결을 통한 질의응답 고도화.",</a:t>
            </a:r>
          </a:p>
          <a:p xmlns:a="http://schemas.openxmlformats.org/drawingml/2006/main">
            <a:r>
              <a:t>        "data": "복합 업무 질의 → 단계별 계획·도구 결과·응답",</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"C07"</a:t>
            </a:r>
          </a:p>
          <a:p xmlns:a="http://schemas.openxmlformats.org/drawingml/2006/main">
            <a:r>
              <a:t>        ],</a:t>
            </a:r>
          </a:p>
          <a:p xmlns:a="http://schemas.openxmlformats.org/drawingml/2006/main">
            <a:r>
              <a:t>        "acceptance": "계획 일부 실패·불필요한 도구 호출·담당 영역 혼동 시 중단·재계획 경로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"86afdf5c09bd02dc72865179ec33f762956a14ddf1cf170340996155bdafaf57"</a:t>
            </a:r>
          </a:p>
          <a:p xmlns:a="http://schemas.openxmlformats.org/drawingml/2006/main">
            <a:r>
              <a:t>      },</a:t>
            </a:r>
          </a:p>
          <a:p xmlns:a="http://schemas.openxmlformats.org/drawingml/2006/main">
            <a:r>
              <a:t>      {</a:t>
            </a:r>
          </a:p>
          <a:p xmlns:a="http://schemas.openxmlformats.org/drawingml/2006/main">
            <a:r>
              <a:t>        "id": "SFR-010",</a:t>
            </a:r>
          </a:p>
          <a:p xmlns:a="http://schemas.openxmlformats.org/drawingml/2006/main">
            <a:r>
              <a:t>        "title": "문서 자동 생성 지원",</a:t>
            </a:r>
          </a:p>
          <a:p xmlns:a="http://schemas.openxmlformats.org/drawingml/2006/main">
            <a:r>
              <a:t>        "locator": "SFR-010",</a:t>
            </a:r>
          </a:p>
          <a:p xmlns:a="http://schemas.openxmlformats.org/drawingml/2006/main">
            <a:r>
              <a:t>        "summary": "템플릿·메타데이터·내부 자료를 활용한 정형 문서 생성 지원.",</a:t>
            </a:r>
          </a:p>
          <a:p xmlns:a="http://schemas.openxmlformats.org/drawingml/2006/main">
            <a:r>
              <a:t>        "data": "양식·필수 항목·근거 자료 → 편집 가능한 문서 초안",</a:t>
            </a:r>
          </a:p>
          <a:p xmlns:a="http://schemas.openxmlformats.org/drawingml/2006/main">
            <a:r>
              <a:t>        "components": [</a:t>
            </a:r>
          </a:p>
          <a:p xmlns:a="http://schemas.openxmlformats.org/drawingml/2006/main">
            <a:r>
              <a:t>          "C04",</a:t>
            </a:r>
          </a:p>
          <a:p xmlns:a="http://schemas.openxmlformats.org/drawingml/2006/main">
            <a:r>
              <a:t>          "C05",</a:t>
            </a:r>
          </a:p>
          <a:p xmlns:a="http://schemas.openxmlformats.org/drawingml/2006/main">
            <a:r>
              <a:t>          "C06"</a:t>
            </a:r>
          </a:p>
          <a:p xmlns:a="http://schemas.openxmlformats.org/drawingml/2006/main">
            <a:r>
              <a:t>        ],</a:t>
            </a:r>
          </a:p>
          <a:p xmlns:a="http://schemas.openxmlformats.org/drawingml/2006/main">
            <a:r>
              <a:t>        "acceptance": "필수 항목 누락·다른 양식 판본·숫자 인용 오류의 검출과 사용자 수정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"20df882404a76e75b24ff57eaa67d2d18ca56387f99e065033be13396d4a5f00"</a:t>
            </a:r>
          </a:p>
          <a:p xmlns:a="http://schemas.openxmlformats.org/drawingml/2006/main">
            <a:r>
              <a:t>      },</a:t>
            </a:r>
          </a:p>
          <a:p xmlns:a="http://schemas.openxmlformats.org/drawingml/2006/main">
            <a:r>
              <a:t>      {</a:t>
            </a:r>
          </a:p>
          <a:p xmlns:a="http://schemas.openxmlformats.org/drawingml/2006/main">
            <a:r>
              <a:t>        "id": "SFR-012",</a:t>
            </a:r>
          </a:p>
          <a:p xmlns:a="http://schemas.openxmlformats.org/drawingml/2006/main">
            <a:r>
              <a:t>        "title": "AI 서비스 운영 모니터링 체계구축",</a:t>
            </a:r>
          </a:p>
          <a:p xmlns:a="http://schemas.openxmlformats.org/drawingml/2006/main">
            <a:r>
              <a:t>        "locator": "SFR-012",</a:t>
            </a:r>
          </a:p>
          <a:p xmlns:a="http://schemas.openxmlformats.org/drawingml/2006/main">
            <a:r>
              <a:t>        "summary": "AI 서비스의 처리·이용·품질 상태를 확인하는 운영 모니터링 체계.",</a:t>
            </a:r>
          </a:p>
          <a:p xmlns:a="http://schemas.openxmlformats.org/drawingml/2006/main">
            <a:r>
              <a:t>        "data": "호출·서비스 상태·오류 → 관측 지표·운영 기록",</a:t>
            </a:r>
          </a:p>
          <a:p xmlns:a="http://schemas.openxmlformats.org/drawingml/2006/main">
            <a:r>
              <a:t>        "components": [</a:t>
            </a:r>
          </a:p>
          <a:p xmlns:a="http://schemas.openxmlformats.org/drawingml/2006/main">
            <a:r>
              <a:t>          "C08"</a:t>
            </a:r>
          </a:p>
          <a:p xmlns:a="http://schemas.openxmlformats.org/drawingml/2006/main">
            <a:r>
              <a:t>        ],</a:t>
            </a:r>
          </a:p>
          <a:p xmlns:a="http://schemas.openxmlformats.org/drawingml/2006/main">
            <a:r>
              <a:t>        "acceptance": "한 요청의 검색·모델·도구 단계를 연결해 실패 지점과 지연 원인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"253bfe0e809bb087229cb4b40f86856252a906181714e2b1a1a84d46237d7570"</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"연구행정 접점",</a:t>
            </a:r>
          </a:p>
          <a:p xmlns:a="http://schemas.openxmlformats.org/drawingml/2006/main">
            <a:r>
              <a:t>          "layer": "이용 접점",</a:t>
            </a:r>
          </a:p>
          <a:p xmlns:a="http://schemas.openxmlformats.org/drawingml/2006/main">
            <a:r>
              <a:t>          "detail": "연구직·행정직·플랫폼 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"소속·직무·이력",</a:t>
            </a:r>
          </a:p>
          <a:p xmlns:a="http://schemas.openxmlformats.org/drawingml/2006/main">
            <a:r>
              <a:t>          "layer": "업무 문맥",</a:t>
            </a:r>
          </a:p>
          <a:p xmlns:a="http://schemas.openxmlformats.org/drawingml/2006/main">
            <a:r>
              <a:t>          "detail": "소속·직무·검색 이력·진행업무 연결",</a:t>
            </a:r>
          </a:p>
          <a:p xmlns:a="http://schemas.openxmlformats.org/drawingml/2006/main">
            <a:r>
              <a:t>          "requirements": [</a:t>
            </a:r>
          </a:p>
          <a:p xmlns:a="http://schemas.openxmlformats.org/drawingml/2006/main">
            <a:r>
              <a:t>            "SFR-002",</a:t>
            </a:r>
          </a:p>
          <a:p xmlns:a="http://schemas.openxmlformats.org/drawingml/2006/main">
            <a:r>
              <a:t>            "SFR-003",</a:t>
            </a:r>
          </a:p>
          <a:p xmlns:a="http://schemas.openxmlformats.org/drawingml/2006/main">
            <a:r>
              <a:t>            "SFR-007",</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"업무 검색 재정렬",</a:t>
            </a:r>
          </a:p>
          <a:p xmlns:a="http://schemas.openxmlformats.org/drawingml/2006/main">
            <a:r>
              <a:t>          "layer": "자료 조회",</a:t>
            </a:r>
          </a:p>
          <a:p xmlns:a="http://schemas.openxmlformats.org/drawingml/2006/main">
            <a:r>
              <a:t>          "detail": "직무·질문",</a:t>
            </a:r>
          </a:p>
          <a:p xmlns:a="http://schemas.openxmlformats.org/drawingml/2006/main">
            <a:r>
              <a:t>          "requirements": [</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"에이전트·정형 생성",</a:t>
            </a:r>
          </a:p>
          <a:p xmlns:a="http://schemas.openxmlformats.org/drawingml/2006/main">
            <a:r>
              <a:t>          "layer": "핵심 처리",</a:t>
            </a:r>
          </a:p>
          <a:p xmlns:a="http://schemas.openxmlformats.org/drawingml/2006/main">
            <a:r>
              <a:t>          "detail": "질의 보정·재정렬·요약·양식별 생성",</a:t>
            </a:r>
          </a:p>
          <a:p xmlns:a="http://schemas.openxmlformats.org/drawingml/2006/main">
            <a:r>
              <a:t>          "requirements": [</a:t>
            </a:r>
          </a:p>
          <a:p xmlns:a="http://schemas.openxmlformats.org/drawingml/2006/main">
            <a:r>
              <a:t>            "SFR-002",</a:t>
            </a:r>
          </a:p>
          <a:p xmlns:a="http://schemas.openxmlformats.org/drawingml/2006/main">
            <a:r>
              <a:t>            "SFR-008",</a:t>
            </a:r>
          </a:p>
          <a:p xmlns:a="http://schemas.openxmlformats.org/drawingml/2006/main">
            <a:r>
              <a:t>            "SFR-009",</a:t>
            </a:r>
          </a:p>
          <a:p xmlns:a="http://schemas.openxmlformats.org/drawingml/2006/main">
            <a:r>
              <a:t>            "SFR-010"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"양식·근거 검사",</a:t>
            </a:r>
          </a:p>
          <a:p xmlns:a="http://schemas.openxmlformats.org/drawingml/2006/main">
            <a:r>
              <a:t>          "layer": "결과 검증",</a:t>
            </a:r>
          </a:p>
          <a:p xmlns:a="http://schemas.openxmlformats.org/drawingml/2006/main">
            <a:r>
              <a:t>          "detail": "기존 검색 대비 근거·완료시간 평가",</a:t>
            </a:r>
          </a:p>
          <a:p xmlns:a="http://schemas.openxmlformats.org/drawingml/2006/main">
            <a:r>
              <a:t>          "requirements": [</a:t>
            </a:r>
          </a:p>
          <a:p xmlns:a="http://schemas.openxmlformats.org/drawingml/2006/main">
            <a:r>
              <a:t>            "SFR-010"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"작성 담당 확인",</a:t>
            </a:r>
          </a:p>
          <a:p xmlns:a="http://schemas.openxmlformats.org/drawingml/2006/main">
            <a:r>
              <a:t>          "layer": "사람 확인",</a:t>
            </a:r>
          </a:p>
          <a:p xmlns:a="http://schemas.openxmlformats.org/drawingml/2006/main">
            <a:r>
              <a:t>          "detail": "동일 질의를 연구직·행정직 계정으로 실행해 검색·서식 비교",</a:t>
            </a:r>
          </a:p>
          <a:p xmlns:a="http://schemas.openxmlformats.org/drawingml/2006/main">
            <a:r>
              <a:t>          "requirements": [</a:t>
            </a:r>
          </a:p>
          <a:p xmlns:a="http://schemas.openxmlformats.org/drawingml/2006/main">
            <a:r>
              <a:t>            "SFR-010"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"문서 업무 연결",</a:t>
            </a:r>
          </a:p>
          <a:p xmlns:a="http://schemas.openxmlformats.org/drawingml/2006/main">
            <a:r>
              <a:t>          "layer": "업무 연결",</a:t>
            </a:r>
          </a:p>
          <a:p xmlns:a="http://schemas.openxmlformats.org/drawingml/2006/main">
            <a:r>
              <a:t>          "detail": "원문 근거와 목차·필드가 있는 초안 제공",</a:t>
            </a:r>
          </a:p>
          <a:p xmlns:a="http://schemas.openxmlformats.org/drawingml/2006/main">
            <a:r>
              <a:t>          "requirements": [</a:t>
            </a:r>
          </a:p>
          <a:p xmlns:a="http://schemas.openxmlformats.org/drawingml/2006/main">
            <a:r>
              <a:t>            "SFR-002",</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"토큰·회귀 평가",</a:t>
            </a:r>
          </a:p>
          <a:p xmlns:a="http://schemas.openxmlformats.org/drawingml/2006/main">
            <a:r>
              <a:t>          "layer": "운영 관측",</a:t>
            </a:r>
          </a:p>
          <a:p xmlns:a="http://schemas.openxmlformats.org/drawingml/2006/main">
            <a:r>
              <a:t>          "detail": "GPU 이중화·모델 롤백·부서별 토큰 계측",</a:t>
            </a:r>
          </a:p>
          <a:p xmlns:a="http://schemas.openxmlformats.org/drawingml/2006/main">
            <a:r>
              <a:t>          "requirements": [</a:t>
            </a:r>
          </a:p>
          <a:p xmlns:a="http://schemas.openxmlformats.org/drawingml/2006/main">
            <a:r>
              <a:t>            "SFR-008",</a:t>
            </a:r>
          </a:p>
          <a:p xmlns:a="http://schemas.openxmlformats.org/drawingml/2006/main">
            <a:r>
              <a:t>            "SFR-012"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"연구행정 자료",</a:t>
            </a:r>
          </a:p>
          <a:p xmlns:a="http://schemas.openxmlformats.org/drawingml/2006/main">
            <a:r>
              <a:t>          "layer": "데이터 원천",</a:t>
            </a:r>
          </a:p>
          <a:p xmlns:a="http://schemas.openxmlformats.org/drawingml/2006/main">
            <a:r>
              <a:t>          "detail": "연구행정 지식",</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"목차·문서 구조화",</a:t>
            </a:r>
          </a:p>
          <a:p xmlns:a="http://schemas.openxmlformats.org/drawingml/2006/main">
            <a:r>
              <a:t>          "layer": "준비·갱신",</a:t>
            </a:r>
          </a:p>
          <a:p xmlns:a="http://schemas.openxmlformats.org/drawingml/2006/main">
            <a:r>
              <a:t>          "detail": "문서·연구성과·전문가·양식의 색인 구성",</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"허용 지식·색인",</a:t>
            </a:r>
          </a:p>
          <a:p xmlns:a="http://schemas.openxmlformats.org/drawingml/2006/main">
            <a:r>
              <a:t>          "layer": "상태·지식 저장",</a:t>
            </a:r>
          </a:p>
          <a:p xmlns:a="http://schemas.openxmlformats.org/drawingml/2006/main">
            <a:r>
              <a:t>          "detail": "직무별 순위·근거·서식과 모델 전환·복구 결과",</a:t>
            </a:r>
          </a:p>
          <a:p xmlns:a="http://schemas.openxmlformats.org/drawingml/2006/main">
            <a:r>
              <a:t>          "requirements": [</a:t>
            </a:r>
          </a:p>
          <a:p xmlns:a="http://schemas.openxmlformats.org/drawingml/2006/main">
            <a:r>
              <a:t>            "SFR-004",</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"모델·롤백 정책",</a:t>
            </a:r>
          </a:p>
          <a:p xmlns:a="http://schemas.openxmlformats.org/drawingml/2006/main">
            <a:r>
              <a:t>          "layer": "권한·정책",</a:t>
            </a:r>
          </a:p>
          <a:p xmlns:a="http://schemas.openxmlformats.org/drawingml/2006/main">
            <a:r>
              <a:t>          "detail": "전보 전 캐시·권한 없는 연구자료·모델 장애",</a:t>
            </a:r>
          </a:p>
          <a:p xmlns:a="http://schemas.openxmlformats.org/drawingml/2006/main">
            <a:r>
              <a:t>          "requirements": [</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"소속·직무·검색 이력·진행업무 연결",</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"직무·질문",</a:t>
            </a:r>
          </a:p>
          <a:p xmlns:a="http://schemas.openxmlformats.org/drawingml/2006/main">
            <a:r>
              <a:t>          "check": "기존 검색 대비 근거·완료시간 평가"</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"재정렬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"정형 초안",</a:t>
            </a:r>
          </a:p>
          <a:p xmlns:a="http://schemas.openxmlformats.org/drawingml/2006/main">
            <a:r>
              <a:t>          "check": "전보 전 캐시·권한 없는 연구자료·모델 장애"</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"정형 초안",</a:t>
            </a:r>
          </a:p>
          <a:p xmlns:a="http://schemas.openxmlformats.org/drawingml/2006/main">
            <a:r>
              <a:t>          "check": "원문 근거와 목차·필드가 있는 초안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 문서",</a:t>
            </a:r>
          </a:p>
          <a:p xmlns:a="http://schemas.openxmlformats.org/drawingml/2006/main">
            <a:r>
              <a:t>          "check": "직무별 순위·근거·서식과 모델 전환·복구 결과"</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"SFR-007~012",</a:t>
            </a:r>
          </a:p>
          <a:p xmlns:a="http://schemas.openxmlformats.org/drawingml/2006/main">
            <a:r>
              <a:t>        "extracted": "부서·직무·검색이력을 이용한 재정렬과 정형 문서 생성",</a:t>
            </a:r>
          </a:p>
          <a:p xmlns:a="http://schemas.openxmlformats.org/drawingml/2006/main">
            <a:r>
              <a:t>        "extension": "검색 이력의 권한 확대 방지와 이전 모델 복귀 시험"</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"PF-R03",</a:t>
            </a:r>
          </a:p>
          <a:p xmlns:a="http://schemas.openxmlformats.org/drawingml/2006/main">
            <a:r>
              <a:t>          "path": "assets/casebook-sources/PF-R03-01.png",</a:t>
            </a:r>
          </a:p>
          <a:p xmlns:a="http://schemas.openxmlformats.org/drawingml/2006/main">
            <a:r>
              <a:t>          "title": "생산기술연구원 정보시스템 연계",</a:t>
            </a:r>
          </a:p>
          <a:p xmlns:a="http://schemas.openxmlformats.org/drawingml/2006/main">
            <a:r>
              <a:t>          "status": "RFP 수록 기존 정보시스템 현황",</a:t>
            </a:r>
          </a:p>
          <a:p xmlns:a="http://schemas.openxmlformats.org/drawingml/2006/main">
            <a:r>
              <a:t>          "caption": "연구행정·경영정보·업무지원·지능형 포털 간 연계",</a:t>
            </a:r>
          </a:p>
          <a:p xmlns:a="http://schemas.openxmlformats.org/drawingml/2006/main">
            <a:r>
              <a:t>          "locator": "rId13 / BinData/BIN0002_png",</a:t>
            </a:r>
          </a:p>
          <a:p xmlns:a="http://schemas.openxmlformats.org/drawingml/2006/main">
            <a:r>
              <a:t>          "checked": "2026-10-16",</a:t>
            </a:r>
          </a:p>
          <a:p xmlns:a="http://schemas.openxmlformats.org/drawingml/2006/main">
            <a:r>
              <a:t>          "sha256": "0b49ad15a2d50888b15fdc4d6bb439874425106d7d0a2cf9b92b1c3debb0025b",</a:t>
            </a:r>
          </a:p>
          <a:p xmlns:a="http://schemas.openxmlformats.org/drawingml/2006/main">
            <a:r>
              <a:t>          "explanation": {</a:t>
            </a:r>
          </a:p>
          <a:p xmlns:a="http://schemas.openxmlformats.org/drawingml/2006/main">
            <a:r>
              <a:t>            "read": "연구행정·경영정보·업무지원과 지능형 포털의 기존 연결 현황. 새 AI 모델의 배치도가 아니라 어떤 업무 데이터와 시스템을 고도화 시 연결해야 하는지를 보여 주는 원문.",</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"SFR-007",</a:t>
            </a:r>
          </a:p>
          <a:p xmlns:a="http://schemas.openxmlformats.org/drawingml/2006/main">
            <a:r>
              <a:t>              "SFR-010"</a:t>
            </a:r>
          </a:p>
          <a:p xmlns:a="http://schemas.openxmlformats.org/drawingml/2006/main">
            <a:r>
              <a:t>            ],</a:t>
            </a:r>
          </a:p>
          <a:p xmlns:a="http://schemas.openxmlformats.org/drawingml/2006/main">
            <a:r>
              <a:t>            "connection": "기존 사용자·조직·권한과 연구행정 자료를 재사용하고 직무별 검색, 도메인 도구, 정형 문서 생성을 추가하는 대상 경계의 설정."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"전보 전 캐시·권한 없는 연구자료·모델 장애",</a:t>
            </a:r>
          </a:p>
          <a:p xmlns:a="http://schemas.openxmlformats.org/drawingml/2006/main">
            <a:r>
              <a:t>        "hold": "기존 검색 대비 근거·완료시간 평가",</a:t>
            </a:r>
          </a:p>
          <a:p xmlns:a="http://schemas.openxmlformats.org/drawingml/2006/main">
            <a:r>
              <a:t>        "recovery": "GPU 이중화·모델 롤백·부서별 토큰 계측",</a:t>
            </a:r>
          </a:p>
          <a:p xmlns:a="http://schemas.openxmlformats.org/drawingml/2006/main">
            <a:r>
              <a:t>        "evidence": "직무별 순위·근거·서식과 모델 전환·복구 결과"</a:t>
            </a:r>
          </a:p>
          <a:p xmlns:a="http://schemas.openxmlformats.org/drawingml/2006/main">
            <a:r>
              <a:t>      },</a:t>
            </a:r>
          </a:p>
          <a:p xmlns:a="http://schemas.openxmlformats.org/drawingml/2006/main">
            <a:r>
              <a:t>      "data": {</a:t>
            </a:r>
          </a:p>
          <a:p xmlns:a="http://schemas.openxmlformats.org/drawingml/2006/main">
            <a:r>
              <a:t>        "source": "연구행정 지식",</a:t>
            </a:r>
          </a:p>
          <a:p xmlns:a="http://schemas.openxmlformats.org/drawingml/2006/main">
            <a:r>
              <a:t>        "prepare": "문서·연구성과·전문가·양식의 색인 구성",</a:t>
            </a:r>
          </a:p>
          <a:p xmlns:a="http://schemas.openxmlformats.org/drawingml/2006/main">
            <a:r>
              <a:t>        "output": "직무·질문",</a:t>
            </a:r>
          </a:p>
          <a:p xmlns:a="http://schemas.openxmlformats.org/drawingml/2006/main">
            <a:r>
              <a:t>        "refresh": "GPU 이중화·모델 롤백·부서별 토큰 계측"</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"PF-R03",</a:t>
            </a:r>
          </a:p>
          <a:p xmlns:a="http://schemas.openxmlformats.org/drawingml/2006/main">
            <a:r>
              <a:t>    "success": [</a:t>
            </a:r>
          </a:p>
          <a:p xmlns:a="http://schemas.openxmlformats.org/drawingml/2006/main">
            <a:r>
              <a:t>      "기존 연구행정 검색의 고도화",</a:t>
            </a:r>
          </a:p>
          <a:p xmlns:a="http://schemas.openxmlformats.org/drawingml/2006/main">
            <a:r>
              <a:t>      "업무별 에이전트·정형 출력 구성"</a:t>
            </a:r>
          </a:p>
          <a:p xmlns:a="http://schemas.openxmlformats.org/drawingml/2006/main">
            <a:r>
              <a:t>    ],</a:t>
            </a:r>
          </a:p>
          <a:p xmlns:a="http://schemas.openxmlformats.org/drawingml/2006/main">
            <a:r>
              <a:t>    "risks": [</a:t>
            </a:r>
          </a:p>
          <a:p xmlns:a="http://schemas.openxmlformats.org/drawingml/2006/main">
            <a:r>
              <a:t>      "검색 재정렬의 근거 누락",</a:t>
            </a:r>
          </a:p>
          <a:p xmlns:a="http://schemas.openxmlformats.org/drawingml/2006/main">
            <a:r>
              <a:t>      "후속 공고와 도입 완료의 혼동"</a:t>
            </a:r>
          </a:p>
          <a:p xmlns:a="http://schemas.openxmlformats.org/drawingml/2006/main">
            <a:r>
              <a:t>    ],</a:t>
            </a:r>
          </a:p>
          <a:p xmlns:a="http://schemas.openxmlformats.org/drawingml/2006/main">
            <a:r>
              <a:t>    "architecture": [</a:t>
            </a:r>
          </a:p>
          <a:p xmlns:a="http://schemas.openxmlformats.org/drawingml/2006/main">
            <a:r>
              <a:t>      "연구행정 사용자",</a:t>
            </a:r>
          </a:p>
          <a:p xmlns:a="http://schemas.openxmlformats.org/drawingml/2006/main">
            <a:r>
              <a:t>      "검색·업무 에이전트",</a:t>
            </a:r>
          </a:p>
          <a:p xmlns:a="http://schemas.openxmlformats.org/drawingml/2006/main">
            <a:r>
              <a:t>      "연구행정 지식",</a:t>
            </a:r>
          </a:p>
          <a:p xmlns:a="http://schemas.openxmlformats.org/drawingml/2006/main">
            <a:r>
              <a:t>      "문서 작성 담당"</a:t>
            </a:r>
          </a:p>
          <a:p xmlns:a="http://schemas.openxmlformats.org/drawingml/2006/main">
            <a:r>
              <a:t>    ],</a:t>
            </a:r>
          </a:p>
          <a:p xmlns:a="http://schemas.openxmlformats.org/drawingml/2006/main">
            <a:r>
              <a:t>    "transfers": [</a:t>
            </a:r>
          </a:p>
          <a:p xmlns:a="http://schemas.openxmlformats.org/drawingml/2006/main">
            <a:r>
              <a:t>      "직무·질문",</a:t>
            </a:r>
          </a:p>
          <a:p xmlns:a="http://schemas.openxmlformats.org/drawingml/2006/main">
            <a:r>
              <a:t>      "재정렬 근거",</a:t>
            </a:r>
          </a:p>
          <a:p xmlns:a="http://schemas.openxmlformats.org/drawingml/2006/main">
            <a:r>
              <a:t>      "정형 초안",</a:t>
            </a:r>
          </a:p>
          <a:p xmlns:a="http://schemas.openxmlformats.org/drawingml/2006/main">
            <a:r>
              <a:t>      "검토 문서"</a:t>
            </a:r>
          </a:p>
          <a:p xmlns:a="http://schemas.openxmlformats.org/drawingml/2006/main">
            <a:r>
              <a:t>    ],</a:t>
            </a:r>
          </a:p>
          <a:p xmlns:a="http://schemas.openxmlformats.org/drawingml/2006/main">
            <a:r>
              <a:t>    "control": "기존 검색 대비 근거·완료시간 평가",</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SFR-007~012 / Word T044 https://www.g2b.go.kr/pn/pnp/pnpe/UntyAtchFile/downloadFile.do?bidPbancNo=R26BK01670411&amp;bidPbancOrd=000&amp;fileType=&amp;fileSeq=1&amp;prcmBsneSeCd=03</a:t>
            </a:r>
          </a:p>
          <a:p xmlns:a="http://schemas.openxmlformats.org/drawingml/2006/main">
            <a:r>
              <a:t>홈페이지 https://heen1987-ops.github.io/TS-business-Plan-001/index.html?view=platform-cases&amp;case=PF-R03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"PF-R03",</a:t>
            </a:r>
          </a:p>
          <a:p xmlns:a="http://schemas.openxmlformats.org/drawingml/2006/main">
            <a:r>
              <a:t>    "sourceId": "R03",</a:t>
            </a:r>
          </a:p>
          <a:p xmlns:a="http://schemas.openxmlformats.org/drawingml/2006/main">
            <a:r>
              <a:t>    "title": "생산기술연구원 AI 고도화",</a:t>
            </a:r>
          </a:p>
          <a:p xmlns:a="http://schemas.openxmlformats.org/drawingml/2006/main">
            <a:r>
              <a:t>    "region": "국내",</a:t>
            </a:r>
          </a:p>
          <a:p xmlns:a="http://schemas.openxmlformats.org/drawingml/2006/main">
            <a:r>
              <a:t>    "owner": "한국생산기술연구원",</a:t>
            </a:r>
          </a:p>
          <a:p xmlns:a="http://schemas.openxmlformats.org/drawingml/2006/main">
            <a:r>
              <a:t>    "state": "후속 공고 RFP 확인 / 계약·운영 미확인",</a:t>
            </a:r>
          </a:p>
          <a:p xmlns:a="http://schemas.openxmlformats.org/drawingml/2006/main">
            <a:r>
              <a:t>    "period": "기존 원장 확인 2026.10.16",</a:t>
            </a:r>
          </a:p>
          <a:p xmlns:a="http://schemas.openxmlformats.org/drawingml/2006/main">
            <a:r>
              <a:t>    "fact": "기존 연구행정 AI 고도화: 지능형 검색·멀티모델·도메인 에이전트·정형 문서 생성",</a:t>
            </a:r>
          </a:p>
          <a:p xmlns:a="http://schemas.openxmlformats.org/drawingml/2006/main">
            <a:r>
              <a:t>    "limit": "연구원 외부 TechGPT 성과와 본 내부사업을 혼동하지 않음",</a:t>
            </a:r>
          </a:p>
          <a:p xmlns:a="http://schemas.openxmlformats.org/drawingml/2006/main">
            <a:r>
              <a:t>    "nodes": [</a:t>
            </a:r>
          </a:p>
          <a:p xmlns:a="http://schemas.openxmlformats.org/drawingml/2006/main">
            <a:r>
              <a:t>      "직원·직무",</a:t>
            </a:r>
          </a:p>
          <a:p xmlns:a="http://schemas.openxmlformats.org/drawingml/2006/main">
            <a:r>
              <a:t>      "검색 재정렬",</a:t>
            </a:r>
          </a:p>
          <a:p xmlns:a="http://schemas.openxmlformats.org/drawingml/2006/main">
            <a:r>
              <a:t>      "업무 에이전트",</a:t>
            </a:r>
          </a:p>
          <a:p xmlns:a="http://schemas.openxmlformats.org/drawingml/2006/main">
            <a:r>
              <a:t>      "문서·운영 관리"</a:t>
            </a:r>
          </a:p>
          <a:p xmlns:a="http://schemas.openxmlformats.org/drawingml/2006/main">
            <a:r>
              <a:t>    ],</a:t>
            </a:r>
          </a:p>
          <a:p xmlns:a="http://schemas.openxmlformats.org/drawingml/2006/main">
            <a:r>
              <a:t>    "apply": "공식 소속·직무를 검색 순위·서식·업무 도구 선택에 연결하는 개인화",</a:t>
            </a:r>
          </a:p>
          <a:p xmlns:a="http://schemas.openxmlformats.org/drawingml/2006/main">
            <a:r>
              <a:t>    "delta": "사번–부서–직무–업무 연결 / 검색 재정렬 / 직무별 문서 양식",</a:t>
            </a:r>
          </a:p>
          <a:p xmlns:a="http://schemas.openxmlformats.org/drawingml/2006/main">
            <a:r>
              <a:t>    "test": "동일 질의의 직무별 정답·문서 순위·서식 비교 및 전보 후 권한 시험",</a:t>
            </a:r>
          </a:p>
          <a:p xmlns:a="http://schemas.openxmlformats.org/drawingml/2006/main">
            <a:r>
              <a:t>    "url": "https://www.g2b.go.kr/pn/pnp/pnpe/UntyAtchFile/downloadFile.do?bidPbancNo=R26BK01670411&amp;bidPbancOrd=000&amp;fileType=&amp;fileSeq=1&amp;prcmBsneSeCd=03",</a:t>
            </a:r>
          </a:p>
          <a:p xmlns:a="http://schemas.openxmlformats.org/drawingml/2006/main">
            <a:r>
              <a:t>    "urls": [</a:t>
            </a:r>
          </a:p>
          <a:p xmlns:a="http://schemas.openxmlformats.org/drawingml/2006/main">
            <a:r>
              <a:t>      "https://www.g2b.go.kr/pn/pnp/pnpe/UntyAtchFile/downloadFile.do?bidPbancNo=R26BK01670411&amp;bidPbancOrd=000&amp;fileType=&amp;fileSeq=1&amp;prcmBsneSeCd=03"</a:t>
            </a:r>
          </a:p>
          <a:p xmlns:a="http://schemas.openxmlformats.org/drawingml/2006/main">
            <a:r>
              <a:t>    ],</a:t>
            </a:r>
          </a:p>
          <a:p xmlns:a="http://schemas.openxmlformats.org/drawingml/2006/main">
            <a:r>
              <a:t>    "basis": "SFR-007~012 / Word T044",</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"직무별 과업 성공률 / 검색·문서 작성시간 / 요청당 비용",</a:t>
            </a:r>
          </a:p>
          <a:p xmlns:a="http://schemas.openxmlformats.org/drawingml/2006/main">
            <a:r>
              <a:t>    "group": "요구·구축",</a:t>
            </a:r>
          </a:p>
          <a:p xmlns:a="http://schemas.openxmlformats.org/drawingml/2006/main">
            <a:r>
              <a:t>    "sourceDetail": "소속·직무·검색이력·업무 기반 검색 재정렬, 양식/목차/입력 구조화, GPU 이중화·모델 롤백·부서별 토큰 비용",</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"PF-R03",</a:t>
            </a:r>
          </a:p>
          <a:p xmlns:a="http://schemas.openxmlformats.org/drawingml/2006/main">
            <a:r>
              <a:t>    "canonicalId": "PF-R03",</a:t>
            </a:r>
          </a:p>
          <a:p xmlns:a="http://schemas.openxmlformats.org/drawingml/2006/main">
            <a:r>
              <a:t>    "purpose": "직무별 검색과 정형 문서 작성의 고도화",</a:t>
            </a:r>
          </a:p>
          <a:p xmlns:a="http://schemas.openxmlformats.org/drawingml/2006/main">
            <a:r>
              <a:t>    "users": "연구직·행정직·플랫폼 운영자",</a:t>
            </a:r>
          </a:p>
          <a:p xmlns:a="http://schemas.openxmlformats.org/drawingml/2006/main">
            <a:r>
              <a:t>    "scope": [</a:t>
            </a:r>
          </a:p>
          <a:p xmlns:a="http://schemas.openxmlformats.org/drawingml/2006/main">
            <a:r>
              <a:t>      "검색 재정렬",</a:t>
            </a:r>
          </a:p>
          <a:p xmlns:a="http://schemas.openxmlformats.org/drawingml/2006/main">
            <a:r>
              <a:t>      "문서 생성",</a:t>
            </a:r>
          </a:p>
          <a:p xmlns:a="http://schemas.openxmlformats.org/drawingml/2006/main">
            <a:r>
              <a:t>      "멀티모델 운영"</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"연구행정 사용자",</a:t>
            </a:r>
          </a:p>
          <a:p xmlns:a="http://schemas.openxmlformats.org/drawingml/2006/main">
            <a:r>
              <a:t>        "detail": "소속·직무·검색 이력·진행업무 연결",</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"검색 재정렬 / 문서 생성 / 멀티모델 운영",</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"검색·업무 에이전트",</a:t>
            </a:r>
          </a:p>
          <a:p xmlns:a="http://schemas.openxmlformats.org/drawingml/2006/main">
            <a:r>
              <a:t>        "detail": "질의 보정·재정렬·요약·양식별 생성",</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"문서 작성 담당",</a:t>
            </a:r>
          </a:p>
          <a:p xmlns:a="http://schemas.openxmlformats.org/drawingml/2006/main">
            <a:r>
              <a:t>        "detail": "원문 근거와 목차·필드가 있는 초안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"연구행정 지식",</a:t>
            </a:r>
          </a:p>
          <a:p xmlns:a="http://schemas.openxmlformats.org/drawingml/2006/main">
            <a:r>
              <a:t>        "detail": "문서·연구성과·전문가·양식의 색인 구성",</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"GPU 이중화·모델 롤백·부서별 토큰 계측",</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"직원·직무",</a:t>
            </a:r>
          </a:p>
          <a:p xmlns:a="http://schemas.openxmlformats.org/drawingml/2006/main">
            <a:r>
              <a:t>        "input": "소속·직무·검색 이력·진행업무 연결",</a:t>
            </a:r>
          </a:p>
          <a:p xmlns:a="http://schemas.openxmlformats.org/drawingml/2006/main">
            <a:r>
              <a:t>        "process": "문서·연구성과·전문가·양식의 색인 구성",</a:t>
            </a:r>
          </a:p>
          <a:p xmlns:a="http://schemas.openxmlformats.org/drawingml/2006/main">
            <a:r>
              <a:t>        "output": "직무·질문"</a:t>
            </a:r>
          </a:p>
          <a:p xmlns:a="http://schemas.openxmlformats.org/drawingml/2006/main">
            <a:r>
              <a:t>      },</a:t>
            </a:r>
          </a:p>
          <a:p xmlns:a="http://schemas.openxmlformats.org/drawingml/2006/main">
            <a:r>
              <a:t>      {</a:t>
            </a:r>
          </a:p>
          <a:p xmlns:a="http://schemas.openxmlformats.org/drawingml/2006/main">
            <a:r>
              <a:t>        "title": "검색 재정렬",</a:t>
            </a:r>
          </a:p>
          <a:p xmlns:a="http://schemas.openxmlformats.org/drawingml/2006/main">
            <a:r>
              <a:t>        "input": "직무·질문",</a:t>
            </a:r>
          </a:p>
          <a:p xmlns:a="http://schemas.openxmlformats.org/drawingml/2006/main">
            <a:r>
              <a:t>        "process": "질의 보정·재정렬·요약·양식별 생성",</a:t>
            </a:r>
          </a:p>
          <a:p xmlns:a="http://schemas.openxmlformats.org/drawingml/2006/main">
            <a:r>
              <a:t>        "output": "재정렬 근거"</a:t>
            </a:r>
          </a:p>
          <a:p xmlns:a="http://schemas.openxmlformats.org/drawingml/2006/main">
            <a:r>
              <a:t>      },</a:t>
            </a:r>
          </a:p>
          <a:p xmlns:a="http://schemas.openxmlformats.org/drawingml/2006/main">
            <a:r>
              <a:t>      {</a:t>
            </a:r>
          </a:p>
          <a:p xmlns:a="http://schemas.openxmlformats.org/drawingml/2006/main">
            <a:r>
              <a:t>        "title": "업무 에이전트",</a:t>
            </a:r>
          </a:p>
          <a:p xmlns:a="http://schemas.openxmlformats.org/drawingml/2006/main">
            <a:r>
              <a:t>        "input": "재정렬 근거",</a:t>
            </a:r>
          </a:p>
          <a:p xmlns:a="http://schemas.openxmlformats.org/drawingml/2006/main">
            <a:r>
              <a:t>        "process": "기존 검색 대비 근거·완료시간 평가",</a:t>
            </a:r>
          </a:p>
          <a:p xmlns:a="http://schemas.openxmlformats.org/drawingml/2006/main">
            <a:r>
              <a:t>        "output": "정형 초안"</a:t>
            </a:r>
          </a:p>
          <a:p xmlns:a="http://schemas.openxmlformats.org/drawingml/2006/main">
            <a:r>
              <a:t>      },</a:t>
            </a:r>
          </a:p>
          <a:p xmlns:a="http://schemas.openxmlformats.org/drawingml/2006/main">
            <a:r>
              <a:t>      {</a:t>
            </a:r>
          </a:p>
          <a:p xmlns:a="http://schemas.openxmlformats.org/drawingml/2006/main">
            <a:r>
              <a:t>        "title": "문서·운영 관리",</a:t>
            </a:r>
          </a:p>
          <a:p xmlns:a="http://schemas.openxmlformats.org/drawingml/2006/main">
            <a:r>
              <a:t>        "input": "정형 초안",</a:t>
            </a:r>
          </a:p>
          <a:p xmlns:a="http://schemas.openxmlformats.org/drawingml/2006/main">
            <a:r>
              <a:t>        "process": "원문 근거와 목차·필드가 있는 초안 제공",</a:t>
            </a:r>
          </a:p>
          <a:p xmlns:a="http://schemas.openxmlformats.org/drawingml/2006/main">
            <a:r>
              <a:t>        "output": "검토 문서"</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"동일 질의를 연구직·행정직 계정으로 실행해 검색·서식 비교",</a:t>
            </a:r>
          </a:p>
          <a:p xmlns:a="http://schemas.openxmlformats.org/drawingml/2006/main">
            <a:r>
              <a:t>      "exception": "전보 전 캐시·권한 없는 연구자료·모델 장애",</a:t>
            </a:r>
          </a:p>
          <a:p xmlns:a="http://schemas.openxmlformats.org/drawingml/2006/main">
            <a:r>
              <a:t>      "evidence": "직무별 순위·근거·서식과 모델 전환·복구 결과",</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"연구직·행정직·플랫폼 운영자",</a:t>
            </a:r>
          </a:p>
          <a:p xmlns:a="http://schemas.openxmlformats.org/drawingml/2006/main">
            <a:r>
              <a:t>          "processing": "소속·직무·검색 이력·진행업무 연결",</a:t>
            </a:r>
          </a:p>
          <a:p xmlns:a="http://schemas.openxmlformats.org/drawingml/2006/main">
            <a:r>
              <a:t>          "output": "직무·질문"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"연구행정 지식",</a:t>
            </a:r>
          </a:p>
          <a:p xmlns:a="http://schemas.openxmlformats.org/drawingml/2006/main">
            <a:r>
              <a:t>          "processing": "문서·연구성과·전문가·양식의 색인 구성",</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"직무·질문",</a:t>
            </a:r>
          </a:p>
          <a:p xmlns:a="http://schemas.openxmlformats.org/drawingml/2006/main">
            <a:r>
              <a:t>          "processing": "질의 보정·재정렬·요약·양식별 생성",</a:t>
            </a:r>
          </a:p>
          <a:p xmlns:a="http://schemas.openxmlformats.org/drawingml/2006/main">
            <a:r>
              <a:t>          "output": "정형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"정형 초안",</a:t>
            </a:r>
          </a:p>
          <a:p xmlns:a="http://schemas.openxmlformats.org/drawingml/2006/main">
            <a:r>
              <a:t>          "processing": "원문 근거와 목차·필드가 있는 초안 제공",</a:t>
            </a:r>
          </a:p>
          <a:p xmlns:a="http://schemas.openxmlformats.org/drawingml/2006/main">
            <a:r>
              <a:t>          "output": "검토 문서"</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"GPU 이중화·모델 롤백·부서별 토큰 계측",</a:t>
            </a:r>
          </a:p>
          <a:p xmlns:a="http://schemas.openxmlformats.org/drawingml/2006/main">
            <a:r>
              <a:t>          "output": "직무별 순위·근거·서식과 모델 전환·복구 결과"</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"GPU 이중화·모델 롤백·부서별 토큰 계측",</a:t>
            </a:r>
          </a:p>
          <a:p xmlns:a="http://schemas.openxmlformats.org/drawingml/2006/main">
            <a:r>
              <a:t>    "status": "RFP 기반 논리 설계",</a:t>
            </a:r>
          </a:p>
          <a:p xmlns:a="http://schemas.openxmlformats.org/drawingml/2006/main">
            <a:r>
              <a:t>    "basis": "RFP 2026.05 · SFR-007~012",</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"SFR-007~012 / Word T044",</a:t>
            </a:r>
          </a:p>
          <a:p xmlns:a="http://schemas.openxmlformats.org/drawingml/2006/main">
            <a:r>
              <a:t>        "url": "https://www.g2b.go.kr/pn/pnp/pnpe/UntyAtchFile/downloadFile.do?bidPbancNo=R26BK01670411&amp;bidPbancOrd=000&amp;fileType=&amp;fileSeq=1&amp;prcmBsneSeCd=03"</a:t>
            </a:r>
          </a:p>
          <a:p xmlns:a="http://schemas.openxmlformats.org/drawingml/2006/main">
            <a:r>
              <a:t>      }</a:t>
            </a:r>
          </a:p>
          <a:p xmlns:a="http://schemas.openxmlformats.org/drawingml/2006/main">
            <a:r>
              <a:t>    ],</a:t>
            </a:r>
          </a:p>
          <a:p xmlns:a="http://schemas.openxmlformats.org/drawingml/2006/main">
            <a:r>
              <a:t>    "implication": "공식 소속·직무를 검색 순위·서식·업무 도구 선택에 연결하는 개인화",</a:t>
            </a:r>
          </a:p>
          <a:p xmlns:a="http://schemas.openxmlformats.org/drawingml/2006/main">
            <a:r>
              <a:t>    "local": "공식 소속·직무를 검색 순위·서식·업무 도구 선택에 연결하는 개인화",</a:t>
            </a:r>
          </a:p>
          <a:p xmlns:a="http://schemas.openxmlformats.org/drawingml/2006/main">
            <a:r>
              <a:t>    "sourceDetail": "소속·직무·검색이력·업무 기반 검색 재정렬, 양식/목차/입력 구조화, GPU 이중화·모델 롤백·부서별 토큰 비용",</a:t>
            </a:r>
          </a:p>
          <a:p xmlns:a="http://schemas.openxmlformats.org/drawingml/2006/main">
            <a:r>
              <a:t>    "narrative": [</a:t>
            </a:r>
          </a:p>
          <a:p xmlns:a="http://schemas.openxmlformats.org/drawingml/2006/main">
            <a:r>
              <a:t>      "생산기술연구원의 기존 연구행정 검색·AI 환경에 직무별 검색, 에이전트 처리, 문서 생성, 운영 관리 기능을 추가하는 고도화. 연구직과 행정직의 관심 자료가 다른 상황에서 동일 질의의 결과 순서를 다르게 구성하는 요구가 핵심.",</a:t>
            </a:r>
          </a:p>
          <a:p xmlns:a="http://schemas.openxmlformats.org/drawingml/2006/main">
            <a:r>
              <a:t>      "SFR-007은 부서·직무·검색 이력·진행 업무를 이용한 검색 최적화, SFR-009는 복합 질문의 태스크 분해와 도메인 에이전트 호출, SFR-010은 문서 양식·필수 항목·내부 과제정보의 결합을 요구. 인사 연동과 역할별 접근제어를 검색 추천보다 먼저 연결하는 설계.",</a:t>
            </a:r>
          </a:p>
          <a:p xmlns:a="http://schemas.openxmlformats.org/drawingml/2006/main">
            <a:r>
              <a:t>      "TS 조직 네이티브 AI와 직접 비교할 지점은 공식 소속·직무를 검색 문맥으로 사용하는 방식. 추천 순위 개선과 접근권한 확대를 분리하고, 전보 전후 동일 질의의 검색 범위·서식·근거 차이를 검수할 필요. 기존 검색·LLM의 재사용과 조직 매핑 추가분의 구분."</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"SFR-002",</a:t>
            </a:r>
          </a:p>
          <a:p xmlns:a="http://schemas.openxmlformats.org/drawingml/2006/main">
            <a:r>
              <a:t>        "title": "Agent 일반 사항",</a:t>
            </a:r>
          </a:p>
          <a:p xmlns:a="http://schemas.openxmlformats.org/drawingml/2006/main">
            <a:r>
              <a:t>        "locator": "SFR-002",</a:t>
            </a:r>
          </a:p>
          <a:p xmlns:a="http://schemas.openxmlformats.org/drawingml/2006/main">
            <a:r>
              <a:t>        "summary": "MCP 도구 등을 이용한 에이전트 실행의 공통 기능 구성. 업무 요청과 도구 호출의 연결 관리.",</a:t>
            </a:r>
          </a:p>
          <a:p xmlns:a="http://schemas.openxmlformats.org/drawingml/2006/main">
            <a:r>
              <a:t>        "data": "업무 요청·도구 정의 → 호출 계획·도구 결과",</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"C07"</a:t>
            </a:r>
          </a:p>
          <a:p xmlns:a="http://schemas.openxmlformats.org/drawingml/2006/main">
            <a:r>
              <a:t>        ],</a:t>
            </a:r>
          </a:p>
          <a:p xmlns:a="http://schemas.openxmlformats.org/drawingml/2006/main">
            <a:r>
              <a:t>        "acceptance": "미등록 도구·잘못된 인자·호출 실패 상황의 실행 보류와 오류 반환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"600876c2133d5557fe295a881eb90450c3e422b7ff02c531aaeae32498f9894f"</a:t>
            </a:r>
          </a:p>
          <a:p xmlns:a="http://schemas.openxmlformats.org/drawingml/2006/main">
            <a:r>
              <a:t>      },</a:t>
            </a:r>
          </a:p>
          <a:p xmlns:a="http://schemas.openxmlformats.org/drawingml/2006/main">
            <a:r>
              <a:t>      {</a:t>
            </a:r>
          </a:p>
          <a:p xmlns:a="http://schemas.openxmlformats.org/drawingml/2006/main">
            <a:r>
              <a:t>        "id": "SFR-003",</a:t>
            </a:r>
          </a:p>
          <a:p xmlns:a="http://schemas.openxmlformats.org/drawingml/2006/main">
            <a:r>
              <a:t>        "title": "접근 및 권한관리",</a:t>
            </a:r>
          </a:p>
          <a:p xmlns:a="http://schemas.openxmlformats.org/drawingml/2006/main">
            <a:r>
              <a:t>        "locator": "SFR-003",</a:t>
            </a:r>
          </a:p>
          <a:p xmlns:a="http://schemas.openxmlformats.org/drawingml/2006/main">
            <a:r>
              <a:t>        "summary": "인사·조직 정보를 반영한 접근 및 권한 관리. 사용자 역할에 맞는 데이터·기능 범위 적용.",</a:t>
            </a:r>
          </a:p>
          <a:p xmlns:a="http://schemas.openxmlformats.org/drawingml/2006/main">
            <a:r>
              <a:t>        "data": "직원·부서·역할 → 허용 데이터·기능",</a:t>
            </a:r>
          </a:p>
          <a:p xmlns:a="http://schemas.openxmlformats.org/drawingml/2006/main">
            <a:r>
              <a:t>        "components": [</a:t>
            </a:r>
          </a:p>
          <a:p xmlns:a="http://schemas.openxmlformats.org/drawingml/2006/main">
            <a:r>
              <a:t>          "C02",</a:t>
            </a:r>
          </a:p>
          <a:p xmlns:a="http://schemas.openxmlformats.org/drawingml/2006/main">
            <a:r>
              <a:t>          "C12"</a:t>
            </a:r>
          </a:p>
          <a:p xmlns:a="http://schemas.openxmlformats.org/drawingml/2006/main">
            <a:r>
              <a:t>        ],</a:t>
            </a:r>
          </a:p>
          <a:p xmlns:a="http://schemas.openxmlformats.org/drawingml/2006/main">
            <a:r>
              <a:t>        "acceptance": "전보·겸직·퇴직·권한 해제 시 검색과 실행 양쪽의 접근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"04990216c1150703cd093e78e1cf6629542fbdaca4c97f9dca5f8e4f3b400cce"</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"데이터 통합 파이프라인 구축",</a:t>
            </a:r>
          </a:p>
          <a:p xmlns:a="http://schemas.openxmlformats.org/drawingml/2006/main">
            <a:r>
              <a:t>        "locator": "SFR-004",</a:t>
            </a:r>
          </a:p>
          <a:p xmlns:a="http://schemas.openxmlformats.org/drawingml/2006/main">
            <a:r>
              <a:t>        "summary": "분산 데이터를 수집·정제·연계하는 통합 파이프라인 구축.",</a:t>
            </a:r>
          </a:p>
          <a:p xmlns:a="http://schemas.openxmlformats.org/drawingml/2006/main">
            <a:r>
              <a:t>        "data": "업무 원천·메타데이터 → 검색·AI 활용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"파일 형식 오류·중복·갱신·삭제 자료의 재처리와 원천-색인 건수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"e23449e0d4bf6fe973e547277bd671a1db47129f3f697fe40e3653855a967d51"</a:t>
            </a:r>
          </a:p>
          <a:p xmlns:a="http://schemas.openxmlformats.org/drawingml/2006/main">
            <a:r>
              <a:t>      },</a:t>
            </a:r>
          </a:p>
          <a:p xmlns:a="http://schemas.openxmlformats.org/drawingml/2006/main">
            <a:r>
              <a:t>      {</a:t>
            </a:r>
          </a:p>
          <a:p xmlns:a="http://schemas.openxmlformats.org/drawingml/2006/main">
            <a:r>
              <a:t>        "id": "SFR-007",</a:t>
            </a:r>
          </a:p>
          <a:p xmlns:a="http://schemas.openxmlformats.org/drawingml/2006/main">
            <a:r>
              <a:t>        "title": "AI 기반 지능형 검색 서비스",</a:t>
            </a:r>
          </a:p>
          <a:p xmlns:a="http://schemas.openxmlformats.org/drawingml/2006/main">
            <a:r>
              <a:t>        "locator": "SFR-007",</a:t>
            </a:r>
          </a:p>
          <a:p xmlns:a="http://schemas.openxmlformats.org/drawingml/2006/main">
            <a:r>
              <a:t>        "summary": "부서·직무·사용 이력 등을 반영한 AI 검색과 결과 재정렬.",</a:t>
            </a:r>
          </a:p>
          <a:p xmlns:a="http://schemas.openxmlformats.org/drawingml/2006/main">
            <a:r>
              <a:t>        "data": "동일 질의·다른 직무 문맥 → 직무별 관련 근거 순위",</a:t>
            </a:r>
          </a:p>
          <a:p xmlns:a="http://schemas.openxmlformats.org/drawingml/2006/main">
            <a:r>
              <a:t>        "components": [</a:t>
            </a:r>
          </a:p>
          <a:p xmlns:a="http://schemas.openxmlformats.org/drawingml/2006/main">
            <a:r>
              <a:t>          "C02",</a:t>
            </a:r>
          </a:p>
          <a:p xmlns:a="http://schemas.openxmlformats.org/drawingml/2006/main">
            <a:r>
              <a:t>          "C03",</a:t>
            </a:r>
          </a:p>
          <a:p xmlns:a="http://schemas.openxmlformats.org/drawingml/2006/main">
            <a:r>
              <a:t>          "C11"</a:t>
            </a:r>
          </a:p>
          <a:p xmlns:a="http://schemas.openxmlformats.org/drawingml/2006/main">
            <a:r>
              <a:t>        ],</a:t>
            </a:r>
          </a:p>
          <a:p xmlns:a="http://schemas.openxmlformats.org/drawingml/2006/main">
            <a:r>
              <a:t>        "acceptance": "연구직·행정직의 동일 질의에서 관련성 변화와 권한 밖 결과 제외를 함께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"3e12718b7b492badc155b10cf84e1b67c500d44a7c8333c9b026c5a4dea691ad"</a:t>
            </a:r>
          </a:p>
          <a:p xmlns:a="http://schemas.openxmlformats.org/drawingml/2006/main">
            <a:r>
              <a:t>      },</a:t>
            </a:r>
          </a:p>
          <a:p xmlns:a="http://schemas.openxmlformats.org/drawingml/2006/main">
            <a:r>
              <a:t>      {</a:t>
            </a:r>
          </a:p>
          <a:p xmlns:a="http://schemas.openxmlformats.org/drawingml/2006/main">
            <a:r>
              <a:t>        "id": "SFR-008",</a:t>
            </a:r>
          </a:p>
          <a:p xmlns:a="http://schemas.openxmlformats.org/drawingml/2006/main">
            <a:r>
              <a:t>        "title": "멀티 모델 적용",</a:t>
            </a:r>
          </a:p>
          <a:p xmlns:a="http://schemas.openxmlformats.org/drawingml/2006/main">
            <a:r>
              <a:t>        "locator": "SFR-008",</a:t>
            </a:r>
          </a:p>
          <a:p xmlns:a="http://schemas.openxmlformats.org/drawingml/2006/main">
            <a:r>
              <a:t>        "summary": "복수 모델의 적용·선택·비교를 지원하는 멀티모델 구조.",</a:t>
            </a:r>
          </a:p>
          <a:p xmlns:a="http://schemas.openxmlformats.org/drawingml/2006/main">
            <a:r>
              <a:t>        "data": "업무 유형·모델 설정 → 모델별 결과·비교 기록",</a:t>
            </a:r>
          </a:p>
          <a:p xmlns:a="http://schemas.openxmlformats.org/drawingml/2006/main">
            <a:r>
              <a:t>        "components": [</a:t>
            </a:r>
          </a:p>
          <a:p xmlns:a="http://schemas.openxmlformats.org/drawingml/2006/main">
            <a:r>
              <a:t>          "C04",</a:t>
            </a:r>
          </a:p>
          <a:p xmlns:a="http://schemas.openxmlformats.org/drawingml/2006/main">
            <a:r>
              <a:t>          "C08"</a:t>
            </a:r>
          </a:p>
          <a:p xmlns:a="http://schemas.openxmlformats.org/drawingml/2006/main">
            <a:r>
              <a:t>        ],</a:t>
            </a:r>
          </a:p>
          <a:p xmlns:a="http://schemas.openxmlformats.org/drawingml/2006/main">
            <a:r>
              <a:t>        "acceptance": "같은 입력의 모델별 정확성·시간·비용과 오류 발생 시 처리 경로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"a446f7c2f5ef6677204833f37fa4bbda4bae700a5c3c1b2e4e8a729dc569f518"</a:t>
            </a:r>
          </a:p>
          <a:p xmlns:a="http://schemas.openxmlformats.org/drawingml/2006/main">
            <a:r>
              <a:t>      },</a:t>
            </a:r>
          </a:p>
          <a:p xmlns:a="http://schemas.openxmlformats.org/drawingml/2006/main">
            <a:r>
              <a:t>      {</a:t>
            </a:r>
          </a:p>
          <a:p xmlns:a="http://schemas.openxmlformats.org/drawingml/2006/main">
            <a:r>
              <a:t>        "id": "SFR-009",</a:t>
            </a:r>
          </a:p>
          <a:p xmlns:a="http://schemas.openxmlformats.org/drawingml/2006/main">
            <a:r>
              <a:t>        "title": "지능형 질의응답 고도화 체계 구축",</a:t>
            </a:r>
          </a:p>
          <a:p xmlns:a="http://schemas.openxmlformats.org/drawingml/2006/main">
            <a:r>
              <a:t>        "locator": "SFR-009",</a:t>
            </a:r>
          </a:p>
          <a:p xmlns:a="http://schemas.openxmlformats.org/drawingml/2006/main">
            <a:r>
              <a:t>        "summary": "질의의 업무 계획 수립과 도메인 에이전트 연결을 통한 질의응답 고도화.",</a:t>
            </a:r>
          </a:p>
          <a:p xmlns:a="http://schemas.openxmlformats.org/drawingml/2006/main">
            <a:r>
              <a:t>        "data": "복합 업무 질의 → 단계별 계획·도구 결과·응답",</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"C07"</a:t>
            </a:r>
          </a:p>
          <a:p xmlns:a="http://schemas.openxmlformats.org/drawingml/2006/main">
            <a:r>
              <a:t>        ],</a:t>
            </a:r>
          </a:p>
          <a:p xmlns:a="http://schemas.openxmlformats.org/drawingml/2006/main">
            <a:r>
              <a:t>        "acceptance": "계획 일부 실패·불필요한 도구 호출·담당 영역 혼동 시 중단·재계획 경로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"86afdf5c09bd02dc72865179ec33f762956a14ddf1cf170340996155bdafaf57"</a:t>
            </a:r>
          </a:p>
          <a:p xmlns:a="http://schemas.openxmlformats.org/drawingml/2006/main">
            <a:r>
              <a:t>      },</a:t>
            </a:r>
          </a:p>
          <a:p xmlns:a="http://schemas.openxmlformats.org/drawingml/2006/main">
            <a:r>
              <a:t>      {</a:t>
            </a:r>
          </a:p>
          <a:p xmlns:a="http://schemas.openxmlformats.org/drawingml/2006/main">
            <a:r>
              <a:t>        "id": "SFR-010",</a:t>
            </a:r>
          </a:p>
          <a:p xmlns:a="http://schemas.openxmlformats.org/drawingml/2006/main">
            <a:r>
              <a:t>        "title": "문서 자동 생성 지원",</a:t>
            </a:r>
          </a:p>
          <a:p xmlns:a="http://schemas.openxmlformats.org/drawingml/2006/main">
            <a:r>
              <a:t>        "locator": "SFR-010",</a:t>
            </a:r>
          </a:p>
          <a:p xmlns:a="http://schemas.openxmlformats.org/drawingml/2006/main">
            <a:r>
              <a:t>        "summary": "템플릿·메타데이터·내부 자료를 활용한 정형 문서 생성 지원.",</a:t>
            </a:r>
          </a:p>
          <a:p xmlns:a="http://schemas.openxmlformats.org/drawingml/2006/main">
            <a:r>
              <a:t>        "data": "양식·필수 항목·근거 자료 → 편집 가능한 문서 초안",</a:t>
            </a:r>
          </a:p>
          <a:p xmlns:a="http://schemas.openxmlformats.org/drawingml/2006/main">
            <a:r>
              <a:t>        "components": [</a:t>
            </a:r>
          </a:p>
          <a:p xmlns:a="http://schemas.openxmlformats.org/drawingml/2006/main">
            <a:r>
              <a:t>          "C04",</a:t>
            </a:r>
          </a:p>
          <a:p xmlns:a="http://schemas.openxmlformats.org/drawingml/2006/main">
            <a:r>
              <a:t>          "C05",</a:t>
            </a:r>
          </a:p>
          <a:p xmlns:a="http://schemas.openxmlformats.org/drawingml/2006/main">
            <a:r>
              <a:t>          "C06"</a:t>
            </a:r>
          </a:p>
          <a:p xmlns:a="http://schemas.openxmlformats.org/drawingml/2006/main">
            <a:r>
              <a:t>        ],</a:t>
            </a:r>
          </a:p>
          <a:p xmlns:a="http://schemas.openxmlformats.org/drawingml/2006/main">
            <a:r>
              <a:t>        "acceptance": "필수 항목 누락·다른 양식 판본·숫자 인용 오류의 검출과 사용자 수정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"20df882404a76e75b24ff57eaa67d2d18ca56387f99e065033be13396d4a5f00"</a:t>
            </a:r>
          </a:p>
          <a:p xmlns:a="http://schemas.openxmlformats.org/drawingml/2006/main">
            <a:r>
              <a:t>      },</a:t>
            </a:r>
          </a:p>
          <a:p xmlns:a="http://schemas.openxmlformats.org/drawingml/2006/main">
            <a:r>
              <a:t>      {</a:t>
            </a:r>
          </a:p>
          <a:p xmlns:a="http://schemas.openxmlformats.org/drawingml/2006/main">
            <a:r>
              <a:t>        "id": "SFR-012",</a:t>
            </a:r>
          </a:p>
          <a:p xmlns:a="http://schemas.openxmlformats.org/drawingml/2006/main">
            <a:r>
              <a:t>        "title": "AI 서비스 운영 모니터링 체계구축",</a:t>
            </a:r>
          </a:p>
          <a:p xmlns:a="http://schemas.openxmlformats.org/drawingml/2006/main">
            <a:r>
              <a:t>        "locator": "SFR-012",</a:t>
            </a:r>
          </a:p>
          <a:p xmlns:a="http://schemas.openxmlformats.org/drawingml/2006/main">
            <a:r>
              <a:t>        "summary": "AI 서비스의 처리·이용·품질 상태를 확인하는 운영 모니터링 체계.",</a:t>
            </a:r>
          </a:p>
          <a:p xmlns:a="http://schemas.openxmlformats.org/drawingml/2006/main">
            <a:r>
              <a:t>        "data": "호출·서비스 상태·오류 → 관측 지표·운영 기록",</a:t>
            </a:r>
          </a:p>
          <a:p xmlns:a="http://schemas.openxmlformats.org/drawingml/2006/main">
            <a:r>
              <a:t>        "components": [</a:t>
            </a:r>
          </a:p>
          <a:p xmlns:a="http://schemas.openxmlformats.org/drawingml/2006/main">
            <a:r>
              <a:t>          "C08"</a:t>
            </a:r>
          </a:p>
          <a:p xmlns:a="http://schemas.openxmlformats.org/drawingml/2006/main">
            <a:r>
              <a:t>        ],</a:t>
            </a:r>
          </a:p>
          <a:p xmlns:a="http://schemas.openxmlformats.org/drawingml/2006/main">
            <a:r>
              <a:t>        "acceptance": "한 요청의 검색·모델·도구 단계를 연결해 실패 지점과 지연 원인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"253bfe0e809bb087229cb4b40f86856252a906181714e2b1a1a84d46237d7570"</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"연구행정 접점",</a:t>
            </a:r>
          </a:p>
          <a:p xmlns:a="http://schemas.openxmlformats.org/drawingml/2006/main">
            <a:r>
              <a:t>          "layer": "이용 접점",</a:t>
            </a:r>
          </a:p>
          <a:p xmlns:a="http://schemas.openxmlformats.org/drawingml/2006/main">
            <a:r>
              <a:t>          "detail": "연구직·행정직·플랫폼 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"소속·직무·이력",</a:t>
            </a:r>
          </a:p>
          <a:p xmlns:a="http://schemas.openxmlformats.org/drawingml/2006/main">
            <a:r>
              <a:t>          "layer": "업무 문맥",</a:t>
            </a:r>
          </a:p>
          <a:p xmlns:a="http://schemas.openxmlformats.org/drawingml/2006/main">
            <a:r>
              <a:t>          "detail": "소속·직무·검색 이력·진행업무 연결",</a:t>
            </a:r>
          </a:p>
          <a:p xmlns:a="http://schemas.openxmlformats.org/drawingml/2006/main">
            <a:r>
              <a:t>          "requirements": [</a:t>
            </a:r>
          </a:p>
          <a:p xmlns:a="http://schemas.openxmlformats.org/drawingml/2006/main">
            <a:r>
              <a:t>            "SFR-002",</a:t>
            </a:r>
          </a:p>
          <a:p xmlns:a="http://schemas.openxmlformats.org/drawingml/2006/main">
            <a:r>
              <a:t>            "SFR-003",</a:t>
            </a:r>
          </a:p>
          <a:p xmlns:a="http://schemas.openxmlformats.org/drawingml/2006/main">
            <a:r>
              <a:t>            "SFR-007",</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"업무 검색 재정렬",</a:t>
            </a:r>
          </a:p>
          <a:p xmlns:a="http://schemas.openxmlformats.org/drawingml/2006/main">
            <a:r>
              <a:t>          "layer": "자료 조회",</a:t>
            </a:r>
          </a:p>
          <a:p xmlns:a="http://schemas.openxmlformats.org/drawingml/2006/main">
            <a:r>
              <a:t>          "detail": "직무·질문",</a:t>
            </a:r>
          </a:p>
          <a:p xmlns:a="http://schemas.openxmlformats.org/drawingml/2006/main">
            <a:r>
              <a:t>          "requirements": [</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"에이전트·정형 생성",</a:t>
            </a:r>
          </a:p>
          <a:p xmlns:a="http://schemas.openxmlformats.org/drawingml/2006/main">
            <a:r>
              <a:t>          "layer": "핵심 처리",</a:t>
            </a:r>
          </a:p>
          <a:p xmlns:a="http://schemas.openxmlformats.org/drawingml/2006/main">
            <a:r>
              <a:t>          "detail": "질의 보정·재정렬·요약·양식별 생성",</a:t>
            </a:r>
          </a:p>
          <a:p xmlns:a="http://schemas.openxmlformats.org/drawingml/2006/main">
            <a:r>
              <a:t>          "requirements": [</a:t>
            </a:r>
          </a:p>
          <a:p xmlns:a="http://schemas.openxmlformats.org/drawingml/2006/main">
            <a:r>
              <a:t>            "SFR-002",</a:t>
            </a:r>
          </a:p>
          <a:p xmlns:a="http://schemas.openxmlformats.org/drawingml/2006/main">
            <a:r>
              <a:t>            "SFR-008",</a:t>
            </a:r>
          </a:p>
          <a:p xmlns:a="http://schemas.openxmlformats.org/drawingml/2006/main">
            <a:r>
              <a:t>            "SFR-009",</a:t>
            </a:r>
          </a:p>
          <a:p xmlns:a="http://schemas.openxmlformats.org/drawingml/2006/main">
            <a:r>
              <a:t>            "SFR-010"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"양식·근거 검사",</a:t>
            </a:r>
          </a:p>
          <a:p xmlns:a="http://schemas.openxmlformats.org/drawingml/2006/main">
            <a:r>
              <a:t>          "layer": "결과 검증",</a:t>
            </a:r>
          </a:p>
          <a:p xmlns:a="http://schemas.openxmlformats.org/drawingml/2006/main">
            <a:r>
              <a:t>          "detail": "기존 검색 대비 근거·완료시간 평가",</a:t>
            </a:r>
          </a:p>
          <a:p xmlns:a="http://schemas.openxmlformats.org/drawingml/2006/main">
            <a:r>
              <a:t>          "requirements": [</a:t>
            </a:r>
          </a:p>
          <a:p xmlns:a="http://schemas.openxmlformats.org/drawingml/2006/main">
            <a:r>
              <a:t>            "SFR-010"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"작성 담당 확인",</a:t>
            </a:r>
          </a:p>
          <a:p xmlns:a="http://schemas.openxmlformats.org/drawingml/2006/main">
            <a:r>
              <a:t>          "layer": "사람 확인",</a:t>
            </a:r>
          </a:p>
          <a:p xmlns:a="http://schemas.openxmlformats.org/drawingml/2006/main">
            <a:r>
              <a:t>          "detail": "동일 질의를 연구직·행정직 계정으로 실행해 검색·서식 비교",</a:t>
            </a:r>
          </a:p>
          <a:p xmlns:a="http://schemas.openxmlformats.org/drawingml/2006/main">
            <a:r>
              <a:t>          "requirements": [</a:t>
            </a:r>
          </a:p>
          <a:p xmlns:a="http://schemas.openxmlformats.org/drawingml/2006/main">
            <a:r>
              <a:t>            "SFR-010"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"문서 업무 연결",</a:t>
            </a:r>
          </a:p>
          <a:p xmlns:a="http://schemas.openxmlformats.org/drawingml/2006/main">
            <a:r>
              <a:t>          "layer": "업무 연결",</a:t>
            </a:r>
          </a:p>
          <a:p xmlns:a="http://schemas.openxmlformats.org/drawingml/2006/main">
            <a:r>
              <a:t>          "detail": "원문 근거와 목차·필드가 있는 초안 제공",</a:t>
            </a:r>
          </a:p>
          <a:p xmlns:a="http://schemas.openxmlformats.org/drawingml/2006/main">
            <a:r>
              <a:t>          "requirements": [</a:t>
            </a:r>
          </a:p>
          <a:p xmlns:a="http://schemas.openxmlformats.org/drawingml/2006/main">
            <a:r>
              <a:t>            "SFR-002",</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"토큰·회귀 평가",</a:t>
            </a:r>
          </a:p>
          <a:p xmlns:a="http://schemas.openxmlformats.org/drawingml/2006/main">
            <a:r>
              <a:t>          "layer": "운영 관측",</a:t>
            </a:r>
          </a:p>
          <a:p xmlns:a="http://schemas.openxmlformats.org/drawingml/2006/main">
            <a:r>
              <a:t>          "detail": "GPU 이중화·모델 롤백·부서별 토큰 계측",</a:t>
            </a:r>
          </a:p>
          <a:p xmlns:a="http://schemas.openxmlformats.org/drawingml/2006/main">
            <a:r>
              <a:t>          "requirements": [</a:t>
            </a:r>
          </a:p>
          <a:p xmlns:a="http://schemas.openxmlformats.org/drawingml/2006/main">
            <a:r>
              <a:t>            "SFR-008",</a:t>
            </a:r>
          </a:p>
          <a:p xmlns:a="http://schemas.openxmlformats.org/drawingml/2006/main">
            <a:r>
              <a:t>            "SFR-012"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"연구행정 자료",</a:t>
            </a:r>
          </a:p>
          <a:p xmlns:a="http://schemas.openxmlformats.org/drawingml/2006/main">
            <a:r>
              <a:t>          "layer": "데이터 원천",</a:t>
            </a:r>
          </a:p>
          <a:p xmlns:a="http://schemas.openxmlformats.org/drawingml/2006/main">
            <a:r>
              <a:t>          "detail": "연구행정 지식",</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"목차·문서 구조화",</a:t>
            </a:r>
          </a:p>
          <a:p xmlns:a="http://schemas.openxmlformats.org/drawingml/2006/main">
            <a:r>
              <a:t>          "layer": "준비·갱신",</a:t>
            </a:r>
          </a:p>
          <a:p xmlns:a="http://schemas.openxmlformats.org/drawingml/2006/main">
            <a:r>
              <a:t>          "detail": "문서·연구성과·전문가·양식의 색인 구성",</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"허용 지식·색인",</a:t>
            </a:r>
          </a:p>
          <a:p xmlns:a="http://schemas.openxmlformats.org/drawingml/2006/main">
            <a:r>
              <a:t>          "layer": "상태·지식 저장",</a:t>
            </a:r>
          </a:p>
          <a:p xmlns:a="http://schemas.openxmlformats.org/drawingml/2006/main">
            <a:r>
              <a:t>          "detail": "직무별 순위·근거·서식과 모델 전환·복구 결과",</a:t>
            </a:r>
          </a:p>
          <a:p xmlns:a="http://schemas.openxmlformats.org/drawingml/2006/main">
            <a:r>
              <a:t>          "requirements": [</a:t>
            </a:r>
          </a:p>
          <a:p xmlns:a="http://schemas.openxmlformats.org/drawingml/2006/main">
            <a:r>
              <a:t>            "SFR-004",</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"모델·롤백 정책",</a:t>
            </a:r>
          </a:p>
          <a:p xmlns:a="http://schemas.openxmlformats.org/drawingml/2006/main">
            <a:r>
              <a:t>          "layer": "권한·정책",</a:t>
            </a:r>
          </a:p>
          <a:p xmlns:a="http://schemas.openxmlformats.org/drawingml/2006/main">
            <a:r>
              <a:t>          "detail": "전보 전 캐시·권한 없는 연구자료·모델 장애",</a:t>
            </a:r>
          </a:p>
          <a:p xmlns:a="http://schemas.openxmlformats.org/drawingml/2006/main">
            <a:r>
              <a:t>          "requirements": [</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"소속·직무·검색 이력·진행업무 연결",</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"직무·질문",</a:t>
            </a:r>
          </a:p>
          <a:p xmlns:a="http://schemas.openxmlformats.org/drawingml/2006/main">
            <a:r>
              <a:t>          "check": "기존 검색 대비 근거·완료시간 평가"</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"재정렬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"정형 초안",</a:t>
            </a:r>
          </a:p>
          <a:p xmlns:a="http://schemas.openxmlformats.org/drawingml/2006/main">
            <a:r>
              <a:t>          "check": "전보 전 캐시·권한 없는 연구자료·모델 장애"</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"정형 초안",</a:t>
            </a:r>
          </a:p>
          <a:p xmlns:a="http://schemas.openxmlformats.org/drawingml/2006/main">
            <a:r>
              <a:t>          "check": "원문 근거와 목차·필드가 있는 초안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 문서",</a:t>
            </a:r>
          </a:p>
          <a:p xmlns:a="http://schemas.openxmlformats.org/drawingml/2006/main">
            <a:r>
              <a:t>          "check": "직무별 순위·근거·서식과 모델 전환·복구 결과"</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"SFR-007~012",</a:t>
            </a:r>
          </a:p>
          <a:p xmlns:a="http://schemas.openxmlformats.org/drawingml/2006/main">
            <a:r>
              <a:t>        "extracted": "부서·직무·검색이력을 이용한 재정렬과 정형 문서 생성",</a:t>
            </a:r>
          </a:p>
          <a:p xmlns:a="http://schemas.openxmlformats.org/drawingml/2006/main">
            <a:r>
              <a:t>        "extension": "검색 이력의 권한 확대 방지와 이전 모델 복귀 시험"</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"PF-R03",</a:t>
            </a:r>
          </a:p>
          <a:p xmlns:a="http://schemas.openxmlformats.org/drawingml/2006/main">
            <a:r>
              <a:t>          "path": "assets/casebook-sources/PF-R03-01.png",</a:t>
            </a:r>
          </a:p>
          <a:p xmlns:a="http://schemas.openxmlformats.org/drawingml/2006/main">
            <a:r>
              <a:t>          "title": "생산기술연구원 정보시스템 연계",</a:t>
            </a:r>
          </a:p>
          <a:p xmlns:a="http://schemas.openxmlformats.org/drawingml/2006/main">
            <a:r>
              <a:t>          "status": "RFP 수록 기존 정보시스템 현황",</a:t>
            </a:r>
          </a:p>
          <a:p xmlns:a="http://schemas.openxmlformats.org/drawingml/2006/main">
            <a:r>
              <a:t>          "caption": "연구행정·경영정보·업무지원·지능형 포털 간 연계",</a:t>
            </a:r>
          </a:p>
          <a:p xmlns:a="http://schemas.openxmlformats.org/drawingml/2006/main">
            <a:r>
              <a:t>          "locator": "rId13 / BinData/BIN0002_png",</a:t>
            </a:r>
          </a:p>
          <a:p xmlns:a="http://schemas.openxmlformats.org/drawingml/2006/main">
            <a:r>
              <a:t>          "checked": "2026-10-16",</a:t>
            </a:r>
          </a:p>
          <a:p xmlns:a="http://schemas.openxmlformats.org/drawingml/2006/main">
            <a:r>
              <a:t>          "sha256": "0b49ad15a2d50888b15fdc4d6bb439874425106d7d0a2cf9b92b1c3debb0025b",</a:t>
            </a:r>
          </a:p>
          <a:p xmlns:a="http://schemas.openxmlformats.org/drawingml/2006/main">
            <a:r>
              <a:t>          "explanation": {</a:t>
            </a:r>
          </a:p>
          <a:p xmlns:a="http://schemas.openxmlformats.org/drawingml/2006/main">
            <a:r>
              <a:t>            "read": "연구행정·경영정보·업무지원과 지능형 포털의 기존 연결 현황. 새 AI 모델의 배치도가 아니라 어떤 업무 데이터와 시스템을 고도화 시 연결해야 하는지를 보여 주는 원문.",</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"SFR-007",</a:t>
            </a:r>
          </a:p>
          <a:p xmlns:a="http://schemas.openxmlformats.org/drawingml/2006/main">
            <a:r>
              <a:t>              "SFR-010"</a:t>
            </a:r>
          </a:p>
          <a:p xmlns:a="http://schemas.openxmlformats.org/drawingml/2006/main">
            <a:r>
              <a:t>            ],</a:t>
            </a:r>
          </a:p>
          <a:p xmlns:a="http://schemas.openxmlformats.org/drawingml/2006/main">
            <a:r>
              <a:t>            "connection": "기존 사용자·조직·권한과 연구행정 자료를 재사용하고 직무별 검색, 도메인 도구, 정형 문서 생성을 추가하는 대상 경계의 설정."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"전보 전 캐시·권한 없는 연구자료·모델 장애",</a:t>
            </a:r>
          </a:p>
          <a:p xmlns:a="http://schemas.openxmlformats.org/drawingml/2006/main">
            <a:r>
              <a:t>        "hold": "기존 검색 대비 근거·완료시간 평가",</a:t>
            </a:r>
          </a:p>
          <a:p xmlns:a="http://schemas.openxmlformats.org/drawingml/2006/main">
            <a:r>
              <a:t>        "recovery": "GPU 이중화·모델 롤백·부서별 토큰 계측",</a:t>
            </a:r>
          </a:p>
          <a:p xmlns:a="http://schemas.openxmlformats.org/drawingml/2006/main">
            <a:r>
              <a:t>        "evidence": "직무별 순위·근거·서식과 모델 전환·복구 결과"</a:t>
            </a:r>
          </a:p>
          <a:p xmlns:a="http://schemas.openxmlformats.org/drawingml/2006/main">
            <a:r>
              <a:t>      },</a:t>
            </a:r>
          </a:p>
          <a:p xmlns:a="http://schemas.openxmlformats.org/drawingml/2006/main">
            <a:r>
              <a:t>      "data": {</a:t>
            </a:r>
          </a:p>
          <a:p xmlns:a="http://schemas.openxmlformats.org/drawingml/2006/main">
            <a:r>
              <a:t>        "source": "연구행정 지식",</a:t>
            </a:r>
          </a:p>
          <a:p xmlns:a="http://schemas.openxmlformats.org/drawingml/2006/main">
            <a:r>
              <a:t>        "prepare": "문서·연구성과·전문가·양식의 색인 구성",</a:t>
            </a:r>
          </a:p>
          <a:p xmlns:a="http://schemas.openxmlformats.org/drawingml/2006/main">
            <a:r>
              <a:t>        "output": "직무·질문",</a:t>
            </a:r>
          </a:p>
          <a:p xmlns:a="http://schemas.openxmlformats.org/drawingml/2006/main">
            <a:r>
              <a:t>        "refresh": "GPU 이중화·모델 롤백·부서별 토큰 계측"</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"PF-R03",</a:t>
            </a:r>
          </a:p>
          <a:p xmlns:a="http://schemas.openxmlformats.org/drawingml/2006/main">
            <a:r>
              <a:t>    "success": [</a:t>
            </a:r>
          </a:p>
          <a:p xmlns:a="http://schemas.openxmlformats.org/drawingml/2006/main">
            <a:r>
              <a:t>      "기존 연구행정 검색의 고도화",</a:t>
            </a:r>
          </a:p>
          <a:p xmlns:a="http://schemas.openxmlformats.org/drawingml/2006/main">
            <a:r>
              <a:t>      "업무별 에이전트·정형 출력 구성"</a:t>
            </a:r>
          </a:p>
          <a:p xmlns:a="http://schemas.openxmlformats.org/drawingml/2006/main">
            <a:r>
              <a:t>    ],</a:t>
            </a:r>
          </a:p>
          <a:p xmlns:a="http://schemas.openxmlformats.org/drawingml/2006/main">
            <a:r>
              <a:t>    "risks": [</a:t>
            </a:r>
          </a:p>
          <a:p xmlns:a="http://schemas.openxmlformats.org/drawingml/2006/main">
            <a:r>
              <a:t>      "검색 재정렬의 근거 누락",</a:t>
            </a:r>
          </a:p>
          <a:p xmlns:a="http://schemas.openxmlformats.org/drawingml/2006/main">
            <a:r>
              <a:t>      "후속 공고와 도입 완료의 혼동"</a:t>
            </a:r>
          </a:p>
          <a:p xmlns:a="http://schemas.openxmlformats.org/drawingml/2006/main">
            <a:r>
              <a:t>    ],</a:t>
            </a:r>
          </a:p>
          <a:p xmlns:a="http://schemas.openxmlformats.org/drawingml/2006/main">
            <a:r>
              <a:t>    "architecture": [</a:t>
            </a:r>
          </a:p>
          <a:p xmlns:a="http://schemas.openxmlformats.org/drawingml/2006/main">
            <a:r>
              <a:t>      "연구행정 사용자",</a:t>
            </a:r>
          </a:p>
          <a:p xmlns:a="http://schemas.openxmlformats.org/drawingml/2006/main">
            <a:r>
              <a:t>      "검색·업무 에이전트",</a:t>
            </a:r>
          </a:p>
          <a:p xmlns:a="http://schemas.openxmlformats.org/drawingml/2006/main">
            <a:r>
              <a:t>      "연구행정 지식",</a:t>
            </a:r>
          </a:p>
          <a:p xmlns:a="http://schemas.openxmlformats.org/drawingml/2006/main">
            <a:r>
              <a:t>      "문서 작성 담당"</a:t>
            </a:r>
          </a:p>
          <a:p xmlns:a="http://schemas.openxmlformats.org/drawingml/2006/main">
            <a:r>
              <a:t>    ],</a:t>
            </a:r>
          </a:p>
          <a:p xmlns:a="http://schemas.openxmlformats.org/drawingml/2006/main">
            <a:r>
              <a:t>    "transfers": [</a:t>
            </a:r>
          </a:p>
          <a:p xmlns:a="http://schemas.openxmlformats.org/drawingml/2006/main">
            <a:r>
              <a:t>      "직무·질문",</a:t>
            </a:r>
          </a:p>
          <a:p xmlns:a="http://schemas.openxmlformats.org/drawingml/2006/main">
            <a:r>
              <a:t>      "재정렬 근거",</a:t>
            </a:r>
          </a:p>
          <a:p xmlns:a="http://schemas.openxmlformats.org/drawingml/2006/main">
            <a:r>
              <a:t>      "정형 초안",</a:t>
            </a:r>
          </a:p>
          <a:p xmlns:a="http://schemas.openxmlformats.org/drawingml/2006/main">
            <a:r>
              <a:t>      "검토 문서"</a:t>
            </a:r>
          </a:p>
          <a:p xmlns:a="http://schemas.openxmlformats.org/drawingml/2006/main">
            <a:r>
              <a:t>    ],</a:t>
            </a:r>
          </a:p>
          <a:p xmlns:a="http://schemas.openxmlformats.org/drawingml/2006/main">
            <a:r>
              <a:t>    "control": "기존 검색 대비 근거·완료시간 평가",</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SFR-007~012 / Word T044 https://www.g2b.go.kr/pn/pnp/pnpe/UntyAtchFile/downloadFile.do?bidPbancNo=R26BK01670411&amp;bidPbancOrd=000&amp;fileType=&amp;fileSeq=1&amp;prcmBsneSeCd=03</a:t>
            </a:r>
          </a:p>
          <a:p xmlns:a="http://schemas.openxmlformats.org/drawingml/2006/main">
            <a:r>
              <a:t>홈페이지 https://heen1987-ops.github.io/TS-business-Plan-001/index.html?view=platform-cases&amp;case=PF-R03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"PF-R03",</a:t>
            </a:r>
          </a:p>
          <a:p xmlns:a="http://schemas.openxmlformats.org/drawingml/2006/main">
            <a:r>
              <a:t>    "sourceId": "R03",</a:t>
            </a:r>
          </a:p>
          <a:p xmlns:a="http://schemas.openxmlformats.org/drawingml/2006/main">
            <a:r>
              <a:t>    "title": "생산기술연구원 AI 고도화",</a:t>
            </a:r>
          </a:p>
          <a:p xmlns:a="http://schemas.openxmlformats.org/drawingml/2006/main">
            <a:r>
              <a:t>    "region": "국내",</a:t>
            </a:r>
          </a:p>
          <a:p xmlns:a="http://schemas.openxmlformats.org/drawingml/2006/main">
            <a:r>
              <a:t>    "owner": "한국생산기술연구원",</a:t>
            </a:r>
          </a:p>
          <a:p xmlns:a="http://schemas.openxmlformats.org/drawingml/2006/main">
            <a:r>
              <a:t>    "state": "후속 공고 RFP 확인 / 계약·운영 미확인",</a:t>
            </a:r>
          </a:p>
          <a:p xmlns:a="http://schemas.openxmlformats.org/drawingml/2006/main">
            <a:r>
              <a:t>    "period": "기존 원장 확인 2026.10.16",</a:t>
            </a:r>
          </a:p>
          <a:p xmlns:a="http://schemas.openxmlformats.org/drawingml/2006/main">
            <a:r>
              <a:t>    "fact": "기존 연구행정 AI 고도화: 지능형 검색·멀티모델·도메인 에이전트·정형 문서 생성",</a:t>
            </a:r>
          </a:p>
          <a:p xmlns:a="http://schemas.openxmlformats.org/drawingml/2006/main">
            <a:r>
              <a:t>    "limit": "연구원 외부 TechGPT 성과와 본 내부사업을 혼동하지 않음",</a:t>
            </a:r>
          </a:p>
          <a:p xmlns:a="http://schemas.openxmlformats.org/drawingml/2006/main">
            <a:r>
              <a:t>    "nodes": [</a:t>
            </a:r>
          </a:p>
          <a:p xmlns:a="http://schemas.openxmlformats.org/drawingml/2006/main">
            <a:r>
              <a:t>      "직원·직무",</a:t>
            </a:r>
          </a:p>
          <a:p xmlns:a="http://schemas.openxmlformats.org/drawingml/2006/main">
            <a:r>
              <a:t>      "검색 재정렬",</a:t>
            </a:r>
          </a:p>
          <a:p xmlns:a="http://schemas.openxmlformats.org/drawingml/2006/main">
            <a:r>
              <a:t>      "업무 에이전트",</a:t>
            </a:r>
          </a:p>
          <a:p xmlns:a="http://schemas.openxmlformats.org/drawingml/2006/main">
            <a:r>
              <a:t>      "문서·운영 관리"</a:t>
            </a:r>
          </a:p>
          <a:p xmlns:a="http://schemas.openxmlformats.org/drawingml/2006/main">
            <a:r>
              <a:t>    ],</a:t>
            </a:r>
          </a:p>
          <a:p xmlns:a="http://schemas.openxmlformats.org/drawingml/2006/main">
            <a:r>
              <a:t>    "apply": "공식 소속·직무를 검색 순위·서식·업무 도구 선택에 연결하는 개인화",</a:t>
            </a:r>
          </a:p>
          <a:p xmlns:a="http://schemas.openxmlformats.org/drawingml/2006/main">
            <a:r>
              <a:t>    "delta": "사번–부서–직무–업무 연결 / 검색 재정렬 / 직무별 문서 양식",</a:t>
            </a:r>
          </a:p>
          <a:p xmlns:a="http://schemas.openxmlformats.org/drawingml/2006/main">
            <a:r>
              <a:t>    "test": "동일 질의의 직무별 정답·문서 순위·서식 비교 및 전보 후 권한 시험",</a:t>
            </a:r>
          </a:p>
          <a:p xmlns:a="http://schemas.openxmlformats.org/drawingml/2006/main">
            <a:r>
              <a:t>    "url": "https://www.g2b.go.kr/pn/pnp/pnpe/UntyAtchFile/downloadFile.do?bidPbancNo=R26BK01670411&amp;bidPbancOrd=000&amp;fileType=&amp;fileSeq=1&amp;prcmBsneSeCd=03",</a:t>
            </a:r>
          </a:p>
          <a:p xmlns:a="http://schemas.openxmlformats.org/drawingml/2006/main">
            <a:r>
              <a:t>    "urls": [</a:t>
            </a:r>
          </a:p>
          <a:p xmlns:a="http://schemas.openxmlformats.org/drawingml/2006/main">
            <a:r>
              <a:t>      "https://www.g2b.go.kr/pn/pnp/pnpe/UntyAtchFile/downloadFile.do?bidPbancNo=R26BK01670411&amp;bidPbancOrd=000&amp;fileType=&amp;fileSeq=1&amp;prcmBsneSeCd=03"</a:t>
            </a:r>
          </a:p>
          <a:p xmlns:a="http://schemas.openxmlformats.org/drawingml/2006/main">
            <a:r>
              <a:t>    ],</a:t>
            </a:r>
          </a:p>
          <a:p xmlns:a="http://schemas.openxmlformats.org/drawingml/2006/main">
            <a:r>
              <a:t>    "basis": "SFR-007~012 / Word T044",</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"직무별 과업 성공률 / 검색·문서 작성시간 / 요청당 비용",</a:t>
            </a:r>
          </a:p>
          <a:p xmlns:a="http://schemas.openxmlformats.org/drawingml/2006/main">
            <a:r>
              <a:t>    "group": "요구·구축",</a:t>
            </a:r>
          </a:p>
          <a:p xmlns:a="http://schemas.openxmlformats.org/drawingml/2006/main">
            <a:r>
              <a:t>    "sourceDetail": "소속·직무·검색이력·업무 기반 검색 재정렬, 양식/목차/입력 구조화, GPU 이중화·모델 롤백·부서별 토큰 비용",</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"PF-R03",</a:t>
            </a:r>
          </a:p>
          <a:p xmlns:a="http://schemas.openxmlformats.org/drawingml/2006/main">
            <a:r>
              <a:t>    "canonicalId": "PF-R03",</a:t>
            </a:r>
          </a:p>
          <a:p xmlns:a="http://schemas.openxmlformats.org/drawingml/2006/main">
            <a:r>
              <a:t>    "purpose": "직무별 검색과 정형 문서 작성의 고도화",</a:t>
            </a:r>
          </a:p>
          <a:p xmlns:a="http://schemas.openxmlformats.org/drawingml/2006/main">
            <a:r>
              <a:t>    "users": "연구직·행정직·플랫폼 운영자",</a:t>
            </a:r>
          </a:p>
          <a:p xmlns:a="http://schemas.openxmlformats.org/drawingml/2006/main">
            <a:r>
              <a:t>    "scope": [</a:t>
            </a:r>
          </a:p>
          <a:p xmlns:a="http://schemas.openxmlformats.org/drawingml/2006/main">
            <a:r>
              <a:t>      "검색 재정렬",</a:t>
            </a:r>
          </a:p>
          <a:p xmlns:a="http://schemas.openxmlformats.org/drawingml/2006/main">
            <a:r>
              <a:t>      "문서 생성",</a:t>
            </a:r>
          </a:p>
          <a:p xmlns:a="http://schemas.openxmlformats.org/drawingml/2006/main">
            <a:r>
              <a:t>      "멀티모델 운영"</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"연구행정 사용자",</a:t>
            </a:r>
          </a:p>
          <a:p xmlns:a="http://schemas.openxmlformats.org/drawingml/2006/main">
            <a:r>
              <a:t>        "detail": "소속·직무·검색 이력·진행업무 연결",</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"검색 재정렬 / 문서 생성 / 멀티모델 운영",</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"검색·업무 에이전트",</a:t>
            </a:r>
          </a:p>
          <a:p xmlns:a="http://schemas.openxmlformats.org/drawingml/2006/main">
            <a:r>
              <a:t>        "detail": "질의 보정·재정렬·요약·양식별 생성",</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"문서 작성 담당",</a:t>
            </a:r>
          </a:p>
          <a:p xmlns:a="http://schemas.openxmlformats.org/drawingml/2006/main">
            <a:r>
              <a:t>        "detail": "원문 근거와 목차·필드가 있는 초안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"연구행정 지식",</a:t>
            </a:r>
          </a:p>
          <a:p xmlns:a="http://schemas.openxmlformats.org/drawingml/2006/main">
            <a:r>
              <a:t>        "detail": "문서·연구성과·전문가·양식의 색인 구성",</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"GPU 이중화·모델 롤백·부서별 토큰 계측",</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"직원·직무",</a:t>
            </a:r>
          </a:p>
          <a:p xmlns:a="http://schemas.openxmlformats.org/drawingml/2006/main">
            <a:r>
              <a:t>        "input": "소속·직무·검색 이력·진행업무 연결",</a:t>
            </a:r>
          </a:p>
          <a:p xmlns:a="http://schemas.openxmlformats.org/drawingml/2006/main">
            <a:r>
              <a:t>        "process": "문서·연구성과·전문가·양식의 색인 구성",</a:t>
            </a:r>
          </a:p>
          <a:p xmlns:a="http://schemas.openxmlformats.org/drawingml/2006/main">
            <a:r>
              <a:t>        "output": "직무·질문"</a:t>
            </a:r>
          </a:p>
          <a:p xmlns:a="http://schemas.openxmlformats.org/drawingml/2006/main">
            <a:r>
              <a:t>      },</a:t>
            </a:r>
          </a:p>
          <a:p xmlns:a="http://schemas.openxmlformats.org/drawingml/2006/main">
            <a:r>
              <a:t>      {</a:t>
            </a:r>
          </a:p>
          <a:p xmlns:a="http://schemas.openxmlformats.org/drawingml/2006/main">
            <a:r>
              <a:t>        "title": "검색 재정렬",</a:t>
            </a:r>
          </a:p>
          <a:p xmlns:a="http://schemas.openxmlformats.org/drawingml/2006/main">
            <a:r>
              <a:t>        "input": "직무·질문",</a:t>
            </a:r>
          </a:p>
          <a:p xmlns:a="http://schemas.openxmlformats.org/drawingml/2006/main">
            <a:r>
              <a:t>        "process": "질의 보정·재정렬·요약·양식별 생성",</a:t>
            </a:r>
          </a:p>
          <a:p xmlns:a="http://schemas.openxmlformats.org/drawingml/2006/main">
            <a:r>
              <a:t>        "output": "재정렬 근거"</a:t>
            </a:r>
          </a:p>
          <a:p xmlns:a="http://schemas.openxmlformats.org/drawingml/2006/main">
            <a:r>
              <a:t>      },</a:t>
            </a:r>
          </a:p>
          <a:p xmlns:a="http://schemas.openxmlformats.org/drawingml/2006/main">
            <a:r>
              <a:t>      {</a:t>
            </a:r>
          </a:p>
          <a:p xmlns:a="http://schemas.openxmlformats.org/drawingml/2006/main">
            <a:r>
              <a:t>        "title": "업무 에이전트",</a:t>
            </a:r>
          </a:p>
          <a:p xmlns:a="http://schemas.openxmlformats.org/drawingml/2006/main">
            <a:r>
              <a:t>        "input": "재정렬 근거",</a:t>
            </a:r>
          </a:p>
          <a:p xmlns:a="http://schemas.openxmlformats.org/drawingml/2006/main">
            <a:r>
              <a:t>        "process": "기존 검색 대비 근거·완료시간 평가",</a:t>
            </a:r>
          </a:p>
          <a:p xmlns:a="http://schemas.openxmlformats.org/drawingml/2006/main">
            <a:r>
              <a:t>        "output": "정형 초안"</a:t>
            </a:r>
          </a:p>
          <a:p xmlns:a="http://schemas.openxmlformats.org/drawingml/2006/main">
            <a:r>
              <a:t>      },</a:t>
            </a:r>
          </a:p>
          <a:p xmlns:a="http://schemas.openxmlformats.org/drawingml/2006/main">
            <a:r>
              <a:t>      {</a:t>
            </a:r>
          </a:p>
          <a:p xmlns:a="http://schemas.openxmlformats.org/drawingml/2006/main">
            <a:r>
              <a:t>        "title": "문서·운영 관리",</a:t>
            </a:r>
          </a:p>
          <a:p xmlns:a="http://schemas.openxmlformats.org/drawingml/2006/main">
            <a:r>
              <a:t>        "input": "정형 초안",</a:t>
            </a:r>
          </a:p>
          <a:p xmlns:a="http://schemas.openxmlformats.org/drawingml/2006/main">
            <a:r>
              <a:t>        "process": "원문 근거와 목차·필드가 있는 초안 제공",</a:t>
            </a:r>
          </a:p>
          <a:p xmlns:a="http://schemas.openxmlformats.org/drawingml/2006/main">
            <a:r>
              <a:t>        "output": "검토 문서"</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"동일 질의를 연구직·행정직 계정으로 실행해 검색·서식 비교",</a:t>
            </a:r>
          </a:p>
          <a:p xmlns:a="http://schemas.openxmlformats.org/drawingml/2006/main">
            <a:r>
              <a:t>      "exception": "전보 전 캐시·권한 없는 연구자료·모델 장애",</a:t>
            </a:r>
          </a:p>
          <a:p xmlns:a="http://schemas.openxmlformats.org/drawingml/2006/main">
            <a:r>
              <a:t>      "evidence": "직무별 순위·근거·서식과 모델 전환·복구 결과",</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"연구직·행정직·플랫폼 운영자",</a:t>
            </a:r>
          </a:p>
          <a:p xmlns:a="http://schemas.openxmlformats.org/drawingml/2006/main">
            <a:r>
              <a:t>          "processing": "소속·직무·검색 이력·진행업무 연결",</a:t>
            </a:r>
          </a:p>
          <a:p xmlns:a="http://schemas.openxmlformats.org/drawingml/2006/main">
            <a:r>
              <a:t>          "output": "직무·질문"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"연구행정 지식",</a:t>
            </a:r>
          </a:p>
          <a:p xmlns:a="http://schemas.openxmlformats.org/drawingml/2006/main">
            <a:r>
              <a:t>          "processing": "문서·연구성과·전문가·양식의 색인 구성",</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"직무·질문",</a:t>
            </a:r>
          </a:p>
          <a:p xmlns:a="http://schemas.openxmlformats.org/drawingml/2006/main">
            <a:r>
              <a:t>          "processing": "질의 보정·재정렬·요약·양식별 생성",</a:t>
            </a:r>
          </a:p>
          <a:p xmlns:a="http://schemas.openxmlformats.org/drawingml/2006/main">
            <a:r>
              <a:t>          "output": "정형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"정형 초안",</a:t>
            </a:r>
          </a:p>
          <a:p xmlns:a="http://schemas.openxmlformats.org/drawingml/2006/main">
            <a:r>
              <a:t>          "processing": "원문 근거와 목차·필드가 있는 초안 제공",</a:t>
            </a:r>
          </a:p>
          <a:p xmlns:a="http://schemas.openxmlformats.org/drawingml/2006/main">
            <a:r>
              <a:t>          "output": "검토 문서"</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"GPU 이중화·모델 롤백·부서별 토큰 계측",</a:t>
            </a:r>
          </a:p>
          <a:p xmlns:a="http://schemas.openxmlformats.org/drawingml/2006/main">
            <a:r>
              <a:t>          "output": "직무별 순위·근거·서식과 모델 전환·복구 결과"</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"GPU 이중화·모델 롤백·부서별 토큰 계측",</a:t>
            </a:r>
          </a:p>
          <a:p xmlns:a="http://schemas.openxmlformats.org/drawingml/2006/main">
            <a:r>
              <a:t>    "status": "RFP 기반 논리 설계",</a:t>
            </a:r>
          </a:p>
          <a:p xmlns:a="http://schemas.openxmlformats.org/drawingml/2006/main">
            <a:r>
              <a:t>    "basis": "RFP 2026.05 · SFR-007~012",</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"SFR-007~012 / Word T044",</a:t>
            </a:r>
          </a:p>
          <a:p xmlns:a="http://schemas.openxmlformats.org/drawingml/2006/main">
            <a:r>
              <a:t>        "url": "https://www.g2b.go.kr/pn/pnp/pnpe/UntyAtchFile/downloadFile.do?bidPbancNo=R26BK01670411&amp;bidPbancOrd=000&amp;fileType=&amp;fileSeq=1&amp;prcmBsneSeCd=03"</a:t>
            </a:r>
          </a:p>
          <a:p xmlns:a="http://schemas.openxmlformats.org/drawingml/2006/main">
            <a:r>
              <a:t>      }</a:t>
            </a:r>
          </a:p>
          <a:p xmlns:a="http://schemas.openxmlformats.org/drawingml/2006/main">
            <a:r>
              <a:t>    ],</a:t>
            </a:r>
          </a:p>
          <a:p xmlns:a="http://schemas.openxmlformats.org/drawingml/2006/main">
            <a:r>
              <a:t>    "implication": "공식 소속·직무를 검색 순위·서식·업무 도구 선택에 연결하는 개인화",</a:t>
            </a:r>
          </a:p>
          <a:p xmlns:a="http://schemas.openxmlformats.org/drawingml/2006/main">
            <a:r>
              <a:t>    "local": "공식 소속·직무를 검색 순위·서식·업무 도구 선택에 연결하는 개인화",</a:t>
            </a:r>
          </a:p>
          <a:p xmlns:a="http://schemas.openxmlformats.org/drawingml/2006/main">
            <a:r>
              <a:t>    "sourceDetail": "소속·직무·검색이력·업무 기반 검색 재정렬, 양식/목차/입력 구조화, GPU 이중화·모델 롤백·부서별 토큰 비용",</a:t>
            </a:r>
          </a:p>
          <a:p xmlns:a="http://schemas.openxmlformats.org/drawingml/2006/main">
            <a:r>
              <a:t>    "narrative": [</a:t>
            </a:r>
          </a:p>
          <a:p xmlns:a="http://schemas.openxmlformats.org/drawingml/2006/main">
            <a:r>
              <a:t>      "생산기술연구원의 기존 연구행정 검색·AI 환경에 직무별 검색, 에이전트 처리, 문서 생성, 운영 관리 기능을 추가하는 고도화. 연구직과 행정직의 관심 자료가 다른 상황에서 동일 질의의 결과 순서를 다르게 구성하는 요구가 핵심.",</a:t>
            </a:r>
          </a:p>
          <a:p xmlns:a="http://schemas.openxmlformats.org/drawingml/2006/main">
            <a:r>
              <a:t>      "SFR-007은 부서·직무·검색 이력·진행 업무를 이용한 검색 최적화, SFR-009는 복합 질문의 태스크 분해와 도메인 에이전트 호출, SFR-010은 문서 양식·필수 항목·내부 과제정보의 결합을 요구. 인사 연동과 역할별 접근제어를 검색 추천보다 먼저 연결하는 설계.",</a:t>
            </a:r>
          </a:p>
          <a:p xmlns:a="http://schemas.openxmlformats.org/drawingml/2006/main">
            <a:r>
              <a:t>      "TS 조직 네이티브 AI와 직접 비교할 지점은 공식 소속·직무를 검색 문맥으로 사용하는 방식. 추천 순위 개선과 접근권한 확대를 분리하고, 전보 전후 동일 질의의 검색 범위·서식·근거 차이를 검수할 필요. 기존 검색·LLM의 재사용과 조직 매핑 추가분의 구분."</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"SFR-002",</a:t>
            </a:r>
          </a:p>
          <a:p xmlns:a="http://schemas.openxmlformats.org/drawingml/2006/main">
            <a:r>
              <a:t>        "title": "Agent 일반 사항",</a:t>
            </a:r>
          </a:p>
          <a:p xmlns:a="http://schemas.openxmlformats.org/drawingml/2006/main">
            <a:r>
              <a:t>        "locator": "SFR-002",</a:t>
            </a:r>
          </a:p>
          <a:p xmlns:a="http://schemas.openxmlformats.org/drawingml/2006/main">
            <a:r>
              <a:t>        "summary": "MCP 도구 등을 이용한 에이전트 실행의 공통 기능 구성. 업무 요청과 도구 호출의 연결 관리.",</a:t>
            </a:r>
          </a:p>
          <a:p xmlns:a="http://schemas.openxmlformats.org/drawingml/2006/main">
            <a:r>
              <a:t>        "data": "업무 요청·도구 정의 → 호출 계획·도구 결과",</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"C07"</a:t>
            </a:r>
          </a:p>
          <a:p xmlns:a="http://schemas.openxmlformats.org/drawingml/2006/main">
            <a:r>
              <a:t>        ],</a:t>
            </a:r>
          </a:p>
          <a:p xmlns:a="http://schemas.openxmlformats.org/drawingml/2006/main">
            <a:r>
              <a:t>        "acceptance": "미등록 도구·잘못된 인자·호출 실패 상황의 실행 보류와 오류 반환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"600876c2133d5557fe295a881eb90450c3e422b7ff02c531aaeae32498f9894f"</a:t>
            </a:r>
          </a:p>
          <a:p xmlns:a="http://schemas.openxmlformats.org/drawingml/2006/main">
            <a:r>
              <a:t>      },</a:t>
            </a:r>
          </a:p>
          <a:p xmlns:a="http://schemas.openxmlformats.org/drawingml/2006/main">
            <a:r>
              <a:t>      {</a:t>
            </a:r>
          </a:p>
          <a:p xmlns:a="http://schemas.openxmlformats.org/drawingml/2006/main">
            <a:r>
              <a:t>        "id": "SFR-003",</a:t>
            </a:r>
          </a:p>
          <a:p xmlns:a="http://schemas.openxmlformats.org/drawingml/2006/main">
            <a:r>
              <a:t>        "title": "접근 및 권한관리",</a:t>
            </a:r>
          </a:p>
          <a:p xmlns:a="http://schemas.openxmlformats.org/drawingml/2006/main">
            <a:r>
              <a:t>        "locator": "SFR-003",</a:t>
            </a:r>
          </a:p>
          <a:p xmlns:a="http://schemas.openxmlformats.org/drawingml/2006/main">
            <a:r>
              <a:t>        "summary": "인사·조직 정보를 반영한 접근 및 권한 관리. 사용자 역할에 맞는 데이터·기능 범위 적용.",</a:t>
            </a:r>
          </a:p>
          <a:p xmlns:a="http://schemas.openxmlformats.org/drawingml/2006/main">
            <a:r>
              <a:t>        "data": "직원·부서·역할 → 허용 데이터·기능",</a:t>
            </a:r>
          </a:p>
          <a:p xmlns:a="http://schemas.openxmlformats.org/drawingml/2006/main">
            <a:r>
              <a:t>        "components": [</a:t>
            </a:r>
          </a:p>
          <a:p xmlns:a="http://schemas.openxmlformats.org/drawingml/2006/main">
            <a:r>
              <a:t>          "C02",</a:t>
            </a:r>
          </a:p>
          <a:p xmlns:a="http://schemas.openxmlformats.org/drawingml/2006/main">
            <a:r>
              <a:t>          "C12"</a:t>
            </a:r>
          </a:p>
          <a:p xmlns:a="http://schemas.openxmlformats.org/drawingml/2006/main">
            <a:r>
              <a:t>        ],</a:t>
            </a:r>
          </a:p>
          <a:p xmlns:a="http://schemas.openxmlformats.org/drawingml/2006/main">
            <a:r>
              <a:t>        "acceptance": "전보·겸직·퇴직·권한 해제 시 검색과 실행 양쪽의 접근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"04990216c1150703cd093e78e1cf6629542fbdaca4c97f9dca5f8e4f3b400cce"</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"데이터 통합 파이프라인 구축",</a:t>
            </a:r>
          </a:p>
          <a:p xmlns:a="http://schemas.openxmlformats.org/drawingml/2006/main">
            <a:r>
              <a:t>        "locator": "SFR-004",</a:t>
            </a:r>
          </a:p>
          <a:p xmlns:a="http://schemas.openxmlformats.org/drawingml/2006/main">
            <a:r>
              <a:t>        "summary": "분산 데이터를 수집·정제·연계하는 통합 파이프라인 구축.",</a:t>
            </a:r>
          </a:p>
          <a:p xmlns:a="http://schemas.openxmlformats.org/drawingml/2006/main">
            <a:r>
              <a:t>        "data": "업무 원천·메타데이터 → 검색·AI 활용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"파일 형식 오류·중복·갱신·삭제 자료의 재처리와 원천-색인 건수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"e23449e0d4bf6fe973e547277bd671a1db47129f3f697fe40e3653855a967d51"</a:t>
            </a:r>
          </a:p>
          <a:p xmlns:a="http://schemas.openxmlformats.org/drawingml/2006/main">
            <a:r>
              <a:t>      },</a:t>
            </a:r>
          </a:p>
          <a:p xmlns:a="http://schemas.openxmlformats.org/drawingml/2006/main">
            <a:r>
              <a:t>      {</a:t>
            </a:r>
          </a:p>
          <a:p xmlns:a="http://schemas.openxmlformats.org/drawingml/2006/main">
            <a:r>
              <a:t>        "id": "SFR-007",</a:t>
            </a:r>
          </a:p>
          <a:p xmlns:a="http://schemas.openxmlformats.org/drawingml/2006/main">
            <a:r>
              <a:t>        "title": "AI 기반 지능형 검색 서비스",</a:t>
            </a:r>
          </a:p>
          <a:p xmlns:a="http://schemas.openxmlformats.org/drawingml/2006/main">
            <a:r>
              <a:t>        "locator": "SFR-007",</a:t>
            </a:r>
          </a:p>
          <a:p xmlns:a="http://schemas.openxmlformats.org/drawingml/2006/main">
            <a:r>
              <a:t>        "summary": "부서·직무·사용 이력 등을 반영한 AI 검색과 결과 재정렬.",</a:t>
            </a:r>
          </a:p>
          <a:p xmlns:a="http://schemas.openxmlformats.org/drawingml/2006/main">
            <a:r>
              <a:t>        "data": "동일 질의·다른 직무 문맥 → 직무별 관련 근거 순위",</a:t>
            </a:r>
          </a:p>
          <a:p xmlns:a="http://schemas.openxmlformats.org/drawingml/2006/main">
            <a:r>
              <a:t>        "components": [</a:t>
            </a:r>
          </a:p>
          <a:p xmlns:a="http://schemas.openxmlformats.org/drawingml/2006/main">
            <a:r>
              <a:t>          "C02",</a:t>
            </a:r>
          </a:p>
          <a:p xmlns:a="http://schemas.openxmlformats.org/drawingml/2006/main">
            <a:r>
              <a:t>          "C03",</a:t>
            </a:r>
          </a:p>
          <a:p xmlns:a="http://schemas.openxmlformats.org/drawingml/2006/main">
            <a:r>
              <a:t>          "C11"</a:t>
            </a:r>
          </a:p>
          <a:p xmlns:a="http://schemas.openxmlformats.org/drawingml/2006/main">
            <a:r>
              <a:t>        ],</a:t>
            </a:r>
          </a:p>
          <a:p xmlns:a="http://schemas.openxmlformats.org/drawingml/2006/main">
            <a:r>
              <a:t>        "acceptance": "연구직·행정직의 동일 질의에서 관련성 변화와 권한 밖 결과 제외를 함께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"3e12718b7b492badc155b10cf84e1b67c500d44a7c8333c9b026c5a4dea691ad"</a:t>
            </a:r>
          </a:p>
          <a:p xmlns:a="http://schemas.openxmlformats.org/drawingml/2006/main">
            <a:r>
              <a:t>      },</a:t>
            </a:r>
          </a:p>
          <a:p xmlns:a="http://schemas.openxmlformats.org/drawingml/2006/main">
            <a:r>
              <a:t>      {</a:t>
            </a:r>
          </a:p>
          <a:p xmlns:a="http://schemas.openxmlformats.org/drawingml/2006/main">
            <a:r>
              <a:t>        "id": "SFR-008",</a:t>
            </a:r>
          </a:p>
          <a:p xmlns:a="http://schemas.openxmlformats.org/drawingml/2006/main">
            <a:r>
              <a:t>        "title": "멀티 모델 적용",</a:t>
            </a:r>
          </a:p>
          <a:p xmlns:a="http://schemas.openxmlformats.org/drawingml/2006/main">
            <a:r>
              <a:t>        "locator": "SFR-008",</a:t>
            </a:r>
          </a:p>
          <a:p xmlns:a="http://schemas.openxmlformats.org/drawingml/2006/main">
            <a:r>
              <a:t>        "summary": "복수 모델의 적용·선택·비교를 지원하는 멀티모델 구조.",</a:t>
            </a:r>
          </a:p>
          <a:p xmlns:a="http://schemas.openxmlformats.org/drawingml/2006/main">
            <a:r>
              <a:t>        "data": "업무 유형·모델 설정 → 모델별 결과·비교 기록",</a:t>
            </a:r>
          </a:p>
          <a:p xmlns:a="http://schemas.openxmlformats.org/drawingml/2006/main">
            <a:r>
              <a:t>        "components": [</a:t>
            </a:r>
          </a:p>
          <a:p xmlns:a="http://schemas.openxmlformats.org/drawingml/2006/main">
            <a:r>
              <a:t>          "C04",</a:t>
            </a:r>
          </a:p>
          <a:p xmlns:a="http://schemas.openxmlformats.org/drawingml/2006/main">
            <a:r>
              <a:t>          "C08"</a:t>
            </a:r>
          </a:p>
          <a:p xmlns:a="http://schemas.openxmlformats.org/drawingml/2006/main">
            <a:r>
              <a:t>        ],</a:t>
            </a:r>
          </a:p>
          <a:p xmlns:a="http://schemas.openxmlformats.org/drawingml/2006/main">
            <a:r>
              <a:t>        "acceptance": "같은 입력의 모델별 정확성·시간·비용과 오류 발생 시 처리 경로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"a446f7c2f5ef6677204833f37fa4bbda4bae700a5c3c1b2e4e8a729dc569f518"</a:t>
            </a:r>
          </a:p>
          <a:p xmlns:a="http://schemas.openxmlformats.org/drawingml/2006/main">
            <a:r>
              <a:t>      },</a:t>
            </a:r>
          </a:p>
          <a:p xmlns:a="http://schemas.openxmlformats.org/drawingml/2006/main">
            <a:r>
              <a:t>      {</a:t>
            </a:r>
          </a:p>
          <a:p xmlns:a="http://schemas.openxmlformats.org/drawingml/2006/main">
            <a:r>
              <a:t>        "id": "SFR-009",</a:t>
            </a:r>
          </a:p>
          <a:p xmlns:a="http://schemas.openxmlformats.org/drawingml/2006/main">
            <a:r>
              <a:t>        "title": "지능형 질의응답 고도화 체계 구축",</a:t>
            </a:r>
          </a:p>
          <a:p xmlns:a="http://schemas.openxmlformats.org/drawingml/2006/main">
            <a:r>
              <a:t>        "locator": "SFR-009",</a:t>
            </a:r>
          </a:p>
          <a:p xmlns:a="http://schemas.openxmlformats.org/drawingml/2006/main">
            <a:r>
              <a:t>        "summary": "질의의 업무 계획 수립과 도메인 에이전트 연결을 통한 질의응답 고도화.",</a:t>
            </a:r>
          </a:p>
          <a:p xmlns:a="http://schemas.openxmlformats.org/drawingml/2006/main">
            <a:r>
              <a:t>        "data": "복합 업무 질의 → 단계별 계획·도구 결과·응답",</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"C07"</a:t>
            </a:r>
          </a:p>
          <a:p xmlns:a="http://schemas.openxmlformats.org/drawingml/2006/main">
            <a:r>
              <a:t>        ],</a:t>
            </a:r>
          </a:p>
          <a:p xmlns:a="http://schemas.openxmlformats.org/drawingml/2006/main">
            <a:r>
              <a:t>        "acceptance": "계획 일부 실패·불필요한 도구 호출·담당 영역 혼동 시 중단·재계획 경로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"86afdf5c09bd02dc72865179ec33f762956a14ddf1cf170340996155bdafaf57"</a:t>
            </a:r>
          </a:p>
          <a:p xmlns:a="http://schemas.openxmlformats.org/drawingml/2006/main">
            <a:r>
              <a:t>      },</a:t>
            </a:r>
          </a:p>
          <a:p xmlns:a="http://schemas.openxmlformats.org/drawingml/2006/main">
            <a:r>
              <a:t>      {</a:t>
            </a:r>
          </a:p>
          <a:p xmlns:a="http://schemas.openxmlformats.org/drawingml/2006/main">
            <a:r>
              <a:t>        "id": "SFR-010",</a:t>
            </a:r>
          </a:p>
          <a:p xmlns:a="http://schemas.openxmlformats.org/drawingml/2006/main">
            <a:r>
              <a:t>        "title": "문서 자동 생성 지원",</a:t>
            </a:r>
          </a:p>
          <a:p xmlns:a="http://schemas.openxmlformats.org/drawingml/2006/main">
            <a:r>
              <a:t>        "locator": "SFR-010",</a:t>
            </a:r>
          </a:p>
          <a:p xmlns:a="http://schemas.openxmlformats.org/drawingml/2006/main">
            <a:r>
              <a:t>        "summary": "템플릿·메타데이터·내부 자료를 활용한 정형 문서 생성 지원.",</a:t>
            </a:r>
          </a:p>
          <a:p xmlns:a="http://schemas.openxmlformats.org/drawingml/2006/main">
            <a:r>
              <a:t>        "data": "양식·필수 항목·근거 자료 → 편집 가능한 문서 초안",</a:t>
            </a:r>
          </a:p>
          <a:p xmlns:a="http://schemas.openxmlformats.org/drawingml/2006/main">
            <a:r>
              <a:t>        "components": [</a:t>
            </a:r>
          </a:p>
          <a:p xmlns:a="http://schemas.openxmlformats.org/drawingml/2006/main">
            <a:r>
              <a:t>          "C04",</a:t>
            </a:r>
          </a:p>
          <a:p xmlns:a="http://schemas.openxmlformats.org/drawingml/2006/main">
            <a:r>
              <a:t>          "C05",</a:t>
            </a:r>
          </a:p>
          <a:p xmlns:a="http://schemas.openxmlformats.org/drawingml/2006/main">
            <a:r>
              <a:t>          "C06"</a:t>
            </a:r>
          </a:p>
          <a:p xmlns:a="http://schemas.openxmlformats.org/drawingml/2006/main">
            <a:r>
              <a:t>        ],</a:t>
            </a:r>
          </a:p>
          <a:p xmlns:a="http://schemas.openxmlformats.org/drawingml/2006/main">
            <a:r>
              <a:t>        "acceptance": "필수 항목 누락·다른 양식 판본·숫자 인용 오류의 검출과 사용자 수정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"20df882404a76e75b24ff57eaa67d2d18ca56387f99e065033be13396d4a5f00"</a:t>
            </a:r>
          </a:p>
          <a:p xmlns:a="http://schemas.openxmlformats.org/drawingml/2006/main">
            <a:r>
              <a:t>      },</a:t>
            </a:r>
          </a:p>
          <a:p xmlns:a="http://schemas.openxmlformats.org/drawingml/2006/main">
            <a:r>
              <a:t>      {</a:t>
            </a:r>
          </a:p>
          <a:p xmlns:a="http://schemas.openxmlformats.org/drawingml/2006/main">
            <a:r>
              <a:t>        "id": "SFR-012",</a:t>
            </a:r>
          </a:p>
          <a:p xmlns:a="http://schemas.openxmlformats.org/drawingml/2006/main">
            <a:r>
              <a:t>        "title": "AI 서비스 운영 모니터링 체계구축",</a:t>
            </a:r>
          </a:p>
          <a:p xmlns:a="http://schemas.openxmlformats.org/drawingml/2006/main">
            <a:r>
              <a:t>        "locator": "SFR-012",</a:t>
            </a:r>
          </a:p>
          <a:p xmlns:a="http://schemas.openxmlformats.org/drawingml/2006/main">
            <a:r>
              <a:t>        "summary": "AI 서비스의 처리·이용·품질 상태를 확인하는 운영 모니터링 체계.",</a:t>
            </a:r>
          </a:p>
          <a:p xmlns:a="http://schemas.openxmlformats.org/drawingml/2006/main">
            <a:r>
              <a:t>        "data": "호출·서비스 상태·오류 → 관측 지표·운영 기록",</a:t>
            </a:r>
          </a:p>
          <a:p xmlns:a="http://schemas.openxmlformats.org/drawingml/2006/main">
            <a:r>
              <a:t>        "components": [</a:t>
            </a:r>
          </a:p>
          <a:p xmlns:a="http://schemas.openxmlformats.org/drawingml/2006/main">
            <a:r>
              <a:t>          "C08"</a:t>
            </a:r>
          </a:p>
          <a:p xmlns:a="http://schemas.openxmlformats.org/drawingml/2006/main">
            <a:r>
              <a:t>        ],</a:t>
            </a:r>
          </a:p>
          <a:p xmlns:a="http://schemas.openxmlformats.org/drawingml/2006/main">
            <a:r>
              <a:t>        "acceptance": "한 요청의 검색·모델·도구 단계를 연결해 실패 지점과 지연 원인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"253bfe0e809bb087229cb4b40f86856252a906181714e2b1a1a84d46237d7570"</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"연구행정 접점",</a:t>
            </a:r>
          </a:p>
          <a:p xmlns:a="http://schemas.openxmlformats.org/drawingml/2006/main">
            <a:r>
              <a:t>          "layer": "이용 접점",</a:t>
            </a:r>
          </a:p>
          <a:p xmlns:a="http://schemas.openxmlformats.org/drawingml/2006/main">
            <a:r>
              <a:t>          "detail": "연구직·행정직·플랫폼 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"소속·직무·이력",</a:t>
            </a:r>
          </a:p>
          <a:p xmlns:a="http://schemas.openxmlformats.org/drawingml/2006/main">
            <a:r>
              <a:t>          "layer": "업무 문맥",</a:t>
            </a:r>
          </a:p>
          <a:p xmlns:a="http://schemas.openxmlformats.org/drawingml/2006/main">
            <a:r>
              <a:t>          "detail": "소속·직무·검색 이력·진행업무 연결",</a:t>
            </a:r>
          </a:p>
          <a:p xmlns:a="http://schemas.openxmlformats.org/drawingml/2006/main">
            <a:r>
              <a:t>          "requirements": [</a:t>
            </a:r>
          </a:p>
          <a:p xmlns:a="http://schemas.openxmlformats.org/drawingml/2006/main">
            <a:r>
              <a:t>            "SFR-002",</a:t>
            </a:r>
          </a:p>
          <a:p xmlns:a="http://schemas.openxmlformats.org/drawingml/2006/main">
            <a:r>
              <a:t>            "SFR-003",</a:t>
            </a:r>
          </a:p>
          <a:p xmlns:a="http://schemas.openxmlformats.org/drawingml/2006/main">
            <a:r>
              <a:t>            "SFR-007",</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"업무 검색 재정렬",</a:t>
            </a:r>
          </a:p>
          <a:p xmlns:a="http://schemas.openxmlformats.org/drawingml/2006/main">
            <a:r>
              <a:t>          "layer": "자료 조회",</a:t>
            </a:r>
          </a:p>
          <a:p xmlns:a="http://schemas.openxmlformats.org/drawingml/2006/main">
            <a:r>
              <a:t>          "detail": "직무·질문",</a:t>
            </a:r>
          </a:p>
          <a:p xmlns:a="http://schemas.openxmlformats.org/drawingml/2006/main">
            <a:r>
              <a:t>          "requirements": [</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"에이전트·정형 생성",</a:t>
            </a:r>
          </a:p>
          <a:p xmlns:a="http://schemas.openxmlformats.org/drawingml/2006/main">
            <a:r>
              <a:t>          "layer": "핵심 처리",</a:t>
            </a:r>
          </a:p>
          <a:p xmlns:a="http://schemas.openxmlformats.org/drawingml/2006/main">
            <a:r>
              <a:t>          "detail": "질의 보정·재정렬·요약·양식별 생성",</a:t>
            </a:r>
          </a:p>
          <a:p xmlns:a="http://schemas.openxmlformats.org/drawingml/2006/main">
            <a:r>
              <a:t>          "requirements": [</a:t>
            </a:r>
          </a:p>
          <a:p xmlns:a="http://schemas.openxmlformats.org/drawingml/2006/main">
            <a:r>
              <a:t>            "SFR-002",</a:t>
            </a:r>
          </a:p>
          <a:p xmlns:a="http://schemas.openxmlformats.org/drawingml/2006/main">
            <a:r>
              <a:t>            "SFR-008",</a:t>
            </a:r>
          </a:p>
          <a:p xmlns:a="http://schemas.openxmlformats.org/drawingml/2006/main">
            <a:r>
              <a:t>            "SFR-009",</a:t>
            </a:r>
          </a:p>
          <a:p xmlns:a="http://schemas.openxmlformats.org/drawingml/2006/main">
            <a:r>
              <a:t>            "SFR-010"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"양식·근거 검사",</a:t>
            </a:r>
          </a:p>
          <a:p xmlns:a="http://schemas.openxmlformats.org/drawingml/2006/main">
            <a:r>
              <a:t>          "layer": "결과 검증",</a:t>
            </a:r>
          </a:p>
          <a:p xmlns:a="http://schemas.openxmlformats.org/drawingml/2006/main">
            <a:r>
              <a:t>          "detail": "기존 검색 대비 근거·완료시간 평가",</a:t>
            </a:r>
          </a:p>
          <a:p xmlns:a="http://schemas.openxmlformats.org/drawingml/2006/main">
            <a:r>
              <a:t>          "requirements": [</a:t>
            </a:r>
          </a:p>
          <a:p xmlns:a="http://schemas.openxmlformats.org/drawingml/2006/main">
            <a:r>
              <a:t>            "SFR-010"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"작성 담당 확인",</a:t>
            </a:r>
          </a:p>
          <a:p xmlns:a="http://schemas.openxmlformats.org/drawingml/2006/main">
            <a:r>
              <a:t>          "layer": "사람 확인",</a:t>
            </a:r>
          </a:p>
          <a:p xmlns:a="http://schemas.openxmlformats.org/drawingml/2006/main">
            <a:r>
              <a:t>          "detail": "동일 질의를 연구직·행정직 계정으로 실행해 검색·서식 비교",</a:t>
            </a:r>
          </a:p>
          <a:p xmlns:a="http://schemas.openxmlformats.org/drawingml/2006/main">
            <a:r>
              <a:t>          "requirements": [</a:t>
            </a:r>
          </a:p>
          <a:p xmlns:a="http://schemas.openxmlformats.org/drawingml/2006/main">
            <a:r>
              <a:t>            "SFR-010"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"문서 업무 연결",</a:t>
            </a:r>
          </a:p>
          <a:p xmlns:a="http://schemas.openxmlformats.org/drawingml/2006/main">
            <a:r>
              <a:t>          "layer": "업무 연결",</a:t>
            </a:r>
          </a:p>
          <a:p xmlns:a="http://schemas.openxmlformats.org/drawingml/2006/main">
            <a:r>
              <a:t>          "detail": "원문 근거와 목차·필드가 있는 초안 제공",</a:t>
            </a:r>
          </a:p>
          <a:p xmlns:a="http://schemas.openxmlformats.org/drawingml/2006/main">
            <a:r>
              <a:t>          "requirements": [</a:t>
            </a:r>
          </a:p>
          <a:p xmlns:a="http://schemas.openxmlformats.org/drawingml/2006/main">
            <a:r>
              <a:t>            "SFR-002",</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"토큰·회귀 평가",</a:t>
            </a:r>
          </a:p>
          <a:p xmlns:a="http://schemas.openxmlformats.org/drawingml/2006/main">
            <a:r>
              <a:t>          "layer": "운영 관측",</a:t>
            </a:r>
          </a:p>
          <a:p xmlns:a="http://schemas.openxmlformats.org/drawingml/2006/main">
            <a:r>
              <a:t>          "detail": "GPU 이중화·모델 롤백·부서별 토큰 계측",</a:t>
            </a:r>
          </a:p>
          <a:p xmlns:a="http://schemas.openxmlformats.org/drawingml/2006/main">
            <a:r>
              <a:t>          "requirements": [</a:t>
            </a:r>
          </a:p>
          <a:p xmlns:a="http://schemas.openxmlformats.org/drawingml/2006/main">
            <a:r>
              <a:t>            "SFR-008",</a:t>
            </a:r>
          </a:p>
          <a:p xmlns:a="http://schemas.openxmlformats.org/drawingml/2006/main">
            <a:r>
              <a:t>            "SFR-012"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"연구행정 자료",</a:t>
            </a:r>
          </a:p>
          <a:p xmlns:a="http://schemas.openxmlformats.org/drawingml/2006/main">
            <a:r>
              <a:t>          "layer": "데이터 원천",</a:t>
            </a:r>
          </a:p>
          <a:p xmlns:a="http://schemas.openxmlformats.org/drawingml/2006/main">
            <a:r>
              <a:t>          "detail": "연구행정 지식",</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"목차·문서 구조화",</a:t>
            </a:r>
          </a:p>
          <a:p xmlns:a="http://schemas.openxmlformats.org/drawingml/2006/main">
            <a:r>
              <a:t>          "layer": "준비·갱신",</a:t>
            </a:r>
          </a:p>
          <a:p xmlns:a="http://schemas.openxmlformats.org/drawingml/2006/main">
            <a:r>
              <a:t>          "detail": "문서·연구성과·전문가·양식의 색인 구성",</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"허용 지식·색인",</a:t>
            </a:r>
          </a:p>
          <a:p xmlns:a="http://schemas.openxmlformats.org/drawingml/2006/main">
            <a:r>
              <a:t>          "layer": "상태·지식 저장",</a:t>
            </a:r>
          </a:p>
          <a:p xmlns:a="http://schemas.openxmlformats.org/drawingml/2006/main">
            <a:r>
              <a:t>          "detail": "직무별 순위·근거·서식과 모델 전환·복구 결과",</a:t>
            </a:r>
          </a:p>
          <a:p xmlns:a="http://schemas.openxmlformats.org/drawingml/2006/main">
            <a:r>
              <a:t>          "requirements": [</a:t>
            </a:r>
          </a:p>
          <a:p xmlns:a="http://schemas.openxmlformats.org/drawingml/2006/main">
            <a:r>
              <a:t>            "SFR-004",</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"모델·롤백 정책",</a:t>
            </a:r>
          </a:p>
          <a:p xmlns:a="http://schemas.openxmlformats.org/drawingml/2006/main">
            <a:r>
              <a:t>          "layer": "권한·정책",</a:t>
            </a:r>
          </a:p>
          <a:p xmlns:a="http://schemas.openxmlformats.org/drawingml/2006/main">
            <a:r>
              <a:t>          "detail": "전보 전 캐시·권한 없는 연구자료·모델 장애",</a:t>
            </a:r>
          </a:p>
          <a:p xmlns:a="http://schemas.openxmlformats.org/drawingml/2006/main">
            <a:r>
              <a:t>          "requirements": [</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"소속·직무·검색 이력·진행업무 연결",</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"직무·질문",</a:t>
            </a:r>
          </a:p>
          <a:p xmlns:a="http://schemas.openxmlformats.org/drawingml/2006/main">
            <a:r>
              <a:t>          "check": "기존 검색 대비 근거·완료시간 평가"</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"재정렬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"정형 초안",</a:t>
            </a:r>
          </a:p>
          <a:p xmlns:a="http://schemas.openxmlformats.org/drawingml/2006/main">
            <a:r>
              <a:t>          "check": "전보 전 캐시·권한 없는 연구자료·모델 장애"</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"정형 초안",</a:t>
            </a:r>
          </a:p>
          <a:p xmlns:a="http://schemas.openxmlformats.org/drawingml/2006/main">
            <a:r>
              <a:t>          "check": "원문 근거와 목차·필드가 있는 초안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 문서",</a:t>
            </a:r>
          </a:p>
          <a:p xmlns:a="http://schemas.openxmlformats.org/drawingml/2006/main">
            <a:r>
              <a:t>          "check": "직무별 순위·근거·서식과 모델 전환·복구 결과"</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"SFR-007~012",</a:t>
            </a:r>
          </a:p>
          <a:p xmlns:a="http://schemas.openxmlformats.org/drawingml/2006/main">
            <a:r>
              <a:t>        "extracted": "부서·직무·검색이력을 이용한 재정렬과 정형 문서 생성",</a:t>
            </a:r>
          </a:p>
          <a:p xmlns:a="http://schemas.openxmlformats.org/drawingml/2006/main">
            <a:r>
              <a:t>        "extension": "검색 이력의 권한 확대 방지와 이전 모델 복귀 시험"</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"PF-R03",</a:t>
            </a:r>
          </a:p>
          <a:p xmlns:a="http://schemas.openxmlformats.org/drawingml/2006/main">
            <a:r>
              <a:t>          "path": "assets/casebook-sources/PF-R03-01.png",</a:t>
            </a:r>
          </a:p>
          <a:p xmlns:a="http://schemas.openxmlformats.org/drawingml/2006/main">
            <a:r>
              <a:t>          "title": "생산기술연구원 정보시스템 연계",</a:t>
            </a:r>
          </a:p>
          <a:p xmlns:a="http://schemas.openxmlformats.org/drawingml/2006/main">
            <a:r>
              <a:t>          "status": "RFP 수록 기존 정보시스템 현황",</a:t>
            </a:r>
          </a:p>
          <a:p xmlns:a="http://schemas.openxmlformats.org/drawingml/2006/main">
            <a:r>
              <a:t>          "caption": "연구행정·경영정보·업무지원·지능형 포털 간 연계",</a:t>
            </a:r>
          </a:p>
          <a:p xmlns:a="http://schemas.openxmlformats.org/drawingml/2006/main">
            <a:r>
              <a:t>          "locator": "rId13 / BinData/BIN0002_png",</a:t>
            </a:r>
          </a:p>
          <a:p xmlns:a="http://schemas.openxmlformats.org/drawingml/2006/main">
            <a:r>
              <a:t>          "checked": "2026-10-16",</a:t>
            </a:r>
          </a:p>
          <a:p xmlns:a="http://schemas.openxmlformats.org/drawingml/2006/main">
            <a:r>
              <a:t>          "sha256": "0b49ad15a2d50888b15fdc4d6bb439874425106d7d0a2cf9b92b1c3debb0025b",</a:t>
            </a:r>
          </a:p>
          <a:p xmlns:a="http://schemas.openxmlformats.org/drawingml/2006/main">
            <a:r>
              <a:t>          "explanation": {</a:t>
            </a:r>
          </a:p>
          <a:p xmlns:a="http://schemas.openxmlformats.org/drawingml/2006/main">
            <a:r>
              <a:t>            "read": "연구행정·경영정보·업무지원과 지능형 포털의 기존 연결 현황. 새 AI 모델의 배치도가 아니라 어떤 업무 데이터와 시스템을 고도화 시 연결해야 하는지를 보여 주는 원문.",</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"SFR-007",</a:t>
            </a:r>
          </a:p>
          <a:p xmlns:a="http://schemas.openxmlformats.org/drawingml/2006/main">
            <a:r>
              <a:t>              "SFR-010"</a:t>
            </a:r>
          </a:p>
          <a:p xmlns:a="http://schemas.openxmlformats.org/drawingml/2006/main">
            <a:r>
              <a:t>            ],</a:t>
            </a:r>
          </a:p>
          <a:p xmlns:a="http://schemas.openxmlformats.org/drawingml/2006/main">
            <a:r>
              <a:t>            "connection": "기존 사용자·조직·권한과 연구행정 자료를 재사용하고 직무별 검색, 도메인 도구, 정형 문서 생성을 추가하는 대상 경계의 설정."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"전보 전 캐시·권한 없는 연구자료·모델 장애",</a:t>
            </a:r>
          </a:p>
          <a:p xmlns:a="http://schemas.openxmlformats.org/drawingml/2006/main">
            <a:r>
              <a:t>        "hold": "기존 검색 대비 근거·완료시간 평가",</a:t>
            </a:r>
          </a:p>
          <a:p xmlns:a="http://schemas.openxmlformats.org/drawingml/2006/main">
            <a:r>
              <a:t>        "recovery": "GPU 이중화·모델 롤백·부서별 토큰 계측",</a:t>
            </a:r>
          </a:p>
          <a:p xmlns:a="http://schemas.openxmlformats.org/drawingml/2006/main">
            <a:r>
              <a:t>        "evidence": "직무별 순위·근거·서식과 모델 전환·복구 결과"</a:t>
            </a:r>
          </a:p>
          <a:p xmlns:a="http://schemas.openxmlformats.org/drawingml/2006/main">
            <a:r>
              <a:t>      },</a:t>
            </a:r>
          </a:p>
          <a:p xmlns:a="http://schemas.openxmlformats.org/drawingml/2006/main">
            <a:r>
              <a:t>      "data": {</a:t>
            </a:r>
          </a:p>
          <a:p xmlns:a="http://schemas.openxmlformats.org/drawingml/2006/main">
            <a:r>
              <a:t>        "source": "연구행정 지식",</a:t>
            </a:r>
          </a:p>
          <a:p xmlns:a="http://schemas.openxmlformats.org/drawingml/2006/main">
            <a:r>
              <a:t>        "prepare": "문서·연구성과·전문가·양식의 색인 구성",</a:t>
            </a:r>
          </a:p>
          <a:p xmlns:a="http://schemas.openxmlformats.org/drawingml/2006/main">
            <a:r>
              <a:t>        "output": "직무·질문",</a:t>
            </a:r>
          </a:p>
          <a:p xmlns:a="http://schemas.openxmlformats.org/drawingml/2006/main">
            <a:r>
              <a:t>        "refresh": "GPU 이중화·모델 롤백·부서별 토큰 계측"</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"PF-R03",</a:t>
            </a:r>
          </a:p>
          <a:p xmlns:a="http://schemas.openxmlformats.org/drawingml/2006/main">
            <a:r>
              <a:t>    "success": [</a:t>
            </a:r>
          </a:p>
          <a:p xmlns:a="http://schemas.openxmlformats.org/drawingml/2006/main">
            <a:r>
              <a:t>      "기존 연구행정 검색의 고도화",</a:t>
            </a:r>
          </a:p>
          <a:p xmlns:a="http://schemas.openxmlformats.org/drawingml/2006/main">
            <a:r>
              <a:t>      "업무별 에이전트·정형 출력 구성"</a:t>
            </a:r>
          </a:p>
          <a:p xmlns:a="http://schemas.openxmlformats.org/drawingml/2006/main">
            <a:r>
              <a:t>    ],</a:t>
            </a:r>
          </a:p>
          <a:p xmlns:a="http://schemas.openxmlformats.org/drawingml/2006/main">
            <a:r>
              <a:t>    "risks": [</a:t>
            </a:r>
          </a:p>
          <a:p xmlns:a="http://schemas.openxmlformats.org/drawingml/2006/main">
            <a:r>
              <a:t>      "검색 재정렬의 근거 누락",</a:t>
            </a:r>
          </a:p>
          <a:p xmlns:a="http://schemas.openxmlformats.org/drawingml/2006/main">
            <a:r>
              <a:t>      "후속 공고와 도입 완료의 혼동"</a:t>
            </a:r>
          </a:p>
          <a:p xmlns:a="http://schemas.openxmlformats.org/drawingml/2006/main">
            <a:r>
              <a:t>    ],</a:t>
            </a:r>
          </a:p>
          <a:p xmlns:a="http://schemas.openxmlformats.org/drawingml/2006/main">
            <a:r>
              <a:t>    "architecture": [</a:t>
            </a:r>
          </a:p>
          <a:p xmlns:a="http://schemas.openxmlformats.org/drawingml/2006/main">
            <a:r>
              <a:t>      "연구행정 사용자",</a:t>
            </a:r>
          </a:p>
          <a:p xmlns:a="http://schemas.openxmlformats.org/drawingml/2006/main">
            <a:r>
              <a:t>      "검색·업무 에이전트",</a:t>
            </a:r>
          </a:p>
          <a:p xmlns:a="http://schemas.openxmlformats.org/drawingml/2006/main">
            <a:r>
              <a:t>      "연구행정 지식",</a:t>
            </a:r>
          </a:p>
          <a:p xmlns:a="http://schemas.openxmlformats.org/drawingml/2006/main">
            <a:r>
              <a:t>      "문서 작성 담당"</a:t>
            </a:r>
          </a:p>
          <a:p xmlns:a="http://schemas.openxmlformats.org/drawingml/2006/main">
            <a:r>
              <a:t>    ],</a:t>
            </a:r>
          </a:p>
          <a:p xmlns:a="http://schemas.openxmlformats.org/drawingml/2006/main">
            <a:r>
              <a:t>    "transfers": [</a:t>
            </a:r>
          </a:p>
          <a:p xmlns:a="http://schemas.openxmlformats.org/drawingml/2006/main">
            <a:r>
              <a:t>      "직무·질문",</a:t>
            </a:r>
          </a:p>
          <a:p xmlns:a="http://schemas.openxmlformats.org/drawingml/2006/main">
            <a:r>
              <a:t>      "재정렬 근거",</a:t>
            </a:r>
          </a:p>
          <a:p xmlns:a="http://schemas.openxmlformats.org/drawingml/2006/main">
            <a:r>
              <a:t>      "정형 초안",</a:t>
            </a:r>
          </a:p>
          <a:p xmlns:a="http://schemas.openxmlformats.org/drawingml/2006/main">
            <a:r>
              <a:t>      "검토 문서"</a:t>
            </a:r>
          </a:p>
          <a:p xmlns:a="http://schemas.openxmlformats.org/drawingml/2006/main">
            <a:r>
              <a:t>    ],</a:t>
            </a:r>
          </a:p>
          <a:p xmlns:a="http://schemas.openxmlformats.org/drawingml/2006/main">
            <a:r>
              <a:t>    "control": "기존 검색 대비 근거·완료시간 평가",</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SFR-007~012 / Word T044 https://www.g2b.go.kr/pn/pnp/pnpe/UntyAtchFile/downloadFile.do?bidPbancNo=R26BK01670411&amp;bidPbancOrd=000&amp;fileType=&amp;fileSeq=1&amp;prcmBsneSeCd=03</a:t>
            </a:r>
          </a:p>
          <a:p xmlns:a="http://schemas.openxmlformats.org/drawingml/2006/main">
            <a:r>
              <a:t>홈페이지 https://heen1987-ops.github.io/TS-business-Plan-001/index.html?view=platform-cases&amp;case=PF-R03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"PF-R03",</a:t>
            </a:r>
          </a:p>
          <a:p xmlns:a="http://schemas.openxmlformats.org/drawingml/2006/main">
            <a:r>
              <a:t>    "sourceId": "R03",</a:t>
            </a:r>
          </a:p>
          <a:p xmlns:a="http://schemas.openxmlformats.org/drawingml/2006/main">
            <a:r>
              <a:t>    "title": "생산기술연구원 AI 고도화",</a:t>
            </a:r>
          </a:p>
          <a:p xmlns:a="http://schemas.openxmlformats.org/drawingml/2006/main">
            <a:r>
              <a:t>    "region": "국내",</a:t>
            </a:r>
          </a:p>
          <a:p xmlns:a="http://schemas.openxmlformats.org/drawingml/2006/main">
            <a:r>
              <a:t>    "owner": "한국생산기술연구원",</a:t>
            </a:r>
          </a:p>
          <a:p xmlns:a="http://schemas.openxmlformats.org/drawingml/2006/main">
            <a:r>
              <a:t>    "state": "후속 공고 RFP 확인 / 계약·운영 미확인",</a:t>
            </a:r>
          </a:p>
          <a:p xmlns:a="http://schemas.openxmlformats.org/drawingml/2006/main">
            <a:r>
              <a:t>    "period": "기존 원장 확인 2026.10.16",</a:t>
            </a:r>
          </a:p>
          <a:p xmlns:a="http://schemas.openxmlformats.org/drawingml/2006/main">
            <a:r>
              <a:t>    "fact": "기존 연구행정 AI 고도화: 지능형 검색·멀티모델·도메인 에이전트·정형 문서 생성",</a:t>
            </a:r>
          </a:p>
          <a:p xmlns:a="http://schemas.openxmlformats.org/drawingml/2006/main">
            <a:r>
              <a:t>    "limit": "연구원 외부 TechGPT 성과와 본 내부사업을 혼동하지 않음",</a:t>
            </a:r>
          </a:p>
          <a:p xmlns:a="http://schemas.openxmlformats.org/drawingml/2006/main">
            <a:r>
              <a:t>    "nodes": [</a:t>
            </a:r>
          </a:p>
          <a:p xmlns:a="http://schemas.openxmlformats.org/drawingml/2006/main">
            <a:r>
              <a:t>      "직원·직무",</a:t>
            </a:r>
          </a:p>
          <a:p xmlns:a="http://schemas.openxmlformats.org/drawingml/2006/main">
            <a:r>
              <a:t>      "검색 재정렬",</a:t>
            </a:r>
          </a:p>
          <a:p xmlns:a="http://schemas.openxmlformats.org/drawingml/2006/main">
            <a:r>
              <a:t>      "업무 에이전트",</a:t>
            </a:r>
          </a:p>
          <a:p xmlns:a="http://schemas.openxmlformats.org/drawingml/2006/main">
            <a:r>
              <a:t>      "문서·운영 관리"</a:t>
            </a:r>
          </a:p>
          <a:p xmlns:a="http://schemas.openxmlformats.org/drawingml/2006/main">
            <a:r>
              <a:t>    ],</a:t>
            </a:r>
          </a:p>
          <a:p xmlns:a="http://schemas.openxmlformats.org/drawingml/2006/main">
            <a:r>
              <a:t>    "apply": "공식 소속·직무를 검색 순위·서식·업무 도구 선택에 연결하는 개인화",</a:t>
            </a:r>
          </a:p>
          <a:p xmlns:a="http://schemas.openxmlformats.org/drawingml/2006/main">
            <a:r>
              <a:t>    "delta": "사번–부서–직무–업무 연결 / 검색 재정렬 / 직무별 문서 양식",</a:t>
            </a:r>
          </a:p>
          <a:p xmlns:a="http://schemas.openxmlformats.org/drawingml/2006/main">
            <a:r>
              <a:t>    "test": "동일 질의의 직무별 정답·문서 순위·서식 비교 및 전보 후 권한 시험",</a:t>
            </a:r>
          </a:p>
          <a:p xmlns:a="http://schemas.openxmlformats.org/drawingml/2006/main">
            <a:r>
              <a:t>    "url": "https://www.g2b.go.kr/pn/pnp/pnpe/UntyAtchFile/downloadFile.do?bidPbancNo=R26BK01670411&amp;bidPbancOrd=000&amp;fileType=&amp;fileSeq=1&amp;prcmBsneSeCd=03",</a:t>
            </a:r>
          </a:p>
          <a:p xmlns:a="http://schemas.openxmlformats.org/drawingml/2006/main">
            <a:r>
              <a:t>    "urls": [</a:t>
            </a:r>
          </a:p>
          <a:p xmlns:a="http://schemas.openxmlformats.org/drawingml/2006/main">
            <a:r>
              <a:t>      "https://www.g2b.go.kr/pn/pnp/pnpe/UntyAtchFile/downloadFile.do?bidPbancNo=R26BK01670411&amp;bidPbancOrd=000&amp;fileType=&amp;fileSeq=1&amp;prcmBsneSeCd=03"</a:t>
            </a:r>
          </a:p>
          <a:p xmlns:a="http://schemas.openxmlformats.org/drawingml/2006/main">
            <a:r>
              <a:t>    ],</a:t>
            </a:r>
          </a:p>
          <a:p xmlns:a="http://schemas.openxmlformats.org/drawingml/2006/main">
            <a:r>
              <a:t>    "basis": "SFR-007~012 / Word T044",</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"직무별 과업 성공률 / 검색·문서 작성시간 / 요청당 비용",</a:t>
            </a:r>
          </a:p>
          <a:p xmlns:a="http://schemas.openxmlformats.org/drawingml/2006/main">
            <a:r>
              <a:t>    "group": "요구·구축",</a:t>
            </a:r>
          </a:p>
          <a:p xmlns:a="http://schemas.openxmlformats.org/drawingml/2006/main">
            <a:r>
              <a:t>    "sourceDetail": "소속·직무·검색이력·업무 기반 검색 재정렬, 양식/목차/입력 구조화, GPU 이중화·모델 롤백·부서별 토큰 비용",</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"PF-R03",</a:t>
            </a:r>
          </a:p>
          <a:p xmlns:a="http://schemas.openxmlformats.org/drawingml/2006/main">
            <a:r>
              <a:t>    "canonicalId": "PF-R03",</a:t>
            </a:r>
          </a:p>
          <a:p xmlns:a="http://schemas.openxmlformats.org/drawingml/2006/main">
            <a:r>
              <a:t>    "purpose": "직무별 검색과 정형 문서 작성의 고도화",</a:t>
            </a:r>
          </a:p>
          <a:p xmlns:a="http://schemas.openxmlformats.org/drawingml/2006/main">
            <a:r>
              <a:t>    "users": "연구직·행정직·플랫폼 운영자",</a:t>
            </a:r>
          </a:p>
          <a:p xmlns:a="http://schemas.openxmlformats.org/drawingml/2006/main">
            <a:r>
              <a:t>    "scope": [</a:t>
            </a:r>
          </a:p>
          <a:p xmlns:a="http://schemas.openxmlformats.org/drawingml/2006/main">
            <a:r>
              <a:t>      "검색 재정렬",</a:t>
            </a:r>
          </a:p>
          <a:p xmlns:a="http://schemas.openxmlformats.org/drawingml/2006/main">
            <a:r>
              <a:t>      "문서 생성",</a:t>
            </a:r>
          </a:p>
          <a:p xmlns:a="http://schemas.openxmlformats.org/drawingml/2006/main">
            <a:r>
              <a:t>      "멀티모델 운영"</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"연구행정 사용자",</a:t>
            </a:r>
          </a:p>
          <a:p xmlns:a="http://schemas.openxmlformats.org/drawingml/2006/main">
            <a:r>
              <a:t>        "detail": "소속·직무·검색 이력·진행업무 연결",</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"검색 재정렬 / 문서 생성 / 멀티모델 운영",</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"검색·업무 에이전트",</a:t>
            </a:r>
          </a:p>
          <a:p xmlns:a="http://schemas.openxmlformats.org/drawingml/2006/main">
            <a:r>
              <a:t>        "detail": "질의 보정·재정렬·요약·양식별 생성",</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"문서 작성 담당",</a:t>
            </a:r>
          </a:p>
          <a:p xmlns:a="http://schemas.openxmlformats.org/drawingml/2006/main">
            <a:r>
              <a:t>        "detail": "원문 근거와 목차·필드가 있는 초안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"연구행정 지식",</a:t>
            </a:r>
          </a:p>
          <a:p xmlns:a="http://schemas.openxmlformats.org/drawingml/2006/main">
            <a:r>
              <a:t>        "detail": "문서·연구성과·전문가·양식의 색인 구성",</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"GPU 이중화·모델 롤백·부서별 토큰 계측",</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"직원·직무",</a:t>
            </a:r>
          </a:p>
          <a:p xmlns:a="http://schemas.openxmlformats.org/drawingml/2006/main">
            <a:r>
              <a:t>        "input": "소속·직무·검색 이력·진행업무 연결",</a:t>
            </a:r>
          </a:p>
          <a:p xmlns:a="http://schemas.openxmlformats.org/drawingml/2006/main">
            <a:r>
              <a:t>        "process": "문서·연구성과·전문가·양식의 색인 구성",</a:t>
            </a:r>
          </a:p>
          <a:p xmlns:a="http://schemas.openxmlformats.org/drawingml/2006/main">
            <a:r>
              <a:t>        "output": "직무·질문"</a:t>
            </a:r>
          </a:p>
          <a:p xmlns:a="http://schemas.openxmlformats.org/drawingml/2006/main">
            <a:r>
              <a:t>      },</a:t>
            </a:r>
          </a:p>
          <a:p xmlns:a="http://schemas.openxmlformats.org/drawingml/2006/main">
            <a:r>
              <a:t>      {</a:t>
            </a:r>
          </a:p>
          <a:p xmlns:a="http://schemas.openxmlformats.org/drawingml/2006/main">
            <a:r>
              <a:t>        "title": "검색 재정렬",</a:t>
            </a:r>
          </a:p>
          <a:p xmlns:a="http://schemas.openxmlformats.org/drawingml/2006/main">
            <a:r>
              <a:t>        "input": "직무·질문",</a:t>
            </a:r>
          </a:p>
          <a:p xmlns:a="http://schemas.openxmlformats.org/drawingml/2006/main">
            <a:r>
              <a:t>        "process": "질의 보정·재정렬·요약·양식별 생성",</a:t>
            </a:r>
          </a:p>
          <a:p xmlns:a="http://schemas.openxmlformats.org/drawingml/2006/main">
            <a:r>
              <a:t>        "output": "재정렬 근거"</a:t>
            </a:r>
          </a:p>
          <a:p xmlns:a="http://schemas.openxmlformats.org/drawingml/2006/main">
            <a:r>
              <a:t>      },</a:t>
            </a:r>
          </a:p>
          <a:p xmlns:a="http://schemas.openxmlformats.org/drawingml/2006/main">
            <a:r>
              <a:t>      {</a:t>
            </a:r>
          </a:p>
          <a:p xmlns:a="http://schemas.openxmlformats.org/drawingml/2006/main">
            <a:r>
              <a:t>        "title": "업무 에이전트",</a:t>
            </a:r>
          </a:p>
          <a:p xmlns:a="http://schemas.openxmlformats.org/drawingml/2006/main">
            <a:r>
              <a:t>        "input": "재정렬 근거",</a:t>
            </a:r>
          </a:p>
          <a:p xmlns:a="http://schemas.openxmlformats.org/drawingml/2006/main">
            <a:r>
              <a:t>        "process": "기존 검색 대비 근거·완료시간 평가",</a:t>
            </a:r>
          </a:p>
          <a:p xmlns:a="http://schemas.openxmlformats.org/drawingml/2006/main">
            <a:r>
              <a:t>        "output": "정형 초안"</a:t>
            </a:r>
          </a:p>
          <a:p xmlns:a="http://schemas.openxmlformats.org/drawingml/2006/main">
            <a:r>
              <a:t>      },</a:t>
            </a:r>
          </a:p>
          <a:p xmlns:a="http://schemas.openxmlformats.org/drawingml/2006/main">
            <a:r>
              <a:t>      {</a:t>
            </a:r>
          </a:p>
          <a:p xmlns:a="http://schemas.openxmlformats.org/drawingml/2006/main">
            <a:r>
              <a:t>        "title": "문서·운영 관리",</a:t>
            </a:r>
          </a:p>
          <a:p xmlns:a="http://schemas.openxmlformats.org/drawingml/2006/main">
            <a:r>
              <a:t>        "input": "정형 초안",</a:t>
            </a:r>
          </a:p>
          <a:p xmlns:a="http://schemas.openxmlformats.org/drawingml/2006/main">
            <a:r>
              <a:t>        "process": "원문 근거와 목차·필드가 있는 초안 제공",</a:t>
            </a:r>
          </a:p>
          <a:p xmlns:a="http://schemas.openxmlformats.org/drawingml/2006/main">
            <a:r>
              <a:t>        "output": "검토 문서"</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"동일 질의를 연구직·행정직 계정으로 실행해 검색·서식 비교",</a:t>
            </a:r>
          </a:p>
          <a:p xmlns:a="http://schemas.openxmlformats.org/drawingml/2006/main">
            <a:r>
              <a:t>      "exception": "전보 전 캐시·권한 없는 연구자료·모델 장애",</a:t>
            </a:r>
          </a:p>
          <a:p xmlns:a="http://schemas.openxmlformats.org/drawingml/2006/main">
            <a:r>
              <a:t>      "evidence": "직무별 순위·근거·서식과 모델 전환·복구 결과",</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"연구직·행정직·플랫폼 운영자",</a:t>
            </a:r>
          </a:p>
          <a:p xmlns:a="http://schemas.openxmlformats.org/drawingml/2006/main">
            <a:r>
              <a:t>          "processing": "소속·직무·검색 이력·진행업무 연결",</a:t>
            </a:r>
          </a:p>
          <a:p xmlns:a="http://schemas.openxmlformats.org/drawingml/2006/main">
            <a:r>
              <a:t>          "output": "직무·질문"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"연구행정 지식",</a:t>
            </a:r>
          </a:p>
          <a:p xmlns:a="http://schemas.openxmlformats.org/drawingml/2006/main">
            <a:r>
              <a:t>          "processing": "문서·연구성과·전문가·양식의 색인 구성",</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"직무·질문",</a:t>
            </a:r>
          </a:p>
          <a:p xmlns:a="http://schemas.openxmlformats.org/drawingml/2006/main">
            <a:r>
              <a:t>          "processing": "질의 보정·재정렬·요약·양식별 생성",</a:t>
            </a:r>
          </a:p>
          <a:p xmlns:a="http://schemas.openxmlformats.org/drawingml/2006/main">
            <a:r>
              <a:t>          "output": "정형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"정형 초안",</a:t>
            </a:r>
          </a:p>
          <a:p xmlns:a="http://schemas.openxmlformats.org/drawingml/2006/main">
            <a:r>
              <a:t>          "processing": "원문 근거와 목차·필드가 있는 초안 제공",</a:t>
            </a:r>
          </a:p>
          <a:p xmlns:a="http://schemas.openxmlformats.org/drawingml/2006/main">
            <a:r>
              <a:t>          "output": "검토 문서"</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"GPU 이중화·모델 롤백·부서별 토큰 계측",</a:t>
            </a:r>
          </a:p>
          <a:p xmlns:a="http://schemas.openxmlformats.org/drawingml/2006/main">
            <a:r>
              <a:t>          "output": "직무별 순위·근거·서식과 모델 전환·복구 결과"</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"GPU 이중화·모델 롤백·부서별 토큰 계측",</a:t>
            </a:r>
          </a:p>
          <a:p xmlns:a="http://schemas.openxmlformats.org/drawingml/2006/main">
            <a:r>
              <a:t>    "status": "RFP 기반 논리 설계",</a:t>
            </a:r>
          </a:p>
          <a:p xmlns:a="http://schemas.openxmlformats.org/drawingml/2006/main">
            <a:r>
              <a:t>    "basis": "RFP 2026.05 · SFR-007~012",</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"SFR-007~012 / Word T044",</a:t>
            </a:r>
          </a:p>
          <a:p xmlns:a="http://schemas.openxmlformats.org/drawingml/2006/main">
            <a:r>
              <a:t>        "url": "https://www.g2b.go.kr/pn/pnp/pnpe/UntyAtchFile/downloadFile.do?bidPbancNo=R26BK01670411&amp;bidPbancOrd=000&amp;fileType=&amp;fileSeq=1&amp;prcmBsneSeCd=03"</a:t>
            </a:r>
          </a:p>
          <a:p xmlns:a="http://schemas.openxmlformats.org/drawingml/2006/main">
            <a:r>
              <a:t>      }</a:t>
            </a:r>
          </a:p>
          <a:p xmlns:a="http://schemas.openxmlformats.org/drawingml/2006/main">
            <a:r>
              <a:t>    ],</a:t>
            </a:r>
          </a:p>
          <a:p xmlns:a="http://schemas.openxmlformats.org/drawingml/2006/main">
            <a:r>
              <a:t>    "implication": "공식 소속·직무를 검색 순위·서식·업무 도구 선택에 연결하는 개인화",</a:t>
            </a:r>
          </a:p>
          <a:p xmlns:a="http://schemas.openxmlformats.org/drawingml/2006/main">
            <a:r>
              <a:t>    "local": "공식 소속·직무를 검색 순위·서식·업무 도구 선택에 연결하는 개인화",</a:t>
            </a:r>
          </a:p>
          <a:p xmlns:a="http://schemas.openxmlformats.org/drawingml/2006/main">
            <a:r>
              <a:t>    "sourceDetail": "소속·직무·검색이력·업무 기반 검색 재정렬, 양식/목차/입력 구조화, GPU 이중화·모델 롤백·부서별 토큰 비용",</a:t>
            </a:r>
          </a:p>
          <a:p xmlns:a="http://schemas.openxmlformats.org/drawingml/2006/main">
            <a:r>
              <a:t>    "narrative": [</a:t>
            </a:r>
          </a:p>
          <a:p xmlns:a="http://schemas.openxmlformats.org/drawingml/2006/main">
            <a:r>
              <a:t>      "생산기술연구원의 기존 연구행정 검색·AI 환경에 직무별 검색, 에이전트 처리, 문서 생성, 운영 관리 기능을 추가하는 고도화. 연구직과 행정직의 관심 자료가 다른 상황에서 동일 질의의 결과 순서를 다르게 구성하는 요구가 핵심.",</a:t>
            </a:r>
          </a:p>
          <a:p xmlns:a="http://schemas.openxmlformats.org/drawingml/2006/main">
            <a:r>
              <a:t>      "SFR-007은 부서·직무·검색 이력·진행 업무를 이용한 검색 최적화, SFR-009는 복합 질문의 태스크 분해와 도메인 에이전트 호출, SFR-010은 문서 양식·필수 항목·내부 과제정보의 결합을 요구. 인사 연동과 역할별 접근제어를 검색 추천보다 먼저 연결하는 설계.",</a:t>
            </a:r>
          </a:p>
          <a:p xmlns:a="http://schemas.openxmlformats.org/drawingml/2006/main">
            <a:r>
              <a:t>      "TS 조직 네이티브 AI와 직접 비교할 지점은 공식 소속·직무를 검색 문맥으로 사용하는 방식. 추천 순위 개선과 접근권한 확대를 분리하고, 전보 전후 동일 질의의 검색 범위·서식·근거 차이를 검수할 필요. 기존 검색·LLM의 재사용과 조직 매핑 추가분의 구분."</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"SFR-002",</a:t>
            </a:r>
          </a:p>
          <a:p xmlns:a="http://schemas.openxmlformats.org/drawingml/2006/main">
            <a:r>
              <a:t>        "title": "Agent 일반 사항",</a:t>
            </a:r>
          </a:p>
          <a:p xmlns:a="http://schemas.openxmlformats.org/drawingml/2006/main">
            <a:r>
              <a:t>        "locator": "SFR-002",</a:t>
            </a:r>
          </a:p>
          <a:p xmlns:a="http://schemas.openxmlformats.org/drawingml/2006/main">
            <a:r>
              <a:t>        "summary": "MCP 도구 등을 이용한 에이전트 실행의 공통 기능 구성. 업무 요청과 도구 호출의 연결 관리.",</a:t>
            </a:r>
          </a:p>
          <a:p xmlns:a="http://schemas.openxmlformats.org/drawingml/2006/main">
            <a:r>
              <a:t>        "data": "업무 요청·도구 정의 → 호출 계획·도구 결과",</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"C07"</a:t>
            </a:r>
          </a:p>
          <a:p xmlns:a="http://schemas.openxmlformats.org/drawingml/2006/main">
            <a:r>
              <a:t>        ],</a:t>
            </a:r>
          </a:p>
          <a:p xmlns:a="http://schemas.openxmlformats.org/drawingml/2006/main">
            <a:r>
              <a:t>        "acceptance": "미등록 도구·잘못된 인자·호출 실패 상황의 실행 보류와 오류 반환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"600876c2133d5557fe295a881eb90450c3e422b7ff02c531aaeae32498f9894f"</a:t>
            </a:r>
          </a:p>
          <a:p xmlns:a="http://schemas.openxmlformats.org/drawingml/2006/main">
            <a:r>
              <a:t>      },</a:t>
            </a:r>
          </a:p>
          <a:p xmlns:a="http://schemas.openxmlformats.org/drawingml/2006/main">
            <a:r>
              <a:t>      {</a:t>
            </a:r>
          </a:p>
          <a:p xmlns:a="http://schemas.openxmlformats.org/drawingml/2006/main">
            <a:r>
              <a:t>        "id": "SFR-003",</a:t>
            </a:r>
          </a:p>
          <a:p xmlns:a="http://schemas.openxmlformats.org/drawingml/2006/main">
            <a:r>
              <a:t>        "title": "접근 및 권한관리",</a:t>
            </a:r>
          </a:p>
          <a:p xmlns:a="http://schemas.openxmlformats.org/drawingml/2006/main">
            <a:r>
              <a:t>        "locator": "SFR-003",</a:t>
            </a:r>
          </a:p>
          <a:p xmlns:a="http://schemas.openxmlformats.org/drawingml/2006/main">
            <a:r>
              <a:t>        "summary": "인사·조직 정보를 반영한 접근 및 권한 관리. 사용자 역할에 맞는 데이터·기능 범위 적용.",</a:t>
            </a:r>
          </a:p>
          <a:p xmlns:a="http://schemas.openxmlformats.org/drawingml/2006/main">
            <a:r>
              <a:t>        "data": "직원·부서·역할 → 허용 데이터·기능",</a:t>
            </a:r>
          </a:p>
          <a:p xmlns:a="http://schemas.openxmlformats.org/drawingml/2006/main">
            <a:r>
              <a:t>        "components": [</a:t>
            </a:r>
          </a:p>
          <a:p xmlns:a="http://schemas.openxmlformats.org/drawingml/2006/main">
            <a:r>
              <a:t>          "C02",</a:t>
            </a:r>
          </a:p>
          <a:p xmlns:a="http://schemas.openxmlformats.org/drawingml/2006/main">
            <a:r>
              <a:t>          "C12"</a:t>
            </a:r>
          </a:p>
          <a:p xmlns:a="http://schemas.openxmlformats.org/drawingml/2006/main">
            <a:r>
              <a:t>        ],</a:t>
            </a:r>
          </a:p>
          <a:p xmlns:a="http://schemas.openxmlformats.org/drawingml/2006/main">
            <a:r>
              <a:t>        "acceptance": "전보·겸직·퇴직·권한 해제 시 검색과 실행 양쪽의 접근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"04990216c1150703cd093e78e1cf6629542fbdaca4c97f9dca5f8e4f3b400cce"</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"데이터 통합 파이프라인 구축",</a:t>
            </a:r>
          </a:p>
          <a:p xmlns:a="http://schemas.openxmlformats.org/drawingml/2006/main">
            <a:r>
              <a:t>        "locator": "SFR-004",</a:t>
            </a:r>
          </a:p>
          <a:p xmlns:a="http://schemas.openxmlformats.org/drawingml/2006/main">
            <a:r>
              <a:t>        "summary": "분산 데이터를 수집·정제·연계하는 통합 파이프라인 구축.",</a:t>
            </a:r>
          </a:p>
          <a:p xmlns:a="http://schemas.openxmlformats.org/drawingml/2006/main">
            <a:r>
              <a:t>        "data": "업무 원천·메타데이터 → 검색·AI 활용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"파일 형식 오류·중복·갱신·삭제 자료의 재처리와 원천-색인 건수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"e23449e0d4bf6fe973e547277bd671a1db47129f3f697fe40e3653855a967d51"</a:t>
            </a:r>
          </a:p>
          <a:p xmlns:a="http://schemas.openxmlformats.org/drawingml/2006/main">
            <a:r>
              <a:t>      },</a:t>
            </a:r>
          </a:p>
          <a:p xmlns:a="http://schemas.openxmlformats.org/drawingml/2006/main">
            <a:r>
              <a:t>      {</a:t>
            </a:r>
          </a:p>
          <a:p xmlns:a="http://schemas.openxmlformats.org/drawingml/2006/main">
            <a:r>
              <a:t>        "id": "SFR-007",</a:t>
            </a:r>
          </a:p>
          <a:p xmlns:a="http://schemas.openxmlformats.org/drawingml/2006/main">
            <a:r>
              <a:t>        "title": "AI 기반 지능형 검색 서비스",</a:t>
            </a:r>
          </a:p>
          <a:p xmlns:a="http://schemas.openxmlformats.org/drawingml/2006/main">
            <a:r>
              <a:t>        "locator": "SFR-007",</a:t>
            </a:r>
          </a:p>
          <a:p xmlns:a="http://schemas.openxmlformats.org/drawingml/2006/main">
            <a:r>
              <a:t>        "summary": "부서·직무·사용 이력 등을 반영한 AI 검색과 결과 재정렬.",</a:t>
            </a:r>
          </a:p>
          <a:p xmlns:a="http://schemas.openxmlformats.org/drawingml/2006/main">
            <a:r>
              <a:t>        "data": "동일 질의·다른 직무 문맥 → 직무별 관련 근거 순위",</a:t>
            </a:r>
          </a:p>
          <a:p xmlns:a="http://schemas.openxmlformats.org/drawingml/2006/main">
            <a:r>
              <a:t>        "components": [</a:t>
            </a:r>
          </a:p>
          <a:p xmlns:a="http://schemas.openxmlformats.org/drawingml/2006/main">
            <a:r>
              <a:t>          "C02",</a:t>
            </a:r>
          </a:p>
          <a:p xmlns:a="http://schemas.openxmlformats.org/drawingml/2006/main">
            <a:r>
              <a:t>          "C03",</a:t>
            </a:r>
          </a:p>
          <a:p xmlns:a="http://schemas.openxmlformats.org/drawingml/2006/main">
            <a:r>
              <a:t>          "C11"</a:t>
            </a:r>
          </a:p>
          <a:p xmlns:a="http://schemas.openxmlformats.org/drawingml/2006/main">
            <a:r>
              <a:t>        ],</a:t>
            </a:r>
          </a:p>
          <a:p xmlns:a="http://schemas.openxmlformats.org/drawingml/2006/main">
            <a:r>
              <a:t>        "acceptance": "연구직·행정직의 동일 질의에서 관련성 변화와 권한 밖 결과 제외를 함께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"3e12718b7b492badc155b10cf84e1b67c500d44a7c8333c9b026c5a4dea691ad"</a:t>
            </a:r>
          </a:p>
          <a:p xmlns:a="http://schemas.openxmlformats.org/drawingml/2006/main">
            <a:r>
              <a:t>      },</a:t>
            </a:r>
          </a:p>
          <a:p xmlns:a="http://schemas.openxmlformats.org/drawingml/2006/main">
            <a:r>
              <a:t>      {</a:t>
            </a:r>
          </a:p>
          <a:p xmlns:a="http://schemas.openxmlformats.org/drawingml/2006/main">
            <a:r>
              <a:t>        "id": "SFR-008",</a:t>
            </a:r>
          </a:p>
          <a:p xmlns:a="http://schemas.openxmlformats.org/drawingml/2006/main">
            <a:r>
              <a:t>        "title": "멀티 모델 적용",</a:t>
            </a:r>
          </a:p>
          <a:p xmlns:a="http://schemas.openxmlformats.org/drawingml/2006/main">
            <a:r>
              <a:t>        "locator": "SFR-008",</a:t>
            </a:r>
          </a:p>
          <a:p xmlns:a="http://schemas.openxmlformats.org/drawingml/2006/main">
            <a:r>
              <a:t>        "summary": "복수 모델의 적용·선택·비교를 지원하는 멀티모델 구조.",</a:t>
            </a:r>
          </a:p>
          <a:p xmlns:a="http://schemas.openxmlformats.org/drawingml/2006/main">
            <a:r>
              <a:t>        "data": "업무 유형·모델 설정 → 모델별 결과·비교 기록",</a:t>
            </a:r>
          </a:p>
          <a:p xmlns:a="http://schemas.openxmlformats.org/drawingml/2006/main">
            <a:r>
              <a:t>        "components": [</a:t>
            </a:r>
          </a:p>
          <a:p xmlns:a="http://schemas.openxmlformats.org/drawingml/2006/main">
            <a:r>
              <a:t>          "C04",</a:t>
            </a:r>
          </a:p>
          <a:p xmlns:a="http://schemas.openxmlformats.org/drawingml/2006/main">
            <a:r>
              <a:t>          "C08"</a:t>
            </a:r>
          </a:p>
          <a:p xmlns:a="http://schemas.openxmlformats.org/drawingml/2006/main">
            <a:r>
              <a:t>        ],</a:t>
            </a:r>
          </a:p>
          <a:p xmlns:a="http://schemas.openxmlformats.org/drawingml/2006/main">
            <a:r>
              <a:t>        "acceptance": "같은 입력의 모델별 정확성·시간·비용과 오류 발생 시 처리 경로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"a446f7c2f5ef6677204833f37fa4bbda4bae700a5c3c1b2e4e8a729dc569f518"</a:t>
            </a:r>
          </a:p>
          <a:p xmlns:a="http://schemas.openxmlformats.org/drawingml/2006/main">
            <a:r>
              <a:t>      },</a:t>
            </a:r>
          </a:p>
          <a:p xmlns:a="http://schemas.openxmlformats.org/drawingml/2006/main">
            <a:r>
              <a:t>      {</a:t>
            </a:r>
          </a:p>
          <a:p xmlns:a="http://schemas.openxmlformats.org/drawingml/2006/main">
            <a:r>
              <a:t>        "id": "SFR-009",</a:t>
            </a:r>
          </a:p>
          <a:p xmlns:a="http://schemas.openxmlformats.org/drawingml/2006/main">
            <a:r>
              <a:t>        "title": "지능형 질의응답 고도화 체계 구축",</a:t>
            </a:r>
          </a:p>
          <a:p xmlns:a="http://schemas.openxmlformats.org/drawingml/2006/main">
            <a:r>
              <a:t>        "locator": "SFR-009",</a:t>
            </a:r>
          </a:p>
          <a:p xmlns:a="http://schemas.openxmlformats.org/drawingml/2006/main">
            <a:r>
              <a:t>        "summary": "질의의 업무 계획 수립과 도메인 에이전트 연결을 통한 질의응답 고도화.",</a:t>
            </a:r>
          </a:p>
          <a:p xmlns:a="http://schemas.openxmlformats.org/drawingml/2006/main">
            <a:r>
              <a:t>        "data": "복합 업무 질의 → 단계별 계획·도구 결과·응답",</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"C07"</a:t>
            </a:r>
          </a:p>
          <a:p xmlns:a="http://schemas.openxmlformats.org/drawingml/2006/main">
            <a:r>
              <a:t>        ],</a:t>
            </a:r>
          </a:p>
          <a:p xmlns:a="http://schemas.openxmlformats.org/drawingml/2006/main">
            <a:r>
              <a:t>        "acceptance": "계획 일부 실패·불필요한 도구 호출·담당 영역 혼동 시 중단·재계획 경로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"86afdf5c09bd02dc72865179ec33f762956a14ddf1cf170340996155bdafaf57"</a:t>
            </a:r>
          </a:p>
          <a:p xmlns:a="http://schemas.openxmlformats.org/drawingml/2006/main">
            <a:r>
              <a:t>      },</a:t>
            </a:r>
          </a:p>
          <a:p xmlns:a="http://schemas.openxmlformats.org/drawingml/2006/main">
            <a:r>
              <a:t>      {</a:t>
            </a:r>
          </a:p>
          <a:p xmlns:a="http://schemas.openxmlformats.org/drawingml/2006/main">
            <a:r>
              <a:t>        "id": "SFR-010",</a:t>
            </a:r>
          </a:p>
          <a:p xmlns:a="http://schemas.openxmlformats.org/drawingml/2006/main">
            <a:r>
              <a:t>        "title": "문서 자동 생성 지원",</a:t>
            </a:r>
          </a:p>
          <a:p xmlns:a="http://schemas.openxmlformats.org/drawingml/2006/main">
            <a:r>
              <a:t>        "locator": "SFR-010",</a:t>
            </a:r>
          </a:p>
          <a:p xmlns:a="http://schemas.openxmlformats.org/drawingml/2006/main">
            <a:r>
              <a:t>        "summary": "템플릿·메타데이터·내부 자료를 활용한 정형 문서 생성 지원.",</a:t>
            </a:r>
          </a:p>
          <a:p xmlns:a="http://schemas.openxmlformats.org/drawingml/2006/main">
            <a:r>
              <a:t>        "data": "양식·필수 항목·근거 자료 → 편집 가능한 문서 초안",</a:t>
            </a:r>
          </a:p>
          <a:p xmlns:a="http://schemas.openxmlformats.org/drawingml/2006/main">
            <a:r>
              <a:t>        "components": [</a:t>
            </a:r>
          </a:p>
          <a:p xmlns:a="http://schemas.openxmlformats.org/drawingml/2006/main">
            <a:r>
              <a:t>          "C04",</a:t>
            </a:r>
          </a:p>
          <a:p xmlns:a="http://schemas.openxmlformats.org/drawingml/2006/main">
            <a:r>
              <a:t>          "C05",</a:t>
            </a:r>
          </a:p>
          <a:p xmlns:a="http://schemas.openxmlformats.org/drawingml/2006/main">
            <a:r>
              <a:t>          "C06"</a:t>
            </a:r>
          </a:p>
          <a:p xmlns:a="http://schemas.openxmlformats.org/drawingml/2006/main">
            <a:r>
              <a:t>        ],</a:t>
            </a:r>
          </a:p>
          <a:p xmlns:a="http://schemas.openxmlformats.org/drawingml/2006/main">
            <a:r>
              <a:t>        "acceptance": "필수 항목 누락·다른 양식 판본·숫자 인용 오류의 검출과 사용자 수정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"20df882404a76e75b24ff57eaa67d2d18ca56387f99e065033be13396d4a5f00"</a:t>
            </a:r>
          </a:p>
          <a:p xmlns:a="http://schemas.openxmlformats.org/drawingml/2006/main">
            <a:r>
              <a:t>      },</a:t>
            </a:r>
          </a:p>
          <a:p xmlns:a="http://schemas.openxmlformats.org/drawingml/2006/main">
            <a:r>
              <a:t>      {</a:t>
            </a:r>
          </a:p>
          <a:p xmlns:a="http://schemas.openxmlformats.org/drawingml/2006/main">
            <a:r>
              <a:t>        "id": "SFR-012",</a:t>
            </a:r>
          </a:p>
          <a:p xmlns:a="http://schemas.openxmlformats.org/drawingml/2006/main">
            <a:r>
              <a:t>        "title": "AI 서비스 운영 모니터링 체계구축",</a:t>
            </a:r>
          </a:p>
          <a:p xmlns:a="http://schemas.openxmlformats.org/drawingml/2006/main">
            <a:r>
              <a:t>        "locator": "SFR-012",</a:t>
            </a:r>
          </a:p>
          <a:p xmlns:a="http://schemas.openxmlformats.org/drawingml/2006/main">
            <a:r>
              <a:t>        "summary": "AI 서비스의 처리·이용·품질 상태를 확인하는 운영 모니터링 체계.",</a:t>
            </a:r>
          </a:p>
          <a:p xmlns:a="http://schemas.openxmlformats.org/drawingml/2006/main">
            <a:r>
              <a:t>        "data": "호출·서비스 상태·오류 → 관측 지표·운영 기록",</a:t>
            </a:r>
          </a:p>
          <a:p xmlns:a="http://schemas.openxmlformats.org/drawingml/2006/main">
            <a:r>
              <a:t>        "components": [</a:t>
            </a:r>
          </a:p>
          <a:p xmlns:a="http://schemas.openxmlformats.org/drawingml/2006/main">
            <a:r>
              <a:t>          "C08"</a:t>
            </a:r>
          </a:p>
          <a:p xmlns:a="http://schemas.openxmlformats.org/drawingml/2006/main">
            <a:r>
              <a:t>        ],</a:t>
            </a:r>
          </a:p>
          <a:p xmlns:a="http://schemas.openxmlformats.org/drawingml/2006/main">
            <a:r>
              <a:t>        "acceptance": "한 요청의 검색·모델·도구 단계를 연결해 실패 지점과 지연 원인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"253bfe0e809bb087229cb4b40f86856252a906181714e2b1a1a84d46237d7570"</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"연구행정 접점",</a:t>
            </a:r>
          </a:p>
          <a:p xmlns:a="http://schemas.openxmlformats.org/drawingml/2006/main">
            <a:r>
              <a:t>          "layer": "이용 접점",</a:t>
            </a:r>
          </a:p>
          <a:p xmlns:a="http://schemas.openxmlformats.org/drawingml/2006/main">
            <a:r>
              <a:t>          "detail": "연구직·행정직·플랫폼 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"소속·직무·이력",</a:t>
            </a:r>
          </a:p>
          <a:p xmlns:a="http://schemas.openxmlformats.org/drawingml/2006/main">
            <a:r>
              <a:t>          "layer": "업무 문맥",</a:t>
            </a:r>
          </a:p>
          <a:p xmlns:a="http://schemas.openxmlformats.org/drawingml/2006/main">
            <a:r>
              <a:t>          "detail": "소속·직무·검색 이력·진행업무 연결",</a:t>
            </a:r>
          </a:p>
          <a:p xmlns:a="http://schemas.openxmlformats.org/drawingml/2006/main">
            <a:r>
              <a:t>          "requirements": [</a:t>
            </a:r>
          </a:p>
          <a:p xmlns:a="http://schemas.openxmlformats.org/drawingml/2006/main">
            <a:r>
              <a:t>            "SFR-002",</a:t>
            </a:r>
          </a:p>
          <a:p xmlns:a="http://schemas.openxmlformats.org/drawingml/2006/main">
            <a:r>
              <a:t>            "SFR-003",</a:t>
            </a:r>
          </a:p>
          <a:p xmlns:a="http://schemas.openxmlformats.org/drawingml/2006/main">
            <a:r>
              <a:t>            "SFR-007",</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"업무 검색 재정렬",</a:t>
            </a:r>
          </a:p>
          <a:p xmlns:a="http://schemas.openxmlformats.org/drawingml/2006/main">
            <a:r>
              <a:t>          "layer": "자료 조회",</a:t>
            </a:r>
          </a:p>
          <a:p xmlns:a="http://schemas.openxmlformats.org/drawingml/2006/main">
            <a:r>
              <a:t>          "detail": "직무·질문",</a:t>
            </a:r>
          </a:p>
          <a:p xmlns:a="http://schemas.openxmlformats.org/drawingml/2006/main">
            <a:r>
              <a:t>          "requirements": [</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"에이전트·정형 생성",</a:t>
            </a:r>
          </a:p>
          <a:p xmlns:a="http://schemas.openxmlformats.org/drawingml/2006/main">
            <a:r>
              <a:t>          "layer": "핵심 처리",</a:t>
            </a:r>
          </a:p>
          <a:p xmlns:a="http://schemas.openxmlformats.org/drawingml/2006/main">
            <a:r>
              <a:t>          "detail": "질의 보정·재정렬·요약·양식별 생성",</a:t>
            </a:r>
          </a:p>
          <a:p xmlns:a="http://schemas.openxmlformats.org/drawingml/2006/main">
            <a:r>
              <a:t>          "requirements": [</a:t>
            </a:r>
          </a:p>
          <a:p xmlns:a="http://schemas.openxmlformats.org/drawingml/2006/main">
            <a:r>
              <a:t>            "SFR-002",</a:t>
            </a:r>
          </a:p>
          <a:p xmlns:a="http://schemas.openxmlformats.org/drawingml/2006/main">
            <a:r>
              <a:t>            "SFR-008",</a:t>
            </a:r>
          </a:p>
          <a:p xmlns:a="http://schemas.openxmlformats.org/drawingml/2006/main">
            <a:r>
              <a:t>            "SFR-009",</a:t>
            </a:r>
          </a:p>
          <a:p xmlns:a="http://schemas.openxmlformats.org/drawingml/2006/main">
            <a:r>
              <a:t>            "SFR-010"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"양식·근거 검사",</a:t>
            </a:r>
          </a:p>
          <a:p xmlns:a="http://schemas.openxmlformats.org/drawingml/2006/main">
            <a:r>
              <a:t>          "layer": "결과 검증",</a:t>
            </a:r>
          </a:p>
          <a:p xmlns:a="http://schemas.openxmlformats.org/drawingml/2006/main">
            <a:r>
              <a:t>          "detail": "기존 검색 대비 근거·완료시간 평가",</a:t>
            </a:r>
          </a:p>
          <a:p xmlns:a="http://schemas.openxmlformats.org/drawingml/2006/main">
            <a:r>
              <a:t>          "requirements": [</a:t>
            </a:r>
          </a:p>
          <a:p xmlns:a="http://schemas.openxmlformats.org/drawingml/2006/main">
            <a:r>
              <a:t>            "SFR-010"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"작성 담당 확인",</a:t>
            </a:r>
          </a:p>
          <a:p xmlns:a="http://schemas.openxmlformats.org/drawingml/2006/main">
            <a:r>
              <a:t>          "layer": "사람 확인",</a:t>
            </a:r>
          </a:p>
          <a:p xmlns:a="http://schemas.openxmlformats.org/drawingml/2006/main">
            <a:r>
              <a:t>          "detail": "동일 질의를 연구직·행정직 계정으로 실행해 검색·서식 비교",</a:t>
            </a:r>
          </a:p>
          <a:p xmlns:a="http://schemas.openxmlformats.org/drawingml/2006/main">
            <a:r>
              <a:t>          "requirements": [</a:t>
            </a:r>
          </a:p>
          <a:p xmlns:a="http://schemas.openxmlformats.org/drawingml/2006/main">
            <a:r>
              <a:t>            "SFR-010"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"문서 업무 연결",</a:t>
            </a:r>
          </a:p>
          <a:p xmlns:a="http://schemas.openxmlformats.org/drawingml/2006/main">
            <a:r>
              <a:t>          "layer": "업무 연결",</a:t>
            </a:r>
          </a:p>
          <a:p xmlns:a="http://schemas.openxmlformats.org/drawingml/2006/main">
            <a:r>
              <a:t>          "detail": "원문 근거와 목차·필드가 있는 초안 제공",</a:t>
            </a:r>
          </a:p>
          <a:p xmlns:a="http://schemas.openxmlformats.org/drawingml/2006/main">
            <a:r>
              <a:t>          "requirements": [</a:t>
            </a:r>
          </a:p>
          <a:p xmlns:a="http://schemas.openxmlformats.org/drawingml/2006/main">
            <a:r>
              <a:t>            "SFR-002",</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"토큰·회귀 평가",</a:t>
            </a:r>
          </a:p>
          <a:p xmlns:a="http://schemas.openxmlformats.org/drawingml/2006/main">
            <a:r>
              <a:t>          "layer": "운영 관측",</a:t>
            </a:r>
          </a:p>
          <a:p xmlns:a="http://schemas.openxmlformats.org/drawingml/2006/main">
            <a:r>
              <a:t>          "detail": "GPU 이중화·모델 롤백·부서별 토큰 계측",</a:t>
            </a:r>
          </a:p>
          <a:p xmlns:a="http://schemas.openxmlformats.org/drawingml/2006/main">
            <a:r>
              <a:t>          "requirements": [</a:t>
            </a:r>
          </a:p>
          <a:p xmlns:a="http://schemas.openxmlformats.org/drawingml/2006/main">
            <a:r>
              <a:t>            "SFR-008",</a:t>
            </a:r>
          </a:p>
          <a:p xmlns:a="http://schemas.openxmlformats.org/drawingml/2006/main">
            <a:r>
              <a:t>            "SFR-012"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"연구행정 자료",</a:t>
            </a:r>
          </a:p>
          <a:p xmlns:a="http://schemas.openxmlformats.org/drawingml/2006/main">
            <a:r>
              <a:t>          "layer": "데이터 원천",</a:t>
            </a:r>
          </a:p>
          <a:p xmlns:a="http://schemas.openxmlformats.org/drawingml/2006/main">
            <a:r>
              <a:t>          "detail": "연구행정 지식",</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"목차·문서 구조화",</a:t>
            </a:r>
          </a:p>
          <a:p xmlns:a="http://schemas.openxmlformats.org/drawingml/2006/main">
            <a:r>
              <a:t>          "layer": "준비·갱신",</a:t>
            </a:r>
          </a:p>
          <a:p xmlns:a="http://schemas.openxmlformats.org/drawingml/2006/main">
            <a:r>
              <a:t>          "detail": "문서·연구성과·전문가·양식의 색인 구성",</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"허용 지식·색인",</a:t>
            </a:r>
          </a:p>
          <a:p xmlns:a="http://schemas.openxmlformats.org/drawingml/2006/main">
            <a:r>
              <a:t>          "layer": "상태·지식 저장",</a:t>
            </a:r>
          </a:p>
          <a:p xmlns:a="http://schemas.openxmlformats.org/drawingml/2006/main">
            <a:r>
              <a:t>          "detail": "직무별 순위·근거·서식과 모델 전환·복구 결과",</a:t>
            </a:r>
          </a:p>
          <a:p xmlns:a="http://schemas.openxmlformats.org/drawingml/2006/main">
            <a:r>
              <a:t>          "requirements": [</a:t>
            </a:r>
          </a:p>
          <a:p xmlns:a="http://schemas.openxmlformats.org/drawingml/2006/main">
            <a:r>
              <a:t>            "SFR-004",</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"모델·롤백 정책",</a:t>
            </a:r>
          </a:p>
          <a:p xmlns:a="http://schemas.openxmlformats.org/drawingml/2006/main">
            <a:r>
              <a:t>          "layer": "권한·정책",</a:t>
            </a:r>
          </a:p>
          <a:p xmlns:a="http://schemas.openxmlformats.org/drawingml/2006/main">
            <a:r>
              <a:t>          "detail": "전보 전 캐시·권한 없는 연구자료·모델 장애",</a:t>
            </a:r>
          </a:p>
          <a:p xmlns:a="http://schemas.openxmlformats.org/drawingml/2006/main">
            <a:r>
              <a:t>          "requirements": [</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"소속·직무·검색 이력·진행업무 연결",</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"직무·질문",</a:t>
            </a:r>
          </a:p>
          <a:p xmlns:a="http://schemas.openxmlformats.org/drawingml/2006/main">
            <a:r>
              <a:t>          "check": "기존 검색 대비 근거·완료시간 평가"</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"재정렬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"정형 초안",</a:t>
            </a:r>
          </a:p>
          <a:p xmlns:a="http://schemas.openxmlformats.org/drawingml/2006/main">
            <a:r>
              <a:t>          "check": "전보 전 캐시·권한 없는 연구자료·모델 장애"</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"정형 초안",</a:t>
            </a:r>
          </a:p>
          <a:p xmlns:a="http://schemas.openxmlformats.org/drawingml/2006/main">
            <a:r>
              <a:t>          "check": "원문 근거와 목차·필드가 있는 초안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 문서",</a:t>
            </a:r>
          </a:p>
          <a:p xmlns:a="http://schemas.openxmlformats.org/drawingml/2006/main">
            <a:r>
              <a:t>          "check": "직무별 순위·근거·서식과 모델 전환·복구 결과"</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"SFR-007~012",</a:t>
            </a:r>
          </a:p>
          <a:p xmlns:a="http://schemas.openxmlformats.org/drawingml/2006/main">
            <a:r>
              <a:t>        "extracted": "부서·직무·검색이력을 이용한 재정렬과 정형 문서 생성",</a:t>
            </a:r>
          </a:p>
          <a:p xmlns:a="http://schemas.openxmlformats.org/drawingml/2006/main">
            <a:r>
              <a:t>        "extension": "검색 이력의 권한 확대 방지와 이전 모델 복귀 시험"</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"PF-R03",</a:t>
            </a:r>
          </a:p>
          <a:p xmlns:a="http://schemas.openxmlformats.org/drawingml/2006/main">
            <a:r>
              <a:t>          "path": "assets/casebook-sources/PF-R03-01.png",</a:t>
            </a:r>
          </a:p>
          <a:p xmlns:a="http://schemas.openxmlformats.org/drawingml/2006/main">
            <a:r>
              <a:t>          "title": "생산기술연구원 정보시스템 연계",</a:t>
            </a:r>
          </a:p>
          <a:p xmlns:a="http://schemas.openxmlformats.org/drawingml/2006/main">
            <a:r>
              <a:t>          "status": "RFP 수록 기존 정보시스템 현황",</a:t>
            </a:r>
          </a:p>
          <a:p xmlns:a="http://schemas.openxmlformats.org/drawingml/2006/main">
            <a:r>
              <a:t>          "caption": "연구행정·경영정보·업무지원·지능형 포털 간 연계",</a:t>
            </a:r>
          </a:p>
          <a:p xmlns:a="http://schemas.openxmlformats.org/drawingml/2006/main">
            <a:r>
              <a:t>          "locator": "rId13 / BinData/BIN0002_png",</a:t>
            </a:r>
          </a:p>
          <a:p xmlns:a="http://schemas.openxmlformats.org/drawingml/2006/main">
            <a:r>
              <a:t>          "checked": "2026-10-16",</a:t>
            </a:r>
          </a:p>
          <a:p xmlns:a="http://schemas.openxmlformats.org/drawingml/2006/main">
            <a:r>
              <a:t>          "sha256": "0b49ad15a2d50888b15fdc4d6bb439874425106d7d0a2cf9b92b1c3debb0025b",</a:t>
            </a:r>
          </a:p>
          <a:p xmlns:a="http://schemas.openxmlformats.org/drawingml/2006/main">
            <a:r>
              <a:t>          "explanation": {</a:t>
            </a:r>
          </a:p>
          <a:p xmlns:a="http://schemas.openxmlformats.org/drawingml/2006/main">
            <a:r>
              <a:t>            "read": "연구행정·경영정보·업무지원과 지능형 포털의 기존 연결 현황. 새 AI 모델의 배치도가 아니라 어떤 업무 데이터와 시스템을 고도화 시 연결해야 하는지를 보여 주는 원문.",</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"SFR-007",</a:t>
            </a:r>
          </a:p>
          <a:p xmlns:a="http://schemas.openxmlformats.org/drawingml/2006/main">
            <a:r>
              <a:t>              "SFR-010"</a:t>
            </a:r>
          </a:p>
          <a:p xmlns:a="http://schemas.openxmlformats.org/drawingml/2006/main">
            <a:r>
              <a:t>            ],</a:t>
            </a:r>
          </a:p>
          <a:p xmlns:a="http://schemas.openxmlformats.org/drawingml/2006/main">
            <a:r>
              <a:t>            "connection": "기존 사용자·조직·권한과 연구행정 자료를 재사용하고 직무별 검색, 도메인 도구, 정형 문서 생성을 추가하는 대상 경계의 설정."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"전보 전 캐시·권한 없는 연구자료·모델 장애",</a:t>
            </a:r>
          </a:p>
          <a:p xmlns:a="http://schemas.openxmlformats.org/drawingml/2006/main">
            <a:r>
              <a:t>        "hold": "기존 검색 대비 근거·완료시간 평가",</a:t>
            </a:r>
          </a:p>
          <a:p xmlns:a="http://schemas.openxmlformats.org/drawingml/2006/main">
            <a:r>
              <a:t>        "recovery": "GPU 이중화·모델 롤백·부서별 토큰 계측",</a:t>
            </a:r>
          </a:p>
          <a:p xmlns:a="http://schemas.openxmlformats.org/drawingml/2006/main">
            <a:r>
              <a:t>        "evidence": "직무별 순위·근거·서식과 모델 전환·복구 결과"</a:t>
            </a:r>
          </a:p>
          <a:p xmlns:a="http://schemas.openxmlformats.org/drawingml/2006/main">
            <a:r>
              <a:t>      },</a:t>
            </a:r>
          </a:p>
          <a:p xmlns:a="http://schemas.openxmlformats.org/drawingml/2006/main">
            <a:r>
              <a:t>      "data": {</a:t>
            </a:r>
          </a:p>
          <a:p xmlns:a="http://schemas.openxmlformats.org/drawingml/2006/main">
            <a:r>
              <a:t>        "source": "연구행정 지식",</a:t>
            </a:r>
          </a:p>
          <a:p xmlns:a="http://schemas.openxmlformats.org/drawingml/2006/main">
            <a:r>
              <a:t>        "prepare": "문서·연구성과·전문가·양식의 색인 구성",</a:t>
            </a:r>
          </a:p>
          <a:p xmlns:a="http://schemas.openxmlformats.org/drawingml/2006/main">
            <a:r>
              <a:t>        "output": "직무·질문",</a:t>
            </a:r>
          </a:p>
          <a:p xmlns:a="http://schemas.openxmlformats.org/drawingml/2006/main">
            <a:r>
              <a:t>        "refresh": "GPU 이중화·모델 롤백·부서별 토큰 계측"</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"PF-R03",</a:t>
            </a:r>
          </a:p>
          <a:p xmlns:a="http://schemas.openxmlformats.org/drawingml/2006/main">
            <a:r>
              <a:t>    "success": [</a:t>
            </a:r>
          </a:p>
          <a:p xmlns:a="http://schemas.openxmlformats.org/drawingml/2006/main">
            <a:r>
              <a:t>      "기존 연구행정 검색의 고도화",</a:t>
            </a:r>
          </a:p>
          <a:p xmlns:a="http://schemas.openxmlformats.org/drawingml/2006/main">
            <a:r>
              <a:t>      "업무별 에이전트·정형 출력 구성"</a:t>
            </a:r>
          </a:p>
          <a:p xmlns:a="http://schemas.openxmlformats.org/drawingml/2006/main">
            <a:r>
              <a:t>    ],</a:t>
            </a:r>
          </a:p>
          <a:p xmlns:a="http://schemas.openxmlformats.org/drawingml/2006/main">
            <a:r>
              <a:t>    "risks": [</a:t>
            </a:r>
          </a:p>
          <a:p xmlns:a="http://schemas.openxmlformats.org/drawingml/2006/main">
            <a:r>
              <a:t>      "검색 재정렬의 근거 누락",</a:t>
            </a:r>
          </a:p>
          <a:p xmlns:a="http://schemas.openxmlformats.org/drawingml/2006/main">
            <a:r>
              <a:t>      "후속 공고와 도입 완료의 혼동"</a:t>
            </a:r>
          </a:p>
          <a:p xmlns:a="http://schemas.openxmlformats.org/drawingml/2006/main">
            <a:r>
              <a:t>    ],</a:t>
            </a:r>
          </a:p>
          <a:p xmlns:a="http://schemas.openxmlformats.org/drawingml/2006/main">
            <a:r>
              <a:t>    "architecture": [</a:t>
            </a:r>
          </a:p>
          <a:p xmlns:a="http://schemas.openxmlformats.org/drawingml/2006/main">
            <a:r>
              <a:t>      "연구행정 사용자",</a:t>
            </a:r>
          </a:p>
          <a:p xmlns:a="http://schemas.openxmlformats.org/drawingml/2006/main">
            <a:r>
              <a:t>      "검색·업무 에이전트",</a:t>
            </a:r>
          </a:p>
          <a:p xmlns:a="http://schemas.openxmlformats.org/drawingml/2006/main">
            <a:r>
              <a:t>      "연구행정 지식",</a:t>
            </a:r>
          </a:p>
          <a:p xmlns:a="http://schemas.openxmlformats.org/drawingml/2006/main">
            <a:r>
              <a:t>      "문서 작성 담당"</a:t>
            </a:r>
          </a:p>
          <a:p xmlns:a="http://schemas.openxmlformats.org/drawingml/2006/main">
            <a:r>
              <a:t>    ],</a:t>
            </a:r>
          </a:p>
          <a:p xmlns:a="http://schemas.openxmlformats.org/drawingml/2006/main">
            <a:r>
              <a:t>    "transfers": [</a:t>
            </a:r>
          </a:p>
          <a:p xmlns:a="http://schemas.openxmlformats.org/drawingml/2006/main">
            <a:r>
              <a:t>      "직무·질문",</a:t>
            </a:r>
          </a:p>
          <a:p xmlns:a="http://schemas.openxmlformats.org/drawingml/2006/main">
            <a:r>
              <a:t>      "재정렬 근거",</a:t>
            </a:r>
          </a:p>
          <a:p xmlns:a="http://schemas.openxmlformats.org/drawingml/2006/main">
            <a:r>
              <a:t>      "정형 초안",</a:t>
            </a:r>
          </a:p>
          <a:p xmlns:a="http://schemas.openxmlformats.org/drawingml/2006/main">
            <a:r>
              <a:t>      "검토 문서"</a:t>
            </a:r>
          </a:p>
          <a:p xmlns:a="http://schemas.openxmlformats.org/drawingml/2006/main">
            <a:r>
              <a:t>    ],</a:t>
            </a:r>
          </a:p>
          <a:p xmlns:a="http://schemas.openxmlformats.org/drawingml/2006/main">
            <a:r>
              <a:t>    "control": "기존 검색 대비 근거·완료시간 평가",</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SFR-007~012 / Word T044 https://www.g2b.go.kr/pn/pnp/pnpe/UntyAtchFile/downloadFile.do?bidPbancNo=R26BK01670411&amp;bidPbancOrd=000&amp;fileType=&amp;fileSeq=1&amp;prcmBsneSeCd=03</a:t>
            </a:r>
          </a:p>
          <a:p xmlns:a="http://schemas.openxmlformats.org/drawingml/2006/main">
            <a:r>
              <a:t>홈페이지 https://heen1987-ops.github.io/TS-business-Plan-001/index.html?view=platform-cases&amp;case=PF-R03</a:t>
            </a:r>
          </a:p>
          <a:p xmlns:a="http://schemas.openxmlformats.org/drawingml/2006/main">
            <a:r>
              <a:t>원문 도면 {"caseId":"PF-R03","path":"assets/casebook-sources/PF-R03-01.png","title":"생산기술연구원 정보시스템 연계","status":"RFP 수록 기존 정보시스템 현황","caption":"연구행정·경영정보·업무지원·지능형 포털 간 연계","locator":"rId13 / BinData/BIN0002_png","checked":"2026-10-16","sha256":"0b49ad15a2d50888b15fdc4d6bb439874425106d7d0a2cf9b92b1c3debb0025b","explanation":{"read":"연구행정·경영정보·업무지원과 지능형 포털의 기존 연결 현황. 새 AI 모델의 배치도가 아니라 어떤 업무 데이터와 시스템을 고도화 시 연결해야 하는지를 보여 주는 원문.","requirements":["SFR-003","SFR-004","SFR-007","SFR-010"],"connection":"기존 사용자·조직·권한과 연구행정 자료를 재사용하고 직무별 검색, 도메인 도구, 정형 문서 생성을 추가하는 대상 경계의 설정."}}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"PF-R03",</a:t>
            </a:r>
          </a:p>
          <a:p xmlns:a="http://schemas.openxmlformats.org/drawingml/2006/main">
            <a:r>
              <a:t>    "sourceId": "R03",</a:t>
            </a:r>
          </a:p>
          <a:p xmlns:a="http://schemas.openxmlformats.org/drawingml/2006/main">
            <a:r>
              <a:t>    "title": "생산기술연구원 AI 고도화",</a:t>
            </a:r>
          </a:p>
          <a:p xmlns:a="http://schemas.openxmlformats.org/drawingml/2006/main">
            <a:r>
              <a:t>    "region": "국내",</a:t>
            </a:r>
          </a:p>
          <a:p xmlns:a="http://schemas.openxmlformats.org/drawingml/2006/main">
            <a:r>
              <a:t>    "owner": "한국생산기술연구원",</a:t>
            </a:r>
          </a:p>
          <a:p xmlns:a="http://schemas.openxmlformats.org/drawingml/2006/main">
            <a:r>
              <a:t>    "state": "후속 공고 RFP 확인 / 계약·운영 미확인",</a:t>
            </a:r>
          </a:p>
          <a:p xmlns:a="http://schemas.openxmlformats.org/drawingml/2006/main">
            <a:r>
              <a:t>    "period": "기존 원장 확인 2026.10.16",</a:t>
            </a:r>
          </a:p>
          <a:p xmlns:a="http://schemas.openxmlformats.org/drawingml/2006/main">
            <a:r>
              <a:t>    "fact": "기존 연구행정 AI 고도화: 지능형 검색·멀티모델·도메인 에이전트·정형 문서 생성",</a:t>
            </a:r>
          </a:p>
          <a:p xmlns:a="http://schemas.openxmlformats.org/drawingml/2006/main">
            <a:r>
              <a:t>    "limit": "연구원 외부 TechGPT 성과와 본 내부사업을 혼동하지 않음",</a:t>
            </a:r>
          </a:p>
          <a:p xmlns:a="http://schemas.openxmlformats.org/drawingml/2006/main">
            <a:r>
              <a:t>    "nodes": [</a:t>
            </a:r>
          </a:p>
          <a:p xmlns:a="http://schemas.openxmlformats.org/drawingml/2006/main">
            <a:r>
              <a:t>      "직원·직무",</a:t>
            </a:r>
          </a:p>
          <a:p xmlns:a="http://schemas.openxmlformats.org/drawingml/2006/main">
            <a:r>
              <a:t>      "검색 재정렬",</a:t>
            </a:r>
          </a:p>
          <a:p xmlns:a="http://schemas.openxmlformats.org/drawingml/2006/main">
            <a:r>
              <a:t>      "업무 에이전트",</a:t>
            </a:r>
          </a:p>
          <a:p xmlns:a="http://schemas.openxmlformats.org/drawingml/2006/main">
            <a:r>
              <a:t>      "문서·운영 관리"</a:t>
            </a:r>
          </a:p>
          <a:p xmlns:a="http://schemas.openxmlformats.org/drawingml/2006/main">
            <a:r>
              <a:t>    ],</a:t>
            </a:r>
          </a:p>
          <a:p xmlns:a="http://schemas.openxmlformats.org/drawingml/2006/main">
            <a:r>
              <a:t>    "apply": "공식 소속·직무를 검색 순위·서식·업무 도구 선택에 연결하는 개인화",</a:t>
            </a:r>
          </a:p>
          <a:p xmlns:a="http://schemas.openxmlformats.org/drawingml/2006/main">
            <a:r>
              <a:t>    "delta": "사번–부서–직무–업무 연결 / 검색 재정렬 / 직무별 문서 양식",</a:t>
            </a:r>
          </a:p>
          <a:p xmlns:a="http://schemas.openxmlformats.org/drawingml/2006/main">
            <a:r>
              <a:t>    "test": "동일 질의의 직무별 정답·문서 순위·서식 비교 및 전보 후 권한 시험",</a:t>
            </a:r>
          </a:p>
          <a:p xmlns:a="http://schemas.openxmlformats.org/drawingml/2006/main">
            <a:r>
              <a:t>    "url": "https://www.g2b.go.kr/pn/pnp/pnpe/UntyAtchFile/downloadFile.do?bidPbancNo=R26BK01670411&amp;bidPbancOrd=000&amp;fileType=&amp;fileSeq=1&amp;prcmBsneSeCd=03",</a:t>
            </a:r>
          </a:p>
          <a:p xmlns:a="http://schemas.openxmlformats.org/drawingml/2006/main">
            <a:r>
              <a:t>    "urls": [</a:t>
            </a:r>
          </a:p>
          <a:p xmlns:a="http://schemas.openxmlformats.org/drawingml/2006/main">
            <a:r>
              <a:t>      "https://www.g2b.go.kr/pn/pnp/pnpe/UntyAtchFile/downloadFile.do?bidPbancNo=R26BK01670411&amp;bidPbancOrd=000&amp;fileType=&amp;fileSeq=1&amp;prcmBsneSeCd=03"</a:t>
            </a:r>
          </a:p>
          <a:p xmlns:a="http://schemas.openxmlformats.org/drawingml/2006/main">
            <a:r>
              <a:t>    ],</a:t>
            </a:r>
          </a:p>
          <a:p xmlns:a="http://schemas.openxmlformats.org/drawingml/2006/main">
            <a:r>
              <a:t>    "basis": "SFR-007~012 / Word T044",</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"직무별 과업 성공률 / 검색·문서 작성시간 / 요청당 비용",</a:t>
            </a:r>
          </a:p>
          <a:p xmlns:a="http://schemas.openxmlformats.org/drawingml/2006/main">
            <a:r>
              <a:t>    "group": "요구·구축",</a:t>
            </a:r>
          </a:p>
          <a:p xmlns:a="http://schemas.openxmlformats.org/drawingml/2006/main">
            <a:r>
              <a:t>    "sourceDetail": "소속·직무·검색이력·업무 기반 검색 재정렬, 양식/목차/입력 구조화, GPU 이중화·모델 롤백·부서별 토큰 비용",</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"PF-R03",</a:t>
            </a:r>
          </a:p>
          <a:p xmlns:a="http://schemas.openxmlformats.org/drawingml/2006/main">
            <a:r>
              <a:t>    "canonicalId": "PF-R03",</a:t>
            </a:r>
          </a:p>
          <a:p xmlns:a="http://schemas.openxmlformats.org/drawingml/2006/main">
            <a:r>
              <a:t>    "purpose": "직무별 검색과 정형 문서 작성의 고도화",</a:t>
            </a:r>
          </a:p>
          <a:p xmlns:a="http://schemas.openxmlformats.org/drawingml/2006/main">
            <a:r>
              <a:t>    "users": "연구직·행정직·플랫폼 운영자",</a:t>
            </a:r>
          </a:p>
          <a:p xmlns:a="http://schemas.openxmlformats.org/drawingml/2006/main">
            <a:r>
              <a:t>    "scope": [</a:t>
            </a:r>
          </a:p>
          <a:p xmlns:a="http://schemas.openxmlformats.org/drawingml/2006/main">
            <a:r>
              <a:t>      "검색 재정렬",</a:t>
            </a:r>
          </a:p>
          <a:p xmlns:a="http://schemas.openxmlformats.org/drawingml/2006/main">
            <a:r>
              <a:t>      "문서 생성",</a:t>
            </a:r>
          </a:p>
          <a:p xmlns:a="http://schemas.openxmlformats.org/drawingml/2006/main">
            <a:r>
              <a:t>      "멀티모델 운영"</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"연구행정 사용자",</a:t>
            </a:r>
          </a:p>
          <a:p xmlns:a="http://schemas.openxmlformats.org/drawingml/2006/main">
            <a:r>
              <a:t>        "detail": "소속·직무·검색 이력·진행업무 연결",</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"검색 재정렬 / 문서 생성 / 멀티모델 운영",</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"검색·업무 에이전트",</a:t>
            </a:r>
          </a:p>
          <a:p xmlns:a="http://schemas.openxmlformats.org/drawingml/2006/main">
            <a:r>
              <a:t>        "detail": "질의 보정·재정렬·요약·양식별 생성",</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"문서 작성 담당",</a:t>
            </a:r>
          </a:p>
          <a:p xmlns:a="http://schemas.openxmlformats.org/drawingml/2006/main">
            <a:r>
              <a:t>        "detail": "원문 근거와 목차·필드가 있는 초안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"연구행정 지식",</a:t>
            </a:r>
          </a:p>
          <a:p xmlns:a="http://schemas.openxmlformats.org/drawingml/2006/main">
            <a:r>
              <a:t>        "detail": "문서·연구성과·전문가·양식의 색인 구성",</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"GPU 이중화·모델 롤백·부서별 토큰 계측",</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"직원·직무",</a:t>
            </a:r>
          </a:p>
          <a:p xmlns:a="http://schemas.openxmlformats.org/drawingml/2006/main">
            <a:r>
              <a:t>        "input": "소속·직무·검색 이력·진행업무 연결",</a:t>
            </a:r>
          </a:p>
          <a:p xmlns:a="http://schemas.openxmlformats.org/drawingml/2006/main">
            <a:r>
              <a:t>        "process": "문서·연구성과·전문가·양식의 색인 구성",</a:t>
            </a:r>
          </a:p>
          <a:p xmlns:a="http://schemas.openxmlformats.org/drawingml/2006/main">
            <a:r>
              <a:t>        "output": "직무·질문"</a:t>
            </a:r>
          </a:p>
          <a:p xmlns:a="http://schemas.openxmlformats.org/drawingml/2006/main">
            <a:r>
              <a:t>      },</a:t>
            </a:r>
          </a:p>
          <a:p xmlns:a="http://schemas.openxmlformats.org/drawingml/2006/main">
            <a:r>
              <a:t>      {</a:t>
            </a:r>
          </a:p>
          <a:p xmlns:a="http://schemas.openxmlformats.org/drawingml/2006/main">
            <a:r>
              <a:t>        "title": "검색 재정렬",</a:t>
            </a:r>
          </a:p>
          <a:p xmlns:a="http://schemas.openxmlformats.org/drawingml/2006/main">
            <a:r>
              <a:t>        "input": "직무·질문",</a:t>
            </a:r>
          </a:p>
          <a:p xmlns:a="http://schemas.openxmlformats.org/drawingml/2006/main">
            <a:r>
              <a:t>        "process": "질의 보정·재정렬·요약·양식별 생성",</a:t>
            </a:r>
          </a:p>
          <a:p xmlns:a="http://schemas.openxmlformats.org/drawingml/2006/main">
            <a:r>
              <a:t>        "output": "재정렬 근거"</a:t>
            </a:r>
          </a:p>
          <a:p xmlns:a="http://schemas.openxmlformats.org/drawingml/2006/main">
            <a:r>
              <a:t>      },</a:t>
            </a:r>
          </a:p>
          <a:p xmlns:a="http://schemas.openxmlformats.org/drawingml/2006/main">
            <a:r>
              <a:t>      {</a:t>
            </a:r>
          </a:p>
          <a:p xmlns:a="http://schemas.openxmlformats.org/drawingml/2006/main">
            <a:r>
              <a:t>        "title": "업무 에이전트",</a:t>
            </a:r>
          </a:p>
          <a:p xmlns:a="http://schemas.openxmlformats.org/drawingml/2006/main">
            <a:r>
              <a:t>        "input": "재정렬 근거",</a:t>
            </a:r>
          </a:p>
          <a:p xmlns:a="http://schemas.openxmlformats.org/drawingml/2006/main">
            <a:r>
              <a:t>        "process": "기존 검색 대비 근거·완료시간 평가",</a:t>
            </a:r>
          </a:p>
          <a:p xmlns:a="http://schemas.openxmlformats.org/drawingml/2006/main">
            <a:r>
              <a:t>        "output": "정형 초안"</a:t>
            </a:r>
          </a:p>
          <a:p xmlns:a="http://schemas.openxmlformats.org/drawingml/2006/main">
            <a:r>
              <a:t>      },</a:t>
            </a:r>
          </a:p>
          <a:p xmlns:a="http://schemas.openxmlformats.org/drawingml/2006/main">
            <a:r>
              <a:t>      {</a:t>
            </a:r>
          </a:p>
          <a:p xmlns:a="http://schemas.openxmlformats.org/drawingml/2006/main">
            <a:r>
              <a:t>        "title": "문서·운영 관리",</a:t>
            </a:r>
          </a:p>
          <a:p xmlns:a="http://schemas.openxmlformats.org/drawingml/2006/main">
            <a:r>
              <a:t>        "input": "정형 초안",</a:t>
            </a:r>
          </a:p>
          <a:p xmlns:a="http://schemas.openxmlformats.org/drawingml/2006/main">
            <a:r>
              <a:t>        "process": "원문 근거와 목차·필드가 있는 초안 제공",</a:t>
            </a:r>
          </a:p>
          <a:p xmlns:a="http://schemas.openxmlformats.org/drawingml/2006/main">
            <a:r>
              <a:t>        "output": "검토 문서"</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"동일 질의를 연구직·행정직 계정으로 실행해 검색·서식 비교",</a:t>
            </a:r>
          </a:p>
          <a:p xmlns:a="http://schemas.openxmlformats.org/drawingml/2006/main">
            <a:r>
              <a:t>      "exception": "전보 전 캐시·권한 없는 연구자료·모델 장애",</a:t>
            </a:r>
          </a:p>
          <a:p xmlns:a="http://schemas.openxmlformats.org/drawingml/2006/main">
            <a:r>
              <a:t>      "evidence": "직무별 순위·근거·서식과 모델 전환·복구 결과",</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"연구직·행정직·플랫폼 운영자",</a:t>
            </a:r>
          </a:p>
          <a:p xmlns:a="http://schemas.openxmlformats.org/drawingml/2006/main">
            <a:r>
              <a:t>          "processing": "소속·직무·검색 이력·진행업무 연결",</a:t>
            </a:r>
          </a:p>
          <a:p xmlns:a="http://schemas.openxmlformats.org/drawingml/2006/main">
            <a:r>
              <a:t>          "output": "직무·질문"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"연구행정 지식",</a:t>
            </a:r>
          </a:p>
          <a:p xmlns:a="http://schemas.openxmlformats.org/drawingml/2006/main">
            <a:r>
              <a:t>          "processing": "문서·연구성과·전문가·양식의 색인 구성",</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"직무·질문",</a:t>
            </a:r>
          </a:p>
          <a:p xmlns:a="http://schemas.openxmlformats.org/drawingml/2006/main">
            <a:r>
              <a:t>          "processing": "질의 보정·재정렬·요약·양식별 생성",</a:t>
            </a:r>
          </a:p>
          <a:p xmlns:a="http://schemas.openxmlformats.org/drawingml/2006/main">
            <a:r>
              <a:t>          "output": "정형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"정형 초안",</a:t>
            </a:r>
          </a:p>
          <a:p xmlns:a="http://schemas.openxmlformats.org/drawingml/2006/main">
            <a:r>
              <a:t>          "processing": "원문 근거와 목차·필드가 있는 초안 제공",</a:t>
            </a:r>
          </a:p>
          <a:p xmlns:a="http://schemas.openxmlformats.org/drawingml/2006/main">
            <a:r>
              <a:t>          "output": "검토 문서"</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"GPU 이중화·모델 롤백·부서별 토큰 계측",</a:t>
            </a:r>
          </a:p>
          <a:p xmlns:a="http://schemas.openxmlformats.org/drawingml/2006/main">
            <a:r>
              <a:t>          "output": "직무별 순위·근거·서식과 모델 전환·복구 결과"</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"GPU 이중화·모델 롤백·부서별 토큰 계측",</a:t>
            </a:r>
          </a:p>
          <a:p xmlns:a="http://schemas.openxmlformats.org/drawingml/2006/main">
            <a:r>
              <a:t>    "status": "RFP 기반 논리 설계",</a:t>
            </a:r>
          </a:p>
          <a:p xmlns:a="http://schemas.openxmlformats.org/drawingml/2006/main">
            <a:r>
              <a:t>    "basis": "RFP 2026.05 · SFR-007~012",</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"SFR-007~012 / Word T044",</a:t>
            </a:r>
          </a:p>
          <a:p xmlns:a="http://schemas.openxmlformats.org/drawingml/2006/main">
            <a:r>
              <a:t>        "url": "https://www.g2b.go.kr/pn/pnp/pnpe/UntyAtchFile/downloadFile.do?bidPbancNo=R26BK01670411&amp;bidPbancOrd=000&amp;fileType=&amp;fileSeq=1&amp;prcmBsneSeCd=03"</a:t>
            </a:r>
          </a:p>
          <a:p xmlns:a="http://schemas.openxmlformats.org/drawingml/2006/main">
            <a:r>
              <a:t>      }</a:t>
            </a:r>
          </a:p>
          <a:p xmlns:a="http://schemas.openxmlformats.org/drawingml/2006/main">
            <a:r>
              <a:t>    ],</a:t>
            </a:r>
          </a:p>
          <a:p xmlns:a="http://schemas.openxmlformats.org/drawingml/2006/main">
            <a:r>
              <a:t>    "implication": "공식 소속·직무를 검색 순위·서식·업무 도구 선택에 연결하는 개인화",</a:t>
            </a:r>
          </a:p>
          <a:p xmlns:a="http://schemas.openxmlformats.org/drawingml/2006/main">
            <a:r>
              <a:t>    "local": "공식 소속·직무를 검색 순위·서식·업무 도구 선택에 연결하는 개인화",</a:t>
            </a:r>
          </a:p>
          <a:p xmlns:a="http://schemas.openxmlformats.org/drawingml/2006/main">
            <a:r>
              <a:t>    "sourceDetail": "소속·직무·검색이력·업무 기반 검색 재정렬, 양식/목차/입력 구조화, GPU 이중화·모델 롤백·부서별 토큰 비용",</a:t>
            </a:r>
          </a:p>
          <a:p xmlns:a="http://schemas.openxmlformats.org/drawingml/2006/main">
            <a:r>
              <a:t>    "narrative": [</a:t>
            </a:r>
          </a:p>
          <a:p xmlns:a="http://schemas.openxmlformats.org/drawingml/2006/main">
            <a:r>
              <a:t>      "생산기술연구원의 기존 연구행정 검색·AI 환경에 직무별 검색, 에이전트 처리, 문서 생성, 운영 관리 기능을 추가하는 고도화. 연구직과 행정직의 관심 자료가 다른 상황에서 동일 질의의 결과 순서를 다르게 구성하는 요구가 핵심.",</a:t>
            </a:r>
          </a:p>
          <a:p xmlns:a="http://schemas.openxmlformats.org/drawingml/2006/main">
            <a:r>
              <a:t>      "SFR-007은 부서·직무·검색 이력·진행 업무를 이용한 검색 최적화, SFR-009는 복합 질문의 태스크 분해와 도메인 에이전트 호출, SFR-010은 문서 양식·필수 항목·내부 과제정보의 결합을 요구. 인사 연동과 역할별 접근제어를 검색 추천보다 먼저 연결하는 설계.",</a:t>
            </a:r>
          </a:p>
          <a:p xmlns:a="http://schemas.openxmlformats.org/drawingml/2006/main">
            <a:r>
              <a:t>      "TS 조직 네이티브 AI와 직접 비교할 지점은 공식 소속·직무를 검색 문맥으로 사용하는 방식. 추천 순위 개선과 접근권한 확대를 분리하고, 전보 전후 동일 질의의 검색 범위·서식·근거 차이를 검수할 필요. 기존 검색·LLM의 재사용과 조직 매핑 추가분의 구분."</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"SFR-002",</a:t>
            </a:r>
          </a:p>
          <a:p xmlns:a="http://schemas.openxmlformats.org/drawingml/2006/main">
            <a:r>
              <a:t>        "title": "Agent 일반 사항",</a:t>
            </a:r>
          </a:p>
          <a:p xmlns:a="http://schemas.openxmlformats.org/drawingml/2006/main">
            <a:r>
              <a:t>        "locator": "SFR-002",</a:t>
            </a:r>
          </a:p>
          <a:p xmlns:a="http://schemas.openxmlformats.org/drawingml/2006/main">
            <a:r>
              <a:t>        "summary": "MCP 도구 등을 이용한 에이전트 실행의 공통 기능 구성. 업무 요청과 도구 호출의 연결 관리.",</a:t>
            </a:r>
          </a:p>
          <a:p xmlns:a="http://schemas.openxmlformats.org/drawingml/2006/main">
            <a:r>
              <a:t>        "data": "업무 요청·도구 정의 → 호출 계획·도구 결과",</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"C07"</a:t>
            </a:r>
          </a:p>
          <a:p xmlns:a="http://schemas.openxmlformats.org/drawingml/2006/main">
            <a:r>
              <a:t>        ],</a:t>
            </a:r>
          </a:p>
          <a:p xmlns:a="http://schemas.openxmlformats.org/drawingml/2006/main">
            <a:r>
              <a:t>        "acceptance": "미등록 도구·잘못된 인자·호출 실패 상황의 실행 보류와 오류 반환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"600876c2133d5557fe295a881eb90450c3e422b7ff02c531aaeae32498f9894f"</a:t>
            </a:r>
          </a:p>
          <a:p xmlns:a="http://schemas.openxmlformats.org/drawingml/2006/main">
            <a:r>
              <a:t>      },</a:t>
            </a:r>
          </a:p>
          <a:p xmlns:a="http://schemas.openxmlformats.org/drawingml/2006/main">
            <a:r>
              <a:t>      {</a:t>
            </a:r>
          </a:p>
          <a:p xmlns:a="http://schemas.openxmlformats.org/drawingml/2006/main">
            <a:r>
              <a:t>        "id": "SFR-003",</a:t>
            </a:r>
          </a:p>
          <a:p xmlns:a="http://schemas.openxmlformats.org/drawingml/2006/main">
            <a:r>
              <a:t>        "title": "접근 및 권한관리",</a:t>
            </a:r>
          </a:p>
          <a:p xmlns:a="http://schemas.openxmlformats.org/drawingml/2006/main">
            <a:r>
              <a:t>        "locator": "SFR-003",</a:t>
            </a:r>
          </a:p>
          <a:p xmlns:a="http://schemas.openxmlformats.org/drawingml/2006/main">
            <a:r>
              <a:t>        "summary": "인사·조직 정보를 반영한 접근 및 권한 관리. 사용자 역할에 맞는 데이터·기능 범위 적용.",</a:t>
            </a:r>
          </a:p>
          <a:p xmlns:a="http://schemas.openxmlformats.org/drawingml/2006/main">
            <a:r>
              <a:t>        "data": "직원·부서·역할 → 허용 데이터·기능",</a:t>
            </a:r>
          </a:p>
          <a:p xmlns:a="http://schemas.openxmlformats.org/drawingml/2006/main">
            <a:r>
              <a:t>        "components": [</a:t>
            </a:r>
          </a:p>
          <a:p xmlns:a="http://schemas.openxmlformats.org/drawingml/2006/main">
            <a:r>
              <a:t>          "C02",</a:t>
            </a:r>
          </a:p>
          <a:p xmlns:a="http://schemas.openxmlformats.org/drawingml/2006/main">
            <a:r>
              <a:t>          "C12"</a:t>
            </a:r>
          </a:p>
          <a:p xmlns:a="http://schemas.openxmlformats.org/drawingml/2006/main">
            <a:r>
              <a:t>        ],</a:t>
            </a:r>
          </a:p>
          <a:p xmlns:a="http://schemas.openxmlformats.org/drawingml/2006/main">
            <a:r>
              <a:t>        "acceptance": "전보·겸직·퇴직·권한 해제 시 검색과 실행 양쪽의 접근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"04990216c1150703cd093e78e1cf6629542fbdaca4c97f9dca5f8e4f3b400cce"</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"데이터 통합 파이프라인 구축",</a:t>
            </a:r>
          </a:p>
          <a:p xmlns:a="http://schemas.openxmlformats.org/drawingml/2006/main">
            <a:r>
              <a:t>        "locator": "SFR-004",</a:t>
            </a:r>
          </a:p>
          <a:p xmlns:a="http://schemas.openxmlformats.org/drawingml/2006/main">
            <a:r>
              <a:t>        "summary": "분산 데이터를 수집·정제·연계하는 통합 파이프라인 구축.",</a:t>
            </a:r>
          </a:p>
          <a:p xmlns:a="http://schemas.openxmlformats.org/drawingml/2006/main">
            <a:r>
              <a:t>        "data": "업무 원천·메타데이터 → 검색·AI 활용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"파일 형식 오류·중복·갱신·삭제 자료의 재처리와 원천-색인 건수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"e23449e0d4bf6fe973e547277bd671a1db47129f3f697fe40e3653855a967d51"</a:t>
            </a:r>
          </a:p>
          <a:p xmlns:a="http://schemas.openxmlformats.org/drawingml/2006/main">
            <a:r>
              <a:t>      },</a:t>
            </a:r>
          </a:p>
          <a:p xmlns:a="http://schemas.openxmlformats.org/drawingml/2006/main">
            <a:r>
              <a:t>      {</a:t>
            </a:r>
          </a:p>
          <a:p xmlns:a="http://schemas.openxmlformats.org/drawingml/2006/main">
            <a:r>
              <a:t>        "id": "SFR-007",</a:t>
            </a:r>
          </a:p>
          <a:p xmlns:a="http://schemas.openxmlformats.org/drawingml/2006/main">
            <a:r>
              <a:t>        "title": "AI 기반 지능형 검색 서비스",</a:t>
            </a:r>
          </a:p>
          <a:p xmlns:a="http://schemas.openxmlformats.org/drawingml/2006/main">
            <a:r>
              <a:t>        "locator": "SFR-007",</a:t>
            </a:r>
          </a:p>
          <a:p xmlns:a="http://schemas.openxmlformats.org/drawingml/2006/main">
            <a:r>
              <a:t>        "summary": "부서·직무·사용 이력 등을 반영한 AI 검색과 결과 재정렬.",</a:t>
            </a:r>
          </a:p>
          <a:p xmlns:a="http://schemas.openxmlformats.org/drawingml/2006/main">
            <a:r>
              <a:t>        "data": "동일 질의·다른 직무 문맥 → 직무별 관련 근거 순위",</a:t>
            </a:r>
          </a:p>
          <a:p xmlns:a="http://schemas.openxmlformats.org/drawingml/2006/main">
            <a:r>
              <a:t>        "components": [</a:t>
            </a:r>
          </a:p>
          <a:p xmlns:a="http://schemas.openxmlformats.org/drawingml/2006/main">
            <a:r>
              <a:t>          "C02",</a:t>
            </a:r>
          </a:p>
          <a:p xmlns:a="http://schemas.openxmlformats.org/drawingml/2006/main">
            <a:r>
              <a:t>          "C03",</a:t>
            </a:r>
          </a:p>
          <a:p xmlns:a="http://schemas.openxmlformats.org/drawingml/2006/main">
            <a:r>
              <a:t>          "C11"</a:t>
            </a:r>
          </a:p>
          <a:p xmlns:a="http://schemas.openxmlformats.org/drawingml/2006/main">
            <a:r>
              <a:t>        ],</a:t>
            </a:r>
          </a:p>
          <a:p xmlns:a="http://schemas.openxmlformats.org/drawingml/2006/main">
            <a:r>
              <a:t>        "acceptance": "연구직·행정직의 동일 질의에서 관련성 변화와 권한 밖 결과 제외를 함께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"3e12718b7b492badc155b10cf84e1b67c500d44a7c8333c9b026c5a4dea691ad"</a:t>
            </a:r>
          </a:p>
          <a:p xmlns:a="http://schemas.openxmlformats.org/drawingml/2006/main">
            <a:r>
              <a:t>      },</a:t>
            </a:r>
          </a:p>
          <a:p xmlns:a="http://schemas.openxmlformats.org/drawingml/2006/main">
            <a:r>
              <a:t>      {</a:t>
            </a:r>
          </a:p>
          <a:p xmlns:a="http://schemas.openxmlformats.org/drawingml/2006/main">
            <a:r>
              <a:t>        "id": "SFR-008",</a:t>
            </a:r>
          </a:p>
          <a:p xmlns:a="http://schemas.openxmlformats.org/drawingml/2006/main">
            <a:r>
              <a:t>        "title": "멀티 모델 적용",</a:t>
            </a:r>
          </a:p>
          <a:p xmlns:a="http://schemas.openxmlformats.org/drawingml/2006/main">
            <a:r>
              <a:t>        "locator": "SFR-008",</a:t>
            </a:r>
          </a:p>
          <a:p xmlns:a="http://schemas.openxmlformats.org/drawingml/2006/main">
            <a:r>
              <a:t>        "summary": "복수 모델의 적용·선택·비교를 지원하는 멀티모델 구조.",</a:t>
            </a:r>
          </a:p>
          <a:p xmlns:a="http://schemas.openxmlformats.org/drawingml/2006/main">
            <a:r>
              <a:t>        "data": "업무 유형·모델 설정 → 모델별 결과·비교 기록",</a:t>
            </a:r>
          </a:p>
          <a:p xmlns:a="http://schemas.openxmlformats.org/drawingml/2006/main">
            <a:r>
              <a:t>        "components": [</a:t>
            </a:r>
          </a:p>
          <a:p xmlns:a="http://schemas.openxmlformats.org/drawingml/2006/main">
            <a:r>
              <a:t>          "C04",</a:t>
            </a:r>
          </a:p>
          <a:p xmlns:a="http://schemas.openxmlformats.org/drawingml/2006/main">
            <a:r>
              <a:t>          "C08"</a:t>
            </a:r>
          </a:p>
          <a:p xmlns:a="http://schemas.openxmlformats.org/drawingml/2006/main">
            <a:r>
              <a:t>        ],</a:t>
            </a:r>
          </a:p>
          <a:p xmlns:a="http://schemas.openxmlformats.org/drawingml/2006/main">
            <a:r>
              <a:t>        "acceptance": "같은 입력의 모델별 정확성·시간·비용과 오류 발생 시 처리 경로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"a446f7c2f5ef6677204833f37fa4bbda4bae700a5c3c1b2e4e8a729dc569f518"</a:t>
            </a:r>
          </a:p>
          <a:p xmlns:a="http://schemas.openxmlformats.org/drawingml/2006/main">
            <a:r>
              <a:t>      },</a:t>
            </a:r>
          </a:p>
          <a:p xmlns:a="http://schemas.openxmlformats.org/drawingml/2006/main">
            <a:r>
              <a:t>      {</a:t>
            </a:r>
          </a:p>
          <a:p xmlns:a="http://schemas.openxmlformats.org/drawingml/2006/main">
            <a:r>
              <a:t>        "id": "SFR-009",</a:t>
            </a:r>
          </a:p>
          <a:p xmlns:a="http://schemas.openxmlformats.org/drawingml/2006/main">
            <a:r>
              <a:t>        "title": "지능형 질의응답 고도화 체계 구축",</a:t>
            </a:r>
          </a:p>
          <a:p xmlns:a="http://schemas.openxmlformats.org/drawingml/2006/main">
            <a:r>
              <a:t>        "locator": "SFR-009",</a:t>
            </a:r>
          </a:p>
          <a:p xmlns:a="http://schemas.openxmlformats.org/drawingml/2006/main">
            <a:r>
              <a:t>        "summary": "질의의 업무 계획 수립과 도메인 에이전트 연결을 통한 질의응답 고도화.",</a:t>
            </a:r>
          </a:p>
          <a:p xmlns:a="http://schemas.openxmlformats.org/drawingml/2006/main">
            <a:r>
              <a:t>        "data": "복합 업무 질의 → 단계별 계획·도구 결과·응답",</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"C07"</a:t>
            </a:r>
          </a:p>
          <a:p xmlns:a="http://schemas.openxmlformats.org/drawingml/2006/main">
            <a:r>
              <a:t>        ],</a:t>
            </a:r>
          </a:p>
          <a:p xmlns:a="http://schemas.openxmlformats.org/drawingml/2006/main">
            <a:r>
              <a:t>        "acceptance": "계획 일부 실패·불필요한 도구 호출·담당 영역 혼동 시 중단·재계획 경로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"86afdf5c09bd02dc72865179ec33f762956a14ddf1cf170340996155bdafaf57"</a:t>
            </a:r>
          </a:p>
          <a:p xmlns:a="http://schemas.openxmlformats.org/drawingml/2006/main">
            <a:r>
              <a:t>      },</a:t>
            </a:r>
          </a:p>
          <a:p xmlns:a="http://schemas.openxmlformats.org/drawingml/2006/main">
            <a:r>
              <a:t>      {</a:t>
            </a:r>
          </a:p>
          <a:p xmlns:a="http://schemas.openxmlformats.org/drawingml/2006/main">
            <a:r>
              <a:t>        "id": "SFR-010",</a:t>
            </a:r>
          </a:p>
          <a:p xmlns:a="http://schemas.openxmlformats.org/drawingml/2006/main">
            <a:r>
              <a:t>        "title": "문서 자동 생성 지원",</a:t>
            </a:r>
          </a:p>
          <a:p xmlns:a="http://schemas.openxmlformats.org/drawingml/2006/main">
            <a:r>
              <a:t>        "locator": "SFR-010",</a:t>
            </a:r>
          </a:p>
          <a:p xmlns:a="http://schemas.openxmlformats.org/drawingml/2006/main">
            <a:r>
              <a:t>        "summary": "템플릿·메타데이터·내부 자료를 활용한 정형 문서 생성 지원.",</a:t>
            </a:r>
          </a:p>
          <a:p xmlns:a="http://schemas.openxmlformats.org/drawingml/2006/main">
            <a:r>
              <a:t>        "data": "양식·필수 항목·근거 자료 → 편집 가능한 문서 초안",</a:t>
            </a:r>
          </a:p>
          <a:p xmlns:a="http://schemas.openxmlformats.org/drawingml/2006/main">
            <a:r>
              <a:t>        "components": [</a:t>
            </a:r>
          </a:p>
          <a:p xmlns:a="http://schemas.openxmlformats.org/drawingml/2006/main">
            <a:r>
              <a:t>          "C04",</a:t>
            </a:r>
          </a:p>
          <a:p xmlns:a="http://schemas.openxmlformats.org/drawingml/2006/main">
            <a:r>
              <a:t>          "C05",</a:t>
            </a:r>
          </a:p>
          <a:p xmlns:a="http://schemas.openxmlformats.org/drawingml/2006/main">
            <a:r>
              <a:t>          "C06"</a:t>
            </a:r>
          </a:p>
          <a:p xmlns:a="http://schemas.openxmlformats.org/drawingml/2006/main">
            <a:r>
              <a:t>        ],</a:t>
            </a:r>
          </a:p>
          <a:p xmlns:a="http://schemas.openxmlformats.org/drawingml/2006/main">
            <a:r>
              <a:t>        "acceptance": "필수 항목 누락·다른 양식 판본·숫자 인용 오류의 검출과 사용자 수정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"20df882404a76e75b24ff57eaa67d2d18ca56387f99e065033be13396d4a5f00"</a:t>
            </a:r>
          </a:p>
          <a:p xmlns:a="http://schemas.openxmlformats.org/drawingml/2006/main">
            <a:r>
              <a:t>      },</a:t>
            </a:r>
          </a:p>
          <a:p xmlns:a="http://schemas.openxmlformats.org/drawingml/2006/main">
            <a:r>
              <a:t>      {</a:t>
            </a:r>
          </a:p>
          <a:p xmlns:a="http://schemas.openxmlformats.org/drawingml/2006/main">
            <a:r>
              <a:t>        "id": "SFR-012",</a:t>
            </a:r>
          </a:p>
          <a:p xmlns:a="http://schemas.openxmlformats.org/drawingml/2006/main">
            <a:r>
              <a:t>        "title": "AI 서비스 운영 모니터링 체계구축",</a:t>
            </a:r>
          </a:p>
          <a:p xmlns:a="http://schemas.openxmlformats.org/drawingml/2006/main">
            <a:r>
              <a:t>        "locator": "SFR-012",</a:t>
            </a:r>
          </a:p>
          <a:p xmlns:a="http://schemas.openxmlformats.org/drawingml/2006/main">
            <a:r>
              <a:t>        "summary": "AI 서비스의 처리·이용·품질 상태를 확인하는 운영 모니터링 체계.",</a:t>
            </a:r>
          </a:p>
          <a:p xmlns:a="http://schemas.openxmlformats.org/drawingml/2006/main">
            <a:r>
              <a:t>        "data": "호출·서비스 상태·오류 → 관측 지표·운영 기록",</a:t>
            </a:r>
          </a:p>
          <a:p xmlns:a="http://schemas.openxmlformats.org/drawingml/2006/main">
            <a:r>
              <a:t>        "components": [</a:t>
            </a:r>
          </a:p>
          <a:p xmlns:a="http://schemas.openxmlformats.org/drawingml/2006/main">
            <a:r>
              <a:t>          "C08"</a:t>
            </a:r>
          </a:p>
          <a:p xmlns:a="http://schemas.openxmlformats.org/drawingml/2006/main">
            <a:r>
              <a:t>        ],</a:t>
            </a:r>
          </a:p>
          <a:p xmlns:a="http://schemas.openxmlformats.org/drawingml/2006/main">
            <a:r>
              <a:t>        "acceptance": "한 요청의 검색·모델·도구 단계를 연결해 실패 지점과 지연 원인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"253bfe0e809bb087229cb4b40f86856252a906181714e2b1a1a84d46237d7570"</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"연구행정 접점",</a:t>
            </a:r>
          </a:p>
          <a:p xmlns:a="http://schemas.openxmlformats.org/drawingml/2006/main">
            <a:r>
              <a:t>          "layer": "이용 접점",</a:t>
            </a:r>
          </a:p>
          <a:p xmlns:a="http://schemas.openxmlformats.org/drawingml/2006/main">
            <a:r>
              <a:t>          "detail": "연구직·행정직·플랫폼 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"소속·직무·이력",</a:t>
            </a:r>
          </a:p>
          <a:p xmlns:a="http://schemas.openxmlformats.org/drawingml/2006/main">
            <a:r>
              <a:t>          "layer": "업무 문맥",</a:t>
            </a:r>
          </a:p>
          <a:p xmlns:a="http://schemas.openxmlformats.org/drawingml/2006/main">
            <a:r>
              <a:t>          "detail": "소속·직무·검색 이력·진행업무 연결",</a:t>
            </a:r>
          </a:p>
          <a:p xmlns:a="http://schemas.openxmlformats.org/drawingml/2006/main">
            <a:r>
              <a:t>          "requirements": [</a:t>
            </a:r>
          </a:p>
          <a:p xmlns:a="http://schemas.openxmlformats.org/drawingml/2006/main">
            <a:r>
              <a:t>            "SFR-002",</a:t>
            </a:r>
          </a:p>
          <a:p xmlns:a="http://schemas.openxmlformats.org/drawingml/2006/main">
            <a:r>
              <a:t>            "SFR-003",</a:t>
            </a:r>
          </a:p>
          <a:p xmlns:a="http://schemas.openxmlformats.org/drawingml/2006/main">
            <a:r>
              <a:t>            "SFR-007",</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"업무 검색 재정렬",</a:t>
            </a:r>
          </a:p>
          <a:p xmlns:a="http://schemas.openxmlformats.org/drawingml/2006/main">
            <a:r>
              <a:t>          "layer": "자료 조회",</a:t>
            </a:r>
          </a:p>
          <a:p xmlns:a="http://schemas.openxmlformats.org/drawingml/2006/main">
            <a:r>
              <a:t>          "detail": "직무·질문",</a:t>
            </a:r>
          </a:p>
          <a:p xmlns:a="http://schemas.openxmlformats.org/drawingml/2006/main">
            <a:r>
              <a:t>          "requirements": [</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"에이전트·정형 생성",</a:t>
            </a:r>
          </a:p>
          <a:p xmlns:a="http://schemas.openxmlformats.org/drawingml/2006/main">
            <a:r>
              <a:t>          "layer": "핵심 처리",</a:t>
            </a:r>
          </a:p>
          <a:p xmlns:a="http://schemas.openxmlformats.org/drawingml/2006/main">
            <a:r>
              <a:t>          "detail": "질의 보정·재정렬·요약·양식별 생성",</a:t>
            </a:r>
          </a:p>
          <a:p xmlns:a="http://schemas.openxmlformats.org/drawingml/2006/main">
            <a:r>
              <a:t>          "requirements": [</a:t>
            </a:r>
          </a:p>
          <a:p xmlns:a="http://schemas.openxmlformats.org/drawingml/2006/main">
            <a:r>
              <a:t>            "SFR-002",</a:t>
            </a:r>
          </a:p>
          <a:p xmlns:a="http://schemas.openxmlformats.org/drawingml/2006/main">
            <a:r>
              <a:t>            "SFR-008",</a:t>
            </a:r>
          </a:p>
          <a:p xmlns:a="http://schemas.openxmlformats.org/drawingml/2006/main">
            <a:r>
              <a:t>            "SFR-009",</a:t>
            </a:r>
          </a:p>
          <a:p xmlns:a="http://schemas.openxmlformats.org/drawingml/2006/main">
            <a:r>
              <a:t>            "SFR-010"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"양식·근거 검사",</a:t>
            </a:r>
          </a:p>
          <a:p xmlns:a="http://schemas.openxmlformats.org/drawingml/2006/main">
            <a:r>
              <a:t>          "layer": "결과 검증",</a:t>
            </a:r>
          </a:p>
          <a:p xmlns:a="http://schemas.openxmlformats.org/drawingml/2006/main">
            <a:r>
              <a:t>          "detail": "기존 검색 대비 근거·완료시간 평가",</a:t>
            </a:r>
          </a:p>
          <a:p xmlns:a="http://schemas.openxmlformats.org/drawingml/2006/main">
            <a:r>
              <a:t>          "requirements": [</a:t>
            </a:r>
          </a:p>
          <a:p xmlns:a="http://schemas.openxmlformats.org/drawingml/2006/main">
            <a:r>
              <a:t>            "SFR-010"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"작성 담당 확인",</a:t>
            </a:r>
          </a:p>
          <a:p xmlns:a="http://schemas.openxmlformats.org/drawingml/2006/main">
            <a:r>
              <a:t>          "layer": "사람 확인",</a:t>
            </a:r>
          </a:p>
          <a:p xmlns:a="http://schemas.openxmlformats.org/drawingml/2006/main">
            <a:r>
              <a:t>          "detail": "동일 질의를 연구직·행정직 계정으로 실행해 검색·서식 비교",</a:t>
            </a:r>
          </a:p>
          <a:p xmlns:a="http://schemas.openxmlformats.org/drawingml/2006/main">
            <a:r>
              <a:t>          "requirements": [</a:t>
            </a:r>
          </a:p>
          <a:p xmlns:a="http://schemas.openxmlformats.org/drawingml/2006/main">
            <a:r>
              <a:t>            "SFR-010"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"문서 업무 연결",</a:t>
            </a:r>
          </a:p>
          <a:p xmlns:a="http://schemas.openxmlformats.org/drawingml/2006/main">
            <a:r>
              <a:t>          "layer": "업무 연결",</a:t>
            </a:r>
          </a:p>
          <a:p xmlns:a="http://schemas.openxmlformats.org/drawingml/2006/main">
            <a:r>
              <a:t>          "detail": "원문 근거와 목차·필드가 있는 초안 제공",</a:t>
            </a:r>
          </a:p>
          <a:p xmlns:a="http://schemas.openxmlformats.org/drawingml/2006/main">
            <a:r>
              <a:t>          "requirements": [</a:t>
            </a:r>
          </a:p>
          <a:p xmlns:a="http://schemas.openxmlformats.org/drawingml/2006/main">
            <a:r>
              <a:t>            "SFR-002",</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"토큰·회귀 평가",</a:t>
            </a:r>
          </a:p>
          <a:p xmlns:a="http://schemas.openxmlformats.org/drawingml/2006/main">
            <a:r>
              <a:t>          "layer": "운영 관측",</a:t>
            </a:r>
          </a:p>
          <a:p xmlns:a="http://schemas.openxmlformats.org/drawingml/2006/main">
            <a:r>
              <a:t>          "detail": "GPU 이중화·모델 롤백·부서별 토큰 계측",</a:t>
            </a:r>
          </a:p>
          <a:p xmlns:a="http://schemas.openxmlformats.org/drawingml/2006/main">
            <a:r>
              <a:t>          "requirements": [</a:t>
            </a:r>
          </a:p>
          <a:p xmlns:a="http://schemas.openxmlformats.org/drawingml/2006/main">
            <a:r>
              <a:t>            "SFR-008",</a:t>
            </a:r>
          </a:p>
          <a:p xmlns:a="http://schemas.openxmlformats.org/drawingml/2006/main">
            <a:r>
              <a:t>            "SFR-012"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"연구행정 자료",</a:t>
            </a:r>
          </a:p>
          <a:p xmlns:a="http://schemas.openxmlformats.org/drawingml/2006/main">
            <a:r>
              <a:t>          "layer": "데이터 원천",</a:t>
            </a:r>
          </a:p>
          <a:p xmlns:a="http://schemas.openxmlformats.org/drawingml/2006/main">
            <a:r>
              <a:t>          "detail": "연구행정 지식",</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"목차·문서 구조화",</a:t>
            </a:r>
          </a:p>
          <a:p xmlns:a="http://schemas.openxmlformats.org/drawingml/2006/main">
            <a:r>
              <a:t>          "layer": "준비·갱신",</a:t>
            </a:r>
          </a:p>
          <a:p xmlns:a="http://schemas.openxmlformats.org/drawingml/2006/main">
            <a:r>
              <a:t>          "detail": "문서·연구성과·전문가·양식의 색인 구성",</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"허용 지식·색인",</a:t>
            </a:r>
          </a:p>
          <a:p xmlns:a="http://schemas.openxmlformats.org/drawingml/2006/main">
            <a:r>
              <a:t>          "layer": "상태·지식 저장",</a:t>
            </a:r>
          </a:p>
          <a:p xmlns:a="http://schemas.openxmlformats.org/drawingml/2006/main">
            <a:r>
              <a:t>          "detail": "직무별 순위·근거·서식과 모델 전환·복구 결과",</a:t>
            </a:r>
          </a:p>
          <a:p xmlns:a="http://schemas.openxmlformats.org/drawingml/2006/main">
            <a:r>
              <a:t>          "requirements": [</a:t>
            </a:r>
          </a:p>
          <a:p xmlns:a="http://schemas.openxmlformats.org/drawingml/2006/main">
            <a:r>
              <a:t>            "SFR-004",</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"모델·롤백 정책",</a:t>
            </a:r>
          </a:p>
          <a:p xmlns:a="http://schemas.openxmlformats.org/drawingml/2006/main">
            <a:r>
              <a:t>          "layer": "권한·정책",</a:t>
            </a:r>
          </a:p>
          <a:p xmlns:a="http://schemas.openxmlformats.org/drawingml/2006/main">
            <a:r>
              <a:t>          "detail": "전보 전 캐시·권한 없는 연구자료·모델 장애",</a:t>
            </a:r>
          </a:p>
          <a:p xmlns:a="http://schemas.openxmlformats.org/drawingml/2006/main">
            <a:r>
              <a:t>          "requirements": [</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"소속·직무·검색 이력·진행업무 연결",</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"직무·질문",</a:t>
            </a:r>
          </a:p>
          <a:p xmlns:a="http://schemas.openxmlformats.org/drawingml/2006/main">
            <a:r>
              <a:t>          "check": "기존 검색 대비 근거·완료시간 평가"</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"재정렬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"정형 초안",</a:t>
            </a:r>
          </a:p>
          <a:p xmlns:a="http://schemas.openxmlformats.org/drawingml/2006/main">
            <a:r>
              <a:t>          "check": "전보 전 캐시·권한 없는 연구자료·모델 장애"</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"정형 초안",</a:t>
            </a:r>
          </a:p>
          <a:p xmlns:a="http://schemas.openxmlformats.org/drawingml/2006/main">
            <a:r>
              <a:t>          "check": "원문 근거와 목차·필드가 있는 초안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 문서",</a:t>
            </a:r>
          </a:p>
          <a:p xmlns:a="http://schemas.openxmlformats.org/drawingml/2006/main">
            <a:r>
              <a:t>          "check": "직무별 순위·근거·서식과 모델 전환·복구 결과"</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"SFR-007~012",</a:t>
            </a:r>
          </a:p>
          <a:p xmlns:a="http://schemas.openxmlformats.org/drawingml/2006/main">
            <a:r>
              <a:t>        "extracted": "부서·직무·검색이력을 이용한 재정렬과 정형 문서 생성",</a:t>
            </a:r>
          </a:p>
          <a:p xmlns:a="http://schemas.openxmlformats.org/drawingml/2006/main">
            <a:r>
              <a:t>        "extension": "검색 이력의 권한 확대 방지와 이전 모델 복귀 시험"</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"PF-R03",</a:t>
            </a:r>
          </a:p>
          <a:p xmlns:a="http://schemas.openxmlformats.org/drawingml/2006/main">
            <a:r>
              <a:t>          "path": "assets/casebook-sources/PF-R03-01.png",</a:t>
            </a:r>
          </a:p>
          <a:p xmlns:a="http://schemas.openxmlformats.org/drawingml/2006/main">
            <a:r>
              <a:t>          "title": "생산기술연구원 정보시스템 연계",</a:t>
            </a:r>
          </a:p>
          <a:p xmlns:a="http://schemas.openxmlformats.org/drawingml/2006/main">
            <a:r>
              <a:t>          "status": "RFP 수록 기존 정보시스템 현황",</a:t>
            </a:r>
          </a:p>
          <a:p xmlns:a="http://schemas.openxmlformats.org/drawingml/2006/main">
            <a:r>
              <a:t>          "caption": "연구행정·경영정보·업무지원·지능형 포털 간 연계",</a:t>
            </a:r>
          </a:p>
          <a:p xmlns:a="http://schemas.openxmlformats.org/drawingml/2006/main">
            <a:r>
              <a:t>          "locator": "rId13 / BinData/BIN0002_png",</a:t>
            </a:r>
          </a:p>
          <a:p xmlns:a="http://schemas.openxmlformats.org/drawingml/2006/main">
            <a:r>
              <a:t>          "checked": "2026-10-16",</a:t>
            </a:r>
          </a:p>
          <a:p xmlns:a="http://schemas.openxmlformats.org/drawingml/2006/main">
            <a:r>
              <a:t>          "sha256": "0b49ad15a2d50888b15fdc4d6bb439874425106d7d0a2cf9b92b1c3debb0025b",</a:t>
            </a:r>
          </a:p>
          <a:p xmlns:a="http://schemas.openxmlformats.org/drawingml/2006/main">
            <a:r>
              <a:t>          "explanation": {</a:t>
            </a:r>
          </a:p>
          <a:p xmlns:a="http://schemas.openxmlformats.org/drawingml/2006/main">
            <a:r>
              <a:t>            "read": "연구행정·경영정보·업무지원과 지능형 포털의 기존 연결 현황. 새 AI 모델의 배치도가 아니라 어떤 업무 데이터와 시스템을 고도화 시 연결해야 하는지를 보여 주는 원문.",</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"SFR-007",</a:t>
            </a:r>
          </a:p>
          <a:p xmlns:a="http://schemas.openxmlformats.org/drawingml/2006/main">
            <a:r>
              <a:t>              "SFR-010"</a:t>
            </a:r>
          </a:p>
          <a:p xmlns:a="http://schemas.openxmlformats.org/drawingml/2006/main">
            <a:r>
              <a:t>            ],</a:t>
            </a:r>
          </a:p>
          <a:p xmlns:a="http://schemas.openxmlformats.org/drawingml/2006/main">
            <a:r>
              <a:t>            "connection": "기존 사용자·조직·권한과 연구행정 자료를 재사용하고 직무별 검색, 도메인 도구, 정형 문서 생성을 추가하는 대상 경계의 설정."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"전보 전 캐시·권한 없는 연구자료·모델 장애",</a:t>
            </a:r>
          </a:p>
          <a:p xmlns:a="http://schemas.openxmlformats.org/drawingml/2006/main">
            <a:r>
              <a:t>        "hold": "기존 검색 대비 근거·완료시간 평가",</a:t>
            </a:r>
          </a:p>
          <a:p xmlns:a="http://schemas.openxmlformats.org/drawingml/2006/main">
            <a:r>
              <a:t>        "recovery": "GPU 이중화·모델 롤백·부서별 토큰 계측",</a:t>
            </a:r>
          </a:p>
          <a:p xmlns:a="http://schemas.openxmlformats.org/drawingml/2006/main">
            <a:r>
              <a:t>        "evidence": "직무별 순위·근거·서식과 모델 전환·복구 결과"</a:t>
            </a:r>
          </a:p>
          <a:p xmlns:a="http://schemas.openxmlformats.org/drawingml/2006/main">
            <a:r>
              <a:t>      },</a:t>
            </a:r>
          </a:p>
          <a:p xmlns:a="http://schemas.openxmlformats.org/drawingml/2006/main">
            <a:r>
              <a:t>      "data": {</a:t>
            </a:r>
          </a:p>
          <a:p xmlns:a="http://schemas.openxmlformats.org/drawingml/2006/main">
            <a:r>
              <a:t>        "source": "연구행정 지식",</a:t>
            </a:r>
          </a:p>
          <a:p xmlns:a="http://schemas.openxmlformats.org/drawingml/2006/main">
            <a:r>
              <a:t>        "prepare": "문서·연구성과·전문가·양식의 색인 구성",</a:t>
            </a:r>
          </a:p>
          <a:p xmlns:a="http://schemas.openxmlformats.org/drawingml/2006/main">
            <a:r>
              <a:t>        "output": "직무·질문",</a:t>
            </a:r>
          </a:p>
          <a:p xmlns:a="http://schemas.openxmlformats.org/drawingml/2006/main">
            <a:r>
              <a:t>        "refresh": "GPU 이중화·모델 롤백·부서별 토큰 계측"</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"PF-R03",</a:t>
            </a:r>
          </a:p>
          <a:p xmlns:a="http://schemas.openxmlformats.org/drawingml/2006/main">
            <a:r>
              <a:t>    "success": [</a:t>
            </a:r>
          </a:p>
          <a:p xmlns:a="http://schemas.openxmlformats.org/drawingml/2006/main">
            <a:r>
              <a:t>      "기존 연구행정 검색의 고도화",</a:t>
            </a:r>
          </a:p>
          <a:p xmlns:a="http://schemas.openxmlformats.org/drawingml/2006/main">
            <a:r>
              <a:t>      "업무별 에이전트·정형 출력 구성"</a:t>
            </a:r>
          </a:p>
          <a:p xmlns:a="http://schemas.openxmlformats.org/drawingml/2006/main">
            <a:r>
              <a:t>    ],</a:t>
            </a:r>
          </a:p>
          <a:p xmlns:a="http://schemas.openxmlformats.org/drawingml/2006/main">
            <a:r>
              <a:t>    "risks": [</a:t>
            </a:r>
          </a:p>
          <a:p xmlns:a="http://schemas.openxmlformats.org/drawingml/2006/main">
            <a:r>
              <a:t>      "검색 재정렬의 근거 누락",</a:t>
            </a:r>
          </a:p>
          <a:p xmlns:a="http://schemas.openxmlformats.org/drawingml/2006/main">
            <a:r>
              <a:t>      "후속 공고와 도입 완료의 혼동"</a:t>
            </a:r>
          </a:p>
          <a:p xmlns:a="http://schemas.openxmlformats.org/drawingml/2006/main">
            <a:r>
              <a:t>    ],</a:t>
            </a:r>
          </a:p>
          <a:p xmlns:a="http://schemas.openxmlformats.org/drawingml/2006/main">
            <a:r>
              <a:t>    "architecture": [</a:t>
            </a:r>
          </a:p>
          <a:p xmlns:a="http://schemas.openxmlformats.org/drawingml/2006/main">
            <a:r>
              <a:t>      "연구행정 사용자",</a:t>
            </a:r>
          </a:p>
          <a:p xmlns:a="http://schemas.openxmlformats.org/drawingml/2006/main">
            <a:r>
              <a:t>      "검색·업무 에이전트",</a:t>
            </a:r>
          </a:p>
          <a:p xmlns:a="http://schemas.openxmlformats.org/drawingml/2006/main">
            <a:r>
              <a:t>      "연구행정 지식",</a:t>
            </a:r>
          </a:p>
          <a:p xmlns:a="http://schemas.openxmlformats.org/drawingml/2006/main">
            <a:r>
              <a:t>      "문서 작성 담당"</a:t>
            </a:r>
          </a:p>
          <a:p xmlns:a="http://schemas.openxmlformats.org/drawingml/2006/main">
            <a:r>
              <a:t>    ],</a:t>
            </a:r>
          </a:p>
          <a:p xmlns:a="http://schemas.openxmlformats.org/drawingml/2006/main">
            <a:r>
              <a:t>    "transfers": [</a:t>
            </a:r>
          </a:p>
          <a:p xmlns:a="http://schemas.openxmlformats.org/drawingml/2006/main">
            <a:r>
              <a:t>      "직무·질문",</a:t>
            </a:r>
          </a:p>
          <a:p xmlns:a="http://schemas.openxmlformats.org/drawingml/2006/main">
            <a:r>
              <a:t>      "재정렬 근거",</a:t>
            </a:r>
          </a:p>
          <a:p xmlns:a="http://schemas.openxmlformats.org/drawingml/2006/main">
            <a:r>
              <a:t>      "정형 초안",</a:t>
            </a:r>
          </a:p>
          <a:p xmlns:a="http://schemas.openxmlformats.org/drawingml/2006/main">
            <a:r>
              <a:t>      "검토 문서"</a:t>
            </a:r>
          </a:p>
          <a:p xmlns:a="http://schemas.openxmlformats.org/drawingml/2006/main">
            <a:r>
              <a:t>    ],</a:t>
            </a:r>
          </a:p>
          <a:p xmlns:a="http://schemas.openxmlformats.org/drawingml/2006/main">
            <a:r>
              <a:t>    "control": "기존 검색 대비 근거·완료시간 평가",</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SFR-007~012 / Word T044 https://www.g2b.go.kr/pn/pnp/pnpe/UntyAtchFile/downloadFile.do?bidPbancNo=R26BK01670411&amp;bidPbancOrd=000&amp;fileType=&amp;fileSeq=1&amp;prcmBsneSeCd=03</a:t>
            </a:r>
          </a:p>
          <a:p xmlns:a="http://schemas.openxmlformats.org/drawingml/2006/main">
            <a:r>
              <a:t>홈페이지 https://heen1987-ops.github.io/TS-business-Plan-001/index.html?view=platform-cases&amp;case=PF-R03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"PF-R03",</a:t>
            </a:r>
          </a:p>
          <a:p xmlns:a="http://schemas.openxmlformats.org/drawingml/2006/main">
            <a:r>
              <a:t>    "sourceId": "R03",</a:t>
            </a:r>
          </a:p>
          <a:p xmlns:a="http://schemas.openxmlformats.org/drawingml/2006/main">
            <a:r>
              <a:t>    "title": "생산기술연구원 AI 고도화",</a:t>
            </a:r>
          </a:p>
          <a:p xmlns:a="http://schemas.openxmlformats.org/drawingml/2006/main">
            <a:r>
              <a:t>    "region": "국내",</a:t>
            </a:r>
          </a:p>
          <a:p xmlns:a="http://schemas.openxmlformats.org/drawingml/2006/main">
            <a:r>
              <a:t>    "owner": "한국생산기술연구원",</a:t>
            </a:r>
          </a:p>
          <a:p xmlns:a="http://schemas.openxmlformats.org/drawingml/2006/main">
            <a:r>
              <a:t>    "state": "후속 공고 RFP 확인 / 계약·운영 미확인",</a:t>
            </a:r>
          </a:p>
          <a:p xmlns:a="http://schemas.openxmlformats.org/drawingml/2006/main">
            <a:r>
              <a:t>    "period": "기존 원장 확인 2026.10.16",</a:t>
            </a:r>
          </a:p>
          <a:p xmlns:a="http://schemas.openxmlformats.org/drawingml/2006/main">
            <a:r>
              <a:t>    "fact": "기존 연구행정 AI 고도화: 지능형 검색·멀티모델·도메인 에이전트·정형 문서 생성",</a:t>
            </a:r>
          </a:p>
          <a:p xmlns:a="http://schemas.openxmlformats.org/drawingml/2006/main">
            <a:r>
              <a:t>    "limit": "연구원 외부 TechGPT 성과와 본 내부사업을 혼동하지 않음",</a:t>
            </a:r>
          </a:p>
          <a:p xmlns:a="http://schemas.openxmlformats.org/drawingml/2006/main">
            <a:r>
              <a:t>    "nodes": [</a:t>
            </a:r>
          </a:p>
          <a:p xmlns:a="http://schemas.openxmlformats.org/drawingml/2006/main">
            <a:r>
              <a:t>      "직원·직무",</a:t>
            </a:r>
          </a:p>
          <a:p xmlns:a="http://schemas.openxmlformats.org/drawingml/2006/main">
            <a:r>
              <a:t>      "검색 재정렬",</a:t>
            </a:r>
          </a:p>
          <a:p xmlns:a="http://schemas.openxmlformats.org/drawingml/2006/main">
            <a:r>
              <a:t>      "업무 에이전트",</a:t>
            </a:r>
          </a:p>
          <a:p xmlns:a="http://schemas.openxmlformats.org/drawingml/2006/main">
            <a:r>
              <a:t>      "문서·운영 관리"</a:t>
            </a:r>
          </a:p>
          <a:p xmlns:a="http://schemas.openxmlformats.org/drawingml/2006/main">
            <a:r>
              <a:t>    ],</a:t>
            </a:r>
          </a:p>
          <a:p xmlns:a="http://schemas.openxmlformats.org/drawingml/2006/main">
            <a:r>
              <a:t>    "apply": "공식 소속·직무를 검색 순위·서식·업무 도구 선택에 연결하는 개인화",</a:t>
            </a:r>
          </a:p>
          <a:p xmlns:a="http://schemas.openxmlformats.org/drawingml/2006/main">
            <a:r>
              <a:t>    "delta": "사번–부서–직무–업무 연결 / 검색 재정렬 / 직무별 문서 양식",</a:t>
            </a:r>
          </a:p>
          <a:p xmlns:a="http://schemas.openxmlformats.org/drawingml/2006/main">
            <a:r>
              <a:t>    "test": "동일 질의의 직무별 정답·문서 순위·서식 비교 및 전보 후 권한 시험",</a:t>
            </a:r>
          </a:p>
          <a:p xmlns:a="http://schemas.openxmlformats.org/drawingml/2006/main">
            <a:r>
              <a:t>    "url": "https://www.g2b.go.kr/pn/pnp/pnpe/UntyAtchFile/downloadFile.do?bidPbancNo=R26BK01670411&amp;bidPbancOrd=000&amp;fileType=&amp;fileSeq=1&amp;prcmBsneSeCd=03",</a:t>
            </a:r>
          </a:p>
          <a:p xmlns:a="http://schemas.openxmlformats.org/drawingml/2006/main">
            <a:r>
              <a:t>    "urls": [</a:t>
            </a:r>
          </a:p>
          <a:p xmlns:a="http://schemas.openxmlformats.org/drawingml/2006/main">
            <a:r>
              <a:t>      "https://www.g2b.go.kr/pn/pnp/pnpe/UntyAtchFile/downloadFile.do?bidPbancNo=R26BK01670411&amp;bidPbancOrd=000&amp;fileType=&amp;fileSeq=1&amp;prcmBsneSeCd=03"</a:t>
            </a:r>
          </a:p>
          <a:p xmlns:a="http://schemas.openxmlformats.org/drawingml/2006/main">
            <a:r>
              <a:t>    ],</a:t>
            </a:r>
          </a:p>
          <a:p xmlns:a="http://schemas.openxmlformats.org/drawingml/2006/main">
            <a:r>
              <a:t>    "basis": "SFR-007~012 / Word T044",</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"직무별 과업 성공률 / 검색·문서 작성시간 / 요청당 비용",</a:t>
            </a:r>
          </a:p>
          <a:p xmlns:a="http://schemas.openxmlformats.org/drawingml/2006/main">
            <a:r>
              <a:t>    "group": "요구·구축",</a:t>
            </a:r>
          </a:p>
          <a:p xmlns:a="http://schemas.openxmlformats.org/drawingml/2006/main">
            <a:r>
              <a:t>    "sourceDetail": "소속·직무·검색이력·업무 기반 검색 재정렬, 양식/목차/입력 구조화, GPU 이중화·모델 롤백·부서별 토큰 비용",</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"PF-R03",</a:t>
            </a:r>
          </a:p>
          <a:p xmlns:a="http://schemas.openxmlformats.org/drawingml/2006/main">
            <a:r>
              <a:t>    "canonicalId": "PF-R03",</a:t>
            </a:r>
          </a:p>
          <a:p xmlns:a="http://schemas.openxmlformats.org/drawingml/2006/main">
            <a:r>
              <a:t>    "purpose": "직무별 검색과 정형 문서 작성의 고도화",</a:t>
            </a:r>
          </a:p>
          <a:p xmlns:a="http://schemas.openxmlformats.org/drawingml/2006/main">
            <a:r>
              <a:t>    "users": "연구직·행정직·플랫폼 운영자",</a:t>
            </a:r>
          </a:p>
          <a:p xmlns:a="http://schemas.openxmlformats.org/drawingml/2006/main">
            <a:r>
              <a:t>    "scope": [</a:t>
            </a:r>
          </a:p>
          <a:p xmlns:a="http://schemas.openxmlformats.org/drawingml/2006/main">
            <a:r>
              <a:t>      "검색 재정렬",</a:t>
            </a:r>
          </a:p>
          <a:p xmlns:a="http://schemas.openxmlformats.org/drawingml/2006/main">
            <a:r>
              <a:t>      "문서 생성",</a:t>
            </a:r>
          </a:p>
          <a:p xmlns:a="http://schemas.openxmlformats.org/drawingml/2006/main">
            <a:r>
              <a:t>      "멀티모델 운영"</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"연구행정 사용자",</a:t>
            </a:r>
          </a:p>
          <a:p xmlns:a="http://schemas.openxmlformats.org/drawingml/2006/main">
            <a:r>
              <a:t>        "detail": "소속·직무·검색 이력·진행업무 연결",</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"검색 재정렬 / 문서 생성 / 멀티모델 운영",</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"검색·업무 에이전트",</a:t>
            </a:r>
          </a:p>
          <a:p xmlns:a="http://schemas.openxmlformats.org/drawingml/2006/main">
            <a:r>
              <a:t>        "detail": "질의 보정·재정렬·요약·양식별 생성",</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"문서 작성 담당",</a:t>
            </a:r>
          </a:p>
          <a:p xmlns:a="http://schemas.openxmlformats.org/drawingml/2006/main">
            <a:r>
              <a:t>        "detail": "원문 근거와 목차·필드가 있는 초안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"연구행정 지식",</a:t>
            </a:r>
          </a:p>
          <a:p xmlns:a="http://schemas.openxmlformats.org/drawingml/2006/main">
            <a:r>
              <a:t>        "detail": "문서·연구성과·전문가·양식의 색인 구성",</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"GPU 이중화·모델 롤백·부서별 토큰 계측",</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"직원·직무",</a:t>
            </a:r>
          </a:p>
          <a:p xmlns:a="http://schemas.openxmlformats.org/drawingml/2006/main">
            <a:r>
              <a:t>        "input": "소속·직무·검색 이력·진행업무 연결",</a:t>
            </a:r>
          </a:p>
          <a:p xmlns:a="http://schemas.openxmlformats.org/drawingml/2006/main">
            <a:r>
              <a:t>        "process": "문서·연구성과·전문가·양식의 색인 구성",</a:t>
            </a:r>
          </a:p>
          <a:p xmlns:a="http://schemas.openxmlformats.org/drawingml/2006/main">
            <a:r>
              <a:t>        "output": "직무·질문"</a:t>
            </a:r>
          </a:p>
          <a:p xmlns:a="http://schemas.openxmlformats.org/drawingml/2006/main">
            <a:r>
              <a:t>      },</a:t>
            </a:r>
          </a:p>
          <a:p xmlns:a="http://schemas.openxmlformats.org/drawingml/2006/main">
            <a:r>
              <a:t>      {</a:t>
            </a:r>
          </a:p>
          <a:p xmlns:a="http://schemas.openxmlformats.org/drawingml/2006/main">
            <a:r>
              <a:t>        "title": "검색 재정렬",</a:t>
            </a:r>
          </a:p>
          <a:p xmlns:a="http://schemas.openxmlformats.org/drawingml/2006/main">
            <a:r>
              <a:t>        "input": "직무·질문",</a:t>
            </a:r>
          </a:p>
          <a:p xmlns:a="http://schemas.openxmlformats.org/drawingml/2006/main">
            <a:r>
              <a:t>        "process": "질의 보정·재정렬·요약·양식별 생성",</a:t>
            </a:r>
          </a:p>
          <a:p xmlns:a="http://schemas.openxmlformats.org/drawingml/2006/main">
            <a:r>
              <a:t>        "output": "재정렬 근거"</a:t>
            </a:r>
          </a:p>
          <a:p xmlns:a="http://schemas.openxmlformats.org/drawingml/2006/main">
            <a:r>
              <a:t>      },</a:t>
            </a:r>
          </a:p>
          <a:p xmlns:a="http://schemas.openxmlformats.org/drawingml/2006/main">
            <a:r>
              <a:t>      {</a:t>
            </a:r>
          </a:p>
          <a:p xmlns:a="http://schemas.openxmlformats.org/drawingml/2006/main">
            <a:r>
              <a:t>        "title": "업무 에이전트",</a:t>
            </a:r>
          </a:p>
          <a:p xmlns:a="http://schemas.openxmlformats.org/drawingml/2006/main">
            <a:r>
              <a:t>        "input": "재정렬 근거",</a:t>
            </a:r>
          </a:p>
          <a:p xmlns:a="http://schemas.openxmlformats.org/drawingml/2006/main">
            <a:r>
              <a:t>        "process": "기존 검색 대비 근거·완료시간 평가",</a:t>
            </a:r>
          </a:p>
          <a:p xmlns:a="http://schemas.openxmlformats.org/drawingml/2006/main">
            <a:r>
              <a:t>        "output": "정형 초안"</a:t>
            </a:r>
          </a:p>
          <a:p xmlns:a="http://schemas.openxmlformats.org/drawingml/2006/main">
            <a:r>
              <a:t>      },</a:t>
            </a:r>
          </a:p>
          <a:p xmlns:a="http://schemas.openxmlformats.org/drawingml/2006/main">
            <a:r>
              <a:t>      {</a:t>
            </a:r>
          </a:p>
          <a:p xmlns:a="http://schemas.openxmlformats.org/drawingml/2006/main">
            <a:r>
              <a:t>        "title": "문서·운영 관리",</a:t>
            </a:r>
          </a:p>
          <a:p xmlns:a="http://schemas.openxmlformats.org/drawingml/2006/main">
            <a:r>
              <a:t>        "input": "정형 초안",</a:t>
            </a:r>
          </a:p>
          <a:p xmlns:a="http://schemas.openxmlformats.org/drawingml/2006/main">
            <a:r>
              <a:t>        "process": "원문 근거와 목차·필드가 있는 초안 제공",</a:t>
            </a:r>
          </a:p>
          <a:p xmlns:a="http://schemas.openxmlformats.org/drawingml/2006/main">
            <a:r>
              <a:t>        "output": "검토 문서"</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"동일 질의를 연구직·행정직 계정으로 실행해 검색·서식 비교",</a:t>
            </a:r>
          </a:p>
          <a:p xmlns:a="http://schemas.openxmlformats.org/drawingml/2006/main">
            <a:r>
              <a:t>      "exception": "전보 전 캐시·권한 없는 연구자료·모델 장애",</a:t>
            </a:r>
          </a:p>
          <a:p xmlns:a="http://schemas.openxmlformats.org/drawingml/2006/main">
            <a:r>
              <a:t>      "evidence": "직무별 순위·근거·서식과 모델 전환·복구 결과",</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"연구직·행정직·플랫폼 운영자",</a:t>
            </a:r>
          </a:p>
          <a:p xmlns:a="http://schemas.openxmlformats.org/drawingml/2006/main">
            <a:r>
              <a:t>          "processing": "소속·직무·검색 이력·진행업무 연결",</a:t>
            </a:r>
          </a:p>
          <a:p xmlns:a="http://schemas.openxmlformats.org/drawingml/2006/main">
            <a:r>
              <a:t>          "output": "직무·질문"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"연구행정 지식",</a:t>
            </a:r>
          </a:p>
          <a:p xmlns:a="http://schemas.openxmlformats.org/drawingml/2006/main">
            <a:r>
              <a:t>          "processing": "문서·연구성과·전문가·양식의 색인 구성",</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"직무·질문",</a:t>
            </a:r>
          </a:p>
          <a:p xmlns:a="http://schemas.openxmlformats.org/drawingml/2006/main">
            <a:r>
              <a:t>          "processing": "질의 보정·재정렬·요약·양식별 생성",</a:t>
            </a:r>
          </a:p>
          <a:p xmlns:a="http://schemas.openxmlformats.org/drawingml/2006/main">
            <a:r>
              <a:t>          "output": "정형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"정형 초안",</a:t>
            </a:r>
          </a:p>
          <a:p xmlns:a="http://schemas.openxmlformats.org/drawingml/2006/main">
            <a:r>
              <a:t>          "processing": "원문 근거와 목차·필드가 있는 초안 제공",</a:t>
            </a:r>
          </a:p>
          <a:p xmlns:a="http://schemas.openxmlformats.org/drawingml/2006/main">
            <a:r>
              <a:t>          "output": "검토 문서"</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"GPU 이중화·모델 롤백·부서별 토큰 계측",</a:t>
            </a:r>
          </a:p>
          <a:p xmlns:a="http://schemas.openxmlformats.org/drawingml/2006/main">
            <a:r>
              <a:t>          "output": "직무별 순위·근거·서식과 모델 전환·복구 결과"</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"GPU 이중화·모델 롤백·부서별 토큰 계측",</a:t>
            </a:r>
          </a:p>
          <a:p xmlns:a="http://schemas.openxmlformats.org/drawingml/2006/main">
            <a:r>
              <a:t>    "status": "RFP 기반 논리 설계",</a:t>
            </a:r>
          </a:p>
          <a:p xmlns:a="http://schemas.openxmlformats.org/drawingml/2006/main">
            <a:r>
              <a:t>    "basis": "RFP 2026.05 · SFR-007~012",</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"SFR-007~012 / Word T044",</a:t>
            </a:r>
          </a:p>
          <a:p xmlns:a="http://schemas.openxmlformats.org/drawingml/2006/main">
            <a:r>
              <a:t>        "url": "https://www.g2b.go.kr/pn/pnp/pnpe/UntyAtchFile/downloadFile.do?bidPbancNo=R26BK01670411&amp;bidPbancOrd=000&amp;fileType=&amp;fileSeq=1&amp;prcmBsneSeCd=03"</a:t>
            </a:r>
          </a:p>
          <a:p xmlns:a="http://schemas.openxmlformats.org/drawingml/2006/main">
            <a:r>
              <a:t>      }</a:t>
            </a:r>
          </a:p>
          <a:p xmlns:a="http://schemas.openxmlformats.org/drawingml/2006/main">
            <a:r>
              <a:t>    ],</a:t>
            </a:r>
          </a:p>
          <a:p xmlns:a="http://schemas.openxmlformats.org/drawingml/2006/main">
            <a:r>
              <a:t>    "implication": "공식 소속·직무를 검색 순위·서식·업무 도구 선택에 연결하는 개인화",</a:t>
            </a:r>
          </a:p>
          <a:p xmlns:a="http://schemas.openxmlformats.org/drawingml/2006/main">
            <a:r>
              <a:t>    "local": "공식 소속·직무를 검색 순위·서식·업무 도구 선택에 연결하는 개인화",</a:t>
            </a:r>
          </a:p>
          <a:p xmlns:a="http://schemas.openxmlformats.org/drawingml/2006/main">
            <a:r>
              <a:t>    "sourceDetail": "소속·직무·검색이력·업무 기반 검색 재정렬, 양식/목차/입력 구조화, GPU 이중화·모델 롤백·부서별 토큰 비용",</a:t>
            </a:r>
          </a:p>
          <a:p xmlns:a="http://schemas.openxmlformats.org/drawingml/2006/main">
            <a:r>
              <a:t>    "narrative": [</a:t>
            </a:r>
          </a:p>
          <a:p xmlns:a="http://schemas.openxmlformats.org/drawingml/2006/main">
            <a:r>
              <a:t>      "생산기술연구원의 기존 연구행정 검색·AI 환경에 직무별 검색, 에이전트 처리, 문서 생성, 운영 관리 기능을 추가하는 고도화. 연구직과 행정직의 관심 자료가 다른 상황에서 동일 질의의 결과 순서를 다르게 구성하는 요구가 핵심.",</a:t>
            </a:r>
          </a:p>
          <a:p xmlns:a="http://schemas.openxmlformats.org/drawingml/2006/main">
            <a:r>
              <a:t>      "SFR-007은 부서·직무·검색 이력·진행 업무를 이용한 검색 최적화, SFR-009는 복합 질문의 태스크 분해와 도메인 에이전트 호출, SFR-010은 문서 양식·필수 항목·내부 과제정보의 결합을 요구. 인사 연동과 역할별 접근제어를 검색 추천보다 먼저 연결하는 설계.",</a:t>
            </a:r>
          </a:p>
          <a:p xmlns:a="http://schemas.openxmlformats.org/drawingml/2006/main">
            <a:r>
              <a:t>      "TS 조직 네이티브 AI와 직접 비교할 지점은 공식 소속·직무를 검색 문맥으로 사용하는 방식. 추천 순위 개선과 접근권한 확대를 분리하고, 전보 전후 동일 질의의 검색 범위·서식·근거 차이를 검수할 필요. 기존 검색·LLM의 재사용과 조직 매핑 추가분의 구분."</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"SFR-002",</a:t>
            </a:r>
          </a:p>
          <a:p xmlns:a="http://schemas.openxmlformats.org/drawingml/2006/main">
            <a:r>
              <a:t>        "title": "Agent 일반 사항",</a:t>
            </a:r>
          </a:p>
          <a:p xmlns:a="http://schemas.openxmlformats.org/drawingml/2006/main">
            <a:r>
              <a:t>        "locator": "SFR-002",</a:t>
            </a:r>
          </a:p>
          <a:p xmlns:a="http://schemas.openxmlformats.org/drawingml/2006/main">
            <a:r>
              <a:t>        "summary": "MCP 도구 등을 이용한 에이전트 실행의 공통 기능 구성. 업무 요청과 도구 호출의 연결 관리.",</a:t>
            </a:r>
          </a:p>
          <a:p xmlns:a="http://schemas.openxmlformats.org/drawingml/2006/main">
            <a:r>
              <a:t>        "data": "업무 요청·도구 정의 → 호출 계획·도구 결과",</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"C07"</a:t>
            </a:r>
          </a:p>
          <a:p xmlns:a="http://schemas.openxmlformats.org/drawingml/2006/main">
            <a:r>
              <a:t>        ],</a:t>
            </a:r>
          </a:p>
          <a:p xmlns:a="http://schemas.openxmlformats.org/drawingml/2006/main">
            <a:r>
              <a:t>        "acceptance": "미등록 도구·잘못된 인자·호출 실패 상황의 실행 보류와 오류 반환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"600876c2133d5557fe295a881eb90450c3e422b7ff02c531aaeae32498f9894f"</a:t>
            </a:r>
          </a:p>
          <a:p xmlns:a="http://schemas.openxmlformats.org/drawingml/2006/main">
            <a:r>
              <a:t>      },</a:t>
            </a:r>
          </a:p>
          <a:p xmlns:a="http://schemas.openxmlformats.org/drawingml/2006/main">
            <a:r>
              <a:t>      {</a:t>
            </a:r>
          </a:p>
          <a:p xmlns:a="http://schemas.openxmlformats.org/drawingml/2006/main">
            <a:r>
              <a:t>        "id": "SFR-003",</a:t>
            </a:r>
          </a:p>
          <a:p xmlns:a="http://schemas.openxmlformats.org/drawingml/2006/main">
            <a:r>
              <a:t>        "title": "접근 및 권한관리",</a:t>
            </a:r>
          </a:p>
          <a:p xmlns:a="http://schemas.openxmlformats.org/drawingml/2006/main">
            <a:r>
              <a:t>        "locator": "SFR-003",</a:t>
            </a:r>
          </a:p>
          <a:p xmlns:a="http://schemas.openxmlformats.org/drawingml/2006/main">
            <a:r>
              <a:t>        "summary": "인사·조직 정보를 반영한 접근 및 권한 관리. 사용자 역할에 맞는 데이터·기능 범위 적용.",</a:t>
            </a:r>
          </a:p>
          <a:p xmlns:a="http://schemas.openxmlformats.org/drawingml/2006/main">
            <a:r>
              <a:t>        "data": "직원·부서·역할 → 허용 데이터·기능",</a:t>
            </a:r>
          </a:p>
          <a:p xmlns:a="http://schemas.openxmlformats.org/drawingml/2006/main">
            <a:r>
              <a:t>        "components": [</a:t>
            </a:r>
          </a:p>
          <a:p xmlns:a="http://schemas.openxmlformats.org/drawingml/2006/main">
            <a:r>
              <a:t>          "C02",</a:t>
            </a:r>
          </a:p>
          <a:p xmlns:a="http://schemas.openxmlformats.org/drawingml/2006/main">
            <a:r>
              <a:t>          "C12"</a:t>
            </a:r>
          </a:p>
          <a:p xmlns:a="http://schemas.openxmlformats.org/drawingml/2006/main">
            <a:r>
              <a:t>        ],</a:t>
            </a:r>
          </a:p>
          <a:p xmlns:a="http://schemas.openxmlformats.org/drawingml/2006/main">
            <a:r>
              <a:t>        "acceptance": "전보·겸직·퇴직·권한 해제 시 검색과 실행 양쪽의 접근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"04990216c1150703cd093e78e1cf6629542fbdaca4c97f9dca5f8e4f3b400cce"</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"데이터 통합 파이프라인 구축",</a:t>
            </a:r>
          </a:p>
          <a:p xmlns:a="http://schemas.openxmlformats.org/drawingml/2006/main">
            <a:r>
              <a:t>        "locator": "SFR-004",</a:t>
            </a:r>
          </a:p>
          <a:p xmlns:a="http://schemas.openxmlformats.org/drawingml/2006/main">
            <a:r>
              <a:t>        "summary": "분산 데이터를 수집·정제·연계하는 통합 파이프라인 구축.",</a:t>
            </a:r>
          </a:p>
          <a:p xmlns:a="http://schemas.openxmlformats.org/drawingml/2006/main">
            <a:r>
              <a:t>        "data": "업무 원천·메타데이터 → 검색·AI 활용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"파일 형식 오류·중복·갱신·삭제 자료의 재처리와 원천-색인 건수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"e23449e0d4bf6fe973e547277bd671a1db47129f3f697fe40e3653855a967d51"</a:t>
            </a:r>
          </a:p>
          <a:p xmlns:a="http://schemas.openxmlformats.org/drawingml/2006/main">
            <a:r>
              <a:t>      },</a:t>
            </a:r>
          </a:p>
          <a:p xmlns:a="http://schemas.openxmlformats.org/drawingml/2006/main">
            <a:r>
              <a:t>      {</a:t>
            </a:r>
          </a:p>
          <a:p xmlns:a="http://schemas.openxmlformats.org/drawingml/2006/main">
            <a:r>
              <a:t>        "id": "SFR-007",</a:t>
            </a:r>
          </a:p>
          <a:p xmlns:a="http://schemas.openxmlformats.org/drawingml/2006/main">
            <a:r>
              <a:t>        "title": "AI 기반 지능형 검색 서비스",</a:t>
            </a:r>
          </a:p>
          <a:p xmlns:a="http://schemas.openxmlformats.org/drawingml/2006/main">
            <a:r>
              <a:t>        "locator": "SFR-007",</a:t>
            </a:r>
          </a:p>
          <a:p xmlns:a="http://schemas.openxmlformats.org/drawingml/2006/main">
            <a:r>
              <a:t>        "summary": "부서·직무·사용 이력 등을 반영한 AI 검색과 결과 재정렬.",</a:t>
            </a:r>
          </a:p>
          <a:p xmlns:a="http://schemas.openxmlformats.org/drawingml/2006/main">
            <a:r>
              <a:t>        "data": "동일 질의·다른 직무 문맥 → 직무별 관련 근거 순위",</a:t>
            </a:r>
          </a:p>
          <a:p xmlns:a="http://schemas.openxmlformats.org/drawingml/2006/main">
            <a:r>
              <a:t>        "components": [</a:t>
            </a:r>
          </a:p>
          <a:p xmlns:a="http://schemas.openxmlformats.org/drawingml/2006/main">
            <a:r>
              <a:t>          "C02",</a:t>
            </a:r>
          </a:p>
          <a:p xmlns:a="http://schemas.openxmlformats.org/drawingml/2006/main">
            <a:r>
              <a:t>          "C03",</a:t>
            </a:r>
          </a:p>
          <a:p xmlns:a="http://schemas.openxmlformats.org/drawingml/2006/main">
            <a:r>
              <a:t>          "C11"</a:t>
            </a:r>
          </a:p>
          <a:p xmlns:a="http://schemas.openxmlformats.org/drawingml/2006/main">
            <a:r>
              <a:t>        ],</a:t>
            </a:r>
          </a:p>
          <a:p xmlns:a="http://schemas.openxmlformats.org/drawingml/2006/main">
            <a:r>
              <a:t>        "acceptance": "연구직·행정직의 동일 질의에서 관련성 변화와 권한 밖 결과 제외를 함께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"3e12718b7b492badc155b10cf84e1b67c500d44a7c8333c9b026c5a4dea691ad"</a:t>
            </a:r>
          </a:p>
          <a:p xmlns:a="http://schemas.openxmlformats.org/drawingml/2006/main">
            <a:r>
              <a:t>      },</a:t>
            </a:r>
          </a:p>
          <a:p xmlns:a="http://schemas.openxmlformats.org/drawingml/2006/main">
            <a:r>
              <a:t>      {</a:t>
            </a:r>
          </a:p>
          <a:p xmlns:a="http://schemas.openxmlformats.org/drawingml/2006/main">
            <a:r>
              <a:t>        "id": "SFR-008",</a:t>
            </a:r>
          </a:p>
          <a:p xmlns:a="http://schemas.openxmlformats.org/drawingml/2006/main">
            <a:r>
              <a:t>        "title": "멀티 모델 적용",</a:t>
            </a:r>
          </a:p>
          <a:p xmlns:a="http://schemas.openxmlformats.org/drawingml/2006/main">
            <a:r>
              <a:t>        "locator": "SFR-008",</a:t>
            </a:r>
          </a:p>
          <a:p xmlns:a="http://schemas.openxmlformats.org/drawingml/2006/main">
            <a:r>
              <a:t>        "summary": "복수 모델의 적용·선택·비교를 지원하는 멀티모델 구조.",</a:t>
            </a:r>
          </a:p>
          <a:p xmlns:a="http://schemas.openxmlformats.org/drawingml/2006/main">
            <a:r>
              <a:t>        "data": "업무 유형·모델 설정 → 모델별 결과·비교 기록",</a:t>
            </a:r>
          </a:p>
          <a:p xmlns:a="http://schemas.openxmlformats.org/drawingml/2006/main">
            <a:r>
              <a:t>        "components": [</a:t>
            </a:r>
          </a:p>
          <a:p xmlns:a="http://schemas.openxmlformats.org/drawingml/2006/main">
            <a:r>
              <a:t>          "C04",</a:t>
            </a:r>
          </a:p>
          <a:p xmlns:a="http://schemas.openxmlformats.org/drawingml/2006/main">
            <a:r>
              <a:t>          "C08"</a:t>
            </a:r>
          </a:p>
          <a:p xmlns:a="http://schemas.openxmlformats.org/drawingml/2006/main">
            <a:r>
              <a:t>        ],</a:t>
            </a:r>
          </a:p>
          <a:p xmlns:a="http://schemas.openxmlformats.org/drawingml/2006/main">
            <a:r>
              <a:t>        "acceptance": "같은 입력의 모델별 정확성·시간·비용과 오류 발생 시 처리 경로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"a446f7c2f5ef6677204833f37fa4bbda4bae700a5c3c1b2e4e8a729dc569f518"</a:t>
            </a:r>
          </a:p>
          <a:p xmlns:a="http://schemas.openxmlformats.org/drawingml/2006/main">
            <a:r>
              <a:t>      },</a:t>
            </a:r>
          </a:p>
          <a:p xmlns:a="http://schemas.openxmlformats.org/drawingml/2006/main">
            <a:r>
              <a:t>      {</a:t>
            </a:r>
          </a:p>
          <a:p xmlns:a="http://schemas.openxmlformats.org/drawingml/2006/main">
            <a:r>
              <a:t>        "id": "SFR-009",</a:t>
            </a:r>
          </a:p>
          <a:p xmlns:a="http://schemas.openxmlformats.org/drawingml/2006/main">
            <a:r>
              <a:t>        "title": "지능형 질의응답 고도화 체계 구축",</a:t>
            </a:r>
          </a:p>
          <a:p xmlns:a="http://schemas.openxmlformats.org/drawingml/2006/main">
            <a:r>
              <a:t>        "locator": "SFR-009",</a:t>
            </a:r>
          </a:p>
          <a:p xmlns:a="http://schemas.openxmlformats.org/drawingml/2006/main">
            <a:r>
              <a:t>        "summary": "질의의 업무 계획 수립과 도메인 에이전트 연결을 통한 질의응답 고도화.",</a:t>
            </a:r>
          </a:p>
          <a:p xmlns:a="http://schemas.openxmlformats.org/drawingml/2006/main">
            <a:r>
              <a:t>        "data": "복합 업무 질의 → 단계별 계획·도구 결과·응답",</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"C07"</a:t>
            </a:r>
          </a:p>
          <a:p xmlns:a="http://schemas.openxmlformats.org/drawingml/2006/main">
            <a:r>
              <a:t>        ],</a:t>
            </a:r>
          </a:p>
          <a:p xmlns:a="http://schemas.openxmlformats.org/drawingml/2006/main">
            <a:r>
              <a:t>        "acceptance": "계획 일부 실패·불필요한 도구 호출·담당 영역 혼동 시 중단·재계획 경로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"86afdf5c09bd02dc72865179ec33f762956a14ddf1cf170340996155bdafaf57"</a:t>
            </a:r>
          </a:p>
          <a:p xmlns:a="http://schemas.openxmlformats.org/drawingml/2006/main">
            <a:r>
              <a:t>      },</a:t>
            </a:r>
          </a:p>
          <a:p xmlns:a="http://schemas.openxmlformats.org/drawingml/2006/main">
            <a:r>
              <a:t>      {</a:t>
            </a:r>
          </a:p>
          <a:p xmlns:a="http://schemas.openxmlformats.org/drawingml/2006/main">
            <a:r>
              <a:t>        "id": "SFR-010",</a:t>
            </a:r>
          </a:p>
          <a:p xmlns:a="http://schemas.openxmlformats.org/drawingml/2006/main">
            <a:r>
              <a:t>        "title": "문서 자동 생성 지원",</a:t>
            </a:r>
          </a:p>
          <a:p xmlns:a="http://schemas.openxmlformats.org/drawingml/2006/main">
            <a:r>
              <a:t>        "locator": "SFR-010",</a:t>
            </a:r>
          </a:p>
          <a:p xmlns:a="http://schemas.openxmlformats.org/drawingml/2006/main">
            <a:r>
              <a:t>        "summary": "템플릿·메타데이터·내부 자료를 활용한 정형 문서 생성 지원.",</a:t>
            </a:r>
          </a:p>
          <a:p xmlns:a="http://schemas.openxmlformats.org/drawingml/2006/main">
            <a:r>
              <a:t>        "data": "양식·필수 항목·근거 자료 → 편집 가능한 문서 초안",</a:t>
            </a:r>
          </a:p>
          <a:p xmlns:a="http://schemas.openxmlformats.org/drawingml/2006/main">
            <a:r>
              <a:t>        "components": [</a:t>
            </a:r>
          </a:p>
          <a:p xmlns:a="http://schemas.openxmlformats.org/drawingml/2006/main">
            <a:r>
              <a:t>          "C04",</a:t>
            </a:r>
          </a:p>
          <a:p xmlns:a="http://schemas.openxmlformats.org/drawingml/2006/main">
            <a:r>
              <a:t>          "C05",</a:t>
            </a:r>
          </a:p>
          <a:p xmlns:a="http://schemas.openxmlformats.org/drawingml/2006/main">
            <a:r>
              <a:t>          "C06"</a:t>
            </a:r>
          </a:p>
          <a:p xmlns:a="http://schemas.openxmlformats.org/drawingml/2006/main">
            <a:r>
              <a:t>        ],</a:t>
            </a:r>
          </a:p>
          <a:p xmlns:a="http://schemas.openxmlformats.org/drawingml/2006/main">
            <a:r>
              <a:t>        "acceptance": "필수 항목 누락·다른 양식 판본·숫자 인용 오류의 검출과 사용자 수정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"20df882404a76e75b24ff57eaa67d2d18ca56387f99e065033be13396d4a5f00"</a:t>
            </a:r>
          </a:p>
          <a:p xmlns:a="http://schemas.openxmlformats.org/drawingml/2006/main">
            <a:r>
              <a:t>      },</a:t>
            </a:r>
          </a:p>
          <a:p xmlns:a="http://schemas.openxmlformats.org/drawingml/2006/main">
            <a:r>
              <a:t>      {</a:t>
            </a:r>
          </a:p>
          <a:p xmlns:a="http://schemas.openxmlformats.org/drawingml/2006/main">
            <a:r>
              <a:t>        "id": "SFR-012",</a:t>
            </a:r>
          </a:p>
          <a:p xmlns:a="http://schemas.openxmlformats.org/drawingml/2006/main">
            <a:r>
              <a:t>        "title": "AI 서비스 운영 모니터링 체계구축",</a:t>
            </a:r>
          </a:p>
          <a:p xmlns:a="http://schemas.openxmlformats.org/drawingml/2006/main">
            <a:r>
              <a:t>        "locator": "SFR-012",</a:t>
            </a:r>
          </a:p>
          <a:p xmlns:a="http://schemas.openxmlformats.org/drawingml/2006/main">
            <a:r>
              <a:t>        "summary": "AI 서비스의 처리·이용·품질 상태를 확인하는 운영 모니터링 체계.",</a:t>
            </a:r>
          </a:p>
          <a:p xmlns:a="http://schemas.openxmlformats.org/drawingml/2006/main">
            <a:r>
              <a:t>        "data": "호출·서비스 상태·오류 → 관측 지표·운영 기록",</a:t>
            </a:r>
          </a:p>
          <a:p xmlns:a="http://schemas.openxmlformats.org/drawingml/2006/main">
            <a:r>
              <a:t>        "components": [</a:t>
            </a:r>
          </a:p>
          <a:p xmlns:a="http://schemas.openxmlformats.org/drawingml/2006/main">
            <a:r>
              <a:t>          "C08"</a:t>
            </a:r>
          </a:p>
          <a:p xmlns:a="http://schemas.openxmlformats.org/drawingml/2006/main">
            <a:r>
              <a:t>        ],</a:t>
            </a:r>
          </a:p>
          <a:p xmlns:a="http://schemas.openxmlformats.org/drawingml/2006/main">
            <a:r>
              <a:t>        "acceptance": "한 요청의 검색·모델·도구 단계를 연결해 실패 지점과 지연 원인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"253bfe0e809bb087229cb4b40f86856252a906181714e2b1a1a84d46237d7570"</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"연구행정 접점",</a:t>
            </a:r>
          </a:p>
          <a:p xmlns:a="http://schemas.openxmlformats.org/drawingml/2006/main">
            <a:r>
              <a:t>          "layer": "이용 접점",</a:t>
            </a:r>
          </a:p>
          <a:p xmlns:a="http://schemas.openxmlformats.org/drawingml/2006/main">
            <a:r>
              <a:t>          "detail": "연구직·행정직·플랫폼 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"소속·직무·이력",</a:t>
            </a:r>
          </a:p>
          <a:p xmlns:a="http://schemas.openxmlformats.org/drawingml/2006/main">
            <a:r>
              <a:t>          "layer": "업무 문맥",</a:t>
            </a:r>
          </a:p>
          <a:p xmlns:a="http://schemas.openxmlformats.org/drawingml/2006/main">
            <a:r>
              <a:t>          "detail": "소속·직무·검색 이력·진행업무 연결",</a:t>
            </a:r>
          </a:p>
          <a:p xmlns:a="http://schemas.openxmlformats.org/drawingml/2006/main">
            <a:r>
              <a:t>          "requirements": [</a:t>
            </a:r>
          </a:p>
          <a:p xmlns:a="http://schemas.openxmlformats.org/drawingml/2006/main">
            <a:r>
              <a:t>            "SFR-002",</a:t>
            </a:r>
          </a:p>
          <a:p xmlns:a="http://schemas.openxmlformats.org/drawingml/2006/main">
            <a:r>
              <a:t>            "SFR-003",</a:t>
            </a:r>
          </a:p>
          <a:p xmlns:a="http://schemas.openxmlformats.org/drawingml/2006/main">
            <a:r>
              <a:t>            "SFR-007",</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"업무 검색 재정렬",</a:t>
            </a:r>
          </a:p>
          <a:p xmlns:a="http://schemas.openxmlformats.org/drawingml/2006/main">
            <a:r>
              <a:t>          "layer": "자료 조회",</a:t>
            </a:r>
          </a:p>
          <a:p xmlns:a="http://schemas.openxmlformats.org/drawingml/2006/main">
            <a:r>
              <a:t>          "detail": "직무·질문",</a:t>
            </a:r>
          </a:p>
          <a:p xmlns:a="http://schemas.openxmlformats.org/drawingml/2006/main">
            <a:r>
              <a:t>          "requirements": [</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"에이전트·정형 생성",</a:t>
            </a:r>
          </a:p>
          <a:p xmlns:a="http://schemas.openxmlformats.org/drawingml/2006/main">
            <a:r>
              <a:t>          "layer": "핵심 처리",</a:t>
            </a:r>
          </a:p>
          <a:p xmlns:a="http://schemas.openxmlformats.org/drawingml/2006/main">
            <a:r>
              <a:t>          "detail": "질의 보정·재정렬·요약·양식별 생성",</a:t>
            </a:r>
          </a:p>
          <a:p xmlns:a="http://schemas.openxmlformats.org/drawingml/2006/main">
            <a:r>
              <a:t>          "requirements": [</a:t>
            </a:r>
          </a:p>
          <a:p xmlns:a="http://schemas.openxmlformats.org/drawingml/2006/main">
            <a:r>
              <a:t>            "SFR-002",</a:t>
            </a:r>
          </a:p>
          <a:p xmlns:a="http://schemas.openxmlformats.org/drawingml/2006/main">
            <a:r>
              <a:t>            "SFR-008",</a:t>
            </a:r>
          </a:p>
          <a:p xmlns:a="http://schemas.openxmlformats.org/drawingml/2006/main">
            <a:r>
              <a:t>            "SFR-009",</a:t>
            </a:r>
          </a:p>
          <a:p xmlns:a="http://schemas.openxmlformats.org/drawingml/2006/main">
            <a:r>
              <a:t>            "SFR-010"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"양식·근거 검사",</a:t>
            </a:r>
          </a:p>
          <a:p xmlns:a="http://schemas.openxmlformats.org/drawingml/2006/main">
            <a:r>
              <a:t>          "layer": "결과 검증",</a:t>
            </a:r>
          </a:p>
          <a:p xmlns:a="http://schemas.openxmlformats.org/drawingml/2006/main">
            <a:r>
              <a:t>          "detail": "기존 검색 대비 근거·완료시간 평가",</a:t>
            </a:r>
          </a:p>
          <a:p xmlns:a="http://schemas.openxmlformats.org/drawingml/2006/main">
            <a:r>
              <a:t>          "requirements": [</a:t>
            </a:r>
          </a:p>
          <a:p xmlns:a="http://schemas.openxmlformats.org/drawingml/2006/main">
            <a:r>
              <a:t>            "SFR-010"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"작성 담당 확인",</a:t>
            </a:r>
          </a:p>
          <a:p xmlns:a="http://schemas.openxmlformats.org/drawingml/2006/main">
            <a:r>
              <a:t>          "layer": "사람 확인",</a:t>
            </a:r>
          </a:p>
          <a:p xmlns:a="http://schemas.openxmlformats.org/drawingml/2006/main">
            <a:r>
              <a:t>          "detail": "동일 질의를 연구직·행정직 계정으로 실행해 검색·서식 비교",</a:t>
            </a:r>
          </a:p>
          <a:p xmlns:a="http://schemas.openxmlformats.org/drawingml/2006/main">
            <a:r>
              <a:t>          "requirements": [</a:t>
            </a:r>
          </a:p>
          <a:p xmlns:a="http://schemas.openxmlformats.org/drawingml/2006/main">
            <a:r>
              <a:t>            "SFR-010"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"문서 업무 연결",</a:t>
            </a:r>
          </a:p>
          <a:p xmlns:a="http://schemas.openxmlformats.org/drawingml/2006/main">
            <a:r>
              <a:t>          "layer": "업무 연결",</a:t>
            </a:r>
          </a:p>
          <a:p xmlns:a="http://schemas.openxmlformats.org/drawingml/2006/main">
            <a:r>
              <a:t>          "detail": "원문 근거와 목차·필드가 있는 초안 제공",</a:t>
            </a:r>
          </a:p>
          <a:p xmlns:a="http://schemas.openxmlformats.org/drawingml/2006/main">
            <a:r>
              <a:t>          "requirements": [</a:t>
            </a:r>
          </a:p>
          <a:p xmlns:a="http://schemas.openxmlformats.org/drawingml/2006/main">
            <a:r>
              <a:t>            "SFR-002",</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"토큰·회귀 평가",</a:t>
            </a:r>
          </a:p>
          <a:p xmlns:a="http://schemas.openxmlformats.org/drawingml/2006/main">
            <a:r>
              <a:t>          "layer": "운영 관측",</a:t>
            </a:r>
          </a:p>
          <a:p xmlns:a="http://schemas.openxmlformats.org/drawingml/2006/main">
            <a:r>
              <a:t>          "detail": "GPU 이중화·모델 롤백·부서별 토큰 계측",</a:t>
            </a:r>
          </a:p>
          <a:p xmlns:a="http://schemas.openxmlformats.org/drawingml/2006/main">
            <a:r>
              <a:t>          "requirements": [</a:t>
            </a:r>
          </a:p>
          <a:p xmlns:a="http://schemas.openxmlformats.org/drawingml/2006/main">
            <a:r>
              <a:t>            "SFR-008",</a:t>
            </a:r>
          </a:p>
          <a:p xmlns:a="http://schemas.openxmlformats.org/drawingml/2006/main">
            <a:r>
              <a:t>            "SFR-012"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"연구행정 자료",</a:t>
            </a:r>
          </a:p>
          <a:p xmlns:a="http://schemas.openxmlformats.org/drawingml/2006/main">
            <a:r>
              <a:t>          "layer": "데이터 원천",</a:t>
            </a:r>
          </a:p>
          <a:p xmlns:a="http://schemas.openxmlformats.org/drawingml/2006/main">
            <a:r>
              <a:t>          "detail": "연구행정 지식",</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"목차·문서 구조화",</a:t>
            </a:r>
          </a:p>
          <a:p xmlns:a="http://schemas.openxmlformats.org/drawingml/2006/main">
            <a:r>
              <a:t>          "layer": "준비·갱신",</a:t>
            </a:r>
          </a:p>
          <a:p xmlns:a="http://schemas.openxmlformats.org/drawingml/2006/main">
            <a:r>
              <a:t>          "detail": "문서·연구성과·전문가·양식의 색인 구성",</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"허용 지식·색인",</a:t>
            </a:r>
          </a:p>
          <a:p xmlns:a="http://schemas.openxmlformats.org/drawingml/2006/main">
            <a:r>
              <a:t>          "layer": "상태·지식 저장",</a:t>
            </a:r>
          </a:p>
          <a:p xmlns:a="http://schemas.openxmlformats.org/drawingml/2006/main">
            <a:r>
              <a:t>          "detail": "직무별 순위·근거·서식과 모델 전환·복구 결과",</a:t>
            </a:r>
          </a:p>
          <a:p xmlns:a="http://schemas.openxmlformats.org/drawingml/2006/main">
            <a:r>
              <a:t>          "requirements": [</a:t>
            </a:r>
          </a:p>
          <a:p xmlns:a="http://schemas.openxmlformats.org/drawingml/2006/main">
            <a:r>
              <a:t>            "SFR-004",</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"모델·롤백 정책",</a:t>
            </a:r>
          </a:p>
          <a:p xmlns:a="http://schemas.openxmlformats.org/drawingml/2006/main">
            <a:r>
              <a:t>          "layer": "권한·정책",</a:t>
            </a:r>
          </a:p>
          <a:p xmlns:a="http://schemas.openxmlformats.org/drawingml/2006/main">
            <a:r>
              <a:t>          "detail": "전보 전 캐시·권한 없는 연구자료·모델 장애",</a:t>
            </a:r>
          </a:p>
          <a:p xmlns:a="http://schemas.openxmlformats.org/drawingml/2006/main">
            <a:r>
              <a:t>          "requirements": [</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"소속·직무·검색 이력·진행업무 연결",</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"직무·질문",</a:t>
            </a:r>
          </a:p>
          <a:p xmlns:a="http://schemas.openxmlformats.org/drawingml/2006/main">
            <a:r>
              <a:t>          "check": "기존 검색 대비 근거·완료시간 평가"</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"재정렬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"정형 초안",</a:t>
            </a:r>
          </a:p>
          <a:p xmlns:a="http://schemas.openxmlformats.org/drawingml/2006/main">
            <a:r>
              <a:t>          "check": "전보 전 캐시·권한 없는 연구자료·모델 장애"</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"정형 초안",</a:t>
            </a:r>
          </a:p>
          <a:p xmlns:a="http://schemas.openxmlformats.org/drawingml/2006/main">
            <a:r>
              <a:t>          "check": "원문 근거와 목차·필드가 있는 초안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 문서",</a:t>
            </a:r>
          </a:p>
          <a:p xmlns:a="http://schemas.openxmlformats.org/drawingml/2006/main">
            <a:r>
              <a:t>          "check": "직무별 순위·근거·서식과 모델 전환·복구 결과"</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"SFR-007~012",</a:t>
            </a:r>
          </a:p>
          <a:p xmlns:a="http://schemas.openxmlformats.org/drawingml/2006/main">
            <a:r>
              <a:t>        "extracted": "부서·직무·검색이력을 이용한 재정렬과 정형 문서 생성",</a:t>
            </a:r>
          </a:p>
          <a:p xmlns:a="http://schemas.openxmlformats.org/drawingml/2006/main">
            <a:r>
              <a:t>        "extension": "검색 이력의 권한 확대 방지와 이전 모델 복귀 시험"</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"PF-R03",</a:t>
            </a:r>
          </a:p>
          <a:p xmlns:a="http://schemas.openxmlformats.org/drawingml/2006/main">
            <a:r>
              <a:t>          "path": "assets/casebook-sources/PF-R03-01.png",</a:t>
            </a:r>
          </a:p>
          <a:p xmlns:a="http://schemas.openxmlformats.org/drawingml/2006/main">
            <a:r>
              <a:t>          "title": "생산기술연구원 정보시스템 연계",</a:t>
            </a:r>
          </a:p>
          <a:p xmlns:a="http://schemas.openxmlformats.org/drawingml/2006/main">
            <a:r>
              <a:t>          "status": "RFP 수록 기존 정보시스템 현황",</a:t>
            </a:r>
          </a:p>
          <a:p xmlns:a="http://schemas.openxmlformats.org/drawingml/2006/main">
            <a:r>
              <a:t>          "caption": "연구행정·경영정보·업무지원·지능형 포털 간 연계",</a:t>
            </a:r>
          </a:p>
          <a:p xmlns:a="http://schemas.openxmlformats.org/drawingml/2006/main">
            <a:r>
              <a:t>          "locator": "rId13 / BinData/BIN0002_png",</a:t>
            </a:r>
          </a:p>
          <a:p xmlns:a="http://schemas.openxmlformats.org/drawingml/2006/main">
            <a:r>
              <a:t>          "checked": "2026-10-16",</a:t>
            </a:r>
          </a:p>
          <a:p xmlns:a="http://schemas.openxmlformats.org/drawingml/2006/main">
            <a:r>
              <a:t>          "sha256": "0b49ad15a2d50888b15fdc4d6bb439874425106d7d0a2cf9b92b1c3debb0025b",</a:t>
            </a:r>
          </a:p>
          <a:p xmlns:a="http://schemas.openxmlformats.org/drawingml/2006/main">
            <a:r>
              <a:t>          "explanation": {</a:t>
            </a:r>
          </a:p>
          <a:p xmlns:a="http://schemas.openxmlformats.org/drawingml/2006/main">
            <a:r>
              <a:t>            "read": "연구행정·경영정보·업무지원과 지능형 포털의 기존 연결 현황. 새 AI 모델의 배치도가 아니라 어떤 업무 데이터와 시스템을 고도화 시 연결해야 하는지를 보여 주는 원문.",</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"SFR-007",</a:t>
            </a:r>
          </a:p>
          <a:p xmlns:a="http://schemas.openxmlformats.org/drawingml/2006/main">
            <a:r>
              <a:t>              "SFR-010"</a:t>
            </a:r>
          </a:p>
          <a:p xmlns:a="http://schemas.openxmlformats.org/drawingml/2006/main">
            <a:r>
              <a:t>            ],</a:t>
            </a:r>
          </a:p>
          <a:p xmlns:a="http://schemas.openxmlformats.org/drawingml/2006/main">
            <a:r>
              <a:t>            "connection": "기존 사용자·조직·권한과 연구행정 자료를 재사용하고 직무별 검색, 도메인 도구, 정형 문서 생성을 추가하는 대상 경계의 설정."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"전보 전 캐시·권한 없는 연구자료·모델 장애",</a:t>
            </a:r>
          </a:p>
          <a:p xmlns:a="http://schemas.openxmlformats.org/drawingml/2006/main">
            <a:r>
              <a:t>        "hold": "기존 검색 대비 근거·완료시간 평가",</a:t>
            </a:r>
          </a:p>
          <a:p xmlns:a="http://schemas.openxmlformats.org/drawingml/2006/main">
            <a:r>
              <a:t>        "recovery": "GPU 이중화·모델 롤백·부서별 토큰 계측",</a:t>
            </a:r>
          </a:p>
          <a:p xmlns:a="http://schemas.openxmlformats.org/drawingml/2006/main">
            <a:r>
              <a:t>        "evidence": "직무별 순위·근거·서식과 모델 전환·복구 결과"</a:t>
            </a:r>
          </a:p>
          <a:p xmlns:a="http://schemas.openxmlformats.org/drawingml/2006/main">
            <a:r>
              <a:t>      },</a:t>
            </a:r>
          </a:p>
          <a:p xmlns:a="http://schemas.openxmlformats.org/drawingml/2006/main">
            <a:r>
              <a:t>      "data": {</a:t>
            </a:r>
          </a:p>
          <a:p xmlns:a="http://schemas.openxmlformats.org/drawingml/2006/main">
            <a:r>
              <a:t>        "source": "연구행정 지식",</a:t>
            </a:r>
          </a:p>
          <a:p xmlns:a="http://schemas.openxmlformats.org/drawingml/2006/main">
            <a:r>
              <a:t>        "prepare": "문서·연구성과·전문가·양식의 색인 구성",</a:t>
            </a:r>
          </a:p>
          <a:p xmlns:a="http://schemas.openxmlformats.org/drawingml/2006/main">
            <a:r>
              <a:t>        "output": "직무·질문",</a:t>
            </a:r>
          </a:p>
          <a:p xmlns:a="http://schemas.openxmlformats.org/drawingml/2006/main">
            <a:r>
              <a:t>        "refresh": "GPU 이중화·모델 롤백·부서별 토큰 계측"</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"PF-R03",</a:t>
            </a:r>
          </a:p>
          <a:p xmlns:a="http://schemas.openxmlformats.org/drawingml/2006/main">
            <a:r>
              <a:t>    "success": [</a:t>
            </a:r>
          </a:p>
          <a:p xmlns:a="http://schemas.openxmlformats.org/drawingml/2006/main">
            <a:r>
              <a:t>      "기존 연구행정 검색의 고도화",</a:t>
            </a:r>
          </a:p>
          <a:p xmlns:a="http://schemas.openxmlformats.org/drawingml/2006/main">
            <a:r>
              <a:t>      "업무별 에이전트·정형 출력 구성"</a:t>
            </a:r>
          </a:p>
          <a:p xmlns:a="http://schemas.openxmlformats.org/drawingml/2006/main">
            <a:r>
              <a:t>    ],</a:t>
            </a:r>
          </a:p>
          <a:p xmlns:a="http://schemas.openxmlformats.org/drawingml/2006/main">
            <a:r>
              <a:t>    "risks": [</a:t>
            </a:r>
          </a:p>
          <a:p xmlns:a="http://schemas.openxmlformats.org/drawingml/2006/main">
            <a:r>
              <a:t>      "검색 재정렬의 근거 누락",</a:t>
            </a:r>
          </a:p>
          <a:p xmlns:a="http://schemas.openxmlformats.org/drawingml/2006/main">
            <a:r>
              <a:t>      "후속 공고와 도입 완료의 혼동"</a:t>
            </a:r>
          </a:p>
          <a:p xmlns:a="http://schemas.openxmlformats.org/drawingml/2006/main">
            <a:r>
              <a:t>    ],</a:t>
            </a:r>
          </a:p>
          <a:p xmlns:a="http://schemas.openxmlformats.org/drawingml/2006/main">
            <a:r>
              <a:t>    "architecture": [</a:t>
            </a:r>
          </a:p>
          <a:p xmlns:a="http://schemas.openxmlformats.org/drawingml/2006/main">
            <a:r>
              <a:t>      "연구행정 사용자",</a:t>
            </a:r>
          </a:p>
          <a:p xmlns:a="http://schemas.openxmlformats.org/drawingml/2006/main">
            <a:r>
              <a:t>      "검색·업무 에이전트",</a:t>
            </a:r>
          </a:p>
          <a:p xmlns:a="http://schemas.openxmlformats.org/drawingml/2006/main">
            <a:r>
              <a:t>      "연구행정 지식",</a:t>
            </a:r>
          </a:p>
          <a:p xmlns:a="http://schemas.openxmlformats.org/drawingml/2006/main">
            <a:r>
              <a:t>      "문서 작성 담당"</a:t>
            </a:r>
          </a:p>
          <a:p xmlns:a="http://schemas.openxmlformats.org/drawingml/2006/main">
            <a:r>
              <a:t>    ],</a:t>
            </a:r>
          </a:p>
          <a:p xmlns:a="http://schemas.openxmlformats.org/drawingml/2006/main">
            <a:r>
              <a:t>    "transfers": [</a:t>
            </a:r>
          </a:p>
          <a:p xmlns:a="http://schemas.openxmlformats.org/drawingml/2006/main">
            <a:r>
              <a:t>      "직무·질문",</a:t>
            </a:r>
          </a:p>
          <a:p xmlns:a="http://schemas.openxmlformats.org/drawingml/2006/main">
            <a:r>
              <a:t>      "재정렬 근거",</a:t>
            </a:r>
          </a:p>
          <a:p xmlns:a="http://schemas.openxmlformats.org/drawingml/2006/main">
            <a:r>
              <a:t>      "정형 초안",</a:t>
            </a:r>
          </a:p>
          <a:p xmlns:a="http://schemas.openxmlformats.org/drawingml/2006/main">
            <a:r>
              <a:t>      "검토 문서"</a:t>
            </a:r>
          </a:p>
          <a:p xmlns:a="http://schemas.openxmlformats.org/drawingml/2006/main">
            <a:r>
              <a:t>    ],</a:t>
            </a:r>
          </a:p>
          <a:p xmlns:a="http://schemas.openxmlformats.org/drawingml/2006/main">
            <a:r>
              <a:t>    "control": "기존 검색 대비 근거·완료시간 평가",</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SFR-007~012 / Word T044 https://www.g2b.go.kr/pn/pnp/pnpe/UntyAtchFile/downloadFile.do?bidPbancNo=R26BK01670411&amp;bidPbancOrd=000&amp;fileType=&amp;fileSeq=1&amp;prcmBsneSeCd=03</a:t>
            </a:r>
          </a:p>
          <a:p xmlns:a="http://schemas.openxmlformats.org/drawingml/2006/main">
            <a:r>
              <a:t>홈페이지 https://heen1987-ops.github.io/TS-business-Plan-001/index.html?view=platform-cases&amp;case=PF-R03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"PF-R03",</a:t>
            </a:r>
          </a:p>
          <a:p xmlns:a="http://schemas.openxmlformats.org/drawingml/2006/main">
            <a:r>
              <a:t>    "sourceId": "R03",</a:t>
            </a:r>
          </a:p>
          <a:p xmlns:a="http://schemas.openxmlformats.org/drawingml/2006/main">
            <a:r>
              <a:t>    "title": "생산기술연구원 AI 고도화",</a:t>
            </a:r>
          </a:p>
          <a:p xmlns:a="http://schemas.openxmlformats.org/drawingml/2006/main">
            <a:r>
              <a:t>    "region": "국내",</a:t>
            </a:r>
          </a:p>
          <a:p xmlns:a="http://schemas.openxmlformats.org/drawingml/2006/main">
            <a:r>
              <a:t>    "owner": "한국생산기술연구원",</a:t>
            </a:r>
          </a:p>
          <a:p xmlns:a="http://schemas.openxmlformats.org/drawingml/2006/main">
            <a:r>
              <a:t>    "state": "후속 공고 RFP 확인 / 계약·운영 미확인",</a:t>
            </a:r>
          </a:p>
          <a:p xmlns:a="http://schemas.openxmlformats.org/drawingml/2006/main">
            <a:r>
              <a:t>    "period": "기존 원장 확인 2026.10.16",</a:t>
            </a:r>
          </a:p>
          <a:p xmlns:a="http://schemas.openxmlformats.org/drawingml/2006/main">
            <a:r>
              <a:t>    "fact": "기존 연구행정 AI 고도화: 지능형 검색·멀티모델·도메인 에이전트·정형 문서 생성",</a:t>
            </a:r>
          </a:p>
          <a:p xmlns:a="http://schemas.openxmlformats.org/drawingml/2006/main">
            <a:r>
              <a:t>    "limit": "연구원 외부 TechGPT 성과와 본 내부사업을 혼동하지 않음",</a:t>
            </a:r>
          </a:p>
          <a:p xmlns:a="http://schemas.openxmlformats.org/drawingml/2006/main">
            <a:r>
              <a:t>    "nodes": [</a:t>
            </a:r>
          </a:p>
          <a:p xmlns:a="http://schemas.openxmlformats.org/drawingml/2006/main">
            <a:r>
              <a:t>      "직원·직무",</a:t>
            </a:r>
          </a:p>
          <a:p xmlns:a="http://schemas.openxmlformats.org/drawingml/2006/main">
            <a:r>
              <a:t>      "검색 재정렬",</a:t>
            </a:r>
          </a:p>
          <a:p xmlns:a="http://schemas.openxmlformats.org/drawingml/2006/main">
            <a:r>
              <a:t>      "업무 에이전트",</a:t>
            </a:r>
          </a:p>
          <a:p xmlns:a="http://schemas.openxmlformats.org/drawingml/2006/main">
            <a:r>
              <a:t>      "문서·운영 관리"</a:t>
            </a:r>
          </a:p>
          <a:p xmlns:a="http://schemas.openxmlformats.org/drawingml/2006/main">
            <a:r>
              <a:t>    ],</a:t>
            </a:r>
          </a:p>
          <a:p xmlns:a="http://schemas.openxmlformats.org/drawingml/2006/main">
            <a:r>
              <a:t>    "apply": "공식 소속·직무를 검색 순위·서식·업무 도구 선택에 연결하는 개인화",</a:t>
            </a:r>
          </a:p>
          <a:p xmlns:a="http://schemas.openxmlformats.org/drawingml/2006/main">
            <a:r>
              <a:t>    "delta": "사번–부서–직무–업무 연결 / 검색 재정렬 / 직무별 문서 양식",</a:t>
            </a:r>
          </a:p>
          <a:p xmlns:a="http://schemas.openxmlformats.org/drawingml/2006/main">
            <a:r>
              <a:t>    "test": "동일 질의의 직무별 정답·문서 순위·서식 비교 및 전보 후 권한 시험",</a:t>
            </a:r>
          </a:p>
          <a:p xmlns:a="http://schemas.openxmlformats.org/drawingml/2006/main">
            <a:r>
              <a:t>    "url": "https://www.g2b.go.kr/pn/pnp/pnpe/UntyAtchFile/downloadFile.do?bidPbancNo=R26BK01670411&amp;bidPbancOrd=000&amp;fileType=&amp;fileSeq=1&amp;prcmBsneSeCd=03",</a:t>
            </a:r>
          </a:p>
          <a:p xmlns:a="http://schemas.openxmlformats.org/drawingml/2006/main">
            <a:r>
              <a:t>    "urls": [</a:t>
            </a:r>
          </a:p>
          <a:p xmlns:a="http://schemas.openxmlformats.org/drawingml/2006/main">
            <a:r>
              <a:t>      "https://www.g2b.go.kr/pn/pnp/pnpe/UntyAtchFile/downloadFile.do?bidPbancNo=R26BK01670411&amp;bidPbancOrd=000&amp;fileType=&amp;fileSeq=1&amp;prcmBsneSeCd=03"</a:t>
            </a:r>
          </a:p>
          <a:p xmlns:a="http://schemas.openxmlformats.org/drawingml/2006/main">
            <a:r>
              <a:t>    ],</a:t>
            </a:r>
          </a:p>
          <a:p xmlns:a="http://schemas.openxmlformats.org/drawingml/2006/main">
            <a:r>
              <a:t>    "basis": "SFR-007~012 / Word T044",</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"직무별 과업 성공률 / 검색·문서 작성시간 / 요청당 비용",</a:t>
            </a:r>
          </a:p>
          <a:p xmlns:a="http://schemas.openxmlformats.org/drawingml/2006/main">
            <a:r>
              <a:t>    "group": "요구·구축",</a:t>
            </a:r>
          </a:p>
          <a:p xmlns:a="http://schemas.openxmlformats.org/drawingml/2006/main">
            <a:r>
              <a:t>    "sourceDetail": "소속·직무·검색이력·업무 기반 검색 재정렬, 양식/목차/입력 구조화, GPU 이중화·모델 롤백·부서별 토큰 비용",</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"PF-R03",</a:t>
            </a:r>
          </a:p>
          <a:p xmlns:a="http://schemas.openxmlformats.org/drawingml/2006/main">
            <a:r>
              <a:t>    "canonicalId": "PF-R03",</a:t>
            </a:r>
          </a:p>
          <a:p xmlns:a="http://schemas.openxmlformats.org/drawingml/2006/main">
            <a:r>
              <a:t>    "purpose": "직무별 검색과 정형 문서 작성의 고도화",</a:t>
            </a:r>
          </a:p>
          <a:p xmlns:a="http://schemas.openxmlformats.org/drawingml/2006/main">
            <a:r>
              <a:t>    "users": "연구직·행정직·플랫폼 운영자",</a:t>
            </a:r>
          </a:p>
          <a:p xmlns:a="http://schemas.openxmlformats.org/drawingml/2006/main">
            <a:r>
              <a:t>    "scope": [</a:t>
            </a:r>
          </a:p>
          <a:p xmlns:a="http://schemas.openxmlformats.org/drawingml/2006/main">
            <a:r>
              <a:t>      "검색 재정렬",</a:t>
            </a:r>
          </a:p>
          <a:p xmlns:a="http://schemas.openxmlformats.org/drawingml/2006/main">
            <a:r>
              <a:t>      "문서 생성",</a:t>
            </a:r>
          </a:p>
          <a:p xmlns:a="http://schemas.openxmlformats.org/drawingml/2006/main">
            <a:r>
              <a:t>      "멀티모델 운영"</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"연구행정 사용자",</a:t>
            </a:r>
          </a:p>
          <a:p xmlns:a="http://schemas.openxmlformats.org/drawingml/2006/main">
            <a:r>
              <a:t>        "detail": "소속·직무·검색 이력·진행업무 연결",</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"검색 재정렬 / 문서 생성 / 멀티모델 운영",</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"검색·업무 에이전트",</a:t>
            </a:r>
          </a:p>
          <a:p xmlns:a="http://schemas.openxmlformats.org/drawingml/2006/main">
            <a:r>
              <a:t>        "detail": "질의 보정·재정렬·요약·양식별 생성",</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"문서 작성 담당",</a:t>
            </a:r>
          </a:p>
          <a:p xmlns:a="http://schemas.openxmlformats.org/drawingml/2006/main">
            <a:r>
              <a:t>        "detail": "원문 근거와 목차·필드가 있는 초안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"연구행정 지식",</a:t>
            </a:r>
          </a:p>
          <a:p xmlns:a="http://schemas.openxmlformats.org/drawingml/2006/main">
            <a:r>
              <a:t>        "detail": "문서·연구성과·전문가·양식의 색인 구성",</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"GPU 이중화·모델 롤백·부서별 토큰 계측",</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"직원·직무",</a:t>
            </a:r>
          </a:p>
          <a:p xmlns:a="http://schemas.openxmlformats.org/drawingml/2006/main">
            <a:r>
              <a:t>        "input": "소속·직무·검색 이력·진행업무 연결",</a:t>
            </a:r>
          </a:p>
          <a:p xmlns:a="http://schemas.openxmlformats.org/drawingml/2006/main">
            <a:r>
              <a:t>        "process": "문서·연구성과·전문가·양식의 색인 구성",</a:t>
            </a:r>
          </a:p>
          <a:p xmlns:a="http://schemas.openxmlformats.org/drawingml/2006/main">
            <a:r>
              <a:t>        "output": "직무·질문"</a:t>
            </a:r>
          </a:p>
          <a:p xmlns:a="http://schemas.openxmlformats.org/drawingml/2006/main">
            <a:r>
              <a:t>      },</a:t>
            </a:r>
          </a:p>
          <a:p xmlns:a="http://schemas.openxmlformats.org/drawingml/2006/main">
            <a:r>
              <a:t>      {</a:t>
            </a:r>
          </a:p>
          <a:p xmlns:a="http://schemas.openxmlformats.org/drawingml/2006/main">
            <a:r>
              <a:t>        "title": "검색 재정렬",</a:t>
            </a:r>
          </a:p>
          <a:p xmlns:a="http://schemas.openxmlformats.org/drawingml/2006/main">
            <a:r>
              <a:t>        "input": "직무·질문",</a:t>
            </a:r>
          </a:p>
          <a:p xmlns:a="http://schemas.openxmlformats.org/drawingml/2006/main">
            <a:r>
              <a:t>        "process": "질의 보정·재정렬·요약·양식별 생성",</a:t>
            </a:r>
          </a:p>
          <a:p xmlns:a="http://schemas.openxmlformats.org/drawingml/2006/main">
            <a:r>
              <a:t>        "output": "재정렬 근거"</a:t>
            </a:r>
          </a:p>
          <a:p xmlns:a="http://schemas.openxmlformats.org/drawingml/2006/main">
            <a:r>
              <a:t>      },</a:t>
            </a:r>
          </a:p>
          <a:p xmlns:a="http://schemas.openxmlformats.org/drawingml/2006/main">
            <a:r>
              <a:t>      {</a:t>
            </a:r>
          </a:p>
          <a:p xmlns:a="http://schemas.openxmlformats.org/drawingml/2006/main">
            <a:r>
              <a:t>        "title": "업무 에이전트",</a:t>
            </a:r>
          </a:p>
          <a:p xmlns:a="http://schemas.openxmlformats.org/drawingml/2006/main">
            <a:r>
              <a:t>        "input": "재정렬 근거",</a:t>
            </a:r>
          </a:p>
          <a:p xmlns:a="http://schemas.openxmlformats.org/drawingml/2006/main">
            <a:r>
              <a:t>        "process": "기존 검색 대비 근거·완료시간 평가",</a:t>
            </a:r>
          </a:p>
          <a:p xmlns:a="http://schemas.openxmlformats.org/drawingml/2006/main">
            <a:r>
              <a:t>        "output": "정형 초안"</a:t>
            </a:r>
          </a:p>
          <a:p xmlns:a="http://schemas.openxmlformats.org/drawingml/2006/main">
            <a:r>
              <a:t>      },</a:t>
            </a:r>
          </a:p>
          <a:p xmlns:a="http://schemas.openxmlformats.org/drawingml/2006/main">
            <a:r>
              <a:t>      {</a:t>
            </a:r>
          </a:p>
          <a:p xmlns:a="http://schemas.openxmlformats.org/drawingml/2006/main">
            <a:r>
              <a:t>        "title": "문서·운영 관리",</a:t>
            </a:r>
          </a:p>
          <a:p xmlns:a="http://schemas.openxmlformats.org/drawingml/2006/main">
            <a:r>
              <a:t>        "input": "정형 초안",</a:t>
            </a:r>
          </a:p>
          <a:p xmlns:a="http://schemas.openxmlformats.org/drawingml/2006/main">
            <a:r>
              <a:t>        "process": "원문 근거와 목차·필드가 있는 초안 제공",</a:t>
            </a:r>
          </a:p>
          <a:p xmlns:a="http://schemas.openxmlformats.org/drawingml/2006/main">
            <a:r>
              <a:t>        "output": "검토 문서"</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"동일 질의를 연구직·행정직 계정으로 실행해 검색·서식 비교",</a:t>
            </a:r>
          </a:p>
          <a:p xmlns:a="http://schemas.openxmlformats.org/drawingml/2006/main">
            <a:r>
              <a:t>      "exception": "전보 전 캐시·권한 없는 연구자료·모델 장애",</a:t>
            </a:r>
          </a:p>
          <a:p xmlns:a="http://schemas.openxmlformats.org/drawingml/2006/main">
            <a:r>
              <a:t>      "evidence": "직무별 순위·근거·서식과 모델 전환·복구 결과",</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"연구직·행정직·플랫폼 운영자",</a:t>
            </a:r>
          </a:p>
          <a:p xmlns:a="http://schemas.openxmlformats.org/drawingml/2006/main">
            <a:r>
              <a:t>          "processing": "소속·직무·검색 이력·진행업무 연결",</a:t>
            </a:r>
          </a:p>
          <a:p xmlns:a="http://schemas.openxmlformats.org/drawingml/2006/main">
            <a:r>
              <a:t>          "output": "직무·질문"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"연구행정 지식",</a:t>
            </a:r>
          </a:p>
          <a:p xmlns:a="http://schemas.openxmlformats.org/drawingml/2006/main">
            <a:r>
              <a:t>          "processing": "문서·연구성과·전문가·양식의 색인 구성",</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"직무·질문",</a:t>
            </a:r>
          </a:p>
          <a:p xmlns:a="http://schemas.openxmlformats.org/drawingml/2006/main">
            <a:r>
              <a:t>          "processing": "질의 보정·재정렬·요약·양식별 생성",</a:t>
            </a:r>
          </a:p>
          <a:p xmlns:a="http://schemas.openxmlformats.org/drawingml/2006/main">
            <a:r>
              <a:t>          "output": "정형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"정형 초안",</a:t>
            </a:r>
          </a:p>
          <a:p xmlns:a="http://schemas.openxmlformats.org/drawingml/2006/main">
            <a:r>
              <a:t>          "processing": "원문 근거와 목차·필드가 있는 초안 제공",</a:t>
            </a:r>
          </a:p>
          <a:p xmlns:a="http://schemas.openxmlformats.org/drawingml/2006/main">
            <a:r>
              <a:t>          "output": "검토 문서"</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"GPU 이중화·모델 롤백·부서별 토큰 계측",</a:t>
            </a:r>
          </a:p>
          <a:p xmlns:a="http://schemas.openxmlformats.org/drawingml/2006/main">
            <a:r>
              <a:t>          "output": "직무별 순위·근거·서식과 모델 전환·복구 결과"</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"GPU 이중화·모델 롤백·부서별 토큰 계측",</a:t>
            </a:r>
          </a:p>
          <a:p xmlns:a="http://schemas.openxmlformats.org/drawingml/2006/main">
            <a:r>
              <a:t>    "status": "RFP 기반 논리 설계",</a:t>
            </a:r>
          </a:p>
          <a:p xmlns:a="http://schemas.openxmlformats.org/drawingml/2006/main">
            <a:r>
              <a:t>    "basis": "RFP 2026.05 · SFR-007~012",</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"SFR-007~012 / Word T044",</a:t>
            </a:r>
          </a:p>
          <a:p xmlns:a="http://schemas.openxmlformats.org/drawingml/2006/main">
            <a:r>
              <a:t>        "url": "https://www.g2b.go.kr/pn/pnp/pnpe/UntyAtchFile/downloadFile.do?bidPbancNo=R26BK01670411&amp;bidPbancOrd=000&amp;fileType=&amp;fileSeq=1&amp;prcmBsneSeCd=03"</a:t>
            </a:r>
          </a:p>
          <a:p xmlns:a="http://schemas.openxmlformats.org/drawingml/2006/main">
            <a:r>
              <a:t>      }</a:t>
            </a:r>
          </a:p>
          <a:p xmlns:a="http://schemas.openxmlformats.org/drawingml/2006/main">
            <a:r>
              <a:t>    ],</a:t>
            </a:r>
          </a:p>
          <a:p xmlns:a="http://schemas.openxmlformats.org/drawingml/2006/main">
            <a:r>
              <a:t>    "implication": "공식 소속·직무를 검색 순위·서식·업무 도구 선택에 연결하는 개인화",</a:t>
            </a:r>
          </a:p>
          <a:p xmlns:a="http://schemas.openxmlformats.org/drawingml/2006/main">
            <a:r>
              <a:t>    "local": "공식 소속·직무를 검색 순위·서식·업무 도구 선택에 연결하는 개인화",</a:t>
            </a:r>
          </a:p>
          <a:p xmlns:a="http://schemas.openxmlformats.org/drawingml/2006/main">
            <a:r>
              <a:t>    "sourceDetail": "소속·직무·검색이력·업무 기반 검색 재정렬, 양식/목차/입력 구조화, GPU 이중화·모델 롤백·부서별 토큰 비용",</a:t>
            </a:r>
          </a:p>
          <a:p xmlns:a="http://schemas.openxmlformats.org/drawingml/2006/main">
            <a:r>
              <a:t>    "narrative": [</a:t>
            </a:r>
          </a:p>
          <a:p xmlns:a="http://schemas.openxmlformats.org/drawingml/2006/main">
            <a:r>
              <a:t>      "생산기술연구원의 기존 연구행정 검색·AI 환경에 직무별 검색, 에이전트 처리, 문서 생성, 운영 관리 기능을 추가하는 고도화. 연구직과 행정직의 관심 자료가 다른 상황에서 동일 질의의 결과 순서를 다르게 구성하는 요구가 핵심.",</a:t>
            </a:r>
          </a:p>
          <a:p xmlns:a="http://schemas.openxmlformats.org/drawingml/2006/main">
            <a:r>
              <a:t>      "SFR-007은 부서·직무·검색 이력·진행 업무를 이용한 검색 최적화, SFR-009는 복합 질문의 태스크 분해와 도메인 에이전트 호출, SFR-010은 문서 양식·필수 항목·내부 과제정보의 결합을 요구. 인사 연동과 역할별 접근제어를 검색 추천보다 먼저 연결하는 설계.",</a:t>
            </a:r>
          </a:p>
          <a:p xmlns:a="http://schemas.openxmlformats.org/drawingml/2006/main">
            <a:r>
              <a:t>      "TS 조직 네이티브 AI와 직접 비교할 지점은 공식 소속·직무를 검색 문맥으로 사용하는 방식. 추천 순위 개선과 접근권한 확대를 분리하고, 전보 전후 동일 질의의 검색 범위·서식·근거 차이를 검수할 필요. 기존 검색·LLM의 재사용과 조직 매핑 추가분의 구분."</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"SFR-002",</a:t>
            </a:r>
          </a:p>
          <a:p xmlns:a="http://schemas.openxmlformats.org/drawingml/2006/main">
            <a:r>
              <a:t>        "title": "Agent 일반 사항",</a:t>
            </a:r>
          </a:p>
          <a:p xmlns:a="http://schemas.openxmlformats.org/drawingml/2006/main">
            <a:r>
              <a:t>        "locator": "SFR-002",</a:t>
            </a:r>
          </a:p>
          <a:p xmlns:a="http://schemas.openxmlformats.org/drawingml/2006/main">
            <a:r>
              <a:t>        "summary": "MCP 도구 등을 이용한 에이전트 실행의 공통 기능 구성. 업무 요청과 도구 호출의 연결 관리.",</a:t>
            </a:r>
          </a:p>
          <a:p xmlns:a="http://schemas.openxmlformats.org/drawingml/2006/main">
            <a:r>
              <a:t>        "data": "업무 요청·도구 정의 → 호출 계획·도구 결과",</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"C07"</a:t>
            </a:r>
          </a:p>
          <a:p xmlns:a="http://schemas.openxmlformats.org/drawingml/2006/main">
            <a:r>
              <a:t>        ],</a:t>
            </a:r>
          </a:p>
          <a:p xmlns:a="http://schemas.openxmlformats.org/drawingml/2006/main">
            <a:r>
              <a:t>        "acceptance": "미등록 도구·잘못된 인자·호출 실패 상황의 실행 보류와 오류 반환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"600876c2133d5557fe295a881eb90450c3e422b7ff02c531aaeae32498f9894f"</a:t>
            </a:r>
          </a:p>
          <a:p xmlns:a="http://schemas.openxmlformats.org/drawingml/2006/main">
            <a:r>
              <a:t>      },</a:t>
            </a:r>
          </a:p>
          <a:p xmlns:a="http://schemas.openxmlformats.org/drawingml/2006/main">
            <a:r>
              <a:t>      {</a:t>
            </a:r>
          </a:p>
          <a:p xmlns:a="http://schemas.openxmlformats.org/drawingml/2006/main">
            <a:r>
              <a:t>        "id": "SFR-003",</a:t>
            </a:r>
          </a:p>
          <a:p xmlns:a="http://schemas.openxmlformats.org/drawingml/2006/main">
            <a:r>
              <a:t>        "title": "접근 및 권한관리",</a:t>
            </a:r>
          </a:p>
          <a:p xmlns:a="http://schemas.openxmlformats.org/drawingml/2006/main">
            <a:r>
              <a:t>        "locator": "SFR-003",</a:t>
            </a:r>
          </a:p>
          <a:p xmlns:a="http://schemas.openxmlformats.org/drawingml/2006/main">
            <a:r>
              <a:t>        "summary": "인사·조직 정보를 반영한 접근 및 권한 관리. 사용자 역할에 맞는 데이터·기능 범위 적용.",</a:t>
            </a:r>
          </a:p>
          <a:p xmlns:a="http://schemas.openxmlformats.org/drawingml/2006/main">
            <a:r>
              <a:t>        "data": "직원·부서·역할 → 허용 데이터·기능",</a:t>
            </a:r>
          </a:p>
          <a:p xmlns:a="http://schemas.openxmlformats.org/drawingml/2006/main">
            <a:r>
              <a:t>        "components": [</a:t>
            </a:r>
          </a:p>
          <a:p xmlns:a="http://schemas.openxmlformats.org/drawingml/2006/main">
            <a:r>
              <a:t>          "C02",</a:t>
            </a:r>
          </a:p>
          <a:p xmlns:a="http://schemas.openxmlformats.org/drawingml/2006/main">
            <a:r>
              <a:t>          "C12"</a:t>
            </a:r>
          </a:p>
          <a:p xmlns:a="http://schemas.openxmlformats.org/drawingml/2006/main">
            <a:r>
              <a:t>        ],</a:t>
            </a:r>
          </a:p>
          <a:p xmlns:a="http://schemas.openxmlformats.org/drawingml/2006/main">
            <a:r>
              <a:t>        "acceptance": "전보·겸직·퇴직·권한 해제 시 검색과 실행 양쪽의 접근 결과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"04990216c1150703cd093e78e1cf6629542fbdaca4c97f9dca5f8e4f3b400cce"</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"데이터 통합 파이프라인 구축",</a:t>
            </a:r>
          </a:p>
          <a:p xmlns:a="http://schemas.openxmlformats.org/drawingml/2006/main">
            <a:r>
              <a:t>        "locator": "SFR-004",</a:t>
            </a:r>
          </a:p>
          <a:p xmlns:a="http://schemas.openxmlformats.org/drawingml/2006/main">
            <a:r>
              <a:t>        "summary": "분산 데이터를 수집·정제·연계하는 통합 파이프라인 구축.",</a:t>
            </a:r>
          </a:p>
          <a:p xmlns:a="http://schemas.openxmlformats.org/drawingml/2006/main">
            <a:r>
              <a:t>        "data": "업무 원천·메타데이터 → 검색·AI 활용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"파일 형식 오류·중복·갱신·삭제 자료의 재처리와 원천-색인 건수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"e23449e0d4bf6fe973e547277bd671a1db47129f3f697fe40e3653855a967d51"</a:t>
            </a:r>
          </a:p>
          <a:p xmlns:a="http://schemas.openxmlformats.org/drawingml/2006/main">
            <a:r>
              <a:t>      },</a:t>
            </a:r>
          </a:p>
          <a:p xmlns:a="http://schemas.openxmlformats.org/drawingml/2006/main">
            <a:r>
              <a:t>      {</a:t>
            </a:r>
          </a:p>
          <a:p xmlns:a="http://schemas.openxmlformats.org/drawingml/2006/main">
            <a:r>
              <a:t>        "id": "SFR-007",</a:t>
            </a:r>
          </a:p>
          <a:p xmlns:a="http://schemas.openxmlformats.org/drawingml/2006/main">
            <a:r>
              <a:t>        "title": "AI 기반 지능형 검색 서비스",</a:t>
            </a:r>
          </a:p>
          <a:p xmlns:a="http://schemas.openxmlformats.org/drawingml/2006/main">
            <a:r>
              <a:t>        "locator": "SFR-007",</a:t>
            </a:r>
          </a:p>
          <a:p xmlns:a="http://schemas.openxmlformats.org/drawingml/2006/main">
            <a:r>
              <a:t>        "summary": "부서·직무·사용 이력 등을 반영한 AI 검색과 결과 재정렬.",</a:t>
            </a:r>
          </a:p>
          <a:p xmlns:a="http://schemas.openxmlformats.org/drawingml/2006/main">
            <a:r>
              <a:t>        "data": "동일 질의·다른 직무 문맥 → 직무별 관련 근거 순위",</a:t>
            </a:r>
          </a:p>
          <a:p xmlns:a="http://schemas.openxmlformats.org/drawingml/2006/main">
            <a:r>
              <a:t>        "components": [</a:t>
            </a:r>
          </a:p>
          <a:p xmlns:a="http://schemas.openxmlformats.org/drawingml/2006/main">
            <a:r>
              <a:t>          "C02",</a:t>
            </a:r>
          </a:p>
          <a:p xmlns:a="http://schemas.openxmlformats.org/drawingml/2006/main">
            <a:r>
              <a:t>          "C03",</a:t>
            </a:r>
          </a:p>
          <a:p xmlns:a="http://schemas.openxmlformats.org/drawingml/2006/main">
            <a:r>
              <a:t>          "C11"</a:t>
            </a:r>
          </a:p>
          <a:p xmlns:a="http://schemas.openxmlformats.org/drawingml/2006/main">
            <a:r>
              <a:t>        ],</a:t>
            </a:r>
          </a:p>
          <a:p xmlns:a="http://schemas.openxmlformats.org/drawingml/2006/main">
            <a:r>
              <a:t>        "acceptance": "연구직·행정직의 동일 질의에서 관련성 변화와 권한 밖 결과 제외를 함께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"3e12718b7b492badc155b10cf84e1b67c500d44a7c8333c9b026c5a4dea691ad"</a:t>
            </a:r>
          </a:p>
          <a:p xmlns:a="http://schemas.openxmlformats.org/drawingml/2006/main">
            <a:r>
              <a:t>      },</a:t>
            </a:r>
          </a:p>
          <a:p xmlns:a="http://schemas.openxmlformats.org/drawingml/2006/main">
            <a:r>
              <a:t>      {</a:t>
            </a:r>
          </a:p>
          <a:p xmlns:a="http://schemas.openxmlformats.org/drawingml/2006/main">
            <a:r>
              <a:t>        "id": "SFR-008",</a:t>
            </a:r>
          </a:p>
          <a:p xmlns:a="http://schemas.openxmlformats.org/drawingml/2006/main">
            <a:r>
              <a:t>        "title": "멀티 모델 적용",</a:t>
            </a:r>
          </a:p>
          <a:p xmlns:a="http://schemas.openxmlformats.org/drawingml/2006/main">
            <a:r>
              <a:t>        "locator": "SFR-008",</a:t>
            </a:r>
          </a:p>
          <a:p xmlns:a="http://schemas.openxmlformats.org/drawingml/2006/main">
            <a:r>
              <a:t>        "summary": "복수 모델의 적용·선택·비교를 지원하는 멀티모델 구조.",</a:t>
            </a:r>
          </a:p>
          <a:p xmlns:a="http://schemas.openxmlformats.org/drawingml/2006/main">
            <a:r>
              <a:t>        "data": "업무 유형·모델 설정 → 모델별 결과·비교 기록",</a:t>
            </a:r>
          </a:p>
          <a:p xmlns:a="http://schemas.openxmlformats.org/drawingml/2006/main">
            <a:r>
              <a:t>        "components": [</a:t>
            </a:r>
          </a:p>
          <a:p xmlns:a="http://schemas.openxmlformats.org/drawingml/2006/main">
            <a:r>
              <a:t>          "C04",</a:t>
            </a:r>
          </a:p>
          <a:p xmlns:a="http://schemas.openxmlformats.org/drawingml/2006/main">
            <a:r>
              <a:t>          "C08"</a:t>
            </a:r>
          </a:p>
          <a:p xmlns:a="http://schemas.openxmlformats.org/drawingml/2006/main">
            <a:r>
              <a:t>        ],</a:t>
            </a:r>
          </a:p>
          <a:p xmlns:a="http://schemas.openxmlformats.org/drawingml/2006/main">
            <a:r>
              <a:t>        "acceptance": "같은 입력의 모델별 정확성·시간·비용과 오류 발생 시 처리 경로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"a446f7c2f5ef6677204833f37fa4bbda4bae700a5c3c1b2e4e8a729dc569f518"</a:t>
            </a:r>
          </a:p>
          <a:p xmlns:a="http://schemas.openxmlformats.org/drawingml/2006/main">
            <a:r>
              <a:t>      },</a:t>
            </a:r>
          </a:p>
          <a:p xmlns:a="http://schemas.openxmlformats.org/drawingml/2006/main">
            <a:r>
              <a:t>      {</a:t>
            </a:r>
          </a:p>
          <a:p xmlns:a="http://schemas.openxmlformats.org/drawingml/2006/main">
            <a:r>
              <a:t>        "id": "SFR-009",</a:t>
            </a:r>
          </a:p>
          <a:p xmlns:a="http://schemas.openxmlformats.org/drawingml/2006/main">
            <a:r>
              <a:t>        "title": "지능형 질의응답 고도화 체계 구축",</a:t>
            </a:r>
          </a:p>
          <a:p xmlns:a="http://schemas.openxmlformats.org/drawingml/2006/main">
            <a:r>
              <a:t>        "locator": "SFR-009",</a:t>
            </a:r>
          </a:p>
          <a:p xmlns:a="http://schemas.openxmlformats.org/drawingml/2006/main">
            <a:r>
              <a:t>        "summary": "질의의 업무 계획 수립과 도메인 에이전트 연결을 통한 질의응답 고도화.",</a:t>
            </a:r>
          </a:p>
          <a:p xmlns:a="http://schemas.openxmlformats.org/drawingml/2006/main">
            <a:r>
              <a:t>        "data": "복합 업무 질의 → 단계별 계획·도구 결과·응답",</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"C07"</a:t>
            </a:r>
          </a:p>
          <a:p xmlns:a="http://schemas.openxmlformats.org/drawingml/2006/main">
            <a:r>
              <a:t>        ],</a:t>
            </a:r>
          </a:p>
          <a:p xmlns:a="http://schemas.openxmlformats.org/drawingml/2006/main">
            <a:r>
              <a:t>        "acceptance": "계획 일부 실패·불필요한 도구 호출·담당 영역 혼동 시 중단·재계획 경로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"86afdf5c09bd02dc72865179ec33f762956a14ddf1cf170340996155bdafaf57"</a:t>
            </a:r>
          </a:p>
          <a:p xmlns:a="http://schemas.openxmlformats.org/drawingml/2006/main">
            <a:r>
              <a:t>      },</a:t>
            </a:r>
          </a:p>
          <a:p xmlns:a="http://schemas.openxmlformats.org/drawingml/2006/main">
            <a:r>
              <a:t>      {</a:t>
            </a:r>
          </a:p>
          <a:p xmlns:a="http://schemas.openxmlformats.org/drawingml/2006/main">
            <a:r>
              <a:t>        "id": "SFR-010",</a:t>
            </a:r>
          </a:p>
          <a:p xmlns:a="http://schemas.openxmlformats.org/drawingml/2006/main">
            <a:r>
              <a:t>        "title": "문서 자동 생성 지원",</a:t>
            </a:r>
          </a:p>
          <a:p xmlns:a="http://schemas.openxmlformats.org/drawingml/2006/main">
            <a:r>
              <a:t>        "locator": "SFR-010",</a:t>
            </a:r>
          </a:p>
          <a:p xmlns:a="http://schemas.openxmlformats.org/drawingml/2006/main">
            <a:r>
              <a:t>        "summary": "템플릿·메타데이터·내부 자료를 활용한 정형 문서 생성 지원.",</a:t>
            </a:r>
          </a:p>
          <a:p xmlns:a="http://schemas.openxmlformats.org/drawingml/2006/main">
            <a:r>
              <a:t>        "data": "양식·필수 항목·근거 자료 → 편집 가능한 문서 초안",</a:t>
            </a:r>
          </a:p>
          <a:p xmlns:a="http://schemas.openxmlformats.org/drawingml/2006/main">
            <a:r>
              <a:t>        "components": [</a:t>
            </a:r>
          </a:p>
          <a:p xmlns:a="http://schemas.openxmlformats.org/drawingml/2006/main">
            <a:r>
              <a:t>          "C04",</a:t>
            </a:r>
          </a:p>
          <a:p xmlns:a="http://schemas.openxmlformats.org/drawingml/2006/main">
            <a:r>
              <a:t>          "C05",</a:t>
            </a:r>
          </a:p>
          <a:p xmlns:a="http://schemas.openxmlformats.org/drawingml/2006/main">
            <a:r>
              <a:t>          "C06"</a:t>
            </a:r>
          </a:p>
          <a:p xmlns:a="http://schemas.openxmlformats.org/drawingml/2006/main">
            <a:r>
              <a:t>        ],</a:t>
            </a:r>
          </a:p>
          <a:p xmlns:a="http://schemas.openxmlformats.org/drawingml/2006/main">
            <a:r>
              <a:t>        "acceptance": "필수 항목 누락·다른 양식 판본·숫자 인용 오류의 검출과 사용자 수정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"20df882404a76e75b24ff57eaa67d2d18ca56387f99e065033be13396d4a5f00"</a:t>
            </a:r>
          </a:p>
          <a:p xmlns:a="http://schemas.openxmlformats.org/drawingml/2006/main">
            <a:r>
              <a:t>      },</a:t>
            </a:r>
          </a:p>
          <a:p xmlns:a="http://schemas.openxmlformats.org/drawingml/2006/main">
            <a:r>
              <a:t>      {</a:t>
            </a:r>
          </a:p>
          <a:p xmlns:a="http://schemas.openxmlformats.org/drawingml/2006/main">
            <a:r>
              <a:t>        "id": "SFR-012",</a:t>
            </a:r>
          </a:p>
          <a:p xmlns:a="http://schemas.openxmlformats.org/drawingml/2006/main">
            <a:r>
              <a:t>        "title": "AI 서비스 운영 모니터링 체계구축",</a:t>
            </a:r>
          </a:p>
          <a:p xmlns:a="http://schemas.openxmlformats.org/drawingml/2006/main">
            <a:r>
              <a:t>        "locator": "SFR-012",</a:t>
            </a:r>
          </a:p>
          <a:p xmlns:a="http://schemas.openxmlformats.org/drawingml/2006/main">
            <a:r>
              <a:t>        "summary": "AI 서비스의 처리·이용·품질 상태를 확인하는 운영 모니터링 체계.",</a:t>
            </a:r>
          </a:p>
          <a:p xmlns:a="http://schemas.openxmlformats.org/drawingml/2006/main">
            <a:r>
              <a:t>        "data": "호출·서비스 상태·오류 → 관측 지표·운영 기록",</a:t>
            </a:r>
          </a:p>
          <a:p xmlns:a="http://schemas.openxmlformats.org/drawingml/2006/main">
            <a:r>
              <a:t>        "components": [</a:t>
            </a:r>
          </a:p>
          <a:p xmlns:a="http://schemas.openxmlformats.org/drawingml/2006/main">
            <a:r>
              <a:t>          "C08"</a:t>
            </a:r>
          </a:p>
          <a:p xmlns:a="http://schemas.openxmlformats.org/drawingml/2006/main">
            <a:r>
              <a:t>        ],</a:t>
            </a:r>
          </a:p>
          <a:p xmlns:a="http://schemas.openxmlformats.org/drawingml/2006/main">
            <a:r>
              <a:t>        "acceptance": "한 요청의 검색·모델·도구 단계를 연결해 실패 지점과 지연 원인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"253bfe0e809bb087229cb4b40f86856252a906181714e2b1a1a84d46237d7570"</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"연구행정 접점",</a:t>
            </a:r>
          </a:p>
          <a:p xmlns:a="http://schemas.openxmlformats.org/drawingml/2006/main">
            <a:r>
              <a:t>          "layer": "이용 접점",</a:t>
            </a:r>
          </a:p>
          <a:p xmlns:a="http://schemas.openxmlformats.org/drawingml/2006/main">
            <a:r>
              <a:t>          "detail": "연구직·행정직·플랫폼 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"소속·직무·이력",</a:t>
            </a:r>
          </a:p>
          <a:p xmlns:a="http://schemas.openxmlformats.org/drawingml/2006/main">
            <a:r>
              <a:t>          "layer": "업무 문맥",</a:t>
            </a:r>
          </a:p>
          <a:p xmlns:a="http://schemas.openxmlformats.org/drawingml/2006/main">
            <a:r>
              <a:t>          "detail": "소속·직무·검색 이력·진행업무 연결",</a:t>
            </a:r>
          </a:p>
          <a:p xmlns:a="http://schemas.openxmlformats.org/drawingml/2006/main">
            <a:r>
              <a:t>          "requirements": [</a:t>
            </a:r>
          </a:p>
          <a:p xmlns:a="http://schemas.openxmlformats.org/drawingml/2006/main">
            <a:r>
              <a:t>            "SFR-002",</a:t>
            </a:r>
          </a:p>
          <a:p xmlns:a="http://schemas.openxmlformats.org/drawingml/2006/main">
            <a:r>
              <a:t>            "SFR-003",</a:t>
            </a:r>
          </a:p>
          <a:p xmlns:a="http://schemas.openxmlformats.org/drawingml/2006/main">
            <a:r>
              <a:t>            "SFR-007",</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"업무 검색 재정렬",</a:t>
            </a:r>
          </a:p>
          <a:p xmlns:a="http://schemas.openxmlformats.org/drawingml/2006/main">
            <a:r>
              <a:t>          "layer": "자료 조회",</a:t>
            </a:r>
          </a:p>
          <a:p xmlns:a="http://schemas.openxmlformats.org/drawingml/2006/main">
            <a:r>
              <a:t>          "detail": "직무·질문",</a:t>
            </a:r>
          </a:p>
          <a:p xmlns:a="http://schemas.openxmlformats.org/drawingml/2006/main">
            <a:r>
              <a:t>          "requirements": [</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"에이전트·정형 생성",</a:t>
            </a:r>
          </a:p>
          <a:p xmlns:a="http://schemas.openxmlformats.org/drawingml/2006/main">
            <a:r>
              <a:t>          "layer": "핵심 처리",</a:t>
            </a:r>
          </a:p>
          <a:p xmlns:a="http://schemas.openxmlformats.org/drawingml/2006/main">
            <a:r>
              <a:t>          "detail": "질의 보정·재정렬·요약·양식별 생성",</a:t>
            </a:r>
          </a:p>
          <a:p xmlns:a="http://schemas.openxmlformats.org/drawingml/2006/main">
            <a:r>
              <a:t>          "requirements": [</a:t>
            </a:r>
          </a:p>
          <a:p xmlns:a="http://schemas.openxmlformats.org/drawingml/2006/main">
            <a:r>
              <a:t>            "SFR-002",</a:t>
            </a:r>
          </a:p>
          <a:p xmlns:a="http://schemas.openxmlformats.org/drawingml/2006/main">
            <a:r>
              <a:t>            "SFR-008",</a:t>
            </a:r>
          </a:p>
          <a:p xmlns:a="http://schemas.openxmlformats.org/drawingml/2006/main">
            <a:r>
              <a:t>            "SFR-009",</a:t>
            </a:r>
          </a:p>
          <a:p xmlns:a="http://schemas.openxmlformats.org/drawingml/2006/main">
            <a:r>
              <a:t>            "SFR-010"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"양식·근거 검사",</a:t>
            </a:r>
          </a:p>
          <a:p xmlns:a="http://schemas.openxmlformats.org/drawingml/2006/main">
            <a:r>
              <a:t>          "layer": "결과 검증",</a:t>
            </a:r>
          </a:p>
          <a:p xmlns:a="http://schemas.openxmlformats.org/drawingml/2006/main">
            <a:r>
              <a:t>          "detail": "기존 검색 대비 근거·완료시간 평가",</a:t>
            </a:r>
          </a:p>
          <a:p xmlns:a="http://schemas.openxmlformats.org/drawingml/2006/main">
            <a:r>
              <a:t>          "requirements": [</a:t>
            </a:r>
          </a:p>
          <a:p xmlns:a="http://schemas.openxmlformats.org/drawingml/2006/main">
            <a:r>
              <a:t>            "SFR-010"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"작성 담당 확인",</a:t>
            </a:r>
          </a:p>
          <a:p xmlns:a="http://schemas.openxmlformats.org/drawingml/2006/main">
            <a:r>
              <a:t>          "layer": "사람 확인",</a:t>
            </a:r>
          </a:p>
          <a:p xmlns:a="http://schemas.openxmlformats.org/drawingml/2006/main">
            <a:r>
              <a:t>          "detail": "동일 질의를 연구직·행정직 계정으로 실행해 검색·서식 비교",</a:t>
            </a:r>
          </a:p>
          <a:p xmlns:a="http://schemas.openxmlformats.org/drawingml/2006/main">
            <a:r>
              <a:t>          "requirements": [</a:t>
            </a:r>
          </a:p>
          <a:p xmlns:a="http://schemas.openxmlformats.org/drawingml/2006/main">
            <a:r>
              <a:t>            "SFR-010"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"문서 업무 연결",</a:t>
            </a:r>
          </a:p>
          <a:p xmlns:a="http://schemas.openxmlformats.org/drawingml/2006/main">
            <a:r>
              <a:t>          "layer": "업무 연결",</a:t>
            </a:r>
          </a:p>
          <a:p xmlns:a="http://schemas.openxmlformats.org/drawingml/2006/main">
            <a:r>
              <a:t>          "detail": "원문 근거와 목차·필드가 있는 초안 제공",</a:t>
            </a:r>
          </a:p>
          <a:p xmlns:a="http://schemas.openxmlformats.org/drawingml/2006/main">
            <a:r>
              <a:t>          "requirements": [</a:t>
            </a:r>
          </a:p>
          <a:p xmlns:a="http://schemas.openxmlformats.org/drawingml/2006/main">
            <a:r>
              <a:t>            "SFR-002",</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"토큰·회귀 평가",</a:t>
            </a:r>
          </a:p>
          <a:p xmlns:a="http://schemas.openxmlformats.org/drawingml/2006/main">
            <a:r>
              <a:t>          "layer": "운영 관측",</a:t>
            </a:r>
          </a:p>
          <a:p xmlns:a="http://schemas.openxmlformats.org/drawingml/2006/main">
            <a:r>
              <a:t>          "detail": "GPU 이중화·모델 롤백·부서별 토큰 계측",</a:t>
            </a:r>
          </a:p>
          <a:p xmlns:a="http://schemas.openxmlformats.org/drawingml/2006/main">
            <a:r>
              <a:t>          "requirements": [</a:t>
            </a:r>
          </a:p>
          <a:p xmlns:a="http://schemas.openxmlformats.org/drawingml/2006/main">
            <a:r>
              <a:t>            "SFR-008",</a:t>
            </a:r>
          </a:p>
          <a:p xmlns:a="http://schemas.openxmlformats.org/drawingml/2006/main">
            <a:r>
              <a:t>            "SFR-012"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"연구행정 자료",</a:t>
            </a:r>
          </a:p>
          <a:p xmlns:a="http://schemas.openxmlformats.org/drawingml/2006/main">
            <a:r>
              <a:t>          "layer": "데이터 원천",</a:t>
            </a:r>
          </a:p>
          <a:p xmlns:a="http://schemas.openxmlformats.org/drawingml/2006/main">
            <a:r>
              <a:t>          "detail": "연구행정 지식",</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"목차·문서 구조화",</a:t>
            </a:r>
          </a:p>
          <a:p xmlns:a="http://schemas.openxmlformats.org/drawingml/2006/main">
            <a:r>
              <a:t>          "layer": "준비·갱신",</a:t>
            </a:r>
          </a:p>
          <a:p xmlns:a="http://schemas.openxmlformats.org/drawingml/2006/main">
            <a:r>
              <a:t>          "detail": "문서·연구성과·전문가·양식의 색인 구성",</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"허용 지식·색인",</a:t>
            </a:r>
          </a:p>
          <a:p xmlns:a="http://schemas.openxmlformats.org/drawingml/2006/main">
            <a:r>
              <a:t>          "layer": "상태·지식 저장",</a:t>
            </a:r>
          </a:p>
          <a:p xmlns:a="http://schemas.openxmlformats.org/drawingml/2006/main">
            <a:r>
              <a:t>          "detail": "직무별 순위·근거·서식과 모델 전환·복구 결과",</a:t>
            </a:r>
          </a:p>
          <a:p xmlns:a="http://schemas.openxmlformats.org/drawingml/2006/main">
            <a:r>
              <a:t>          "requirements": [</a:t>
            </a:r>
          </a:p>
          <a:p xmlns:a="http://schemas.openxmlformats.org/drawingml/2006/main">
            <a:r>
              <a:t>            "SFR-004",</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"모델·롤백 정책",</a:t>
            </a:r>
          </a:p>
          <a:p xmlns:a="http://schemas.openxmlformats.org/drawingml/2006/main">
            <a:r>
              <a:t>          "layer": "권한·정책",</a:t>
            </a:r>
          </a:p>
          <a:p xmlns:a="http://schemas.openxmlformats.org/drawingml/2006/main">
            <a:r>
              <a:t>          "detail": "전보 전 캐시·권한 없는 연구자료·모델 장애",</a:t>
            </a:r>
          </a:p>
          <a:p xmlns:a="http://schemas.openxmlformats.org/drawingml/2006/main">
            <a:r>
              <a:t>          "requirements": [</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"소속·직무·검색 이력·진행업무 연결",</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"직무·질문",</a:t>
            </a:r>
          </a:p>
          <a:p xmlns:a="http://schemas.openxmlformats.org/drawingml/2006/main">
            <a:r>
              <a:t>          "check": "기존 검색 대비 근거·완료시간 평가"</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"재정렬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"정형 초안",</a:t>
            </a:r>
          </a:p>
          <a:p xmlns:a="http://schemas.openxmlformats.org/drawingml/2006/main">
            <a:r>
              <a:t>          "check": "전보 전 캐시·권한 없는 연구자료·모델 장애"</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"정형 초안",</a:t>
            </a:r>
          </a:p>
          <a:p xmlns:a="http://schemas.openxmlformats.org/drawingml/2006/main">
            <a:r>
              <a:t>          "check": "원문 근거와 목차·필드가 있는 초안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 문서",</a:t>
            </a:r>
          </a:p>
          <a:p xmlns:a="http://schemas.openxmlformats.org/drawingml/2006/main">
            <a:r>
              <a:t>          "check": "직무별 순위·근거·서식과 모델 전환·복구 결과"</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"SFR-007~012",</a:t>
            </a:r>
          </a:p>
          <a:p xmlns:a="http://schemas.openxmlformats.org/drawingml/2006/main">
            <a:r>
              <a:t>        "extracted": "부서·직무·검색이력을 이용한 재정렬과 정형 문서 생성",</a:t>
            </a:r>
          </a:p>
          <a:p xmlns:a="http://schemas.openxmlformats.org/drawingml/2006/main">
            <a:r>
              <a:t>        "extension": "검색 이력의 권한 확대 방지와 이전 모델 복귀 시험"</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"PF-R03",</a:t>
            </a:r>
          </a:p>
          <a:p xmlns:a="http://schemas.openxmlformats.org/drawingml/2006/main">
            <a:r>
              <a:t>          "path": "assets/casebook-sources/PF-R03-01.png",</a:t>
            </a:r>
          </a:p>
          <a:p xmlns:a="http://schemas.openxmlformats.org/drawingml/2006/main">
            <a:r>
              <a:t>          "title": "생산기술연구원 정보시스템 연계",</a:t>
            </a:r>
          </a:p>
          <a:p xmlns:a="http://schemas.openxmlformats.org/drawingml/2006/main">
            <a:r>
              <a:t>          "status": "RFP 수록 기존 정보시스템 현황",</a:t>
            </a:r>
          </a:p>
          <a:p xmlns:a="http://schemas.openxmlformats.org/drawingml/2006/main">
            <a:r>
              <a:t>          "caption": "연구행정·경영정보·업무지원·지능형 포털 간 연계",</a:t>
            </a:r>
          </a:p>
          <a:p xmlns:a="http://schemas.openxmlformats.org/drawingml/2006/main">
            <a:r>
              <a:t>          "locator": "rId13 / BinData/BIN0002_png",</a:t>
            </a:r>
          </a:p>
          <a:p xmlns:a="http://schemas.openxmlformats.org/drawingml/2006/main">
            <a:r>
              <a:t>          "checked": "2026-10-16",</a:t>
            </a:r>
          </a:p>
          <a:p xmlns:a="http://schemas.openxmlformats.org/drawingml/2006/main">
            <a:r>
              <a:t>          "sha256": "0b49ad15a2d50888b15fdc4d6bb439874425106d7d0a2cf9b92b1c3debb0025b",</a:t>
            </a:r>
          </a:p>
          <a:p xmlns:a="http://schemas.openxmlformats.org/drawingml/2006/main">
            <a:r>
              <a:t>          "explanation": {</a:t>
            </a:r>
          </a:p>
          <a:p xmlns:a="http://schemas.openxmlformats.org/drawingml/2006/main">
            <a:r>
              <a:t>            "read": "연구행정·경영정보·업무지원과 지능형 포털의 기존 연결 현황. 새 AI 모델의 배치도가 아니라 어떤 업무 데이터와 시스템을 고도화 시 연결해야 하는지를 보여 주는 원문.",</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"SFR-007",</a:t>
            </a:r>
          </a:p>
          <a:p xmlns:a="http://schemas.openxmlformats.org/drawingml/2006/main">
            <a:r>
              <a:t>              "SFR-010"</a:t>
            </a:r>
          </a:p>
          <a:p xmlns:a="http://schemas.openxmlformats.org/drawingml/2006/main">
            <a:r>
              <a:t>            ],</a:t>
            </a:r>
          </a:p>
          <a:p xmlns:a="http://schemas.openxmlformats.org/drawingml/2006/main">
            <a:r>
              <a:t>            "connection": "기존 사용자·조직·권한과 연구행정 자료를 재사용하고 직무별 검색, 도메인 도구, 정형 문서 생성을 추가하는 대상 경계의 설정."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"전보 전 캐시·권한 없는 연구자료·모델 장애",</a:t>
            </a:r>
          </a:p>
          <a:p xmlns:a="http://schemas.openxmlformats.org/drawingml/2006/main">
            <a:r>
              <a:t>        "hold": "기존 검색 대비 근거·완료시간 평가",</a:t>
            </a:r>
          </a:p>
          <a:p xmlns:a="http://schemas.openxmlformats.org/drawingml/2006/main">
            <a:r>
              <a:t>        "recovery": "GPU 이중화·모델 롤백·부서별 토큰 계측",</a:t>
            </a:r>
          </a:p>
          <a:p xmlns:a="http://schemas.openxmlformats.org/drawingml/2006/main">
            <a:r>
              <a:t>        "evidence": "직무별 순위·근거·서식과 모델 전환·복구 결과"</a:t>
            </a:r>
          </a:p>
          <a:p xmlns:a="http://schemas.openxmlformats.org/drawingml/2006/main">
            <a:r>
              <a:t>      },</a:t>
            </a:r>
          </a:p>
          <a:p xmlns:a="http://schemas.openxmlformats.org/drawingml/2006/main">
            <a:r>
              <a:t>      "data": {</a:t>
            </a:r>
          </a:p>
          <a:p xmlns:a="http://schemas.openxmlformats.org/drawingml/2006/main">
            <a:r>
              <a:t>        "source": "연구행정 지식",</a:t>
            </a:r>
          </a:p>
          <a:p xmlns:a="http://schemas.openxmlformats.org/drawingml/2006/main">
            <a:r>
              <a:t>        "prepare": "문서·연구성과·전문가·양식의 색인 구성",</a:t>
            </a:r>
          </a:p>
          <a:p xmlns:a="http://schemas.openxmlformats.org/drawingml/2006/main">
            <a:r>
              <a:t>        "output": "직무·질문",</a:t>
            </a:r>
          </a:p>
          <a:p xmlns:a="http://schemas.openxmlformats.org/drawingml/2006/main">
            <a:r>
              <a:t>        "refresh": "GPU 이중화·모델 롤백·부서별 토큰 계측"</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"PF-R03",</a:t>
            </a:r>
          </a:p>
          <a:p xmlns:a="http://schemas.openxmlformats.org/drawingml/2006/main">
            <a:r>
              <a:t>    "success": [</a:t>
            </a:r>
          </a:p>
          <a:p xmlns:a="http://schemas.openxmlformats.org/drawingml/2006/main">
            <a:r>
              <a:t>      "기존 연구행정 검색의 고도화",</a:t>
            </a:r>
          </a:p>
          <a:p xmlns:a="http://schemas.openxmlformats.org/drawingml/2006/main">
            <a:r>
              <a:t>      "업무별 에이전트·정형 출력 구성"</a:t>
            </a:r>
          </a:p>
          <a:p xmlns:a="http://schemas.openxmlformats.org/drawingml/2006/main">
            <a:r>
              <a:t>    ],</a:t>
            </a:r>
          </a:p>
          <a:p xmlns:a="http://schemas.openxmlformats.org/drawingml/2006/main">
            <a:r>
              <a:t>    "risks": [</a:t>
            </a:r>
          </a:p>
          <a:p xmlns:a="http://schemas.openxmlformats.org/drawingml/2006/main">
            <a:r>
              <a:t>      "검색 재정렬의 근거 누락",</a:t>
            </a:r>
          </a:p>
          <a:p xmlns:a="http://schemas.openxmlformats.org/drawingml/2006/main">
            <a:r>
              <a:t>      "후속 공고와 도입 완료의 혼동"</a:t>
            </a:r>
          </a:p>
          <a:p xmlns:a="http://schemas.openxmlformats.org/drawingml/2006/main">
            <a:r>
              <a:t>    ],</a:t>
            </a:r>
          </a:p>
          <a:p xmlns:a="http://schemas.openxmlformats.org/drawingml/2006/main">
            <a:r>
              <a:t>    "architecture": [</a:t>
            </a:r>
          </a:p>
          <a:p xmlns:a="http://schemas.openxmlformats.org/drawingml/2006/main">
            <a:r>
              <a:t>      "연구행정 사용자",</a:t>
            </a:r>
          </a:p>
          <a:p xmlns:a="http://schemas.openxmlformats.org/drawingml/2006/main">
            <a:r>
              <a:t>      "검색·업무 에이전트",</a:t>
            </a:r>
          </a:p>
          <a:p xmlns:a="http://schemas.openxmlformats.org/drawingml/2006/main">
            <a:r>
              <a:t>      "연구행정 지식",</a:t>
            </a:r>
          </a:p>
          <a:p xmlns:a="http://schemas.openxmlformats.org/drawingml/2006/main">
            <a:r>
              <a:t>      "문서 작성 담당"</a:t>
            </a:r>
          </a:p>
          <a:p xmlns:a="http://schemas.openxmlformats.org/drawingml/2006/main">
            <a:r>
              <a:t>    ],</a:t>
            </a:r>
          </a:p>
          <a:p xmlns:a="http://schemas.openxmlformats.org/drawingml/2006/main">
            <a:r>
              <a:t>    "transfers": [</a:t>
            </a:r>
          </a:p>
          <a:p xmlns:a="http://schemas.openxmlformats.org/drawingml/2006/main">
            <a:r>
              <a:t>      "직무·질문",</a:t>
            </a:r>
          </a:p>
          <a:p xmlns:a="http://schemas.openxmlformats.org/drawingml/2006/main">
            <a:r>
              <a:t>      "재정렬 근거",</a:t>
            </a:r>
          </a:p>
          <a:p xmlns:a="http://schemas.openxmlformats.org/drawingml/2006/main">
            <a:r>
              <a:t>      "정형 초안",</a:t>
            </a:r>
          </a:p>
          <a:p xmlns:a="http://schemas.openxmlformats.org/drawingml/2006/main">
            <a:r>
              <a:t>      "검토 문서"</a:t>
            </a:r>
          </a:p>
          <a:p xmlns:a="http://schemas.openxmlformats.org/drawingml/2006/main">
            <a:r>
              <a:t>    ],</a:t>
            </a:r>
          </a:p>
          <a:p xmlns:a="http://schemas.openxmlformats.org/drawingml/2006/main">
            <a:r>
              <a:t>    "control": "기존 검색 대비 근거·완료시간 평가",</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SFR-007~012 / Word T044 https://www.g2b.go.kr/pn/pnp/pnpe/UntyAtchFile/downloadFile.do?bidPbancNo=R26BK01670411&amp;bidPbancOrd=000&amp;fileType=&amp;fileSeq=1&amp;prcmBsneSeCd=03</a:t>
            </a:r>
          </a:p>
          <a:p xmlns:a="http://schemas.openxmlformats.org/drawingml/2006/main">
            <a:r>
              <a:t>홈페이지 https://heen1987-ops.github.io/TS-business-Plan-001/index.html?view=platform-cases&amp;case=PF-R03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"PF-R04",</a:t>
            </a:r>
          </a:p>
          <a:p xmlns:a="http://schemas.openxmlformats.org/drawingml/2006/main">
            <a:r>
              <a:t>    "sourceId": "R04",</a:t>
            </a:r>
          </a:p>
          <a:p xmlns:a="http://schemas.openxmlformats.org/drawingml/2006/main">
            <a:r>
              <a:t>    "title": "지역난방공사 안전 LLM",</a:t>
            </a:r>
          </a:p>
          <a:p xmlns:a="http://schemas.openxmlformats.org/drawingml/2006/main">
            <a:r>
              <a:t>    "region": "국내",</a:t>
            </a:r>
          </a:p>
          <a:p xmlns:a="http://schemas.openxmlformats.org/drawingml/2006/main">
            <a:r>
              <a:t>    "owner": "한국지역난방공사",</a:t>
            </a:r>
          </a:p>
          <a:p xmlns:a="http://schemas.openxmlformats.org/drawingml/2006/main">
            <a:r>
              <a:t>    "state": "공식 RFP·과업내용서 + 공급사 계약 발표 확인",</a:t>
            </a:r>
          </a:p>
          <a:p xmlns:a="http://schemas.openxmlformats.org/drawingml/2006/main">
            <a:r>
              <a:t>    "period": "기존 원장 확인 2026.10.16",</a:t>
            </a:r>
          </a:p>
          <a:p xmlns:a="http://schemas.openxmlformats.org/drawingml/2006/main">
            <a:r>
              <a:t>    "fact": "안전분야 LLM과 사내 검색·문서 검토·개인/부서 지식공간",</a:t>
            </a:r>
          </a:p>
          <a:p xmlns:a="http://schemas.openxmlformats.org/drawingml/2006/main">
            <a:r>
              <a:t>    "limit": "Temperature를 상세도와 동일시한 원문 표현은 구현 검증 필요",</a:t>
            </a:r>
          </a:p>
          <a:p xmlns:a="http://schemas.openxmlformats.org/drawingml/2006/main">
            <a:r>
              <a:t>    "nodes": [</a:t>
            </a:r>
          </a:p>
          <a:p xmlns:a="http://schemas.openxmlformats.org/drawingml/2006/main">
            <a:r>
              <a:t>      "안전·규정 지식",</a:t>
            </a:r>
          </a:p>
          <a:p xmlns:a="http://schemas.openxmlformats.org/drawingml/2006/main">
            <a:r>
              <a:t>      "권한별 검색",</a:t>
            </a:r>
          </a:p>
          <a:p xmlns:a="http://schemas.openxmlformats.org/drawingml/2006/main">
            <a:r>
              <a:t>      "문서 검토",</a:t>
            </a:r>
          </a:p>
          <a:p xmlns:a="http://schemas.openxmlformats.org/drawingml/2006/main">
            <a:r>
              <a:t>      "현업 피드백"</a:t>
            </a:r>
          </a:p>
          <a:p xmlns:a="http://schemas.openxmlformats.org/drawingml/2006/main">
            <a:r>
              <a:t>    ],</a:t>
            </a:r>
          </a:p>
          <a:p xmlns:a="http://schemas.openxmlformats.org/drawingml/2006/main">
            <a:r>
              <a:t>    "apply": "안전 지식의 소유부서·효력일·상충 근거를 함께 관리하는 검토 체계",</a:t>
            </a:r>
          </a:p>
          <a:p xmlns:a="http://schemas.openxmlformats.org/drawingml/2006/main">
            <a:r>
              <a:t>    "delta": "안전 규정 효력일·소유부서 / 자동 갱신 / 상충 근거 표시",</a:t>
            </a:r>
          </a:p>
          <a:p xmlns:a="http://schemas.openxmlformats.org/drawingml/2006/main">
            <a:r>
              <a:t>    "test": "개정·폐지·권한 제한·상충 문서의 검색 및 검토 결과 대조",</a:t>
            </a:r>
          </a:p>
          <a:p xmlns:a="http://schemas.openxmlformats.org/drawingml/2006/main">
            <a:r>
              <a:t>    "url": "https://www.g2b.go.kr/pn/pnp/pnpe/UntyAtchFile/downloadFile.do?bidPbancNo=R25BK00790330&amp;bidPbancOrd=000&amp;fileSeq=8&amp;fileType=",</a:t>
            </a:r>
          </a:p>
          <a:p xmlns:a="http://schemas.openxmlformats.org/drawingml/2006/main">
            <a:r>
              <a:t>    "urls": [</a:t>
            </a:r>
          </a:p>
          <a:p xmlns:a="http://schemas.openxmlformats.org/drawingml/2006/main">
            <a:r>
              <a:t>      "https://www.g2b.go.kr/pn/pnp/pnpe/UntyAtchFile/downloadFile.do?bidPbancNo=R25BK00790330&amp;bidPbancOrd=000&amp;fileSeq=8&amp;fileType=",</a:t>
            </a:r>
          </a:p>
          <a:p xmlns:a="http://schemas.openxmlformats.org/drawingml/2006/main">
            <a:r>
              <a:t>      "https://gridone.co.kr/community/news/143"</a:t>
            </a:r>
          </a:p>
          <a:p xmlns:a="http://schemas.openxmlformats.org/drawingml/2006/main">
            <a:r>
              <a:t>    ],</a:t>
            </a:r>
          </a:p>
          <a:p xmlns:a="http://schemas.openxmlformats.org/drawingml/2006/main">
            <a:r>
              <a:t>    "basis": "SFR-005~008 (과업내용서) / Word T053",</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"구버전 인용률 / 개정 반영 지연 / 검토 누락률",</a:t>
            </a:r>
          </a:p>
          <a:p xmlns:a="http://schemas.openxmlformats.org/drawingml/2006/main">
            <a:r>
              <a:t>    "group": "요구·구축",</a:t>
            </a:r>
          </a:p>
          <a:p xmlns:a="http://schemas.openxmlformats.org/drawingml/2006/main">
            <a:r>
              <a:t>    "sourceDetail": "자동 문서 최신화, 규정 대조, 권한별 지식 폴더, RAG 파이프라인·피드백·상충 출처 표시",</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"PF-R04",</a:t>
            </a:r>
          </a:p>
          <a:p xmlns:a="http://schemas.openxmlformats.org/drawingml/2006/main">
            <a:r>
              <a:t>    "canonicalId": "PF-R04",</a:t>
            </a:r>
          </a:p>
          <a:p xmlns:a="http://schemas.openxmlformats.org/drawingml/2006/main">
            <a:r>
              <a:t>    "purpose": "안전 지식검색과 규정 대조의 업무 적용",</a:t>
            </a:r>
          </a:p>
          <a:p xmlns:a="http://schemas.openxmlformats.org/drawingml/2006/main">
            <a:r>
              <a:t>    "users": "안전 담당·부서 지식 관리자",</a:t>
            </a:r>
          </a:p>
          <a:p xmlns:a="http://schemas.openxmlformats.org/drawingml/2006/main">
            <a:r>
              <a:t>    "scope": [</a:t>
            </a:r>
          </a:p>
          <a:p xmlns:a="http://schemas.openxmlformats.org/drawingml/2006/main">
            <a:r>
              <a:t>      "안전 LLM",</a:t>
            </a:r>
          </a:p>
          <a:p xmlns:a="http://schemas.openxmlformats.org/drawingml/2006/main">
            <a:r>
              <a:t>      "문서 검토",</a:t>
            </a:r>
          </a:p>
          <a:p xmlns:a="http://schemas.openxmlformats.org/drawingml/2006/main">
            <a:r>
              <a:t>      "부서 지식공간"</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"안전 현업",</a:t>
            </a:r>
          </a:p>
          <a:p xmlns:a="http://schemas.openxmlformats.org/drawingml/2006/main">
            <a:r>
              <a:t>        "detail": "사용자 권한·문서 공간·검토 목적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"안전 LLM / 문서 검토 / 부서 지식공간",</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"권한 검색·문서 검토",</a:t>
            </a:r>
          </a:p>
          <a:p xmlns:a="http://schemas.openxmlformats.org/drawingml/2006/main">
            <a:r>
              <a:t>        "detail": "RAG 검색과 제출 문서·규정 비교",</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"검토 담당",</a:t>
            </a:r>
          </a:p>
          <a:p xmlns:a="http://schemas.openxmlformats.org/drawingml/2006/main">
            <a:r>
              <a:t>        "detail": "상충 근거·검토 의견을 현업에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"안전 규정·부서 지식",</a:t>
            </a:r>
          </a:p>
          <a:p xmlns:a="http://schemas.openxmlformats.org/drawingml/2006/main">
            <a:r>
              <a:t>        "detail": "연계 문서 자동 갱신·권한 폴더·출처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"피드백·개정 반영·권한별 검색 결과 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"안전·규정 지식",</a:t>
            </a:r>
          </a:p>
          <a:p xmlns:a="http://schemas.openxmlformats.org/drawingml/2006/main">
            <a:r>
              <a:t>        "input": "사용자 권한·문서 공간·검토 목적 확인",</a:t>
            </a:r>
          </a:p>
          <a:p xmlns:a="http://schemas.openxmlformats.org/drawingml/2006/main">
            <a:r>
              <a:t>        "process": "연계 문서 자동 갱신·권한 폴더·출처 관리",</a:t>
            </a:r>
          </a:p>
          <a:p xmlns:a="http://schemas.openxmlformats.org/drawingml/2006/main">
            <a:r>
              <a:t>        "output": "안전 문서"</a:t>
            </a:r>
          </a:p>
          <a:p xmlns:a="http://schemas.openxmlformats.org/drawingml/2006/main">
            <a:r>
              <a:t>      },</a:t>
            </a:r>
          </a:p>
          <a:p xmlns:a="http://schemas.openxmlformats.org/drawingml/2006/main">
            <a:r>
              <a:t>      {</a:t>
            </a:r>
          </a:p>
          <a:p xmlns:a="http://schemas.openxmlformats.org/drawingml/2006/main">
            <a:r>
              <a:t>        "title": "권한별 검색",</a:t>
            </a:r>
          </a:p>
          <a:p xmlns:a="http://schemas.openxmlformats.org/drawingml/2006/main">
            <a:r>
              <a:t>        "input": "안전 문서",</a:t>
            </a:r>
          </a:p>
          <a:p xmlns:a="http://schemas.openxmlformats.org/drawingml/2006/main">
            <a:r>
              <a:t>        "process": "RAG 검색과 제출 문서·규정 비교",</a:t>
            </a:r>
          </a:p>
          <a:p xmlns:a="http://schemas.openxmlformats.org/drawingml/2006/main">
            <a:r>
              <a:t>        "output": "허용 지식"</a:t>
            </a:r>
          </a:p>
          <a:p xmlns:a="http://schemas.openxmlformats.org/drawingml/2006/main">
            <a:r>
              <a:t>      },</a:t>
            </a:r>
          </a:p>
          <a:p xmlns:a="http://schemas.openxmlformats.org/drawingml/2006/main">
            <a:r>
              <a:t>      {</a:t>
            </a:r>
          </a:p>
          <a:p xmlns:a="http://schemas.openxmlformats.org/drawingml/2006/main">
            <a:r>
              <a:t>        "title": "문서 검토",</a:t>
            </a:r>
          </a:p>
          <a:p xmlns:a="http://schemas.openxmlformats.org/drawingml/2006/main">
            <a:r>
              <a:t>        "input": "허용 지식",</a:t>
            </a:r>
          </a:p>
          <a:p xmlns:a="http://schemas.openxmlformats.org/drawingml/2006/main">
            <a:r>
              <a:t>        "process": "권한·판본별 안전 질의 정답 대조",</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"title": "현업 피드백",</a:t>
            </a:r>
          </a:p>
          <a:p xmlns:a="http://schemas.openxmlformats.org/drawingml/2006/main">
            <a:r>
              <a:t>        "input": "검토 초안",</a:t>
            </a:r>
          </a:p>
          <a:p xmlns:a="http://schemas.openxmlformats.org/drawingml/2006/main">
            <a:r>
              <a:t>        "process": "상충 근거·검토 의견을 현업에 제공",</a:t>
            </a:r>
          </a:p>
          <a:p xmlns:a="http://schemas.openxmlformats.org/drawingml/2006/main">
            <a:r>
              <a:t>        "output": "피드백"</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"안전 문서를 최신 규정과 대조하고 부서 공간에서 검토",</a:t>
            </a:r>
          </a:p>
          <a:p xmlns:a="http://schemas.openxmlformats.org/drawingml/2006/main">
            <a:r>
              <a:t>      "exception": "폐지 규정·부서 제한 문서·서로 상충하는 출처",</a:t>
            </a:r>
          </a:p>
          <a:p xmlns:a="http://schemas.openxmlformats.org/drawingml/2006/main">
            <a:r>
              <a:t>      "evidence": "판본·권한별 응답과 상충 근거 표시·수정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"안전 담당·부서 지식 관리자",</a:t>
            </a:r>
          </a:p>
          <a:p xmlns:a="http://schemas.openxmlformats.org/drawingml/2006/main">
            <a:r>
              <a:t>          "processing": "사용자 권한·문서 공간·검토 목적 확인",</a:t>
            </a:r>
          </a:p>
          <a:p xmlns:a="http://schemas.openxmlformats.org/drawingml/2006/main">
            <a:r>
              <a:t>          "output": "안전 문서"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"안전 규정·부서 지식",</a:t>
            </a:r>
          </a:p>
          <a:p xmlns:a="http://schemas.openxmlformats.org/drawingml/2006/main">
            <a:r>
              <a:t>          "processing": "연계 문서 자동 갱신·권한 폴더·출처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"안전 문서",</a:t>
            </a:r>
          </a:p>
          <a:p xmlns:a="http://schemas.openxmlformats.org/drawingml/2006/main">
            <a:r>
              <a:t>          "processing": "RAG 검색과 제출 문서·규정 비교",</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"검토 초안",</a:t>
            </a:r>
          </a:p>
          <a:p xmlns:a="http://schemas.openxmlformats.org/drawingml/2006/main">
            <a:r>
              <a:t>          "processing": "상충 근거·검토 의견을 현업에 제공",</a:t>
            </a:r>
          </a:p>
          <a:p xmlns:a="http://schemas.openxmlformats.org/drawingml/2006/main">
            <a:r>
              <a:t>          "output": "피드백"</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"피드백·개정 반영·권한별 검색 결과 검사",</a:t>
            </a:r>
          </a:p>
          <a:p xmlns:a="http://schemas.openxmlformats.org/drawingml/2006/main">
            <a:r>
              <a:t>          "output": "판본·권한별 응답과 상충 근거 표시·수정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"피드백·개정 반영·권한별 검색 결과 검사",</a:t>
            </a:r>
          </a:p>
          <a:p xmlns:a="http://schemas.openxmlformats.org/drawingml/2006/main">
            <a:r>
              <a:t>    "status": "RFP 기반 논리 설계",</a:t>
            </a:r>
          </a:p>
          <a:p xmlns:a="http://schemas.openxmlformats.org/drawingml/2006/main">
            <a:r>
              <a:t>    "basis": "과업내용서 2025.03 · SFR-005~008",</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"SFR-005~008 (과업내용서) / Word T053",</a:t>
            </a:r>
          </a:p>
          <a:p xmlns:a="http://schemas.openxmlformats.org/drawingml/2006/main">
            <a:r>
              <a:t>        "url": "https://www.g2b.go.kr/pn/pnp/pnpe/UntyAtchFile/downloadFile.do?bidPbancNo=R25BK00790330&amp;bidPbancOrd=000&amp;fileSeq=8&amp;fileType="</a:t>
            </a:r>
          </a:p>
          <a:p xmlns:a="http://schemas.openxmlformats.org/drawingml/2006/main">
            <a:r>
              <a:t>      }</a:t>
            </a:r>
          </a:p>
          <a:p xmlns:a="http://schemas.openxmlformats.org/drawingml/2006/main">
            <a:r>
              <a:t>    ],</a:t>
            </a:r>
          </a:p>
          <a:p xmlns:a="http://schemas.openxmlformats.org/drawingml/2006/main">
            <a:r>
              <a:t>    "implication": "안전 지식의 소유부서·효력일·상충 근거를 함께 관리하는 검토 체계",</a:t>
            </a:r>
          </a:p>
          <a:p xmlns:a="http://schemas.openxmlformats.org/drawingml/2006/main">
            <a:r>
              <a:t>    "local": "안전 지식의 소유부서·효력일·상충 근거를 함께 관리하는 검토 체계",</a:t>
            </a:r>
          </a:p>
          <a:p xmlns:a="http://schemas.openxmlformats.org/drawingml/2006/main">
            <a:r>
              <a:t>    "sourceDetail": "자동 문서 최신화, 규정 대조, 권한별 지식 폴더, RAG 파이프라인·피드백·상충 출처 표시",</a:t>
            </a:r>
          </a:p>
          <a:p xmlns:a="http://schemas.openxmlformats.org/drawingml/2006/main">
            <a:r>
              <a:t>    "narrative": [</a:t>
            </a:r>
          </a:p>
          <a:p xmlns:a="http://schemas.openxmlformats.org/drawingml/2006/main">
            <a:r>
              <a:t>      "내부 안전 규정·작업절차를 활용하는 안전 AI와 외부 상용 LLM을 이용하는 AI 서치를 구분한 시범구축. 범용 문서 작성뿐 아니라 제출 문서를 규정과 대조하고, 개인·부서 지식공간을 구성하는 업무 범위.",</a:t>
            </a:r>
          </a:p>
          <a:p xmlns:a="http://schemas.openxmlformats.org/drawingml/2006/main">
            <a:r>
              <a:t>      "원문 예시 도면에서는 통합 UI 아래 DMZ의 AI 서치와 내부 안전 AI·RAG·LLM·DB를 분리. 과업내용서는 문서 자동 최신화, 부서별 접근권한, 청크·임베딩 품질 확인, 실패 문서 재처리까지 요구. 업로드 성공과 검색 가능한 지식 등록 완료의 별도 상태 관리.",</a:t>
            </a:r>
          </a:p>
          <a:p xmlns:a="http://schemas.openxmlformats.org/drawingml/2006/main">
            <a:r>
              <a:t>      "CCK에서는 안전 답변의 문장 품질과 규정 판본·접근권한의 정확성을 별도 시험할 필요. 상충하는 두 규정이 검색될 때 한쪽을 감추기보다 근거와 적용 시점을 함께 제시하는 구조. 외부 모델과 내부 자료의 전달 경계를 TS 보안 환경에 맞춰 재설계할 대상."</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"SFR-005",</a:t>
            </a:r>
          </a:p>
          <a:p xmlns:a="http://schemas.openxmlformats.org/drawingml/2006/main">
            <a:r>
              <a:t>        "title": "생성형 AI 활용 서비스 개발(1/2)",</a:t>
            </a:r>
          </a:p>
          <a:p xmlns:a="http://schemas.openxmlformats.org/drawingml/2006/main">
            <a:r>
              <a:t>        "locator": "SFR-005",</a:t>
            </a:r>
          </a:p>
          <a:p xmlns:a="http://schemas.openxmlformats.org/drawingml/2006/main">
            <a:r>
              <a:t>        "summary": "안전 지식 검색, 근거 링크, 최신 문서 활용, 문서·규칙 검토와 번역 등 생성형 AI 서비스.",</a:t>
            </a:r>
          </a:p>
          <a:p xmlns:a="http://schemas.openxmlformats.org/drawingml/2006/main">
            <a:r>
              <a:t>        "data": "안전 문서·검토 대상 → 근거 응답·검토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"폐기 기준과 현행 기준의 충돌, 문서 인용 오류, 번역의 수치·단위 보존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"25b5da73d68c5556b94c8dfb58ef7569f5ab58304d1786741dc255ac502e1f42"</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"생성형 AI 활용 서비스 개발(2/2)",</a:t>
            </a:r>
          </a:p>
          <a:p xmlns:a="http://schemas.openxmlformats.org/drawingml/2006/main">
            <a:r>
              <a:t>        "locator": "SFR-006",</a:t>
            </a:r>
          </a:p>
          <a:p xmlns:a="http://schemas.openxmlformats.org/drawingml/2006/main">
            <a:r>
              <a:t>        "summary": "개인·부서 지식공간, 접근 이력, 답변 품질 피드백을 포함한 서비스 운영.",</a:t>
            </a:r>
          </a:p>
          <a:p xmlns:a="http://schemas.openxmlformats.org/drawingml/2006/main">
            <a:r>
              <a:t>        "data": "개인·부서 자료·피드백 → 허용 검색·개선 이력",</a:t>
            </a:r>
          </a:p>
          <a:p xmlns:a="http://schemas.openxmlformats.org/drawingml/2006/main">
            <a:r>
              <a:t>        "components": [</a:t>
            </a:r>
          </a:p>
          <a:p xmlns:a="http://schemas.openxmlformats.org/drawingml/2006/main">
            <a:r>
              <a:t>          "C02",</a:t>
            </a:r>
          </a:p>
          <a:p xmlns:a="http://schemas.openxmlformats.org/drawingml/2006/main">
            <a:r>
              <a:t>          "C05",</a:t>
            </a:r>
          </a:p>
          <a:p xmlns:a="http://schemas.openxmlformats.org/drawingml/2006/main">
            <a:r>
              <a:t>          "C08"</a:t>
            </a:r>
          </a:p>
          <a:p xmlns:a="http://schemas.openxmlformats.org/drawingml/2006/main">
            <a:r>
              <a:t>        ],</a:t>
            </a:r>
          </a:p>
          <a:p xmlns:a="http://schemas.openxmlformats.org/drawingml/2006/main">
            <a:r>
              <a:t>        "acceptance": "부서 간 공유 해제·소유자 변경·상충 문서 입력 후 접근·경고·피드백 반영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"f4945d58e397848afbc6b098dcb64f6b12e526fc2cecae10f7d27e2ad93dfeeb"</a:t>
            </a:r>
          </a:p>
          <a:p xmlns:a="http://schemas.openxmlformats.org/drawingml/2006/main">
            <a:r>
              <a:t>      },</a:t>
            </a:r>
          </a:p>
          <a:p xmlns:a="http://schemas.openxmlformats.org/drawingml/2006/main">
            <a:r>
              <a:t>      {</a:t>
            </a:r>
          </a:p>
          <a:p xmlns:a="http://schemas.openxmlformats.org/drawingml/2006/main">
            <a:r>
              <a:t>        "id": "SFR-007",</a:t>
            </a:r>
          </a:p>
          <a:p xmlns:a="http://schemas.openxmlformats.org/drawingml/2006/main">
            <a:r>
              <a:t>        "title": "RAG 파이프라인 기본 기능",</a:t>
            </a:r>
          </a:p>
          <a:p xmlns:a="http://schemas.openxmlformats.org/drawingml/2006/main">
            <a:r>
              <a:t>        "locator": "SFR-007",</a:t>
            </a:r>
          </a:p>
          <a:p xmlns:a="http://schemas.openxmlformats.org/drawingml/2006/main">
            <a:r>
              <a:t>        "summary": "문서 메타데이터·최신성·권한을 반영하는 RAG 파이프라인과 검색 결과 재정렬.",</a:t>
            </a:r>
          </a:p>
          <a:p xmlns:a="http://schemas.openxmlformats.org/drawingml/2006/main">
            <a:r>
              <a:t>        "data": "문서·권한·판본 → 청크·색인·근거 후보",</a:t>
            </a:r>
          </a:p>
          <a:p xmlns:a="http://schemas.openxmlformats.org/drawingml/2006/main">
            <a:r>
              <a:t>        "components": [</a:t>
            </a:r>
          </a:p>
          <a:p xmlns:a="http://schemas.openxmlformats.org/drawingml/2006/main">
            <a:r>
              <a:t>          "C03",</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"동일 문서 개정·삭제와 권한 변경 후 검색 결과·인용 판본의 일치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"6f87f23072fbc43c688f6da23e43fb4733d4e55ddcab3f3e4ebdbae410ee9e63"</a:t>
            </a:r>
          </a:p>
          <a:p xmlns:a="http://schemas.openxmlformats.org/drawingml/2006/main">
            <a:r>
              <a:t>      },</a:t>
            </a:r>
          </a:p>
          <a:p xmlns:a="http://schemas.openxmlformats.org/drawingml/2006/main">
            <a:r>
              <a:t>      {</a:t>
            </a:r>
          </a:p>
          <a:p xmlns:a="http://schemas.openxmlformats.org/drawingml/2006/main">
            <a:r>
              <a:t>        "id": "SFR-008",</a:t>
            </a:r>
          </a:p>
          <a:p xmlns:a="http://schemas.openxmlformats.org/drawingml/2006/main">
            <a:r>
              <a:t>        "title": "RAG 파이프라인 품질 관리 도구",</a:t>
            </a:r>
          </a:p>
          <a:p xmlns:a="http://schemas.openxmlformats.org/drawingml/2006/main">
            <a:r>
              <a:t>        "locator": "SFR-008",</a:t>
            </a:r>
          </a:p>
          <a:p xmlns:a="http://schemas.openxmlformats.org/drawingml/2006/main">
            <a:r>
              <a:t>        "summary": "청크 품질 확인, 미리보기, 임베딩 실패와 재처리 대기열을 관리하는 RAG 품질 도구.",</a:t>
            </a:r>
          </a:p>
          <a:p xmlns:a="http://schemas.openxmlformats.org/drawingml/2006/main">
            <a:r>
              <a:t>        "data": "처리 대상·실패 로그 → 품질 상태·재처리 결과",</a:t>
            </a:r>
          </a:p>
          <a:p xmlns:a="http://schemas.openxmlformats.org/drawingml/2006/main">
            <a:r>
              <a:t>        "components": [</a:t>
            </a:r>
          </a:p>
          <a:p xmlns:a="http://schemas.openxmlformats.org/drawingml/2006/main">
            <a:r>
              <a:t>          "C08",</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"표 분절·빈 청크·임베딩 실패를 주입해 탐지·재처리·색인 반영까지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"1a9d64ce29e584a1eabb8503cc98e9abde38893210ab6dcc4e3f33e8e440394e"</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"안전 현업 접점",</a:t>
            </a:r>
          </a:p>
          <a:p xmlns:a="http://schemas.openxmlformats.org/drawingml/2006/main">
            <a:r>
              <a:t>          "layer": "이용 접점",</a:t>
            </a:r>
          </a:p>
          <a:p xmlns:a="http://schemas.openxmlformats.org/drawingml/2006/main">
            <a:r>
              <a:t>          "detail": "안전 담당·부서 지식 관리자",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"직원·폴더 권한",</a:t>
            </a:r>
          </a:p>
          <a:p xmlns:a="http://schemas.openxmlformats.org/drawingml/2006/main">
            <a:r>
              <a:t>          "layer": "업무 문맥",</a:t>
            </a:r>
          </a:p>
          <a:p xmlns:a="http://schemas.openxmlformats.org/drawingml/2006/main">
            <a:r>
              <a:t>          "detail": "사용자 권한·문서 공간·검토 목적 확인",</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"안전 지식 검색",</a:t>
            </a:r>
          </a:p>
          <a:p xmlns:a="http://schemas.openxmlformats.org/drawingml/2006/main">
            <a:r>
              <a:t>          "layer": "자료 조회",</a:t>
            </a:r>
          </a:p>
          <a:p xmlns:a="http://schemas.openxmlformats.org/drawingml/2006/main">
            <a:r>
              <a:t>          "detail": "안전 문서",</a:t>
            </a:r>
          </a:p>
          <a:p xmlns:a="http://schemas.openxmlformats.org/drawingml/2006/main">
            <a:r>
              <a:t>          "requirements": [</a:t>
            </a:r>
          </a:p>
          <a:p xmlns:a="http://schemas.openxmlformats.org/drawingml/2006/main">
            <a:r>
              <a:t>            "SFR-005",</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"문서·규정 대조",</a:t>
            </a:r>
          </a:p>
          <a:p xmlns:a="http://schemas.openxmlformats.org/drawingml/2006/main">
            <a:r>
              <a:t>          "layer": "핵심 처리",</a:t>
            </a:r>
          </a:p>
          <a:p xmlns:a="http://schemas.openxmlformats.org/drawingml/2006/main">
            <a:r>
              <a:t>          "detail": "RAG 검색과 제출 문서·규정 비교",</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"상충·구판 검사",</a:t>
            </a:r>
          </a:p>
          <a:p xmlns:a="http://schemas.openxmlformats.org/drawingml/2006/main">
            <a:r>
              <a:t>          "layer": "결과 검증",</a:t>
            </a:r>
          </a:p>
          <a:p xmlns:a="http://schemas.openxmlformats.org/drawingml/2006/main">
            <a:r>
              <a:t>          "detail": "권한·판본별 안전 질의 정답 대조",</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"안전 담당 검토",</a:t>
            </a:r>
          </a:p>
          <a:p xmlns:a="http://schemas.openxmlformats.org/drawingml/2006/main">
            <a:r>
              <a:t>          "layer": "사람 확인",</a:t>
            </a:r>
          </a:p>
          <a:p xmlns:a="http://schemas.openxmlformats.org/drawingml/2006/main">
            <a:r>
              <a:t>          "detail": "안전 문서를 최신 규정과 대조하고 부서 공간에서 검토",</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"업무 검토 의견",</a:t>
            </a:r>
          </a:p>
          <a:p xmlns:a="http://schemas.openxmlformats.org/drawingml/2006/main">
            <a:r>
              <a:t>          "layer": "업무 연결",</a:t>
            </a:r>
          </a:p>
          <a:p xmlns:a="http://schemas.openxmlformats.org/drawingml/2006/main">
            <a:r>
              <a:t>          "detail": "상충 근거·검토 의견을 현업에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"피드백·권한 시험",</a:t>
            </a:r>
          </a:p>
          <a:p xmlns:a="http://schemas.openxmlformats.org/drawingml/2006/main">
            <a:r>
              <a:t>          "layer": "운영 관측",</a:t>
            </a:r>
          </a:p>
          <a:p xmlns:a="http://schemas.openxmlformats.org/drawingml/2006/main">
            <a:r>
              <a:t>          "detail": "피드백·개정 반영·권한별 검색 결과 검사",</a:t>
            </a:r>
          </a:p>
          <a:p xmlns:a="http://schemas.openxmlformats.org/drawingml/2006/main">
            <a:r>
              <a:t>          "requirements": [</a:t>
            </a:r>
          </a:p>
          <a:p xmlns:a="http://schemas.openxmlformats.org/drawingml/2006/main">
            <a:r>
              <a:t>            "SFR-006",</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"안전규정·부서문서",</a:t>
            </a:r>
          </a:p>
          <a:p xmlns:a="http://schemas.openxmlformats.org/drawingml/2006/main">
            <a:r>
              <a:t>          "layer": "데이터 원천",</a:t>
            </a:r>
          </a:p>
          <a:p xmlns:a="http://schemas.openxmlformats.org/drawingml/2006/main">
            <a:r>
              <a:t>          "detail": "안전 규정·부서 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"자동 문서 최신화",</a:t>
            </a:r>
          </a:p>
          <a:p xmlns:a="http://schemas.openxmlformats.org/drawingml/2006/main">
            <a:r>
              <a:t>          "layer": "준비·갱신",</a:t>
            </a:r>
          </a:p>
          <a:p xmlns:a="http://schemas.openxmlformats.org/drawingml/2006/main">
            <a:r>
              <a:t>          "detail": "연계 문서 자동 갱신·권한 폴더·출처 관리",</a:t>
            </a:r>
          </a:p>
          <a:p xmlns:a="http://schemas.openxmlformats.org/drawingml/2006/main">
            <a:r>
              <a:t>          "requirements": [</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"폴더·RAG 색인",</a:t>
            </a:r>
          </a:p>
          <a:p xmlns:a="http://schemas.openxmlformats.org/drawingml/2006/main">
            <a:r>
              <a:t>          "layer": "상태·지식 저장",</a:t>
            </a:r>
          </a:p>
          <a:p xmlns:a="http://schemas.openxmlformats.org/drawingml/2006/main">
            <a:r>
              <a:t>          "detail": "판본·권한별 응답과 상충 근거 표시·수정 이력",</a:t>
            </a:r>
          </a:p>
          <a:p xmlns:a="http://schemas.openxmlformats.org/drawingml/2006/main">
            <a:r>
              <a:t>          "requirements": [</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"지식공간 접근정책",</a:t>
            </a:r>
          </a:p>
          <a:p xmlns:a="http://schemas.openxmlformats.org/drawingml/2006/main">
            <a:r>
              <a:t>          "layer": "권한·정책",</a:t>
            </a:r>
          </a:p>
          <a:p xmlns:a="http://schemas.openxmlformats.org/drawingml/2006/main">
            <a:r>
              <a:t>          "detail": "폐지 규정·부서 제한 문서·서로 상충하는 출처",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"사용자 권한·문서 공간·검토 목적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"안전 문서",</a:t>
            </a:r>
          </a:p>
          <a:p xmlns:a="http://schemas.openxmlformats.org/drawingml/2006/main">
            <a:r>
              <a:t>          "check": "권한·판본별 안전 질의 정답 대조"</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"허용 지식",</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"검토 초안",</a:t>
            </a:r>
          </a:p>
          <a:p xmlns:a="http://schemas.openxmlformats.org/drawingml/2006/main">
            <a:r>
              <a:t>          "check": "폐지 규정·부서 제한 문서·서로 상충하는 출처"</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"검토 초안",</a:t>
            </a:r>
          </a:p>
          <a:p xmlns:a="http://schemas.openxmlformats.org/drawingml/2006/main">
            <a:r>
              <a:t>          "check": "상충 근거·검토 의견을 현업에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"피드백",</a:t>
            </a:r>
          </a:p>
          <a:p xmlns:a="http://schemas.openxmlformats.org/drawingml/2006/main">
            <a:r>
              <a:t>          "check": "판본·권한별 응답과 상충 근거 표시·수정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"HW·SW 구성도(예시), SFR-005~008",</a:t>
            </a:r>
          </a:p>
          <a:p xmlns:a="http://schemas.openxmlformats.org/drawingml/2006/main">
            <a:r>
              <a:t>        "extracted": "안전 AI·AI 서치·RAG·지식공간·문서 최신화",</a:t>
            </a:r>
          </a:p>
          <a:p xmlns:a="http://schemas.openxmlformats.org/drawingml/2006/main">
            <a:r>
              <a:t>        "extension": "상충 출처 검토, 폴더별 접근 검사와 개정 후 재평가"</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"PF-R04",</a:t>
            </a:r>
          </a:p>
          <a:p xmlns:a="http://schemas.openxmlformats.org/drawingml/2006/main">
            <a:r>
              <a:t>          "path": "assets/casebook-sources/PF-R04-01.png",</a:t>
            </a:r>
          </a:p>
          <a:p xmlns:a="http://schemas.openxmlformats.org/drawingml/2006/main">
            <a:r>
              <a:t>          "title": "안전 AI H/W 구성",</a:t>
            </a:r>
          </a:p>
          <a:p xmlns:a="http://schemas.openxmlformats.org/drawingml/2006/main">
            <a:r>
              <a:t>          "status": "과업내용서 H/W 구성도 예시",</a:t>
            </a:r>
          </a:p>
          <a:p xmlns:a="http://schemas.openxmlformats.org/drawingml/2006/main">
            <a:r>
              <a:t>          "caption": "DMZ AI 서치와 내부 안전 AI·RAG·LLM·DB 구성",</a:t>
            </a:r>
          </a:p>
          <a:p xmlns:a="http://schemas.openxmlformats.org/drawingml/2006/main">
            <a:r>
              <a:t>          "locator": "rId14 / BinData/BIN0001_bmp",</a:t>
            </a:r>
          </a:p>
          <a:p xmlns:a="http://schemas.openxmlformats.org/drawingml/2006/main">
            <a:r>
              <a:t>          "checked": "2026-10-16",</a:t>
            </a:r>
          </a:p>
          <a:p xmlns:a="http://schemas.openxmlformats.org/drawingml/2006/main">
            <a:r>
              <a:t>          "sha256": "47450653a73f8241e06210e73728a502e3d332cafb949494da1a9833622e77a3",</a:t>
            </a:r>
          </a:p>
          <a:p xmlns:a="http://schemas.openxmlformats.org/drawingml/2006/main">
            <a:r>
              <a:t>          "explanation": {</a:t>
            </a:r>
          </a:p>
          <a:p xmlns:a="http://schemas.openxmlformats.org/drawingml/2006/main">
            <a:r>
              <a:t>            "read": "DMZ와 내부 영역의 AI 서치·안전 AI·RAG·LLM·DB 배치를 구분한 H/W 구성 예시. 외부 접점과 내부 지식의 접근 경계를 인프라 관점에서 표현.",</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"SFR-007"</a:t>
            </a:r>
          </a:p>
          <a:p xmlns:a="http://schemas.openxmlformats.org/drawingml/2006/main">
            <a:r>
              <a:t>            ],</a:t>
            </a:r>
          </a:p>
          <a:p xmlns:a="http://schemas.openxmlformats.org/drawingml/2006/main">
            <a:r>
              <a:t>            "connection": "공개 조회와 내부 안전 문서의 경계를 분리하고 개인·부서 지식공간의 권한이 검색과 응답 양쪽에 적용되는지 확인하는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"PF-R04",</a:t>
            </a:r>
          </a:p>
          <a:p xmlns:a="http://schemas.openxmlformats.org/drawingml/2006/main">
            <a:r>
              <a:t>          "path": "assets/casebook-sources/PF-R04-02.png",</a:t>
            </a:r>
          </a:p>
          <a:p xmlns:a="http://schemas.openxmlformats.org/drawingml/2006/main">
            <a:r>
              <a:t>          "title": "안전 AI S/W 구성",</a:t>
            </a:r>
          </a:p>
          <a:p xmlns:a="http://schemas.openxmlformats.org/drawingml/2006/main">
            <a:r>
              <a:t>          "status": "과업내용서 S/W 구성도 예시",</a:t>
            </a:r>
          </a:p>
          <a:p xmlns:a="http://schemas.openxmlformats.org/drawingml/2006/main">
            <a:r>
              <a:t>          "caption": "안전 지식·RAG와 외부 LLM API 업무 지원의 구분",</a:t>
            </a:r>
          </a:p>
          <a:p xmlns:a="http://schemas.openxmlformats.org/drawingml/2006/main">
            <a:r>
              <a:t>          "locator": "rId14 / BinData/BIN0002_bmp",</a:t>
            </a:r>
          </a:p>
          <a:p xmlns:a="http://schemas.openxmlformats.org/drawingml/2006/main">
            <a:r>
              <a:t>          "checked": "2026-10-16",</a:t>
            </a:r>
          </a:p>
          <a:p xmlns:a="http://schemas.openxmlformats.org/drawingml/2006/main">
            <a:r>
              <a:t>          "sha256": "607e9e60f0ab618fa7cdca53b108478e11e89b59866b5f5e7bd063e5d01aac5c",</a:t>
            </a:r>
          </a:p>
          <a:p xmlns:a="http://schemas.openxmlformats.org/drawingml/2006/main">
            <a:r>
              <a:t>          "explanation": {</a:t>
            </a:r>
          </a:p>
          <a:p xmlns:a="http://schemas.openxmlformats.org/drawingml/2006/main">
            <a:r>
              <a:t>            "read": "안전 지식의 검색·RAG 경로와 외부 모델 API를 활용하는 업무 지원 경로를 구분한 S/W 구성 예시. 문서 최신화와 지식공간 관리는 생성 기능을 유지하기 위한 별도 운영 기능.",</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"connection": "외부 모델로 전송할 입력 범위, 문서 개정 후 색인 갱신, 청크 오류와 임베딩 재처리의 상태를 서로 구분하는 서비스·운영 계약."</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"폐지 규정·부서 제한 문서·서로 상충하는 출처",</a:t>
            </a:r>
          </a:p>
          <a:p xmlns:a="http://schemas.openxmlformats.org/drawingml/2006/main">
            <a:r>
              <a:t>        "hold": "권한·판본별 안전 질의 정답 대조",</a:t>
            </a:r>
          </a:p>
          <a:p xmlns:a="http://schemas.openxmlformats.org/drawingml/2006/main">
            <a:r>
              <a:t>        "recovery": "피드백·개정 반영·권한별 검색 결과 검사",</a:t>
            </a:r>
          </a:p>
          <a:p xmlns:a="http://schemas.openxmlformats.org/drawingml/2006/main">
            <a:r>
              <a:t>        "evidence": "판본·권한별 응답과 상충 근거 표시·수정 이력"</a:t>
            </a:r>
          </a:p>
          <a:p xmlns:a="http://schemas.openxmlformats.org/drawingml/2006/main">
            <a:r>
              <a:t>      },</a:t>
            </a:r>
          </a:p>
          <a:p xmlns:a="http://schemas.openxmlformats.org/drawingml/2006/main">
            <a:r>
              <a:t>      "data": {</a:t>
            </a:r>
          </a:p>
          <a:p xmlns:a="http://schemas.openxmlformats.org/drawingml/2006/main">
            <a:r>
              <a:t>        "source": "안전 규정·부서 지식",</a:t>
            </a:r>
          </a:p>
          <a:p xmlns:a="http://schemas.openxmlformats.org/drawingml/2006/main">
            <a:r>
              <a:t>        "prepare": "연계 문서 자동 갱신·권한 폴더·출처 관리",</a:t>
            </a:r>
          </a:p>
          <a:p xmlns:a="http://schemas.openxmlformats.org/drawingml/2006/main">
            <a:r>
              <a:t>        "output": "안전 문서",</a:t>
            </a:r>
          </a:p>
          <a:p xmlns:a="http://schemas.openxmlformats.org/drawingml/2006/main">
            <a:r>
              <a:t>        "refresh": "피드백·개정 반영·권한별 검색 결과 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"PF-R04",</a:t>
            </a:r>
          </a:p>
          <a:p xmlns:a="http://schemas.openxmlformats.org/drawingml/2006/main">
            <a:r>
              <a:t>    "success": [</a:t>
            </a:r>
          </a:p>
          <a:p xmlns:a="http://schemas.openxmlformats.org/drawingml/2006/main">
            <a:r>
              <a:t>      "안전 도메인 지식 집중",</a:t>
            </a:r>
          </a:p>
          <a:p xmlns:a="http://schemas.openxmlformats.org/drawingml/2006/main">
            <a:r>
              <a:t>      "개인·부서 지식공간의 구분"</a:t>
            </a:r>
          </a:p>
          <a:p xmlns:a="http://schemas.openxmlformats.org/drawingml/2006/main">
            <a:r>
              <a:t>    ],</a:t>
            </a:r>
          </a:p>
          <a:p xmlns:a="http://schemas.openxmlformats.org/drawingml/2006/main">
            <a:r>
              <a:t>    "risks": [</a:t>
            </a:r>
          </a:p>
          <a:p xmlns:a="http://schemas.openxmlformats.org/drawingml/2006/main">
            <a:r>
              <a:t>      "부서 자료의 권한 혼입",</a:t>
            </a:r>
          </a:p>
          <a:p xmlns:a="http://schemas.openxmlformats.org/drawingml/2006/main">
            <a:r>
              <a:t>      "계약 발표를 안전 품질 검수로 간주"</a:t>
            </a:r>
          </a:p>
          <a:p xmlns:a="http://schemas.openxmlformats.org/drawingml/2006/main">
            <a:r>
              <a:t>    ],</a:t>
            </a:r>
          </a:p>
          <a:p xmlns:a="http://schemas.openxmlformats.org/drawingml/2006/main">
            <a:r>
              <a:t>    "architecture": [</a:t>
            </a:r>
          </a:p>
          <a:p xmlns:a="http://schemas.openxmlformats.org/drawingml/2006/main">
            <a:r>
              <a:t>      "안전 현업",</a:t>
            </a:r>
          </a:p>
          <a:p xmlns:a="http://schemas.openxmlformats.org/drawingml/2006/main">
            <a:r>
              <a:t>      "권한 검색·문서 검토",</a:t>
            </a:r>
          </a:p>
          <a:p xmlns:a="http://schemas.openxmlformats.org/drawingml/2006/main">
            <a:r>
              <a:t>      "안전 규정·부서 지식",</a:t>
            </a:r>
          </a:p>
          <a:p xmlns:a="http://schemas.openxmlformats.org/drawingml/2006/main">
            <a:r>
              <a:t>      "검토 담당"</a:t>
            </a:r>
          </a:p>
          <a:p xmlns:a="http://schemas.openxmlformats.org/drawingml/2006/main">
            <a:r>
              <a:t>    ],</a:t>
            </a:r>
          </a:p>
          <a:p xmlns:a="http://schemas.openxmlformats.org/drawingml/2006/main">
            <a:r>
              <a:t>    "transfers": [</a:t>
            </a:r>
          </a:p>
          <a:p xmlns:a="http://schemas.openxmlformats.org/drawingml/2006/main">
            <a:r>
              <a:t>      "안전 문서",</a:t>
            </a:r>
          </a:p>
          <a:p xmlns:a="http://schemas.openxmlformats.org/drawingml/2006/main">
            <a:r>
              <a:t>      "허용 지식",</a:t>
            </a:r>
          </a:p>
          <a:p xmlns:a="http://schemas.openxmlformats.org/drawingml/2006/main">
            <a:r>
              <a:t>      "검토 초안",</a:t>
            </a:r>
          </a:p>
          <a:p xmlns:a="http://schemas.openxmlformats.org/drawingml/2006/main">
            <a:r>
              <a:t>      "피드백"</a:t>
            </a:r>
          </a:p>
          <a:p xmlns:a="http://schemas.openxmlformats.org/drawingml/2006/main">
            <a:r>
              <a:t>    ],</a:t>
            </a:r>
          </a:p>
          <a:p xmlns:a="http://schemas.openxmlformats.org/drawingml/2006/main">
            <a:r>
              <a:t>    "control": "권한·판본별 안전 질의 정답 대조",</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SFR-005~008 (과업내용서) / Word T053 https://www.g2b.go.kr/pn/pnp/pnpe/UntyAtchFile/downloadFile.do?bidPbancNo=R25BK00790330&amp;bidPbancOrd=000&amp;fileSeq=8&amp;fileType=</a:t>
            </a:r>
          </a:p>
          <a:p xmlns:a="http://schemas.openxmlformats.org/drawingml/2006/main">
            <a:r>
              <a:t>홈페이지 https://heen1987-ops.github.io/TS-business-Plan-001/index.html?view=platform-cases&amp;case=PF-R04</a:t>
            </a:r>
          </a:p>
          <a:p xmlns:a="http://schemas.openxmlformats.org/drawingml/2006/main">
            <a:r>
              <a:t>한계: Temperature를 상세도와 동일시한 원문 표현은 구현 검증 필요</a:t>
            </a:r>
          </a:p>
          <a:p xmlns:a="http://schemas.openxmlformats.org/drawingml/2006/main">
            <a:r>
              <a:t>실패 위험: 부서 자료의 권한 혼입 / 계약 발표를 안전 품질 검수로 간주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"PF-R04",</a:t>
            </a:r>
          </a:p>
          <a:p xmlns:a="http://schemas.openxmlformats.org/drawingml/2006/main">
            <a:r>
              <a:t>    "sourceId": "R04",</a:t>
            </a:r>
          </a:p>
          <a:p xmlns:a="http://schemas.openxmlformats.org/drawingml/2006/main">
            <a:r>
              <a:t>    "title": "지역난방공사 안전 LLM",</a:t>
            </a:r>
          </a:p>
          <a:p xmlns:a="http://schemas.openxmlformats.org/drawingml/2006/main">
            <a:r>
              <a:t>    "region": "국내",</a:t>
            </a:r>
          </a:p>
          <a:p xmlns:a="http://schemas.openxmlformats.org/drawingml/2006/main">
            <a:r>
              <a:t>    "owner": "한국지역난방공사",</a:t>
            </a:r>
          </a:p>
          <a:p xmlns:a="http://schemas.openxmlformats.org/drawingml/2006/main">
            <a:r>
              <a:t>    "state": "공식 RFP·과업내용서 + 공급사 계약 발표 확인",</a:t>
            </a:r>
          </a:p>
          <a:p xmlns:a="http://schemas.openxmlformats.org/drawingml/2006/main">
            <a:r>
              <a:t>    "period": "기존 원장 확인 2026.10.16",</a:t>
            </a:r>
          </a:p>
          <a:p xmlns:a="http://schemas.openxmlformats.org/drawingml/2006/main">
            <a:r>
              <a:t>    "fact": "안전분야 LLM과 사내 검색·문서 검토·개인/부서 지식공간",</a:t>
            </a:r>
          </a:p>
          <a:p xmlns:a="http://schemas.openxmlformats.org/drawingml/2006/main">
            <a:r>
              <a:t>    "limit": "Temperature를 상세도와 동일시한 원문 표현은 구현 검증 필요",</a:t>
            </a:r>
          </a:p>
          <a:p xmlns:a="http://schemas.openxmlformats.org/drawingml/2006/main">
            <a:r>
              <a:t>    "nodes": [</a:t>
            </a:r>
          </a:p>
          <a:p xmlns:a="http://schemas.openxmlformats.org/drawingml/2006/main">
            <a:r>
              <a:t>      "안전·규정 지식",</a:t>
            </a:r>
          </a:p>
          <a:p xmlns:a="http://schemas.openxmlformats.org/drawingml/2006/main">
            <a:r>
              <a:t>      "권한별 검색",</a:t>
            </a:r>
          </a:p>
          <a:p xmlns:a="http://schemas.openxmlformats.org/drawingml/2006/main">
            <a:r>
              <a:t>      "문서 검토",</a:t>
            </a:r>
          </a:p>
          <a:p xmlns:a="http://schemas.openxmlformats.org/drawingml/2006/main">
            <a:r>
              <a:t>      "현업 피드백"</a:t>
            </a:r>
          </a:p>
          <a:p xmlns:a="http://schemas.openxmlformats.org/drawingml/2006/main">
            <a:r>
              <a:t>    ],</a:t>
            </a:r>
          </a:p>
          <a:p xmlns:a="http://schemas.openxmlformats.org/drawingml/2006/main">
            <a:r>
              <a:t>    "apply": "안전 지식의 소유부서·효력일·상충 근거를 함께 관리하는 검토 체계",</a:t>
            </a:r>
          </a:p>
          <a:p xmlns:a="http://schemas.openxmlformats.org/drawingml/2006/main">
            <a:r>
              <a:t>    "delta": "안전 규정 효력일·소유부서 / 자동 갱신 / 상충 근거 표시",</a:t>
            </a:r>
          </a:p>
          <a:p xmlns:a="http://schemas.openxmlformats.org/drawingml/2006/main">
            <a:r>
              <a:t>    "test": "개정·폐지·권한 제한·상충 문서의 검색 및 검토 결과 대조",</a:t>
            </a:r>
          </a:p>
          <a:p xmlns:a="http://schemas.openxmlformats.org/drawingml/2006/main">
            <a:r>
              <a:t>    "url": "https://www.g2b.go.kr/pn/pnp/pnpe/UntyAtchFile/downloadFile.do?bidPbancNo=R25BK00790330&amp;bidPbancOrd=000&amp;fileSeq=8&amp;fileType=",</a:t>
            </a:r>
          </a:p>
          <a:p xmlns:a="http://schemas.openxmlformats.org/drawingml/2006/main">
            <a:r>
              <a:t>    "urls": [</a:t>
            </a:r>
          </a:p>
          <a:p xmlns:a="http://schemas.openxmlformats.org/drawingml/2006/main">
            <a:r>
              <a:t>      "https://www.g2b.go.kr/pn/pnp/pnpe/UntyAtchFile/downloadFile.do?bidPbancNo=R25BK00790330&amp;bidPbancOrd=000&amp;fileSeq=8&amp;fileType=",</a:t>
            </a:r>
          </a:p>
          <a:p xmlns:a="http://schemas.openxmlformats.org/drawingml/2006/main">
            <a:r>
              <a:t>      "https://gridone.co.kr/community/news/143"</a:t>
            </a:r>
          </a:p>
          <a:p xmlns:a="http://schemas.openxmlformats.org/drawingml/2006/main">
            <a:r>
              <a:t>    ],</a:t>
            </a:r>
          </a:p>
          <a:p xmlns:a="http://schemas.openxmlformats.org/drawingml/2006/main">
            <a:r>
              <a:t>    "basis": "SFR-005~008 (과업내용서) / Word T053",</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"구버전 인용률 / 개정 반영 지연 / 검토 누락률",</a:t>
            </a:r>
          </a:p>
          <a:p xmlns:a="http://schemas.openxmlformats.org/drawingml/2006/main">
            <a:r>
              <a:t>    "group": "요구·구축",</a:t>
            </a:r>
          </a:p>
          <a:p xmlns:a="http://schemas.openxmlformats.org/drawingml/2006/main">
            <a:r>
              <a:t>    "sourceDetail": "자동 문서 최신화, 규정 대조, 권한별 지식 폴더, RAG 파이프라인·피드백·상충 출처 표시",</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"PF-R04",</a:t>
            </a:r>
          </a:p>
          <a:p xmlns:a="http://schemas.openxmlformats.org/drawingml/2006/main">
            <a:r>
              <a:t>    "canonicalId": "PF-R04",</a:t>
            </a:r>
          </a:p>
          <a:p xmlns:a="http://schemas.openxmlformats.org/drawingml/2006/main">
            <a:r>
              <a:t>    "purpose": "안전 지식검색과 규정 대조의 업무 적용",</a:t>
            </a:r>
          </a:p>
          <a:p xmlns:a="http://schemas.openxmlformats.org/drawingml/2006/main">
            <a:r>
              <a:t>    "users": "안전 담당·부서 지식 관리자",</a:t>
            </a:r>
          </a:p>
          <a:p xmlns:a="http://schemas.openxmlformats.org/drawingml/2006/main">
            <a:r>
              <a:t>    "scope": [</a:t>
            </a:r>
          </a:p>
          <a:p xmlns:a="http://schemas.openxmlformats.org/drawingml/2006/main">
            <a:r>
              <a:t>      "안전 LLM",</a:t>
            </a:r>
          </a:p>
          <a:p xmlns:a="http://schemas.openxmlformats.org/drawingml/2006/main">
            <a:r>
              <a:t>      "문서 검토",</a:t>
            </a:r>
          </a:p>
          <a:p xmlns:a="http://schemas.openxmlformats.org/drawingml/2006/main">
            <a:r>
              <a:t>      "부서 지식공간"</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"안전 현업",</a:t>
            </a:r>
          </a:p>
          <a:p xmlns:a="http://schemas.openxmlformats.org/drawingml/2006/main">
            <a:r>
              <a:t>        "detail": "사용자 권한·문서 공간·검토 목적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"안전 LLM / 문서 검토 / 부서 지식공간",</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"권한 검색·문서 검토",</a:t>
            </a:r>
          </a:p>
          <a:p xmlns:a="http://schemas.openxmlformats.org/drawingml/2006/main">
            <a:r>
              <a:t>        "detail": "RAG 검색과 제출 문서·규정 비교",</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"검토 담당",</a:t>
            </a:r>
          </a:p>
          <a:p xmlns:a="http://schemas.openxmlformats.org/drawingml/2006/main">
            <a:r>
              <a:t>        "detail": "상충 근거·검토 의견을 현업에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"안전 규정·부서 지식",</a:t>
            </a:r>
          </a:p>
          <a:p xmlns:a="http://schemas.openxmlformats.org/drawingml/2006/main">
            <a:r>
              <a:t>        "detail": "연계 문서 자동 갱신·권한 폴더·출처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"피드백·개정 반영·권한별 검색 결과 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"안전·규정 지식",</a:t>
            </a:r>
          </a:p>
          <a:p xmlns:a="http://schemas.openxmlformats.org/drawingml/2006/main">
            <a:r>
              <a:t>        "input": "사용자 권한·문서 공간·검토 목적 확인",</a:t>
            </a:r>
          </a:p>
          <a:p xmlns:a="http://schemas.openxmlformats.org/drawingml/2006/main">
            <a:r>
              <a:t>        "process": "연계 문서 자동 갱신·권한 폴더·출처 관리",</a:t>
            </a:r>
          </a:p>
          <a:p xmlns:a="http://schemas.openxmlformats.org/drawingml/2006/main">
            <a:r>
              <a:t>        "output": "안전 문서"</a:t>
            </a:r>
          </a:p>
          <a:p xmlns:a="http://schemas.openxmlformats.org/drawingml/2006/main">
            <a:r>
              <a:t>      },</a:t>
            </a:r>
          </a:p>
          <a:p xmlns:a="http://schemas.openxmlformats.org/drawingml/2006/main">
            <a:r>
              <a:t>      {</a:t>
            </a:r>
          </a:p>
          <a:p xmlns:a="http://schemas.openxmlformats.org/drawingml/2006/main">
            <a:r>
              <a:t>        "title": "권한별 검색",</a:t>
            </a:r>
          </a:p>
          <a:p xmlns:a="http://schemas.openxmlformats.org/drawingml/2006/main">
            <a:r>
              <a:t>        "input": "안전 문서",</a:t>
            </a:r>
          </a:p>
          <a:p xmlns:a="http://schemas.openxmlformats.org/drawingml/2006/main">
            <a:r>
              <a:t>        "process": "RAG 검색과 제출 문서·규정 비교",</a:t>
            </a:r>
          </a:p>
          <a:p xmlns:a="http://schemas.openxmlformats.org/drawingml/2006/main">
            <a:r>
              <a:t>        "output": "허용 지식"</a:t>
            </a:r>
          </a:p>
          <a:p xmlns:a="http://schemas.openxmlformats.org/drawingml/2006/main">
            <a:r>
              <a:t>      },</a:t>
            </a:r>
          </a:p>
          <a:p xmlns:a="http://schemas.openxmlformats.org/drawingml/2006/main">
            <a:r>
              <a:t>      {</a:t>
            </a:r>
          </a:p>
          <a:p xmlns:a="http://schemas.openxmlformats.org/drawingml/2006/main">
            <a:r>
              <a:t>        "title": "문서 검토",</a:t>
            </a:r>
          </a:p>
          <a:p xmlns:a="http://schemas.openxmlformats.org/drawingml/2006/main">
            <a:r>
              <a:t>        "input": "허용 지식",</a:t>
            </a:r>
          </a:p>
          <a:p xmlns:a="http://schemas.openxmlformats.org/drawingml/2006/main">
            <a:r>
              <a:t>        "process": "권한·판본별 안전 질의 정답 대조",</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"title": "현업 피드백",</a:t>
            </a:r>
          </a:p>
          <a:p xmlns:a="http://schemas.openxmlformats.org/drawingml/2006/main">
            <a:r>
              <a:t>        "input": "검토 초안",</a:t>
            </a:r>
          </a:p>
          <a:p xmlns:a="http://schemas.openxmlformats.org/drawingml/2006/main">
            <a:r>
              <a:t>        "process": "상충 근거·검토 의견을 현업에 제공",</a:t>
            </a:r>
          </a:p>
          <a:p xmlns:a="http://schemas.openxmlformats.org/drawingml/2006/main">
            <a:r>
              <a:t>        "output": "피드백"</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"안전 문서를 최신 규정과 대조하고 부서 공간에서 검토",</a:t>
            </a:r>
          </a:p>
          <a:p xmlns:a="http://schemas.openxmlformats.org/drawingml/2006/main">
            <a:r>
              <a:t>      "exception": "폐지 규정·부서 제한 문서·서로 상충하는 출처",</a:t>
            </a:r>
          </a:p>
          <a:p xmlns:a="http://schemas.openxmlformats.org/drawingml/2006/main">
            <a:r>
              <a:t>      "evidence": "판본·권한별 응답과 상충 근거 표시·수정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"안전 담당·부서 지식 관리자",</a:t>
            </a:r>
          </a:p>
          <a:p xmlns:a="http://schemas.openxmlformats.org/drawingml/2006/main">
            <a:r>
              <a:t>          "processing": "사용자 권한·문서 공간·검토 목적 확인",</a:t>
            </a:r>
          </a:p>
          <a:p xmlns:a="http://schemas.openxmlformats.org/drawingml/2006/main">
            <a:r>
              <a:t>          "output": "안전 문서"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"안전 규정·부서 지식",</a:t>
            </a:r>
          </a:p>
          <a:p xmlns:a="http://schemas.openxmlformats.org/drawingml/2006/main">
            <a:r>
              <a:t>          "processing": "연계 문서 자동 갱신·권한 폴더·출처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"안전 문서",</a:t>
            </a:r>
          </a:p>
          <a:p xmlns:a="http://schemas.openxmlformats.org/drawingml/2006/main">
            <a:r>
              <a:t>          "processing": "RAG 검색과 제출 문서·규정 비교",</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"검토 초안",</a:t>
            </a:r>
          </a:p>
          <a:p xmlns:a="http://schemas.openxmlformats.org/drawingml/2006/main">
            <a:r>
              <a:t>          "processing": "상충 근거·검토 의견을 현업에 제공",</a:t>
            </a:r>
          </a:p>
          <a:p xmlns:a="http://schemas.openxmlformats.org/drawingml/2006/main">
            <a:r>
              <a:t>          "output": "피드백"</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"피드백·개정 반영·권한별 검색 결과 검사",</a:t>
            </a:r>
          </a:p>
          <a:p xmlns:a="http://schemas.openxmlformats.org/drawingml/2006/main">
            <a:r>
              <a:t>          "output": "판본·권한별 응답과 상충 근거 표시·수정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"피드백·개정 반영·권한별 검색 결과 검사",</a:t>
            </a:r>
          </a:p>
          <a:p xmlns:a="http://schemas.openxmlformats.org/drawingml/2006/main">
            <a:r>
              <a:t>    "status": "RFP 기반 논리 설계",</a:t>
            </a:r>
          </a:p>
          <a:p xmlns:a="http://schemas.openxmlformats.org/drawingml/2006/main">
            <a:r>
              <a:t>    "basis": "과업내용서 2025.03 · SFR-005~008",</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"SFR-005~008 (과업내용서) / Word T053",</a:t>
            </a:r>
          </a:p>
          <a:p xmlns:a="http://schemas.openxmlformats.org/drawingml/2006/main">
            <a:r>
              <a:t>        "url": "https://www.g2b.go.kr/pn/pnp/pnpe/UntyAtchFile/downloadFile.do?bidPbancNo=R25BK00790330&amp;bidPbancOrd=000&amp;fileSeq=8&amp;fileType="</a:t>
            </a:r>
          </a:p>
          <a:p xmlns:a="http://schemas.openxmlformats.org/drawingml/2006/main">
            <a:r>
              <a:t>      }</a:t>
            </a:r>
          </a:p>
          <a:p xmlns:a="http://schemas.openxmlformats.org/drawingml/2006/main">
            <a:r>
              <a:t>    ],</a:t>
            </a:r>
          </a:p>
          <a:p xmlns:a="http://schemas.openxmlformats.org/drawingml/2006/main">
            <a:r>
              <a:t>    "implication": "안전 지식의 소유부서·효력일·상충 근거를 함께 관리하는 검토 체계",</a:t>
            </a:r>
          </a:p>
          <a:p xmlns:a="http://schemas.openxmlformats.org/drawingml/2006/main">
            <a:r>
              <a:t>    "local": "안전 지식의 소유부서·효력일·상충 근거를 함께 관리하는 검토 체계",</a:t>
            </a:r>
          </a:p>
          <a:p xmlns:a="http://schemas.openxmlformats.org/drawingml/2006/main">
            <a:r>
              <a:t>    "sourceDetail": "자동 문서 최신화, 규정 대조, 권한별 지식 폴더, RAG 파이프라인·피드백·상충 출처 표시",</a:t>
            </a:r>
          </a:p>
          <a:p xmlns:a="http://schemas.openxmlformats.org/drawingml/2006/main">
            <a:r>
              <a:t>    "narrative": [</a:t>
            </a:r>
          </a:p>
          <a:p xmlns:a="http://schemas.openxmlformats.org/drawingml/2006/main">
            <a:r>
              <a:t>      "내부 안전 규정·작업절차를 활용하는 안전 AI와 외부 상용 LLM을 이용하는 AI 서치를 구분한 시범구축. 범용 문서 작성뿐 아니라 제출 문서를 규정과 대조하고, 개인·부서 지식공간을 구성하는 업무 범위.",</a:t>
            </a:r>
          </a:p>
          <a:p xmlns:a="http://schemas.openxmlformats.org/drawingml/2006/main">
            <a:r>
              <a:t>      "원문 예시 도면에서는 통합 UI 아래 DMZ의 AI 서치와 내부 안전 AI·RAG·LLM·DB를 분리. 과업내용서는 문서 자동 최신화, 부서별 접근권한, 청크·임베딩 품질 확인, 실패 문서 재처리까지 요구. 업로드 성공과 검색 가능한 지식 등록 완료의 별도 상태 관리.",</a:t>
            </a:r>
          </a:p>
          <a:p xmlns:a="http://schemas.openxmlformats.org/drawingml/2006/main">
            <a:r>
              <a:t>      "CCK에서는 안전 답변의 문장 품질과 규정 판본·접근권한의 정확성을 별도 시험할 필요. 상충하는 두 규정이 검색될 때 한쪽을 감추기보다 근거와 적용 시점을 함께 제시하는 구조. 외부 모델과 내부 자료의 전달 경계를 TS 보안 환경에 맞춰 재설계할 대상."</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"SFR-005",</a:t>
            </a:r>
          </a:p>
          <a:p xmlns:a="http://schemas.openxmlformats.org/drawingml/2006/main">
            <a:r>
              <a:t>        "title": "생성형 AI 활용 서비스 개발(1/2)",</a:t>
            </a:r>
          </a:p>
          <a:p xmlns:a="http://schemas.openxmlformats.org/drawingml/2006/main">
            <a:r>
              <a:t>        "locator": "SFR-005",</a:t>
            </a:r>
          </a:p>
          <a:p xmlns:a="http://schemas.openxmlformats.org/drawingml/2006/main">
            <a:r>
              <a:t>        "summary": "안전 지식 검색, 근거 링크, 최신 문서 활용, 문서·규칙 검토와 번역 등 생성형 AI 서비스.",</a:t>
            </a:r>
          </a:p>
          <a:p xmlns:a="http://schemas.openxmlformats.org/drawingml/2006/main">
            <a:r>
              <a:t>        "data": "안전 문서·검토 대상 → 근거 응답·검토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"폐기 기준과 현행 기준의 충돌, 문서 인용 오류, 번역의 수치·단위 보존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"25b5da73d68c5556b94c8dfb58ef7569f5ab58304d1786741dc255ac502e1f42"</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"생성형 AI 활용 서비스 개발(2/2)",</a:t>
            </a:r>
          </a:p>
          <a:p xmlns:a="http://schemas.openxmlformats.org/drawingml/2006/main">
            <a:r>
              <a:t>        "locator": "SFR-006",</a:t>
            </a:r>
          </a:p>
          <a:p xmlns:a="http://schemas.openxmlformats.org/drawingml/2006/main">
            <a:r>
              <a:t>        "summary": "개인·부서 지식공간, 접근 이력, 답변 품질 피드백을 포함한 서비스 운영.",</a:t>
            </a:r>
          </a:p>
          <a:p xmlns:a="http://schemas.openxmlformats.org/drawingml/2006/main">
            <a:r>
              <a:t>        "data": "개인·부서 자료·피드백 → 허용 검색·개선 이력",</a:t>
            </a:r>
          </a:p>
          <a:p xmlns:a="http://schemas.openxmlformats.org/drawingml/2006/main">
            <a:r>
              <a:t>        "components": [</a:t>
            </a:r>
          </a:p>
          <a:p xmlns:a="http://schemas.openxmlformats.org/drawingml/2006/main">
            <a:r>
              <a:t>          "C02",</a:t>
            </a:r>
          </a:p>
          <a:p xmlns:a="http://schemas.openxmlformats.org/drawingml/2006/main">
            <a:r>
              <a:t>          "C05",</a:t>
            </a:r>
          </a:p>
          <a:p xmlns:a="http://schemas.openxmlformats.org/drawingml/2006/main">
            <a:r>
              <a:t>          "C08"</a:t>
            </a:r>
          </a:p>
          <a:p xmlns:a="http://schemas.openxmlformats.org/drawingml/2006/main">
            <a:r>
              <a:t>        ],</a:t>
            </a:r>
          </a:p>
          <a:p xmlns:a="http://schemas.openxmlformats.org/drawingml/2006/main">
            <a:r>
              <a:t>        "acceptance": "부서 간 공유 해제·소유자 변경·상충 문서 입력 후 접근·경고·피드백 반영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"f4945d58e397848afbc6b098dcb64f6b12e526fc2cecae10f7d27e2ad93dfeeb"</a:t>
            </a:r>
          </a:p>
          <a:p xmlns:a="http://schemas.openxmlformats.org/drawingml/2006/main">
            <a:r>
              <a:t>      },</a:t>
            </a:r>
          </a:p>
          <a:p xmlns:a="http://schemas.openxmlformats.org/drawingml/2006/main">
            <a:r>
              <a:t>      {</a:t>
            </a:r>
          </a:p>
          <a:p xmlns:a="http://schemas.openxmlformats.org/drawingml/2006/main">
            <a:r>
              <a:t>        "id": "SFR-007",</a:t>
            </a:r>
          </a:p>
          <a:p xmlns:a="http://schemas.openxmlformats.org/drawingml/2006/main">
            <a:r>
              <a:t>        "title": "RAG 파이프라인 기본 기능",</a:t>
            </a:r>
          </a:p>
          <a:p xmlns:a="http://schemas.openxmlformats.org/drawingml/2006/main">
            <a:r>
              <a:t>        "locator": "SFR-007",</a:t>
            </a:r>
          </a:p>
          <a:p xmlns:a="http://schemas.openxmlformats.org/drawingml/2006/main">
            <a:r>
              <a:t>        "summary": "문서 메타데이터·최신성·권한을 반영하는 RAG 파이프라인과 검색 결과 재정렬.",</a:t>
            </a:r>
          </a:p>
          <a:p xmlns:a="http://schemas.openxmlformats.org/drawingml/2006/main">
            <a:r>
              <a:t>        "data": "문서·권한·판본 → 청크·색인·근거 후보",</a:t>
            </a:r>
          </a:p>
          <a:p xmlns:a="http://schemas.openxmlformats.org/drawingml/2006/main">
            <a:r>
              <a:t>        "components": [</a:t>
            </a:r>
          </a:p>
          <a:p xmlns:a="http://schemas.openxmlformats.org/drawingml/2006/main">
            <a:r>
              <a:t>          "C03",</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"동일 문서 개정·삭제와 권한 변경 후 검색 결과·인용 판본의 일치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"6f87f23072fbc43c688f6da23e43fb4733d4e55ddcab3f3e4ebdbae410ee9e63"</a:t>
            </a:r>
          </a:p>
          <a:p xmlns:a="http://schemas.openxmlformats.org/drawingml/2006/main">
            <a:r>
              <a:t>      },</a:t>
            </a:r>
          </a:p>
          <a:p xmlns:a="http://schemas.openxmlformats.org/drawingml/2006/main">
            <a:r>
              <a:t>      {</a:t>
            </a:r>
          </a:p>
          <a:p xmlns:a="http://schemas.openxmlformats.org/drawingml/2006/main">
            <a:r>
              <a:t>        "id": "SFR-008",</a:t>
            </a:r>
          </a:p>
          <a:p xmlns:a="http://schemas.openxmlformats.org/drawingml/2006/main">
            <a:r>
              <a:t>        "title": "RAG 파이프라인 품질 관리 도구",</a:t>
            </a:r>
          </a:p>
          <a:p xmlns:a="http://schemas.openxmlformats.org/drawingml/2006/main">
            <a:r>
              <a:t>        "locator": "SFR-008",</a:t>
            </a:r>
          </a:p>
          <a:p xmlns:a="http://schemas.openxmlformats.org/drawingml/2006/main">
            <a:r>
              <a:t>        "summary": "청크 품질 확인, 미리보기, 임베딩 실패와 재처리 대기열을 관리하는 RAG 품질 도구.",</a:t>
            </a:r>
          </a:p>
          <a:p xmlns:a="http://schemas.openxmlformats.org/drawingml/2006/main">
            <a:r>
              <a:t>        "data": "처리 대상·실패 로그 → 품질 상태·재처리 결과",</a:t>
            </a:r>
          </a:p>
          <a:p xmlns:a="http://schemas.openxmlformats.org/drawingml/2006/main">
            <a:r>
              <a:t>        "components": [</a:t>
            </a:r>
          </a:p>
          <a:p xmlns:a="http://schemas.openxmlformats.org/drawingml/2006/main">
            <a:r>
              <a:t>          "C08",</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"표 분절·빈 청크·임베딩 실패를 주입해 탐지·재처리·색인 반영까지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"1a9d64ce29e584a1eabb8503cc98e9abde38893210ab6dcc4e3f33e8e440394e"</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"안전 현업 접점",</a:t>
            </a:r>
          </a:p>
          <a:p xmlns:a="http://schemas.openxmlformats.org/drawingml/2006/main">
            <a:r>
              <a:t>          "layer": "이용 접점",</a:t>
            </a:r>
          </a:p>
          <a:p xmlns:a="http://schemas.openxmlformats.org/drawingml/2006/main">
            <a:r>
              <a:t>          "detail": "안전 담당·부서 지식 관리자",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"직원·폴더 권한",</a:t>
            </a:r>
          </a:p>
          <a:p xmlns:a="http://schemas.openxmlformats.org/drawingml/2006/main">
            <a:r>
              <a:t>          "layer": "업무 문맥",</a:t>
            </a:r>
          </a:p>
          <a:p xmlns:a="http://schemas.openxmlformats.org/drawingml/2006/main">
            <a:r>
              <a:t>          "detail": "사용자 권한·문서 공간·검토 목적 확인",</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"안전 지식 검색",</a:t>
            </a:r>
          </a:p>
          <a:p xmlns:a="http://schemas.openxmlformats.org/drawingml/2006/main">
            <a:r>
              <a:t>          "layer": "자료 조회",</a:t>
            </a:r>
          </a:p>
          <a:p xmlns:a="http://schemas.openxmlformats.org/drawingml/2006/main">
            <a:r>
              <a:t>          "detail": "안전 문서",</a:t>
            </a:r>
          </a:p>
          <a:p xmlns:a="http://schemas.openxmlformats.org/drawingml/2006/main">
            <a:r>
              <a:t>          "requirements": [</a:t>
            </a:r>
          </a:p>
          <a:p xmlns:a="http://schemas.openxmlformats.org/drawingml/2006/main">
            <a:r>
              <a:t>            "SFR-005",</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"문서·규정 대조",</a:t>
            </a:r>
          </a:p>
          <a:p xmlns:a="http://schemas.openxmlformats.org/drawingml/2006/main">
            <a:r>
              <a:t>          "layer": "핵심 처리",</a:t>
            </a:r>
          </a:p>
          <a:p xmlns:a="http://schemas.openxmlformats.org/drawingml/2006/main">
            <a:r>
              <a:t>          "detail": "RAG 검색과 제출 문서·규정 비교",</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"상충·구판 검사",</a:t>
            </a:r>
          </a:p>
          <a:p xmlns:a="http://schemas.openxmlformats.org/drawingml/2006/main">
            <a:r>
              <a:t>          "layer": "결과 검증",</a:t>
            </a:r>
          </a:p>
          <a:p xmlns:a="http://schemas.openxmlformats.org/drawingml/2006/main">
            <a:r>
              <a:t>          "detail": "권한·판본별 안전 질의 정답 대조",</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"안전 담당 검토",</a:t>
            </a:r>
          </a:p>
          <a:p xmlns:a="http://schemas.openxmlformats.org/drawingml/2006/main">
            <a:r>
              <a:t>          "layer": "사람 확인",</a:t>
            </a:r>
          </a:p>
          <a:p xmlns:a="http://schemas.openxmlformats.org/drawingml/2006/main">
            <a:r>
              <a:t>          "detail": "안전 문서를 최신 규정과 대조하고 부서 공간에서 검토",</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"업무 검토 의견",</a:t>
            </a:r>
          </a:p>
          <a:p xmlns:a="http://schemas.openxmlformats.org/drawingml/2006/main">
            <a:r>
              <a:t>          "layer": "업무 연결",</a:t>
            </a:r>
          </a:p>
          <a:p xmlns:a="http://schemas.openxmlformats.org/drawingml/2006/main">
            <a:r>
              <a:t>          "detail": "상충 근거·검토 의견을 현업에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"피드백·권한 시험",</a:t>
            </a:r>
          </a:p>
          <a:p xmlns:a="http://schemas.openxmlformats.org/drawingml/2006/main">
            <a:r>
              <a:t>          "layer": "운영 관측",</a:t>
            </a:r>
          </a:p>
          <a:p xmlns:a="http://schemas.openxmlformats.org/drawingml/2006/main">
            <a:r>
              <a:t>          "detail": "피드백·개정 반영·권한별 검색 결과 검사",</a:t>
            </a:r>
          </a:p>
          <a:p xmlns:a="http://schemas.openxmlformats.org/drawingml/2006/main">
            <a:r>
              <a:t>          "requirements": [</a:t>
            </a:r>
          </a:p>
          <a:p xmlns:a="http://schemas.openxmlformats.org/drawingml/2006/main">
            <a:r>
              <a:t>            "SFR-006",</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"안전규정·부서문서",</a:t>
            </a:r>
          </a:p>
          <a:p xmlns:a="http://schemas.openxmlformats.org/drawingml/2006/main">
            <a:r>
              <a:t>          "layer": "데이터 원천",</a:t>
            </a:r>
          </a:p>
          <a:p xmlns:a="http://schemas.openxmlformats.org/drawingml/2006/main">
            <a:r>
              <a:t>          "detail": "안전 규정·부서 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"자동 문서 최신화",</a:t>
            </a:r>
          </a:p>
          <a:p xmlns:a="http://schemas.openxmlformats.org/drawingml/2006/main">
            <a:r>
              <a:t>          "layer": "준비·갱신",</a:t>
            </a:r>
          </a:p>
          <a:p xmlns:a="http://schemas.openxmlformats.org/drawingml/2006/main">
            <a:r>
              <a:t>          "detail": "연계 문서 자동 갱신·권한 폴더·출처 관리",</a:t>
            </a:r>
          </a:p>
          <a:p xmlns:a="http://schemas.openxmlformats.org/drawingml/2006/main">
            <a:r>
              <a:t>          "requirements": [</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"폴더·RAG 색인",</a:t>
            </a:r>
          </a:p>
          <a:p xmlns:a="http://schemas.openxmlformats.org/drawingml/2006/main">
            <a:r>
              <a:t>          "layer": "상태·지식 저장",</a:t>
            </a:r>
          </a:p>
          <a:p xmlns:a="http://schemas.openxmlformats.org/drawingml/2006/main">
            <a:r>
              <a:t>          "detail": "판본·권한별 응답과 상충 근거 표시·수정 이력",</a:t>
            </a:r>
          </a:p>
          <a:p xmlns:a="http://schemas.openxmlformats.org/drawingml/2006/main">
            <a:r>
              <a:t>          "requirements": [</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"지식공간 접근정책",</a:t>
            </a:r>
          </a:p>
          <a:p xmlns:a="http://schemas.openxmlformats.org/drawingml/2006/main">
            <a:r>
              <a:t>          "layer": "권한·정책",</a:t>
            </a:r>
          </a:p>
          <a:p xmlns:a="http://schemas.openxmlformats.org/drawingml/2006/main">
            <a:r>
              <a:t>          "detail": "폐지 규정·부서 제한 문서·서로 상충하는 출처",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"사용자 권한·문서 공간·검토 목적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"안전 문서",</a:t>
            </a:r>
          </a:p>
          <a:p xmlns:a="http://schemas.openxmlformats.org/drawingml/2006/main">
            <a:r>
              <a:t>          "check": "권한·판본별 안전 질의 정답 대조"</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"허용 지식",</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"검토 초안",</a:t>
            </a:r>
          </a:p>
          <a:p xmlns:a="http://schemas.openxmlformats.org/drawingml/2006/main">
            <a:r>
              <a:t>          "check": "폐지 규정·부서 제한 문서·서로 상충하는 출처"</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"검토 초안",</a:t>
            </a:r>
          </a:p>
          <a:p xmlns:a="http://schemas.openxmlformats.org/drawingml/2006/main">
            <a:r>
              <a:t>          "check": "상충 근거·검토 의견을 현업에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"피드백",</a:t>
            </a:r>
          </a:p>
          <a:p xmlns:a="http://schemas.openxmlformats.org/drawingml/2006/main">
            <a:r>
              <a:t>          "check": "판본·권한별 응답과 상충 근거 표시·수정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"HW·SW 구성도(예시), SFR-005~008",</a:t>
            </a:r>
          </a:p>
          <a:p xmlns:a="http://schemas.openxmlformats.org/drawingml/2006/main">
            <a:r>
              <a:t>        "extracted": "안전 AI·AI 서치·RAG·지식공간·문서 최신화",</a:t>
            </a:r>
          </a:p>
          <a:p xmlns:a="http://schemas.openxmlformats.org/drawingml/2006/main">
            <a:r>
              <a:t>        "extension": "상충 출처 검토, 폴더별 접근 검사와 개정 후 재평가"</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"PF-R04",</a:t>
            </a:r>
          </a:p>
          <a:p xmlns:a="http://schemas.openxmlformats.org/drawingml/2006/main">
            <a:r>
              <a:t>          "path": "assets/casebook-sources/PF-R04-01.png",</a:t>
            </a:r>
          </a:p>
          <a:p xmlns:a="http://schemas.openxmlformats.org/drawingml/2006/main">
            <a:r>
              <a:t>          "title": "안전 AI H/W 구성",</a:t>
            </a:r>
          </a:p>
          <a:p xmlns:a="http://schemas.openxmlformats.org/drawingml/2006/main">
            <a:r>
              <a:t>          "status": "과업내용서 H/W 구성도 예시",</a:t>
            </a:r>
          </a:p>
          <a:p xmlns:a="http://schemas.openxmlformats.org/drawingml/2006/main">
            <a:r>
              <a:t>          "caption": "DMZ AI 서치와 내부 안전 AI·RAG·LLM·DB 구성",</a:t>
            </a:r>
          </a:p>
          <a:p xmlns:a="http://schemas.openxmlformats.org/drawingml/2006/main">
            <a:r>
              <a:t>          "locator": "rId14 / BinData/BIN0001_bmp",</a:t>
            </a:r>
          </a:p>
          <a:p xmlns:a="http://schemas.openxmlformats.org/drawingml/2006/main">
            <a:r>
              <a:t>          "checked": "2026-10-16",</a:t>
            </a:r>
          </a:p>
          <a:p xmlns:a="http://schemas.openxmlformats.org/drawingml/2006/main">
            <a:r>
              <a:t>          "sha256": "47450653a73f8241e06210e73728a502e3d332cafb949494da1a9833622e77a3",</a:t>
            </a:r>
          </a:p>
          <a:p xmlns:a="http://schemas.openxmlformats.org/drawingml/2006/main">
            <a:r>
              <a:t>          "explanation": {</a:t>
            </a:r>
          </a:p>
          <a:p xmlns:a="http://schemas.openxmlformats.org/drawingml/2006/main">
            <a:r>
              <a:t>            "read": "DMZ와 내부 영역의 AI 서치·안전 AI·RAG·LLM·DB 배치를 구분한 H/W 구성 예시. 외부 접점과 내부 지식의 접근 경계를 인프라 관점에서 표현.",</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"SFR-007"</a:t>
            </a:r>
          </a:p>
          <a:p xmlns:a="http://schemas.openxmlformats.org/drawingml/2006/main">
            <a:r>
              <a:t>            ],</a:t>
            </a:r>
          </a:p>
          <a:p xmlns:a="http://schemas.openxmlformats.org/drawingml/2006/main">
            <a:r>
              <a:t>            "connection": "공개 조회와 내부 안전 문서의 경계를 분리하고 개인·부서 지식공간의 권한이 검색과 응답 양쪽에 적용되는지 확인하는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"PF-R04",</a:t>
            </a:r>
          </a:p>
          <a:p xmlns:a="http://schemas.openxmlformats.org/drawingml/2006/main">
            <a:r>
              <a:t>          "path": "assets/casebook-sources/PF-R04-02.png",</a:t>
            </a:r>
          </a:p>
          <a:p xmlns:a="http://schemas.openxmlformats.org/drawingml/2006/main">
            <a:r>
              <a:t>          "title": "안전 AI S/W 구성",</a:t>
            </a:r>
          </a:p>
          <a:p xmlns:a="http://schemas.openxmlformats.org/drawingml/2006/main">
            <a:r>
              <a:t>          "status": "과업내용서 S/W 구성도 예시",</a:t>
            </a:r>
          </a:p>
          <a:p xmlns:a="http://schemas.openxmlformats.org/drawingml/2006/main">
            <a:r>
              <a:t>          "caption": "안전 지식·RAG와 외부 LLM API 업무 지원의 구분",</a:t>
            </a:r>
          </a:p>
          <a:p xmlns:a="http://schemas.openxmlformats.org/drawingml/2006/main">
            <a:r>
              <a:t>          "locator": "rId14 / BinData/BIN0002_bmp",</a:t>
            </a:r>
          </a:p>
          <a:p xmlns:a="http://schemas.openxmlformats.org/drawingml/2006/main">
            <a:r>
              <a:t>          "checked": "2026-10-16",</a:t>
            </a:r>
          </a:p>
          <a:p xmlns:a="http://schemas.openxmlformats.org/drawingml/2006/main">
            <a:r>
              <a:t>          "sha256": "607e9e60f0ab618fa7cdca53b108478e11e89b59866b5f5e7bd063e5d01aac5c",</a:t>
            </a:r>
          </a:p>
          <a:p xmlns:a="http://schemas.openxmlformats.org/drawingml/2006/main">
            <a:r>
              <a:t>          "explanation": {</a:t>
            </a:r>
          </a:p>
          <a:p xmlns:a="http://schemas.openxmlformats.org/drawingml/2006/main">
            <a:r>
              <a:t>            "read": "안전 지식의 검색·RAG 경로와 외부 모델 API를 활용하는 업무 지원 경로를 구분한 S/W 구성 예시. 문서 최신화와 지식공간 관리는 생성 기능을 유지하기 위한 별도 운영 기능.",</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"connection": "외부 모델로 전송할 입력 범위, 문서 개정 후 색인 갱신, 청크 오류와 임베딩 재처리의 상태를 서로 구분하는 서비스·운영 계약."</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"폐지 규정·부서 제한 문서·서로 상충하는 출처",</a:t>
            </a:r>
          </a:p>
          <a:p xmlns:a="http://schemas.openxmlformats.org/drawingml/2006/main">
            <a:r>
              <a:t>        "hold": "권한·판본별 안전 질의 정답 대조",</a:t>
            </a:r>
          </a:p>
          <a:p xmlns:a="http://schemas.openxmlformats.org/drawingml/2006/main">
            <a:r>
              <a:t>        "recovery": "피드백·개정 반영·권한별 검색 결과 검사",</a:t>
            </a:r>
          </a:p>
          <a:p xmlns:a="http://schemas.openxmlformats.org/drawingml/2006/main">
            <a:r>
              <a:t>        "evidence": "판본·권한별 응답과 상충 근거 표시·수정 이력"</a:t>
            </a:r>
          </a:p>
          <a:p xmlns:a="http://schemas.openxmlformats.org/drawingml/2006/main">
            <a:r>
              <a:t>      },</a:t>
            </a:r>
          </a:p>
          <a:p xmlns:a="http://schemas.openxmlformats.org/drawingml/2006/main">
            <a:r>
              <a:t>      "data": {</a:t>
            </a:r>
          </a:p>
          <a:p xmlns:a="http://schemas.openxmlformats.org/drawingml/2006/main">
            <a:r>
              <a:t>        "source": "안전 규정·부서 지식",</a:t>
            </a:r>
          </a:p>
          <a:p xmlns:a="http://schemas.openxmlformats.org/drawingml/2006/main">
            <a:r>
              <a:t>        "prepare": "연계 문서 자동 갱신·권한 폴더·출처 관리",</a:t>
            </a:r>
          </a:p>
          <a:p xmlns:a="http://schemas.openxmlformats.org/drawingml/2006/main">
            <a:r>
              <a:t>        "output": "안전 문서",</a:t>
            </a:r>
          </a:p>
          <a:p xmlns:a="http://schemas.openxmlformats.org/drawingml/2006/main">
            <a:r>
              <a:t>        "refresh": "피드백·개정 반영·권한별 검색 결과 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"PF-R04",</a:t>
            </a:r>
          </a:p>
          <a:p xmlns:a="http://schemas.openxmlformats.org/drawingml/2006/main">
            <a:r>
              <a:t>    "success": [</a:t>
            </a:r>
          </a:p>
          <a:p xmlns:a="http://schemas.openxmlformats.org/drawingml/2006/main">
            <a:r>
              <a:t>      "안전 도메인 지식 집중",</a:t>
            </a:r>
          </a:p>
          <a:p xmlns:a="http://schemas.openxmlformats.org/drawingml/2006/main">
            <a:r>
              <a:t>      "개인·부서 지식공간의 구분"</a:t>
            </a:r>
          </a:p>
          <a:p xmlns:a="http://schemas.openxmlformats.org/drawingml/2006/main">
            <a:r>
              <a:t>    ],</a:t>
            </a:r>
          </a:p>
          <a:p xmlns:a="http://schemas.openxmlformats.org/drawingml/2006/main">
            <a:r>
              <a:t>    "risks": [</a:t>
            </a:r>
          </a:p>
          <a:p xmlns:a="http://schemas.openxmlformats.org/drawingml/2006/main">
            <a:r>
              <a:t>      "부서 자료의 권한 혼입",</a:t>
            </a:r>
          </a:p>
          <a:p xmlns:a="http://schemas.openxmlformats.org/drawingml/2006/main">
            <a:r>
              <a:t>      "계약 발표를 안전 품질 검수로 간주"</a:t>
            </a:r>
          </a:p>
          <a:p xmlns:a="http://schemas.openxmlformats.org/drawingml/2006/main">
            <a:r>
              <a:t>    ],</a:t>
            </a:r>
          </a:p>
          <a:p xmlns:a="http://schemas.openxmlformats.org/drawingml/2006/main">
            <a:r>
              <a:t>    "architecture": [</a:t>
            </a:r>
          </a:p>
          <a:p xmlns:a="http://schemas.openxmlformats.org/drawingml/2006/main">
            <a:r>
              <a:t>      "안전 현업",</a:t>
            </a:r>
          </a:p>
          <a:p xmlns:a="http://schemas.openxmlformats.org/drawingml/2006/main">
            <a:r>
              <a:t>      "권한 검색·문서 검토",</a:t>
            </a:r>
          </a:p>
          <a:p xmlns:a="http://schemas.openxmlformats.org/drawingml/2006/main">
            <a:r>
              <a:t>      "안전 규정·부서 지식",</a:t>
            </a:r>
          </a:p>
          <a:p xmlns:a="http://schemas.openxmlformats.org/drawingml/2006/main">
            <a:r>
              <a:t>      "검토 담당"</a:t>
            </a:r>
          </a:p>
          <a:p xmlns:a="http://schemas.openxmlformats.org/drawingml/2006/main">
            <a:r>
              <a:t>    ],</a:t>
            </a:r>
          </a:p>
          <a:p xmlns:a="http://schemas.openxmlformats.org/drawingml/2006/main">
            <a:r>
              <a:t>    "transfers": [</a:t>
            </a:r>
          </a:p>
          <a:p xmlns:a="http://schemas.openxmlformats.org/drawingml/2006/main">
            <a:r>
              <a:t>      "안전 문서",</a:t>
            </a:r>
          </a:p>
          <a:p xmlns:a="http://schemas.openxmlformats.org/drawingml/2006/main">
            <a:r>
              <a:t>      "허용 지식",</a:t>
            </a:r>
          </a:p>
          <a:p xmlns:a="http://schemas.openxmlformats.org/drawingml/2006/main">
            <a:r>
              <a:t>      "검토 초안",</a:t>
            </a:r>
          </a:p>
          <a:p xmlns:a="http://schemas.openxmlformats.org/drawingml/2006/main">
            <a:r>
              <a:t>      "피드백"</a:t>
            </a:r>
          </a:p>
          <a:p xmlns:a="http://schemas.openxmlformats.org/drawingml/2006/main">
            <a:r>
              <a:t>    ],</a:t>
            </a:r>
          </a:p>
          <a:p xmlns:a="http://schemas.openxmlformats.org/drawingml/2006/main">
            <a:r>
              <a:t>    "control": "권한·판본별 안전 질의 정답 대조",</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SFR-005~008 (과업내용서) / Word T053 https://www.g2b.go.kr/pn/pnp/pnpe/UntyAtchFile/downloadFile.do?bidPbancNo=R25BK00790330&amp;bidPbancOrd=000&amp;fileSeq=8&amp;fileType=</a:t>
            </a:r>
          </a:p>
          <a:p xmlns:a="http://schemas.openxmlformats.org/drawingml/2006/main">
            <a:r>
              <a:t>홈페이지 https://heen1987-ops.github.io/TS-business-Plan-001/index.html?view=platform-cases&amp;case=PF-R04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"PF-R04",</a:t>
            </a:r>
          </a:p>
          <a:p xmlns:a="http://schemas.openxmlformats.org/drawingml/2006/main">
            <a:r>
              <a:t>    "sourceId": "R04",</a:t>
            </a:r>
          </a:p>
          <a:p xmlns:a="http://schemas.openxmlformats.org/drawingml/2006/main">
            <a:r>
              <a:t>    "title": "지역난방공사 안전 LLM",</a:t>
            </a:r>
          </a:p>
          <a:p xmlns:a="http://schemas.openxmlformats.org/drawingml/2006/main">
            <a:r>
              <a:t>    "region": "국내",</a:t>
            </a:r>
          </a:p>
          <a:p xmlns:a="http://schemas.openxmlformats.org/drawingml/2006/main">
            <a:r>
              <a:t>    "owner": "한국지역난방공사",</a:t>
            </a:r>
          </a:p>
          <a:p xmlns:a="http://schemas.openxmlformats.org/drawingml/2006/main">
            <a:r>
              <a:t>    "state": "공식 RFP·과업내용서 + 공급사 계약 발표 확인",</a:t>
            </a:r>
          </a:p>
          <a:p xmlns:a="http://schemas.openxmlformats.org/drawingml/2006/main">
            <a:r>
              <a:t>    "period": "기존 원장 확인 2026.10.16",</a:t>
            </a:r>
          </a:p>
          <a:p xmlns:a="http://schemas.openxmlformats.org/drawingml/2006/main">
            <a:r>
              <a:t>    "fact": "안전분야 LLM과 사내 검색·문서 검토·개인/부서 지식공간",</a:t>
            </a:r>
          </a:p>
          <a:p xmlns:a="http://schemas.openxmlformats.org/drawingml/2006/main">
            <a:r>
              <a:t>    "limit": "Temperature를 상세도와 동일시한 원문 표현은 구현 검증 필요",</a:t>
            </a:r>
          </a:p>
          <a:p xmlns:a="http://schemas.openxmlformats.org/drawingml/2006/main">
            <a:r>
              <a:t>    "nodes": [</a:t>
            </a:r>
          </a:p>
          <a:p xmlns:a="http://schemas.openxmlformats.org/drawingml/2006/main">
            <a:r>
              <a:t>      "안전·규정 지식",</a:t>
            </a:r>
          </a:p>
          <a:p xmlns:a="http://schemas.openxmlformats.org/drawingml/2006/main">
            <a:r>
              <a:t>      "권한별 검색",</a:t>
            </a:r>
          </a:p>
          <a:p xmlns:a="http://schemas.openxmlformats.org/drawingml/2006/main">
            <a:r>
              <a:t>      "문서 검토",</a:t>
            </a:r>
          </a:p>
          <a:p xmlns:a="http://schemas.openxmlformats.org/drawingml/2006/main">
            <a:r>
              <a:t>      "현업 피드백"</a:t>
            </a:r>
          </a:p>
          <a:p xmlns:a="http://schemas.openxmlformats.org/drawingml/2006/main">
            <a:r>
              <a:t>    ],</a:t>
            </a:r>
          </a:p>
          <a:p xmlns:a="http://schemas.openxmlformats.org/drawingml/2006/main">
            <a:r>
              <a:t>    "apply": "안전 지식의 소유부서·효력일·상충 근거를 함께 관리하는 검토 체계",</a:t>
            </a:r>
          </a:p>
          <a:p xmlns:a="http://schemas.openxmlformats.org/drawingml/2006/main">
            <a:r>
              <a:t>    "delta": "안전 규정 효력일·소유부서 / 자동 갱신 / 상충 근거 표시",</a:t>
            </a:r>
          </a:p>
          <a:p xmlns:a="http://schemas.openxmlformats.org/drawingml/2006/main">
            <a:r>
              <a:t>    "test": "개정·폐지·권한 제한·상충 문서의 검색 및 검토 결과 대조",</a:t>
            </a:r>
          </a:p>
          <a:p xmlns:a="http://schemas.openxmlformats.org/drawingml/2006/main">
            <a:r>
              <a:t>    "url": "https://www.g2b.go.kr/pn/pnp/pnpe/UntyAtchFile/downloadFile.do?bidPbancNo=R25BK00790330&amp;bidPbancOrd=000&amp;fileSeq=8&amp;fileType=",</a:t>
            </a:r>
          </a:p>
          <a:p xmlns:a="http://schemas.openxmlformats.org/drawingml/2006/main">
            <a:r>
              <a:t>    "urls": [</a:t>
            </a:r>
          </a:p>
          <a:p xmlns:a="http://schemas.openxmlformats.org/drawingml/2006/main">
            <a:r>
              <a:t>      "https://www.g2b.go.kr/pn/pnp/pnpe/UntyAtchFile/downloadFile.do?bidPbancNo=R25BK00790330&amp;bidPbancOrd=000&amp;fileSeq=8&amp;fileType=",</a:t>
            </a:r>
          </a:p>
          <a:p xmlns:a="http://schemas.openxmlformats.org/drawingml/2006/main">
            <a:r>
              <a:t>      "https://gridone.co.kr/community/news/143"</a:t>
            </a:r>
          </a:p>
          <a:p xmlns:a="http://schemas.openxmlformats.org/drawingml/2006/main">
            <a:r>
              <a:t>    ],</a:t>
            </a:r>
          </a:p>
          <a:p xmlns:a="http://schemas.openxmlformats.org/drawingml/2006/main">
            <a:r>
              <a:t>    "basis": "SFR-005~008 (과업내용서) / Word T053",</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"구버전 인용률 / 개정 반영 지연 / 검토 누락률",</a:t>
            </a:r>
          </a:p>
          <a:p xmlns:a="http://schemas.openxmlformats.org/drawingml/2006/main">
            <a:r>
              <a:t>    "group": "요구·구축",</a:t>
            </a:r>
          </a:p>
          <a:p xmlns:a="http://schemas.openxmlformats.org/drawingml/2006/main">
            <a:r>
              <a:t>    "sourceDetail": "자동 문서 최신화, 규정 대조, 권한별 지식 폴더, RAG 파이프라인·피드백·상충 출처 표시",</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"PF-R04",</a:t>
            </a:r>
          </a:p>
          <a:p xmlns:a="http://schemas.openxmlformats.org/drawingml/2006/main">
            <a:r>
              <a:t>    "canonicalId": "PF-R04",</a:t>
            </a:r>
          </a:p>
          <a:p xmlns:a="http://schemas.openxmlformats.org/drawingml/2006/main">
            <a:r>
              <a:t>    "purpose": "안전 지식검색과 규정 대조의 업무 적용",</a:t>
            </a:r>
          </a:p>
          <a:p xmlns:a="http://schemas.openxmlformats.org/drawingml/2006/main">
            <a:r>
              <a:t>    "users": "안전 담당·부서 지식 관리자",</a:t>
            </a:r>
          </a:p>
          <a:p xmlns:a="http://schemas.openxmlformats.org/drawingml/2006/main">
            <a:r>
              <a:t>    "scope": [</a:t>
            </a:r>
          </a:p>
          <a:p xmlns:a="http://schemas.openxmlformats.org/drawingml/2006/main">
            <a:r>
              <a:t>      "안전 LLM",</a:t>
            </a:r>
          </a:p>
          <a:p xmlns:a="http://schemas.openxmlformats.org/drawingml/2006/main">
            <a:r>
              <a:t>      "문서 검토",</a:t>
            </a:r>
          </a:p>
          <a:p xmlns:a="http://schemas.openxmlformats.org/drawingml/2006/main">
            <a:r>
              <a:t>      "부서 지식공간"</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"안전 현업",</a:t>
            </a:r>
          </a:p>
          <a:p xmlns:a="http://schemas.openxmlformats.org/drawingml/2006/main">
            <a:r>
              <a:t>        "detail": "사용자 권한·문서 공간·검토 목적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"안전 LLM / 문서 검토 / 부서 지식공간",</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"권한 검색·문서 검토",</a:t>
            </a:r>
          </a:p>
          <a:p xmlns:a="http://schemas.openxmlformats.org/drawingml/2006/main">
            <a:r>
              <a:t>        "detail": "RAG 검색과 제출 문서·규정 비교",</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"검토 담당",</a:t>
            </a:r>
          </a:p>
          <a:p xmlns:a="http://schemas.openxmlformats.org/drawingml/2006/main">
            <a:r>
              <a:t>        "detail": "상충 근거·검토 의견을 현업에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"안전 규정·부서 지식",</a:t>
            </a:r>
          </a:p>
          <a:p xmlns:a="http://schemas.openxmlformats.org/drawingml/2006/main">
            <a:r>
              <a:t>        "detail": "연계 문서 자동 갱신·권한 폴더·출처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"피드백·개정 반영·권한별 검색 결과 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"안전·규정 지식",</a:t>
            </a:r>
          </a:p>
          <a:p xmlns:a="http://schemas.openxmlformats.org/drawingml/2006/main">
            <a:r>
              <a:t>        "input": "사용자 권한·문서 공간·검토 목적 확인",</a:t>
            </a:r>
          </a:p>
          <a:p xmlns:a="http://schemas.openxmlformats.org/drawingml/2006/main">
            <a:r>
              <a:t>        "process": "연계 문서 자동 갱신·권한 폴더·출처 관리",</a:t>
            </a:r>
          </a:p>
          <a:p xmlns:a="http://schemas.openxmlformats.org/drawingml/2006/main">
            <a:r>
              <a:t>        "output": "안전 문서"</a:t>
            </a:r>
          </a:p>
          <a:p xmlns:a="http://schemas.openxmlformats.org/drawingml/2006/main">
            <a:r>
              <a:t>      },</a:t>
            </a:r>
          </a:p>
          <a:p xmlns:a="http://schemas.openxmlformats.org/drawingml/2006/main">
            <a:r>
              <a:t>      {</a:t>
            </a:r>
          </a:p>
          <a:p xmlns:a="http://schemas.openxmlformats.org/drawingml/2006/main">
            <a:r>
              <a:t>        "title": "권한별 검색",</a:t>
            </a:r>
          </a:p>
          <a:p xmlns:a="http://schemas.openxmlformats.org/drawingml/2006/main">
            <a:r>
              <a:t>        "input": "안전 문서",</a:t>
            </a:r>
          </a:p>
          <a:p xmlns:a="http://schemas.openxmlformats.org/drawingml/2006/main">
            <a:r>
              <a:t>        "process": "RAG 검색과 제출 문서·규정 비교",</a:t>
            </a:r>
          </a:p>
          <a:p xmlns:a="http://schemas.openxmlformats.org/drawingml/2006/main">
            <a:r>
              <a:t>        "output": "허용 지식"</a:t>
            </a:r>
          </a:p>
          <a:p xmlns:a="http://schemas.openxmlformats.org/drawingml/2006/main">
            <a:r>
              <a:t>      },</a:t>
            </a:r>
          </a:p>
          <a:p xmlns:a="http://schemas.openxmlformats.org/drawingml/2006/main">
            <a:r>
              <a:t>      {</a:t>
            </a:r>
          </a:p>
          <a:p xmlns:a="http://schemas.openxmlformats.org/drawingml/2006/main">
            <a:r>
              <a:t>        "title": "문서 검토",</a:t>
            </a:r>
          </a:p>
          <a:p xmlns:a="http://schemas.openxmlformats.org/drawingml/2006/main">
            <a:r>
              <a:t>        "input": "허용 지식",</a:t>
            </a:r>
          </a:p>
          <a:p xmlns:a="http://schemas.openxmlformats.org/drawingml/2006/main">
            <a:r>
              <a:t>        "process": "권한·판본별 안전 질의 정답 대조",</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"title": "현업 피드백",</a:t>
            </a:r>
          </a:p>
          <a:p xmlns:a="http://schemas.openxmlformats.org/drawingml/2006/main">
            <a:r>
              <a:t>        "input": "검토 초안",</a:t>
            </a:r>
          </a:p>
          <a:p xmlns:a="http://schemas.openxmlformats.org/drawingml/2006/main">
            <a:r>
              <a:t>        "process": "상충 근거·검토 의견을 현업에 제공",</a:t>
            </a:r>
          </a:p>
          <a:p xmlns:a="http://schemas.openxmlformats.org/drawingml/2006/main">
            <a:r>
              <a:t>        "output": "피드백"</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"안전 문서를 최신 규정과 대조하고 부서 공간에서 검토",</a:t>
            </a:r>
          </a:p>
          <a:p xmlns:a="http://schemas.openxmlformats.org/drawingml/2006/main">
            <a:r>
              <a:t>      "exception": "폐지 규정·부서 제한 문서·서로 상충하는 출처",</a:t>
            </a:r>
          </a:p>
          <a:p xmlns:a="http://schemas.openxmlformats.org/drawingml/2006/main">
            <a:r>
              <a:t>      "evidence": "판본·권한별 응답과 상충 근거 표시·수정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"안전 담당·부서 지식 관리자",</a:t>
            </a:r>
          </a:p>
          <a:p xmlns:a="http://schemas.openxmlformats.org/drawingml/2006/main">
            <a:r>
              <a:t>          "processing": "사용자 권한·문서 공간·검토 목적 확인",</a:t>
            </a:r>
          </a:p>
          <a:p xmlns:a="http://schemas.openxmlformats.org/drawingml/2006/main">
            <a:r>
              <a:t>          "output": "안전 문서"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"안전 규정·부서 지식",</a:t>
            </a:r>
          </a:p>
          <a:p xmlns:a="http://schemas.openxmlformats.org/drawingml/2006/main">
            <a:r>
              <a:t>          "processing": "연계 문서 자동 갱신·권한 폴더·출처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"안전 문서",</a:t>
            </a:r>
          </a:p>
          <a:p xmlns:a="http://schemas.openxmlformats.org/drawingml/2006/main">
            <a:r>
              <a:t>          "processing": "RAG 검색과 제출 문서·규정 비교",</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"검토 초안",</a:t>
            </a:r>
          </a:p>
          <a:p xmlns:a="http://schemas.openxmlformats.org/drawingml/2006/main">
            <a:r>
              <a:t>          "processing": "상충 근거·검토 의견을 현업에 제공",</a:t>
            </a:r>
          </a:p>
          <a:p xmlns:a="http://schemas.openxmlformats.org/drawingml/2006/main">
            <a:r>
              <a:t>          "output": "피드백"</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"피드백·개정 반영·권한별 검색 결과 검사",</a:t>
            </a:r>
          </a:p>
          <a:p xmlns:a="http://schemas.openxmlformats.org/drawingml/2006/main">
            <a:r>
              <a:t>          "output": "판본·권한별 응답과 상충 근거 표시·수정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"피드백·개정 반영·권한별 검색 결과 검사",</a:t>
            </a:r>
          </a:p>
          <a:p xmlns:a="http://schemas.openxmlformats.org/drawingml/2006/main">
            <a:r>
              <a:t>    "status": "RFP 기반 논리 설계",</a:t>
            </a:r>
          </a:p>
          <a:p xmlns:a="http://schemas.openxmlformats.org/drawingml/2006/main">
            <a:r>
              <a:t>    "basis": "과업내용서 2025.03 · SFR-005~008",</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"SFR-005~008 (과업내용서) / Word T053",</a:t>
            </a:r>
          </a:p>
          <a:p xmlns:a="http://schemas.openxmlformats.org/drawingml/2006/main">
            <a:r>
              <a:t>        "url": "https://www.g2b.go.kr/pn/pnp/pnpe/UntyAtchFile/downloadFile.do?bidPbancNo=R25BK00790330&amp;bidPbancOrd=000&amp;fileSeq=8&amp;fileType="</a:t>
            </a:r>
          </a:p>
          <a:p xmlns:a="http://schemas.openxmlformats.org/drawingml/2006/main">
            <a:r>
              <a:t>      }</a:t>
            </a:r>
          </a:p>
          <a:p xmlns:a="http://schemas.openxmlformats.org/drawingml/2006/main">
            <a:r>
              <a:t>    ],</a:t>
            </a:r>
          </a:p>
          <a:p xmlns:a="http://schemas.openxmlformats.org/drawingml/2006/main">
            <a:r>
              <a:t>    "implication": "안전 지식의 소유부서·효력일·상충 근거를 함께 관리하는 검토 체계",</a:t>
            </a:r>
          </a:p>
          <a:p xmlns:a="http://schemas.openxmlformats.org/drawingml/2006/main">
            <a:r>
              <a:t>    "local": "안전 지식의 소유부서·효력일·상충 근거를 함께 관리하는 검토 체계",</a:t>
            </a:r>
          </a:p>
          <a:p xmlns:a="http://schemas.openxmlformats.org/drawingml/2006/main">
            <a:r>
              <a:t>    "sourceDetail": "자동 문서 최신화, 규정 대조, 권한별 지식 폴더, RAG 파이프라인·피드백·상충 출처 표시",</a:t>
            </a:r>
          </a:p>
          <a:p xmlns:a="http://schemas.openxmlformats.org/drawingml/2006/main">
            <a:r>
              <a:t>    "narrative": [</a:t>
            </a:r>
          </a:p>
          <a:p xmlns:a="http://schemas.openxmlformats.org/drawingml/2006/main">
            <a:r>
              <a:t>      "내부 안전 규정·작업절차를 활용하는 안전 AI와 외부 상용 LLM을 이용하는 AI 서치를 구분한 시범구축. 범용 문서 작성뿐 아니라 제출 문서를 규정과 대조하고, 개인·부서 지식공간을 구성하는 업무 범위.",</a:t>
            </a:r>
          </a:p>
          <a:p xmlns:a="http://schemas.openxmlformats.org/drawingml/2006/main">
            <a:r>
              <a:t>      "원문 예시 도면에서는 통합 UI 아래 DMZ의 AI 서치와 내부 안전 AI·RAG·LLM·DB를 분리. 과업내용서는 문서 자동 최신화, 부서별 접근권한, 청크·임베딩 품질 확인, 실패 문서 재처리까지 요구. 업로드 성공과 검색 가능한 지식 등록 완료의 별도 상태 관리.",</a:t>
            </a:r>
          </a:p>
          <a:p xmlns:a="http://schemas.openxmlformats.org/drawingml/2006/main">
            <a:r>
              <a:t>      "CCK에서는 안전 답변의 문장 품질과 규정 판본·접근권한의 정확성을 별도 시험할 필요. 상충하는 두 규정이 검색될 때 한쪽을 감추기보다 근거와 적용 시점을 함께 제시하는 구조. 외부 모델과 내부 자료의 전달 경계를 TS 보안 환경에 맞춰 재설계할 대상."</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"SFR-005",</a:t>
            </a:r>
          </a:p>
          <a:p xmlns:a="http://schemas.openxmlformats.org/drawingml/2006/main">
            <a:r>
              <a:t>        "title": "생성형 AI 활용 서비스 개발(1/2)",</a:t>
            </a:r>
          </a:p>
          <a:p xmlns:a="http://schemas.openxmlformats.org/drawingml/2006/main">
            <a:r>
              <a:t>        "locator": "SFR-005",</a:t>
            </a:r>
          </a:p>
          <a:p xmlns:a="http://schemas.openxmlformats.org/drawingml/2006/main">
            <a:r>
              <a:t>        "summary": "안전 지식 검색, 근거 링크, 최신 문서 활용, 문서·규칙 검토와 번역 등 생성형 AI 서비스.",</a:t>
            </a:r>
          </a:p>
          <a:p xmlns:a="http://schemas.openxmlformats.org/drawingml/2006/main">
            <a:r>
              <a:t>        "data": "안전 문서·검토 대상 → 근거 응답·검토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"폐기 기준과 현행 기준의 충돌, 문서 인용 오류, 번역의 수치·단위 보존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"25b5da73d68c5556b94c8dfb58ef7569f5ab58304d1786741dc255ac502e1f42"</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"생성형 AI 활용 서비스 개발(2/2)",</a:t>
            </a:r>
          </a:p>
          <a:p xmlns:a="http://schemas.openxmlformats.org/drawingml/2006/main">
            <a:r>
              <a:t>        "locator": "SFR-006",</a:t>
            </a:r>
          </a:p>
          <a:p xmlns:a="http://schemas.openxmlformats.org/drawingml/2006/main">
            <a:r>
              <a:t>        "summary": "개인·부서 지식공간, 접근 이력, 답변 품질 피드백을 포함한 서비스 운영.",</a:t>
            </a:r>
          </a:p>
          <a:p xmlns:a="http://schemas.openxmlformats.org/drawingml/2006/main">
            <a:r>
              <a:t>        "data": "개인·부서 자료·피드백 → 허용 검색·개선 이력",</a:t>
            </a:r>
          </a:p>
          <a:p xmlns:a="http://schemas.openxmlformats.org/drawingml/2006/main">
            <a:r>
              <a:t>        "components": [</a:t>
            </a:r>
          </a:p>
          <a:p xmlns:a="http://schemas.openxmlformats.org/drawingml/2006/main">
            <a:r>
              <a:t>          "C02",</a:t>
            </a:r>
          </a:p>
          <a:p xmlns:a="http://schemas.openxmlformats.org/drawingml/2006/main">
            <a:r>
              <a:t>          "C05",</a:t>
            </a:r>
          </a:p>
          <a:p xmlns:a="http://schemas.openxmlformats.org/drawingml/2006/main">
            <a:r>
              <a:t>          "C08"</a:t>
            </a:r>
          </a:p>
          <a:p xmlns:a="http://schemas.openxmlformats.org/drawingml/2006/main">
            <a:r>
              <a:t>        ],</a:t>
            </a:r>
          </a:p>
          <a:p xmlns:a="http://schemas.openxmlformats.org/drawingml/2006/main">
            <a:r>
              <a:t>        "acceptance": "부서 간 공유 해제·소유자 변경·상충 문서 입력 후 접근·경고·피드백 반영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"f4945d58e397848afbc6b098dcb64f6b12e526fc2cecae10f7d27e2ad93dfeeb"</a:t>
            </a:r>
          </a:p>
          <a:p xmlns:a="http://schemas.openxmlformats.org/drawingml/2006/main">
            <a:r>
              <a:t>      },</a:t>
            </a:r>
          </a:p>
          <a:p xmlns:a="http://schemas.openxmlformats.org/drawingml/2006/main">
            <a:r>
              <a:t>      {</a:t>
            </a:r>
          </a:p>
          <a:p xmlns:a="http://schemas.openxmlformats.org/drawingml/2006/main">
            <a:r>
              <a:t>        "id": "SFR-007",</a:t>
            </a:r>
          </a:p>
          <a:p xmlns:a="http://schemas.openxmlformats.org/drawingml/2006/main">
            <a:r>
              <a:t>        "title": "RAG 파이프라인 기본 기능",</a:t>
            </a:r>
          </a:p>
          <a:p xmlns:a="http://schemas.openxmlformats.org/drawingml/2006/main">
            <a:r>
              <a:t>        "locator": "SFR-007",</a:t>
            </a:r>
          </a:p>
          <a:p xmlns:a="http://schemas.openxmlformats.org/drawingml/2006/main">
            <a:r>
              <a:t>        "summary": "문서 메타데이터·최신성·권한을 반영하는 RAG 파이프라인과 검색 결과 재정렬.",</a:t>
            </a:r>
          </a:p>
          <a:p xmlns:a="http://schemas.openxmlformats.org/drawingml/2006/main">
            <a:r>
              <a:t>        "data": "문서·권한·판본 → 청크·색인·근거 후보",</a:t>
            </a:r>
          </a:p>
          <a:p xmlns:a="http://schemas.openxmlformats.org/drawingml/2006/main">
            <a:r>
              <a:t>        "components": [</a:t>
            </a:r>
          </a:p>
          <a:p xmlns:a="http://schemas.openxmlformats.org/drawingml/2006/main">
            <a:r>
              <a:t>          "C03",</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"동일 문서 개정·삭제와 권한 변경 후 검색 결과·인용 판본의 일치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"6f87f23072fbc43c688f6da23e43fb4733d4e55ddcab3f3e4ebdbae410ee9e63"</a:t>
            </a:r>
          </a:p>
          <a:p xmlns:a="http://schemas.openxmlformats.org/drawingml/2006/main">
            <a:r>
              <a:t>      },</a:t>
            </a:r>
          </a:p>
          <a:p xmlns:a="http://schemas.openxmlformats.org/drawingml/2006/main">
            <a:r>
              <a:t>      {</a:t>
            </a:r>
          </a:p>
          <a:p xmlns:a="http://schemas.openxmlformats.org/drawingml/2006/main">
            <a:r>
              <a:t>        "id": "SFR-008",</a:t>
            </a:r>
          </a:p>
          <a:p xmlns:a="http://schemas.openxmlformats.org/drawingml/2006/main">
            <a:r>
              <a:t>        "title": "RAG 파이프라인 품질 관리 도구",</a:t>
            </a:r>
          </a:p>
          <a:p xmlns:a="http://schemas.openxmlformats.org/drawingml/2006/main">
            <a:r>
              <a:t>        "locator": "SFR-008",</a:t>
            </a:r>
          </a:p>
          <a:p xmlns:a="http://schemas.openxmlformats.org/drawingml/2006/main">
            <a:r>
              <a:t>        "summary": "청크 품질 확인, 미리보기, 임베딩 실패와 재처리 대기열을 관리하는 RAG 품질 도구.",</a:t>
            </a:r>
          </a:p>
          <a:p xmlns:a="http://schemas.openxmlformats.org/drawingml/2006/main">
            <a:r>
              <a:t>        "data": "처리 대상·실패 로그 → 품질 상태·재처리 결과",</a:t>
            </a:r>
          </a:p>
          <a:p xmlns:a="http://schemas.openxmlformats.org/drawingml/2006/main">
            <a:r>
              <a:t>        "components": [</a:t>
            </a:r>
          </a:p>
          <a:p xmlns:a="http://schemas.openxmlformats.org/drawingml/2006/main">
            <a:r>
              <a:t>          "C08",</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"표 분절·빈 청크·임베딩 실패를 주입해 탐지·재처리·색인 반영까지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"1a9d64ce29e584a1eabb8503cc98e9abde38893210ab6dcc4e3f33e8e440394e"</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"안전 현업 접점",</a:t>
            </a:r>
          </a:p>
          <a:p xmlns:a="http://schemas.openxmlformats.org/drawingml/2006/main">
            <a:r>
              <a:t>          "layer": "이용 접점",</a:t>
            </a:r>
          </a:p>
          <a:p xmlns:a="http://schemas.openxmlformats.org/drawingml/2006/main">
            <a:r>
              <a:t>          "detail": "안전 담당·부서 지식 관리자",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"직원·폴더 권한",</a:t>
            </a:r>
          </a:p>
          <a:p xmlns:a="http://schemas.openxmlformats.org/drawingml/2006/main">
            <a:r>
              <a:t>          "layer": "업무 문맥",</a:t>
            </a:r>
          </a:p>
          <a:p xmlns:a="http://schemas.openxmlformats.org/drawingml/2006/main">
            <a:r>
              <a:t>          "detail": "사용자 권한·문서 공간·검토 목적 확인",</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"안전 지식 검색",</a:t>
            </a:r>
          </a:p>
          <a:p xmlns:a="http://schemas.openxmlformats.org/drawingml/2006/main">
            <a:r>
              <a:t>          "layer": "자료 조회",</a:t>
            </a:r>
          </a:p>
          <a:p xmlns:a="http://schemas.openxmlformats.org/drawingml/2006/main">
            <a:r>
              <a:t>          "detail": "안전 문서",</a:t>
            </a:r>
          </a:p>
          <a:p xmlns:a="http://schemas.openxmlformats.org/drawingml/2006/main">
            <a:r>
              <a:t>          "requirements": [</a:t>
            </a:r>
          </a:p>
          <a:p xmlns:a="http://schemas.openxmlformats.org/drawingml/2006/main">
            <a:r>
              <a:t>            "SFR-005",</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"문서·규정 대조",</a:t>
            </a:r>
          </a:p>
          <a:p xmlns:a="http://schemas.openxmlformats.org/drawingml/2006/main">
            <a:r>
              <a:t>          "layer": "핵심 처리",</a:t>
            </a:r>
          </a:p>
          <a:p xmlns:a="http://schemas.openxmlformats.org/drawingml/2006/main">
            <a:r>
              <a:t>          "detail": "RAG 검색과 제출 문서·규정 비교",</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"상충·구판 검사",</a:t>
            </a:r>
          </a:p>
          <a:p xmlns:a="http://schemas.openxmlformats.org/drawingml/2006/main">
            <a:r>
              <a:t>          "layer": "결과 검증",</a:t>
            </a:r>
          </a:p>
          <a:p xmlns:a="http://schemas.openxmlformats.org/drawingml/2006/main">
            <a:r>
              <a:t>          "detail": "권한·판본별 안전 질의 정답 대조",</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"안전 담당 검토",</a:t>
            </a:r>
          </a:p>
          <a:p xmlns:a="http://schemas.openxmlformats.org/drawingml/2006/main">
            <a:r>
              <a:t>          "layer": "사람 확인",</a:t>
            </a:r>
          </a:p>
          <a:p xmlns:a="http://schemas.openxmlformats.org/drawingml/2006/main">
            <a:r>
              <a:t>          "detail": "안전 문서를 최신 규정과 대조하고 부서 공간에서 검토",</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"업무 검토 의견",</a:t>
            </a:r>
          </a:p>
          <a:p xmlns:a="http://schemas.openxmlformats.org/drawingml/2006/main">
            <a:r>
              <a:t>          "layer": "업무 연결",</a:t>
            </a:r>
          </a:p>
          <a:p xmlns:a="http://schemas.openxmlformats.org/drawingml/2006/main">
            <a:r>
              <a:t>          "detail": "상충 근거·검토 의견을 현업에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"피드백·권한 시험",</a:t>
            </a:r>
          </a:p>
          <a:p xmlns:a="http://schemas.openxmlformats.org/drawingml/2006/main">
            <a:r>
              <a:t>          "layer": "운영 관측",</a:t>
            </a:r>
          </a:p>
          <a:p xmlns:a="http://schemas.openxmlformats.org/drawingml/2006/main">
            <a:r>
              <a:t>          "detail": "피드백·개정 반영·권한별 검색 결과 검사",</a:t>
            </a:r>
          </a:p>
          <a:p xmlns:a="http://schemas.openxmlformats.org/drawingml/2006/main">
            <a:r>
              <a:t>          "requirements": [</a:t>
            </a:r>
          </a:p>
          <a:p xmlns:a="http://schemas.openxmlformats.org/drawingml/2006/main">
            <a:r>
              <a:t>            "SFR-006",</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"안전규정·부서문서",</a:t>
            </a:r>
          </a:p>
          <a:p xmlns:a="http://schemas.openxmlformats.org/drawingml/2006/main">
            <a:r>
              <a:t>          "layer": "데이터 원천",</a:t>
            </a:r>
          </a:p>
          <a:p xmlns:a="http://schemas.openxmlformats.org/drawingml/2006/main">
            <a:r>
              <a:t>          "detail": "안전 규정·부서 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"자동 문서 최신화",</a:t>
            </a:r>
          </a:p>
          <a:p xmlns:a="http://schemas.openxmlformats.org/drawingml/2006/main">
            <a:r>
              <a:t>          "layer": "준비·갱신",</a:t>
            </a:r>
          </a:p>
          <a:p xmlns:a="http://schemas.openxmlformats.org/drawingml/2006/main">
            <a:r>
              <a:t>          "detail": "연계 문서 자동 갱신·권한 폴더·출처 관리",</a:t>
            </a:r>
          </a:p>
          <a:p xmlns:a="http://schemas.openxmlformats.org/drawingml/2006/main">
            <a:r>
              <a:t>          "requirements": [</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"폴더·RAG 색인",</a:t>
            </a:r>
          </a:p>
          <a:p xmlns:a="http://schemas.openxmlformats.org/drawingml/2006/main">
            <a:r>
              <a:t>          "layer": "상태·지식 저장",</a:t>
            </a:r>
          </a:p>
          <a:p xmlns:a="http://schemas.openxmlformats.org/drawingml/2006/main">
            <a:r>
              <a:t>          "detail": "판본·권한별 응답과 상충 근거 표시·수정 이력",</a:t>
            </a:r>
          </a:p>
          <a:p xmlns:a="http://schemas.openxmlformats.org/drawingml/2006/main">
            <a:r>
              <a:t>          "requirements": [</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"지식공간 접근정책",</a:t>
            </a:r>
          </a:p>
          <a:p xmlns:a="http://schemas.openxmlformats.org/drawingml/2006/main">
            <a:r>
              <a:t>          "layer": "권한·정책",</a:t>
            </a:r>
          </a:p>
          <a:p xmlns:a="http://schemas.openxmlformats.org/drawingml/2006/main">
            <a:r>
              <a:t>          "detail": "폐지 규정·부서 제한 문서·서로 상충하는 출처",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"사용자 권한·문서 공간·검토 목적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"안전 문서",</a:t>
            </a:r>
          </a:p>
          <a:p xmlns:a="http://schemas.openxmlformats.org/drawingml/2006/main">
            <a:r>
              <a:t>          "check": "권한·판본별 안전 질의 정답 대조"</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"허용 지식",</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"검토 초안",</a:t>
            </a:r>
          </a:p>
          <a:p xmlns:a="http://schemas.openxmlformats.org/drawingml/2006/main">
            <a:r>
              <a:t>          "check": "폐지 규정·부서 제한 문서·서로 상충하는 출처"</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"검토 초안",</a:t>
            </a:r>
          </a:p>
          <a:p xmlns:a="http://schemas.openxmlformats.org/drawingml/2006/main">
            <a:r>
              <a:t>          "check": "상충 근거·검토 의견을 현업에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"피드백",</a:t>
            </a:r>
          </a:p>
          <a:p xmlns:a="http://schemas.openxmlformats.org/drawingml/2006/main">
            <a:r>
              <a:t>          "check": "판본·권한별 응답과 상충 근거 표시·수정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"HW·SW 구성도(예시), SFR-005~008",</a:t>
            </a:r>
          </a:p>
          <a:p xmlns:a="http://schemas.openxmlformats.org/drawingml/2006/main">
            <a:r>
              <a:t>        "extracted": "안전 AI·AI 서치·RAG·지식공간·문서 최신화",</a:t>
            </a:r>
          </a:p>
          <a:p xmlns:a="http://schemas.openxmlformats.org/drawingml/2006/main">
            <a:r>
              <a:t>        "extension": "상충 출처 검토, 폴더별 접근 검사와 개정 후 재평가"</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"PF-R04",</a:t>
            </a:r>
          </a:p>
          <a:p xmlns:a="http://schemas.openxmlformats.org/drawingml/2006/main">
            <a:r>
              <a:t>          "path": "assets/casebook-sources/PF-R04-01.png",</a:t>
            </a:r>
          </a:p>
          <a:p xmlns:a="http://schemas.openxmlformats.org/drawingml/2006/main">
            <a:r>
              <a:t>          "title": "안전 AI H/W 구성",</a:t>
            </a:r>
          </a:p>
          <a:p xmlns:a="http://schemas.openxmlformats.org/drawingml/2006/main">
            <a:r>
              <a:t>          "status": "과업내용서 H/W 구성도 예시",</a:t>
            </a:r>
          </a:p>
          <a:p xmlns:a="http://schemas.openxmlformats.org/drawingml/2006/main">
            <a:r>
              <a:t>          "caption": "DMZ AI 서치와 내부 안전 AI·RAG·LLM·DB 구성",</a:t>
            </a:r>
          </a:p>
          <a:p xmlns:a="http://schemas.openxmlformats.org/drawingml/2006/main">
            <a:r>
              <a:t>          "locator": "rId14 / BinData/BIN0001_bmp",</a:t>
            </a:r>
          </a:p>
          <a:p xmlns:a="http://schemas.openxmlformats.org/drawingml/2006/main">
            <a:r>
              <a:t>          "checked": "2026-10-16",</a:t>
            </a:r>
          </a:p>
          <a:p xmlns:a="http://schemas.openxmlformats.org/drawingml/2006/main">
            <a:r>
              <a:t>          "sha256": "47450653a73f8241e06210e73728a502e3d332cafb949494da1a9833622e77a3",</a:t>
            </a:r>
          </a:p>
          <a:p xmlns:a="http://schemas.openxmlformats.org/drawingml/2006/main">
            <a:r>
              <a:t>          "explanation": {</a:t>
            </a:r>
          </a:p>
          <a:p xmlns:a="http://schemas.openxmlformats.org/drawingml/2006/main">
            <a:r>
              <a:t>            "read": "DMZ와 내부 영역의 AI 서치·안전 AI·RAG·LLM·DB 배치를 구분한 H/W 구성 예시. 외부 접점과 내부 지식의 접근 경계를 인프라 관점에서 표현.",</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"SFR-007"</a:t>
            </a:r>
          </a:p>
          <a:p xmlns:a="http://schemas.openxmlformats.org/drawingml/2006/main">
            <a:r>
              <a:t>            ],</a:t>
            </a:r>
          </a:p>
          <a:p xmlns:a="http://schemas.openxmlformats.org/drawingml/2006/main">
            <a:r>
              <a:t>            "connection": "공개 조회와 내부 안전 문서의 경계를 분리하고 개인·부서 지식공간의 권한이 검색과 응답 양쪽에 적용되는지 확인하는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"PF-R04",</a:t>
            </a:r>
          </a:p>
          <a:p xmlns:a="http://schemas.openxmlformats.org/drawingml/2006/main">
            <a:r>
              <a:t>          "path": "assets/casebook-sources/PF-R04-02.png",</a:t>
            </a:r>
          </a:p>
          <a:p xmlns:a="http://schemas.openxmlformats.org/drawingml/2006/main">
            <a:r>
              <a:t>          "title": "안전 AI S/W 구성",</a:t>
            </a:r>
          </a:p>
          <a:p xmlns:a="http://schemas.openxmlformats.org/drawingml/2006/main">
            <a:r>
              <a:t>          "status": "과업내용서 S/W 구성도 예시",</a:t>
            </a:r>
          </a:p>
          <a:p xmlns:a="http://schemas.openxmlformats.org/drawingml/2006/main">
            <a:r>
              <a:t>          "caption": "안전 지식·RAG와 외부 LLM API 업무 지원의 구분",</a:t>
            </a:r>
          </a:p>
          <a:p xmlns:a="http://schemas.openxmlformats.org/drawingml/2006/main">
            <a:r>
              <a:t>          "locator": "rId14 / BinData/BIN0002_bmp",</a:t>
            </a:r>
          </a:p>
          <a:p xmlns:a="http://schemas.openxmlformats.org/drawingml/2006/main">
            <a:r>
              <a:t>          "checked": "2026-10-16",</a:t>
            </a:r>
          </a:p>
          <a:p xmlns:a="http://schemas.openxmlformats.org/drawingml/2006/main">
            <a:r>
              <a:t>          "sha256": "607e9e60f0ab618fa7cdca53b108478e11e89b59866b5f5e7bd063e5d01aac5c",</a:t>
            </a:r>
          </a:p>
          <a:p xmlns:a="http://schemas.openxmlformats.org/drawingml/2006/main">
            <a:r>
              <a:t>          "explanation": {</a:t>
            </a:r>
          </a:p>
          <a:p xmlns:a="http://schemas.openxmlformats.org/drawingml/2006/main">
            <a:r>
              <a:t>            "read": "안전 지식의 검색·RAG 경로와 외부 모델 API를 활용하는 업무 지원 경로를 구분한 S/W 구성 예시. 문서 최신화와 지식공간 관리는 생성 기능을 유지하기 위한 별도 운영 기능.",</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"connection": "외부 모델로 전송할 입력 범위, 문서 개정 후 색인 갱신, 청크 오류와 임베딩 재처리의 상태를 서로 구분하는 서비스·운영 계약."</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"폐지 규정·부서 제한 문서·서로 상충하는 출처",</a:t>
            </a:r>
          </a:p>
          <a:p xmlns:a="http://schemas.openxmlformats.org/drawingml/2006/main">
            <a:r>
              <a:t>        "hold": "권한·판본별 안전 질의 정답 대조",</a:t>
            </a:r>
          </a:p>
          <a:p xmlns:a="http://schemas.openxmlformats.org/drawingml/2006/main">
            <a:r>
              <a:t>        "recovery": "피드백·개정 반영·권한별 검색 결과 검사",</a:t>
            </a:r>
          </a:p>
          <a:p xmlns:a="http://schemas.openxmlformats.org/drawingml/2006/main">
            <a:r>
              <a:t>        "evidence": "판본·권한별 응답과 상충 근거 표시·수정 이력"</a:t>
            </a:r>
          </a:p>
          <a:p xmlns:a="http://schemas.openxmlformats.org/drawingml/2006/main">
            <a:r>
              <a:t>      },</a:t>
            </a:r>
          </a:p>
          <a:p xmlns:a="http://schemas.openxmlformats.org/drawingml/2006/main">
            <a:r>
              <a:t>      "data": {</a:t>
            </a:r>
          </a:p>
          <a:p xmlns:a="http://schemas.openxmlformats.org/drawingml/2006/main">
            <a:r>
              <a:t>        "source": "안전 규정·부서 지식",</a:t>
            </a:r>
          </a:p>
          <a:p xmlns:a="http://schemas.openxmlformats.org/drawingml/2006/main">
            <a:r>
              <a:t>        "prepare": "연계 문서 자동 갱신·권한 폴더·출처 관리",</a:t>
            </a:r>
          </a:p>
          <a:p xmlns:a="http://schemas.openxmlformats.org/drawingml/2006/main">
            <a:r>
              <a:t>        "output": "안전 문서",</a:t>
            </a:r>
          </a:p>
          <a:p xmlns:a="http://schemas.openxmlformats.org/drawingml/2006/main">
            <a:r>
              <a:t>        "refresh": "피드백·개정 반영·권한별 검색 결과 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"PF-R04",</a:t>
            </a:r>
          </a:p>
          <a:p xmlns:a="http://schemas.openxmlformats.org/drawingml/2006/main">
            <a:r>
              <a:t>    "success": [</a:t>
            </a:r>
          </a:p>
          <a:p xmlns:a="http://schemas.openxmlformats.org/drawingml/2006/main">
            <a:r>
              <a:t>      "안전 도메인 지식 집중",</a:t>
            </a:r>
          </a:p>
          <a:p xmlns:a="http://schemas.openxmlformats.org/drawingml/2006/main">
            <a:r>
              <a:t>      "개인·부서 지식공간의 구분"</a:t>
            </a:r>
          </a:p>
          <a:p xmlns:a="http://schemas.openxmlformats.org/drawingml/2006/main">
            <a:r>
              <a:t>    ],</a:t>
            </a:r>
          </a:p>
          <a:p xmlns:a="http://schemas.openxmlformats.org/drawingml/2006/main">
            <a:r>
              <a:t>    "risks": [</a:t>
            </a:r>
          </a:p>
          <a:p xmlns:a="http://schemas.openxmlformats.org/drawingml/2006/main">
            <a:r>
              <a:t>      "부서 자료의 권한 혼입",</a:t>
            </a:r>
          </a:p>
          <a:p xmlns:a="http://schemas.openxmlformats.org/drawingml/2006/main">
            <a:r>
              <a:t>      "계약 발표를 안전 품질 검수로 간주"</a:t>
            </a:r>
          </a:p>
          <a:p xmlns:a="http://schemas.openxmlformats.org/drawingml/2006/main">
            <a:r>
              <a:t>    ],</a:t>
            </a:r>
          </a:p>
          <a:p xmlns:a="http://schemas.openxmlformats.org/drawingml/2006/main">
            <a:r>
              <a:t>    "architecture": [</a:t>
            </a:r>
          </a:p>
          <a:p xmlns:a="http://schemas.openxmlformats.org/drawingml/2006/main">
            <a:r>
              <a:t>      "안전 현업",</a:t>
            </a:r>
          </a:p>
          <a:p xmlns:a="http://schemas.openxmlformats.org/drawingml/2006/main">
            <a:r>
              <a:t>      "권한 검색·문서 검토",</a:t>
            </a:r>
          </a:p>
          <a:p xmlns:a="http://schemas.openxmlformats.org/drawingml/2006/main">
            <a:r>
              <a:t>      "안전 규정·부서 지식",</a:t>
            </a:r>
          </a:p>
          <a:p xmlns:a="http://schemas.openxmlformats.org/drawingml/2006/main">
            <a:r>
              <a:t>      "검토 담당"</a:t>
            </a:r>
          </a:p>
          <a:p xmlns:a="http://schemas.openxmlformats.org/drawingml/2006/main">
            <a:r>
              <a:t>    ],</a:t>
            </a:r>
          </a:p>
          <a:p xmlns:a="http://schemas.openxmlformats.org/drawingml/2006/main">
            <a:r>
              <a:t>    "transfers": [</a:t>
            </a:r>
          </a:p>
          <a:p xmlns:a="http://schemas.openxmlformats.org/drawingml/2006/main">
            <a:r>
              <a:t>      "안전 문서",</a:t>
            </a:r>
          </a:p>
          <a:p xmlns:a="http://schemas.openxmlformats.org/drawingml/2006/main">
            <a:r>
              <a:t>      "허용 지식",</a:t>
            </a:r>
          </a:p>
          <a:p xmlns:a="http://schemas.openxmlformats.org/drawingml/2006/main">
            <a:r>
              <a:t>      "검토 초안",</a:t>
            </a:r>
          </a:p>
          <a:p xmlns:a="http://schemas.openxmlformats.org/drawingml/2006/main">
            <a:r>
              <a:t>      "피드백"</a:t>
            </a:r>
          </a:p>
          <a:p xmlns:a="http://schemas.openxmlformats.org/drawingml/2006/main">
            <a:r>
              <a:t>    ],</a:t>
            </a:r>
          </a:p>
          <a:p xmlns:a="http://schemas.openxmlformats.org/drawingml/2006/main">
            <a:r>
              <a:t>    "control": "권한·판본별 안전 질의 정답 대조",</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SFR-005~008 (과업내용서) / Word T053 https://www.g2b.go.kr/pn/pnp/pnpe/UntyAtchFile/downloadFile.do?bidPbancNo=R25BK00790330&amp;bidPbancOrd=000&amp;fileSeq=8&amp;fileType=</a:t>
            </a:r>
          </a:p>
          <a:p xmlns:a="http://schemas.openxmlformats.org/drawingml/2006/main">
            <a:r>
              <a:t>홈페이지 https://heen1987-ops.github.io/TS-business-Plan-001/index.html?view=platform-cases&amp;case=PF-R04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"PF-R04",</a:t>
            </a:r>
          </a:p>
          <a:p xmlns:a="http://schemas.openxmlformats.org/drawingml/2006/main">
            <a:r>
              <a:t>    "sourceId": "R04",</a:t>
            </a:r>
          </a:p>
          <a:p xmlns:a="http://schemas.openxmlformats.org/drawingml/2006/main">
            <a:r>
              <a:t>    "title": "지역난방공사 안전 LLM",</a:t>
            </a:r>
          </a:p>
          <a:p xmlns:a="http://schemas.openxmlformats.org/drawingml/2006/main">
            <a:r>
              <a:t>    "region": "국내",</a:t>
            </a:r>
          </a:p>
          <a:p xmlns:a="http://schemas.openxmlformats.org/drawingml/2006/main">
            <a:r>
              <a:t>    "owner": "한국지역난방공사",</a:t>
            </a:r>
          </a:p>
          <a:p xmlns:a="http://schemas.openxmlformats.org/drawingml/2006/main">
            <a:r>
              <a:t>    "state": "공식 RFP·과업내용서 + 공급사 계약 발표 확인",</a:t>
            </a:r>
          </a:p>
          <a:p xmlns:a="http://schemas.openxmlformats.org/drawingml/2006/main">
            <a:r>
              <a:t>    "period": "기존 원장 확인 2026.10.16",</a:t>
            </a:r>
          </a:p>
          <a:p xmlns:a="http://schemas.openxmlformats.org/drawingml/2006/main">
            <a:r>
              <a:t>    "fact": "안전분야 LLM과 사내 검색·문서 검토·개인/부서 지식공간",</a:t>
            </a:r>
          </a:p>
          <a:p xmlns:a="http://schemas.openxmlformats.org/drawingml/2006/main">
            <a:r>
              <a:t>    "limit": "Temperature를 상세도와 동일시한 원문 표현은 구현 검증 필요",</a:t>
            </a:r>
          </a:p>
          <a:p xmlns:a="http://schemas.openxmlformats.org/drawingml/2006/main">
            <a:r>
              <a:t>    "nodes": [</a:t>
            </a:r>
          </a:p>
          <a:p xmlns:a="http://schemas.openxmlformats.org/drawingml/2006/main">
            <a:r>
              <a:t>      "안전·규정 지식",</a:t>
            </a:r>
          </a:p>
          <a:p xmlns:a="http://schemas.openxmlformats.org/drawingml/2006/main">
            <a:r>
              <a:t>      "권한별 검색",</a:t>
            </a:r>
          </a:p>
          <a:p xmlns:a="http://schemas.openxmlformats.org/drawingml/2006/main">
            <a:r>
              <a:t>      "문서 검토",</a:t>
            </a:r>
          </a:p>
          <a:p xmlns:a="http://schemas.openxmlformats.org/drawingml/2006/main">
            <a:r>
              <a:t>      "현업 피드백"</a:t>
            </a:r>
          </a:p>
          <a:p xmlns:a="http://schemas.openxmlformats.org/drawingml/2006/main">
            <a:r>
              <a:t>    ],</a:t>
            </a:r>
          </a:p>
          <a:p xmlns:a="http://schemas.openxmlformats.org/drawingml/2006/main">
            <a:r>
              <a:t>    "apply": "안전 지식의 소유부서·효력일·상충 근거를 함께 관리하는 검토 체계",</a:t>
            </a:r>
          </a:p>
          <a:p xmlns:a="http://schemas.openxmlformats.org/drawingml/2006/main">
            <a:r>
              <a:t>    "delta": "안전 규정 효력일·소유부서 / 자동 갱신 / 상충 근거 표시",</a:t>
            </a:r>
          </a:p>
          <a:p xmlns:a="http://schemas.openxmlformats.org/drawingml/2006/main">
            <a:r>
              <a:t>    "test": "개정·폐지·권한 제한·상충 문서의 검색 및 검토 결과 대조",</a:t>
            </a:r>
          </a:p>
          <a:p xmlns:a="http://schemas.openxmlformats.org/drawingml/2006/main">
            <a:r>
              <a:t>    "url": "https://www.g2b.go.kr/pn/pnp/pnpe/UntyAtchFile/downloadFile.do?bidPbancNo=R25BK00790330&amp;bidPbancOrd=000&amp;fileSeq=8&amp;fileType=",</a:t>
            </a:r>
          </a:p>
          <a:p xmlns:a="http://schemas.openxmlformats.org/drawingml/2006/main">
            <a:r>
              <a:t>    "urls": [</a:t>
            </a:r>
          </a:p>
          <a:p xmlns:a="http://schemas.openxmlformats.org/drawingml/2006/main">
            <a:r>
              <a:t>      "https://www.g2b.go.kr/pn/pnp/pnpe/UntyAtchFile/downloadFile.do?bidPbancNo=R25BK00790330&amp;bidPbancOrd=000&amp;fileSeq=8&amp;fileType=",</a:t>
            </a:r>
          </a:p>
          <a:p xmlns:a="http://schemas.openxmlformats.org/drawingml/2006/main">
            <a:r>
              <a:t>      "https://gridone.co.kr/community/news/143"</a:t>
            </a:r>
          </a:p>
          <a:p xmlns:a="http://schemas.openxmlformats.org/drawingml/2006/main">
            <a:r>
              <a:t>    ],</a:t>
            </a:r>
          </a:p>
          <a:p xmlns:a="http://schemas.openxmlformats.org/drawingml/2006/main">
            <a:r>
              <a:t>    "basis": "SFR-005~008 (과업내용서) / Word T053",</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"구버전 인용률 / 개정 반영 지연 / 검토 누락률",</a:t>
            </a:r>
          </a:p>
          <a:p xmlns:a="http://schemas.openxmlformats.org/drawingml/2006/main">
            <a:r>
              <a:t>    "group": "요구·구축",</a:t>
            </a:r>
          </a:p>
          <a:p xmlns:a="http://schemas.openxmlformats.org/drawingml/2006/main">
            <a:r>
              <a:t>    "sourceDetail": "자동 문서 최신화, 규정 대조, 권한별 지식 폴더, RAG 파이프라인·피드백·상충 출처 표시",</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"PF-R04",</a:t>
            </a:r>
          </a:p>
          <a:p xmlns:a="http://schemas.openxmlformats.org/drawingml/2006/main">
            <a:r>
              <a:t>    "canonicalId": "PF-R04",</a:t>
            </a:r>
          </a:p>
          <a:p xmlns:a="http://schemas.openxmlformats.org/drawingml/2006/main">
            <a:r>
              <a:t>    "purpose": "안전 지식검색과 규정 대조의 업무 적용",</a:t>
            </a:r>
          </a:p>
          <a:p xmlns:a="http://schemas.openxmlformats.org/drawingml/2006/main">
            <a:r>
              <a:t>    "users": "안전 담당·부서 지식 관리자",</a:t>
            </a:r>
          </a:p>
          <a:p xmlns:a="http://schemas.openxmlformats.org/drawingml/2006/main">
            <a:r>
              <a:t>    "scope": [</a:t>
            </a:r>
          </a:p>
          <a:p xmlns:a="http://schemas.openxmlformats.org/drawingml/2006/main">
            <a:r>
              <a:t>      "안전 LLM",</a:t>
            </a:r>
          </a:p>
          <a:p xmlns:a="http://schemas.openxmlformats.org/drawingml/2006/main">
            <a:r>
              <a:t>      "문서 검토",</a:t>
            </a:r>
          </a:p>
          <a:p xmlns:a="http://schemas.openxmlformats.org/drawingml/2006/main">
            <a:r>
              <a:t>      "부서 지식공간"</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"안전 현업",</a:t>
            </a:r>
          </a:p>
          <a:p xmlns:a="http://schemas.openxmlformats.org/drawingml/2006/main">
            <a:r>
              <a:t>        "detail": "사용자 권한·문서 공간·검토 목적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"안전 LLM / 문서 검토 / 부서 지식공간",</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"권한 검색·문서 검토",</a:t>
            </a:r>
          </a:p>
          <a:p xmlns:a="http://schemas.openxmlformats.org/drawingml/2006/main">
            <a:r>
              <a:t>        "detail": "RAG 검색과 제출 문서·규정 비교",</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"검토 담당",</a:t>
            </a:r>
          </a:p>
          <a:p xmlns:a="http://schemas.openxmlformats.org/drawingml/2006/main">
            <a:r>
              <a:t>        "detail": "상충 근거·검토 의견을 현업에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"안전 규정·부서 지식",</a:t>
            </a:r>
          </a:p>
          <a:p xmlns:a="http://schemas.openxmlformats.org/drawingml/2006/main">
            <a:r>
              <a:t>        "detail": "연계 문서 자동 갱신·권한 폴더·출처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"피드백·개정 반영·권한별 검색 결과 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"안전·규정 지식",</a:t>
            </a:r>
          </a:p>
          <a:p xmlns:a="http://schemas.openxmlformats.org/drawingml/2006/main">
            <a:r>
              <a:t>        "input": "사용자 권한·문서 공간·검토 목적 확인",</a:t>
            </a:r>
          </a:p>
          <a:p xmlns:a="http://schemas.openxmlformats.org/drawingml/2006/main">
            <a:r>
              <a:t>        "process": "연계 문서 자동 갱신·권한 폴더·출처 관리",</a:t>
            </a:r>
          </a:p>
          <a:p xmlns:a="http://schemas.openxmlformats.org/drawingml/2006/main">
            <a:r>
              <a:t>        "output": "안전 문서"</a:t>
            </a:r>
          </a:p>
          <a:p xmlns:a="http://schemas.openxmlformats.org/drawingml/2006/main">
            <a:r>
              <a:t>      },</a:t>
            </a:r>
          </a:p>
          <a:p xmlns:a="http://schemas.openxmlformats.org/drawingml/2006/main">
            <a:r>
              <a:t>      {</a:t>
            </a:r>
          </a:p>
          <a:p xmlns:a="http://schemas.openxmlformats.org/drawingml/2006/main">
            <a:r>
              <a:t>        "title": "권한별 검색",</a:t>
            </a:r>
          </a:p>
          <a:p xmlns:a="http://schemas.openxmlformats.org/drawingml/2006/main">
            <a:r>
              <a:t>        "input": "안전 문서",</a:t>
            </a:r>
          </a:p>
          <a:p xmlns:a="http://schemas.openxmlformats.org/drawingml/2006/main">
            <a:r>
              <a:t>        "process": "RAG 검색과 제출 문서·규정 비교",</a:t>
            </a:r>
          </a:p>
          <a:p xmlns:a="http://schemas.openxmlformats.org/drawingml/2006/main">
            <a:r>
              <a:t>        "output": "허용 지식"</a:t>
            </a:r>
          </a:p>
          <a:p xmlns:a="http://schemas.openxmlformats.org/drawingml/2006/main">
            <a:r>
              <a:t>      },</a:t>
            </a:r>
          </a:p>
          <a:p xmlns:a="http://schemas.openxmlformats.org/drawingml/2006/main">
            <a:r>
              <a:t>      {</a:t>
            </a:r>
          </a:p>
          <a:p xmlns:a="http://schemas.openxmlformats.org/drawingml/2006/main">
            <a:r>
              <a:t>        "title": "문서 검토",</a:t>
            </a:r>
          </a:p>
          <a:p xmlns:a="http://schemas.openxmlformats.org/drawingml/2006/main">
            <a:r>
              <a:t>        "input": "허용 지식",</a:t>
            </a:r>
          </a:p>
          <a:p xmlns:a="http://schemas.openxmlformats.org/drawingml/2006/main">
            <a:r>
              <a:t>        "process": "권한·판본별 안전 질의 정답 대조",</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"title": "현업 피드백",</a:t>
            </a:r>
          </a:p>
          <a:p xmlns:a="http://schemas.openxmlformats.org/drawingml/2006/main">
            <a:r>
              <a:t>        "input": "검토 초안",</a:t>
            </a:r>
          </a:p>
          <a:p xmlns:a="http://schemas.openxmlformats.org/drawingml/2006/main">
            <a:r>
              <a:t>        "process": "상충 근거·검토 의견을 현업에 제공",</a:t>
            </a:r>
          </a:p>
          <a:p xmlns:a="http://schemas.openxmlformats.org/drawingml/2006/main">
            <a:r>
              <a:t>        "output": "피드백"</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"안전 문서를 최신 규정과 대조하고 부서 공간에서 검토",</a:t>
            </a:r>
          </a:p>
          <a:p xmlns:a="http://schemas.openxmlformats.org/drawingml/2006/main">
            <a:r>
              <a:t>      "exception": "폐지 규정·부서 제한 문서·서로 상충하는 출처",</a:t>
            </a:r>
          </a:p>
          <a:p xmlns:a="http://schemas.openxmlformats.org/drawingml/2006/main">
            <a:r>
              <a:t>      "evidence": "판본·권한별 응답과 상충 근거 표시·수정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"안전 담당·부서 지식 관리자",</a:t>
            </a:r>
          </a:p>
          <a:p xmlns:a="http://schemas.openxmlformats.org/drawingml/2006/main">
            <a:r>
              <a:t>          "processing": "사용자 권한·문서 공간·검토 목적 확인",</a:t>
            </a:r>
          </a:p>
          <a:p xmlns:a="http://schemas.openxmlformats.org/drawingml/2006/main">
            <a:r>
              <a:t>          "output": "안전 문서"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"안전 규정·부서 지식",</a:t>
            </a:r>
          </a:p>
          <a:p xmlns:a="http://schemas.openxmlformats.org/drawingml/2006/main">
            <a:r>
              <a:t>          "processing": "연계 문서 자동 갱신·권한 폴더·출처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"안전 문서",</a:t>
            </a:r>
          </a:p>
          <a:p xmlns:a="http://schemas.openxmlformats.org/drawingml/2006/main">
            <a:r>
              <a:t>          "processing": "RAG 검색과 제출 문서·규정 비교",</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"검토 초안",</a:t>
            </a:r>
          </a:p>
          <a:p xmlns:a="http://schemas.openxmlformats.org/drawingml/2006/main">
            <a:r>
              <a:t>          "processing": "상충 근거·검토 의견을 현업에 제공",</a:t>
            </a:r>
          </a:p>
          <a:p xmlns:a="http://schemas.openxmlformats.org/drawingml/2006/main">
            <a:r>
              <a:t>          "output": "피드백"</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"피드백·개정 반영·권한별 검색 결과 검사",</a:t>
            </a:r>
          </a:p>
          <a:p xmlns:a="http://schemas.openxmlformats.org/drawingml/2006/main">
            <a:r>
              <a:t>          "output": "판본·권한별 응답과 상충 근거 표시·수정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"피드백·개정 반영·권한별 검색 결과 검사",</a:t>
            </a:r>
          </a:p>
          <a:p xmlns:a="http://schemas.openxmlformats.org/drawingml/2006/main">
            <a:r>
              <a:t>    "status": "RFP 기반 논리 설계",</a:t>
            </a:r>
          </a:p>
          <a:p xmlns:a="http://schemas.openxmlformats.org/drawingml/2006/main">
            <a:r>
              <a:t>    "basis": "과업내용서 2025.03 · SFR-005~008",</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"SFR-005~008 (과업내용서) / Word T053",</a:t>
            </a:r>
          </a:p>
          <a:p xmlns:a="http://schemas.openxmlformats.org/drawingml/2006/main">
            <a:r>
              <a:t>        "url": "https://www.g2b.go.kr/pn/pnp/pnpe/UntyAtchFile/downloadFile.do?bidPbancNo=R25BK00790330&amp;bidPbancOrd=000&amp;fileSeq=8&amp;fileType="</a:t>
            </a:r>
          </a:p>
          <a:p xmlns:a="http://schemas.openxmlformats.org/drawingml/2006/main">
            <a:r>
              <a:t>      }</a:t>
            </a:r>
          </a:p>
          <a:p xmlns:a="http://schemas.openxmlformats.org/drawingml/2006/main">
            <a:r>
              <a:t>    ],</a:t>
            </a:r>
          </a:p>
          <a:p xmlns:a="http://schemas.openxmlformats.org/drawingml/2006/main">
            <a:r>
              <a:t>    "implication": "안전 지식의 소유부서·효력일·상충 근거를 함께 관리하는 검토 체계",</a:t>
            </a:r>
          </a:p>
          <a:p xmlns:a="http://schemas.openxmlformats.org/drawingml/2006/main">
            <a:r>
              <a:t>    "local": "안전 지식의 소유부서·효력일·상충 근거를 함께 관리하는 검토 체계",</a:t>
            </a:r>
          </a:p>
          <a:p xmlns:a="http://schemas.openxmlformats.org/drawingml/2006/main">
            <a:r>
              <a:t>    "sourceDetail": "자동 문서 최신화, 규정 대조, 권한별 지식 폴더, RAG 파이프라인·피드백·상충 출처 표시",</a:t>
            </a:r>
          </a:p>
          <a:p xmlns:a="http://schemas.openxmlformats.org/drawingml/2006/main">
            <a:r>
              <a:t>    "narrative": [</a:t>
            </a:r>
          </a:p>
          <a:p xmlns:a="http://schemas.openxmlformats.org/drawingml/2006/main">
            <a:r>
              <a:t>      "내부 안전 규정·작업절차를 활용하는 안전 AI와 외부 상용 LLM을 이용하는 AI 서치를 구분한 시범구축. 범용 문서 작성뿐 아니라 제출 문서를 규정과 대조하고, 개인·부서 지식공간을 구성하는 업무 범위.",</a:t>
            </a:r>
          </a:p>
          <a:p xmlns:a="http://schemas.openxmlformats.org/drawingml/2006/main">
            <a:r>
              <a:t>      "원문 예시 도면에서는 통합 UI 아래 DMZ의 AI 서치와 내부 안전 AI·RAG·LLM·DB를 분리. 과업내용서는 문서 자동 최신화, 부서별 접근권한, 청크·임베딩 품질 확인, 실패 문서 재처리까지 요구. 업로드 성공과 검색 가능한 지식 등록 완료의 별도 상태 관리.",</a:t>
            </a:r>
          </a:p>
          <a:p xmlns:a="http://schemas.openxmlformats.org/drawingml/2006/main">
            <a:r>
              <a:t>      "CCK에서는 안전 답변의 문장 품질과 규정 판본·접근권한의 정확성을 별도 시험할 필요. 상충하는 두 규정이 검색될 때 한쪽을 감추기보다 근거와 적용 시점을 함께 제시하는 구조. 외부 모델과 내부 자료의 전달 경계를 TS 보안 환경에 맞춰 재설계할 대상."</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"SFR-005",</a:t>
            </a:r>
          </a:p>
          <a:p xmlns:a="http://schemas.openxmlformats.org/drawingml/2006/main">
            <a:r>
              <a:t>        "title": "생성형 AI 활용 서비스 개발(1/2)",</a:t>
            </a:r>
          </a:p>
          <a:p xmlns:a="http://schemas.openxmlformats.org/drawingml/2006/main">
            <a:r>
              <a:t>        "locator": "SFR-005",</a:t>
            </a:r>
          </a:p>
          <a:p xmlns:a="http://schemas.openxmlformats.org/drawingml/2006/main">
            <a:r>
              <a:t>        "summary": "안전 지식 검색, 근거 링크, 최신 문서 활용, 문서·규칙 검토와 번역 등 생성형 AI 서비스.",</a:t>
            </a:r>
          </a:p>
          <a:p xmlns:a="http://schemas.openxmlformats.org/drawingml/2006/main">
            <a:r>
              <a:t>        "data": "안전 문서·검토 대상 → 근거 응답·검토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"폐기 기준과 현행 기준의 충돌, 문서 인용 오류, 번역의 수치·단위 보존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"25b5da73d68c5556b94c8dfb58ef7569f5ab58304d1786741dc255ac502e1f42"</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"생성형 AI 활용 서비스 개발(2/2)",</a:t>
            </a:r>
          </a:p>
          <a:p xmlns:a="http://schemas.openxmlformats.org/drawingml/2006/main">
            <a:r>
              <a:t>        "locator": "SFR-006",</a:t>
            </a:r>
          </a:p>
          <a:p xmlns:a="http://schemas.openxmlformats.org/drawingml/2006/main">
            <a:r>
              <a:t>        "summary": "개인·부서 지식공간, 접근 이력, 답변 품질 피드백을 포함한 서비스 운영.",</a:t>
            </a:r>
          </a:p>
          <a:p xmlns:a="http://schemas.openxmlformats.org/drawingml/2006/main">
            <a:r>
              <a:t>        "data": "개인·부서 자료·피드백 → 허용 검색·개선 이력",</a:t>
            </a:r>
          </a:p>
          <a:p xmlns:a="http://schemas.openxmlformats.org/drawingml/2006/main">
            <a:r>
              <a:t>        "components": [</a:t>
            </a:r>
          </a:p>
          <a:p xmlns:a="http://schemas.openxmlformats.org/drawingml/2006/main">
            <a:r>
              <a:t>          "C02",</a:t>
            </a:r>
          </a:p>
          <a:p xmlns:a="http://schemas.openxmlformats.org/drawingml/2006/main">
            <a:r>
              <a:t>          "C05",</a:t>
            </a:r>
          </a:p>
          <a:p xmlns:a="http://schemas.openxmlformats.org/drawingml/2006/main">
            <a:r>
              <a:t>          "C08"</a:t>
            </a:r>
          </a:p>
          <a:p xmlns:a="http://schemas.openxmlformats.org/drawingml/2006/main">
            <a:r>
              <a:t>        ],</a:t>
            </a:r>
          </a:p>
          <a:p xmlns:a="http://schemas.openxmlformats.org/drawingml/2006/main">
            <a:r>
              <a:t>        "acceptance": "부서 간 공유 해제·소유자 변경·상충 문서 입력 후 접근·경고·피드백 반영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"f4945d58e397848afbc6b098dcb64f6b12e526fc2cecae10f7d27e2ad93dfeeb"</a:t>
            </a:r>
          </a:p>
          <a:p xmlns:a="http://schemas.openxmlformats.org/drawingml/2006/main">
            <a:r>
              <a:t>      },</a:t>
            </a:r>
          </a:p>
          <a:p xmlns:a="http://schemas.openxmlformats.org/drawingml/2006/main">
            <a:r>
              <a:t>      {</a:t>
            </a:r>
          </a:p>
          <a:p xmlns:a="http://schemas.openxmlformats.org/drawingml/2006/main">
            <a:r>
              <a:t>        "id": "SFR-007",</a:t>
            </a:r>
          </a:p>
          <a:p xmlns:a="http://schemas.openxmlformats.org/drawingml/2006/main">
            <a:r>
              <a:t>        "title": "RAG 파이프라인 기본 기능",</a:t>
            </a:r>
          </a:p>
          <a:p xmlns:a="http://schemas.openxmlformats.org/drawingml/2006/main">
            <a:r>
              <a:t>        "locator": "SFR-007",</a:t>
            </a:r>
          </a:p>
          <a:p xmlns:a="http://schemas.openxmlformats.org/drawingml/2006/main">
            <a:r>
              <a:t>        "summary": "문서 메타데이터·최신성·권한을 반영하는 RAG 파이프라인과 검색 결과 재정렬.",</a:t>
            </a:r>
          </a:p>
          <a:p xmlns:a="http://schemas.openxmlformats.org/drawingml/2006/main">
            <a:r>
              <a:t>        "data": "문서·권한·판본 → 청크·색인·근거 후보",</a:t>
            </a:r>
          </a:p>
          <a:p xmlns:a="http://schemas.openxmlformats.org/drawingml/2006/main">
            <a:r>
              <a:t>        "components": [</a:t>
            </a:r>
          </a:p>
          <a:p xmlns:a="http://schemas.openxmlformats.org/drawingml/2006/main">
            <a:r>
              <a:t>          "C03",</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"동일 문서 개정·삭제와 권한 변경 후 검색 결과·인용 판본의 일치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"6f87f23072fbc43c688f6da23e43fb4733d4e55ddcab3f3e4ebdbae410ee9e63"</a:t>
            </a:r>
          </a:p>
          <a:p xmlns:a="http://schemas.openxmlformats.org/drawingml/2006/main">
            <a:r>
              <a:t>      },</a:t>
            </a:r>
          </a:p>
          <a:p xmlns:a="http://schemas.openxmlformats.org/drawingml/2006/main">
            <a:r>
              <a:t>      {</a:t>
            </a:r>
          </a:p>
          <a:p xmlns:a="http://schemas.openxmlformats.org/drawingml/2006/main">
            <a:r>
              <a:t>        "id": "SFR-008",</a:t>
            </a:r>
          </a:p>
          <a:p xmlns:a="http://schemas.openxmlformats.org/drawingml/2006/main">
            <a:r>
              <a:t>        "title": "RAG 파이프라인 품질 관리 도구",</a:t>
            </a:r>
          </a:p>
          <a:p xmlns:a="http://schemas.openxmlformats.org/drawingml/2006/main">
            <a:r>
              <a:t>        "locator": "SFR-008",</a:t>
            </a:r>
          </a:p>
          <a:p xmlns:a="http://schemas.openxmlformats.org/drawingml/2006/main">
            <a:r>
              <a:t>        "summary": "청크 품질 확인, 미리보기, 임베딩 실패와 재처리 대기열을 관리하는 RAG 품질 도구.",</a:t>
            </a:r>
          </a:p>
          <a:p xmlns:a="http://schemas.openxmlformats.org/drawingml/2006/main">
            <a:r>
              <a:t>        "data": "처리 대상·실패 로그 → 품질 상태·재처리 결과",</a:t>
            </a:r>
          </a:p>
          <a:p xmlns:a="http://schemas.openxmlformats.org/drawingml/2006/main">
            <a:r>
              <a:t>        "components": [</a:t>
            </a:r>
          </a:p>
          <a:p xmlns:a="http://schemas.openxmlformats.org/drawingml/2006/main">
            <a:r>
              <a:t>          "C08",</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"표 분절·빈 청크·임베딩 실패를 주입해 탐지·재처리·색인 반영까지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"1a9d64ce29e584a1eabb8503cc98e9abde38893210ab6dcc4e3f33e8e440394e"</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"안전 현업 접점",</a:t>
            </a:r>
          </a:p>
          <a:p xmlns:a="http://schemas.openxmlformats.org/drawingml/2006/main">
            <a:r>
              <a:t>          "layer": "이용 접점",</a:t>
            </a:r>
          </a:p>
          <a:p xmlns:a="http://schemas.openxmlformats.org/drawingml/2006/main">
            <a:r>
              <a:t>          "detail": "안전 담당·부서 지식 관리자",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"직원·폴더 권한",</a:t>
            </a:r>
          </a:p>
          <a:p xmlns:a="http://schemas.openxmlformats.org/drawingml/2006/main">
            <a:r>
              <a:t>          "layer": "업무 문맥",</a:t>
            </a:r>
          </a:p>
          <a:p xmlns:a="http://schemas.openxmlformats.org/drawingml/2006/main">
            <a:r>
              <a:t>          "detail": "사용자 권한·문서 공간·검토 목적 확인",</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"안전 지식 검색",</a:t>
            </a:r>
          </a:p>
          <a:p xmlns:a="http://schemas.openxmlformats.org/drawingml/2006/main">
            <a:r>
              <a:t>          "layer": "자료 조회",</a:t>
            </a:r>
          </a:p>
          <a:p xmlns:a="http://schemas.openxmlformats.org/drawingml/2006/main">
            <a:r>
              <a:t>          "detail": "안전 문서",</a:t>
            </a:r>
          </a:p>
          <a:p xmlns:a="http://schemas.openxmlformats.org/drawingml/2006/main">
            <a:r>
              <a:t>          "requirements": [</a:t>
            </a:r>
          </a:p>
          <a:p xmlns:a="http://schemas.openxmlformats.org/drawingml/2006/main">
            <a:r>
              <a:t>            "SFR-005",</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"문서·규정 대조",</a:t>
            </a:r>
          </a:p>
          <a:p xmlns:a="http://schemas.openxmlformats.org/drawingml/2006/main">
            <a:r>
              <a:t>          "layer": "핵심 처리",</a:t>
            </a:r>
          </a:p>
          <a:p xmlns:a="http://schemas.openxmlformats.org/drawingml/2006/main">
            <a:r>
              <a:t>          "detail": "RAG 검색과 제출 문서·규정 비교",</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"상충·구판 검사",</a:t>
            </a:r>
          </a:p>
          <a:p xmlns:a="http://schemas.openxmlformats.org/drawingml/2006/main">
            <a:r>
              <a:t>          "layer": "결과 검증",</a:t>
            </a:r>
          </a:p>
          <a:p xmlns:a="http://schemas.openxmlformats.org/drawingml/2006/main">
            <a:r>
              <a:t>          "detail": "권한·판본별 안전 질의 정답 대조",</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"안전 담당 검토",</a:t>
            </a:r>
          </a:p>
          <a:p xmlns:a="http://schemas.openxmlformats.org/drawingml/2006/main">
            <a:r>
              <a:t>          "layer": "사람 확인",</a:t>
            </a:r>
          </a:p>
          <a:p xmlns:a="http://schemas.openxmlformats.org/drawingml/2006/main">
            <a:r>
              <a:t>          "detail": "안전 문서를 최신 규정과 대조하고 부서 공간에서 검토",</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"업무 검토 의견",</a:t>
            </a:r>
          </a:p>
          <a:p xmlns:a="http://schemas.openxmlformats.org/drawingml/2006/main">
            <a:r>
              <a:t>          "layer": "업무 연결",</a:t>
            </a:r>
          </a:p>
          <a:p xmlns:a="http://schemas.openxmlformats.org/drawingml/2006/main">
            <a:r>
              <a:t>          "detail": "상충 근거·검토 의견을 현업에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"피드백·권한 시험",</a:t>
            </a:r>
          </a:p>
          <a:p xmlns:a="http://schemas.openxmlformats.org/drawingml/2006/main">
            <a:r>
              <a:t>          "layer": "운영 관측",</a:t>
            </a:r>
          </a:p>
          <a:p xmlns:a="http://schemas.openxmlformats.org/drawingml/2006/main">
            <a:r>
              <a:t>          "detail": "피드백·개정 반영·권한별 검색 결과 검사",</a:t>
            </a:r>
          </a:p>
          <a:p xmlns:a="http://schemas.openxmlformats.org/drawingml/2006/main">
            <a:r>
              <a:t>          "requirements": [</a:t>
            </a:r>
          </a:p>
          <a:p xmlns:a="http://schemas.openxmlformats.org/drawingml/2006/main">
            <a:r>
              <a:t>            "SFR-006",</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"안전규정·부서문서",</a:t>
            </a:r>
          </a:p>
          <a:p xmlns:a="http://schemas.openxmlformats.org/drawingml/2006/main">
            <a:r>
              <a:t>          "layer": "데이터 원천",</a:t>
            </a:r>
          </a:p>
          <a:p xmlns:a="http://schemas.openxmlformats.org/drawingml/2006/main">
            <a:r>
              <a:t>          "detail": "안전 규정·부서 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"자동 문서 최신화",</a:t>
            </a:r>
          </a:p>
          <a:p xmlns:a="http://schemas.openxmlformats.org/drawingml/2006/main">
            <a:r>
              <a:t>          "layer": "준비·갱신",</a:t>
            </a:r>
          </a:p>
          <a:p xmlns:a="http://schemas.openxmlformats.org/drawingml/2006/main">
            <a:r>
              <a:t>          "detail": "연계 문서 자동 갱신·권한 폴더·출처 관리",</a:t>
            </a:r>
          </a:p>
          <a:p xmlns:a="http://schemas.openxmlformats.org/drawingml/2006/main">
            <a:r>
              <a:t>          "requirements": [</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"폴더·RAG 색인",</a:t>
            </a:r>
          </a:p>
          <a:p xmlns:a="http://schemas.openxmlformats.org/drawingml/2006/main">
            <a:r>
              <a:t>          "layer": "상태·지식 저장",</a:t>
            </a:r>
          </a:p>
          <a:p xmlns:a="http://schemas.openxmlformats.org/drawingml/2006/main">
            <a:r>
              <a:t>          "detail": "판본·권한별 응답과 상충 근거 표시·수정 이력",</a:t>
            </a:r>
          </a:p>
          <a:p xmlns:a="http://schemas.openxmlformats.org/drawingml/2006/main">
            <a:r>
              <a:t>          "requirements": [</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"지식공간 접근정책",</a:t>
            </a:r>
          </a:p>
          <a:p xmlns:a="http://schemas.openxmlformats.org/drawingml/2006/main">
            <a:r>
              <a:t>          "layer": "권한·정책",</a:t>
            </a:r>
          </a:p>
          <a:p xmlns:a="http://schemas.openxmlformats.org/drawingml/2006/main">
            <a:r>
              <a:t>          "detail": "폐지 규정·부서 제한 문서·서로 상충하는 출처",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"사용자 권한·문서 공간·검토 목적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"안전 문서",</a:t>
            </a:r>
          </a:p>
          <a:p xmlns:a="http://schemas.openxmlformats.org/drawingml/2006/main">
            <a:r>
              <a:t>          "check": "권한·판본별 안전 질의 정답 대조"</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"허용 지식",</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"검토 초안",</a:t>
            </a:r>
          </a:p>
          <a:p xmlns:a="http://schemas.openxmlformats.org/drawingml/2006/main">
            <a:r>
              <a:t>          "check": "폐지 규정·부서 제한 문서·서로 상충하는 출처"</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"검토 초안",</a:t>
            </a:r>
          </a:p>
          <a:p xmlns:a="http://schemas.openxmlformats.org/drawingml/2006/main">
            <a:r>
              <a:t>          "check": "상충 근거·검토 의견을 현업에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"피드백",</a:t>
            </a:r>
          </a:p>
          <a:p xmlns:a="http://schemas.openxmlformats.org/drawingml/2006/main">
            <a:r>
              <a:t>          "check": "판본·권한별 응답과 상충 근거 표시·수정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"HW·SW 구성도(예시), SFR-005~008",</a:t>
            </a:r>
          </a:p>
          <a:p xmlns:a="http://schemas.openxmlformats.org/drawingml/2006/main">
            <a:r>
              <a:t>        "extracted": "안전 AI·AI 서치·RAG·지식공간·문서 최신화",</a:t>
            </a:r>
          </a:p>
          <a:p xmlns:a="http://schemas.openxmlformats.org/drawingml/2006/main">
            <a:r>
              <a:t>        "extension": "상충 출처 검토, 폴더별 접근 검사와 개정 후 재평가"</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"PF-R04",</a:t>
            </a:r>
          </a:p>
          <a:p xmlns:a="http://schemas.openxmlformats.org/drawingml/2006/main">
            <a:r>
              <a:t>          "path": "assets/casebook-sources/PF-R04-01.png",</a:t>
            </a:r>
          </a:p>
          <a:p xmlns:a="http://schemas.openxmlformats.org/drawingml/2006/main">
            <a:r>
              <a:t>          "title": "안전 AI H/W 구성",</a:t>
            </a:r>
          </a:p>
          <a:p xmlns:a="http://schemas.openxmlformats.org/drawingml/2006/main">
            <a:r>
              <a:t>          "status": "과업내용서 H/W 구성도 예시",</a:t>
            </a:r>
          </a:p>
          <a:p xmlns:a="http://schemas.openxmlformats.org/drawingml/2006/main">
            <a:r>
              <a:t>          "caption": "DMZ AI 서치와 내부 안전 AI·RAG·LLM·DB 구성",</a:t>
            </a:r>
          </a:p>
          <a:p xmlns:a="http://schemas.openxmlformats.org/drawingml/2006/main">
            <a:r>
              <a:t>          "locator": "rId14 / BinData/BIN0001_bmp",</a:t>
            </a:r>
          </a:p>
          <a:p xmlns:a="http://schemas.openxmlformats.org/drawingml/2006/main">
            <a:r>
              <a:t>          "checked": "2026-10-16",</a:t>
            </a:r>
          </a:p>
          <a:p xmlns:a="http://schemas.openxmlformats.org/drawingml/2006/main">
            <a:r>
              <a:t>          "sha256": "47450653a73f8241e06210e73728a502e3d332cafb949494da1a9833622e77a3",</a:t>
            </a:r>
          </a:p>
          <a:p xmlns:a="http://schemas.openxmlformats.org/drawingml/2006/main">
            <a:r>
              <a:t>          "explanation": {</a:t>
            </a:r>
          </a:p>
          <a:p xmlns:a="http://schemas.openxmlformats.org/drawingml/2006/main">
            <a:r>
              <a:t>            "read": "DMZ와 내부 영역의 AI 서치·안전 AI·RAG·LLM·DB 배치를 구분한 H/W 구성 예시. 외부 접점과 내부 지식의 접근 경계를 인프라 관점에서 표현.",</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"SFR-007"</a:t>
            </a:r>
          </a:p>
          <a:p xmlns:a="http://schemas.openxmlformats.org/drawingml/2006/main">
            <a:r>
              <a:t>            ],</a:t>
            </a:r>
          </a:p>
          <a:p xmlns:a="http://schemas.openxmlformats.org/drawingml/2006/main">
            <a:r>
              <a:t>            "connection": "공개 조회와 내부 안전 문서의 경계를 분리하고 개인·부서 지식공간의 권한이 검색과 응답 양쪽에 적용되는지 확인하는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"PF-R04",</a:t>
            </a:r>
          </a:p>
          <a:p xmlns:a="http://schemas.openxmlformats.org/drawingml/2006/main">
            <a:r>
              <a:t>          "path": "assets/casebook-sources/PF-R04-02.png",</a:t>
            </a:r>
          </a:p>
          <a:p xmlns:a="http://schemas.openxmlformats.org/drawingml/2006/main">
            <a:r>
              <a:t>          "title": "안전 AI S/W 구성",</a:t>
            </a:r>
          </a:p>
          <a:p xmlns:a="http://schemas.openxmlformats.org/drawingml/2006/main">
            <a:r>
              <a:t>          "status": "과업내용서 S/W 구성도 예시",</a:t>
            </a:r>
          </a:p>
          <a:p xmlns:a="http://schemas.openxmlformats.org/drawingml/2006/main">
            <a:r>
              <a:t>          "caption": "안전 지식·RAG와 외부 LLM API 업무 지원의 구분",</a:t>
            </a:r>
          </a:p>
          <a:p xmlns:a="http://schemas.openxmlformats.org/drawingml/2006/main">
            <a:r>
              <a:t>          "locator": "rId14 / BinData/BIN0002_bmp",</a:t>
            </a:r>
          </a:p>
          <a:p xmlns:a="http://schemas.openxmlformats.org/drawingml/2006/main">
            <a:r>
              <a:t>          "checked": "2026-10-16",</a:t>
            </a:r>
          </a:p>
          <a:p xmlns:a="http://schemas.openxmlformats.org/drawingml/2006/main">
            <a:r>
              <a:t>          "sha256": "607e9e60f0ab618fa7cdca53b108478e11e89b59866b5f5e7bd063e5d01aac5c",</a:t>
            </a:r>
          </a:p>
          <a:p xmlns:a="http://schemas.openxmlformats.org/drawingml/2006/main">
            <a:r>
              <a:t>          "explanation": {</a:t>
            </a:r>
          </a:p>
          <a:p xmlns:a="http://schemas.openxmlformats.org/drawingml/2006/main">
            <a:r>
              <a:t>            "read": "안전 지식의 검색·RAG 경로와 외부 모델 API를 활용하는 업무 지원 경로를 구분한 S/W 구성 예시. 문서 최신화와 지식공간 관리는 생성 기능을 유지하기 위한 별도 운영 기능.",</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"connection": "외부 모델로 전송할 입력 범위, 문서 개정 후 색인 갱신, 청크 오류와 임베딩 재처리의 상태를 서로 구분하는 서비스·운영 계약."</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"폐지 규정·부서 제한 문서·서로 상충하는 출처",</a:t>
            </a:r>
          </a:p>
          <a:p xmlns:a="http://schemas.openxmlformats.org/drawingml/2006/main">
            <a:r>
              <a:t>        "hold": "권한·판본별 안전 질의 정답 대조",</a:t>
            </a:r>
          </a:p>
          <a:p xmlns:a="http://schemas.openxmlformats.org/drawingml/2006/main">
            <a:r>
              <a:t>        "recovery": "피드백·개정 반영·권한별 검색 결과 검사",</a:t>
            </a:r>
          </a:p>
          <a:p xmlns:a="http://schemas.openxmlformats.org/drawingml/2006/main">
            <a:r>
              <a:t>        "evidence": "판본·권한별 응답과 상충 근거 표시·수정 이력"</a:t>
            </a:r>
          </a:p>
          <a:p xmlns:a="http://schemas.openxmlformats.org/drawingml/2006/main">
            <a:r>
              <a:t>      },</a:t>
            </a:r>
          </a:p>
          <a:p xmlns:a="http://schemas.openxmlformats.org/drawingml/2006/main">
            <a:r>
              <a:t>      "data": {</a:t>
            </a:r>
          </a:p>
          <a:p xmlns:a="http://schemas.openxmlformats.org/drawingml/2006/main">
            <a:r>
              <a:t>        "source": "안전 규정·부서 지식",</a:t>
            </a:r>
          </a:p>
          <a:p xmlns:a="http://schemas.openxmlformats.org/drawingml/2006/main">
            <a:r>
              <a:t>        "prepare": "연계 문서 자동 갱신·권한 폴더·출처 관리",</a:t>
            </a:r>
          </a:p>
          <a:p xmlns:a="http://schemas.openxmlformats.org/drawingml/2006/main">
            <a:r>
              <a:t>        "output": "안전 문서",</a:t>
            </a:r>
          </a:p>
          <a:p xmlns:a="http://schemas.openxmlformats.org/drawingml/2006/main">
            <a:r>
              <a:t>        "refresh": "피드백·개정 반영·권한별 검색 결과 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"PF-R04",</a:t>
            </a:r>
          </a:p>
          <a:p xmlns:a="http://schemas.openxmlformats.org/drawingml/2006/main">
            <a:r>
              <a:t>    "success": [</a:t>
            </a:r>
          </a:p>
          <a:p xmlns:a="http://schemas.openxmlformats.org/drawingml/2006/main">
            <a:r>
              <a:t>      "안전 도메인 지식 집중",</a:t>
            </a:r>
          </a:p>
          <a:p xmlns:a="http://schemas.openxmlformats.org/drawingml/2006/main">
            <a:r>
              <a:t>      "개인·부서 지식공간의 구분"</a:t>
            </a:r>
          </a:p>
          <a:p xmlns:a="http://schemas.openxmlformats.org/drawingml/2006/main">
            <a:r>
              <a:t>    ],</a:t>
            </a:r>
          </a:p>
          <a:p xmlns:a="http://schemas.openxmlformats.org/drawingml/2006/main">
            <a:r>
              <a:t>    "risks": [</a:t>
            </a:r>
          </a:p>
          <a:p xmlns:a="http://schemas.openxmlformats.org/drawingml/2006/main">
            <a:r>
              <a:t>      "부서 자료의 권한 혼입",</a:t>
            </a:r>
          </a:p>
          <a:p xmlns:a="http://schemas.openxmlformats.org/drawingml/2006/main">
            <a:r>
              <a:t>      "계약 발표를 안전 품질 검수로 간주"</a:t>
            </a:r>
          </a:p>
          <a:p xmlns:a="http://schemas.openxmlformats.org/drawingml/2006/main">
            <a:r>
              <a:t>    ],</a:t>
            </a:r>
          </a:p>
          <a:p xmlns:a="http://schemas.openxmlformats.org/drawingml/2006/main">
            <a:r>
              <a:t>    "architecture": [</a:t>
            </a:r>
          </a:p>
          <a:p xmlns:a="http://schemas.openxmlformats.org/drawingml/2006/main">
            <a:r>
              <a:t>      "안전 현업",</a:t>
            </a:r>
          </a:p>
          <a:p xmlns:a="http://schemas.openxmlformats.org/drawingml/2006/main">
            <a:r>
              <a:t>      "권한 검색·문서 검토",</a:t>
            </a:r>
          </a:p>
          <a:p xmlns:a="http://schemas.openxmlformats.org/drawingml/2006/main">
            <a:r>
              <a:t>      "안전 규정·부서 지식",</a:t>
            </a:r>
          </a:p>
          <a:p xmlns:a="http://schemas.openxmlformats.org/drawingml/2006/main">
            <a:r>
              <a:t>      "검토 담당"</a:t>
            </a:r>
          </a:p>
          <a:p xmlns:a="http://schemas.openxmlformats.org/drawingml/2006/main">
            <a:r>
              <a:t>    ],</a:t>
            </a:r>
          </a:p>
          <a:p xmlns:a="http://schemas.openxmlformats.org/drawingml/2006/main">
            <a:r>
              <a:t>    "transfers": [</a:t>
            </a:r>
          </a:p>
          <a:p xmlns:a="http://schemas.openxmlformats.org/drawingml/2006/main">
            <a:r>
              <a:t>      "안전 문서",</a:t>
            </a:r>
          </a:p>
          <a:p xmlns:a="http://schemas.openxmlformats.org/drawingml/2006/main">
            <a:r>
              <a:t>      "허용 지식",</a:t>
            </a:r>
          </a:p>
          <a:p xmlns:a="http://schemas.openxmlformats.org/drawingml/2006/main">
            <a:r>
              <a:t>      "검토 초안",</a:t>
            </a:r>
          </a:p>
          <a:p xmlns:a="http://schemas.openxmlformats.org/drawingml/2006/main">
            <a:r>
              <a:t>      "피드백"</a:t>
            </a:r>
          </a:p>
          <a:p xmlns:a="http://schemas.openxmlformats.org/drawingml/2006/main">
            <a:r>
              <a:t>    ],</a:t>
            </a:r>
          </a:p>
          <a:p xmlns:a="http://schemas.openxmlformats.org/drawingml/2006/main">
            <a:r>
              <a:t>    "control": "권한·판본별 안전 질의 정답 대조",</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SFR-005~008 (과업내용서) / Word T053 https://www.g2b.go.kr/pn/pnp/pnpe/UntyAtchFile/downloadFile.do?bidPbancNo=R25BK00790330&amp;bidPbancOrd=000&amp;fileSeq=8&amp;fileType=</a:t>
            </a:r>
          </a:p>
          <a:p xmlns:a="http://schemas.openxmlformats.org/drawingml/2006/main">
            <a:r>
              <a:t>홈페이지 https://heen1987-ops.github.io/TS-business-Plan-001/index.html?view=platform-cases&amp;case=PF-R04</a:t>
            </a:r>
          </a:p>
          <a:p xmlns:a="http://schemas.openxmlformats.org/drawingml/2006/main">
            <a:r>
              <a:t>원문 도면 {"caseId":"PF-R04","path":"assets/casebook-sources/PF-R04-01.png","title":"안전 AI H/W 구성","status":"과업내용서 H/W 구성도 예시","caption":"DMZ AI 서치와 내부 안전 AI·RAG·LLM·DB 구성","locator":"rId14 / BinData/BIN0001_bmp","checked":"2026-10-16","sha256":"47450653a73f8241e06210e73728a502e3d332cafb949494da1a9833622e77a3","explanation":{"read":"DMZ와 내부 영역의 AI 서치·안전 AI·RAG·LLM·DB 배치를 구분한 H/W 구성 예시. 외부 접점과 내부 지식의 접근 경계를 인프라 관점에서 표현.","requirements":["SFR-005","SFR-006","SFR-007"],"connection":"공개 조회와 내부 안전 문서의 경계를 분리하고 개인·부서 지식공간의 권한이 검색과 응답 양쪽에 적용되는지 확인하는 설계."}}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"PF-R04",</a:t>
            </a:r>
          </a:p>
          <a:p xmlns:a="http://schemas.openxmlformats.org/drawingml/2006/main">
            <a:r>
              <a:t>    "sourceId": "R04",</a:t>
            </a:r>
          </a:p>
          <a:p xmlns:a="http://schemas.openxmlformats.org/drawingml/2006/main">
            <a:r>
              <a:t>    "title": "지역난방공사 안전 LLM",</a:t>
            </a:r>
          </a:p>
          <a:p xmlns:a="http://schemas.openxmlformats.org/drawingml/2006/main">
            <a:r>
              <a:t>    "region": "국내",</a:t>
            </a:r>
          </a:p>
          <a:p xmlns:a="http://schemas.openxmlformats.org/drawingml/2006/main">
            <a:r>
              <a:t>    "owner": "한국지역난방공사",</a:t>
            </a:r>
          </a:p>
          <a:p xmlns:a="http://schemas.openxmlformats.org/drawingml/2006/main">
            <a:r>
              <a:t>    "state": "공식 RFP·과업내용서 + 공급사 계약 발표 확인",</a:t>
            </a:r>
          </a:p>
          <a:p xmlns:a="http://schemas.openxmlformats.org/drawingml/2006/main">
            <a:r>
              <a:t>    "period": "기존 원장 확인 2026.10.16",</a:t>
            </a:r>
          </a:p>
          <a:p xmlns:a="http://schemas.openxmlformats.org/drawingml/2006/main">
            <a:r>
              <a:t>    "fact": "안전분야 LLM과 사내 검색·문서 검토·개인/부서 지식공간",</a:t>
            </a:r>
          </a:p>
          <a:p xmlns:a="http://schemas.openxmlformats.org/drawingml/2006/main">
            <a:r>
              <a:t>    "limit": "Temperature를 상세도와 동일시한 원문 표현은 구현 검증 필요",</a:t>
            </a:r>
          </a:p>
          <a:p xmlns:a="http://schemas.openxmlformats.org/drawingml/2006/main">
            <a:r>
              <a:t>    "nodes": [</a:t>
            </a:r>
          </a:p>
          <a:p xmlns:a="http://schemas.openxmlformats.org/drawingml/2006/main">
            <a:r>
              <a:t>      "안전·규정 지식",</a:t>
            </a:r>
          </a:p>
          <a:p xmlns:a="http://schemas.openxmlformats.org/drawingml/2006/main">
            <a:r>
              <a:t>      "권한별 검색",</a:t>
            </a:r>
          </a:p>
          <a:p xmlns:a="http://schemas.openxmlformats.org/drawingml/2006/main">
            <a:r>
              <a:t>      "문서 검토",</a:t>
            </a:r>
          </a:p>
          <a:p xmlns:a="http://schemas.openxmlformats.org/drawingml/2006/main">
            <a:r>
              <a:t>      "현업 피드백"</a:t>
            </a:r>
          </a:p>
          <a:p xmlns:a="http://schemas.openxmlformats.org/drawingml/2006/main">
            <a:r>
              <a:t>    ],</a:t>
            </a:r>
          </a:p>
          <a:p xmlns:a="http://schemas.openxmlformats.org/drawingml/2006/main">
            <a:r>
              <a:t>    "apply": "안전 지식의 소유부서·효력일·상충 근거를 함께 관리하는 검토 체계",</a:t>
            </a:r>
          </a:p>
          <a:p xmlns:a="http://schemas.openxmlformats.org/drawingml/2006/main">
            <a:r>
              <a:t>    "delta": "안전 규정 효력일·소유부서 / 자동 갱신 / 상충 근거 표시",</a:t>
            </a:r>
          </a:p>
          <a:p xmlns:a="http://schemas.openxmlformats.org/drawingml/2006/main">
            <a:r>
              <a:t>    "test": "개정·폐지·권한 제한·상충 문서의 검색 및 검토 결과 대조",</a:t>
            </a:r>
          </a:p>
          <a:p xmlns:a="http://schemas.openxmlformats.org/drawingml/2006/main">
            <a:r>
              <a:t>    "url": "https://www.g2b.go.kr/pn/pnp/pnpe/UntyAtchFile/downloadFile.do?bidPbancNo=R25BK00790330&amp;bidPbancOrd=000&amp;fileSeq=8&amp;fileType=",</a:t>
            </a:r>
          </a:p>
          <a:p xmlns:a="http://schemas.openxmlformats.org/drawingml/2006/main">
            <a:r>
              <a:t>    "urls": [</a:t>
            </a:r>
          </a:p>
          <a:p xmlns:a="http://schemas.openxmlformats.org/drawingml/2006/main">
            <a:r>
              <a:t>      "https://www.g2b.go.kr/pn/pnp/pnpe/UntyAtchFile/downloadFile.do?bidPbancNo=R25BK00790330&amp;bidPbancOrd=000&amp;fileSeq=8&amp;fileType=",</a:t>
            </a:r>
          </a:p>
          <a:p xmlns:a="http://schemas.openxmlformats.org/drawingml/2006/main">
            <a:r>
              <a:t>      "https://gridone.co.kr/community/news/143"</a:t>
            </a:r>
          </a:p>
          <a:p xmlns:a="http://schemas.openxmlformats.org/drawingml/2006/main">
            <a:r>
              <a:t>    ],</a:t>
            </a:r>
          </a:p>
          <a:p xmlns:a="http://schemas.openxmlformats.org/drawingml/2006/main">
            <a:r>
              <a:t>    "basis": "SFR-005~008 (과업내용서) / Word T053",</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"구버전 인용률 / 개정 반영 지연 / 검토 누락률",</a:t>
            </a:r>
          </a:p>
          <a:p xmlns:a="http://schemas.openxmlformats.org/drawingml/2006/main">
            <a:r>
              <a:t>    "group": "요구·구축",</a:t>
            </a:r>
          </a:p>
          <a:p xmlns:a="http://schemas.openxmlformats.org/drawingml/2006/main">
            <a:r>
              <a:t>    "sourceDetail": "자동 문서 최신화, 규정 대조, 권한별 지식 폴더, RAG 파이프라인·피드백·상충 출처 표시",</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"PF-R04",</a:t>
            </a:r>
          </a:p>
          <a:p xmlns:a="http://schemas.openxmlformats.org/drawingml/2006/main">
            <a:r>
              <a:t>    "canonicalId": "PF-R04",</a:t>
            </a:r>
          </a:p>
          <a:p xmlns:a="http://schemas.openxmlformats.org/drawingml/2006/main">
            <a:r>
              <a:t>    "purpose": "안전 지식검색과 규정 대조의 업무 적용",</a:t>
            </a:r>
          </a:p>
          <a:p xmlns:a="http://schemas.openxmlformats.org/drawingml/2006/main">
            <a:r>
              <a:t>    "users": "안전 담당·부서 지식 관리자",</a:t>
            </a:r>
          </a:p>
          <a:p xmlns:a="http://schemas.openxmlformats.org/drawingml/2006/main">
            <a:r>
              <a:t>    "scope": [</a:t>
            </a:r>
          </a:p>
          <a:p xmlns:a="http://schemas.openxmlformats.org/drawingml/2006/main">
            <a:r>
              <a:t>      "안전 LLM",</a:t>
            </a:r>
          </a:p>
          <a:p xmlns:a="http://schemas.openxmlformats.org/drawingml/2006/main">
            <a:r>
              <a:t>      "문서 검토",</a:t>
            </a:r>
          </a:p>
          <a:p xmlns:a="http://schemas.openxmlformats.org/drawingml/2006/main">
            <a:r>
              <a:t>      "부서 지식공간"</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"안전 현업",</a:t>
            </a:r>
          </a:p>
          <a:p xmlns:a="http://schemas.openxmlformats.org/drawingml/2006/main">
            <a:r>
              <a:t>        "detail": "사용자 권한·문서 공간·검토 목적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"안전 LLM / 문서 검토 / 부서 지식공간",</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"권한 검색·문서 검토",</a:t>
            </a:r>
          </a:p>
          <a:p xmlns:a="http://schemas.openxmlformats.org/drawingml/2006/main">
            <a:r>
              <a:t>        "detail": "RAG 검색과 제출 문서·규정 비교",</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"검토 담당",</a:t>
            </a:r>
          </a:p>
          <a:p xmlns:a="http://schemas.openxmlformats.org/drawingml/2006/main">
            <a:r>
              <a:t>        "detail": "상충 근거·검토 의견을 현업에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"안전 규정·부서 지식",</a:t>
            </a:r>
          </a:p>
          <a:p xmlns:a="http://schemas.openxmlformats.org/drawingml/2006/main">
            <a:r>
              <a:t>        "detail": "연계 문서 자동 갱신·권한 폴더·출처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"피드백·개정 반영·권한별 검색 결과 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"안전·규정 지식",</a:t>
            </a:r>
          </a:p>
          <a:p xmlns:a="http://schemas.openxmlformats.org/drawingml/2006/main">
            <a:r>
              <a:t>        "input": "사용자 권한·문서 공간·검토 목적 확인",</a:t>
            </a:r>
          </a:p>
          <a:p xmlns:a="http://schemas.openxmlformats.org/drawingml/2006/main">
            <a:r>
              <a:t>        "process": "연계 문서 자동 갱신·권한 폴더·출처 관리",</a:t>
            </a:r>
          </a:p>
          <a:p xmlns:a="http://schemas.openxmlformats.org/drawingml/2006/main">
            <a:r>
              <a:t>        "output": "안전 문서"</a:t>
            </a:r>
          </a:p>
          <a:p xmlns:a="http://schemas.openxmlformats.org/drawingml/2006/main">
            <a:r>
              <a:t>      },</a:t>
            </a:r>
          </a:p>
          <a:p xmlns:a="http://schemas.openxmlformats.org/drawingml/2006/main">
            <a:r>
              <a:t>      {</a:t>
            </a:r>
          </a:p>
          <a:p xmlns:a="http://schemas.openxmlformats.org/drawingml/2006/main">
            <a:r>
              <a:t>        "title": "권한별 검색",</a:t>
            </a:r>
          </a:p>
          <a:p xmlns:a="http://schemas.openxmlformats.org/drawingml/2006/main">
            <a:r>
              <a:t>        "input": "안전 문서",</a:t>
            </a:r>
          </a:p>
          <a:p xmlns:a="http://schemas.openxmlformats.org/drawingml/2006/main">
            <a:r>
              <a:t>        "process": "RAG 검색과 제출 문서·규정 비교",</a:t>
            </a:r>
          </a:p>
          <a:p xmlns:a="http://schemas.openxmlformats.org/drawingml/2006/main">
            <a:r>
              <a:t>        "output": "허용 지식"</a:t>
            </a:r>
          </a:p>
          <a:p xmlns:a="http://schemas.openxmlformats.org/drawingml/2006/main">
            <a:r>
              <a:t>      },</a:t>
            </a:r>
          </a:p>
          <a:p xmlns:a="http://schemas.openxmlformats.org/drawingml/2006/main">
            <a:r>
              <a:t>      {</a:t>
            </a:r>
          </a:p>
          <a:p xmlns:a="http://schemas.openxmlformats.org/drawingml/2006/main">
            <a:r>
              <a:t>        "title": "문서 검토",</a:t>
            </a:r>
          </a:p>
          <a:p xmlns:a="http://schemas.openxmlformats.org/drawingml/2006/main">
            <a:r>
              <a:t>        "input": "허용 지식",</a:t>
            </a:r>
          </a:p>
          <a:p xmlns:a="http://schemas.openxmlformats.org/drawingml/2006/main">
            <a:r>
              <a:t>        "process": "권한·판본별 안전 질의 정답 대조",</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"title": "현업 피드백",</a:t>
            </a:r>
          </a:p>
          <a:p xmlns:a="http://schemas.openxmlformats.org/drawingml/2006/main">
            <a:r>
              <a:t>        "input": "검토 초안",</a:t>
            </a:r>
          </a:p>
          <a:p xmlns:a="http://schemas.openxmlformats.org/drawingml/2006/main">
            <a:r>
              <a:t>        "process": "상충 근거·검토 의견을 현업에 제공",</a:t>
            </a:r>
          </a:p>
          <a:p xmlns:a="http://schemas.openxmlformats.org/drawingml/2006/main">
            <a:r>
              <a:t>        "output": "피드백"</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"안전 문서를 최신 규정과 대조하고 부서 공간에서 검토",</a:t>
            </a:r>
          </a:p>
          <a:p xmlns:a="http://schemas.openxmlformats.org/drawingml/2006/main">
            <a:r>
              <a:t>      "exception": "폐지 규정·부서 제한 문서·서로 상충하는 출처",</a:t>
            </a:r>
          </a:p>
          <a:p xmlns:a="http://schemas.openxmlformats.org/drawingml/2006/main">
            <a:r>
              <a:t>      "evidence": "판본·권한별 응답과 상충 근거 표시·수정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"안전 담당·부서 지식 관리자",</a:t>
            </a:r>
          </a:p>
          <a:p xmlns:a="http://schemas.openxmlformats.org/drawingml/2006/main">
            <a:r>
              <a:t>          "processing": "사용자 권한·문서 공간·검토 목적 확인",</a:t>
            </a:r>
          </a:p>
          <a:p xmlns:a="http://schemas.openxmlformats.org/drawingml/2006/main">
            <a:r>
              <a:t>          "output": "안전 문서"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"안전 규정·부서 지식",</a:t>
            </a:r>
          </a:p>
          <a:p xmlns:a="http://schemas.openxmlformats.org/drawingml/2006/main">
            <a:r>
              <a:t>          "processing": "연계 문서 자동 갱신·권한 폴더·출처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"안전 문서",</a:t>
            </a:r>
          </a:p>
          <a:p xmlns:a="http://schemas.openxmlformats.org/drawingml/2006/main">
            <a:r>
              <a:t>          "processing": "RAG 검색과 제출 문서·규정 비교",</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"검토 초안",</a:t>
            </a:r>
          </a:p>
          <a:p xmlns:a="http://schemas.openxmlformats.org/drawingml/2006/main">
            <a:r>
              <a:t>          "processing": "상충 근거·검토 의견을 현업에 제공",</a:t>
            </a:r>
          </a:p>
          <a:p xmlns:a="http://schemas.openxmlformats.org/drawingml/2006/main">
            <a:r>
              <a:t>          "output": "피드백"</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"피드백·개정 반영·권한별 검색 결과 검사",</a:t>
            </a:r>
          </a:p>
          <a:p xmlns:a="http://schemas.openxmlformats.org/drawingml/2006/main">
            <a:r>
              <a:t>          "output": "판본·권한별 응답과 상충 근거 표시·수정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"피드백·개정 반영·권한별 검색 결과 검사",</a:t>
            </a:r>
          </a:p>
          <a:p xmlns:a="http://schemas.openxmlformats.org/drawingml/2006/main">
            <a:r>
              <a:t>    "status": "RFP 기반 논리 설계",</a:t>
            </a:r>
          </a:p>
          <a:p xmlns:a="http://schemas.openxmlformats.org/drawingml/2006/main">
            <a:r>
              <a:t>    "basis": "과업내용서 2025.03 · SFR-005~008",</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"SFR-005~008 (과업내용서) / Word T053",</a:t>
            </a:r>
          </a:p>
          <a:p xmlns:a="http://schemas.openxmlformats.org/drawingml/2006/main">
            <a:r>
              <a:t>        "url": "https://www.g2b.go.kr/pn/pnp/pnpe/UntyAtchFile/downloadFile.do?bidPbancNo=R25BK00790330&amp;bidPbancOrd=000&amp;fileSeq=8&amp;fileType="</a:t>
            </a:r>
          </a:p>
          <a:p xmlns:a="http://schemas.openxmlformats.org/drawingml/2006/main">
            <a:r>
              <a:t>      }</a:t>
            </a:r>
          </a:p>
          <a:p xmlns:a="http://schemas.openxmlformats.org/drawingml/2006/main">
            <a:r>
              <a:t>    ],</a:t>
            </a:r>
          </a:p>
          <a:p xmlns:a="http://schemas.openxmlformats.org/drawingml/2006/main">
            <a:r>
              <a:t>    "implication": "안전 지식의 소유부서·효력일·상충 근거를 함께 관리하는 검토 체계",</a:t>
            </a:r>
          </a:p>
          <a:p xmlns:a="http://schemas.openxmlformats.org/drawingml/2006/main">
            <a:r>
              <a:t>    "local": "안전 지식의 소유부서·효력일·상충 근거를 함께 관리하는 검토 체계",</a:t>
            </a:r>
          </a:p>
          <a:p xmlns:a="http://schemas.openxmlformats.org/drawingml/2006/main">
            <a:r>
              <a:t>    "sourceDetail": "자동 문서 최신화, 규정 대조, 권한별 지식 폴더, RAG 파이프라인·피드백·상충 출처 표시",</a:t>
            </a:r>
          </a:p>
          <a:p xmlns:a="http://schemas.openxmlformats.org/drawingml/2006/main">
            <a:r>
              <a:t>    "narrative": [</a:t>
            </a:r>
          </a:p>
          <a:p xmlns:a="http://schemas.openxmlformats.org/drawingml/2006/main">
            <a:r>
              <a:t>      "내부 안전 규정·작업절차를 활용하는 안전 AI와 외부 상용 LLM을 이용하는 AI 서치를 구분한 시범구축. 범용 문서 작성뿐 아니라 제출 문서를 규정과 대조하고, 개인·부서 지식공간을 구성하는 업무 범위.",</a:t>
            </a:r>
          </a:p>
          <a:p xmlns:a="http://schemas.openxmlformats.org/drawingml/2006/main">
            <a:r>
              <a:t>      "원문 예시 도면에서는 통합 UI 아래 DMZ의 AI 서치와 내부 안전 AI·RAG·LLM·DB를 분리. 과업내용서는 문서 자동 최신화, 부서별 접근권한, 청크·임베딩 품질 확인, 실패 문서 재처리까지 요구. 업로드 성공과 검색 가능한 지식 등록 완료의 별도 상태 관리.",</a:t>
            </a:r>
          </a:p>
          <a:p xmlns:a="http://schemas.openxmlformats.org/drawingml/2006/main">
            <a:r>
              <a:t>      "CCK에서는 안전 답변의 문장 품질과 규정 판본·접근권한의 정확성을 별도 시험할 필요. 상충하는 두 규정이 검색될 때 한쪽을 감추기보다 근거와 적용 시점을 함께 제시하는 구조. 외부 모델과 내부 자료의 전달 경계를 TS 보안 환경에 맞춰 재설계할 대상."</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"SFR-005",</a:t>
            </a:r>
          </a:p>
          <a:p xmlns:a="http://schemas.openxmlformats.org/drawingml/2006/main">
            <a:r>
              <a:t>        "title": "생성형 AI 활용 서비스 개발(1/2)",</a:t>
            </a:r>
          </a:p>
          <a:p xmlns:a="http://schemas.openxmlformats.org/drawingml/2006/main">
            <a:r>
              <a:t>        "locator": "SFR-005",</a:t>
            </a:r>
          </a:p>
          <a:p xmlns:a="http://schemas.openxmlformats.org/drawingml/2006/main">
            <a:r>
              <a:t>        "summary": "안전 지식 검색, 근거 링크, 최신 문서 활용, 문서·규칙 검토와 번역 등 생성형 AI 서비스.",</a:t>
            </a:r>
          </a:p>
          <a:p xmlns:a="http://schemas.openxmlformats.org/drawingml/2006/main">
            <a:r>
              <a:t>        "data": "안전 문서·검토 대상 → 근거 응답·검토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"폐기 기준과 현행 기준의 충돌, 문서 인용 오류, 번역의 수치·단위 보존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"25b5da73d68c5556b94c8dfb58ef7569f5ab58304d1786741dc255ac502e1f42"</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"생성형 AI 활용 서비스 개발(2/2)",</a:t>
            </a:r>
          </a:p>
          <a:p xmlns:a="http://schemas.openxmlformats.org/drawingml/2006/main">
            <a:r>
              <a:t>        "locator": "SFR-006",</a:t>
            </a:r>
          </a:p>
          <a:p xmlns:a="http://schemas.openxmlformats.org/drawingml/2006/main">
            <a:r>
              <a:t>        "summary": "개인·부서 지식공간, 접근 이력, 답변 품질 피드백을 포함한 서비스 운영.",</a:t>
            </a:r>
          </a:p>
          <a:p xmlns:a="http://schemas.openxmlformats.org/drawingml/2006/main">
            <a:r>
              <a:t>        "data": "개인·부서 자료·피드백 → 허용 검색·개선 이력",</a:t>
            </a:r>
          </a:p>
          <a:p xmlns:a="http://schemas.openxmlformats.org/drawingml/2006/main">
            <a:r>
              <a:t>        "components": [</a:t>
            </a:r>
          </a:p>
          <a:p xmlns:a="http://schemas.openxmlformats.org/drawingml/2006/main">
            <a:r>
              <a:t>          "C02",</a:t>
            </a:r>
          </a:p>
          <a:p xmlns:a="http://schemas.openxmlformats.org/drawingml/2006/main">
            <a:r>
              <a:t>          "C05",</a:t>
            </a:r>
          </a:p>
          <a:p xmlns:a="http://schemas.openxmlformats.org/drawingml/2006/main">
            <a:r>
              <a:t>          "C08"</a:t>
            </a:r>
          </a:p>
          <a:p xmlns:a="http://schemas.openxmlformats.org/drawingml/2006/main">
            <a:r>
              <a:t>        ],</a:t>
            </a:r>
          </a:p>
          <a:p xmlns:a="http://schemas.openxmlformats.org/drawingml/2006/main">
            <a:r>
              <a:t>        "acceptance": "부서 간 공유 해제·소유자 변경·상충 문서 입력 후 접근·경고·피드백 반영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"f4945d58e397848afbc6b098dcb64f6b12e526fc2cecae10f7d27e2ad93dfeeb"</a:t>
            </a:r>
          </a:p>
          <a:p xmlns:a="http://schemas.openxmlformats.org/drawingml/2006/main">
            <a:r>
              <a:t>      },</a:t>
            </a:r>
          </a:p>
          <a:p xmlns:a="http://schemas.openxmlformats.org/drawingml/2006/main">
            <a:r>
              <a:t>      {</a:t>
            </a:r>
          </a:p>
          <a:p xmlns:a="http://schemas.openxmlformats.org/drawingml/2006/main">
            <a:r>
              <a:t>        "id": "SFR-007",</a:t>
            </a:r>
          </a:p>
          <a:p xmlns:a="http://schemas.openxmlformats.org/drawingml/2006/main">
            <a:r>
              <a:t>        "title": "RAG 파이프라인 기본 기능",</a:t>
            </a:r>
          </a:p>
          <a:p xmlns:a="http://schemas.openxmlformats.org/drawingml/2006/main">
            <a:r>
              <a:t>        "locator": "SFR-007",</a:t>
            </a:r>
          </a:p>
          <a:p xmlns:a="http://schemas.openxmlformats.org/drawingml/2006/main">
            <a:r>
              <a:t>        "summary": "문서 메타데이터·최신성·권한을 반영하는 RAG 파이프라인과 검색 결과 재정렬.",</a:t>
            </a:r>
          </a:p>
          <a:p xmlns:a="http://schemas.openxmlformats.org/drawingml/2006/main">
            <a:r>
              <a:t>        "data": "문서·권한·판본 → 청크·색인·근거 후보",</a:t>
            </a:r>
          </a:p>
          <a:p xmlns:a="http://schemas.openxmlformats.org/drawingml/2006/main">
            <a:r>
              <a:t>        "components": [</a:t>
            </a:r>
          </a:p>
          <a:p xmlns:a="http://schemas.openxmlformats.org/drawingml/2006/main">
            <a:r>
              <a:t>          "C03",</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"동일 문서 개정·삭제와 권한 변경 후 검색 결과·인용 판본의 일치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"6f87f23072fbc43c688f6da23e43fb4733d4e55ddcab3f3e4ebdbae410ee9e63"</a:t>
            </a:r>
          </a:p>
          <a:p xmlns:a="http://schemas.openxmlformats.org/drawingml/2006/main">
            <a:r>
              <a:t>      },</a:t>
            </a:r>
          </a:p>
          <a:p xmlns:a="http://schemas.openxmlformats.org/drawingml/2006/main">
            <a:r>
              <a:t>      {</a:t>
            </a:r>
          </a:p>
          <a:p xmlns:a="http://schemas.openxmlformats.org/drawingml/2006/main">
            <a:r>
              <a:t>        "id": "SFR-008",</a:t>
            </a:r>
          </a:p>
          <a:p xmlns:a="http://schemas.openxmlformats.org/drawingml/2006/main">
            <a:r>
              <a:t>        "title": "RAG 파이프라인 품질 관리 도구",</a:t>
            </a:r>
          </a:p>
          <a:p xmlns:a="http://schemas.openxmlformats.org/drawingml/2006/main">
            <a:r>
              <a:t>        "locator": "SFR-008",</a:t>
            </a:r>
          </a:p>
          <a:p xmlns:a="http://schemas.openxmlformats.org/drawingml/2006/main">
            <a:r>
              <a:t>        "summary": "청크 품질 확인, 미리보기, 임베딩 실패와 재처리 대기열을 관리하는 RAG 품질 도구.",</a:t>
            </a:r>
          </a:p>
          <a:p xmlns:a="http://schemas.openxmlformats.org/drawingml/2006/main">
            <a:r>
              <a:t>        "data": "처리 대상·실패 로그 → 품질 상태·재처리 결과",</a:t>
            </a:r>
          </a:p>
          <a:p xmlns:a="http://schemas.openxmlformats.org/drawingml/2006/main">
            <a:r>
              <a:t>        "components": [</a:t>
            </a:r>
          </a:p>
          <a:p xmlns:a="http://schemas.openxmlformats.org/drawingml/2006/main">
            <a:r>
              <a:t>          "C08",</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"표 분절·빈 청크·임베딩 실패를 주입해 탐지·재처리·색인 반영까지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"1a9d64ce29e584a1eabb8503cc98e9abde38893210ab6dcc4e3f33e8e440394e"</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"안전 현업 접점",</a:t>
            </a:r>
          </a:p>
          <a:p xmlns:a="http://schemas.openxmlformats.org/drawingml/2006/main">
            <a:r>
              <a:t>          "layer": "이용 접점",</a:t>
            </a:r>
          </a:p>
          <a:p xmlns:a="http://schemas.openxmlformats.org/drawingml/2006/main">
            <a:r>
              <a:t>          "detail": "안전 담당·부서 지식 관리자",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"직원·폴더 권한",</a:t>
            </a:r>
          </a:p>
          <a:p xmlns:a="http://schemas.openxmlformats.org/drawingml/2006/main">
            <a:r>
              <a:t>          "layer": "업무 문맥",</a:t>
            </a:r>
          </a:p>
          <a:p xmlns:a="http://schemas.openxmlformats.org/drawingml/2006/main">
            <a:r>
              <a:t>          "detail": "사용자 권한·문서 공간·검토 목적 확인",</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"안전 지식 검색",</a:t>
            </a:r>
          </a:p>
          <a:p xmlns:a="http://schemas.openxmlformats.org/drawingml/2006/main">
            <a:r>
              <a:t>          "layer": "자료 조회",</a:t>
            </a:r>
          </a:p>
          <a:p xmlns:a="http://schemas.openxmlformats.org/drawingml/2006/main">
            <a:r>
              <a:t>          "detail": "안전 문서",</a:t>
            </a:r>
          </a:p>
          <a:p xmlns:a="http://schemas.openxmlformats.org/drawingml/2006/main">
            <a:r>
              <a:t>          "requirements": [</a:t>
            </a:r>
          </a:p>
          <a:p xmlns:a="http://schemas.openxmlformats.org/drawingml/2006/main">
            <a:r>
              <a:t>            "SFR-005",</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"문서·규정 대조",</a:t>
            </a:r>
          </a:p>
          <a:p xmlns:a="http://schemas.openxmlformats.org/drawingml/2006/main">
            <a:r>
              <a:t>          "layer": "핵심 처리",</a:t>
            </a:r>
          </a:p>
          <a:p xmlns:a="http://schemas.openxmlformats.org/drawingml/2006/main">
            <a:r>
              <a:t>          "detail": "RAG 검색과 제출 문서·규정 비교",</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"상충·구판 검사",</a:t>
            </a:r>
          </a:p>
          <a:p xmlns:a="http://schemas.openxmlformats.org/drawingml/2006/main">
            <a:r>
              <a:t>          "layer": "결과 검증",</a:t>
            </a:r>
          </a:p>
          <a:p xmlns:a="http://schemas.openxmlformats.org/drawingml/2006/main">
            <a:r>
              <a:t>          "detail": "권한·판본별 안전 질의 정답 대조",</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"안전 담당 검토",</a:t>
            </a:r>
          </a:p>
          <a:p xmlns:a="http://schemas.openxmlformats.org/drawingml/2006/main">
            <a:r>
              <a:t>          "layer": "사람 확인",</a:t>
            </a:r>
          </a:p>
          <a:p xmlns:a="http://schemas.openxmlformats.org/drawingml/2006/main">
            <a:r>
              <a:t>          "detail": "안전 문서를 최신 규정과 대조하고 부서 공간에서 검토",</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"업무 검토 의견",</a:t>
            </a:r>
          </a:p>
          <a:p xmlns:a="http://schemas.openxmlformats.org/drawingml/2006/main">
            <a:r>
              <a:t>          "layer": "업무 연결",</a:t>
            </a:r>
          </a:p>
          <a:p xmlns:a="http://schemas.openxmlformats.org/drawingml/2006/main">
            <a:r>
              <a:t>          "detail": "상충 근거·검토 의견을 현업에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"피드백·권한 시험",</a:t>
            </a:r>
          </a:p>
          <a:p xmlns:a="http://schemas.openxmlformats.org/drawingml/2006/main">
            <a:r>
              <a:t>          "layer": "운영 관측",</a:t>
            </a:r>
          </a:p>
          <a:p xmlns:a="http://schemas.openxmlformats.org/drawingml/2006/main">
            <a:r>
              <a:t>          "detail": "피드백·개정 반영·권한별 검색 결과 검사",</a:t>
            </a:r>
          </a:p>
          <a:p xmlns:a="http://schemas.openxmlformats.org/drawingml/2006/main">
            <a:r>
              <a:t>          "requirements": [</a:t>
            </a:r>
          </a:p>
          <a:p xmlns:a="http://schemas.openxmlformats.org/drawingml/2006/main">
            <a:r>
              <a:t>            "SFR-006",</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"안전규정·부서문서",</a:t>
            </a:r>
          </a:p>
          <a:p xmlns:a="http://schemas.openxmlformats.org/drawingml/2006/main">
            <a:r>
              <a:t>          "layer": "데이터 원천",</a:t>
            </a:r>
          </a:p>
          <a:p xmlns:a="http://schemas.openxmlformats.org/drawingml/2006/main">
            <a:r>
              <a:t>          "detail": "안전 규정·부서 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"자동 문서 최신화",</a:t>
            </a:r>
          </a:p>
          <a:p xmlns:a="http://schemas.openxmlformats.org/drawingml/2006/main">
            <a:r>
              <a:t>          "layer": "준비·갱신",</a:t>
            </a:r>
          </a:p>
          <a:p xmlns:a="http://schemas.openxmlformats.org/drawingml/2006/main">
            <a:r>
              <a:t>          "detail": "연계 문서 자동 갱신·권한 폴더·출처 관리",</a:t>
            </a:r>
          </a:p>
          <a:p xmlns:a="http://schemas.openxmlformats.org/drawingml/2006/main">
            <a:r>
              <a:t>          "requirements": [</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"폴더·RAG 색인",</a:t>
            </a:r>
          </a:p>
          <a:p xmlns:a="http://schemas.openxmlformats.org/drawingml/2006/main">
            <a:r>
              <a:t>          "layer": "상태·지식 저장",</a:t>
            </a:r>
          </a:p>
          <a:p xmlns:a="http://schemas.openxmlformats.org/drawingml/2006/main">
            <a:r>
              <a:t>          "detail": "판본·권한별 응답과 상충 근거 표시·수정 이력",</a:t>
            </a:r>
          </a:p>
          <a:p xmlns:a="http://schemas.openxmlformats.org/drawingml/2006/main">
            <a:r>
              <a:t>          "requirements": [</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"지식공간 접근정책",</a:t>
            </a:r>
          </a:p>
          <a:p xmlns:a="http://schemas.openxmlformats.org/drawingml/2006/main">
            <a:r>
              <a:t>          "layer": "권한·정책",</a:t>
            </a:r>
          </a:p>
          <a:p xmlns:a="http://schemas.openxmlformats.org/drawingml/2006/main">
            <a:r>
              <a:t>          "detail": "폐지 규정·부서 제한 문서·서로 상충하는 출처",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"사용자 권한·문서 공간·검토 목적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"안전 문서",</a:t>
            </a:r>
          </a:p>
          <a:p xmlns:a="http://schemas.openxmlformats.org/drawingml/2006/main">
            <a:r>
              <a:t>          "check": "권한·판본별 안전 질의 정답 대조"</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"허용 지식",</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"검토 초안",</a:t>
            </a:r>
          </a:p>
          <a:p xmlns:a="http://schemas.openxmlformats.org/drawingml/2006/main">
            <a:r>
              <a:t>          "check": "폐지 규정·부서 제한 문서·서로 상충하는 출처"</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"검토 초안",</a:t>
            </a:r>
          </a:p>
          <a:p xmlns:a="http://schemas.openxmlformats.org/drawingml/2006/main">
            <a:r>
              <a:t>          "check": "상충 근거·검토 의견을 현업에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"피드백",</a:t>
            </a:r>
          </a:p>
          <a:p xmlns:a="http://schemas.openxmlformats.org/drawingml/2006/main">
            <a:r>
              <a:t>          "check": "판본·권한별 응답과 상충 근거 표시·수정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"HW·SW 구성도(예시), SFR-005~008",</a:t>
            </a:r>
          </a:p>
          <a:p xmlns:a="http://schemas.openxmlformats.org/drawingml/2006/main">
            <a:r>
              <a:t>        "extracted": "안전 AI·AI 서치·RAG·지식공간·문서 최신화",</a:t>
            </a:r>
          </a:p>
          <a:p xmlns:a="http://schemas.openxmlformats.org/drawingml/2006/main">
            <a:r>
              <a:t>        "extension": "상충 출처 검토, 폴더별 접근 검사와 개정 후 재평가"</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"PF-R04",</a:t>
            </a:r>
          </a:p>
          <a:p xmlns:a="http://schemas.openxmlformats.org/drawingml/2006/main">
            <a:r>
              <a:t>          "path": "assets/casebook-sources/PF-R04-01.png",</a:t>
            </a:r>
          </a:p>
          <a:p xmlns:a="http://schemas.openxmlformats.org/drawingml/2006/main">
            <a:r>
              <a:t>          "title": "안전 AI H/W 구성",</a:t>
            </a:r>
          </a:p>
          <a:p xmlns:a="http://schemas.openxmlformats.org/drawingml/2006/main">
            <a:r>
              <a:t>          "status": "과업내용서 H/W 구성도 예시",</a:t>
            </a:r>
          </a:p>
          <a:p xmlns:a="http://schemas.openxmlformats.org/drawingml/2006/main">
            <a:r>
              <a:t>          "caption": "DMZ AI 서치와 내부 안전 AI·RAG·LLM·DB 구성",</a:t>
            </a:r>
          </a:p>
          <a:p xmlns:a="http://schemas.openxmlformats.org/drawingml/2006/main">
            <a:r>
              <a:t>          "locator": "rId14 / BinData/BIN0001_bmp",</a:t>
            </a:r>
          </a:p>
          <a:p xmlns:a="http://schemas.openxmlformats.org/drawingml/2006/main">
            <a:r>
              <a:t>          "checked": "2026-10-16",</a:t>
            </a:r>
          </a:p>
          <a:p xmlns:a="http://schemas.openxmlformats.org/drawingml/2006/main">
            <a:r>
              <a:t>          "sha256": "47450653a73f8241e06210e73728a502e3d332cafb949494da1a9833622e77a3",</a:t>
            </a:r>
          </a:p>
          <a:p xmlns:a="http://schemas.openxmlformats.org/drawingml/2006/main">
            <a:r>
              <a:t>          "explanation": {</a:t>
            </a:r>
          </a:p>
          <a:p xmlns:a="http://schemas.openxmlformats.org/drawingml/2006/main">
            <a:r>
              <a:t>            "read": "DMZ와 내부 영역의 AI 서치·안전 AI·RAG·LLM·DB 배치를 구분한 H/W 구성 예시. 외부 접점과 내부 지식의 접근 경계를 인프라 관점에서 표현.",</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"SFR-007"</a:t>
            </a:r>
          </a:p>
          <a:p xmlns:a="http://schemas.openxmlformats.org/drawingml/2006/main">
            <a:r>
              <a:t>            ],</a:t>
            </a:r>
          </a:p>
          <a:p xmlns:a="http://schemas.openxmlformats.org/drawingml/2006/main">
            <a:r>
              <a:t>            "connection": "공개 조회와 내부 안전 문서의 경계를 분리하고 개인·부서 지식공간의 권한이 검색과 응답 양쪽에 적용되는지 확인하는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"PF-R04",</a:t>
            </a:r>
          </a:p>
          <a:p xmlns:a="http://schemas.openxmlformats.org/drawingml/2006/main">
            <a:r>
              <a:t>          "path": "assets/casebook-sources/PF-R04-02.png",</a:t>
            </a:r>
          </a:p>
          <a:p xmlns:a="http://schemas.openxmlformats.org/drawingml/2006/main">
            <a:r>
              <a:t>          "title": "안전 AI S/W 구성",</a:t>
            </a:r>
          </a:p>
          <a:p xmlns:a="http://schemas.openxmlformats.org/drawingml/2006/main">
            <a:r>
              <a:t>          "status": "과업내용서 S/W 구성도 예시",</a:t>
            </a:r>
          </a:p>
          <a:p xmlns:a="http://schemas.openxmlformats.org/drawingml/2006/main">
            <a:r>
              <a:t>          "caption": "안전 지식·RAG와 외부 LLM API 업무 지원의 구분",</a:t>
            </a:r>
          </a:p>
          <a:p xmlns:a="http://schemas.openxmlformats.org/drawingml/2006/main">
            <a:r>
              <a:t>          "locator": "rId14 / BinData/BIN0002_bmp",</a:t>
            </a:r>
          </a:p>
          <a:p xmlns:a="http://schemas.openxmlformats.org/drawingml/2006/main">
            <a:r>
              <a:t>          "checked": "2026-10-16",</a:t>
            </a:r>
          </a:p>
          <a:p xmlns:a="http://schemas.openxmlformats.org/drawingml/2006/main">
            <a:r>
              <a:t>          "sha256": "607e9e60f0ab618fa7cdca53b108478e11e89b59866b5f5e7bd063e5d01aac5c",</a:t>
            </a:r>
          </a:p>
          <a:p xmlns:a="http://schemas.openxmlformats.org/drawingml/2006/main">
            <a:r>
              <a:t>          "explanation": {</a:t>
            </a:r>
          </a:p>
          <a:p xmlns:a="http://schemas.openxmlformats.org/drawingml/2006/main">
            <a:r>
              <a:t>            "read": "안전 지식의 검색·RAG 경로와 외부 모델 API를 활용하는 업무 지원 경로를 구분한 S/W 구성 예시. 문서 최신화와 지식공간 관리는 생성 기능을 유지하기 위한 별도 운영 기능.",</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"connection": "외부 모델로 전송할 입력 범위, 문서 개정 후 색인 갱신, 청크 오류와 임베딩 재처리의 상태를 서로 구분하는 서비스·운영 계약."</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"폐지 규정·부서 제한 문서·서로 상충하는 출처",</a:t>
            </a:r>
          </a:p>
          <a:p xmlns:a="http://schemas.openxmlformats.org/drawingml/2006/main">
            <a:r>
              <a:t>        "hold": "권한·판본별 안전 질의 정답 대조",</a:t>
            </a:r>
          </a:p>
          <a:p xmlns:a="http://schemas.openxmlformats.org/drawingml/2006/main">
            <a:r>
              <a:t>        "recovery": "피드백·개정 반영·권한별 검색 결과 검사",</a:t>
            </a:r>
          </a:p>
          <a:p xmlns:a="http://schemas.openxmlformats.org/drawingml/2006/main">
            <a:r>
              <a:t>        "evidence": "판본·권한별 응답과 상충 근거 표시·수정 이력"</a:t>
            </a:r>
          </a:p>
          <a:p xmlns:a="http://schemas.openxmlformats.org/drawingml/2006/main">
            <a:r>
              <a:t>      },</a:t>
            </a:r>
          </a:p>
          <a:p xmlns:a="http://schemas.openxmlformats.org/drawingml/2006/main">
            <a:r>
              <a:t>      "data": {</a:t>
            </a:r>
          </a:p>
          <a:p xmlns:a="http://schemas.openxmlformats.org/drawingml/2006/main">
            <a:r>
              <a:t>        "source": "안전 규정·부서 지식",</a:t>
            </a:r>
          </a:p>
          <a:p xmlns:a="http://schemas.openxmlformats.org/drawingml/2006/main">
            <a:r>
              <a:t>        "prepare": "연계 문서 자동 갱신·권한 폴더·출처 관리",</a:t>
            </a:r>
          </a:p>
          <a:p xmlns:a="http://schemas.openxmlformats.org/drawingml/2006/main">
            <a:r>
              <a:t>        "output": "안전 문서",</a:t>
            </a:r>
          </a:p>
          <a:p xmlns:a="http://schemas.openxmlformats.org/drawingml/2006/main">
            <a:r>
              <a:t>        "refresh": "피드백·개정 반영·권한별 검색 결과 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"PF-R04",</a:t>
            </a:r>
          </a:p>
          <a:p xmlns:a="http://schemas.openxmlformats.org/drawingml/2006/main">
            <a:r>
              <a:t>    "success": [</a:t>
            </a:r>
          </a:p>
          <a:p xmlns:a="http://schemas.openxmlformats.org/drawingml/2006/main">
            <a:r>
              <a:t>      "안전 도메인 지식 집중",</a:t>
            </a:r>
          </a:p>
          <a:p xmlns:a="http://schemas.openxmlformats.org/drawingml/2006/main">
            <a:r>
              <a:t>      "개인·부서 지식공간의 구분"</a:t>
            </a:r>
          </a:p>
          <a:p xmlns:a="http://schemas.openxmlformats.org/drawingml/2006/main">
            <a:r>
              <a:t>    ],</a:t>
            </a:r>
          </a:p>
          <a:p xmlns:a="http://schemas.openxmlformats.org/drawingml/2006/main">
            <a:r>
              <a:t>    "risks": [</a:t>
            </a:r>
          </a:p>
          <a:p xmlns:a="http://schemas.openxmlformats.org/drawingml/2006/main">
            <a:r>
              <a:t>      "부서 자료의 권한 혼입",</a:t>
            </a:r>
          </a:p>
          <a:p xmlns:a="http://schemas.openxmlformats.org/drawingml/2006/main">
            <a:r>
              <a:t>      "계약 발표를 안전 품질 검수로 간주"</a:t>
            </a:r>
          </a:p>
          <a:p xmlns:a="http://schemas.openxmlformats.org/drawingml/2006/main">
            <a:r>
              <a:t>    ],</a:t>
            </a:r>
          </a:p>
          <a:p xmlns:a="http://schemas.openxmlformats.org/drawingml/2006/main">
            <a:r>
              <a:t>    "architecture": [</a:t>
            </a:r>
          </a:p>
          <a:p xmlns:a="http://schemas.openxmlformats.org/drawingml/2006/main">
            <a:r>
              <a:t>      "안전 현업",</a:t>
            </a:r>
          </a:p>
          <a:p xmlns:a="http://schemas.openxmlformats.org/drawingml/2006/main">
            <a:r>
              <a:t>      "권한 검색·문서 검토",</a:t>
            </a:r>
          </a:p>
          <a:p xmlns:a="http://schemas.openxmlformats.org/drawingml/2006/main">
            <a:r>
              <a:t>      "안전 규정·부서 지식",</a:t>
            </a:r>
          </a:p>
          <a:p xmlns:a="http://schemas.openxmlformats.org/drawingml/2006/main">
            <a:r>
              <a:t>      "검토 담당"</a:t>
            </a:r>
          </a:p>
          <a:p xmlns:a="http://schemas.openxmlformats.org/drawingml/2006/main">
            <a:r>
              <a:t>    ],</a:t>
            </a:r>
          </a:p>
          <a:p xmlns:a="http://schemas.openxmlformats.org/drawingml/2006/main">
            <a:r>
              <a:t>    "transfers": [</a:t>
            </a:r>
          </a:p>
          <a:p xmlns:a="http://schemas.openxmlformats.org/drawingml/2006/main">
            <a:r>
              <a:t>      "안전 문서",</a:t>
            </a:r>
          </a:p>
          <a:p xmlns:a="http://schemas.openxmlformats.org/drawingml/2006/main">
            <a:r>
              <a:t>      "허용 지식",</a:t>
            </a:r>
          </a:p>
          <a:p xmlns:a="http://schemas.openxmlformats.org/drawingml/2006/main">
            <a:r>
              <a:t>      "검토 초안",</a:t>
            </a:r>
          </a:p>
          <a:p xmlns:a="http://schemas.openxmlformats.org/drawingml/2006/main">
            <a:r>
              <a:t>      "피드백"</a:t>
            </a:r>
          </a:p>
          <a:p xmlns:a="http://schemas.openxmlformats.org/drawingml/2006/main">
            <a:r>
              <a:t>    ],</a:t>
            </a:r>
          </a:p>
          <a:p xmlns:a="http://schemas.openxmlformats.org/drawingml/2006/main">
            <a:r>
              <a:t>    "control": "권한·판본별 안전 질의 정답 대조",</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SFR-005~008 (과업내용서) / Word T053 https://www.g2b.go.kr/pn/pnp/pnpe/UntyAtchFile/downloadFile.do?bidPbancNo=R25BK00790330&amp;bidPbancOrd=000&amp;fileSeq=8&amp;fileType=</a:t>
            </a:r>
          </a:p>
          <a:p xmlns:a="http://schemas.openxmlformats.org/drawingml/2006/main">
            <a:r>
              <a:t>홈페이지 https://heen1987-ops.github.io/TS-business-Plan-001/index.html?view=platform-cases&amp;case=PF-R04</a:t>
            </a:r>
          </a:p>
          <a:p xmlns:a="http://schemas.openxmlformats.org/drawingml/2006/main">
            <a:r>
              <a:t>원문 도면 {"caseId":"PF-R04","path":"assets/casebook-sources/PF-R04-02.png","title":"안전 AI S/W 구성","status":"과업내용서 S/W 구성도 예시","caption":"안전 지식·RAG와 외부 LLM API 업무 지원의 구분","locator":"rId14 / BinData/BIN0002_bmp","checked":"2026-10-16","sha256":"607e9e60f0ab618fa7cdca53b108478e11e89b59866b5f5e7bd063e5d01aac5c","explanation":{"read":"안전 지식의 검색·RAG 경로와 외부 모델 API를 활용하는 업무 지원 경로를 구분한 S/W 구성 예시. 문서 최신화와 지식공간 관리는 생성 기능을 유지하기 위한 별도 운영 기능.","requirements":["SFR-005","SFR-006","SFR-007","SFR-008"],"connection":"외부 모델로 전송할 입력 범위, 문서 개정 후 색인 갱신, 청크 오류와 임베딩 재처리의 상태를 서로 구분하는 서비스·운영 계약."}}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"PF-R04",</a:t>
            </a:r>
          </a:p>
          <a:p xmlns:a="http://schemas.openxmlformats.org/drawingml/2006/main">
            <a:r>
              <a:t>    "sourceId": "R04",</a:t>
            </a:r>
          </a:p>
          <a:p xmlns:a="http://schemas.openxmlformats.org/drawingml/2006/main">
            <a:r>
              <a:t>    "title": "지역난방공사 안전 LLM",</a:t>
            </a:r>
          </a:p>
          <a:p xmlns:a="http://schemas.openxmlformats.org/drawingml/2006/main">
            <a:r>
              <a:t>    "region": "국내",</a:t>
            </a:r>
          </a:p>
          <a:p xmlns:a="http://schemas.openxmlformats.org/drawingml/2006/main">
            <a:r>
              <a:t>    "owner": "한국지역난방공사",</a:t>
            </a:r>
          </a:p>
          <a:p xmlns:a="http://schemas.openxmlformats.org/drawingml/2006/main">
            <a:r>
              <a:t>    "state": "공식 RFP·과업내용서 + 공급사 계약 발표 확인",</a:t>
            </a:r>
          </a:p>
          <a:p xmlns:a="http://schemas.openxmlformats.org/drawingml/2006/main">
            <a:r>
              <a:t>    "period": "기존 원장 확인 2026.10.16",</a:t>
            </a:r>
          </a:p>
          <a:p xmlns:a="http://schemas.openxmlformats.org/drawingml/2006/main">
            <a:r>
              <a:t>    "fact": "안전분야 LLM과 사내 검색·문서 검토·개인/부서 지식공간",</a:t>
            </a:r>
          </a:p>
          <a:p xmlns:a="http://schemas.openxmlformats.org/drawingml/2006/main">
            <a:r>
              <a:t>    "limit": "Temperature를 상세도와 동일시한 원문 표현은 구현 검증 필요",</a:t>
            </a:r>
          </a:p>
          <a:p xmlns:a="http://schemas.openxmlformats.org/drawingml/2006/main">
            <a:r>
              <a:t>    "nodes": [</a:t>
            </a:r>
          </a:p>
          <a:p xmlns:a="http://schemas.openxmlformats.org/drawingml/2006/main">
            <a:r>
              <a:t>      "안전·규정 지식",</a:t>
            </a:r>
          </a:p>
          <a:p xmlns:a="http://schemas.openxmlformats.org/drawingml/2006/main">
            <a:r>
              <a:t>      "권한별 검색",</a:t>
            </a:r>
          </a:p>
          <a:p xmlns:a="http://schemas.openxmlformats.org/drawingml/2006/main">
            <a:r>
              <a:t>      "문서 검토",</a:t>
            </a:r>
          </a:p>
          <a:p xmlns:a="http://schemas.openxmlformats.org/drawingml/2006/main">
            <a:r>
              <a:t>      "현업 피드백"</a:t>
            </a:r>
          </a:p>
          <a:p xmlns:a="http://schemas.openxmlformats.org/drawingml/2006/main">
            <a:r>
              <a:t>    ],</a:t>
            </a:r>
          </a:p>
          <a:p xmlns:a="http://schemas.openxmlformats.org/drawingml/2006/main">
            <a:r>
              <a:t>    "apply": "안전 지식의 소유부서·효력일·상충 근거를 함께 관리하는 검토 체계",</a:t>
            </a:r>
          </a:p>
          <a:p xmlns:a="http://schemas.openxmlformats.org/drawingml/2006/main">
            <a:r>
              <a:t>    "delta": "안전 규정 효력일·소유부서 / 자동 갱신 / 상충 근거 표시",</a:t>
            </a:r>
          </a:p>
          <a:p xmlns:a="http://schemas.openxmlformats.org/drawingml/2006/main">
            <a:r>
              <a:t>    "test": "개정·폐지·권한 제한·상충 문서의 검색 및 검토 결과 대조",</a:t>
            </a:r>
          </a:p>
          <a:p xmlns:a="http://schemas.openxmlformats.org/drawingml/2006/main">
            <a:r>
              <a:t>    "url": "https://www.g2b.go.kr/pn/pnp/pnpe/UntyAtchFile/downloadFile.do?bidPbancNo=R25BK00790330&amp;bidPbancOrd=000&amp;fileSeq=8&amp;fileType=",</a:t>
            </a:r>
          </a:p>
          <a:p xmlns:a="http://schemas.openxmlformats.org/drawingml/2006/main">
            <a:r>
              <a:t>    "urls": [</a:t>
            </a:r>
          </a:p>
          <a:p xmlns:a="http://schemas.openxmlformats.org/drawingml/2006/main">
            <a:r>
              <a:t>      "https://www.g2b.go.kr/pn/pnp/pnpe/UntyAtchFile/downloadFile.do?bidPbancNo=R25BK00790330&amp;bidPbancOrd=000&amp;fileSeq=8&amp;fileType=",</a:t>
            </a:r>
          </a:p>
          <a:p xmlns:a="http://schemas.openxmlformats.org/drawingml/2006/main">
            <a:r>
              <a:t>      "https://gridone.co.kr/community/news/143"</a:t>
            </a:r>
          </a:p>
          <a:p xmlns:a="http://schemas.openxmlformats.org/drawingml/2006/main">
            <a:r>
              <a:t>    ],</a:t>
            </a:r>
          </a:p>
          <a:p xmlns:a="http://schemas.openxmlformats.org/drawingml/2006/main">
            <a:r>
              <a:t>    "basis": "SFR-005~008 (과업내용서) / Word T053",</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"구버전 인용률 / 개정 반영 지연 / 검토 누락률",</a:t>
            </a:r>
          </a:p>
          <a:p xmlns:a="http://schemas.openxmlformats.org/drawingml/2006/main">
            <a:r>
              <a:t>    "group": "요구·구축",</a:t>
            </a:r>
          </a:p>
          <a:p xmlns:a="http://schemas.openxmlformats.org/drawingml/2006/main">
            <a:r>
              <a:t>    "sourceDetail": "자동 문서 최신화, 규정 대조, 권한별 지식 폴더, RAG 파이프라인·피드백·상충 출처 표시",</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"PF-R04",</a:t>
            </a:r>
          </a:p>
          <a:p xmlns:a="http://schemas.openxmlformats.org/drawingml/2006/main">
            <a:r>
              <a:t>    "canonicalId": "PF-R04",</a:t>
            </a:r>
          </a:p>
          <a:p xmlns:a="http://schemas.openxmlformats.org/drawingml/2006/main">
            <a:r>
              <a:t>    "purpose": "안전 지식검색과 규정 대조의 업무 적용",</a:t>
            </a:r>
          </a:p>
          <a:p xmlns:a="http://schemas.openxmlformats.org/drawingml/2006/main">
            <a:r>
              <a:t>    "users": "안전 담당·부서 지식 관리자",</a:t>
            </a:r>
          </a:p>
          <a:p xmlns:a="http://schemas.openxmlformats.org/drawingml/2006/main">
            <a:r>
              <a:t>    "scope": [</a:t>
            </a:r>
          </a:p>
          <a:p xmlns:a="http://schemas.openxmlformats.org/drawingml/2006/main">
            <a:r>
              <a:t>      "안전 LLM",</a:t>
            </a:r>
          </a:p>
          <a:p xmlns:a="http://schemas.openxmlformats.org/drawingml/2006/main">
            <a:r>
              <a:t>      "문서 검토",</a:t>
            </a:r>
          </a:p>
          <a:p xmlns:a="http://schemas.openxmlformats.org/drawingml/2006/main">
            <a:r>
              <a:t>      "부서 지식공간"</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"안전 현업",</a:t>
            </a:r>
          </a:p>
          <a:p xmlns:a="http://schemas.openxmlformats.org/drawingml/2006/main">
            <a:r>
              <a:t>        "detail": "사용자 권한·문서 공간·검토 목적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"안전 LLM / 문서 검토 / 부서 지식공간",</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"권한 검색·문서 검토",</a:t>
            </a:r>
          </a:p>
          <a:p xmlns:a="http://schemas.openxmlformats.org/drawingml/2006/main">
            <a:r>
              <a:t>        "detail": "RAG 검색과 제출 문서·규정 비교",</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"검토 담당",</a:t>
            </a:r>
          </a:p>
          <a:p xmlns:a="http://schemas.openxmlformats.org/drawingml/2006/main">
            <a:r>
              <a:t>        "detail": "상충 근거·검토 의견을 현업에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"안전 규정·부서 지식",</a:t>
            </a:r>
          </a:p>
          <a:p xmlns:a="http://schemas.openxmlformats.org/drawingml/2006/main">
            <a:r>
              <a:t>        "detail": "연계 문서 자동 갱신·권한 폴더·출처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"피드백·개정 반영·권한별 검색 결과 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"안전·규정 지식",</a:t>
            </a:r>
          </a:p>
          <a:p xmlns:a="http://schemas.openxmlformats.org/drawingml/2006/main">
            <a:r>
              <a:t>        "input": "사용자 권한·문서 공간·검토 목적 확인",</a:t>
            </a:r>
          </a:p>
          <a:p xmlns:a="http://schemas.openxmlformats.org/drawingml/2006/main">
            <a:r>
              <a:t>        "process": "연계 문서 자동 갱신·권한 폴더·출처 관리",</a:t>
            </a:r>
          </a:p>
          <a:p xmlns:a="http://schemas.openxmlformats.org/drawingml/2006/main">
            <a:r>
              <a:t>        "output": "안전 문서"</a:t>
            </a:r>
          </a:p>
          <a:p xmlns:a="http://schemas.openxmlformats.org/drawingml/2006/main">
            <a:r>
              <a:t>      },</a:t>
            </a:r>
          </a:p>
          <a:p xmlns:a="http://schemas.openxmlformats.org/drawingml/2006/main">
            <a:r>
              <a:t>      {</a:t>
            </a:r>
          </a:p>
          <a:p xmlns:a="http://schemas.openxmlformats.org/drawingml/2006/main">
            <a:r>
              <a:t>        "title": "권한별 검색",</a:t>
            </a:r>
          </a:p>
          <a:p xmlns:a="http://schemas.openxmlformats.org/drawingml/2006/main">
            <a:r>
              <a:t>        "input": "안전 문서",</a:t>
            </a:r>
          </a:p>
          <a:p xmlns:a="http://schemas.openxmlformats.org/drawingml/2006/main">
            <a:r>
              <a:t>        "process": "RAG 검색과 제출 문서·규정 비교",</a:t>
            </a:r>
          </a:p>
          <a:p xmlns:a="http://schemas.openxmlformats.org/drawingml/2006/main">
            <a:r>
              <a:t>        "output": "허용 지식"</a:t>
            </a:r>
          </a:p>
          <a:p xmlns:a="http://schemas.openxmlformats.org/drawingml/2006/main">
            <a:r>
              <a:t>      },</a:t>
            </a:r>
          </a:p>
          <a:p xmlns:a="http://schemas.openxmlformats.org/drawingml/2006/main">
            <a:r>
              <a:t>      {</a:t>
            </a:r>
          </a:p>
          <a:p xmlns:a="http://schemas.openxmlformats.org/drawingml/2006/main">
            <a:r>
              <a:t>        "title": "문서 검토",</a:t>
            </a:r>
          </a:p>
          <a:p xmlns:a="http://schemas.openxmlformats.org/drawingml/2006/main">
            <a:r>
              <a:t>        "input": "허용 지식",</a:t>
            </a:r>
          </a:p>
          <a:p xmlns:a="http://schemas.openxmlformats.org/drawingml/2006/main">
            <a:r>
              <a:t>        "process": "권한·판본별 안전 질의 정답 대조",</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"title": "현업 피드백",</a:t>
            </a:r>
          </a:p>
          <a:p xmlns:a="http://schemas.openxmlformats.org/drawingml/2006/main">
            <a:r>
              <a:t>        "input": "검토 초안",</a:t>
            </a:r>
          </a:p>
          <a:p xmlns:a="http://schemas.openxmlformats.org/drawingml/2006/main">
            <a:r>
              <a:t>        "process": "상충 근거·검토 의견을 현업에 제공",</a:t>
            </a:r>
          </a:p>
          <a:p xmlns:a="http://schemas.openxmlformats.org/drawingml/2006/main">
            <a:r>
              <a:t>        "output": "피드백"</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"안전 문서를 최신 규정과 대조하고 부서 공간에서 검토",</a:t>
            </a:r>
          </a:p>
          <a:p xmlns:a="http://schemas.openxmlformats.org/drawingml/2006/main">
            <a:r>
              <a:t>      "exception": "폐지 규정·부서 제한 문서·서로 상충하는 출처",</a:t>
            </a:r>
          </a:p>
          <a:p xmlns:a="http://schemas.openxmlformats.org/drawingml/2006/main">
            <a:r>
              <a:t>      "evidence": "판본·권한별 응답과 상충 근거 표시·수정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"안전 담당·부서 지식 관리자",</a:t>
            </a:r>
          </a:p>
          <a:p xmlns:a="http://schemas.openxmlformats.org/drawingml/2006/main">
            <a:r>
              <a:t>          "processing": "사용자 권한·문서 공간·검토 목적 확인",</a:t>
            </a:r>
          </a:p>
          <a:p xmlns:a="http://schemas.openxmlformats.org/drawingml/2006/main">
            <a:r>
              <a:t>          "output": "안전 문서"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"안전 규정·부서 지식",</a:t>
            </a:r>
          </a:p>
          <a:p xmlns:a="http://schemas.openxmlformats.org/drawingml/2006/main">
            <a:r>
              <a:t>          "processing": "연계 문서 자동 갱신·권한 폴더·출처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"안전 문서",</a:t>
            </a:r>
          </a:p>
          <a:p xmlns:a="http://schemas.openxmlformats.org/drawingml/2006/main">
            <a:r>
              <a:t>          "processing": "RAG 검색과 제출 문서·규정 비교",</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"검토 초안",</a:t>
            </a:r>
          </a:p>
          <a:p xmlns:a="http://schemas.openxmlformats.org/drawingml/2006/main">
            <a:r>
              <a:t>          "processing": "상충 근거·검토 의견을 현업에 제공",</a:t>
            </a:r>
          </a:p>
          <a:p xmlns:a="http://schemas.openxmlformats.org/drawingml/2006/main">
            <a:r>
              <a:t>          "output": "피드백"</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"피드백·개정 반영·권한별 검색 결과 검사",</a:t>
            </a:r>
          </a:p>
          <a:p xmlns:a="http://schemas.openxmlformats.org/drawingml/2006/main">
            <a:r>
              <a:t>          "output": "판본·권한별 응답과 상충 근거 표시·수정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"피드백·개정 반영·권한별 검색 결과 검사",</a:t>
            </a:r>
          </a:p>
          <a:p xmlns:a="http://schemas.openxmlformats.org/drawingml/2006/main">
            <a:r>
              <a:t>    "status": "RFP 기반 논리 설계",</a:t>
            </a:r>
          </a:p>
          <a:p xmlns:a="http://schemas.openxmlformats.org/drawingml/2006/main">
            <a:r>
              <a:t>    "basis": "과업내용서 2025.03 · SFR-005~008",</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"SFR-005~008 (과업내용서) / Word T053",</a:t>
            </a:r>
          </a:p>
          <a:p xmlns:a="http://schemas.openxmlformats.org/drawingml/2006/main">
            <a:r>
              <a:t>        "url": "https://www.g2b.go.kr/pn/pnp/pnpe/UntyAtchFile/downloadFile.do?bidPbancNo=R25BK00790330&amp;bidPbancOrd=000&amp;fileSeq=8&amp;fileType="</a:t>
            </a:r>
          </a:p>
          <a:p xmlns:a="http://schemas.openxmlformats.org/drawingml/2006/main">
            <a:r>
              <a:t>      }</a:t>
            </a:r>
          </a:p>
          <a:p xmlns:a="http://schemas.openxmlformats.org/drawingml/2006/main">
            <a:r>
              <a:t>    ],</a:t>
            </a:r>
          </a:p>
          <a:p xmlns:a="http://schemas.openxmlformats.org/drawingml/2006/main">
            <a:r>
              <a:t>    "implication": "안전 지식의 소유부서·효력일·상충 근거를 함께 관리하는 검토 체계",</a:t>
            </a:r>
          </a:p>
          <a:p xmlns:a="http://schemas.openxmlformats.org/drawingml/2006/main">
            <a:r>
              <a:t>    "local": "안전 지식의 소유부서·효력일·상충 근거를 함께 관리하는 검토 체계",</a:t>
            </a:r>
          </a:p>
          <a:p xmlns:a="http://schemas.openxmlformats.org/drawingml/2006/main">
            <a:r>
              <a:t>    "sourceDetail": "자동 문서 최신화, 규정 대조, 권한별 지식 폴더, RAG 파이프라인·피드백·상충 출처 표시",</a:t>
            </a:r>
          </a:p>
          <a:p xmlns:a="http://schemas.openxmlformats.org/drawingml/2006/main">
            <a:r>
              <a:t>    "narrative": [</a:t>
            </a:r>
          </a:p>
          <a:p xmlns:a="http://schemas.openxmlformats.org/drawingml/2006/main">
            <a:r>
              <a:t>      "내부 안전 규정·작업절차를 활용하는 안전 AI와 외부 상용 LLM을 이용하는 AI 서치를 구분한 시범구축. 범용 문서 작성뿐 아니라 제출 문서를 규정과 대조하고, 개인·부서 지식공간을 구성하는 업무 범위.",</a:t>
            </a:r>
          </a:p>
          <a:p xmlns:a="http://schemas.openxmlformats.org/drawingml/2006/main">
            <a:r>
              <a:t>      "원문 예시 도면에서는 통합 UI 아래 DMZ의 AI 서치와 내부 안전 AI·RAG·LLM·DB를 분리. 과업내용서는 문서 자동 최신화, 부서별 접근권한, 청크·임베딩 품질 확인, 실패 문서 재처리까지 요구. 업로드 성공과 검색 가능한 지식 등록 완료의 별도 상태 관리.",</a:t>
            </a:r>
          </a:p>
          <a:p xmlns:a="http://schemas.openxmlformats.org/drawingml/2006/main">
            <a:r>
              <a:t>      "CCK에서는 안전 답변의 문장 품질과 규정 판본·접근권한의 정확성을 별도 시험할 필요. 상충하는 두 규정이 검색될 때 한쪽을 감추기보다 근거와 적용 시점을 함께 제시하는 구조. 외부 모델과 내부 자료의 전달 경계를 TS 보안 환경에 맞춰 재설계할 대상."</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"SFR-005",</a:t>
            </a:r>
          </a:p>
          <a:p xmlns:a="http://schemas.openxmlformats.org/drawingml/2006/main">
            <a:r>
              <a:t>        "title": "생성형 AI 활용 서비스 개발(1/2)",</a:t>
            </a:r>
          </a:p>
          <a:p xmlns:a="http://schemas.openxmlformats.org/drawingml/2006/main">
            <a:r>
              <a:t>        "locator": "SFR-005",</a:t>
            </a:r>
          </a:p>
          <a:p xmlns:a="http://schemas.openxmlformats.org/drawingml/2006/main">
            <a:r>
              <a:t>        "summary": "안전 지식 검색, 근거 링크, 최신 문서 활용, 문서·규칙 검토와 번역 등 생성형 AI 서비스.",</a:t>
            </a:r>
          </a:p>
          <a:p xmlns:a="http://schemas.openxmlformats.org/drawingml/2006/main">
            <a:r>
              <a:t>        "data": "안전 문서·검토 대상 → 근거 응답·검토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"폐기 기준과 현행 기준의 충돌, 문서 인용 오류, 번역의 수치·단위 보존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"25b5da73d68c5556b94c8dfb58ef7569f5ab58304d1786741dc255ac502e1f42"</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"생성형 AI 활용 서비스 개발(2/2)",</a:t>
            </a:r>
          </a:p>
          <a:p xmlns:a="http://schemas.openxmlformats.org/drawingml/2006/main">
            <a:r>
              <a:t>        "locator": "SFR-006",</a:t>
            </a:r>
          </a:p>
          <a:p xmlns:a="http://schemas.openxmlformats.org/drawingml/2006/main">
            <a:r>
              <a:t>        "summary": "개인·부서 지식공간, 접근 이력, 답변 품질 피드백을 포함한 서비스 운영.",</a:t>
            </a:r>
          </a:p>
          <a:p xmlns:a="http://schemas.openxmlformats.org/drawingml/2006/main">
            <a:r>
              <a:t>        "data": "개인·부서 자료·피드백 → 허용 검색·개선 이력",</a:t>
            </a:r>
          </a:p>
          <a:p xmlns:a="http://schemas.openxmlformats.org/drawingml/2006/main">
            <a:r>
              <a:t>        "components": [</a:t>
            </a:r>
          </a:p>
          <a:p xmlns:a="http://schemas.openxmlformats.org/drawingml/2006/main">
            <a:r>
              <a:t>          "C02",</a:t>
            </a:r>
          </a:p>
          <a:p xmlns:a="http://schemas.openxmlformats.org/drawingml/2006/main">
            <a:r>
              <a:t>          "C05",</a:t>
            </a:r>
          </a:p>
          <a:p xmlns:a="http://schemas.openxmlformats.org/drawingml/2006/main">
            <a:r>
              <a:t>          "C08"</a:t>
            </a:r>
          </a:p>
          <a:p xmlns:a="http://schemas.openxmlformats.org/drawingml/2006/main">
            <a:r>
              <a:t>        ],</a:t>
            </a:r>
          </a:p>
          <a:p xmlns:a="http://schemas.openxmlformats.org/drawingml/2006/main">
            <a:r>
              <a:t>        "acceptance": "부서 간 공유 해제·소유자 변경·상충 문서 입력 후 접근·경고·피드백 반영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"f4945d58e397848afbc6b098dcb64f6b12e526fc2cecae10f7d27e2ad93dfeeb"</a:t>
            </a:r>
          </a:p>
          <a:p xmlns:a="http://schemas.openxmlformats.org/drawingml/2006/main">
            <a:r>
              <a:t>      },</a:t>
            </a:r>
          </a:p>
          <a:p xmlns:a="http://schemas.openxmlformats.org/drawingml/2006/main">
            <a:r>
              <a:t>      {</a:t>
            </a:r>
          </a:p>
          <a:p xmlns:a="http://schemas.openxmlformats.org/drawingml/2006/main">
            <a:r>
              <a:t>        "id": "SFR-007",</a:t>
            </a:r>
          </a:p>
          <a:p xmlns:a="http://schemas.openxmlformats.org/drawingml/2006/main">
            <a:r>
              <a:t>        "title": "RAG 파이프라인 기본 기능",</a:t>
            </a:r>
          </a:p>
          <a:p xmlns:a="http://schemas.openxmlformats.org/drawingml/2006/main">
            <a:r>
              <a:t>        "locator": "SFR-007",</a:t>
            </a:r>
          </a:p>
          <a:p xmlns:a="http://schemas.openxmlformats.org/drawingml/2006/main">
            <a:r>
              <a:t>        "summary": "문서 메타데이터·최신성·권한을 반영하는 RAG 파이프라인과 검색 결과 재정렬.",</a:t>
            </a:r>
          </a:p>
          <a:p xmlns:a="http://schemas.openxmlformats.org/drawingml/2006/main">
            <a:r>
              <a:t>        "data": "문서·권한·판본 → 청크·색인·근거 후보",</a:t>
            </a:r>
          </a:p>
          <a:p xmlns:a="http://schemas.openxmlformats.org/drawingml/2006/main">
            <a:r>
              <a:t>        "components": [</a:t>
            </a:r>
          </a:p>
          <a:p xmlns:a="http://schemas.openxmlformats.org/drawingml/2006/main">
            <a:r>
              <a:t>          "C03",</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"동일 문서 개정·삭제와 권한 변경 후 검색 결과·인용 판본의 일치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"6f87f23072fbc43c688f6da23e43fb4733d4e55ddcab3f3e4ebdbae410ee9e63"</a:t>
            </a:r>
          </a:p>
          <a:p xmlns:a="http://schemas.openxmlformats.org/drawingml/2006/main">
            <a:r>
              <a:t>      },</a:t>
            </a:r>
          </a:p>
          <a:p xmlns:a="http://schemas.openxmlformats.org/drawingml/2006/main">
            <a:r>
              <a:t>      {</a:t>
            </a:r>
          </a:p>
          <a:p xmlns:a="http://schemas.openxmlformats.org/drawingml/2006/main">
            <a:r>
              <a:t>        "id": "SFR-008",</a:t>
            </a:r>
          </a:p>
          <a:p xmlns:a="http://schemas.openxmlformats.org/drawingml/2006/main">
            <a:r>
              <a:t>        "title": "RAG 파이프라인 품질 관리 도구",</a:t>
            </a:r>
          </a:p>
          <a:p xmlns:a="http://schemas.openxmlformats.org/drawingml/2006/main">
            <a:r>
              <a:t>        "locator": "SFR-008",</a:t>
            </a:r>
          </a:p>
          <a:p xmlns:a="http://schemas.openxmlformats.org/drawingml/2006/main">
            <a:r>
              <a:t>        "summary": "청크 품질 확인, 미리보기, 임베딩 실패와 재처리 대기열을 관리하는 RAG 품질 도구.",</a:t>
            </a:r>
          </a:p>
          <a:p xmlns:a="http://schemas.openxmlformats.org/drawingml/2006/main">
            <a:r>
              <a:t>        "data": "처리 대상·실패 로그 → 품질 상태·재처리 결과",</a:t>
            </a:r>
          </a:p>
          <a:p xmlns:a="http://schemas.openxmlformats.org/drawingml/2006/main">
            <a:r>
              <a:t>        "components": [</a:t>
            </a:r>
          </a:p>
          <a:p xmlns:a="http://schemas.openxmlformats.org/drawingml/2006/main">
            <a:r>
              <a:t>          "C08",</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"표 분절·빈 청크·임베딩 실패를 주입해 탐지·재처리·색인 반영까지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"1a9d64ce29e584a1eabb8503cc98e9abde38893210ab6dcc4e3f33e8e440394e"</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"안전 현업 접점",</a:t>
            </a:r>
          </a:p>
          <a:p xmlns:a="http://schemas.openxmlformats.org/drawingml/2006/main">
            <a:r>
              <a:t>          "layer": "이용 접점",</a:t>
            </a:r>
          </a:p>
          <a:p xmlns:a="http://schemas.openxmlformats.org/drawingml/2006/main">
            <a:r>
              <a:t>          "detail": "안전 담당·부서 지식 관리자",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"직원·폴더 권한",</a:t>
            </a:r>
          </a:p>
          <a:p xmlns:a="http://schemas.openxmlformats.org/drawingml/2006/main">
            <a:r>
              <a:t>          "layer": "업무 문맥",</a:t>
            </a:r>
          </a:p>
          <a:p xmlns:a="http://schemas.openxmlformats.org/drawingml/2006/main">
            <a:r>
              <a:t>          "detail": "사용자 권한·문서 공간·검토 목적 확인",</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"안전 지식 검색",</a:t>
            </a:r>
          </a:p>
          <a:p xmlns:a="http://schemas.openxmlformats.org/drawingml/2006/main">
            <a:r>
              <a:t>          "layer": "자료 조회",</a:t>
            </a:r>
          </a:p>
          <a:p xmlns:a="http://schemas.openxmlformats.org/drawingml/2006/main">
            <a:r>
              <a:t>          "detail": "안전 문서",</a:t>
            </a:r>
          </a:p>
          <a:p xmlns:a="http://schemas.openxmlformats.org/drawingml/2006/main">
            <a:r>
              <a:t>          "requirements": [</a:t>
            </a:r>
          </a:p>
          <a:p xmlns:a="http://schemas.openxmlformats.org/drawingml/2006/main">
            <a:r>
              <a:t>            "SFR-005",</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"문서·규정 대조",</a:t>
            </a:r>
          </a:p>
          <a:p xmlns:a="http://schemas.openxmlformats.org/drawingml/2006/main">
            <a:r>
              <a:t>          "layer": "핵심 처리",</a:t>
            </a:r>
          </a:p>
          <a:p xmlns:a="http://schemas.openxmlformats.org/drawingml/2006/main">
            <a:r>
              <a:t>          "detail": "RAG 검색과 제출 문서·규정 비교",</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"상충·구판 검사",</a:t>
            </a:r>
          </a:p>
          <a:p xmlns:a="http://schemas.openxmlformats.org/drawingml/2006/main">
            <a:r>
              <a:t>          "layer": "결과 검증",</a:t>
            </a:r>
          </a:p>
          <a:p xmlns:a="http://schemas.openxmlformats.org/drawingml/2006/main">
            <a:r>
              <a:t>          "detail": "권한·판본별 안전 질의 정답 대조",</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"안전 담당 검토",</a:t>
            </a:r>
          </a:p>
          <a:p xmlns:a="http://schemas.openxmlformats.org/drawingml/2006/main">
            <a:r>
              <a:t>          "layer": "사람 확인",</a:t>
            </a:r>
          </a:p>
          <a:p xmlns:a="http://schemas.openxmlformats.org/drawingml/2006/main">
            <a:r>
              <a:t>          "detail": "안전 문서를 최신 규정과 대조하고 부서 공간에서 검토",</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"업무 검토 의견",</a:t>
            </a:r>
          </a:p>
          <a:p xmlns:a="http://schemas.openxmlformats.org/drawingml/2006/main">
            <a:r>
              <a:t>          "layer": "업무 연결",</a:t>
            </a:r>
          </a:p>
          <a:p xmlns:a="http://schemas.openxmlformats.org/drawingml/2006/main">
            <a:r>
              <a:t>          "detail": "상충 근거·검토 의견을 현업에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"피드백·권한 시험",</a:t>
            </a:r>
          </a:p>
          <a:p xmlns:a="http://schemas.openxmlformats.org/drawingml/2006/main">
            <a:r>
              <a:t>          "layer": "운영 관측",</a:t>
            </a:r>
          </a:p>
          <a:p xmlns:a="http://schemas.openxmlformats.org/drawingml/2006/main">
            <a:r>
              <a:t>          "detail": "피드백·개정 반영·권한별 검색 결과 검사",</a:t>
            </a:r>
          </a:p>
          <a:p xmlns:a="http://schemas.openxmlformats.org/drawingml/2006/main">
            <a:r>
              <a:t>          "requirements": [</a:t>
            </a:r>
          </a:p>
          <a:p xmlns:a="http://schemas.openxmlformats.org/drawingml/2006/main">
            <a:r>
              <a:t>            "SFR-006",</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"안전규정·부서문서",</a:t>
            </a:r>
          </a:p>
          <a:p xmlns:a="http://schemas.openxmlformats.org/drawingml/2006/main">
            <a:r>
              <a:t>          "layer": "데이터 원천",</a:t>
            </a:r>
          </a:p>
          <a:p xmlns:a="http://schemas.openxmlformats.org/drawingml/2006/main">
            <a:r>
              <a:t>          "detail": "안전 규정·부서 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"자동 문서 최신화",</a:t>
            </a:r>
          </a:p>
          <a:p xmlns:a="http://schemas.openxmlformats.org/drawingml/2006/main">
            <a:r>
              <a:t>          "layer": "준비·갱신",</a:t>
            </a:r>
          </a:p>
          <a:p xmlns:a="http://schemas.openxmlformats.org/drawingml/2006/main">
            <a:r>
              <a:t>          "detail": "연계 문서 자동 갱신·권한 폴더·출처 관리",</a:t>
            </a:r>
          </a:p>
          <a:p xmlns:a="http://schemas.openxmlformats.org/drawingml/2006/main">
            <a:r>
              <a:t>          "requirements": [</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"폴더·RAG 색인",</a:t>
            </a:r>
          </a:p>
          <a:p xmlns:a="http://schemas.openxmlformats.org/drawingml/2006/main">
            <a:r>
              <a:t>          "layer": "상태·지식 저장",</a:t>
            </a:r>
          </a:p>
          <a:p xmlns:a="http://schemas.openxmlformats.org/drawingml/2006/main">
            <a:r>
              <a:t>          "detail": "판본·권한별 응답과 상충 근거 표시·수정 이력",</a:t>
            </a:r>
          </a:p>
          <a:p xmlns:a="http://schemas.openxmlformats.org/drawingml/2006/main">
            <a:r>
              <a:t>          "requirements": [</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"지식공간 접근정책",</a:t>
            </a:r>
          </a:p>
          <a:p xmlns:a="http://schemas.openxmlformats.org/drawingml/2006/main">
            <a:r>
              <a:t>          "layer": "권한·정책",</a:t>
            </a:r>
          </a:p>
          <a:p xmlns:a="http://schemas.openxmlformats.org/drawingml/2006/main">
            <a:r>
              <a:t>          "detail": "폐지 규정·부서 제한 문서·서로 상충하는 출처",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"사용자 권한·문서 공간·검토 목적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"안전 문서",</a:t>
            </a:r>
          </a:p>
          <a:p xmlns:a="http://schemas.openxmlformats.org/drawingml/2006/main">
            <a:r>
              <a:t>          "check": "권한·판본별 안전 질의 정답 대조"</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"허용 지식",</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"검토 초안",</a:t>
            </a:r>
          </a:p>
          <a:p xmlns:a="http://schemas.openxmlformats.org/drawingml/2006/main">
            <a:r>
              <a:t>          "check": "폐지 규정·부서 제한 문서·서로 상충하는 출처"</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"검토 초안",</a:t>
            </a:r>
          </a:p>
          <a:p xmlns:a="http://schemas.openxmlformats.org/drawingml/2006/main">
            <a:r>
              <a:t>          "check": "상충 근거·검토 의견을 현업에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"피드백",</a:t>
            </a:r>
          </a:p>
          <a:p xmlns:a="http://schemas.openxmlformats.org/drawingml/2006/main">
            <a:r>
              <a:t>          "check": "판본·권한별 응답과 상충 근거 표시·수정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"HW·SW 구성도(예시), SFR-005~008",</a:t>
            </a:r>
          </a:p>
          <a:p xmlns:a="http://schemas.openxmlformats.org/drawingml/2006/main">
            <a:r>
              <a:t>        "extracted": "안전 AI·AI 서치·RAG·지식공간·문서 최신화",</a:t>
            </a:r>
          </a:p>
          <a:p xmlns:a="http://schemas.openxmlformats.org/drawingml/2006/main">
            <a:r>
              <a:t>        "extension": "상충 출처 검토, 폴더별 접근 검사와 개정 후 재평가"</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"PF-R04",</a:t>
            </a:r>
          </a:p>
          <a:p xmlns:a="http://schemas.openxmlformats.org/drawingml/2006/main">
            <a:r>
              <a:t>          "path": "assets/casebook-sources/PF-R04-01.png",</a:t>
            </a:r>
          </a:p>
          <a:p xmlns:a="http://schemas.openxmlformats.org/drawingml/2006/main">
            <a:r>
              <a:t>          "title": "안전 AI H/W 구성",</a:t>
            </a:r>
          </a:p>
          <a:p xmlns:a="http://schemas.openxmlformats.org/drawingml/2006/main">
            <a:r>
              <a:t>          "status": "과업내용서 H/W 구성도 예시",</a:t>
            </a:r>
          </a:p>
          <a:p xmlns:a="http://schemas.openxmlformats.org/drawingml/2006/main">
            <a:r>
              <a:t>          "caption": "DMZ AI 서치와 내부 안전 AI·RAG·LLM·DB 구성",</a:t>
            </a:r>
          </a:p>
          <a:p xmlns:a="http://schemas.openxmlformats.org/drawingml/2006/main">
            <a:r>
              <a:t>          "locator": "rId14 / BinData/BIN0001_bmp",</a:t>
            </a:r>
          </a:p>
          <a:p xmlns:a="http://schemas.openxmlformats.org/drawingml/2006/main">
            <a:r>
              <a:t>          "checked": "2026-10-16",</a:t>
            </a:r>
          </a:p>
          <a:p xmlns:a="http://schemas.openxmlformats.org/drawingml/2006/main">
            <a:r>
              <a:t>          "sha256": "47450653a73f8241e06210e73728a502e3d332cafb949494da1a9833622e77a3",</a:t>
            </a:r>
          </a:p>
          <a:p xmlns:a="http://schemas.openxmlformats.org/drawingml/2006/main">
            <a:r>
              <a:t>          "explanation": {</a:t>
            </a:r>
          </a:p>
          <a:p xmlns:a="http://schemas.openxmlformats.org/drawingml/2006/main">
            <a:r>
              <a:t>            "read": "DMZ와 내부 영역의 AI 서치·안전 AI·RAG·LLM·DB 배치를 구분한 H/W 구성 예시. 외부 접점과 내부 지식의 접근 경계를 인프라 관점에서 표현.",</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"SFR-007"</a:t>
            </a:r>
          </a:p>
          <a:p xmlns:a="http://schemas.openxmlformats.org/drawingml/2006/main">
            <a:r>
              <a:t>            ],</a:t>
            </a:r>
          </a:p>
          <a:p xmlns:a="http://schemas.openxmlformats.org/drawingml/2006/main">
            <a:r>
              <a:t>            "connection": "공개 조회와 내부 안전 문서의 경계를 분리하고 개인·부서 지식공간의 권한이 검색과 응답 양쪽에 적용되는지 확인하는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"PF-R04",</a:t>
            </a:r>
          </a:p>
          <a:p xmlns:a="http://schemas.openxmlformats.org/drawingml/2006/main">
            <a:r>
              <a:t>          "path": "assets/casebook-sources/PF-R04-02.png",</a:t>
            </a:r>
          </a:p>
          <a:p xmlns:a="http://schemas.openxmlformats.org/drawingml/2006/main">
            <a:r>
              <a:t>          "title": "안전 AI S/W 구성",</a:t>
            </a:r>
          </a:p>
          <a:p xmlns:a="http://schemas.openxmlformats.org/drawingml/2006/main">
            <a:r>
              <a:t>          "status": "과업내용서 S/W 구성도 예시",</a:t>
            </a:r>
          </a:p>
          <a:p xmlns:a="http://schemas.openxmlformats.org/drawingml/2006/main">
            <a:r>
              <a:t>          "caption": "안전 지식·RAG와 외부 LLM API 업무 지원의 구분",</a:t>
            </a:r>
          </a:p>
          <a:p xmlns:a="http://schemas.openxmlformats.org/drawingml/2006/main">
            <a:r>
              <a:t>          "locator": "rId14 / BinData/BIN0002_bmp",</a:t>
            </a:r>
          </a:p>
          <a:p xmlns:a="http://schemas.openxmlformats.org/drawingml/2006/main">
            <a:r>
              <a:t>          "checked": "2026-10-16",</a:t>
            </a:r>
          </a:p>
          <a:p xmlns:a="http://schemas.openxmlformats.org/drawingml/2006/main">
            <a:r>
              <a:t>          "sha256": "607e9e60f0ab618fa7cdca53b108478e11e89b59866b5f5e7bd063e5d01aac5c",</a:t>
            </a:r>
          </a:p>
          <a:p xmlns:a="http://schemas.openxmlformats.org/drawingml/2006/main">
            <a:r>
              <a:t>          "explanation": {</a:t>
            </a:r>
          </a:p>
          <a:p xmlns:a="http://schemas.openxmlformats.org/drawingml/2006/main">
            <a:r>
              <a:t>            "read": "안전 지식의 검색·RAG 경로와 외부 모델 API를 활용하는 업무 지원 경로를 구분한 S/W 구성 예시. 문서 최신화와 지식공간 관리는 생성 기능을 유지하기 위한 별도 운영 기능.",</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"connection": "외부 모델로 전송할 입력 범위, 문서 개정 후 색인 갱신, 청크 오류와 임베딩 재처리의 상태를 서로 구분하는 서비스·운영 계약."</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"폐지 규정·부서 제한 문서·서로 상충하는 출처",</a:t>
            </a:r>
          </a:p>
          <a:p xmlns:a="http://schemas.openxmlformats.org/drawingml/2006/main">
            <a:r>
              <a:t>        "hold": "권한·판본별 안전 질의 정답 대조",</a:t>
            </a:r>
          </a:p>
          <a:p xmlns:a="http://schemas.openxmlformats.org/drawingml/2006/main">
            <a:r>
              <a:t>        "recovery": "피드백·개정 반영·권한별 검색 결과 검사",</a:t>
            </a:r>
          </a:p>
          <a:p xmlns:a="http://schemas.openxmlformats.org/drawingml/2006/main">
            <a:r>
              <a:t>        "evidence": "판본·권한별 응답과 상충 근거 표시·수정 이력"</a:t>
            </a:r>
          </a:p>
          <a:p xmlns:a="http://schemas.openxmlformats.org/drawingml/2006/main">
            <a:r>
              <a:t>      },</a:t>
            </a:r>
          </a:p>
          <a:p xmlns:a="http://schemas.openxmlformats.org/drawingml/2006/main">
            <a:r>
              <a:t>      "data": {</a:t>
            </a:r>
          </a:p>
          <a:p xmlns:a="http://schemas.openxmlformats.org/drawingml/2006/main">
            <a:r>
              <a:t>        "source": "안전 규정·부서 지식",</a:t>
            </a:r>
          </a:p>
          <a:p xmlns:a="http://schemas.openxmlformats.org/drawingml/2006/main">
            <a:r>
              <a:t>        "prepare": "연계 문서 자동 갱신·권한 폴더·출처 관리",</a:t>
            </a:r>
          </a:p>
          <a:p xmlns:a="http://schemas.openxmlformats.org/drawingml/2006/main">
            <a:r>
              <a:t>        "output": "안전 문서",</a:t>
            </a:r>
          </a:p>
          <a:p xmlns:a="http://schemas.openxmlformats.org/drawingml/2006/main">
            <a:r>
              <a:t>        "refresh": "피드백·개정 반영·권한별 검색 결과 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"PF-R04",</a:t>
            </a:r>
          </a:p>
          <a:p xmlns:a="http://schemas.openxmlformats.org/drawingml/2006/main">
            <a:r>
              <a:t>    "success": [</a:t>
            </a:r>
          </a:p>
          <a:p xmlns:a="http://schemas.openxmlformats.org/drawingml/2006/main">
            <a:r>
              <a:t>      "안전 도메인 지식 집중",</a:t>
            </a:r>
          </a:p>
          <a:p xmlns:a="http://schemas.openxmlformats.org/drawingml/2006/main">
            <a:r>
              <a:t>      "개인·부서 지식공간의 구분"</a:t>
            </a:r>
          </a:p>
          <a:p xmlns:a="http://schemas.openxmlformats.org/drawingml/2006/main">
            <a:r>
              <a:t>    ],</a:t>
            </a:r>
          </a:p>
          <a:p xmlns:a="http://schemas.openxmlformats.org/drawingml/2006/main">
            <a:r>
              <a:t>    "risks": [</a:t>
            </a:r>
          </a:p>
          <a:p xmlns:a="http://schemas.openxmlformats.org/drawingml/2006/main">
            <a:r>
              <a:t>      "부서 자료의 권한 혼입",</a:t>
            </a:r>
          </a:p>
          <a:p xmlns:a="http://schemas.openxmlformats.org/drawingml/2006/main">
            <a:r>
              <a:t>      "계약 발표를 안전 품질 검수로 간주"</a:t>
            </a:r>
          </a:p>
          <a:p xmlns:a="http://schemas.openxmlformats.org/drawingml/2006/main">
            <a:r>
              <a:t>    ],</a:t>
            </a:r>
          </a:p>
          <a:p xmlns:a="http://schemas.openxmlformats.org/drawingml/2006/main">
            <a:r>
              <a:t>    "architecture": [</a:t>
            </a:r>
          </a:p>
          <a:p xmlns:a="http://schemas.openxmlformats.org/drawingml/2006/main">
            <a:r>
              <a:t>      "안전 현업",</a:t>
            </a:r>
          </a:p>
          <a:p xmlns:a="http://schemas.openxmlformats.org/drawingml/2006/main">
            <a:r>
              <a:t>      "권한 검색·문서 검토",</a:t>
            </a:r>
          </a:p>
          <a:p xmlns:a="http://schemas.openxmlformats.org/drawingml/2006/main">
            <a:r>
              <a:t>      "안전 규정·부서 지식",</a:t>
            </a:r>
          </a:p>
          <a:p xmlns:a="http://schemas.openxmlformats.org/drawingml/2006/main">
            <a:r>
              <a:t>      "검토 담당"</a:t>
            </a:r>
          </a:p>
          <a:p xmlns:a="http://schemas.openxmlformats.org/drawingml/2006/main">
            <a:r>
              <a:t>    ],</a:t>
            </a:r>
          </a:p>
          <a:p xmlns:a="http://schemas.openxmlformats.org/drawingml/2006/main">
            <a:r>
              <a:t>    "transfers": [</a:t>
            </a:r>
          </a:p>
          <a:p xmlns:a="http://schemas.openxmlformats.org/drawingml/2006/main">
            <a:r>
              <a:t>      "안전 문서",</a:t>
            </a:r>
          </a:p>
          <a:p xmlns:a="http://schemas.openxmlformats.org/drawingml/2006/main">
            <a:r>
              <a:t>      "허용 지식",</a:t>
            </a:r>
          </a:p>
          <a:p xmlns:a="http://schemas.openxmlformats.org/drawingml/2006/main">
            <a:r>
              <a:t>      "검토 초안",</a:t>
            </a:r>
          </a:p>
          <a:p xmlns:a="http://schemas.openxmlformats.org/drawingml/2006/main">
            <a:r>
              <a:t>      "피드백"</a:t>
            </a:r>
          </a:p>
          <a:p xmlns:a="http://schemas.openxmlformats.org/drawingml/2006/main">
            <a:r>
              <a:t>    ],</a:t>
            </a:r>
          </a:p>
          <a:p xmlns:a="http://schemas.openxmlformats.org/drawingml/2006/main">
            <a:r>
              <a:t>    "control": "권한·판본별 안전 질의 정답 대조",</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SFR-005~008 (과업내용서) / Word T053 https://www.g2b.go.kr/pn/pnp/pnpe/UntyAtchFile/downloadFile.do?bidPbancNo=R25BK00790330&amp;bidPbancOrd=000&amp;fileSeq=8&amp;fileType=</a:t>
            </a:r>
          </a:p>
          <a:p xmlns:a="http://schemas.openxmlformats.org/drawingml/2006/main">
            <a:r>
              <a:t>홈페이지 https://heen1987-ops.github.io/TS-business-Plan-001/index.html?view=platform-cases&amp;case=PF-R04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"PF-R04",</a:t>
            </a:r>
          </a:p>
          <a:p xmlns:a="http://schemas.openxmlformats.org/drawingml/2006/main">
            <a:r>
              <a:t>    "sourceId": "R04",</a:t>
            </a:r>
          </a:p>
          <a:p xmlns:a="http://schemas.openxmlformats.org/drawingml/2006/main">
            <a:r>
              <a:t>    "title": "지역난방공사 안전 LLM",</a:t>
            </a:r>
          </a:p>
          <a:p xmlns:a="http://schemas.openxmlformats.org/drawingml/2006/main">
            <a:r>
              <a:t>    "region": "국내",</a:t>
            </a:r>
          </a:p>
          <a:p xmlns:a="http://schemas.openxmlformats.org/drawingml/2006/main">
            <a:r>
              <a:t>    "owner": "한국지역난방공사",</a:t>
            </a:r>
          </a:p>
          <a:p xmlns:a="http://schemas.openxmlformats.org/drawingml/2006/main">
            <a:r>
              <a:t>    "state": "공식 RFP·과업내용서 + 공급사 계약 발표 확인",</a:t>
            </a:r>
          </a:p>
          <a:p xmlns:a="http://schemas.openxmlformats.org/drawingml/2006/main">
            <a:r>
              <a:t>    "period": "기존 원장 확인 2026.10.16",</a:t>
            </a:r>
          </a:p>
          <a:p xmlns:a="http://schemas.openxmlformats.org/drawingml/2006/main">
            <a:r>
              <a:t>    "fact": "안전분야 LLM과 사내 검색·문서 검토·개인/부서 지식공간",</a:t>
            </a:r>
          </a:p>
          <a:p xmlns:a="http://schemas.openxmlformats.org/drawingml/2006/main">
            <a:r>
              <a:t>    "limit": "Temperature를 상세도와 동일시한 원문 표현은 구현 검증 필요",</a:t>
            </a:r>
          </a:p>
          <a:p xmlns:a="http://schemas.openxmlformats.org/drawingml/2006/main">
            <a:r>
              <a:t>    "nodes": [</a:t>
            </a:r>
          </a:p>
          <a:p xmlns:a="http://schemas.openxmlformats.org/drawingml/2006/main">
            <a:r>
              <a:t>      "안전·규정 지식",</a:t>
            </a:r>
          </a:p>
          <a:p xmlns:a="http://schemas.openxmlformats.org/drawingml/2006/main">
            <a:r>
              <a:t>      "권한별 검색",</a:t>
            </a:r>
          </a:p>
          <a:p xmlns:a="http://schemas.openxmlformats.org/drawingml/2006/main">
            <a:r>
              <a:t>      "문서 검토",</a:t>
            </a:r>
          </a:p>
          <a:p xmlns:a="http://schemas.openxmlformats.org/drawingml/2006/main">
            <a:r>
              <a:t>      "현업 피드백"</a:t>
            </a:r>
          </a:p>
          <a:p xmlns:a="http://schemas.openxmlformats.org/drawingml/2006/main">
            <a:r>
              <a:t>    ],</a:t>
            </a:r>
          </a:p>
          <a:p xmlns:a="http://schemas.openxmlformats.org/drawingml/2006/main">
            <a:r>
              <a:t>    "apply": "안전 지식의 소유부서·효력일·상충 근거를 함께 관리하는 검토 체계",</a:t>
            </a:r>
          </a:p>
          <a:p xmlns:a="http://schemas.openxmlformats.org/drawingml/2006/main">
            <a:r>
              <a:t>    "delta": "안전 규정 효력일·소유부서 / 자동 갱신 / 상충 근거 표시",</a:t>
            </a:r>
          </a:p>
          <a:p xmlns:a="http://schemas.openxmlformats.org/drawingml/2006/main">
            <a:r>
              <a:t>    "test": "개정·폐지·권한 제한·상충 문서의 검색 및 검토 결과 대조",</a:t>
            </a:r>
          </a:p>
          <a:p xmlns:a="http://schemas.openxmlformats.org/drawingml/2006/main">
            <a:r>
              <a:t>    "url": "https://www.g2b.go.kr/pn/pnp/pnpe/UntyAtchFile/downloadFile.do?bidPbancNo=R25BK00790330&amp;bidPbancOrd=000&amp;fileSeq=8&amp;fileType=",</a:t>
            </a:r>
          </a:p>
          <a:p xmlns:a="http://schemas.openxmlformats.org/drawingml/2006/main">
            <a:r>
              <a:t>    "urls": [</a:t>
            </a:r>
          </a:p>
          <a:p xmlns:a="http://schemas.openxmlformats.org/drawingml/2006/main">
            <a:r>
              <a:t>      "https://www.g2b.go.kr/pn/pnp/pnpe/UntyAtchFile/downloadFile.do?bidPbancNo=R25BK00790330&amp;bidPbancOrd=000&amp;fileSeq=8&amp;fileType=",</a:t>
            </a:r>
          </a:p>
          <a:p xmlns:a="http://schemas.openxmlformats.org/drawingml/2006/main">
            <a:r>
              <a:t>      "https://gridone.co.kr/community/news/143"</a:t>
            </a:r>
          </a:p>
          <a:p xmlns:a="http://schemas.openxmlformats.org/drawingml/2006/main">
            <a:r>
              <a:t>    ],</a:t>
            </a:r>
          </a:p>
          <a:p xmlns:a="http://schemas.openxmlformats.org/drawingml/2006/main">
            <a:r>
              <a:t>    "basis": "SFR-005~008 (과업내용서) / Word T053",</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"구버전 인용률 / 개정 반영 지연 / 검토 누락률",</a:t>
            </a:r>
          </a:p>
          <a:p xmlns:a="http://schemas.openxmlformats.org/drawingml/2006/main">
            <a:r>
              <a:t>    "group": "요구·구축",</a:t>
            </a:r>
          </a:p>
          <a:p xmlns:a="http://schemas.openxmlformats.org/drawingml/2006/main">
            <a:r>
              <a:t>    "sourceDetail": "자동 문서 최신화, 규정 대조, 권한별 지식 폴더, RAG 파이프라인·피드백·상충 출처 표시",</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"PF-R04",</a:t>
            </a:r>
          </a:p>
          <a:p xmlns:a="http://schemas.openxmlformats.org/drawingml/2006/main">
            <a:r>
              <a:t>    "canonicalId": "PF-R04",</a:t>
            </a:r>
          </a:p>
          <a:p xmlns:a="http://schemas.openxmlformats.org/drawingml/2006/main">
            <a:r>
              <a:t>    "purpose": "안전 지식검색과 규정 대조의 업무 적용",</a:t>
            </a:r>
          </a:p>
          <a:p xmlns:a="http://schemas.openxmlformats.org/drawingml/2006/main">
            <a:r>
              <a:t>    "users": "안전 담당·부서 지식 관리자",</a:t>
            </a:r>
          </a:p>
          <a:p xmlns:a="http://schemas.openxmlformats.org/drawingml/2006/main">
            <a:r>
              <a:t>    "scope": [</a:t>
            </a:r>
          </a:p>
          <a:p xmlns:a="http://schemas.openxmlformats.org/drawingml/2006/main">
            <a:r>
              <a:t>      "안전 LLM",</a:t>
            </a:r>
          </a:p>
          <a:p xmlns:a="http://schemas.openxmlformats.org/drawingml/2006/main">
            <a:r>
              <a:t>      "문서 검토",</a:t>
            </a:r>
          </a:p>
          <a:p xmlns:a="http://schemas.openxmlformats.org/drawingml/2006/main">
            <a:r>
              <a:t>      "부서 지식공간"</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"안전 현업",</a:t>
            </a:r>
          </a:p>
          <a:p xmlns:a="http://schemas.openxmlformats.org/drawingml/2006/main">
            <a:r>
              <a:t>        "detail": "사용자 권한·문서 공간·검토 목적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"안전 LLM / 문서 검토 / 부서 지식공간",</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"권한 검색·문서 검토",</a:t>
            </a:r>
          </a:p>
          <a:p xmlns:a="http://schemas.openxmlformats.org/drawingml/2006/main">
            <a:r>
              <a:t>        "detail": "RAG 검색과 제출 문서·규정 비교",</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"검토 담당",</a:t>
            </a:r>
          </a:p>
          <a:p xmlns:a="http://schemas.openxmlformats.org/drawingml/2006/main">
            <a:r>
              <a:t>        "detail": "상충 근거·검토 의견을 현업에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"안전 규정·부서 지식",</a:t>
            </a:r>
          </a:p>
          <a:p xmlns:a="http://schemas.openxmlformats.org/drawingml/2006/main">
            <a:r>
              <a:t>        "detail": "연계 문서 자동 갱신·권한 폴더·출처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"피드백·개정 반영·권한별 검색 결과 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"안전·규정 지식",</a:t>
            </a:r>
          </a:p>
          <a:p xmlns:a="http://schemas.openxmlformats.org/drawingml/2006/main">
            <a:r>
              <a:t>        "input": "사용자 권한·문서 공간·검토 목적 확인",</a:t>
            </a:r>
          </a:p>
          <a:p xmlns:a="http://schemas.openxmlformats.org/drawingml/2006/main">
            <a:r>
              <a:t>        "process": "연계 문서 자동 갱신·권한 폴더·출처 관리",</a:t>
            </a:r>
          </a:p>
          <a:p xmlns:a="http://schemas.openxmlformats.org/drawingml/2006/main">
            <a:r>
              <a:t>        "output": "안전 문서"</a:t>
            </a:r>
          </a:p>
          <a:p xmlns:a="http://schemas.openxmlformats.org/drawingml/2006/main">
            <a:r>
              <a:t>      },</a:t>
            </a:r>
          </a:p>
          <a:p xmlns:a="http://schemas.openxmlformats.org/drawingml/2006/main">
            <a:r>
              <a:t>      {</a:t>
            </a:r>
          </a:p>
          <a:p xmlns:a="http://schemas.openxmlformats.org/drawingml/2006/main">
            <a:r>
              <a:t>        "title": "권한별 검색",</a:t>
            </a:r>
          </a:p>
          <a:p xmlns:a="http://schemas.openxmlformats.org/drawingml/2006/main">
            <a:r>
              <a:t>        "input": "안전 문서",</a:t>
            </a:r>
          </a:p>
          <a:p xmlns:a="http://schemas.openxmlformats.org/drawingml/2006/main">
            <a:r>
              <a:t>        "process": "RAG 검색과 제출 문서·규정 비교",</a:t>
            </a:r>
          </a:p>
          <a:p xmlns:a="http://schemas.openxmlformats.org/drawingml/2006/main">
            <a:r>
              <a:t>        "output": "허용 지식"</a:t>
            </a:r>
          </a:p>
          <a:p xmlns:a="http://schemas.openxmlformats.org/drawingml/2006/main">
            <a:r>
              <a:t>      },</a:t>
            </a:r>
          </a:p>
          <a:p xmlns:a="http://schemas.openxmlformats.org/drawingml/2006/main">
            <a:r>
              <a:t>      {</a:t>
            </a:r>
          </a:p>
          <a:p xmlns:a="http://schemas.openxmlformats.org/drawingml/2006/main">
            <a:r>
              <a:t>        "title": "문서 검토",</a:t>
            </a:r>
          </a:p>
          <a:p xmlns:a="http://schemas.openxmlformats.org/drawingml/2006/main">
            <a:r>
              <a:t>        "input": "허용 지식",</a:t>
            </a:r>
          </a:p>
          <a:p xmlns:a="http://schemas.openxmlformats.org/drawingml/2006/main">
            <a:r>
              <a:t>        "process": "권한·판본별 안전 질의 정답 대조",</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"title": "현업 피드백",</a:t>
            </a:r>
          </a:p>
          <a:p xmlns:a="http://schemas.openxmlformats.org/drawingml/2006/main">
            <a:r>
              <a:t>        "input": "검토 초안",</a:t>
            </a:r>
          </a:p>
          <a:p xmlns:a="http://schemas.openxmlformats.org/drawingml/2006/main">
            <a:r>
              <a:t>        "process": "상충 근거·검토 의견을 현업에 제공",</a:t>
            </a:r>
          </a:p>
          <a:p xmlns:a="http://schemas.openxmlformats.org/drawingml/2006/main">
            <a:r>
              <a:t>        "output": "피드백"</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"안전 문서를 최신 규정과 대조하고 부서 공간에서 검토",</a:t>
            </a:r>
          </a:p>
          <a:p xmlns:a="http://schemas.openxmlformats.org/drawingml/2006/main">
            <a:r>
              <a:t>      "exception": "폐지 규정·부서 제한 문서·서로 상충하는 출처",</a:t>
            </a:r>
          </a:p>
          <a:p xmlns:a="http://schemas.openxmlformats.org/drawingml/2006/main">
            <a:r>
              <a:t>      "evidence": "판본·권한별 응답과 상충 근거 표시·수정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"안전 담당·부서 지식 관리자",</a:t>
            </a:r>
          </a:p>
          <a:p xmlns:a="http://schemas.openxmlformats.org/drawingml/2006/main">
            <a:r>
              <a:t>          "processing": "사용자 권한·문서 공간·검토 목적 확인",</a:t>
            </a:r>
          </a:p>
          <a:p xmlns:a="http://schemas.openxmlformats.org/drawingml/2006/main">
            <a:r>
              <a:t>          "output": "안전 문서"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"안전 규정·부서 지식",</a:t>
            </a:r>
          </a:p>
          <a:p xmlns:a="http://schemas.openxmlformats.org/drawingml/2006/main">
            <a:r>
              <a:t>          "processing": "연계 문서 자동 갱신·권한 폴더·출처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"안전 문서",</a:t>
            </a:r>
          </a:p>
          <a:p xmlns:a="http://schemas.openxmlformats.org/drawingml/2006/main">
            <a:r>
              <a:t>          "processing": "RAG 검색과 제출 문서·규정 비교",</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"검토 초안",</a:t>
            </a:r>
          </a:p>
          <a:p xmlns:a="http://schemas.openxmlformats.org/drawingml/2006/main">
            <a:r>
              <a:t>          "processing": "상충 근거·검토 의견을 현업에 제공",</a:t>
            </a:r>
          </a:p>
          <a:p xmlns:a="http://schemas.openxmlformats.org/drawingml/2006/main">
            <a:r>
              <a:t>          "output": "피드백"</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"피드백·개정 반영·권한별 검색 결과 검사",</a:t>
            </a:r>
          </a:p>
          <a:p xmlns:a="http://schemas.openxmlformats.org/drawingml/2006/main">
            <a:r>
              <a:t>          "output": "판본·권한별 응답과 상충 근거 표시·수정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"피드백·개정 반영·권한별 검색 결과 검사",</a:t>
            </a:r>
          </a:p>
          <a:p xmlns:a="http://schemas.openxmlformats.org/drawingml/2006/main">
            <a:r>
              <a:t>    "status": "RFP 기반 논리 설계",</a:t>
            </a:r>
          </a:p>
          <a:p xmlns:a="http://schemas.openxmlformats.org/drawingml/2006/main">
            <a:r>
              <a:t>    "basis": "과업내용서 2025.03 · SFR-005~008",</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"SFR-005~008 (과업내용서) / Word T053",</a:t>
            </a:r>
          </a:p>
          <a:p xmlns:a="http://schemas.openxmlformats.org/drawingml/2006/main">
            <a:r>
              <a:t>        "url": "https://www.g2b.go.kr/pn/pnp/pnpe/UntyAtchFile/downloadFile.do?bidPbancNo=R25BK00790330&amp;bidPbancOrd=000&amp;fileSeq=8&amp;fileType="</a:t>
            </a:r>
          </a:p>
          <a:p xmlns:a="http://schemas.openxmlformats.org/drawingml/2006/main">
            <a:r>
              <a:t>      }</a:t>
            </a:r>
          </a:p>
          <a:p xmlns:a="http://schemas.openxmlformats.org/drawingml/2006/main">
            <a:r>
              <a:t>    ],</a:t>
            </a:r>
          </a:p>
          <a:p xmlns:a="http://schemas.openxmlformats.org/drawingml/2006/main">
            <a:r>
              <a:t>    "implication": "안전 지식의 소유부서·효력일·상충 근거를 함께 관리하는 검토 체계",</a:t>
            </a:r>
          </a:p>
          <a:p xmlns:a="http://schemas.openxmlformats.org/drawingml/2006/main">
            <a:r>
              <a:t>    "local": "안전 지식의 소유부서·효력일·상충 근거를 함께 관리하는 검토 체계",</a:t>
            </a:r>
          </a:p>
          <a:p xmlns:a="http://schemas.openxmlformats.org/drawingml/2006/main">
            <a:r>
              <a:t>    "sourceDetail": "자동 문서 최신화, 규정 대조, 권한별 지식 폴더, RAG 파이프라인·피드백·상충 출처 표시",</a:t>
            </a:r>
          </a:p>
          <a:p xmlns:a="http://schemas.openxmlformats.org/drawingml/2006/main">
            <a:r>
              <a:t>    "narrative": [</a:t>
            </a:r>
          </a:p>
          <a:p xmlns:a="http://schemas.openxmlformats.org/drawingml/2006/main">
            <a:r>
              <a:t>      "내부 안전 규정·작업절차를 활용하는 안전 AI와 외부 상용 LLM을 이용하는 AI 서치를 구분한 시범구축. 범용 문서 작성뿐 아니라 제출 문서를 규정과 대조하고, 개인·부서 지식공간을 구성하는 업무 범위.",</a:t>
            </a:r>
          </a:p>
          <a:p xmlns:a="http://schemas.openxmlformats.org/drawingml/2006/main">
            <a:r>
              <a:t>      "원문 예시 도면에서는 통합 UI 아래 DMZ의 AI 서치와 내부 안전 AI·RAG·LLM·DB를 분리. 과업내용서는 문서 자동 최신화, 부서별 접근권한, 청크·임베딩 품질 확인, 실패 문서 재처리까지 요구. 업로드 성공과 검색 가능한 지식 등록 완료의 별도 상태 관리.",</a:t>
            </a:r>
          </a:p>
          <a:p xmlns:a="http://schemas.openxmlformats.org/drawingml/2006/main">
            <a:r>
              <a:t>      "CCK에서는 안전 답변의 문장 품질과 규정 판본·접근권한의 정확성을 별도 시험할 필요. 상충하는 두 규정이 검색될 때 한쪽을 감추기보다 근거와 적용 시점을 함께 제시하는 구조. 외부 모델과 내부 자료의 전달 경계를 TS 보안 환경에 맞춰 재설계할 대상."</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"SFR-005",</a:t>
            </a:r>
          </a:p>
          <a:p xmlns:a="http://schemas.openxmlformats.org/drawingml/2006/main">
            <a:r>
              <a:t>        "title": "생성형 AI 활용 서비스 개발(1/2)",</a:t>
            </a:r>
          </a:p>
          <a:p xmlns:a="http://schemas.openxmlformats.org/drawingml/2006/main">
            <a:r>
              <a:t>        "locator": "SFR-005",</a:t>
            </a:r>
          </a:p>
          <a:p xmlns:a="http://schemas.openxmlformats.org/drawingml/2006/main">
            <a:r>
              <a:t>        "summary": "안전 지식 검색, 근거 링크, 최신 문서 활용, 문서·규칙 검토와 번역 등 생성형 AI 서비스.",</a:t>
            </a:r>
          </a:p>
          <a:p xmlns:a="http://schemas.openxmlformats.org/drawingml/2006/main">
            <a:r>
              <a:t>        "data": "안전 문서·검토 대상 → 근거 응답·검토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"폐기 기준과 현행 기준의 충돌, 문서 인용 오류, 번역의 수치·단위 보존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"25b5da73d68c5556b94c8dfb58ef7569f5ab58304d1786741dc255ac502e1f42"</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"생성형 AI 활용 서비스 개발(2/2)",</a:t>
            </a:r>
          </a:p>
          <a:p xmlns:a="http://schemas.openxmlformats.org/drawingml/2006/main">
            <a:r>
              <a:t>        "locator": "SFR-006",</a:t>
            </a:r>
          </a:p>
          <a:p xmlns:a="http://schemas.openxmlformats.org/drawingml/2006/main">
            <a:r>
              <a:t>        "summary": "개인·부서 지식공간, 접근 이력, 답변 품질 피드백을 포함한 서비스 운영.",</a:t>
            </a:r>
          </a:p>
          <a:p xmlns:a="http://schemas.openxmlformats.org/drawingml/2006/main">
            <a:r>
              <a:t>        "data": "개인·부서 자료·피드백 → 허용 검색·개선 이력",</a:t>
            </a:r>
          </a:p>
          <a:p xmlns:a="http://schemas.openxmlformats.org/drawingml/2006/main">
            <a:r>
              <a:t>        "components": [</a:t>
            </a:r>
          </a:p>
          <a:p xmlns:a="http://schemas.openxmlformats.org/drawingml/2006/main">
            <a:r>
              <a:t>          "C02",</a:t>
            </a:r>
          </a:p>
          <a:p xmlns:a="http://schemas.openxmlformats.org/drawingml/2006/main">
            <a:r>
              <a:t>          "C05",</a:t>
            </a:r>
          </a:p>
          <a:p xmlns:a="http://schemas.openxmlformats.org/drawingml/2006/main">
            <a:r>
              <a:t>          "C08"</a:t>
            </a:r>
          </a:p>
          <a:p xmlns:a="http://schemas.openxmlformats.org/drawingml/2006/main">
            <a:r>
              <a:t>        ],</a:t>
            </a:r>
          </a:p>
          <a:p xmlns:a="http://schemas.openxmlformats.org/drawingml/2006/main">
            <a:r>
              <a:t>        "acceptance": "부서 간 공유 해제·소유자 변경·상충 문서 입력 후 접근·경고·피드백 반영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"f4945d58e397848afbc6b098dcb64f6b12e526fc2cecae10f7d27e2ad93dfeeb"</a:t>
            </a:r>
          </a:p>
          <a:p xmlns:a="http://schemas.openxmlformats.org/drawingml/2006/main">
            <a:r>
              <a:t>      },</a:t>
            </a:r>
          </a:p>
          <a:p xmlns:a="http://schemas.openxmlformats.org/drawingml/2006/main">
            <a:r>
              <a:t>      {</a:t>
            </a:r>
          </a:p>
          <a:p xmlns:a="http://schemas.openxmlformats.org/drawingml/2006/main">
            <a:r>
              <a:t>        "id": "SFR-007",</a:t>
            </a:r>
          </a:p>
          <a:p xmlns:a="http://schemas.openxmlformats.org/drawingml/2006/main">
            <a:r>
              <a:t>        "title": "RAG 파이프라인 기본 기능",</a:t>
            </a:r>
          </a:p>
          <a:p xmlns:a="http://schemas.openxmlformats.org/drawingml/2006/main">
            <a:r>
              <a:t>        "locator": "SFR-007",</a:t>
            </a:r>
          </a:p>
          <a:p xmlns:a="http://schemas.openxmlformats.org/drawingml/2006/main">
            <a:r>
              <a:t>        "summary": "문서 메타데이터·최신성·권한을 반영하는 RAG 파이프라인과 검색 결과 재정렬.",</a:t>
            </a:r>
          </a:p>
          <a:p xmlns:a="http://schemas.openxmlformats.org/drawingml/2006/main">
            <a:r>
              <a:t>        "data": "문서·권한·판본 → 청크·색인·근거 후보",</a:t>
            </a:r>
          </a:p>
          <a:p xmlns:a="http://schemas.openxmlformats.org/drawingml/2006/main">
            <a:r>
              <a:t>        "components": [</a:t>
            </a:r>
          </a:p>
          <a:p xmlns:a="http://schemas.openxmlformats.org/drawingml/2006/main">
            <a:r>
              <a:t>          "C03",</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"동일 문서 개정·삭제와 권한 변경 후 검색 결과·인용 판본의 일치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"6f87f23072fbc43c688f6da23e43fb4733d4e55ddcab3f3e4ebdbae410ee9e63"</a:t>
            </a:r>
          </a:p>
          <a:p xmlns:a="http://schemas.openxmlformats.org/drawingml/2006/main">
            <a:r>
              <a:t>      },</a:t>
            </a:r>
          </a:p>
          <a:p xmlns:a="http://schemas.openxmlformats.org/drawingml/2006/main">
            <a:r>
              <a:t>      {</a:t>
            </a:r>
          </a:p>
          <a:p xmlns:a="http://schemas.openxmlformats.org/drawingml/2006/main">
            <a:r>
              <a:t>        "id": "SFR-008",</a:t>
            </a:r>
          </a:p>
          <a:p xmlns:a="http://schemas.openxmlformats.org/drawingml/2006/main">
            <a:r>
              <a:t>        "title": "RAG 파이프라인 품질 관리 도구",</a:t>
            </a:r>
          </a:p>
          <a:p xmlns:a="http://schemas.openxmlformats.org/drawingml/2006/main">
            <a:r>
              <a:t>        "locator": "SFR-008",</a:t>
            </a:r>
          </a:p>
          <a:p xmlns:a="http://schemas.openxmlformats.org/drawingml/2006/main">
            <a:r>
              <a:t>        "summary": "청크 품질 확인, 미리보기, 임베딩 실패와 재처리 대기열을 관리하는 RAG 품질 도구.",</a:t>
            </a:r>
          </a:p>
          <a:p xmlns:a="http://schemas.openxmlformats.org/drawingml/2006/main">
            <a:r>
              <a:t>        "data": "처리 대상·실패 로그 → 품질 상태·재처리 결과",</a:t>
            </a:r>
          </a:p>
          <a:p xmlns:a="http://schemas.openxmlformats.org/drawingml/2006/main">
            <a:r>
              <a:t>        "components": [</a:t>
            </a:r>
          </a:p>
          <a:p xmlns:a="http://schemas.openxmlformats.org/drawingml/2006/main">
            <a:r>
              <a:t>          "C08",</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"표 분절·빈 청크·임베딩 실패를 주입해 탐지·재처리·색인 반영까지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"1a9d64ce29e584a1eabb8503cc98e9abde38893210ab6dcc4e3f33e8e440394e"</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"안전 현업 접점",</a:t>
            </a:r>
          </a:p>
          <a:p xmlns:a="http://schemas.openxmlformats.org/drawingml/2006/main">
            <a:r>
              <a:t>          "layer": "이용 접점",</a:t>
            </a:r>
          </a:p>
          <a:p xmlns:a="http://schemas.openxmlformats.org/drawingml/2006/main">
            <a:r>
              <a:t>          "detail": "안전 담당·부서 지식 관리자",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"직원·폴더 권한",</a:t>
            </a:r>
          </a:p>
          <a:p xmlns:a="http://schemas.openxmlformats.org/drawingml/2006/main">
            <a:r>
              <a:t>          "layer": "업무 문맥",</a:t>
            </a:r>
          </a:p>
          <a:p xmlns:a="http://schemas.openxmlformats.org/drawingml/2006/main">
            <a:r>
              <a:t>          "detail": "사용자 권한·문서 공간·검토 목적 확인",</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"안전 지식 검색",</a:t>
            </a:r>
          </a:p>
          <a:p xmlns:a="http://schemas.openxmlformats.org/drawingml/2006/main">
            <a:r>
              <a:t>          "layer": "자료 조회",</a:t>
            </a:r>
          </a:p>
          <a:p xmlns:a="http://schemas.openxmlformats.org/drawingml/2006/main">
            <a:r>
              <a:t>          "detail": "안전 문서",</a:t>
            </a:r>
          </a:p>
          <a:p xmlns:a="http://schemas.openxmlformats.org/drawingml/2006/main">
            <a:r>
              <a:t>          "requirements": [</a:t>
            </a:r>
          </a:p>
          <a:p xmlns:a="http://schemas.openxmlformats.org/drawingml/2006/main">
            <a:r>
              <a:t>            "SFR-005",</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"문서·규정 대조",</a:t>
            </a:r>
          </a:p>
          <a:p xmlns:a="http://schemas.openxmlformats.org/drawingml/2006/main">
            <a:r>
              <a:t>          "layer": "핵심 처리",</a:t>
            </a:r>
          </a:p>
          <a:p xmlns:a="http://schemas.openxmlformats.org/drawingml/2006/main">
            <a:r>
              <a:t>          "detail": "RAG 검색과 제출 문서·규정 비교",</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"상충·구판 검사",</a:t>
            </a:r>
          </a:p>
          <a:p xmlns:a="http://schemas.openxmlformats.org/drawingml/2006/main">
            <a:r>
              <a:t>          "layer": "결과 검증",</a:t>
            </a:r>
          </a:p>
          <a:p xmlns:a="http://schemas.openxmlformats.org/drawingml/2006/main">
            <a:r>
              <a:t>          "detail": "권한·판본별 안전 질의 정답 대조",</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"안전 담당 검토",</a:t>
            </a:r>
          </a:p>
          <a:p xmlns:a="http://schemas.openxmlformats.org/drawingml/2006/main">
            <a:r>
              <a:t>          "layer": "사람 확인",</a:t>
            </a:r>
          </a:p>
          <a:p xmlns:a="http://schemas.openxmlformats.org/drawingml/2006/main">
            <a:r>
              <a:t>          "detail": "안전 문서를 최신 규정과 대조하고 부서 공간에서 검토",</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"업무 검토 의견",</a:t>
            </a:r>
          </a:p>
          <a:p xmlns:a="http://schemas.openxmlformats.org/drawingml/2006/main">
            <a:r>
              <a:t>          "layer": "업무 연결",</a:t>
            </a:r>
          </a:p>
          <a:p xmlns:a="http://schemas.openxmlformats.org/drawingml/2006/main">
            <a:r>
              <a:t>          "detail": "상충 근거·검토 의견을 현업에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"피드백·권한 시험",</a:t>
            </a:r>
          </a:p>
          <a:p xmlns:a="http://schemas.openxmlformats.org/drawingml/2006/main">
            <a:r>
              <a:t>          "layer": "운영 관측",</a:t>
            </a:r>
          </a:p>
          <a:p xmlns:a="http://schemas.openxmlformats.org/drawingml/2006/main">
            <a:r>
              <a:t>          "detail": "피드백·개정 반영·권한별 검색 결과 검사",</a:t>
            </a:r>
          </a:p>
          <a:p xmlns:a="http://schemas.openxmlformats.org/drawingml/2006/main">
            <a:r>
              <a:t>          "requirements": [</a:t>
            </a:r>
          </a:p>
          <a:p xmlns:a="http://schemas.openxmlformats.org/drawingml/2006/main">
            <a:r>
              <a:t>            "SFR-006",</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"안전규정·부서문서",</a:t>
            </a:r>
          </a:p>
          <a:p xmlns:a="http://schemas.openxmlformats.org/drawingml/2006/main">
            <a:r>
              <a:t>          "layer": "데이터 원천",</a:t>
            </a:r>
          </a:p>
          <a:p xmlns:a="http://schemas.openxmlformats.org/drawingml/2006/main">
            <a:r>
              <a:t>          "detail": "안전 규정·부서 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"자동 문서 최신화",</a:t>
            </a:r>
          </a:p>
          <a:p xmlns:a="http://schemas.openxmlformats.org/drawingml/2006/main">
            <a:r>
              <a:t>          "layer": "준비·갱신",</a:t>
            </a:r>
          </a:p>
          <a:p xmlns:a="http://schemas.openxmlformats.org/drawingml/2006/main">
            <a:r>
              <a:t>          "detail": "연계 문서 자동 갱신·권한 폴더·출처 관리",</a:t>
            </a:r>
          </a:p>
          <a:p xmlns:a="http://schemas.openxmlformats.org/drawingml/2006/main">
            <a:r>
              <a:t>          "requirements": [</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"폴더·RAG 색인",</a:t>
            </a:r>
          </a:p>
          <a:p xmlns:a="http://schemas.openxmlformats.org/drawingml/2006/main">
            <a:r>
              <a:t>          "layer": "상태·지식 저장",</a:t>
            </a:r>
          </a:p>
          <a:p xmlns:a="http://schemas.openxmlformats.org/drawingml/2006/main">
            <a:r>
              <a:t>          "detail": "판본·권한별 응답과 상충 근거 표시·수정 이력",</a:t>
            </a:r>
          </a:p>
          <a:p xmlns:a="http://schemas.openxmlformats.org/drawingml/2006/main">
            <a:r>
              <a:t>          "requirements": [</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"지식공간 접근정책",</a:t>
            </a:r>
          </a:p>
          <a:p xmlns:a="http://schemas.openxmlformats.org/drawingml/2006/main">
            <a:r>
              <a:t>          "layer": "권한·정책",</a:t>
            </a:r>
          </a:p>
          <a:p xmlns:a="http://schemas.openxmlformats.org/drawingml/2006/main">
            <a:r>
              <a:t>          "detail": "폐지 규정·부서 제한 문서·서로 상충하는 출처",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"사용자 권한·문서 공간·검토 목적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"안전 문서",</a:t>
            </a:r>
          </a:p>
          <a:p xmlns:a="http://schemas.openxmlformats.org/drawingml/2006/main">
            <a:r>
              <a:t>          "check": "권한·판본별 안전 질의 정답 대조"</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"허용 지식",</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"검토 초안",</a:t>
            </a:r>
          </a:p>
          <a:p xmlns:a="http://schemas.openxmlformats.org/drawingml/2006/main">
            <a:r>
              <a:t>          "check": "폐지 규정·부서 제한 문서·서로 상충하는 출처"</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"검토 초안",</a:t>
            </a:r>
          </a:p>
          <a:p xmlns:a="http://schemas.openxmlformats.org/drawingml/2006/main">
            <a:r>
              <a:t>          "check": "상충 근거·검토 의견을 현업에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"피드백",</a:t>
            </a:r>
          </a:p>
          <a:p xmlns:a="http://schemas.openxmlformats.org/drawingml/2006/main">
            <a:r>
              <a:t>          "check": "판본·권한별 응답과 상충 근거 표시·수정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"HW·SW 구성도(예시), SFR-005~008",</a:t>
            </a:r>
          </a:p>
          <a:p xmlns:a="http://schemas.openxmlformats.org/drawingml/2006/main">
            <a:r>
              <a:t>        "extracted": "안전 AI·AI 서치·RAG·지식공간·문서 최신화",</a:t>
            </a:r>
          </a:p>
          <a:p xmlns:a="http://schemas.openxmlformats.org/drawingml/2006/main">
            <a:r>
              <a:t>        "extension": "상충 출처 검토, 폴더별 접근 검사와 개정 후 재평가"</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"PF-R04",</a:t>
            </a:r>
          </a:p>
          <a:p xmlns:a="http://schemas.openxmlformats.org/drawingml/2006/main">
            <a:r>
              <a:t>          "path": "assets/casebook-sources/PF-R04-01.png",</a:t>
            </a:r>
          </a:p>
          <a:p xmlns:a="http://schemas.openxmlformats.org/drawingml/2006/main">
            <a:r>
              <a:t>          "title": "안전 AI H/W 구성",</a:t>
            </a:r>
          </a:p>
          <a:p xmlns:a="http://schemas.openxmlformats.org/drawingml/2006/main">
            <a:r>
              <a:t>          "status": "과업내용서 H/W 구성도 예시",</a:t>
            </a:r>
          </a:p>
          <a:p xmlns:a="http://schemas.openxmlformats.org/drawingml/2006/main">
            <a:r>
              <a:t>          "caption": "DMZ AI 서치와 내부 안전 AI·RAG·LLM·DB 구성",</a:t>
            </a:r>
          </a:p>
          <a:p xmlns:a="http://schemas.openxmlformats.org/drawingml/2006/main">
            <a:r>
              <a:t>          "locator": "rId14 / BinData/BIN0001_bmp",</a:t>
            </a:r>
          </a:p>
          <a:p xmlns:a="http://schemas.openxmlformats.org/drawingml/2006/main">
            <a:r>
              <a:t>          "checked": "2026-10-16",</a:t>
            </a:r>
          </a:p>
          <a:p xmlns:a="http://schemas.openxmlformats.org/drawingml/2006/main">
            <a:r>
              <a:t>          "sha256": "47450653a73f8241e06210e73728a502e3d332cafb949494da1a9833622e77a3",</a:t>
            </a:r>
          </a:p>
          <a:p xmlns:a="http://schemas.openxmlformats.org/drawingml/2006/main">
            <a:r>
              <a:t>          "explanation": {</a:t>
            </a:r>
          </a:p>
          <a:p xmlns:a="http://schemas.openxmlformats.org/drawingml/2006/main">
            <a:r>
              <a:t>            "read": "DMZ와 내부 영역의 AI 서치·안전 AI·RAG·LLM·DB 배치를 구분한 H/W 구성 예시. 외부 접점과 내부 지식의 접근 경계를 인프라 관점에서 표현.",</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"SFR-007"</a:t>
            </a:r>
          </a:p>
          <a:p xmlns:a="http://schemas.openxmlformats.org/drawingml/2006/main">
            <a:r>
              <a:t>            ],</a:t>
            </a:r>
          </a:p>
          <a:p xmlns:a="http://schemas.openxmlformats.org/drawingml/2006/main">
            <a:r>
              <a:t>            "connection": "공개 조회와 내부 안전 문서의 경계를 분리하고 개인·부서 지식공간의 권한이 검색과 응답 양쪽에 적용되는지 확인하는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"PF-R04",</a:t>
            </a:r>
          </a:p>
          <a:p xmlns:a="http://schemas.openxmlformats.org/drawingml/2006/main">
            <a:r>
              <a:t>          "path": "assets/casebook-sources/PF-R04-02.png",</a:t>
            </a:r>
          </a:p>
          <a:p xmlns:a="http://schemas.openxmlformats.org/drawingml/2006/main">
            <a:r>
              <a:t>          "title": "안전 AI S/W 구성",</a:t>
            </a:r>
          </a:p>
          <a:p xmlns:a="http://schemas.openxmlformats.org/drawingml/2006/main">
            <a:r>
              <a:t>          "status": "과업내용서 S/W 구성도 예시",</a:t>
            </a:r>
          </a:p>
          <a:p xmlns:a="http://schemas.openxmlformats.org/drawingml/2006/main">
            <a:r>
              <a:t>          "caption": "안전 지식·RAG와 외부 LLM API 업무 지원의 구분",</a:t>
            </a:r>
          </a:p>
          <a:p xmlns:a="http://schemas.openxmlformats.org/drawingml/2006/main">
            <a:r>
              <a:t>          "locator": "rId14 / BinData/BIN0002_bmp",</a:t>
            </a:r>
          </a:p>
          <a:p xmlns:a="http://schemas.openxmlformats.org/drawingml/2006/main">
            <a:r>
              <a:t>          "checked": "2026-10-16",</a:t>
            </a:r>
          </a:p>
          <a:p xmlns:a="http://schemas.openxmlformats.org/drawingml/2006/main">
            <a:r>
              <a:t>          "sha256": "607e9e60f0ab618fa7cdca53b108478e11e89b59866b5f5e7bd063e5d01aac5c",</a:t>
            </a:r>
          </a:p>
          <a:p xmlns:a="http://schemas.openxmlformats.org/drawingml/2006/main">
            <a:r>
              <a:t>          "explanation": {</a:t>
            </a:r>
          </a:p>
          <a:p xmlns:a="http://schemas.openxmlformats.org/drawingml/2006/main">
            <a:r>
              <a:t>            "read": "안전 지식의 검색·RAG 경로와 외부 모델 API를 활용하는 업무 지원 경로를 구분한 S/W 구성 예시. 문서 최신화와 지식공간 관리는 생성 기능을 유지하기 위한 별도 운영 기능.",</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"connection": "외부 모델로 전송할 입력 범위, 문서 개정 후 색인 갱신, 청크 오류와 임베딩 재처리의 상태를 서로 구분하는 서비스·운영 계약."</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"폐지 규정·부서 제한 문서·서로 상충하는 출처",</a:t>
            </a:r>
          </a:p>
          <a:p xmlns:a="http://schemas.openxmlformats.org/drawingml/2006/main">
            <a:r>
              <a:t>        "hold": "권한·판본별 안전 질의 정답 대조",</a:t>
            </a:r>
          </a:p>
          <a:p xmlns:a="http://schemas.openxmlformats.org/drawingml/2006/main">
            <a:r>
              <a:t>        "recovery": "피드백·개정 반영·권한별 검색 결과 검사",</a:t>
            </a:r>
          </a:p>
          <a:p xmlns:a="http://schemas.openxmlformats.org/drawingml/2006/main">
            <a:r>
              <a:t>        "evidence": "판본·권한별 응답과 상충 근거 표시·수정 이력"</a:t>
            </a:r>
          </a:p>
          <a:p xmlns:a="http://schemas.openxmlformats.org/drawingml/2006/main">
            <a:r>
              <a:t>      },</a:t>
            </a:r>
          </a:p>
          <a:p xmlns:a="http://schemas.openxmlformats.org/drawingml/2006/main">
            <a:r>
              <a:t>      "data": {</a:t>
            </a:r>
          </a:p>
          <a:p xmlns:a="http://schemas.openxmlformats.org/drawingml/2006/main">
            <a:r>
              <a:t>        "source": "안전 규정·부서 지식",</a:t>
            </a:r>
          </a:p>
          <a:p xmlns:a="http://schemas.openxmlformats.org/drawingml/2006/main">
            <a:r>
              <a:t>        "prepare": "연계 문서 자동 갱신·권한 폴더·출처 관리",</a:t>
            </a:r>
          </a:p>
          <a:p xmlns:a="http://schemas.openxmlformats.org/drawingml/2006/main">
            <a:r>
              <a:t>        "output": "안전 문서",</a:t>
            </a:r>
          </a:p>
          <a:p xmlns:a="http://schemas.openxmlformats.org/drawingml/2006/main">
            <a:r>
              <a:t>        "refresh": "피드백·개정 반영·권한별 검색 결과 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"PF-R04",</a:t>
            </a:r>
          </a:p>
          <a:p xmlns:a="http://schemas.openxmlformats.org/drawingml/2006/main">
            <a:r>
              <a:t>    "success": [</a:t>
            </a:r>
          </a:p>
          <a:p xmlns:a="http://schemas.openxmlformats.org/drawingml/2006/main">
            <a:r>
              <a:t>      "안전 도메인 지식 집중",</a:t>
            </a:r>
          </a:p>
          <a:p xmlns:a="http://schemas.openxmlformats.org/drawingml/2006/main">
            <a:r>
              <a:t>      "개인·부서 지식공간의 구분"</a:t>
            </a:r>
          </a:p>
          <a:p xmlns:a="http://schemas.openxmlformats.org/drawingml/2006/main">
            <a:r>
              <a:t>    ],</a:t>
            </a:r>
          </a:p>
          <a:p xmlns:a="http://schemas.openxmlformats.org/drawingml/2006/main">
            <a:r>
              <a:t>    "risks": [</a:t>
            </a:r>
          </a:p>
          <a:p xmlns:a="http://schemas.openxmlformats.org/drawingml/2006/main">
            <a:r>
              <a:t>      "부서 자료의 권한 혼입",</a:t>
            </a:r>
          </a:p>
          <a:p xmlns:a="http://schemas.openxmlformats.org/drawingml/2006/main">
            <a:r>
              <a:t>      "계약 발표를 안전 품질 검수로 간주"</a:t>
            </a:r>
          </a:p>
          <a:p xmlns:a="http://schemas.openxmlformats.org/drawingml/2006/main">
            <a:r>
              <a:t>    ],</a:t>
            </a:r>
          </a:p>
          <a:p xmlns:a="http://schemas.openxmlformats.org/drawingml/2006/main">
            <a:r>
              <a:t>    "architecture": [</a:t>
            </a:r>
          </a:p>
          <a:p xmlns:a="http://schemas.openxmlformats.org/drawingml/2006/main">
            <a:r>
              <a:t>      "안전 현업",</a:t>
            </a:r>
          </a:p>
          <a:p xmlns:a="http://schemas.openxmlformats.org/drawingml/2006/main">
            <a:r>
              <a:t>      "권한 검색·문서 검토",</a:t>
            </a:r>
          </a:p>
          <a:p xmlns:a="http://schemas.openxmlformats.org/drawingml/2006/main">
            <a:r>
              <a:t>      "안전 규정·부서 지식",</a:t>
            </a:r>
          </a:p>
          <a:p xmlns:a="http://schemas.openxmlformats.org/drawingml/2006/main">
            <a:r>
              <a:t>      "검토 담당"</a:t>
            </a:r>
          </a:p>
          <a:p xmlns:a="http://schemas.openxmlformats.org/drawingml/2006/main">
            <a:r>
              <a:t>    ],</a:t>
            </a:r>
          </a:p>
          <a:p xmlns:a="http://schemas.openxmlformats.org/drawingml/2006/main">
            <a:r>
              <a:t>    "transfers": [</a:t>
            </a:r>
          </a:p>
          <a:p xmlns:a="http://schemas.openxmlformats.org/drawingml/2006/main">
            <a:r>
              <a:t>      "안전 문서",</a:t>
            </a:r>
          </a:p>
          <a:p xmlns:a="http://schemas.openxmlformats.org/drawingml/2006/main">
            <a:r>
              <a:t>      "허용 지식",</a:t>
            </a:r>
          </a:p>
          <a:p xmlns:a="http://schemas.openxmlformats.org/drawingml/2006/main">
            <a:r>
              <a:t>      "검토 초안",</a:t>
            </a:r>
          </a:p>
          <a:p xmlns:a="http://schemas.openxmlformats.org/drawingml/2006/main">
            <a:r>
              <a:t>      "피드백"</a:t>
            </a:r>
          </a:p>
          <a:p xmlns:a="http://schemas.openxmlformats.org/drawingml/2006/main">
            <a:r>
              <a:t>    ],</a:t>
            </a:r>
          </a:p>
          <a:p xmlns:a="http://schemas.openxmlformats.org/drawingml/2006/main">
            <a:r>
              <a:t>    "control": "권한·판본별 안전 질의 정답 대조",</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SFR-005~008 (과업내용서) / Word T053 https://www.g2b.go.kr/pn/pnp/pnpe/UntyAtchFile/downloadFile.do?bidPbancNo=R25BK00790330&amp;bidPbancOrd=000&amp;fileSeq=8&amp;fileType=</a:t>
            </a:r>
          </a:p>
          <a:p xmlns:a="http://schemas.openxmlformats.org/drawingml/2006/main">
            <a:r>
              <a:t>홈페이지 https://heen1987-ops.github.io/TS-business-Plan-001/index.html?view=platform-cases&amp;case=PF-R04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"PF-R04",</a:t>
            </a:r>
          </a:p>
          <a:p xmlns:a="http://schemas.openxmlformats.org/drawingml/2006/main">
            <a:r>
              <a:t>    "sourceId": "R04",</a:t>
            </a:r>
          </a:p>
          <a:p xmlns:a="http://schemas.openxmlformats.org/drawingml/2006/main">
            <a:r>
              <a:t>    "title": "지역난방공사 안전 LLM",</a:t>
            </a:r>
          </a:p>
          <a:p xmlns:a="http://schemas.openxmlformats.org/drawingml/2006/main">
            <a:r>
              <a:t>    "region": "국내",</a:t>
            </a:r>
          </a:p>
          <a:p xmlns:a="http://schemas.openxmlformats.org/drawingml/2006/main">
            <a:r>
              <a:t>    "owner": "한국지역난방공사",</a:t>
            </a:r>
          </a:p>
          <a:p xmlns:a="http://schemas.openxmlformats.org/drawingml/2006/main">
            <a:r>
              <a:t>    "state": "공식 RFP·과업내용서 + 공급사 계약 발표 확인",</a:t>
            </a:r>
          </a:p>
          <a:p xmlns:a="http://schemas.openxmlformats.org/drawingml/2006/main">
            <a:r>
              <a:t>    "period": "기존 원장 확인 2026.10.16",</a:t>
            </a:r>
          </a:p>
          <a:p xmlns:a="http://schemas.openxmlformats.org/drawingml/2006/main">
            <a:r>
              <a:t>    "fact": "안전분야 LLM과 사내 검색·문서 검토·개인/부서 지식공간",</a:t>
            </a:r>
          </a:p>
          <a:p xmlns:a="http://schemas.openxmlformats.org/drawingml/2006/main">
            <a:r>
              <a:t>    "limit": "Temperature를 상세도와 동일시한 원문 표현은 구현 검증 필요",</a:t>
            </a:r>
          </a:p>
          <a:p xmlns:a="http://schemas.openxmlformats.org/drawingml/2006/main">
            <a:r>
              <a:t>    "nodes": [</a:t>
            </a:r>
          </a:p>
          <a:p xmlns:a="http://schemas.openxmlformats.org/drawingml/2006/main">
            <a:r>
              <a:t>      "안전·규정 지식",</a:t>
            </a:r>
          </a:p>
          <a:p xmlns:a="http://schemas.openxmlformats.org/drawingml/2006/main">
            <a:r>
              <a:t>      "권한별 검색",</a:t>
            </a:r>
          </a:p>
          <a:p xmlns:a="http://schemas.openxmlformats.org/drawingml/2006/main">
            <a:r>
              <a:t>      "문서 검토",</a:t>
            </a:r>
          </a:p>
          <a:p xmlns:a="http://schemas.openxmlformats.org/drawingml/2006/main">
            <a:r>
              <a:t>      "현업 피드백"</a:t>
            </a:r>
          </a:p>
          <a:p xmlns:a="http://schemas.openxmlformats.org/drawingml/2006/main">
            <a:r>
              <a:t>    ],</a:t>
            </a:r>
          </a:p>
          <a:p xmlns:a="http://schemas.openxmlformats.org/drawingml/2006/main">
            <a:r>
              <a:t>    "apply": "안전 지식의 소유부서·효력일·상충 근거를 함께 관리하는 검토 체계",</a:t>
            </a:r>
          </a:p>
          <a:p xmlns:a="http://schemas.openxmlformats.org/drawingml/2006/main">
            <a:r>
              <a:t>    "delta": "안전 규정 효력일·소유부서 / 자동 갱신 / 상충 근거 표시",</a:t>
            </a:r>
          </a:p>
          <a:p xmlns:a="http://schemas.openxmlformats.org/drawingml/2006/main">
            <a:r>
              <a:t>    "test": "개정·폐지·권한 제한·상충 문서의 검색 및 검토 결과 대조",</a:t>
            </a:r>
          </a:p>
          <a:p xmlns:a="http://schemas.openxmlformats.org/drawingml/2006/main">
            <a:r>
              <a:t>    "url": "https://www.g2b.go.kr/pn/pnp/pnpe/UntyAtchFile/downloadFile.do?bidPbancNo=R25BK00790330&amp;bidPbancOrd=000&amp;fileSeq=8&amp;fileType=",</a:t>
            </a:r>
          </a:p>
          <a:p xmlns:a="http://schemas.openxmlformats.org/drawingml/2006/main">
            <a:r>
              <a:t>    "urls": [</a:t>
            </a:r>
          </a:p>
          <a:p xmlns:a="http://schemas.openxmlformats.org/drawingml/2006/main">
            <a:r>
              <a:t>      "https://www.g2b.go.kr/pn/pnp/pnpe/UntyAtchFile/downloadFile.do?bidPbancNo=R25BK00790330&amp;bidPbancOrd=000&amp;fileSeq=8&amp;fileType=",</a:t>
            </a:r>
          </a:p>
          <a:p xmlns:a="http://schemas.openxmlformats.org/drawingml/2006/main">
            <a:r>
              <a:t>      "https://gridone.co.kr/community/news/143"</a:t>
            </a:r>
          </a:p>
          <a:p xmlns:a="http://schemas.openxmlformats.org/drawingml/2006/main">
            <a:r>
              <a:t>    ],</a:t>
            </a:r>
          </a:p>
          <a:p xmlns:a="http://schemas.openxmlformats.org/drawingml/2006/main">
            <a:r>
              <a:t>    "basis": "SFR-005~008 (과업내용서) / Word T053",</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"구버전 인용률 / 개정 반영 지연 / 검토 누락률",</a:t>
            </a:r>
          </a:p>
          <a:p xmlns:a="http://schemas.openxmlformats.org/drawingml/2006/main">
            <a:r>
              <a:t>    "group": "요구·구축",</a:t>
            </a:r>
          </a:p>
          <a:p xmlns:a="http://schemas.openxmlformats.org/drawingml/2006/main">
            <a:r>
              <a:t>    "sourceDetail": "자동 문서 최신화, 규정 대조, 권한별 지식 폴더, RAG 파이프라인·피드백·상충 출처 표시",</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"PF-R04",</a:t>
            </a:r>
          </a:p>
          <a:p xmlns:a="http://schemas.openxmlformats.org/drawingml/2006/main">
            <a:r>
              <a:t>    "canonicalId": "PF-R04",</a:t>
            </a:r>
          </a:p>
          <a:p xmlns:a="http://schemas.openxmlformats.org/drawingml/2006/main">
            <a:r>
              <a:t>    "purpose": "안전 지식검색과 규정 대조의 업무 적용",</a:t>
            </a:r>
          </a:p>
          <a:p xmlns:a="http://schemas.openxmlformats.org/drawingml/2006/main">
            <a:r>
              <a:t>    "users": "안전 담당·부서 지식 관리자",</a:t>
            </a:r>
          </a:p>
          <a:p xmlns:a="http://schemas.openxmlformats.org/drawingml/2006/main">
            <a:r>
              <a:t>    "scope": [</a:t>
            </a:r>
          </a:p>
          <a:p xmlns:a="http://schemas.openxmlformats.org/drawingml/2006/main">
            <a:r>
              <a:t>      "안전 LLM",</a:t>
            </a:r>
          </a:p>
          <a:p xmlns:a="http://schemas.openxmlformats.org/drawingml/2006/main">
            <a:r>
              <a:t>      "문서 검토",</a:t>
            </a:r>
          </a:p>
          <a:p xmlns:a="http://schemas.openxmlformats.org/drawingml/2006/main">
            <a:r>
              <a:t>      "부서 지식공간"</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"안전 현업",</a:t>
            </a:r>
          </a:p>
          <a:p xmlns:a="http://schemas.openxmlformats.org/drawingml/2006/main">
            <a:r>
              <a:t>        "detail": "사용자 권한·문서 공간·검토 목적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"안전 LLM / 문서 검토 / 부서 지식공간",</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"권한 검색·문서 검토",</a:t>
            </a:r>
          </a:p>
          <a:p xmlns:a="http://schemas.openxmlformats.org/drawingml/2006/main">
            <a:r>
              <a:t>        "detail": "RAG 검색과 제출 문서·규정 비교",</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"검토 담당",</a:t>
            </a:r>
          </a:p>
          <a:p xmlns:a="http://schemas.openxmlformats.org/drawingml/2006/main">
            <a:r>
              <a:t>        "detail": "상충 근거·검토 의견을 현업에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"안전 규정·부서 지식",</a:t>
            </a:r>
          </a:p>
          <a:p xmlns:a="http://schemas.openxmlformats.org/drawingml/2006/main">
            <a:r>
              <a:t>        "detail": "연계 문서 자동 갱신·권한 폴더·출처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"피드백·개정 반영·권한별 검색 결과 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"안전·규정 지식",</a:t>
            </a:r>
          </a:p>
          <a:p xmlns:a="http://schemas.openxmlformats.org/drawingml/2006/main">
            <a:r>
              <a:t>        "input": "사용자 권한·문서 공간·검토 목적 확인",</a:t>
            </a:r>
          </a:p>
          <a:p xmlns:a="http://schemas.openxmlformats.org/drawingml/2006/main">
            <a:r>
              <a:t>        "process": "연계 문서 자동 갱신·권한 폴더·출처 관리",</a:t>
            </a:r>
          </a:p>
          <a:p xmlns:a="http://schemas.openxmlformats.org/drawingml/2006/main">
            <a:r>
              <a:t>        "output": "안전 문서"</a:t>
            </a:r>
          </a:p>
          <a:p xmlns:a="http://schemas.openxmlformats.org/drawingml/2006/main">
            <a:r>
              <a:t>      },</a:t>
            </a:r>
          </a:p>
          <a:p xmlns:a="http://schemas.openxmlformats.org/drawingml/2006/main">
            <a:r>
              <a:t>      {</a:t>
            </a:r>
          </a:p>
          <a:p xmlns:a="http://schemas.openxmlformats.org/drawingml/2006/main">
            <a:r>
              <a:t>        "title": "권한별 검색",</a:t>
            </a:r>
          </a:p>
          <a:p xmlns:a="http://schemas.openxmlformats.org/drawingml/2006/main">
            <a:r>
              <a:t>        "input": "안전 문서",</a:t>
            </a:r>
          </a:p>
          <a:p xmlns:a="http://schemas.openxmlformats.org/drawingml/2006/main">
            <a:r>
              <a:t>        "process": "RAG 검색과 제출 문서·규정 비교",</a:t>
            </a:r>
          </a:p>
          <a:p xmlns:a="http://schemas.openxmlformats.org/drawingml/2006/main">
            <a:r>
              <a:t>        "output": "허용 지식"</a:t>
            </a:r>
          </a:p>
          <a:p xmlns:a="http://schemas.openxmlformats.org/drawingml/2006/main">
            <a:r>
              <a:t>      },</a:t>
            </a:r>
          </a:p>
          <a:p xmlns:a="http://schemas.openxmlformats.org/drawingml/2006/main">
            <a:r>
              <a:t>      {</a:t>
            </a:r>
          </a:p>
          <a:p xmlns:a="http://schemas.openxmlformats.org/drawingml/2006/main">
            <a:r>
              <a:t>        "title": "문서 검토",</a:t>
            </a:r>
          </a:p>
          <a:p xmlns:a="http://schemas.openxmlformats.org/drawingml/2006/main">
            <a:r>
              <a:t>        "input": "허용 지식",</a:t>
            </a:r>
          </a:p>
          <a:p xmlns:a="http://schemas.openxmlformats.org/drawingml/2006/main">
            <a:r>
              <a:t>        "process": "권한·판본별 안전 질의 정답 대조",</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"title": "현업 피드백",</a:t>
            </a:r>
          </a:p>
          <a:p xmlns:a="http://schemas.openxmlformats.org/drawingml/2006/main">
            <a:r>
              <a:t>        "input": "검토 초안",</a:t>
            </a:r>
          </a:p>
          <a:p xmlns:a="http://schemas.openxmlformats.org/drawingml/2006/main">
            <a:r>
              <a:t>        "process": "상충 근거·검토 의견을 현업에 제공",</a:t>
            </a:r>
          </a:p>
          <a:p xmlns:a="http://schemas.openxmlformats.org/drawingml/2006/main">
            <a:r>
              <a:t>        "output": "피드백"</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"안전 문서를 최신 규정과 대조하고 부서 공간에서 검토",</a:t>
            </a:r>
          </a:p>
          <a:p xmlns:a="http://schemas.openxmlformats.org/drawingml/2006/main">
            <a:r>
              <a:t>      "exception": "폐지 규정·부서 제한 문서·서로 상충하는 출처",</a:t>
            </a:r>
          </a:p>
          <a:p xmlns:a="http://schemas.openxmlformats.org/drawingml/2006/main">
            <a:r>
              <a:t>      "evidence": "판본·권한별 응답과 상충 근거 표시·수정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"안전 담당·부서 지식 관리자",</a:t>
            </a:r>
          </a:p>
          <a:p xmlns:a="http://schemas.openxmlformats.org/drawingml/2006/main">
            <a:r>
              <a:t>          "processing": "사용자 권한·문서 공간·검토 목적 확인",</a:t>
            </a:r>
          </a:p>
          <a:p xmlns:a="http://schemas.openxmlformats.org/drawingml/2006/main">
            <a:r>
              <a:t>          "output": "안전 문서"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"안전 규정·부서 지식",</a:t>
            </a:r>
          </a:p>
          <a:p xmlns:a="http://schemas.openxmlformats.org/drawingml/2006/main">
            <a:r>
              <a:t>          "processing": "연계 문서 자동 갱신·권한 폴더·출처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"안전 문서",</a:t>
            </a:r>
          </a:p>
          <a:p xmlns:a="http://schemas.openxmlformats.org/drawingml/2006/main">
            <a:r>
              <a:t>          "processing": "RAG 검색과 제출 문서·규정 비교",</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"검토 초안",</a:t>
            </a:r>
          </a:p>
          <a:p xmlns:a="http://schemas.openxmlformats.org/drawingml/2006/main">
            <a:r>
              <a:t>          "processing": "상충 근거·검토 의견을 현업에 제공",</a:t>
            </a:r>
          </a:p>
          <a:p xmlns:a="http://schemas.openxmlformats.org/drawingml/2006/main">
            <a:r>
              <a:t>          "output": "피드백"</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"피드백·개정 반영·권한별 검색 결과 검사",</a:t>
            </a:r>
          </a:p>
          <a:p xmlns:a="http://schemas.openxmlformats.org/drawingml/2006/main">
            <a:r>
              <a:t>          "output": "판본·권한별 응답과 상충 근거 표시·수정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"피드백·개정 반영·권한별 검색 결과 검사",</a:t>
            </a:r>
          </a:p>
          <a:p xmlns:a="http://schemas.openxmlformats.org/drawingml/2006/main">
            <a:r>
              <a:t>    "status": "RFP 기반 논리 설계",</a:t>
            </a:r>
          </a:p>
          <a:p xmlns:a="http://schemas.openxmlformats.org/drawingml/2006/main">
            <a:r>
              <a:t>    "basis": "과업내용서 2025.03 · SFR-005~008",</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"SFR-005~008 (과업내용서) / Word T053",</a:t>
            </a:r>
          </a:p>
          <a:p xmlns:a="http://schemas.openxmlformats.org/drawingml/2006/main">
            <a:r>
              <a:t>        "url": "https://www.g2b.go.kr/pn/pnp/pnpe/UntyAtchFile/downloadFile.do?bidPbancNo=R25BK00790330&amp;bidPbancOrd=000&amp;fileSeq=8&amp;fileType="</a:t>
            </a:r>
          </a:p>
          <a:p xmlns:a="http://schemas.openxmlformats.org/drawingml/2006/main">
            <a:r>
              <a:t>      }</a:t>
            </a:r>
          </a:p>
          <a:p xmlns:a="http://schemas.openxmlformats.org/drawingml/2006/main">
            <a:r>
              <a:t>    ],</a:t>
            </a:r>
          </a:p>
          <a:p xmlns:a="http://schemas.openxmlformats.org/drawingml/2006/main">
            <a:r>
              <a:t>    "implication": "안전 지식의 소유부서·효력일·상충 근거를 함께 관리하는 검토 체계",</a:t>
            </a:r>
          </a:p>
          <a:p xmlns:a="http://schemas.openxmlformats.org/drawingml/2006/main">
            <a:r>
              <a:t>    "local": "안전 지식의 소유부서·효력일·상충 근거를 함께 관리하는 검토 체계",</a:t>
            </a:r>
          </a:p>
          <a:p xmlns:a="http://schemas.openxmlformats.org/drawingml/2006/main">
            <a:r>
              <a:t>    "sourceDetail": "자동 문서 최신화, 규정 대조, 권한별 지식 폴더, RAG 파이프라인·피드백·상충 출처 표시",</a:t>
            </a:r>
          </a:p>
          <a:p xmlns:a="http://schemas.openxmlformats.org/drawingml/2006/main">
            <a:r>
              <a:t>    "narrative": [</a:t>
            </a:r>
          </a:p>
          <a:p xmlns:a="http://schemas.openxmlformats.org/drawingml/2006/main">
            <a:r>
              <a:t>      "내부 안전 규정·작업절차를 활용하는 안전 AI와 외부 상용 LLM을 이용하는 AI 서치를 구분한 시범구축. 범용 문서 작성뿐 아니라 제출 문서를 규정과 대조하고, 개인·부서 지식공간을 구성하는 업무 범위.",</a:t>
            </a:r>
          </a:p>
          <a:p xmlns:a="http://schemas.openxmlformats.org/drawingml/2006/main">
            <a:r>
              <a:t>      "원문 예시 도면에서는 통합 UI 아래 DMZ의 AI 서치와 내부 안전 AI·RAG·LLM·DB를 분리. 과업내용서는 문서 자동 최신화, 부서별 접근권한, 청크·임베딩 품질 확인, 실패 문서 재처리까지 요구. 업로드 성공과 검색 가능한 지식 등록 완료의 별도 상태 관리.",</a:t>
            </a:r>
          </a:p>
          <a:p xmlns:a="http://schemas.openxmlformats.org/drawingml/2006/main">
            <a:r>
              <a:t>      "CCK에서는 안전 답변의 문장 품질과 규정 판본·접근권한의 정확성을 별도 시험할 필요. 상충하는 두 규정이 검색될 때 한쪽을 감추기보다 근거와 적용 시점을 함께 제시하는 구조. 외부 모델과 내부 자료의 전달 경계를 TS 보안 환경에 맞춰 재설계할 대상."</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"SFR-005",</a:t>
            </a:r>
          </a:p>
          <a:p xmlns:a="http://schemas.openxmlformats.org/drawingml/2006/main">
            <a:r>
              <a:t>        "title": "생성형 AI 활용 서비스 개발(1/2)",</a:t>
            </a:r>
          </a:p>
          <a:p xmlns:a="http://schemas.openxmlformats.org/drawingml/2006/main">
            <a:r>
              <a:t>        "locator": "SFR-005",</a:t>
            </a:r>
          </a:p>
          <a:p xmlns:a="http://schemas.openxmlformats.org/drawingml/2006/main">
            <a:r>
              <a:t>        "summary": "안전 지식 검색, 근거 링크, 최신 문서 활용, 문서·규칙 검토와 번역 등 생성형 AI 서비스.",</a:t>
            </a:r>
          </a:p>
          <a:p xmlns:a="http://schemas.openxmlformats.org/drawingml/2006/main">
            <a:r>
              <a:t>        "data": "안전 문서·검토 대상 → 근거 응답·검토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"폐기 기준과 현행 기준의 충돌, 문서 인용 오류, 번역의 수치·단위 보존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"25b5da73d68c5556b94c8dfb58ef7569f5ab58304d1786741dc255ac502e1f42"</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"생성형 AI 활용 서비스 개발(2/2)",</a:t>
            </a:r>
          </a:p>
          <a:p xmlns:a="http://schemas.openxmlformats.org/drawingml/2006/main">
            <a:r>
              <a:t>        "locator": "SFR-006",</a:t>
            </a:r>
          </a:p>
          <a:p xmlns:a="http://schemas.openxmlformats.org/drawingml/2006/main">
            <a:r>
              <a:t>        "summary": "개인·부서 지식공간, 접근 이력, 답변 품질 피드백을 포함한 서비스 운영.",</a:t>
            </a:r>
          </a:p>
          <a:p xmlns:a="http://schemas.openxmlformats.org/drawingml/2006/main">
            <a:r>
              <a:t>        "data": "개인·부서 자료·피드백 → 허용 검색·개선 이력",</a:t>
            </a:r>
          </a:p>
          <a:p xmlns:a="http://schemas.openxmlformats.org/drawingml/2006/main">
            <a:r>
              <a:t>        "components": [</a:t>
            </a:r>
          </a:p>
          <a:p xmlns:a="http://schemas.openxmlformats.org/drawingml/2006/main">
            <a:r>
              <a:t>          "C02",</a:t>
            </a:r>
          </a:p>
          <a:p xmlns:a="http://schemas.openxmlformats.org/drawingml/2006/main">
            <a:r>
              <a:t>          "C05",</a:t>
            </a:r>
          </a:p>
          <a:p xmlns:a="http://schemas.openxmlformats.org/drawingml/2006/main">
            <a:r>
              <a:t>          "C08"</a:t>
            </a:r>
          </a:p>
          <a:p xmlns:a="http://schemas.openxmlformats.org/drawingml/2006/main">
            <a:r>
              <a:t>        ],</a:t>
            </a:r>
          </a:p>
          <a:p xmlns:a="http://schemas.openxmlformats.org/drawingml/2006/main">
            <a:r>
              <a:t>        "acceptance": "부서 간 공유 해제·소유자 변경·상충 문서 입력 후 접근·경고·피드백 반영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"f4945d58e397848afbc6b098dcb64f6b12e526fc2cecae10f7d27e2ad93dfeeb"</a:t>
            </a:r>
          </a:p>
          <a:p xmlns:a="http://schemas.openxmlformats.org/drawingml/2006/main">
            <a:r>
              <a:t>      },</a:t>
            </a:r>
          </a:p>
          <a:p xmlns:a="http://schemas.openxmlformats.org/drawingml/2006/main">
            <a:r>
              <a:t>      {</a:t>
            </a:r>
          </a:p>
          <a:p xmlns:a="http://schemas.openxmlformats.org/drawingml/2006/main">
            <a:r>
              <a:t>        "id": "SFR-007",</a:t>
            </a:r>
          </a:p>
          <a:p xmlns:a="http://schemas.openxmlformats.org/drawingml/2006/main">
            <a:r>
              <a:t>        "title": "RAG 파이프라인 기본 기능",</a:t>
            </a:r>
          </a:p>
          <a:p xmlns:a="http://schemas.openxmlformats.org/drawingml/2006/main">
            <a:r>
              <a:t>        "locator": "SFR-007",</a:t>
            </a:r>
          </a:p>
          <a:p xmlns:a="http://schemas.openxmlformats.org/drawingml/2006/main">
            <a:r>
              <a:t>        "summary": "문서 메타데이터·최신성·권한을 반영하는 RAG 파이프라인과 검색 결과 재정렬.",</a:t>
            </a:r>
          </a:p>
          <a:p xmlns:a="http://schemas.openxmlformats.org/drawingml/2006/main">
            <a:r>
              <a:t>        "data": "문서·권한·판본 → 청크·색인·근거 후보",</a:t>
            </a:r>
          </a:p>
          <a:p xmlns:a="http://schemas.openxmlformats.org/drawingml/2006/main">
            <a:r>
              <a:t>        "components": [</a:t>
            </a:r>
          </a:p>
          <a:p xmlns:a="http://schemas.openxmlformats.org/drawingml/2006/main">
            <a:r>
              <a:t>          "C03",</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"동일 문서 개정·삭제와 권한 변경 후 검색 결과·인용 판본의 일치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"6f87f23072fbc43c688f6da23e43fb4733d4e55ddcab3f3e4ebdbae410ee9e63"</a:t>
            </a:r>
          </a:p>
          <a:p xmlns:a="http://schemas.openxmlformats.org/drawingml/2006/main">
            <a:r>
              <a:t>      },</a:t>
            </a:r>
          </a:p>
          <a:p xmlns:a="http://schemas.openxmlformats.org/drawingml/2006/main">
            <a:r>
              <a:t>      {</a:t>
            </a:r>
          </a:p>
          <a:p xmlns:a="http://schemas.openxmlformats.org/drawingml/2006/main">
            <a:r>
              <a:t>        "id": "SFR-008",</a:t>
            </a:r>
          </a:p>
          <a:p xmlns:a="http://schemas.openxmlformats.org/drawingml/2006/main">
            <a:r>
              <a:t>        "title": "RAG 파이프라인 품질 관리 도구",</a:t>
            </a:r>
          </a:p>
          <a:p xmlns:a="http://schemas.openxmlformats.org/drawingml/2006/main">
            <a:r>
              <a:t>        "locator": "SFR-008",</a:t>
            </a:r>
          </a:p>
          <a:p xmlns:a="http://schemas.openxmlformats.org/drawingml/2006/main">
            <a:r>
              <a:t>        "summary": "청크 품질 확인, 미리보기, 임베딩 실패와 재처리 대기열을 관리하는 RAG 품질 도구.",</a:t>
            </a:r>
          </a:p>
          <a:p xmlns:a="http://schemas.openxmlformats.org/drawingml/2006/main">
            <a:r>
              <a:t>        "data": "처리 대상·실패 로그 → 품질 상태·재처리 결과",</a:t>
            </a:r>
          </a:p>
          <a:p xmlns:a="http://schemas.openxmlformats.org/drawingml/2006/main">
            <a:r>
              <a:t>        "components": [</a:t>
            </a:r>
          </a:p>
          <a:p xmlns:a="http://schemas.openxmlformats.org/drawingml/2006/main">
            <a:r>
              <a:t>          "C08",</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"표 분절·빈 청크·임베딩 실패를 주입해 탐지·재처리·색인 반영까지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"1a9d64ce29e584a1eabb8503cc98e9abde38893210ab6dcc4e3f33e8e440394e"</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"안전 현업 접점",</a:t>
            </a:r>
          </a:p>
          <a:p xmlns:a="http://schemas.openxmlformats.org/drawingml/2006/main">
            <a:r>
              <a:t>          "layer": "이용 접점",</a:t>
            </a:r>
          </a:p>
          <a:p xmlns:a="http://schemas.openxmlformats.org/drawingml/2006/main">
            <a:r>
              <a:t>          "detail": "안전 담당·부서 지식 관리자",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"직원·폴더 권한",</a:t>
            </a:r>
          </a:p>
          <a:p xmlns:a="http://schemas.openxmlformats.org/drawingml/2006/main">
            <a:r>
              <a:t>          "layer": "업무 문맥",</a:t>
            </a:r>
          </a:p>
          <a:p xmlns:a="http://schemas.openxmlformats.org/drawingml/2006/main">
            <a:r>
              <a:t>          "detail": "사용자 권한·문서 공간·검토 목적 확인",</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"안전 지식 검색",</a:t>
            </a:r>
          </a:p>
          <a:p xmlns:a="http://schemas.openxmlformats.org/drawingml/2006/main">
            <a:r>
              <a:t>          "layer": "자료 조회",</a:t>
            </a:r>
          </a:p>
          <a:p xmlns:a="http://schemas.openxmlformats.org/drawingml/2006/main">
            <a:r>
              <a:t>          "detail": "안전 문서",</a:t>
            </a:r>
          </a:p>
          <a:p xmlns:a="http://schemas.openxmlformats.org/drawingml/2006/main">
            <a:r>
              <a:t>          "requirements": [</a:t>
            </a:r>
          </a:p>
          <a:p xmlns:a="http://schemas.openxmlformats.org/drawingml/2006/main">
            <a:r>
              <a:t>            "SFR-005",</a:t>
            </a:r>
          </a:p>
          <a:p xmlns:a="http://schemas.openxmlformats.org/drawingml/2006/main">
            <a:r>
              <a:t>            "SFR-007"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"문서·규정 대조",</a:t>
            </a:r>
          </a:p>
          <a:p xmlns:a="http://schemas.openxmlformats.org/drawingml/2006/main">
            <a:r>
              <a:t>          "layer": "핵심 처리",</a:t>
            </a:r>
          </a:p>
          <a:p xmlns:a="http://schemas.openxmlformats.org/drawingml/2006/main">
            <a:r>
              <a:t>          "detail": "RAG 검색과 제출 문서·규정 비교",</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"상충·구판 검사",</a:t>
            </a:r>
          </a:p>
          <a:p xmlns:a="http://schemas.openxmlformats.org/drawingml/2006/main">
            <a:r>
              <a:t>          "layer": "결과 검증",</a:t>
            </a:r>
          </a:p>
          <a:p xmlns:a="http://schemas.openxmlformats.org/drawingml/2006/main">
            <a:r>
              <a:t>          "detail": "권한·판본별 안전 질의 정답 대조",</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"안전 담당 검토",</a:t>
            </a:r>
          </a:p>
          <a:p xmlns:a="http://schemas.openxmlformats.org/drawingml/2006/main">
            <a:r>
              <a:t>          "layer": "사람 확인",</a:t>
            </a:r>
          </a:p>
          <a:p xmlns:a="http://schemas.openxmlformats.org/drawingml/2006/main">
            <a:r>
              <a:t>          "detail": "안전 문서를 최신 규정과 대조하고 부서 공간에서 검토",</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"업무 검토 의견",</a:t>
            </a:r>
          </a:p>
          <a:p xmlns:a="http://schemas.openxmlformats.org/drawingml/2006/main">
            <a:r>
              <a:t>          "layer": "업무 연결",</a:t>
            </a:r>
          </a:p>
          <a:p xmlns:a="http://schemas.openxmlformats.org/drawingml/2006/main">
            <a:r>
              <a:t>          "detail": "상충 근거·검토 의견을 현업에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"피드백·권한 시험",</a:t>
            </a:r>
          </a:p>
          <a:p xmlns:a="http://schemas.openxmlformats.org/drawingml/2006/main">
            <a:r>
              <a:t>          "layer": "운영 관측",</a:t>
            </a:r>
          </a:p>
          <a:p xmlns:a="http://schemas.openxmlformats.org/drawingml/2006/main">
            <a:r>
              <a:t>          "detail": "피드백·개정 반영·권한별 검색 결과 검사",</a:t>
            </a:r>
          </a:p>
          <a:p xmlns:a="http://schemas.openxmlformats.org/drawingml/2006/main">
            <a:r>
              <a:t>          "requirements": [</a:t>
            </a:r>
          </a:p>
          <a:p xmlns:a="http://schemas.openxmlformats.org/drawingml/2006/main">
            <a:r>
              <a:t>            "SFR-006",</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"안전규정·부서문서",</a:t>
            </a:r>
          </a:p>
          <a:p xmlns:a="http://schemas.openxmlformats.org/drawingml/2006/main">
            <a:r>
              <a:t>          "layer": "데이터 원천",</a:t>
            </a:r>
          </a:p>
          <a:p xmlns:a="http://schemas.openxmlformats.org/drawingml/2006/main">
            <a:r>
              <a:t>          "detail": "안전 규정·부서 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"자동 문서 최신화",</a:t>
            </a:r>
          </a:p>
          <a:p xmlns:a="http://schemas.openxmlformats.org/drawingml/2006/main">
            <a:r>
              <a:t>          "layer": "준비·갱신",</a:t>
            </a:r>
          </a:p>
          <a:p xmlns:a="http://schemas.openxmlformats.org/drawingml/2006/main">
            <a:r>
              <a:t>          "detail": "연계 문서 자동 갱신·권한 폴더·출처 관리",</a:t>
            </a:r>
          </a:p>
          <a:p xmlns:a="http://schemas.openxmlformats.org/drawingml/2006/main">
            <a:r>
              <a:t>          "requirements": [</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"폴더·RAG 색인",</a:t>
            </a:r>
          </a:p>
          <a:p xmlns:a="http://schemas.openxmlformats.org/drawingml/2006/main">
            <a:r>
              <a:t>          "layer": "상태·지식 저장",</a:t>
            </a:r>
          </a:p>
          <a:p xmlns:a="http://schemas.openxmlformats.org/drawingml/2006/main">
            <a:r>
              <a:t>          "detail": "판본·권한별 응답과 상충 근거 표시·수정 이력",</a:t>
            </a:r>
          </a:p>
          <a:p xmlns:a="http://schemas.openxmlformats.org/drawingml/2006/main">
            <a:r>
              <a:t>          "requirements": [</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"지식공간 접근정책",</a:t>
            </a:r>
          </a:p>
          <a:p xmlns:a="http://schemas.openxmlformats.org/drawingml/2006/main">
            <a:r>
              <a:t>          "layer": "권한·정책",</a:t>
            </a:r>
          </a:p>
          <a:p xmlns:a="http://schemas.openxmlformats.org/drawingml/2006/main">
            <a:r>
              <a:t>          "detail": "폐지 규정·부서 제한 문서·서로 상충하는 출처",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"사용자 권한·문서 공간·검토 목적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"안전 문서",</a:t>
            </a:r>
          </a:p>
          <a:p xmlns:a="http://schemas.openxmlformats.org/drawingml/2006/main">
            <a:r>
              <a:t>          "check": "권한·판본별 안전 질의 정답 대조"</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"허용 지식",</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"검토 초안",</a:t>
            </a:r>
          </a:p>
          <a:p xmlns:a="http://schemas.openxmlformats.org/drawingml/2006/main">
            <a:r>
              <a:t>          "check": "폐지 규정·부서 제한 문서·서로 상충하는 출처"</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"검토 초안",</a:t>
            </a:r>
          </a:p>
          <a:p xmlns:a="http://schemas.openxmlformats.org/drawingml/2006/main">
            <a:r>
              <a:t>          "check": "상충 근거·검토 의견을 현업에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"피드백",</a:t>
            </a:r>
          </a:p>
          <a:p xmlns:a="http://schemas.openxmlformats.org/drawingml/2006/main">
            <a:r>
              <a:t>          "check": "판본·권한별 응답과 상충 근거 표시·수정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"HW·SW 구성도(예시), SFR-005~008",</a:t>
            </a:r>
          </a:p>
          <a:p xmlns:a="http://schemas.openxmlformats.org/drawingml/2006/main">
            <a:r>
              <a:t>        "extracted": "안전 AI·AI 서치·RAG·지식공간·문서 최신화",</a:t>
            </a:r>
          </a:p>
          <a:p xmlns:a="http://schemas.openxmlformats.org/drawingml/2006/main">
            <a:r>
              <a:t>        "extension": "상충 출처 검토, 폴더별 접근 검사와 개정 후 재평가"</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"PF-R04",</a:t>
            </a:r>
          </a:p>
          <a:p xmlns:a="http://schemas.openxmlformats.org/drawingml/2006/main">
            <a:r>
              <a:t>          "path": "assets/casebook-sources/PF-R04-01.png",</a:t>
            </a:r>
          </a:p>
          <a:p xmlns:a="http://schemas.openxmlformats.org/drawingml/2006/main">
            <a:r>
              <a:t>          "title": "안전 AI H/W 구성",</a:t>
            </a:r>
          </a:p>
          <a:p xmlns:a="http://schemas.openxmlformats.org/drawingml/2006/main">
            <a:r>
              <a:t>          "status": "과업내용서 H/W 구성도 예시",</a:t>
            </a:r>
          </a:p>
          <a:p xmlns:a="http://schemas.openxmlformats.org/drawingml/2006/main">
            <a:r>
              <a:t>          "caption": "DMZ AI 서치와 내부 안전 AI·RAG·LLM·DB 구성",</a:t>
            </a:r>
          </a:p>
          <a:p xmlns:a="http://schemas.openxmlformats.org/drawingml/2006/main">
            <a:r>
              <a:t>          "locator": "rId14 / BinData/BIN0001_bmp",</a:t>
            </a:r>
          </a:p>
          <a:p xmlns:a="http://schemas.openxmlformats.org/drawingml/2006/main">
            <a:r>
              <a:t>          "checked": "2026-10-16",</a:t>
            </a:r>
          </a:p>
          <a:p xmlns:a="http://schemas.openxmlformats.org/drawingml/2006/main">
            <a:r>
              <a:t>          "sha256": "47450653a73f8241e06210e73728a502e3d332cafb949494da1a9833622e77a3",</a:t>
            </a:r>
          </a:p>
          <a:p xmlns:a="http://schemas.openxmlformats.org/drawingml/2006/main">
            <a:r>
              <a:t>          "explanation": {</a:t>
            </a:r>
          </a:p>
          <a:p xmlns:a="http://schemas.openxmlformats.org/drawingml/2006/main">
            <a:r>
              <a:t>            "read": "DMZ와 내부 영역의 AI 서치·안전 AI·RAG·LLM·DB 배치를 구분한 H/W 구성 예시. 외부 접점과 내부 지식의 접근 경계를 인프라 관점에서 표현.",</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"SFR-007"</a:t>
            </a:r>
          </a:p>
          <a:p xmlns:a="http://schemas.openxmlformats.org/drawingml/2006/main">
            <a:r>
              <a:t>            ],</a:t>
            </a:r>
          </a:p>
          <a:p xmlns:a="http://schemas.openxmlformats.org/drawingml/2006/main">
            <a:r>
              <a:t>            "connection": "공개 조회와 내부 안전 문서의 경계를 분리하고 개인·부서 지식공간의 권한이 검색과 응답 양쪽에 적용되는지 확인하는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"PF-R04",</a:t>
            </a:r>
          </a:p>
          <a:p xmlns:a="http://schemas.openxmlformats.org/drawingml/2006/main">
            <a:r>
              <a:t>          "path": "assets/casebook-sources/PF-R04-02.png",</a:t>
            </a:r>
          </a:p>
          <a:p xmlns:a="http://schemas.openxmlformats.org/drawingml/2006/main">
            <a:r>
              <a:t>          "title": "안전 AI S/W 구성",</a:t>
            </a:r>
          </a:p>
          <a:p xmlns:a="http://schemas.openxmlformats.org/drawingml/2006/main">
            <a:r>
              <a:t>          "status": "과업내용서 S/W 구성도 예시",</a:t>
            </a:r>
          </a:p>
          <a:p xmlns:a="http://schemas.openxmlformats.org/drawingml/2006/main">
            <a:r>
              <a:t>          "caption": "안전 지식·RAG와 외부 LLM API 업무 지원의 구분",</a:t>
            </a:r>
          </a:p>
          <a:p xmlns:a="http://schemas.openxmlformats.org/drawingml/2006/main">
            <a:r>
              <a:t>          "locator": "rId14 / BinData/BIN0002_bmp",</a:t>
            </a:r>
          </a:p>
          <a:p xmlns:a="http://schemas.openxmlformats.org/drawingml/2006/main">
            <a:r>
              <a:t>          "checked": "2026-10-16",</a:t>
            </a:r>
          </a:p>
          <a:p xmlns:a="http://schemas.openxmlformats.org/drawingml/2006/main">
            <a:r>
              <a:t>          "sha256": "607e9e60f0ab618fa7cdca53b108478e11e89b59866b5f5e7bd063e5d01aac5c",</a:t>
            </a:r>
          </a:p>
          <a:p xmlns:a="http://schemas.openxmlformats.org/drawingml/2006/main">
            <a:r>
              <a:t>          "explanation": {</a:t>
            </a:r>
          </a:p>
          <a:p xmlns:a="http://schemas.openxmlformats.org/drawingml/2006/main">
            <a:r>
              <a:t>            "read": "안전 지식의 검색·RAG 경로와 외부 모델 API를 활용하는 업무 지원 경로를 구분한 S/W 구성 예시. 문서 최신화와 지식공간 관리는 생성 기능을 유지하기 위한 별도 운영 기능.",</a:t>
            </a:r>
          </a:p>
          <a:p xmlns:a="http://schemas.openxmlformats.org/drawingml/2006/main">
            <a:r>
              <a:t>            "requirements": [</a:t>
            </a:r>
          </a:p>
          <a:p xmlns:a="http://schemas.openxmlformats.org/drawingml/2006/main">
            <a:r>
              <a:t>              "SFR-005",</a:t>
            </a:r>
          </a:p>
          <a:p xmlns:a="http://schemas.openxmlformats.org/drawingml/2006/main">
            <a:r>
              <a:t>              "SFR-006",</a:t>
            </a:r>
          </a:p>
          <a:p xmlns:a="http://schemas.openxmlformats.org/drawingml/2006/main">
            <a:r>
              <a:t>              "SFR-007",</a:t>
            </a:r>
          </a:p>
          <a:p xmlns:a="http://schemas.openxmlformats.org/drawingml/2006/main">
            <a:r>
              <a:t>              "SFR-008"</a:t>
            </a:r>
          </a:p>
          <a:p xmlns:a="http://schemas.openxmlformats.org/drawingml/2006/main">
            <a:r>
              <a:t>            ],</a:t>
            </a:r>
          </a:p>
          <a:p xmlns:a="http://schemas.openxmlformats.org/drawingml/2006/main">
            <a:r>
              <a:t>            "connection": "외부 모델로 전송할 입력 범위, 문서 개정 후 색인 갱신, 청크 오류와 임베딩 재처리의 상태를 서로 구분하는 서비스·운영 계약."</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"폐지 규정·부서 제한 문서·서로 상충하는 출처",</a:t>
            </a:r>
          </a:p>
          <a:p xmlns:a="http://schemas.openxmlformats.org/drawingml/2006/main">
            <a:r>
              <a:t>        "hold": "권한·판본별 안전 질의 정답 대조",</a:t>
            </a:r>
          </a:p>
          <a:p xmlns:a="http://schemas.openxmlformats.org/drawingml/2006/main">
            <a:r>
              <a:t>        "recovery": "피드백·개정 반영·권한별 검색 결과 검사",</a:t>
            </a:r>
          </a:p>
          <a:p xmlns:a="http://schemas.openxmlformats.org/drawingml/2006/main">
            <a:r>
              <a:t>        "evidence": "판본·권한별 응답과 상충 근거 표시·수정 이력"</a:t>
            </a:r>
          </a:p>
          <a:p xmlns:a="http://schemas.openxmlformats.org/drawingml/2006/main">
            <a:r>
              <a:t>      },</a:t>
            </a:r>
          </a:p>
          <a:p xmlns:a="http://schemas.openxmlformats.org/drawingml/2006/main">
            <a:r>
              <a:t>      "data": {</a:t>
            </a:r>
          </a:p>
          <a:p xmlns:a="http://schemas.openxmlformats.org/drawingml/2006/main">
            <a:r>
              <a:t>        "source": "안전 규정·부서 지식",</a:t>
            </a:r>
          </a:p>
          <a:p xmlns:a="http://schemas.openxmlformats.org/drawingml/2006/main">
            <a:r>
              <a:t>        "prepare": "연계 문서 자동 갱신·권한 폴더·출처 관리",</a:t>
            </a:r>
          </a:p>
          <a:p xmlns:a="http://schemas.openxmlformats.org/drawingml/2006/main">
            <a:r>
              <a:t>        "output": "안전 문서",</a:t>
            </a:r>
          </a:p>
          <a:p xmlns:a="http://schemas.openxmlformats.org/drawingml/2006/main">
            <a:r>
              <a:t>        "refresh": "피드백·개정 반영·권한별 검색 결과 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"PF-R04",</a:t>
            </a:r>
          </a:p>
          <a:p xmlns:a="http://schemas.openxmlformats.org/drawingml/2006/main">
            <a:r>
              <a:t>    "success": [</a:t>
            </a:r>
          </a:p>
          <a:p xmlns:a="http://schemas.openxmlformats.org/drawingml/2006/main">
            <a:r>
              <a:t>      "안전 도메인 지식 집중",</a:t>
            </a:r>
          </a:p>
          <a:p xmlns:a="http://schemas.openxmlformats.org/drawingml/2006/main">
            <a:r>
              <a:t>      "개인·부서 지식공간의 구분"</a:t>
            </a:r>
          </a:p>
          <a:p xmlns:a="http://schemas.openxmlformats.org/drawingml/2006/main">
            <a:r>
              <a:t>    ],</a:t>
            </a:r>
          </a:p>
          <a:p xmlns:a="http://schemas.openxmlformats.org/drawingml/2006/main">
            <a:r>
              <a:t>    "risks": [</a:t>
            </a:r>
          </a:p>
          <a:p xmlns:a="http://schemas.openxmlformats.org/drawingml/2006/main">
            <a:r>
              <a:t>      "부서 자료의 권한 혼입",</a:t>
            </a:r>
          </a:p>
          <a:p xmlns:a="http://schemas.openxmlformats.org/drawingml/2006/main">
            <a:r>
              <a:t>      "계약 발표를 안전 품질 검수로 간주"</a:t>
            </a:r>
          </a:p>
          <a:p xmlns:a="http://schemas.openxmlformats.org/drawingml/2006/main">
            <a:r>
              <a:t>    ],</a:t>
            </a:r>
          </a:p>
          <a:p xmlns:a="http://schemas.openxmlformats.org/drawingml/2006/main">
            <a:r>
              <a:t>    "architecture": [</a:t>
            </a:r>
          </a:p>
          <a:p xmlns:a="http://schemas.openxmlformats.org/drawingml/2006/main">
            <a:r>
              <a:t>      "안전 현업",</a:t>
            </a:r>
          </a:p>
          <a:p xmlns:a="http://schemas.openxmlformats.org/drawingml/2006/main">
            <a:r>
              <a:t>      "권한 검색·문서 검토",</a:t>
            </a:r>
          </a:p>
          <a:p xmlns:a="http://schemas.openxmlformats.org/drawingml/2006/main">
            <a:r>
              <a:t>      "안전 규정·부서 지식",</a:t>
            </a:r>
          </a:p>
          <a:p xmlns:a="http://schemas.openxmlformats.org/drawingml/2006/main">
            <a:r>
              <a:t>      "검토 담당"</a:t>
            </a:r>
          </a:p>
          <a:p xmlns:a="http://schemas.openxmlformats.org/drawingml/2006/main">
            <a:r>
              <a:t>    ],</a:t>
            </a:r>
          </a:p>
          <a:p xmlns:a="http://schemas.openxmlformats.org/drawingml/2006/main">
            <a:r>
              <a:t>    "transfers": [</a:t>
            </a:r>
          </a:p>
          <a:p xmlns:a="http://schemas.openxmlformats.org/drawingml/2006/main">
            <a:r>
              <a:t>      "안전 문서",</a:t>
            </a:r>
          </a:p>
          <a:p xmlns:a="http://schemas.openxmlformats.org/drawingml/2006/main">
            <a:r>
              <a:t>      "허용 지식",</a:t>
            </a:r>
          </a:p>
          <a:p xmlns:a="http://schemas.openxmlformats.org/drawingml/2006/main">
            <a:r>
              <a:t>      "검토 초안",</a:t>
            </a:r>
          </a:p>
          <a:p xmlns:a="http://schemas.openxmlformats.org/drawingml/2006/main">
            <a:r>
              <a:t>      "피드백"</a:t>
            </a:r>
          </a:p>
          <a:p xmlns:a="http://schemas.openxmlformats.org/drawingml/2006/main">
            <a:r>
              <a:t>    ],</a:t>
            </a:r>
          </a:p>
          <a:p xmlns:a="http://schemas.openxmlformats.org/drawingml/2006/main">
            <a:r>
              <a:t>    "control": "권한·판본별 안전 질의 정답 대조",</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SFR-005~008 (과업내용서) / Word T053 https://www.g2b.go.kr/pn/pnp/pnpe/UntyAtchFile/downloadFile.do?bidPbancNo=R25BK00790330&amp;bidPbancOrd=000&amp;fileSeq=8&amp;fileType=</a:t>
            </a:r>
          </a:p>
          <a:p xmlns:a="http://schemas.openxmlformats.org/drawingml/2006/main">
            <a:r>
              <a:t>홈페이지 https://heen1987-ops.github.io/TS-business-Plan-001/index.html?view=platform-cases&amp;case=PF-R04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"PF-R05",</a:t>
            </a:r>
          </a:p>
          <a:p xmlns:a="http://schemas.openxmlformats.org/drawingml/2006/main">
            <a:r>
              <a:t>    "sourceId": "R05",</a:t>
            </a:r>
          </a:p>
          <a:p xmlns:a="http://schemas.openxmlformats.org/drawingml/2006/main">
            <a:r>
              <a:t>    "title": "경기도 대화형 정보 탐색",</a:t>
            </a:r>
          </a:p>
          <a:p xmlns:a="http://schemas.openxmlformats.org/drawingml/2006/main">
            <a:r>
              <a:t>    "region": "국내",</a:t>
            </a:r>
          </a:p>
          <a:p xmlns:a="http://schemas.openxmlformats.org/drawingml/2006/main">
            <a:r>
              <a:t>    "owner": "경기도",</a:t>
            </a:r>
          </a:p>
          <a:p xmlns:a="http://schemas.openxmlformats.org/drawingml/2006/main">
            <a:r>
              <a:t>    "state": "공식 RFP·착수 발표 확인 / 정식 운영 성과 미확인",</a:t>
            </a:r>
          </a:p>
          <a:p xmlns:a="http://schemas.openxmlformats.org/drawingml/2006/main">
            <a:r>
              <a:t>    "period": "기존 원장 확인 2026.10.16",</a:t>
            </a:r>
          </a:p>
          <a:p xmlns:a="http://schemas.openxmlformats.org/drawingml/2006/main">
            <a:r>
              <a:t>    "fact": "홈페이지 정책·복지·공고를 도민이 대화로 탐색하는 서비스",</a:t>
            </a:r>
          </a:p>
          <a:p xmlns:a="http://schemas.openxmlformats.org/drawingml/2006/main">
            <a:r>
              <a:t>    "limit": "착수자료의 2025년 11월 예정과 실제 개시·정량 성과를 구분",</a:t>
            </a:r>
          </a:p>
          <a:p xmlns:a="http://schemas.openxmlformats.org/drawingml/2006/main">
            <a:r>
              <a:t>    "nodes": [</a:t>
            </a:r>
          </a:p>
          <a:p xmlns:a="http://schemas.openxmlformats.org/drawingml/2006/main">
            <a:r>
              <a:t>      "정책·공고",</a:t>
            </a:r>
          </a:p>
          <a:p xmlns:a="http://schemas.openxmlformats.org/drawingml/2006/main">
            <a:r>
              <a:t>      "지식 갱신",</a:t>
            </a:r>
          </a:p>
          <a:p xmlns:a="http://schemas.openxmlformats.org/drawingml/2006/main">
            <a:r>
              <a:t>      "의도·정보 비교",</a:t>
            </a:r>
          </a:p>
          <a:p xmlns:a="http://schemas.openxmlformats.org/drawingml/2006/main">
            <a:r>
              <a:t>      "원문 안내"</a:t>
            </a:r>
          </a:p>
          <a:p xmlns:a="http://schemas.openxmlformats.org/drawingml/2006/main">
            <a:r>
              <a:t>    ],</a:t>
            </a:r>
          </a:p>
          <a:p xmlns:a="http://schemas.openxmlformats.org/drawingml/2006/main">
            <a:r>
              <a:t>    "apply": "서비스 조건·기한·신청 창구를 연결하는 홈페이지 탐색 지원",</a:t>
            </a:r>
          </a:p>
          <a:p xmlns:a="http://schemas.openxmlformats.org/drawingml/2006/main">
            <a:r>
              <a:t>    "delta": "서비스·조건·기한 사전 / 유사 공고 비교 / 원문·신청 경로 연결",</a:t>
            </a:r>
          </a:p>
          <a:p xmlns:a="http://schemas.openxmlformats.org/drawingml/2006/main">
            <a:r>
              <a:t>    "test": "마감·유사 공고·갱신 지연 질의의 조건 일치와 서비스 도달 확인",</a:t>
            </a:r>
          </a:p>
          <a:p xmlns:a="http://schemas.openxmlformats.org/drawingml/2006/main">
            <a:r>
              <a:t>    "url": "https://www.g2b.go.kr/pn/pnp/pnpe/UntyAtchFile/downloadFile.do?bidPbancNo=R25BK00751232&amp;bidPbancOrd=000&amp;fileType=&amp;fileSeq=2&amp;prcmBsneSeCd=03",</a:t>
            </a:r>
          </a:p>
          <a:p xmlns:a="http://schemas.openxmlformats.org/drawingml/2006/main">
            <a:r>
              <a:t>    "urls": [</a:t>
            </a:r>
          </a:p>
          <a:p xmlns:a="http://schemas.openxmlformats.org/drawingml/2006/main">
            <a:r>
              <a:t>      "https://www.g2b.go.kr/pn/pnp/pnpe/UntyAtchFile/downloadFile.do?bidPbancNo=R25BK00751232&amp;bidPbancOrd=000&amp;fileType=&amp;fileSeq=2&amp;prcmBsneSeCd=03",</a:t>
            </a:r>
          </a:p>
          <a:p xmlns:a="http://schemas.openxmlformats.org/drawingml/2006/main">
            <a:r>
              <a:t>      "https://gnews.gg.go.kr/briefing/brief_gongbo_view.do?BS_CODE=s017&amp;number=66171"</a:t>
            </a:r>
          </a:p>
          <a:p xmlns:a="http://schemas.openxmlformats.org/drawingml/2006/main">
            <a:r>
              <a:t>    ],</a:t>
            </a:r>
          </a:p>
          <a:p xmlns:a="http://schemas.openxmlformats.org/drawingml/2006/main">
            <a:r>
              <a:t>    "basis": "SFR-003~006, PER-003 / Word T062",</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"정확한 공고 도달률 / 탐색시간 / 이용 포기율",</a:t>
            </a:r>
          </a:p>
          <a:p xmlns:a="http://schemas.openxmlformats.org/drawingml/2006/main">
            <a:r>
              <a:t>    "group": "요구·구축",</a:t>
            </a:r>
          </a:p>
          <a:p xmlns:a="http://schemas.openxmlformats.org/drawingml/2006/main">
            <a:r>
              <a:t>    "sourceDetail": "데이터 수집·갱신→RAG→의도 기반 답변·유사공고 비교→원문 연결; 오류·만족도 관리",</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"PF-R05",</a:t>
            </a:r>
          </a:p>
          <a:p xmlns:a="http://schemas.openxmlformats.org/drawingml/2006/main">
            <a:r>
              <a:t>    "canonicalId": "PF-R05",</a:t>
            </a:r>
          </a:p>
          <a:p xmlns:a="http://schemas.openxmlformats.org/drawingml/2006/main">
            <a:r>
              <a:t>    "purpose": "정책·복지·공고의 대화형 탐색",</a:t>
            </a:r>
          </a:p>
          <a:p xmlns:a="http://schemas.openxmlformats.org/drawingml/2006/main">
            <a:r>
              <a:t>    "users": "도민·홈페이지 운영자",</a:t>
            </a:r>
          </a:p>
          <a:p xmlns:a="http://schemas.openxmlformats.org/drawingml/2006/main">
            <a:r>
              <a:t>    "scope": [</a:t>
            </a:r>
          </a:p>
          <a:p xmlns:a="http://schemas.openxmlformats.org/drawingml/2006/main">
            <a:r>
              <a:t>      "자연어 탐색",</a:t>
            </a:r>
          </a:p>
          <a:p xmlns:a="http://schemas.openxmlformats.org/drawingml/2006/main">
            <a:r>
              <a:t>      "유사공고 비교",</a:t>
            </a:r>
          </a:p>
          <a:p xmlns:a="http://schemas.openxmlformats.org/drawingml/2006/main">
            <a:r>
              <a:t>      "원문 연결"</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"도민 대화",</a:t>
            </a:r>
          </a:p>
          <a:p xmlns:a="http://schemas.openxmlformats.org/drawingml/2006/main">
            <a:r>
              <a:t>        "detail": "요청 목적·대상 조건·대화 이력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"자연어 탐색 / 유사공고 비교 / 원문 연결",</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"의도 분류·정보 비교",</a:t>
            </a:r>
          </a:p>
          <a:p xmlns:a="http://schemas.openxmlformats.org/drawingml/2006/main">
            <a:r>
              <a:t>        "detail": "의도 분석과 RAG 응답·공고 비교",</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"원문 안내",</a:t>
            </a:r>
          </a:p>
          <a:p xmlns:a="http://schemas.openxmlformats.org/drawingml/2006/main">
            <a:r>
              <a:t>        "detail": "출처 링크와 신청 안내 페이지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"정책·공고 지식",</a:t>
            </a:r>
          </a:p>
          <a:p xmlns:a="http://schemas.openxmlformats.org/drawingml/2006/main">
            <a:r>
              <a:t>        "detail": "홈페이지 문서 수집·전처리·변경 반영",</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"예외 질문·오류·만족도 기반 지식 보완",</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"정책·공고",</a:t>
            </a:r>
          </a:p>
          <a:p xmlns:a="http://schemas.openxmlformats.org/drawingml/2006/main">
            <a:r>
              <a:t>        "input": "요청 목적·대상 조건·대화 이력 구성",</a:t>
            </a:r>
          </a:p>
          <a:p xmlns:a="http://schemas.openxmlformats.org/drawingml/2006/main">
            <a:r>
              <a:t>        "process": "홈페이지 문서 수집·전처리·변경 반영",</a:t>
            </a:r>
          </a:p>
          <a:p xmlns:a="http://schemas.openxmlformats.org/drawingml/2006/main">
            <a:r>
              <a:t>        "output": "질문·지역"</a:t>
            </a:r>
          </a:p>
          <a:p xmlns:a="http://schemas.openxmlformats.org/drawingml/2006/main">
            <a:r>
              <a:t>      },</a:t>
            </a:r>
          </a:p>
          <a:p xmlns:a="http://schemas.openxmlformats.org/drawingml/2006/main">
            <a:r>
              <a:t>      {</a:t>
            </a:r>
          </a:p>
          <a:p xmlns:a="http://schemas.openxmlformats.org/drawingml/2006/main">
            <a:r>
              <a:t>        "title": "지식 갱신",</a:t>
            </a:r>
          </a:p>
          <a:p xmlns:a="http://schemas.openxmlformats.org/drawingml/2006/main">
            <a:r>
              <a:t>        "input": "질문·지역",</a:t>
            </a:r>
          </a:p>
          <a:p xmlns:a="http://schemas.openxmlformats.org/drawingml/2006/main">
            <a:r>
              <a:t>        "process": "의도 분석과 RAG 응답·공고 비교",</a:t>
            </a:r>
          </a:p>
          <a:p xmlns:a="http://schemas.openxmlformats.org/drawingml/2006/main">
            <a:r>
              <a:t>        "output": "유효 공고"</a:t>
            </a:r>
          </a:p>
          <a:p xmlns:a="http://schemas.openxmlformats.org/drawingml/2006/main">
            <a:r>
              <a:t>      },</a:t>
            </a:r>
          </a:p>
          <a:p xmlns:a="http://schemas.openxmlformats.org/drawingml/2006/main">
            <a:r>
              <a:t>      {</a:t>
            </a:r>
          </a:p>
          <a:p xmlns:a="http://schemas.openxmlformats.org/drawingml/2006/main">
            <a:r>
              <a:t>        "title": "의도·정보 비교",</a:t>
            </a:r>
          </a:p>
          <a:p xmlns:a="http://schemas.openxmlformats.org/drawingml/2006/main">
            <a:r>
              <a:t>        "input": "유효 공고",</a:t>
            </a:r>
          </a:p>
          <a:p xmlns:a="http://schemas.openxmlformats.org/drawingml/2006/main">
            <a:r>
              <a:t>        "process": "유효기간·대상조건·링크 점검",</a:t>
            </a:r>
          </a:p>
          <a:p xmlns:a="http://schemas.openxmlformats.org/drawingml/2006/main">
            <a:r>
              <a:t>        "output": "조건 비교"</a:t>
            </a:r>
          </a:p>
          <a:p xmlns:a="http://schemas.openxmlformats.org/drawingml/2006/main">
            <a:r>
              <a:t>      },</a:t>
            </a:r>
          </a:p>
          <a:p xmlns:a="http://schemas.openxmlformats.org/drawingml/2006/main">
            <a:r>
              <a:t>      {</a:t>
            </a:r>
          </a:p>
          <a:p xmlns:a="http://schemas.openxmlformats.org/drawingml/2006/main">
            <a:r>
              <a:t>        "title": "원문 안내",</a:t>
            </a:r>
          </a:p>
          <a:p xmlns:a="http://schemas.openxmlformats.org/drawingml/2006/main">
            <a:r>
              <a:t>        "input": "조건 비교",</a:t>
            </a:r>
          </a:p>
          <a:p xmlns:a="http://schemas.openxmlformats.org/drawingml/2006/main">
            <a:r>
              <a:t>        "process": "출처 링크와 신청 안내 페이지 제공",</a:t>
            </a:r>
          </a:p>
          <a:p xmlns:a="http://schemas.openxmlformats.org/drawingml/2006/main">
            <a:r>
              <a:t>        "output": "공식 페이지"</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"자격조건을 설명하고 관련 공고와 신청 페이지 비교",</a:t>
            </a:r>
          </a:p>
          <a:p xmlns:a="http://schemas.openxmlformats.org/drawingml/2006/main">
            <a:r>
              <a:t>      "exception": "마감 공고·유사한 다른 제도·갱신 전 색인",</a:t>
            </a:r>
          </a:p>
          <a:p xmlns:a="http://schemas.openxmlformats.org/drawingml/2006/main">
            <a:r>
              <a:t>      "evidence": "조건·기한별 정답 공고와 원문 링크·변경 반영 시각",</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"도민·홈페이지 운영자",</a:t>
            </a:r>
          </a:p>
          <a:p xmlns:a="http://schemas.openxmlformats.org/drawingml/2006/main">
            <a:r>
              <a:t>          "processing": "요청 목적·대상 조건·대화 이력 구성",</a:t>
            </a:r>
          </a:p>
          <a:p xmlns:a="http://schemas.openxmlformats.org/drawingml/2006/main">
            <a:r>
              <a:t>          "output": "질문·지역"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"정책·공고 지식",</a:t>
            </a:r>
          </a:p>
          <a:p xmlns:a="http://schemas.openxmlformats.org/drawingml/2006/main">
            <a:r>
              <a:t>          "processing": "홈페이지 문서 수집·전처리·변경 반영",</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"질문·지역",</a:t>
            </a:r>
          </a:p>
          <a:p xmlns:a="http://schemas.openxmlformats.org/drawingml/2006/main">
            <a:r>
              <a:t>          "processing": "의도 분석과 RAG 응답·공고 비교",</a:t>
            </a:r>
          </a:p>
          <a:p xmlns:a="http://schemas.openxmlformats.org/drawingml/2006/main">
            <a:r>
              <a:t>          "output": "조건 비교"</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"조건 비교",</a:t>
            </a:r>
          </a:p>
          <a:p xmlns:a="http://schemas.openxmlformats.org/drawingml/2006/main">
            <a:r>
              <a:t>          "processing": "출처 링크와 신청 안내 페이지 제공",</a:t>
            </a:r>
          </a:p>
          <a:p xmlns:a="http://schemas.openxmlformats.org/drawingml/2006/main">
            <a:r>
              <a:t>          "output": "공식 페이지"</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"예외 질문·오류·만족도 기반 지식 보완",</a:t>
            </a:r>
          </a:p>
          <a:p xmlns:a="http://schemas.openxmlformats.org/drawingml/2006/main">
            <a:r>
              <a:t>          "output": "조건·기한별 정답 공고와 원문 링크·변경 반영 시각"</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"예외 질문·오류·만족도 기반 지식 보완",</a:t>
            </a:r>
          </a:p>
          <a:p xmlns:a="http://schemas.openxmlformats.org/drawingml/2006/main">
            <a:r>
              <a:t>    "status": "RFP 기반 논리 설계",</a:t>
            </a:r>
          </a:p>
          <a:p xmlns:a="http://schemas.openxmlformats.org/drawingml/2006/main">
            <a:r>
              <a:t>    "basis": "RFP · SFR-003~006",</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"SFR-003~006, PER-003 / Word T062",</a:t>
            </a:r>
          </a:p>
          <a:p xmlns:a="http://schemas.openxmlformats.org/drawingml/2006/main">
            <a:r>
              <a:t>        "url": "https://www.g2b.go.kr/pn/pnp/pnpe/UntyAtchFile/downloadFile.do?bidPbancNo=R25BK00751232&amp;bidPbancOrd=000&amp;fileType=&amp;fileSeq=2&amp;prcmBsneSeCd=03"</a:t>
            </a:r>
          </a:p>
          <a:p xmlns:a="http://schemas.openxmlformats.org/drawingml/2006/main">
            <a:r>
              <a:t>      }</a:t>
            </a:r>
          </a:p>
          <a:p xmlns:a="http://schemas.openxmlformats.org/drawingml/2006/main">
            <a:r>
              <a:t>    ],</a:t>
            </a:r>
          </a:p>
          <a:p xmlns:a="http://schemas.openxmlformats.org/drawingml/2006/main">
            <a:r>
              <a:t>    "implication": "서비스 조건·기한·신청 창구를 연결하는 홈페이지 탐색 지원",</a:t>
            </a:r>
          </a:p>
          <a:p xmlns:a="http://schemas.openxmlformats.org/drawingml/2006/main">
            <a:r>
              <a:t>    "local": "서비스 조건·기한·신청 창구를 연결하는 홈페이지 탐색 지원",</a:t>
            </a:r>
          </a:p>
          <a:p xmlns:a="http://schemas.openxmlformats.org/drawingml/2006/main">
            <a:r>
              <a:t>    "sourceDetail": "데이터 수집·갱신→RAG→의도 기반 답변·유사공고 비교→원문 연결; 오류·만족도 관리",</a:t>
            </a:r>
          </a:p>
          <a:p xmlns:a="http://schemas.openxmlformats.org/drawingml/2006/main">
            <a:r>
              <a:t>    "narrative": [</a:t>
            </a:r>
          </a:p>
          <a:p xmlns:a="http://schemas.openxmlformats.org/drawingml/2006/main">
            <a:r>
              <a:t>      "경기도 홈페이지에 축적된 정책·복지·공고 정보를 자연어로 찾도록 하는 검색 접점 고도화. 국민의 요청을 신청 자격·지역·기간 등의 조건으로 정리하고, 맞는 공고와 기존 신청 화면으로 연결하는 업무.",</a:t>
            </a:r>
          </a:p>
          <a:p xmlns:a="http://schemas.openxmlformats.org/drawingml/2006/main">
            <a:r>
              <a:t>      "원문 서비스 도면은 홈페이지 RDB의 대상 자료를 공공클라우드 RAG 영역에 수집·임베딩하고, 질의와 검색 근거를 외부 LLM에 전달한 뒤 홈페이지 채팅 UI로 답변하는 구성. 기능도에는 데이터·프롬프트·이력·모델·통계를 별도 관리 영역으로 명시.",</a:t>
            </a:r>
          </a:p>
          <a:p xmlns:a="http://schemas.openxmlformats.org/drawingml/2006/main">
            <a:r>
              <a:t>      "챗봇이 답한 것과 국민이 원하는 서비스를 찾은 것을 구분해 평가할 사례. 마감 공고·지역 불일치·자격 예외를 포함한 질문으로 원문 링크 도달과 다음 절차 안내를 검증할 필요. TS 대국민 접점에서는 기존 메뉴·신청 시스템을 유지하면서 자연어·음성 진입을 추가하는 방향."</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"SFR-003",</a:t>
            </a:r>
          </a:p>
          <a:p xmlns:a="http://schemas.openxmlformats.org/drawingml/2006/main">
            <a:r>
              <a:t>        "title": "생성형 AI 챗봇 검색 서비스 대상 데이터 수집·정제·전처리",</a:t>
            </a:r>
          </a:p>
          <a:p xmlns:a="http://schemas.openxmlformats.org/drawingml/2006/main">
            <a:r>
              <a:t>        "locator": "SFR-003",</a:t>
            </a:r>
          </a:p>
          <a:p xmlns:a="http://schemas.openxmlformats.org/drawingml/2006/main">
            <a:r>
              <a:t>        "summary": "정책·복지·공고 등 대상 데이터를 수집하고 정제·전처리하는 기능.",</a:t>
            </a:r>
          </a:p>
          <a:p xmlns:a="http://schemas.openxmlformats.org/drawingml/2006/main">
            <a:r>
              <a:t>        "data": "홈페이지 원문·파일 → 정규화 자료·메타데이터",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a:t>
            </a:r>
          </a:p>
          <a:p xmlns:a="http://schemas.openxmlformats.org/drawingml/2006/main">
            <a:r>
              <a:t>        "acceptance": "첨부·표·중복 URL·깨진 링크 입력의 수집 범위와 정제 결과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"dfce571aa07ad0601b331c6afaa46c57d8ef4ad8975cae48c8c928272ce53768"</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"실시간 데이터 파이프라인 자동화 구축",</a:t>
            </a:r>
          </a:p>
          <a:p xmlns:a="http://schemas.openxmlformats.org/drawingml/2006/main">
            <a:r>
              <a:t>        "locator": "SFR-004",</a:t>
            </a:r>
          </a:p>
          <a:p xmlns:a="http://schemas.openxmlformats.org/drawingml/2006/main">
            <a:r>
              <a:t>        "summary": "신규·변경 정보를 반영하는 데이터 파이프라인 자동화.",</a:t>
            </a:r>
          </a:p>
          <a:p xmlns:a="http://schemas.openxmlformats.org/drawingml/2006/main">
            <a:r>
              <a:t>        "data": "원천 변경·스케줄 → 갱신된 검색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"공고 수정·종료·삭제 후 색인 갱신과 수집 실패 후 재개 결과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"6d77f8fe82e84d8c671fdea123a554f2f2c061d91a1941d599146f167079e57e"</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"RAG(Retrieval Augmented Generation) 구축",</a:t>
            </a:r>
          </a:p>
          <a:p xmlns:a="http://schemas.openxmlformats.org/drawingml/2006/main">
            <a:r>
              <a:t>        "locator": "SFR-005",</a:t>
            </a:r>
          </a:p>
          <a:p xmlns:a="http://schemas.openxmlformats.org/drawingml/2006/main">
            <a:r>
              <a:t>        "summary": "정제 자료를 검색 근거로 제공하는 RAG 기반 구성.",</a:t>
            </a:r>
          </a:p>
          <a:p xmlns:a="http://schemas.openxmlformats.org/drawingml/2006/main">
            <a:r>
              <a:t>        "data": "사용자 질문·정책 색인 → 근거 문서·답변 문맥",</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"C11"</a:t>
            </a:r>
          </a:p>
          <a:p xmlns:a="http://schemas.openxmlformats.org/drawingml/2006/main">
            <a:r>
              <a:t>        ],</a:t>
            </a:r>
          </a:p>
          <a:p xmlns:a="http://schemas.openxmlformats.org/drawingml/2006/main">
            <a:r>
              <a:t>        "acceptance": "기간·지역·대상 조건이 다른 유사 정책의 구분과 근거 페이지 정확성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"02d312ae74d0ddf4dd06d7e84e79461aa2f4bb7664d9f657f22281c8d145bf02"</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"생성형 AI 챗봇 검색 서비스 개발",</a:t>
            </a:r>
          </a:p>
          <a:p xmlns:a="http://schemas.openxmlformats.org/drawingml/2006/main">
            <a:r>
              <a:t>        "locator": "SFR-006",</a:t>
            </a:r>
          </a:p>
          <a:p xmlns:a="http://schemas.openxmlformats.org/drawingml/2006/main">
            <a:r>
              <a:t>        "summary": "도민의 대화형 정보 탐색을 위한 챗봇·검색 서비스 구현.",</a:t>
            </a:r>
          </a:p>
          <a:p xmlns:a="http://schemas.openxmlformats.org/drawingml/2006/main">
            <a:r>
              <a:t>        "data": "자연어 문의·추가 조건 → 안내·공식 서비스 연결",</a:t>
            </a:r>
          </a:p>
          <a:p xmlns:a="http://schemas.openxmlformats.org/drawingml/2006/main">
            <a:r>
              <a:t>        "components": [</a:t>
            </a:r>
          </a:p>
          <a:p xmlns:a="http://schemas.openxmlformats.org/drawingml/2006/main">
            <a:r>
              <a:t>          "C01",</a:t>
            </a:r>
          </a:p>
          <a:p xmlns:a="http://schemas.openxmlformats.org/drawingml/2006/main">
            <a:r>
              <a:t>          "C02",</a:t>
            </a:r>
          </a:p>
          <a:p xmlns:a="http://schemas.openxmlformats.org/drawingml/2006/main">
            <a:r>
              <a:t>          "C06"</a:t>
            </a:r>
          </a:p>
          <a:p xmlns:a="http://schemas.openxmlformats.org/drawingml/2006/main">
            <a:r>
              <a:t>        ],</a:t>
            </a:r>
          </a:p>
          <a:p xmlns:a="http://schemas.openxmlformats.org/drawingml/2006/main">
            <a:r>
              <a:t>        "acceptance": "모호한 문의의 추가 질문, 잘못된 서비스 링크, 응답 실패 시 기존 탐색 경로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"b2087cef15831463cccbd35ddb28248885288bfed8bbcafeed9bc7066f08417e"</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"홈페이지 챗봇",</a:t>
            </a:r>
          </a:p>
          <a:p xmlns:a="http://schemas.openxmlformats.org/drawingml/2006/main">
            <a:r>
              <a:t>          "layer": "이용 접점",</a:t>
            </a:r>
          </a:p>
          <a:p xmlns:a="http://schemas.openxmlformats.org/drawingml/2006/main">
            <a:r>
              <a:t>          "detail": "도민·홈페이지 운영자",</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"지역·대상·기간",</a:t>
            </a:r>
          </a:p>
          <a:p xmlns:a="http://schemas.openxmlformats.org/drawingml/2006/main">
            <a:r>
              <a:t>          "layer": "업무 문맥",</a:t>
            </a:r>
          </a:p>
          <a:p xmlns:a="http://schemas.openxmlformats.org/drawingml/2006/main">
            <a:r>
              <a:t>          "detail": "요청 목적·대상 조건·대화 이력 구성",</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"유효 공고 검색",</a:t>
            </a:r>
          </a:p>
          <a:p xmlns:a="http://schemas.openxmlformats.org/drawingml/2006/main">
            <a:r>
              <a:t>          "layer": "자료 조회",</a:t>
            </a:r>
          </a:p>
          <a:p xmlns:a="http://schemas.openxmlformats.org/drawingml/2006/main">
            <a:r>
              <a:t>          "detail": "질문·지역",</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"의도·조건 비교",</a:t>
            </a:r>
          </a:p>
          <a:p xmlns:a="http://schemas.openxmlformats.org/drawingml/2006/main">
            <a:r>
              <a:t>          "layer": "핵심 처리",</a:t>
            </a:r>
          </a:p>
          <a:p xmlns:a="http://schemas.openxmlformats.org/drawingml/2006/main">
            <a:r>
              <a:t>          "detail": "의도 분석과 RAG 응답·공고 비교",</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"마감·자격 검사",</a:t>
            </a:r>
          </a:p>
          <a:p xmlns:a="http://schemas.openxmlformats.org/drawingml/2006/main">
            <a:r>
              <a:t>          "layer": "결과 검증",</a:t>
            </a:r>
          </a:p>
          <a:p xmlns:a="http://schemas.openxmlformats.org/drawingml/2006/main">
            <a:r>
              <a:t>          "detail": "유효기간·대상조건·링크 점검",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"이용자 조건 확인",</a:t>
            </a:r>
          </a:p>
          <a:p xmlns:a="http://schemas.openxmlformats.org/drawingml/2006/main">
            <a:r>
              <a:t>          "layer": "사람 확인",</a:t>
            </a:r>
          </a:p>
          <a:p xmlns:a="http://schemas.openxmlformats.org/drawingml/2006/main">
            <a:r>
              <a:t>          "detail": "자격조건을 설명하고 관련 공고와 신청 페이지 비교",</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"공식 신청 안내",</a:t>
            </a:r>
          </a:p>
          <a:p xmlns:a="http://schemas.openxmlformats.org/drawingml/2006/main">
            <a:r>
              <a:t>          "layer": "업무 연결",</a:t>
            </a:r>
          </a:p>
          <a:p xmlns:a="http://schemas.openxmlformats.org/drawingml/2006/main">
            <a:r>
              <a:t>          "detail": "출처 링크와 신청 안내 페이지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"오류·만족도 분석",</a:t>
            </a:r>
          </a:p>
          <a:p xmlns:a="http://schemas.openxmlformats.org/drawingml/2006/main">
            <a:r>
              <a:t>          "layer": "운영 관측",</a:t>
            </a:r>
          </a:p>
          <a:p xmlns:a="http://schemas.openxmlformats.org/drawingml/2006/main">
            <a:r>
              <a:t>          "detail": "예외 질문·오류·만족도 기반 지식 보완",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"홈페이지·공고 DB",</a:t>
            </a:r>
          </a:p>
          <a:p xmlns:a="http://schemas.openxmlformats.org/drawingml/2006/main">
            <a:r>
              <a:t>          "layer": "데이터 원천",</a:t>
            </a:r>
          </a:p>
          <a:p xmlns:a="http://schemas.openxmlformats.org/drawingml/2006/main">
            <a:r>
              <a:t>          "detail": "정책·공고 지식",</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"수집·갱신·벡터화",</a:t>
            </a:r>
          </a:p>
          <a:p xmlns:a="http://schemas.openxmlformats.org/drawingml/2006/main">
            <a:r>
              <a:t>          "layer": "준비·갱신",</a:t>
            </a:r>
          </a:p>
          <a:p xmlns:a="http://schemas.openxmlformats.org/drawingml/2006/main">
            <a:r>
              <a:t>          "detail": "홈페이지 문서 수집·전처리·변경 반영",</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"공공클라우드 RAG",</a:t>
            </a:r>
          </a:p>
          <a:p xmlns:a="http://schemas.openxmlformats.org/drawingml/2006/main">
            <a:r>
              <a:t>          "layer": "상태·지식 저장",</a:t>
            </a:r>
          </a:p>
          <a:p xmlns:a="http://schemas.openxmlformats.org/drawingml/2006/main">
            <a:r>
              <a:t>          "detail": "조건·기한별 정답 공고와 원문 링크·변경 반영 시각",</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"외부 LLM 연결경계",</a:t>
            </a:r>
          </a:p>
          <a:p xmlns:a="http://schemas.openxmlformats.org/drawingml/2006/main">
            <a:r>
              <a:t>          "layer": "권한·정책",</a:t>
            </a:r>
          </a:p>
          <a:p xmlns:a="http://schemas.openxmlformats.org/drawingml/2006/main">
            <a:r>
              <a:t>          "detail": "마감 공고·유사한 다른 제도·갱신 전 색인",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"요청 목적·대상 조건·대화 이력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"질문·지역",</a:t>
            </a:r>
          </a:p>
          <a:p xmlns:a="http://schemas.openxmlformats.org/drawingml/2006/main">
            <a:r>
              <a:t>          "check": "유효기간·대상조건·링크 점검"</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"유효 공고",</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"조건 비교",</a:t>
            </a:r>
          </a:p>
          <a:p xmlns:a="http://schemas.openxmlformats.org/drawingml/2006/main">
            <a:r>
              <a:t>          "check": "마감 공고·유사한 다른 제도·갱신 전 색인"</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"조건 비교",</a:t>
            </a:r>
          </a:p>
          <a:p xmlns:a="http://schemas.openxmlformats.org/drawingml/2006/main">
            <a:r>
              <a:t>          "check": "출처 링크와 신청 안내 페이지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"공식 페이지",</a:t>
            </a:r>
          </a:p>
          <a:p xmlns:a="http://schemas.openxmlformats.org/drawingml/2006/main">
            <a:r>
              <a:t>          "check": "조건·기한별 정답 공고와 원문 링크·변경 반영 시각"</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"생성형 AI 서비스 아키텍처 구성도, SFR-003~006",</a:t>
            </a:r>
          </a:p>
          <a:p xmlns:a="http://schemas.openxmlformats.org/drawingml/2006/main">
            <a:r>
              <a:t>        "extracted": "홈페이지 RDB → 공공클라우드 Vector DB → 외부 LLM 연결",</a:t>
            </a:r>
          </a:p>
          <a:p xmlns:a="http://schemas.openxmlformats.org/drawingml/2006/main">
            <a:r>
              <a:t>        "extension": "공고 마감·지역·자격조건 대조 및 신청 링크 검증"</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"PF-R05",</a:t>
            </a:r>
          </a:p>
          <a:p xmlns:a="http://schemas.openxmlformats.org/drawingml/2006/main">
            <a:r>
              <a:t>          "path": "assets/casebook-sources/PF-R05-01.png",</a:t>
            </a:r>
          </a:p>
          <a:p xmlns:a="http://schemas.openxmlformats.org/drawingml/2006/main">
            <a:r>
              <a:t>          "title": "홈페이지 AI 목표기능",</a:t>
            </a:r>
          </a:p>
          <a:p xmlns:a="http://schemas.openxmlformats.org/drawingml/2006/main">
            <a:r>
              <a:t>          "status": "RFP 목표기능 구성도",</a:t>
            </a:r>
          </a:p>
          <a:p xmlns:a="http://schemas.openxmlformats.org/drawingml/2006/main">
            <a:r>
              <a:t>          "caption": "챗봇·RAG·데이터 파이프라인·모델 관리의 분리",</a:t>
            </a:r>
          </a:p>
          <a:p xmlns:a="http://schemas.openxmlformats.org/drawingml/2006/main">
            <a:r>
              <a:t>          "locator": "rId17 / BinData/image3_png",</a:t>
            </a:r>
          </a:p>
          <a:p xmlns:a="http://schemas.openxmlformats.org/drawingml/2006/main">
            <a:r>
              <a:t>          "checked": "2026-10-16",</a:t>
            </a:r>
          </a:p>
          <a:p xmlns:a="http://schemas.openxmlformats.org/drawingml/2006/main">
            <a:r>
              <a:t>          "sha256": "dbf8455e9d661c8a3db51e5677f25fc751cb2ade3a7b0abaf602d57a8aaf1ba8",</a:t>
            </a:r>
          </a:p>
          <a:p xmlns:a="http://schemas.openxmlformats.org/drawingml/2006/main">
            <a:r>
              <a:t>          "explanation": {</a:t>
            </a:r>
          </a:p>
          <a:p xmlns:a="http://schemas.openxmlformats.org/drawingml/2006/main">
            <a:r>
              <a:t>            "read": "도민의 대화형 탐색 접점에서 정책·복지·공고 정보의 검색과 AI 응답을 제공하는 목표 기능 구조. 대화 응답 이후 실제 신청 서비스로 이동하는 연결이 업무 완료의 다음 단계.",</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"SFR-005",</a:t>
            </a:r>
          </a:p>
          <a:p xmlns:a="http://schemas.openxmlformats.org/drawingml/2006/main">
            <a:r>
              <a:t>              "SFR-006"</a:t>
            </a:r>
          </a:p>
          <a:p xmlns:a="http://schemas.openxmlformats.org/drawingml/2006/main">
            <a:r>
              <a:t>            ],</a:t>
            </a:r>
          </a:p>
          <a:p xmlns:a="http://schemas.openxmlformats.org/drawingml/2006/main">
            <a:r>
              <a:t>            "connection": "지역·대상·신청기간의 추가 질문과 공식 신청 링크를 구성하고 답변 정확도와 신청 화면 도달률을 분리해 평가하는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"PF-R05",</a:t>
            </a:r>
          </a:p>
          <a:p xmlns:a="http://schemas.openxmlformats.org/drawingml/2006/main">
            <a:r>
              <a:t>          "path": "assets/casebook-sources/PF-R05-02.png",</a:t>
            </a:r>
          </a:p>
          <a:p xmlns:a="http://schemas.openxmlformats.org/drawingml/2006/main">
            <a:r>
              <a:t>          "title": "홈페이지–RAG–외부 LLM",</a:t>
            </a:r>
          </a:p>
          <a:p xmlns:a="http://schemas.openxmlformats.org/drawingml/2006/main">
            <a:r>
              <a:t>          "status": "RFP 서비스 아키텍처 구성도",</a:t>
            </a:r>
          </a:p>
          <a:p xmlns:a="http://schemas.openxmlformats.org/drawingml/2006/main">
            <a:r>
              <a:t>          "caption": "홈페이지 RDB → 공공클라우드 Vector DB → 외부 LLM",</a:t>
            </a:r>
          </a:p>
          <a:p xmlns:a="http://schemas.openxmlformats.org/drawingml/2006/main">
            <a:r>
              <a:t>          "locator": "rId17 / BinData/image4_bmp",</a:t>
            </a:r>
          </a:p>
          <a:p xmlns:a="http://schemas.openxmlformats.org/drawingml/2006/main">
            <a:r>
              <a:t>          "checked": "2026-10-16",</a:t>
            </a:r>
          </a:p>
          <a:p xmlns:a="http://schemas.openxmlformats.org/drawingml/2006/main">
            <a:r>
              <a:t>          "sha256": "04b7bff411913589529c68490addbddd2c84b7abce61ecd7c873e971bab7bf7e",</a:t>
            </a:r>
          </a:p>
          <a:p xmlns:a="http://schemas.openxmlformats.org/drawingml/2006/main">
            <a:r>
              <a:t>          "explanation": {</a:t>
            </a:r>
          </a:p>
          <a:p xmlns:a="http://schemas.openxmlformats.org/drawingml/2006/main">
            <a:r>
              <a:t>            "read": "홈페이지 RDB의 자료를 공공클라우드 검색 계층으로 반영하고 검색 근거를 외부 LLM에 전달하는 구조. 원천 데이터 갱신과 이용자 질문의 실시간 처리를 나누는 연결.",</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"SFR-005"</a:t>
            </a:r>
          </a:p>
          <a:p xmlns:a="http://schemas.openxmlformats.org/drawingml/2006/main">
            <a:r>
              <a:t>            ],</a:t>
            </a:r>
          </a:p>
          <a:p xmlns:a="http://schemas.openxmlformats.org/drawingml/2006/main">
            <a:r>
              <a:t>            "connection": "원천 수정·종료·삭제가 색인에 반영되는지 추적하고 외부 전송 문맥과 답변 인용의 출처·판본을 보존하는 데이터 흐름."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"마감 공고·유사한 다른 제도·갱신 전 색인",</a:t>
            </a:r>
          </a:p>
          <a:p xmlns:a="http://schemas.openxmlformats.org/drawingml/2006/main">
            <a:r>
              <a:t>        "hold": "유효기간·대상조건·링크 점검",</a:t>
            </a:r>
          </a:p>
          <a:p xmlns:a="http://schemas.openxmlformats.org/drawingml/2006/main">
            <a:r>
              <a:t>        "recovery": "예외 질문·오류·만족도 기반 지식 보완",</a:t>
            </a:r>
          </a:p>
          <a:p xmlns:a="http://schemas.openxmlformats.org/drawingml/2006/main">
            <a:r>
              <a:t>        "evidence": "조건·기한별 정답 공고와 원문 링크·변경 반영 시각"</a:t>
            </a:r>
          </a:p>
          <a:p xmlns:a="http://schemas.openxmlformats.org/drawingml/2006/main">
            <a:r>
              <a:t>      },</a:t>
            </a:r>
          </a:p>
          <a:p xmlns:a="http://schemas.openxmlformats.org/drawingml/2006/main">
            <a:r>
              <a:t>      "data": {</a:t>
            </a:r>
          </a:p>
          <a:p xmlns:a="http://schemas.openxmlformats.org/drawingml/2006/main">
            <a:r>
              <a:t>        "source": "정책·공고 지식",</a:t>
            </a:r>
          </a:p>
          <a:p xmlns:a="http://schemas.openxmlformats.org/drawingml/2006/main">
            <a:r>
              <a:t>        "prepare": "홈페이지 문서 수집·전처리·변경 반영",</a:t>
            </a:r>
          </a:p>
          <a:p xmlns:a="http://schemas.openxmlformats.org/drawingml/2006/main">
            <a:r>
              <a:t>        "output": "질문·지역",</a:t>
            </a:r>
          </a:p>
          <a:p xmlns:a="http://schemas.openxmlformats.org/drawingml/2006/main">
            <a:r>
              <a:t>        "refresh": "예외 질문·오류·만족도 기반 지식 보완"</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"PF-R05",</a:t>
            </a:r>
          </a:p>
          <a:p xmlns:a="http://schemas.openxmlformats.org/drawingml/2006/main">
            <a:r>
              <a:t>    "success": [</a:t>
            </a:r>
          </a:p>
          <a:p xmlns:a="http://schemas.openxmlformats.org/drawingml/2006/main">
            <a:r>
              <a:t>      "정책·복지·공고의 통합 탐색",</a:t>
            </a:r>
          </a:p>
          <a:p xmlns:a="http://schemas.openxmlformats.org/drawingml/2006/main">
            <a:r>
              <a:t>      "원문을 통한 후속 절차 연결"</a:t>
            </a:r>
          </a:p>
          <a:p xmlns:a="http://schemas.openxmlformats.org/drawingml/2006/main">
            <a:r>
              <a:t>    ],</a:t>
            </a:r>
          </a:p>
          <a:p xmlns:a="http://schemas.openxmlformats.org/drawingml/2006/main">
            <a:r>
              <a:t>    "risks": [</a:t>
            </a:r>
          </a:p>
          <a:p xmlns:a="http://schemas.openxmlformats.org/drawingml/2006/main">
            <a:r>
              <a:t>      "마감·지역·자격조건 오안내",</a:t>
            </a:r>
          </a:p>
          <a:p xmlns:a="http://schemas.openxmlformats.org/drawingml/2006/main">
            <a:r>
              <a:t>      "착수와 정식 운영 성과의 차이"</a:t>
            </a:r>
          </a:p>
          <a:p xmlns:a="http://schemas.openxmlformats.org/drawingml/2006/main">
            <a:r>
              <a:t>    ],</a:t>
            </a:r>
          </a:p>
          <a:p xmlns:a="http://schemas.openxmlformats.org/drawingml/2006/main">
            <a:r>
              <a:t>    "architecture": [</a:t>
            </a:r>
          </a:p>
          <a:p xmlns:a="http://schemas.openxmlformats.org/drawingml/2006/main">
            <a:r>
              <a:t>      "도민 대화",</a:t>
            </a:r>
          </a:p>
          <a:p xmlns:a="http://schemas.openxmlformats.org/drawingml/2006/main">
            <a:r>
              <a:t>      "의도 분류·정보 비교",</a:t>
            </a:r>
          </a:p>
          <a:p xmlns:a="http://schemas.openxmlformats.org/drawingml/2006/main">
            <a:r>
              <a:t>      "정책·공고 지식",</a:t>
            </a:r>
          </a:p>
          <a:p xmlns:a="http://schemas.openxmlformats.org/drawingml/2006/main">
            <a:r>
              <a:t>      "원문 안내"</a:t>
            </a:r>
          </a:p>
          <a:p xmlns:a="http://schemas.openxmlformats.org/drawingml/2006/main">
            <a:r>
              <a:t>    ],</a:t>
            </a:r>
          </a:p>
          <a:p xmlns:a="http://schemas.openxmlformats.org/drawingml/2006/main">
            <a:r>
              <a:t>    "transfers": [</a:t>
            </a:r>
          </a:p>
          <a:p xmlns:a="http://schemas.openxmlformats.org/drawingml/2006/main">
            <a:r>
              <a:t>      "질문·지역",</a:t>
            </a:r>
          </a:p>
          <a:p xmlns:a="http://schemas.openxmlformats.org/drawingml/2006/main">
            <a:r>
              <a:t>      "유효 공고",</a:t>
            </a:r>
          </a:p>
          <a:p xmlns:a="http://schemas.openxmlformats.org/drawingml/2006/main">
            <a:r>
              <a:t>      "조건 비교",</a:t>
            </a:r>
          </a:p>
          <a:p xmlns:a="http://schemas.openxmlformats.org/drawingml/2006/main">
            <a:r>
              <a:t>      "공식 페이지"</a:t>
            </a:r>
          </a:p>
          <a:p xmlns:a="http://schemas.openxmlformats.org/drawingml/2006/main">
            <a:r>
              <a:t>    ],</a:t>
            </a:r>
          </a:p>
          <a:p xmlns:a="http://schemas.openxmlformats.org/drawingml/2006/main">
            <a:r>
              <a:t>    "control": "유효기간·대상조건·링크 점검",</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SFR-003~006, PER-003 / Word T062 https://www.g2b.go.kr/pn/pnp/pnpe/UntyAtchFile/downloadFile.do?bidPbancNo=R25BK00751232&amp;bidPbancOrd=000&amp;fileType=&amp;fileSeq=2&amp;prcmBsneSeCd=03</a:t>
            </a:r>
          </a:p>
          <a:p xmlns:a="http://schemas.openxmlformats.org/drawingml/2006/main">
            <a:r>
              <a:t>홈페이지 https://heen1987-ops.github.io/TS-business-Plan-001/index.html?view=platform-cases&amp;case=PF-R05</a:t>
            </a:r>
          </a:p>
          <a:p xmlns:a="http://schemas.openxmlformats.org/drawingml/2006/main">
            <a:r>
              <a:t>한계: 착수자료의 2025년 11월 예정과 실제 개시·정량 성과를 구분</a:t>
            </a:r>
          </a:p>
          <a:p xmlns:a="http://schemas.openxmlformats.org/drawingml/2006/main">
            <a:r>
              <a:t>실패 위험: 마감·지역·자격조건 오안내 / 착수와 정식 운영 성과의 차이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"PF-R05",</a:t>
            </a:r>
          </a:p>
          <a:p xmlns:a="http://schemas.openxmlformats.org/drawingml/2006/main">
            <a:r>
              <a:t>    "sourceId": "R05",</a:t>
            </a:r>
          </a:p>
          <a:p xmlns:a="http://schemas.openxmlformats.org/drawingml/2006/main">
            <a:r>
              <a:t>    "title": "경기도 대화형 정보 탐색",</a:t>
            </a:r>
          </a:p>
          <a:p xmlns:a="http://schemas.openxmlformats.org/drawingml/2006/main">
            <a:r>
              <a:t>    "region": "국내",</a:t>
            </a:r>
          </a:p>
          <a:p xmlns:a="http://schemas.openxmlformats.org/drawingml/2006/main">
            <a:r>
              <a:t>    "owner": "경기도",</a:t>
            </a:r>
          </a:p>
          <a:p xmlns:a="http://schemas.openxmlformats.org/drawingml/2006/main">
            <a:r>
              <a:t>    "state": "공식 RFP·착수 발표 확인 / 정식 운영 성과 미확인",</a:t>
            </a:r>
          </a:p>
          <a:p xmlns:a="http://schemas.openxmlformats.org/drawingml/2006/main">
            <a:r>
              <a:t>    "period": "기존 원장 확인 2026.10.16",</a:t>
            </a:r>
          </a:p>
          <a:p xmlns:a="http://schemas.openxmlformats.org/drawingml/2006/main">
            <a:r>
              <a:t>    "fact": "홈페이지 정책·복지·공고를 도민이 대화로 탐색하는 서비스",</a:t>
            </a:r>
          </a:p>
          <a:p xmlns:a="http://schemas.openxmlformats.org/drawingml/2006/main">
            <a:r>
              <a:t>    "limit": "착수자료의 2025년 11월 예정과 실제 개시·정량 성과를 구분",</a:t>
            </a:r>
          </a:p>
          <a:p xmlns:a="http://schemas.openxmlformats.org/drawingml/2006/main">
            <a:r>
              <a:t>    "nodes": [</a:t>
            </a:r>
          </a:p>
          <a:p xmlns:a="http://schemas.openxmlformats.org/drawingml/2006/main">
            <a:r>
              <a:t>      "정책·공고",</a:t>
            </a:r>
          </a:p>
          <a:p xmlns:a="http://schemas.openxmlformats.org/drawingml/2006/main">
            <a:r>
              <a:t>      "지식 갱신",</a:t>
            </a:r>
          </a:p>
          <a:p xmlns:a="http://schemas.openxmlformats.org/drawingml/2006/main">
            <a:r>
              <a:t>      "의도·정보 비교",</a:t>
            </a:r>
          </a:p>
          <a:p xmlns:a="http://schemas.openxmlformats.org/drawingml/2006/main">
            <a:r>
              <a:t>      "원문 안내"</a:t>
            </a:r>
          </a:p>
          <a:p xmlns:a="http://schemas.openxmlformats.org/drawingml/2006/main">
            <a:r>
              <a:t>    ],</a:t>
            </a:r>
          </a:p>
          <a:p xmlns:a="http://schemas.openxmlformats.org/drawingml/2006/main">
            <a:r>
              <a:t>    "apply": "서비스 조건·기한·신청 창구를 연결하는 홈페이지 탐색 지원",</a:t>
            </a:r>
          </a:p>
          <a:p xmlns:a="http://schemas.openxmlformats.org/drawingml/2006/main">
            <a:r>
              <a:t>    "delta": "서비스·조건·기한 사전 / 유사 공고 비교 / 원문·신청 경로 연결",</a:t>
            </a:r>
          </a:p>
          <a:p xmlns:a="http://schemas.openxmlformats.org/drawingml/2006/main">
            <a:r>
              <a:t>    "test": "마감·유사 공고·갱신 지연 질의의 조건 일치와 서비스 도달 확인",</a:t>
            </a:r>
          </a:p>
          <a:p xmlns:a="http://schemas.openxmlformats.org/drawingml/2006/main">
            <a:r>
              <a:t>    "url": "https://www.g2b.go.kr/pn/pnp/pnpe/UntyAtchFile/downloadFile.do?bidPbancNo=R25BK00751232&amp;bidPbancOrd=000&amp;fileType=&amp;fileSeq=2&amp;prcmBsneSeCd=03",</a:t>
            </a:r>
          </a:p>
          <a:p xmlns:a="http://schemas.openxmlformats.org/drawingml/2006/main">
            <a:r>
              <a:t>    "urls": [</a:t>
            </a:r>
          </a:p>
          <a:p xmlns:a="http://schemas.openxmlformats.org/drawingml/2006/main">
            <a:r>
              <a:t>      "https://www.g2b.go.kr/pn/pnp/pnpe/UntyAtchFile/downloadFile.do?bidPbancNo=R25BK00751232&amp;bidPbancOrd=000&amp;fileType=&amp;fileSeq=2&amp;prcmBsneSeCd=03",</a:t>
            </a:r>
          </a:p>
          <a:p xmlns:a="http://schemas.openxmlformats.org/drawingml/2006/main">
            <a:r>
              <a:t>      "https://gnews.gg.go.kr/briefing/brief_gongbo_view.do?BS_CODE=s017&amp;number=66171"</a:t>
            </a:r>
          </a:p>
          <a:p xmlns:a="http://schemas.openxmlformats.org/drawingml/2006/main">
            <a:r>
              <a:t>    ],</a:t>
            </a:r>
          </a:p>
          <a:p xmlns:a="http://schemas.openxmlformats.org/drawingml/2006/main">
            <a:r>
              <a:t>    "basis": "SFR-003~006, PER-003 / Word T062",</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"정확한 공고 도달률 / 탐색시간 / 이용 포기율",</a:t>
            </a:r>
          </a:p>
          <a:p xmlns:a="http://schemas.openxmlformats.org/drawingml/2006/main">
            <a:r>
              <a:t>    "group": "요구·구축",</a:t>
            </a:r>
          </a:p>
          <a:p xmlns:a="http://schemas.openxmlformats.org/drawingml/2006/main">
            <a:r>
              <a:t>    "sourceDetail": "데이터 수집·갱신→RAG→의도 기반 답변·유사공고 비교→원문 연결; 오류·만족도 관리",</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"PF-R05",</a:t>
            </a:r>
          </a:p>
          <a:p xmlns:a="http://schemas.openxmlformats.org/drawingml/2006/main">
            <a:r>
              <a:t>    "canonicalId": "PF-R05",</a:t>
            </a:r>
          </a:p>
          <a:p xmlns:a="http://schemas.openxmlformats.org/drawingml/2006/main">
            <a:r>
              <a:t>    "purpose": "정책·복지·공고의 대화형 탐색",</a:t>
            </a:r>
          </a:p>
          <a:p xmlns:a="http://schemas.openxmlformats.org/drawingml/2006/main">
            <a:r>
              <a:t>    "users": "도민·홈페이지 운영자",</a:t>
            </a:r>
          </a:p>
          <a:p xmlns:a="http://schemas.openxmlformats.org/drawingml/2006/main">
            <a:r>
              <a:t>    "scope": [</a:t>
            </a:r>
          </a:p>
          <a:p xmlns:a="http://schemas.openxmlformats.org/drawingml/2006/main">
            <a:r>
              <a:t>      "자연어 탐색",</a:t>
            </a:r>
          </a:p>
          <a:p xmlns:a="http://schemas.openxmlformats.org/drawingml/2006/main">
            <a:r>
              <a:t>      "유사공고 비교",</a:t>
            </a:r>
          </a:p>
          <a:p xmlns:a="http://schemas.openxmlformats.org/drawingml/2006/main">
            <a:r>
              <a:t>      "원문 연결"</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"도민 대화",</a:t>
            </a:r>
          </a:p>
          <a:p xmlns:a="http://schemas.openxmlformats.org/drawingml/2006/main">
            <a:r>
              <a:t>        "detail": "요청 목적·대상 조건·대화 이력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"자연어 탐색 / 유사공고 비교 / 원문 연결",</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"의도 분류·정보 비교",</a:t>
            </a:r>
          </a:p>
          <a:p xmlns:a="http://schemas.openxmlformats.org/drawingml/2006/main">
            <a:r>
              <a:t>        "detail": "의도 분석과 RAG 응답·공고 비교",</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"원문 안내",</a:t>
            </a:r>
          </a:p>
          <a:p xmlns:a="http://schemas.openxmlformats.org/drawingml/2006/main">
            <a:r>
              <a:t>        "detail": "출처 링크와 신청 안내 페이지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"정책·공고 지식",</a:t>
            </a:r>
          </a:p>
          <a:p xmlns:a="http://schemas.openxmlformats.org/drawingml/2006/main">
            <a:r>
              <a:t>        "detail": "홈페이지 문서 수집·전처리·변경 반영",</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"예외 질문·오류·만족도 기반 지식 보완",</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"정책·공고",</a:t>
            </a:r>
          </a:p>
          <a:p xmlns:a="http://schemas.openxmlformats.org/drawingml/2006/main">
            <a:r>
              <a:t>        "input": "요청 목적·대상 조건·대화 이력 구성",</a:t>
            </a:r>
          </a:p>
          <a:p xmlns:a="http://schemas.openxmlformats.org/drawingml/2006/main">
            <a:r>
              <a:t>        "process": "홈페이지 문서 수집·전처리·변경 반영",</a:t>
            </a:r>
          </a:p>
          <a:p xmlns:a="http://schemas.openxmlformats.org/drawingml/2006/main">
            <a:r>
              <a:t>        "output": "질문·지역"</a:t>
            </a:r>
          </a:p>
          <a:p xmlns:a="http://schemas.openxmlformats.org/drawingml/2006/main">
            <a:r>
              <a:t>      },</a:t>
            </a:r>
          </a:p>
          <a:p xmlns:a="http://schemas.openxmlformats.org/drawingml/2006/main">
            <a:r>
              <a:t>      {</a:t>
            </a:r>
          </a:p>
          <a:p xmlns:a="http://schemas.openxmlformats.org/drawingml/2006/main">
            <a:r>
              <a:t>        "title": "지식 갱신",</a:t>
            </a:r>
          </a:p>
          <a:p xmlns:a="http://schemas.openxmlformats.org/drawingml/2006/main">
            <a:r>
              <a:t>        "input": "질문·지역",</a:t>
            </a:r>
          </a:p>
          <a:p xmlns:a="http://schemas.openxmlformats.org/drawingml/2006/main">
            <a:r>
              <a:t>        "process": "의도 분석과 RAG 응답·공고 비교",</a:t>
            </a:r>
          </a:p>
          <a:p xmlns:a="http://schemas.openxmlformats.org/drawingml/2006/main">
            <a:r>
              <a:t>        "output": "유효 공고"</a:t>
            </a:r>
          </a:p>
          <a:p xmlns:a="http://schemas.openxmlformats.org/drawingml/2006/main">
            <a:r>
              <a:t>      },</a:t>
            </a:r>
          </a:p>
          <a:p xmlns:a="http://schemas.openxmlformats.org/drawingml/2006/main">
            <a:r>
              <a:t>      {</a:t>
            </a:r>
          </a:p>
          <a:p xmlns:a="http://schemas.openxmlformats.org/drawingml/2006/main">
            <a:r>
              <a:t>        "title": "의도·정보 비교",</a:t>
            </a:r>
          </a:p>
          <a:p xmlns:a="http://schemas.openxmlformats.org/drawingml/2006/main">
            <a:r>
              <a:t>        "input": "유효 공고",</a:t>
            </a:r>
          </a:p>
          <a:p xmlns:a="http://schemas.openxmlformats.org/drawingml/2006/main">
            <a:r>
              <a:t>        "process": "유효기간·대상조건·링크 점검",</a:t>
            </a:r>
          </a:p>
          <a:p xmlns:a="http://schemas.openxmlformats.org/drawingml/2006/main">
            <a:r>
              <a:t>        "output": "조건 비교"</a:t>
            </a:r>
          </a:p>
          <a:p xmlns:a="http://schemas.openxmlformats.org/drawingml/2006/main">
            <a:r>
              <a:t>      },</a:t>
            </a:r>
          </a:p>
          <a:p xmlns:a="http://schemas.openxmlformats.org/drawingml/2006/main">
            <a:r>
              <a:t>      {</a:t>
            </a:r>
          </a:p>
          <a:p xmlns:a="http://schemas.openxmlformats.org/drawingml/2006/main">
            <a:r>
              <a:t>        "title": "원문 안내",</a:t>
            </a:r>
          </a:p>
          <a:p xmlns:a="http://schemas.openxmlformats.org/drawingml/2006/main">
            <a:r>
              <a:t>        "input": "조건 비교",</a:t>
            </a:r>
          </a:p>
          <a:p xmlns:a="http://schemas.openxmlformats.org/drawingml/2006/main">
            <a:r>
              <a:t>        "process": "출처 링크와 신청 안내 페이지 제공",</a:t>
            </a:r>
          </a:p>
          <a:p xmlns:a="http://schemas.openxmlformats.org/drawingml/2006/main">
            <a:r>
              <a:t>        "output": "공식 페이지"</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"자격조건을 설명하고 관련 공고와 신청 페이지 비교",</a:t>
            </a:r>
          </a:p>
          <a:p xmlns:a="http://schemas.openxmlformats.org/drawingml/2006/main">
            <a:r>
              <a:t>      "exception": "마감 공고·유사한 다른 제도·갱신 전 색인",</a:t>
            </a:r>
          </a:p>
          <a:p xmlns:a="http://schemas.openxmlformats.org/drawingml/2006/main">
            <a:r>
              <a:t>      "evidence": "조건·기한별 정답 공고와 원문 링크·변경 반영 시각",</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"도민·홈페이지 운영자",</a:t>
            </a:r>
          </a:p>
          <a:p xmlns:a="http://schemas.openxmlformats.org/drawingml/2006/main">
            <a:r>
              <a:t>          "processing": "요청 목적·대상 조건·대화 이력 구성",</a:t>
            </a:r>
          </a:p>
          <a:p xmlns:a="http://schemas.openxmlformats.org/drawingml/2006/main">
            <a:r>
              <a:t>          "output": "질문·지역"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"정책·공고 지식",</a:t>
            </a:r>
          </a:p>
          <a:p xmlns:a="http://schemas.openxmlformats.org/drawingml/2006/main">
            <a:r>
              <a:t>          "processing": "홈페이지 문서 수집·전처리·변경 반영",</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"질문·지역",</a:t>
            </a:r>
          </a:p>
          <a:p xmlns:a="http://schemas.openxmlformats.org/drawingml/2006/main">
            <a:r>
              <a:t>          "processing": "의도 분석과 RAG 응답·공고 비교",</a:t>
            </a:r>
          </a:p>
          <a:p xmlns:a="http://schemas.openxmlformats.org/drawingml/2006/main">
            <a:r>
              <a:t>          "output": "조건 비교"</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"조건 비교",</a:t>
            </a:r>
          </a:p>
          <a:p xmlns:a="http://schemas.openxmlformats.org/drawingml/2006/main">
            <a:r>
              <a:t>          "processing": "출처 링크와 신청 안내 페이지 제공",</a:t>
            </a:r>
          </a:p>
          <a:p xmlns:a="http://schemas.openxmlformats.org/drawingml/2006/main">
            <a:r>
              <a:t>          "output": "공식 페이지"</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"예외 질문·오류·만족도 기반 지식 보완",</a:t>
            </a:r>
          </a:p>
          <a:p xmlns:a="http://schemas.openxmlformats.org/drawingml/2006/main">
            <a:r>
              <a:t>          "output": "조건·기한별 정답 공고와 원문 링크·변경 반영 시각"</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"예외 질문·오류·만족도 기반 지식 보완",</a:t>
            </a:r>
          </a:p>
          <a:p xmlns:a="http://schemas.openxmlformats.org/drawingml/2006/main">
            <a:r>
              <a:t>    "status": "RFP 기반 논리 설계",</a:t>
            </a:r>
          </a:p>
          <a:p xmlns:a="http://schemas.openxmlformats.org/drawingml/2006/main">
            <a:r>
              <a:t>    "basis": "RFP · SFR-003~006",</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"SFR-003~006, PER-003 / Word T062",</a:t>
            </a:r>
          </a:p>
          <a:p xmlns:a="http://schemas.openxmlformats.org/drawingml/2006/main">
            <a:r>
              <a:t>        "url": "https://www.g2b.go.kr/pn/pnp/pnpe/UntyAtchFile/downloadFile.do?bidPbancNo=R25BK00751232&amp;bidPbancOrd=000&amp;fileType=&amp;fileSeq=2&amp;prcmBsneSeCd=03"</a:t>
            </a:r>
          </a:p>
          <a:p xmlns:a="http://schemas.openxmlformats.org/drawingml/2006/main">
            <a:r>
              <a:t>      }</a:t>
            </a:r>
          </a:p>
          <a:p xmlns:a="http://schemas.openxmlformats.org/drawingml/2006/main">
            <a:r>
              <a:t>    ],</a:t>
            </a:r>
          </a:p>
          <a:p xmlns:a="http://schemas.openxmlformats.org/drawingml/2006/main">
            <a:r>
              <a:t>    "implication": "서비스 조건·기한·신청 창구를 연결하는 홈페이지 탐색 지원",</a:t>
            </a:r>
          </a:p>
          <a:p xmlns:a="http://schemas.openxmlformats.org/drawingml/2006/main">
            <a:r>
              <a:t>    "local": "서비스 조건·기한·신청 창구를 연결하는 홈페이지 탐색 지원",</a:t>
            </a:r>
          </a:p>
          <a:p xmlns:a="http://schemas.openxmlformats.org/drawingml/2006/main">
            <a:r>
              <a:t>    "sourceDetail": "데이터 수집·갱신→RAG→의도 기반 답변·유사공고 비교→원문 연결; 오류·만족도 관리",</a:t>
            </a:r>
          </a:p>
          <a:p xmlns:a="http://schemas.openxmlformats.org/drawingml/2006/main">
            <a:r>
              <a:t>    "narrative": [</a:t>
            </a:r>
          </a:p>
          <a:p xmlns:a="http://schemas.openxmlformats.org/drawingml/2006/main">
            <a:r>
              <a:t>      "경기도 홈페이지에 축적된 정책·복지·공고 정보를 자연어로 찾도록 하는 검색 접점 고도화. 국민의 요청을 신청 자격·지역·기간 등의 조건으로 정리하고, 맞는 공고와 기존 신청 화면으로 연결하는 업무.",</a:t>
            </a:r>
          </a:p>
          <a:p xmlns:a="http://schemas.openxmlformats.org/drawingml/2006/main">
            <a:r>
              <a:t>      "원문 서비스 도면은 홈페이지 RDB의 대상 자료를 공공클라우드 RAG 영역에 수집·임베딩하고, 질의와 검색 근거를 외부 LLM에 전달한 뒤 홈페이지 채팅 UI로 답변하는 구성. 기능도에는 데이터·프롬프트·이력·모델·통계를 별도 관리 영역으로 명시.",</a:t>
            </a:r>
          </a:p>
          <a:p xmlns:a="http://schemas.openxmlformats.org/drawingml/2006/main">
            <a:r>
              <a:t>      "챗봇이 답한 것과 국민이 원하는 서비스를 찾은 것을 구분해 평가할 사례. 마감 공고·지역 불일치·자격 예외를 포함한 질문으로 원문 링크 도달과 다음 절차 안내를 검증할 필요. TS 대국민 접점에서는 기존 메뉴·신청 시스템을 유지하면서 자연어·음성 진입을 추가하는 방향."</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"SFR-003",</a:t>
            </a:r>
          </a:p>
          <a:p xmlns:a="http://schemas.openxmlformats.org/drawingml/2006/main">
            <a:r>
              <a:t>        "title": "생성형 AI 챗봇 검색 서비스 대상 데이터 수집·정제·전처리",</a:t>
            </a:r>
          </a:p>
          <a:p xmlns:a="http://schemas.openxmlformats.org/drawingml/2006/main">
            <a:r>
              <a:t>        "locator": "SFR-003",</a:t>
            </a:r>
          </a:p>
          <a:p xmlns:a="http://schemas.openxmlformats.org/drawingml/2006/main">
            <a:r>
              <a:t>        "summary": "정책·복지·공고 등 대상 데이터를 수집하고 정제·전처리하는 기능.",</a:t>
            </a:r>
          </a:p>
          <a:p xmlns:a="http://schemas.openxmlformats.org/drawingml/2006/main">
            <a:r>
              <a:t>        "data": "홈페이지 원문·파일 → 정규화 자료·메타데이터",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a:t>
            </a:r>
          </a:p>
          <a:p xmlns:a="http://schemas.openxmlformats.org/drawingml/2006/main">
            <a:r>
              <a:t>        "acceptance": "첨부·표·중복 URL·깨진 링크 입력의 수집 범위와 정제 결과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"dfce571aa07ad0601b331c6afaa46c57d8ef4ad8975cae48c8c928272ce53768"</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"실시간 데이터 파이프라인 자동화 구축",</a:t>
            </a:r>
          </a:p>
          <a:p xmlns:a="http://schemas.openxmlformats.org/drawingml/2006/main">
            <a:r>
              <a:t>        "locator": "SFR-004",</a:t>
            </a:r>
          </a:p>
          <a:p xmlns:a="http://schemas.openxmlformats.org/drawingml/2006/main">
            <a:r>
              <a:t>        "summary": "신규·변경 정보를 반영하는 데이터 파이프라인 자동화.",</a:t>
            </a:r>
          </a:p>
          <a:p xmlns:a="http://schemas.openxmlformats.org/drawingml/2006/main">
            <a:r>
              <a:t>        "data": "원천 변경·스케줄 → 갱신된 검색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"공고 수정·종료·삭제 후 색인 갱신과 수집 실패 후 재개 결과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"6d77f8fe82e84d8c671fdea123a554f2f2c061d91a1941d599146f167079e57e"</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"RAG(Retrieval Augmented Generation) 구축",</a:t>
            </a:r>
          </a:p>
          <a:p xmlns:a="http://schemas.openxmlformats.org/drawingml/2006/main">
            <a:r>
              <a:t>        "locator": "SFR-005",</a:t>
            </a:r>
          </a:p>
          <a:p xmlns:a="http://schemas.openxmlformats.org/drawingml/2006/main">
            <a:r>
              <a:t>        "summary": "정제 자료를 검색 근거로 제공하는 RAG 기반 구성.",</a:t>
            </a:r>
          </a:p>
          <a:p xmlns:a="http://schemas.openxmlformats.org/drawingml/2006/main">
            <a:r>
              <a:t>        "data": "사용자 질문·정책 색인 → 근거 문서·답변 문맥",</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"C11"</a:t>
            </a:r>
          </a:p>
          <a:p xmlns:a="http://schemas.openxmlformats.org/drawingml/2006/main">
            <a:r>
              <a:t>        ],</a:t>
            </a:r>
          </a:p>
          <a:p xmlns:a="http://schemas.openxmlformats.org/drawingml/2006/main">
            <a:r>
              <a:t>        "acceptance": "기간·지역·대상 조건이 다른 유사 정책의 구분과 근거 페이지 정확성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"02d312ae74d0ddf4dd06d7e84e79461aa2f4bb7664d9f657f22281c8d145bf02"</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"생성형 AI 챗봇 검색 서비스 개발",</a:t>
            </a:r>
          </a:p>
          <a:p xmlns:a="http://schemas.openxmlformats.org/drawingml/2006/main">
            <a:r>
              <a:t>        "locator": "SFR-006",</a:t>
            </a:r>
          </a:p>
          <a:p xmlns:a="http://schemas.openxmlformats.org/drawingml/2006/main">
            <a:r>
              <a:t>        "summary": "도민의 대화형 정보 탐색을 위한 챗봇·검색 서비스 구현.",</a:t>
            </a:r>
          </a:p>
          <a:p xmlns:a="http://schemas.openxmlformats.org/drawingml/2006/main">
            <a:r>
              <a:t>        "data": "자연어 문의·추가 조건 → 안내·공식 서비스 연결",</a:t>
            </a:r>
          </a:p>
          <a:p xmlns:a="http://schemas.openxmlformats.org/drawingml/2006/main">
            <a:r>
              <a:t>        "components": [</a:t>
            </a:r>
          </a:p>
          <a:p xmlns:a="http://schemas.openxmlformats.org/drawingml/2006/main">
            <a:r>
              <a:t>          "C01",</a:t>
            </a:r>
          </a:p>
          <a:p xmlns:a="http://schemas.openxmlformats.org/drawingml/2006/main">
            <a:r>
              <a:t>          "C02",</a:t>
            </a:r>
          </a:p>
          <a:p xmlns:a="http://schemas.openxmlformats.org/drawingml/2006/main">
            <a:r>
              <a:t>          "C06"</a:t>
            </a:r>
          </a:p>
          <a:p xmlns:a="http://schemas.openxmlformats.org/drawingml/2006/main">
            <a:r>
              <a:t>        ],</a:t>
            </a:r>
          </a:p>
          <a:p xmlns:a="http://schemas.openxmlformats.org/drawingml/2006/main">
            <a:r>
              <a:t>        "acceptance": "모호한 문의의 추가 질문, 잘못된 서비스 링크, 응답 실패 시 기존 탐색 경로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"b2087cef15831463cccbd35ddb28248885288bfed8bbcafeed9bc7066f08417e"</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"홈페이지 챗봇",</a:t>
            </a:r>
          </a:p>
          <a:p xmlns:a="http://schemas.openxmlformats.org/drawingml/2006/main">
            <a:r>
              <a:t>          "layer": "이용 접점",</a:t>
            </a:r>
          </a:p>
          <a:p xmlns:a="http://schemas.openxmlformats.org/drawingml/2006/main">
            <a:r>
              <a:t>          "detail": "도민·홈페이지 운영자",</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"지역·대상·기간",</a:t>
            </a:r>
          </a:p>
          <a:p xmlns:a="http://schemas.openxmlformats.org/drawingml/2006/main">
            <a:r>
              <a:t>          "layer": "업무 문맥",</a:t>
            </a:r>
          </a:p>
          <a:p xmlns:a="http://schemas.openxmlformats.org/drawingml/2006/main">
            <a:r>
              <a:t>          "detail": "요청 목적·대상 조건·대화 이력 구성",</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"유효 공고 검색",</a:t>
            </a:r>
          </a:p>
          <a:p xmlns:a="http://schemas.openxmlformats.org/drawingml/2006/main">
            <a:r>
              <a:t>          "layer": "자료 조회",</a:t>
            </a:r>
          </a:p>
          <a:p xmlns:a="http://schemas.openxmlformats.org/drawingml/2006/main">
            <a:r>
              <a:t>          "detail": "질문·지역",</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"의도·조건 비교",</a:t>
            </a:r>
          </a:p>
          <a:p xmlns:a="http://schemas.openxmlformats.org/drawingml/2006/main">
            <a:r>
              <a:t>          "layer": "핵심 처리",</a:t>
            </a:r>
          </a:p>
          <a:p xmlns:a="http://schemas.openxmlformats.org/drawingml/2006/main">
            <a:r>
              <a:t>          "detail": "의도 분석과 RAG 응답·공고 비교",</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"마감·자격 검사",</a:t>
            </a:r>
          </a:p>
          <a:p xmlns:a="http://schemas.openxmlformats.org/drawingml/2006/main">
            <a:r>
              <a:t>          "layer": "결과 검증",</a:t>
            </a:r>
          </a:p>
          <a:p xmlns:a="http://schemas.openxmlformats.org/drawingml/2006/main">
            <a:r>
              <a:t>          "detail": "유효기간·대상조건·링크 점검",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"이용자 조건 확인",</a:t>
            </a:r>
          </a:p>
          <a:p xmlns:a="http://schemas.openxmlformats.org/drawingml/2006/main">
            <a:r>
              <a:t>          "layer": "사람 확인",</a:t>
            </a:r>
          </a:p>
          <a:p xmlns:a="http://schemas.openxmlformats.org/drawingml/2006/main">
            <a:r>
              <a:t>          "detail": "자격조건을 설명하고 관련 공고와 신청 페이지 비교",</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"공식 신청 안내",</a:t>
            </a:r>
          </a:p>
          <a:p xmlns:a="http://schemas.openxmlformats.org/drawingml/2006/main">
            <a:r>
              <a:t>          "layer": "업무 연결",</a:t>
            </a:r>
          </a:p>
          <a:p xmlns:a="http://schemas.openxmlformats.org/drawingml/2006/main">
            <a:r>
              <a:t>          "detail": "출처 링크와 신청 안내 페이지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"오류·만족도 분석",</a:t>
            </a:r>
          </a:p>
          <a:p xmlns:a="http://schemas.openxmlformats.org/drawingml/2006/main">
            <a:r>
              <a:t>          "layer": "운영 관측",</a:t>
            </a:r>
          </a:p>
          <a:p xmlns:a="http://schemas.openxmlformats.org/drawingml/2006/main">
            <a:r>
              <a:t>          "detail": "예외 질문·오류·만족도 기반 지식 보완",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"홈페이지·공고 DB",</a:t>
            </a:r>
          </a:p>
          <a:p xmlns:a="http://schemas.openxmlformats.org/drawingml/2006/main">
            <a:r>
              <a:t>          "layer": "데이터 원천",</a:t>
            </a:r>
          </a:p>
          <a:p xmlns:a="http://schemas.openxmlformats.org/drawingml/2006/main">
            <a:r>
              <a:t>          "detail": "정책·공고 지식",</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"수집·갱신·벡터화",</a:t>
            </a:r>
          </a:p>
          <a:p xmlns:a="http://schemas.openxmlformats.org/drawingml/2006/main">
            <a:r>
              <a:t>          "layer": "준비·갱신",</a:t>
            </a:r>
          </a:p>
          <a:p xmlns:a="http://schemas.openxmlformats.org/drawingml/2006/main">
            <a:r>
              <a:t>          "detail": "홈페이지 문서 수집·전처리·변경 반영",</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"공공클라우드 RAG",</a:t>
            </a:r>
          </a:p>
          <a:p xmlns:a="http://schemas.openxmlformats.org/drawingml/2006/main">
            <a:r>
              <a:t>          "layer": "상태·지식 저장",</a:t>
            </a:r>
          </a:p>
          <a:p xmlns:a="http://schemas.openxmlformats.org/drawingml/2006/main">
            <a:r>
              <a:t>          "detail": "조건·기한별 정답 공고와 원문 링크·변경 반영 시각",</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"외부 LLM 연결경계",</a:t>
            </a:r>
          </a:p>
          <a:p xmlns:a="http://schemas.openxmlformats.org/drawingml/2006/main">
            <a:r>
              <a:t>          "layer": "권한·정책",</a:t>
            </a:r>
          </a:p>
          <a:p xmlns:a="http://schemas.openxmlformats.org/drawingml/2006/main">
            <a:r>
              <a:t>          "detail": "마감 공고·유사한 다른 제도·갱신 전 색인",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"요청 목적·대상 조건·대화 이력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"질문·지역",</a:t>
            </a:r>
          </a:p>
          <a:p xmlns:a="http://schemas.openxmlformats.org/drawingml/2006/main">
            <a:r>
              <a:t>          "check": "유효기간·대상조건·링크 점검"</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"유효 공고",</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"조건 비교",</a:t>
            </a:r>
          </a:p>
          <a:p xmlns:a="http://schemas.openxmlformats.org/drawingml/2006/main">
            <a:r>
              <a:t>          "check": "마감 공고·유사한 다른 제도·갱신 전 색인"</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"조건 비교",</a:t>
            </a:r>
          </a:p>
          <a:p xmlns:a="http://schemas.openxmlformats.org/drawingml/2006/main">
            <a:r>
              <a:t>          "check": "출처 링크와 신청 안내 페이지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"공식 페이지",</a:t>
            </a:r>
          </a:p>
          <a:p xmlns:a="http://schemas.openxmlformats.org/drawingml/2006/main">
            <a:r>
              <a:t>          "check": "조건·기한별 정답 공고와 원문 링크·변경 반영 시각"</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"생성형 AI 서비스 아키텍처 구성도, SFR-003~006",</a:t>
            </a:r>
          </a:p>
          <a:p xmlns:a="http://schemas.openxmlformats.org/drawingml/2006/main">
            <a:r>
              <a:t>        "extracted": "홈페이지 RDB → 공공클라우드 Vector DB → 외부 LLM 연결",</a:t>
            </a:r>
          </a:p>
          <a:p xmlns:a="http://schemas.openxmlformats.org/drawingml/2006/main">
            <a:r>
              <a:t>        "extension": "공고 마감·지역·자격조건 대조 및 신청 링크 검증"</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"PF-R05",</a:t>
            </a:r>
          </a:p>
          <a:p xmlns:a="http://schemas.openxmlformats.org/drawingml/2006/main">
            <a:r>
              <a:t>          "path": "assets/casebook-sources/PF-R05-01.png",</a:t>
            </a:r>
          </a:p>
          <a:p xmlns:a="http://schemas.openxmlformats.org/drawingml/2006/main">
            <a:r>
              <a:t>          "title": "홈페이지 AI 목표기능",</a:t>
            </a:r>
          </a:p>
          <a:p xmlns:a="http://schemas.openxmlformats.org/drawingml/2006/main">
            <a:r>
              <a:t>          "status": "RFP 목표기능 구성도",</a:t>
            </a:r>
          </a:p>
          <a:p xmlns:a="http://schemas.openxmlformats.org/drawingml/2006/main">
            <a:r>
              <a:t>          "caption": "챗봇·RAG·데이터 파이프라인·모델 관리의 분리",</a:t>
            </a:r>
          </a:p>
          <a:p xmlns:a="http://schemas.openxmlformats.org/drawingml/2006/main">
            <a:r>
              <a:t>          "locator": "rId17 / BinData/image3_png",</a:t>
            </a:r>
          </a:p>
          <a:p xmlns:a="http://schemas.openxmlformats.org/drawingml/2006/main">
            <a:r>
              <a:t>          "checked": "2026-10-16",</a:t>
            </a:r>
          </a:p>
          <a:p xmlns:a="http://schemas.openxmlformats.org/drawingml/2006/main">
            <a:r>
              <a:t>          "sha256": "dbf8455e9d661c8a3db51e5677f25fc751cb2ade3a7b0abaf602d57a8aaf1ba8",</a:t>
            </a:r>
          </a:p>
          <a:p xmlns:a="http://schemas.openxmlformats.org/drawingml/2006/main">
            <a:r>
              <a:t>          "explanation": {</a:t>
            </a:r>
          </a:p>
          <a:p xmlns:a="http://schemas.openxmlformats.org/drawingml/2006/main">
            <a:r>
              <a:t>            "read": "도민의 대화형 탐색 접점에서 정책·복지·공고 정보의 검색과 AI 응답을 제공하는 목표 기능 구조. 대화 응답 이후 실제 신청 서비스로 이동하는 연결이 업무 완료의 다음 단계.",</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"SFR-005",</a:t>
            </a:r>
          </a:p>
          <a:p xmlns:a="http://schemas.openxmlformats.org/drawingml/2006/main">
            <a:r>
              <a:t>              "SFR-006"</a:t>
            </a:r>
          </a:p>
          <a:p xmlns:a="http://schemas.openxmlformats.org/drawingml/2006/main">
            <a:r>
              <a:t>            ],</a:t>
            </a:r>
          </a:p>
          <a:p xmlns:a="http://schemas.openxmlformats.org/drawingml/2006/main">
            <a:r>
              <a:t>            "connection": "지역·대상·신청기간의 추가 질문과 공식 신청 링크를 구성하고 답변 정확도와 신청 화면 도달률을 분리해 평가하는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"PF-R05",</a:t>
            </a:r>
          </a:p>
          <a:p xmlns:a="http://schemas.openxmlformats.org/drawingml/2006/main">
            <a:r>
              <a:t>          "path": "assets/casebook-sources/PF-R05-02.png",</a:t>
            </a:r>
          </a:p>
          <a:p xmlns:a="http://schemas.openxmlformats.org/drawingml/2006/main">
            <a:r>
              <a:t>          "title": "홈페이지–RAG–외부 LLM",</a:t>
            </a:r>
          </a:p>
          <a:p xmlns:a="http://schemas.openxmlformats.org/drawingml/2006/main">
            <a:r>
              <a:t>          "status": "RFP 서비스 아키텍처 구성도",</a:t>
            </a:r>
          </a:p>
          <a:p xmlns:a="http://schemas.openxmlformats.org/drawingml/2006/main">
            <a:r>
              <a:t>          "caption": "홈페이지 RDB → 공공클라우드 Vector DB → 외부 LLM",</a:t>
            </a:r>
          </a:p>
          <a:p xmlns:a="http://schemas.openxmlformats.org/drawingml/2006/main">
            <a:r>
              <a:t>          "locator": "rId17 / BinData/image4_bmp",</a:t>
            </a:r>
          </a:p>
          <a:p xmlns:a="http://schemas.openxmlformats.org/drawingml/2006/main">
            <a:r>
              <a:t>          "checked": "2026-10-16",</a:t>
            </a:r>
          </a:p>
          <a:p xmlns:a="http://schemas.openxmlformats.org/drawingml/2006/main">
            <a:r>
              <a:t>          "sha256": "04b7bff411913589529c68490addbddd2c84b7abce61ecd7c873e971bab7bf7e",</a:t>
            </a:r>
          </a:p>
          <a:p xmlns:a="http://schemas.openxmlformats.org/drawingml/2006/main">
            <a:r>
              <a:t>          "explanation": {</a:t>
            </a:r>
          </a:p>
          <a:p xmlns:a="http://schemas.openxmlformats.org/drawingml/2006/main">
            <a:r>
              <a:t>            "read": "홈페이지 RDB의 자료를 공공클라우드 검색 계층으로 반영하고 검색 근거를 외부 LLM에 전달하는 구조. 원천 데이터 갱신과 이용자 질문의 실시간 처리를 나누는 연결.",</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"SFR-005"</a:t>
            </a:r>
          </a:p>
          <a:p xmlns:a="http://schemas.openxmlformats.org/drawingml/2006/main">
            <a:r>
              <a:t>            ],</a:t>
            </a:r>
          </a:p>
          <a:p xmlns:a="http://schemas.openxmlformats.org/drawingml/2006/main">
            <a:r>
              <a:t>            "connection": "원천 수정·종료·삭제가 색인에 반영되는지 추적하고 외부 전송 문맥과 답변 인용의 출처·판본을 보존하는 데이터 흐름."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"마감 공고·유사한 다른 제도·갱신 전 색인",</a:t>
            </a:r>
          </a:p>
          <a:p xmlns:a="http://schemas.openxmlformats.org/drawingml/2006/main">
            <a:r>
              <a:t>        "hold": "유효기간·대상조건·링크 점검",</a:t>
            </a:r>
          </a:p>
          <a:p xmlns:a="http://schemas.openxmlformats.org/drawingml/2006/main">
            <a:r>
              <a:t>        "recovery": "예외 질문·오류·만족도 기반 지식 보완",</a:t>
            </a:r>
          </a:p>
          <a:p xmlns:a="http://schemas.openxmlformats.org/drawingml/2006/main">
            <a:r>
              <a:t>        "evidence": "조건·기한별 정답 공고와 원문 링크·변경 반영 시각"</a:t>
            </a:r>
          </a:p>
          <a:p xmlns:a="http://schemas.openxmlformats.org/drawingml/2006/main">
            <a:r>
              <a:t>      },</a:t>
            </a:r>
          </a:p>
          <a:p xmlns:a="http://schemas.openxmlformats.org/drawingml/2006/main">
            <a:r>
              <a:t>      "data": {</a:t>
            </a:r>
          </a:p>
          <a:p xmlns:a="http://schemas.openxmlformats.org/drawingml/2006/main">
            <a:r>
              <a:t>        "source": "정책·공고 지식",</a:t>
            </a:r>
          </a:p>
          <a:p xmlns:a="http://schemas.openxmlformats.org/drawingml/2006/main">
            <a:r>
              <a:t>        "prepare": "홈페이지 문서 수집·전처리·변경 반영",</a:t>
            </a:r>
          </a:p>
          <a:p xmlns:a="http://schemas.openxmlformats.org/drawingml/2006/main">
            <a:r>
              <a:t>        "output": "질문·지역",</a:t>
            </a:r>
          </a:p>
          <a:p xmlns:a="http://schemas.openxmlformats.org/drawingml/2006/main">
            <a:r>
              <a:t>        "refresh": "예외 질문·오류·만족도 기반 지식 보완"</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"PF-R05",</a:t>
            </a:r>
          </a:p>
          <a:p xmlns:a="http://schemas.openxmlformats.org/drawingml/2006/main">
            <a:r>
              <a:t>    "success": [</a:t>
            </a:r>
          </a:p>
          <a:p xmlns:a="http://schemas.openxmlformats.org/drawingml/2006/main">
            <a:r>
              <a:t>      "정책·복지·공고의 통합 탐색",</a:t>
            </a:r>
          </a:p>
          <a:p xmlns:a="http://schemas.openxmlformats.org/drawingml/2006/main">
            <a:r>
              <a:t>      "원문을 통한 후속 절차 연결"</a:t>
            </a:r>
          </a:p>
          <a:p xmlns:a="http://schemas.openxmlformats.org/drawingml/2006/main">
            <a:r>
              <a:t>    ],</a:t>
            </a:r>
          </a:p>
          <a:p xmlns:a="http://schemas.openxmlformats.org/drawingml/2006/main">
            <a:r>
              <a:t>    "risks": [</a:t>
            </a:r>
          </a:p>
          <a:p xmlns:a="http://schemas.openxmlformats.org/drawingml/2006/main">
            <a:r>
              <a:t>      "마감·지역·자격조건 오안내",</a:t>
            </a:r>
          </a:p>
          <a:p xmlns:a="http://schemas.openxmlformats.org/drawingml/2006/main">
            <a:r>
              <a:t>      "착수와 정식 운영 성과의 차이"</a:t>
            </a:r>
          </a:p>
          <a:p xmlns:a="http://schemas.openxmlformats.org/drawingml/2006/main">
            <a:r>
              <a:t>    ],</a:t>
            </a:r>
          </a:p>
          <a:p xmlns:a="http://schemas.openxmlformats.org/drawingml/2006/main">
            <a:r>
              <a:t>    "architecture": [</a:t>
            </a:r>
          </a:p>
          <a:p xmlns:a="http://schemas.openxmlformats.org/drawingml/2006/main">
            <a:r>
              <a:t>      "도민 대화",</a:t>
            </a:r>
          </a:p>
          <a:p xmlns:a="http://schemas.openxmlformats.org/drawingml/2006/main">
            <a:r>
              <a:t>      "의도 분류·정보 비교",</a:t>
            </a:r>
          </a:p>
          <a:p xmlns:a="http://schemas.openxmlformats.org/drawingml/2006/main">
            <a:r>
              <a:t>      "정책·공고 지식",</a:t>
            </a:r>
          </a:p>
          <a:p xmlns:a="http://schemas.openxmlformats.org/drawingml/2006/main">
            <a:r>
              <a:t>      "원문 안내"</a:t>
            </a:r>
          </a:p>
          <a:p xmlns:a="http://schemas.openxmlformats.org/drawingml/2006/main">
            <a:r>
              <a:t>    ],</a:t>
            </a:r>
          </a:p>
          <a:p xmlns:a="http://schemas.openxmlformats.org/drawingml/2006/main">
            <a:r>
              <a:t>    "transfers": [</a:t>
            </a:r>
          </a:p>
          <a:p xmlns:a="http://schemas.openxmlformats.org/drawingml/2006/main">
            <a:r>
              <a:t>      "질문·지역",</a:t>
            </a:r>
          </a:p>
          <a:p xmlns:a="http://schemas.openxmlformats.org/drawingml/2006/main">
            <a:r>
              <a:t>      "유효 공고",</a:t>
            </a:r>
          </a:p>
          <a:p xmlns:a="http://schemas.openxmlformats.org/drawingml/2006/main">
            <a:r>
              <a:t>      "조건 비교",</a:t>
            </a:r>
          </a:p>
          <a:p xmlns:a="http://schemas.openxmlformats.org/drawingml/2006/main">
            <a:r>
              <a:t>      "공식 페이지"</a:t>
            </a:r>
          </a:p>
          <a:p xmlns:a="http://schemas.openxmlformats.org/drawingml/2006/main">
            <a:r>
              <a:t>    ],</a:t>
            </a:r>
          </a:p>
          <a:p xmlns:a="http://schemas.openxmlformats.org/drawingml/2006/main">
            <a:r>
              <a:t>    "control": "유효기간·대상조건·링크 점검",</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SFR-003~006, PER-003 / Word T062 https://www.g2b.go.kr/pn/pnp/pnpe/UntyAtchFile/downloadFile.do?bidPbancNo=R25BK00751232&amp;bidPbancOrd=000&amp;fileType=&amp;fileSeq=2&amp;prcmBsneSeCd=03</a:t>
            </a:r>
          </a:p>
          <a:p xmlns:a="http://schemas.openxmlformats.org/drawingml/2006/main">
            <a:r>
              <a:t>홈페이지 https://heen1987-ops.github.io/TS-business-Plan-001/index.html?view=platform-cases&amp;case=PF-R05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"PF-R05",</a:t>
            </a:r>
          </a:p>
          <a:p xmlns:a="http://schemas.openxmlformats.org/drawingml/2006/main">
            <a:r>
              <a:t>    "sourceId": "R05",</a:t>
            </a:r>
          </a:p>
          <a:p xmlns:a="http://schemas.openxmlformats.org/drawingml/2006/main">
            <a:r>
              <a:t>    "title": "경기도 대화형 정보 탐색",</a:t>
            </a:r>
          </a:p>
          <a:p xmlns:a="http://schemas.openxmlformats.org/drawingml/2006/main">
            <a:r>
              <a:t>    "region": "국내",</a:t>
            </a:r>
          </a:p>
          <a:p xmlns:a="http://schemas.openxmlformats.org/drawingml/2006/main">
            <a:r>
              <a:t>    "owner": "경기도",</a:t>
            </a:r>
          </a:p>
          <a:p xmlns:a="http://schemas.openxmlformats.org/drawingml/2006/main">
            <a:r>
              <a:t>    "state": "공식 RFP·착수 발표 확인 / 정식 운영 성과 미확인",</a:t>
            </a:r>
          </a:p>
          <a:p xmlns:a="http://schemas.openxmlformats.org/drawingml/2006/main">
            <a:r>
              <a:t>    "period": "기존 원장 확인 2026.10.16",</a:t>
            </a:r>
          </a:p>
          <a:p xmlns:a="http://schemas.openxmlformats.org/drawingml/2006/main">
            <a:r>
              <a:t>    "fact": "홈페이지 정책·복지·공고를 도민이 대화로 탐색하는 서비스",</a:t>
            </a:r>
          </a:p>
          <a:p xmlns:a="http://schemas.openxmlformats.org/drawingml/2006/main">
            <a:r>
              <a:t>    "limit": "착수자료의 2025년 11월 예정과 실제 개시·정량 성과를 구분",</a:t>
            </a:r>
          </a:p>
          <a:p xmlns:a="http://schemas.openxmlformats.org/drawingml/2006/main">
            <a:r>
              <a:t>    "nodes": [</a:t>
            </a:r>
          </a:p>
          <a:p xmlns:a="http://schemas.openxmlformats.org/drawingml/2006/main">
            <a:r>
              <a:t>      "정책·공고",</a:t>
            </a:r>
          </a:p>
          <a:p xmlns:a="http://schemas.openxmlformats.org/drawingml/2006/main">
            <a:r>
              <a:t>      "지식 갱신",</a:t>
            </a:r>
          </a:p>
          <a:p xmlns:a="http://schemas.openxmlformats.org/drawingml/2006/main">
            <a:r>
              <a:t>      "의도·정보 비교",</a:t>
            </a:r>
          </a:p>
          <a:p xmlns:a="http://schemas.openxmlformats.org/drawingml/2006/main">
            <a:r>
              <a:t>      "원문 안내"</a:t>
            </a:r>
          </a:p>
          <a:p xmlns:a="http://schemas.openxmlformats.org/drawingml/2006/main">
            <a:r>
              <a:t>    ],</a:t>
            </a:r>
          </a:p>
          <a:p xmlns:a="http://schemas.openxmlformats.org/drawingml/2006/main">
            <a:r>
              <a:t>    "apply": "서비스 조건·기한·신청 창구를 연결하는 홈페이지 탐색 지원",</a:t>
            </a:r>
          </a:p>
          <a:p xmlns:a="http://schemas.openxmlformats.org/drawingml/2006/main">
            <a:r>
              <a:t>    "delta": "서비스·조건·기한 사전 / 유사 공고 비교 / 원문·신청 경로 연결",</a:t>
            </a:r>
          </a:p>
          <a:p xmlns:a="http://schemas.openxmlformats.org/drawingml/2006/main">
            <a:r>
              <a:t>    "test": "마감·유사 공고·갱신 지연 질의의 조건 일치와 서비스 도달 확인",</a:t>
            </a:r>
          </a:p>
          <a:p xmlns:a="http://schemas.openxmlformats.org/drawingml/2006/main">
            <a:r>
              <a:t>    "url": "https://www.g2b.go.kr/pn/pnp/pnpe/UntyAtchFile/downloadFile.do?bidPbancNo=R25BK00751232&amp;bidPbancOrd=000&amp;fileType=&amp;fileSeq=2&amp;prcmBsneSeCd=03",</a:t>
            </a:r>
          </a:p>
          <a:p xmlns:a="http://schemas.openxmlformats.org/drawingml/2006/main">
            <a:r>
              <a:t>    "urls": [</a:t>
            </a:r>
          </a:p>
          <a:p xmlns:a="http://schemas.openxmlformats.org/drawingml/2006/main">
            <a:r>
              <a:t>      "https://www.g2b.go.kr/pn/pnp/pnpe/UntyAtchFile/downloadFile.do?bidPbancNo=R25BK00751232&amp;bidPbancOrd=000&amp;fileType=&amp;fileSeq=2&amp;prcmBsneSeCd=03",</a:t>
            </a:r>
          </a:p>
          <a:p xmlns:a="http://schemas.openxmlformats.org/drawingml/2006/main">
            <a:r>
              <a:t>      "https://gnews.gg.go.kr/briefing/brief_gongbo_view.do?BS_CODE=s017&amp;number=66171"</a:t>
            </a:r>
          </a:p>
          <a:p xmlns:a="http://schemas.openxmlformats.org/drawingml/2006/main">
            <a:r>
              <a:t>    ],</a:t>
            </a:r>
          </a:p>
          <a:p xmlns:a="http://schemas.openxmlformats.org/drawingml/2006/main">
            <a:r>
              <a:t>    "basis": "SFR-003~006, PER-003 / Word T062",</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"정확한 공고 도달률 / 탐색시간 / 이용 포기율",</a:t>
            </a:r>
          </a:p>
          <a:p xmlns:a="http://schemas.openxmlformats.org/drawingml/2006/main">
            <a:r>
              <a:t>    "group": "요구·구축",</a:t>
            </a:r>
          </a:p>
          <a:p xmlns:a="http://schemas.openxmlformats.org/drawingml/2006/main">
            <a:r>
              <a:t>    "sourceDetail": "데이터 수집·갱신→RAG→의도 기반 답변·유사공고 비교→원문 연결; 오류·만족도 관리",</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"PF-R05",</a:t>
            </a:r>
          </a:p>
          <a:p xmlns:a="http://schemas.openxmlformats.org/drawingml/2006/main">
            <a:r>
              <a:t>    "canonicalId": "PF-R05",</a:t>
            </a:r>
          </a:p>
          <a:p xmlns:a="http://schemas.openxmlformats.org/drawingml/2006/main">
            <a:r>
              <a:t>    "purpose": "정책·복지·공고의 대화형 탐색",</a:t>
            </a:r>
          </a:p>
          <a:p xmlns:a="http://schemas.openxmlformats.org/drawingml/2006/main">
            <a:r>
              <a:t>    "users": "도민·홈페이지 운영자",</a:t>
            </a:r>
          </a:p>
          <a:p xmlns:a="http://schemas.openxmlformats.org/drawingml/2006/main">
            <a:r>
              <a:t>    "scope": [</a:t>
            </a:r>
          </a:p>
          <a:p xmlns:a="http://schemas.openxmlformats.org/drawingml/2006/main">
            <a:r>
              <a:t>      "자연어 탐색",</a:t>
            </a:r>
          </a:p>
          <a:p xmlns:a="http://schemas.openxmlformats.org/drawingml/2006/main">
            <a:r>
              <a:t>      "유사공고 비교",</a:t>
            </a:r>
          </a:p>
          <a:p xmlns:a="http://schemas.openxmlformats.org/drawingml/2006/main">
            <a:r>
              <a:t>      "원문 연결"</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"도민 대화",</a:t>
            </a:r>
          </a:p>
          <a:p xmlns:a="http://schemas.openxmlformats.org/drawingml/2006/main">
            <a:r>
              <a:t>        "detail": "요청 목적·대상 조건·대화 이력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"자연어 탐색 / 유사공고 비교 / 원문 연결",</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"의도 분류·정보 비교",</a:t>
            </a:r>
          </a:p>
          <a:p xmlns:a="http://schemas.openxmlformats.org/drawingml/2006/main">
            <a:r>
              <a:t>        "detail": "의도 분석과 RAG 응답·공고 비교",</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"원문 안내",</a:t>
            </a:r>
          </a:p>
          <a:p xmlns:a="http://schemas.openxmlformats.org/drawingml/2006/main">
            <a:r>
              <a:t>        "detail": "출처 링크와 신청 안내 페이지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"정책·공고 지식",</a:t>
            </a:r>
          </a:p>
          <a:p xmlns:a="http://schemas.openxmlformats.org/drawingml/2006/main">
            <a:r>
              <a:t>        "detail": "홈페이지 문서 수집·전처리·변경 반영",</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"예외 질문·오류·만족도 기반 지식 보완",</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"정책·공고",</a:t>
            </a:r>
          </a:p>
          <a:p xmlns:a="http://schemas.openxmlformats.org/drawingml/2006/main">
            <a:r>
              <a:t>        "input": "요청 목적·대상 조건·대화 이력 구성",</a:t>
            </a:r>
          </a:p>
          <a:p xmlns:a="http://schemas.openxmlformats.org/drawingml/2006/main">
            <a:r>
              <a:t>        "process": "홈페이지 문서 수집·전처리·변경 반영",</a:t>
            </a:r>
          </a:p>
          <a:p xmlns:a="http://schemas.openxmlformats.org/drawingml/2006/main">
            <a:r>
              <a:t>        "output": "질문·지역"</a:t>
            </a:r>
          </a:p>
          <a:p xmlns:a="http://schemas.openxmlformats.org/drawingml/2006/main">
            <a:r>
              <a:t>      },</a:t>
            </a:r>
          </a:p>
          <a:p xmlns:a="http://schemas.openxmlformats.org/drawingml/2006/main">
            <a:r>
              <a:t>      {</a:t>
            </a:r>
          </a:p>
          <a:p xmlns:a="http://schemas.openxmlformats.org/drawingml/2006/main">
            <a:r>
              <a:t>        "title": "지식 갱신",</a:t>
            </a:r>
          </a:p>
          <a:p xmlns:a="http://schemas.openxmlformats.org/drawingml/2006/main">
            <a:r>
              <a:t>        "input": "질문·지역",</a:t>
            </a:r>
          </a:p>
          <a:p xmlns:a="http://schemas.openxmlformats.org/drawingml/2006/main">
            <a:r>
              <a:t>        "process": "의도 분석과 RAG 응답·공고 비교",</a:t>
            </a:r>
          </a:p>
          <a:p xmlns:a="http://schemas.openxmlformats.org/drawingml/2006/main">
            <a:r>
              <a:t>        "output": "유효 공고"</a:t>
            </a:r>
          </a:p>
          <a:p xmlns:a="http://schemas.openxmlformats.org/drawingml/2006/main">
            <a:r>
              <a:t>      },</a:t>
            </a:r>
          </a:p>
          <a:p xmlns:a="http://schemas.openxmlformats.org/drawingml/2006/main">
            <a:r>
              <a:t>      {</a:t>
            </a:r>
          </a:p>
          <a:p xmlns:a="http://schemas.openxmlformats.org/drawingml/2006/main">
            <a:r>
              <a:t>        "title": "의도·정보 비교",</a:t>
            </a:r>
          </a:p>
          <a:p xmlns:a="http://schemas.openxmlformats.org/drawingml/2006/main">
            <a:r>
              <a:t>        "input": "유효 공고",</a:t>
            </a:r>
          </a:p>
          <a:p xmlns:a="http://schemas.openxmlformats.org/drawingml/2006/main">
            <a:r>
              <a:t>        "process": "유효기간·대상조건·링크 점검",</a:t>
            </a:r>
          </a:p>
          <a:p xmlns:a="http://schemas.openxmlformats.org/drawingml/2006/main">
            <a:r>
              <a:t>        "output": "조건 비교"</a:t>
            </a:r>
          </a:p>
          <a:p xmlns:a="http://schemas.openxmlformats.org/drawingml/2006/main">
            <a:r>
              <a:t>      },</a:t>
            </a:r>
          </a:p>
          <a:p xmlns:a="http://schemas.openxmlformats.org/drawingml/2006/main">
            <a:r>
              <a:t>      {</a:t>
            </a:r>
          </a:p>
          <a:p xmlns:a="http://schemas.openxmlformats.org/drawingml/2006/main">
            <a:r>
              <a:t>        "title": "원문 안내",</a:t>
            </a:r>
          </a:p>
          <a:p xmlns:a="http://schemas.openxmlformats.org/drawingml/2006/main">
            <a:r>
              <a:t>        "input": "조건 비교",</a:t>
            </a:r>
          </a:p>
          <a:p xmlns:a="http://schemas.openxmlformats.org/drawingml/2006/main">
            <a:r>
              <a:t>        "process": "출처 링크와 신청 안내 페이지 제공",</a:t>
            </a:r>
          </a:p>
          <a:p xmlns:a="http://schemas.openxmlformats.org/drawingml/2006/main">
            <a:r>
              <a:t>        "output": "공식 페이지"</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"자격조건을 설명하고 관련 공고와 신청 페이지 비교",</a:t>
            </a:r>
          </a:p>
          <a:p xmlns:a="http://schemas.openxmlformats.org/drawingml/2006/main">
            <a:r>
              <a:t>      "exception": "마감 공고·유사한 다른 제도·갱신 전 색인",</a:t>
            </a:r>
          </a:p>
          <a:p xmlns:a="http://schemas.openxmlformats.org/drawingml/2006/main">
            <a:r>
              <a:t>      "evidence": "조건·기한별 정답 공고와 원문 링크·변경 반영 시각",</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"도민·홈페이지 운영자",</a:t>
            </a:r>
          </a:p>
          <a:p xmlns:a="http://schemas.openxmlformats.org/drawingml/2006/main">
            <a:r>
              <a:t>          "processing": "요청 목적·대상 조건·대화 이력 구성",</a:t>
            </a:r>
          </a:p>
          <a:p xmlns:a="http://schemas.openxmlformats.org/drawingml/2006/main">
            <a:r>
              <a:t>          "output": "질문·지역"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"정책·공고 지식",</a:t>
            </a:r>
          </a:p>
          <a:p xmlns:a="http://schemas.openxmlformats.org/drawingml/2006/main">
            <a:r>
              <a:t>          "processing": "홈페이지 문서 수집·전처리·변경 반영",</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"질문·지역",</a:t>
            </a:r>
          </a:p>
          <a:p xmlns:a="http://schemas.openxmlformats.org/drawingml/2006/main">
            <a:r>
              <a:t>          "processing": "의도 분석과 RAG 응답·공고 비교",</a:t>
            </a:r>
          </a:p>
          <a:p xmlns:a="http://schemas.openxmlformats.org/drawingml/2006/main">
            <a:r>
              <a:t>          "output": "조건 비교"</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"조건 비교",</a:t>
            </a:r>
          </a:p>
          <a:p xmlns:a="http://schemas.openxmlformats.org/drawingml/2006/main">
            <a:r>
              <a:t>          "processing": "출처 링크와 신청 안내 페이지 제공",</a:t>
            </a:r>
          </a:p>
          <a:p xmlns:a="http://schemas.openxmlformats.org/drawingml/2006/main">
            <a:r>
              <a:t>          "output": "공식 페이지"</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"예외 질문·오류·만족도 기반 지식 보완",</a:t>
            </a:r>
          </a:p>
          <a:p xmlns:a="http://schemas.openxmlformats.org/drawingml/2006/main">
            <a:r>
              <a:t>          "output": "조건·기한별 정답 공고와 원문 링크·변경 반영 시각"</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"예외 질문·오류·만족도 기반 지식 보완",</a:t>
            </a:r>
          </a:p>
          <a:p xmlns:a="http://schemas.openxmlformats.org/drawingml/2006/main">
            <a:r>
              <a:t>    "status": "RFP 기반 논리 설계",</a:t>
            </a:r>
          </a:p>
          <a:p xmlns:a="http://schemas.openxmlformats.org/drawingml/2006/main">
            <a:r>
              <a:t>    "basis": "RFP · SFR-003~006",</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"SFR-003~006, PER-003 / Word T062",</a:t>
            </a:r>
          </a:p>
          <a:p xmlns:a="http://schemas.openxmlformats.org/drawingml/2006/main">
            <a:r>
              <a:t>        "url": "https://www.g2b.go.kr/pn/pnp/pnpe/UntyAtchFile/downloadFile.do?bidPbancNo=R25BK00751232&amp;bidPbancOrd=000&amp;fileType=&amp;fileSeq=2&amp;prcmBsneSeCd=03"</a:t>
            </a:r>
          </a:p>
          <a:p xmlns:a="http://schemas.openxmlformats.org/drawingml/2006/main">
            <a:r>
              <a:t>      }</a:t>
            </a:r>
          </a:p>
          <a:p xmlns:a="http://schemas.openxmlformats.org/drawingml/2006/main">
            <a:r>
              <a:t>    ],</a:t>
            </a:r>
          </a:p>
          <a:p xmlns:a="http://schemas.openxmlformats.org/drawingml/2006/main">
            <a:r>
              <a:t>    "implication": "서비스 조건·기한·신청 창구를 연결하는 홈페이지 탐색 지원",</a:t>
            </a:r>
          </a:p>
          <a:p xmlns:a="http://schemas.openxmlformats.org/drawingml/2006/main">
            <a:r>
              <a:t>    "local": "서비스 조건·기한·신청 창구를 연결하는 홈페이지 탐색 지원",</a:t>
            </a:r>
          </a:p>
          <a:p xmlns:a="http://schemas.openxmlformats.org/drawingml/2006/main">
            <a:r>
              <a:t>    "sourceDetail": "데이터 수집·갱신→RAG→의도 기반 답변·유사공고 비교→원문 연결; 오류·만족도 관리",</a:t>
            </a:r>
          </a:p>
          <a:p xmlns:a="http://schemas.openxmlformats.org/drawingml/2006/main">
            <a:r>
              <a:t>    "narrative": [</a:t>
            </a:r>
          </a:p>
          <a:p xmlns:a="http://schemas.openxmlformats.org/drawingml/2006/main">
            <a:r>
              <a:t>      "경기도 홈페이지에 축적된 정책·복지·공고 정보를 자연어로 찾도록 하는 검색 접점 고도화. 국민의 요청을 신청 자격·지역·기간 등의 조건으로 정리하고, 맞는 공고와 기존 신청 화면으로 연결하는 업무.",</a:t>
            </a:r>
          </a:p>
          <a:p xmlns:a="http://schemas.openxmlformats.org/drawingml/2006/main">
            <a:r>
              <a:t>      "원문 서비스 도면은 홈페이지 RDB의 대상 자료를 공공클라우드 RAG 영역에 수집·임베딩하고, 질의와 검색 근거를 외부 LLM에 전달한 뒤 홈페이지 채팅 UI로 답변하는 구성. 기능도에는 데이터·프롬프트·이력·모델·통계를 별도 관리 영역으로 명시.",</a:t>
            </a:r>
          </a:p>
          <a:p xmlns:a="http://schemas.openxmlformats.org/drawingml/2006/main">
            <a:r>
              <a:t>      "챗봇이 답한 것과 국민이 원하는 서비스를 찾은 것을 구분해 평가할 사례. 마감 공고·지역 불일치·자격 예외를 포함한 질문으로 원문 링크 도달과 다음 절차 안내를 검증할 필요. TS 대국민 접점에서는 기존 메뉴·신청 시스템을 유지하면서 자연어·음성 진입을 추가하는 방향."</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"SFR-003",</a:t>
            </a:r>
          </a:p>
          <a:p xmlns:a="http://schemas.openxmlformats.org/drawingml/2006/main">
            <a:r>
              <a:t>        "title": "생성형 AI 챗봇 검색 서비스 대상 데이터 수집·정제·전처리",</a:t>
            </a:r>
          </a:p>
          <a:p xmlns:a="http://schemas.openxmlformats.org/drawingml/2006/main">
            <a:r>
              <a:t>        "locator": "SFR-003",</a:t>
            </a:r>
          </a:p>
          <a:p xmlns:a="http://schemas.openxmlformats.org/drawingml/2006/main">
            <a:r>
              <a:t>        "summary": "정책·복지·공고 등 대상 데이터를 수집하고 정제·전처리하는 기능.",</a:t>
            </a:r>
          </a:p>
          <a:p xmlns:a="http://schemas.openxmlformats.org/drawingml/2006/main">
            <a:r>
              <a:t>        "data": "홈페이지 원문·파일 → 정규화 자료·메타데이터",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a:t>
            </a:r>
          </a:p>
          <a:p xmlns:a="http://schemas.openxmlformats.org/drawingml/2006/main">
            <a:r>
              <a:t>        "acceptance": "첨부·표·중복 URL·깨진 링크 입력의 수집 범위와 정제 결과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"dfce571aa07ad0601b331c6afaa46c57d8ef4ad8975cae48c8c928272ce53768"</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"실시간 데이터 파이프라인 자동화 구축",</a:t>
            </a:r>
          </a:p>
          <a:p xmlns:a="http://schemas.openxmlformats.org/drawingml/2006/main">
            <a:r>
              <a:t>        "locator": "SFR-004",</a:t>
            </a:r>
          </a:p>
          <a:p xmlns:a="http://schemas.openxmlformats.org/drawingml/2006/main">
            <a:r>
              <a:t>        "summary": "신규·변경 정보를 반영하는 데이터 파이프라인 자동화.",</a:t>
            </a:r>
          </a:p>
          <a:p xmlns:a="http://schemas.openxmlformats.org/drawingml/2006/main">
            <a:r>
              <a:t>        "data": "원천 변경·스케줄 → 갱신된 검색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"공고 수정·종료·삭제 후 색인 갱신과 수집 실패 후 재개 결과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"6d77f8fe82e84d8c671fdea123a554f2f2c061d91a1941d599146f167079e57e"</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"RAG(Retrieval Augmented Generation) 구축",</a:t>
            </a:r>
          </a:p>
          <a:p xmlns:a="http://schemas.openxmlformats.org/drawingml/2006/main">
            <a:r>
              <a:t>        "locator": "SFR-005",</a:t>
            </a:r>
          </a:p>
          <a:p xmlns:a="http://schemas.openxmlformats.org/drawingml/2006/main">
            <a:r>
              <a:t>        "summary": "정제 자료를 검색 근거로 제공하는 RAG 기반 구성.",</a:t>
            </a:r>
          </a:p>
          <a:p xmlns:a="http://schemas.openxmlformats.org/drawingml/2006/main">
            <a:r>
              <a:t>        "data": "사용자 질문·정책 색인 → 근거 문서·답변 문맥",</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"C11"</a:t>
            </a:r>
          </a:p>
          <a:p xmlns:a="http://schemas.openxmlformats.org/drawingml/2006/main">
            <a:r>
              <a:t>        ],</a:t>
            </a:r>
          </a:p>
          <a:p xmlns:a="http://schemas.openxmlformats.org/drawingml/2006/main">
            <a:r>
              <a:t>        "acceptance": "기간·지역·대상 조건이 다른 유사 정책의 구분과 근거 페이지 정확성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"02d312ae74d0ddf4dd06d7e84e79461aa2f4bb7664d9f657f22281c8d145bf02"</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"생성형 AI 챗봇 검색 서비스 개발",</a:t>
            </a:r>
          </a:p>
          <a:p xmlns:a="http://schemas.openxmlformats.org/drawingml/2006/main">
            <a:r>
              <a:t>        "locator": "SFR-006",</a:t>
            </a:r>
          </a:p>
          <a:p xmlns:a="http://schemas.openxmlformats.org/drawingml/2006/main">
            <a:r>
              <a:t>        "summary": "도민의 대화형 정보 탐색을 위한 챗봇·검색 서비스 구현.",</a:t>
            </a:r>
          </a:p>
          <a:p xmlns:a="http://schemas.openxmlformats.org/drawingml/2006/main">
            <a:r>
              <a:t>        "data": "자연어 문의·추가 조건 → 안내·공식 서비스 연결",</a:t>
            </a:r>
          </a:p>
          <a:p xmlns:a="http://schemas.openxmlformats.org/drawingml/2006/main">
            <a:r>
              <a:t>        "components": [</a:t>
            </a:r>
          </a:p>
          <a:p xmlns:a="http://schemas.openxmlformats.org/drawingml/2006/main">
            <a:r>
              <a:t>          "C01",</a:t>
            </a:r>
          </a:p>
          <a:p xmlns:a="http://schemas.openxmlformats.org/drawingml/2006/main">
            <a:r>
              <a:t>          "C02",</a:t>
            </a:r>
          </a:p>
          <a:p xmlns:a="http://schemas.openxmlformats.org/drawingml/2006/main">
            <a:r>
              <a:t>          "C06"</a:t>
            </a:r>
          </a:p>
          <a:p xmlns:a="http://schemas.openxmlformats.org/drawingml/2006/main">
            <a:r>
              <a:t>        ],</a:t>
            </a:r>
          </a:p>
          <a:p xmlns:a="http://schemas.openxmlformats.org/drawingml/2006/main">
            <a:r>
              <a:t>        "acceptance": "모호한 문의의 추가 질문, 잘못된 서비스 링크, 응답 실패 시 기존 탐색 경로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"b2087cef15831463cccbd35ddb28248885288bfed8bbcafeed9bc7066f08417e"</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"홈페이지 챗봇",</a:t>
            </a:r>
          </a:p>
          <a:p xmlns:a="http://schemas.openxmlformats.org/drawingml/2006/main">
            <a:r>
              <a:t>          "layer": "이용 접점",</a:t>
            </a:r>
          </a:p>
          <a:p xmlns:a="http://schemas.openxmlformats.org/drawingml/2006/main">
            <a:r>
              <a:t>          "detail": "도민·홈페이지 운영자",</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"지역·대상·기간",</a:t>
            </a:r>
          </a:p>
          <a:p xmlns:a="http://schemas.openxmlformats.org/drawingml/2006/main">
            <a:r>
              <a:t>          "layer": "업무 문맥",</a:t>
            </a:r>
          </a:p>
          <a:p xmlns:a="http://schemas.openxmlformats.org/drawingml/2006/main">
            <a:r>
              <a:t>          "detail": "요청 목적·대상 조건·대화 이력 구성",</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"유효 공고 검색",</a:t>
            </a:r>
          </a:p>
          <a:p xmlns:a="http://schemas.openxmlformats.org/drawingml/2006/main">
            <a:r>
              <a:t>          "layer": "자료 조회",</a:t>
            </a:r>
          </a:p>
          <a:p xmlns:a="http://schemas.openxmlformats.org/drawingml/2006/main">
            <a:r>
              <a:t>          "detail": "질문·지역",</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"의도·조건 비교",</a:t>
            </a:r>
          </a:p>
          <a:p xmlns:a="http://schemas.openxmlformats.org/drawingml/2006/main">
            <a:r>
              <a:t>          "layer": "핵심 처리",</a:t>
            </a:r>
          </a:p>
          <a:p xmlns:a="http://schemas.openxmlformats.org/drawingml/2006/main">
            <a:r>
              <a:t>          "detail": "의도 분석과 RAG 응답·공고 비교",</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"마감·자격 검사",</a:t>
            </a:r>
          </a:p>
          <a:p xmlns:a="http://schemas.openxmlformats.org/drawingml/2006/main">
            <a:r>
              <a:t>          "layer": "결과 검증",</a:t>
            </a:r>
          </a:p>
          <a:p xmlns:a="http://schemas.openxmlformats.org/drawingml/2006/main">
            <a:r>
              <a:t>          "detail": "유효기간·대상조건·링크 점검",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"이용자 조건 확인",</a:t>
            </a:r>
          </a:p>
          <a:p xmlns:a="http://schemas.openxmlformats.org/drawingml/2006/main">
            <a:r>
              <a:t>          "layer": "사람 확인",</a:t>
            </a:r>
          </a:p>
          <a:p xmlns:a="http://schemas.openxmlformats.org/drawingml/2006/main">
            <a:r>
              <a:t>          "detail": "자격조건을 설명하고 관련 공고와 신청 페이지 비교",</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"공식 신청 안내",</a:t>
            </a:r>
          </a:p>
          <a:p xmlns:a="http://schemas.openxmlformats.org/drawingml/2006/main">
            <a:r>
              <a:t>          "layer": "업무 연결",</a:t>
            </a:r>
          </a:p>
          <a:p xmlns:a="http://schemas.openxmlformats.org/drawingml/2006/main">
            <a:r>
              <a:t>          "detail": "출처 링크와 신청 안내 페이지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"오류·만족도 분석",</a:t>
            </a:r>
          </a:p>
          <a:p xmlns:a="http://schemas.openxmlformats.org/drawingml/2006/main">
            <a:r>
              <a:t>          "layer": "운영 관측",</a:t>
            </a:r>
          </a:p>
          <a:p xmlns:a="http://schemas.openxmlformats.org/drawingml/2006/main">
            <a:r>
              <a:t>          "detail": "예외 질문·오류·만족도 기반 지식 보완",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"홈페이지·공고 DB",</a:t>
            </a:r>
          </a:p>
          <a:p xmlns:a="http://schemas.openxmlformats.org/drawingml/2006/main">
            <a:r>
              <a:t>          "layer": "데이터 원천",</a:t>
            </a:r>
          </a:p>
          <a:p xmlns:a="http://schemas.openxmlformats.org/drawingml/2006/main">
            <a:r>
              <a:t>          "detail": "정책·공고 지식",</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"수집·갱신·벡터화",</a:t>
            </a:r>
          </a:p>
          <a:p xmlns:a="http://schemas.openxmlformats.org/drawingml/2006/main">
            <a:r>
              <a:t>          "layer": "준비·갱신",</a:t>
            </a:r>
          </a:p>
          <a:p xmlns:a="http://schemas.openxmlformats.org/drawingml/2006/main">
            <a:r>
              <a:t>          "detail": "홈페이지 문서 수집·전처리·변경 반영",</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"공공클라우드 RAG",</a:t>
            </a:r>
          </a:p>
          <a:p xmlns:a="http://schemas.openxmlformats.org/drawingml/2006/main">
            <a:r>
              <a:t>          "layer": "상태·지식 저장",</a:t>
            </a:r>
          </a:p>
          <a:p xmlns:a="http://schemas.openxmlformats.org/drawingml/2006/main">
            <a:r>
              <a:t>          "detail": "조건·기한별 정답 공고와 원문 링크·변경 반영 시각",</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"외부 LLM 연결경계",</a:t>
            </a:r>
          </a:p>
          <a:p xmlns:a="http://schemas.openxmlformats.org/drawingml/2006/main">
            <a:r>
              <a:t>          "layer": "권한·정책",</a:t>
            </a:r>
          </a:p>
          <a:p xmlns:a="http://schemas.openxmlformats.org/drawingml/2006/main">
            <a:r>
              <a:t>          "detail": "마감 공고·유사한 다른 제도·갱신 전 색인",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"요청 목적·대상 조건·대화 이력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"질문·지역",</a:t>
            </a:r>
          </a:p>
          <a:p xmlns:a="http://schemas.openxmlformats.org/drawingml/2006/main">
            <a:r>
              <a:t>          "check": "유효기간·대상조건·링크 점검"</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"유효 공고",</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"조건 비교",</a:t>
            </a:r>
          </a:p>
          <a:p xmlns:a="http://schemas.openxmlformats.org/drawingml/2006/main">
            <a:r>
              <a:t>          "check": "마감 공고·유사한 다른 제도·갱신 전 색인"</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"조건 비교",</a:t>
            </a:r>
          </a:p>
          <a:p xmlns:a="http://schemas.openxmlformats.org/drawingml/2006/main">
            <a:r>
              <a:t>          "check": "출처 링크와 신청 안내 페이지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"공식 페이지",</a:t>
            </a:r>
          </a:p>
          <a:p xmlns:a="http://schemas.openxmlformats.org/drawingml/2006/main">
            <a:r>
              <a:t>          "check": "조건·기한별 정답 공고와 원문 링크·변경 반영 시각"</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"생성형 AI 서비스 아키텍처 구성도, SFR-003~006",</a:t>
            </a:r>
          </a:p>
          <a:p xmlns:a="http://schemas.openxmlformats.org/drawingml/2006/main">
            <a:r>
              <a:t>        "extracted": "홈페이지 RDB → 공공클라우드 Vector DB → 외부 LLM 연결",</a:t>
            </a:r>
          </a:p>
          <a:p xmlns:a="http://schemas.openxmlformats.org/drawingml/2006/main">
            <a:r>
              <a:t>        "extension": "공고 마감·지역·자격조건 대조 및 신청 링크 검증"</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"PF-R05",</a:t>
            </a:r>
          </a:p>
          <a:p xmlns:a="http://schemas.openxmlformats.org/drawingml/2006/main">
            <a:r>
              <a:t>          "path": "assets/casebook-sources/PF-R05-01.png",</a:t>
            </a:r>
          </a:p>
          <a:p xmlns:a="http://schemas.openxmlformats.org/drawingml/2006/main">
            <a:r>
              <a:t>          "title": "홈페이지 AI 목표기능",</a:t>
            </a:r>
          </a:p>
          <a:p xmlns:a="http://schemas.openxmlformats.org/drawingml/2006/main">
            <a:r>
              <a:t>          "status": "RFP 목표기능 구성도",</a:t>
            </a:r>
          </a:p>
          <a:p xmlns:a="http://schemas.openxmlformats.org/drawingml/2006/main">
            <a:r>
              <a:t>          "caption": "챗봇·RAG·데이터 파이프라인·모델 관리의 분리",</a:t>
            </a:r>
          </a:p>
          <a:p xmlns:a="http://schemas.openxmlformats.org/drawingml/2006/main">
            <a:r>
              <a:t>          "locator": "rId17 / BinData/image3_png",</a:t>
            </a:r>
          </a:p>
          <a:p xmlns:a="http://schemas.openxmlformats.org/drawingml/2006/main">
            <a:r>
              <a:t>          "checked": "2026-10-16",</a:t>
            </a:r>
          </a:p>
          <a:p xmlns:a="http://schemas.openxmlformats.org/drawingml/2006/main">
            <a:r>
              <a:t>          "sha256": "dbf8455e9d661c8a3db51e5677f25fc751cb2ade3a7b0abaf602d57a8aaf1ba8",</a:t>
            </a:r>
          </a:p>
          <a:p xmlns:a="http://schemas.openxmlformats.org/drawingml/2006/main">
            <a:r>
              <a:t>          "explanation": {</a:t>
            </a:r>
          </a:p>
          <a:p xmlns:a="http://schemas.openxmlformats.org/drawingml/2006/main">
            <a:r>
              <a:t>            "read": "도민의 대화형 탐색 접점에서 정책·복지·공고 정보의 검색과 AI 응답을 제공하는 목표 기능 구조. 대화 응답 이후 실제 신청 서비스로 이동하는 연결이 업무 완료의 다음 단계.",</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"SFR-005",</a:t>
            </a:r>
          </a:p>
          <a:p xmlns:a="http://schemas.openxmlformats.org/drawingml/2006/main">
            <a:r>
              <a:t>              "SFR-006"</a:t>
            </a:r>
          </a:p>
          <a:p xmlns:a="http://schemas.openxmlformats.org/drawingml/2006/main">
            <a:r>
              <a:t>            ],</a:t>
            </a:r>
          </a:p>
          <a:p xmlns:a="http://schemas.openxmlformats.org/drawingml/2006/main">
            <a:r>
              <a:t>            "connection": "지역·대상·신청기간의 추가 질문과 공식 신청 링크를 구성하고 답변 정확도와 신청 화면 도달률을 분리해 평가하는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"PF-R05",</a:t>
            </a:r>
          </a:p>
          <a:p xmlns:a="http://schemas.openxmlformats.org/drawingml/2006/main">
            <a:r>
              <a:t>          "path": "assets/casebook-sources/PF-R05-02.png",</a:t>
            </a:r>
          </a:p>
          <a:p xmlns:a="http://schemas.openxmlformats.org/drawingml/2006/main">
            <a:r>
              <a:t>          "title": "홈페이지–RAG–외부 LLM",</a:t>
            </a:r>
          </a:p>
          <a:p xmlns:a="http://schemas.openxmlformats.org/drawingml/2006/main">
            <a:r>
              <a:t>          "status": "RFP 서비스 아키텍처 구성도",</a:t>
            </a:r>
          </a:p>
          <a:p xmlns:a="http://schemas.openxmlformats.org/drawingml/2006/main">
            <a:r>
              <a:t>          "caption": "홈페이지 RDB → 공공클라우드 Vector DB → 외부 LLM",</a:t>
            </a:r>
          </a:p>
          <a:p xmlns:a="http://schemas.openxmlformats.org/drawingml/2006/main">
            <a:r>
              <a:t>          "locator": "rId17 / BinData/image4_bmp",</a:t>
            </a:r>
          </a:p>
          <a:p xmlns:a="http://schemas.openxmlformats.org/drawingml/2006/main">
            <a:r>
              <a:t>          "checked": "2026-10-16",</a:t>
            </a:r>
          </a:p>
          <a:p xmlns:a="http://schemas.openxmlformats.org/drawingml/2006/main">
            <a:r>
              <a:t>          "sha256": "04b7bff411913589529c68490addbddd2c84b7abce61ecd7c873e971bab7bf7e",</a:t>
            </a:r>
          </a:p>
          <a:p xmlns:a="http://schemas.openxmlformats.org/drawingml/2006/main">
            <a:r>
              <a:t>          "explanation": {</a:t>
            </a:r>
          </a:p>
          <a:p xmlns:a="http://schemas.openxmlformats.org/drawingml/2006/main">
            <a:r>
              <a:t>            "read": "홈페이지 RDB의 자료를 공공클라우드 검색 계층으로 반영하고 검색 근거를 외부 LLM에 전달하는 구조. 원천 데이터 갱신과 이용자 질문의 실시간 처리를 나누는 연결.",</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"SFR-005"</a:t>
            </a:r>
          </a:p>
          <a:p xmlns:a="http://schemas.openxmlformats.org/drawingml/2006/main">
            <a:r>
              <a:t>            ],</a:t>
            </a:r>
          </a:p>
          <a:p xmlns:a="http://schemas.openxmlformats.org/drawingml/2006/main">
            <a:r>
              <a:t>            "connection": "원천 수정·종료·삭제가 색인에 반영되는지 추적하고 외부 전송 문맥과 답변 인용의 출처·판본을 보존하는 데이터 흐름."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"마감 공고·유사한 다른 제도·갱신 전 색인",</a:t>
            </a:r>
          </a:p>
          <a:p xmlns:a="http://schemas.openxmlformats.org/drawingml/2006/main">
            <a:r>
              <a:t>        "hold": "유효기간·대상조건·링크 점검",</a:t>
            </a:r>
          </a:p>
          <a:p xmlns:a="http://schemas.openxmlformats.org/drawingml/2006/main">
            <a:r>
              <a:t>        "recovery": "예외 질문·오류·만족도 기반 지식 보완",</a:t>
            </a:r>
          </a:p>
          <a:p xmlns:a="http://schemas.openxmlformats.org/drawingml/2006/main">
            <a:r>
              <a:t>        "evidence": "조건·기한별 정답 공고와 원문 링크·변경 반영 시각"</a:t>
            </a:r>
          </a:p>
          <a:p xmlns:a="http://schemas.openxmlformats.org/drawingml/2006/main">
            <a:r>
              <a:t>      },</a:t>
            </a:r>
          </a:p>
          <a:p xmlns:a="http://schemas.openxmlformats.org/drawingml/2006/main">
            <a:r>
              <a:t>      "data": {</a:t>
            </a:r>
          </a:p>
          <a:p xmlns:a="http://schemas.openxmlformats.org/drawingml/2006/main">
            <a:r>
              <a:t>        "source": "정책·공고 지식",</a:t>
            </a:r>
          </a:p>
          <a:p xmlns:a="http://schemas.openxmlformats.org/drawingml/2006/main">
            <a:r>
              <a:t>        "prepare": "홈페이지 문서 수집·전처리·변경 반영",</a:t>
            </a:r>
          </a:p>
          <a:p xmlns:a="http://schemas.openxmlformats.org/drawingml/2006/main">
            <a:r>
              <a:t>        "output": "질문·지역",</a:t>
            </a:r>
          </a:p>
          <a:p xmlns:a="http://schemas.openxmlformats.org/drawingml/2006/main">
            <a:r>
              <a:t>        "refresh": "예외 질문·오류·만족도 기반 지식 보완"</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"PF-R05",</a:t>
            </a:r>
          </a:p>
          <a:p xmlns:a="http://schemas.openxmlformats.org/drawingml/2006/main">
            <a:r>
              <a:t>    "success": [</a:t>
            </a:r>
          </a:p>
          <a:p xmlns:a="http://schemas.openxmlformats.org/drawingml/2006/main">
            <a:r>
              <a:t>      "정책·복지·공고의 통합 탐색",</a:t>
            </a:r>
          </a:p>
          <a:p xmlns:a="http://schemas.openxmlformats.org/drawingml/2006/main">
            <a:r>
              <a:t>      "원문을 통한 후속 절차 연결"</a:t>
            </a:r>
          </a:p>
          <a:p xmlns:a="http://schemas.openxmlformats.org/drawingml/2006/main">
            <a:r>
              <a:t>    ],</a:t>
            </a:r>
          </a:p>
          <a:p xmlns:a="http://schemas.openxmlformats.org/drawingml/2006/main">
            <a:r>
              <a:t>    "risks": [</a:t>
            </a:r>
          </a:p>
          <a:p xmlns:a="http://schemas.openxmlformats.org/drawingml/2006/main">
            <a:r>
              <a:t>      "마감·지역·자격조건 오안내",</a:t>
            </a:r>
          </a:p>
          <a:p xmlns:a="http://schemas.openxmlformats.org/drawingml/2006/main">
            <a:r>
              <a:t>      "착수와 정식 운영 성과의 차이"</a:t>
            </a:r>
          </a:p>
          <a:p xmlns:a="http://schemas.openxmlformats.org/drawingml/2006/main">
            <a:r>
              <a:t>    ],</a:t>
            </a:r>
          </a:p>
          <a:p xmlns:a="http://schemas.openxmlformats.org/drawingml/2006/main">
            <a:r>
              <a:t>    "architecture": [</a:t>
            </a:r>
          </a:p>
          <a:p xmlns:a="http://schemas.openxmlformats.org/drawingml/2006/main">
            <a:r>
              <a:t>      "도민 대화",</a:t>
            </a:r>
          </a:p>
          <a:p xmlns:a="http://schemas.openxmlformats.org/drawingml/2006/main">
            <a:r>
              <a:t>      "의도 분류·정보 비교",</a:t>
            </a:r>
          </a:p>
          <a:p xmlns:a="http://schemas.openxmlformats.org/drawingml/2006/main">
            <a:r>
              <a:t>      "정책·공고 지식",</a:t>
            </a:r>
          </a:p>
          <a:p xmlns:a="http://schemas.openxmlformats.org/drawingml/2006/main">
            <a:r>
              <a:t>      "원문 안내"</a:t>
            </a:r>
          </a:p>
          <a:p xmlns:a="http://schemas.openxmlformats.org/drawingml/2006/main">
            <a:r>
              <a:t>    ],</a:t>
            </a:r>
          </a:p>
          <a:p xmlns:a="http://schemas.openxmlformats.org/drawingml/2006/main">
            <a:r>
              <a:t>    "transfers": [</a:t>
            </a:r>
          </a:p>
          <a:p xmlns:a="http://schemas.openxmlformats.org/drawingml/2006/main">
            <a:r>
              <a:t>      "질문·지역",</a:t>
            </a:r>
          </a:p>
          <a:p xmlns:a="http://schemas.openxmlformats.org/drawingml/2006/main">
            <a:r>
              <a:t>      "유효 공고",</a:t>
            </a:r>
          </a:p>
          <a:p xmlns:a="http://schemas.openxmlformats.org/drawingml/2006/main">
            <a:r>
              <a:t>      "조건 비교",</a:t>
            </a:r>
          </a:p>
          <a:p xmlns:a="http://schemas.openxmlformats.org/drawingml/2006/main">
            <a:r>
              <a:t>      "공식 페이지"</a:t>
            </a:r>
          </a:p>
          <a:p xmlns:a="http://schemas.openxmlformats.org/drawingml/2006/main">
            <a:r>
              <a:t>    ],</a:t>
            </a:r>
          </a:p>
          <a:p xmlns:a="http://schemas.openxmlformats.org/drawingml/2006/main">
            <a:r>
              <a:t>    "control": "유효기간·대상조건·링크 점검",</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SFR-003~006, PER-003 / Word T062 https://www.g2b.go.kr/pn/pnp/pnpe/UntyAtchFile/downloadFile.do?bidPbancNo=R25BK00751232&amp;bidPbancOrd=000&amp;fileType=&amp;fileSeq=2&amp;prcmBsneSeCd=03</a:t>
            </a:r>
          </a:p>
          <a:p xmlns:a="http://schemas.openxmlformats.org/drawingml/2006/main">
            <a:r>
              <a:t>홈페이지 https://heen1987-ops.github.io/TS-business-Plan-001/index.html?view=platform-cases&amp;case=PF-R05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"PF-R05",</a:t>
            </a:r>
          </a:p>
          <a:p xmlns:a="http://schemas.openxmlformats.org/drawingml/2006/main">
            <a:r>
              <a:t>    "sourceId": "R05",</a:t>
            </a:r>
          </a:p>
          <a:p xmlns:a="http://schemas.openxmlformats.org/drawingml/2006/main">
            <a:r>
              <a:t>    "title": "경기도 대화형 정보 탐색",</a:t>
            </a:r>
          </a:p>
          <a:p xmlns:a="http://schemas.openxmlformats.org/drawingml/2006/main">
            <a:r>
              <a:t>    "region": "국내",</a:t>
            </a:r>
          </a:p>
          <a:p xmlns:a="http://schemas.openxmlformats.org/drawingml/2006/main">
            <a:r>
              <a:t>    "owner": "경기도",</a:t>
            </a:r>
          </a:p>
          <a:p xmlns:a="http://schemas.openxmlformats.org/drawingml/2006/main">
            <a:r>
              <a:t>    "state": "공식 RFP·착수 발표 확인 / 정식 운영 성과 미확인",</a:t>
            </a:r>
          </a:p>
          <a:p xmlns:a="http://schemas.openxmlformats.org/drawingml/2006/main">
            <a:r>
              <a:t>    "period": "기존 원장 확인 2026.10.16",</a:t>
            </a:r>
          </a:p>
          <a:p xmlns:a="http://schemas.openxmlformats.org/drawingml/2006/main">
            <a:r>
              <a:t>    "fact": "홈페이지 정책·복지·공고를 도민이 대화로 탐색하는 서비스",</a:t>
            </a:r>
          </a:p>
          <a:p xmlns:a="http://schemas.openxmlformats.org/drawingml/2006/main">
            <a:r>
              <a:t>    "limit": "착수자료의 2025년 11월 예정과 실제 개시·정량 성과를 구분",</a:t>
            </a:r>
          </a:p>
          <a:p xmlns:a="http://schemas.openxmlformats.org/drawingml/2006/main">
            <a:r>
              <a:t>    "nodes": [</a:t>
            </a:r>
          </a:p>
          <a:p xmlns:a="http://schemas.openxmlformats.org/drawingml/2006/main">
            <a:r>
              <a:t>      "정책·공고",</a:t>
            </a:r>
          </a:p>
          <a:p xmlns:a="http://schemas.openxmlformats.org/drawingml/2006/main">
            <a:r>
              <a:t>      "지식 갱신",</a:t>
            </a:r>
          </a:p>
          <a:p xmlns:a="http://schemas.openxmlformats.org/drawingml/2006/main">
            <a:r>
              <a:t>      "의도·정보 비교",</a:t>
            </a:r>
          </a:p>
          <a:p xmlns:a="http://schemas.openxmlformats.org/drawingml/2006/main">
            <a:r>
              <a:t>      "원문 안내"</a:t>
            </a:r>
          </a:p>
          <a:p xmlns:a="http://schemas.openxmlformats.org/drawingml/2006/main">
            <a:r>
              <a:t>    ],</a:t>
            </a:r>
          </a:p>
          <a:p xmlns:a="http://schemas.openxmlformats.org/drawingml/2006/main">
            <a:r>
              <a:t>    "apply": "서비스 조건·기한·신청 창구를 연결하는 홈페이지 탐색 지원",</a:t>
            </a:r>
          </a:p>
          <a:p xmlns:a="http://schemas.openxmlformats.org/drawingml/2006/main">
            <a:r>
              <a:t>    "delta": "서비스·조건·기한 사전 / 유사 공고 비교 / 원문·신청 경로 연결",</a:t>
            </a:r>
          </a:p>
          <a:p xmlns:a="http://schemas.openxmlformats.org/drawingml/2006/main">
            <a:r>
              <a:t>    "test": "마감·유사 공고·갱신 지연 질의의 조건 일치와 서비스 도달 확인",</a:t>
            </a:r>
          </a:p>
          <a:p xmlns:a="http://schemas.openxmlformats.org/drawingml/2006/main">
            <a:r>
              <a:t>    "url": "https://www.g2b.go.kr/pn/pnp/pnpe/UntyAtchFile/downloadFile.do?bidPbancNo=R25BK00751232&amp;bidPbancOrd=000&amp;fileType=&amp;fileSeq=2&amp;prcmBsneSeCd=03",</a:t>
            </a:r>
          </a:p>
          <a:p xmlns:a="http://schemas.openxmlformats.org/drawingml/2006/main">
            <a:r>
              <a:t>    "urls": [</a:t>
            </a:r>
          </a:p>
          <a:p xmlns:a="http://schemas.openxmlformats.org/drawingml/2006/main">
            <a:r>
              <a:t>      "https://www.g2b.go.kr/pn/pnp/pnpe/UntyAtchFile/downloadFile.do?bidPbancNo=R25BK00751232&amp;bidPbancOrd=000&amp;fileType=&amp;fileSeq=2&amp;prcmBsneSeCd=03",</a:t>
            </a:r>
          </a:p>
          <a:p xmlns:a="http://schemas.openxmlformats.org/drawingml/2006/main">
            <a:r>
              <a:t>      "https://gnews.gg.go.kr/briefing/brief_gongbo_view.do?BS_CODE=s017&amp;number=66171"</a:t>
            </a:r>
          </a:p>
          <a:p xmlns:a="http://schemas.openxmlformats.org/drawingml/2006/main">
            <a:r>
              <a:t>    ],</a:t>
            </a:r>
          </a:p>
          <a:p xmlns:a="http://schemas.openxmlformats.org/drawingml/2006/main">
            <a:r>
              <a:t>    "basis": "SFR-003~006, PER-003 / Word T062",</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"정확한 공고 도달률 / 탐색시간 / 이용 포기율",</a:t>
            </a:r>
          </a:p>
          <a:p xmlns:a="http://schemas.openxmlformats.org/drawingml/2006/main">
            <a:r>
              <a:t>    "group": "요구·구축",</a:t>
            </a:r>
          </a:p>
          <a:p xmlns:a="http://schemas.openxmlformats.org/drawingml/2006/main">
            <a:r>
              <a:t>    "sourceDetail": "데이터 수집·갱신→RAG→의도 기반 답변·유사공고 비교→원문 연결; 오류·만족도 관리",</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"PF-R05",</a:t>
            </a:r>
          </a:p>
          <a:p xmlns:a="http://schemas.openxmlformats.org/drawingml/2006/main">
            <a:r>
              <a:t>    "canonicalId": "PF-R05",</a:t>
            </a:r>
          </a:p>
          <a:p xmlns:a="http://schemas.openxmlformats.org/drawingml/2006/main">
            <a:r>
              <a:t>    "purpose": "정책·복지·공고의 대화형 탐색",</a:t>
            </a:r>
          </a:p>
          <a:p xmlns:a="http://schemas.openxmlformats.org/drawingml/2006/main">
            <a:r>
              <a:t>    "users": "도민·홈페이지 운영자",</a:t>
            </a:r>
          </a:p>
          <a:p xmlns:a="http://schemas.openxmlformats.org/drawingml/2006/main">
            <a:r>
              <a:t>    "scope": [</a:t>
            </a:r>
          </a:p>
          <a:p xmlns:a="http://schemas.openxmlformats.org/drawingml/2006/main">
            <a:r>
              <a:t>      "자연어 탐색",</a:t>
            </a:r>
          </a:p>
          <a:p xmlns:a="http://schemas.openxmlformats.org/drawingml/2006/main">
            <a:r>
              <a:t>      "유사공고 비교",</a:t>
            </a:r>
          </a:p>
          <a:p xmlns:a="http://schemas.openxmlformats.org/drawingml/2006/main">
            <a:r>
              <a:t>      "원문 연결"</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"도민 대화",</a:t>
            </a:r>
          </a:p>
          <a:p xmlns:a="http://schemas.openxmlformats.org/drawingml/2006/main">
            <a:r>
              <a:t>        "detail": "요청 목적·대상 조건·대화 이력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"자연어 탐색 / 유사공고 비교 / 원문 연결",</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"의도 분류·정보 비교",</a:t>
            </a:r>
          </a:p>
          <a:p xmlns:a="http://schemas.openxmlformats.org/drawingml/2006/main">
            <a:r>
              <a:t>        "detail": "의도 분석과 RAG 응답·공고 비교",</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"원문 안내",</a:t>
            </a:r>
          </a:p>
          <a:p xmlns:a="http://schemas.openxmlformats.org/drawingml/2006/main">
            <a:r>
              <a:t>        "detail": "출처 링크와 신청 안내 페이지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"정책·공고 지식",</a:t>
            </a:r>
          </a:p>
          <a:p xmlns:a="http://schemas.openxmlformats.org/drawingml/2006/main">
            <a:r>
              <a:t>        "detail": "홈페이지 문서 수집·전처리·변경 반영",</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"예외 질문·오류·만족도 기반 지식 보완",</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"정책·공고",</a:t>
            </a:r>
          </a:p>
          <a:p xmlns:a="http://schemas.openxmlformats.org/drawingml/2006/main">
            <a:r>
              <a:t>        "input": "요청 목적·대상 조건·대화 이력 구성",</a:t>
            </a:r>
          </a:p>
          <a:p xmlns:a="http://schemas.openxmlformats.org/drawingml/2006/main">
            <a:r>
              <a:t>        "process": "홈페이지 문서 수집·전처리·변경 반영",</a:t>
            </a:r>
          </a:p>
          <a:p xmlns:a="http://schemas.openxmlformats.org/drawingml/2006/main">
            <a:r>
              <a:t>        "output": "질문·지역"</a:t>
            </a:r>
          </a:p>
          <a:p xmlns:a="http://schemas.openxmlformats.org/drawingml/2006/main">
            <a:r>
              <a:t>      },</a:t>
            </a:r>
          </a:p>
          <a:p xmlns:a="http://schemas.openxmlformats.org/drawingml/2006/main">
            <a:r>
              <a:t>      {</a:t>
            </a:r>
          </a:p>
          <a:p xmlns:a="http://schemas.openxmlformats.org/drawingml/2006/main">
            <a:r>
              <a:t>        "title": "지식 갱신",</a:t>
            </a:r>
          </a:p>
          <a:p xmlns:a="http://schemas.openxmlformats.org/drawingml/2006/main">
            <a:r>
              <a:t>        "input": "질문·지역",</a:t>
            </a:r>
          </a:p>
          <a:p xmlns:a="http://schemas.openxmlformats.org/drawingml/2006/main">
            <a:r>
              <a:t>        "process": "의도 분석과 RAG 응답·공고 비교",</a:t>
            </a:r>
          </a:p>
          <a:p xmlns:a="http://schemas.openxmlformats.org/drawingml/2006/main">
            <a:r>
              <a:t>        "output": "유효 공고"</a:t>
            </a:r>
          </a:p>
          <a:p xmlns:a="http://schemas.openxmlformats.org/drawingml/2006/main">
            <a:r>
              <a:t>      },</a:t>
            </a:r>
          </a:p>
          <a:p xmlns:a="http://schemas.openxmlformats.org/drawingml/2006/main">
            <a:r>
              <a:t>      {</a:t>
            </a:r>
          </a:p>
          <a:p xmlns:a="http://schemas.openxmlformats.org/drawingml/2006/main">
            <a:r>
              <a:t>        "title": "의도·정보 비교",</a:t>
            </a:r>
          </a:p>
          <a:p xmlns:a="http://schemas.openxmlformats.org/drawingml/2006/main">
            <a:r>
              <a:t>        "input": "유효 공고",</a:t>
            </a:r>
          </a:p>
          <a:p xmlns:a="http://schemas.openxmlformats.org/drawingml/2006/main">
            <a:r>
              <a:t>        "process": "유효기간·대상조건·링크 점검",</a:t>
            </a:r>
          </a:p>
          <a:p xmlns:a="http://schemas.openxmlformats.org/drawingml/2006/main">
            <a:r>
              <a:t>        "output": "조건 비교"</a:t>
            </a:r>
          </a:p>
          <a:p xmlns:a="http://schemas.openxmlformats.org/drawingml/2006/main">
            <a:r>
              <a:t>      },</a:t>
            </a:r>
          </a:p>
          <a:p xmlns:a="http://schemas.openxmlformats.org/drawingml/2006/main">
            <a:r>
              <a:t>      {</a:t>
            </a:r>
          </a:p>
          <a:p xmlns:a="http://schemas.openxmlformats.org/drawingml/2006/main">
            <a:r>
              <a:t>        "title": "원문 안내",</a:t>
            </a:r>
          </a:p>
          <a:p xmlns:a="http://schemas.openxmlformats.org/drawingml/2006/main">
            <a:r>
              <a:t>        "input": "조건 비교",</a:t>
            </a:r>
          </a:p>
          <a:p xmlns:a="http://schemas.openxmlformats.org/drawingml/2006/main">
            <a:r>
              <a:t>        "process": "출처 링크와 신청 안내 페이지 제공",</a:t>
            </a:r>
          </a:p>
          <a:p xmlns:a="http://schemas.openxmlformats.org/drawingml/2006/main">
            <a:r>
              <a:t>        "output": "공식 페이지"</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"자격조건을 설명하고 관련 공고와 신청 페이지 비교",</a:t>
            </a:r>
          </a:p>
          <a:p xmlns:a="http://schemas.openxmlformats.org/drawingml/2006/main">
            <a:r>
              <a:t>      "exception": "마감 공고·유사한 다른 제도·갱신 전 색인",</a:t>
            </a:r>
          </a:p>
          <a:p xmlns:a="http://schemas.openxmlformats.org/drawingml/2006/main">
            <a:r>
              <a:t>      "evidence": "조건·기한별 정답 공고와 원문 링크·변경 반영 시각",</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"도민·홈페이지 운영자",</a:t>
            </a:r>
          </a:p>
          <a:p xmlns:a="http://schemas.openxmlformats.org/drawingml/2006/main">
            <a:r>
              <a:t>          "processing": "요청 목적·대상 조건·대화 이력 구성",</a:t>
            </a:r>
          </a:p>
          <a:p xmlns:a="http://schemas.openxmlformats.org/drawingml/2006/main">
            <a:r>
              <a:t>          "output": "질문·지역"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"정책·공고 지식",</a:t>
            </a:r>
          </a:p>
          <a:p xmlns:a="http://schemas.openxmlformats.org/drawingml/2006/main">
            <a:r>
              <a:t>          "processing": "홈페이지 문서 수집·전처리·변경 반영",</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"질문·지역",</a:t>
            </a:r>
          </a:p>
          <a:p xmlns:a="http://schemas.openxmlformats.org/drawingml/2006/main">
            <a:r>
              <a:t>          "processing": "의도 분석과 RAG 응답·공고 비교",</a:t>
            </a:r>
          </a:p>
          <a:p xmlns:a="http://schemas.openxmlformats.org/drawingml/2006/main">
            <a:r>
              <a:t>          "output": "조건 비교"</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"조건 비교",</a:t>
            </a:r>
          </a:p>
          <a:p xmlns:a="http://schemas.openxmlformats.org/drawingml/2006/main">
            <a:r>
              <a:t>          "processing": "출처 링크와 신청 안내 페이지 제공",</a:t>
            </a:r>
          </a:p>
          <a:p xmlns:a="http://schemas.openxmlformats.org/drawingml/2006/main">
            <a:r>
              <a:t>          "output": "공식 페이지"</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"예외 질문·오류·만족도 기반 지식 보완",</a:t>
            </a:r>
          </a:p>
          <a:p xmlns:a="http://schemas.openxmlformats.org/drawingml/2006/main">
            <a:r>
              <a:t>          "output": "조건·기한별 정답 공고와 원문 링크·변경 반영 시각"</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"예외 질문·오류·만족도 기반 지식 보완",</a:t>
            </a:r>
          </a:p>
          <a:p xmlns:a="http://schemas.openxmlformats.org/drawingml/2006/main">
            <a:r>
              <a:t>    "status": "RFP 기반 논리 설계",</a:t>
            </a:r>
          </a:p>
          <a:p xmlns:a="http://schemas.openxmlformats.org/drawingml/2006/main">
            <a:r>
              <a:t>    "basis": "RFP · SFR-003~006",</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"SFR-003~006, PER-003 / Word T062",</a:t>
            </a:r>
          </a:p>
          <a:p xmlns:a="http://schemas.openxmlformats.org/drawingml/2006/main">
            <a:r>
              <a:t>        "url": "https://www.g2b.go.kr/pn/pnp/pnpe/UntyAtchFile/downloadFile.do?bidPbancNo=R25BK00751232&amp;bidPbancOrd=000&amp;fileType=&amp;fileSeq=2&amp;prcmBsneSeCd=03"</a:t>
            </a:r>
          </a:p>
          <a:p xmlns:a="http://schemas.openxmlformats.org/drawingml/2006/main">
            <a:r>
              <a:t>      }</a:t>
            </a:r>
          </a:p>
          <a:p xmlns:a="http://schemas.openxmlformats.org/drawingml/2006/main">
            <a:r>
              <a:t>    ],</a:t>
            </a:r>
          </a:p>
          <a:p xmlns:a="http://schemas.openxmlformats.org/drawingml/2006/main">
            <a:r>
              <a:t>    "implication": "서비스 조건·기한·신청 창구를 연결하는 홈페이지 탐색 지원",</a:t>
            </a:r>
          </a:p>
          <a:p xmlns:a="http://schemas.openxmlformats.org/drawingml/2006/main">
            <a:r>
              <a:t>    "local": "서비스 조건·기한·신청 창구를 연결하는 홈페이지 탐색 지원",</a:t>
            </a:r>
          </a:p>
          <a:p xmlns:a="http://schemas.openxmlformats.org/drawingml/2006/main">
            <a:r>
              <a:t>    "sourceDetail": "데이터 수집·갱신→RAG→의도 기반 답변·유사공고 비교→원문 연결; 오류·만족도 관리",</a:t>
            </a:r>
          </a:p>
          <a:p xmlns:a="http://schemas.openxmlformats.org/drawingml/2006/main">
            <a:r>
              <a:t>    "narrative": [</a:t>
            </a:r>
          </a:p>
          <a:p xmlns:a="http://schemas.openxmlformats.org/drawingml/2006/main">
            <a:r>
              <a:t>      "경기도 홈페이지에 축적된 정책·복지·공고 정보를 자연어로 찾도록 하는 검색 접점 고도화. 국민의 요청을 신청 자격·지역·기간 등의 조건으로 정리하고, 맞는 공고와 기존 신청 화면으로 연결하는 업무.",</a:t>
            </a:r>
          </a:p>
          <a:p xmlns:a="http://schemas.openxmlformats.org/drawingml/2006/main">
            <a:r>
              <a:t>      "원문 서비스 도면은 홈페이지 RDB의 대상 자료를 공공클라우드 RAG 영역에 수집·임베딩하고, 질의와 검색 근거를 외부 LLM에 전달한 뒤 홈페이지 채팅 UI로 답변하는 구성. 기능도에는 데이터·프롬프트·이력·모델·통계를 별도 관리 영역으로 명시.",</a:t>
            </a:r>
          </a:p>
          <a:p xmlns:a="http://schemas.openxmlformats.org/drawingml/2006/main">
            <a:r>
              <a:t>      "챗봇이 답한 것과 국민이 원하는 서비스를 찾은 것을 구분해 평가할 사례. 마감 공고·지역 불일치·자격 예외를 포함한 질문으로 원문 링크 도달과 다음 절차 안내를 검증할 필요. TS 대국민 접점에서는 기존 메뉴·신청 시스템을 유지하면서 자연어·음성 진입을 추가하는 방향."</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"SFR-003",</a:t>
            </a:r>
          </a:p>
          <a:p xmlns:a="http://schemas.openxmlformats.org/drawingml/2006/main">
            <a:r>
              <a:t>        "title": "생성형 AI 챗봇 검색 서비스 대상 데이터 수집·정제·전처리",</a:t>
            </a:r>
          </a:p>
          <a:p xmlns:a="http://schemas.openxmlformats.org/drawingml/2006/main">
            <a:r>
              <a:t>        "locator": "SFR-003",</a:t>
            </a:r>
          </a:p>
          <a:p xmlns:a="http://schemas.openxmlformats.org/drawingml/2006/main">
            <a:r>
              <a:t>        "summary": "정책·복지·공고 등 대상 데이터를 수집하고 정제·전처리하는 기능.",</a:t>
            </a:r>
          </a:p>
          <a:p xmlns:a="http://schemas.openxmlformats.org/drawingml/2006/main">
            <a:r>
              <a:t>        "data": "홈페이지 원문·파일 → 정규화 자료·메타데이터",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a:t>
            </a:r>
          </a:p>
          <a:p xmlns:a="http://schemas.openxmlformats.org/drawingml/2006/main">
            <a:r>
              <a:t>        "acceptance": "첨부·표·중복 URL·깨진 링크 입력의 수집 범위와 정제 결과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"dfce571aa07ad0601b331c6afaa46c57d8ef4ad8975cae48c8c928272ce53768"</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"실시간 데이터 파이프라인 자동화 구축",</a:t>
            </a:r>
          </a:p>
          <a:p xmlns:a="http://schemas.openxmlformats.org/drawingml/2006/main">
            <a:r>
              <a:t>        "locator": "SFR-004",</a:t>
            </a:r>
          </a:p>
          <a:p xmlns:a="http://schemas.openxmlformats.org/drawingml/2006/main">
            <a:r>
              <a:t>        "summary": "신규·변경 정보를 반영하는 데이터 파이프라인 자동화.",</a:t>
            </a:r>
          </a:p>
          <a:p xmlns:a="http://schemas.openxmlformats.org/drawingml/2006/main">
            <a:r>
              <a:t>        "data": "원천 변경·스케줄 → 갱신된 검색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"공고 수정·종료·삭제 후 색인 갱신과 수집 실패 후 재개 결과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"6d77f8fe82e84d8c671fdea123a554f2f2c061d91a1941d599146f167079e57e"</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"RAG(Retrieval Augmented Generation) 구축",</a:t>
            </a:r>
          </a:p>
          <a:p xmlns:a="http://schemas.openxmlformats.org/drawingml/2006/main">
            <a:r>
              <a:t>        "locator": "SFR-005",</a:t>
            </a:r>
          </a:p>
          <a:p xmlns:a="http://schemas.openxmlformats.org/drawingml/2006/main">
            <a:r>
              <a:t>        "summary": "정제 자료를 검색 근거로 제공하는 RAG 기반 구성.",</a:t>
            </a:r>
          </a:p>
          <a:p xmlns:a="http://schemas.openxmlformats.org/drawingml/2006/main">
            <a:r>
              <a:t>        "data": "사용자 질문·정책 색인 → 근거 문서·답변 문맥",</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"C11"</a:t>
            </a:r>
          </a:p>
          <a:p xmlns:a="http://schemas.openxmlformats.org/drawingml/2006/main">
            <a:r>
              <a:t>        ],</a:t>
            </a:r>
          </a:p>
          <a:p xmlns:a="http://schemas.openxmlformats.org/drawingml/2006/main">
            <a:r>
              <a:t>        "acceptance": "기간·지역·대상 조건이 다른 유사 정책의 구분과 근거 페이지 정확성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"02d312ae74d0ddf4dd06d7e84e79461aa2f4bb7664d9f657f22281c8d145bf02"</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"생성형 AI 챗봇 검색 서비스 개발",</a:t>
            </a:r>
          </a:p>
          <a:p xmlns:a="http://schemas.openxmlformats.org/drawingml/2006/main">
            <a:r>
              <a:t>        "locator": "SFR-006",</a:t>
            </a:r>
          </a:p>
          <a:p xmlns:a="http://schemas.openxmlformats.org/drawingml/2006/main">
            <a:r>
              <a:t>        "summary": "도민의 대화형 정보 탐색을 위한 챗봇·검색 서비스 구현.",</a:t>
            </a:r>
          </a:p>
          <a:p xmlns:a="http://schemas.openxmlformats.org/drawingml/2006/main">
            <a:r>
              <a:t>        "data": "자연어 문의·추가 조건 → 안내·공식 서비스 연결",</a:t>
            </a:r>
          </a:p>
          <a:p xmlns:a="http://schemas.openxmlformats.org/drawingml/2006/main">
            <a:r>
              <a:t>        "components": [</a:t>
            </a:r>
          </a:p>
          <a:p xmlns:a="http://schemas.openxmlformats.org/drawingml/2006/main">
            <a:r>
              <a:t>          "C01",</a:t>
            </a:r>
          </a:p>
          <a:p xmlns:a="http://schemas.openxmlformats.org/drawingml/2006/main">
            <a:r>
              <a:t>          "C02",</a:t>
            </a:r>
          </a:p>
          <a:p xmlns:a="http://schemas.openxmlformats.org/drawingml/2006/main">
            <a:r>
              <a:t>          "C06"</a:t>
            </a:r>
          </a:p>
          <a:p xmlns:a="http://schemas.openxmlformats.org/drawingml/2006/main">
            <a:r>
              <a:t>        ],</a:t>
            </a:r>
          </a:p>
          <a:p xmlns:a="http://schemas.openxmlformats.org/drawingml/2006/main">
            <a:r>
              <a:t>        "acceptance": "모호한 문의의 추가 질문, 잘못된 서비스 링크, 응답 실패 시 기존 탐색 경로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"b2087cef15831463cccbd35ddb28248885288bfed8bbcafeed9bc7066f08417e"</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"홈페이지 챗봇",</a:t>
            </a:r>
          </a:p>
          <a:p xmlns:a="http://schemas.openxmlformats.org/drawingml/2006/main">
            <a:r>
              <a:t>          "layer": "이용 접점",</a:t>
            </a:r>
          </a:p>
          <a:p xmlns:a="http://schemas.openxmlformats.org/drawingml/2006/main">
            <a:r>
              <a:t>          "detail": "도민·홈페이지 운영자",</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"지역·대상·기간",</a:t>
            </a:r>
          </a:p>
          <a:p xmlns:a="http://schemas.openxmlformats.org/drawingml/2006/main">
            <a:r>
              <a:t>          "layer": "업무 문맥",</a:t>
            </a:r>
          </a:p>
          <a:p xmlns:a="http://schemas.openxmlformats.org/drawingml/2006/main">
            <a:r>
              <a:t>          "detail": "요청 목적·대상 조건·대화 이력 구성",</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"유효 공고 검색",</a:t>
            </a:r>
          </a:p>
          <a:p xmlns:a="http://schemas.openxmlformats.org/drawingml/2006/main">
            <a:r>
              <a:t>          "layer": "자료 조회",</a:t>
            </a:r>
          </a:p>
          <a:p xmlns:a="http://schemas.openxmlformats.org/drawingml/2006/main">
            <a:r>
              <a:t>          "detail": "질문·지역",</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"의도·조건 비교",</a:t>
            </a:r>
          </a:p>
          <a:p xmlns:a="http://schemas.openxmlformats.org/drawingml/2006/main">
            <a:r>
              <a:t>          "layer": "핵심 처리",</a:t>
            </a:r>
          </a:p>
          <a:p xmlns:a="http://schemas.openxmlformats.org/drawingml/2006/main">
            <a:r>
              <a:t>          "detail": "의도 분석과 RAG 응답·공고 비교",</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"마감·자격 검사",</a:t>
            </a:r>
          </a:p>
          <a:p xmlns:a="http://schemas.openxmlformats.org/drawingml/2006/main">
            <a:r>
              <a:t>          "layer": "결과 검증",</a:t>
            </a:r>
          </a:p>
          <a:p xmlns:a="http://schemas.openxmlformats.org/drawingml/2006/main">
            <a:r>
              <a:t>          "detail": "유효기간·대상조건·링크 점검",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"이용자 조건 확인",</a:t>
            </a:r>
          </a:p>
          <a:p xmlns:a="http://schemas.openxmlformats.org/drawingml/2006/main">
            <a:r>
              <a:t>          "layer": "사람 확인",</a:t>
            </a:r>
          </a:p>
          <a:p xmlns:a="http://schemas.openxmlformats.org/drawingml/2006/main">
            <a:r>
              <a:t>          "detail": "자격조건을 설명하고 관련 공고와 신청 페이지 비교",</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"공식 신청 안내",</a:t>
            </a:r>
          </a:p>
          <a:p xmlns:a="http://schemas.openxmlformats.org/drawingml/2006/main">
            <a:r>
              <a:t>          "layer": "업무 연결",</a:t>
            </a:r>
          </a:p>
          <a:p xmlns:a="http://schemas.openxmlformats.org/drawingml/2006/main">
            <a:r>
              <a:t>          "detail": "출처 링크와 신청 안내 페이지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"오류·만족도 분석",</a:t>
            </a:r>
          </a:p>
          <a:p xmlns:a="http://schemas.openxmlformats.org/drawingml/2006/main">
            <a:r>
              <a:t>          "layer": "운영 관측",</a:t>
            </a:r>
          </a:p>
          <a:p xmlns:a="http://schemas.openxmlformats.org/drawingml/2006/main">
            <a:r>
              <a:t>          "detail": "예외 질문·오류·만족도 기반 지식 보완",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"홈페이지·공고 DB",</a:t>
            </a:r>
          </a:p>
          <a:p xmlns:a="http://schemas.openxmlformats.org/drawingml/2006/main">
            <a:r>
              <a:t>          "layer": "데이터 원천",</a:t>
            </a:r>
          </a:p>
          <a:p xmlns:a="http://schemas.openxmlformats.org/drawingml/2006/main">
            <a:r>
              <a:t>          "detail": "정책·공고 지식",</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"수집·갱신·벡터화",</a:t>
            </a:r>
          </a:p>
          <a:p xmlns:a="http://schemas.openxmlformats.org/drawingml/2006/main">
            <a:r>
              <a:t>          "layer": "준비·갱신",</a:t>
            </a:r>
          </a:p>
          <a:p xmlns:a="http://schemas.openxmlformats.org/drawingml/2006/main">
            <a:r>
              <a:t>          "detail": "홈페이지 문서 수집·전처리·변경 반영",</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"공공클라우드 RAG",</a:t>
            </a:r>
          </a:p>
          <a:p xmlns:a="http://schemas.openxmlformats.org/drawingml/2006/main">
            <a:r>
              <a:t>          "layer": "상태·지식 저장",</a:t>
            </a:r>
          </a:p>
          <a:p xmlns:a="http://schemas.openxmlformats.org/drawingml/2006/main">
            <a:r>
              <a:t>          "detail": "조건·기한별 정답 공고와 원문 링크·변경 반영 시각",</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"외부 LLM 연결경계",</a:t>
            </a:r>
          </a:p>
          <a:p xmlns:a="http://schemas.openxmlformats.org/drawingml/2006/main">
            <a:r>
              <a:t>          "layer": "권한·정책",</a:t>
            </a:r>
          </a:p>
          <a:p xmlns:a="http://schemas.openxmlformats.org/drawingml/2006/main">
            <a:r>
              <a:t>          "detail": "마감 공고·유사한 다른 제도·갱신 전 색인",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"요청 목적·대상 조건·대화 이력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"질문·지역",</a:t>
            </a:r>
          </a:p>
          <a:p xmlns:a="http://schemas.openxmlformats.org/drawingml/2006/main">
            <a:r>
              <a:t>          "check": "유효기간·대상조건·링크 점검"</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"유효 공고",</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"조건 비교",</a:t>
            </a:r>
          </a:p>
          <a:p xmlns:a="http://schemas.openxmlformats.org/drawingml/2006/main">
            <a:r>
              <a:t>          "check": "마감 공고·유사한 다른 제도·갱신 전 색인"</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"조건 비교",</a:t>
            </a:r>
          </a:p>
          <a:p xmlns:a="http://schemas.openxmlformats.org/drawingml/2006/main">
            <a:r>
              <a:t>          "check": "출처 링크와 신청 안내 페이지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"공식 페이지",</a:t>
            </a:r>
          </a:p>
          <a:p xmlns:a="http://schemas.openxmlformats.org/drawingml/2006/main">
            <a:r>
              <a:t>          "check": "조건·기한별 정답 공고와 원문 링크·변경 반영 시각"</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"생성형 AI 서비스 아키텍처 구성도, SFR-003~006",</a:t>
            </a:r>
          </a:p>
          <a:p xmlns:a="http://schemas.openxmlformats.org/drawingml/2006/main">
            <a:r>
              <a:t>        "extracted": "홈페이지 RDB → 공공클라우드 Vector DB → 외부 LLM 연결",</a:t>
            </a:r>
          </a:p>
          <a:p xmlns:a="http://schemas.openxmlformats.org/drawingml/2006/main">
            <a:r>
              <a:t>        "extension": "공고 마감·지역·자격조건 대조 및 신청 링크 검증"</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"PF-R05",</a:t>
            </a:r>
          </a:p>
          <a:p xmlns:a="http://schemas.openxmlformats.org/drawingml/2006/main">
            <a:r>
              <a:t>          "path": "assets/casebook-sources/PF-R05-01.png",</a:t>
            </a:r>
          </a:p>
          <a:p xmlns:a="http://schemas.openxmlformats.org/drawingml/2006/main">
            <a:r>
              <a:t>          "title": "홈페이지 AI 목표기능",</a:t>
            </a:r>
          </a:p>
          <a:p xmlns:a="http://schemas.openxmlformats.org/drawingml/2006/main">
            <a:r>
              <a:t>          "status": "RFP 목표기능 구성도",</a:t>
            </a:r>
          </a:p>
          <a:p xmlns:a="http://schemas.openxmlformats.org/drawingml/2006/main">
            <a:r>
              <a:t>          "caption": "챗봇·RAG·데이터 파이프라인·모델 관리의 분리",</a:t>
            </a:r>
          </a:p>
          <a:p xmlns:a="http://schemas.openxmlformats.org/drawingml/2006/main">
            <a:r>
              <a:t>          "locator": "rId17 / BinData/image3_png",</a:t>
            </a:r>
          </a:p>
          <a:p xmlns:a="http://schemas.openxmlformats.org/drawingml/2006/main">
            <a:r>
              <a:t>          "checked": "2026-10-16",</a:t>
            </a:r>
          </a:p>
          <a:p xmlns:a="http://schemas.openxmlformats.org/drawingml/2006/main">
            <a:r>
              <a:t>          "sha256": "dbf8455e9d661c8a3db51e5677f25fc751cb2ade3a7b0abaf602d57a8aaf1ba8",</a:t>
            </a:r>
          </a:p>
          <a:p xmlns:a="http://schemas.openxmlformats.org/drawingml/2006/main">
            <a:r>
              <a:t>          "explanation": {</a:t>
            </a:r>
          </a:p>
          <a:p xmlns:a="http://schemas.openxmlformats.org/drawingml/2006/main">
            <a:r>
              <a:t>            "read": "도민의 대화형 탐색 접점에서 정책·복지·공고 정보의 검색과 AI 응답을 제공하는 목표 기능 구조. 대화 응답 이후 실제 신청 서비스로 이동하는 연결이 업무 완료의 다음 단계.",</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"SFR-005",</a:t>
            </a:r>
          </a:p>
          <a:p xmlns:a="http://schemas.openxmlformats.org/drawingml/2006/main">
            <a:r>
              <a:t>              "SFR-006"</a:t>
            </a:r>
          </a:p>
          <a:p xmlns:a="http://schemas.openxmlformats.org/drawingml/2006/main">
            <a:r>
              <a:t>            ],</a:t>
            </a:r>
          </a:p>
          <a:p xmlns:a="http://schemas.openxmlformats.org/drawingml/2006/main">
            <a:r>
              <a:t>            "connection": "지역·대상·신청기간의 추가 질문과 공식 신청 링크를 구성하고 답변 정확도와 신청 화면 도달률을 분리해 평가하는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"PF-R05",</a:t>
            </a:r>
          </a:p>
          <a:p xmlns:a="http://schemas.openxmlformats.org/drawingml/2006/main">
            <a:r>
              <a:t>          "path": "assets/casebook-sources/PF-R05-02.png",</a:t>
            </a:r>
          </a:p>
          <a:p xmlns:a="http://schemas.openxmlformats.org/drawingml/2006/main">
            <a:r>
              <a:t>          "title": "홈페이지–RAG–외부 LLM",</a:t>
            </a:r>
          </a:p>
          <a:p xmlns:a="http://schemas.openxmlformats.org/drawingml/2006/main">
            <a:r>
              <a:t>          "status": "RFP 서비스 아키텍처 구성도",</a:t>
            </a:r>
          </a:p>
          <a:p xmlns:a="http://schemas.openxmlformats.org/drawingml/2006/main">
            <a:r>
              <a:t>          "caption": "홈페이지 RDB → 공공클라우드 Vector DB → 외부 LLM",</a:t>
            </a:r>
          </a:p>
          <a:p xmlns:a="http://schemas.openxmlformats.org/drawingml/2006/main">
            <a:r>
              <a:t>          "locator": "rId17 / BinData/image4_bmp",</a:t>
            </a:r>
          </a:p>
          <a:p xmlns:a="http://schemas.openxmlformats.org/drawingml/2006/main">
            <a:r>
              <a:t>          "checked": "2026-10-16",</a:t>
            </a:r>
          </a:p>
          <a:p xmlns:a="http://schemas.openxmlformats.org/drawingml/2006/main">
            <a:r>
              <a:t>          "sha256": "04b7bff411913589529c68490addbddd2c84b7abce61ecd7c873e971bab7bf7e",</a:t>
            </a:r>
          </a:p>
          <a:p xmlns:a="http://schemas.openxmlformats.org/drawingml/2006/main">
            <a:r>
              <a:t>          "explanation": {</a:t>
            </a:r>
          </a:p>
          <a:p xmlns:a="http://schemas.openxmlformats.org/drawingml/2006/main">
            <a:r>
              <a:t>            "read": "홈페이지 RDB의 자료를 공공클라우드 검색 계층으로 반영하고 검색 근거를 외부 LLM에 전달하는 구조. 원천 데이터 갱신과 이용자 질문의 실시간 처리를 나누는 연결.",</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"SFR-005"</a:t>
            </a:r>
          </a:p>
          <a:p xmlns:a="http://schemas.openxmlformats.org/drawingml/2006/main">
            <a:r>
              <a:t>            ],</a:t>
            </a:r>
          </a:p>
          <a:p xmlns:a="http://schemas.openxmlformats.org/drawingml/2006/main">
            <a:r>
              <a:t>            "connection": "원천 수정·종료·삭제가 색인에 반영되는지 추적하고 외부 전송 문맥과 답변 인용의 출처·판본을 보존하는 데이터 흐름."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"마감 공고·유사한 다른 제도·갱신 전 색인",</a:t>
            </a:r>
          </a:p>
          <a:p xmlns:a="http://schemas.openxmlformats.org/drawingml/2006/main">
            <a:r>
              <a:t>        "hold": "유효기간·대상조건·링크 점검",</a:t>
            </a:r>
          </a:p>
          <a:p xmlns:a="http://schemas.openxmlformats.org/drawingml/2006/main">
            <a:r>
              <a:t>        "recovery": "예외 질문·오류·만족도 기반 지식 보완",</a:t>
            </a:r>
          </a:p>
          <a:p xmlns:a="http://schemas.openxmlformats.org/drawingml/2006/main">
            <a:r>
              <a:t>        "evidence": "조건·기한별 정답 공고와 원문 링크·변경 반영 시각"</a:t>
            </a:r>
          </a:p>
          <a:p xmlns:a="http://schemas.openxmlformats.org/drawingml/2006/main">
            <a:r>
              <a:t>      },</a:t>
            </a:r>
          </a:p>
          <a:p xmlns:a="http://schemas.openxmlformats.org/drawingml/2006/main">
            <a:r>
              <a:t>      "data": {</a:t>
            </a:r>
          </a:p>
          <a:p xmlns:a="http://schemas.openxmlformats.org/drawingml/2006/main">
            <a:r>
              <a:t>        "source": "정책·공고 지식",</a:t>
            </a:r>
          </a:p>
          <a:p xmlns:a="http://schemas.openxmlformats.org/drawingml/2006/main">
            <a:r>
              <a:t>        "prepare": "홈페이지 문서 수집·전처리·변경 반영",</a:t>
            </a:r>
          </a:p>
          <a:p xmlns:a="http://schemas.openxmlformats.org/drawingml/2006/main">
            <a:r>
              <a:t>        "output": "질문·지역",</a:t>
            </a:r>
          </a:p>
          <a:p xmlns:a="http://schemas.openxmlformats.org/drawingml/2006/main">
            <a:r>
              <a:t>        "refresh": "예외 질문·오류·만족도 기반 지식 보완"</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"PF-R05",</a:t>
            </a:r>
          </a:p>
          <a:p xmlns:a="http://schemas.openxmlformats.org/drawingml/2006/main">
            <a:r>
              <a:t>    "success": [</a:t>
            </a:r>
          </a:p>
          <a:p xmlns:a="http://schemas.openxmlformats.org/drawingml/2006/main">
            <a:r>
              <a:t>      "정책·복지·공고의 통합 탐색",</a:t>
            </a:r>
          </a:p>
          <a:p xmlns:a="http://schemas.openxmlformats.org/drawingml/2006/main">
            <a:r>
              <a:t>      "원문을 통한 후속 절차 연결"</a:t>
            </a:r>
          </a:p>
          <a:p xmlns:a="http://schemas.openxmlformats.org/drawingml/2006/main">
            <a:r>
              <a:t>    ],</a:t>
            </a:r>
          </a:p>
          <a:p xmlns:a="http://schemas.openxmlformats.org/drawingml/2006/main">
            <a:r>
              <a:t>    "risks": [</a:t>
            </a:r>
          </a:p>
          <a:p xmlns:a="http://schemas.openxmlformats.org/drawingml/2006/main">
            <a:r>
              <a:t>      "마감·지역·자격조건 오안내",</a:t>
            </a:r>
          </a:p>
          <a:p xmlns:a="http://schemas.openxmlformats.org/drawingml/2006/main">
            <a:r>
              <a:t>      "착수와 정식 운영 성과의 차이"</a:t>
            </a:r>
          </a:p>
          <a:p xmlns:a="http://schemas.openxmlformats.org/drawingml/2006/main">
            <a:r>
              <a:t>    ],</a:t>
            </a:r>
          </a:p>
          <a:p xmlns:a="http://schemas.openxmlformats.org/drawingml/2006/main">
            <a:r>
              <a:t>    "architecture": [</a:t>
            </a:r>
          </a:p>
          <a:p xmlns:a="http://schemas.openxmlformats.org/drawingml/2006/main">
            <a:r>
              <a:t>      "도민 대화",</a:t>
            </a:r>
          </a:p>
          <a:p xmlns:a="http://schemas.openxmlformats.org/drawingml/2006/main">
            <a:r>
              <a:t>      "의도 분류·정보 비교",</a:t>
            </a:r>
          </a:p>
          <a:p xmlns:a="http://schemas.openxmlformats.org/drawingml/2006/main">
            <a:r>
              <a:t>      "정책·공고 지식",</a:t>
            </a:r>
          </a:p>
          <a:p xmlns:a="http://schemas.openxmlformats.org/drawingml/2006/main">
            <a:r>
              <a:t>      "원문 안내"</a:t>
            </a:r>
          </a:p>
          <a:p xmlns:a="http://schemas.openxmlformats.org/drawingml/2006/main">
            <a:r>
              <a:t>    ],</a:t>
            </a:r>
          </a:p>
          <a:p xmlns:a="http://schemas.openxmlformats.org/drawingml/2006/main">
            <a:r>
              <a:t>    "transfers": [</a:t>
            </a:r>
          </a:p>
          <a:p xmlns:a="http://schemas.openxmlformats.org/drawingml/2006/main">
            <a:r>
              <a:t>      "질문·지역",</a:t>
            </a:r>
          </a:p>
          <a:p xmlns:a="http://schemas.openxmlformats.org/drawingml/2006/main">
            <a:r>
              <a:t>      "유효 공고",</a:t>
            </a:r>
          </a:p>
          <a:p xmlns:a="http://schemas.openxmlformats.org/drawingml/2006/main">
            <a:r>
              <a:t>      "조건 비교",</a:t>
            </a:r>
          </a:p>
          <a:p xmlns:a="http://schemas.openxmlformats.org/drawingml/2006/main">
            <a:r>
              <a:t>      "공식 페이지"</a:t>
            </a:r>
          </a:p>
          <a:p xmlns:a="http://schemas.openxmlformats.org/drawingml/2006/main">
            <a:r>
              <a:t>    ],</a:t>
            </a:r>
          </a:p>
          <a:p xmlns:a="http://schemas.openxmlformats.org/drawingml/2006/main">
            <a:r>
              <a:t>    "control": "유효기간·대상조건·링크 점검",</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SFR-003~006, PER-003 / Word T062 https://www.g2b.go.kr/pn/pnp/pnpe/UntyAtchFile/downloadFile.do?bidPbancNo=R25BK00751232&amp;bidPbancOrd=000&amp;fileType=&amp;fileSeq=2&amp;prcmBsneSeCd=03</a:t>
            </a:r>
          </a:p>
          <a:p xmlns:a="http://schemas.openxmlformats.org/drawingml/2006/main">
            <a:r>
              <a:t>홈페이지 https://heen1987-ops.github.io/TS-business-Plan-001/index.html?view=platform-cases&amp;case=PF-R05</a:t>
            </a:r>
          </a:p>
          <a:p xmlns:a="http://schemas.openxmlformats.org/drawingml/2006/main">
            <a:r>
              <a:t>원문 도면 {"caseId":"PF-R05","path":"assets/casebook-sources/PF-R05-01.png","title":"홈페이지 AI 목표기능","status":"RFP 목표기능 구성도","caption":"챗봇·RAG·데이터 파이프라인·모델 관리의 분리","locator":"rId17 / BinData/image3_png","checked":"2026-10-16","sha256":"dbf8455e9d661c8a3db51e5677f25fc751cb2ade3a7b0abaf602d57a8aaf1ba8","explanation":{"read":"도민의 대화형 탐색 접점에서 정책·복지·공고 정보의 검색과 AI 응답을 제공하는 목표 기능 구조. 대화 응답 이후 실제 신청 서비스로 이동하는 연결이 업무 완료의 다음 단계.","requirements":["SFR-003","SFR-004","SFR-005","SFR-006"],"connection":"지역·대상·신청기간의 추가 질문과 공식 신청 링크를 구성하고 답변 정확도와 신청 화면 도달률을 분리해 평가하는 설계."}}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"PF-R05",</a:t>
            </a:r>
          </a:p>
          <a:p xmlns:a="http://schemas.openxmlformats.org/drawingml/2006/main">
            <a:r>
              <a:t>    "sourceId": "R05",</a:t>
            </a:r>
          </a:p>
          <a:p xmlns:a="http://schemas.openxmlformats.org/drawingml/2006/main">
            <a:r>
              <a:t>    "title": "경기도 대화형 정보 탐색",</a:t>
            </a:r>
          </a:p>
          <a:p xmlns:a="http://schemas.openxmlformats.org/drawingml/2006/main">
            <a:r>
              <a:t>    "region": "국내",</a:t>
            </a:r>
          </a:p>
          <a:p xmlns:a="http://schemas.openxmlformats.org/drawingml/2006/main">
            <a:r>
              <a:t>    "owner": "경기도",</a:t>
            </a:r>
          </a:p>
          <a:p xmlns:a="http://schemas.openxmlformats.org/drawingml/2006/main">
            <a:r>
              <a:t>    "state": "공식 RFP·착수 발표 확인 / 정식 운영 성과 미확인",</a:t>
            </a:r>
          </a:p>
          <a:p xmlns:a="http://schemas.openxmlformats.org/drawingml/2006/main">
            <a:r>
              <a:t>    "period": "기존 원장 확인 2026.10.16",</a:t>
            </a:r>
          </a:p>
          <a:p xmlns:a="http://schemas.openxmlformats.org/drawingml/2006/main">
            <a:r>
              <a:t>    "fact": "홈페이지 정책·복지·공고를 도민이 대화로 탐색하는 서비스",</a:t>
            </a:r>
          </a:p>
          <a:p xmlns:a="http://schemas.openxmlformats.org/drawingml/2006/main">
            <a:r>
              <a:t>    "limit": "착수자료의 2025년 11월 예정과 실제 개시·정량 성과를 구분",</a:t>
            </a:r>
          </a:p>
          <a:p xmlns:a="http://schemas.openxmlformats.org/drawingml/2006/main">
            <a:r>
              <a:t>    "nodes": [</a:t>
            </a:r>
          </a:p>
          <a:p xmlns:a="http://schemas.openxmlformats.org/drawingml/2006/main">
            <a:r>
              <a:t>      "정책·공고",</a:t>
            </a:r>
          </a:p>
          <a:p xmlns:a="http://schemas.openxmlformats.org/drawingml/2006/main">
            <a:r>
              <a:t>      "지식 갱신",</a:t>
            </a:r>
          </a:p>
          <a:p xmlns:a="http://schemas.openxmlformats.org/drawingml/2006/main">
            <a:r>
              <a:t>      "의도·정보 비교",</a:t>
            </a:r>
          </a:p>
          <a:p xmlns:a="http://schemas.openxmlformats.org/drawingml/2006/main">
            <a:r>
              <a:t>      "원문 안내"</a:t>
            </a:r>
          </a:p>
          <a:p xmlns:a="http://schemas.openxmlformats.org/drawingml/2006/main">
            <a:r>
              <a:t>    ],</a:t>
            </a:r>
          </a:p>
          <a:p xmlns:a="http://schemas.openxmlformats.org/drawingml/2006/main">
            <a:r>
              <a:t>    "apply": "서비스 조건·기한·신청 창구를 연결하는 홈페이지 탐색 지원",</a:t>
            </a:r>
          </a:p>
          <a:p xmlns:a="http://schemas.openxmlformats.org/drawingml/2006/main">
            <a:r>
              <a:t>    "delta": "서비스·조건·기한 사전 / 유사 공고 비교 / 원문·신청 경로 연결",</a:t>
            </a:r>
          </a:p>
          <a:p xmlns:a="http://schemas.openxmlformats.org/drawingml/2006/main">
            <a:r>
              <a:t>    "test": "마감·유사 공고·갱신 지연 질의의 조건 일치와 서비스 도달 확인",</a:t>
            </a:r>
          </a:p>
          <a:p xmlns:a="http://schemas.openxmlformats.org/drawingml/2006/main">
            <a:r>
              <a:t>    "url": "https://www.g2b.go.kr/pn/pnp/pnpe/UntyAtchFile/downloadFile.do?bidPbancNo=R25BK00751232&amp;bidPbancOrd=000&amp;fileType=&amp;fileSeq=2&amp;prcmBsneSeCd=03",</a:t>
            </a:r>
          </a:p>
          <a:p xmlns:a="http://schemas.openxmlformats.org/drawingml/2006/main">
            <a:r>
              <a:t>    "urls": [</a:t>
            </a:r>
          </a:p>
          <a:p xmlns:a="http://schemas.openxmlformats.org/drawingml/2006/main">
            <a:r>
              <a:t>      "https://www.g2b.go.kr/pn/pnp/pnpe/UntyAtchFile/downloadFile.do?bidPbancNo=R25BK00751232&amp;bidPbancOrd=000&amp;fileType=&amp;fileSeq=2&amp;prcmBsneSeCd=03",</a:t>
            </a:r>
          </a:p>
          <a:p xmlns:a="http://schemas.openxmlformats.org/drawingml/2006/main">
            <a:r>
              <a:t>      "https://gnews.gg.go.kr/briefing/brief_gongbo_view.do?BS_CODE=s017&amp;number=66171"</a:t>
            </a:r>
          </a:p>
          <a:p xmlns:a="http://schemas.openxmlformats.org/drawingml/2006/main">
            <a:r>
              <a:t>    ],</a:t>
            </a:r>
          </a:p>
          <a:p xmlns:a="http://schemas.openxmlformats.org/drawingml/2006/main">
            <a:r>
              <a:t>    "basis": "SFR-003~006, PER-003 / Word T062",</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"정확한 공고 도달률 / 탐색시간 / 이용 포기율",</a:t>
            </a:r>
          </a:p>
          <a:p xmlns:a="http://schemas.openxmlformats.org/drawingml/2006/main">
            <a:r>
              <a:t>    "group": "요구·구축",</a:t>
            </a:r>
          </a:p>
          <a:p xmlns:a="http://schemas.openxmlformats.org/drawingml/2006/main">
            <a:r>
              <a:t>    "sourceDetail": "데이터 수집·갱신→RAG→의도 기반 답변·유사공고 비교→원문 연결; 오류·만족도 관리",</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"PF-R05",</a:t>
            </a:r>
          </a:p>
          <a:p xmlns:a="http://schemas.openxmlformats.org/drawingml/2006/main">
            <a:r>
              <a:t>    "canonicalId": "PF-R05",</a:t>
            </a:r>
          </a:p>
          <a:p xmlns:a="http://schemas.openxmlformats.org/drawingml/2006/main">
            <a:r>
              <a:t>    "purpose": "정책·복지·공고의 대화형 탐색",</a:t>
            </a:r>
          </a:p>
          <a:p xmlns:a="http://schemas.openxmlformats.org/drawingml/2006/main">
            <a:r>
              <a:t>    "users": "도민·홈페이지 운영자",</a:t>
            </a:r>
          </a:p>
          <a:p xmlns:a="http://schemas.openxmlformats.org/drawingml/2006/main">
            <a:r>
              <a:t>    "scope": [</a:t>
            </a:r>
          </a:p>
          <a:p xmlns:a="http://schemas.openxmlformats.org/drawingml/2006/main">
            <a:r>
              <a:t>      "자연어 탐색",</a:t>
            </a:r>
          </a:p>
          <a:p xmlns:a="http://schemas.openxmlformats.org/drawingml/2006/main">
            <a:r>
              <a:t>      "유사공고 비교",</a:t>
            </a:r>
          </a:p>
          <a:p xmlns:a="http://schemas.openxmlformats.org/drawingml/2006/main">
            <a:r>
              <a:t>      "원문 연결"</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"도민 대화",</a:t>
            </a:r>
          </a:p>
          <a:p xmlns:a="http://schemas.openxmlformats.org/drawingml/2006/main">
            <a:r>
              <a:t>        "detail": "요청 목적·대상 조건·대화 이력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"자연어 탐색 / 유사공고 비교 / 원문 연결",</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"의도 분류·정보 비교",</a:t>
            </a:r>
          </a:p>
          <a:p xmlns:a="http://schemas.openxmlformats.org/drawingml/2006/main">
            <a:r>
              <a:t>        "detail": "의도 분석과 RAG 응답·공고 비교",</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"원문 안내",</a:t>
            </a:r>
          </a:p>
          <a:p xmlns:a="http://schemas.openxmlformats.org/drawingml/2006/main">
            <a:r>
              <a:t>        "detail": "출처 링크와 신청 안내 페이지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"정책·공고 지식",</a:t>
            </a:r>
          </a:p>
          <a:p xmlns:a="http://schemas.openxmlformats.org/drawingml/2006/main">
            <a:r>
              <a:t>        "detail": "홈페이지 문서 수집·전처리·변경 반영",</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"예외 질문·오류·만족도 기반 지식 보완",</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"정책·공고",</a:t>
            </a:r>
          </a:p>
          <a:p xmlns:a="http://schemas.openxmlformats.org/drawingml/2006/main">
            <a:r>
              <a:t>        "input": "요청 목적·대상 조건·대화 이력 구성",</a:t>
            </a:r>
          </a:p>
          <a:p xmlns:a="http://schemas.openxmlformats.org/drawingml/2006/main">
            <a:r>
              <a:t>        "process": "홈페이지 문서 수집·전처리·변경 반영",</a:t>
            </a:r>
          </a:p>
          <a:p xmlns:a="http://schemas.openxmlformats.org/drawingml/2006/main">
            <a:r>
              <a:t>        "output": "질문·지역"</a:t>
            </a:r>
          </a:p>
          <a:p xmlns:a="http://schemas.openxmlformats.org/drawingml/2006/main">
            <a:r>
              <a:t>      },</a:t>
            </a:r>
          </a:p>
          <a:p xmlns:a="http://schemas.openxmlformats.org/drawingml/2006/main">
            <a:r>
              <a:t>      {</a:t>
            </a:r>
          </a:p>
          <a:p xmlns:a="http://schemas.openxmlformats.org/drawingml/2006/main">
            <a:r>
              <a:t>        "title": "지식 갱신",</a:t>
            </a:r>
          </a:p>
          <a:p xmlns:a="http://schemas.openxmlformats.org/drawingml/2006/main">
            <a:r>
              <a:t>        "input": "질문·지역",</a:t>
            </a:r>
          </a:p>
          <a:p xmlns:a="http://schemas.openxmlformats.org/drawingml/2006/main">
            <a:r>
              <a:t>        "process": "의도 분석과 RAG 응답·공고 비교",</a:t>
            </a:r>
          </a:p>
          <a:p xmlns:a="http://schemas.openxmlformats.org/drawingml/2006/main">
            <a:r>
              <a:t>        "output": "유효 공고"</a:t>
            </a:r>
          </a:p>
          <a:p xmlns:a="http://schemas.openxmlformats.org/drawingml/2006/main">
            <a:r>
              <a:t>      },</a:t>
            </a:r>
          </a:p>
          <a:p xmlns:a="http://schemas.openxmlformats.org/drawingml/2006/main">
            <a:r>
              <a:t>      {</a:t>
            </a:r>
          </a:p>
          <a:p xmlns:a="http://schemas.openxmlformats.org/drawingml/2006/main">
            <a:r>
              <a:t>        "title": "의도·정보 비교",</a:t>
            </a:r>
          </a:p>
          <a:p xmlns:a="http://schemas.openxmlformats.org/drawingml/2006/main">
            <a:r>
              <a:t>        "input": "유효 공고",</a:t>
            </a:r>
          </a:p>
          <a:p xmlns:a="http://schemas.openxmlformats.org/drawingml/2006/main">
            <a:r>
              <a:t>        "process": "유효기간·대상조건·링크 점검",</a:t>
            </a:r>
          </a:p>
          <a:p xmlns:a="http://schemas.openxmlformats.org/drawingml/2006/main">
            <a:r>
              <a:t>        "output": "조건 비교"</a:t>
            </a:r>
          </a:p>
          <a:p xmlns:a="http://schemas.openxmlformats.org/drawingml/2006/main">
            <a:r>
              <a:t>      },</a:t>
            </a:r>
          </a:p>
          <a:p xmlns:a="http://schemas.openxmlformats.org/drawingml/2006/main">
            <a:r>
              <a:t>      {</a:t>
            </a:r>
          </a:p>
          <a:p xmlns:a="http://schemas.openxmlformats.org/drawingml/2006/main">
            <a:r>
              <a:t>        "title": "원문 안내",</a:t>
            </a:r>
          </a:p>
          <a:p xmlns:a="http://schemas.openxmlformats.org/drawingml/2006/main">
            <a:r>
              <a:t>        "input": "조건 비교",</a:t>
            </a:r>
          </a:p>
          <a:p xmlns:a="http://schemas.openxmlformats.org/drawingml/2006/main">
            <a:r>
              <a:t>        "process": "출처 링크와 신청 안내 페이지 제공",</a:t>
            </a:r>
          </a:p>
          <a:p xmlns:a="http://schemas.openxmlformats.org/drawingml/2006/main">
            <a:r>
              <a:t>        "output": "공식 페이지"</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"자격조건을 설명하고 관련 공고와 신청 페이지 비교",</a:t>
            </a:r>
          </a:p>
          <a:p xmlns:a="http://schemas.openxmlformats.org/drawingml/2006/main">
            <a:r>
              <a:t>      "exception": "마감 공고·유사한 다른 제도·갱신 전 색인",</a:t>
            </a:r>
          </a:p>
          <a:p xmlns:a="http://schemas.openxmlformats.org/drawingml/2006/main">
            <a:r>
              <a:t>      "evidence": "조건·기한별 정답 공고와 원문 링크·변경 반영 시각",</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"도민·홈페이지 운영자",</a:t>
            </a:r>
          </a:p>
          <a:p xmlns:a="http://schemas.openxmlformats.org/drawingml/2006/main">
            <a:r>
              <a:t>          "processing": "요청 목적·대상 조건·대화 이력 구성",</a:t>
            </a:r>
          </a:p>
          <a:p xmlns:a="http://schemas.openxmlformats.org/drawingml/2006/main">
            <a:r>
              <a:t>          "output": "질문·지역"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"정책·공고 지식",</a:t>
            </a:r>
          </a:p>
          <a:p xmlns:a="http://schemas.openxmlformats.org/drawingml/2006/main">
            <a:r>
              <a:t>          "processing": "홈페이지 문서 수집·전처리·변경 반영",</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"질문·지역",</a:t>
            </a:r>
          </a:p>
          <a:p xmlns:a="http://schemas.openxmlformats.org/drawingml/2006/main">
            <a:r>
              <a:t>          "processing": "의도 분석과 RAG 응답·공고 비교",</a:t>
            </a:r>
          </a:p>
          <a:p xmlns:a="http://schemas.openxmlformats.org/drawingml/2006/main">
            <a:r>
              <a:t>          "output": "조건 비교"</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"조건 비교",</a:t>
            </a:r>
          </a:p>
          <a:p xmlns:a="http://schemas.openxmlformats.org/drawingml/2006/main">
            <a:r>
              <a:t>          "processing": "출처 링크와 신청 안내 페이지 제공",</a:t>
            </a:r>
          </a:p>
          <a:p xmlns:a="http://schemas.openxmlformats.org/drawingml/2006/main">
            <a:r>
              <a:t>          "output": "공식 페이지"</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"예외 질문·오류·만족도 기반 지식 보완",</a:t>
            </a:r>
          </a:p>
          <a:p xmlns:a="http://schemas.openxmlformats.org/drawingml/2006/main">
            <a:r>
              <a:t>          "output": "조건·기한별 정답 공고와 원문 링크·변경 반영 시각"</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"예외 질문·오류·만족도 기반 지식 보완",</a:t>
            </a:r>
          </a:p>
          <a:p xmlns:a="http://schemas.openxmlformats.org/drawingml/2006/main">
            <a:r>
              <a:t>    "status": "RFP 기반 논리 설계",</a:t>
            </a:r>
          </a:p>
          <a:p xmlns:a="http://schemas.openxmlformats.org/drawingml/2006/main">
            <a:r>
              <a:t>    "basis": "RFP · SFR-003~006",</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"SFR-003~006, PER-003 / Word T062",</a:t>
            </a:r>
          </a:p>
          <a:p xmlns:a="http://schemas.openxmlformats.org/drawingml/2006/main">
            <a:r>
              <a:t>        "url": "https://www.g2b.go.kr/pn/pnp/pnpe/UntyAtchFile/downloadFile.do?bidPbancNo=R25BK00751232&amp;bidPbancOrd=000&amp;fileType=&amp;fileSeq=2&amp;prcmBsneSeCd=03"</a:t>
            </a:r>
          </a:p>
          <a:p xmlns:a="http://schemas.openxmlformats.org/drawingml/2006/main">
            <a:r>
              <a:t>      }</a:t>
            </a:r>
          </a:p>
          <a:p xmlns:a="http://schemas.openxmlformats.org/drawingml/2006/main">
            <a:r>
              <a:t>    ],</a:t>
            </a:r>
          </a:p>
          <a:p xmlns:a="http://schemas.openxmlformats.org/drawingml/2006/main">
            <a:r>
              <a:t>    "implication": "서비스 조건·기한·신청 창구를 연결하는 홈페이지 탐색 지원",</a:t>
            </a:r>
          </a:p>
          <a:p xmlns:a="http://schemas.openxmlformats.org/drawingml/2006/main">
            <a:r>
              <a:t>    "local": "서비스 조건·기한·신청 창구를 연결하는 홈페이지 탐색 지원",</a:t>
            </a:r>
          </a:p>
          <a:p xmlns:a="http://schemas.openxmlformats.org/drawingml/2006/main">
            <a:r>
              <a:t>    "sourceDetail": "데이터 수집·갱신→RAG→의도 기반 답변·유사공고 비교→원문 연결; 오류·만족도 관리",</a:t>
            </a:r>
          </a:p>
          <a:p xmlns:a="http://schemas.openxmlformats.org/drawingml/2006/main">
            <a:r>
              <a:t>    "narrative": [</a:t>
            </a:r>
          </a:p>
          <a:p xmlns:a="http://schemas.openxmlformats.org/drawingml/2006/main">
            <a:r>
              <a:t>      "경기도 홈페이지에 축적된 정책·복지·공고 정보를 자연어로 찾도록 하는 검색 접점 고도화. 국민의 요청을 신청 자격·지역·기간 등의 조건으로 정리하고, 맞는 공고와 기존 신청 화면으로 연결하는 업무.",</a:t>
            </a:r>
          </a:p>
          <a:p xmlns:a="http://schemas.openxmlformats.org/drawingml/2006/main">
            <a:r>
              <a:t>      "원문 서비스 도면은 홈페이지 RDB의 대상 자료를 공공클라우드 RAG 영역에 수집·임베딩하고, 질의와 검색 근거를 외부 LLM에 전달한 뒤 홈페이지 채팅 UI로 답변하는 구성. 기능도에는 데이터·프롬프트·이력·모델·통계를 별도 관리 영역으로 명시.",</a:t>
            </a:r>
          </a:p>
          <a:p xmlns:a="http://schemas.openxmlformats.org/drawingml/2006/main">
            <a:r>
              <a:t>      "챗봇이 답한 것과 국민이 원하는 서비스를 찾은 것을 구분해 평가할 사례. 마감 공고·지역 불일치·자격 예외를 포함한 질문으로 원문 링크 도달과 다음 절차 안내를 검증할 필요. TS 대국민 접점에서는 기존 메뉴·신청 시스템을 유지하면서 자연어·음성 진입을 추가하는 방향."</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"SFR-003",</a:t>
            </a:r>
          </a:p>
          <a:p xmlns:a="http://schemas.openxmlformats.org/drawingml/2006/main">
            <a:r>
              <a:t>        "title": "생성형 AI 챗봇 검색 서비스 대상 데이터 수집·정제·전처리",</a:t>
            </a:r>
          </a:p>
          <a:p xmlns:a="http://schemas.openxmlformats.org/drawingml/2006/main">
            <a:r>
              <a:t>        "locator": "SFR-003",</a:t>
            </a:r>
          </a:p>
          <a:p xmlns:a="http://schemas.openxmlformats.org/drawingml/2006/main">
            <a:r>
              <a:t>        "summary": "정책·복지·공고 등 대상 데이터를 수집하고 정제·전처리하는 기능.",</a:t>
            </a:r>
          </a:p>
          <a:p xmlns:a="http://schemas.openxmlformats.org/drawingml/2006/main">
            <a:r>
              <a:t>        "data": "홈페이지 원문·파일 → 정규화 자료·메타데이터",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a:t>
            </a:r>
          </a:p>
          <a:p xmlns:a="http://schemas.openxmlformats.org/drawingml/2006/main">
            <a:r>
              <a:t>        "acceptance": "첨부·표·중복 URL·깨진 링크 입력의 수집 범위와 정제 결과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"dfce571aa07ad0601b331c6afaa46c57d8ef4ad8975cae48c8c928272ce53768"</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"실시간 데이터 파이프라인 자동화 구축",</a:t>
            </a:r>
          </a:p>
          <a:p xmlns:a="http://schemas.openxmlformats.org/drawingml/2006/main">
            <a:r>
              <a:t>        "locator": "SFR-004",</a:t>
            </a:r>
          </a:p>
          <a:p xmlns:a="http://schemas.openxmlformats.org/drawingml/2006/main">
            <a:r>
              <a:t>        "summary": "신규·변경 정보를 반영하는 데이터 파이프라인 자동화.",</a:t>
            </a:r>
          </a:p>
          <a:p xmlns:a="http://schemas.openxmlformats.org/drawingml/2006/main">
            <a:r>
              <a:t>        "data": "원천 변경·스케줄 → 갱신된 검색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"공고 수정·종료·삭제 후 색인 갱신과 수집 실패 후 재개 결과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"6d77f8fe82e84d8c671fdea123a554f2f2c061d91a1941d599146f167079e57e"</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"RAG(Retrieval Augmented Generation) 구축",</a:t>
            </a:r>
          </a:p>
          <a:p xmlns:a="http://schemas.openxmlformats.org/drawingml/2006/main">
            <a:r>
              <a:t>        "locator": "SFR-005",</a:t>
            </a:r>
          </a:p>
          <a:p xmlns:a="http://schemas.openxmlformats.org/drawingml/2006/main">
            <a:r>
              <a:t>        "summary": "정제 자료를 검색 근거로 제공하는 RAG 기반 구성.",</a:t>
            </a:r>
          </a:p>
          <a:p xmlns:a="http://schemas.openxmlformats.org/drawingml/2006/main">
            <a:r>
              <a:t>        "data": "사용자 질문·정책 색인 → 근거 문서·답변 문맥",</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"C11"</a:t>
            </a:r>
          </a:p>
          <a:p xmlns:a="http://schemas.openxmlformats.org/drawingml/2006/main">
            <a:r>
              <a:t>        ],</a:t>
            </a:r>
          </a:p>
          <a:p xmlns:a="http://schemas.openxmlformats.org/drawingml/2006/main">
            <a:r>
              <a:t>        "acceptance": "기간·지역·대상 조건이 다른 유사 정책의 구분과 근거 페이지 정확성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"02d312ae74d0ddf4dd06d7e84e79461aa2f4bb7664d9f657f22281c8d145bf02"</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"생성형 AI 챗봇 검색 서비스 개발",</a:t>
            </a:r>
          </a:p>
          <a:p xmlns:a="http://schemas.openxmlformats.org/drawingml/2006/main">
            <a:r>
              <a:t>        "locator": "SFR-006",</a:t>
            </a:r>
          </a:p>
          <a:p xmlns:a="http://schemas.openxmlformats.org/drawingml/2006/main">
            <a:r>
              <a:t>        "summary": "도민의 대화형 정보 탐색을 위한 챗봇·검색 서비스 구현.",</a:t>
            </a:r>
          </a:p>
          <a:p xmlns:a="http://schemas.openxmlformats.org/drawingml/2006/main">
            <a:r>
              <a:t>        "data": "자연어 문의·추가 조건 → 안내·공식 서비스 연결",</a:t>
            </a:r>
          </a:p>
          <a:p xmlns:a="http://schemas.openxmlformats.org/drawingml/2006/main">
            <a:r>
              <a:t>        "components": [</a:t>
            </a:r>
          </a:p>
          <a:p xmlns:a="http://schemas.openxmlformats.org/drawingml/2006/main">
            <a:r>
              <a:t>          "C01",</a:t>
            </a:r>
          </a:p>
          <a:p xmlns:a="http://schemas.openxmlformats.org/drawingml/2006/main">
            <a:r>
              <a:t>          "C02",</a:t>
            </a:r>
          </a:p>
          <a:p xmlns:a="http://schemas.openxmlformats.org/drawingml/2006/main">
            <a:r>
              <a:t>          "C06"</a:t>
            </a:r>
          </a:p>
          <a:p xmlns:a="http://schemas.openxmlformats.org/drawingml/2006/main">
            <a:r>
              <a:t>        ],</a:t>
            </a:r>
          </a:p>
          <a:p xmlns:a="http://schemas.openxmlformats.org/drawingml/2006/main">
            <a:r>
              <a:t>        "acceptance": "모호한 문의의 추가 질문, 잘못된 서비스 링크, 응답 실패 시 기존 탐색 경로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"b2087cef15831463cccbd35ddb28248885288bfed8bbcafeed9bc7066f08417e"</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"홈페이지 챗봇",</a:t>
            </a:r>
          </a:p>
          <a:p xmlns:a="http://schemas.openxmlformats.org/drawingml/2006/main">
            <a:r>
              <a:t>          "layer": "이용 접점",</a:t>
            </a:r>
          </a:p>
          <a:p xmlns:a="http://schemas.openxmlformats.org/drawingml/2006/main">
            <a:r>
              <a:t>          "detail": "도민·홈페이지 운영자",</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"지역·대상·기간",</a:t>
            </a:r>
          </a:p>
          <a:p xmlns:a="http://schemas.openxmlformats.org/drawingml/2006/main">
            <a:r>
              <a:t>          "layer": "업무 문맥",</a:t>
            </a:r>
          </a:p>
          <a:p xmlns:a="http://schemas.openxmlformats.org/drawingml/2006/main">
            <a:r>
              <a:t>          "detail": "요청 목적·대상 조건·대화 이력 구성",</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"유효 공고 검색",</a:t>
            </a:r>
          </a:p>
          <a:p xmlns:a="http://schemas.openxmlformats.org/drawingml/2006/main">
            <a:r>
              <a:t>          "layer": "자료 조회",</a:t>
            </a:r>
          </a:p>
          <a:p xmlns:a="http://schemas.openxmlformats.org/drawingml/2006/main">
            <a:r>
              <a:t>          "detail": "질문·지역",</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"의도·조건 비교",</a:t>
            </a:r>
          </a:p>
          <a:p xmlns:a="http://schemas.openxmlformats.org/drawingml/2006/main">
            <a:r>
              <a:t>          "layer": "핵심 처리",</a:t>
            </a:r>
          </a:p>
          <a:p xmlns:a="http://schemas.openxmlformats.org/drawingml/2006/main">
            <a:r>
              <a:t>          "detail": "의도 분석과 RAG 응답·공고 비교",</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"마감·자격 검사",</a:t>
            </a:r>
          </a:p>
          <a:p xmlns:a="http://schemas.openxmlformats.org/drawingml/2006/main">
            <a:r>
              <a:t>          "layer": "결과 검증",</a:t>
            </a:r>
          </a:p>
          <a:p xmlns:a="http://schemas.openxmlformats.org/drawingml/2006/main">
            <a:r>
              <a:t>          "detail": "유효기간·대상조건·링크 점검",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"이용자 조건 확인",</a:t>
            </a:r>
          </a:p>
          <a:p xmlns:a="http://schemas.openxmlformats.org/drawingml/2006/main">
            <a:r>
              <a:t>          "layer": "사람 확인",</a:t>
            </a:r>
          </a:p>
          <a:p xmlns:a="http://schemas.openxmlformats.org/drawingml/2006/main">
            <a:r>
              <a:t>          "detail": "자격조건을 설명하고 관련 공고와 신청 페이지 비교",</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"공식 신청 안내",</a:t>
            </a:r>
          </a:p>
          <a:p xmlns:a="http://schemas.openxmlformats.org/drawingml/2006/main">
            <a:r>
              <a:t>          "layer": "업무 연결",</a:t>
            </a:r>
          </a:p>
          <a:p xmlns:a="http://schemas.openxmlformats.org/drawingml/2006/main">
            <a:r>
              <a:t>          "detail": "출처 링크와 신청 안내 페이지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"오류·만족도 분석",</a:t>
            </a:r>
          </a:p>
          <a:p xmlns:a="http://schemas.openxmlformats.org/drawingml/2006/main">
            <a:r>
              <a:t>          "layer": "운영 관측",</a:t>
            </a:r>
          </a:p>
          <a:p xmlns:a="http://schemas.openxmlformats.org/drawingml/2006/main">
            <a:r>
              <a:t>          "detail": "예외 질문·오류·만족도 기반 지식 보완",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"홈페이지·공고 DB",</a:t>
            </a:r>
          </a:p>
          <a:p xmlns:a="http://schemas.openxmlformats.org/drawingml/2006/main">
            <a:r>
              <a:t>          "layer": "데이터 원천",</a:t>
            </a:r>
          </a:p>
          <a:p xmlns:a="http://schemas.openxmlformats.org/drawingml/2006/main">
            <a:r>
              <a:t>          "detail": "정책·공고 지식",</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"수집·갱신·벡터화",</a:t>
            </a:r>
          </a:p>
          <a:p xmlns:a="http://schemas.openxmlformats.org/drawingml/2006/main">
            <a:r>
              <a:t>          "layer": "준비·갱신",</a:t>
            </a:r>
          </a:p>
          <a:p xmlns:a="http://schemas.openxmlformats.org/drawingml/2006/main">
            <a:r>
              <a:t>          "detail": "홈페이지 문서 수집·전처리·변경 반영",</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"공공클라우드 RAG",</a:t>
            </a:r>
          </a:p>
          <a:p xmlns:a="http://schemas.openxmlformats.org/drawingml/2006/main">
            <a:r>
              <a:t>          "layer": "상태·지식 저장",</a:t>
            </a:r>
          </a:p>
          <a:p xmlns:a="http://schemas.openxmlformats.org/drawingml/2006/main">
            <a:r>
              <a:t>          "detail": "조건·기한별 정답 공고와 원문 링크·변경 반영 시각",</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"외부 LLM 연결경계",</a:t>
            </a:r>
          </a:p>
          <a:p xmlns:a="http://schemas.openxmlformats.org/drawingml/2006/main">
            <a:r>
              <a:t>          "layer": "권한·정책",</a:t>
            </a:r>
          </a:p>
          <a:p xmlns:a="http://schemas.openxmlformats.org/drawingml/2006/main">
            <a:r>
              <a:t>          "detail": "마감 공고·유사한 다른 제도·갱신 전 색인",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"요청 목적·대상 조건·대화 이력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"질문·지역",</a:t>
            </a:r>
          </a:p>
          <a:p xmlns:a="http://schemas.openxmlformats.org/drawingml/2006/main">
            <a:r>
              <a:t>          "check": "유효기간·대상조건·링크 점검"</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"유효 공고",</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"조건 비교",</a:t>
            </a:r>
          </a:p>
          <a:p xmlns:a="http://schemas.openxmlformats.org/drawingml/2006/main">
            <a:r>
              <a:t>          "check": "마감 공고·유사한 다른 제도·갱신 전 색인"</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"조건 비교",</a:t>
            </a:r>
          </a:p>
          <a:p xmlns:a="http://schemas.openxmlformats.org/drawingml/2006/main">
            <a:r>
              <a:t>          "check": "출처 링크와 신청 안내 페이지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"공식 페이지",</a:t>
            </a:r>
          </a:p>
          <a:p xmlns:a="http://schemas.openxmlformats.org/drawingml/2006/main">
            <a:r>
              <a:t>          "check": "조건·기한별 정답 공고와 원문 링크·변경 반영 시각"</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"생성형 AI 서비스 아키텍처 구성도, SFR-003~006",</a:t>
            </a:r>
          </a:p>
          <a:p xmlns:a="http://schemas.openxmlformats.org/drawingml/2006/main">
            <a:r>
              <a:t>        "extracted": "홈페이지 RDB → 공공클라우드 Vector DB → 외부 LLM 연결",</a:t>
            </a:r>
          </a:p>
          <a:p xmlns:a="http://schemas.openxmlformats.org/drawingml/2006/main">
            <a:r>
              <a:t>        "extension": "공고 마감·지역·자격조건 대조 및 신청 링크 검증"</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"PF-R05",</a:t>
            </a:r>
          </a:p>
          <a:p xmlns:a="http://schemas.openxmlformats.org/drawingml/2006/main">
            <a:r>
              <a:t>          "path": "assets/casebook-sources/PF-R05-01.png",</a:t>
            </a:r>
          </a:p>
          <a:p xmlns:a="http://schemas.openxmlformats.org/drawingml/2006/main">
            <a:r>
              <a:t>          "title": "홈페이지 AI 목표기능",</a:t>
            </a:r>
          </a:p>
          <a:p xmlns:a="http://schemas.openxmlformats.org/drawingml/2006/main">
            <a:r>
              <a:t>          "status": "RFP 목표기능 구성도",</a:t>
            </a:r>
          </a:p>
          <a:p xmlns:a="http://schemas.openxmlformats.org/drawingml/2006/main">
            <a:r>
              <a:t>          "caption": "챗봇·RAG·데이터 파이프라인·모델 관리의 분리",</a:t>
            </a:r>
          </a:p>
          <a:p xmlns:a="http://schemas.openxmlformats.org/drawingml/2006/main">
            <a:r>
              <a:t>          "locator": "rId17 / BinData/image3_png",</a:t>
            </a:r>
          </a:p>
          <a:p xmlns:a="http://schemas.openxmlformats.org/drawingml/2006/main">
            <a:r>
              <a:t>          "checked": "2026-10-16",</a:t>
            </a:r>
          </a:p>
          <a:p xmlns:a="http://schemas.openxmlformats.org/drawingml/2006/main">
            <a:r>
              <a:t>          "sha256": "dbf8455e9d661c8a3db51e5677f25fc751cb2ade3a7b0abaf602d57a8aaf1ba8",</a:t>
            </a:r>
          </a:p>
          <a:p xmlns:a="http://schemas.openxmlformats.org/drawingml/2006/main">
            <a:r>
              <a:t>          "explanation": {</a:t>
            </a:r>
          </a:p>
          <a:p xmlns:a="http://schemas.openxmlformats.org/drawingml/2006/main">
            <a:r>
              <a:t>            "read": "도민의 대화형 탐색 접점에서 정책·복지·공고 정보의 검색과 AI 응답을 제공하는 목표 기능 구조. 대화 응답 이후 실제 신청 서비스로 이동하는 연결이 업무 완료의 다음 단계.",</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"SFR-005",</a:t>
            </a:r>
          </a:p>
          <a:p xmlns:a="http://schemas.openxmlformats.org/drawingml/2006/main">
            <a:r>
              <a:t>              "SFR-006"</a:t>
            </a:r>
          </a:p>
          <a:p xmlns:a="http://schemas.openxmlformats.org/drawingml/2006/main">
            <a:r>
              <a:t>            ],</a:t>
            </a:r>
          </a:p>
          <a:p xmlns:a="http://schemas.openxmlformats.org/drawingml/2006/main">
            <a:r>
              <a:t>            "connection": "지역·대상·신청기간의 추가 질문과 공식 신청 링크를 구성하고 답변 정확도와 신청 화면 도달률을 분리해 평가하는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"PF-R05",</a:t>
            </a:r>
          </a:p>
          <a:p xmlns:a="http://schemas.openxmlformats.org/drawingml/2006/main">
            <a:r>
              <a:t>          "path": "assets/casebook-sources/PF-R05-02.png",</a:t>
            </a:r>
          </a:p>
          <a:p xmlns:a="http://schemas.openxmlformats.org/drawingml/2006/main">
            <a:r>
              <a:t>          "title": "홈페이지–RAG–외부 LLM",</a:t>
            </a:r>
          </a:p>
          <a:p xmlns:a="http://schemas.openxmlformats.org/drawingml/2006/main">
            <a:r>
              <a:t>          "status": "RFP 서비스 아키텍처 구성도",</a:t>
            </a:r>
          </a:p>
          <a:p xmlns:a="http://schemas.openxmlformats.org/drawingml/2006/main">
            <a:r>
              <a:t>          "caption": "홈페이지 RDB → 공공클라우드 Vector DB → 외부 LLM",</a:t>
            </a:r>
          </a:p>
          <a:p xmlns:a="http://schemas.openxmlformats.org/drawingml/2006/main">
            <a:r>
              <a:t>          "locator": "rId17 / BinData/image4_bmp",</a:t>
            </a:r>
          </a:p>
          <a:p xmlns:a="http://schemas.openxmlformats.org/drawingml/2006/main">
            <a:r>
              <a:t>          "checked": "2026-10-16",</a:t>
            </a:r>
          </a:p>
          <a:p xmlns:a="http://schemas.openxmlformats.org/drawingml/2006/main">
            <a:r>
              <a:t>          "sha256": "04b7bff411913589529c68490addbddd2c84b7abce61ecd7c873e971bab7bf7e",</a:t>
            </a:r>
          </a:p>
          <a:p xmlns:a="http://schemas.openxmlformats.org/drawingml/2006/main">
            <a:r>
              <a:t>          "explanation": {</a:t>
            </a:r>
          </a:p>
          <a:p xmlns:a="http://schemas.openxmlformats.org/drawingml/2006/main">
            <a:r>
              <a:t>            "read": "홈페이지 RDB의 자료를 공공클라우드 검색 계층으로 반영하고 검색 근거를 외부 LLM에 전달하는 구조. 원천 데이터 갱신과 이용자 질문의 실시간 처리를 나누는 연결.",</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"SFR-005"</a:t>
            </a:r>
          </a:p>
          <a:p xmlns:a="http://schemas.openxmlformats.org/drawingml/2006/main">
            <a:r>
              <a:t>            ],</a:t>
            </a:r>
          </a:p>
          <a:p xmlns:a="http://schemas.openxmlformats.org/drawingml/2006/main">
            <a:r>
              <a:t>            "connection": "원천 수정·종료·삭제가 색인에 반영되는지 추적하고 외부 전송 문맥과 답변 인용의 출처·판본을 보존하는 데이터 흐름."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"마감 공고·유사한 다른 제도·갱신 전 색인",</a:t>
            </a:r>
          </a:p>
          <a:p xmlns:a="http://schemas.openxmlformats.org/drawingml/2006/main">
            <a:r>
              <a:t>        "hold": "유효기간·대상조건·링크 점검",</a:t>
            </a:r>
          </a:p>
          <a:p xmlns:a="http://schemas.openxmlformats.org/drawingml/2006/main">
            <a:r>
              <a:t>        "recovery": "예외 질문·오류·만족도 기반 지식 보완",</a:t>
            </a:r>
          </a:p>
          <a:p xmlns:a="http://schemas.openxmlformats.org/drawingml/2006/main">
            <a:r>
              <a:t>        "evidence": "조건·기한별 정답 공고와 원문 링크·변경 반영 시각"</a:t>
            </a:r>
          </a:p>
          <a:p xmlns:a="http://schemas.openxmlformats.org/drawingml/2006/main">
            <a:r>
              <a:t>      },</a:t>
            </a:r>
          </a:p>
          <a:p xmlns:a="http://schemas.openxmlformats.org/drawingml/2006/main">
            <a:r>
              <a:t>      "data": {</a:t>
            </a:r>
          </a:p>
          <a:p xmlns:a="http://schemas.openxmlformats.org/drawingml/2006/main">
            <a:r>
              <a:t>        "source": "정책·공고 지식",</a:t>
            </a:r>
          </a:p>
          <a:p xmlns:a="http://schemas.openxmlformats.org/drawingml/2006/main">
            <a:r>
              <a:t>        "prepare": "홈페이지 문서 수집·전처리·변경 반영",</a:t>
            </a:r>
          </a:p>
          <a:p xmlns:a="http://schemas.openxmlformats.org/drawingml/2006/main">
            <a:r>
              <a:t>        "output": "질문·지역",</a:t>
            </a:r>
          </a:p>
          <a:p xmlns:a="http://schemas.openxmlformats.org/drawingml/2006/main">
            <a:r>
              <a:t>        "refresh": "예외 질문·오류·만족도 기반 지식 보완"</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"PF-R05",</a:t>
            </a:r>
          </a:p>
          <a:p xmlns:a="http://schemas.openxmlformats.org/drawingml/2006/main">
            <a:r>
              <a:t>    "success": [</a:t>
            </a:r>
          </a:p>
          <a:p xmlns:a="http://schemas.openxmlformats.org/drawingml/2006/main">
            <a:r>
              <a:t>      "정책·복지·공고의 통합 탐색",</a:t>
            </a:r>
          </a:p>
          <a:p xmlns:a="http://schemas.openxmlformats.org/drawingml/2006/main">
            <a:r>
              <a:t>      "원문을 통한 후속 절차 연결"</a:t>
            </a:r>
          </a:p>
          <a:p xmlns:a="http://schemas.openxmlformats.org/drawingml/2006/main">
            <a:r>
              <a:t>    ],</a:t>
            </a:r>
          </a:p>
          <a:p xmlns:a="http://schemas.openxmlformats.org/drawingml/2006/main">
            <a:r>
              <a:t>    "risks": [</a:t>
            </a:r>
          </a:p>
          <a:p xmlns:a="http://schemas.openxmlformats.org/drawingml/2006/main">
            <a:r>
              <a:t>      "마감·지역·자격조건 오안내",</a:t>
            </a:r>
          </a:p>
          <a:p xmlns:a="http://schemas.openxmlformats.org/drawingml/2006/main">
            <a:r>
              <a:t>      "착수와 정식 운영 성과의 차이"</a:t>
            </a:r>
          </a:p>
          <a:p xmlns:a="http://schemas.openxmlformats.org/drawingml/2006/main">
            <a:r>
              <a:t>    ],</a:t>
            </a:r>
          </a:p>
          <a:p xmlns:a="http://schemas.openxmlformats.org/drawingml/2006/main">
            <a:r>
              <a:t>    "architecture": [</a:t>
            </a:r>
          </a:p>
          <a:p xmlns:a="http://schemas.openxmlformats.org/drawingml/2006/main">
            <a:r>
              <a:t>      "도민 대화",</a:t>
            </a:r>
          </a:p>
          <a:p xmlns:a="http://schemas.openxmlformats.org/drawingml/2006/main">
            <a:r>
              <a:t>      "의도 분류·정보 비교",</a:t>
            </a:r>
          </a:p>
          <a:p xmlns:a="http://schemas.openxmlformats.org/drawingml/2006/main">
            <a:r>
              <a:t>      "정책·공고 지식",</a:t>
            </a:r>
          </a:p>
          <a:p xmlns:a="http://schemas.openxmlformats.org/drawingml/2006/main">
            <a:r>
              <a:t>      "원문 안내"</a:t>
            </a:r>
          </a:p>
          <a:p xmlns:a="http://schemas.openxmlformats.org/drawingml/2006/main">
            <a:r>
              <a:t>    ],</a:t>
            </a:r>
          </a:p>
          <a:p xmlns:a="http://schemas.openxmlformats.org/drawingml/2006/main">
            <a:r>
              <a:t>    "transfers": [</a:t>
            </a:r>
          </a:p>
          <a:p xmlns:a="http://schemas.openxmlformats.org/drawingml/2006/main">
            <a:r>
              <a:t>      "질문·지역",</a:t>
            </a:r>
          </a:p>
          <a:p xmlns:a="http://schemas.openxmlformats.org/drawingml/2006/main">
            <a:r>
              <a:t>      "유효 공고",</a:t>
            </a:r>
          </a:p>
          <a:p xmlns:a="http://schemas.openxmlformats.org/drawingml/2006/main">
            <a:r>
              <a:t>      "조건 비교",</a:t>
            </a:r>
          </a:p>
          <a:p xmlns:a="http://schemas.openxmlformats.org/drawingml/2006/main">
            <a:r>
              <a:t>      "공식 페이지"</a:t>
            </a:r>
          </a:p>
          <a:p xmlns:a="http://schemas.openxmlformats.org/drawingml/2006/main">
            <a:r>
              <a:t>    ],</a:t>
            </a:r>
          </a:p>
          <a:p xmlns:a="http://schemas.openxmlformats.org/drawingml/2006/main">
            <a:r>
              <a:t>    "control": "유효기간·대상조건·링크 점검",</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SFR-003~006, PER-003 / Word T062 https://www.g2b.go.kr/pn/pnp/pnpe/UntyAtchFile/downloadFile.do?bidPbancNo=R25BK00751232&amp;bidPbancOrd=000&amp;fileType=&amp;fileSeq=2&amp;prcmBsneSeCd=03</a:t>
            </a:r>
          </a:p>
          <a:p xmlns:a="http://schemas.openxmlformats.org/drawingml/2006/main">
            <a:r>
              <a:t>홈페이지 https://heen1987-ops.github.io/TS-business-Plan-001/index.html?view=platform-cases&amp;case=PF-R05</a:t>
            </a:r>
          </a:p>
          <a:p xmlns:a="http://schemas.openxmlformats.org/drawingml/2006/main">
            <a:r>
              <a:t>원문 도면 {"caseId":"PF-R05","path":"assets/casebook-sources/PF-R05-02.png","title":"홈페이지–RAG–외부 LLM","status":"RFP 서비스 아키텍처 구성도","caption":"홈페이지 RDB → 공공클라우드 Vector DB → 외부 LLM","locator":"rId17 / BinData/image4_bmp","checked":"2026-10-16","sha256":"04b7bff411913589529c68490addbddd2c84b7abce61ecd7c873e971bab7bf7e","explanation":{"read":"홈페이지 RDB의 자료를 공공클라우드 검색 계층으로 반영하고 검색 근거를 외부 LLM에 전달하는 구조. 원천 데이터 갱신과 이용자 질문의 실시간 처리를 나누는 연결.","requirements":["SFR-003","SFR-004","SFR-005"],"connection":"원천 수정·종료·삭제가 색인에 반영되는지 추적하고 외부 전송 문맥과 답변 인용의 출처·판본을 보존하는 데이터 흐름."}}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"PF-R05",</a:t>
            </a:r>
          </a:p>
          <a:p xmlns:a="http://schemas.openxmlformats.org/drawingml/2006/main">
            <a:r>
              <a:t>    "sourceId": "R05",</a:t>
            </a:r>
          </a:p>
          <a:p xmlns:a="http://schemas.openxmlformats.org/drawingml/2006/main">
            <a:r>
              <a:t>    "title": "경기도 대화형 정보 탐색",</a:t>
            </a:r>
          </a:p>
          <a:p xmlns:a="http://schemas.openxmlformats.org/drawingml/2006/main">
            <a:r>
              <a:t>    "region": "국내",</a:t>
            </a:r>
          </a:p>
          <a:p xmlns:a="http://schemas.openxmlformats.org/drawingml/2006/main">
            <a:r>
              <a:t>    "owner": "경기도",</a:t>
            </a:r>
          </a:p>
          <a:p xmlns:a="http://schemas.openxmlformats.org/drawingml/2006/main">
            <a:r>
              <a:t>    "state": "공식 RFP·착수 발표 확인 / 정식 운영 성과 미확인",</a:t>
            </a:r>
          </a:p>
          <a:p xmlns:a="http://schemas.openxmlformats.org/drawingml/2006/main">
            <a:r>
              <a:t>    "period": "기존 원장 확인 2026.10.16",</a:t>
            </a:r>
          </a:p>
          <a:p xmlns:a="http://schemas.openxmlformats.org/drawingml/2006/main">
            <a:r>
              <a:t>    "fact": "홈페이지 정책·복지·공고를 도민이 대화로 탐색하는 서비스",</a:t>
            </a:r>
          </a:p>
          <a:p xmlns:a="http://schemas.openxmlformats.org/drawingml/2006/main">
            <a:r>
              <a:t>    "limit": "착수자료의 2025년 11월 예정과 실제 개시·정량 성과를 구분",</a:t>
            </a:r>
          </a:p>
          <a:p xmlns:a="http://schemas.openxmlformats.org/drawingml/2006/main">
            <a:r>
              <a:t>    "nodes": [</a:t>
            </a:r>
          </a:p>
          <a:p xmlns:a="http://schemas.openxmlformats.org/drawingml/2006/main">
            <a:r>
              <a:t>      "정책·공고",</a:t>
            </a:r>
          </a:p>
          <a:p xmlns:a="http://schemas.openxmlformats.org/drawingml/2006/main">
            <a:r>
              <a:t>      "지식 갱신",</a:t>
            </a:r>
          </a:p>
          <a:p xmlns:a="http://schemas.openxmlformats.org/drawingml/2006/main">
            <a:r>
              <a:t>      "의도·정보 비교",</a:t>
            </a:r>
          </a:p>
          <a:p xmlns:a="http://schemas.openxmlformats.org/drawingml/2006/main">
            <a:r>
              <a:t>      "원문 안내"</a:t>
            </a:r>
          </a:p>
          <a:p xmlns:a="http://schemas.openxmlformats.org/drawingml/2006/main">
            <a:r>
              <a:t>    ],</a:t>
            </a:r>
          </a:p>
          <a:p xmlns:a="http://schemas.openxmlformats.org/drawingml/2006/main">
            <a:r>
              <a:t>    "apply": "서비스 조건·기한·신청 창구를 연결하는 홈페이지 탐색 지원",</a:t>
            </a:r>
          </a:p>
          <a:p xmlns:a="http://schemas.openxmlformats.org/drawingml/2006/main">
            <a:r>
              <a:t>    "delta": "서비스·조건·기한 사전 / 유사 공고 비교 / 원문·신청 경로 연결",</a:t>
            </a:r>
          </a:p>
          <a:p xmlns:a="http://schemas.openxmlformats.org/drawingml/2006/main">
            <a:r>
              <a:t>    "test": "마감·유사 공고·갱신 지연 질의의 조건 일치와 서비스 도달 확인",</a:t>
            </a:r>
          </a:p>
          <a:p xmlns:a="http://schemas.openxmlformats.org/drawingml/2006/main">
            <a:r>
              <a:t>    "url": "https://www.g2b.go.kr/pn/pnp/pnpe/UntyAtchFile/downloadFile.do?bidPbancNo=R25BK00751232&amp;bidPbancOrd=000&amp;fileType=&amp;fileSeq=2&amp;prcmBsneSeCd=03",</a:t>
            </a:r>
          </a:p>
          <a:p xmlns:a="http://schemas.openxmlformats.org/drawingml/2006/main">
            <a:r>
              <a:t>    "urls": [</a:t>
            </a:r>
          </a:p>
          <a:p xmlns:a="http://schemas.openxmlformats.org/drawingml/2006/main">
            <a:r>
              <a:t>      "https://www.g2b.go.kr/pn/pnp/pnpe/UntyAtchFile/downloadFile.do?bidPbancNo=R25BK00751232&amp;bidPbancOrd=000&amp;fileType=&amp;fileSeq=2&amp;prcmBsneSeCd=03",</a:t>
            </a:r>
          </a:p>
          <a:p xmlns:a="http://schemas.openxmlformats.org/drawingml/2006/main">
            <a:r>
              <a:t>      "https://gnews.gg.go.kr/briefing/brief_gongbo_view.do?BS_CODE=s017&amp;number=66171"</a:t>
            </a:r>
          </a:p>
          <a:p xmlns:a="http://schemas.openxmlformats.org/drawingml/2006/main">
            <a:r>
              <a:t>    ],</a:t>
            </a:r>
          </a:p>
          <a:p xmlns:a="http://schemas.openxmlformats.org/drawingml/2006/main">
            <a:r>
              <a:t>    "basis": "SFR-003~006, PER-003 / Word T062",</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"정확한 공고 도달률 / 탐색시간 / 이용 포기율",</a:t>
            </a:r>
          </a:p>
          <a:p xmlns:a="http://schemas.openxmlformats.org/drawingml/2006/main">
            <a:r>
              <a:t>    "group": "요구·구축",</a:t>
            </a:r>
          </a:p>
          <a:p xmlns:a="http://schemas.openxmlformats.org/drawingml/2006/main">
            <a:r>
              <a:t>    "sourceDetail": "데이터 수집·갱신→RAG→의도 기반 답변·유사공고 비교→원문 연결; 오류·만족도 관리",</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"PF-R05",</a:t>
            </a:r>
          </a:p>
          <a:p xmlns:a="http://schemas.openxmlformats.org/drawingml/2006/main">
            <a:r>
              <a:t>    "canonicalId": "PF-R05",</a:t>
            </a:r>
          </a:p>
          <a:p xmlns:a="http://schemas.openxmlformats.org/drawingml/2006/main">
            <a:r>
              <a:t>    "purpose": "정책·복지·공고의 대화형 탐색",</a:t>
            </a:r>
          </a:p>
          <a:p xmlns:a="http://schemas.openxmlformats.org/drawingml/2006/main">
            <a:r>
              <a:t>    "users": "도민·홈페이지 운영자",</a:t>
            </a:r>
          </a:p>
          <a:p xmlns:a="http://schemas.openxmlformats.org/drawingml/2006/main">
            <a:r>
              <a:t>    "scope": [</a:t>
            </a:r>
          </a:p>
          <a:p xmlns:a="http://schemas.openxmlformats.org/drawingml/2006/main">
            <a:r>
              <a:t>      "자연어 탐색",</a:t>
            </a:r>
          </a:p>
          <a:p xmlns:a="http://schemas.openxmlformats.org/drawingml/2006/main">
            <a:r>
              <a:t>      "유사공고 비교",</a:t>
            </a:r>
          </a:p>
          <a:p xmlns:a="http://schemas.openxmlformats.org/drawingml/2006/main">
            <a:r>
              <a:t>      "원문 연결"</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"도민 대화",</a:t>
            </a:r>
          </a:p>
          <a:p xmlns:a="http://schemas.openxmlformats.org/drawingml/2006/main">
            <a:r>
              <a:t>        "detail": "요청 목적·대상 조건·대화 이력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"자연어 탐색 / 유사공고 비교 / 원문 연결",</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"의도 분류·정보 비교",</a:t>
            </a:r>
          </a:p>
          <a:p xmlns:a="http://schemas.openxmlformats.org/drawingml/2006/main">
            <a:r>
              <a:t>        "detail": "의도 분석과 RAG 응답·공고 비교",</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"원문 안내",</a:t>
            </a:r>
          </a:p>
          <a:p xmlns:a="http://schemas.openxmlformats.org/drawingml/2006/main">
            <a:r>
              <a:t>        "detail": "출처 링크와 신청 안내 페이지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"정책·공고 지식",</a:t>
            </a:r>
          </a:p>
          <a:p xmlns:a="http://schemas.openxmlformats.org/drawingml/2006/main">
            <a:r>
              <a:t>        "detail": "홈페이지 문서 수집·전처리·변경 반영",</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"예외 질문·오류·만족도 기반 지식 보완",</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"정책·공고",</a:t>
            </a:r>
          </a:p>
          <a:p xmlns:a="http://schemas.openxmlformats.org/drawingml/2006/main">
            <a:r>
              <a:t>        "input": "요청 목적·대상 조건·대화 이력 구성",</a:t>
            </a:r>
          </a:p>
          <a:p xmlns:a="http://schemas.openxmlformats.org/drawingml/2006/main">
            <a:r>
              <a:t>        "process": "홈페이지 문서 수집·전처리·변경 반영",</a:t>
            </a:r>
          </a:p>
          <a:p xmlns:a="http://schemas.openxmlformats.org/drawingml/2006/main">
            <a:r>
              <a:t>        "output": "질문·지역"</a:t>
            </a:r>
          </a:p>
          <a:p xmlns:a="http://schemas.openxmlformats.org/drawingml/2006/main">
            <a:r>
              <a:t>      },</a:t>
            </a:r>
          </a:p>
          <a:p xmlns:a="http://schemas.openxmlformats.org/drawingml/2006/main">
            <a:r>
              <a:t>      {</a:t>
            </a:r>
          </a:p>
          <a:p xmlns:a="http://schemas.openxmlformats.org/drawingml/2006/main">
            <a:r>
              <a:t>        "title": "지식 갱신",</a:t>
            </a:r>
          </a:p>
          <a:p xmlns:a="http://schemas.openxmlformats.org/drawingml/2006/main">
            <a:r>
              <a:t>        "input": "질문·지역",</a:t>
            </a:r>
          </a:p>
          <a:p xmlns:a="http://schemas.openxmlformats.org/drawingml/2006/main">
            <a:r>
              <a:t>        "process": "의도 분석과 RAG 응답·공고 비교",</a:t>
            </a:r>
          </a:p>
          <a:p xmlns:a="http://schemas.openxmlformats.org/drawingml/2006/main">
            <a:r>
              <a:t>        "output": "유효 공고"</a:t>
            </a:r>
          </a:p>
          <a:p xmlns:a="http://schemas.openxmlformats.org/drawingml/2006/main">
            <a:r>
              <a:t>      },</a:t>
            </a:r>
          </a:p>
          <a:p xmlns:a="http://schemas.openxmlformats.org/drawingml/2006/main">
            <a:r>
              <a:t>      {</a:t>
            </a:r>
          </a:p>
          <a:p xmlns:a="http://schemas.openxmlformats.org/drawingml/2006/main">
            <a:r>
              <a:t>        "title": "의도·정보 비교",</a:t>
            </a:r>
          </a:p>
          <a:p xmlns:a="http://schemas.openxmlformats.org/drawingml/2006/main">
            <a:r>
              <a:t>        "input": "유효 공고",</a:t>
            </a:r>
          </a:p>
          <a:p xmlns:a="http://schemas.openxmlformats.org/drawingml/2006/main">
            <a:r>
              <a:t>        "process": "유효기간·대상조건·링크 점검",</a:t>
            </a:r>
          </a:p>
          <a:p xmlns:a="http://schemas.openxmlformats.org/drawingml/2006/main">
            <a:r>
              <a:t>        "output": "조건 비교"</a:t>
            </a:r>
          </a:p>
          <a:p xmlns:a="http://schemas.openxmlformats.org/drawingml/2006/main">
            <a:r>
              <a:t>      },</a:t>
            </a:r>
          </a:p>
          <a:p xmlns:a="http://schemas.openxmlformats.org/drawingml/2006/main">
            <a:r>
              <a:t>      {</a:t>
            </a:r>
          </a:p>
          <a:p xmlns:a="http://schemas.openxmlformats.org/drawingml/2006/main">
            <a:r>
              <a:t>        "title": "원문 안내",</a:t>
            </a:r>
          </a:p>
          <a:p xmlns:a="http://schemas.openxmlformats.org/drawingml/2006/main">
            <a:r>
              <a:t>        "input": "조건 비교",</a:t>
            </a:r>
          </a:p>
          <a:p xmlns:a="http://schemas.openxmlformats.org/drawingml/2006/main">
            <a:r>
              <a:t>        "process": "출처 링크와 신청 안내 페이지 제공",</a:t>
            </a:r>
          </a:p>
          <a:p xmlns:a="http://schemas.openxmlformats.org/drawingml/2006/main">
            <a:r>
              <a:t>        "output": "공식 페이지"</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"자격조건을 설명하고 관련 공고와 신청 페이지 비교",</a:t>
            </a:r>
          </a:p>
          <a:p xmlns:a="http://schemas.openxmlformats.org/drawingml/2006/main">
            <a:r>
              <a:t>      "exception": "마감 공고·유사한 다른 제도·갱신 전 색인",</a:t>
            </a:r>
          </a:p>
          <a:p xmlns:a="http://schemas.openxmlformats.org/drawingml/2006/main">
            <a:r>
              <a:t>      "evidence": "조건·기한별 정답 공고와 원문 링크·변경 반영 시각",</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"도민·홈페이지 운영자",</a:t>
            </a:r>
          </a:p>
          <a:p xmlns:a="http://schemas.openxmlformats.org/drawingml/2006/main">
            <a:r>
              <a:t>          "processing": "요청 목적·대상 조건·대화 이력 구성",</a:t>
            </a:r>
          </a:p>
          <a:p xmlns:a="http://schemas.openxmlformats.org/drawingml/2006/main">
            <a:r>
              <a:t>          "output": "질문·지역"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"정책·공고 지식",</a:t>
            </a:r>
          </a:p>
          <a:p xmlns:a="http://schemas.openxmlformats.org/drawingml/2006/main">
            <a:r>
              <a:t>          "processing": "홈페이지 문서 수집·전처리·변경 반영",</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"질문·지역",</a:t>
            </a:r>
          </a:p>
          <a:p xmlns:a="http://schemas.openxmlformats.org/drawingml/2006/main">
            <a:r>
              <a:t>          "processing": "의도 분석과 RAG 응답·공고 비교",</a:t>
            </a:r>
          </a:p>
          <a:p xmlns:a="http://schemas.openxmlformats.org/drawingml/2006/main">
            <a:r>
              <a:t>          "output": "조건 비교"</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"조건 비교",</a:t>
            </a:r>
          </a:p>
          <a:p xmlns:a="http://schemas.openxmlformats.org/drawingml/2006/main">
            <a:r>
              <a:t>          "processing": "출처 링크와 신청 안내 페이지 제공",</a:t>
            </a:r>
          </a:p>
          <a:p xmlns:a="http://schemas.openxmlformats.org/drawingml/2006/main">
            <a:r>
              <a:t>          "output": "공식 페이지"</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"예외 질문·오류·만족도 기반 지식 보완",</a:t>
            </a:r>
          </a:p>
          <a:p xmlns:a="http://schemas.openxmlformats.org/drawingml/2006/main">
            <a:r>
              <a:t>          "output": "조건·기한별 정답 공고와 원문 링크·변경 반영 시각"</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"예외 질문·오류·만족도 기반 지식 보완",</a:t>
            </a:r>
          </a:p>
          <a:p xmlns:a="http://schemas.openxmlformats.org/drawingml/2006/main">
            <a:r>
              <a:t>    "status": "RFP 기반 논리 설계",</a:t>
            </a:r>
          </a:p>
          <a:p xmlns:a="http://schemas.openxmlformats.org/drawingml/2006/main">
            <a:r>
              <a:t>    "basis": "RFP · SFR-003~006",</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"SFR-003~006, PER-003 / Word T062",</a:t>
            </a:r>
          </a:p>
          <a:p xmlns:a="http://schemas.openxmlformats.org/drawingml/2006/main">
            <a:r>
              <a:t>        "url": "https://www.g2b.go.kr/pn/pnp/pnpe/UntyAtchFile/downloadFile.do?bidPbancNo=R25BK00751232&amp;bidPbancOrd=000&amp;fileType=&amp;fileSeq=2&amp;prcmBsneSeCd=03"</a:t>
            </a:r>
          </a:p>
          <a:p xmlns:a="http://schemas.openxmlformats.org/drawingml/2006/main">
            <a:r>
              <a:t>      }</a:t>
            </a:r>
          </a:p>
          <a:p xmlns:a="http://schemas.openxmlformats.org/drawingml/2006/main">
            <a:r>
              <a:t>    ],</a:t>
            </a:r>
          </a:p>
          <a:p xmlns:a="http://schemas.openxmlformats.org/drawingml/2006/main">
            <a:r>
              <a:t>    "implication": "서비스 조건·기한·신청 창구를 연결하는 홈페이지 탐색 지원",</a:t>
            </a:r>
          </a:p>
          <a:p xmlns:a="http://schemas.openxmlformats.org/drawingml/2006/main">
            <a:r>
              <a:t>    "local": "서비스 조건·기한·신청 창구를 연결하는 홈페이지 탐색 지원",</a:t>
            </a:r>
          </a:p>
          <a:p xmlns:a="http://schemas.openxmlformats.org/drawingml/2006/main">
            <a:r>
              <a:t>    "sourceDetail": "데이터 수집·갱신→RAG→의도 기반 답변·유사공고 비교→원문 연결; 오류·만족도 관리",</a:t>
            </a:r>
          </a:p>
          <a:p xmlns:a="http://schemas.openxmlformats.org/drawingml/2006/main">
            <a:r>
              <a:t>    "narrative": [</a:t>
            </a:r>
          </a:p>
          <a:p xmlns:a="http://schemas.openxmlformats.org/drawingml/2006/main">
            <a:r>
              <a:t>      "경기도 홈페이지에 축적된 정책·복지·공고 정보를 자연어로 찾도록 하는 검색 접점 고도화. 국민의 요청을 신청 자격·지역·기간 등의 조건으로 정리하고, 맞는 공고와 기존 신청 화면으로 연결하는 업무.",</a:t>
            </a:r>
          </a:p>
          <a:p xmlns:a="http://schemas.openxmlformats.org/drawingml/2006/main">
            <a:r>
              <a:t>      "원문 서비스 도면은 홈페이지 RDB의 대상 자료를 공공클라우드 RAG 영역에 수집·임베딩하고, 질의와 검색 근거를 외부 LLM에 전달한 뒤 홈페이지 채팅 UI로 답변하는 구성. 기능도에는 데이터·프롬프트·이력·모델·통계를 별도 관리 영역으로 명시.",</a:t>
            </a:r>
          </a:p>
          <a:p xmlns:a="http://schemas.openxmlformats.org/drawingml/2006/main">
            <a:r>
              <a:t>      "챗봇이 답한 것과 국민이 원하는 서비스를 찾은 것을 구분해 평가할 사례. 마감 공고·지역 불일치·자격 예외를 포함한 질문으로 원문 링크 도달과 다음 절차 안내를 검증할 필요. TS 대국민 접점에서는 기존 메뉴·신청 시스템을 유지하면서 자연어·음성 진입을 추가하는 방향."</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"SFR-003",</a:t>
            </a:r>
          </a:p>
          <a:p xmlns:a="http://schemas.openxmlformats.org/drawingml/2006/main">
            <a:r>
              <a:t>        "title": "생성형 AI 챗봇 검색 서비스 대상 데이터 수집·정제·전처리",</a:t>
            </a:r>
          </a:p>
          <a:p xmlns:a="http://schemas.openxmlformats.org/drawingml/2006/main">
            <a:r>
              <a:t>        "locator": "SFR-003",</a:t>
            </a:r>
          </a:p>
          <a:p xmlns:a="http://schemas.openxmlformats.org/drawingml/2006/main">
            <a:r>
              <a:t>        "summary": "정책·복지·공고 등 대상 데이터를 수집하고 정제·전처리하는 기능.",</a:t>
            </a:r>
          </a:p>
          <a:p xmlns:a="http://schemas.openxmlformats.org/drawingml/2006/main">
            <a:r>
              <a:t>        "data": "홈페이지 원문·파일 → 정규화 자료·메타데이터",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a:t>
            </a:r>
          </a:p>
          <a:p xmlns:a="http://schemas.openxmlformats.org/drawingml/2006/main">
            <a:r>
              <a:t>        "acceptance": "첨부·표·중복 URL·깨진 링크 입력의 수집 범위와 정제 결과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"dfce571aa07ad0601b331c6afaa46c57d8ef4ad8975cae48c8c928272ce53768"</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"실시간 데이터 파이프라인 자동화 구축",</a:t>
            </a:r>
          </a:p>
          <a:p xmlns:a="http://schemas.openxmlformats.org/drawingml/2006/main">
            <a:r>
              <a:t>        "locator": "SFR-004",</a:t>
            </a:r>
          </a:p>
          <a:p xmlns:a="http://schemas.openxmlformats.org/drawingml/2006/main">
            <a:r>
              <a:t>        "summary": "신규·변경 정보를 반영하는 데이터 파이프라인 자동화.",</a:t>
            </a:r>
          </a:p>
          <a:p xmlns:a="http://schemas.openxmlformats.org/drawingml/2006/main">
            <a:r>
              <a:t>        "data": "원천 변경·스케줄 → 갱신된 검색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"공고 수정·종료·삭제 후 색인 갱신과 수집 실패 후 재개 결과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"6d77f8fe82e84d8c671fdea123a554f2f2c061d91a1941d599146f167079e57e"</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"RAG(Retrieval Augmented Generation) 구축",</a:t>
            </a:r>
          </a:p>
          <a:p xmlns:a="http://schemas.openxmlformats.org/drawingml/2006/main">
            <a:r>
              <a:t>        "locator": "SFR-005",</a:t>
            </a:r>
          </a:p>
          <a:p xmlns:a="http://schemas.openxmlformats.org/drawingml/2006/main">
            <a:r>
              <a:t>        "summary": "정제 자료를 검색 근거로 제공하는 RAG 기반 구성.",</a:t>
            </a:r>
          </a:p>
          <a:p xmlns:a="http://schemas.openxmlformats.org/drawingml/2006/main">
            <a:r>
              <a:t>        "data": "사용자 질문·정책 색인 → 근거 문서·답변 문맥",</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"C11"</a:t>
            </a:r>
          </a:p>
          <a:p xmlns:a="http://schemas.openxmlformats.org/drawingml/2006/main">
            <a:r>
              <a:t>        ],</a:t>
            </a:r>
          </a:p>
          <a:p xmlns:a="http://schemas.openxmlformats.org/drawingml/2006/main">
            <a:r>
              <a:t>        "acceptance": "기간·지역·대상 조건이 다른 유사 정책의 구분과 근거 페이지 정확성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"02d312ae74d0ddf4dd06d7e84e79461aa2f4bb7664d9f657f22281c8d145bf02"</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"생성형 AI 챗봇 검색 서비스 개발",</a:t>
            </a:r>
          </a:p>
          <a:p xmlns:a="http://schemas.openxmlformats.org/drawingml/2006/main">
            <a:r>
              <a:t>        "locator": "SFR-006",</a:t>
            </a:r>
          </a:p>
          <a:p xmlns:a="http://schemas.openxmlformats.org/drawingml/2006/main">
            <a:r>
              <a:t>        "summary": "도민의 대화형 정보 탐색을 위한 챗봇·검색 서비스 구현.",</a:t>
            </a:r>
          </a:p>
          <a:p xmlns:a="http://schemas.openxmlformats.org/drawingml/2006/main">
            <a:r>
              <a:t>        "data": "자연어 문의·추가 조건 → 안내·공식 서비스 연결",</a:t>
            </a:r>
          </a:p>
          <a:p xmlns:a="http://schemas.openxmlformats.org/drawingml/2006/main">
            <a:r>
              <a:t>        "components": [</a:t>
            </a:r>
          </a:p>
          <a:p xmlns:a="http://schemas.openxmlformats.org/drawingml/2006/main">
            <a:r>
              <a:t>          "C01",</a:t>
            </a:r>
          </a:p>
          <a:p xmlns:a="http://schemas.openxmlformats.org/drawingml/2006/main">
            <a:r>
              <a:t>          "C02",</a:t>
            </a:r>
          </a:p>
          <a:p xmlns:a="http://schemas.openxmlformats.org/drawingml/2006/main">
            <a:r>
              <a:t>          "C06"</a:t>
            </a:r>
          </a:p>
          <a:p xmlns:a="http://schemas.openxmlformats.org/drawingml/2006/main">
            <a:r>
              <a:t>        ],</a:t>
            </a:r>
          </a:p>
          <a:p xmlns:a="http://schemas.openxmlformats.org/drawingml/2006/main">
            <a:r>
              <a:t>        "acceptance": "모호한 문의의 추가 질문, 잘못된 서비스 링크, 응답 실패 시 기존 탐색 경로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"b2087cef15831463cccbd35ddb28248885288bfed8bbcafeed9bc7066f08417e"</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"홈페이지 챗봇",</a:t>
            </a:r>
          </a:p>
          <a:p xmlns:a="http://schemas.openxmlformats.org/drawingml/2006/main">
            <a:r>
              <a:t>          "layer": "이용 접점",</a:t>
            </a:r>
          </a:p>
          <a:p xmlns:a="http://schemas.openxmlformats.org/drawingml/2006/main">
            <a:r>
              <a:t>          "detail": "도민·홈페이지 운영자",</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"지역·대상·기간",</a:t>
            </a:r>
          </a:p>
          <a:p xmlns:a="http://schemas.openxmlformats.org/drawingml/2006/main">
            <a:r>
              <a:t>          "layer": "업무 문맥",</a:t>
            </a:r>
          </a:p>
          <a:p xmlns:a="http://schemas.openxmlformats.org/drawingml/2006/main">
            <a:r>
              <a:t>          "detail": "요청 목적·대상 조건·대화 이력 구성",</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"유효 공고 검색",</a:t>
            </a:r>
          </a:p>
          <a:p xmlns:a="http://schemas.openxmlformats.org/drawingml/2006/main">
            <a:r>
              <a:t>          "layer": "자료 조회",</a:t>
            </a:r>
          </a:p>
          <a:p xmlns:a="http://schemas.openxmlformats.org/drawingml/2006/main">
            <a:r>
              <a:t>          "detail": "질문·지역",</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"의도·조건 비교",</a:t>
            </a:r>
          </a:p>
          <a:p xmlns:a="http://schemas.openxmlformats.org/drawingml/2006/main">
            <a:r>
              <a:t>          "layer": "핵심 처리",</a:t>
            </a:r>
          </a:p>
          <a:p xmlns:a="http://schemas.openxmlformats.org/drawingml/2006/main">
            <a:r>
              <a:t>          "detail": "의도 분석과 RAG 응답·공고 비교",</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"마감·자격 검사",</a:t>
            </a:r>
          </a:p>
          <a:p xmlns:a="http://schemas.openxmlformats.org/drawingml/2006/main">
            <a:r>
              <a:t>          "layer": "결과 검증",</a:t>
            </a:r>
          </a:p>
          <a:p xmlns:a="http://schemas.openxmlformats.org/drawingml/2006/main">
            <a:r>
              <a:t>          "detail": "유효기간·대상조건·링크 점검",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"이용자 조건 확인",</a:t>
            </a:r>
          </a:p>
          <a:p xmlns:a="http://schemas.openxmlformats.org/drawingml/2006/main">
            <a:r>
              <a:t>          "layer": "사람 확인",</a:t>
            </a:r>
          </a:p>
          <a:p xmlns:a="http://schemas.openxmlformats.org/drawingml/2006/main">
            <a:r>
              <a:t>          "detail": "자격조건을 설명하고 관련 공고와 신청 페이지 비교",</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"공식 신청 안내",</a:t>
            </a:r>
          </a:p>
          <a:p xmlns:a="http://schemas.openxmlformats.org/drawingml/2006/main">
            <a:r>
              <a:t>          "layer": "업무 연결",</a:t>
            </a:r>
          </a:p>
          <a:p xmlns:a="http://schemas.openxmlformats.org/drawingml/2006/main">
            <a:r>
              <a:t>          "detail": "출처 링크와 신청 안내 페이지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"오류·만족도 분석",</a:t>
            </a:r>
          </a:p>
          <a:p xmlns:a="http://schemas.openxmlformats.org/drawingml/2006/main">
            <a:r>
              <a:t>          "layer": "운영 관측",</a:t>
            </a:r>
          </a:p>
          <a:p xmlns:a="http://schemas.openxmlformats.org/drawingml/2006/main">
            <a:r>
              <a:t>          "detail": "예외 질문·오류·만족도 기반 지식 보완",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"홈페이지·공고 DB",</a:t>
            </a:r>
          </a:p>
          <a:p xmlns:a="http://schemas.openxmlformats.org/drawingml/2006/main">
            <a:r>
              <a:t>          "layer": "데이터 원천",</a:t>
            </a:r>
          </a:p>
          <a:p xmlns:a="http://schemas.openxmlformats.org/drawingml/2006/main">
            <a:r>
              <a:t>          "detail": "정책·공고 지식",</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"수집·갱신·벡터화",</a:t>
            </a:r>
          </a:p>
          <a:p xmlns:a="http://schemas.openxmlformats.org/drawingml/2006/main">
            <a:r>
              <a:t>          "layer": "준비·갱신",</a:t>
            </a:r>
          </a:p>
          <a:p xmlns:a="http://schemas.openxmlformats.org/drawingml/2006/main">
            <a:r>
              <a:t>          "detail": "홈페이지 문서 수집·전처리·변경 반영",</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"공공클라우드 RAG",</a:t>
            </a:r>
          </a:p>
          <a:p xmlns:a="http://schemas.openxmlformats.org/drawingml/2006/main">
            <a:r>
              <a:t>          "layer": "상태·지식 저장",</a:t>
            </a:r>
          </a:p>
          <a:p xmlns:a="http://schemas.openxmlformats.org/drawingml/2006/main">
            <a:r>
              <a:t>          "detail": "조건·기한별 정답 공고와 원문 링크·변경 반영 시각",</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"외부 LLM 연결경계",</a:t>
            </a:r>
          </a:p>
          <a:p xmlns:a="http://schemas.openxmlformats.org/drawingml/2006/main">
            <a:r>
              <a:t>          "layer": "권한·정책",</a:t>
            </a:r>
          </a:p>
          <a:p xmlns:a="http://schemas.openxmlformats.org/drawingml/2006/main">
            <a:r>
              <a:t>          "detail": "마감 공고·유사한 다른 제도·갱신 전 색인",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"요청 목적·대상 조건·대화 이력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"질문·지역",</a:t>
            </a:r>
          </a:p>
          <a:p xmlns:a="http://schemas.openxmlformats.org/drawingml/2006/main">
            <a:r>
              <a:t>          "check": "유효기간·대상조건·링크 점검"</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"유효 공고",</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"조건 비교",</a:t>
            </a:r>
          </a:p>
          <a:p xmlns:a="http://schemas.openxmlformats.org/drawingml/2006/main">
            <a:r>
              <a:t>          "check": "마감 공고·유사한 다른 제도·갱신 전 색인"</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"조건 비교",</a:t>
            </a:r>
          </a:p>
          <a:p xmlns:a="http://schemas.openxmlformats.org/drawingml/2006/main">
            <a:r>
              <a:t>          "check": "출처 링크와 신청 안내 페이지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"공식 페이지",</a:t>
            </a:r>
          </a:p>
          <a:p xmlns:a="http://schemas.openxmlformats.org/drawingml/2006/main">
            <a:r>
              <a:t>          "check": "조건·기한별 정답 공고와 원문 링크·변경 반영 시각"</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"생성형 AI 서비스 아키텍처 구성도, SFR-003~006",</a:t>
            </a:r>
          </a:p>
          <a:p xmlns:a="http://schemas.openxmlformats.org/drawingml/2006/main">
            <a:r>
              <a:t>        "extracted": "홈페이지 RDB → 공공클라우드 Vector DB → 외부 LLM 연결",</a:t>
            </a:r>
          </a:p>
          <a:p xmlns:a="http://schemas.openxmlformats.org/drawingml/2006/main">
            <a:r>
              <a:t>        "extension": "공고 마감·지역·자격조건 대조 및 신청 링크 검증"</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"PF-R05",</a:t>
            </a:r>
          </a:p>
          <a:p xmlns:a="http://schemas.openxmlformats.org/drawingml/2006/main">
            <a:r>
              <a:t>          "path": "assets/casebook-sources/PF-R05-01.png",</a:t>
            </a:r>
          </a:p>
          <a:p xmlns:a="http://schemas.openxmlformats.org/drawingml/2006/main">
            <a:r>
              <a:t>          "title": "홈페이지 AI 목표기능",</a:t>
            </a:r>
          </a:p>
          <a:p xmlns:a="http://schemas.openxmlformats.org/drawingml/2006/main">
            <a:r>
              <a:t>          "status": "RFP 목표기능 구성도",</a:t>
            </a:r>
          </a:p>
          <a:p xmlns:a="http://schemas.openxmlformats.org/drawingml/2006/main">
            <a:r>
              <a:t>          "caption": "챗봇·RAG·데이터 파이프라인·모델 관리의 분리",</a:t>
            </a:r>
          </a:p>
          <a:p xmlns:a="http://schemas.openxmlformats.org/drawingml/2006/main">
            <a:r>
              <a:t>          "locator": "rId17 / BinData/image3_png",</a:t>
            </a:r>
          </a:p>
          <a:p xmlns:a="http://schemas.openxmlformats.org/drawingml/2006/main">
            <a:r>
              <a:t>          "checked": "2026-10-16",</a:t>
            </a:r>
          </a:p>
          <a:p xmlns:a="http://schemas.openxmlformats.org/drawingml/2006/main">
            <a:r>
              <a:t>          "sha256": "dbf8455e9d661c8a3db51e5677f25fc751cb2ade3a7b0abaf602d57a8aaf1ba8",</a:t>
            </a:r>
          </a:p>
          <a:p xmlns:a="http://schemas.openxmlformats.org/drawingml/2006/main">
            <a:r>
              <a:t>          "explanation": {</a:t>
            </a:r>
          </a:p>
          <a:p xmlns:a="http://schemas.openxmlformats.org/drawingml/2006/main">
            <a:r>
              <a:t>            "read": "도민의 대화형 탐색 접점에서 정책·복지·공고 정보의 검색과 AI 응답을 제공하는 목표 기능 구조. 대화 응답 이후 실제 신청 서비스로 이동하는 연결이 업무 완료의 다음 단계.",</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"SFR-005",</a:t>
            </a:r>
          </a:p>
          <a:p xmlns:a="http://schemas.openxmlformats.org/drawingml/2006/main">
            <a:r>
              <a:t>              "SFR-006"</a:t>
            </a:r>
          </a:p>
          <a:p xmlns:a="http://schemas.openxmlformats.org/drawingml/2006/main">
            <a:r>
              <a:t>            ],</a:t>
            </a:r>
          </a:p>
          <a:p xmlns:a="http://schemas.openxmlformats.org/drawingml/2006/main">
            <a:r>
              <a:t>            "connection": "지역·대상·신청기간의 추가 질문과 공식 신청 링크를 구성하고 답변 정확도와 신청 화면 도달률을 분리해 평가하는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"PF-R05",</a:t>
            </a:r>
          </a:p>
          <a:p xmlns:a="http://schemas.openxmlformats.org/drawingml/2006/main">
            <a:r>
              <a:t>          "path": "assets/casebook-sources/PF-R05-02.png",</a:t>
            </a:r>
          </a:p>
          <a:p xmlns:a="http://schemas.openxmlformats.org/drawingml/2006/main">
            <a:r>
              <a:t>          "title": "홈페이지–RAG–외부 LLM",</a:t>
            </a:r>
          </a:p>
          <a:p xmlns:a="http://schemas.openxmlformats.org/drawingml/2006/main">
            <a:r>
              <a:t>          "status": "RFP 서비스 아키텍처 구성도",</a:t>
            </a:r>
          </a:p>
          <a:p xmlns:a="http://schemas.openxmlformats.org/drawingml/2006/main">
            <a:r>
              <a:t>          "caption": "홈페이지 RDB → 공공클라우드 Vector DB → 외부 LLM",</a:t>
            </a:r>
          </a:p>
          <a:p xmlns:a="http://schemas.openxmlformats.org/drawingml/2006/main">
            <a:r>
              <a:t>          "locator": "rId17 / BinData/image4_bmp",</a:t>
            </a:r>
          </a:p>
          <a:p xmlns:a="http://schemas.openxmlformats.org/drawingml/2006/main">
            <a:r>
              <a:t>          "checked": "2026-10-16",</a:t>
            </a:r>
          </a:p>
          <a:p xmlns:a="http://schemas.openxmlformats.org/drawingml/2006/main">
            <a:r>
              <a:t>          "sha256": "04b7bff411913589529c68490addbddd2c84b7abce61ecd7c873e971bab7bf7e",</a:t>
            </a:r>
          </a:p>
          <a:p xmlns:a="http://schemas.openxmlformats.org/drawingml/2006/main">
            <a:r>
              <a:t>          "explanation": {</a:t>
            </a:r>
          </a:p>
          <a:p xmlns:a="http://schemas.openxmlformats.org/drawingml/2006/main">
            <a:r>
              <a:t>            "read": "홈페이지 RDB의 자료를 공공클라우드 검색 계층으로 반영하고 검색 근거를 외부 LLM에 전달하는 구조. 원천 데이터 갱신과 이용자 질문의 실시간 처리를 나누는 연결.",</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"SFR-005"</a:t>
            </a:r>
          </a:p>
          <a:p xmlns:a="http://schemas.openxmlformats.org/drawingml/2006/main">
            <a:r>
              <a:t>            ],</a:t>
            </a:r>
          </a:p>
          <a:p xmlns:a="http://schemas.openxmlformats.org/drawingml/2006/main">
            <a:r>
              <a:t>            "connection": "원천 수정·종료·삭제가 색인에 반영되는지 추적하고 외부 전송 문맥과 답변 인용의 출처·판본을 보존하는 데이터 흐름."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"마감 공고·유사한 다른 제도·갱신 전 색인",</a:t>
            </a:r>
          </a:p>
          <a:p xmlns:a="http://schemas.openxmlformats.org/drawingml/2006/main">
            <a:r>
              <a:t>        "hold": "유효기간·대상조건·링크 점검",</a:t>
            </a:r>
          </a:p>
          <a:p xmlns:a="http://schemas.openxmlformats.org/drawingml/2006/main">
            <a:r>
              <a:t>        "recovery": "예외 질문·오류·만족도 기반 지식 보완",</a:t>
            </a:r>
          </a:p>
          <a:p xmlns:a="http://schemas.openxmlformats.org/drawingml/2006/main">
            <a:r>
              <a:t>        "evidence": "조건·기한별 정답 공고와 원문 링크·변경 반영 시각"</a:t>
            </a:r>
          </a:p>
          <a:p xmlns:a="http://schemas.openxmlformats.org/drawingml/2006/main">
            <a:r>
              <a:t>      },</a:t>
            </a:r>
          </a:p>
          <a:p xmlns:a="http://schemas.openxmlformats.org/drawingml/2006/main">
            <a:r>
              <a:t>      "data": {</a:t>
            </a:r>
          </a:p>
          <a:p xmlns:a="http://schemas.openxmlformats.org/drawingml/2006/main">
            <a:r>
              <a:t>        "source": "정책·공고 지식",</a:t>
            </a:r>
          </a:p>
          <a:p xmlns:a="http://schemas.openxmlformats.org/drawingml/2006/main">
            <a:r>
              <a:t>        "prepare": "홈페이지 문서 수집·전처리·변경 반영",</a:t>
            </a:r>
          </a:p>
          <a:p xmlns:a="http://schemas.openxmlformats.org/drawingml/2006/main">
            <a:r>
              <a:t>        "output": "질문·지역",</a:t>
            </a:r>
          </a:p>
          <a:p xmlns:a="http://schemas.openxmlformats.org/drawingml/2006/main">
            <a:r>
              <a:t>        "refresh": "예외 질문·오류·만족도 기반 지식 보완"</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"PF-R05",</a:t>
            </a:r>
          </a:p>
          <a:p xmlns:a="http://schemas.openxmlformats.org/drawingml/2006/main">
            <a:r>
              <a:t>    "success": [</a:t>
            </a:r>
          </a:p>
          <a:p xmlns:a="http://schemas.openxmlformats.org/drawingml/2006/main">
            <a:r>
              <a:t>      "정책·복지·공고의 통합 탐색",</a:t>
            </a:r>
          </a:p>
          <a:p xmlns:a="http://schemas.openxmlformats.org/drawingml/2006/main">
            <a:r>
              <a:t>      "원문을 통한 후속 절차 연결"</a:t>
            </a:r>
          </a:p>
          <a:p xmlns:a="http://schemas.openxmlformats.org/drawingml/2006/main">
            <a:r>
              <a:t>    ],</a:t>
            </a:r>
          </a:p>
          <a:p xmlns:a="http://schemas.openxmlformats.org/drawingml/2006/main">
            <a:r>
              <a:t>    "risks": [</a:t>
            </a:r>
          </a:p>
          <a:p xmlns:a="http://schemas.openxmlformats.org/drawingml/2006/main">
            <a:r>
              <a:t>      "마감·지역·자격조건 오안내",</a:t>
            </a:r>
          </a:p>
          <a:p xmlns:a="http://schemas.openxmlformats.org/drawingml/2006/main">
            <a:r>
              <a:t>      "착수와 정식 운영 성과의 차이"</a:t>
            </a:r>
          </a:p>
          <a:p xmlns:a="http://schemas.openxmlformats.org/drawingml/2006/main">
            <a:r>
              <a:t>    ],</a:t>
            </a:r>
          </a:p>
          <a:p xmlns:a="http://schemas.openxmlformats.org/drawingml/2006/main">
            <a:r>
              <a:t>    "architecture": [</a:t>
            </a:r>
          </a:p>
          <a:p xmlns:a="http://schemas.openxmlformats.org/drawingml/2006/main">
            <a:r>
              <a:t>      "도민 대화",</a:t>
            </a:r>
          </a:p>
          <a:p xmlns:a="http://schemas.openxmlformats.org/drawingml/2006/main">
            <a:r>
              <a:t>      "의도 분류·정보 비교",</a:t>
            </a:r>
          </a:p>
          <a:p xmlns:a="http://schemas.openxmlformats.org/drawingml/2006/main">
            <a:r>
              <a:t>      "정책·공고 지식",</a:t>
            </a:r>
          </a:p>
          <a:p xmlns:a="http://schemas.openxmlformats.org/drawingml/2006/main">
            <a:r>
              <a:t>      "원문 안내"</a:t>
            </a:r>
          </a:p>
          <a:p xmlns:a="http://schemas.openxmlformats.org/drawingml/2006/main">
            <a:r>
              <a:t>    ],</a:t>
            </a:r>
          </a:p>
          <a:p xmlns:a="http://schemas.openxmlformats.org/drawingml/2006/main">
            <a:r>
              <a:t>    "transfers": [</a:t>
            </a:r>
          </a:p>
          <a:p xmlns:a="http://schemas.openxmlformats.org/drawingml/2006/main">
            <a:r>
              <a:t>      "질문·지역",</a:t>
            </a:r>
          </a:p>
          <a:p xmlns:a="http://schemas.openxmlformats.org/drawingml/2006/main">
            <a:r>
              <a:t>      "유효 공고",</a:t>
            </a:r>
          </a:p>
          <a:p xmlns:a="http://schemas.openxmlformats.org/drawingml/2006/main">
            <a:r>
              <a:t>      "조건 비교",</a:t>
            </a:r>
          </a:p>
          <a:p xmlns:a="http://schemas.openxmlformats.org/drawingml/2006/main">
            <a:r>
              <a:t>      "공식 페이지"</a:t>
            </a:r>
          </a:p>
          <a:p xmlns:a="http://schemas.openxmlformats.org/drawingml/2006/main">
            <a:r>
              <a:t>    ],</a:t>
            </a:r>
          </a:p>
          <a:p xmlns:a="http://schemas.openxmlformats.org/drawingml/2006/main">
            <a:r>
              <a:t>    "control": "유효기간·대상조건·링크 점검",</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SFR-003~006, PER-003 / Word T062 https://www.g2b.go.kr/pn/pnp/pnpe/UntyAtchFile/downloadFile.do?bidPbancNo=R25BK00751232&amp;bidPbancOrd=000&amp;fileType=&amp;fileSeq=2&amp;prcmBsneSeCd=03</a:t>
            </a:r>
          </a:p>
          <a:p xmlns:a="http://schemas.openxmlformats.org/drawingml/2006/main">
            <a:r>
              <a:t>홈페이지 https://heen1987-ops.github.io/TS-business-Plan-001/index.html?view=platform-cases&amp;case=PF-R05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"PF-R05",</a:t>
            </a:r>
          </a:p>
          <a:p xmlns:a="http://schemas.openxmlformats.org/drawingml/2006/main">
            <a:r>
              <a:t>    "sourceId": "R05",</a:t>
            </a:r>
          </a:p>
          <a:p xmlns:a="http://schemas.openxmlformats.org/drawingml/2006/main">
            <a:r>
              <a:t>    "title": "경기도 대화형 정보 탐색",</a:t>
            </a:r>
          </a:p>
          <a:p xmlns:a="http://schemas.openxmlformats.org/drawingml/2006/main">
            <a:r>
              <a:t>    "region": "국내",</a:t>
            </a:r>
          </a:p>
          <a:p xmlns:a="http://schemas.openxmlformats.org/drawingml/2006/main">
            <a:r>
              <a:t>    "owner": "경기도",</a:t>
            </a:r>
          </a:p>
          <a:p xmlns:a="http://schemas.openxmlformats.org/drawingml/2006/main">
            <a:r>
              <a:t>    "state": "공식 RFP·착수 발표 확인 / 정식 운영 성과 미확인",</a:t>
            </a:r>
          </a:p>
          <a:p xmlns:a="http://schemas.openxmlformats.org/drawingml/2006/main">
            <a:r>
              <a:t>    "period": "기존 원장 확인 2026.10.16",</a:t>
            </a:r>
          </a:p>
          <a:p xmlns:a="http://schemas.openxmlformats.org/drawingml/2006/main">
            <a:r>
              <a:t>    "fact": "홈페이지 정책·복지·공고를 도민이 대화로 탐색하는 서비스",</a:t>
            </a:r>
          </a:p>
          <a:p xmlns:a="http://schemas.openxmlformats.org/drawingml/2006/main">
            <a:r>
              <a:t>    "limit": "착수자료의 2025년 11월 예정과 실제 개시·정량 성과를 구분",</a:t>
            </a:r>
          </a:p>
          <a:p xmlns:a="http://schemas.openxmlformats.org/drawingml/2006/main">
            <a:r>
              <a:t>    "nodes": [</a:t>
            </a:r>
          </a:p>
          <a:p xmlns:a="http://schemas.openxmlformats.org/drawingml/2006/main">
            <a:r>
              <a:t>      "정책·공고",</a:t>
            </a:r>
          </a:p>
          <a:p xmlns:a="http://schemas.openxmlformats.org/drawingml/2006/main">
            <a:r>
              <a:t>      "지식 갱신",</a:t>
            </a:r>
          </a:p>
          <a:p xmlns:a="http://schemas.openxmlformats.org/drawingml/2006/main">
            <a:r>
              <a:t>      "의도·정보 비교",</a:t>
            </a:r>
          </a:p>
          <a:p xmlns:a="http://schemas.openxmlformats.org/drawingml/2006/main">
            <a:r>
              <a:t>      "원문 안내"</a:t>
            </a:r>
          </a:p>
          <a:p xmlns:a="http://schemas.openxmlformats.org/drawingml/2006/main">
            <a:r>
              <a:t>    ],</a:t>
            </a:r>
          </a:p>
          <a:p xmlns:a="http://schemas.openxmlformats.org/drawingml/2006/main">
            <a:r>
              <a:t>    "apply": "서비스 조건·기한·신청 창구를 연결하는 홈페이지 탐색 지원",</a:t>
            </a:r>
          </a:p>
          <a:p xmlns:a="http://schemas.openxmlformats.org/drawingml/2006/main">
            <a:r>
              <a:t>    "delta": "서비스·조건·기한 사전 / 유사 공고 비교 / 원문·신청 경로 연결",</a:t>
            </a:r>
          </a:p>
          <a:p xmlns:a="http://schemas.openxmlformats.org/drawingml/2006/main">
            <a:r>
              <a:t>    "test": "마감·유사 공고·갱신 지연 질의의 조건 일치와 서비스 도달 확인",</a:t>
            </a:r>
          </a:p>
          <a:p xmlns:a="http://schemas.openxmlformats.org/drawingml/2006/main">
            <a:r>
              <a:t>    "url": "https://www.g2b.go.kr/pn/pnp/pnpe/UntyAtchFile/downloadFile.do?bidPbancNo=R25BK00751232&amp;bidPbancOrd=000&amp;fileType=&amp;fileSeq=2&amp;prcmBsneSeCd=03",</a:t>
            </a:r>
          </a:p>
          <a:p xmlns:a="http://schemas.openxmlformats.org/drawingml/2006/main">
            <a:r>
              <a:t>    "urls": [</a:t>
            </a:r>
          </a:p>
          <a:p xmlns:a="http://schemas.openxmlformats.org/drawingml/2006/main">
            <a:r>
              <a:t>      "https://www.g2b.go.kr/pn/pnp/pnpe/UntyAtchFile/downloadFile.do?bidPbancNo=R25BK00751232&amp;bidPbancOrd=000&amp;fileType=&amp;fileSeq=2&amp;prcmBsneSeCd=03",</a:t>
            </a:r>
          </a:p>
          <a:p xmlns:a="http://schemas.openxmlformats.org/drawingml/2006/main">
            <a:r>
              <a:t>      "https://gnews.gg.go.kr/briefing/brief_gongbo_view.do?BS_CODE=s017&amp;number=66171"</a:t>
            </a:r>
          </a:p>
          <a:p xmlns:a="http://schemas.openxmlformats.org/drawingml/2006/main">
            <a:r>
              <a:t>    ],</a:t>
            </a:r>
          </a:p>
          <a:p xmlns:a="http://schemas.openxmlformats.org/drawingml/2006/main">
            <a:r>
              <a:t>    "basis": "SFR-003~006, PER-003 / Word T062",</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"정확한 공고 도달률 / 탐색시간 / 이용 포기율",</a:t>
            </a:r>
          </a:p>
          <a:p xmlns:a="http://schemas.openxmlformats.org/drawingml/2006/main">
            <a:r>
              <a:t>    "group": "요구·구축",</a:t>
            </a:r>
          </a:p>
          <a:p xmlns:a="http://schemas.openxmlformats.org/drawingml/2006/main">
            <a:r>
              <a:t>    "sourceDetail": "데이터 수집·갱신→RAG→의도 기반 답변·유사공고 비교→원문 연결; 오류·만족도 관리",</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"PF-R05",</a:t>
            </a:r>
          </a:p>
          <a:p xmlns:a="http://schemas.openxmlformats.org/drawingml/2006/main">
            <a:r>
              <a:t>    "canonicalId": "PF-R05",</a:t>
            </a:r>
          </a:p>
          <a:p xmlns:a="http://schemas.openxmlformats.org/drawingml/2006/main">
            <a:r>
              <a:t>    "purpose": "정책·복지·공고의 대화형 탐색",</a:t>
            </a:r>
          </a:p>
          <a:p xmlns:a="http://schemas.openxmlformats.org/drawingml/2006/main">
            <a:r>
              <a:t>    "users": "도민·홈페이지 운영자",</a:t>
            </a:r>
          </a:p>
          <a:p xmlns:a="http://schemas.openxmlformats.org/drawingml/2006/main">
            <a:r>
              <a:t>    "scope": [</a:t>
            </a:r>
          </a:p>
          <a:p xmlns:a="http://schemas.openxmlformats.org/drawingml/2006/main">
            <a:r>
              <a:t>      "자연어 탐색",</a:t>
            </a:r>
          </a:p>
          <a:p xmlns:a="http://schemas.openxmlformats.org/drawingml/2006/main">
            <a:r>
              <a:t>      "유사공고 비교",</a:t>
            </a:r>
          </a:p>
          <a:p xmlns:a="http://schemas.openxmlformats.org/drawingml/2006/main">
            <a:r>
              <a:t>      "원문 연결"</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"도민 대화",</a:t>
            </a:r>
          </a:p>
          <a:p xmlns:a="http://schemas.openxmlformats.org/drawingml/2006/main">
            <a:r>
              <a:t>        "detail": "요청 목적·대상 조건·대화 이력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"자연어 탐색 / 유사공고 비교 / 원문 연결",</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"의도 분류·정보 비교",</a:t>
            </a:r>
          </a:p>
          <a:p xmlns:a="http://schemas.openxmlformats.org/drawingml/2006/main">
            <a:r>
              <a:t>        "detail": "의도 분석과 RAG 응답·공고 비교",</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"원문 안내",</a:t>
            </a:r>
          </a:p>
          <a:p xmlns:a="http://schemas.openxmlformats.org/drawingml/2006/main">
            <a:r>
              <a:t>        "detail": "출처 링크와 신청 안내 페이지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"정책·공고 지식",</a:t>
            </a:r>
          </a:p>
          <a:p xmlns:a="http://schemas.openxmlformats.org/drawingml/2006/main">
            <a:r>
              <a:t>        "detail": "홈페이지 문서 수집·전처리·변경 반영",</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"예외 질문·오류·만족도 기반 지식 보완",</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"정책·공고",</a:t>
            </a:r>
          </a:p>
          <a:p xmlns:a="http://schemas.openxmlformats.org/drawingml/2006/main">
            <a:r>
              <a:t>        "input": "요청 목적·대상 조건·대화 이력 구성",</a:t>
            </a:r>
          </a:p>
          <a:p xmlns:a="http://schemas.openxmlformats.org/drawingml/2006/main">
            <a:r>
              <a:t>        "process": "홈페이지 문서 수집·전처리·변경 반영",</a:t>
            </a:r>
          </a:p>
          <a:p xmlns:a="http://schemas.openxmlformats.org/drawingml/2006/main">
            <a:r>
              <a:t>        "output": "질문·지역"</a:t>
            </a:r>
          </a:p>
          <a:p xmlns:a="http://schemas.openxmlformats.org/drawingml/2006/main">
            <a:r>
              <a:t>      },</a:t>
            </a:r>
          </a:p>
          <a:p xmlns:a="http://schemas.openxmlformats.org/drawingml/2006/main">
            <a:r>
              <a:t>      {</a:t>
            </a:r>
          </a:p>
          <a:p xmlns:a="http://schemas.openxmlformats.org/drawingml/2006/main">
            <a:r>
              <a:t>        "title": "지식 갱신",</a:t>
            </a:r>
          </a:p>
          <a:p xmlns:a="http://schemas.openxmlformats.org/drawingml/2006/main">
            <a:r>
              <a:t>        "input": "질문·지역",</a:t>
            </a:r>
          </a:p>
          <a:p xmlns:a="http://schemas.openxmlformats.org/drawingml/2006/main">
            <a:r>
              <a:t>        "process": "의도 분석과 RAG 응답·공고 비교",</a:t>
            </a:r>
          </a:p>
          <a:p xmlns:a="http://schemas.openxmlformats.org/drawingml/2006/main">
            <a:r>
              <a:t>        "output": "유효 공고"</a:t>
            </a:r>
          </a:p>
          <a:p xmlns:a="http://schemas.openxmlformats.org/drawingml/2006/main">
            <a:r>
              <a:t>      },</a:t>
            </a:r>
          </a:p>
          <a:p xmlns:a="http://schemas.openxmlformats.org/drawingml/2006/main">
            <a:r>
              <a:t>      {</a:t>
            </a:r>
          </a:p>
          <a:p xmlns:a="http://schemas.openxmlformats.org/drawingml/2006/main">
            <a:r>
              <a:t>        "title": "의도·정보 비교",</a:t>
            </a:r>
          </a:p>
          <a:p xmlns:a="http://schemas.openxmlformats.org/drawingml/2006/main">
            <a:r>
              <a:t>        "input": "유효 공고",</a:t>
            </a:r>
          </a:p>
          <a:p xmlns:a="http://schemas.openxmlformats.org/drawingml/2006/main">
            <a:r>
              <a:t>        "process": "유효기간·대상조건·링크 점검",</a:t>
            </a:r>
          </a:p>
          <a:p xmlns:a="http://schemas.openxmlformats.org/drawingml/2006/main">
            <a:r>
              <a:t>        "output": "조건 비교"</a:t>
            </a:r>
          </a:p>
          <a:p xmlns:a="http://schemas.openxmlformats.org/drawingml/2006/main">
            <a:r>
              <a:t>      },</a:t>
            </a:r>
          </a:p>
          <a:p xmlns:a="http://schemas.openxmlformats.org/drawingml/2006/main">
            <a:r>
              <a:t>      {</a:t>
            </a:r>
          </a:p>
          <a:p xmlns:a="http://schemas.openxmlformats.org/drawingml/2006/main">
            <a:r>
              <a:t>        "title": "원문 안내",</a:t>
            </a:r>
          </a:p>
          <a:p xmlns:a="http://schemas.openxmlformats.org/drawingml/2006/main">
            <a:r>
              <a:t>        "input": "조건 비교",</a:t>
            </a:r>
          </a:p>
          <a:p xmlns:a="http://schemas.openxmlformats.org/drawingml/2006/main">
            <a:r>
              <a:t>        "process": "출처 링크와 신청 안내 페이지 제공",</a:t>
            </a:r>
          </a:p>
          <a:p xmlns:a="http://schemas.openxmlformats.org/drawingml/2006/main">
            <a:r>
              <a:t>        "output": "공식 페이지"</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"자격조건을 설명하고 관련 공고와 신청 페이지 비교",</a:t>
            </a:r>
          </a:p>
          <a:p xmlns:a="http://schemas.openxmlformats.org/drawingml/2006/main">
            <a:r>
              <a:t>      "exception": "마감 공고·유사한 다른 제도·갱신 전 색인",</a:t>
            </a:r>
          </a:p>
          <a:p xmlns:a="http://schemas.openxmlformats.org/drawingml/2006/main">
            <a:r>
              <a:t>      "evidence": "조건·기한별 정답 공고와 원문 링크·변경 반영 시각",</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"도민·홈페이지 운영자",</a:t>
            </a:r>
          </a:p>
          <a:p xmlns:a="http://schemas.openxmlformats.org/drawingml/2006/main">
            <a:r>
              <a:t>          "processing": "요청 목적·대상 조건·대화 이력 구성",</a:t>
            </a:r>
          </a:p>
          <a:p xmlns:a="http://schemas.openxmlformats.org/drawingml/2006/main">
            <a:r>
              <a:t>          "output": "질문·지역"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"정책·공고 지식",</a:t>
            </a:r>
          </a:p>
          <a:p xmlns:a="http://schemas.openxmlformats.org/drawingml/2006/main">
            <a:r>
              <a:t>          "processing": "홈페이지 문서 수집·전처리·변경 반영",</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"질문·지역",</a:t>
            </a:r>
          </a:p>
          <a:p xmlns:a="http://schemas.openxmlformats.org/drawingml/2006/main">
            <a:r>
              <a:t>          "processing": "의도 분석과 RAG 응답·공고 비교",</a:t>
            </a:r>
          </a:p>
          <a:p xmlns:a="http://schemas.openxmlformats.org/drawingml/2006/main">
            <a:r>
              <a:t>          "output": "조건 비교"</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"조건 비교",</a:t>
            </a:r>
          </a:p>
          <a:p xmlns:a="http://schemas.openxmlformats.org/drawingml/2006/main">
            <a:r>
              <a:t>          "processing": "출처 링크와 신청 안내 페이지 제공",</a:t>
            </a:r>
          </a:p>
          <a:p xmlns:a="http://schemas.openxmlformats.org/drawingml/2006/main">
            <a:r>
              <a:t>          "output": "공식 페이지"</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"예외 질문·오류·만족도 기반 지식 보완",</a:t>
            </a:r>
          </a:p>
          <a:p xmlns:a="http://schemas.openxmlformats.org/drawingml/2006/main">
            <a:r>
              <a:t>          "output": "조건·기한별 정답 공고와 원문 링크·변경 반영 시각"</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"예외 질문·오류·만족도 기반 지식 보완",</a:t>
            </a:r>
          </a:p>
          <a:p xmlns:a="http://schemas.openxmlformats.org/drawingml/2006/main">
            <a:r>
              <a:t>    "status": "RFP 기반 논리 설계",</a:t>
            </a:r>
          </a:p>
          <a:p xmlns:a="http://schemas.openxmlformats.org/drawingml/2006/main">
            <a:r>
              <a:t>    "basis": "RFP · SFR-003~006",</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"SFR-003~006, PER-003 / Word T062",</a:t>
            </a:r>
          </a:p>
          <a:p xmlns:a="http://schemas.openxmlformats.org/drawingml/2006/main">
            <a:r>
              <a:t>        "url": "https://www.g2b.go.kr/pn/pnp/pnpe/UntyAtchFile/downloadFile.do?bidPbancNo=R25BK00751232&amp;bidPbancOrd=000&amp;fileType=&amp;fileSeq=2&amp;prcmBsneSeCd=03"</a:t>
            </a:r>
          </a:p>
          <a:p xmlns:a="http://schemas.openxmlformats.org/drawingml/2006/main">
            <a:r>
              <a:t>      }</a:t>
            </a:r>
          </a:p>
          <a:p xmlns:a="http://schemas.openxmlformats.org/drawingml/2006/main">
            <a:r>
              <a:t>    ],</a:t>
            </a:r>
          </a:p>
          <a:p xmlns:a="http://schemas.openxmlformats.org/drawingml/2006/main">
            <a:r>
              <a:t>    "implication": "서비스 조건·기한·신청 창구를 연결하는 홈페이지 탐색 지원",</a:t>
            </a:r>
          </a:p>
          <a:p xmlns:a="http://schemas.openxmlformats.org/drawingml/2006/main">
            <a:r>
              <a:t>    "local": "서비스 조건·기한·신청 창구를 연결하는 홈페이지 탐색 지원",</a:t>
            </a:r>
          </a:p>
          <a:p xmlns:a="http://schemas.openxmlformats.org/drawingml/2006/main">
            <a:r>
              <a:t>    "sourceDetail": "데이터 수집·갱신→RAG→의도 기반 답변·유사공고 비교→원문 연결; 오류·만족도 관리",</a:t>
            </a:r>
          </a:p>
          <a:p xmlns:a="http://schemas.openxmlformats.org/drawingml/2006/main">
            <a:r>
              <a:t>    "narrative": [</a:t>
            </a:r>
          </a:p>
          <a:p xmlns:a="http://schemas.openxmlformats.org/drawingml/2006/main">
            <a:r>
              <a:t>      "경기도 홈페이지에 축적된 정책·복지·공고 정보를 자연어로 찾도록 하는 검색 접점 고도화. 국민의 요청을 신청 자격·지역·기간 등의 조건으로 정리하고, 맞는 공고와 기존 신청 화면으로 연결하는 업무.",</a:t>
            </a:r>
          </a:p>
          <a:p xmlns:a="http://schemas.openxmlformats.org/drawingml/2006/main">
            <a:r>
              <a:t>      "원문 서비스 도면은 홈페이지 RDB의 대상 자료를 공공클라우드 RAG 영역에 수집·임베딩하고, 질의와 검색 근거를 외부 LLM에 전달한 뒤 홈페이지 채팅 UI로 답변하는 구성. 기능도에는 데이터·프롬프트·이력·모델·통계를 별도 관리 영역으로 명시.",</a:t>
            </a:r>
          </a:p>
          <a:p xmlns:a="http://schemas.openxmlformats.org/drawingml/2006/main">
            <a:r>
              <a:t>      "챗봇이 답한 것과 국민이 원하는 서비스를 찾은 것을 구분해 평가할 사례. 마감 공고·지역 불일치·자격 예외를 포함한 질문으로 원문 링크 도달과 다음 절차 안내를 검증할 필요. TS 대국민 접점에서는 기존 메뉴·신청 시스템을 유지하면서 자연어·음성 진입을 추가하는 방향."</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"SFR-003",</a:t>
            </a:r>
          </a:p>
          <a:p xmlns:a="http://schemas.openxmlformats.org/drawingml/2006/main">
            <a:r>
              <a:t>        "title": "생성형 AI 챗봇 검색 서비스 대상 데이터 수집·정제·전처리",</a:t>
            </a:r>
          </a:p>
          <a:p xmlns:a="http://schemas.openxmlformats.org/drawingml/2006/main">
            <a:r>
              <a:t>        "locator": "SFR-003",</a:t>
            </a:r>
          </a:p>
          <a:p xmlns:a="http://schemas.openxmlformats.org/drawingml/2006/main">
            <a:r>
              <a:t>        "summary": "정책·복지·공고 등 대상 데이터를 수집하고 정제·전처리하는 기능.",</a:t>
            </a:r>
          </a:p>
          <a:p xmlns:a="http://schemas.openxmlformats.org/drawingml/2006/main">
            <a:r>
              <a:t>        "data": "홈페이지 원문·파일 → 정규화 자료·메타데이터",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a:t>
            </a:r>
          </a:p>
          <a:p xmlns:a="http://schemas.openxmlformats.org/drawingml/2006/main">
            <a:r>
              <a:t>        "acceptance": "첨부·표·중복 URL·깨진 링크 입력의 수집 범위와 정제 결과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"dfce571aa07ad0601b331c6afaa46c57d8ef4ad8975cae48c8c928272ce53768"</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"실시간 데이터 파이프라인 자동화 구축",</a:t>
            </a:r>
          </a:p>
          <a:p xmlns:a="http://schemas.openxmlformats.org/drawingml/2006/main">
            <a:r>
              <a:t>        "locator": "SFR-004",</a:t>
            </a:r>
          </a:p>
          <a:p xmlns:a="http://schemas.openxmlformats.org/drawingml/2006/main">
            <a:r>
              <a:t>        "summary": "신규·변경 정보를 반영하는 데이터 파이프라인 자동화.",</a:t>
            </a:r>
          </a:p>
          <a:p xmlns:a="http://schemas.openxmlformats.org/drawingml/2006/main">
            <a:r>
              <a:t>        "data": "원천 변경·스케줄 → 갱신된 검색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"공고 수정·종료·삭제 후 색인 갱신과 수집 실패 후 재개 결과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"6d77f8fe82e84d8c671fdea123a554f2f2c061d91a1941d599146f167079e57e"</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"RAG(Retrieval Augmented Generation) 구축",</a:t>
            </a:r>
          </a:p>
          <a:p xmlns:a="http://schemas.openxmlformats.org/drawingml/2006/main">
            <a:r>
              <a:t>        "locator": "SFR-005",</a:t>
            </a:r>
          </a:p>
          <a:p xmlns:a="http://schemas.openxmlformats.org/drawingml/2006/main">
            <a:r>
              <a:t>        "summary": "정제 자료를 검색 근거로 제공하는 RAG 기반 구성.",</a:t>
            </a:r>
          </a:p>
          <a:p xmlns:a="http://schemas.openxmlformats.org/drawingml/2006/main">
            <a:r>
              <a:t>        "data": "사용자 질문·정책 색인 → 근거 문서·답변 문맥",</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"C11"</a:t>
            </a:r>
          </a:p>
          <a:p xmlns:a="http://schemas.openxmlformats.org/drawingml/2006/main">
            <a:r>
              <a:t>        ],</a:t>
            </a:r>
          </a:p>
          <a:p xmlns:a="http://schemas.openxmlformats.org/drawingml/2006/main">
            <a:r>
              <a:t>        "acceptance": "기간·지역·대상 조건이 다른 유사 정책의 구분과 근거 페이지 정확성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"02d312ae74d0ddf4dd06d7e84e79461aa2f4bb7664d9f657f22281c8d145bf02"</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"생성형 AI 챗봇 검색 서비스 개발",</a:t>
            </a:r>
          </a:p>
          <a:p xmlns:a="http://schemas.openxmlformats.org/drawingml/2006/main">
            <a:r>
              <a:t>        "locator": "SFR-006",</a:t>
            </a:r>
          </a:p>
          <a:p xmlns:a="http://schemas.openxmlformats.org/drawingml/2006/main">
            <a:r>
              <a:t>        "summary": "도민의 대화형 정보 탐색을 위한 챗봇·검색 서비스 구현.",</a:t>
            </a:r>
          </a:p>
          <a:p xmlns:a="http://schemas.openxmlformats.org/drawingml/2006/main">
            <a:r>
              <a:t>        "data": "자연어 문의·추가 조건 → 안내·공식 서비스 연결",</a:t>
            </a:r>
          </a:p>
          <a:p xmlns:a="http://schemas.openxmlformats.org/drawingml/2006/main">
            <a:r>
              <a:t>        "components": [</a:t>
            </a:r>
          </a:p>
          <a:p xmlns:a="http://schemas.openxmlformats.org/drawingml/2006/main">
            <a:r>
              <a:t>          "C01",</a:t>
            </a:r>
          </a:p>
          <a:p xmlns:a="http://schemas.openxmlformats.org/drawingml/2006/main">
            <a:r>
              <a:t>          "C02",</a:t>
            </a:r>
          </a:p>
          <a:p xmlns:a="http://schemas.openxmlformats.org/drawingml/2006/main">
            <a:r>
              <a:t>          "C06"</a:t>
            </a:r>
          </a:p>
          <a:p xmlns:a="http://schemas.openxmlformats.org/drawingml/2006/main">
            <a:r>
              <a:t>        ],</a:t>
            </a:r>
          </a:p>
          <a:p xmlns:a="http://schemas.openxmlformats.org/drawingml/2006/main">
            <a:r>
              <a:t>        "acceptance": "모호한 문의의 추가 질문, 잘못된 서비스 링크, 응답 실패 시 기존 탐색 경로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"b2087cef15831463cccbd35ddb28248885288bfed8bbcafeed9bc7066f08417e"</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"홈페이지 챗봇",</a:t>
            </a:r>
          </a:p>
          <a:p xmlns:a="http://schemas.openxmlformats.org/drawingml/2006/main">
            <a:r>
              <a:t>          "layer": "이용 접점",</a:t>
            </a:r>
          </a:p>
          <a:p xmlns:a="http://schemas.openxmlformats.org/drawingml/2006/main">
            <a:r>
              <a:t>          "detail": "도민·홈페이지 운영자",</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"지역·대상·기간",</a:t>
            </a:r>
          </a:p>
          <a:p xmlns:a="http://schemas.openxmlformats.org/drawingml/2006/main">
            <a:r>
              <a:t>          "layer": "업무 문맥",</a:t>
            </a:r>
          </a:p>
          <a:p xmlns:a="http://schemas.openxmlformats.org/drawingml/2006/main">
            <a:r>
              <a:t>          "detail": "요청 목적·대상 조건·대화 이력 구성",</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"유효 공고 검색",</a:t>
            </a:r>
          </a:p>
          <a:p xmlns:a="http://schemas.openxmlformats.org/drawingml/2006/main">
            <a:r>
              <a:t>          "layer": "자료 조회",</a:t>
            </a:r>
          </a:p>
          <a:p xmlns:a="http://schemas.openxmlformats.org/drawingml/2006/main">
            <a:r>
              <a:t>          "detail": "질문·지역",</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"의도·조건 비교",</a:t>
            </a:r>
          </a:p>
          <a:p xmlns:a="http://schemas.openxmlformats.org/drawingml/2006/main">
            <a:r>
              <a:t>          "layer": "핵심 처리",</a:t>
            </a:r>
          </a:p>
          <a:p xmlns:a="http://schemas.openxmlformats.org/drawingml/2006/main">
            <a:r>
              <a:t>          "detail": "의도 분석과 RAG 응답·공고 비교",</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"마감·자격 검사",</a:t>
            </a:r>
          </a:p>
          <a:p xmlns:a="http://schemas.openxmlformats.org/drawingml/2006/main">
            <a:r>
              <a:t>          "layer": "결과 검증",</a:t>
            </a:r>
          </a:p>
          <a:p xmlns:a="http://schemas.openxmlformats.org/drawingml/2006/main">
            <a:r>
              <a:t>          "detail": "유효기간·대상조건·링크 점검",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"이용자 조건 확인",</a:t>
            </a:r>
          </a:p>
          <a:p xmlns:a="http://schemas.openxmlformats.org/drawingml/2006/main">
            <a:r>
              <a:t>          "layer": "사람 확인",</a:t>
            </a:r>
          </a:p>
          <a:p xmlns:a="http://schemas.openxmlformats.org/drawingml/2006/main">
            <a:r>
              <a:t>          "detail": "자격조건을 설명하고 관련 공고와 신청 페이지 비교",</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"공식 신청 안내",</a:t>
            </a:r>
          </a:p>
          <a:p xmlns:a="http://schemas.openxmlformats.org/drawingml/2006/main">
            <a:r>
              <a:t>          "layer": "업무 연결",</a:t>
            </a:r>
          </a:p>
          <a:p xmlns:a="http://schemas.openxmlformats.org/drawingml/2006/main">
            <a:r>
              <a:t>          "detail": "출처 링크와 신청 안내 페이지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"오류·만족도 분석",</a:t>
            </a:r>
          </a:p>
          <a:p xmlns:a="http://schemas.openxmlformats.org/drawingml/2006/main">
            <a:r>
              <a:t>          "layer": "운영 관측",</a:t>
            </a:r>
          </a:p>
          <a:p xmlns:a="http://schemas.openxmlformats.org/drawingml/2006/main">
            <a:r>
              <a:t>          "detail": "예외 질문·오류·만족도 기반 지식 보완",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"홈페이지·공고 DB",</a:t>
            </a:r>
          </a:p>
          <a:p xmlns:a="http://schemas.openxmlformats.org/drawingml/2006/main">
            <a:r>
              <a:t>          "layer": "데이터 원천",</a:t>
            </a:r>
          </a:p>
          <a:p xmlns:a="http://schemas.openxmlformats.org/drawingml/2006/main">
            <a:r>
              <a:t>          "detail": "정책·공고 지식",</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"수집·갱신·벡터화",</a:t>
            </a:r>
          </a:p>
          <a:p xmlns:a="http://schemas.openxmlformats.org/drawingml/2006/main">
            <a:r>
              <a:t>          "layer": "준비·갱신",</a:t>
            </a:r>
          </a:p>
          <a:p xmlns:a="http://schemas.openxmlformats.org/drawingml/2006/main">
            <a:r>
              <a:t>          "detail": "홈페이지 문서 수집·전처리·변경 반영",</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"공공클라우드 RAG",</a:t>
            </a:r>
          </a:p>
          <a:p xmlns:a="http://schemas.openxmlformats.org/drawingml/2006/main">
            <a:r>
              <a:t>          "layer": "상태·지식 저장",</a:t>
            </a:r>
          </a:p>
          <a:p xmlns:a="http://schemas.openxmlformats.org/drawingml/2006/main">
            <a:r>
              <a:t>          "detail": "조건·기한별 정답 공고와 원문 링크·변경 반영 시각",</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"외부 LLM 연결경계",</a:t>
            </a:r>
          </a:p>
          <a:p xmlns:a="http://schemas.openxmlformats.org/drawingml/2006/main">
            <a:r>
              <a:t>          "layer": "권한·정책",</a:t>
            </a:r>
          </a:p>
          <a:p xmlns:a="http://schemas.openxmlformats.org/drawingml/2006/main">
            <a:r>
              <a:t>          "detail": "마감 공고·유사한 다른 제도·갱신 전 색인",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"요청 목적·대상 조건·대화 이력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"질문·지역",</a:t>
            </a:r>
          </a:p>
          <a:p xmlns:a="http://schemas.openxmlformats.org/drawingml/2006/main">
            <a:r>
              <a:t>          "check": "유효기간·대상조건·링크 점검"</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"유효 공고",</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"조건 비교",</a:t>
            </a:r>
          </a:p>
          <a:p xmlns:a="http://schemas.openxmlformats.org/drawingml/2006/main">
            <a:r>
              <a:t>          "check": "마감 공고·유사한 다른 제도·갱신 전 색인"</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"조건 비교",</a:t>
            </a:r>
          </a:p>
          <a:p xmlns:a="http://schemas.openxmlformats.org/drawingml/2006/main">
            <a:r>
              <a:t>          "check": "출처 링크와 신청 안내 페이지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"공식 페이지",</a:t>
            </a:r>
          </a:p>
          <a:p xmlns:a="http://schemas.openxmlformats.org/drawingml/2006/main">
            <a:r>
              <a:t>          "check": "조건·기한별 정답 공고와 원문 링크·변경 반영 시각"</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"생성형 AI 서비스 아키텍처 구성도, SFR-003~006",</a:t>
            </a:r>
          </a:p>
          <a:p xmlns:a="http://schemas.openxmlformats.org/drawingml/2006/main">
            <a:r>
              <a:t>        "extracted": "홈페이지 RDB → 공공클라우드 Vector DB → 외부 LLM 연결",</a:t>
            </a:r>
          </a:p>
          <a:p xmlns:a="http://schemas.openxmlformats.org/drawingml/2006/main">
            <a:r>
              <a:t>        "extension": "공고 마감·지역·자격조건 대조 및 신청 링크 검증"</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"PF-R05",</a:t>
            </a:r>
          </a:p>
          <a:p xmlns:a="http://schemas.openxmlformats.org/drawingml/2006/main">
            <a:r>
              <a:t>          "path": "assets/casebook-sources/PF-R05-01.png",</a:t>
            </a:r>
          </a:p>
          <a:p xmlns:a="http://schemas.openxmlformats.org/drawingml/2006/main">
            <a:r>
              <a:t>          "title": "홈페이지 AI 목표기능",</a:t>
            </a:r>
          </a:p>
          <a:p xmlns:a="http://schemas.openxmlformats.org/drawingml/2006/main">
            <a:r>
              <a:t>          "status": "RFP 목표기능 구성도",</a:t>
            </a:r>
          </a:p>
          <a:p xmlns:a="http://schemas.openxmlformats.org/drawingml/2006/main">
            <a:r>
              <a:t>          "caption": "챗봇·RAG·데이터 파이프라인·모델 관리의 분리",</a:t>
            </a:r>
          </a:p>
          <a:p xmlns:a="http://schemas.openxmlformats.org/drawingml/2006/main">
            <a:r>
              <a:t>          "locator": "rId17 / BinData/image3_png",</a:t>
            </a:r>
          </a:p>
          <a:p xmlns:a="http://schemas.openxmlformats.org/drawingml/2006/main">
            <a:r>
              <a:t>          "checked": "2026-10-16",</a:t>
            </a:r>
          </a:p>
          <a:p xmlns:a="http://schemas.openxmlformats.org/drawingml/2006/main">
            <a:r>
              <a:t>          "sha256": "dbf8455e9d661c8a3db51e5677f25fc751cb2ade3a7b0abaf602d57a8aaf1ba8",</a:t>
            </a:r>
          </a:p>
          <a:p xmlns:a="http://schemas.openxmlformats.org/drawingml/2006/main">
            <a:r>
              <a:t>          "explanation": {</a:t>
            </a:r>
          </a:p>
          <a:p xmlns:a="http://schemas.openxmlformats.org/drawingml/2006/main">
            <a:r>
              <a:t>            "read": "도민의 대화형 탐색 접점에서 정책·복지·공고 정보의 검색과 AI 응답을 제공하는 목표 기능 구조. 대화 응답 이후 실제 신청 서비스로 이동하는 연결이 업무 완료의 다음 단계.",</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"SFR-005",</a:t>
            </a:r>
          </a:p>
          <a:p xmlns:a="http://schemas.openxmlformats.org/drawingml/2006/main">
            <a:r>
              <a:t>              "SFR-006"</a:t>
            </a:r>
          </a:p>
          <a:p xmlns:a="http://schemas.openxmlformats.org/drawingml/2006/main">
            <a:r>
              <a:t>            ],</a:t>
            </a:r>
          </a:p>
          <a:p xmlns:a="http://schemas.openxmlformats.org/drawingml/2006/main">
            <a:r>
              <a:t>            "connection": "지역·대상·신청기간의 추가 질문과 공식 신청 링크를 구성하고 답변 정확도와 신청 화면 도달률을 분리해 평가하는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"PF-R05",</a:t>
            </a:r>
          </a:p>
          <a:p xmlns:a="http://schemas.openxmlformats.org/drawingml/2006/main">
            <a:r>
              <a:t>          "path": "assets/casebook-sources/PF-R05-02.png",</a:t>
            </a:r>
          </a:p>
          <a:p xmlns:a="http://schemas.openxmlformats.org/drawingml/2006/main">
            <a:r>
              <a:t>          "title": "홈페이지–RAG–외부 LLM",</a:t>
            </a:r>
          </a:p>
          <a:p xmlns:a="http://schemas.openxmlformats.org/drawingml/2006/main">
            <a:r>
              <a:t>          "status": "RFP 서비스 아키텍처 구성도",</a:t>
            </a:r>
          </a:p>
          <a:p xmlns:a="http://schemas.openxmlformats.org/drawingml/2006/main">
            <a:r>
              <a:t>          "caption": "홈페이지 RDB → 공공클라우드 Vector DB → 외부 LLM",</a:t>
            </a:r>
          </a:p>
          <a:p xmlns:a="http://schemas.openxmlformats.org/drawingml/2006/main">
            <a:r>
              <a:t>          "locator": "rId17 / BinData/image4_bmp",</a:t>
            </a:r>
          </a:p>
          <a:p xmlns:a="http://schemas.openxmlformats.org/drawingml/2006/main">
            <a:r>
              <a:t>          "checked": "2026-10-16",</a:t>
            </a:r>
          </a:p>
          <a:p xmlns:a="http://schemas.openxmlformats.org/drawingml/2006/main">
            <a:r>
              <a:t>          "sha256": "04b7bff411913589529c68490addbddd2c84b7abce61ecd7c873e971bab7bf7e",</a:t>
            </a:r>
          </a:p>
          <a:p xmlns:a="http://schemas.openxmlformats.org/drawingml/2006/main">
            <a:r>
              <a:t>          "explanation": {</a:t>
            </a:r>
          </a:p>
          <a:p xmlns:a="http://schemas.openxmlformats.org/drawingml/2006/main">
            <a:r>
              <a:t>            "read": "홈페이지 RDB의 자료를 공공클라우드 검색 계층으로 반영하고 검색 근거를 외부 LLM에 전달하는 구조. 원천 데이터 갱신과 이용자 질문의 실시간 처리를 나누는 연결.",</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"SFR-005"</a:t>
            </a:r>
          </a:p>
          <a:p xmlns:a="http://schemas.openxmlformats.org/drawingml/2006/main">
            <a:r>
              <a:t>            ],</a:t>
            </a:r>
          </a:p>
          <a:p xmlns:a="http://schemas.openxmlformats.org/drawingml/2006/main">
            <a:r>
              <a:t>            "connection": "원천 수정·종료·삭제가 색인에 반영되는지 추적하고 외부 전송 문맥과 답변 인용의 출처·판본을 보존하는 데이터 흐름."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"마감 공고·유사한 다른 제도·갱신 전 색인",</a:t>
            </a:r>
          </a:p>
          <a:p xmlns:a="http://schemas.openxmlformats.org/drawingml/2006/main">
            <a:r>
              <a:t>        "hold": "유효기간·대상조건·링크 점검",</a:t>
            </a:r>
          </a:p>
          <a:p xmlns:a="http://schemas.openxmlformats.org/drawingml/2006/main">
            <a:r>
              <a:t>        "recovery": "예외 질문·오류·만족도 기반 지식 보완",</a:t>
            </a:r>
          </a:p>
          <a:p xmlns:a="http://schemas.openxmlformats.org/drawingml/2006/main">
            <a:r>
              <a:t>        "evidence": "조건·기한별 정답 공고와 원문 링크·변경 반영 시각"</a:t>
            </a:r>
          </a:p>
          <a:p xmlns:a="http://schemas.openxmlformats.org/drawingml/2006/main">
            <a:r>
              <a:t>      },</a:t>
            </a:r>
          </a:p>
          <a:p xmlns:a="http://schemas.openxmlformats.org/drawingml/2006/main">
            <a:r>
              <a:t>      "data": {</a:t>
            </a:r>
          </a:p>
          <a:p xmlns:a="http://schemas.openxmlformats.org/drawingml/2006/main">
            <a:r>
              <a:t>        "source": "정책·공고 지식",</a:t>
            </a:r>
          </a:p>
          <a:p xmlns:a="http://schemas.openxmlformats.org/drawingml/2006/main">
            <a:r>
              <a:t>        "prepare": "홈페이지 문서 수집·전처리·변경 반영",</a:t>
            </a:r>
          </a:p>
          <a:p xmlns:a="http://schemas.openxmlformats.org/drawingml/2006/main">
            <a:r>
              <a:t>        "output": "질문·지역",</a:t>
            </a:r>
          </a:p>
          <a:p xmlns:a="http://schemas.openxmlformats.org/drawingml/2006/main">
            <a:r>
              <a:t>        "refresh": "예외 질문·오류·만족도 기반 지식 보완"</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"PF-R05",</a:t>
            </a:r>
          </a:p>
          <a:p xmlns:a="http://schemas.openxmlformats.org/drawingml/2006/main">
            <a:r>
              <a:t>    "success": [</a:t>
            </a:r>
          </a:p>
          <a:p xmlns:a="http://schemas.openxmlformats.org/drawingml/2006/main">
            <a:r>
              <a:t>      "정책·복지·공고의 통합 탐색",</a:t>
            </a:r>
          </a:p>
          <a:p xmlns:a="http://schemas.openxmlformats.org/drawingml/2006/main">
            <a:r>
              <a:t>      "원문을 통한 후속 절차 연결"</a:t>
            </a:r>
          </a:p>
          <a:p xmlns:a="http://schemas.openxmlformats.org/drawingml/2006/main">
            <a:r>
              <a:t>    ],</a:t>
            </a:r>
          </a:p>
          <a:p xmlns:a="http://schemas.openxmlformats.org/drawingml/2006/main">
            <a:r>
              <a:t>    "risks": [</a:t>
            </a:r>
          </a:p>
          <a:p xmlns:a="http://schemas.openxmlformats.org/drawingml/2006/main">
            <a:r>
              <a:t>      "마감·지역·자격조건 오안내",</a:t>
            </a:r>
          </a:p>
          <a:p xmlns:a="http://schemas.openxmlformats.org/drawingml/2006/main">
            <a:r>
              <a:t>      "착수와 정식 운영 성과의 차이"</a:t>
            </a:r>
          </a:p>
          <a:p xmlns:a="http://schemas.openxmlformats.org/drawingml/2006/main">
            <a:r>
              <a:t>    ],</a:t>
            </a:r>
          </a:p>
          <a:p xmlns:a="http://schemas.openxmlformats.org/drawingml/2006/main">
            <a:r>
              <a:t>    "architecture": [</a:t>
            </a:r>
          </a:p>
          <a:p xmlns:a="http://schemas.openxmlformats.org/drawingml/2006/main">
            <a:r>
              <a:t>      "도민 대화",</a:t>
            </a:r>
          </a:p>
          <a:p xmlns:a="http://schemas.openxmlformats.org/drawingml/2006/main">
            <a:r>
              <a:t>      "의도 분류·정보 비교",</a:t>
            </a:r>
          </a:p>
          <a:p xmlns:a="http://schemas.openxmlformats.org/drawingml/2006/main">
            <a:r>
              <a:t>      "정책·공고 지식",</a:t>
            </a:r>
          </a:p>
          <a:p xmlns:a="http://schemas.openxmlformats.org/drawingml/2006/main">
            <a:r>
              <a:t>      "원문 안내"</a:t>
            </a:r>
          </a:p>
          <a:p xmlns:a="http://schemas.openxmlformats.org/drawingml/2006/main">
            <a:r>
              <a:t>    ],</a:t>
            </a:r>
          </a:p>
          <a:p xmlns:a="http://schemas.openxmlformats.org/drawingml/2006/main">
            <a:r>
              <a:t>    "transfers": [</a:t>
            </a:r>
          </a:p>
          <a:p xmlns:a="http://schemas.openxmlformats.org/drawingml/2006/main">
            <a:r>
              <a:t>      "질문·지역",</a:t>
            </a:r>
          </a:p>
          <a:p xmlns:a="http://schemas.openxmlformats.org/drawingml/2006/main">
            <a:r>
              <a:t>      "유효 공고",</a:t>
            </a:r>
          </a:p>
          <a:p xmlns:a="http://schemas.openxmlformats.org/drawingml/2006/main">
            <a:r>
              <a:t>      "조건 비교",</a:t>
            </a:r>
          </a:p>
          <a:p xmlns:a="http://schemas.openxmlformats.org/drawingml/2006/main">
            <a:r>
              <a:t>      "공식 페이지"</a:t>
            </a:r>
          </a:p>
          <a:p xmlns:a="http://schemas.openxmlformats.org/drawingml/2006/main">
            <a:r>
              <a:t>    ],</a:t>
            </a:r>
          </a:p>
          <a:p xmlns:a="http://schemas.openxmlformats.org/drawingml/2006/main">
            <a:r>
              <a:t>    "control": "유효기간·대상조건·링크 점검",</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SFR-003~006, PER-003 / Word T062 https://www.g2b.go.kr/pn/pnp/pnpe/UntyAtchFile/downloadFile.do?bidPbancNo=R25BK00751232&amp;bidPbancOrd=000&amp;fileType=&amp;fileSeq=2&amp;prcmBsneSeCd=03</a:t>
            </a:r>
          </a:p>
          <a:p xmlns:a="http://schemas.openxmlformats.org/drawingml/2006/main">
            <a:r>
              <a:t>홈페이지 https://heen1987-ops.github.io/TS-business-Plan-001/index.html?view=platform-cases&amp;case=PF-R05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"PF-R05",</a:t>
            </a:r>
          </a:p>
          <a:p xmlns:a="http://schemas.openxmlformats.org/drawingml/2006/main">
            <a:r>
              <a:t>    "sourceId": "R05",</a:t>
            </a:r>
          </a:p>
          <a:p xmlns:a="http://schemas.openxmlformats.org/drawingml/2006/main">
            <a:r>
              <a:t>    "title": "경기도 대화형 정보 탐색",</a:t>
            </a:r>
          </a:p>
          <a:p xmlns:a="http://schemas.openxmlformats.org/drawingml/2006/main">
            <a:r>
              <a:t>    "region": "국내",</a:t>
            </a:r>
          </a:p>
          <a:p xmlns:a="http://schemas.openxmlformats.org/drawingml/2006/main">
            <a:r>
              <a:t>    "owner": "경기도",</a:t>
            </a:r>
          </a:p>
          <a:p xmlns:a="http://schemas.openxmlformats.org/drawingml/2006/main">
            <a:r>
              <a:t>    "state": "공식 RFP·착수 발표 확인 / 정식 운영 성과 미확인",</a:t>
            </a:r>
          </a:p>
          <a:p xmlns:a="http://schemas.openxmlformats.org/drawingml/2006/main">
            <a:r>
              <a:t>    "period": "기존 원장 확인 2026.10.16",</a:t>
            </a:r>
          </a:p>
          <a:p xmlns:a="http://schemas.openxmlformats.org/drawingml/2006/main">
            <a:r>
              <a:t>    "fact": "홈페이지 정책·복지·공고를 도민이 대화로 탐색하는 서비스",</a:t>
            </a:r>
          </a:p>
          <a:p xmlns:a="http://schemas.openxmlformats.org/drawingml/2006/main">
            <a:r>
              <a:t>    "limit": "착수자료의 2025년 11월 예정과 실제 개시·정량 성과를 구분",</a:t>
            </a:r>
          </a:p>
          <a:p xmlns:a="http://schemas.openxmlformats.org/drawingml/2006/main">
            <a:r>
              <a:t>    "nodes": [</a:t>
            </a:r>
          </a:p>
          <a:p xmlns:a="http://schemas.openxmlformats.org/drawingml/2006/main">
            <a:r>
              <a:t>      "정책·공고",</a:t>
            </a:r>
          </a:p>
          <a:p xmlns:a="http://schemas.openxmlformats.org/drawingml/2006/main">
            <a:r>
              <a:t>      "지식 갱신",</a:t>
            </a:r>
          </a:p>
          <a:p xmlns:a="http://schemas.openxmlformats.org/drawingml/2006/main">
            <a:r>
              <a:t>      "의도·정보 비교",</a:t>
            </a:r>
          </a:p>
          <a:p xmlns:a="http://schemas.openxmlformats.org/drawingml/2006/main">
            <a:r>
              <a:t>      "원문 안내"</a:t>
            </a:r>
          </a:p>
          <a:p xmlns:a="http://schemas.openxmlformats.org/drawingml/2006/main">
            <a:r>
              <a:t>    ],</a:t>
            </a:r>
          </a:p>
          <a:p xmlns:a="http://schemas.openxmlformats.org/drawingml/2006/main">
            <a:r>
              <a:t>    "apply": "서비스 조건·기한·신청 창구를 연결하는 홈페이지 탐색 지원",</a:t>
            </a:r>
          </a:p>
          <a:p xmlns:a="http://schemas.openxmlformats.org/drawingml/2006/main">
            <a:r>
              <a:t>    "delta": "서비스·조건·기한 사전 / 유사 공고 비교 / 원문·신청 경로 연결",</a:t>
            </a:r>
          </a:p>
          <a:p xmlns:a="http://schemas.openxmlformats.org/drawingml/2006/main">
            <a:r>
              <a:t>    "test": "마감·유사 공고·갱신 지연 질의의 조건 일치와 서비스 도달 확인",</a:t>
            </a:r>
          </a:p>
          <a:p xmlns:a="http://schemas.openxmlformats.org/drawingml/2006/main">
            <a:r>
              <a:t>    "url": "https://www.g2b.go.kr/pn/pnp/pnpe/UntyAtchFile/downloadFile.do?bidPbancNo=R25BK00751232&amp;bidPbancOrd=000&amp;fileType=&amp;fileSeq=2&amp;prcmBsneSeCd=03",</a:t>
            </a:r>
          </a:p>
          <a:p xmlns:a="http://schemas.openxmlformats.org/drawingml/2006/main">
            <a:r>
              <a:t>    "urls": [</a:t>
            </a:r>
          </a:p>
          <a:p xmlns:a="http://schemas.openxmlformats.org/drawingml/2006/main">
            <a:r>
              <a:t>      "https://www.g2b.go.kr/pn/pnp/pnpe/UntyAtchFile/downloadFile.do?bidPbancNo=R25BK00751232&amp;bidPbancOrd=000&amp;fileType=&amp;fileSeq=2&amp;prcmBsneSeCd=03",</a:t>
            </a:r>
          </a:p>
          <a:p xmlns:a="http://schemas.openxmlformats.org/drawingml/2006/main">
            <a:r>
              <a:t>      "https://gnews.gg.go.kr/briefing/brief_gongbo_view.do?BS_CODE=s017&amp;number=66171"</a:t>
            </a:r>
          </a:p>
          <a:p xmlns:a="http://schemas.openxmlformats.org/drawingml/2006/main">
            <a:r>
              <a:t>    ],</a:t>
            </a:r>
          </a:p>
          <a:p xmlns:a="http://schemas.openxmlformats.org/drawingml/2006/main">
            <a:r>
              <a:t>    "basis": "SFR-003~006, PER-003 / Word T062",</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"정확한 공고 도달률 / 탐색시간 / 이용 포기율",</a:t>
            </a:r>
          </a:p>
          <a:p xmlns:a="http://schemas.openxmlformats.org/drawingml/2006/main">
            <a:r>
              <a:t>    "group": "요구·구축",</a:t>
            </a:r>
          </a:p>
          <a:p xmlns:a="http://schemas.openxmlformats.org/drawingml/2006/main">
            <a:r>
              <a:t>    "sourceDetail": "데이터 수집·갱신→RAG→의도 기반 답변·유사공고 비교→원문 연결; 오류·만족도 관리",</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"PF-R05",</a:t>
            </a:r>
          </a:p>
          <a:p xmlns:a="http://schemas.openxmlformats.org/drawingml/2006/main">
            <a:r>
              <a:t>    "canonicalId": "PF-R05",</a:t>
            </a:r>
          </a:p>
          <a:p xmlns:a="http://schemas.openxmlformats.org/drawingml/2006/main">
            <a:r>
              <a:t>    "purpose": "정책·복지·공고의 대화형 탐색",</a:t>
            </a:r>
          </a:p>
          <a:p xmlns:a="http://schemas.openxmlformats.org/drawingml/2006/main">
            <a:r>
              <a:t>    "users": "도민·홈페이지 운영자",</a:t>
            </a:r>
          </a:p>
          <a:p xmlns:a="http://schemas.openxmlformats.org/drawingml/2006/main">
            <a:r>
              <a:t>    "scope": [</a:t>
            </a:r>
          </a:p>
          <a:p xmlns:a="http://schemas.openxmlformats.org/drawingml/2006/main">
            <a:r>
              <a:t>      "자연어 탐색",</a:t>
            </a:r>
          </a:p>
          <a:p xmlns:a="http://schemas.openxmlformats.org/drawingml/2006/main">
            <a:r>
              <a:t>      "유사공고 비교",</a:t>
            </a:r>
          </a:p>
          <a:p xmlns:a="http://schemas.openxmlformats.org/drawingml/2006/main">
            <a:r>
              <a:t>      "원문 연결"</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"도민 대화",</a:t>
            </a:r>
          </a:p>
          <a:p xmlns:a="http://schemas.openxmlformats.org/drawingml/2006/main">
            <a:r>
              <a:t>        "detail": "요청 목적·대상 조건·대화 이력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"자연어 탐색 / 유사공고 비교 / 원문 연결",</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"의도 분류·정보 비교",</a:t>
            </a:r>
          </a:p>
          <a:p xmlns:a="http://schemas.openxmlformats.org/drawingml/2006/main">
            <a:r>
              <a:t>        "detail": "의도 분석과 RAG 응답·공고 비교",</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"원문 안내",</a:t>
            </a:r>
          </a:p>
          <a:p xmlns:a="http://schemas.openxmlformats.org/drawingml/2006/main">
            <a:r>
              <a:t>        "detail": "출처 링크와 신청 안내 페이지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"정책·공고 지식",</a:t>
            </a:r>
          </a:p>
          <a:p xmlns:a="http://schemas.openxmlformats.org/drawingml/2006/main">
            <a:r>
              <a:t>        "detail": "홈페이지 문서 수집·전처리·변경 반영",</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"예외 질문·오류·만족도 기반 지식 보완",</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"정책·공고",</a:t>
            </a:r>
          </a:p>
          <a:p xmlns:a="http://schemas.openxmlformats.org/drawingml/2006/main">
            <a:r>
              <a:t>        "input": "요청 목적·대상 조건·대화 이력 구성",</a:t>
            </a:r>
          </a:p>
          <a:p xmlns:a="http://schemas.openxmlformats.org/drawingml/2006/main">
            <a:r>
              <a:t>        "process": "홈페이지 문서 수집·전처리·변경 반영",</a:t>
            </a:r>
          </a:p>
          <a:p xmlns:a="http://schemas.openxmlformats.org/drawingml/2006/main">
            <a:r>
              <a:t>        "output": "질문·지역"</a:t>
            </a:r>
          </a:p>
          <a:p xmlns:a="http://schemas.openxmlformats.org/drawingml/2006/main">
            <a:r>
              <a:t>      },</a:t>
            </a:r>
          </a:p>
          <a:p xmlns:a="http://schemas.openxmlformats.org/drawingml/2006/main">
            <a:r>
              <a:t>      {</a:t>
            </a:r>
          </a:p>
          <a:p xmlns:a="http://schemas.openxmlformats.org/drawingml/2006/main">
            <a:r>
              <a:t>        "title": "지식 갱신",</a:t>
            </a:r>
          </a:p>
          <a:p xmlns:a="http://schemas.openxmlformats.org/drawingml/2006/main">
            <a:r>
              <a:t>        "input": "질문·지역",</a:t>
            </a:r>
          </a:p>
          <a:p xmlns:a="http://schemas.openxmlformats.org/drawingml/2006/main">
            <a:r>
              <a:t>        "process": "의도 분석과 RAG 응답·공고 비교",</a:t>
            </a:r>
          </a:p>
          <a:p xmlns:a="http://schemas.openxmlformats.org/drawingml/2006/main">
            <a:r>
              <a:t>        "output": "유효 공고"</a:t>
            </a:r>
          </a:p>
          <a:p xmlns:a="http://schemas.openxmlformats.org/drawingml/2006/main">
            <a:r>
              <a:t>      },</a:t>
            </a:r>
          </a:p>
          <a:p xmlns:a="http://schemas.openxmlformats.org/drawingml/2006/main">
            <a:r>
              <a:t>      {</a:t>
            </a:r>
          </a:p>
          <a:p xmlns:a="http://schemas.openxmlformats.org/drawingml/2006/main">
            <a:r>
              <a:t>        "title": "의도·정보 비교",</a:t>
            </a:r>
          </a:p>
          <a:p xmlns:a="http://schemas.openxmlformats.org/drawingml/2006/main">
            <a:r>
              <a:t>        "input": "유효 공고",</a:t>
            </a:r>
          </a:p>
          <a:p xmlns:a="http://schemas.openxmlformats.org/drawingml/2006/main">
            <a:r>
              <a:t>        "process": "유효기간·대상조건·링크 점검",</a:t>
            </a:r>
          </a:p>
          <a:p xmlns:a="http://schemas.openxmlformats.org/drawingml/2006/main">
            <a:r>
              <a:t>        "output": "조건 비교"</a:t>
            </a:r>
          </a:p>
          <a:p xmlns:a="http://schemas.openxmlformats.org/drawingml/2006/main">
            <a:r>
              <a:t>      },</a:t>
            </a:r>
          </a:p>
          <a:p xmlns:a="http://schemas.openxmlformats.org/drawingml/2006/main">
            <a:r>
              <a:t>      {</a:t>
            </a:r>
          </a:p>
          <a:p xmlns:a="http://schemas.openxmlformats.org/drawingml/2006/main">
            <a:r>
              <a:t>        "title": "원문 안내",</a:t>
            </a:r>
          </a:p>
          <a:p xmlns:a="http://schemas.openxmlformats.org/drawingml/2006/main">
            <a:r>
              <a:t>        "input": "조건 비교",</a:t>
            </a:r>
          </a:p>
          <a:p xmlns:a="http://schemas.openxmlformats.org/drawingml/2006/main">
            <a:r>
              <a:t>        "process": "출처 링크와 신청 안내 페이지 제공",</a:t>
            </a:r>
          </a:p>
          <a:p xmlns:a="http://schemas.openxmlformats.org/drawingml/2006/main">
            <a:r>
              <a:t>        "output": "공식 페이지"</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"자격조건을 설명하고 관련 공고와 신청 페이지 비교",</a:t>
            </a:r>
          </a:p>
          <a:p xmlns:a="http://schemas.openxmlformats.org/drawingml/2006/main">
            <a:r>
              <a:t>      "exception": "마감 공고·유사한 다른 제도·갱신 전 색인",</a:t>
            </a:r>
          </a:p>
          <a:p xmlns:a="http://schemas.openxmlformats.org/drawingml/2006/main">
            <a:r>
              <a:t>      "evidence": "조건·기한별 정답 공고와 원문 링크·변경 반영 시각",</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"도민·홈페이지 운영자",</a:t>
            </a:r>
          </a:p>
          <a:p xmlns:a="http://schemas.openxmlformats.org/drawingml/2006/main">
            <a:r>
              <a:t>          "processing": "요청 목적·대상 조건·대화 이력 구성",</a:t>
            </a:r>
          </a:p>
          <a:p xmlns:a="http://schemas.openxmlformats.org/drawingml/2006/main">
            <a:r>
              <a:t>          "output": "질문·지역"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"정책·공고 지식",</a:t>
            </a:r>
          </a:p>
          <a:p xmlns:a="http://schemas.openxmlformats.org/drawingml/2006/main">
            <a:r>
              <a:t>          "processing": "홈페이지 문서 수집·전처리·변경 반영",</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"질문·지역",</a:t>
            </a:r>
          </a:p>
          <a:p xmlns:a="http://schemas.openxmlformats.org/drawingml/2006/main">
            <a:r>
              <a:t>          "processing": "의도 분석과 RAG 응답·공고 비교",</a:t>
            </a:r>
          </a:p>
          <a:p xmlns:a="http://schemas.openxmlformats.org/drawingml/2006/main">
            <a:r>
              <a:t>          "output": "조건 비교"</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"조건 비교",</a:t>
            </a:r>
          </a:p>
          <a:p xmlns:a="http://schemas.openxmlformats.org/drawingml/2006/main">
            <a:r>
              <a:t>          "processing": "출처 링크와 신청 안내 페이지 제공",</a:t>
            </a:r>
          </a:p>
          <a:p xmlns:a="http://schemas.openxmlformats.org/drawingml/2006/main">
            <a:r>
              <a:t>          "output": "공식 페이지"</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"예외 질문·오류·만족도 기반 지식 보완",</a:t>
            </a:r>
          </a:p>
          <a:p xmlns:a="http://schemas.openxmlformats.org/drawingml/2006/main">
            <a:r>
              <a:t>          "output": "조건·기한별 정답 공고와 원문 링크·변경 반영 시각"</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"예외 질문·오류·만족도 기반 지식 보완",</a:t>
            </a:r>
          </a:p>
          <a:p xmlns:a="http://schemas.openxmlformats.org/drawingml/2006/main">
            <a:r>
              <a:t>    "status": "RFP 기반 논리 설계",</a:t>
            </a:r>
          </a:p>
          <a:p xmlns:a="http://schemas.openxmlformats.org/drawingml/2006/main">
            <a:r>
              <a:t>    "basis": "RFP · SFR-003~006",</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"SFR-003~006, PER-003 / Word T062",</a:t>
            </a:r>
          </a:p>
          <a:p xmlns:a="http://schemas.openxmlformats.org/drawingml/2006/main">
            <a:r>
              <a:t>        "url": "https://www.g2b.go.kr/pn/pnp/pnpe/UntyAtchFile/downloadFile.do?bidPbancNo=R25BK00751232&amp;bidPbancOrd=000&amp;fileType=&amp;fileSeq=2&amp;prcmBsneSeCd=03"</a:t>
            </a:r>
          </a:p>
          <a:p xmlns:a="http://schemas.openxmlformats.org/drawingml/2006/main">
            <a:r>
              <a:t>      }</a:t>
            </a:r>
          </a:p>
          <a:p xmlns:a="http://schemas.openxmlformats.org/drawingml/2006/main">
            <a:r>
              <a:t>    ],</a:t>
            </a:r>
          </a:p>
          <a:p xmlns:a="http://schemas.openxmlformats.org/drawingml/2006/main">
            <a:r>
              <a:t>    "implication": "서비스 조건·기한·신청 창구를 연결하는 홈페이지 탐색 지원",</a:t>
            </a:r>
          </a:p>
          <a:p xmlns:a="http://schemas.openxmlformats.org/drawingml/2006/main">
            <a:r>
              <a:t>    "local": "서비스 조건·기한·신청 창구를 연결하는 홈페이지 탐색 지원",</a:t>
            </a:r>
          </a:p>
          <a:p xmlns:a="http://schemas.openxmlformats.org/drawingml/2006/main">
            <a:r>
              <a:t>    "sourceDetail": "데이터 수집·갱신→RAG→의도 기반 답변·유사공고 비교→원문 연결; 오류·만족도 관리",</a:t>
            </a:r>
          </a:p>
          <a:p xmlns:a="http://schemas.openxmlformats.org/drawingml/2006/main">
            <a:r>
              <a:t>    "narrative": [</a:t>
            </a:r>
          </a:p>
          <a:p xmlns:a="http://schemas.openxmlformats.org/drawingml/2006/main">
            <a:r>
              <a:t>      "경기도 홈페이지에 축적된 정책·복지·공고 정보를 자연어로 찾도록 하는 검색 접점 고도화. 국민의 요청을 신청 자격·지역·기간 등의 조건으로 정리하고, 맞는 공고와 기존 신청 화면으로 연결하는 업무.",</a:t>
            </a:r>
          </a:p>
          <a:p xmlns:a="http://schemas.openxmlformats.org/drawingml/2006/main">
            <a:r>
              <a:t>      "원문 서비스 도면은 홈페이지 RDB의 대상 자료를 공공클라우드 RAG 영역에 수집·임베딩하고, 질의와 검색 근거를 외부 LLM에 전달한 뒤 홈페이지 채팅 UI로 답변하는 구성. 기능도에는 데이터·프롬프트·이력·모델·통계를 별도 관리 영역으로 명시.",</a:t>
            </a:r>
          </a:p>
          <a:p xmlns:a="http://schemas.openxmlformats.org/drawingml/2006/main">
            <a:r>
              <a:t>      "챗봇이 답한 것과 국민이 원하는 서비스를 찾은 것을 구분해 평가할 사례. 마감 공고·지역 불일치·자격 예외를 포함한 질문으로 원문 링크 도달과 다음 절차 안내를 검증할 필요. TS 대국민 접점에서는 기존 메뉴·신청 시스템을 유지하면서 자연어·음성 진입을 추가하는 방향."</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"SFR-003",</a:t>
            </a:r>
          </a:p>
          <a:p xmlns:a="http://schemas.openxmlformats.org/drawingml/2006/main">
            <a:r>
              <a:t>        "title": "생성형 AI 챗봇 검색 서비스 대상 데이터 수집·정제·전처리",</a:t>
            </a:r>
          </a:p>
          <a:p xmlns:a="http://schemas.openxmlformats.org/drawingml/2006/main">
            <a:r>
              <a:t>        "locator": "SFR-003",</a:t>
            </a:r>
          </a:p>
          <a:p xmlns:a="http://schemas.openxmlformats.org/drawingml/2006/main">
            <a:r>
              <a:t>        "summary": "정책·복지·공고 등 대상 데이터를 수집하고 정제·전처리하는 기능.",</a:t>
            </a:r>
          </a:p>
          <a:p xmlns:a="http://schemas.openxmlformats.org/drawingml/2006/main">
            <a:r>
              <a:t>        "data": "홈페이지 원문·파일 → 정규화 자료·메타데이터",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a:t>
            </a:r>
          </a:p>
          <a:p xmlns:a="http://schemas.openxmlformats.org/drawingml/2006/main">
            <a:r>
              <a:t>        "acceptance": "첨부·표·중복 URL·깨진 링크 입력의 수집 범위와 정제 결과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"dfce571aa07ad0601b331c6afaa46c57d8ef4ad8975cae48c8c928272ce53768"</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"실시간 데이터 파이프라인 자동화 구축",</a:t>
            </a:r>
          </a:p>
          <a:p xmlns:a="http://schemas.openxmlformats.org/drawingml/2006/main">
            <a:r>
              <a:t>        "locator": "SFR-004",</a:t>
            </a:r>
          </a:p>
          <a:p xmlns:a="http://schemas.openxmlformats.org/drawingml/2006/main">
            <a:r>
              <a:t>        "summary": "신규·변경 정보를 반영하는 데이터 파이프라인 자동화.",</a:t>
            </a:r>
          </a:p>
          <a:p xmlns:a="http://schemas.openxmlformats.org/drawingml/2006/main">
            <a:r>
              <a:t>        "data": "원천 변경·스케줄 → 갱신된 검색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"공고 수정·종료·삭제 후 색인 갱신과 수집 실패 후 재개 결과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"6d77f8fe82e84d8c671fdea123a554f2f2c061d91a1941d599146f167079e57e"</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"RAG(Retrieval Augmented Generation) 구축",</a:t>
            </a:r>
          </a:p>
          <a:p xmlns:a="http://schemas.openxmlformats.org/drawingml/2006/main">
            <a:r>
              <a:t>        "locator": "SFR-005",</a:t>
            </a:r>
          </a:p>
          <a:p xmlns:a="http://schemas.openxmlformats.org/drawingml/2006/main">
            <a:r>
              <a:t>        "summary": "정제 자료를 검색 근거로 제공하는 RAG 기반 구성.",</a:t>
            </a:r>
          </a:p>
          <a:p xmlns:a="http://schemas.openxmlformats.org/drawingml/2006/main">
            <a:r>
              <a:t>        "data": "사용자 질문·정책 색인 → 근거 문서·답변 문맥",</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"C11"</a:t>
            </a:r>
          </a:p>
          <a:p xmlns:a="http://schemas.openxmlformats.org/drawingml/2006/main">
            <a:r>
              <a:t>        ],</a:t>
            </a:r>
          </a:p>
          <a:p xmlns:a="http://schemas.openxmlformats.org/drawingml/2006/main">
            <a:r>
              <a:t>        "acceptance": "기간·지역·대상 조건이 다른 유사 정책의 구분과 근거 페이지 정확성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"02d312ae74d0ddf4dd06d7e84e79461aa2f4bb7664d9f657f22281c8d145bf02"</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"생성형 AI 챗봇 검색 서비스 개발",</a:t>
            </a:r>
          </a:p>
          <a:p xmlns:a="http://schemas.openxmlformats.org/drawingml/2006/main">
            <a:r>
              <a:t>        "locator": "SFR-006",</a:t>
            </a:r>
          </a:p>
          <a:p xmlns:a="http://schemas.openxmlformats.org/drawingml/2006/main">
            <a:r>
              <a:t>        "summary": "도민의 대화형 정보 탐색을 위한 챗봇·검색 서비스 구현.",</a:t>
            </a:r>
          </a:p>
          <a:p xmlns:a="http://schemas.openxmlformats.org/drawingml/2006/main">
            <a:r>
              <a:t>        "data": "자연어 문의·추가 조건 → 안내·공식 서비스 연결",</a:t>
            </a:r>
          </a:p>
          <a:p xmlns:a="http://schemas.openxmlformats.org/drawingml/2006/main">
            <a:r>
              <a:t>        "components": [</a:t>
            </a:r>
          </a:p>
          <a:p xmlns:a="http://schemas.openxmlformats.org/drawingml/2006/main">
            <a:r>
              <a:t>          "C01",</a:t>
            </a:r>
          </a:p>
          <a:p xmlns:a="http://schemas.openxmlformats.org/drawingml/2006/main">
            <a:r>
              <a:t>          "C02",</a:t>
            </a:r>
          </a:p>
          <a:p xmlns:a="http://schemas.openxmlformats.org/drawingml/2006/main">
            <a:r>
              <a:t>          "C06"</a:t>
            </a:r>
          </a:p>
          <a:p xmlns:a="http://schemas.openxmlformats.org/drawingml/2006/main">
            <a:r>
              <a:t>        ],</a:t>
            </a:r>
          </a:p>
          <a:p xmlns:a="http://schemas.openxmlformats.org/drawingml/2006/main">
            <a:r>
              <a:t>        "acceptance": "모호한 문의의 추가 질문, 잘못된 서비스 링크, 응답 실패 시 기존 탐색 경로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"b2087cef15831463cccbd35ddb28248885288bfed8bbcafeed9bc7066f08417e"</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"홈페이지 챗봇",</a:t>
            </a:r>
          </a:p>
          <a:p xmlns:a="http://schemas.openxmlformats.org/drawingml/2006/main">
            <a:r>
              <a:t>          "layer": "이용 접점",</a:t>
            </a:r>
          </a:p>
          <a:p xmlns:a="http://schemas.openxmlformats.org/drawingml/2006/main">
            <a:r>
              <a:t>          "detail": "도민·홈페이지 운영자",</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"지역·대상·기간",</a:t>
            </a:r>
          </a:p>
          <a:p xmlns:a="http://schemas.openxmlformats.org/drawingml/2006/main">
            <a:r>
              <a:t>          "layer": "업무 문맥",</a:t>
            </a:r>
          </a:p>
          <a:p xmlns:a="http://schemas.openxmlformats.org/drawingml/2006/main">
            <a:r>
              <a:t>          "detail": "요청 목적·대상 조건·대화 이력 구성",</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"유효 공고 검색",</a:t>
            </a:r>
          </a:p>
          <a:p xmlns:a="http://schemas.openxmlformats.org/drawingml/2006/main">
            <a:r>
              <a:t>          "layer": "자료 조회",</a:t>
            </a:r>
          </a:p>
          <a:p xmlns:a="http://schemas.openxmlformats.org/drawingml/2006/main">
            <a:r>
              <a:t>          "detail": "질문·지역",</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"의도·조건 비교",</a:t>
            </a:r>
          </a:p>
          <a:p xmlns:a="http://schemas.openxmlformats.org/drawingml/2006/main">
            <a:r>
              <a:t>          "layer": "핵심 처리",</a:t>
            </a:r>
          </a:p>
          <a:p xmlns:a="http://schemas.openxmlformats.org/drawingml/2006/main">
            <a:r>
              <a:t>          "detail": "의도 분석과 RAG 응답·공고 비교",</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"마감·자격 검사",</a:t>
            </a:r>
          </a:p>
          <a:p xmlns:a="http://schemas.openxmlformats.org/drawingml/2006/main">
            <a:r>
              <a:t>          "layer": "결과 검증",</a:t>
            </a:r>
          </a:p>
          <a:p xmlns:a="http://schemas.openxmlformats.org/drawingml/2006/main">
            <a:r>
              <a:t>          "detail": "유효기간·대상조건·링크 점검",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"이용자 조건 확인",</a:t>
            </a:r>
          </a:p>
          <a:p xmlns:a="http://schemas.openxmlformats.org/drawingml/2006/main">
            <a:r>
              <a:t>          "layer": "사람 확인",</a:t>
            </a:r>
          </a:p>
          <a:p xmlns:a="http://schemas.openxmlformats.org/drawingml/2006/main">
            <a:r>
              <a:t>          "detail": "자격조건을 설명하고 관련 공고와 신청 페이지 비교",</a:t>
            </a:r>
          </a:p>
          <a:p xmlns:a="http://schemas.openxmlformats.org/drawingml/2006/main">
            <a:r>
              <a:t>          "requirements": [</a:t>
            </a:r>
          </a:p>
          <a:p xmlns:a="http://schemas.openxmlformats.org/drawingml/2006/main">
            <a:r>
              <a:t>            "SFR-006"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"공식 신청 안내",</a:t>
            </a:r>
          </a:p>
          <a:p xmlns:a="http://schemas.openxmlformats.org/drawingml/2006/main">
            <a:r>
              <a:t>          "layer": "업무 연결",</a:t>
            </a:r>
          </a:p>
          <a:p xmlns:a="http://schemas.openxmlformats.org/drawingml/2006/main">
            <a:r>
              <a:t>          "detail": "출처 링크와 신청 안내 페이지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"오류·만족도 분석",</a:t>
            </a:r>
          </a:p>
          <a:p xmlns:a="http://schemas.openxmlformats.org/drawingml/2006/main">
            <a:r>
              <a:t>          "layer": "운영 관측",</a:t>
            </a:r>
          </a:p>
          <a:p xmlns:a="http://schemas.openxmlformats.org/drawingml/2006/main">
            <a:r>
              <a:t>          "detail": "예외 질문·오류·만족도 기반 지식 보완",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"홈페이지·공고 DB",</a:t>
            </a:r>
          </a:p>
          <a:p xmlns:a="http://schemas.openxmlformats.org/drawingml/2006/main">
            <a:r>
              <a:t>          "layer": "데이터 원천",</a:t>
            </a:r>
          </a:p>
          <a:p xmlns:a="http://schemas.openxmlformats.org/drawingml/2006/main">
            <a:r>
              <a:t>          "detail": "정책·공고 지식",</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"수집·갱신·벡터화",</a:t>
            </a:r>
          </a:p>
          <a:p xmlns:a="http://schemas.openxmlformats.org/drawingml/2006/main">
            <a:r>
              <a:t>          "layer": "준비·갱신",</a:t>
            </a:r>
          </a:p>
          <a:p xmlns:a="http://schemas.openxmlformats.org/drawingml/2006/main">
            <a:r>
              <a:t>          "detail": "홈페이지 문서 수집·전처리·변경 반영",</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"공공클라우드 RAG",</a:t>
            </a:r>
          </a:p>
          <a:p xmlns:a="http://schemas.openxmlformats.org/drawingml/2006/main">
            <a:r>
              <a:t>          "layer": "상태·지식 저장",</a:t>
            </a:r>
          </a:p>
          <a:p xmlns:a="http://schemas.openxmlformats.org/drawingml/2006/main">
            <a:r>
              <a:t>          "detail": "조건·기한별 정답 공고와 원문 링크·변경 반영 시각",</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"외부 LLM 연결경계",</a:t>
            </a:r>
          </a:p>
          <a:p xmlns:a="http://schemas.openxmlformats.org/drawingml/2006/main">
            <a:r>
              <a:t>          "layer": "권한·정책",</a:t>
            </a:r>
          </a:p>
          <a:p xmlns:a="http://schemas.openxmlformats.org/drawingml/2006/main">
            <a:r>
              <a:t>          "detail": "마감 공고·유사한 다른 제도·갱신 전 색인",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"요청 목적·대상 조건·대화 이력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"질문·지역",</a:t>
            </a:r>
          </a:p>
          <a:p xmlns:a="http://schemas.openxmlformats.org/drawingml/2006/main">
            <a:r>
              <a:t>          "check": "유효기간·대상조건·링크 점검"</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"유효 공고",</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"조건 비교",</a:t>
            </a:r>
          </a:p>
          <a:p xmlns:a="http://schemas.openxmlformats.org/drawingml/2006/main">
            <a:r>
              <a:t>          "check": "마감 공고·유사한 다른 제도·갱신 전 색인"</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"조건 비교",</a:t>
            </a:r>
          </a:p>
          <a:p xmlns:a="http://schemas.openxmlformats.org/drawingml/2006/main">
            <a:r>
              <a:t>          "check": "출처 링크와 신청 안내 페이지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"공식 페이지",</a:t>
            </a:r>
          </a:p>
          <a:p xmlns:a="http://schemas.openxmlformats.org/drawingml/2006/main">
            <a:r>
              <a:t>          "check": "조건·기한별 정답 공고와 원문 링크·변경 반영 시각"</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"생성형 AI 서비스 아키텍처 구성도, SFR-003~006",</a:t>
            </a:r>
          </a:p>
          <a:p xmlns:a="http://schemas.openxmlformats.org/drawingml/2006/main">
            <a:r>
              <a:t>        "extracted": "홈페이지 RDB → 공공클라우드 Vector DB → 외부 LLM 연결",</a:t>
            </a:r>
          </a:p>
          <a:p xmlns:a="http://schemas.openxmlformats.org/drawingml/2006/main">
            <a:r>
              <a:t>        "extension": "공고 마감·지역·자격조건 대조 및 신청 링크 검증"</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"PF-R05",</a:t>
            </a:r>
          </a:p>
          <a:p xmlns:a="http://schemas.openxmlformats.org/drawingml/2006/main">
            <a:r>
              <a:t>          "path": "assets/casebook-sources/PF-R05-01.png",</a:t>
            </a:r>
          </a:p>
          <a:p xmlns:a="http://schemas.openxmlformats.org/drawingml/2006/main">
            <a:r>
              <a:t>          "title": "홈페이지 AI 목표기능",</a:t>
            </a:r>
          </a:p>
          <a:p xmlns:a="http://schemas.openxmlformats.org/drawingml/2006/main">
            <a:r>
              <a:t>          "status": "RFP 목표기능 구성도",</a:t>
            </a:r>
          </a:p>
          <a:p xmlns:a="http://schemas.openxmlformats.org/drawingml/2006/main">
            <a:r>
              <a:t>          "caption": "챗봇·RAG·데이터 파이프라인·모델 관리의 분리",</a:t>
            </a:r>
          </a:p>
          <a:p xmlns:a="http://schemas.openxmlformats.org/drawingml/2006/main">
            <a:r>
              <a:t>          "locator": "rId17 / BinData/image3_png",</a:t>
            </a:r>
          </a:p>
          <a:p xmlns:a="http://schemas.openxmlformats.org/drawingml/2006/main">
            <a:r>
              <a:t>          "checked": "2026-10-16",</a:t>
            </a:r>
          </a:p>
          <a:p xmlns:a="http://schemas.openxmlformats.org/drawingml/2006/main">
            <a:r>
              <a:t>          "sha256": "dbf8455e9d661c8a3db51e5677f25fc751cb2ade3a7b0abaf602d57a8aaf1ba8",</a:t>
            </a:r>
          </a:p>
          <a:p xmlns:a="http://schemas.openxmlformats.org/drawingml/2006/main">
            <a:r>
              <a:t>          "explanation": {</a:t>
            </a:r>
          </a:p>
          <a:p xmlns:a="http://schemas.openxmlformats.org/drawingml/2006/main">
            <a:r>
              <a:t>            "read": "도민의 대화형 탐색 접점에서 정책·복지·공고 정보의 검색과 AI 응답을 제공하는 목표 기능 구조. 대화 응답 이후 실제 신청 서비스로 이동하는 연결이 업무 완료의 다음 단계.",</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"SFR-005",</a:t>
            </a:r>
          </a:p>
          <a:p xmlns:a="http://schemas.openxmlformats.org/drawingml/2006/main">
            <a:r>
              <a:t>              "SFR-006"</a:t>
            </a:r>
          </a:p>
          <a:p xmlns:a="http://schemas.openxmlformats.org/drawingml/2006/main">
            <a:r>
              <a:t>            ],</a:t>
            </a:r>
          </a:p>
          <a:p xmlns:a="http://schemas.openxmlformats.org/drawingml/2006/main">
            <a:r>
              <a:t>            "connection": "지역·대상·신청기간의 추가 질문과 공식 신청 링크를 구성하고 답변 정확도와 신청 화면 도달률을 분리해 평가하는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"PF-R05",</a:t>
            </a:r>
          </a:p>
          <a:p xmlns:a="http://schemas.openxmlformats.org/drawingml/2006/main">
            <a:r>
              <a:t>          "path": "assets/casebook-sources/PF-R05-02.png",</a:t>
            </a:r>
          </a:p>
          <a:p xmlns:a="http://schemas.openxmlformats.org/drawingml/2006/main">
            <a:r>
              <a:t>          "title": "홈페이지–RAG–외부 LLM",</a:t>
            </a:r>
          </a:p>
          <a:p xmlns:a="http://schemas.openxmlformats.org/drawingml/2006/main">
            <a:r>
              <a:t>          "status": "RFP 서비스 아키텍처 구성도",</a:t>
            </a:r>
          </a:p>
          <a:p xmlns:a="http://schemas.openxmlformats.org/drawingml/2006/main">
            <a:r>
              <a:t>          "caption": "홈페이지 RDB → 공공클라우드 Vector DB → 외부 LLM",</a:t>
            </a:r>
          </a:p>
          <a:p xmlns:a="http://schemas.openxmlformats.org/drawingml/2006/main">
            <a:r>
              <a:t>          "locator": "rId17 / BinData/image4_bmp",</a:t>
            </a:r>
          </a:p>
          <a:p xmlns:a="http://schemas.openxmlformats.org/drawingml/2006/main">
            <a:r>
              <a:t>          "checked": "2026-10-16",</a:t>
            </a:r>
          </a:p>
          <a:p xmlns:a="http://schemas.openxmlformats.org/drawingml/2006/main">
            <a:r>
              <a:t>          "sha256": "04b7bff411913589529c68490addbddd2c84b7abce61ecd7c873e971bab7bf7e",</a:t>
            </a:r>
          </a:p>
          <a:p xmlns:a="http://schemas.openxmlformats.org/drawingml/2006/main">
            <a:r>
              <a:t>          "explanation": {</a:t>
            </a:r>
          </a:p>
          <a:p xmlns:a="http://schemas.openxmlformats.org/drawingml/2006/main">
            <a:r>
              <a:t>            "read": "홈페이지 RDB의 자료를 공공클라우드 검색 계층으로 반영하고 검색 근거를 외부 LLM에 전달하는 구조. 원천 데이터 갱신과 이용자 질문의 실시간 처리를 나누는 연결.",</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"SFR-005"</a:t>
            </a:r>
          </a:p>
          <a:p xmlns:a="http://schemas.openxmlformats.org/drawingml/2006/main">
            <a:r>
              <a:t>            ],</a:t>
            </a:r>
          </a:p>
          <a:p xmlns:a="http://schemas.openxmlformats.org/drawingml/2006/main">
            <a:r>
              <a:t>            "connection": "원천 수정·종료·삭제가 색인에 반영되는지 추적하고 외부 전송 문맥과 답변 인용의 출처·판본을 보존하는 데이터 흐름."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"마감 공고·유사한 다른 제도·갱신 전 색인",</a:t>
            </a:r>
          </a:p>
          <a:p xmlns:a="http://schemas.openxmlformats.org/drawingml/2006/main">
            <a:r>
              <a:t>        "hold": "유효기간·대상조건·링크 점검",</a:t>
            </a:r>
          </a:p>
          <a:p xmlns:a="http://schemas.openxmlformats.org/drawingml/2006/main">
            <a:r>
              <a:t>        "recovery": "예외 질문·오류·만족도 기반 지식 보완",</a:t>
            </a:r>
          </a:p>
          <a:p xmlns:a="http://schemas.openxmlformats.org/drawingml/2006/main">
            <a:r>
              <a:t>        "evidence": "조건·기한별 정답 공고와 원문 링크·변경 반영 시각"</a:t>
            </a:r>
          </a:p>
          <a:p xmlns:a="http://schemas.openxmlformats.org/drawingml/2006/main">
            <a:r>
              <a:t>      },</a:t>
            </a:r>
          </a:p>
          <a:p xmlns:a="http://schemas.openxmlformats.org/drawingml/2006/main">
            <a:r>
              <a:t>      "data": {</a:t>
            </a:r>
          </a:p>
          <a:p xmlns:a="http://schemas.openxmlformats.org/drawingml/2006/main">
            <a:r>
              <a:t>        "source": "정책·공고 지식",</a:t>
            </a:r>
          </a:p>
          <a:p xmlns:a="http://schemas.openxmlformats.org/drawingml/2006/main">
            <a:r>
              <a:t>        "prepare": "홈페이지 문서 수집·전처리·변경 반영",</a:t>
            </a:r>
          </a:p>
          <a:p xmlns:a="http://schemas.openxmlformats.org/drawingml/2006/main">
            <a:r>
              <a:t>        "output": "질문·지역",</a:t>
            </a:r>
          </a:p>
          <a:p xmlns:a="http://schemas.openxmlformats.org/drawingml/2006/main">
            <a:r>
              <a:t>        "refresh": "예외 질문·오류·만족도 기반 지식 보완"</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"PF-R05",</a:t>
            </a:r>
          </a:p>
          <a:p xmlns:a="http://schemas.openxmlformats.org/drawingml/2006/main">
            <a:r>
              <a:t>    "success": [</a:t>
            </a:r>
          </a:p>
          <a:p xmlns:a="http://schemas.openxmlformats.org/drawingml/2006/main">
            <a:r>
              <a:t>      "정책·복지·공고의 통합 탐색",</a:t>
            </a:r>
          </a:p>
          <a:p xmlns:a="http://schemas.openxmlformats.org/drawingml/2006/main">
            <a:r>
              <a:t>      "원문을 통한 후속 절차 연결"</a:t>
            </a:r>
          </a:p>
          <a:p xmlns:a="http://schemas.openxmlformats.org/drawingml/2006/main">
            <a:r>
              <a:t>    ],</a:t>
            </a:r>
          </a:p>
          <a:p xmlns:a="http://schemas.openxmlformats.org/drawingml/2006/main">
            <a:r>
              <a:t>    "risks": [</a:t>
            </a:r>
          </a:p>
          <a:p xmlns:a="http://schemas.openxmlformats.org/drawingml/2006/main">
            <a:r>
              <a:t>      "마감·지역·자격조건 오안내",</a:t>
            </a:r>
          </a:p>
          <a:p xmlns:a="http://schemas.openxmlformats.org/drawingml/2006/main">
            <a:r>
              <a:t>      "착수와 정식 운영 성과의 차이"</a:t>
            </a:r>
          </a:p>
          <a:p xmlns:a="http://schemas.openxmlformats.org/drawingml/2006/main">
            <a:r>
              <a:t>    ],</a:t>
            </a:r>
          </a:p>
          <a:p xmlns:a="http://schemas.openxmlformats.org/drawingml/2006/main">
            <a:r>
              <a:t>    "architecture": [</a:t>
            </a:r>
          </a:p>
          <a:p xmlns:a="http://schemas.openxmlformats.org/drawingml/2006/main">
            <a:r>
              <a:t>      "도민 대화",</a:t>
            </a:r>
          </a:p>
          <a:p xmlns:a="http://schemas.openxmlformats.org/drawingml/2006/main">
            <a:r>
              <a:t>      "의도 분류·정보 비교",</a:t>
            </a:r>
          </a:p>
          <a:p xmlns:a="http://schemas.openxmlformats.org/drawingml/2006/main">
            <a:r>
              <a:t>      "정책·공고 지식",</a:t>
            </a:r>
          </a:p>
          <a:p xmlns:a="http://schemas.openxmlformats.org/drawingml/2006/main">
            <a:r>
              <a:t>      "원문 안내"</a:t>
            </a:r>
          </a:p>
          <a:p xmlns:a="http://schemas.openxmlformats.org/drawingml/2006/main">
            <a:r>
              <a:t>    ],</a:t>
            </a:r>
          </a:p>
          <a:p xmlns:a="http://schemas.openxmlformats.org/drawingml/2006/main">
            <a:r>
              <a:t>    "transfers": [</a:t>
            </a:r>
          </a:p>
          <a:p xmlns:a="http://schemas.openxmlformats.org/drawingml/2006/main">
            <a:r>
              <a:t>      "질문·지역",</a:t>
            </a:r>
          </a:p>
          <a:p xmlns:a="http://schemas.openxmlformats.org/drawingml/2006/main">
            <a:r>
              <a:t>      "유효 공고",</a:t>
            </a:r>
          </a:p>
          <a:p xmlns:a="http://schemas.openxmlformats.org/drawingml/2006/main">
            <a:r>
              <a:t>      "조건 비교",</a:t>
            </a:r>
          </a:p>
          <a:p xmlns:a="http://schemas.openxmlformats.org/drawingml/2006/main">
            <a:r>
              <a:t>      "공식 페이지"</a:t>
            </a:r>
          </a:p>
          <a:p xmlns:a="http://schemas.openxmlformats.org/drawingml/2006/main">
            <a:r>
              <a:t>    ],</a:t>
            </a:r>
          </a:p>
          <a:p xmlns:a="http://schemas.openxmlformats.org/drawingml/2006/main">
            <a:r>
              <a:t>    "control": "유효기간·대상조건·링크 점검",</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SFR-003~006, PER-003 / Word T062 https://www.g2b.go.kr/pn/pnp/pnpe/UntyAtchFile/downloadFile.do?bidPbancNo=R25BK00751232&amp;bidPbancOrd=000&amp;fileType=&amp;fileSeq=2&amp;prcmBsneSeCd=03</a:t>
            </a:r>
          </a:p>
          <a:p xmlns:a="http://schemas.openxmlformats.org/drawingml/2006/main">
            <a:r>
              <a:t>홈페이지 https://heen1987-ops.github.io/TS-business-Plan-001/index.html?view=platform-cases&amp;case=PF-R05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"PF-R06",</a:t>
            </a:r>
          </a:p>
          <a:p xmlns:a="http://schemas.openxmlformats.org/drawingml/2006/main">
            <a:r>
              <a:t>    "sourceId": "R06",</a:t>
            </a:r>
          </a:p>
          <a:p xmlns:a="http://schemas.openxmlformats.org/drawingml/2006/main">
            <a:r>
              <a:t>    "title": "철도기술연구원 행정 AI",</a:t>
            </a:r>
          </a:p>
          <a:p xmlns:a="http://schemas.openxmlformats.org/drawingml/2006/main">
            <a:r>
              <a:t>    "region": "국내",</a:t>
            </a:r>
          </a:p>
          <a:p xmlns:a="http://schemas.openxmlformats.org/drawingml/2006/main">
            <a:r>
              <a:t>    "owner": "한국철도기술연구원",</a:t>
            </a:r>
          </a:p>
          <a:p xmlns:a="http://schemas.openxmlformats.org/drawingml/2006/main">
            <a:r>
              <a:t>    "state": "공식 RFP 확인 / 운영·효과 미확인",</a:t>
            </a:r>
          </a:p>
          <a:p xmlns:a="http://schemas.openxmlformats.org/drawingml/2006/main">
            <a:r>
              <a:t>    "period": "기존 원장 확인 2026.10.16",</a:t>
            </a:r>
          </a:p>
          <a:p xmlns:a="http://schemas.openxmlformats.org/drawingml/2006/main">
            <a:r>
              <a:t>    "fact": "음성·자연어로 휴가·출장·복명 신청 후 MIS/전자결재 실행",</a:t>
            </a:r>
          </a:p>
          <a:p xmlns:a="http://schemas.openxmlformats.org/drawingml/2006/main">
            <a:r>
              <a:t>    "limit": "RFP 요구 범위 · MIS API 계층 신규 개발 포함 · 운영 성과와 구분",</a:t>
            </a:r>
          </a:p>
          <a:p xmlns:a="http://schemas.openxmlformats.org/drawingml/2006/main">
            <a:r>
              <a:t>    "nodes": [</a:t>
            </a:r>
          </a:p>
          <a:p xmlns:a="http://schemas.openxmlformats.org/drawingml/2006/main">
            <a:r>
              <a:t>      "음성·자연어",</a:t>
            </a:r>
          </a:p>
          <a:p xmlns:a="http://schemas.openxmlformats.org/drawingml/2006/main">
            <a:r>
              <a:t>      "필드 추출",</a:t>
            </a:r>
          </a:p>
          <a:p xmlns:a="http://schemas.openxmlformats.org/drawingml/2006/main">
            <a:r>
              <a:t>      "사용자 확인",</a:t>
            </a:r>
          </a:p>
          <a:p xmlns:a="http://schemas.openxmlformats.org/drawingml/2006/main">
            <a:r>
              <a:t>      "MIS·결재 연계"</a:t>
            </a:r>
          </a:p>
          <a:p xmlns:a="http://schemas.openxmlformats.org/drawingml/2006/main">
            <a:r>
              <a:t>    ],</a:t>
            </a:r>
          </a:p>
          <a:p xmlns:a="http://schemas.openxmlformats.org/drawingml/2006/main">
            <a:r>
              <a:t>    "apply": "사용자 확인·전결·접수 결과까지 추적하는 자연어 업무 실행",</a:t>
            </a:r>
          </a:p>
          <a:p xmlns:a="http://schemas.openxmlformats.org/drawingml/2006/main">
            <a:r>
              <a:t>    "delta": "발화 필드·확인 화면 / TS 기간계 API 차분 / 전결·취소·재시도 연결",</a:t>
            </a:r>
          </a:p>
          <a:p xmlns:a="http://schemas.openxmlformats.org/drawingml/2006/main">
            <a:r>
              <a:t>    "test": "날짜 오류·중복 전송·취소 시 승인 전 차단·멱등성·원천 상태 대사",</a:t>
            </a:r>
          </a:p>
          <a:p xmlns:a="http://schemas.openxmlformats.org/drawingml/2006/main">
            <a:r>
              <a:t>    "url": "https://www.g2b.go.kr/pn/pnp/pnpe/UntyAtchFile/downloadFile.do?bidPbancNo=R26BK01719764&amp;bidPbancOrd=000&amp;fileSeq=4&amp;fileType=&amp;prcmBsneSeCd=03",</a:t>
            </a:r>
          </a:p>
          <a:p xmlns:a="http://schemas.openxmlformats.org/drawingml/2006/main">
            <a:r>
              <a:t>    "urls": [</a:t>
            </a:r>
          </a:p>
          <a:p xmlns:a="http://schemas.openxmlformats.org/drawingml/2006/main">
            <a:r>
              <a:t>      "https://www.g2b.go.kr/pn/pnp/pnpe/UntyAtchFile/downloadFile.do?bidPbancNo=R26BK01719764&amp;bidPbancOrd=000&amp;fileSeq=4&amp;fileType=&amp;prcmBsneSeCd=03"</a:t>
            </a:r>
          </a:p>
          <a:p xmlns:a="http://schemas.openxmlformats.org/drawingml/2006/main">
            <a:r>
              <a:t>    ],</a:t>
            </a:r>
          </a:p>
          <a:p xmlns:a="http://schemas.openxmlformats.org/drawingml/2006/main">
            <a:r>
              <a:t>    "basis": "FUR-001~009, PER-001~002, TER-005 / Word T071",</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"신청 완료시간 / 재입력률 / 중복·미접수 건수",</a:t>
            </a:r>
          </a:p>
          <a:p xmlns:a="http://schemas.openxmlformats.org/drawingml/2006/main">
            <a:r>
              <a:t>    "group": "요구·구축",</a:t>
            </a:r>
          </a:p>
          <a:p xmlns:a="http://schemas.openxmlformats.org/drawingml/2006/main">
            <a:r>
              <a:t>    "sourceDetail": "STT→의도·필드 추출→사용자 확인→MIS API 신규개발→기안·상신; 조직·직무·권한 기반 결재선",</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"PF-R06",</a:t>
            </a:r>
          </a:p>
          <a:p xmlns:a="http://schemas.openxmlformats.org/drawingml/2006/main">
            <a:r>
              <a:t>    "canonicalId": "PF-R06",</a:t>
            </a:r>
          </a:p>
          <a:p xmlns:a="http://schemas.openxmlformats.org/drawingml/2006/main">
            <a:r>
              <a:t>    "purpose": "발화에서 휴가·출장·복명 신청까지 연결",</a:t>
            </a:r>
          </a:p>
          <a:p xmlns:a="http://schemas.openxmlformats.org/drawingml/2006/main">
            <a:r>
              <a:t>    "users": "직원·결재자·MIS 운영자",</a:t>
            </a:r>
          </a:p>
          <a:p xmlns:a="http://schemas.openxmlformats.org/drawingml/2006/main">
            <a:r>
              <a:t>    "scope": [</a:t>
            </a:r>
          </a:p>
          <a:p xmlns:a="http://schemas.openxmlformats.org/drawingml/2006/main">
            <a:r>
              <a:t>      "음성 입력",</a:t>
            </a:r>
          </a:p>
          <a:p xmlns:a="http://schemas.openxmlformats.org/drawingml/2006/main">
            <a:r>
              <a:t>      "신청서 작성",</a:t>
            </a:r>
          </a:p>
          <a:p xmlns:a="http://schemas.openxmlformats.org/drawingml/2006/main">
            <a:r>
              <a:t>      "MIS·전자결재"</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"음성·자연어",</a:t>
            </a:r>
          </a:p>
          <a:p xmlns:a="http://schemas.openxmlformats.org/drawingml/2006/main">
            <a:r>
              <a:t>        "detail": "음성/텍스트 입력과 조직·직무·권한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"음성 입력 / 신청서 작성 / MIS·전자결재",</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"필드 추출·확인",</a:t>
            </a:r>
          </a:p>
          <a:p xmlns:a="http://schemas.openxmlformats.org/drawingml/2006/main">
            <a:r>
              <a:t>        "detail": "STT·NLU의 의도·날짜·항목 추출 및 확인",</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"MIS·전자결재",</a:t>
            </a:r>
          </a:p>
          <a:p xmlns:a="http://schemas.openxmlformats.org/drawingml/2006/main">
            <a:r>
              <a:t>        "detail": "신규 MIS API로 기안·상신·처리 결과 확인",</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"신청 초안·처리 상태",</a:t>
            </a:r>
          </a:p>
          <a:p xmlns:a="http://schemas.openxmlformats.org/drawingml/2006/main">
            <a:r>
              <a:t>        "detail": "인사·근태·잔여연차·서식 데이터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"수정·취소·재시도 상태의 원천 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"음성·자연어",</a:t>
            </a:r>
          </a:p>
          <a:p xmlns:a="http://schemas.openxmlformats.org/drawingml/2006/main">
            <a:r>
              <a:t>        "input": "음성/텍스트 입력과 조직·직무·권한 확인",</a:t>
            </a:r>
          </a:p>
          <a:p xmlns:a="http://schemas.openxmlformats.org/drawingml/2006/main">
            <a:r>
              <a:t>        "process": "인사·근태·잔여연차·서식 데이터 연결",</a:t>
            </a:r>
          </a:p>
          <a:p xmlns:a="http://schemas.openxmlformats.org/drawingml/2006/main">
            <a:r>
              <a:t>        "output": "원 발화"</a:t>
            </a:r>
          </a:p>
          <a:p xmlns:a="http://schemas.openxmlformats.org/drawingml/2006/main">
            <a:r>
              <a:t>      },</a:t>
            </a:r>
          </a:p>
          <a:p xmlns:a="http://schemas.openxmlformats.org/drawingml/2006/main">
            <a:r>
              <a:t>      {</a:t>
            </a:r>
          </a:p>
          <a:p xmlns:a="http://schemas.openxmlformats.org/drawingml/2006/main">
            <a:r>
              <a:t>        "title": "필드 추출",</a:t>
            </a:r>
          </a:p>
          <a:p xmlns:a="http://schemas.openxmlformats.org/drawingml/2006/main">
            <a:r>
              <a:t>        "input": "원 발화",</a:t>
            </a:r>
          </a:p>
          <a:p xmlns:a="http://schemas.openxmlformats.org/drawingml/2006/main">
            <a:r>
              <a:t>        "process": "STT·NLU의 의도·날짜·항목 추출 및 확인",</a:t>
            </a:r>
          </a:p>
          <a:p xmlns:a="http://schemas.openxmlformats.org/drawingml/2006/main">
            <a:r>
              <a:t>        "output": "신청 필드"</a:t>
            </a:r>
          </a:p>
          <a:p xmlns:a="http://schemas.openxmlformats.org/drawingml/2006/main">
            <a:r>
              <a:t>      },</a:t>
            </a:r>
          </a:p>
          <a:p xmlns:a="http://schemas.openxmlformats.org/drawingml/2006/main">
            <a:r>
              <a:t>      {</a:t>
            </a:r>
          </a:p>
          <a:p xmlns:a="http://schemas.openxmlformats.org/drawingml/2006/main">
            <a:r>
              <a:t>        "title": "사용자 확인",</a:t>
            </a:r>
          </a:p>
          <a:p xmlns:a="http://schemas.openxmlformats.org/drawingml/2006/main">
            <a:r>
              <a:t>        "input": "신청 필드",</a:t>
            </a:r>
          </a:p>
          <a:p xmlns:a="http://schemas.openxmlformats.org/drawingml/2006/main">
            <a:r>
              <a:t>        "process": "필수 필드 재확인·멱등성·상태 대사",</a:t>
            </a:r>
          </a:p>
          <a:p xmlns:a="http://schemas.openxmlformats.org/drawingml/2006/main">
            <a:r>
              <a:t>        "output": "확인된 초안"</a:t>
            </a:r>
          </a:p>
          <a:p xmlns:a="http://schemas.openxmlformats.org/drawingml/2006/main">
            <a:r>
              <a:t>      },</a:t>
            </a:r>
          </a:p>
          <a:p xmlns:a="http://schemas.openxmlformats.org/drawingml/2006/main">
            <a:r>
              <a:t>      {</a:t>
            </a:r>
          </a:p>
          <a:p xmlns:a="http://schemas.openxmlformats.org/drawingml/2006/main">
            <a:r>
              <a:t>        "title": "MIS·결재 연계",</a:t>
            </a:r>
          </a:p>
          <a:p xmlns:a="http://schemas.openxmlformats.org/drawingml/2006/main">
            <a:r>
              <a:t>        "input": "확인된 초안",</a:t>
            </a:r>
          </a:p>
          <a:p xmlns:a="http://schemas.openxmlformats.org/drawingml/2006/main">
            <a:r>
              <a:t>        "process": "신규 MIS API로 기안·상신·처리 결과 확인",</a:t>
            </a:r>
          </a:p>
          <a:p xmlns:a="http://schemas.openxmlformats.org/drawingml/2006/main">
            <a:r>
              <a:t>        "output": "접수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"출장 목적·기간·장소를 말하고 확인 후 기안·상신",</a:t>
            </a:r>
          </a:p>
          <a:p xmlns:a="http://schemas.openxmlformats.org/drawingml/2006/main">
            <a:r>
              <a:t>      "exception": "날짜 오인식·필수 항목 누락·API 재시도·취소",</a:t>
            </a:r>
          </a:p>
          <a:p xmlns:a="http://schemas.openxmlformats.org/drawingml/2006/main">
            <a:r>
              <a:t>      "evidence": "확인 전 실행 차단·중복 방지·MIS 접수 상태 대사",</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"직원·결재자·MIS 운영자",</a:t>
            </a:r>
          </a:p>
          <a:p xmlns:a="http://schemas.openxmlformats.org/drawingml/2006/main">
            <a:r>
              <a:t>          "processing": "음성/텍스트 입력과 조직·직무·권한 확인",</a:t>
            </a:r>
          </a:p>
          <a:p xmlns:a="http://schemas.openxmlformats.org/drawingml/2006/main">
            <a:r>
              <a:t>          "output": "원 발화"</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"신청 초안·처리 상태",</a:t>
            </a:r>
          </a:p>
          <a:p xmlns:a="http://schemas.openxmlformats.org/drawingml/2006/main">
            <a:r>
              <a:t>          "processing": "인사·근태·잔여연차·서식 데이터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"원 발화",</a:t>
            </a:r>
          </a:p>
          <a:p xmlns:a="http://schemas.openxmlformats.org/drawingml/2006/main">
            <a:r>
              <a:t>          "processing": "STT·NLU의 의도·날짜·항목 추출 및 확인",</a:t>
            </a:r>
          </a:p>
          <a:p xmlns:a="http://schemas.openxmlformats.org/drawingml/2006/main">
            <a:r>
              <a:t>          "output": "확인된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"확인된 초안",</a:t>
            </a:r>
          </a:p>
          <a:p xmlns:a="http://schemas.openxmlformats.org/drawingml/2006/main">
            <a:r>
              <a:t>          "processing": "신규 MIS API로 기안·상신·처리 결과 확인",</a:t>
            </a:r>
          </a:p>
          <a:p xmlns:a="http://schemas.openxmlformats.org/drawingml/2006/main">
            <a:r>
              <a:t>          "output": "접수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"수정·취소·재시도 상태의 원천 대사",</a:t>
            </a:r>
          </a:p>
          <a:p xmlns:a="http://schemas.openxmlformats.org/drawingml/2006/main">
            <a:r>
              <a:t>          "output": "확인 전 실행 차단·중복 방지·MIS 접수 상태 대사"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"수정·취소·재시도 상태의 원천 대사",</a:t>
            </a:r>
          </a:p>
          <a:p xmlns:a="http://schemas.openxmlformats.org/drawingml/2006/main">
            <a:r>
              <a:t>    "status": "RFP 기반 논리 설계",</a:t>
            </a:r>
          </a:p>
          <a:p xmlns:a="http://schemas.openxmlformats.org/drawingml/2006/main">
            <a:r>
              <a:t>    "basis": "RFP · FUR-001~009·TER-005",</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"FUR-001~009, PER-001~002, TER-005 / Word T071",</a:t>
            </a:r>
          </a:p>
          <a:p xmlns:a="http://schemas.openxmlformats.org/drawingml/2006/main">
            <a:r>
              <a:t>        "url": "https://www.g2b.go.kr/pn/pnp/pnpe/UntyAtchFile/downloadFile.do?bidPbancNo=R26BK01719764&amp;bidPbancOrd=000&amp;fileSeq=4&amp;fileType=&amp;prcmBsneSeCd=03"</a:t>
            </a:r>
          </a:p>
          <a:p xmlns:a="http://schemas.openxmlformats.org/drawingml/2006/main">
            <a:r>
              <a:t>      }</a:t>
            </a:r>
          </a:p>
          <a:p xmlns:a="http://schemas.openxmlformats.org/drawingml/2006/main">
            <a:r>
              <a:t>    ],</a:t>
            </a:r>
          </a:p>
          <a:p xmlns:a="http://schemas.openxmlformats.org/drawingml/2006/main">
            <a:r>
              <a:t>    "implication": "사용자 확인·전결·접수 결과까지 추적하는 자연어 업무 실행",</a:t>
            </a:r>
          </a:p>
          <a:p xmlns:a="http://schemas.openxmlformats.org/drawingml/2006/main">
            <a:r>
              <a:t>    "local": "사용자 확인·전결·접수 결과까지 추적하는 자연어 업무 실행",</a:t>
            </a:r>
          </a:p>
          <a:p xmlns:a="http://schemas.openxmlformats.org/drawingml/2006/main">
            <a:r>
              <a:t>    "sourceDetail": "STT→의도·필드 추출→사용자 확인→MIS API 신규개발→기안·상신; 조직·직무·권한 기반 결재선",</a:t>
            </a:r>
          </a:p>
          <a:p xmlns:a="http://schemas.openxmlformats.org/drawingml/2006/main">
            <a:r>
              <a:t>    "narrative": [</a:t>
            </a:r>
          </a:p>
          <a:p xmlns:a="http://schemas.openxmlformats.org/drawingml/2006/main">
            <a:r>
              <a:t>      "휴가·출장 등 행정업무를 음성·텍스트 요청에서 시작해 MIS와 전자결재까지 연결하는 사업. 기존 서식·데이터 생성 로직이 MIS에 있고 AI·모바일 호출용 API가 없다는 연계 제약을 RFP에 명시.",</a:t>
            </a:r>
          </a:p>
          <a:p xmlns:a="http://schemas.openxmlformats.org/drawingml/2006/main">
            <a:r>
              <a:t>      "발화의 STT 변환, NLU 의도·개체 추출, 필수 항목 검증, 사용자 확인, MIS 서식 생성, 결재선 추천, 상신·상태 조회를 구분하는 처리 구조. FUR-009의 신규 API는 서식 메타데이터, 잔여연차·근태 조회, 업무규칙 검증, 전자결재 상신을 포함하는 범위.",</a:t>
            </a:r>
          </a:p>
          <a:p xmlns:a="http://schemas.openxmlformats.org/drawingml/2006/main">
            <a:r>
              <a:t>      "AI 모델 정확도 외에 실제 업무 시스템의 접수 상태까지 확인해야 하는 사례. 같은 요청의 재시도, 날짜 수정, 결재선 변경, 상신 후 취소를 검수 시나리오로 분리할 필요. CCK 재사용 도구와 별개로 TS 기간계 API 개발·멱등성·상태 대사를 추가 범위로 산정."</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"FUR-001",</a:t>
            </a:r>
          </a:p>
          <a:p xmlns:a="http://schemas.openxmlformats.org/drawingml/2006/main">
            <a:r>
              <a:t>        "title": "음성 인식(STT) 기반 입력 처리",</a:t>
            </a:r>
          </a:p>
          <a:p xmlns:a="http://schemas.openxmlformats.org/drawingml/2006/main">
            <a:r>
              <a:t>        "locator": "FUR-001",</a:t>
            </a:r>
          </a:p>
          <a:p xmlns:a="http://schemas.openxmlformats.org/drawingml/2006/main">
            <a:r>
              <a:t>        "summary": "음성 발화를 행정 요청의 텍스트 입력으로 변환하는 STT 기능.",</a:t>
            </a:r>
          </a:p>
          <a:p xmlns:a="http://schemas.openxmlformats.org/drawingml/2006/main">
            <a:r>
              <a:t>        "data": "업무 발화·음성 → 전사문",</a:t>
            </a:r>
          </a:p>
          <a:p xmlns:a="http://schemas.openxmlformats.org/drawingml/2006/main">
            <a:r>
              <a:t>        "components": [</a:t>
            </a:r>
          </a:p>
          <a:p xmlns:a="http://schemas.openxmlformats.org/drawingml/2006/main">
            <a:r>
              <a:t>          "C01",</a:t>
            </a:r>
          </a:p>
          <a:p xmlns:a="http://schemas.openxmlformats.org/drawingml/2006/main">
            <a:r>
              <a:t>          "C04"</a:t>
            </a:r>
          </a:p>
          <a:p xmlns:a="http://schemas.openxmlformats.org/drawingml/2006/main">
            <a:r>
              <a:t>        ],</a:t>
            </a:r>
          </a:p>
          <a:p xmlns:a="http://schemas.openxmlformats.org/drawingml/2006/main">
            <a:r>
              <a:t>        "acceptance": "잡음·기관 고유어·날짜·숫자·수정 발화의 전사 결과를 정답과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"4b2d797a440d1d6fbec4f86d7f517404bd7f1e493f405d7d9f79cd20481e3cbd"</a:t>
            </a:r>
          </a:p>
          <a:p xmlns:a="http://schemas.openxmlformats.org/drawingml/2006/main">
            <a:r>
              <a:t>      },</a:t>
            </a:r>
          </a:p>
          <a:p xmlns:a="http://schemas.openxmlformats.org/drawingml/2006/main">
            <a:r>
              <a:t>      {</a:t>
            </a:r>
          </a:p>
          <a:p xmlns:a="http://schemas.openxmlformats.org/drawingml/2006/main">
            <a:r>
              <a:t>        "id": "FUR-002",</a:t>
            </a:r>
          </a:p>
          <a:p xmlns:a="http://schemas.openxmlformats.org/drawingml/2006/main">
            <a:r>
              <a:t>        "title": "자연어 이해(NLU) 및 사용자 의도 분석",</a:t>
            </a:r>
          </a:p>
          <a:p xmlns:a="http://schemas.openxmlformats.org/drawingml/2006/main">
            <a:r>
              <a:t>        "locator": "FUR-002",</a:t>
            </a:r>
          </a:p>
          <a:p xmlns:a="http://schemas.openxmlformats.org/drawingml/2006/main">
            <a:r>
              <a:t>        "summary": "전사·텍스트에서 사용자의 의도와 업무에 필요한 항목을 식별하는 NLU 기능.",</a:t>
            </a:r>
          </a:p>
          <a:p xmlns:a="http://schemas.openxmlformats.org/drawingml/2006/main">
            <a:r>
              <a:t>        "data": "발화·직원 문맥 → 업무 유형·필수 항목",</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a:t>
            </a:r>
          </a:p>
          <a:p xmlns:a="http://schemas.openxmlformats.org/drawingml/2006/main">
            <a:r>
              <a:t>        "acceptance": "휴가·출장·복명 의도 혼동, 날짜 누락, 정정 발화 처리의 슬롯별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"2b5b33f9ad0c0b4d3f13c4f96f1446464cdcaabdd131ab4dde7eaac0671edc6a"</a:t>
            </a:r>
          </a:p>
          <a:p xmlns:a="http://schemas.openxmlformats.org/drawingml/2006/main">
            <a:r>
              <a:t>      },</a:t>
            </a:r>
          </a:p>
          <a:p xmlns:a="http://schemas.openxmlformats.org/drawingml/2006/main">
            <a:r>
              <a:t>      {</a:t>
            </a:r>
          </a:p>
          <a:p xmlns:a="http://schemas.openxmlformats.org/drawingml/2006/main">
            <a:r>
              <a:t>        "id": "FUR-003",</a:t>
            </a:r>
          </a:p>
          <a:p xmlns:a="http://schemas.openxmlformats.org/drawingml/2006/main">
            <a:r>
              <a:t>        "title": "지능형 업무 자동화 엔진",</a:t>
            </a:r>
          </a:p>
          <a:p xmlns:a="http://schemas.openxmlformats.org/drawingml/2006/main">
            <a:r>
              <a:t>        "locator": "FUR-003",</a:t>
            </a:r>
          </a:p>
          <a:p xmlns:a="http://schemas.openxmlformats.org/drawingml/2006/main">
            <a:r>
              <a:t>        "summary": "식별한 의도를 업무자동화 절차로 연결하는 실행 엔진.",</a:t>
            </a:r>
          </a:p>
          <a:p xmlns:a="http://schemas.openxmlformats.org/drawingml/2006/main">
            <a:r>
              <a:t>        "data": "의도·입력 항목 → 실행 절차·진행 상태",</a:t>
            </a:r>
          </a:p>
          <a:p xmlns:a="http://schemas.openxmlformats.org/drawingml/2006/main">
            <a:r>
              <a:t>        "components": [</a:t>
            </a:r>
          </a:p>
          <a:p xmlns:a="http://schemas.openxmlformats.org/drawingml/2006/main">
            <a:r>
              <a:t>          "C04",</a:t>
            </a:r>
          </a:p>
          <a:p xmlns:a="http://schemas.openxmlformats.org/drawingml/2006/main">
            <a:r>
              <a:t>          "C05",</a:t>
            </a:r>
          </a:p>
          <a:p xmlns:a="http://schemas.openxmlformats.org/drawingml/2006/main">
            <a:r>
              <a:t>          "C07"</a:t>
            </a:r>
          </a:p>
          <a:p xmlns:a="http://schemas.openxmlformats.org/drawingml/2006/main">
            <a:r>
              <a:t>        ],</a:t>
            </a:r>
          </a:p>
          <a:p xmlns:a="http://schemas.openxmlformats.org/drawingml/2006/main">
            <a:r>
              <a:t>        "acceptance": "필수값 누락·비허용 업무·중간 실패 조건의 실행 보류와 재개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"f810450f2d482dea56dce3c7164eae2c0fc1681561e11d1fd64a9f19546747d3"</a:t>
            </a:r>
          </a:p>
          <a:p xmlns:a="http://schemas.openxmlformats.org/drawingml/2006/main">
            <a:r>
              <a:t>      },</a:t>
            </a:r>
          </a:p>
          <a:p xmlns:a="http://schemas.openxmlformats.org/drawingml/2006/main">
            <a:r>
              <a:t>      {</a:t>
            </a:r>
          </a:p>
          <a:p xmlns:a="http://schemas.openxmlformats.org/drawingml/2006/main">
            <a:r>
              <a:t>        "id": "FUR-004",</a:t>
            </a:r>
          </a:p>
          <a:p xmlns:a="http://schemas.openxmlformats.org/drawingml/2006/main">
            <a:r>
              <a:t>        "title": "행정서식 생성(MIS)·전자결재 연동 및 결재선 자동 추천",</a:t>
            </a:r>
          </a:p>
          <a:p xmlns:a="http://schemas.openxmlformats.org/drawingml/2006/main">
            <a:r>
              <a:t>        "locator": "FUR-004",</a:t>
            </a:r>
          </a:p>
          <a:p xmlns:a="http://schemas.openxmlformats.org/drawingml/2006/main">
            <a:r>
              <a:t>        "summary": "MIS 행정서식 생성과 전자결재·결재선 연계.",</a:t>
            </a:r>
          </a:p>
          <a:p xmlns:a="http://schemas.openxmlformats.org/drawingml/2006/main">
            <a:r>
              <a:t>        "data": "직원·업무 데이터 → 신청서·결재선·접수 결과",</a:t>
            </a:r>
          </a:p>
          <a:p xmlns:a="http://schemas.openxmlformats.org/drawingml/2006/main">
            <a:r>
              <a:t>        "components": [</a:t>
            </a:r>
          </a:p>
          <a:p xmlns:a="http://schemas.openxmlformats.org/drawingml/2006/main">
            <a:r>
              <a:t>          "C04",</a:t>
            </a:r>
          </a:p>
          <a:p xmlns:a="http://schemas.openxmlformats.org/drawingml/2006/main">
            <a:r>
              <a:t>          "C06",</a:t>
            </a:r>
          </a:p>
          <a:p xmlns:a="http://schemas.openxmlformats.org/drawingml/2006/main">
            <a:r>
              <a:t>          "C07"</a:t>
            </a:r>
          </a:p>
          <a:p xmlns:a="http://schemas.openxmlformats.org/drawingml/2006/main">
            <a:r>
              <a:t>        ],</a:t>
            </a:r>
          </a:p>
          <a:p xmlns:a="http://schemas.openxmlformats.org/drawingml/2006/main">
            <a:r>
              <a:t>        "acceptance": "다른 직원의 결재선, 수정 전 날짜, 중복 신청을 포함해 확인 화면과 최종 등록값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"4f1ec6fe0d7a56356478c8dfabb91a772fd9c787cec611102d2b41d2bf087f45"</a:t>
            </a:r>
          </a:p>
          <a:p xmlns:a="http://schemas.openxmlformats.org/drawingml/2006/main">
            <a:r>
              <a:t>      },</a:t>
            </a:r>
          </a:p>
          <a:p xmlns:a="http://schemas.openxmlformats.org/drawingml/2006/main">
            <a:r>
              <a:t>      {</a:t>
            </a:r>
          </a:p>
          <a:p xmlns:a="http://schemas.openxmlformats.org/drawingml/2006/main">
            <a:r>
              <a:t>        "id": "FUR-007",</a:t>
            </a:r>
          </a:p>
          <a:p xmlns:a="http://schemas.openxmlformats.org/drawingml/2006/main">
            <a:r>
              <a:t>        "title": "그룹웨어·기간계 시스템 연계",</a:t>
            </a:r>
          </a:p>
          <a:p xmlns:a="http://schemas.openxmlformats.org/drawingml/2006/main">
            <a:r>
              <a:t>        "locator": "FUR-007",</a:t>
            </a:r>
          </a:p>
          <a:p xmlns:a="http://schemas.openxmlformats.org/drawingml/2006/main">
            <a:r>
              <a:t>        "summary": "그룹웨어·기간계와 연계해 요청 및 처리 결과를 교환하는 기능.",</a:t>
            </a:r>
          </a:p>
          <a:p xmlns:a="http://schemas.openxmlformats.org/drawingml/2006/main">
            <a:r>
              <a:t>        "data": "업무 요청·시스템 식별정보 → 처리 결과·상태",</a:t>
            </a:r>
          </a:p>
          <a:p xmlns:a="http://schemas.openxmlformats.org/drawingml/2006/main">
            <a:r>
              <a:t>        "components": [</a:t>
            </a:r>
          </a:p>
          <a:p xmlns:a="http://schemas.openxmlformats.org/drawingml/2006/main">
            <a:r>
              <a:t>          "C02",</a:t>
            </a:r>
          </a:p>
          <a:p xmlns:a="http://schemas.openxmlformats.org/drawingml/2006/main">
            <a:r>
              <a:t>          "C07",</a:t>
            </a:r>
          </a:p>
          <a:p xmlns:a="http://schemas.openxmlformats.org/drawingml/2006/main">
            <a:r>
              <a:t>          "C08"</a:t>
            </a:r>
          </a:p>
          <a:p xmlns:a="http://schemas.openxmlformats.org/drawingml/2006/main">
            <a:r>
              <a:t>        ],</a:t>
            </a:r>
          </a:p>
          <a:p xmlns:a="http://schemas.openxmlformats.org/drawingml/2006/main">
            <a:r>
              <a:t>        "acceptance": "인증 만료·연계 장애·응답 지연 시 실제 등록 상태와 사용자 안내의 일치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"248a2a097858bb82f76df87facd2135704aa4354594d82248b40def47a25d3f5"</a:t>
            </a:r>
          </a:p>
          <a:p xmlns:a="http://schemas.openxmlformats.org/drawingml/2006/main">
            <a:r>
              <a:t>      },</a:t>
            </a:r>
          </a:p>
          <a:p xmlns:a="http://schemas.openxmlformats.org/drawingml/2006/main">
            <a:r>
              <a:t>      {</a:t>
            </a:r>
          </a:p>
          <a:p xmlns:a="http://schemas.openxmlformats.org/drawingml/2006/main">
            <a:r>
              <a:t>        "id": "FUR-009",</a:t>
            </a:r>
          </a:p>
          <a:p xmlns:a="http://schemas.openxmlformats.org/drawingml/2006/main">
            <a:r>
              <a:t>        "title": "통합경영정보시스템(MIS) 행정업무 API 개발",</a:t>
            </a:r>
          </a:p>
          <a:p xmlns:a="http://schemas.openxmlformats.org/drawingml/2006/main">
            <a:r>
              <a:t>        "locator": "FUR-009",</a:t>
            </a:r>
          </a:p>
          <a:p xmlns:a="http://schemas.openxmlformats.org/drawingml/2006/main">
            <a:r>
              <a:t>        "summary": "자연어 행정 서비스에 필요한 MIS 업무 API의 신규 개발.",</a:t>
            </a:r>
          </a:p>
          <a:p xmlns:a="http://schemas.openxmlformats.org/drawingml/2006/main">
            <a:r>
              <a:t>        "data": "구조화 행정 요청 → MIS 생성·조회 결과",</a:t>
            </a:r>
          </a:p>
          <a:p xmlns:a="http://schemas.openxmlformats.org/drawingml/2006/main">
            <a:r>
              <a:t>        "components": [</a:t>
            </a:r>
          </a:p>
          <a:p xmlns:a="http://schemas.openxmlformats.org/drawingml/2006/main">
            <a:r>
              <a:t>          "C07"</a:t>
            </a:r>
          </a:p>
          <a:p xmlns:a="http://schemas.openxmlformats.org/drawingml/2006/main">
            <a:r>
              <a:t>        ],</a:t>
            </a:r>
          </a:p>
          <a:p xmlns:a="http://schemas.openxmlformats.org/drawingml/2006/main">
            <a:r>
              <a:t>        "acceptance": "필수 인자·권한·중복 요청·취소 가능 상태를 API 계약 및 실제 데이터와 대조",</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"8a445db50ff666bd64f8ff0b7745693eaefce5e0df8153d8c59102304c330829"</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"음성·텍스트 입력",</a:t>
            </a:r>
          </a:p>
          <a:p xmlns:a="http://schemas.openxmlformats.org/drawingml/2006/main">
            <a:r>
              <a:t>          "layer": "이용 접점",</a:t>
            </a:r>
          </a:p>
          <a:p xmlns:a="http://schemas.openxmlformats.org/drawingml/2006/main">
            <a:r>
              <a:t>          "detail": "직원·결재자·MIS 운영자",</a:t>
            </a:r>
          </a:p>
          <a:p xmlns:a="http://schemas.openxmlformats.org/drawingml/2006/main">
            <a:r>
              <a:t>          "requirements": [</a:t>
            </a:r>
          </a:p>
          <a:p xmlns:a="http://schemas.openxmlformats.org/drawingml/2006/main">
            <a:r>
              <a:t>            "FUR-001"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"직원·조직·직무",</a:t>
            </a:r>
          </a:p>
          <a:p xmlns:a="http://schemas.openxmlformats.org/drawingml/2006/main">
            <a:r>
              <a:t>          "layer": "업무 문맥",</a:t>
            </a:r>
          </a:p>
          <a:p xmlns:a="http://schemas.openxmlformats.org/drawingml/2006/main">
            <a:r>
              <a:t>          "detail": "음성/텍스트 입력과 조직·직무·권한 확인",</a:t>
            </a:r>
          </a:p>
          <a:p xmlns:a="http://schemas.openxmlformats.org/drawingml/2006/main">
            <a:r>
              <a:t>          "requirements": [</a:t>
            </a:r>
          </a:p>
          <a:p xmlns:a="http://schemas.openxmlformats.org/drawingml/2006/main">
            <a:r>
              <a:t>            "FUR-002",</a:t>
            </a:r>
          </a:p>
          <a:p xmlns:a="http://schemas.openxmlformats.org/drawingml/2006/main">
            <a:r>
              <a:t>            "FUR-007"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"근태·서식 조회",</a:t>
            </a:r>
          </a:p>
          <a:p xmlns:a="http://schemas.openxmlformats.org/drawingml/2006/main">
            <a:r>
              <a:t>          "layer": "자료 조회",</a:t>
            </a:r>
          </a:p>
          <a:p xmlns:a="http://schemas.openxmlformats.org/drawingml/2006/main">
            <a:r>
              <a:t>          "detail": "원 발화",</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"STT·의도·필드 추출",</a:t>
            </a:r>
          </a:p>
          <a:p xmlns:a="http://schemas.openxmlformats.org/drawingml/2006/main">
            <a:r>
              <a:t>          "layer": "핵심 처리",</a:t>
            </a:r>
          </a:p>
          <a:p xmlns:a="http://schemas.openxmlformats.org/drawingml/2006/main">
            <a:r>
              <a:t>          "detail": "STT·NLU의 의도·날짜·항목 추출 및 확인",</a:t>
            </a:r>
          </a:p>
          <a:p xmlns:a="http://schemas.openxmlformats.org/drawingml/2006/main">
            <a:r>
              <a:t>          "requirements": [</a:t>
            </a:r>
          </a:p>
          <a:p xmlns:a="http://schemas.openxmlformats.org/drawingml/2006/main">
            <a:r>
              <a:t>            "FUR-001",</a:t>
            </a:r>
          </a:p>
          <a:p xmlns:a="http://schemas.openxmlformats.org/drawingml/2006/main">
            <a:r>
              <a:t>            "FUR-002",</a:t>
            </a:r>
          </a:p>
          <a:p xmlns:a="http://schemas.openxmlformats.org/drawingml/2006/main">
            <a:r>
              <a:t>            "FUR-003",</a:t>
            </a:r>
          </a:p>
          <a:p xmlns:a="http://schemas.openxmlformats.org/drawingml/2006/main">
            <a:r>
              <a:t>            "FUR-004"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"날짜·필수값 검사",</a:t>
            </a:r>
          </a:p>
          <a:p xmlns:a="http://schemas.openxmlformats.org/drawingml/2006/main">
            <a:r>
              <a:t>          "layer": "결과 검증",</a:t>
            </a:r>
          </a:p>
          <a:p xmlns:a="http://schemas.openxmlformats.org/drawingml/2006/main">
            <a:r>
              <a:t>          "detail": "필수 필드 재확인·멱등성·상태 대사",</a:t>
            </a:r>
          </a:p>
          <a:p xmlns:a="http://schemas.openxmlformats.org/drawingml/2006/main">
            <a:r>
              <a:t>          "requirements": [</a:t>
            </a:r>
          </a:p>
          <a:p xmlns:a="http://schemas.openxmlformats.org/drawingml/2006/main">
            <a:r>
              <a:t>            "FUR-003"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"사용자 최종 확인",</a:t>
            </a:r>
          </a:p>
          <a:p xmlns:a="http://schemas.openxmlformats.org/drawingml/2006/main">
            <a:r>
              <a:t>          "layer": "사람 확인",</a:t>
            </a:r>
          </a:p>
          <a:p xmlns:a="http://schemas.openxmlformats.org/drawingml/2006/main">
            <a:r>
              <a:t>          "detail": "출장 목적·기간·장소를 말하고 확인 후 기안·상신",</a:t>
            </a:r>
          </a:p>
          <a:p xmlns:a="http://schemas.openxmlformats.org/drawingml/2006/main">
            <a:r>
              <a:t>          "requirements": [</a:t>
            </a:r>
          </a:p>
          <a:p xmlns:a="http://schemas.openxmlformats.org/drawingml/2006/main">
            <a:r>
              <a:t>            "FUR-004"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"신규 MIS API·상신",</a:t>
            </a:r>
          </a:p>
          <a:p xmlns:a="http://schemas.openxmlformats.org/drawingml/2006/main">
            <a:r>
              <a:t>          "layer": "업무 연결",</a:t>
            </a:r>
          </a:p>
          <a:p xmlns:a="http://schemas.openxmlformats.org/drawingml/2006/main">
            <a:r>
              <a:t>          "detail": "신규 MIS API로 기안·상신·처리 결과 확인",</a:t>
            </a:r>
          </a:p>
          <a:p xmlns:a="http://schemas.openxmlformats.org/drawingml/2006/main">
            <a:r>
              <a:t>          "requirements": [</a:t>
            </a:r>
          </a:p>
          <a:p xmlns:a="http://schemas.openxmlformats.org/drawingml/2006/main">
            <a:r>
              <a:t>            "FUR-003",</a:t>
            </a:r>
          </a:p>
          <a:p xmlns:a="http://schemas.openxmlformats.org/drawingml/2006/main">
            <a:r>
              <a:t>            "FUR-004",</a:t>
            </a:r>
          </a:p>
          <a:p xmlns:a="http://schemas.openxmlformats.org/drawingml/2006/main">
            <a:r>
              <a:t>            "FUR-007",</a:t>
            </a:r>
          </a:p>
          <a:p xmlns:a="http://schemas.openxmlformats.org/drawingml/2006/main">
            <a:r>
              <a:t>            "FUR-009"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"취소·중복 대사",</a:t>
            </a:r>
          </a:p>
          <a:p xmlns:a="http://schemas.openxmlformats.org/drawingml/2006/main">
            <a:r>
              <a:t>          "layer": "운영 관측",</a:t>
            </a:r>
          </a:p>
          <a:p xmlns:a="http://schemas.openxmlformats.org/drawingml/2006/main">
            <a:r>
              <a:t>          "detail": "수정·취소·재시도 상태의 원천 대사",</a:t>
            </a:r>
          </a:p>
          <a:p xmlns:a="http://schemas.openxmlformats.org/drawingml/2006/main">
            <a:r>
              <a:t>          "requirements": [</a:t>
            </a:r>
          </a:p>
          <a:p xmlns:a="http://schemas.openxmlformats.org/drawingml/2006/main">
            <a:r>
              <a:t>            "FUR-007"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"인사·근태·결재선",</a:t>
            </a:r>
          </a:p>
          <a:p xmlns:a="http://schemas.openxmlformats.org/drawingml/2006/main">
            <a:r>
              <a:t>          "layer": "데이터 원천",</a:t>
            </a:r>
          </a:p>
          <a:p xmlns:a="http://schemas.openxmlformats.org/drawingml/2006/main">
            <a:r>
              <a:t>          "detail": "신청 초안·처리 상태",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"필드·서식 정합화",</a:t>
            </a:r>
          </a:p>
          <a:p xmlns:a="http://schemas.openxmlformats.org/drawingml/2006/main">
            <a:r>
              <a:t>          "layer": "준비·갱신",</a:t>
            </a:r>
          </a:p>
          <a:p xmlns:a="http://schemas.openxmlformats.org/drawingml/2006/main">
            <a:r>
              <a:t>          "detail": "인사·근태·잔여연차·서식 데이터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"신청 초안·접수 상태",</a:t>
            </a:r>
          </a:p>
          <a:p xmlns:a="http://schemas.openxmlformats.org/drawingml/2006/main">
            <a:r>
              <a:t>          "layer": "상태·지식 저장",</a:t>
            </a:r>
          </a:p>
          <a:p xmlns:a="http://schemas.openxmlformats.org/drawingml/2006/main">
            <a:r>
              <a:t>          "detail": "확인 전 실행 차단·중복 방지·MIS 접수 상태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"업무·실행 권한",</a:t>
            </a:r>
          </a:p>
          <a:p xmlns:a="http://schemas.openxmlformats.org/drawingml/2006/main">
            <a:r>
              <a:t>          "layer": "권한·정책",</a:t>
            </a:r>
          </a:p>
          <a:p xmlns:a="http://schemas.openxmlformats.org/drawingml/2006/main">
            <a:r>
              <a:t>          "detail": "날짜 오인식·필수 항목 누락·API 재시도·취소",</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"음성/텍스트 입력과 조직·직무·권한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"원 발화",</a:t>
            </a:r>
          </a:p>
          <a:p xmlns:a="http://schemas.openxmlformats.org/drawingml/2006/main">
            <a:r>
              <a:t>          "check": "필수 필드 재확인·멱등성·상태 대사"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"신청 필드",</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"확인된 초안",</a:t>
            </a:r>
          </a:p>
          <a:p xmlns:a="http://schemas.openxmlformats.org/drawingml/2006/main">
            <a:r>
              <a:t>          "check": "날짜 오인식·필수 항목 누락·API 재시도·취소"</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"확인된 초안",</a:t>
            </a:r>
          </a:p>
          <a:p xmlns:a="http://schemas.openxmlformats.org/drawingml/2006/main">
            <a:r>
              <a:t>          "check": "신규 MIS API로 기안·상신·처리 결과 확인"</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"접수 결과",</a:t>
            </a:r>
          </a:p>
          <a:p xmlns:a="http://schemas.openxmlformats.org/drawingml/2006/main">
            <a:r>
              <a:t>          "check": "확인 전 실행 차단·중복 방지·MIS 접수 상태 대사"</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"FUR-001~009·TER-005",</a:t>
            </a:r>
          </a:p>
          <a:p xmlns:a="http://schemas.openxmlformats.org/drawingml/2006/main">
            <a:r>
              <a:t>        "extracted": "STT·NLU, 사용자 확인, MIS API 신규 구축·전자결재 연결",</a:t>
            </a:r>
          </a:p>
          <a:p xmlns:a="http://schemas.openxmlformats.org/drawingml/2006/main">
            <a:r>
              <a:t>        "extension": "중복 요청 식별·취소 후 상태 대사·결재선 효력일 검사"</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"PF-R06",</a:t>
            </a:r>
          </a:p>
          <a:p xmlns:a="http://schemas.openxmlformats.org/drawingml/2006/main">
            <a:r>
              <a:t>          "path": "assets/casebook-sources/PF-R06-01.png",</a:t>
            </a:r>
          </a:p>
          <a:p xmlns:a="http://schemas.openxmlformats.org/drawingml/2006/main">
            <a:r>
              <a:t>          "title": "철도기술연구원 업무시스템",</a:t>
            </a:r>
          </a:p>
          <a:p xmlns:a="http://schemas.openxmlformats.org/drawingml/2006/main">
            <a:r>
              <a:t>          "status": "RFP 수록 기존 시스템 구성",</a:t>
            </a:r>
          </a:p>
          <a:p xmlns:a="http://schemas.openxmlformats.org/drawingml/2006/main">
            <a:r>
              <a:t>          "caption": "협업 포털·통합경영정보·전자결재·외부 연계 현황",</a:t>
            </a:r>
          </a:p>
          <a:p xmlns:a="http://schemas.openxmlformats.org/drawingml/2006/main">
            <a:r>
              <a:t>          "locator": "rId18 / BinData/image1_bmp",</a:t>
            </a:r>
          </a:p>
          <a:p xmlns:a="http://schemas.openxmlformats.org/drawingml/2006/main">
            <a:r>
              <a:t>          "checked": "2026-10-16",</a:t>
            </a:r>
          </a:p>
          <a:p xmlns:a="http://schemas.openxmlformats.org/drawingml/2006/main">
            <a:r>
              <a:t>          "sha256": "419b833abe927fb60c98c0b17c83b79039658d9fc8f1bf2295db634a55a2c424",</a:t>
            </a:r>
          </a:p>
          <a:p xmlns:a="http://schemas.openxmlformats.org/drawingml/2006/main">
            <a:r>
              <a:t>          "explanation": {</a:t>
            </a:r>
          </a:p>
          <a:p xmlns:a="http://schemas.openxmlformats.org/drawingml/2006/main">
            <a:r>
              <a:t>            "read": "포털·MIS·전자결재의 기존 정보시스템 구성. 음성 AI의 신규 배치가 아니라 행정 요청을 실제 처리할 기간계와 결재 경로의 현황을 설명하는 도면.",</a:t>
            </a:r>
          </a:p>
          <a:p xmlns:a="http://schemas.openxmlformats.org/drawingml/2006/main">
            <a:r>
              <a:t>            "requirements": [</a:t>
            </a:r>
          </a:p>
          <a:p xmlns:a="http://schemas.openxmlformats.org/drawingml/2006/main">
            <a:r>
              <a:t>              "FUR-003",</a:t>
            </a:r>
          </a:p>
          <a:p xmlns:a="http://schemas.openxmlformats.org/drawingml/2006/main">
            <a:r>
              <a:t>              "FUR-004",</a:t>
            </a:r>
          </a:p>
          <a:p xmlns:a="http://schemas.openxmlformats.org/drawingml/2006/main">
            <a:r>
              <a:t>              "FUR-007",</a:t>
            </a:r>
          </a:p>
          <a:p xmlns:a="http://schemas.openxmlformats.org/drawingml/2006/main">
            <a:r>
              <a:t>              "FUR-009"</a:t>
            </a:r>
          </a:p>
          <a:p xmlns:a="http://schemas.openxmlformats.org/drawingml/2006/main">
            <a:r>
              <a:t>            ],</a:t>
            </a:r>
          </a:p>
          <a:p xmlns:a="http://schemas.openxmlformats.org/drawingml/2006/main">
            <a:r>
              <a:t>            "connection": "STT·의도 추출·사용자 확인을 앞단에 추가하고 기존 MIS API·결재선으로 인계하는 재구성. 음성 인식 성공과 업무 등록 성공을 별도 상태로 관리."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"날짜 오인식·필수 항목 누락·API 재시도·취소",</a:t>
            </a:r>
          </a:p>
          <a:p xmlns:a="http://schemas.openxmlformats.org/drawingml/2006/main">
            <a:r>
              <a:t>        "hold": "필수 필드 재확인·멱등성·상태 대사",</a:t>
            </a:r>
          </a:p>
          <a:p xmlns:a="http://schemas.openxmlformats.org/drawingml/2006/main">
            <a:r>
              <a:t>        "recovery": "수정·취소·재시도 상태의 원천 대사",</a:t>
            </a:r>
          </a:p>
          <a:p xmlns:a="http://schemas.openxmlformats.org/drawingml/2006/main">
            <a:r>
              <a:t>        "evidence": "확인 전 실행 차단·중복 방지·MIS 접수 상태 대사"</a:t>
            </a:r>
          </a:p>
          <a:p xmlns:a="http://schemas.openxmlformats.org/drawingml/2006/main">
            <a:r>
              <a:t>      },</a:t>
            </a:r>
          </a:p>
          <a:p xmlns:a="http://schemas.openxmlformats.org/drawingml/2006/main">
            <a:r>
              <a:t>      "data": {</a:t>
            </a:r>
          </a:p>
          <a:p xmlns:a="http://schemas.openxmlformats.org/drawingml/2006/main">
            <a:r>
              <a:t>        "source": "신청 초안·처리 상태",</a:t>
            </a:r>
          </a:p>
          <a:p xmlns:a="http://schemas.openxmlformats.org/drawingml/2006/main">
            <a:r>
              <a:t>        "prepare": "인사·근태·잔여연차·서식 데이터 연결",</a:t>
            </a:r>
          </a:p>
          <a:p xmlns:a="http://schemas.openxmlformats.org/drawingml/2006/main">
            <a:r>
              <a:t>        "output": "원 발화",</a:t>
            </a:r>
          </a:p>
          <a:p xmlns:a="http://schemas.openxmlformats.org/drawingml/2006/main">
            <a:r>
              <a:t>        "refresh": "수정·취소·재시도 상태의 원천 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"PF-R06",</a:t>
            </a:r>
          </a:p>
          <a:p xmlns:a="http://schemas.openxmlformats.org/drawingml/2006/main">
            <a:r>
              <a:t>    "success": [</a:t>
            </a:r>
          </a:p>
          <a:p xmlns:a="http://schemas.openxmlformats.org/drawingml/2006/main">
            <a:r>
              <a:t>      "발화 구조화와 기존 MIS 연결",</a:t>
            </a:r>
          </a:p>
          <a:p xmlns:a="http://schemas.openxmlformats.org/drawingml/2006/main">
            <a:r>
              <a:t>      "실행 전 사용자 확인"</a:t>
            </a:r>
          </a:p>
          <a:p xmlns:a="http://schemas.openxmlformats.org/drawingml/2006/main">
            <a:r>
              <a:t>    ],</a:t>
            </a:r>
          </a:p>
          <a:p xmlns:a="http://schemas.openxmlformats.org/drawingml/2006/main">
            <a:r>
              <a:t>    "risks": [</a:t>
            </a:r>
          </a:p>
          <a:p xmlns:a="http://schemas.openxmlformats.org/drawingml/2006/main">
            <a:r>
              <a:t>      "잘못된 날짜·출장 항목 추출",</a:t>
            </a:r>
          </a:p>
          <a:p xmlns:a="http://schemas.openxmlformats.org/drawingml/2006/main">
            <a:r>
              <a:t>      "재시도에 따른 중복 신청"</a:t>
            </a:r>
          </a:p>
          <a:p xmlns:a="http://schemas.openxmlformats.org/drawingml/2006/main">
            <a:r>
              <a:t>    ],</a:t>
            </a:r>
          </a:p>
          <a:p xmlns:a="http://schemas.openxmlformats.org/drawingml/2006/main">
            <a:r>
              <a:t>    "architecture": [</a:t>
            </a:r>
          </a:p>
          <a:p xmlns:a="http://schemas.openxmlformats.org/drawingml/2006/main">
            <a:r>
              <a:t>      "음성·자연어",</a:t>
            </a:r>
          </a:p>
          <a:p xmlns:a="http://schemas.openxmlformats.org/drawingml/2006/main">
            <a:r>
              <a:t>      "필드 추출·확인",</a:t>
            </a:r>
          </a:p>
          <a:p xmlns:a="http://schemas.openxmlformats.org/drawingml/2006/main">
            <a:r>
              <a:t>      "신청 초안·처리 상태",</a:t>
            </a:r>
          </a:p>
          <a:p xmlns:a="http://schemas.openxmlformats.org/drawingml/2006/main">
            <a:r>
              <a:t>      "MIS·전자결재"</a:t>
            </a:r>
          </a:p>
          <a:p xmlns:a="http://schemas.openxmlformats.org/drawingml/2006/main">
            <a:r>
              <a:t>    ],</a:t>
            </a:r>
          </a:p>
          <a:p xmlns:a="http://schemas.openxmlformats.org/drawingml/2006/main">
            <a:r>
              <a:t>    "transfers": [</a:t>
            </a:r>
          </a:p>
          <a:p xmlns:a="http://schemas.openxmlformats.org/drawingml/2006/main">
            <a:r>
              <a:t>      "원 발화",</a:t>
            </a:r>
          </a:p>
          <a:p xmlns:a="http://schemas.openxmlformats.org/drawingml/2006/main">
            <a:r>
              <a:t>      "신청 필드",</a:t>
            </a:r>
          </a:p>
          <a:p xmlns:a="http://schemas.openxmlformats.org/drawingml/2006/main">
            <a:r>
              <a:t>      "확인된 초안",</a:t>
            </a:r>
          </a:p>
          <a:p xmlns:a="http://schemas.openxmlformats.org/drawingml/2006/main">
            <a:r>
              <a:t>      "접수 결과"</a:t>
            </a:r>
          </a:p>
          <a:p xmlns:a="http://schemas.openxmlformats.org/drawingml/2006/main">
            <a:r>
              <a:t>    ],</a:t>
            </a:r>
          </a:p>
          <a:p xmlns:a="http://schemas.openxmlformats.org/drawingml/2006/main">
            <a:r>
              <a:t>    "control": "필수 필드 재확인·멱등성·상태 대사",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FUR-001~009, PER-001~002, TER-005 / Word T071 https://www.g2b.go.kr/pn/pnp/pnpe/UntyAtchFile/downloadFile.do?bidPbancNo=R26BK01719764&amp;bidPbancOrd=000&amp;fileSeq=4&amp;fileType=&amp;prcmBsneSeCd=03</a:t>
            </a:r>
          </a:p>
          <a:p xmlns:a="http://schemas.openxmlformats.org/drawingml/2006/main">
            <a:r>
              <a:t>홈페이지 https://heen1987-ops.github.io/TS-business-Plan-001/index.html?view=platform-cases&amp;case=PF-R06</a:t>
            </a:r>
          </a:p>
          <a:p xmlns:a="http://schemas.openxmlformats.org/drawingml/2006/main">
            <a:r>
              <a:t>한계: RFP 요구 범위 · MIS API 계층 신규 개발 포함 · 운영 성과와 구분</a:t>
            </a:r>
          </a:p>
          <a:p xmlns:a="http://schemas.openxmlformats.org/drawingml/2006/main">
            <a:r>
              <a:t>실패 위험: 잘못된 날짜·출장 항목 추출 / 재시도에 따른 중복 신청</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"PF-R06",</a:t>
            </a:r>
          </a:p>
          <a:p xmlns:a="http://schemas.openxmlformats.org/drawingml/2006/main">
            <a:r>
              <a:t>    "sourceId": "R06",</a:t>
            </a:r>
          </a:p>
          <a:p xmlns:a="http://schemas.openxmlformats.org/drawingml/2006/main">
            <a:r>
              <a:t>    "title": "철도기술연구원 행정 AI",</a:t>
            </a:r>
          </a:p>
          <a:p xmlns:a="http://schemas.openxmlformats.org/drawingml/2006/main">
            <a:r>
              <a:t>    "region": "국내",</a:t>
            </a:r>
          </a:p>
          <a:p xmlns:a="http://schemas.openxmlformats.org/drawingml/2006/main">
            <a:r>
              <a:t>    "owner": "한국철도기술연구원",</a:t>
            </a:r>
          </a:p>
          <a:p xmlns:a="http://schemas.openxmlformats.org/drawingml/2006/main">
            <a:r>
              <a:t>    "state": "공식 RFP 확인 / 운영·효과 미확인",</a:t>
            </a:r>
          </a:p>
          <a:p xmlns:a="http://schemas.openxmlformats.org/drawingml/2006/main">
            <a:r>
              <a:t>    "period": "기존 원장 확인 2026.10.16",</a:t>
            </a:r>
          </a:p>
          <a:p xmlns:a="http://schemas.openxmlformats.org/drawingml/2006/main">
            <a:r>
              <a:t>    "fact": "음성·자연어로 휴가·출장·복명 신청 후 MIS/전자결재 실행",</a:t>
            </a:r>
          </a:p>
          <a:p xmlns:a="http://schemas.openxmlformats.org/drawingml/2006/main">
            <a:r>
              <a:t>    "limit": "RFP 요구 범위 · MIS API 계층 신규 개발 포함 · 운영 성과와 구분",</a:t>
            </a:r>
          </a:p>
          <a:p xmlns:a="http://schemas.openxmlformats.org/drawingml/2006/main">
            <a:r>
              <a:t>    "nodes": [</a:t>
            </a:r>
          </a:p>
          <a:p xmlns:a="http://schemas.openxmlformats.org/drawingml/2006/main">
            <a:r>
              <a:t>      "음성·자연어",</a:t>
            </a:r>
          </a:p>
          <a:p xmlns:a="http://schemas.openxmlformats.org/drawingml/2006/main">
            <a:r>
              <a:t>      "필드 추출",</a:t>
            </a:r>
          </a:p>
          <a:p xmlns:a="http://schemas.openxmlformats.org/drawingml/2006/main">
            <a:r>
              <a:t>      "사용자 확인",</a:t>
            </a:r>
          </a:p>
          <a:p xmlns:a="http://schemas.openxmlformats.org/drawingml/2006/main">
            <a:r>
              <a:t>      "MIS·결재 연계"</a:t>
            </a:r>
          </a:p>
          <a:p xmlns:a="http://schemas.openxmlformats.org/drawingml/2006/main">
            <a:r>
              <a:t>    ],</a:t>
            </a:r>
          </a:p>
          <a:p xmlns:a="http://schemas.openxmlformats.org/drawingml/2006/main">
            <a:r>
              <a:t>    "apply": "사용자 확인·전결·접수 결과까지 추적하는 자연어 업무 실행",</a:t>
            </a:r>
          </a:p>
          <a:p xmlns:a="http://schemas.openxmlformats.org/drawingml/2006/main">
            <a:r>
              <a:t>    "delta": "발화 필드·확인 화면 / TS 기간계 API 차분 / 전결·취소·재시도 연결",</a:t>
            </a:r>
          </a:p>
          <a:p xmlns:a="http://schemas.openxmlformats.org/drawingml/2006/main">
            <a:r>
              <a:t>    "test": "날짜 오류·중복 전송·취소 시 승인 전 차단·멱등성·원천 상태 대사",</a:t>
            </a:r>
          </a:p>
          <a:p xmlns:a="http://schemas.openxmlformats.org/drawingml/2006/main">
            <a:r>
              <a:t>    "url": "https://www.g2b.go.kr/pn/pnp/pnpe/UntyAtchFile/downloadFile.do?bidPbancNo=R26BK01719764&amp;bidPbancOrd=000&amp;fileSeq=4&amp;fileType=&amp;prcmBsneSeCd=03",</a:t>
            </a:r>
          </a:p>
          <a:p xmlns:a="http://schemas.openxmlformats.org/drawingml/2006/main">
            <a:r>
              <a:t>    "urls": [</a:t>
            </a:r>
          </a:p>
          <a:p xmlns:a="http://schemas.openxmlformats.org/drawingml/2006/main">
            <a:r>
              <a:t>      "https://www.g2b.go.kr/pn/pnp/pnpe/UntyAtchFile/downloadFile.do?bidPbancNo=R26BK01719764&amp;bidPbancOrd=000&amp;fileSeq=4&amp;fileType=&amp;prcmBsneSeCd=03"</a:t>
            </a:r>
          </a:p>
          <a:p xmlns:a="http://schemas.openxmlformats.org/drawingml/2006/main">
            <a:r>
              <a:t>    ],</a:t>
            </a:r>
          </a:p>
          <a:p xmlns:a="http://schemas.openxmlformats.org/drawingml/2006/main">
            <a:r>
              <a:t>    "basis": "FUR-001~009, PER-001~002, TER-005 / Word T071",</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"신청 완료시간 / 재입력률 / 중복·미접수 건수",</a:t>
            </a:r>
          </a:p>
          <a:p xmlns:a="http://schemas.openxmlformats.org/drawingml/2006/main">
            <a:r>
              <a:t>    "group": "요구·구축",</a:t>
            </a:r>
          </a:p>
          <a:p xmlns:a="http://schemas.openxmlformats.org/drawingml/2006/main">
            <a:r>
              <a:t>    "sourceDetail": "STT→의도·필드 추출→사용자 확인→MIS API 신규개발→기안·상신; 조직·직무·권한 기반 결재선",</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"PF-R06",</a:t>
            </a:r>
          </a:p>
          <a:p xmlns:a="http://schemas.openxmlformats.org/drawingml/2006/main">
            <a:r>
              <a:t>    "canonicalId": "PF-R06",</a:t>
            </a:r>
          </a:p>
          <a:p xmlns:a="http://schemas.openxmlformats.org/drawingml/2006/main">
            <a:r>
              <a:t>    "purpose": "발화에서 휴가·출장·복명 신청까지 연결",</a:t>
            </a:r>
          </a:p>
          <a:p xmlns:a="http://schemas.openxmlformats.org/drawingml/2006/main">
            <a:r>
              <a:t>    "users": "직원·결재자·MIS 운영자",</a:t>
            </a:r>
          </a:p>
          <a:p xmlns:a="http://schemas.openxmlformats.org/drawingml/2006/main">
            <a:r>
              <a:t>    "scope": [</a:t>
            </a:r>
          </a:p>
          <a:p xmlns:a="http://schemas.openxmlformats.org/drawingml/2006/main">
            <a:r>
              <a:t>      "음성 입력",</a:t>
            </a:r>
          </a:p>
          <a:p xmlns:a="http://schemas.openxmlformats.org/drawingml/2006/main">
            <a:r>
              <a:t>      "신청서 작성",</a:t>
            </a:r>
          </a:p>
          <a:p xmlns:a="http://schemas.openxmlformats.org/drawingml/2006/main">
            <a:r>
              <a:t>      "MIS·전자결재"</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"음성·자연어",</a:t>
            </a:r>
          </a:p>
          <a:p xmlns:a="http://schemas.openxmlformats.org/drawingml/2006/main">
            <a:r>
              <a:t>        "detail": "음성/텍스트 입력과 조직·직무·권한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"음성 입력 / 신청서 작성 / MIS·전자결재",</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"필드 추출·확인",</a:t>
            </a:r>
          </a:p>
          <a:p xmlns:a="http://schemas.openxmlformats.org/drawingml/2006/main">
            <a:r>
              <a:t>        "detail": "STT·NLU의 의도·날짜·항목 추출 및 확인",</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"MIS·전자결재",</a:t>
            </a:r>
          </a:p>
          <a:p xmlns:a="http://schemas.openxmlformats.org/drawingml/2006/main">
            <a:r>
              <a:t>        "detail": "신규 MIS API로 기안·상신·처리 결과 확인",</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"신청 초안·처리 상태",</a:t>
            </a:r>
          </a:p>
          <a:p xmlns:a="http://schemas.openxmlformats.org/drawingml/2006/main">
            <a:r>
              <a:t>        "detail": "인사·근태·잔여연차·서식 데이터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"수정·취소·재시도 상태의 원천 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"음성·자연어",</a:t>
            </a:r>
          </a:p>
          <a:p xmlns:a="http://schemas.openxmlformats.org/drawingml/2006/main">
            <a:r>
              <a:t>        "input": "음성/텍스트 입력과 조직·직무·권한 확인",</a:t>
            </a:r>
          </a:p>
          <a:p xmlns:a="http://schemas.openxmlformats.org/drawingml/2006/main">
            <a:r>
              <a:t>        "process": "인사·근태·잔여연차·서식 데이터 연결",</a:t>
            </a:r>
          </a:p>
          <a:p xmlns:a="http://schemas.openxmlformats.org/drawingml/2006/main">
            <a:r>
              <a:t>        "output": "원 발화"</a:t>
            </a:r>
          </a:p>
          <a:p xmlns:a="http://schemas.openxmlformats.org/drawingml/2006/main">
            <a:r>
              <a:t>      },</a:t>
            </a:r>
          </a:p>
          <a:p xmlns:a="http://schemas.openxmlformats.org/drawingml/2006/main">
            <a:r>
              <a:t>      {</a:t>
            </a:r>
          </a:p>
          <a:p xmlns:a="http://schemas.openxmlformats.org/drawingml/2006/main">
            <a:r>
              <a:t>        "title": "필드 추출",</a:t>
            </a:r>
          </a:p>
          <a:p xmlns:a="http://schemas.openxmlformats.org/drawingml/2006/main">
            <a:r>
              <a:t>        "input": "원 발화",</a:t>
            </a:r>
          </a:p>
          <a:p xmlns:a="http://schemas.openxmlformats.org/drawingml/2006/main">
            <a:r>
              <a:t>        "process": "STT·NLU의 의도·날짜·항목 추출 및 확인",</a:t>
            </a:r>
          </a:p>
          <a:p xmlns:a="http://schemas.openxmlformats.org/drawingml/2006/main">
            <a:r>
              <a:t>        "output": "신청 필드"</a:t>
            </a:r>
          </a:p>
          <a:p xmlns:a="http://schemas.openxmlformats.org/drawingml/2006/main">
            <a:r>
              <a:t>      },</a:t>
            </a:r>
          </a:p>
          <a:p xmlns:a="http://schemas.openxmlformats.org/drawingml/2006/main">
            <a:r>
              <a:t>      {</a:t>
            </a:r>
          </a:p>
          <a:p xmlns:a="http://schemas.openxmlformats.org/drawingml/2006/main">
            <a:r>
              <a:t>        "title": "사용자 확인",</a:t>
            </a:r>
          </a:p>
          <a:p xmlns:a="http://schemas.openxmlformats.org/drawingml/2006/main">
            <a:r>
              <a:t>        "input": "신청 필드",</a:t>
            </a:r>
          </a:p>
          <a:p xmlns:a="http://schemas.openxmlformats.org/drawingml/2006/main">
            <a:r>
              <a:t>        "process": "필수 필드 재확인·멱등성·상태 대사",</a:t>
            </a:r>
          </a:p>
          <a:p xmlns:a="http://schemas.openxmlformats.org/drawingml/2006/main">
            <a:r>
              <a:t>        "output": "확인된 초안"</a:t>
            </a:r>
          </a:p>
          <a:p xmlns:a="http://schemas.openxmlformats.org/drawingml/2006/main">
            <a:r>
              <a:t>      },</a:t>
            </a:r>
          </a:p>
          <a:p xmlns:a="http://schemas.openxmlformats.org/drawingml/2006/main">
            <a:r>
              <a:t>      {</a:t>
            </a:r>
          </a:p>
          <a:p xmlns:a="http://schemas.openxmlformats.org/drawingml/2006/main">
            <a:r>
              <a:t>        "title": "MIS·결재 연계",</a:t>
            </a:r>
          </a:p>
          <a:p xmlns:a="http://schemas.openxmlformats.org/drawingml/2006/main">
            <a:r>
              <a:t>        "input": "확인된 초안",</a:t>
            </a:r>
          </a:p>
          <a:p xmlns:a="http://schemas.openxmlformats.org/drawingml/2006/main">
            <a:r>
              <a:t>        "process": "신규 MIS API로 기안·상신·처리 결과 확인",</a:t>
            </a:r>
          </a:p>
          <a:p xmlns:a="http://schemas.openxmlformats.org/drawingml/2006/main">
            <a:r>
              <a:t>        "output": "접수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"출장 목적·기간·장소를 말하고 확인 후 기안·상신",</a:t>
            </a:r>
          </a:p>
          <a:p xmlns:a="http://schemas.openxmlformats.org/drawingml/2006/main">
            <a:r>
              <a:t>      "exception": "날짜 오인식·필수 항목 누락·API 재시도·취소",</a:t>
            </a:r>
          </a:p>
          <a:p xmlns:a="http://schemas.openxmlformats.org/drawingml/2006/main">
            <a:r>
              <a:t>      "evidence": "확인 전 실행 차단·중복 방지·MIS 접수 상태 대사",</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"직원·결재자·MIS 운영자",</a:t>
            </a:r>
          </a:p>
          <a:p xmlns:a="http://schemas.openxmlformats.org/drawingml/2006/main">
            <a:r>
              <a:t>          "processing": "음성/텍스트 입력과 조직·직무·권한 확인",</a:t>
            </a:r>
          </a:p>
          <a:p xmlns:a="http://schemas.openxmlformats.org/drawingml/2006/main">
            <a:r>
              <a:t>          "output": "원 발화"</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"신청 초안·처리 상태",</a:t>
            </a:r>
          </a:p>
          <a:p xmlns:a="http://schemas.openxmlformats.org/drawingml/2006/main">
            <a:r>
              <a:t>          "processing": "인사·근태·잔여연차·서식 데이터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"원 발화",</a:t>
            </a:r>
          </a:p>
          <a:p xmlns:a="http://schemas.openxmlformats.org/drawingml/2006/main">
            <a:r>
              <a:t>          "processing": "STT·NLU의 의도·날짜·항목 추출 및 확인",</a:t>
            </a:r>
          </a:p>
          <a:p xmlns:a="http://schemas.openxmlformats.org/drawingml/2006/main">
            <a:r>
              <a:t>          "output": "확인된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"확인된 초안",</a:t>
            </a:r>
          </a:p>
          <a:p xmlns:a="http://schemas.openxmlformats.org/drawingml/2006/main">
            <a:r>
              <a:t>          "processing": "신규 MIS API로 기안·상신·처리 결과 확인",</a:t>
            </a:r>
          </a:p>
          <a:p xmlns:a="http://schemas.openxmlformats.org/drawingml/2006/main">
            <a:r>
              <a:t>          "output": "접수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"수정·취소·재시도 상태의 원천 대사",</a:t>
            </a:r>
          </a:p>
          <a:p xmlns:a="http://schemas.openxmlformats.org/drawingml/2006/main">
            <a:r>
              <a:t>          "output": "확인 전 실행 차단·중복 방지·MIS 접수 상태 대사"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"수정·취소·재시도 상태의 원천 대사",</a:t>
            </a:r>
          </a:p>
          <a:p xmlns:a="http://schemas.openxmlformats.org/drawingml/2006/main">
            <a:r>
              <a:t>    "status": "RFP 기반 논리 설계",</a:t>
            </a:r>
          </a:p>
          <a:p xmlns:a="http://schemas.openxmlformats.org/drawingml/2006/main">
            <a:r>
              <a:t>    "basis": "RFP · FUR-001~009·TER-005",</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"FUR-001~009, PER-001~002, TER-005 / Word T071",</a:t>
            </a:r>
          </a:p>
          <a:p xmlns:a="http://schemas.openxmlformats.org/drawingml/2006/main">
            <a:r>
              <a:t>        "url": "https://www.g2b.go.kr/pn/pnp/pnpe/UntyAtchFile/downloadFile.do?bidPbancNo=R26BK01719764&amp;bidPbancOrd=000&amp;fileSeq=4&amp;fileType=&amp;prcmBsneSeCd=03"</a:t>
            </a:r>
          </a:p>
          <a:p xmlns:a="http://schemas.openxmlformats.org/drawingml/2006/main">
            <a:r>
              <a:t>      }</a:t>
            </a:r>
          </a:p>
          <a:p xmlns:a="http://schemas.openxmlformats.org/drawingml/2006/main">
            <a:r>
              <a:t>    ],</a:t>
            </a:r>
          </a:p>
          <a:p xmlns:a="http://schemas.openxmlformats.org/drawingml/2006/main">
            <a:r>
              <a:t>    "implication": "사용자 확인·전결·접수 결과까지 추적하는 자연어 업무 실행",</a:t>
            </a:r>
          </a:p>
          <a:p xmlns:a="http://schemas.openxmlformats.org/drawingml/2006/main">
            <a:r>
              <a:t>    "local": "사용자 확인·전결·접수 결과까지 추적하는 자연어 업무 실행",</a:t>
            </a:r>
          </a:p>
          <a:p xmlns:a="http://schemas.openxmlformats.org/drawingml/2006/main">
            <a:r>
              <a:t>    "sourceDetail": "STT→의도·필드 추출→사용자 확인→MIS API 신규개발→기안·상신; 조직·직무·권한 기반 결재선",</a:t>
            </a:r>
          </a:p>
          <a:p xmlns:a="http://schemas.openxmlformats.org/drawingml/2006/main">
            <a:r>
              <a:t>    "narrative": [</a:t>
            </a:r>
          </a:p>
          <a:p xmlns:a="http://schemas.openxmlformats.org/drawingml/2006/main">
            <a:r>
              <a:t>      "휴가·출장 등 행정업무를 음성·텍스트 요청에서 시작해 MIS와 전자결재까지 연결하는 사업. 기존 서식·데이터 생성 로직이 MIS에 있고 AI·모바일 호출용 API가 없다는 연계 제약을 RFP에 명시.",</a:t>
            </a:r>
          </a:p>
          <a:p xmlns:a="http://schemas.openxmlformats.org/drawingml/2006/main">
            <a:r>
              <a:t>      "발화의 STT 변환, NLU 의도·개체 추출, 필수 항목 검증, 사용자 확인, MIS 서식 생성, 결재선 추천, 상신·상태 조회를 구분하는 처리 구조. FUR-009의 신규 API는 서식 메타데이터, 잔여연차·근태 조회, 업무규칙 검증, 전자결재 상신을 포함하는 범위.",</a:t>
            </a:r>
          </a:p>
          <a:p xmlns:a="http://schemas.openxmlformats.org/drawingml/2006/main">
            <a:r>
              <a:t>      "AI 모델 정확도 외에 실제 업무 시스템의 접수 상태까지 확인해야 하는 사례. 같은 요청의 재시도, 날짜 수정, 결재선 변경, 상신 후 취소를 검수 시나리오로 분리할 필요. CCK 재사용 도구와 별개로 TS 기간계 API 개발·멱등성·상태 대사를 추가 범위로 산정."</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"FUR-001",</a:t>
            </a:r>
          </a:p>
          <a:p xmlns:a="http://schemas.openxmlformats.org/drawingml/2006/main">
            <a:r>
              <a:t>        "title": "음성 인식(STT) 기반 입력 처리",</a:t>
            </a:r>
          </a:p>
          <a:p xmlns:a="http://schemas.openxmlformats.org/drawingml/2006/main">
            <a:r>
              <a:t>        "locator": "FUR-001",</a:t>
            </a:r>
          </a:p>
          <a:p xmlns:a="http://schemas.openxmlformats.org/drawingml/2006/main">
            <a:r>
              <a:t>        "summary": "음성 발화를 행정 요청의 텍스트 입력으로 변환하는 STT 기능.",</a:t>
            </a:r>
          </a:p>
          <a:p xmlns:a="http://schemas.openxmlformats.org/drawingml/2006/main">
            <a:r>
              <a:t>        "data": "업무 발화·음성 → 전사문",</a:t>
            </a:r>
          </a:p>
          <a:p xmlns:a="http://schemas.openxmlformats.org/drawingml/2006/main">
            <a:r>
              <a:t>        "components": [</a:t>
            </a:r>
          </a:p>
          <a:p xmlns:a="http://schemas.openxmlformats.org/drawingml/2006/main">
            <a:r>
              <a:t>          "C01",</a:t>
            </a:r>
          </a:p>
          <a:p xmlns:a="http://schemas.openxmlformats.org/drawingml/2006/main">
            <a:r>
              <a:t>          "C04"</a:t>
            </a:r>
          </a:p>
          <a:p xmlns:a="http://schemas.openxmlformats.org/drawingml/2006/main">
            <a:r>
              <a:t>        ],</a:t>
            </a:r>
          </a:p>
          <a:p xmlns:a="http://schemas.openxmlformats.org/drawingml/2006/main">
            <a:r>
              <a:t>        "acceptance": "잡음·기관 고유어·날짜·숫자·수정 발화의 전사 결과를 정답과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"4b2d797a440d1d6fbec4f86d7f517404bd7f1e493f405d7d9f79cd20481e3cbd"</a:t>
            </a:r>
          </a:p>
          <a:p xmlns:a="http://schemas.openxmlformats.org/drawingml/2006/main">
            <a:r>
              <a:t>      },</a:t>
            </a:r>
          </a:p>
          <a:p xmlns:a="http://schemas.openxmlformats.org/drawingml/2006/main">
            <a:r>
              <a:t>      {</a:t>
            </a:r>
          </a:p>
          <a:p xmlns:a="http://schemas.openxmlformats.org/drawingml/2006/main">
            <a:r>
              <a:t>        "id": "FUR-002",</a:t>
            </a:r>
          </a:p>
          <a:p xmlns:a="http://schemas.openxmlformats.org/drawingml/2006/main">
            <a:r>
              <a:t>        "title": "자연어 이해(NLU) 및 사용자 의도 분석",</a:t>
            </a:r>
          </a:p>
          <a:p xmlns:a="http://schemas.openxmlformats.org/drawingml/2006/main">
            <a:r>
              <a:t>        "locator": "FUR-002",</a:t>
            </a:r>
          </a:p>
          <a:p xmlns:a="http://schemas.openxmlformats.org/drawingml/2006/main">
            <a:r>
              <a:t>        "summary": "전사·텍스트에서 사용자의 의도와 업무에 필요한 항목을 식별하는 NLU 기능.",</a:t>
            </a:r>
          </a:p>
          <a:p xmlns:a="http://schemas.openxmlformats.org/drawingml/2006/main">
            <a:r>
              <a:t>        "data": "발화·직원 문맥 → 업무 유형·필수 항목",</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a:t>
            </a:r>
          </a:p>
          <a:p xmlns:a="http://schemas.openxmlformats.org/drawingml/2006/main">
            <a:r>
              <a:t>        "acceptance": "휴가·출장·복명 의도 혼동, 날짜 누락, 정정 발화 처리의 슬롯별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"2b5b33f9ad0c0b4d3f13c4f96f1446464cdcaabdd131ab4dde7eaac0671edc6a"</a:t>
            </a:r>
          </a:p>
          <a:p xmlns:a="http://schemas.openxmlformats.org/drawingml/2006/main">
            <a:r>
              <a:t>      },</a:t>
            </a:r>
          </a:p>
          <a:p xmlns:a="http://schemas.openxmlformats.org/drawingml/2006/main">
            <a:r>
              <a:t>      {</a:t>
            </a:r>
          </a:p>
          <a:p xmlns:a="http://schemas.openxmlformats.org/drawingml/2006/main">
            <a:r>
              <a:t>        "id": "FUR-003",</a:t>
            </a:r>
          </a:p>
          <a:p xmlns:a="http://schemas.openxmlformats.org/drawingml/2006/main">
            <a:r>
              <a:t>        "title": "지능형 업무 자동화 엔진",</a:t>
            </a:r>
          </a:p>
          <a:p xmlns:a="http://schemas.openxmlformats.org/drawingml/2006/main">
            <a:r>
              <a:t>        "locator": "FUR-003",</a:t>
            </a:r>
          </a:p>
          <a:p xmlns:a="http://schemas.openxmlformats.org/drawingml/2006/main">
            <a:r>
              <a:t>        "summary": "식별한 의도를 업무자동화 절차로 연결하는 실행 엔진.",</a:t>
            </a:r>
          </a:p>
          <a:p xmlns:a="http://schemas.openxmlformats.org/drawingml/2006/main">
            <a:r>
              <a:t>        "data": "의도·입력 항목 → 실행 절차·진행 상태",</a:t>
            </a:r>
          </a:p>
          <a:p xmlns:a="http://schemas.openxmlformats.org/drawingml/2006/main">
            <a:r>
              <a:t>        "components": [</a:t>
            </a:r>
          </a:p>
          <a:p xmlns:a="http://schemas.openxmlformats.org/drawingml/2006/main">
            <a:r>
              <a:t>          "C04",</a:t>
            </a:r>
          </a:p>
          <a:p xmlns:a="http://schemas.openxmlformats.org/drawingml/2006/main">
            <a:r>
              <a:t>          "C05",</a:t>
            </a:r>
          </a:p>
          <a:p xmlns:a="http://schemas.openxmlformats.org/drawingml/2006/main">
            <a:r>
              <a:t>          "C07"</a:t>
            </a:r>
          </a:p>
          <a:p xmlns:a="http://schemas.openxmlformats.org/drawingml/2006/main">
            <a:r>
              <a:t>        ],</a:t>
            </a:r>
          </a:p>
          <a:p xmlns:a="http://schemas.openxmlformats.org/drawingml/2006/main">
            <a:r>
              <a:t>        "acceptance": "필수값 누락·비허용 업무·중간 실패 조건의 실행 보류와 재개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"f810450f2d482dea56dce3c7164eae2c0fc1681561e11d1fd64a9f19546747d3"</a:t>
            </a:r>
          </a:p>
          <a:p xmlns:a="http://schemas.openxmlformats.org/drawingml/2006/main">
            <a:r>
              <a:t>      },</a:t>
            </a:r>
          </a:p>
          <a:p xmlns:a="http://schemas.openxmlformats.org/drawingml/2006/main">
            <a:r>
              <a:t>      {</a:t>
            </a:r>
          </a:p>
          <a:p xmlns:a="http://schemas.openxmlformats.org/drawingml/2006/main">
            <a:r>
              <a:t>        "id": "FUR-004",</a:t>
            </a:r>
          </a:p>
          <a:p xmlns:a="http://schemas.openxmlformats.org/drawingml/2006/main">
            <a:r>
              <a:t>        "title": "행정서식 생성(MIS)·전자결재 연동 및 결재선 자동 추천",</a:t>
            </a:r>
          </a:p>
          <a:p xmlns:a="http://schemas.openxmlformats.org/drawingml/2006/main">
            <a:r>
              <a:t>        "locator": "FUR-004",</a:t>
            </a:r>
          </a:p>
          <a:p xmlns:a="http://schemas.openxmlformats.org/drawingml/2006/main">
            <a:r>
              <a:t>        "summary": "MIS 행정서식 생성과 전자결재·결재선 연계.",</a:t>
            </a:r>
          </a:p>
          <a:p xmlns:a="http://schemas.openxmlformats.org/drawingml/2006/main">
            <a:r>
              <a:t>        "data": "직원·업무 데이터 → 신청서·결재선·접수 결과",</a:t>
            </a:r>
          </a:p>
          <a:p xmlns:a="http://schemas.openxmlformats.org/drawingml/2006/main">
            <a:r>
              <a:t>        "components": [</a:t>
            </a:r>
          </a:p>
          <a:p xmlns:a="http://schemas.openxmlformats.org/drawingml/2006/main">
            <a:r>
              <a:t>          "C04",</a:t>
            </a:r>
          </a:p>
          <a:p xmlns:a="http://schemas.openxmlformats.org/drawingml/2006/main">
            <a:r>
              <a:t>          "C06",</a:t>
            </a:r>
          </a:p>
          <a:p xmlns:a="http://schemas.openxmlformats.org/drawingml/2006/main">
            <a:r>
              <a:t>          "C07"</a:t>
            </a:r>
          </a:p>
          <a:p xmlns:a="http://schemas.openxmlformats.org/drawingml/2006/main">
            <a:r>
              <a:t>        ],</a:t>
            </a:r>
          </a:p>
          <a:p xmlns:a="http://schemas.openxmlformats.org/drawingml/2006/main">
            <a:r>
              <a:t>        "acceptance": "다른 직원의 결재선, 수정 전 날짜, 중복 신청을 포함해 확인 화면과 최종 등록값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"4f1ec6fe0d7a56356478c8dfabb91a772fd9c787cec611102d2b41d2bf087f45"</a:t>
            </a:r>
          </a:p>
          <a:p xmlns:a="http://schemas.openxmlformats.org/drawingml/2006/main">
            <a:r>
              <a:t>      },</a:t>
            </a:r>
          </a:p>
          <a:p xmlns:a="http://schemas.openxmlformats.org/drawingml/2006/main">
            <a:r>
              <a:t>      {</a:t>
            </a:r>
          </a:p>
          <a:p xmlns:a="http://schemas.openxmlformats.org/drawingml/2006/main">
            <a:r>
              <a:t>        "id": "FUR-007",</a:t>
            </a:r>
          </a:p>
          <a:p xmlns:a="http://schemas.openxmlformats.org/drawingml/2006/main">
            <a:r>
              <a:t>        "title": "그룹웨어·기간계 시스템 연계",</a:t>
            </a:r>
          </a:p>
          <a:p xmlns:a="http://schemas.openxmlformats.org/drawingml/2006/main">
            <a:r>
              <a:t>        "locator": "FUR-007",</a:t>
            </a:r>
          </a:p>
          <a:p xmlns:a="http://schemas.openxmlformats.org/drawingml/2006/main">
            <a:r>
              <a:t>        "summary": "그룹웨어·기간계와 연계해 요청 및 처리 결과를 교환하는 기능.",</a:t>
            </a:r>
          </a:p>
          <a:p xmlns:a="http://schemas.openxmlformats.org/drawingml/2006/main">
            <a:r>
              <a:t>        "data": "업무 요청·시스템 식별정보 → 처리 결과·상태",</a:t>
            </a:r>
          </a:p>
          <a:p xmlns:a="http://schemas.openxmlformats.org/drawingml/2006/main">
            <a:r>
              <a:t>        "components": [</a:t>
            </a:r>
          </a:p>
          <a:p xmlns:a="http://schemas.openxmlformats.org/drawingml/2006/main">
            <a:r>
              <a:t>          "C02",</a:t>
            </a:r>
          </a:p>
          <a:p xmlns:a="http://schemas.openxmlformats.org/drawingml/2006/main">
            <a:r>
              <a:t>          "C07",</a:t>
            </a:r>
          </a:p>
          <a:p xmlns:a="http://schemas.openxmlformats.org/drawingml/2006/main">
            <a:r>
              <a:t>          "C08"</a:t>
            </a:r>
          </a:p>
          <a:p xmlns:a="http://schemas.openxmlformats.org/drawingml/2006/main">
            <a:r>
              <a:t>        ],</a:t>
            </a:r>
          </a:p>
          <a:p xmlns:a="http://schemas.openxmlformats.org/drawingml/2006/main">
            <a:r>
              <a:t>        "acceptance": "인증 만료·연계 장애·응답 지연 시 실제 등록 상태와 사용자 안내의 일치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"248a2a097858bb82f76df87facd2135704aa4354594d82248b40def47a25d3f5"</a:t>
            </a:r>
          </a:p>
          <a:p xmlns:a="http://schemas.openxmlformats.org/drawingml/2006/main">
            <a:r>
              <a:t>      },</a:t>
            </a:r>
          </a:p>
          <a:p xmlns:a="http://schemas.openxmlformats.org/drawingml/2006/main">
            <a:r>
              <a:t>      {</a:t>
            </a:r>
          </a:p>
          <a:p xmlns:a="http://schemas.openxmlformats.org/drawingml/2006/main">
            <a:r>
              <a:t>        "id": "FUR-009",</a:t>
            </a:r>
          </a:p>
          <a:p xmlns:a="http://schemas.openxmlformats.org/drawingml/2006/main">
            <a:r>
              <a:t>        "title": "통합경영정보시스템(MIS) 행정업무 API 개발",</a:t>
            </a:r>
          </a:p>
          <a:p xmlns:a="http://schemas.openxmlformats.org/drawingml/2006/main">
            <a:r>
              <a:t>        "locator": "FUR-009",</a:t>
            </a:r>
          </a:p>
          <a:p xmlns:a="http://schemas.openxmlformats.org/drawingml/2006/main">
            <a:r>
              <a:t>        "summary": "자연어 행정 서비스에 필요한 MIS 업무 API의 신규 개발.",</a:t>
            </a:r>
          </a:p>
          <a:p xmlns:a="http://schemas.openxmlformats.org/drawingml/2006/main">
            <a:r>
              <a:t>        "data": "구조화 행정 요청 → MIS 생성·조회 결과",</a:t>
            </a:r>
          </a:p>
          <a:p xmlns:a="http://schemas.openxmlformats.org/drawingml/2006/main">
            <a:r>
              <a:t>        "components": [</a:t>
            </a:r>
          </a:p>
          <a:p xmlns:a="http://schemas.openxmlformats.org/drawingml/2006/main">
            <a:r>
              <a:t>          "C07"</a:t>
            </a:r>
          </a:p>
          <a:p xmlns:a="http://schemas.openxmlformats.org/drawingml/2006/main">
            <a:r>
              <a:t>        ],</a:t>
            </a:r>
          </a:p>
          <a:p xmlns:a="http://schemas.openxmlformats.org/drawingml/2006/main">
            <a:r>
              <a:t>        "acceptance": "필수 인자·권한·중복 요청·취소 가능 상태를 API 계약 및 실제 데이터와 대조",</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"8a445db50ff666bd64f8ff0b7745693eaefce5e0df8153d8c59102304c330829"</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"음성·텍스트 입력",</a:t>
            </a:r>
          </a:p>
          <a:p xmlns:a="http://schemas.openxmlformats.org/drawingml/2006/main">
            <a:r>
              <a:t>          "layer": "이용 접점",</a:t>
            </a:r>
          </a:p>
          <a:p xmlns:a="http://schemas.openxmlformats.org/drawingml/2006/main">
            <a:r>
              <a:t>          "detail": "직원·결재자·MIS 운영자",</a:t>
            </a:r>
          </a:p>
          <a:p xmlns:a="http://schemas.openxmlformats.org/drawingml/2006/main">
            <a:r>
              <a:t>          "requirements": [</a:t>
            </a:r>
          </a:p>
          <a:p xmlns:a="http://schemas.openxmlformats.org/drawingml/2006/main">
            <a:r>
              <a:t>            "FUR-001"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"직원·조직·직무",</a:t>
            </a:r>
          </a:p>
          <a:p xmlns:a="http://schemas.openxmlformats.org/drawingml/2006/main">
            <a:r>
              <a:t>          "layer": "업무 문맥",</a:t>
            </a:r>
          </a:p>
          <a:p xmlns:a="http://schemas.openxmlformats.org/drawingml/2006/main">
            <a:r>
              <a:t>          "detail": "음성/텍스트 입력과 조직·직무·권한 확인",</a:t>
            </a:r>
          </a:p>
          <a:p xmlns:a="http://schemas.openxmlformats.org/drawingml/2006/main">
            <a:r>
              <a:t>          "requirements": [</a:t>
            </a:r>
          </a:p>
          <a:p xmlns:a="http://schemas.openxmlformats.org/drawingml/2006/main">
            <a:r>
              <a:t>            "FUR-002",</a:t>
            </a:r>
          </a:p>
          <a:p xmlns:a="http://schemas.openxmlformats.org/drawingml/2006/main">
            <a:r>
              <a:t>            "FUR-007"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"근태·서식 조회",</a:t>
            </a:r>
          </a:p>
          <a:p xmlns:a="http://schemas.openxmlformats.org/drawingml/2006/main">
            <a:r>
              <a:t>          "layer": "자료 조회",</a:t>
            </a:r>
          </a:p>
          <a:p xmlns:a="http://schemas.openxmlformats.org/drawingml/2006/main">
            <a:r>
              <a:t>          "detail": "원 발화",</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"STT·의도·필드 추출",</a:t>
            </a:r>
          </a:p>
          <a:p xmlns:a="http://schemas.openxmlformats.org/drawingml/2006/main">
            <a:r>
              <a:t>          "layer": "핵심 처리",</a:t>
            </a:r>
          </a:p>
          <a:p xmlns:a="http://schemas.openxmlformats.org/drawingml/2006/main">
            <a:r>
              <a:t>          "detail": "STT·NLU의 의도·날짜·항목 추출 및 확인",</a:t>
            </a:r>
          </a:p>
          <a:p xmlns:a="http://schemas.openxmlformats.org/drawingml/2006/main">
            <a:r>
              <a:t>          "requirements": [</a:t>
            </a:r>
          </a:p>
          <a:p xmlns:a="http://schemas.openxmlformats.org/drawingml/2006/main">
            <a:r>
              <a:t>            "FUR-001",</a:t>
            </a:r>
          </a:p>
          <a:p xmlns:a="http://schemas.openxmlformats.org/drawingml/2006/main">
            <a:r>
              <a:t>            "FUR-002",</a:t>
            </a:r>
          </a:p>
          <a:p xmlns:a="http://schemas.openxmlformats.org/drawingml/2006/main">
            <a:r>
              <a:t>            "FUR-003",</a:t>
            </a:r>
          </a:p>
          <a:p xmlns:a="http://schemas.openxmlformats.org/drawingml/2006/main">
            <a:r>
              <a:t>            "FUR-004"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"날짜·필수값 검사",</a:t>
            </a:r>
          </a:p>
          <a:p xmlns:a="http://schemas.openxmlformats.org/drawingml/2006/main">
            <a:r>
              <a:t>          "layer": "결과 검증",</a:t>
            </a:r>
          </a:p>
          <a:p xmlns:a="http://schemas.openxmlformats.org/drawingml/2006/main">
            <a:r>
              <a:t>          "detail": "필수 필드 재확인·멱등성·상태 대사",</a:t>
            </a:r>
          </a:p>
          <a:p xmlns:a="http://schemas.openxmlformats.org/drawingml/2006/main">
            <a:r>
              <a:t>          "requirements": [</a:t>
            </a:r>
          </a:p>
          <a:p xmlns:a="http://schemas.openxmlformats.org/drawingml/2006/main">
            <a:r>
              <a:t>            "FUR-003"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"사용자 최종 확인",</a:t>
            </a:r>
          </a:p>
          <a:p xmlns:a="http://schemas.openxmlformats.org/drawingml/2006/main">
            <a:r>
              <a:t>          "layer": "사람 확인",</a:t>
            </a:r>
          </a:p>
          <a:p xmlns:a="http://schemas.openxmlformats.org/drawingml/2006/main">
            <a:r>
              <a:t>          "detail": "출장 목적·기간·장소를 말하고 확인 후 기안·상신",</a:t>
            </a:r>
          </a:p>
          <a:p xmlns:a="http://schemas.openxmlformats.org/drawingml/2006/main">
            <a:r>
              <a:t>          "requirements": [</a:t>
            </a:r>
          </a:p>
          <a:p xmlns:a="http://schemas.openxmlformats.org/drawingml/2006/main">
            <a:r>
              <a:t>            "FUR-004"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"신규 MIS API·상신",</a:t>
            </a:r>
          </a:p>
          <a:p xmlns:a="http://schemas.openxmlformats.org/drawingml/2006/main">
            <a:r>
              <a:t>          "layer": "업무 연결",</a:t>
            </a:r>
          </a:p>
          <a:p xmlns:a="http://schemas.openxmlformats.org/drawingml/2006/main">
            <a:r>
              <a:t>          "detail": "신규 MIS API로 기안·상신·처리 결과 확인",</a:t>
            </a:r>
          </a:p>
          <a:p xmlns:a="http://schemas.openxmlformats.org/drawingml/2006/main">
            <a:r>
              <a:t>          "requirements": [</a:t>
            </a:r>
          </a:p>
          <a:p xmlns:a="http://schemas.openxmlformats.org/drawingml/2006/main">
            <a:r>
              <a:t>            "FUR-003",</a:t>
            </a:r>
          </a:p>
          <a:p xmlns:a="http://schemas.openxmlformats.org/drawingml/2006/main">
            <a:r>
              <a:t>            "FUR-004",</a:t>
            </a:r>
          </a:p>
          <a:p xmlns:a="http://schemas.openxmlformats.org/drawingml/2006/main">
            <a:r>
              <a:t>            "FUR-007",</a:t>
            </a:r>
          </a:p>
          <a:p xmlns:a="http://schemas.openxmlformats.org/drawingml/2006/main">
            <a:r>
              <a:t>            "FUR-009"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"취소·중복 대사",</a:t>
            </a:r>
          </a:p>
          <a:p xmlns:a="http://schemas.openxmlformats.org/drawingml/2006/main">
            <a:r>
              <a:t>          "layer": "운영 관측",</a:t>
            </a:r>
          </a:p>
          <a:p xmlns:a="http://schemas.openxmlformats.org/drawingml/2006/main">
            <a:r>
              <a:t>          "detail": "수정·취소·재시도 상태의 원천 대사",</a:t>
            </a:r>
          </a:p>
          <a:p xmlns:a="http://schemas.openxmlformats.org/drawingml/2006/main">
            <a:r>
              <a:t>          "requirements": [</a:t>
            </a:r>
          </a:p>
          <a:p xmlns:a="http://schemas.openxmlformats.org/drawingml/2006/main">
            <a:r>
              <a:t>            "FUR-007"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"인사·근태·결재선",</a:t>
            </a:r>
          </a:p>
          <a:p xmlns:a="http://schemas.openxmlformats.org/drawingml/2006/main">
            <a:r>
              <a:t>          "layer": "데이터 원천",</a:t>
            </a:r>
          </a:p>
          <a:p xmlns:a="http://schemas.openxmlformats.org/drawingml/2006/main">
            <a:r>
              <a:t>          "detail": "신청 초안·처리 상태",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"필드·서식 정합화",</a:t>
            </a:r>
          </a:p>
          <a:p xmlns:a="http://schemas.openxmlformats.org/drawingml/2006/main">
            <a:r>
              <a:t>          "layer": "준비·갱신",</a:t>
            </a:r>
          </a:p>
          <a:p xmlns:a="http://schemas.openxmlformats.org/drawingml/2006/main">
            <a:r>
              <a:t>          "detail": "인사·근태·잔여연차·서식 데이터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"신청 초안·접수 상태",</a:t>
            </a:r>
          </a:p>
          <a:p xmlns:a="http://schemas.openxmlformats.org/drawingml/2006/main">
            <a:r>
              <a:t>          "layer": "상태·지식 저장",</a:t>
            </a:r>
          </a:p>
          <a:p xmlns:a="http://schemas.openxmlformats.org/drawingml/2006/main">
            <a:r>
              <a:t>          "detail": "확인 전 실행 차단·중복 방지·MIS 접수 상태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"업무·실행 권한",</a:t>
            </a:r>
          </a:p>
          <a:p xmlns:a="http://schemas.openxmlformats.org/drawingml/2006/main">
            <a:r>
              <a:t>          "layer": "권한·정책",</a:t>
            </a:r>
          </a:p>
          <a:p xmlns:a="http://schemas.openxmlformats.org/drawingml/2006/main">
            <a:r>
              <a:t>          "detail": "날짜 오인식·필수 항목 누락·API 재시도·취소",</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"음성/텍스트 입력과 조직·직무·권한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"원 발화",</a:t>
            </a:r>
          </a:p>
          <a:p xmlns:a="http://schemas.openxmlformats.org/drawingml/2006/main">
            <a:r>
              <a:t>          "check": "필수 필드 재확인·멱등성·상태 대사"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"신청 필드",</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"확인된 초안",</a:t>
            </a:r>
          </a:p>
          <a:p xmlns:a="http://schemas.openxmlformats.org/drawingml/2006/main">
            <a:r>
              <a:t>          "check": "날짜 오인식·필수 항목 누락·API 재시도·취소"</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"확인된 초안",</a:t>
            </a:r>
          </a:p>
          <a:p xmlns:a="http://schemas.openxmlformats.org/drawingml/2006/main">
            <a:r>
              <a:t>          "check": "신규 MIS API로 기안·상신·처리 결과 확인"</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"접수 결과",</a:t>
            </a:r>
          </a:p>
          <a:p xmlns:a="http://schemas.openxmlformats.org/drawingml/2006/main">
            <a:r>
              <a:t>          "check": "확인 전 실행 차단·중복 방지·MIS 접수 상태 대사"</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"FUR-001~009·TER-005",</a:t>
            </a:r>
          </a:p>
          <a:p xmlns:a="http://schemas.openxmlformats.org/drawingml/2006/main">
            <a:r>
              <a:t>        "extracted": "STT·NLU, 사용자 확인, MIS API 신규 구축·전자결재 연결",</a:t>
            </a:r>
          </a:p>
          <a:p xmlns:a="http://schemas.openxmlformats.org/drawingml/2006/main">
            <a:r>
              <a:t>        "extension": "중복 요청 식별·취소 후 상태 대사·결재선 효력일 검사"</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"PF-R06",</a:t>
            </a:r>
          </a:p>
          <a:p xmlns:a="http://schemas.openxmlformats.org/drawingml/2006/main">
            <a:r>
              <a:t>          "path": "assets/casebook-sources/PF-R06-01.png",</a:t>
            </a:r>
          </a:p>
          <a:p xmlns:a="http://schemas.openxmlformats.org/drawingml/2006/main">
            <a:r>
              <a:t>          "title": "철도기술연구원 업무시스템",</a:t>
            </a:r>
          </a:p>
          <a:p xmlns:a="http://schemas.openxmlformats.org/drawingml/2006/main">
            <a:r>
              <a:t>          "status": "RFP 수록 기존 시스템 구성",</a:t>
            </a:r>
          </a:p>
          <a:p xmlns:a="http://schemas.openxmlformats.org/drawingml/2006/main">
            <a:r>
              <a:t>          "caption": "협업 포털·통합경영정보·전자결재·외부 연계 현황",</a:t>
            </a:r>
          </a:p>
          <a:p xmlns:a="http://schemas.openxmlformats.org/drawingml/2006/main">
            <a:r>
              <a:t>          "locator": "rId18 / BinData/image1_bmp",</a:t>
            </a:r>
          </a:p>
          <a:p xmlns:a="http://schemas.openxmlformats.org/drawingml/2006/main">
            <a:r>
              <a:t>          "checked": "2026-10-16",</a:t>
            </a:r>
          </a:p>
          <a:p xmlns:a="http://schemas.openxmlformats.org/drawingml/2006/main">
            <a:r>
              <a:t>          "sha256": "419b833abe927fb60c98c0b17c83b79039658d9fc8f1bf2295db634a55a2c424",</a:t>
            </a:r>
          </a:p>
          <a:p xmlns:a="http://schemas.openxmlformats.org/drawingml/2006/main">
            <a:r>
              <a:t>          "explanation": {</a:t>
            </a:r>
          </a:p>
          <a:p xmlns:a="http://schemas.openxmlformats.org/drawingml/2006/main">
            <a:r>
              <a:t>            "read": "포털·MIS·전자결재의 기존 정보시스템 구성. 음성 AI의 신규 배치가 아니라 행정 요청을 실제 처리할 기간계와 결재 경로의 현황을 설명하는 도면.",</a:t>
            </a:r>
          </a:p>
          <a:p xmlns:a="http://schemas.openxmlformats.org/drawingml/2006/main">
            <a:r>
              <a:t>            "requirements": [</a:t>
            </a:r>
          </a:p>
          <a:p xmlns:a="http://schemas.openxmlformats.org/drawingml/2006/main">
            <a:r>
              <a:t>              "FUR-003",</a:t>
            </a:r>
          </a:p>
          <a:p xmlns:a="http://schemas.openxmlformats.org/drawingml/2006/main">
            <a:r>
              <a:t>              "FUR-004",</a:t>
            </a:r>
          </a:p>
          <a:p xmlns:a="http://schemas.openxmlformats.org/drawingml/2006/main">
            <a:r>
              <a:t>              "FUR-007",</a:t>
            </a:r>
          </a:p>
          <a:p xmlns:a="http://schemas.openxmlformats.org/drawingml/2006/main">
            <a:r>
              <a:t>              "FUR-009"</a:t>
            </a:r>
          </a:p>
          <a:p xmlns:a="http://schemas.openxmlformats.org/drawingml/2006/main">
            <a:r>
              <a:t>            ],</a:t>
            </a:r>
          </a:p>
          <a:p xmlns:a="http://schemas.openxmlformats.org/drawingml/2006/main">
            <a:r>
              <a:t>            "connection": "STT·의도 추출·사용자 확인을 앞단에 추가하고 기존 MIS API·결재선으로 인계하는 재구성. 음성 인식 성공과 업무 등록 성공을 별도 상태로 관리."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"날짜 오인식·필수 항목 누락·API 재시도·취소",</a:t>
            </a:r>
          </a:p>
          <a:p xmlns:a="http://schemas.openxmlformats.org/drawingml/2006/main">
            <a:r>
              <a:t>        "hold": "필수 필드 재확인·멱등성·상태 대사",</a:t>
            </a:r>
          </a:p>
          <a:p xmlns:a="http://schemas.openxmlformats.org/drawingml/2006/main">
            <a:r>
              <a:t>        "recovery": "수정·취소·재시도 상태의 원천 대사",</a:t>
            </a:r>
          </a:p>
          <a:p xmlns:a="http://schemas.openxmlformats.org/drawingml/2006/main">
            <a:r>
              <a:t>        "evidence": "확인 전 실행 차단·중복 방지·MIS 접수 상태 대사"</a:t>
            </a:r>
          </a:p>
          <a:p xmlns:a="http://schemas.openxmlformats.org/drawingml/2006/main">
            <a:r>
              <a:t>      },</a:t>
            </a:r>
          </a:p>
          <a:p xmlns:a="http://schemas.openxmlformats.org/drawingml/2006/main">
            <a:r>
              <a:t>      "data": {</a:t>
            </a:r>
          </a:p>
          <a:p xmlns:a="http://schemas.openxmlformats.org/drawingml/2006/main">
            <a:r>
              <a:t>        "source": "신청 초안·처리 상태",</a:t>
            </a:r>
          </a:p>
          <a:p xmlns:a="http://schemas.openxmlformats.org/drawingml/2006/main">
            <a:r>
              <a:t>        "prepare": "인사·근태·잔여연차·서식 데이터 연결",</a:t>
            </a:r>
          </a:p>
          <a:p xmlns:a="http://schemas.openxmlformats.org/drawingml/2006/main">
            <a:r>
              <a:t>        "output": "원 발화",</a:t>
            </a:r>
          </a:p>
          <a:p xmlns:a="http://schemas.openxmlformats.org/drawingml/2006/main">
            <a:r>
              <a:t>        "refresh": "수정·취소·재시도 상태의 원천 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"PF-R06",</a:t>
            </a:r>
          </a:p>
          <a:p xmlns:a="http://schemas.openxmlformats.org/drawingml/2006/main">
            <a:r>
              <a:t>    "success": [</a:t>
            </a:r>
          </a:p>
          <a:p xmlns:a="http://schemas.openxmlformats.org/drawingml/2006/main">
            <a:r>
              <a:t>      "발화 구조화와 기존 MIS 연결",</a:t>
            </a:r>
          </a:p>
          <a:p xmlns:a="http://schemas.openxmlformats.org/drawingml/2006/main">
            <a:r>
              <a:t>      "실행 전 사용자 확인"</a:t>
            </a:r>
          </a:p>
          <a:p xmlns:a="http://schemas.openxmlformats.org/drawingml/2006/main">
            <a:r>
              <a:t>    ],</a:t>
            </a:r>
          </a:p>
          <a:p xmlns:a="http://schemas.openxmlformats.org/drawingml/2006/main">
            <a:r>
              <a:t>    "risks": [</a:t>
            </a:r>
          </a:p>
          <a:p xmlns:a="http://schemas.openxmlformats.org/drawingml/2006/main">
            <a:r>
              <a:t>      "잘못된 날짜·출장 항목 추출",</a:t>
            </a:r>
          </a:p>
          <a:p xmlns:a="http://schemas.openxmlformats.org/drawingml/2006/main">
            <a:r>
              <a:t>      "재시도에 따른 중복 신청"</a:t>
            </a:r>
          </a:p>
          <a:p xmlns:a="http://schemas.openxmlformats.org/drawingml/2006/main">
            <a:r>
              <a:t>    ],</a:t>
            </a:r>
          </a:p>
          <a:p xmlns:a="http://schemas.openxmlformats.org/drawingml/2006/main">
            <a:r>
              <a:t>    "architecture": [</a:t>
            </a:r>
          </a:p>
          <a:p xmlns:a="http://schemas.openxmlformats.org/drawingml/2006/main">
            <a:r>
              <a:t>      "음성·자연어",</a:t>
            </a:r>
          </a:p>
          <a:p xmlns:a="http://schemas.openxmlformats.org/drawingml/2006/main">
            <a:r>
              <a:t>      "필드 추출·확인",</a:t>
            </a:r>
          </a:p>
          <a:p xmlns:a="http://schemas.openxmlformats.org/drawingml/2006/main">
            <a:r>
              <a:t>      "신청 초안·처리 상태",</a:t>
            </a:r>
          </a:p>
          <a:p xmlns:a="http://schemas.openxmlformats.org/drawingml/2006/main">
            <a:r>
              <a:t>      "MIS·전자결재"</a:t>
            </a:r>
          </a:p>
          <a:p xmlns:a="http://schemas.openxmlformats.org/drawingml/2006/main">
            <a:r>
              <a:t>    ],</a:t>
            </a:r>
          </a:p>
          <a:p xmlns:a="http://schemas.openxmlformats.org/drawingml/2006/main">
            <a:r>
              <a:t>    "transfers": [</a:t>
            </a:r>
          </a:p>
          <a:p xmlns:a="http://schemas.openxmlformats.org/drawingml/2006/main">
            <a:r>
              <a:t>      "원 발화",</a:t>
            </a:r>
          </a:p>
          <a:p xmlns:a="http://schemas.openxmlformats.org/drawingml/2006/main">
            <a:r>
              <a:t>      "신청 필드",</a:t>
            </a:r>
          </a:p>
          <a:p xmlns:a="http://schemas.openxmlformats.org/drawingml/2006/main">
            <a:r>
              <a:t>      "확인된 초안",</a:t>
            </a:r>
          </a:p>
          <a:p xmlns:a="http://schemas.openxmlformats.org/drawingml/2006/main">
            <a:r>
              <a:t>      "접수 결과"</a:t>
            </a:r>
          </a:p>
          <a:p xmlns:a="http://schemas.openxmlformats.org/drawingml/2006/main">
            <a:r>
              <a:t>    ],</a:t>
            </a:r>
          </a:p>
          <a:p xmlns:a="http://schemas.openxmlformats.org/drawingml/2006/main">
            <a:r>
              <a:t>    "control": "필수 필드 재확인·멱등성·상태 대사",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FUR-001~009, PER-001~002, TER-005 / Word T071 https://www.g2b.go.kr/pn/pnp/pnpe/UntyAtchFile/downloadFile.do?bidPbancNo=R26BK01719764&amp;bidPbancOrd=000&amp;fileSeq=4&amp;fileType=&amp;prcmBsneSeCd=03</a:t>
            </a:r>
          </a:p>
          <a:p xmlns:a="http://schemas.openxmlformats.org/drawingml/2006/main">
            <a:r>
              <a:t>홈페이지 https://heen1987-ops.github.io/TS-business-Plan-001/index.html?view=platform-cases&amp;case=PF-R06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"PF-R06",</a:t>
            </a:r>
          </a:p>
          <a:p xmlns:a="http://schemas.openxmlformats.org/drawingml/2006/main">
            <a:r>
              <a:t>    "sourceId": "R06",</a:t>
            </a:r>
          </a:p>
          <a:p xmlns:a="http://schemas.openxmlformats.org/drawingml/2006/main">
            <a:r>
              <a:t>    "title": "철도기술연구원 행정 AI",</a:t>
            </a:r>
          </a:p>
          <a:p xmlns:a="http://schemas.openxmlformats.org/drawingml/2006/main">
            <a:r>
              <a:t>    "region": "국내",</a:t>
            </a:r>
          </a:p>
          <a:p xmlns:a="http://schemas.openxmlformats.org/drawingml/2006/main">
            <a:r>
              <a:t>    "owner": "한국철도기술연구원",</a:t>
            </a:r>
          </a:p>
          <a:p xmlns:a="http://schemas.openxmlformats.org/drawingml/2006/main">
            <a:r>
              <a:t>    "state": "공식 RFP 확인 / 운영·효과 미확인",</a:t>
            </a:r>
          </a:p>
          <a:p xmlns:a="http://schemas.openxmlformats.org/drawingml/2006/main">
            <a:r>
              <a:t>    "period": "기존 원장 확인 2026.10.16",</a:t>
            </a:r>
          </a:p>
          <a:p xmlns:a="http://schemas.openxmlformats.org/drawingml/2006/main">
            <a:r>
              <a:t>    "fact": "음성·자연어로 휴가·출장·복명 신청 후 MIS/전자결재 실행",</a:t>
            </a:r>
          </a:p>
          <a:p xmlns:a="http://schemas.openxmlformats.org/drawingml/2006/main">
            <a:r>
              <a:t>    "limit": "RFP 요구 범위 · MIS API 계층 신규 개발 포함 · 운영 성과와 구분",</a:t>
            </a:r>
          </a:p>
          <a:p xmlns:a="http://schemas.openxmlformats.org/drawingml/2006/main">
            <a:r>
              <a:t>    "nodes": [</a:t>
            </a:r>
          </a:p>
          <a:p xmlns:a="http://schemas.openxmlformats.org/drawingml/2006/main">
            <a:r>
              <a:t>      "음성·자연어",</a:t>
            </a:r>
          </a:p>
          <a:p xmlns:a="http://schemas.openxmlformats.org/drawingml/2006/main">
            <a:r>
              <a:t>      "필드 추출",</a:t>
            </a:r>
          </a:p>
          <a:p xmlns:a="http://schemas.openxmlformats.org/drawingml/2006/main">
            <a:r>
              <a:t>      "사용자 확인",</a:t>
            </a:r>
          </a:p>
          <a:p xmlns:a="http://schemas.openxmlformats.org/drawingml/2006/main">
            <a:r>
              <a:t>      "MIS·결재 연계"</a:t>
            </a:r>
          </a:p>
          <a:p xmlns:a="http://schemas.openxmlformats.org/drawingml/2006/main">
            <a:r>
              <a:t>    ],</a:t>
            </a:r>
          </a:p>
          <a:p xmlns:a="http://schemas.openxmlformats.org/drawingml/2006/main">
            <a:r>
              <a:t>    "apply": "사용자 확인·전결·접수 결과까지 추적하는 자연어 업무 실행",</a:t>
            </a:r>
          </a:p>
          <a:p xmlns:a="http://schemas.openxmlformats.org/drawingml/2006/main">
            <a:r>
              <a:t>    "delta": "발화 필드·확인 화면 / TS 기간계 API 차분 / 전결·취소·재시도 연결",</a:t>
            </a:r>
          </a:p>
          <a:p xmlns:a="http://schemas.openxmlformats.org/drawingml/2006/main">
            <a:r>
              <a:t>    "test": "날짜 오류·중복 전송·취소 시 승인 전 차단·멱등성·원천 상태 대사",</a:t>
            </a:r>
          </a:p>
          <a:p xmlns:a="http://schemas.openxmlformats.org/drawingml/2006/main">
            <a:r>
              <a:t>    "url": "https://www.g2b.go.kr/pn/pnp/pnpe/UntyAtchFile/downloadFile.do?bidPbancNo=R26BK01719764&amp;bidPbancOrd=000&amp;fileSeq=4&amp;fileType=&amp;prcmBsneSeCd=03",</a:t>
            </a:r>
          </a:p>
          <a:p xmlns:a="http://schemas.openxmlformats.org/drawingml/2006/main">
            <a:r>
              <a:t>    "urls": [</a:t>
            </a:r>
          </a:p>
          <a:p xmlns:a="http://schemas.openxmlformats.org/drawingml/2006/main">
            <a:r>
              <a:t>      "https://www.g2b.go.kr/pn/pnp/pnpe/UntyAtchFile/downloadFile.do?bidPbancNo=R26BK01719764&amp;bidPbancOrd=000&amp;fileSeq=4&amp;fileType=&amp;prcmBsneSeCd=03"</a:t>
            </a:r>
          </a:p>
          <a:p xmlns:a="http://schemas.openxmlformats.org/drawingml/2006/main">
            <a:r>
              <a:t>    ],</a:t>
            </a:r>
          </a:p>
          <a:p xmlns:a="http://schemas.openxmlformats.org/drawingml/2006/main">
            <a:r>
              <a:t>    "basis": "FUR-001~009, PER-001~002, TER-005 / Word T071",</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"신청 완료시간 / 재입력률 / 중복·미접수 건수",</a:t>
            </a:r>
          </a:p>
          <a:p xmlns:a="http://schemas.openxmlformats.org/drawingml/2006/main">
            <a:r>
              <a:t>    "group": "요구·구축",</a:t>
            </a:r>
          </a:p>
          <a:p xmlns:a="http://schemas.openxmlformats.org/drawingml/2006/main">
            <a:r>
              <a:t>    "sourceDetail": "STT→의도·필드 추출→사용자 확인→MIS API 신규개발→기안·상신; 조직·직무·권한 기반 결재선",</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"PF-R06",</a:t>
            </a:r>
          </a:p>
          <a:p xmlns:a="http://schemas.openxmlformats.org/drawingml/2006/main">
            <a:r>
              <a:t>    "canonicalId": "PF-R06",</a:t>
            </a:r>
          </a:p>
          <a:p xmlns:a="http://schemas.openxmlformats.org/drawingml/2006/main">
            <a:r>
              <a:t>    "purpose": "발화에서 휴가·출장·복명 신청까지 연결",</a:t>
            </a:r>
          </a:p>
          <a:p xmlns:a="http://schemas.openxmlformats.org/drawingml/2006/main">
            <a:r>
              <a:t>    "users": "직원·결재자·MIS 운영자",</a:t>
            </a:r>
          </a:p>
          <a:p xmlns:a="http://schemas.openxmlformats.org/drawingml/2006/main">
            <a:r>
              <a:t>    "scope": [</a:t>
            </a:r>
          </a:p>
          <a:p xmlns:a="http://schemas.openxmlformats.org/drawingml/2006/main">
            <a:r>
              <a:t>      "음성 입력",</a:t>
            </a:r>
          </a:p>
          <a:p xmlns:a="http://schemas.openxmlformats.org/drawingml/2006/main">
            <a:r>
              <a:t>      "신청서 작성",</a:t>
            </a:r>
          </a:p>
          <a:p xmlns:a="http://schemas.openxmlformats.org/drawingml/2006/main">
            <a:r>
              <a:t>      "MIS·전자결재"</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"음성·자연어",</a:t>
            </a:r>
          </a:p>
          <a:p xmlns:a="http://schemas.openxmlformats.org/drawingml/2006/main">
            <a:r>
              <a:t>        "detail": "음성/텍스트 입력과 조직·직무·권한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"음성 입력 / 신청서 작성 / MIS·전자결재",</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"필드 추출·확인",</a:t>
            </a:r>
          </a:p>
          <a:p xmlns:a="http://schemas.openxmlformats.org/drawingml/2006/main">
            <a:r>
              <a:t>        "detail": "STT·NLU의 의도·날짜·항목 추출 및 확인",</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"MIS·전자결재",</a:t>
            </a:r>
          </a:p>
          <a:p xmlns:a="http://schemas.openxmlformats.org/drawingml/2006/main">
            <a:r>
              <a:t>        "detail": "신규 MIS API로 기안·상신·처리 결과 확인",</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"신청 초안·처리 상태",</a:t>
            </a:r>
          </a:p>
          <a:p xmlns:a="http://schemas.openxmlformats.org/drawingml/2006/main">
            <a:r>
              <a:t>        "detail": "인사·근태·잔여연차·서식 데이터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"수정·취소·재시도 상태의 원천 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"음성·자연어",</a:t>
            </a:r>
          </a:p>
          <a:p xmlns:a="http://schemas.openxmlformats.org/drawingml/2006/main">
            <a:r>
              <a:t>        "input": "음성/텍스트 입력과 조직·직무·권한 확인",</a:t>
            </a:r>
          </a:p>
          <a:p xmlns:a="http://schemas.openxmlformats.org/drawingml/2006/main">
            <a:r>
              <a:t>        "process": "인사·근태·잔여연차·서식 데이터 연결",</a:t>
            </a:r>
          </a:p>
          <a:p xmlns:a="http://schemas.openxmlformats.org/drawingml/2006/main">
            <a:r>
              <a:t>        "output": "원 발화"</a:t>
            </a:r>
          </a:p>
          <a:p xmlns:a="http://schemas.openxmlformats.org/drawingml/2006/main">
            <a:r>
              <a:t>      },</a:t>
            </a:r>
          </a:p>
          <a:p xmlns:a="http://schemas.openxmlformats.org/drawingml/2006/main">
            <a:r>
              <a:t>      {</a:t>
            </a:r>
          </a:p>
          <a:p xmlns:a="http://schemas.openxmlformats.org/drawingml/2006/main">
            <a:r>
              <a:t>        "title": "필드 추출",</a:t>
            </a:r>
          </a:p>
          <a:p xmlns:a="http://schemas.openxmlformats.org/drawingml/2006/main">
            <a:r>
              <a:t>        "input": "원 발화",</a:t>
            </a:r>
          </a:p>
          <a:p xmlns:a="http://schemas.openxmlformats.org/drawingml/2006/main">
            <a:r>
              <a:t>        "process": "STT·NLU의 의도·날짜·항목 추출 및 확인",</a:t>
            </a:r>
          </a:p>
          <a:p xmlns:a="http://schemas.openxmlformats.org/drawingml/2006/main">
            <a:r>
              <a:t>        "output": "신청 필드"</a:t>
            </a:r>
          </a:p>
          <a:p xmlns:a="http://schemas.openxmlformats.org/drawingml/2006/main">
            <a:r>
              <a:t>      },</a:t>
            </a:r>
          </a:p>
          <a:p xmlns:a="http://schemas.openxmlformats.org/drawingml/2006/main">
            <a:r>
              <a:t>      {</a:t>
            </a:r>
          </a:p>
          <a:p xmlns:a="http://schemas.openxmlformats.org/drawingml/2006/main">
            <a:r>
              <a:t>        "title": "사용자 확인",</a:t>
            </a:r>
          </a:p>
          <a:p xmlns:a="http://schemas.openxmlformats.org/drawingml/2006/main">
            <a:r>
              <a:t>        "input": "신청 필드",</a:t>
            </a:r>
          </a:p>
          <a:p xmlns:a="http://schemas.openxmlformats.org/drawingml/2006/main">
            <a:r>
              <a:t>        "process": "필수 필드 재확인·멱등성·상태 대사",</a:t>
            </a:r>
          </a:p>
          <a:p xmlns:a="http://schemas.openxmlformats.org/drawingml/2006/main">
            <a:r>
              <a:t>        "output": "확인된 초안"</a:t>
            </a:r>
          </a:p>
          <a:p xmlns:a="http://schemas.openxmlformats.org/drawingml/2006/main">
            <a:r>
              <a:t>      },</a:t>
            </a:r>
          </a:p>
          <a:p xmlns:a="http://schemas.openxmlformats.org/drawingml/2006/main">
            <a:r>
              <a:t>      {</a:t>
            </a:r>
          </a:p>
          <a:p xmlns:a="http://schemas.openxmlformats.org/drawingml/2006/main">
            <a:r>
              <a:t>        "title": "MIS·결재 연계",</a:t>
            </a:r>
          </a:p>
          <a:p xmlns:a="http://schemas.openxmlformats.org/drawingml/2006/main">
            <a:r>
              <a:t>        "input": "확인된 초안",</a:t>
            </a:r>
          </a:p>
          <a:p xmlns:a="http://schemas.openxmlformats.org/drawingml/2006/main">
            <a:r>
              <a:t>        "process": "신규 MIS API로 기안·상신·처리 결과 확인",</a:t>
            </a:r>
          </a:p>
          <a:p xmlns:a="http://schemas.openxmlformats.org/drawingml/2006/main">
            <a:r>
              <a:t>        "output": "접수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"출장 목적·기간·장소를 말하고 확인 후 기안·상신",</a:t>
            </a:r>
          </a:p>
          <a:p xmlns:a="http://schemas.openxmlformats.org/drawingml/2006/main">
            <a:r>
              <a:t>      "exception": "날짜 오인식·필수 항목 누락·API 재시도·취소",</a:t>
            </a:r>
          </a:p>
          <a:p xmlns:a="http://schemas.openxmlformats.org/drawingml/2006/main">
            <a:r>
              <a:t>      "evidence": "확인 전 실행 차단·중복 방지·MIS 접수 상태 대사",</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"직원·결재자·MIS 운영자",</a:t>
            </a:r>
          </a:p>
          <a:p xmlns:a="http://schemas.openxmlformats.org/drawingml/2006/main">
            <a:r>
              <a:t>          "processing": "음성/텍스트 입력과 조직·직무·권한 확인",</a:t>
            </a:r>
          </a:p>
          <a:p xmlns:a="http://schemas.openxmlformats.org/drawingml/2006/main">
            <a:r>
              <a:t>          "output": "원 발화"</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"신청 초안·처리 상태",</a:t>
            </a:r>
          </a:p>
          <a:p xmlns:a="http://schemas.openxmlformats.org/drawingml/2006/main">
            <a:r>
              <a:t>          "processing": "인사·근태·잔여연차·서식 데이터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"원 발화",</a:t>
            </a:r>
          </a:p>
          <a:p xmlns:a="http://schemas.openxmlformats.org/drawingml/2006/main">
            <a:r>
              <a:t>          "processing": "STT·NLU의 의도·날짜·항목 추출 및 확인",</a:t>
            </a:r>
          </a:p>
          <a:p xmlns:a="http://schemas.openxmlformats.org/drawingml/2006/main">
            <a:r>
              <a:t>          "output": "확인된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"확인된 초안",</a:t>
            </a:r>
          </a:p>
          <a:p xmlns:a="http://schemas.openxmlformats.org/drawingml/2006/main">
            <a:r>
              <a:t>          "processing": "신규 MIS API로 기안·상신·처리 결과 확인",</a:t>
            </a:r>
          </a:p>
          <a:p xmlns:a="http://schemas.openxmlformats.org/drawingml/2006/main">
            <a:r>
              <a:t>          "output": "접수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"수정·취소·재시도 상태의 원천 대사",</a:t>
            </a:r>
          </a:p>
          <a:p xmlns:a="http://schemas.openxmlformats.org/drawingml/2006/main">
            <a:r>
              <a:t>          "output": "확인 전 실행 차단·중복 방지·MIS 접수 상태 대사"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"수정·취소·재시도 상태의 원천 대사",</a:t>
            </a:r>
          </a:p>
          <a:p xmlns:a="http://schemas.openxmlformats.org/drawingml/2006/main">
            <a:r>
              <a:t>    "status": "RFP 기반 논리 설계",</a:t>
            </a:r>
          </a:p>
          <a:p xmlns:a="http://schemas.openxmlformats.org/drawingml/2006/main">
            <a:r>
              <a:t>    "basis": "RFP · FUR-001~009·TER-005",</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"FUR-001~009, PER-001~002, TER-005 / Word T071",</a:t>
            </a:r>
          </a:p>
          <a:p xmlns:a="http://schemas.openxmlformats.org/drawingml/2006/main">
            <a:r>
              <a:t>        "url": "https://www.g2b.go.kr/pn/pnp/pnpe/UntyAtchFile/downloadFile.do?bidPbancNo=R26BK01719764&amp;bidPbancOrd=000&amp;fileSeq=4&amp;fileType=&amp;prcmBsneSeCd=03"</a:t>
            </a:r>
          </a:p>
          <a:p xmlns:a="http://schemas.openxmlformats.org/drawingml/2006/main">
            <a:r>
              <a:t>      }</a:t>
            </a:r>
          </a:p>
          <a:p xmlns:a="http://schemas.openxmlformats.org/drawingml/2006/main">
            <a:r>
              <a:t>    ],</a:t>
            </a:r>
          </a:p>
          <a:p xmlns:a="http://schemas.openxmlformats.org/drawingml/2006/main">
            <a:r>
              <a:t>    "implication": "사용자 확인·전결·접수 결과까지 추적하는 자연어 업무 실행",</a:t>
            </a:r>
          </a:p>
          <a:p xmlns:a="http://schemas.openxmlformats.org/drawingml/2006/main">
            <a:r>
              <a:t>    "local": "사용자 확인·전결·접수 결과까지 추적하는 자연어 업무 실행",</a:t>
            </a:r>
          </a:p>
          <a:p xmlns:a="http://schemas.openxmlformats.org/drawingml/2006/main">
            <a:r>
              <a:t>    "sourceDetail": "STT→의도·필드 추출→사용자 확인→MIS API 신규개발→기안·상신; 조직·직무·권한 기반 결재선",</a:t>
            </a:r>
          </a:p>
          <a:p xmlns:a="http://schemas.openxmlformats.org/drawingml/2006/main">
            <a:r>
              <a:t>    "narrative": [</a:t>
            </a:r>
          </a:p>
          <a:p xmlns:a="http://schemas.openxmlformats.org/drawingml/2006/main">
            <a:r>
              <a:t>      "휴가·출장 등 행정업무를 음성·텍스트 요청에서 시작해 MIS와 전자결재까지 연결하는 사업. 기존 서식·데이터 생성 로직이 MIS에 있고 AI·모바일 호출용 API가 없다는 연계 제약을 RFP에 명시.",</a:t>
            </a:r>
          </a:p>
          <a:p xmlns:a="http://schemas.openxmlformats.org/drawingml/2006/main">
            <a:r>
              <a:t>      "발화의 STT 변환, NLU 의도·개체 추출, 필수 항목 검증, 사용자 확인, MIS 서식 생성, 결재선 추천, 상신·상태 조회를 구분하는 처리 구조. FUR-009의 신규 API는 서식 메타데이터, 잔여연차·근태 조회, 업무규칙 검증, 전자결재 상신을 포함하는 범위.",</a:t>
            </a:r>
          </a:p>
          <a:p xmlns:a="http://schemas.openxmlformats.org/drawingml/2006/main">
            <a:r>
              <a:t>      "AI 모델 정확도 외에 실제 업무 시스템의 접수 상태까지 확인해야 하는 사례. 같은 요청의 재시도, 날짜 수정, 결재선 변경, 상신 후 취소를 검수 시나리오로 분리할 필요. CCK 재사용 도구와 별개로 TS 기간계 API 개발·멱등성·상태 대사를 추가 범위로 산정."</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"FUR-001",</a:t>
            </a:r>
          </a:p>
          <a:p xmlns:a="http://schemas.openxmlformats.org/drawingml/2006/main">
            <a:r>
              <a:t>        "title": "음성 인식(STT) 기반 입력 처리",</a:t>
            </a:r>
          </a:p>
          <a:p xmlns:a="http://schemas.openxmlformats.org/drawingml/2006/main">
            <a:r>
              <a:t>        "locator": "FUR-001",</a:t>
            </a:r>
          </a:p>
          <a:p xmlns:a="http://schemas.openxmlformats.org/drawingml/2006/main">
            <a:r>
              <a:t>        "summary": "음성 발화를 행정 요청의 텍스트 입력으로 변환하는 STT 기능.",</a:t>
            </a:r>
          </a:p>
          <a:p xmlns:a="http://schemas.openxmlformats.org/drawingml/2006/main">
            <a:r>
              <a:t>        "data": "업무 발화·음성 → 전사문",</a:t>
            </a:r>
          </a:p>
          <a:p xmlns:a="http://schemas.openxmlformats.org/drawingml/2006/main">
            <a:r>
              <a:t>        "components": [</a:t>
            </a:r>
          </a:p>
          <a:p xmlns:a="http://schemas.openxmlformats.org/drawingml/2006/main">
            <a:r>
              <a:t>          "C01",</a:t>
            </a:r>
          </a:p>
          <a:p xmlns:a="http://schemas.openxmlformats.org/drawingml/2006/main">
            <a:r>
              <a:t>          "C04"</a:t>
            </a:r>
          </a:p>
          <a:p xmlns:a="http://schemas.openxmlformats.org/drawingml/2006/main">
            <a:r>
              <a:t>        ],</a:t>
            </a:r>
          </a:p>
          <a:p xmlns:a="http://schemas.openxmlformats.org/drawingml/2006/main">
            <a:r>
              <a:t>        "acceptance": "잡음·기관 고유어·날짜·숫자·수정 발화의 전사 결과를 정답과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"4b2d797a440d1d6fbec4f86d7f517404bd7f1e493f405d7d9f79cd20481e3cbd"</a:t>
            </a:r>
          </a:p>
          <a:p xmlns:a="http://schemas.openxmlformats.org/drawingml/2006/main">
            <a:r>
              <a:t>      },</a:t>
            </a:r>
          </a:p>
          <a:p xmlns:a="http://schemas.openxmlformats.org/drawingml/2006/main">
            <a:r>
              <a:t>      {</a:t>
            </a:r>
          </a:p>
          <a:p xmlns:a="http://schemas.openxmlformats.org/drawingml/2006/main">
            <a:r>
              <a:t>        "id": "FUR-002",</a:t>
            </a:r>
          </a:p>
          <a:p xmlns:a="http://schemas.openxmlformats.org/drawingml/2006/main">
            <a:r>
              <a:t>        "title": "자연어 이해(NLU) 및 사용자 의도 분석",</a:t>
            </a:r>
          </a:p>
          <a:p xmlns:a="http://schemas.openxmlformats.org/drawingml/2006/main">
            <a:r>
              <a:t>        "locator": "FUR-002",</a:t>
            </a:r>
          </a:p>
          <a:p xmlns:a="http://schemas.openxmlformats.org/drawingml/2006/main">
            <a:r>
              <a:t>        "summary": "전사·텍스트에서 사용자의 의도와 업무에 필요한 항목을 식별하는 NLU 기능.",</a:t>
            </a:r>
          </a:p>
          <a:p xmlns:a="http://schemas.openxmlformats.org/drawingml/2006/main">
            <a:r>
              <a:t>        "data": "발화·직원 문맥 → 업무 유형·필수 항목",</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a:t>
            </a:r>
          </a:p>
          <a:p xmlns:a="http://schemas.openxmlformats.org/drawingml/2006/main">
            <a:r>
              <a:t>        "acceptance": "휴가·출장·복명 의도 혼동, 날짜 누락, 정정 발화 처리의 슬롯별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"2b5b33f9ad0c0b4d3f13c4f96f1446464cdcaabdd131ab4dde7eaac0671edc6a"</a:t>
            </a:r>
          </a:p>
          <a:p xmlns:a="http://schemas.openxmlformats.org/drawingml/2006/main">
            <a:r>
              <a:t>      },</a:t>
            </a:r>
          </a:p>
          <a:p xmlns:a="http://schemas.openxmlformats.org/drawingml/2006/main">
            <a:r>
              <a:t>      {</a:t>
            </a:r>
          </a:p>
          <a:p xmlns:a="http://schemas.openxmlformats.org/drawingml/2006/main">
            <a:r>
              <a:t>        "id": "FUR-003",</a:t>
            </a:r>
          </a:p>
          <a:p xmlns:a="http://schemas.openxmlformats.org/drawingml/2006/main">
            <a:r>
              <a:t>        "title": "지능형 업무 자동화 엔진",</a:t>
            </a:r>
          </a:p>
          <a:p xmlns:a="http://schemas.openxmlformats.org/drawingml/2006/main">
            <a:r>
              <a:t>        "locator": "FUR-003",</a:t>
            </a:r>
          </a:p>
          <a:p xmlns:a="http://schemas.openxmlformats.org/drawingml/2006/main">
            <a:r>
              <a:t>        "summary": "식별한 의도를 업무자동화 절차로 연결하는 실행 엔진.",</a:t>
            </a:r>
          </a:p>
          <a:p xmlns:a="http://schemas.openxmlformats.org/drawingml/2006/main">
            <a:r>
              <a:t>        "data": "의도·입력 항목 → 실행 절차·진행 상태",</a:t>
            </a:r>
          </a:p>
          <a:p xmlns:a="http://schemas.openxmlformats.org/drawingml/2006/main">
            <a:r>
              <a:t>        "components": [</a:t>
            </a:r>
          </a:p>
          <a:p xmlns:a="http://schemas.openxmlformats.org/drawingml/2006/main">
            <a:r>
              <a:t>          "C04",</a:t>
            </a:r>
          </a:p>
          <a:p xmlns:a="http://schemas.openxmlformats.org/drawingml/2006/main">
            <a:r>
              <a:t>          "C05",</a:t>
            </a:r>
          </a:p>
          <a:p xmlns:a="http://schemas.openxmlformats.org/drawingml/2006/main">
            <a:r>
              <a:t>          "C07"</a:t>
            </a:r>
          </a:p>
          <a:p xmlns:a="http://schemas.openxmlformats.org/drawingml/2006/main">
            <a:r>
              <a:t>        ],</a:t>
            </a:r>
          </a:p>
          <a:p xmlns:a="http://schemas.openxmlformats.org/drawingml/2006/main">
            <a:r>
              <a:t>        "acceptance": "필수값 누락·비허용 업무·중간 실패 조건의 실행 보류와 재개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"f810450f2d482dea56dce3c7164eae2c0fc1681561e11d1fd64a9f19546747d3"</a:t>
            </a:r>
          </a:p>
          <a:p xmlns:a="http://schemas.openxmlformats.org/drawingml/2006/main">
            <a:r>
              <a:t>      },</a:t>
            </a:r>
          </a:p>
          <a:p xmlns:a="http://schemas.openxmlformats.org/drawingml/2006/main">
            <a:r>
              <a:t>      {</a:t>
            </a:r>
          </a:p>
          <a:p xmlns:a="http://schemas.openxmlformats.org/drawingml/2006/main">
            <a:r>
              <a:t>        "id": "FUR-004",</a:t>
            </a:r>
          </a:p>
          <a:p xmlns:a="http://schemas.openxmlformats.org/drawingml/2006/main">
            <a:r>
              <a:t>        "title": "행정서식 생성(MIS)·전자결재 연동 및 결재선 자동 추천",</a:t>
            </a:r>
          </a:p>
          <a:p xmlns:a="http://schemas.openxmlformats.org/drawingml/2006/main">
            <a:r>
              <a:t>        "locator": "FUR-004",</a:t>
            </a:r>
          </a:p>
          <a:p xmlns:a="http://schemas.openxmlformats.org/drawingml/2006/main">
            <a:r>
              <a:t>        "summary": "MIS 행정서식 생성과 전자결재·결재선 연계.",</a:t>
            </a:r>
          </a:p>
          <a:p xmlns:a="http://schemas.openxmlformats.org/drawingml/2006/main">
            <a:r>
              <a:t>        "data": "직원·업무 데이터 → 신청서·결재선·접수 결과",</a:t>
            </a:r>
          </a:p>
          <a:p xmlns:a="http://schemas.openxmlformats.org/drawingml/2006/main">
            <a:r>
              <a:t>        "components": [</a:t>
            </a:r>
          </a:p>
          <a:p xmlns:a="http://schemas.openxmlformats.org/drawingml/2006/main">
            <a:r>
              <a:t>          "C04",</a:t>
            </a:r>
          </a:p>
          <a:p xmlns:a="http://schemas.openxmlformats.org/drawingml/2006/main">
            <a:r>
              <a:t>          "C06",</a:t>
            </a:r>
          </a:p>
          <a:p xmlns:a="http://schemas.openxmlformats.org/drawingml/2006/main">
            <a:r>
              <a:t>          "C07"</a:t>
            </a:r>
          </a:p>
          <a:p xmlns:a="http://schemas.openxmlformats.org/drawingml/2006/main">
            <a:r>
              <a:t>        ],</a:t>
            </a:r>
          </a:p>
          <a:p xmlns:a="http://schemas.openxmlformats.org/drawingml/2006/main">
            <a:r>
              <a:t>        "acceptance": "다른 직원의 결재선, 수정 전 날짜, 중복 신청을 포함해 확인 화면과 최종 등록값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"4f1ec6fe0d7a56356478c8dfabb91a772fd9c787cec611102d2b41d2bf087f45"</a:t>
            </a:r>
          </a:p>
          <a:p xmlns:a="http://schemas.openxmlformats.org/drawingml/2006/main">
            <a:r>
              <a:t>      },</a:t>
            </a:r>
          </a:p>
          <a:p xmlns:a="http://schemas.openxmlformats.org/drawingml/2006/main">
            <a:r>
              <a:t>      {</a:t>
            </a:r>
          </a:p>
          <a:p xmlns:a="http://schemas.openxmlformats.org/drawingml/2006/main">
            <a:r>
              <a:t>        "id": "FUR-007",</a:t>
            </a:r>
          </a:p>
          <a:p xmlns:a="http://schemas.openxmlformats.org/drawingml/2006/main">
            <a:r>
              <a:t>        "title": "그룹웨어·기간계 시스템 연계",</a:t>
            </a:r>
          </a:p>
          <a:p xmlns:a="http://schemas.openxmlformats.org/drawingml/2006/main">
            <a:r>
              <a:t>        "locator": "FUR-007",</a:t>
            </a:r>
          </a:p>
          <a:p xmlns:a="http://schemas.openxmlformats.org/drawingml/2006/main">
            <a:r>
              <a:t>        "summary": "그룹웨어·기간계와 연계해 요청 및 처리 결과를 교환하는 기능.",</a:t>
            </a:r>
          </a:p>
          <a:p xmlns:a="http://schemas.openxmlformats.org/drawingml/2006/main">
            <a:r>
              <a:t>        "data": "업무 요청·시스템 식별정보 → 처리 결과·상태",</a:t>
            </a:r>
          </a:p>
          <a:p xmlns:a="http://schemas.openxmlformats.org/drawingml/2006/main">
            <a:r>
              <a:t>        "components": [</a:t>
            </a:r>
          </a:p>
          <a:p xmlns:a="http://schemas.openxmlformats.org/drawingml/2006/main">
            <a:r>
              <a:t>          "C02",</a:t>
            </a:r>
          </a:p>
          <a:p xmlns:a="http://schemas.openxmlformats.org/drawingml/2006/main">
            <a:r>
              <a:t>          "C07",</a:t>
            </a:r>
          </a:p>
          <a:p xmlns:a="http://schemas.openxmlformats.org/drawingml/2006/main">
            <a:r>
              <a:t>          "C08"</a:t>
            </a:r>
          </a:p>
          <a:p xmlns:a="http://schemas.openxmlformats.org/drawingml/2006/main">
            <a:r>
              <a:t>        ],</a:t>
            </a:r>
          </a:p>
          <a:p xmlns:a="http://schemas.openxmlformats.org/drawingml/2006/main">
            <a:r>
              <a:t>        "acceptance": "인증 만료·연계 장애·응답 지연 시 실제 등록 상태와 사용자 안내의 일치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"248a2a097858bb82f76df87facd2135704aa4354594d82248b40def47a25d3f5"</a:t>
            </a:r>
          </a:p>
          <a:p xmlns:a="http://schemas.openxmlformats.org/drawingml/2006/main">
            <a:r>
              <a:t>      },</a:t>
            </a:r>
          </a:p>
          <a:p xmlns:a="http://schemas.openxmlformats.org/drawingml/2006/main">
            <a:r>
              <a:t>      {</a:t>
            </a:r>
          </a:p>
          <a:p xmlns:a="http://schemas.openxmlformats.org/drawingml/2006/main">
            <a:r>
              <a:t>        "id": "FUR-009",</a:t>
            </a:r>
          </a:p>
          <a:p xmlns:a="http://schemas.openxmlformats.org/drawingml/2006/main">
            <a:r>
              <a:t>        "title": "통합경영정보시스템(MIS) 행정업무 API 개발",</a:t>
            </a:r>
          </a:p>
          <a:p xmlns:a="http://schemas.openxmlformats.org/drawingml/2006/main">
            <a:r>
              <a:t>        "locator": "FUR-009",</a:t>
            </a:r>
          </a:p>
          <a:p xmlns:a="http://schemas.openxmlformats.org/drawingml/2006/main">
            <a:r>
              <a:t>        "summary": "자연어 행정 서비스에 필요한 MIS 업무 API의 신규 개발.",</a:t>
            </a:r>
          </a:p>
          <a:p xmlns:a="http://schemas.openxmlformats.org/drawingml/2006/main">
            <a:r>
              <a:t>        "data": "구조화 행정 요청 → MIS 생성·조회 결과",</a:t>
            </a:r>
          </a:p>
          <a:p xmlns:a="http://schemas.openxmlformats.org/drawingml/2006/main">
            <a:r>
              <a:t>        "components": [</a:t>
            </a:r>
          </a:p>
          <a:p xmlns:a="http://schemas.openxmlformats.org/drawingml/2006/main">
            <a:r>
              <a:t>          "C07"</a:t>
            </a:r>
          </a:p>
          <a:p xmlns:a="http://schemas.openxmlformats.org/drawingml/2006/main">
            <a:r>
              <a:t>        ],</a:t>
            </a:r>
          </a:p>
          <a:p xmlns:a="http://schemas.openxmlformats.org/drawingml/2006/main">
            <a:r>
              <a:t>        "acceptance": "필수 인자·권한·중복 요청·취소 가능 상태를 API 계약 및 실제 데이터와 대조",</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"8a445db50ff666bd64f8ff0b7745693eaefce5e0df8153d8c59102304c330829"</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"음성·텍스트 입력",</a:t>
            </a:r>
          </a:p>
          <a:p xmlns:a="http://schemas.openxmlformats.org/drawingml/2006/main">
            <a:r>
              <a:t>          "layer": "이용 접점",</a:t>
            </a:r>
          </a:p>
          <a:p xmlns:a="http://schemas.openxmlformats.org/drawingml/2006/main">
            <a:r>
              <a:t>          "detail": "직원·결재자·MIS 운영자",</a:t>
            </a:r>
          </a:p>
          <a:p xmlns:a="http://schemas.openxmlformats.org/drawingml/2006/main">
            <a:r>
              <a:t>          "requirements": [</a:t>
            </a:r>
          </a:p>
          <a:p xmlns:a="http://schemas.openxmlformats.org/drawingml/2006/main">
            <a:r>
              <a:t>            "FUR-001"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"직원·조직·직무",</a:t>
            </a:r>
          </a:p>
          <a:p xmlns:a="http://schemas.openxmlformats.org/drawingml/2006/main">
            <a:r>
              <a:t>          "layer": "업무 문맥",</a:t>
            </a:r>
          </a:p>
          <a:p xmlns:a="http://schemas.openxmlformats.org/drawingml/2006/main">
            <a:r>
              <a:t>          "detail": "음성/텍스트 입력과 조직·직무·권한 확인",</a:t>
            </a:r>
          </a:p>
          <a:p xmlns:a="http://schemas.openxmlformats.org/drawingml/2006/main">
            <a:r>
              <a:t>          "requirements": [</a:t>
            </a:r>
          </a:p>
          <a:p xmlns:a="http://schemas.openxmlformats.org/drawingml/2006/main">
            <a:r>
              <a:t>            "FUR-002",</a:t>
            </a:r>
          </a:p>
          <a:p xmlns:a="http://schemas.openxmlformats.org/drawingml/2006/main">
            <a:r>
              <a:t>            "FUR-007"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"근태·서식 조회",</a:t>
            </a:r>
          </a:p>
          <a:p xmlns:a="http://schemas.openxmlformats.org/drawingml/2006/main">
            <a:r>
              <a:t>          "layer": "자료 조회",</a:t>
            </a:r>
          </a:p>
          <a:p xmlns:a="http://schemas.openxmlformats.org/drawingml/2006/main">
            <a:r>
              <a:t>          "detail": "원 발화",</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"STT·의도·필드 추출",</a:t>
            </a:r>
          </a:p>
          <a:p xmlns:a="http://schemas.openxmlformats.org/drawingml/2006/main">
            <a:r>
              <a:t>          "layer": "핵심 처리",</a:t>
            </a:r>
          </a:p>
          <a:p xmlns:a="http://schemas.openxmlformats.org/drawingml/2006/main">
            <a:r>
              <a:t>          "detail": "STT·NLU의 의도·날짜·항목 추출 및 확인",</a:t>
            </a:r>
          </a:p>
          <a:p xmlns:a="http://schemas.openxmlformats.org/drawingml/2006/main">
            <a:r>
              <a:t>          "requirements": [</a:t>
            </a:r>
          </a:p>
          <a:p xmlns:a="http://schemas.openxmlformats.org/drawingml/2006/main">
            <a:r>
              <a:t>            "FUR-001",</a:t>
            </a:r>
          </a:p>
          <a:p xmlns:a="http://schemas.openxmlformats.org/drawingml/2006/main">
            <a:r>
              <a:t>            "FUR-002",</a:t>
            </a:r>
          </a:p>
          <a:p xmlns:a="http://schemas.openxmlformats.org/drawingml/2006/main">
            <a:r>
              <a:t>            "FUR-003",</a:t>
            </a:r>
          </a:p>
          <a:p xmlns:a="http://schemas.openxmlformats.org/drawingml/2006/main">
            <a:r>
              <a:t>            "FUR-004"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"날짜·필수값 검사",</a:t>
            </a:r>
          </a:p>
          <a:p xmlns:a="http://schemas.openxmlformats.org/drawingml/2006/main">
            <a:r>
              <a:t>          "layer": "결과 검증",</a:t>
            </a:r>
          </a:p>
          <a:p xmlns:a="http://schemas.openxmlformats.org/drawingml/2006/main">
            <a:r>
              <a:t>          "detail": "필수 필드 재확인·멱등성·상태 대사",</a:t>
            </a:r>
          </a:p>
          <a:p xmlns:a="http://schemas.openxmlformats.org/drawingml/2006/main">
            <a:r>
              <a:t>          "requirements": [</a:t>
            </a:r>
          </a:p>
          <a:p xmlns:a="http://schemas.openxmlformats.org/drawingml/2006/main">
            <a:r>
              <a:t>            "FUR-003"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"사용자 최종 확인",</a:t>
            </a:r>
          </a:p>
          <a:p xmlns:a="http://schemas.openxmlformats.org/drawingml/2006/main">
            <a:r>
              <a:t>          "layer": "사람 확인",</a:t>
            </a:r>
          </a:p>
          <a:p xmlns:a="http://schemas.openxmlformats.org/drawingml/2006/main">
            <a:r>
              <a:t>          "detail": "출장 목적·기간·장소를 말하고 확인 후 기안·상신",</a:t>
            </a:r>
          </a:p>
          <a:p xmlns:a="http://schemas.openxmlformats.org/drawingml/2006/main">
            <a:r>
              <a:t>          "requirements": [</a:t>
            </a:r>
          </a:p>
          <a:p xmlns:a="http://schemas.openxmlformats.org/drawingml/2006/main">
            <a:r>
              <a:t>            "FUR-004"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"신규 MIS API·상신",</a:t>
            </a:r>
          </a:p>
          <a:p xmlns:a="http://schemas.openxmlformats.org/drawingml/2006/main">
            <a:r>
              <a:t>          "layer": "업무 연결",</a:t>
            </a:r>
          </a:p>
          <a:p xmlns:a="http://schemas.openxmlformats.org/drawingml/2006/main">
            <a:r>
              <a:t>          "detail": "신규 MIS API로 기안·상신·처리 결과 확인",</a:t>
            </a:r>
          </a:p>
          <a:p xmlns:a="http://schemas.openxmlformats.org/drawingml/2006/main">
            <a:r>
              <a:t>          "requirements": [</a:t>
            </a:r>
          </a:p>
          <a:p xmlns:a="http://schemas.openxmlformats.org/drawingml/2006/main">
            <a:r>
              <a:t>            "FUR-003",</a:t>
            </a:r>
          </a:p>
          <a:p xmlns:a="http://schemas.openxmlformats.org/drawingml/2006/main">
            <a:r>
              <a:t>            "FUR-004",</a:t>
            </a:r>
          </a:p>
          <a:p xmlns:a="http://schemas.openxmlformats.org/drawingml/2006/main">
            <a:r>
              <a:t>            "FUR-007",</a:t>
            </a:r>
          </a:p>
          <a:p xmlns:a="http://schemas.openxmlformats.org/drawingml/2006/main">
            <a:r>
              <a:t>            "FUR-009"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"취소·중복 대사",</a:t>
            </a:r>
          </a:p>
          <a:p xmlns:a="http://schemas.openxmlformats.org/drawingml/2006/main">
            <a:r>
              <a:t>          "layer": "운영 관측",</a:t>
            </a:r>
          </a:p>
          <a:p xmlns:a="http://schemas.openxmlformats.org/drawingml/2006/main">
            <a:r>
              <a:t>          "detail": "수정·취소·재시도 상태의 원천 대사",</a:t>
            </a:r>
          </a:p>
          <a:p xmlns:a="http://schemas.openxmlformats.org/drawingml/2006/main">
            <a:r>
              <a:t>          "requirements": [</a:t>
            </a:r>
          </a:p>
          <a:p xmlns:a="http://schemas.openxmlformats.org/drawingml/2006/main">
            <a:r>
              <a:t>            "FUR-007"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"인사·근태·결재선",</a:t>
            </a:r>
          </a:p>
          <a:p xmlns:a="http://schemas.openxmlformats.org/drawingml/2006/main">
            <a:r>
              <a:t>          "layer": "데이터 원천",</a:t>
            </a:r>
          </a:p>
          <a:p xmlns:a="http://schemas.openxmlformats.org/drawingml/2006/main">
            <a:r>
              <a:t>          "detail": "신청 초안·처리 상태",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"필드·서식 정합화",</a:t>
            </a:r>
          </a:p>
          <a:p xmlns:a="http://schemas.openxmlformats.org/drawingml/2006/main">
            <a:r>
              <a:t>          "layer": "준비·갱신",</a:t>
            </a:r>
          </a:p>
          <a:p xmlns:a="http://schemas.openxmlformats.org/drawingml/2006/main">
            <a:r>
              <a:t>          "detail": "인사·근태·잔여연차·서식 데이터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"신청 초안·접수 상태",</a:t>
            </a:r>
          </a:p>
          <a:p xmlns:a="http://schemas.openxmlformats.org/drawingml/2006/main">
            <a:r>
              <a:t>          "layer": "상태·지식 저장",</a:t>
            </a:r>
          </a:p>
          <a:p xmlns:a="http://schemas.openxmlformats.org/drawingml/2006/main">
            <a:r>
              <a:t>          "detail": "확인 전 실행 차단·중복 방지·MIS 접수 상태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"업무·실행 권한",</a:t>
            </a:r>
          </a:p>
          <a:p xmlns:a="http://schemas.openxmlformats.org/drawingml/2006/main">
            <a:r>
              <a:t>          "layer": "권한·정책",</a:t>
            </a:r>
          </a:p>
          <a:p xmlns:a="http://schemas.openxmlformats.org/drawingml/2006/main">
            <a:r>
              <a:t>          "detail": "날짜 오인식·필수 항목 누락·API 재시도·취소",</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"음성/텍스트 입력과 조직·직무·권한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"원 발화",</a:t>
            </a:r>
          </a:p>
          <a:p xmlns:a="http://schemas.openxmlformats.org/drawingml/2006/main">
            <a:r>
              <a:t>          "check": "필수 필드 재확인·멱등성·상태 대사"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"신청 필드",</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"확인된 초안",</a:t>
            </a:r>
          </a:p>
          <a:p xmlns:a="http://schemas.openxmlformats.org/drawingml/2006/main">
            <a:r>
              <a:t>          "check": "날짜 오인식·필수 항목 누락·API 재시도·취소"</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"확인된 초안",</a:t>
            </a:r>
          </a:p>
          <a:p xmlns:a="http://schemas.openxmlformats.org/drawingml/2006/main">
            <a:r>
              <a:t>          "check": "신규 MIS API로 기안·상신·처리 결과 확인"</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"접수 결과",</a:t>
            </a:r>
          </a:p>
          <a:p xmlns:a="http://schemas.openxmlformats.org/drawingml/2006/main">
            <a:r>
              <a:t>          "check": "확인 전 실행 차단·중복 방지·MIS 접수 상태 대사"</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"FUR-001~009·TER-005",</a:t>
            </a:r>
          </a:p>
          <a:p xmlns:a="http://schemas.openxmlformats.org/drawingml/2006/main">
            <a:r>
              <a:t>        "extracted": "STT·NLU, 사용자 확인, MIS API 신규 구축·전자결재 연결",</a:t>
            </a:r>
          </a:p>
          <a:p xmlns:a="http://schemas.openxmlformats.org/drawingml/2006/main">
            <a:r>
              <a:t>        "extension": "중복 요청 식별·취소 후 상태 대사·결재선 효력일 검사"</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"PF-R06",</a:t>
            </a:r>
          </a:p>
          <a:p xmlns:a="http://schemas.openxmlformats.org/drawingml/2006/main">
            <a:r>
              <a:t>          "path": "assets/casebook-sources/PF-R06-01.png",</a:t>
            </a:r>
          </a:p>
          <a:p xmlns:a="http://schemas.openxmlformats.org/drawingml/2006/main">
            <a:r>
              <a:t>          "title": "철도기술연구원 업무시스템",</a:t>
            </a:r>
          </a:p>
          <a:p xmlns:a="http://schemas.openxmlformats.org/drawingml/2006/main">
            <a:r>
              <a:t>          "status": "RFP 수록 기존 시스템 구성",</a:t>
            </a:r>
          </a:p>
          <a:p xmlns:a="http://schemas.openxmlformats.org/drawingml/2006/main">
            <a:r>
              <a:t>          "caption": "협업 포털·통합경영정보·전자결재·외부 연계 현황",</a:t>
            </a:r>
          </a:p>
          <a:p xmlns:a="http://schemas.openxmlformats.org/drawingml/2006/main">
            <a:r>
              <a:t>          "locator": "rId18 / BinData/image1_bmp",</a:t>
            </a:r>
          </a:p>
          <a:p xmlns:a="http://schemas.openxmlformats.org/drawingml/2006/main">
            <a:r>
              <a:t>          "checked": "2026-10-16",</a:t>
            </a:r>
          </a:p>
          <a:p xmlns:a="http://schemas.openxmlformats.org/drawingml/2006/main">
            <a:r>
              <a:t>          "sha256": "419b833abe927fb60c98c0b17c83b79039658d9fc8f1bf2295db634a55a2c424",</a:t>
            </a:r>
          </a:p>
          <a:p xmlns:a="http://schemas.openxmlformats.org/drawingml/2006/main">
            <a:r>
              <a:t>          "explanation": {</a:t>
            </a:r>
          </a:p>
          <a:p xmlns:a="http://schemas.openxmlformats.org/drawingml/2006/main">
            <a:r>
              <a:t>            "read": "포털·MIS·전자결재의 기존 정보시스템 구성. 음성 AI의 신규 배치가 아니라 행정 요청을 실제 처리할 기간계와 결재 경로의 현황을 설명하는 도면.",</a:t>
            </a:r>
          </a:p>
          <a:p xmlns:a="http://schemas.openxmlformats.org/drawingml/2006/main">
            <a:r>
              <a:t>            "requirements": [</a:t>
            </a:r>
          </a:p>
          <a:p xmlns:a="http://schemas.openxmlformats.org/drawingml/2006/main">
            <a:r>
              <a:t>              "FUR-003",</a:t>
            </a:r>
          </a:p>
          <a:p xmlns:a="http://schemas.openxmlformats.org/drawingml/2006/main">
            <a:r>
              <a:t>              "FUR-004",</a:t>
            </a:r>
          </a:p>
          <a:p xmlns:a="http://schemas.openxmlformats.org/drawingml/2006/main">
            <a:r>
              <a:t>              "FUR-007",</a:t>
            </a:r>
          </a:p>
          <a:p xmlns:a="http://schemas.openxmlformats.org/drawingml/2006/main">
            <a:r>
              <a:t>              "FUR-009"</a:t>
            </a:r>
          </a:p>
          <a:p xmlns:a="http://schemas.openxmlformats.org/drawingml/2006/main">
            <a:r>
              <a:t>            ],</a:t>
            </a:r>
          </a:p>
          <a:p xmlns:a="http://schemas.openxmlformats.org/drawingml/2006/main">
            <a:r>
              <a:t>            "connection": "STT·의도 추출·사용자 확인을 앞단에 추가하고 기존 MIS API·결재선으로 인계하는 재구성. 음성 인식 성공과 업무 등록 성공을 별도 상태로 관리."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"날짜 오인식·필수 항목 누락·API 재시도·취소",</a:t>
            </a:r>
          </a:p>
          <a:p xmlns:a="http://schemas.openxmlformats.org/drawingml/2006/main">
            <a:r>
              <a:t>        "hold": "필수 필드 재확인·멱등성·상태 대사",</a:t>
            </a:r>
          </a:p>
          <a:p xmlns:a="http://schemas.openxmlformats.org/drawingml/2006/main">
            <a:r>
              <a:t>        "recovery": "수정·취소·재시도 상태의 원천 대사",</a:t>
            </a:r>
          </a:p>
          <a:p xmlns:a="http://schemas.openxmlformats.org/drawingml/2006/main">
            <a:r>
              <a:t>        "evidence": "확인 전 실행 차단·중복 방지·MIS 접수 상태 대사"</a:t>
            </a:r>
          </a:p>
          <a:p xmlns:a="http://schemas.openxmlformats.org/drawingml/2006/main">
            <a:r>
              <a:t>      },</a:t>
            </a:r>
          </a:p>
          <a:p xmlns:a="http://schemas.openxmlformats.org/drawingml/2006/main">
            <a:r>
              <a:t>      "data": {</a:t>
            </a:r>
          </a:p>
          <a:p xmlns:a="http://schemas.openxmlformats.org/drawingml/2006/main">
            <a:r>
              <a:t>        "source": "신청 초안·처리 상태",</a:t>
            </a:r>
          </a:p>
          <a:p xmlns:a="http://schemas.openxmlformats.org/drawingml/2006/main">
            <a:r>
              <a:t>        "prepare": "인사·근태·잔여연차·서식 데이터 연결",</a:t>
            </a:r>
          </a:p>
          <a:p xmlns:a="http://schemas.openxmlformats.org/drawingml/2006/main">
            <a:r>
              <a:t>        "output": "원 발화",</a:t>
            </a:r>
          </a:p>
          <a:p xmlns:a="http://schemas.openxmlformats.org/drawingml/2006/main">
            <a:r>
              <a:t>        "refresh": "수정·취소·재시도 상태의 원천 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"PF-R06",</a:t>
            </a:r>
          </a:p>
          <a:p xmlns:a="http://schemas.openxmlformats.org/drawingml/2006/main">
            <a:r>
              <a:t>    "success": [</a:t>
            </a:r>
          </a:p>
          <a:p xmlns:a="http://schemas.openxmlformats.org/drawingml/2006/main">
            <a:r>
              <a:t>      "발화 구조화와 기존 MIS 연결",</a:t>
            </a:r>
          </a:p>
          <a:p xmlns:a="http://schemas.openxmlformats.org/drawingml/2006/main">
            <a:r>
              <a:t>      "실행 전 사용자 확인"</a:t>
            </a:r>
          </a:p>
          <a:p xmlns:a="http://schemas.openxmlformats.org/drawingml/2006/main">
            <a:r>
              <a:t>    ],</a:t>
            </a:r>
          </a:p>
          <a:p xmlns:a="http://schemas.openxmlformats.org/drawingml/2006/main">
            <a:r>
              <a:t>    "risks": [</a:t>
            </a:r>
          </a:p>
          <a:p xmlns:a="http://schemas.openxmlformats.org/drawingml/2006/main">
            <a:r>
              <a:t>      "잘못된 날짜·출장 항목 추출",</a:t>
            </a:r>
          </a:p>
          <a:p xmlns:a="http://schemas.openxmlformats.org/drawingml/2006/main">
            <a:r>
              <a:t>      "재시도에 따른 중복 신청"</a:t>
            </a:r>
          </a:p>
          <a:p xmlns:a="http://schemas.openxmlformats.org/drawingml/2006/main">
            <a:r>
              <a:t>    ],</a:t>
            </a:r>
          </a:p>
          <a:p xmlns:a="http://schemas.openxmlformats.org/drawingml/2006/main">
            <a:r>
              <a:t>    "architecture": [</a:t>
            </a:r>
          </a:p>
          <a:p xmlns:a="http://schemas.openxmlformats.org/drawingml/2006/main">
            <a:r>
              <a:t>      "음성·자연어",</a:t>
            </a:r>
          </a:p>
          <a:p xmlns:a="http://schemas.openxmlformats.org/drawingml/2006/main">
            <a:r>
              <a:t>      "필드 추출·확인",</a:t>
            </a:r>
          </a:p>
          <a:p xmlns:a="http://schemas.openxmlformats.org/drawingml/2006/main">
            <a:r>
              <a:t>      "신청 초안·처리 상태",</a:t>
            </a:r>
          </a:p>
          <a:p xmlns:a="http://schemas.openxmlformats.org/drawingml/2006/main">
            <a:r>
              <a:t>      "MIS·전자결재"</a:t>
            </a:r>
          </a:p>
          <a:p xmlns:a="http://schemas.openxmlformats.org/drawingml/2006/main">
            <a:r>
              <a:t>    ],</a:t>
            </a:r>
          </a:p>
          <a:p xmlns:a="http://schemas.openxmlformats.org/drawingml/2006/main">
            <a:r>
              <a:t>    "transfers": [</a:t>
            </a:r>
          </a:p>
          <a:p xmlns:a="http://schemas.openxmlformats.org/drawingml/2006/main">
            <a:r>
              <a:t>      "원 발화",</a:t>
            </a:r>
          </a:p>
          <a:p xmlns:a="http://schemas.openxmlformats.org/drawingml/2006/main">
            <a:r>
              <a:t>      "신청 필드",</a:t>
            </a:r>
          </a:p>
          <a:p xmlns:a="http://schemas.openxmlformats.org/drawingml/2006/main">
            <a:r>
              <a:t>      "확인된 초안",</a:t>
            </a:r>
          </a:p>
          <a:p xmlns:a="http://schemas.openxmlformats.org/drawingml/2006/main">
            <a:r>
              <a:t>      "접수 결과"</a:t>
            </a:r>
          </a:p>
          <a:p xmlns:a="http://schemas.openxmlformats.org/drawingml/2006/main">
            <a:r>
              <a:t>    ],</a:t>
            </a:r>
          </a:p>
          <a:p xmlns:a="http://schemas.openxmlformats.org/drawingml/2006/main">
            <a:r>
              <a:t>    "control": "필수 필드 재확인·멱등성·상태 대사",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FUR-001~009, PER-001~002, TER-005 / Word T071 https://www.g2b.go.kr/pn/pnp/pnpe/UntyAtchFile/downloadFile.do?bidPbancNo=R26BK01719764&amp;bidPbancOrd=000&amp;fileSeq=4&amp;fileType=&amp;prcmBsneSeCd=03</a:t>
            </a:r>
          </a:p>
          <a:p xmlns:a="http://schemas.openxmlformats.org/drawingml/2006/main">
            <a:r>
              <a:t>홈페이지 https://heen1987-ops.github.io/TS-business-Plan-001/index.html?view=platform-cases&amp;case=PF-R06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"PF-R06",</a:t>
            </a:r>
          </a:p>
          <a:p xmlns:a="http://schemas.openxmlformats.org/drawingml/2006/main">
            <a:r>
              <a:t>    "sourceId": "R06",</a:t>
            </a:r>
          </a:p>
          <a:p xmlns:a="http://schemas.openxmlformats.org/drawingml/2006/main">
            <a:r>
              <a:t>    "title": "철도기술연구원 행정 AI",</a:t>
            </a:r>
          </a:p>
          <a:p xmlns:a="http://schemas.openxmlformats.org/drawingml/2006/main">
            <a:r>
              <a:t>    "region": "국내",</a:t>
            </a:r>
          </a:p>
          <a:p xmlns:a="http://schemas.openxmlformats.org/drawingml/2006/main">
            <a:r>
              <a:t>    "owner": "한국철도기술연구원",</a:t>
            </a:r>
          </a:p>
          <a:p xmlns:a="http://schemas.openxmlformats.org/drawingml/2006/main">
            <a:r>
              <a:t>    "state": "공식 RFP 확인 / 운영·효과 미확인",</a:t>
            </a:r>
          </a:p>
          <a:p xmlns:a="http://schemas.openxmlformats.org/drawingml/2006/main">
            <a:r>
              <a:t>    "period": "기존 원장 확인 2026.10.16",</a:t>
            </a:r>
          </a:p>
          <a:p xmlns:a="http://schemas.openxmlformats.org/drawingml/2006/main">
            <a:r>
              <a:t>    "fact": "음성·자연어로 휴가·출장·복명 신청 후 MIS/전자결재 실행",</a:t>
            </a:r>
          </a:p>
          <a:p xmlns:a="http://schemas.openxmlformats.org/drawingml/2006/main">
            <a:r>
              <a:t>    "limit": "RFP 요구 범위 · MIS API 계층 신규 개발 포함 · 운영 성과와 구분",</a:t>
            </a:r>
          </a:p>
          <a:p xmlns:a="http://schemas.openxmlformats.org/drawingml/2006/main">
            <a:r>
              <a:t>    "nodes": [</a:t>
            </a:r>
          </a:p>
          <a:p xmlns:a="http://schemas.openxmlformats.org/drawingml/2006/main">
            <a:r>
              <a:t>      "음성·자연어",</a:t>
            </a:r>
          </a:p>
          <a:p xmlns:a="http://schemas.openxmlformats.org/drawingml/2006/main">
            <a:r>
              <a:t>      "필드 추출",</a:t>
            </a:r>
          </a:p>
          <a:p xmlns:a="http://schemas.openxmlformats.org/drawingml/2006/main">
            <a:r>
              <a:t>      "사용자 확인",</a:t>
            </a:r>
          </a:p>
          <a:p xmlns:a="http://schemas.openxmlformats.org/drawingml/2006/main">
            <a:r>
              <a:t>      "MIS·결재 연계"</a:t>
            </a:r>
          </a:p>
          <a:p xmlns:a="http://schemas.openxmlformats.org/drawingml/2006/main">
            <a:r>
              <a:t>    ],</a:t>
            </a:r>
          </a:p>
          <a:p xmlns:a="http://schemas.openxmlformats.org/drawingml/2006/main">
            <a:r>
              <a:t>    "apply": "사용자 확인·전결·접수 결과까지 추적하는 자연어 업무 실행",</a:t>
            </a:r>
          </a:p>
          <a:p xmlns:a="http://schemas.openxmlformats.org/drawingml/2006/main">
            <a:r>
              <a:t>    "delta": "발화 필드·확인 화면 / TS 기간계 API 차분 / 전결·취소·재시도 연결",</a:t>
            </a:r>
          </a:p>
          <a:p xmlns:a="http://schemas.openxmlformats.org/drawingml/2006/main">
            <a:r>
              <a:t>    "test": "날짜 오류·중복 전송·취소 시 승인 전 차단·멱등성·원천 상태 대사",</a:t>
            </a:r>
          </a:p>
          <a:p xmlns:a="http://schemas.openxmlformats.org/drawingml/2006/main">
            <a:r>
              <a:t>    "url": "https://www.g2b.go.kr/pn/pnp/pnpe/UntyAtchFile/downloadFile.do?bidPbancNo=R26BK01719764&amp;bidPbancOrd=000&amp;fileSeq=4&amp;fileType=&amp;prcmBsneSeCd=03",</a:t>
            </a:r>
          </a:p>
          <a:p xmlns:a="http://schemas.openxmlformats.org/drawingml/2006/main">
            <a:r>
              <a:t>    "urls": [</a:t>
            </a:r>
          </a:p>
          <a:p xmlns:a="http://schemas.openxmlformats.org/drawingml/2006/main">
            <a:r>
              <a:t>      "https://www.g2b.go.kr/pn/pnp/pnpe/UntyAtchFile/downloadFile.do?bidPbancNo=R26BK01719764&amp;bidPbancOrd=000&amp;fileSeq=4&amp;fileType=&amp;prcmBsneSeCd=03"</a:t>
            </a:r>
          </a:p>
          <a:p xmlns:a="http://schemas.openxmlformats.org/drawingml/2006/main">
            <a:r>
              <a:t>    ],</a:t>
            </a:r>
          </a:p>
          <a:p xmlns:a="http://schemas.openxmlformats.org/drawingml/2006/main">
            <a:r>
              <a:t>    "basis": "FUR-001~009, PER-001~002, TER-005 / Word T071",</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"신청 완료시간 / 재입력률 / 중복·미접수 건수",</a:t>
            </a:r>
          </a:p>
          <a:p xmlns:a="http://schemas.openxmlformats.org/drawingml/2006/main">
            <a:r>
              <a:t>    "group": "요구·구축",</a:t>
            </a:r>
          </a:p>
          <a:p xmlns:a="http://schemas.openxmlformats.org/drawingml/2006/main">
            <a:r>
              <a:t>    "sourceDetail": "STT→의도·필드 추출→사용자 확인→MIS API 신규개발→기안·상신; 조직·직무·권한 기반 결재선",</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"PF-R06",</a:t>
            </a:r>
          </a:p>
          <a:p xmlns:a="http://schemas.openxmlformats.org/drawingml/2006/main">
            <a:r>
              <a:t>    "canonicalId": "PF-R06",</a:t>
            </a:r>
          </a:p>
          <a:p xmlns:a="http://schemas.openxmlformats.org/drawingml/2006/main">
            <a:r>
              <a:t>    "purpose": "발화에서 휴가·출장·복명 신청까지 연결",</a:t>
            </a:r>
          </a:p>
          <a:p xmlns:a="http://schemas.openxmlformats.org/drawingml/2006/main">
            <a:r>
              <a:t>    "users": "직원·결재자·MIS 운영자",</a:t>
            </a:r>
          </a:p>
          <a:p xmlns:a="http://schemas.openxmlformats.org/drawingml/2006/main">
            <a:r>
              <a:t>    "scope": [</a:t>
            </a:r>
          </a:p>
          <a:p xmlns:a="http://schemas.openxmlformats.org/drawingml/2006/main">
            <a:r>
              <a:t>      "음성 입력",</a:t>
            </a:r>
          </a:p>
          <a:p xmlns:a="http://schemas.openxmlformats.org/drawingml/2006/main">
            <a:r>
              <a:t>      "신청서 작성",</a:t>
            </a:r>
          </a:p>
          <a:p xmlns:a="http://schemas.openxmlformats.org/drawingml/2006/main">
            <a:r>
              <a:t>      "MIS·전자결재"</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"음성·자연어",</a:t>
            </a:r>
          </a:p>
          <a:p xmlns:a="http://schemas.openxmlformats.org/drawingml/2006/main">
            <a:r>
              <a:t>        "detail": "음성/텍스트 입력과 조직·직무·권한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"음성 입력 / 신청서 작성 / MIS·전자결재",</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"필드 추출·확인",</a:t>
            </a:r>
          </a:p>
          <a:p xmlns:a="http://schemas.openxmlformats.org/drawingml/2006/main">
            <a:r>
              <a:t>        "detail": "STT·NLU의 의도·날짜·항목 추출 및 확인",</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"MIS·전자결재",</a:t>
            </a:r>
          </a:p>
          <a:p xmlns:a="http://schemas.openxmlformats.org/drawingml/2006/main">
            <a:r>
              <a:t>        "detail": "신규 MIS API로 기안·상신·처리 결과 확인",</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"신청 초안·처리 상태",</a:t>
            </a:r>
          </a:p>
          <a:p xmlns:a="http://schemas.openxmlformats.org/drawingml/2006/main">
            <a:r>
              <a:t>        "detail": "인사·근태·잔여연차·서식 데이터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"수정·취소·재시도 상태의 원천 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"음성·자연어",</a:t>
            </a:r>
          </a:p>
          <a:p xmlns:a="http://schemas.openxmlformats.org/drawingml/2006/main">
            <a:r>
              <a:t>        "input": "음성/텍스트 입력과 조직·직무·권한 확인",</a:t>
            </a:r>
          </a:p>
          <a:p xmlns:a="http://schemas.openxmlformats.org/drawingml/2006/main">
            <a:r>
              <a:t>        "process": "인사·근태·잔여연차·서식 데이터 연결",</a:t>
            </a:r>
          </a:p>
          <a:p xmlns:a="http://schemas.openxmlformats.org/drawingml/2006/main">
            <a:r>
              <a:t>        "output": "원 발화"</a:t>
            </a:r>
          </a:p>
          <a:p xmlns:a="http://schemas.openxmlformats.org/drawingml/2006/main">
            <a:r>
              <a:t>      },</a:t>
            </a:r>
          </a:p>
          <a:p xmlns:a="http://schemas.openxmlformats.org/drawingml/2006/main">
            <a:r>
              <a:t>      {</a:t>
            </a:r>
          </a:p>
          <a:p xmlns:a="http://schemas.openxmlformats.org/drawingml/2006/main">
            <a:r>
              <a:t>        "title": "필드 추출",</a:t>
            </a:r>
          </a:p>
          <a:p xmlns:a="http://schemas.openxmlformats.org/drawingml/2006/main">
            <a:r>
              <a:t>        "input": "원 발화",</a:t>
            </a:r>
          </a:p>
          <a:p xmlns:a="http://schemas.openxmlformats.org/drawingml/2006/main">
            <a:r>
              <a:t>        "process": "STT·NLU의 의도·날짜·항목 추출 및 확인",</a:t>
            </a:r>
          </a:p>
          <a:p xmlns:a="http://schemas.openxmlformats.org/drawingml/2006/main">
            <a:r>
              <a:t>        "output": "신청 필드"</a:t>
            </a:r>
          </a:p>
          <a:p xmlns:a="http://schemas.openxmlformats.org/drawingml/2006/main">
            <a:r>
              <a:t>      },</a:t>
            </a:r>
          </a:p>
          <a:p xmlns:a="http://schemas.openxmlformats.org/drawingml/2006/main">
            <a:r>
              <a:t>      {</a:t>
            </a:r>
          </a:p>
          <a:p xmlns:a="http://schemas.openxmlformats.org/drawingml/2006/main">
            <a:r>
              <a:t>        "title": "사용자 확인",</a:t>
            </a:r>
          </a:p>
          <a:p xmlns:a="http://schemas.openxmlformats.org/drawingml/2006/main">
            <a:r>
              <a:t>        "input": "신청 필드",</a:t>
            </a:r>
          </a:p>
          <a:p xmlns:a="http://schemas.openxmlformats.org/drawingml/2006/main">
            <a:r>
              <a:t>        "process": "필수 필드 재확인·멱등성·상태 대사",</a:t>
            </a:r>
          </a:p>
          <a:p xmlns:a="http://schemas.openxmlformats.org/drawingml/2006/main">
            <a:r>
              <a:t>        "output": "확인된 초안"</a:t>
            </a:r>
          </a:p>
          <a:p xmlns:a="http://schemas.openxmlformats.org/drawingml/2006/main">
            <a:r>
              <a:t>      },</a:t>
            </a:r>
          </a:p>
          <a:p xmlns:a="http://schemas.openxmlformats.org/drawingml/2006/main">
            <a:r>
              <a:t>      {</a:t>
            </a:r>
          </a:p>
          <a:p xmlns:a="http://schemas.openxmlformats.org/drawingml/2006/main">
            <a:r>
              <a:t>        "title": "MIS·결재 연계",</a:t>
            </a:r>
          </a:p>
          <a:p xmlns:a="http://schemas.openxmlformats.org/drawingml/2006/main">
            <a:r>
              <a:t>        "input": "확인된 초안",</a:t>
            </a:r>
          </a:p>
          <a:p xmlns:a="http://schemas.openxmlformats.org/drawingml/2006/main">
            <a:r>
              <a:t>        "process": "신규 MIS API로 기안·상신·처리 결과 확인",</a:t>
            </a:r>
          </a:p>
          <a:p xmlns:a="http://schemas.openxmlformats.org/drawingml/2006/main">
            <a:r>
              <a:t>        "output": "접수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"출장 목적·기간·장소를 말하고 확인 후 기안·상신",</a:t>
            </a:r>
          </a:p>
          <a:p xmlns:a="http://schemas.openxmlformats.org/drawingml/2006/main">
            <a:r>
              <a:t>      "exception": "날짜 오인식·필수 항목 누락·API 재시도·취소",</a:t>
            </a:r>
          </a:p>
          <a:p xmlns:a="http://schemas.openxmlformats.org/drawingml/2006/main">
            <a:r>
              <a:t>      "evidence": "확인 전 실행 차단·중복 방지·MIS 접수 상태 대사",</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"직원·결재자·MIS 운영자",</a:t>
            </a:r>
          </a:p>
          <a:p xmlns:a="http://schemas.openxmlformats.org/drawingml/2006/main">
            <a:r>
              <a:t>          "processing": "음성/텍스트 입력과 조직·직무·권한 확인",</a:t>
            </a:r>
          </a:p>
          <a:p xmlns:a="http://schemas.openxmlformats.org/drawingml/2006/main">
            <a:r>
              <a:t>          "output": "원 발화"</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"신청 초안·처리 상태",</a:t>
            </a:r>
          </a:p>
          <a:p xmlns:a="http://schemas.openxmlformats.org/drawingml/2006/main">
            <a:r>
              <a:t>          "processing": "인사·근태·잔여연차·서식 데이터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"원 발화",</a:t>
            </a:r>
          </a:p>
          <a:p xmlns:a="http://schemas.openxmlformats.org/drawingml/2006/main">
            <a:r>
              <a:t>          "processing": "STT·NLU의 의도·날짜·항목 추출 및 확인",</a:t>
            </a:r>
          </a:p>
          <a:p xmlns:a="http://schemas.openxmlformats.org/drawingml/2006/main">
            <a:r>
              <a:t>          "output": "확인된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"확인된 초안",</a:t>
            </a:r>
          </a:p>
          <a:p xmlns:a="http://schemas.openxmlformats.org/drawingml/2006/main">
            <a:r>
              <a:t>          "processing": "신규 MIS API로 기안·상신·처리 결과 확인",</a:t>
            </a:r>
          </a:p>
          <a:p xmlns:a="http://schemas.openxmlformats.org/drawingml/2006/main">
            <a:r>
              <a:t>          "output": "접수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"수정·취소·재시도 상태의 원천 대사",</a:t>
            </a:r>
          </a:p>
          <a:p xmlns:a="http://schemas.openxmlformats.org/drawingml/2006/main">
            <a:r>
              <a:t>          "output": "확인 전 실행 차단·중복 방지·MIS 접수 상태 대사"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"수정·취소·재시도 상태의 원천 대사",</a:t>
            </a:r>
          </a:p>
          <a:p xmlns:a="http://schemas.openxmlformats.org/drawingml/2006/main">
            <a:r>
              <a:t>    "status": "RFP 기반 논리 설계",</a:t>
            </a:r>
          </a:p>
          <a:p xmlns:a="http://schemas.openxmlformats.org/drawingml/2006/main">
            <a:r>
              <a:t>    "basis": "RFP · FUR-001~009·TER-005",</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"FUR-001~009, PER-001~002, TER-005 / Word T071",</a:t>
            </a:r>
          </a:p>
          <a:p xmlns:a="http://schemas.openxmlformats.org/drawingml/2006/main">
            <a:r>
              <a:t>        "url": "https://www.g2b.go.kr/pn/pnp/pnpe/UntyAtchFile/downloadFile.do?bidPbancNo=R26BK01719764&amp;bidPbancOrd=000&amp;fileSeq=4&amp;fileType=&amp;prcmBsneSeCd=03"</a:t>
            </a:r>
          </a:p>
          <a:p xmlns:a="http://schemas.openxmlformats.org/drawingml/2006/main">
            <a:r>
              <a:t>      }</a:t>
            </a:r>
          </a:p>
          <a:p xmlns:a="http://schemas.openxmlformats.org/drawingml/2006/main">
            <a:r>
              <a:t>    ],</a:t>
            </a:r>
          </a:p>
          <a:p xmlns:a="http://schemas.openxmlformats.org/drawingml/2006/main">
            <a:r>
              <a:t>    "implication": "사용자 확인·전결·접수 결과까지 추적하는 자연어 업무 실행",</a:t>
            </a:r>
          </a:p>
          <a:p xmlns:a="http://schemas.openxmlformats.org/drawingml/2006/main">
            <a:r>
              <a:t>    "local": "사용자 확인·전결·접수 결과까지 추적하는 자연어 업무 실행",</a:t>
            </a:r>
          </a:p>
          <a:p xmlns:a="http://schemas.openxmlformats.org/drawingml/2006/main">
            <a:r>
              <a:t>    "sourceDetail": "STT→의도·필드 추출→사용자 확인→MIS API 신규개발→기안·상신; 조직·직무·권한 기반 결재선",</a:t>
            </a:r>
          </a:p>
          <a:p xmlns:a="http://schemas.openxmlformats.org/drawingml/2006/main">
            <a:r>
              <a:t>    "narrative": [</a:t>
            </a:r>
          </a:p>
          <a:p xmlns:a="http://schemas.openxmlformats.org/drawingml/2006/main">
            <a:r>
              <a:t>      "휴가·출장 등 행정업무를 음성·텍스트 요청에서 시작해 MIS와 전자결재까지 연결하는 사업. 기존 서식·데이터 생성 로직이 MIS에 있고 AI·모바일 호출용 API가 없다는 연계 제약을 RFP에 명시.",</a:t>
            </a:r>
          </a:p>
          <a:p xmlns:a="http://schemas.openxmlformats.org/drawingml/2006/main">
            <a:r>
              <a:t>      "발화의 STT 변환, NLU 의도·개체 추출, 필수 항목 검증, 사용자 확인, MIS 서식 생성, 결재선 추천, 상신·상태 조회를 구분하는 처리 구조. FUR-009의 신규 API는 서식 메타데이터, 잔여연차·근태 조회, 업무규칙 검증, 전자결재 상신을 포함하는 범위.",</a:t>
            </a:r>
          </a:p>
          <a:p xmlns:a="http://schemas.openxmlformats.org/drawingml/2006/main">
            <a:r>
              <a:t>      "AI 모델 정확도 외에 실제 업무 시스템의 접수 상태까지 확인해야 하는 사례. 같은 요청의 재시도, 날짜 수정, 결재선 변경, 상신 후 취소를 검수 시나리오로 분리할 필요. CCK 재사용 도구와 별개로 TS 기간계 API 개발·멱등성·상태 대사를 추가 범위로 산정."</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"FUR-001",</a:t>
            </a:r>
          </a:p>
          <a:p xmlns:a="http://schemas.openxmlformats.org/drawingml/2006/main">
            <a:r>
              <a:t>        "title": "음성 인식(STT) 기반 입력 처리",</a:t>
            </a:r>
          </a:p>
          <a:p xmlns:a="http://schemas.openxmlformats.org/drawingml/2006/main">
            <a:r>
              <a:t>        "locator": "FUR-001",</a:t>
            </a:r>
          </a:p>
          <a:p xmlns:a="http://schemas.openxmlformats.org/drawingml/2006/main">
            <a:r>
              <a:t>        "summary": "음성 발화를 행정 요청의 텍스트 입력으로 변환하는 STT 기능.",</a:t>
            </a:r>
          </a:p>
          <a:p xmlns:a="http://schemas.openxmlformats.org/drawingml/2006/main">
            <a:r>
              <a:t>        "data": "업무 발화·음성 → 전사문",</a:t>
            </a:r>
          </a:p>
          <a:p xmlns:a="http://schemas.openxmlformats.org/drawingml/2006/main">
            <a:r>
              <a:t>        "components": [</a:t>
            </a:r>
          </a:p>
          <a:p xmlns:a="http://schemas.openxmlformats.org/drawingml/2006/main">
            <a:r>
              <a:t>          "C01",</a:t>
            </a:r>
          </a:p>
          <a:p xmlns:a="http://schemas.openxmlformats.org/drawingml/2006/main">
            <a:r>
              <a:t>          "C04"</a:t>
            </a:r>
          </a:p>
          <a:p xmlns:a="http://schemas.openxmlformats.org/drawingml/2006/main">
            <a:r>
              <a:t>        ],</a:t>
            </a:r>
          </a:p>
          <a:p xmlns:a="http://schemas.openxmlformats.org/drawingml/2006/main">
            <a:r>
              <a:t>        "acceptance": "잡음·기관 고유어·날짜·숫자·수정 발화의 전사 결과를 정답과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"4b2d797a440d1d6fbec4f86d7f517404bd7f1e493f405d7d9f79cd20481e3cbd"</a:t>
            </a:r>
          </a:p>
          <a:p xmlns:a="http://schemas.openxmlformats.org/drawingml/2006/main">
            <a:r>
              <a:t>      },</a:t>
            </a:r>
          </a:p>
          <a:p xmlns:a="http://schemas.openxmlformats.org/drawingml/2006/main">
            <a:r>
              <a:t>      {</a:t>
            </a:r>
          </a:p>
          <a:p xmlns:a="http://schemas.openxmlformats.org/drawingml/2006/main">
            <a:r>
              <a:t>        "id": "FUR-002",</a:t>
            </a:r>
          </a:p>
          <a:p xmlns:a="http://schemas.openxmlformats.org/drawingml/2006/main">
            <a:r>
              <a:t>        "title": "자연어 이해(NLU) 및 사용자 의도 분석",</a:t>
            </a:r>
          </a:p>
          <a:p xmlns:a="http://schemas.openxmlformats.org/drawingml/2006/main">
            <a:r>
              <a:t>        "locator": "FUR-002",</a:t>
            </a:r>
          </a:p>
          <a:p xmlns:a="http://schemas.openxmlformats.org/drawingml/2006/main">
            <a:r>
              <a:t>        "summary": "전사·텍스트에서 사용자의 의도와 업무에 필요한 항목을 식별하는 NLU 기능.",</a:t>
            </a:r>
          </a:p>
          <a:p xmlns:a="http://schemas.openxmlformats.org/drawingml/2006/main">
            <a:r>
              <a:t>        "data": "발화·직원 문맥 → 업무 유형·필수 항목",</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a:t>
            </a:r>
          </a:p>
          <a:p xmlns:a="http://schemas.openxmlformats.org/drawingml/2006/main">
            <a:r>
              <a:t>        "acceptance": "휴가·출장·복명 의도 혼동, 날짜 누락, 정정 발화 처리의 슬롯별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"2b5b33f9ad0c0b4d3f13c4f96f1446464cdcaabdd131ab4dde7eaac0671edc6a"</a:t>
            </a:r>
          </a:p>
          <a:p xmlns:a="http://schemas.openxmlformats.org/drawingml/2006/main">
            <a:r>
              <a:t>      },</a:t>
            </a:r>
          </a:p>
          <a:p xmlns:a="http://schemas.openxmlformats.org/drawingml/2006/main">
            <a:r>
              <a:t>      {</a:t>
            </a:r>
          </a:p>
          <a:p xmlns:a="http://schemas.openxmlformats.org/drawingml/2006/main">
            <a:r>
              <a:t>        "id": "FUR-003",</a:t>
            </a:r>
          </a:p>
          <a:p xmlns:a="http://schemas.openxmlformats.org/drawingml/2006/main">
            <a:r>
              <a:t>        "title": "지능형 업무 자동화 엔진",</a:t>
            </a:r>
          </a:p>
          <a:p xmlns:a="http://schemas.openxmlformats.org/drawingml/2006/main">
            <a:r>
              <a:t>        "locator": "FUR-003",</a:t>
            </a:r>
          </a:p>
          <a:p xmlns:a="http://schemas.openxmlformats.org/drawingml/2006/main">
            <a:r>
              <a:t>        "summary": "식별한 의도를 업무자동화 절차로 연결하는 실행 엔진.",</a:t>
            </a:r>
          </a:p>
          <a:p xmlns:a="http://schemas.openxmlformats.org/drawingml/2006/main">
            <a:r>
              <a:t>        "data": "의도·입력 항목 → 실행 절차·진행 상태",</a:t>
            </a:r>
          </a:p>
          <a:p xmlns:a="http://schemas.openxmlformats.org/drawingml/2006/main">
            <a:r>
              <a:t>        "components": [</a:t>
            </a:r>
          </a:p>
          <a:p xmlns:a="http://schemas.openxmlformats.org/drawingml/2006/main">
            <a:r>
              <a:t>          "C04",</a:t>
            </a:r>
          </a:p>
          <a:p xmlns:a="http://schemas.openxmlformats.org/drawingml/2006/main">
            <a:r>
              <a:t>          "C05",</a:t>
            </a:r>
          </a:p>
          <a:p xmlns:a="http://schemas.openxmlformats.org/drawingml/2006/main">
            <a:r>
              <a:t>          "C07"</a:t>
            </a:r>
          </a:p>
          <a:p xmlns:a="http://schemas.openxmlformats.org/drawingml/2006/main">
            <a:r>
              <a:t>        ],</a:t>
            </a:r>
          </a:p>
          <a:p xmlns:a="http://schemas.openxmlformats.org/drawingml/2006/main">
            <a:r>
              <a:t>        "acceptance": "필수값 누락·비허용 업무·중간 실패 조건의 실행 보류와 재개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"f810450f2d482dea56dce3c7164eae2c0fc1681561e11d1fd64a9f19546747d3"</a:t>
            </a:r>
          </a:p>
          <a:p xmlns:a="http://schemas.openxmlformats.org/drawingml/2006/main">
            <a:r>
              <a:t>      },</a:t>
            </a:r>
          </a:p>
          <a:p xmlns:a="http://schemas.openxmlformats.org/drawingml/2006/main">
            <a:r>
              <a:t>      {</a:t>
            </a:r>
          </a:p>
          <a:p xmlns:a="http://schemas.openxmlformats.org/drawingml/2006/main">
            <a:r>
              <a:t>        "id": "FUR-004",</a:t>
            </a:r>
          </a:p>
          <a:p xmlns:a="http://schemas.openxmlformats.org/drawingml/2006/main">
            <a:r>
              <a:t>        "title": "행정서식 생성(MIS)·전자결재 연동 및 결재선 자동 추천",</a:t>
            </a:r>
          </a:p>
          <a:p xmlns:a="http://schemas.openxmlformats.org/drawingml/2006/main">
            <a:r>
              <a:t>        "locator": "FUR-004",</a:t>
            </a:r>
          </a:p>
          <a:p xmlns:a="http://schemas.openxmlformats.org/drawingml/2006/main">
            <a:r>
              <a:t>        "summary": "MIS 행정서식 생성과 전자결재·결재선 연계.",</a:t>
            </a:r>
          </a:p>
          <a:p xmlns:a="http://schemas.openxmlformats.org/drawingml/2006/main">
            <a:r>
              <a:t>        "data": "직원·업무 데이터 → 신청서·결재선·접수 결과",</a:t>
            </a:r>
          </a:p>
          <a:p xmlns:a="http://schemas.openxmlformats.org/drawingml/2006/main">
            <a:r>
              <a:t>        "components": [</a:t>
            </a:r>
          </a:p>
          <a:p xmlns:a="http://schemas.openxmlformats.org/drawingml/2006/main">
            <a:r>
              <a:t>          "C04",</a:t>
            </a:r>
          </a:p>
          <a:p xmlns:a="http://schemas.openxmlformats.org/drawingml/2006/main">
            <a:r>
              <a:t>          "C06",</a:t>
            </a:r>
          </a:p>
          <a:p xmlns:a="http://schemas.openxmlformats.org/drawingml/2006/main">
            <a:r>
              <a:t>          "C07"</a:t>
            </a:r>
          </a:p>
          <a:p xmlns:a="http://schemas.openxmlformats.org/drawingml/2006/main">
            <a:r>
              <a:t>        ],</a:t>
            </a:r>
          </a:p>
          <a:p xmlns:a="http://schemas.openxmlformats.org/drawingml/2006/main">
            <a:r>
              <a:t>        "acceptance": "다른 직원의 결재선, 수정 전 날짜, 중복 신청을 포함해 확인 화면과 최종 등록값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"4f1ec6fe0d7a56356478c8dfabb91a772fd9c787cec611102d2b41d2bf087f45"</a:t>
            </a:r>
          </a:p>
          <a:p xmlns:a="http://schemas.openxmlformats.org/drawingml/2006/main">
            <a:r>
              <a:t>      },</a:t>
            </a:r>
          </a:p>
          <a:p xmlns:a="http://schemas.openxmlformats.org/drawingml/2006/main">
            <a:r>
              <a:t>      {</a:t>
            </a:r>
          </a:p>
          <a:p xmlns:a="http://schemas.openxmlformats.org/drawingml/2006/main">
            <a:r>
              <a:t>        "id": "FUR-007",</a:t>
            </a:r>
          </a:p>
          <a:p xmlns:a="http://schemas.openxmlformats.org/drawingml/2006/main">
            <a:r>
              <a:t>        "title": "그룹웨어·기간계 시스템 연계",</a:t>
            </a:r>
          </a:p>
          <a:p xmlns:a="http://schemas.openxmlformats.org/drawingml/2006/main">
            <a:r>
              <a:t>        "locator": "FUR-007",</a:t>
            </a:r>
          </a:p>
          <a:p xmlns:a="http://schemas.openxmlformats.org/drawingml/2006/main">
            <a:r>
              <a:t>        "summary": "그룹웨어·기간계와 연계해 요청 및 처리 결과를 교환하는 기능.",</a:t>
            </a:r>
          </a:p>
          <a:p xmlns:a="http://schemas.openxmlformats.org/drawingml/2006/main">
            <a:r>
              <a:t>        "data": "업무 요청·시스템 식별정보 → 처리 결과·상태",</a:t>
            </a:r>
          </a:p>
          <a:p xmlns:a="http://schemas.openxmlformats.org/drawingml/2006/main">
            <a:r>
              <a:t>        "components": [</a:t>
            </a:r>
          </a:p>
          <a:p xmlns:a="http://schemas.openxmlformats.org/drawingml/2006/main">
            <a:r>
              <a:t>          "C02",</a:t>
            </a:r>
          </a:p>
          <a:p xmlns:a="http://schemas.openxmlformats.org/drawingml/2006/main">
            <a:r>
              <a:t>          "C07",</a:t>
            </a:r>
          </a:p>
          <a:p xmlns:a="http://schemas.openxmlformats.org/drawingml/2006/main">
            <a:r>
              <a:t>          "C08"</a:t>
            </a:r>
          </a:p>
          <a:p xmlns:a="http://schemas.openxmlformats.org/drawingml/2006/main">
            <a:r>
              <a:t>        ],</a:t>
            </a:r>
          </a:p>
          <a:p xmlns:a="http://schemas.openxmlformats.org/drawingml/2006/main">
            <a:r>
              <a:t>        "acceptance": "인증 만료·연계 장애·응답 지연 시 실제 등록 상태와 사용자 안내의 일치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"248a2a097858bb82f76df87facd2135704aa4354594d82248b40def47a25d3f5"</a:t>
            </a:r>
          </a:p>
          <a:p xmlns:a="http://schemas.openxmlformats.org/drawingml/2006/main">
            <a:r>
              <a:t>      },</a:t>
            </a:r>
          </a:p>
          <a:p xmlns:a="http://schemas.openxmlformats.org/drawingml/2006/main">
            <a:r>
              <a:t>      {</a:t>
            </a:r>
          </a:p>
          <a:p xmlns:a="http://schemas.openxmlformats.org/drawingml/2006/main">
            <a:r>
              <a:t>        "id": "FUR-009",</a:t>
            </a:r>
          </a:p>
          <a:p xmlns:a="http://schemas.openxmlformats.org/drawingml/2006/main">
            <a:r>
              <a:t>        "title": "통합경영정보시스템(MIS) 행정업무 API 개발",</a:t>
            </a:r>
          </a:p>
          <a:p xmlns:a="http://schemas.openxmlformats.org/drawingml/2006/main">
            <a:r>
              <a:t>        "locator": "FUR-009",</a:t>
            </a:r>
          </a:p>
          <a:p xmlns:a="http://schemas.openxmlformats.org/drawingml/2006/main">
            <a:r>
              <a:t>        "summary": "자연어 행정 서비스에 필요한 MIS 업무 API의 신규 개발.",</a:t>
            </a:r>
          </a:p>
          <a:p xmlns:a="http://schemas.openxmlformats.org/drawingml/2006/main">
            <a:r>
              <a:t>        "data": "구조화 행정 요청 → MIS 생성·조회 결과",</a:t>
            </a:r>
          </a:p>
          <a:p xmlns:a="http://schemas.openxmlformats.org/drawingml/2006/main">
            <a:r>
              <a:t>        "components": [</a:t>
            </a:r>
          </a:p>
          <a:p xmlns:a="http://schemas.openxmlformats.org/drawingml/2006/main">
            <a:r>
              <a:t>          "C07"</a:t>
            </a:r>
          </a:p>
          <a:p xmlns:a="http://schemas.openxmlformats.org/drawingml/2006/main">
            <a:r>
              <a:t>        ],</a:t>
            </a:r>
          </a:p>
          <a:p xmlns:a="http://schemas.openxmlformats.org/drawingml/2006/main">
            <a:r>
              <a:t>        "acceptance": "필수 인자·권한·중복 요청·취소 가능 상태를 API 계약 및 실제 데이터와 대조",</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"8a445db50ff666bd64f8ff0b7745693eaefce5e0df8153d8c59102304c330829"</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"음성·텍스트 입력",</a:t>
            </a:r>
          </a:p>
          <a:p xmlns:a="http://schemas.openxmlformats.org/drawingml/2006/main">
            <a:r>
              <a:t>          "layer": "이용 접점",</a:t>
            </a:r>
          </a:p>
          <a:p xmlns:a="http://schemas.openxmlformats.org/drawingml/2006/main">
            <a:r>
              <a:t>          "detail": "직원·결재자·MIS 운영자",</a:t>
            </a:r>
          </a:p>
          <a:p xmlns:a="http://schemas.openxmlformats.org/drawingml/2006/main">
            <a:r>
              <a:t>          "requirements": [</a:t>
            </a:r>
          </a:p>
          <a:p xmlns:a="http://schemas.openxmlformats.org/drawingml/2006/main">
            <a:r>
              <a:t>            "FUR-001"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"직원·조직·직무",</a:t>
            </a:r>
          </a:p>
          <a:p xmlns:a="http://schemas.openxmlformats.org/drawingml/2006/main">
            <a:r>
              <a:t>          "layer": "업무 문맥",</a:t>
            </a:r>
          </a:p>
          <a:p xmlns:a="http://schemas.openxmlformats.org/drawingml/2006/main">
            <a:r>
              <a:t>          "detail": "음성/텍스트 입력과 조직·직무·권한 확인",</a:t>
            </a:r>
          </a:p>
          <a:p xmlns:a="http://schemas.openxmlformats.org/drawingml/2006/main">
            <a:r>
              <a:t>          "requirements": [</a:t>
            </a:r>
          </a:p>
          <a:p xmlns:a="http://schemas.openxmlformats.org/drawingml/2006/main">
            <a:r>
              <a:t>            "FUR-002",</a:t>
            </a:r>
          </a:p>
          <a:p xmlns:a="http://schemas.openxmlformats.org/drawingml/2006/main">
            <a:r>
              <a:t>            "FUR-007"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"근태·서식 조회",</a:t>
            </a:r>
          </a:p>
          <a:p xmlns:a="http://schemas.openxmlformats.org/drawingml/2006/main">
            <a:r>
              <a:t>          "layer": "자료 조회",</a:t>
            </a:r>
          </a:p>
          <a:p xmlns:a="http://schemas.openxmlformats.org/drawingml/2006/main">
            <a:r>
              <a:t>          "detail": "원 발화",</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"STT·의도·필드 추출",</a:t>
            </a:r>
          </a:p>
          <a:p xmlns:a="http://schemas.openxmlformats.org/drawingml/2006/main">
            <a:r>
              <a:t>          "layer": "핵심 처리",</a:t>
            </a:r>
          </a:p>
          <a:p xmlns:a="http://schemas.openxmlformats.org/drawingml/2006/main">
            <a:r>
              <a:t>          "detail": "STT·NLU의 의도·날짜·항목 추출 및 확인",</a:t>
            </a:r>
          </a:p>
          <a:p xmlns:a="http://schemas.openxmlformats.org/drawingml/2006/main">
            <a:r>
              <a:t>          "requirements": [</a:t>
            </a:r>
          </a:p>
          <a:p xmlns:a="http://schemas.openxmlformats.org/drawingml/2006/main">
            <a:r>
              <a:t>            "FUR-001",</a:t>
            </a:r>
          </a:p>
          <a:p xmlns:a="http://schemas.openxmlformats.org/drawingml/2006/main">
            <a:r>
              <a:t>            "FUR-002",</a:t>
            </a:r>
          </a:p>
          <a:p xmlns:a="http://schemas.openxmlformats.org/drawingml/2006/main">
            <a:r>
              <a:t>            "FUR-003",</a:t>
            </a:r>
          </a:p>
          <a:p xmlns:a="http://schemas.openxmlformats.org/drawingml/2006/main">
            <a:r>
              <a:t>            "FUR-004"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"날짜·필수값 검사",</a:t>
            </a:r>
          </a:p>
          <a:p xmlns:a="http://schemas.openxmlformats.org/drawingml/2006/main">
            <a:r>
              <a:t>          "layer": "결과 검증",</a:t>
            </a:r>
          </a:p>
          <a:p xmlns:a="http://schemas.openxmlformats.org/drawingml/2006/main">
            <a:r>
              <a:t>          "detail": "필수 필드 재확인·멱등성·상태 대사",</a:t>
            </a:r>
          </a:p>
          <a:p xmlns:a="http://schemas.openxmlformats.org/drawingml/2006/main">
            <a:r>
              <a:t>          "requirements": [</a:t>
            </a:r>
          </a:p>
          <a:p xmlns:a="http://schemas.openxmlformats.org/drawingml/2006/main">
            <a:r>
              <a:t>            "FUR-003"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"사용자 최종 확인",</a:t>
            </a:r>
          </a:p>
          <a:p xmlns:a="http://schemas.openxmlformats.org/drawingml/2006/main">
            <a:r>
              <a:t>          "layer": "사람 확인",</a:t>
            </a:r>
          </a:p>
          <a:p xmlns:a="http://schemas.openxmlformats.org/drawingml/2006/main">
            <a:r>
              <a:t>          "detail": "출장 목적·기간·장소를 말하고 확인 후 기안·상신",</a:t>
            </a:r>
          </a:p>
          <a:p xmlns:a="http://schemas.openxmlformats.org/drawingml/2006/main">
            <a:r>
              <a:t>          "requirements": [</a:t>
            </a:r>
          </a:p>
          <a:p xmlns:a="http://schemas.openxmlformats.org/drawingml/2006/main">
            <a:r>
              <a:t>            "FUR-004"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"신규 MIS API·상신",</a:t>
            </a:r>
          </a:p>
          <a:p xmlns:a="http://schemas.openxmlformats.org/drawingml/2006/main">
            <a:r>
              <a:t>          "layer": "업무 연결",</a:t>
            </a:r>
          </a:p>
          <a:p xmlns:a="http://schemas.openxmlformats.org/drawingml/2006/main">
            <a:r>
              <a:t>          "detail": "신규 MIS API로 기안·상신·처리 결과 확인",</a:t>
            </a:r>
          </a:p>
          <a:p xmlns:a="http://schemas.openxmlformats.org/drawingml/2006/main">
            <a:r>
              <a:t>          "requirements": [</a:t>
            </a:r>
          </a:p>
          <a:p xmlns:a="http://schemas.openxmlformats.org/drawingml/2006/main">
            <a:r>
              <a:t>            "FUR-003",</a:t>
            </a:r>
          </a:p>
          <a:p xmlns:a="http://schemas.openxmlformats.org/drawingml/2006/main">
            <a:r>
              <a:t>            "FUR-004",</a:t>
            </a:r>
          </a:p>
          <a:p xmlns:a="http://schemas.openxmlformats.org/drawingml/2006/main">
            <a:r>
              <a:t>            "FUR-007",</a:t>
            </a:r>
          </a:p>
          <a:p xmlns:a="http://schemas.openxmlformats.org/drawingml/2006/main">
            <a:r>
              <a:t>            "FUR-009"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"취소·중복 대사",</a:t>
            </a:r>
          </a:p>
          <a:p xmlns:a="http://schemas.openxmlformats.org/drawingml/2006/main">
            <a:r>
              <a:t>          "layer": "운영 관측",</a:t>
            </a:r>
          </a:p>
          <a:p xmlns:a="http://schemas.openxmlformats.org/drawingml/2006/main">
            <a:r>
              <a:t>          "detail": "수정·취소·재시도 상태의 원천 대사",</a:t>
            </a:r>
          </a:p>
          <a:p xmlns:a="http://schemas.openxmlformats.org/drawingml/2006/main">
            <a:r>
              <a:t>          "requirements": [</a:t>
            </a:r>
          </a:p>
          <a:p xmlns:a="http://schemas.openxmlformats.org/drawingml/2006/main">
            <a:r>
              <a:t>            "FUR-007"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"인사·근태·결재선",</a:t>
            </a:r>
          </a:p>
          <a:p xmlns:a="http://schemas.openxmlformats.org/drawingml/2006/main">
            <a:r>
              <a:t>          "layer": "데이터 원천",</a:t>
            </a:r>
          </a:p>
          <a:p xmlns:a="http://schemas.openxmlformats.org/drawingml/2006/main">
            <a:r>
              <a:t>          "detail": "신청 초안·처리 상태",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"필드·서식 정합화",</a:t>
            </a:r>
          </a:p>
          <a:p xmlns:a="http://schemas.openxmlformats.org/drawingml/2006/main">
            <a:r>
              <a:t>          "layer": "준비·갱신",</a:t>
            </a:r>
          </a:p>
          <a:p xmlns:a="http://schemas.openxmlformats.org/drawingml/2006/main">
            <a:r>
              <a:t>          "detail": "인사·근태·잔여연차·서식 데이터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"신청 초안·접수 상태",</a:t>
            </a:r>
          </a:p>
          <a:p xmlns:a="http://schemas.openxmlformats.org/drawingml/2006/main">
            <a:r>
              <a:t>          "layer": "상태·지식 저장",</a:t>
            </a:r>
          </a:p>
          <a:p xmlns:a="http://schemas.openxmlformats.org/drawingml/2006/main">
            <a:r>
              <a:t>          "detail": "확인 전 실행 차단·중복 방지·MIS 접수 상태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"업무·실행 권한",</a:t>
            </a:r>
          </a:p>
          <a:p xmlns:a="http://schemas.openxmlformats.org/drawingml/2006/main">
            <a:r>
              <a:t>          "layer": "권한·정책",</a:t>
            </a:r>
          </a:p>
          <a:p xmlns:a="http://schemas.openxmlformats.org/drawingml/2006/main">
            <a:r>
              <a:t>          "detail": "날짜 오인식·필수 항목 누락·API 재시도·취소",</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"음성/텍스트 입력과 조직·직무·권한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"원 발화",</a:t>
            </a:r>
          </a:p>
          <a:p xmlns:a="http://schemas.openxmlformats.org/drawingml/2006/main">
            <a:r>
              <a:t>          "check": "필수 필드 재확인·멱등성·상태 대사"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"신청 필드",</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"확인된 초안",</a:t>
            </a:r>
          </a:p>
          <a:p xmlns:a="http://schemas.openxmlformats.org/drawingml/2006/main">
            <a:r>
              <a:t>          "check": "날짜 오인식·필수 항목 누락·API 재시도·취소"</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"확인된 초안",</a:t>
            </a:r>
          </a:p>
          <a:p xmlns:a="http://schemas.openxmlformats.org/drawingml/2006/main">
            <a:r>
              <a:t>          "check": "신규 MIS API로 기안·상신·처리 결과 확인"</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"접수 결과",</a:t>
            </a:r>
          </a:p>
          <a:p xmlns:a="http://schemas.openxmlformats.org/drawingml/2006/main">
            <a:r>
              <a:t>          "check": "확인 전 실행 차단·중복 방지·MIS 접수 상태 대사"</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"FUR-001~009·TER-005",</a:t>
            </a:r>
          </a:p>
          <a:p xmlns:a="http://schemas.openxmlformats.org/drawingml/2006/main">
            <a:r>
              <a:t>        "extracted": "STT·NLU, 사용자 확인, MIS API 신규 구축·전자결재 연결",</a:t>
            </a:r>
          </a:p>
          <a:p xmlns:a="http://schemas.openxmlformats.org/drawingml/2006/main">
            <a:r>
              <a:t>        "extension": "중복 요청 식별·취소 후 상태 대사·결재선 효력일 검사"</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"PF-R06",</a:t>
            </a:r>
          </a:p>
          <a:p xmlns:a="http://schemas.openxmlformats.org/drawingml/2006/main">
            <a:r>
              <a:t>          "path": "assets/casebook-sources/PF-R06-01.png",</a:t>
            </a:r>
          </a:p>
          <a:p xmlns:a="http://schemas.openxmlformats.org/drawingml/2006/main">
            <a:r>
              <a:t>          "title": "철도기술연구원 업무시스템",</a:t>
            </a:r>
          </a:p>
          <a:p xmlns:a="http://schemas.openxmlformats.org/drawingml/2006/main">
            <a:r>
              <a:t>          "status": "RFP 수록 기존 시스템 구성",</a:t>
            </a:r>
          </a:p>
          <a:p xmlns:a="http://schemas.openxmlformats.org/drawingml/2006/main">
            <a:r>
              <a:t>          "caption": "협업 포털·통합경영정보·전자결재·외부 연계 현황",</a:t>
            </a:r>
          </a:p>
          <a:p xmlns:a="http://schemas.openxmlformats.org/drawingml/2006/main">
            <a:r>
              <a:t>          "locator": "rId18 / BinData/image1_bmp",</a:t>
            </a:r>
          </a:p>
          <a:p xmlns:a="http://schemas.openxmlformats.org/drawingml/2006/main">
            <a:r>
              <a:t>          "checked": "2026-10-16",</a:t>
            </a:r>
          </a:p>
          <a:p xmlns:a="http://schemas.openxmlformats.org/drawingml/2006/main">
            <a:r>
              <a:t>          "sha256": "419b833abe927fb60c98c0b17c83b79039658d9fc8f1bf2295db634a55a2c424",</a:t>
            </a:r>
          </a:p>
          <a:p xmlns:a="http://schemas.openxmlformats.org/drawingml/2006/main">
            <a:r>
              <a:t>          "explanation": {</a:t>
            </a:r>
          </a:p>
          <a:p xmlns:a="http://schemas.openxmlformats.org/drawingml/2006/main">
            <a:r>
              <a:t>            "read": "포털·MIS·전자결재의 기존 정보시스템 구성. 음성 AI의 신규 배치가 아니라 행정 요청을 실제 처리할 기간계와 결재 경로의 현황을 설명하는 도면.",</a:t>
            </a:r>
          </a:p>
          <a:p xmlns:a="http://schemas.openxmlformats.org/drawingml/2006/main">
            <a:r>
              <a:t>            "requirements": [</a:t>
            </a:r>
          </a:p>
          <a:p xmlns:a="http://schemas.openxmlformats.org/drawingml/2006/main">
            <a:r>
              <a:t>              "FUR-003",</a:t>
            </a:r>
          </a:p>
          <a:p xmlns:a="http://schemas.openxmlformats.org/drawingml/2006/main">
            <a:r>
              <a:t>              "FUR-004",</a:t>
            </a:r>
          </a:p>
          <a:p xmlns:a="http://schemas.openxmlformats.org/drawingml/2006/main">
            <a:r>
              <a:t>              "FUR-007",</a:t>
            </a:r>
          </a:p>
          <a:p xmlns:a="http://schemas.openxmlformats.org/drawingml/2006/main">
            <a:r>
              <a:t>              "FUR-009"</a:t>
            </a:r>
          </a:p>
          <a:p xmlns:a="http://schemas.openxmlformats.org/drawingml/2006/main">
            <a:r>
              <a:t>            ],</a:t>
            </a:r>
          </a:p>
          <a:p xmlns:a="http://schemas.openxmlformats.org/drawingml/2006/main">
            <a:r>
              <a:t>            "connection": "STT·의도 추출·사용자 확인을 앞단에 추가하고 기존 MIS API·결재선으로 인계하는 재구성. 음성 인식 성공과 업무 등록 성공을 별도 상태로 관리."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"날짜 오인식·필수 항목 누락·API 재시도·취소",</a:t>
            </a:r>
          </a:p>
          <a:p xmlns:a="http://schemas.openxmlformats.org/drawingml/2006/main">
            <a:r>
              <a:t>        "hold": "필수 필드 재확인·멱등성·상태 대사",</a:t>
            </a:r>
          </a:p>
          <a:p xmlns:a="http://schemas.openxmlformats.org/drawingml/2006/main">
            <a:r>
              <a:t>        "recovery": "수정·취소·재시도 상태의 원천 대사",</a:t>
            </a:r>
          </a:p>
          <a:p xmlns:a="http://schemas.openxmlformats.org/drawingml/2006/main">
            <a:r>
              <a:t>        "evidence": "확인 전 실행 차단·중복 방지·MIS 접수 상태 대사"</a:t>
            </a:r>
          </a:p>
          <a:p xmlns:a="http://schemas.openxmlformats.org/drawingml/2006/main">
            <a:r>
              <a:t>      },</a:t>
            </a:r>
          </a:p>
          <a:p xmlns:a="http://schemas.openxmlformats.org/drawingml/2006/main">
            <a:r>
              <a:t>      "data": {</a:t>
            </a:r>
          </a:p>
          <a:p xmlns:a="http://schemas.openxmlformats.org/drawingml/2006/main">
            <a:r>
              <a:t>        "source": "신청 초안·처리 상태",</a:t>
            </a:r>
          </a:p>
          <a:p xmlns:a="http://schemas.openxmlformats.org/drawingml/2006/main">
            <a:r>
              <a:t>        "prepare": "인사·근태·잔여연차·서식 데이터 연결",</a:t>
            </a:r>
          </a:p>
          <a:p xmlns:a="http://schemas.openxmlformats.org/drawingml/2006/main">
            <a:r>
              <a:t>        "output": "원 발화",</a:t>
            </a:r>
          </a:p>
          <a:p xmlns:a="http://schemas.openxmlformats.org/drawingml/2006/main">
            <a:r>
              <a:t>        "refresh": "수정·취소·재시도 상태의 원천 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"PF-R06",</a:t>
            </a:r>
          </a:p>
          <a:p xmlns:a="http://schemas.openxmlformats.org/drawingml/2006/main">
            <a:r>
              <a:t>    "success": [</a:t>
            </a:r>
          </a:p>
          <a:p xmlns:a="http://schemas.openxmlformats.org/drawingml/2006/main">
            <a:r>
              <a:t>      "발화 구조화와 기존 MIS 연결",</a:t>
            </a:r>
          </a:p>
          <a:p xmlns:a="http://schemas.openxmlformats.org/drawingml/2006/main">
            <a:r>
              <a:t>      "실행 전 사용자 확인"</a:t>
            </a:r>
          </a:p>
          <a:p xmlns:a="http://schemas.openxmlformats.org/drawingml/2006/main">
            <a:r>
              <a:t>    ],</a:t>
            </a:r>
          </a:p>
          <a:p xmlns:a="http://schemas.openxmlformats.org/drawingml/2006/main">
            <a:r>
              <a:t>    "risks": [</a:t>
            </a:r>
          </a:p>
          <a:p xmlns:a="http://schemas.openxmlformats.org/drawingml/2006/main">
            <a:r>
              <a:t>      "잘못된 날짜·출장 항목 추출",</a:t>
            </a:r>
          </a:p>
          <a:p xmlns:a="http://schemas.openxmlformats.org/drawingml/2006/main">
            <a:r>
              <a:t>      "재시도에 따른 중복 신청"</a:t>
            </a:r>
          </a:p>
          <a:p xmlns:a="http://schemas.openxmlformats.org/drawingml/2006/main">
            <a:r>
              <a:t>    ],</a:t>
            </a:r>
          </a:p>
          <a:p xmlns:a="http://schemas.openxmlformats.org/drawingml/2006/main">
            <a:r>
              <a:t>    "architecture": [</a:t>
            </a:r>
          </a:p>
          <a:p xmlns:a="http://schemas.openxmlformats.org/drawingml/2006/main">
            <a:r>
              <a:t>      "음성·자연어",</a:t>
            </a:r>
          </a:p>
          <a:p xmlns:a="http://schemas.openxmlformats.org/drawingml/2006/main">
            <a:r>
              <a:t>      "필드 추출·확인",</a:t>
            </a:r>
          </a:p>
          <a:p xmlns:a="http://schemas.openxmlformats.org/drawingml/2006/main">
            <a:r>
              <a:t>      "신청 초안·처리 상태",</a:t>
            </a:r>
          </a:p>
          <a:p xmlns:a="http://schemas.openxmlformats.org/drawingml/2006/main">
            <a:r>
              <a:t>      "MIS·전자결재"</a:t>
            </a:r>
          </a:p>
          <a:p xmlns:a="http://schemas.openxmlformats.org/drawingml/2006/main">
            <a:r>
              <a:t>    ],</a:t>
            </a:r>
          </a:p>
          <a:p xmlns:a="http://schemas.openxmlformats.org/drawingml/2006/main">
            <a:r>
              <a:t>    "transfers": [</a:t>
            </a:r>
          </a:p>
          <a:p xmlns:a="http://schemas.openxmlformats.org/drawingml/2006/main">
            <a:r>
              <a:t>      "원 발화",</a:t>
            </a:r>
          </a:p>
          <a:p xmlns:a="http://schemas.openxmlformats.org/drawingml/2006/main">
            <a:r>
              <a:t>      "신청 필드",</a:t>
            </a:r>
          </a:p>
          <a:p xmlns:a="http://schemas.openxmlformats.org/drawingml/2006/main">
            <a:r>
              <a:t>      "확인된 초안",</a:t>
            </a:r>
          </a:p>
          <a:p xmlns:a="http://schemas.openxmlformats.org/drawingml/2006/main">
            <a:r>
              <a:t>      "접수 결과"</a:t>
            </a:r>
          </a:p>
          <a:p xmlns:a="http://schemas.openxmlformats.org/drawingml/2006/main">
            <a:r>
              <a:t>    ],</a:t>
            </a:r>
          </a:p>
          <a:p xmlns:a="http://schemas.openxmlformats.org/drawingml/2006/main">
            <a:r>
              <a:t>    "control": "필수 필드 재확인·멱등성·상태 대사",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FUR-001~009, PER-001~002, TER-005 / Word T071 https://www.g2b.go.kr/pn/pnp/pnpe/UntyAtchFile/downloadFile.do?bidPbancNo=R26BK01719764&amp;bidPbancOrd=000&amp;fileSeq=4&amp;fileType=&amp;prcmBsneSeCd=03</a:t>
            </a:r>
          </a:p>
          <a:p xmlns:a="http://schemas.openxmlformats.org/drawingml/2006/main">
            <a:r>
              <a:t>홈페이지 https://heen1987-ops.github.io/TS-business-Plan-001/index.html?view=platform-cases&amp;case=PF-R06</a:t>
            </a:r>
          </a:p>
          <a:p xmlns:a="http://schemas.openxmlformats.org/drawingml/2006/main">
            <a:r>
              <a:t>원문 도면 {"caseId":"PF-R06","path":"assets/casebook-sources/PF-R06-01.png","title":"철도기술연구원 업무시스템","status":"RFP 수록 기존 시스템 구성","caption":"협업 포털·통합경영정보·전자결재·외부 연계 현황","locator":"rId18 / BinData/image1_bmp","checked":"2026-10-16","sha256":"419b833abe927fb60c98c0b17c83b79039658d9fc8f1bf2295db634a55a2c424","explanation":{"read":"포털·MIS·전자결재의 기존 정보시스템 구성. 음성 AI의 신규 배치가 아니라 행정 요청을 실제 처리할 기간계와 결재 경로의 현황을 설명하는 도면.","requirements":["FUR-003","FUR-004","FUR-007","FUR-009"],"connection":"STT·의도 추출·사용자 확인을 앞단에 추가하고 기존 MIS API·결재선으로 인계하는 재구성. 음성 인식 성공과 업무 등록 성공을 별도 상태로 관리."}}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"PF-R06",</a:t>
            </a:r>
          </a:p>
          <a:p xmlns:a="http://schemas.openxmlformats.org/drawingml/2006/main">
            <a:r>
              <a:t>    "sourceId": "R06",</a:t>
            </a:r>
          </a:p>
          <a:p xmlns:a="http://schemas.openxmlformats.org/drawingml/2006/main">
            <a:r>
              <a:t>    "title": "철도기술연구원 행정 AI",</a:t>
            </a:r>
          </a:p>
          <a:p xmlns:a="http://schemas.openxmlformats.org/drawingml/2006/main">
            <a:r>
              <a:t>    "region": "국내",</a:t>
            </a:r>
          </a:p>
          <a:p xmlns:a="http://schemas.openxmlformats.org/drawingml/2006/main">
            <a:r>
              <a:t>    "owner": "한국철도기술연구원",</a:t>
            </a:r>
          </a:p>
          <a:p xmlns:a="http://schemas.openxmlformats.org/drawingml/2006/main">
            <a:r>
              <a:t>    "state": "공식 RFP 확인 / 운영·효과 미확인",</a:t>
            </a:r>
          </a:p>
          <a:p xmlns:a="http://schemas.openxmlformats.org/drawingml/2006/main">
            <a:r>
              <a:t>    "period": "기존 원장 확인 2026.10.16",</a:t>
            </a:r>
          </a:p>
          <a:p xmlns:a="http://schemas.openxmlformats.org/drawingml/2006/main">
            <a:r>
              <a:t>    "fact": "음성·자연어로 휴가·출장·복명 신청 후 MIS/전자결재 실행",</a:t>
            </a:r>
          </a:p>
          <a:p xmlns:a="http://schemas.openxmlformats.org/drawingml/2006/main">
            <a:r>
              <a:t>    "limit": "RFP 요구 범위 · MIS API 계층 신규 개발 포함 · 운영 성과와 구분",</a:t>
            </a:r>
          </a:p>
          <a:p xmlns:a="http://schemas.openxmlformats.org/drawingml/2006/main">
            <a:r>
              <a:t>    "nodes": [</a:t>
            </a:r>
          </a:p>
          <a:p xmlns:a="http://schemas.openxmlformats.org/drawingml/2006/main">
            <a:r>
              <a:t>      "음성·자연어",</a:t>
            </a:r>
          </a:p>
          <a:p xmlns:a="http://schemas.openxmlformats.org/drawingml/2006/main">
            <a:r>
              <a:t>      "필드 추출",</a:t>
            </a:r>
          </a:p>
          <a:p xmlns:a="http://schemas.openxmlformats.org/drawingml/2006/main">
            <a:r>
              <a:t>      "사용자 확인",</a:t>
            </a:r>
          </a:p>
          <a:p xmlns:a="http://schemas.openxmlformats.org/drawingml/2006/main">
            <a:r>
              <a:t>      "MIS·결재 연계"</a:t>
            </a:r>
          </a:p>
          <a:p xmlns:a="http://schemas.openxmlformats.org/drawingml/2006/main">
            <a:r>
              <a:t>    ],</a:t>
            </a:r>
          </a:p>
          <a:p xmlns:a="http://schemas.openxmlformats.org/drawingml/2006/main">
            <a:r>
              <a:t>    "apply": "사용자 확인·전결·접수 결과까지 추적하는 자연어 업무 실행",</a:t>
            </a:r>
          </a:p>
          <a:p xmlns:a="http://schemas.openxmlformats.org/drawingml/2006/main">
            <a:r>
              <a:t>    "delta": "발화 필드·확인 화면 / TS 기간계 API 차분 / 전결·취소·재시도 연결",</a:t>
            </a:r>
          </a:p>
          <a:p xmlns:a="http://schemas.openxmlformats.org/drawingml/2006/main">
            <a:r>
              <a:t>    "test": "날짜 오류·중복 전송·취소 시 승인 전 차단·멱등성·원천 상태 대사",</a:t>
            </a:r>
          </a:p>
          <a:p xmlns:a="http://schemas.openxmlformats.org/drawingml/2006/main">
            <a:r>
              <a:t>    "url": "https://www.g2b.go.kr/pn/pnp/pnpe/UntyAtchFile/downloadFile.do?bidPbancNo=R26BK01719764&amp;bidPbancOrd=000&amp;fileSeq=4&amp;fileType=&amp;prcmBsneSeCd=03",</a:t>
            </a:r>
          </a:p>
          <a:p xmlns:a="http://schemas.openxmlformats.org/drawingml/2006/main">
            <a:r>
              <a:t>    "urls": [</a:t>
            </a:r>
          </a:p>
          <a:p xmlns:a="http://schemas.openxmlformats.org/drawingml/2006/main">
            <a:r>
              <a:t>      "https://www.g2b.go.kr/pn/pnp/pnpe/UntyAtchFile/downloadFile.do?bidPbancNo=R26BK01719764&amp;bidPbancOrd=000&amp;fileSeq=4&amp;fileType=&amp;prcmBsneSeCd=03"</a:t>
            </a:r>
          </a:p>
          <a:p xmlns:a="http://schemas.openxmlformats.org/drawingml/2006/main">
            <a:r>
              <a:t>    ],</a:t>
            </a:r>
          </a:p>
          <a:p xmlns:a="http://schemas.openxmlformats.org/drawingml/2006/main">
            <a:r>
              <a:t>    "basis": "FUR-001~009, PER-001~002, TER-005 / Word T071",</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"신청 완료시간 / 재입력률 / 중복·미접수 건수",</a:t>
            </a:r>
          </a:p>
          <a:p xmlns:a="http://schemas.openxmlformats.org/drawingml/2006/main">
            <a:r>
              <a:t>    "group": "요구·구축",</a:t>
            </a:r>
          </a:p>
          <a:p xmlns:a="http://schemas.openxmlformats.org/drawingml/2006/main">
            <a:r>
              <a:t>    "sourceDetail": "STT→의도·필드 추출→사용자 확인→MIS API 신규개발→기안·상신; 조직·직무·권한 기반 결재선",</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"PF-R06",</a:t>
            </a:r>
          </a:p>
          <a:p xmlns:a="http://schemas.openxmlformats.org/drawingml/2006/main">
            <a:r>
              <a:t>    "canonicalId": "PF-R06",</a:t>
            </a:r>
          </a:p>
          <a:p xmlns:a="http://schemas.openxmlformats.org/drawingml/2006/main">
            <a:r>
              <a:t>    "purpose": "발화에서 휴가·출장·복명 신청까지 연결",</a:t>
            </a:r>
          </a:p>
          <a:p xmlns:a="http://schemas.openxmlformats.org/drawingml/2006/main">
            <a:r>
              <a:t>    "users": "직원·결재자·MIS 운영자",</a:t>
            </a:r>
          </a:p>
          <a:p xmlns:a="http://schemas.openxmlformats.org/drawingml/2006/main">
            <a:r>
              <a:t>    "scope": [</a:t>
            </a:r>
          </a:p>
          <a:p xmlns:a="http://schemas.openxmlformats.org/drawingml/2006/main">
            <a:r>
              <a:t>      "음성 입력",</a:t>
            </a:r>
          </a:p>
          <a:p xmlns:a="http://schemas.openxmlformats.org/drawingml/2006/main">
            <a:r>
              <a:t>      "신청서 작성",</a:t>
            </a:r>
          </a:p>
          <a:p xmlns:a="http://schemas.openxmlformats.org/drawingml/2006/main">
            <a:r>
              <a:t>      "MIS·전자결재"</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"음성·자연어",</a:t>
            </a:r>
          </a:p>
          <a:p xmlns:a="http://schemas.openxmlformats.org/drawingml/2006/main">
            <a:r>
              <a:t>        "detail": "음성/텍스트 입력과 조직·직무·권한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"음성 입력 / 신청서 작성 / MIS·전자결재",</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"필드 추출·확인",</a:t>
            </a:r>
          </a:p>
          <a:p xmlns:a="http://schemas.openxmlformats.org/drawingml/2006/main">
            <a:r>
              <a:t>        "detail": "STT·NLU의 의도·날짜·항목 추출 및 확인",</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"MIS·전자결재",</a:t>
            </a:r>
          </a:p>
          <a:p xmlns:a="http://schemas.openxmlformats.org/drawingml/2006/main">
            <a:r>
              <a:t>        "detail": "신규 MIS API로 기안·상신·처리 결과 확인",</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"신청 초안·처리 상태",</a:t>
            </a:r>
          </a:p>
          <a:p xmlns:a="http://schemas.openxmlformats.org/drawingml/2006/main">
            <a:r>
              <a:t>        "detail": "인사·근태·잔여연차·서식 데이터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"수정·취소·재시도 상태의 원천 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"음성·자연어",</a:t>
            </a:r>
          </a:p>
          <a:p xmlns:a="http://schemas.openxmlformats.org/drawingml/2006/main">
            <a:r>
              <a:t>        "input": "음성/텍스트 입력과 조직·직무·권한 확인",</a:t>
            </a:r>
          </a:p>
          <a:p xmlns:a="http://schemas.openxmlformats.org/drawingml/2006/main">
            <a:r>
              <a:t>        "process": "인사·근태·잔여연차·서식 데이터 연결",</a:t>
            </a:r>
          </a:p>
          <a:p xmlns:a="http://schemas.openxmlformats.org/drawingml/2006/main">
            <a:r>
              <a:t>        "output": "원 발화"</a:t>
            </a:r>
          </a:p>
          <a:p xmlns:a="http://schemas.openxmlformats.org/drawingml/2006/main">
            <a:r>
              <a:t>      },</a:t>
            </a:r>
          </a:p>
          <a:p xmlns:a="http://schemas.openxmlformats.org/drawingml/2006/main">
            <a:r>
              <a:t>      {</a:t>
            </a:r>
          </a:p>
          <a:p xmlns:a="http://schemas.openxmlformats.org/drawingml/2006/main">
            <a:r>
              <a:t>        "title": "필드 추출",</a:t>
            </a:r>
          </a:p>
          <a:p xmlns:a="http://schemas.openxmlformats.org/drawingml/2006/main">
            <a:r>
              <a:t>        "input": "원 발화",</a:t>
            </a:r>
          </a:p>
          <a:p xmlns:a="http://schemas.openxmlformats.org/drawingml/2006/main">
            <a:r>
              <a:t>        "process": "STT·NLU의 의도·날짜·항목 추출 및 확인",</a:t>
            </a:r>
          </a:p>
          <a:p xmlns:a="http://schemas.openxmlformats.org/drawingml/2006/main">
            <a:r>
              <a:t>        "output": "신청 필드"</a:t>
            </a:r>
          </a:p>
          <a:p xmlns:a="http://schemas.openxmlformats.org/drawingml/2006/main">
            <a:r>
              <a:t>      },</a:t>
            </a:r>
          </a:p>
          <a:p xmlns:a="http://schemas.openxmlformats.org/drawingml/2006/main">
            <a:r>
              <a:t>      {</a:t>
            </a:r>
          </a:p>
          <a:p xmlns:a="http://schemas.openxmlformats.org/drawingml/2006/main">
            <a:r>
              <a:t>        "title": "사용자 확인",</a:t>
            </a:r>
          </a:p>
          <a:p xmlns:a="http://schemas.openxmlformats.org/drawingml/2006/main">
            <a:r>
              <a:t>        "input": "신청 필드",</a:t>
            </a:r>
          </a:p>
          <a:p xmlns:a="http://schemas.openxmlformats.org/drawingml/2006/main">
            <a:r>
              <a:t>        "process": "필수 필드 재확인·멱등성·상태 대사",</a:t>
            </a:r>
          </a:p>
          <a:p xmlns:a="http://schemas.openxmlformats.org/drawingml/2006/main">
            <a:r>
              <a:t>        "output": "확인된 초안"</a:t>
            </a:r>
          </a:p>
          <a:p xmlns:a="http://schemas.openxmlformats.org/drawingml/2006/main">
            <a:r>
              <a:t>      },</a:t>
            </a:r>
          </a:p>
          <a:p xmlns:a="http://schemas.openxmlformats.org/drawingml/2006/main">
            <a:r>
              <a:t>      {</a:t>
            </a:r>
          </a:p>
          <a:p xmlns:a="http://schemas.openxmlformats.org/drawingml/2006/main">
            <a:r>
              <a:t>        "title": "MIS·결재 연계",</a:t>
            </a:r>
          </a:p>
          <a:p xmlns:a="http://schemas.openxmlformats.org/drawingml/2006/main">
            <a:r>
              <a:t>        "input": "확인된 초안",</a:t>
            </a:r>
          </a:p>
          <a:p xmlns:a="http://schemas.openxmlformats.org/drawingml/2006/main">
            <a:r>
              <a:t>        "process": "신규 MIS API로 기안·상신·처리 결과 확인",</a:t>
            </a:r>
          </a:p>
          <a:p xmlns:a="http://schemas.openxmlformats.org/drawingml/2006/main">
            <a:r>
              <a:t>        "output": "접수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"출장 목적·기간·장소를 말하고 확인 후 기안·상신",</a:t>
            </a:r>
          </a:p>
          <a:p xmlns:a="http://schemas.openxmlformats.org/drawingml/2006/main">
            <a:r>
              <a:t>      "exception": "날짜 오인식·필수 항목 누락·API 재시도·취소",</a:t>
            </a:r>
          </a:p>
          <a:p xmlns:a="http://schemas.openxmlformats.org/drawingml/2006/main">
            <a:r>
              <a:t>      "evidence": "확인 전 실행 차단·중복 방지·MIS 접수 상태 대사",</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"직원·결재자·MIS 운영자",</a:t>
            </a:r>
          </a:p>
          <a:p xmlns:a="http://schemas.openxmlformats.org/drawingml/2006/main">
            <a:r>
              <a:t>          "processing": "음성/텍스트 입력과 조직·직무·권한 확인",</a:t>
            </a:r>
          </a:p>
          <a:p xmlns:a="http://schemas.openxmlformats.org/drawingml/2006/main">
            <a:r>
              <a:t>          "output": "원 발화"</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"신청 초안·처리 상태",</a:t>
            </a:r>
          </a:p>
          <a:p xmlns:a="http://schemas.openxmlformats.org/drawingml/2006/main">
            <a:r>
              <a:t>          "processing": "인사·근태·잔여연차·서식 데이터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"원 발화",</a:t>
            </a:r>
          </a:p>
          <a:p xmlns:a="http://schemas.openxmlformats.org/drawingml/2006/main">
            <a:r>
              <a:t>          "processing": "STT·NLU의 의도·날짜·항목 추출 및 확인",</a:t>
            </a:r>
          </a:p>
          <a:p xmlns:a="http://schemas.openxmlformats.org/drawingml/2006/main">
            <a:r>
              <a:t>          "output": "확인된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"확인된 초안",</a:t>
            </a:r>
          </a:p>
          <a:p xmlns:a="http://schemas.openxmlformats.org/drawingml/2006/main">
            <a:r>
              <a:t>          "processing": "신규 MIS API로 기안·상신·처리 결과 확인",</a:t>
            </a:r>
          </a:p>
          <a:p xmlns:a="http://schemas.openxmlformats.org/drawingml/2006/main">
            <a:r>
              <a:t>          "output": "접수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"수정·취소·재시도 상태의 원천 대사",</a:t>
            </a:r>
          </a:p>
          <a:p xmlns:a="http://schemas.openxmlformats.org/drawingml/2006/main">
            <a:r>
              <a:t>          "output": "확인 전 실행 차단·중복 방지·MIS 접수 상태 대사"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"수정·취소·재시도 상태의 원천 대사",</a:t>
            </a:r>
          </a:p>
          <a:p xmlns:a="http://schemas.openxmlformats.org/drawingml/2006/main">
            <a:r>
              <a:t>    "status": "RFP 기반 논리 설계",</a:t>
            </a:r>
          </a:p>
          <a:p xmlns:a="http://schemas.openxmlformats.org/drawingml/2006/main">
            <a:r>
              <a:t>    "basis": "RFP · FUR-001~009·TER-005",</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"FUR-001~009, PER-001~002, TER-005 / Word T071",</a:t>
            </a:r>
          </a:p>
          <a:p xmlns:a="http://schemas.openxmlformats.org/drawingml/2006/main">
            <a:r>
              <a:t>        "url": "https://www.g2b.go.kr/pn/pnp/pnpe/UntyAtchFile/downloadFile.do?bidPbancNo=R26BK01719764&amp;bidPbancOrd=000&amp;fileSeq=4&amp;fileType=&amp;prcmBsneSeCd=03"</a:t>
            </a:r>
          </a:p>
          <a:p xmlns:a="http://schemas.openxmlformats.org/drawingml/2006/main">
            <a:r>
              <a:t>      }</a:t>
            </a:r>
          </a:p>
          <a:p xmlns:a="http://schemas.openxmlformats.org/drawingml/2006/main">
            <a:r>
              <a:t>    ],</a:t>
            </a:r>
          </a:p>
          <a:p xmlns:a="http://schemas.openxmlformats.org/drawingml/2006/main">
            <a:r>
              <a:t>    "implication": "사용자 확인·전결·접수 결과까지 추적하는 자연어 업무 실행",</a:t>
            </a:r>
          </a:p>
          <a:p xmlns:a="http://schemas.openxmlformats.org/drawingml/2006/main">
            <a:r>
              <a:t>    "local": "사용자 확인·전결·접수 결과까지 추적하는 자연어 업무 실행",</a:t>
            </a:r>
          </a:p>
          <a:p xmlns:a="http://schemas.openxmlformats.org/drawingml/2006/main">
            <a:r>
              <a:t>    "sourceDetail": "STT→의도·필드 추출→사용자 확인→MIS API 신규개발→기안·상신; 조직·직무·권한 기반 결재선",</a:t>
            </a:r>
          </a:p>
          <a:p xmlns:a="http://schemas.openxmlformats.org/drawingml/2006/main">
            <a:r>
              <a:t>    "narrative": [</a:t>
            </a:r>
          </a:p>
          <a:p xmlns:a="http://schemas.openxmlformats.org/drawingml/2006/main">
            <a:r>
              <a:t>      "휴가·출장 등 행정업무를 음성·텍스트 요청에서 시작해 MIS와 전자결재까지 연결하는 사업. 기존 서식·데이터 생성 로직이 MIS에 있고 AI·모바일 호출용 API가 없다는 연계 제약을 RFP에 명시.",</a:t>
            </a:r>
          </a:p>
          <a:p xmlns:a="http://schemas.openxmlformats.org/drawingml/2006/main">
            <a:r>
              <a:t>      "발화의 STT 변환, NLU 의도·개체 추출, 필수 항목 검증, 사용자 확인, MIS 서식 생성, 결재선 추천, 상신·상태 조회를 구분하는 처리 구조. FUR-009의 신규 API는 서식 메타데이터, 잔여연차·근태 조회, 업무규칙 검증, 전자결재 상신을 포함하는 범위.",</a:t>
            </a:r>
          </a:p>
          <a:p xmlns:a="http://schemas.openxmlformats.org/drawingml/2006/main">
            <a:r>
              <a:t>      "AI 모델 정확도 외에 실제 업무 시스템의 접수 상태까지 확인해야 하는 사례. 같은 요청의 재시도, 날짜 수정, 결재선 변경, 상신 후 취소를 검수 시나리오로 분리할 필요. CCK 재사용 도구와 별개로 TS 기간계 API 개발·멱등성·상태 대사를 추가 범위로 산정."</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"FUR-001",</a:t>
            </a:r>
          </a:p>
          <a:p xmlns:a="http://schemas.openxmlformats.org/drawingml/2006/main">
            <a:r>
              <a:t>        "title": "음성 인식(STT) 기반 입력 처리",</a:t>
            </a:r>
          </a:p>
          <a:p xmlns:a="http://schemas.openxmlformats.org/drawingml/2006/main">
            <a:r>
              <a:t>        "locator": "FUR-001",</a:t>
            </a:r>
          </a:p>
          <a:p xmlns:a="http://schemas.openxmlformats.org/drawingml/2006/main">
            <a:r>
              <a:t>        "summary": "음성 발화를 행정 요청의 텍스트 입력으로 변환하는 STT 기능.",</a:t>
            </a:r>
          </a:p>
          <a:p xmlns:a="http://schemas.openxmlformats.org/drawingml/2006/main">
            <a:r>
              <a:t>        "data": "업무 발화·음성 → 전사문",</a:t>
            </a:r>
          </a:p>
          <a:p xmlns:a="http://schemas.openxmlformats.org/drawingml/2006/main">
            <a:r>
              <a:t>        "components": [</a:t>
            </a:r>
          </a:p>
          <a:p xmlns:a="http://schemas.openxmlformats.org/drawingml/2006/main">
            <a:r>
              <a:t>          "C01",</a:t>
            </a:r>
          </a:p>
          <a:p xmlns:a="http://schemas.openxmlformats.org/drawingml/2006/main">
            <a:r>
              <a:t>          "C04"</a:t>
            </a:r>
          </a:p>
          <a:p xmlns:a="http://schemas.openxmlformats.org/drawingml/2006/main">
            <a:r>
              <a:t>        ],</a:t>
            </a:r>
          </a:p>
          <a:p xmlns:a="http://schemas.openxmlformats.org/drawingml/2006/main">
            <a:r>
              <a:t>        "acceptance": "잡음·기관 고유어·날짜·숫자·수정 발화의 전사 결과를 정답과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"4b2d797a440d1d6fbec4f86d7f517404bd7f1e493f405d7d9f79cd20481e3cbd"</a:t>
            </a:r>
          </a:p>
          <a:p xmlns:a="http://schemas.openxmlformats.org/drawingml/2006/main">
            <a:r>
              <a:t>      },</a:t>
            </a:r>
          </a:p>
          <a:p xmlns:a="http://schemas.openxmlformats.org/drawingml/2006/main">
            <a:r>
              <a:t>      {</a:t>
            </a:r>
          </a:p>
          <a:p xmlns:a="http://schemas.openxmlformats.org/drawingml/2006/main">
            <a:r>
              <a:t>        "id": "FUR-002",</a:t>
            </a:r>
          </a:p>
          <a:p xmlns:a="http://schemas.openxmlformats.org/drawingml/2006/main">
            <a:r>
              <a:t>        "title": "자연어 이해(NLU) 및 사용자 의도 분석",</a:t>
            </a:r>
          </a:p>
          <a:p xmlns:a="http://schemas.openxmlformats.org/drawingml/2006/main">
            <a:r>
              <a:t>        "locator": "FUR-002",</a:t>
            </a:r>
          </a:p>
          <a:p xmlns:a="http://schemas.openxmlformats.org/drawingml/2006/main">
            <a:r>
              <a:t>        "summary": "전사·텍스트에서 사용자의 의도와 업무에 필요한 항목을 식별하는 NLU 기능.",</a:t>
            </a:r>
          </a:p>
          <a:p xmlns:a="http://schemas.openxmlformats.org/drawingml/2006/main">
            <a:r>
              <a:t>        "data": "발화·직원 문맥 → 업무 유형·필수 항목",</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a:t>
            </a:r>
          </a:p>
          <a:p xmlns:a="http://schemas.openxmlformats.org/drawingml/2006/main">
            <a:r>
              <a:t>        "acceptance": "휴가·출장·복명 의도 혼동, 날짜 누락, 정정 발화 처리의 슬롯별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"2b5b33f9ad0c0b4d3f13c4f96f1446464cdcaabdd131ab4dde7eaac0671edc6a"</a:t>
            </a:r>
          </a:p>
          <a:p xmlns:a="http://schemas.openxmlformats.org/drawingml/2006/main">
            <a:r>
              <a:t>      },</a:t>
            </a:r>
          </a:p>
          <a:p xmlns:a="http://schemas.openxmlformats.org/drawingml/2006/main">
            <a:r>
              <a:t>      {</a:t>
            </a:r>
          </a:p>
          <a:p xmlns:a="http://schemas.openxmlformats.org/drawingml/2006/main">
            <a:r>
              <a:t>        "id": "FUR-003",</a:t>
            </a:r>
          </a:p>
          <a:p xmlns:a="http://schemas.openxmlformats.org/drawingml/2006/main">
            <a:r>
              <a:t>        "title": "지능형 업무 자동화 엔진",</a:t>
            </a:r>
          </a:p>
          <a:p xmlns:a="http://schemas.openxmlformats.org/drawingml/2006/main">
            <a:r>
              <a:t>        "locator": "FUR-003",</a:t>
            </a:r>
          </a:p>
          <a:p xmlns:a="http://schemas.openxmlformats.org/drawingml/2006/main">
            <a:r>
              <a:t>        "summary": "식별한 의도를 업무자동화 절차로 연결하는 실행 엔진.",</a:t>
            </a:r>
          </a:p>
          <a:p xmlns:a="http://schemas.openxmlformats.org/drawingml/2006/main">
            <a:r>
              <a:t>        "data": "의도·입력 항목 → 실행 절차·진행 상태",</a:t>
            </a:r>
          </a:p>
          <a:p xmlns:a="http://schemas.openxmlformats.org/drawingml/2006/main">
            <a:r>
              <a:t>        "components": [</a:t>
            </a:r>
          </a:p>
          <a:p xmlns:a="http://schemas.openxmlformats.org/drawingml/2006/main">
            <a:r>
              <a:t>          "C04",</a:t>
            </a:r>
          </a:p>
          <a:p xmlns:a="http://schemas.openxmlformats.org/drawingml/2006/main">
            <a:r>
              <a:t>          "C05",</a:t>
            </a:r>
          </a:p>
          <a:p xmlns:a="http://schemas.openxmlformats.org/drawingml/2006/main">
            <a:r>
              <a:t>          "C07"</a:t>
            </a:r>
          </a:p>
          <a:p xmlns:a="http://schemas.openxmlformats.org/drawingml/2006/main">
            <a:r>
              <a:t>        ],</a:t>
            </a:r>
          </a:p>
          <a:p xmlns:a="http://schemas.openxmlformats.org/drawingml/2006/main">
            <a:r>
              <a:t>        "acceptance": "필수값 누락·비허용 업무·중간 실패 조건의 실행 보류와 재개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"f810450f2d482dea56dce3c7164eae2c0fc1681561e11d1fd64a9f19546747d3"</a:t>
            </a:r>
          </a:p>
          <a:p xmlns:a="http://schemas.openxmlformats.org/drawingml/2006/main">
            <a:r>
              <a:t>      },</a:t>
            </a:r>
          </a:p>
          <a:p xmlns:a="http://schemas.openxmlformats.org/drawingml/2006/main">
            <a:r>
              <a:t>      {</a:t>
            </a:r>
          </a:p>
          <a:p xmlns:a="http://schemas.openxmlformats.org/drawingml/2006/main">
            <a:r>
              <a:t>        "id": "FUR-004",</a:t>
            </a:r>
          </a:p>
          <a:p xmlns:a="http://schemas.openxmlformats.org/drawingml/2006/main">
            <a:r>
              <a:t>        "title": "행정서식 생성(MIS)·전자결재 연동 및 결재선 자동 추천",</a:t>
            </a:r>
          </a:p>
          <a:p xmlns:a="http://schemas.openxmlformats.org/drawingml/2006/main">
            <a:r>
              <a:t>        "locator": "FUR-004",</a:t>
            </a:r>
          </a:p>
          <a:p xmlns:a="http://schemas.openxmlformats.org/drawingml/2006/main">
            <a:r>
              <a:t>        "summary": "MIS 행정서식 생성과 전자결재·결재선 연계.",</a:t>
            </a:r>
          </a:p>
          <a:p xmlns:a="http://schemas.openxmlformats.org/drawingml/2006/main">
            <a:r>
              <a:t>        "data": "직원·업무 데이터 → 신청서·결재선·접수 결과",</a:t>
            </a:r>
          </a:p>
          <a:p xmlns:a="http://schemas.openxmlformats.org/drawingml/2006/main">
            <a:r>
              <a:t>        "components": [</a:t>
            </a:r>
          </a:p>
          <a:p xmlns:a="http://schemas.openxmlformats.org/drawingml/2006/main">
            <a:r>
              <a:t>          "C04",</a:t>
            </a:r>
          </a:p>
          <a:p xmlns:a="http://schemas.openxmlformats.org/drawingml/2006/main">
            <a:r>
              <a:t>          "C06",</a:t>
            </a:r>
          </a:p>
          <a:p xmlns:a="http://schemas.openxmlformats.org/drawingml/2006/main">
            <a:r>
              <a:t>          "C07"</a:t>
            </a:r>
          </a:p>
          <a:p xmlns:a="http://schemas.openxmlformats.org/drawingml/2006/main">
            <a:r>
              <a:t>        ],</a:t>
            </a:r>
          </a:p>
          <a:p xmlns:a="http://schemas.openxmlformats.org/drawingml/2006/main">
            <a:r>
              <a:t>        "acceptance": "다른 직원의 결재선, 수정 전 날짜, 중복 신청을 포함해 확인 화면과 최종 등록값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"4f1ec6fe0d7a56356478c8dfabb91a772fd9c787cec611102d2b41d2bf087f45"</a:t>
            </a:r>
          </a:p>
          <a:p xmlns:a="http://schemas.openxmlformats.org/drawingml/2006/main">
            <a:r>
              <a:t>      },</a:t>
            </a:r>
          </a:p>
          <a:p xmlns:a="http://schemas.openxmlformats.org/drawingml/2006/main">
            <a:r>
              <a:t>      {</a:t>
            </a:r>
          </a:p>
          <a:p xmlns:a="http://schemas.openxmlformats.org/drawingml/2006/main">
            <a:r>
              <a:t>        "id": "FUR-007",</a:t>
            </a:r>
          </a:p>
          <a:p xmlns:a="http://schemas.openxmlformats.org/drawingml/2006/main">
            <a:r>
              <a:t>        "title": "그룹웨어·기간계 시스템 연계",</a:t>
            </a:r>
          </a:p>
          <a:p xmlns:a="http://schemas.openxmlformats.org/drawingml/2006/main">
            <a:r>
              <a:t>        "locator": "FUR-007",</a:t>
            </a:r>
          </a:p>
          <a:p xmlns:a="http://schemas.openxmlformats.org/drawingml/2006/main">
            <a:r>
              <a:t>        "summary": "그룹웨어·기간계와 연계해 요청 및 처리 결과를 교환하는 기능.",</a:t>
            </a:r>
          </a:p>
          <a:p xmlns:a="http://schemas.openxmlformats.org/drawingml/2006/main">
            <a:r>
              <a:t>        "data": "업무 요청·시스템 식별정보 → 처리 결과·상태",</a:t>
            </a:r>
          </a:p>
          <a:p xmlns:a="http://schemas.openxmlformats.org/drawingml/2006/main">
            <a:r>
              <a:t>        "components": [</a:t>
            </a:r>
          </a:p>
          <a:p xmlns:a="http://schemas.openxmlformats.org/drawingml/2006/main">
            <a:r>
              <a:t>          "C02",</a:t>
            </a:r>
          </a:p>
          <a:p xmlns:a="http://schemas.openxmlformats.org/drawingml/2006/main">
            <a:r>
              <a:t>          "C07",</a:t>
            </a:r>
          </a:p>
          <a:p xmlns:a="http://schemas.openxmlformats.org/drawingml/2006/main">
            <a:r>
              <a:t>          "C08"</a:t>
            </a:r>
          </a:p>
          <a:p xmlns:a="http://schemas.openxmlformats.org/drawingml/2006/main">
            <a:r>
              <a:t>        ],</a:t>
            </a:r>
          </a:p>
          <a:p xmlns:a="http://schemas.openxmlformats.org/drawingml/2006/main">
            <a:r>
              <a:t>        "acceptance": "인증 만료·연계 장애·응답 지연 시 실제 등록 상태와 사용자 안내의 일치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"248a2a097858bb82f76df87facd2135704aa4354594d82248b40def47a25d3f5"</a:t>
            </a:r>
          </a:p>
          <a:p xmlns:a="http://schemas.openxmlformats.org/drawingml/2006/main">
            <a:r>
              <a:t>      },</a:t>
            </a:r>
          </a:p>
          <a:p xmlns:a="http://schemas.openxmlformats.org/drawingml/2006/main">
            <a:r>
              <a:t>      {</a:t>
            </a:r>
          </a:p>
          <a:p xmlns:a="http://schemas.openxmlformats.org/drawingml/2006/main">
            <a:r>
              <a:t>        "id": "FUR-009",</a:t>
            </a:r>
          </a:p>
          <a:p xmlns:a="http://schemas.openxmlformats.org/drawingml/2006/main">
            <a:r>
              <a:t>        "title": "통합경영정보시스템(MIS) 행정업무 API 개발",</a:t>
            </a:r>
          </a:p>
          <a:p xmlns:a="http://schemas.openxmlformats.org/drawingml/2006/main">
            <a:r>
              <a:t>        "locator": "FUR-009",</a:t>
            </a:r>
          </a:p>
          <a:p xmlns:a="http://schemas.openxmlformats.org/drawingml/2006/main">
            <a:r>
              <a:t>        "summary": "자연어 행정 서비스에 필요한 MIS 업무 API의 신규 개발.",</a:t>
            </a:r>
          </a:p>
          <a:p xmlns:a="http://schemas.openxmlformats.org/drawingml/2006/main">
            <a:r>
              <a:t>        "data": "구조화 행정 요청 → MIS 생성·조회 결과",</a:t>
            </a:r>
          </a:p>
          <a:p xmlns:a="http://schemas.openxmlformats.org/drawingml/2006/main">
            <a:r>
              <a:t>        "components": [</a:t>
            </a:r>
          </a:p>
          <a:p xmlns:a="http://schemas.openxmlformats.org/drawingml/2006/main">
            <a:r>
              <a:t>          "C07"</a:t>
            </a:r>
          </a:p>
          <a:p xmlns:a="http://schemas.openxmlformats.org/drawingml/2006/main">
            <a:r>
              <a:t>        ],</a:t>
            </a:r>
          </a:p>
          <a:p xmlns:a="http://schemas.openxmlformats.org/drawingml/2006/main">
            <a:r>
              <a:t>        "acceptance": "필수 인자·권한·중복 요청·취소 가능 상태를 API 계약 및 실제 데이터와 대조",</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"8a445db50ff666bd64f8ff0b7745693eaefce5e0df8153d8c59102304c330829"</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"음성·텍스트 입력",</a:t>
            </a:r>
          </a:p>
          <a:p xmlns:a="http://schemas.openxmlformats.org/drawingml/2006/main">
            <a:r>
              <a:t>          "layer": "이용 접점",</a:t>
            </a:r>
          </a:p>
          <a:p xmlns:a="http://schemas.openxmlformats.org/drawingml/2006/main">
            <a:r>
              <a:t>          "detail": "직원·결재자·MIS 운영자",</a:t>
            </a:r>
          </a:p>
          <a:p xmlns:a="http://schemas.openxmlformats.org/drawingml/2006/main">
            <a:r>
              <a:t>          "requirements": [</a:t>
            </a:r>
          </a:p>
          <a:p xmlns:a="http://schemas.openxmlformats.org/drawingml/2006/main">
            <a:r>
              <a:t>            "FUR-001"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"직원·조직·직무",</a:t>
            </a:r>
          </a:p>
          <a:p xmlns:a="http://schemas.openxmlformats.org/drawingml/2006/main">
            <a:r>
              <a:t>          "layer": "업무 문맥",</a:t>
            </a:r>
          </a:p>
          <a:p xmlns:a="http://schemas.openxmlformats.org/drawingml/2006/main">
            <a:r>
              <a:t>          "detail": "음성/텍스트 입력과 조직·직무·권한 확인",</a:t>
            </a:r>
          </a:p>
          <a:p xmlns:a="http://schemas.openxmlformats.org/drawingml/2006/main">
            <a:r>
              <a:t>          "requirements": [</a:t>
            </a:r>
          </a:p>
          <a:p xmlns:a="http://schemas.openxmlformats.org/drawingml/2006/main">
            <a:r>
              <a:t>            "FUR-002",</a:t>
            </a:r>
          </a:p>
          <a:p xmlns:a="http://schemas.openxmlformats.org/drawingml/2006/main">
            <a:r>
              <a:t>            "FUR-007"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"근태·서식 조회",</a:t>
            </a:r>
          </a:p>
          <a:p xmlns:a="http://schemas.openxmlformats.org/drawingml/2006/main">
            <a:r>
              <a:t>          "layer": "자료 조회",</a:t>
            </a:r>
          </a:p>
          <a:p xmlns:a="http://schemas.openxmlformats.org/drawingml/2006/main">
            <a:r>
              <a:t>          "detail": "원 발화",</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"STT·의도·필드 추출",</a:t>
            </a:r>
          </a:p>
          <a:p xmlns:a="http://schemas.openxmlformats.org/drawingml/2006/main">
            <a:r>
              <a:t>          "layer": "핵심 처리",</a:t>
            </a:r>
          </a:p>
          <a:p xmlns:a="http://schemas.openxmlformats.org/drawingml/2006/main">
            <a:r>
              <a:t>          "detail": "STT·NLU의 의도·날짜·항목 추출 및 확인",</a:t>
            </a:r>
          </a:p>
          <a:p xmlns:a="http://schemas.openxmlformats.org/drawingml/2006/main">
            <a:r>
              <a:t>          "requirements": [</a:t>
            </a:r>
          </a:p>
          <a:p xmlns:a="http://schemas.openxmlformats.org/drawingml/2006/main">
            <a:r>
              <a:t>            "FUR-001",</a:t>
            </a:r>
          </a:p>
          <a:p xmlns:a="http://schemas.openxmlformats.org/drawingml/2006/main">
            <a:r>
              <a:t>            "FUR-002",</a:t>
            </a:r>
          </a:p>
          <a:p xmlns:a="http://schemas.openxmlformats.org/drawingml/2006/main">
            <a:r>
              <a:t>            "FUR-003",</a:t>
            </a:r>
          </a:p>
          <a:p xmlns:a="http://schemas.openxmlformats.org/drawingml/2006/main">
            <a:r>
              <a:t>            "FUR-004"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"날짜·필수값 검사",</a:t>
            </a:r>
          </a:p>
          <a:p xmlns:a="http://schemas.openxmlformats.org/drawingml/2006/main">
            <a:r>
              <a:t>          "layer": "결과 검증",</a:t>
            </a:r>
          </a:p>
          <a:p xmlns:a="http://schemas.openxmlformats.org/drawingml/2006/main">
            <a:r>
              <a:t>          "detail": "필수 필드 재확인·멱등성·상태 대사",</a:t>
            </a:r>
          </a:p>
          <a:p xmlns:a="http://schemas.openxmlformats.org/drawingml/2006/main">
            <a:r>
              <a:t>          "requirements": [</a:t>
            </a:r>
          </a:p>
          <a:p xmlns:a="http://schemas.openxmlformats.org/drawingml/2006/main">
            <a:r>
              <a:t>            "FUR-003"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"사용자 최종 확인",</a:t>
            </a:r>
          </a:p>
          <a:p xmlns:a="http://schemas.openxmlformats.org/drawingml/2006/main">
            <a:r>
              <a:t>          "layer": "사람 확인",</a:t>
            </a:r>
          </a:p>
          <a:p xmlns:a="http://schemas.openxmlformats.org/drawingml/2006/main">
            <a:r>
              <a:t>          "detail": "출장 목적·기간·장소를 말하고 확인 후 기안·상신",</a:t>
            </a:r>
          </a:p>
          <a:p xmlns:a="http://schemas.openxmlformats.org/drawingml/2006/main">
            <a:r>
              <a:t>          "requirements": [</a:t>
            </a:r>
          </a:p>
          <a:p xmlns:a="http://schemas.openxmlformats.org/drawingml/2006/main">
            <a:r>
              <a:t>            "FUR-004"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"신규 MIS API·상신",</a:t>
            </a:r>
          </a:p>
          <a:p xmlns:a="http://schemas.openxmlformats.org/drawingml/2006/main">
            <a:r>
              <a:t>          "layer": "업무 연결",</a:t>
            </a:r>
          </a:p>
          <a:p xmlns:a="http://schemas.openxmlformats.org/drawingml/2006/main">
            <a:r>
              <a:t>          "detail": "신규 MIS API로 기안·상신·처리 결과 확인",</a:t>
            </a:r>
          </a:p>
          <a:p xmlns:a="http://schemas.openxmlformats.org/drawingml/2006/main">
            <a:r>
              <a:t>          "requirements": [</a:t>
            </a:r>
          </a:p>
          <a:p xmlns:a="http://schemas.openxmlformats.org/drawingml/2006/main">
            <a:r>
              <a:t>            "FUR-003",</a:t>
            </a:r>
          </a:p>
          <a:p xmlns:a="http://schemas.openxmlformats.org/drawingml/2006/main">
            <a:r>
              <a:t>            "FUR-004",</a:t>
            </a:r>
          </a:p>
          <a:p xmlns:a="http://schemas.openxmlformats.org/drawingml/2006/main">
            <a:r>
              <a:t>            "FUR-007",</a:t>
            </a:r>
          </a:p>
          <a:p xmlns:a="http://schemas.openxmlformats.org/drawingml/2006/main">
            <a:r>
              <a:t>            "FUR-009"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"취소·중복 대사",</a:t>
            </a:r>
          </a:p>
          <a:p xmlns:a="http://schemas.openxmlformats.org/drawingml/2006/main">
            <a:r>
              <a:t>          "layer": "운영 관측",</a:t>
            </a:r>
          </a:p>
          <a:p xmlns:a="http://schemas.openxmlformats.org/drawingml/2006/main">
            <a:r>
              <a:t>          "detail": "수정·취소·재시도 상태의 원천 대사",</a:t>
            </a:r>
          </a:p>
          <a:p xmlns:a="http://schemas.openxmlformats.org/drawingml/2006/main">
            <a:r>
              <a:t>          "requirements": [</a:t>
            </a:r>
          </a:p>
          <a:p xmlns:a="http://schemas.openxmlformats.org/drawingml/2006/main">
            <a:r>
              <a:t>            "FUR-007"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"인사·근태·결재선",</a:t>
            </a:r>
          </a:p>
          <a:p xmlns:a="http://schemas.openxmlformats.org/drawingml/2006/main">
            <a:r>
              <a:t>          "layer": "데이터 원천",</a:t>
            </a:r>
          </a:p>
          <a:p xmlns:a="http://schemas.openxmlformats.org/drawingml/2006/main">
            <a:r>
              <a:t>          "detail": "신청 초안·처리 상태",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"필드·서식 정합화",</a:t>
            </a:r>
          </a:p>
          <a:p xmlns:a="http://schemas.openxmlformats.org/drawingml/2006/main">
            <a:r>
              <a:t>          "layer": "준비·갱신",</a:t>
            </a:r>
          </a:p>
          <a:p xmlns:a="http://schemas.openxmlformats.org/drawingml/2006/main">
            <a:r>
              <a:t>          "detail": "인사·근태·잔여연차·서식 데이터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"신청 초안·접수 상태",</a:t>
            </a:r>
          </a:p>
          <a:p xmlns:a="http://schemas.openxmlformats.org/drawingml/2006/main">
            <a:r>
              <a:t>          "layer": "상태·지식 저장",</a:t>
            </a:r>
          </a:p>
          <a:p xmlns:a="http://schemas.openxmlformats.org/drawingml/2006/main">
            <a:r>
              <a:t>          "detail": "확인 전 실행 차단·중복 방지·MIS 접수 상태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"업무·실행 권한",</a:t>
            </a:r>
          </a:p>
          <a:p xmlns:a="http://schemas.openxmlformats.org/drawingml/2006/main">
            <a:r>
              <a:t>          "layer": "권한·정책",</a:t>
            </a:r>
          </a:p>
          <a:p xmlns:a="http://schemas.openxmlformats.org/drawingml/2006/main">
            <a:r>
              <a:t>          "detail": "날짜 오인식·필수 항목 누락·API 재시도·취소",</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"음성/텍스트 입력과 조직·직무·권한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"원 발화",</a:t>
            </a:r>
          </a:p>
          <a:p xmlns:a="http://schemas.openxmlformats.org/drawingml/2006/main">
            <a:r>
              <a:t>          "check": "필수 필드 재확인·멱등성·상태 대사"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"신청 필드",</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"확인된 초안",</a:t>
            </a:r>
          </a:p>
          <a:p xmlns:a="http://schemas.openxmlformats.org/drawingml/2006/main">
            <a:r>
              <a:t>          "check": "날짜 오인식·필수 항목 누락·API 재시도·취소"</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"확인된 초안",</a:t>
            </a:r>
          </a:p>
          <a:p xmlns:a="http://schemas.openxmlformats.org/drawingml/2006/main">
            <a:r>
              <a:t>          "check": "신규 MIS API로 기안·상신·처리 결과 확인"</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"접수 결과",</a:t>
            </a:r>
          </a:p>
          <a:p xmlns:a="http://schemas.openxmlformats.org/drawingml/2006/main">
            <a:r>
              <a:t>          "check": "확인 전 실행 차단·중복 방지·MIS 접수 상태 대사"</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"FUR-001~009·TER-005",</a:t>
            </a:r>
          </a:p>
          <a:p xmlns:a="http://schemas.openxmlformats.org/drawingml/2006/main">
            <a:r>
              <a:t>        "extracted": "STT·NLU, 사용자 확인, MIS API 신규 구축·전자결재 연결",</a:t>
            </a:r>
          </a:p>
          <a:p xmlns:a="http://schemas.openxmlformats.org/drawingml/2006/main">
            <a:r>
              <a:t>        "extension": "중복 요청 식별·취소 후 상태 대사·결재선 효력일 검사"</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"PF-R06",</a:t>
            </a:r>
          </a:p>
          <a:p xmlns:a="http://schemas.openxmlformats.org/drawingml/2006/main">
            <a:r>
              <a:t>          "path": "assets/casebook-sources/PF-R06-01.png",</a:t>
            </a:r>
          </a:p>
          <a:p xmlns:a="http://schemas.openxmlformats.org/drawingml/2006/main">
            <a:r>
              <a:t>          "title": "철도기술연구원 업무시스템",</a:t>
            </a:r>
          </a:p>
          <a:p xmlns:a="http://schemas.openxmlformats.org/drawingml/2006/main">
            <a:r>
              <a:t>          "status": "RFP 수록 기존 시스템 구성",</a:t>
            </a:r>
          </a:p>
          <a:p xmlns:a="http://schemas.openxmlformats.org/drawingml/2006/main">
            <a:r>
              <a:t>          "caption": "협업 포털·통합경영정보·전자결재·외부 연계 현황",</a:t>
            </a:r>
          </a:p>
          <a:p xmlns:a="http://schemas.openxmlformats.org/drawingml/2006/main">
            <a:r>
              <a:t>          "locator": "rId18 / BinData/image1_bmp",</a:t>
            </a:r>
          </a:p>
          <a:p xmlns:a="http://schemas.openxmlformats.org/drawingml/2006/main">
            <a:r>
              <a:t>          "checked": "2026-10-16",</a:t>
            </a:r>
          </a:p>
          <a:p xmlns:a="http://schemas.openxmlformats.org/drawingml/2006/main">
            <a:r>
              <a:t>          "sha256": "419b833abe927fb60c98c0b17c83b79039658d9fc8f1bf2295db634a55a2c424",</a:t>
            </a:r>
          </a:p>
          <a:p xmlns:a="http://schemas.openxmlformats.org/drawingml/2006/main">
            <a:r>
              <a:t>          "explanation": {</a:t>
            </a:r>
          </a:p>
          <a:p xmlns:a="http://schemas.openxmlformats.org/drawingml/2006/main">
            <a:r>
              <a:t>            "read": "포털·MIS·전자결재의 기존 정보시스템 구성. 음성 AI의 신규 배치가 아니라 행정 요청을 실제 처리할 기간계와 결재 경로의 현황을 설명하는 도면.",</a:t>
            </a:r>
          </a:p>
          <a:p xmlns:a="http://schemas.openxmlformats.org/drawingml/2006/main">
            <a:r>
              <a:t>            "requirements": [</a:t>
            </a:r>
          </a:p>
          <a:p xmlns:a="http://schemas.openxmlformats.org/drawingml/2006/main">
            <a:r>
              <a:t>              "FUR-003",</a:t>
            </a:r>
          </a:p>
          <a:p xmlns:a="http://schemas.openxmlformats.org/drawingml/2006/main">
            <a:r>
              <a:t>              "FUR-004",</a:t>
            </a:r>
          </a:p>
          <a:p xmlns:a="http://schemas.openxmlformats.org/drawingml/2006/main">
            <a:r>
              <a:t>              "FUR-007",</a:t>
            </a:r>
          </a:p>
          <a:p xmlns:a="http://schemas.openxmlformats.org/drawingml/2006/main">
            <a:r>
              <a:t>              "FUR-009"</a:t>
            </a:r>
          </a:p>
          <a:p xmlns:a="http://schemas.openxmlformats.org/drawingml/2006/main">
            <a:r>
              <a:t>            ],</a:t>
            </a:r>
          </a:p>
          <a:p xmlns:a="http://schemas.openxmlformats.org/drawingml/2006/main">
            <a:r>
              <a:t>            "connection": "STT·의도 추출·사용자 확인을 앞단에 추가하고 기존 MIS API·결재선으로 인계하는 재구성. 음성 인식 성공과 업무 등록 성공을 별도 상태로 관리."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"날짜 오인식·필수 항목 누락·API 재시도·취소",</a:t>
            </a:r>
          </a:p>
          <a:p xmlns:a="http://schemas.openxmlformats.org/drawingml/2006/main">
            <a:r>
              <a:t>        "hold": "필수 필드 재확인·멱등성·상태 대사",</a:t>
            </a:r>
          </a:p>
          <a:p xmlns:a="http://schemas.openxmlformats.org/drawingml/2006/main">
            <a:r>
              <a:t>        "recovery": "수정·취소·재시도 상태의 원천 대사",</a:t>
            </a:r>
          </a:p>
          <a:p xmlns:a="http://schemas.openxmlformats.org/drawingml/2006/main">
            <a:r>
              <a:t>        "evidence": "확인 전 실행 차단·중복 방지·MIS 접수 상태 대사"</a:t>
            </a:r>
          </a:p>
          <a:p xmlns:a="http://schemas.openxmlformats.org/drawingml/2006/main">
            <a:r>
              <a:t>      },</a:t>
            </a:r>
          </a:p>
          <a:p xmlns:a="http://schemas.openxmlformats.org/drawingml/2006/main">
            <a:r>
              <a:t>      "data": {</a:t>
            </a:r>
          </a:p>
          <a:p xmlns:a="http://schemas.openxmlformats.org/drawingml/2006/main">
            <a:r>
              <a:t>        "source": "신청 초안·처리 상태",</a:t>
            </a:r>
          </a:p>
          <a:p xmlns:a="http://schemas.openxmlformats.org/drawingml/2006/main">
            <a:r>
              <a:t>        "prepare": "인사·근태·잔여연차·서식 데이터 연결",</a:t>
            </a:r>
          </a:p>
          <a:p xmlns:a="http://schemas.openxmlformats.org/drawingml/2006/main">
            <a:r>
              <a:t>        "output": "원 발화",</a:t>
            </a:r>
          </a:p>
          <a:p xmlns:a="http://schemas.openxmlformats.org/drawingml/2006/main">
            <a:r>
              <a:t>        "refresh": "수정·취소·재시도 상태의 원천 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"PF-R06",</a:t>
            </a:r>
          </a:p>
          <a:p xmlns:a="http://schemas.openxmlformats.org/drawingml/2006/main">
            <a:r>
              <a:t>    "success": [</a:t>
            </a:r>
          </a:p>
          <a:p xmlns:a="http://schemas.openxmlformats.org/drawingml/2006/main">
            <a:r>
              <a:t>      "발화 구조화와 기존 MIS 연결",</a:t>
            </a:r>
          </a:p>
          <a:p xmlns:a="http://schemas.openxmlformats.org/drawingml/2006/main">
            <a:r>
              <a:t>      "실행 전 사용자 확인"</a:t>
            </a:r>
          </a:p>
          <a:p xmlns:a="http://schemas.openxmlformats.org/drawingml/2006/main">
            <a:r>
              <a:t>    ],</a:t>
            </a:r>
          </a:p>
          <a:p xmlns:a="http://schemas.openxmlformats.org/drawingml/2006/main">
            <a:r>
              <a:t>    "risks": [</a:t>
            </a:r>
          </a:p>
          <a:p xmlns:a="http://schemas.openxmlformats.org/drawingml/2006/main">
            <a:r>
              <a:t>      "잘못된 날짜·출장 항목 추출",</a:t>
            </a:r>
          </a:p>
          <a:p xmlns:a="http://schemas.openxmlformats.org/drawingml/2006/main">
            <a:r>
              <a:t>      "재시도에 따른 중복 신청"</a:t>
            </a:r>
          </a:p>
          <a:p xmlns:a="http://schemas.openxmlformats.org/drawingml/2006/main">
            <a:r>
              <a:t>    ],</a:t>
            </a:r>
          </a:p>
          <a:p xmlns:a="http://schemas.openxmlformats.org/drawingml/2006/main">
            <a:r>
              <a:t>    "architecture": [</a:t>
            </a:r>
          </a:p>
          <a:p xmlns:a="http://schemas.openxmlformats.org/drawingml/2006/main">
            <a:r>
              <a:t>      "음성·자연어",</a:t>
            </a:r>
          </a:p>
          <a:p xmlns:a="http://schemas.openxmlformats.org/drawingml/2006/main">
            <a:r>
              <a:t>      "필드 추출·확인",</a:t>
            </a:r>
          </a:p>
          <a:p xmlns:a="http://schemas.openxmlformats.org/drawingml/2006/main">
            <a:r>
              <a:t>      "신청 초안·처리 상태",</a:t>
            </a:r>
          </a:p>
          <a:p xmlns:a="http://schemas.openxmlformats.org/drawingml/2006/main">
            <a:r>
              <a:t>      "MIS·전자결재"</a:t>
            </a:r>
          </a:p>
          <a:p xmlns:a="http://schemas.openxmlformats.org/drawingml/2006/main">
            <a:r>
              <a:t>    ],</a:t>
            </a:r>
          </a:p>
          <a:p xmlns:a="http://schemas.openxmlformats.org/drawingml/2006/main">
            <a:r>
              <a:t>    "transfers": [</a:t>
            </a:r>
          </a:p>
          <a:p xmlns:a="http://schemas.openxmlformats.org/drawingml/2006/main">
            <a:r>
              <a:t>      "원 발화",</a:t>
            </a:r>
          </a:p>
          <a:p xmlns:a="http://schemas.openxmlformats.org/drawingml/2006/main">
            <a:r>
              <a:t>      "신청 필드",</a:t>
            </a:r>
          </a:p>
          <a:p xmlns:a="http://schemas.openxmlformats.org/drawingml/2006/main">
            <a:r>
              <a:t>      "확인된 초안",</a:t>
            </a:r>
          </a:p>
          <a:p xmlns:a="http://schemas.openxmlformats.org/drawingml/2006/main">
            <a:r>
              <a:t>      "접수 결과"</a:t>
            </a:r>
          </a:p>
          <a:p xmlns:a="http://schemas.openxmlformats.org/drawingml/2006/main">
            <a:r>
              <a:t>    ],</a:t>
            </a:r>
          </a:p>
          <a:p xmlns:a="http://schemas.openxmlformats.org/drawingml/2006/main">
            <a:r>
              <a:t>    "control": "필수 필드 재확인·멱등성·상태 대사",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FUR-001~009, PER-001~002, TER-005 / Word T071 https://www.g2b.go.kr/pn/pnp/pnpe/UntyAtchFile/downloadFile.do?bidPbancNo=R26BK01719764&amp;bidPbancOrd=000&amp;fileSeq=4&amp;fileType=&amp;prcmBsneSeCd=03</a:t>
            </a:r>
          </a:p>
          <a:p xmlns:a="http://schemas.openxmlformats.org/drawingml/2006/main">
            <a:r>
              <a:t>홈페이지 https://heen1987-ops.github.io/TS-business-Plan-001/index.html?view=platform-cases&amp;case=PF-R06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"PF-R06",</a:t>
            </a:r>
          </a:p>
          <a:p xmlns:a="http://schemas.openxmlformats.org/drawingml/2006/main">
            <a:r>
              <a:t>    "sourceId": "R06",</a:t>
            </a:r>
          </a:p>
          <a:p xmlns:a="http://schemas.openxmlformats.org/drawingml/2006/main">
            <a:r>
              <a:t>    "title": "철도기술연구원 행정 AI",</a:t>
            </a:r>
          </a:p>
          <a:p xmlns:a="http://schemas.openxmlformats.org/drawingml/2006/main">
            <a:r>
              <a:t>    "region": "국내",</a:t>
            </a:r>
          </a:p>
          <a:p xmlns:a="http://schemas.openxmlformats.org/drawingml/2006/main">
            <a:r>
              <a:t>    "owner": "한국철도기술연구원",</a:t>
            </a:r>
          </a:p>
          <a:p xmlns:a="http://schemas.openxmlformats.org/drawingml/2006/main">
            <a:r>
              <a:t>    "state": "공식 RFP 확인 / 운영·효과 미확인",</a:t>
            </a:r>
          </a:p>
          <a:p xmlns:a="http://schemas.openxmlformats.org/drawingml/2006/main">
            <a:r>
              <a:t>    "period": "기존 원장 확인 2026.10.16",</a:t>
            </a:r>
          </a:p>
          <a:p xmlns:a="http://schemas.openxmlformats.org/drawingml/2006/main">
            <a:r>
              <a:t>    "fact": "음성·자연어로 휴가·출장·복명 신청 후 MIS/전자결재 실행",</a:t>
            </a:r>
          </a:p>
          <a:p xmlns:a="http://schemas.openxmlformats.org/drawingml/2006/main">
            <a:r>
              <a:t>    "limit": "RFP 요구 범위 · MIS API 계층 신규 개발 포함 · 운영 성과와 구분",</a:t>
            </a:r>
          </a:p>
          <a:p xmlns:a="http://schemas.openxmlformats.org/drawingml/2006/main">
            <a:r>
              <a:t>    "nodes": [</a:t>
            </a:r>
          </a:p>
          <a:p xmlns:a="http://schemas.openxmlformats.org/drawingml/2006/main">
            <a:r>
              <a:t>      "음성·자연어",</a:t>
            </a:r>
          </a:p>
          <a:p xmlns:a="http://schemas.openxmlformats.org/drawingml/2006/main">
            <a:r>
              <a:t>      "필드 추출",</a:t>
            </a:r>
          </a:p>
          <a:p xmlns:a="http://schemas.openxmlformats.org/drawingml/2006/main">
            <a:r>
              <a:t>      "사용자 확인",</a:t>
            </a:r>
          </a:p>
          <a:p xmlns:a="http://schemas.openxmlformats.org/drawingml/2006/main">
            <a:r>
              <a:t>      "MIS·결재 연계"</a:t>
            </a:r>
          </a:p>
          <a:p xmlns:a="http://schemas.openxmlformats.org/drawingml/2006/main">
            <a:r>
              <a:t>    ],</a:t>
            </a:r>
          </a:p>
          <a:p xmlns:a="http://schemas.openxmlformats.org/drawingml/2006/main">
            <a:r>
              <a:t>    "apply": "사용자 확인·전결·접수 결과까지 추적하는 자연어 업무 실행",</a:t>
            </a:r>
          </a:p>
          <a:p xmlns:a="http://schemas.openxmlformats.org/drawingml/2006/main">
            <a:r>
              <a:t>    "delta": "발화 필드·확인 화면 / TS 기간계 API 차분 / 전결·취소·재시도 연결",</a:t>
            </a:r>
          </a:p>
          <a:p xmlns:a="http://schemas.openxmlformats.org/drawingml/2006/main">
            <a:r>
              <a:t>    "test": "날짜 오류·중복 전송·취소 시 승인 전 차단·멱등성·원천 상태 대사",</a:t>
            </a:r>
          </a:p>
          <a:p xmlns:a="http://schemas.openxmlformats.org/drawingml/2006/main">
            <a:r>
              <a:t>    "url": "https://www.g2b.go.kr/pn/pnp/pnpe/UntyAtchFile/downloadFile.do?bidPbancNo=R26BK01719764&amp;bidPbancOrd=000&amp;fileSeq=4&amp;fileType=&amp;prcmBsneSeCd=03",</a:t>
            </a:r>
          </a:p>
          <a:p xmlns:a="http://schemas.openxmlformats.org/drawingml/2006/main">
            <a:r>
              <a:t>    "urls": [</a:t>
            </a:r>
          </a:p>
          <a:p xmlns:a="http://schemas.openxmlformats.org/drawingml/2006/main">
            <a:r>
              <a:t>      "https://www.g2b.go.kr/pn/pnp/pnpe/UntyAtchFile/downloadFile.do?bidPbancNo=R26BK01719764&amp;bidPbancOrd=000&amp;fileSeq=4&amp;fileType=&amp;prcmBsneSeCd=03"</a:t>
            </a:r>
          </a:p>
          <a:p xmlns:a="http://schemas.openxmlformats.org/drawingml/2006/main">
            <a:r>
              <a:t>    ],</a:t>
            </a:r>
          </a:p>
          <a:p xmlns:a="http://schemas.openxmlformats.org/drawingml/2006/main">
            <a:r>
              <a:t>    "basis": "FUR-001~009, PER-001~002, TER-005 / Word T071",</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"신청 완료시간 / 재입력률 / 중복·미접수 건수",</a:t>
            </a:r>
          </a:p>
          <a:p xmlns:a="http://schemas.openxmlformats.org/drawingml/2006/main">
            <a:r>
              <a:t>    "group": "요구·구축",</a:t>
            </a:r>
          </a:p>
          <a:p xmlns:a="http://schemas.openxmlformats.org/drawingml/2006/main">
            <a:r>
              <a:t>    "sourceDetail": "STT→의도·필드 추출→사용자 확인→MIS API 신규개발→기안·상신; 조직·직무·권한 기반 결재선",</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"PF-R06",</a:t>
            </a:r>
          </a:p>
          <a:p xmlns:a="http://schemas.openxmlformats.org/drawingml/2006/main">
            <a:r>
              <a:t>    "canonicalId": "PF-R06",</a:t>
            </a:r>
          </a:p>
          <a:p xmlns:a="http://schemas.openxmlformats.org/drawingml/2006/main">
            <a:r>
              <a:t>    "purpose": "발화에서 휴가·출장·복명 신청까지 연결",</a:t>
            </a:r>
          </a:p>
          <a:p xmlns:a="http://schemas.openxmlformats.org/drawingml/2006/main">
            <a:r>
              <a:t>    "users": "직원·결재자·MIS 운영자",</a:t>
            </a:r>
          </a:p>
          <a:p xmlns:a="http://schemas.openxmlformats.org/drawingml/2006/main">
            <a:r>
              <a:t>    "scope": [</a:t>
            </a:r>
          </a:p>
          <a:p xmlns:a="http://schemas.openxmlformats.org/drawingml/2006/main">
            <a:r>
              <a:t>      "음성 입력",</a:t>
            </a:r>
          </a:p>
          <a:p xmlns:a="http://schemas.openxmlformats.org/drawingml/2006/main">
            <a:r>
              <a:t>      "신청서 작성",</a:t>
            </a:r>
          </a:p>
          <a:p xmlns:a="http://schemas.openxmlformats.org/drawingml/2006/main">
            <a:r>
              <a:t>      "MIS·전자결재"</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"음성·자연어",</a:t>
            </a:r>
          </a:p>
          <a:p xmlns:a="http://schemas.openxmlformats.org/drawingml/2006/main">
            <a:r>
              <a:t>        "detail": "음성/텍스트 입력과 조직·직무·권한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"음성 입력 / 신청서 작성 / MIS·전자결재",</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"필드 추출·확인",</a:t>
            </a:r>
          </a:p>
          <a:p xmlns:a="http://schemas.openxmlformats.org/drawingml/2006/main">
            <a:r>
              <a:t>        "detail": "STT·NLU의 의도·날짜·항목 추출 및 확인",</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"MIS·전자결재",</a:t>
            </a:r>
          </a:p>
          <a:p xmlns:a="http://schemas.openxmlformats.org/drawingml/2006/main">
            <a:r>
              <a:t>        "detail": "신규 MIS API로 기안·상신·처리 결과 확인",</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"신청 초안·처리 상태",</a:t>
            </a:r>
          </a:p>
          <a:p xmlns:a="http://schemas.openxmlformats.org/drawingml/2006/main">
            <a:r>
              <a:t>        "detail": "인사·근태·잔여연차·서식 데이터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"수정·취소·재시도 상태의 원천 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"음성·자연어",</a:t>
            </a:r>
          </a:p>
          <a:p xmlns:a="http://schemas.openxmlformats.org/drawingml/2006/main">
            <a:r>
              <a:t>        "input": "음성/텍스트 입력과 조직·직무·권한 확인",</a:t>
            </a:r>
          </a:p>
          <a:p xmlns:a="http://schemas.openxmlformats.org/drawingml/2006/main">
            <a:r>
              <a:t>        "process": "인사·근태·잔여연차·서식 데이터 연결",</a:t>
            </a:r>
          </a:p>
          <a:p xmlns:a="http://schemas.openxmlformats.org/drawingml/2006/main">
            <a:r>
              <a:t>        "output": "원 발화"</a:t>
            </a:r>
          </a:p>
          <a:p xmlns:a="http://schemas.openxmlformats.org/drawingml/2006/main">
            <a:r>
              <a:t>      },</a:t>
            </a:r>
          </a:p>
          <a:p xmlns:a="http://schemas.openxmlformats.org/drawingml/2006/main">
            <a:r>
              <a:t>      {</a:t>
            </a:r>
          </a:p>
          <a:p xmlns:a="http://schemas.openxmlformats.org/drawingml/2006/main">
            <a:r>
              <a:t>        "title": "필드 추출",</a:t>
            </a:r>
          </a:p>
          <a:p xmlns:a="http://schemas.openxmlformats.org/drawingml/2006/main">
            <a:r>
              <a:t>        "input": "원 발화",</a:t>
            </a:r>
          </a:p>
          <a:p xmlns:a="http://schemas.openxmlformats.org/drawingml/2006/main">
            <a:r>
              <a:t>        "process": "STT·NLU의 의도·날짜·항목 추출 및 확인",</a:t>
            </a:r>
          </a:p>
          <a:p xmlns:a="http://schemas.openxmlformats.org/drawingml/2006/main">
            <a:r>
              <a:t>        "output": "신청 필드"</a:t>
            </a:r>
          </a:p>
          <a:p xmlns:a="http://schemas.openxmlformats.org/drawingml/2006/main">
            <a:r>
              <a:t>      },</a:t>
            </a:r>
          </a:p>
          <a:p xmlns:a="http://schemas.openxmlformats.org/drawingml/2006/main">
            <a:r>
              <a:t>      {</a:t>
            </a:r>
          </a:p>
          <a:p xmlns:a="http://schemas.openxmlformats.org/drawingml/2006/main">
            <a:r>
              <a:t>        "title": "사용자 확인",</a:t>
            </a:r>
          </a:p>
          <a:p xmlns:a="http://schemas.openxmlformats.org/drawingml/2006/main">
            <a:r>
              <a:t>        "input": "신청 필드",</a:t>
            </a:r>
          </a:p>
          <a:p xmlns:a="http://schemas.openxmlformats.org/drawingml/2006/main">
            <a:r>
              <a:t>        "process": "필수 필드 재확인·멱등성·상태 대사",</a:t>
            </a:r>
          </a:p>
          <a:p xmlns:a="http://schemas.openxmlformats.org/drawingml/2006/main">
            <a:r>
              <a:t>        "output": "확인된 초안"</a:t>
            </a:r>
          </a:p>
          <a:p xmlns:a="http://schemas.openxmlformats.org/drawingml/2006/main">
            <a:r>
              <a:t>      },</a:t>
            </a:r>
          </a:p>
          <a:p xmlns:a="http://schemas.openxmlformats.org/drawingml/2006/main">
            <a:r>
              <a:t>      {</a:t>
            </a:r>
          </a:p>
          <a:p xmlns:a="http://schemas.openxmlformats.org/drawingml/2006/main">
            <a:r>
              <a:t>        "title": "MIS·결재 연계",</a:t>
            </a:r>
          </a:p>
          <a:p xmlns:a="http://schemas.openxmlformats.org/drawingml/2006/main">
            <a:r>
              <a:t>        "input": "확인된 초안",</a:t>
            </a:r>
          </a:p>
          <a:p xmlns:a="http://schemas.openxmlformats.org/drawingml/2006/main">
            <a:r>
              <a:t>        "process": "신규 MIS API로 기안·상신·처리 결과 확인",</a:t>
            </a:r>
          </a:p>
          <a:p xmlns:a="http://schemas.openxmlformats.org/drawingml/2006/main">
            <a:r>
              <a:t>        "output": "접수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"출장 목적·기간·장소를 말하고 확인 후 기안·상신",</a:t>
            </a:r>
          </a:p>
          <a:p xmlns:a="http://schemas.openxmlformats.org/drawingml/2006/main">
            <a:r>
              <a:t>      "exception": "날짜 오인식·필수 항목 누락·API 재시도·취소",</a:t>
            </a:r>
          </a:p>
          <a:p xmlns:a="http://schemas.openxmlformats.org/drawingml/2006/main">
            <a:r>
              <a:t>      "evidence": "확인 전 실행 차단·중복 방지·MIS 접수 상태 대사",</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"직원·결재자·MIS 운영자",</a:t>
            </a:r>
          </a:p>
          <a:p xmlns:a="http://schemas.openxmlformats.org/drawingml/2006/main">
            <a:r>
              <a:t>          "processing": "음성/텍스트 입력과 조직·직무·권한 확인",</a:t>
            </a:r>
          </a:p>
          <a:p xmlns:a="http://schemas.openxmlformats.org/drawingml/2006/main">
            <a:r>
              <a:t>          "output": "원 발화"</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"신청 초안·처리 상태",</a:t>
            </a:r>
          </a:p>
          <a:p xmlns:a="http://schemas.openxmlformats.org/drawingml/2006/main">
            <a:r>
              <a:t>          "processing": "인사·근태·잔여연차·서식 데이터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"원 발화",</a:t>
            </a:r>
          </a:p>
          <a:p xmlns:a="http://schemas.openxmlformats.org/drawingml/2006/main">
            <a:r>
              <a:t>          "processing": "STT·NLU의 의도·날짜·항목 추출 및 확인",</a:t>
            </a:r>
          </a:p>
          <a:p xmlns:a="http://schemas.openxmlformats.org/drawingml/2006/main">
            <a:r>
              <a:t>          "output": "확인된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"확인된 초안",</a:t>
            </a:r>
          </a:p>
          <a:p xmlns:a="http://schemas.openxmlformats.org/drawingml/2006/main">
            <a:r>
              <a:t>          "processing": "신규 MIS API로 기안·상신·처리 결과 확인",</a:t>
            </a:r>
          </a:p>
          <a:p xmlns:a="http://schemas.openxmlformats.org/drawingml/2006/main">
            <a:r>
              <a:t>          "output": "접수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"수정·취소·재시도 상태의 원천 대사",</a:t>
            </a:r>
          </a:p>
          <a:p xmlns:a="http://schemas.openxmlformats.org/drawingml/2006/main">
            <a:r>
              <a:t>          "output": "확인 전 실행 차단·중복 방지·MIS 접수 상태 대사"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"수정·취소·재시도 상태의 원천 대사",</a:t>
            </a:r>
          </a:p>
          <a:p xmlns:a="http://schemas.openxmlformats.org/drawingml/2006/main">
            <a:r>
              <a:t>    "status": "RFP 기반 논리 설계",</a:t>
            </a:r>
          </a:p>
          <a:p xmlns:a="http://schemas.openxmlformats.org/drawingml/2006/main">
            <a:r>
              <a:t>    "basis": "RFP · FUR-001~009·TER-005",</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"FUR-001~009, PER-001~002, TER-005 / Word T071",</a:t>
            </a:r>
          </a:p>
          <a:p xmlns:a="http://schemas.openxmlformats.org/drawingml/2006/main">
            <a:r>
              <a:t>        "url": "https://www.g2b.go.kr/pn/pnp/pnpe/UntyAtchFile/downloadFile.do?bidPbancNo=R26BK01719764&amp;bidPbancOrd=000&amp;fileSeq=4&amp;fileType=&amp;prcmBsneSeCd=03"</a:t>
            </a:r>
          </a:p>
          <a:p xmlns:a="http://schemas.openxmlformats.org/drawingml/2006/main">
            <a:r>
              <a:t>      }</a:t>
            </a:r>
          </a:p>
          <a:p xmlns:a="http://schemas.openxmlformats.org/drawingml/2006/main">
            <a:r>
              <a:t>    ],</a:t>
            </a:r>
          </a:p>
          <a:p xmlns:a="http://schemas.openxmlformats.org/drawingml/2006/main">
            <a:r>
              <a:t>    "implication": "사용자 확인·전결·접수 결과까지 추적하는 자연어 업무 실행",</a:t>
            </a:r>
          </a:p>
          <a:p xmlns:a="http://schemas.openxmlformats.org/drawingml/2006/main">
            <a:r>
              <a:t>    "local": "사용자 확인·전결·접수 결과까지 추적하는 자연어 업무 실행",</a:t>
            </a:r>
          </a:p>
          <a:p xmlns:a="http://schemas.openxmlformats.org/drawingml/2006/main">
            <a:r>
              <a:t>    "sourceDetail": "STT→의도·필드 추출→사용자 확인→MIS API 신규개발→기안·상신; 조직·직무·권한 기반 결재선",</a:t>
            </a:r>
          </a:p>
          <a:p xmlns:a="http://schemas.openxmlformats.org/drawingml/2006/main">
            <a:r>
              <a:t>    "narrative": [</a:t>
            </a:r>
          </a:p>
          <a:p xmlns:a="http://schemas.openxmlformats.org/drawingml/2006/main">
            <a:r>
              <a:t>      "휴가·출장 등 행정업무를 음성·텍스트 요청에서 시작해 MIS와 전자결재까지 연결하는 사업. 기존 서식·데이터 생성 로직이 MIS에 있고 AI·모바일 호출용 API가 없다는 연계 제약을 RFP에 명시.",</a:t>
            </a:r>
          </a:p>
          <a:p xmlns:a="http://schemas.openxmlformats.org/drawingml/2006/main">
            <a:r>
              <a:t>      "발화의 STT 변환, NLU 의도·개체 추출, 필수 항목 검증, 사용자 확인, MIS 서식 생성, 결재선 추천, 상신·상태 조회를 구분하는 처리 구조. FUR-009의 신규 API는 서식 메타데이터, 잔여연차·근태 조회, 업무규칙 검증, 전자결재 상신을 포함하는 범위.",</a:t>
            </a:r>
          </a:p>
          <a:p xmlns:a="http://schemas.openxmlformats.org/drawingml/2006/main">
            <a:r>
              <a:t>      "AI 모델 정확도 외에 실제 업무 시스템의 접수 상태까지 확인해야 하는 사례. 같은 요청의 재시도, 날짜 수정, 결재선 변경, 상신 후 취소를 검수 시나리오로 분리할 필요. CCK 재사용 도구와 별개로 TS 기간계 API 개발·멱등성·상태 대사를 추가 범위로 산정."</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"FUR-001",</a:t>
            </a:r>
          </a:p>
          <a:p xmlns:a="http://schemas.openxmlformats.org/drawingml/2006/main">
            <a:r>
              <a:t>        "title": "음성 인식(STT) 기반 입력 처리",</a:t>
            </a:r>
          </a:p>
          <a:p xmlns:a="http://schemas.openxmlformats.org/drawingml/2006/main">
            <a:r>
              <a:t>        "locator": "FUR-001",</a:t>
            </a:r>
          </a:p>
          <a:p xmlns:a="http://schemas.openxmlformats.org/drawingml/2006/main">
            <a:r>
              <a:t>        "summary": "음성 발화를 행정 요청의 텍스트 입력으로 변환하는 STT 기능.",</a:t>
            </a:r>
          </a:p>
          <a:p xmlns:a="http://schemas.openxmlformats.org/drawingml/2006/main">
            <a:r>
              <a:t>        "data": "업무 발화·음성 → 전사문",</a:t>
            </a:r>
          </a:p>
          <a:p xmlns:a="http://schemas.openxmlformats.org/drawingml/2006/main">
            <a:r>
              <a:t>        "components": [</a:t>
            </a:r>
          </a:p>
          <a:p xmlns:a="http://schemas.openxmlformats.org/drawingml/2006/main">
            <a:r>
              <a:t>          "C01",</a:t>
            </a:r>
          </a:p>
          <a:p xmlns:a="http://schemas.openxmlformats.org/drawingml/2006/main">
            <a:r>
              <a:t>          "C04"</a:t>
            </a:r>
          </a:p>
          <a:p xmlns:a="http://schemas.openxmlformats.org/drawingml/2006/main">
            <a:r>
              <a:t>        ],</a:t>
            </a:r>
          </a:p>
          <a:p xmlns:a="http://schemas.openxmlformats.org/drawingml/2006/main">
            <a:r>
              <a:t>        "acceptance": "잡음·기관 고유어·날짜·숫자·수정 발화의 전사 결과를 정답과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"4b2d797a440d1d6fbec4f86d7f517404bd7f1e493f405d7d9f79cd20481e3cbd"</a:t>
            </a:r>
          </a:p>
          <a:p xmlns:a="http://schemas.openxmlformats.org/drawingml/2006/main">
            <a:r>
              <a:t>      },</a:t>
            </a:r>
          </a:p>
          <a:p xmlns:a="http://schemas.openxmlformats.org/drawingml/2006/main">
            <a:r>
              <a:t>      {</a:t>
            </a:r>
          </a:p>
          <a:p xmlns:a="http://schemas.openxmlformats.org/drawingml/2006/main">
            <a:r>
              <a:t>        "id": "FUR-002",</a:t>
            </a:r>
          </a:p>
          <a:p xmlns:a="http://schemas.openxmlformats.org/drawingml/2006/main">
            <a:r>
              <a:t>        "title": "자연어 이해(NLU) 및 사용자 의도 분석",</a:t>
            </a:r>
          </a:p>
          <a:p xmlns:a="http://schemas.openxmlformats.org/drawingml/2006/main">
            <a:r>
              <a:t>        "locator": "FUR-002",</a:t>
            </a:r>
          </a:p>
          <a:p xmlns:a="http://schemas.openxmlformats.org/drawingml/2006/main">
            <a:r>
              <a:t>        "summary": "전사·텍스트에서 사용자의 의도와 업무에 필요한 항목을 식별하는 NLU 기능.",</a:t>
            </a:r>
          </a:p>
          <a:p xmlns:a="http://schemas.openxmlformats.org/drawingml/2006/main">
            <a:r>
              <a:t>        "data": "발화·직원 문맥 → 업무 유형·필수 항목",</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a:t>
            </a:r>
          </a:p>
          <a:p xmlns:a="http://schemas.openxmlformats.org/drawingml/2006/main">
            <a:r>
              <a:t>        "acceptance": "휴가·출장·복명 의도 혼동, 날짜 누락, 정정 발화 처리의 슬롯별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"2b5b33f9ad0c0b4d3f13c4f96f1446464cdcaabdd131ab4dde7eaac0671edc6a"</a:t>
            </a:r>
          </a:p>
          <a:p xmlns:a="http://schemas.openxmlformats.org/drawingml/2006/main">
            <a:r>
              <a:t>      },</a:t>
            </a:r>
          </a:p>
          <a:p xmlns:a="http://schemas.openxmlformats.org/drawingml/2006/main">
            <a:r>
              <a:t>      {</a:t>
            </a:r>
          </a:p>
          <a:p xmlns:a="http://schemas.openxmlformats.org/drawingml/2006/main">
            <a:r>
              <a:t>        "id": "FUR-003",</a:t>
            </a:r>
          </a:p>
          <a:p xmlns:a="http://schemas.openxmlformats.org/drawingml/2006/main">
            <a:r>
              <a:t>        "title": "지능형 업무 자동화 엔진",</a:t>
            </a:r>
          </a:p>
          <a:p xmlns:a="http://schemas.openxmlformats.org/drawingml/2006/main">
            <a:r>
              <a:t>        "locator": "FUR-003",</a:t>
            </a:r>
          </a:p>
          <a:p xmlns:a="http://schemas.openxmlformats.org/drawingml/2006/main">
            <a:r>
              <a:t>        "summary": "식별한 의도를 업무자동화 절차로 연결하는 실행 엔진.",</a:t>
            </a:r>
          </a:p>
          <a:p xmlns:a="http://schemas.openxmlformats.org/drawingml/2006/main">
            <a:r>
              <a:t>        "data": "의도·입력 항목 → 실행 절차·진행 상태",</a:t>
            </a:r>
          </a:p>
          <a:p xmlns:a="http://schemas.openxmlformats.org/drawingml/2006/main">
            <a:r>
              <a:t>        "components": [</a:t>
            </a:r>
          </a:p>
          <a:p xmlns:a="http://schemas.openxmlformats.org/drawingml/2006/main">
            <a:r>
              <a:t>          "C04",</a:t>
            </a:r>
          </a:p>
          <a:p xmlns:a="http://schemas.openxmlformats.org/drawingml/2006/main">
            <a:r>
              <a:t>          "C05",</a:t>
            </a:r>
          </a:p>
          <a:p xmlns:a="http://schemas.openxmlformats.org/drawingml/2006/main">
            <a:r>
              <a:t>          "C07"</a:t>
            </a:r>
          </a:p>
          <a:p xmlns:a="http://schemas.openxmlformats.org/drawingml/2006/main">
            <a:r>
              <a:t>        ],</a:t>
            </a:r>
          </a:p>
          <a:p xmlns:a="http://schemas.openxmlformats.org/drawingml/2006/main">
            <a:r>
              <a:t>        "acceptance": "필수값 누락·비허용 업무·중간 실패 조건의 실행 보류와 재개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"f810450f2d482dea56dce3c7164eae2c0fc1681561e11d1fd64a9f19546747d3"</a:t>
            </a:r>
          </a:p>
          <a:p xmlns:a="http://schemas.openxmlformats.org/drawingml/2006/main">
            <a:r>
              <a:t>      },</a:t>
            </a:r>
          </a:p>
          <a:p xmlns:a="http://schemas.openxmlformats.org/drawingml/2006/main">
            <a:r>
              <a:t>      {</a:t>
            </a:r>
          </a:p>
          <a:p xmlns:a="http://schemas.openxmlformats.org/drawingml/2006/main">
            <a:r>
              <a:t>        "id": "FUR-004",</a:t>
            </a:r>
          </a:p>
          <a:p xmlns:a="http://schemas.openxmlformats.org/drawingml/2006/main">
            <a:r>
              <a:t>        "title": "행정서식 생성(MIS)·전자결재 연동 및 결재선 자동 추천",</a:t>
            </a:r>
          </a:p>
          <a:p xmlns:a="http://schemas.openxmlformats.org/drawingml/2006/main">
            <a:r>
              <a:t>        "locator": "FUR-004",</a:t>
            </a:r>
          </a:p>
          <a:p xmlns:a="http://schemas.openxmlformats.org/drawingml/2006/main">
            <a:r>
              <a:t>        "summary": "MIS 행정서식 생성과 전자결재·결재선 연계.",</a:t>
            </a:r>
          </a:p>
          <a:p xmlns:a="http://schemas.openxmlformats.org/drawingml/2006/main">
            <a:r>
              <a:t>        "data": "직원·업무 데이터 → 신청서·결재선·접수 결과",</a:t>
            </a:r>
          </a:p>
          <a:p xmlns:a="http://schemas.openxmlformats.org/drawingml/2006/main">
            <a:r>
              <a:t>        "components": [</a:t>
            </a:r>
          </a:p>
          <a:p xmlns:a="http://schemas.openxmlformats.org/drawingml/2006/main">
            <a:r>
              <a:t>          "C04",</a:t>
            </a:r>
          </a:p>
          <a:p xmlns:a="http://schemas.openxmlformats.org/drawingml/2006/main">
            <a:r>
              <a:t>          "C06",</a:t>
            </a:r>
          </a:p>
          <a:p xmlns:a="http://schemas.openxmlformats.org/drawingml/2006/main">
            <a:r>
              <a:t>          "C07"</a:t>
            </a:r>
          </a:p>
          <a:p xmlns:a="http://schemas.openxmlformats.org/drawingml/2006/main">
            <a:r>
              <a:t>        ],</a:t>
            </a:r>
          </a:p>
          <a:p xmlns:a="http://schemas.openxmlformats.org/drawingml/2006/main">
            <a:r>
              <a:t>        "acceptance": "다른 직원의 결재선, 수정 전 날짜, 중복 신청을 포함해 확인 화면과 최종 등록값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"4f1ec6fe0d7a56356478c8dfabb91a772fd9c787cec611102d2b41d2bf087f45"</a:t>
            </a:r>
          </a:p>
          <a:p xmlns:a="http://schemas.openxmlformats.org/drawingml/2006/main">
            <a:r>
              <a:t>      },</a:t>
            </a:r>
          </a:p>
          <a:p xmlns:a="http://schemas.openxmlformats.org/drawingml/2006/main">
            <a:r>
              <a:t>      {</a:t>
            </a:r>
          </a:p>
          <a:p xmlns:a="http://schemas.openxmlformats.org/drawingml/2006/main">
            <a:r>
              <a:t>        "id": "FUR-007",</a:t>
            </a:r>
          </a:p>
          <a:p xmlns:a="http://schemas.openxmlformats.org/drawingml/2006/main">
            <a:r>
              <a:t>        "title": "그룹웨어·기간계 시스템 연계",</a:t>
            </a:r>
          </a:p>
          <a:p xmlns:a="http://schemas.openxmlformats.org/drawingml/2006/main">
            <a:r>
              <a:t>        "locator": "FUR-007",</a:t>
            </a:r>
          </a:p>
          <a:p xmlns:a="http://schemas.openxmlformats.org/drawingml/2006/main">
            <a:r>
              <a:t>        "summary": "그룹웨어·기간계와 연계해 요청 및 처리 결과를 교환하는 기능.",</a:t>
            </a:r>
          </a:p>
          <a:p xmlns:a="http://schemas.openxmlformats.org/drawingml/2006/main">
            <a:r>
              <a:t>        "data": "업무 요청·시스템 식별정보 → 처리 결과·상태",</a:t>
            </a:r>
          </a:p>
          <a:p xmlns:a="http://schemas.openxmlformats.org/drawingml/2006/main">
            <a:r>
              <a:t>        "components": [</a:t>
            </a:r>
          </a:p>
          <a:p xmlns:a="http://schemas.openxmlformats.org/drawingml/2006/main">
            <a:r>
              <a:t>          "C02",</a:t>
            </a:r>
          </a:p>
          <a:p xmlns:a="http://schemas.openxmlformats.org/drawingml/2006/main">
            <a:r>
              <a:t>          "C07",</a:t>
            </a:r>
          </a:p>
          <a:p xmlns:a="http://schemas.openxmlformats.org/drawingml/2006/main">
            <a:r>
              <a:t>          "C08"</a:t>
            </a:r>
          </a:p>
          <a:p xmlns:a="http://schemas.openxmlformats.org/drawingml/2006/main">
            <a:r>
              <a:t>        ],</a:t>
            </a:r>
          </a:p>
          <a:p xmlns:a="http://schemas.openxmlformats.org/drawingml/2006/main">
            <a:r>
              <a:t>        "acceptance": "인증 만료·연계 장애·응답 지연 시 실제 등록 상태와 사용자 안내의 일치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"248a2a097858bb82f76df87facd2135704aa4354594d82248b40def47a25d3f5"</a:t>
            </a:r>
          </a:p>
          <a:p xmlns:a="http://schemas.openxmlformats.org/drawingml/2006/main">
            <a:r>
              <a:t>      },</a:t>
            </a:r>
          </a:p>
          <a:p xmlns:a="http://schemas.openxmlformats.org/drawingml/2006/main">
            <a:r>
              <a:t>      {</a:t>
            </a:r>
          </a:p>
          <a:p xmlns:a="http://schemas.openxmlformats.org/drawingml/2006/main">
            <a:r>
              <a:t>        "id": "FUR-009",</a:t>
            </a:r>
          </a:p>
          <a:p xmlns:a="http://schemas.openxmlformats.org/drawingml/2006/main">
            <a:r>
              <a:t>        "title": "통합경영정보시스템(MIS) 행정업무 API 개발",</a:t>
            </a:r>
          </a:p>
          <a:p xmlns:a="http://schemas.openxmlformats.org/drawingml/2006/main">
            <a:r>
              <a:t>        "locator": "FUR-009",</a:t>
            </a:r>
          </a:p>
          <a:p xmlns:a="http://schemas.openxmlformats.org/drawingml/2006/main">
            <a:r>
              <a:t>        "summary": "자연어 행정 서비스에 필요한 MIS 업무 API의 신규 개발.",</a:t>
            </a:r>
          </a:p>
          <a:p xmlns:a="http://schemas.openxmlformats.org/drawingml/2006/main">
            <a:r>
              <a:t>        "data": "구조화 행정 요청 → MIS 생성·조회 결과",</a:t>
            </a:r>
          </a:p>
          <a:p xmlns:a="http://schemas.openxmlformats.org/drawingml/2006/main">
            <a:r>
              <a:t>        "components": [</a:t>
            </a:r>
          </a:p>
          <a:p xmlns:a="http://schemas.openxmlformats.org/drawingml/2006/main">
            <a:r>
              <a:t>          "C07"</a:t>
            </a:r>
          </a:p>
          <a:p xmlns:a="http://schemas.openxmlformats.org/drawingml/2006/main">
            <a:r>
              <a:t>        ],</a:t>
            </a:r>
          </a:p>
          <a:p xmlns:a="http://schemas.openxmlformats.org/drawingml/2006/main">
            <a:r>
              <a:t>        "acceptance": "필수 인자·권한·중복 요청·취소 가능 상태를 API 계약 및 실제 데이터와 대조",</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"8a445db50ff666bd64f8ff0b7745693eaefce5e0df8153d8c59102304c330829"</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"음성·텍스트 입력",</a:t>
            </a:r>
          </a:p>
          <a:p xmlns:a="http://schemas.openxmlformats.org/drawingml/2006/main">
            <a:r>
              <a:t>          "layer": "이용 접점",</a:t>
            </a:r>
          </a:p>
          <a:p xmlns:a="http://schemas.openxmlformats.org/drawingml/2006/main">
            <a:r>
              <a:t>          "detail": "직원·결재자·MIS 운영자",</a:t>
            </a:r>
          </a:p>
          <a:p xmlns:a="http://schemas.openxmlformats.org/drawingml/2006/main">
            <a:r>
              <a:t>          "requirements": [</a:t>
            </a:r>
          </a:p>
          <a:p xmlns:a="http://schemas.openxmlformats.org/drawingml/2006/main">
            <a:r>
              <a:t>            "FUR-001"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"직원·조직·직무",</a:t>
            </a:r>
          </a:p>
          <a:p xmlns:a="http://schemas.openxmlformats.org/drawingml/2006/main">
            <a:r>
              <a:t>          "layer": "업무 문맥",</a:t>
            </a:r>
          </a:p>
          <a:p xmlns:a="http://schemas.openxmlformats.org/drawingml/2006/main">
            <a:r>
              <a:t>          "detail": "음성/텍스트 입력과 조직·직무·권한 확인",</a:t>
            </a:r>
          </a:p>
          <a:p xmlns:a="http://schemas.openxmlformats.org/drawingml/2006/main">
            <a:r>
              <a:t>          "requirements": [</a:t>
            </a:r>
          </a:p>
          <a:p xmlns:a="http://schemas.openxmlformats.org/drawingml/2006/main">
            <a:r>
              <a:t>            "FUR-002",</a:t>
            </a:r>
          </a:p>
          <a:p xmlns:a="http://schemas.openxmlformats.org/drawingml/2006/main">
            <a:r>
              <a:t>            "FUR-007"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"근태·서식 조회",</a:t>
            </a:r>
          </a:p>
          <a:p xmlns:a="http://schemas.openxmlformats.org/drawingml/2006/main">
            <a:r>
              <a:t>          "layer": "자료 조회",</a:t>
            </a:r>
          </a:p>
          <a:p xmlns:a="http://schemas.openxmlformats.org/drawingml/2006/main">
            <a:r>
              <a:t>          "detail": "원 발화",</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"STT·의도·필드 추출",</a:t>
            </a:r>
          </a:p>
          <a:p xmlns:a="http://schemas.openxmlformats.org/drawingml/2006/main">
            <a:r>
              <a:t>          "layer": "핵심 처리",</a:t>
            </a:r>
          </a:p>
          <a:p xmlns:a="http://schemas.openxmlformats.org/drawingml/2006/main">
            <a:r>
              <a:t>          "detail": "STT·NLU의 의도·날짜·항목 추출 및 확인",</a:t>
            </a:r>
          </a:p>
          <a:p xmlns:a="http://schemas.openxmlformats.org/drawingml/2006/main">
            <a:r>
              <a:t>          "requirements": [</a:t>
            </a:r>
          </a:p>
          <a:p xmlns:a="http://schemas.openxmlformats.org/drawingml/2006/main">
            <a:r>
              <a:t>            "FUR-001",</a:t>
            </a:r>
          </a:p>
          <a:p xmlns:a="http://schemas.openxmlformats.org/drawingml/2006/main">
            <a:r>
              <a:t>            "FUR-002",</a:t>
            </a:r>
          </a:p>
          <a:p xmlns:a="http://schemas.openxmlformats.org/drawingml/2006/main">
            <a:r>
              <a:t>            "FUR-003",</a:t>
            </a:r>
          </a:p>
          <a:p xmlns:a="http://schemas.openxmlformats.org/drawingml/2006/main">
            <a:r>
              <a:t>            "FUR-004"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"날짜·필수값 검사",</a:t>
            </a:r>
          </a:p>
          <a:p xmlns:a="http://schemas.openxmlformats.org/drawingml/2006/main">
            <a:r>
              <a:t>          "layer": "결과 검증",</a:t>
            </a:r>
          </a:p>
          <a:p xmlns:a="http://schemas.openxmlformats.org/drawingml/2006/main">
            <a:r>
              <a:t>          "detail": "필수 필드 재확인·멱등성·상태 대사",</a:t>
            </a:r>
          </a:p>
          <a:p xmlns:a="http://schemas.openxmlformats.org/drawingml/2006/main">
            <a:r>
              <a:t>          "requirements": [</a:t>
            </a:r>
          </a:p>
          <a:p xmlns:a="http://schemas.openxmlformats.org/drawingml/2006/main">
            <a:r>
              <a:t>            "FUR-003"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"사용자 최종 확인",</a:t>
            </a:r>
          </a:p>
          <a:p xmlns:a="http://schemas.openxmlformats.org/drawingml/2006/main">
            <a:r>
              <a:t>          "layer": "사람 확인",</a:t>
            </a:r>
          </a:p>
          <a:p xmlns:a="http://schemas.openxmlformats.org/drawingml/2006/main">
            <a:r>
              <a:t>          "detail": "출장 목적·기간·장소를 말하고 확인 후 기안·상신",</a:t>
            </a:r>
          </a:p>
          <a:p xmlns:a="http://schemas.openxmlformats.org/drawingml/2006/main">
            <a:r>
              <a:t>          "requirements": [</a:t>
            </a:r>
          </a:p>
          <a:p xmlns:a="http://schemas.openxmlformats.org/drawingml/2006/main">
            <a:r>
              <a:t>            "FUR-004"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"신규 MIS API·상신",</a:t>
            </a:r>
          </a:p>
          <a:p xmlns:a="http://schemas.openxmlformats.org/drawingml/2006/main">
            <a:r>
              <a:t>          "layer": "업무 연결",</a:t>
            </a:r>
          </a:p>
          <a:p xmlns:a="http://schemas.openxmlformats.org/drawingml/2006/main">
            <a:r>
              <a:t>          "detail": "신규 MIS API로 기안·상신·처리 결과 확인",</a:t>
            </a:r>
          </a:p>
          <a:p xmlns:a="http://schemas.openxmlformats.org/drawingml/2006/main">
            <a:r>
              <a:t>          "requirements": [</a:t>
            </a:r>
          </a:p>
          <a:p xmlns:a="http://schemas.openxmlformats.org/drawingml/2006/main">
            <a:r>
              <a:t>            "FUR-003",</a:t>
            </a:r>
          </a:p>
          <a:p xmlns:a="http://schemas.openxmlformats.org/drawingml/2006/main">
            <a:r>
              <a:t>            "FUR-004",</a:t>
            </a:r>
          </a:p>
          <a:p xmlns:a="http://schemas.openxmlformats.org/drawingml/2006/main">
            <a:r>
              <a:t>            "FUR-007",</a:t>
            </a:r>
          </a:p>
          <a:p xmlns:a="http://schemas.openxmlformats.org/drawingml/2006/main">
            <a:r>
              <a:t>            "FUR-009"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"취소·중복 대사",</a:t>
            </a:r>
          </a:p>
          <a:p xmlns:a="http://schemas.openxmlformats.org/drawingml/2006/main">
            <a:r>
              <a:t>          "layer": "운영 관측",</a:t>
            </a:r>
          </a:p>
          <a:p xmlns:a="http://schemas.openxmlformats.org/drawingml/2006/main">
            <a:r>
              <a:t>          "detail": "수정·취소·재시도 상태의 원천 대사",</a:t>
            </a:r>
          </a:p>
          <a:p xmlns:a="http://schemas.openxmlformats.org/drawingml/2006/main">
            <a:r>
              <a:t>          "requirements": [</a:t>
            </a:r>
          </a:p>
          <a:p xmlns:a="http://schemas.openxmlformats.org/drawingml/2006/main">
            <a:r>
              <a:t>            "FUR-007"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"인사·근태·결재선",</a:t>
            </a:r>
          </a:p>
          <a:p xmlns:a="http://schemas.openxmlformats.org/drawingml/2006/main">
            <a:r>
              <a:t>          "layer": "데이터 원천",</a:t>
            </a:r>
          </a:p>
          <a:p xmlns:a="http://schemas.openxmlformats.org/drawingml/2006/main">
            <a:r>
              <a:t>          "detail": "신청 초안·처리 상태",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"필드·서식 정합화",</a:t>
            </a:r>
          </a:p>
          <a:p xmlns:a="http://schemas.openxmlformats.org/drawingml/2006/main">
            <a:r>
              <a:t>          "layer": "준비·갱신",</a:t>
            </a:r>
          </a:p>
          <a:p xmlns:a="http://schemas.openxmlformats.org/drawingml/2006/main">
            <a:r>
              <a:t>          "detail": "인사·근태·잔여연차·서식 데이터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"신청 초안·접수 상태",</a:t>
            </a:r>
          </a:p>
          <a:p xmlns:a="http://schemas.openxmlformats.org/drawingml/2006/main">
            <a:r>
              <a:t>          "layer": "상태·지식 저장",</a:t>
            </a:r>
          </a:p>
          <a:p xmlns:a="http://schemas.openxmlformats.org/drawingml/2006/main">
            <a:r>
              <a:t>          "detail": "확인 전 실행 차단·중복 방지·MIS 접수 상태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"업무·실행 권한",</a:t>
            </a:r>
          </a:p>
          <a:p xmlns:a="http://schemas.openxmlformats.org/drawingml/2006/main">
            <a:r>
              <a:t>          "layer": "권한·정책",</a:t>
            </a:r>
          </a:p>
          <a:p xmlns:a="http://schemas.openxmlformats.org/drawingml/2006/main">
            <a:r>
              <a:t>          "detail": "날짜 오인식·필수 항목 누락·API 재시도·취소",</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"음성/텍스트 입력과 조직·직무·권한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"원 발화",</a:t>
            </a:r>
          </a:p>
          <a:p xmlns:a="http://schemas.openxmlformats.org/drawingml/2006/main">
            <a:r>
              <a:t>          "check": "필수 필드 재확인·멱등성·상태 대사"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"신청 필드",</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"확인된 초안",</a:t>
            </a:r>
          </a:p>
          <a:p xmlns:a="http://schemas.openxmlformats.org/drawingml/2006/main">
            <a:r>
              <a:t>          "check": "날짜 오인식·필수 항목 누락·API 재시도·취소"</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"확인된 초안",</a:t>
            </a:r>
          </a:p>
          <a:p xmlns:a="http://schemas.openxmlformats.org/drawingml/2006/main">
            <a:r>
              <a:t>          "check": "신규 MIS API로 기안·상신·처리 결과 확인"</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"접수 결과",</a:t>
            </a:r>
          </a:p>
          <a:p xmlns:a="http://schemas.openxmlformats.org/drawingml/2006/main">
            <a:r>
              <a:t>          "check": "확인 전 실행 차단·중복 방지·MIS 접수 상태 대사"</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"FUR-001~009·TER-005",</a:t>
            </a:r>
          </a:p>
          <a:p xmlns:a="http://schemas.openxmlformats.org/drawingml/2006/main">
            <a:r>
              <a:t>        "extracted": "STT·NLU, 사용자 확인, MIS API 신규 구축·전자결재 연결",</a:t>
            </a:r>
          </a:p>
          <a:p xmlns:a="http://schemas.openxmlformats.org/drawingml/2006/main">
            <a:r>
              <a:t>        "extension": "중복 요청 식별·취소 후 상태 대사·결재선 효력일 검사"</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"PF-R06",</a:t>
            </a:r>
          </a:p>
          <a:p xmlns:a="http://schemas.openxmlformats.org/drawingml/2006/main">
            <a:r>
              <a:t>          "path": "assets/casebook-sources/PF-R06-01.png",</a:t>
            </a:r>
          </a:p>
          <a:p xmlns:a="http://schemas.openxmlformats.org/drawingml/2006/main">
            <a:r>
              <a:t>          "title": "철도기술연구원 업무시스템",</a:t>
            </a:r>
          </a:p>
          <a:p xmlns:a="http://schemas.openxmlformats.org/drawingml/2006/main">
            <a:r>
              <a:t>          "status": "RFP 수록 기존 시스템 구성",</a:t>
            </a:r>
          </a:p>
          <a:p xmlns:a="http://schemas.openxmlformats.org/drawingml/2006/main">
            <a:r>
              <a:t>          "caption": "협업 포털·통합경영정보·전자결재·외부 연계 현황",</a:t>
            </a:r>
          </a:p>
          <a:p xmlns:a="http://schemas.openxmlformats.org/drawingml/2006/main">
            <a:r>
              <a:t>          "locator": "rId18 / BinData/image1_bmp",</a:t>
            </a:r>
          </a:p>
          <a:p xmlns:a="http://schemas.openxmlformats.org/drawingml/2006/main">
            <a:r>
              <a:t>          "checked": "2026-10-16",</a:t>
            </a:r>
          </a:p>
          <a:p xmlns:a="http://schemas.openxmlformats.org/drawingml/2006/main">
            <a:r>
              <a:t>          "sha256": "419b833abe927fb60c98c0b17c83b79039658d9fc8f1bf2295db634a55a2c424",</a:t>
            </a:r>
          </a:p>
          <a:p xmlns:a="http://schemas.openxmlformats.org/drawingml/2006/main">
            <a:r>
              <a:t>          "explanation": {</a:t>
            </a:r>
          </a:p>
          <a:p xmlns:a="http://schemas.openxmlformats.org/drawingml/2006/main">
            <a:r>
              <a:t>            "read": "포털·MIS·전자결재의 기존 정보시스템 구성. 음성 AI의 신규 배치가 아니라 행정 요청을 실제 처리할 기간계와 결재 경로의 현황을 설명하는 도면.",</a:t>
            </a:r>
          </a:p>
          <a:p xmlns:a="http://schemas.openxmlformats.org/drawingml/2006/main">
            <a:r>
              <a:t>            "requirements": [</a:t>
            </a:r>
          </a:p>
          <a:p xmlns:a="http://schemas.openxmlformats.org/drawingml/2006/main">
            <a:r>
              <a:t>              "FUR-003",</a:t>
            </a:r>
          </a:p>
          <a:p xmlns:a="http://schemas.openxmlformats.org/drawingml/2006/main">
            <a:r>
              <a:t>              "FUR-004",</a:t>
            </a:r>
          </a:p>
          <a:p xmlns:a="http://schemas.openxmlformats.org/drawingml/2006/main">
            <a:r>
              <a:t>              "FUR-007",</a:t>
            </a:r>
          </a:p>
          <a:p xmlns:a="http://schemas.openxmlformats.org/drawingml/2006/main">
            <a:r>
              <a:t>              "FUR-009"</a:t>
            </a:r>
          </a:p>
          <a:p xmlns:a="http://schemas.openxmlformats.org/drawingml/2006/main">
            <a:r>
              <a:t>            ],</a:t>
            </a:r>
          </a:p>
          <a:p xmlns:a="http://schemas.openxmlformats.org/drawingml/2006/main">
            <a:r>
              <a:t>            "connection": "STT·의도 추출·사용자 확인을 앞단에 추가하고 기존 MIS API·결재선으로 인계하는 재구성. 음성 인식 성공과 업무 등록 성공을 별도 상태로 관리."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"날짜 오인식·필수 항목 누락·API 재시도·취소",</a:t>
            </a:r>
          </a:p>
          <a:p xmlns:a="http://schemas.openxmlformats.org/drawingml/2006/main">
            <a:r>
              <a:t>        "hold": "필수 필드 재확인·멱등성·상태 대사",</a:t>
            </a:r>
          </a:p>
          <a:p xmlns:a="http://schemas.openxmlformats.org/drawingml/2006/main">
            <a:r>
              <a:t>        "recovery": "수정·취소·재시도 상태의 원천 대사",</a:t>
            </a:r>
          </a:p>
          <a:p xmlns:a="http://schemas.openxmlformats.org/drawingml/2006/main">
            <a:r>
              <a:t>        "evidence": "확인 전 실행 차단·중복 방지·MIS 접수 상태 대사"</a:t>
            </a:r>
          </a:p>
          <a:p xmlns:a="http://schemas.openxmlformats.org/drawingml/2006/main">
            <a:r>
              <a:t>      },</a:t>
            </a:r>
          </a:p>
          <a:p xmlns:a="http://schemas.openxmlformats.org/drawingml/2006/main">
            <a:r>
              <a:t>      "data": {</a:t>
            </a:r>
          </a:p>
          <a:p xmlns:a="http://schemas.openxmlformats.org/drawingml/2006/main">
            <a:r>
              <a:t>        "source": "신청 초안·처리 상태",</a:t>
            </a:r>
          </a:p>
          <a:p xmlns:a="http://schemas.openxmlformats.org/drawingml/2006/main">
            <a:r>
              <a:t>        "prepare": "인사·근태·잔여연차·서식 데이터 연결",</a:t>
            </a:r>
          </a:p>
          <a:p xmlns:a="http://schemas.openxmlformats.org/drawingml/2006/main">
            <a:r>
              <a:t>        "output": "원 발화",</a:t>
            </a:r>
          </a:p>
          <a:p xmlns:a="http://schemas.openxmlformats.org/drawingml/2006/main">
            <a:r>
              <a:t>        "refresh": "수정·취소·재시도 상태의 원천 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"PF-R06",</a:t>
            </a:r>
          </a:p>
          <a:p xmlns:a="http://schemas.openxmlformats.org/drawingml/2006/main">
            <a:r>
              <a:t>    "success": [</a:t>
            </a:r>
          </a:p>
          <a:p xmlns:a="http://schemas.openxmlformats.org/drawingml/2006/main">
            <a:r>
              <a:t>      "발화 구조화와 기존 MIS 연결",</a:t>
            </a:r>
          </a:p>
          <a:p xmlns:a="http://schemas.openxmlformats.org/drawingml/2006/main">
            <a:r>
              <a:t>      "실행 전 사용자 확인"</a:t>
            </a:r>
          </a:p>
          <a:p xmlns:a="http://schemas.openxmlformats.org/drawingml/2006/main">
            <a:r>
              <a:t>    ],</a:t>
            </a:r>
          </a:p>
          <a:p xmlns:a="http://schemas.openxmlformats.org/drawingml/2006/main">
            <a:r>
              <a:t>    "risks": [</a:t>
            </a:r>
          </a:p>
          <a:p xmlns:a="http://schemas.openxmlformats.org/drawingml/2006/main">
            <a:r>
              <a:t>      "잘못된 날짜·출장 항목 추출",</a:t>
            </a:r>
          </a:p>
          <a:p xmlns:a="http://schemas.openxmlformats.org/drawingml/2006/main">
            <a:r>
              <a:t>      "재시도에 따른 중복 신청"</a:t>
            </a:r>
          </a:p>
          <a:p xmlns:a="http://schemas.openxmlformats.org/drawingml/2006/main">
            <a:r>
              <a:t>    ],</a:t>
            </a:r>
          </a:p>
          <a:p xmlns:a="http://schemas.openxmlformats.org/drawingml/2006/main">
            <a:r>
              <a:t>    "architecture": [</a:t>
            </a:r>
          </a:p>
          <a:p xmlns:a="http://schemas.openxmlformats.org/drawingml/2006/main">
            <a:r>
              <a:t>      "음성·자연어",</a:t>
            </a:r>
          </a:p>
          <a:p xmlns:a="http://schemas.openxmlformats.org/drawingml/2006/main">
            <a:r>
              <a:t>      "필드 추출·확인",</a:t>
            </a:r>
          </a:p>
          <a:p xmlns:a="http://schemas.openxmlformats.org/drawingml/2006/main">
            <a:r>
              <a:t>      "신청 초안·처리 상태",</a:t>
            </a:r>
          </a:p>
          <a:p xmlns:a="http://schemas.openxmlformats.org/drawingml/2006/main">
            <a:r>
              <a:t>      "MIS·전자결재"</a:t>
            </a:r>
          </a:p>
          <a:p xmlns:a="http://schemas.openxmlformats.org/drawingml/2006/main">
            <a:r>
              <a:t>    ],</a:t>
            </a:r>
          </a:p>
          <a:p xmlns:a="http://schemas.openxmlformats.org/drawingml/2006/main">
            <a:r>
              <a:t>    "transfers": [</a:t>
            </a:r>
          </a:p>
          <a:p xmlns:a="http://schemas.openxmlformats.org/drawingml/2006/main">
            <a:r>
              <a:t>      "원 발화",</a:t>
            </a:r>
          </a:p>
          <a:p xmlns:a="http://schemas.openxmlformats.org/drawingml/2006/main">
            <a:r>
              <a:t>      "신청 필드",</a:t>
            </a:r>
          </a:p>
          <a:p xmlns:a="http://schemas.openxmlformats.org/drawingml/2006/main">
            <a:r>
              <a:t>      "확인된 초안",</a:t>
            </a:r>
          </a:p>
          <a:p xmlns:a="http://schemas.openxmlformats.org/drawingml/2006/main">
            <a:r>
              <a:t>      "접수 결과"</a:t>
            </a:r>
          </a:p>
          <a:p xmlns:a="http://schemas.openxmlformats.org/drawingml/2006/main">
            <a:r>
              <a:t>    ],</a:t>
            </a:r>
          </a:p>
          <a:p xmlns:a="http://schemas.openxmlformats.org/drawingml/2006/main">
            <a:r>
              <a:t>    "control": "필수 필드 재확인·멱등성·상태 대사",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FUR-001~009, PER-001~002, TER-005 / Word T071 https://www.g2b.go.kr/pn/pnp/pnpe/UntyAtchFile/downloadFile.do?bidPbancNo=R26BK01719764&amp;bidPbancOrd=000&amp;fileSeq=4&amp;fileType=&amp;prcmBsneSeCd=03</a:t>
            </a:r>
          </a:p>
          <a:p xmlns:a="http://schemas.openxmlformats.org/drawingml/2006/main">
            <a:r>
              <a:t>홈페이지 https://heen1987-ops.github.io/TS-business-Plan-001/index.html?view=platform-cases&amp;case=PF-R06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"PF-R06",</a:t>
            </a:r>
          </a:p>
          <a:p xmlns:a="http://schemas.openxmlformats.org/drawingml/2006/main">
            <a:r>
              <a:t>    "sourceId": "R06",</a:t>
            </a:r>
          </a:p>
          <a:p xmlns:a="http://schemas.openxmlformats.org/drawingml/2006/main">
            <a:r>
              <a:t>    "title": "철도기술연구원 행정 AI",</a:t>
            </a:r>
          </a:p>
          <a:p xmlns:a="http://schemas.openxmlformats.org/drawingml/2006/main">
            <a:r>
              <a:t>    "region": "국내",</a:t>
            </a:r>
          </a:p>
          <a:p xmlns:a="http://schemas.openxmlformats.org/drawingml/2006/main">
            <a:r>
              <a:t>    "owner": "한국철도기술연구원",</a:t>
            </a:r>
          </a:p>
          <a:p xmlns:a="http://schemas.openxmlformats.org/drawingml/2006/main">
            <a:r>
              <a:t>    "state": "공식 RFP 확인 / 운영·효과 미확인",</a:t>
            </a:r>
          </a:p>
          <a:p xmlns:a="http://schemas.openxmlformats.org/drawingml/2006/main">
            <a:r>
              <a:t>    "period": "기존 원장 확인 2026.10.16",</a:t>
            </a:r>
          </a:p>
          <a:p xmlns:a="http://schemas.openxmlformats.org/drawingml/2006/main">
            <a:r>
              <a:t>    "fact": "음성·자연어로 휴가·출장·복명 신청 후 MIS/전자결재 실행",</a:t>
            </a:r>
          </a:p>
          <a:p xmlns:a="http://schemas.openxmlformats.org/drawingml/2006/main">
            <a:r>
              <a:t>    "limit": "RFP 요구 범위 · MIS API 계층 신규 개발 포함 · 운영 성과와 구분",</a:t>
            </a:r>
          </a:p>
          <a:p xmlns:a="http://schemas.openxmlformats.org/drawingml/2006/main">
            <a:r>
              <a:t>    "nodes": [</a:t>
            </a:r>
          </a:p>
          <a:p xmlns:a="http://schemas.openxmlformats.org/drawingml/2006/main">
            <a:r>
              <a:t>      "음성·자연어",</a:t>
            </a:r>
          </a:p>
          <a:p xmlns:a="http://schemas.openxmlformats.org/drawingml/2006/main">
            <a:r>
              <a:t>      "필드 추출",</a:t>
            </a:r>
          </a:p>
          <a:p xmlns:a="http://schemas.openxmlformats.org/drawingml/2006/main">
            <a:r>
              <a:t>      "사용자 확인",</a:t>
            </a:r>
          </a:p>
          <a:p xmlns:a="http://schemas.openxmlformats.org/drawingml/2006/main">
            <a:r>
              <a:t>      "MIS·결재 연계"</a:t>
            </a:r>
          </a:p>
          <a:p xmlns:a="http://schemas.openxmlformats.org/drawingml/2006/main">
            <a:r>
              <a:t>    ],</a:t>
            </a:r>
          </a:p>
          <a:p xmlns:a="http://schemas.openxmlformats.org/drawingml/2006/main">
            <a:r>
              <a:t>    "apply": "사용자 확인·전결·접수 결과까지 추적하는 자연어 업무 실행",</a:t>
            </a:r>
          </a:p>
          <a:p xmlns:a="http://schemas.openxmlformats.org/drawingml/2006/main">
            <a:r>
              <a:t>    "delta": "발화 필드·확인 화면 / TS 기간계 API 차분 / 전결·취소·재시도 연결",</a:t>
            </a:r>
          </a:p>
          <a:p xmlns:a="http://schemas.openxmlformats.org/drawingml/2006/main">
            <a:r>
              <a:t>    "test": "날짜 오류·중복 전송·취소 시 승인 전 차단·멱등성·원천 상태 대사",</a:t>
            </a:r>
          </a:p>
          <a:p xmlns:a="http://schemas.openxmlformats.org/drawingml/2006/main">
            <a:r>
              <a:t>    "url": "https://www.g2b.go.kr/pn/pnp/pnpe/UntyAtchFile/downloadFile.do?bidPbancNo=R26BK01719764&amp;bidPbancOrd=000&amp;fileSeq=4&amp;fileType=&amp;prcmBsneSeCd=03",</a:t>
            </a:r>
          </a:p>
          <a:p xmlns:a="http://schemas.openxmlformats.org/drawingml/2006/main">
            <a:r>
              <a:t>    "urls": [</a:t>
            </a:r>
          </a:p>
          <a:p xmlns:a="http://schemas.openxmlformats.org/drawingml/2006/main">
            <a:r>
              <a:t>      "https://www.g2b.go.kr/pn/pnp/pnpe/UntyAtchFile/downloadFile.do?bidPbancNo=R26BK01719764&amp;bidPbancOrd=000&amp;fileSeq=4&amp;fileType=&amp;prcmBsneSeCd=03"</a:t>
            </a:r>
          </a:p>
          <a:p xmlns:a="http://schemas.openxmlformats.org/drawingml/2006/main">
            <a:r>
              <a:t>    ],</a:t>
            </a:r>
          </a:p>
          <a:p xmlns:a="http://schemas.openxmlformats.org/drawingml/2006/main">
            <a:r>
              <a:t>    "basis": "FUR-001~009, PER-001~002, TER-005 / Word T071",</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"신청 완료시간 / 재입력률 / 중복·미접수 건수",</a:t>
            </a:r>
          </a:p>
          <a:p xmlns:a="http://schemas.openxmlformats.org/drawingml/2006/main">
            <a:r>
              <a:t>    "group": "요구·구축",</a:t>
            </a:r>
          </a:p>
          <a:p xmlns:a="http://schemas.openxmlformats.org/drawingml/2006/main">
            <a:r>
              <a:t>    "sourceDetail": "STT→의도·필드 추출→사용자 확인→MIS API 신규개발→기안·상신; 조직·직무·권한 기반 결재선",</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"PF-R06",</a:t>
            </a:r>
          </a:p>
          <a:p xmlns:a="http://schemas.openxmlformats.org/drawingml/2006/main">
            <a:r>
              <a:t>    "canonicalId": "PF-R06",</a:t>
            </a:r>
          </a:p>
          <a:p xmlns:a="http://schemas.openxmlformats.org/drawingml/2006/main">
            <a:r>
              <a:t>    "purpose": "발화에서 휴가·출장·복명 신청까지 연결",</a:t>
            </a:r>
          </a:p>
          <a:p xmlns:a="http://schemas.openxmlformats.org/drawingml/2006/main">
            <a:r>
              <a:t>    "users": "직원·결재자·MIS 운영자",</a:t>
            </a:r>
          </a:p>
          <a:p xmlns:a="http://schemas.openxmlformats.org/drawingml/2006/main">
            <a:r>
              <a:t>    "scope": [</a:t>
            </a:r>
          </a:p>
          <a:p xmlns:a="http://schemas.openxmlformats.org/drawingml/2006/main">
            <a:r>
              <a:t>      "음성 입력",</a:t>
            </a:r>
          </a:p>
          <a:p xmlns:a="http://schemas.openxmlformats.org/drawingml/2006/main">
            <a:r>
              <a:t>      "신청서 작성",</a:t>
            </a:r>
          </a:p>
          <a:p xmlns:a="http://schemas.openxmlformats.org/drawingml/2006/main">
            <a:r>
              <a:t>      "MIS·전자결재"</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"음성·자연어",</a:t>
            </a:r>
          </a:p>
          <a:p xmlns:a="http://schemas.openxmlformats.org/drawingml/2006/main">
            <a:r>
              <a:t>        "detail": "음성/텍스트 입력과 조직·직무·권한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"음성 입력 / 신청서 작성 / MIS·전자결재",</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"필드 추출·확인",</a:t>
            </a:r>
          </a:p>
          <a:p xmlns:a="http://schemas.openxmlformats.org/drawingml/2006/main">
            <a:r>
              <a:t>        "detail": "STT·NLU의 의도·날짜·항목 추출 및 확인",</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"MIS·전자결재",</a:t>
            </a:r>
          </a:p>
          <a:p xmlns:a="http://schemas.openxmlformats.org/drawingml/2006/main">
            <a:r>
              <a:t>        "detail": "신규 MIS API로 기안·상신·처리 결과 확인",</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"신청 초안·처리 상태",</a:t>
            </a:r>
          </a:p>
          <a:p xmlns:a="http://schemas.openxmlformats.org/drawingml/2006/main">
            <a:r>
              <a:t>        "detail": "인사·근태·잔여연차·서식 데이터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"수정·취소·재시도 상태의 원천 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"음성·자연어",</a:t>
            </a:r>
          </a:p>
          <a:p xmlns:a="http://schemas.openxmlformats.org/drawingml/2006/main">
            <a:r>
              <a:t>        "input": "음성/텍스트 입력과 조직·직무·권한 확인",</a:t>
            </a:r>
          </a:p>
          <a:p xmlns:a="http://schemas.openxmlformats.org/drawingml/2006/main">
            <a:r>
              <a:t>        "process": "인사·근태·잔여연차·서식 데이터 연결",</a:t>
            </a:r>
          </a:p>
          <a:p xmlns:a="http://schemas.openxmlformats.org/drawingml/2006/main">
            <a:r>
              <a:t>        "output": "원 발화"</a:t>
            </a:r>
          </a:p>
          <a:p xmlns:a="http://schemas.openxmlformats.org/drawingml/2006/main">
            <a:r>
              <a:t>      },</a:t>
            </a:r>
          </a:p>
          <a:p xmlns:a="http://schemas.openxmlformats.org/drawingml/2006/main">
            <a:r>
              <a:t>      {</a:t>
            </a:r>
          </a:p>
          <a:p xmlns:a="http://schemas.openxmlformats.org/drawingml/2006/main">
            <a:r>
              <a:t>        "title": "필드 추출",</a:t>
            </a:r>
          </a:p>
          <a:p xmlns:a="http://schemas.openxmlformats.org/drawingml/2006/main">
            <a:r>
              <a:t>        "input": "원 발화",</a:t>
            </a:r>
          </a:p>
          <a:p xmlns:a="http://schemas.openxmlformats.org/drawingml/2006/main">
            <a:r>
              <a:t>        "process": "STT·NLU의 의도·날짜·항목 추출 및 확인",</a:t>
            </a:r>
          </a:p>
          <a:p xmlns:a="http://schemas.openxmlformats.org/drawingml/2006/main">
            <a:r>
              <a:t>        "output": "신청 필드"</a:t>
            </a:r>
          </a:p>
          <a:p xmlns:a="http://schemas.openxmlformats.org/drawingml/2006/main">
            <a:r>
              <a:t>      },</a:t>
            </a:r>
          </a:p>
          <a:p xmlns:a="http://schemas.openxmlformats.org/drawingml/2006/main">
            <a:r>
              <a:t>      {</a:t>
            </a:r>
          </a:p>
          <a:p xmlns:a="http://schemas.openxmlformats.org/drawingml/2006/main">
            <a:r>
              <a:t>        "title": "사용자 확인",</a:t>
            </a:r>
          </a:p>
          <a:p xmlns:a="http://schemas.openxmlformats.org/drawingml/2006/main">
            <a:r>
              <a:t>        "input": "신청 필드",</a:t>
            </a:r>
          </a:p>
          <a:p xmlns:a="http://schemas.openxmlformats.org/drawingml/2006/main">
            <a:r>
              <a:t>        "process": "필수 필드 재확인·멱등성·상태 대사",</a:t>
            </a:r>
          </a:p>
          <a:p xmlns:a="http://schemas.openxmlformats.org/drawingml/2006/main">
            <a:r>
              <a:t>        "output": "확인된 초안"</a:t>
            </a:r>
          </a:p>
          <a:p xmlns:a="http://schemas.openxmlformats.org/drawingml/2006/main">
            <a:r>
              <a:t>      },</a:t>
            </a:r>
          </a:p>
          <a:p xmlns:a="http://schemas.openxmlformats.org/drawingml/2006/main">
            <a:r>
              <a:t>      {</a:t>
            </a:r>
          </a:p>
          <a:p xmlns:a="http://schemas.openxmlformats.org/drawingml/2006/main">
            <a:r>
              <a:t>        "title": "MIS·결재 연계",</a:t>
            </a:r>
          </a:p>
          <a:p xmlns:a="http://schemas.openxmlformats.org/drawingml/2006/main">
            <a:r>
              <a:t>        "input": "확인된 초안",</a:t>
            </a:r>
          </a:p>
          <a:p xmlns:a="http://schemas.openxmlformats.org/drawingml/2006/main">
            <a:r>
              <a:t>        "process": "신규 MIS API로 기안·상신·처리 결과 확인",</a:t>
            </a:r>
          </a:p>
          <a:p xmlns:a="http://schemas.openxmlformats.org/drawingml/2006/main">
            <a:r>
              <a:t>        "output": "접수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"출장 목적·기간·장소를 말하고 확인 후 기안·상신",</a:t>
            </a:r>
          </a:p>
          <a:p xmlns:a="http://schemas.openxmlformats.org/drawingml/2006/main">
            <a:r>
              <a:t>      "exception": "날짜 오인식·필수 항목 누락·API 재시도·취소",</a:t>
            </a:r>
          </a:p>
          <a:p xmlns:a="http://schemas.openxmlformats.org/drawingml/2006/main">
            <a:r>
              <a:t>      "evidence": "확인 전 실행 차단·중복 방지·MIS 접수 상태 대사",</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"직원·결재자·MIS 운영자",</a:t>
            </a:r>
          </a:p>
          <a:p xmlns:a="http://schemas.openxmlformats.org/drawingml/2006/main">
            <a:r>
              <a:t>          "processing": "음성/텍스트 입력과 조직·직무·권한 확인",</a:t>
            </a:r>
          </a:p>
          <a:p xmlns:a="http://schemas.openxmlformats.org/drawingml/2006/main">
            <a:r>
              <a:t>          "output": "원 발화"</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"신청 초안·처리 상태",</a:t>
            </a:r>
          </a:p>
          <a:p xmlns:a="http://schemas.openxmlformats.org/drawingml/2006/main">
            <a:r>
              <a:t>          "processing": "인사·근태·잔여연차·서식 데이터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"원 발화",</a:t>
            </a:r>
          </a:p>
          <a:p xmlns:a="http://schemas.openxmlformats.org/drawingml/2006/main">
            <a:r>
              <a:t>          "processing": "STT·NLU의 의도·날짜·항목 추출 및 확인",</a:t>
            </a:r>
          </a:p>
          <a:p xmlns:a="http://schemas.openxmlformats.org/drawingml/2006/main">
            <a:r>
              <a:t>          "output": "확인된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"확인된 초안",</a:t>
            </a:r>
          </a:p>
          <a:p xmlns:a="http://schemas.openxmlformats.org/drawingml/2006/main">
            <a:r>
              <a:t>          "processing": "신규 MIS API로 기안·상신·처리 결과 확인",</a:t>
            </a:r>
          </a:p>
          <a:p xmlns:a="http://schemas.openxmlformats.org/drawingml/2006/main">
            <a:r>
              <a:t>          "output": "접수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"수정·취소·재시도 상태의 원천 대사",</a:t>
            </a:r>
          </a:p>
          <a:p xmlns:a="http://schemas.openxmlformats.org/drawingml/2006/main">
            <a:r>
              <a:t>          "output": "확인 전 실행 차단·중복 방지·MIS 접수 상태 대사"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"수정·취소·재시도 상태의 원천 대사",</a:t>
            </a:r>
          </a:p>
          <a:p xmlns:a="http://schemas.openxmlformats.org/drawingml/2006/main">
            <a:r>
              <a:t>    "status": "RFP 기반 논리 설계",</a:t>
            </a:r>
          </a:p>
          <a:p xmlns:a="http://schemas.openxmlformats.org/drawingml/2006/main">
            <a:r>
              <a:t>    "basis": "RFP · FUR-001~009·TER-005",</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"FUR-001~009, PER-001~002, TER-005 / Word T071",</a:t>
            </a:r>
          </a:p>
          <a:p xmlns:a="http://schemas.openxmlformats.org/drawingml/2006/main">
            <a:r>
              <a:t>        "url": "https://www.g2b.go.kr/pn/pnp/pnpe/UntyAtchFile/downloadFile.do?bidPbancNo=R26BK01719764&amp;bidPbancOrd=000&amp;fileSeq=4&amp;fileType=&amp;prcmBsneSeCd=03"</a:t>
            </a:r>
          </a:p>
          <a:p xmlns:a="http://schemas.openxmlformats.org/drawingml/2006/main">
            <a:r>
              <a:t>      }</a:t>
            </a:r>
          </a:p>
          <a:p xmlns:a="http://schemas.openxmlformats.org/drawingml/2006/main">
            <a:r>
              <a:t>    ],</a:t>
            </a:r>
          </a:p>
          <a:p xmlns:a="http://schemas.openxmlformats.org/drawingml/2006/main">
            <a:r>
              <a:t>    "implication": "사용자 확인·전결·접수 결과까지 추적하는 자연어 업무 실행",</a:t>
            </a:r>
          </a:p>
          <a:p xmlns:a="http://schemas.openxmlformats.org/drawingml/2006/main">
            <a:r>
              <a:t>    "local": "사용자 확인·전결·접수 결과까지 추적하는 자연어 업무 실행",</a:t>
            </a:r>
          </a:p>
          <a:p xmlns:a="http://schemas.openxmlformats.org/drawingml/2006/main">
            <a:r>
              <a:t>    "sourceDetail": "STT→의도·필드 추출→사용자 확인→MIS API 신규개발→기안·상신; 조직·직무·권한 기반 결재선",</a:t>
            </a:r>
          </a:p>
          <a:p xmlns:a="http://schemas.openxmlformats.org/drawingml/2006/main">
            <a:r>
              <a:t>    "narrative": [</a:t>
            </a:r>
          </a:p>
          <a:p xmlns:a="http://schemas.openxmlformats.org/drawingml/2006/main">
            <a:r>
              <a:t>      "휴가·출장 등 행정업무를 음성·텍스트 요청에서 시작해 MIS와 전자결재까지 연결하는 사업. 기존 서식·데이터 생성 로직이 MIS에 있고 AI·모바일 호출용 API가 없다는 연계 제약을 RFP에 명시.",</a:t>
            </a:r>
          </a:p>
          <a:p xmlns:a="http://schemas.openxmlformats.org/drawingml/2006/main">
            <a:r>
              <a:t>      "발화의 STT 변환, NLU 의도·개체 추출, 필수 항목 검증, 사용자 확인, MIS 서식 생성, 결재선 추천, 상신·상태 조회를 구분하는 처리 구조. FUR-009의 신규 API는 서식 메타데이터, 잔여연차·근태 조회, 업무규칙 검증, 전자결재 상신을 포함하는 범위.",</a:t>
            </a:r>
          </a:p>
          <a:p xmlns:a="http://schemas.openxmlformats.org/drawingml/2006/main">
            <a:r>
              <a:t>      "AI 모델 정확도 외에 실제 업무 시스템의 접수 상태까지 확인해야 하는 사례. 같은 요청의 재시도, 날짜 수정, 결재선 변경, 상신 후 취소를 검수 시나리오로 분리할 필요. CCK 재사용 도구와 별개로 TS 기간계 API 개발·멱등성·상태 대사를 추가 범위로 산정."</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"FUR-001",</a:t>
            </a:r>
          </a:p>
          <a:p xmlns:a="http://schemas.openxmlformats.org/drawingml/2006/main">
            <a:r>
              <a:t>        "title": "음성 인식(STT) 기반 입력 처리",</a:t>
            </a:r>
          </a:p>
          <a:p xmlns:a="http://schemas.openxmlformats.org/drawingml/2006/main">
            <a:r>
              <a:t>        "locator": "FUR-001",</a:t>
            </a:r>
          </a:p>
          <a:p xmlns:a="http://schemas.openxmlformats.org/drawingml/2006/main">
            <a:r>
              <a:t>        "summary": "음성 발화를 행정 요청의 텍스트 입력으로 변환하는 STT 기능.",</a:t>
            </a:r>
          </a:p>
          <a:p xmlns:a="http://schemas.openxmlformats.org/drawingml/2006/main">
            <a:r>
              <a:t>        "data": "업무 발화·음성 → 전사문",</a:t>
            </a:r>
          </a:p>
          <a:p xmlns:a="http://schemas.openxmlformats.org/drawingml/2006/main">
            <a:r>
              <a:t>        "components": [</a:t>
            </a:r>
          </a:p>
          <a:p xmlns:a="http://schemas.openxmlformats.org/drawingml/2006/main">
            <a:r>
              <a:t>          "C01",</a:t>
            </a:r>
          </a:p>
          <a:p xmlns:a="http://schemas.openxmlformats.org/drawingml/2006/main">
            <a:r>
              <a:t>          "C04"</a:t>
            </a:r>
          </a:p>
          <a:p xmlns:a="http://schemas.openxmlformats.org/drawingml/2006/main">
            <a:r>
              <a:t>        ],</a:t>
            </a:r>
          </a:p>
          <a:p xmlns:a="http://schemas.openxmlformats.org/drawingml/2006/main">
            <a:r>
              <a:t>        "acceptance": "잡음·기관 고유어·날짜·숫자·수정 발화의 전사 결과를 정답과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"4b2d797a440d1d6fbec4f86d7f517404bd7f1e493f405d7d9f79cd20481e3cbd"</a:t>
            </a:r>
          </a:p>
          <a:p xmlns:a="http://schemas.openxmlformats.org/drawingml/2006/main">
            <a:r>
              <a:t>      },</a:t>
            </a:r>
          </a:p>
          <a:p xmlns:a="http://schemas.openxmlformats.org/drawingml/2006/main">
            <a:r>
              <a:t>      {</a:t>
            </a:r>
          </a:p>
          <a:p xmlns:a="http://schemas.openxmlformats.org/drawingml/2006/main">
            <a:r>
              <a:t>        "id": "FUR-002",</a:t>
            </a:r>
          </a:p>
          <a:p xmlns:a="http://schemas.openxmlformats.org/drawingml/2006/main">
            <a:r>
              <a:t>        "title": "자연어 이해(NLU) 및 사용자 의도 분석",</a:t>
            </a:r>
          </a:p>
          <a:p xmlns:a="http://schemas.openxmlformats.org/drawingml/2006/main">
            <a:r>
              <a:t>        "locator": "FUR-002",</a:t>
            </a:r>
          </a:p>
          <a:p xmlns:a="http://schemas.openxmlformats.org/drawingml/2006/main">
            <a:r>
              <a:t>        "summary": "전사·텍스트에서 사용자의 의도와 업무에 필요한 항목을 식별하는 NLU 기능.",</a:t>
            </a:r>
          </a:p>
          <a:p xmlns:a="http://schemas.openxmlformats.org/drawingml/2006/main">
            <a:r>
              <a:t>        "data": "발화·직원 문맥 → 업무 유형·필수 항목",</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a:t>
            </a:r>
          </a:p>
          <a:p xmlns:a="http://schemas.openxmlformats.org/drawingml/2006/main">
            <a:r>
              <a:t>        "acceptance": "휴가·출장·복명 의도 혼동, 날짜 누락, 정정 발화 처리의 슬롯별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"2b5b33f9ad0c0b4d3f13c4f96f1446464cdcaabdd131ab4dde7eaac0671edc6a"</a:t>
            </a:r>
          </a:p>
          <a:p xmlns:a="http://schemas.openxmlformats.org/drawingml/2006/main">
            <a:r>
              <a:t>      },</a:t>
            </a:r>
          </a:p>
          <a:p xmlns:a="http://schemas.openxmlformats.org/drawingml/2006/main">
            <a:r>
              <a:t>      {</a:t>
            </a:r>
          </a:p>
          <a:p xmlns:a="http://schemas.openxmlformats.org/drawingml/2006/main">
            <a:r>
              <a:t>        "id": "FUR-003",</a:t>
            </a:r>
          </a:p>
          <a:p xmlns:a="http://schemas.openxmlformats.org/drawingml/2006/main">
            <a:r>
              <a:t>        "title": "지능형 업무 자동화 엔진",</a:t>
            </a:r>
          </a:p>
          <a:p xmlns:a="http://schemas.openxmlformats.org/drawingml/2006/main">
            <a:r>
              <a:t>        "locator": "FUR-003",</a:t>
            </a:r>
          </a:p>
          <a:p xmlns:a="http://schemas.openxmlformats.org/drawingml/2006/main">
            <a:r>
              <a:t>        "summary": "식별한 의도를 업무자동화 절차로 연결하는 실행 엔진.",</a:t>
            </a:r>
          </a:p>
          <a:p xmlns:a="http://schemas.openxmlformats.org/drawingml/2006/main">
            <a:r>
              <a:t>        "data": "의도·입력 항목 → 실행 절차·진행 상태",</a:t>
            </a:r>
          </a:p>
          <a:p xmlns:a="http://schemas.openxmlformats.org/drawingml/2006/main">
            <a:r>
              <a:t>        "components": [</a:t>
            </a:r>
          </a:p>
          <a:p xmlns:a="http://schemas.openxmlformats.org/drawingml/2006/main">
            <a:r>
              <a:t>          "C04",</a:t>
            </a:r>
          </a:p>
          <a:p xmlns:a="http://schemas.openxmlformats.org/drawingml/2006/main">
            <a:r>
              <a:t>          "C05",</a:t>
            </a:r>
          </a:p>
          <a:p xmlns:a="http://schemas.openxmlformats.org/drawingml/2006/main">
            <a:r>
              <a:t>          "C07"</a:t>
            </a:r>
          </a:p>
          <a:p xmlns:a="http://schemas.openxmlformats.org/drawingml/2006/main">
            <a:r>
              <a:t>        ],</a:t>
            </a:r>
          </a:p>
          <a:p xmlns:a="http://schemas.openxmlformats.org/drawingml/2006/main">
            <a:r>
              <a:t>        "acceptance": "필수값 누락·비허용 업무·중간 실패 조건의 실행 보류와 재개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"f810450f2d482dea56dce3c7164eae2c0fc1681561e11d1fd64a9f19546747d3"</a:t>
            </a:r>
          </a:p>
          <a:p xmlns:a="http://schemas.openxmlformats.org/drawingml/2006/main">
            <a:r>
              <a:t>      },</a:t>
            </a:r>
          </a:p>
          <a:p xmlns:a="http://schemas.openxmlformats.org/drawingml/2006/main">
            <a:r>
              <a:t>      {</a:t>
            </a:r>
          </a:p>
          <a:p xmlns:a="http://schemas.openxmlformats.org/drawingml/2006/main">
            <a:r>
              <a:t>        "id": "FUR-004",</a:t>
            </a:r>
          </a:p>
          <a:p xmlns:a="http://schemas.openxmlformats.org/drawingml/2006/main">
            <a:r>
              <a:t>        "title": "행정서식 생성(MIS)·전자결재 연동 및 결재선 자동 추천",</a:t>
            </a:r>
          </a:p>
          <a:p xmlns:a="http://schemas.openxmlformats.org/drawingml/2006/main">
            <a:r>
              <a:t>        "locator": "FUR-004",</a:t>
            </a:r>
          </a:p>
          <a:p xmlns:a="http://schemas.openxmlformats.org/drawingml/2006/main">
            <a:r>
              <a:t>        "summary": "MIS 행정서식 생성과 전자결재·결재선 연계.",</a:t>
            </a:r>
          </a:p>
          <a:p xmlns:a="http://schemas.openxmlformats.org/drawingml/2006/main">
            <a:r>
              <a:t>        "data": "직원·업무 데이터 → 신청서·결재선·접수 결과",</a:t>
            </a:r>
          </a:p>
          <a:p xmlns:a="http://schemas.openxmlformats.org/drawingml/2006/main">
            <a:r>
              <a:t>        "components": [</a:t>
            </a:r>
          </a:p>
          <a:p xmlns:a="http://schemas.openxmlformats.org/drawingml/2006/main">
            <a:r>
              <a:t>          "C04",</a:t>
            </a:r>
          </a:p>
          <a:p xmlns:a="http://schemas.openxmlformats.org/drawingml/2006/main">
            <a:r>
              <a:t>          "C06",</a:t>
            </a:r>
          </a:p>
          <a:p xmlns:a="http://schemas.openxmlformats.org/drawingml/2006/main">
            <a:r>
              <a:t>          "C07"</a:t>
            </a:r>
          </a:p>
          <a:p xmlns:a="http://schemas.openxmlformats.org/drawingml/2006/main">
            <a:r>
              <a:t>        ],</a:t>
            </a:r>
          </a:p>
          <a:p xmlns:a="http://schemas.openxmlformats.org/drawingml/2006/main">
            <a:r>
              <a:t>        "acceptance": "다른 직원의 결재선, 수정 전 날짜, 중복 신청을 포함해 확인 화면과 최종 등록값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"4f1ec6fe0d7a56356478c8dfabb91a772fd9c787cec611102d2b41d2bf087f45"</a:t>
            </a:r>
          </a:p>
          <a:p xmlns:a="http://schemas.openxmlformats.org/drawingml/2006/main">
            <a:r>
              <a:t>      },</a:t>
            </a:r>
          </a:p>
          <a:p xmlns:a="http://schemas.openxmlformats.org/drawingml/2006/main">
            <a:r>
              <a:t>      {</a:t>
            </a:r>
          </a:p>
          <a:p xmlns:a="http://schemas.openxmlformats.org/drawingml/2006/main">
            <a:r>
              <a:t>        "id": "FUR-007",</a:t>
            </a:r>
          </a:p>
          <a:p xmlns:a="http://schemas.openxmlformats.org/drawingml/2006/main">
            <a:r>
              <a:t>        "title": "그룹웨어·기간계 시스템 연계",</a:t>
            </a:r>
          </a:p>
          <a:p xmlns:a="http://schemas.openxmlformats.org/drawingml/2006/main">
            <a:r>
              <a:t>        "locator": "FUR-007",</a:t>
            </a:r>
          </a:p>
          <a:p xmlns:a="http://schemas.openxmlformats.org/drawingml/2006/main">
            <a:r>
              <a:t>        "summary": "그룹웨어·기간계와 연계해 요청 및 처리 결과를 교환하는 기능.",</a:t>
            </a:r>
          </a:p>
          <a:p xmlns:a="http://schemas.openxmlformats.org/drawingml/2006/main">
            <a:r>
              <a:t>        "data": "업무 요청·시스템 식별정보 → 처리 결과·상태",</a:t>
            </a:r>
          </a:p>
          <a:p xmlns:a="http://schemas.openxmlformats.org/drawingml/2006/main">
            <a:r>
              <a:t>        "components": [</a:t>
            </a:r>
          </a:p>
          <a:p xmlns:a="http://schemas.openxmlformats.org/drawingml/2006/main">
            <a:r>
              <a:t>          "C02",</a:t>
            </a:r>
          </a:p>
          <a:p xmlns:a="http://schemas.openxmlformats.org/drawingml/2006/main">
            <a:r>
              <a:t>          "C07",</a:t>
            </a:r>
          </a:p>
          <a:p xmlns:a="http://schemas.openxmlformats.org/drawingml/2006/main">
            <a:r>
              <a:t>          "C08"</a:t>
            </a:r>
          </a:p>
          <a:p xmlns:a="http://schemas.openxmlformats.org/drawingml/2006/main">
            <a:r>
              <a:t>        ],</a:t>
            </a:r>
          </a:p>
          <a:p xmlns:a="http://schemas.openxmlformats.org/drawingml/2006/main">
            <a:r>
              <a:t>        "acceptance": "인증 만료·연계 장애·응답 지연 시 실제 등록 상태와 사용자 안내의 일치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"248a2a097858bb82f76df87facd2135704aa4354594d82248b40def47a25d3f5"</a:t>
            </a:r>
          </a:p>
          <a:p xmlns:a="http://schemas.openxmlformats.org/drawingml/2006/main">
            <a:r>
              <a:t>      },</a:t>
            </a:r>
          </a:p>
          <a:p xmlns:a="http://schemas.openxmlformats.org/drawingml/2006/main">
            <a:r>
              <a:t>      {</a:t>
            </a:r>
          </a:p>
          <a:p xmlns:a="http://schemas.openxmlformats.org/drawingml/2006/main">
            <a:r>
              <a:t>        "id": "FUR-009",</a:t>
            </a:r>
          </a:p>
          <a:p xmlns:a="http://schemas.openxmlformats.org/drawingml/2006/main">
            <a:r>
              <a:t>        "title": "통합경영정보시스템(MIS) 행정업무 API 개발",</a:t>
            </a:r>
          </a:p>
          <a:p xmlns:a="http://schemas.openxmlformats.org/drawingml/2006/main">
            <a:r>
              <a:t>        "locator": "FUR-009",</a:t>
            </a:r>
          </a:p>
          <a:p xmlns:a="http://schemas.openxmlformats.org/drawingml/2006/main">
            <a:r>
              <a:t>        "summary": "자연어 행정 서비스에 필요한 MIS 업무 API의 신규 개발.",</a:t>
            </a:r>
          </a:p>
          <a:p xmlns:a="http://schemas.openxmlformats.org/drawingml/2006/main">
            <a:r>
              <a:t>        "data": "구조화 행정 요청 → MIS 생성·조회 결과",</a:t>
            </a:r>
          </a:p>
          <a:p xmlns:a="http://schemas.openxmlformats.org/drawingml/2006/main">
            <a:r>
              <a:t>        "components": [</a:t>
            </a:r>
          </a:p>
          <a:p xmlns:a="http://schemas.openxmlformats.org/drawingml/2006/main">
            <a:r>
              <a:t>          "C07"</a:t>
            </a:r>
          </a:p>
          <a:p xmlns:a="http://schemas.openxmlformats.org/drawingml/2006/main">
            <a:r>
              <a:t>        ],</a:t>
            </a:r>
          </a:p>
          <a:p xmlns:a="http://schemas.openxmlformats.org/drawingml/2006/main">
            <a:r>
              <a:t>        "acceptance": "필수 인자·권한·중복 요청·취소 가능 상태를 API 계약 및 실제 데이터와 대조",</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"8a445db50ff666bd64f8ff0b7745693eaefce5e0df8153d8c59102304c330829"</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"음성·텍스트 입력",</a:t>
            </a:r>
          </a:p>
          <a:p xmlns:a="http://schemas.openxmlformats.org/drawingml/2006/main">
            <a:r>
              <a:t>          "layer": "이용 접점",</a:t>
            </a:r>
          </a:p>
          <a:p xmlns:a="http://schemas.openxmlformats.org/drawingml/2006/main">
            <a:r>
              <a:t>          "detail": "직원·결재자·MIS 운영자",</a:t>
            </a:r>
          </a:p>
          <a:p xmlns:a="http://schemas.openxmlformats.org/drawingml/2006/main">
            <a:r>
              <a:t>          "requirements": [</a:t>
            </a:r>
          </a:p>
          <a:p xmlns:a="http://schemas.openxmlformats.org/drawingml/2006/main">
            <a:r>
              <a:t>            "FUR-001"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"직원·조직·직무",</a:t>
            </a:r>
          </a:p>
          <a:p xmlns:a="http://schemas.openxmlformats.org/drawingml/2006/main">
            <a:r>
              <a:t>          "layer": "업무 문맥",</a:t>
            </a:r>
          </a:p>
          <a:p xmlns:a="http://schemas.openxmlformats.org/drawingml/2006/main">
            <a:r>
              <a:t>          "detail": "음성/텍스트 입력과 조직·직무·권한 확인",</a:t>
            </a:r>
          </a:p>
          <a:p xmlns:a="http://schemas.openxmlformats.org/drawingml/2006/main">
            <a:r>
              <a:t>          "requirements": [</a:t>
            </a:r>
          </a:p>
          <a:p xmlns:a="http://schemas.openxmlformats.org/drawingml/2006/main">
            <a:r>
              <a:t>            "FUR-002",</a:t>
            </a:r>
          </a:p>
          <a:p xmlns:a="http://schemas.openxmlformats.org/drawingml/2006/main">
            <a:r>
              <a:t>            "FUR-007"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"근태·서식 조회",</a:t>
            </a:r>
          </a:p>
          <a:p xmlns:a="http://schemas.openxmlformats.org/drawingml/2006/main">
            <a:r>
              <a:t>          "layer": "자료 조회",</a:t>
            </a:r>
          </a:p>
          <a:p xmlns:a="http://schemas.openxmlformats.org/drawingml/2006/main">
            <a:r>
              <a:t>          "detail": "원 발화",</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"STT·의도·필드 추출",</a:t>
            </a:r>
          </a:p>
          <a:p xmlns:a="http://schemas.openxmlformats.org/drawingml/2006/main">
            <a:r>
              <a:t>          "layer": "핵심 처리",</a:t>
            </a:r>
          </a:p>
          <a:p xmlns:a="http://schemas.openxmlformats.org/drawingml/2006/main">
            <a:r>
              <a:t>          "detail": "STT·NLU의 의도·날짜·항목 추출 및 확인",</a:t>
            </a:r>
          </a:p>
          <a:p xmlns:a="http://schemas.openxmlformats.org/drawingml/2006/main">
            <a:r>
              <a:t>          "requirements": [</a:t>
            </a:r>
          </a:p>
          <a:p xmlns:a="http://schemas.openxmlformats.org/drawingml/2006/main">
            <a:r>
              <a:t>            "FUR-001",</a:t>
            </a:r>
          </a:p>
          <a:p xmlns:a="http://schemas.openxmlformats.org/drawingml/2006/main">
            <a:r>
              <a:t>            "FUR-002",</a:t>
            </a:r>
          </a:p>
          <a:p xmlns:a="http://schemas.openxmlformats.org/drawingml/2006/main">
            <a:r>
              <a:t>            "FUR-003",</a:t>
            </a:r>
          </a:p>
          <a:p xmlns:a="http://schemas.openxmlformats.org/drawingml/2006/main">
            <a:r>
              <a:t>            "FUR-004"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"날짜·필수값 검사",</a:t>
            </a:r>
          </a:p>
          <a:p xmlns:a="http://schemas.openxmlformats.org/drawingml/2006/main">
            <a:r>
              <a:t>          "layer": "결과 검증",</a:t>
            </a:r>
          </a:p>
          <a:p xmlns:a="http://schemas.openxmlformats.org/drawingml/2006/main">
            <a:r>
              <a:t>          "detail": "필수 필드 재확인·멱등성·상태 대사",</a:t>
            </a:r>
          </a:p>
          <a:p xmlns:a="http://schemas.openxmlformats.org/drawingml/2006/main">
            <a:r>
              <a:t>          "requirements": [</a:t>
            </a:r>
          </a:p>
          <a:p xmlns:a="http://schemas.openxmlformats.org/drawingml/2006/main">
            <a:r>
              <a:t>            "FUR-003"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"사용자 최종 확인",</a:t>
            </a:r>
          </a:p>
          <a:p xmlns:a="http://schemas.openxmlformats.org/drawingml/2006/main">
            <a:r>
              <a:t>          "layer": "사람 확인",</a:t>
            </a:r>
          </a:p>
          <a:p xmlns:a="http://schemas.openxmlformats.org/drawingml/2006/main">
            <a:r>
              <a:t>          "detail": "출장 목적·기간·장소를 말하고 확인 후 기안·상신",</a:t>
            </a:r>
          </a:p>
          <a:p xmlns:a="http://schemas.openxmlformats.org/drawingml/2006/main">
            <a:r>
              <a:t>          "requirements": [</a:t>
            </a:r>
          </a:p>
          <a:p xmlns:a="http://schemas.openxmlformats.org/drawingml/2006/main">
            <a:r>
              <a:t>            "FUR-004"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"신규 MIS API·상신",</a:t>
            </a:r>
          </a:p>
          <a:p xmlns:a="http://schemas.openxmlformats.org/drawingml/2006/main">
            <a:r>
              <a:t>          "layer": "업무 연결",</a:t>
            </a:r>
          </a:p>
          <a:p xmlns:a="http://schemas.openxmlformats.org/drawingml/2006/main">
            <a:r>
              <a:t>          "detail": "신규 MIS API로 기안·상신·처리 결과 확인",</a:t>
            </a:r>
          </a:p>
          <a:p xmlns:a="http://schemas.openxmlformats.org/drawingml/2006/main">
            <a:r>
              <a:t>          "requirements": [</a:t>
            </a:r>
          </a:p>
          <a:p xmlns:a="http://schemas.openxmlformats.org/drawingml/2006/main">
            <a:r>
              <a:t>            "FUR-003",</a:t>
            </a:r>
          </a:p>
          <a:p xmlns:a="http://schemas.openxmlformats.org/drawingml/2006/main">
            <a:r>
              <a:t>            "FUR-004",</a:t>
            </a:r>
          </a:p>
          <a:p xmlns:a="http://schemas.openxmlformats.org/drawingml/2006/main">
            <a:r>
              <a:t>            "FUR-007",</a:t>
            </a:r>
          </a:p>
          <a:p xmlns:a="http://schemas.openxmlformats.org/drawingml/2006/main">
            <a:r>
              <a:t>            "FUR-009"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"취소·중복 대사",</a:t>
            </a:r>
          </a:p>
          <a:p xmlns:a="http://schemas.openxmlformats.org/drawingml/2006/main">
            <a:r>
              <a:t>          "layer": "운영 관측",</a:t>
            </a:r>
          </a:p>
          <a:p xmlns:a="http://schemas.openxmlformats.org/drawingml/2006/main">
            <a:r>
              <a:t>          "detail": "수정·취소·재시도 상태의 원천 대사",</a:t>
            </a:r>
          </a:p>
          <a:p xmlns:a="http://schemas.openxmlformats.org/drawingml/2006/main">
            <a:r>
              <a:t>          "requirements": [</a:t>
            </a:r>
          </a:p>
          <a:p xmlns:a="http://schemas.openxmlformats.org/drawingml/2006/main">
            <a:r>
              <a:t>            "FUR-007"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"인사·근태·결재선",</a:t>
            </a:r>
          </a:p>
          <a:p xmlns:a="http://schemas.openxmlformats.org/drawingml/2006/main">
            <a:r>
              <a:t>          "layer": "데이터 원천",</a:t>
            </a:r>
          </a:p>
          <a:p xmlns:a="http://schemas.openxmlformats.org/drawingml/2006/main">
            <a:r>
              <a:t>          "detail": "신청 초안·처리 상태",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"필드·서식 정합화",</a:t>
            </a:r>
          </a:p>
          <a:p xmlns:a="http://schemas.openxmlformats.org/drawingml/2006/main">
            <a:r>
              <a:t>          "layer": "준비·갱신",</a:t>
            </a:r>
          </a:p>
          <a:p xmlns:a="http://schemas.openxmlformats.org/drawingml/2006/main">
            <a:r>
              <a:t>          "detail": "인사·근태·잔여연차·서식 데이터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"신청 초안·접수 상태",</a:t>
            </a:r>
          </a:p>
          <a:p xmlns:a="http://schemas.openxmlformats.org/drawingml/2006/main">
            <a:r>
              <a:t>          "layer": "상태·지식 저장",</a:t>
            </a:r>
          </a:p>
          <a:p xmlns:a="http://schemas.openxmlformats.org/drawingml/2006/main">
            <a:r>
              <a:t>          "detail": "확인 전 실행 차단·중복 방지·MIS 접수 상태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"업무·실행 권한",</a:t>
            </a:r>
          </a:p>
          <a:p xmlns:a="http://schemas.openxmlformats.org/drawingml/2006/main">
            <a:r>
              <a:t>          "layer": "권한·정책",</a:t>
            </a:r>
          </a:p>
          <a:p xmlns:a="http://schemas.openxmlformats.org/drawingml/2006/main">
            <a:r>
              <a:t>          "detail": "날짜 오인식·필수 항목 누락·API 재시도·취소",</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"음성/텍스트 입력과 조직·직무·권한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"원 발화",</a:t>
            </a:r>
          </a:p>
          <a:p xmlns:a="http://schemas.openxmlformats.org/drawingml/2006/main">
            <a:r>
              <a:t>          "check": "필수 필드 재확인·멱등성·상태 대사"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"신청 필드",</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"확인된 초안",</a:t>
            </a:r>
          </a:p>
          <a:p xmlns:a="http://schemas.openxmlformats.org/drawingml/2006/main">
            <a:r>
              <a:t>          "check": "날짜 오인식·필수 항목 누락·API 재시도·취소"</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"확인된 초안",</a:t>
            </a:r>
          </a:p>
          <a:p xmlns:a="http://schemas.openxmlformats.org/drawingml/2006/main">
            <a:r>
              <a:t>          "check": "신규 MIS API로 기안·상신·처리 결과 확인"</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"접수 결과",</a:t>
            </a:r>
          </a:p>
          <a:p xmlns:a="http://schemas.openxmlformats.org/drawingml/2006/main">
            <a:r>
              <a:t>          "check": "확인 전 실행 차단·중복 방지·MIS 접수 상태 대사"</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"FUR-001~009·TER-005",</a:t>
            </a:r>
          </a:p>
          <a:p xmlns:a="http://schemas.openxmlformats.org/drawingml/2006/main">
            <a:r>
              <a:t>        "extracted": "STT·NLU, 사용자 확인, MIS API 신규 구축·전자결재 연결",</a:t>
            </a:r>
          </a:p>
          <a:p xmlns:a="http://schemas.openxmlformats.org/drawingml/2006/main">
            <a:r>
              <a:t>        "extension": "중복 요청 식별·취소 후 상태 대사·결재선 효력일 검사"</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"PF-R06",</a:t>
            </a:r>
          </a:p>
          <a:p xmlns:a="http://schemas.openxmlformats.org/drawingml/2006/main">
            <a:r>
              <a:t>          "path": "assets/casebook-sources/PF-R06-01.png",</a:t>
            </a:r>
          </a:p>
          <a:p xmlns:a="http://schemas.openxmlformats.org/drawingml/2006/main">
            <a:r>
              <a:t>          "title": "철도기술연구원 업무시스템",</a:t>
            </a:r>
          </a:p>
          <a:p xmlns:a="http://schemas.openxmlformats.org/drawingml/2006/main">
            <a:r>
              <a:t>          "status": "RFP 수록 기존 시스템 구성",</a:t>
            </a:r>
          </a:p>
          <a:p xmlns:a="http://schemas.openxmlformats.org/drawingml/2006/main">
            <a:r>
              <a:t>          "caption": "협업 포털·통합경영정보·전자결재·외부 연계 현황",</a:t>
            </a:r>
          </a:p>
          <a:p xmlns:a="http://schemas.openxmlformats.org/drawingml/2006/main">
            <a:r>
              <a:t>          "locator": "rId18 / BinData/image1_bmp",</a:t>
            </a:r>
          </a:p>
          <a:p xmlns:a="http://schemas.openxmlformats.org/drawingml/2006/main">
            <a:r>
              <a:t>          "checked": "2026-10-16",</a:t>
            </a:r>
          </a:p>
          <a:p xmlns:a="http://schemas.openxmlformats.org/drawingml/2006/main">
            <a:r>
              <a:t>          "sha256": "419b833abe927fb60c98c0b17c83b79039658d9fc8f1bf2295db634a55a2c424",</a:t>
            </a:r>
          </a:p>
          <a:p xmlns:a="http://schemas.openxmlformats.org/drawingml/2006/main">
            <a:r>
              <a:t>          "explanation": {</a:t>
            </a:r>
          </a:p>
          <a:p xmlns:a="http://schemas.openxmlformats.org/drawingml/2006/main">
            <a:r>
              <a:t>            "read": "포털·MIS·전자결재의 기존 정보시스템 구성. 음성 AI의 신규 배치가 아니라 행정 요청을 실제 처리할 기간계와 결재 경로의 현황을 설명하는 도면.",</a:t>
            </a:r>
          </a:p>
          <a:p xmlns:a="http://schemas.openxmlformats.org/drawingml/2006/main">
            <a:r>
              <a:t>            "requirements": [</a:t>
            </a:r>
          </a:p>
          <a:p xmlns:a="http://schemas.openxmlformats.org/drawingml/2006/main">
            <a:r>
              <a:t>              "FUR-003",</a:t>
            </a:r>
          </a:p>
          <a:p xmlns:a="http://schemas.openxmlformats.org/drawingml/2006/main">
            <a:r>
              <a:t>              "FUR-004",</a:t>
            </a:r>
          </a:p>
          <a:p xmlns:a="http://schemas.openxmlformats.org/drawingml/2006/main">
            <a:r>
              <a:t>              "FUR-007",</a:t>
            </a:r>
          </a:p>
          <a:p xmlns:a="http://schemas.openxmlformats.org/drawingml/2006/main">
            <a:r>
              <a:t>              "FUR-009"</a:t>
            </a:r>
          </a:p>
          <a:p xmlns:a="http://schemas.openxmlformats.org/drawingml/2006/main">
            <a:r>
              <a:t>            ],</a:t>
            </a:r>
          </a:p>
          <a:p xmlns:a="http://schemas.openxmlformats.org/drawingml/2006/main">
            <a:r>
              <a:t>            "connection": "STT·의도 추출·사용자 확인을 앞단에 추가하고 기존 MIS API·결재선으로 인계하는 재구성. 음성 인식 성공과 업무 등록 성공을 별도 상태로 관리."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"날짜 오인식·필수 항목 누락·API 재시도·취소",</a:t>
            </a:r>
          </a:p>
          <a:p xmlns:a="http://schemas.openxmlformats.org/drawingml/2006/main">
            <a:r>
              <a:t>        "hold": "필수 필드 재확인·멱등성·상태 대사",</a:t>
            </a:r>
          </a:p>
          <a:p xmlns:a="http://schemas.openxmlformats.org/drawingml/2006/main">
            <a:r>
              <a:t>        "recovery": "수정·취소·재시도 상태의 원천 대사",</a:t>
            </a:r>
          </a:p>
          <a:p xmlns:a="http://schemas.openxmlformats.org/drawingml/2006/main">
            <a:r>
              <a:t>        "evidence": "확인 전 실행 차단·중복 방지·MIS 접수 상태 대사"</a:t>
            </a:r>
          </a:p>
          <a:p xmlns:a="http://schemas.openxmlformats.org/drawingml/2006/main">
            <a:r>
              <a:t>      },</a:t>
            </a:r>
          </a:p>
          <a:p xmlns:a="http://schemas.openxmlformats.org/drawingml/2006/main">
            <a:r>
              <a:t>      "data": {</a:t>
            </a:r>
          </a:p>
          <a:p xmlns:a="http://schemas.openxmlformats.org/drawingml/2006/main">
            <a:r>
              <a:t>        "source": "신청 초안·처리 상태",</a:t>
            </a:r>
          </a:p>
          <a:p xmlns:a="http://schemas.openxmlformats.org/drawingml/2006/main">
            <a:r>
              <a:t>        "prepare": "인사·근태·잔여연차·서식 데이터 연결",</a:t>
            </a:r>
          </a:p>
          <a:p xmlns:a="http://schemas.openxmlformats.org/drawingml/2006/main">
            <a:r>
              <a:t>        "output": "원 발화",</a:t>
            </a:r>
          </a:p>
          <a:p xmlns:a="http://schemas.openxmlformats.org/drawingml/2006/main">
            <a:r>
              <a:t>        "refresh": "수정·취소·재시도 상태의 원천 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"PF-R06",</a:t>
            </a:r>
          </a:p>
          <a:p xmlns:a="http://schemas.openxmlformats.org/drawingml/2006/main">
            <a:r>
              <a:t>    "success": [</a:t>
            </a:r>
          </a:p>
          <a:p xmlns:a="http://schemas.openxmlformats.org/drawingml/2006/main">
            <a:r>
              <a:t>      "발화 구조화와 기존 MIS 연결",</a:t>
            </a:r>
          </a:p>
          <a:p xmlns:a="http://schemas.openxmlformats.org/drawingml/2006/main">
            <a:r>
              <a:t>      "실행 전 사용자 확인"</a:t>
            </a:r>
          </a:p>
          <a:p xmlns:a="http://schemas.openxmlformats.org/drawingml/2006/main">
            <a:r>
              <a:t>    ],</a:t>
            </a:r>
          </a:p>
          <a:p xmlns:a="http://schemas.openxmlformats.org/drawingml/2006/main">
            <a:r>
              <a:t>    "risks": [</a:t>
            </a:r>
          </a:p>
          <a:p xmlns:a="http://schemas.openxmlformats.org/drawingml/2006/main">
            <a:r>
              <a:t>      "잘못된 날짜·출장 항목 추출",</a:t>
            </a:r>
          </a:p>
          <a:p xmlns:a="http://schemas.openxmlformats.org/drawingml/2006/main">
            <a:r>
              <a:t>      "재시도에 따른 중복 신청"</a:t>
            </a:r>
          </a:p>
          <a:p xmlns:a="http://schemas.openxmlformats.org/drawingml/2006/main">
            <a:r>
              <a:t>    ],</a:t>
            </a:r>
          </a:p>
          <a:p xmlns:a="http://schemas.openxmlformats.org/drawingml/2006/main">
            <a:r>
              <a:t>    "architecture": [</a:t>
            </a:r>
          </a:p>
          <a:p xmlns:a="http://schemas.openxmlformats.org/drawingml/2006/main">
            <a:r>
              <a:t>      "음성·자연어",</a:t>
            </a:r>
          </a:p>
          <a:p xmlns:a="http://schemas.openxmlformats.org/drawingml/2006/main">
            <a:r>
              <a:t>      "필드 추출·확인",</a:t>
            </a:r>
          </a:p>
          <a:p xmlns:a="http://schemas.openxmlformats.org/drawingml/2006/main">
            <a:r>
              <a:t>      "신청 초안·처리 상태",</a:t>
            </a:r>
          </a:p>
          <a:p xmlns:a="http://schemas.openxmlformats.org/drawingml/2006/main">
            <a:r>
              <a:t>      "MIS·전자결재"</a:t>
            </a:r>
          </a:p>
          <a:p xmlns:a="http://schemas.openxmlformats.org/drawingml/2006/main">
            <a:r>
              <a:t>    ],</a:t>
            </a:r>
          </a:p>
          <a:p xmlns:a="http://schemas.openxmlformats.org/drawingml/2006/main">
            <a:r>
              <a:t>    "transfers": [</a:t>
            </a:r>
          </a:p>
          <a:p xmlns:a="http://schemas.openxmlformats.org/drawingml/2006/main">
            <a:r>
              <a:t>      "원 발화",</a:t>
            </a:r>
          </a:p>
          <a:p xmlns:a="http://schemas.openxmlformats.org/drawingml/2006/main">
            <a:r>
              <a:t>      "신청 필드",</a:t>
            </a:r>
          </a:p>
          <a:p xmlns:a="http://schemas.openxmlformats.org/drawingml/2006/main">
            <a:r>
              <a:t>      "확인된 초안",</a:t>
            </a:r>
          </a:p>
          <a:p xmlns:a="http://schemas.openxmlformats.org/drawingml/2006/main">
            <a:r>
              <a:t>      "접수 결과"</a:t>
            </a:r>
          </a:p>
          <a:p xmlns:a="http://schemas.openxmlformats.org/drawingml/2006/main">
            <a:r>
              <a:t>    ],</a:t>
            </a:r>
          </a:p>
          <a:p xmlns:a="http://schemas.openxmlformats.org/drawingml/2006/main">
            <a:r>
              <a:t>    "control": "필수 필드 재확인·멱등성·상태 대사",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FUR-001~009, PER-001~002, TER-005 / Word T071 https://www.g2b.go.kr/pn/pnp/pnpe/UntyAtchFile/downloadFile.do?bidPbancNo=R26BK01719764&amp;bidPbancOrd=000&amp;fileSeq=4&amp;fileType=&amp;prcmBsneSeCd=03</a:t>
            </a:r>
          </a:p>
          <a:p xmlns:a="http://schemas.openxmlformats.org/drawingml/2006/main">
            <a:r>
              <a:t>홈페이지 https://heen1987-ops.github.io/TS-business-Plan-001/index.html?view=platform-cases&amp;case=PF-R06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"PF-R07",</a:t>
            </a:r>
          </a:p>
          <a:p xmlns:a="http://schemas.openxmlformats.org/drawingml/2006/main">
            <a:r>
              <a:t>    "sourceId": "R07",</a:t>
            </a:r>
          </a:p>
          <a:p xmlns:a="http://schemas.openxmlformats.org/drawingml/2006/main">
            <a:r>
              <a:t>    "title": "KISA 스팸 민원 AI",</a:t>
            </a:r>
          </a:p>
          <a:p xmlns:a="http://schemas.openxmlformats.org/drawingml/2006/main">
            <a:r>
              <a:t>    "region": "국내",</a:t>
            </a:r>
          </a:p>
          <a:p xmlns:a="http://schemas.openxmlformats.org/drawingml/2006/main">
            <a:r>
              <a:t>    "owner": "한국인터넷진흥원(KISA)",</a:t>
            </a:r>
          </a:p>
          <a:p xmlns:a="http://schemas.openxmlformats.org/drawingml/2006/main">
            <a:r>
              <a:t>    "state": "2026-10-14 본공고·최종 첨부 확인 / 입찰 진행",</a:t>
            </a:r>
          </a:p>
          <a:p xmlns:a="http://schemas.openxmlformats.org/drawingml/2006/main">
            <a:r>
              <a:t>    "period": "기존 원장 확인 2026.10.16",</a:t>
            </a:r>
          </a:p>
          <a:p xmlns:a="http://schemas.openxmlformats.org/drawingml/2006/main">
            <a:r>
              <a:t>    "fact": "스팸 법령·자율규제 민원 챗봇과 지식·체크리스트 관리",</a:t>
            </a:r>
          </a:p>
          <a:p xmlns:a="http://schemas.openxmlformats.org/drawingml/2006/main">
            <a:r>
              <a:t>    "limit": "사전본 동시300명→본공고100명. 오픈소스 모델/라이브러리 문구→외부 생성형AI API+RAG 방식",</a:t>
            </a:r>
          </a:p>
          <a:p xmlns:a="http://schemas.openxmlformats.org/drawingml/2006/main">
            <a:r>
              <a:t>    "nodes": [</a:t>
            </a:r>
          </a:p>
          <a:p xmlns:a="http://schemas.openxmlformats.org/drawingml/2006/main">
            <a:r>
              <a:t>      "법령·지식",</a:t>
            </a:r>
          </a:p>
          <a:p xmlns:a="http://schemas.openxmlformats.org/drawingml/2006/main">
            <a:r>
              <a:t>      "외부 AI·RAG",</a:t>
            </a:r>
          </a:p>
          <a:p xmlns:a="http://schemas.openxmlformats.org/drawingml/2006/main">
            <a:r>
              <a:t>      "출처·답변 보류",</a:t>
            </a:r>
          </a:p>
          <a:p xmlns:a="http://schemas.openxmlformats.org/drawingml/2006/main">
            <a:r>
              <a:t>      "전문가 평가"</a:t>
            </a:r>
          </a:p>
          <a:p xmlns:a="http://schemas.openxmlformats.org/drawingml/2006/main">
            <a:r>
              <a:t>    ],</a:t>
            </a:r>
          </a:p>
          <a:p xmlns:a="http://schemas.openxmlformats.org/drawingml/2006/main">
            <a:r>
              <a:t>    "apply": "민원 답변의 법령 근거·보류 조건·전문가 평가를 운영 기준으로 관리",</a:t>
            </a:r>
          </a:p>
          <a:p xmlns:a="http://schemas.openxmlformats.org/drawingml/2006/main">
            <a:r>
              <a:t>    "delta": "법령·체크리스트 판본 / 응답 보류 / 전문가 정답셋·부하 시험",</a:t>
            </a:r>
          </a:p>
          <a:p xmlns:a="http://schemas.openxmlformats.org/drawingml/2006/main">
            <a:r>
              <a:t>    "test": "개정 조문·근거 부재·공격 입력·동시 요청의 품질·성능 대조",</a:t>
            </a:r>
          </a:p>
          <a:p xmlns:a="http://schemas.openxmlformats.org/drawingml/2006/main">
            <a:r>
              <a:t>    "url": "https://www.kisa.kr/post/fileDownload?menuSeq=403&amp;postSeq=10891&amp;attachSeq=2&amp;lang_type=KO",</a:t>
            </a:r>
          </a:p>
          <a:p xmlns:a="http://schemas.openxmlformats.org/drawingml/2006/main">
            <a:r>
              <a:t>    "urls": [</a:t>
            </a:r>
          </a:p>
          <a:p xmlns:a="http://schemas.openxmlformats.org/drawingml/2006/main">
            <a:r>
              <a:t>      "https://www.kisa.kr/post/fileDownload?menuSeq=403&amp;postSeq=10891&amp;attachSeq=2&amp;lang_type=KO",</a:t>
            </a:r>
          </a:p>
          <a:p xmlns:a="http://schemas.openxmlformats.org/drawingml/2006/main">
            <a:r>
              <a:t>      "https://www.kisa.kr/403/form?postSeq=10891"</a:t>
            </a:r>
          </a:p>
          <a:p xmlns:a="http://schemas.openxmlformats.org/drawingml/2006/main">
            <a:r>
              <a:t>    ],</a:t>
            </a:r>
          </a:p>
          <a:p xmlns:a="http://schemas.openxmlformats.org/drawingml/2006/main">
            <a:r>
              <a:t>    "basis": "SFR-001~006, PER-001·004, QUR-001 / Word T080",</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"근거 정답률 / 보류 적정률 / 응답시간·오류율",</a:t>
            </a:r>
          </a:p>
          <a:p xmlns:a="http://schemas.openxmlformats.org/drawingml/2006/main">
            <a:r>
              <a:t>    "group": "요구·구축",</a:t>
            </a:r>
          </a:p>
          <a:p xmlns:a="http://schemas.openxmlformats.org/drawingml/2006/main">
            <a:r>
              <a:t>    "sourceDetail": "외부 생성형 AI API+RAG, 홈페이지/앱 연계, 출처·최신성·답변불가 안내, 자동/전문가 평가",</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"PF-R07",</a:t>
            </a:r>
          </a:p>
          <a:p xmlns:a="http://schemas.openxmlformats.org/drawingml/2006/main">
            <a:r>
              <a:t>    "canonicalId": "PF-R07",</a:t>
            </a:r>
          </a:p>
          <a:p xmlns:a="http://schemas.openxmlformats.org/drawingml/2006/main">
            <a:r>
              <a:t>    "purpose": "스팸 법령과 체크리스트의 민원 응답",</a:t>
            </a:r>
          </a:p>
          <a:p xmlns:a="http://schemas.openxmlformats.org/drawingml/2006/main">
            <a:r>
              <a:t>    "users": "민원인·스팸 정책 담당·평가자",</a:t>
            </a:r>
          </a:p>
          <a:p xmlns:a="http://schemas.openxmlformats.org/drawingml/2006/main">
            <a:r>
              <a:t>    "scope": [</a:t>
            </a:r>
          </a:p>
          <a:p xmlns:a="http://schemas.openxmlformats.org/drawingml/2006/main">
            <a:r>
              <a:t>      "홈페이지·앱",</a:t>
            </a:r>
          </a:p>
          <a:p xmlns:a="http://schemas.openxmlformats.org/drawingml/2006/main">
            <a:r>
              <a:t>      "지식 질의",</a:t>
            </a:r>
          </a:p>
          <a:p xmlns:a="http://schemas.openxmlformats.org/drawingml/2006/main">
            <a:r>
              <a:t>      "전문가 평가"</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"스팸 민원 질의",</a:t>
            </a:r>
          </a:p>
          <a:p xmlns:a="http://schemas.openxmlformats.org/drawingml/2006/main">
            <a:r>
              <a:t>        "detail": "질의 길이·민감정보·공격 입력 점검",</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"홈페이지·앱 / 지식 질의 / 전문가 평가",</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"외부 AI·RAG",</a:t>
            </a:r>
          </a:p>
          <a:p xmlns:a="http://schemas.openxmlformats.org/drawingml/2006/main">
            <a:r>
              <a:t>        "detail": "외부 생성형 AI API와 RAG 연결",</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"민원·평가 담당",</a:t>
            </a:r>
          </a:p>
          <a:p xmlns:a="http://schemas.openxmlformats.org/drawingml/2006/main">
            <a:r>
              <a:t>        "detail": "출처 답변 또는 답변불가 안내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"법령·체크리스트",</a:t>
            </a:r>
          </a:p>
          <a:p xmlns:a="http://schemas.openxmlformats.org/drawingml/2006/main">
            <a:r>
              <a:t>        "detail": "법령·가이드·체크리스트의 최신 판본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"자동 평가·전문가 판정·호출량·지연 관리",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"법령·지식",</a:t>
            </a:r>
          </a:p>
          <a:p xmlns:a="http://schemas.openxmlformats.org/drawingml/2006/main">
            <a:r>
              <a:t>        "input": "질의 길이·민감정보·공격 입력 점검",</a:t>
            </a:r>
          </a:p>
          <a:p xmlns:a="http://schemas.openxmlformats.org/drawingml/2006/main">
            <a:r>
              <a:t>        "process": "법령·가이드·체크리스트의 최신 판본 관리",</a:t>
            </a:r>
          </a:p>
          <a:p xmlns:a="http://schemas.openxmlformats.org/drawingml/2006/main">
            <a:r>
              <a:t>        "output": "질의"</a:t>
            </a:r>
          </a:p>
          <a:p xmlns:a="http://schemas.openxmlformats.org/drawingml/2006/main">
            <a:r>
              <a:t>      },</a:t>
            </a:r>
          </a:p>
          <a:p xmlns:a="http://schemas.openxmlformats.org/drawingml/2006/main">
            <a:r>
              <a:t>      {</a:t>
            </a:r>
          </a:p>
          <a:p xmlns:a="http://schemas.openxmlformats.org/drawingml/2006/main">
            <a:r>
              <a:t>        "title": "외부 AI·RAG",</a:t>
            </a:r>
          </a:p>
          <a:p xmlns:a="http://schemas.openxmlformats.org/drawingml/2006/main">
            <a:r>
              <a:t>        "input": "질의",</a:t>
            </a:r>
          </a:p>
          <a:p xmlns:a="http://schemas.openxmlformats.org/drawingml/2006/main">
            <a:r>
              <a:t>        "process": "외부 생성형 AI API와 RAG 연결",</a:t>
            </a:r>
          </a:p>
          <a:p xmlns:a="http://schemas.openxmlformats.org/drawingml/2006/main">
            <a:r>
              <a:t>        "output": "법령 근거"</a:t>
            </a:r>
          </a:p>
          <a:p xmlns:a="http://schemas.openxmlformats.org/drawingml/2006/main">
            <a:r>
              <a:t>      },</a:t>
            </a:r>
          </a:p>
          <a:p xmlns:a="http://schemas.openxmlformats.org/drawingml/2006/main">
            <a:r>
              <a:t>      {</a:t>
            </a:r>
          </a:p>
          <a:p xmlns:a="http://schemas.openxmlformats.org/drawingml/2006/main">
            <a:r>
              <a:t>        "title": "출처·답변 보류",</a:t>
            </a:r>
          </a:p>
          <a:p xmlns:a="http://schemas.openxmlformats.org/drawingml/2006/main">
            <a:r>
              <a:t>        "input": "법령 근거",</a:t>
            </a:r>
          </a:p>
          <a:p xmlns:a="http://schemas.openxmlformats.org/drawingml/2006/main">
            <a:r>
              <a:t>        "process": "조문별 정답·근거 없음 거부셋",</a:t>
            </a:r>
          </a:p>
          <a:p xmlns:a="http://schemas.openxmlformats.org/drawingml/2006/main">
            <a:r>
              <a:t>        "output": "답변·보류"</a:t>
            </a:r>
          </a:p>
          <a:p xmlns:a="http://schemas.openxmlformats.org/drawingml/2006/main">
            <a:r>
              <a:t>      },</a:t>
            </a:r>
          </a:p>
          <a:p xmlns:a="http://schemas.openxmlformats.org/drawingml/2006/main">
            <a:r>
              <a:t>      {</a:t>
            </a:r>
          </a:p>
          <a:p xmlns:a="http://schemas.openxmlformats.org/drawingml/2006/main">
            <a:r>
              <a:t>        "title": "전문가 평가",</a:t>
            </a:r>
          </a:p>
          <a:p xmlns:a="http://schemas.openxmlformats.org/drawingml/2006/main">
            <a:r>
              <a:t>        "input": "답변·보류",</a:t>
            </a:r>
          </a:p>
          <a:p xmlns:a="http://schemas.openxmlformats.org/drawingml/2006/main">
            <a:r>
              <a:t>        "process": "출처 답변 또는 답변불가 안내 제공",</a:t>
            </a:r>
          </a:p>
          <a:p xmlns:a="http://schemas.openxmlformats.org/drawingml/2006/main">
            <a:r>
              <a:t>        "output": "전문가 판정"</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"스팸 전송 상황을 질문하고 관련 법령·체크리스트 안내",</a:t>
            </a:r>
          </a:p>
          <a:p xmlns:a="http://schemas.openxmlformats.org/drawingml/2006/main">
            <a:r>
              <a:t>      "exception": "개정 전 조문·근거 없는 질의·공격 입력·부하 증가",</a:t>
            </a:r>
          </a:p>
          <a:p xmlns:a="http://schemas.openxmlformats.org/drawingml/2006/main">
            <a:r>
              <a:t>      "evidence": "전문가 정답표·거부셋·최종 RFP 성능조건별 측정",</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"민원인·스팸 정책 담당·평가자",</a:t>
            </a:r>
          </a:p>
          <a:p xmlns:a="http://schemas.openxmlformats.org/drawingml/2006/main">
            <a:r>
              <a:t>          "processing": "질의 길이·민감정보·공격 입력 점검",</a:t>
            </a:r>
          </a:p>
          <a:p xmlns:a="http://schemas.openxmlformats.org/drawingml/2006/main">
            <a:r>
              <a:t>          "output": "질의"</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"법령·체크리스트",</a:t>
            </a:r>
          </a:p>
          <a:p xmlns:a="http://schemas.openxmlformats.org/drawingml/2006/main">
            <a:r>
              <a:t>          "processing": "법령·가이드·체크리스트의 최신 판본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"질의",</a:t>
            </a:r>
          </a:p>
          <a:p xmlns:a="http://schemas.openxmlformats.org/drawingml/2006/main">
            <a:r>
              <a:t>          "processing": "외부 생성형 AI API와 RAG 연결",</a:t>
            </a:r>
          </a:p>
          <a:p xmlns:a="http://schemas.openxmlformats.org/drawingml/2006/main">
            <a:r>
              <a:t>          "output": "답변·보류"</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"답변·보류",</a:t>
            </a:r>
          </a:p>
          <a:p xmlns:a="http://schemas.openxmlformats.org/drawingml/2006/main">
            <a:r>
              <a:t>          "processing": "출처 답변 또는 답변불가 안내 제공",</a:t>
            </a:r>
          </a:p>
          <a:p xmlns:a="http://schemas.openxmlformats.org/drawingml/2006/main">
            <a:r>
              <a:t>          "output": "전문가 판정"</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"자동 평가·전문가 판정·호출량·지연 관리",</a:t>
            </a:r>
          </a:p>
          <a:p xmlns:a="http://schemas.openxmlformats.org/drawingml/2006/main">
            <a:r>
              <a:t>          "output": "전문가 정답표·거부셋·최종 RFP 성능조건별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"자동 평가·전문가 판정·호출량·지연 관리",</a:t>
            </a:r>
          </a:p>
          <a:p xmlns:a="http://schemas.openxmlformats.org/drawingml/2006/main">
            <a:r>
              <a:t>    "status": "RFP 기반 논리 설계",</a:t>
            </a:r>
          </a:p>
          <a:p xmlns:a="http://schemas.openxmlformats.org/drawingml/2006/main">
            <a:r>
              <a:t>    "basis": "최종 RFP 2026.10.14 · SFR-001~006·PER-001·004·QUR-001",</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"SFR-001~006, PER-001·004, QUR-001 / Word T080",</a:t>
            </a:r>
          </a:p>
          <a:p xmlns:a="http://schemas.openxmlformats.org/drawingml/2006/main">
            <a:r>
              <a:t>        "url": "https://www.kisa.kr/post/fileDownload?menuSeq=403&amp;postSeq=10891&amp;attachSeq=2&amp;lang_type=KO"</a:t>
            </a:r>
          </a:p>
          <a:p xmlns:a="http://schemas.openxmlformats.org/drawingml/2006/main">
            <a:r>
              <a:t>      }</a:t>
            </a:r>
          </a:p>
          <a:p xmlns:a="http://schemas.openxmlformats.org/drawingml/2006/main">
            <a:r>
              <a:t>    ],</a:t>
            </a:r>
          </a:p>
          <a:p xmlns:a="http://schemas.openxmlformats.org/drawingml/2006/main">
            <a:r>
              <a:t>    "implication": "민원 답변의 법령 근거·보류 조건·전문가 평가를 운영 기준으로 관리",</a:t>
            </a:r>
          </a:p>
          <a:p xmlns:a="http://schemas.openxmlformats.org/drawingml/2006/main">
            <a:r>
              <a:t>    "local": "민원 답변의 법령 근거·보류 조건·전문가 평가를 운영 기준으로 관리",</a:t>
            </a:r>
          </a:p>
          <a:p xmlns:a="http://schemas.openxmlformats.org/drawingml/2006/main">
            <a:r>
              <a:t>    "sourceDetail": "외부 생성형 AI API+RAG, 홈페이지/앱 연계, 출처·최신성·답변불가 안내, 자동/전문가 평가",</a:t>
            </a:r>
          </a:p>
          <a:p xmlns:a="http://schemas.openxmlformats.org/drawingml/2006/main">
            <a:r>
              <a:t>    "narrative": [</a:t>
            </a:r>
          </a:p>
          <a:p xmlns:a="http://schemas.openxmlformats.org/drawingml/2006/main">
            <a:r>
              <a:t>      "스팸 관련 법령·가이드·체크리스트를 국민의 질문에 연결하는 대민 AI 상담 구축. 홈페이지·앱 접점과 지식베이스·외부 생성형 AI API·관리자·운영 기능을 함께 요구하는 사업.",</a:t>
            </a:r>
          </a:p>
          <a:p xmlns:a="http://schemas.openxmlformats.org/drawingml/2006/main">
            <a:r>
              <a:t>      "질의 입력 점검 후 최신 법령 근거를 검색하고 외부 AI API로 답변을 생성하는 구조. 검색·답변 단계에서 출처와 답변불가 처리를 분리하고, 자동 평가와 전문가 검토를 운영 과정에 결합하는 설계. 최종 RFP 판본의 성능·품질 요구를 기준으로 비교.",</a:t>
            </a:r>
          </a:p>
          <a:p xmlns:a="http://schemas.openxmlformats.org/drawingml/2006/main">
            <a:r>
              <a:t>      "규정 검색 성공이 적절한 민원 안내를 보장하지 않는 점을 검수에 반영할 필요. 법령 개정, 유사 조문, 근거 없는 질문, 공격성 입력을 구분한 시험셋과 전문가 판정의 연결. TS 안내 서비스에 적용할 경우 법정 판단·신청 처리는 해당 업무 시스템과 담당자의 책임으로 연결."</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"SFR-001",</a:t>
            </a:r>
          </a:p>
          <a:p xmlns:a="http://schemas.openxmlformats.org/drawingml/2006/main">
            <a:r>
              <a:t>        "title": "AI 스팸 챗봇 서비스 구축",</a:t>
            </a:r>
          </a:p>
          <a:p xmlns:a="http://schemas.openxmlformats.org/drawingml/2006/main">
            <a:r>
              <a:t>        "locator": "SFR-001",</a:t>
            </a:r>
          </a:p>
          <a:p xmlns:a="http://schemas.openxmlformats.org/drawingml/2006/main">
            <a:r>
              <a:t>        "summary": "스팸 관련 법령·업무 문의에 대응하는 AI 챗봇 구축.",</a:t>
            </a:r>
          </a:p>
          <a:p xmlns:a="http://schemas.openxmlformats.org/drawingml/2006/main">
            <a:r>
              <a:t>        "data": "국민·사업자 문의 → 안내 응답·업무 경로",</a:t>
            </a:r>
          </a:p>
          <a:p xmlns:a="http://schemas.openxmlformats.org/drawingml/2006/main">
            <a:r>
              <a:t>        "components": [</a:t>
            </a:r>
          </a:p>
          <a:p xmlns:a="http://schemas.openxmlformats.org/drawingml/2006/main">
            <a:r>
              <a:t>          "C01",</a:t>
            </a:r>
          </a:p>
          <a:p xmlns:a="http://schemas.openxmlformats.org/drawingml/2006/main">
            <a:r>
              <a:t>          "C02",</a:t>
            </a:r>
          </a:p>
          <a:p xmlns:a="http://schemas.openxmlformats.org/drawingml/2006/main">
            <a:r>
              <a:t>          "C04"</a:t>
            </a:r>
          </a:p>
          <a:p xmlns:a="http://schemas.openxmlformats.org/drawingml/2006/main">
            <a:r>
              <a:t>        ],</a:t>
            </a:r>
          </a:p>
          <a:p xmlns:a="http://schemas.openxmlformats.org/drawingml/2006/main">
            <a:r>
              <a:t>        "acceptance": "법령 설명·신고 절차·예외 사유 질문을 구분해 올바른 안내 경로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"4c540036c514c5823d4ed4b29b16b7d44b65a0178ba371f0c4ba9d06306df6e9"</a:t>
            </a:r>
          </a:p>
          <a:p xmlns:a="http://schemas.openxmlformats.org/drawingml/2006/main">
            <a:r>
              <a:t>      },</a:t>
            </a:r>
          </a:p>
          <a:p xmlns:a="http://schemas.openxmlformats.org/drawingml/2006/main">
            <a:r>
              <a:t>      {</a:t>
            </a:r>
          </a:p>
          <a:p xmlns:a="http://schemas.openxmlformats.org/drawingml/2006/main">
            <a:r>
              <a:t>        "id": "SFR-002",</a:t>
            </a:r>
          </a:p>
          <a:p xmlns:a="http://schemas.openxmlformats.org/drawingml/2006/main">
            <a:r>
              <a:t>        "title": "AI 스팸 챗봇 서비스 지식베이스 관리",</a:t>
            </a:r>
          </a:p>
          <a:p xmlns:a="http://schemas.openxmlformats.org/drawingml/2006/main">
            <a:r>
              <a:t>        "locator": "SFR-002",</a:t>
            </a:r>
          </a:p>
          <a:p xmlns:a="http://schemas.openxmlformats.org/drawingml/2006/main">
            <a:r>
              <a:t>        "summary": "스팸 관련 지식자료를 등록·정비·활용하는 지식베이스 구성.",</a:t>
            </a:r>
          </a:p>
          <a:p xmlns:a="http://schemas.openxmlformats.org/drawingml/2006/main">
            <a:r>
              <a:t>        "data": "법령·FAQ·업무 자료 → 판본별 검색 근거",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"개정 자료·폐기 자료·상충 FAQ의 승인·갱신 및 검색 제외 결과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"777a548e5cc2d26392428d54f1ec38d4daab521a391239a084a98c967dca9cda"</a:t>
            </a:r>
          </a:p>
          <a:p xmlns:a="http://schemas.openxmlformats.org/drawingml/2006/main">
            <a:r>
              <a:t>      },</a:t>
            </a:r>
          </a:p>
          <a:p xmlns:a="http://schemas.openxmlformats.org/drawingml/2006/main">
            <a:r>
              <a:t>      {</a:t>
            </a:r>
          </a:p>
          <a:p xmlns:a="http://schemas.openxmlformats.org/drawingml/2006/main">
            <a:r>
              <a:t>        "id": "SFR-003",</a:t>
            </a:r>
          </a:p>
          <a:p xmlns:a="http://schemas.openxmlformats.org/drawingml/2006/main">
            <a:r>
              <a:t>        "title": "AI 스팸 챗봇 서비스 모델",</a:t>
            </a:r>
          </a:p>
          <a:p xmlns:a="http://schemas.openxmlformats.org/drawingml/2006/main">
            <a:r>
              <a:t>        "locator": "SFR-003",</a:t>
            </a:r>
          </a:p>
          <a:p xmlns:a="http://schemas.openxmlformats.org/drawingml/2006/main">
            <a:r>
              <a:t>        "summary": "스팸 업무 질의응답을 위한 AI 모델 구성·적용.",</a:t>
            </a:r>
          </a:p>
          <a:p xmlns:a="http://schemas.openxmlformats.org/drawingml/2006/main">
            <a:r>
              <a:t>        "data": "질의·검색 근거 → 답변 후보",</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"C05"</a:t>
            </a:r>
          </a:p>
          <a:p xmlns:a="http://schemas.openxmlformats.org/drawingml/2006/main">
            <a:r>
              <a:t>        ],</a:t>
            </a:r>
          </a:p>
          <a:p xmlns:a="http://schemas.openxmlformats.org/drawingml/2006/main">
            <a:r>
              <a:t>        "acceptance": "근거 없는 법적 단정, 문맥 누락, 질의와 무관한 응답을 업무 정답셋으로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"0a22a75c9aff1f580a391a05ac9dd97d69d7041aaacdeb61d959ac868e268182"</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"AI 스팸 챗봇 서비스 관리자 기능",</a:t>
            </a:r>
          </a:p>
          <a:p xmlns:a="http://schemas.openxmlformats.org/drawingml/2006/main">
            <a:r>
              <a:t>        "locator": "SFR-004",</a:t>
            </a:r>
          </a:p>
          <a:p xmlns:a="http://schemas.openxmlformats.org/drawingml/2006/main">
            <a:r>
              <a:t>        "summary": "관리자의 지식·서비스 관리 기능 제공.",</a:t>
            </a:r>
          </a:p>
          <a:p xmlns:a="http://schemas.openxmlformats.org/drawingml/2006/main">
            <a:r>
              <a:t>        "data": "관리 요청·역할 → 변경 상태·관리 이력",</a:t>
            </a:r>
          </a:p>
          <a:p xmlns:a="http://schemas.openxmlformats.org/drawingml/2006/main">
            <a:r>
              <a:t>        "components": [</a:t>
            </a:r>
          </a:p>
          <a:p xmlns:a="http://schemas.openxmlformats.org/drawingml/2006/main">
            <a:r>
              <a:t>          "C06",</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"지식 수정·게시·삭제의 역할별 허용 범위와 변경 이력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"ce1ed31f57a53d9437e86a03bf98a363804d06301256c43e3043f4bb989b4cf2"</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"AI 스팸 챗봇 서비스 시스템 연계",</a:t>
            </a:r>
          </a:p>
          <a:p xmlns:a="http://schemas.openxmlformats.org/drawingml/2006/main">
            <a:r>
              <a:t>        "locator": "SFR-005",</a:t>
            </a:r>
          </a:p>
          <a:p xmlns:a="http://schemas.openxmlformats.org/drawingml/2006/main">
            <a:r>
              <a:t>        "summary": "기존 업무시스템과 AI 챗봇의 연계 기능.",</a:t>
            </a:r>
          </a:p>
          <a:p xmlns:a="http://schemas.openxmlformats.org/drawingml/2006/main">
            <a:r>
              <a:t>        "data": "업무 문맥·연계 요청 → 조회·안내 결과",</a:t>
            </a:r>
          </a:p>
          <a:p xmlns:a="http://schemas.openxmlformats.org/drawingml/2006/main">
            <a:r>
              <a:t>        "components": [</a:t>
            </a:r>
          </a:p>
          <a:p xmlns:a="http://schemas.openxmlformats.org/drawingml/2006/main">
            <a:r>
              <a:t>          "C07"</a:t>
            </a:r>
          </a:p>
          <a:p xmlns:a="http://schemas.openxmlformats.org/drawingml/2006/main">
            <a:r>
              <a:t>        ],</a:t>
            </a:r>
          </a:p>
          <a:p xmlns:a="http://schemas.openxmlformats.org/drawingml/2006/main">
            <a:r>
              <a:t>        "acceptance": "인증 오류·미존재 데이터·연계 실패 시 비정상 결과의 차단과 안내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"c374e49a08490d67a908b7b7b170dfeb3da38abb43f5b88ec0757c0fa5ca99bd"</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"AI 스팸 챗봇 서비스 운영 관리",</a:t>
            </a:r>
          </a:p>
          <a:p xmlns:a="http://schemas.openxmlformats.org/drawingml/2006/main">
            <a:r>
              <a:t>        "locator": "SFR-006",</a:t>
            </a:r>
          </a:p>
          <a:p xmlns:a="http://schemas.openxmlformats.org/drawingml/2006/main">
            <a:r>
              <a:t>        "summary": "AI 서비스의 운영 상태와 처리 이력을 관리하는 기능.",</a:t>
            </a:r>
          </a:p>
          <a:p xmlns:a="http://schemas.openxmlformats.org/drawingml/2006/main">
            <a:r>
              <a:t>        "data": "이용·오류·운영 설정 → 모니터링·운영 기록",</a:t>
            </a:r>
          </a:p>
          <a:p xmlns:a="http://schemas.openxmlformats.org/drawingml/2006/main">
            <a:r>
              <a:t>        "components": [</a:t>
            </a:r>
          </a:p>
          <a:p xmlns:a="http://schemas.openxmlformats.org/drawingml/2006/main">
            <a:r>
              <a:t>          "C08"</a:t>
            </a:r>
          </a:p>
          <a:p xmlns:a="http://schemas.openxmlformats.org/drawingml/2006/main">
            <a:r>
              <a:t>        ],</a:t>
            </a:r>
          </a:p>
          <a:p xmlns:a="http://schemas.openxmlformats.org/drawingml/2006/main">
            <a:r>
              <a:t>        "acceptance": "장애·오답 접수부터 보정·재시험까지의 처리 상태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"395a971c3bf9980e201f02ac77a12b82db4fe21d2b72114e968d66ade8a04577"</a:t>
            </a:r>
          </a:p>
          <a:p xmlns:a="http://schemas.openxmlformats.org/drawingml/2006/main">
            <a:r>
              <a:t>      },</a:t>
            </a:r>
          </a:p>
          <a:p xmlns:a="http://schemas.openxmlformats.org/drawingml/2006/main">
            <a:r>
              <a:t>      {</a:t>
            </a:r>
          </a:p>
          <a:p xmlns:a="http://schemas.openxmlformats.org/drawingml/2006/main">
            <a:r>
              <a:t>        "id": "QUR-001",</a:t>
            </a:r>
          </a:p>
          <a:p xmlns:a="http://schemas.openxmlformats.org/drawingml/2006/main">
            <a:r>
              <a:t>        "title": "AI 스팸 챗봇 서비스 답변 품질",</a:t>
            </a:r>
          </a:p>
          <a:p xmlns:a="http://schemas.openxmlformats.org/drawingml/2006/main">
            <a:r>
              <a:t>        "locator": "QUR-001",</a:t>
            </a:r>
          </a:p>
          <a:p xmlns:a="http://schemas.openxmlformats.org/drawingml/2006/main">
            <a:r>
              <a:t>        "summary": "답변 품질을 점검하고 개선하는 품질 요구.",</a:t>
            </a:r>
          </a:p>
          <a:p xmlns:a="http://schemas.openxmlformats.org/drawingml/2006/main">
            <a:r>
              <a:t>        "data": "질문·정답·생성 답변 → 품질 판정·개선 기록",</a:t>
            </a:r>
          </a:p>
          <a:p xmlns:a="http://schemas.openxmlformats.org/drawingml/2006/main">
            <a:r>
              <a:t>        "components": [</a:t>
            </a:r>
          </a:p>
          <a:p xmlns:a="http://schemas.openxmlformats.org/drawingml/2006/main">
            <a:r>
              <a:t>          "C05",</a:t>
            </a:r>
          </a:p>
          <a:p xmlns:a="http://schemas.openxmlformats.org/drawingml/2006/main">
            <a:r>
              <a:t>          "C08"</a:t>
            </a:r>
          </a:p>
          <a:p xmlns:a="http://schemas.openxmlformats.org/drawingml/2006/main">
            <a:r>
              <a:t>        ],</a:t>
            </a:r>
          </a:p>
          <a:p xmlns:a="http://schemas.openxmlformats.org/drawingml/2006/main">
            <a:r>
              <a:t>        "acceptance": "업무 질문별 근거 정확성·완전성·일관성 평가와 보정 전후 비교 증빙",</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"0c8005e93cc9209037bfdf5a605228a1bae7e84453afbbd8fc4dd6696d08fb71"</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"홈페이지·앱 질의",</a:t>
            </a:r>
          </a:p>
          <a:p xmlns:a="http://schemas.openxmlformats.org/drawingml/2006/main">
            <a:r>
              <a:t>          "layer": "이용 접점",</a:t>
            </a:r>
          </a:p>
          <a:p xmlns:a="http://schemas.openxmlformats.org/drawingml/2006/main">
            <a:r>
              <a:t>          "detail": "민원인·스팸 정책 담당·평가자",</a:t>
            </a:r>
          </a:p>
          <a:p xmlns:a="http://schemas.openxmlformats.org/drawingml/2006/main">
            <a:r>
              <a:t>          "requirements": [</a:t>
            </a:r>
          </a:p>
          <a:p xmlns:a="http://schemas.openxmlformats.org/drawingml/2006/main">
            <a:r>
              <a:t>            "SFR-001"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"문의·민감정보",</a:t>
            </a:r>
          </a:p>
          <a:p xmlns:a="http://schemas.openxmlformats.org/drawingml/2006/main">
            <a:r>
              <a:t>          "layer": "업무 문맥",</a:t>
            </a:r>
          </a:p>
          <a:p xmlns:a="http://schemas.openxmlformats.org/drawingml/2006/main">
            <a:r>
              <a:t>          "detail": "질의 길이·민감정보·공격 입력 점검",</a:t>
            </a:r>
          </a:p>
          <a:p xmlns:a="http://schemas.openxmlformats.org/drawingml/2006/main">
            <a:r>
              <a:t>          "requirements": [</a:t>
            </a:r>
          </a:p>
          <a:p xmlns:a="http://schemas.openxmlformats.org/drawingml/2006/main">
            <a:r>
              <a:t>            "SFR-001"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"법령 RAG 검색",</a:t>
            </a:r>
          </a:p>
          <a:p xmlns:a="http://schemas.openxmlformats.org/drawingml/2006/main">
            <a:r>
              <a:t>          "layer": "자료 조회",</a:t>
            </a:r>
          </a:p>
          <a:p xmlns:a="http://schemas.openxmlformats.org/drawingml/2006/main">
            <a:r>
              <a:t>          "detail": "질의",</a:t>
            </a:r>
          </a:p>
          <a:p xmlns:a="http://schemas.openxmlformats.org/drawingml/2006/main">
            <a:r>
              <a:t>          "requirements": [</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"외부 생성 AI API",</a:t>
            </a:r>
          </a:p>
          <a:p xmlns:a="http://schemas.openxmlformats.org/drawingml/2006/main">
            <a:r>
              <a:t>          "layer": "핵심 처리",</a:t>
            </a:r>
          </a:p>
          <a:p xmlns:a="http://schemas.openxmlformats.org/drawingml/2006/main">
            <a:r>
              <a:t>          "detail": "외부 생성형 AI API와 RAG 연결",</a:t>
            </a:r>
          </a:p>
          <a:p xmlns:a="http://schemas.openxmlformats.org/drawingml/2006/main">
            <a:r>
              <a:t>          "requirements": [</a:t>
            </a:r>
          </a:p>
          <a:p xmlns:a="http://schemas.openxmlformats.org/drawingml/2006/main">
            <a:r>
              <a:t>            "SFR-001",</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"출처·답변불가 판정",</a:t>
            </a:r>
          </a:p>
          <a:p xmlns:a="http://schemas.openxmlformats.org/drawingml/2006/main">
            <a:r>
              <a:t>          "layer": "결과 검증",</a:t>
            </a:r>
          </a:p>
          <a:p xmlns:a="http://schemas.openxmlformats.org/drawingml/2006/main">
            <a:r>
              <a:t>          "detail": "조문별 정답·근거 없음 거부셋",</a:t>
            </a:r>
          </a:p>
          <a:p xmlns:a="http://schemas.openxmlformats.org/drawingml/2006/main">
            <a:r>
              <a:t>          "requirements": [</a:t>
            </a:r>
          </a:p>
          <a:p xmlns:a="http://schemas.openxmlformats.org/drawingml/2006/main">
            <a:r>
              <a:t>            "SFR-003",</a:t>
            </a:r>
          </a:p>
          <a:p xmlns:a="http://schemas.openxmlformats.org/drawingml/2006/main">
            <a:r>
              <a:t>            "QUR-001"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"민원인·전문가",</a:t>
            </a:r>
          </a:p>
          <a:p xmlns:a="http://schemas.openxmlformats.org/drawingml/2006/main">
            <a:r>
              <a:t>          "layer": "사람 확인",</a:t>
            </a:r>
          </a:p>
          <a:p xmlns:a="http://schemas.openxmlformats.org/drawingml/2006/main">
            <a:r>
              <a:t>          "detail": "스팸 전송 상황을 질문하고 관련 법령·체크리스트 안내",</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"답변·후속 안내",</a:t>
            </a:r>
          </a:p>
          <a:p xmlns:a="http://schemas.openxmlformats.org/drawingml/2006/main">
            <a:r>
              <a:t>          "layer": "업무 연결",</a:t>
            </a:r>
          </a:p>
          <a:p xmlns:a="http://schemas.openxmlformats.org/drawingml/2006/main">
            <a:r>
              <a:t>          "detail": "출처 답변 또는 답변불가 안내 제공",</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"자동·전문가 평가",</a:t>
            </a:r>
          </a:p>
          <a:p xmlns:a="http://schemas.openxmlformats.org/drawingml/2006/main">
            <a:r>
              <a:t>          "layer": "운영 관측",</a:t>
            </a:r>
          </a:p>
          <a:p xmlns:a="http://schemas.openxmlformats.org/drawingml/2006/main">
            <a:r>
              <a:t>          "detail": "자동 평가·전문가 판정·호출량·지연 관리",</a:t>
            </a:r>
          </a:p>
          <a:p xmlns:a="http://schemas.openxmlformats.org/drawingml/2006/main">
            <a:r>
              <a:t>          "requirements": [</a:t>
            </a:r>
          </a:p>
          <a:p xmlns:a="http://schemas.openxmlformats.org/drawingml/2006/main">
            <a:r>
              <a:t>            "SFR-004",</a:t>
            </a:r>
          </a:p>
          <a:p xmlns:a="http://schemas.openxmlformats.org/drawingml/2006/main">
            <a:r>
              <a:t>            "SFR-006",</a:t>
            </a:r>
          </a:p>
          <a:p xmlns:a="http://schemas.openxmlformats.org/drawingml/2006/main">
            <a:r>
              <a:t>            "QUR-001"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"스팸법령·가이드",</a:t>
            </a:r>
          </a:p>
          <a:p xmlns:a="http://schemas.openxmlformats.org/drawingml/2006/main">
            <a:r>
              <a:t>          "layer": "데이터 원천",</a:t>
            </a:r>
          </a:p>
          <a:p xmlns:a="http://schemas.openxmlformats.org/drawingml/2006/main">
            <a:r>
              <a:t>          "detail": "법령·체크리스트",</a:t>
            </a:r>
          </a:p>
          <a:p xmlns:a="http://schemas.openxmlformats.org/drawingml/2006/main">
            <a:r>
              <a:t>          "requirements": [</a:t>
            </a:r>
          </a:p>
          <a:p xmlns:a="http://schemas.openxmlformats.org/drawingml/2006/main">
            <a:r>
              <a:t>            "SFR-002"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"조문·판본 정비",</a:t>
            </a:r>
          </a:p>
          <a:p xmlns:a="http://schemas.openxmlformats.org/drawingml/2006/main">
            <a:r>
              <a:t>          "layer": "준비·갱신",</a:t>
            </a:r>
          </a:p>
          <a:p xmlns:a="http://schemas.openxmlformats.org/drawingml/2006/main">
            <a:r>
              <a:t>          "detail": "법령·가이드·체크리스트의 최신 판본 관리",</a:t>
            </a:r>
          </a:p>
          <a:p xmlns:a="http://schemas.openxmlformats.org/drawingml/2006/main">
            <a:r>
              <a:t>          "requirements": [</a:t>
            </a:r>
          </a:p>
          <a:p xmlns:a="http://schemas.openxmlformats.org/drawingml/2006/main">
            <a:r>
              <a:t>            "SFR-002"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"지식·평가셋",</a:t>
            </a:r>
          </a:p>
          <a:p xmlns:a="http://schemas.openxmlformats.org/drawingml/2006/main">
            <a:r>
              <a:t>          "layer": "상태·지식 저장",</a:t>
            </a:r>
          </a:p>
          <a:p xmlns:a="http://schemas.openxmlformats.org/drawingml/2006/main">
            <a:r>
              <a:t>          "detail": "전문가 정답표·거부셋·최종 RFP 성능조건별 측정",</a:t>
            </a:r>
          </a:p>
          <a:p xmlns:a="http://schemas.openxmlformats.org/drawingml/2006/main">
            <a:r>
              <a:t>          "requirements": [</a:t>
            </a:r>
          </a:p>
          <a:p xmlns:a="http://schemas.openxmlformats.org/drawingml/2006/main">
            <a:r>
              <a:t>            "SFR-002"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"입력·호출·지연 정책",</a:t>
            </a:r>
          </a:p>
          <a:p xmlns:a="http://schemas.openxmlformats.org/drawingml/2006/main">
            <a:r>
              <a:t>          "layer": "권한·정책",</a:t>
            </a:r>
          </a:p>
          <a:p xmlns:a="http://schemas.openxmlformats.org/drawingml/2006/main">
            <a:r>
              <a:t>          "detail": "개정 전 조문·근거 없는 질의·공격 입력·부하 증가",</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"질의 길이·민감정보·공격 입력 점검",</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"질의",</a:t>
            </a:r>
          </a:p>
          <a:p xmlns:a="http://schemas.openxmlformats.org/drawingml/2006/main">
            <a:r>
              <a:t>          "check": "조문별 정답·근거 없음 거부셋"</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"법령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"답변·보류",</a:t>
            </a:r>
          </a:p>
          <a:p xmlns:a="http://schemas.openxmlformats.org/drawingml/2006/main">
            <a:r>
              <a:t>          "check": "개정 전 조문·근거 없는 질의·공격 입력·부하 증가"</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"답변·보류",</a:t>
            </a:r>
          </a:p>
          <a:p xmlns:a="http://schemas.openxmlformats.org/drawingml/2006/main">
            <a:r>
              <a:t>          "check": "출처 답변 또는 답변불가 안내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"전문가 판정",</a:t>
            </a:r>
          </a:p>
          <a:p xmlns:a="http://schemas.openxmlformats.org/drawingml/2006/main">
            <a:r>
              <a:t>          "check": "전문가 정답표·거부셋·최종 RFP 성능조건별 측정"</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"최종 RFP SFR-001~006·QUR-001",</a:t>
            </a:r>
          </a:p>
          <a:p xmlns:a="http://schemas.openxmlformats.org/drawingml/2006/main">
            <a:r>
              <a:t>        "extracted": "외부 생성형 AI API·RAG·출처·답변불가·전문가 평가",</a:t>
            </a:r>
          </a:p>
          <a:p xmlns:a="http://schemas.openxmlformats.org/drawingml/2006/main">
            <a:r>
              <a:t>        "extension": "질의 공격·근거 부재·법령 개정의 독립 시험셋"</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"개정 전 조문·근거 없는 질의·공격 입력·부하 증가",</a:t>
            </a:r>
          </a:p>
          <a:p xmlns:a="http://schemas.openxmlformats.org/drawingml/2006/main">
            <a:r>
              <a:t>        "hold": "조문별 정답·근거 없음 거부셋",</a:t>
            </a:r>
          </a:p>
          <a:p xmlns:a="http://schemas.openxmlformats.org/drawingml/2006/main">
            <a:r>
              <a:t>        "recovery": "자동 평가·전문가 판정·호출량·지연 관리",</a:t>
            </a:r>
          </a:p>
          <a:p xmlns:a="http://schemas.openxmlformats.org/drawingml/2006/main">
            <a:r>
              <a:t>        "evidence": "전문가 정답표·거부셋·최종 RFP 성능조건별 측정"</a:t>
            </a:r>
          </a:p>
          <a:p xmlns:a="http://schemas.openxmlformats.org/drawingml/2006/main">
            <a:r>
              <a:t>      },</a:t>
            </a:r>
          </a:p>
          <a:p xmlns:a="http://schemas.openxmlformats.org/drawingml/2006/main">
            <a:r>
              <a:t>      "data": {</a:t>
            </a:r>
          </a:p>
          <a:p xmlns:a="http://schemas.openxmlformats.org/drawingml/2006/main">
            <a:r>
              <a:t>        "source": "법령·체크리스트",</a:t>
            </a:r>
          </a:p>
          <a:p xmlns:a="http://schemas.openxmlformats.org/drawingml/2006/main">
            <a:r>
              <a:t>        "prepare": "법령·가이드·체크리스트의 최신 판본 관리",</a:t>
            </a:r>
          </a:p>
          <a:p xmlns:a="http://schemas.openxmlformats.org/drawingml/2006/main">
            <a:r>
              <a:t>        "output": "질의",</a:t>
            </a:r>
          </a:p>
          <a:p xmlns:a="http://schemas.openxmlformats.org/drawingml/2006/main">
            <a:r>
              <a:t>        "refresh": "자동 평가·전문가 판정·호출량·지연 관리"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"PF-R07",</a:t>
            </a:r>
          </a:p>
          <a:p xmlns:a="http://schemas.openxmlformats.org/drawingml/2006/main">
            <a:r>
              <a:t>    "success": [</a:t>
            </a:r>
          </a:p>
          <a:p xmlns:a="http://schemas.openxmlformats.org/drawingml/2006/main">
            <a:r>
              <a:t>      "법령·체크리스트의 RAG 연결",</a:t>
            </a:r>
          </a:p>
          <a:p xmlns:a="http://schemas.openxmlformats.org/drawingml/2006/main">
            <a:r>
              <a:t>      "출처·보류·전문가 평가 요구"</a:t>
            </a:r>
          </a:p>
          <a:p xmlns:a="http://schemas.openxmlformats.org/drawingml/2006/main">
            <a:r>
              <a:t>    ],</a:t>
            </a:r>
          </a:p>
          <a:p xmlns:a="http://schemas.openxmlformats.org/drawingml/2006/main">
            <a:r>
              <a:t>    "risks": [</a:t>
            </a:r>
          </a:p>
          <a:p xmlns:a="http://schemas.openxmlformats.org/drawingml/2006/main">
            <a:r>
              <a:t>      "구버전 법령·상충 답변",</a:t>
            </a:r>
          </a:p>
          <a:p xmlns:a="http://schemas.openxmlformats.org/drawingml/2006/main">
            <a:r>
              <a:t>      "입찰 요구를 구현 기능으로 인식"</a:t>
            </a:r>
          </a:p>
          <a:p xmlns:a="http://schemas.openxmlformats.org/drawingml/2006/main">
            <a:r>
              <a:t>    ],</a:t>
            </a:r>
          </a:p>
          <a:p xmlns:a="http://schemas.openxmlformats.org/drawingml/2006/main">
            <a:r>
              <a:t>    "architecture": [</a:t>
            </a:r>
          </a:p>
          <a:p xmlns:a="http://schemas.openxmlformats.org/drawingml/2006/main">
            <a:r>
              <a:t>      "스팸 민원 질의",</a:t>
            </a:r>
          </a:p>
          <a:p xmlns:a="http://schemas.openxmlformats.org/drawingml/2006/main">
            <a:r>
              <a:t>      "외부 AI·RAG",</a:t>
            </a:r>
          </a:p>
          <a:p xmlns:a="http://schemas.openxmlformats.org/drawingml/2006/main">
            <a:r>
              <a:t>      "법령·체크리스트",</a:t>
            </a:r>
          </a:p>
          <a:p xmlns:a="http://schemas.openxmlformats.org/drawingml/2006/main">
            <a:r>
              <a:t>      "민원·평가 담당"</a:t>
            </a:r>
          </a:p>
          <a:p xmlns:a="http://schemas.openxmlformats.org/drawingml/2006/main">
            <a:r>
              <a:t>    ],</a:t>
            </a:r>
          </a:p>
          <a:p xmlns:a="http://schemas.openxmlformats.org/drawingml/2006/main">
            <a:r>
              <a:t>    "transfers": [</a:t>
            </a:r>
          </a:p>
          <a:p xmlns:a="http://schemas.openxmlformats.org/drawingml/2006/main">
            <a:r>
              <a:t>      "질의",</a:t>
            </a:r>
          </a:p>
          <a:p xmlns:a="http://schemas.openxmlformats.org/drawingml/2006/main">
            <a:r>
              <a:t>      "법령 근거",</a:t>
            </a:r>
          </a:p>
          <a:p xmlns:a="http://schemas.openxmlformats.org/drawingml/2006/main">
            <a:r>
              <a:t>      "답변·보류",</a:t>
            </a:r>
          </a:p>
          <a:p xmlns:a="http://schemas.openxmlformats.org/drawingml/2006/main">
            <a:r>
              <a:t>      "전문가 판정"</a:t>
            </a:r>
          </a:p>
          <a:p xmlns:a="http://schemas.openxmlformats.org/drawingml/2006/main">
            <a:r>
              <a:t>    ],</a:t>
            </a:r>
          </a:p>
          <a:p xmlns:a="http://schemas.openxmlformats.org/drawingml/2006/main">
            <a:r>
              <a:t>    "control": "조문별 정답·근거 없음 거부셋",</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SFR-001~006, PER-001·004, QUR-001 / Word T080 https://www.kisa.kr/post/fileDownload?menuSeq=403&amp;postSeq=10891&amp;attachSeq=2&amp;lang_type=KO</a:t>
            </a:r>
          </a:p>
          <a:p xmlns:a="http://schemas.openxmlformats.org/drawingml/2006/main">
            <a:r>
              <a:t>홈페이지 https://heen1987-ops.github.io/TS-business-Plan-001/index.html?view=platform-cases&amp;case=PF-R07</a:t>
            </a:r>
          </a:p>
          <a:p xmlns:a="http://schemas.openxmlformats.org/drawingml/2006/main">
            <a:r>
              <a:t>한계: 사전본 동시300명→본공고100명. 오픈소스 모델/라이브러리 문구→외부 생성형AI API+RAG 방식</a:t>
            </a:r>
          </a:p>
          <a:p xmlns:a="http://schemas.openxmlformats.org/drawingml/2006/main">
            <a:r>
              <a:t>실패 위험: 구버전 법령·상충 답변 / 입찰 요구를 구현 기능으로 인식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"PF-R07",</a:t>
            </a:r>
          </a:p>
          <a:p xmlns:a="http://schemas.openxmlformats.org/drawingml/2006/main">
            <a:r>
              <a:t>    "sourceId": "R07",</a:t>
            </a:r>
          </a:p>
          <a:p xmlns:a="http://schemas.openxmlformats.org/drawingml/2006/main">
            <a:r>
              <a:t>    "title": "KISA 스팸 민원 AI",</a:t>
            </a:r>
          </a:p>
          <a:p xmlns:a="http://schemas.openxmlformats.org/drawingml/2006/main">
            <a:r>
              <a:t>    "region": "국내",</a:t>
            </a:r>
          </a:p>
          <a:p xmlns:a="http://schemas.openxmlformats.org/drawingml/2006/main">
            <a:r>
              <a:t>    "owner": "한국인터넷진흥원(KISA)",</a:t>
            </a:r>
          </a:p>
          <a:p xmlns:a="http://schemas.openxmlformats.org/drawingml/2006/main">
            <a:r>
              <a:t>    "state": "2026-10-14 본공고·최종 첨부 확인 / 입찰 진행",</a:t>
            </a:r>
          </a:p>
          <a:p xmlns:a="http://schemas.openxmlformats.org/drawingml/2006/main">
            <a:r>
              <a:t>    "period": "기존 원장 확인 2026.10.16",</a:t>
            </a:r>
          </a:p>
          <a:p xmlns:a="http://schemas.openxmlformats.org/drawingml/2006/main">
            <a:r>
              <a:t>    "fact": "스팸 법령·자율규제 민원 챗봇과 지식·체크리스트 관리",</a:t>
            </a:r>
          </a:p>
          <a:p xmlns:a="http://schemas.openxmlformats.org/drawingml/2006/main">
            <a:r>
              <a:t>    "limit": "사전본 동시300명→본공고100명. 오픈소스 모델/라이브러리 문구→외부 생성형AI API+RAG 방식",</a:t>
            </a:r>
          </a:p>
          <a:p xmlns:a="http://schemas.openxmlformats.org/drawingml/2006/main">
            <a:r>
              <a:t>    "nodes": [</a:t>
            </a:r>
          </a:p>
          <a:p xmlns:a="http://schemas.openxmlformats.org/drawingml/2006/main">
            <a:r>
              <a:t>      "법령·지식",</a:t>
            </a:r>
          </a:p>
          <a:p xmlns:a="http://schemas.openxmlformats.org/drawingml/2006/main">
            <a:r>
              <a:t>      "외부 AI·RAG",</a:t>
            </a:r>
          </a:p>
          <a:p xmlns:a="http://schemas.openxmlformats.org/drawingml/2006/main">
            <a:r>
              <a:t>      "출처·답변 보류",</a:t>
            </a:r>
          </a:p>
          <a:p xmlns:a="http://schemas.openxmlformats.org/drawingml/2006/main">
            <a:r>
              <a:t>      "전문가 평가"</a:t>
            </a:r>
          </a:p>
          <a:p xmlns:a="http://schemas.openxmlformats.org/drawingml/2006/main">
            <a:r>
              <a:t>    ],</a:t>
            </a:r>
          </a:p>
          <a:p xmlns:a="http://schemas.openxmlformats.org/drawingml/2006/main">
            <a:r>
              <a:t>    "apply": "민원 답변의 법령 근거·보류 조건·전문가 평가를 운영 기준으로 관리",</a:t>
            </a:r>
          </a:p>
          <a:p xmlns:a="http://schemas.openxmlformats.org/drawingml/2006/main">
            <a:r>
              <a:t>    "delta": "법령·체크리스트 판본 / 응답 보류 / 전문가 정답셋·부하 시험",</a:t>
            </a:r>
          </a:p>
          <a:p xmlns:a="http://schemas.openxmlformats.org/drawingml/2006/main">
            <a:r>
              <a:t>    "test": "개정 조문·근거 부재·공격 입력·동시 요청의 품질·성능 대조",</a:t>
            </a:r>
          </a:p>
          <a:p xmlns:a="http://schemas.openxmlformats.org/drawingml/2006/main">
            <a:r>
              <a:t>    "url": "https://www.kisa.kr/post/fileDownload?menuSeq=403&amp;postSeq=10891&amp;attachSeq=2&amp;lang_type=KO",</a:t>
            </a:r>
          </a:p>
          <a:p xmlns:a="http://schemas.openxmlformats.org/drawingml/2006/main">
            <a:r>
              <a:t>    "urls": [</a:t>
            </a:r>
          </a:p>
          <a:p xmlns:a="http://schemas.openxmlformats.org/drawingml/2006/main">
            <a:r>
              <a:t>      "https://www.kisa.kr/post/fileDownload?menuSeq=403&amp;postSeq=10891&amp;attachSeq=2&amp;lang_type=KO",</a:t>
            </a:r>
          </a:p>
          <a:p xmlns:a="http://schemas.openxmlformats.org/drawingml/2006/main">
            <a:r>
              <a:t>      "https://www.kisa.kr/403/form?postSeq=10891"</a:t>
            </a:r>
          </a:p>
          <a:p xmlns:a="http://schemas.openxmlformats.org/drawingml/2006/main">
            <a:r>
              <a:t>    ],</a:t>
            </a:r>
          </a:p>
          <a:p xmlns:a="http://schemas.openxmlformats.org/drawingml/2006/main">
            <a:r>
              <a:t>    "basis": "SFR-001~006, PER-001·004, QUR-001 / Word T080",</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"근거 정답률 / 보류 적정률 / 응답시간·오류율",</a:t>
            </a:r>
          </a:p>
          <a:p xmlns:a="http://schemas.openxmlformats.org/drawingml/2006/main">
            <a:r>
              <a:t>    "group": "요구·구축",</a:t>
            </a:r>
          </a:p>
          <a:p xmlns:a="http://schemas.openxmlformats.org/drawingml/2006/main">
            <a:r>
              <a:t>    "sourceDetail": "외부 생성형 AI API+RAG, 홈페이지/앱 연계, 출처·최신성·답변불가 안내, 자동/전문가 평가",</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"PF-R07",</a:t>
            </a:r>
          </a:p>
          <a:p xmlns:a="http://schemas.openxmlformats.org/drawingml/2006/main">
            <a:r>
              <a:t>    "canonicalId": "PF-R07",</a:t>
            </a:r>
          </a:p>
          <a:p xmlns:a="http://schemas.openxmlformats.org/drawingml/2006/main">
            <a:r>
              <a:t>    "purpose": "스팸 법령과 체크리스트의 민원 응답",</a:t>
            </a:r>
          </a:p>
          <a:p xmlns:a="http://schemas.openxmlformats.org/drawingml/2006/main">
            <a:r>
              <a:t>    "users": "민원인·스팸 정책 담당·평가자",</a:t>
            </a:r>
          </a:p>
          <a:p xmlns:a="http://schemas.openxmlformats.org/drawingml/2006/main">
            <a:r>
              <a:t>    "scope": [</a:t>
            </a:r>
          </a:p>
          <a:p xmlns:a="http://schemas.openxmlformats.org/drawingml/2006/main">
            <a:r>
              <a:t>      "홈페이지·앱",</a:t>
            </a:r>
          </a:p>
          <a:p xmlns:a="http://schemas.openxmlformats.org/drawingml/2006/main">
            <a:r>
              <a:t>      "지식 질의",</a:t>
            </a:r>
          </a:p>
          <a:p xmlns:a="http://schemas.openxmlformats.org/drawingml/2006/main">
            <a:r>
              <a:t>      "전문가 평가"</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"스팸 민원 질의",</a:t>
            </a:r>
          </a:p>
          <a:p xmlns:a="http://schemas.openxmlformats.org/drawingml/2006/main">
            <a:r>
              <a:t>        "detail": "질의 길이·민감정보·공격 입력 점검",</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"홈페이지·앱 / 지식 질의 / 전문가 평가",</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"외부 AI·RAG",</a:t>
            </a:r>
          </a:p>
          <a:p xmlns:a="http://schemas.openxmlformats.org/drawingml/2006/main">
            <a:r>
              <a:t>        "detail": "외부 생성형 AI API와 RAG 연결",</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"민원·평가 담당",</a:t>
            </a:r>
          </a:p>
          <a:p xmlns:a="http://schemas.openxmlformats.org/drawingml/2006/main">
            <a:r>
              <a:t>        "detail": "출처 답변 또는 답변불가 안내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"법령·체크리스트",</a:t>
            </a:r>
          </a:p>
          <a:p xmlns:a="http://schemas.openxmlformats.org/drawingml/2006/main">
            <a:r>
              <a:t>        "detail": "법령·가이드·체크리스트의 최신 판본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"자동 평가·전문가 판정·호출량·지연 관리",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"법령·지식",</a:t>
            </a:r>
          </a:p>
          <a:p xmlns:a="http://schemas.openxmlformats.org/drawingml/2006/main">
            <a:r>
              <a:t>        "input": "질의 길이·민감정보·공격 입력 점검",</a:t>
            </a:r>
          </a:p>
          <a:p xmlns:a="http://schemas.openxmlformats.org/drawingml/2006/main">
            <a:r>
              <a:t>        "process": "법령·가이드·체크리스트의 최신 판본 관리",</a:t>
            </a:r>
          </a:p>
          <a:p xmlns:a="http://schemas.openxmlformats.org/drawingml/2006/main">
            <a:r>
              <a:t>        "output": "질의"</a:t>
            </a:r>
          </a:p>
          <a:p xmlns:a="http://schemas.openxmlformats.org/drawingml/2006/main">
            <a:r>
              <a:t>      },</a:t>
            </a:r>
          </a:p>
          <a:p xmlns:a="http://schemas.openxmlformats.org/drawingml/2006/main">
            <a:r>
              <a:t>      {</a:t>
            </a:r>
          </a:p>
          <a:p xmlns:a="http://schemas.openxmlformats.org/drawingml/2006/main">
            <a:r>
              <a:t>        "title": "외부 AI·RAG",</a:t>
            </a:r>
          </a:p>
          <a:p xmlns:a="http://schemas.openxmlformats.org/drawingml/2006/main">
            <a:r>
              <a:t>        "input": "질의",</a:t>
            </a:r>
          </a:p>
          <a:p xmlns:a="http://schemas.openxmlformats.org/drawingml/2006/main">
            <a:r>
              <a:t>        "process": "외부 생성형 AI API와 RAG 연결",</a:t>
            </a:r>
          </a:p>
          <a:p xmlns:a="http://schemas.openxmlformats.org/drawingml/2006/main">
            <a:r>
              <a:t>        "output": "법령 근거"</a:t>
            </a:r>
          </a:p>
          <a:p xmlns:a="http://schemas.openxmlformats.org/drawingml/2006/main">
            <a:r>
              <a:t>      },</a:t>
            </a:r>
          </a:p>
          <a:p xmlns:a="http://schemas.openxmlformats.org/drawingml/2006/main">
            <a:r>
              <a:t>      {</a:t>
            </a:r>
          </a:p>
          <a:p xmlns:a="http://schemas.openxmlformats.org/drawingml/2006/main">
            <a:r>
              <a:t>        "title": "출처·답변 보류",</a:t>
            </a:r>
          </a:p>
          <a:p xmlns:a="http://schemas.openxmlformats.org/drawingml/2006/main">
            <a:r>
              <a:t>        "input": "법령 근거",</a:t>
            </a:r>
          </a:p>
          <a:p xmlns:a="http://schemas.openxmlformats.org/drawingml/2006/main">
            <a:r>
              <a:t>        "process": "조문별 정답·근거 없음 거부셋",</a:t>
            </a:r>
          </a:p>
          <a:p xmlns:a="http://schemas.openxmlformats.org/drawingml/2006/main">
            <a:r>
              <a:t>        "output": "답변·보류"</a:t>
            </a:r>
          </a:p>
          <a:p xmlns:a="http://schemas.openxmlformats.org/drawingml/2006/main">
            <a:r>
              <a:t>      },</a:t>
            </a:r>
          </a:p>
          <a:p xmlns:a="http://schemas.openxmlformats.org/drawingml/2006/main">
            <a:r>
              <a:t>      {</a:t>
            </a:r>
          </a:p>
          <a:p xmlns:a="http://schemas.openxmlformats.org/drawingml/2006/main">
            <a:r>
              <a:t>        "title": "전문가 평가",</a:t>
            </a:r>
          </a:p>
          <a:p xmlns:a="http://schemas.openxmlformats.org/drawingml/2006/main">
            <a:r>
              <a:t>        "input": "답변·보류",</a:t>
            </a:r>
          </a:p>
          <a:p xmlns:a="http://schemas.openxmlformats.org/drawingml/2006/main">
            <a:r>
              <a:t>        "process": "출처 답변 또는 답변불가 안내 제공",</a:t>
            </a:r>
          </a:p>
          <a:p xmlns:a="http://schemas.openxmlformats.org/drawingml/2006/main">
            <a:r>
              <a:t>        "output": "전문가 판정"</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"스팸 전송 상황을 질문하고 관련 법령·체크리스트 안내",</a:t>
            </a:r>
          </a:p>
          <a:p xmlns:a="http://schemas.openxmlformats.org/drawingml/2006/main">
            <a:r>
              <a:t>      "exception": "개정 전 조문·근거 없는 질의·공격 입력·부하 증가",</a:t>
            </a:r>
          </a:p>
          <a:p xmlns:a="http://schemas.openxmlformats.org/drawingml/2006/main">
            <a:r>
              <a:t>      "evidence": "전문가 정답표·거부셋·최종 RFP 성능조건별 측정",</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"민원인·스팸 정책 담당·평가자",</a:t>
            </a:r>
          </a:p>
          <a:p xmlns:a="http://schemas.openxmlformats.org/drawingml/2006/main">
            <a:r>
              <a:t>          "processing": "질의 길이·민감정보·공격 입력 점검",</a:t>
            </a:r>
          </a:p>
          <a:p xmlns:a="http://schemas.openxmlformats.org/drawingml/2006/main">
            <a:r>
              <a:t>          "output": "질의"</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"법령·체크리스트",</a:t>
            </a:r>
          </a:p>
          <a:p xmlns:a="http://schemas.openxmlformats.org/drawingml/2006/main">
            <a:r>
              <a:t>          "processing": "법령·가이드·체크리스트의 최신 판본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"질의",</a:t>
            </a:r>
          </a:p>
          <a:p xmlns:a="http://schemas.openxmlformats.org/drawingml/2006/main">
            <a:r>
              <a:t>          "processing": "외부 생성형 AI API와 RAG 연결",</a:t>
            </a:r>
          </a:p>
          <a:p xmlns:a="http://schemas.openxmlformats.org/drawingml/2006/main">
            <a:r>
              <a:t>          "output": "답변·보류"</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"답변·보류",</a:t>
            </a:r>
          </a:p>
          <a:p xmlns:a="http://schemas.openxmlformats.org/drawingml/2006/main">
            <a:r>
              <a:t>          "processing": "출처 답변 또는 답변불가 안내 제공",</a:t>
            </a:r>
          </a:p>
          <a:p xmlns:a="http://schemas.openxmlformats.org/drawingml/2006/main">
            <a:r>
              <a:t>          "output": "전문가 판정"</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"자동 평가·전문가 판정·호출량·지연 관리",</a:t>
            </a:r>
          </a:p>
          <a:p xmlns:a="http://schemas.openxmlformats.org/drawingml/2006/main">
            <a:r>
              <a:t>          "output": "전문가 정답표·거부셋·최종 RFP 성능조건별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"자동 평가·전문가 판정·호출량·지연 관리",</a:t>
            </a:r>
          </a:p>
          <a:p xmlns:a="http://schemas.openxmlformats.org/drawingml/2006/main">
            <a:r>
              <a:t>    "status": "RFP 기반 논리 설계",</a:t>
            </a:r>
          </a:p>
          <a:p xmlns:a="http://schemas.openxmlformats.org/drawingml/2006/main">
            <a:r>
              <a:t>    "basis": "최종 RFP 2026.10.14 · SFR-001~006·PER-001·004·QUR-001",</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"SFR-001~006, PER-001·004, QUR-001 / Word T080",</a:t>
            </a:r>
          </a:p>
          <a:p xmlns:a="http://schemas.openxmlformats.org/drawingml/2006/main">
            <a:r>
              <a:t>        "url": "https://www.kisa.kr/post/fileDownload?menuSeq=403&amp;postSeq=10891&amp;attachSeq=2&amp;lang_type=KO"</a:t>
            </a:r>
          </a:p>
          <a:p xmlns:a="http://schemas.openxmlformats.org/drawingml/2006/main">
            <a:r>
              <a:t>      }</a:t>
            </a:r>
          </a:p>
          <a:p xmlns:a="http://schemas.openxmlformats.org/drawingml/2006/main">
            <a:r>
              <a:t>    ],</a:t>
            </a:r>
          </a:p>
          <a:p xmlns:a="http://schemas.openxmlformats.org/drawingml/2006/main">
            <a:r>
              <a:t>    "implication": "민원 답변의 법령 근거·보류 조건·전문가 평가를 운영 기준으로 관리",</a:t>
            </a:r>
          </a:p>
          <a:p xmlns:a="http://schemas.openxmlformats.org/drawingml/2006/main">
            <a:r>
              <a:t>    "local": "민원 답변의 법령 근거·보류 조건·전문가 평가를 운영 기준으로 관리",</a:t>
            </a:r>
          </a:p>
          <a:p xmlns:a="http://schemas.openxmlformats.org/drawingml/2006/main">
            <a:r>
              <a:t>    "sourceDetail": "외부 생성형 AI API+RAG, 홈페이지/앱 연계, 출처·최신성·답변불가 안내, 자동/전문가 평가",</a:t>
            </a:r>
          </a:p>
          <a:p xmlns:a="http://schemas.openxmlformats.org/drawingml/2006/main">
            <a:r>
              <a:t>    "narrative": [</a:t>
            </a:r>
          </a:p>
          <a:p xmlns:a="http://schemas.openxmlformats.org/drawingml/2006/main">
            <a:r>
              <a:t>      "스팸 관련 법령·가이드·체크리스트를 국민의 질문에 연결하는 대민 AI 상담 구축. 홈페이지·앱 접점과 지식베이스·외부 생성형 AI API·관리자·운영 기능을 함께 요구하는 사업.",</a:t>
            </a:r>
          </a:p>
          <a:p xmlns:a="http://schemas.openxmlformats.org/drawingml/2006/main">
            <a:r>
              <a:t>      "질의 입력 점검 후 최신 법령 근거를 검색하고 외부 AI API로 답변을 생성하는 구조. 검색·답변 단계에서 출처와 답변불가 처리를 분리하고, 자동 평가와 전문가 검토를 운영 과정에 결합하는 설계. 최종 RFP 판본의 성능·품질 요구를 기준으로 비교.",</a:t>
            </a:r>
          </a:p>
          <a:p xmlns:a="http://schemas.openxmlformats.org/drawingml/2006/main">
            <a:r>
              <a:t>      "규정 검색 성공이 적절한 민원 안내를 보장하지 않는 점을 검수에 반영할 필요. 법령 개정, 유사 조문, 근거 없는 질문, 공격성 입력을 구분한 시험셋과 전문가 판정의 연결. TS 안내 서비스에 적용할 경우 법정 판단·신청 처리는 해당 업무 시스템과 담당자의 책임으로 연결."</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"SFR-001",</a:t>
            </a:r>
          </a:p>
          <a:p xmlns:a="http://schemas.openxmlformats.org/drawingml/2006/main">
            <a:r>
              <a:t>        "title": "AI 스팸 챗봇 서비스 구축",</a:t>
            </a:r>
          </a:p>
          <a:p xmlns:a="http://schemas.openxmlformats.org/drawingml/2006/main">
            <a:r>
              <a:t>        "locator": "SFR-001",</a:t>
            </a:r>
          </a:p>
          <a:p xmlns:a="http://schemas.openxmlformats.org/drawingml/2006/main">
            <a:r>
              <a:t>        "summary": "스팸 관련 법령·업무 문의에 대응하는 AI 챗봇 구축.",</a:t>
            </a:r>
          </a:p>
          <a:p xmlns:a="http://schemas.openxmlformats.org/drawingml/2006/main">
            <a:r>
              <a:t>        "data": "국민·사업자 문의 → 안내 응답·업무 경로",</a:t>
            </a:r>
          </a:p>
          <a:p xmlns:a="http://schemas.openxmlformats.org/drawingml/2006/main">
            <a:r>
              <a:t>        "components": [</a:t>
            </a:r>
          </a:p>
          <a:p xmlns:a="http://schemas.openxmlformats.org/drawingml/2006/main">
            <a:r>
              <a:t>          "C01",</a:t>
            </a:r>
          </a:p>
          <a:p xmlns:a="http://schemas.openxmlformats.org/drawingml/2006/main">
            <a:r>
              <a:t>          "C02",</a:t>
            </a:r>
          </a:p>
          <a:p xmlns:a="http://schemas.openxmlformats.org/drawingml/2006/main">
            <a:r>
              <a:t>          "C04"</a:t>
            </a:r>
          </a:p>
          <a:p xmlns:a="http://schemas.openxmlformats.org/drawingml/2006/main">
            <a:r>
              <a:t>        ],</a:t>
            </a:r>
          </a:p>
          <a:p xmlns:a="http://schemas.openxmlformats.org/drawingml/2006/main">
            <a:r>
              <a:t>        "acceptance": "법령 설명·신고 절차·예외 사유 질문을 구분해 올바른 안내 경로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"4c540036c514c5823d4ed4b29b16b7d44b65a0178ba371f0c4ba9d06306df6e9"</a:t>
            </a:r>
          </a:p>
          <a:p xmlns:a="http://schemas.openxmlformats.org/drawingml/2006/main">
            <a:r>
              <a:t>      },</a:t>
            </a:r>
          </a:p>
          <a:p xmlns:a="http://schemas.openxmlformats.org/drawingml/2006/main">
            <a:r>
              <a:t>      {</a:t>
            </a:r>
          </a:p>
          <a:p xmlns:a="http://schemas.openxmlformats.org/drawingml/2006/main">
            <a:r>
              <a:t>        "id": "SFR-002",</a:t>
            </a:r>
          </a:p>
          <a:p xmlns:a="http://schemas.openxmlformats.org/drawingml/2006/main">
            <a:r>
              <a:t>        "title": "AI 스팸 챗봇 서비스 지식베이스 관리",</a:t>
            </a:r>
          </a:p>
          <a:p xmlns:a="http://schemas.openxmlformats.org/drawingml/2006/main">
            <a:r>
              <a:t>        "locator": "SFR-002",</a:t>
            </a:r>
          </a:p>
          <a:p xmlns:a="http://schemas.openxmlformats.org/drawingml/2006/main">
            <a:r>
              <a:t>        "summary": "스팸 관련 지식자료를 등록·정비·활용하는 지식베이스 구성.",</a:t>
            </a:r>
          </a:p>
          <a:p xmlns:a="http://schemas.openxmlformats.org/drawingml/2006/main">
            <a:r>
              <a:t>        "data": "법령·FAQ·업무 자료 → 판본별 검색 근거",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"개정 자료·폐기 자료·상충 FAQ의 승인·갱신 및 검색 제외 결과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"777a548e5cc2d26392428d54f1ec38d4daab521a391239a084a98c967dca9cda"</a:t>
            </a:r>
          </a:p>
          <a:p xmlns:a="http://schemas.openxmlformats.org/drawingml/2006/main">
            <a:r>
              <a:t>      },</a:t>
            </a:r>
          </a:p>
          <a:p xmlns:a="http://schemas.openxmlformats.org/drawingml/2006/main">
            <a:r>
              <a:t>      {</a:t>
            </a:r>
          </a:p>
          <a:p xmlns:a="http://schemas.openxmlformats.org/drawingml/2006/main">
            <a:r>
              <a:t>        "id": "SFR-003",</a:t>
            </a:r>
          </a:p>
          <a:p xmlns:a="http://schemas.openxmlformats.org/drawingml/2006/main">
            <a:r>
              <a:t>        "title": "AI 스팸 챗봇 서비스 모델",</a:t>
            </a:r>
          </a:p>
          <a:p xmlns:a="http://schemas.openxmlformats.org/drawingml/2006/main">
            <a:r>
              <a:t>        "locator": "SFR-003",</a:t>
            </a:r>
          </a:p>
          <a:p xmlns:a="http://schemas.openxmlformats.org/drawingml/2006/main">
            <a:r>
              <a:t>        "summary": "스팸 업무 질의응답을 위한 AI 모델 구성·적용.",</a:t>
            </a:r>
          </a:p>
          <a:p xmlns:a="http://schemas.openxmlformats.org/drawingml/2006/main">
            <a:r>
              <a:t>        "data": "질의·검색 근거 → 답변 후보",</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"C05"</a:t>
            </a:r>
          </a:p>
          <a:p xmlns:a="http://schemas.openxmlformats.org/drawingml/2006/main">
            <a:r>
              <a:t>        ],</a:t>
            </a:r>
          </a:p>
          <a:p xmlns:a="http://schemas.openxmlformats.org/drawingml/2006/main">
            <a:r>
              <a:t>        "acceptance": "근거 없는 법적 단정, 문맥 누락, 질의와 무관한 응답을 업무 정답셋으로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"0a22a75c9aff1f580a391a05ac9dd97d69d7041aaacdeb61d959ac868e268182"</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"AI 스팸 챗봇 서비스 관리자 기능",</a:t>
            </a:r>
          </a:p>
          <a:p xmlns:a="http://schemas.openxmlformats.org/drawingml/2006/main">
            <a:r>
              <a:t>        "locator": "SFR-004",</a:t>
            </a:r>
          </a:p>
          <a:p xmlns:a="http://schemas.openxmlformats.org/drawingml/2006/main">
            <a:r>
              <a:t>        "summary": "관리자의 지식·서비스 관리 기능 제공.",</a:t>
            </a:r>
          </a:p>
          <a:p xmlns:a="http://schemas.openxmlformats.org/drawingml/2006/main">
            <a:r>
              <a:t>        "data": "관리 요청·역할 → 변경 상태·관리 이력",</a:t>
            </a:r>
          </a:p>
          <a:p xmlns:a="http://schemas.openxmlformats.org/drawingml/2006/main">
            <a:r>
              <a:t>        "components": [</a:t>
            </a:r>
          </a:p>
          <a:p xmlns:a="http://schemas.openxmlformats.org/drawingml/2006/main">
            <a:r>
              <a:t>          "C06",</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"지식 수정·게시·삭제의 역할별 허용 범위와 변경 이력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"ce1ed31f57a53d9437e86a03bf98a363804d06301256c43e3043f4bb989b4cf2"</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"AI 스팸 챗봇 서비스 시스템 연계",</a:t>
            </a:r>
          </a:p>
          <a:p xmlns:a="http://schemas.openxmlformats.org/drawingml/2006/main">
            <a:r>
              <a:t>        "locator": "SFR-005",</a:t>
            </a:r>
          </a:p>
          <a:p xmlns:a="http://schemas.openxmlformats.org/drawingml/2006/main">
            <a:r>
              <a:t>        "summary": "기존 업무시스템과 AI 챗봇의 연계 기능.",</a:t>
            </a:r>
          </a:p>
          <a:p xmlns:a="http://schemas.openxmlformats.org/drawingml/2006/main">
            <a:r>
              <a:t>        "data": "업무 문맥·연계 요청 → 조회·안내 결과",</a:t>
            </a:r>
          </a:p>
          <a:p xmlns:a="http://schemas.openxmlformats.org/drawingml/2006/main">
            <a:r>
              <a:t>        "components": [</a:t>
            </a:r>
          </a:p>
          <a:p xmlns:a="http://schemas.openxmlformats.org/drawingml/2006/main">
            <a:r>
              <a:t>          "C07"</a:t>
            </a:r>
          </a:p>
          <a:p xmlns:a="http://schemas.openxmlformats.org/drawingml/2006/main">
            <a:r>
              <a:t>        ],</a:t>
            </a:r>
          </a:p>
          <a:p xmlns:a="http://schemas.openxmlformats.org/drawingml/2006/main">
            <a:r>
              <a:t>        "acceptance": "인증 오류·미존재 데이터·연계 실패 시 비정상 결과의 차단과 안내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"c374e49a08490d67a908b7b7b170dfeb3da38abb43f5b88ec0757c0fa5ca99bd"</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"AI 스팸 챗봇 서비스 운영 관리",</a:t>
            </a:r>
          </a:p>
          <a:p xmlns:a="http://schemas.openxmlformats.org/drawingml/2006/main">
            <a:r>
              <a:t>        "locator": "SFR-006",</a:t>
            </a:r>
          </a:p>
          <a:p xmlns:a="http://schemas.openxmlformats.org/drawingml/2006/main">
            <a:r>
              <a:t>        "summary": "AI 서비스의 운영 상태와 처리 이력을 관리하는 기능.",</a:t>
            </a:r>
          </a:p>
          <a:p xmlns:a="http://schemas.openxmlformats.org/drawingml/2006/main">
            <a:r>
              <a:t>        "data": "이용·오류·운영 설정 → 모니터링·운영 기록",</a:t>
            </a:r>
          </a:p>
          <a:p xmlns:a="http://schemas.openxmlformats.org/drawingml/2006/main">
            <a:r>
              <a:t>        "components": [</a:t>
            </a:r>
          </a:p>
          <a:p xmlns:a="http://schemas.openxmlformats.org/drawingml/2006/main">
            <a:r>
              <a:t>          "C08"</a:t>
            </a:r>
          </a:p>
          <a:p xmlns:a="http://schemas.openxmlformats.org/drawingml/2006/main">
            <a:r>
              <a:t>        ],</a:t>
            </a:r>
          </a:p>
          <a:p xmlns:a="http://schemas.openxmlformats.org/drawingml/2006/main">
            <a:r>
              <a:t>        "acceptance": "장애·오답 접수부터 보정·재시험까지의 처리 상태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"395a971c3bf9980e201f02ac77a12b82db4fe21d2b72114e968d66ade8a04577"</a:t>
            </a:r>
          </a:p>
          <a:p xmlns:a="http://schemas.openxmlformats.org/drawingml/2006/main">
            <a:r>
              <a:t>      },</a:t>
            </a:r>
          </a:p>
          <a:p xmlns:a="http://schemas.openxmlformats.org/drawingml/2006/main">
            <a:r>
              <a:t>      {</a:t>
            </a:r>
          </a:p>
          <a:p xmlns:a="http://schemas.openxmlformats.org/drawingml/2006/main">
            <a:r>
              <a:t>        "id": "QUR-001",</a:t>
            </a:r>
          </a:p>
          <a:p xmlns:a="http://schemas.openxmlformats.org/drawingml/2006/main">
            <a:r>
              <a:t>        "title": "AI 스팸 챗봇 서비스 답변 품질",</a:t>
            </a:r>
          </a:p>
          <a:p xmlns:a="http://schemas.openxmlformats.org/drawingml/2006/main">
            <a:r>
              <a:t>        "locator": "QUR-001",</a:t>
            </a:r>
          </a:p>
          <a:p xmlns:a="http://schemas.openxmlformats.org/drawingml/2006/main">
            <a:r>
              <a:t>        "summary": "답변 품질을 점검하고 개선하는 품질 요구.",</a:t>
            </a:r>
          </a:p>
          <a:p xmlns:a="http://schemas.openxmlformats.org/drawingml/2006/main">
            <a:r>
              <a:t>        "data": "질문·정답·생성 답변 → 품질 판정·개선 기록",</a:t>
            </a:r>
          </a:p>
          <a:p xmlns:a="http://schemas.openxmlformats.org/drawingml/2006/main">
            <a:r>
              <a:t>        "components": [</a:t>
            </a:r>
          </a:p>
          <a:p xmlns:a="http://schemas.openxmlformats.org/drawingml/2006/main">
            <a:r>
              <a:t>          "C05",</a:t>
            </a:r>
          </a:p>
          <a:p xmlns:a="http://schemas.openxmlformats.org/drawingml/2006/main">
            <a:r>
              <a:t>          "C08"</a:t>
            </a:r>
          </a:p>
          <a:p xmlns:a="http://schemas.openxmlformats.org/drawingml/2006/main">
            <a:r>
              <a:t>        ],</a:t>
            </a:r>
          </a:p>
          <a:p xmlns:a="http://schemas.openxmlformats.org/drawingml/2006/main">
            <a:r>
              <a:t>        "acceptance": "업무 질문별 근거 정확성·완전성·일관성 평가와 보정 전후 비교 증빙",</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"0c8005e93cc9209037bfdf5a605228a1bae7e84453afbbd8fc4dd6696d08fb71"</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"홈페이지·앱 질의",</a:t>
            </a:r>
          </a:p>
          <a:p xmlns:a="http://schemas.openxmlformats.org/drawingml/2006/main">
            <a:r>
              <a:t>          "layer": "이용 접점",</a:t>
            </a:r>
          </a:p>
          <a:p xmlns:a="http://schemas.openxmlformats.org/drawingml/2006/main">
            <a:r>
              <a:t>          "detail": "민원인·스팸 정책 담당·평가자",</a:t>
            </a:r>
          </a:p>
          <a:p xmlns:a="http://schemas.openxmlformats.org/drawingml/2006/main">
            <a:r>
              <a:t>          "requirements": [</a:t>
            </a:r>
          </a:p>
          <a:p xmlns:a="http://schemas.openxmlformats.org/drawingml/2006/main">
            <a:r>
              <a:t>            "SFR-001"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"문의·민감정보",</a:t>
            </a:r>
          </a:p>
          <a:p xmlns:a="http://schemas.openxmlformats.org/drawingml/2006/main">
            <a:r>
              <a:t>          "layer": "업무 문맥",</a:t>
            </a:r>
          </a:p>
          <a:p xmlns:a="http://schemas.openxmlformats.org/drawingml/2006/main">
            <a:r>
              <a:t>          "detail": "질의 길이·민감정보·공격 입력 점검",</a:t>
            </a:r>
          </a:p>
          <a:p xmlns:a="http://schemas.openxmlformats.org/drawingml/2006/main">
            <a:r>
              <a:t>          "requirements": [</a:t>
            </a:r>
          </a:p>
          <a:p xmlns:a="http://schemas.openxmlformats.org/drawingml/2006/main">
            <a:r>
              <a:t>            "SFR-001"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"법령 RAG 검색",</a:t>
            </a:r>
          </a:p>
          <a:p xmlns:a="http://schemas.openxmlformats.org/drawingml/2006/main">
            <a:r>
              <a:t>          "layer": "자료 조회",</a:t>
            </a:r>
          </a:p>
          <a:p xmlns:a="http://schemas.openxmlformats.org/drawingml/2006/main">
            <a:r>
              <a:t>          "detail": "질의",</a:t>
            </a:r>
          </a:p>
          <a:p xmlns:a="http://schemas.openxmlformats.org/drawingml/2006/main">
            <a:r>
              <a:t>          "requirements": [</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"외부 생성 AI API",</a:t>
            </a:r>
          </a:p>
          <a:p xmlns:a="http://schemas.openxmlformats.org/drawingml/2006/main">
            <a:r>
              <a:t>          "layer": "핵심 처리",</a:t>
            </a:r>
          </a:p>
          <a:p xmlns:a="http://schemas.openxmlformats.org/drawingml/2006/main">
            <a:r>
              <a:t>          "detail": "외부 생성형 AI API와 RAG 연결",</a:t>
            </a:r>
          </a:p>
          <a:p xmlns:a="http://schemas.openxmlformats.org/drawingml/2006/main">
            <a:r>
              <a:t>          "requirements": [</a:t>
            </a:r>
          </a:p>
          <a:p xmlns:a="http://schemas.openxmlformats.org/drawingml/2006/main">
            <a:r>
              <a:t>            "SFR-001",</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"출처·답변불가 판정",</a:t>
            </a:r>
          </a:p>
          <a:p xmlns:a="http://schemas.openxmlformats.org/drawingml/2006/main">
            <a:r>
              <a:t>          "layer": "결과 검증",</a:t>
            </a:r>
          </a:p>
          <a:p xmlns:a="http://schemas.openxmlformats.org/drawingml/2006/main">
            <a:r>
              <a:t>          "detail": "조문별 정답·근거 없음 거부셋",</a:t>
            </a:r>
          </a:p>
          <a:p xmlns:a="http://schemas.openxmlformats.org/drawingml/2006/main">
            <a:r>
              <a:t>          "requirements": [</a:t>
            </a:r>
          </a:p>
          <a:p xmlns:a="http://schemas.openxmlformats.org/drawingml/2006/main">
            <a:r>
              <a:t>            "SFR-003",</a:t>
            </a:r>
          </a:p>
          <a:p xmlns:a="http://schemas.openxmlformats.org/drawingml/2006/main">
            <a:r>
              <a:t>            "QUR-001"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"민원인·전문가",</a:t>
            </a:r>
          </a:p>
          <a:p xmlns:a="http://schemas.openxmlformats.org/drawingml/2006/main">
            <a:r>
              <a:t>          "layer": "사람 확인",</a:t>
            </a:r>
          </a:p>
          <a:p xmlns:a="http://schemas.openxmlformats.org/drawingml/2006/main">
            <a:r>
              <a:t>          "detail": "스팸 전송 상황을 질문하고 관련 법령·체크리스트 안내",</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"답변·후속 안내",</a:t>
            </a:r>
          </a:p>
          <a:p xmlns:a="http://schemas.openxmlformats.org/drawingml/2006/main">
            <a:r>
              <a:t>          "layer": "업무 연결",</a:t>
            </a:r>
          </a:p>
          <a:p xmlns:a="http://schemas.openxmlformats.org/drawingml/2006/main">
            <a:r>
              <a:t>          "detail": "출처 답변 또는 답변불가 안내 제공",</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"자동·전문가 평가",</a:t>
            </a:r>
          </a:p>
          <a:p xmlns:a="http://schemas.openxmlformats.org/drawingml/2006/main">
            <a:r>
              <a:t>          "layer": "운영 관측",</a:t>
            </a:r>
          </a:p>
          <a:p xmlns:a="http://schemas.openxmlformats.org/drawingml/2006/main">
            <a:r>
              <a:t>          "detail": "자동 평가·전문가 판정·호출량·지연 관리",</a:t>
            </a:r>
          </a:p>
          <a:p xmlns:a="http://schemas.openxmlformats.org/drawingml/2006/main">
            <a:r>
              <a:t>          "requirements": [</a:t>
            </a:r>
          </a:p>
          <a:p xmlns:a="http://schemas.openxmlformats.org/drawingml/2006/main">
            <a:r>
              <a:t>            "SFR-004",</a:t>
            </a:r>
          </a:p>
          <a:p xmlns:a="http://schemas.openxmlformats.org/drawingml/2006/main">
            <a:r>
              <a:t>            "SFR-006",</a:t>
            </a:r>
          </a:p>
          <a:p xmlns:a="http://schemas.openxmlformats.org/drawingml/2006/main">
            <a:r>
              <a:t>            "QUR-001"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"스팸법령·가이드",</a:t>
            </a:r>
          </a:p>
          <a:p xmlns:a="http://schemas.openxmlformats.org/drawingml/2006/main">
            <a:r>
              <a:t>          "layer": "데이터 원천",</a:t>
            </a:r>
          </a:p>
          <a:p xmlns:a="http://schemas.openxmlformats.org/drawingml/2006/main">
            <a:r>
              <a:t>          "detail": "법령·체크리스트",</a:t>
            </a:r>
          </a:p>
          <a:p xmlns:a="http://schemas.openxmlformats.org/drawingml/2006/main">
            <a:r>
              <a:t>          "requirements": [</a:t>
            </a:r>
          </a:p>
          <a:p xmlns:a="http://schemas.openxmlformats.org/drawingml/2006/main">
            <a:r>
              <a:t>            "SFR-002"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"조문·판본 정비",</a:t>
            </a:r>
          </a:p>
          <a:p xmlns:a="http://schemas.openxmlformats.org/drawingml/2006/main">
            <a:r>
              <a:t>          "layer": "준비·갱신",</a:t>
            </a:r>
          </a:p>
          <a:p xmlns:a="http://schemas.openxmlformats.org/drawingml/2006/main">
            <a:r>
              <a:t>          "detail": "법령·가이드·체크리스트의 최신 판본 관리",</a:t>
            </a:r>
          </a:p>
          <a:p xmlns:a="http://schemas.openxmlformats.org/drawingml/2006/main">
            <a:r>
              <a:t>          "requirements": [</a:t>
            </a:r>
          </a:p>
          <a:p xmlns:a="http://schemas.openxmlformats.org/drawingml/2006/main">
            <a:r>
              <a:t>            "SFR-002"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"지식·평가셋",</a:t>
            </a:r>
          </a:p>
          <a:p xmlns:a="http://schemas.openxmlformats.org/drawingml/2006/main">
            <a:r>
              <a:t>          "layer": "상태·지식 저장",</a:t>
            </a:r>
          </a:p>
          <a:p xmlns:a="http://schemas.openxmlformats.org/drawingml/2006/main">
            <a:r>
              <a:t>          "detail": "전문가 정답표·거부셋·최종 RFP 성능조건별 측정",</a:t>
            </a:r>
          </a:p>
          <a:p xmlns:a="http://schemas.openxmlformats.org/drawingml/2006/main">
            <a:r>
              <a:t>          "requirements": [</a:t>
            </a:r>
          </a:p>
          <a:p xmlns:a="http://schemas.openxmlformats.org/drawingml/2006/main">
            <a:r>
              <a:t>            "SFR-002"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"입력·호출·지연 정책",</a:t>
            </a:r>
          </a:p>
          <a:p xmlns:a="http://schemas.openxmlformats.org/drawingml/2006/main">
            <a:r>
              <a:t>          "layer": "권한·정책",</a:t>
            </a:r>
          </a:p>
          <a:p xmlns:a="http://schemas.openxmlformats.org/drawingml/2006/main">
            <a:r>
              <a:t>          "detail": "개정 전 조문·근거 없는 질의·공격 입력·부하 증가",</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"질의 길이·민감정보·공격 입력 점검",</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"질의",</a:t>
            </a:r>
          </a:p>
          <a:p xmlns:a="http://schemas.openxmlformats.org/drawingml/2006/main">
            <a:r>
              <a:t>          "check": "조문별 정답·근거 없음 거부셋"</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"법령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"답변·보류",</a:t>
            </a:r>
          </a:p>
          <a:p xmlns:a="http://schemas.openxmlformats.org/drawingml/2006/main">
            <a:r>
              <a:t>          "check": "개정 전 조문·근거 없는 질의·공격 입력·부하 증가"</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"답변·보류",</a:t>
            </a:r>
          </a:p>
          <a:p xmlns:a="http://schemas.openxmlformats.org/drawingml/2006/main">
            <a:r>
              <a:t>          "check": "출처 답변 또는 답변불가 안내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"전문가 판정",</a:t>
            </a:r>
          </a:p>
          <a:p xmlns:a="http://schemas.openxmlformats.org/drawingml/2006/main">
            <a:r>
              <a:t>          "check": "전문가 정답표·거부셋·최종 RFP 성능조건별 측정"</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"최종 RFP SFR-001~006·QUR-001",</a:t>
            </a:r>
          </a:p>
          <a:p xmlns:a="http://schemas.openxmlformats.org/drawingml/2006/main">
            <a:r>
              <a:t>        "extracted": "외부 생성형 AI API·RAG·출처·답변불가·전문가 평가",</a:t>
            </a:r>
          </a:p>
          <a:p xmlns:a="http://schemas.openxmlformats.org/drawingml/2006/main">
            <a:r>
              <a:t>        "extension": "질의 공격·근거 부재·법령 개정의 독립 시험셋"</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"개정 전 조문·근거 없는 질의·공격 입력·부하 증가",</a:t>
            </a:r>
          </a:p>
          <a:p xmlns:a="http://schemas.openxmlformats.org/drawingml/2006/main">
            <a:r>
              <a:t>        "hold": "조문별 정답·근거 없음 거부셋",</a:t>
            </a:r>
          </a:p>
          <a:p xmlns:a="http://schemas.openxmlformats.org/drawingml/2006/main">
            <a:r>
              <a:t>        "recovery": "자동 평가·전문가 판정·호출량·지연 관리",</a:t>
            </a:r>
          </a:p>
          <a:p xmlns:a="http://schemas.openxmlformats.org/drawingml/2006/main">
            <a:r>
              <a:t>        "evidence": "전문가 정답표·거부셋·최종 RFP 성능조건별 측정"</a:t>
            </a:r>
          </a:p>
          <a:p xmlns:a="http://schemas.openxmlformats.org/drawingml/2006/main">
            <a:r>
              <a:t>      },</a:t>
            </a:r>
          </a:p>
          <a:p xmlns:a="http://schemas.openxmlformats.org/drawingml/2006/main">
            <a:r>
              <a:t>      "data": {</a:t>
            </a:r>
          </a:p>
          <a:p xmlns:a="http://schemas.openxmlformats.org/drawingml/2006/main">
            <a:r>
              <a:t>        "source": "법령·체크리스트",</a:t>
            </a:r>
          </a:p>
          <a:p xmlns:a="http://schemas.openxmlformats.org/drawingml/2006/main">
            <a:r>
              <a:t>        "prepare": "법령·가이드·체크리스트의 최신 판본 관리",</a:t>
            </a:r>
          </a:p>
          <a:p xmlns:a="http://schemas.openxmlformats.org/drawingml/2006/main">
            <a:r>
              <a:t>        "output": "질의",</a:t>
            </a:r>
          </a:p>
          <a:p xmlns:a="http://schemas.openxmlformats.org/drawingml/2006/main">
            <a:r>
              <a:t>        "refresh": "자동 평가·전문가 판정·호출량·지연 관리"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"PF-R07",</a:t>
            </a:r>
          </a:p>
          <a:p xmlns:a="http://schemas.openxmlformats.org/drawingml/2006/main">
            <a:r>
              <a:t>    "success": [</a:t>
            </a:r>
          </a:p>
          <a:p xmlns:a="http://schemas.openxmlformats.org/drawingml/2006/main">
            <a:r>
              <a:t>      "법령·체크리스트의 RAG 연결",</a:t>
            </a:r>
          </a:p>
          <a:p xmlns:a="http://schemas.openxmlformats.org/drawingml/2006/main">
            <a:r>
              <a:t>      "출처·보류·전문가 평가 요구"</a:t>
            </a:r>
          </a:p>
          <a:p xmlns:a="http://schemas.openxmlformats.org/drawingml/2006/main">
            <a:r>
              <a:t>    ],</a:t>
            </a:r>
          </a:p>
          <a:p xmlns:a="http://schemas.openxmlformats.org/drawingml/2006/main">
            <a:r>
              <a:t>    "risks": [</a:t>
            </a:r>
          </a:p>
          <a:p xmlns:a="http://schemas.openxmlformats.org/drawingml/2006/main">
            <a:r>
              <a:t>      "구버전 법령·상충 답변",</a:t>
            </a:r>
          </a:p>
          <a:p xmlns:a="http://schemas.openxmlformats.org/drawingml/2006/main">
            <a:r>
              <a:t>      "입찰 요구를 구현 기능으로 인식"</a:t>
            </a:r>
          </a:p>
          <a:p xmlns:a="http://schemas.openxmlformats.org/drawingml/2006/main">
            <a:r>
              <a:t>    ],</a:t>
            </a:r>
          </a:p>
          <a:p xmlns:a="http://schemas.openxmlformats.org/drawingml/2006/main">
            <a:r>
              <a:t>    "architecture": [</a:t>
            </a:r>
          </a:p>
          <a:p xmlns:a="http://schemas.openxmlformats.org/drawingml/2006/main">
            <a:r>
              <a:t>      "스팸 민원 질의",</a:t>
            </a:r>
          </a:p>
          <a:p xmlns:a="http://schemas.openxmlformats.org/drawingml/2006/main">
            <a:r>
              <a:t>      "외부 AI·RAG",</a:t>
            </a:r>
          </a:p>
          <a:p xmlns:a="http://schemas.openxmlformats.org/drawingml/2006/main">
            <a:r>
              <a:t>      "법령·체크리스트",</a:t>
            </a:r>
          </a:p>
          <a:p xmlns:a="http://schemas.openxmlformats.org/drawingml/2006/main">
            <a:r>
              <a:t>      "민원·평가 담당"</a:t>
            </a:r>
          </a:p>
          <a:p xmlns:a="http://schemas.openxmlformats.org/drawingml/2006/main">
            <a:r>
              <a:t>    ],</a:t>
            </a:r>
          </a:p>
          <a:p xmlns:a="http://schemas.openxmlformats.org/drawingml/2006/main">
            <a:r>
              <a:t>    "transfers": [</a:t>
            </a:r>
          </a:p>
          <a:p xmlns:a="http://schemas.openxmlformats.org/drawingml/2006/main">
            <a:r>
              <a:t>      "질의",</a:t>
            </a:r>
          </a:p>
          <a:p xmlns:a="http://schemas.openxmlformats.org/drawingml/2006/main">
            <a:r>
              <a:t>      "법령 근거",</a:t>
            </a:r>
          </a:p>
          <a:p xmlns:a="http://schemas.openxmlformats.org/drawingml/2006/main">
            <a:r>
              <a:t>      "답변·보류",</a:t>
            </a:r>
          </a:p>
          <a:p xmlns:a="http://schemas.openxmlformats.org/drawingml/2006/main">
            <a:r>
              <a:t>      "전문가 판정"</a:t>
            </a:r>
          </a:p>
          <a:p xmlns:a="http://schemas.openxmlformats.org/drawingml/2006/main">
            <a:r>
              <a:t>    ],</a:t>
            </a:r>
          </a:p>
          <a:p xmlns:a="http://schemas.openxmlformats.org/drawingml/2006/main">
            <a:r>
              <a:t>    "control": "조문별 정답·근거 없음 거부셋",</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SFR-001~006, PER-001·004, QUR-001 / Word T080 https://www.kisa.kr/post/fileDownload?menuSeq=403&amp;postSeq=10891&amp;attachSeq=2&amp;lang_type=KO</a:t>
            </a:r>
          </a:p>
          <a:p xmlns:a="http://schemas.openxmlformats.org/drawingml/2006/main">
            <a:r>
              <a:t>홈페이지 https://heen1987-ops.github.io/TS-business-Plan-001/index.html?view=platform-cases&amp;case=PF-R07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"PF-R07",</a:t>
            </a:r>
          </a:p>
          <a:p xmlns:a="http://schemas.openxmlformats.org/drawingml/2006/main">
            <a:r>
              <a:t>    "sourceId": "R07",</a:t>
            </a:r>
          </a:p>
          <a:p xmlns:a="http://schemas.openxmlformats.org/drawingml/2006/main">
            <a:r>
              <a:t>    "title": "KISA 스팸 민원 AI",</a:t>
            </a:r>
          </a:p>
          <a:p xmlns:a="http://schemas.openxmlformats.org/drawingml/2006/main">
            <a:r>
              <a:t>    "region": "국내",</a:t>
            </a:r>
          </a:p>
          <a:p xmlns:a="http://schemas.openxmlformats.org/drawingml/2006/main">
            <a:r>
              <a:t>    "owner": "한국인터넷진흥원(KISA)",</a:t>
            </a:r>
          </a:p>
          <a:p xmlns:a="http://schemas.openxmlformats.org/drawingml/2006/main">
            <a:r>
              <a:t>    "state": "2026-10-14 본공고·최종 첨부 확인 / 입찰 진행",</a:t>
            </a:r>
          </a:p>
          <a:p xmlns:a="http://schemas.openxmlformats.org/drawingml/2006/main">
            <a:r>
              <a:t>    "period": "기존 원장 확인 2026.10.16",</a:t>
            </a:r>
          </a:p>
          <a:p xmlns:a="http://schemas.openxmlformats.org/drawingml/2006/main">
            <a:r>
              <a:t>    "fact": "스팸 법령·자율규제 민원 챗봇과 지식·체크리스트 관리",</a:t>
            </a:r>
          </a:p>
          <a:p xmlns:a="http://schemas.openxmlformats.org/drawingml/2006/main">
            <a:r>
              <a:t>    "limit": "사전본 동시300명→본공고100명. 오픈소스 모델/라이브러리 문구→외부 생성형AI API+RAG 방식",</a:t>
            </a:r>
          </a:p>
          <a:p xmlns:a="http://schemas.openxmlformats.org/drawingml/2006/main">
            <a:r>
              <a:t>    "nodes": [</a:t>
            </a:r>
          </a:p>
          <a:p xmlns:a="http://schemas.openxmlformats.org/drawingml/2006/main">
            <a:r>
              <a:t>      "법령·지식",</a:t>
            </a:r>
          </a:p>
          <a:p xmlns:a="http://schemas.openxmlformats.org/drawingml/2006/main">
            <a:r>
              <a:t>      "외부 AI·RAG",</a:t>
            </a:r>
          </a:p>
          <a:p xmlns:a="http://schemas.openxmlformats.org/drawingml/2006/main">
            <a:r>
              <a:t>      "출처·답변 보류",</a:t>
            </a:r>
          </a:p>
          <a:p xmlns:a="http://schemas.openxmlformats.org/drawingml/2006/main">
            <a:r>
              <a:t>      "전문가 평가"</a:t>
            </a:r>
          </a:p>
          <a:p xmlns:a="http://schemas.openxmlformats.org/drawingml/2006/main">
            <a:r>
              <a:t>    ],</a:t>
            </a:r>
          </a:p>
          <a:p xmlns:a="http://schemas.openxmlformats.org/drawingml/2006/main">
            <a:r>
              <a:t>    "apply": "민원 답변의 법령 근거·보류 조건·전문가 평가를 운영 기준으로 관리",</a:t>
            </a:r>
          </a:p>
          <a:p xmlns:a="http://schemas.openxmlformats.org/drawingml/2006/main">
            <a:r>
              <a:t>    "delta": "법령·체크리스트 판본 / 응답 보류 / 전문가 정답셋·부하 시험",</a:t>
            </a:r>
          </a:p>
          <a:p xmlns:a="http://schemas.openxmlformats.org/drawingml/2006/main">
            <a:r>
              <a:t>    "test": "개정 조문·근거 부재·공격 입력·동시 요청의 품질·성능 대조",</a:t>
            </a:r>
          </a:p>
          <a:p xmlns:a="http://schemas.openxmlformats.org/drawingml/2006/main">
            <a:r>
              <a:t>    "url": "https://www.kisa.kr/post/fileDownload?menuSeq=403&amp;postSeq=10891&amp;attachSeq=2&amp;lang_type=KO",</a:t>
            </a:r>
          </a:p>
          <a:p xmlns:a="http://schemas.openxmlformats.org/drawingml/2006/main">
            <a:r>
              <a:t>    "urls": [</a:t>
            </a:r>
          </a:p>
          <a:p xmlns:a="http://schemas.openxmlformats.org/drawingml/2006/main">
            <a:r>
              <a:t>      "https://www.kisa.kr/post/fileDownload?menuSeq=403&amp;postSeq=10891&amp;attachSeq=2&amp;lang_type=KO",</a:t>
            </a:r>
          </a:p>
          <a:p xmlns:a="http://schemas.openxmlformats.org/drawingml/2006/main">
            <a:r>
              <a:t>      "https://www.kisa.kr/403/form?postSeq=10891"</a:t>
            </a:r>
          </a:p>
          <a:p xmlns:a="http://schemas.openxmlformats.org/drawingml/2006/main">
            <a:r>
              <a:t>    ],</a:t>
            </a:r>
          </a:p>
          <a:p xmlns:a="http://schemas.openxmlformats.org/drawingml/2006/main">
            <a:r>
              <a:t>    "basis": "SFR-001~006, PER-001·004, QUR-001 / Word T080",</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"근거 정답률 / 보류 적정률 / 응답시간·오류율",</a:t>
            </a:r>
          </a:p>
          <a:p xmlns:a="http://schemas.openxmlformats.org/drawingml/2006/main">
            <a:r>
              <a:t>    "group": "요구·구축",</a:t>
            </a:r>
          </a:p>
          <a:p xmlns:a="http://schemas.openxmlformats.org/drawingml/2006/main">
            <a:r>
              <a:t>    "sourceDetail": "외부 생성형 AI API+RAG, 홈페이지/앱 연계, 출처·최신성·답변불가 안내, 자동/전문가 평가",</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"PF-R07",</a:t>
            </a:r>
          </a:p>
          <a:p xmlns:a="http://schemas.openxmlformats.org/drawingml/2006/main">
            <a:r>
              <a:t>    "canonicalId": "PF-R07",</a:t>
            </a:r>
          </a:p>
          <a:p xmlns:a="http://schemas.openxmlformats.org/drawingml/2006/main">
            <a:r>
              <a:t>    "purpose": "스팸 법령과 체크리스트의 민원 응답",</a:t>
            </a:r>
          </a:p>
          <a:p xmlns:a="http://schemas.openxmlformats.org/drawingml/2006/main">
            <a:r>
              <a:t>    "users": "민원인·스팸 정책 담당·평가자",</a:t>
            </a:r>
          </a:p>
          <a:p xmlns:a="http://schemas.openxmlformats.org/drawingml/2006/main">
            <a:r>
              <a:t>    "scope": [</a:t>
            </a:r>
          </a:p>
          <a:p xmlns:a="http://schemas.openxmlformats.org/drawingml/2006/main">
            <a:r>
              <a:t>      "홈페이지·앱",</a:t>
            </a:r>
          </a:p>
          <a:p xmlns:a="http://schemas.openxmlformats.org/drawingml/2006/main">
            <a:r>
              <a:t>      "지식 질의",</a:t>
            </a:r>
          </a:p>
          <a:p xmlns:a="http://schemas.openxmlformats.org/drawingml/2006/main">
            <a:r>
              <a:t>      "전문가 평가"</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"스팸 민원 질의",</a:t>
            </a:r>
          </a:p>
          <a:p xmlns:a="http://schemas.openxmlformats.org/drawingml/2006/main">
            <a:r>
              <a:t>        "detail": "질의 길이·민감정보·공격 입력 점검",</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"홈페이지·앱 / 지식 질의 / 전문가 평가",</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"외부 AI·RAG",</a:t>
            </a:r>
          </a:p>
          <a:p xmlns:a="http://schemas.openxmlformats.org/drawingml/2006/main">
            <a:r>
              <a:t>        "detail": "외부 생성형 AI API와 RAG 연결",</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"민원·평가 담당",</a:t>
            </a:r>
          </a:p>
          <a:p xmlns:a="http://schemas.openxmlformats.org/drawingml/2006/main">
            <a:r>
              <a:t>        "detail": "출처 답변 또는 답변불가 안내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"법령·체크리스트",</a:t>
            </a:r>
          </a:p>
          <a:p xmlns:a="http://schemas.openxmlformats.org/drawingml/2006/main">
            <a:r>
              <a:t>        "detail": "법령·가이드·체크리스트의 최신 판본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"자동 평가·전문가 판정·호출량·지연 관리",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"법령·지식",</a:t>
            </a:r>
          </a:p>
          <a:p xmlns:a="http://schemas.openxmlformats.org/drawingml/2006/main">
            <a:r>
              <a:t>        "input": "질의 길이·민감정보·공격 입력 점검",</a:t>
            </a:r>
          </a:p>
          <a:p xmlns:a="http://schemas.openxmlformats.org/drawingml/2006/main">
            <a:r>
              <a:t>        "process": "법령·가이드·체크리스트의 최신 판본 관리",</a:t>
            </a:r>
          </a:p>
          <a:p xmlns:a="http://schemas.openxmlformats.org/drawingml/2006/main">
            <a:r>
              <a:t>        "output": "질의"</a:t>
            </a:r>
          </a:p>
          <a:p xmlns:a="http://schemas.openxmlformats.org/drawingml/2006/main">
            <a:r>
              <a:t>      },</a:t>
            </a:r>
          </a:p>
          <a:p xmlns:a="http://schemas.openxmlformats.org/drawingml/2006/main">
            <a:r>
              <a:t>      {</a:t>
            </a:r>
          </a:p>
          <a:p xmlns:a="http://schemas.openxmlformats.org/drawingml/2006/main">
            <a:r>
              <a:t>        "title": "외부 AI·RAG",</a:t>
            </a:r>
          </a:p>
          <a:p xmlns:a="http://schemas.openxmlformats.org/drawingml/2006/main">
            <a:r>
              <a:t>        "input": "질의",</a:t>
            </a:r>
          </a:p>
          <a:p xmlns:a="http://schemas.openxmlformats.org/drawingml/2006/main">
            <a:r>
              <a:t>        "process": "외부 생성형 AI API와 RAG 연결",</a:t>
            </a:r>
          </a:p>
          <a:p xmlns:a="http://schemas.openxmlformats.org/drawingml/2006/main">
            <a:r>
              <a:t>        "output": "법령 근거"</a:t>
            </a:r>
          </a:p>
          <a:p xmlns:a="http://schemas.openxmlformats.org/drawingml/2006/main">
            <a:r>
              <a:t>      },</a:t>
            </a:r>
          </a:p>
          <a:p xmlns:a="http://schemas.openxmlformats.org/drawingml/2006/main">
            <a:r>
              <a:t>      {</a:t>
            </a:r>
          </a:p>
          <a:p xmlns:a="http://schemas.openxmlformats.org/drawingml/2006/main">
            <a:r>
              <a:t>        "title": "출처·답변 보류",</a:t>
            </a:r>
          </a:p>
          <a:p xmlns:a="http://schemas.openxmlformats.org/drawingml/2006/main">
            <a:r>
              <a:t>        "input": "법령 근거",</a:t>
            </a:r>
          </a:p>
          <a:p xmlns:a="http://schemas.openxmlformats.org/drawingml/2006/main">
            <a:r>
              <a:t>        "process": "조문별 정답·근거 없음 거부셋",</a:t>
            </a:r>
          </a:p>
          <a:p xmlns:a="http://schemas.openxmlformats.org/drawingml/2006/main">
            <a:r>
              <a:t>        "output": "답변·보류"</a:t>
            </a:r>
          </a:p>
          <a:p xmlns:a="http://schemas.openxmlformats.org/drawingml/2006/main">
            <a:r>
              <a:t>      },</a:t>
            </a:r>
          </a:p>
          <a:p xmlns:a="http://schemas.openxmlformats.org/drawingml/2006/main">
            <a:r>
              <a:t>      {</a:t>
            </a:r>
          </a:p>
          <a:p xmlns:a="http://schemas.openxmlformats.org/drawingml/2006/main">
            <a:r>
              <a:t>        "title": "전문가 평가",</a:t>
            </a:r>
          </a:p>
          <a:p xmlns:a="http://schemas.openxmlformats.org/drawingml/2006/main">
            <a:r>
              <a:t>        "input": "답변·보류",</a:t>
            </a:r>
          </a:p>
          <a:p xmlns:a="http://schemas.openxmlformats.org/drawingml/2006/main">
            <a:r>
              <a:t>        "process": "출처 답변 또는 답변불가 안내 제공",</a:t>
            </a:r>
          </a:p>
          <a:p xmlns:a="http://schemas.openxmlformats.org/drawingml/2006/main">
            <a:r>
              <a:t>        "output": "전문가 판정"</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"스팸 전송 상황을 질문하고 관련 법령·체크리스트 안내",</a:t>
            </a:r>
          </a:p>
          <a:p xmlns:a="http://schemas.openxmlformats.org/drawingml/2006/main">
            <a:r>
              <a:t>      "exception": "개정 전 조문·근거 없는 질의·공격 입력·부하 증가",</a:t>
            </a:r>
          </a:p>
          <a:p xmlns:a="http://schemas.openxmlformats.org/drawingml/2006/main">
            <a:r>
              <a:t>      "evidence": "전문가 정답표·거부셋·최종 RFP 성능조건별 측정",</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"민원인·스팸 정책 담당·평가자",</a:t>
            </a:r>
          </a:p>
          <a:p xmlns:a="http://schemas.openxmlformats.org/drawingml/2006/main">
            <a:r>
              <a:t>          "processing": "질의 길이·민감정보·공격 입력 점검",</a:t>
            </a:r>
          </a:p>
          <a:p xmlns:a="http://schemas.openxmlformats.org/drawingml/2006/main">
            <a:r>
              <a:t>          "output": "질의"</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"법령·체크리스트",</a:t>
            </a:r>
          </a:p>
          <a:p xmlns:a="http://schemas.openxmlformats.org/drawingml/2006/main">
            <a:r>
              <a:t>          "processing": "법령·가이드·체크리스트의 최신 판본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"질의",</a:t>
            </a:r>
          </a:p>
          <a:p xmlns:a="http://schemas.openxmlformats.org/drawingml/2006/main">
            <a:r>
              <a:t>          "processing": "외부 생성형 AI API와 RAG 연결",</a:t>
            </a:r>
          </a:p>
          <a:p xmlns:a="http://schemas.openxmlformats.org/drawingml/2006/main">
            <a:r>
              <a:t>          "output": "답변·보류"</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"답변·보류",</a:t>
            </a:r>
          </a:p>
          <a:p xmlns:a="http://schemas.openxmlformats.org/drawingml/2006/main">
            <a:r>
              <a:t>          "processing": "출처 답변 또는 답변불가 안내 제공",</a:t>
            </a:r>
          </a:p>
          <a:p xmlns:a="http://schemas.openxmlformats.org/drawingml/2006/main">
            <a:r>
              <a:t>          "output": "전문가 판정"</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"자동 평가·전문가 판정·호출량·지연 관리",</a:t>
            </a:r>
          </a:p>
          <a:p xmlns:a="http://schemas.openxmlformats.org/drawingml/2006/main">
            <a:r>
              <a:t>          "output": "전문가 정답표·거부셋·최종 RFP 성능조건별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"자동 평가·전문가 판정·호출량·지연 관리",</a:t>
            </a:r>
          </a:p>
          <a:p xmlns:a="http://schemas.openxmlformats.org/drawingml/2006/main">
            <a:r>
              <a:t>    "status": "RFP 기반 논리 설계",</a:t>
            </a:r>
          </a:p>
          <a:p xmlns:a="http://schemas.openxmlformats.org/drawingml/2006/main">
            <a:r>
              <a:t>    "basis": "최종 RFP 2026.10.14 · SFR-001~006·PER-001·004·QUR-001",</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"SFR-001~006, PER-001·004, QUR-001 / Word T080",</a:t>
            </a:r>
          </a:p>
          <a:p xmlns:a="http://schemas.openxmlformats.org/drawingml/2006/main">
            <a:r>
              <a:t>        "url": "https://www.kisa.kr/post/fileDownload?menuSeq=403&amp;postSeq=10891&amp;attachSeq=2&amp;lang_type=KO"</a:t>
            </a:r>
          </a:p>
          <a:p xmlns:a="http://schemas.openxmlformats.org/drawingml/2006/main">
            <a:r>
              <a:t>      }</a:t>
            </a:r>
          </a:p>
          <a:p xmlns:a="http://schemas.openxmlformats.org/drawingml/2006/main">
            <a:r>
              <a:t>    ],</a:t>
            </a:r>
          </a:p>
          <a:p xmlns:a="http://schemas.openxmlformats.org/drawingml/2006/main">
            <a:r>
              <a:t>    "implication": "민원 답변의 법령 근거·보류 조건·전문가 평가를 운영 기준으로 관리",</a:t>
            </a:r>
          </a:p>
          <a:p xmlns:a="http://schemas.openxmlformats.org/drawingml/2006/main">
            <a:r>
              <a:t>    "local": "민원 답변의 법령 근거·보류 조건·전문가 평가를 운영 기준으로 관리",</a:t>
            </a:r>
          </a:p>
          <a:p xmlns:a="http://schemas.openxmlformats.org/drawingml/2006/main">
            <a:r>
              <a:t>    "sourceDetail": "외부 생성형 AI API+RAG, 홈페이지/앱 연계, 출처·최신성·답변불가 안내, 자동/전문가 평가",</a:t>
            </a:r>
          </a:p>
          <a:p xmlns:a="http://schemas.openxmlformats.org/drawingml/2006/main">
            <a:r>
              <a:t>    "narrative": [</a:t>
            </a:r>
          </a:p>
          <a:p xmlns:a="http://schemas.openxmlformats.org/drawingml/2006/main">
            <a:r>
              <a:t>      "스팸 관련 법령·가이드·체크리스트를 국민의 질문에 연결하는 대민 AI 상담 구축. 홈페이지·앱 접점과 지식베이스·외부 생성형 AI API·관리자·운영 기능을 함께 요구하는 사업.",</a:t>
            </a:r>
          </a:p>
          <a:p xmlns:a="http://schemas.openxmlformats.org/drawingml/2006/main">
            <a:r>
              <a:t>      "질의 입력 점검 후 최신 법령 근거를 검색하고 외부 AI API로 답변을 생성하는 구조. 검색·답변 단계에서 출처와 답변불가 처리를 분리하고, 자동 평가와 전문가 검토를 운영 과정에 결합하는 설계. 최종 RFP 판본의 성능·품질 요구를 기준으로 비교.",</a:t>
            </a:r>
          </a:p>
          <a:p xmlns:a="http://schemas.openxmlformats.org/drawingml/2006/main">
            <a:r>
              <a:t>      "규정 검색 성공이 적절한 민원 안내를 보장하지 않는 점을 검수에 반영할 필요. 법령 개정, 유사 조문, 근거 없는 질문, 공격성 입력을 구분한 시험셋과 전문가 판정의 연결. TS 안내 서비스에 적용할 경우 법정 판단·신청 처리는 해당 업무 시스템과 담당자의 책임으로 연결."</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"SFR-001",</a:t>
            </a:r>
          </a:p>
          <a:p xmlns:a="http://schemas.openxmlformats.org/drawingml/2006/main">
            <a:r>
              <a:t>        "title": "AI 스팸 챗봇 서비스 구축",</a:t>
            </a:r>
          </a:p>
          <a:p xmlns:a="http://schemas.openxmlformats.org/drawingml/2006/main">
            <a:r>
              <a:t>        "locator": "SFR-001",</a:t>
            </a:r>
          </a:p>
          <a:p xmlns:a="http://schemas.openxmlformats.org/drawingml/2006/main">
            <a:r>
              <a:t>        "summary": "스팸 관련 법령·업무 문의에 대응하는 AI 챗봇 구축.",</a:t>
            </a:r>
          </a:p>
          <a:p xmlns:a="http://schemas.openxmlformats.org/drawingml/2006/main">
            <a:r>
              <a:t>        "data": "국민·사업자 문의 → 안내 응답·업무 경로",</a:t>
            </a:r>
          </a:p>
          <a:p xmlns:a="http://schemas.openxmlformats.org/drawingml/2006/main">
            <a:r>
              <a:t>        "components": [</a:t>
            </a:r>
          </a:p>
          <a:p xmlns:a="http://schemas.openxmlformats.org/drawingml/2006/main">
            <a:r>
              <a:t>          "C01",</a:t>
            </a:r>
          </a:p>
          <a:p xmlns:a="http://schemas.openxmlformats.org/drawingml/2006/main">
            <a:r>
              <a:t>          "C02",</a:t>
            </a:r>
          </a:p>
          <a:p xmlns:a="http://schemas.openxmlformats.org/drawingml/2006/main">
            <a:r>
              <a:t>          "C04"</a:t>
            </a:r>
          </a:p>
          <a:p xmlns:a="http://schemas.openxmlformats.org/drawingml/2006/main">
            <a:r>
              <a:t>        ],</a:t>
            </a:r>
          </a:p>
          <a:p xmlns:a="http://schemas.openxmlformats.org/drawingml/2006/main">
            <a:r>
              <a:t>        "acceptance": "법령 설명·신고 절차·예외 사유 질문을 구분해 올바른 안내 경로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"4c540036c514c5823d4ed4b29b16b7d44b65a0178ba371f0c4ba9d06306df6e9"</a:t>
            </a:r>
          </a:p>
          <a:p xmlns:a="http://schemas.openxmlformats.org/drawingml/2006/main">
            <a:r>
              <a:t>      },</a:t>
            </a:r>
          </a:p>
          <a:p xmlns:a="http://schemas.openxmlformats.org/drawingml/2006/main">
            <a:r>
              <a:t>      {</a:t>
            </a:r>
          </a:p>
          <a:p xmlns:a="http://schemas.openxmlformats.org/drawingml/2006/main">
            <a:r>
              <a:t>        "id": "SFR-002",</a:t>
            </a:r>
          </a:p>
          <a:p xmlns:a="http://schemas.openxmlformats.org/drawingml/2006/main">
            <a:r>
              <a:t>        "title": "AI 스팸 챗봇 서비스 지식베이스 관리",</a:t>
            </a:r>
          </a:p>
          <a:p xmlns:a="http://schemas.openxmlformats.org/drawingml/2006/main">
            <a:r>
              <a:t>        "locator": "SFR-002",</a:t>
            </a:r>
          </a:p>
          <a:p xmlns:a="http://schemas.openxmlformats.org/drawingml/2006/main">
            <a:r>
              <a:t>        "summary": "스팸 관련 지식자료를 등록·정비·활용하는 지식베이스 구성.",</a:t>
            </a:r>
          </a:p>
          <a:p xmlns:a="http://schemas.openxmlformats.org/drawingml/2006/main">
            <a:r>
              <a:t>        "data": "법령·FAQ·업무 자료 → 판본별 검색 근거",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"개정 자료·폐기 자료·상충 FAQ의 승인·갱신 및 검색 제외 결과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"777a548e5cc2d26392428d54f1ec38d4daab521a391239a084a98c967dca9cda"</a:t>
            </a:r>
          </a:p>
          <a:p xmlns:a="http://schemas.openxmlformats.org/drawingml/2006/main">
            <a:r>
              <a:t>      },</a:t>
            </a:r>
          </a:p>
          <a:p xmlns:a="http://schemas.openxmlformats.org/drawingml/2006/main">
            <a:r>
              <a:t>      {</a:t>
            </a:r>
          </a:p>
          <a:p xmlns:a="http://schemas.openxmlformats.org/drawingml/2006/main">
            <a:r>
              <a:t>        "id": "SFR-003",</a:t>
            </a:r>
          </a:p>
          <a:p xmlns:a="http://schemas.openxmlformats.org/drawingml/2006/main">
            <a:r>
              <a:t>        "title": "AI 스팸 챗봇 서비스 모델",</a:t>
            </a:r>
          </a:p>
          <a:p xmlns:a="http://schemas.openxmlformats.org/drawingml/2006/main">
            <a:r>
              <a:t>        "locator": "SFR-003",</a:t>
            </a:r>
          </a:p>
          <a:p xmlns:a="http://schemas.openxmlformats.org/drawingml/2006/main">
            <a:r>
              <a:t>        "summary": "스팸 업무 질의응답을 위한 AI 모델 구성·적용.",</a:t>
            </a:r>
          </a:p>
          <a:p xmlns:a="http://schemas.openxmlformats.org/drawingml/2006/main">
            <a:r>
              <a:t>        "data": "질의·검색 근거 → 답변 후보",</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"C05"</a:t>
            </a:r>
          </a:p>
          <a:p xmlns:a="http://schemas.openxmlformats.org/drawingml/2006/main">
            <a:r>
              <a:t>        ],</a:t>
            </a:r>
          </a:p>
          <a:p xmlns:a="http://schemas.openxmlformats.org/drawingml/2006/main">
            <a:r>
              <a:t>        "acceptance": "근거 없는 법적 단정, 문맥 누락, 질의와 무관한 응답을 업무 정답셋으로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"0a22a75c9aff1f580a391a05ac9dd97d69d7041aaacdeb61d959ac868e268182"</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"AI 스팸 챗봇 서비스 관리자 기능",</a:t>
            </a:r>
          </a:p>
          <a:p xmlns:a="http://schemas.openxmlformats.org/drawingml/2006/main">
            <a:r>
              <a:t>        "locator": "SFR-004",</a:t>
            </a:r>
          </a:p>
          <a:p xmlns:a="http://schemas.openxmlformats.org/drawingml/2006/main">
            <a:r>
              <a:t>        "summary": "관리자의 지식·서비스 관리 기능 제공.",</a:t>
            </a:r>
          </a:p>
          <a:p xmlns:a="http://schemas.openxmlformats.org/drawingml/2006/main">
            <a:r>
              <a:t>        "data": "관리 요청·역할 → 변경 상태·관리 이력",</a:t>
            </a:r>
          </a:p>
          <a:p xmlns:a="http://schemas.openxmlformats.org/drawingml/2006/main">
            <a:r>
              <a:t>        "components": [</a:t>
            </a:r>
          </a:p>
          <a:p xmlns:a="http://schemas.openxmlformats.org/drawingml/2006/main">
            <a:r>
              <a:t>          "C06",</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"지식 수정·게시·삭제의 역할별 허용 범위와 변경 이력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"ce1ed31f57a53d9437e86a03bf98a363804d06301256c43e3043f4bb989b4cf2"</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"AI 스팸 챗봇 서비스 시스템 연계",</a:t>
            </a:r>
          </a:p>
          <a:p xmlns:a="http://schemas.openxmlformats.org/drawingml/2006/main">
            <a:r>
              <a:t>        "locator": "SFR-005",</a:t>
            </a:r>
          </a:p>
          <a:p xmlns:a="http://schemas.openxmlformats.org/drawingml/2006/main">
            <a:r>
              <a:t>        "summary": "기존 업무시스템과 AI 챗봇의 연계 기능.",</a:t>
            </a:r>
          </a:p>
          <a:p xmlns:a="http://schemas.openxmlformats.org/drawingml/2006/main">
            <a:r>
              <a:t>        "data": "업무 문맥·연계 요청 → 조회·안내 결과",</a:t>
            </a:r>
          </a:p>
          <a:p xmlns:a="http://schemas.openxmlformats.org/drawingml/2006/main">
            <a:r>
              <a:t>        "components": [</a:t>
            </a:r>
          </a:p>
          <a:p xmlns:a="http://schemas.openxmlformats.org/drawingml/2006/main">
            <a:r>
              <a:t>          "C07"</a:t>
            </a:r>
          </a:p>
          <a:p xmlns:a="http://schemas.openxmlformats.org/drawingml/2006/main">
            <a:r>
              <a:t>        ],</a:t>
            </a:r>
          </a:p>
          <a:p xmlns:a="http://schemas.openxmlformats.org/drawingml/2006/main">
            <a:r>
              <a:t>        "acceptance": "인증 오류·미존재 데이터·연계 실패 시 비정상 결과의 차단과 안내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"c374e49a08490d67a908b7b7b170dfeb3da38abb43f5b88ec0757c0fa5ca99bd"</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"AI 스팸 챗봇 서비스 운영 관리",</a:t>
            </a:r>
          </a:p>
          <a:p xmlns:a="http://schemas.openxmlformats.org/drawingml/2006/main">
            <a:r>
              <a:t>        "locator": "SFR-006",</a:t>
            </a:r>
          </a:p>
          <a:p xmlns:a="http://schemas.openxmlformats.org/drawingml/2006/main">
            <a:r>
              <a:t>        "summary": "AI 서비스의 운영 상태와 처리 이력을 관리하는 기능.",</a:t>
            </a:r>
          </a:p>
          <a:p xmlns:a="http://schemas.openxmlformats.org/drawingml/2006/main">
            <a:r>
              <a:t>        "data": "이용·오류·운영 설정 → 모니터링·운영 기록",</a:t>
            </a:r>
          </a:p>
          <a:p xmlns:a="http://schemas.openxmlformats.org/drawingml/2006/main">
            <a:r>
              <a:t>        "components": [</a:t>
            </a:r>
          </a:p>
          <a:p xmlns:a="http://schemas.openxmlformats.org/drawingml/2006/main">
            <a:r>
              <a:t>          "C08"</a:t>
            </a:r>
          </a:p>
          <a:p xmlns:a="http://schemas.openxmlformats.org/drawingml/2006/main">
            <a:r>
              <a:t>        ],</a:t>
            </a:r>
          </a:p>
          <a:p xmlns:a="http://schemas.openxmlformats.org/drawingml/2006/main">
            <a:r>
              <a:t>        "acceptance": "장애·오답 접수부터 보정·재시험까지의 처리 상태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"395a971c3bf9980e201f02ac77a12b82db4fe21d2b72114e968d66ade8a04577"</a:t>
            </a:r>
          </a:p>
          <a:p xmlns:a="http://schemas.openxmlformats.org/drawingml/2006/main">
            <a:r>
              <a:t>      },</a:t>
            </a:r>
          </a:p>
          <a:p xmlns:a="http://schemas.openxmlformats.org/drawingml/2006/main">
            <a:r>
              <a:t>      {</a:t>
            </a:r>
          </a:p>
          <a:p xmlns:a="http://schemas.openxmlformats.org/drawingml/2006/main">
            <a:r>
              <a:t>        "id": "QUR-001",</a:t>
            </a:r>
          </a:p>
          <a:p xmlns:a="http://schemas.openxmlformats.org/drawingml/2006/main">
            <a:r>
              <a:t>        "title": "AI 스팸 챗봇 서비스 답변 품질",</a:t>
            </a:r>
          </a:p>
          <a:p xmlns:a="http://schemas.openxmlformats.org/drawingml/2006/main">
            <a:r>
              <a:t>        "locator": "QUR-001",</a:t>
            </a:r>
          </a:p>
          <a:p xmlns:a="http://schemas.openxmlformats.org/drawingml/2006/main">
            <a:r>
              <a:t>        "summary": "답변 품질을 점검하고 개선하는 품질 요구.",</a:t>
            </a:r>
          </a:p>
          <a:p xmlns:a="http://schemas.openxmlformats.org/drawingml/2006/main">
            <a:r>
              <a:t>        "data": "질문·정답·생성 답변 → 품질 판정·개선 기록",</a:t>
            </a:r>
          </a:p>
          <a:p xmlns:a="http://schemas.openxmlformats.org/drawingml/2006/main">
            <a:r>
              <a:t>        "components": [</a:t>
            </a:r>
          </a:p>
          <a:p xmlns:a="http://schemas.openxmlformats.org/drawingml/2006/main">
            <a:r>
              <a:t>          "C05",</a:t>
            </a:r>
          </a:p>
          <a:p xmlns:a="http://schemas.openxmlformats.org/drawingml/2006/main">
            <a:r>
              <a:t>          "C08"</a:t>
            </a:r>
          </a:p>
          <a:p xmlns:a="http://schemas.openxmlformats.org/drawingml/2006/main">
            <a:r>
              <a:t>        ],</a:t>
            </a:r>
          </a:p>
          <a:p xmlns:a="http://schemas.openxmlformats.org/drawingml/2006/main">
            <a:r>
              <a:t>        "acceptance": "업무 질문별 근거 정확성·완전성·일관성 평가와 보정 전후 비교 증빙",</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"0c8005e93cc9209037bfdf5a605228a1bae7e84453afbbd8fc4dd6696d08fb71"</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"홈페이지·앱 질의",</a:t>
            </a:r>
          </a:p>
          <a:p xmlns:a="http://schemas.openxmlformats.org/drawingml/2006/main">
            <a:r>
              <a:t>          "layer": "이용 접점",</a:t>
            </a:r>
          </a:p>
          <a:p xmlns:a="http://schemas.openxmlformats.org/drawingml/2006/main">
            <a:r>
              <a:t>          "detail": "민원인·스팸 정책 담당·평가자",</a:t>
            </a:r>
          </a:p>
          <a:p xmlns:a="http://schemas.openxmlformats.org/drawingml/2006/main">
            <a:r>
              <a:t>          "requirements": [</a:t>
            </a:r>
          </a:p>
          <a:p xmlns:a="http://schemas.openxmlformats.org/drawingml/2006/main">
            <a:r>
              <a:t>            "SFR-001"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"문의·민감정보",</a:t>
            </a:r>
          </a:p>
          <a:p xmlns:a="http://schemas.openxmlformats.org/drawingml/2006/main">
            <a:r>
              <a:t>          "layer": "업무 문맥",</a:t>
            </a:r>
          </a:p>
          <a:p xmlns:a="http://schemas.openxmlformats.org/drawingml/2006/main">
            <a:r>
              <a:t>          "detail": "질의 길이·민감정보·공격 입력 점검",</a:t>
            </a:r>
          </a:p>
          <a:p xmlns:a="http://schemas.openxmlformats.org/drawingml/2006/main">
            <a:r>
              <a:t>          "requirements": [</a:t>
            </a:r>
          </a:p>
          <a:p xmlns:a="http://schemas.openxmlformats.org/drawingml/2006/main">
            <a:r>
              <a:t>            "SFR-001"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"법령 RAG 검색",</a:t>
            </a:r>
          </a:p>
          <a:p xmlns:a="http://schemas.openxmlformats.org/drawingml/2006/main">
            <a:r>
              <a:t>          "layer": "자료 조회",</a:t>
            </a:r>
          </a:p>
          <a:p xmlns:a="http://schemas.openxmlformats.org/drawingml/2006/main">
            <a:r>
              <a:t>          "detail": "질의",</a:t>
            </a:r>
          </a:p>
          <a:p xmlns:a="http://schemas.openxmlformats.org/drawingml/2006/main">
            <a:r>
              <a:t>          "requirements": [</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"외부 생성 AI API",</a:t>
            </a:r>
          </a:p>
          <a:p xmlns:a="http://schemas.openxmlformats.org/drawingml/2006/main">
            <a:r>
              <a:t>          "layer": "핵심 처리",</a:t>
            </a:r>
          </a:p>
          <a:p xmlns:a="http://schemas.openxmlformats.org/drawingml/2006/main">
            <a:r>
              <a:t>          "detail": "외부 생성형 AI API와 RAG 연결",</a:t>
            </a:r>
          </a:p>
          <a:p xmlns:a="http://schemas.openxmlformats.org/drawingml/2006/main">
            <a:r>
              <a:t>          "requirements": [</a:t>
            </a:r>
          </a:p>
          <a:p xmlns:a="http://schemas.openxmlformats.org/drawingml/2006/main">
            <a:r>
              <a:t>            "SFR-001",</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"출처·답변불가 판정",</a:t>
            </a:r>
          </a:p>
          <a:p xmlns:a="http://schemas.openxmlformats.org/drawingml/2006/main">
            <a:r>
              <a:t>          "layer": "결과 검증",</a:t>
            </a:r>
          </a:p>
          <a:p xmlns:a="http://schemas.openxmlformats.org/drawingml/2006/main">
            <a:r>
              <a:t>          "detail": "조문별 정답·근거 없음 거부셋",</a:t>
            </a:r>
          </a:p>
          <a:p xmlns:a="http://schemas.openxmlformats.org/drawingml/2006/main">
            <a:r>
              <a:t>          "requirements": [</a:t>
            </a:r>
          </a:p>
          <a:p xmlns:a="http://schemas.openxmlformats.org/drawingml/2006/main">
            <a:r>
              <a:t>            "SFR-003",</a:t>
            </a:r>
          </a:p>
          <a:p xmlns:a="http://schemas.openxmlformats.org/drawingml/2006/main">
            <a:r>
              <a:t>            "QUR-001"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"민원인·전문가",</a:t>
            </a:r>
          </a:p>
          <a:p xmlns:a="http://schemas.openxmlformats.org/drawingml/2006/main">
            <a:r>
              <a:t>          "layer": "사람 확인",</a:t>
            </a:r>
          </a:p>
          <a:p xmlns:a="http://schemas.openxmlformats.org/drawingml/2006/main">
            <a:r>
              <a:t>          "detail": "스팸 전송 상황을 질문하고 관련 법령·체크리스트 안내",</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"답변·후속 안내",</a:t>
            </a:r>
          </a:p>
          <a:p xmlns:a="http://schemas.openxmlformats.org/drawingml/2006/main">
            <a:r>
              <a:t>          "layer": "업무 연결",</a:t>
            </a:r>
          </a:p>
          <a:p xmlns:a="http://schemas.openxmlformats.org/drawingml/2006/main">
            <a:r>
              <a:t>          "detail": "출처 답변 또는 답변불가 안내 제공",</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"자동·전문가 평가",</a:t>
            </a:r>
          </a:p>
          <a:p xmlns:a="http://schemas.openxmlformats.org/drawingml/2006/main">
            <a:r>
              <a:t>          "layer": "운영 관측",</a:t>
            </a:r>
          </a:p>
          <a:p xmlns:a="http://schemas.openxmlformats.org/drawingml/2006/main">
            <a:r>
              <a:t>          "detail": "자동 평가·전문가 판정·호출량·지연 관리",</a:t>
            </a:r>
          </a:p>
          <a:p xmlns:a="http://schemas.openxmlformats.org/drawingml/2006/main">
            <a:r>
              <a:t>          "requirements": [</a:t>
            </a:r>
          </a:p>
          <a:p xmlns:a="http://schemas.openxmlformats.org/drawingml/2006/main">
            <a:r>
              <a:t>            "SFR-004",</a:t>
            </a:r>
          </a:p>
          <a:p xmlns:a="http://schemas.openxmlformats.org/drawingml/2006/main">
            <a:r>
              <a:t>            "SFR-006",</a:t>
            </a:r>
          </a:p>
          <a:p xmlns:a="http://schemas.openxmlformats.org/drawingml/2006/main">
            <a:r>
              <a:t>            "QUR-001"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"스팸법령·가이드",</a:t>
            </a:r>
          </a:p>
          <a:p xmlns:a="http://schemas.openxmlformats.org/drawingml/2006/main">
            <a:r>
              <a:t>          "layer": "데이터 원천",</a:t>
            </a:r>
          </a:p>
          <a:p xmlns:a="http://schemas.openxmlformats.org/drawingml/2006/main">
            <a:r>
              <a:t>          "detail": "법령·체크리스트",</a:t>
            </a:r>
          </a:p>
          <a:p xmlns:a="http://schemas.openxmlformats.org/drawingml/2006/main">
            <a:r>
              <a:t>          "requirements": [</a:t>
            </a:r>
          </a:p>
          <a:p xmlns:a="http://schemas.openxmlformats.org/drawingml/2006/main">
            <a:r>
              <a:t>            "SFR-002"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"조문·판본 정비",</a:t>
            </a:r>
          </a:p>
          <a:p xmlns:a="http://schemas.openxmlformats.org/drawingml/2006/main">
            <a:r>
              <a:t>          "layer": "준비·갱신",</a:t>
            </a:r>
          </a:p>
          <a:p xmlns:a="http://schemas.openxmlformats.org/drawingml/2006/main">
            <a:r>
              <a:t>          "detail": "법령·가이드·체크리스트의 최신 판본 관리",</a:t>
            </a:r>
          </a:p>
          <a:p xmlns:a="http://schemas.openxmlformats.org/drawingml/2006/main">
            <a:r>
              <a:t>          "requirements": [</a:t>
            </a:r>
          </a:p>
          <a:p xmlns:a="http://schemas.openxmlformats.org/drawingml/2006/main">
            <a:r>
              <a:t>            "SFR-002"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"지식·평가셋",</a:t>
            </a:r>
          </a:p>
          <a:p xmlns:a="http://schemas.openxmlformats.org/drawingml/2006/main">
            <a:r>
              <a:t>          "layer": "상태·지식 저장",</a:t>
            </a:r>
          </a:p>
          <a:p xmlns:a="http://schemas.openxmlformats.org/drawingml/2006/main">
            <a:r>
              <a:t>          "detail": "전문가 정답표·거부셋·최종 RFP 성능조건별 측정",</a:t>
            </a:r>
          </a:p>
          <a:p xmlns:a="http://schemas.openxmlformats.org/drawingml/2006/main">
            <a:r>
              <a:t>          "requirements": [</a:t>
            </a:r>
          </a:p>
          <a:p xmlns:a="http://schemas.openxmlformats.org/drawingml/2006/main">
            <a:r>
              <a:t>            "SFR-002"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"입력·호출·지연 정책",</a:t>
            </a:r>
          </a:p>
          <a:p xmlns:a="http://schemas.openxmlformats.org/drawingml/2006/main">
            <a:r>
              <a:t>          "layer": "권한·정책",</a:t>
            </a:r>
          </a:p>
          <a:p xmlns:a="http://schemas.openxmlformats.org/drawingml/2006/main">
            <a:r>
              <a:t>          "detail": "개정 전 조문·근거 없는 질의·공격 입력·부하 증가",</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"질의 길이·민감정보·공격 입력 점검",</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"질의",</a:t>
            </a:r>
          </a:p>
          <a:p xmlns:a="http://schemas.openxmlformats.org/drawingml/2006/main">
            <a:r>
              <a:t>          "check": "조문별 정답·근거 없음 거부셋"</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"법령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"답변·보류",</a:t>
            </a:r>
          </a:p>
          <a:p xmlns:a="http://schemas.openxmlformats.org/drawingml/2006/main">
            <a:r>
              <a:t>          "check": "개정 전 조문·근거 없는 질의·공격 입력·부하 증가"</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"답변·보류",</a:t>
            </a:r>
          </a:p>
          <a:p xmlns:a="http://schemas.openxmlformats.org/drawingml/2006/main">
            <a:r>
              <a:t>          "check": "출처 답변 또는 답변불가 안내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"전문가 판정",</a:t>
            </a:r>
          </a:p>
          <a:p xmlns:a="http://schemas.openxmlformats.org/drawingml/2006/main">
            <a:r>
              <a:t>          "check": "전문가 정답표·거부셋·최종 RFP 성능조건별 측정"</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"최종 RFP SFR-001~006·QUR-001",</a:t>
            </a:r>
          </a:p>
          <a:p xmlns:a="http://schemas.openxmlformats.org/drawingml/2006/main">
            <a:r>
              <a:t>        "extracted": "외부 생성형 AI API·RAG·출처·답변불가·전문가 평가",</a:t>
            </a:r>
          </a:p>
          <a:p xmlns:a="http://schemas.openxmlformats.org/drawingml/2006/main">
            <a:r>
              <a:t>        "extension": "질의 공격·근거 부재·법령 개정의 독립 시험셋"</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"개정 전 조문·근거 없는 질의·공격 입력·부하 증가",</a:t>
            </a:r>
          </a:p>
          <a:p xmlns:a="http://schemas.openxmlformats.org/drawingml/2006/main">
            <a:r>
              <a:t>        "hold": "조문별 정답·근거 없음 거부셋",</a:t>
            </a:r>
          </a:p>
          <a:p xmlns:a="http://schemas.openxmlformats.org/drawingml/2006/main">
            <a:r>
              <a:t>        "recovery": "자동 평가·전문가 판정·호출량·지연 관리",</a:t>
            </a:r>
          </a:p>
          <a:p xmlns:a="http://schemas.openxmlformats.org/drawingml/2006/main">
            <a:r>
              <a:t>        "evidence": "전문가 정답표·거부셋·최종 RFP 성능조건별 측정"</a:t>
            </a:r>
          </a:p>
          <a:p xmlns:a="http://schemas.openxmlformats.org/drawingml/2006/main">
            <a:r>
              <a:t>      },</a:t>
            </a:r>
          </a:p>
          <a:p xmlns:a="http://schemas.openxmlformats.org/drawingml/2006/main">
            <a:r>
              <a:t>      "data": {</a:t>
            </a:r>
          </a:p>
          <a:p xmlns:a="http://schemas.openxmlformats.org/drawingml/2006/main">
            <a:r>
              <a:t>        "source": "법령·체크리스트",</a:t>
            </a:r>
          </a:p>
          <a:p xmlns:a="http://schemas.openxmlformats.org/drawingml/2006/main">
            <a:r>
              <a:t>        "prepare": "법령·가이드·체크리스트의 최신 판본 관리",</a:t>
            </a:r>
          </a:p>
          <a:p xmlns:a="http://schemas.openxmlformats.org/drawingml/2006/main">
            <a:r>
              <a:t>        "output": "질의",</a:t>
            </a:r>
          </a:p>
          <a:p xmlns:a="http://schemas.openxmlformats.org/drawingml/2006/main">
            <a:r>
              <a:t>        "refresh": "자동 평가·전문가 판정·호출량·지연 관리"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"PF-R07",</a:t>
            </a:r>
          </a:p>
          <a:p xmlns:a="http://schemas.openxmlformats.org/drawingml/2006/main">
            <a:r>
              <a:t>    "success": [</a:t>
            </a:r>
          </a:p>
          <a:p xmlns:a="http://schemas.openxmlformats.org/drawingml/2006/main">
            <a:r>
              <a:t>      "법령·체크리스트의 RAG 연결",</a:t>
            </a:r>
          </a:p>
          <a:p xmlns:a="http://schemas.openxmlformats.org/drawingml/2006/main">
            <a:r>
              <a:t>      "출처·보류·전문가 평가 요구"</a:t>
            </a:r>
          </a:p>
          <a:p xmlns:a="http://schemas.openxmlformats.org/drawingml/2006/main">
            <a:r>
              <a:t>    ],</a:t>
            </a:r>
          </a:p>
          <a:p xmlns:a="http://schemas.openxmlformats.org/drawingml/2006/main">
            <a:r>
              <a:t>    "risks": [</a:t>
            </a:r>
          </a:p>
          <a:p xmlns:a="http://schemas.openxmlformats.org/drawingml/2006/main">
            <a:r>
              <a:t>      "구버전 법령·상충 답변",</a:t>
            </a:r>
          </a:p>
          <a:p xmlns:a="http://schemas.openxmlformats.org/drawingml/2006/main">
            <a:r>
              <a:t>      "입찰 요구를 구현 기능으로 인식"</a:t>
            </a:r>
          </a:p>
          <a:p xmlns:a="http://schemas.openxmlformats.org/drawingml/2006/main">
            <a:r>
              <a:t>    ],</a:t>
            </a:r>
          </a:p>
          <a:p xmlns:a="http://schemas.openxmlformats.org/drawingml/2006/main">
            <a:r>
              <a:t>    "architecture": [</a:t>
            </a:r>
          </a:p>
          <a:p xmlns:a="http://schemas.openxmlformats.org/drawingml/2006/main">
            <a:r>
              <a:t>      "스팸 민원 질의",</a:t>
            </a:r>
          </a:p>
          <a:p xmlns:a="http://schemas.openxmlformats.org/drawingml/2006/main">
            <a:r>
              <a:t>      "외부 AI·RAG",</a:t>
            </a:r>
          </a:p>
          <a:p xmlns:a="http://schemas.openxmlformats.org/drawingml/2006/main">
            <a:r>
              <a:t>      "법령·체크리스트",</a:t>
            </a:r>
          </a:p>
          <a:p xmlns:a="http://schemas.openxmlformats.org/drawingml/2006/main">
            <a:r>
              <a:t>      "민원·평가 담당"</a:t>
            </a:r>
          </a:p>
          <a:p xmlns:a="http://schemas.openxmlformats.org/drawingml/2006/main">
            <a:r>
              <a:t>    ],</a:t>
            </a:r>
          </a:p>
          <a:p xmlns:a="http://schemas.openxmlformats.org/drawingml/2006/main">
            <a:r>
              <a:t>    "transfers": [</a:t>
            </a:r>
          </a:p>
          <a:p xmlns:a="http://schemas.openxmlformats.org/drawingml/2006/main">
            <a:r>
              <a:t>      "질의",</a:t>
            </a:r>
          </a:p>
          <a:p xmlns:a="http://schemas.openxmlformats.org/drawingml/2006/main">
            <a:r>
              <a:t>      "법령 근거",</a:t>
            </a:r>
          </a:p>
          <a:p xmlns:a="http://schemas.openxmlformats.org/drawingml/2006/main">
            <a:r>
              <a:t>      "답변·보류",</a:t>
            </a:r>
          </a:p>
          <a:p xmlns:a="http://schemas.openxmlformats.org/drawingml/2006/main">
            <a:r>
              <a:t>      "전문가 판정"</a:t>
            </a:r>
          </a:p>
          <a:p xmlns:a="http://schemas.openxmlformats.org/drawingml/2006/main">
            <a:r>
              <a:t>    ],</a:t>
            </a:r>
          </a:p>
          <a:p xmlns:a="http://schemas.openxmlformats.org/drawingml/2006/main">
            <a:r>
              <a:t>    "control": "조문별 정답·근거 없음 거부셋",</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SFR-001~006, PER-001·004, QUR-001 / Word T080 https://www.kisa.kr/post/fileDownload?menuSeq=403&amp;postSeq=10891&amp;attachSeq=2&amp;lang_type=KO</a:t>
            </a:r>
          </a:p>
          <a:p xmlns:a="http://schemas.openxmlformats.org/drawingml/2006/main">
            <a:r>
              <a:t>홈페이지 https://heen1987-ops.github.io/TS-business-Plan-001/index.html?view=platform-cases&amp;case=PF-R07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"PF-R07",</a:t>
            </a:r>
          </a:p>
          <a:p xmlns:a="http://schemas.openxmlformats.org/drawingml/2006/main">
            <a:r>
              <a:t>    "sourceId": "R07",</a:t>
            </a:r>
          </a:p>
          <a:p xmlns:a="http://schemas.openxmlformats.org/drawingml/2006/main">
            <a:r>
              <a:t>    "title": "KISA 스팸 민원 AI",</a:t>
            </a:r>
          </a:p>
          <a:p xmlns:a="http://schemas.openxmlformats.org/drawingml/2006/main">
            <a:r>
              <a:t>    "region": "국내",</a:t>
            </a:r>
          </a:p>
          <a:p xmlns:a="http://schemas.openxmlformats.org/drawingml/2006/main">
            <a:r>
              <a:t>    "owner": "한국인터넷진흥원(KISA)",</a:t>
            </a:r>
          </a:p>
          <a:p xmlns:a="http://schemas.openxmlformats.org/drawingml/2006/main">
            <a:r>
              <a:t>    "state": "2026-10-14 본공고·최종 첨부 확인 / 입찰 진행",</a:t>
            </a:r>
          </a:p>
          <a:p xmlns:a="http://schemas.openxmlformats.org/drawingml/2006/main">
            <a:r>
              <a:t>    "period": "기존 원장 확인 2026.10.16",</a:t>
            </a:r>
          </a:p>
          <a:p xmlns:a="http://schemas.openxmlformats.org/drawingml/2006/main">
            <a:r>
              <a:t>    "fact": "스팸 법령·자율규제 민원 챗봇과 지식·체크리스트 관리",</a:t>
            </a:r>
          </a:p>
          <a:p xmlns:a="http://schemas.openxmlformats.org/drawingml/2006/main">
            <a:r>
              <a:t>    "limit": "사전본 동시300명→본공고100명. 오픈소스 모델/라이브러리 문구→외부 생성형AI API+RAG 방식",</a:t>
            </a:r>
          </a:p>
          <a:p xmlns:a="http://schemas.openxmlformats.org/drawingml/2006/main">
            <a:r>
              <a:t>    "nodes": [</a:t>
            </a:r>
          </a:p>
          <a:p xmlns:a="http://schemas.openxmlformats.org/drawingml/2006/main">
            <a:r>
              <a:t>      "법령·지식",</a:t>
            </a:r>
          </a:p>
          <a:p xmlns:a="http://schemas.openxmlformats.org/drawingml/2006/main">
            <a:r>
              <a:t>      "외부 AI·RAG",</a:t>
            </a:r>
          </a:p>
          <a:p xmlns:a="http://schemas.openxmlformats.org/drawingml/2006/main">
            <a:r>
              <a:t>      "출처·답변 보류",</a:t>
            </a:r>
          </a:p>
          <a:p xmlns:a="http://schemas.openxmlformats.org/drawingml/2006/main">
            <a:r>
              <a:t>      "전문가 평가"</a:t>
            </a:r>
          </a:p>
          <a:p xmlns:a="http://schemas.openxmlformats.org/drawingml/2006/main">
            <a:r>
              <a:t>    ],</a:t>
            </a:r>
          </a:p>
          <a:p xmlns:a="http://schemas.openxmlformats.org/drawingml/2006/main">
            <a:r>
              <a:t>    "apply": "민원 답변의 법령 근거·보류 조건·전문가 평가를 운영 기준으로 관리",</a:t>
            </a:r>
          </a:p>
          <a:p xmlns:a="http://schemas.openxmlformats.org/drawingml/2006/main">
            <a:r>
              <a:t>    "delta": "법령·체크리스트 판본 / 응답 보류 / 전문가 정답셋·부하 시험",</a:t>
            </a:r>
          </a:p>
          <a:p xmlns:a="http://schemas.openxmlformats.org/drawingml/2006/main">
            <a:r>
              <a:t>    "test": "개정 조문·근거 부재·공격 입력·동시 요청의 품질·성능 대조",</a:t>
            </a:r>
          </a:p>
          <a:p xmlns:a="http://schemas.openxmlformats.org/drawingml/2006/main">
            <a:r>
              <a:t>    "url": "https://www.kisa.kr/post/fileDownload?menuSeq=403&amp;postSeq=10891&amp;attachSeq=2&amp;lang_type=KO",</a:t>
            </a:r>
          </a:p>
          <a:p xmlns:a="http://schemas.openxmlformats.org/drawingml/2006/main">
            <a:r>
              <a:t>    "urls": [</a:t>
            </a:r>
          </a:p>
          <a:p xmlns:a="http://schemas.openxmlformats.org/drawingml/2006/main">
            <a:r>
              <a:t>      "https://www.kisa.kr/post/fileDownload?menuSeq=403&amp;postSeq=10891&amp;attachSeq=2&amp;lang_type=KO",</a:t>
            </a:r>
          </a:p>
          <a:p xmlns:a="http://schemas.openxmlformats.org/drawingml/2006/main">
            <a:r>
              <a:t>      "https://www.kisa.kr/403/form?postSeq=10891"</a:t>
            </a:r>
          </a:p>
          <a:p xmlns:a="http://schemas.openxmlformats.org/drawingml/2006/main">
            <a:r>
              <a:t>    ],</a:t>
            </a:r>
          </a:p>
          <a:p xmlns:a="http://schemas.openxmlformats.org/drawingml/2006/main">
            <a:r>
              <a:t>    "basis": "SFR-001~006, PER-001·004, QUR-001 / Word T080",</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"근거 정답률 / 보류 적정률 / 응답시간·오류율",</a:t>
            </a:r>
          </a:p>
          <a:p xmlns:a="http://schemas.openxmlformats.org/drawingml/2006/main">
            <a:r>
              <a:t>    "group": "요구·구축",</a:t>
            </a:r>
          </a:p>
          <a:p xmlns:a="http://schemas.openxmlformats.org/drawingml/2006/main">
            <a:r>
              <a:t>    "sourceDetail": "외부 생성형 AI API+RAG, 홈페이지/앱 연계, 출처·최신성·답변불가 안내, 자동/전문가 평가",</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"PF-R07",</a:t>
            </a:r>
          </a:p>
          <a:p xmlns:a="http://schemas.openxmlformats.org/drawingml/2006/main">
            <a:r>
              <a:t>    "canonicalId": "PF-R07",</a:t>
            </a:r>
          </a:p>
          <a:p xmlns:a="http://schemas.openxmlformats.org/drawingml/2006/main">
            <a:r>
              <a:t>    "purpose": "스팸 법령과 체크리스트의 민원 응답",</a:t>
            </a:r>
          </a:p>
          <a:p xmlns:a="http://schemas.openxmlformats.org/drawingml/2006/main">
            <a:r>
              <a:t>    "users": "민원인·스팸 정책 담당·평가자",</a:t>
            </a:r>
          </a:p>
          <a:p xmlns:a="http://schemas.openxmlformats.org/drawingml/2006/main">
            <a:r>
              <a:t>    "scope": [</a:t>
            </a:r>
          </a:p>
          <a:p xmlns:a="http://schemas.openxmlformats.org/drawingml/2006/main">
            <a:r>
              <a:t>      "홈페이지·앱",</a:t>
            </a:r>
          </a:p>
          <a:p xmlns:a="http://schemas.openxmlformats.org/drawingml/2006/main">
            <a:r>
              <a:t>      "지식 질의",</a:t>
            </a:r>
          </a:p>
          <a:p xmlns:a="http://schemas.openxmlformats.org/drawingml/2006/main">
            <a:r>
              <a:t>      "전문가 평가"</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"스팸 민원 질의",</a:t>
            </a:r>
          </a:p>
          <a:p xmlns:a="http://schemas.openxmlformats.org/drawingml/2006/main">
            <a:r>
              <a:t>        "detail": "질의 길이·민감정보·공격 입력 점검",</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"홈페이지·앱 / 지식 질의 / 전문가 평가",</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"외부 AI·RAG",</a:t>
            </a:r>
          </a:p>
          <a:p xmlns:a="http://schemas.openxmlformats.org/drawingml/2006/main">
            <a:r>
              <a:t>        "detail": "외부 생성형 AI API와 RAG 연결",</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"민원·평가 담당",</a:t>
            </a:r>
          </a:p>
          <a:p xmlns:a="http://schemas.openxmlformats.org/drawingml/2006/main">
            <a:r>
              <a:t>        "detail": "출처 답변 또는 답변불가 안내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"법령·체크리스트",</a:t>
            </a:r>
          </a:p>
          <a:p xmlns:a="http://schemas.openxmlformats.org/drawingml/2006/main">
            <a:r>
              <a:t>        "detail": "법령·가이드·체크리스트의 최신 판본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"자동 평가·전문가 판정·호출량·지연 관리",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"법령·지식",</a:t>
            </a:r>
          </a:p>
          <a:p xmlns:a="http://schemas.openxmlformats.org/drawingml/2006/main">
            <a:r>
              <a:t>        "input": "질의 길이·민감정보·공격 입력 점검",</a:t>
            </a:r>
          </a:p>
          <a:p xmlns:a="http://schemas.openxmlformats.org/drawingml/2006/main">
            <a:r>
              <a:t>        "process": "법령·가이드·체크리스트의 최신 판본 관리",</a:t>
            </a:r>
          </a:p>
          <a:p xmlns:a="http://schemas.openxmlformats.org/drawingml/2006/main">
            <a:r>
              <a:t>        "output": "질의"</a:t>
            </a:r>
          </a:p>
          <a:p xmlns:a="http://schemas.openxmlformats.org/drawingml/2006/main">
            <a:r>
              <a:t>      },</a:t>
            </a:r>
          </a:p>
          <a:p xmlns:a="http://schemas.openxmlformats.org/drawingml/2006/main">
            <a:r>
              <a:t>      {</a:t>
            </a:r>
          </a:p>
          <a:p xmlns:a="http://schemas.openxmlformats.org/drawingml/2006/main">
            <a:r>
              <a:t>        "title": "외부 AI·RAG",</a:t>
            </a:r>
          </a:p>
          <a:p xmlns:a="http://schemas.openxmlformats.org/drawingml/2006/main">
            <a:r>
              <a:t>        "input": "질의",</a:t>
            </a:r>
          </a:p>
          <a:p xmlns:a="http://schemas.openxmlformats.org/drawingml/2006/main">
            <a:r>
              <a:t>        "process": "외부 생성형 AI API와 RAG 연결",</a:t>
            </a:r>
          </a:p>
          <a:p xmlns:a="http://schemas.openxmlformats.org/drawingml/2006/main">
            <a:r>
              <a:t>        "output": "법령 근거"</a:t>
            </a:r>
          </a:p>
          <a:p xmlns:a="http://schemas.openxmlformats.org/drawingml/2006/main">
            <a:r>
              <a:t>      },</a:t>
            </a:r>
          </a:p>
          <a:p xmlns:a="http://schemas.openxmlformats.org/drawingml/2006/main">
            <a:r>
              <a:t>      {</a:t>
            </a:r>
          </a:p>
          <a:p xmlns:a="http://schemas.openxmlformats.org/drawingml/2006/main">
            <a:r>
              <a:t>        "title": "출처·답변 보류",</a:t>
            </a:r>
          </a:p>
          <a:p xmlns:a="http://schemas.openxmlformats.org/drawingml/2006/main">
            <a:r>
              <a:t>        "input": "법령 근거",</a:t>
            </a:r>
          </a:p>
          <a:p xmlns:a="http://schemas.openxmlformats.org/drawingml/2006/main">
            <a:r>
              <a:t>        "process": "조문별 정답·근거 없음 거부셋",</a:t>
            </a:r>
          </a:p>
          <a:p xmlns:a="http://schemas.openxmlformats.org/drawingml/2006/main">
            <a:r>
              <a:t>        "output": "답변·보류"</a:t>
            </a:r>
          </a:p>
          <a:p xmlns:a="http://schemas.openxmlformats.org/drawingml/2006/main">
            <a:r>
              <a:t>      },</a:t>
            </a:r>
          </a:p>
          <a:p xmlns:a="http://schemas.openxmlformats.org/drawingml/2006/main">
            <a:r>
              <a:t>      {</a:t>
            </a:r>
          </a:p>
          <a:p xmlns:a="http://schemas.openxmlformats.org/drawingml/2006/main">
            <a:r>
              <a:t>        "title": "전문가 평가",</a:t>
            </a:r>
          </a:p>
          <a:p xmlns:a="http://schemas.openxmlformats.org/drawingml/2006/main">
            <a:r>
              <a:t>        "input": "답변·보류",</a:t>
            </a:r>
          </a:p>
          <a:p xmlns:a="http://schemas.openxmlformats.org/drawingml/2006/main">
            <a:r>
              <a:t>        "process": "출처 답변 또는 답변불가 안내 제공",</a:t>
            </a:r>
          </a:p>
          <a:p xmlns:a="http://schemas.openxmlformats.org/drawingml/2006/main">
            <a:r>
              <a:t>        "output": "전문가 판정"</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"스팸 전송 상황을 질문하고 관련 법령·체크리스트 안내",</a:t>
            </a:r>
          </a:p>
          <a:p xmlns:a="http://schemas.openxmlformats.org/drawingml/2006/main">
            <a:r>
              <a:t>      "exception": "개정 전 조문·근거 없는 질의·공격 입력·부하 증가",</a:t>
            </a:r>
          </a:p>
          <a:p xmlns:a="http://schemas.openxmlformats.org/drawingml/2006/main">
            <a:r>
              <a:t>      "evidence": "전문가 정답표·거부셋·최종 RFP 성능조건별 측정",</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"민원인·스팸 정책 담당·평가자",</a:t>
            </a:r>
          </a:p>
          <a:p xmlns:a="http://schemas.openxmlformats.org/drawingml/2006/main">
            <a:r>
              <a:t>          "processing": "질의 길이·민감정보·공격 입력 점검",</a:t>
            </a:r>
          </a:p>
          <a:p xmlns:a="http://schemas.openxmlformats.org/drawingml/2006/main">
            <a:r>
              <a:t>          "output": "질의"</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"법령·체크리스트",</a:t>
            </a:r>
          </a:p>
          <a:p xmlns:a="http://schemas.openxmlformats.org/drawingml/2006/main">
            <a:r>
              <a:t>          "processing": "법령·가이드·체크리스트의 최신 판본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"질의",</a:t>
            </a:r>
          </a:p>
          <a:p xmlns:a="http://schemas.openxmlformats.org/drawingml/2006/main">
            <a:r>
              <a:t>          "processing": "외부 생성형 AI API와 RAG 연결",</a:t>
            </a:r>
          </a:p>
          <a:p xmlns:a="http://schemas.openxmlformats.org/drawingml/2006/main">
            <a:r>
              <a:t>          "output": "답변·보류"</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"답변·보류",</a:t>
            </a:r>
          </a:p>
          <a:p xmlns:a="http://schemas.openxmlformats.org/drawingml/2006/main">
            <a:r>
              <a:t>          "processing": "출처 답변 또는 답변불가 안내 제공",</a:t>
            </a:r>
          </a:p>
          <a:p xmlns:a="http://schemas.openxmlformats.org/drawingml/2006/main">
            <a:r>
              <a:t>          "output": "전문가 판정"</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"자동 평가·전문가 판정·호출량·지연 관리",</a:t>
            </a:r>
          </a:p>
          <a:p xmlns:a="http://schemas.openxmlformats.org/drawingml/2006/main">
            <a:r>
              <a:t>          "output": "전문가 정답표·거부셋·최종 RFP 성능조건별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"자동 평가·전문가 판정·호출량·지연 관리",</a:t>
            </a:r>
          </a:p>
          <a:p xmlns:a="http://schemas.openxmlformats.org/drawingml/2006/main">
            <a:r>
              <a:t>    "status": "RFP 기반 논리 설계",</a:t>
            </a:r>
          </a:p>
          <a:p xmlns:a="http://schemas.openxmlformats.org/drawingml/2006/main">
            <a:r>
              <a:t>    "basis": "최종 RFP 2026.10.14 · SFR-001~006·PER-001·004·QUR-001",</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"SFR-001~006, PER-001·004, QUR-001 / Word T080",</a:t>
            </a:r>
          </a:p>
          <a:p xmlns:a="http://schemas.openxmlformats.org/drawingml/2006/main">
            <a:r>
              <a:t>        "url": "https://www.kisa.kr/post/fileDownload?menuSeq=403&amp;postSeq=10891&amp;attachSeq=2&amp;lang_type=KO"</a:t>
            </a:r>
          </a:p>
          <a:p xmlns:a="http://schemas.openxmlformats.org/drawingml/2006/main">
            <a:r>
              <a:t>      }</a:t>
            </a:r>
          </a:p>
          <a:p xmlns:a="http://schemas.openxmlformats.org/drawingml/2006/main">
            <a:r>
              <a:t>    ],</a:t>
            </a:r>
          </a:p>
          <a:p xmlns:a="http://schemas.openxmlformats.org/drawingml/2006/main">
            <a:r>
              <a:t>    "implication": "민원 답변의 법령 근거·보류 조건·전문가 평가를 운영 기준으로 관리",</a:t>
            </a:r>
          </a:p>
          <a:p xmlns:a="http://schemas.openxmlformats.org/drawingml/2006/main">
            <a:r>
              <a:t>    "local": "민원 답변의 법령 근거·보류 조건·전문가 평가를 운영 기준으로 관리",</a:t>
            </a:r>
          </a:p>
          <a:p xmlns:a="http://schemas.openxmlformats.org/drawingml/2006/main">
            <a:r>
              <a:t>    "sourceDetail": "외부 생성형 AI API+RAG, 홈페이지/앱 연계, 출처·최신성·답변불가 안내, 자동/전문가 평가",</a:t>
            </a:r>
          </a:p>
          <a:p xmlns:a="http://schemas.openxmlformats.org/drawingml/2006/main">
            <a:r>
              <a:t>    "narrative": [</a:t>
            </a:r>
          </a:p>
          <a:p xmlns:a="http://schemas.openxmlformats.org/drawingml/2006/main">
            <a:r>
              <a:t>      "스팸 관련 법령·가이드·체크리스트를 국민의 질문에 연결하는 대민 AI 상담 구축. 홈페이지·앱 접점과 지식베이스·외부 생성형 AI API·관리자·운영 기능을 함께 요구하는 사업.",</a:t>
            </a:r>
          </a:p>
          <a:p xmlns:a="http://schemas.openxmlformats.org/drawingml/2006/main">
            <a:r>
              <a:t>      "질의 입력 점검 후 최신 법령 근거를 검색하고 외부 AI API로 답변을 생성하는 구조. 검색·답변 단계에서 출처와 답변불가 처리를 분리하고, 자동 평가와 전문가 검토를 운영 과정에 결합하는 설계. 최종 RFP 판본의 성능·품질 요구를 기준으로 비교.",</a:t>
            </a:r>
          </a:p>
          <a:p xmlns:a="http://schemas.openxmlformats.org/drawingml/2006/main">
            <a:r>
              <a:t>      "규정 검색 성공이 적절한 민원 안내를 보장하지 않는 점을 검수에 반영할 필요. 법령 개정, 유사 조문, 근거 없는 질문, 공격성 입력을 구분한 시험셋과 전문가 판정의 연결. TS 안내 서비스에 적용할 경우 법정 판단·신청 처리는 해당 업무 시스템과 담당자의 책임으로 연결."</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"SFR-001",</a:t>
            </a:r>
          </a:p>
          <a:p xmlns:a="http://schemas.openxmlformats.org/drawingml/2006/main">
            <a:r>
              <a:t>        "title": "AI 스팸 챗봇 서비스 구축",</a:t>
            </a:r>
          </a:p>
          <a:p xmlns:a="http://schemas.openxmlformats.org/drawingml/2006/main">
            <a:r>
              <a:t>        "locator": "SFR-001",</a:t>
            </a:r>
          </a:p>
          <a:p xmlns:a="http://schemas.openxmlformats.org/drawingml/2006/main">
            <a:r>
              <a:t>        "summary": "스팸 관련 법령·업무 문의에 대응하는 AI 챗봇 구축.",</a:t>
            </a:r>
          </a:p>
          <a:p xmlns:a="http://schemas.openxmlformats.org/drawingml/2006/main">
            <a:r>
              <a:t>        "data": "국민·사업자 문의 → 안내 응답·업무 경로",</a:t>
            </a:r>
          </a:p>
          <a:p xmlns:a="http://schemas.openxmlformats.org/drawingml/2006/main">
            <a:r>
              <a:t>        "components": [</a:t>
            </a:r>
          </a:p>
          <a:p xmlns:a="http://schemas.openxmlformats.org/drawingml/2006/main">
            <a:r>
              <a:t>          "C01",</a:t>
            </a:r>
          </a:p>
          <a:p xmlns:a="http://schemas.openxmlformats.org/drawingml/2006/main">
            <a:r>
              <a:t>          "C02",</a:t>
            </a:r>
          </a:p>
          <a:p xmlns:a="http://schemas.openxmlformats.org/drawingml/2006/main">
            <a:r>
              <a:t>          "C04"</a:t>
            </a:r>
          </a:p>
          <a:p xmlns:a="http://schemas.openxmlformats.org/drawingml/2006/main">
            <a:r>
              <a:t>        ],</a:t>
            </a:r>
          </a:p>
          <a:p xmlns:a="http://schemas.openxmlformats.org/drawingml/2006/main">
            <a:r>
              <a:t>        "acceptance": "법령 설명·신고 절차·예외 사유 질문을 구분해 올바른 안내 경로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"4c540036c514c5823d4ed4b29b16b7d44b65a0178ba371f0c4ba9d06306df6e9"</a:t>
            </a:r>
          </a:p>
          <a:p xmlns:a="http://schemas.openxmlformats.org/drawingml/2006/main">
            <a:r>
              <a:t>      },</a:t>
            </a:r>
          </a:p>
          <a:p xmlns:a="http://schemas.openxmlformats.org/drawingml/2006/main">
            <a:r>
              <a:t>      {</a:t>
            </a:r>
          </a:p>
          <a:p xmlns:a="http://schemas.openxmlformats.org/drawingml/2006/main">
            <a:r>
              <a:t>        "id": "SFR-002",</a:t>
            </a:r>
          </a:p>
          <a:p xmlns:a="http://schemas.openxmlformats.org/drawingml/2006/main">
            <a:r>
              <a:t>        "title": "AI 스팸 챗봇 서비스 지식베이스 관리",</a:t>
            </a:r>
          </a:p>
          <a:p xmlns:a="http://schemas.openxmlformats.org/drawingml/2006/main">
            <a:r>
              <a:t>        "locator": "SFR-002",</a:t>
            </a:r>
          </a:p>
          <a:p xmlns:a="http://schemas.openxmlformats.org/drawingml/2006/main">
            <a:r>
              <a:t>        "summary": "스팸 관련 지식자료를 등록·정비·활용하는 지식베이스 구성.",</a:t>
            </a:r>
          </a:p>
          <a:p xmlns:a="http://schemas.openxmlformats.org/drawingml/2006/main">
            <a:r>
              <a:t>        "data": "법령·FAQ·업무 자료 → 판본별 검색 근거",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"개정 자료·폐기 자료·상충 FAQ의 승인·갱신 및 검색 제외 결과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"777a548e5cc2d26392428d54f1ec38d4daab521a391239a084a98c967dca9cda"</a:t>
            </a:r>
          </a:p>
          <a:p xmlns:a="http://schemas.openxmlformats.org/drawingml/2006/main">
            <a:r>
              <a:t>      },</a:t>
            </a:r>
          </a:p>
          <a:p xmlns:a="http://schemas.openxmlformats.org/drawingml/2006/main">
            <a:r>
              <a:t>      {</a:t>
            </a:r>
          </a:p>
          <a:p xmlns:a="http://schemas.openxmlformats.org/drawingml/2006/main">
            <a:r>
              <a:t>        "id": "SFR-003",</a:t>
            </a:r>
          </a:p>
          <a:p xmlns:a="http://schemas.openxmlformats.org/drawingml/2006/main">
            <a:r>
              <a:t>        "title": "AI 스팸 챗봇 서비스 모델",</a:t>
            </a:r>
          </a:p>
          <a:p xmlns:a="http://schemas.openxmlformats.org/drawingml/2006/main">
            <a:r>
              <a:t>        "locator": "SFR-003",</a:t>
            </a:r>
          </a:p>
          <a:p xmlns:a="http://schemas.openxmlformats.org/drawingml/2006/main">
            <a:r>
              <a:t>        "summary": "스팸 업무 질의응답을 위한 AI 모델 구성·적용.",</a:t>
            </a:r>
          </a:p>
          <a:p xmlns:a="http://schemas.openxmlformats.org/drawingml/2006/main">
            <a:r>
              <a:t>        "data": "질의·검색 근거 → 답변 후보",</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"C05"</a:t>
            </a:r>
          </a:p>
          <a:p xmlns:a="http://schemas.openxmlformats.org/drawingml/2006/main">
            <a:r>
              <a:t>        ],</a:t>
            </a:r>
          </a:p>
          <a:p xmlns:a="http://schemas.openxmlformats.org/drawingml/2006/main">
            <a:r>
              <a:t>        "acceptance": "근거 없는 법적 단정, 문맥 누락, 질의와 무관한 응답을 업무 정답셋으로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"0a22a75c9aff1f580a391a05ac9dd97d69d7041aaacdeb61d959ac868e268182"</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"AI 스팸 챗봇 서비스 관리자 기능",</a:t>
            </a:r>
          </a:p>
          <a:p xmlns:a="http://schemas.openxmlformats.org/drawingml/2006/main">
            <a:r>
              <a:t>        "locator": "SFR-004",</a:t>
            </a:r>
          </a:p>
          <a:p xmlns:a="http://schemas.openxmlformats.org/drawingml/2006/main">
            <a:r>
              <a:t>        "summary": "관리자의 지식·서비스 관리 기능 제공.",</a:t>
            </a:r>
          </a:p>
          <a:p xmlns:a="http://schemas.openxmlformats.org/drawingml/2006/main">
            <a:r>
              <a:t>        "data": "관리 요청·역할 → 변경 상태·관리 이력",</a:t>
            </a:r>
          </a:p>
          <a:p xmlns:a="http://schemas.openxmlformats.org/drawingml/2006/main">
            <a:r>
              <a:t>        "components": [</a:t>
            </a:r>
          </a:p>
          <a:p xmlns:a="http://schemas.openxmlformats.org/drawingml/2006/main">
            <a:r>
              <a:t>          "C06",</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"지식 수정·게시·삭제의 역할별 허용 범위와 변경 이력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"ce1ed31f57a53d9437e86a03bf98a363804d06301256c43e3043f4bb989b4cf2"</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"AI 스팸 챗봇 서비스 시스템 연계",</a:t>
            </a:r>
          </a:p>
          <a:p xmlns:a="http://schemas.openxmlformats.org/drawingml/2006/main">
            <a:r>
              <a:t>        "locator": "SFR-005",</a:t>
            </a:r>
          </a:p>
          <a:p xmlns:a="http://schemas.openxmlformats.org/drawingml/2006/main">
            <a:r>
              <a:t>        "summary": "기존 업무시스템과 AI 챗봇의 연계 기능.",</a:t>
            </a:r>
          </a:p>
          <a:p xmlns:a="http://schemas.openxmlformats.org/drawingml/2006/main">
            <a:r>
              <a:t>        "data": "업무 문맥·연계 요청 → 조회·안내 결과",</a:t>
            </a:r>
          </a:p>
          <a:p xmlns:a="http://schemas.openxmlformats.org/drawingml/2006/main">
            <a:r>
              <a:t>        "components": [</a:t>
            </a:r>
          </a:p>
          <a:p xmlns:a="http://schemas.openxmlformats.org/drawingml/2006/main">
            <a:r>
              <a:t>          "C07"</a:t>
            </a:r>
          </a:p>
          <a:p xmlns:a="http://schemas.openxmlformats.org/drawingml/2006/main">
            <a:r>
              <a:t>        ],</a:t>
            </a:r>
          </a:p>
          <a:p xmlns:a="http://schemas.openxmlformats.org/drawingml/2006/main">
            <a:r>
              <a:t>        "acceptance": "인증 오류·미존재 데이터·연계 실패 시 비정상 결과의 차단과 안내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"c374e49a08490d67a908b7b7b170dfeb3da38abb43f5b88ec0757c0fa5ca99bd"</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"AI 스팸 챗봇 서비스 운영 관리",</a:t>
            </a:r>
          </a:p>
          <a:p xmlns:a="http://schemas.openxmlformats.org/drawingml/2006/main">
            <a:r>
              <a:t>        "locator": "SFR-006",</a:t>
            </a:r>
          </a:p>
          <a:p xmlns:a="http://schemas.openxmlformats.org/drawingml/2006/main">
            <a:r>
              <a:t>        "summary": "AI 서비스의 운영 상태와 처리 이력을 관리하는 기능.",</a:t>
            </a:r>
          </a:p>
          <a:p xmlns:a="http://schemas.openxmlformats.org/drawingml/2006/main">
            <a:r>
              <a:t>        "data": "이용·오류·운영 설정 → 모니터링·운영 기록",</a:t>
            </a:r>
          </a:p>
          <a:p xmlns:a="http://schemas.openxmlformats.org/drawingml/2006/main">
            <a:r>
              <a:t>        "components": [</a:t>
            </a:r>
          </a:p>
          <a:p xmlns:a="http://schemas.openxmlformats.org/drawingml/2006/main">
            <a:r>
              <a:t>          "C08"</a:t>
            </a:r>
          </a:p>
          <a:p xmlns:a="http://schemas.openxmlformats.org/drawingml/2006/main">
            <a:r>
              <a:t>        ],</a:t>
            </a:r>
          </a:p>
          <a:p xmlns:a="http://schemas.openxmlformats.org/drawingml/2006/main">
            <a:r>
              <a:t>        "acceptance": "장애·오답 접수부터 보정·재시험까지의 처리 상태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"395a971c3bf9980e201f02ac77a12b82db4fe21d2b72114e968d66ade8a04577"</a:t>
            </a:r>
          </a:p>
          <a:p xmlns:a="http://schemas.openxmlformats.org/drawingml/2006/main">
            <a:r>
              <a:t>      },</a:t>
            </a:r>
          </a:p>
          <a:p xmlns:a="http://schemas.openxmlformats.org/drawingml/2006/main">
            <a:r>
              <a:t>      {</a:t>
            </a:r>
          </a:p>
          <a:p xmlns:a="http://schemas.openxmlformats.org/drawingml/2006/main">
            <a:r>
              <a:t>        "id": "QUR-001",</a:t>
            </a:r>
          </a:p>
          <a:p xmlns:a="http://schemas.openxmlformats.org/drawingml/2006/main">
            <a:r>
              <a:t>        "title": "AI 스팸 챗봇 서비스 답변 품질",</a:t>
            </a:r>
          </a:p>
          <a:p xmlns:a="http://schemas.openxmlformats.org/drawingml/2006/main">
            <a:r>
              <a:t>        "locator": "QUR-001",</a:t>
            </a:r>
          </a:p>
          <a:p xmlns:a="http://schemas.openxmlformats.org/drawingml/2006/main">
            <a:r>
              <a:t>        "summary": "답변 품질을 점검하고 개선하는 품질 요구.",</a:t>
            </a:r>
          </a:p>
          <a:p xmlns:a="http://schemas.openxmlformats.org/drawingml/2006/main">
            <a:r>
              <a:t>        "data": "질문·정답·생성 답변 → 품질 판정·개선 기록",</a:t>
            </a:r>
          </a:p>
          <a:p xmlns:a="http://schemas.openxmlformats.org/drawingml/2006/main">
            <a:r>
              <a:t>        "components": [</a:t>
            </a:r>
          </a:p>
          <a:p xmlns:a="http://schemas.openxmlformats.org/drawingml/2006/main">
            <a:r>
              <a:t>          "C05",</a:t>
            </a:r>
          </a:p>
          <a:p xmlns:a="http://schemas.openxmlformats.org/drawingml/2006/main">
            <a:r>
              <a:t>          "C08"</a:t>
            </a:r>
          </a:p>
          <a:p xmlns:a="http://schemas.openxmlformats.org/drawingml/2006/main">
            <a:r>
              <a:t>        ],</a:t>
            </a:r>
          </a:p>
          <a:p xmlns:a="http://schemas.openxmlformats.org/drawingml/2006/main">
            <a:r>
              <a:t>        "acceptance": "업무 질문별 근거 정확성·완전성·일관성 평가와 보정 전후 비교 증빙",</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"0c8005e93cc9209037bfdf5a605228a1bae7e84453afbbd8fc4dd6696d08fb71"</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"홈페이지·앱 질의",</a:t>
            </a:r>
          </a:p>
          <a:p xmlns:a="http://schemas.openxmlformats.org/drawingml/2006/main">
            <a:r>
              <a:t>          "layer": "이용 접점",</a:t>
            </a:r>
          </a:p>
          <a:p xmlns:a="http://schemas.openxmlformats.org/drawingml/2006/main">
            <a:r>
              <a:t>          "detail": "민원인·스팸 정책 담당·평가자",</a:t>
            </a:r>
          </a:p>
          <a:p xmlns:a="http://schemas.openxmlformats.org/drawingml/2006/main">
            <a:r>
              <a:t>          "requirements": [</a:t>
            </a:r>
          </a:p>
          <a:p xmlns:a="http://schemas.openxmlformats.org/drawingml/2006/main">
            <a:r>
              <a:t>            "SFR-001"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"문의·민감정보",</a:t>
            </a:r>
          </a:p>
          <a:p xmlns:a="http://schemas.openxmlformats.org/drawingml/2006/main">
            <a:r>
              <a:t>          "layer": "업무 문맥",</a:t>
            </a:r>
          </a:p>
          <a:p xmlns:a="http://schemas.openxmlformats.org/drawingml/2006/main">
            <a:r>
              <a:t>          "detail": "질의 길이·민감정보·공격 입력 점검",</a:t>
            </a:r>
          </a:p>
          <a:p xmlns:a="http://schemas.openxmlformats.org/drawingml/2006/main">
            <a:r>
              <a:t>          "requirements": [</a:t>
            </a:r>
          </a:p>
          <a:p xmlns:a="http://schemas.openxmlformats.org/drawingml/2006/main">
            <a:r>
              <a:t>            "SFR-001"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"법령 RAG 검색",</a:t>
            </a:r>
          </a:p>
          <a:p xmlns:a="http://schemas.openxmlformats.org/drawingml/2006/main">
            <a:r>
              <a:t>          "layer": "자료 조회",</a:t>
            </a:r>
          </a:p>
          <a:p xmlns:a="http://schemas.openxmlformats.org/drawingml/2006/main">
            <a:r>
              <a:t>          "detail": "질의",</a:t>
            </a:r>
          </a:p>
          <a:p xmlns:a="http://schemas.openxmlformats.org/drawingml/2006/main">
            <a:r>
              <a:t>          "requirements": [</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"외부 생성 AI API",</a:t>
            </a:r>
          </a:p>
          <a:p xmlns:a="http://schemas.openxmlformats.org/drawingml/2006/main">
            <a:r>
              <a:t>          "layer": "핵심 처리",</a:t>
            </a:r>
          </a:p>
          <a:p xmlns:a="http://schemas.openxmlformats.org/drawingml/2006/main">
            <a:r>
              <a:t>          "detail": "외부 생성형 AI API와 RAG 연결",</a:t>
            </a:r>
          </a:p>
          <a:p xmlns:a="http://schemas.openxmlformats.org/drawingml/2006/main">
            <a:r>
              <a:t>          "requirements": [</a:t>
            </a:r>
          </a:p>
          <a:p xmlns:a="http://schemas.openxmlformats.org/drawingml/2006/main">
            <a:r>
              <a:t>            "SFR-001",</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"출처·답변불가 판정",</a:t>
            </a:r>
          </a:p>
          <a:p xmlns:a="http://schemas.openxmlformats.org/drawingml/2006/main">
            <a:r>
              <a:t>          "layer": "결과 검증",</a:t>
            </a:r>
          </a:p>
          <a:p xmlns:a="http://schemas.openxmlformats.org/drawingml/2006/main">
            <a:r>
              <a:t>          "detail": "조문별 정답·근거 없음 거부셋",</a:t>
            </a:r>
          </a:p>
          <a:p xmlns:a="http://schemas.openxmlformats.org/drawingml/2006/main">
            <a:r>
              <a:t>          "requirements": [</a:t>
            </a:r>
          </a:p>
          <a:p xmlns:a="http://schemas.openxmlformats.org/drawingml/2006/main">
            <a:r>
              <a:t>            "SFR-003",</a:t>
            </a:r>
          </a:p>
          <a:p xmlns:a="http://schemas.openxmlformats.org/drawingml/2006/main">
            <a:r>
              <a:t>            "QUR-001"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"민원인·전문가",</a:t>
            </a:r>
          </a:p>
          <a:p xmlns:a="http://schemas.openxmlformats.org/drawingml/2006/main">
            <a:r>
              <a:t>          "layer": "사람 확인",</a:t>
            </a:r>
          </a:p>
          <a:p xmlns:a="http://schemas.openxmlformats.org/drawingml/2006/main">
            <a:r>
              <a:t>          "detail": "스팸 전송 상황을 질문하고 관련 법령·체크리스트 안내",</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"답변·후속 안내",</a:t>
            </a:r>
          </a:p>
          <a:p xmlns:a="http://schemas.openxmlformats.org/drawingml/2006/main">
            <a:r>
              <a:t>          "layer": "업무 연결",</a:t>
            </a:r>
          </a:p>
          <a:p xmlns:a="http://schemas.openxmlformats.org/drawingml/2006/main">
            <a:r>
              <a:t>          "detail": "출처 답변 또는 답변불가 안내 제공",</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"자동·전문가 평가",</a:t>
            </a:r>
          </a:p>
          <a:p xmlns:a="http://schemas.openxmlformats.org/drawingml/2006/main">
            <a:r>
              <a:t>          "layer": "운영 관측",</a:t>
            </a:r>
          </a:p>
          <a:p xmlns:a="http://schemas.openxmlformats.org/drawingml/2006/main">
            <a:r>
              <a:t>          "detail": "자동 평가·전문가 판정·호출량·지연 관리",</a:t>
            </a:r>
          </a:p>
          <a:p xmlns:a="http://schemas.openxmlformats.org/drawingml/2006/main">
            <a:r>
              <a:t>          "requirements": [</a:t>
            </a:r>
          </a:p>
          <a:p xmlns:a="http://schemas.openxmlformats.org/drawingml/2006/main">
            <a:r>
              <a:t>            "SFR-004",</a:t>
            </a:r>
          </a:p>
          <a:p xmlns:a="http://schemas.openxmlformats.org/drawingml/2006/main">
            <a:r>
              <a:t>            "SFR-006",</a:t>
            </a:r>
          </a:p>
          <a:p xmlns:a="http://schemas.openxmlformats.org/drawingml/2006/main">
            <a:r>
              <a:t>            "QUR-001"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"스팸법령·가이드",</a:t>
            </a:r>
          </a:p>
          <a:p xmlns:a="http://schemas.openxmlformats.org/drawingml/2006/main">
            <a:r>
              <a:t>          "layer": "데이터 원천",</a:t>
            </a:r>
          </a:p>
          <a:p xmlns:a="http://schemas.openxmlformats.org/drawingml/2006/main">
            <a:r>
              <a:t>          "detail": "법령·체크리스트",</a:t>
            </a:r>
          </a:p>
          <a:p xmlns:a="http://schemas.openxmlformats.org/drawingml/2006/main">
            <a:r>
              <a:t>          "requirements": [</a:t>
            </a:r>
          </a:p>
          <a:p xmlns:a="http://schemas.openxmlformats.org/drawingml/2006/main">
            <a:r>
              <a:t>            "SFR-002"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"조문·판본 정비",</a:t>
            </a:r>
          </a:p>
          <a:p xmlns:a="http://schemas.openxmlformats.org/drawingml/2006/main">
            <a:r>
              <a:t>          "layer": "준비·갱신",</a:t>
            </a:r>
          </a:p>
          <a:p xmlns:a="http://schemas.openxmlformats.org/drawingml/2006/main">
            <a:r>
              <a:t>          "detail": "법령·가이드·체크리스트의 최신 판본 관리",</a:t>
            </a:r>
          </a:p>
          <a:p xmlns:a="http://schemas.openxmlformats.org/drawingml/2006/main">
            <a:r>
              <a:t>          "requirements": [</a:t>
            </a:r>
          </a:p>
          <a:p xmlns:a="http://schemas.openxmlformats.org/drawingml/2006/main">
            <a:r>
              <a:t>            "SFR-002"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"지식·평가셋",</a:t>
            </a:r>
          </a:p>
          <a:p xmlns:a="http://schemas.openxmlformats.org/drawingml/2006/main">
            <a:r>
              <a:t>          "layer": "상태·지식 저장",</a:t>
            </a:r>
          </a:p>
          <a:p xmlns:a="http://schemas.openxmlformats.org/drawingml/2006/main">
            <a:r>
              <a:t>          "detail": "전문가 정답표·거부셋·최종 RFP 성능조건별 측정",</a:t>
            </a:r>
          </a:p>
          <a:p xmlns:a="http://schemas.openxmlformats.org/drawingml/2006/main">
            <a:r>
              <a:t>          "requirements": [</a:t>
            </a:r>
          </a:p>
          <a:p xmlns:a="http://schemas.openxmlformats.org/drawingml/2006/main">
            <a:r>
              <a:t>            "SFR-002"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"입력·호출·지연 정책",</a:t>
            </a:r>
          </a:p>
          <a:p xmlns:a="http://schemas.openxmlformats.org/drawingml/2006/main">
            <a:r>
              <a:t>          "layer": "권한·정책",</a:t>
            </a:r>
          </a:p>
          <a:p xmlns:a="http://schemas.openxmlformats.org/drawingml/2006/main">
            <a:r>
              <a:t>          "detail": "개정 전 조문·근거 없는 질의·공격 입력·부하 증가",</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"질의 길이·민감정보·공격 입력 점검",</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"질의",</a:t>
            </a:r>
          </a:p>
          <a:p xmlns:a="http://schemas.openxmlformats.org/drawingml/2006/main">
            <a:r>
              <a:t>          "check": "조문별 정답·근거 없음 거부셋"</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"법령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"답변·보류",</a:t>
            </a:r>
          </a:p>
          <a:p xmlns:a="http://schemas.openxmlformats.org/drawingml/2006/main">
            <a:r>
              <a:t>          "check": "개정 전 조문·근거 없는 질의·공격 입력·부하 증가"</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"답변·보류",</a:t>
            </a:r>
          </a:p>
          <a:p xmlns:a="http://schemas.openxmlformats.org/drawingml/2006/main">
            <a:r>
              <a:t>          "check": "출처 답변 또는 답변불가 안내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"전문가 판정",</a:t>
            </a:r>
          </a:p>
          <a:p xmlns:a="http://schemas.openxmlformats.org/drawingml/2006/main">
            <a:r>
              <a:t>          "check": "전문가 정답표·거부셋·최종 RFP 성능조건별 측정"</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"최종 RFP SFR-001~006·QUR-001",</a:t>
            </a:r>
          </a:p>
          <a:p xmlns:a="http://schemas.openxmlformats.org/drawingml/2006/main">
            <a:r>
              <a:t>        "extracted": "외부 생성형 AI API·RAG·출처·답변불가·전문가 평가",</a:t>
            </a:r>
          </a:p>
          <a:p xmlns:a="http://schemas.openxmlformats.org/drawingml/2006/main">
            <a:r>
              <a:t>        "extension": "질의 공격·근거 부재·법령 개정의 독립 시험셋"</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"개정 전 조문·근거 없는 질의·공격 입력·부하 증가",</a:t>
            </a:r>
          </a:p>
          <a:p xmlns:a="http://schemas.openxmlformats.org/drawingml/2006/main">
            <a:r>
              <a:t>        "hold": "조문별 정답·근거 없음 거부셋",</a:t>
            </a:r>
          </a:p>
          <a:p xmlns:a="http://schemas.openxmlformats.org/drawingml/2006/main">
            <a:r>
              <a:t>        "recovery": "자동 평가·전문가 판정·호출량·지연 관리",</a:t>
            </a:r>
          </a:p>
          <a:p xmlns:a="http://schemas.openxmlformats.org/drawingml/2006/main">
            <a:r>
              <a:t>        "evidence": "전문가 정답표·거부셋·최종 RFP 성능조건별 측정"</a:t>
            </a:r>
          </a:p>
          <a:p xmlns:a="http://schemas.openxmlformats.org/drawingml/2006/main">
            <a:r>
              <a:t>      },</a:t>
            </a:r>
          </a:p>
          <a:p xmlns:a="http://schemas.openxmlformats.org/drawingml/2006/main">
            <a:r>
              <a:t>      "data": {</a:t>
            </a:r>
          </a:p>
          <a:p xmlns:a="http://schemas.openxmlformats.org/drawingml/2006/main">
            <a:r>
              <a:t>        "source": "법령·체크리스트",</a:t>
            </a:r>
          </a:p>
          <a:p xmlns:a="http://schemas.openxmlformats.org/drawingml/2006/main">
            <a:r>
              <a:t>        "prepare": "법령·가이드·체크리스트의 최신 판본 관리",</a:t>
            </a:r>
          </a:p>
          <a:p xmlns:a="http://schemas.openxmlformats.org/drawingml/2006/main">
            <a:r>
              <a:t>        "output": "질의",</a:t>
            </a:r>
          </a:p>
          <a:p xmlns:a="http://schemas.openxmlformats.org/drawingml/2006/main">
            <a:r>
              <a:t>        "refresh": "자동 평가·전문가 판정·호출량·지연 관리"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"PF-R07",</a:t>
            </a:r>
          </a:p>
          <a:p xmlns:a="http://schemas.openxmlformats.org/drawingml/2006/main">
            <a:r>
              <a:t>    "success": [</a:t>
            </a:r>
          </a:p>
          <a:p xmlns:a="http://schemas.openxmlformats.org/drawingml/2006/main">
            <a:r>
              <a:t>      "법령·체크리스트의 RAG 연결",</a:t>
            </a:r>
          </a:p>
          <a:p xmlns:a="http://schemas.openxmlformats.org/drawingml/2006/main">
            <a:r>
              <a:t>      "출처·보류·전문가 평가 요구"</a:t>
            </a:r>
          </a:p>
          <a:p xmlns:a="http://schemas.openxmlformats.org/drawingml/2006/main">
            <a:r>
              <a:t>    ],</a:t>
            </a:r>
          </a:p>
          <a:p xmlns:a="http://schemas.openxmlformats.org/drawingml/2006/main">
            <a:r>
              <a:t>    "risks": [</a:t>
            </a:r>
          </a:p>
          <a:p xmlns:a="http://schemas.openxmlformats.org/drawingml/2006/main">
            <a:r>
              <a:t>      "구버전 법령·상충 답변",</a:t>
            </a:r>
          </a:p>
          <a:p xmlns:a="http://schemas.openxmlformats.org/drawingml/2006/main">
            <a:r>
              <a:t>      "입찰 요구를 구현 기능으로 인식"</a:t>
            </a:r>
          </a:p>
          <a:p xmlns:a="http://schemas.openxmlformats.org/drawingml/2006/main">
            <a:r>
              <a:t>    ],</a:t>
            </a:r>
          </a:p>
          <a:p xmlns:a="http://schemas.openxmlformats.org/drawingml/2006/main">
            <a:r>
              <a:t>    "architecture": [</a:t>
            </a:r>
          </a:p>
          <a:p xmlns:a="http://schemas.openxmlformats.org/drawingml/2006/main">
            <a:r>
              <a:t>      "스팸 민원 질의",</a:t>
            </a:r>
          </a:p>
          <a:p xmlns:a="http://schemas.openxmlformats.org/drawingml/2006/main">
            <a:r>
              <a:t>      "외부 AI·RAG",</a:t>
            </a:r>
          </a:p>
          <a:p xmlns:a="http://schemas.openxmlformats.org/drawingml/2006/main">
            <a:r>
              <a:t>      "법령·체크리스트",</a:t>
            </a:r>
          </a:p>
          <a:p xmlns:a="http://schemas.openxmlformats.org/drawingml/2006/main">
            <a:r>
              <a:t>      "민원·평가 담당"</a:t>
            </a:r>
          </a:p>
          <a:p xmlns:a="http://schemas.openxmlformats.org/drawingml/2006/main">
            <a:r>
              <a:t>    ],</a:t>
            </a:r>
          </a:p>
          <a:p xmlns:a="http://schemas.openxmlformats.org/drawingml/2006/main">
            <a:r>
              <a:t>    "transfers": [</a:t>
            </a:r>
          </a:p>
          <a:p xmlns:a="http://schemas.openxmlformats.org/drawingml/2006/main">
            <a:r>
              <a:t>      "질의",</a:t>
            </a:r>
          </a:p>
          <a:p xmlns:a="http://schemas.openxmlformats.org/drawingml/2006/main">
            <a:r>
              <a:t>      "법령 근거",</a:t>
            </a:r>
          </a:p>
          <a:p xmlns:a="http://schemas.openxmlformats.org/drawingml/2006/main">
            <a:r>
              <a:t>      "답변·보류",</a:t>
            </a:r>
          </a:p>
          <a:p xmlns:a="http://schemas.openxmlformats.org/drawingml/2006/main">
            <a:r>
              <a:t>      "전문가 판정"</a:t>
            </a:r>
          </a:p>
          <a:p xmlns:a="http://schemas.openxmlformats.org/drawingml/2006/main">
            <a:r>
              <a:t>    ],</a:t>
            </a:r>
          </a:p>
          <a:p xmlns:a="http://schemas.openxmlformats.org/drawingml/2006/main">
            <a:r>
              <a:t>    "control": "조문별 정답·근거 없음 거부셋",</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SFR-001~006, PER-001·004, QUR-001 / Word T080 https://www.kisa.kr/post/fileDownload?menuSeq=403&amp;postSeq=10891&amp;attachSeq=2&amp;lang_type=KO</a:t>
            </a:r>
          </a:p>
          <a:p xmlns:a="http://schemas.openxmlformats.org/drawingml/2006/main">
            <a:r>
              <a:t>홈페이지 https://heen1987-ops.github.io/TS-business-Plan-001/index.html?view=platform-cases&amp;case=PF-R07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"PF-R07",</a:t>
            </a:r>
          </a:p>
          <a:p xmlns:a="http://schemas.openxmlformats.org/drawingml/2006/main">
            <a:r>
              <a:t>    "sourceId": "R07",</a:t>
            </a:r>
          </a:p>
          <a:p xmlns:a="http://schemas.openxmlformats.org/drawingml/2006/main">
            <a:r>
              <a:t>    "title": "KISA 스팸 민원 AI",</a:t>
            </a:r>
          </a:p>
          <a:p xmlns:a="http://schemas.openxmlformats.org/drawingml/2006/main">
            <a:r>
              <a:t>    "region": "국내",</a:t>
            </a:r>
          </a:p>
          <a:p xmlns:a="http://schemas.openxmlformats.org/drawingml/2006/main">
            <a:r>
              <a:t>    "owner": "한국인터넷진흥원(KISA)",</a:t>
            </a:r>
          </a:p>
          <a:p xmlns:a="http://schemas.openxmlformats.org/drawingml/2006/main">
            <a:r>
              <a:t>    "state": "2026-10-14 본공고·최종 첨부 확인 / 입찰 진행",</a:t>
            </a:r>
          </a:p>
          <a:p xmlns:a="http://schemas.openxmlformats.org/drawingml/2006/main">
            <a:r>
              <a:t>    "period": "기존 원장 확인 2026.10.16",</a:t>
            </a:r>
          </a:p>
          <a:p xmlns:a="http://schemas.openxmlformats.org/drawingml/2006/main">
            <a:r>
              <a:t>    "fact": "스팸 법령·자율규제 민원 챗봇과 지식·체크리스트 관리",</a:t>
            </a:r>
          </a:p>
          <a:p xmlns:a="http://schemas.openxmlformats.org/drawingml/2006/main">
            <a:r>
              <a:t>    "limit": "사전본 동시300명→본공고100명. 오픈소스 모델/라이브러리 문구→외부 생성형AI API+RAG 방식",</a:t>
            </a:r>
          </a:p>
          <a:p xmlns:a="http://schemas.openxmlformats.org/drawingml/2006/main">
            <a:r>
              <a:t>    "nodes": [</a:t>
            </a:r>
          </a:p>
          <a:p xmlns:a="http://schemas.openxmlformats.org/drawingml/2006/main">
            <a:r>
              <a:t>      "법령·지식",</a:t>
            </a:r>
          </a:p>
          <a:p xmlns:a="http://schemas.openxmlformats.org/drawingml/2006/main">
            <a:r>
              <a:t>      "외부 AI·RAG",</a:t>
            </a:r>
          </a:p>
          <a:p xmlns:a="http://schemas.openxmlformats.org/drawingml/2006/main">
            <a:r>
              <a:t>      "출처·답변 보류",</a:t>
            </a:r>
          </a:p>
          <a:p xmlns:a="http://schemas.openxmlformats.org/drawingml/2006/main">
            <a:r>
              <a:t>      "전문가 평가"</a:t>
            </a:r>
          </a:p>
          <a:p xmlns:a="http://schemas.openxmlformats.org/drawingml/2006/main">
            <a:r>
              <a:t>    ],</a:t>
            </a:r>
          </a:p>
          <a:p xmlns:a="http://schemas.openxmlformats.org/drawingml/2006/main">
            <a:r>
              <a:t>    "apply": "민원 답변의 법령 근거·보류 조건·전문가 평가를 운영 기준으로 관리",</a:t>
            </a:r>
          </a:p>
          <a:p xmlns:a="http://schemas.openxmlformats.org/drawingml/2006/main">
            <a:r>
              <a:t>    "delta": "법령·체크리스트 판본 / 응답 보류 / 전문가 정답셋·부하 시험",</a:t>
            </a:r>
          </a:p>
          <a:p xmlns:a="http://schemas.openxmlformats.org/drawingml/2006/main">
            <a:r>
              <a:t>    "test": "개정 조문·근거 부재·공격 입력·동시 요청의 품질·성능 대조",</a:t>
            </a:r>
          </a:p>
          <a:p xmlns:a="http://schemas.openxmlformats.org/drawingml/2006/main">
            <a:r>
              <a:t>    "url": "https://www.kisa.kr/post/fileDownload?menuSeq=403&amp;postSeq=10891&amp;attachSeq=2&amp;lang_type=KO",</a:t>
            </a:r>
          </a:p>
          <a:p xmlns:a="http://schemas.openxmlformats.org/drawingml/2006/main">
            <a:r>
              <a:t>    "urls": [</a:t>
            </a:r>
          </a:p>
          <a:p xmlns:a="http://schemas.openxmlformats.org/drawingml/2006/main">
            <a:r>
              <a:t>      "https://www.kisa.kr/post/fileDownload?menuSeq=403&amp;postSeq=10891&amp;attachSeq=2&amp;lang_type=KO",</a:t>
            </a:r>
          </a:p>
          <a:p xmlns:a="http://schemas.openxmlformats.org/drawingml/2006/main">
            <a:r>
              <a:t>      "https://www.kisa.kr/403/form?postSeq=10891"</a:t>
            </a:r>
          </a:p>
          <a:p xmlns:a="http://schemas.openxmlformats.org/drawingml/2006/main">
            <a:r>
              <a:t>    ],</a:t>
            </a:r>
          </a:p>
          <a:p xmlns:a="http://schemas.openxmlformats.org/drawingml/2006/main">
            <a:r>
              <a:t>    "basis": "SFR-001~006, PER-001·004, QUR-001 / Word T080",</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"근거 정답률 / 보류 적정률 / 응답시간·오류율",</a:t>
            </a:r>
          </a:p>
          <a:p xmlns:a="http://schemas.openxmlformats.org/drawingml/2006/main">
            <a:r>
              <a:t>    "group": "요구·구축",</a:t>
            </a:r>
          </a:p>
          <a:p xmlns:a="http://schemas.openxmlformats.org/drawingml/2006/main">
            <a:r>
              <a:t>    "sourceDetail": "외부 생성형 AI API+RAG, 홈페이지/앱 연계, 출처·최신성·답변불가 안내, 자동/전문가 평가",</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"PF-R07",</a:t>
            </a:r>
          </a:p>
          <a:p xmlns:a="http://schemas.openxmlformats.org/drawingml/2006/main">
            <a:r>
              <a:t>    "canonicalId": "PF-R07",</a:t>
            </a:r>
          </a:p>
          <a:p xmlns:a="http://schemas.openxmlformats.org/drawingml/2006/main">
            <a:r>
              <a:t>    "purpose": "스팸 법령과 체크리스트의 민원 응답",</a:t>
            </a:r>
          </a:p>
          <a:p xmlns:a="http://schemas.openxmlformats.org/drawingml/2006/main">
            <a:r>
              <a:t>    "users": "민원인·스팸 정책 담당·평가자",</a:t>
            </a:r>
          </a:p>
          <a:p xmlns:a="http://schemas.openxmlformats.org/drawingml/2006/main">
            <a:r>
              <a:t>    "scope": [</a:t>
            </a:r>
          </a:p>
          <a:p xmlns:a="http://schemas.openxmlformats.org/drawingml/2006/main">
            <a:r>
              <a:t>      "홈페이지·앱",</a:t>
            </a:r>
          </a:p>
          <a:p xmlns:a="http://schemas.openxmlformats.org/drawingml/2006/main">
            <a:r>
              <a:t>      "지식 질의",</a:t>
            </a:r>
          </a:p>
          <a:p xmlns:a="http://schemas.openxmlformats.org/drawingml/2006/main">
            <a:r>
              <a:t>      "전문가 평가"</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"스팸 민원 질의",</a:t>
            </a:r>
          </a:p>
          <a:p xmlns:a="http://schemas.openxmlformats.org/drawingml/2006/main">
            <a:r>
              <a:t>        "detail": "질의 길이·민감정보·공격 입력 점검",</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"홈페이지·앱 / 지식 질의 / 전문가 평가",</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"외부 AI·RAG",</a:t>
            </a:r>
          </a:p>
          <a:p xmlns:a="http://schemas.openxmlformats.org/drawingml/2006/main">
            <a:r>
              <a:t>        "detail": "외부 생성형 AI API와 RAG 연결",</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"민원·평가 담당",</a:t>
            </a:r>
          </a:p>
          <a:p xmlns:a="http://schemas.openxmlformats.org/drawingml/2006/main">
            <a:r>
              <a:t>        "detail": "출처 답변 또는 답변불가 안내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"법령·체크리스트",</a:t>
            </a:r>
          </a:p>
          <a:p xmlns:a="http://schemas.openxmlformats.org/drawingml/2006/main">
            <a:r>
              <a:t>        "detail": "법령·가이드·체크리스트의 최신 판본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"자동 평가·전문가 판정·호출량·지연 관리",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"법령·지식",</a:t>
            </a:r>
          </a:p>
          <a:p xmlns:a="http://schemas.openxmlformats.org/drawingml/2006/main">
            <a:r>
              <a:t>        "input": "질의 길이·민감정보·공격 입력 점검",</a:t>
            </a:r>
          </a:p>
          <a:p xmlns:a="http://schemas.openxmlformats.org/drawingml/2006/main">
            <a:r>
              <a:t>        "process": "법령·가이드·체크리스트의 최신 판본 관리",</a:t>
            </a:r>
          </a:p>
          <a:p xmlns:a="http://schemas.openxmlformats.org/drawingml/2006/main">
            <a:r>
              <a:t>        "output": "질의"</a:t>
            </a:r>
          </a:p>
          <a:p xmlns:a="http://schemas.openxmlformats.org/drawingml/2006/main">
            <a:r>
              <a:t>      },</a:t>
            </a:r>
          </a:p>
          <a:p xmlns:a="http://schemas.openxmlformats.org/drawingml/2006/main">
            <a:r>
              <a:t>      {</a:t>
            </a:r>
          </a:p>
          <a:p xmlns:a="http://schemas.openxmlformats.org/drawingml/2006/main">
            <a:r>
              <a:t>        "title": "외부 AI·RAG",</a:t>
            </a:r>
          </a:p>
          <a:p xmlns:a="http://schemas.openxmlformats.org/drawingml/2006/main">
            <a:r>
              <a:t>        "input": "질의",</a:t>
            </a:r>
          </a:p>
          <a:p xmlns:a="http://schemas.openxmlformats.org/drawingml/2006/main">
            <a:r>
              <a:t>        "process": "외부 생성형 AI API와 RAG 연결",</a:t>
            </a:r>
          </a:p>
          <a:p xmlns:a="http://schemas.openxmlformats.org/drawingml/2006/main">
            <a:r>
              <a:t>        "output": "법령 근거"</a:t>
            </a:r>
          </a:p>
          <a:p xmlns:a="http://schemas.openxmlformats.org/drawingml/2006/main">
            <a:r>
              <a:t>      },</a:t>
            </a:r>
          </a:p>
          <a:p xmlns:a="http://schemas.openxmlformats.org/drawingml/2006/main">
            <a:r>
              <a:t>      {</a:t>
            </a:r>
          </a:p>
          <a:p xmlns:a="http://schemas.openxmlformats.org/drawingml/2006/main">
            <a:r>
              <a:t>        "title": "출처·답변 보류",</a:t>
            </a:r>
          </a:p>
          <a:p xmlns:a="http://schemas.openxmlformats.org/drawingml/2006/main">
            <a:r>
              <a:t>        "input": "법령 근거",</a:t>
            </a:r>
          </a:p>
          <a:p xmlns:a="http://schemas.openxmlformats.org/drawingml/2006/main">
            <a:r>
              <a:t>        "process": "조문별 정답·근거 없음 거부셋",</a:t>
            </a:r>
          </a:p>
          <a:p xmlns:a="http://schemas.openxmlformats.org/drawingml/2006/main">
            <a:r>
              <a:t>        "output": "답변·보류"</a:t>
            </a:r>
          </a:p>
          <a:p xmlns:a="http://schemas.openxmlformats.org/drawingml/2006/main">
            <a:r>
              <a:t>      },</a:t>
            </a:r>
          </a:p>
          <a:p xmlns:a="http://schemas.openxmlformats.org/drawingml/2006/main">
            <a:r>
              <a:t>      {</a:t>
            </a:r>
          </a:p>
          <a:p xmlns:a="http://schemas.openxmlformats.org/drawingml/2006/main">
            <a:r>
              <a:t>        "title": "전문가 평가",</a:t>
            </a:r>
          </a:p>
          <a:p xmlns:a="http://schemas.openxmlformats.org/drawingml/2006/main">
            <a:r>
              <a:t>        "input": "답변·보류",</a:t>
            </a:r>
          </a:p>
          <a:p xmlns:a="http://schemas.openxmlformats.org/drawingml/2006/main">
            <a:r>
              <a:t>        "process": "출처 답변 또는 답변불가 안내 제공",</a:t>
            </a:r>
          </a:p>
          <a:p xmlns:a="http://schemas.openxmlformats.org/drawingml/2006/main">
            <a:r>
              <a:t>        "output": "전문가 판정"</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"스팸 전송 상황을 질문하고 관련 법령·체크리스트 안내",</a:t>
            </a:r>
          </a:p>
          <a:p xmlns:a="http://schemas.openxmlformats.org/drawingml/2006/main">
            <a:r>
              <a:t>      "exception": "개정 전 조문·근거 없는 질의·공격 입력·부하 증가",</a:t>
            </a:r>
          </a:p>
          <a:p xmlns:a="http://schemas.openxmlformats.org/drawingml/2006/main">
            <a:r>
              <a:t>      "evidence": "전문가 정답표·거부셋·최종 RFP 성능조건별 측정",</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"민원인·스팸 정책 담당·평가자",</a:t>
            </a:r>
          </a:p>
          <a:p xmlns:a="http://schemas.openxmlformats.org/drawingml/2006/main">
            <a:r>
              <a:t>          "processing": "질의 길이·민감정보·공격 입력 점검",</a:t>
            </a:r>
          </a:p>
          <a:p xmlns:a="http://schemas.openxmlformats.org/drawingml/2006/main">
            <a:r>
              <a:t>          "output": "질의"</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"법령·체크리스트",</a:t>
            </a:r>
          </a:p>
          <a:p xmlns:a="http://schemas.openxmlformats.org/drawingml/2006/main">
            <a:r>
              <a:t>          "processing": "법령·가이드·체크리스트의 최신 판본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"질의",</a:t>
            </a:r>
          </a:p>
          <a:p xmlns:a="http://schemas.openxmlformats.org/drawingml/2006/main">
            <a:r>
              <a:t>          "processing": "외부 생성형 AI API와 RAG 연결",</a:t>
            </a:r>
          </a:p>
          <a:p xmlns:a="http://schemas.openxmlformats.org/drawingml/2006/main">
            <a:r>
              <a:t>          "output": "답변·보류"</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"답변·보류",</a:t>
            </a:r>
          </a:p>
          <a:p xmlns:a="http://schemas.openxmlformats.org/drawingml/2006/main">
            <a:r>
              <a:t>          "processing": "출처 답변 또는 답변불가 안내 제공",</a:t>
            </a:r>
          </a:p>
          <a:p xmlns:a="http://schemas.openxmlformats.org/drawingml/2006/main">
            <a:r>
              <a:t>          "output": "전문가 판정"</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"자동 평가·전문가 판정·호출량·지연 관리",</a:t>
            </a:r>
          </a:p>
          <a:p xmlns:a="http://schemas.openxmlformats.org/drawingml/2006/main">
            <a:r>
              <a:t>          "output": "전문가 정답표·거부셋·최종 RFP 성능조건별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"자동 평가·전문가 판정·호출량·지연 관리",</a:t>
            </a:r>
          </a:p>
          <a:p xmlns:a="http://schemas.openxmlformats.org/drawingml/2006/main">
            <a:r>
              <a:t>    "status": "RFP 기반 논리 설계",</a:t>
            </a:r>
          </a:p>
          <a:p xmlns:a="http://schemas.openxmlformats.org/drawingml/2006/main">
            <a:r>
              <a:t>    "basis": "최종 RFP 2026.10.14 · SFR-001~006·PER-001·004·QUR-001",</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"SFR-001~006, PER-001·004, QUR-001 / Word T080",</a:t>
            </a:r>
          </a:p>
          <a:p xmlns:a="http://schemas.openxmlformats.org/drawingml/2006/main">
            <a:r>
              <a:t>        "url": "https://www.kisa.kr/post/fileDownload?menuSeq=403&amp;postSeq=10891&amp;attachSeq=2&amp;lang_type=KO"</a:t>
            </a:r>
          </a:p>
          <a:p xmlns:a="http://schemas.openxmlformats.org/drawingml/2006/main">
            <a:r>
              <a:t>      }</a:t>
            </a:r>
          </a:p>
          <a:p xmlns:a="http://schemas.openxmlformats.org/drawingml/2006/main">
            <a:r>
              <a:t>    ],</a:t>
            </a:r>
          </a:p>
          <a:p xmlns:a="http://schemas.openxmlformats.org/drawingml/2006/main">
            <a:r>
              <a:t>    "implication": "민원 답변의 법령 근거·보류 조건·전문가 평가를 운영 기준으로 관리",</a:t>
            </a:r>
          </a:p>
          <a:p xmlns:a="http://schemas.openxmlformats.org/drawingml/2006/main">
            <a:r>
              <a:t>    "local": "민원 답변의 법령 근거·보류 조건·전문가 평가를 운영 기준으로 관리",</a:t>
            </a:r>
          </a:p>
          <a:p xmlns:a="http://schemas.openxmlformats.org/drawingml/2006/main">
            <a:r>
              <a:t>    "sourceDetail": "외부 생성형 AI API+RAG, 홈페이지/앱 연계, 출처·최신성·답변불가 안내, 자동/전문가 평가",</a:t>
            </a:r>
          </a:p>
          <a:p xmlns:a="http://schemas.openxmlformats.org/drawingml/2006/main">
            <a:r>
              <a:t>    "narrative": [</a:t>
            </a:r>
          </a:p>
          <a:p xmlns:a="http://schemas.openxmlformats.org/drawingml/2006/main">
            <a:r>
              <a:t>      "스팸 관련 법령·가이드·체크리스트를 국민의 질문에 연결하는 대민 AI 상담 구축. 홈페이지·앱 접점과 지식베이스·외부 생성형 AI API·관리자·운영 기능을 함께 요구하는 사업.",</a:t>
            </a:r>
          </a:p>
          <a:p xmlns:a="http://schemas.openxmlformats.org/drawingml/2006/main">
            <a:r>
              <a:t>      "질의 입력 점검 후 최신 법령 근거를 검색하고 외부 AI API로 답변을 생성하는 구조. 검색·답변 단계에서 출처와 답변불가 처리를 분리하고, 자동 평가와 전문가 검토를 운영 과정에 결합하는 설계. 최종 RFP 판본의 성능·품질 요구를 기준으로 비교.",</a:t>
            </a:r>
          </a:p>
          <a:p xmlns:a="http://schemas.openxmlformats.org/drawingml/2006/main">
            <a:r>
              <a:t>      "규정 검색 성공이 적절한 민원 안내를 보장하지 않는 점을 검수에 반영할 필요. 법령 개정, 유사 조문, 근거 없는 질문, 공격성 입력을 구분한 시험셋과 전문가 판정의 연결. TS 안내 서비스에 적용할 경우 법정 판단·신청 처리는 해당 업무 시스템과 담당자의 책임으로 연결."</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"SFR-001",</a:t>
            </a:r>
          </a:p>
          <a:p xmlns:a="http://schemas.openxmlformats.org/drawingml/2006/main">
            <a:r>
              <a:t>        "title": "AI 스팸 챗봇 서비스 구축",</a:t>
            </a:r>
          </a:p>
          <a:p xmlns:a="http://schemas.openxmlformats.org/drawingml/2006/main">
            <a:r>
              <a:t>        "locator": "SFR-001",</a:t>
            </a:r>
          </a:p>
          <a:p xmlns:a="http://schemas.openxmlformats.org/drawingml/2006/main">
            <a:r>
              <a:t>        "summary": "스팸 관련 법령·업무 문의에 대응하는 AI 챗봇 구축.",</a:t>
            </a:r>
          </a:p>
          <a:p xmlns:a="http://schemas.openxmlformats.org/drawingml/2006/main">
            <a:r>
              <a:t>        "data": "국민·사업자 문의 → 안내 응답·업무 경로",</a:t>
            </a:r>
          </a:p>
          <a:p xmlns:a="http://schemas.openxmlformats.org/drawingml/2006/main">
            <a:r>
              <a:t>        "components": [</a:t>
            </a:r>
          </a:p>
          <a:p xmlns:a="http://schemas.openxmlformats.org/drawingml/2006/main">
            <a:r>
              <a:t>          "C01",</a:t>
            </a:r>
          </a:p>
          <a:p xmlns:a="http://schemas.openxmlformats.org/drawingml/2006/main">
            <a:r>
              <a:t>          "C02",</a:t>
            </a:r>
          </a:p>
          <a:p xmlns:a="http://schemas.openxmlformats.org/drawingml/2006/main">
            <a:r>
              <a:t>          "C04"</a:t>
            </a:r>
          </a:p>
          <a:p xmlns:a="http://schemas.openxmlformats.org/drawingml/2006/main">
            <a:r>
              <a:t>        ],</a:t>
            </a:r>
          </a:p>
          <a:p xmlns:a="http://schemas.openxmlformats.org/drawingml/2006/main">
            <a:r>
              <a:t>        "acceptance": "법령 설명·신고 절차·예외 사유 질문을 구분해 올바른 안내 경로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"4c540036c514c5823d4ed4b29b16b7d44b65a0178ba371f0c4ba9d06306df6e9"</a:t>
            </a:r>
          </a:p>
          <a:p xmlns:a="http://schemas.openxmlformats.org/drawingml/2006/main">
            <a:r>
              <a:t>      },</a:t>
            </a:r>
          </a:p>
          <a:p xmlns:a="http://schemas.openxmlformats.org/drawingml/2006/main">
            <a:r>
              <a:t>      {</a:t>
            </a:r>
          </a:p>
          <a:p xmlns:a="http://schemas.openxmlformats.org/drawingml/2006/main">
            <a:r>
              <a:t>        "id": "SFR-002",</a:t>
            </a:r>
          </a:p>
          <a:p xmlns:a="http://schemas.openxmlformats.org/drawingml/2006/main">
            <a:r>
              <a:t>        "title": "AI 스팸 챗봇 서비스 지식베이스 관리",</a:t>
            </a:r>
          </a:p>
          <a:p xmlns:a="http://schemas.openxmlformats.org/drawingml/2006/main">
            <a:r>
              <a:t>        "locator": "SFR-002",</a:t>
            </a:r>
          </a:p>
          <a:p xmlns:a="http://schemas.openxmlformats.org/drawingml/2006/main">
            <a:r>
              <a:t>        "summary": "스팸 관련 지식자료를 등록·정비·활용하는 지식베이스 구성.",</a:t>
            </a:r>
          </a:p>
          <a:p xmlns:a="http://schemas.openxmlformats.org/drawingml/2006/main">
            <a:r>
              <a:t>        "data": "법령·FAQ·업무 자료 → 판본별 검색 근거",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"개정 자료·폐기 자료·상충 FAQ의 승인·갱신 및 검색 제외 결과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"777a548e5cc2d26392428d54f1ec38d4daab521a391239a084a98c967dca9cda"</a:t>
            </a:r>
          </a:p>
          <a:p xmlns:a="http://schemas.openxmlformats.org/drawingml/2006/main">
            <a:r>
              <a:t>      },</a:t>
            </a:r>
          </a:p>
          <a:p xmlns:a="http://schemas.openxmlformats.org/drawingml/2006/main">
            <a:r>
              <a:t>      {</a:t>
            </a:r>
          </a:p>
          <a:p xmlns:a="http://schemas.openxmlformats.org/drawingml/2006/main">
            <a:r>
              <a:t>        "id": "SFR-003",</a:t>
            </a:r>
          </a:p>
          <a:p xmlns:a="http://schemas.openxmlformats.org/drawingml/2006/main">
            <a:r>
              <a:t>        "title": "AI 스팸 챗봇 서비스 모델",</a:t>
            </a:r>
          </a:p>
          <a:p xmlns:a="http://schemas.openxmlformats.org/drawingml/2006/main">
            <a:r>
              <a:t>        "locator": "SFR-003",</a:t>
            </a:r>
          </a:p>
          <a:p xmlns:a="http://schemas.openxmlformats.org/drawingml/2006/main">
            <a:r>
              <a:t>        "summary": "스팸 업무 질의응답을 위한 AI 모델 구성·적용.",</a:t>
            </a:r>
          </a:p>
          <a:p xmlns:a="http://schemas.openxmlformats.org/drawingml/2006/main">
            <a:r>
              <a:t>        "data": "질의·검색 근거 → 답변 후보",</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"C05"</a:t>
            </a:r>
          </a:p>
          <a:p xmlns:a="http://schemas.openxmlformats.org/drawingml/2006/main">
            <a:r>
              <a:t>        ],</a:t>
            </a:r>
          </a:p>
          <a:p xmlns:a="http://schemas.openxmlformats.org/drawingml/2006/main">
            <a:r>
              <a:t>        "acceptance": "근거 없는 법적 단정, 문맥 누락, 질의와 무관한 응답을 업무 정답셋으로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"0a22a75c9aff1f580a391a05ac9dd97d69d7041aaacdeb61d959ac868e268182"</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"AI 스팸 챗봇 서비스 관리자 기능",</a:t>
            </a:r>
          </a:p>
          <a:p xmlns:a="http://schemas.openxmlformats.org/drawingml/2006/main">
            <a:r>
              <a:t>        "locator": "SFR-004",</a:t>
            </a:r>
          </a:p>
          <a:p xmlns:a="http://schemas.openxmlformats.org/drawingml/2006/main">
            <a:r>
              <a:t>        "summary": "관리자의 지식·서비스 관리 기능 제공.",</a:t>
            </a:r>
          </a:p>
          <a:p xmlns:a="http://schemas.openxmlformats.org/drawingml/2006/main">
            <a:r>
              <a:t>        "data": "관리 요청·역할 → 변경 상태·관리 이력",</a:t>
            </a:r>
          </a:p>
          <a:p xmlns:a="http://schemas.openxmlformats.org/drawingml/2006/main">
            <a:r>
              <a:t>        "components": [</a:t>
            </a:r>
          </a:p>
          <a:p xmlns:a="http://schemas.openxmlformats.org/drawingml/2006/main">
            <a:r>
              <a:t>          "C06",</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"지식 수정·게시·삭제의 역할별 허용 범위와 변경 이력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"ce1ed31f57a53d9437e86a03bf98a363804d06301256c43e3043f4bb989b4cf2"</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"AI 스팸 챗봇 서비스 시스템 연계",</a:t>
            </a:r>
          </a:p>
          <a:p xmlns:a="http://schemas.openxmlformats.org/drawingml/2006/main">
            <a:r>
              <a:t>        "locator": "SFR-005",</a:t>
            </a:r>
          </a:p>
          <a:p xmlns:a="http://schemas.openxmlformats.org/drawingml/2006/main">
            <a:r>
              <a:t>        "summary": "기존 업무시스템과 AI 챗봇의 연계 기능.",</a:t>
            </a:r>
          </a:p>
          <a:p xmlns:a="http://schemas.openxmlformats.org/drawingml/2006/main">
            <a:r>
              <a:t>        "data": "업무 문맥·연계 요청 → 조회·안내 결과",</a:t>
            </a:r>
          </a:p>
          <a:p xmlns:a="http://schemas.openxmlformats.org/drawingml/2006/main">
            <a:r>
              <a:t>        "components": [</a:t>
            </a:r>
          </a:p>
          <a:p xmlns:a="http://schemas.openxmlformats.org/drawingml/2006/main">
            <a:r>
              <a:t>          "C07"</a:t>
            </a:r>
          </a:p>
          <a:p xmlns:a="http://schemas.openxmlformats.org/drawingml/2006/main">
            <a:r>
              <a:t>        ],</a:t>
            </a:r>
          </a:p>
          <a:p xmlns:a="http://schemas.openxmlformats.org/drawingml/2006/main">
            <a:r>
              <a:t>        "acceptance": "인증 오류·미존재 데이터·연계 실패 시 비정상 결과의 차단과 안내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"c374e49a08490d67a908b7b7b170dfeb3da38abb43f5b88ec0757c0fa5ca99bd"</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"AI 스팸 챗봇 서비스 운영 관리",</a:t>
            </a:r>
          </a:p>
          <a:p xmlns:a="http://schemas.openxmlformats.org/drawingml/2006/main">
            <a:r>
              <a:t>        "locator": "SFR-006",</a:t>
            </a:r>
          </a:p>
          <a:p xmlns:a="http://schemas.openxmlformats.org/drawingml/2006/main">
            <a:r>
              <a:t>        "summary": "AI 서비스의 운영 상태와 처리 이력을 관리하는 기능.",</a:t>
            </a:r>
          </a:p>
          <a:p xmlns:a="http://schemas.openxmlformats.org/drawingml/2006/main">
            <a:r>
              <a:t>        "data": "이용·오류·운영 설정 → 모니터링·운영 기록",</a:t>
            </a:r>
          </a:p>
          <a:p xmlns:a="http://schemas.openxmlformats.org/drawingml/2006/main">
            <a:r>
              <a:t>        "components": [</a:t>
            </a:r>
          </a:p>
          <a:p xmlns:a="http://schemas.openxmlformats.org/drawingml/2006/main">
            <a:r>
              <a:t>          "C08"</a:t>
            </a:r>
          </a:p>
          <a:p xmlns:a="http://schemas.openxmlformats.org/drawingml/2006/main">
            <a:r>
              <a:t>        ],</a:t>
            </a:r>
          </a:p>
          <a:p xmlns:a="http://schemas.openxmlformats.org/drawingml/2006/main">
            <a:r>
              <a:t>        "acceptance": "장애·오답 접수부터 보정·재시험까지의 처리 상태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"395a971c3bf9980e201f02ac77a12b82db4fe21d2b72114e968d66ade8a04577"</a:t>
            </a:r>
          </a:p>
          <a:p xmlns:a="http://schemas.openxmlformats.org/drawingml/2006/main">
            <a:r>
              <a:t>      },</a:t>
            </a:r>
          </a:p>
          <a:p xmlns:a="http://schemas.openxmlformats.org/drawingml/2006/main">
            <a:r>
              <a:t>      {</a:t>
            </a:r>
          </a:p>
          <a:p xmlns:a="http://schemas.openxmlformats.org/drawingml/2006/main">
            <a:r>
              <a:t>        "id": "QUR-001",</a:t>
            </a:r>
          </a:p>
          <a:p xmlns:a="http://schemas.openxmlformats.org/drawingml/2006/main">
            <a:r>
              <a:t>        "title": "AI 스팸 챗봇 서비스 답변 품질",</a:t>
            </a:r>
          </a:p>
          <a:p xmlns:a="http://schemas.openxmlformats.org/drawingml/2006/main">
            <a:r>
              <a:t>        "locator": "QUR-001",</a:t>
            </a:r>
          </a:p>
          <a:p xmlns:a="http://schemas.openxmlformats.org/drawingml/2006/main">
            <a:r>
              <a:t>        "summary": "답변 품질을 점검하고 개선하는 품질 요구.",</a:t>
            </a:r>
          </a:p>
          <a:p xmlns:a="http://schemas.openxmlformats.org/drawingml/2006/main">
            <a:r>
              <a:t>        "data": "질문·정답·생성 답변 → 품질 판정·개선 기록",</a:t>
            </a:r>
          </a:p>
          <a:p xmlns:a="http://schemas.openxmlformats.org/drawingml/2006/main">
            <a:r>
              <a:t>        "components": [</a:t>
            </a:r>
          </a:p>
          <a:p xmlns:a="http://schemas.openxmlformats.org/drawingml/2006/main">
            <a:r>
              <a:t>          "C05",</a:t>
            </a:r>
          </a:p>
          <a:p xmlns:a="http://schemas.openxmlformats.org/drawingml/2006/main">
            <a:r>
              <a:t>          "C08"</a:t>
            </a:r>
          </a:p>
          <a:p xmlns:a="http://schemas.openxmlformats.org/drawingml/2006/main">
            <a:r>
              <a:t>        ],</a:t>
            </a:r>
          </a:p>
          <a:p xmlns:a="http://schemas.openxmlformats.org/drawingml/2006/main">
            <a:r>
              <a:t>        "acceptance": "업무 질문별 근거 정확성·완전성·일관성 평가와 보정 전후 비교 증빙",</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"0c8005e93cc9209037bfdf5a605228a1bae7e84453afbbd8fc4dd6696d08fb71"</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"홈페이지·앱 질의",</a:t>
            </a:r>
          </a:p>
          <a:p xmlns:a="http://schemas.openxmlformats.org/drawingml/2006/main">
            <a:r>
              <a:t>          "layer": "이용 접점",</a:t>
            </a:r>
          </a:p>
          <a:p xmlns:a="http://schemas.openxmlformats.org/drawingml/2006/main">
            <a:r>
              <a:t>          "detail": "민원인·스팸 정책 담당·평가자",</a:t>
            </a:r>
          </a:p>
          <a:p xmlns:a="http://schemas.openxmlformats.org/drawingml/2006/main">
            <a:r>
              <a:t>          "requirements": [</a:t>
            </a:r>
          </a:p>
          <a:p xmlns:a="http://schemas.openxmlformats.org/drawingml/2006/main">
            <a:r>
              <a:t>            "SFR-001"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"문의·민감정보",</a:t>
            </a:r>
          </a:p>
          <a:p xmlns:a="http://schemas.openxmlformats.org/drawingml/2006/main">
            <a:r>
              <a:t>          "layer": "업무 문맥",</a:t>
            </a:r>
          </a:p>
          <a:p xmlns:a="http://schemas.openxmlformats.org/drawingml/2006/main">
            <a:r>
              <a:t>          "detail": "질의 길이·민감정보·공격 입력 점검",</a:t>
            </a:r>
          </a:p>
          <a:p xmlns:a="http://schemas.openxmlformats.org/drawingml/2006/main">
            <a:r>
              <a:t>          "requirements": [</a:t>
            </a:r>
          </a:p>
          <a:p xmlns:a="http://schemas.openxmlformats.org/drawingml/2006/main">
            <a:r>
              <a:t>            "SFR-001"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"법령 RAG 검색",</a:t>
            </a:r>
          </a:p>
          <a:p xmlns:a="http://schemas.openxmlformats.org/drawingml/2006/main">
            <a:r>
              <a:t>          "layer": "자료 조회",</a:t>
            </a:r>
          </a:p>
          <a:p xmlns:a="http://schemas.openxmlformats.org/drawingml/2006/main">
            <a:r>
              <a:t>          "detail": "질의",</a:t>
            </a:r>
          </a:p>
          <a:p xmlns:a="http://schemas.openxmlformats.org/drawingml/2006/main">
            <a:r>
              <a:t>          "requirements": [</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"외부 생성 AI API",</a:t>
            </a:r>
          </a:p>
          <a:p xmlns:a="http://schemas.openxmlformats.org/drawingml/2006/main">
            <a:r>
              <a:t>          "layer": "핵심 처리",</a:t>
            </a:r>
          </a:p>
          <a:p xmlns:a="http://schemas.openxmlformats.org/drawingml/2006/main">
            <a:r>
              <a:t>          "detail": "외부 생성형 AI API와 RAG 연결",</a:t>
            </a:r>
          </a:p>
          <a:p xmlns:a="http://schemas.openxmlformats.org/drawingml/2006/main">
            <a:r>
              <a:t>          "requirements": [</a:t>
            </a:r>
          </a:p>
          <a:p xmlns:a="http://schemas.openxmlformats.org/drawingml/2006/main">
            <a:r>
              <a:t>            "SFR-001",</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"출처·답변불가 판정",</a:t>
            </a:r>
          </a:p>
          <a:p xmlns:a="http://schemas.openxmlformats.org/drawingml/2006/main">
            <a:r>
              <a:t>          "layer": "결과 검증",</a:t>
            </a:r>
          </a:p>
          <a:p xmlns:a="http://schemas.openxmlformats.org/drawingml/2006/main">
            <a:r>
              <a:t>          "detail": "조문별 정답·근거 없음 거부셋",</a:t>
            </a:r>
          </a:p>
          <a:p xmlns:a="http://schemas.openxmlformats.org/drawingml/2006/main">
            <a:r>
              <a:t>          "requirements": [</a:t>
            </a:r>
          </a:p>
          <a:p xmlns:a="http://schemas.openxmlformats.org/drawingml/2006/main">
            <a:r>
              <a:t>            "SFR-003",</a:t>
            </a:r>
          </a:p>
          <a:p xmlns:a="http://schemas.openxmlformats.org/drawingml/2006/main">
            <a:r>
              <a:t>            "QUR-001"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"민원인·전문가",</a:t>
            </a:r>
          </a:p>
          <a:p xmlns:a="http://schemas.openxmlformats.org/drawingml/2006/main">
            <a:r>
              <a:t>          "layer": "사람 확인",</a:t>
            </a:r>
          </a:p>
          <a:p xmlns:a="http://schemas.openxmlformats.org/drawingml/2006/main">
            <a:r>
              <a:t>          "detail": "스팸 전송 상황을 질문하고 관련 법령·체크리스트 안내",</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"답변·후속 안내",</a:t>
            </a:r>
          </a:p>
          <a:p xmlns:a="http://schemas.openxmlformats.org/drawingml/2006/main">
            <a:r>
              <a:t>          "layer": "업무 연결",</a:t>
            </a:r>
          </a:p>
          <a:p xmlns:a="http://schemas.openxmlformats.org/drawingml/2006/main">
            <a:r>
              <a:t>          "detail": "출처 답변 또는 답변불가 안내 제공",</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"자동·전문가 평가",</a:t>
            </a:r>
          </a:p>
          <a:p xmlns:a="http://schemas.openxmlformats.org/drawingml/2006/main">
            <a:r>
              <a:t>          "layer": "운영 관측",</a:t>
            </a:r>
          </a:p>
          <a:p xmlns:a="http://schemas.openxmlformats.org/drawingml/2006/main">
            <a:r>
              <a:t>          "detail": "자동 평가·전문가 판정·호출량·지연 관리",</a:t>
            </a:r>
          </a:p>
          <a:p xmlns:a="http://schemas.openxmlformats.org/drawingml/2006/main">
            <a:r>
              <a:t>          "requirements": [</a:t>
            </a:r>
          </a:p>
          <a:p xmlns:a="http://schemas.openxmlformats.org/drawingml/2006/main">
            <a:r>
              <a:t>            "SFR-004",</a:t>
            </a:r>
          </a:p>
          <a:p xmlns:a="http://schemas.openxmlformats.org/drawingml/2006/main">
            <a:r>
              <a:t>            "SFR-006",</a:t>
            </a:r>
          </a:p>
          <a:p xmlns:a="http://schemas.openxmlformats.org/drawingml/2006/main">
            <a:r>
              <a:t>            "QUR-001"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"스팸법령·가이드",</a:t>
            </a:r>
          </a:p>
          <a:p xmlns:a="http://schemas.openxmlformats.org/drawingml/2006/main">
            <a:r>
              <a:t>          "layer": "데이터 원천",</a:t>
            </a:r>
          </a:p>
          <a:p xmlns:a="http://schemas.openxmlformats.org/drawingml/2006/main">
            <a:r>
              <a:t>          "detail": "법령·체크리스트",</a:t>
            </a:r>
          </a:p>
          <a:p xmlns:a="http://schemas.openxmlformats.org/drawingml/2006/main">
            <a:r>
              <a:t>          "requirements": [</a:t>
            </a:r>
          </a:p>
          <a:p xmlns:a="http://schemas.openxmlformats.org/drawingml/2006/main">
            <a:r>
              <a:t>            "SFR-002"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"조문·판본 정비",</a:t>
            </a:r>
          </a:p>
          <a:p xmlns:a="http://schemas.openxmlformats.org/drawingml/2006/main">
            <a:r>
              <a:t>          "layer": "준비·갱신",</a:t>
            </a:r>
          </a:p>
          <a:p xmlns:a="http://schemas.openxmlformats.org/drawingml/2006/main">
            <a:r>
              <a:t>          "detail": "법령·가이드·체크리스트의 최신 판본 관리",</a:t>
            </a:r>
          </a:p>
          <a:p xmlns:a="http://schemas.openxmlformats.org/drawingml/2006/main">
            <a:r>
              <a:t>          "requirements": [</a:t>
            </a:r>
          </a:p>
          <a:p xmlns:a="http://schemas.openxmlformats.org/drawingml/2006/main">
            <a:r>
              <a:t>            "SFR-002"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"지식·평가셋",</a:t>
            </a:r>
          </a:p>
          <a:p xmlns:a="http://schemas.openxmlformats.org/drawingml/2006/main">
            <a:r>
              <a:t>          "layer": "상태·지식 저장",</a:t>
            </a:r>
          </a:p>
          <a:p xmlns:a="http://schemas.openxmlformats.org/drawingml/2006/main">
            <a:r>
              <a:t>          "detail": "전문가 정답표·거부셋·최종 RFP 성능조건별 측정",</a:t>
            </a:r>
          </a:p>
          <a:p xmlns:a="http://schemas.openxmlformats.org/drawingml/2006/main">
            <a:r>
              <a:t>          "requirements": [</a:t>
            </a:r>
          </a:p>
          <a:p xmlns:a="http://schemas.openxmlformats.org/drawingml/2006/main">
            <a:r>
              <a:t>            "SFR-002"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"입력·호출·지연 정책",</a:t>
            </a:r>
          </a:p>
          <a:p xmlns:a="http://schemas.openxmlformats.org/drawingml/2006/main">
            <a:r>
              <a:t>          "layer": "권한·정책",</a:t>
            </a:r>
          </a:p>
          <a:p xmlns:a="http://schemas.openxmlformats.org/drawingml/2006/main">
            <a:r>
              <a:t>          "detail": "개정 전 조문·근거 없는 질의·공격 입력·부하 증가",</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"질의 길이·민감정보·공격 입력 점검",</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"질의",</a:t>
            </a:r>
          </a:p>
          <a:p xmlns:a="http://schemas.openxmlformats.org/drawingml/2006/main">
            <a:r>
              <a:t>          "check": "조문별 정답·근거 없음 거부셋"</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"법령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"답변·보류",</a:t>
            </a:r>
          </a:p>
          <a:p xmlns:a="http://schemas.openxmlformats.org/drawingml/2006/main">
            <a:r>
              <a:t>          "check": "개정 전 조문·근거 없는 질의·공격 입력·부하 증가"</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"답변·보류",</a:t>
            </a:r>
          </a:p>
          <a:p xmlns:a="http://schemas.openxmlformats.org/drawingml/2006/main">
            <a:r>
              <a:t>          "check": "출처 답변 또는 답변불가 안내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"전문가 판정",</a:t>
            </a:r>
          </a:p>
          <a:p xmlns:a="http://schemas.openxmlformats.org/drawingml/2006/main">
            <a:r>
              <a:t>          "check": "전문가 정답표·거부셋·최종 RFP 성능조건별 측정"</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"최종 RFP SFR-001~006·QUR-001",</a:t>
            </a:r>
          </a:p>
          <a:p xmlns:a="http://schemas.openxmlformats.org/drawingml/2006/main">
            <a:r>
              <a:t>        "extracted": "외부 생성형 AI API·RAG·출처·답변불가·전문가 평가",</a:t>
            </a:r>
          </a:p>
          <a:p xmlns:a="http://schemas.openxmlformats.org/drawingml/2006/main">
            <a:r>
              <a:t>        "extension": "질의 공격·근거 부재·법령 개정의 독립 시험셋"</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"개정 전 조문·근거 없는 질의·공격 입력·부하 증가",</a:t>
            </a:r>
          </a:p>
          <a:p xmlns:a="http://schemas.openxmlformats.org/drawingml/2006/main">
            <a:r>
              <a:t>        "hold": "조문별 정답·근거 없음 거부셋",</a:t>
            </a:r>
          </a:p>
          <a:p xmlns:a="http://schemas.openxmlformats.org/drawingml/2006/main">
            <a:r>
              <a:t>        "recovery": "자동 평가·전문가 판정·호출량·지연 관리",</a:t>
            </a:r>
          </a:p>
          <a:p xmlns:a="http://schemas.openxmlformats.org/drawingml/2006/main">
            <a:r>
              <a:t>        "evidence": "전문가 정답표·거부셋·최종 RFP 성능조건별 측정"</a:t>
            </a:r>
          </a:p>
          <a:p xmlns:a="http://schemas.openxmlformats.org/drawingml/2006/main">
            <a:r>
              <a:t>      },</a:t>
            </a:r>
          </a:p>
          <a:p xmlns:a="http://schemas.openxmlformats.org/drawingml/2006/main">
            <a:r>
              <a:t>      "data": {</a:t>
            </a:r>
          </a:p>
          <a:p xmlns:a="http://schemas.openxmlformats.org/drawingml/2006/main">
            <a:r>
              <a:t>        "source": "법령·체크리스트",</a:t>
            </a:r>
          </a:p>
          <a:p xmlns:a="http://schemas.openxmlformats.org/drawingml/2006/main">
            <a:r>
              <a:t>        "prepare": "법령·가이드·체크리스트의 최신 판본 관리",</a:t>
            </a:r>
          </a:p>
          <a:p xmlns:a="http://schemas.openxmlformats.org/drawingml/2006/main">
            <a:r>
              <a:t>        "output": "질의",</a:t>
            </a:r>
          </a:p>
          <a:p xmlns:a="http://schemas.openxmlformats.org/drawingml/2006/main">
            <a:r>
              <a:t>        "refresh": "자동 평가·전문가 판정·호출량·지연 관리"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"PF-R07",</a:t>
            </a:r>
          </a:p>
          <a:p xmlns:a="http://schemas.openxmlformats.org/drawingml/2006/main">
            <a:r>
              <a:t>    "success": [</a:t>
            </a:r>
          </a:p>
          <a:p xmlns:a="http://schemas.openxmlformats.org/drawingml/2006/main">
            <a:r>
              <a:t>      "법령·체크리스트의 RAG 연결",</a:t>
            </a:r>
          </a:p>
          <a:p xmlns:a="http://schemas.openxmlformats.org/drawingml/2006/main">
            <a:r>
              <a:t>      "출처·보류·전문가 평가 요구"</a:t>
            </a:r>
          </a:p>
          <a:p xmlns:a="http://schemas.openxmlformats.org/drawingml/2006/main">
            <a:r>
              <a:t>    ],</a:t>
            </a:r>
          </a:p>
          <a:p xmlns:a="http://schemas.openxmlformats.org/drawingml/2006/main">
            <a:r>
              <a:t>    "risks": [</a:t>
            </a:r>
          </a:p>
          <a:p xmlns:a="http://schemas.openxmlformats.org/drawingml/2006/main">
            <a:r>
              <a:t>      "구버전 법령·상충 답변",</a:t>
            </a:r>
          </a:p>
          <a:p xmlns:a="http://schemas.openxmlformats.org/drawingml/2006/main">
            <a:r>
              <a:t>      "입찰 요구를 구현 기능으로 인식"</a:t>
            </a:r>
          </a:p>
          <a:p xmlns:a="http://schemas.openxmlformats.org/drawingml/2006/main">
            <a:r>
              <a:t>    ],</a:t>
            </a:r>
          </a:p>
          <a:p xmlns:a="http://schemas.openxmlformats.org/drawingml/2006/main">
            <a:r>
              <a:t>    "architecture": [</a:t>
            </a:r>
          </a:p>
          <a:p xmlns:a="http://schemas.openxmlformats.org/drawingml/2006/main">
            <a:r>
              <a:t>      "스팸 민원 질의",</a:t>
            </a:r>
          </a:p>
          <a:p xmlns:a="http://schemas.openxmlformats.org/drawingml/2006/main">
            <a:r>
              <a:t>      "외부 AI·RAG",</a:t>
            </a:r>
          </a:p>
          <a:p xmlns:a="http://schemas.openxmlformats.org/drawingml/2006/main">
            <a:r>
              <a:t>      "법령·체크리스트",</a:t>
            </a:r>
          </a:p>
          <a:p xmlns:a="http://schemas.openxmlformats.org/drawingml/2006/main">
            <a:r>
              <a:t>      "민원·평가 담당"</a:t>
            </a:r>
          </a:p>
          <a:p xmlns:a="http://schemas.openxmlformats.org/drawingml/2006/main">
            <a:r>
              <a:t>    ],</a:t>
            </a:r>
          </a:p>
          <a:p xmlns:a="http://schemas.openxmlformats.org/drawingml/2006/main">
            <a:r>
              <a:t>    "transfers": [</a:t>
            </a:r>
          </a:p>
          <a:p xmlns:a="http://schemas.openxmlformats.org/drawingml/2006/main">
            <a:r>
              <a:t>      "질의",</a:t>
            </a:r>
          </a:p>
          <a:p xmlns:a="http://schemas.openxmlformats.org/drawingml/2006/main">
            <a:r>
              <a:t>      "법령 근거",</a:t>
            </a:r>
          </a:p>
          <a:p xmlns:a="http://schemas.openxmlformats.org/drawingml/2006/main">
            <a:r>
              <a:t>      "답변·보류",</a:t>
            </a:r>
          </a:p>
          <a:p xmlns:a="http://schemas.openxmlformats.org/drawingml/2006/main">
            <a:r>
              <a:t>      "전문가 판정"</a:t>
            </a:r>
          </a:p>
          <a:p xmlns:a="http://schemas.openxmlformats.org/drawingml/2006/main">
            <a:r>
              <a:t>    ],</a:t>
            </a:r>
          </a:p>
          <a:p xmlns:a="http://schemas.openxmlformats.org/drawingml/2006/main">
            <a:r>
              <a:t>    "control": "조문별 정답·근거 없음 거부셋",</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SFR-001~006, PER-001·004, QUR-001 / Word T080 https://www.kisa.kr/post/fileDownload?menuSeq=403&amp;postSeq=10891&amp;attachSeq=2&amp;lang_type=KO</a:t>
            </a:r>
          </a:p>
          <a:p xmlns:a="http://schemas.openxmlformats.org/drawingml/2006/main">
            <a:r>
              <a:t>홈페이지 https://heen1987-ops.github.io/TS-business-Plan-001/index.html?view=platform-cases&amp;case=PF-R07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"PF-R07",</a:t>
            </a:r>
          </a:p>
          <a:p xmlns:a="http://schemas.openxmlformats.org/drawingml/2006/main">
            <a:r>
              <a:t>    "sourceId": "R07",</a:t>
            </a:r>
          </a:p>
          <a:p xmlns:a="http://schemas.openxmlformats.org/drawingml/2006/main">
            <a:r>
              <a:t>    "title": "KISA 스팸 민원 AI",</a:t>
            </a:r>
          </a:p>
          <a:p xmlns:a="http://schemas.openxmlformats.org/drawingml/2006/main">
            <a:r>
              <a:t>    "region": "국내",</a:t>
            </a:r>
          </a:p>
          <a:p xmlns:a="http://schemas.openxmlformats.org/drawingml/2006/main">
            <a:r>
              <a:t>    "owner": "한국인터넷진흥원(KISA)",</a:t>
            </a:r>
          </a:p>
          <a:p xmlns:a="http://schemas.openxmlformats.org/drawingml/2006/main">
            <a:r>
              <a:t>    "state": "2026-10-14 본공고·최종 첨부 확인 / 입찰 진행",</a:t>
            </a:r>
          </a:p>
          <a:p xmlns:a="http://schemas.openxmlformats.org/drawingml/2006/main">
            <a:r>
              <a:t>    "period": "기존 원장 확인 2026.10.16",</a:t>
            </a:r>
          </a:p>
          <a:p xmlns:a="http://schemas.openxmlformats.org/drawingml/2006/main">
            <a:r>
              <a:t>    "fact": "스팸 법령·자율규제 민원 챗봇과 지식·체크리스트 관리",</a:t>
            </a:r>
          </a:p>
          <a:p xmlns:a="http://schemas.openxmlformats.org/drawingml/2006/main">
            <a:r>
              <a:t>    "limit": "사전본 동시300명→본공고100명. 오픈소스 모델/라이브러리 문구→외부 생성형AI API+RAG 방식",</a:t>
            </a:r>
          </a:p>
          <a:p xmlns:a="http://schemas.openxmlformats.org/drawingml/2006/main">
            <a:r>
              <a:t>    "nodes": [</a:t>
            </a:r>
          </a:p>
          <a:p xmlns:a="http://schemas.openxmlformats.org/drawingml/2006/main">
            <a:r>
              <a:t>      "법령·지식",</a:t>
            </a:r>
          </a:p>
          <a:p xmlns:a="http://schemas.openxmlformats.org/drawingml/2006/main">
            <a:r>
              <a:t>      "외부 AI·RAG",</a:t>
            </a:r>
          </a:p>
          <a:p xmlns:a="http://schemas.openxmlformats.org/drawingml/2006/main">
            <a:r>
              <a:t>      "출처·답변 보류",</a:t>
            </a:r>
          </a:p>
          <a:p xmlns:a="http://schemas.openxmlformats.org/drawingml/2006/main">
            <a:r>
              <a:t>      "전문가 평가"</a:t>
            </a:r>
          </a:p>
          <a:p xmlns:a="http://schemas.openxmlformats.org/drawingml/2006/main">
            <a:r>
              <a:t>    ],</a:t>
            </a:r>
          </a:p>
          <a:p xmlns:a="http://schemas.openxmlformats.org/drawingml/2006/main">
            <a:r>
              <a:t>    "apply": "민원 답변의 법령 근거·보류 조건·전문가 평가를 운영 기준으로 관리",</a:t>
            </a:r>
          </a:p>
          <a:p xmlns:a="http://schemas.openxmlformats.org/drawingml/2006/main">
            <a:r>
              <a:t>    "delta": "법령·체크리스트 판본 / 응답 보류 / 전문가 정답셋·부하 시험",</a:t>
            </a:r>
          </a:p>
          <a:p xmlns:a="http://schemas.openxmlformats.org/drawingml/2006/main">
            <a:r>
              <a:t>    "test": "개정 조문·근거 부재·공격 입력·동시 요청의 품질·성능 대조",</a:t>
            </a:r>
          </a:p>
          <a:p xmlns:a="http://schemas.openxmlformats.org/drawingml/2006/main">
            <a:r>
              <a:t>    "url": "https://www.kisa.kr/post/fileDownload?menuSeq=403&amp;postSeq=10891&amp;attachSeq=2&amp;lang_type=KO",</a:t>
            </a:r>
          </a:p>
          <a:p xmlns:a="http://schemas.openxmlformats.org/drawingml/2006/main">
            <a:r>
              <a:t>    "urls": [</a:t>
            </a:r>
          </a:p>
          <a:p xmlns:a="http://schemas.openxmlformats.org/drawingml/2006/main">
            <a:r>
              <a:t>      "https://www.kisa.kr/post/fileDownload?menuSeq=403&amp;postSeq=10891&amp;attachSeq=2&amp;lang_type=KO",</a:t>
            </a:r>
          </a:p>
          <a:p xmlns:a="http://schemas.openxmlformats.org/drawingml/2006/main">
            <a:r>
              <a:t>      "https://www.kisa.kr/403/form?postSeq=10891"</a:t>
            </a:r>
          </a:p>
          <a:p xmlns:a="http://schemas.openxmlformats.org/drawingml/2006/main">
            <a:r>
              <a:t>    ],</a:t>
            </a:r>
          </a:p>
          <a:p xmlns:a="http://schemas.openxmlformats.org/drawingml/2006/main">
            <a:r>
              <a:t>    "basis": "SFR-001~006, PER-001·004, QUR-001 / Word T080",</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"근거 정답률 / 보류 적정률 / 응답시간·오류율",</a:t>
            </a:r>
          </a:p>
          <a:p xmlns:a="http://schemas.openxmlformats.org/drawingml/2006/main">
            <a:r>
              <a:t>    "group": "요구·구축",</a:t>
            </a:r>
          </a:p>
          <a:p xmlns:a="http://schemas.openxmlformats.org/drawingml/2006/main">
            <a:r>
              <a:t>    "sourceDetail": "외부 생성형 AI API+RAG, 홈페이지/앱 연계, 출처·최신성·답변불가 안내, 자동/전문가 평가",</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"PF-R07",</a:t>
            </a:r>
          </a:p>
          <a:p xmlns:a="http://schemas.openxmlformats.org/drawingml/2006/main">
            <a:r>
              <a:t>    "canonicalId": "PF-R07",</a:t>
            </a:r>
          </a:p>
          <a:p xmlns:a="http://schemas.openxmlformats.org/drawingml/2006/main">
            <a:r>
              <a:t>    "purpose": "스팸 법령과 체크리스트의 민원 응답",</a:t>
            </a:r>
          </a:p>
          <a:p xmlns:a="http://schemas.openxmlformats.org/drawingml/2006/main">
            <a:r>
              <a:t>    "users": "민원인·스팸 정책 담당·평가자",</a:t>
            </a:r>
          </a:p>
          <a:p xmlns:a="http://schemas.openxmlformats.org/drawingml/2006/main">
            <a:r>
              <a:t>    "scope": [</a:t>
            </a:r>
          </a:p>
          <a:p xmlns:a="http://schemas.openxmlformats.org/drawingml/2006/main">
            <a:r>
              <a:t>      "홈페이지·앱",</a:t>
            </a:r>
          </a:p>
          <a:p xmlns:a="http://schemas.openxmlformats.org/drawingml/2006/main">
            <a:r>
              <a:t>      "지식 질의",</a:t>
            </a:r>
          </a:p>
          <a:p xmlns:a="http://schemas.openxmlformats.org/drawingml/2006/main">
            <a:r>
              <a:t>      "전문가 평가"</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"스팸 민원 질의",</a:t>
            </a:r>
          </a:p>
          <a:p xmlns:a="http://schemas.openxmlformats.org/drawingml/2006/main">
            <a:r>
              <a:t>        "detail": "질의 길이·민감정보·공격 입력 점검",</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"홈페이지·앱 / 지식 질의 / 전문가 평가",</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"외부 AI·RAG",</a:t>
            </a:r>
          </a:p>
          <a:p xmlns:a="http://schemas.openxmlformats.org/drawingml/2006/main">
            <a:r>
              <a:t>        "detail": "외부 생성형 AI API와 RAG 연결",</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"민원·평가 담당",</a:t>
            </a:r>
          </a:p>
          <a:p xmlns:a="http://schemas.openxmlformats.org/drawingml/2006/main">
            <a:r>
              <a:t>        "detail": "출처 답변 또는 답변불가 안내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"법령·체크리스트",</a:t>
            </a:r>
          </a:p>
          <a:p xmlns:a="http://schemas.openxmlformats.org/drawingml/2006/main">
            <a:r>
              <a:t>        "detail": "법령·가이드·체크리스트의 최신 판본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"자동 평가·전문가 판정·호출량·지연 관리",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"법령·지식",</a:t>
            </a:r>
          </a:p>
          <a:p xmlns:a="http://schemas.openxmlformats.org/drawingml/2006/main">
            <a:r>
              <a:t>        "input": "질의 길이·민감정보·공격 입력 점검",</a:t>
            </a:r>
          </a:p>
          <a:p xmlns:a="http://schemas.openxmlformats.org/drawingml/2006/main">
            <a:r>
              <a:t>        "process": "법령·가이드·체크리스트의 최신 판본 관리",</a:t>
            </a:r>
          </a:p>
          <a:p xmlns:a="http://schemas.openxmlformats.org/drawingml/2006/main">
            <a:r>
              <a:t>        "output": "질의"</a:t>
            </a:r>
          </a:p>
          <a:p xmlns:a="http://schemas.openxmlformats.org/drawingml/2006/main">
            <a:r>
              <a:t>      },</a:t>
            </a:r>
          </a:p>
          <a:p xmlns:a="http://schemas.openxmlformats.org/drawingml/2006/main">
            <a:r>
              <a:t>      {</a:t>
            </a:r>
          </a:p>
          <a:p xmlns:a="http://schemas.openxmlformats.org/drawingml/2006/main">
            <a:r>
              <a:t>        "title": "외부 AI·RAG",</a:t>
            </a:r>
          </a:p>
          <a:p xmlns:a="http://schemas.openxmlformats.org/drawingml/2006/main">
            <a:r>
              <a:t>        "input": "질의",</a:t>
            </a:r>
          </a:p>
          <a:p xmlns:a="http://schemas.openxmlformats.org/drawingml/2006/main">
            <a:r>
              <a:t>        "process": "외부 생성형 AI API와 RAG 연결",</a:t>
            </a:r>
          </a:p>
          <a:p xmlns:a="http://schemas.openxmlformats.org/drawingml/2006/main">
            <a:r>
              <a:t>        "output": "법령 근거"</a:t>
            </a:r>
          </a:p>
          <a:p xmlns:a="http://schemas.openxmlformats.org/drawingml/2006/main">
            <a:r>
              <a:t>      },</a:t>
            </a:r>
          </a:p>
          <a:p xmlns:a="http://schemas.openxmlformats.org/drawingml/2006/main">
            <a:r>
              <a:t>      {</a:t>
            </a:r>
          </a:p>
          <a:p xmlns:a="http://schemas.openxmlformats.org/drawingml/2006/main">
            <a:r>
              <a:t>        "title": "출처·답변 보류",</a:t>
            </a:r>
          </a:p>
          <a:p xmlns:a="http://schemas.openxmlformats.org/drawingml/2006/main">
            <a:r>
              <a:t>        "input": "법령 근거",</a:t>
            </a:r>
          </a:p>
          <a:p xmlns:a="http://schemas.openxmlformats.org/drawingml/2006/main">
            <a:r>
              <a:t>        "process": "조문별 정답·근거 없음 거부셋",</a:t>
            </a:r>
          </a:p>
          <a:p xmlns:a="http://schemas.openxmlformats.org/drawingml/2006/main">
            <a:r>
              <a:t>        "output": "답변·보류"</a:t>
            </a:r>
          </a:p>
          <a:p xmlns:a="http://schemas.openxmlformats.org/drawingml/2006/main">
            <a:r>
              <a:t>      },</a:t>
            </a:r>
          </a:p>
          <a:p xmlns:a="http://schemas.openxmlformats.org/drawingml/2006/main">
            <a:r>
              <a:t>      {</a:t>
            </a:r>
          </a:p>
          <a:p xmlns:a="http://schemas.openxmlformats.org/drawingml/2006/main">
            <a:r>
              <a:t>        "title": "전문가 평가",</a:t>
            </a:r>
          </a:p>
          <a:p xmlns:a="http://schemas.openxmlformats.org/drawingml/2006/main">
            <a:r>
              <a:t>        "input": "답변·보류",</a:t>
            </a:r>
          </a:p>
          <a:p xmlns:a="http://schemas.openxmlformats.org/drawingml/2006/main">
            <a:r>
              <a:t>        "process": "출처 답변 또는 답변불가 안내 제공",</a:t>
            </a:r>
          </a:p>
          <a:p xmlns:a="http://schemas.openxmlformats.org/drawingml/2006/main">
            <a:r>
              <a:t>        "output": "전문가 판정"</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"스팸 전송 상황을 질문하고 관련 법령·체크리스트 안내",</a:t>
            </a:r>
          </a:p>
          <a:p xmlns:a="http://schemas.openxmlformats.org/drawingml/2006/main">
            <a:r>
              <a:t>      "exception": "개정 전 조문·근거 없는 질의·공격 입력·부하 증가",</a:t>
            </a:r>
          </a:p>
          <a:p xmlns:a="http://schemas.openxmlformats.org/drawingml/2006/main">
            <a:r>
              <a:t>      "evidence": "전문가 정답표·거부셋·최종 RFP 성능조건별 측정",</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"민원인·스팸 정책 담당·평가자",</a:t>
            </a:r>
          </a:p>
          <a:p xmlns:a="http://schemas.openxmlformats.org/drawingml/2006/main">
            <a:r>
              <a:t>          "processing": "질의 길이·민감정보·공격 입력 점검",</a:t>
            </a:r>
          </a:p>
          <a:p xmlns:a="http://schemas.openxmlformats.org/drawingml/2006/main">
            <a:r>
              <a:t>          "output": "질의"</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"법령·체크리스트",</a:t>
            </a:r>
          </a:p>
          <a:p xmlns:a="http://schemas.openxmlformats.org/drawingml/2006/main">
            <a:r>
              <a:t>          "processing": "법령·가이드·체크리스트의 최신 판본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"질의",</a:t>
            </a:r>
          </a:p>
          <a:p xmlns:a="http://schemas.openxmlformats.org/drawingml/2006/main">
            <a:r>
              <a:t>          "processing": "외부 생성형 AI API와 RAG 연결",</a:t>
            </a:r>
          </a:p>
          <a:p xmlns:a="http://schemas.openxmlformats.org/drawingml/2006/main">
            <a:r>
              <a:t>          "output": "답변·보류"</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"답변·보류",</a:t>
            </a:r>
          </a:p>
          <a:p xmlns:a="http://schemas.openxmlformats.org/drawingml/2006/main">
            <a:r>
              <a:t>          "processing": "출처 답변 또는 답변불가 안내 제공",</a:t>
            </a:r>
          </a:p>
          <a:p xmlns:a="http://schemas.openxmlformats.org/drawingml/2006/main">
            <a:r>
              <a:t>          "output": "전문가 판정"</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"자동 평가·전문가 판정·호출량·지연 관리",</a:t>
            </a:r>
          </a:p>
          <a:p xmlns:a="http://schemas.openxmlformats.org/drawingml/2006/main">
            <a:r>
              <a:t>          "output": "전문가 정답표·거부셋·최종 RFP 성능조건별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"자동 평가·전문가 판정·호출량·지연 관리",</a:t>
            </a:r>
          </a:p>
          <a:p xmlns:a="http://schemas.openxmlformats.org/drawingml/2006/main">
            <a:r>
              <a:t>    "status": "RFP 기반 논리 설계",</a:t>
            </a:r>
          </a:p>
          <a:p xmlns:a="http://schemas.openxmlformats.org/drawingml/2006/main">
            <a:r>
              <a:t>    "basis": "최종 RFP 2026.10.14 · SFR-001~006·PER-001·004·QUR-001",</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"SFR-001~006, PER-001·004, QUR-001 / Word T080",</a:t>
            </a:r>
          </a:p>
          <a:p xmlns:a="http://schemas.openxmlformats.org/drawingml/2006/main">
            <a:r>
              <a:t>        "url": "https://www.kisa.kr/post/fileDownload?menuSeq=403&amp;postSeq=10891&amp;attachSeq=2&amp;lang_type=KO"</a:t>
            </a:r>
          </a:p>
          <a:p xmlns:a="http://schemas.openxmlformats.org/drawingml/2006/main">
            <a:r>
              <a:t>      }</a:t>
            </a:r>
          </a:p>
          <a:p xmlns:a="http://schemas.openxmlformats.org/drawingml/2006/main">
            <a:r>
              <a:t>    ],</a:t>
            </a:r>
          </a:p>
          <a:p xmlns:a="http://schemas.openxmlformats.org/drawingml/2006/main">
            <a:r>
              <a:t>    "implication": "민원 답변의 법령 근거·보류 조건·전문가 평가를 운영 기준으로 관리",</a:t>
            </a:r>
          </a:p>
          <a:p xmlns:a="http://schemas.openxmlformats.org/drawingml/2006/main">
            <a:r>
              <a:t>    "local": "민원 답변의 법령 근거·보류 조건·전문가 평가를 운영 기준으로 관리",</a:t>
            </a:r>
          </a:p>
          <a:p xmlns:a="http://schemas.openxmlformats.org/drawingml/2006/main">
            <a:r>
              <a:t>    "sourceDetail": "외부 생성형 AI API+RAG, 홈페이지/앱 연계, 출처·최신성·답변불가 안내, 자동/전문가 평가",</a:t>
            </a:r>
          </a:p>
          <a:p xmlns:a="http://schemas.openxmlformats.org/drawingml/2006/main">
            <a:r>
              <a:t>    "narrative": [</a:t>
            </a:r>
          </a:p>
          <a:p xmlns:a="http://schemas.openxmlformats.org/drawingml/2006/main">
            <a:r>
              <a:t>      "스팸 관련 법령·가이드·체크리스트를 국민의 질문에 연결하는 대민 AI 상담 구축. 홈페이지·앱 접점과 지식베이스·외부 생성형 AI API·관리자·운영 기능을 함께 요구하는 사업.",</a:t>
            </a:r>
          </a:p>
          <a:p xmlns:a="http://schemas.openxmlformats.org/drawingml/2006/main">
            <a:r>
              <a:t>      "질의 입력 점검 후 최신 법령 근거를 검색하고 외부 AI API로 답변을 생성하는 구조. 검색·답변 단계에서 출처와 답변불가 처리를 분리하고, 자동 평가와 전문가 검토를 운영 과정에 결합하는 설계. 최종 RFP 판본의 성능·품질 요구를 기준으로 비교.",</a:t>
            </a:r>
          </a:p>
          <a:p xmlns:a="http://schemas.openxmlformats.org/drawingml/2006/main">
            <a:r>
              <a:t>      "규정 검색 성공이 적절한 민원 안내를 보장하지 않는 점을 검수에 반영할 필요. 법령 개정, 유사 조문, 근거 없는 질문, 공격성 입력을 구분한 시험셋과 전문가 판정의 연결. TS 안내 서비스에 적용할 경우 법정 판단·신청 처리는 해당 업무 시스템과 담당자의 책임으로 연결."</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"SFR-001",</a:t>
            </a:r>
          </a:p>
          <a:p xmlns:a="http://schemas.openxmlformats.org/drawingml/2006/main">
            <a:r>
              <a:t>        "title": "AI 스팸 챗봇 서비스 구축",</a:t>
            </a:r>
          </a:p>
          <a:p xmlns:a="http://schemas.openxmlformats.org/drawingml/2006/main">
            <a:r>
              <a:t>        "locator": "SFR-001",</a:t>
            </a:r>
          </a:p>
          <a:p xmlns:a="http://schemas.openxmlformats.org/drawingml/2006/main">
            <a:r>
              <a:t>        "summary": "스팸 관련 법령·업무 문의에 대응하는 AI 챗봇 구축.",</a:t>
            </a:r>
          </a:p>
          <a:p xmlns:a="http://schemas.openxmlformats.org/drawingml/2006/main">
            <a:r>
              <a:t>        "data": "국민·사업자 문의 → 안내 응답·업무 경로",</a:t>
            </a:r>
          </a:p>
          <a:p xmlns:a="http://schemas.openxmlformats.org/drawingml/2006/main">
            <a:r>
              <a:t>        "components": [</a:t>
            </a:r>
          </a:p>
          <a:p xmlns:a="http://schemas.openxmlformats.org/drawingml/2006/main">
            <a:r>
              <a:t>          "C01",</a:t>
            </a:r>
          </a:p>
          <a:p xmlns:a="http://schemas.openxmlformats.org/drawingml/2006/main">
            <a:r>
              <a:t>          "C02",</a:t>
            </a:r>
          </a:p>
          <a:p xmlns:a="http://schemas.openxmlformats.org/drawingml/2006/main">
            <a:r>
              <a:t>          "C04"</a:t>
            </a:r>
          </a:p>
          <a:p xmlns:a="http://schemas.openxmlformats.org/drawingml/2006/main">
            <a:r>
              <a:t>        ],</a:t>
            </a:r>
          </a:p>
          <a:p xmlns:a="http://schemas.openxmlformats.org/drawingml/2006/main">
            <a:r>
              <a:t>        "acceptance": "법령 설명·신고 절차·예외 사유 질문을 구분해 올바른 안내 경로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"4c540036c514c5823d4ed4b29b16b7d44b65a0178ba371f0c4ba9d06306df6e9"</a:t>
            </a:r>
          </a:p>
          <a:p xmlns:a="http://schemas.openxmlformats.org/drawingml/2006/main">
            <a:r>
              <a:t>      },</a:t>
            </a:r>
          </a:p>
          <a:p xmlns:a="http://schemas.openxmlformats.org/drawingml/2006/main">
            <a:r>
              <a:t>      {</a:t>
            </a:r>
          </a:p>
          <a:p xmlns:a="http://schemas.openxmlformats.org/drawingml/2006/main">
            <a:r>
              <a:t>        "id": "SFR-002",</a:t>
            </a:r>
          </a:p>
          <a:p xmlns:a="http://schemas.openxmlformats.org/drawingml/2006/main">
            <a:r>
              <a:t>        "title": "AI 스팸 챗봇 서비스 지식베이스 관리",</a:t>
            </a:r>
          </a:p>
          <a:p xmlns:a="http://schemas.openxmlformats.org/drawingml/2006/main">
            <a:r>
              <a:t>        "locator": "SFR-002",</a:t>
            </a:r>
          </a:p>
          <a:p xmlns:a="http://schemas.openxmlformats.org/drawingml/2006/main">
            <a:r>
              <a:t>        "summary": "스팸 관련 지식자료를 등록·정비·활용하는 지식베이스 구성.",</a:t>
            </a:r>
          </a:p>
          <a:p xmlns:a="http://schemas.openxmlformats.org/drawingml/2006/main">
            <a:r>
              <a:t>        "data": "법령·FAQ·업무 자료 → 판본별 검색 근거",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"개정 자료·폐기 자료·상충 FAQ의 승인·갱신 및 검색 제외 결과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"777a548e5cc2d26392428d54f1ec38d4daab521a391239a084a98c967dca9cda"</a:t>
            </a:r>
          </a:p>
          <a:p xmlns:a="http://schemas.openxmlformats.org/drawingml/2006/main">
            <a:r>
              <a:t>      },</a:t>
            </a:r>
          </a:p>
          <a:p xmlns:a="http://schemas.openxmlformats.org/drawingml/2006/main">
            <a:r>
              <a:t>      {</a:t>
            </a:r>
          </a:p>
          <a:p xmlns:a="http://schemas.openxmlformats.org/drawingml/2006/main">
            <a:r>
              <a:t>        "id": "SFR-003",</a:t>
            </a:r>
          </a:p>
          <a:p xmlns:a="http://schemas.openxmlformats.org/drawingml/2006/main">
            <a:r>
              <a:t>        "title": "AI 스팸 챗봇 서비스 모델",</a:t>
            </a:r>
          </a:p>
          <a:p xmlns:a="http://schemas.openxmlformats.org/drawingml/2006/main">
            <a:r>
              <a:t>        "locator": "SFR-003",</a:t>
            </a:r>
          </a:p>
          <a:p xmlns:a="http://schemas.openxmlformats.org/drawingml/2006/main">
            <a:r>
              <a:t>        "summary": "스팸 업무 질의응답을 위한 AI 모델 구성·적용.",</a:t>
            </a:r>
          </a:p>
          <a:p xmlns:a="http://schemas.openxmlformats.org/drawingml/2006/main">
            <a:r>
              <a:t>        "data": "질의·검색 근거 → 답변 후보",</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"C05"</a:t>
            </a:r>
          </a:p>
          <a:p xmlns:a="http://schemas.openxmlformats.org/drawingml/2006/main">
            <a:r>
              <a:t>        ],</a:t>
            </a:r>
          </a:p>
          <a:p xmlns:a="http://schemas.openxmlformats.org/drawingml/2006/main">
            <a:r>
              <a:t>        "acceptance": "근거 없는 법적 단정, 문맥 누락, 질의와 무관한 응답을 업무 정답셋으로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"0a22a75c9aff1f580a391a05ac9dd97d69d7041aaacdeb61d959ac868e268182"</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"AI 스팸 챗봇 서비스 관리자 기능",</a:t>
            </a:r>
          </a:p>
          <a:p xmlns:a="http://schemas.openxmlformats.org/drawingml/2006/main">
            <a:r>
              <a:t>        "locator": "SFR-004",</a:t>
            </a:r>
          </a:p>
          <a:p xmlns:a="http://schemas.openxmlformats.org/drawingml/2006/main">
            <a:r>
              <a:t>        "summary": "관리자의 지식·서비스 관리 기능 제공.",</a:t>
            </a:r>
          </a:p>
          <a:p xmlns:a="http://schemas.openxmlformats.org/drawingml/2006/main">
            <a:r>
              <a:t>        "data": "관리 요청·역할 → 변경 상태·관리 이력",</a:t>
            </a:r>
          </a:p>
          <a:p xmlns:a="http://schemas.openxmlformats.org/drawingml/2006/main">
            <a:r>
              <a:t>        "components": [</a:t>
            </a:r>
          </a:p>
          <a:p xmlns:a="http://schemas.openxmlformats.org/drawingml/2006/main">
            <a:r>
              <a:t>          "C06",</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"지식 수정·게시·삭제의 역할별 허용 범위와 변경 이력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"ce1ed31f57a53d9437e86a03bf98a363804d06301256c43e3043f4bb989b4cf2"</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"AI 스팸 챗봇 서비스 시스템 연계",</a:t>
            </a:r>
          </a:p>
          <a:p xmlns:a="http://schemas.openxmlformats.org/drawingml/2006/main">
            <a:r>
              <a:t>        "locator": "SFR-005",</a:t>
            </a:r>
          </a:p>
          <a:p xmlns:a="http://schemas.openxmlformats.org/drawingml/2006/main">
            <a:r>
              <a:t>        "summary": "기존 업무시스템과 AI 챗봇의 연계 기능.",</a:t>
            </a:r>
          </a:p>
          <a:p xmlns:a="http://schemas.openxmlformats.org/drawingml/2006/main">
            <a:r>
              <a:t>        "data": "업무 문맥·연계 요청 → 조회·안내 결과",</a:t>
            </a:r>
          </a:p>
          <a:p xmlns:a="http://schemas.openxmlformats.org/drawingml/2006/main">
            <a:r>
              <a:t>        "components": [</a:t>
            </a:r>
          </a:p>
          <a:p xmlns:a="http://schemas.openxmlformats.org/drawingml/2006/main">
            <a:r>
              <a:t>          "C07"</a:t>
            </a:r>
          </a:p>
          <a:p xmlns:a="http://schemas.openxmlformats.org/drawingml/2006/main">
            <a:r>
              <a:t>        ],</a:t>
            </a:r>
          </a:p>
          <a:p xmlns:a="http://schemas.openxmlformats.org/drawingml/2006/main">
            <a:r>
              <a:t>        "acceptance": "인증 오류·미존재 데이터·연계 실패 시 비정상 결과의 차단과 안내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"c374e49a08490d67a908b7b7b170dfeb3da38abb43f5b88ec0757c0fa5ca99bd"</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"AI 스팸 챗봇 서비스 운영 관리",</a:t>
            </a:r>
          </a:p>
          <a:p xmlns:a="http://schemas.openxmlformats.org/drawingml/2006/main">
            <a:r>
              <a:t>        "locator": "SFR-006",</a:t>
            </a:r>
          </a:p>
          <a:p xmlns:a="http://schemas.openxmlformats.org/drawingml/2006/main">
            <a:r>
              <a:t>        "summary": "AI 서비스의 운영 상태와 처리 이력을 관리하는 기능.",</a:t>
            </a:r>
          </a:p>
          <a:p xmlns:a="http://schemas.openxmlformats.org/drawingml/2006/main">
            <a:r>
              <a:t>        "data": "이용·오류·운영 설정 → 모니터링·운영 기록",</a:t>
            </a:r>
          </a:p>
          <a:p xmlns:a="http://schemas.openxmlformats.org/drawingml/2006/main">
            <a:r>
              <a:t>        "components": [</a:t>
            </a:r>
          </a:p>
          <a:p xmlns:a="http://schemas.openxmlformats.org/drawingml/2006/main">
            <a:r>
              <a:t>          "C08"</a:t>
            </a:r>
          </a:p>
          <a:p xmlns:a="http://schemas.openxmlformats.org/drawingml/2006/main">
            <a:r>
              <a:t>        ],</a:t>
            </a:r>
          </a:p>
          <a:p xmlns:a="http://schemas.openxmlformats.org/drawingml/2006/main">
            <a:r>
              <a:t>        "acceptance": "장애·오답 접수부터 보정·재시험까지의 처리 상태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"395a971c3bf9980e201f02ac77a12b82db4fe21d2b72114e968d66ade8a04577"</a:t>
            </a:r>
          </a:p>
          <a:p xmlns:a="http://schemas.openxmlformats.org/drawingml/2006/main">
            <a:r>
              <a:t>      },</a:t>
            </a:r>
          </a:p>
          <a:p xmlns:a="http://schemas.openxmlformats.org/drawingml/2006/main">
            <a:r>
              <a:t>      {</a:t>
            </a:r>
          </a:p>
          <a:p xmlns:a="http://schemas.openxmlformats.org/drawingml/2006/main">
            <a:r>
              <a:t>        "id": "QUR-001",</a:t>
            </a:r>
          </a:p>
          <a:p xmlns:a="http://schemas.openxmlformats.org/drawingml/2006/main">
            <a:r>
              <a:t>        "title": "AI 스팸 챗봇 서비스 답변 품질",</a:t>
            </a:r>
          </a:p>
          <a:p xmlns:a="http://schemas.openxmlformats.org/drawingml/2006/main">
            <a:r>
              <a:t>        "locator": "QUR-001",</a:t>
            </a:r>
          </a:p>
          <a:p xmlns:a="http://schemas.openxmlformats.org/drawingml/2006/main">
            <a:r>
              <a:t>        "summary": "답변 품질을 점검하고 개선하는 품질 요구.",</a:t>
            </a:r>
          </a:p>
          <a:p xmlns:a="http://schemas.openxmlformats.org/drawingml/2006/main">
            <a:r>
              <a:t>        "data": "질문·정답·생성 답변 → 품질 판정·개선 기록",</a:t>
            </a:r>
          </a:p>
          <a:p xmlns:a="http://schemas.openxmlformats.org/drawingml/2006/main">
            <a:r>
              <a:t>        "components": [</a:t>
            </a:r>
          </a:p>
          <a:p xmlns:a="http://schemas.openxmlformats.org/drawingml/2006/main">
            <a:r>
              <a:t>          "C05",</a:t>
            </a:r>
          </a:p>
          <a:p xmlns:a="http://schemas.openxmlformats.org/drawingml/2006/main">
            <a:r>
              <a:t>          "C08"</a:t>
            </a:r>
          </a:p>
          <a:p xmlns:a="http://schemas.openxmlformats.org/drawingml/2006/main">
            <a:r>
              <a:t>        ],</a:t>
            </a:r>
          </a:p>
          <a:p xmlns:a="http://schemas.openxmlformats.org/drawingml/2006/main">
            <a:r>
              <a:t>        "acceptance": "업무 질문별 근거 정확성·완전성·일관성 평가와 보정 전후 비교 증빙",</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"0c8005e93cc9209037bfdf5a605228a1bae7e84453afbbd8fc4dd6696d08fb71"</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"홈페이지·앱 질의",</a:t>
            </a:r>
          </a:p>
          <a:p xmlns:a="http://schemas.openxmlformats.org/drawingml/2006/main">
            <a:r>
              <a:t>          "layer": "이용 접점",</a:t>
            </a:r>
          </a:p>
          <a:p xmlns:a="http://schemas.openxmlformats.org/drawingml/2006/main">
            <a:r>
              <a:t>          "detail": "민원인·스팸 정책 담당·평가자",</a:t>
            </a:r>
          </a:p>
          <a:p xmlns:a="http://schemas.openxmlformats.org/drawingml/2006/main">
            <a:r>
              <a:t>          "requirements": [</a:t>
            </a:r>
          </a:p>
          <a:p xmlns:a="http://schemas.openxmlformats.org/drawingml/2006/main">
            <a:r>
              <a:t>            "SFR-001"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"문의·민감정보",</a:t>
            </a:r>
          </a:p>
          <a:p xmlns:a="http://schemas.openxmlformats.org/drawingml/2006/main">
            <a:r>
              <a:t>          "layer": "업무 문맥",</a:t>
            </a:r>
          </a:p>
          <a:p xmlns:a="http://schemas.openxmlformats.org/drawingml/2006/main">
            <a:r>
              <a:t>          "detail": "질의 길이·민감정보·공격 입력 점검",</a:t>
            </a:r>
          </a:p>
          <a:p xmlns:a="http://schemas.openxmlformats.org/drawingml/2006/main">
            <a:r>
              <a:t>          "requirements": [</a:t>
            </a:r>
          </a:p>
          <a:p xmlns:a="http://schemas.openxmlformats.org/drawingml/2006/main">
            <a:r>
              <a:t>            "SFR-001"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"법령 RAG 검색",</a:t>
            </a:r>
          </a:p>
          <a:p xmlns:a="http://schemas.openxmlformats.org/drawingml/2006/main">
            <a:r>
              <a:t>          "layer": "자료 조회",</a:t>
            </a:r>
          </a:p>
          <a:p xmlns:a="http://schemas.openxmlformats.org/drawingml/2006/main">
            <a:r>
              <a:t>          "detail": "질의",</a:t>
            </a:r>
          </a:p>
          <a:p xmlns:a="http://schemas.openxmlformats.org/drawingml/2006/main">
            <a:r>
              <a:t>          "requirements": [</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"외부 생성 AI API",</a:t>
            </a:r>
          </a:p>
          <a:p xmlns:a="http://schemas.openxmlformats.org/drawingml/2006/main">
            <a:r>
              <a:t>          "layer": "핵심 처리",</a:t>
            </a:r>
          </a:p>
          <a:p xmlns:a="http://schemas.openxmlformats.org/drawingml/2006/main">
            <a:r>
              <a:t>          "detail": "외부 생성형 AI API와 RAG 연결",</a:t>
            </a:r>
          </a:p>
          <a:p xmlns:a="http://schemas.openxmlformats.org/drawingml/2006/main">
            <a:r>
              <a:t>          "requirements": [</a:t>
            </a:r>
          </a:p>
          <a:p xmlns:a="http://schemas.openxmlformats.org/drawingml/2006/main">
            <a:r>
              <a:t>            "SFR-001",</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"출처·답변불가 판정",</a:t>
            </a:r>
          </a:p>
          <a:p xmlns:a="http://schemas.openxmlformats.org/drawingml/2006/main">
            <a:r>
              <a:t>          "layer": "결과 검증",</a:t>
            </a:r>
          </a:p>
          <a:p xmlns:a="http://schemas.openxmlformats.org/drawingml/2006/main">
            <a:r>
              <a:t>          "detail": "조문별 정답·근거 없음 거부셋",</a:t>
            </a:r>
          </a:p>
          <a:p xmlns:a="http://schemas.openxmlformats.org/drawingml/2006/main">
            <a:r>
              <a:t>          "requirements": [</a:t>
            </a:r>
          </a:p>
          <a:p xmlns:a="http://schemas.openxmlformats.org/drawingml/2006/main">
            <a:r>
              <a:t>            "SFR-003",</a:t>
            </a:r>
          </a:p>
          <a:p xmlns:a="http://schemas.openxmlformats.org/drawingml/2006/main">
            <a:r>
              <a:t>            "QUR-001"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"민원인·전문가",</a:t>
            </a:r>
          </a:p>
          <a:p xmlns:a="http://schemas.openxmlformats.org/drawingml/2006/main">
            <a:r>
              <a:t>          "layer": "사람 확인",</a:t>
            </a:r>
          </a:p>
          <a:p xmlns:a="http://schemas.openxmlformats.org/drawingml/2006/main">
            <a:r>
              <a:t>          "detail": "스팸 전송 상황을 질문하고 관련 법령·체크리스트 안내",</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"답변·후속 안내",</a:t>
            </a:r>
          </a:p>
          <a:p xmlns:a="http://schemas.openxmlformats.org/drawingml/2006/main">
            <a:r>
              <a:t>          "layer": "업무 연결",</a:t>
            </a:r>
          </a:p>
          <a:p xmlns:a="http://schemas.openxmlformats.org/drawingml/2006/main">
            <a:r>
              <a:t>          "detail": "출처 답변 또는 답변불가 안내 제공",</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"자동·전문가 평가",</a:t>
            </a:r>
          </a:p>
          <a:p xmlns:a="http://schemas.openxmlformats.org/drawingml/2006/main">
            <a:r>
              <a:t>          "layer": "운영 관측",</a:t>
            </a:r>
          </a:p>
          <a:p xmlns:a="http://schemas.openxmlformats.org/drawingml/2006/main">
            <a:r>
              <a:t>          "detail": "자동 평가·전문가 판정·호출량·지연 관리",</a:t>
            </a:r>
          </a:p>
          <a:p xmlns:a="http://schemas.openxmlformats.org/drawingml/2006/main">
            <a:r>
              <a:t>          "requirements": [</a:t>
            </a:r>
          </a:p>
          <a:p xmlns:a="http://schemas.openxmlformats.org/drawingml/2006/main">
            <a:r>
              <a:t>            "SFR-004",</a:t>
            </a:r>
          </a:p>
          <a:p xmlns:a="http://schemas.openxmlformats.org/drawingml/2006/main">
            <a:r>
              <a:t>            "SFR-006",</a:t>
            </a:r>
          </a:p>
          <a:p xmlns:a="http://schemas.openxmlformats.org/drawingml/2006/main">
            <a:r>
              <a:t>            "QUR-001"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"스팸법령·가이드",</a:t>
            </a:r>
          </a:p>
          <a:p xmlns:a="http://schemas.openxmlformats.org/drawingml/2006/main">
            <a:r>
              <a:t>          "layer": "데이터 원천",</a:t>
            </a:r>
          </a:p>
          <a:p xmlns:a="http://schemas.openxmlformats.org/drawingml/2006/main">
            <a:r>
              <a:t>          "detail": "법령·체크리스트",</a:t>
            </a:r>
          </a:p>
          <a:p xmlns:a="http://schemas.openxmlformats.org/drawingml/2006/main">
            <a:r>
              <a:t>          "requirements": [</a:t>
            </a:r>
          </a:p>
          <a:p xmlns:a="http://schemas.openxmlformats.org/drawingml/2006/main">
            <a:r>
              <a:t>            "SFR-002"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"조문·판본 정비",</a:t>
            </a:r>
          </a:p>
          <a:p xmlns:a="http://schemas.openxmlformats.org/drawingml/2006/main">
            <a:r>
              <a:t>          "layer": "준비·갱신",</a:t>
            </a:r>
          </a:p>
          <a:p xmlns:a="http://schemas.openxmlformats.org/drawingml/2006/main">
            <a:r>
              <a:t>          "detail": "법령·가이드·체크리스트의 최신 판본 관리",</a:t>
            </a:r>
          </a:p>
          <a:p xmlns:a="http://schemas.openxmlformats.org/drawingml/2006/main">
            <a:r>
              <a:t>          "requirements": [</a:t>
            </a:r>
          </a:p>
          <a:p xmlns:a="http://schemas.openxmlformats.org/drawingml/2006/main">
            <a:r>
              <a:t>            "SFR-002"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"지식·평가셋",</a:t>
            </a:r>
          </a:p>
          <a:p xmlns:a="http://schemas.openxmlformats.org/drawingml/2006/main">
            <a:r>
              <a:t>          "layer": "상태·지식 저장",</a:t>
            </a:r>
          </a:p>
          <a:p xmlns:a="http://schemas.openxmlformats.org/drawingml/2006/main">
            <a:r>
              <a:t>          "detail": "전문가 정답표·거부셋·최종 RFP 성능조건별 측정",</a:t>
            </a:r>
          </a:p>
          <a:p xmlns:a="http://schemas.openxmlformats.org/drawingml/2006/main">
            <a:r>
              <a:t>          "requirements": [</a:t>
            </a:r>
          </a:p>
          <a:p xmlns:a="http://schemas.openxmlformats.org/drawingml/2006/main">
            <a:r>
              <a:t>            "SFR-002"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"입력·호출·지연 정책",</a:t>
            </a:r>
          </a:p>
          <a:p xmlns:a="http://schemas.openxmlformats.org/drawingml/2006/main">
            <a:r>
              <a:t>          "layer": "권한·정책",</a:t>
            </a:r>
          </a:p>
          <a:p xmlns:a="http://schemas.openxmlformats.org/drawingml/2006/main">
            <a:r>
              <a:t>          "detail": "개정 전 조문·근거 없는 질의·공격 입력·부하 증가",</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"질의 길이·민감정보·공격 입력 점검",</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"질의",</a:t>
            </a:r>
          </a:p>
          <a:p xmlns:a="http://schemas.openxmlformats.org/drawingml/2006/main">
            <a:r>
              <a:t>          "check": "조문별 정답·근거 없음 거부셋"</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"법령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"답변·보류",</a:t>
            </a:r>
          </a:p>
          <a:p xmlns:a="http://schemas.openxmlformats.org/drawingml/2006/main">
            <a:r>
              <a:t>          "check": "개정 전 조문·근거 없는 질의·공격 입력·부하 증가"</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"답변·보류",</a:t>
            </a:r>
          </a:p>
          <a:p xmlns:a="http://schemas.openxmlformats.org/drawingml/2006/main">
            <a:r>
              <a:t>          "check": "출처 답변 또는 답변불가 안내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"전문가 판정",</a:t>
            </a:r>
          </a:p>
          <a:p xmlns:a="http://schemas.openxmlformats.org/drawingml/2006/main">
            <a:r>
              <a:t>          "check": "전문가 정답표·거부셋·최종 RFP 성능조건별 측정"</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"최종 RFP SFR-001~006·QUR-001",</a:t>
            </a:r>
          </a:p>
          <a:p xmlns:a="http://schemas.openxmlformats.org/drawingml/2006/main">
            <a:r>
              <a:t>        "extracted": "외부 생성형 AI API·RAG·출처·답변불가·전문가 평가",</a:t>
            </a:r>
          </a:p>
          <a:p xmlns:a="http://schemas.openxmlformats.org/drawingml/2006/main">
            <a:r>
              <a:t>        "extension": "질의 공격·근거 부재·법령 개정의 독립 시험셋"</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"개정 전 조문·근거 없는 질의·공격 입력·부하 증가",</a:t>
            </a:r>
          </a:p>
          <a:p xmlns:a="http://schemas.openxmlformats.org/drawingml/2006/main">
            <a:r>
              <a:t>        "hold": "조문별 정답·근거 없음 거부셋",</a:t>
            </a:r>
          </a:p>
          <a:p xmlns:a="http://schemas.openxmlformats.org/drawingml/2006/main">
            <a:r>
              <a:t>        "recovery": "자동 평가·전문가 판정·호출량·지연 관리",</a:t>
            </a:r>
          </a:p>
          <a:p xmlns:a="http://schemas.openxmlformats.org/drawingml/2006/main">
            <a:r>
              <a:t>        "evidence": "전문가 정답표·거부셋·최종 RFP 성능조건별 측정"</a:t>
            </a:r>
          </a:p>
          <a:p xmlns:a="http://schemas.openxmlformats.org/drawingml/2006/main">
            <a:r>
              <a:t>      },</a:t>
            </a:r>
          </a:p>
          <a:p xmlns:a="http://schemas.openxmlformats.org/drawingml/2006/main">
            <a:r>
              <a:t>      "data": {</a:t>
            </a:r>
          </a:p>
          <a:p xmlns:a="http://schemas.openxmlformats.org/drawingml/2006/main">
            <a:r>
              <a:t>        "source": "법령·체크리스트",</a:t>
            </a:r>
          </a:p>
          <a:p xmlns:a="http://schemas.openxmlformats.org/drawingml/2006/main">
            <a:r>
              <a:t>        "prepare": "법령·가이드·체크리스트의 최신 판본 관리",</a:t>
            </a:r>
          </a:p>
          <a:p xmlns:a="http://schemas.openxmlformats.org/drawingml/2006/main">
            <a:r>
              <a:t>        "output": "질의",</a:t>
            </a:r>
          </a:p>
          <a:p xmlns:a="http://schemas.openxmlformats.org/drawingml/2006/main">
            <a:r>
              <a:t>        "refresh": "자동 평가·전문가 판정·호출량·지연 관리"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"PF-R07",</a:t>
            </a:r>
          </a:p>
          <a:p xmlns:a="http://schemas.openxmlformats.org/drawingml/2006/main">
            <a:r>
              <a:t>    "success": [</a:t>
            </a:r>
          </a:p>
          <a:p xmlns:a="http://schemas.openxmlformats.org/drawingml/2006/main">
            <a:r>
              <a:t>      "법령·체크리스트의 RAG 연결",</a:t>
            </a:r>
          </a:p>
          <a:p xmlns:a="http://schemas.openxmlformats.org/drawingml/2006/main">
            <a:r>
              <a:t>      "출처·보류·전문가 평가 요구"</a:t>
            </a:r>
          </a:p>
          <a:p xmlns:a="http://schemas.openxmlformats.org/drawingml/2006/main">
            <a:r>
              <a:t>    ],</a:t>
            </a:r>
          </a:p>
          <a:p xmlns:a="http://schemas.openxmlformats.org/drawingml/2006/main">
            <a:r>
              <a:t>    "risks": [</a:t>
            </a:r>
          </a:p>
          <a:p xmlns:a="http://schemas.openxmlformats.org/drawingml/2006/main">
            <a:r>
              <a:t>      "구버전 법령·상충 답변",</a:t>
            </a:r>
          </a:p>
          <a:p xmlns:a="http://schemas.openxmlformats.org/drawingml/2006/main">
            <a:r>
              <a:t>      "입찰 요구를 구현 기능으로 인식"</a:t>
            </a:r>
          </a:p>
          <a:p xmlns:a="http://schemas.openxmlformats.org/drawingml/2006/main">
            <a:r>
              <a:t>    ],</a:t>
            </a:r>
          </a:p>
          <a:p xmlns:a="http://schemas.openxmlformats.org/drawingml/2006/main">
            <a:r>
              <a:t>    "architecture": [</a:t>
            </a:r>
          </a:p>
          <a:p xmlns:a="http://schemas.openxmlformats.org/drawingml/2006/main">
            <a:r>
              <a:t>      "스팸 민원 질의",</a:t>
            </a:r>
          </a:p>
          <a:p xmlns:a="http://schemas.openxmlformats.org/drawingml/2006/main">
            <a:r>
              <a:t>      "외부 AI·RAG",</a:t>
            </a:r>
          </a:p>
          <a:p xmlns:a="http://schemas.openxmlformats.org/drawingml/2006/main">
            <a:r>
              <a:t>      "법령·체크리스트",</a:t>
            </a:r>
          </a:p>
          <a:p xmlns:a="http://schemas.openxmlformats.org/drawingml/2006/main">
            <a:r>
              <a:t>      "민원·평가 담당"</a:t>
            </a:r>
          </a:p>
          <a:p xmlns:a="http://schemas.openxmlformats.org/drawingml/2006/main">
            <a:r>
              <a:t>    ],</a:t>
            </a:r>
          </a:p>
          <a:p xmlns:a="http://schemas.openxmlformats.org/drawingml/2006/main">
            <a:r>
              <a:t>    "transfers": [</a:t>
            </a:r>
          </a:p>
          <a:p xmlns:a="http://schemas.openxmlformats.org/drawingml/2006/main">
            <a:r>
              <a:t>      "질의",</a:t>
            </a:r>
          </a:p>
          <a:p xmlns:a="http://schemas.openxmlformats.org/drawingml/2006/main">
            <a:r>
              <a:t>      "법령 근거",</a:t>
            </a:r>
          </a:p>
          <a:p xmlns:a="http://schemas.openxmlformats.org/drawingml/2006/main">
            <a:r>
              <a:t>      "답변·보류",</a:t>
            </a:r>
          </a:p>
          <a:p xmlns:a="http://schemas.openxmlformats.org/drawingml/2006/main">
            <a:r>
              <a:t>      "전문가 판정"</a:t>
            </a:r>
          </a:p>
          <a:p xmlns:a="http://schemas.openxmlformats.org/drawingml/2006/main">
            <a:r>
              <a:t>    ],</a:t>
            </a:r>
          </a:p>
          <a:p xmlns:a="http://schemas.openxmlformats.org/drawingml/2006/main">
            <a:r>
              <a:t>    "control": "조문별 정답·근거 없음 거부셋",</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SFR-001~006, PER-001·004, QUR-001 / Word T080 https://www.kisa.kr/post/fileDownload?menuSeq=403&amp;postSeq=10891&amp;attachSeq=2&amp;lang_type=KO</a:t>
            </a:r>
          </a:p>
          <a:p xmlns:a="http://schemas.openxmlformats.org/drawingml/2006/main">
            <a:r>
              <a:t>홈페이지 https://heen1987-ops.github.io/TS-business-Plan-001/index.html?view=platform-cases&amp;case=PF-R07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"PF-R07",</a:t>
            </a:r>
          </a:p>
          <a:p xmlns:a="http://schemas.openxmlformats.org/drawingml/2006/main">
            <a:r>
              <a:t>    "sourceId": "R07",</a:t>
            </a:r>
          </a:p>
          <a:p xmlns:a="http://schemas.openxmlformats.org/drawingml/2006/main">
            <a:r>
              <a:t>    "title": "KISA 스팸 민원 AI",</a:t>
            </a:r>
          </a:p>
          <a:p xmlns:a="http://schemas.openxmlformats.org/drawingml/2006/main">
            <a:r>
              <a:t>    "region": "국내",</a:t>
            </a:r>
          </a:p>
          <a:p xmlns:a="http://schemas.openxmlformats.org/drawingml/2006/main">
            <a:r>
              <a:t>    "owner": "한국인터넷진흥원(KISA)",</a:t>
            </a:r>
          </a:p>
          <a:p xmlns:a="http://schemas.openxmlformats.org/drawingml/2006/main">
            <a:r>
              <a:t>    "state": "2026-10-14 본공고·최종 첨부 확인 / 입찰 진행",</a:t>
            </a:r>
          </a:p>
          <a:p xmlns:a="http://schemas.openxmlformats.org/drawingml/2006/main">
            <a:r>
              <a:t>    "period": "기존 원장 확인 2026.10.16",</a:t>
            </a:r>
          </a:p>
          <a:p xmlns:a="http://schemas.openxmlformats.org/drawingml/2006/main">
            <a:r>
              <a:t>    "fact": "스팸 법령·자율규제 민원 챗봇과 지식·체크리스트 관리",</a:t>
            </a:r>
          </a:p>
          <a:p xmlns:a="http://schemas.openxmlformats.org/drawingml/2006/main">
            <a:r>
              <a:t>    "limit": "사전본 동시300명→본공고100명. 오픈소스 모델/라이브러리 문구→외부 생성형AI API+RAG 방식",</a:t>
            </a:r>
          </a:p>
          <a:p xmlns:a="http://schemas.openxmlformats.org/drawingml/2006/main">
            <a:r>
              <a:t>    "nodes": [</a:t>
            </a:r>
          </a:p>
          <a:p xmlns:a="http://schemas.openxmlformats.org/drawingml/2006/main">
            <a:r>
              <a:t>      "법령·지식",</a:t>
            </a:r>
          </a:p>
          <a:p xmlns:a="http://schemas.openxmlformats.org/drawingml/2006/main">
            <a:r>
              <a:t>      "외부 AI·RAG",</a:t>
            </a:r>
          </a:p>
          <a:p xmlns:a="http://schemas.openxmlformats.org/drawingml/2006/main">
            <a:r>
              <a:t>      "출처·답변 보류",</a:t>
            </a:r>
          </a:p>
          <a:p xmlns:a="http://schemas.openxmlformats.org/drawingml/2006/main">
            <a:r>
              <a:t>      "전문가 평가"</a:t>
            </a:r>
          </a:p>
          <a:p xmlns:a="http://schemas.openxmlformats.org/drawingml/2006/main">
            <a:r>
              <a:t>    ],</a:t>
            </a:r>
          </a:p>
          <a:p xmlns:a="http://schemas.openxmlformats.org/drawingml/2006/main">
            <a:r>
              <a:t>    "apply": "민원 답변의 법령 근거·보류 조건·전문가 평가를 운영 기준으로 관리",</a:t>
            </a:r>
          </a:p>
          <a:p xmlns:a="http://schemas.openxmlformats.org/drawingml/2006/main">
            <a:r>
              <a:t>    "delta": "법령·체크리스트 판본 / 응답 보류 / 전문가 정답셋·부하 시험",</a:t>
            </a:r>
          </a:p>
          <a:p xmlns:a="http://schemas.openxmlformats.org/drawingml/2006/main">
            <a:r>
              <a:t>    "test": "개정 조문·근거 부재·공격 입력·동시 요청의 품질·성능 대조",</a:t>
            </a:r>
          </a:p>
          <a:p xmlns:a="http://schemas.openxmlformats.org/drawingml/2006/main">
            <a:r>
              <a:t>    "url": "https://www.kisa.kr/post/fileDownload?menuSeq=403&amp;postSeq=10891&amp;attachSeq=2&amp;lang_type=KO",</a:t>
            </a:r>
          </a:p>
          <a:p xmlns:a="http://schemas.openxmlformats.org/drawingml/2006/main">
            <a:r>
              <a:t>    "urls": [</a:t>
            </a:r>
          </a:p>
          <a:p xmlns:a="http://schemas.openxmlformats.org/drawingml/2006/main">
            <a:r>
              <a:t>      "https://www.kisa.kr/post/fileDownload?menuSeq=403&amp;postSeq=10891&amp;attachSeq=2&amp;lang_type=KO",</a:t>
            </a:r>
          </a:p>
          <a:p xmlns:a="http://schemas.openxmlformats.org/drawingml/2006/main">
            <a:r>
              <a:t>      "https://www.kisa.kr/403/form?postSeq=10891"</a:t>
            </a:r>
          </a:p>
          <a:p xmlns:a="http://schemas.openxmlformats.org/drawingml/2006/main">
            <a:r>
              <a:t>    ],</a:t>
            </a:r>
          </a:p>
          <a:p xmlns:a="http://schemas.openxmlformats.org/drawingml/2006/main">
            <a:r>
              <a:t>    "basis": "SFR-001~006, PER-001·004, QUR-001 / Word T080",</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"근거 정답률 / 보류 적정률 / 응답시간·오류율",</a:t>
            </a:r>
          </a:p>
          <a:p xmlns:a="http://schemas.openxmlformats.org/drawingml/2006/main">
            <a:r>
              <a:t>    "group": "요구·구축",</a:t>
            </a:r>
          </a:p>
          <a:p xmlns:a="http://schemas.openxmlformats.org/drawingml/2006/main">
            <a:r>
              <a:t>    "sourceDetail": "외부 생성형 AI API+RAG, 홈페이지/앱 연계, 출처·최신성·답변불가 안내, 자동/전문가 평가",</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"PF-R07",</a:t>
            </a:r>
          </a:p>
          <a:p xmlns:a="http://schemas.openxmlformats.org/drawingml/2006/main">
            <a:r>
              <a:t>    "canonicalId": "PF-R07",</a:t>
            </a:r>
          </a:p>
          <a:p xmlns:a="http://schemas.openxmlformats.org/drawingml/2006/main">
            <a:r>
              <a:t>    "purpose": "스팸 법령과 체크리스트의 민원 응답",</a:t>
            </a:r>
          </a:p>
          <a:p xmlns:a="http://schemas.openxmlformats.org/drawingml/2006/main">
            <a:r>
              <a:t>    "users": "민원인·스팸 정책 담당·평가자",</a:t>
            </a:r>
          </a:p>
          <a:p xmlns:a="http://schemas.openxmlformats.org/drawingml/2006/main">
            <a:r>
              <a:t>    "scope": [</a:t>
            </a:r>
          </a:p>
          <a:p xmlns:a="http://schemas.openxmlformats.org/drawingml/2006/main">
            <a:r>
              <a:t>      "홈페이지·앱",</a:t>
            </a:r>
          </a:p>
          <a:p xmlns:a="http://schemas.openxmlformats.org/drawingml/2006/main">
            <a:r>
              <a:t>      "지식 질의",</a:t>
            </a:r>
          </a:p>
          <a:p xmlns:a="http://schemas.openxmlformats.org/drawingml/2006/main">
            <a:r>
              <a:t>      "전문가 평가"</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"스팸 민원 질의",</a:t>
            </a:r>
          </a:p>
          <a:p xmlns:a="http://schemas.openxmlformats.org/drawingml/2006/main">
            <a:r>
              <a:t>        "detail": "질의 길이·민감정보·공격 입력 점검",</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"홈페이지·앱 / 지식 질의 / 전문가 평가",</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"외부 AI·RAG",</a:t>
            </a:r>
          </a:p>
          <a:p xmlns:a="http://schemas.openxmlformats.org/drawingml/2006/main">
            <a:r>
              <a:t>        "detail": "외부 생성형 AI API와 RAG 연결",</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"민원·평가 담당",</a:t>
            </a:r>
          </a:p>
          <a:p xmlns:a="http://schemas.openxmlformats.org/drawingml/2006/main">
            <a:r>
              <a:t>        "detail": "출처 답변 또는 답변불가 안내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"법령·체크리스트",</a:t>
            </a:r>
          </a:p>
          <a:p xmlns:a="http://schemas.openxmlformats.org/drawingml/2006/main">
            <a:r>
              <a:t>        "detail": "법령·가이드·체크리스트의 최신 판본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"자동 평가·전문가 판정·호출량·지연 관리",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"법령·지식",</a:t>
            </a:r>
          </a:p>
          <a:p xmlns:a="http://schemas.openxmlformats.org/drawingml/2006/main">
            <a:r>
              <a:t>        "input": "질의 길이·민감정보·공격 입력 점검",</a:t>
            </a:r>
          </a:p>
          <a:p xmlns:a="http://schemas.openxmlformats.org/drawingml/2006/main">
            <a:r>
              <a:t>        "process": "법령·가이드·체크리스트의 최신 판본 관리",</a:t>
            </a:r>
          </a:p>
          <a:p xmlns:a="http://schemas.openxmlformats.org/drawingml/2006/main">
            <a:r>
              <a:t>        "output": "질의"</a:t>
            </a:r>
          </a:p>
          <a:p xmlns:a="http://schemas.openxmlformats.org/drawingml/2006/main">
            <a:r>
              <a:t>      },</a:t>
            </a:r>
          </a:p>
          <a:p xmlns:a="http://schemas.openxmlformats.org/drawingml/2006/main">
            <a:r>
              <a:t>      {</a:t>
            </a:r>
          </a:p>
          <a:p xmlns:a="http://schemas.openxmlformats.org/drawingml/2006/main">
            <a:r>
              <a:t>        "title": "외부 AI·RAG",</a:t>
            </a:r>
          </a:p>
          <a:p xmlns:a="http://schemas.openxmlformats.org/drawingml/2006/main">
            <a:r>
              <a:t>        "input": "질의",</a:t>
            </a:r>
          </a:p>
          <a:p xmlns:a="http://schemas.openxmlformats.org/drawingml/2006/main">
            <a:r>
              <a:t>        "process": "외부 생성형 AI API와 RAG 연결",</a:t>
            </a:r>
          </a:p>
          <a:p xmlns:a="http://schemas.openxmlformats.org/drawingml/2006/main">
            <a:r>
              <a:t>        "output": "법령 근거"</a:t>
            </a:r>
          </a:p>
          <a:p xmlns:a="http://schemas.openxmlformats.org/drawingml/2006/main">
            <a:r>
              <a:t>      },</a:t>
            </a:r>
          </a:p>
          <a:p xmlns:a="http://schemas.openxmlformats.org/drawingml/2006/main">
            <a:r>
              <a:t>      {</a:t>
            </a:r>
          </a:p>
          <a:p xmlns:a="http://schemas.openxmlformats.org/drawingml/2006/main">
            <a:r>
              <a:t>        "title": "출처·답변 보류",</a:t>
            </a:r>
          </a:p>
          <a:p xmlns:a="http://schemas.openxmlformats.org/drawingml/2006/main">
            <a:r>
              <a:t>        "input": "법령 근거",</a:t>
            </a:r>
          </a:p>
          <a:p xmlns:a="http://schemas.openxmlformats.org/drawingml/2006/main">
            <a:r>
              <a:t>        "process": "조문별 정답·근거 없음 거부셋",</a:t>
            </a:r>
          </a:p>
          <a:p xmlns:a="http://schemas.openxmlformats.org/drawingml/2006/main">
            <a:r>
              <a:t>        "output": "답변·보류"</a:t>
            </a:r>
          </a:p>
          <a:p xmlns:a="http://schemas.openxmlformats.org/drawingml/2006/main">
            <a:r>
              <a:t>      },</a:t>
            </a:r>
          </a:p>
          <a:p xmlns:a="http://schemas.openxmlformats.org/drawingml/2006/main">
            <a:r>
              <a:t>      {</a:t>
            </a:r>
          </a:p>
          <a:p xmlns:a="http://schemas.openxmlformats.org/drawingml/2006/main">
            <a:r>
              <a:t>        "title": "전문가 평가",</a:t>
            </a:r>
          </a:p>
          <a:p xmlns:a="http://schemas.openxmlformats.org/drawingml/2006/main">
            <a:r>
              <a:t>        "input": "답변·보류",</a:t>
            </a:r>
          </a:p>
          <a:p xmlns:a="http://schemas.openxmlformats.org/drawingml/2006/main">
            <a:r>
              <a:t>        "process": "출처 답변 또는 답변불가 안내 제공",</a:t>
            </a:r>
          </a:p>
          <a:p xmlns:a="http://schemas.openxmlformats.org/drawingml/2006/main">
            <a:r>
              <a:t>        "output": "전문가 판정"</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"스팸 전송 상황을 질문하고 관련 법령·체크리스트 안내",</a:t>
            </a:r>
          </a:p>
          <a:p xmlns:a="http://schemas.openxmlformats.org/drawingml/2006/main">
            <a:r>
              <a:t>      "exception": "개정 전 조문·근거 없는 질의·공격 입력·부하 증가",</a:t>
            </a:r>
          </a:p>
          <a:p xmlns:a="http://schemas.openxmlformats.org/drawingml/2006/main">
            <a:r>
              <a:t>      "evidence": "전문가 정답표·거부셋·최종 RFP 성능조건별 측정",</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"민원인·스팸 정책 담당·평가자",</a:t>
            </a:r>
          </a:p>
          <a:p xmlns:a="http://schemas.openxmlformats.org/drawingml/2006/main">
            <a:r>
              <a:t>          "processing": "질의 길이·민감정보·공격 입력 점검",</a:t>
            </a:r>
          </a:p>
          <a:p xmlns:a="http://schemas.openxmlformats.org/drawingml/2006/main">
            <a:r>
              <a:t>          "output": "질의"</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"법령·체크리스트",</a:t>
            </a:r>
          </a:p>
          <a:p xmlns:a="http://schemas.openxmlformats.org/drawingml/2006/main">
            <a:r>
              <a:t>          "processing": "법령·가이드·체크리스트의 최신 판본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"질의",</a:t>
            </a:r>
          </a:p>
          <a:p xmlns:a="http://schemas.openxmlformats.org/drawingml/2006/main">
            <a:r>
              <a:t>          "processing": "외부 생성형 AI API와 RAG 연결",</a:t>
            </a:r>
          </a:p>
          <a:p xmlns:a="http://schemas.openxmlformats.org/drawingml/2006/main">
            <a:r>
              <a:t>          "output": "답변·보류"</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"답변·보류",</a:t>
            </a:r>
          </a:p>
          <a:p xmlns:a="http://schemas.openxmlformats.org/drawingml/2006/main">
            <a:r>
              <a:t>          "processing": "출처 답변 또는 답변불가 안내 제공",</a:t>
            </a:r>
          </a:p>
          <a:p xmlns:a="http://schemas.openxmlformats.org/drawingml/2006/main">
            <a:r>
              <a:t>          "output": "전문가 판정"</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"자동 평가·전문가 판정·호출량·지연 관리",</a:t>
            </a:r>
          </a:p>
          <a:p xmlns:a="http://schemas.openxmlformats.org/drawingml/2006/main">
            <a:r>
              <a:t>          "output": "전문가 정답표·거부셋·최종 RFP 성능조건별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"자동 평가·전문가 판정·호출량·지연 관리",</a:t>
            </a:r>
          </a:p>
          <a:p xmlns:a="http://schemas.openxmlformats.org/drawingml/2006/main">
            <a:r>
              <a:t>    "status": "RFP 기반 논리 설계",</a:t>
            </a:r>
          </a:p>
          <a:p xmlns:a="http://schemas.openxmlformats.org/drawingml/2006/main">
            <a:r>
              <a:t>    "basis": "최종 RFP 2026.10.14 · SFR-001~006·PER-001·004·QUR-001",</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"SFR-001~006, PER-001·004, QUR-001 / Word T080",</a:t>
            </a:r>
          </a:p>
          <a:p xmlns:a="http://schemas.openxmlformats.org/drawingml/2006/main">
            <a:r>
              <a:t>        "url": "https://www.kisa.kr/post/fileDownload?menuSeq=403&amp;postSeq=10891&amp;attachSeq=2&amp;lang_type=KO"</a:t>
            </a:r>
          </a:p>
          <a:p xmlns:a="http://schemas.openxmlformats.org/drawingml/2006/main">
            <a:r>
              <a:t>      }</a:t>
            </a:r>
          </a:p>
          <a:p xmlns:a="http://schemas.openxmlformats.org/drawingml/2006/main">
            <a:r>
              <a:t>    ],</a:t>
            </a:r>
          </a:p>
          <a:p xmlns:a="http://schemas.openxmlformats.org/drawingml/2006/main">
            <a:r>
              <a:t>    "implication": "민원 답변의 법령 근거·보류 조건·전문가 평가를 운영 기준으로 관리",</a:t>
            </a:r>
          </a:p>
          <a:p xmlns:a="http://schemas.openxmlformats.org/drawingml/2006/main">
            <a:r>
              <a:t>    "local": "민원 답변의 법령 근거·보류 조건·전문가 평가를 운영 기준으로 관리",</a:t>
            </a:r>
          </a:p>
          <a:p xmlns:a="http://schemas.openxmlformats.org/drawingml/2006/main">
            <a:r>
              <a:t>    "sourceDetail": "외부 생성형 AI API+RAG, 홈페이지/앱 연계, 출처·최신성·답변불가 안내, 자동/전문가 평가",</a:t>
            </a:r>
          </a:p>
          <a:p xmlns:a="http://schemas.openxmlformats.org/drawingml/2006/main">
            <a:r>
              <a:t>    "narrative": [</a:t>
            </a:r>
          </a:p>
          <a:p xmlns:a="http://schemas.openxmlformats.org/drawingml/2006/main">
            <a:r>
              <a:t>      "스팸 관련 법령·가이드·체크리스트를 국민의 질문에 연결하는 대민 AI 상담 구축. 홈페이지·앱 접점과 지식베이스·외부 생성형 AI API·관리자·운영 기능을 함께 요구하는 사업.",</a:t>
            </a:r>
          </a:p>
          <a:p xmlns:a="http://schemas.openxmlformats.org/drawingml/2006/main">
            <a:r>
              <a:t>      "질의 입력 점검 후 최신 법령 근거를 검색하고 외부 AI API로 답변을 생성하는 구조. 검색·답변 단계에서 출처와 답변불가 처리를 분리하고, 자동 평가와 전문가 검토를 운영 과정에 결합하는 설계. 최종 RFP 판본의 성능·품질 요구를 기준으로 비교.",</a:t>
            </a:r>
          </a:p>
          <a:p xmlns:a="http://schemas.openxmlformats.org/drawingml/2006/main">
            <a:r>
              <a:t>      "규정 검색 성공이 적절한 민원 안내를 보장하지 않는 점을 검수에 반영할 필요. 법령 개정, 유사 조문, 근거 없는 질문, 공격성 입력을 구분한 시험셋과 전문가 판정의 연결. TS 안내 서비스에 적용할 경우 법정 판단·신청 처리는 해당 업무 시스템과 담당자의 책임으로 연결."</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"SFR-001",</a:t>
            </a:r>
          </a:p>
          <a:p xmlns:a="http://schemas.openxmlformats.org/drawingml/2006/main">
            <a:r>
              <a:t>        "title": "AI 스팸 챗봇 서비스 구축",</a:t>
            </a:r>
          </a:p>
          <a:p xmlns:a="http://schemas.openxmlformats.org/drawingml/2006/main">
            <a:r>
              <a:t>        "locator": "SFR-001",</a:t>
            </a:r>
          </a:p>
          <a:p xmlns:a="http://schemas.openxmlformats.org/drawingml/2006/main">
            <a:r>
              <a:t>        "summary": "스팸 관련 법령·업무 문의에 대응하는 AI 챗봇 구축.",</a:t>
            </a:r>
          </a:p>
          <a:p xmlns:a="http://schemas.openxmlformats.org/drawingml/2006/main">
            <a:r>
              <a:t>        "data": "국민·사업자 문의 → 안내 응답·업무 경로",</a:t>
            </a:r>
          </a:p>
          <a:p xmlns:a="http://schemas.openxmlformats.org/drawingml/2006/main">
            <a:r>
              <a:t>        "components": [</a:t>
            </a:r>
          </a:p>
          <a:p xmlns:a="http://schemas.openxmlformats.org/drawingml/2006/main">
            <a:r>
              <a:t>          "C01",</a:t>
            </a:r>
          </a:p>
          <a:p xmlns:a="http://schemas.openxmlformats.org/drawingml/2006/main">
            <a:r>
              <a:t>          "C02",</a:t>
            </a:r>
          </a:p>
          <a:p xmlns:a="http://schemas.openxmlformats.org/drawingml/2006/main">
            <a:r>
              <a:t>          "C04"</a:t>
            </a:r>
          </a:p>
          <a:p xmlns:a="http://schemas.openxmlformats.org/drawingml/2006/main">
            <a:r>
              <a:t>        ],</a:t>
            </a:r>
          </a:p>
          <a:p xmlns:a="http://schemas.openxmlformats.org/drawingml/2006/main">
            <a:r>
              <a:t>        "acceptance": "법령 설명·신고 절차·예외 사유 질문을 구분해 올바른 안내 경로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"4c540036c514c5823d4ed4b29b16b7d44b65a0178ba371f0c4ba9d06306df6e9"</a:t>
            </a:r>
          </a:p>
          <a:p xmlns:a="http://schemas.openxmlformats.org/drawingml/2006/main">
            <a:r>
              <a:t>      },</a:t>
            </a:r>
          </a:p>
          <a:p xmlns:a="http://schemas.openxmlformats.org/drawingml/2006/main">
            <a:r>
              <a:t>      {</a:t>
            </a:r>
          </a:p>
          <a:p xmlns:a="http://schemas.openxmlformats.org/drawingml/2006/main">
            <a:r>
              <a:t>        "id": "SFR-002",</a:t>
            </a:r>
          </a:p>
          <a:p xmlns:a="http://schemas.openxmlformats.org/drawingml/2006/main">
            <a:r>
              <a:t>        "title": "AI 스팸 챗봇 서비스 지식베이스 관리",</a:t>
            </a:r>
          </a:p>
          <a:p xmlns:a="http://schemas.openxmlformats.org/drawingml/2006/main">
            <a:r>
              <a:t>        "locator": "SFR-002",</a:t>
            </a:r>
          </a:p>
          <a:p xmlns:a="http://schemas.openxmlformats.org/drawingml/2006/main">
            <a:r>
              <a:t>        "summary": "스팸 관련 지식자료를 등록·정비·활용하는 지식베이스 구성.",</a:t>
            </a:r>
          </a:p>
          <a:p xmlns:a="http://schemas.openxmlformats.org/drawingml/2006/main">
            <a:r>
              <a:t>        "data": "법령·FAQ·업무 자료 → 판본별 검색 근거",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"개정 자료·폐기 자료·상충 FAQ의 승인·갱신 및 검색 제외 결과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"777a548e5cc2d26392428d54f1ec38d4daab521a391239a084a98c967dca9cda"</a:t>
            </a:r>
          </a:p>
          <a:p xmlns:a="http://schemas.openxmlformats.org/drawingml/2006/main">
            <a:r>
              <a:t>      },</a:t>
            </a:r>
          </a:p>
          <a:p xmlns:a="http://schemas.openxmlformats.org/drawingml/2006/main">
            <a:r>
              <a:t>      {</a:t>
            </a:r>
          </a:p>
          <a:p xmlns:a="http://schemas.openxmlformats.org/drawingml/2006/main">
            <a:r>
              <a:t>        "id": "SFR-003",</a:t>
            </a:r>
          </a:p>
          <a:p xmlns:a="http://schemas.openxmlformats.org/drawingml/2006/main">
            <a:r>
              <a:t>        "title": "AI 스팸 챗봇 서비스 모델",</a:t>
            </a:r>
          </a:p>
          <a:p xmlns:a="http://schemas.openxmlformats.org/drawingml/2006/main">
            <a:r>
              <a:t>        "locator": "SFR-003",</a:t>
            </a:r>
          </a:p>
          <a:p xmlns:a="http://schemas.openxmlformats.org/drawingml/2006/main">
            <a:r>
              <a:t>        "summary": "스팸 업무 질의응답을 위한 AI 모델 구성·적용.",</a:t>
            </a:r>
          </a:p>
          <a:p xmlns:a="http://schemas.openxmlformats.org/drawingml/2006/main">
            <a:r>
              <a:t>        "data": "질의·검색 근거 → 답변 후보",</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"C05"</a:t>
            </a:r>
          </a:p>
          <a:p xmlns:a="http://schemas.openxmlformats.org/drawingml/2006/main">
            <a:r>
              <a:t>        ],</a:t>
            </a:r>
          </a:p>
          <a:p xmlns:a="http://schemas.openxmlformats.org/drawingml/2006/main">
            <a:r>
              <a:t>        "acceptance": "근거 없는 법적 단정, 문맥 누락, 질의와 무관한 응답을 업무 정답셋으로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"0a22a75c9aff1f580a391a05ac9dd97d69d7041aaacdeb61d959ac868e268182"</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"AI 스팸 챗봇 서비스 관리자 기능",</a:t>
            </a:r>
          </a:p>
          <a:p xmlns:a="http://schemas.openxmlformats.org/drawingml/2006/main">
            <a:r>
              <a:t>        "locator": "SFR-004",</a:t>
            </a:r>
          </a:p>
          <a:p xmlns:a="http://schemas.openxmlformats.org/drawingml/2006/main">
            <a:r>
              <a:t>        "summary": "관리자의 지식·서비스 관리 기능 제공.",</a:t>
            </a:r>
          </a:p>
          <a:p xmlns:a="http://schemas.openxmlformats.org/drawingml/2006/main">
            <a:r>
              <a:t>        "data": "관리 요청·역할 → 변경 상태·관리 이력",</a:t>
            </a:r>
          </a:p>
          <a:p xmlns:a="http://schemas.openxmlformats.org/drawingml/2006/main">
            <a:r>
              <a:t>        "components": [</a:t>
            </a:r>
          </a:p>
          <a:p xmlns:a="http://schemas.openxmlformats.org/drawingml/2006/main">
            <a:r>
              <a:t>          "C06",</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"지식 수정·게시·삭제의 역할별 허용 범위와 변경 이력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"ce1ed31f57a53d9437e86a03bf98a363804d06301256c43e3043f4bb989b4cf2"</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"AI 스팸 챗봇 서비스 시스템 연계",</a:t>
            </a:r>
          </a:p>
          <a:p xmlns:a="http://schemas.openxmlformats.org/drawingml/2006/main">
            <a:r>
              <a:t>        "locator": "SFR-005",</a:t>
            </a:r>
          </a:p>
          <a:p xmlns:a="http://schemas.openxmlformats.org/drawingml/2006/main">
            <a:r>
              <a:t>        "summary": "기존 업무시스템과 AI 챗봇의 연계 기능.",</a:t>
            </a:r>
          </a:p>
          <a:p xmlns:a="http://schemas.openxmlformats.org/drawingml/2006/main">
            <a:r>
              <a:t>        "data": "업무 문맥·연계 요청 → 조회·안내 결과",</a:t>
            </a:r>
          </a:p>
          <a:p xmlns:a="http://schemas.openxmlformats.org/drawingml/2006/main">
            <a:r>
              <a:t>        "components": [</a:t>
            </a:r>
          </a:p>
          <a:p xmlns:a="http://schemas.openxmlformats.org/drawingml/2006/main">
            <a:r>
              <a:t>          "C07"</a:t>
            </a:r>
          </a:p>
          <a:p xmlns:a="http://schemas.openxmlformats.org/drawingml/2006/main">
            <a:r>
              <a:t>        ],</a:t>
            </a:r>
          </a:p>
          <a:p xmlns:a="http://schemas.openxmlformats.org/drawingml/2006/main">
            <a:r>
              <a:t>        "acceptance": "인증 오류·미존재 데이터·연계 실패 시 비정상 결과의 차단과 안내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"c374e49a08490d67a908b7b7b170dfeb3da38abb43f5b88ec0757c0fa5ca99bd"</a:t>
            </a:r>
          </a:p>
          <a:p xmlns:a="http://schemas.openxmlformats.org/drawingml/2006/main">
            <a:r>
              <a:t>      },</a:t>
            </a:r>
          </a:p>
          <a:p xmlns:a="http://schemas.openxmlformats.org/drawingml/2006/main">
            <a:r>
              <a:t>      {</a:t>
            </a:r>
          </a:p>
          <a:p xmlns:a="http://schemas.openxmlformats.org/drawingml/2006/main">
            <a:r>
              <a:t>        "id": "SFR-006",</a:t>
            </a:r>
          </a:p>
          <a:p xmlns:a="http://schemas.openxmlformats.org/drawingml/2006/main">
            <a:r>
              <a:t>        "title": "AI 스팸 챗봇 서비스 운영 관리",</a:t>
            </a:r>
          </a:p>
          <a:p xmlns:a="http://schemas.openxmlformats.org/drawingml/2006/main">
            <a:r>
              <a:t>        "locator": "SFR-006",</a:t>
            </a:r>
          </a:p>
          <a:p xmlns:a="http://schemas.openxmlformats.org/drawingml/2006/main">
            <a:r>
              <a:t>        "summary": "AI 서비스의 운영 상태와 처리 이력을 관리하는 기능.",</a:t>
            </a:r>
          </a:p>
          <a:p xmlns:a="http://schemas.openxmlformats.org/drawingml/2006/main">
            <a:r>
              <a:t>        "data": "이용·오류·운영 설정 → 모니터링·운영 기록",</a:t>
            </a:r>
          </a:p>
          <a:p xmlns:a="http://schemas.openxmlformats.org/drawingml/2006/main">
            <a:r>
              <a:t>        "components": [</a:t>
            </a:r>
          </a:p>
          <a:p xmlns:a="http://schemas.openxmlformats.org/drawingml/2006/main">
            <a:r>
              <a:t>          "C08"</a:t>
            </a:r>
          </a:p>
          <a:p xmlns:a="http://schemas.openxmlformats.org/drawingml/2006/main">
            <a:r>
              <a:t>        ],</a:t>
            </a:r>
          </a:p>
          <a:p xmlns:a="http://schemas.openxmlformats.org/drawingml/2006/main">
            <a:r>
              <a:t>        "acceptance": "장애·오답 접수부터 보정·재시험까지의 처리 상태 추적",</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"395a971c3bf9980e201f02ac77a12b82db4fe21d2b72114e968d66ade8a04577"</a:t>
            </a:r>
          </a:p>
          <a:p xmlns:a="http://schemas.openxmlformats.org/drawingml/2006/main">
            <a:r>
              <a:t>      },</a:t>
            </a:r>
          </a:p>
          <a:p xmlns:a="http://schemas.openxmlformats.org/drawingml/2006/main">
            <a:r>
              <a:t>      {</a:t>
            </a:r>
          </a:p>
          <a:p xmlns:a="http://schemas.openxmlformats.org/drawingml/2006/main">
            <a:r>
              <a:t>        "id": "QUR-001",</a:t>
            </a:r>
          </a:p>
          <a:p xmlns:a="http://schemas.openxmlformats.org/drawingml/2006/main">
            <a:r>
              <a:t>        "title": "AI 스팸 챗봇 서비스 답변 품질",</a:t>
            </a:r>
          </a:p>
          <a:p xmlns:a="http://schemas.openxmlformats.org/drawingml/2006/main">
            <a:r>
              <a:t>        "locator": "QUR-001",</a:t>
            </a:r>
          </a:p>
          <a:p xmlns:a="http://schemas.openxmlformats.org/drawingml/2006/main">
            <a:r>
              <a:t>        "summary": "답변 품질을 점검하고 개선하는 품질 요구.",</a:t>
            </a:r>
          </a:p>
          <a:p xmlns:a="http://schemas.openxmlformats.org/drawingml/2006/main">
            <a:r>
              <a:t>        "data": "질문·정답·생성 답변 → 품질 판정·개선 기록",</a:t>
            </a:r>
          </a:p>
          <a:p xmlns:a="http://schemas.openxmlformats.org/drawingml/2006/main">
            <a:r>
              <a:t>        "components": [</a:t>
            </a:r>
          </a:p>
          <a:p xmlns:a="http://schemas.openxmlformats.org/drawingml/2006/main">
            <a:r>
              <a:t>          "C05",</a:t>
            </a:r>
          </a:p>
          <a:p xmlns:a="http://schemas.openxmlformats.org/drawingml/2006/main">
            <a:r>
              <a:t>          "C08"</a:t>
            </a:r>
          </a:p>
          <a:p xmlns:a="http://schemas.openxmlformats.org/drawingml/2006/main">
            <a:r>
              <a:t>        ],</a:t>
            </a:r>
          </a:p>
          <a:p xmlns:a="http://schemas.openxmlformats.org/drawingml/2006/main">
            <a:r>
              <a:t>        "acceptance": "업무 질문별 근거 정확성·완전성·일관성 평가와 보정 전후 비교 증빙",</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"0c8005e93cc9209037bfdf5a605228a1bae7e84453afbbd8fc4dd6696d08fb71"</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"홈페이지·앱 질의",</a:t>
            </a:r>
          </a:p>
          <a:p xmlns:a="http://schemas.openxmlformats.org/drawingml/2006/main">
            <a:r>
              <a:t>          "layer": "이용 접점",</a:t>
            </a:r>
          </a:p>
          <a:p xmlns:a="http://schemas.openxmlformats.org/drawingml/2006/main">
            <a:r>
              <a:t>          "detail": "민원인·스팸 정책 담당·평가자",</a:t>
            </a:r>
          </a:p>
          <a:p xmlns:a="http://schemas.openxmlformats.org/drawingml/2006/main">
            <a:r>
              <a:t>          "requirements": [</a:t>
            </a:r>
          </a:p>
          <a:p xmlns:a="http://schemas.openxmlformats.org/drawingml/2006/main">
            <a:r>
              <a:t>            "SFR-001"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"문의·민감정보",</a:t>
            </a:r>
          </a:p>
          <a:p xmlns:a="http://schemas.openxmlformats.org/drawingml/2006/main">
            <a:r>
              <a:t>          "layer": "업무 문맥",</a:t>
            </a:r>
          </a:p>
          <a:p xmlns:a="http://schemas.openxmlformats.org/drawingml/2006/main">
            <a:r>
              <a:t>          "detail": "질의 길이·민감정보·공격 입력 점검",</a:t>
            </a:r>
          </a:p>
          <a:p xmlns:a="http://schemas.openxmlformats.org/drawingml/2006/main">
            <a:r>
              <a:t>          "requirements": [</a:t>
            </a:r>
          </a:p>
          <a:p xmlns:a="http://schemas.openxmlformats.org/drawingml/2006/main">
            <a:r>
              <a:t>            "SFR-001"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"법령 RAG 검색",</a:t>
            </a:r>
          </a:p>
          <a:p xmlns:a="http://schemas.openxmlformats.org/drawingml/2006/main">
            <a:r>
              <a:t>          "layer": "자료 조회",</a:t>
            </a:r>
          </a:p>
          <a:p xmlns:a="http://schemas.openxmlformats.org/drawingml/2006/main">
            <a:r>
              <a:t>          "detail": "질의",</a:t>
            </a:r>
          </a:p>
          <a:p xmlns:a="http://schemas.openxmlformats.org/drawingml/2006/main">
            <a:r>
              <a:t>          "requirements": [</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"외부 생성 AI API",</a:t>
            </a:r>
          </a:p>
          <a:p xmlns:a="http://schemas.openxmlformats.org/drawingml/2006/main">
            <a:r>
              <a:t>          "layer": "핵심 처리",</a:t>
            </a:r>
          </a:p>
          <a:p xmlns:a="http://schemas.openxmlformats.org/drawingml/2006/main">
            <a:r>
              <a:t>          "detail": "외부 생성형 AI API와 RAG 연결",</a:t>
            </a:r>
          </a:p>
          <a:p xmlns:a="http://schemas.openxmlformats.org/drawingml/2006/main">
            <a:r>
              <a:t>          "requirements": [</a:t>
            </a:r>
          </a:p>
          <a:p xmlns:a="http://schemas.openxmlformats.org/drawingml/2006/main">
            <a:r>
              <a:t>            "SFR-001",</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"출처·답변불가 판정",</a:t>
            </a:r>
          </a:p>
          <a:p xmlns:a="http://schemas.openxmlformats.org/drawingml/2006/main">
            <a:r>
              <a:t>          "layer": "결과 검증",</a:t>
            </a:r>
          </a:p>
          <a:p xmlns:a="http://schemas.openxmlformats.org/drawingml/2006/main">
            <a:r>
              <a:t>          "detail": "조문별 정답·근거 없음 거부셋",</a:t>
            </a:r>
          </a:p>
          <a:p xmlns:a="http://schemas.openxmlformats.org/drawingml/2006/main">
            <a:r>
              <a:t>          "requirements": [</a:t>
            </a:r>
          </a:p>
          <a:p xmlns:a="http://schemas.openxmlformats.org/drawingml/2006/main">
            <a:r>
              <a:t>            "SFR-003",</a:t>
            </a:r>
          </a:p>
          <a:p xmlns:a="http://schemas.openxmlformats.org/drawingml/2006/main">
            <a:r>
              <a:t>            "QUR-001"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"민원인·전문가",</a:t>
            </a:r>
          </a:p>
          <a:p xmlns:a="http://schemas.openxmlformats.org/drawingml/2006/main">
            <a:r>
              <a:t>          "layer": "사람 확인",</a:t>
            </a:r>
          </a:p>
          <a:p xmlns:a="http://schemas.openxmlformats.org/drawingml/2006/main">
            <a:r>
              <a:t>          "detail": "스팸 전송 상황을 질문하고 관련 법령·체크리스트 안내",</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"답변·후속 안내",</a:t>
            </a:r>
          </a:p>
          <a:p xmlns:a="http://schemas.openxmlformats.org/drawingml/2006/main">
            <a:r>
              <a:t>          "layer": "업무 연결",</a:t>
            </a:r>
          </a:p>
          <a:p xmlns:a="http://schemas.openxmlformats.org/drawingml/2006/main">
            <a:r>
              <a:t>          "detail": "출처 답변 또는 답변불가 안내 제공",</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"자동·전문가 평가",</a:t>
            </a:r>
          </a:p>
          <a:p xmlns:a="http://schemas.openxmlformats.org/drawingml/2006/main">
            <a:r>
              <a:t>          "layer": "운영 관측",</a:t>
            </a:r>
          </a:p>
          <a:p xmlns:a="http://schemas.openxmlformats.org/drawingml/2006/main">
            <a:r>
              <a:t>          "detail": "자동 평가·전문가 판정·호출량·지연 관리",</a:t>
            </a:r>
          </a:p>
          <a:p xmlns:a="http://schemas.openxmlformats.org/drawingml/2006/main">
            <a:r>
              <a:t>          "requirements": [</a:t>
            </a:r>
          </a:p>
          <a:p xmlns:a="http://schemas.openxmlformats.org/drawingml/2006/main">
            <a:r>
              <a:t>            "SFR-004",</a:t>
            </a:r>
          </a:p>
          <a:p xmlns:a="http://schemas.openxmlformats.org/drawingml/2006/main">
            <a:r>
              <a:t>            "SFR-006",</a:t>
            </a:r>
          </a:p>
          <a:p xmlns:a="http://schemas.openxmlformats.org/drawingml/2006/main">
            <a:r>
              <a:t>            "QUR-001"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"스팸법령·가이드",</a:t>
            </a:r>
          </a:p>
          <a:p xmlns:a="http://schemas.openxmlformats.org/drawingml/2006/main">
            <a:r>
              <a:t>          "layer": "데이터 원천",</a:t>
            </a:r>
          </a:p>
          <a:p xmlns:a="http://schemas.openxmlformats.org/drawingml/2006/main">
            <a:r>
              <a:t>          "detail": "법령·체크리스트",</a:t>
            </a:r>
          </a:p>
          <a:p xmlns:a="http://schemas.openxmlformats.org/drawingml/2006/main">
            <a:r>
              <a:t>          "requirements": [</a:t>
            </a:r>
          </a:p>
          <a:p xmlns:a="http://schemas.openxmlformats.org/drawingml/2006/main">
            <a:r>
              <a:t>            "SFR-002"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"조문·판본 정비",</a:t>
            </a:r>
          </a:p>
          <a:p xmlns:a="http://schemas.openxmlformats.org/drawingml/2006/main">
            <a:r>
              <a:t>          "layer": "준비·갱신",</a:t>
            </a:r>
          </a:p>
          <a:p xmlns:a="http://schemas.openxmlformats.org/drawingml/2006/main">
            <a:r>
              <a:t>          "detail": "법령·가이드·체크리스트의 최신 판본 관리",</a:t>
            </a:r>
          </a:p>
          <a:p xmlns:a="http://schemas.openxmlformats.org/drawingml/2006/main">
            <a:r>
              <a:t>          "requirements": [</a:t>
            </a:r>
          </a:p>
          <a:p xmlns:a="http://schemas.openxmlformats.org/drawingml/2006/main">
            <a:r>
              <a:t>            "SFR-002"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"지식·평가셋",</a:t>
            </a:r>
          </a:p>
          <a:p xmlns:a="http://schemas.openxmlformats.org/drawingml/2006/main">
            <a:r>
              <a:t>          "layer": "상태·지식 저장",</a:t>
            </a:r>
          </a:p>
          <a:p xmlns:a="http://schemas.openxmlformats.org/drawingml/2006/main">
            <a:r>
              <a:t>          "detail": "전문가 정답표·거부셋·최종 RFP 성능조건별 측정",</a:t>
            </a:r>
          </a:p>
          <a:p xmlns:a="http://schemas.openxmlformats.org/drawingml/2006/main">
            <a:r>
              <a:t>          "requirements": [</a:t>
            </a:r>
          </a:p>
          <a:p xmlns:a="http://schemas.openxmlformats.org/drawingml/2006/main">
            <a:r>
              <a:t>            "SFR-002"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"입력·호출·지연 정책",</a:t>
            </a:r>
          </a:p>
          <a:p xmlns:a="http://schemas.openxmlformats.org/drawingml/2006/main">
            <a:r>
              <a:t>          "layer": "권한·정책",</a:t>
            </a:r>
          </a:p>
          <a:p xmlns:a="http://schemas.openxmlformats.org/drawingml/2006/main">
            <a:r>
              <a:t>          "detail": "개정 전 조문·근거 없는 질의·공격 입력·부하 증가",</a:t>
            </a:r>
          </a:p>
          <a:p xmlns:a="http://schemas.openxmlformats.org/drawingml/2006/main">
            <a:r>
              <a:t>          "requirements": [</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"질의 길이·민감정보·공격 입력 점검",</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"질의",</a:t>
            </a:r>
          </a:p>
          <a:p xmlns:a="http://schemas.openxmlformats.org/drawingml/2006/main">
            <a:r>
              <a:t>          "check": "조문별 정답·근거 없음 거부셋"</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"법령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"답변·보류",</a:t>
            </a:r>
          </a:p>
          <a:p xmlns:a="http://schemas.openxmlformats.org/drawingml/2006/main">
            <a:r>
              <a:t>          "check": "개정 전 조문·근거 없는 질의·공격 입력·부하 증가"</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"답변·보류",</a:t>
            </a:r>
          </a:p>
          <a:p xmlns:a="http://schemas.openxmlformats.org/drawingml/2006/main">
            <a:r>
              <a:t>          "check": "출처 답변 또는 답변불가 안내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"전문가 판정",</a:t>
            </a:r>
          </a:p>
          <a:p xmlns:a="http://schemas.openxmlformats.org/drawingml/2006/main">
            <a:r>
              <a:t>          "check": "전문가 정답표·거부셋·최종 RFP 성능조건별 측정"</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"최종 RFP SFR-001~006·QUR-001",</a:t>
            </a:r>
          </a:p>
          <a:p xmlns:a="http://schemas.openxmlformats.org/drawingml/2006/main">
            <a:r>
              <a:t>        "extracted": "외부 생성형 AI API·RAG·출처·답변불가·전문가 평가",</a:t>
            </a:r>
          </a:p>
          <a:p xmlns:a="http://schemas.openxmlformats.org/drawingml/2006/main">
            <a:r>
              <a:t>        "extension": "질의 공격·근거 부재·법령 개정의 독립 시험셋"</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"개정 전 조문·근거 없는 질의·공격 입력·부하 증가",</a:t>
            </a:r>
          </a:p>
          <a:p xmlns:a="http://schemas.openxmlformats.org/drawingml/2006/main">
            <a:r>
              <a:t>        "hold": "조문별 정답·근거 없음 거부셋",</a:t>
            </a:r>
          </a:p>
          <a:p xmlns:a="http://schemas.openxmlformats.org/drawingml/2006/main">
            <a:r>
              <a:t>        "recovery": "자동 평가·전문가 판정·호출량·지연 관리",</a:t>
            </a:r>
          </a:p>
          <a:p xmlns:a="http://schemas.openxmlformats.org/drawingml/2006/main">
            <a:r>
              <a:t>        "evidence": "전문가 정답표·거부셋·최종 RFP 성능조건별 측정"</a:t>
            </a:r>
          </a:p>
          <a:p xmlns:a="http://schemas.openxmlformats.org/drawingml/2006/main">
            <a:r>
              <a:t>      },</a:t>
            </a:r>
          </a:p>
          <a:p xmlns:a="http://schemas.openxmlformats.org/drawingml/2006/main">
            <a:r>
              <a:t>      "data": {</a:t>
            </a:r>
          </a:p>
          <a:p xmlns:a="http://schemas.openxmlformats.org/drawingml/2006/main">
            <a:r>
              <a:t>        "source": "법령·체크리스트",</a:t>
            </a:r>
          </a:p>
          <a:p xmlns:a="http://schemas.openxmlformats.org/drawingml/2006/main">
            <a:r>
              <a:t>        "prepare": "법령·가이드·체크리스트의 최신 판본 관리",</a:t>
            </a:r>
          </a:p>
          <a:p xmlns:a="http://schemas.openxmlformats.org/drawingml/2006/main">
            <a:r>
              <a:t>        "output": "질의",</a:t>
            </a:r>
          </a:p>
          <a:p xmlns:a="http://schemas.openxmlformats.org/drawingml/2006/main">
            <a:r>
              <a:t>        "refresh": "자동 평가·전문가 판정·호출량·지연 관리"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"PF-R07",</a:t>
            </a:r>
          </a:p>
          <a:p xmlns:a="http://schemas.openxmlformats.org/drawingml/2006/main">
            <a:r>
              <a:t>    "success": [</a:t>
            </a:r>
          </a:p>
          <a:p xmlns:a="http://schemas.openxmlformats.org/drawingml/2006/main">
            <a:r>
              <a:t>      "법령·체크리스트의 RAG 연결",</a:t>
            </a:r>
          </a:p>
          <a:p xmlns:a="http://schemas.openxmlformats.org/drawingml/2006/main">
            <a:r>
              <a:t>      "출처·보류·전문가 평가 요구"</a:t>
            </a:r>
          </a:p>
          <a:p xmlns:a="http://schemas.openxmlformats.org/drawingml/2006/main">
            <a:r>
              <a:t>    ],</a:t>
            </a:r>
          </a:p>
          <a:p xmlns:a="http://schemas.openxmlformats.org/drawingml/2006/main">
            <a:r>
              <a:t>    "risks": [</a:t>
            </a:r>
          </a:p>
          <a:p xmlns:a="http://schemas.openxmlformats.org/drawingml/2006/main">
            <a:r>
              <a:t>      "구버전 법령·상충 답변",</a:t>
            </a:r>
          </a:p>
          <a:p xmlns:a="http://schemas.openxmlformats.org/drawingml/2006/main">
            <a:r>
              <a:t>      "입찰 요구를 구현 기능으로 인식"</a:t>
            </a:r>
          </a:p>
          <a:p xmlns:a="http://schemas.openxmlformats.org/drawingml/2006/main">
            <a:r>
              <a:t>    ],</a:t>
            </a:r>
          </a:p>
          <a:p xmlns:a="http://schemas.openxmlformats.org/drawingml/2006/main">
            <a:r>
              <a:t>    "architecture": [</a:t>
            </a:r>
          </a:p>
          <a:p xmlns:a="http://schemas.openxmlformats.org/drawingml/2006/main">
            <a:r>
              <a:t>      "스팸 민원 질의",</a:t>
            </a:r>
          </a:p>
          <a:p xmlns:a="http://schemas.openxmlformats.org/drawingml/2006/main">
            <a:r>
              <a:t>      "외부 AI·RAG",</a:t>
            </a:r>
          </a:p>
          <a:p xmlns:a="http://schemas.openxmlformats.org/drawingml/2006/main">
            <a:r>
              <a:t>      "법령·체크리스트",</a:t>
            </a:r>
          </a:p>
          <a:p xmlns:a="http://schemas.openxmlformats.org/drawingml/2006/main">
            <a:r>
              <a:t>      "민원·평가 담당"</a:t>
            </a:r>
          </a:p>
          <a:p xmlns:a="http://schemas.openxmlformats.org/drawingml/2006/main">
            <a:r>
              <a:t>    ],</a:t>
            </a:r>
          </a:p>
          <a:p xmlns:a="http://schemas.openxmlformats.org/drawingml/2006/main">
            <a:r>
              <a:t>    "transfers": [</a:t>
            </a:r>
          </a:p>
          <a:p xmlns:a="http://schemas.openxmlformats.org/drawingml/2006/main">
            <a:r>
              <a:t>      "질의",</a:t>
            </a:r>
          </a:p>
          <a:p xmlns:a="http://schemas.openxmlformats.org/drawingml/2006/main">
            <a:r>
              <a:t>      "법령 근거",</a:t>
            </a:r>
          </a:p>
          <a:p xmlns:a="http://schemas.openxmlformats.org/drawingml/2006/main">
            <a:r>
              <a:t>      "답변·보류",</a:t>
            </a:r>
          </a:p>
          <a:p xmlns:a="http://schemas.openxmlformats.org/drawingml/2006/main">
            <a:r>
              <a:t>      "전문가 판정"</a:t>
            </a:r>
          </a:p>
          <a:p xmlns:a="http://schemas.openxmlformats.org/drawingml/2006/main">
            <a:r>
              <a:t>    ],</a:t>
            </a:r>
          </a:p>
          <a:p xmlns:a="http://schemas.openxmlformats.org/drawingml/2006/main">
            <a:r>
              <a:t>    "control": "조문별 정답·근거 없음 거부셋",</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SFR-001~006, PER-001·004, QUR-001 / Word T080 https://www.kisa.kr/post/fileDownload?menuSeq=403&amp;postSeq=10891&amp;attachSeq=2&amp;lang_type=KO</a:t>
            </a:r>
          </a:p>
          <a:p xmlns:a="http://schemas.openxmlformats.org/drawingml/2006/main">
            <a:r>
              <a:t>홈페이지 https://heen1987-ops.github.io/TS-business-Plan-001/index.html?view=platform-cases&amp;case=PF-R07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"PF-R08",</a:t>
            </a:r>
          </a:p>
          <a:p xmlns:a="http://schemas.openxmlformats.org/drawingml/2006/main">
            <a:r>
              <a:t>    "sourceId": "R08",</a:t>
            </a:r>
          </a:p>
          <a:p xmlns:a="http://schemas.openxmlformats.org/drawingml/2006/main">
            <a:r>
              <a:t>    "title": "예금보험공사 생성형 AI",</a:t>
            </a:r>
          </a:p>
          <a:p xmlns:a="http://schemas.openxmlformats.org/drawingml/2006/main">
            <a:r>
              <a:t>    "region": "국내",</a:t>
            </a:r>
          </a:p>
          <a:p xmlns:a="http://schemas.openxmlformats.org/drawingml/2006/main">
            <a:r>
              <a:t>    "owner": "예금보험공사",</a:t>
            </a:r>
          </a:p>
          <a:p xmlns:a="http://schemas.openxmlformats.org/drawingml/2006/main">
            <a:r>
              <a:t>    "state": "사전규격 RFP + 공급사 계약 발표 확인 / 최종본·준공 미확인",</a:t>
            </a:r>
          </a:p>
          <a:p xmlns:a="http://schemas.openxmlformats.org/drawingml/2006/main">
            <a:r>
              <a:t>    "period": "기존 원장 확인 2026.10.16",</a:t>
            </a:r>
          </a:p>
          <a:p xmlns:a="http://schemas.openxmlformats.org/drawingml/2006/main">
            <a:r>
              <a:t>    "fact": "대국민 챗봇·사내 챗봇·금융위 안건 검색요약 + 데이터 카탈로그/거버넌스",</a:t>
            </a:r>
          </a:p>
          <a:p xmlns:a="http://schemas.openxmlformats.org/drawingml/2006/main">
            <a:r>
              <a:t>    "limit": "학습용 FAQ500건과 서비스별 검증셋500건은 별도 요구. 계획상 수치를 운영 실적으로 사용하지 않음",</a:t>
            </a:r>
          </a:p>
          <a:p xmlns:a="http://schemas.openxmlformats.org/drawingml/2006/main">
            <a:r>
              <a:t>    "nodes": [</a:t>
            </a:r>
          </a:p>
          <a:p xmlns:a="http://schemas.openxmlformats.org/drawingml/2006/main">
            <a:r>
              <a:t>      "지식·안건",</a:t>
            </a:r>
          </a:p>
          <a:p xmlns:a="http://schemas.openxmlformats.org/drawingml/2006/main">
            <a:r>
              <a:t>      "권한·망·DRM",</a:t>
            </a:r>
          </a:p>
          <a:p xmlns:a="http://schemas.openxmlformats.org/drawingml/2006/main">
            <a:r>
              <a:t>      "검색·산식 검증",</a:t>
            </a:r>
          </a:p>
          <a:p xmlns:a="http://schemas.openxmlformats.org/drawingml/2006/main">
            <a:r>
              <a:t>      "평가·운영"</a:t>
            </a:r>
          </a:p>
          <a:p xmlns:a="http://schemas.openxmlformats.org/drawingml/2006/main">
            <a:r>
              <a:t>    ],</a:t>
            </a:r>
          </a:p>
          <a:p xmlns:a="http://schemas.openxmlformats.org/drawingml/2006/main">
            <a:r>
              <a:t>    "apply": "대민·내부 지식 경계와 데이터 카탈로그를 함께 설계하는 정보 제공",</a:t>
            </a:r>
          </a:p>
          <a:p xmlns:a="http://schemas.openxmlformats.org/drawingml/2006/main">
            <a:r>
              <a:t>    "delta": "내외부 지식·망 분리 / 문서 DRM·권한 / 안건·산식·데이터 카탈로그",</a:t>
            </a:r>
          </a:p>
          <a:p xmlns:a="http://schemas.openxmlformats.org/drawingml/2006/main">
            <a:r>
              <a:t>    "test": "외부 계정의 내부자료 요청·DRM·산식 오류에 대한 독립 검증",</a:t>
            </a:r>
          </a:p>
          <a:p xmlns:a="http://schemas.openxmlformats.org/drawingml/2006/main">
            <a:r>
              <a:t>    "url": "https://www.g2b.go.kr/pn/pnz/pnza/UntyAtchFile/downloadFile.do?bfSpecRegNo=R26BD00217546&amp;fileType=BFDTL&amp;fileSeq=1",</a:t>
            </a:r>
          </a:p>
          <a:p xmlns:a="http://schemas.openxmlformats.org/drawingml/2006/main">
            <a:r>
              <a:t>    "urls": [</a:t>
            </a:r>
          </a:p>
          <a:p xmlns:a="http://schemas.openxmlformats.org/drawingml/2006/main">
            <a:r>
              <a:t>      "https://www.g2b.go.kr/pn/pnz/pnza/UntyAtchFile/downloadFile.do?bfSpecRegNo=R26BD00217546&amp;fileType=BFDTL&amp;fileSeq=1",</a:t>
            </a:r>
          </a:p>
          <a:p xmlns:a="http://schemas.openxmlformats.org/drawingml/2006/main">
            <a:r>
              <a:t>      "https://clabi.ai/news/fe55039a-f069-4218-aa5a-0c1057c5ca92"</a:t>
            </a:r>
          </a:p>
          <a:p xmlns:a="http://schemas.openxmlformats.org/drawingml/2006/main">
            <a:r>
              <a:t>    ],</a:t>
            </a:r>
          </a:p>
          <a:p xmlns:a="http://schemas.openxmlformats.org/drawingml/2006/main">
            <a:r>
              <a:t>    "basis": "SFR-001~014, DAR·CNR / Word T089",</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"비인가 노출 건수 / 원천 추적률 / 안건 검토시간",</a:t>
            </a:r>
          </a:p>
          <a:p xmlns:a="http://schemas.openxmlformats.org/drawingml/2006/main">
            <a:r>
              <a:t>    "group": "요구·구축",</a:t>
            </a:r>
          </a:p>
          <a:p xmlns:a="http://schemas.openxmlformats.org/drawingml/2006/main">
            <a:r>
              <a:t>    "sourceDetail": "망·DRM·권한 연계; 안건 메타데이터 범위검색; 규정 산식 교차검증; 모델라우팅·평가·모니터링",</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"PF-R08",</a:t>
            </a:r>
          </a:p>
          <a:p xmlns:a="http://schemas.openxmlformats.org/drawingml/2006/main">
            <a:r>
              <a:t>    "canonicalId": "PF-R08",</a:t>
            </a:r>
          </a:p>
          <a:p xmlns:a="http://schemas.openxmlformats.org/drawingml/2006/main">
            <a:r>
              <a:t>    "purpose": "대민·사내 AI와 데이터 관리체계의 공동 구축",</a:t>
            </a:r>
          </a:p>
          <a:p xmlns:a="http://schemas.openxmlformats.org/drawingml/2006/main">
            <a:r>
              <a:t>    "users": "국민·직원·안건 검토자·데이터 담당",</a:t>
            </a:r>
          </a:p>
          <a:p xmlns:a="http://schemas.openxmlformats.org/drawingml/2006/main">
            <a:r>
              <a:t>    "scope": [</a:t>
            </a:r>
          </a:p>
          <a:p xmlns:a="http://schemas.openxmlformats.org/drawingml/2006/main">
            <a:r>
              <a:t>      "챗봇",</a:t>
            </a:r>
          </a:p>
          <a:p xmlns:a="http://schemas.openxmlformats.org/drawingml/2006/main">
            <a:r>
              <a:t>      "안건 검색·요약",</a:t>
            </a:r>
          </a:p>
          <a:p xmlns:a="http://schemas.openxmlformats.org/drawingml/2006/main">
            <a:r>
              <a:t>      "카탈로그"</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"국민·직원 접점",</a:t>
            </a:r>
          </a:p>
          <a:p xmlns:a="http://schemas.openxmlformats.org/drawingml/2006/main">
            <a:r>
              <a:t>        "detail": "외부·내부 접점과 망·계정·DRM 경계 분리",</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"챗봇 / 안건 검색·요약 / 카탈로그",</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"검색·요약·산식 검토",</a:t>
            </a:r>
          </a:p>
          <a:p xmlns:a="http://schemas.openxmlformats.org/drawingml/2006/main">
            <a:r>
              <a:t>        "detail": "검색·요약·모델 라우팅·산식 검증",</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"업무 검토자",</a:t>
            </a:r>
          </a:p>
          <a:p xmlns:a="http://schemas.openxmlformats.org/drawingml/2006/main">
            <a:r>
              <a:t>        "detail": "권한 내 요약·계산 결과의 담당자 검토",</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"지식·안건·카탈로그",</a:t>
            </a:r>
          </a:p>
          <a:p xmlns:a="http://schemas.openxmlformats.org/drawingml/2006/main">
            <a:r>
              <a:t>        "detail": "안건 메타데이터·정형/비정형 데이터 카탈로그",</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"데이터 품질·민감정보·답변 품질 모니터링",</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"지식·안건",</a:t>
            </a:r>
          </a:p>
          <a:p xmlns:a="http://schemas.openxmlformats.org/drawingml/2006/main">
            <a:r>
              <a:t>        "input": "외부·내부 접점과 망·계정·DRM 경계 분리",</a:t>
            </a:r>
          </a:p>
          <a:p xmlns:a="http://schemas.openxmlformats.org/drawingml/2006/main">
            <a:r>
              <a:t>        "process": "안건 메타데이터·정형/비정형 데이터 카탈로그",</a:t>
            </a:r>
          </a:p>
          <a:p xmlns:a="http://schemas.openxmlformats.org/drawingml/2006/main">
            <a:r>
              <a:t>        "output": "질의·권한"</a:t>
            </a:r>
          </a:p>
          <a:p xmlns:a="http://schemas.openxmlformats.org/drawingml/2006/main">
            <a:r>
              <a:t>      },</a:t>
            </a:r>
          </a:p>
          <a:p xmlns:a="http://schemas.openxmlformats.org/drawingml/2006/main">
            <a:r>
              <a:t>      {</a:t>
            </a:r>
          </a:p>
          <a:p xmlns:a="http://schemas.openxmlformats.org/drawingml/2006/main">
            <a:r>
              <a:t>        "title": "권한·망·DRM",</a:t>
            </a:r>
          </a:p>
          <a:p xmlns:a="http://schemas.openxmlformats.org/drawingml/2006/main">
            <a:r>
              <a:t>        "input": "질의·권한",</a:t>
            </a:r>
          </a:p>
          <a:p xmlns:a="http://schemas.openxmlformats.org/drawingml/2006/main">
            <a:r>
              <a:t>        "process": "검색·요약·모델 라우팅·산식 검증",</a:t>
            </a:r>
          </a:p>
          <a:p xmlns:a="http://schemas.openxmlformats.org/drawingml/2006/main">
            <a:r>
              <a:t>        "output": "허용 근거"</a:t>
            </a:r>
          </a:p>
          <a:p xmlns:a="http://schemas.openxmlformats.org/drawingml/2006/main">
            <a:r>
              <a:t>      },</a:t>
            </a:r>
          </a:p>
          <a:p xmlns:a="http://schemas.openxmlformats.org/drawingml/2006/main">
            <a:r>
              <a:t>      {</a:t>
            </a:r>
          </a:p>
          <a:p xmlns:a="http://schemas.openxmlformats.org/drawingml/2006/main">
            <a:r>
              <a:t>        "title": "검색·산식 검증",</a:t>
            </a:r>
          </a:p>
          <a:p xmlns:a="http://schemas.openxmlformats.org/drawingml/2006/main">
            <a:r>
              <a:t>        "input": "허용 근거",</a:t>
            </a:r>
          </a:p>
          <a:p xmlns:a="http://schemas.openxmlformats.org/drawingml/2006/main">
            <a:r>
              <a:t>        "process": "망·권한·산식별 독립 검증",</a:t>
            </a:r>
          </a:p>
          <a:p xmlns:a="http://schemas.openxmlformats.org/drawingml/2006/main">
            <a:r>
              <a:t>        "output": "요약·계산"</a:t>
            </a:r>
          </a:p>
          <a:p xmlns:a="http://schemas.openxmlformats.org/drawingml/2006/main">
            <a:r>
              <a:t>      },</a:t>
            </a:r>
          </a:p>
          <a:p xmlns:a="http://schemas.openxmlformats.org/drawingml/2006/main">
            <a:r>
              <a:t>      {</a:t>
            </a:r>
          </a:p>
          <a:p xmlns:a="http://schemas.openxmlformats.org/drawingml/2006/main">
            <a:r>
              <a:t>        "title": "평가·운영",</a:t>
            </a:r>
          </a:p>
          <a:p xmlns:a="http://schemas.openxmlformats.org/drawingml/2006/main">
            <a:r>
              <a:t>        "input": "요약·계산",</a:t>
            </a:r>
          </a:p>
          <a:p xmlns:a="http://schemas.openxmlformats.org/drawingml/2006/main">
            <a:r>
              <a:t>        "process": "권한 내 요약·계산 결과의 담당자 검토",</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"허용된 안건만 검색·요약하고 규정 산식을 독립 확인",</a:t>
            </a:r>
          </a:p>
          <a:p xmlns:a="http://schemas.openxmlformats.org/drawingml/2006/main">
            <a:r>
              <a:t>      "exception": "외부 계정의 내부 안건 요청·DRM 제한·단위 오류",</a:t>
            </a:r>
          </a:p>
          <a:p xmlns:a="http://schemas.openxmlformats.org/drawingml/2006/main">
            <a:r>
              <a:t>      "evidence": "망·권한별 노출 결과와 원문·계산·카탈로그 대사",</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"국민·직원·안건 검토자·데이터 담당",</a:t>
            </a:r>
          </a:p>
          <a:p xmlns:a="http://schemas.openxmlformats.org/drawingml/2006/main">
            <a:r>
              <a:t>          "processing": "외부·내부 접점과 망·계정·DRM 경계 분리",</a:t>
            </a:r>
          </a:p>
          <a:p xmlns:a="http://schemas.openxmlformats.org/drawingml/2006/main">
            <a:r>
              <a:t>          "output": "질의·권한"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"지식·안건·카탈로그",</a:t>
            </a:r>
          </a:p>
          <a:p xmlns:a="http://schemas.openxmlformats.org/drawingml/2006/main">
            <a:r>
              <a:t>          "processing": "안건 메타데이터·정형/비정형 데이터 카탈로그",</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"질의·권한",</a:t>
            </a:r>
          </a:p>
          <a:p xmlns:a="http://schemas.openxmlformats.org/drawingml/2006/main">
            <a:r>
              <a:t>          "processing": "검색·요약·모델 라우팅·산식 검증",</a:t>
            </a:r>
          </a:p>
          <a:p xmlns:a="http://schemas.openxmlformats.org/drawingml/2006/main">
            <a:r>
              <a:t>          "output": "요약·계산"</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"요약·계산",</a:t>
            </a:r>
          </a:p>
          <a:p xmlns:a="http://schemas.openxmlformats.org/drawingml/2006/main">
            <a:r>
              <a:t>          "processing": "권한 내 요약·계산 결과의 담당자 검토",</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"데이터 품질·민감정보·답변 품질 모니터링",</a:t>
            </a:r>
          </a:p>
          <a:p xmlns:a="http://schemas.openxmlformats.org/drawingml/2006/main">
            <a:r>
              <a:t>          "output": "망·권한별 노출 결과와 원문·계산·카탈로그 대사"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"데이터 품질·민감정보·답변 품질 모니터링",</a:t>
            </a:r>
          </a:p>
          <a:p xmlns:a="http://schemas.openxmlformats.org/drawingml/2006/main">
            <a:r>
              <a:t>    "status": "RFP 기반 논리 설계",</a:t>
            </a:r>
          </a:p>
          <a:p xmlns:a="http://schemas.openxmlformats.org/drawingml/2006/main">
            <a:r>
              <a:t>    "basis": "사전공개 RFP 2026.04 · SFR-001~014·DAR·CNR",</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"SFR-001~014, DAR·CNR / Word T089",</a:t>
            </a:r>
          </a:p>
          <a:p xmlns:a="http://schemas.openxmlformats.org/drawingml/2006/main">
            <a:r>
              <a:t>        "url": "https://www.g2b.go.kr/pn/pnz/pnza/UntyAtchFile/downloadFile.do?bfSpecRegNo=R26BD00217546&amp;fileType=BFDTL&amp;fileSeq=1"</a:t>
            </a:r>
          </a:p>
          <a:p xmlns:a="http://schemas.openxmlformats.org/drawingml/2006/main">
            <a:r>
              <a:t>      }</a:t>
            </a:r>
          </a:p>
          <a:p xmlns:a="http://schemas.openxmlformats.org/drawingml/2006/main">
            <a:r>
              <a:t>    ],</a:t>
            </a:r>
          </a:p>
          <a:p xmlns:a="http://schemas.openxmlformats.org/drawingml/2006/main">
            <a:r>
              <a:t>    "implication": "대민·내부 지식 경계와 데이터 카탈로그를 함께 설계하는 정보 제공",</a:t>
            </a:r>
          </a:p>
          <a:p xmlns:a="http://schemas.openxmlformats.org/drawingml/2006/main">
            <a:r>
              <a:t>    "local": "대민·내부 지식 경계와 데이터 카탈로그를 함께 설계하는 정보 제공",</a:t>
            </a:r>
          </a:p>
          <a:p xmlns:a="http://schemas.openxmlformats.org/drawingml/2006/main">
            <a:r>
              <a:t>    "sourceDetail": "망·DRM·권한 연계; 안건 메타데이터 범위검색; 규정 산식 교차검증; 모델라우팅·평가·모니터링",</a:t>
            </a:r>
          </a:p>
          <a:p xmlns:a="http://schemas.openxmlformats.org/drawingml/2006/main">
            <a:r>
              <a:t>    "narrative": [</a:t>
            </a:r>
          </a:p>
          <a:p xmlns:a="http://schemas.openxmlformats.org/drawingml/2006/main">
            <a:r>
              <a:t>      "대국민 챗봇, 임직원 지식 활용, 안건 검색·요약과 데이터 카탈로그를 함께 다루는 생성형 AI 플랫폼 계획. 대외 공개 지식과 내부 업무 자료를 같은 검색 범위로 취급하지 않는 것이 구성의 출발점.",</a:t>
            </a:r>
          </a:p>
          <a:p xmlns:a="http://schemas.openxmlformats.org/drawingml/2006/main">
            <a:r>
              <a:t>      "사전공개 RFP 도면은 대민·임직원 서비스를 나누고 각각 보안·서비스·데이터·관리 서브넷을 배치. 내부 영역은 SSO/EAM·ECM·업무 시스템과 연결하고, 별도 데이터 카탈로그는 업무분류체계·담당부서·메타데이터·사용승인을 연결하는 구조.",</a:t>
            </a:r>
          </a:p>
          <a:p xmlns:a="http://schemas.openxmlformats.org/drawingml/2006/main">
            <a:r>
              <a:t>      "TS 조직 기반 플랫폼에서는 직원이 누구인지뿐 아니라 특정 데이터의 업무 소관·활용 목적·승인 조건을 함께 관리하는 참고 사례. CCK 추가 개발은 조직·업무 사전과 카탈로그의 연결, DRM·권한 전파, 안건 범위검색, 산식 검증의 업무별 분리. 사전공개 요구와 실제 운영 성과는 별도 증빙으로 평가."</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"SFR-003",</a:t>
            </a:r>
          </a:p>
          <a:p xmlns:a="http://schemas.openxmlformats.org/drawingml/2006/main">
            <a:r>
              <a:t>        "title": "AI 서비스 에이전트 관리 기능",</a:t>
            </a:r>
          </a:p>
          <a:p xmlns:a="http://schemas.openxmlformats.org/drawingml/2006/main">
            <a:r>
              <a:t>        "locator": "SFR-003",</a:t>
            </a:r>
          </a:p>
          <a:p xmlns:a="http://schemas.openxmlformats.org/drawingml/2006/main">
            <a:r>
              <a:t>        "summary": "AI 에이전트의 구성·운영 관리 기능.",</a:t>
            </a:r>
          </a:p>
          <a:p xmlns:a="http://schemas.openxmlformats.org/drawingml/2006/main">
            <a:r>
              <a:t>        "data": "에이전트 설정·도구 → 실행 상태·관리 기록",</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"C08"</a:t>
            </a:r>
          </a:p>
          <a:p xmlns:a="http://schemas.openxmlformats.org/drawingml/2006/main">
            <a:r>
              <a:t>        ],</a:t>
            </a:r>
          </a:p>
          <a:p xmlns:a="http://schemas.openxmlformats.org/drawingml/2006/main">
            <a:r>
              <a:t>        "acceptance": "잘못된 도구 권한과 구성 변경 시 실행 차단·판본 추적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"1590814bc8f7ceb1abe4749ac8c848bd13cc7c8da0eb672ad1ee7d69ba045a3f"</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"AI 서비스 RAG 기능",</a:t>
            </a:r>
          </a:p>
          <a:p xmlns:a="http://schemas.openxmlformats.org/drawingml/2006/main">
            <a:r>
              <a:t>        "locator": "SFR-004",</a:t>
            </a:r>
          </a:p>
          <a:p xmlns:a="http://schemas.openxmlformats.org/drawingml/2006/main">
            <a:r>
              <a:t>        "summary": "업무 지식을 검색해 생성 응답에 연결하는 RAG 기능.",</a:t>
            </a:r>
          </a:p>
          <a:p xmlns:a="http://schemas.openxmlformats.org/drawingml/2006/main">
            <a:r>
              <a:t>        "data": "질의·허용 문서 → 근거·응답",</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"C11"</a:t>
            </a:r>
          </a:p>
          <a:p xmlns:a="http://schemas.openxmlformats.org/drawingml/2006/main">
            <a:r>
              <a:t>        ],</a:t>
            </a:r>
          </a:p>
          <a:p xmlns:a="http://schemas.openxmlformats.org/drawingml/2006/main">
            <a:r>
              <a:t>        "acceptance": "사내·대국민 문서 혼재 시 검색 범위 분리와 출처 정확성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"6779cdd1e875adfd01a03d244801be17e636a2a970a25d78c0009ee42d836beb"</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"AI 서비스 데이터 파이프라인 자동화 기능",</a:t>
            </a:r>
          </a:p>
          <a:p xmlns:a="http://schemas.openxmlformats.org/drawingml/2006/main">
            <a:r>
              <a:t>        "locator": "SFR-005",</a:t>
            </a:r>
          </a:p>
          <a:p xmlns:a="http://schemas.openxmlformats.org/drawingml/2006/main">
            <a:r>
              <a:t>        "summary": "원천 자료의 수집·전처리·검색 반영 데이터 파이프라인.",</a:t>
            </a:r>
          </a:p>
          <a:p xmlns:a="http://schemas.openxmlformats.org/drawingml/2006/main">
            <a:r>
              <a:t>        "data": "원천 문서·메타정보 → 검색용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"등록·개정·삭제·정제 실패의 처리 결과와 원천 변경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"ce9810ce185079fa2fef5d1208af96a3a07ef6e6e5ca1ec36d2dd7a42c90df96"</a:t>
            </a:r>
          </a:p>
          <a:p xmlns:a="http://schemas.openxmlformats.org/drawingml/2006/main">
            <a:r>
              <a:t>      },</a:t>
            </a:r>
          </a:p>
          <a:p xmlns:a="http://schemas.openxmlformats.org/drawingml/2006/main">
            <a:r>
              <a:t>      {</a:t>
            </a:r>
          </a:p>
          <a:p xmlns:a="http://schemas.openxmlformats.org/drawingml/2006/main">
            <a:r>
              <a:t>        "id": "SFR-009",</a:t>
            </a:r>
          </a:p>
          <a:p xmlns:a="http://schemas.openxmlformats.org/drawingml/2006/main">
            <a:r>
              <a:t>        "title": "AI 서비스(사내 AI 챗봇 서비스) 구축",</a:t>
            </a:r>
          </a:p>
          <a:p xmlns:a="http://schemas.openxmlformats.org/drawingml/2006/main">
            <a:r>
              <a:t>        "locator": "SFR-009",</a:t>
            </a:r>
          </a:p>
          <a:p xmlns:a="http://schemas.openxmlformats.org/drawingml/2006/main">
            <a:r>
              <a:t>        "summary": "사내 직원용 업무 지식 챗봇 기능.",</a:t>
            </a:r>
          </a:p>
          <a:p xmlns:a="http://schemas.openxmlformats.org/drawingml/2006/main">
            <a:r>
              <a:t>        "data": "직원 질의·직무 문맥 → 업무 답변·근거",</a:t>
            </a:r>
          </a:p>
          <a:p xmlns:a="http://schemas.openxmlformats.org/drawingml/2006/main">
            <a:r>
              <a:t>        "components": [</a:t>
            </a:r>
          </a:p>
          <a:p xmlns:a="http://schemas.openxmlformats.org/drawingml/2006/main">
            <a:r>
              <a:t>          "C01",</a:t>
            </a:r>
          </a:p>
          <a:p xmlns:a="http://schemas.openxmlformats.org/drawingml/2006/main">
            <a:r>
              <a:t>          "C03",</a:t>
            </a:r>
          </a:p>
          <a:p xmlns:a="http://schemas.openxmlformats.org/drawingml/2006/main">
            <a:r>
              <a:t>          "C06"</a:t>
            </a:r>
          </a:p>
          <a:p xmlns:a="http://schemas.openxmlformats.org/drawingml/2006/main">
            <a:r>
              <a:t>        ],</a:t>
            </a:r>
          </a:p>
          <a:p xmlns:a="http://schemas.openxmlformats.org/drawingml/2006/main">
            <a:r>
              <a:t>        "acceptance": "동일 질의의 직무별 관련성, 비공개 자료 접근, 최신 규정 인용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"45f7da3f2df0a14850c6f9716076e421210ba97cb8aefec195a8439a0225ff95"</a:t>
            </a:r>
          </a:p>
          <a:p xmlns:a="http://schemas.openxmlformats.org/drawingml/2006/main">
            <a:r>
              <a:t>      },</a:t>
            </a:r>
          </a:p>
          <a:p xmlns:a="http://schemas.openxmlformats.org/drawingml/2006/main">
            <a:r>
              <a:t>      {</a:t>
            </a:r>
          </a:p>
          <a:p xmlns:a="http://schemas.openxmlformats.org/drawingml/2006/main">
            <a:r>
              <a:t>        "id": "SFR-012",</a:t>
            </a:r>
          </a:p>
          <a:p xmlns:a="http://schemas.openxmlformats.org/drawingml/2006/main">
            <a:r>
              <a:t>        "title": "데이터 카탈로그 일반 사항",</a:t>
            </a:r>
          </a:p>
          <a:p xmlns:a="http://schemas.openxmlformats.org/drawingml/2006/main">
            <a:r>
              <a:t>        "locator": "SFR-012",</a:t>
            </a:r>
          </a:p>
          <a:p xmlns:a="http://schemas.openxmlformats.org/drawingml/2006/main">
            <a:r>
              <a:t>        "summary": "전사 데이터 카탈로그의 공통 기능 구성.",</a:t>
            </a:r>
          </a:p>
          <a:p xmlns:a="http://schemas.openxmlformats.org/drawingml/2006/main">
            <a:r>
              <a:t>        "data": "데이터 자산·설명 → 탐색 가능한 카탈로그",</a:t>
            </a:r>
          </a:p>
          <a:p xmlns:a="http://schemas.openxmlformats.org/drawingml/2006/main">
            <a:r>
              <a:t>        "components": [</a:t>
            </a:r>
          </a:p>
          <a:p xmlns:a="http://schemas.openxmlformats.org/drawingml/2006/main">
            <a:r>
              <a:t>          "C09",</a:t>
            </a:r>
          </a:p>
          <a:p xmlns:a="http://schemas.openxmlformats.org/drawingml/2006/main">
            <a:r>
              <a:t>          "C11"</a:t>
            </a:r>
          </a:p>
          <a:p xmlns:a="http://schemas.openxmlformats.org/drawingml/2006/main">
            <a:r>
              <a:t>        ],</a:t>
            </a:r>
          </a:p>
          <a:p xmlns:a="http://schemas.openxmlformats.org/drawingml/2006/main">
            <a:r>
              <a:t>        "acceptance": "자산 식별자·담당자·설명의 원천 일치와 누락 항목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"c47acd02115ea8639438099db14eb807ebb43602a58a27a75e57bd7c44a01747"</a:t>
            </a:r>
          </a:p>
          <a:p xmlns:a="http://schemas.openxmlformats.org/drawingml/2006/main">
            <a:r>
              <a:t>      },</a:t>
            </a:r>
          </a:p>
          <a:p xmlns:a="http://schemas.openxmlformats.org/drawingml/2006/main">
            <a:r>
              <a:t>      {</a:t>
            </a:r>
          </a:p>
          <a:p xmlns:a="http://schemas.openxmlformats.org/drawingml/2006/main">
            <a:r>
              <a:t>        "id": "SFR-013",</a:t>
            </a:r>
          </a:p>
          <a:p xmlns:a="http://schemas.openxmlformats.org/drawingml/2006/main">
            <a:r>
              <a:t>        "title": "데이터 카탈로그 공사 맞춤 개발",</a:t>
            </a:r>
          </a:p>
          <a:p xmlns:a="http://schemas.openxmlformats.org/drawingml/2006/main">
            <a:r>
              <a:t>        "locator": "SFR-013",</a:t>
            </a:r>
          </a:p>
          <a:p xmlns:a="http://schemas.openxmlformats.org/drawingml/2006/main">
            <a:r>
              <a:t>        "summary": "기관 업무에 맞춘 데이터 카탈로그 구성과 활용.",</a:t>
            </a:r>
          </a:p>
          <a:p xmlns:a="http://schemas.openxmlformats.org/drawingml/2006/main">
            <a:r>
              <a:t>        "data": "업무 분류·사용자 문맥 → 맞춤 자산 정보",</a:t>
            </a:r>
          </a:p>
          <a:p xmlns:a="http://schemas.openxmlformats.org/drawingml/2006/main">
            <a:r>
              <a:t>        "components": [</a:t>
            </a:r>
          </a:p>
          <a:p xmlns:a="http://schemas.openxmlformats.org/drawingml/2006/main">
            <a:r>
              <a:t>          "C02",</a:t>
            </a:r>
          </a:p>
          <a:p xmlns:a="http://schemas.openxmlformats.org/drawingml/2006/main">
            <a:r>
              <a:t>          "C11",</a:t>
            </a:r>
          </a:p>
          <a:p xmlns:a="http://schemas.openxmlformats.org/drawingml/2006/main">
            <a:r>
              <a:t>          "C12"</a:t>
            </a:r>
          </a:p>
          <a:p xmlns:a="http://schemas.openxmlformats.org/drawingml/2006/main">
            <a:r>
              <a:t>        ],</a:t>
            </a:r>
          </a:p>
          <a:p xmlns:a="http://schemas.openxmlformats.org/drawingml/2006/main">
            <a:r>
              <a:t>        "acceptance": "부서·업무 분류 변경과 사용자 권한에 따른 자산 정보 표시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"dbe676ae5dc97c22a843994b927807e364fb8221c6d23ce8fb0b11a860ffc1b0"</a:t>
            </a:r>
          </a:p>
          <a:p xmlns:a="http://schemas.openxmlformats.org/drawingml/2006/main">
            <a:r>
              <a:t>      },</a:t>
            </a:r>
          </a:p>
          <a:p xmlns:a="http://schemas.openxmlformats.org/drawingml/2006/main">
            <a:r>
              <a:t>      {</a:t>
            </a:r>
          </a:p>
          <a:p xmlns:a="http://schemas.openxmlformats.org/drawingml/2006/main">
            <a:r>
              <a:t>        "id": "SFR-014",</a:t>
            </a:r>
          </a:p>
          <a:p xmlns:a="http://schemas.openxmlformats.org/drawingml/2006/main">
            <a:r>
              <a:t>        "title": "데이터 카탈로그 검색 기능",</a:t>
            </a:r>
          </a:p>
          <a:p xmlns:a="http://schemas.openxmlformats.org/drawingml/2006/main">
            <a:r>
              <a:t>        "locator": "SFR-014",</a:t>
            </a:r>
          </a:p>
          <a:p xmlns:a="http://schemas.openxmlformats.org/drawingml/2006/main">
            <a:r>
              <a:t>        "summary": "카탈로그의 데이터 자산 검색 기능.",</a:t>
            </a:r>
          </a:p>
          <a:p xmlns:a="http://schemas.openxmlformats.org/drawingml/2006/main">
            <a:r>
              <a:t>        "data": "자산명·업무 용어 → 관련 자산·설명",</a:t>
            </a:r>
          </a:p>
          <a:p xmlns:a="http://schemas.openxmlformats.org/drawingml/2006/main">
            <a:r>
              <a:t>        "components": [</a:t>
            </a:r>
          </a:p>
          <a:p xmlns:a="http://schemas.openxmlformats.org/drawingml/2006/main">
            <a:r>
              <a:t>          "C03",</a:t>
            </a:r>
          </a:p>
          <a:p xmlns:a="http://schemas.openxmlformats.org/drawingml/2006/main">
            <a:r>
              <a:t>          "C11"</a:t>
            </a:r>
          </a:p>
          <a:p xmlns:a="http://schemas.openxmlformats.org/drawingml/2006/main">
            <a:r>
              <a:t>        ],</a:t>
            </a:r>
          </a:p>
          <a:p xmlns:a="http://schemas.openxmlformats.org/drawingml/2006/main">
            <a:r>
              <a:t>        "acceptance": "다른 업무 용어로 같은 자산 탐색, 동명이자산 구분, 검색 결과 권한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"0d1cbe7ee72465436a3269eeb95106fa281de600b63107b9dfece31a434b39db"</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"국민·사내 접점",</a:t>
            </a:r>
          </a:p>
          <a:p xmlns:a="http://schemas.openxmlformats.org/drawingml/2006/main">
            <a:r>
              <a:t>          "layer": "이용 접점",</a:t>
            </a:r>
          </a:p>
          <a:p xmlns:a="http://schemas.openxmlformats.org/drawingml/2006/main">
            <a:r>
              <a:t>          "detail": "국민·직원·안건 검토자·데이터 담당",</a:t>
            </a:r>
          </a:p>
          <a:p xmlns:a="http://schemas.openxmlformats.org/drawingml/2006/main">
            <a:r>
              <a:t>          "requirements": [</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"SSO·DRM·망 구분",</a:t>
            </a:r>
          </a:p>
          <a:p xmlns:a="http://schemas.openxmlformats.org/drawingml/2006/main">
            <a:r>
              <a:t>          "layer": "업무 문맥",</a:t>
            </a:r>
          </a:p>
          <a:p xmlns:a="http://schemas.openxmlformats.org/drawingml/2006/main">
            <a:r>
              <a:t>          "detail": "외부·내부 접점과 망·계정·DRM 경계 분리",</a:t>
            </a:r>
          </a:p>
          <a:p xmlns:a="http://schemas.openxmlformats.org/drawingml/2006/main">
            <a:r>
              <a:t>          "requirements": [</a:t>
            </a:r>
          </a:p>
          <a:p xmlns:a="http://schemas.openxmlformats.org/drawingml/2006/main">
            <a:r>
              <a:t>            "SFR-003",</a:t>
            </a:r>
          </a:p>
          <a:p xmlns:a="http://schemas.openxmlformats.org/drawingml/2006/main">
            <a:r>
              <a:t>            "SFR-013"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"안건·허용자료 검색",</a:t>
            </a:r>
          </a:p>
          <a:p xmlns:a="http://schemas.openxmlformats.org/drawingml/2006/main">
            <a:r>
              <a:t>          "layer": "자료 조회",</a:t>
            </a:r>
          </a:p>
          <a:p xmlns:a="http://schemas.openxmlformats.org/drawingml/2006/main">
            <a:r>
              <a:t>          "detail": "질의·권한",</a:t>
            </a:r>
          </a:p>
          <a:p xmlns:a="http://schemas.openxmlformats.org/drawingml/2006/main">
            <a:r>
              <a:t>          "requirements": [</a:t>
            </a:r>
          </a:p>
          <a:p xmlns:a="http://schemas.openxmlformats.org/drawingml/2006/main">
            <a:r>
              <a:t>            "SFR-004",</a:t>
            </a:r>
          </a:p>
          <a:p xmlns:a="http://schemas.openxmlformats.org/drawingml/2006/main">
            <a:r>
              <a:t>            "SFR-009",</a:t>
            </a:r>
          </a:p>
          <a:p xmlns:a="http://schemas.openxmlformats.org/drawingml/2006/main">
            <a:r>
              <a:t>            "SFR-014"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"모델·요약·산식",</a:t>
            </a:r>
          </a:p>
          <a:p xmlns:a="http://schemas.openxmlformats.org/drawingml/2006/main">
            <a:r>
              <a:t>          "layer": "핵심 처리",</a:t>
            </a:r>
          </a:p>
          <a:p xmlns:a="http://schemas.openxmlformats.org/drawingml/2006/main">
            <a:r>
              <a:t>          "detail": "검색·요약·모델 라우팅·산식 검증",</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"산식·단위 대조",</a:t>
            </a:r>
          </a:p>
          <a:p xmlns:a="http://schemas.openxmlformats.org/drawingml/2006/main">
            <a:r>
              <a:t>          "layer": "결과 검증",</a:t>
            </a:r>
          </a:p>
          <a:p xmlns:a="http://schemas.openxmlformats.org/drawingml/2006/main">
            <a:r>
              <a:t>          "detail": "망·권한·산식별 독립 검증",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"업무 담당 검토",</a:t>
            </a:r>
          </a:p>
          <a:p xmlns:a="http://schemas.openxmlformats.org/drawingml/2006/main">
            <a:r>
              <a:t>          "layer": "사람 확인",</a:t>
            </a:r>
          </a:p>
          <a:p xmlns:a="http://schemas.openxmlformats.org/drawingml/2006/main">
            <a:r>
              <a:t>          "detail": "허용된 안건만 검색·요약하고 규정 산식을 독립 확인",</a:t>
            </a:r>
          </a:p>
          <a:p xmlns:a="http://schemas.openxmlformats.org/drawingml/2006/main">
            <a:r>
              <a:t>          "requirements": [</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"근거 요약·계산",</a:t>
            </a:r>
          </a:p>
          <a:p xmlns:a="http://schemas.openxmlformats.org/drawingml/2006/main">
            <a:r>
              <a:t>          "layer": "업무 연결",</a:t>
            </a:r>
          </a:p>
          <a:p xmlns:a="http://schemas.openxmlformats.org/drawingml/2006/main">
            <a:r>
              <a:t>          "detail": "권한 내 요약·계산 결과의 담당자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"품질·민감정보 점검",</a:t>
            </a:r>
          </a:p>
          <a:p xmlns:a="http://schemas.openxmlformats.org/drawingml/2006/main">
            <a:r>
              <a:t>          "layer": "운영 관측",</a:t>
            </a:r>
          </a:p>
          <a:p xmlns:a="http://schemas.openxmlformats.org/drawingml/2006/main">
            <a:r>
              <a:t>          "detail": "데이터 품질·민감정보·답변 품질 모니터링",</a:t>
            </a:r>
          </a:p>
          <a:p xmlns:a="http://schemas.openxmlformats.org/drawingml/2006/main">
            <a:r>
              <a:t>          "requirements": [</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"ECM·안건·공개자료",</a:t>
            </a:r>
          </a:p>
          <a:p xmlns:a="http://schemas.openxmlformats.org/drawingml/2006/main">
            <a:r>
              <a:t>          "layer": "데이터 원천",</a:t>
            </a:r>
          </a:p>
          <a:p xmlns:a="http://schemas.openxmlformats.org/drawingml/2006/main">
            <a:r>
              <a:t>          "detail": "지식·안건·카탈로그",</a:t>
            </a:r>
          </a:p>
          <a:p xmlns:a="http://schemas.openxmlformats.org/drawingml/2006/main">
            <a:r>
              <a:t>          "requirements": [</a:t>
            </a:r>
          </a:p>
          <a:p xmlns:a="http://schemas.openxmlformats.org/drawingml/2006/main">
            <a:r>
              <a:t>            "SFR-005",</a:t>
            </a:r>
          </a:p>
          <a:p xmlns:a="http://schemas.openxmlformats.org/drawingml/2006/main">
            <a:r>
              <a:t>            "SFR-012"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"메타정보·카탈로그",</a:t>
            </a:r>
          </a:p>
          <a:p xmlns:a="http://schemas.openxmlformats.org/drawingml/2006/main">
            <a:r>
              <a:t>          "layer": "준비·갱신",</a:t>
            </a:r>
          </a:p>
          <a:p xmlns:a="http://schemas.openxmlformats.org/drawingml/2006/main">
            <a:r>
              <a:t>          "detail": "안건 메타데이터·정형/비정형 데이터 카탈로그",</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"대민·사내 DB 분리",</a:t>
            </a:r>
          </a:p>
          <a:p xmlns:a="http://schemas.openxmlformats.org/drawingml/2006/main">
            <a:r>
              <a:t>          "layer": "상태·지식 저장",</a:t>
            </a:r>
          </a:p>
          <a:p xmlns:a="http://schemas.openxmlformats.org/drawingml/2006/main">
            <a:r>
              <a:t>          "detail": "망·권한별 노출 결과와 원문·계산·카탈로그 대사",</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"SFR-012",</a:t>
            </a:r>
          </a:p>
          <a:p xmlns:a="http://schemas.openxmlformats.org/drawingml/2006/main">
            <a:r>
              <a:t>            "SFR-013",</a:t>
            </a:r>
          </a:p>
          <a:p xmlns:a="http://schemas.openxmlformats.org/drawingml/2006/main">
            <a:r>
              <a:t>            "SFR-014"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"권한·망·모델 관리",</a:t>
            </a:r>
          </a:p>
          <a:p xmlns:a="http://schemas.openxmlformats.org/drawingml/2006/main">
            <a:r>
              <a:t>          "layer": "권한·정책",</a:t>
            </a:r>
          </a:p>
          <a:p xmlns:a="http://schemas.openxmlformats.org/drawingml/2006/main">
            <a:r>
              <a:t>          "detail": "외부 계정의 내부 안건 요청·DRM 제한·단위 오류",</a:t>
            </a:r>
          </a:p>
          <a:p xmlns:a="http://schemas.openxmlformats.org/drawingml/2006/main">
            <a:r>
              <a:t>          "requirements": [</a:t>
            </a:r>
          </a:p>
          <a:p xmlns:a="http://schemas.openxmlformats.org/drawingml/2006/main">
            <a:r>
              <a:t>            "SFR-013"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"외부·내부 접점과 망·계정·DRM 경계 분리",</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"질의·권한",</a:t>
            </a:r>
          </a:p>
          <a:p xmlns:a="http://schemas.openxmlformats.org/drawingml/2006/main">
            <a:r>
              <a:t>          "check": "망·권한·산식별 독립 검증"</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"허용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"요약·계산",</a:t>
            </a:r>
          </a:p>
          <a:p xmlns:a="http://schemas.openxmlformats.org/drawingml/2006/main">
            <a:r>
              <a:t>          "check": "외부 계정의 내부 안건 요청·DRM 제한·단위 오류"</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"요약·계산",</a:t>
            </a:r>
          </a:p>
          <a:p xmlns:a="http://schemas.openxmlformats.org/drawingml/2006/main">
            <a:r>
              <a:t>          "check": "권한 내 요약·계산 결과의 담당자 검토"</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 결과",</a:t>
            </a:r>
          </a:p>
          <a:p xmlns:a="http://schemas.openxmlformats.org/drawingml/2006/main">
            <a:r>
              <a:t>          "check": "망·권한별 노출 결과와 원문·계산·카탈로그 대사"</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"사전공개 RFP 구성도·SFR-001~014",</a:t>
            </a:r>
          </a:p>
          <a:p xmlns:a="http://schemas.openxmlformats.org/drawingml/2006/main">
            <a:r>
              <a:t>        "extracted": "대민/임직원 서비스와 DB 분리, SSO/EAM·데이터 업로드 경계",</a:t>
            </a:r>
          </a:p>
          <a:p xmlns:a="http://schemas.openxmlformats.org/drawingml/2006/main">
            <a:r>
              <a:t>        "extension": "공개·내부 경계 교차 시험과 금융 산식의 독립 검산"</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"PF-R08",</a:t>
            </a:r>
          </a:p>
          <a:p xmlns:a="http://schemas.openxmlformats.org/drawingml/2006/main">
            <a:r>
              <a:t>          "path": "assets/casebook-sources/PF-R08-01.png",</a:t>
            </a:r>
          </a:p>
          <a:p xmlns:a="http://schemas.openxmlformats.org/drawingml/2006/main">
            <a:r>
              <a:t>          "title": "대민·임직원 AI 서비스 분리",</a:t>
            </a:r>
          </a:p>
          <a:p xmlns:a="http://schemas.openxmlformats.org/drawingml/2006/main">
            <a:r>
              <a:t>          "status": "사전공개 RFP 목표 구성도",</a:t>
            </a:r>
          </a:p>
          <a:p xmlns:a="http://schemas.openxmlformats.org/drawingml/2006/main">
            <a:r>
              <a:t>          "caption": "보안·서비스·데이터·관리 서브넷과 SSO·업무 데이터 경계",</a:t>
            </a:r>
          </a:p>
          <a:p xmlns:a="http://schemas.openxmlformats.org/drawingml/2006/main">
            <a:r>
              <a:t>          "locator": "rId20 / BinData/BIN0002_bmp",</a:t>
            </a:r>
          </a:p>
          <a:p xmlns:a="http://schemas.openxmlformats.org/drawingml/2006/main">
            <a:r>
              <a:t>          "checked": "2026-10-16",</a:t>
            </a:r>
          </a:p>
          <a:p xmlns:a="http://schemas.openxmlformats.org/drawingml/2006/main">
            <a:r>
              <a:t>          "sha256": "dbd84b9d88acec3c54802ec4cc6eacaf8a872223e2a7ee89fadf50a173e38803",</a:t>
            </a:r>
          </a:p>
          <a:p xmlns:a="http://schemas.openxmlformats.org/drawingml/2006/main">
            <a:r>
              <a:t>          "explanation": {</a:t>
            </a:r>
          </a:p>
          <a:p xmlns:a="http://schemas.openxmlformats.org/drawingml/2006/main">
            <a:r>
              <a:t>            "read": "사전공개 요구의 대국민·임직원 서비스와 데이터·네트워크 경계를 구분한 목표 구성. 공개 상담용 자료와 내부 안건·업무 자료를 서비스·저장 계층에서 분리하는 구조.",</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"SFR-005",</a:t>
            </a:r>
          </a:p>
          <a:p xmlns:a="http://schemas.openxmlformats.org/drawingml/2006/main">
            <a:r>
              <a:t>              "SFR-009"</a:t>
            </a:r>
          </a:p>
          <a:p xmlns:a="http://schemas.openxmlformats.org/drawingml/2006/main">
            <a:r>
              <a:t>            ],</a:t>
            </a:r>
          </a:p>
          <a:p xmlns:a="http://schemas.openxmlformats.org/drawingml/2006/main">
            <a:r>
              <a:t>            "connection": "같은 AI 기반을 쓰더라도 공개·내부 검색 범위와 문서 반입 경로를 별도로 검수하고 사용자 문맥·SSO·DRM 등 기존 통제와 연결하는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"PF-R08",</a:t>
            </a:r>
          </a:p>
          <a:p xmlns:a="http://schemas.openxmlformats.org/drawingml/2006/main">
            <a:r>
              <a:t>          "path": "assets/casebook-sources/PF-R08-02.png",</a:t>
            </a:r>
          </a:p>
          <a:p xmlns:a="http://schemas.openxmlformats.org/drawingml/2006/main">
            <a:r>
              <a:t>          "title": "데이터 카탈로그·업무 매핑",</a:t>
            </a:r>
          </a:p>
          <a:p xmlns:a="http://schemas.openxmlformats.org/drawingml/2006/main">
            <a:r>
              <a:t>          "status": "사전공개 RFP 데이터 구성도",</a:t>
            </a:r>
          </a:p>
          <a:p xmlns:a="http://schemas.openxmlformats.org/drawingml/2006/main">
            <a:r>
              <a:t>          "caption": "대시보드·통합검색·데이터등록·표준·품질과 업무 매핑",</a:t>
            </a:r>
          </a:p>
          <a:p xmlns:a="http://schemas.openxmlformats.org/drawingml/2006/main">
            <a:r>
              <a:t>          "locator": "rId20 / BinData/BIN0001_bmp",</a:t>
            </a:r>
          </a:p>
          <a:p xmlns:a="http://schemas.openxmlformats.org/drawingml/2006/main">
            <a:r>
              <a:t>          "checked": "2026-10-16",</a:t>
            </a:r>
          </a:p>
          <a:p xmlns:a="http://schemas.openxmlformats.org/drawingml/2006/main">
            <a:r>
              <a:t>          "sha256": "e91edef465c1a60d5edcd6288eefa4a5d158cd9980b9b941428685ef6e32a0f5",</a:t>
            </a:r>
          </a:p>
          <a:p xmlns:a="http://schemas.openxmlformats.org/drawingml/2006/main">
            <a:r>
              <a:t>          "explanation": {</a:t>
            </a:r>
          </a:p>
          <a:p xmlns:a="http://schemas.openxmlformats.org/drawingml/2006/main">
            <a:r>
              <a:t>            "read": "카탈로그와 MDMS·ECM 등 기존 데이터·문서 체계의 업무 연결. AI 답변에 앞서 어떤 데이터가 존재하고 누가 관리하며 어떤 업무에서 쓰는지 찾을 수 있도록 하는 정보 기반.",</a:t>
            </a:r>
          </a:p>
          <a:p xmlns:a="http://schemas.openxmlformats.org/drawingml/2006/main">
            <a:r>
              <a:t>            "requirements": [</a:t>
            </a:r>
          </a:p>
          <a:p xmlns:a="http://schemas.openxmlformats.org/drawingml/2006/main">
            <a:r>
              <a:t>              "SFR-012",</a:t>
            </a:r>
          </a:p>
          <a:p xmlns:a="http://schemas.openxmlformats.org/drawingml/2006/main">
            <a:r>
              <a:t>              "SFR-013",</a:t>
            </a:r>
          </a:p>
          <a:p xmlns:a="http://schemas.openxmlformats.org/drawingml/2006/main">
            <a:r>
              <a:t>              "SFR-014"</a:t>
            </a:r>
          </a:p>
          <a:p xmlns:a="http://schemas.openxmlformats.org/drawingml/2006/main">
            <a:r>
              <a:t>            ],</a:t>
            </a:r>
          </a:p>
          <a:p xmlns:a="http://schemas.openxmlformats.org/drawingml/2006/main">
            <a:r>
              <a:t>            "connection": "TS의 조직·업무 ID와 데이터 자산·소관 부서를 연결하고 문서 검색 권한과 카탈로그 설명의 공개 범위를 분리해 관리하는 적용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"외부 계정의 내부 안건 요청·DRM 제한·단위 오류",</a:t>
            </a:r>
          </a:p>
          <a:p xmlns:a="http://schemas.openxmlformats.org/drawingml/2006/main">
            <a:r>
              <a:t>        "hold": "망·권한·산식별 독립 검증",</a:t>
            </a:r>
          </a:p>
          <a:p xmlns:a="http://schemas.openxmlformats.org/drawingml/2006/main">
            <a:r>
              <a:t>        "recovery": "데이터 품질·민감정보·답변 품질 모니터링",</a:t>
            </a:r>
          </a:p>
          <a:p xmlns:a="http://schemas.openxmlformats.org/drawingml/2006/main">
            <a:r>
              <a:t>        "evidence": "망·권한별 노출 결과와 원문·계산·카탈로그 대사"</a:t>
            </a:r>
          </a:p>
          <a:p xmlns:a="http://schemas.openxmlformats.org/drawingml/2006/main">
            <a:r>
              <a:t>      },</a:t>
            </a:r>
          </a:p>
          <a:p xmlns:a="http://schemas.openxmlformats.org/drawingml/2006/main">
            <a:r>
              <a:t>      "data": {</a:t>
            </a:r>
          </a:p>
          <a:p xmlns:a="http://schemas.openxmlformats.org/drawingml/2006/main">
            <a:r>
              <a:t>        "source": "지식·안건·카탈로그",</a:t>
            </a:r>
          </a:p>
          <a:p xmlns:a="http://schemas.openxmlformats.org/drawingml/2006/main">
            <a:r>
              <a:t>        "prepare": "안건 메타데이터·정형/비정형 데이터 카탈로그",</a:t>
            </a:r>
          </a:p>
          <a:p xmlns:a="http://schemas.openxmlformats.org/drawingml/2006/main">
            <a:r>
              <a:t>        "output": "질의·권한",</a:t>
            </a:r>
          </a:p>
          <a:p xmlns:a="http://schemas.openxmlformats.org/drawingml/2006/main">
            <a:r>
              <a:t>        "refresh": "데이터 품질·민감정보·답변 품질 모니터링"</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"PF-R08",</a:t>
            </a:r>
          </a:p>
          <a:p xmlns:a="http://schemas.openxmlformats.org/drawingml/2006/main">
            <a:r>
              <a:t>    "success": [</a:t>
            </a:r>
          </a:p>
          <a:p xmlns:a="http://schemas.openxmlformats.org/drawingml/2006/main">
            <a:r>
              <a:t>      "대국민·사내 지식 경계 분리",</a:t>
            </a:r>
          </a:p>
          <a:p xmlns:a="http://schemas.openxmlformats.org/drawingml/2006/main">
            <a:r>
              <a:t>      "카탈로그와 데이터 통제 결합"</a:t>
            </a:r>
          </a:p>
          <a:p xmlns:a="http://schemas.openxmlformats.org/drawingml/2006/main">
            <a:r>
              <a:t>    ],</a:t>
            </a:r>
          </a:p>
          <a:p xmlns:a="http://schemas.openxmlformats.org/drawingml/2006/main">
            <a:r>
              <a:t>    "risks": [</a:t>
            </a:r>
          </a:p>
          <a:p xmlns:a="http://schemas.openxmlformats.org/drawingml/2006/main">
            <a:r>
              <a:t>      "DRM·접근권한 전파 누락",</a:t>
            </a:r>
          </a:p>
          <a:p xmlns:a="http://schemas.openxmlformats.org/drawingml/2006/main">
            <a:r>
              <a:t>      "금융 산식·단위 오류"</a:t>
            </a:r>
          </a:p>
          <a:p xmlns:a="http://schemas.openxmlformats.org/drawingml/2006/main">
            <a:r>
              <a:t>    ],</a:t>
            </a:r>
          </a:p>
          <a:p xmlns:a="http://schemas.openxmlformats.org/drawingml/2006/main">
            <a:r>
              <a:t>    "architecture": [</a:t>
            </a:r>
          </a:p>
          <a:p xmlns:a="http://schemas.openxmlformats.org/drawingml/2006/main">
            <a:r>
              <a:t>      "국민·직원 접점",</a:t>
            </a:r>
          </a:p>
          <a:p xmlns:a="http://schemas.openxmlformats.org/drawingml/2006/main">
            <a:r>
              <a:t>      "검색·요약·산식 검토",</a:t>
            </a:r>
          </a:p>
          <a:p xmlns:a="http://schemas.openxmlformats.org/drawingml/2006/main">
            <a:r>
              <a:t>      "지식·안건·카탈로그",</a:t>
            </a:r>
          </a:p>
          <a:p xmlns:a="http://schemas.openxmlformats.org/drawingml/2006/main">
            <a:r>
              <a:t>      "업무 검토자"</a:t>
            </a:r>
          </a:p>
          <a:p xmlns:a="http://schemas.openxmlformats.org/drawingml/2006/main">
            <a:r>
              <a:t>    ],</a:t>
            </a:r>
          </a:p>
          <a:p xmlns:a="http://schemas.openxmlformats.org/drawingml/2006/main">
            <a:r>
              <a:t>    "transfers": [</a:t>
            </a:r>
          </a:p>
          <a:p xmlns:a="http://schemas.openxmlformats.org/drawingml/2006/main">
            <a:r>
              <a:t>      "질의·권한",</a:t>
            </a:r>
          </a:p>
          <a:p xmlns:a="http://schemas.openxmlformats.org/drawingml/2006/main">
            <a:r>
              <a:t>      "허용 근거",</a:t>
            </a:r>
          </a:p>
          <a:p xmlns:a="http://schemas.openxmlformats.org/drawingml/2006/main">
            <a:r>
              <a:t>      "요약·계산",</a:t>
            </a:r>
          </a:p>
          <a:p xmlns:a="http://schemas.openxmlformats.org/drawingml/2006/main">
            <a:r>
              <a:t>      "검토 결과"</a:t>
            </a:r>
          </a:p>
          <a:p xmlns:a="http://schemas.openxmlformats.org/drawingml/2006/main">
            <a:r>
              <a:t>    ],</a:t>
            </a:r>
          </a:p>
          <a:p xmlns:a="http://schemas.openxmlformats.org/drawingml/2006/main">
            <a:r>
              <a:t>    "control": "망·권한·산식별 독립 검증",</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SFR-001~014, DAR·CNR / Word T089 https://www.g2b.go.kr/pn/pnz/pnza/UntyAtchFile/downloadFile.do?bfSpecRegNo=R26BD00217546&amp;fileType=BFDTL&amp;fileSeq=1</a:t>
            </a:r>
          </a:p>
          <a:p xmlns:a="http://schemas.openxmlformats.org/drawingml/2006/main">
            <a:r>
              <a:t>홈페이지 https://heen1987-ops.github.io/TS-business-Plan-001/index.html?view=platform-cases&amp;case=PF-R08</a:t>
            </a:r>
          </a:p>
          <a:p xmlns:a="http://schemas.openxmlformats.org/drawingml/2006/main">
            <a:r>
              <a:t>한계: 학습용 FAQ500건과 서비스별 검증셋500건은 별도 요구. 계획상 수치를 운영 실적으로 사용하지 않음</a:t>
            </a:r>
          </a:p>
          <a:p xmlns:a="http://schemas.openxmlformats.org/drawingml/2006/main">
            <a:r>
              <a:t>실패 위험: DRM·접근권한 전파 누락 / 금융 산식·단위 오류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"PF-R08",</a:t>
            </a:r>
          </a:p>
          <a:p xmlns:a="http://schemas.openxmlformats.org/drawingml/2006/main">
            <a:r>
              <a:t>    "sourceId": "R08",</a:t>
            </a:r>
          </a:p>
          <a:p xmlns:a="http://schemas.openxmlformats.org/drawingml/2006/main">
            <a:r>
              <a:t>    "title": "예금보험공사 생성형 AI",</a:t>
            </a:r>
          </a:p>
          <a:p xmlns:a="http://schemas.openxmlformats.org/drawingml/2006/main">
            <a:r>
              <a:t>    "region": "국내",</a:t>
            </a:r>
          </a:p>
          <a:p xmlns:a="http://schemas.openxmlformats.org/drawingml/2006/main">
            <a:r>
              <a:t>    "owner": "예금보험공사",</a:t>
            </a:r>
          </a:p>
          <a:p xmlns:a="http://schemas.openxmlformats.org/drawingml/2006/main">
            <a:r>
              <a:t>    "state": "사전규격 RFP + 공급사 계약 발표 확인 / 최종본·준공 미확인",</a:t>
            </a:r>
          </a:p>
          <a:p xmlns:a="http://schemas.openxmlformats.org/drawingml/2006/main">
            <a:r>
              <a:t>    "period": "기존 원장 확인 2026.10.16",</a:t>
            </a:r>
          </a:p>
          <a:p xmlns:a="http://schemas.openxmlformats.org/drawingml/2006/main">
            <a:r>
              <a:t>    "fact": "대국민 챗봇·사내 챗봇·금융위 안건 검색요약 + 데이터 카탈로그/거버넌스",</a:t>
            </a:r>
          </a:p>
          <a:p xmlns:a="http://schemas.openxmlformats.org/drawingml/2006/main">
            <a:r>
              <a:t>    "limit": "학습용 FAQ500건과 서비스별 검증셋500건은 별도 요구. 계획상 수치를 운영 실적으로 사용하지 않음",</a:t>
            </a:r>
          </a:p>
          <a:p xmlns:a="http://schemas.openxmlformats.org/drawingml/2006/main">
            <a:r>
              <a:t>    "nodes": [</a:t>
            </a:r>
          </a:p>
          <a:p xmlns:a="http://schemas.openxmlformats.org/drawingml/2006/main">
            <a:r>
              <a:t>      "지식·안건",</a:t>
            </a:r>
          </a:p>
          <a:p xmlns:a="http://schemas.openxmlformats.org/drawingml/2006/main">
            <a:r>
              <a:t>      "권한·망·DRM",</a:t>
            </a:r>
          </a:p>
          <a:p xmlns:a="http://schemas.openxmlformats.org/drawingml/2006/main">
            <a:r>
              <a:t>      "검색·산식 검증",</a:t>
            </a:r>
          </a:p>
          <a:p xmlns:a="http://schemas.openxmlformats.org/drawingml/2006/main">
            <a:r>
              <a:t>      "평가·운영"</a:t>
            </a:r>
          </a:p>
          <a:p xmlns:a="http://schemas.openxmlformats.org/drawingml/2006/main">
            <a:r>
              <a:t>    ],</a:t>
            </a:r>
          </a:p>
          <a:p xmlns:a="http://schemas.openxmlformats.org/drawingml/2006/main">
            <a:r>
              <a:t>    "apply": "대민·내부 지식 경계와 데이터 카탈로그를 함께 설계하는 정보 제공",</a:t>
            </a:r>
          </a:p>
          <a:p xmlns:a="http://schemas.openxmlformats.org/drawingml/2006/main">
            <a:r>
              <a:t>    "delta": "내외부 지식·망 분리 / 문서 DRM·권한 / 안건·산식·데이터 카탈로그",</a:t>
            </a:r>
          </a:p>
          <a:p xmlns:a="http://schemas.openxmlformats.org/drawingml/2006/main">
            <a:r>
              <a:t>    "test": "외부 계정의 내부자료 요청·DRM·산식 오류에 대한 독립 검증",</a:t>
            </a:r>
          </a:p>
          <a:p xmlns:a="http://schemas.openxmlformats.org/drawingml/2006/main">
            <a:r>
              <a:t>    "url": "https://www.g2b.go.kr/pn/pnz/pnza/UntyAtchFile/downloadFile.do?bfSpecRegNo=R26BD00217546&amp;fileType=BFDTL&amp;fileSeq=1",</a:t>
            </a:r>
          </a:p>
          <a:p xmlns:a="http://schemas.openxmlformats.org/drawingml/2006/main">
            <a:r>
              <a:t>    "urls": [</a:t>
            </a:r>
          </a:p>
          <a:p xmlns:a="http://schemas.openxmlformats.org/drawingml/2006/main">
            <a:r>
              <a:t>      "https://www.g2b.go.kr/pn/pnz/pnza/UntyAtchFile/downloadFile.do?bfSpecRegNo=R26BD00217546&amp;fileType=BFDTL&amp;fileSeq=1",</a:t>
            </a:r>
          </a:p>
          <a:p xmlns:a="http://schemas.openxmlformats.org/drawingml/2006/main">
            <a:r>
              <a:t>      "https://clabi.ai/news/fe55039a-f069-4218-aa5a-0c1057c5ca92"</a:t>
            </a:r>
          </a:p>
          <a:p xmlns:a="http://schemas.openxmlformats.org/drawingml/2006/main">
            <a:r>
              <a:t>    ],</a:t>
            </a:r>
          </a:p>
          <a:p xmlns:a="http://schemas.openxmlformats.org/drawingml/2006/main">
            <a:r>
              <a:t>    "basis": "SFR-001~014, DAR·CNR / Word T089",</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"비인가 노출 건수 / 원천 추적률 / 안건 검토시간",</a:t>
            </a:r>
          </a:p>
          <a:p xmlns:a="http://schemas.openxmlformats.org/drawingml/2006/main">
            <a:r>
              <a:t>    "group": "요구·구축",</a:t>
            </a:r>
          </a:p>
          <a:p xmlns:a="http://schemas.openxmlformats.org/drawingml/2006/main">
            <a:r>
              <a:t>    "sourceDetail": "망·DRM·권한 연계; 안건 메타데이터 범위검색; 규정 산식 교차검증; 모델라우팅·평가·모니터링",</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"PF-R08",</a:t>
            </a:r>
          </a:p>
          <a:p xmlns:a="http://schemas.openxmlformats.org/drawingml/2006/main">
            <a:r>
              <a:t>    "canonicalId": "PF-R08",</a:t>
            </a:r>
          </a:p>
          <a:p xmlns:a="http://schemas.openxmlformats.org/drawingml/2006/main">
            <a:r>
              <a:t>    "purpose": "대민·사내 AI와 데이터 관리체계의 공동 구축",</a:t>
            </a:r>
          </a:p>
          <a:p xmlns:a="http://schemas.openxmlformats.org/drawingml/2006/main">
            <a:r>
              <a:t>    "users": "국민·직원·안건 검토자·데이터 담당",</a:t>
            </a:r>
          </a:p>
          <a:p xmlns:a="http://schemas.openxmlformats.org/drawingml/2006/main">
            <a:r>
              <a:t>    "scope": [</a:t>
            </a:r>
          </a:p>
          <a:p xmlns:a="http://schemas.openxmlformats.org/drawingml/2006/main">
            <a:r>
              <a:t>      "챗봇",</a:t>
            </a:r>
          </a:p>
          <a:p xmlns:a="http://schemas.openxmlformats.org/drawingml/2006/main">
            <a:r>
              <a:t>      "안건 검색·요약",</a:t>
            </a:r>
          </a:p>
          <a:p xmlns:a="http://schemas.openxmlformats.org/drawingml/2006/main">
            <a:r>
              <a:t>      "카탈로그"</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"국민·직원 접점",</a:t>
            </a:r>
          </a:p>
          <a:p xmlns:a="http://schemas.openxmlformats.org/drawingml/2006/main">
            <a:r>
              <a:t>        "detail": "외부·내부 접점과 망·계정·DRM 경계 분리",</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"챗봇 / 안건 검색·요약 / 카탈로그",</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"검색·요약·산식 검토",</a:t>
            </a:r>
          </a:p>
          <a:p xmlns:a="http://schemas.openxmlformats.org/drawingml/2006/main">
            <a:r>
              <a:t>        "detail": "검색·요약·모델 라우팅·산식 검증",</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"업무 검토자",</a:t>
            </a:r>
          </a:p>
          <a:p xmlns:a="http://schemas.openxmlformats.org/drawingml/2006/main">
            <a:r>
              <a:t>        "detail": "권한 내 요약·계산 결과의 담당자 검토",</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"지식·안건·카탈로그",</a:t>
            </a:r>
          </a:p>
          <a:p xmlns:a="http://schemas.openxmlformats.org/drawingml/2006/main">
            <a:r>
              <a:t>        "detail": "안건 메타데이터·정형/비정형 데이터 카탈로그",</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"데이터 품질·민감정보·답변 품질 모니터링",</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"지식·안건",</a:t>
            </a:r>
          </a:p>
          <a:p xmlns:a="http://schemas.openxmlformats.org/drawingml/2006/main">
            <a:r>
              <a:t>        "input": "외부·내부 접점과 망·계정·DRM 경계 분리",</a:t>
            </a:r>
          </a:p>
          <a:p xmlns:a="http://schemas.openxmlformats.org/drawingml/2006/main">
            <a:r>
              <a:t>        "process": "안건 메타데이터·정형/비정형 데이터 카탈로그",</a:t>
            </a:r>
          </a:p>
          <a:p xmlns:a="http://schemas.openxmlformats.org/drawingml/2006/main">
            <a:r>
              <a:t>        "output": "질의·권한"</a:t>
            </a:r>
          </a:p>
          <a:p xmlns:a="http://schemas.openxmlformats.org/drawingml/2006/main">
            <a:r>
              <a:t>      },</a:t>
            </a:r>
          </a:p>
          <a:p xmlns:a="http://schemas.openxmlformats.org/drawingml/2006/main">
            <a:r>
              <a:t>      {</a:t>
            </a:r>
          </a:p>
          <a:p xmlns:a="http://schemas.openxmlformats.org/drawingml/2006/main">
            <a:r>
              <a:t>        "title": "권한·망·DRM",</a:t>
            </a:r>
          </a:p>
          <a:p xmlns:a="http://schemas.openxmlformats.org/drawingml/2006/main">
            <a:r>
              <a:t>        "input": "질의·권한",</a:t>
            </a:r>
          </a:p>
          <a:p xmlns:a="http://schemas.openxmlformats.org/drawingml/2006/main">
            <a:r>
              <a:t>        "process": "검색·요약·모델 라우팅·산식 검증",</a:t>
            </a:r>
          </a:p>
          <a:p xmlns:a="http://schemas.openxmlformats.org/drawingml/2006/main">
            <a:r>
              <a:t>        "output": "허용 근거"</a:t>
            </a:r>
          </a:p>
          <a:p xmlns:a="http://schemas.openxmlformats.org/drawingml/2006/main">
            <a:r>
              <a:t>      },</a:t>
            </a:r>
          </a:p>
          <a:p xmlns:a="http://schemas.openxmlformats.org/drawingml/2006/main">
            <a:r>
              <a:t>      {</a:t>
            </a:r>
          </a:p>
          <a:p xmlns:a="http://schemas.openxmlformats.org/drawingml/2006/main">
            <a:r>
              <a:t>        "title": "검색·산식 검증",</a:t>
            </a:r>
          </a:p>
          <a:p xmlns:a="http://schemas.openxmlformats.org/drawingml/2006/main">
            <a:r>
              <a:t>        "input": "허용 근거",</a:t>
            </a:r>
          </a:p>
          <a:p xmlns:a="http://schemas.openxmlformats.org/drawingml/2006/main">
            <a:r>
              <a:t>        "process": "망·권한·산식별 독립 검증",</a:t>
            </a:r>
          </a:p>
          <a:p xmlns:a="http://schemas.openxmlformats.org/drawingml/2006/main">
            <a:r>
              <a:t>        "output": "요약·계산"</a:t>
            </a:r>
          </a:p>
          <a:p xmlns:a="http://schemas.openxmlformats.org/drawingml/2006/main">
            <a:r>
              <a:t>      },</a:t>
            </a:r>
          </a:p>
          <a:p xmlns:a="http://schemas.openxmlformats.org/drawingml/2006/main">
            <a:r>
              <a:t>      {</a:t>
            </a:r>
          </a:p>
          <a:p xmlns:a="http://schemas.openxmlformats.org/drawingml/2006/main">
            <a:r>
              <a:t>        "title": "평가·운영",</a:t>
            </a:r>
          </a:p>
          <a:p xmlns:a="http://schemas.openxmlformats.org/drawingml/2006/main">
            <a:r>
              <a:t>        "input": "요약·계산",</a:t>
            </a:r>
          </a:p>
          <a:p xmlns:a="http://schemas.openxmlformats.org/drawingml/2006/main">
            <a:r>
              <a:t>        "process": "권한 내 요약·계산 결과의 담당자 검토",</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"허용된 안건만 검색·요약하고 규정 산식을 독립 확인",</a:t>
            </a:r>
          </a:p>
          <a:p xmlns:a="http://schemas.openxmlformats.org/drawingml/2006/main">
            <a:r>
              <a:t>      "exception": "외부 계정의 내부 안건 요청·DRM 제한·단위 오류",</a:t>
            </a:r>
          </a:p>
          <a:p xmlns:a="http://schemas.openxmlformats.org/drawingml/2006/main">
            <a:r>
              <a:t>      "evidence": "망·권한별 노출 결과와 원문·계산·카탈로그 대사",</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"국민·직원·안건 검토자·데이터 담당",</a:t>
            </a:r>
          </a:p>
          <a:p xmlns:a="http://schemas.openxmlformats.org/drawingml/2006/main">
            <a:r>
              <a:t>          "processing": "외부·내부 접점과 망·계정·DRM 경계 분리",</a:t>
            </a:r>
          </a:p>
          <a:p xmlns:a="http://schemas.openxmlformats.org/drawingml/2006/main">
            <a:r>
              <a:t>          "output": "질의·권한"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"지식·안건·카탈로그",</a:t>
            </a:r>
          </a:p>
          <a:p xmlns:a="http://schemas.openxmlformats.org/drawingml/2006/main">
            <a:r>
              <a:t>          "processing": "안건 메타데이터·정형/비정형 데이터 카탈로그",</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"질의·권한",</a:t>
            </a:r>
          </a:p>
          <a:p xmlns:a="http://schemas.openxmlformats.org/drawingml/2006/main">
            <a:r>
              <a:t>          "processing": "검색·요약·모델 라우팅·산식 검증",</a:t>
            </a:r>
          </a:p>
          <a:p xmlns:a="http://schemas.openxmlformats.org/drawingml/2006/main">
            <a:r>
              <a:t>          "output": "요약·계산"</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"요약·계산",</a:t>
            </a:r>
          </a:p>
          <a:p xmlns:a="http://schemas.openxmlformats.org/drawingml/2006/main">
            <a:r>
              <a:t>          "processing": "권한 내 요약·계산 결과의 담당자 검토",</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"데이터 품질·민감정보·답변 품질 모니터링",</a:t>
            </a:r>
          </a:p>
          <a:p xmlns:a="http://schemas.openxmlformats.org/drawingml/2006/main">
            <a:r>
              <a:t>          "output": "망·권한별 노출 결과와 원문·계산·카탈로그 대사"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"데이터 품질·민감정보·답변 품질 모니터링",</a:t>
            </a:r>
          </a:p>
          <a:p xmlns:a="http://schemas.openxmlformats.org/drawingml/2006/main">
            <a:r>
              <a:t>    "status": "RFP 기반 논리 설계",</a:t>
            </a:r>
          </a:p>
          <a:p xmlns:a="http://schemas.openxmlformats.org/drawingml/2006/main">
            <a:r>
              <a:t>    "basis": "사전공개 RFP 2026.04 · SFR-001~014·DAR·CNR",</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"SFR-001~014, DAR·CNR / Word T089",</a:t>
            </a:r>
          </a:p>
          <a:p xmlns:a="http://schemas.openxmlformats.org/drawingml/2006/main">
            <a:r>
              <a:t>        "url": "https://www.g2b.go.kr/pn/pnz/pnza/UntyAtchFile/downloadFile.do?bfSpecRegNo=R26BD00217546&amp;fileType=BFDTL&amp;fileSeq=1"</a:t>
            </a:r>
          </a:p>
          <a:p xmlns:a="http://schemas.openxmlformats.org/drawingml/2006/main">
            <a:r>
              <a:t>      }</a:t>
            </a:r>
          </a:p>
          <a:p xmlns:a="http://schemas.openxmlformats.org/drawingml/2006/main">
            <a:r>
              <a:t>    ],</a:t>
            </a:r>
          </a:p>
          <a:p xmlns:a="http://schemas.openxmlformats.org/drawingml/2006/main">
            <a:r>
              <a:t>    "implication": "대민·내부 지식 경계와 데이터 카탈로그를 함께 설계하는 정보 제공",</a:t>
            </a:r>
          </a:p>
          <a:p xmlns:a="http://schemas.openxmlformats.org/drawingml/2006/main">
            <a:r>
              <a:t>    "local": "대민·내부 지식 경계와 데이터 카탈로그를 함께 설계하는 정보 제공",</a:t>
            </a:r>
          </a:p>
          <a:p xmlns:a="http://schemas.openxmlformats.org/drawingml/2006/main">
            <a:r>
              <a:t>    "sourceDetail": "망·DRM·권한 연계; 안건 메타데이터 범위검색; 규정 산식 교차검증; 모델라우팅·평가·모니터링",</a:t>
            </a:r>
          </a:p>
          <a:p xmlns:a="http://schemas.openxmlformats.org/drawingml/2006/main">
            <a:r>
              <a:t>    "narrative": [</a:t>
            </a:r>
          </a:p>
          <a:p xmlns:a="http://schemas.openxmlformats.org/drawingml/2006/main">
            <a:r>
              <a:t>      "대국민 챗봇, 임직원 지식 활용, 안건 검색·요약과 데이터 카탈로그를 함께 다루는 생성형 AI 플랫폼 계획. 대외 공개 지식과 내부 업무 자료를 같은 검색 범위로 취급하지 않는 것이 구성의 출발점.",</a:t>
            </a:r>
          </a:p>
          <a:p xmlns:a="http://schemas.openxmlformats.org/drawingml/2006/main">
            <a:r>
              <a:t>      "사전공개 RFP 도면은 대민·임직원 서비스를 나누고 각각 보안·서비스·데이터·관리 서브넷을 배치. 내부 영역은 SSO/EAM·ECM·업무 시스템과 연결하고, 별도 데이터 카탈로그는 업무분류체계·담당부서·메타데이터·사용승인을 연결하는 구조.",</a:t>
            </a:r>
          </a:p>
          <a:p xmlns:a="http://schemas.openxmlformats.org/drawingml/2006/main">
            <a:r>
              <a:t>      "TS 조직 기반 플랫폼에서는 직원이 누구인지뿐 아니라 특정 데이터의 업무 소관·활용 목적·승인 조건을 함께 관리하는 참고 사례. CCK 추가 개발은 조직·업무 사전과 카탈로그의 연결, DRM·권한 전파, 안건 범위검색, 산식 검증의 업무별 분리. 사전공개 요구와 실제 운영 성과는 별도 증빙으로 평가."</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"SFR-003",</a:t>
            </a:r>
          </a:p>
          <a:p xmlns:a="http://schemas.openxmlformats.org/drawingml/2006/main">
            <a:r>
              <a:t>        "title": "AI 서비스 에이전트 관리 기능",</a:t>
            </a:r>
          </a:p>
          <a:p xmlns:a="http://schemas.openxmlformats.org/drawingml/2006/main">
            <a:r>
              <a:t>        "locator": "SFR-003",</a:t>
            </a:r>
          </a:p>
          <a:p xmlns:a="http://schemas.openxmlformats.org/drawingml/2006/main">
            <a:r>
              <a:t>        "summary": "AI 에이전트의 구성·운영 관리 기능.",</a:t>
            </a:r>
          </a:p>
          <a:p xmlns:a="http://schemas.openxmlformats.org/drawingml/2006/main">
            <a:r>
              <a:t>        "data": "에이전트 설정·도구 → 실행 상태·관리 기록",</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"C08"</a:t>
            </a:r>
          </a:p>
          <a:p xmlns:a="http://schemas.openxmlformats.org/drawingml/2006/main">
            <a:r>
              <a:t>        ],</a:t>
            </a:r>
          </a:p>
          <a:p xmlns:a="http://schemas.openxmlformats.org/drawingml/2006/main">
            <a:r>
              <a:t>        "acceptance": "잘못된 도구 권한과 구성 변경 시 실행 차단·판본 추적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"1590814bc8f7ceb1abe4749ac8c848bd13cc7c8da0eb672ad1ee7d69ba045a3f"</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"AI 서비스 RAG 기능",</a:t>
            </a:r>
          </a:p>
          <a:p xmlns:a="http://schemas.openxmlformats.org/drawingml/2006/main">
            <a:r>
              <a:t>        "locator": "SFR-004",</a:t>
            </a:r>
          </a:p>
          <a:p xmlns:a="http://schemas.openxmlformats.org/drawingml/2006/main">
            <a:r>
              <a:t>        "summary": "업무 지식을 검색해 생성 응답에 연결하는 RAG 기능.",</a:t>
            </a:r>
          </a:p>
          <a:p xmlns:a="http://schemas.openxmlformats.org/drawingml/2006/main">
            <a:r>
              <a:t>        "data": "질의·허용 문서 → 근거·응답",</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"C11"</a:t>
            </a:r>
          </a:p>
          <a:p xmlns:a="http://schemas.openxmlformats.org/drawingml/2006/main">
            <a:r>
              <a:t>        ],</a:t>
            </a:r>
          </a:p>
          <a:p xmlns:a="http://schemas.openxmlformats.org/drawingml/2006/main">
            <a:r>
              <a:t>        "acceptance": "사내·대국민 문서 혼재 시 검색 범위 분리와 출처 정확성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"6779cdd1e875adfd01a03d244801be17e636a2a970a25d78c0009ee42d836beb"</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"AI 서비스 데이터 파이프라인 자동화 기능",</a:t>
            </a:r>
          </a:p>
          <a:p xmlns:a="http://schemas.openxmlformats.org/drawingml/2006/main">
            <a:r>
              <a:t>        "locator": "SFR-005",</a:t>
            </a:r>
          </a:p>
          <a:p xmlns:a="http://schemas.openxmlformats.org/drawingml/2006/main">
            <a:r>
              <a:t>        "summary": "원천 자료의 수집·전처리·검색 반영 데이터 파이프라인.",</a:t>
            </a:r>
          </a:p>
          <a:p xmlns:a="http://schemas.openxmlformats.org/drawingml/2006/main">
            <a:r>
              <a:t>        "data": "원천 문서·메타정보 → 검색용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"등록·개정·삭제·정제 실패의 처리 결과와 원천 변경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"ce9810ce185079fa2fef5d1208af96a3a07ef6e6e5ca1ec36d2dd7a42c90df96"</a:t>
            </a:r>
          </a:p>
          <a:p xmlns:a="http://schemas.openxmlformats.org/drawingml/2006/main">
            <a:r>
              <a:t>      },</a:t>
            </a:r>
          </a:p>
          <a:p xmlns:a="http://schemas.openxmlformats.org/drawingml/2006/main">
            <a:r>
              <a:t>      {</a:t>
            </a:r>
          </a:p>
          <a:p xmlns:a="http://schemas.openxmlformats.org/drawingml/2006/main">
            <a:r>
              <a:t>        "id": "SFR-009",</a:t>
            </a:r>
          </a:p>
          <a:p xmlns:a="http://schemas.openxmlformats.org/drawingml/2006/main">
            <a:r>
              <a:t>        "title": "AI 서비스(사내 AI 챗봇 서비스) 구축",</a:t>
            </a:r>
          </a:p>
          <a:p xmlns:a="http://schemas.openxmlformats.org/drawingml/2006/main">
            <a:r>
              <a:t>        "locator": "SFR-009",</a:t>
            </a:r>
          </a:p>
          <a:p xmlns:a="http://schemas.openxmlformats.org/drawingml/2006/main">
            <a:r>
              <a:t>        "summary": "사내 직원용 업무 지식 챗봇 기능.",</a:t>
            </a:r>
          </a:p>
          <a:p xmlns:a="http://schemas.openxmlformats.org/drawingml/2006/main">
            <a:r>
              <a:t>        "data": "직원 질의·직무 문맥 → 업무 답변·근거",</a:t>
            </a:r>
          </a:p>
          <a:p xmlns:a="http://schemas.openxmlformats.org/drawingml/2006/main">
            <a:r>
              <a:t>        "components": [</a:t>
            </a:r>
          </a:p>
          <a:p xmlns:a="http://schemas.openxmlformats.org/drawingml/2006/main">
            <a:r>
              <a:t>          "C01",</a:t>
            </a:r>
          </a:p>
          <a:p xmlns:a="http://schemas.openxmlformats.org/drawingml/2006/main">
            <a:r>
              <a:t>          "C03",</a:t>
            </a:r>
          </a:p>
          <a:p xmlns:a="http://schemas.openxmlformats.org/drawingml/2006/main">
            <a:r>
              <a:t>          "C06"</a:t>
            </a:r>
          </a:p>
          <a:p xmlns:a="http://schemas.openxmlformats.org/drawingml/2006/main">
            <a:r>
              <a:t>        ],</a:t>
            </a:r>
          </a:p>
          <a:p xmlns:a="http://schemas.openxmlformats.org/drawingml/2006/main">
            <a:r>
              <a:t>        "acceptance": "동일 질의의 직무별 관련성, 비공개 자료 접근, 최신 규정 인용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"45f7da3f2df0a14850c6f9716076e421210ba97cb8aefec195a8439a0225ff95"</a:t>
            </a:r>
          </a:p>
          <a:p xmlns:a="http://schemas.openxmlformats.org/drawingml/2006/main">
            <a:r>
              <a:t>      },</a:t>
            </a:r>
          </a:p>
          <a:p xmlns:a="http://schemas.openxmlformats.org/drawingml/2006/main">
            <a:r>
              <a:t>      {</a:t>
            </a:r>
          </a:p>
          <a:p xmlns:a="http://schemas.openxmlformats.org/drawingml/2006/main">
            <a:r>
              <a:t>        "id": "SFR-012",</a:t>
            </a:r>
          </a:p>
          <a:p xmlns:a="http://schemas.openxmlformats.org/drawingml/2006/main">
            <a:r>
              <a:t>        "title": "데이터 카탈로그 일반 사항",</a:t>
            </a:r>
          </a:p>
          <a:p xmlns:a="http://schemas.openxmlformats.org/drawingml/2006/main">
            <a:r>
              <a:t>        "locator": "SFR-012",</a:t>
            </a:r>
          </a:p>
          <a:p xmlns:a="http://schemas.openxmlformats.org/drawingml/2006/main">
            <a:r>
              <a:t>        "summary": "전사 데이터 카탈로그의 공통 기능 구성.",</a:t>
            </a:r>
          </a:p>
          <a:p xmlns:a="http://schemas.openxmlformats.org/drawingml/2006/main">
            <a:r>
              <a:t>        "data": "데이터 자산·설명 → 탐색 가능한 카탈로그",</a:t>
            </a:r>
          </a:p>
          <a:p xmlns:a="http://schemas.openxmlformats.org/drawingml/2006/main">
            <a:r>
              <a:t>        "components": [</a:t>
            </a:r>
          </a:p>
          <a:p xmlns:a="http://schemas.openxmlformats.org/drawingml/2006/main">
            <a:r>
              <a:t>          "C09",</a:t>
            </a:r>
          </a:p>
          <a:p xmlns:a="http://schemas.openxmlformats.org/drawingml/2006/main">
            <a:r>
              <a:t>          "C11"</a:t>
            </a:r>
          </a:p>
          <a:p xmlns:a="http://schemas.openxmlformats.org/drawingml/2006/main">
            <a:r>
              <a:t>        ],</a:t>
            </a:r>
          </a:p>
          <a:p xmlns:a="http://schemas.openxmlformats.org/drawingml/2006/main">
            <a:r>
              <a:t>        "acceptance": "자산 식별자·담당자·설명의 원천 일치와 누락 항목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"c47acd02115ea8639438099db14eb807ebb43602a58a27a75e57bd7c44a01747"</a:t>
            </a:r>
          </a:p>
          <a:p xmlns:a="http://schemas.openxmlformats.org/drawingml/2006/main">
            <a:r>
              <a:t>      },</a:t>
            </a:r>
          </a:p>
          <a:p xmlns:a="http://schemas.openxmlformats.org/drawingml/2006/main">
            <a:r>
              <a:t>      {</a:t>
            </a:r>
          </a:p>
          <a:p xmlns:a="http://schemas.openxmlformats.org/drawingml/2006/main">
            <a:r>
              <a:t>        "id": "SFR-013",</a:t>
            </a:r>
          </a:p>
          <a:p xmlns:a="http://schemas.openxmlformats.org/drawingml/2006/main">
            <a:r>
              <a:t>        "title": "데이터 카탈로그 공사 맞춤 개발",</a:t>
            </a:r>
          </a:p>
          <a:p xmlns:a="http://schemas.openxmlformats.org/drawingml/2006/main">
            <a:r>
              <a:t>        "locator": "SFR-013",</a:t>
            </a:r>
          </a:p>
          <a:p xmlns:a="http://schemas.openxmlformats.org/drawingml/2006/main">
            <a:r>
              <a:t>        "summary": "기관 업무에 맞춘 데이터 카탈로그 구성과 활용.",</a:t>
            </a:r>
          </a:p>
          <a:p xmlns:a="http://schemas.openxmlformats.org/drawingml/2006/main">
            <a:r>
              <a:t>        "data": "업무 분류·사용자 문맥 → 맞춤 자산 정보",</a:t>
            </a:r>
          </a:p>
          <a:p xmlns:a="http://schemas.openxmlformats.org/drawingml/2006/main">
            <a:r>
              <a:t>        "components": [</a:t>
            </a:r>
          </a:p>
          <a:p xmlns:a="http://schemas.openxmlformats.org/drawingml/2006/main">
            <a:r>
              <a:t>          "C02",</a:t>
            </a:r>
          </a:p>
          <a:p xmlns:a="http://schemas.openxmlformats.org/drawingml/2006/main">
            <a:r>
              <a:t>          "C11",</a:t>
            </a:r>
          </a:p>
          <a:p xmlns:a="http://schemas.openxmlformats.org/drawingml/2006/main">
            <a:r>
              <a:t>          "C12"</a:t>
            </a:r>
          </a:p>
          <a:p xmlns:a="http://schemas.openxmlformats.org/drawingml/2006/main">
            <a:r>
              <a:t>        ],</a:t>
            </a:r>
          </a:p>
          <a:p xmlns:a="http://schemas.openxmlformats.org/drawingml/2006/main">
            <a:r>
              <a:t>        "acceptance": "부서·업무 분류 변경과 사용자 권한에 따른 자산 정보 표시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"dbe676ae5dc97c22a843994b927807e364fb8221c6d23ce8fb0b11a860ffc1b0"</a:t>
            </a:r>
          </a:p>
          <a:p xmlns:a="http://schemas.openxmlformats.org/drawingml/2006/main">
            <a:r>
              <a:t>      },</a:t>
            </a:r>
          </a:p>
          <a:p xmlns:a="http://schemas.openxmlformats.org/drawingml/2006/main">
            <a:r>
              <a:t>      {</a:t>
            </a:r>
          </a:p>
          <a:p xmlns:a="http://schemas.openxmlformats.org/drawingml/2006/main">
            <a:r>
              <a:t>        "id": "SFR-014",</a:t>
            </a:r>
          </a:p>
          <a:p xmlns:a="http://schemas.openxmlformats.org/drawingml/2006/main">
            <a:r>
              <a:t>        "title": "데이터 카탈로그 검색 기능",</a:t>
            </a:r>
          </a:p>
          <a:p xmlns:a="http://schemas.openxmlformats.org/drawingml/2006/main">
            <a:r>
              <a:t>        "locator": "SFR-014",</a:t>
            </a:r>
          </a:p>
          <a:p xmlns:a="http://schemas.openxmlformats.org/drawingml/2006/main">
            <a:r>
              <a:t>        "summary": "카탈로그의 데이터 자산 검색 기능.",</a:t>
            </a:r>
          </a:p>
          <a:p xmlns:a="http://schemas.openxmlformats.org/drawingml/2006/main">
            <a:r>
              <a:t>        "data": "자산명·업무 용어 → 관련 자산·설명",</a:t>
            </a:r>
          </a:p>
          <a:p xmlns:a="http://schemas.openxmlformats.org/drawingml/2006/main">
            <a:r>
              <a:t>        "components": [</a:t>
            </a:r>
          </a:p>
          <a:p xmlns:a="http://schemas.openxmlformats.org/drawingml/2006/main">
            <a:r>
              <a:t>          "C03",</a:t>
            </a:r>
          </a:p>
          <a:p xmlns:a="http://schemas.openxmlformats.org/drawingml/2006/main">
            <a:r>
              <a:t>          "C11"</a:t>
            </a:r>
          </a:p>
          <a:p xmlns:a="http://schemas.openxmlformats.org/drawingml/2006/main">
            <a:r>
              <a:t>        ],</a:t>
            </a:r>
          </a:p>
          <a:p xmlns:a="http://schemas.openxmlformats.org/drawingml/2006/main">
            <a:r>
              <a:t>        "acceptance": "다른 업무 용어로 같은 자산 탐색, 동명이자산 구분, 검색 결과 권한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"0d1cbe7ee72465436a3269eeb95106fa281de600b63107b9dfece31a434b39db"</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"국민·사내 접점",</a:t>
            </a:r>
          </a:p>
          <a:p xmlns:a="http://schemas.openxmlformats.org/drawingml/2006/main">
            <a:r>
              <a:t>          "layer": "이용 접점",</a:t>
            </a:r>
          </a:p>
          <a:p xmlns:a="http://schemas.openxmlformats.org/drawingml/2006/main">
            <a:r>
              <a:t>          "detail": "국민·직원·안건 검토자·데이터 담당",</a:t>
            </a:r>
          </a:p>
          <a:p xmlns:a="http://schemas.openxmlformats.org/drawingml/2006/main">
            <a:r>
              <a:t>          "requirements": [</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"SSO·DRM·망 구분",</a:t>
            </a:r>
          </a:p>
          <a:p xmlns:a="http://schemas.openxmlformats.org/drawingml/2006/main">
            <a:r>
              <a:t>          "layer": "업무 문맥",</a:t>
            </a:r>
          </a:p>
          <a:p xmlns:a="http://schemas.openxmlformats.org/drawingml/2006/main">
            <a:r>
              <a:t>          "detail": "외부·내부 접점과 망·계정·DRM 경계 분리",</a:t>
            </a:r>
          </a:p>
          <a:p xmlns:a="http://schemas.openxmlformats.org/drawingml/2006/main">
            <a:r>
              <a:t>          "requirements": [</a:t>
            </a:r>
          </a:p>
          <a:p xmlns:a="http://schemas.openxmlformats.org/drawingml/2006/main">
            <a:r>
              <a:t>            "SFR-003",</a:t>
            </a:r>
          </a:p>
          <a:p xmlns:a="http://schemas.openxmlformats.org/drawingml/2006/main">
            <a:r>
              <a:t>            "SFR-013"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"안건·허용자료 검색",</a:t>
            </a:r>
          </a:p>
          <a:p xmlns:a="http://schemas.openxmlformats.org/drawingml/2006/main">
            <a:r>
              <a:t>          "layer": "자료 조회",</a:t>
            </a:r>
          </a:p>
          <a:p xmlns:a="http://schemas.openxmlformats.org/drawingml/2006/main">
            <a:r>
              <a:t>          "detail": "질의·권한",</a:t>
            </a:r>
          </a:p>
          <a:p xmlns:a="http://schemas.openxmlformats.org/drawingml/2006/main">
            <a:r>
              <a:t>          "requirements": [</a:t>
            </a:r>
          </a:p>
          <a:p xmlns:a="http://schemas.openxmlformats.org/drawingml/2006/main">
            <a:r>
              <a:t>            "SFR-004",</a:t>
            </a:r>
          </a:p>
          <a:p xmlns:a="http://schemas.openxmlformats.org/drawingml/2006/main">
            <a:r>
              <a:t>            "SFR-009",</a:t>
            </a:r>
          </a:p>
          <a:p xmlns:a="http://schemas.openxmlformats.org/drawingml/2006/main">
            <a:r>
              <a:t>            "SFR-014"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"모델·요약·산식",</a:t>
            </a:r>
          </a:p>
          <a:p xmlns:a="http://schemas.openxmlformats.org/drawingml/2006/main">
            <a:r>
              <a:t>          "layer": "핵심 처리",</a:t>
            </a:r>
          </a:p>
          <a:p xmlns:a="http://schemas.openxmlformats.org/drawingml/2006/main">
            <a:r>
              <a:t>          "detail": "검색·요약·모델 라우팅·산식 검증",</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"산식·단위 대조",</a:t>
            </a:r>
          </a:p>
          <a:p xmlns:a="http://schemas.openxmlformats.org/drawingml/2006/main">
            <a:r>
              <a:t>          "layer": "결과 검증",</a:t>
            </a:r>
          </a:p>
          <a:p xmlns:a="http://schemas.openxmlformats.org/drawingml/2006/main">
            <a:r>
              <a:t>          "detail": "망·권한·산식별 독립 검증",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"업무 담당 검토",</a:t>
            </a:r>
          </a:p>
          <a:p xmlns:a="http://schemas.openxmlformats.org/drawingml/2006/main">
            <a:r>
              <a:t>          "layer": "사람 확인",</a:t>
            </a:r>
          </a:p>
          <a:p xmlns:a="http://schemas.openxmlformats.org/drawingml/2006/main">
            <a:r>
              <a:t>          "detail": "허용된 안건만 검색·요약하고 규정 산식을 독립 확인",</a:t>
            </a:r>
          </a:p>
          <a:p xmlns:a="http://schemas.openxmlformats.org/drawingml/2006/main">
            <a:r>
              <a:t>          "requirements": [</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"근거 요약·계산",</a:t>
            </a:r>
          </a:p>
          <a:p xmlns:a="http://schemas.openxmlformats.org/drawingml/2006/main">
            <a:r>
              <a:t>          "layer": "업무 연결",</a:t>
            </a:r>
          </a:p>
          <a:p xmlns:a="http://schemas.openxmlformats.org/drawingml/2006/main">
            <a:r>
              <a:t>          "detail": "권한 내 요약·계산 결과의 담당자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"품질·민감정보 점검",</a:t>
            </a:r>
          </a:p>
          <a:p xmlns:a="http://schemas.openxmlformats.org/drawingml/2006/main">
            <a:r>
              <a:t>          "layer": "운영 관측",</a:t>
            </a:r>
          </a:p>
          <a:p xmlns:a="http://schemas.openxmlformats.org/drawingml/2006/main">
            <a:r>
              <a:t>          "detail": "데이터 품질·민감정보·답변 품질 모니터링",</a:t>
            </a:r>
          </a:p>
          <a:p xmlns:a="http://schemas.openxmlformats.org/drawingml/2006/main">
            <a:r>
              <a:t>          "requirements": [</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"ECM·안건·공개자료",</a:t>
            </a:r>
          </a:p>
          <a:p xmlns:a="http://schemas.openxmlformats.org/drawingml/2006/main">
            <a:r>
              <a:t>          "layer": "데이터 원천",</a:t>
            </a:r>
          </a:p>
          <a:p xmlns:a="http://schemas.openxmlformats.org/drawingml/2006/main">
            <a:r>
              <a:t>          "detail": "지식·안건·카탈로그",</a:t>
            </a:r>
          </a:p>
          <a:p xmlns:a="http://schemas.openxmlformats.org/drawingml/2006/main">
            <a:r>
              <a:t>          "requirements": [</a:t>
            </a:r>
          </a:p>
          <a:p xmlns:a="http://schemas.openxmlformats.org/drawingml/2006/main">
            <a:r>
              <a:t>            "SFR-005",</a:t>
            </a:r>
          </a:p>
          <a:p xmlns:a="http://schemas.openxmlformats.org/drawingml/2006/main">
            <a:r>
              <a:t>            "SFR-012"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"메타정보·카탈로그",</a:t>
            </a:r>
          </a:p>
          <a:p xmlns:a="http://schemas.openxmlformats.org/drawingml/2006/main">
            <a:r>
              <a:t>          "layer": "준비·갱신",</a:t>
            </a:r>
          </a:p>
          <a:p xmlns:a="http://schemas.openxmlformats.org/drawingml/2006/main">
            <a:r>
              <a:t>          "detail": "안건 메타데이터·정형/비정형 데이터 카탈로그",</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"대민·사내 DB 분리",</a:t>
            </a:r>
          </a:p>
          <a:p xmlns:a="http://schemas.openxmlformats.org/drawingml/2006/main">
            <a:r>
              <a:t>          "layer": "상태·지식 저장",</a:t>
            </a:r>
          </a:p>
          <a:p xmlns:a="http://schemas.openxmlformats.org/drawingml/2006/main">
            <a:r>
              <a:t>          "detail": "망·권한별 노출 결과와 원문·계산·카탈로그 대사",</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"SFR-012",</a:t>
            </a:r>
          </a:p>
          <a:p xmlns:a="http://schemas.openxmlformats.org/drawingml/2006/main">
            <a:r>
              <a:t>            "SFR-013",</a:t>
            </a:r>
          </a:p>
          <a:p xmlns:a="http://schemas.openxmlformats.org/drawingml/2006/main">
            <a:r>
              <a:t>            "SFR-014"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"권한·망·모델 관리",</a:t>
            </a:r>
          </a:p>
          <a:p xmlns:a="http://schemas.openxmlformats.org/drawingml/2006/main">
            <a:r>
              <a:t>          "layer": "권한·정책",</a:t>
            </a:r>
          </a:p>
          <a:p xmlns:a="http://schemas.openxmlformats.org/drawingml/2006/main">
            <a:r>
              <a:t>          "detail": "외부 계정의 내부 안건 요청·DRM 제한·단위 오류",</a:t>
            </a:r>
          </a:p>
          <a:p xmlns:a="http://schemas.openxmlformats.org/drawingml/2006/main">
            <a:r>
              <a:t>          "requirements": [</a:t>
            </a:r>
          </a:p>
          <a:p xmlns:a="http://schemas.openxmlformats.org/drawingml/2006/main">
            <a:r>
              <a:t>            "SFR-013"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"외부·내부 접점과 망·계정·DRM 경계 분리",</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"질의·권한",</a:t>
            </a:r>
          </a:p>
          <a:p xmlns:a="http://schemas.openxmlformats.org/drawingml/2006/main">
            <a:r>
              <a:t>          "check": "망·권한·산식별 독립 검증"</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"허용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"요약·계산",</a:t>
            </a:r>
          </a:p>
          <a:p xmlns:a="http://schemas.openxmlformats.org/drawingml/2006/main">
            <a:r>
              <a:t>          "check": "외부 계정의 내부 안건 요청·DRM 제한·단위 오류"</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"요약·계산",</a:t>
            </a:r>
          </a:p>
          <a:p xmlns:a="http://schemas.openxmlformats.org/drawingml/2006/main">
            <a:r>
              <a:t>          "check": "권한 내 요약·계산 결과의 담당자 검토"</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 결과",</a:t>
            </a:r>
          </a:p>
          <a:p xmlns:a="http://schemas.openxmlformats.org/drawingml/2006/main">
            <a:r>
              <a:t>          "check": "망·권한별 노출 결과와 원문·계산·카탈로그 대사"</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"사전공개 RFP 구성도·SFR-001~014",</a:t>
            </a:r>
          </a:p>
          <a:p xmlns:a="http://schemas.openxmlformats.org/drawingml/2006/main">
            <a:r>
              <a:t>        "extracted": "대민/임직원 서비스와 DB 분리, SSO/EAM·데이터 업로드 경계",</a:t>
            </a:r>
          </a:p>
          <a:p xmlns:a="http://schemas.openxmlformats.org/drawingml/2006/main">
            <a:r>
              <a:t>        "extension": "공개·내부 경계 교차 시험과 금융 산식의 독립 검산"</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"PF-R08",</a:t>
            </a:r>
          </a:p>
          <a:p xmlns:a="http://schemas.openxmlformats.org/drawingml/2006/main">
            <a:r>
              <a:t>          "path": "assets/casebook-sources/PF-R08-01.png",</a:t>
            </a:r>
          </a:p>
          <a:p xmlns:a="http://schemas.openxmlformats.org/drawingml/2006/main">
            <a:r>
              <a:t>          "title": "대민·임직원 AI 서비스 분리",</a:t>
            </a:r>
          </a:p>
          <a:p xmlns:a="http://schemas.openxmlformats.org/drawingml/2006/main">
            <a:r>
              <a:t>          "status": "사전공개 RFP 목표 구성도",</a:t>
            </a:r>
          </a:p>
          <a:p xmlns:a="http://schemas.openxmlformats.org/drawingml/2006/main">
            <a:r>
              <a:t>          "caption": "보안·서비스·데이터·관리 서브넷과 SSO·업무 데이터 경계",</a:t>
            </a:r>
          </a:p>
          <a:p xmlns:a="http://schemas.openxmlformats.org/drawingml/2006/main">
            <a:r>
              <a:t>          "locator": "rId20 / BinData/BIN0002_bmp",</a:t>
            </a:r>
          </a:p>
          <a:p xmlns:a="http://schemas.openxmlformats.org/drawingml/2006/main">
            <a:r>
              <a:t>          "checked": "2026-10-16",</a:t>
            </a:r>
          </a:p>
          <a:p xmlns:a="http://schemas.openxmlformats.org/drawingml/2006/main">
            <a:r>
              <a:t>          "sha256": "dbd84b9d88acec3c54802ec4cc6eacaf8a872223e2a7ee89fadf50a173e38803",</a:t>
            </a:r>
          </a:p>
          <a:p xmlns:a="http://schemas.openxmlformats.org/drawingml/2006/main">
            <a:r>
              <a:t>          "explanation": {</a:t>
            </a:r>
          </a:p>
          <a:p xmlns:a="http://schemas.openxmlformats.org/drawingml/2006/main">
            <a:r>
              <a:t>            "read": "사전공개 요구의 대국민·임직원 서비스와 데이터·네트워크 경계를 구분한 목표 구성. 공개 상담용 자료와 내부 안건·업무 자료를 서비스·저장 계층에서 분리하는 구조.",</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"SFR-005",</a:t>
            </a:r>
          </a:p>
          <a:p xmlns:a="http://schemas.openxmlformats.org/drawingml/2006/main">
            <a:r>
              <a:t>              "SFR-009"</a:t>
            </a:r>
          </a:p>
          <a:p xmlns:a="http://schemas.openxmlformats.org/drawingml/2006/main">
            <a:r>
              <a:t>            ],</a:t>
            </a:r>
          </a:p>
          <a:p xmlns:a="http://schemas.openxmlformats.org/drawingml/2006/main">
            <a:r>
              <a:t>            "connection": "같은 AI 기반을 쓰더라도 공개·내부 검색 범위와 문서 반입 경로를 별도로 검수하고 사용자 문맥·SSO·DRM 등 기존 통제와 연결하는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"PF-R08",</a:t>
            </a:r>
          </a:p>
          <a:p xmlns:a="http://schemas.openxmlformats.org/drawingml/2006/main">
            <a:r>
              <a:t>          "path": "assets/casebook-sources/PF-R08-02.png",</a:t>
            </a:r>
          </a:p>
          <a:p xmlns:a="http://schemas.openxmlformats.org/drawingml/2006/main">
            <a:r>
              <a:t>          "title": "데이터 카탈로그·업무 매핑",</a:t>
            </a:r>
          </a:p>
          <a:p xmlns:a="http://schemas.openxmlformats.org/drawingml/2006/main">
            <a:r>
              <a:t>          "status": "사전공개 RFP 데이터 구성도",</a:t>
            </a:r>
          </a:p>
          <a:p xmlns:a="http://schemas.openxmlformats.org/drawingml/2006/main">
            <a:r>
              <a:t>          "caption": "대시보드·통합검색·데이터등록·표준·품질과 업무 매핑",</a:t>
            </a:r>
          </a:p>
          <a:p xmlns:a="http://schemas.openxmlformats.org/drawingml/2006/main">
            <a:r>
              <a:t>          "locator": "rId20 / BinData/BIN0001_bmp",</a:t>
            </a:r>
          </a:p>
          <a:p xmlns:a="http://schemas.openxmlformats.org/drawingml/2006/main">
            <a:r>
              <a:t>          "checked": "2026-10-16",</a:t>
            </a:r>
          </a:p>
          <a:p xmlns:a="http://schemas.openxmlformats.org/drawingml/2006/main">
            <a:r>
              <a:t>          "sha256": "e91edef465c1a60d5edcd6288eefa4a5d158cd9980b9b941428685ef6e32a0f5",</a:t>
            </a:r>
          </a:p>
          <a:p xmlns:a="http://schemas.openxmlformats.org/drawingml/2006/main">
            <a:r>
              <a:t>          "explanation": {</a:t>
            </a:r>
          </a:p>
          <a:p xmlns:a="http://schemas.openxmlformats.org/drawingml/2006/main">
            <a:r>
              <a:t>            "read": "카탈로그와 MDMS·ECM 등 기존 데이터·문서 체계의 업무 연결. AI 답변에 앞서 어떤 데이터가 존재하고 누가 관리하며 어떤 업무에서 쓰는지 찾을 수 있도록 하는 정보 기반.",</a:t>
            </a:r>
          </a:p>
          <a:p xmlns:a="http://schemas.openxmlformats.org/drawingml/2006/main">
            <a:r>
              <a:t>            "requirements": [</a:t>
            </a:r>
          </a:p>
          <a:p xmlns:a="http://schemas.openxmlformats.org/drawingml/2006/main">
            <a:r>
              <a:t>              "SFR-012",</a:t>
            </a:r>
          </a:p>
          <a:p xmlns:a="http://schemas.openxmlformats.org/drawingml/2006/main">
            <a:r>
              <a:t>              "SFR-013",</a:t>
            </a:r>
          </a:p>
          <a:p xmlns:a="http://schemas.openxmlformats.org/drawingml/2006/main">
            <a:r>
              <a:t>              "SFR-014"</a:t>
            </a:r>
          </a:p>
          <a:p xmlns:a="http://schemas.openxmlformats.org/drawingml/2006/main">
            <a:r>
              <a:t>            ],</a:t>
            </a:r>
          </a:p>
          <a:p xmlns:a="http://schemas.openxmlformats.org/drawingml/2006/main">
            <a:r>
              <a:t>            "connection": "TS의 조직·업무 ID와 데이터 자산·소관 부서를 연결하고 문서 검색 권한과 카탈로그 설명의 공개 범위를 분리해 관리하는 적용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"외부 계정의 내부 안건 요청·DRM 제한·단위 오류",</a:t>
            </a:r>
          </a:p>
          <a:p xmlns:a="http://schemas.openxmlformats.org/drawingml/2006/main">
            <a:r>
              <a:t>        "hold": "망·권한·산식별 독립 검증",</a:t>
            </a:r>
          </a:p>
          <a:p xmlns:a="http://schemas.openxmlformats.org/drawingml/2006/main">
            <a:r>
              <a:t>        "recovery": "데이터 품질·민감정보·답변 품질 모니터링",</a:t>
            </a:r>
          </a:p>
          <a:p xmlns:a="http://schemas.openxmlformats.org/drawingml/2006/main">
            <a:r>
              <a:t>        "evidence": "망·권한별 노출 결과와 원문·계산·카탈로그 대사"</a:t>
            </a:r>
          </a:p>
          <a:p xmlns:a="http://schemas.openxmlformats.org/drawingml/2006/main">
            <a:r>
              <a:t>      },</a:t>
            </a:r>
          </a:p>
          <a:p xmlns:a="http://schemas.openxmlformats.org/drawingml/2006/main">
            <a:r>
              <a:t>      "data": {</a:t>
            </a:r>
          </a:p>
          <a:p xmlns:a="http://schemas.openxmlformats.org/drawingml/2006/main">
            <a:r>
              <a:t>        "source": "지식·안건·카탈로그",</a:t>
            </a:r>
          </a:p>
          <a:p xmlns:a="http://schemas.openxmlformats.org/drawingml/2006/main">
            <a:r>
              <a:t>        "prepare": "안건 메타데이터·정형/비정형 데이터 카탈로그",</a:t>
            </a:r>
          </a:p>
          <a:p xmlns:a="http://schemas.openxmlformats.org/drawingml/2006/main">
            <a:r>
              <a:t>        "output": "질의·권한",</a:t>
            </a:r>
          </a:p>
          <a:p xmlns:a="http://schemas.openxmlformats.org/drawingml/2006/main">
            <a:r>
              <a:t>        "refresh": "데이터 품질·민감정보·답변 품질 모니터링"</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"PF-R08",</a:t>
            </a:r>
          </a:p>
          <a:p xmlns:a="http://schemas.openxmlformats.org/drawingml/2006/main">
            <a:r>
              <a:t>    "success": [</a:t>
            </a:r>
          </a:p>
          <a:p xmlns:a="http://schemas.openxmlformats.org/drawingml/2006/main">
            <a:r>
              <a:t>      "대국민·사내 지식 경계 분리",</a:t>
            </a:r>
          </a:p>
          <a:p xmlns:a="http://schemas.openxmlformats.org/drawingml/2006/main">
            <a:r>
              <a:t>      "카탈로그와 데이터 통제 결합"</a:t>
            </a:r>
          </a:p>
          <a:p xmlns:a="http://schemas.openxmlformats.org/drawingml/2006/main">
            <a:r>
              <a:t>    ],</a:t>
            </a:r>
          </a:p>
          <a:p xmlns:a="http://schemas.openxmlformats.org/drawingml/2006/main">
            <a:r>
              <a:t>    "risks": [</a:t>
            </a:r>
          </a:p>
          <a:p xmlns:a="http://schemas.openxmlformats.org/drawingml/2006/main">
            <a:r>
              <a:t>      "DRM·접근권한 전파 누락",</a:t>
            </a:r>
          </a:p>
          <a:p xmlns:a="http://schemas.openxmlformats.org/drawingml/2006/main">
            <a:r>
              <a:t>      "금융 산식·단위 오류"</a:t>
            </a:r>
          </a:p>
          <a:p xmlns:a="http://schemas.openxmlformats.org/drawingml/2006/main">
            <a:r>
              <a:t>    ],</a:t>
            </a:r>
          </a:p>
          <a:p xmlns:a="http://schemas.openxmlformats.org/drawingml/2006/main">
            <a:r>
              <a:t>    "architecture": [</a:t>
            </a:r>
          </a:p>
          <a:p xmlns:a="http://schemas.openxmlformats.org/drawingml/2006/main">
            <a:r>
              <a:t>      "국민·직원 접점",</a:t>
            </a:r>
          </a:p>
          <a:p xmlns:a="http://schemas.openxmlformats.org/drawingml/2006/main">
            <a:r>
              <a:t>      "검색·요약·산식 검토",</a:t>
            </a:r>
          </a:p>
          <a:p xmlns:a="http://schemas.openxmlformats.org/drawingml/2006/main">
            <a:r>
              <a:t>      "지식·안건·카탈로그",</a:t>
            </a:r>
          </a:p>
          <a:p xmlns:a="http://schemas.openxmlformats.org/drawingml/2006/main">
            <a:r>
              <a:t>      "업무 검토자"</a:t>
            </a:r>
          </a:p>
          <a:p xmlns:a="http://schemas.openxmlformats.org/drawingml/2006/main">
            <a:r>
              <a:t>    ],</a:t>
            </a:r>
          </a:p>
          <a:p xmlns:a="http://schemas.openxmlformats.org/drawingml/2006/main">
            <a:r>
              <a:t>    "transfers": [</a:t>
            </a:r>
          </a:p>
          <a:p xmlns:a="http://schemas.openxmlformats.org/drawingml/2006/main">
            <a:r>
              <a:t>      "질의·권한",</a:t>
            </a:r>
          </a:p>
          <a:p xmlns:a="http://schemas.openxmlformats.org/drawingml/2006/main">
            <a:r>
              <a:t>      "허용 근거",</a:t>
            </a:r>
          </a:p>
          <a:p xmlns:a="http://schemas.openxmlformats.org/drawingml/2006/main">
            <a:r>
              <a:t>      "요약·계산",</a:t>
            </a:r>
          </a:p>
          <a:p xmlns:a="http://schemas.openxmlformats.org/drawingml/2006/main">
            <a:r>
              <a:t>      "검토 결과"</a:t>
            </a:r>
          </a:p>
          <a:p xmlns:a="http://schemas.openxmlformats.org/drawingml/2006/main">
            <a:r>
              <a:t>    ],</a:t>
            </a:r>
          </a:p>
          <a:p xmlns:a="http://schemas.openxmlformats.org/drawingml/2006/main">
            <a:r>
              <a:t>    "control": "망·권한·산식별 독립 검증",</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SFR-001~014, DAR·CNR / Word T089 https://www.g2b.go.kr/pn/pnz/pnza/UntyAtchFile/downloadFile.do?bfSpecRegNo=R26BD00217546&amp;fileType=BFDTL&amp;fileSeq=1</a:t>
            </a:r>
          </a:p>
          <a:p xmlns:a="http://schemas.openxmlformats.org/drawingml/2006/main">
            <a:r>
              <a:t>홈페이지 https://heen1987-ops.github.io/TS-business-Plan-001/index.html?view=platform-cases&amp;case=PF-R08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"PF-R08",</a:t>
            </a:r>
          </a:p>
          <a:p xmlns:a="http://schemas.openxmlformats.org/drawingml/2006/main">
            <a:r>
              <a:t>    "sourceId": "R08",</a:t>
            </a:r>
          </a:p>
          <a:p xmlns:a="http://schemas.openxmlformats.org/drawingml/2006/main">
            <a:r>
              <a:t>    "title": "예금보험공사 생성형 AI",</a:t>
            </a:r>
          </a:p>
          <a:p xmlns:a="http://schemas.openxmlformats.org/drawingml/2006/main">
            <a:r>
              <a:t>    "region": "국내",</a:t>
            </a:r>
          </a:p>
          <a:p xmlns:a="http://schemas.openxmlformats.org/drawingml/2006/main">
            <a:r>
              <a:t>    "owner": "예금보험공사",</a:t>
            </a:r>
          </a:p>
          <a:p xmlns:a="http://schemas.openxmlformats.org/drawingml/2006/main">
            <a:r>
              <a:t>    "state": "사전규격 RFP + 공급사 계약 발표 확인 / 최종본·준공 미확인",</a:t>
            </a:r>
          </a:p>
          <a:p xmlns:a="http://schemas.openxmlformats.org/drawingml/2006/main">
            <a:r>
              <a:t>    "period": "기존 원장 확인 2026.10.16",</a:t>
            </a:r>
          </a:p>
          <a:p xmlns:a="http://schemas.openxmlformats.org/drawingml/2006/main">
            <a:r>
              <a:t>    "fact": "대국민 챗봇·사내 챗봇·금융위 안건 검색요약 + 데이터 카탈로그/거버넌스",</a:t>
            </a:r>
          </a:p>
          <a:p xmlns:a="http://schemas.openxmlformats.org/drawingml/2006/main">
            <a:r>
              <a:t>    "limit": "학습용 FAQ500건과 서비스별 검증셋500건은 별도 요구. 계획상 수치를 운영 실적으로 사용하지 않음",</a:t>
            </a:r>
          </a:p>
          <a:p xmlns:a="http://schemas.openxmlformats.org/drawingml/2006/main">
            <a:r>
              <a:t>    "nodes": [</a:t>
            </a:r>
          </a:p>
          <a:p xmlns:a="http://schemas.openxmlformats.org/drawingml/2006/main">
            <a:r>
              <a:t>      "지식·안건",</a:t>
            </a:r>
          </a:p>
          <a:p xmlns:a="http://schemas.openxmlformats.org/drawingml/2006/main">
            <a:r>
              <a:t>      "권한·망·DRM",</a:t>
            </a:r>
          </a:p>
          <a:p xmlns:a="http://schemas.openxmlformats.org/drawingml/2006/main">
            <a:r>
              <a:t>      "검색·산식 검증",</a:t>
            </a:r>
          </a:p>
          <a:p xmlns:a="http://schemas.openxmlformats.org/drawingml/2006/main">
            <a:r>
              <a:t>      "평가·운영"</a:t>
            </a:r>
          </a:p>
          <a:p xmlns:a="http://schemas.openxmlformats.org/drawingml/2006/main">
            <a:r>
              <a:t>    ],</a:t>
            </a:r>
          </a:p>
          <a:p xmlns:a="http://schemas.openxmlformats.org/drawingml/2006/main">
            <a:r>
              <a:t>    "apply": "대민·내부 지식 경계와 데이터 카탈로그를 함께 설계하는 정보 제공",</a:t>
            </a:r>
          </a:p>
          <a:p xmlns:a="http://schemas.openxmlformats.org/drawingml/2006/main">
            <a:r>
              <a:t>    "delta": "내외부 지식·망 분리 / 문서 DRM·권한 / 안건·산식·데이터 카탈로그",</a:t>
            </a:r>
          </a:p>
          <a:p xmlns:a="http://schemas.openxmlformats.org/drawingml/2006/main">
            <a:r>
              <a:t>    "test": "외부 계정의 내부자료 요청·DRM·산식 오류에 대한 독립 검증",</a:t>
            </a:r>
          </a:p>
          <a:p xmlns:a="http://schemas.openxmlformats.org/drawingml/2006/main">
            <a:r>
              <a:t>    "url": "https://www.g2b.go.kr/pn/pnz/pnza/UntyAtchFile/downloadFile.do?bfSpecRegNo=R26BD00217546&amp;fileType=BFDTL&amp;fileSeq=1",</a:t>
            </a:r>
          </a:p>
          <a:p xmlns:a="http://schemas.openxmlformats.org/drawingml/2006/main">
            <a:r>
              <a:t>    "urls": [</a:t>
            </a:r>
          </a:p>
          <a:p xmlns:a="http://schemas.openxmlformats.org/drawingml/2006/main">
            <a:r>
              <a:t>      "https://www.g2b.go.kr/pn/pnz/pnza/UntyAtchFile/downloadFile.do?bfSpecRegNo=R26BD00217546&amp;fileType=BFDTL&amp;fileSeq=1",</a:t>
            </a:r>
          </a:p>
          <a:p xmlns:a="http://schemas.openxmlformats.org/drawingml/2006/main">
            <a:r>
              <a:t>      "https://clabi.ai/news/fe55039a-f069-4218-aa5a-0c1057c5ca92"</a:t>
            </a:r>
          </a:p>
          <a:p xmlns:a="http://schemas.openxmlformats.org/drawingml/2006/main">
            <a:r>
              <a:t>    ],</a:t>
            </a:r>
          </a:p>
          <a:p xmlns:a="http://schemas.openxmlformats.org/drawingml/2006/main">
            <a:r>
              <a:t>    "basis": "SFR-001~014, DAR·CNR / Word T089",</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"비인가 노출 건수 / 원천 추적률 / 안건 검토시간",</a:t>
            </a:r>
          </a:p>
          <a:p xmlns:a="http://schemas.openxmlformats.org/drawingml/2006/main">
            <a:r>
              <a:t>    "group": "요구·구축",</a:t>
            </a:r>
          </a:p>
          <a:p xmlns:a="http://schemas.openxmlformats.org/drawingml/2006/main">
            <a:r>
              <a:t>    "sourceDetail": "망·DRM·권한 연계; 안건 메타데이터 범위검색; 규정 산식 교차검증; 모델라우팅·평가·모니터링",</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"PF-R08",</a:t>
            </a:r>
          </a:p>
          <a:p xmlns:a="http://schemas.openxmlformats.org/drawingml/2006/main">
            <a:r>
              <a:t>    "canonicalId": "PF-R08",</a:t>
            </a:r>
          </a:p>
          <a:p xmlns:a="http://schemas.openxmlformats.org/drawingml/2006/main">
            <a:r>
              <a:t>    "purpose": "대민·사내 AI와 데이터 관리체계의 공동 구축",</a:t>
            </a:r>
          </a:p>
          <a:p xmlns:a="http://schemas.openxmlformats.org/drawingml/2006/main">
            <a:r>
              <a:t>    "users": "국민·직원·안건 검토자·데이터 담당",</a:t>
            </a:r>
          </a:p>
          <a:p xmlns:a="http://schemas.openxmlformats.org/drawingml/2006/main">
            <a:r>
              <a:t>    "scope": [</a:t>
            </a:r>
          </a:p>
          <a:p xmlns:a="http://schemas.openxmlformats.org/drawingml/2006/main">
            <a:r>
              <a:t>      "챗봇",</a:t>
            </a:r>
          </a:p>
          <a:p xmlns:a="http://schemas.openxmlformats.org/drawingml/2006/main">
            <a:r>
              <a:t>      "안건 검색·요약",</a:t>
            </a:r>
          </a:p>
          <a:p xmlns:a="http://schemas.openxmlformats.org/drawingml/2006/main">
            <a:r>
              <a:t>      "카탈로그"</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"국민·직원 접점",</a:t>
            </a:r>
          </a:p>
          <a:p xmlns:a="http://schemas.openxmlformats.org/drawingml/2006/main">
            <a:r>
              <a:t>        "detail": "외부·내부 접점과 망·계정·DRM 경계 분리",</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"챗봇 / 안건 검색·요약 / 카탈로그",</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"검색·요약·산식 검토",</a:t>
            </a:r>
          </a:p>
          <a:p xmlns:a="http://schemas.openxmlformats.org/drawingml/2006/main">
            <a:r>
              <a:t>        "detail": "검색·요약·모델 라우팅·산식 검증",</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"업무 검토자",</a:t>
            </a:r>
          </a:p>
          <a:p xmlns:a="http://schemas.openxmlformats.org/drawingml/2006/main">
            <a:r>
              <a:t>        "detail": "권한 내 요약·계산 결과의 담당자 검토",</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"지식·안건·카탈로그",</a:t>
            </a:r>
          </a:p>
          <a:p xmlns:a="http://schemas.openxmlformats.org/drawingml/2006/main">
            <a:r>
              <a:t>        "detail": "안건 메타데이터·정형/비정형 데이터 카탈로그",</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"데이터 품질·민감정보·답변 품질 모니터링",</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"지식·안건",</a:t>
            </a:r>
          </a:p>
          <a:p xmlns:a="http://schemas.openxmlformats.org/drawingml/2006/main">
            <a:r>
              <a:t>        "input": "외부·내부 접점과 망·계정·DRM 경계 분리",</a:t>
            </a:r>
          </a:p>
          <a:p xmlns:a="http://schemas.openxmlformats.org/drawingml/2006/main">
            <a:r>
              <a:t>        "process": "안건 메타데이터·정형/비정형 데이터 카탈로그",</a:t>
            </a:r>
          </a:p>
          <a:p xmlns:a="http://schemas.openxmlformats.org/drawingml/2006/main">
            <a:r>
              <a:t>        "output": "질의·권한"</a:t>
            </a:r>
          </a:p>
          <a:p xmlns:a="http://schemas.openxmlformats.org/drawingml/2006/main">
            <a:r>
              <a:t>      },</a:t>
            </a:r>
          </a:p>
          <a:p xmlns:a="http://schemas.openxmlformats.org/drawingml/2006/main">
            <a:r>
              <a:t>      {</a:t>
            </a:r>
          </a:p>
          <a:p xmlns:a="http://schemas.openxmlformats.org/drawingml/2006/main">
            <a:r>
              <a:t>        "title": "권한·망·DRM",</a:t>
            </a:r>
          </a:p>
          <a:p xmlns:a="http://schemas.openxmlformats.org/drawingml/2006/main">
            <a:r>
              <a:t>        "input": "질의·권한",</a:t>
            </a:r>
          </a:p>
          <a:p xmlns:a="http://schemas.openxmlformats.org/drawingml/2006/main">
            <a:r>
              <a:t>        "process": "검색·요약·모델 라우팅·산식 검증",</a:t>
            </a:r>
          </a:p>
          <a:p xmlns:a="http://schemas.openxmlformats.org/drawingml/2006/main">
            <a:r>
              <a:t>        "output": "허용 근거"</a:t>
            </a:r>
          </a:p>
          <a:p xmlns:a="http://schemas.openxmlformats.org/drawingml/2006/main">
            <a:r>
              <a:t>      },</a:t>
            </a:r>
          </a:p>
          <a:p xmlns:a="http://schemas.openxmlformats.org/drawingml/2006/main">
            <a:r>
              <a:t>      {</a:t>
            </a:r>
          </a:p>
          <a:p xmlns:a="http://schemas.openxmlformats.org/drawingml/2006/main">
            <a:r>
              <a:t>        "title": "검색·산식 검증",</a:t>
            </a:r>
          </a:p>
          <a:p xmlns:a="http://schemas.openxmlformats.org/drawingml/2006/main">
            <a:r>
              <a:t>        "input": "허용 근거",</a:t>
            </a:r>
          </a:p>
          <a:p xmlns:a="http://schemas.openxmlformats.org/drawingml/2006/main">
            <a:r>
              <a:t>        "process": "망·권한·산식별 독립 검증",</a:t>
            </a:r>
          </a:p>
          <a:p xmlns:a="http://schemas.openxmlformats.org/drawingml/2006/main">
            <a:r>
              <a:t>        "output": "요약·계산"</a:t>
            </a:r>
          </a:p>
          <a:p xmlns:a="http://schemas.openxmlformats.org/drawingml/2006/main">
            <a:r>
              <a:t>      },</a:t>
            </a:r>
          </a:p>
          <a:p xmlns:a="http://schemas.openxmlformats.org/drawingml/2006/main">
            <a:r>
              <a:t>      {</a:t>
            </a:r>
          </a:p>
          <a:p xmlns:a="http://schemas.openxmlformats.org/drawingml/2006/main">
            <a:r>
              <a:t>        "title": "평가·운영",</a:t>
            </a:r>
          </a:p>
          <a:p xmlns:a="http://schemas.openxmlformats.org/drawingml/2006/main">
            <a:r>
              <a:t>        "input": "요약·계산",</a:t>
            </a:r>
          </a:p>
          <a:p xmlns:a="http://schemas.openxmlformats.org/drawingml/2006/main">
            <a:r>
              <a:t>        "process": "권한 내 요약·계산 결과의 담당자 검토",</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"허용된 안건만 검색·요약하고 규정 산식을 독립 확인",</a:t>
            </a:r>
          </a:p>
          <a:p xmlns:a="http://schemas.openxmlformats.org/drawingml/2006/main">
            <a:r>
              <a:t>      "exception": "외부 계정의 내부 안건 요청·DRM 제한·단위 오류",</a:t>
            </a:r>
          </a:p>
          <a:p xmlns:a="http://schemas.openxmlformats.org/drawingml/2006/main">
            <a:r>
              <a:t>      "evidence": "망·권한별 노출 결과와 원문·계산·카탈로그 대사",</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"국민·직원·안건 검토자·데이터 담당",</a:t>
            </a:r>
          </a:p>
          <a:p xmlns:a="http://schemas.openxmlformats.org/drawingml/2006/main">
            <a:r>
              <a:t>          "processing": "외부·내부 접점과 망·계정·DRM 경계 분리",</a:t>
            </a:r>
          </a:p>
          <a:p xmlns:a="http://schemas.openxmlformats.org/drawingml/2006/main">
            <a:r>
              <a:t>          "output": "질의·권한"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"지식·안건·카탈로그",</a:t>
            </a:r>
          </a:p>
          <a:p xmlns:a="http://schemas.openxmlformats.org/drawingml/2006/main">
            <a:r>
              <a:t>          "processing": "안건 메타데이터·정형/비정형 데이터 카탈로그",</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"질의·권한",</a:t>
            </a:r>
          </a:p>
          <a:p xmlns:a="http://schemas.openxmlformats.org/drawingml/2006/main">
            <a:r>
              <a:t>          "processing": "검색·요약·모델 라우팅·산식 검증",</a:t>
            </a:r>
          </a:p>
          <a:p xmlns:a="http://schemas.openxmlformats.org/drawingml/2006/main">
            <a:r>
              <a:t>          "output": "요약·계산"</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"요약·계산",</a:t>
            </a:r>
          </a:p>
          <a:p xmlns:a="http://schemas.openxmlformats.org/drawingml/2006/main">
            <a:r>
              <a:t>          "processing": "권한 내 요약·계산 결과의 담당자 검토",</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"데이터 품질·민감정보·답변 품질 모니터링",</a:t>
            </a:r>
          </a:p>
          <a:p xmlns:a="http://schemas.openxmlformats.org/drawingml/2006/main">
            <a:r>
              <a:t>          "output": "망·권한별 노출 결과와 원문·계산·카탈로그 대사"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"데이터 품질·민감정보·답변 품질 모니터링",</a:t>
            </a:r>
          </a:p>
          <a:p xmlns:a="http://schemas.openxmlformats.org/drawingml/2006/main">
            <a:r>
              <a:t>    "status": "RFP 기반 논리 설계",</a:t>
            </a:r>
          </a:p>
          <a:p xmlns:a="http://schemas.openxmlformats.org/drawingml/2006/main">
            <a:r>
              <a:t>    "basis": "사전공개 RFP 2026.04 · SFR-001~014·DAR·CNR",</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"SFR-001~014, DAR·CNR / Word T089",</a:t>
            </a:r>
          </a:p>
          <a:p xmlns:a="http://schemas.openxmlformats.org/drawingml/2006/main">
            <a:r>
              <a:t>        "url": "https://www.g2b.go.kr/pn/pnz/pnza/UntyAtchFile/downloadFile.do?bfSpecRegNo=R26BD00217546&amp;fileType=BFDTL&amp;fileSeq=1"</a:t>
            </a:r>
          </a:p>
          <a:p xmlns:a="http://schemas.openxmlformats.org/drawingml/2006/main">
            <a:r>
              <a:t>      }</a:t>
            </a:r>
          </a:p>
          <a:p xmlns:a="http://schemas.openxmlformats.org/drawingml/2006/main">
            <a:r>
              <a:t>    ],</a:t>
            </a:r>
          </a:p>
          <a:p xmlns:a="http://schemas.openxmlformats.org/drawingml/2006/main">
            <a:r>
              <a:t>    "implication": "대민·내부 지식 경계와 데이터 카탈로그를 함께 설계하는 정보 제공",</a:t>
            </a:r>
          </a:p>
          <a:p xmlns:a="http://schemas.openxmlformats.org/drawingml/2006/main">
            <a:r>
              <a:t>    "local": "대민·내부 지식 경계와 데이터 카탈로그를 함께 설계하는 정보 제공",</a:t>
            </a:r>
          </a:p>
          <a:p xmlns:a="http://schemas.openxmlformats.org/drawingml/2006/main">
            <a:r>
              <a:t>    "sourceDetail": "망·DRM·권한 연계; 안건 메타데이터 범위검색; 규정 산식 교차검증; 모델라우팅·평가·모니터링",</a:t>
            </a:r>
          </a:p>
          <a:p xmlns:a="http://schemas.openxmlformats.org/drawingml/2006/main">
            <a:r>
              <a:t>    "narrative": [</a:t>
            </a:r>
          </a:p>
          <a:p xmlns:a="http://schemas.openxmlformats.org/drawingml/2006/main">
            <a:r>
              <a:t>      "대국민 챗봇, 임직원 지식 활용, 안건 검색·요약과 데이터 카탈로그를 함께 다루는 생성형 AI 플랫폼 계획. 대외 공개 지식과 내부 업무 자료를 같은 검색 범위로 취급하지 않는 것이 구성의 출발점.",</a:t>
            </a:r>
          </a:p>
          <a:p xmlns:a="http://schemas.openxmlformats.org/drawingml/2006/main">
            <a:r>
              <a:t>      "사전공개 RFP 도면은 대민·임직원 서비스를 나누고 각각 보안·서비스·데이터·관리 서브넷을 배치. 내부 영역은 SSO/EAM·ECM·업무 시스템과 연결하고, 별도 데이터 카탈로그는 업무분류체계·담당부서·메타데이터·사용승인을 연결하는 구조.",</a:t>
            </a:r>
          </a:p>
          <a:p xmlns:a="http://schemas.openxmlformats.org/drawingml/2006/main">
            <a:r>
              <a:t>      "TS 조직 기반 플랫폼에서는 직원이 누구인지뿐 아니라 특정 데이터의 업무 소관·활용 목적·승인 조건을 함께 관리하는 참고 사례. CCK 추가 개발은 조직·업무 사전과 카탈로그의 연결, DRM·권한 전파, 안건 범위검색, 산식 검증의 업무별 분리. 사전공개 요구와 실제 운영 성과는 별도 증빙으로 평가."</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"SFR-003",</a:t>
            </a:r>
          </a:p>
          <a:p xmlns:a="http://schemas.openxmlformats.org/drawingml/2006/main">
            <a:r>
              <a:t>        "title": "AI 서비스 에이전트 관리 기능",</a:t>
            </a:r>
          </a:p>
          <a:p xmlns:a="http://schemas.openxmlformats.org/drawingml/2006/main">
            <a:r>
              <a:t>        "locator": "SFR-003",</a:t>
            </a:r>
          </a:p>
          <a:p xmlns:a="http://schemas.openxmlformats.org/drawingml/2006/main">
            <a:r>
              <a:t>        "summary": "AI 에이전트의 구성·운영 관리 기능.",</a:t>
            </a:r>
          </a:p>
          <a:p xmlns:a="http://schemas.openxmlformats.org/drawingml/2006/main">
            <a:r>
              <a:t>        "data": "에이전트 설정·도구 → 실행 상태·관리 기록",</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"C08"</a:t>
            </a:r>
          </a:p>
          <a:p xmlns:a="http://schemas.openxmlformats.org/drawingml/2006/main">
            <a:r>
              <a:t>        ],</a:t>
            </a:r>
          </a:p>
          <a:p xmlns:a="http://schemas.openxmlformats.org/drawingml/2006/main">
            <a:r>
              <a:t>        "acceptance": "잘못된 도구 권한과 구성 변경 시 실행 차단·판본 추적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"1590814bc8f7ceb1abe4749ac8c848bd13cc7c8da0eb672ad1ee7d69ba045a3f"</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"AI 서비스 RAG 기능",</a:t>
            </a:r>
          </a:p>
          <a:p xmlns:a="http://schemas.openxmlformats.org/drawingml/2006/main">
            <a:r>
              <a:t>        "locator": "SFR-004",</a:t>
            </a:r>
          </a:p>
          <a:p xmlns:a="http://schemas.openxmlformats.org/drawingml/2006/main">
            <a:r>
              <a:t>        "summary": "업무 지식을 검색해 생성 응답에 연결하는 RAG 기능.",</a:t>
            </a:r>
          </a:p>
          <a:p xmlns:a="http://schemas.openxmlformats.org/drawingml/2006/main">
            <a:r>
              <a:t>        "data": "질의·허용 문서 → 근거·응답",</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"C11"</a:t>
            </a:r>
          </a:p>
          <a:p xmlns:a="http://schemas.openxmlformats.org/drawingml/2006/main">
            <a:r>
              <a:t>        ],</a:t>
            </a:r>
          </a:p>
          <a:p xmlns:a="http://schemas.openxmlformats.org/drawingml/2006/main">
            <a:r>
              <a:t>        "acceptance": "사내·대국민 문서 혼재 시 검색 범위 분리와 출처 정확성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"6779cdd1e875adfd01a03d244801be17e636a2a970a25d78c0009ee42d836beb"</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"AI 서비스 데이터 파이프라인 자동화 기능",</a:t>
            </a:r>
          </a:p>
          <a:p xmlns:a="http://schemas.openxmlformats.org/drawingml/2006/main">
            <a:r>
              <a:t>        "locator": "SFR-005",</a:t>
            </a:r>
          </a:p>
          <a:p xmlns:a="http://schemas.openxmlformats.org/drawingml/2006/main">
            <a:r>
              <a:t>        "summary": "원천 자료의 수집·전처리·검색 반영 데이터 파이프라인.",</a:t>
            </a:r>
          </a:p>
          <a:p xmlns:a="http://schemas.openxmlformats.org/drawingml/2006/main">
            <a:r>
              <a:t>        "data": "원천 문서·메타정보 → 검색용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"등록·개정·삭제·정제 실패의 처리 결과와 원천 변경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"ce9810ce185079fa2fef5d1208af96a3a07ef6e6e5ca1ec36d2dd7a42c90df96"</a:t>
            </a:r>
          </a:p>
          <a:p xmlns:a="http://schemas.openxmlformats.org/drawingml/2006/main">
            <a:r>
              <a:t>      },</a:t>
            </a:r>
          </a:p>
          <a:p xmlns:a="http://schemas.openxmlformats.org/drawingml/2006/main">
            <a:r>
              <a:t>      {</a:t>
            </a:r>
          </a:p>
          <a:p xmlns:a="http://schemas.openxmlformats.org/drawingml/2006/main">
            <a:r>
              <a:t>        "id": "SFR-009",</a:t>
            </a:r>
          </a:p>
          <a:p xmlns:a="http://schemas.openxmlformats.org/drawingml/2006/main">
            <a:r>
              <a:t>        "title": "AI 서비스(사내 AI 챗봇 서비스) 구축",</a:t>
            </a:r>
          </a:p>
          <a:p xmlns:a="http://schemas.openxmlformats.org/drawingml/2006/main">
            <a:r>
              <a:t>        "locator": "SFR-009",</a:t>
            </a:r>
          </a:p>
          <a:p xmlns:a="http://schemas.openxmlformats.org/drawingml/2006/main">
            <a:r>
              <a:t>        "summary": "사내 직원용 업무 지식 챗봇 기능.",</a:t>
            </a:r>
          </a:p>
          <a:p xmlns:a="http://schemas.openxmlformats.org/drawingml/2006/main">
            <a:r>
              <a:t>        "data": "직원 질의·직무 문맥 → 업무 답변·근거",</a:t>
            </a:r>
          </a:p>
          <a:p xmlns:a="http://schemas.openxmlformats.org/drawingml/2006/main">
            <a:r>
              <a:t>        "components": [</a:t>
            </a:r>
          </a:p>
          <a:p xmlns:a="http://schemas.openxmlformats.org/drawingml/2006/main">
            <a:r>
              <a:t>          "C01",</a:t>
            </a:r>
          </a:p>
          <a:p xmlns:a="http://schemas.openxmlformats.org/drawingml/2006/main">
            <a:r>
              <a:t>          "C03",</a:t>
            </a:r>
          </a:p>
          <a:p xmlns:a="http://schemas.openxmlformats.org/drawingml/2006/main">
            <a:r>
              <a:t>          "C06"</a:t>
            </a:r>
          </a:p>
          <a:p xmlns:a="http://schemas.openxmlformats.org/drawingml/2006/main">
            <a:r>
              <a:t>        ],</a:t>
            </a:r>
          </a:p>
          <a:p xmlns:a="http://schemas.openxmlformats.org/drawingml/2006/main">
            <a:r>
              <a:t>        "acceptance": "동일 질의의 직무별 관련성, 비공개 자료 접근, 최신 규정 인용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"45f7da3f2df0a14850c6f9716076e421210ba97cb8aefec195a8439a0225ff95"</a:t>
            </a:r>
          </a:p>
          <a:p xmlns:a="http://schemas.openxmlformats.org/drawingml/2006/main">
            <a:r>
              <a:t>      },</a:t>
            </a:r>
          </a:p>
          <a:p xmlns:a="http://schemas.openxmlformats.org/drawingml/2006/main">
            <a:r>
              <a:t>      {</a:t>
            </a:r>
          </a:p>
          <a:p xmlns:a="http://schemas.openxmlformats.org/drawingml/2006/main">
            <a:r>
              <a:t>        "id": "SFR-012",</a:t>
            </a:r>
          </a:p>
          <a:p xmlns:a="http://schemas.openxmlformats.org/drawingml/2006/main">
            <a:r>
              <a:t>        "title": "데이터 카탈로그 일반 사항",</a:t>
            </a:r>
          </a:p>
          <a:p xmlns:a="http://schemas.openxmlformats.org/drawingml/2006/main">
            <a:r>
              <a:t>        "locator": "SFR-012",</a:t>
            </a:r>
          </a:p>
          <a:p xmlns:a="http://schemas.openxmlformats.org/drawingml/2006/main">
            <a:r>
              <a:t>        "summary": "전사 데이터 카탈로그의 공통 기능 구성.",</a:t>
            </a:r>
          </a:p>
          <a:p xmlns:a="http://schemas.openxmlformats.org/drawingml/2006/main">
            <a:r>
              <a:t>        "data": "데이터 자산·설명 → 탐색 가능한 카탈로그",</a:t>
            </a:r>
          </a:p>
          <a:p xmlns:a="http://schemas.openxmlformats.org/drawingml/2006/main">
            <a:r>
              <a:t>        "components": [</a:t>
            </a:r>
          </a:p>
          <a:p xmlns:a="http://schemas.openxmlformats.org/drawingml/2006/main">
            <a:r>
              <a:t>          "C09",</a:t>
            </a:r>
          </a:p>
          <a:p xmlns:a="http://schemas.openxmlformats.org/drawingml/2006/main">
            <a:r>
              <a:t>          "C11"</a:t>
            </a:r>
          </a:p>
          <a:p xmlns:a="http://schemas.openxmlformats.org/drawingml/2006/main">
            <a:r>
              <a:t>        ],</a:t>
            </a:r>
          </a:p>
          <a:p xmlns:a="http://schemas.openxmlformats.org/drawingml/2006/main">
            <a:r>
              <a:t>        "acceptance": "자산 식별자·담당자·설명의 원천 일치와 누락 항목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"c47acd02115ea8639438099db14eb807ebb43602a58a27a75e57bd7c44a01747"</a:t>
            </a:r>
          </a:p>
          <a:p xmlns:a="http://schemas.openxmlformats.org/drawingml/2006/main">
            <a:r>
              <a:t>      },</a:t>
            </a:r>
          </a:p>
          <a:p xmlns:a="http://schemas.openxmlformats.org/drawingml/2006/main">
            <a:r>
              <a:t>      {</a:t>
            </a:r>
          </a:p>
          <a:p xmlns:a="http://schemas.openxmlformats.org/drawingml/2006/main">
            <a:r>
              <a:t>        "id": "SFR-013",</a:t>
            </a:r>
          </a:p>
          <a:p xmlns:a="http://schemas.openxmlformats.org/drawingml/2006/main">
            <a:r>
              <a:t>        "title": "데이터 카탈로그 공사 맞춤 개발",</a:t>
            </a:r>
          </a:p>
          <a:p xmlns:a="http://schemas.openxmlformats.org/drawingml/2006/main">
            <a:r>
              <a:t>        "locator": "SFR-013",</a:t>
            </a:r>
          </a:p>
          <a:p xmlns:a="http://schemas.openxmlformats.org/drawingml/2006/main">
            <a:r>
              <a:t>        "summary": "기관 업무에 맞춘 데이터 카탈로그 구성과 활용.",</a:t>
            </a:r>
          </a:p>
          <a:p xmlns:a="http://schemas.openxmlformats.org/drawingml/2006/main">
            <a:r>
              <a:t>        "data": "업무 분류·사용자 문맥 → 맞춤 자산 정보",</a:t>
            </a:r>
          </a:p>
          <a:p xmlns:a="http://schemas.openxmlformats.org/drawingml/2006/main">
            <a:r>
              <a:t>        "components": [</a:t>
            </a:r>
          </a:p>
          <a:p xmlns:a="http://schemas.openxmlformats.org/drawingml/2006/main">
            <a:r>
              <a:t>          "C02",</a:t>
            </a:r>
          </a:p>
          <a:p xmlns:a="http://schemas.openxmlformats.org/drawingml/2006/main">
            <a:r>
              <a:t>          "C11",</a:t>
            </a:r>
          </a:p>
          <a:p xmlns:a="http://schemas.openxmlformats.org/drawingml/2006/main">
            <a:r>
              <a:t>          "C12"</a:t>
            </a:r>
          </a:p>
          <a:p xmlns:a="http://schemas.openxmlformats.org/drawingml/2006/main">
            <a:r>
              <a:t>        ],</a:t>
            </a:r>
          </a:p>
          <a:p xmlns:a="http://schemas.openxmlformats.org/drawingml/2006/main">
            <a:r>
              <a:t>        "acceptance": "부서·업무 분류 변경과 사용자 권한에 따른 자산 정보 표시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"dbe676ae5dc97c22a843994b927807e364fb8221c6d23ce8fb0b11a860ffc1b0"</a:t>
            </a:r>
          </a:p>
          <a:p xmlns:a="http://schemas.openxmlformats.org/drawingml/2006/main">
            <a:r>
              <a:t>      },</a:t>
            </a:r>
          </a:p>
          <a:p xmlns:a="http://schemas.openxmlformats.org/drawingml/2006/main">
            <a:r>
              <a:t>      {</a:t>
            </a:r>
          </a:p>
          <a:p xmlns:a="http://schemas.openxmlformats.org/drawingml/2006/main">
            <a:r>
              <a:t>        "id": "SFR-014",</a:t>
            </a:r>
          </a:p>
          <a:p xmlns:a="http://schemas.openxmlformats.org/drawingml/2006/main">
            <a:r>
              <a:t>        "title": "데이터 카탈로그 검색 기능",</a:t>
            </a:r>
          </a:p>
          <a:p xmlns:a="http://schemas.openxmlformats.org/drawingml/2006/main">
            <a:r>
              <a:t>        "locator": "SFR-014",</a:t>
            </a:r>
          </a:p>
          <a:p xmlns:a="http://schemas.openxmlformats.org/drawingml/2006/main">
            <a:r>
              <a:t>        "summary": "카탈로그의 데이터 자산 검색 기능.",</a:t>
            </a:r>
          </a:p>
          <a:p xmlns:a="http://schemas.openxmlformats.org/drawingml/2006/main">
            <a:r>
              <a:t>        "data": "자산명·업무 용어 → 관련 자산·설명",</a:t>
            </a:r>
          </a:p>
          <a:p xmlns:a="http://schemas.openxmlformats.org/drawingml/2006/main">
            <a:r>
              <a:t>        "components": [</a:t>
            </a:r>
          </a:p>
          <a:p xmlns:a="http://schemas.openxmlformats.org/drawingml/2006/main">
            <a:r>
              <a:t>          "C03",</a:t>
            </a:r>
          </a:p>
          <a:p xmlns:a="http://schemas.openxmlformats.org/drawingml/2006/main">
            <a:r>
              <a:t>          "C11"</a:t>
            </a:r>
          </a:p>
          <a:p xmlns:a="http://schemas.openxmlformats.org/drawingml/2006/main">
            <a:r>
              <a:t>        ],</a:t>
            </a:r>
          </a:p>
          <a:p xmlns:a="http://schemas.openxmlformats.org/drawingml/2006/main">
            <a:r>
              <a:t>        "acceptance": "다른 업무 용어로 같은 자산 탐색, 동명이자산 구분, 검색 결과 권한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"0d1cbe7ee72465436a3269eeb95106fa281de600b63107b9dfece31a434b39db"</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"국민·사내 접점",</a:t>
            </a:r>
          </a:p>
          <a:p xmlns:a="http://schemas.openxmlformats.org/drawingml/2006/main">
            <a:r>
              <a:t>          "layer": "이용 접점",</a:t>
            </a:r>
          </a:p>
          <a:p xmlns:a="http://schemas.openxmlformats.org/drawingml/2006/main">
            <a:r>
              <a:t>          "detail": "국민·직원·안건 검토자·데이터 담당",</a:t>
            </a:r>
          </a:p>
          <a:p xmlns:a="http://schemas.openxmlformats.org/drawingml/2006/main">
            <a:r>
              <a:t>          "requirements": [</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"SSO·DRM·망 구분",</a:t>
            </a:r>
          </a:p>
          <a:p xmlns:a="http://schemas.openxmlformats.org/drawingml/2006/main">
            <a:r>
              <a:t>          "layer": "업무 문맥",</a:t>
            </a:r>
          </a:p>
          <a:p xmlns:a="http://schemas.openxmlformats.org/drawingml/2006/main">
            <a:r>
              <a:t>          "detail": "외부·내부 접점과 망·계정·DRM 경계 분리",</a:t>
            </a:r>
          </a:p>
          <a:p xmlns:a="http://schemas.openxmlformats.org/drawingml/2006/main">
            <a:r>
              <a:t>          "requirements": [</a:t>
            </a:r>
          </a:p>
          <a:p xmlns:a="http://schemas.openxmlformats.org/drawingml/2006/main">
            <a:r>
              <a:t>            "SFR-003",</a:t>
            </a:r>
          </a:p>
          <a:p xmlns:a="http://schemas.openxmlformats.org/drawingml/2006/main">
            <a:r>
              <a:t>            "SFR-013"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"안건·허용자료 검색",</a:t>
            </a:r>
          </a:p>
          <a:p xmlns:a="http://schemas.openxmlformats.org/drawingml/2006/main">
            <a:r>
              <a:t>          "layer": "자료 조회",</a:t>
            </a:r>
          </a:p>
          <a:p xmlns:a="http://schemas.openxmlformats.org/drawingml/2006/main">
            <a:r>
              <a:t>          "detail": "질의·권한",</a:t>
            </a:r>
          </a:p>
          <a:p xmlns:a="http://schemas.openxmlformats.org/drawingml/2006/main">
            <a:r>
              <a:t>          "requirements": [</a:t>
            </a:r>
          </a:p>
          <a:p xmlns:a="http://schemas.openxmlformats.org/drawingml/2006/main">
            <a:r>
              <a:t>            "SFR-004",</a:t>
            </a:r>
          </a:p>
          <a:p xmlns:a="http://schemas.openxmlformats.org/drawingml/2006/main">
            <a:r>
              <a:t>            "SFR-009",</a:t>
            </a:r>
          </a:p>
          <a:p xmlns:a="http://schemas.openxmlformats.org/drawingml/2006/main">
            <a:r>
              <a:t>            "SFR-014"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"모델·요약·산식",</a:t>
            </a:r>
          </a:p>
          <a:p xmlns:a="http://schemas.openxmlformats.org/drawingml/2006/main">
            <a:r>
              <a:t>          "layer": "핵심 처리",</a:t>
            </a:r>
          </a:p>
          <a:p xmlns:a="http://schemas.openxmlformats.org/drawingml/2006/main">
            <a:r>
              <a:t>          "detail": "검색·요약·모델 라우팅·산식 검증",</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"산식·단위 대조",</a:t>
            </a:r>
          </a:p>
          <a:p xmlns:a="http://schemas.openxmlformats.org/drawingml/2006/main">
            <a:r>
              <a:t>          "layer": "결과 검증",</a:t>
            </a:r>
          </a:p>
          <a:p xmlns:a="http://schemas.openxmlformats.org/drawingml/2006/main">
            <a:r>
              <a:t>          "detail": "망·권한·산식별 독립 검증",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"업무 담당 검토",</a:t>
            </a:r>
          </a:p>
          <a:p xmlns:a="http://schemas.openxmlformats.org/drawingml/2006/main">
            <a:r>
              <a:t>          "layer": "사람 확인",</a:t>
            </a:r>
          </a:p>
          <a:p xmlns:a="http://schemas.openxmlformats.org/drawingml/2006/main">
            <a:r>
              <a:t>          "detail": "허용된 안건만 검색·요약하고 규정 산식을 독립 확인",</a:t>
            </a:r>
          </a:p>
          <a:p xmlns:a="http://schemas.openxmlformats.org/drawingml/2006/main">
            <a:r>
              <a:t>          "requirements": [</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"근거 요약·계산",</a:t>
            </a:r>
          </a:p>
          <a:p xmlns:a="http://schemas.openxmlformats.org/drawingml/2006/main">
            <a:r>
              <a:t>          "layer": "업무 연결",</a:t>
            </a:r>
          </a:p>
          <a:p xmlns:a="http://schemas.openxmlformats.org/drawingml/2006/main">
            <a:r>
              <a:t>          "detail": "권한 내 요약·계산 결과의 담당자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"품질·민감정보 점검",</a:t>
            </a:r>
          </a:p>
          <a:p xmlns:a="http://schemas.openxmlformats.org/drawingml/2006/main">
            <a:r>
              <a:t>          "layer": "운영 관측",</a:t>
            </a:r>
          </a:p>
          <a:p xmlns:a="http://schemas.openxmlformats.org/drawingml/2006/main">
            <a:r>
              <a:t>          "detail": "데이터 품질·민감정보·답변 품질 모니터링",</a:t>
            </a:r>
          </a:p>
          <a:p xmlns:a="http://schemas.openxmlformats.org/drawingml/2006/main">
            <a:r>
              <a:t>          "requirements": [</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"ECM·안건·공개자료",</a:t>
            </a:r>
          </a:p>
          <a:p xmlns:a="http://schemas.openxmlformats.org/drawingml/2006/main">
            <a:r>
              <a:t>          "layer": "데이터 원천",</a:t>
            </a:r>
          </a:p>
          <a:p xmlns:a="http://schemas.openxmlformats.org/drawingml/2006/main">
            <a:r>
              <a:t>          "detail": "지식·안건·카탈로그",</a:t>
            </a:r>
          </a:p>
          <a:p xmlns:a="http://schemas.openxmlformats.org/drawingml/2006/main">
            <a:r>
              <a:t>          "requirements": [</a:t>
            </a:r>
          </a:p>
          <a:p xmlns:a="http://schemas.openxmlformats.org/drawingml/2006/main">
            <a:r>
              <a:t>            "SFR-005",</a:t>
            </a:r>
          </a:p>
          <a:p xmlns:a="http://schemas.openxmlformats.org/drawingml/2006/main">
            <a:r>
              <a:t>            "SFR-012"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"메타정보·카탈로그",</a:t>
            </a:r>
          </a:p>
          <a:p xmlns:a="http://schemas.openxmlformats.org/drawingml/2006/main">
            <a:r>
              <a:t>          "layer": "준비·갱신",</a:t>
            </a:r>
          </a:p>
          <a:p xmlns:a="http://schemas.openxmlformats.org/drawingml/2006/main">
            <a:r>
              <a:t>          "detail": "안건 메타데이터·정형/비정형 데이터 카탈로그",</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"대민·사내 DB 분리",</a:t>
            </a:r>
          </a:p>
          <a:p xmlns:a="http://schemas.openxmlformats.org/drawingml/2006/main">
            <a:r>
              <a:t>          "layer": "상태·지식 저장",</a:t>
            </a:r>
          </a:p>
          <a:p xmlns:a="http://schemas.openxmlformats.org/drawingml/2006/main">
            <a:r>
              <a:t>          "detail": "망·권한별 노출 결과와 원문·계산·카탈로그 대사",</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"SFR-012",</a:t>
            </a:r>
          </a:p>
          <a:p xmlns:a="http://schemas.openxmlformats.org/drawingml/2006/main">
            <a:r>
              <a:t>            "SFR-013",</a:t>
            </a:r>
          </a:p>
          <a:p xmlns:a="http://schemas.openxmlformats.org/drawingml/2006/main">
            <a:r>
              <a:t>            "SFR-014"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"권한·망·모델 관리",</a:t>
            </a:r>
          </a:p>
          <a:p xmlns:a="http://schemas.openxmlformats.org/drawingml/2006/main">
            <a:r>
              <a:t>          "layer": "권한·정책",</a:t>
            </a:r>
          </a:p>
          <a:p xmlns:a="http://schemas.openxmlformats.org/drawingml/2006/main">
            <a:r>
              <a:t>          "detail": "외부 계정의 내부 안건 요청·DRM 제한·단위 오류",</a:t>
            </a:r>
          </a:p>
          <a:p xmlns:a="http://schemas.openxmlformats.org/drawingml/2006/main">
            <a:r>
              <a:t>          "requirements": [</a:t>
            </a:r>
          </a:p>
          <a:p xmlns:a="http://schemas.openxmlformats.org/drawingml/2006/main">
            <a:r>
              <a:t>            "SFR-013"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"외부·내부 접점과 망·계정·DRM 경계 분리",</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"질의·권한",</a:t>
            </a:r>
          </a:p>
          <a:p xmlns:a="http://schemas.openxmlformats.org/drawingml/2006/main">
            <a:r>
              <a:t>          "check": "망·권한·산식별 독립 검증"</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"허용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"요약·계산",</a:t>
            </a:r>
          </a:p>
          <a:p xmlns:a="http://schemas.openxmlformats.org/drawingml/2006/main">
            <a:r>
              <a:t>          "check": "외부 계정의 내부 안건 요청·DRM 제한·단위 오류"</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"요약·계산",</a:t>
            </a:r>
          </a:p>
          <a:p xmlns:a="http://schemas.openxmlformats.org/drawingml/2006/main">
            <a:r>
              <a:t>          "check": "권한 내 요약·계산 결과의 담당자 검토"</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 결과",</a:t>
            </a:r>
          </a:p>
          <a:p xmlns:a="http://schemas.openxmlformats.org/drawingml/2006/main">
            <a:r>
              <a:t>          "check": "망·권한별 노출 결과와 원문·계산·카탈로그 대사"</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"사전공개 RFP 구성도·SFR-001~014",</a:t>
            </a:r>
          </a:p>
          <a:p xmlns:a="http://schemas.openxmlformats.org/drawingml/2006/main">
            <a:r>
              <a:t>        "extracted": "대민/임직원 서비스와 DB 분리, SSO/EAM·데이터 업로드 경계",</a:t>
            </a:r>
          </a:p>
          <a:p xmlns:a="http://schemas.openxmlformats.org/drawingml/2006/main">
            <a:r>
              <a:t>        "extension": "공개·내부 경계 교차 시험과 금융 산식의 독립 검산"</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"PF-R08",</a:t>
            </a:r>
          </a:p>
          <a:p xmlns:a="http://schemas.openxmlformats.org/drawingml/2006/main">
            <a:r>
              <a:t>          "path": "assets/casebook-sources/PF-R08-01.png",</a:t>
            </a:r>
          </a:p>
          <a:p xmlns:a="http://schemas.openxmlformats.org/drawingml/2006/main">
            <a:r>
              <a:t>          "title": "대민·임직원 AI 서비스 분리",</a:t>
            </a:r>
          </a:p>
          <a:p xmlns:a="http://schemas.openxmlformats.org/drawingml/2006/main">
            <a:r>
              <a:t>          "status": "사전공개 RFP 목표 구성도",</a:t>
            </a:r>
          </a:p>
          <a:p xmlns:a="http://schemas.openxmlformats.org/drawingml/2006/main">
            <a:r>
              <a:t>          "caption": "보안·서비스·데이터·관리 서브넷과 SSO·업무 데이터 경계",</a:t>
            </a:r>
          </a:p>
          <a:p xmlns:a="http://schemas.openxmlformats.org/drawingml/2006/main">
            <a:r>
              <a:t>          "locator": "rId20 / BinData/BIN0002_bmp",</a:t>
            </a:r>
          </a:p>
          <a:p xmlns:a="http://schemas.openxmlformats.org/drawingml/2006/main">
            <a:r>
              <a:t>          "checked": "2026-10-16",</a:t>
            </a:r>
          </a:p>
          <a:p xmlns:a="http://schemas.openxmlformats.org/drawingml/2006/main">
            <a:r>
              <a:t>          "sha256": "dbd84b9d88acec3c54802ec4cc6eacaf8a872223e2a7ee89fadf50a173e38803",</a:t>
            </a:r>
          </a:p>
          <a:p xmlns:a="http://schemas.openxmlformats.org/drawingml/2006/main">
            <a:r>
              <a:t>          "explanation": {</a:t>
            </a:r>
          </a:p>
          <a:p xmlns:a="http://schemas.openxmlformats.org/drawingml/2006/main">
            <a:r>
              <a:t>            "read": "사전공개 요구의 대국민·임직원 서비스와 데이터·네트워크 경계를 구분한 목표 구성. 공개 상담용 자료와 내부 안건·업무 자료를 서비스·저장 계층에서 분리하는 구조.",</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"SFR-005",</a:t>
            </a:r>
          </a:p>
          <a:p xmlns:a="http://schemas.openxmlformats.org/drawingml/2006/main">
            <a:r>
              <a:t>              "SFR-009"</a:t>
            </a:r>
          </a:p>
          <a:p xmlns:a="http://schemas.openxmlformats.org/drawingml/2006/main">
            <a:r>
              <a:t>            ],</a:t>
            </a:r>
          </a:p>
          <a:p xmlns:a="http://schemas.openxmlformats.org/drawingml/2006/main">
            <a:r>
              <a:t>            "connection": "같은 AI 기반을 쓰더라도 공개·내부 검색 범위와 문서 반입 경로를 별도로 검수하고 사용자 문맥·SSO·DRM 등 기존 통제와 연결하는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"PF-R08",</a:t>
            </a:r>
          </a:p>
          <a:p xmlns:a="http://schemas.openxmlformats.org/drawingml/2006/main">
            <a:r>
              <a:t>          "path": "assets/casebook-sources/PF-R08-02.png",</a:t>
            </a:r>
          </a:p>
          <a:p xmlns:a="http://schemas.openxmlformats.org/drawingml/2006/main">
            <a:r>
              <a:t>          "title": "데이터 카탈로그·업무 매핑",</a:t>
            </a:r>
          </a:p>
          <a:p xmlns:a="http://schemas.openxmlformats.org/drawingml/2006/main">
            <a:r>
              <a:t>          "status": "사전공개 RFP 데이터 구성도",</a:t>
            </a:r>
          </a:p>
          <a:p xmlns:a="http://schemas.openxmlformats.org/drawingml/2006/main">
            <a:r>
              <a:t>          "caption": "대시보드·통합검색·데이터등록·표준·품질과 업무 매핑",</a:t>
            </a:r>
          </a:p>
          <a:p xmlns:a="http://schemas.openxmlformats.org/drawingml/2006/main">
            <a:r>
              <a:t>          "locator": "rId20 / BinData/BIN0001_bmp",</a:t>
            </a:r>
          </a:p>
          <a:p xmlns:a="http://schemas.openxmlformats.org/drawingml/2006/main">
            <a:r>
              <a:t>          "checked": "2026-10-16",</a:t>
            </a:r>
          </a:p>
          <a:p xmlns:a="http://schemas.openxmlformats.org/drawingml/2006/main">
            <a:r>
              <a:t>          "sha256": "e91edef465c1a60d5edcd6288eefa4a5d158cd9980b9b941428685ef6e32a0f5",</a:t>
            </a:r>
          </a:p>
          <a:p xmlns:a="http://schemas.openxmlformats.org/drawingml/2006/main">
            <a:r>
              <a:t>          "explanation": {</a:t>
            </a:r>
          </a:p>
          <a:p xmlns:a="http://schemas.openxmlformats.org/drawingml/2006/main">
            <a:r>
              <a:t>            "read": "카탈로그와 MDMS·ECM 등 기존 데이터·문서 체계의 업무 연결. AI 답변에 앞서 어떤 데이터가 존재하고 누가 관리하며 어떤 업무에서 쓰는지 찾을 수 있도록 하는 정보 기반.",</a:t>
            </a:r>
          </a:p>
          <a:p xmlns:a="http://schemas.openxmlformats.org/drawingml/2006/main">
            <a:r>
              <a:t>            "requirements": [</a:t>
            </a:r>
          </a:p>
          <a:p xmlns:a="http://schemas.openxmlformats.org/drawingml/2006/main">
            <a:r>
              <a:t>              "SFR-012",</a:t>
            </a:r>
          </a:p>
          <a:p xmlns:a="http://schemas.openxmlformats.org/drawingml/2006/main">
            <a:r>
              <a:t>              "SFR-013",</a:t>
            </a:r>
          </a:p>
          <a:p xmlns:a="http://schemas.openxmlformats.org/drawingml/2006/main">
            <a:r>
              <a:t>              "SFR-014"</a:t>
            </a:r>
          </a:p>
          <a:p xmlns:a="http://schemas.openxmlformats.org/drawingml/2006/main">
            <a:r>
              <a:t>            ],</a:t>
            </a:r>
          </a:p>
          <a:p xmlns:a="http://schemas.openxmlformats.org/drawingml/2006/main">
            <a:r>
              <a:t>            "connection": "TS의 조직·업무 ID와 데이터 자산·소관 부서를 연결하고 문서 검색 권한과 카탈로그 설명의 공개 범위를 분리해 관리하는 적용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"외부 계정의 내부 안건 요청·DRM 제한·단위 오류",</a:t>
            </a:r>
          </a:p>
          <a:p xmlns:a="http://schemas.openxmlformats.org/drawingml/2006/main">
            <a:r>
              <a:t>        "hold": "망·권한·산식별 독립 검증",</a:t>
            </a:r>
          </a:p>
          <a:p xmlns:a="http://schemas.openxmlformats.org/drawingml/2006/main">
            <a:r>
              <a:t>        "recovery": "데이터 품질·민감정보·답변 품질 모니터링",</a:t>
            </a:r>
          </a:p>
          <a:p xmlns:a="http://schemas.openxmlformats.org/drawingml/2006/main">
            <a:r>
              <a:t>        "evidence": "망·권한별 노출 결과와 원문·계산·카탈로그 대사"</a:t>
            </a:r>
          </a:p>
          <a:p xmlns:a="http://schemas.openxmlformats.org/drawingml/2006/main">
            <a:r>
              <a:t>      },</a:t>
            </a:r>
          </a:p>
          <a:p xmlns:a="http://schemas.openxmlformats.org/drawingml/2006/main">
            <a:r>
              <a:t>      "data": {</a:t>
            </a:r>
          </a:p>
          <a:p xmlns:a="http://schemas.openxmlformats.org/drawingml/2006/main">
            <a:r>
              <a:t>        "source": "지식·안건·카탈로그",</a:t>
            </a:r>
          </a:p>
          <a:p xmlns:a="http://schemas.openxmlformats.org/drawingml/2006/main">
            <a:r>
              <a:t>        "prepare": "안건 메타데이터·정형/비정형 데이터 카탈로그",</a:t>
            </a:r>
          </a:p>
          <a:p xmlns:a="http://schemas.openxmlformats.org/drawingml/2006/main">
            <a:r>
              <a:t>        "output": "질의·권한",</a:t>
            </a:r>
          </a:p>
          <a:p xmlns:a="http://schemas.openxmlformats.org/drawingml/2006/main">
            <a:r>
              <a:t>        "refresh": "데이터 품질·민감정보·답변 품질 모니터링"</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"PF-R08",</a:t>
            </a:r>
          </a:p>
          <a:p xmlns:a="http://schemas.openxmlformats.org/drawingml/2006/main">
            <a:r>
              <a:t>    "success": [</a:t>
            </a:r>
          </a:p>
          <a:p xmlns:a="http://schemas.openxmlformats.org/drawingml/2006/main">
            <a:r>
              <a:t>      "대국민·사내 지식 경계 분리",</a:t>
            </a:r>
          </a:p>
          <a:p xmlns:a="http://schemas.openxmlformats.org/drawingml/2006/main">
            <a:r>
              <a:t>      "카탈로그와 데이터 통제 결합"</a:t>
            </a:r>
          </a:p>
          <a:p xmlns:a="http://schemas.openxmlformats.org/drawingml/2006/main">
            <a:r>
              <a:t>    ],</a:t>
            </a:r>
          </a:p>
          <a:p xmlns:a="http://schemas.openxmlformats.org/drawingml/2006/main">
            <a:r>
              <a:t>    "risks": [</a:t>
            </a:r>
          </a:p>
          <a:p xmlns:a="http://schemas.openxmlformats.org/drawingml/2006/main">
            <a:r>
              <a:t>      "DRM·접근권한 전파 누락",</a:t>
            </a:r>
          </a:p>
          <a:p xmlns:a="http://schemas.openxmlformats.org/drawingml/2006/main">
            <a:r>
              <a:t>      "금융 산식·단위 오류"</a:t>
            </a:r>
          </a:p>
          <a:p xmlns:a="http://schemas.openxmlformats.org/drawingml/2006/main">
            <a:r>
              <a:t>    ],</a:t>
            </a:r>
          </a:p>
          <a:p xmlns:a="http://schemas.openxmlformats.org/drawingml/2006/main">
            <a:r>
              <a:t>    "architecture": [</a:t>
            </a:r>
          </a:p>
          <a:p xmlns:a="http://schemas.openxmlformats.org/drawingml/2006/main">
            <a:r>
              <a:t>      "국민·직원 접점",</a:t>
            </a:r>
          </a:p>
          <a:p xmlns:a="http://schemas.openxmlformats.org/drawingml/2006/main">
            <a:r>
              <a:t>      "검색·요약·산식 검토",</a:t>
            </a:r>
          </a:p>
          <a:p xmlns:a="http://schemas.openxmlformats.org/drawingml/2006/main">
            <a:r>
              <a:t>      "지식·안건·카탈로그",</a:t>
            </a:r>
          </a:p>
          <a:p xmlns:a="http://schemas.openxmlformats.org/drawingml/2006/main">
            <a:r>
              <a:t>      "업무 검토자"</a:t>
            </a:r>
          </a:p>
          <a:p xmlns:a="http://schemas.openxmlformats.org/drawingml/2006/main">
            <a:r>
              <a:t>    ],</a:t>
            </a:r>
          </a:p>
          <a:p xmlns:a="http://schemas.openxmlformats.org/drawingml/2006/main">
            <a:r>
              <a:t>    "transfers": [</a:t>
            </a:r>
          </a:p>
          <a:p xmlns:a="http://schemas.openxmlformats.org/drawingml/2006/main">
            <a:r>
              <a:t>      "질의·권한",</a:t>
            </a:r>
          </a:p>
          <a:p xmlns:a="http://schemas.openxmlformats.org/drawingml/2006/main">
            <a:r>
              <a:t>      "허용 근거",</a:t>
            </a:r>
          </a:p>
          <a:p xmlns:a="http://schemas.openxmlformats.org/drawingml/2006/main">
            <a:r>
              <a:t>      "요약·계산",</a:t>
            </a:r>
          </a:p>
          <a:p xmlns:a="http://schemas.openxmlformats.org/drawingml/2006/main">
            <a:r>
              <a:t>      "검토 결과"</a:t>
            </a:r>
          </a:p>
          <a:p xmlns:a="http://schemas.openxmlformats.org/drawingml/2006/main">
            <a:r>
              <a:t>    ],</a:t>
            </a:r>
          </a:p>
          <a:p xmlns:a="http://schemas.openxmlformats.org/drawingml/2006/main">
            <a:r>
              <a:t>    "control": "망·권한·산식별 독립 검증",</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SFR-001~014, DAR·CNR / Word T089 https://www.g2b.go.kr/pn/pnz/pnza/UntyAtchFile/downloadFile.do?bfSpecRegNo=R26BD00217546&amp;fileType=BFDTL&amp;fileSeq=1</a:t>
            </a:r>
          </a:p>
          <a:p xmlns:a="http://schemas.openxmlformats.org/drawingml/2006/main">
            <a:r>
              <a:t>홈페이지 https://heen1987-ops.github.io/TS-business-Plan-001/index.html?view=platform-cases&amp;case=PF-R08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"PF-R08",</a:t>
            </a:r>
          </a:p>
          <a:p xmlns:a="http://schemas.openxmlformats.org/drawingml/2006/main">
            <a:r>
              <a:t>    "sourceId": "R08",</a:t>
            </a:r>
          </a:p>
          <a:p xmlns:a="http://schemas.openxmlformats.org/drawingml/2006/main">
            <a:r>
              <a:t>    "title": "예금보험공사 생성형 AI",</a:t>
            </a:r>
          </a:p>
          <a:p xmlns:a="http://schemas.openxmlformats.org/drawingml/2006/main">
            <a:r>
              <a:t>    "region": "국내",</a:t>
            </a:r>
          </a:p>
          <a:p xmlns:a="http://schemas.openxmlformats.org/drawingml/2006/main">
            <a:r>
              <a:t>    "owner": "예금보험공사",</a:t>
            </a:r>
          </a:p>
          <a:p xmlns:a="http://schemas.openxmlformats.org/drawingml/2006/main">
            <a:r>
              <a:t>    "state": "사전규격 RFP + 공급사 계약 발표 확인 / 최종본·준공 미확인",</a:t>
            </a:r>
          </a:p>
          <a:p xmlns:a="http://schemas.openxmlformats.org/drawingml/2006/main">
            <a:r>
              <a:t>    "period": "기존 원장 확인 2026.10.16",</a:t>
            </a:r>
          </a:p>
          <a:p xmlns:a="http://schemas.openxmlformats.org/drawingml/2006/main">
            <a:r>
              <a:t>    "fact": "대국민 챗봇·사내 챗봇·금융위 안건 검색요약 + 데이터 카탈로그/거버넌스",</a:t>
            </a:r>
          </a:p>
          <a:p xmlns:a="http://schemas.openxmlformats.org/drawingml/2006/main">
            <a:r>
              <a:t>    "limit": "학습용 FAQ500건과 서비스별 검증셋500건은 별도 요구. 계획상 수치를 운영 실적으로 사용하지 않음",</a:t>
            </a:r>
          </a:p>
          <a:p xmlns:a="http://schemas.openxmlformats.org/drawingml/2006/main">
            <a:r>
              <a:t>    "nodes": [</a:t>
            </a:r>
          </a:p>
          <a:p xmlns:a="http://schemas.openxmlformats.org/drawingml/2006/main">
            <a:r>
              <a:t>      "지식·안건",</a:t>
            </a:r>
          </a:p>
          <a:p xmlns:a="http://schemas.openxmlformats.org/drawingml/2006/main">
            <a:r>
              <a:t>      "권한·망·DRM",</a:t>
            </a:r>
          </a:p>
          <a:p xmlns:a="http://schemas.openxmlformats.org/drawingml/2006/main">
            <a:r>
              <a:t>      "검색·산식 검증",</a:t>
            </a:r>
          </a:p>
          <a:p xmlns:a="http://schemas.openxmlformats.org/drawingml/2006/main">
            <a:r>
              <a:t>      "평가·운영"</a:t>
            </a:r>
          </a:p>
          <a:p xmlns:a="http://schemas.openxmlformats.org/drawingml/2006/main">
            <a:r>
              <a:t>    ],</a:t>
            </a:r>
          </a:p>
          <a:p xmlns:a="http://schemas.openxmlformats.org/drawingml/2006/main">
            <a:r>
              <a:t>    "apply": "대민·내부 지식 경계와 데이터 카탈로그를 함께 설계하는 정보 제공",</a:t>
            </a:r>
          </a:p>
          <a:p xmlns:a="http://schemas.openxmlformats.org/drawingml/2006/main">
            <a:r>
              <a:t>    "delta": "내외부 지식·망 분리 / 문서 DRM·권한 / 안건·산식·데이터 카탈로그",</a:t>
            </a:r>
          </a:p>
          <a:p xmlns:a="http://schemas.openxmlformats.org/drawingml/2006/main">
            <a:r>
              <a:t>    "test": "외부 계정의 내부자료 요청·DRM·산식 오류에 대한 독립 검증",</a:t>
            </a:r>
          </a:p>
          <a:p xmlns:a="http://schemas.openxmlformats.org/drawingml/2006/main">
            <a:r>
              <a:t>    "url": "https://www.g2b.go.kr/pn/pnz/pnza/UntyAtchFile/downloadFile.do?bfSpecRegNo=R26BD00217546&amp;fileType=BFDTL&amp;fileSeq=1",</a:t>
            </a:r>
          </a:p>
          <a:p xmlns:a="http://schemas.openxmlformats.org/drawingml/2006/main">
            <a:r>
              <a:t>    "urls": [</a:t>
            </a:r>
          </a:p>
          <a:p xmlns:a="http://schemas.openxmlformats.org/drawingml/2006/main">
            <a:r>
              <a:t>      "https://www.g2b.go.kr/pn/pnz/pnza/UntyAtchFile/downloadFile.do?bfSpecRegNo=R26BD00217546&amp;fileType=BFDTL&amp;fileSeq=1",</a:t>
            </a:r>
          </a:p>
          <a:p xmlns:a="http://schemas.openxmlformats.org/drawingml/2006/main">
            <a:r>
              <a:t>      "https://clabi.ai/news/fe55039a-f069-4218-aa5a-0c1057c5ca92"</a:t>
            </a:r>
          </a:p>
          <a:p xmlns:a="http://schemas.openxmlformats.org/drawingml/2006/main">
            <a:r>
              <a:t>    ],</a:t>
            </a:r>
          </a:p>
          <a:p xmlns:a="http://schemas.openxmlformats.org/drawingml/2006/main">
            <a:r>
              <a:t>    "basis": "SFR-001~014, DAR·CNR / Word T089",</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"비인가 노출 건수 / 원천 추적률 / 안건 검토시간",</a:t>
            </a:r>
          </a:p>
          <a:p xmlns:a="http://schemas.openxmlformats.org/drawingml/2006/main">
            <a:r>
              <a:t>    "group": "요구·구축",</a:t>
            </a:r>
          </a:p>
          <a:p xmlns:a="http://schemas.openxmlformats.org/drawingml/2006/main">
            <a:r>
              <a:t>    "sourceDetail": "망·DRM·권한 연계; 안건 메타데이터 범위검색; 규정 산식 교차검증; 모델라우팅·평가·모니터링",</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"PF-R08",</a:t>
            </a:r>
          </a:p>
          <a:p xmlns:a="http://schemas.openxmlformats.org/drawingml/2006/main">
            <a:r>
              <a:t>    "canonicalId": "PF-R08",</a:t>
            </a:r>
          </a:p>
          <a:p xmlns:a="http://schemas.openxmlformats.org/drawingml/2006/main">
            <a:r>
              <a:t>    "purpose": "대민·사내 AI와 데이터 관리체계의 공동 구축",</a:t>
            </a:r>
          </a:p>
          <a:p xmlns:a="http://schemas.openxmlformats.org/drawingml/2006/main">
            <a:r>
              <a:t>    "users": "국민·직원·안건 검토자·데이터 담당",</a:t>
            </a:r>
          </a:p>
          <a:p xmlns:a="http://schemas.openxmlformats.org/drawingml/2006/main">
            <a:r>
              <a:t>    "scope": [</a:t>
            </a:r>
          </a:p>
          <a:p xmlns:a="http://schemas.openxmlformats.org/drawingml/2006/main">
            <a:r>
              <a:t>      "챗봇",</a:t>
            </a:r>
          </a:p>
          <a:p xmlns:a="http://schemas.openxmlformats.org/drawingml/2006/main">
            <a:r>
              <a:t>      "안건 검색·요약",</a:t>
            </a:r>
          </a:p>
          <a:p xmlns:a="http://schemas.openxmlformats.org/drawingml/2006/main">
            <a:r>
              <a:t>      "카탈로그"</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"국민·직원 접점",</a:t>
            </a:r>
          </a:p>
          <a:p xmlns:a="http://schemas.openxmlformats.org/drawingml/2006/main">
            <a:r>
              <a:t>        "detail": "외부·내부 접점과 망·계정·DRM 경계 분리",</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"챗봇 / 안건 검색·요약 / 카탈로그",</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"검색·요약·산식 검토",</a:t>
            </a:r>
          </a:p>
          <a:p xmlns:a="http://schemas.openxmlformats.org/drawingml/2006/main">
            <a:r>
              <a:t>        "detail": "검색·요약·모델 라우팅·산식 검증",</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"업무 검토자",</a:t>
            </a:r>
          </a:p>
          <a:p xmlns:a="http://schemas.openxmlformats.org/drawingml/2006/main">
            <a:r>
              <a:t>        "detail": "권한 내 요약·계산 결과의 담당자 검토",</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"지식·안건·카탈로그",</a:t>
            </a:r>
          </a:p>
          <a:p xmlns:a="http://schemas.openxmlformats.org/drawingml/2006/main">
            <a:r>
              <a:t>        "detail": "안건 메타데이터·정형/비정형 데이터 카탈로그",</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"데이터 품질·민감정보·답변 품질 모니터링",</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"지식·안건",</a:t>
            </a:r>
          </a:p>
          <a:p xmlns:a="http://schemas.openxmlformats.org/drawingml/2006/main">
            <a:r>
              <a:t>        "input": "외부·내부 접점과 망·계정·DRM 경계 분리",</a:t>
            </a:r>
          </a:p>
          <a:p xmlns:a="http://schemas.openxmlformats.org/drawingml/2006/main">
            <a:r>
              <a:t>        "process": "안건 메타데이터·정형/비정형 데이터 카탈로그",</a:t>
            </a:r>
          </a:p>
          <a:p xmlns:a="http://schemas.openxmlformats.org/drawingml/2006/main">
            <a:r>
              <a:t>        "output": "질의·권한"</a:t>
            </a:r>
          </a:p>
          <a:p xmlns:a="http://schemas.openxmlformats.org/drawingml/2006/main">
            <a:r>
              <a:t>      },</a:t>
            </a:r>
          </a:p>
          <a:p xmlns:a="http://schemas.openxmlformats.org/drawingml/2006/main">
            <a:r>
              <a:t>      {</a:t>
            </a:r>
          </a:p>
          <a:p xmlns:a="http://schemas.openxmlformats.org/drawingml/2006/main">
            <a:r>
              <a:t>        "title": "권한·망·DRM",</a:t>
            </a:r>
          </a:p>
          <a:p xmlns:a="http://schemas.openxmlformats.org/drawingml/2006/main">
            <a:r>
              <a:t>        "input": "질의·권한",</a:t>
            </a:r>
          </a:p>
          <a:p xmlns:a="http://schemas.openxmlformats.org/drawingml/2006/main">
            <a:r>
              <a:t>        "process": "검색·요약·모델 라우팅·산식 검증",</a:t>
            </a:r>
          </a:p>
          <a:p xmlns:a="http://schemas.openxmlformats.org/drawingml/2006/main">
            <a:r>
              <a:t>        "output": "허용 근거"</a:t>
            </a:r>
          </a:p>
          <a:p xmlns:a="http://schemas.openxmlformats.org/drawingml/2006/main">
            <a:r>
              <a:t>      },</a:t>
            </a:r>
          </a:p>
          <a:p xmlns:a="http://schemas.openxmlformats.org/drawingml/2006/main">
            <a:r>
              <a:t>      {</a:t>
            </a:r>
          </a:p>
          <a:p xmlns:a="http://schemas.openxmlformats.org/drawingml/2006/main">
            <a:r>
              <a:t>        "title": "검색·산식 검증",</a:t>
            </a:r>
          </a:p>
          <a:p xmlns:a="http://schemas.openxmlformats.org/drawingml/2006/main">
            <a:r>
              <a:t>        "input": "허용 근거",</a:t>
            </a:r>
          </a:p>
          <a:p xmlns:a="http://schemas.openxmlformats.org/drawingml/2006/main">
            <a:r>
              <a:t>        "process": "망·권한·산식별 독립 검증",</a:t>
            </a:r>
          </a:p>
          <a:p xmlns:a="http://schemas.openxmlformats.org/drawingml/2006/main">
            <a:r>
              <a:t>        "output": "요약·계산"</a:t>
            </a:r>
          </a:p>
          <a:p xmlns:a="http://schemas.openxmlformats.org/drawingml/2006/main">
            <a:r>
              <a:t>      },</a:t>
            </a:r>
          </a:p>
          <a:p xmlns:a="http://schemas.openxmlformats.org/drawingml/2006/main">
            <a:r>
              <a:t>      {</a:t>
            </a:r>
          </a:p>
          <a:p xmlns:a="http://schemas.openxmlformats.org/drawingml/2006/main">
            <a:r>
              <a:t>        "title": "평가·운영",</a:t>
            </a:r>
          </a:p>
          <a:p xmlns:a="http://schemas.openxmlformats.org/drawingml/2006/main">
            <a:r>
              <a:t>        "input": "요약·계산",</a:t>
            </a:r>
          </a:p>
          <a:p xmlns:a="http://schemas.openxmlformats.org/drawingml/2006/main">
            <a:r>
              <a:t>        "process": "권한 내 요약·계산 결과의 담당자 검토",</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"허용된 안건만 검색·요약하고 규정 산식을 독립 확인",</a:t>
            </a:r>
          </a:p>
          <a:p xmlns:a="http://schemas.openxmlformats.org/drawingml/2006/main">
            <a:r>
              <a:t>      "exception": "외부 계정의 내부 안건 요청·DRM 제한·단위 오류",</a:t>
            </a:r>
          </a:p>
          <a:p xmlns:a="http://schemas.openxmlformats.org/drawingml/2006/main">
            <a:r>
              <a:t>      "evidence": "망·권한별 노출 결과와 원문·계산·카탈로그 대사",</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"국민·직원·안건 검토자·데이터 담당",</a:t>
            </a:r>
          </a:p>
          <a:p xmlns:a="http://schemas.openxmlformats.org/drawingml/2006/main">
            <a:r>
              <a:t>          "processing": "외부·내부 접점과 망·계정·DRM 경계 분리",</a:t>
            </a:r>
          </a:p>
          <a:p xmlns:a="http://schemas.openxmlformats.org/drawingml/2006/main">
            <a:r>
              <a:t>          "output": "질의·권한"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"지식·안건·카탈로그",</a:t>
            </a:r>
          </a:p>
          <a:p xmlns:a="http://schemas.openxmlformats.org/drawingml/2006/main">
            <a:r>
              <a:t>          "processing": "안건 메타데이터·정형/비정형 데이터 카탈로그",</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"질의·권한",</a:t>
            </a:r>
          </a:p>
          <a:p xmlns:a="http://schemas.openxmlformats.org/drawingml/2006/main">
            <a:r>
              <a:t>          "processing": "검색·요약·모델 라우팅·산식 검증",</a:t>
            </a:r>
          </a:p>
          <a:p xmlns:a="http://schemas.openxmlformats.org/drawingml/2006/main">
            <a:r>
              <a:t>          "output": "요약·계산"</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"요약·계산",</a:t>
            </a:r>
          </a:p>
          <a:p xmlns:a="http://schemas.openxmlformats.org/drawingml/2006/main">
            <a:r>
              <a:t>          "processing": "권한 내 요약·계산 결과의 담당자 검토",</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"데이터 품질·민감정보·답변 품질 모니터링",</a:t>
            </a:r>
          </a:p>
          <a:p xmlns:a="http://schemas.openxmlformats.org/drawingml/2006/main">
            <a:r>
              <a:t>          "output": "망·권한별 노출 결과와 원문·계산·카탈로그 대사"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"데이터 품질·민감정보·답변 품질 모니터링",</a:t>
            </a:r>
          </a:p>
          <a:p xmlns:a="http://schemas.openxmlformats.org/drawingml/2006/main">
            <a:r>
              <a:t>    "status": "RFP 기반 논리 설계",</a:t>
            </a:r>
          </a:p>
          <a:p xmlns:a="http://schemas.openxmlformats.org/drawingml/2006/main">
            <a:r>
              <a:t>    "basis": "사전공개 RFP 2026.04 · SFR-001~014·DAR·CNR",</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"SFR-001~014, DAR·CNR / Word T089",</a:t>
            </a:r>
          </a:p>
          <a:p xmlns:a="http://schemas.openxmlformats.org/drawingml/2006/main">
            <a:r>
              <a:t>        "url": "https://www.g2b.go.kr/pn/pnz/pnza/UntyAtchFile/downloadFile.do?bfSpecRegNo=R26BD00217546&amp;fileType=BFDTL&amp;fileSeq=1"</a:t>
            </a:r>
          </a:p>
          <a:p xmlns:a="http://schemas.openxmlformats.org/drawingml/2006/main">
            <a:r>
              <a:t>      }</a:t>
            </a:r>
          </a:p>
          <a:p xmlns:a="http://schemas.openxmlformats.org/drawingml/2006/main">
            <a:r>
              <a:t>    ],</a:t>
            </a:r>
          </a:p>
          <a:p xmlns:a="http://schemas.openxmlformats.org/drawingml/2006/main">
            <a:r>
              <a:t>    "implication": "대민·내부 지식 경계와 데이터 카탈로그를 함께 설계하는 정보 제공",</a:t>
            </a:r>
          </a:p>
          <a:p xmlns:a="http://schemas.openxmlformats.org/drawingml/2006/main">
            <a:r>
              <a:t>    "local": "대민·내부 지식 경계와 데이터 카탈로그를 함께 설계하는 정보 제공",</a:t>
            </a:r>
          </a:p>
          <a:p xmlns:a="http://schemas.openxmlformats.org/drawingml/2006/main">
            <a:r>
              <a:t>    "sourceDetail": "망·DRM·권한 연계; 안건 메타데이터 범위검색; 규정 산식 교차검증; 모델라우팅·평가·모니터링",</a:t>
            </a:r>
          </a:p>
          <a:p xmlns:a="http://schemas.openxmlformats.org/drawingml/2006/main">
            <a:r>
              <a:t>    "narrative": [</a:t>
            </a:r>
          </a:p>
          <a:p xmlns:a="http://schemas.openxmlformats.org/drawingml/2006/main">
            <a:r>
              <a:t>      "대국민 챗봇, 임직원 지식 활용, 안건 검색·요약과 데이터 카탈로그를 함께 다루는 생성형 AI 플랫폼 계획. 대외 공개 지식과 내부 업무 자료를 같은 검색 범위로 취급하지 않는 것이 구성의 출발점.",</a:t>
            </a:r>
          </a:p>
          <a:p xmlns:a="http://schemas.openxmlformats.org/drawingml/2006/main">
            <a:r>
              <a:t>      "사전공개 RFP 도면은 대민·임직원 서비스를 나누고 각각 보안·서비스·데이터·관리 서브넷을 배치. 내부 영역은 SSO/EAM·ECM·업무 시스템과 연결하고, 별도 데이터 카탈로그는 업무분류체계·담당부서·메타데이터·사용승인을 연결하는 구조.",</a:t>
            </a:r>
          </a:p>
          <a:p xmlns:a="http://schemas.openxmlformats.org/drawingml/2006/main">
            <a:r>
              <a:t>      "TS 조직 기반 플랫폼에서는 직원이 누구인지뿐 아니라 특정 데이터의 업무 소관·활용 목적·승인 조건을 함께 관리하는 참고 사례. CCK 추가 개발은 조직·업무 사전과 카탈로그의 연결, DRM·권한 전파, 안건 범위검색, 산식 검증의 업무별 분리. 사전공개 요구와 실제 운영 성과는 별도 증빙으로 평가."</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"SFR-003",</a:t>
            </a:r>
          </a:p>
          <a:p xmlns:a="http://schemas.openxmlformats.org/drawingml/2006/main">
            <a:r>
              <a:t>        "title": "AI 서비스 에이전트 관리 기능",</a:t>
            </a:r>
          </a:p>
          <a:p xmlns:a="http://schemas.openxmlformats.org/drawingml/2006/main">
            <a:r>
              <a:t>        "locator": "SFR-003",</a:t>
            </a:r>
          </a:p>
          <a:p xmlns:a="http://schemas.openxmlformats.org/drawingml/2006/main">
            <a:r>
              <a:t>        "summary": "AI 에이전트의 구성·운영 관리 기능.",</a:t>
            </a:r>
          </a:p>
          <a:p xmlns:a="http://schemas.openxmlformats.org/drawingml/2006/main">
            <a:r>
              <a:t>        "data": "에이전트 설정·도구 → 실행 상태·관리 기록",</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"C08"</a:t>
            </a:r>
          </a:p>
          <a:p xmlns:a="http://schemas.openxmlformats.org/drawingml/2006/main">
            <a:r>
              <a:t>        ],</a:t>
            </a:r>
          </a:p>
          <a:p xmlns:a="http://schemas.openxmlformats.org/drawingml/2006/main">
            <a:r>
              <a:t>        "acceptance": "잘못된 도구 권한과 구성 변경 시 실행 차단·판본 추적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"1590814bc8f7ceb1abe4749ac8c848bd13cc7c8da0eb672ad1ee7d69ba045a3f"</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"AI 서비스 RAG 기능",</a:t>
            </a:r>
          </a:p>
          <a:p xmlns:a="http://schemas.openxmlformats.org/drawingml/2006/main">
            <a:r>
              <a:t>        "locator": "SFR-004",</a:t>
            </a:r>
          </a:p>
          <a:p xmlns:a="http://schemas.openxmlformats.org/drawingml/2006/main">
            <a:r>
              <a:t>        "summary": "업무 지식을 검색해 생성 응답에 연결하는 RAG 기능.",</a:t>
            </a:r>
          </a:p>
          <a:p xmlns:a="http://schemas.openxmlformats.org/drawingml/2006/main">
            <a:r>
              <a:t>        "data": "질의·허용 문서 → 근거·응답",</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"C11"</a:t>
            </a:r>
          </a:p>
          <a:p xmlns:a="http://schemas.openxmlformats.org/drawingml/2006/main">
            <a:r>
              <a:t>        ],</a:t>
            </a:r>
          </a:p>
          <a:p xmlns:a="http://schemas.openxmlformats.org/drawingml/2006/main">
            <a:r>
              <a:t>        "acceptance": "사내·대국민 문서 혼재 시 검색 범위 분리와 출처 정확성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"6779cdd1e875adfd01a03d244801be17e636a2a970a25d78c0009ee42d836beb"</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"AI 서비스 데이터 파이프라인 자동화 기능",</a:t>
            </a:r>
          </a:p>
          <a:p xmlns:a="http://schemas.openxmlformats.org/drawingml/2006/main">
            <a:r>
              <a:t>        "locator": "SFR-005",</a:t>
            </a:r>
          </a:p>
          <a:p xmlns:a="http://schemas.openxmlformats.org/drawingml/2006/main">
            <a:r>
              <a:t>        "summary": "원천 자료의 수집·전처리·검색 반영 데이터 파이프라인.",</a:t>
            </a:r>
          </a:p>
          <a:p xmlns:a="http://schemas.openxmlformats.org/drawingml/2006/main">
            <a:r>
              <a:t>        "data": "원천 문서·메타정보 → 검색용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"등록·개정·삭제·정제 실패의 처리 결과와 원천 변경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"ce9810ce185079fa2fef5d1208af96a3a07ef6e6e5ca1ec36d2dd7a42c90df96"</a:t>
            </a:r>
          </a:p>
          <a:p xmlns:a="http://schemas.openxmlformats.org/drawingml/2006/main">
            <a:r>
              <a:t>      },</a:t>
            </a:r>
          </a:p>
          <a:p xmlns:a="http://schemas.openxmlformats.org/drawingml/2006/main">
            <a:r>
              <a:t>      {</a:t>
            </a:r>
          </a:p>
          <a:p xmlns:a="http://schemas.openxmlformats.org/drawingml/2006/main">
            <a:r>
              <a:t>        "id": "SFR-009",</a:t>
            </a:r>
          </a:p>
          <a:p xmlns:a="http://schemas.openxmlformats.org/drawingml/2006/main">
            <a:r>
              <a:t>        "title": "AI 서비스(사내 AI 챗봇 서비스) 구축",</a:t>
            </a:r>
          </a:p>
          <a:p xmlns:a="http://schemas.openxmlformats.org/drawingml/2006/main">
            <a:r>
              <a:t>        "locator": "SFR-009",</a:t>
            </a:r>
          </a:p>
          <a:p xmlns:a="http://schemas.openxmlformats.org/drawingml/2006/main">
            <a:r>
              <a:t>        "summary": "사내 직원용 업무 지식 챗봇 기능.",</a:t>
            </a:r>
          </a:p>
          <a:p xmlns:a="http://schemas.openxmlformats.org/drawingml/2006/main">
            <a:r>
              <a:t>        "data": "직원 질의·직무 문맥 → 업무 답변·근거",</a:t>
            </a:r>
          </a:p>
          <a:p xmlns:a="http://schemas.openxmlformats.org/drawingml/2006/main">
            <a:r>
              <a:t>        "components": [</a:t>
            </a:r>
          </a:p>
          <a:p xmlns:a="http://schemas.openxmlformats.org/drawingml/2006/main">
            <a:r>
              <a:t>          "C01",</a:t>
            </a:r>
          </a:p>
          <a:p xmlns:a="http://schemas.openxmlformats.org/drawingml/2006/main">
            <a:r>
              <a:t>          "C03",</a:t>
            </a:r>
          </a:p>
          <a:p xmlns:a="http://schemas.openxmlformats.org/drawingml/2006/main">
            <a:r>
              <a:t>          "C06"</a:t>
            </a:r>
          </a:p>
          <a:p xmlns:a="http://schemas.openxmlformats.org/drawingml/2006/main">
            <a:r>
              <a:t>        ],</a:t>
            </a:r>
          </a:p>
          <a:p xmlns:a="http://schemas.openxmlformats.org/drawingml/2006/main">
            <a:r>
              <a:t>        "acceptance": "동일 질의의 직무별 관련성, 비공개 자료 접근, 최신 규정 인용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"45f7da3f2df0a14850c6f9716076e421210ba97cb8aefec195a8439a0225ff95"</a:t>
            </a:r>
          </a:p>
          <a:p xmlns:a="http://schemas.openxmlformats.org/drawingml/2006/main">
            <a:r>
              <a:t>      },</a:t>
            </a:r>
          </a:p>
          <a:p xmlns:a="http://schemas.openxmlformats.org/drawingml/2006/main">
            <a:r>
              <a:t>      {</a:t>
            </a:r>
          </a:p>
          <a:p xmlns:a="http://schemas.openxmlformats.org/drawingml/2006/main">
            <a:r>
              <a:t>        "id": "SFR-012",</a:t>
            </a:r>
          </a:p>
          <a:p xmlns:a="http://schemas.openxmlformats.org/drawingml/2006/main">
            <a:r>
              <a:t>        "title": "데이터 카탈로그 일반 사항",</a:t>
            </a:r>
          </a:p>
          <a:p xmlns:a="http://schemas.openxmlformats.org/drawingml/2006/main">
            <a:r>
              <a:t>        "locator": "SFR-012",</a:t>
            </a:r>
          </a:p>
          <a:p xmlns:a="http://schemas.openxmlformats.org/drawingml/2006/main">
            <a:r>
              <a:t>        "summary": "전사 데이터 카탈로그의 공통 기능 구성.",</a:t>
            </a:r>
          </a:p>
          <a:p xmlns:a="http://schemas.openxmlformats.org/drawingml/2006/main">
            <a:r>
              <a:t>        "data": "데이터 자산·설명 → 탐색 가능한 카탈로그",</a:t>
            </a:r>
          </a:p>
          <a:p xmlns:a="http://schemas.openxmlformats.org/drawingml/2006/main">
            <a:r>
              <a:t>        "components": [</a:t>
            </a:r>
          </a:p>
          <a:p xmlns:a="http://schemas.openxmlformats.org/drawingml/2006/main">
            <a:r>
              <a:t>          "C09",</a:t>
            </a:r>
          </a:p>
          <a:p xmlns:a="http://schemas.openxmlformats.org/drawingml/2006/main">
            <a:r>
              <a:t>          "C11"</a:t>
            </a:r>
          </a:p>
          <a:p xmlns:a="http://schemas.openxmlformats.org/drawingml/2006/main">
            <a:r>
              <a:t>        ],</a:t>
            </a:r>
          </a:p>
          <a:p xmlns:a="http://schemas.openxmlformats.org/drawingml/2006/main">
            <a:r>
              <a:t>        "acceptance": "자산 식별자·담당자·설명의 원천 일치와 누락 항목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"c47acd02115ea8639438099db14eb807ebb43602a58a27a75e57bd7c44a01747"</a:t>
            </a:r>
          </a:p>
          <a:p xmlns:a="http://schemas.openxmlformats.org/drawingml/2006/main">
            <a:r>
              <a:t>      },</a:t>
            </a:r>
          </a:p>
          <a:p xmlns:a="http://schemas.openxmlformats.org/drawingml/2006/main">
            <a:r>
              <a:t>      {</a:t>
            </a:r>
          </a:p>
          <a:p xmlns:a="http://schemas.openxmlformats.org/drawingml/2006/main">
            <a:r>
              <a:t>        "id": "SFR-013",</a:t>
            </a:r>
          </a:p>
          <a:p xmlns:a="http://schemas.openxmlformats.org/drawingml/2006/main">
            <a:r>
              <a:t>        "title": "데이터 카탈로그 공사 맞춤 개발",</a:t>
            </a:r>
          </a:p>
          <a:p xmlns:a="http://schemas.openxmlformats.org/drawingml/2006/main">
            <a:r>
              <a:t>        "locator": "SFR-013",</a:t>
            </a:r>
          </a:p>
          <a:p xmlns:a="http://schemas.openxmlformats.org/drawingml/2006/main">
            <a:r>
              <a:t>        "summary": "기관 업무에 맞춘 데이터 카탈로그 구성과 활용.",</a:t>
            </a:r>
          </a:p>
          <a:p xmlns:a="http://schemas.openxmlformats.org/drawingml/2006/main">
            <a:r>
              <a:t>        "data": "업무 분류·사용자 문맥 → 맞춤 자산 정보",</a:t>
            </a:r>
          </a:p>
          <a:p xmlns:a="http://schemas.openxmlformats.org/drawingml/2006/main">
            <a:r>
              <a:t>        "components": [</a:t>
            </a:r>
          </a:p>
          <a:p xmlns:a="http://schemas.openxmlformats.org/drawingml/2006/main">
            <a:r>
              <a:t>          "C02",</a:t>
            </a:r>
          </a:p>
          <a:p xmlns:a="http://schemas.openxmlformats.org/drawingml/2006/main">
            <a:r>
              <a:t>          "C11",</a:t>
            </a:r>
          </a:p>
          <a:p xmlns:a="http://schemas.openxmlformats.org/drawingml/2006/main">
            <a:r>
              <a:t>          "C12"</a:t>
            </a:r>
          </a:p>
          <a:p xmlns:a="http://schemas.openxmlformats.org/drawingml/2006/main">
            <a:r>
              <a:t>        ],</a:t>
            </a:r>
          </a:p>
          <a:p xmlns:a="http://schemas.openxmlformats.org/drawingml/2006/main">
            <a:r>
              <a:t>        "acceptance": "부서·업무 분류 변경과 사용자 권한에 따른 자산 정보 표시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"dbe676ae5dc97c22a843994b927807e364fb8221c6d23ce8fb0b11a860ffc1b0"</a:t>
            </a:r>
          </a:p>
          <a:p xmlns:a="http://schemas.openxmlformats.org/drawingml/2006/main">
            <a:r>
              <a:t>      },</a:t>
            </a:r>
          </a:p>
          <a:p xmlns:a="http://schemas.openxmlformats.org/drawingml/2006/main">
            <a:r>
              <a:t>      {</a:t>
            </a:r>
          </a:p>
          <a:p xmlns:a="http://schemas.openxmlformats.org/drawingml/2006/main">
            <a:r>
              <a:t>        "id": "SFR-014",</a:t>
            </a:r>
          </a:p>
          <a:p xmlns:a="http://schemas.openxmlformats.org/drawingml/2006/main">
            <a:r>
              <a:t>        "title": "데이터 카탈로그 검색 기능",</a:t>
            </a:r>
          </a:p>
          <a:p xmlns:a="http://schemas.openxmlformats.org/drawingml/2006/main">
            <a:r>
              <a:t>        "locator": "SFR-014",</a:t>
            </a:r>
          </a:p>
          <a:p xmlns:a="http://schemas.openxmlformats.org/drawingml/2006/main">
            <a:r>
              <a:t>        "summary": "카탈로그의 데이터 자산 검색 기능.",</a:t>
            </a:r>
          </a:p>
          <a:p xmlns:a="http://schemas.openxmlformats.org/drawingml/2006/main">
            <a:r>
              <a:t>        "data": "자산명·업무 용어 → 관련 자산·설명",</a:t>
            </a:r>
          </a:p>
          <a:p xmlns:a="http://schemas.openxmlformats.org/drawingml/2006/main">
            <a:r>
              <a:t>        "components": [</a:t>
            </a:r>
          </a:p>
          <a:p xmlns:a="http://schemas.openxmlformats.org/drawingml/2006/main">
            <a:r>
              <a:t>          "C03",</a:t>
            </a:r>
          </a:p>
          <a:p xmlns:a="http://schemas.openxmlformats.org/drawingml/2006/main">
            <a:r>
              <a:t>          "C11"</a:t>
            </a:r>
          </a:p>
          <a:p xmlns:a="http://schemas.openxmlformats.org/drawingml/2006/main">
            <a:r>
              <a:t>        ],</a:t>
            </a:r>
          </a:p>
          <a:p xmlns:a="http://schemas.openxmlformats.org/drawingml/2006/main">
            <a:r>
              <a:t>        "acceptance": "다른 업무 용어로 같은 자산 탐색, 동명이자산 구분, 검색 결과 권한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"0d1cbe7ee72465436a3269eeb95106fa281de600b63107b9dfece31a434b39db"</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"국민·사내 접점",</a:t>
            </a:r>
          </a:p>
          <a:p xmlns:a="http://schemas.openxmlformats.org/drawingml/2006/main">
            <a:r>
              <a:t>          "layer": "이용 접점",</a:t>
            </a:r>
          </a:p>
          <a:p xmlns:a="http://schemas.openxmlformats.org/drawingml/2006/main">
            <a:r>
              <a:t>          "detail": "국민·직원·안건 검토자·데이터 담당",</a:t>
            </a:r>
          </a:p>
          <a:p xmlns:a="http://schemas.openxmlformats.org/drawingml/2006/main">
            <a:r>
              <a:t>          "requirements": [</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"SSO·DRM·망 구분",</a:t>
            </a:r>
          </a:p>
          <a:p xmlns:a="http://schemas.openxmlformats.org/drawingml/2006/main">
            <a:r>
              <a:t>          "layer": "업무 문맥",</a:t>
            </a:r>
          </a:p>
          <a:p xmlns:a="http://schemas.openxmlformats.org/drawingml/2006/main">
            <a:r>
              <a:t>          "detail": "외부·내부 접점과 망·계정·DRM 경계 분리",</a:t>
            </a:r>
          </a:p>
          <a:p xmlns:a="http://schemas.openxmlformats.org/drawingml/2006/main">
            <a:r>
              <a:t>          "requirements": [</a:t>
            </a:r>
          </a:p>
          <a:p xmlns:a="http://schemas.openxmlformats.org/drawingml/2006/main">
            <a:r>
              <a:t>            "SFR-003",</a:t>
            </a:r>
          </a:p>
          <a:p xmlns:a="http://schemas.openxmlformats.org/drawingml/2006/main">
            <a:r>
              <a:t>            "SFR-013"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"안건·허용자료 검색",</a:t>
            </a:r>
          </a:p>
          <a:p xmlns:a="http://schemas.openxmlformats.org/drawingml/2006/main">
            <a:r>
              <a:t>          "layer": "자료 조회",</a:t>
            </a:r>
          </a:p>
          <a:p xmlns:a="http://schemas.openxmlformats.org/drawingml/2006/main">
            <a:r>
              <a:t>          "detail": "질의·권한",</a:t>
            </a:r>
          </a:p>
          <a:p xmlns:a="http://schemas.openxmlformats.org/drawingml/2006/main">
            <a:r>
              <a:t>          "requirements": [</a:t>
            </a:r>
          </a:p>
          <a:p xmlns:a="http://schemas.openxmlformats.org/drawingml/2006/main">
            <a:r>
              <a:t>            "SFR-004",</a:t>
            </a:r>
          </a:p>
          <a:p xmlns:a="http://schemas.openxmlformats.org/drawingml/2006/main">
            <a:r>
              <a:t>            "SFR-009",</a:t>
            </a:r>
          </a:p>
          <a:p xmlns:a="http://schemas.openxmlformats.org/drawingml/2006/main">
            <a:r>
              <a:t>            "SFR-014"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"모델·요약·산식",</a:t>
            </a:r>
          </a:p>
          <a:p xmlns:a="http://schemas.openxmlformats.org/drawingml/2006/main">
            <a:r>
              <a:t>          "layer": "핵심 처리",</a:t>
            </a:r>
          </a:p>
          <a:p xmlns:a="http://schemas.openxmlformats.org/drawingml/2006/main">
            <a:r>
              <a:t>          "detail": "검색·요약·모델 라우팅·산식 검증",</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"산식·단위 대조",</a:t>
            </a:r>
          </a:p>
          <a:p xmlns:a="http://schemas.openxmlformats.org/drawingml/2006/main">
            <a:r>
              <a:t>          "layer": "결과 검증",</a:t>
            </a:r>
          </a:p>
          <a:p xmlns:a="http://schemas.openxmlformats.org/drawingml/2006/main">
            <a:r>
              <a:t>          "detail": "망·권한·산식별 독립 검증",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"업무 담당 검토",</a:t>
            </a:r>
          </a:p>
          <a:p xmlns:a="http://schemas.openxmlformats.org/drawingml/2006/main">
            <a:r>
              <a:t>          "layer": "사람 확인",</a:t>
            </a:r>
          </a:p>
          <a:p xmlns:a="http://schemas.openxmlformats.org/drawingml/2006/main">
            <a:r>
              <a:t>          "detail": "허용된 안건만 검색·요약하고 규정 산식을 독립 확인",</a:t>
            </a:r>
          </a:p>
          <a:p xmlns:a="http://schemas.openxmlformats.org/drawingml/2006/main">
            <a:r>
              <a:t>          "requirements": [</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"근거 요약·계산",</a:t>
            </a:r>
          </a:p>
          <a:p xmlns:a="http://schemas.openxmlformats.org/drawingml/2006/main">
            <a:r>
              <a:t>          "layer": "업무 연결",</a:t>
            </a:r>
          </a:p>
          <a:p xmlns:a="http://schemas.openxmlformats.org/drawingml/2006/main">
            <a:r>
              <a:t>          "detail": "권한 내 요약·계산 결과의 담당자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"품질·민감정보 점검",</a:t>
            </a:r>
          </a:p>
          <a:p xmlns:a="http://schemas.openxmlformats.org/drawingml/2006/main">
            <a:r>
              <a:t>          "layer": "운영 관측",</a:t>
            </a:r>
          </a:p>
          <a:p xmlns:a="http://schemas.openxmlformats.org/drawingml/2006/main">
            <a:r>
              <a:t>          "detail": "데이터 품질·민감정보·답변 품질 모니터링",</a:t>
            </a:r>
          </a:p>
          <a:p xmlns:a="http://schemas.openxmlformats.org/drawingml/2006/main">
            <a:r>
              <a:t>          "requirements": [</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"ECM·안건·공개자료",</a:t>
            </a:r>
          </a:p>
          <a:p xmlns:a="http://schemas.openxmlformats.org/drawingml/2006/main">
            <a:r>
              <a:t>          "layer": "데이터 원천",</a:t>
            </a:r>
          </a:p>
          <a:p xmlns:a="http://schemas.openxmlformats.org/drawingml/2006/main">
            <a:r>
              <a:t>          "detail": "지식·안건·카탈로그",</a:t>
            </a:r>
          </a:p>
          <a:p xmlns:a="http://schemas.openxmlformats.org/drawingml/2006/main">
            <a:r>
              <a:t>          "requirements": [</a:t>
            </a:r>
          </a:p>
          <a:p xmlns:a="http://schemas.openxmlformats.org/drawingml/2006/main">
            <a:r>
              <a:t>            "SFR-005",</a:t>
            </a:r>
          </a:p>
          <a:p xmlns:a="http://schemas.openxmlformats.org/drawingml/2006/main">
            <a:r>
              <a:t>            "SFR-012"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"메타정보·카탈로그",</a:t>
            </a:r>
          </a:p>
          <a:p xmlns:a="http://schemas.openxmlformats.org/drawingml/2006/main">
            <a:r>
              <a:t>          "layer": "준비·갱신",</a:t>
            </a:r>
          </a:p>
          <a:p xmlns:a="http://schemas.openxmlformats.org/drawingml/2006/main">
            <a:r>
              <a:t>          "detail": "안건 메타데이터·정형/비정형 데이터 카탈로그",</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"대민·사내 DB 분리",</a:t>
            </a:r>
          </a:p>
          <a:p xmlns:a="http://schemas.openxmlformats.org/drawingml/2006/main">
            <a:r>
              <a:t>          "layer": "상태·지식 저장",</a:t>
            </a:r>
          </a:p>
          <a:p xmlns:a="http://schemas.openxmlformats.org/drawingml/2006/main">
            <a:r>
              <a:t>          "detail": "망·권한별 노출 결과와 원문·계산·카탈로그 대사",</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"SFR-012",</a:t>
            </a:r>
          </a:p>
          <a:p xmlns:a="http://schemas.openxmlformats.org/drawingml/2006/main">
            <a:r>
              <a:t>            "SFR-013",</a:t>
            </a:r>
          </a:p>
          <a:p xmlns:a="http://schemas.openxmlformats.org/drawingml/2006/main">
            <a:r>
              <a:t>            "SFR-014"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"권한·망·모델 관리",</a:t>
            </a:r>
          </a:p>
          <a:p xmlns:a="http://schemas.openxmlformats.org/drawingml/2006/main">
            <a:r>
              <a:t>          "layer": "권한·정책",</a:t>
            </a:r>
          </a:p>
          <a:p xmlns:a="http://schemas.openxmlformats.org/drawingml/2006/main">
            <a:r>
              <a:t>          "detail": "외부 계정의 내부 안건 요청·DRM 제한·단위 오류",</a:t>
            </a:r>
          </a:p>
          <a:p xmlns:a="http://schemas.openxmlformats.org/drawingml/2006/main">
            <a:r>
              <a:t>          "requirements": [</a:t>
            </a:r>
          </a:p>
          <a:p xmlns:a="http://schemas.openxmlformats.org/drawingml/2006/main">
            <a:r>
              <a:t>            "SFR-013"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"외부·내부 접점과 망·계정·DRM 경계 분리",</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"질의·권한",</a:t>
            </a:r>
          </a:p>
          <a:p xmlns:a="http://schemas.openxmlformats.org/drawingml/2006/main">
            <a:r>
              <a:t>          "check": "망·권한·산식별 독립 검증"</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"허용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"요약·계산",</a:t>
            </a:r>
          </a:p>
          <a:p xmlns:a="http://schemas.openxmlformats.org/drawingml/2006/main">
            <a:r>
              <a:t>          "check": "외부 계정의 내부 안건 요청·DRM 제한·단위 오류"</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"요약·계산",</a:t>
            </a:r>
          </a:p>
          <a:p xmlns:a="http://schemas.openxmlformats.org/drawingml/2006/main">
            <a:r>
              <a:t>          "check": "권한 내 요약·계산 결과의 담당자 검토"</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 결과",</a:t>
            </a:r>
          </a:p>
          <a:p xmlns:a="http://schemas.openxmlformats.org/drawingml/2006/main">
            <a:r>
              <a:t>          "check": "망·권한별 노출 결과와 원문·계산·카탈로그 대사"</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"사전공개 RFP 구성도·SFR-001~014",</a:t>
            </a:r>
          </a:p>
          <a:p xmlns:a="http://schemas.openxmlformats.org/drawingml/2006/main">
            <a:r>
              <a:t>        "extracted": "대민/임직원 서비스와 DB 분리, SSO/EAM·데이터 업로드 경계",</a:t>
            </a:r>
          </a:p>
          <a:p xmlns:a="http://schemas.openxmlformats.org/drawingml/2006/main">
            <a:r>
              <a:t>        "extension": "공개·내부 경계 교차 시험과 금융 산식의 독립 검산"</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"PF-R08",</a:t>
            </a:r>
          </a:p>
          <a:p xmlns:a="http://schemas.openxmlformats.org/drawingml/2006/main">
            <a:r>
              <a:t>          "path": "assets/casebook-sources/PF-R08-01.png",</a:t>
            </a:r>
          </a:p>
          <a:p xmlns:a="http://schemas.openxmlformats.org/drawingml/2006/main">
            <a:r>
              <a:t>          "title": "대민·임직원 AI 서비스 분리",</a:t>
            </a:r>
          </a:p>
          <a:p xmlns:a="http://schemas.openxmlformats.org/drawingml/2006/main">
            <a:r>
              <a:t>          "status": "사전공개 RFP 목표 구성도",</a:t>
            </a:r>
          </a:p>
          <a:p xmlns:a="http://schemas.openxmlformats.org/drawingml/2006/main">
            <a:r>
              <a:t>          "caption": "보안·서비스·데이터·관리 서브넷과 SSO·업무 데이터 경계",</a:t>
            </a:r>
          </a:p>
          <a:p xmlns:a="http://schemas.openxmlformats.org/drawingml/2006/main">
            <a:r>
              <a:t>          "locator": "rId20 / BinData/BIN0002_bmp",</a:t>
            </a:r>
          </a:p>
          <a:p xmlns:a="http://schemas.openxmlformats.org/drawingml/2006/main">
            <a:r>
              <a:t>          "checked": "2026-10-16",</a:t>
            </a:r>
          </a:p>
          <a:p xmlns:a="http://schemas.openxmlformats.org/drawingml/2006/main">
            <a:r>
              <a:t>          "sha256": "dbd84b9d88acec3c54802ec4cc6eacaf8a872223e2a7ee89fadf50a173e38803",</a:t>
            </a:r>
          </a:p>
          <a:p xmlns:a="http://schemas.openxmlformats.org/drawingml/2006/main">
            <a:r>
              <a:t>          "explanation": {</a:t>
            </a:r>
          </a:p>
          <a:p xmlns:a="http://schemas.openxmlformats.org/drawingml/2006/main">
            <a:r>
              <a:t>            "read": "사전공개 요구의 대국민·임직원 서비스와 데이터·네트워크 경계를 구분한 목표 구성. 공개 상담용 자료와 내부 안건·업무 자료를 서비스·저장 계층에서 분리하는 구조.",</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"SFR-005",</a:t>
            </a:r>
          </a:p>
          <a:p xmlns:a="http://schemas.openxmlformats.org/drawingml/2006/main">
            <a:r>
              <a:t>              "SFR-009"</a:t>
            </a:r>
          </a:p>
          <a:p xmlns:a="http://schemas.openxmlformats.org/drawingml/2006/main">
            <a:r>
              <a:t>            ],</a:t>
            </a:r>
          </a:p>
          <a:p xmlns:a="http://schemas.openxmlformats.org/drawingml/2006/main">
            <a:r>
              <a:t>            "connection": "같은 AI 기반을 쓰더라도 공개·내부 검색 범위와 문서 반입 경로를 별도로 검수하고 사용자 문맥·SSO·DRM 등 기존 통제와 연결하는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"PF-R08",</a:t>
            </a:r>
          </a:p>
          <a:p xmlns:a="http://schemas.openxmlformats.org/drawingml/2006/main">
            <a:r>
              <a:t>          "path": "assets/casebook-sources/PF-R08-02.png",</a:t>
            </a:r>
          </a:p>
          <a:p xmlns:a="http://schemas.openxmlformats.org/drawingml/2006/main">
            <a:r>
              <a:t>          "title": "데이터 카탈로그·업무 매핑",</a:t>
            </a:r>
          </a:p>
          <a:p xmlns:a="http://schemas.openxmlformats.org/drawingml/2006/main">
            <a:r>
              <a:t>          "status": "사전공개 RFP 데이터 구성도",</a:t>
            </a:r>
          </a:p>
          <a:p xmlns:a="http://schemas.openxmlformats.org/drawingml/2006/main">
            <a:r>
              <a:t>          "caption": "대시보드·통합검색·데이터등록·표준·품질과 업무 매핑",</a:t>
            </a:r>
          </a:p>
          <a:p xmlns:a="http://schemas.openxmlformats.org/drawingml/2006/main">
            <a:r>
              <a:t>          "locator": "rId20 / BinData/BIN0001_bmp",</a:t>
            </a:r>
          </a:p>
          <a:p xmlns:a="http://schemas.openxmlformats.org/drawingml/2006/main">
            <a:r>
              <a:t>          "checked": "2026-10-16",</a:t>
            </a:r>
          </a:p>
          <a:p xmlns:a="http://schemas.openxmlformats.org/drawingml/2006/main">
            <a:r>
              <a:t>          "sha256": "e91edef465c1a60d5edcd6288eefa4a5d158cd9980b9b941428685ef6e32a0f5",</a:t>
            </a:r>
          </a:p>
          <a:p xmlns:a="http://schemas.openxmlformats.org/drawingml/2006/main">
            <a:r>
              <a:t>          "explanation": {</a:t>
            </a:r>
          </a:p>
          <a:p xmlns:a="http://schemas.openxmlformats.org/drawingml/2006/main">
            <a:r>
              <a:t>            "read": "카탈로그와 MDMS·ECM 등 기존 데이터·문서 체계의 업무 연결. AI 답변에 앞서 어떤 데이터가 존재하고 누가 관리하며 어떤 업무에서 쓰는지 찾을 수 있도록 하는 정보 기반.",</a:t>
            </a:r>
          </a:p>
          <a:p xmlns:a="http://schemas.openxmlformats.org/drawingml/2006/main">
            <a:r>
              <a:t>            "requirements": [</a:t>
            </a:r>
          </a:p>
          <a:p xmlns:a="http://schemas.openxmlformats.org/drawingml/2006/main">
            <a:r>
              <a:t>              "SFR-012",</a:t>
            </a:r>
          </a:p>
          <a:p xmlns:a="http://schemas.openxmlformats.org/drawingml/2006/main">
            <a:r>
              <a:t>              "SFR-013",</a:t>
            </a:r>
          </a:p>
          <a:p xmlns:a="http://schemas.openxmlformats.org/drawingml/2006/main">
            <a:r>
              <a:t>              "SFR-014"</a:t>
            </a:r>
          </a:p>
          <a:p xmlns:a="http://schemas.openxmlformats.org/drawingml/2006/main">
            <a:r>
              <a:t>            ],</a:t>
            </a:r>
          </a:p>
          <a:p xmlns:a="http://schemas.openxmlformats.org/drawingml/2006/main">
            <a:r>
              <a:t>            "connection": "TS의 조직·업무 ID와 데이터 자산·소관 부서를 연결하고 문서 검색 권한과 카탈로그 설명의 공개 범위를 분리해 관리하는 적용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"외부 계정의 내부 안건 요청·DRM 제한·단위 오류",</a:t>
            </a:r>
          </a:p>
          <a:p xmlns:a="http://schemas.openxmlformats.org/drawingml/2006/main">
            <a:r>
              <a:t>        "hold": "망·권한·산식별 독립 검증",</a:t>
            </a:r>
          </a:p>
          <a:p xmlns:a="http://schemas.openxmlformats.org/drawingml/2006/main">
            <a:r>
              <a:t>        "recovery": "데이터 품질·민감정보·답변 품질 모니터링",</a:t>
            </a:r>
          </a:p>
          <a:p xmlns:a="http://schemas.openxmlformats.org/drawingml/2006/main">
            <a:r>
              <a:t>        "evidence": "망·권한별 노출 결과와 원문·계산·카탈로그 대사"</a:t>
            </a:r>
          </a:p>
          <a:p xmlns:a="http://schemas.openxmlformats.org/drawingml/2006/main">
            <a:r>
              <a:t>      },</a:t>
            </a:r>
          </a:p>
          <a:p xmlns:a="http://schemas.openxmlformats.org/drawingml/2006/main">
            <a:r>
              <a:t>      "data": {</a:t>
            </a:r>
          </a:p>
          <a:p xmlns:a="http://schemas.openxmlformats.org/drawingml/2006/main">
            <a:r>
              <a:t>        "source": "지식·안건·카탈로그",</a:t>
            </a:r>
          </a:p>
          <a:p xmlns:a="http://schemas.openxmlformats.org/drawingml/2006/main">
            <a:r>
              <a:t>        "prepare": "안건 메타데이터·정형/비정형 데이터 카탈로그",</a:t>
            </a:r>
          </a:p>
          <a:p xmlns:a="http://schemas.openxmlformats.org/drawingml/2006/main">
            <a:r>
              <a:t>        "output": "질의·권한",</a:t>
            </a:r>
          </a:p>
          <a:p xmlns:a="http://schemas.openxmlformats.org/drawingml/2006/main">
            <a:r>
              <a:t>        "refresh": "데이터 품질·민감정보·답변 품질 모니터링"</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"PF-R08",</a:t>
            </a:r>
          </a:p>
          <a:p xmlns:a="http://schemas.openxmlformats.org/drawingml/2006/main">
            <a:r>
              <a:t>    "success": [</a:t>
            </a:r>
          </a:p>
          <a:p xmlns:a="http://schemas.openxmlformats.org/drawingml/2006/main">
            <a:r>
              <a:t>      "대국민·사내 지식 경계 분리",</a:t>
            </a:r>
          </a:p>
          <a:p xmlns:a="http://schemas.openxmlformats.org/drawingml/2006/main">
            <a:r>
              <a:t>      "카탈로그와 데이터 통제 결합"</a:t>
            </a:r>
          </a:p>
          <a:p xmlns:a="http://schemas.openxmlformats.org/drawingml/2006/main">
            <a:r>
              <a:t>    ],</a:t>
            </a:r>
          </a:p>
          <a:p xmlns:a="http://schemas.openxmlformats.org/drawingml/2006/main">
            <a:r>
              <a:t>    "risks": [</a:t>
            </a:r>
          </a:p>
          <a:p xmlns:a="http://schemas.openxmlformats.org/drawingml/2006/main">
            <a:r>
              <a:t>      "DRM·접근권한 전파 누락",</a:t>
            </a:r>
          </a:p>
          <a:p xmlns:a="http://schemas.openxmlformats.org/drawingml/2006/main">
            <a:r>
              <a:t>      "금융 산식·단위 오류"</a:t>
            </a:r>
          </a:p>
          <a:p xmlns:a="http://schemas.openxmlformats.org/drawingml/2006/main">
            <a:r>
              <a:t>    ],</a:t>
            </a:r>
          </a:p>
          <a:p xmlns:a="http://schemas.openxmlformats.org/drawingml/2006/main">
            <a:r>
              <a:t>    "architecture": [</a:t>
            </a:r>
          </a:p>
          <a:p xmlns:a="http://schemas.openxmlformats.org/drawingml/2006/main">
            <a:r>
              <a:t>      "국민·직원 접점",</a:t>
            </a:r>
          </a:p>
          <a:p xmlns:a="http://schemas.openxmlformats.org/drawingml/2006/main">
            <a:r>
              <a:t>      "검색·요약·산식 검토",</a:t>
            </a:r>
          </a:p>
          <a:p xmlns:a="http://schemas.openxmlformats.org/drawingml/2006/main">
            <a:r>
              <a:t>      "지식·안건·카탈로그",</a:t>
            </a:r>
          </a:p>
          <a:p xmlns:a="http://schemas.openxmlformats.org/drawingml/2006/main">
            <a:r>
              <a:t>      "업무 검토자"</a:t>
            </a:r>
          </a:p>
          <a:p xmlns:a="http://schemas.openxmlformats.org/drawingml/2006/main">
            <a:r>
              <a:t>    ],</a:t>
            </a:r>
          </a:p>
          <a:p xmlns:a="http://schemas.openxmlformats.org/drawingml/2006/main">
            <a:r>
              <a:t>    "transfers": [</a:t>
            </a:r>
          </a:p>
          <a:p xmlns:a="http://schemas.openxmlformats.org/drawingml/2006/main">
            <a:r>
              <a:t>      "질의·권한",</a:t>
            </a:r>
          </a:p>
          <a:p xmlns:a="http://schemas.openxmlformats.org/drawingml/2006/main">
            <a:r>
              <a:t>      "허용 근거",</a:t>
            </a:r>
          </a:p>
          <a:p xmlns:a="http://schemas.openxmlformats.org/drawingml/2006/main">
            <a:r>
              <a:t>      "요약·계산",</a:t>
            </a:r>
          </a:p>
          <a:p xmlns:a="http://schemas.openxmlformats.org/drawingml/2006/main">
            <a:r>
              <a:t>      "검토 결과"</a:t>
            </a:r>
          </a:p>
          <a:p xmlns:a="http://schemas.openxmlformats.org/drawingml/2006/main">
            <a:r>
              <a:t>    ],</a:t>
            </a:r>
          </a:p>
          <a:p xmlns:a="http://schemas.openxmlformats.org/drawingml/2006/main">
            <a:r>
              <a:t>    "control": "망·권한·산식별 독립 검증",</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SFR-001~014, DAR·CNR / Word T089 https://www.g2b.go.kr/pn/pnz/pnza/UntyAtchFile/downloadFile.do?bfSpecRegNo=R26BD00217546&amp;fileType=BFDTL&amp;fileSeq=1</a:t>
            </a:r>
          </a:p>
          <a:p xmlns:a="http://schemas.openxmlformats.org/drawingml/2006/main">
            <a:r>
              <a:t>홈페이지 https://heen1987-ops.github.io/TS-business-Plan-001/index.html?view=platform-cases&amp;case=PF-R08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"PF-R08",</a:t>
            </a:r>
          </a:p>
          <a:p xmlns:a="http://schemas.openxmlformats.org/drawingml/2006/main">
            <a:r>
              <a:t>    "sourceId": "R08",</a:t>
            </a:r>
          </a:p>
          <a:p xmlns:a="http://schemas.openxmlformats.org/drawingml/2006/main">
            <a:r>
              <a:t>    "title": "예금보험공사 생성형 AI",</a:t>
            </a:r>
          </a:p>
          <a:p xmlns:a="http://schemas.openxmlformats.org/drawingml/2006/main">
            <a:r>
              <a:t>    "region": "국내",</a:t>
            </a:r>
          </a:p>
          <a:p xmlns:a="http://schemas.openxmlformats.org/drawingml/2006/main">
            <a:r>
              <a:t>    "owner": "예금보험공사",</a:t>
            </a:r>
          </a:p>
          <a:p xmlns:a="http://schemas.openxmlformats.org/drawingml/2006/main">
            <a:r>
              <a:t>    "state": "사전규격 RFP + 공급사 계약 발표 확인 / 최종본·준공 미확인",</a:t>
            </a:r>
          </a:p>
          <a:p xmlns:a="http://schemas.openxmlformats.org/drawingml/2006/main">
            <a:r>
              <a:t>    "period": "기존 원장 확인 2026.10.16",</a:t>
            </a:r>
          </a:p>
          <a:p xmlns:a="http://schemas.openxmlformats.org/drawingml/2006/main">
            <a:r>
              <a:t>    "fact": "대국민 챗봇·사내 챗봇·금융위 안건 검색요약 + 데이터 카탈로그/거버넌스",</a:t>
            </a:r>
          </a:p>
          <a:p xmlns:a="http://schemas.openxmlformats.org/drawingml/2006/main">
            <a:r>
              <a:t>    "limit": "학습용 FAQ500건과 서비스별 검증셋500건은 별도 요구. 계획상 수치를 운영 실적으로 사용하지 않음",</a:t>
            </a:r>
          </a:p>
          <a:p xmlns:a="http://schemas.openxmlformats.org/drawingml/2006/main">
            <a:r>
              <a:t>    "nodes": [</a:t>
            </a:r>
          </a:p>
          <a:p xmlns:a="http://schemas.openxmlformats.org/drawingml/2006/main">
            <a:r>
              <a:t>      "지식·안건",</a:t>
            </a:r>
          </a:p>
          <a:p xmlns:a="http://schemas.openxmlformats.org/drawingml/2006/main">
            <a:r>
              <a:t>      "권한·망·DRM",</a:t>
            </a:r>
          </a:p>
          <a:p xmlns:a="http://schemas.openxmlformats.org/drawingml/2006/main">
            <a:r>
              <a:t>      "검색·산식 검증",</a:t>
            </a:r>
          </a:p>
          <a:p xmlns:a="http://schemas.openxmlformats.org/drawingml/2006/main">
            <a:r>
              <a:t>      "평가·운영"</a:t>
            </a:r>
          </a:p>
          <a:p xmlns:a="http://schemas.openxmlformats.org/drawingml/2006/main">
            <a:r>
              <a:t>    ],</a:t>
            </a:r>
          </a:p>
          <a:p xmlns:a="http://schemas.openxmlformats.org/drawingml/2006/main">
            <a:r>
              <a:t>    "apply": "대민·내부 지식 경계와 데이터 카탈로그를 함께 설계하는 정보 제공",</a:t>
            </a:r>
          </a:p>
          <a:p xmlns:a="http://schemas.openxmlformats.org/drawingml/2006/main">
            <a:r>
              <a:t>    "delta": "내외부 지식·망 분리 / 문서 DRM·권한 / 안건·산식·데이터 카탈로그",</a:t>
            </a:r>
          </a:p>
          <a:p xmlns:a="http://schemas.openxmlformats.org/drawingml/2006/main">
            <a:r>
              <a:t>    "test": "외부 계정의 내부자료 요청·DRM·산식 오류에 대한 독립 검증",</a:t>
            </a:r>
          </a:p>
          <a:p xmlns:a="http://schemas.openxmlformats.org/drawingml/2006/main">
            <a:r>
              <a:t>    "url": "https://www.g2b.go.kr/pn/pnz/pnza/UntyAtchFile/downloadFile.do?bfSpecRegNo=R26BD00217546&amp;fileType=BFDTL&amp;fileSeq=1",</a:t>
            </a:r>
          </a:p>
          <a:p xmlns:a="http://schemas.openxmlformats.org/drawingml/2006/main">
            <a:r>
              <a:t>    "urls": [</a:t>
            </a:r>
          </a:p>
          <a:p xmlns:a="http://schemas.openxmlformats.org/drawingml/2006/main">
            <a:r>
              <a:t>      "https://www.g2b.go.kr/pn/pnz/pnza/UntyAtchFile/downloadFile.do?bfSpecRegNo=R26BD00217546&amp;fileType=BFDTL&amp;fileSeq=1",</a:t>
            </a:r>
          </a:p>
          <a:p xmlns:a="http://schemas.openxmlformats.org/drawingml/2006/main">
            <a:r>
              <a:t>      "https://clabi.ai/news/fe55039a-f069-4218-aa5a-0c1057c5ca92"</a:t>
            </a:r>
          </a:p>
          <a:p xmlns:a="http://schemas.openxmlformats.org/drawingml/2006/main">
            <a:r>
              <a:t>    ],</a:t>
            </a:r>
          </a:p>
          <a:p xmlns:a="http://schemas.openxmlformats.org/drawingml/2006/main">
            <a:r>
              <a:t>    "basis": "SFR-001~014, DAR·CNR / Word T089",</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"비인가 노출 건수 / 원천 추적률 / 안건 검토시간",</a:t>
            </a:r>
          </a:p>
          <a:p xmlns:a="http://schemas.openxmlformats.org/drawingml/2006/main">
            <a:r>
              <a:t>    "group": "요구·구축",</a:t>
            </a:r>
          </a:p>
          <a:p xmlns:a="http://schemas.openxmlformats.org/drawingml/2006/main">
            <a:r>
              <a:t>    "sourceDetail": "망·DRM·권한 연계; 안건 메타데이터 범위검색; 규정 산식 교차검증; 모델라우팅·평가·모니터링",</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"PF-R08",</a:t>
            </a:r>
          </a:p>
          <a:p xmlns:a="http://schemas.openxmlformats.org/drawingml/2006/main">
            <a:r>
              <a:t>    "canonicalId": "PF-R08",</a:t>
            </a:r>
          </a:p>
          <a:p xmlns:a="http://schemas.openxmlformats.org/drawingml/2006/main">
            <a:r>
              <a:t>    "purpose": "대민·사내 AI와 데이터 관리체계의 공동 구축",</a:t>
            </a:r>
          </a:p>
          <a:p xmlns:a="http://schemas.openxmlformats.org/drawingml/2006/main">
            <a:r>
              <a:t>    "users": "국민·직원·안건 검토자·데이터 담당",</a:t>
            </a:r>
          </a:p>
          <a:p xmlns:a="http://schemas.openxmlformats.org/drawingml/2006/main">
            <a:r>
              <a:t>    "scope": [</a:t>
            </a:r>
          </a:p>
          <a:p xmlns:a="http://schemas.openxmlformats.org/drawingml/2006/main">
            <a:r>
              <a:t>      "챗봇",</a:t>
            </a:r>
          </a:p>
          <a:p xmlns:a="http://schemas.openxmlformats.org/drawingml/2006/main">
            <a:r>
              <a:t>      "안건 검색·요약",</a:t>
            </a:r>
          </a:p>
          <a:p xmlns:a="http://schemas.openxmlformats.org/drawingml/2006/main">
            <a:r>
              <a:t>      "카탈로그"</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"국민·직원 접점",</a:t>
            </a:r>
          </a:p>
          <a:p xmlns:a="http://schemas.openxmlformats.org/drawingml/2006/main">
            <a:r>
              <a:t>        "detail": "외부·내부 접점과 망·계정·DRM 경계 분리",</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"챗봇 / 안건 검색·요약 / 카탈로그",</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"검색·요약·산식 검토",</a:t>
            </a:r>
          </a:p>
          <a:p xmlns:a="http://schemas.openxmlformats.org/drawingml/2006/main">
            <a:r>
              <a:t>        "detail": "검색·요약·모델 라우팅·산식 검증",</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"업무 검토자",</a:t>
            </a:r>
          </a:p>
          <a:p xmlns:a="http://schemas.openxmlformats.org/drawingml/2006/main">
            <a:r>
              <a:t>        "detail": "권한 내 요약·계산 결과의 담당자 검토",</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"지식·안건·카탈로그",</a:t>
            </a:r>
          </a:p>
          <a:p xmlns:a="http://schemas.openxmlformats.org/drawingml/2006/main">
            <a:r>
              <a:t>        "detail": "안건 메타데이터·정형/비정형 데이터 카탈로그",</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"데이터 품질·민감정보·답변 품질 모니터링",</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"지식·안건",</a:t>
            </a:r>
          </a:p>
          <a:p xmlns:a="http://schemas.openxmlformats.org/drawingml/2006/main">
            <a:r>
              <a:t>        "input": "외부·내부 접점과 망·계정·DRM 경계 분리",</a:t>
            </a:r>
          </a:p>
          <a:p xmlns:a="http://schemas.openxmlformats.org/drawingml/2006/main">
            <a:r>
              <a:t>        "process": "안건 메타데이터·정형/비정형 데이터 카탈로그",</a:t>
            </a:r>
          </a:p>
          <a:p xmlns:a="http://schemas.openxmlformats.org/drawingml/2006/main">
            <a:r>
              <a:t>        "output": "질의·권한"</a:t>
            </a:r>
          </a:p>
          <a:p xmlns:a="http://schemas.openxmlformats.org/drawingml/2006/main">
            <a:r>
              <a:t>      },</a:t>
            </a:r>
          </a:p>
          <a:p xmlns:a="http://schemas.openxmlformats.org/drawingml/2006/main">
            <a:r>
              <a:t>      {</a:t>
            </a:r>
          </a:p>
          <a:p xmlns:a="http://schemas.openxmlformats.org/drawingml/2006/main">
            <a:r>
              <a:t>        "title": "권한·망·DRM",</a:t>
            </a:r>
          </a:p>
          <a:p xmlns:a="http://schemas.openxmlformats.org/drawingml/2006/main">
            <a:r>
              <a:t>        "input": "질의·권한",</a:t>
            </a:r>
          </a:p>
          <a:p xmlns:a="http://schemas.openxmlformats.org/drawingml/2006/main">
            <a:r>
              <a:t>        "process": "검색·요약·모델 라우팅·산식 검증",</a:t>
            </a:r>
          </a:p>
          <a:p xmlns:a="http://schemas.openxmlformats.org/drawingml/2006/main">
            <a:r>
              <a:t>        "output": "허용 근거"</a:t>
            </a:r>
          </a:p>
          <a:p xmlns:a="http://schemas.openxmlformats.org/drawingml/2006/main">
            <a:r>
              <a:t>      },</a:t>
            </a:r>
          </a:p>
          <a:p xmlns:a="http://schemas.openxmlformats.org/drawingml/2006/main">
            <a:r>
              <a:t>      {</a:t>
            </a:r>
          </a:p>
          <a:p xmlns:a="http://schemas.openxmlformats.org/drawingml/2006/main">
            <a:r>
              <a:t>        "title": "검색·산식 검증",</a:t>
            </a:r>
          </a:p>
          <a:p xmlns:a="http://schemas.openxmlformats.org/drawingml/2006/main">
            <a:r>
              <a:t>        "input": "허용 근거",</a:t>
            </a:r>
          </a:p>
          <a:p xmlns:a="http://schemas.openxmlformats.org/drawingml/2006/main">
            <a:r>
              <a:t>        "process": "망·권한·산식별 독립 검증",</a:t>
            </a:r>
          </a:p>
          <a:p xmlns:a="http://schemas.openxmlformats.org/drawingml/2006/main">
            <a:r>
              <a:t>        "output": "요약·계산"</a:t>
            </a:r>
          </a:p>
          <a:p xmlns:a="http://schemas.openxmlformats.org/drawingml/2006/main">
            <a:r>
              <a:t>      },</a:t>
            </a:r>
          </a:p>
          <a:p xmlns:a="http://schemas.openxmlformats.org/drawingml/2006/main">
            <a:r>
              <a:t>      {</a:t>
            </a:r>
          </a:p>
          <a:p xmlns:a="http://schemas.openxmlformats.org/drawingml/2006/main">
            <a:r>
              <a:t>        "title": "평가·운영",</a:t>
            </a:r>
          </a:p>
          <a:p xmlns:a="http://schemas.openxmlformats.org/drawingml/2006/main">
            <a:r>
              <a:t>        "input": "요약·계산",</a:t>
            </a:r>
          </a:p>
          <a:p xmlns:a="http://schemas.openxmlformats.org/drawingml/2006/main">
            <a:r>
              <a:t>        "process": "권한 내 요약·계산 결과의 담당자 검토",</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"허용된 안건만 검색·요약하고 규정 산식을 독립 확인",</a:t>
            </a:r>
          </a:p>
          <a:p xmlns:a="http://schemas.openxmlformats.org/drawingml/2006/main">
            <a:r>
              <a:t>      "exception": "외부 계정의 내부 안건 요청·DRM 제한·단위 오류",</a:t>
            </a:r>
          </a:p>
          <a:p xmlns:a="http://schemas.openxmlformats.org/drawingml/2006/main">
            <a:r>
              <a:t>      "evidence": "망·권한별 노출 결과와 원문·계산·카탈로그 대사",</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"국민·직원·안건 검토자·데이터 담당",</a:t>
            </a:r>
          </a:p>
          <a:p xmlns:a="http://schemas.openxmlformats.org/drawingml/2006/main">
            <a:r>
              <a:t>          "processing": "외부·내부 접점과 망·계정·DRM 경계 분리",</a:t>
            </a:r>
          </a:p>
          <a:p xmlns:a="http://schemas.openxmlformats.org/drawingml/2006/main">
            <a:r>
              <a:t>          "output": "질의·권한"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"지식·안건·카탈로그",</a:t>
            </a:r>
          </a:p>
          <a:p xmlns:a="http://schemas.openxmlformats.org/drawingml/2006/main">
            <a:r>
              <a:t>          "processing": "안건 메타데이터·정형/비정형 데이터 카탈로그",</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"질의·권한",</a:t>
            </a:r>
          </a:p>
          <a:p xmlns:a="http://schemas.openxmlformats.org/drawingml/2006/main">
            <a:r>
              <a:t>          "processing": "검색·요약·모델 라우팅·산식 검증",</a:t>
            </a:r>
          </a:p>
          <a:p xmlns:a="http://schemas.openxmlformats.org/drawingml/2006/main">
            <a:r>
              <a:t>          "output": "요약·계산"</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"요약·계산",</a:t>
            </a:r>
          </a:p>
          <a:p xmlns:a="http://schemas.openxmlformats.org/drawingml/2006/main">
            <a:r>
              <a:t>          "processing": "권한 내 요약·계산 결과의 담당자 검토",</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"데이터 품질·민감정보·답변 품질 모니터링",</a:t>
            </a:r>
          </a:p>
          <a:p xmlns:a="http://schemas.openxmlformats.org/drawingml/2006/main">
            <a:r>
              <a:t>          "output": "망·권한별 노출 결과와 원문·계산·카탈로그 대사"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"데이터 품질·민감정보·답변 품질 모니터링",</a:t>
            </a:r>
          </a:p>
          <a:p xmlns:a="http://schemas.openxmlformats.org/drawingml/2006/main">
            <a:r>
              <a:t>    "status": "RFP 기반 논리 설계",</a:t>
            </a:r>
          </a:p>
          <a:p xmlns:a="http://schemas.openxmlformats.org/drawingml/2006/main">
            <a:r>
              <a:t>    "basis": "사전공개 RFP 2026.04 · SFR-001~014·DAR·CNR",</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"SFR-001~014, DAR·CNR / Word T089",</a:t>
            </a:r>
          </a:p>
          <a:p xmlns:a="http://schemas.openxmlformats.org/drawingml/2006/main">
            <a:r>
              <a:t>        "url": "https://www.g2b.go.kr/pn/pnz/pnza/UntyAtchFile/downloadFile.do?bfSpecRegNo=R26BD00217546&amp;fileType=BFDTL&amp;fileSeq=1"</a:t>
            </a:r>
          </a:p>
          <a:p xmlns:a="http://schemas.openxmlformats.org/drawingml/2006/main">
            <a:r>
              <a:t>      }</a:t>
            </a:r>
          </a:p>
          <a:p xmlns:a="http://schemas.openxmlformats.org/drawingml/2006/main">
            <a:r>
              <a:t>    ],</a:t>
            </a:r>
          </a:p>
          <a:p xmlns:a="http://schemas.openxmlformats.org/drawingml/2006/main">
            <a:r>
              <a:t>    "implication": "대민·내부 지식 경계와 데이터 카탈로그를 함께 설계하는 정보 제공",</a:t>
            </a:r>
          </a:p>
          <a:p xmlns:a="http://schemas.openxmlformats.org/drawingml/2006/main">
            <a:r>
              <a:t>    "local": "대민·내부 지식 경계와 데이터 카탈로그를 함께 설계하는 정보 제공",</a:t>
            </a:r>
          </a:p>
          <a:p xmlns:a="http://schemas.openxmlformats.org/drawingml/2006/main">
            <a:r>
              <a:t>    "sourceDetail": "망·DRM·권한 연계; 안건 메타데이터 범위검색; 규정 산식 교차검증; 모델라우팅·평가·모니터링",</a:t>
            </a:r>
          </a:p>
          <a:p xmlns:a="http://schemas.openxmlformats.org/drawingml/2006/main">
            <a:r>
              <a:t>    "narrative": [</a:t>
            </a:r>
          </a:p>
          <a:p xmlns:a="http://schemas.openxmlformats.org/drawingml/2006/main">
            <a:r>
              <a:t>      "대국민 챗봇, 임직원 지식 활용, 안건 검색·요약과 데이터 카탈로그를 함께 다루는 생성형 AI 플랫폼 계획. 대외 공개 지식과 내부 업무 자료를 같은 검색 범위로 취급하지 않는 것이 구성의 출발점.",</a:t>
            </a:r>
          </a:p>
          <a:p xmlns:a="http://schemas.openxmlformats.org/drawingml/2006/main">
            <a:r>
              <a:t>      "사전공개 RFP 도면은 대민·임직원 서비스를 나누고 각각 보안·서비스·데이터·관리 서브넷을 배치. 내부 영역은 SSO/EAM·ECM·업무 시스템과 연결하고, 별도 데이터 카탈로그는 업무분류체계·담당부서·메타데이터·사용승인을 연결하는 구조.",</a:t>
            </a:r>
          </a:p>
          <a:p xmlns:a="http://schemas.openxmlformats.org/drawingml/2006/main">
            <a:r>
              <a:t>      "TS 조직 기반 플랫폼에서는 직원이 누구인지뿐 아니라 특정 데이터의 업무 소관·활용 목적·승인 조건을 함께 관리하는 참고 사례. CCK 추가 개발은 조직·업무 사전과 카탈로그의 연결, DRM·권한 전파, 안건 범위검색, 산식 검증의 업무별 분리. 사전공개 요구와 실제 운영 성과는 별도 증빙으로 평가."</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"SFR-003",</a:t>
            </a:r>
          </a:p>
          <a:p xmlns:a="http://schemas.openxmlformats.org/drawingml/2006/main">
            <a:r>
              <a:t>        "title": "AI 서비스 에이전트 관리 기능",</a:t>
            </a:r>
          </a:p>
          <a:p xmlns:a="http://schemas.openxmlformats.org/drawingml/2006/main">
            <a:r>
              <a:t>        "locator": "SFR-003",</a:t>
            </a:r>
          </a:p>
          <a:p xmlns:a="http://schemas.openxmlformats.org/drawingml/2006/main">
            <a:r>
              <a:t>        "summary": "AI 에이전트의 구성·운영 관리 기능.",</a:t>
            </a:r>
          </a:p>
          <a:p xmlns:a="http://schemas.openxmlformats.org/drawingml/2006/main">
            <a:r>
              <a:t>        "data": "에이전트 설정·도구 → 실행 상태·관리 기록",</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"C08"</a:t>
            </a:r>
          </a:p>
          <a:p xmlns:a="http://schemas.openxmlformats.org/drawingml/2006/main">
            <a:r>
              <a:t>        ],</a:t>
            </a:r>
          </a:p>
          <a:p xmlns:a="http://schemas.openxmlformats.org/drawingml/2006/main">
            <a:r>
              <a:t>        "acceptance": "잘못된 도구 권한과 구성 변경 시 실행 차단·판본 추적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"1590814bc8f7ceb1abe4749ac8c848bd13cc7c8da0eb672ad1ee7d69ba045a3f"</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"AI 서비스 RAG 기능",</a:t>
            </a:r>
          </a:p>
          <a:p xmlns:a="http://schemas.openxmlformats.org/drawingml/2006/main">
            <a:r>
              <a:t>        "locator": "SFR-004",</a:t>
            </a:r>
          </a:p>
          <a:p xmlns:a="http://schemas.openxmlformats.org/drawingml/2006/main">
            <a:r>
              <a:t>        "summary": "업무 지식을 검색해 생성 응답에 연결하는 RAG 기능.",</a:t>
            </a:r>
          </a:p>
          <a:p xmlns:a="http://schemas.openxmlformats.org/drawingml/2006/main">
            <a:r>
              <a:t>        "data": "질의·허용 문서 → 근거·응답",</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"C11"</a:t>
            </a:r>
          </a:p>
          <a:p xmlns:a="http://schemas.openxmlformats.org/drawingml/2006/main">
            <a:r>
              <a:t>        ],</a:t>
            </a:r>
          </a:p>
          <a:p xmlns:a="http://schemas.openxmlformats.org/drawingml/2006/main">
            <a:r>
              <a:t>        "acceptance": "사내·대국민 문서 혼재 시 검색 범위 분리와 출처 정확성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"6779cdd1e875adfd01a03d244801be17e636a2a970a25d78c0009ee42d836beb"</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"AI 서비스 데이터 파이프라인 자동화 기능",</a:t>
            </a:r>
          </a:p>
          <a:p xmlns:a="http://schemas.openxmlformats.org/drawingml/2006/main">
            <a:r>
              <a:t>        "locator": "SFR-005",</a:t>
            </a:r>
          </a:p>
          <a:p xmlns:a="http://schemas.openxmlformats.org/drawingml/2006/main">
            <a:r>
              <a:t>        "summary": "원천 자료의 수집·전처리·검색 반영 데이터 파이프라인.",</a:t>
            </a:r>
          </a:p>
          <a:p xmlns:a="http://schemas.openxmlformats.org/drawingml/2006/main">
            <a:r>
              <a:t>        "data": "원천 문서·메타정보 → 검색용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"등록·개정·삭제·정제 실패의 처리 결과와 원천 변경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"ce9810ce185079fa2fef5d1208af96a3a07ef6e6e5ca1ec36d2dd7a42c90df96"</a:t>
            </a:r>
          </a:p>
          <a:p xmlns:a="http://schemas.openxmlformats.org/drawingml/2006/main">
            <a:r>
              <a:t>      },</a:t>
            </a:r>
          </a:p>
          <a:p xmlns:a="http://schemas.openxmlformats.org/drawingml/2006/main">
            <a:r>
              <a:t>      {</a:t>
            </a:r>
          </a:p>
          <a:p xmlns:a="http://schemas.openxmlformats.org/drawingml/2006/main">
            <a:r>
              <a:t>        "id": "SFR-009",</a:t>
            </a:r>
          </a:p>
          <a:p xmlns:a="http://schemas.openxmlformats.org/drawingml/2006/main">
            <a:r>
              <a:t>        "title": "AI 서비스(사내 AI 챗봇 서비스) 구축",</a:t>
            </a:r>
          </a:p>
          <a:p xmlns:a="http://schemas.openxmlformats.org/drawingml/2006/main">
            <a:r>
              <a:t>        "locator": "SFR-009",</a:t>
            </a:r>
          </a:p>
          <a:p xmlns:a="http://schemas.openxmlformats.org/drawingml/2006/main">
            <a:r>
              <a:t>        "summary": "사내 직원용 업무 지식 챗봇 기능.",</a:t>
            </a:r>
          </a:p>
          <a:p xmlns:a="http://schemas.openxmlformats.org/drawingml/2006/main">
            <a:r>
              <a:t>        "data": "직원 질의·직무 문맥 → 업무 답변·근거",</a:t>
            </a:r>
          </a:p>
          <a:p xmlns:a="http://schemas.openxmlformats.org/drawingml/2006/main">
            <a:r>
              <a:t>        "components": [</a:t>
            </a:r>
          </a:p>
          <a:p xmlns:a="http://schemas.openxmlformats.org/drawingml/2006/main">
            <a:r>
              <a:t>          "C01",</a:t>
            </a:r>
          </a:p>
          <a:p xmlns:a="http://schemas.openxmlformats.org/drawingml/2006/main">
            <a:r>
              <a:t>          "C03",</a:t>
            </a:r>
          </a:p>
          <a:p xmlns:a="http://schemas.openxmlformats.org/drawingml/2006/main">
            <a:r>
              <a:t>          "C06"</a:t>
            </a:r>
          </a:p>
          <a:p xmlns:a="http://schemas.openxmlformats.org/drawingml/2006/main">
            <a:r>
              <a:t>        ],</a:t>
            </a:r>
          </a:p>
          <a:p xmlns:a="http://schemas.openxmlformats.org/drawingml/2006/main">
            <a:r>
              <a:t>        "acceptance": "동일 질의의 직무별 관련성, 비공개 자료 접근, 최신 규정 인용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"45f7da3f2df0a14850c6f9716076e421210ba97cb8aefec195a8439a0225ff95"</a:t>
            </a:r>
          </a:p>
          <a:p xmlns:a="http://schemas.openxmlformats.org/drawingml/2006/main">
            <a:r>
              <a:t>      },</a:t>
            </a:r>
          </a:p>
          <a:p xmlns:a="http://schemas.openxmlformats.org/drawingml/2006/main">
            <a:r>
              <a:t>      {</a:t>
            </a:r>
          </a:p>
          <a:p xmlns:a="http://schemas.openxmlformats.org/drawingml/2006/main">
            <a:r>
              <a:t>        "id": "SFR-012",</a:t>
            </a:r>
          </a:p>
          <a:p xmlns:a="http://schemas.openxmlformats.org/drawingml/2006/main">
            <a:r>
              <a:t>        "title": "데이터 카탈로그 일반 사항",</a:t>
            </a:r>
          </a:p>
          <a:p xmlns:a="http://schemas.openxmlformats.org/drawingml/2006/main">
            <a:r>
              <a:t>        "locator": "SFR-012",</a:t>
            </a:r>
          </a:p>
          <a:p xmlns:a="http://schemas.openxmlformats.org/drawingml/2006/main">
            <a:r>
              <a:t>        "summary": "전사 데이터 카탈로그의 공통 기능 구성.",</a:t>
            </a:r>
          </a:p>
          <a:p xmlns:a="http://schemas.openxmlformats.org/drawingml/2006/main">
            <a:r>
              <a:t>        "data": "데이터 자산·설명 → 탐색 가능한 카탈로그",</a:t>
            </a:r>
          </a:p>
          <a:p xmlns:a="http://schemas.openxmlformats.org/drawingml/2006/main">
            <a:r>
              <a:t>        "components": [</a:t>
            </a:r>
          </a:p>
          <a:p xmlns:a="http://schemas.openxmlformats.org/drawingml/2006/main">
            <a:r>
              <a:t>          "C09",</a:t>
            </a:r>
          </a:p>
          <a:p xmlns:a="http://schemas.openxmlformats.org/drawingml/2006/main">
            <a:r>
              <a:t>          "C11"</a:t>
            </a:r>
          </a:p>
          <a:p xmlns:a="http://schemas.openxmlformats.org/drawingml/2006/main">
            <a:r>
              <a:t>        ],</a:t>
            </a:r>
          </a:p>
          <a:p xmlns:a="http://schemas.openxmlformats.org/drawingml/2006/main">
            <a:r>
              <a:t>        "acceptance": "자산 식별자·담당자·설명의 원천 일치와 누락 항목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"c47acd02115ea8639438099db14eb807ebb43602a58a27a75e57bd7c44a01747"</a:t>
            </a:r>
          </a:p>
          <a:p xmlns:a="http://schemas.openxmlformats.org/drawingml/2006/main">
            <a:r>
              <a:t>      },</a:t>
            </a:r>
          </a:p>
          <a:p xmlns:a="http://schemas.openxmlformats.org/drawingml/2006/main">
            <a:r>
              <a:t>      {</a:t>
            </a:r>
          </a:p>
          <a:p xmlns:a="http://schemas.openxmlformats.org/drawingml/2006/main">
            <a:r>
              <a:t>        "id": "SFR-013",</a:t>
            </a:r>
          </a:p>
          <a:p xmlns:a="http://schemas.openxmlformats.org/drawingml/2006/main">
            <a:r>
              <a:t>        "title": "데이터 카탈로그 공사 맞춤 개발",</a:t>
            </a:r>
          </a:p>
          <a:p xmlns:a="http://schemas.openxmlformats.org/drawingml/2006/main">
            <a:r>
              <a:t>        "locator": "SFR-013",</a:t>
            </a:r>
          </a:p>
          <a:p xmlns:a="http://schemas.openxmlformats.org/drawingml/2006/main">
            <a:r>
              <a:t>        "summary": "기관 업무에 맞춘 데이터 카탈로그 구성과 활용.",</a:t>
            </a:r>
          </a:p>
          <a:p xmlns:a="http://schemas.openxmlformats.org/drawingml/2006/main">
            <a:r>
              <a:t>        "data": "업무 분류·사용자 문맥 → 맞춤 자산 정보",</a:t>
            </a:r>
          </a:p>
          <a:p xmlns:a="http://schemas.openxmlformats.org/drawingml/2006/main">
            <a:r>
              <a:t>        "components": [</a:t>
            </a:r>
          </a:p>
          <a:p xmlns:a="http://schemas.openxmlformats.org/drawingml/2006/main">
            <a:r>
              <a:t>          "C02",</a:t>
            </a:r>
          </a:p>
          <a:p xmlns:a="http://schemas.openxmlformats.org/drawingml/2006/main">
            <a:r>
              <a:t>          "C11",</a:t>
            </a:r>
          </a:p>
          <a:p xmlns:a="http://schemas.openxmlformats.org/drawingml/2006/main">
            <a:r>
              <a:t>          "C12"</a:t>
            </a:r>
          </a:p>
          <a:p xmlns:a="http://schemas.openxmlformats.org/drawingml/2006/main">
            <a:r>
              <a:t>        ],</a:t>
            </a:r>
          </a:p>
          <a:p xmlns:a="http://schemas.openxmlformats.org/drawingml/2006/main">
            <a:r>
              <a:t>        "acceptance": "부서·업무 분류 변경과 사용자 권한에 따른 자산 정보 표시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"dbe676ae5dc97c22a843994b927807e364fb8221c6d23ce8fb0b11a860ffc1b0"</a:t>
            </a:r>
          </a:p>
          <a:p xmlns:a="http://schemas.openxmlformats.org/drawingml/2006/main">
            <a:r>
              <a:t>      },</a:t>
            </a:r>
          </a:p>
          <a:p xmlns:a="http://schemas.openxmlformats.org/drawingml/2006/main">
            <a:r>
              <a:t>      {</a:t>
            </a:r>
          </a:p>
          <a:p xmlns:a="http://schemas.openxmlformats.org/drawingml/2006/main">
            <a:r>
              <a:t>        "id": "SFR-014",</a:t>
            </a:r>
          </a:p>
          <a:p xmlns:a="http://schemas.openxmlformats.org/drawingml/2006/main">
            <a:r>
              <a:t>        "title": "데이터 카탈로그 검색 기능",</a:t>
            </a:r>
          </a:p>
          <a:p xmlns:a="http://schemas.openxmlformats.org/drawingml/2006/main">
            <a:r>
              <a:t>        "locator": "SFR-014",</a:t>
            </a:r>
          </a:p>
          <a:p xmlns:a="http://schemas.openxmlformats.org/drawingml/2006/main">
            <a:r>
              <a:t>        "summary": "카탈로그의 데이터 자산 검색 기능.",</a:t>
            </a:r>
          </a:p>
          <a:p xmlns:a="http://schemas.openxmlformats.org/drawingml/2006/main">
            <a:r>
              <a:t>        "data": "자산명·업무 용어 → 관련 자산·설명",</a:t>
            </a:r>
          </a:p>
          <a:p xmlns:a="http://schemas.openxmlformats.org/drawingml/2006/main">
            <a:r>
              <a:t>        "components": [</a:t>
            </a:r>
          </a:p>
          <a:p xmlns:a="http://schemas.openxmlformats.org/drawingml/2006/main">
            <a:r>
              <a:t>          "C03",</a:t>
            </a:r>
          </a:p>
          <a:p xmlns:a="http://schemas.openxmlformats.org/drawingml/2006/main">
            <a:r>
              <a:t>          "C11"</a:t>
            </a:r>
          </a:p>
          <a:p xmlns:a="http://schemas.openxmlformats.org/drawingml/2006/main">
            <a:r>
              <a:t>        ],</a:t>
            </a:r>
          </a:p>
          <a:p xmlns:a="http://schemas.openxmlformats.org/drawingml/2006/main">
            <a:r>
              <a:t>        "acceptance": "다른 업무 용어로 같은 자산 탐색, 동명이자산 구분, 검색 결과 권한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"0d1cbe7ee72465436a3269eeb95106fa281de600b63107b9dfece31a434b39db"</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"국민·사내 접점",</a:t>
            </a:r>
          </a:p>
          <a:p xmlns:a="http://schemas.openxmlformats.org/drawingml/2006/main">
            <a:r>
              <a:t>          "layer": "이용 접점",</a:t>
            </a:r>
          </a:p>
          <a:p xmlns:a="http://schemas.openxmlformats.org/drawingml/2006/main">
            <a:r>
              <a:t>          "detail": "국민·직원·안건 검토자·데이터 담당",</a:t>
            </a:r>
          </a:p>
          <a:p xmlns:a="http://schemas.openxmlformats.org/drawingml/2006/main">
            <a:r>
              <a:t>          "requirements": [</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"SSO·DRM·망 구분",</a:t>
            </a:r>
          </a:p>
          <a:p xmlns:a="http://schemas.openxmlformats.org/drawingml/2006/main">
            <a:r>
              <a:t>          "layer": "업무 문맥",</a:t>
            </a:r>
          </a:p>
          <a:p xmlns:a="http://schemas.openxmlformats.org/drawingml/2006/main">
            <a:r>
              <a:t>          "detail": "외부·내부 접점과 망·계정·DRM 경계 분리",</a:t>
            </a:r>
          </a:p>
          <a:p xmlns:a="http://schemas.openxmlformats.org/drawingml/2006/main">
            <a:r>
              <a:t>          "requirements": [</a:t>
            </a:r>
          </a:p>
          <a:p xmlns:a="http://schemas.openxmlformats.org/drawingml/2006/main">
            <a:r>
              <a:t>            "SFR-003",</a:t>
            </a:r>
          </a:p>
          <a:p xmlns:a="http://schemas.openxmlformats.org/drawingml/2006/main">
            <a:r>
              <a:t>            "SFR-013"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"안건·허용자료 검색",</a:t>
            </a:r>
          </a:p>
          <a:p xmlns:a="http://schemas.openxmlformats.org/drawingml/2006/main">
            <a:r>
              <a:t>          "layer": "자료 조회",</a:t>
            </a:r>
          </a:p>
          <a:p xmlns:a="http://schemas.openxmlformats.org/drawingml/2006/main">
            <a:r>
              <a:t>          "detail": "질의·권한",</a:t>
            </a:r>
          </a:p>
          <a:p xmlns:a="http://schemas.openxmlformats.org/drawingml/2006/main">
            <a:r>
              <a:t>          "requirements": [</a:t>
            </a:r>
          </a:p>
          <a:p xmlns:a="http://schemas.openxmlformats.org/drawingml/2006/main">
            <a:r>
              <a:t>            "SFR-004",</a:t>
            </a:r>
          </a:p>
          <a:p xmlns:a="http://schemas.openxmlformats.org/drawingml/2006/main">
            <a:r>
              <a:t>            "SFR-009",</a:t>
            </a:r>
          </a:p>
          <a:p xmlns:a="http://schemas.openxmlformats.org/drawingml/2006/main">
            <a:r>
              <a:t>            "SFR-014"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"모델·요약·산식",</a:t>
            </a:r>
          </a:p>
          <a:p xmlns:a="http://schemas.openxmlformats.org/drawingml/2006/main">
            <a:r>
              <a:t>          "layer": "핵심 처리",</a:t>
            </a:r>
          </a:p>
          <a:p xmlns:a="http://schemas.openxmlformats.org/drawingml/2006/main">
            <a:r>
              <a:t>          "detail": "검색·요약·모델 라우팅·산식 검증",</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"산식·단위 대조",</a:t>
            </a:r>
          </a:p>
          <a:p xmlns:a="http://schemas.openxmlformats.org/drawingml/2006/main">
            <a:r>
              <a:t>          "layer": "결과 검증",</a:t>
            </a:r>
          </a:p>
          <a:p xmlns:a="http://schemas.openxmlformats.org/drawingml/2006/main">
            <a:r>
              <a:t>          "detail": "망·권한·산식별 독립 검증",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"업무 담당 검토",</a:t>
            </a:r>
          </a:p>
          <a:p xmlns:a="http://schemas.openxmlformats.org/drawingml/2006/main">
            <a:r>
              <a:t>          "layer": "사람 확인",</a:t>
            </a:r>
          </a:p>
          <a:p xmlns:a="http://schemas.openxmlformats.org/drawingml/2006/main">
            <a:r>
              <a:t>          "detail": "허용된 안건만 검색·요약하고 규정 산식을 독립 확인",</a:t>
            </a:r>
          </a:p>
          <a:p xmlns:a="http://schemas.openxmlformats.org/drawingml/2006/main">
            <a:r>
              <a:t>          "requirements": [</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"근거 요약·계산",</a:t>
            </a:r>
          </a:p>
          <a:p xmlns:a="http://schemas.openxmlformats.org/drawingml/2006/main">
            <a:r>
              <a:t>          "layer": "업무 연결",</a:t>
            </a:r>
          </a:p>
          <a:p xmlns:a="http://schemas.openxmlformats.org/drawingml/2006/main">
            <a:r>
              <a:t>          "detail": "권한 내 요약·계산 결과의 담당자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"품질·민감정보 점검",</a:t>
            </a:r>
          </a:p>
          <a:p xmlns:a="http://schemas.openxmlformats.org/drawingml/2006/main">
            <a:r>
              <a:t>          "layer": "운영 관측",</a:t>
            </a:r>
          </a:p>
          <a:p xmlns:a="http://schemas.openxmlformats.org/drawingml/2006/main">
            <a:r>
              <a:t>          "detail": "데이터 품질·민감정보·답변 품질 모니터링",</a:t>
            </a:r>
          </a:p>
          <a:p xmlns:a="http://schemas.openxmlformats.org/drawingml/2006/main">
            <a:r>
              <a:t>          "requirements": [</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"ECM·안건·공개자료",</a:t>
            </a:r>
          </a:p>
          <a:p xmlns:a="http://schemas.openxmlformats.org/drawingml/2006/main">
            <a:r>
              <a:t>          "layer": "데이터 원천",</a:t>
            </a:r>
          </a:p>
          <a:p xmlns:a="http://schemas.openxmlformats.org/drawingml/2006/main">
            <a:r>
              <a:t>          "detail": "지식·안건·카탈로그",</a:t>
            </a:r>
          </a:p>
          <a:p xmlns:a="http://schemas.openxmlformats.org/drawingml/2006/main">
            <a:r>
              <a:t>          "requirements": [</a:t>
            </a:r>
          </a:p>
          <a:p xmlns:a="http://schemas.openxmlformats.org/drawingml/2006/main">
            <a:r>
              <a:t>            "SFR-005",</a:t>
            </a:r>
          </a:p>
          <a:p xmlns:a="http://schemas.openxmlformats.org/drawingml/2006/main">
            <a:r>
              <a:t>            "SFR-012"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"메타정보·카탈로그",</a:t>
            </a:r>
          </a:p>
          <a:p xmlns:a="http://schemas.openxmlformats.org/drawingml/2006/main">
            <a:r>
              <a:t>          "layer": "준비·갱신",</a:t>
            </a:r>
          </a:p>
          <a:p xmlns:a="http://schemas.openxmlformats.org/drawingml/2006/main">
            <a:r>
              <a:t>          "detail": "안건 메타데이터·정형/비정형 데이터 카탈로그",</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"대민·사내 DB 분리",</a:t>
            </a:r>
          </a:p>
          <a:p xmlns:a="http://schemas.openxmlformats.org/drawingml/2006/main">
            <a:r>
              <a:t>          "layer": "상태·지식 저장",</a:t>
            </a:r>
          </a:p>
          <a:p xmlns:a="http://schemas.openxmlformats.org/drawingml/2006/main">
            <a:r>
              <a:t>          "detail": "망·권한별 노출 결과와 원문·계산·카탈로그 대사",</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"SFR-012",</a:t>
            </a:r>
          </a:p>
          <a:p xmlns:a="http://schemas.openxmlformats.org/drawingml/2006/main">
            <a:r>
              <a:t>            "SFR-013",</a:t>
            </a:r>
          </a:p>
          <a:p xmlns:a="http://schemas.openxmlformats.org/drawingml/2006/main">
            <a:r>
              <a:t>            "SFR-014"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"권한·망·모델 관리",</a:t>
            </a:r>
          </a:p>
          <a:p xmlns:a="http://schemas.openxmlformats.org/drawingml/2006/main">
            <a:r>
              <a:t>          "layer": "권한·정책",</a:t>
            </a:r>
          </a:p>
          <a:p xmlns:a="http://schemas.openxmlformats.org/drawingml/2006/main">
            <a:r>
              <a:t>          "detail": "외부 계정의 내부 안건 요청·DRM 제한·단위 오류",</a:t>
            </a:r>
          </a:p>
          <a:p xmlns:a="http://schemas.openxmlformats.org/drawingml/2006/main">
            <a:r>
              <a:t>          "requirements": [</a:t>
            </a:r>
          </a:p>
          <a:p xmlns:a="http://schemas.openxmlformats.org/drawingml/2006/main">
            <a:r>
              <a:t>            "SFR-013"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"외부·내부 접점과 망·계정·DRM 경계 분리",</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"질의·권한",</a:t>
            </a:r>
          </a:p>
          <a:p xmlns:a="http://schemas.openxmlformats.org/drawingml/2006/main">
            <a:r>
              <a:t>          "check": "망·권한·산식별 독립 검증"</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"허용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"요약·계산",</a:t>
            </a:r>
          </a:p>
          <a:p xmlns:a="http://schemas.openxmlformats.org/drawingml/2006/main">
            <a:r>
              <a:t>          "check": "외부 계정의 내부 안건 요청·DRM 제한·단위 오류"</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"요약·계산",</a:t>
            </a:r>
          </a:p>
          <a:p xmlns:a="http://schemas.openxmlformats.org/drawingml/2006/main">
            <a:r>
              <a:t>          "check": "권한 내 요약·계산 결과의 담당자 검토"</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 결과",</a:t>
            </a:r>
          </a:p>
          <a:p xmlns:a="http://schemas.openxmlformats.org/drawingml/2006/main">
            <a:r>
              <a:t>          "check": "망·권한별 노출 결과와 원문·계산·카탈로그 대사"</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"사전공개 RFP 구성도·SFR-001~014",</a:t>
            </a:r>
          </a:p>
          <a:p xmlns:a="http://schemas.openxmlformats.org/drawingml/2006/main">
            <a:r>
              <a:t>        "extracted": "대민/임직원 서비스와 DB 분리, SSO/EAM·데이터 업로드 경계",</a:t>
            </a:r>
          </a:p>
          <a:p xmlns:a="http://schemas.openxmlformats.org/drawingml/2006/main">
            <a:r>
              <a:t>        "extension": "공개·내부 경계 교차 시험과 금융 산식의 독립 검산"</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"PF-R08",</a:t>
            </a:r>
          </a:p>
          <a:p xmlns:a="http://schemas.openxmlformats.org/drawingml/2006/main">
            <a:r>
              <a:t>          "path": "assets/casebook-sources/PF-R08-01.png",</a:t>
            </a:r>
          </a:p>
          <a:p xmlns:a="http://schemas.openxmlformats.org/drawingml/2006/main">
            <a:r>
              <a:t>          "title": "대민·임직원 AI 서비스 분리",</a:t>
            </a:r>
          </a:p>
          <a:p xmlns:a="http://schemas.openxmlformats.org/drawingml/2006/main">
            <a:r>
              <a:t>          "status": "사전공개 RFP 목표 구성도",</a:t>
            </a:r>
          </a:p>
          <a:p xmlns:a="http://schemas.openxmlformats.org/drawingml/2006/main">
            <a:r>
              <a:t>          "caption": "보안·서비스·데이터·관리 서브넷과 SSO·업무 데이터 경계",</a:t>
            </a:r>
          </a:p>
          <a:p xmlns:a="http://schemas.openxmlformats.org/drawingml/2006/main">
            <a:r>
              <a:t>          "locator": "rId20 / BinData/BIN0002_bmp",</a:t>
            </a:r>
          </a:p>
          <a:p xmlns:a="http://schemas.openxmlformats.org/drawingml/2006/main">
            <a:r>
              <a:t>          "checked": "2026-10-16",</a:t>
            </a:r>
          </a:p>
          <a:p xmlns:a="http://schemas.openxmlformats.org/drawingml/2006/main">
            <a:r>
              <a:t>          "sha256": "dbd84b9d88acec3c54802ec4cc6eacaf8a872223e2a7ee89fadf50a173e38803",</a:t>
            </a:r>
          </a:p>
          <a:p xmlns:a="http://schemas.openxmlformats.org/drawingml/2006/main">
            <a:r>
              <a:t>          "explanation": {</a:t>
            </a:r>
          </a:p>
          <a:p xmlns:a="http://schemas.openxmlformats.org/drawingml/2006/main">
            <a:r>
              <a:t>            "read": "사전공개 요구의 대국민·임직원 서비스와 데이터·네트워크 경계를 구분한 목표 구성. 공개 상담용 자료와 내부 안건·업무 자료를 서비스·저장 계층에서 분리하는 구조.",</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"SFR-005",</a:t>
            </a:r>
          </a:p>
          <a:p xmlns:a="http://schemas.openxmlformats.org/drawingml/2006/main">
            <a:r>
              <a:t>              "SFR-009"</a:t>
            </a:r>
          </a:p>
          <a:p xmlns:a="http://schemas.openxmlformats.org/drawingml/2006/main">
            <a:r>
              <a:t>            ],</a:t>
            </a:r>
          </a:p>
          <a:p xmlns:a="http://schemas.openxmlformats.org/drawingml/2006/main">
            <a:r>
              <a:t>            "connection": "같은 AI 기반을 쓰더라도 공개·내부 검색 범위와 문서 반입 경로를 별도로 검수하고 사용자 문맥·SSO·DRM 등 기존 통제와 연결하는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"PF-R08",</a:t>
            </a:r>
          </a:p>
          <a:p xmlns:a="http://schemas.openxmlformats.org/drawingml/2006/main">
            <a:r>
              <a:t>          "path": "assets/casebook-sources/PF-R08-02.png",</a:t>
            </a:r>
          </a:p>
          <a:p xmlns:a="http://schemas.openxmlformats.org/drawingml/2006/main">
            <a:r>
              <a:t>          "title": "데이터 카탈로그·업무 매핑",</a:t>
            </a:r>
          </a:p>
          <a:p xmlns:a="http://schemas.openxmlformats.org/drawingml/2006/main">
            <a:r>
              <a:t>          "status": "사전공개 RFP 데이터 구성도",</a:t>
            </a:r>
          </a:p>
          <a:p xmlns:a="http://schemas.openxmlformats.org/drawingml/2006/main">
            <a:r>
              <a:t>          "caption": "대시보드·통합검색·데이터등록·표준·품질과 업무 매핑",</a:t>
            </a:r>
          </a:p>
          <a:p xmlns:a="http://schemas.openxmlformats.org/drawingml/2006/main">
            <a:r>
              <a:t>          "locator": "rId20 / BinData/BIN0001_bmp",</a:t>
            </a:r>
          </a:p>
          <a:p xmlns:a="http://schemas.openxmlformats.org/drawingml/2006/main">
            <a:r>
              <a:t>          "checked": "2026-10-16",</a:t>
            </a:r>
          </a:p>
          <a:p xmlns:a="http://schemas.openxmlformats.org/drawingml/2006/main">
            <a:r>
              <a:t>          "sha256": "e91edef465c1a60d5edcd6288eefa4a5d158cd9980b9b941428685ef6e32a0f5",</a:t>
            </a:r>
          </a:p>
          <a:p xmlns:a="http://schemas.openxmlformats.org/drawingml/2006/main">
            <a:r>
              <a:t>          "explanation": {</a:t>
            </a:r>
          </a:p>
          <a:p xmlns:a="http://schemas.openxmlformats.org/drawingml/2006/main">
            <a:r>
              <a:t>            "read": "카탈로그와 MDMS·ECM 등 기존 데이터·문서 체계의 업무 연결. AI 답변에 앞서 어떤 데이터가 존재하고 누가 관리하며 어떤 업무에서 쓰는지 찾을 수 있도록 하는 정보 기반.",</a:t>
            </a:r>
          </a:p>
          <a:p xmlns:a="http://schemas.openxmlformats.org/drawingml/2006/main">
            <a:r>
              <a:t>            "requirements": [</a:t>
            </a:r>
          </a:p>
          <a:p xmlns:a="http://schemas.openxmlformats.org/drawingml/2006/main">
            <a:r>
              <a:t>              "SFR-012",</a:t>
            </a:r>
          </a:p>
          <a:p xmlns:a="http://schemas.openxmlformats.org/drawingml/2006/main">
            <a:r>
              <a:t>              "SFR-013",</a:t>
            </a:r>
          </a:p>
          <a:p xmlns:a="http://schemas.openxmlformats.org/drawingml/2006/main">
            <a:r>
              <a:t>              "SFR-014"</a:t>
            </a:r>
          </a:p>
          <a:p xmlns:a="http://schemas.openxmlformats.org/drawingml/2006/main">
            <a:r>
              <a:t>            ],</a:t>
            </a:r>
          </a:p>
          <a:p xmlns:a="http://schemas.openxmlformats.org/drawingml/2006/main">
            <a:r>
              <a:t>            "connection": "TS의 조직·업무 ID와 데이터 자산·소관 부서를 연결하고 문서 검색 권한과 카탈로그 설명의 공개 범위를 분리해 관리하는 적용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"외부 계정의 내부 안건 요청·DRM 제한·단위 오류",</a:t>
            </a:r>
          </a:p>
          <a:p xmlns:a="http://schemas.openxmlformats.org/drawingml/2006/main">
            <a:r>
              <a:t>        "hold": "망·권한·산식별 독립 검증",</a:t>
            </a:r>
          </a:p>
          <a:p xmlns:a="http://schemas.openxmlformats.org/drawingml/2006/main">
            <a:r>
              <a:t>        "recovery": "데이터 품질·민감정보·답변 품질 모니터링",</a:t>
            </a:r>
          </a:p>
          <a:p xmlns:a="http://schemas.openxmlformats.org/drawingml/2006/main">
            <a:r>
              <a:t>        "evidence": "망·권한별 노출 결과와 원문·계산·카탈로그 대사"</a:t>
            </a:r>
          </a:p>
          <a:p xmlns:a="http://schemas.openxmlformats.org/drawingml/2006/main">
            <a:r>
              <a:t>      },</a:t>
            </a:r>
          </a:p>
          <a:p xmlns:a="http://schemas.openxmlformats.org/drawingml/2006/main">
            <a:r>
              <a:t>      "data": {</a:t>
            </a:r>
          </a:p>
          <a:p xmlns:a="http://schemas.openxmlformats.org/drawingml/2006/main">
            <a:r>
              <a:t>        "source": "지식·안건·카탈로그",</a:t>
            </a:r>
          </a:p>
          <a:p xmlns:a="http://schemas.openxmlformats.org/drawingml/2006/main">
            <a:r>
              <a:t>        "prepare": "안건 메타데이터·정형/비정형 데이터 카탈로그",</a:t>
            </a:r>
          </a:p>
          <a:p xmlns:a="http://schemas.openxmlformats.org/drawingml/2006/main">
            <a:r>
              <a:t>        "output": "질의·권한",</a:t>
            </a:r>
          </a:p>
          <a:p xmlns:a="http://schemas.openxmlformats.org/drawingml/2006/main">
            <a:r>
              <a:t>        "refresh": "데이터 품질·민감정보·답변 품질 모니터링"</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"PF-R08",</a:t>
            </a:r>
          </a:p>
          <a:p xmlns:a="http://schemas.openxmlformats.org/drawingml/2006/main">
            <a:r>
              <a:t>    "success": [</a:t>
            </a:r>
          </a:p>
          <a:p xmlns:a="http://schemas.openxmlformats.org/drawingml/2006/main">
            <a:r>
              <a:t>      "대국민·사내 지식 경계 분리",</a:t>
            </a:r>
          </a:p>
          <a:p xmlns:a="http://schemas.openxmlformats.org/drawingml/2006/main">
            <a:r>
              <a:t>      "카탈로그와 데이터 통제 결합"</a:t>
            </a:r>
          </a:p>
          <a:p xmlns:a="http://schemas.openxmlformats.org/drawingml/2006/main">
            <a:r>
              <a:t>    ],</a:t>
            </a:r>
          </a:p>
          <a:p xmlns:a="http://schemas.openxmlformats.org/drawingml/2006/main">
            <a:r>
              <a:t>    "risks": [</a:t>
            </a:r>
          </a:p>
          <a:p xmlns:a="http://schemas.openxmlformats.org/drawingml/2006/main">
            <a:r>
              <a:t>      "DRM·접근권한 전파 누락",</a:t>
            </a:r>
          </a:p>
          <a:p xmlns:a="http://schemas.openxmlformats.org/drawingml/2006/main">
            <a:r>
              <a:t>      "금융 산식·단위 오류"</a:t>
            </a:r>
          </a:p>
          <a:p xmlns:a="http://schemas.openxmlformats.org/drawingml/2006/main">
            <a:r>
              <a:t>    ],</a:t>
            </a:r>
          </a:p>
          <a:p xmlns:a="http://schemas.openxmlformats.org/drawingml/2006/main">
            <a:r>
              <a:t>    "architecture": [</a:t>
            </a:r>
          </a:p>
          <a:p xmlns:a="http://schemas.openxmlformats.org/drawingml/2006/main">
            <a:r>
              <a:t>      "국민·직원 접점",</a:t>
            </a:r>
          </a:p>
          <a:p xmlns:a="http://schemas.openxmlformats.org/drawingml/2006/main">
            <a:r>
              <a:t>      "검색·요약·산식 검토",</a:t>
            </a:r>
          </a:p>
          <a:p xmlns:a="http://schemas.openxmlformats.org/drawingml/2006/main">
            <a:r>
              <a:t>      "지식·안건·카탈로그",</a:t>
            </a:r>
          </a:p>
          <a:p xmlns:a="http://schemas.openxmlformats.org/drawingml/2006/main">
            <a:r>
              <a:t>      "업무 검토자"</a:t>
            </a:r>
          </a:p>
          <a:p xmlns:a="http://schemas.openxmlformats.org/drawingml/2006/main">
            <a:r>
              <a:t>    ],</a:t>
            </a:r>
          </a:p>
          <a:p xmlns:a="http://schemas.openxmlformats.org/drawingml/2006/main">
            <a:r>
              <a:t>    "transfers": [</a:t>
            </a:r>
          </a:p>
          <a:p xmlns:a="http://schemas.openxmlformats.org/drawingml/2006/main">
            <a:r>
              <a:t>      "질의·권한",</a:t>
            </a:r>
          </a:p>
          <a:p xmlns:a="http://schemas.openxmlformats.org/drawingml/2006/main">
            <a:r>
              <a:t>      "허용 근거",</a:t>
            </a:r>
          </a:p>
          <a:p xmlns:a="http://schemas.openxmlformats.org/drawingml/2006/main">
            <a:r>
              <a:t>      "요약·계산",</a:t>
            </a:r>
          </a:p>
          <a:p xmlns:a="http://schemas.openxmlformats.org/drawingml/2006/main">
            <a:r>
              <a:t>      "검토 결과"</a:t>
            </a:r>
          </a:p>
          <a:p xmlns:a="http://schemas.openxmlformats.org/drawingml/2006/main">
            <a:r>
              <a:t>    ],</a:t>
            </a:r>
          </a:p>
          <a:p xmlns:a="http://schemas.openxmlformats.org/drawingml/2006/main">
            <a:r>
              <a:t>    "control": "망·권한·산식별 독립 검증",</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SFR-001~014, DAR·CNR / Word T089 https://www.g2b.go.kr/pn/pnz/pnza/UntyAtchFile/downloadFile.do?bfSpecRegNo=R26BD00217546&amp;fileType=BFDTL&amp;fileSeq=1</a:t>
            </a:r>
          </a:p>
          <a:p xmlns:a="http://schemas.openxmlformats.org/drawingml/2006/main">
            <a:r>
              <a:t>홈페이지 https://heen1987-ops.github.io/TS-business-Plan-001/index.html?view=platform-cases&amp;case=PF-R08</a:t>
            </a:r>
          </a:p>
          <a:p xmlns:a="http://schemas.openxmlformats.org/drawingml/2006/main">
            <a:r>
              <a:t>원문 도면 {"caseId":"PF-R08","path":"assets/casebook-sources/PF-R08-01.png","title":"대민·임직원 AI 서비스 분리","status":"사전공개 RFP 목표 구성도","caption":"보안·서비스·데이터·관리 서브넷과 SSO·업무 데이터 경계","locator":"rId20 / BinData/BIN0002_bmp","checked":"2026-10-16","sha256":"dbd84b9d88acec3c54802ec4cc6eacaf8a872223e2a7ee89fadf50a173e38803","explanation":{"read":"사전공개 요구의 대국민·임직원 서비스와 데이터·네트워크 경계를 구분한 목표 구성. 공개 상담용 자료와 내부 안건·업무 자료를 서비스·저장 계층에서 분리하는 구조.","requirements":["SFR-003","SFR-004","SFR-005","SFR-009"],"connection":"같은 AI 기반을 쓰더라도 공개·내부 검색 범위와 문서 반입 경로를 별도로 검수하고 사용자 문맥·SSO·DRM 등 기존 통제와 연결하는 설계."}}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"PF-R08",</a:t>
            </a:r>
          </a:p>
          <a:p xmlns:a="http://schemas.openxmlformats.org/drawingml/2006/main">
            <a:r>
              <a:t>    "sourceId": "R08",</a:t>
            </a:r>
          </a:p>
          <a:p xmlns:a="http://schemas.openxmlformats.org/drawingml/2006/main">
            <a:r>
              <a:t>    "title": "예금보험공사 생성형 AI",</a:t>
            </a:r>
          </a:p>
          <a:p xmlns:a="http://schemas.openxmlformats.org/drawingml/2006/main">
            <a:r>
              <a:t>    "region": "국내",</a:t>
            </a:r>
          </a:p>
          <a:p xmlns:a="http://schemas.openxmlformats.org/drawingml/2006/main">
            <a:r>
              <a:t>    "owner": "예금보험공사",</a:t>
            </a:r>
          </a:p>
          <a:p xmlns:a="http://schemas.openxmlformats.org/drawingml/2006/main">
            <a:r>
              <a:t>    "state": "사전규격 RFP + 공급사 계약 발표 확인 / 최종본·준공 미확인",</a:t>
            </a:r>
          </a:p>
          <a:p xmlns:a="http://schemas.openxmlformats.org/drawingml/2006/main">
            <a:r>
              <a:t>    "period": "기존 원장 확인 2026.10.16",</a:t>
            </a:r>
          </a:p>
          <a:p xmlns:a="http://schemas.openxmlformats.org/drawingml/2006/main">
            <a:r>
              <a:t>    "fact": "대국민 챗봇·사내 챗봇·금융위 안건 검색요약 + 데이터 카탈로그/거버넌스",</a:t>
            </a:r>
          </a:p>
          <a:p xmlns:a="http://schemas.openxmlformats.org/drawingml/2006/main">
            <a:r>
              <a:t>    "limit": "학습용 FAQ500건과 서비스별 검증셋500건은 별도 요구. 계획상 수치를 운영 실적으로 사용하지 않음",</a:t>
            </a:r>
          </a:p>
          <a:p xmlns:a="http://schemas.openxmlformats.org/drawingml/2006/main">
            <a:r>
              <a:t>    "nodes": [</a:t>
            </a:r>
          </a:p>
          <a:p xmlns:a="http://schemas.openxmlformats.org/drawingml/2006/main">
            <a:r>
              <a:t>      "지식·안건",</a:t>
            </a:r>
          </a:p>
          <a:p xmlns:a="http://schemas.openxmlformats.org/drawingml/2006/main">
            <a:r>
              <a:t>      "권한·망·DRM",</a:t>
            </a:r>
          </a:p>
          <a:p xmlns:a="http://schemas.openxmlformats.org/drawingml/2006/main">
            <a:r>
              <a:t>      "검색·산식 검증",</a:t>
            </a:r>
          </a:p>
          <a:p xmlns:a="http://schemas.openxmlformats.org/drawingml/2006/main">
            <a:r>
              <a:t>      "평가·운영"</a:t>
            </a:r>
          </a:p>
          <a:p xmlns:a="http://schemas.openxmlformats.org/drawingml/2006/main">
            <a:r>
              <a:t>    ],</a:t>
            </a:r>
          </a:p>
          <a:p xmlns:a="http://schemas.openxmlformats.org/drawingml/2006/main">
            <a:r>
              <a:t>    "apply": "대민·내부 지식 경계와 데이터 카탈로그를 함께 설계하는 정보 제공",</a:t>
            </a:r>
          </a:p>
          <a:p xmlns:a="http://schemas.openxmlformats.org/drawingml/2006/main">
            <a:r>
              <a:t>    "delta": "내외부 지식·망 분리 / 문서 DRM·권한 / 안건·산식·데이터 카탈로그",</a:t>
            </a:r>
          </a:p>
          <a:p xmlns:a="http://schemas.openxmlformats.org/drawingml/2006/main">
            <a:r>
              <a:t>    "test": "외부 계정의 내부자료 요청·DRM·산식 오류에 대한 독립 검증",</a:t>
            </a:r>
          </a:p>
          <a:p xmlns:a="http://schemas.openxmlformats.org/drawingml/2006/main">
            <a:r>
              <a:t>    "url": "https://www.g2b.go.kr/pn/pnz/pnza/UntyAtchFile/downloadFile.do?bfSpecRegNo=R26BD00217546&amp;fileType=BFDTL&amp;fileSeq=1",</a:t>
            </a:r>
          </a:p>
          <a:p xmlns:a="http://schemas.openxmlformats.org/drawingml/2006/main">
            <a:r>
              <a:t>    "urls": [</a:t>
            </a:r>
          </a:p>
          <a:p xmlns:a="http://schemas.openxmlformats.org/drawingml/2006/main">
            <a:r>
              <a:t>      "https://www.g2b.go.kr/pn/pnz/pnza/UntyAtchFile/downloadFile.do?bfSpecRegNo=R26BD00217546&amp;fileType=BFDTL&amp;fileSeq=1",</a:t>
            </a:r>
          </a:p>
          <a:p xmlns:a="http://schemas.openxmlformats.org/drawingml/2006/main">
            <a:r>
              <a:t>      "https://clabi.ai/news/fe55039a-f069-4218-aa5a-0c1057c5ca92"</a:t>
            </a:r>
          </a:p>
          <a:p xmlns:a="http://schemas.openxmlformats.org/drawingml/2006/main">
            <a:r>
              <a:t>    ],</a:t>
            </a:r>
          </a:p>
          <a:p xmlns:a="http://schemas.openxmlformats.org/drawingml/2006/main">
            <a:r>
              <a:t>    "basis": "SFR-001~014, DAR·CNR / Word T089",</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"비인가 노출 건수 / 원천 추적률 / 안건 검토시간",</a:t>
            </a:r>
          </a:p>
          <a:p xmlns:a="http://schemas.openxmlformats.org/drawingml/2006/main">
            <a:r>
              <a:t>    "group": "요구·구축",</a:t>
            </a:r>
          </a:p>
          <a:p xmlns:a="http://schemas.openxmlformats.org/drawingml/2006/main">
            <a:r>
              <a:t>    "sourceDetail": "망·DRM·권한 연계; 안건 메타데이터 범위검색; 규정 산식 교차검증; 모델라우팅·평가·모니터링",</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"PF-R08",</a:t>
            </a:r>
          </a:p>
          <a:p xmlns:a="http://schemas.openxmlformats.org/drawingml/2006/main">
            <a:r>
              <a:t>    "canonicalId": "PF-R08",</a:t>
            </a:r>
          </a:p>
          <a:p xmlns:a="http://schemas.openxmlformats.org/drawingml/2006/main">
            <a:r>
              <a:t>    "purpose": "대민·사내 AI와 데이터 관리체계의 공동 구축",</a:t>
            </a:r>
          </a:p>
          <a:p xmlns:a="http://schemas.openxmlformats.org/drawingml/2006/main">
            <a:r>
              <a:t>    "users": "국민·직원·안건 검토자·데이터 담당",</a:t>
            </a:r>
          </a:p>
          <a:p xmlns:a="http://schemas.openxmlformats.org/drawingml/2006/main">
            <a:r>
              <a:t>    "scope": [</a:t>
            </a:r>
          </a:p>
          <a:p xmlns:a="http://schemas.openxmlformats.org/drawingml/2006/main">
            <a:r>
              <a:t>      "챗봇",</a:t>
            </a:r>
          </a:p>
          <a:p xmlns:a="http://schemas.openxmlformats.org/drawingml/2006/main">
            <a:r>
              <a:t>      "안건 검색·요약",</a:t>
            </a:r>
          </a:p>
          <a:p xmlns:a="http://schemas.openxmlformats.org/drawingml/2006/main">
            <a:r>
              <a:t>      "카탈로그"</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"국민·직원 접점",</a:t>
            </a:r>
          </a:p>
          <a:p xmlns:a="http://schemas.openxmlformats.org/drawingml/2006/main">
            <a:r>
              <a:t>        "detail": "외부·내부 접점과 망·계정·DRM 경계 분리",</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"챗봇 / 안건 검색·요약 / 카탈로그",</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"검색·요약·산식 검토",</a:t>
            </a:r>
          </a:p>
          <a:p xmlns:a="http://schemas.openxmlformats.org/drawingml/2006/main">
            <a:r>
              <a:t>        "detail": "검색·요약·모델 라우팅·산식 검증",</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"업무 검토자",</a:t>
            </a:r>
          </a:p>
          <a:p xmlns:a="http://schemas.openxmlformats.org/drawingml/2006/main">
            <a:r>
              <a:t>        "detail": "권한 내 요약·계산 결과의 담당자 검토",</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"지식·안건·카탈로그",</a:t>
            </a:r>
          </a:p>
          <a:p xmlns:a="http://schemas.openxmlformats.org/drawingml/2006/main">
            <a:r>
              <a:t>        "detail": "안건 메타데이터·정형/비정형 데이터 카탈로그",</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"데이터 품질·민감정보·답변 품질 모니터링",</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"지식·안건",</a:t>
            </a:r>
          </a:p>
          <a:p xmlns:a="http://schemas.openxmlformats.org/drawingml/2006/main">
            <a:r>
              <a:t>        "input": "외부·내부 접점과 망·계정·DRM 경계 분리",</a:t>
            </a:r>
          </a:p>
          <a:p xmlns:a="http://schemas.openxmlformats.org/drawingml/2006/main">
            <a:r>
              <a:t>        "process": "안건 메타데이터·정형/비정형 데이터 카탈로그",</a:t>
            </a:r>
          </a:p>
          <a:p xmlns:a="http://schemas.openxmlformats.org/drawingml/2006/main">
            <a:r>
              <a:t>        "output": "질의·권한"</a:t>
            </a:r>
          </a:p>
          <a:p xmlns:a="http://schemas.openxmlformats.org/drawingml/2006/main">
            <a:r>
              <a:t>      },</a:t>
            </a:r>
          </a:p>
          <a:p xmlns:a="http://schemas.openxmlformats.org/drawingml/2006/main">
            <a:r>
              <a:t>      {</a:t>
            </a:r>
          </a:p>
          <a:p xmlns:a="http://schemas.openxmlformats.org/drawingml/2006/main">
            <a:r>
              <a:t>        "title": "권한·망·DRM",</a:t>
            </a:r>
          </a:p>
          <a:p xmlns:a="http://schemas.openxmlformats.org/drawingml/2006/main">
            <a:r>
              <a:t>        "input": "질의·권한",</a:t>
            </a:r>
          </a:p>
          <a:p xmlns:a="http://schemas.openxmlformats.org/drawingml/2006/main">
            <a:r>
              <a:t>        "process": "검색·요약·모델 라우팅·산식 검증",</a:t>
            </a:r>
          </a:p>
          <a:p xmlns:a="http://schemas.openxmlformats.org/drawingml/2006/main">
            <a:r>
              <a:t>        "output": "허용 근거"</a:t>
            </a:r>
          </a:p>
          <a:p xmlns:a="http://schemas.openxmlformats.org/drawingml/2006/main">
            <a:r>
              <a:t>      },</a:t>
            </a:r>
          </a:p>
          <a:p xmlns:a="http://schemas.openxmlformats.org/drawingml/2006/main">
            <a:r>
              <a:t>      {</a:t>
            </a:r>
          </a:p>
          <a:p xmlns:a="http://schemas.openxmlformats.org/drawingml/2006/main">
            <a:r>
              <a:t>        "title": "검색·산식 검증",</a:t>
            </a:r>
          </a:p>
          <a:p xmlns:a="http://schemas.openxmlformats.org/drawingml/2006/main">
            <a:r>
              <a:t>        "input": "허용 근거",</a:t>
            </a:r>
          </a:p>
          <a:p xmlns:a="http://schemas.openxmlformats.org/drawingml/2006/main">
            <a:r>
              <a:t>        "process": "망·권한·산식별 독립 검증",</a:t>
            </a:r>
          </a:p>
          <a:p xmlns:a="http://schemas.openxmlformats.org/drawingml/2006/main">
            <a:r>
              <a:t>        "output": "요약·계산"</a:t>
            </a:r>
          </a:p>
          <a:p xmlns:a="http://schemas.openxmlformats.org/drawingml/2006/main">
            <a:r>
              <a:t>      },</a:t>
            </a:r>
          </a:p>
          <a:p xmlns:a="http://schemas.openxmlformats.org/drawingml/2006/main">
            <a:r>
              <a:t>      {</a:t>
            </a:r>
          </a:p>
          <a:p xmlns:a="http://schemas.openxmlformats.org/drawingml/2006/main">
            <a:r>
              <a:t>        "title": "평가·운영",</a:t>
            </a:r>
          </a:p>
          <a:p xmlns:a="http://schemas.openxmlformats.org/drawingml/2006/main">
            <a:r>
              <a:t>        "input": "요약·계산",</a:t>
            </a:r>
          </a:p>
          <a:p xmlns:a="http://schemas.openxmlformats.org/drawingml/2006/main">
            <a:r>
              <a:t>        "process": "권한 내 요약·계산 결과의 담당자 검토",</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"허용된 안건만 검색·요약하고 규정 산식을 독립 확인",</a:t>
            </a:r>
          </a:p>
          <a:p xmlns:a="http://schemas.openxmlformats.org/drawingml/2006/main">
            <a:r>
              <a:t>      "exception": "외부 계정의 내부 안건 요청·DRM 제한·단위 오류",</a:t>
            </a:r>
          </a:p>
          <a:p xmlns:a="http://schemas.openxmlformats.org/drawingml/2006/main">
            <a:r>
              <a:t>      "evidence": "망·권한별 노출 결과와 원문·계산·카탈로그 대사",</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"국민·직원·안건 검토자·데이터 담당",</a:t>
            </a:r>
          </a:p>
          <a:p xmlns:a="http://schemas.openxmlformats.org/drawingml/2006/main">
            <a:r>
              <a:t>          "processing": "외부·내부 접점과 망·계정·DRM 경계 분리",</a:t>
            </a:r>
          </a:p>
          <a:p xmlns:a="http://schemas.openxmlformats.org/drawingml/2006/main">
            <a:r>
              <a:t>          "output": "질의·권한"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"지식·안건·카탈로그",</a:t>
            </a:r>
          </a:p>
          <a:p xmlns:a="http://schemas.openxmlformats.org/drawingml/2006/main">
            <a:r>
              <a:t>          "processing": "안건 메타데이터·정형/비정형 데이터 카탈로그",</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"질의·권한",</a:t>
            </a:r>
          </a:p>
          <a:p xmlns:a="http://schemas.openxmlformats.org/drawingml/2006/main">
            <a:r>
              <a:t>          "processing": "검색·요약·모델 라우팅·산식 검증",</a:t>
            </a:r>
          </a:p>
          <a:p xmlns:a="http://schemas.openxmlformats.org/drawingml/2006/main">
            <a:r>
              <a:t>          "output": "요약·계산"</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"요약·계산",</a:t>
            </a:r>
          </a:p>
          <a:p xmlns:a="http://schemas.openxmlformats.org/drawingml/2006/main">
            <a:r>
              <a:t>          "processing": "권한 내 요약·계산 결과의 담당자 검토",</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"데이터 품질·민감정보·답변 품질 모니터링",</a:t>
            </a:r>
          </a:p>
          <a:p xmlns:a="http://schemas.openxmlformats.org/drawingml/2006/main">
            <a:r>
              <a:t>          "output": "망·권한별 노출 결과와 원문·계산·카탈로그 대사"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"데이터 품질·민감정보·답변 품질 모니터링",</a:t>
            </a:r>
          </a:p>
          <a:p xmlns:a="http://schemas.openxmlformats.org/drawingml/2006/main">
            <a:r>
              <a:t>    "status": "RFP 기반 논리 설계",</a:t>
            </a:r>
          </a:p>
          <a:p xmlns:a="http://schemas.openxmlformats.org/drawingml/2006/main">
            <a:r>
              <a:t>    "basis": "사전공개 RFP 2026.04 · SFR-001~014·DAR·CNR",</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"SFR-001~014, DAR·CNR / Word T089",</a:t>
            </a:r>
          </a:p>
          <a:p xmlns:a="http://schemas.openxmlformats.org/drawingml/2006/main">
            <a:r>
              <a:t>        "url": "https://www.g2b.go.kr/pn/pnz/pnza/UntyAtchFile/downloadFile.do?bfSpecRegNo=R26BD00217546&amp;fileType=BFDTL&amp;fileSeq=1"</a:t>
            </a:r>
          </a:p>
          <a:p xmlns:a="http://schemas.openxmlformats.org/drawingml/2006/main">
            <a:r>
              <a:t>      }</a:t>
            </a:r>
          </a:p>
          <a:p xmlns:a="http://schemas.openxmlformats.org/drawingml/2006/main">
            <a:r>
              <a:t>    ],</a:t>
            </a:r>
          </a:p>
          <a:p xmlns:a="http://schemas.openxmlformats.org/drawingml/2006/main">
            <a:r>
              <a:t>    "implication": "대민·내부 지식 경계와 데이터 카탈로그를 함께 설계하는 정보 제공",</a:t>
            </a:r>
          </a:p>
          <a:p xmlns:a="http://schemas.openxmlformats.org/drawingml/2006/main">
            <a:r>
              <a:t>    "local": "대민·내부 지식 경계와 데이터 카탈로그를 함께 설계하는 정보 제공",</a:t>
            </a:r>
          </a:p>
          <a:p xmlns:a="http://schemas.openxmlformats.org/drawingml/2006/main">
            <a:r>
              <a:t>    "sourceDetail": "망·DRM·권한 연계; 안건 메타데이터 범위검색; 규정 산식 교차검증; 모델라우팅·평가·모니터링",</a:t>
            </a:r>
          </a:p>
          <a:p xmlns:a="http://schemas.openxmlformats.org/drawingml/2006/main">
            <a:r>
              <a:t>    "narrative": [</a:t>
            </a:r>
          </a:p>
          <a:p xmlns:a="http://schemas.openxmlformats.org/drawingml/2006/main">
            <a:r>
              <a:t>      "대국민 챗봇, 임직원 지식 활용, 안건 검색·요약과 데이터 카탈로그를 함께 다루는 생성형 AI 플랫폼 계획. 대외 공개 지식과 내부 업무 자료를 같은 검색 범위로 취급하지 않는 것이 구성의 출발점.",</a:t>
            </a:r>
          </a:p>
          <a:p xmlns:a="http://schemas.openxmlformats.org/drawingml/2006/main">
            <a:r>
              <a:t>      "사전공개 RFP 도면은 대민·임직원 서비스를 나누고 각각 보안·서비스·데이터·관리 서브넷을 배치. 내부 영역은 SSO/EAM·ECM·업무 시스템과 연결하고, 별도 데이터 카탈로그는 업무분류체계·담당부서·메타데이터·사용승인을 연결하는 구조.",</a:t>
            </a:r>
          </a:p>
          <a:p xmlns:a="http://schemas.openxmlformats.org/drawingml/2006/main">
            <a:r>
              <a:t>      "TS 조직 기반 플랫폼에서는 직원이 누구인지뿐 아니라 특정 데이터의 업무 소관·활용 목적·승인 조건을 함께 관리하는 참고 사례. CCK 추가 개발은 조직·업무 사전과 카탈로그의 연결, DRM·권한 전파, 안건 범위검색, 산식 검증의 업무별 분리. 사전공개 요구와 실제 운영 성과는 별도 증빙으로 평가."</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"SFR-003",</a:t>
            </a:r>
          </a:p>
          <a:p xmlns:a="http://schemas.openxmlformats.org/drawingml/2006/main">
            <a:r>
              <a:t>        "title": "AI 서비스 에이전트 관리 기능",</a:t>
            </a:r>
          </a:p>
          <a:p xmlns:a="http://schemas.openxmlformats.org/drawingml/2006/main">
            <a:r>
              <a:t>        "locator": "SFR-003",</a:t>
            </a:r>
          </a:p>
          <a:p xmlns:a="http://schemas.openxmlformats.org/drawingml/2006/main">
            <a:r>
              <a:t>        "summary": "AI 에이전트의 구성·운영 관리 기능.",</a:t>
            </a:r>
          </a:p>
          <a:p xmlns:a="http://schemas.openxmlformats.org/drawingml/2006/main">
            <a:r>
              <a:t>        "data": "에이전트 설정·도구 → 실행 상태·관리 기록",</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"C08"</a:t>
            </a:r>
          </a:p>
          <a:p xmlns:a="http://schemas.openxmlformats.org/drawingml/2006/main">
            <a:r>
              <a:t>        ],</a:t>
            </a:r>
          </a:p>
          <a:p xmlns:a="http://schemas.openxmlformats.org/drawingml/2006/main">
            <a:r>
              <a:t>        "acceptance": "잘못된 도구 권한과 구성 변경 시 실행 차단·판본 추적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"1590814bc8f7ceb1abe4749ac8c848bd13cc7c8da0eb672ad1ee7d69ba045a3f"</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"AI 서비스 RAG 기능",</a:t>
            </a:r>
          </a:p>
          <a:p xmlns:a="http://schemas.openxmlformats.org/drawingml/2006/main">
            <a:r>
              <a:t>        "locator": "SFR-004",</a:t>
            </a:r>
          </a:p>
          <a:p xmlns:a="http://schemas.openxmlformats.org/drawingml/2006/main">
            <a:r>
              <a:t>        "summary": "업무 지식을 검색해 생성 응답에 연결하는 RAG 기능.",</a:t>
            </a:r>
          </a:p>
          <a:p xmlns:a="http://schemas.openxmlformats.org/drawingml/2006/main">
            <a:r>
              <a:t>        "data": "질의·허용 문서 → 근거·응답",</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"C11"</a:t>
            </a:r>
          </a:p>
          <a:p xmlns:a="http://schemas.openxmlformats.org/drawingml/2006/main">
            <a:r>
              <a:t>        ],</a:t>
            </a:r>
          </a:p>
          <a:p xmlns:a="http://schemas.openxmlformats.org/drawingml/2006/main">
            <a:r>
              <a:t>        "acceptance": "사내·대국민 문서 혼재 시 검색 범위 분리와 출처 정확성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"6779cdd1e875adfd01a03d244801be17e636a2a970a25d78c0009ee42d836beb"</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"AI 서비스 데이터 파이프라인 자동화 기능",</a:t>
            </a:r>
          </a:p>
          <a:p xmlns:a="http://schemas.openxmlformats.org/drawingml/2006/main">
            <a:r>
              <a:t>        "locator": "SFR-005",</a:t>
            </a:r>
          </a:p>
          <a:p xmlns:a="http://schemas.openxmlformats.org/drawingml/2006/main">
            <a:r>
              <a:t>        "summary": "원천 자료의 수집·전처리·검색 반영 데이터 파이프라인.",</a:t>
            </a:r>
          </a:p>
          <a:p xmlns:a="http://schemas.openxmlformats.org/drawingml/2006/main">
            <a:r>
              <a:t>        "data": "원천 문서·메타정보 → 검색용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"등록·개정·삭제·정제 실패의 처리 결과와 원천 변경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"ce9810ce185079fa2fef5d1208af96a3a07ef6e6e5ca1ec36d2dd7a42c90df96"</a:t>
            </a:r>
          </a:p>
          <a:p xmlns:a="http://schemas.openxmlformats.org/drawingml/2006/main">
            <a:r>
              <a:t>      },</a:t>
            </a:r>
          </a:p>
          <a:p xmlns:a="http://schemas.openxmlformats.org/drawingml/2006/main">
            <a:r>
              <a:t>      {</a:t>
            </a:r>
          </a:p>
          <a:p xmlns:a="http://schemas.openxmlformats.org/drawingml/2006/main">
            <a:r>
              <a:t>        "id": "SFR-009",</a:t>
            </a:r>
          </a:p>
          <a:p xmlns:a="http://schemas.openxmlformats.org/drawingml/2006/main">
            <a:r>
              <a:t>        "title": "AI 서비스(사내 AI 챗봇 서비스) 구축",</a:t>
            </a:r>
          </a:p>
          <a:p xmlns:a="http://schemas.openxmlformats.org/drawingml/2006/main">
            <a:r>
              <a:t>        "locator": "SFR-009",</a:t>
            </a:r>
          </a:p>
          <a:p xmlns:a="http://schemas.openxmlformats.org/drawingml/2006/main">
            <a:r>
              <a:t>        "summary": "사내 직원용 업무 지식 챗봇 기능.",</a:t>
            </a:r>
          </a:p>
          <a:p xmlns:a="http://schemas.openxmlformats.org/drawingml/2006/main">
            <a:r>
              <a:t>        "data": "직원 질의·직무 문맥 → 업무 답변·근거",</a:t>
            </a:r>
          </a:p>
          <a:p xmlns:a="http://schemas.openxmlformats.org/drawingml/2006/main">
            <a:r>
              <a:t>        "components": [</a:t>
            </a:r>
          </a:p>
          <a:p xmlns:a="http://schemas.openxmlformats.org/drawingml/2006/main">
            <a:r>
              <a:t>          "C01",</a:t>
            </a:r>
          </a:p>
          <a:p xmlns:a="http://schemas.openxmlformats.org/drawingml/2006/main">
            <a:r>
              <a:t>          "C03",</a:t>
            </a:r>
          </a:p>
          <a:p xmlns:a="http://schemas.openxmlformats.org/drawingml/2006/main">
            <a:r>
              <a:t>          "C06"</a:t>
            </a:r>
          </a:p>
          <a:p xmlns:a="http://schemas.openxmlformats.org/drawingml/2006/main">
            <a:r>
              <a:t>        ],</a:t>
            </a:r>
          </a:p>
          <a:p xmlns:a="http://schemas.openxmlformats.org/drawingml/2006/main">
            <a:r>
              <a:t>        "acceptance": "동일 질의의 직무별 관련성, 비공개 자료 접근, 최신 규정 인용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"45f7da3f2df0a14850c6f9716076e421210ba97cb8aefec195a8439a0225ff95"</a:t>
            </a:r>
          </a:p>
          <a:p xmlns:a="http://schemas.openxmlformats.org/drawingml/2006/main">
            <a:r>
              <a:t>      },</a:t>
            </a:r>
          </a:p>
          <a:p xmlns:a="http://schemas.openxmlformats.org/drawingml/2006/main">
            <a:r>
              <a:t>      {</a:t>
            </a:r>
          </a:p>
          <a:p xmlns:a="http://schemas.openxmlformats.org/drawingml/2006/main">
            <a:r>
              <a:t>        "id": "SFR-012",</a:t>
            </a:r>
          </a:p>
          <a:p xmlns:a="http://schemas.openxmlformats.org/drawingml/2006/main">
            <a:r>
              <a:t>        "title": "데이터 카탈로그 일반 사항",</a:t>
            </a:r>
          </a:p>
          <a:p xmlns:a="http://schemas.openxmlformats.org/drawingml/2006/main">
            <a:r>
              <a:t>        "locator": "SFR-012",</a:t>
            </a:r>
          </a:p>
          <a:p xmlns:a="http://schemas.openxmlformats.org/drawingml/2006/main">
            <a:r>
              <a:t>        "summary": "전사 데이터 카탈로그의 공통 기능 구성.",</a:t>
            </a:r>
          </a:p>
          <a:p xmlns:a="http://schemas.openxmlformats.org/drawingml/2006/main">
            <a:r>
              <a:t>        "data": "데이터 자산·설명 → 탐색 가능한 카탈로그",</a:t>
            </a:r>
          </a:p>
          <a:p xmlns:a="http://schemas.openxmlformats.org/drawingml/2006/main">
            <a:r>
              <a:t>        "components": [</a:t>
            </a:r>
          </a:p>
          <a:p xmlns:a="http://schemas.openxmlformats.org/drawingml/2006/main">
            <a:r>
              <a:t>          "C09",</a:t>
            </a:r>
          </a:p>
          <a:p xmlns:a="http://schemas.openxmlformats.org/drawingml/2006/main">
            <a:r>
              <a:t>          "C11"</a:t>
            </a:r>
          </a:p>
          <a:p xmlns:a="http://schemas.openxmlformats.org/drawingml/2006/main">
            <a:r>
              <a:t>        ],</a:t>
            </a:r>
          </a:p>
          <a:p xmlns:a="http://schemas.openxmlformats.org/drawingml/2006/main">
            <a:r>
              <a:t>        "acceptance": "자산 식별자·담당자·설명의 원천 일치와 누락 항목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"c47acd02115ea8639438099db14eb807ebb43602a58a27a75e57bd7c44a01747"</a:t>
            </a:r>
          </a:p>
          <a:p xmlns:a="http://schemas.openxmlformats.org/drawingml/2006/main">
            <a:r>
              <a:t>      },</a:t>
            </a:r>
          </a:p>
          <a:p xmlns:a="http://schemas.openxmlformats.org/drawingml/2006/main">
            <a:r>
              <a:t>      {</a:t>
            </a:r>
          </a:p>
          <a:p xmlns:a="http://schemas.openxmlformats.org/drawingml/2006/main">
            <a:r>
              <a:t>        "id": "SFR-013",</a:t>
            </a:r>
          </a:p>
          <a:p xmlns:a="http://schemas.openxmlformats.org/drawingml/2006/main">
            <a:r>
              <a:t>        "title": "데이터 카탈로그 공사 맞춤 개발",</a:t>
            </a:r>
          </a:p>
          <a:p xmlns:a="http://schemas.openxmlformats.org/drawingml/2006/main">
            <a:r>
              <a:t>        "locator": "SFR-013",</a:t>
            </a:r>
          </a:p>
          <a:p xmlns:a="http://schemas.openxmlformats.org/drawingml/2006/main">
            <a:r>
              <a:t>        "summary": "기관 업무에 맞춘 데이터 카탈로그 구성과 활용.",</a:t>
            </a:r>
          </a:p>
          <a:p xmlns:a="http://schemas.openxmlformats.org/drawingml/2006/main">
            <a:r>
              <a:t>        "data": "업무 분류·사용자 문맥 → 맞춤 자산 정보",</a:t>
            </a:r>
          </a:p>
          <a:p xmlns:a="http://schemas.openxmlformats.org/drawingml/2006/main">
            <a:r>
              <a:t>        "components": [</a:t>
            </a:r>
          </a:p>
          <a:p xmlns:a="http://schemas.openxmlformats.org/drawingml/2006/main">
            <a:r>
              <a:t>          "C02",</a:t>
            </a:r>
          </a:p>
          <a:p xmlns:a="http://schemas.openxmlformats.org/drawingml/2006/main">
            <a:r>
              <a:t>          "C11",</a:t>
            </a:r>
          </a:p>
          <a:p xmlns:a="http://schemas.openxmlformats.org/drawingml/2006/main">
            <a:r>
              <a:t>          "C12"</a:t>
            </a:r>
          </a:p>
          <a:p xmlns:a="http://schemas.openxmlformats.org/drawingml/2006/main">
            <a:r>
              <a:t>        ],</a:t>
            </a:r>
          </a:p>
          <a:p xmlns:a="http://schemas.openxmlformats.org/drawingml/2006/main">
            <a:r>
              <a:t>        "acceptance": "부서·업무 분류 변경과 사용자 권한에 따른 자산 정보 표시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"dbe676ae5dc97c22a843994b927807e364fb8221c6d23ce8fb0b11a860ffc1b0"</a:t>
            </a:r>
          </a:p>
          <a:p xmlns:a="http://schemas.openxmlformats.org/drawingml/2006/main">
            <a:r>
              <a:t>      },</a:t>
            </a:r>
          </a:p>
          <a:p xmlns:a="http://schemas.openxmlformats.org/drawingml/2006/main">
            <a:r>
              <a:t>      {</a:t>
            </a:r>
          </a:p>
          <a:p xmlns:a="http://schemas.openxmlformats.org/drawingml/2006/main">
            <a:r>
              <a:t>        "id": "SFR-014",</a:t>
            </a:r>
          </a:p>
          <a:p xmlns:a="http://schemas.openxmlformats.org/drawingml/2006/main">
            <a:r>
              <a:t>        "title": "데이터 카탈로그 검색 기능",</a:t>
            </a:r>
          </a:p>
          <a:p xmlns:a="http://schemas.openxmlformats.org/drawingml/2006/main">
            <a:r>
              <a:t>        "locator": "SFR-014",</a:t>
            </a:r>
          </a:p>
          <a:p xmlns:a="http://schemas.openxmlformats.org/drawingml/2006/main">
            <a:r>
              <a:t>        "summary": "카탈로그의 데이터 자산 검색 기능.",</a:t>
            </a:r>
          </a:p>
          <a:p xmlns:a="http://schemas.openxmlformats.org/drawingml/2006/main">
            <a:r>
              <a:t>        "data": "자산명·업무 용어 → 관련 자산·설명",</a:t>
            </a:r>
          </a:p>
          <a:p xmlns:a="http://schemas.openxmlformats.org/drawingml/2006/main">
            <a:r>
              <a:t>        "components": [</a:t>
            </a:r>
          </a:p>
          <a:p xmlns:a="http://schemas.openxmlformats.org/drawingml/2006/main">
            <a:r>
              <a:t>          "C03",</a:t>
            </a:r>
          </a:p>
          <a:p xmlns:a="http://schemas.openxmlformats.org/drawingml/2006/main">
            <a:r>
              <a:t>          "C11"</a:t>
            </a:r>
          </a:p>
          <a:p xmlns:a="http://schemas.openxmlformats.org/drawingml/2006/main">
            <a:r>
              <a:t>        ],</a:t>
            </a:r>
          </a:p>
          <a:p xmlns:a="http://schemas.openxmlformats.org/drawingml/2006/main">
            <a:r>
              <a:t>        "acceptance": "다른 업무 용어로 같은 자산 탐색, 동명이자산 구분, 검색 결과 권한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"0d1cbe7ee72465436a3269eeb95106fa281de600b63107b9dfece31a434b39db"</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"국민·사내 접점",</a:t>
            </a:r>
          </a:p>
          <a:p xmlns:a="http://schemas.openxmlformats.org/drawingml/2006/main">
            <a:r>
              <a:t>          "layer": "이용 접점",</a:t>
            </a:r>
          </a:p>
          <a:p xmlns:a="http://schemas.openxmlformats.org/drawingml/2006/main">
            <a:r>
              <a:t>          "detail": "국민·직원·안건 검토자·데이터 담당",</a:t>
            </a:r>
          </a:p>
          <a:p xmlns:a="http://schemas.openxmlformats.org/drawingml/2006/main">
            <a:r>
              <a:t>          "requirements": [</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"SSO·DRM·망 구분",</a:t>
            </a:r>
          </a:p>
          <a:p xmlns:a="http://schemas.openxmlformats.org/drawingml/2006/main">
            <a:r>
              <a:t>          "layer": "업무 문맥",</a:t>
            </a:r>
          </a:p>
          <a:p xmlns:a="http://schemas.openxmlformats.org/drawingml/2006/main">
            <a:r>
              <a:t>          "detail": "외부·내부 접점과 망·계정·DRM 경계 분리",</a:t>
            </a:r>
          </a:p>
          <a:p xmlns:a="http://schemas.openxmlformats.org/drawingml/2006/main">
            <a:r>
              <a:t>          "requirements": [</a:t>
            </a:r>
          </a:p>
          <a:p xmlns:a="http://schemas.openxmlformats.org/drawingml/2006/main">
            <a:r>
              <a:t>            "SFR-003",</a:t>
            </a:r>
          </a:p>
          <a:p xmlns:a="http://schemas.openxmlformats.org/drawingml/2006/main">
            <a:r>
              <a:t>            "SFR-013"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"안건·허용자료 검색",</a:t>
            </a:r>
          </a:p>
          <a:p xmlns:a="http://schemas.openxmlformats.org/drawingml/2006/main">
            <a:r>
              <a:t>          "layer": "자료 조회",</a:t>
            </a:r>
          </a:p>
          <a:p xmlns:a="http://schemas.openxmlformats.org/drawingml/2006/main">
            <a:r>
              <a:t>          "detail": "질의·권한",</a:t>
            </a:r>
          </a:p>
          <a:p xmlns:a="http://schemas.openxmlformats.org/drawingml/2006/main">
            <a:r>
              <a:t>          "requirements": [</a:t>
            </a:r>
          </a:p>
          <a:p xmlns:a="http://schemas.openxmlformats.org/drawingml/2006/main">
            <a:r>
              <a:t>            "SFR-004",</a:t>
            </a:r>
          </a:p>
          <a:p xmlns:a="http://schemas.openxmlformats.org/drawingml/2006/main">
            <a:r>
              <a:t>            "SFR-009",</a:t>
            </a:r>
          </a:p>
          <a:p xmlns:a="http://schemas.openxmlformats.org/drawingml/2006/main">
            <a:r>
              <a:t>            "SFR-014"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"모델·요약·산식",</a:t>
            </a:r>
          </a:p>
          <a:p xmlns:a="http://schemas.openxmlformats.org/drawingml/2006/main">
            <a:r>
              <a:t>          "layer": "핵심 처리",</a:t>
            </a:r>
          </a:p>
          <a:p xmlns:a="http://schemas.openxmlformats.org/drawingml/2006/main">
            <a:r>
              <a:t>          "detail": "검색·요약·모델 라우팅·산식 검증",</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"산식·단위 대조",</a:t>
            </a:r>
          </a:p>
          <a:p xmlns:a="http://schemas.openxmlformats.org/drawingml/2006/main">
            <a:r>
              <a:t>          "layer": "결과 검증",</a:t>
            </a:r>
          </a:p>
          <a:p xmlns:a="http://schemas.openxmlformats.org/drawingml/2006/main">
            <a:r>
              <a:t>          "detail": "망·권한·산식별 독립 검증",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"업무 담당 검토",</a:t>
            </a:r>
          </a:p>
          <a:p xmlns:a="http://schemas.openxmlformats.org/drawingml/2006/main">
            <a:r>
              <a:t>          "layer": "사람 확인",</a:t>
            </a:r>
          </a:p>
          <a:p xmlns:a="http://schemas.openxmlformats.org/drawingml/2006/main">
            <a:r>
              <a:t>          "detail": "허용된 안건만 검색·요약하고 규정 산식을 독립 확인",</a:t>
            </a:r>
          </a:p>
          <a:p xmlns:a="http://schemas.openxmlformats.org/drawingml/2006/main">
            <a:r>
              <a:t>          "requirements": [</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"근거 요약·계산",</a:t>
            </a:r>
          </a:p>
          <a:p xmlns:a="http://schemas.openxmlformats.org/drawingml/2006/main">
            <a:r>
              <a:t>          "layer": "업무 연결",</a:t>
            </a:r>
          </a:p>
          <a:p xmlns:a="http://schemas.openxmlformats.org/drawingml/2006/main">
            <a:r>
              <a:t>          "detail": "권한 내 요약·계산 결과의 담당자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"품질·민감정보 점검",</a:t>
            </a:r>
          </a:p>
          <a:p xmlns:a="http://schemas.openxmlformats.org/drawingml/2006/main">
            <a:r>
              <a:t>          "layer": "운영 관측",</a:t>
            </a:r>
          </a:p>
          <a:p xmlns:a="http://schemas.openxmlformats.org/drawingml/2006/main">
            <a:r>
              <a:t>          "detail": "데이터 품질·민감정보·답변 품질 모니터링",</a:t>
            </a:r>
          </a:p>
          <a:p xmlns:a="http://schemas.openxmlformats.org/drawingml/2006/main">
            <a:r>
              <a:t>          "requirements": [</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"ECM·안건·공개자료",</a:t>
            </a:r>
          </a:p>
          <a:p xmlns:a="http://schemas.openxmlformats.org/drawingml/2006/main">
            <a:r>
              <a:t>          "layer": "데이터 원천",</a:t>
            </a:r>
          </a:p>
          <a:p xmlns:a="http://schemas.openxmlformats.org/drawingml/2006/main">
            <a:r>
              <a:t>          "detail": "지식·안건·카탈로그",</a:t>
            </a:r>
          </a:p>
          <a:p xmlns:a="http://schemas.openxmlformats.org/drawingml/2006/main">
            <a:r>
              <a:t>          "requirements": [</a:t>
            </a:r>
          </a:p>
          <a:p xmlns:a="http://schemas.openxmlformats.org/drawingml/2006/main">
            <a:r>
              <a:t>            "SFR-005",</a:t>
            </a:r>
          </a:p>
          <a:p xmlns:a="http://schemas.openxmlformats.org/drawingml/2006/main">
            <a:r>
              <a:t>            "SFR-012"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"메타정보·카탈로그",</a:t>
            </a:r>
          </a:p>
          <a:p xmlns:a="http://schemas.openxmlformats.org/drawingml/2006/main">
            <a:r>
              <a:t>          "layer": "준비·갱신",</a:t>
            </a:r>
          </a:p>
          <a:p xmlns:a="http://schemas.openxmlformats.org/drawingml/2006/main">
            <a:r>
              <a:t>          "detail": "안건 메타데이터·정형/비정형 데이터 카탈로그",</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"대민·사내 DB 분리",</a:t>
            </a:r>
          </a:p>
          <a:p xmlns:a="http://schemas.openxmlformats.org/drawingml/2006/main">
            <a:r>
              <a:t>          "layer": "상태·지식 저장",</a:t>
            </a:r>
          </a:p>
          <a:p xmlns:a="http://schemas.openxmlformats.org/drawingml/2006/main">
            <a:r>
              <a:t>          "detail": "망·권한별 노출 결과와 원문·계산·카탈로그 대사",</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"SFR-012",</a:t>
            </a:r>
          </a:p>
          <a:p xmlns:a="http://schemas.openxmlformats.org/drawingml/2006/main">
            <a:r>
              <a:t>            "SFR-013",</a:t>
            </a:r>
          </a:p>
          <a:p xmlns:a="http://schemas.openxmlformats.org/drawingml/2006/main">
            <a:r>
              <a:t>            "SFR-014"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"권한·망·모델 관리",</a:t>
            </a:r>
          </a:p>
          <a:p xmlns:a="http://schemas.openxmlformats.org/drawingml/2006/main">
            <a:r>
              <a:t>          "layer": "권한·정책",</a:t>
            </a:r>
          </a:p>
          <a:p xmlns:a="http://schemas.openxmlformats.org/drawingml/2006/main">
            <a:r>
              <a:t>          "detail": "외부 계정의 내부 안건 요청·DRM 제한·단위 오류",</a:t>
            </a:r>
          </a:p>
          <a:p xmlns:a="http://schemas.openxmlformats.org/drawingml/2006/main">
            <a:r>
              <a:t>          "requirements": [</a:t>
            </a:r>
          </a:p>
          <a:p xmlns:a="http://schemas.openxmlformats.org/drawingml/2006/main">
            <a:r>
              <a:t>            "SFR-013"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"외부·내부 접점과 망·계정·DRM 경계 분리",</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"질의·권한",</a:t>
            </a:r>
          </a:p>
          <a:p xmlns:a="http://schemas.openxmlformats.org/drawingml/2006/main">
            <a:r>
              <a:t>          "check": "망·권한·산식별 독립 검증"</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"허용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"요약·계산",</a:t>
            </a:r>
          </a:p>
          <a:p xmlns:a="http://schemas.openxmlformats.org/drawingml/2006/main">
            <a:r>
              <a:t>          "check": "외부 계정의 내부 안건 요청·DRM 제한·단위 오류"</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"요약·계산",</a:t>
            </a:r>
          </a:p>
          <a:p xmlns:a="http://schemas.openxmlformats.org/drawingml/2006/main">
            <a:r>
              <a:t>          "check": "권한 내 요약·계산 결과의 담당자 검토"</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 결과",</a:t>
            </a:r>
          </a:p>
          <a:p xmlns:a="http://schemas.openxmlformats.org/drawingml/2006/main">
            <a:r>
              <a:t>          "check": "망·권한별 노출 결과와 원문·계산·카탈로그 대사"</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"사전공개 RFP 구성도·SFR-001~014",</a:t>
            </a:r>
          </a:p>
          <a:p xmlns:a="http://schemas.openxmlformats.org/drawingml/2006/main">
            <a:r>
              <a:t>        "extracted": "대민/임직원 서비스와 DB 분리, SSO/EAM·데이터 업로드 경계",</a:t>
            </a:r>
          </a:p>
          <a:p xmlns:a="http://schemas.openxmlformats.org/drawingml/2006/main">
            <a:r>
              <a:t>        "extension": "공개·내부 경계 교차 시험과 금융 산식의 독립 검산"</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"PF-R08",</a:t>
            </a:r>
          </a:p>
          <a:p xmlns:a="http://schemas.openxmlformats.org/drawingml/2006/main">
            <a:r>
              <a:t>          "path": "assets/casebook-sources/PF-R08-01.png",</a:t>
            </a:r>
          </a:p>
          <a:p xmlns:a="http://schemas.openxmlformats.org/drawingml/2006/main">
            <a:r>
              <a:t>          "title": "대민·임직원 AI 서비스 분리",</a:t>
            </a:r>
          </a:p>
          <a:p xmlns:a="http://schemas.openxmlformats.org/drawingml/2006/main">
            <a:r>
              <a:t>          "status": "사전공개 RFP 목표 구성도",</a:t>
            </a:r>
          </a:p>
          <a:p xmlns:a="http://schemas.openxmlformats.org/drawingml/2006/main">
            <a:r>
              <a:t>          "caption": "보안·서비스·데이터·관리 서브넷과 SSO·업무 데이터 경계",</a:t>
            </a:r>
          </a:p>
          <a:p xmlns:a="http://schemas.openxmlformats.org/drawingml/2006/main">
            <a:r>
              <a:t>          "locator": "rId20 / BinData/BIN0002_bmp",</a:t>
            </a:r>
          </a:p>
          <a:p xmlns:a="http://schemas.openxmlformats.org/drawingml/2006/main">
            <a:r>
              <a:t>          "checked": "2026-10-16",</a:t>
            </a:r>
          </a:p>
          <a:p xmlns:a="http://schemas.openxmlformats.org/drawingml/2006/main">
            <a:r>
              <a:t>          "sha256": "dbd84b9d88acec3c54802ec4cc6eacaf8a872223e2a7ee89fadf50a173e38803",</a:t>
            </a:r>
          </a:p>
          <a:p xmlns:a="http://schemas.openxmlformats.org/drawingml/2006/main">
            <a:r>
              <a:t>          "explanation": {</a:t>
            </a:r>
          </a:p>
          <a:p xmlns:a="http://schemas.openxmlformats.org/drawingml/2006/main">
            <a:r>
              <a:t>            "read": "사전공개 요구의 대국민·임직원 서비스와 데이터·네트워크 경계를 구분한 목표 구성. 공개 상담용 자료와 내부 안건·업무 자료를 서비스·저장 계층에서 분리하는 구조.",</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"SFR-005",</a:t>
            </a:r>
          </a:p>
          <a:p xmlns:a="http://schemas.openxmlformats.org/drawingml/2006/main">
            <a:r>
              <a:t>              "SFR-009"</a:t>
            </a:r>
          </a:p>
          <a:p xmlns:a="http://schemas.openxmlformats.org/drawingml/2006/main">
            <a:r>
              <a:t>            ],</a:t>
            </a:r>
          </a:p>
          <a:p xmlns:a="http://schemas.openxmlformats.org/drawingml/2006/main">
            <a:r>
              <a:t>            "connection": "같은 AI 기반을 쓰더라도 공개·내부 검색 범위와 문서 반입 경로를 별도로 검수하고 사용자 문맥·SSO·DRM 등 기존 통제와 연결하는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"PF-R08",</a:t>
            </a:r>
          </a:p>
          <a:p xmlns:a="http://schemas.openxmlformats.org/drawingml/2006/main">
            <a:r>
              <a:t>          "path": "assets/casebook-sources/PF-R08-02.png",</a:t>
            </a:r>
          </a:p>
          <a:p xmlns:a="http://schemas.openxmlformats.org/drawingml/2006/main">
            <a:r>
              <a:t>          "title": "데이터 카탈로그·업무 매핑",</a:t>
            </a:r>
          </a:p>
          <a:p xmlns:a="http://schemas.openxmlformats.org/drawingml/2006/main">
            <a:r>
              <a:t>          "status": "사전공개 RFP 데이터 구성도",</a:t>
            </a:r>
          </a:p>
          <a:p xmlns:a="http://schemas.openxmlformats.org/drawingml/2006/main">
            <a:r>
              <a:t>          "caption": "대시보드·통합검색·데이터등록·표준·품질과 업무 매핑",</a:t>
            </a:r>
          </a:p>
          <a:p xmlns:a="http://schemas.openxmlformats.org/drawingml/2006/main">
            <a:r>
              <a:t>          "locator": "rId20 / BinData/BIN0001_bmp",</a:t>
            </a:r>
          </a:p>
          <a:p xmlns:a="http://schemas.openxmlformats.org/drawingml/2006/main">
            <a:r>
              <a:t>          "checked": "2026-10-16",</a:t>
            </a:r>
          </a:p>
          <a:p xmlns:a="http://schemas.openxmlformats.org/drawingml/2006/main">
            <a:r>
              <a:t>          "sha256": "e91edef465c1a60d5edcd6288eefa4a5d158cd9980b9b941428685ef6e32a0f5",</a:t>
            </a:r>
          </a:p>
          <a:p xmlns:a="http://schemas.openxmlformats.org/drawingml/2006/main">
            <a:r>
              <a:t>          "explanation": {</a:t>
            </a:r>
          </a:p>
          <a:p xmlns:a="http://schemas.openxmlformats.org/drawingml/2006/main">
            <a:r>
              <a:t>            "read": "카탈로그와 MDMS·ECM 등 기존 데이터·문서 체계의 업무 연결. AI 답변에 앞서 어떤 데이터가 존재하고 누가 관리하며 어떤 업무에서 쓰는지 찾을 수 있도록 하는 정보 기반.",</a:t>
            </a:r>
          </a:p>
          <a:p xmlns:a="http://schemas.openxmlformats.org/drawingml/2006/main">
            <a:r>
              <a:t>            "requirements": [</a:t>
            </a:r>
          </a:p>
          <a:p xmlns:a="http://schemas.openxmlformats.org/drawingml/2006/main">
            <a:r>
              <a:t>              "SFR-012",</a:t>
            </a:r>
          </a:p>
          <a:p xmlns:a="http://schemas.openxmlformats.org/drawingml/2006/main">
            <a:r>
              <a:t>              "SFR-013",</a:t>
            </a:r>
          </a:p>
          <a:p xmlns:a="http://schemas.openxmlformats.org/drawingml/2006/main">
            <a:r>
              <a:t>              "SFR-014"</a:t>
            </a:r>
          </a:p>
          <a:p xmlns:a="http://schemas.openxmlformats.org/drawingml/2006/main">
            <a:r>
              <a:t>            ],</a:t>
            </a:r>
          </a:p>
          <a:p xmlns:a="http://schemas.openxmlformats.org/drawingml/2006/main">
            <a:r>
              <a:t>            "connection": "TS의 조직·업무 ID와 데이터 자산·소관 부서를 연결하고 문서 검색 권한과 카탈로그 설명의 공개 범위를 분리해 관리하는 적용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"외부 계정의 내부 안건 요청·DRM 제한·단위 오류",</a:t>
            </a:r>
          </a:p>
          <a:p xmlns:a="http://schemas.openxmlformats.org/drawingml/2006/main">
            <a:r>
              <a:t>        "hold": "망·권한·산식별 독립 검증",</a:t>
            </a:r>
          </a:p>
          <a:p xmlns:a="http://schemas.openxmlformats.org/drawingml/2006/main">
            <a:r>
              <a:t>        "recovery": "데이터 품질·민감정보·답변 품질 모니터링",</a:t>
            </a:r>
          </a:p>
          <a:p xmlns:a="http://schemas.openxmlformats.org/drawingml/2006/main">
            <a:r>
              <a:t>        "evidence": "망·권한별 노출 결과와 원문·계산·카탈로그 대사"</a:t>
            </a:r>
          </a:p>
          <a:p xmlns:a="http://schemas.openxmlformats.org/drawingml/2006/main">
            <a:r>
              <a:t>      },</a:t>
            </a:r>
          </a:p>
          <a:p xmlns:a="http://schemas.openxmlformats.org/drawingml/2006/main">
            <a:r>
              <a:t>      "data": {</a:t>
            </a:r>
          </a:p>
          <a:p xmlns:a="http://schemas.openxmlformats.org/drawingml/2006/main">
            <a:r>
              <a:t>        "source": "지식·안건·카탈로그",</a:t>
            </a:r>
          </a:p>
          <a:p xmlns:a="http://schemas.openxmlformats.org/drawingml/2006/main">
            <a:r>
              <a:t>        "prepare": "안건 메타데이터·정형/비정형 데이터 카탈로그",</a:t>
            </a:r>
          </a:p>
          <a:p xmlns:a="http://schemas.openxmlformats.org/drawingml/2006/main">
            <a:r>
              <a:t>        "output": "질의·권한",</a:t>
            </a:r>
          </a:p>
          <a:p xmlns:a="http://schemas.openxmlformats.org/drawingml/2006/main">
            <a:r>
              <a:t>        "refresh": "데이터 품질·민감정보·답변 품질 모니터링"</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"PF-R08",</a:t>
            </a:r>
          </a:p>
          <a:p xmlns:a="http://schemas.openxmlformats.org/drawingml/2006/main">
            <a:r>
              <a:t>    "success": [</a:t>
            </a:r>
          </a:p>
          <a:p xmlns:a="http://schemas.openxmlformats.org/drawingml/2006/main">
            <a:r>
              <a:t>      "대국민·사내 지식 경계 분리",</a:t>
            </a:r>
          </a:p>
          <a:p xmlns:a="http://schemas.openxmlformats.org/drawingml/2006/main">
            <a:r>
              <a:t>      "카탈로그와 데이터 통제 결합"</a:t>
            </a:r>
          </a:p>
          <a:p xmlns:a="http://schemas.openxmlformats.org/drawingml/2006/main">
            <a:r>
              <a:t>    ],</a:t>
            </a:r>
          </a:p>
          <a:p xmlns:a="http://schemas.openxmlformats.org/drawingml/2006/main">
            <a:r>
              <a:t>    "risks": [</a:t>
            </a:r>
          </a:p>
          <a:p xmlns:a="http://schemas.openxmlformats.org/drawingml/2006/main">
            <a:r>
              <a:t>      "DRM·접근권한 전파 누락",</a:t>
            </a:r>
          </a:p>
          <a:p xmlns:a="http://schemas.openxmlformats.org/drawingml/2006/main">
            <a:r>
              <a:t>      "금융 산식·단위 오류"</a:t>
            </a:r>
          </a:p>
          <a:p xmlns:a="http://schemas.openxmlformats.org/drawingml/2006/main">
            <a:r>
              <a:t>    ],</a:t>
            </a:r>
          </a:p>
          <a:p xmlns:a="http://schemas.openxmlformats.org/drawingml/2006/main">
            <a:r>
              <a:t>    "architecture": [</a:t>
            </a:r>
          </a:p>
          <a:p xmlns:a="http://schemas.openxmlformats.org/drawingml/2006/main">
            <a:r>
              <a:t>      "국민·직원 접점",</a:t>
            </a:r>
          </a:p>
          <a:p xmlns:a="http://schemas.openxmlformats.org/drawingml/2006/main">
            <a:r>
              <a:t>      "검색·요약·산식 검토",</a:t>
            </a:r>
          </a:p>
          <a:p xmlns:a="http://schemas.openxmlformats.org/drawingml/2006/main">
            <a:r>
              <a:t>      "지식·안건·카탈로그",</a:t>
            </a:r>
          </a:p>
          <a:p xmlns:a="http://schemas.openxmlformats.org/drawingml/2006/main">
            <a:r>
              <a:t>      "업무 검토자"</a:t>
            </a:r>
          </a:p>
          <a:p xmlns:a="http://schemas.openxmlformats.org/drawingml/2006/main">
            <a:r>
              <a:t>    ],</a:t>
            </a:r>
          </a:p>
          <a:p xmlns:a="http://schemas.openxmlformats.org/drawingml/2006/main">
            <a:r>
              <a:t>    "transfers": [</a:t>
            </a:r>
          </a:p>
          <a:p xmlns:a="http://schemas.openxmlformats.org/drawingml/2006/main">
            <a:r>
              <a:t>      "질의·권한",</a:t>
            </a:r>
          </a:p>
          <a:p xmlns:a="http://schemas.openxmlformats.org/drawingml/2006/main">
            <a:r>
              <a:t>      "허용 근거",</a:t>
            </a:r>
          </a:p>
          <a:p xmlns:a="http://schemas.openxmlformats.org/drawingml/2006/main">
            <a:r>
              <a:t>      "요약·계산",</a:t>
            </a:r>
          </a:p>
          <a:p xmlns:a="http://schemas.openxmlformats.org/drawingml/2006/main">
            <a:r>
              <a:t>      "검토 결과"</a:t>
            </a:r>
          </a:p>
          <a:p xmlns:a="http://schemas.openxmlformats.org/drawingml/2006/main">
            <a:r>
              <a:t>    ],</a:t>
            </a:r>
          </a:p>
          <a:p xmlns:a="http://schemas.openxmlformats.org/drawingml/2006/main">
            <a:r>
              <a:t>    "control": "망·권한·산식별 독립 검증",</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SFR-001~014, DAR·CNR / Word T089 https://www.g2b.go.kr/pn/pnz/pnza/UntyAtchFile/downloadFile.do?bfSpecRegNo=R26BD00217546&amp;fileType=BFDTL&amp;fileSeq=1</a:t>
            </a:r>
          </a:p>
          <a:p xmlns:a="http://schemas.openxmlformats.org/drawingml/2006/main">
            <a:r>
              <a:t>홈페이지 https://heen1987-ops.github.io/TS-business-Plan-001/index.html?view=platform-cases&amp;case=PF-R08</a:t>
            </a:r>
          </a:p>
          <a:p xmlns:a="http://schemas.openxmlformats.org/drawingml/2006/main">
            <a:r>
              <a:t>원문 도면 {"caseId":"PF-R08","path":"assets/casebook-sources/PF-R08-02.png","title":"데이터 카탈로그·업무 매핑","status":"사전공개 RFP 데이터 구성도","caption":"대시보드·통합검색·데이터등록·표준·품질과 업무 매핑","locator":"rId20 / BinData/BIN0001_bmp","checked":"2026-10-16","sha256":"e91edef465c1a60d5edcd6288eefa4a5d158cd9980b9b941428685ef6e32a0f5","explanation":{"read":"카탈로그와 MDMS·ECM 등 기존 데이터·문서 체계의 업무 연결. AI 답변에 앞서 어떤 데이터가 존재하고 누가 관리하며 어떤 업무에서 쓰는지 찾을 수 있도록 하는 정보 기반.","requirements":["SFR-012","SFR-013","SFR-014"],"connection":"TS의 조직·업무 ID와 데이터 자산·소관 부서를 연결하고 문서 검색 권한과 카탈로그 설명의 공개 범위를 분리해 관리하는 적용 설계."}}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"PF-R08",</a:t>
            </a:r>
          </a:p>
          <a:p xmlns:a="http://schemas.openxmlformats.org/drawingml/2006/main">
            <a:r>
              <a:t>    "sourceId": "R08",</a:t>
            </a:r>
          </a:p>
          <a:p xmlns:a="http://schemas.openxmlformats.org/drawingml/2006/main">
            <a:r>
              <a:t>    "title": "예금보험공사 생성형 AI",</a:t>
            </a:r>
          </a:p>
          <a:p xmlns:a="http://schemas.openxmlformats.org/drawingml/2006/main">
            <a:r>
              <a:t>    "region": "국내",</a:t>
            </a:r>
          </a:p>
          <a:p xmlns:a="http://schemas.openxmlformats.org/drawingml/2006/main">
            <a:r>
              <a:t>    "owner": "예금보험공사",</a:t>
            </a:r>
          </a:p>
          <a:p xmlns:a="http://schemas.openxmlformats.org/drawingml/2006/main">
            <a:r>
              <a:t>    "state": "사전규격 RFP + 공급사 계약 발표 확인 / 최종본·준공 미확인",</a:t>
            </a:r>
          </a:p>
          <a:p xmlns:a="http://schemas.openxmlformats.org/drawingml/2006/main">
            <a:r>
              <a:t>    "period": "기존 원장 확인 2026.10.16",</a:t>
            </a:r>
          </a:p>
          <a:p xmlns:a="http://schemas.openxmlformats.org/drawingml/2006/main">
            <a:r>
              <a:t>    "fact": "대국민 챗봇·사내 챗봇·금융위 안건 검색요약 + 데이터 카탈로그/거버넌스",</a:t>
            </a:r>
          </a:p>
          <a:p xmlns:a="http://schemas.openxmlformats.org/drawingml/2006/main">
            <a:r>
              <a:t>    "limit": "학습용 FAQ500건과 서비스별 검증셋500건은 별도 요구. 계획상 수치를 운영 실적으로 사용하지 않음",</a:t>
            </a:r>
          </a:p>
          <a:p xmlns:a="http://schemas.openxmlformats.org/drawingml/2006/main">
            <a:r>
              <a:t>    "nodes": [</a:t>
            </a:r>
          </a:p>
          <a:p xmlns:a="http://schemas.openxmlformats.org/drawingml/2006/main">
            <a:r>
              <a:t>      "지식·안건",</a:t>
            </a:r>
          </a:p>
          <a:p xmlns:a="http://schemas.openxmlformats.org/drawingml/2006/main">
            <a:r>
              <a:t>      "권한·망·DRM",</a:t>
            </a:r>
          </a:p>
          <a:p xmlns:a="http://schemas.openxmlformats.org/drawingml/2006/main">
            <a:r>
              <a:t>      "검색·산식 검증",</a:t>
            </a:r>
          </a:p>
          <a:p xmlns:a="http://schemas.openxmlformats.org/drawingml/2006/main">
            <a:r>
              <a:t>      "평가·운영"</a:t>
            </a:r>
          </a:p>
          <a:p xmlns:a="http://schemas.openxmlformats.org/drawingml/2006/main">
            <a:r>
              <a:t>    ],</a:t>
            </a:r>
          </a:p>
          <a:p xmlns:a="http://schemas.openxmlformats.org/drawingml/2006/main">
            <a:r>
              <a:t>    "apply": "대민·내부 지식 경계와 데이터 카탈로그를 함께 설계하는 정보 제공",</a:t>
            </a:r>
          </a:p>
          <a:p xmlns:a="http://schemas.openxmlformats.org/drawingml/2006/main">
            <a:r>
              <a:t>    "delta": "내외부 지식·망 분리 / 문서 DRM·권한 / 안건·산식·데이터 카탈로그",</a:t>
            </a:r>
          </a:p>
          <a:p xmlns:a="http://schemas.openxmlformats.org/drawingml/2006/main">
            <a:r>
              <a:t>    "test": "외부 계정의 내부자료 요청·DRM·산식 오류에 대한 독립 검증",</a:t>
            </a:r>
          </a:p>
          <a:p xmlns:a="http://schemas.openxmlformats.org/drawingml/2006/main">
            <a:r>
              <a:t>    "url": "https://www.g2b.go.kr/pn/pnz/pnza/UntyAtchFile/downloadFile.do?bfSpecRegNo=R26BD00217546&amp;fileType=BFDTL&amp;fileSeq=1",</a:t>
            </a:r>
          </a:p>
          <a:p xmlns:a="http://schemas.openxmlformats.org/drawingml/2006/main">
            <a:r>
              <a:t>    "urls": [</a:t>
            </a:r>
          </a:p>
          <a:p xmlns:a="http://schemas.openxmlformats.org/drawingml/2006/main">
            <a:r>
              <a:t>      "https://www.g2b.go.kr/pn/pnz/pnza/UntyAtchFile/downloadFile.do?bfSpecRegNo=R26BD00217546&amp;fileType=BFDTL&amp;fileSeq=1",</a:t>
            </a:r>
          </a:p>
          <a:p xmlns:a="http://schemas.openxmlformats.org/drawingml/2006/main">
            <a:r>
              <a:t>      "https://clabi.ai/news/fe55039a-f069-4218-aa5a-0c1057c5ca92"</a:t>
            </a:r>
          </a:p>
          <a:p xmlns:a="http://schemas.openxmlformats.org/drawingml/2006/main">
            <a:r>
              <a:t>    ],</a:t>
            </a:r>
          </a:p>
          <a:p xmlns:a="http://schemas.openxmlformats.org/drawingml/2006/main">
            <a:r>
              <a:t>    "basis": "SFR-001~014, DAR·CNR / Word T089",</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"비인가 노출 건수 / 원천 추적률 / 안건 검토시간",</a:t>
            </a:r>
          </a:p>
          <a:p xmlns:a="http://schemas.openxmlformats.org/drawingml/2006/main">
            <a:r>
              <a:t>    "group": "요구·구축",</a:t>
            </a:r>
          </a:p>
          <a:p xmlns:a="http://schemas.openxmlformats.org/drawingml/2006/main">
            <a:r>
              <a:t>    "sourceDetail": "망·DRM·권한 연계; 안건 메타데이터 범위검색; 규정 산식 교차검증; 모델라우팅·평가·모니터링",</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"PF-R08",</a:t>
            </a:r>
          </a:p>
          <a:p xmlns:a="http://schemas.openxmlformats.org/drawingml/2006/main">
            <a:r>
              <a:t>    "canonicalId": "PF-R08",</a:t>
            </a:r>
          </a:p>
          <a:p xmlns:a="http://schemas.openxmlformats.org/drawingml/2006/main">
            <a:r>
              <a:t>    "purpose": "대민·사내 AI와 데이터 관리체계의 공동 구축",</a:t>
            </a:r>
          </a:p>
          <a:p xmlns:a="http://schemas.openxmlformats.org/drawingml/2006/main">
            <a:r>
              <a:t>    "users": "국민·직원·안건 검토자·데이터 담당",</a:t>
            </a:r>
          </a:p>
          <a:p xmlns:a="http://schemas.openxmlformats.org/drawingml/2006/main">
            <a:r>
              <a:t>    "scope": [</a:t>
            </a:r>
          </a:p>
          <a:p xmlns:a="http://schemas.openxmlformats.org/drawingml/2006/main">
            <a:r>
              <a:t>      "챗봇",</a:t>
            </a:r>
          </a:p>
          <a:p xmlns:a="http://schemas.openxmlformats.org/drawingml/2006/main">
            <a:r>
              <a:t>      "안건 검색·요약",</a:t>
            </a:r>
          </a:p>
          <a:p xmlns:a="http://schemas.openxmlformats.org/drawingml/2006/main">
            <a:r>
              <a:t>      "카탈로그"</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"국민·직원 접점",</a:t>
            </a:r>
          </a:p>
          <a:p xmlns:a="http://schemas.openxmlformats.org/drawingml/2006/main">
            <a:r>
              <a:t>        "detail": "외부·내부 접점과 망·계정·DRM 경계 분리",</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"챗봇 / 안건 검색·요약 / 카탈로그",</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"검색·요약·산식 검토",</a:t>
            </a:r>
          </a:p>
          <a:p xmlns:a="http://schemas.openxmlformats.org/drawingml/2006/main">
            <a:r>
              <a:t>        "detail": "검색·요약·모델 라우팅·산식 검증",</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"업무 검토자",</a:t>
            </a:r>
          </a:p>
          <a:p xmlns:a="http://schemas.openxmlformats.org/drawingml/2006/main">
            <a:r>
              <a:t>        "detail": "권한 내 요약·계산 결과의 담당자 검토",</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"지식·안건·카탈로그",</a:t>
            </a:r>
          </a:p>
          <a:p xmlns:a="http://schemas.openxmlformats.org/drawingml/2006/main">
            <a:r>
              <a:t>        "detail": "안건 메타데이터·정형/비정형 데이터 카탈로그",</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"데이터 품질·민감정보·답변 품질 모니터링",</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"지식·안건",</a:t>
            </a:r>
          </a:p>
          <a:p xmlns:a="http://schemas.openxmlformats.org/drawingml/2006/main">
            <a:r>
              <a:t>        "input": "외부·내부 접점과 망·계정·DRM 경계 분리",</a:t>
            </a:r>
          </a:p>
          <a:p xmlns:a="http://schemas.openxmlformats.org/drawingml/2006/main">
            <a:r>
              <a:t>        "process": "안건 메타데이터·정형/비정형 데이터 카탈로그",</a:t>
            </a:r>
          </a:p>
          <a:p xmlns:a="http://schemas.openxmlformats.org/drawingml/2006/main">
            <a:r>
              <a:t>        "output": "질의·권한"</a:t>
            </a:r>
          </a:p>
          <a:p xmlns:a="http://schemas.openxmlformats.org/drawingml/2006/main">
            <a:r>
              <a:t>      },</a:t>
            </a:r>
          </a:p>
          <a:p xmlns:a="http://schemas.openxmlformats.org/drawingml/2006/main">
            <a:r>
              <a:t>      {</a:t>
            </a:r>
          </a:p>
          <a:p xmlns:a="http://schemas.openxmlformats.org/drawingml/2006/main">
            <a:r>
              <a:t>        "title": "권한·망·DRM",</a:t>
            </a:r>
          </a:p>
          <a:p xmlns:a="http://schemas.openxmlformats.org/drawingml/2006/main">
            <a:r>
              <a:t>        "input": "질의·권한",</a:t>
            </a:r>
          </a:p>
          <a:p xmlns:a="http://schemas.openxmlformats.org/drawingml/2006/main">
            <a:r>
              <a:t>        "process": "검색·요약·모델 라우팅·산식 검증",</a:t>
            </a:r>
          </a:p>
          <a:p xmlns:a="http://schemas.openxmlformats.org/drawingml/2006/main">
            <a:r>
              <a:t>        "output": "허용 근거"</a:t>
            </a:r>
          </a:p>
          <a:p xmlns:a="http://schemas.openxmlformats.org/drawingml/2006/main">
            <a:r>
              <a:t>      },</a:t>
            </a:r>
          </a:p>
          <a:p xmlns:a="http://schemas.openxmlformats.org/drawingml/2006/main">
            <a:r>
              <a:t>      {</a:t>
            </a:r>
          </a:p>
          <a:p xmlns:a="http://schemas.openxmlformats.org/drawingml/2006/main">
            <a:r>
              <a:t>        "title": "검색·산식 검증",</a:t>
            </a:r>
          </a:p>
          <a:p xmlns:a="http://schemas.openxmlformats.org/drawingml/2006/main">
            <a:r>
              <a:t>        "input": "허용 근거",</a:t>
            </a:r>
          </a:p>
          <a:p xmlns:a="http://schemas.openxmlformats.org/drawingml/2006/main">
            <a:r>
              <a:t>        "process": "망·권한·산식별 독립 검증",</a:t>
            </a:r>
          </a:p>
          <a:p xmlns:a="http://schemas.openxmlformats.org/drawingml/2006/main">
            <a:r>
              <a:t>        "output": "요약·계산"</a:t>
            </a:r>
          </a:p>
          <a:p xmlns:a="http://schemas.openxmlformats.org/drawingml/2006/main">
            <a:r>
              <a:t>      },</a:t>
            </a:r>
          </a:p>
          <a:p xmlns:a="http://schemas.openxmlformats.org/drawingml/2006/main">
            <a:r>
              <a:t>      {</a:t>
            </a:r>
          </a:p>
          <a:p xmlns:a="http://schemas.openxmlformats.org/drawingml/2006/main">
            <a:r>
              <a:t>        "title": "평가·운영",</a:t>
            </a:r>
          </a:p>
          <a:p xmlns:a="http://schemas.openxmlformats.org/drawingml/2006/main">
            <a:r>
              <a:t>        "input": "요약·계산",</a:t>
            </a:r>
          </a:p>
          <a:p xmlns:a="http://schemas.openxmlformats.org/drawingml/2006/main">
            <a:r>
              <a:t>        "process": "권한 내 요약·계산 결과의 담당자 검토",</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"허용된 안건만 검색·요약하고 규정 산식을 독립 확인",</a:t>
            </a:r>
          </a:p>
          <a:p xmlns:a="http://schemas.openxmlformats.org/drawingml/2006/main">
            <a:r>
              <a:t>      "exception": "외부 계정의 내부 안건 요청·DRM 제한·단위 오류",</a:t>
            </a:r>
          </a:p>
          <a:p xmlns:a="http://schemas.openxmlformats.org/drawingml/2006/main">
            <a:r>
              <a:t>      "evidence": "망·권한별 노출 결과와 원문·계산·카탈로그 대사",</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"국민·직원·안건 검토자·데이터 담당",</a:t>
            </a:r>
          </a:p>
          <a:p xmlns:a="http://schemas.openxmlformats.org/drawingml/2006/main">
            <a:r>
              <a:t>          "processing": "외부·내부 접점과 망·계정·DRM 경계 분리",</a:t>
            </a:r>
          </a:p>
          <a:p xmlns:a="http://schemas.openxmlformats.org/drawingml/2006/main">
            <a:r>
              <a:t>          "output": "질의·권한"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"지식·안건·카탈로그",</a:t>
            </a:r>
          </a:p>
          <a:p xmlns:a="http://schemas.openxmlformats.org/drawingml/2006/main">
            <a:r>
              <a:t>          "processing": "안건 메타데이터·정형/비정형 데이터 카탈로그",</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"질의·권한",</a:t>
            </a:r>
          </a:p>
          <a:p xmlns:a="http://schemas.openxmlformats.org/drawingml/2006/main">
            <a:r>
              <a:t>          "processing": "검색·요약·모델 라우팅·산식 검증",</a:t>
            </a:r>
          </a:p>
          <a:p xmlns:a="http://schemas.openxmlformats.org/drawingml/2006/main">
            <a:r>
              <a:t>          "output": "요약·계산"</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"요약·계산",</a:t>
            </a:r>
          </a:p>
          <a:p xmlns:a="http://schemas.openxmlformats.org/drawingml/2006/main">
            <a:r>
              <a:t>          "processing": "권한 내 요약·계산 결과의 담당자 검토",</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"데이터 품질·민감정보·답변 품질 모니터링",</a:t>
            </a:r>
          </a:p>
          <a:p xmlns:a="http://schemas.openxmlformats.org/drawingml/2006/main">
            <a:r>
              <a:t>          "output": "망·권한별 노출 결과와 원문·계산·카탈로그 대사"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"데이터 품질·민감정보·답변 품질 모니터링",</a:t>
            </a:r>
          </a:p>
          <a:p xmlns:a="http://schemas.openxmlformats.org/drawingml/2006/main">
            <a:r>
              <a:t>    "status": "RFP 기반 논리 설계",</a:t>
            </a:r>
          </a:p>
          <a:p xmlns:a="http://schemas.openxmlformats.org/drawingml/2006/main">
            <a:r>
              <a:t>    "basis": "사전공개 RFP 2026.04 · SFR-001~014·DAR·CNR",</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"SFR-001~014, DAR·CNR / Word T089",</a:t>
            </a:r>
          </a:p>
          <a:p xmlns:a="http://schemas.openxmlformats.org/drawingml/2006/main">
            <a:r>
              <a:t>        "url": "https://www.g2b.go.kr/pn/pnz/pnza/UntyAtchFile/downloadFile.do?bfSpecRegNo=R26BD00217546&amp;fileType=BFDTL&amp;fileSeq=1"</a:t>
            </a:r>
          </a:p>
          <a:p xmlns:a="http://schemas.openxmlformats.org/drawingml/2006/main">
            <a:r>
              <a:t>      }</a:t>
            </a:r>
          </a:p>
          <a:p xmlns:a="http://schemas.openxmlformats.org/drawingml/2006/main">
            <a:r>
              <a:t>    ],</a:t>
            </a:r>
          </a:p>
          <a:p xmlns:a="http://schemas.openxmlformats.org/drawingml/2006/main">
            <a:r>
              <a:t>    "implication": "대민·내부 지식 경계와 데이터 카탈로그를 함께 설계하는 정보 제공",</a:t>
            </a:r>
          </a:p>
          <a:p xmlns:a="http://schemas.openxmlformats.org/drawingml/2006/main">
            <a:r>
              <a:t>    "local": "대민·내부 지식 경계와 데이터 카탈로그를 함께 설계하는 정보 제공",</a:t>
            </a:r>
          </a:p>
          <a:p xmlns:a="http://schemas.openxmlformats.org/drawingml/2006/main">
            <a:r>
              <a:t>    "sourceDetail": "망·DRM·권한 연계; 안건 메타데이터 범위검색; 규정 산식 교차검증; 모델라우팅·평가·모니터링",</a:t>
            </a:r>
          </a:p>
          <a:p xmlns:a="http://schemas.openxmlformats.org/drawingml/2006/main">
            <a:r>
              <a:t>    "narrative": [</a:t>
            </a:r>
          </a:p>
          <a:p xmlns:a="http://schemas.openxmlformats.org/drawingml/2006/main">
            <a:r>
              <a:t>      "대국민 챗봇, 임직원 지식 활용, 안건 검색·요약과 데이터 카탈로그를 함께 다루는 생성형 AI 플랫폼 계획. 대외 공개 지식과 내부 업무 자료를 같은 검색 범위로 취급하지 않는 것이 구성의 출발점.",</a:t>
            </a:r>
          </a:p>
          <a:p xmlns:a="http://schemas.openxmlformats.org/drawingml/2006/main">
            <a:r>
              <a:t>      "사전공개 RFP 도면은 대민·임직원 서비스를 나누고 각각 보안·서비스·데이터·관리 서브넷을 배치. 내부 영역은 SSO/EAM·ECM·업무 시스템과 연결하고, 별도 데이터 카탈로그는 업무분류체계·담당부서·메타데이터·사용승인을 연결하는 구조.",</a:t>
            </a:r>
          </a:p>
          <a:p xmlns:a="http://schemas.openxmlformats.org/drawingml/2006/main">
            <a:r>
              <a:t>      "TS 조직 기반 플랫폼에서는 직원이 누구인지뿐 아니라 특정 데이터의 업무 소관·활용 목적·승인 조건을 함께 관리하는 참고 사례. CCK 추가 개발은 조직·업무 사전과 카탈로그의 연결, DRM·권한 전파, 안건 범위검색, 산식 검증의 업무별 분리. 사전공개 요구와 실제 운영 성과는 별도 증빙으로 평가."</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"SFR-003",</a:t>
            </a:r>
          </a:p>
          <a:p xmlns:a="http://schemas.openxmlformats.org/drawingml/2006/main">
            <a:r>
              <a:t>        "title": "AI 서비스 에이전트 관리 기능",</a:t>
            </a:r>
          </a:p>
          <a:p xmlns:a="http://schemas.openxmlformats.org/drawingml/2006/main">
            <a:r>
              <a:t>        "locator": "SFR-003",</a:t>
            </a:r>
          </a:p>
          <a:p xmlns:a="http://schemas.openxmlformats.org/drawingml/2006/main">
            <a:r>
              <a:t>        "summary": "AI 에이전트의 구성·운영 관리 기능.",</a:t>
            </a:r>
          </a:p>
          <a:p xmlns:a="http://schemas.openxmlformats.org/drawingml/2006/main">
            <a:r>
              <a:t>        "data": "에이전트 설정·도구 → 실행 상태·관리 기록",</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"C08"</a:t>
            </a:r>
          </a:p>
          <a:p xmlns:a="http://schemas.openxmlformats.org/drawingml/2006/main">
            <a:r>
              <a:t>        ],</a:t>
            </a:r>
          </a:p>
          <a:p xmlns:a="http://schemas.openxmlformats.org/drawingml/2006/main">
            <a:r>
              <a:t>        "acceptance": "잘못된 도구 권한과 구성 변경 시 실행 차단·판본 추적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"1590814bc8f7ceb1abe4749ac8c848bd13cc7c8da0eb672ad1ee7d69ba045a3f"</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"AI 서비스 RAG 기능",</a:t>
            </a:r>
          </a:p>
          <a:p xmlns:a="http://schemas.openxmlformats.org/drawingml/2006/main">
            <a:r>
              <a:t>        "locator": "SFR-004",</a:t>
            </a:r>
          </a:p>
          <a:p xmlns:a="http://schemas.openxmlformats.org/drawingml/2006/main">
            <a:r>
              <a:t>        "summary": "업무 지식을 검색해 생성 응답에 연결하는 RAG 기능.",</a:t>
            </a:r>
          </a:p>
          <a:p xmlns:a="http://schemas.openxmlformats.org/drawingml/2006/main">
            <a:r>
              <a:t>        "data": "질의·허용 문서 → 근거·응답",</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"C11"</a:t>
            </a:r>
          </a:p>
          <a:p xmlns:a="http://schemas.openxmlformats.org/drawingml/2006/main">
            <a:r>
              <a:t>        ],</a:t>
            </a:r>
          </a:p>
          <a:p xmlns:a="http://schemas.openxmlformats.org/drawingml/2006/main">
            <a:r>
              <a:t>        "acceptance": "사내·대국민 문서 혼재 시 검색 범위 분리와 출처 정확성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"6779cdd1e875adfd01a03d244801be17e636a2a970a25d78c0009ee42d836beb"</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"AI 서비스 데이터 파이프라인 자동화 기능",</a:t>
            </a:r>
          </a:p>
          <a:p xmlns:a="http://schemas.openxmlformats.org/drawingml/2006/main">
            <a:r>
              <a:t>        "locator": "SFR-005",</a:t>
            </a:r>
          </a:p>
          <a:p xmlns:a="http://schemas.openxmlformats.org/drawingml/2006/main">
            <a:r>
              <a:t>        "summary": "원천 자료의 수집·전처리·검색 반영 데이터 파이프라인.",</a:t>
            </a:r>
          </a:p>
          <a:p xmlns:a="http://schemas.openxmlformats.org/drawingml/2006/main">
            <a:r>
              <a:t>        "data": "원천 문서·메타정보 → 검색용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"등록·개정·삭제·정제 실패의 처리 결과와 원천 변경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"ce9810ce185079fa2fef5d1208af96a3a07ef6e6e5ca1ec36d2dd7a42c90df96"</a:t>
            </a:r>
          </a:p>
          <a:p xmlns:a="http://schemas.openxmlformats.org/drawingml/2006/main">
            <a:r>
              <a:t>      },</a:t>
            </a:r>
          </a:p>
          <a:p xmlns:a="http://schemas.openxmlformats.org/drawingml/2006/main">
            <a:r>
              <a:t>      {</a:t>
            </a:r>
          </a:p>
          <a:p xmlns:a="http://schemas.openxmlformats.org/drawingml/2006/main">
            <a:r>
              <a:t>        "id": "SFR-009",</a:t>
            </a:r>
          </a:p>
          <a:p xmlns:a="http://schemas.openxmlformats.org/drawingml/2006/main">
            <a:r>
              <a:t>        "title": "AI 서비스(사내 AI 챗봇 서비스) 구축",</a:t>
            </a:r>
          </a:p>
          <a:p xmlns:a="http://schemas.openxmlformats.org/drawingml/2006/main">
            <a:r>
              <a:t>        "locator": "SFR-009",</a:t>
            </a:r>
          </a:p>
          <a:p xmlns:a="http://schemas.openxmlformats.org/drawingml/2006/main">
            <a:r>
              <a:t>        "summary": "사내 직원용 업무 지식 챗봇 기능.",</a:t>
            </a:r>
          </a:p>
          <a:p xmlns:a="http://schemas.openxmlformats.org/drawingml/2006/main">
            <a:r>
              <a:t>        "data": "직원 질의·직무 문맥 → 업무 답변·근거",</a:t>
            </a:r>
          </a:p>
          <a:p xmlns:a="http://schemas.openxmlformats.org/drawingml/2006/main">
            <a:r>
              <a:t>        "components": [</a:t>
            </a:r>
          </a:p>
          <a:p xmlns:a="http://schemas.openxmlformats.org/drawingml/2006/main">
            <a:r>
              <a:t>          "C01",</a:t>
            </a:r>
          </a:p>
          <a:p xmlns:a="http://schemas.openxmlformats.org/drawingml/2006/main">
            <a:r>
              <a:t>          "C03",</a:t>
            </a:r>
          </a:p>
          <a:p xmlns:a="http://schemas.openxmlformats.org/drawingml/2006/main">
            <a:r>
              <a:t>          "C06"</a:t>
            </a:r>
          </a:p>
          <a:p xmlns:a="http://schemas.openxmlformats.org/drawingml/2006/main">
            <a:r>
              <a:t>        ],</a:t>
            </a:r>
          </a:p>
          <a:p xmlns:a="http://schemas.openxmlformats.org/drawingml/2006/main">
            <a:r>
              <a:t>        "acceptance": "동일 질의의 직무별 관련성, 비공개 자료 접근, 최신 규정 인용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"45f7da3f2df0a14850c6f9716076e421210ba97cb8aefec195a8439a0225ff95"</a:t>
            </a:r>
          </a:p>
          <a:p xmlns:a="http://schemas.openxmlformats.org/drawingml/2006/main">
            <a:r>
              <a:t>      },</a:t>
            </a:r>
          </a:p>
          <a:p xmlns:a="http://schemas.openxmlformats.org/drawingml/2006/main">
            <a:r>
              <a:t>      {</a:t>
            </a:r>
          </a:p>
          <a:p xmlns:a="http://schemas.openxmlformats.org/drawingml/2006/main">
            <a:r>
              <a:t>        "id": "SFR-012",</a:t>
            </a:r>
          </a:p>
          <a:p xmlns:a="http://schemas.openxmlformats.org/drawingml/2006/main">
            <a:r>
              <a:t>        "title": "데이터 카탈로그 일반 사항",</a:t>
            </a:r>
          </a:p>
          <a:p xmlns:a="http://schemas.openxmlformats.org/drawingml/2006/main">
            <a:r>
              <a:t>        "locator": "SFR-012",</a:t>
            </a:r>
          </a:p>
          <a:p xmlns:a="http://schemas.openxmlformats.org/drawingml/2006/main">
            <a:r>
              <a:t>        "summary": "전사 데이터 카탈로그의 공통 기능 구성.",</a:t>
            </a:r>
          </a:p>
          <a:p xmlns:a="http://schemas.openxmlformats.org/drawingml/2006/main">
            <a:r>
              <a:t>        "data": "데이터 자산·설명 → 탐색 가능한 카탈로그",</a:t>
            </a:r>
          </a:p>
          <a:p xmlns:a="http://schemas.openxmlformats.org/drawingml/2006/main">
            <a:r>
              <a:t>        "components": [</a:t>
            </a:r>
          </a:p>
          <a:p xmlns:a="http://schemas.openxmlformats.org/drawingml/2006/main">
            <a:r>
              <a:t>          "C09",</a:t>
            </a:r>
          </a:p>
          <a:p xmlns:a="http://schemas.openxmlformats.org/drawingml/2006/main">
            <a:r>
              <a:t>          "C11"</a:t>
            </a:r>
          </a:p>
          <a:p xmlns:a="http://schemas.openxmlformats.org/drawingml/2006/main">
            <a:r>
              <a:t>        ],</a:t>
            </a:r>
          </a:p>
          <a:p xmlns:a="http://schemas.openxmlformats.org/drawingml/2006/main">
            <a:r>
              <a:t>        "acceptance": "자산 식별자·담당자·설명의 원천 일치와 누락 항목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"c47acd02115ea8639438099db14eb807ebb43602a58a27a75e57bd7c44a01747"</a:t>
            </a:r>
          </a:p>
          <a:p xmlns:a="http://schemas.openxmlformats.org/drawingml/2006/main">
            <a:r>
              <a:t>      },</a:t>
            </a:r>
          </a:p>
          <a:p xmlns:a="http://schemas.openxmlformats.org/drawingml/2006/main">
            <a:r>
              <a:t>      {</a:t>
            </a:r>
          </a:p>
          <a:p xmlns:a="http://schemas.openxmlformats.org/drawingml/2006/main">
            <a:r>
              <a:t>        "id": "SFR-013",</a:t>
            </a:r>
          </a:p>
          <a:p xmlns:a="http://schemas.openxmlformats.org/drawingml/2006/main">
            <a:r>
              <a:t>        "title": "데이터 카탈로그 공사 맞춤 개발",</a:t>
            </a:r>
          </a:p>
          <a:p xmlns:a="http://schemas.openxmlformats.org/drawingml/2006/main">
            <a:r>
              <a:t>        "locator": "SFR-013",</a:t>
            </a:r>
          </a:p>
          <a:p xmlns:a="http://schemas.openxmlformats.org/drawingml/2006/main">
            <a:r>
              <a:t>        "summary": "기관 업무에 맞춘 데이터 카탈로그 구성과 활용.",</a:t>
            </a:r>
          </a:p>
          <a:p xmlns:a="http://schemas.openxmlformats.org/drawingml/2006/main">
            <a:r>
              <a:t>        "data": "업무 분류·사용자 문맥 → 맞춤 자산 정보",</a:t>
            </a:r>
          </a:p>
          <a:p xmlns:a="http://schemas.openxmlformats.org/drawingml/2006/main">
            <a:r>
              <a:t>        "components": [</a:t>
            </a:r>
          </a:p>
          <a:p xmlns:a="http://schemas.openxmlformats.org/drawingml/2006/main">
            <a:r>
              <a:t>          "C02",</a:t>
            </a:r>
          </a:p>
          <a:p xmlns:a="http://schemas.openxmlformats.org/drawingml/2006/main">
            <a:r>
              <a:t>          "C11",</a:t>
            </a:r>
          </a:p>
          <a:p xmlns:a="http://schemas.openxmlformats.org/drawingml/2006/main">
            <a:r>
              <a:t>          "C12"</a:t>
            </a:r>
          </a:p>
          <a:p xmlns:a="http://schemas.openxmlformats.org/drawingml/2006/main">
            <a:r>
              <a:t>        ],</a:t>
            </a:r>
          </a:p>
          <a:p xmlns:a="http://schemas.openxmlformats.org/drawingml/2006/main">
            <a:r>
              <a:t>        "acceptance": "부서·업무 분류 변경과 사용자 권한에 따른 자산 정보 표시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"dbe676ae5dc97c22a843994b927807e364fb8221c6d23ce8fb0b11a860ffc1b0"</a:t>
            </a:r>
          </a:p>
          <a:p xmlns:a="http://schemas.openxmlformats.org/drawingml/2006/main">
            <a:r>
              <a:t>      },</a:t>
            </a:r>
          </a:p>
          <a:p xmlns:a="http://schemas.openxmlformats.org/drawingml/2006/main">
            <a:r>
              <a:t>      {</a:t>
            </a:r>
          </a:p>
          <a:p xmlns:a="http://schemas.openxmlformats.org/drawingml/2006/main">
            <a:r>
              <a:t>        "id": "SFR-014",</a:t>
            </a:r>
          </a:p>
          <a:p xmlns:a="http://schemas.openxmlformats.org/drawingml/2006/main">
            <a:r>
              <a:t>        "title": "데이터 카탈로그 검색 기능",</a:t>
            </a:r>
          </a:p>
          <a:p xmlns:a="http://schemas.openxmlformats.org/drawingml/2006/main">
            <a:r>
              <a:t>        "locator": "SFR-014",</a:t>
            </a:r>
          </a:p>
          <a:p xmlns:a="http://schemas.openxmlformats.org/drawingml/2006/main">
            <a:r>
              <a:t>        "summary": "카탈로그의 데이터 자산 검색 기능.",</a:t>
            </a:r>
          </a:p>
          <a:p xmlns:a="http://schemas.openxmlformats.org/drawingml/2006/main">
            <a:r>
              <a:t>        "data": "자산명·업무 용어 → 관련 자산·설명",</a:t>
            </a:r>
          </a:p>
          <a:p xmlns:a="http://schemas.openxmlformats.org/drawingml/2006/main">
            <a:r>
              <a:t>        "components": [</a:t>
            </a:r>
          </a:p>
          <a:p xmlns:a="http://schemas.openxmlformats.org/drawingml/2006/main">
            <a:r>
              <a:t>          "C03",</a:t>
            </a:r>
          </a:p>
          <a:p xmlns:a="http://schemas.openxmlformats.org/drawingml/2006/main">
            <a:r>
              <a:t>          "C11"</a:t>
            </a:r>
          </a:p>
          <a:p xmlns:a="http://schemas.openxmlformats.org/drawingml/2006/main">
            <a:r>
              <a:t>        ],</a:t>
            </a:r>
          </a:p>
          <a:p xmlns:a="http://schemas.openxmlformats.org/drawingml/2006/main">
            <a:r>
              <a:t>        "acceptance": "다른 업무 용어로 같은 자산 탐색, 동명이자산 구분, 검색 결과 권한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"0d1cbe7ee72465436a3269eeb95106fa281de600b63107b9dfece31a434b39db"</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"국민·사내 접점",</a:t>
            </a:r>
          </a:p>
          <a:p xmlns:a="http://schemas.openxmlformats.org/drawingml/2006/main">
            <a:r>
              <a:t>          "layer": "이용 접점",</a:t>
            </a:r>
          </a:p>
          <a:p xmlns:a="http://schemas.openxmlformats.org/drawingml/2006/main">
            <a:r>
              <a:t>          "detail": "국민·직원·안건 검토자·데이터 담당",</a:t>
            </a:r>
          </a:p>
          <a:p xmlns:a="http://schemas.openxmlformats.org/drawingml/2006/main">
            <a:r>
              <a:t>          "requirements": [</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"SSO·DRM·망 구분",</a:t>
            </a:r>
          </a:p>
          <a:p xmlns:a="http://schemas.openxmlformats.org/drawingml/2006/main">
            <a:r>
              <a:t>          "layer": "업무 문맥",</a:t>
            </a:r>
          </a:p>
          <a:p xmlns:a="http://schemas.openxmlformats.org/drawingml/2006/main">
            <a:r>
              <a:t>          "detail": "외부·내부 접점과 망·계정·DRM 경계 분리",</a:t>
            </a:r>
          </a:p>
          <a:p xmlns:a="http://schemas.openxmlformats.org/drawingml/2006/main">
            <a:r>
              <a:t>          "requirements": [</a:t>
            </a:r>
          </a:p>
          <a:p xmlns:a="http://schemas.openxmlformats.org/drawingml/2006/main">
            <a:r>
              <a:t>            "SFR-003",</a:t>
            </a:r>
          </a:p>
          <a:p xmlns:a="http://schemas.openxmlformats.org/drawingml/2006/main">
            <a:r>
              <a:t>            "SFR-013"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"안건·허용자료 검색",</a:t>
            </a:r>
          </a:p>
          <a:p xmlns:a="http://schemas.openxmlformats.org/drawingml/2006/main">
            <a:r>
              <a:t>          "layer": "자료 조회",</a:t>
            </a:r>
          </a:p>
          <a:p xmlns:a="http://schemas.openxmlformats.org/drawingml/2006/main">
            <a:r>
              <a:t>          "detail": "질의·권한",</a:t>
            </a:r>
          </a:p>
          <a:p xmlns:a="http://schemas.openxmlformats.org/drawingml/2006/main">
            <a:r>
              <a:t>          "requirements": [</a:t>
            </a:r>
          </a:p>
          <a:p xmlns:a="http://schemas.openxmlformats.org/drawingml/2006/main">
            <a:r>
              <a:t>            "SFR-004",</a:t>
            </a:r>
          </a:p>
          <a:p xmlns:a="http://schemas.openxmlformats.org/drawingml/2006/main">
            <a:r>
              <a:t>            "SFR-009",</a:t>
            </a:r>
          </a:p>
          <a:p xmlns:a="http://schemas.openxmlformats.org/drawingml/2006/main">
            <a:r>
              <a:t>            "SFR-014"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"모델·요약·산식",</a:t>
            </a:r>
          </a:p>
          <a:p xmlns:a="http://schemas.openxmlformats.org/drawingml/2006/main">
            <a:r>
              <a:t>          "layer": "핵심 처리",</a:t>
            </a:r>
          </a:p>
          <a:p xmlns:a="http://schemas.openxmlformats.org/drawingml/2006/main">
            <a:r>
              <a:t>          "detail": "검색·요약·모델 라우팅·산식 검증",</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"산식·단위 대조",</a:t>
            </a:r>
          </a:p>
          <a:p xmlns:a="http://schemas.openxmlformats.org/drawingml/2006/main">
            <a:r>
              <a:t>          "layer": "결과 검증",</a:t>
            </a:r>
          </a:p>
          <a:p xmlns:a="http://schemas.openxmlformats.org/drawingml/2006/main">
            <a:r>
              <a:t>          "detail": "망·권한·산식별 독립 검증",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"업무 담당 검토",</a:t>
            </a:r>
          </a:p>
          <a:p xmlns:a="http://schemas.openxmlformats.org/drawingml/2006/main">
            <a:r>
              <a:t>          "layer": "사람 확인",</a:t>
            </a:r>
          </a:p>
          <a:p xmlns:a="http://schemas.openxmlformats.org/drawingml/2006/main">
            <a:r>
              <a:t>          "detail": "허용된 안건만 검색·요약하고 규정 산식을 독립 확인",</a:t>
            </a:r>
          </a:p>
          <a:p xmlns:a="http://schemas.openxmlformats.org/drawingml/2006/main">
            <a:r>
              <a:t>          "requirements": [</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"근거 요약·계산",</a:t>
            </a:r>
          </a:p>
          <a:p xmlns:a="http://schemas.openxmlformats.org/drawingml/2006/main">
            <a:r>
              <a:t>          "layer": "업무 연결",</a:t>
            </a:r>
          </a:p>
          <a:p xmlns:a="http://schemas.openxmlformats.org/drawingml/2006/main">
            <a:r>
              <a:t>          "detail": "권한 내 요약·계산 결과의 담당자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"품질·민감정보 점검",</a:t>
            </a:r>
          </a:p>
          <a:p xmlns:a="http://schemas.openxmlformats.org/drawingml/2006/main">
            <a:r>
              <a:t>          "layer": "운영 관측",</a:t>
            </a:r>
          </a:p>
          <a:p xmlns:a="http://schemas.openxmlformats.org/drawingml/2006/main">
            <a:r>
              <a:t>          "detail": "데이터 품질·민감정보·답변 품질 모니터링",</a:t>
            </a:r>
          </a:p>
          <a:p xmlns:a="http://schemas.openxmlformats.org/drawingml/2006/main">
            <a:r>
              <a:t>          "requirements": [</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"ECM·안건·공개자료",</a:t>
            </a:r>
          </a:p>
          <a:p xmlns:a="http://schemas.openxmlformats.org/drawingml/2006/main">
            <a:r>
              <a:t>          "layer": "데이터 원천",</a:t>
            </a:r>
          </a:p>
          <a:p xmlns:a="http://schemas.openxmlformats.org/drawingml/2006/main">
            <a:r>
              <a:t>          "detail": "지식·안건·카탈로그",</a:t>
            </a:r>
          </a:p>
          <a:p xmlns:a="http://schemas.openxmlformats.org/drawingml/2006/main">
            <a:r>
              <a:t>          "requirements": [</a:t>
            </a:r>
          </a:p>
          <a:p xmlns:a="http://schemas.openxmlformats.org/drawingml/2006/main">
            <a:r>
              <a:t>            "SFR-005",</a:t>
            </a:r>
          </a:p>
          <a:p xmlns:a="http://schemas.openxmlformats.org/drawingml/2006/main">
            <a:r>
              <a:t>            "SFR-012"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"메타정보·카탈로그",</a:t>
            </a:r>
          </a:p>
          <a:p xmlns:a="http://schemas.openxmlformats.org/drawingml/2006/main">
            <a:r>
              <a:t>          "layer": "준비·갱신",</a:t>
            </a:r>
          </a:p>
          <a:p xmlns:a="http://schemas.openxmlformats.org/drawingml/2006/main">
            <a:r>
              <a:t>          "detail": "안건 메타데이터·정형/비정형 데이터 카탈로그",</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"대민·사내 DB 분리",</a:t>
            </a:r>
          </a:p>
          <a:p xmlns:a="http://schemas.openxmlformats.org/drawingml/2006/main">
            <a:r>
              <a:t>          "layer": "상태·지식 저장",</a:t>
            </a:r>
          </a:p>
          <a:p xmlns:a="http://schemas.openxmlformats.org/drawingml/2006/main">
            <a:r>
              <a:t>          "detail": "망·권한별 노출 결과와 원문·계산·카탈로그 대사",</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"SFR-012",</a:t>
            </a:r>
          </a:p>
          <a:p xmlns:a="http://schemas.openxmlformats.org/drawingml/2006/main">
            <a:r>
              <a:t>            "SFR-013",</a:t>
            </a:r>
          </a:p>
          <a:p xmlns:a="http://schemas.openxmlformats.org/drawingml/2006/main">
            <a:r>
              <a:t>            "SFR-014"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"권한·망·모델 관리",</a:t>
            </a:r>
          </a:p>
          <a:p xmlns:a="http://schemas.openxmlformats.org/drawingml/2006/main">
            <a:r>
              <a:t>          "layer": "권한·정책",</a:t>
            </a:r>
          </a:p>
          <a:p xmlns:a="http://schemas.openxmlformats.org/drawingml/2006/main">
            <a:r>
              <a:t>          "detail": "외부 계정의 내부 안건 요청·DRM 제한·단위 오류",</a:t>
            </a:r>
          </a:p>
          <a:p xmlns:a="http://schemas.openxmlformats.org/drawingml/2006/main">
            <a:r>
              <a:t>          "requirements": [</a:t>
            </a:r>
          </a:p>
          <a:p xmlns:a="http://schemas.openxmlformats.org/drawingml/2006/main">
            <a:r>
              <a:t>            "SFR-013"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"외부·내부 접점과 망·계정·DRM 경계 분리",</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"질의·권한",</a:t>
            </a:r>
          </a:p>
          <a:p xmlns:a="http://schemas.openxmlformats.org/drawingml/2006/main">
            <a:r>
              <a:t>          "check": "망·권한·산식별 독립 검증"</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"허용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"요약·계산",</a:t>
            </a:r>
          </a:p>
          <a:p xmlns:a="http://schemas.openxmlformats.org/drawingml/2006/main">
            <a:r>
              <a:t>          "check": "외부 계정의 내부 안건 요청·DRM 제한·단위 오류"</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"요약·계산",</a:t>
            </a:r>
          </a:p>
          <a:p xmlns:a="http://schemas.openxmlformats.org/drawingml/2006/main">
            <a:r>
              <a:t>          "check": "권한 내 요약·계산 결과의 담당자 검토"</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 결과",</a:t>
            </a:r>
          </a:p>
          <a:p xmlns:a="http://schemas.openxmlformats.org/drawingml/2006/main">
            <a:r>
              <a:t>          "check": "망·권한별 노출 결과와 원문·계산·카탈로그 대사"</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"사전공개 RFP 구성도·SFR-001~014",</a:t>
            </a:r>
          </a:p>
          <a:p xmlns:a="http://schemas.openxmlformats.org/drawingml/2006/main">
            <a:r>
              <a:t>        "extracted": "대민/임직원 서비스와 DB 분리, SSO/EAM·데이터 업로드 경계",</a:t>
            </a:r>
          </a:p>
          <a:p xmlns:a="http://schemas.openxmlformats.org/drawingml/2006/main">
            <a:r>
              <a:t>        "extension": "공개·내부 경계 교차 시험과 금융 산식의 독립 검산"</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"PF-R08",</a:t>
            </a:r>
          </a:p>
          <a:p xmlns:a="http://schemas.openxmlformats.org/drawingml/2006/main">
            <a:r>
              <a:t>          "path": "assets/casebook-sources/PF-R08-01.png",</a:t>
            </a:r>
          </a:p>
          <a:p xmlns:a="http://schemas.openxmlformats.org/drawingml/2006/main">
            <a:r>
              <a:t>          "title": "대민·임직원 AI 서비스 분리",</a:t>
            </a:r>
          </a:p>
          <a:p xmlns:a="http://schemas.openxmlformats.org/drawingml/2006/main">
            <a:r>
              <a:t>          "status": "사전공개 RFP 목표 구성도",</a:t>
            </a:r>
          </a:p>
          <a:p xmlns:a="http://schemas.openxmlformats.org/drawingml/2006/main">
            <a:r>
              <a:t>          "caption": "보안·서비스·데이터·관리 서브넷과 SSO·업무 데이터 경계",</a:t>
            </a:r>
          </a:p>
          <a:p xmlns:a="http://schemas.openxmlformats.org/drawingml/2006/main">
            <a:r>
              <a:t>          "locator": "rId20 / BinData/BIN0002_bmp",</a:t>
            </a:r>
          </a:p>
          <a:p xmlns:a="http://schemas.openxmlformats.org/drawingml/2006/main">
            <a:r>
              <a:t>          "checked": "2026-10-16",</a:t>
            </a:r>
          </a:p>
          <a:p xmlns:a="http://schemas.openxmlformats.org/drawingml/2006/main">
            <a:r>
              <a:t>          "sha256": "dbd84b9d88acec3c54802ec4cc6eacaf8a872223e2a7ee89fadf50a173e38803",</a:t>
            </a:r>
          </a:p>
          <a:p xmlns:a="http://schemas.openxmlformats.org/drawingml/2006/main">
            <a:r>
              <a:t>          "explanation": {</a:t>
            </a:r>
          </a:p>
          <a:p xmlns:a="http://schemas.openxmlformats.org/drawingml/2006/main">
            <a:r>
              <a:t>            "read": "사전공개 요구의 대국민·임직원 서비스와 데이터·네트워크 경계를 구분한 목표 구성. 공개 상담용 자료와 내부 안건·업무 자료를 서비스·저장 계층에서 분리하는 구조.",</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"SFR-005",</a:t>
            </a:r>
          </a:p>
          <a:p xmlns:a="http://schemas.openxmlformats.org/drawingml/2006/main">
            <a:r>
              <a:t>              "SFR-009"</a:t>
            </a:r>
          </a:p>
          <a:p xmlns:a="http://schemas.openxmlformats.org/drawingml/2006/main">
            <a:r>
              <a:t>            ],</a:t>
            </a:r>
          </a:p>
          <a:p xmlns:a="http://schemas.openxmlformats.org/drawingml/2006/main">
            <a:r>
              <a:t>            "connection": "같은 AI 기반을 쓰더라도 공개·내부 검색 범위와 문서 반입 경로를 별도로 검수하고 사용자 문맥·SSO·DRM 등 기존 통제와 연결하는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"PF-R08",</a:t>
            </a:r>
          </a:p>
          <a:p xmlns:a="http://schemas.openxmlformats.org/drawingml/2006/main">
            <a:r>
              <a:t>          "path": "assets/casebook-sources/PF-R08-02.png",</a:t>
            </a:r>
          </a:p>
          <a:p xmlns:a="http://schemas.openxmlformats.org/drawingml/2006/main">
            <a:r>
              <a:t>          "title": "데이터 카탈로그·업무 매핑",</a:t>
            </a:r>
          </a:p>
          <a:p xmlns:a="http://schemas.openxmlformats.org/drawingml/2006/main">
            <a:r>
              <a:t>          "status": "사전공개 RFP 데이터 구성도",</a:t>
            </a:r>
          </a:p>
          <a:p xmlns:a="http://schemas.openxmlformats.org/drawingml/2006/main">
            <a:r>
              <a:t>          "caption": "대시보드·통합검색·데이터등록·표준·품질과 업무 매핑",</a:t>
            </a:r>
          </a:p>
          <a:p xmlns:a="http://schemas.openxmlformats.org/drawingml/2006/main">
            <a:r>
              <a:t>          "locator": "rId20 / BinData/BIN0001_bmp",</a:t>
            </a:r>
          </a:p>
          <a:p xmlns:a="http://schemas.openxmlformats.org/drawingml/2006/main">
            <a:r>
              <a:t>          "checked": "2026-10-16",</a:t>
            </a:r>
          </a:p>
          <a:p xmlns:a="http://schemas.openxmlformats.org/drawingml/2006/main">
            <a:r>
              <a:t>          "sha256": "e91edef465c1a60d5edcd6288eefa4a5d158cd9980b9b941428685ef6e32a0f5",</a:t>
            </a:r>
          </a:p>
          <a:p xmlns:a="http://schemas.openxmlformats.org/drawingml/2006/main">
            <a:r>
              <a:t>          "explanation": {</a:t>
            </a:r>
          </a:p>
          <a:p xmlns:a="http://schemas.openxmlformats.org/drawingml/2006/main">
            <a:r>
              <a:t>            "read": "카탈로그와 MDMS·ECM 등 기존 데이터·문서 체계의 업무 연결. AI 답변에 앞서 어떤 데이터가 존재하고 누가 관리하며 어떤 업무에서 쓰는지 찾을 수 있도록 하는 정보 기반.",</a:t>
            </a:r>
          </a:p>
          <a:p xmlns:a="http://schemas.openxmlformats.org/drawingml/2006/main">
            <a:r>
              <a:t>            "requirements": [</a:t>
            </a:r>
          </a:p>
          <a:p xmlns:a="http://schemas.openxmlformats.org/drawingml/2006/main">
            <a:r>
              <a:t>              "SFR-012",</a:t>
            </a:r>
          </a:p>
          <a:p xmlns:a="http://schemas.openxmlformats.org/drawingml/2006/main">
            <a:r>
              <a:t>              "SFR-013",</a:t>
            </a:r>
          </a:p>
          <a:p xmlns:a="http://schemas.openxmlformats.org/drawingml/2006/main">
            <a:r>
              <a:t>              "SFR-014"</a:t>
            </a:r>
          </a:p>
          <a:p xmlns:a="http://schemas.openxmlformats.org/drawingml/2006/main">
            <a:r>
              <a:t>            ],</a:t>
            </a:r>
          </a:p>
          <a:p xmlns:a="http://schemas.openxmlformats.org/drawingml/2006/main">
            <a:r>
              <a:t>            "connection": "TS의 조직·업무 ID와 데이터 자산·소관 부서를 연결하고 문서 검색 권한과 카탈로그 설명의 공개 범위를 분리해 관리하는 적용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"외부 계정의 내부 안건 요청·DRM 제한·단위 오류",</a:t>
            </a:r>
          </a:p>
          <a:p xmlns:a="http://schemas.openxmlformats.org/drawingml/2006/main">
            <a:r>
              <a:t>        "hold": "망·권한·산식별 독립 검증",</a:t>
            </a:r>
          </a:p>
          <a:p xmlns:a="http://schemas.openxmlformats.org/drawingml/2006/main">
            <a:r>
              <a:t>        "recovery": "데이터 품질·민감정보·답변 품질 모니터링",</a:t>
            </a:r>
          </a:p>
          <a:p xmlns:a="http://schemas.openxmlformats.org/drawingml/2006/main">
            <a:r>
              <a:t>        "evidence": "망·권한별 노출 결과와 원문·계산·카탈로그 대사"</a:t>
            </a:r>
          </a:p>
          <a:p xmlns:a="http://schemas.openxmlformats.org/drawingml/2006/main">
            <a:r>
              <a:t>      },</a:t>
            </a:r>
          </a:p>
          <a:p xmlns:a="http://schemas.openxmlformats.org/drawingml/2006/main">
            <a:r>
              <a:t>      "data": {</a:t>
            </a:r>
          </a:p>
          <a:p xmlns:a="http://schemas.openxmlformats.org/drawingml/2006/main">
            <a:r>
              <a:t>        "source": "지식·안건·카탈로그",</a:t>
            </a:r>
          </a:p>
          <a:p xmlns:a="http://schemas.openxmlformats.org/drawingml/2006/main">
            <a:r>
              <a:t>        "prepare": "안건 메타데이터·정형/비정형 데이터 카탈로그",</a:t>
            </a:r>
          </a:p>
          <a:p xmlns:a="http://schemas.openxmlformats.org/drawingml/2006/main">
            <a:r>
              <a:t>        "output": "질의·권한",</a:t>
            </a:r>
          </a:p>
          <a:p xmlns:a="http://schemas.openxmlformats.org/drawingml/2006/main">
            <a:r>
              <a:t>        "refresh": "데이터 품질·민감정보·답변 품질 모니터링"</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"PF-R08",</a:t>
            </a:r>
          </a:p>
          <a:p xmlns:a="http://schemas.openxmlformats.org/drawingml/2006/main">
            <a:r>
              <a:t>    "success": [</a:t>
            </a:r>
          </a:p>
          <a:p xmlns:a="http://schemas.openxmlformats.org/drawingml/2006/main">
            <a:r>
              <a:t>      "대국민·사내 지식 경계 분리",</a:t>
            </a:r>
          </a:p>
          <a:p xmlns:a="http://schemas.openxmlformats.org/drawingml/2006/main">
            <a:r>
              <a:t>      "카탈로그와 데이터 통제 결합"</a:t>
            </a:r>
          </a:p>
          <a:p xmlns:a="http://schemas.openxmlformats.org/drawingml/2006/main">
            <a:r>
              <a:t>    ],</a:t>
            </a:r>
          </a:p>
          <a:p xmlns:a="http://schemas.openxmlformats.org/drawingml/2006/main">
            <a:r>
              <a:t>    "risks": [</a:t>
            </a:r>
          </a:p>
          <a:p xmlns:a="http://schemas.openxmlformats.org/drawingml/2006/main">
            <a:r>
              <a:t>      "DRM·접근권한 전파 누락",</a:t>
            </a:r>
          </a:p>
          <a:p xmlns:a="http://schemas.openxmlformats.org/drawingml/2006/main">
            <a:r>
              <a:t>      "금융 산식·단위 오류"</a:t>
            </a:r>
          </a:p>
          <a:p xmlns:a="http://schemas.openxmlformats.org/drawingml/2006/main">
            <a:r>
              <a:t>    ],</a:t>
            </a:r>
          </a:p>
          <a:p xmlns:a="http://schemas.openxmlformats.org/drawingml/2006/main">
            <a:r>
              <a:t>    "architecture": [</a:t>
            </a:r>
          </a:p>
          <a:p xmlns:a="http://schemas.openxmlformats.org/drawingml/2006/main">
            <a:r>
              <a:t>      "국민·직원 접점",</a:t>
            </a:r>
          </a:p>
          <a:p xmlns:a="http://schemas.openxmlformats.org/drawingml/2006/main">
            <a:r>
              <a:t>      "검색·요약·산식 검토",</a:t>
            </a:r>
          </a:p>
          <a:p xmlns:a="http://schemas.openxmlformats.org/drawingml/2006/main">
            <a:r>
              <a:t>      "지식·안건·카탈로그",</a:t>
            </a:r>
          </a:p>
          <a:p xmlns:a="http://schemas.openxmlformats.org/drawingml/2006/main">
            <a:r>
              <a:t>      "업무 검토자"</a:t>
            </a:r>
          </a:p>
          <a:p xmlns:a="http://schemas.openxmlformats.org/drawingml/2006/main">
            <a:r>
              <a:t>    ],</a:t>
            </a:r>
          </a:p>
          <a:p xmlns:a="http://schemas.openxmlformats.org/drawingml/2006/main">
            <a:r>
              <a:t>    "transfers": [</a:t>
            </a:r>
          </a:p>
          <a:p xmlns:a="http://schemas.openxmlformats.org/drawingml/2006/main">
            <a:r>
              <a:t>      "질의·권한",</a:t>
            </a:r>
          </a:p>
          <a:p xmlns:a="http://schemas.openxmlformats.org/drawingml/2006/main">
            <a:r>
              <a:t>      "허용 근거",</a:t>
            </a:r>
          </a:p>
          <a:p xmlns:a="http://schemas.openxmlformats.org/drawingml/2006/main">
            <a:r>
              <a:t>      "요약·계산",</a:t>
            </a:r>
          </a:p>
          <a:p xmlns:a="http://schemas.openxmlformats.org/drawingml/2006/main">
            <a:r>
              <a:t>      "검토 결과"</a:t>
            </a:r>
          </a:p>
          <a:p xmlns:a="http://schemas.openxmlformats.org/drawingml/2006/main">
            <a:r>
              <a:t>    ],</a:t>
            </a:r>
          </a:p>
          <a:p xmlns:a="http://schemas.openxmlformats.org/drawingml/2006/main">
            <a:r>
              <a:t>    "control": "망·권한·산식별 독립 검증",</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SFR-001~014, DAR·CNR / Word T089 https://www.g2b.go.kr/pn/pnz/pnza/UntyAtchFile/downloadFile.do?bfSpecRegNo=R26BD00217546&amp;fileType=BFDTL&amp;fileSeq=1</a:t>
            </a:r>
          </a:p>
          <a:p xmlns:a="http://schemas.openxmlformats.org/drawingml/2006/main">
            <a:r>
              <a:t>홈페이지 https://heen1987-ops.github.io/TS-business-Plan-001/index.html?view=platform-cases&amp;case=PF-R08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"PF-R08",</a:t>
            </a:r>
          </a:p>
          <a:p xmlns:a="http://schemas.openxmlformats.org/drawingml/2006/main">
            <a:r>
              <a:t>    "sourceId": "R08",</a:t>
            </a:r>
          </a:p>
          <a:p xmlns:a="http://schemas.openxmlformats.org/drawingml/2006/main">
            <a:r>
              <a:t>    "title": "예금보험공사 생성형 AI",</a:t>
            </a:r>
          </a:p>
          <a:p xmlns:a="http://schemas.openxmlformats.org/drawingml/2006/main">
            <a:r>
              <a:t>    "region": "국내",</a:t>
            </a:r>
          </a:p>
          <a:p xmlns:a="http://schemas.openxmlformats.org/drawingml/2006/main">
            <a:r>
              <a:t>    "owner": "예금보험공사",</a:t>
            </a:r>
          </a:p>
          <a:p xmlns:a="http://schemas.openxmlformats.org/drawingml/2006/main">
            <a:r>
              <a:t>    "state": "사전규격 RFP + 공급사 계약 발표 확인 / 최종본·준공 미확인",</a:t>
            </a:r>
          </a:p>
          <a:p xmlns:a="http://schemas.openxmlformats.org/drawingml/2006/main">
            <a:r>
              <a:t>    "period": "기존 원장 확인 2026.10.16",</a:t>
            </a:r>
          </a:p>
          <a:p xmlns:a="http://schemas.openxmlformats.org/drawingml/2006/main">
            <a:r>
              <a:t>    "fact": "대국민 챗봇·사내 챗봇·금융위 안건 검색요약 + 데이터 카탈로그/거버넌스",</a:t>
            </a:r>
          </a:p>
          <a:p xmlns:a="http://schemas.openxmlformats.org/drawingml/2006/main">
            <a:r>
              <a:t>    "limit": "학습용 FAQ500건과 서비스별 검증셋500건은 별도 요구. 계획상 수치를 운영 실적으로 사용하지 않음",</a:t>
            </a:r>
          </a:p>
          <a:p xmlns:a="http://schemas.openxmlformats.org/drawingml/2006/main">
            <a:r>
              <a:t>    "nodes": [</a:t>
            </a:r>
          </a:p>
          <a:p xmlns:a="http://schemas.openxmlformats.org/drawingml/2006/main">
            <a:r>
              <a:t>      "지식·안건",</a:t>
            </a:r>
          </a:p>
          <a:p xmlns:a="http://schemas.openxmlformats.org/drawingml/2006/main">
            <a:r>
              <a:t>      "권한·망·DRM",</a:t>
            </a:r>
          </a:p>
          <a:p xmlns:a="http://schemas.openxmlformats.org/drawingml/2006/main">
            <a:r>
              <a:t>      "검색·산식 검증",</a:t>
            </a:r>
          </a:p>
          <a:p xmlns:a="http://schemas.openxmlformats.org/drawingml/2006/main">
            <a:r>
              <a:t>      "평가·운영"</a:t>
            </a:r>
          </a:p>
          <a:p xmlns:a="http://schemas.openxmlformats.org/drawingml/2006/main">
            <a:r>
              <a:t>    ],</a:t>
            </a:r>
          </a:p>
          <a:p xmlns:a="http://schemas.openxmlformats.org/drawingml/2006/main">
            <a:r>
              <a:t>    "apply": "대민·내부 지식 경계와 데이터 카탈로그를 함께 설계하는 정보 제공",</a:t>
            </a:r>
          </a:p>
          <a:p xmlns:a="http://schemas.openxmlformats.org/drawingml/2006/main">
            <a:r>
              <a:t>    "delta": "내외부 지식·망 분리 / 문서 DRM·권한 / 안건·산식·데이터 카탈로그",</a:t>
            </a:r>
          </a:p>
          <a:p xmlns:a="http://schemas.openxmlformats.org/drawingml/2006/main">
            <a:r>
              <a:t>    "test": "외부 계정의 내부자료 요청·DRM·산식 오류에 대한 독립 검증",</a:t>
            </a:r>
          </a:p>
          <a:p xmlns:a="http://schemas.openxmlformats.org/drawingml/2006/main">
            <a:r>
              <a:t>    "url": "https://www.g2b.go.kr/pn/pnz/pnza/UntyAtchFile/downloadFile.do?bfSpecRegNo=R26BD00217546&amp;fileType=BFDTL&amp;fileSeq=1",</a:t>
            </a:r>
          </a:p>
          <a:p xmlns:a="http://schemas.openxmlformats.org/drawingml/2006/main">
            <a:r>
              <a:t>    "urls": [</a:t>
            </a:r>
          </a:p>
          <a:p xmlns:a="http://schemas.openxmlformats.org/drawingml/2006/main">
            <a:r>
              <a:t>      "https://www.g2b.go.kr/pn/pnz/pnza/UntyAtchFile/downloadFile.do?bfSpecRegNo=R26BD00217546&amp;fileType=BFDTL&amp;fileSeq=1",</a:t>
            </a:r>
          </a:p>
          <a:p xmlns:a="http://schemas.openxmlformats.org/drawingml/2006/main">
            <a:r>
              <a:t>      "https://clabi.ai/news/fe55039a-f069-4218-aa5a-0c1057c5ca92"</a:t>
            </a:r>
          </a:p>
          <a:p xmlns:a="http://schemas.openxmlformats.org/drawingml/2006/main">
            <a:r>
              <a:t>    ],</a:t>
            </a:r>
          </a:p>
          <a:p xmlns:a="http://schemas.openxmlformats.org/drawingml/2006/main">
            <a:r>
              <a:t>    "basis": "SFR-001~014, DAR·CNR / Word T089",</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"비인가 노출 건수 / 원천 추적률 / 안건 검토시간",</a:t>
            </a:r>
          </a:p>
          <a:p xmlns:a="http://schemas.openxmlformats.org/drawingml/2006/main">
            <a:r>
              <a:t>    "group": "요구·구축",</a:t>
            </a:r>
          </a:p>
          <a:p xmlns:a="http://schemas.openxmlformats.org/drawingml/2006/main">
            <a:r>
              <a:t>    "sourceDetail": "망·DRM·권한 연계; 안건 메타데이터 범위검색; 규정 산식 교차검증; 모델라우팅·평가·모니터링",</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"PF-R08",</a:t>
            </a:r>
          </a:p>
          <a:p xmlns:a="http://schemas.openxmlformats.org/drawingml/2006/main">
            <a:r>
              <a:t>    "canonicalId": "PF-R08",</a:t>
            </a:r>
          </a:p>
          <a:p xmlns:a="http://schemas.openxmlformats.org/drawingml/2006/main">
            <a:r>
              <a:t>    "purpose": "대민·사내 AI와 데이터 관리체계의 공동 구축",</a:t>
            </a:r>
          </a:p>
          <a:p xmlns:a="http://schemas.openxmlformats.org/drawingml/2006/main">
            <a:r>
              <a:t>    "users": "국민·직원·안건 검토자·데이터 담당",</a:t>
            </a:r>
          </a:p>
          <a:p xmlns:a="http://schemas.openxmlformats.org/drawingml/2006/main">
            <a:r>
              <a:t>    "scope": [</a:t>
            </a:r>
          </a:p>
          <a:p xmlns:a="http://schemas.openxmlformats.org/drawingml/2006/main">
            <a:r>
              <a:t>      "챗봇",</a:t>
            </a:r>
          </a:p>
          <a:p xmlns:a="http://schemas.openxmlformats.org/drawingml/2006/main">
            <a:r>
              <a:t>      "안건 검색·요약",</a:t>
            </a:r>
          </a:p>
          <a:p xmlns:a="http://schemas.openxmlformats.org/drawingml/2006/main">
            <a:r>
              <a:t>      "카탈로그"</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"국민·직원 접점",</a:t>
            </a:r>
          </a:p>
          <a:p xmlns:a="http://schemas.openxmlformats.org/drawingml/2006/main">
            <a:r>
              <a:t>        "detail": "외부·내부 접점과 망·계정·DRM 경계 분리",</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"챗봇 / 안건 검색·요약 / 카탈로그",</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"검색·요약·산식 검토",</a:t>
            </a:r>
          </a:p>
          <a:p xmlns:a="http://schemas.openxmlformats.org/drawingml/2006/main">
            <a:r>
              <a:t>        "detail": "검색·요약·모델 라우팅·산식 검증",</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"업무 검토자",</a:t>
            </a:r>
          </a:p>
          <a:p xmlns:a="http://schemas.openxmlformats.org/drawingml/2006/main">
            <a:r>
              <a:t>        "detail": "권한 내 요약·계산 결과의 담당자 검토",</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"지식·안건·카탈로그",</a:t>
            </a:r>
          </a:p>
          <a:p xmlns:a="http://schemas.openxmlformats.org/drawingml/2006/main">
            <a:r>
              <a:t>        "detail": "안건 메타데이터·정형/비정형 데이터 카탈로그",</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"데이터 품질·민감정보·답변 품질 모니터링",</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"지식·안건",</a:t>
            </a:r>
          </a:p>
          <a:p xmlns:a="http://schemas.openxmlformats.org/drawingml/2006/main">
            <a:r>
              <a:t>        "input": "외부·내부 접점과 망·계정·DRM 경계 분리",</a:t>
            </a:r>
          </a:p>
          <a:p xmlns:a="http://schemas.openxmlformats.org/drawingml/2006/main">
            <a:r>
              <a:t>        "process": "안건 메타데이터·정형/비정형 데이터 카탈로그",</a:t>
            </a:r>
          </a:p>
          <a:p xmlns:a="http://schemas.openxmlformats.org/drawingml/2006/main">
            <a:r>
              <a:t>        "output": "질의·권한"</a:t>
            </a:r>
          </a:p>
          <a:p xmlns:a="http://schemas.openxmlformats.org/drawingml/2006/main">
            <a:r>
              <a:t>      },</a:t>
            </a:r>
          </a:p>
          <a:p xmlns:a="http://schemas.openxmlformats.org/drawingml/2006/main">
            <a:r>
              <a:t>      {</a:t>
            </a:r>
          </a:p>
          <a:p xmlns:a="http://schemas.openxmlformats.org/drawingml/2006/main">
            <a:r>
              <a:t>        "title": "권한·망·DRM",</a:t>
            </a:r>
          </a:p>
          <a:p xmlns:a="http://schemas.openxmlformats.org/drawingml/2006/main">
            <a:r>
              <a:t>        "input": "질의·권한",</a:t>
            </a:r>
          </a:p>
          <a:p xmlns:a="http://schemas.openxmlformats.org/drawingml/2006/main">
            <a:r>
              <a:t>        "process": "검색·요약·모델 라우팅·산식 검증",</a:t>
            </a:r>
          </a:p>
          <a:p xmlns:a="http://schemas.openxmlformats.org/drawingml/2006/main">
            <a:r>
              <a:t>        "output": "허용 근거"</a:t>
            </a:r>
          </a:p>
          <a:p xmlns:a="http://schemas.openxmlformats.org/drawingml/2006/main">
            <a:r>
              <a:t>      },</a:t>
            </a:r>
          </a:p>
          <a:p xmlns:a="http://schemas.openxmlformats.org/drawingml/2006/main">
            <a:r>
              <a:t>      {</a:t>
            </a:r>
          </a:p>
          <a:p xmlns:a="http://schemas.openxmlformats.org/drawingml/2006/main">
            <a:r>
              <a:t>        "title": "검색·산식 검증",</a:t>
            </a:r>
          </a:p>
          <a:p xmlns:a="http://schemas.openxmlformats.org/drawingml/2006/main">
            <a:r>
              <a:t>        "input": "허용 근거",</a:t>
            </a:r>
          </a:p>
          <a:p xmlns:a="http://schemas.openxmlformats.org/drawingml/2006/main">
            <a:r>
              <a:t>        "process": "망·권한·산식별 독립 검증",</a:t>
            </a:r>
          </a:p>
          <a:p xmlns:a="http://schemas.openxmlformats.org/drawingml/2006/main">
            <a:r>
              <a:t>        "output": "요약·계산"</a:t>
            </a:r>
          </a:p>
          <a:p xmlns:a="http://schemas.openxmlformats.org/drawingml/2006/main">
            <a:r>
              <a:t>      },</a:t>
            </a:r>
          </a:p>
          <a:p xmlns:a="http://schemas.openxmlformats.org/drawingml/2006/main">
            <a:r>
              <a:t>      {</a:t>
            </a:r>
          </a:p>
          <a:p xmlns:a="http://schemas.openxmlformats.org/drawingml/2006/main">
            <a:r>
              <a:t>        "title": "평가·운영",</a:t>
            </a:r>
          </a:p>
          <a:p xmlns:a="http://schemas.openxmlformats.org/drawingml/2006/main">
            <a:r>
              <a:t>        "input": "요약·계산",</a:t>
            </a:r>
          </a:p>
          <a:p xmlns:a="http://schemas.openxmlformats.org/drawingml/2006/main">
            <a:r>
              <a:t>        "process": "권한 내 요약·계산 결과의 담당자 검토",</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"허용된 안건만 검색·요약하고 규정 산식을 독립 확인",</a:t>
            </a:r>
          </a:p>
          <a:p xmlns:a="http://schemas.openxmlformats.org/drawingml/2006/main">
            <a:r>
              <a:t>      "exception": "외부 계정의 내부 안건 요청·DRM 제한·단위 오류",</a:t>
            </a:r>
          </a:p>
          <a:p xmlns:a="http://schemas.openxmlformats.org/drawingml/2006/main">
            <a:r>
              <a:t>      "evidence": "망·권한별 노출 결과와 원문·계산·카탈로그 대사",</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"국민·직원·안건 검토자·데이터 담당",</a:t>
            </a:r>
          </a:p>
          <a:p xmlns:a="http://schemas.openxmlformats.org/drawingml/2006/main">
            <a:r>
              <a:t>          "processing": "외부·내부 접점과 망·계정·DRM 경계 분리",</a:t>
            </a:r>
          </a:p>
          <a:p xmlns:a="http://schemas.openxmlformats.org/drawingml/2006/main">
            <a:r>
              <a:t>          "output": "질의·권한"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"지식·안건·카탈로그",</a:t>
            </a:r>
          </a:p>
          <a:p xmlns:a="http://schemas.openxmlformats.org/drawingml/2006/main">
            <a:r>
              <a:t>          "processing": "안건 메타데이터·정형/비정형 데이터 카탈로그",</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"질의·권한",</a:t>
            </a:r>
          </a:p>
          <a:p xmlns:a="http://schemas.openxmlformats.org/drawingml/2006/main">
            <a:r>
              <a:t>          "processing": "검색·요약·모델 라우팅·산식 검증",</a:t>
            </a:r>
          </a:p>
          <a:p xmlns:a="http://schemas.openxmlformats.org/drawingml/2006/main">
            <a:r>
              <a:t>          "output": "요약·계산"</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"요약·계산",</a:t>
            </a:r>
          </a:p>
          <a:p xmlns:a="http://schemas.openxmlformats.org/drawingml/2006/main">
            <a:r>
              <a:t>          "processing": "권한 내 요약·계산 결과의 담당자 검토",</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"데이터 품질·민감정보·답변 품질 모니터링",</a:t>
            </a:r>
          </a:p>
          <a:p xmlns:a="http://schemas.openxmlformats.org/drawingml/2006/main">
            <a:r>
              <a:t>          "output": "망·권한별 노출 결과와 원문·계산·카탈로그 대사"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"데이터 품질·민감정보·답변 품질 모니터링",</a:t>
            </a:r>
          </a:p>
          <a:p xmlns:a="http://schemas.openxmlformats.org/drawingml/2006/main">
            <a:r>
              <a:t>    "status": "RFP 기반 논리 설계",</a:t>
            </a:r>
          </a:p>
          <a:p xmlns:a="http://schemas.openxmlformats.org/drawingml/2006/main">
            <a:r>
              <a:t>    "basis": "사전공개 RFP 2026.04 · SFR-001~014·DAR·CNR",</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"SFR-001~014, DAR·CNR / Word T089",</a:t>
            </a:r>
          </a:p>
          <a:p xmlns:a="http://schemas.openxmlformats.org/drawingml/2006/main">
            <a:r>
              <a:t>        "url": "https://www.g2b.go.kr/pn/pnz/pnza/UntyAtchFile/downloadFile.do?bfSpecRegNo=R26BD00217546&amp;fileType=BFDTL&amp;fileSeq=1"</a:t>
            </a:r>
          </a:p>
          <a:p xmlns:a="http://schemas.openxmlformats.org/drawingml/2006/main">
            <a:r>
              <a:t>      }</a:t>
            </a:r>
          </a:p>
          <a:p xmlns:a="http://schemas.openxmlformats.org/drawingml/2006/main">
            <a:r>
              <a:t>    ],</a:t>
            </a:r>
          </a:p>
          <a:p xmlns:a="http://schemas.openxmlformats.org/drawingml/2006/main">
            <a:r>
              <a:t>    "implication": "대민·내부 지식 경계와 데이터 카탈로그를 함께 설계하는 정보 제공",</a:t>
            </a:r>
          </a:p>
          <a:p xmlns:a="http://schemas.openxmlformats.org/drawingml/2006/main">
            <a:r>
              <a:t>    "local": "대민·내부 지식 경계와 데이터 카탈로그를 함께 설계하는 정보 제공",</a:t>
            </a:r>
          </a:p>
          <a:p xmlns:a="http://schemas.openxmlformats.org/drawingml/2006/main">
            <a:r>
              <a:t>    "sourceDetail": "망·DRM·권한 연계; 안건 메타데이터 범위검색; 규정 산식 교차검증; 모델라우팅·평가·모니터링",</a:t>
            </a:r>
          </a:p>
          <a:p xmlns:a="http://schemas.openxmlformats.org/drawingml/2006/main">
            <a:r>
              <a:t>    "narrative": [</a:t>
            </a:r>
          </a:p>
          <a:p xmlns:a="http://schemas.openxmlformats.org/drawingml/2006/main">
            <a:r>
              <a:t>      "대국민 챗봇, 임직원 지식 활용, 안건 검색·요약과 데이터 카탈로그를 함께 다루는 생성형 AI 플랫폼 계획. 대외 공개 지식과 내부 업무 자료를 같은 검색 범위로 취급하지 않는 것이 구성의 출발점.",</a:t>
            </a:r>
          </a:p>
          <a:p xmlns:a="http://schemas.openxmlformats.org/drawingml/2006/main">
            <a:r>
              <a:t>      "사전공개 RFP 도면은 대민·임직원 서비스를 나누고 각각 보안·서비스·데이터·관리 서브넷을 배치. 내부 영역은 SSO/EAM·ECM·업무 시스템과 연결하고, 별도 데이터 카탈로그는 업무분류체계·담당부서·메타데이터·사용승인을 연결하는 구조.",</a:t>
            </a:r>
          </a:p>
          <a:p xmlns:a="http://schemas.openxmlformats.org/drawingml/2006/main">
            <a:r>
              <a:t>      "TS 조직 기반 플랫폼에서는 직원이 누구인지뿐 아니라 특정 데이터의 업무 소관·활용 목적·승인 조건을 함께 관리하는 참고 사례. CCK 추가 개발은 조직·업무 사전과 카탈로그의 연결, DRM·권한 전파, 안건 범위검색, 산식 검증의 업무별 분리. 사전공개 요구와 실제 운영 성과는 별도 증빙으로 평가."</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"SFR-003",</a:t>
            </a:r>
          </a:p>
          <a:p xmlns:a="http://schemas.openxmlformats.org/drawingml/2006/main">
            <a:r>
              <a:t>        "title": "AI 서비스 에이전트 관리 기능",</a:t>
            </a:r>
          </a:p>
          <a:p xmlns:a="http://schemas.openxmlformats.org/drawingml/2006/main">
            <a:r>
              <a:t>        "locator": "SFR-003",</a:t>
            </a:r>
          </a:p>
          <a:p xmlns:a="http://schemas.openxmlformats.org/drawingml/2006/main">
            <a:r>
              <a:t>        "summary": "AI 에이전트의 구성·운영 관리 기능.",</a:t>
            </a:r>
          </a:p>
          <a:p xmlns:a="http://schemas.openxmlformats.org/drawingml/2006/main">
            <a:r>
              <a:t>        "data": "에이전트 설정·도구 → 실행 상태·관리 기록",</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"C08"</a:t>
            </a:r>
          </a:p>
          <a:p xmlns:a="http://schemas.openxmlformats.org/drawingml/2006/main">
            <a:r>
              <a:t>        ],</a:t>
            </a:r>
          </a:p>
          <a:p xmlns:a="http://schemas.openxmlformats.org/drawingml/2006/main">
            <a:r>
              <a:t>        "acceptance": "잘못된 도구 권한과 구성 변경 시 실행 차단·판본 추적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"1590814bc8f7ceb1abe4749ac8c848bd13cc7c8da0eb672ad1ee7d69ba045a3f"</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"AI 서비스 RAG 기능",</a:t>
            </a:r>
          </a:p>
          <a:p xmlns:a="http://schemas.openxmlformats.org/drawingml/2006/main">
            <a:r>
              <a:t>        "locator": "SFR-004",</a:t>
            </a:r>
          </a:p>
          <a:p xmlns:a="http://schemas.openxmlformats.org/drawingml/2006/main">
            <a:r>
              <a:t>        "summary": "업무 지식을 검색해 생성 응답에 연결하는 RAG 기능.",</a:t>
            </a:r>
          </a:p>
          <a:p xmlns:a="http://schemas.openxmlformats.org/drawingml/2006/main">
            <a:r>
              <a:t>        "data": "질의·허용 문서 → 근거·응답",</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"C11"</a:t>
            </a:r>
          </a:p>
          <a:p xmlns:a="http://schemas.openxmlformats.org/drawingml/2006/main">
            <a:r>
              <a:t>        ],</a:t>
            </a:r>
          </a:p>
          <a:p xmlns:a="http://schemas.openxmlformats.org/drawingml/2006/main">
            <a:r>
              <a:t>        "acceptance": "사내·대국민 문서 혼재 시 검색 범위 분리와 출처 정확성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"6779cdd1e875adfd01a03d244801be17e636a2a970a25d78c0009ee42d836beb"</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"AI 서비스 데이터 파이프라인 자동화 기능",</a:t>
            </a:r>
          </a:p>
          <a:p xmlns:a="http://schemas.openxmlformats.org/drawingml/2006/main">
            <a:r>
              <a:t>        "locator": "SFR-005",</a:t>
            </a:r>
          </a:p>
          <a:p xmlns:a="http://schemas.openxmlformats.org/drawingml/2006/main">
            <a:r>
              <a:t>        "summary": "원천 자료의 수집·전처리·검색 반영 데이터 파이프라인.",</a:t>
            </a:r>
          </a:p>
          <a:p xmlns:a="http://schemas.openxmlformats.org/drawingml/2006/main">
            <a:r>
              <a:t>        "data": "원천 문서·메타정보 → 검색용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"등록·개정·삭제·정제 실패의 처리 결과와 원천 변경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"ce9810ce185079fa2fef5d1208af96a3a07ef6e6e5ca1ec36d2dd7a42c90df96"</a:t>
            </a:r>
          </a:p>
          <a:p xmlns:a="http://schemas.openxmlformats.org/drawingml/2006/main">
            <a:r>
              <a:t>      },</a:t>
            </a:r>
          </a:p>
          <a:p xmlns:a="http://schemas.openxmlformats.org/drawingml/2006/main">
            <a:r>
              <a:t>      {</a:t>
            </a:r>
          </a:p>
          <a:p xmlns:a="http://schemas.openxmlformats.org/drawingml/2006/main">
            <a:r>
              <a:t>        "id": "SFR-009",</a:t>
            </a:r>
          </a:p>
          <a:p xmlns:a="http://schemas.openxmlformats.org/drawingml/2006/main">
            <a:r>
              <a:t>        "title": "AI 서비스(사내 AI 챗봇 서비스) 구축",</a:t>
            </a:r>
          </a:p>
          <a:p xmlns:a="http://schemas.openxmlformats.org/drawingml/2006/main">
            <a:r>
              <a:t>        "locator": "SFR-009",</a:t>
            </a:r>
          </a:p>
          <a:p xmlns:a="http://schemas.openxmlformats.org/drawingml/2006/main">
            <a:r>
              <a:t>        "summary": "사내 직원용 업무 지식 챗봇 기능.",</a:t>
            </a:r>
          </a:p>
          <a:p xmlns:a="http://schemas.openxmlformats.org/drawingml/2006/main">
            <a:r>
              <a:t>        "data": "직원 질의·직무 문맥 → 업무 답변·근거",</a:t>
            </a:r>
          </a:p>
          <a:p xmlns:a="http://schemas.openxmlformats.org/drawingml/2006/main">
            <a:r>
              <a:t>        "components": [</a:t>
            </a:r>
          </a:p>
          <a:p xmlns:a="http://schemas.openxmlformats.org/drawingml/2006/main">
            <a:r>
              <a:t>          "C01",</a:t>
            </a:r>
          </a:p>
          <a:p xmlns:a="http://schemas.openxmlformats.org/drawingml/2006/main">
            <a:r>
              <a:t>          "C03",</a:t>
            </a:r>
          </a:p>
          <a:p xmlns:a="http://schemas.openxmlformats.org/drawingml/2006/main">
            <a:r>
              <a:t>          "C06"</a:t>
            </a:r>
          </a:p>
          <a:p xmlns:a="http://schemas.openxmlformats.org/drawingml/2006/main">
            <a:r>
              <a:t>        ],</a:t>
            </a:r>
          </a:p>
          <a:p xmlns:a="http://schemas.openxmlformats.org/drawingml/2006/main">
            <a:r>
              <a:t>        "acceptance": "동일 질의의 직무별 관련성, 비공개 자료 접근, 최신 규정 인용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"45f7da3f2df0a14850c6f9716076e421210ba97cb8aefec195a8439a0225ff95"</a:t>
            </a:r>
          </a:p>
          <a:p xmlns:a="http://schemas.openxmlformats.org/drawingml/2006/main">
            <a:r>
              <a:t>      },</a:t>
            </a:r>
          </a:p>
          <a:p xmlns:a="http://schemas.openxmlformats.org/drawingml/2006/main">
            <a:r>
              <a:t>      {</a:t>
            </a:r>
          </a:p>
          <a:p xmlns:a="http://schemas.openxmlformats.org/drawingml/2006/main">
            <a:r>
              <a:t>        "id": "SFR-012",</a:t>
            </a:r>
          </a:p>
          <a:p xmlns:a="http://schemas.openxmlformats.org/drawingml/2006/main">
            <a:r>
              <a:t>        "title": "데이터 카탈로그 일반 사항",</a:t>
            </a:r>
          </a:p>
          <a:p xmlns:a="http://schemas.openxmlformats.org/drawingml/2006/main">
            <a:r>
              <a:t>        "locator": "SFR-012",</a:t>
            </a:r>
          </a:p>
          <a:p xmlns:a="http://schemas.openxmlformats.org/drawingml/2006/main">
            <a:r>
              <a:t>        "summary": "전사 데이터 카탈로그의 공통 기능 구성.",</a:t>
            </a:r>
          </a:p>
          <a:p xmlns:a="http://schemas.openxmlformats.org/drawingml/2006/main">
            <a:r>
              <a:t>        "data": "데이터 자산·설명 → 탐색 가능한 카탈로그",</a:t>
            </a:r>
          </a:p>
          <a:p xmlns:a="http://schemas.openxmlformats.org/drawingml/2006/main">
            <a:r>
              <a:t>        "components": [</a:t>
            </a:r>
          </a:p>
          <a:p xmlns:a="http://schemas.openxmlformats.org/drawingml/2006/main">
            <a:r>
              <a:t>          "C09",</a:t>
            </a:r>
          </a:p>
          <a:p xmlns:a="http://schemas.openxmlformats.org/drawingml/2006/main">
            <a:r>
              <a:t>          "C11"</a:t>
            </a:r>
          </a:p>
          <a:p xmlns:a="http://schemas.openxmlformats.org/drawingml/2006/main">
            <a:r>
              <a:t>        ],</a:t>
            </a:r>
          </a:p>
          <a:p xmlns:a="http://schemas.openxmlformats.org/drawingml/2006/main">
            <a:r>
              <a:t>        "acceptance": "자산 식별자·담당자·설명의 원천 일치와 누락 항목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"c47acd02115ea8639438099db14eb807ebb43602a58a27a75e57bd7c44a01747"</a:t>
            </a:r>
          </a:p>
          <a:p xmlns:a="http://schemas.openxmlformats.org/drawingml/2006/main">
            <a:r>
              <a:t>      },</a:t>
            </a:r>
          </a:p>
          <a:p xmlns:a="http://schemas.openxmlformats.org/drawingml/2006/main">
            <a:r>
              <a:t>      {</a:t>
            </a:r>
          </a:p>
          <a:p xmlns:a="http://schemas.openxmlformats.org/drawingml/2006/main">
            <a:r>
              <a:t>        "id": "SFR-013",</a:t>
            </a:r>
          </a:p>
          <a:p xmlns:a="http://schemas.openxmlformats.org/drawingml/2006/main">
            <a:r>
              <a:t>        "title": "데이터 카탈로그 공사 맞춤 개발",</a:t>
            </a:r>
          </a:p>
          <a:p xmlns:a="http://schemas.openxmlformats.org/drawingml/2006/main">
            <a:r>
              <a:t>        "locator": "SFR-013",</a:t>
            </a:r>
          </a:p>
          <a:p xmlns:a="http://schemas.openxmlformats.org/drawingml/2006/main">
            <a:r>
              <a:t>        "summary": "기관 업무에 맞춘 데이터 카탈로그 구성과 활용.",</a:t>
            </a:r>
          </a:p>
          <a:p xmlns:a="http://schemas.openxmlformats.org/drawingml/2006/main">
            <a:r>
              <a:t>        "data": "업무 분류·사용자 문맥 → 맞춤 자산 정보",</a:t>
            </a:r>
          </a:p>
          <a:p xmlns:a="http://schemas.openxmlformats.org/drawingml/2006/main">
            <a:r>
              <a:t>        "components": [</a:t>
            </a:r>
          </a:p>
          <a:p xmlns:a="http://schemas.openxmlformats.org/drawingml/2006/main">
            <a:r>
              <a:t>          "C02",</a:t>
            </a:r>
          </a:p>
          <a:p xmlns:a="http://schemas.openxmlformats.org/drawingml/2006/main">
            <a:r>
              <a:t>          "C11",</a:t>
            </a:r>
          </a:p>
          <a:p xmlns:a="http://schemas.openxmlformats.org/drawingml/2006/main">
            <a:r>
              <a:t>          "C12"</a:t>
            </a:r>
          </a:p>
          <a:p xmlns:a="http://schemas.openxmlformats.org/drawingml/2006/main">
            <a:r>
              <a:t>        ],</a:t>
            </a:r>
          </a:p>
          <a:p xmlns:a="http://schemas.openxmlformats.org/drawingml/2006/main">
            <a:r>
              <a:t>        "acceptance": "부서·업무 분류 변경과 사용자 권한에 따른 자산 정보 표시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"dbe676ae5dc97c22a843994b927807e364fb8221c6d23ce8fb0b11a860ffc1b0"</a:t>
            </a:r>
          </a:p>
          <a:p xmlns:a="http://schemas.openxmlformats.org/drawingml/2006/main">
            <a:r>
              <a:t>      },</a:t>
            </a:r>
          </a:p>
          <a:p xmlns:a="http://schemas.openxmlformats.org/drawingml/2006/main">
            <a:r>
              <a:t>      {</a:t>
            </a:r>
          </a:p>
          <a:p xmlns:a="http://schemas.openxmlformats.org/drawingml/2006/main">
            <a:r>
              <a:t>        "id": "SFR-014",</a:t>
            </a:r>
          </a:p>
          <a:p xmlns:a="http://schemas.openxmlformats.org/drawingml/2006/main">
            <a:r>
              <a:t>        "title": "데이터 카탈로그 검색 기능",</a:t>
            </a:r>
          </a:p>
          <a:p xmlns:a="http://schemas.openxmlformats.org/drawingml/2006/main">
            <a:r>
              <a:t>        "locator": "SFR-014",</a:t>
            </a:r>
          </a:p>
          <a:p xmlns:a="http://schemas.openxmlformats.org/drawingml/2006/main">
            <a:r>
              <a:t>        "summary": "카탈로그의 데이터 자산 검색 기능.",</a:t>
            </a:r>
          </a:p>
          <a:p xmlns:a="http://schemas.openxmlformats.org/drawingml/2006/main">
            <a:r>
              <a:t>        "data": "자산명·업무 용어 → 관련 자산·설명",</a:t>
            </a:r>
          </a:p>
          <a:p xmlns:a="http://schemas.openxmlformats.org/drawingml/2006/main">
            <a:r>
              <a:t>        "components": [</a:t>
            </a:r>
          </a:p>
          <a:p xmlns:a="http://schemas.openxmlformats.org/drawingml/2006/main">
            <a:r>
              <a:t>          "C03",</a:t>
            </a:r>
          </a:p>
          <a:p xmlns:a="http://schemas.openxmlformats.org/drawingml/2006/main">
            <a:r>
              <a:t>          "C11"</a:t>
            </a:r>
          </a:p>
          <a:p xmlns:a="http://schemas.openxmlformats.org/drawingml/2006/main">
            <a:r>
              <a:t>        ],</a:t>
            </a:r>
          </a:p>
          <a:p xmlns:a="http://schemas.openxmlformats.org/drawingml/2006/main">
            <a:r>
              <a:t>        "acceptance": "다른 업무 용어로 같은 자산 탐색, 동명이자산 구분, 검색 결과 권한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"0d1cbe7ee72465436a3269eeb95106fa281de600b63107b9dfece31a434b39db"</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"국민·사내 접점",</a:t>
            </a:r>
          </a:p>
          <a:p xmlns:a="http://schemas.openxmlformats.org/drawingml/2006/main">
            <a:r>
              <a:t>          "layer": "이용 접점",</a:t>
            </a:r>
          </a:p>
          <a:p xmlns:a="http://schemas.openxmlformats.org/drawingml/2006/main">
            <a:r>
              <a:t>          "detail": "국민·직원·안건 검토자·데이터 담당",</a:t>
            </a:r>
          </a:p>
          <a:p xmlns:a="http://schemas.openxmlformats.org/drawingml/2006/main">
            <a:r>
              <a:t>          "requirements": [</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"SSO·DRM·망 구분",</a:t>
            </a:r>
          </a:p>
          <a:p xmlns:a="http://schemas.openxmlformats.org/drawingml/2006/main">
            <a:r>
              <a:t>          "layer": "업무 문맥",</a:t>
            </a:r>
          </a:p>
          <a:p xmlns:a="http://schemas.openxmlformats.org/drawingml/2006/main">
            <a:r>
              <a:t>          "detail": "외부·내부 접점과 망·계정·DRM 경계 분리",</a:t>
            </a:r>
          </a:p>
          <a:p xmlns:a="http://schemas.openxmlformats.org/drawingml/2006/main">
            <a:r>
              <a:t>          "requirements": [</a:t>
            </a:r>
          </a:p>
          <a:p xmlns:a="http://schemas.openxmlformats.org/drawingml/2006/main">
            <a:r>
              <a:t>            "SFR-003",</a:t>
            </a:r>
          </a:p>
          <a:p xmlns:a="http://schemas.openxmlformats.org/drawingml/2006/main">
            <a:r>
              <a:t>            "SFR-013"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"안건·허용자료 검색",</a:t>
            </a:r>
          </a:p>
          <a:p xmlns:a="http://schemas.openxmlformats.org/drawingml/2006/main">
            <a:r>
              <a:t>          "layer": "자료 조회",</a:t>
            </a:r>
          </a:p>
          <a:p xmlns:a="http://schemas.openxmlformats.org/drawingml/2006/main">
            <a:r>
              <a:t>          "detail": "질의·권한",</a:t>
            </a:r>
          </a:p>
          <a:p xmlns:a="http://schemas.openxmlformats.org/drawingml/2006/main">
            <a:r>
              <a:t>          "requirements": [</a:t>
            </a:r>
          </a:p>
          <a:p xmlns:a="http://schemas.openxmlformats.org/drawingml/2006/main">
            <a:r>
              <a:t>            "SFR-004",</a:t>
            </a:r>
          </a:p>
          <a:p xmlns:a="http://schemas.openxmlformats.org/drawingml/2006/main">
            <a:r>
              <a:t>            "SFR-009",</a:t>
            </a:r>
          </a:p>
          <a:p xmlns:a="http://schemas.openxmlformats.org/drawingml/2006/main">
            <a:r>
              <a:t>            "SFR-014"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"모델·요약·산식",</a:t>
            </a:r>
          </a:p>
          <a:p xmlns:a="http://schemas.openxmlformats.org/drawingml/2006/main">
            <a:r>
              <a:t>          "layer": "핵심 처리",</a:t>
            </a:r>
          </a:p>
          <a:p xmlns:a="http://schemas.openxmlformats.org/drawingml/2006/main">
            <a:r>
              <a:t>          "detail": "검색·요약·모델 라우팅·산식 검증",</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"산식·단위 대조",</a:t>
            </a:r>
          </a:p>
          <a:p xmlns:a="http://schemas.openxmlformats.org/drawingml/2006/main">
            <a:r>
              <a:t>          "layer": "결과 검증",</a:t>
            </a:r>
          </a:p>
          <a:p xmlns:a="http://schemas.openxmlformats.org/drawingml/2006/main">
            <a:r>
              <a:t>          "detail": "망·권한·산식별 독립 검증",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"업무 담당 검토",</a:t>
            </a:r>
          </a:p>
          <a:p xmlns:a="http://schemas.openxmlformats.org/drawingml/2006/main">
            <a:r>
              <a:t>          "layer": "사람 확인",</a:t>
            </a:r>
          </a:p>
          <a:p xmlns:a="http://schemas.openxmlformats.org/drawingml/2006/main">
            <a:r>
              <a:t>          "detail": "허용된 안건만 검색·요약하고 규정 산식을 독립 확인",</a:t>
            </a:r>
          </a:p>
          <a:p xmlns:a="http://schemas.openxmlformats.org/drawingml/2006/main">
            <a:r>
              <a:t>          "requirements": [</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"근거 요약·계산",</a:t>
            </a:r>
          </a:p>
          <a:p xmlns:a="http://schemas.openxmlformats.org/drawingml/2006/main">
            <a:r>
              <a:t>          "layer": "업무 연결",</a:t>
            </a:r>
          </a:p>
          <a:p xmlns:a="http://schemas.openxmlformats.org/drawingml/2006/main">
            <a:r>
              <a:t>          "detail": "권한 내 요약·계산 결과의 담당자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"품질·민감정보 점검",</a:t>
            </a:r>
          </a:p>
          <a:p xmlns:a="http://schemas.openxmlformats.org/drawingml/2006/main">
            <a:r>
              <a:t>          "layer": "운영 관측",</a:t>
            </a:r>
          </a:p>
          <a:p xmlns:a="http://schemas.openxmlformats.org/drawingml/2006/main">
            <a:r>
              <a:t>          "detail": "데이터 품질·민감정보·답변 품질 모니터링",</a:t>
            </a:r>
          </a:p>
          <a:p xmlns:a="http://schemas.openxmlformats.org/drawingml/2006/main">
            <a:r>
              <a:t>          "requirements": [</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"ECM·안건·공개자료",</a:t>
            </a:r>
          </a:p>
          <a:p xmlns:a="http://schemas.openxmlformats.org/drawingml/2006/main">
            <a:r>
              <a:t>          "layer": "데이터 원천",</a:t>
            </a:r>
          </a:p>
          <a:p xmlns:a="http://schemas.openxmlformats.org/drawingml/2006/main">
            <a:r>
              <a:t>          "detail": "지식·안건·카탈로그",</a:t>
            </a:r>
          </a:p>
          <a:p xmlns:a="http://schemas.openxmlformats.org/drawingml/2006/main">
            <a:r>
              <a:t>          "requirements": [</a:t>
            </a:r>
          </a:p>
          <a:p xmlns:a="http://schemas.openxmlformats.org/drawingml/2006/main">
            <a:r>
              <a:t>            "SFR-005",</a:t>
            </a:r>
          </a:p>
          <a:p xmlns:a="http://schemas.openxmlformats.org/drawingml/2006/main">
            <a:r>
              <a:t>            "SFR-012"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"메타정보·카탈로그",</a:t>
            </a:r>
          </a:p>
          <a:p xmlns:a="http://schemas.openxmlformats.org/drawingml/2006/main">
            <a:r>
              <a:t>          "layer": "준비·갱신",</a:t>
            </a:r>
          </a:p>
          <a:p xmlns:a="http://schemas.openxmlformats.org/drawingml/2006/main">
            <a:r>
              <a:t>          "detail": "안건 메타데이터·정형/비정형 데이터 카탈로그",</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"대민·사내 DB 분리",</a:t>
            </a:r>
          </a:p>
          <a:p xmlns:a="http://schemas.openxmlformats.org/drawingml/2006/main">
            <a:r>
              <a:t>          "layer": "상태·지식 저장",</a:t>
            </a:r>
          </a:p>
          <a:p xmlns:a="http://schemas.openxmlformats.org/drawingml/2006/main">
            <a:r>
              <a:t>          "detail": "망·권한별 노출 결과와 원문·계산·카탈로그 대사",</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"SFR-012",</a:t>
            </a:r>
          </a:p>
          <a:p xmlns:a="http://schemas.openxmlformats.org/drawingml/2006/main">
            <a:r>
              <a:t>            "SFR-013",</a:t>
            </a:r>
          </a:p>
          <a:p xmlns:a="http://schemas.openxmlformats.org/drawingml/2006/main">
            <a:r>
              <a:t>            "SFR-014"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"권한·망·모델 관리",</a:t>
            </a:r>
          </a:p>
          <a:p xmlns:a="http://schemas.openxmlformats.org/drawingml/2006/main">
            <a:r>
              <a:t>          "layer": "권한·정책",</a:t>
            </a:r>
          </a:p>
          <a:p xmlns:a="http://schemas.openxmlformats.org/drawingml/2006/main">
            <a:r>
              <a:t>          "detail": "외부 계정의 내부 안건 요청·DRM 제한·단위 오류",</a:t>
            </a:r>
          </a:p>
          <a:p xmlns:a="http://schemas.openxmlformats.org/drawingml/2006/main">
            <a:r>
              <a:t>          "requirements": [</a:t>
            </a:r>
          </a:p>
          <a:p xmlns:a="http://schemas.openxmlformats.org/drawingml/2006/main">
            <a:r>
              <a:t>            "SFR-013"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"외부·내부 접점과 망·계정·DRM 경계 분리",</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"질의·권한",</a:t>
            </a:r>
          </a:p>
          <a:p xmlns:a="http://schemas.openxmlformats.org/drawingml/2006/main">
            <a:r>
              <a:t>          "check": "망·권한·산식별 독립 검증"</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"허용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"요약·계산",</a:t>
            </a:r>
          </a:p>
          <a:p xmlns:a="http://schemas.openxmlformats.org/drawingml/2006/main">
            <a:r>
              <a:t>          "check": "외부 계정의 내부 안건 요청·DRM 제한·단위 오류"</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"요약·계산",</a:t>
            </a:r>
          </a:p>
          <a:p xmlns:a="http://schemas.openxmlformats.org/drawingml/2006/main">
            <a:r>
              <a:t>          "check": "권한 내 요약·계산 결과의 담당자 검토"</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 결과",</a:t>
            </a:r>
          </a:p>
          <a:p xmlns:a="http://schemas.openxmlformats.org/drawingml/2006/main">
            <a:r>
              <a:t>          "check": "망·권한별 노출 결과와 원문·계산·카탈로그 대사"</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"사전공개 RFP 구성도·SFR-001~014",</a:t>
            </a:r>
          </a:p>
          <a:p xmlns:a="http://schemas.openxmlformats.org/drawingml/2006/main">
            <a:r>
              <a:t>        "extracted": "대민/임직원 서비스와 DB 분리, SSO/EAM·데이터 업로드 경계",</a:t>
            </a:r>
          </a:p>
          <a:p xmlns:a="http://schemas.openxmlformats.org/drawingml/2006/main">
            <a:r>
              <a:t>        "extension": "공개·내부 경계 교차 시험과 금융 산식의 독립 검산"</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"PF-R08",</a:t>
            </a:r>
          </a:p>
          <a:p xmlns:a="http://schemas.openxmlformats.org/drawingml/2006/main">
            <a:r>
              <a:t>          "path": "assets/casebook-sources/PF-R08-01.png",</a:t>
            </a:r>
          </a:p>
          <a:p xmlns:a="http://schemas.openxmlformats.org/drawingml/2006/main">
            <a:r>
              <a:t>          "title": "대민·임직원 AI 서비스 분리",</a:t>
            </a:r>
          </a:p>
          <a:p xmlns:a="http://schemas.openxmlformats.org/drawingml/2006/main">
            <a:r>
              <a:t>          "status": "사전공개 RFP 목표 구성도",</a:t>
            </a:r>
          </a:p>
          <a:p xmlns:a="http://schemas.openxmlformats.org/drawingml/2006/main">
            <a:r>
              <a:t>          "caption": "보안·서비스·데이터·관리 서브넷과 SSO·업무 데이터 경계",</a:t>
            </a:r>
          </a:p>
          <a:p xmlns:a="http://schemas.openxmlformats.org/drawingml/2006/main">
            <a:r>
              <a:t>          "locator": "rId20 / BinData/BIN0002_bmp",</a:t>
            </a:r>
          </a:p>
          <a:p xmlns:a="http://schemas.openxmlformats.org/drawingml/2006/main">
            <a:r>
              <a:t>          "checked": "2026-10-16",</a:t>
            </a:r>
          </a:p>
          <a:p xmlns:a="http://schemas.openxmlformats.org/drawingml/2006/main">
            <a:r>
              <a:t>          "sha256": "dbd84b9d88acec3c54802ec4cc6eacaf8a872223e2a7ee89fadf50a173e38803",</a:t>
            </a:r>
          </a:p>
          <a:p xmlns:a="http://schemas.openxmlformats.org/drawingml/2006/main">
            <a:r>
              <a:t>          "explanation": {</a:t>
            </a:r>
          </a:p>
          <a:p xmlns:a="http://schemas.openxmlformats.org/drawingml/2006/main">
            <a:r>
              <a:t>            "read": "사전공개 요구의 대국민·임직원 서비스와 데이터·네트워크 경계를 구분한 목표 구성. 공개 상담용 자료와 내부 안건·업무 자료를 서비스·저장 계층에서 분리하는 구조.",</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"SFR-005",</a:t>
            </a:r>
          </a:p>
          <a:p xmlns:a="http://schemas.openxmlformats.org/drawingml/2006/main">
            <a:r>
              <a:t>              "SFR-009"</a:t>
            </a:r>
          </a:p>
          <a:p xmlns:a="http://schemas.openxmlformats.org/drawingml/2006/main">
            <a:r>
              <a:t>            ],</a:t>
            </a:r>
          </a:p>
          <a:p xmlns:a="http://schemas.openxmlformats.org/drawingml/2006/main">
            <a:r>
              <a:t>            "connection": "같은 AI 기반을 쓰더라도 공개·내부 검색 범위와 문서 반입 경로를 별도로 검수하고 사용자 문맥·SSO·DRM 등 기존 통제와 연결하는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"PF-R08",</a:t>
            </a:r>
          </a:p>
          <a:p xmlns:a="http://schemas.openxmlformats.org/drawingml/2006/main">
            <a:r>
              <a:t>          "path": "assets/casebook-sources/PF-R08-02.png",</a:t>
            </a:r>
          </a:p>
          <a:p xmlns:a="http://schemas.openxmlformats.org/drawingml/2006/main">
            <a:r>
              <a:t>          "title": "데이터 카탈로그·업무 매핑",</a:t>
            </a:r>
          </a:p>
          <a:p xmlns:a="http://schemas.openxmlformats.org/drawingml/2006/main">
            <a:r>
              <a:t>          "status": "사전공개 RFP 데이터 구성도",</a:t>
            </a:r>
          </a:p>
          <a:p xmlns:a="http://schemas.openxmlformats.org/drawingml/2006/main">
            <a:r>
              <a:t>          "caption": "대시보드·통합검색·데이터등록·표준·품질과 업무 매핑",</a:t>
            </a:r>
          </a:p>
          <a:p xmlns:a="http://schemas.openxmlformats.org/drawingml/2006/main">
            <a:r>
              <a:t>          "locator": "rId20 / BinData/BIN0001_bmp",</a:t>
            </a:r>
          </a:p>
          <a:p xmlns:a="http://schemas.openxmlformats.org/drawingml/2006/main">
            <a:r>
              <a:t>          "checked": "2026-10-16",</a:t>
            </a:r>
          </a:p>
          <a:p xmlns:a="http://schemas.openxmlformats.org/drawingml/2006/main">
            <a:r>
              <a:t>          "sha256": "e91edef465c1a60d5edcd6288eefa4a5d158cd9980b9b941428685ef6e32a0f5",</a:t>
            </a:r>
          </a:p>
          <a:p xmlns:a="http://schemas.openxmlformats.org/drawingml/2006/main">
            <a:r>
              <a:t>          "explanation": {</a:t>
            </a:r>
          </a:p>
          <a:p xmlns:a="http://schemas.openxmlformats.org/drawingml/2006/main">
            <a:r>
              <a:t>            "read": "카탈로그와 MDMS·ECM 등 기존 데이터·문서 체계의 업무 연결. AI 답변에 앞서 어떤 데이터가 존재하고 누가 관리하며 어떤 업무에서 쓰는지 찾을 수 있도록 하는 정보 기반.",</a:t>
            </a:r>
          </a:p>
          <a:p xmlns:a="http://schemas.openxmlformats.org/drawingml/2006/main">
            <a:r>
              <a:t>            "requirements": [</a:t>
            </a:r>
          </a:p>
          <a:p xmlns:a="http://schemas.openxmlformats.org/drawingml/2006/main">
            <a:r>
              <a:t>              "SFR-012",</a:t>
            </a:r>
          </a:p>
          <a:p xmlns:a="http://schemas.openxmlformats.org/drawingml/2006/main">
            <a:r>
              <a:t>              "SFR-013",</a:t>
            </a:r>
          </a:p>
          <a:p xmlns:a="http://schemas.openxmlformats.org/drawingml/2006/main">
            <a:r>
              <a:t>              "SFR-014"</a:t>
            </a:r>
          </a:p>
          <a:p xmlns:a="http://schemas.openxmlformats.org/drawingml/2006/main">
            <a:r>
              <a:t>            ],</a:t>
            </a:r>
          </a:p>
          <a:p xmlns:a="http://schemas.openxmlformats.org/drawingml/2006/main">
            <a:r>
              <a:t>            "connection": "TS의 조직·업무 ID와 데이터 자산·소관 부서를 연결하고 문서 검색 권한과 카탈로그 설명의 공개 범위를 분리해 관리하는 적용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"외부 계정의 내부 안건 요청·DRM 제한·단위 오류",</a:t>
            </a:r>
          </a:p>
          <a:p xmlns:a="http://schemas.openxmlformats.org/drawingml/2006/main">
            <a:r>
              <a:t>        "hold": "망·권한·산식별 독립 검증",</a:t>
            </a:r>
          </a:p>
          <a:p xmlns:a="http://schemas.openxmlformats.org/drawingml/2006/main">
            <a:r>
              <a:t>        "recovery": "데이터 품질·민감정보·답변 품질 모니터링",</a:t>
            </a:r>
          </a:p>
          <a:p xmlns:a="http://schemas.openxmlformats.org/drawingml/2006/main">
            <a:r>
              <a:t>        "evidence": "망·권한별 노출 결과와 원문·계산·카탈로그 대사"</a:t>
            </a:r>
          </a:p>
          <a:p xmlns:a="http://schemas.openxmlformats.org/drawingml/2006/main">
            <a:r>
              <a:t>      },</a:t>
            </a:r>
          </a:p>
          <a:p xmlns:a="http://schemas.openxmlformats.org/drawingml/2006/main">
            <a:r>
              <a:t>      "data": {</a:t>
            </a:r>
          </a:p>
          <a:p xmlns:a="http://schemas.openxmlformats.org/drawingml/2006/main">
            <a:r>
              <a:t>        "source": "지식·안건·카탈로그",</a:t>
            </a:r>
          </a:p>
          <a:p xmlns:a="http://schemas.openxmlformats.org/drawingml/2006/main">
            <a:r>
              <a:t>        "prepare": "안건 메타데이터·정형/비정형 데이터 카탈로그",</a:t>
            </a:r>
          </a:p>
          <a:p xmlns:a="http://schemas.openxmlformats.org/drawingml/2006/main">
            <a:r>
              <a:t>        "output": "질의·권한",</a:t>
            </a:r>
          </a:p>
          <a:p xmlns:a="http://schemas.openxmlformats.org/drawingml/2006/main">
            <a:r>
              <a:t>        "refresh": "데이터 품질·민감정보·답변 품질 모니터링"</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"PF-R08",</a:t>
            </a:r>
          </a:p>
          <a:p xmlns:a="http://schemas.openxmlformats.org/drawingml/2006/main">
            <a:r>
              <a:t>    "success": [</a:t>
            </a:r>
          </a:p>
          <a:p xmlns:a="http://schemas.openxmlformats.org/drawingml/2006/main">
            <a:r>
              <a:t>      "대국민·사내 지식 경계 분리",</a:t>
            </a:r>
          </a:p>
          <a:p xmlns:a="http://schemas.openxmlformats.org/drawingml/2006/main">
            <a:r>
              <a:t>      "카탈로그와 데이터 통제 결합"</a:t>
            </a:r>
          </a:p>
          <a:p xmlns:a="http://schemas.openxmlformats.org/drawingml/2006/main">
            <a:r>
              <a:t>    ],</a:t>
            </a:r>
          </a:p>
          <a:p xmlns:a="http://schemas.openxmlformats.org/drawingml/2006/main">
            <a:r>
              <a:t>    "risks": [</a:t>
            </a:r>
          </a:p>
          <a:p xmlns:a="http://schemas.openxmlformats.org/drawingml/2006/main">
            <a:r>
              <a:t>      "DRM·접근권한 전파 누락",</a:t>
            </a:r>
          </a:p>
          <a:p xmlns:a="http://schemas.openxmlformats.org/drawingml/2006/main">
            <a:r>
              <a:t>      "금융 산식·단위 오류"</a:t>
            </a:r>
          </a:p>
          <a:p xmlns:a="http://schemas.openxmlformats.org/drawingml/2006/main">
            <a:r>
              <a:t>    ],</a:t>
            </a:r>
          </a:p>
          <a:p xmlns:a="http://schemas.openxmlformats.org/drawingml/2006/main">
            <a:r>
              <a:t>    "architecture": [</a:t>
            </a:r>
          </a:p>
          <a:p xmlns:a="http://schemas.openxmlformats.org/drawingml/2006/main">
            <a:r>
              <a:t>      "국민·직원 접점",</a:t>
            </a:r>
          </a:p>
          <a:p xmlns:a="http://schemas.openxmlformats.org/drawingml/2006/main">
            <a:r>
              <a:t>      "검색·요약·산식 검토",</a:t>
            </a:r>
          </a:p>
          <a:p xmlns:a="http://schemas.openxmlformats.org/drawingml/2006/main">
            <a:r>
              <a:t>      "지식·안건·카탈로그",</a:t>
            </a:r>
          </a:p>
          <a:p xmlns:a="http://schemas.openxmlformats.org/drawingml/2006/main">
            <a:r>
              <a:t>      "업무 검토자"</a:t>
            </a:r>
          </a:p>
          <a:p xmlns:a="http://schemas.openxmlformats.org/drawingml/2006/main">
            <a:r>
              <a:t>    ],</a:t>
            </a:r>
          </a:p>
          <a:p xmlns:a="http://schemas.openxmlformats.org/drawingml/2006/main">
            <a:r>
              <a:t>    "transfers": [</a:t>
            </a:r>
          </a:p>
          <a:p xmlns:a="http://schemas.openxmlformats.org/drawingml/2006/main">
            <a:r>
              <a:t>      "질의·권한",</a:t>
            </a:r>
          </a:p>
          <a:p xmlns:a="http://schemas.openxmlformats.org/drawingml/2006/main">
            <a:r>
              <a:t>      "허용 근거",</a:t>
            </a:r>
          </a:p>
          <a:p xmlns:a="http://schemas.openxmlformats.org/drawingml/2006/main">
            <a:r>
              <a:t>      "요약·계산",</a:t>
            </a:r>
          </a:p>
          <a:p xmlns:a="http://schemas.openxmlformats.org/drawingml/2006/main">
            <a:r>
              <a:t>      "검토 결과"</a:t>
            </a:r>
          </a:p>
          <a:p xmlns:a="http://schemas.openxmlformats.org/drawingml/2006/main">
            <a:r>
              <a:t>    ],</a:t>
            </a:r>
          </a:p>
          <a:p xmlns:a="http://schemas.openxmlformats.org/drawingml/2006/main">
            <a:r>
              <a:t>    "control": "망·권한·산식별 독립 검증",</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SFR-001~014, DAR·CNR / Word T089 https://www.g2b.go.kr/pn/pnz/pnza/UntyAtchFile/downloadFile.do?bfSpecRegNo=R26BD00217546&amp;fileType=BFDTL&amp;fileSeq=1</a:t>
            </a:r>
          </a:p>
          <a:p xmlns:a="http://schemas.openxmlformats.org/drawingml/2006/main">
            <a:r>
              <a:t>홈페이지 https://heen1987-ops.github.io/TS-business-Plan-001/index.html?view=platform-cases&amp;case=PF-R08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"PF-R08",</a:t>
            </a:r>
          </a:p>
          <a:p xmlns:a="http://schemas.openxmlformats.org/drawingml/2006/main">
            <a:r>
              <a:t>    "sourceId": "R08",</a:t>
            </a:r>
          </a:p>
          <a:p xmlns:a="http://schemas.openxmlformats.org/drawingml/2006/main">
            <a:r>
              <a:t>    "title": "예금보험공사 생성형 AI",</a:t>
            </a:r>
          </a:p>
          <a:p xmlns:a="http://schemas.openxmlformats.org/drawingml/2006/main">
            <a:r>
              <a:t>    "region": "국내",</a:t>
            </a:r>
          </a:p>
          <a:p xmlns:a="http://schemas.openxmlformats.org/drawingml/2006/main">
            <a:r>
              <a:t>    "owner": "예금보험공사",</a:t>
            </a:r>
          </a:p>
          <a:p xmlns:a="http://schemas.openxmlformats.org/drawingml/2006/main">
            <a:r>
              <a:t>    "state": "사전규격 RFP + 공급사 계약 발표 확인 / 최종본·준공 미확인",</a:t>
            </a:r>
          </a:p>
          <a:p xmlns:a="http://schemas.openxmlformats.org/drawingml/2006/main">
            <a:r>
              <a:t>    "period": "기존 원장 확인 2026.10.16",</a:t>
            </a:r>
          </a:p>
          <a:p xmlns:a="http://schemas.openxmlformats.org/drawingml/2006/main">
            <a:r>
              <a:t>    "fact": "대국민 챗봇·사내 챗봇·금융위 안건 검색요약 + 데이터 카탈로그/거버넌스",</a:t>
            </a:r>
          </a:p>
          <a:p xmlns:a="http://schemas.openxmlformats.org/drawingml/2006/main">
            <a:r>
              <a:t>    "limit": "학습용 FAQ500건과 서비스별 검증셋500건은 별도 요구. 계획상 수치를 운영 실적으로 사용하지 않음",</a:t>
            </a:r>
          </a:p>
          <a:p xmlns:a="http://schemas.openxmlformats.org/drawingml/2006/main">
            <a:r>
              <a:t>    "nodes": [</a:t>
            </a:r>
          </a:p>
          <a:p xmlns:a="http://schemas.openxmlformats.org/drawingml/2006/main">
            <a:r>
              <a:t>      "지식·안건",</a:t>
            </a:r>
          </a:p>
          <a:p xmlns:a="http://schemas.openxmlformats.org/drawingml/2006/main">
            <a:r>
              <a:t>      "권한·망·DRM",</a:t>
            </a:r>
          </a:p>
          <a:p xmlns:a="http://schemas.openxmlformats.org/drawingml/2006/main">
            <a:r>
              <a:t>      "검색·산식 검증",</a:t>
            </a:r>
          </a:p>
          <a:p xmlns:a="http://schemas.openxmlformats.org/drawingml/2006/main">
            <a:r>
              <a:t>      "평가·운영"</a:t>
            </a:r>
          </a:p>
          <a:p xmlns:a="http://schemas.openxmlformats.org/drawingml/2006/main">
            <a:r>
              <a:t>    ],</a:t>
            </a:r>
          </a:p>
          <a:p xmlns:a="http://schemas.openxmlformats.org/drawingml/2006/main">
            <a:r>
              <a:t>    "apply": "대민·내부 지식 경계와 데이터 카탈로그를 함께 설계하는 정보 제공",</a:t>
            </a:r>
          </a:p>
          <a:p xmlns:a="http://schemas.openxmlformats.org/drawingml/2006/main">
            <a:r>
              <a:t>    "delta": "내외부 지식·망 분리 / 문서 DRM·권한 / 안건·산식·데이터 카탈로그",</a:t>
            </a:r>
          </a:p>
          <a:p xmlns:a="http://schemas.openxmlformats.org/drawingml/2006/main">
            <a:r>
              <a:t>    "test": "외부 계정의 내부자료 요청·DRM·산식 오류에 대한 독립 검증",</a:t>
            </a:r>
          </a:p>
          <a:p xmlns:a="http://schemas.openxmlformats.org/drawingml/2006/main">
            <a:r>
              <a:t>    "url": "https://www.g2b.go.kr/pn/pnz/pnza/UntyAtchFile/downloadFile.do?bfSpecRegNo=R26BD00217546&amp;fileType=BFDTL&amp;fileSeq=1",</a:t>
            </a:r>
          </a:p>
          <a:p xmlns:a="http://schemas.openxmlformats.org/drawingml/2006/main">
            <a:r>
              <a:t>    "urls": [</a:t>
            </a:r>
          </a:p>
          <a:p xmlns:a="http://schemas.openxmlformats.org/drawingml/2006/main">
            <a:r>
              <a:t>      "https://www.g2b.go.kr/pn/pnz/pnza/UntyAtchFile/downloadFile.do?bfSpecRegNo=R26BD00217546&amp;fileType=BFDTL&amp;fileSeq=1",</a:t>
            </a:r>
          </a:p>
          <a:p xmlns:a="http://schemas.openxmlformats.org/drawingml/2006/main">
            <a:r>
              <a:t>      "https://clabi.ai/news/fe55039a-f069-4218-aa5a-0c1057c5ca92"</a:t>
            </a:r>
          </a:p>
          <a:p xmlns:a="http://schemas.openxmlformats.org/drawingml/2006/main">
            <a:r>
              <a:t>    ],</a:t>
            </a:r>
          </a:p>
          <a:p xmlns:a="http://schemas.openxmlformats.org/drawingml/2006/main">
            <a:r>
              <a:t>    "basis": "SFR-001~014, DAR·CNR / Word T089",</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"비인가 노출 건수 / 원천 추적률 / 안건 검토시간",</a:t>
            </a:r>
          </a:p>
          <a:p xmlns:a="http://schemas.openxmlformats.org/drawingml/2006/main">
            <a:r>
              <a:t>    "group": "요구·구축",</a:t>
            </a:r>
          </a:p>
          <a:p xmlns:a="http://schemas.openxmlformats.org/drawingml/2006/main">
            <a:r>
              <a:t>    "sourceDetail": "망·DRM·권한 연계; 안건 메타데이터 범위검색; 규정 산식 교차검증; 모델라우팅·평가·모니터링",</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"PF-R08",</a:t>
            </a:r>
          </a:p>
          <a:p xmlns:a="http://schemas.openxmlformats.org/drawingml/2006/main">
            <a:r>
              <a:t>    "canonicalId": "PF-R08",</a:t>
            </a:r>
          </a:p>
          <a:p xmlns:a="http://schemas.openxmlformats.org/drawingml/2006/main">
            <a:r>
              <a:t>    "purpose": "대민·사내 AI와 데이터 관리체계의 공동 구축",</a:t>
            </a:r>
          </a:p>
          <a:p xmlns:a="http://schemas.openxmlformats.org/drawingml/2006/main">
            <a:r>
              <a:t>    "users": "국민·직원·안건 검토자·데이터 담당",</a:t>
            </a:r>
          </a:p>
          <a:p xmlns:a="http://schemas.openxmlformats.org/drawingml/2006/main">
            <a:r>
              <a:t>    "scope": [</a:t>
            </a:r>
          </a:p>
          <a:p xmlns:a="http://schemas.openxmlformats.org/drawingml/2006/main">
            <a:r>
              <a:t>      "챗봇",</a:t>
            </a:r>
          </a:p>
          <a:p xmlns:a="http://schemas.openxmlformats.org/drawingml/2006/main">
            <a:r>
              <a:t>      "안건 검색·요약",</a:t>
            </a:r>
          </a:p>
          <a:p xmlns:a="http://schemas.openxmlformats.org/drawingml/2006/main">
            <a:r>
              <a:t>      "카탈로그"</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"국민·직원 접점",</a:t>
            </a:r>
          </a:p>
          <a:p xmlns:a="http://schemas.openxmlformats.org/drawingml/2006/main">
            <a:r>
              <a:t>        "detail": "외부·내부 접점과 망·계정·DRM 경계 분리",</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"챗봇 / 안건 검색·요약 / 카탈로그",</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"검색·요약·산식 검토",</a:t>
            </a:r>
          </a:p>
          <a:p xmlns:a="http://schemas.openxmlformats.org/drawingml/2006/main">
            <a:r>
              <a:t>        "detail": "검색·요약·모델 라우팅·산식 검증",</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"업무 검토자",</a:t>
            </a:r>
          </a:p>
          <a:p xmlns:a="http://schemas.openxmlformats.org/drawingml/2006/main">
            <a:r>
              <a:t>        "detail": "권한 내 요약·계산 결과의 담당자 검토",</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"지식·안건·카탈로그",</a:t>
            </a:r>
          </a:p>
          <a:p xmlns:a="http://schemas.openxmlformats.org/drawingml/2006/main">
            <a:r>
              <a:t>        "detail": "안건 메타데이터·정형/비정형 데이터 카탈로그",</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"데이터 품질·민감정보·답변 품질 모니터링",</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"지식·안건",</a:t>
            </a:r>
          </a:p>
          <a:p xmlns:a="http://schemas.openxmlformats.org/drawingml/2006/main">
            <a:r>
              <a:t>        "input": "외부·내부 접점과 망·계정·DRM 경계 분리",</a:t>
            </a:r>
          </a:p>
          <a:p xmlns:a="http://schemas.openxmlformats.org/drawingml/2006/main">
            <a:r>
              <a:t>        "process": "안건 메타데이터·정형/비정형 데이터 카탈로그",</a:t>
            </a:r>
          </a:p>
          <a:p xmlns:a="http://schemas.openxmlformats.org/drawingml/2006/main">
            <a:r>
              <a:t>        "output": "질의·권한"</a:t>
            </a:r>
          </a:p>
          <a:p xmlns:a="http://schemas.openxmlformats.org/drawingml/2006/main">
            <a:r>
              <a:t>      },</a:t>
            </a:r>
          </a:p>
          <a:p xmlns:a="http://schemas.openxmlformats.org/drawingml/2006/main">
            <a:r>
              <a:t>      {</a:t>
            </a:r>
          </a:p>
          <a:p xmlns:a="http://schemas.openxmlformats.org/drawingml/2006/main">
            <a:r>
              <a:t>        "title": "권한·망·DRM",</a:t>
            </a:r>
          </a:p>
          <a:p xmlns:a="http://schemas.openxmlformats.org/drawingml/2006/main">
            <a:r>
              <a:t>        "input": "질의·권한",</a:t>
            </a:r>
          </a:p>
          <a:p xmlns:a="http://schemas.openxmlformats.org/drawingml/2006/main">
            <a:r>
              <a:t>        "process": "검색·요약·모델 라우팅·산식 검증",</a:t>
            </a:r>
          </a:p>
          <a:p xmlns:a="http://schemas.openxmlformats.org/drawingml/2006/main">
            <a:r>
              <a:t>        "output": "허용 근거"</a:t>
            </a:r>
          </a:p>
          <a:p xmlns:a="http://schemas.openxmlformats.org/drawingml/2006/main">
            <a:r>
              <a:t>      },</a:t>
            </a:r>
          </a:p>
          <a:p xmlns:a="http://schemas.openxmlformats.org/drawingml/2006/main">
            <a:r>
              <a:t>      {</a:t>
            </a:r>
          </a:p>
          <a:p xmlns:a="http://schemas.openxmlformats.org/drawingml/2006/main">
            <a:r>
              <a:t>        "title": "검색·산식 검증",</a:t>
            </a:r>
          </a:p>
          <a:p xmlns:a="http://schemas.openxmlformats.org/drawingml/2006/main">
            <a:r>
              <a:t>        "input": "허용 근거",</a:t>
            </a:r>
          </a:p>
          <a:p xmlns:a="http://schemas.openxmlformats.org/drawingml/2006/main">
            <a:r>
              <a:t>        "process": "망·권한·산식별 독립 검증",</a:t>
            </a:r>
          </a:p>
          <a:p xmlns:a="http://schemas.openxmlformats.org/drawingml/2006/main">
            <a:r>
              <a:t>        "output": "요약·계산"</a:t>
            </a:r>
          </a:p>
          <a:p xmlns:a="http://schemas.openxmlformats.org/drawingml/2006/main">
            <a:r>
              <a:t>      },</a:t>
            </a:r>
          </a:p>
          <a:p xmlns:a="http://schemas.openxmlformats.org/drawingml/2006/main">
            <a:r>
              <a:t>      {</a:t>
            </a:r>
          </a:p>
          <a:p xmlns:a="http://schemas.openxmlformats.org/drawingml/2006/main">
            <a:r>
              <a:t>        "title": "평가·운영",</a:t>
            </a:r>
          </a:p>
          <a:p xmlns:a="http://schemas.openxmlformats.org/drawingml/2006/main">
            <a:r>
              <a:t>        "input": "요약·계산",</a:t>
            </a:r>
          </a:p>
          <a:p xmlns:a="http://schemas.openxmlformats.org/drawingml/2006/main">
            <a:r>
              <a:t>        "process": "권한 내 요약·계산 결과의 담당자 검토",</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"허용된 안건만 검색·요약하고 규정 산식을 독립 확인",</a:t>
            </a:r>
          </a:p>
          <a:p xmlns:a="http://schemas.openxmlformats.org/drawingml/2006/main">
            <a:r>
              <a:t>      "exception": "외부 계정의 내부 안건 요청·DRM 제한·단위 오류",</a:t>
            </a:r>
          </a:p>
          <a:p xmlns:a="http://schemas.openxmlformats.org/drawingml/2006/main">
            <a:r>
              <a:t>      "evidence": "망·권한별 노출 결과와 원문·계산·카탈로그 대사",</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"국민·직원·안건 검토자·데이터 담당",</a:t>
            </a:r>
          </a:p>
          <a:p xmlns:a="http://schemas.openxmlformats.org/drawingml/2006/main">
            <a:r>
              <a:t>          "processing": "외부·내부 접점과 망·계정·DRM 경계 분리",</a:t>
            </a:r>
          </a:p>
          <a:p xmlns:a="http://schemas.openxmlformats.org/drawingml/2006/main">
            <a:r>
              <a:t>          "output": "질의·권한"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"지식·안건·카탈로그",</a:t>
            </a:r>
          </a:p>
          <a:p xmlns:a="http://schemas.openxmlformats.org/drawingml/2006/main">
            <a:r>
              <a:t>          "processing": "안건 메타데이터·정형/비정형 데이터 카탈로그",</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"질의·권한",</a:t>
            </a:r>
          </a:p>
          <a:p xmlns:a="http://schemas.openxmlformats.org/drawingml/2006/main">
            <a:r>
              <a:t>          "processing": "검색·요약·모델 라우팅·산식 검증",</a:t>
            </a:r>
          </a:p>
          <a:p xmlns:a="http://schemas.openxmlformats.org/drawingml/2006/main">
            <a:r>
              <a:t>          "output": "요약·계산"</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"요약·계산",</a:t>
            </a:r>
          </a:p>
          <a:p xmlns:a="http://schemas.openxmlformats.org/drawingml/2006/main">
            <a:r>
              <a:t>          "processing": "권한 내 요약·계산 결과의 담당자 검토",</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"데이터 품질·민감정보·답변 품질 모니터링",</a:t>
            </a:r>
          </a:p>
          <a:p xmlns:a="http://schemas.openxmlformats.org/drawingml/2006/main">
            <a:r>
              <a:t>          "output": "망·권한별 노출 결과와 원문·계산·카탈로그 대사"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"데이터 품질·민감정보·답변 품질 모니터링",</a:t>
            </a:r>
          </a:p>
          <a:p xmlns:a="http://schemas.openxmlformats.org/drawingml/2006/main">
            <a:r>
              <a:t>    "status": "RFP 기반 논리 설계",</a:t>
            </a:r>
          </a:p>
          <a:p xmlns:a="http://schemas.openxmlformats.org/drawingml/2006/main">
            <a:r>
              <a:t>    "basis": "사전공개 RFP 2026.04 · SFR-001~014·DAR·CNR",</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"SFR-001~014, DAR·CNR / Word T089",</a:t>
            </a:r>
          </a:p>
          <a:p xmlns:a="http://schemas.openxmlformats.org/drawingml/2006/main">
            <a:r>
              <a:t>        "url": "https://www.g2b.go.kr/pn/pnz/pnza/UntyAtchFile/downloadFile.do?bfSpecRegNo=R26BD00217546&amp;fileType=BFDTL&amp;fileSeq=1"</a:t>
            </a:r>
          </a:p>
          <a:p xmlns:a="http://schemas.openxmlformats.org/drawingml/2006/main">
            <a:r>
              <a:t>      }</a:t>
            </a:r>
          </a:p>
          <a:p xmlns:a="http://schemas.openxmlformats.org/drawingml/2006/main">
            <a:r>
              <a:t>    ],</a:t>
            </a:r>
          </a:p>
          <a:p xmlns:a="http://schemas.openxmlformats.org/drawingml/2006/main">
            <a:r>
              <a:t>    "implication": "대민·내부 지식 경계와 데이터 카탈로그를 함께 설계하는 정보 제공",</a:t>
            </a:r>
          </a:p>
          <a:p xmlns:a="http://schemas.openxmlformats.org/drawingml/2006/main">
            <a:r>
              <a:t>    "local": "대민·내부 지식 경계와 데이터 카탈로그를 함께 설계하는 정보 제공",</a:t>
            </a:r>
          </a:p>
          <a:p xmlns:a="http://schemas.openxmlformats.org/drawingml/2006/main">
            <a:r>
              <a:t>    "sourceDetail": "망·DRM·권한 연계; 안건 메타데이터 범위검색; 규정 산식 교차검증; 모델라우팅·평가·모니터링",</a:t>
            </a:r>
          </a:p>
          <a:p xmlns:a="http://schemas.openxmlformats.org/drawingml/2006/main">
            <a:r>
              <a:t>    "narrative": [</a:t>
            </a:r>
          </a:p>
          <a:p xmlns:a="http://schemas.openxmlformats.org/drawingml/2006/main">
            <a:r>
              <a:t>      "대국민 챗봇, 임직원 지식 활용, 안건 검색·요약과 데이터 카탈로그를 함께 다루는 생성형 AI 플랫폼 계획. 대외 공개 지식과 내부 업무 자료를 같은 검색 범위로 취급하지 않는 것이 구성의 출발점.",</a:t>
            </a:r>
          </a:p>
          <a:p xmlns:a="http://schemas.openxmlformats.org/drawingml/2006/main">
            <a:r>
              <a:t>      "사전공개 RFP 도면은 대민·임직원 서비스를 나누고 각각 보안·서비스·데이터·관리 서브넷을 배치. 내부 영역은 SSO/EAM·ECM·업무 시스템과 연결하고, 별도 데이터 카탈로그는 업무분류체계·담당부서·메타데이터·사용승인을 연결하는 구조.",</a:t>
            </a:r>
          </a:p>
          <a:p xmlns:a="http://schemas.openxmlformats.org/drawingml/2006/main">
            <a:r>
              <a:t>      "TS 조직 기반 플랫폼에서는 직원이 누구인지뿐 아니라 특정 데이터의 업무 소관·활용 목적·승인 조건을 함께 관리하는 참고 사례. CCK 추가 개발은 조직·업무 사전과 카탈로그의 연결, DRM·권한 전파, 안건 범위검색, 산식 검증의 업무별 분리. 사전공개 요구와 실제 운영 성과는 별도 증빙으로 평가."</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"SFR-003",</a:t>
            </a:r>
          </a:p>
          <a:p xmlns:a="http://schemas.openxmlformats.org/drawingml/2006/main">
            <a:r>
              <a:t>        "title": "AI 서비스 에이전트 관리 기능",</a:t>
            </a:r>
          </a:p>
          <a:p xmlns:a="http://schemas.openxmlformats.org/drawingml/2006/main">
            <a:r>
              <a:t>        "locator": "SFR-003",</a:t>
            </a:r>
          </a:p>
          <a:p xmlns:a="http://schemas.openxmlformats.org/drawingml/2006/main">
            <a:r>
              <a:t>        "summary": "AI 에이전트의 구성·운영 관리 기능.",</a:t>
            </a:r>
          </a:p>
          <a:p xmlns:a="http://schemas.openxmlformats.org/drawingml/2006/main">
            <a:r>
              <a:t>        "data": "에이전트 설정·도구 → 실행 상태·관리 기록",</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"C08"</a:t>
            </a:r>
          </a:p>
          <a:p xmlns:a="http://schemas.openxmlformats.org/drawingml/2006/main">
            <a:r>
              <a:t>        ],</a:t>
            </a:r>
          </a:p>
          <a:p xmlns:a="http://schemas.openxmlformats.org/drawingml/2006/main">
            <a:r>
              <a:t>        "acceptance": "잘못된 도구 권한과 구성 변경 시 실행 차단·판본 추적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"1590814bc8f7ceb1abe4749ac8c848bd13cc7c8da0eb672ad1ee7d69ba045a3f"</a:t>
            </a:r>
          </a:p>
          <a:p xmlns:a="http://schemas.openxmlformats.org/drawingml/2006/main">
            <a:r>
              <a:t>      },</a:t>
            </a:r>
          </a:p>
          <a:p xmlns:a="http://schemas.openxmlformats.org/drawingml/2006/main">
            <a:r>
              <a:t>      {</a:t>
            </a:r>
          </a:p>
          <a:p xmlns:a="http://schemas.openxmlformats.org/drawingml/2006/main">
            <a:r>
              <a:t>        "id": "SFR-004",</a:t>
            </a:r>
          </a:p>
          <a:p xmlns:a="http://schemas.openxmlformats.org/drawingml/2006/main">
            <a:r>
              <a:t>        "title": "AI 서비스 RAG 기능",</a:t>
            </a:r>
          </a:p>
          <a:p xmlns:a="http://schemas.openxmlformats.org/drawingml/2006/main">
            <a:r>
              <a:t>        "locator": "SFR-004",</a:t>
            </a:r>
          </a:p>
          <a:p xmlns:a="http://schemas.openxmlformats.org/drawingml/2006/main">
            <a:r>
              <a:t>        "summary": "업무 지식을 검색해 생성 응답에 연결하는 RAG 기능.",</a:t>
            </a:r>
          </a:p>
          <a:p xmlns:a="http://schemas.openxmlformats.org/drawingml/2006/main">
            <a:r>
              <a:t>        "data": "질의·허용 문서 → 근거·응답",</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"C11"</a:t>
            </a:r>
          </a:p>
          <a:p xmlns:a="http://schemas.openxmlformats.org/drawingml/2006/main">
            <a:r>
              <a:t>        ],</a:t>
            </a:r>
          </a:p>
          <a:p xmlns:a="http://schemas.openxmlformats.org/drawingml/2006/main">
            <a:r>
              <a:t>        "acceptance": "사내·대국민 문서 혼재 시 검색 범위 분리와 출처 정확성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"6779cdd1e875adfd01a03d244801be17e636a2a970a25d78c0009ee42d836beb"</a:t>
            </a:r>
          </a:p>
          <a:p xmlns:a="http://schemas.openxmlformats.org/drawingml/2006/main">
            <a:r>
              <a:t>      },</a:t>
            </a:r>
          </a:p>
          <a:p xmlns:a="http://schemas.openxmlformats.org/drawingml/2006/main">
            <a:r>
              <a:t>      {</a:t>
            </a:r>
          </a:p>
          <a:p xmlns:a="http://schemas.openxmlformats.org/drawingml/2006/main">
            <a:r>
              <a:t>        "id": "SFR-005",</a:t>
            </a:r>
          </a:p>
          <a:p xmlns:a="http://schemas.openxmlformats.org/drawingml/2006/main">
            <a:r>
              <a:t>        "title": "AI 서비스 데이터 파이프라인 자동화 기능",</a:t>
            </a:r>
          </a:p>
          <a:p xmlns:a="http://schemas.openxmlformats.org/drawingml/2006/main">
            <a:r>
              <a:t>        "locator": "SFR-005",</a:t>
            </a:r>
          </a:p>
          <a:p xmlns:a="http://schemas.openxmlformats.org/drawingml/2006/main">
            <a:r>
              <a:t>        "summary": "원천 자료의 수집·전처리·검색 반영 데이터 파이프라인.",</a:t>
            </a:r>
          </a:p>
          <a:p xmlns:a="http://schemas.openxmlformats.org/drawingml/2006/main">
            <a:r>
              <a:t>        "data": "원천 문서·메타정보 → 검색용 데이터",</a:t>
            </a:r>
          </a:p>
          <a:p xmlns:a="http://schemas.openxmlformats.org/drawingml/2006/main">
            <a:r>
              <a:t>        "components": [</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"등록·개정·삭제·정제 실패의 처리 결과와 원천 변경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"ce9810ce185079fa2fef5d1208af96a3a07ef6e6e5ca1ec36d2dd7a42c90df96"</a:t>
            </a:r>
          </a:p>
          <a:p xmlns:a="http://schemas.openxmlformats.org/drawingml/2006/main">
            <a:r>
              <a:t>      },</a:t>
            </a:r>
          </a:p>
          <a:p xmlns:a="http://schemas.openxmlformats.org/drawingml/2006/main">
            <a:r>
              <a:t>      {</a:t>
            </a:r>
          </a:p>
          <a:p xmlns:a="http://schemas.openxmlformats.org/drawingml/2006/main">
            <a:r>
              <a:t>        "id": "SFR-009",</a:t>
            </a:r>
          </a:p>
          <a:p xmlns:a="http://schemas.openxmlformats.org/drawingml/2006/main">
            <a:r>
              <a:t>        "title": "AI 서비스(사내 AI 챗봇 서비스) 구축",</a:t>
            </a:r>
          </a:p>
          <a:p xmlns:a="http://schemas.openxmlformats.org/drawingml/2006/main">
            <a:r>
              <a:t>        "locator": "SFR-009",</a:t>
            </a:r>
          </a:p>
          <a:p xmlns:a="http://schemas.openxmlformats.org/drawingml/2006/main">
            <a:r>
              <a:t>        "summary": "사내 직원용 업무 지식 챗봇 기능.",</a:t>
            </a:r>
          </a:p>
          <a:p xmlns:a="http://schemas.openxmlformats.org/drawingml/2006/main">
            <a:r>
              <a:t>        "data": "직원 질의·직무 문맥 → 업무 답변·근거",</a:t>
            </a:r>
          </a:p>
          <a:p xmlns:a="http://schemas.openxmlformats.org/drawingml/2006/main">
            <a:r>
              <a:t>        "components": [</a:t>
            </a:r>
          </a:p>
          <a:p xmlns:a="http://schemas.openxmlformats.org/drawingml/2006/main">
            <a:r>
              <a:t>          "C01",</a:t>
            </a:r>
          </a:p>
          <a:p xmlns:a="http://schemas.openxmlformats.org/drawingml/2006/main">
            <a:r>
              <a:t>          "C03",</a:t>
            </a:r>
          </a:p>
          <a:p xmlns:a="http://schemas.openxmlformats.org/drawingml/2006/main">
            <a:r>
              <a:t>          "C06"</a:t>
            </a:r>
          </a:p>
          <a:p xmlns:a="http://schemas.openxmlformats.org/drawingml/2006/main">
            <a:r>
              <a:t>        ],</a:t>
            </a:r>
          </a:p>
          <a:p xmlns:a="http://schemas.openxmlformats.org/drawingml/2006/main">
            <a:r>
              <a:t>        "acceptance": "동일 질의의 직무별 관련성, 비공개 자료 접근, 최신 규정 인용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"45f7da3f2df0a14850c6f9716076e421210ba97cb8aefec195a8439a0225ff95"</a:t>
            </a:r>
          </a:p>
          <a:p xmlns:a="http://schemas.openxmlformats.org/drawingml/2006/main">
            <a:r>
              <a:t>      },</a:t>
            </a:r>
          </a:p>
          <a:p xmlns:a="http://schemas.openxmlformats.org/drawingml/2006/main">
            <a:r>
              <a:t>      {</a:t>
            </a:r>
          </a:p>
          <a:p xmlns:a="http://schemas.openxmlformats.org/drawingml/2006/main">
            <a:r>
              <a:t>        "id": "SFR-012",</a:t>
            </a:r>
          </a:p>
          <a:p xmlns:a="http://schemas.openxmlformats.org/drawingml/2006/main">
            <a:r>
              <a:t>        "title": "데이터 카탈로그 일반 사항",</a:t>
            </a:r>
          </a:p>
          <a:p xmlns:a="http://schemas.openxmlformats.org/drawingml/2006/main">
            <a:r>
              <a:t>        "locator": "SFR-012",</a:t>
            </a:r>
          </a:p>
          <a:p xmlns:a="http://schemas.openxmlformats.org/drawingml/2006/main">
            <a:r>
              <a:t>        "summary": "전사 데이터 카탈로그의 공통 기능 구성.",</a:t>
            </a:r>
          </a:p>
          <a:p xmlns:a="http://schemas.openxmlformats.org/drawingml/2006/main">
            <a:r>
              <a:t>        "data": "데이터 자산·설명 → 탐색 가능한 카탈로그",</a:t>
            </a:r>
          </a:p>
          <a:p xmlns:a="http://schemas.openxmlformats.org/drawingml/2006/main">
            <a:r>
              <a:t>        "components": [</a:t>
            </a:r>
          </a:p>
          <a:p xmlns:a="http://schemas.openxmlformats.org/drawingml/2006/main">
            <a:r>
              <a:t>          "C09",</a:t>
            </a:r>
          </a:p>
          <a:p xmlns:a="http://schemas.openxmlformats.org/drawingml/2006/main">
            <a:r>
              <a:t>          "C11"</a:t>
            </a:r>
          </a:p>
          <a:p xmlns:a="http://schemas.openxmlformats.org/drawingml/2006/main">
            <a:r>
              <a:t>        ],</a:t>
            </a:r>
          </a:p>
          <a:p xmlns:a="http://schemas.openxmlformats.org/drawingml/2006/main">
            <a:r>
              <a:t>        "acceptance": "자산 식별자·담당자·설명의 원천 일치와 누락 항목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"c47acd02115ea8639438099db14eb807ebb43602a58a27a75e57bd7c44a01747"</a:t>
            </a:r>
          </a:p>
          <a:p xmlns:a="http://schemas.openxmlformats.org/drawingml/2006/main">
            <a:r>
              <a:t>      },</a:t>
            </a:r>
          </a:p>
          <a:p xmlns:a="http://schemas.openxmlformats.org/drawingml/2006/main">
            <a:r>
              <a:t>      {</a:t>
            </a:r>
          </a:p>
          <a:p xmlns:a="http://schemas.openxmlformats.org/drawingml/2006/main">
            <a:r>
              <a:t>        "id": "SFR-013",</a:t>
            </a:r>
          </a:p>
          <a:p xmlns:a="http://schemas.openxmlformats.org/drawingml/2006/main">
            <a:r>
              <a:t>        "title": "데이터 카탈로그 공사 맞춤 개발",</a:t>
            </a:r>
          </a:p>
          <a:p xmlns:a="http://schemas.openxmlformats.org/drawingml/2006/main">
            <a:r>
              <a:t>        "locator": "SFR-013",</a:t>
            </a:r>
          </a:p>
          <a:p xmlns:a="http://schemas.openxmlformats.org/drawingml/2006/main">
            <a:r>
              <a:t>        "summary": "기관 업무에 맞춘 데이터 카탈로그 구성과 활용.",</a:t>
            </a:r>
          </a:p>
          <a:p xmlns:a="http://schemas.openxmlformats.org/drawingml/2006/main">
            <a:r>
              <a:t>        "data": "업무 분류·사용자 문맥 → 맞춤 자산 정보",</a:t>
            </a:r>
          </a:p>
          <a:p xmlns:a="http://schemas.openxmlformats.org/drawingml/2006/main">
            <a:r>
              <a:t>        "components": [</a:t>
            </a:r>
          </a:p>
          <a:p xmlns:a="http://schemas.openxmlformats.org/drawingml/2006/main">
            <a:r>
              <a:t>          "C02",</a:t>
            </a:r>
          </a:p>
          <a:p xmlns:a="http://schemas.openxmlformats.org/drawingml/2006/main">
            <a:r>
              <a:t>          "C11",</a:t>
            </a:r>
          </a:p>
          <a:p xmlns:a="http://schemas.openxmlformats.org/drawingml/2006/main">
            <a:r>
              <a:t>          "C12"</a:t>
            </a:r>
          </a:p>
          <a:p xmlns:a="http://schemas.openxmlformats.org/drawingml/2006/main">
            <a:r>
              <a:t>        ],</a:t>
            </a:r>
          </a:p>
          <a:p xmlns:a="http://schemas.openxmlformats.org/drawingml/2006/main">
            <a:r>
              <a:t>        "acceptance": "부서·업무 분류 변경과 사용자 권한에 따른 자산 정보 표시 대사",</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"dbe676ae5dc97c22a843994b927807e364fb8221c6d23ce8fb0b11a860ffc1b0"</a:t>
            </a:r>
          </a:p>
          <a:p xmlns:a="http://schemas.openxmlformats.org/drawingml/2006/main">
            <a:r>
              <a:t>      },</a:t>
            </a:r>
          </a:p>
          <a:p xmlns:a="http://schemas.openxmlformats.org/drawingml/2006/main">
            <a:r>
              <a:t>      {</a:t>
            </a:r>
          </a:p>
          <a:p xmlns:a="http://schemas.openxmlformats.org/drawingml/2006/main">
            <a:r>
              <a:t>        "id": "SFR-014",</a:t>
            </a:r>
          </a:p>
          <a:p xmlns:a="http://schemas.openxmlformats.org/drawingml/2006/main">
            <a:r>
              <a:t>        "title": "데이터 카탈로그 검색 기능",</a:t>
            </a:r>
          </a:p>
          <a:p xmlns:a="http://schemas.openxmlformats.org/drawingml/2006/main">
            <a:r>
              <a:t>        "locator": "SFR-014",</a:t>
            </a:r>
          </a:p>
          <a:p xmlns:a="http://schemas.openxmlformats.org/drawingml/2006/main">
            <a:r>
              <a:t>        "summary": "카탈로그의 데이터 자산 검색 기능.",</a:t>
            </a:r>
          </a:p>
          <a:p xmlns:a="http://schemas.openxmlformats.org/drawingml/2006/main">
            <a:r>
              <a:t>        "data": "자산명·업무 용어 → 관련 자산·설명",</a:t>
            </a:r>
          </a:p>
          <a:p xmlns:a="http://schemas.openxmlformats.org/drawingml/2006/main">
            <a:r>
              <a:t>        "components": [</a:t>
            </a:r>
          </a:p>
          <a:p xmlns:a="http://schemas.openxmlformats.org/drawingml/2006/main">
            <a:r>
              <a:t>          "C03",</a:t>
            </a:r>
          </a:p>
          <a:p xmlns:a="http://schemas.openxmlformats.org/drawingml/2006/main">
            <a:r>
              <a:t>          "C11"</a:t>
            </a:r>
          </a:p>
          <a:p xmlns:a="http://schemas.openxmlformats.org/drawingml/2006/main">
            <a:r>
              <a:t>        ],</a:t>
            </a:r>
          </a:p>
          <a:p xmlns:a="http://schemas.openxmlformats.org/drawingml/2006/main">
            <a:r>
              <a:t>        "acceptance": "다른 업무 용어로 같은 자산 탐색, 동명이자산 구분, 검색 결과 권한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"0d1cbe7ee72465436a3269eeb95106fa281de600b63107b9dfece31a434b39db"</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"국민·사내 접점",</a:t>
            </a:r>
          </a:p>
          <a:p xmlns:a="http://schemas.openxmlformats.org/drawingml/2006/main">
            <a:r>
              <a:t>          "layer": "이용 접점",</a:t>
            </a:r>
          </a:p>
          <a:p xmlns:a="http://schemas.openxmlformats.org/drawingml/2006/main">
            <a:r>
              <a:t>          "detail": "국민·직원·안건 검토자·데이터 담당",</a:t>
            </a:r>
          </a:p>
          <a:p xmlns:a="http://schemas.openxmlformats.org/drawingml/2006/main">
            <a:r>
              <a:t>          "requirements": [</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"SSO·DRM·망 구분",</a:t>
            </a:r>
          </a:p>
          <a:p xmlns:a="http://schemas.openxmlformats.org/drawingml/2006/main">
            <a:r>
              <a:t>          "layer": "업무 문맥",</a:t>
            </a:r>
          </a:p>
          <a:p xmlns:a="http://schemas.openxmlformats.org/drawingml/2006/main">
            <a:r>
              <a:t>          "detail": "외부·내부 접점과 망·계정·DRM 경계 분리",</a:t>
            </a:r>
          </a:p>
          <a:p xmlns:a="http://schemas.openxmlformats.org/drawingml/2006/main">
            <a:r>
              <a:t>          "requirements": [</a:t>
            </a:r>
          </a:p>
          <a:p xmlns:a="http://schemas.openxmlformats.org/drawingml/2006/main">
            <a:r>
              <a:t>            "SFR-003",</a:t>
            </a:r>
          </a:p>
          <a:p xmlns:a="http://schemas.openxmlformats.org/drawingml/2006/main">
            <a:r>
              <a:t>            "SFR-013"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"안건·허용자료 검색",</a:t>
            </a:r>
          </a:p>
          <a:p xmlns:a="http://schemas.openxmlformats.org/drawingml/2006/main">
            <a:r>
              <a:t>          "layer": "자료 조회",</a:t>
            </a:r>
          </a:p>
          <a:p xmlns:a="http://schemas.openxmlformats.org/drawingml/2006/main">
            <a:r>
              <a:t>          "detail": "질의·권한",</a:t>
            </a:r>
          </a:p>
          <a:p xmlns:a="http://schemas.openxmlformats.org/drawingml/2006/main">
            <a:r>
              <a:t>          "requirements": [</a:t>
            </a:r>
          </a:p>
          <a:p xmlns:a="http://schemas.openxmlformats.org/drawingml/2006/main">
            <a:r>
              <a:t>            "SFR-004",</a:t>
            </a:r>
          </a:p>
          <a:p xmlns:a="http://schemas.openxmlformats.org/drawingml/2006/main">
            <a:r>
              <a:t>            "SFR-009",</a:t>
            </a:r>
          </a:p>
          <a:p xmlns:a="http://schemas.openxmlformats.org/drawingml/2006/main">
            <a:r>
              <a:t>            "SFR-014"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"모델·요약·산식",</a:t>
            </a:r>
          </a:p>
          <a:p xmlns:a="http://schemas.openxmlformats.org/drawingml/2006/main">
            <a:r>
              <a:t>          "layer": "핵심 처리",</a:t>
            </a:r>
          </a:p>
          <a:p xmlns:a="http://schemas.openxmlformats.org/drawingml/2006/main">
            <a:r>
              <a:t>          "detail": "검색·요약·모델 라우팅·산식 검증",</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"산식·단위 대조",</a:t>
            </a:r>
          </a:p>
          <a:p xmlns:a="http://schemas.openxmlformats.org/drawingml/2006/main">
            <a:r>
              <a:t>          "layer": "결과 검증",</a:t>
            </a:r>
          </a:p>
          <a:p xmlns:a="http://schemas.openxmlformats.org/drawingml/2006/main">
            <a:r>
              <a:t>          "detail": "망·권한·산식별 독립 검증",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"업무 담당 검토",</a:t>
            </a:r>
          </a:p>
          <a:p xmlns:a="http://schemas.openxmlformats.org/drawingml/2006/main">
            <a:r>
              <a:t>          "layer": "사람 확인",</a:t>
            </a:r>
          </a:p>
          <a:p xmlns:a="http://schemas.openxmlformats.org/drawingml/2006/main">
            <a:r>
              <a:t>          "detail": "허용된 안건만 검색·요약하고 규정 산식을 독립 확인",</a:t>
            </a:r>
          </a:p>
          <a:p xmlns:a="http://schemas.openxmlformats.org/drawingml/2006/main">
            <a:r>
              <a:t>          "requirements": [</a:t>
            </a:r>
          </a:p>
          <a:p xmlns:a="http://schemas.openxmlformats.org/drawingml/2006/main">
            <a:r>
              <a:t>            "SFR-009"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"근거 요약·계산",</a:t>
            </a:r>
          </a:p>
          <a:p xmlns:a="http://schemas.openxmlformats.org/drawingml/2006/main">
            <a:r>
              <a:t>          "layer": "업무 연결",</a:t>
            </a:r>
          </a:p>
          <a:p xmlns:a="http://schemas.openxmlformats.org/drawingml/2006/main">
            <a:r>
              <a:t>          "detail": "권한 내 요약·계산 결과의 담당자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"품질·민감정보 점검",</a:t>
            </a:r>
          </a:p>
          <a:p xmlns:a="http://schemas.openxmlformats.org/drawingml/2006/main">
            <a:r>
              <a:t>          "layer": "운영 관측",</a:t>
            </a:r>
          </a:p>
          <a:p xmlns:a="http://schemas.openxmlformats.org/drawingml/2006/main">
            <a:r>
              <a:t>          "detail": "데이터 품질·민감정보·답변 품질 모니터링",</a:t>
            </a:r>
          </a:p>
          <a:p xmlns:a="http://schemas.openxmlformats.org/drawingml/2006/main">
            <a:r>
              <a:t>          "requirements": [</a:t>
            </a:r>
          </a:p>
          <a:p xmlns:a="http://schemas.openxmlformats.org/drawingml/2006/main">
            <a:r>
              <a:t>            "SFR-003"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"ECM·안건·공개자료",</a:t>
            </a:r>
          </a:p>
          <a:p xmlns:a="http://schemas.openxmlformats.org/drawingml/2006/main">
            <a:r>
              <a:t>          "layer": "데이터 원천",</a:t>
            </a:r>
          </a:p>
          <a:p xmlns:a="http://schemas.openxmlformats.org/drawingml/2006/main">
            <a:r>
              <a:t>          "detail": "지식·안건·카탈로그",</a:t>
            </a:r>
          </a:p>
          <a:p xmlns:a="http://schemas.openxmlformats.org/drawingml/2006/main">
            <a:r>
              <a:t>          "requirements": [</a:t>
            </a:r>
          </a:p>
          <a:p xmlns:a="http://schemas.openxmlformats.org/drawingml/2006/main">
            <a:r>
              <a:t>            "SFR-005",</a:t>
            </a:r>
          </a:p>
          <a:p xmlns:a="http://schemas.openxmlformats.org/drawingml/2006/main">
            <a:r>
              <a:t>            "SFR-012"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"메타정보·카탈로그",</a:t>
            </a:r>
          </a:p>
          <a:p xmlns:a="http://schemas.openxmlformats.org/drawingml/2006/main">
            <a:r>
              <a:t>          "layer": "준비·갱신",</a:t>
            </a:r>
          </a:p>
          <a:p xmlns:a="http://schemas.openxmlformats.org/drawingml/2006/main">
            <a:r>
              <a:t>          "detail": "안건 메타데이터·정형/비정형 데이터 카탈로그",</a:t>
            </a:r>
          </a:p>
          <a:p xmlns:a="http://schemas.openxmlformats.org/drawingml/2006/main">
            <a:r>
              <a:t>          "requirements": [</a:t>
            </a:r>
          </a:p>
          <a:p xmlns:a="http://schemas.openxmlformats.org/drawingml/2006/main">
            <a:r>
              <a:t>            "SFR-005"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"대민·사내 DB 분리",</a:t>
            </a:r>
          </a:p>
          <a:p xmlns:a="http://schemas.openxmlformats.org/drawingml/2006/main">
            <a:r>
              <a:t>          "layer": "상태·지식 저장",</a:t>
            </a:r>
          </a:p>
          <a:p xmlns:a="http://schemas.openxmlformats.org/drawingml/2006/main">
            <a:r>
              <a:t>          "detail": "망·권한별 노출 결과와 원문·계산·카탈로그 대사",</a:t>
            </a:r>
          </a:p>
          <a:p xmlns:a="http://schemas.openxmlformats.org/drawingml/2006/main">
            <a:r>
              <a:t>          "requirements": [</a:t>
            </a:r>
          </a:p>
          <a:p xmlns:a="http://schemas.openxmlformats.org/drawingml/2006/main">
            <a:r>
              <a:t>            "SFR-004",</a:t>
            </a:r>
          </a:p>
          <a:p xmlns:a="http://schemas.openxmlformats.org/drawingml/2006/main">
            <a:r>
              <a:t>            "SFR-005",</a:t>
            </a:r>
          </a:p>
          <a:p xmlns:a="http://schemas.openxmlformats.org/drawingml/2006/main">
            <a:r>
              <a:t>            "SFR-012",</a:t>
            </a:r>
          </a:p>
          <a:p xmlns:a="http://schemas.openxmlformats.org/drawingml/2006/main">
            <a:r>
              <a:t>            "SFR-013",</a:t>
            </a:r>
          </a:p>
          <a:p xmlns:a="http://schemas.openxmlformats.org/drawingml/2006/main">
            <a:r>
              <a:t>            "SFR-014"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"권한·망·모델 관리",</a:t>
            </a:r>
          </a:p>
          <a:p xmlns:a="http://schemas.openxmlformats.org/drawingml/2006/main">
            <a:r>
              <a:t>          "layer": "권한·정책",</a:t>
            </a:r>
          </a:p>
          <a:p xmlns:a="http://schemas.openxmlformats.org/drawingml/2006/main">
            <a:r>
              <a:t>          "detail": "외부 계정의 내부 안건 요청·DRM 제한·단위 오류",</a:t>
            </a:r>
          </a:p>
          <a:p xmlns:a="http://schemas.openxmlformats.org/drawingml/2006/main">
            <a:r>
              <a:t>          "requirements": [</a:t>
            </a:r>
          </a:p>
          <a:p xmlns:a="http://schemas.openxmlformats.org/drawingml/2006/main">
            <a:r>
              <a:t>            "SFR-013"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"외부·내부 접점과 망·계정·DRM 경계 분리",</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"질의·권한",</a:t>
            </a:r>
          </a:p>
          <a:p xmlns:a="http://schemas.openxmlformats.org/drawingml/2006/main">
            <a:r>
              <a:t>          "check": "망·권한·산식별 독립 검증"</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"허용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"요약·계산",</a:t>
            </a:r>
          </a:p>
          <a:p xmlns:a="http://schemas.openxmlformats.org/drawingml/2006/main">
            <a:r>
              <a:t>          "check": "외부 계정의 내부 안건 요청·DRM 제한·단위 오류"</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"요약·계산",</a:t>
            </a:r>
          </a:p>
          <a:p xmlns:a="http://schemas.openxmlformats.org/drawingml/2006/main">
            <a:r>
              <a:t>          "check": "권한 내 요약·계산 결과의 담당자 검토"</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 결과",</a:t>
            </a:r>
          </a:p>
          <a:p xmlns:a="http://schemas.openxmlformats.org/drawingml/2006/main">
            <a:r>
              <a:t>          "check": "망·권한별 노출 결과와 원문·계산·카탈로그 대사"</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"사전공개 RFP 구성도·SFR-001~014",</a:t>
            </a:r>
          </a:p>
          <a:p xmlns:a="http://schemas.openxmlformats.org/drawingml/2006/main">
            <a:r>
              <a:t>        "extracted": "대민/임직원 서비스와 DB 분리, SSO/EAM·데이터 업로드 경계",</a:t>
            </a:r>
          </a:p>
          <a:p xmlns:a="http://schemas.openxmlformats.org/drawingml/2006/main">
            <a:r>
              <a:t>        "extension": "공개·내부 경계 교차 시험과 금융 산식의 독립 검산"</a:t>
            </a:r>
          </a:p>
          <a:p xmlns:a="http://schemas.openxmlformats.org/drawingml/2006/main">
            <a:r>
              <a:t>      },</a:t>
            </a:r>
          </a:p>
          <a:p xmlns:a="http://schemas.openxmlformats.org/drawingml/2006/main">
            <a:r>
              <a:t>      "figures": [</a:t>
            </a:r>
          </a:p>
          <a:p xmlns:a="http://schemas.openxmlformats.org/drawingml/2006/main">
            <a:r>
              <a:t>        {</a:t>
            </a:r>
          </a:p>
          <a:p xmlns:a="http://schemas.openxmlformats.org/drawingml/2006/main">
            <a:r>
              <a:t>          "caseId": "PF-R08",</a:t>
            </a:r>
          </a:p>
          <a:p xmlns:a="http://schemas.openxmlformats.org/drawingml/2006/main">
            <a:r>
              <a:t>          "path": "assets/casebook-sources/PF-R08-01.png",</a:t>
            </a:r>
          </a:p>
          <a:p xmlns:a="http://schemas.openxmlformats.org/drawingml/2006/main">
            <a:r>
              <a:t>          "title": "대민·임직원 AI 서비스 분리",</a:t>
            </a:r>
          </a:p>
          <a:p xmlns:a="http://schemas.openxmlformats.org/drawingml/2006/main">
            <a:r>
              <a:t>          "status": "사전공개 RFP 목표 구성도",</a:t>
            </a:r>
          </a:p>
          <a:p xmlns:a="http://schemas.openxmlformats.org/drawingml/2006/main">
            <a:r>
              <a:t>          "caption": "보안·서비스·데이터·관리 서브넷과 SSO·업무 데이터 경계",</a:t>
            </a:r>
          </a:p>
          <a:p xmlns:a="http://schemas.openxmlformats.org/drawingml/2006/main">
            <a:r>
              <a:t>          "locator": "rId20 / BinData/BIN0002_bmp",</a:t>
            </a:r>
          </a:p>
          <a:p xmlns:a="http://schemas.openxmlformats.org/drawingml/2006/main">
            <a:r>
              <a:t>          "checked": "2026-10-16",</a:t>
            </a:r>
          </a:p>
          <a:p xmlns:a="http://schemas.openxmlformats.org/drawingml/2006/main">
            <a:r>
              <a:t>          "sha256": "dbd84b9d88acec3c54802ec4cc6eacaf8a872223e2a7ee89fadf50a173e38803",</a:t>
            </a:r>
          </a:p>
          <a:p xmlns:a="http://schemas.openxmlformats.org/drawingml/2006/main">
            <a:r>
              <a:t>          "explanation": {</a:t>
            </a:r>
          </a:p>
          <a:p xmlns:a="http://schemas.openxmlformats.org/drawingml/2006/main">
            <a:r>
              <a:t>            "read": "사전공개 요구의 대국민·임직원 서비스와 데이터·네트워크 경계를 구분한 목표 구성. 공개 상담용 자료와 내부 안건·업무 자료를 서비스·저장 계층에서 분리하는 구조.",</a:t>
            </a:r>
          </a:p>
          <a:p xmlns:a="http://schemas.openxmlformats.org/drawingml/2006/main">
            <a:r>
              <a:t>            "requirements": [</a:t>
            </a:r>
          </a:p>
          <a:p xmlns:a="http://schemas.openxmlformats.org/drawingml/2006/main">
            <a:r>
              <a:t>              "SFR-003",</a:t>
            </a:r>
          </a:p>
          <a:p xmlns:a="http://schemas.openxmlformats.org/drawingml/2006/main">
            <a:r>
              <a:t>              "SFR-004",</a:t>
            </a:r>
          </a:p>
          <a:p xmlns:a="http://schemas.openxmlformats.org/drawingml/2006/main">
            <a:r>
              <a:t>              "SFR-005",</a:t>
            </a:r>
          </a:p>
          <a:p xmlns:a="http://schemas.openxmlformats.org/drawingml/2006/main">
            <a:r>
              <a:t>              "SFR-009"</a:t>
            </a:r>
          </a:p>
          <a:p xmlns:a="http://schemas.openxmlformats.org/drawingml/2006/main">
            <a:r>
              <a:t>            ],</a:t>
            </a:r>
          </a:p>
          <a:p xmlns:a="http://schemas.openxmlformats.org/drawingml/2006/main">
            <a:r>
              <a:t>            "connection": "같은 AI 기반을 쓰더라도 공개·내부 검색 범위와 문서 반입 경로를 별도로 검수하고 사용자 문맥·SSO·DRM 등 기존 통제와 연결하는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"caseId": "PF-R08",</a:t>
            </a:r>
          </a:p>
          <a:p xmlns:a="http://schemas.openxmlformats.org/drawingml/2006/main">
            <a:r>
              <a:t>          "path": "assets/casebook-sources/PF-R08-02.png",</a:t>
            </a:r>
          </a:p>
          <a:p xmlns:a="http://schemas.openxmlformats.org/drawingml/2006/main">
            <a:r>
              <a:t>          "title": "데이터 카탈로그·업무 매핑",</a:t>
            </a:r>
          </a:p>
          <a:p xmlns:a="http://schemas.openxmlformats.org/drawingml/2006/main">
            <a:r>
              <a:t>          "status": "사전공개 RFP 데이터 구성도",</a:t>
            </a:r>
          </a:p>
          <a:p xmlns:a="http://schemas.openxmlformats.org/drawingml/2006/main">
            <a:r>
              <a:t>          "caption": "대시보드·통합검색·데이터등록·표준·품질과 업무 매핑",</a:t>
            </a:r>
          </a:p>
          <a:p xmlns:a="http://schemas.openxmlformats.org/drawingml/2006/main">
            <a:r>
              <a:t>          "locator": "rId20 / BinData/BIN0001_bmp",</a:t>
            </a:r>
          </a:p>
          <a:p xmlns:a="http://schemas.openxmlformats.org/drawingml/2006/main">
            <a:r>
              <a:t>          "checked": "2026-10-16",</a:t>
            </a:r>
          </a:p>
          <a:p xmlns:a="http://schemas.openxmlformats.org/drawingml/2006/main">
            <a:r>
              <a:t>          "sha256": "e91edef465c1a60d5edcd6288eefa4a5d158cd9980b9b941428685ef6e32a0f5",</a:t>
            </a:r>
          </a:p>
          <a:p xmlns:a="http://schemas.openxmlformats.org/drawingml/2006/main">
            <a:r>
              <a:t>          "explanation": {</a:t>
            </a:r>
          </a:p>
          <a:p xmlns:a="http://schemas.openxmlformats.org/drawingml/2006/main">
            <a:r>
              <a:t>            "read": "카탈로그와 MDMS·ECM 등 기존 데이터·문서 체계의 업무 연결. AI 답변에 앞서 어떤 데이터가 존재하고 누가 관리하며 어떤 업무에서 쓰는지 찾을 수 있도록 하는 정보 기반.",</a:t>
            </a:r>
          </a:p>
          <a:p xmlns:a="http://schemas.openxmlformats.org/drawingml/2006/main">
            <a:r>
              <a:t>            "requirements": [</a:t>
            </a:r>
          </a:p>
          <a:p xmlns:a="http://schemas.openxmlformats.org/drawingml/2006/main">
            <a:r>
              <a:t>              "SFR-012",</a:t>
            </a:r>
          </a:p>
          <a:p xmlns:a="http://schemas.openxmlformats.org/drawingml/2006/main">
            <a:r>
              <a:t>              "SFR-013",</a:t>
            </a:r>
          </a:p>
          <a:p xmlns:a="http://schemas.openxmlformats.org/drawingml/2006/main">
            <a:r>
              <a:t>              "SFR-014"</a:t>
            </a:r>
          </a:p>
          <a:p xmlns:a="http://schemas.openxmlformats.org/drawingml/2006/main">
            <a:r>
              <a:t>            ],</a:t>
            </a:r>
          </a:p>
          <a:p xmlns:a="http://schemas.openxmlformats.org/drawingml/2006/main">
            <a:r>
              <a:t>            "connection": "TS의 조직·업무 ID와 데이터 자산·소관 부서를 연결하고 문서 검색 권한과 카탈로그 설명의 공개 범위를 분리해 관리하는 적용 설계."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 null,</a:t>
            </a:r>
          </a:p>
          <a:p xmlns:a="http://schemas.openxmlformats.org/drawingml/2006/main">
            <a:r>
              <a:t>      "exception": {</a:t>
            </a:r>
          </a:p>
          <a:p xmlns:a="http://schemas.openxmlformats.org/drawingml/2006/main">
            <a:r>
              <a:t>        "input": "외부 계정의 내부 안건 요청·DRM 제한·단위 오류",</a:t>
            </a:r>
          </a:p>
          <a:p xmlns:a="http://schemas.openxmlformats.org/drawingml/2006/main">
            <a:r>
              <a:t>        "hold": "망·권한·산식별 독립 검증",</a:t>
            </a:r>
          </a:p>
          <a:p xmlns:a="http://schemas.openxmlformats.org/drawingml/2006/main">
            <a:r>
              <a:t>        "recovery": "데이터 품질·민감정보·답변 품질 모니터링",</a:t>
            </a:r>
          </a:p>
          <a:p xmlns:a="http://schemas.openxmlformats.org/drawingml/2006/main">
            <a:r>
              <a:t>        "evidence": "망·권한별 노출 결과와 원문·계산·카탈로그 대사"</a:t>
            </a:r>
          </a:p>
          <a:p xmlns:a="http://schemas.openxmlformats.org/drawingml/2006/main">
            <a:r>
              <a:t>      },</a:t>
            </a:r>
          </a:p>
          <a:p xmlns:a="http://schemas.openxmlformats.org/drawingml/2006/main">
            <a:r>
              <a:t>      "data": {</a:t>
            </a:r>
          </a:p>
          <a:p xmlns:a="http://schemas.openxmlformats.org/drawingml/2006/main">
            <a:r>
              <a:t>        "source": "지식·안건·카탈로그",</a:t>
            </a:r>
          </a:p>
          <a:p xmlns:a="http://schemas.openxmlformats.org/drawingml/2006/main">
            <a:r>
              <a:t>        "prepare": "안건 메타데이터·정형/비정형 데이터 카탈로그",</a:t>
            </a:r>
          </a:p>
          <a:p xmlns:a="http://schemas.openxmlformats.org/drawingml/2006/main">
            <a:r>
              <a:t>        "output": "질의·권한",</a:t>
            </a:r>
          </a:p>
          <a:p xmlns:a="http://schemas.openxmlformats.org/drawingml/2006/main">
            <a:r>
              <a:t>        "refresh": "데이터 품질·민감정보·답변 품질 모니터링"</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"PF-R08",</a:t>
            </a:r>
          </a:p>
          <a:p xmlns:a="http://schemas.openxmlformats.org/drawingml/2006/main">
            <a:r>
              <a:t>    "success": [</a:t>
            </a:r>
          </a:p>
          <a:p xmlns:a="http://schemas.openxmlformats.org/drawingml/2006/main">
            <a:r>
              <a:t>      "대국민·사내 지식 경계 분리",</a:t>
            </a:r>
          </a:p>
          <a:p xmlns:a="http://schemas.openxmlformats.org/drawingml/2006/main">
            <a:r>
              <a:t>      "카탈로그와 데이터 통제 결합"</a:t>
            </a:r>
          </a:p>
          <a:p xmlns:a="http://schemas.openxmlformats.org/drawingml/2006/main">
            <a:r>
              <a:t>    ],</a:t>
            </a:r>
          </a:p>
          <a:p xmlns:a="http://schemas.openxmlformats.org/drawingml/2006/main">
            <a:r>
              <a:t>    "risks": [</a:t>
            </a:r>
          </a:p>
          <a:p xmlns:a="http://schemas.openxmlformats.org/drawingml/2006/main">
            <a:r>
              <a:t>      "DRM·접근권한 전파 누락",</a:t>
            </a:r>
          </a:p>
          <a:p xmlns:a="http://schemas.openxmlformats.org/drawingml/2006/main">
            <a:r>
              <a:t>      "금융 산식·단위 오류"</a:t>
            </a:r>
          </a:p>
          <a:p xmlns:a="http://schemas.openxmlformats.org/drawingml/2006/main">
            <a:r>
              <a:t>    ],</a:t>
            </a:r>
          </a:p>
          <a:p xmlns:a="http://schemas.openxmlformats.org/drawingml/2006/main">
            <a:r>
              <a:t>    "architecture": [</a:t>
            </a:r>
          </a:p>
          <a:p xmlns:a="http://schemas.openxmlformats.org/drawingml/2006/main">
            <a:r>
              <a:t>      "국민·직원 접점",</a:t>
            </a:r>
          </a:p>
          <a:p xmlns:a="http://schemas.openxmlformats.org/drawingml/2006/main">
            <a:r>
              <a:t>      "검색·요약·산식 검토",</a:t>
            </a:r>
          </a:p>
          <a:p xmlns:a="http://schemas.openxmlformats.org/drawingml/2006/main">
            <a:r>
              <a:t>      "지식·안건·카탈로그",</a:t>
            </a:r>
          </a:p>
          <a:p xmlns:a="http://schemas.openxmlformats.org/drawingml/2006/main">
            <a:r>
              <a:t>      "업무 검토자"</a:t>
            </a:r>
          </a:p>
          <a:p xmlns:a="http://schemas.openxmlformats.org/drawingml/2006/main">
            <a:r>
              <a:t>    ],</a:t>
            </a:r>
          </a:p>
          <a:p xmlns:a="http://schemas.openxmlformats.org/drawingml/2006/main">
            <a:r>
              <a:t>    "transfers": [</a:t>
            </a:r>
          </a:p>
          <a:p xmlns:a="http://schemas.openxmlformats.org/drawingml/2006/main">
            <a:r>
              <a:t>      "질의·권한",</a:t>
            </a:r>
          </a:p>
          <a:p xmlns:a="http://schemas.openxmlformats.org/drawingml/2006/main">
            <a:r>
              <a:t>      "허용 근거",</a:t>
            </a:r>
          </a:p>
          <a:p xmlns:a="http://schemas.openxmlformats.org/drawingml/2006/main">
            <a:r>
              <a:t>      "요약·계산",</a:t>
            </a:r>
          </a:p>
          <a:p xmlns:a="http://schemas.openxmlformats.org/drawingml/2006/main">
            <a:r>
              <a:t>      "검토 결과"</a:t>
            </a:r>
          </a:p>
          <a:p xmlns:a="http://schemas.openxmlformats.org/drawingml/2006/main">
            <a:r>
              <a:t>    ],</a:t>
            </a:r>
          </a:p>
          <a:p xmlns:a="http://schemas.openxmlformats.org/drawingml/2006/main">
            <a:r>
              <a:t>    "control": "망·권한·산식별 독립 검증",</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SFR-001~014, DAR·CNR / Word T089 https://www.g2b.go.kr/pn/pnz/pnza/UntyAtchFile/downloadFile.do?bfSpecRegNo=R26BD00217546&amp;fileType=BFDTL&amp;fileSeq=1</a:t>
            </a:r>
          </a:p>
          <a:p xmlns:a="http://schemas.openxmlformats.org/drawingml/2006/main">
            <a:r>
              <a:t>홈페이지 https://heen1987-ops.github.io/TS-business-Plan-001/index.html?view=platform-cases&amp;case=PF-R08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"PF-R09",</a:t>
            </a:r>
          </a:p>
          <a:p xmlns:a="http://schemas.openxmlformats.org/drawingml/2006/main">
            <a:r>
              <a:t>    "sourceId": "R09",</a:t>
            </a:r>
          </a:p>
          <a:p xmlns:a="http://schemas.openxmlformats.org/drawingml/2006/main">
            <a:r>
              <a:t>    "title": "석유공사 업무 AI",</a:t>
            </a:r>
          </a:p>
          <a:p xmlns:a="http://schemas.openxmlformats.org/drawingml/2006/main">
            <a:r>
              <a:t>    "region": "국내",</a:t>
            </a:r>
          </a:p>
          <a:p xmlns:a="http://schemas.openxmlformats.org/drawingml/2006/main">
            <a:r>
              <a:t>    "owner": "한국석유공사",</a:t>
            </a:r>
          </a:p>
          <a:p xmlns:a="http://schemas.openxmlformats.org/drawingml/2006/main">
            <a:r>
              <a:t>    "state": "정정 RFP 확인 / 구축·운영 성과 미확인",</a:t>
            </a:r>
          </a:p>
          <a:p xmlns:a="http://schemas.openxmlformats.org/drawingml/2006/main">
            <a:r>
              <a:t>    "period": "기존 원장 확인 2026.10.16",</a:t>
            </a:r>
          </a:p>
          <a:p xmlns:a="http://schemas.openxmlformats.org/drawingml/2006/main">
            <a:r>
              <a:t>    "fact": "범용 챗봇 + 인사복지·안전·시추·지질·비축설비·시장보고 6과제",</a:t>
            </a:r>
          </a:p>
          <a:p xmlns:a="http://schemas.openxmlformats.org/drawingml/2006/main">
            <a:r>
              <a:t>    "limit": "별도 과제(오피넷 AICC·적정유가 등)를 이번 개발로 합산하지 않음",</a:t>
            </a:r>
          </a:p>
          <a:p xmlns:a="http://schemas.openxmlformats.org/drawingml/2006/main">
            <a:r>
              <a:t>    "nodes": [</a:t>
            </a:r>
          </a:p>
          <a:p xmlns:a="http://schemas.openxmlformats.org/drawingml/2006/main">
            <a:r>
              <a:t>      "인사·안전 등 지식",</a:t>
            </a:r>
          </a:p>
          <a:p xmlns:a="http://schemas.openxmlformats.org/drawingml/2006/main">
            <a:r>
              <a:t>      "도메인 RAG",</a:t>
            </a:r>
          </a:p>
          <a:p xmlns:a="http://schemas.openxmlformats.org/drawingml/2006/main">
            <a:r>
              <a:t>      "업무 앱·ERP",</a:t>
            </a:r>
          </a:p>
          <a:p xmlns:a="http://schemas.openxmlformats.org/drawingml/2006/main">
            <a:r>
              <a:t>      "권한·성과 관리"</a:t>
            </a:r>
          </a:p>
          <a:p xmlns:a="http://schemas.openxmlformats.org/drawingml/2006/main">
            <a:r>
              <a:t>    ],</a:t>
            </a:r>
          </a:p>
          <a:p xmlns:a="http://schemas.openxmlformats.org/drawingml/2006/main">
            <a:r>
              <a:t>    "apply": "공통 사용자·권한 기반 위에 업무 도메인별 지식과 실행 경로 구성",</a:t>
            </a:r>
          </a:p>
          <a:p xmlns:a="http://schemas.openxmlformats.org/drawingml/2006/main">
            <a:r>
              <a:t>    "delta": "TS 업무 도메인 라우터 / 사용자 역할·효력일 / 업무별 검색·원천 연계",</a:t>
            </a:r>
          </a:p>
          <a:p xmlns:a="http://schemas.openxmlformats.org/drawingml/2006/main">
            <a:r>
              <a:t>    "test": "전보·겸직·다른 도메인 질의의 라우팅·근거·접근 허용 여부 대조",</a:t>
            </a:r>
          </a:p>
          <a:p xmlns:a="http://schemas.openxmlformats.org/drawingml/2006/main">
            <a:r>
              <a:t>    "url": "https://www.g2b.go.kr/pn/pnp/pnpe/UntyAtchFile/downloadFile.do?bidPbancNo=R26BK01705928&amp;bidPbancOrd=001&amp;fileSeq=4&amp;fileType=&amp;prcmBsneSeCd=03",</a:t>
            </a:r>
          </a:p>
          <a:p xmlns:a="http://schemas.openxmlformats.org/drawingml/2006/main">
            <a:r>
              <a:t>    "urls": [</a:t>
            </a:r>
          </a:p>
          <a:p xmlns:a="http://schemas.openxmlformats.org/drawingml/2006/main">
            <a:r>
              <a:t>      "https://www.g2b.go.kr/pn/pnp/pnpe/UntyAtchFile/downloadFile.do?bidPbancNo=R26BK01705928&amp;bidPbancOrd=001&amp;fileSeq=4&amp;fileType=&amp;prcmBsneSeCd=03"</a:t>
            </a:r>
          </a:p>
          <a:p xmlns:a="http://schemas.openxmlformats.org/drawingml/2006/main">
            <a:r>
              <a:t>    ],</a:t>
            </a:r>
          </a:p>
          <a:p xmlns:a="http://schemas.openxmlformats.org/drawingml/2006/main">
            <a:r>
              <a:t>    "basis": "SER-001~004, FUR-001~006, ASR·DAR / Word T098",</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"업무 분류 정확도 / 근거 적합률 / 도메인 추가 구축 공수",</a:t>
            </a:r>
          </a:p>
          <a:p xmlns:a="http://schemas.openxmlformats.org/drawingml/2006/main">
            <a:r>
              <a:t>    "group": "요구·구축",</a:t>
            </a:r>
          </a:p>
          <a:p xmlns:a="http://schemas.openxmlformats.org/drawingml/2006/main">
            <a:r>
              <a:t>    "sourceDetail": "대화형/전용화면, 에이전트·ERP·권한·문서/정형 데이터 연계, 도메인별 RAG/보고서",</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"PF-R09",</a:t>
            </a:r>
          </a:p>
          <a:p xmlns:a="http://schemas.openxmlformats.org/drawingml/2006/main">
            <a:r>
              <a:t>    "canonicalId": "PF-R09",</a:t>
            </a:r>
          </a:p>
          <a:p xmlns:a="http://schemas.openxmlformats.org/drawingml/2006/main">
            <a:r>
              <a:t>    "purpose": "공통 플랫폼 위의 6개 업무 특화 AI",</a:t>
            </a:r>
          </a:p>
          <a:p xmlns:a="http://schemas.openxmlformats.org/drawingml/2006/main">
            <a:r>
              <a:t>    "users": "인사·안전·개발·비축·시장 담당",</a:t>
            </a:r>
          </a:p>
          <a:p xmlns:a="http://schemas.openxmlformats.org/drawingml/2006/main">
            <a:r>
              <a:t>    "scope": [</a:t>
            </a:r>
          </a:p>
          <a:p xmlns:a="http://schemas.openxmlformats.org/drawingml/2006/main">
            <a:r>
              <a:t>      "공통 챗봇",</a:t>
            </a:r>
          </a:p>
          <a:p xmlns:a="http://schemas.openxmlformats.org/drawingml/2006/main">
            <a:r>
              <a:t>      "6개 업무 앱",</a:t>
            </a:r>
          </a:p>
          <a:p xmlns:a="http://schemas.openxmlformats.org/drawingml/2006/main">
            <a:r>
              <a:t>      "ERP 연계"</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"직원 업무 앱",</a:t>
            </a:r>
          </a:p>
          <a:p xmlns:a="http://schemas.openxmlformats.org/drawingml/2006/main">
            <a:r>
              <a:t>        "detail": "사번·소속·직급·업무분장 기반 접근 판정",</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"공통 챗봇 / 6개 업무 앱 / ERP 연계",</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"도메인 RAG",</a:t>
            </a:r>
          </a:p>
          <a:p xmlns:a="http://schemas.openxmlformats.org/drawingml/2006/main">
            <a:r>
              <a:t>        "detail": "도메인 RAG·정형 조회·보고서 생성 라우팅",</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"업무·ERP 담당",</a:t>
            </a:r>
          </a:p>
          <a:p xmlns:a="http://schemas.openxmlformats.org/drawingml/2006/main">
            <a:r>
              <a:t>        "detail": "원천 링크·업무 결과를 현업에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"인사·안전·설비 지식",</a:t>
            </a:r>
          </a:p>
          <a:p xmlns:a="http://schemas.openxmlformats.org/drawingml/2006/main">
            <a:r>
              <a:t>        "detail": "시추 일보·지질·설비·규정의 도메인별 색인",</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"권한 변경 이력·도메인 평가·업무별 운영 관리",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"인사·안전 등 지식",</a:t>
            </a:r>
          </a:p>
          <a:p xmlns:a="http://schemas.openxmlformats.org/drawingml/2006/main">
            <a:r>
              <a:t>        "input": "사번·소속·직급·업무분장 기반 접근 판정",</a:t>
            </a:r>
          </a:p>
          <a:p xmlns:a="http://schemas.openxmlformats.org/drawingml/2006/main">
            <a:r>
              <a:t>        "process": "시추 일보·지질·설비·규정의 도메인별 색인",</a:t>
            </a:r>
          </a:p>
          <a:p xmlns:a="http://schemas.openxmlformats.org/drawingml/2006/main">
            <a:r>
              <a:t>        "output": "업무 목적"</a:t>
            </a:r>
          </a:p>
          <a:p xmlns:a="http://schemas.openxmlformats.org/drawingml/2006/main">
            <a:r>
              <a:t>      },</a:t>
            </a:r>
          </a:p>
          <a:p xmlns:a="http://schemas.openxmlformats.org/drawingml/2006/main">
            <a:r>
              <a:t>      {</a:t>
            </a:r>
          </a:p>
          <a:p xmlns:a="http://schemas.openxmlformats.org/drawingml/2006/main">
            <a:r>
              <a:t>        "title": "도메인 RAG",</a:t>
            </a:r>
          </a:p>
          <a:p xmlns:a="http://schemas.openxmlformats.org/drawingml/2006/main">
            <a:r>
              <a:t>        "input": "업무 목적",</a:t>
            </a:r>
          </a:p>
          <a:p xmlns:a="http://schemas.openxmlformats.org/drawingml/2006/main">
            <a:r>
              <a:t>        "process": "도메인 RAG·정형 조회·보고서 생성 라우팅",</a:t>
            </a:r>
          </a:p>
          <a:p xmlns:a="http://schemas.openxmlformats.org/drawingml/2006/main">
            <a:r>
              <a:t>        "output": "도메인 근거"</a:t>
            </a:r>
          </a:p>
          <a:p xmlns:a="http://schemas.openxmlformats.org/drawingml/2006/main">
            <a:r>
              <a:t>      },</a:t>
            </a:r>
          </a:p>
          <a:p xmlns:a="http://schemas.openxmlformats.org/drawingml/2006/main">
            <a:r>
              <a:t>      {</a:t>
            </a:r>
          </a:p>
          <a:p xmlns:a="http://schemas.openxmlformats.org/drawingml/2006/main">
            <a:r>
              <a:t>        "title": "업무 앱·ERP",</a:t>
            </a:r>
          </a:p>
          <a:p xmlns:a="http://schemas.openxmlformats.org/drawingml/2006/main">
            <a:r>
              <a:t>        "input": "도메인 근거",</a:t>
            </a:r>
          </a:p>
          <a:p xmlns:a="http://schemas.openxmlformats.org/drawingml/2006/main">
            <a:r>
              <a:t>        "process": "도메인 경계·현업 승인·결과 대사",</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"title": "권한·성과 관리",</a:t>
            </a:r>
          </a:p>
          <a:p xmlns:a="http://schemas.openxmlformats.org/drawingml/2006/main">
            <a:r>
              <a:t>        "input": "검토 초안",</a:t>
            </a:r>
          </a:p>
          <a:p xmlns:a="http://schemas.openxmlformats.org/drawingml/2006/main">
            <a:r>
              <a:t>        "process": "원천 링크·업무 결과를 현업에 제공",</a:t>
            </a:r>
          </a:p>
          <a:p xmlns:a="http://schemas.openxmlformats.org/drawingml/2006/main">
            <a:r>
              <a:t>        "output": "공식 업무 처리"</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"직원의 업무 목적을 6개 도메인 중 해당 앱으로 연결",</a:t>
            </a:r>
          </a:p>
          <a:p xmlns:a="http://schemas.openxmlformats.org/drawingml/2006/main">
            <a:r>
              <a:t>      "exception": "직급·근속 변경·다른 도메인 자료·시추 원문 누락",</a:t>
            </a:r>
          </a:p>
          <a:p xmlns:a="http://schemas.openxmlformats.org/drawingml/2006/main">
            <a:r>
              <a:t>      "evidence": "업무별 라우팅·접근 결과와 원천 인용·변경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"인사·안전·개발·비축·시장 담당",</a:t>
            </a:r>
          </a:p>
          <a:p xmlns:a="http://schemas.openxmlformats.org/drawingml/2006/main">
            <a:r>
              <a:t>          "processing": "사번·소속·직급·업무분장 기반 접근 판정",</a:t>
            </a:r>
          </a:p>
          <a:p xmlns:a="http://schemas.openxmlformats.org/drawingml/2006/main">
            <a:r>
              <a:t>          "output": "업무 목적"</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"인사·안전·설비 지식",</a:t>
            </a:r>
          </a:p>
          <a:p xmlns:a="http://schemas.openxmlformats.org/drawingml/2006/main">
            <a:r>
              <a:t>          "processing": "시추 일보·지질·설비·규정의 도메인별 색인",</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"업무 목적",</a:t>
            </a:r>
          </a:p>
          <a:p xmlns:a="http://schemas.openxmlformats.org/drawingml/2006/main">
            <a:r>
              <a:t>          "processing": "도메인 RAG·정형 조회·보고서 생성 라우팅",</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"검토 초안",</a:t>
            </a:r>
          </a:p>
          <a:p xmlns:a="http://schemas.openxmlformats.org/drawingml/2006/main">
            <a:r>
              <a:t>          "processing": "원천 링크·업무 결과를 현업에 제공",</a:t>
            </a:r>
          </a:p>
          <a:p xmlns:a="http://schemas.openxmlformats.org/drawingml/2006/main">
            <a:r>
              <a:t>          "output": "공식 업무 처리"</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"권한 변경 이력·도메인 평가·업무별 운영 관리",</a:t>
            </a:r>
          </a:p>
          <a:p xmlns:a="http://schemas.openxmlformats.org/drawingml/2006/main">
            <a:r>
              <a:t>          "output": "업무별 라우팅·접근 결과와 원천 인용·변경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"권한 변경 이력·도메인 평가·업무별 운영 관리",</a:t>
            </a:r>
          </a:p>
          <a:p xmlns:a="http://schemas.openxmlformats.org/drawingml/2006/main">
            <a:r>
              <a:t>    "status": "RFP 기반 논리 설계",</a:t>
            </a:r>
          </a:p>
          <a:p xmlns:a="http://schemas.openxmlformats.org/drawingml/2006/main">
            <a:r>
              <a:t>    "basis": "RFP 2026.09 · SER-001~004·FUR-001~006",</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"SER-001~004, FUR-001~006, ASR·DAR / Word T098",</a:t>
            </a:r>
          </a:p>
          <a:p xmlns:a="http://schemas.openxmlformats.org/drawingml/2006/main">
            <a:r>
              <a:t>        "url": "https://www.g2b.go.kr/pn/pnp/pnpe/UntyAtchFile/downloadFile.do?bidPbancNo=R26BK01705928&amp;bidPbancOrd=001&amp;fileSeq=4&amp;fileType=&amp;prcmBsneSeCd=03"</a:t>
            </a:r>
          </a:p>
          <a:p xmlns:a="http://schemas.openxmlformats.org/drawingml/2006/main">
            <a:r>
              <a:t>      }</a:t>
            </a:r>
          </a:p>
          <a:p xmlns:a="http://schemas.openxmlformats.org/drawingml/2006/main">
            <a:r>
              <a:t>    ],</a:t>
            </a:r>
          </a:p>
          <a:p xmlns:a="http://schemas.openxmlformats.org/drawingml/2006/main">
            <a:r>
              <a:t>    "implication": "공통 사용자·권한 기반 위에 업무 도메인별 지식과 실행 경로 구성",</a:t>
            </a:r>
          </a:p>
          <a:p xmlns:a="http://schemas.openxmlformats.org/drawingml/2006/main">
            <a:r>
              <a:t>    "local": "공통 사용자·권한 기반 위에 업무 도메인별 지식과 실행 경로 구성",</a:t>
            </a:r>
          </a:p>
          <a:p xmlns:a="http://schemas.openxmlformats.org/drawingml/2006/main">
            <a:r>
              <a:t>    "sourceDetail": "대화형/전용화면, 에이전트·ERP·권한·문서/정형 데이터 연계, 도메인별 RAG/보고서",</a:t>
            </a:r>
          </a:p>
          <a:p xmlns:a="http://schemas.openxmlformats.org/drawingml/2006/main">
            <a:r>
              <a:t>    "narrative": [</a:t>
            </a:r>
          </a:p>
          <a:p xmlns:a="http://schemas.openxmlformats.org/drawingml/2006/main">
            <a:r>
              <a:t>      "공통 AI 대화·전용 업무 화면 위에 인사복지, 안전관리, 시추, 지질, 비축설비, 석유시장 보고서의 6개 업무를 구성하는 사업. 전사 공통 기반과 도메인별 지식·산출물의 경계를 비교하기 적합한 사례.",</a:t>
            </a:r>
          </a:p>
          <a:p xmlns:a="http://schemas.openxmlformats.org/drawingml/2006/main">
            <a:r>
              <a:t>      "SER 요구는 공통 접점·업무 범위·권한과 응용 서비스를 정의하고, FUR-001~006은 업무별 자료와 출력 기능을 분리. 직원 사번·소속·직급·업무분장, 문서 접근조건, 정형 데이터·ERP 연계를 각 업무 처리의 문맥으로 사용하는 구조.",</a:t>
            </a:r>
          </a:p>
          <a:p xmlns:a="http://schemas.openxmlformats.org/drawingml/2006/main">
            <a:r>
              <a:t>      "TS의 1차 조직·권한·업무 분류 기반을 만든 뒤 부서별 특화 서비스를 붙이는 순서에 활용할 대상. 공통 챗봇 설치와 6개 업무의 인수 완료를 같은 실적으로 보지 않고, 업무별 데이터 원천·전문가 정답셋·실행 승인·결과 대사를 따로 관리할 필요."</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"SER-001",</a:t>
            </a:r>
          </a:p>
          <a:p xmlns:a="http://schemas.openxmlformats.org/drawingml/2006/main">
            <a:r>
              <a:t>        "title": "AI 대화형 서비스",</a:t>
            </a:r>
          </a:p>
          <a:p xmlns:a="http://schemas.openxmlformats.org/drawingml/2006/main">
            <a:r>
              <a:t>        "locator": "SER-001",</a:t>
            </a:r>
          </a:p>
          <a:p xmlns:a="http://schemas.openxmlformats.org/drawingml/2006/main">
            <a:r>
              <a:t>        "summary": "공통 AI 대화형 서비스 제공.",</a:t>
            </a:r>
          </a:p>
          <a:p xmlns:a="http://schemas.openxmlformats.org/drawingml/2006/main">
            <a:r>
              <a:t>        "data": "직원 질의·자료 → 대화 응답·근거",</a:t>
            </a:r>
          </a:p>
          <a:p xmlns:a="http://schemas.openxmlformats.org/drawingml/2006/main">
            <a:r>
              <a:t>        "components": [</a:t>
            </a:r>
          </a:p>
          <a:p xmlns:a="http://schemas.openxmlformats.org/drawingml/2006/main">
            <a:r>
              <a:t>          "C01",</a:t>
            </a:r>
          </a:p>
          <a:p xmlns:a="http://schemas.openxmlformats.org/drawingml/2006/main">
            <a:r>
              <a:t>          "C03",</a:t>
            </a:r>
          </a:p>
          <a:p xmlns:a="http://schemas.openxmlformats.org/drawingml/2006/main">
            <a:r>
              <a:t>          "C04"</a:t>
            </a:r>
          </a:p>
          <a:p xmlns:a="http://schemas.openxmlformats.org/drawingml/2006/main">
            <a:r>
              <a:t>        ],</a:t>
            </a:r>
          </a:p>
          <a:p xmlns:a="http://schemas.openxmlformats.org/drawingml/2006/main">
            <a:r>
              <a:t>        "acceptance": "문맥 유지·출처 확인·입력 범위·오류 안내의 대화 시나리오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"5c1be9c8c0ac6ecdc4d18ef05c6b02a80c9f5f082231b33b335733de34a142e2"</a:t>
            </a:r>
          </a:p>
          <a:p xmlns:a="http://schemas.openxmlformats.org/drawingml/2006/main">
            <a:r>
              <a:t>      },</a:t>
            </a:r>
          </a:p>
          <a:p xmlns:a="http://schemas.openxmlformats.org/drawingml/2006/main">
            <a:r>
              <a:t>      {</a:t>
            </a:r>
          </a:p>
          <a:p xmlns:a="http://schemas.openxmlformats.org/drawingml/2006/main">
            <a:r>
              <a:t>        "id": "SER-002",</a:t>
            </a:r>
          </a:p>
          <a:p xmlns:a="http://schemas.openxmlformats.org/drawingml/2006/main">
            <a:r>
              <a:t>        "title": "업무 특화 화면 서비스",</a:t>
            </a:r>
          </a:p>
          <a:p xmlns:a="http://schemas.openxmlformats.org/drawingml/2006/main">
            <a:r>
              <a:t>        "locator": "SER-002",</a:t>
            </a:r>
          </a:p>
          <a:p xmlns:a="http://schemas.openxmlformats.org/drawingml/2006/main">
            <a:r>
              <a:t>        "summary": "업무 특화 화면에서 필요한 입력과 결과를 제공.",</a:t>
            </a:r>
          </a:p>
          <a:p xmlns:a="http://schemas.openxmlformats.org/drawingml/2006/main">
            <a:r>
              <a:t>        "data": "업무 종류·필수 입력 → 특화 결과 화면",</a:t>
            </a:r>
          </a:p>
          <a:p xmlns:a="http://schemas.openxmlformats.org/drawingml/2006/main">
            <a:r>
              <a:t>        "components": [</a:t>
            </a:r>
          </a:p>
          <a:p xmlns:a="http://schemas.openxmlformats.org/drawingml/2006/main">
            <a:r>
              <a:t>          "C01",</a:t>
            </a:r>
          </a:p>
          <a:p xmlns:a="http://schemas.openxmlformats.org/drawingml/2006/main">
            <a:r>
              <a:t>          "C02",</a:t>
            </a:r>
          </a:p>
          <a:p xmlns:a="http://schemas.openxmlformats.org/drawingml/2006/main">
            <a:r>
              <a:t>          "C06"</a:t>
            </a:r>
          </a:p>
          <a:p xmlns:a="http://schemas.openxmlformats.org/drawingml/2006/main">
            <a:r>
              <a:t>        ],</a:t>
            </a:r>
          </a:p>
          <a:p xmlns:a="http://schemas.openxmlformats.org/drawingml/2006/main">
            <a:r>
              <a:t>        "acceptance": "업무별 필수 항목 누락·정정·결과 편집의 화면 동작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"4712f1694c7a46f76189d352fd3d252e83e6f128c095acdb1bfaf30e6453b7ea"</a:t>
            </a:r>
          </a:p>
          <a:p xmlns:a="http://schemas.openxmlformats.org/drawingml/2006/main">
            <a:r>
              <a:t>      },</a:t>
            </a:r>
          </a:p>
          <a:p xmlns:a="http://schemas.openxmlformats.org/drawingml/2006/main">
            <a:r>
              <a:t>      {</a:t>
            </a:r>
          </a:p>
          <a:p xmlns:a="http://schemas.openxmlformats.org/drawingml/2006/main">
            <a:r>
              <a:t>        "id": "SER-003",</a:t>
            </a:r>
          </a:p>
          <a:p xmlns:a="http://schemas.openxmlformats.org/drawingml/2006/main">
            <a:r>
              <a:t>        "title": "AI 응용 서비스 대상 업무",</a:t>
            </a:r>
          </a:p>
          <a:p xmlns:a="http://schemas.openxmlformats.org/drawingml/2006/main">
            <a:r>
              <a:t>        "locator": "SER-003",</a:t>
            </a:r>
          </a:p>
          <a:p xmlns:a="http://schemas.openxmlformats.org/drawingml/2006/main">
            <a:r>
              <a:t>        "summary": "AI 응용서비스 대상 업무의 범위 구성.",</a:t>
            </a:r>
          </a:p>
          <a:p xmlns:a="http://schemas.openxmlformats.org/drawingml/2006/main">
            <a:r>
              <a:t>        "data": "업무 요청·영역 → 해당 응용서비스",</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a:t>
            </a:r>
          </a:p>
          <a:p xmlns:a="http://schemas.openxmlformats.org/drawingml/2006/main">
            <a:r>
              <a:t>        "acceptance": "인사·안전·시추·지질·설비·시장 업무의 잘못된 라우팅과 복합 요청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"f63574c927275ee8519741567d3f145890d5ed0b96c61b09e00920044886df77"</a:t>
            </a:r>
          </a:p>
          <a:p xmlns:a="http://schemas.openxmlformats.org/drawingml/2006/main">
            <a:r>
              <a:t>      },</a:t>
            </a:r>
          </a:p>
          <a:p xmlns:a="http://schemas.openxmlformats.org/drawingml/2006/main">
            <a:r>
              <a:t>      {</a:t>
            </a:r>
          </a:p>
          <a:p xmlns:a="http://schemas.openxmlformats.org/drawingml/2006/main">
            <a:r>
              <a:t>        "id": "SER-004",</a:t>
            </a:r>
          </a:p>
          <a:p xmlns:a="http://schemas.openxmlformats.org/drawingml/2006/main">
            <a:r>
              <a:t>        "title": "응용 서비스 공통",</a:t>
            </a:r>
          </a:p>
          <a:p xmlns:a="http://schemas.openxmlformats.org/drawingml/2006/main">
            <a:r>
              <a:t>        "locator": "SER-004",</a:t>
            </a:r>
          </a:p>
          <a:p xmlns:a="http://schemas.openxmlformats.org/drawingml/2006/main">
            <a:r>
              <a:t>        "summary": "업무 응용서비스에 공통 적용할 기능과 운영 기준 구성.",</a:t>
            </a:r>
          </a:p>
          <a:p xmlns:a="http://schemas.openxmlformats.org/drawingml/2006/main">
            <a:r>
              <a:t>        "data": "서비스 설정·권한·이용 기록 → 공통 통제·운영 결과",</a:t>
            </a:r>
          </a:p>
          <a:p xmlns:a="http://schemas.openxmlformats.org/drawingml/2006/main">
            <a:r>
              <a:t>        "components": [</a:t>
            </a:r>
          </a:p>
          <a:p xmlns:a="http://schemas.openxmlformats.org/drawingml/2006/main">
            <a:r>
              <a:t>          "C05",</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"개별 서비스 추가 시 공통 인증·통제·운영 기록 적용의 누락 점검",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"581ef5bd7d42a38fff5a1fa79a158712f59c915a988ed9e2f16244c505dd2ce9"</a:t>
            </a:r>
          </a:p>
          <a:p xmlns:a="http://schemas.openxmlformats.org/drawingml/2006/main">
            <a:r>
              <a:t>      },</a:t>
            </a:r>
          </a:p>
          <a:p xmlns:a="http://schemas.openxmlformats.org/drawingml/2006/main">
            <a:r>
              <a:t>      {</a:t>
            </a:r>
          </a:p>
          <a:p xmlns:a="http://schemas.openxmlformats.org/drawingml/2006/main">
            <a:r>
              <a:t>        "id": "FUR-001",</a:t>
            </a:r>
          </a:p>
          <a:p xmlns:a="http://schemas.openxmlformats.org/drawingml/2006/main">
            <a:r>
              <a:t>        "title": "[일반행정] 인사·복지 AI 서비스",</a:t>
            </a:r>
          </a:p>
          <a:p xmlns:a="http://schemas.openxmlformats.org/drawingml/2006/main">
            <a:r>
              <a:t>        "locator": "FUR-001",</a:t>
            </a:r>
          </a:p>
          <a:p xmlns:a="http://schemas.openxmlformats.org/drawingml/2006/main">
            <a:r>
              <a:t>        "summary": "인사·복지 규정과 업무 지식을 활용한 직원 지원.",</a:t>
            </a:r>
          </a:p>
          <a:p xmlns:a="http://schemas.openxmlformats.org/drawingml/2006/main">
            <a:r>
              <a:t>        "data": "직원 문맥·인사복지 질의 → 적용 규정·안내",</a:t>
            </a:r>
          </a:p>
          <a:p xmlns:a="http://schemas.openxmlformats.org/drawingml/2006/main">
            <a:r>
              <a:t>        "components": [</a:t>
            </a:r>
          </a:p>
          <a:p xmlns:a="http://schemas.openxmlformats.org/drawingml/2006/main">
            <a:r>
              <a:t>          "C02",</a:t>
            </a:r>
          </a:p>
          <a:p xmlns:a="http://schemas.openxmlformats.org/drawingml/2006/main">
            <a:r>
              <a:t>          "C03",</a:t>
            </a:r>
          </a:p>
          <a:p xmlns:a="http://schemas.openxmlformats.org/drawingml/2006/main">
            <a:r>
              <a:t>          "C06"</a:t>
            </a:r>
          </a:p>
          <a:p xmlns:a="http://schemas.openxmlformats.org/drawingml/2006/main">
            <a:r>
              <a:t>        ],</a:t>
            </a:r>
          </a:p>
          <a:p xmlns:a="http://schemas.openxmlformats.org/drawingml/2006/main">
            <a:r>
              <a:t>        "acceptance": "근무 조건·시행일·예외 조항이 다른 질문의 근거 선택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"5cd185d2ca6f76c5606a274957c4915b34daac231353f6ab491b45ffb4fc8014"</a:t>
            </a:r>
          </a:p>
          <a:p xmlns:a="http://schemas.openxmlformats.org/drawingml/2006/main">
            <a:r>
              <a:t>      },</a:t>
            </a:r>
          </a:p>
          <a:p xmlns:a="http://schemas.openxmlformats.org/drawingml/2006/main">
            <a:r>
              <a:t>      {</a:t>
            </a:r>
          </a:p>
          <a:p xmlns:a="http://schemas.openxmlformats.org/drawingml/2006/main">
            <a:r>
              <a:t>        "id": "FUR-002",</a:t>
            </a:r>
          </a:p>
          <a:p xmlns:a="http://schemas.openxmlformats.org/drawingml/2006/main">
            <a:r>
              <a:t>        "title": "[안전관리] 안전관리 AI 서비스",</a:t>
            </a:r>
          </a:p>
          <a:p xmlns:a="http://schemas.openxmlformats.org/drawingml/2006/main">
            <a:r>
              <a:t>        "locator": "FUR-002",</a:t>
            </a:r>
          </a:p>
          <a:p xmlns:a="http://schemas.openxmlformats.org/drawingml/2006/main">
            <a:r>
              <a:t>        "summary": "안전 분야 자료를 활용한 업무 지원.",</a:t>
            </a:r>
          </a:p>
          <a:p xmlns:a="http://schemas.openxmlformats.org/drawingml/2006/main">
            <a:r>
              <a:t>        "data": "안전 업무 질의·자료 → 근거·검토 결과",</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"C05"</a:t>
            </a:r>
          </a:p>
          <a:p xmlns:a="http://schemas.openxmlformats.org/drawingml/2006/main">
            <a:r>
              <a:t>        ],</a:t>
            </a:r>
          </a:p>
          <a:p xmlns:a="http://schemas.openxmlformats.org/drawingml/2006/main">
            <a:r>
              <a:t>        "acceptance": "현장 조건과 적용 기준의 불일치·필수 조치 누락을 포함한 검토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"ae5ca92e3dbf8291576889d17428fe931c780d6262138c9eaa06e5f28fc0d3e6"</a:t>
            </a:r>
          </a:p>
          <a:p xmlns:a="http://schemas.openxmlformats.org/drawingml/2006/main">
            <a:r>
              <a:t>      },</a:t>
            </a:r>
          </a:p>
          <a:p xmlns:a="http://schemas.openxmlformats.org/drawingml/2006/main">
            <a:r>
              <a:t>      {</a:t>
            </a:r>
          </a:p>
          <a:p xmlns:a="http://schemas.openxmlformats.org/drawingml/2006/main">
            <a:r>
              <a:t>        "id": "FUR-003",</a:t>
            </a:r>
          </a:p>
          <a:p xmlns:a="http://schemas.openxmlformats.org/drawingml/2006/main">
            <a:r>
              <a:t>        "title": "[석유개발] 석유 시추 정보 AI 서비스",</a:t>
            </a:r>
          </a:p>
          <a:p xmlns:a="http://schemas.openxmlformats.org/drawingml/2006/main">
            <a:r>
              <a:t>        "locator": "FUR-003",</a:t>
            </a:r>
          </a:p>
          <a:p xmlns:a="http://schemas.openxmlformats.org/drawingml/2006/main">
            <a:r>
              <a:t>        "summary": "시추 분야 자료와 전문 지식의 업무 활용.",</a:t>
            </a:r>
          </a:p>
          <a:p xmlns:a="http://schemas.openxmlformats.org/drawingml/2006/main">
            <a:r>
              <a:t>        "data": "시추 질의·기술자료 → 근거·분석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"전문 용어·설비 조건·단위 오류와 출처 없는 추론의 구분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"9acd9aea17e5f3417a6f8f17f19191240f88fedb58e28130587c9b97c113c023"</a:t>
            </a:r>
          </a:p>
          <a:p xmlns:a="http://schemas.openxmlformats.org/drawingml/2006/main">
            <a:r>
              <a:t>      },</a:t>
            </a:r>
          </a:p>
          <a:p xmlns:a="http://schemas.openxmlformats.org/drawingml/2006/main">
            <a:r>
              <a:t>      {</a:t>
            </a:r>
          </a:p>
          <a:p xmlns:a="http://schemas.openxmlformats.org/drawingml/2006/main">
            <a:r>
              <a:t>        "id": "FUR-004",</a:t>
            </a:r>
          </a:p>
          <a:p xmlns:a="http://schemas.openxmlformats.org/drawingml/2006/main">
            <a:r>
              <a:t>        "title": "[석유개발] 석유 지질 정보 AI 서비스",</a:t>
            </a:r>
          </a:p>
          <a:p xmlns:a="http://schemas.openxmlformats.org/drawingml/2006/main">
            <a:r>
              <a:t>        "locator": "FUR-004",</a:t>
            </a:r>
          </a:p>
          <a:p xmlns:a="http://schemas.openxmlformats.org/drawingml/2006/main">
            <a:r>
              <a:t>        "summary": "지질 자료와 분석 업무의 AI 지원.",</a:t>
            </a:r>
          </a:p>
          <a:p xmlns:a="http://schemas.openxmlformats.org/drawingml/2006/main">
            <a:r>
              <a:t>        "data": "지질 질의·연구 자료 → 탐색·분석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"서로 다른 지역·시기 자료의 혼용과 전문 수치·그림 근거 연결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"0c138c01d2c00b386c64812738ceda4a9d3dfa79e5c1ec90b1d8ca4f758908d5"</a:t>
            </a:r>
          </a:p>
          <a:p xmlns:a="http://schemas.openxmlformats.org/drawingml/2006/main">
            <a:r>
              <a:t>      },</a:t>
            </a:r>
          </a:p>
          <a:p xmlns:a="http://schemas.openxmlformats.org/drawingml/2006/main">
            <a:r>
              <a:t>      {</a:t>
            </a:r>
          </a:p>
          <a:p xmlns:a="http://schemas.openxmlformats.org/drawingml/2006/main">
            <a:r>
              <a:t>        "id": "FUR-005",</a:t>
            </a:r>
          </a:p>
          <a:p xmlns:a="http://schemas.openxmlformats.org/drawingml/2006/main">
            <a:r>
              <a:t>        "title": "[석유비축] 비축설비 정비·운영 AI 서비스",</a:t>
            </a:r>
          </a:p>
          <a:p xmlns:a="http://schemas.openxmlformats.org/drawingml/2006/main">
            <a:r>
              <a:t>        "locator": "FUR-005",</a:t>
            </a:r>
          </a:p>
          <a:p xmlns:a="http://schemas.openxmlformats.org/drawingml/2006/main">
            <a:r>
              <a:t>        "summary": "비축설비 관련 자료의 검색·업무 지원.",</a:t>
            </a:r>
          </a:p>
          <a:p xmlns:a="http://schemas.openxmlformats.org/drawingml/2006/main">
            <a:r>
              <a:t>        "data": "설비 식별·정비 자료 → 관련 근거·지원 결과",</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"설비 번호·점검 시점·부품 조건이 다른 자료의 구분과 최신 이력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"4d18cc59bfa5560530dcceb2188516ebb10c10fe8e05807a6f1c8d14188bdec8"</a:t>
            </a:r>
          </a:p>
          <a:p xmlns:a="http://schemas.openxmlformats.org/drawingml/2006/main">
            <a:r>
              <a:t>      },</a:t>
            </a:r>
          </a:p>
          <a:p xmlns:a="http://schemas.openxmlformats.org/drawingml/2006/main">
            <a:r>
              <a:t>      {</a:t>
            </a:r>
          </a:p>
          <a:p xmlns:a="http://schemas.openxmlformats.org/drawingml/2006/main">
            <a:r>
              <a:t>        "id": "FUR-006",</a:t>
            </a:r>
          </a:p>
          <a:p xmlns:a="http://schemas.openxmlformats.org/drawingml/2006/main">
            <a:r>
              <a:t>        "title": "[석유정보] 석유시장 보고서 작성 AI 서비스",</a:t>
            </a:r>
          </a:p>
          <a:p xmlns:a="http://schemas.openxmlformats.org/drawingml/2006/main">
            <a:r>
              <a:t>        "locator": "FUR-006",</a:t>
            </a:r>
          </a:p>
          <a:p xmlns:a="http://schemas.openxmlformats.org/drawingml/2006/main">
            <a:r>
              <a:t>        "summary": "시장 자료를 활용한 보고서 작성 지원.",</a:t>
            </a:r>
          </a:p>
          <a:p xmlns:a="http://schemas.openxmlformats.org/drawingml/2006/main">
            <a:r>
              <a:t>        "data": "시장 자료·기준일 → 근거가 연결된 보고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"기준일·통화·단위 혼용, 숫자 인용, 최신 자료 누락의 항목별 점검",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"1a1e671fc8f1cfe4dc05c83144eb257e226afeea8a0f7096652aeec596b82a80"</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"직원·업무 앱",</a:t>
            </a:r>
          </a:p>
          <a:p xmlns:a="http://schemas.openxmlformats.org/drawingml/2006/main">
            <a:r>
              <a:t>          "layer": "이용 접점",</a:t>
            </a:r>
          </a:p>
          <a:p xmlns:a="http://schemas.openxmlformats.org/drawingml/2006/main">
            <a:r>
              <a:t>          "detail": "인사·안전·개발·비축·시장 담당",</a:t>
            </a:r>
          </a:p>
          <a:p xmlns:a="http://schemas.openxmlformats.org/drawingml/2006/main">
            <a:r>
              <a:t>          "requirements": [</a:t>
            </a:r>
          </a:p>
          <a:p xmlns:a="http://schemas.openxmlformats.org/drawingml/2006/main">
            <a:r>
              <a:t>            "SER-001",</a:t>
            </a:r>
          </a:p>
          <a:p xmlns:a="http://schemas.openxmlformats.org/drawingml/2006/main">
            <a:r>
              <a:t>            "SER-002"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"사번·소속·업무",</a:t>
            </a:r>
          </a:p>
          <a:p xmlns:a="http://schemas.openxmlformats.org/drawingml/2006/main">
            <a:r>
              <a:t>          "layer": "업무 문맥",</a:t>
            </a:r>
          </a:p>
          <a:p xmlns:a="http://schemas.openxmlformats.org/drawingml/2006/main">
            <a:r>
              <a:t>          "detail": "사번·소속·직급·업무분장 기반 접근 판정",</a:t>
            </a:r>
          </a:p>
          <a:p xmlns:a="http://schemas.openxmlformats.org/drawingml/2006/main">
            <a:r>
              <a:t>          "requirements": [</a:t>
            </a:r>
          </a:p>
          <a:p xmlns:a="http://schemas.openxmlformats.org/drawingml/2006/main">
            <a:r>
              <a:t>            "SER-002",</a:t>
            </a:r>
          </a:p>
          <a:p xmlns:a="http://schemas.openxmlformats.org/drawingml/2006/main">
            <a:r>
              <a:t>            "SER-003",</a:t>
            </a:r>
          </a:p>
          <a:p xmlns:a="http://schemas.openxmlformats.org/drawingml/2006/main">
            <a:r>
              <a:t>            "FUR-001"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"도메인 지식 조회",</a:t>
            </a:r>
          </a:p>
          <a:p xmlns:a="http://schemas.openxmlformats.org/drawingml/2006/main">
            <a:r>
              <a:t>          "layer": "자료 조회",</a:t>
            </a:r>
          </a:p>
          <a:p xmlns:a="http://schemas.openxmlformats.org/drawingml/2006/main">
            <a:r>
              <a:t>          "detail": "업무 목적",</a:t>
            </a:r>
          </a:p>
          <a:p xmlns:a="http://schemas.openxmlformats.org/drawingml/2006/main">
            <a:r>
              <a:t>          "requirements": [</a:t>
            </a:r>
          </a:p>
          <a:p xmlns:a="http://schemas.openxmlformats.org/drawingml/2006/main">
            <a:r>
              <a:t>            "SER-001",</a:t>
            </a:r>
          </a:p>
          <a:p xmlns:a="http://schemas.openxmlformats.org/drawingml/2006/main">
            <a:r>
              <a:t>            "FUR-001",</a:t>
            </a:r>
          </a:p>
          <a:p xmlns:a="http://schemas.openxmlformats.org/drawingml/2006/main">
            <a:r>
              <a:t>            "FUR-002",</a:t>
            </a:r>
          </a:p>
          <a:p xmlns:a="http://schemas.openxmlformats.org/drawingml/2006/main">
            <a:r>
              <a:t>            "FUR-003",</a:t>
            </a:r>
          </a:p>
          <a:p xmlns:a="http://schemas.openxmlformats.org/drawingml/2006/main">
            <a:r>
              <a:t>            "FUR-004",</a:t>
            </a:r>
          </a:p>
          <a:p xmlns:a="http://schemas.openxmlformats.org/drawingml/2006/main">
            <a:r>
              <a:t>            "FUR-005",</a:t>
            </a:r>
          </a:p>
          <a:p xmlns:a="http://schemas.openxmlformats.org/drawingml/2006/main">
            <a:r>
              <a:t>            "FUR-006"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"6개 특화 AI 처리",</a:t>
            </a:r>
          </a:p>
          <a:p xmlns:a="http://schemas.openxmlformats.org/drawingml/2006/main">
            <a:r>
              <a:t>          "layer": "핵심 처리",</a:t>
            </a:r>
          </a:p>
          <a:p xmlns:a="http://schemas.openxmlformats.org/drawingml/2006/main">
            <a:r>
              <a:t>          "detail": "도메인 RAG·정형 조회·보고서 생성 라우팅",</a:t>
            </a:r>
          </a:p>
          <a:p xmlns:a="http://schemas.openxmlformats.org/drawingml/2006/main">
            <a:r>
              <a:t>          "requirements": [</a:t>
            </a:r>
          </a:p>
          <a:p xmlns:a="http://schemas.openxmlformats.org/drawingml/2006/main">
            <a:r>
              <a:t>            "SER-001",</a:t>
            </a:r>
          </a:p>
          <a:p xmlns:a="http://schemas.openxmlformats.org/drawingml/2006/main">
            <a:r>
              <a:t>            "SER-003",</a:t>
            </a:r>
          </a:p>
          <a:p xmlns:a="http://schemas.openxmlformats.org/drawingml/2006/main">
            <a:r>
              <a:t>            "FUR-002",</a:t>
            </a:r>
          </a:p>
          <a:p xmlns:a="http://schemas.openxmlformats.org/drawingml/2006/main">
            <a:r>
              <a:t>            "FUR-003",</a:t>
            </a:r>
          </a:p>
          <a:p xmlns:a="http://schemas.openxmlformats.org/drawingml/2006/main">
            <a:r>
              <a:t>            "FUR-004",</a:t>
            </a:r>
          </a:p>
          <a:p xmlns:a="http://schemas.openxmlformats.org/drawingml/2006/main">
            <a:r>
              <a:t>            "FUR-005",</a:t>
            </a:r>
          </a:p>
          <a:p xmlns:a="http://schemas.openxmlformats.org/drawingml/2006/main">
            <a:r>
              <a:t>            "FUR-006"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"권한·근거 대조",</a:t>
            </a:r>
          </a:p>
          <a:p xmlns:a="http://schemas.openxmlformats.org/drawingml/2006/main">
            <a:r>
              <a:t>          "layer": "결과 검증",</a:t>
            </a:r>
          </a:p>
          <a:p xmlns:a="http://schemas.openxmlformats.org/drawingml/2006/main">
            <a:r>
              <a:t>          "detail": "도메인 경계·현업 승인·결과 대사",</a:t>
            </a:r>
          </a:p>
          <a:p xmlns:a="http://schemas.openxmlformats.org/drawingml/2006/main">
            <a:r>
              <a:t>          "requirements": [</a:t>
            </a:r>
          </a:p>
          <a:p xmlns:a="http://schemas.openxmlformats.org/drawingml/2006/main">
            <a:r>
              <a:t>            "SER-004",</a:t>
            </a:r>
          </a:p>
          <a:p xmlns:a="http://schemas.openxmlformats.org/drawingml/2006/main">
            <a:r>
              <a:t>            "FUR-002"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"현업 승인",</a:t>
            </a:r>
          </a:p>
          <a:p xmlns:a="http://schemas.openxmlformats.org/drawingml/2006/main">
            <a:r>
              <a:t>          "layer": "사람 확인",</a:t>
            </a:r>
          </a:p>
          <a:p xmlns:a="http://schemas.openxmlformats.org/drawingml/2006/main">
            <a:r>
              <a:t>          "detail": "직원의 업무 목적을 6개 도메인 중 해당 앱으로 연결",</a:t>
            </a:r>
          </a:p>
          <a:p xmlns:a="http://schemas.openxmlformats.org/drawingml/2006/main">
            <a:r>
              <a:t>          "requirements": [</a:t>
            </a:r>
          </a:p>
          <a:p xmlns:a="http://schemas.openxmlformats.org/drawingml/2006/main">
            <a:r>
              <a:t>            "SER-002",</a:t>
            </a:r>
          </a:p>
          <a:p xmlns:a="http://schemas.openxmlformats.org/drawingml/2006/main">
            <a:r>
              <a:t>            "FUR-001",</a:t>
            </a:r>
          </a:p>
          <a:p xmlns:a="http://schemas.openxmlformats.org/drawingml/2006/main">
            <a:r>
              <a:t>            "FUR-003",</a:t>
            </a:r>
          </a:p>
          <a:p xmlns:a="http://schemas.openxmlformats.org/drawingml/2006/main">
            <a:r>
              <a:t>            "FUR-004",</a:t>
            </a:r>
          </a:p>
          <a:p xmlns:a="http://schemas.openxmlformats.org/drawingml/2006/main">
            <a:r>
              <a:t>            "FUR-005",</a:t>
            </a:r>
          </a:p>
          <a:p xmlns:a="http://schemas.openxmlformats.org/drawingml/2006/main">
            <a:r>
              <a:t>            "FUR-006"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"ERP·보고서 연계",</a:t>
            </a:r>
          </a:p>
          <a:p xmlns:a="http://schemas.openxmlformats.org/drawingml/2006/main">
            <a:r>
              <a:t>          "layer": "업무 연결",</a:t>
            </a:r>
          </a:p>
          <a:p xmlns:a="http://schemas.openxmlformats.org/drawingml/2006/main">
            <a:r>
              <a:t>          "detail": "원천 링크·업무 결과를 현업에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"도메인별 평가",</a:t>
            </a:r>
          </a:p>
          <a:p xmlns:a="http://schemas.openxmlformats.org/drawingml/2006/main">
            <a:r>
              <a:t>          "layer": "운영 관측",</a:t>
            </a:r>
          </a:p>
          <a:p xmlns:a="http://schemas.openxmlformats.org/drawingml/2006/main">
            <a:r>
              <a:t>          "detail": "권한 변경 이력·도메인 평가·업무별 운영 관리",</a:t>
            </a:r>
          </a:p>
          <a:p xmlns:a="http://schemas.openxmlformats.org/drawingml/2006/main">
            <a:r>
              <a:t>          "requirements": [</a:t>
            </a:r>
          </a:p>
          <a:p xmlns:a="http://schemas.openxmlformats.org/drawingml/2006/main">
            <a:r>
              <a:t>            "SER-004"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"시추·설비·규정",</a:t>
            </a:r>
          </a:p>
          <a:p xmlns:a="http://schemas.openxmlformats.org/drawingml/2006/main">
            <a:r>
              <a:t>          "layer": "데이터 원천",</a:t>
            </a:r>
          </a:p>
          <a:p xmlns:a="http://schemas.openxmlformats.org/drawingml/2006/main">
            <a:r>
              <a:t>          "detail": "인사·안전·설비 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"업무별 자료 정합화",</a:t>
            </a:r>
          </a:p>
          <a:p xmlns:a="http://schemas.openxmlformats.org/drawingml/2006/main">
            <a:r>
              <a:t>          "layer": "준비·갱신",</a:t>
            </a:r>
          </a:p>
          <a:p xmlns:a="http://schemas.openxmlformats.org/drawingml/2006/main">
            <a:r>
              <a:t>          "detail": "시추 일보·지질·설비·규정의 도메인별 색인",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"도메인 RAG 색인",</a:t>
            </a:r>
          </a:p>
          <a:p xmlns:a="http://schemas.openxmlformats.org/drawingml/2006/main">
            <a:r>
              <a:t>          "layer": "상태·지식 저장",</a:t>
            </a:r>
          </a:p>
          <a:p xmlns:a="http://schemas.openxmlformats.org/drawingml/2006/main">
            <a:r>
              <a:t>          "detail": "업무별 라우팅·접근 결과와 원천 인용·변경 이력",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"문서·ERP 권한",</a:t>
            </a:r>
          </a:p>
          <a:p xmlns:a="http://schemas.openxmlformats.org/drawingml/2006/main">
            <a:r>
              <a:t>          "layer": "권한·정책",</a:t>
            </a:r>
          </a:p>
          <a:p xmlns:a="http://schemas.openxmlformats.org/drawingml/2006/main">
            <a:r>
              <a:t>          "detail": "직급·근속 변경·다른 도메인 자료·시추 원문 누락",</a:t>
            </a:r>
          </a:p>
          <a:p xmlns:a="http://schemas.openxmlformats.org/drawingml/2006/main">
            <a:r>
              <a:t>          "requirements": [</a:t>
            </a:r>
          </a:p>
          <a:p xmlns:a="http://schemas.openxmlformats.org/drawingml/2006/main">
            <a:r>
              <a:t>            "SER-004"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"사번·소속·직급·업무분장 기반 접근 판정",</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"업무 목적",</a:t>
            </a:r>
          </a:p>
          <a:p xmlns:a="http://schemas.openxmlformats.org/drawingml/2006/main">
            <a:r>
              <a:t>          "check": "도메인 경계·현업 승인·결과 대사"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"도메인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"검토 초안",</a:t>
            </a:r>
          </a:p>
          <a:p xmlns:a="http://schemas.openxmlformats.org/drawingml/2006/main">
            <a:r>
              <a:t>          "check": "직급·근속 변경·다른 도메인 자료·시추 원문 누락"</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"검토 초안",</a:t>
            </a:r>
          </a:p>
          <a:p xmlns:a="http://schemas.openxmlformats.org/drawingml/2006/main">
            <a:r>
              <a:t>          "check": "원천 링크·업무 결과를 현업에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"공식 업무 처리",</a:t>
            </a:r>
          </a:p>
          <a:p xmlns:a="http://schemas.openxmlformats.org/drawingml/2006/main">
            <a:r>
              <a:t>          "check": "업무별 라우팅·접근 결과와 원천 인용·변경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"SER-001~004·FUR-001~006",</a:t>
            </a:r>
          </a:p>
          <a:p xmlns:a="http://schemas.openxmlformats.org/drawingml/2006/main">
            <a:r>
              <a:t>        "extracted": "사번·소속·직급·업무분장, 문서별 권한, 6개 특화업무",</a:t>
            </a:r>
          </a:p>
          <a:p xmlns:a="http://schemas.openxmlformats.org/drawingml/2006/main">
            <a:r>
              <a:t>        "extension": "ERP 조회·실행 권한 분리 및 특화업무별 인수셋"</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"직급·근속 변경·다른 도메인 자료·시추 원문 누락",</a:t>
            </a:r>
          </a:p>
          <a:p xmlns:a="http://schemas.openxmlformats.org/drawingml/2006/main">
            <a:r>
              <a:t>        "hold": "도메인 경계·현업 승인·결과 대사",</a:t>
            </a:r>
          </a:p>
          <a:p xmlns:a="http://schemas.openxmlformats.org/drawingml/2006/main">
            <a:r>
              <a:t>        "recovery": "권한 변경 이력·도메인 평가·업무별 운영 관리",</a:t>
            </a:r>
          </a:p>
          <a:p xmlns:a="http://schemas.openxmlformats.org/drawingml/2006/main">
            <a:r>
              <a:t>        "evidence": "업무별 라우팅·접근 결과와 원천 인용·변경 이력"</a:t>
            </a:r>
          </a:p>
          <a:p xmlns:a="http://schemas.openxmlformats.org/drawingml/2006/main">
            <a:r>
              <a:t>      },</a:t>
            </a:r>
          </a:p>
          <a:p xmlns:a="http://schemas.openxmlformats.org/drawingml/2006/main">
            <a:r>
              <a:t>      "data": {</a:t>
            </a:r>
          </a:p>
          <a:p xmlns:a="http://schemas.openxmlformats.org/drawingml/2006/main">
            <a:r>
              <a:t>        "source": "인사·안전·설비 지식",</a:t>
            </a:r>
          </a:p>
          <a:p xmlns:a="http://schemas.openxmlformats.org/drawingml/2006/main">
            <a:r>
              <a:t>        "prepare": "시추 일보·지질·설비·규정의 도메인별 색인",</a:t>
            </a:r>
          </a:p>
          <a:p xmlns:a="http://schemas.openxmlformats.org/drawingml/2006/main">
            <a:r>
              <a:t>        "output": "업무 목적",</a:t>
            </a:r>
          </a:p>
          <a:p xmlns:a="http://schemas.openxmlformats.org/drawingml/2006/main">
            <a:r>
              <a:t>        "refresh": "권한 변경 이력·도메인 평가·업무별 운영 관리"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"PF-R09",</a:t>
            </a:r>
          </a:p>
          <a:p xmlns:a="http://schemas.openxmlformats.org/drawingml/2006/main">
            <a:r>
              <a:t>    "success": [</a:t>
            </a:r>
          </a:p>
          <a:p xmlns:a="http://schemas.openxmlformats.org/drawingml/2006/main">
            <a:r>
              <a:t>      "공통 챗봇과 6개 도메인 분리",</a:t>
            </a:r>
          </a:p>
          <a:p xmlns:a="http://schemas.openxmlformats.org/drawingml/2006/main">
            <a:r>
              <a:t>      "업무 지식·ERP 경로의 결합"</a:t>
            </a:r>
          </a:p>
          <a:p xmlns:a="http://schemas.openxmlformats.org/drawingml/2006/main">
            <a:r>
              <a:t>    ],</a:t>
            </a:r>
          </a:p>
          <a:p xmlns:a="http://schemas.openxmlformats.org/drawingml/2006/main">
            <a:r>
              <a:t>    "risks": [</a:t>
            </a:r>
          </a:p>
          <a:p xmlns:a="http://schemas.openxmlformats.org/drawingml/2006/main">
            <a:r>
              <a:t>      "도메인 지식의 혼합",</a:t>
            </a:r>
          </a:p>
          <a:p xmlns:a="http://schemas.openxmlformats.org/drawingml/2006/main">
            <a:r>
              <a:t>      "안전·시추 권고를 자동 실행"</a:t>
            </a:r>
          </a:p>
          <a:p xmlns:a="http://schemas.openxmlformats.org/drawingml/2006/main">
            <a:r>
              <a:t>    ],</a:t>
            </a:r>
          </a:p>
          <a:p xmlns:a="http://schemas.openxmlformats.org/drawingml/2006/main">
            <a:r>
              <a:t>    "architecture": [</a:t>
            </a:r>
          </a:p>
          <a:p xmlns:a="http://schemas.openxmlformats.org/drawingml/2006/main">
            <a:r>
              <a:t>      "직원 업무 앱",</a:t>
            </a:r>
          </a:p>
          <a:p xmlns:a="http://schemas.openxmlformats.org/drawingml/2006/main">
            <a:r>
              <a:t>      "도메인 RAG",</a:t>
            </a:r>
          </a:p>
          <a:p xmlns:a="http://schemas.openxmlformats.org/drawingml/2006/main">
            <a:r>
              <a:t>      "인사·안전·설비 지식",</a:t>
            </a:r>
          </a:p>
          <a:p xmlns:a="http://schemas.openxmlformats.org/drawingml/2006/main">
            <a:r>
              <a:t>      "업무·ERP 담당"</a:t>
            </a:r>
          </a:p>
          <a:p xmlns:a="http://schemas.openxmlformats.org/drawingml/2006/main">
            <a:r>
              <a:t>    ],</a:t>
            </a:r>
          </a:p>
          <a:p xmlns:a="http://schemas.openxmlformats.org/drawingml/2006/main">
            <a:r>
              <a:t>    "transfers": [</a:t>
            </a:r>
          </a:p>
          <a:p xmlns:a="http://schemas.openxmlformats.org/drawingml/2006/main">
            <a:r>
              <a:t>      "업무 목적",</a:t>
            </a:r>
          </a:p>
          <a:p xmlns:a="http://schemas.openxmlformats.org/drawingml/2006/main">
            <a:r>
              <a:t>      "도메인 근거",</a:t>
            </a:r>
          </a:p>
          <a:p xmlns:a="http://schemas.openxmlformats.org/drawingml/2006/main">
            <a:r>
              <a:t>      "검토 초안",</a:t>
            </a:r>
          </a:p>
          <a:p xmlns:a="http://schemas.openxmlformats.org/drawingml/2006/main">
            <a:r>
              <a:t>      "공식 업무 처리"</a:t>
            </a:r>
          </a:p>
          <a:p xmlns:a="http://schemas.openxmlformats.org/drawingml/2006/main">
            <a:r>
              <a:t>    ],</a:t>
            </a:r>
          </a:p>
          <a:p xmlns:a="http://schemas.openxmlformats.org/drawingml/2006/main">
            <a:r>
              <a:t>    "control": "도메인 경계·현업 승인·결과 대사",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SER-001~004, FUR-001~006, ASR·DAR / Word T098 https://www.g2b.go.kr/pn/pnp/pnpe/UntyAtchFile/downloadFile.do?bidPbancNo=R26BK01705928&amp;bidPbancOrd=001&amp;fileSeq=4&amp;fileType=&amp;prcmBsneSeCd=03</a:t>
            </a:r>
          </a:p>
          <a:p xmlns:a="http://schemas.openxmlformats.org/drawingml/2006/main">
            <a:r>
              <a:t>홈페이지 https://heen1987-ops.github.io/TS-business-Plan-001/index.html?view=platform-cases&amp;case=PF-R09</a:t>
            </a:r>
          </a:p>
          <a:p xmlns:a="http://schemas.openxmlformats.org/drawingml/2006/main">
            <a:r>
              <a:t>한계: 별도 과제(오피넷 AICC·적정유가 등)를 이번 개발로 합산하지 않음</a:t>
            </a:r>
          </a:p>
          <a:p xmlns:a="http://schemas.openxmlformats.org/drawingml/2006/main">
            <a:r>
              <a:t>실패 위험: 도메인 지식의 혼합 / 안전·시추 권고를 자동 실행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"PF-R09",</a:t>
            </a:r>
          </a:p>
          <a:p xmlns:a="http://schemas.openxmlformats.org/drawingml/2006/main">
            <a:r>
              <a:t>    "sourceId": "R09",</a:t>
            </a:r>
          </a:p>
          <a:p xmlns:a="http://schemas.openxmlformats.org/drawingml/2006/main">
            <a:r>
              <a:t>    "title": "석유공사 업무 AI",</a:t>
            </a:r>
          </a:p>
          <a:p xmlns:a="http://schemas.openxmlformats.org/drawingml/2006/main">
            <a:r>
              <a:t>    "region": "국내",</a:t>
            </a:r>
          </a:p>
          <a:p xmlns:a="http://schemas.openxmlformats.org/drawingml/2006/main">
            <a:r>
              <a:t>    "owner": "한국석유공사",</a:t>
            </a:r>
          </a:p>
          <a:p xmlns:a="http://schemas.openxmlformats.org/drawingml/2006/main">
            <a:r>
              <a:t>    "state": "정정 RFP 확인 / 구축·운영 성과 미확인",</a:t>
            </a:r>
          </a:p>
          <a:p xmlns:a="http://schemas.openxmlformats.org/drawingml/2006/main">
            <a:r>
              <a:t>    "period": "기존 원장 확인 2026.10.16",</a:t>
            </a:r>
          </a:p>
          <a:p xmlns:a="http://schemas.openxmlformats.org/drawingml/2006/main">
            <a:r>
              <a:t>    "fact": "범용 챗봇 + 인사복지·안전·시추·지질·비축설비·시장보고 6과제",</a:t>
            </a:r>
          </a:p>
          <a:p xmlns:a="http://schemas.openxmlformats.org/drawingml/2006/main">
            <a:r>
              <a:t>    "limit": "별도 과제(오피넷 AICC·적정유가 등)를 이번 개발로 합산하지 않음",</a:t>
            </a:r>
          </a:p>
          <a:p xmlns:a="http://schemas.openxmlformats.org/drawingml/2006/main">
            <a:r>
              <a:t>    "nodes": [</a:t>
            </a:r>
          </a:p>
          <a:p xmlns:a="http://schemas.openxmlformats.org/drawingml/2006/main">
            <a:r>
              <a:t>      "인사·안전 등 지식",</a:t>
            </a:r>
          </a:p>
          <a:p xmlns:a="http://schemas.openxmlformats.org/drawingml/2006/main">
            <a:r>
              <a:t>      "도메인 RAG",</a:t>
            </a:r>
          </a:p>
          <a:p xmlns:a="http://schemas.openxmlformats.org/drawingml/2006/main">
            <a:r>
              <a:t>      "업무 앱·ERP",</a:t>
            </a:r>
          </a:p>
          <a:p xmlns:a="http://schemas.openxmlformats.org/drawingml/2006/main">
            <a:r>
              <a:t>      "권한·성과 관리"</a:t>
            </a:r>
          </a:p>
          <a:p xmlns:a="http://schemas.openxmlformats.org/drawingml/2006/main">
            <a:r>
              <a:t>    ],</a:t>
            </a:r>
          </a:p>
          <a:p xmlns:a="http://schemas.openxmlformats.org/drawingml/2006/main">
            <a:r>
              <a:t>    "apply": "공통 사용자·권한 기반 위에 업무 도메인별 지식과 실행 경로 구성",</a:t>
            </a:r>
          </a:p>
          <a:p xmlns:a="http://schemas.openxmlformats.org/drawingml/2006/main">
            <a:r>
              <a:t>    "delta": "TS 업무 도메인 라우터 / 사용자 역할·효력일 / 업무별 검색·원천 연계",</a:t>
            </a:r>
          </a:p>
          <a:p xmlns:a="http://schemas.openxmlformats.org/drawingml/2006/main">
            <a:r>
              <a:t>    "test": "전보·겸직·다른 도메인 질의의 라우팅·근거·접근 허용 여부 대조",</a:t>
            </a:r>
          </a:p>
          <a:p xmlns:a="http://schemas.openxmlformats.org/drawingml/2006/main">
            <a:r>
              <a:t>    "url": "https://www.g2b.go.kr/pn/pnp/pnpe/UntyAtchFile/downloadFile.do?bidPbancNo=R26BK01705928&amp;bidPbancOrd=001&amp;fileSeq=4&amp;fileType=&amp;prcmBsneSeCd=03",</a:t>
            </a:r>
          </a:p>
          <a:p xmlns:a="http://schemas.openxmlformats.org/drawingml/2006/main">
            <a:r>
              <a:t>    "urls": [</a:t>
            </a:r>
          </a:p>
          <a:p xmlns:a="http://schemas.openxmlformats.org/drawingml/2006/main">
            <a:r>
              <a:t>      "https://www.g2b.go.kr/pn/pnp/pnpe/UntyAtchFile/downloadFile.do?bidPbancNo=R26BK01705928&amp;bidPbancOrd=001&amp;fileSeq=4&amp;fileType=&amp;prcmBsneSeCd=03"</a:t>
            </a:r>
          </a:p>
          <a:p xmlns:a="http://schemas.openxmlformats.org/drawingml/2006/main">
            <a:r>
              <a:t>    ],</a:t>
            </a:r>
          </a:p>
          <a:p xmlns:a="http://schemas.openxmlformats.org/drawingml/2006/main">
            <a:r>
              <a:t>    "basis": "SER-001~004, FUR-001~006, ASR·DAR / Word T098",</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"업무 분류 정확도 / 근거 적합률 / 도메인 추가 구축 공수",</a:t>
            </a:r>
          </a:p>
          <a:p xmlns:a="http://schemas.openxmlformats.org/drawingml/2006/main">
            <a:r>
              <a:t>    "group": "요구·구축",</a:t>
            </a:r>
          </a:p>
          <a:p xmlns:a="http://schemas.openxmlformats.org/drawingml/2006/main">
            <a:r>
              <a:t>    "sourceDetail": "대화형/전용화면, 에이전트·ERP·권한·문서/정형 데이터 연계, 도메인별 RAG/보고서",</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"PF-R09",</a:t>
            </a:r>
          </a:p>
          <a:p xmlns:a="http://schemas.openxmlformats.org/drawingml/2006/main">
            <a:r>
              <a:t>    "canonicalId": "PF-R09",</a:t>
            </a:r>
          </a:p>
          <a:p xmlns:a="http://schemas.openxmlformats.org/drawingml/2006/main">
            <a:r>
              <a:t>    "purpose": "공통 플랫폼 위의 6개 업무 특화 AI",</a:t>
            </a:r>
          </a:p>
          <a:p xmlns:a="http://schemas.openxmlformats.org/drawingml/2006/main">
            <a:r>
              <a:t>    "users": "인사·안전·개발·비축·시장 담당",</a:t>
            </a:r>
          </a:p>
          <a:p xmlns:a="http://schemas.openxmlformats.org/drawingml/2006/main">
            <a:r>
              <a:t>    "scope": [</a:t>
            </a:r>
          </a:p>
          <a:p xmlns:a="http://schemas.openxmlformats.org/drawingml/2006/main">
            <a:r>
              <a:t>      "공통 챗봇",</a:t>
            </a:r>
          </a:p>
          <a:p xmlns:a="http://schemas.openxmlformats.org/drawingml/2006/main">
            <a:r>
              <a:t>      "6개 업무 앱",</a:t>
            </a:r>
          </a:p>
          <a:p xmlns:a="http://schemas.openxmlformats.org/drawingml/2006/main">
            <a:r>
              <a:t>      "ERP 연계"</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"직원 업무 앱",</a:t>
            </a:r>
          </a:p>
          <a:p xmlns:a="http://schemas.openxmlformats.org/drawingml/2006/main">
            <a:r>
              <a:t>        "detail": "사번·소속·직급·업무분장 기반 접근 판정",</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"공통 챗봇 / 6개 업무 앱 / ERP 연계",</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"도메인 RAG",</a:t>
            </a:r>
          </a:p>
          <a:p xmlns:a="http://schemas.openxmlformats.org/drawingml/2006/main">
            <a:r>
              <a:t>        "detail": "도메인 RAG·정형 조회·보고서 생성 라우팅",</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"업무·ERP 담당",</a:t>
            </a:r>
          </a:p>
          <a:p xmlns:a="http://schemas.openxmlformats.org/drawingml/2006/main">
            <a:r>
              <a:t>        "detail": "원천 링크·업무 결과를 현업에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"인사·안전·설비 지식",</a:t>
            </a:r>
          </a:p>
          <a:p xmlns:a="http://schemas.openxmlformats.org/drawingml/2006/main">
            <a:r>
              <a:t>        "detail": "시추 일보·지질·설비·규정의 도메인별 색인",</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"권한 변경 이력·도메인 평가·업무별 운영 관리",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"인사·안전 등 지식",</a:t>
            </a:r>
          </a:p>
          <a:p xmlns:a="http://schemas.openxmlformats.org/drawingml/2006/main">
            <a:r>
              <a:t>        "input": "사번·소속·직급·업무분장 기반 접근 판정",</a:t>
            </a:r>
          </a:p>
          <a:p xmlns:a="http://schemas.openxmlformats.org/drawingml/2006/main">
            <a:r>
              <a:t>        "process": "시추 일보·지질·설비·규정의 도메인별 색인",</a:t>
            </a:r>
          </a:p>
          <a:p xmlns:a="http://schemas.openxmlformats.org/drawingml/2006/main">
            <a:r>
              <a:t>        "output": "업무 목적"</a:t>
            </a:r>
          </a:p>
          <a:p xmlns:a="http://schemas.openxmlformats.org/drawingml/2006/main">
            <a:r>
              <a:t>      },</a:t>
            </a:r>
          </a:p>
          <a:p xmlns:a="http://schemas.openxmlformats.org/drawingml/2006/main">
            <a:r>
              <a:t>      {</a:t>
            </a:r>
          </a:p>
          <a:p xmlns:a="http://schemas.openxmlformats.org/drawingml/2006/main">
            <a:r>
              <a:t>        "title": "도메인 RAG",</a:t>
            </a:r>
          </a:p>
          <a:p xmlns:a="http://schemas.openxmlformats.org/drawingml/2006/main">
            <a:r>
              <a:t>        "input": "업무 목적",</a:t>
            </a:r>
          </a:p>
          <a:p xmlns:a="http://schemas.openxmlformats.org/drawingml/2006/main">
            <a:r>
              <a:t>        "process": "도메인 RAG·정형 조회·보고서 생성 라우팅",</a:t>
            </a:r>
          </a:p>
          <a:p xmlns:a="http://schemas.openxmlformats.org/drawingml/2006/main">
            <a:r>
              <a:t>        "output": "도메인 근거"</a:t>
            </a:r>
          </a:p>
          <a:p xmlns:a="http://schemas.openxmlformats.org/drawingml/2006/main">
            <a:r>
              <a:t>      },</a:t>
            </a:r>
          </a:p>
          <a:p xmlns:a="http://schemas.openxmlformats.org/drawingml/2006/main">
            <a:r>
              <a:t>      {</a:t>
            </a:r>
          </a:p>
          <a:p xmlns:a="http://schemas.openxmlformats.org/drawingml/2006/main">
            <a:r>
              <a:t>        "title": "업무 앱·ERP",</a:t>
            </a:r>
          </a:p>
          <a:p xmlns:a="http://schemas.openxmlformats.org/drawingml/2006/main">
            <a:r>
              <a:t>        "input": "도메인 근거",</a:t>
            </a:r>
          </a:p>
          <a:p xmlns:a="http://schemas.openxmlformats.org/drawingml/2006/main">
            <a:r>
              <a:t>        "process": "도메인 경계·현업 승인·결과 대사",</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"title": "권한·성과 관리",</a:t>
            </a:r>
          </a:p>
          <a:p xmlns:a="http://schemas.openxmlformats.org/drawingml/2006/main">
            <a:r>
              <a:t>        "input": "검토 초안",</a:t>
            </a:r>
          </a:p>
          <a:p xmlns:a="http://schemas.openxmlformats.org/drawingml/2006/main">
            <a:r>
              <a:t>        "process": "원천 링크·업무 결과를 현업에 제공",</a:t>
            </a:r>
          </a:p>
          <a:p xmlns:a="http://schemas.openxmlformats.org/drawingml/2006/main">
            <a:r>
              <a:t>        "output": "공식 업무 처리"</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"직원의 업무 목적을 6개 도메인 중 해당 앱으로 연결",</a:t>
            </a:r>
          </a:p>
          <a:p xmlns:a="http://schemas.openxmlformats.org/drawingml/2006/main">
            <a:r>
              <a:t>      "exception": "직급·근속 변경·다른 도메인 자료·시추 원문 누락",</a:t>
            </a:r>
          </a:p>
          <a:p xmlns:a="http://schemas.openxmlformats.org/drawingml/2006/main">
            <a:r>
              <a:t>      "evidence": "업무별 라우팅·접근 결과와 원천 인용·변경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"인사·안전·개발·비축·시장 담당",</a:t>
            </a:r>
          </a:p>
          <a:p xmlns:a="http://schemas.openxmlformats.org/drawingml/2006/main">
            <a:r>
              <a:t>          "processing": "사번·소속·직급·업무분장 기반 접근 판정",</a:t>
            </a:r>
          </a:p>
          <a:p xmlns:a="http://schemas.openxmlformats.org/drawingml/2006/main">
            <a:r>
              <a:t>          "output": "업무 목적"</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"인사·안전·설비 지식",</a:t>
            </a:r>
          </a:p>
          <a:p xmlns:a="http://schemas.openxmlformats.org/drawingml/2006/main">
            <a:r>
              <a:t>          "processing": "시추 일보·지질·설비·규정의 도메인별 색인",</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"업무 목적",</a:t>
            </a:r>
          </a:p>
          <a:p xmlns:a="http://schemas.openxmlformats.org/drawingml/2006/main">
            <a:r>
              <a:t>          "processing": "도메인 RAG·정형 조회·보고서 생성 라우팅",</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"검토 초안",</a:t>
            </a:r>
          </a:p>
          <a:p xmlns:a="http://schemas.openxmlformats.org/drawingml/2006/main">
            <a:r>
              <a:t>          "processing": "원천 링크·업무 결과를 현업에 제공",</a:t>
            </a:r>
          </a:p>
          <a:p xmlns:a="http://schemas.openxmlformats.org/drawingml/2006/main">
            <a:r>
              <a:t>          "output": "공식 업무 처리"</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"권한 변경 이력·도메인 평가·업무별 운영 관리",</a:t>
            </a:r>
          </a:p>
          <a:p xmlns:a="http://schemas.openxmlformats.org/drawingml/2006/main">
            <a:r>
              <a:t>          "output": "업무별 라우팅·접근 결과와 원천 인용·변경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"권한 변경 이력·도메인 평가·업무별 운영 관리",</a:t>
            </a:r>
          </a:p>
          <a:p xmlns:a="http://schemas.openxmlformats.org/drawingml/2006/main">
            <a:r>
              <a:t>    "status": "RFP 기반 논리 설계",</a:t>
            </a:r>
          </a:p>
          <a:p xmlns:a="http://schemas.openxmlformats.org/drawingml/2006/main">
            <a:r>
              <a:t>    "basis": "RFP 2026.09 · SER-001~004·FUR-001~006",</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"SER-001~004, FUR-001~006, ASR·DAR / Word T098",</a:t>
            </a:r>
          </a:p>
          <a:p xmlns:a="http://schemas.openxmlformats.org/drawingml/2006/main">
            <a:r>
              <a:t>        "url": "https://www.g2b.go.kr/pn/pnp/pnpe/UntyAtchFile/downloadFile.do?bidPbancNo=R26BK01705928&amp;bidPbancOrd=001&amp;fileSeq=4&amp;fileType=&amp;prcmBsneSeCd=03"</a:t>
            </a:r>
          </a:p>
          <a:p xmlns:a="http://schemas.openxmlformats.org/drawingml/2006/main">
            <a:r>
              <a:t>      }</a:t>
            </a:r>
          </a:p>
          <a:p xmlns:a="http://schemas.openxmlformats.org/drawingml/2006/main">
            <a:r>
              <a:t>    ],</a:t>
            </a:r>
          </a:p>
          <a:p xmlns:a="http://schemas.openxmlformats.org/drawingml/2006/main">
            <a:r>
              <a:t>    "implication": "공통 사용자·권한 기반 위에 업무 도메인별 지식과 실행 경로 구성",</a:t>
            </a:r>
          </a:p>
          <a:p xmlns:a="http://schemas.openxmlformats.org/drawingml/2006/main">
            <a:r>
              <a:t>    "local": "공통 사용자·권한 기반 위에 업무 도메인별 지식과 실행 경로 구성",</a:t>
            </a:r>
          </a:p>
          <a:p xmlns:a="http://schemas.openxmlformats.org/drawingml/2006/main">
            <a:r>
              <a:t>    "sourceDetail": "대화형/전용화면, 에이전트·ERP·권한·문서/정형 데이터 연계, 도메인별 RAG/보고서",</a:t>
            </a:r>
          </a:p>
          <a:p xmlns:a="http://schemas.openxmlformats.org/drawingml/2006/main">
            <a:r>
              <a:t>    "narrative": [</a:t>
            </a:r>
          </a:p>
          <a:p xmlns:a="http://schemas.openxmlformats.org/drawingml/2006/main">
            <a:r>
              <a:t>      "공통 AI 대화·전용 업무 화면 위에 인사복지, 안전관리, 시추, 지질, 비축설비, 석유시장 보고서의 6개 업무를 구성하는 사업. 전사 공통 기반과 도메인별 지식·산출물의 경계를 비교하기 적합한 사례.",</a:t>
            </a:r>
          </a:p>
          <a:p xmlns:a="http://schemas.openxmlformats.org/drawingml/2006/main">
            <a:r>
              <a:t>      "SER 요구는 공통 접점·업무 범위·권한과 응용 서비스를 정의하고, FUR-001~006은 업무별 자료와 출력 기능을 분리. 직원 사번·소속·직급·업무분장, 문서 접근조건, 정형 데이터·ERP 연계를 각 업무 처리의 문맥으로 사용하는 구조.",</a:t>
            </a:r>
          </a:p>
          <a:p xmlns:a="http://schemas.openxmlformats.org/drawingml/2006/main">
            <a:r>
              <a:t>      "TS의 1차 조직·권한·업무 분류 기반을 만든 뒤 부서별 특화 서비스를 붙이는 순서에 활용할 대상. 공통 챗봇 설치와 6개 업무의 인수 완료를 같은 실적으로 보지 않고, 업무별 데이터 원천·전문가 정답셋·실행 승인·결과 대사를 따로 관리할 필요."</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"SER-001",</a:t>
            </a:r>
          </a:p>
          <a:p xmlns:a="http://schemas.openxmlformats.org/drawingml/2006/main">
            <a:r>
              <a:t>        "title": "AI 대화형 서비스",</a:t>
            </a:r>
          </a:p>
          <a:p xmlns:a="http://schemas.openxmlformats.org/drawingml/2006/main">
            <a:r>
              <a:t>        "locator": "SER-001",</a:t>
            </a:r>
          </a:p>
          <a:p xmlns:a="http://schemas.openxmlformats.org/drawingml/2006/main">
            <a:r>
              <a:t>        "summary": "공통 AI 대화형 서비스 제공.",</a:t>
            </a:r>
          </a:p>
          <a:p xmlns:a="http://schemas.openxmlformats.org/drawingml/2006/main">
            <a:r>
              <a:t>        "data": "직원 질의·자료 → 대화 응답·근거",</a:t>
            </a:r>
          </a:p>
          <a:p xmlns:a="http://schemas.openxmlformats.org/drawingml/2006/main">
            <a:r>
              <a:t>        "components": [</a:t>
            </a:r>
          </a:p>
          <a:p xmlns:a="http://schemas.openxmlformats.org/drawingml/2006/main">
            <a:r>
              <a:t>          "C01",</a:t>
            </a:r>
          </a:p>
          <a:p xmlns:a="http://schemas.openxmlformats.org/drawingml/2006/main">
            <a:r>
              <a:t>          "C03",</a:t>
            </a:r>
          </a:p>
          <a:p xmlns:a="http://schemas.openxmlformats.org/drawingml/2006/main">
            <a:r>
              <a:t>          "C04"</a:t>
            </a:r>
          </a:p>
          <a:p xmlns:a="http://schemas.openxmlformats.org/drawingml/2006/main">
            <a:r>
              <a:t>        ],</a:t>
            </a:r>
          </a:p>
          <a:p xmlns:a="http://schemas.openxmlformats.org/drawingml/2006/main">
            <a:r>
              <a:t>        "acceptance": "문맥 유지·출처 확인·입력 범위·오류 안내의 대화 시나리오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"5c1be9c8c0ac6ecdc4d18ef05c6b02a80c9f5f082231b33b335733de34a142e2"</a:t>
            </a:r>
          </a:p>
          <a:p xmlns:a="http://schemas.openxmlformats.org/drawingml/2006/main">
            <a:r>
              <a:t>      },</a:t>
            </a:r>
          </a:p>
          <a:p xmlns:a="http://schemas.openxmlformats.org/drawingml/2006/main">
            <a:r>
              <a:t>      {</a:t>
            </a:r>
          </a:p>
          <a:p xmlns:a="http://schemas.openxmlformats.org/drawingml/2006/main">
            <a:r>
              <a:t>        "id": "SER-002",</a:t>
            </a:r>
          </a:p>
          <a:p xmlns:a="http://schemas.openxmlformats.org/drawingml/2006/main">
            <a:r>
              <a:t>        "title": "업무 특화 화면 서비스",</a:t>
            </a:r>
          </a:p>
          <a:p xmlns:a="http://schemas.openxmlformats.org/drawingml/2006/main">
            <a:r>
              <a:t>        "locator": "SER-002",</a:t>
            </a:r>
          </a:p>
          <a:p xmlns:a="http://schemas.openxmlformats.org/drawingml/2006/main">
            <a:r>
              <a:t>        "summary": "업무 특화 화면에서 필요한 입력과 결과를 제공.",</a:t>
            </a:r>
          </a:p>
          <a:p xmlns:a="http://schemas.openxmlformats.org/drawingml/2006/main">
            <a:r>
              <a:t>        "data": "업무 종류·필수 입력 → 특화 결과 화면",</a:t>
            </a:r>
          </a:p>
          <a:p xmlns:a="http://schemas.openxmlformats.org/drawingml/2006/main">
            <a:r>
              <a:t>        "components": [</a:t>
            </a:r>
          </a:p>
          <a:p xmlns:a="http://schemas.openxmlformats.org/drawingml/2006/main">
            <a:r>
              <a:t>          "C01",</a:t>
            </a:r>
          </a:p>
          <a:p xmlns:a="http://schemas.openxmlformats.org/drawingml/2006/main">
            <a:r>
              <a:t>          "C02",</a:t>
            </a:r>
          </a:p>
          <a:p xmlns:a="http://schemas.openxmlformats.org/drawingml/2006/main">
            <a:r>
              <a:t>          "C06"</a:t>
            </a:r>
          </a:p>
          <a:p xmlns:a="http://schemas.openxmlformats.org/drawingml/2006/main">
            <a:r>
              <a:t>        ],</a:t>
            </a:r>
          </a:p>
          <a:p xmlns:a="http://schemas.openxmlformats.org/drawingml/2006/main">
            <a:r>
              <a:t>        "acceptance": "업무별 필수 항목 누락·정정·결과 편집의 화면 동작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"4712f1694c7a46f76189d352fd3d252e83e6f128c095acdb1bfaf30e6453b7ea"</a:t>
            </a:r>
          </a:p>
          <a:p xmlns:a="http://schemas.openxmlformats.org/drawingml/2006/main">
            <a:r>
              <a:t>      },</a:t>
            </a:r>
          </a:p>
          <a:p xmlns:a="http://schemas.openxmlformats.org/drawingml/2006/main">
            <a:r>
              <a:t>      {</a:t>
            </a:r>
          </a:p>
          <a:p xmlns:a="http://schemas.openxmlformats.org/drawingml/2006/main">
            <a:r>
              <a:t>        "id": "SER-003",</a:t>
            </a:r>
          </a:p>
          <a:p xmlns:a="http://schemas.openxmlformats.org/drawingml/2006/main">
            <a:r>
              <a:t>        "title": "AI 응용 서비스 대상 업무",</a:t>
            </a:r>
          </a:p>
          <a:p xmlns:a="http://schemas.openxmlformats.org/drawingml/2006/main">
            <a:r>
              <a:t>        "locator": "SER-003",</a:t>
            </a:r>
          </a:p>
          <a:p xmlns:a="http://schemas.openxmlformats.org/drawingml/2006/main">
            <a:r>
              <a:t>        "summary": "AI 응용서비스 대상 업무의 범위 구성.",</a:t>
            </a:r>
          </a:p>
          <a:p xmlns:a="http://schemas.openxmlformats.org/drawingml/2006/main">
            <a:r>
              <a:t>        "data": "업무 요청·영역 → 해당 응용서비스",</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a:t>
            </a:r>
          </a:p>
          <a:p xmlns:a="http://schemas.openxmlformats.org/drawingml/2006/main">
            <a:r>
              <a:t>        "acceptance": "인사·안전·시추·지질·설비·시장 업무의 잘못된 라우팅과 복합 요청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"f63574c927275ee8519741567d3f145890d5ed0b96c61b09e00920044886df77"</a:t>
            </a:r>
          </a:p>
          <a:p xmlns:a="http://schemas.openxmlformats.org/drawingml/2006/main">
            <a:r>
              <a:t>      },</a:t>
            </a:r>
          </a:p>
          <a:p xmlns:a="http://schemas.openxmlformats.org/drawingml/2006/main">
            <a:r>
              <a:t>      {</a:t>
            </a:r>
          </a:p>
          <a:p xmlns:a="http://schemas.openxmlformats.org/drawingml/2006/main">
            <a:r>
              <a:t>        "id": "SER-004",</a:t>
            </a:r>
          </a:p>
          <a:p xmlns:a="http://schemas.openxmlformats.org/drawingml/2006/main">
            <a:r>
              <a:t>        "title": "응용 서비스 공통",</a:t>
            </a:r>
          </a:p>
          <a:p xmlns:a="http://schemas.openxmlformats.org/drawingml/2006/main">
            <a:r>
              <a:t>        "locator": "SER-004",</a:t>
            </a:r>
          </a:p>
          <a:p xmlns:a="http://schemas.openxmlformats.org/drawingml/2006/main">
            <a:r>
              <a:t>        "summary": "업무 응용서비스에 공통 적용할 기능과 운영 기준 구성.",</a:t>
            </a:r>
          </a:p>
          <a:p xmlns:a="http://schemas.openxmlformats.org/drawingml/2006/main">
            <a:r>
              <a:t>        "data": "서비스 설정·권한·이용 기록 → 공통 통제·운영 결과",</a:t>
            </a:r>
          </a:p>
          <a:p xmlns:a="http://schemas.openxmlformats.org/drawingml/2006/main">
            <a:r>
              <a:t>        "components": [</a:t>
            </a:r>
          </a:p>
          <a:p xmlns:a="http://schemas.openxmlformats.org/drawingml/2006/main">
            <a:r>
              <a:t>          "C05",</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"개별 서비스 추가 시 공통 인증·통제·운영 기록 적용의 누락 점검",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"581ef5bd7d42a38fff5a1fa79a158712f59c915a988ed9e2f16244c505dd2ce9"</a:t>
            </a:r>
          </a:p>
          <a:p xmlns:a="http://schemas.openxmlformats.org/drawingml/2006/main">
            <a:r>
              <a:t>      },</a:t>
            </a:r>
          </a:p>
          <a:p xmlns:a="http://schemas.openxmlformats.org/drawingml/2006/main">
            <a:r>
              <a:t>      {</a:t>
            </a:r>
          </a:p>
          <a:p xmlns:a="http://schemas.openxmlformats.org/drawingml/2006/main">
            <a:r>
              <a:t>        "id": "FUR-001",</a:t>
            </a:r>
          </a:p>
          <a:p xmlns:a="http://schemas.openxmlformats.org/drawingml/2006/main">
            <a:r>
              <a:t>        "title": "[일반행정] 인사·복지 AI 서비스",</a:t>
            </a:r>
          </a:p>
          <a:p xmlns:a="http://schemas.openxmlformats.org/drawingml/2006/main">
            <a:r>
              <a:t>        "locator": "FUR-001",</a:t>
            </a:r>
          </a:p>
          <a:p xmlns:a="http://schemas.openxmlformats.org/drawingml/2006/main">
            <a:r>
              <a:t>        "summary": "인사·복지 규정과 업무 지식을 활용한 직원 지원.",</a:t>
            </a:r>
          </a:p>
          <a:p xmlns:a="http://schemas.openxmlformats.org/drawingml/2006/main">
            <a:r>
              <a:t>        "data": "직원 문맥·인사복지 질의 → 적용 규정·안내",</a:t>
            </a:r>
          </a:p>
          <a:p xmlns:a="http://schemas.openxmlformats.org/drawingml/2006/main">
            <a:r>
              <a:t>        "components": [</a:t>
            </a:r>
          </a:p>
          <a:p xmlns:a="http://schemas.openxmlformats.org/drawingml/2006/main">
            <a:r>
              <a:t>          "C02",</a:t>
            </a:r>
          </a:p>
          <a:p xmlns:a="http://schemas.openxmlformats.org/drawingml/2006/main">
            <a:r>
              <a:t>          "C03",</a:t>
            </a:r>
          </a:p>
          <a:p xmlns:a="http://schemas.openxmlformats.org/drawingml/2006/main">
            <a:r>
              <a:t>          "C06"</a:t>
            </a:r>
          </a:p>
          <a:p xmlns:a="http://schemas.openxmlformats.org/drawingml/2006/main">
            <a:r>
              <a:t>        ],</a:t>
            </a:r>
          </a:p>
          <a:p xmlns:a="http://schemas.openxmlformats.org/drawingml/2006/main">
            <a:r>
              <a:t>        "acceptance": "근무 조건·시행일·예외 조항이 다른 질문의 근거 선택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"5cd185d2ca6f76c5606a274957c4915b34daac231353f6ab491b45ffb4fc8014"</a:t>
            </a:r>
          </a:p>
          <a:p xmlns:a="http://schemas.openxmlformats.org/drawingml/2006/main">
            <a:r>
              <a:t>      },</a:t>
            </a:r>
          </a:p>
          <a:p xmlns:a="http://schemas.openxmlformats.org/drawingml/2006/main">
            <a:r>
              <a:t>      {</a:t>
            </a:r>
          </a:p>
          <a:p xmlns:a="http://schemas.openxmlformats.org/drawingml/2006/main">
            <a:r>
              <a:t>        "id": "FUR-002",</a:t>
            </a:r>
          </a:p>
          <a:p xmlns:a="http://schemas.openxmlformats.org/drawingml/2006/main">
            <a:r>
              <a:t>        "title": "[안전관리] 안전관리 AI 서비스",</a:t>
            </a:r>
          </a:p>
          <a:p xmlns:a="http://schemas.openxmlformats.org/drawingml/2006/main">
            <a:r>
              <a:t>        "locator": "FUR-002",</a:t>
            </a:r>
          </a:p>
          <a:p xmlns:a="http://schemas.openxmlformats.org/drawingml/2006/main">
            <a:r>
              <a:t>        "summary": "안전 분야 자료를 활용한 업무 지원.",</a:t>
            </a:r>
          </a:p>
          <a:p xmlns:a="http://schemas.openxmlformats.org/drawingml/2006/main">
            <a:r>
              <a:t>        "data": "안전 업무 질의·자료 → 근거·검토 결과",</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"C05"</a:t>
            </a:r>
          </a:p>
          <a:p xmlns:a="http://schemas.openxmlformats.org/drawingml/2006/main">
            <a:r>
              <a:t>        ],</a:t>
            </a:r>
          </a:p>
          <a:p xmlns:a="http://schemas.openxmlformats.org/drawingml/2006/main">
            <a:r>
              <a:t>        "acceptance": "현장 조건과 적용 기준의 불일치·필수 조치 누락을 포함한 검토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"ae5ca92e3dbf8291576889d17428fe931c780d6262138c9eaa06e5f28fc0d3e6"</a:t>
            </a:r>
          </a:p>
          <a:p xmlns:a="http://schemas.openxmlformats.org/drawingml/2006/main">
            <a:r>
              <a:t>      },</a:t>
            </a:r>
          </a:p>
          <a:p xmlns:a="http://schemas.openxmlformats.org/drawingml/2006/main">
            <a:r>
              <a:t>      {</a:t>
            </a:r>
          </a:p>
          <a:p xmlns:a="http://schemas.openxmlformats.org/drawingml/2006/main">
            <a:r>
              <a:t>        "id": "FUR-003",</a:t>
            </a:r>
          </a:p>
          <a:p xmlns:a="http://schemas.openxmlformats.org/drawingml/2006/main">
            <a:r>
              <a:t>        "title": "[석유개발] 석유 시추 정보 AI 서비스",</a:t>
            </a:r>
          </a:p>
          <a:p xmlns:a="http://schemas.openxmlformats.org/drawingml/2006/main">
            <a:r>
              <a:t>        "locator": "FUR-003",</a:t>
            </a:r>
          </a:p>
          <a:p xmlns:a="http://schemas.openxmlformats.org/drawingml/2006/main">
            <a:r>
              <a:t>        "summary": "시추 분야 자료와 전문 지식의 업무 활용.",</a:t>
            </a:r>
          </a:p>
          <a:p xmlns:a="http://schemas.openxmlformats.org/drawingml/2006/main">
            <a:r>
              <a:t>        "data": "시추 질의·기술자료 → 근거·분석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"전문 용어·설비 조건·단위 오류와 출처 없는 추론의 구분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"9acd9aea17e5f3417a6f8f17f19191240f88fedb58e28130587c9b97c113c023"</a:t>
            </a:r>
          </a:p>
          <a:p xmlns:a="http://schemas.openxmlformats.org/drawingml/2006/main">
            <a:r>
              <a:t>      },</a:t>
            </a:r>
          </a:p>
          <a:p xmlns:a="http://schemas.openxmlformats.org/drawingml/2006/main">
            <a:r>
              <a:t>      {</a:t>
            </a:r>
          </a:p>
          <a:p xmlns:a="http://schemas.openxmlformats.org/drawingml/2006/main">
            <a:r>
              <a:t>        "id": "FUR-004",</a:t>
            </a:r>
          </a:p>
          <a:p xmlns:a="http://schemas.openxmlformats.org/drawingml/2006/main">
            <a:r>
              <a:t>        "title": "[석유개발] 석유 지질 정보 AI 서비스",</a:t>
            </a:r>
          </a:p>
          <a:p xmlns:a="http://schemas.openxmlformats.org/drawingml/2006/main">
            <a:r>
              <a:t>        "locator": "FUR-004",</a:t>
            </a:r>
          </a:p>
          <a:p xmlns:a="http://schemas.openxmlformats.org/drawingml/2006/main">
            <a:r>
              <a:t>        "summary": "지질 자료와 분석 업무의 AI 지원.",</a:t>
            </a:r>
          </a:p>
          <a:p xmlns:a="http://schemas.openxmlformats.org/drawingml/2006/main">
            <a:r>
              <a:t>        "data": "지질 질의·연구 자료 → 탐색·분석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"서로 다른 지역·시기 자료의 혼용과 전문 수치·그림 근거 연결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"0c138c01d2c00b386c64812738ceda4a9d3dfa79e5c1ec90b1d8ca4f758908d5"</a:t>
            </a:r>
          </a:p>
          <a:p xmlns:a="http://schemas.openxmlformats.org/drawingml/2006/main">
            <a:r>
              <a:t>      },</a:t>
            </a:r>
          </a:p>
          <a:p xmlns:a="http://schemas.openxmlformats.org/drawingml/2006/main">
            <a:r>
              <a:t>      {</a:t>
            </a:r>
          </a:p>
          <a:p xmlns:a="http://schemas.openxmlformats.org/drawingml/2006/main">
            <a:r>
              <a:t>        "id": "FUR-005",</a:t>
            </a:r>
          </a:p>
          <a:p xmlns:a="http://schemas.openxmlformats.org/drawingml/2006/main">
            <a:r>
              <a:t>        "title": "[석유비축] 비축설비 정비·운영 AI 서비스",</a:t>
            </a:r>
          </a:p>
          <a:p xmlns:a="http://schemas.openxmlformats.org/drawingml/2006/main">
            <a:r>
              <a:t>        "locator": "FUR-005",</a:t>
            </a:r>
          </a:p>
          <a:p xmlns:a="http://schemas.openxmlformats.org/drawingml/2006/main">
            <a:r>
              <a:t>        "summary": "비축설비 관련 자료의 검색·업무 지원.",</a:t>
            </a:r>
          </a:p>
          <a:p xmlns:a="http://schemas.openxmlformats.org/drawingml/2006/main">
            <a:r>
              <a:t>        "data": "설비 식별·정비 자료 → 관련 근거·지원 결과",</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"설비 번호·점검 시점·부품 조건이 다른 자료의 구분과 최신 이력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"4d18cc59bfa5560530dcceb2188516ebb10c10fe8e05807a6f1c8d14188bdec8"</a:t>
            </a:r>
          </a:p>
          <a:p xmlns:a="http://schemas.openxmlformats.org/drawingml/2006/main">
            <a:r>
              <a:t>      },</a:t>
            </a:r>
          </a:p>
          <a:p xmlns:a="http://schemas.openxmlformats.org/drawingml/2006/main">
            <a:r>
              <a:t>      {</a:t>
            </a:r>
          </a:p>
          <a:p xmlns:a="http://schemas.openxmlformats.org/drawingml/2006/main">
            <a:r>
              <a:t>        "id": "FUR-006",</a:t>
            </a:r>
          </a:p>
          <a:p xmlns:a="http://schemas.openxmlformats.org/drawingml/2006/main">
            <a:r>
              <a:t>        "title": "[석유정보] 석유시장 보고서 작성 AI 서비스",</a:t>
            </a:r>
          </a:p>
          <a:p xmlns:a="http://schemas.openxmlformats.org/drawingml/2006/main">
            <a:r>
              <a:t>        "locator": "FUR-006",</a:t>
            </a:r>
          </a:p>
          <a:p xmlns:a="http://schemas.openxmlformats.org/drawingml/2006/main">
            <a:r>
              <a:t>        "summary": "시장 자료를 활용한 보고서 작성 지원.",</a:t>
            </a:r>
          </a:p>
          <a:p xmlns:a="http://schemas.openxmlformats.org/drawingml/2006/main">
            <a:r>
              <a:t>        "data": "시장 자료·기준일 → 근거가 연결된 보고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"기준일·통화·단위 혼용, 숫자 인용, 최신 자료 누락의 항목별 점검",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"1a1e671fc8f1cfe4dc05c83144eb257e226afeea8a0f7096652aeec596b82a80"</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"직원·업무 앱",</a:t>
            </a:r>
          </a:p>
          <a:p xmlns:a="http://schemas.openxmlformats.org/drawingml/2006/main">
            <a:r>
              <a:t>          "layer": "이용 접점",</a:t>
            </a:r>
          </a:p>
          <a:p xmlns:a="http://schemas.openxmlformats.org/drawingml/2006/main">
            <a:r>
              <a:t>          "detail": "인사·안전·개발·비축·시장 담당",</a:t>
            </a:r>
          </a:p>
          <a:p xmlns:a="http://schemas.openxmlformats.org/drawingml/2006/main">
            <a:r>
              <a:t>          "requirements": [</a:t>
            </a:r>
          </a:p>
          <a:p xmlns:a="http://schemas.openxmlformats.org/drawingml/2006/main">
            <a:r>
              <a:t>            "SER-001",</a:t>
            </a:r>
          </a:p>
          <a:p xmlns:a="http://schemas.openxmlformats.org/drawingml/2006/main">
            <a:r>
              <a:t>            "SER-002"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"사번·소속·업무",</a:t>
            </a:r>
          </a:p>
          <a:p xmlns:a="http://schemas.openxmlformats.org/drawingml/2006/main">
            <a:r>
              <a:t>          "layer": "업무 문맥",</a:t>
            </a:r>
          </a:p>
          <a:p xmlns:a="http://schemas.openxmlformats.org/drawingml/2006/main">
            <a:r>
              <a:t>          "detail": "사번·소속·직급·업무분장 기반 접근 판정",</a:t>
            </a:r>
          </a:p>
          <a:p xmlns:a="http://schemas.openxmlformats.org/drawingml/2006/main">
            <a:r>
              <a:t>          "requirements": [</a:t>
            </a:r>
          </a:p>
          <a:p xmlns:a="http://schemas.openxmlformats.org/drawingml/2006/main">
            <a:r>
              <a:t>            "SER-002",</a:t>
            </a:r>
          </a:p>
          <a:p xmlns:a="http://schemas.openxmlformats.org/drawingml/2006/main">
            <a:r>
              <a:t>            "SER-003",</a:t>
            </a:r>
          </a:p>
          <a:p xmlns:a="http://schemas.openxmlformats.org/drawingml/2006/main">
            <a:r>
              <a:t>            "FUR-001"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"도메인 지식 조회",</a:t>
            </a:r>
          </a:p>
          <a:p xmlns:a="http://schemas.openxmlformats.org/drawingml/2006/main">
            <a:r>
              <a:t>          "layer": "자료 조회",</a:t>
            </a:r>
          </a:p>
          <a:p xmlns:a="http://schemas.openxmlformats.org/drawingml/2006/main">
            <a:r>
              <a:t>          "detail": "업무 목적",</a:t>
            </a:r>
          </a:p>
          <a:p xmlns:a="http://schemas.openxmlformats.org/drawingml/2006/main">
            <a:r>
              <a:t>          "requirements": [</a:t>
            </a:r>
          </a:p>
          <a:p xmlns:a="http://schemas.openxmlformats.org/drawingml/2006/main">
            <a:r>
              <a:t>            "SER-001",</a:t>
            </a:r>
          </a:p>
          <a:p xmlns:a="http://schemas.openxmlformats.org/drawingml/2006/main">
            <a:r>
              <a:t>            "FUR-001",</a:t>
            </a:r>
          </a:p>
          <a:p xmlns:a="http://schemas.openxmlformats.org/drawingml/2006/main">
            <a:r>
              <a:t>            "FUR-002",</a:t>
            </a:r>
          </a:p>
          <a:p xmlns:a="http://schemas.openxmlformats.org/drawingml/2006/main">
            <a:r>
              <a:t>            "FUR-003",</a:t>
            </a:r>
          </a:p>
          <a:p xmlns:a="http://schemas.openxmlformats.org/drawingml/2006/main">
            <a:r>
              <a:t>            "FUR-004",</a:t>
            </a:r>
          </a:p>
          <a:p xmlns:a="http://schemas.openxmlformats.org/drawingml/2006/main">
            <a:r>
              <a:t>            "FUR-005",</a:t>
            </a:r>
          </a:p>
          <a:p xmlns:a="http://schemas.openxmlformats.org/drawingml/2006/main">
            <a:r>
              <a:t>            "FUR-006"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"6개 특화 AI 처리",</a:t>
            </a:r>
          </a:p>
          <a:p xmlns:a="http://schemas.openxmlformats.org/drawingml/2006/main">
            <a:r>
              <a:t>          "layer": "핵심 처리",</a:t>
            </a:r>
          </a:p>
          <a:p xmlns:a="http://schemas.openxmlformats.org/drawingml/2006/main">
            <a:r>
              <a:t>          "detail": "도메인 RAG·정형 조회·보고서 생성 라우팅",</a:t>
            </a:r>
          </a:p>
          <a:p xmlns:a="http://schemas.openxmlformats.org/drawingml/2006/main">
            <a:r>
              <a:t>          "requirements": [</a:t>
            </a:r>
          </a:p>
          <a:p xmlns:a="http://schemas.openxmlformats.org/drawingml/2006/main">
            <a:r>
              <a:t>            "SER-001",</a:t>
            </a:r>
          </a:p>
          <a:p xmlns:a="http://schemas.openxmlformats.org/drawingml/2006/main">
            <a:r>
              <a:t>            "SER-003",</a:t>
            </a:r>
          </a:p>
          <a:p xmlns:a="http://schemas.openxmlformats.org/drawingml/2006/main">
            <a:r>
              <a:t>            "FUR-002",</a:t>
            </a:r>
          </a:p>
          <a:p xmlns:a="http://schemas.openxmlformats.org/drawingml/2006/main">
            <a:r>
              <a:t>            "FUR-003",</a:t>
            </a:r>
          </a:p>
          <a:p xmlns:a="http://schemas.openxmlformats.org/drawingml/2006/main">
            <a:r>
              <a:t>            "FUR-004",</a:t>
            </a:r>
          </a:p>
          <a:p xmlns:a="http://schemas.openxmlformats.org/drawingml/2006/main">
            <a:r>
              <a:t>            "FUR-005",</a:t>
            </a:r>
          </a:p>
          <a:p xmlns:a="http://schemas.openxmlformats.org/drawingml/2006/main">
            <a:r>
              <a:t>            "FUR-006"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"권한·근거 대조",</a:t>
            </a:r>
          </a:p>
          <a:p xmlns:a="http://schemas.openxmlformats.org/drawingml/2006/main">
            <a:r>
              <a:t>          "layer": "결과 검증",</a:t>
            </a:r>
          </a:p>
          <a:p xmlns:a="http://schemas.openxmlformats.org/drawingml/2006/main">
            <a:r>
              <a:t>          "detail": "도메인 경계·현업 승인·결과 대사",</a:t>
            </a:r>
          </a:p>
          <a:p xmlns:a="http://schemas.openxmlformats.org/drawingml/2006/main">
            <a:r>
              <a:t>          "requirements": [</a:t>
            </a:r>
          </a:p>
          <a:p xmlns:a="http://schemas.openxmlformats.org/drawingml/2006/main">
            <a:r>
              <a:t>            "SER-004",</a:t>
            </a:r>
          </a:p>
          <a:p xmlns:a="http://schemas.openxmlformats.org/drawingml/2006/main">
            <a:r>
              <a:t>            "FUR-002"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"현업 승인",</a:t>
            </a:r>
          </a:p>
          <a:p xmlns:a="http://schemas.openxmlformats.org/drawingml/2006/main">
            <a:r>
              <a:t>          "layer": "사람 확인",</a:t>
            </a:r>
          </a:p>
          <a:p xmlns:a="http://schemas.openxmlformats.org/drawingml/2006/main">
            <a:r>
              <a:t>          "detail": "직원의 업무 목적을 6개 도메인 중 해당 앱으로 연결",</a:t>
            </a:r>
          </a:p>
          <a:p xmlns:a="http://schemas.openxmlformats.org/drawingml/2006/main">
            <a:r>
              <a:t>          "requirements": [</a:t>
            </a:r>
          </a:p>
          <a:p xmlns:a="http://schemas.openxmlformats.org/drawingml/2006/main">
            <a:r>
              <a:t>            "SER-002",</a:t>
            </a:r>
          </a:p>
          <a:p xmlns:a="http://schemas.openxmlformats.org/drawingml/2006/main">
            <a:r>
              <a:t>            "FUR-001",</a:t>
            </a:r>
          </a:p>
          <a:p xmlns:a="http://schemas.openxmlformats.org/drawingml/2006/main">
            <a:r>
              <a:t>            "FUR-003",</a:t>
            </a:r>
          </a:p>
          <a:p xmlns:a="http://schemas.openxmlformats.org/drawingml/2006/main">
            <a:r>
              <a:t>            "FUR-004",</a:t>
            </a:r>
          </a:p>
          <a:p xmlns:a="http://schemas.openxmlformats.org/drawingml/2006/main">
            <a:r>
              <a:t>            "FUR-005",</a:t>
            </a:r>
          </a:p>
          <a:p xmlns:a="http://schemas.openxmlformats.org/drawingml/2006/main">
            <a:r>
              <a:t>            "FUR-006"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"ERP·보고서 연계",</a:t>
            </a:r>
          </a:p>
          <a:p xmlns:a="http://schemas.openxmlformats.org/drawingml/2006/main">
            <a:r>
              <a:t>          "layer": "업무 연결",</a:t>
            </a:r>
          </a:p>
          <a:p xmlns:a="http://schemas.openxmlformats.org/drawingml/2006/main">
            <a:r>
              <a:t>          "detail": "원천 링크·업무 결과를 현업에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"도메인별 평가",</a:t>
            </a:r>
          </a:p>
          <a:p xmlns:a="http://schemas.openxmlformats.org/drawingml/2006/main">
            <a:r>
              <a:t>          "layer": "운영 관측",</a:t>
            </a:r>
          </a:p>
          <a:p xmlns:a="http://schemas.openxmlformats.org/drawingml/2006/main">
            <a:r>
              <a:t>          "detail": "권한 변경 이력·도메인 평가·업무별 운영 관리",</a:t>
            </a:r>
          </a:p>
          <a:p xmlns:a="http://schemas.openxmlformats.org/drawingml/2006/main">
            <a:r>
              <a:t>          "requirements": [</a:t>
            </a:r>
          </a:p>
          <a:p xmlns:a="http://schemas.openxmlformats.org/drawingml/2006/main">
            <a:r>
              <a:t>            "SER-004"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"시추·설비·규정",</a:t>
            </a:r>
          </a:p>
          <a:p xmlns:a="http://schemas.openxmlformats.org/drawingml/2006/main">
            <a:r>
              <a:t>          "layer": "데이터 원천",</a:t>
            </a:r>
          </a:p>
          <a:p xmlns:a="http://schemas.openxmlformats.org/drawingml/2006/main">
            <a:r>
              <a:t>          "detail": "인사·안전·설비 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"업무별 자료 정합화",</a:t>
            </a:r>
          </a:p>
          <a:p xmlns:a="http://schemas.openxmlformats.org/drawingml/2006/main">
            <a:r>
              <a:t>          "layer": "준비·갱신",</a:t>
            </a:r>
          </a:p>
          <a:p xmlns:a="http://schemas.openxmlformats.org/drawingml/2006/main">
            <a:r>
              <a:t>          "detail": "시추 일보·지질·설비·규정의 도메인별 색인",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"도메인 RAG 색인",</a:t>
            </a:r>
          </a:p>
          <a:p xmlns:a="http://schemas.openxmlformats.org/drawingml/2006/main">
            <a:r>
              <a:t>          "layer": "상태·지식 저장",</a:t>
            </a:r>
          </a:p>
          <a:p xmlns:a="http://schemas.openxmlformats.org/drawingml/2006/main">
            <a:r>
              <a:t>          "detail": "업무별 라우팅·접근 결과와 원천 인용·변경 이력",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"문서·ERP 권한",</a:t>
            </a:r>
          </a:p>
          <a:p xmlns:a="http://schemas.openxmlformats.org/drawingml/2006/main">
            <a:r>
              <a:t>          "layer": "권한·정책",</a:t>
            </a:r>
          </a:p>
          <a:p xmlns:a="http://schemas.openxmlformats.org/drawingml/2006/main">
            <a:r>
              <a:t>          "detail": "직급·근속 변경·다른 도메인 자료·시추 원문 누락",</a:t>
            </a:r>
          </a:p>
          <a:p xmlns:a="http://schemas.openxmlformats.org/drawingml/2006/main">
            <a:r>
              <a:t>          "requirements": [</a:t>
            </a:r>
          </a:p>
          <a:p xmlns:a="http://schemas.openxmlformats.org/drawingml/2006/main">
            <a:r>
              <a:t>            "SER-004"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"사번·소속·직급·업무분장 기반 접근 판정",</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"업무 목적",</a:t>
            </a:r>
          </a:p>
          <a:p xmlns:a="http://schemas.openxmlformats.org/drawingml/2006/main">
            <a:r>
              <a:t>          "check": "도메인 경계·현업 승인·결과 대사"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"도메인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"검토 초안",</a:t>
            </a:r>
          </a:p>
          <a:p xmlns:a="http://schemas.openxmlformats.org/drawingml/2006/main">
            <a:r>
              <a:t>          "check": "직급·근속 변경·다른 도메인 자료·시추 원문 누락"</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"검토 초안",</a:t>
            </a:r>
          </a:p>
          <a:p xmlns:a="http://schemas.openxmlformats.org/drawingml/2006/main">
            <a:r>
              <a:t>          "check": "원천 링크·업무 결과를 현업에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"공식 업무 처리",</a:t>
            </a:r>
          </a:p>
          <a:p xmlns:a="http://schemas.openxmlformats.org/drawingml/2006/main">
            <a:r>
              <a:t>          "check": "업무별 라우팅·접근 결과와 원천 인용·변경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"SER-001~004·FUR-001~006",</a:t>
            </a:r>
          </a:p>
          <a:p xmlns:a="http://schemas.openxmlformats.org/drawingml/2006/main">
            <a:r>
              <a:t>        "extracted": "사번·소속·직급·업무분장, 문서별 권한, 6개 특화업무",</a:t>
            </a:r>
          </a:p>
          <a:p xmlns:a="http://schemas.openxmlformats.org/drawingml/2006/main">
            <a:r>
              <a:t>        "extension": "ERP 조회·실행 권한 분리 및 특화업무별 인수셋"</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"직급·근속 변경·다른 도메인 자료·시추 원문 누락",</a:t>
            </a:r>
          </a:p>
          <a:p xmlns:a="http://schemas.openxmlformats.org/drawingml/2006/main">
            <a:r>
              <a:t>        "hold": "도메인 경계·현업 승인·결과 대사",</a:t>
            </a:r>
          </a:p>
          <a:p xmlns:a="http://schemas.openxmlformats.org/drawingml/2006/main">
            <a:r>
              <a:t>        "recovery": "권한 변경 이력·도메인 평가·업무별 운영 관리",</a:t>
            </a:r>
          </a:p>
          <a:p xmlns:a="http://schemas.openxmlformats.org/drawingml/2006/main">
            <a:r>
              <a:t>        "evidence": "업무별 라우팅·접근 결과와 원천 인용·변경 이력"</a:t>
            </a:r>
          </a:p>
          <a:p xmlns:a="http://schemas.openxmlformats.org/drawingml/2006/main">
            <a:r>
              <a:t>      },</a:t>
            </a:r>
          </a:p>
          <a:p xmlns:a="http://schemas.openxmlformats.org/drawingml/2006/main">
            <a:r>
              <a:t>      "data": {</a:t>
            </a:r>
          </a:p>
          <a:p xmlns:a="http://schemas.openxmlformats.org/drawingml/2006/main">
            <a:r>
              <a:t>        "source": "인사·안전·설비 지식",</a:t>
            </a:r>
          </a:p>
          <a:p xmlns:a="http://schemas.openxmlformats.org/drawingml/2006/main">
            <a:r>
              <a:t>        "prepare": "시추 일보·지질·설비·규정의 도메인별 색인",</a:t>
            </a:r>
          </a:p>
          <a:p xmlns:a="http://schemas.openxmlformats.org/drawingml/2006/main">
            <a:r>
              <a:t>        "output": "업무 목적",</a:t>
            </a:r>
          </a:p>
          <a:p xmlns:a="http://schemas.openxmlformats.org/drawingml/2006/main">
            <a:r>
              <a:t>        "refresh": "권한 변경 이력·도메인 평가·업무별 운영 관리"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"PF-R09",</a:t>
            </a:r>
          </a:p>
          <a:p xmlns:a="http://schemas.openxmlformats.org/drawingml/2006/main">
            <a:r>
              <a:t>    "success": [</a:t>
            </a:r>
          </a:p>
          <a:p xmlns:a="http://schemas.openxmlformats.org/drawingml/2006/main">
            <a:r>
              <a:t>      "공통 챗봇과 6개 도메인 분리",</a:t>
            </a:r>
          </a:p>
          <a:p xmlns:a="http://schemas.openxmlformats.org/drawingml/2006/main">
            <a:r>
              <a:t>      "업무 지식·ERP 경로의 결합"</a:t>
            </a:r>
          </a:p>
          <a:p xmlns:a="http://schemas.openxmlformats.org/drawingml/2006/main">
            <a:r>
              <a:t>    ],</a:t>
            </a:r>
          </a:p>
          <a:p xmlns:a="http://schemas.openxmlformats.org/drawingml/2006/main">
            <a:r>
              <a:t>    "risks": [</a:t>
            </a:r>
          </a:p>
          <a:p xmlns:a="http://schemas.openxmlformats.org/drawingml/2006/main">
            <a:r>
              <a:t>      "도메인 지식의 혼합",</a:t>
            </a:r>
          </a:p>
          <a:p xmlns:a="http://schemas.openxmlformats.org/drawingml/2006/main">
            <a:r>
              <a:t>      "안전·시추 권고를 자동 실행"</a:t>
            </a:r>
          </a:p>
          <a:p xmlns:a="http://schemas.openxmlformats.org/drawingml/2006/main">
            <a:r>
              <a:t>    ],</a:t>
            </a:r>
          </a:p>
          <a:p xmlns:a="http://schemas.openxmlformats.org/drawingml/2006/main">
            <a:r>
              <a:t>    "architecture": [</a:t>
            </a:r>
          </a:p>
          <a:p xmlns:a="http://schemas.openxmlformats.org/drawingml/2006/main">
            <a:r>
              <a:t>      "직원 업무 앱",</a:t>
            </a:r>
          </a:p>
          <a:p xmlns:a="http://schemas.openxmlformats.org/drawingml/2006/main">
            <a:r>
              <a:t>      "도메인 RAG",</a:t>
            </a:r>
          </a:p>
          <a:p xmlns:a="http://schemas.openxmlformats.org/drawingml/2006/main">
            <a:r>
              <a:t>      "인사·안전·설비 지식",</a:t>
            </a:r>
          </a:p>
          <a:p xmlns:a="http://schemas.openxmlformats.org/drawingml/2006/main">
            <a:r>
              <a:t>      "업무·ERP 담당"</a:t>
            </a:r>
          </a:p>
          <a:p xmlns:a="http://schemas.openxmlformats.org/drawingml/2006/main">
            <a:r>
              <a:t>    ],</a:t>
            </a:r>
          </a:p>
          <a:p xmlns:a="http://schemas.openxmlformats.org/drawingml/2006/main">
            <a:r>
              <a:t>    "transfers": [</a:t>
            </a:r>
          </a:p>
          <a:p xmlns:a="http://schemas.openxmlformats.org/drawingml/2006/main">
            <a:r>
              <a:t>      "업무 목적",</a:t>
            </a:r>
          </a:p>
          <a:p xmlns:a="http://schemas.openxmlformats.org/drawingml/2006/main">
            <a:r>
              <a:t>      "도메인 근거",</a:t>
            </a:r>
          </a:p>
          <a:p xmlns:a="http://schemas.openxmlformats.org/drawingml/2006/main">
            <a:r>
              <a:t>      "검토 초안",</a:t>
            </a:r>
          </a:p>
          <a:p xmlns:a="http://schemas.openxmlformats.org/drawingml/2006/main">
            <a:r>
              <a:t>      "공식 업무 처리"</a:t>
            </a:r>
          </a:p>
          <a:p xmlns:a="http://schemas.openxmlformats.org/drawingml/2006/main">
            <a:r>
              <a:t>    ],</a:t>
            </a:r>
          </a:p>
          <a:p xmlns:a="http://schemas.openxmlformats.org/drawingml/2006/main">
            <a:r>
              <a:t>    "control": "도메인 경계·현업 승인·결과 대사",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SER-001~004, FUR-001~006, ASR·DAR / Word T098 https://www.g2b.go.kr/pn/pnp/pnpe/UntyAtchFile/downloadFile.do?bidPbancNo=R26BK01705928&amp;bidPbancOrd=001&amp;fileSeq=4&amp;fileType=&amp;prcmBsneSeCd=03</a:t>
            </a:r>
          </a:p>
          <a:p xmlns:a="http://schemas.openxmlformats.org/drawingml/2006/main">
            <a:r>
              <a:t>홈페이지 https://heen1987-ops.github.io/TS-business-Plan-001/index.html?view=platform-cases&amp;case=PF-R09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"PF-R09",</a:t>
            </a:r>
          </a:p>
          <a:p xmlns:a="http://schemas.openxmlformats.org/drawingml/2006/main">
            <a:r>
              <a:t>    "sourceId": "R09",</a:t>
            </a:r>
          </a:p>
          <a:p xmlns:a="http://schemas.openxmlformats.org/drawingml/2006/main">
            <a:r>
              <a:t>    "title": "석유공사 업무 AI",</a:t>
            </a:r>
          </a:p>
          <a:p xmlns:a="http://schemas.openxmlformats.org/drawingml/2006/main">
            <a:r>
              <a:t>    "region": "국내",</a:t>
            </a:r>
          </a:p>
          <a:p xmlns:a="http://schemas.openxmlformats.org/drawingml/2006/main">
            <a:r>
              <a:t>    "owner": "한국석유공사",</a:t>
            </a:r>
          </a:p>
          <a:p xmlns:a="http://schemas.openxmlformats.org/drawingml/2006/main">
            <a:r>
              <a:t>    "state": "정정 RFP 확인 / 구축·운영 성과 미확인",</a:t>
            </a:r>
          </a:p>
          <a:p xmlns:a="http://schemas.openxmlformats.org/drawingml/2006/main">
            <a:r>
              <a:t>    "period": "기존 원장 확인 2026.10.16",</a:t>
            </a:r>
          </a:p>
          <a:p xmlns:a="http://schemas.openxmlformats.org/drawingml/2006/main">
            <a:r>
              <a:t>    "fact": "범용 챗봇 + 인사복지·안전·시추·지질·비축설비·시장보고 6과제",</a:t>
            </a:r>
          </a:p>
          <a:p xmlns:a="http://schemas.openxmlformats.org/drawingml/2006/main">
            <a:r>
              <a:t>    "limit": "별도 과제(오피넷 AICC·적정유가 등)를 이번 개발로 합산하지 않음",</a:t>
            </a:r>
          </a:p>
          <a:p xmlns:a="http://schemas.openxmlformats.org/drawingml/2006/main">
            <a:r>
              <a:t>    "nodes": [</a:t>
            </a:r>
          </a:p>
          <a:p xmlns:a="http://schemas.openxmlformats.org/drawingml/2006/main">
            <a:r>
              <a:t>      "인사·안전 등 지식",</a:t>
            </a:r>
          </a:p>
          <a:p xmlns:a="http://schemas.openxmlformats.org/drawingml/2006/main">
            <a:r>
              <a:t>      "도메인 RAG",</a:t>
            </a:r>
          </a:p>
          <a:p xmlns:a="http://schemas.openxmlformats.org/drawingml/2006/main">
            <a:r>
              <a:t>      "업무 앱·ERP",</a:t>
            </a:r>
          </a:p>
          <a:p xmlns:a="http://schemas.openxmlformats.org/drawingml/2006/main">
            <a:r>
              <a:t>      "권한·성과 관리"</a:t>
            </a:r>
          </a:p>
          <a:p xmlns:a="http://schemas.openxmlformats.org/drawingml/2006/main">
            <a:r>
              <a:t>    ],</a:t>
            </a:r>
          </a:p>
          <a:p xmlns:a="http://schemas.openxmlformats.org/drawingml/2006/main">
            <a:r>
              <a:t>    "apply": "공통 사용자·권한 기반 위에 업무 도메인별 지식과 실행 경로 구성",</a:t>
            </a:r>
          </a:p>
          <a:p xmlns:a="http://schemas.openxmlformats.org/drawingml/2006/main">
            <a:r>
              <a:t>    "delta": "TS 업무 도메인 라우터 / 사용자 역할·효력일 / 업무별 검색·원천 연계",</a:t>
            </a:r>
          </a:p>
          <a:p xmlns:a="http://schemas.openxmlformats.org/drawingml/2006/main">
            <a:r>
              <a:t>    "test": "전보·겸직·다른 도메인 질의의 라우팅·근거·접근 허용 여부 대조",</a:t>
            </a:r>
          </a:p>
          <a:p xmlns:a="http://schemas.openxmlformats.org/drawingml/2006/main">
            <a:r>
              <a:t>    "url": "https://www.g2b.go.kr/pn/pnp/pnpe/UntyAtchFile/downloadFile.do?bidPbancNo=R26BK01705928&amp;bidPbancOrd=001&amp;fileSeq=4&amp;fileType=&amp;prcmBsneSeCd=03",</a:t>
            </a:r>
          </a:p>
          <a:p xmlns:a="http://schemas.openxmlformats.org/drawingml/2006/main">
            <a:r>
              <a:t>    "urls": [</a:t>
            </a:r>
          </a:p>
          <a:p xmlns:a="http://schemas.openxmlformats.org/drawingml/2006/main">
            <a:r>
              <a:t>      "https://www.g2b.go.kr/pn/pnp/pnpe/UntyAtchFile/downloadFile.do?bidPbancNo=R26BK01705928&amp;bidPbancOrd=001&amp;fileSeq=4&amp;fileType=&amp;prcmBsneSeCd=03"</a:t>
            </a:r>
          </a:p>
          <a:p xmlns:a="http://schemas.openxmlformats.org/drawingml/2006/main">
            <a:r>
              <a:t>    ],</a:t>
            </a:r>
          </a:p>
          <a:p xmlns:a="http://schemas.openxmlformats.org/drawingml/2006/main">
            <a:r>
              <a:t>    "basis": "SER-001~004, FUR-001~006, ASR·DAR / Word T098",</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"업무 분류 정확도 / 근거 적합률 / 도메인 추가 구축 공수",</a:t>
            </a:r>
          </a:p>
          <a:p xmlns:a="http://schemas.openxmlformats.org/drawingml/2006/main">
            <a:r>
              <a:t>    "group": "요구·구축",</a:t>
            </a:r>
          </a:p>
          <a:p xmlns:a="http://schemas.openxmlformats.org/drawingml/2006/main">
            <a:r>
              <a:t>    "sourceDetail": "대화형/전용화면, 에이전트·ERP·권한·문서/정형 데이터 연계, 도메인별 RAG/보고서",</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"PF-R09",</a:t>
            </a:r>
          </a:p>
          <a:p xmlns:a="http://schemas.openxmlformats.org/drawingml/2006/main">
            <a:r>
              <a:t>    "canonicalId": "PF-R09",</a:t>
            </a:r>
          </a:p>
          <a:p xmlns:a="http://schemas.openxmlformats.org/drawingml/2006/main">
            <a:r>
              <a:t>    "purpose": "공통 플랫폼 위의 6개 업무 특화 AI",</a:t>
            </a:r>
          </a:p>
          <a:p xmlns:a="http://schemas.openxmlformats.org/drawingml/2006/main">
            <a:r>
              <a:t>    "users": "인사·안전·개발·비축·시장 담당",</a:t>
            </a:r>
          </a:p>
          <a:p xmlns:a="http://schemas.openxmlformats.org/drawingml/2006/main">
            <a:r>
              <a:t>    "scope": [</a:t>
            </a:r>
          </a:p>
          <a:p xmlns:a="http://schemas.openxmlformats.org/drawingml/2006/main">
            <a:r>
              <a:t>      "공통 챗봇",</a:t>
            </a:r>
          </a:p>
          <a:p xmlns:a="http://schemas.openxmlformats.org/drawingml/2006/main">
            <a:r>
              <a:t>      "6개 업무 앱",</a:t>
            </a:r>
          </a:p>
          <a:p xmlns:a="http://schemas.openxmlformats.org/drawingml/2006/main">
            <a:r>
              <a:t>      "ERP 연계"</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"직원 업무 앱",</a:t>
            </a:r>
          </a:p>
          <a:p xmlns:a="http://schemas.openxmlformats.org/drawingml/2006/main">
            <a:r>
              <a:t>        "detail": "사번·소속·직급·업무분장 기반 접근 판정",</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"공통 챗봇 / 6개 업무 앱 / ERP 연계",</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"도메인 RAG",</a:t>
            </a:r>
          </a:p>
          <a:p xmlns:a="http://schemas.openxmlformats.org/drawingml/2006/main">
            <a:r>
              <a:t>        "detail": "도메인 RAG·정형 조회·보고서 생성 라우팅",</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"업무·ERP 담당",</a:t>
            </a:r>
          </a:p>
          <a:p xmlns:a="http://schemas.openxmlformats.org/drawingml/2006/main">
            <a:r>
              <a:t>        "detail": "원천 링크·업무 결과를 현업에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"인사·안전·설비 지식",</a:t>
            </a:r>
          </a:p>
          <a:p xmlns:a="http://schemas.openxmlformats.org/drawingml/2006/main">
            <a:r>
              <a:t>        "detail": "시추 일보·지질·설비·규정의 도메인별 색인",</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"권한 변경 이력·도메인 평가·업무별 운영 관리",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"인사·안전 등 지식",</a:t>
            </a:r>
          </a:p>
          <a:p xmlns:a="http://schemas.openxmlformats.org/drawingml/2006/main">
            <a:r>
              <a:t>        "input": "사번·소속·직급·업무분장 기반 접근 판정",</a:t>
            </a:r>
          </a:p>
          <a:p xmlns:a="http://schemas.openxmlformats.org/drawingml/2006/main">
            <a:r>
              <a:t>        "process": "시추 일보·지질·설비·규정의 도메인별 색인",</a:t>
            </a:r>
          </a:p>
          <a:p xmlns:a="http://schemas.openxmlformats.org/drawingml/2006/main">
            <a:r>
              <a:t>        "output": "업무 목적"</a:t>
            </a:r>
          </a:p>
          <a:p xmlns:a="http://schemas.openxmlformats.org/drawingml/2006/main">
            <a:r>
              <a:t>      },</a:t>
            </a:r>
          </a:p>
          <a:p xmlns:a="http://schemas.openxmlformats.org/drawingml/2006/main">
            <a:r>
              <a:t>      {</a:t>
            </a:r>
          </a:p>
          <a:p xmlns:a="http://schemas.openxmlformats.org/drawingml/2006/main">
            <a:r>
              <a:t>        "title": "도메인 RAG",</a:t>
            </a:r>
          </a:p>
          <a:p xmlns:a="http://schemas.openxmlformats.org/drawingml/2006/main">
            <a:r>
              <a:t>        "input": "업무 목적",</a:t>
            </a:r>
          </a:p>
          <a:p xmlns:a="http://schemas.openxmlformats.org/drawingml/2006/main">
            <a:r>
              <a:t>        "process": "도메인 RAG·정형 조회·보고서 생성 라우팅",</a:t>
            </a:r>
          </a:p>
          <a:p xmlns:a="http://schemas.openxmlformats.org/drawingml/2006/main">
            <a:r>
              <a:t>        "output": "도메인 근거"</a:t>
            </a:r>
          </a:p>
          <a:p xmlns:a="http://schemas.openxmlformats.org/drawingml/2006/main">
            <a:r>
              <a:t>      },</a:t>
            </a:r>
          </a:p>
          <a:p xmlns:a="http://schemas.openxmlformats.org/drawingml/2006/main">
            <a:r>
              <a:t>      {</a:t>
            </a:r>
          </a:p>
          <a:p xmlns:a="http://schemas.openxmlformats.org/drawingml/2006/main">
            <a:r>
              <a:t>        "title": "업무 앱·ERP",</a:t>
            </a:r>
          </a:p>
          <a:p xmlns:a="http://schemas.openxmlformats.org/drawingml/2006/main">
            <a:r>
              <a:t>        "input": "도메인 근거",</a:t>
            </a:r>
          </a:p>
          <a:p xmlns:a="http://schemas.openxmlformats.org/drawingml/2006/main">
            <a:r>
              <a:t>        "process": "도메인 경계·현업 승인·결과 대사",</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"title": "권한·성과 관리",</a:t>
            </a:r>
          </a:p>
          <a:p xmlns:a="http://schemas.openxmlformats.org/drawingml/2006/main">
            <a:r>
              <a:t>        "input": "검토 초안",</a:t>
            </a:r>
          </a:p>
          <a:p xmlns:a="http://schemas.openxmlformats.org/drawingml/2006/main">
            <a:r>
              <a:t>        "process": "원천 링크·업무 결과를 현업에 제공",</a:t>
            </a:r>
          </a:p>
          <a:p xmlns:a="http://schemas.openxmlformats.org/drawingml/2006/main">
            <a:r>
              <a:t>        "output": "공식 업무 처리"</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"직원의 업무 목적을 6개 도메인 중 해당 앱으로 연결",</a:t>
            </a:r>
          </a:p>
          <a:p xmlns:a="http://schemas.openxmlformats.org/drawingml/2006/main">
            <a:r>
              <a:t>      "exception": "직급·근속 변경·다른 도메인 자료·시추 원문 누락",</a:t>
            </a:r>
          </a:p>
          <a:p xmlns:a="http://schemas.openxmlformats.org/drawingml/2006/main">
            <a:r>
              <a:t>      "evidence": "업무별 라우팅·접근 결과와 원천 인용·변경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"인사·안전·개발·비축·시장 담당",</a:t>
            </a:r>
          </a:p>
          <a:p xmlns:a="http://schemas.openxmlformats.org/drawingml/2006/main">
            <a:r>
              <a:t>          "processing": "사번·소속·직급·업무분장 기반 접근 판정",</a:t>
            </a:r>
          </a:p>
          <a:p xmlns:a="http://schemas.openxmlformats.org/drawingml/2006/main">
            <a:r>
              <a:t>          "output": "업무 목적"</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"인사·안전·설비 지식",</a:t>
            </a:r>
          </a:p>
          <a:p xmlns:a="http://schemas.openxmlformats.org/drawingml/2006/main">
            <a:r>
              <a:t>          "processing": "시추 일보·지질·설비·규정의 도메인별 색인",</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"업무 목적",</a:t>
            </a:r>
          </a:p>
          <a:p xmlns:a="http://schemas.openxmlformats.org/drawingml/2006/main">
            <a:r>
              <a:t>          "processing": "도메인 RAG·정형 조회·보고서 생성 라우팅",</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"검토 초안",</a:t>
            </a:r>
          </a:p>
          <a:p xmlns:a="http://schemas.openxmlformats.org/drawingml/2006/main">
            <a:r>
              <a:t>          "processing": "원천 링크·업무 결과를 현업에 제공",</a:t>
            </a:r>
          </a:p>
          <a:p xmlns:a="http://schemas.openxmlformats.org/drawingml/2006/main">
            <a:r>
              <a:t>          "output": "공식 업무 처리"</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"권한 변경 이력·도메인 평가·업무별 운영 관리",</a:t>
            </a:r>
          </a:p>
          <a:p xmlns:a="http://schemas.openxmlformats.org/drawingml/2006/main">
            <a:r>
              <a:t>          "output": "업무별 라우팅·접근 결과와 원천 인용·변경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"권한 변경 이력·도메인 평가·업무별 운영 관리",</a:t>
            </a:r>
          </a:p>
          <a:p xmlns:a="http://schemas.openxmlformats.org/drawingml/2006/main">
            <a:r>
              <a:t>    "status": "RFP 기반 논리 설계",</a:t>
            </a:r>
          </a:p>
          <a:p xmlns:a="http://schemas.openxmlformats.org/drawingml/2006/main">
            <a:r>
              <a:t>    "basis": "RFP 2026.09 · SER-001~004·FUR-001~006",</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"SER-001~004, FUR-001~006, ASR·DAR / Word T098",</a:t>
            </a:r>
          </a:p>
          <a:p xmlns:a="http://schemas.openxmlformats.org/drawingml/2006/main">
            <a:r>
              <a:t>        "url": "https://www.g2b.go.kr/pn/pnp/pnpe/UntyAtchFile/downloadFile.do?bidPbancNo=R26BK01705928&amp;bidPbancOrd=001&amp;fileSeq=4&amp;fileType=&amp;prcmBsneSeCd=03"</a:t>
            </a:r>
          </a:p>
          <a:p xmlns:a="http://schemas.openxmlformats.org/drawingml/2006/main">
            <a:r>
              <a:t>      }</a:t>
            </a:r>
          </a:p>
          <a:p xmlns:a="http://schemas.openxmlformats.org/drawingml/2006/main">
            <a:r>
              <a:t>    ],</a:t>
            </a:r>
          </a:p>
          <a:p xmlns:a="http://schemas.openxmlformats.org/drawingml/2006/main">
            <a:r>
              <a:t>    "implication": "공통 사용자·권한 기반 위에 업무 도메인별 지식과 실행 경로 구성",</a:t>
            </a:r>
          </a:p>
          <a:p xmlns:a="http://schemas.openxmlformats.org/drawingml/2006/main">
            <a:r>
              <a:t>    "local": "공통 사용자·권한 기반 위에 업무 도메인별 지식과 실행 경로 구성",</a:t>
            </a:r>
          </a:p>
          <a:p xmlns:a="http://schemas.openxmlformats.org/drawingml/2006/main">
            <a:r>
              <a:t>    "sourceDetail": "대화형/전용화면, 에이전트·ERP·권한·문서/정형 데이터 연계, 도메인별 RAG/보고서",</a:t>
            </a:r>
          </a:p>
          <a:p xmlns:a="http://schemas.openxmlformats.org/drawingml/2006/main">
            <a:r>
              <a:t>    "narrative": [</a:t>
            </a:r>
          </a:p>
          <a:p xmlns:a="http://schemas.openxmlformats.org/drawingml/2006/main">
            <a:r>
              <a:t>      "공통 AI 대화·전용 업무 화면 위에 인사복지, 안전관리, 시추, 지질, 비축설비, 석유시장 보고서의 6개 업무를 구성하는 사업. 전사 공통 기반과 도메인별 지식·산출물의 경계를 비교하기 적합한 사례.",</a:t>
            </a:r>
          </a:p>
          <a:p xmlns:a="http://schemas.openxmlformats.org/drawingml/2006/main">
            <a:r>
              <a:t>      "SER 요구는 공통 접점·업무 범위·권한과 응용 서비스를 정의하고, FUR-001~006은 업무별 자료와 출력 기능을 분리. 직원 사번·소속·직급·업무분장, 문서 접근조건, 정형 데이터·ERP 연계를 각 업무 처리의 문맥으로 사용하는 구조.",</a:t>
            </a:r>
          </a:p>
          <a:p xmlns:a="http://schemas.openxmlformats.org/drawingml/2006/main">
            <a:r>
              <a:t>      "TS의 1차 조직·권한·업무 분류 기반을 만든 뒤 부서별 특화 서비스를 붙이는 순서에 활용할 대상. 공통 챗봇 설치와 6개 업무의 인수 완료를 같은 실적으로 보지 않고, 업무별 데이터 원천·전문가 정답셋·실행 승인·결과 대사를 따로 관리할 필요."</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"SER-001",</a:t>
            </a:r>
          </a:p>
          <a:p xmlns:a="http://schemas.openxmlformats.org/drawingml/2006/main">
            <a:r>
              <a:t>        "title": "AI 대화형 서비스",</a:t>
            </a:r>
          </a:p>
          <a:p xmlns:a="http://schemas.openxmlformats.org/drawingml/2006/main">
            <a:r>
              <a:t>        "locator": "SER-001",</a:t>
            </a:r>
          </a:p>
          <a:p xmlns:a="http://schemas.openxmlformats.org/drawingml/2006/main">
            <a:r>
              <a:t>        "summary": "공통 AI 대화형 서비스 제공.",</a:t>
            </a:r>
          </a:p>
          <a:p xmlns:a="http://schemas.openxmlformats.org/drawingml/2006/main">
            <a:r>
              <a:t>        "data": "직원 질의·자료 → 대화 응답·근거",</a:t>
            </a:r>
          </a:p>
          <a:p xmlns:a="http://schemas.openxmlformats.org/drawingml/2006/main">
            <a:r>
              <a:t>        "components": [</a:t>
            </a:r>
          </a:p>
          <a:p xmlns:a="http://schemas.openxmlformats.org/drawingml/2006/main">
            <a:r>
              <a:t>          "C01",</a:t>
            </a:r>
          </a:p>
          <a:p xmlns:a="http://schemas.openxmlformats.org/drawingml/2006/main">
            <a:r>
              <a:t>          "C03",</a:t>
            </a:r>
          </a:p>
          <a:p xmlns:a="http://schemas.openxmlformats.org/drawingml/2006/main">
            <a:r>
              <a:t>          "C04"</a:t>
            </a:r>
          </a:p>
          <a:p xmlns:a="http://schemas.openxmlformats.org/drawingml/2006/main">
            <a:r>
              <a:t>        ],</a:t>
            </a:r>
          </a:p>
          <a:p xmlns:a="http://schemas.openxmlformats.org/drawingml/2006/main">
            <a:r>
              <a:t>        "acceptance": "문맥 유지·출처 확인·입력 범위·오류 안내의 대화 시나리오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"5c1be9c8c0ac6ecdc4d18ef05c6b02a80c9f5f082231b33b335733de34a142e2"</a:t>
            </a:r>
          </a:p>
          <a:p xmlns:a="http://schemas.openxmlformats.org/drawingml/2006/main">
            <a:r>
              <a:t>      },</a:t>
            </a:r>
          </a:p>
          <a:p xmlns:a="http://schemas.openxmlformats.org/drawingml/2006/main">
            <a:r>
              <a:t>      {</a:t>
            </a:r>
          </a:p>
          <a:p xmlns:a="http://schemas.openxmlformats.org/drawingml/2006/main">
            <a:r>
              <a:t>        "id": "SER-002",</a:t>
            </a:r>
          </a:p>
          <a:p xmlns:a="http://schemas.openxmlformats.org/drawingml/2006/main">
            <a:r>
              <a:t>        "title": "업무 특화 화면 서비스",</a:t>
            </a:r>
          </a:p>
          <a:p xmlns:a="http://schemas.openxmlformats.org/drawingml/2006/main">
            <a:r>
              <a:t>        "locator": "SER-002",</a:t>
            </a:r>
          </a:p>
          <a:p xmlns:a="http://schemas.openxmlformats.org/drawingml/2006/main">
            <a:r>
              <a:t>        "summary": "업무 특화 화면에서 필요한 입력과 결과를 제공.",</a:t>
            </a:r>
          </a:p>
          <a:p xmlns:a="http://schemas.openxmlformats.org/drawingml/2006/main">
            <a:r>
              <a:t>        "data": "업무 종류·필수 입력 → 특화 결과 화면",</a:t>
            </a:r>
          </a:p>
          <a:p xmlns:a="http://schemas.openxmlformats.org/drawingml/2006/main">
            <a:r>
              <a:t>        "components": [</a:t>
            </a:r>
          </a:p>
          <a:p xmlns:a="http://schemas.openxmlformats.org/drawingml/2006/main">
            <a:r>
              <a:t>          "C01",</a:t>
            </a:r>
          </a:p>
          <a:p xmlns:a="http://schemas.openxmlformats.org/drawingml/2006/main">
            <a:r>
              <a:t>          "C02",</a:t>
            </a:r>
          </a:p>
          <a:p xmlns:a="http://schemas.openxmlformats.org/drawingml/2006/main">
            <a:r>
              <a:t>          "C06"</a:t>
            </a:r>
          </a:p>
          <a:p xmlns:a="http://schemas.openxmlformats.org/drawingml/2006/main">
            <a:r>
              <a:t>        ],</a:t>
            </a:r>
          </a:p>
          <a:p xmlns:a="http://schemas.openxmlformats.org/drawingml/2006/main">
            <a:r>
              <a:t>        "acceptance": "업무별 필수 항목 누락·정정·결과 편집의 화면 동작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"4712f1694c7a46f76189d352fd3d252e83e6f128c095acdb1bfaf30e6453b7ea"</a:t>
            </a:r>
          </a:p>
          <a:p xmlns:a="http://schemas.openxmlformats.org/drawingml/2006/main">
            <a:r>
              <a:t>      },</a:t>
            </a:r>
          </a:p>
          <a:p xmlns:a="http://schemas.openxmlformats.org/drawingml/2006/main">
            <a:r>
              <a:t>      {</a:t>
            </a:r>
          </a:p>
          <a:p xmlns:a="http://schemas.openxmlformats.org/drawingml/2006/main">
            <a:r>
              <a:t>        "id": "SER-003",</a:t>
            </a:r>
          </a:p>
          <a:p xmlns:a="http://schemas.openxmlformats.org/drawingml/2006/main">
            <a:r>
              <a:t>        "title": "AI 응용 서비스 대상 업무",</a:t>
            </a:r>
          </a:p>
          <a:p xmlns:a="http://schemas.openxmlformats.org/drawingml/2006/main">
            <a:r>
              <a:t>        "locator": "SER-003",</a:t>
            </a:r>
          </a:p>
          <a:p xmlns:a="http://schemas.openxmlformats.org/drawingml/2006/main">
            <a:r>
              <a:t>        "summary": "AI 응용서비스 대상 업무의 범위 구성.",</a:t>
            </a:r>
          </a:p>
          <a:p xmlns:a="http://schemas.openxmlformats.org/drawingml/2006/main">
            <a:r>
              <a:t>        "data": "업무 요청·영역 → 해당 응용서비스",</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a:t>
            </a:r>
          </a:p>
          <a:p xmlns:a="http://schemas.openxmlformats.org/drawingml/2006/main">
            <a:r>
              <a:t>        "acceptance": "인사·안전·시추·지질·설비·시장 업무의 잘못된 라우팅과 복합 요청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"f63574c927275ee8519741567d3f145890d5ed0b96c61b09e00920044886df77"</a:t>
            </a:r>
          </a:p>
          <a:p xmlns:a="http://schemas.openxmlformats.org/drawingml/2006/main">
            <a:r>
              <a:t>      },</a:t>
            </a:r>
          </a:p>
          <a:p xmlns:a="http://schemas.openxmlformats.org/drawingml/2006/main">
            <a:r>
              <a:t>      {</a:t>
            </a:r>
          </a:p>
          <a:p xmlns:a="http://schemas.openxmlformats.org/drawingml/2006/main">
            <a:r>
              <a:t>        "id": "SER-004",</a:t>
            </a:r>
          </a:p>
          <a:p xmlns:a="http://schemas.openxmlformats.org/drawingml/2006/main">
            <a:r>
              <a:t>        "title": "응용 서비스 공통",</a:t>
            </a:r>
          </a:p>
          <a:p xmlns:a="http://schemas.openxmlformats.org/drawingml/2006/main">
            <a:r>
              <a:t>        "locator": "SER-004",</a:t>
            </a:r>
          </a:p>
          <a:p xmlns:a="http://schemas.openxmlformats.org/drawingml/2006/main">
            <a:r>
              <a:t>        "summary": "업무 응용서비스에 공통 적용할 기능과 운영 기준 구성.",</a:t>
            </a:r>
          </a:p>
          <a:p xmlns:a="http://schemas.openxmlformats.org/drawingml/2006/main">
            <a:r>
              <a:t>        "data": "서비스 설정·권한·이용 기록 → 공통 통제·운영 결과",</a:t>
            </a:r>
          </a:p>
          <a:p xmlns:a="http://schemas.openxmlformats.org/drawingml/2006/main">
            <a:r>
              <a:t>        "components": [</a:t>
            </a:r>
          </a:p>
          <a:p xmlns:a="http://schemas.openxmlformats.org/drawingml/2006/main">
            <a:r>
              <a:t>          "C05",</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"개별 서비스 추가 시 공통 인증·통제·운영 기록 적용의 누락 점검",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"581ef5bd7d42a38fff5a1fa79a158712f59c915a988ed9e2f16244c505dd2ce9"</a:t>
            </a:r>
          </a:p>
          <a:p xmlns:a="http://schemas.openxmlformats.org/drawingml/2006/main">
            <a:r>
              <a:t>      },</a:t>
            </a:r>
          </a:p>
          <a:p xmlns:a="http://schemas.openxmlformats.org/drawingml/2006/main">
            <a:r>
              <a:t>      {</a:t>
            </a:r>
          </a:p>
          <a:p xmlns:a="http://schemas.openxmlformats.org/drawingml/2006/main">
            <a:r>
              <a:t>        "id": "FUR-001",</a:t>
            </a:r>
          </a:p>
          <a:p xmlns:a="http://schemas.openxmlformats.org/drawingml/2006/main">
            <a:r>
              <a:t>        "title": "[일반행정] 인사·복지 AI 서비스",</a:t>
            </a:r>
          </a:p>
          <a:p xmlns:a="http://schemas.openxmlformats.org/drawingml/2006/main">
            <a:r>
              <a:t>        "locator": "FUR-001",</a:t>
            </a:r>
          </a:p>
          <a:p xmlns:a="http://schemas.openxmlformats.org/drawingml/2006/main">
            <a:r>
              <a:t>        "summary": "인사·복지 규정과 업무 지식을 활용한 직원 지원.",</a:t>
            </a:r>
          </a:p>
          <a:p xmlns:a="http://schemas.openxmlformats.org/drawingml/2006/main">
            <a:r>
              <a:t>        "data": "직원 문맥·인사복지 질의 → 적용 규정·안내",</a:t>
            </a:r>
          </a:p>
          <a:p xmlns:a="http://schemas.openxmlformats.org/drawingml/2006/main">
            <a:r>
              <a:t>        "components": [</a:t>
            </a:r>
          </a:p>
          <a:p xmlns:a="http://schemas.openxmlformats.org/drawingml/2006/main">
            <a:r>
              <a:t>          "C02",</a:t>
            </a:r>
          </a:p>
          <a:p xmlns:a="http://schemas.openxmlformats.org/drawingml/2006/main">
            <a:r>
              <a:t>          "C03",</a:t>
            </a:r>
          </a:p>
          <a:p xmlns:a="http://schemas.openxmlformats.org/drawingml/2006/main">
            <a:r>
              <a:t>          "C06"</a:t>
            </a:r>
          </a:p>
          <a:p xmlns:a="http://schemas.openxmlformats.org/drawingml/2006/main">
            <a:r>
              <a:t>        ],</a:t>
            </a:r>
          </a:p>
          <a:p xmlns:a="http://schemas.openxmlformats.org/drawingml/2006/main">
            <a:r>
              <a:t>        "acceptance": "근무 조건·시행일·예외 조항이 다른 질문의 근거 선택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"5cd185d2ca6f76c5606a274957c4915b34daac231353f6ab491b45ffb4fc8014"</a:t>
            </a:r>
          </a:p>
          <a:p xmlns:a="http://schemas.openxmlformats.org/drawingml/2006/main">
            <a:r>
              <a:t>      },</a:t>
            </a:r>
          </a:p>
          <a:p xmlns:a="http://schemas.openxmlformats.org/drawingml/2006/main">
            <a:r>
              <a:t>      {</a:t>
            </a:r>
          </a:p>
          <a:p xmlns:a="http://schemas.openxmlformats.org/drawingml/2006/main">
            <a:r>
              <a:t>        "id": "FUR-002",</a:t>
            </a:r>
          </a:p>
          <a:p xmlns:a="http://schemas.openxmlformats.org/drawingml/2006/main">
            <a:r>
              <a:t>        "title": "[안전관리] 안전관리 AI 서비스",</a:t>
            </a:r>
          </a:p>
          <a:p xmlns:a="http://schemas.openxmlformats.org/drawingml/2006/main">
            <a:r>
              <a:t>        "locator": "FUR-002",</a:t>
            </a:r>
          </a:p>
          <a:p xmlns:a="http://schemas.openxmlformats.org/drawingml/2006/main">
            <a:r>
              <a:t>        "summary": "안전 분야 자료를 활용한 업무 지원.",</a:t>
            </a:r>
          </a:p>
          <a:p xmlns:a="http://schemas.openxmlformats.org/drawingml/2006/main">
            <a:r>
              <a:t>        "data": "안전 업무 질의·자료 → 근거·검토 결과",</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"C05"</a:t>
            </a:r>
          </a:p>
          <a:p xmlns:a="http://schemas.openxmlformats.org/drawingml/2006/main">
            <a:r>
              <a:t>        ],</a:t>
            </a:r>
          </a:p>
          <a:p xmlns:a="http://schemas.openxmlformats.org/drawingml/2006/main">
            <a:r>
              <a:t>        "acceptance": "현장 조건과 적용 기준의 불일치·필수 조치 누락을 포함한 검토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"ae5ca92e3dbf8291576889d17428fe931c780d6262138c9eaa06e5f28fc0d3e6"</a:t>
            </a:r>
          </a:p>
          <a:p xmlns:a="http://schemas.openxmlformats.org/drawingml/2006/main">
            <a:r>
              <a:t>      },</a:t>
            </a:r>
          </a:p>
          <a:p xmlns:a="http://schemas.openxmlformats.org/drawingml/2006/main">
            <a:r>
              <a:t>      {</a:t>
            </a:r>
          </a:p>
          <a:p xmlns:a="http://schemas.openxmlformats.org/drawingml/2006/main">
            <a:r>
              <a:t>        "id": "FUR-003",</a:t>
            </a:r>
          </a:p>
          <a:p xmlns:a="http://schemas.openxmlformats.org/drawingml/2006/main">
            <a:r>
              <a:t>        "title": "[석유개발] 석유 시추 정보 AI 서비스",</a:t>
            </a:r>
          </a:p>
          <a:p xmlns:a="http://schemas.openxmlformats.org/drawingml/2006/main">
            <a:r>
              <a:t>        "locator": "FUR-003",</a:t>
            </a:r>
          </a:p>
          <a:p xmlns:a="http://schemas.openxmlformats.org/drawingml/2006/main">
            <a:r>
              <a:t>        "summary": "시추 분야 자료와 전문 지식의 업무 활용.",</a:t>
            </a:r>
          </a:p>
          <a:p xmlns:a="http://schemas.openxmlformats.org/drawingml/2006/main">
            <a:r>
              <a:t>        "data": "시추 질의·기술자료 → 근거·분석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"전문 용어·설비 조건·단위 오류와 출처 없는 추론의 구분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"9acd9aea17e5f3417a6f8f17f19191240f88fedb58e28130587c9b97c113c023"</a:t>
            </a:r>
          </a:p>
          <a:p xmlns:a="http://schemas.openxmlformats.org/drawingml/2006/main">
            <a:r>
              <a:t>      },</a:t>
            </a:r>
          </a:p>
          <a:p xmlns:a="http://schemas.openxmlformats.org/drawingml/2006/main">
            <a:r>
              <a:t>      {</a:t>
            </a:r>
          </a:p>
          <a:p xmlns:a="http://schemas.openxmlformats.org/drawingml/2006/main">
            <a:r>
              <a:t>        "id": "FUR-004",</a:t>
            </a:r>
          </a:p>
          <a:p xmlns:a="http://schemas.openxmlformats.org/drawingml/2006/main">
            <a:r>
              <a:t>        "title": "[석유개발] 석유 지질 정보 AI 서비스",</a:t>
            </a:r>
          </a:p>
          <a:p xmlns:a="http://schemas.openxmlformats.org/drawingml/2006/main">
            <a:r>
              <a:t>        "locator": "FUR-004",</a:t>
            </a:r>
          </a:p>
          <a:p xmlns:a="http://schemas.openxmlformats.org/drawingml/2006/main">
            <a:r>
              <a:t>        "summary": "지질 자료와 분석 업무의 AI 지원.",</a:t>
            </a:r>
          </a:p>
          <a:p xmlns:a="http://schemas.openxmlformats.org/drawingml/2006/main">
            <a:r>
              <a:t>        "data": "지질 질의·연구 자료 → 탐색·분석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"서로 다른 지역·시기 자료의 혼용과 전문 수치·그림 근거 연결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"0c138c01d2c00b386c64812738ceda4a9d3dfa79e5c1ec90b1d8ca4f758908d5"</a:t>
            </a:r>
          </a:p>
          <a:p xmlns:a="http://schemas.openxmlformats.org/drawingml/2006/main">
            <a:r>
              <a:t>      },</a:t>
            </a:r>
          </a:p>
          <a:p xmlns:a="http://schemas.openxmlformats.org/drawingml/2006/main">
            <a:r>
              <a:t>      {</a:t>
            </a:r>
          </a:p>
          <a:p xmlns:a="http://schemas.openxmlformats.org/drawingml/2006/main">
            <a:r>
              <a:t>        "id": "FUR-005",</a:t>
            </a:r>
          </a:p>
          <a:p xmlns:a="http://schemas.openxmlformats.org/drawingml/2006/main">
            <a:r>
              <a:t>        "title": "[석유비축] 비축설비 정비·운영 AI 서비스",</a:t>
            </a:r>
          </a:p>
          <a:p xmlns:a="http://schemas.openxmlformats.org/drawingml/2006/main">
            <a:r>
              <a:t>        "locator": "FUR-005",</a:t>
            </a:r>
          </a:p>
          <a:p xmlns:a="http://schemas.openxmlformats.org/drawingml/2006/main">
            <a:r>
              <a:t>        "summary": "비축설비 관련 자료의 검색·업무 지원.",</a:t>
            </a:r>
          </a:p>
          <a:p xmlns:a="http://schemas.openxmlformats.org/drawingml/2006/main">
            <a:r>
              <a:t>        "data": "설비 식별·정비 자료 → 관련 근거·지원 결과",</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"설비 번호·점검 시점·부품 조건이 다른 자료의 구분과 최신 이력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"4d18cc59bfa5560530dcceb2188516ebb10c10fe8e05807a6f1c8d14188bdec8"</a:t>
            </a:r>
          </a:p>
          <a:p xmlns:a="http://schemas.openxmlformats.org/drawingml/2006/main">
            <a:r>
              <a:t>      },</a:t>
            </a:r>
          </a:p>
          <a:p xmlns:a="http://schemas.openxmlformats.org/drawingml/2006/main">
            <a:r>
              <a:t>      {</a:t>
            </a:r>
          </a:p>
          <a:p xmlns:a="http://schemas.openxmlformats.org/drawingml/2006/main">
            <a:r>
              <a:t>        "id": "FUR-006",</a:t>
            </a:r>
          </a:p>
          <a:p xmlns:a="http://schemas.openxmlformats.org/drawingml/2006/main">
            <a:r>
              <a:t>        "title": "[석유정보] 석유시장 보고서 작성 AI 서비스",</a:t>
            </a:r>
          </a:p>
          <a:p xmlns:a="http://schemas.openxmlformats.org/drawingml/2006/main">
            <a:r>
              <a:t>        "locator": "FUR-006",</a:t>
            </a:r>
          </a:p>
          <a:p xmlns:a="http://schemas.openxmlformats.org/drawingml/2006/main">
            <a:r>
              <a:t>        "summary": "시장 자료를 활용한 보고서 작성 지원.",</a:t>
            </a:r>
          </a:p>
          <a:p xmlns:a="http://schemas.openxmlformats.org/drawingml/2006/main">
            <a:r>
              <a:t>        "data": "시장 자료·기준일 → 근거가 연결된 보고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"기준일·통화·단위 혼용, 숫자 인용, 최신 자료 누락의 항목별 점검",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"1a1e671fc8f1cfe4dc05c83144eb257e226afeea8a0f7096652aeec596b82a80"</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"직원·업무 앱",</a:t>
            </a:r>
          </a:p>
          <a:p xmlns:a="http://schemas.openxmlformats.org/drawingml/2006/main">
            <a:r>
              <a:t>          "layer": "이용 접점",</a:t>
            </a:r>
          </a:p>
          <a:p xmlns:a="http://schemas.openxmlformats.org/drawingml/2006/main">
            <a:r>
              <a:t>          "detail": "인사·안전·개발·비축·시장 담당",</a:t>
            </a:r>
          </a:p>
          <a:p xmlns:a="http://schemas.openxmlformats.org/drawingml/2006/main">
            <a:r>
              <a:t>          "requirements": [</a:t>
            </a:r>
          </a:p>
          <a:p xmlns:a="http://schemas.openxmlformats.org/drawingml/2006/main">
            <a:r>
              <a:t>            "SER-001",</a:t>
            </a:r>
          </a:p>
          <a:p xmlns:a="http://schemas.openxmlformats.org/drawingml/2006/main">
            <a:r>
              <a:t>            "SER-002"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"사번·소속·업무",</a:t>
            </a:r>
          </a:p>
          <a:p xmlns:a="http://schemas.openxmlformats.org/drawingml/2006/main">
            <a:r>
              <a:t>          "layer": "업무 문맥",</a:t>
            </a:r>
          </a:p>
          <a:p xmlns:a="http://schemas.openxmlformats.org/drawingml/2006/main">
            <a:r>
              <a:t>          "detail": "사번·소속·직급·업무분장 기반 접근 판정",</a:t>
            </a:r>
          </a:p>
          <a:p xmlns:a="http://schemas.openxmlformats.org/drawingml/2006/main">
            <a:r>
              <a:t>          "requirements": [</a:t>
            </a:r>
          </a:p>
          <a:p xmlns:a="http://schemas.openxmlformats.org/drawingml/2006/main">
            <a:r>
              <a:t>            "SER-002",</a:t>
            </a:r>
          </a:p>
          <a:p xmlns:a="http://schemas.openxmlformats.org/drawingml/2006/main">
            <a:r>
              <a:t>            "SER-003",</a:t>
            </a:r>
          </a:p>
          <a:p xmlns:a="http://schemas.openxmlformats.org/drawingml/2006/main">
            <a:r>
              <a:t>            "FUR-001"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"도메인 지식 조회",</a:t>
            </a:r>
          </a:p>
          <a:p xmlns:a="http://schemas.openxmlformats.org/drawingml/2006/main">
            <a:r>
              <a:t>          "layer": "자료 조회",</a:t>
            </a:r>
          </a:p>
          <a:p xmlns:a="http://schemas.openxmlformats.org/drawingml/2006/main">
            <a:r>
              <a:t>          "detail": "업무 목적",</a:t>
            </a:r>
          </a:p>
          <a:p xmlns:a="http://schemas.openxmlformats.org/drawingml/2006/main">
            <a:r>
              <a:t>          "requirements": [</a:t>
            </a:r>
          </a:p>
          <a:p xmlns:a="http://schemas.openxmlformats.org/drawingml/2006/main">
            <a:r>
              <a:t>            "SER-001",</a:t>
            </a:r>
          </a:p>
          <a:p xmlns:a="http://schemas.openxmlformats.org/drawingml/2006/main">
            <a:r>
              <a:t>            "FUR-001",</a:t>
            </a:r>
          </a:p>
          <a:p xmlns:a="http://schemas.openxmlformats.org/drawingml/2006/main">
            <a:r>
              <a:t>            "FUR-002",</a:t>
            </a:r>
          </a:p>
          <a:p xmlns:a="http://schemas.openxmlformats.org/drawingml/2006/main">
            <a:r>
              <a:t>            "FUR-003",</a:t>
            </a:r>
          </a:p>
          <a:p xmlns:a="http://schemas.openxmlformats.org/drawingml/2006/main">
            <a:r>
              <a:t>            "FUR-004",</a:t>
            </a:r>
          </a:p>
          <a:p xmlns:a="http://schemas.openxmlformats.org/drawingml/2006/main">
            <a:r>
              <a:t>            "FUR-005",</a:t>
            </a:r>
          </a:p>
          <a:p xmlns:a="http://schemas.openxmlformats.org/drawingml/2006/main">
            <a:r>
              <a:t>            "FUR-006"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"6개 특화 AI 처리",</a:t>
            </a:r>
          </a:p>
          <a:p xmlns:a="http://schemas.openxmlformats.org/drawingml/2006/main">
            <a:r>
              <a:t>          "layer": "핵심 처리",</a:t>
            </a:r>
          </a:p>
          <a:p xmlns:a="http://schemas.openxmlformats.org/drawingml/2006/main">
            <a:r>
              <a:t>          "detail": "도메인 RAG·정형 조회·보고서 생성 라우팅",</a:t>
            </a:r>
          </a:p>
          <a:p xmlns:a="http://schemas.openxmlformats.org/drawingml/2006/main">
            <a:r>
              <a:t>          "requirements": [</a:t>
            </a:r>
          </a:p>
          <a:p xmlns:a="http://schemas.openxmlformats.org/drawingml/2006/main">
            <a:r>
              <a:t>            "SER-001",</a:t>
            </a:r>
          </a:p>
          <a:p xmlns:a="http://schemas.openxmlformats.org/drawingml/2006/main">
            <a:r>
              <a:t>            "SER-003",</a:t>
            </a:r>
          </a:p>
          <a:p xmlns:a="http://schemas.openxmlformats.org/drawingml/2006/main">
            <a:r>
              <a:t>            "FUR-002",</a:t>
            </a:r>
          </a:p>
          <a:p xmlns:a="http://schemas.openxmlformats.org/drawingml/2006/main">
            <a:r>
              <a:t>            "FUR-003",</a:t>
            </a:r>
          </a:p>
          <a:p xmlns:a="http://schemas.openxmlformats.org/drawingml/2006/main">
            <a:r>
              <a:t>            "FUR-004",</a:t>
            </a:r>
          </a:p>
          <a:p xmlns:a="http://schemas.openxmlformats.org/drawingml/2006/main">
            <a:r>
              <a:t>            "FUR-005",</a:t>
            </a:r>
          </a:p>
          <a:p xmlns:a="http://schemas.openxmlformats.org/drawingml/2006/main">
            <a:r>
              <a:t>            "FUR-006"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"권한·근거 대조",</a:t>
            </a:r>
          </a:p>
          <a:p xmlns:a="http://schemas.openxmlformats.org/drawingml/2006/main">
            <a:r>
              <a:t>          "layer": "결과 검증",</a:t>
            </a:r>
          </a:p>
          <a:p xmlns:a="http://schemas.openxmlformats.org/drawingml/2006/main">
            <a:r>
              <a:t>          "detail": "도메인 경계·현업 승인·결과 대사",</a:t>
            </a:r>
          </a:p>
          <a:p xmlns:a="http://schemas.openxmlformats.org/drawingml/2006/main">
            <a:r>
              <a:t>          "requirements": [</a:t>
            </a:r>
          </a:p>
          <a:p xmlns:a="http://schemas.openxmlformats.org/drawingml/2006/main">
            <a:r>
              <a:t>            "SER-004",</a:t>
            </a:r>
          </a:p>
          <a:p xmlns:a="http://schemas.openxmlformats.org/drawingml/2006/main">
            <a:r>
              <a:t>            "FUR-002"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"현업 승인",</a:t>
            </a:r>
          </a:p>
          <a:p xmlns:a="http://schemas.openxmlformats.org/drawingml/2006/main">
            <a:r>
              <a:t>          "layer": "사람 확인",</a:t>
            </a:r>
          </a:p>
          <a:p xmlns:a="http://schemas.openxmlformats.org/drawingml/2006/main">
            <a:r>
              <a:t>          "detail": "직원의 업무 목적을 6개 도메인 중 해당 앱으로 연결",</a:t>
            </a:r>
          </a:p>
          <a:p xmlns:a="http://schemas.openxmlformats.org/drawingml/2006/main">
            <a:r>
              <a:t>          "requirements": [</a:t>
            </a:r>
          </a:p>
          <a:p xmlns:a="http://schemas.openxmlformats.org/drawingml/2006/main">
            <a:r>
              <a:t>            "SER-002",</a:t>
            </a:r>
          </a:p>
          <a:p xmlns:a="http://schemas.openxmlformats.org/drawingml/2006/main">
            <a:r>
              <a:t>            "FUR-001",</a:t>
            </a:r>
          </a:p>
          <a:p xmlns:a="http://schemas.openxmlformats.org/drawingml/2006/main">
            <a:r>
              <a:t>            "FUR-003",</a:t>
            </a:r>
          </a:p>
          <a:p xmlns:a="http://schemas.openxmlformats.org/drawingml/2006/main">
            <a:r>
              <a:t>            "FUR-004",</a:t>
            </a:r>
          </a:p>
          <a:p xmlns:a="http://schemas.openxmlformats.org/drawingml/2006/main">
            <a:r>
              <a:t>            "FUR-005",</a:t>
            </a:r>
          </a:p>
          <a:p xmlns:a="http://schemas.openxmlformats.org/drawingml/2006/main">
            <a:r>
              <a:t>            "FUR-006"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"ERP·보고서 연계",</a:t>
            </a:r>
          </a:p>
          <a:p xmlns:a="http://schemas.openxmlformats.org/drawingml/2006/main">
            <a:r>
              <a:t>          "layer": "업무 연결",</a:t>
            </a:r>
          </a:p>
          <a:p xmlns:a="http://schemas.openxmlformats.org/drawingml/2006/main">
            <a:r>
              <a:t>          "detail": "원천 링크·업무 결과를 현업에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"도메인별 평가",</a:t>
            </a:r>
          </a:p>
          <a:p xmlns:a="http://schemas.openxmlformats.org/drawingml/2006/main">
            <a:r>
              <a:t>          "layer": "운영 관측",</a:t>
            </a:r>
          </a:p>
          <a:p xmlns:a="http://schemas.openxmlformats.org/drawingml/2006/main">
            <a:r>
              <a:t>          "detail": "권한 변경 이력·도메인 평가·업무별 운영 관리",</a:t>
            </a:r>
          </a:p>
          <a:p xmlns:a="http://schemas.openxmlformats.org/drawingml/2006/main">
            <a:r>
              <a:t>          "requirements": [</a:t>
            </a:r>
          </a:p>
          <a:p xmlns:a="http://schemas.openxmlformats.org/drawingml/2006/main">
            <a:r>
              <a:t>            "SER-004"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"시추·설비·규정",</a:t>
            </a:r>
          </a:p>
          <a:p xmlns:a="http://schemas.openxmlformats.org/drawingml/2006/main">
            <a:r>
              <a:t>          "layer": "데이터 원천",</a:t>
            </a:r>
          </a:p>
          <a:p xmlns:a="http://schemas.openxmlformats.org/drawingml/2006/main">
            <a:r>
              <a:t>          "detail": "인사·안전·설비 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"업무별 자료 정합화",</a:t>
            </a:r>
          </a:p>
          <a:p xmlns:a="http://schemas.openxmlformats.org/drawingml/2006/main">
            <a:r>
              <a:t>          "layer": "준비·갱신",</a:t>
            </a:r>
          </a:p>
          <a:p xmlns:a="http://schemas.openxmlformats.org/drawingml/2006/main">
            <a:r>
              <a:t>          "detail": "시추 일보·지질·설비·규정의 도메인별 색인",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"도메인 RAG 색인",</a:t>
            </a:r>
          </a:p>
          <a:p xmlns:a="http://schemas.openxmlformats.org/drawingml/2006/main">
            <a:r>
              <a:t>          "layer": "상태·지식 저장",</a:t>
            </a:r>
          </a:p>
          <a:p xmlns:a="http://schemas.openxmlformats.org/drawingml/2006/main">
            <a:r>
              <a:t>          "detail": "업무별 라우팅·접근 결과와 원천 인용·변경 이력",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"문서·ERP 권한",</a:t>
            </a:r>
          </a:p>
          <a:p xmlns:a="http://schemas.openxmlformats.org/drawingml/2006/main">
            <a:r>
              <a:t>          "layer": "권한·정책",</a:t>
            </a:r>
          </a:p>
          <a:p xmlns:a="http://schemas.openxmlformats.org/drawingml/2006/main">
            <a:r>
              <a:t>          "detail": "직급·근속 변경·다른 도메인 자료·시추 원문 누락",</a:t>
            </a:r>
          </a:p>
          <a:p xmlns:a="http://schemas.openxmlformats.org/drawingml/2006/main">
            <a:r>
              <a:t>          "requirements": [</a:t>
            </a:r>
          </a:p>
          <a:p xmlns:a="http://schemas.openxmlformats.org/drawingml/2006/main">
            <a:r>
              <a:t>            "SER-004"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"사번·소속·직급·업무분장 기반 접근 판정",</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"업무 목적",</a:t>
            </a:r>
          </a:p>
          <a:p xmlns:a="http://schemas.openxmlformats.org/drawingml/2006/main">
            <a:r>
              <a:t>          "check": "도메인 경계·현업 승인·결과 대사"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"도메인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"검토 초안",</a:t>
            </a:r>
          </a:p>
          <a:p xmlns:a="http://schemas.openxmlformats.org/drawingml/2006/main">
            <a:r>
              <a:t>          "check": "직급·근속 변경·다른 도메인 자료·시추 원문 누락"</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"검토 초안",</a:t>
            </a:r>
          </a:p>
          <a:p xmlns:a="http://schemas.openxmlformats.org/drawingml/2006/main">
            <a:r>
              <a:t>          "check": "원천 링크·업무 결과를 현업에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"공식 업무 처리",</a:t>
            </a:r>
          </a:p>
          <a:p xmlns:a="http://schemas.openxmlformats.org/drawingml/2006/main">
            <a:r>
              <a:t>          "check": "업무별 라우팅·접근 결과와 원천 인용·변경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"SER-001~004·FUR-001~006",</a:t>
            </a:r>
          </a:p>
          <a:p xmlns:a="http://schemas.openxmlformats.org/drawingml/2006/main">
            <a:r>
              <a:t>        "extracted": "사번·소속·직급·업무분장, 문서별 권한, 6개 특화업무",</a:t>
            </a:r>
          </a:p>
          <a:p xmlns:a="http://schemas.openxmlformats.org/drawingml/2006/main">
            <a:r>
              <a:t>        "extension": "ERP 조회·실행 권한 분리 및 특화업무별 인수셋"</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"직급·근속 변경·다른 도메인 자료·시추 원문 누락",</a:t>
            </a:r>
          </a:p>
          <a:p xmlns:a="http://schemas.openxmlformats.org/drawingml/2006/main">
            <a:r>
              <a:t>        "hold": "도메인 경계·현업 승인·결과 대사",</a:t>
            </a:r>
          </a:p>
          <a:p xmlns:a="http://schemas.openxmlformats.org/drawingml/2006/main">
            <a:r>
              <a:t>        "recovery": "권한 변경 이력·도메인 평가·업무별 운영 관리",</a:t>
            </a:r>
          </a:p>
          <a:p xmlns:a="http://schemas.openxmlformats.org/drawingml/2006/main">
            <a:r>
              <a:t>        "evidence": "업무별 라우팅·접근 결과와 원천 인용·변경 이력"</a:t>
            </a:r>
          </a:p>
          <a:p xmlns:a="http://schemas.openxmlformats.org/drawingml/2006/main">
            <a:r>
              <a:t>      },</a:t>
            </a:r>
          </a:p>
          <a:p xmlns:a="http://schemas.openxmlformats.org/drawingml/2006/main">
            <a:r>
              <a:t>      "data": {</a:t>
            </a:r>
          </a:p>
          <a:p xmlns:a="http://schemas.openxmlformats.org/drawingml/2006/main">
            <a:r>
              <a:t>        "source": "인사·안전·설비 지식",</a:t>
            </a:r>
          </a:p>
          <a:p xmlns:a="http://schemas.openxmlformats.org/drawingml/2006/main">
            <a:r>
              <a:t>        "prepare": "시추 일보·지질·설비·규정의 도메인별 색인",</a:t>
            </a:r>
          </a:p>
          <a:p xmlns:a="http://schemas.openxmlformats.org/drawingml/2006/main">
            <a:r>
              <a:t>        "output": "업무 목적",</a:t>
            </a:r>
          </a:p>
          <a:p xmlns:a="http://schemas.openxmlformats.org/drawingml/2006/main">
            <a:r>
              <a:t>        "refresh": "권한 변경 이력·도메인 평가·업무별 운영 관리"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"PF-R09",</a:t>
            </a:r>
          </a:p>
          <a:p xmlns:a="http://schemas.openxmlformats.org/drawingml/2006/main">
            <a:r>
              <a:t>    "success": [</a:t>
            </a:r>
          </a:p>
          <a:p xmlns:a="http://schemas.openxmlformats.org/drawingml/2006/main">
            <a:r>
              <a:t>      "공통 챗봇과 6개 도메인 분리",</a:t>
            </a:r>
          </a:p>
          <a:p xmlns:a="http://schemas.openxmlformats.org/drawingml/2006/main">
            <a:r>
              <a:t>      "업무 지식·ERP 경로의 결합"</a:t>
            </a:r>
          </a:p>
          <a:p xmlns:a="http://schemas.openxmlformats.org/drawingml/2006/main">
            <a:r>
              <a:t>    ],</a:t>
            </a:r>
          </a:p>
          <a:p xmlns:a="http://schemas.openxmlformats.org/drawingml/2006/main">
            <a:r>
              <a:t>    "risks": [</a:t>
            </a:r>
          </a:p>
          <a:p xmlns:a="http://schemas.openxmlformats.org/drawingml/2006/main">
            <a:r>
              <a:t>      "도메인 지식의 혼합",</a:t>
            </a:r>
          </a:p>
          <a:p xmlns:a="http://schemas.openxmlformats.org/drawingml/2006/main">
            <a:r>
              <a:t>      "안전·시추 권고를 자동 실행"</a:t>
            </a:r>
          </a:p>
          <a:p xmlns:a="http://schemas.openxmlformats.org/drawingml/2006/main">
            <a:r>
              <a:t>    ],</a:t>
            </a:r>
          </a:p>
          <a:p xmlns:a="http://schemas.openxmlformats.org/drawingml/2006/main">
            <a:r>
              <a:t>    "architecture": [</a:t>
            </a:r>
          </a:p>
          <a:p xmlns:a="http://schemas.openxmlformats.org/drawingml/2006/main">
            <a:r>
              <a:t>      "직원 업무 앱",</a:t>
            </a:r>
          </a:p>
          <a:p xmlns:a="http://schemas.openxmlformats.org/drawingml/2006/main">
            <a:r>
              <a:t>      "도메인 RAG",</a:t>
            </a:r>
          </a:p>
          <a:p xmlns:a="http://schemas.openxmlformats.org/drawingml/2006/main">
            <a:r>
              <a:t>      "인사·안전·설비 지식",</a:t>
            </a:r>
          </a:p>
          <a:p xmlns:a="http://schemas.openxmlformats.org/drawingml/2006/main">
            <a:r>
              <a:t>      "업무·ERP 담당"</a:t>
            </a:r>
          </a:p>
          <a:p xmlns:a="http://schemas.openxmlformats.org/drawingml/2006/main">
            <a:r>
              <a:t>    ],</a:t>
            </a:r>
          </a:p>
          <a:p xmlns:a="http://schemas.openxmlformats.org/drawingml/2006/main">
            <a:r>
              <a:t>    "transfers": [</a:t>
            </a:r>
          </a:p>
          <a:p xmlns:a="http://schemas.openxmlformats.org/drawingml/2006/main">
            <a:r>
              <a:t>      "업무 목적",</a:t>
            </a:r>
          </a:p>
          <a:p xmlns:a="http://schemas.openxmlformats.org/drawingml/2006/main">
            <a:r>
              <a:t>      "도메인 근거",</a:t>
            </a:r>
          </a:p>
          <a:p xmlns:a="http://schemas.openxmlformats.org/drawingml/2006/main">
            <a:r>
              <a:t>      "검토 초안",</a:t>
            </a:r>
          </a:p>
          <a:p xmlns:a="http://schemas.openxmlformats.org/drawingml/2006/main">
            <a:r>
              <a:t>      "공식 업무 처리"</a:t>
            </a:r>
          </a:p>
          <a:p xmlns:a="http://schemas.openxmlformats.org/drawingml/2006/main">
            <a:r>
              <a:t>    ],</a:t>
            </a:r>
          </a:p>
          <a:p xmlns:a="http://schemas.openxmlformats.org/drawingml/2006/main">
            <a:r>
              <a:t>    "control": "도메인 경계·현업 승인·결과 대사",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SER-001~004, FUR-001~006, ASR·DAR / Word T098 https://www.g2b.go.kr/pn/pnp/pnpe/UntyAtchFile/downloadFile.do?bidPbancNo=R26BK01705928&amp;bidPbancOrd=001&amp;fileSeq=4&amp;fileType=&amp;prcmBsneSeCd=03</a:t>
            </a:r>
          </a:p>
          <a:p xmlns:a="http://schemas.openxmlformats.org/drawingml/2006/main">
            <a:r>
              <a:t>홈페이지 https://heen1987-ops.github.io/TS-business-Plan-001/index.html?view=platform-cases&amp;case=PF-R09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"PF-R09",</a:t>
            </a:r>
          </a:p>
          <a:p xmlns:a="http://schemas.openxmlformats.org/drawingml/2006/main">
            <a:r>
              <a:t>    "sourceId": "R09",</a:t>
            </a:r>
          </a:p>
          <a:p xmlns:a="http://schemas.openxmlformats.org/drawingml/2006/main">
            <a:r>
              <a:t>    "title": "석유공사 업무 AI",</a:t>
            </a:r>
          </a:p>
          <a:p xmlns:a="http://schemas.openxmlformats.org/drawingml/2006/main">
            <a:r>
              <a:t>    "region": "국내",</a:t>
            </a:r>
          </a:p>
          <a:p xmlns:a="http://schemas.openxmlformats.org/drawingml/2006/main">
            <a:r>
              <a:t>    "owner": "한국석유공사",</a:t>
            </a:r>
          </a:p>
          <a:p xmlns:a="http://schemas.openxmlformats.org/drawingml/2006/main">
            <a:r>
              <a:t>    "state": "정정 RFP 확인 / 구축·운영 성과 미확인",</a:t>
            </a:r>
          </a:p>
          <a:p xmlns:a="http://schemas.openxmlformats.org/drawingml/2006/main">
            <a:r>
              <a:t>    "period": "기존 원장 확인 2026.10.16",</a:t>
            </a:r>
          </a:p>
          <a:p xmlns:a="http://schemas.openxmlformats.org/drawingml/2006/main">
            <a:r>
              <a:t>    "fact": "범용 챗봇 + 인사복지·안전·시추·지질·비축설비·시장보고 6과제",</a:t>
            </a:r>
          </a:p>
          <a:p xmlns:a="http://schemas.openxmlformats.org/drawingml/2006/main">
            <a:r>
              <a:t>    "limit": "별도 과제(오피넷 AICC·적정유가 등)를 이번 개발로 합산하지 않음",</a:t>
            </a:r>
          </a:p>
          <a:p xmlns:a="http://schemas.openxmlformats.org/drawingml/2006/main">
            <a:r>
              <a:t>    "nodes": [</a:t>
            </a:r>
          </a:p>
          <a:p xmlns:a="http://schemas.openxmlformats.org/drawingml/2006/main">
            <a:r>
              <a:t>      "인사·안전 등 지식",</a:t>
            </a:r>
          </a:p>
          <a:p xmlns:a="http://schemas.openxmlformats.org/drawingml/2006/main">
            <a:r>
              <a:t>      "도메인 RAG",</a:t>
            </a:r>
          </a:p>
          <a:p xmlns:a="http://schemas.openxmlformats.org/drawingml/2006/main">
            <a:r>
              <a:t>      "업무 앱·ERP",</a:t>
            </a:r>
          </a:p>
          <a:p xmlns:a="http://schemas.openxmlformats.org/drawingml/2006/main">
            <a:r>
              <a:t>      "권한·성과 관리"</a:t>
            </a:r>
          </a:p>
          <a:p xmlns:a="http://schemas.openxmlformats.org/drawingml/2006/main">
            <a:r>
              <a:t>    ],</a:t>
            </a:r>
          </a:p>
          <a:p xmlns:a="http://schemas.openxmlformats.org/drawingml/2006/main">
            <a:r>
              <a:t>    "apply": "공통 사용자·권한 기반 위에 업무 도메인별 지식과 실행 경로 구성",</a:t>
            </a:r>
          </a:p>
          <a:p xmlns:a="http://schemas.openxmlformats.org/drawingml/2006/main">
            <a:r>
              <a:t>    "delta": "TS 업무 도메인 라우터 / 사용자 역할·효력일 / 업무별 검색·원천 연계",</a:t>
            </a:r>
          </a:p>
          <a:p xmlns:a="http://schemas.openxmlformats.org/drawingml/2006/main">
            <a:r>
              <a:t>    "test": "전보·겸직·다른 도메인 질의의 라우팅·근거·접근 허용 여부 대조",</a:t>
            </a:r>
          </a:p>
          <a:p xmlns:a="http://schemas.openxmlformats.org/drawingml/2006/main">
            <a:r>
              <a:t>    "url": "https://www.g2b.go.kr/pn/pnp/pnpe/UntyAtchFile/downloadFile.do?bidPbancNo=R26BK01705928&amp;bidPbancOrd=001&amp;fileSeq=4&amp;fileType=&amp;prcmBsneSeCd=03",</a:t>
            </a:r>
          </a:p>
          <a:p xmlns:a="http://schemas.openxmlformats.org/drawingml/2006/main">
            <a:r>
              <a:t>    "urls": [</a:t>
            </a:r>
          </a:p>
          <a:p xmlns:a="http://schemas.openxmlformats.org/drawingml/2006/main">
            <a:r>
              <a:t>      "https://www.g2b.go.kr/pn/pnp/pnpe/UntyAtchFile/downloadFile.do?bidPbancNo=R26BK01705928&amp;bidPbancOrd=001&amp;fileSeq=4&amp;fileType=&amp;prcmBsneSeCd=03"</a:t>
            </a:r>
          </a:p>
          <a:p xmlns:a="http://schemas.openxmlformats.org/drawingml/2006/main">
            <a:r>
              <a:t>    ],</a:t>
            </a:r>
          </a:p>
          <a:p xmlns:a="http://schemas.openxmlformats.org/drawingml/2006/main">
            <a:r>
              <a:t>    "basis": "SER-001~004, FUR-001~006, ASR·DAR / Word T098",</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"업무 분류 정확도 / 근거 적합률 / 도메인 추가 구축 공수",</a:t>
            </a:r>
          </a:p>
          <a:p xmlns:a="http://schemas.openxmlformats.org/drawingml/2006/main">
            <a:r>
              <a:t>    "group": "요구·구축",</a:t>
            </a:r>
          </a:p>
          <a:p xmlns:a="http://schemas.openxmlformats.org/drawingml/2006/main">
            <a:r>
              <a:t>    "sourceDetail": "대화형/전용화면, 에이전트·ERP·권한·문서/정형 데이터 연계, 도메인별 RAG/보고서",</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"PF-R09",</a:t>
            </a:r>
          </a:p>
          <a:p xmlns:a="http://schemas.openxmlformats.org/drawingml/2006/main">
            <a:r>
              <a:t>    "canonicalId": "PF-R09",</a:t>
            </a:r>
          </a:p>
          <a:p xmlns:a="http://schemas.openxmlformats.org/drawingml/2006/main">
            <a:r>
              <a:t>    "purpose": "공통 플랫폼 위의 6개 업무 특화 AI",</a:t>
            </a:r>
          </a:p>
          <a:p xmlns:a="http://schemas.openxmlformats.org/drawingml/2006/main">
            <a:r>
              <a:t>    "users": "인사·안전·개발·비축·시장 담당",</a:t>
            </a:r>
          </a:p>
          <a:p xmlns:a="http://schemas.openxmlformats.org/drawingml/2006/main">
            <a:r>
              <a:t>    "scope": [</a:t>
            </a:r>
          </a:p>
          <a:p xmlns:a="http://schemas.openxmlformats.org/drawingml/2006/main">
            <a:r>
              <a:t>      "공통 챗봇",</a:t>
            </a:r>
          </a:p>
          <a:p xmlns:a="http://schemas.openxmlformats.org/drawingml/2006/main">
            <a:r>
              <a:t>      "6개 업무 앱",</a:t>
            </a:r>
          </a:p>
          <a:p xmlns:a="http://schemas.openxmlformats.org/drawingml/2006/main">
            <a:r>
              <a:t>      "ERP 연계"</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"직원 업무 앱",</a:t>
            </a:r>
          </a:p>
          <a:p xmlns:a="http://schemas.openxmlformats.org/drawingml/2006/main">
            <a:r>
              <a:t>        "detail": "사번·소속·직급·업무분장 기반 접근 판정",</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"공통 챗봇 / 6개 업무 앱 / ERP 연계",</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"도메인 RAG",</a:t>
            </a:r>
          </a:p>
          <a:p xmlns:a="http://schemas.openxmlformats.org/drawingml/2006/main">
            <a:r>
              <a:t>        "detail": "도메인 RAG·정형 조회·보고서 생성 라우팅",</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"업무·ERP 담당",</a:t>
            </a:r>
          </a:p>
          <a:p xmlns:a="http://schemas.openxmlformats.org/drawingml/2006/main">
            <a:r>
              <a:t>        "detail": "원천 링크·업무 결과를 현업에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"인사·안전·설비 지식",</a:t>
            </a:r>
          </a:p>
          <a:p xmlns:a="http://schemas.openxmlformats.org/drawingml/2006/main">
            <a:r>
              <a:t>        "detail": "시추 일보·지질·설비·규정의 도메인별 색인",</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"권한 변경 이력·도메인 평가·업무별 운영 관리",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"인사·안전 등 지식",</a:t>
            </a:r>
          </a:p>
          <a:p xmlns:a="http://schemas.openxmlformats.org/drawingml/2006/main">
            <a:r>
              <a:t>        "input": "사번·소속·직급·업무분장 기반 접근 판정",</a:t>
            </a:r>
          </a:p>
          <a:p xmlns:a="http://schemas.openxmlformats.org/drawingml/2006/main">
            <a:r>
              <a:t>        "process": "시추 일보·지질·설비·규정의 도메인별 색인",</a:t>
            </a:r>
          </a:p>
          <a:p xmlns:a="http://schemas.openxmlformats.org/drawingml/2006/main">
            <a:r>
              <a:t>        "output": "업무 목적"</a:t>
            </a:r>
          </a:p>
          <a:p xmlns:a="http://schemas.openxmlformats.org/drawingml/2006/main">
            <a:r>
              <a:t>      },</a:t>
            </a:r>
          </a:p>
          <a:p xmlns:a="http://schemas.openxmlformats.org/drawingml/2006/main">
            <a:r>
              <a:t>      {</a:t>
            </a:r>
          </a:p>
          <a:p xmlns:a="http://schemas.openxmlformats.org/drawingml/2006/main">
            <a:r>
              <a:t>        "title": "도메인 RAG",</a:t>
            </a:r>
          </a:p>
          <a:p xmlns:a="http://schemas.openxmlformats.org/drawingml/2006/main">
            <a:r>
              <a:t>        "input": "업무 목적",</a:t>
            </a:r>
          </a:p>
          <a:p xmlns:a="http://schemas.openxmlformats.org/drawingml/2006/main">
            <a:r>
              <a:t>        "process": "도메인 RAG·정형 조회·보고서 생성 라우팅",</a:t>
            </a:r>
          </a:p>
          <a:p xmlns:a="http://schemas.openxmlformats.org/drawingml/2006/main">
            <a:r>
              <a:t>        "output": "도메인 근거"</a:t>
            </a:r>
          </a:p>
          <a:p xmlns:a="http://schemas.openxmlformats.org/drawingml/2006/main">
            <a:r>
              <a:t>      },</a:t>
            </a:r>
          </a:p>
          <a:p xmlns:a="http://schemas.openxmlformats.org/drawingml/2006/main">
            <a:r>
              <a:t>      {</a:t>
            </a:r>
          </a:p>
          <a:p xmlns:a="http://schemas.openxmlformats.org/drawingml/2006/main">
            <a:r>
              <a:t>        "title": "업무 앱·ERP",</a:t>
            </a:r>
          </a:p>
          <a:p xmlns:a="http://schemas.openxmlformats.org/drawingml/2006/main">
            <a:r>
              <a:t>        "input": "도메인 근거",</a:t>
            </a:r>
          </a:p>
          <a:p xmlns:a="http://schemas.openxmlformats.org/drawingml/2006/main">
            <a:r>
              <a:t>        "process": "도메인 경계·현업 승인·결과 대사",</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"title": "권한·성과 관리",</a:t>
            </a:r>
          </a:p>
          <a:p xmlns:a="http://schemas.openxmlformats.org/drawingml/2006/main">
            <a:r>
              <a:t>        "input": "검토 초안",</a:t>
            </a:r>
          </a:p>
          <a:p xmlns:a="http://schemas.openxmlformats.org/drawingml/2006/main">
            <a:r>
              <a:t>        "process": "원천 링크·업무 결과를 현업에 제공",</a:t>
            </a:r>
          </a:p>
          <a:p xmlns:a="http://schemas.openxmlformats.org/drawingml/2006/main">
            <a:r>
              <a:t>        "output": "공식 업무 처리"</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"직원의 업무 목적을 6개 도메인 중 해당 앱으로 연결",</a:t>
            </a:r>
          </a:p>
          <a:p xmlns:a="http://schemas.openxmlformats.org/drawingml/2006/main">
            <a:r>
              <a:t>      "exception": "직급·근속 변경·다른 도메인 자료·시추 원문 누락",</a:t>
            </a:r>
          </a:p>
          <a:p xmlns:a="http://schemas.openxmlformats.org/drawingml/2006/main">
            <a:r>
              <a:t>      "evidence": "업무별 라우팅·접근 결과와 원천 인용·변경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"인사·안전·개발·비축·시장 담당",</a:t>
            </a:r>
          </a:p>
          <a:p xmlns:a="http://schemas.openxmlformats.org/drawingml/2006/main">
            <a:r>
              <a:t>          "processing": "사번·소속·직급·업무분장 기반 접근 판정",</a:t>
            </a:r>
          </a:p>
          <a:p xmlns:a="http://schemas.openxmlformats.org/drawingml/2006/main">
            <a:r>
              <a:t>          "output": "업무 목적"</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"인사·안전·설비 지식",</a:t>
            </a:r>
          </a:p>
          <a:p xmlns:a="http://schemas.openxmlformats.org/drawingml/2006/main">
            <a:r>
              <a:t>          "processing": "시추 일보·지질·설비·규정의 도메인별 색인",</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"업무 목적",</a:t>
            </a:r>
          </a:p>
          <a:p xmlns:a="http://schemas.openxmlformats.org/drawingml/2006/main">
            <a:r>
              <a:t>          "processing": "도메인 RAG·정형 조회·보고서 생성 라우팅",</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"검토 초안",</a:t>
            </a:r>
          </a:p>
          <a:p xmlns:a="http://schemas.openxmlformats.org/drawingml/2006/main">
            <a:r>
              <a:t>          "processing": "원천 링크·업무 결과를 현업에 제공",</a:t>
            </a:r>
          </a:p>
          <a:p xmlns:a="http://schemas.openxmlformats.org/drawingml/2006/main">
            <a:r>
              <a:t>          "output": "공식 업무 처리"</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"권한 변경 이력·도메인 평가·업무별 운영 관리",</a:t>
            </a:r>
          </a:p>
          <a:p xmlns:a="http://schemas.openxmlformats.org/drawingml/2006/main">
            <a:r>
              <a:t>          "output": "업무별 라우팅·접근 결과와 원천 인용·변경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"권한 변경 이력·도메인 평가·업무별 운영 관리",</a:t>
            </a:r>
          </a:p>
          <a:p xmlns:a="http://schemas.openxmlformats.org/drawingml/2006/main">
            <a:r>
              <a:t>    "status": "RFP 기반 논리 설계",</a:t>
            </a:r>
          </a:p>
          <a:p xmlns:a="http://schemas.openxmlformats.org/drawingml/2006/main">
            <a:r>
              <a:t>    "basis": "RFP 2026.09 · SER-001~004·FUR-001~006",</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"SER-001~004, FUR-001~006, ASR·DAR / Word T098",</a:t>
            </a:r>
          </a:p>
          <a:p xmlns:a="http://schemas.openxmlformats.org/drawingml/2006/main">
            <a:r>
              <a:t>        "url": "https://www.g2b.go.kr/pn/pnp/pnpe/UntyAtchFile/downloadFile.do?bidPbancNo=R26BK01705928&amp;bidPbancOrd=001&amp;fileSeq=4&amp;fileType=&amp;prcmBsneSeCd=03"</a:t>
            </a:r>
          </a:p>
          <a:p xmlns:a="http://schemas.openxmlformats.org/drawingml/2006/main">
            <a:r>
              <a:t>      }</a:t>
            </a:r>
          </a:p>
          <a:p xmlns:a="http://schemas.openxmlformats.org/drawingml/2006/main">
            <a:r>
              <a:t>    ],</a:t>
            </a:r>
          </a:p>
          <a:p xmlns:a="http://schemas.openxmlformats.org/drawingml/2006/main">
            <a:r>
              <a:t>    "implication": "공통 사용자·권한 기반 위에 업무 도메인별 지식과 실행 경로 구성",</a:t>
            </a:r>
          </a:p>
          <a:p xmlns:a="http://schemas.openxmlformats.org/drawingml/2006/main">
            <a:r>
              <a:t>    "local": "공통 사용자·권한 기반 위에 업무 도메인별 지식과 실행 경로 구성",</a:t>
            </a:r>
          </a:p>
          <a:p xmlns:a="http://schemas.openxmlformats.org/drawingml/2006/main">
            <a:r>
              <a:t>    "sourceDetail": "대화형/전용화면, 에이전트·ERP·권한·문서/정형 데이터 연계, 도메인별 RAG/보고서",</a:t>
            </a:r>
          </a:p>
          <a:p xmlns:a="http://schemas.openxmlformats.org/drawingml/2006/main">
            <a:r>
              <a:t>    "narrative": [</a:t>
            </a:r>
          </a:p>
          <a:p xmlns:a="http://schemas.openxmlformats.org/drawingml/2006/main">
            <a:r>
              <a:t>      "공통 AI 대화·전용 업무 화면 위에 인사복지, 안전관리, 시추, 지질, 비축설비, 석유시장 보고서의 6개 업무를 구성하는 사업. 전사 공통 기반과 도메인별 지식·산출물의 경계를 비교하기 적합한 사례.",</a:t>
            </a:r>
          </a:p>
          <a:p xmlns:a="http://schemas.openxmlformats.org/drawingml/2006/main">
            <a:r>
              <a:t>      "SER 요구는 공통 접점·업무 범위·권한과 응용 서비스를 정의하고, FUR-001~006은 업무별 자료와 출력 기능을 분리. 직원 사번·소속·직급·업무분장, 문서 접근조건, 정형 데이터·ERP 연계를 각 업무 처리의 문맥으로 사용하는 구조.",</a:t>
            </a:r>
          </a:p>
          <a:p xmlns:a="http://schemas.openxmlformats.org/drawingml/2006/main">
            <a:r>
              <a:t>      "TS의 1차 조직·권한·업무 분류 기반을 만든 뒤 부서별 특화 서비스를 붙이는 순서에 활용할 대상. 공통 챗봇 설치와 6개 업무의 인수 완료를 같은 실적으로 보지 않고, 업무별 데이터 원천·전문가 정답셋·실행 승인·결과 대사를 따로 관리할 필요."</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"SER-001",</a:t>
            </a:r>
          </a:p>
          <a:p xmlns:a="http://schemas.openxmlformats.org/drawingml/2006/main">
            <a:r>
              <a:t>        "title": "AI 대화형 서비스",</a:t>
            </a:r>
          </a:p>
          <a:p xmlns:a="http://schemas.openxmlformats.org/drawingml/2006/main">
            <a:r>
              <a:t>        "locator": "SER-001",</a:t>
            </a:r>
          </a:p>
          <a:p xmlns:a="http://schemas.openxmlformats.org/drawingml/2006/main">
            <a:r>
              <a:t>        "summary": "공통 AI 대화형 서비스 제공.",</a:t>
            </a:r>
          </a:p>
          <a:p xmlns:a="http://schemas.openxmlformats.org/drawingml/2006/main">
            <a:r>
              <a:t>        "data": "직원 질의·자료 → 대화 응답·근거",</a:t>
            </a:r>
          </a:p>
          <a:p xmlns:a="http://schemas.openxmlformats.org/drawingml/2006/main">
            <a:r>
              <a:t>        "components": [</a:t>
            </a:r>
          </a:p>
          <a:p xmlns:a="http://schemas.openxmlformats.org/drawingml/2006/main">
            <a:r>
              <a:t>          "C01",</a:t>
            </a:r>
          </a:p>
          <a:p xmlns:a="http://schemas.openxmlformats.org/drawingml/2006/main">
            <a:r>
              <a:t>          "C03",</a:t>
            </a:r>
          </a:p>
          <a:p xmlns:a="http://schemas.openxmlformats.org/drawingml/2006/main">
            <a:r>
              <a:t>          "C04"</a:t>
            </a:r>
          </a:p>
          <a:p xmlns:a="http://schemas.openxmlformats.org/drawingml/2006/main">
            <a:r>
              <a:t>        ],</a:t>
            </a:r>
          </a:p>
          <a:p xmlns:a="http://schemas.openxmlformats.org/drawingml/2006/main">
            <a:r>
              <a:t>        "acceptance": "문맥 유지·출처 확인·입력 범위·오류 안내의 대화 시나리오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"5c1be9c8c0ac6ecdc4d18ef05c6b02a80c9f5f082231b33b335733de34a142e2"</a:t>
            </a:r>
          </a:p>
          <a:p xmlns:a="http://schemas.openxmlformats.org/drawingml/2006/main">
            <a:r>
              <a:t>      },</a:t>
            </a:r>
          </a:p>
          <a:p xmlns:a="http://schemas.openxmlformats.org/drawingml/2006/main">
            <a:r>
              <a:t>      {</a:t>
            </a:r>
          </a:p>
          <a:p xmlns:a="http://schemas.openxmlformats.org/drawingml/2006/main">
            <a:r>
              <a:t>        "id": "SER-002",</a:t>
            </a:r>
          </a:p>
          <a:p xmlns:a="http://schemas.openxmlformats.org/drawingml/2006/main">
            <a:r>
              <a:t>        "title": "업무 특화 화면 서비스",</a:t>
            </a:r>
          </a:p>
          <a:p xmlns:a="http://schemas.openxmlformats.org/drawingml/2006/main">
            <a:r>
              <a:t>        "locator": "SER-002",</a:t>
            </a:r>
          </a:p>
          <a:p xmlns:a="http://schemas.openxmlformats.org/drawingml/2006/main">
            <a:r>
              <a:t>        "summary": "업무 특화 화면에서 필요한 입력과 결과를 제공.",</a:t>
            </a:r>
          </a:p>
          <a:p xmlns:a="http://schemas.openxmlformats.org/drawingml/2006/main">
            <a:r>
              <a:t>        "data": "업무 종류·필수 입력 → 특화 결과 화면",</a:t>
            </a:r>
          </a:p>
          <a:p xmlns:a="http://schemas.openxmlformats.org/drawingml/2006/main">
            <a:r>
              <a:t>        "components": [</a:t>
            </a:r>
          </a:p>
          <a:p xmlns:a="http://schemas.openxmlformats.org/drawingml/2006/main">
            <a:r>
              <a:t>          "C01",</a:t>
            </a:r>
          </a:p>
          <a:p xmlns:a="http://schemas.openxmlformats.org/drawingml/2006/main">
            <a:r>
              <a:t>          "C02",</a:t>
            </a:r>
          </a:p>
          <a:p xmlns:a="http://schemas.openxmlformats.org/drawingml/2006/main">
            <a:r>
              <a:t>          "C06"</a:t>
            </a:r>
          </a:p>
          <a:p xmlns:a="http://schemas.openxmlformats.org/drawingml/2006/main">
            <a:r>
              <a:t>        ],</a:t>
            </a:r>
          </a:p>
          <a:p xmlns:a="http://schemas.openxmlformats.org/drawingml/2006/main">
            <a:r>
              <a:t>        "acceptance": "업무별 필수 항목 누락·정정·결과 편집의 화면 동작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"4712f1694c7a46f76189d352fd3d252e83e6f128c095acdb1bfaf30e6453b7ea"</a:t>
            </a:r>
          </a:p>
          <a:p xmlns:a="http://schemas.openxmlformats.org/drawingml/2006/main">
            <a:r>
              <a:t>      },</a:t>
            </a:r>
          </a:p>
          <a:p xmlns:a="http://schemas.openxmlformats.org/drawingml/2006/main">
            <a:r>
              <a:t>      {</a:t>
            </a:r>
          </a:p>
          <a:p xmlns:a="http://schemas.openxmlformats.org/drawingml/2006/main">
            <a:r>
              <a:t>        "id": "SER-003",</a:t>
            </a:r>
          </a:p>
          <a:p xmlns:a="http://schemas.openxmlformats.org/drawingml/2006/main">
            <a:r>
              <a:t>        "title": "AI 응용 서비스 대상 업무",</a:t>
            </a:r>
          </a:p>
          <a:p xmlns:a="http://schemas.openxmlformats.org/drawingml/2006/main">
            <a:r>
              <a:t>        "locator": "SER-003",</a:t>
            </a:r>
          </a:p>
          <a:p xmlns:a="http://schemas.openxmlformats.org/drawingml/2006/main">
            <a:r>
              <a:t>        "summary": "AI 응용서비스 대상 업무의 범위 구성.",</a:t>
            </a:r>
          </a:p>
          <a:p xmlns:a="http://schemas.openxmlformats.org/drawingml/2006/main">
            <a:r>
              <a:t>        "data": "업무 요청·영역 → 해당 응용서비스",</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a:t>
            </a:r>
          </a:p>
          <a:p xmlns:a="http://schemas.openxmlformats.org/drawingml/2006/main">
            <a:r>
              <a:t>        "acceptance": "인사·안전·시추·지질·설비·시장 업무의 잘못된 라우팅과 복합 요청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"f63574c927275ee8519741567d3f145890d5ed0b96c61b09e00920044886df77"</a:t>
            </a:r>
          </a:p>
          <a:p xmlns:a="http://schemas.openxmlformats.org/drawingml/2006/main">
            <a:r>
              <a:t>      },</a:t>
            </a:r>
          </a:p>
          <a:p xmlns:a="http://schemas.openxmlformats.org/drawingml/2006/main">
            <a:r>
              <a:t>      {</a:t>
            </a:r>
          </a:p>
          <a:p xmlns:a="http://schemas.openxmlformats.org/drawingml/2006/main">
            <a:r>
              <a:t>        "id": "SER-004",</a:t>
            </a:r>
          </a:p>
          <a:p xmlns:a="http://schemas.openxmlformats.org/drawingml/2006/main">
            <a:r>
              <a:t>        "title": "응용 서비스 공통",</a:t>
            </a:r>
          </a:p>
          <a:p xmlns:a="http://schemas.openxmlformats.org/drawingml/2006/main">
            <a:r>
              <a:t>        "locator": "SER-004",</a:t>
            </a:r>
          </a:p>
          <a:p xmlns:a="http://schemas.openxmlformats.org/drawingml/2006/main">
            <a:r>
              <a:t>        "summary": "업무 응용서비스에 공통 적용할 기능과 운영 기준 구성.",</a:t>
            </a:r>
          </a:p>
          <a:p xmlns:a="http://schemas.openxmlformats.org/drawingml/2006/main">
            <a:r>
              <a:t>        "data": "서비스 설정·권한·이용 기록 → 공통 통제·운영 결과",</a:t>
            </a:r>
          </a:p>
          <a:p xmlns:a="http://schemas.openxmlformats.org/drawingml/2006/main">
            <a:r>
              <a:t>        "components": [</a:t>
            </a:r>
          </a:p>
          <a:p xmlns:a="http://schemas.openxmlformats.org/drawingml/2006/main">
            <a:r>
              <a:t>          "C05",</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"개별 서비스 추가 시 공통 인증·통제·운영 기록 적용의 누락 점검",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"581ef5bd7d42a38fff5a1fa79a158712f59c915a988ed9e2f16244c505dd2ce9"</a:t>
            </a:r>
          </a:p>
          <a:p xmlns:a="http://schemas.openxmlformats.org/drawingml/2006/main">
            <a:r>
              <a:t>      },</a:t>
            </a:r>
          </a:p>
          <a:p xmlns:a="http://schemas.openxmlformats.org/drawingml/2006/main">
            <a:r>
              <a:t>      {</a:t>
            </a:r>
          </a:p>
          <a:p xmlns:a="http://schemas.openxmlformats.org/drawingml/2006/main">
            <a:r>
              <a:t>        "id": "FUR-001",</a:t>
            </a:r>
          </a:p>
          <a:p xmlns:a="http://schemas.openxmlformats.org/drawingml/2006/main">
            <a:r>
              <a:t>        "title": "[일반행정] 인사·복지 AI 서비스",</a:t>
            </a:r>
          </a:p>
          <a:p xmlns:a="http://schemas.openxmlformats.org/drawingml/2006/main">
            <a:r>
              <a:t>        "locator": "FUR-001",</a:t>
            </a:r>
          </a:p>
          <a:p xmlns:a="http://schemas.openxmlformats.org/drawingml/2006/main">
            <a:r>
              <a:t>        "summary": "인사·복지 규정과 업무 지식을 활용한 직원 지원.",</a:t>
            </a:r>
          </a:p>
          <a:p xmlns:a="http://schemas.openxmlformats.org/drawingml/2006/main">
            <a:r>
              <a:t>        "data": "직원 문맥·인사복지 질의 → 적용 규정·안내",</a:t>
            </a:r>
          </a:p>
          <a:p xmlns:a="http://schemas.openxmlformats.org/drawingml/2006/main">
            <a:r>
              <a:t>        "components": [</a:t>
            </a:r>
          </a:p>
          <a:p xmlns:a="http://schemas.openxmlformats.org/drawingml/2006/main">
            <a:r>
              <a:t>          "C02",</a:t>
            </a:r>
          </a:p>
          <a:p xmlns:a="http://schemas.openxmlformats.org/drawingml/2006/main">
            <a:r>
              <a:t>          "C03",</a:t>
            </a:r>
          </a:p>
          <a:p xmlns:a="http://schemas.openxmlformats.org/drawingml/2006/main">
            <a:r>
              <a:t>          "C06"</a:t>
            </a:r>
          </a:p>
          <a:p xmlns:a="http://schemas.openxmlformats.org/drawingml/2006/main">
            <a:r>
              <a:t>        ],</a:t>
            </a:r>
          </a:p>
          <a:p xmlns:a="http://schemas.openxmlformats.org/drawingml/2006/main">
            <a:r>
              <a:t>        "acceptance": "근무 조건·시행일·예외 조항이 다른 질문의 근거 선택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"5cd185d2ca6f76c5606a274957c4915b34daac231353f6ab491b45ffb4fc8014"</a:t>
            </a:r>
          </a:p>
          <a:p xmlns:a="http://schemas.openxmlformats.org/drawingml/2006/main">
            <a:r>
              <a:t>      },</a:t>
            </a:r>
          </a:p>
          <a:p xmlns:a="http://schemas.openxmlformats.org/drawingml/2006/main">
            <a:r>
              <a:t>      {</a:t>
            </a:r>
          </a:p>
          <a:p xmlns:a="http://schemas.openxmlformats.org/drawingml/2006/main">
            <a:r>
              <a:t>        "id": "FUR-002",</a:t>
            </a:r>
          </a:p>
          <a:p xmlns:a="http://schemas.openxmlformats.org/drawingml/2006/main">
            <a:r>
              <a:t>        "title": "[안전관리] 안전관리 AI 서비스",</a:t>
            </a:r>
          </a:p>
          <a:p xmlns:a="http://schemas.openxmlformats.org/drawingml/2006/main">
            <a:r>
              <a:t>        "locator": "FUR-002",</a:t>
            </a:r>
          </a:p>
          <a:p xmlns:a="http://schemas.openxmlformats.org/drawingml/2006/main">
            <a:r>
              <a:t>        "summary": "안전 분야 자료를 활용한 업무 지원.",</a:t>
            </a:r>
          </a:p>
          <a:p xmlns:a="http://schemas.openxmlformats.org/drawingml/2006/main">
            <a:r>
              <a:t>        "data": "안전 업무 질의·자료 → 근거·검토 결과",</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"C05"</a:t>
            </a:r>
          </a:p>
          <a:p xmlns:a="http://schemas.openxmlformats.org/drawingml/2006/main">
            <a:r>
              <a:t>        ],</a:t>
            </a:r>
          </a:p>
          <a:p xmlns:a="http://schemas.openxmlformats.org/drawingml/2006/main">
            <a:r>
              <a:t>        "acceptance": "현장 조건과 적용 기준의 불일치·필수 조치 누락을 포함한 검토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"ae5ca92e3dbf8291576889d17428fe931c780d6262138c9eaa06e5f28fc0d3e6"</a:t>
            </a:r>
          </a:p>
          <a:p xmlns:a="http://schemas.openxmlformats.org/drawingml/2006/main">
            <a:r>
              <a:t>      },</a:t>
            </a:r>
          </a:p>
          <a:p xmlns:a="http://schemas.openxmlformats.org/drawingml/2006/main">
            <a:r>
              <a:t>      {</a:t>
            </a:r>
          </a:p>
          <a:p xmlns:a="http://schemas.openxmlformats.org/drawingml/2006/main">
            <a:r>
              <a:t>        "id": "FUR-003",</a:t>
            </a:r>
          </a:p>
          <a:p xmlns:a="http://schemas.openxmlformats.org/drawingml/2006/main">
            <a:r>
              <a:t>        "title": "[석유개발] 석유 시추 정보 AI 서비스",</a:t>
            </a:r>
          </a:p>
          <a:p xmlns:a="http://schemas.openxmlformats.org/drawingml/2006/main">
            <a:r>
              <a:t>        "locator": "FUR-003",</a:t>
            </a:r>
          </a:p>
          <a:p xmlns:a="http://schemas.openxmlformats.org/drawingml/2006/main">
            <a:r>
              <a:t>        "summary": "시추 분야 자료와 전문 지식의 업무 활용.",</a:t>
            </a:r>
          </a:p>
          <a:p xmlns:a="http://schemas.openxmlformats.org/drawingml/2006/main">
            <a:r>
              <a:t>        "data": "시추 질의·기술자료 → 근거·분석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"전문 용어·설비 조건·단위 오류와 출처 없는 추론의 구분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"9acd9aea17e5f3417a6f8f17f19191240f88fedb58e28130587c9b97c113c023"</a:t>
            </a:r>
          </a:p>
          <a:p xmlns:a="http://schemas.openxmlformats.org/drawingml/2006/main">
            <a:r>
              <a:t>      },</a:t>
            </a:r>
          </a:p>
          <a:p xmlns:a="http://schemas.openxmlformats.org/drawingml/2006/main">
            <a:r>
              <a:t>      {</a:t>
            </a:r>
          </a:p>
          <a:p xmlns:a="http://schemas.openxmlformats.org/drawingml/2006/main">
            <a:r>
              <a:t>        "id": "FUR-004",</a:t>
            </a:r>
          </a:p>
          <a:p xmlns:a="http://schemas.openxmlformats.org/drawingml/2006/main">
            <a:r>
              <a:t>        "title": "[석유개발] 석유 지질 정보 AI 서비스",</a:t>
            </a:r>
          </a:p>
          <a:p xmlns:a="http://schemas.openxmlformats.org/drawingml/2006/main">
            <a:r>
              <a:t>        "locator": "FUR-004",</a:t>
            </a:r>
          </a:p>
          <a:p xmlns:a="http://schemas.openxmlformats.org/drawingml/2006/main">
            <a:r>
              <a:t>        "summary": "지질 자료와 분석 업무의 AI 지원.",</a:t>
            </a:r>
          </a:p>
          <a:p xmlns:a="http://schemas.openxmlformats.org/drawingml/2006/main">
            <a:r>
              <a:t>        "data": "지질 질의·연구 자료 → 탐색·분석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"서로 다른 지역·시기 자료의 혼용과 전문 수치·그림 근거 연결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"0c138c01d2c00b386c64812738ceda4a9d3dfa79e5c1ec90b1d8ca4f758908d5"</a:t>
            </a:r>
          </a:p>
          <a:p xmlns:a="http://schemas.openxmlformats.org/drawingml/2006/main">
            <a:r>
              <a:t>      },</a:t>
            </a:r>
          </a:p>
          <a:p xmlns:a="http://schemas.openxmlformats.org/drawingml/2006/main">
            <a:r>
              <a:t>      {</a:t>
            </a:r>
          </a:p>
          <a:p xmlns:a="http://schemas.openxmlformats.org/drawingml/2006/main">
            <a:r>
              <a:t>        "id": "FUR-005",</a:t>
            </a:r>
          </a:p>
          <a:p xmlns:a="http://schemas.openxmlformats.org/drawingml/2006/main">
            <a:r>
              <a:t>        "title": "[석유비축] 비축설비 정비·운영 AI 서비스",</a:t>
            </a:r>
          </a:p>
          <a:p xmlns:a="http://schemas.openxmlformats.org/drawingml/2006/main">
            <a:r>
              <a:t>        "locator": "FUR-005",</a:t>
            </a:r>
          </a:p>
          <a:p xmlns:a="http://schemas.openxmlformats.org/drawingml/2006/main">
            <a:r>
              <a:t>        "summary": "비축설비 관련 자료의 검색·업무 지원.",</a:t>
            </a:r>
          </a:p>
          <a:p xmlns:a="http://schemas.openxmlformats.org/drawingml/2006/main">
            <a:r>
              <a:t>        "data": "설비 식별·정비 자료 → 관련 근거·지원 결과",</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"설비 번호·점검 시점·부품 조건이 다른 자료의 구분과 최신 이력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"4d18cc59bfa5560530dcceb2188516ebb10c10fe8e05807a6f1c8d14188bdec8"</a:t>
            </a:r>
          </a:p>
          <a:p xmlns:a="http://schemas.openxmlformats.org/drawingml/2006/main">
            <a:r>
              <a:t>      },</a:t>
            </a:r>
          </a:p>
          <a:p xmlns:a="http://schemas.openxmlformats.org/drawingml/2006/main">
            <a:r>
              <a:t>      {</a:t>
            </a:r>
          </a:p>
          <a:p xmlns:a="http://schemas.openxmlformats.org/drawingml/2006/main">
            <a:r>
              <a:t>        "id": "FUR-006",</a:t>
            </a:r>
          </a:p>
          <a:p xmlns:a="http://schemas.openxmlformats.org/drawingml/2006/main">
            <a:r>
              <a:t>        "title": "[석유정보] 석유시장 보고서 작성 AI 서비스",</a:t>
            </a:r>
          </a:p>
          <a:p xmlns:a="http://schemas.openxmlformats.org/drawingml/2006/main">
            <a:r>
              <a:t>        "locator": "FUR-006",</a:t>
            </a:r>
          </a:p>
          <a:p xmlns:a="http://schemas.openxmlformats.org/drawingml/2006/main">
            <a:r>
              <a:t>        "summary": "시장 자료를 활용한 보고서 작성 지원.",</a:t>
            </a:r>
          </a:p>
          <a:p xmlns:a="http://schemas.openxmlformats.org/drawingml/2006/main">
            <a:r>
              <a:t>        "data": "시장 자료·기준일 → 근거가 연결된 보고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"기준일·통화·단위 혼용, 숫자 인용, 최신 자료 누락의 항목별 점검",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"1a1e671fc8f1cfe4dc05c83144eb257e226afeea8a0f7096652aeec596b82a80"</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"직원·업무 앱",</a:t>
            </a:r>
          </a:p>
          <a:p xmlns:a="http://schemas.openxmlformats.org/drawingml/2006/main">
            <a:r>
              <a:t>          "layer": "이용 접점",</a:t>
            </a:r>
          </a:p>
          <a:p xmlns:a="http://schemas.openxmlformats.org/drawingml/2006/main">
            <a:r>
              <a:t>          "detail": "인사·안전·개발·비축·시장 담당",</a:t>
            </a:r>
          </a:p>
          <a:p xmlns:a="http://schemas.openxmlformats.org/drawingml/2006/main">
            <a:r>
              <a:t>          "requirements": [</a:t>
            </a:r>
          </a:p>
          <a:p xmlns:a="http://schemas.openxmlformats.org/drawingml/2006/main">
            <a:r>
              <a:t>            "SER-001",</a:t>
            </a:r>
          </a:p>
          <a:p xmlns:a="http://schemas.openxmlformats.org/drawingml/2006/main">
            <a:r>
              <a:t>            "SER-002"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"사번·소속·업무",</a:t>
            </a:r>
          </a:p>
          <a:p xmlns:a="http://schemas.openxmlformats.org/drawingml/2006/main">
            <a:r>
              <a:t>          "layer": "업무 문맥",</a:t>
            </a:r>
          </a:p>
          <a:p xmlns:a="http://schemas.openxmlformats.org/drawingml/2006/main">
            <a:r>
              <a:t>          "detail": "사번·소속·직급·업무분장 기반 접근 판정",</a:t>
            </a:r>
          </a:p>
          <a:p xmlns:a="http://schemas.openxmlformats.org/drawingml/2006/main">
            <a:r>
              <a:t>          "requirements": [</a:t>
            </a:r>
          </a:p>
          <a:p xmlns:a="http://schemas.openxmlformats.org/drawingml/2006/main">
            <a:r>
              <a:t>            "SER-002",</a:t>
            </a:r>
          </a:p>
          <a:p xmlns:a="http://schemas.openxmlformats.org/drawingml/2006/main">
            <a:r>
              <a:t>            "SER-003",</a:t>
            </a:r>
          </a:p>
          <a:p xmlns:a="http://schemas.openxmlformats.org/drawingml/2006/main">
            <a:r>
              <a:t>            "FUR-001"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"도메인 지식 조회",</a:t>
            </a:r>
          </a:p>
          <a:p xmlns:a="http://schemas.openxmlformats.org/drawingml/2006/main">
            <a:r>
              <a:t>          "layer": "자료 조회",</a:t>
            </a:r>
          </a:p>
          <a:p xmlns:a="http://schemas.openxmlformats.org/drawingml/2006/main">
            <a:r>
              <a:t>          "detail": "업무 목적",</a:t>
            </a:r>
          </a:p>
          <a:p xmlns:a="http://schemas.openxmlformats.org/drawingml/2006/main">
            <a:r>
              <a:t>          "requirements": [</a:t>
            </a:r>
          </a:p>
          <a:p xmlns:a="http://schemas.openxmlformats.org/drawingml/2006/main">
            <a:r>
              <a:t>            "SER-001",</a:t>
            </a:r>
          </a:p>
          <a:p xmlns:a="http://schemas.openxmlformats.org/drawingml/2006/main">
            <a:r>
              <a:t>            "FUR-001",</a:t>
            </a:r>
          </a:p>
          <a:p xmlns:a="http://schemas.openxmlformats.org/drawingml/2006/main">
            <a:r>
              <a:t>            "FUR-002",</a:t>
            </a:r>
          </a:p>
          <a:p xmlns:a="http://schemas.openxmlformats.org/drawingml/2006/main">
            <a:r>
              <a:t>            "FUR-003",</a:t>
            </a:r>
          </a:p>
          <a:p xmlns:a="http://schemas.openxmlformats.org/drawingml/2006/main">
            <a:r>
              <a:t>            "FUR-004",</a:t>
            </a:r>
          </a:p>
          <a:p xmlns:a="http://schemas.openxmlformats.org/drawingml/2006/main">
            <a:r>
              <a:t>            "FUR-005",</a:t>
            </a:r>
          </a:p>
          <a:p xmlns:a="http://schemas.openxmlformats.org/drawingml/2006/main">
            <a:r>
              <a:t>            "FUR-006"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"6개 특화 AI 처리",</a:t>
            </a:r>
          </a:p>
          <a:p xmlns:a="http://schemas.openxmlformats.org/drawingml/2006/main">
            <a:r>
              <a:t>          "layer": "핵심 처리",</a:t>
            </a:r>
          </a:p>
          <a:p xmlns:a="http://schemas.openxmlformats.org/drawingml/2006/main">
            <a:r>
              <a:t>          "detail": "도메인 RAG·정형 조회·보고서 생성 라우팅",</a:t>
            </a:r>
          </a:p>
          <a:p xmlns:a="http://schemas.openxmlformats.org/drawingml/2006/main">
            <a:r>
              <a:t>          "requirements": [</a:t>
            </a:r>
          </a:p>
          <a:p xmlns:a="http://schemas.openxmlformats.org/drawingml/2006/main">
            <a:r>
              <a:t>            "SER-001",</a:t>
            </a:r>
          </a:p>
          <a:p xmlns:a="http://schemas.openxmlformats.org/drawingml/2006/main">
            <a:r>
              <a:t>            "SER-003",</a:t>
            </a:r>
          </a:p>
          <a:p xmlns:a="http://schemas.openxmlformats.org/drawingml/2006/main">
            <a:r>
              <a:t>            "FUR-002",</a:t>
            </a:r>
          </a:p>
          <a:p xmlns:a="http://schemas.openxmlformats.org/drawingml/2006/main">
            <a:r>
              <a:t>            "FUR-003",</a:t>
            </a:r>
          </a:p>
          <a:p xmlns:a="http://schemas.openxmlformats.org/drawingml/2006/main">
            <a:r>
              <a:t>            "FUR-004",</a:t>
            </a:r>
          </a:p>
          <a:p xmlns:a="http://schemas.openxmlformats.org/drawingml/2006/main">
            <a:r>
              <a:t>            "FUR-005",</a:t>
            </a:r>
          </a:p>
          <a:p xmlns:a="http://schemas.openxmlformats.org/drawingml/2006/main">
            <a:r>
              <a:t>            "FUR-006"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"권한·근거 대조",</a:t>
            </a:r>
          </a:p>
          <a:p xmlns:a="http://schemas.openxmlformats.org/drawingml/2006/main">
            <a:r>
              <a:t>          "layer": "결과 검증",</a:t>
            </a:r>
          </a:p>
          <a:p xmlns:a="http://schemas.openxmlformats.org/drawingml/2006/main">
            <a:r>
              <a:t>          "detail": "도메인 경계·현업 승인·결과 대사",</a:t>
            </a:r>
          </a:p>
          <a:p xmlns:a="http://schemas.openxmlformats.org/drawingml/2006/main">
            <a:r>
              <a:t>          "requirements": [</a:t>
            </a:r>
          </a:p>
          <a:p xmlns:a="http://schemas.openxmlformats.org/drawingml/2006/main">
            <a:r>
              <a:t>            "SER-004",</a:t>
            </a:r>
          </a:p>
          <a:p xmlns:a="http://schemas.openxmlformats.org/drawingml/2006/main">
            <a:r>
              <a:t>            "FUR-002"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"현업 승인",</a:t>
            </a:r>
          </a:p>
          <a:p xmlns:a="http://schemas.openxmlformats.org/drawingml/2006/main">
            <a:r>
              <a:t>          "layer": "사람 확인",</a:t>
            </a:r>
          </a:p>
          <a:p xmlns:a="http://schemas.openxmlformats.org/drawingml/2006/main">
            <a:r>
              <a:t>          "detail": "직원의 업무 목적을 6개 도메인 중 해당 앱으로 연결",</a:t>
            </a:r>
          </a:p>
          <a:p xmlns:a="http://schemas.openxmlformats.org/drawingml/2006/main">
            <a:r>
              <a:t>          "requirements": [</a:t>
            </a:r>
          </a:p>
          <a:p xmlns:a="http://schemas.openxmlformats.org/drawingml/2006/main">
            <a:r>
              <a:t>            "SER-002",</a:t>
            </a:r>
          </a:p>
          <a:p xmlns:a="http://schemas.openxmlformats.org/drawingml/2006/main">
            <a:r>
              <a:t>            "FUR-001",</a:t>
            </a:r>
          </a:p>
          <a:p xmlns:a="http://schemas.openxmlformats.org/drawingml/2006/main">
            <a:r>
              <a:t>            "FUR-003",</a:t>
            </a:r>
          </a:p>
          <a:p xmlns:a="http://schemas.openxmlformats.org/drawingml/2006/main">
            <a:r>
              <a:t>            "FUR-004",</a:t>
            </a:r>
          </a:p>
          <a:p xmlns:a="http://schemas.openxmlformats.org/drawingml/2006/main">
            <a:r>
              <a:t>            "FUR-005",</a:t>
            </a:r>
          </a:p>
          <a:p xmlns:a="http://schemas.openxmlformats.org/drawingml/2006/main">
            <a:r>
              <a:t>            "FUR-006"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"ERP·보고서 연계",</a:t>
            </a:r>
          </a:p>
          <a:p xmlns:a="http://schemas.openxmlformats.org/drawingml/2006/main">
            <a:r>
              <a:t>          "layer": "업무 연결",</a:t>
            </a:r>
          </a:p>
          <a:p xmlns:a="http://schemas.openxmlformats.org/drawingml/2006/main">
            <a:r>
              <a:t>          "detail": "원천 링크·업무 결과를 현업에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"도메인별 평가",</a:t>
            </a:r>
          </a:p>
          <a:p xmlns:a="http://schemas.openxmlformats.org/drawingml/2006/main">
            <a:r>
              <a:t>          "layer": "운영 관측",</a:t>
            </a:r>
          </a:p>
          <a:p xmlns:a="http://schemas.openxmlformats.org/drawingml/2006/main">
            <a:r>
              <a:t>          "detail": "권한 변경 이력·도메인 평가·업무별 운영 관리",</a:t>
            </a:r>
          </a:p>
          <a:p xmlns:a="http://schemas.openxmlformats.org/drawingml/2006/main">
            <a:r>
              <a:t>          "requirements": [</a:t>
            </a:r>
          </a:p>
          <a:p xmlns:a="http://schemas.openxmlformats.org/drawingml/2006/main">
            <a:r>
              <a:t>            "SER-004"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"시추·설비·규정",</a:t>
            </a:r>
          </a:p>
          <a:p xmlns:a="http://schemas.openxmlformats.org/drawingml/2006/main">
            <a:r>
              <a:t>          "layer": "데이터 원천",</a:t>
            </a:r>
          </a:p>
          <a:p xmlns:a="http://schemas.openxmlformats.org/drawingml/2006/main">
            <a:r>
              <a:t>          "detail": "인사·안전·설비 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"업무별 자료 정합화",</a:t>
            </a:r>
          </a:p>
          <a:p xmlns:a="http://schemas.openxmlformats.org/drawingml/2006/main">
            <a:r>
              <a:t>          "layer": "준비·갱신",</a:t>
            </a:r>
          </a:p>
          <a:p xmlns:a="http://schemas.openxmlformats.org/drawingml/2006/main">
            <a:r>
              <a:t>          "detail": "시추 일보·지질·설비·규정의 도메인별 색인",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"도메인 RAG 색인",</a:t>
            </a:r>
          </a:p>
          <a:p xmlns:a="http://schemas.openxmlformats.org/drawingml/2006/main">
            <a:r>
              <a:t>          "layer": "상태·지식 저장",</a:t>
            </a:r>
          </a:p>
          <a:p xmlns:a="http://schemas.openxmlformats.org/drawingml/2006/main">
            <a:r>
              <a:t>          "detail": "업무별 라우팅·접근 결과와 원천 인용·변경 이력",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"문서·ERP 권한",</a:t>
            </a:r>
          </a:p>
          <a:p xmlns:a="http://schemas.openxmlformats.org/drawingml/2006/main">
            <a:r>
              <a:t>          "layer": "권한·정책",</a:t>
            </a:r>
          </a:p>
          <a:p xmlns:a="http://schemas.openxmlformats.org/drawingml/2006/main">
            <a:r>
              <a:t>          "detail": "직급·근속 변경·다른 도메인 자료·시추 원문 누락",</a:t>
            </a:r>
          </a:p>
          <a:p xmlns:a="http://schemas.openxmlformats.org/drawingml/2006/main">
            <a:r>
              <a:t>          "requirements": [</a:t>
            </a:r>
          </a:p>
          <a:p xmlns:a="http://schemas.openxmlformats.org/drawingml/2006/main">
            <a:r>
              <a:t>            "SER-004"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"사번·소속·직급·업무분장 기반 접근 판정",</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"업무 목적",</a:t>
            </a:r>
          </a:p>
          <a:p xmlns:a="http://schemas.openxmlformats.org/drawingml/2006/main">
            <a:r>
              <a:t>          "check": "도메인 경계·현업 승인·결과 대사"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"도메인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"검토 초안",</a:t>
            </a:r>
          </a:p>
          <a:p xmlns:a="http://schemas.openxmlformats.org/drawingml/2006/main">
            <a:r>
              <a:t>          "check": "직급·근속 변경·다른 도메인 자료·시추 원문 누락"</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"검토 초안",</a:t>
            </a:r>
          </a:p>
          <a:p xmlns:a="http://schemas.openxmlformats.org/drawingml/2006/main">
            <a:r>
              <a:t>          "check": "원천 링크·업무 결과를 현업에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"공식 업무 처리",</a:t>
            </a:r>
          </a:p>
          <a:p xmlns:a="http://schemas.openxmlformats.org/drawingml/2006/main">
            <a:r>
              <a:t>          "check": "업무별 라우팅·접근 결과와 원천 인용·변경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"SER-001~004·FUR-001~006",</a:t>
            </a:r>
          </a:p>
          <a:p xmlns:a="http://schemas.openxmlformats.org/drawingml/2006/main">
            <a:r>
              <a:t>        "extracted": "사번·소속·직급·업무분장, 문서별 권한, 6개 특화업무",</a:t>
            </a:r>
          </a:p>
          <a:p xmlns:a="http://schemas.openxmlformats.org/drawingml/2006/main">
            <a:r>
              <a:t>        "extension": "ERP 조회·실행 권한 분리 및 특화업무별 인수셋"</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"직급·근속 변경·다른 도메인 자료·시추 원문 누락",</a:t>
            </a:r>
          </a:p>
          <a:p xmlns:a="http://schemas.openxmlformats.org/drawingml/2006/main">
            <a:r>
              <a:t>        "hold": "도메인 경계·현업 승인·결과 대사",</a:t>
            </a:r>
          </a:p>
          <a:p xmlns:a="http://schemas.openxmlformats.org/drawingml/2006/main">
            <a:r>
              <a:t>        "recovery": "권한 변경 이력·도메인 평가·업무별 운영 관리",</a:t>
            </a:r>
          </a:p>
          <a:p xmlns:a="http://schemas.openxmlformats.org/drawingml/2006/main">
            <a:r>
              <a:t>        "evidence": "업무별 라우팅·접근 결과와 원천 인용·변경 이력"</a:t>
            </a:r>
          </a:p>
          <a:p xmlns:a="http://schemas.openxmlformats.org/drawingml/2006/main">
            <a:r>
              <a:t>      },</a:t>
            </a:r>
          </a:p>
          <a:p xmlns:a="http://schemas.openxmlformats.org/drawingml/2006/main">
            <a:r>
              <a:t>      "data": {</a:t>
            </a:r>
          </a:p>
          <a:p xmlns:a="http://schemas.openxmlformats.org/drawingml/2006/main">
            <a:r>
              <a:t>        "source": "인사·안전·설비 지식",</a:t>
            </a:r>
          </a:p>
          <a:p xmlns:a="http://schemas.openxmlformats.org/drawingml/2006/main">
            <a:r>
              <a:t>        "prepare": "시추 일보·지질·설비·규정의 도메인별 색인",</a:t>
            </a:r>
          </a:p>
          <a:p xmlns:a="http://schemas.openxmlformats.org/drawingml/2006/main">
            <a:r>
              <a:t>        "output": "업무 목적",</a:t>
            </a:r>
          </a:p>
          <a:p xmlns:a="http://schemas.openxmlformats.org/drawingml/2006/main">
            <a:r>
              <a:t>        "refresh": "권한 변경 이력·도메인 평가·업무별 운영 관리"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"PF-R09",</a:t>
            </a:r>
          </a:p>
          <a:p xmlns:a="http://schemas.openxmlformats.org/drawingml/2006/main">
            <a:r>
              <a:t>    "success": [</a:t>
            </a:r>
          </a:p>
          <a:p xmlns:a="http://schemas.openxmlformats.org/drawingml/2006/main">
            <a:r>
              <a:t>      "공통 챗봇과 6개 도메인 분리",</a:t>
            </a:r>
          </a:p>
          <a:p xmlns:a="http://schemas.openxmlformats.org/drawingml/2006/main">
            <a:r>
              <a:t>      "업무 지식·ERP 경로의 결합"</a:t>
            </a:r>
          </a:p>
          <a:p xmlns:a="http://schemas.openxmlformats.org/drawingml/2006/main">
            <a:r>
              <a:t>    ],</a:t>
            </a:r>
          </a:p>
          <a:p xmlns:a="http://schemas.openxmlformats.org/drawingml/2006/main">
            <a:r>
              <a:t>    "risks": [</a:t>
            </a:r>
          </a:p>
          <a:p xmlns:a="http://schemas.openxmlformats.org/drawingml/2006/main">
            <a:r>
              <a:t>      "도메인 지식의 혼합",</a:t>
            </a:r>
          </a:p>
          <a:p xmlns:a="http://schemas.openxmlformats.org/drawingml/2006/main">
            <a:r>
              <a:t>      "안전·시추 권고를 자동 실행"</a:t>
            </a:r>
          </a:p>
          <a:p xmlns:a="http://schemas.openxmlformats.org/drawingml/2006/main">
            <a:r>
              <a:t>    ],</a:t>
            </a:r>
          </a:p>
          <a:p xmlns:a="http://schemas.openxmlformats.org/drawingml/2006/main">
            <a:r>
              <a:t>    "architecture": [</a:t>
            </a:r>
          </a:p>
          <a:p xmlns:a="http://schemas.openxmlformats.org/drawingml/2006/main">
            <a:r>
              <a:t>      "직원 업무 앱",</a:t>
            </a:r>
          </a:p>
          <a:p xmlns:a="http://schemas.openxmlformats.org/drawingml/2006/main">
            <a:r>
              <a:t>      "도메인 RAG",</a:t>
            </a:r>
          </a:p>
          <a:p xmlns:a="http://schemas.openxmlformats.org/drawingml/2006/main">
            <a:r>
              <a:t>      "인사·안전·설비 지식",</a:t>
            </a:r>
          </a:p>
          <a:p xmlns:a="http://schemas.openxmlformats.org/drawingml/2006/main">
            <a:r>
              <a:t>      "업무·ERP 담당"</a:t>
            </a:r>
          </a:p>
          <a:p xmlns:a="http://schemas.openxmlformats.org/drawingml/2006/main">
            <a:r>
              <a:t>    ],</a:t>
            </a:r>
          </a:p>
          <a:p xmlns:a="http://schemas.openxmlformats.org/drawingml/2006/main">
            <a:r>
              <a:t>    "transfers": [</a:t>
            </a:r>
          </a:p>
          <a:p xmlns:a="http://schemas.openxmlformats.org/drawingml/2006/main">
            <a:r>
              <a:t>      "업무 목적",</a:t>
            </a:r>
          </a:p>
          <a:p xmlns:a="http://schemas.openxmlformats.org/drawingml/2006/main">
            <a:r>
              <a:t>      "도메인 근거",</a:t>
            </a:r>
          </a:p>
          <a:p xmlns:a="http://schemas.openxmlformats.org/drawingml/2006/main">
            <a:r>
              <a:t>      "검토 초안",</a:t>
            </a:r>
          </a:p>
          <a:p xmlns:a="http://schemas.openxmlformats.org/drawingml/2006/main">
            <a:r>
              <a:t>      "공식 업무 처리"</a:t>
            </a:r>
          </a:p>
          <a:p xmlns:a="http://schemas.openxmlformats.org/drawingml/2006/main">
            <a:r>
              <a:t>    ],</a:t>
            </a:r>
          </a:p>
          <a:p xmlns:a="http://schemas.openxmlformats.org/drawingml/2006/main">
            <a:r>
              <a:t>    "control": "도메인 경계·현업 승인·결과 대사",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SER-001~004, FUR-001~006, ASR·DAR / Word T098 https://www.g2b.go.kr/pn/pnp/pnpe/UntyAtchFile/downloadFile.do?bidPbancNo=R26BK01705928&amp;bidPbancOrd=001&amp;fileSeq=4&amp;fileType=&amp;prcmBsneSeCd=03</a:t>
            </a:r>
          </a:p>
          <a:p xmlns:a="http://schemas.openxmlformats.org/drawingml/2006/main">
            <a:r>
              <a:t>홈페이지 https://heen1987-ops.github.io/TS-business-Plan-001/index.html?view=platform-cases&amp;case=PF-R09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"PF-R09",</a:t>
            </a:r>
          </a:p>
          <a:p xmlns:a="http://schemas.openxmlformats.org/drawingml/2006/main">
            <a:r>
              <a:t>    "sourceId": "R09",</a:t>
            </a:r>
          </a:p>
          <a:p xmlns:a="http://schemas.openxmlformats.org/drawingml/2006/main">
            <a:r>
              <a:t>    "title": "석유공사 업무 AI",</a:t>
            </a:r>
          </a:p>
          <a:p xmlns:a="http://schemas.openxmlformats.org/drawingml/2006/main">
            <a:r>
              <a:t>    "region": "국내",</a:t>
            </a:r>
          </a:p>
          <a:p xmlns:a="http://schemas.openxmlformats.org/drawingml/2006/main">
            <a:r>
              <a:t>    "owner": "한국석유공사",</a:t>
            </a:r>
          </a:p>
          <a:p xmlns:a="http://schemas.openxmlformats.org/drawingml/2006/main">
            <a:r>
              <a:t>    "state": "정정 RFP 확인 / 구축·운영 성과 미확인",</a:t>
            </a:r>
          </a:p>
          <a:p xmlns:a="http://schemas.openxmlformats.org/drawingml/2006/main">
            <a:r>
              <a:t>    "period": "기존 원장 확인 2026.10.16",</a:t>
            </a:r>
          </a:p>
          <a:p xmlns:a="http://schemas.openxmlformats.org/drawingml/2006/main">
            <a:r>
              <a:t>    "fact": "범용 챗봇 + 인사복지·안전·시추·지질·비축설비·시장보고 6과제",</a:t>
            </a:r>
          </a:p>
          <a:p xmlns:a="http://schemas.openxmlformats.org/drawingml/2006/main">
            <a:r>
              <a:t>    "limit": "별도 과제(오피넷 AICC·적정유가 등)를 이번 개발로 합산하지 않음",</a:t>
            </a:r>
          </a:p>
          <a:p xmlns:a="http://schemas.openxmlformats.org/drawingml/2006/main">
            <a:r>
              <a:t>    "nodes": [</a:t>
            </a:r>
          </a:p>
          <a:p xmlns:a="http://schemas.openxmlformats.org/drawingml/2006/main">
            <a:r>
              <a:t>      "인사·안전 등 지식",</a:t>
            </a:r>
          </a:p>
          <a:p xmlns:a="http://schemas.openxmlformats.org/drawingml/2006/main">
            <a:r>
              <a:t>      "도메인 RAG",</a:t>
            </a:r>
          </a:p>
          <a:p xmlns:a="http://schemas.openxmlformats.org/drawingml/2006/main">
            <a:r>
              <a:t>      "업무 앱·ERP",</a:t>
            </a:r>
          </a:p>
          <a:p xmlns:a="http://schemas.openxmlformats.org/drawingml/2006/main">
            <a:r>
              <a:t>      "권한·성과 관리"</a:t>
            </a:r>
          </a:p>
          <a:p xmlns:a="http://schemas.openxmlformats.org/drawingml/2006/main">
            <a:r>
              <a:t>    ],</a:t>
            </a:r>
          </a:p>
          <a:p xmlns:a="http://schemas.openxmlformats.org/drawingml/2006/main">
            <a:r>
              <a:t>    "apply": "공통 사용자·권한 기반 위에 업무 도메인별 지식과 실행 경로 구성",</a:t>
            </a:r>
          </a:p>
          <a:p xmlns:a="http://schemas.openxmlformats.org/drawingml/2006/main">
            <a:r>
              <a:t>    "delta": "TS 업무 도메인 라우터 / 사용자 역할·효력일 / 업무별 검색·원천 연계",</a:t>
            </a:r>
          </a:p>
          <a:p xmlns:a="http://schemas.openxmlformats.org/drawingml/2006/main">
            <a:r>
              <a:t>    "test": "전보·겸직·다른 도메인 질의의 라우팅·근거·접근 허용 여부 대조",</a:t>
            </a:r>
          </a:p>
          <a:p xmlns:a="http://schemas.openxmlformats.org/drawingml/2006/main">
            <a:r>
              <a:t>    "url": "https://www.g2b.go.kr/pn/pnp/pnpe/UntyAtchFile/downloadFile.do?bidPbancNo=R26BK01705928&amp;bidPbancOrd=001&amp;fileSeq=4&amp;fileType=&amp;prcmBsneSeCd=03",</a:t>
            </a:r>
          </a:p>
          <a:p xmlns:a="http://schemas.openxmlformats.org/drawingml/2006/main">
            <a:r>
              <a:t>    "urls": [</a:t>
            </a:r>
          </a:p>
          <a:p xmlns:a="http://schemas.openxmlformats.org/drawingml/2006/main">
            <a:r>
              <a:t>      "https://www.g2b.go.kr/pn/pnp/pnpe/UntyAtchFile/downloadFile.do?bidPbancNo=R26BK01705928&amp;bidPbancOrd=001&amp;fileSeq=4&amp;fileType=&amp;prcmBsneSeCd=03"</a:t>
            </a:r>
          </a:p>
          <a:p xmlns:a="http://schemas.openxmlformats.org/drawingml/2006/main">
            <a:r>
              <a:t>    ],</a:t>
            </a:r>
          </a:p>
          <a:p xmlns:a="http://schemas.openxmlformats.org/drawingml/2006/main">
            <a:r>
              <a:t>    "basis": "SER-001~004, FUR-001~006, ASR·DAR / Word T098",</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"업무 분류 정확도 / 근거 적합률 / 도메인 추가 구축 공수",</a:t>
            </a:r>
          </a:p>
          <a:p xmlns:a="http://schemas.openxmlformats.org/drawingml/2006/main">
            <a:r>
              <a:t>    "group": "요구·구축",</a:t>
            </a:r>
          </a:p>
          <a:p xmlns:a="http://schemas.openxmlformats.org/drawingml/2006/main">
            <a:r>
              <a:t>    "sourceDetail": "대화형/전용화면, 에이전트·ERP·권한·문서/정형 데이터 연계, 도메인별 RAG/보고서",</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"PF-R09",</a:t>
            </a:r>
          </a:p>
          <a:p xmlns:a="http://schemas.openxmlformats.org/drawingml/2006/main">
            <a:r>
              <a:t>    "canonicalId": "PF-R09",</a:t>
            </a:r>
          </a:p>
          <a:p xmlns:a="http://schemas.openxmlformats.org/drawingml/2006/main">
            <a:r>
              <a:t>    "purpose": "공통 플랫폼 위의 6개 업무 특화 AI",</a:t>
            </a:r>
          </a:p>
          <a:p xmlns:a="http://schemas.openxmlformats.org/drawingml/2006/main">
            <a:r>
              <a:t>    "users": "인사·안전·개발·비축·시장 담당",</a:t>
            </a:r>
          </a:p>
          <a:p xmlns:a="http://schemas.openxmlformats.org/drawingml/2006/main">
            <a:r>
              <a:t>    "scope": [</a:t>
            </a:r>
          </a:p>
          <a:p xmlns:a="http://schemas.openxmlformats.org/drawingml/2006/main">
            <a:r>
              <a:t>      "공통 챗봇",</a:t>
            </a:r>
          </a:p>
          <a:p xmlns:a="http://schemas.openxmlformats.org/drawingml/2006/main">
            <a:r>
              <a:t>      "6개 업무 앱",</a:t>
            </a:r>
          </a:p>
          <a:p xmlns:a="http://schemas.openxmlformats.org/drawingml/2006/main">
            <a:r>
              <a:t>      "ERP 연계"</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"직원 업무 앱",</a:t>
            </a:r>
          </a:p>
          <a:p xmlns:a="http://schemas.openxmlformats.org/drawingml/2006/main">
            <a:r>
              <a:t>        "detail": "사번·소속·직급·업무분장 기반 접근 판정",</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"공통 챗봇 / 6개 업무 앱 / ERP 연계",</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"도메인 RAG",</a:t>
            </a:r>
          </a:p>
          <a:p xmlns:a="http://schemas.openxmlformats.org/drawingml/2006/main">
            <a:r>
              <a:t>        "detail": "도메인 RAG·정형 조회·보고서 생성 라우팅",</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"업무·ERP 담당",</a:t>
            </a:r>
          </a:p>
          <a:p xmlns:a="http://schemas.openxmlformats.org/drawingml/2006/main">
            <a:r>
              <a:t>        "detail": "원천 링크·업무 결과를 현업에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"인사·안전·설비 지식",</a:t>
            </a:r>
          </a:p>
          <a:p xmlns:a="http://schemas.openxmlformats.org/drawingml/2006/main">
            <a:r>
              <a:t>        "detail": "시추 일보·지질·설비·규정의 도메인별 색인",</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"권한 변경 이력·도메인 평가·업무별 운영 관리",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"인사·안전 등 지식",</a:t>
            </a:r>
          </a:p>
          <a:p xmlns:a="http://schemas.openxmlformats.org/drawingml/2006/main">
            <a:r>
              <a:t>        "input": "사번·소속·직급·업무분장 기반 접근 판정",</a:t>
            </a:r>
          </a:p>
          <a:p xmlns:a="http://schemas.openxmlformats.org/drawingml/2006/main">
            <a:r>
              <a:t>        "process": "시추 일보·지질·설비·규정의 도메인별 색인",</a:t>
            </a:r>
          </a:p>
          <a:p xmlns:a="http://schemas.openxmlformats.org/drawingml/2006/main">
            <a:r>
              <a:t>        "output": "업무 목적"</a:t>
            </a:r>
          </a:p>
          <a:p xmlns:a="http://schemas.openxmlformats.org/drawingml/2006/main">
            <a:r>
              <a:t>      },</a:t>
            </a:r>
          </a:p>
          <a:p xmlns:a="http://schemas.openxmlformats.org/drawingml/2006/main">
            <a:r>
              <a:t>      {</a:t>
            </a:r>
          </a:p>
          <a:p xmlns:a="http://schemas.openxmlformats.org/drawingml/2006/main">
            <a:r>
              <a:t>        "title": "도메인 RAG",</a:t>
            </a:r>
          </a:p>
          <a:p xmlns:a="http://schemas.openxmlformats.org/drawingml/2006/main">
            <a:r>
              <a:t>        "input": "업무 목적",</a:t>
            </a:r>
          </a:p>
          <a:p xmlns:a="http://schemas.openxmlformats.org/drawingml/2006/main">
            <a:r>
              <a:t>        "process": "도메인 RAG·정형 조회·보고서 생성 라우팅",</a:t>
            </a:r>
          </a:p>
          <a:p xmlns:a="http://schemas.openxmlformats.org/drawingml/2006/main">
            <a:r>
              <a:t>        "output": "도메인 근거"</a:t>
            </a:r>
          </a:p>
          <a:p xmlns:a="http://schemas.openxmlformats.org/drawingml/2006/main">
            <a:r>
              <a:t>      },</a:t>
            </a:r>
          </a:p>
          <a:p xmlns:a="http://schemas.openxmlformats.org/drawingml/2006/main">
            <a:r>
              <a:t>      {</a:t>
            </a:r>
          </a:p>
          <a:p xmlns:a="http://schemas.openxmlformats.org/drawingml/2006/main">
            <a:r>
              <a:t>        "title": "업무 앱·ERP",</a:t>
            </a:r>
          </a:p>
          <a:p xmlns:a="http://schemas.openxmlformats.org/drawingml/2006/main">
            <a:r>
              <a:t>        "input": "도메인 근거",</a:t>
            </a:r>
          </a:p>
          <a:p xmlns:a="http://schemas.openxmlformats.org/drawingml/2006/main">
            <a:r>
              <a:t>        "process": "도메인 경계·현업 승인·결과 대사",</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"title": "권한·성과 관리",</a:t>
            </a:r>
          </a:p>
          <a:p xmlns:a="http://schemas.openxmlformats.org/drawingml/2006/main">
            <a:r>
              <a:t>        "input": "검토 초안",</a:t>
            </a:r>
          </a:p>
          <a:p xmlns:a="http://schemas.openxmlformats.org/drawingml/2006/main">
            <a:r>
              <a:t>        "process": "원천 링크·업무 결과를 현업에 제공",</a:t>
            </a:r>
          </a:p>
          <a:p xmlns:a="http://schemas.openxmlformats.org/drawingml/2006/main">
            <a:r>
              <a:t>        "output": "공식 업무 처리"</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"직원의 업무 목적을 6개 도메인 중 해당 앱으로 연결",</a:t>
            </a:r>
          </a:p>
          <a:p xmlns:a="http://schemas.openxmlformats.org/drawingml/2006/main">
            <a:r>
              <a:t>      "exception": "직급·근속 변경·다른 도메인 자료·시추 원문 누락",</a:t>
            </a:r>
          </a:p>
          <a:p xmlns:a="http://schemas.openxmlformats.org/drawingml/2006/main">
            <a:r>
              <a:t>      "evidence": "업무별 라우팅·접근 결과와 원천 인용·변경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"인사·안전·개발·비축·시장 담당",</a:t>
            </a:r>
          </a:p>
          <a:p xmlns:a="http://schemas.openxmlformats.org/drawingml/2006/main">
            <a:r>
              <a:t>          "processing": "사번·소속·직급·업무분장 기반 접근 판정",</a:t>
            </a:r>
          </a:p>
          <a:p xmlns:a="http://schemas.openxmlformats.org/drawingml/2006/main">
            <a:r>
              <a:t>          "output": "업무 목적"</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"인사·안전·설비 지식",</a:t>
            </a:r>
          </a:p>
          <a:p xmlns:a="http://schemas.openxmlformats.org/drawingml/2006/main">
            <a:r>
              <a:t>          "processing": "시추 일보·지질·설비·규정의 도메인별 색인",</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"업무 목적",</a:t>
            </a:r>
          </a:p>
          <a:p xmlns:a="http://schemas.openxmlformats.org/drawingml/2006/main">
            <a:r>
              <a:t>          "processing": "도메인 RAG·정형 조회·보고서 생성 라우팅",</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"검토 초안",</a:t>
            </a:r>
          </a:p>
          <a:p xmlns:a="http://schemas.openxmlformats.org/drawingml/2006/main">
            <a:r>
              <a:t>          "processing": "원천 링크·업무 결과를 현업에 제공",</a:t>
            </a:r>
          </a:p>
          <a:p xmlns:a="http://schemas.openxmlformats.org/drawingml/2006/main">
            <a:r>
              <a:t>          "output": "공식 업무 처리"</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"권한 변경 이력·도메인 평가·업무별 운영 관리",</a:t>
            </a:r>
          </a:p>
          <a:p xmlns:a="http://schemas.openxmlformats.org/drawingml/2006/main">
            <a:r>
              <a:t>          "output": "업무별 라우팅·접근 결과와 원천 인용·변경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"권한 변경 이력·도메인 평가·업무별 운영 관리",</a:t>
            </a:r>
          </a:p>
          <a:p xmlns:a="http://schemas.openxmlformats.org/drawingml/2006/main">
            <a:r>
              <a:t>    "status": "RFP 기반 논리 설계",</a:t>
            </a:r>
          </a:p>
          <a:p xmlns:a="http://schemas.openxmlformats.org/drawingml/2006/main">
            <a:r>
              <a:t>    "basis": "RFP 2026.09 · SER-001~004·FUR-001~006",</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"SER-001~004, FUR-001~006, ASR·DAR / Word T098",</a:t>
            </a:r>
          </a:p>
          <a:p xmlns:a="http://schemas.openxmlformats.org/drawingml/2006/main">
            <a:r>
              <a:t>        "url": "https://www.g2b.go.kr/pn/pnp/pnpe/UntyAtchFile/downloadFile.do?bidPbancNo=R26BK01705928&amp;bidPbancOrd=001&amp;fileSeq=4&amp;fileType=&amp;prcmBsneSeCd=03"</a:t>
            </a:r>
          </a:p>
          <a:p xmlns:a="http://schemas.openxmlformats.org/drawingml/2006/main">
            <a:r>
              <a:t>      }</a:t>
            </a:r>
          </a:p>
          <a:p xmlns:a="http://schemas.openxmlformats.org/drawingml/2006/main">
            <a:r>
              <a:t>    ],</a:t>
            </a:r>
          </a:p>
          <a:p xmlns:a="http://schemas.openxmlformats.org/drawingml/2006/main">
            <a:r>
              <a:t>    "implication": "공통 사용자·권한 기반 위에 업무 도메인별 지식과 실행 경로 구성",</a:t>
            </a:r>
          </a:p>
          <a:p xmlns:a="http://schemas.openxmlformats.org/drawingml/2006/main">
            <a:r>
              <a:t>    "local": "공통 사용자·권한 기반 위에 업무 도메인별 지식과 실행 경로 구성",</a:t>
            </a:r>
          </a:p>
          <a:p xmlns:a="http://schemas.openxmlformats.org/drawingml/2006/main">
            <a:r>
              <a:t>    "sourceDetail": "대화형/전용화면, 에이전트·ERP·권한·문서/정형 데이터 연계, 도메인별 RAG/보고서",</a:t>
            </a:r>
          </a:p>
          <a:p xmlns:a="http://schemas.openxmlformats.org/drawingml/2006/main">
            <a:r>
              <a:t>    "narrative": [</a:t>
            </a:r>
          </a:p>
          <a:p xmlns:a="http://schemas.openxmlformats.org/drawingml/2006/main">
            <a:r>
              <a:t>      "공통 AI 대화·전용 업무 화면 위에 인사복지, 안전관리, 시추, 지질, 비축설비, 석유시장 보고서의 6개 업무를 구성하는 사업. 전사 공통 기반과 도메인별 지식·산출물의 경계를 비교하기 적합한 사례.",</a:t>
            </a:r>
          </a:p>
          <a:p xmlns:a="http://schemas.openxmlformats.org/drawingml/2006/main">
            <a:r>
              <a:t>      "SER 요구는 공통 접점·업무 범위·권한과 응용 서비스를 정의하고, FUR-001~006은 업무별 자료와 출력 기능을 분리. 직원 사번·소속·직급·업무분장, 문서 접근조건, 정형 데이터·ERP 연계를 각 업무 처리의 문맥으로 사용하는 구조.",</a:t>
            </a:r>
          </a:p>
          <a:p xmlns:a="http://schemas.openxmlformats.org/drawingml/2006/main">
            <a:r>
              <a:t>      "TS의 1차 조직·권한·업무 분류 기반을 만든 뒤 부서별 특화 서비스를 붙이는 순서에 활용할 대상. 공통 챗봇 설치와 6개 업무의 인수 완료를 같은 실적으로 보지 않고, 업무별 데이터 원천·전문가 정답셋·실행 승인·결과 대사를 따로 관리할 필요."</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"SER-001",</a:t>
            </a:r>
          </a:p>
          <a:p xmlns:a="http://schemas.openxmlformats.org/drawingml/2006/main">
            <a:r>
              <a:t>        "title": "AI 대화형 서비스",</a:t>
            </a:r>
          </a:p>
          <a:p xmlns:a="http://schemas.openxmlformats.org/drawingml/2006/main">
            <a:r>
              <a:t>        "locator": "SER-001",</a:t>
            </a:r>
          </a:p>
          <a:p xmlns:a="http://schemas.openxmlformats.org/drawingml/2006/main">
            <a:r>
              <a:t>        "summary": "공통 AI 대화형 서비스 제공.",</a:t>
            </a:r>
          </a:p>
          <a:p xmlns:a="http://schemas.openxmlformats.org/drawingml/2006/main">
            <a:r>
              <a:t>        "data": "직원 질의·자료 → 대화 응답·근거",</a:t>
            </a:r>
          </a:p>
          <a:p xmlns:a="http://schemas.openxmlformats.org/drawingml/2006/main">
            <a:r>
              <a:t>        "components": [</a:t>
            </a:r>
          </a:p>
          <a:p xmlns:a="http://schemas.openxmlformats.org/drawingml/2006/main">
            <a:r>
              <a:t>          "C01",</a:t>
            </a:r>
          </a:p>
          <a:p xmlns:a="http://schemas.openxmlformats.org/drawingml/2006/main">
            <a:r>
              <a:t>          "C03",</a:t>
            </a:r>
          </a:p>
          <a:p xmlns:a="http://schemas.openxmlformats.org/drawingml/2006/main">
            <a:r>
              <a:t>          "C04"</a:t>
            </a:r>
          </a:p>
          <a:p xmlns:a="http://schemas.openxmlformats.org/drawingml/2006/main">
            <a:r>
              <a:t>        ],</a:t>
            </a:r>
          </a:p>
          <a:p xmlns:a="http://schemas.openxmlformats.org/drawingml/2006/main">
            <a:r>
              <a:t>        "acceptance": "문맥 유지·출처 확인·입력 범위·오류 안내의 대화 시나리오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"5c1be9c8c0ac6ecdc4d18ef05c6b02a80c9f5f082231b33b335733de34a142e2"</a:t>
            </a:r>
          </a:p>
          <a:p xmlns:a="http://schemas.openxmlformats.org/drawingml/2006/main">
            <a:r>
              <a:t>      },</a:t>
            </a:r>
          </a:p>
          <a:p xmlns:a="http://schemas.openxmlformats.org/drawingml/2006/main">
            <a:r>
              <a:t>      {</a:t>
            </a:r>
          </a:p>
          <a:p xmlns:a="http://schemas.openxmlformats.org/drawingml/2006/main">
            <a:r>
              <a:t>        "id": "SER-002",</a:t>
            </a:r>
          </a:p>
          <a:p xmlns:a="http://schemas.openxmlformats.org/drawingml/2006/main">
            <a:r>
              <a:t>        "title": "업무 특화 화면 서비스",</a:t>
            </a:r>
          </a:p>
          <a:p xmlns:a="http://schemas.openxmlformats.org/drawingml/2006/main">
            <a:r>
              <a:t>        "locator": "SER-002",</a:t>
            </a:r>
          </a:p>
          <a:p xmlns:a="http://schemas.openxmlformats.org/drawingml/2006/main">
            <a:r>
              <a:t>        "summary": "업무 특화 화면에서 필요한 입력과 결과를 제공.",</a:t>
            </a:r>
          </a:p>
          <a:p xmlns:a="http://schemas.openxmlformats.org/drawingml/2006/main">
            <a:r>
              <a:t>        "data": "업무 종류·필수 입력 → 특화 결과 화면",</a:t>
            </a:r>
          </a:p>
          <a:p xmlns:a="http://schemas.openxmlformats.org/drawingml/2006/main">
            <a:r>
              <a:t>        "components": [</a:t>
            </a:r>
          </a:p>
          <a:p xmlns:a="http://schemas.openxmlformats.org/drawingml/2006/main">
            <a:r>
              <a:t>          "C01",</a:t>
            </a:r>
          </a:p>
          <a:p xmlns:a="http://schemas.openxmlformats.org/drawingml/2006/main">
            <a:r>
              <a:t>          "C02",</a:t>
            </a:r>
          </a:p>
          <a:p xmlns:a="http://schemas.openxmlformats.org/drawingml/2006/main">
            <a:r>
              <a:t>          "C06"</a:t>
            </a:r>
          </a:p>
          <a:p xmlns:a="http://schemas.openxmlformats.org/drawingml/2006/main">
            <a:r>
              <a:t>        ],</a:t>
            </a:r>
          </a:p>
          <a:p xmlns:a="http://schemas.openxmlformats.org/drawingml/2006/main">
            <a:r>
              <a:t>        "acceptance": "업무별 필수 항목 누락·정정·결과 편집의 화면 동작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"4712f1694c7a46f76189d352fd3d252e83e6f128c095acdb1bfaf30e6453b7ea"</a:t>
            </a:r>
          </a:p>
          <a:p xmlns:a="http://schemas.openxmlformats.org/drawingml/2006/main">
            <a:r>
              <a:t>      },</a:t>
            </a:r>
          </a:p>
          <a:p xmlns:a="http://schemas.openxmlformats.org/drawingml/2006/main">
            <a:r>
              <a:t>      {</a:t>
            </a:r>
          </a:p>
          <a:p xmlns:a="http://schemas.openxmlformats.org/drawingml/2006/main">
            <a:r>
              <a:t>        "id": "SER-003",</a:t>
            </a:r>
          </a:p>
          <a:p xmlns:a="http://schemas.openxmlformats.org/drawingml/2006/main">
            <a:r>
              <a:t>        "title": "AI 응용 서비스 대상 업무",</a:t>
            </a:r>
          </a:p>
          <a:p xmlns:a="http://schemas.openxmlformats.org/drawingml/2006/main">
            <a:r>
              <a:t>        "locator": "SER-003",</a:t>
            </a:r>
          </a:p>
          <a:p xmlns:a="http://schemas.openxmlformats.org/drawingml/2006/main">
            <a:r>
              <a:t>        "summary": "AI 응용서비스 대상 업무의 범위 구성.",</a:t>
            </a:r>
          </a:p>
          <a:p xmlns:a="http://schemas.openxmlformats.org/drawingml/2006/main">
            <a:r>
              <a:t>        "data": "업무 요청·영역 → 해당 응용서비스",</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a:t>
            </a:r>
          </a:p>
          <a:p xmlns:a="http://schemas.openxmlformats.org/drawingml/2006/main">
            <a:r>
              <a:t>        "acceptance": "인사·안전·시추·지질·설비·시장 업무의 잘못된 라우팅과 복합 요청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"f63574c927275ee8519741567d3f145890d5ed0b96c61b09e00920044886df77"</a:t>
            </a:r>
          </a:p>
          <a:p xmlns:a="http://schemas.openxmlformats.org/drawingml/2006/main">
            <a:r>
              <a:t>      },</a:t>
            </a:r>
          </a:p>
          <a:p xmlns:a="http://schemas.openxmlformats.org/drawingml/2006/main">
            <a:r>
              <a:t>      {</a:t>
            </a:r>
          </a:p>
          <a:p xmlns:a="http://schemas.openxmlformats.org/drawingml/2006/main">
            <a:r>
              <a:t>        "id": "SER-004",</a:t>
            </a:r>
          </a:p>
          <a:p xmlns:a="http://schemas.openxmlformats.org/drawingml/2006/main">
            <a:r>
              <a:t>        "title": "응용 서비스 공통",</a:t>
            </a:r>
          </a:p>
          <a:p xmlns:a="http://schemas.openxmlformats.org/drawingml/2006/main">
            <a:r>
              <a:t>        "locator": "SER-004",</a:t>
            </a:r>
          </a:p>
          <a:p xmlns:a="http://schemas.openxmlformats.org/drawingml/2006/main">
            <a:r>
              <a:t>        "summary": "업무 응용서비스에 공통 적용할 기능과 운영 기준 구성.",</a:t>
            </a:r>
          </a:p>
          <a:p xmlns:a="http://schemas.openxmlformats.org/drawingml/2006/main">
            <a:r>
              <a:t>        "data": "서비스 설정·권한·이용 기록 → 공통 통제·운영 결과",</a:t>
            </a:r>
          </a:p>
          <a:p xmlns:a="http://schemas.openxmlformats.org/drawingml/2006/main">
            <a:r>
              <a:t>        "components": [</a:t>
            </a:r>
          </a:p>
          <a:p xmlns:a="http://schemas.openxmlformats.org/drawingml/2006/main">
            <a:r>
              <a:t>          "C05",</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"개별 서비스 추가 시 공통 인증·통제·운영 기록 적용의 누락 점검",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"581ef5bd7d42a38fff5a1fa79a158712f59c915a988ed9e2f16244c505dd2ce9"</a:t>
            </a:r>
          </a:p>
          <a:p xmlns:a="http://schemas.openxmlformats.org/drawingml/2006/main">
            <a:r>
              <a:t>      },</a:t>
            </a:r>
          </a:p>
          <a:p xmlns:a="http://schemas.openxmlformats.org/drawingml/2006/main">
            <a:r>
              <a:t>      {</a:t>
            </a:r>
          </a:p>
          <a:p xmlns:a="http://schemas.openxmlformats.org/drawingml/2006/main">
            <a:r>
              <a:t>        "id": "FUR-001",</a:t>
            </a:r>
          </a:p>
          <a:p xmlns:a="http://schemas.openxmlformats.org/drawingml/2006/main">
            <a:r>
              <a:t>        "title": "[일반행정] 인사·복지 AI 서비스",</a:t>
            </a:r>
          </a:p>
          <a:p xmlns:a="http://schemas.openxmlformats.org/drawingml/2006/main">
            <a:r>
              <a:t>        "locator": "FUR-001",</a:t>
            </a:r>
          </a:p>
          <a:p xmlns:a="http://schemas.openxmlformats.org/drawingml/2006/main">
            <a:r>
              <a:t>        "summary": "인사·복지 규정과 업무 지식을 활용한 직원 지원.",</a:t>
            </a:r>
          </a:p>
          <a:p xmlns:a="http://schemas.openxmlformats.org/drawingml/2006/main">
            <a:r>
              <a:t>        "data": "직원 문맥·인사복지 질의 → 적용 규정·안내",</a:t>
            </a:r>
          </a:p>
          <a:p xmlns:a="http://schemas.openxmlformats.org/drawingml/2006/main">
            <a:r>
              <a:t>        "components": [</a:t>
            </a:r>
          </a:p>
          <a:p xmlns:a="http://schemas.openxmlformats.org/drawingml/2006/main">
            <a:r>
              <a:t>          "C02",</a:t>
            </a:r>
          </a:p>
          <a:p xmlns:a="http://schemas.openxmlformats.org/drawingml/2006/main">
            <a:r>
              <a:t>          "C03",</a:t>
            </a:r>
          </a:p>
          <a:p xmlns:a="http://schemas.openxmlformats.org/drawingml/2006/main">
            <a:r>
              <a:t>          "C06"</a:t>
            </a:r>
          </a:p>
          <a:p xmlns:a="http://schemas.openxmlformats.org/drawingml/2006/main">
            <a:r>
              <a:t>        ],</a:t>
            </a:r>
          </a:p>
          <a:p xmlns:a="http://schemas.openxmlformats.org/drawingml/2006/main">
            <a:r>
              <a:t>        "acceptance": "근무 조건·시행일·예외 조항이 다른 질문의 근거 선택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"5cd185d2ca6f76c5606a274957c4915b34daac231353f6ab491b45ffb4fc8014"</a:t>
            </a:r>
          </a:p>
          <a:p xmlns:a="http://schemas.openxmlformats.org/drawingml/2006/main">
            <a:r>
              <a:t>      },</a:t>
            </a:r>
          </a:p>
          <a:p xmlns:a="http://schemas.openxmlformats.org/drawingml/2006/main">
            <a:r>
              <a:t>      {</a:t>
            </a:r>
          </a:p>
          <a:p xmlns:a="http://schemas.openxmlformats.org/drawingml/2006/main">
            <a:r>
              <a:t>        "id": "FUR-002",</a:t>
            </a:r>
          </a:p>
          <a:p xmlns:a="http://schemas.openxmlformats.org/drawingml/2006/main">
            <a:r>
              <a:t>        "title": "[안전관리] 안전관리 AI 서비스",</a:t>
            </a:r>
          </a:p>
          <a:p xmlns:a="http://schemas.openxmlformats.org/drawingml/2006/main">
            <a:r>
              <a:t>        "locator": "FUR-002",</a:t>
            </a:r>
          </a:p>
          <a:p xmlns:a="http://schemas.openxmlformats.org/drawingml/2006/main">
            <a:r>
              <a:t>        "summary": "안전 분야 자료를 활용한 업무 지원.",</a:t>
            </a:r>
          </a:p>
          <a:p xmlns:a="http://schemas.openxmlformats.org/drawingml/2006/main">
            <a:r>
              <a:t>        "data": "안전 업무 질의·자료 → 근거·검토 결과",</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"C05"</a:t>
            </a:r>
          </a:p>
          <a:p xmlns:a="http://schemas.openxmlformats.org/drawingml/2006/main">
            <a:r>
              <a:t>        ],</a:t>
            </a:r>
          </a:p>
          <a:p xmlns:a="http://schemas.openxmlformats.org/drawingml/2006/main">
            <a:r>
              <a:t>        "acceptance": "현장 조건과 적용 기준의 불일치·필수 조치 누락을 포함한 검토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"ae5ca92e3dbf8291576889d17428fe931c780d6262138c9eaa06e5f28fc0d3e6"</a:t>
            </a:r>
          </a:p>
          <a:p xmlns:a="http://schemas.openxmlformats.org/drawingml/2006/main">
            <a:r>
              <a:t>      },</a:t>
            </a:r>
          </a:p>
          <a:p xmlns:a="http://schemas.openxmlformats.org/drawingml/2006/main">
            <a:r>
              <a:t>      {</a:t>
            </a:r>
          </a:p>
          <a:p xmlns:a="http://schemas.openxmlformats.org/drawingml/2006/main">
            <a:r>
              <a:t>        "id": "FUR-003",</a:t>
            </a:r>
          </a:p>
          <a:p xmlns:a="http://schemas.openxmlformats.org/drawingml/2006/main">
            <a:r>
              <a:t>        "title": "[석유개발] 석유 시추 정보 AI 서비스",</a:t>
            </a:r>
          </a:p>
          <a:p xmlns:a="http://schemas.openxmlformats.org/drawingml/2006/main">
            <a:r>
              <a:t>        "locator": "FUR-003",</a:t>
            </a:r>
          </a:p>
          <a:p xmlns:a="http://schemas.openxmlformats.org/drawingml/2006/main">
            <a:r>
              <a:t>        "summary": "시추 분야 자료와 전문 지식의 업무 활용.",</a:t>
            </a:r>
          </a:p>
          <a:p xmlns:a="http://schemas.openxmlformats.org/drawingml/2006/main">
            <a:r>
              <a:t>        "data": "시추 질의·기술자료 → 근거·분석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"전문 용어·설비 조건·단위 오류와 출처 없는 추론의 구분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"9acd9aea17e5f3417a6f8f17f19191240f88fedb58e28130587c9b97c113c023"</a:t>
            </a:r>
          </a:p>
          <a:p xmlns:a="http://schemas.openxmlformats.org/drawingml/2006/main">
            <a:r>
              <a:t>      },</a:t>
            </a:r>
          </a:p>
          <a:p xmlns:a="http://schemas.openxmlformats.org/drawingml/2006/main">
            <a:r>
              <a:t>      {</a:t>
            </a:r>
          </a:p>
          <a:p xmlns:a="http://schemas.openxmlformats.org/drawingml/2006/main">
            <a:r>
              <a:t>        "id": "FUR-004",</a:t>
            </a:r>
          </a:p>
          <a:p xmlns:a="http://schemas.openxmlformats.org/drawingml/2006/main">
            <a:r>
              <a:t>        "title": "[석유개발] 석유 지질 정보 AI 서비스",</a:t>
            </a:r>
          </a:p>
          <a:p xmlns:a="http://schemas.openxmlformats.org/drawingml/2006/main">
            <a:r>
              <a:t>        "locator": "FUR-004",</a:t>
            </a:r>
          </a:p>
          <a:p xmlns:a="http://schemas.openxmlformats.org/drawingml/2006/main">
            <a:r>
              <a:t>        "summary": "지질 자료와 분석 업무의 AI 지원.",</a:t>
            </a:r>
          </a:p>
          <a:p xmlns:a="http://schemas.openxmlformats.org/drawingml/2006/main">
            <a:r>
              <a:t>        "data": "지질 질의·연구 자료 → 탐색·분석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"서로 다른 지역·시기 자료의 혼용과 전문 수치·그림 근거 연결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"0c138c01d2c00b386c64812738ceda4a9d3dfa79e5c1ec90b1d8ca4f758908d5"</a:t>
            </a:r>
          </a:p>
          <a:p xmlns:a="http://schemas.openxmlformats.org/drawingml/2006/main">
            <a:r>
              <a:t>      },</a:t>
            </a:r>
          </a:p>
          <a:p xmlns:a="http://schemas.openxmlformats.org/drawingml/2006/main">
            <a:r>
              <a:t>      {</a:t>
            </a:r>
          </a:p>
          <a:p xmlns:a="http://schemas.openxmlformats.org/drawingml/2006/main">
            <a:r>
              <a:t>        "id": "FUR-005",</a:t>
            </a:r>
          </a:p>
          <a:p xmlns:a="http://schemas.openxmlformats.org/drawingml/2006/main">
            <a:r>
              <a:t>        "title": "[석유비축] 비축설비 정비·운영 AI 서비스",</a:t>
            </a:r>
          </a:p>
          <a:p xmlns:a="http://schemas.openxmlformats.org/drawingml/2006/main">
            <a:r>
              <a:t>        "locator": "FUR-005",</a:t>
            </a:r>
          </a:p>
          <a:p xmlns:a="http://schemas.openxmlformats.org/drawingml/2006/main">
            <a:r>
              <a:t>        "summary": "비축설비 관련 자료의 검색·업무 지원.",</a:t>
            </a:r>
          </a:p>
          <a:p xmlns:a="http://schemas.openxmlformats.org/drawingml/2006/main">
            <a:r>
              <a:t>        "data": "설비 식별·정비 자료 → 관련 근거·지원 결과",</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"설비 번호·점검 시점·부품 조건이 다른 자료의 구분과 최신 이력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"4d18cc59bfa5560530dcceb2188516ebb10c10fe8e05807a6f1c8d14188bdec8"</a:t>
            </a:r>
          </a:p>
          <a:p xmlns:a="http://schemas.openxmlformats.org/drawingml/2006/main">
            <a:r>
              <a:t>      },</a:t>
            </a:r>
          </a:p>
          <a:p xmlns:a="http://schemas.openxmlformats.org/drawingml/2006/main">
            <a:r>
              <a:t>      {</a:t>
            </a:r>
          </a:p>
          <a:p xmlns:a="http://schemas.openxmlformats.org/drawingml/2006/main">
            <a:r>
              <a:t>        "id": "FUR-006",</a:t>
            </a:r>
          </a:p>
          <a:p xmlns:a="http://schemas.openxmlformats.org/drawingml/2006/main">
            <a:r>
              <a:t>        "title": "[석유정보] 석유시장 보고서 작성 AI 서비스",</a:t>
            </a:r>
          </a:p>
          <a:p xmlns:a="http://schemas.openxmlformats.org/drawingml/2006/main">
            <a:r>
              <a:t>        "locator": "FUR-006",</a:t>
            </a:r>
          </a:p>
          <a:p xmlns:a="http://schemas.openxmlformats.org/drawingml/2006/main">
            <a:r>
              <a:t>        "summary": "시장 자료를 활용한 보고서 작성 지원.",</a:t>
            </a:r>
          </a:p>
          <a:p xmlns:a="http://schemas.openxmlformats.org/drawingml/2006/main">
            <a:r>
              <a:t>        "data": "시장 자료·기준일 → 근거가 연결된 보고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"기준일·통화·단위 혼용, 숫자 인용, 최신 자료 누락의 항목별 점검",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"1a1e671fc8f1cfe4dc05c83144eb257e226afeea8a0f7096652aeec596b82a80"</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"직원·업무 앱",</a:t>
            </a:r>
          </a:p>
          <a:p xmlns:a="http://schemas.openxmlformats.org/drawingml/2006/main">
            <a:r>
              <a:t>          "layer": "이용 접점",</a:t>
            </a:r>
          </a:p>
          <a:p xmlns:a="http://schemas.openxmlformats.org/drawingml/2006/main">
            <a:r>
              <a:t>          "detail": "인사·안전·개발·비축·시장 담당",</a:t>
            </a:r>
          </a:p>
          <a:p xmlns:a="http://schemas.openxmlformats.org/drawingml/2006/main">
            <a:r>
              <a:t>          "requirements": [</a:t>
            </a:r>
          </a:p>
          <a:p xmlns:a="http://schemas.openxmlformats.org/drawingml/2006/main">
            <a:r>
              <a:t>            "SER-001",</a:t>
            </a:r>
          </a:p>
          <a:p xmlns:a="http://schemas.openxmlformats.org/drawingml/2006/main">
            <a:r>
              <a:t>            "SER-002"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"사번·소속·업무",</a:t>
            </a:r>
          </a:p>
          <a:p xmlns:a="http://schemas.openxmlformats.org/drawingml/2006/main">
            <a:r>
              <a:t>          "layer": "업무 문맥",</a:t>
            </a:r>
          </a:p>
          <a:p xmlns:a="http://schemas.openxmlformats.org/drawingml/2006/main">
            <a:r>
              <a:t>          "detail": "사번·소속·직급·업무분장 기반 접근 판정",</a:t>
            </a:r>
          </a:p>
          <a:p xmlns:a="http://schemas.openxmlformats.org/drawingml/2006/main">
            <a:r>
              <a:t>          "requirements": [</a:t>
            </a:r>
          </a:p>
          <a:p xmlns:a="http://schemas.openxmlformats.org/drawingml/2006/main">
            <a:r>
              <a:t>            "SER-002",</a:t>
            </a:r>
          </a:p>
          <a:p xmlns:a="http://schemas.openxmlformats.org/drawingml/2006/main">
            <a:r>
              <a:t>            "SER-003",</a:t>
            </a:r>
          </a:p>
          <a:p xmlns:a="http://schemas.openxmlformats.org/drawingml/2006/main">
            <a:r>
              <a:t>            "FUR-001"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"도메인 지식 조회",</a:t>
            </a:r>
          </a:p>
          <a:p xmlns:a="http://schemas.openxmlformats.org/drawingml/2006/main">
            <a:r>
              <a:t>          "layer": "자료 조회",</a:t>
            </a:r>
          </a:p>
          <a:p xmlns:a="http://schemas.openxmlformats.org/drawingml/2006/main">
            <a:r>
              <a:t>          "detail": "업무 목적",</a:t>
            </a:r>
          </a:p>
          <a:p xmlns:a="http://schemas.openxmlformats.org/drawingml/2006/main">
            <a:r>
              <a:t>          "requirements": [</a:t>
            </a:r>
          </a:p>
          <a:p xmlns:a="http://schemas.openxmlformats.org/drawingml/2006/main">
            <a:r>
              <a:t>            "SER-001",</a:t>
            </a:r>
          </a:p>
          <a:p xmlns:a="http://schemas.openxmlformats.org/drawingml/2006/main">
            <a:r>
              <a:t>            "FUR-001",</a:t>
            </a:r>
          </a:p>
          <a:p xmlns:a="http://schemas.openxmlformats.org/drawingml/2006/main">
            <a:r>
              <a:t>            "FUR-002",</a:t>
            </a:r>
          </a:p>
          <a:p xmlns:a="http://schemas.openxmlformats.org/drawingml/2006/main">
            <a:r>
              <a:t>            "FUR-003",</a:t>
            </a:r>
          </a:p>
          <a:p xmlns:a="http://schemas.openxmlformats.org/drawingml/2006/main">
            <a:r>
              <a:t>            "FUR-004",</a:t>
            </a:r>
          </a:p>
          <a:p xmlns:a="http://schemas.openxmlformats.org/drawingml/2006/main">
            <a:r>
              <a:t>            "FUR-005",</a:t>
            </a:r>
          </a:p>
          <a:p xmlns:a="http://schemas.openxmlformats.org/drawingml/2006/main">
            <a:r>
              <a:t>            "FUR-006"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"6개 특화 AI 처리",</a:t>
            </a:r>
          </a:p>
          <a:p xmlns:a="http://schemas.openxmlformats.org/drawingml/2006/main">
            <a:r>
              <a:t>          "layer": "핵심 처리",</a:t>
            </a:r>
          </a:p>
          <a:p xmlns:a="http://schemas.openxmlformats.org/drawingml/2006/main">
            <a:r>
              <a:t>          "detail": "도메인 RAG·정형 조회·보고서 생성 라우팅",</a:t>
            </a:r>
          </a:p>
          <a:p xmlns:a="http://schemas.openxmlformats.org/drawingml/2006/main">
            <a:r>
              <a:t>          "requirements": [</a:t>
            </a:r>
          </a:p>
          <a:p xmlns:a="http://schemas.openxmlformats.org/drawingml/2006/main">
            <a:r>
              <a:t>            "SER-001",</a:t>
            </a:r>
          </a:p>
          <a:p xmlns:a="http://schemas.openxmlformats.org/drawingml/2006/main">
            <a:r>
              <a:t>            "SER-003",</a:t>
            </a:r>
          </a:p>
          <a:p xmlns:a="http://schemas.openxmlformats.org/drawingml/2006/main">
            <a:r>
              <a:t>            "FUR-002",</a:t>
            </a:r>
          </a:p>
          <a:p xmlns:a="http://schemas.openxmlformats.org/drawingml/2006/main">
            <a:r>
              <a:t>            "FUR-003",</a:t>
            </a:r>
          </a:p>
          <a:p xmlns:a="http://schemas.openxmlformats.org/drawingml/2006/main">
            <a:r>
              <a:t>            "FUR-004",</a:t>
            </a:r>
          </a:p>
          <a:p xmlns:a="http://schemas.openxmlformats.org/drawingml/2006/main">
            <a:r>
              <a:t>            "FUR-005",</a:t>
            </a:r>
          </a:p>
          <a:p xmlns:a="http://schemas.openxmlformats.org/drawingml/2006/main">
            <a:r>
              <a:t>            "FUR-006"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"권한·근거 대조",</a:t>
            </a:r>
          </a:p>
          <a:p xmlns:a="http://schemas.openxmlformats.org/drawingml/2006/main">
            <a:r>
              <a:t>          "layer": "결과 검증",</a:t>
            </a:r>
          </a:p>
          <a:p xmlns:a="http://schemas.openxmlformats.org/drawingml/2006/main">
            <a:r>
              <a:t>          "detail": "도메인 경계·현업 승인·결과 대사",</a:t>
            </a:r>
          </a:p>
          <a:p xmlns:a="http://schemas.openxmlformats.org/drawingml/2006/main">
            <a:r>
              <a:t>          "requirements": [</a:t>
            </a:r>
          </a:p>
          <a:p xmlns:a="http://schemas.openxmlformats.org/drawingml/2006/main">
            <a:r>
              <a:t>            "SER-004",</a:t>
            </a:r>
          </a:p>
          <a:p xmlns:a="http://schemas.openxmlformats.org/drawingml/2006/main">
            <a:r>
              <a:t>            "FUR-002"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"현업 승인",</a:t>
            </a:r>
          </a:p>
          <a:p xmlns:a="http://schemas.openxmlformats.org/drawingml/2006/main">
            <a:r>
              <a:t>          "layer": "사람 확인",</a:t>
            </a:r>
          </a:p>
          <a:p xmlns:a="http://schemas.openxmlformats.org/drawingml/2006/main">
            <a:r>
              <a:t>          "detail": "직원의 업무 목적을 6개 도메인 중 해당 앱으로 연결",</a:t>
            </a:r>
          </a:p>
          <a:p xmlns:a="http://schemas.openxmlformats.org/drawingml/2006/main">
            <a:r>
              <a:t>          "requirements": [</a:t>
            </a:r>
          </a:p>
          <a:p xmlns:a="http://schemas.openxmlformats.org/drawingml/2006/main">
            <a:r>
              <a:t>            "SER-002",</a:t>
            </a:r>
          </a:p>
          <a:p xmlns:a="http://schemas.openxmlformats.org/drawingml/2006/main">
            <a:r>
              <a:t>            "FUR-001",</a:t>
            </a:r>
          </a:p>
          <a:p xmlns:a="http://schemas.openxmlformats.org/drawingml/2006/main">
            <a:r>
              <a:t>            "FUR-003",</a:t>
            </a:r>
          </a:p>
          <a:p xmlns:a="http://schemas.openxmlformats.org/drawingml/2006/main">
            <a:r>
              <a:t>            "FUR-004",</a:t>
            </a:r>
          </a:p>
          <a:p xmlns:a="http://schemas.openxmlformats.org/drawingml/2006/main">
            <a:r>
              <a:t>            "FUR-005",</a:t>
            </a:r>
          </a:p>
          <a:p xmlns:a="http://schemas.openxmlformats.org/drawingml/2006/main">
            <a:r>
              <a:t>            "FUR-006"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"ERP·보고서 연계",</a:t>
            </a:r>
          </a:p>
          <a:p xmlns:a="http://schemas.openxmlformats.org/drawingml/2006/main">
            <a:r>
              <a:t>          "layer": "업무 연결",</a:t>
            </a:r>
          </a:p>
          <a:p xmlns:a="http://schemas.openxmlformats.org/drawingml/2006/main">
            <a:r>
              <a:t>          "detail": "원천 링크·업무 결과를 현업에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"도메인별 평가",</a:t>
            </a:r>
          </a:p>
          <a:p xmlns:a="http://schemas.openxmlformats.org/drawingml/2006/main">
            <a:r>
              <a:t>          "layer": "운영 관측",</a:t>
            </a:r>
          </a:p>
          <a:p xmlns:a="http://schemas.openxmlformats.org/drawingml/2006/main">
            <a:r>
              <a:t>          "detail": "권한 변경 이력·도메인 평가·업무별 운영 관리",</a:t>
            </a:r>
          </a:p>
          <a:p xmlns:a="http://schemas.openxmlformats.org/drawingml/2006/main">
            <a:r>
              <a:t>          "requirements": [</a:t>
            </a:r>
          </a:p>
          <a:p xmlns:a="http://schemas.openxmlformats.org/drawingml/2006/main">
            <a:r>
              <a:t>            "SER-004"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"시추·설비·규정",</a:t>
            </a:r>
          </a:p>
          <a:p xmlns:a="http://schemas.openxmlformats.org/drawingml/2006/main">
            <a:r>
              <a:t>          "layer": "데이터 원천",</a:t>
            </a:r>
          </a:p>
          <a:p xmlns:a="http://schemas.openxmlformats.org/drawingml/2006/main">
            <a:r>
              <a:t>          "detail": "인사·안전·설비 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"업무별 자료 정합화",</a:t>
            </a:r>
          </a:p>
          <a:p xmlns:a="http://schemas.openxmlformats.org/drawingml/2006/main">
            <a:r>
              <a:t>          "layer": "준비·갱신",</a:t>
            </a:r>
          </a:p>
          <a:p xmlns:a="http://schemas.openxmlformats.org/drawingml/2006/main">
            <a:r>
              <a:t>          "detail": "시추 일보·지질·설비·규정의 도메인별 색인",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"도메인 RAG 색인",</a:t>
            </a:r>
          </a:p>
          <a:p xmlns:a="http://schemas.openxmlformats.org/drawingml/2006/main">
            <a:r>
              <a:t>          "layer": "상태·지식 저장",</a:t>
            </a:r>
          </a:p>
          <a:p xmlns:a="http://schemas.openxmlformats.org/drawingml/2006/main">
            <a:r>
              <a:t>          "detail": "업무별 라우팅·접근 결과와 원천 인용·변경 이력",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"문서·ERP 권한",</a:t>
            </a:r>
          </a:p>
          <a:p xmlns:a="http://schemas.openxmlformats.org/drawingml/2006/main">
            <a:r>
              <a:t>          "layer": "권한·정책",</a:t>
            </a:r>
          </a:p>
          <a:p xmlns:a="http://schemas.openxmlformats.org/drawingml/2006/main">
            <a:r>
              <a:t>          "detail": "직급·근속 변경·다른 도메인 자료·시추 원문 누락",</a:t>
            </a:r>
          </a:p>
          <a:p xmlns:a="http://schemas.openxmlformats.org/drawingml/2006/main">
            <a:r>
              <a:t>          "requirements": [</a:t>
            </a:r>
          </a:p>
          <a:p xmlns:a="http://schemas.openxmlformats.org/drawingml/2006/main">
            <a:r>
              <a:t>            "SER-004"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"사번·소속·직급·업무분장 기반 접근 판정",</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"업무 목적",</a:t>
            </a:r>
          </a:p>
          <a:p xmlns:a="http://schemas.openxmlformats.org/drawingml/2006/main">
            <a:r>
              <a:t>          "check": "도메인 경계·현업 승인·결과 대사"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"도메인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"검토 초안",</a:t>
            </a:r>
          </a:p>
          <a:p xmlns:a="http://schemas.openxmlformats.org/drawingml/2006/main">
            <a:r>
              <a:t>          "check": "직급·근속 변경·다른 도메인 자료·시추 원문 누락"</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"검토 초안",</a:t>
            </a:r>
          </a:p>
          <a:p xmlns:a="http://schemas.openxmlformats.org/drawingml/2006/main">
            <a:r>
              <a:t>          "check": "원천 링크·업무 결과를 현업에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"공식 업무 처리",</a:t>
            </a:r>
          </a:p>
          <a:p xmlns:a="http://schemas.openxmlformats.org/drawingml/2006/main">
            <a:r>
              <a:t>          "check": "업무별 라우팅·접근 결과와 원천 인용·변경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"SER-001~004·FUR-001~006",</a:t>
            </a:r>
          </a:p>
          <a:p xmlns:a="http://schemas.openxmlformats.org/drawingml/2006/main">
            <a:r>
              <a:t>        "extracted": "사번·소속·직급·업무분장, 문서별 권한, 6개 특화업무",</a:t>
            </a:r>
          </a:p>
          <a:p xmlns:a="http://schemas.openxmlformats.org/drawingml/2006/main">
            <a:r>
              <a:t>        "extension": "ERP 조회·실행 권한 분리 및 특화업무별 인수셋"</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"직급·근속 변경·다른 도메인 자료·시추 원문 누락",</a:t>
            </a:r>
          </a:p>
          <a:p xmlns:a="http://schemas.openxmlformats.org/drawingml/2006/main">
            <a:r>
              <a:t>        "hold": "도메인 경계·현업 승인·결과 대사",</a:t>
            </a:r>
          </a:p>
          <a:p xmlns:a="http://schemas.openxmlformats.org/drawingml/2006/main">
            <a:r>
              <a:t>        "recovery": "권한 변경 이력·도메인 평가·업무별 운영 관리",</a:t>
            </a:r>
          </a:p>
          <a:p xmlns:a="http://schemas.openxmlformats.org/drawingml/2006/main">
            <a:r>
              <a:t>        "evidence": "업무별 라우팅·접근 결과와 원천 인용·변경 이력"</a:t>
            </a:r>
          </a:p>
          <a:p xmlns:a="http://schemas.openxmlformats.org/drawingml/2006/main">
            <a:r>
              <a:t>      },</a:t>
            </a:r>
          </a:p>
          <a:p xmlns:a="http://schemas.openxmlformats.org/drawingml/2006/main">
            <a:r>
              <a:t>      "data": {</a:t>
            </a:r>
          </a:p>
          <a:p xmlns:a="http://schemas.openxmlformats.org/drawingml/2006/main">
            <a:r>
              <a:t>        "source": "인사·안전·설비 지식",</a:t>
            </a:r>
          </a:p>
          <a:p xmlns:a="http://schemas.openxmlformats.org/drawingml/2006/main">
            <a:r>
              <a:t>        "prepare": "시추 일보·지질·설비·규정의 도메인별 색인",</a:t>
            </a:r>
          </a:p>
          <a:p xmlns:a="http://schemas.openxmlformats.org/drawingml/2006/main">
            <a:r>
              <a:t>        "output": "업무 목적",</a:t>
            </a:r>
          </a:p>
          <a:p xmlns:a="http://schemas.openxmlformats.org/drawingml/2006/main">
            <a:r>
              <a:t>        "refresh": "권한 변경 이력·도메인 평가·업무별 운영 관리"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"PF-R09",</a:t>
            </a:r>
          </a:p>
          <a:p xmlns:a="http://schemas.openxmlformats.org/drawingml/2006/main">
            <a:r>
              <a:t>    "success": [</a:t>
            </a:r>
          </a:p>
          <a:p xmlns:a="http://schemas.openxmlformats.org/drawingml/2006/main">
            <a:r>
              <a:t>      "공통 챗봇과 6개 도메인 분리",</a:t>
            </a:r>
          </a:p>
          <a:p xmlns:a="http://schemas.openxmlformats.org/drawingml/2006/main">
            <a:r>
              <a:t>      "업무 지식·ERP 경로의 결합"</a:t>
            </a:r>
          </a:p>
          <a:p xmlns:a="http://schemas.openxmlformats.org/drawingml/2006/main">
            <a:r>
              <a:t>    ],</a:t>
            </a:r>
          </a:p>
          <a:p xmlns:a="http://schemas.openxmlformats.org/drawingml/2006/main">
            <a:r>
              <a:t>    "risks": [</a:t>
            </a:r>
          </a:p>
          <a:p xmlns:a="http://schemas.openxmlformats.org/drawingml/2006/main">
            <a:r>
              <a:t>      "도메인 지식의 혼합",</a:t>
            </a:r>
          </a:p>
          <a:p xmlns:a="http://schemas.openxmlformats.org/drawingml/2006/main">
            <a:r>
              <a:t>      "안전·시추 권고를 자동 실행"</a:t>
            </a:r>
          </a:p>
          <a:p xmlns:a="http://schemas.openxmlformats.org/drawingml/2006/main">
            <a:r>
              <a:t>    ],</a:t>
            </a:r>
          </a:p>
          <a:p xmlns:a="http://schemas.openxmlformats.org/drawingml/2006/main">
            <a:r>
              <a:t>    "architecture": [</a:t>
            </a:r>
          </a:p>
          <a:p xmlns:a="http://schemas.openxmlformats.org/drawingml/2006/main">
            <a:r>
              <a:t>      "직원 업무 앱",</a:t>
            </a:r>
          </a:p>
          <a:p xmlns:a="http://schemas.openxmlformats.org/drawingml/2006/main">
            <a:r>
              <a:t>      "도메인 RAG",</a:t>
            </a:r>
          </a:p>
          <a:p xmlns:a="http://schemas.openxmlformats.org/drawingml/2006/main">
            <a:r>
              <a:t>      "인사·안전·설비 지식",</a:t>
            </a:r>
          </a:p>
          <a:p xmlns:a="http://schemas.openxmlformats.org/drawingml/2006/main">
            <a:r>
              <a:t>      "업무·ERP 담당"</a:t>
            </a:r>
          </a:p>
          <a:p xmlns:a="http://schemas.openxmlformats.org/drawingml/2006/main">
            <a:r>
              <a:t>    ],</a:t>
            </a:r>
          </a:p>
          <a:p xmlns:a="http://schemas.openxmlformats.org/drawingml/2006/main">
            <a:r>
              <a:t>    "transfers": [</a:t>
            </a:r>
          </a:p>
          <a:p xmlns:a="http://schemas.openxmlformats.org/drawingml/2006/main">
            <a:r>
              <a:t>      "업무 목적",</a:t>
            </a:r>
          </a:p>
          <a:p xmlns:a="http://schemas.openxmlformats.org/drawingml/2006/main">
            <a:r>
              <a:t>      "도메인 근거",</a:t>
            </a:r>
          </a:p>
          <a:p xmlns:a="http://schemas.openxmlformats.org/drawingml/2006/main">
            <a:r>
              <a:t>      "검토 초안",</a:t>
            </a:r>
          </a:p>
          <a:p xmlns:a="http://schemas.openxmlformats.org/drawingml/2006/main">
            <a:r>
              <a:t>      "공식 업무 처리"</a:t>
            </a:r>
          </a:p>
          <a:p xmlns:a="http://schemas.openxmlformats.org/drawingml/2006/main">
            <a:r>
              <a:t>    ],</a:t>
            </a:r>
          </a:p>
          <a:p xmlns:a="http://schemas.openxmlformats.org/drawingml/2006/main">
            <a:r>
              <a:t>    "control": "도메인 경계·현업 승인·결과 대사",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SER-001~004, FUR-001~006, ASR·DAR / Word T098 https://www.g2b.go.kr/pn/pnp/pnpe/UntyAtchFile/downloadFile.do?bidPbancNo=R26BK01705928&amp;bidPbancOrd=001&amp;fileSeq=4&amp;fileType=&amp;prcmBsneSeCd=03</a:t>
            </a:r>
          </a:p>
          <a:p xmlns:a="http://schemas.openxmlformats.org/drawingml/2006/main">
            <a:r>
              <a:t>홈페이지 https://heen1987-ops.github.io/TS-business-Plan-001/index.html?view=platform-cases&amp;case=PF-R09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"PF-R09",</a:t>
            </a:r>
          </a:p>
          <a:p xmlns:a="http://schemas.openxmlformats.org/drawingml/2006/main">
            <a:r>
              <a:t>    "sourceId": "R09",</a:t>
            </a:r>
          </a:p>
          <a:p xmlns:a="http://schemas.openxmlformats.org/drawingml/2006/main">
            <a:r>
              <a:t>    "title": "석유공사 업무 AI",</a:t>
            </a:r>
          </a:p>
          <a:p xmlns:a="http://schemas.openxmlformats.org/drawingml/2006/main">
            <a:r>
              <a:t>    "region": "국내",</a:t>
            </a:r>
          </a:p>
          <a:p xmlns:a="http://schemas.openxmlformats.org/drawingml/2006/main">
            <a:r>
              <a:t>    "owner": "한국석유공사",</a:t>
            </a:r>
          </a:p>
          <a:p xmlns:a="http://schemas.openxmlformats.org/drawingml/2006/main">
            <a:r>
              <a:t>    "state": "정정 RFP 확인 / 구축·운영 성과 미확인",</a:t>
            </a:r>
          </a:p>
          <a:p xmlns:a="http://schemas.openxmlformats.org/drawingml/2006/main">
            <a:r>
              <a:t>    "period": "기존 원장 확인 2026.10.16",</a:t>
            </a:r>
          </a:p>
          <a:p xmlns:a="http://schemas.openxmlformats.org/drawingml/2006/main">
            <a:r>
              <a:t>    "fact": "범용 챗봇 + 인사복지·안전·시추·지질·비축설비·시장보고 6과제",</a:t>
            </a:r>
          </a:p>
          <a:p xmlns:a="http://schemas.openxmlformats.org/drawingml/2006/main">
            <a:r>
              <a:t>    "limit": "별도 과제(오피넷 AICC·적정유가 등)를 이번 개발로 합산하지 않음",</a:t>
            </a:r>
          </a:p>
          <a:p xmlns:a="http://schemas.openxmlformats.org/drawingml/2006/main">
            <a:r>
              <a:t>    "nodes": [</a:t>
            </a:r>
          </a:p>
          <a:p xmlns:a="http://schemas.openxmlformats.org/drawingml/2006/main">
            <a:r>
              <a:t>      "인사·안전 등 지식",</a:t>
            </a:r>
          </a:p>
          <a:p xmlns:a="http://schemas.openxmlformats.org/drawingml/2006/main">
            <a:r>
              <a:t>      "도메인 RAG",</a:t>
            </a:r>
          </a:p>
          <a:p xmlns:a="http://schemas.openxmlformats.org/drawingml/2006/main">
            <a:r>
              <a:t>      "업무 앱·ERP",</a:t>
            </a:r>
          </a:p>
          <a:p xmlns:a="http://schemas.openxmlformats.org/drawingml/2006/main">
            <a:r>
              <a:t>      "권한·성과 관리"</a:t>
            </a:r>
          </a:p>
          <a:p xmlns:a="http://schemas.openxmlformats.org/drawingml/2006/main">
            <a:r>
              <a:t>    ],</a:t>
            </a:r>
          </a:p>
          <a:p xmlns:a="http://schemas.openxmlformats.org/drawingml/2006/main">
            <a:r>
              <a:t>    "apply": "공통 사용자·권한 기반 위에 업무 도메인별 지식과 실행 경로 구성",</a:t>
            </a:r>
          </a:p>
          <a:p xmlns:a="http://schemas.openxmlformats.org/drawingml/2006/main">
            <a:r>
              <a:t>    "delta": "TS 업무 도메인 라우터 / 사용자 역할·효력일 / 업무별 검색·원천 연계",</a:t>
            </a:r>
          </a:p>
          <a:p xmlns:a="http://schemas.openxmlformats.org/drawingml/2006/main">
            <a:r>
              <a:t>    "test": "전보·겸직·다른 도메인 질의의 라우팅·근거·접근 허용 여부 대조",</a:t>
            </a:r>
          </a:p>
          <a:p xmlns:a="http://schemas.openxmlformats.org/drawingml/2006/main">
            <a:r>
              <a:t>    "url": "https://www.g2b.go.kr/pn/pnp/pnpe/UntyAtchFile/downloadFile.do?bidPbancNo=R26BK01705928&amp;bidPbancOrd=001&amp;fileSeq=4&amp;fileType=&amp;prcmBsneSeCd=03",</a:t>
            </a:r>
          </a:p>
          <a:p xmlns:a="http://schemas.openxmlformats.org/drawingml/2006/main">
            <a:r>
              <a:t>    "urls": [</a:t>
            </a:r>
          </a:p>
          <a:p xmlns:a="http://schemas.openxmlformats.org/drawingml/2006/main">
            <a:r>
              <a:t>      "https://www.g2b.go.kr/pn/pnp/pnpe/UntyAtchFile/downloadFile.do?bidPbancNo=R26BK01705928&amp;bidPbancOrd=001&amp;fileSeq=4&amp;fileType=&amp;prcmBsneSeCd=03"</a:t>
            </a:r>
          </a:p>
          <a:p xmlns:a="http://schemas.openxmlformats.org/drawingml/2006/main">
            <a:r>
              <a:t>    ],</a:t>
            </a:r>
          </a:p>
          <a:p xmlns:a="http://schemas.openxmlformats.org/drawingml/2006/main">
            <a:r>
              <a:t>    "basis": "SER-001~004, FUR-001~006, ASR·DAR / Word T098",</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"업무 분류 정확도 / 근거 적합률 / 도메인 추가 구축 공수",</a:t>
            </a:r>
          </a:p>
          <a:p xmlns:a="http://schemas.openxmlformats.org/drawingml/2006/main">
            <a:r>
              <a:t>    "group": "요구·구축",</a:t>
            </a:r>
          </a:p>
          <a:p xmlns:a="http://schemas.openxmlformats.org/drawingml/2006/main">
            <a:r>
              <a:t>    "sourceDetail": "대화형/전용화면, 에이전트·ERP·권한·문서/정형 데이터 연계, 도메인별 RAG/보고서",</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"PF-R09",</a:t>
            </a:r>
          </a:p>
          <a:p xmlns:a="http://schemas.openxmlformats.org/drawingml/2006/main">
            <a:r>
              <a:t>    "canonicalId": "PF-R09",</a:t>
            </a:r>
          </a:p>
          <a:p xmlns:a="http://schemas.openxmlformats.org/drawingml/2006/main">
            <a:r>
              <a:t>    "purpose": "공통 플랫폼 위의 6개 업무 특화 AI",</a:t>
            </a:r>
          </a:p>
          <a:p xmlns:a="http://schemas.openxmlformats.org/drawingml/2006/main">
            <a:r>
              <a:t>    "users": "인사·안전·개발·비축·시장 담당",</a:t>
            </a:r>
          </a:p>
          <a:p xmlns:a="http://schemas.openxmlformats.org/drawingml/2006/main">
            <a:r>
              <a:t>    "scope": [</a:t>
            </a:r>
          </a:p>
          <a:p xmlns:a="http://schemas.openxmlformats.org/drawingml/2006/main">
            <a:r>
              <a:t>      "공통 챗봇",</a:t>
            </a:r>
          </a:p>
          <a:p xmlns:a="http://schemas.openxmlformats.org/drawingml/2006/main">
            <a:r>
              <a:t>      "6개 업무 앱",</a:t>
            </a:r>
          </a:p>
          <a:p xmlns:a="http://schemas.openxmlformats.org/drawingml/2006/main">
            <a:r>
              <a:t>      "ERP 연계"</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"직원 업무 앱",</a:t>
            </a:r>
          </a:p>
          <a:p xmlns:a="http://schemas.openxmlformats.org/drawingml/2006/main">
            <a:r>
              <a:t>        "detail": "사번·소속·직급·업무분장 기반 접근 판정",</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"공통 챗봇 / 6개 업무 앱 / ERP 연계",</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"도메인 RAG",</a:t>
            </a:r>
          </a:p>
          <a:p xmlns:a="http://schemas.openxmlformats.org/drawingml/2006/main">
            <a:r>
              <a:t>        "detail": "도메인 RAG·정형 조회·보고서 생성 라우팅",</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"업무·ERP 담당",</a:t>
            </a:r>
          </a:p>
          <a:p xmlns:a="http://schemas.openxmlformats.org/drawingml/2006/main">
            <a:r>
              <a:t>        "detail": "원천 링크·업무 결과를 현업에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"인사·안전·설비 지식",</a:t>
            </a:r>
          </a:p>
          <a:p xmlns:a="http://schemas.openxmlformats.org/drawingml/2006/main">
            <a:r>
              <a:t>        "detail": "시추 일보·지질·설비·규정의 도메인별 색인",</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"권한 변경 이력·도메인 평가·업무별 운영 관리",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"인사·안전 등 지식",</a:t>
            </a:r>
          </a:p>
          <a:p xmlns:a="http://schemas.openxmlformats.org/drawingml/2006/main">
            <a:r>
              <a:t>        "input": "사번·소속·직급·업무분장 기반 접근 판정",</a:t>
            </a:r>
          </a:p>
          <a:p xmlns:a="http://schemas.openxmlformats.org/drawingml/2006/main">
            <a:r>
              <a:t>        "process": "시추 일보·지질·설비·규정의 도메인별 색인",</a:t>
            </a:r>
          </a:p>
          <a:p xmlns:a="http://schemas.openxmlformats.org/drawingml/2006/main">
            <a:r>
              <a:t>        "output": "업무 목적"</a:t>
            </a:r>
          </a:p>
          <a:p xmlns:a="http://schemas.openxmlformats.org/drawingml/2006/main">
            <a:r>
              <a:t>      },</a:t>
            </a:r>
          </a:p>
          <a:p xmlns:a="http://schemas.openxmlformats.org/drawingml/2006/main">
            <a:r>
              <a:t>      {</a:t>
            </a:r>
          </a:p>
          <a:p xmlns:a="http://schemas.openxmlformats.org/drawingml/2006/main">
            <a:r>
              <a:t>        "title": "도메인 RAG",</a:t>
            </a:r>
          </a:p>
          <a:p xmlns:a="http://schemas.openxmlformats.org/drawingml/2006/main">
            <a:r>
              <a:t>        "input": "업무 목적",</a:t>
            </a:r>
          </a:p>
          <a:p xmlns:a="http://schemas.openxmlformats.org/drawingml/2006/main">
            <a:r>
              <a:t>        "process": "도메인 RAG·정형 조회·보고서 생성 라우팅",</a:t>
            </a:r>
          </a:p>
          <a:p xmlns:a="http://schemas.openxmlformats.org/drawingml/2006/main">
            <a:r>
              <a:t>        "output": "도메인 근거"</a:t>
            </a:r>
          </a:p>
          <a:p xmlns:a="http://schemas.openxmlformats.org/drawingml/2006/main">
            <a:r>
              <a:t>      },</a:t>
            </a:r>
          </a:p>
          <a:p xmlns:a="http://schemas.openxmlformats.org/drawingml/2006/main">
            <a:r>
              <a:t>      {</a:t>
            </a:r>
          </a:p>
          <a:p xmlns:a="http://schemas.openxmlformats.org/drawingml/2006/main">
            <a:r>
              <a:t>        "title": "업무 앱·ERP",</a:t>
            </a:r>
          </a:p>
          <a:p xmlns:a="http://schemas.openxmlformats.org/drawingml/2006/main">
            <a:r>
              <a:t>        "input": "도메인 근거",</a:t>
            </a:r>
          </a:p>
          <a:p xmlns:a="http://schemas.openxmlformats.org/drawingml/2006/main">
            <a:r>
              <a:t>        "process": "도메인 경계·현업 승인·결과 대사",</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"title": "권한·성과 관리",</a:t>
            </a:r>
          </a:p>
          <a:p xmlns:a="http://schemas.openxmlformats.org/drawingml/2006/main">
            <a:r>
              <a:t>        "input": "검토 초안",</a:t>
            </a:r>
          </a:p>
          <a:p xmlns:a="http://schemas.openxmlformats.org/drawingml/2006/main">
            <a:r>
              <a:t>        "process": "원천 링크·업무 결과를 현업에 제공",</a:t>
            </a:r>
          </a:p>
          <a:p xmlns:a="http://schemas.openxmlformats.org/drawingml/2006/main">
            <a:r>
              <a:t>        "output": "공식 업무 처리"</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"직원의 업무 목적을 6개 도메인 중 해당 앱으로 연결",</a:t>
            </a:r>
          </a:p>
          <a:p xmlns:a="http://schemas.openxmlformats.org/drawingml/2006/main">
            <a:r>
              <a:t>      "exception": "직급·근속 변경·다른 도메인 자료·시추 원문 누락",</a:t>
            </a:r>
          </a:p>
          <a:p xmlns:a="http://schemas.openxmlformats.org/drawingml/2006/main">
            <a:r>
              <a:t>      "evidence": "업무별 라우팅·접근 결과와 원천 인용·변경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"인사·안전·개발·비축·시장 담당",</a:t>
            </a:r>
          </a:p>
          <a:p xmlns:a="http://schemas.openxmlformats.org/drawingml/2006/main">
            <a:r>
              <a:t>          "processing": "사번·소속·직급·업무분장 기반 접근 판정",</a:t>
            </a:r>
          </a:p>
          <a:p xmlns:a="http://schemas.openxmlformats.org/drawingml/2006/main">
            <a:r>
              <a:t>          "output": "업무 목적"</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"인사·안전·설비 지식",</a:t>
            </a:r>
          </a:p>
          <a:p xmlns:a="http://schemas.openxmlformats.org/drawingml/2006/main">
            <a:r>
              <a:t>          "processing": "시추 일보·지질·설비·규정의 도메인별 색인",</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"업무 목적",</a:t>
            </a:r>
          </a:p>
          <a:p xmlns:a="http://schemas.openxmlformats.org/drawingml/2006/main">
            <a:r>
              <a:t>          "processing": "도메인 RAG·정형 조회·보고서 생성 라우팅",</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"검토 초안",</a:t>
            </a:r>
          </a:p>
          <a:p xmlns:a="http://schemas.openxmlformats.org/drawingml/2006/main">
            <a:r>
              <a:t>          "processing": "원천 링크·업무 결과를 현업에 제공",</a:t>
            </a:r>
          </a:p>
          <a:p xmlns:a="http://schemas.openxmlformats.org/drawingml/2006/main">
            <a:r>
              <a:t>          "output": "공식 업무 처리"</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"권한 변경 이력·도메인 평가·업무별 운영 관리",</a:t>
            </a:r>
          </a:p>
          <a:p xmlns:a="http://schemas.openxmlformats.org/drawingml/2006/main">
            <a:r>
              <a:t>          "output": "업무별 라우팅·접근 결과와 원천 인용·변경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"권한 변경 이력·도메인 평가·업무별 운영 관리",</a:t>
            </a:r>
          </a:p>
          <a:p xmlns:a="http://schemas.openxmlformats.org/drawingml/2006/main">
            <a:r>
              <a:t>    "status": "RFP 기반 논리 설계",</a:t>
            </a:r>
          </a:p>
          <a:p xmlns:a="http://schemas.openxmlformats.org/drawingml/2006/main">
            <a:r>
              <a:t>    "basis": "RFP 2026.09 · SER-001~004·FUR-001~006",</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"SER-001~004, FUR-001~006, ASR·DAR / Word T098",</a:t>
            </a:r>
          </a:p>
          <a:p xmlns:a="http://schemas.openxmlformats.org/drawingml/2006/main">
            <a:r>
              <a:t>        "url": "https://www.g2b.go.kr/pn/pnp/pnpe/UntyAtchFile/downloadFile.do?bidPbancNo=R26BK01705928&amp;bidPbancOrd=001&amp;fileSeq=4&amp;fileType=&amp;prcmBsneSeCd=03"</a:t>
            </a:r>
          </a:p>
          <a:p xmlns:a="http://schemas.openxmlformats.org/drawingml/2006/main">
            <a:r>
              <a:t>      }</a:t>
            </a:r>
          </a:p>
          <a:p xmlns:a="http://schemas.openxmlformats.org/drawingml/2006/main">
            <a:r>
              <a:t>    ],</a:t>
            </a:r>
          </a:p>
          <a:p xmlns:a="http://schemas.openxmlformats.org/drawingml/2006/main">
            <a:r>
              <a:t>    "implication": "공통 사용자·권한 기반 위에 업무 도메인별 지식과 실행 경로 구성",</a:t>
            </a:r>
          </a:p>
          <a:p xmlns:a="http://schemas.openxmlformats.org/drawingml/2006/main">
            <a:r>
              <a:t>    "local": "공통 사용자·권한 기반 위에 업무 도메인별 지식과 실행 경로 구성",</a:t>
            </a:r>
          </a:p>
          <a:p xmlns:a="http://schemas.openxmlformats.org/drawingml/2006/main">
            <a:r>
              <a:t>    "sourceDetail": "대화형/전용화면, 에이전트·ERP·권한·문서/정형 데이터 연계, 도메인별 RAG/보고서",</a:t>
            </a:r>
          </a:p>
          <a:p xmlns:a="http://schemas.openxmlformats.org/drawingml/2006/main">
            <a:r>
              <a:t>    "narrative": [</a:t>
            </a:r>
          </a:p>
          <a:p xmlns:a="http://schemas.openxmlformats.org/drawingml/2006/main">
            <a:r>
              <a:t>      "공통 AI 대화·전용 업무 화면 위에 인사복지, 안전관리, 시추, 지질, 비축설비, 석유시장 보고서의 6개 업무를 구성하는 사업. 전사 공통 기반과 도메인별 지식·산출물의 경계를 비교하기 적합한 사례.",</a:t>
            </a:r>
          </a:p>
          <a:p xmlns:a="http://schemas.openxmlformats.org/drawingml/2006/main">
            <a:r>
              <a:t>      "SER 요구는 공통 접점·업무 범위·권한과 응용 서비스를 정의하고, FUR-001~006은 업무별 자료와 출력 기능을 분리. 직원 사번·소속·직급·업무분장, 문서 접근조건, 정형 데이터·ERP 연계를 각 업무 처리의 문맥으로 사용하는 구조.",</a:t>
            </a:r>
          </a:p>
          <a:p xmlns:a="http://schemas.openxmlformats.org/drawingml/2006/main">
            <a:r>
              <a:t>      "TS의 1차 조직·권한·업무 분류 기반을 만든 뒤 부서별 특화 서비스를 붙이는 순서에 활용할 대상. 공통 챗봇 설치와 6개 업무의 인수 완료를 같은 실적으로 보지 않고, 업무별 데이터 원천·전문가 정답셋·실행 승인·결과 대사를 따로 관리할 필요."</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"SER-001",</a:t>
            </a:r>
          </a:p>
          <a:p xmlns:a="http://schemas.openxmlformats.org/drawingml/2006/main">
            <a:r>
              <a:t>        "title": "AI 대화형 서비스",</a:t>
            </a:r>
          </a:p>
          <a:p xmlns:a="http://schemas.openxmlformats.org/drawingml/2006/main">
            <a:r>
              <a:t>        "locator": "SER-001",</a:t>
            </a:r>
          </a:p>
          <a:p xmlns:a="http://schemas.openxmlformats.org/drawingml/2006/main">
            <a:r>
              <a:t>        "summary": "공통 AI 대화형 서비스 제공.",</a:t>
            </a:r>
          </a:p>
          <a:p xmlns:a="http://schemas.openxmlformats.org/drawingml/2006/main">
            <a:r>
              <a:t>        "data": "직원 질의·자료 → 대화 응답·근거",</a:t>
            </a:r>
          </a:p>
          <a:p xmlns:a="http://schemas.openxmlformats.org/drawingml/2006/main">
            <a:r>
              <a:t>        "components": [</a:t>
            </a:r>
          </a:p>
          <a:p xmlns:a="http://schemas.openxmlformats.org/drawingml/2006/main">
            <a:r>
              <a:t>          "C01",</a:t>
            </a:r>
          </a:p>
          <a:p xmlns:a="http://schemas.openxmlformats.org/drawingml/2006/main">
            <a:r>
              <a:t>          "C03",</a:t>
            </a:r>
          </a:p>
          <a:p xmlns:a="http://schemas.openxmlformats.org/drawingml/2006/main">
            <a:r>
              <a:t>          "C04"</a:t>
            </a:r>
          </a:p>
          <a:p xmlns:a="http://schemas.openxmlformats.org/drawingml/2006/main">
            <a:r>
              <a:t>        ],</a:t>
            </a:r>
          </a:p>
          <a:p xmlns:a="http://schemas.openxmlformats.org/drawingml/2006/main">
            <a:r>
              <a:t>        "acceptance": "문맥 유지·출처 확인·입력 범위·오류 안내의 대화 시나리오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"5c1be9c8c0ac6ecdc4d18ef05c6b02a80c9f5f082231b33b335733de34a142e2"</a:t>
            </a:r>
          </a:p>
          <a:p xmlns:a="http://schemas.openxmlformats.org/drawingml/2006/main">
            <a:r>
              <a:t>      },</a:t>
            </a:r>
          </a:p>
          <a:p xmlns:a="http://schemas.openxmlformats.org/drawingml/2006/main">
            <a:r>
              <a:t>      {</a:t>
            </a:r>
          </a:p>
          <a:p xmlns:a="http://schemas.openxmlformats.org/drawingml/2006/main">
            <a:r>
              <a:t>        "id": "SER-002",</a:t>
            </a:r>
          </a:p>
          <a:p xmlns:a="http://schemas.openxmlformats.org/drawingml/2006/main">
            <a:r>
              <a:t>        "title": "업무 특화 화면 서비스",</a:t>
            </a:r>
          </a:p>
          <a:p xmlns:a="http://schemas.openxmlformats.org/drawingml/2006/main">
            <a:r>
              <a:t>        "locator": "SER-002",</a:t>
            </a:r>
          </a:p>
          <a:p xmlns:a="http://schemas.openxmlformats.org/drawingml/2006/main">
            <a:r>
              <a:t>        "summary": "업무 특화 화면에서 필요한 입력과 결과를 제공.",</a:t>
            </a:r>
          </a:p>
          <a:p xmlns:a="http://schemas.openxmlformats.org/drawingml/2006/main">
            <a:r>
              <a:t>        "data": "업무 종류·필수 입력 → 특화 결과 화면",</a:t>
            </a:r>
          </a:p>
          <a:p xmlns:a="http://schemas.openxmlformats.org/drawingml/2006/main">
            <a:r>
              <a:t>        "components": [</a:t>
            </a:r>
          </a:p>
          <a:p xmlns:a="http://schemas.openxmlformats.org/drawingml/2006/main">
            <a:r>
              <a:t>          "C01",</a:t>
            </a:r>
          </a:p>
          <a:p xmlns:a="http://schemas.openxmlformats.org/drawingml/2006/main">
            <a:r>
              <a:t>          "C02",</a:t>
            </a:r>
          </a:p>
          <a:p xmlns:a="http://schemas.openxmlformats.org/drawingml/2006/main">
            <a:r>
              <a:t>          "C06"</a:t>
            </a:r>
          </a:p>
          <a:p xmlns:a="http://schemas.openxmlformats.org/drawingml/2006/main">
            <a:r>
              <a:t>        ],</a:t>
            </a:r>
          </a:p>
          <a:p xmlns:a="http://schemas.openxmlformats.org/drawingml/2006/main">
            <a:r>
              <a:t>        "acceptance": "업무별 필수 항목 누락·정정·결과 편집의 화면 동작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"4712f1694c7a46f76189d352fd3d252e83e6f128c095acdb1bfaf30e6453b7ea"</a:t>
            </a:r>
          </a:p>
          <a:p xmlns:a="http://schemas.openxmlformats.org/drawingml/2006/main">
            <a:r>
              <a:t>      },</a:t>
            </a:r>
          </a:p>
          <a:p xmlns:a="http://schemas.openxmlformats.org/drawingml/2006/main">
            <a:r>
              <a:t>      {</a:t>
            </a:r>
          </a:p>
          <a:p xmlns:a="http://schemas.openxmlformats.org/drawingml/2006/main">
            <a:r>
              <a:t>        "id": "SER-003",</a:t>
            </a:r>
          </a:p>
          <a:p xmlns:a="http://schemas.openxmlformats.org/drawingml/2006/main">
            <a:r>
              <a:t>        "title": "AI 응용 서비스 대상 업무",</a:t>
            </a:r>
          </a:p>
          <a:p xmlns:a="http://schemas.openxmlformats.org/drawingml/2006/main">
            <a:r>
              <a:t>        "locator": "SER-003",</a:t>
            </a:r>
          </a:p>
          <a:p xmlns:a="http://schemas.openxmlformats.org/drawingml/2006/main">
            <a:r>
              <a:t>        "summary": "AI 응용서비스 대상 업무의 범위 구성.",</a:t>
            </a:r>
          </a:p>
          <a:p xmlns:a="http://schemas.openxmlformats.org/drawingml/2006/main">
            <a:r>
              <a:t>        "data": "업무 요청·영역 → 해당 응용서비스",</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a:t>
            </a:r>
          </a:p>
          <a:p xmlns:a="http://schemas.openxmlformats.org/drawingml/2006/main">
            <a:r>
              <a:t>        "acceptance": "인사·안전·시추·지질·설비·시장 업무의 잘못된 라우팅과 복합 요청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"f63574c927275ee8519741567d3f145890d5ed0b96c61b09e00920044886df77"</a:t>
            </a:r>
          </a:p>
          <a:p xmlns:a="http://schemas.openxmlformats.org/drawingml/2006/main">
            <a:r>
              <a:t>      },</a:t>
            </a:r>
          </a:p>
          <a:p xmlns:a="http://schemas.openxmlformats.org/drawingml/2006/main">
            <a:r>
              <a:t>      {</a:t>
            </a:r>
          </a:p>
          <a:p xmlns:a="http://schemas.openxmlformats.org/drawingml/2006/main">
            <a:r>
              <a:t>        "id": "SER-004",</a:t>
            </a:r>
          </a:p>
          <a:p xmlns:a="http://schemas.openxmlformats.org/drawingml/2006/main">
            <a:r>
              <a:t>        "title": "응용 서비스 공통",</a:t>
            </a:r>
          </a:p>
          <a:p xmlns:a="http://schemas.openxmlformats.org/drawingml/2006/main">
            <a:r>
              <a:t>        "locator": "SER-004",</a:t>
            </a:r>
          </a:p>
          <a:p xmlns:a="http://schemas.openxmlformats.org/drawingml/2006/main">
            <a:r>
              <a:t>        "summary": "업무 응용서비스에 공통 적용할 기능과 운영 기준 구성.",</a:t>
            </a:r>
          </a:p>
          <a:p xmlns:a="http://schemas.openxmlformats.org/drawingml/2006/main">
            <a:r>
              <a:t>        "data": "서비스 설정·권한·이용 기록 → 공통 통제·운영 결과",</a:t>
            </a:r>
          </a:p>
          <a:p xmlns:a="http://schemas.openxmlformats.org/drawingml/2006/main">
            <a:r>
              <a:t>        "components": [</a:t>
            </a:r>
          </a:p>
          <a:p xmlns:a="http://schemas.openxmlformats.org/drawingml/2006/main">
            <a:r>
              <a:t>          "C05",</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"개별 서비스 추가 시 공통 인증·통제·운영 기록 적용의 누락 점검",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"581ef5bd7d42a38fff5a1fa79a158712f59c915a988ed9e2f16244c505dd2ce9"</a:t>
            </a:r>
          </a:p>
          <a:p xmlns:a="http://schemas.openxmlformats.org/drawingml/2006/main">
            <a:r>
              <a:t>      },</a:t>
            </a:r>
          </a:p>
          <a:p xmlns:a="http://schemas.openxmlformats.org/drawingml/2006/main">
            <a:r>
              <a:t>      {</a:t>
            </a:r>
          </a:p>
          <a:p xmlns:a="http://schemas.openxmlformats.org/drawingml/2006/main">
            <a:r>
              <a:t>        "id": "FUR-001",</a:t>
            </a:r>
          </a:p>
          <a:p xmlns:a="http://schemas.openxmlformats.org/drawingml/2006/main">
            <a:r>
              <a:t>        "title": "[일반행정] 인사·복지 AI 서비스",</a:t>
            </a:r>
          </a:p>
          <a:p xmlns:a="http://schemas.openxmlformats.org/drawingml/2006/main">
            <a:r>
              <a:t>        "locator": "FUR-001",</a:t>
            </a:r>
          </a:p>
          <a:p xmlns:a="http://schemas.openxmlformats.org/drawingml/2006/main">
            <a:r>
              <a:t>        "summary": "인사·복지 규정과 업무 지식을 활용한 직원 지원.",</a:t>
            </a:r>
          </a:p>
          <a:p xmlns:a="http://schemas.openxmlformats.org/drawingml/2006/main">
            <a:r>
              <a:t>        "data": "직원 문맥·인사복지 질의 → 적용 규정·안내",</a:t>
            </a:r>
          </a:p>
          <a:p xmlns:a="http://schemas.openxmlformats.org/drawingml/2006/main">
            <a:r>
              <a:t>        "components": [</a:t>
            </a:r>
          </a:p>
          <a:p xmlns:a="http://schemas.openxmlformats.org/drawingml/2006/main">
            <a:r>
              <a:t>          "C02",</a:t>
            </a:r>
          </a:p>
          <a:p xmlns:a="http://schemas.openxmlformats.org/drawingml/2006/main">
            <a:r>
              <a:t>          "C03",</a:t>
            </a:r>
          </a:p>
          <a:p xmlns:a="http://schemas.openxmlformats.org/drawingml/2006/main">
            <a:r>
              <a:t>          "C06"</a:t>
            </a:r>
          </a:p>
          <a:p xmlns:a="http://schemas.openxmlformats.org/drawingml/2006/main">
            <a:r>
              <a:t>        ],</a:t>
            </a:r>
          </a:p>
          <a:p xmlns:a="http://schemas.openxmlformats.org/drawingml/2006/main">
            <a:r>
              <a:t>        "acceptance": "근무 조건·시행일·예외 조항이 다른 질문의 근거 선택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"5cd185d2ca6f76c5606a274957c4915b34daac231353f6ab491b45ffb4fc8014"</a:t>
            </a:r>
          </a:p>
          <a:p xmlns:a="http://schemas.openxmlformats.org/drawingml/2006/main">
            <a:r>
              <a:t>      },</a:t>
            </a:r>
          </a:p>
          <a:p xmlns:a="http://schemas.openxmlformats.org/drawingml/2006/main">
            <a:r>
              <a:t>      {</a:t>
            </a:r>
          </a:p>
          <a:p xmlns:a="http://schemas.openxmlformats.org/drawingml/2006/main">
            <a:r>
              <a:t>        "id": "FUR-002",</a:t>
            </a:r>
          </a:p>
          <a:p xmlns:a="http://schemas.openxmlformats.org/drawingml/2006/main">
            <a:r>
              <a:t>        "title": "[안전관리] 안전관리 AI 서비스",</a:t>
            </a:r>
          </a:p>
          <a:p xmlns:a="http://schemas.openxmlformats.org/drawingml/2006/main">
            <a:r>
              <a:t>        "locator": "FUR-002",</a:t>
            </a:r>
          </a:p>
          <a:p xmlns:a="http://schemas.openxmlformats.org/drawingml/2006/main">
            <a:r>
              <a:t>        "summary": "안전 분야 자료를 활용한 업무 지원.",</a:t>
            </a:r>
          </a:p>
          <a:p xmlns:a="http://schemas.openxmlformats.org/drawingml/2006/main">
            <a:r>
              <a:t>        "data": "안전 업무 질의·자료 → 근거·검토 결과",</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"C05"</a:t>
            </a:r>
          </a:p>
          <a:p xmlns:a="http://schemas.openxmlformats.org/drawingml/2006/main">
            <a:r>
              <a:t>        ],</a:t>
            </a:r>
          </a:p>
          <a:p xmlns:a="http://schemas.openxmlformats.org/drawingml/2006/main">
            <a:r>
              <a:t>        "acceptance": "현장 조건과 적용 기준의 불일치·필수 조치 누락을 포함한 검토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"ae5ca92e3dbf8291576889d17428fe931c780d6262138c9eaa06e5f28fc0d3e6"</a:t>
            </a:r>
          </a:p>
          <a:p xmlns:a="http://schemas.openxmlformats.org/drawingml/2006/main">
            <a:r>
              <a:t>      },</a:t>
            </a:r>
          </a:p>
          <a:p xmlns:a="http://schemas.openxmlformats.org/drawingml/2006/main">
            <a:r>
              <a:t>      {</a:t>
            </a:r>
          </a:p>
          <a:p xmlns:a="http://schemas.openxmlformats.org/drawingml/2006/main">
            <a:r>
              <a:t>        "id": "FUR-003",</a:t>
            </a:r>
          </a:p>
          <a:p xmlns:a="http://schemas.openxmlformats.org/drawingml/2006/main">
            <a:r>
              <a:t>        "title": "[석유개발] 석유 시추 정보 AI 서비스",</a:t>
            </a:r>
          </a:p>
          <a:p xmlns:a="http://schemas.openxmlformats.org/drawingml/2006/main">
            <a:r>
              <a:t>        "locator": "FUR-003",</a:t>
            </a:r>
          </a:p>
          <a:p xmlns:a="http://schemas.openxmlformats.org/drawingml/2006/main">
            <a:r>
              <a:t>        "summary": "시추 분야 자료와 전문 지식의 업무 활용.",</a:t>
            </a:r>
          </a:p>
          <a:p xmlns:a="http://schemas.openxmlformats.org/drawingml/2006/main">
            <a:r>
              <a:t>        "data": "시추 질의·기술자료 → 근거·분석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"전문 용어·설비 조건·단위 오류와 출처 없는 추론의 구분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"9acd9aea17e5f3417a6f8f17f19191240f88fedb58e28130587c9b97c113c023"</a:t>
            </a:r>
          </a:p>
          <a:p xmlns:a="http://schemas.openxmlformats.org/drawingml/2006/main">
            <a:r>
              <a:t>      },</a:t>
            </a:r>
          </a:p>
          <a:p xmlns:a="http://schemas.openxmlformats.org/drawingml/2006/main">
            <a:r>
              <a:t>      {</a:t>
            </a:r>
          </a:p>
          <a:p xmlns:a="http://schemas.openxmlformats.org/drawingml/2006/main">
            <a:r>
              <a:t>        "id": "FUR-004",</a:t>
            </a:r>
          </a:p>
          <a:p xmlns:a="http://schemas.openxmlformats.org/drawingml/2006/main">
            <a:r>
              <a:t>        "title": "[석유개발] 석유 지질 정보 AI 서비스",</a:t>
            </a:r>
          </a:p>
          <a:p xmlns:a="http://schemas.openxmlformats.org/drawingml/2006/main">
            <a:r>
              <a:t>        "locator": "FUR-004",</a:t>
            </a:r>
          </a:p>
          <a:p xmlns:a="http://schemas.openxmlformats.org/drawingml/2006/main">
            <a:r>
              <a:t>        "summary": "지질 자료와 분석 업무의 AI 지원.",</a:t>
            </a:r>
          </a:p>
          <a:p xmlns:a="http://schemas.openxmlformats.org/drawingml/2006/main">
            <a:r>
              <a:t>        "data": "지질 질의·연구 자료 → 탐색·분석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"서로 다른 지역·시기 자료의 혼용과 전문 수치·그림 근거 연결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"0c138c01d2c00b386c64812738ceda4a9d3dfa79e5c1ec90b1d8ca4f758908d5"</a:t>
            </a:r>
          </a:p>
          <a:p xmlns:a="http://schemas.openxmlformats.org/drawingml/2006/main">
            <a:r>
              <a:t>      },</a:t>
            </a:r>
          </a:p>
          <a:p xmlns:a="http://schemas.openxmlformats.org/drawingml/2006/main">
            <a:r>
              <a:t>      {</a:t>
            </a:r>
          </a:p>
          <a:p xmlns:a="http://schemas.openxmlformats.org/drawingml/2006/main">
            <a:r>
              <a:t>        "id": "FUR-005",</a:t>
            </a:r>
          </a:p>
          <a:p xmlns:a="http://schemas.openxmlformats.org/drawingml/2006/main">
            <a:r>
              <a:t>        "title": "[석유비축] 비축설비 정비·운영 AI 서비스",</a:t>
            </a:r>
          </a:p>
          <a:p xmlns:a="http://schemas.openxmlformats.org/drawingml/2006/main">
            <a:r>
              <a:t>        "locator": "FUR-005",</a:t>
            </a:r>
          </a:p>
          <a:p xmlns:a="http://schemas.openxmlformats.org/drawingml/2006/main">
            <a:r>
              <a:t>        "summary": "비축설비 관련 자료의 검색·업무 지원.",</a:t>
            </a:r>
          </a:p>
          <a:p xmlns:a="http://schemas.openxmlformats.org/drawingml/2006/main">
            <a:r>
              <a:t>        "data": "설비 식별·정비 자료 → 관련 근거·지원 결과",</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"설비 번호·점검 시점·부품 조건이 다른 자료의 구분과 최신 이력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"4d18cc59bfa5560530dcceb2188516ebb10c10fe8e05807a6f1c8d14188bdec8"</a:t>
            </a:r>
          </a:p>
          <a:p xmlns:a="http://schemas.openxmlformats.org/drawingml/2006/main">
            <a:r>
              <a:t>      },</a:t>
            </a:r>
          </a:p>
          <a:p xmlns:a="http://schemas.openxmlformats.org/drawingml/2006/main">
            <a:r>
              <a:t>      {</a:t>
            </a:r>
          </a:p>
          <a:p xmlns:a="http://schemas.openxmlformats.org/drawingml/2006/main">
            <a:r>
              <a:t>        "id": "FUR-006",</a:t>
            </a:r>
          </a:p>
          <a:p xmlns:a="http://schemas.openxmlformats.org/drawingml/2006/main">
            <a:r>
              <a:t>        "title": "[석유정보] 석유시장 보고서 작성 AI 서비스",</a:t>
            </a:r>
          </a:p>
          <a:p xmlns:a="http://schemas.openxmlformats.org/drawingml/2006/main">
            <a:r>
              <a:t>        "locator": "FUR-006",</a:t>
            </a:r>
          </a:p>
          <a:p xmlns:a="http://schemas.openxmlformats.org/drawingml/2006/main">
            <a:r>
              <a:t>        "summary": "시장 자료를 활용한 보고서 작성 지원.",</a:t>
            </a:r>
          </a:p>
          <a:p xmlns:a="http://schemas.openxmlformats.org/drawingml/2006/main">
            <a:r>
              <a:t>        "data": "시장 자료·기준일 → 근거가 연결된 보고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"기준일·통화·단위 혼용, 숫자 인용, 최신 자료 누락의 항목별 점검",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"1a1e671fc8f1cfe4dc05c83144eb257e226afeea8a0f7096652aeec596b82a80"</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"직원·업무 앱",</a:t>
            </a:r>
          </a:p>
          <a:p xmlns:a="http://schemas.openxmlformats.org/drawingml/2006/main">
            <a:r>
              <a:t>          "layer": "이용 접점",</a:t>
            </a:r>
          </a:p>
          <a:p xmlns:a="http://schemas.openxmlformats.org/drawingml/2006/main">
            <a:r>
              <a:t>          "detail": "인사·안전·개발·비축·시장 담당",</a:t>
            </a:r>
          </a:p>
          <a:p xmlns:a="http://schemas.openxmlformats.org/drawingml/2006/main">
            <a:r>
              <a:t>          "requirements": [</a:t>
            </a:r>
          </a:p>
          <a:p xmlns:a="http://schemas.openxmlformats.org/drawingml/2006/main">
            <a:r>
              <a:t>            "SER-001",</a:t>
            </a:r>
          </a:p>
          <a:p xmlns:a="http://schemas.openxmlformats.org/drawingml/2006/main">
            <a:r>
              <a:t>            "SER-002"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"사번·소속·업무",</a:t>
            </a:r>
          </a:p>
          <a:p xmlns:a="http://schemas.openxmlformats.org/drawingml/2006/main">
            <a:r>
              <a:t>          "layer": "업무 문맥",</a:t>
            </a:r>
          </a:p>
          <a:p xmlns:a="http://schemas.openxmlformats.org/drawingml/2006/main">
            <a:r>
              <a:t>          "detail": "사번·소속·직급·업무분장 기반 접근 판정",</a:t>
            </a:r>
          </a:p>
          <a:p xmlns:a="http://schemas.openxmlformats.org/drawingml/2006/main">
            <a:r>
              <a:t>          "requirements": [</a:t>
            </a:r>
          </a:p>
          <a:p xmlns:a="http://schemas.openxmlformats.org/drawingml/2006/main">
            <a:r>
              <a:t>            "SER-002",</a:t>
            </a:r>
          </a:p>
          <a:p xmlns:a="http://schemas.openxmlformats.org/drawingml/2006/main">
            <a:r>
              <a:t>            "SER-003",</a:t>
            </a:r>
          </a:p>
          <a:p xmlns:a="http://schemas.openxmlformats.org/drawingml/2006/main">
            <a:r>
              <a:t>            "FUR-001"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"도메인 지식 조회",</a:t>
            </a:r>
          </a:p>
          <a:p xmlns:a="http://schemas.openxmlformats.org/drawingml/2006/main">
            <a:r>
              <a:t>          "layer": "자료 조회",</a:t>
            </a:r>
          </a:p>
          <a:p xmlns:a="http://schemas.openxmlformats.org/drawingml/2006/main">
            <a:r>
              <a:t>          "detail": "업무 목적",</a:t>
            </a:r>
          </a:p>
          <a:p xmlns:a="http://schemas.openxmlformats.org/drawingml/2006/main">
            <a:r>
              <a:t>          "requirements": [</a:t>
            </a:r>
          </a:p>
          <a:p xmlns:a="http://schemas.openxmlformats.org/drawingml/2006/main">
            <a:r>
              <a:t>            "SER-001",</a:t>
            </a:r>
          </a:p>
          <a:p xmlns:a="http://schemas.openxmlformats.org/drawingml/2006/main">
            <a:r>
              <a:t>            "FUR-001",</a:t>
            </a:r>
          </a:p>
          <a:p xmlns:a="http://schemas.openxmlformats.org/drawingml/2006/main">
            <a:r>
              <a:t>            "FUR-002",</a:t>
            </a:r>
          </a:p>
          <a:p xmlns:a="http://schemas.openxmlformats.org/drawingml/2006/main">
            <a:r>
              <a:t>            "FUR-003",</a:t>
            </a:r>
          </a:p>
          <a:p xmlns:a="http://schemas.openxmlformats.org/drawingml/2006/main">
            <a:r>
              <a:t>            "FUR-004",</a:t>
            </a:r>
          </a:p>
          <a:p xmlns:a="http://schemas.openxmlformats.org/drawingml/2006/main">
            <a:r>
              <a:t>            "FUR-005",</a:t>
            </a:r>
          </a:p>
          <a:p xmlns:a="http://schemas.openxmlformats.org/drawingml/2006/main">
            <a:r>
              <a:t>            "FUR-006"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"6개 특화 AI 처리",</a:t>
            </a:r>
          </a:p>
          <a:p xmlns:a="http://schemas.openxmlformats.org/drawingml/2006/main">
            <a:r>
              <a:t>          "layer": "핵심 처리",</a:t>
            </a:r>
          </a:p>
          <a:p xmlns:a="http://schemas.openxmlformats.org/drawingml/2006/main">
            <a:r>
              <a:t>          "detail": "도메인 RAG·정형 조회·보고서 생성 라우팅",</a:t>
            </a:r>
          </a:p>
          <a:p xmlns:a="http://schemas.openxmlformats.org/drawingml/2006/main">
            <a:r>
              <a:t>          "requirements": [</a:t>
            </a:r>
          </a:p>
          <a:p xmlns:a="http://schemas.openxmlformats.org/drawingml/2006/main">
            <a:r>
              <a:t>            "SER-001",</a:t>
            </a:r>
          </a:p>
          <a:p xmlns:a="http://schemas.openxmlformats.org/drawingml/2006/main">
            <a:r>
              <a:t>            "SER-003",</a:t>
            </a:r>
          </a:p>
          <a:p xmlns:a="http://schemas.openxmlformats.org/drawingml/2006/main">
            <a:r>
              <a:t>            "FUR-002",</a:t>
            </a:r>
          </a:p>
          <a:p xmlns:a="http://schemas.openxmlformats.org/drawingml/2006/main">
            <a:r>
              <a:t>            "FUR-003",</a:t>
            </a:r>
          </a:p>
          <a:p xmlns:a="http://schemas.openxmlformats.org/drawingml/2006/main">
            <a:r>
              <a:t>            "FUR-004",</a:t>
            </a:r>
          </a:p>
          <a:p xmlns:a="http://schemas.openxmlformats.org/drawingml/2006/main">
            <a:r>
              <a:t>            "FUR-005",</a:t>
            </a:r>
          </a:p>
          <a:p xmlns:a="http://schemas.openxmlformats.org/drawingml/2006/main">
            <a:r>
              <a:t>            "FUR-006"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"권한·근거 대조",</a:t>
            </a:r>
          </a:p>
          <a:p xmlns:a="http://schemas.openxmlformats.org/drawingml/2006/main">
            <a:r>
              <a:t>          "layer": "결과 검증",</a:t>
            </a:r>
          </a:p>
          <a:p xmlns:a="http://schemas.openxmlformats.org/drawingml/2006/main">
            <a:r>
              <a:t>          "detail": "도메인 경계·현업 승인·결과 대사",</a:t>
            </a:r>
          </a:p>
          <a:p xmlns:a="http://schemas.openxmlformats.org/drawingml/2006/main">
            <a:r>
              <a:t>          "requirements": [</a:t>
            </a:r>
          </a:p>
          <a:p xmlns:a="http://schemas.openxmlformats.org/drawingml/2006/main">
            <a:r>
              <a:t>            "SER-004",</a:t>
            </a:r>
          </a:p>
          <a:p xmlns:a="http://schemas.openxmlformats.org/drawingml/2006/main">
            <a:r>
              <a:t>            "FUR-002"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"현업 승인",</a:t>
            </a:r>
          </a:p>
          <a:p xmlns:a="http://schemas.openxmlformats.org/drawingml/2006/main">
            <a:r>
              <a:t>          "layer": "사람 확인",</a:t>
            </a:r>
          </a:p>
          <a:p xmlns:a="http://schemas.openxmlformats.org/drawingml/2006/main">
            <a:r>
              <a:t>          "detail": "직원의 업무 목적을 6개 도메인 중 해당 앱으로 연결",</a:t>
            </a:r>
          </a:p>
          <a:p xmlns:a="http://schemas.openxmlformats.org/drawingml/2006/main">
            <a:r>
              <a:t>          "requirements": [</a:t>
            </a:r>
          </a:p>
          <a:p xmlns:a="http://schemas.openxmlformats.org/drawingml/2006/main">
            <a:r>
              <a:t>            "SER-002",</a:t>
            </a:r>
          </a:p>
          <a:p xmlns:a="http://schemas.openxmlformats.org/drawingml/2006/main">
            <a:r>
              <a:t>            "FUR-001",</a:t>
            </a:r>
          </a:p>
          <a:p xmlns:a="http://schemas.openxmlformats.org/drawingml/2006/main">
            <a:r>
              <a:t>            "FUR-003",</a:t>
            </a:r>
          </a:p>
          <a:p xmlns:a="http://schemas.openxmlformats.org/drawingml/2006/main">
            <a:r>
              <a:t>            "FUR-004",</a:t>
            </a:r>
          </a:p>
          <a:p xmlns:a="http://schemas.openxmlformats.org/drawingml/2006/main">
            <a:r>
              <a:t>            "FUR-005",</a:t>
            </a:r>
          </a:p>
          <a:p xmlns:a="http://schemas.openxmlformats.org/drawingml/2006/main">
            <a:r>
              <a:t>            "FUR-006"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"ERP·보고서 연계",</a:t>
            </a:r>
          </a:p>
          <a:p xmlns:a="http://schemas.openxmlformats.org/drawingml/2006/main">
            <a:r>
              <a:t>          "layer": "업무 연결",</a:t>
            </a:r>
          </a:p>
          <a:p xmlns:a="http://schemas.openxmlformats.org/drawingml/2006/main">
            <a:r>
              <a:t>          "detail": "원천 링크·업무 결과를 현업에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"도메인별 평가",</a:t>
            </a:r>
          </a:p>
          <a:p xmlns:a="http://schemas.openxmlformats.org/drawingml/2006/main">
            <a:r>
              <a:t>          "layer": "운영 관측",</a:t>
            </a:r>
          </a:p>
          <a:p xmlns:a="http://schemas.openxmlformats.org/drawingml/2006/main">
            <a:r>
              <a:t>          "detail": "권한 변경 이력·도메인 평가·업무별 운영 관리",</a:t>
            </a:r>
          </a:p>
          <a:p xmlns:a="http://schemas.openxmlformats.org/drawingml/2006/main">
            <a:r>
              <a:t>          "requirements": [</a:t>
            </a:r>
          </a:p>
          <a:p xmlns:a="http://schemas.openxmlformats.org/drawingml/2006/main">
            <a:r>
              <a:t>            "SER-004"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"시추·설비·규정",</a:t>
            </a:r>
          </a:p>
          <a:p xmlns:a="http://schemas.openxmlformats.org/drawingml/2006/main">
            <a:r>
              <a:t>          "layer": "데이터 원천",</a:t>
            </a:r>
          </a:p>
          <a:p xmlns:a="http://schemas.openxmlformats.org/drawingml/2006/main">
            <a:r>
              <a:t>          "detail": "인사·안전·설비 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"업무별 자료 정합화",</a:t>
            </a:r>
          </a:p>
          <a:p xmlns:a="http://schemas.openxmlformats.org/drawingml/2006/main">
            <a:r>
              <a:t>          "layer": "준비·갱신",</a:t>
            </a:r>
          </a:p>
          <a:p xmlns:a="http://schemas.openxmlformats.org/drawingml/2006/main">
            <a:r>
              <a:t>          "detail": "시추 일보·지질·설비·규정의 도메인별 색인",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"도메인 RAG 색인",</a:t>
            </a:r>
          </a:p>
          <a:p xmlns:a="http://schemas.openxmlformats.org/drawingml/2006/main">
            <a:r>
              <a:t>          "layer": "상태·지식 저장",</a:t>
            </a:r>
          </a:p>
          <a:p xmlns:a="http://schemas.openxmlformats.org/drawingml/2006/main">
            <a:r>
              <a:t>          "detail": "업무별 라우팅·접근 결과와 원천 인용·변경 이력",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"문서·ERP 권한",</a:t>
            </a:r>
          </a:p>
          <a:p xmlns:a="http://schemas.openxmlformats.org/drawingml/2006/main">
            <a:r>
              <a:t>          "layer": "권한·정책",</a:t>
            </a:r>
          </a:p>
          <a:p xmlns:a="http://schemas.openxmlformats.org/drawingml/2006/main">
            <a:r>
              <a:t>          "detail": "직급·근속 변경·다른 도메인 자료·시추 원문 누락",</a:t>
            </a:r>
          </a:p>
          <a:p xmlns:a="http://schemas.openxmlformats.org/drawingml/2006/main">
            <a:r>
              <a:t>          "requirements": [</a:t>
            </a:r>
          </a:p>
          <a:p xmlns:a="http://schemas.openxmlformats.org/drawingml/2006/main">
            <a:r>
              <a:t>            "SER-004"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"사번·소속·직급·업무분장 기반 접근 판정",</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"업무 목적",</a:t>
            </a:r>
          </a:p>
          <a:p xmlns:a="http://schemas.openxmlformats.org/drawingml/2006/main">
            <a:r>
              <a:t>          "check": "도메인 경계·현업 승인·결과 대사"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"도메인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"검토 초안",</a:t>
            </a:r>
          </a:p>
          <a:p xmlns:a="http://schemas.openxmlformats.org/drawingml/2006/main">
            <a:r>
              <a:t>          "check": "직급·근속 변경·다른 도메인 자료·시추 원문 누락"</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"검토 초안",</a:t>
            </a:r>
          </a:p>
          <a:p xmlns:a="http://schemas.openxmlformats.org/drawingml/2006/main">
            <a:r>
              <a:t>          "check": "원천 링크·업무 결과를 현업에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"공식 업무 처리",</a:t>
            </a:r>
          </a:p>
          <a:p xmlns:a="http://schemas.openxmlformats.org/drawingml/2006/main">
            <a:r>
              <a:t>          "check": "업무별 라우팅·접근 결과와 원천 인용·변경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"SER-001~004·FUR-001~006",</a:t>
            </a:r>
          </a:p>
          <a:p xmlns:a="http://schemas.openxmlformats.org/drawingml/2006/main">
            <a:r>
              <a:t>        "extracted": "사번·소속·직급·업무분장, 문서별 권한, 6개 특화업무",</a:t>
            </a:r>
          </a:p>
          <a:p xmlns:a="http://schemas.openxmlformats.org/drawingml/2006/main">
            <a:r>
              <a:t>        "extension": "ERP 조회·실행 권한 분리 및 특화업무별 인수셋"</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"직급·근속 변경·다른 도메인 자료·시추 원문 누락",</a:t>
            </a:r>
          </a:p>
          <a:p xmlns:a="http://schemas.openxmlformats.org/drawingml/2006/main">
            <a:r>
              <a:t>        "hold": "도메인 경계·현업 승인·결과 대사",</a:t>
            </a:r>
          </a:p>
          <a:p xmlns:a="http://schemas.openxmlformats.org/drawingml/2006/main">
            <a:r>
              <a:t>        "recovery": "권한 변경 이력·도메인 평가·업무별 운영 관리",</a:t>
            </a:r>
          </a:p>
          <a:p xmlns:a="http://schemas.openxmlformats.org/drawingml/2006/main">
            <a:r>
              <a:t>        "evidence": "업무별 라우팅·접근 결과와 원천 인용·변경 이력"</a:t>
            </a:r>
          </a:p>
          <a:p xmlns:a="http://schemas.openxmlformats.org/drawingml/2006/main">
            <a:r>
              <a:t>      },</a:t>
            </a:r>
          </a:p>
          <a:p xmlns:a="http://schemas.openxmlformats.org/drawingml/2006/main">
            <a:r>
              <a:t>      "data": {</a:t>
            </a:r>
          </a:p>
          <a:p xmlns:a="http://schemas.openxmlformats.org/drawingml/2006/main">
            <a:r>
              <a:t>        "source": "인사·안전·설비 지식",</a:t>
            </a:r>
          </a:p>
          <a:p xmlns:a="http://schemas.openxmlformats.org/drawingml/2006/main">
            <a:r>
              <a:t>        "prepare": "시추 일보·지질·설비·규정의 도메인별 색인",</a:t>
            </a:r>
          </a:p>
          <a:p xmlns:a="http://schemas.openxmlformats.org/drawingml/2006/main">
            <a:r>
              <a:t>        "output": "업무 목적",</a:t>
            </a:r>
          </a:p>
          <a:p xmlns:a="http://schemas.openxmlformats.org/drawingml/2006/main">
            <a:r>
              <a:t>        "refresh": "권한 변경 이력·도메인 평가·업무별 운영 관리"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"PF-R09",</a:t>
            </a:r>
          </a:p>
          <a:p xmlns:a="http://schemas.openxmlformats.org/drawingml/2006/main">
            <a:r>
              <a:t>    "success": [</a:t>
            </a:r>
          </a:p>
          <a:p xmlns:a="http://schemas.openxmlformats.org/drawingml/2006/main">
            <a:r>
              <a:t>      "공통 챗봇과 6개 도메인 분리",</a:t>
            </a:r>
          </a:p>
          <a:p xmlns:a="http://schemas.openxmlformats.org/drawingml/2006/main">
            <a:r>
              <a:t>      "업무 지식·ERP 경로의 결합"</a:t>
            </a:r>
          </a:p>
          <a:p xmlns:a="http://schemas.openxmlformats.org/drawingml/2006/main">
            <a:r>
              <a:t>    ],</a:t>
            </a:r>
          </a:p>
          <a:p xmlns:a="http://schemas.openxmlformats.org/drawingml/2006/main">
            <a:r>
              <a:t>    "risks": [</a:t>
            </a:r>
          </a:p>
          <a:p xmlns:a="http://schemas.openxmlformats.org/drawingml/2006/main">
            <a:r>
              <a:t>      "도메인 지식의 혼합",</a:t>
            </a:r>
          </a:p>
          <a:p xmlns:a="http://schemas.openxmlformats.org/drawingml/2006/main">
            <a:r>
              <a:t>      "안전·시추 권고를 자동 실행"</a:t>
            </a:r>
          </a:p>
          <a:p xmlns:a="http://schemas.openxmlformats.org/drawingml/2006/main">
            <a:r>
              <a:t>    ],</a:t>
            </a:r>
          </a:p>
          <a:p xmlns:a="http://schemas.openxmlformats.org/drawingml/2006/main">
            <a:r>
              <a:t>    "architecture": [</a:t>
            </a:r>
          </a:p>
          <a:p xmlns:a="http://schemas.openxmlformats.org/drawingml/2006/main">
            <a:r>
              <a:t>      "직원 업무 앱",</a:t>
            </a:r>
          </a:p>
          <a:p xmlns:a="http://schemas.openxmlformats.org/drawingml/2006/main">
            <a:r>
              <a:t>      "도메인 RAG",</a:t>
            </a:r>
          </a:p>
          <a:p xmlns:a="http://schemas.openxmlformats.org/drawingml/2006/main">
            <a:r>
              <a:t>      "인사·안전·설비 지식",</a:t>
            </a:r>
          </a:p>
          <a:p xmlns:a="http://schemas.openxmlformats.org/drawingml/2006/main">
            <a:r>
              <a:t>      "업무·ERP 담당"</a:t>
            </a:r>
          </a:p>
          <a:p xmlns:a="http://schemas.openxmlformats.org/drawingml/2006/main">
            <a:r>
              <a:t>    ],</a:t>
            </a:r>
          </a:p>
          <a:p xmlns:a="http://schemas.openxmlformats.org/drawingml/2006/main">
            <a:r>
              <a:t>    "transfers": [</a:t>
            </a:r>
          </a:p>
          <a:p xmlns:a="http://schemas.openxmlformats.org/drawingml/2006/main">
            <a:r>
              <a:t>      "업무 목적",</a:t>
            </a:r>
          </a:p>
          <a:p xmlns:a="http://schemas.openxmlformats.org/drawingml/2006/main">
            <a:r>
              <a:t>      "도메인 근거",</a:t>
            </a:r>
          </a:p>
          <a:p xmlns:a="http://schemas.openxmlformats.org/drawingml/2006/main">
            <a:r>
              <a:t>      "검토 초안",</a:t>
            </a:r>
          </a:p>
          <a:p xmlns:a="http://schemas.openxmlformats.org/drawingml/2006/main">
            <a:r>
              <a:t>      "공식 업무 처리"</a:t>
            </a:r>
          </a:p>
          <a:p xmlns:a="http://schemas.openxmlformats.org/drawingml/2006/main">
            <a:r>
              <a:t>    ],</a:t>
            </a:r>
          </a:p>
          <a:p xmlns:a="http://schemas.openxmlformats.org/drawingml/2006/main">
            <a:r>
              <a:t>    "control": "도메인 경계·현업 승인·결과 대사",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SER-001~004, FUR-001~006, ASR·DAR / Word T098 https://www.g2b.go.kr/pn/pnp/pnpe/UntyAtchFile/downloadFile.do?bidPbancNo=R26BK01705928&amp;bidPbancOrd=001&amp;fileSeq=4&amp;fileType=&amp;prcmBsneSeCd=03</a:t>
            </a:r>
          </a:p>
          <a:p xmlns:a="http://schemas.openxmlformats.org/drawingml/2006/main">
            <a:r>
              <a:t>홈페이지 https://heen1987-ops.github.io/TS-business-Plan-001/index.html?view=platform-cases&amp;case=PF-R09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"PF-R09",</a:t>
            </a:r>
          </a:p>
          <a:p xmlns:a="http://schemas.openxmlformats.org/drawingml/2006/main">
            <a:r>
              <a:t>    "sourceId": "R09",</a:t>
            </a:r>
          </a:p>
          <a:p xmlns:a="http://schemas.openxmlformats.org/drawingml/2006/main">
            <a:r>
              <a:t>    "title": "석유공사 업무 AI",</a:t>
            </a:r>
          </a:p>
          <a:p xmlns:a="http://schemas.openxmlformats.org/drawingml/2006/main">
            <a:r>
              <a:t>    "region": "국내",</a:t>
            </a:r>
          </a:p>
          <a:p xmlns:a="http://schemas.openxmlformats.org/drawingml/2006/main">
            <a:r>
              <a:t>    "owner": "한국석유공사",</a:t>
            </a:r>
          </a:p>
          <a:p xmlns:a="http://schemas.openxmlformats.org/drawingml/2006/main">
            <a:r>
              <a:t>    "state": "정정 RFP 확인 / 구축·운영 성과 미확인",</a:t>
            </a:r>
          </a:p>
          <a:p xmlns:a="http://schemas.openxmlformats.org/drawingml/2006/main">
            <a:r>
              <a:t>    "period": "기존 원장 확인 2026.10.16",</a:t>
            </a:r>
          </a:p>
          <a:p xmlns:a="http://schemas.openxmlformats.org/drawingml/2006/main">
            <a:r>
              <a:t>    "fact": "범용 챗봇 + 인사복지·안전·시추·지질·비축설비·시장보고 6과제",</a:t>
            </a:r>
          </a:p>
          <a:p xmlns:a="http://schemas.openxmlformats.org/drawingml/2006/main">
            <a:r>
              <a:t>    "limit": "별도 과제(오피넷 AICC·적정유가 등)를 이번 개발로 합산하지 않음",</a:t>
            </a:r>
          </a:p>
          <a:p xmlns:a="http://schemas.openxmlformats.org/drawingml/2006/main">
            <a:r>
              <a:t>    "nodes": [</a:t>
            </a:r>
          </a:p>
          <a:p xmlns:a="http://schemas.openxmlformats.org/drawingml/2006/main">
            <a:r>
              <a:t>      "인사·안전 등 지식",</a:t>
            </a:r>
          </a:p>
          <a:p xmlns:a="http://schemas.openxmlformats.org/drawingml/2006/main">
            <a:r>
              <a:t>      "도메인 RAG",</a:t>
            </a:r>
          </a:p>
          <a:p xmlns:a="http://schemas.openxmlformats.org/drawingml/2006/main">
            <a:r>
              <a:t>      "업무 앱·ERP",</a:t>
            </a:r>
          </a:p>
          <a:p xmlns:a="http://schemas.openxmlformats.org/drawingml/2006/main">
            <a:r>
              <a:t>      "권한·성과 관리"</a:t>
            </a:r>
          </a:p>
          <a:p xmlns:a="http://schemas.openxmlformats.org/drawingml/2006/main">
            <a:r>
              <a:t>    ],</a:t>
            </a:r>
          </a:p>
          <a:p xmlns:a="http://schemas.openxmlformats.org/drawingml/2006/main">
            <a:r>
              <a:t>    "apply": "공통 사용자·권한 기반 위에 업무 도메인별 지식과 실행 경로 구성",</a:t>
            </a:r>
          </a:p>
          <a:p xmlns:a="http://schemas.openxmlformats.org/drawingml/2006/main">
            <a:r>
              <a:t>    "delta": "TS 업무 도메인 라우터 / 사용자 역할·효력일 / 업무별 검색·원천 연계",</a:t>
            </a:r>
          </a:p>
          <a:p xmlns:a="http://schemas.openxmlformats.org/drawingml/2006/main">
            <a:r>
              <a:t>    "test": "전보·겸직·다른 도메인 질의의 라우팅·근거·접근 허용 여부 대조",</a:t>
            </a:r>
          </a:p>
          <a:p xmlns:a="http://schemas.openxmlformats.org/drawingml/2006/main">
            <a:r>
              <a:t>    "url": "https://www.g2b.go.kr/pn/pnp/pnpe/UntyAtchFile/downloadFile.do?bidPbancNo=R26BK01705928&amp;bidPbancOrd=001&amp;fileSeq=4&amp;fileType=&amp;prcmBsneSeCd=03",</a:t>
            </a:r>
          </a:p>
          <a:p xmlns:a="http://schemas.openxmlformats.org/drawingml/2006/main">
            <a:r>
              <a:t>    "urls": [</a:t>
            </a:r>
          </a:p>
          <a:p xmlns:a="http://schemas.openxmlformats.org/drawingml/2006/main">
            <a:r>
              <a:t>      "https://www.g2b.go.kr/pn/pnp/pnpe/UntyAtchFile/downloadFile.do?bidPbancNo=R26BK01705928&amp;bidPbancOrd=001&amp;fileSeq=4&amp;fileType=&amp;prcmBsneSeCd=03"</a:t>
            </a:r>
          </a:p>
          <a:p xmlns:a="http://schemas.openxmlformats.org/drawingml/2006/main">
            <a:r>
              <a:t>    ],</a:t>
            </a:r>
          </a:p>
          <a:p xmlns:a="http://schemas.openxmlformats.org/drawingml/2006/main">
            <a:r>
              <a:t>    "basis": "SER-001~004, FUR-001~006, ASR·DAR / Word T098",</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"업무 분류 정확도 / 근거 적합률 / 도메인 추가 구축 공수",</a:t>
            </a:r>
          </a:p>
          <a:p xmlns:a="http://schemas.openxmlformats.org/drawingml/2006/main">
            <a:r>
              <a:t>    "group": "요구·구축",</a:t>
            </a:r>
          </a:p>
          <a:p xmlns:a="http://schemas.openxmlformats.org/drawingml/2006/main">
            <a:r>
              <a:t>    "sourceDetail": "대화형/전용화면, 에이전트·ERP·권한·문서/정형 데이터 연계, 도메인별 RAG/보고서",</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"PF-R09",</a:t>
            </a:r>
          </a:p>
          <a:p xmlns:a="http://schemas.openxmlformats.org/drawingml/2006/main">
            <a:r>
              <a:t>    "canonicalId": "PF-R09",</a:t>
            </a:r>
          </a:p>
          <a:p xmlns:a="http://schemas.openxmlformats.org/drawingml/2006/main">
            <a:r>
              <a:t>    "purpose": "공통 플랫폼 위의 6개 업무 특화 AI",</a:t>
            </a:r>
          </a:p>
          <a:p xmlns:a="http://schemas.openxmlformats.org/drawingml/2006/main">
            <a:r>
              <a:t>    "users": "인사·안전·개발·비축·시장 담당",</a:t>
            </a:r>
          </a:p>
          <a:p xmlns:a="http://schemas.openxmlformats.org/drawingml/2006/main">
            <a:r>
              <a:t>    "scope": [</a:t>
            </a:r>
          </a:p>
          <a:p xmlns:a="http://schemas.openxmlformats.org/drawingml/2006/main">
            <a:r>
              <a:t>      "공통 챗봇",</a:t>
            </a:r>
          </a:p>
          <a:p xmlns:a="http://schemas.openxmlformats.org/drawingml/2006/main">
            <a:r>
              <a:t>      "6개 업무 앱",</a:t>
            </a:r>
          </a:p>
          <a:p xmlns:a="http://schemas.openxmlformats.org/drawingml/2006/main">
            <a:r>
              <a:t>      "ERP 연계"</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"직원 업무 앱",</a:t>
            </a:r>
          </a:p>
          <a:p xmlns:a="http://schemas.openxmlformats.org/drawingml/2006/main">
            <a:r>
              <a:t>        "detail": "사번·소속·직급·업무분장 기반 접근 판정",</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"공통 챗봇 / 6개 업무 앱 / ERP 연계",</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"도메인 RAG",</a:t>
            </a:r>
          </a:p>
          <a:p xmlns:a="http://schemas.openxmlformats.org/drawingml/2006/main">
            <a:r>
              <a:t>        "detail": "도메인 RAG·정형 조회·보고서 생성 라우팅",</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"업무·ERP 담당",</a:t>
            </a:r>
          </a:p>
          <a:p xmlns:a="http://schemas.openxmlformats.org/drawingml/2006/main">
            <a:r>
              <a:t>        "detail": "원천 링크·업무 결과를 현업에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"인사·안전·설비 지식",</a:t>
            </a:r>
          </a:p>
          <a:p xmlns:a="http://schemas.openxmlformats.org/drawingml/2006/main">
            <a:r>
              <a:t>        "detail": "시추 일보·지질·설비·규정의 도메인별 색인",</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"권한 변경 이력·도메인 평가·업무별 운영 관리",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"인사·안전 등 지식",</a:t>
            </a:r>
          </a:p>
          <a:p xmlns:a="http://schemas.openxmlformats.org/drawingml/2006/main">
            <a:r>
              <a:t>        "input": "사번·소속·직급·업무분장 기반 접근 판정",</a:t>
            </a:r>
          </a:p>
          <a:p xmlns:a="http://schemas.openxmlformats.org/drawingml/2006/main">
            <a:r>
              <a:t>        "process": "시추 일보·지질·설비·규정의 도메인별 색인",</a:t>
            </a:r>
          </a:p>
          <a:p xmlns:a="http://schemas.openxmlformats.org/drawingml/2006/main">
            <a:r>
              <a:t>        "output": "업무 목적"</a:t>
            </a:r>
          </a:p>
          <a:p xmlns:a="http://schemas.openxmlformats.org/drawingml/2006/main">
            <a:r>
              <a:t>      },</a:t>
            </a:r>
          </a:p>
          <a:p xmlns:a="http://schemas.openxmlformats.org/drawingml/2006/main">
            <a:r>
              <a:t>      {</a:t>
            </a:r>
          </a:p>
          <a:p xmlns:a="http://schemas.openxmlformats.org/drawingml/2006/main">
            <a:r>
              <a:t>        "title": "도메인 RAG",</a:t>
            </a:r>
          </a:p>
          <a:p xmlns:a="http://schemas.openxmlformats.org/drawingml/2006/main">
            <a:r>
              <a:t>        "input": "업무 목적",</a:t>
            </a:r>
          </a:p>
          <a:p xmlns:a="http://schemas.openxmlformats.org/drawingml/2006/main">
            <a:r>
              <a:t>        "process": "도메인 RAG·정형 조회·보고서 생성 라우팅",</a:t>
            </a:r>
          </a:p>
          <a:p xmlns:a="http://schemas.openxmlformats.org/drawingml/2006/main">
            <a:r>
              <a:t>        "output": "도메인 근거"</a:t>
            </a:r>
          </a:p>
          <a:p xmlns:a="http://schemas.openxmlformats.org/drawingml/2006/main">
            <a:r>
              <a:t>      },</a:t>
            </a:r>
          </a:p>
          <a:p xmlns:a="http://schemas.openxmlformats.org/drawingml/2006/main">
            <a:r>
              <a:t>      {</a:t>
            </a:r>
          </a:p>
          <a:p xmlns:a="http://schemas.openxmlformats.org/drawingml/2006/main">
            <a:r>
              <a:t>        "title": "업무 앱·ERP",</a:t>
            </a:r>
          </a:p>
          <a:p xmlns:a="http://schemas.openxmlformats.org/drawingml/2006/main">
            <a:r>
              <a:t>        "input": "도메인 근거",</a:t>
            </a:r>
          </a:p>
          <a:p xmlns:a="http://schemas.openxmlformats.org/drawingml/2006/main">
            <a:r>
              <a:t>        "process": "도메인 경계·현업 승인·결과 대사",</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"title": "권한·성과 관리",</a:t>
            </a:r>
          </a:p>
          <a:p xmlns:a="http://schemas.openxmlformats.org/drawingml/2006/main">
            <a:r>
              <a:t>        "input": "검토 초안",</a:t>
            </a:r>
          </a:p>
          <a:p xmlns:a="http://schemas.openxmlformats.org/drawingml/2006/main">
            <a:r>
              <a:t>        "process": "원천 링크·업무 결과를 현업에 제공",</a:t>
            </a:r>
          </a:p>
          <a:p xmlns:a="http://schemas.openxmlformats.org/drawingml/2006/main">
            <a:r>
              <a:t>        "output": "공식 업무 처리"</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"직원의 업무 목적을 6개 도메인 중 해당 앱으로 연결",</a:t>
            </a:r>
          </a:p>
          <a:p xmlns:a="http://schemas.openxmlformats.org/drawingml/2006/main">
            <a:r>
              <a:t>      "exception": "직급·근속 변경·다른 도메인 자료·시추 원문 누락",</a:t>
            </a:r>
          </a:p>
          <a:p xmlns:a="http://schemas.openxmlformats.org/drawingml/2006/main">
            <a:r>
              <a:t>      "evidence": "업무별 라우팅·접근 결과와 원천 인용·변경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"인사·안전·개발·비축·시장 담당",</a:t>
            </a:r>
          </a:p>
          <a:p xmlns:a="http://schemas.openxmlformats.org/drawingml/2006/main">
            <a:r>
              <a:t>          "processing": "사번·소속·직급·업무분장 기반 접근 판정",</a:t>
            </a:r>
          </a:p>
          <a:p xmlns:a="http://schemas.openxmlformats.org/drawingml/2006/main">
            <a:r>
              <a:t>          "output": "업무 목적"</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"인사·안전·설비 지식",</a:t>
            </a:r>
          </a:p>
          <a:p xmlns:a="http://schemas.openxmlformats.org/drawingml/2006/main">
            <a:r>
              <a:t>          "processing": "시추 일보·지질·설비·규정의 도메인별 색인",</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"업무 목적",</a:t>
            </a:r>
          </a:p>
          <a:p xmlns:a="http://schemas.openxmlformats.org/drawingml/2006/main">
            <a:r>
              <a:t>          "processing": "도메인 RAG·정형 조회·보고서 생성 라우팅",</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"검토 초안",</a:t>
            </a:r>
          </a:p>
          <a:p xmlns:a="http://schemas.openxmlformats.org/drawingml/2006/main">
            <a:r>
              <a:t>          "processing": "원천 링크·업무 결과를 현업에 제공",</a:t>
            </a:r>
          </a:p>
          <a:p xmlns:a="http://schemas.openxmlformats.org/drawingml/2006/main">
            <a:r>
              <a:t>          "output": "공식 업무 처리"</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"권한 변경 이력·도메인 평가·업무별 운영 관리",</a:t>
            </a:r>
          </a:p>
          <a:p xmlns:a="http://schemas.openxmlformats.org/drawingml/2006/main">
            <a:r>
              <a:t>          "output": "업무별 라우팅·접근 결과와 원천 인용·변경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"권한 변경 이력·도메인 평가·업무별 운영 관리",</a:t>
            </a:r>
          </a:p>
          <a:p xmlns:a="http://schemas.openxmlformats.org/drawingml/2006/main">
            <a:r>
              <a:t>    "status": "RFP 기반 논리 설계",</a:t>
            </a:r>
          </a:p>
          <a:p xmlns:a="http://schemas.openxmlformats.org/drawingml/2006/main">
            <a:r>
              <a:t>    "basis": "RFP 2026.09 · SER-001~004·FUR-001~006",</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"SER-001~004, FUR-001~006, ASR·DAR / Word T098",</a:t>
            </a:r>
          </a:p>
          <a:p xmlns:a="http://schemas.openxmlformats.org/drawingml/2006/main">
            <a:r>
              <a:t>        "url": "https://www.g2b.go.kr/pn/pnp/pnpe/UntyAtchFile/downloadFile.do?bidPbancNo=R26BK01705928&amp;bidPbancOrd=001&amp;fileSeq=4&amp;fileType=&amp;prcmBsneSeCd=03"</a:t>
            </a:r>
          </a:p>
          <a:p xmlns:a="http://schemas.openxmlformats.org/drawingml/2006/main">
            <a:r>
              <a:t>      }</a:t>
            </a:r>
          </a:p>
          <a:p xmlns:a="http://schemas.openxmlformats.org/drawingml/2006/main">
            <a:r>
              <a:t>    ],</a:t>
            </a:r>
          </a:p>
          <a:p xmlns:a="http://schemas.openxmlformats.org/drawingml/2006/main">
            <a:r>
              <a:t>    "implication": "공통 사용자·권한 기반 위에 업무 도메인별 지식과 실행 경로 구성",</a:t>
            </a:r>
          </a:p>
          <a:p xmlns:a="http://schemas.openxmlformats.org/drawingml/2006/main">
            <a:r>
              <a:t>    "local": "공통 사용자·권한 기반 위에 업무 도메인별 지식과 실행 경로 구성",</a:t>
            </a:r>
          </a:p>
          <a:p xmlns:a="http://schemas.openxmlformats.org/drawingml/2006/main">
            <a:r>
              <a:t>    "sourceDetail": "대화형/전용화면, 에이전트·ERP·권한·문서/정형 데이터 연계, 도메인별 RAG/보고서",</a:t>
            </a:r>
          </a:p>
          <a:p xmlns:a="http://schemas.openxmlformats.org/drawingml/2006/main">
            <a:r>
              <a:t>    "narrative": [</a:t>
            </a:r>
          </a:p>
          <a:p xmlns:a="http://schemas.openxmlformats.org/drawingml/2006/main">
            <a:r>
              <a:t>      "공통 AI 대화·전용 업무 화면 위에 인사복지, 안전관리, 시추, 지질, 비축설비, 석유시장 보고서의 6개 업무를 구성하는 사업. 전사 공통 기반과 도메인별 지식·산출물의 경계를 비교하기 적합한 사례.",</a:t>
            </a:r>
          </a:p>
          <a:p xmlns:a="http://schemas.openxmlformats.org/drawingml/2006/main">
            <a:r>
              <a:t>      "SER 요구는 공통 접점·업무 범위·권한과 응용 서비스를 정의하고, FUR-001~006은 업무별 자료와 출력 기능을 분리. 직원 사번·소속·직급·업무분장, 문서 접근조건, 정형 데이터·ERP 연계를 각 업무 처리의 문맥으로 사용하는 구조.",</a:t>
            </a:r>
          </a:p>
          <a:p xmlns:a="http://schemas.openxmlformats.org/drawingml/2006/main">
            <a:r>
              <a:t>      "TS의 1차 조직·권한·업무 분류 기반을 만든 뒤 부서별 특화 서비스를 붙이는 순서에 활용할 대상. 공통 챗봇 설치와 6개 업무의 인수 완료를 같은 실적으로 보지 않고, 업무별 데이터 원천·전문가 정답셋·실행 승인·결과 대사를 따로 관리할 필요."</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"SER-001",</a:t>
            </a:r>
          </a:p>
          <a:p xmlns:a="http://schemas.openxmlformats.org/drawingml/2006/main">
            <a:r>
              <a:t>        "title": "AI 대화형 서비스",</a:t>
            </a:r>
          </a:p>
          <a:p xmlns:a="http://schemas.openxmlformats.org/drawingml/2006/main">
            <a:r>
              <a:t>        "locator": "SER-001",</a:t>
            </a:r>
          </a:p>
          <a:p xmlns:a="http://schemas.openxmlformats.org/drawingml/2006/main">
            <a:r>
              <a:t>        "summary": "공통 AI 대화형 서비스 제공.",</a:t>
            </a:r>
          </a:p>
          <a:p xmlns:a="http://schemas.openxmlformats.org/drawingml/2006/main">
            <a:r>
              <a:t>        "data": "직원 질의·자료 → 대화 응답·근거",</a:t>
            </a:r>
          </a:p>
          <a:p xmlns:a="http://schemas.openxmlformats.org/drawingml/2006/main">
            <a:r>
              <a:t>        "components": [</a:t>
            </a:r>
          </a:p>
          <a:p xmlns:a="http://schemas.openxmlformats.org/drawingml/2006/main">
            <a:r>
              <a:t>          "C01",</a:t>
            </a:r>
          </a:p>
          <a:p xmlns:a="http://schemas.openxmlformats.org/drawingml/2006/main">
            <a:r>
              <a:t>          "C03",</a:t>
            </a:r>
          </a:p>
          <a:p xmlns:a="http://schemas.openxmlformats.org/drawingml/2006/main">
            <a:r>
              <a:t>          "C04"</a:t>
            </a:r>
          </a:p>
          <a:p xmlns:a="http://schemas.openxmlformats.org/drawingml/2006/main">
            <a:r>
              <a:t>        ],</a:t>
            </a:r>
          </a:p>
          <a:p xmlns:a="http://schemas.openxmlformats.org/drawingml/2006/main">
            <a:r>
              <a:t>        "acceptance": "문맥 유지·출처 확인·입력 범위·오류 안내의 대화 시나리오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"5c1be9c8c0ac6ecdc4d18ef05c6b02a80c9f5f082231b33b335733de34a142e2"</a:t>
            </a:r>
          </a:p>
          <a:p xmlns:a="http://schemas.openxmlformats.org/drawingml/2006/main">
            <a:r>
              <a:t>      },</a:t>
            </a:r>
          </a:p>
          <a:p xmlns:a="http://schemas.openxmlformats.org/drawingml/2006/main">
            <a:r>
              <a:t>      {</a:t>
            </a:r>
          </a:p>
          <a:p xmlns:a="http://schemas.openxmlformats.org/drawingml/2006/main">
            <a:r>
              <a:t>        "id": "SER-002",</a:t>
            </a:r>
          </a:p>
          <a:p xmlns:a="http://schemas.openxmlformats.org/drawingml/2006/main">
            <a:r>
              <a:t>        "title": "업무 특화 화면 서비스",</a:t>
            </a:r>
          </a:p>
          <a:p xmlns:a="http://schemas.openxmlformats.org/drawingml/2006/main">
            <a:r>
              <a:t>        "locator": "SER-002",</a:t>
            </a:r>
          </a:p>
          <a:p xmlns:a="http://schemas.openxmlformats.org/drawingml/2006/main">
            <a:r>
              <a:t>        "summary": "업무 특화 화면에서 필요한 입력과 결과를 제공.",</a:t>
            </a:r>
          </a:p>
          <a:p xmlns:a="http://schemas.openxmlformats.org/drawingml/2006/main">
            <a:r>
              <a:t>        "data": "업무 종류·필수 입력 → 특화 결과 화면",</a:t>
            </a:r>
          </a:p>
          <a:p xmlns:a="http://schemas.openxmlformats.org/drawingml/2006/main">
            <a:r>
              <a:t>        "components": [</a:t>
            </a:r>
          </a:p>
          <a:p xmlns:a="http://schemas.openxmlformats.org/drawingml/2006/main">
            <a:r>
              <a:t>          "C01",</a:t>
            </a:r>
          </a:p>
          <a:p xmlns:a="http://schemas.openxmlformats.org/drawingml/2006/main">
            <a:r>
              <a:t>          "C02",</a:t>
            </a:r>
          </a:p>
          <a:p xmlns:a="http://schemas.openxmlformats.org/drawingml/2006/main">
            <a:r>
              <a:t>          "C06"</a:t>
            </a:r>
          </a:p>
          <a:p xmlns:a="http://schemas.openxmlformats.org/drawingml/2006/main">
            <a:r>
              <a:t>        ],</a:t>
            </a:r>
          </a:p>
          <a:p xmlns:a="http://schemas.openxmlformats.org/drawingml/2006/main">
            <a:r>
              <a:t>        "acceptance": "업무별 필수 항목 누락·정정·결과 편집의 화면 동작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"4712f1694c7a46f76189d352fd3d252e83e6f128c095acdb1bfaf30e6453b7ea"</a:t>
            </a:r>
          </a:p>
          <a:p xmlns:a="http://schemas.openxmlformats.org/drawingml/2006/main">
            <a:r>
              <a:t>      },</a:t>
            </a:r>
          </a:p>
          <a:p xmlns:a="http://schemas.openxmlformats.org/drawingml/2006/main">
            <a:r>
              <a:t>      {</a:t>
            </a:r>
          </a:p>
          <a:p xmlns:a="http://schemas.openxmlformats.org/drawingml/2006/main">
            <a:r>
              <a:t>        "id": "SER-003",</a:t>
            </a:r>
          </a:p>
          <a:p xmlns:a="http://schemas.openxmlformats.org/drawingml/2006/main">
            <a:r>
              <a:t>        "title": "AI 응용 서비스 대상 업무",</a:t>
            </a:r>
          </a:p>
          <a:p xmlns:a="http://schemas.openxmlformats.org/drawingml/2006/main">
            <a:r>
              <a:t>        "locator": "SER-003",</a:t>
            </a:r>
          </a:p>
          <a:p xmlns:a="http://schemas.openxmlformats.org/drawingml/2006/main">
            <a:r>
              <a:t>        "summary": "AI 응용서비스 대상 업무의 범위 구성.",</a:t>
            </a:r>
          </a:p>
          <a:p xmlns:a="http://schemas.openxmlformats.org/drawingml/2006/main">
            <a:r>
              <a:t>        "data": "업무 요청·영역 → 해당 응용서비스",</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a:t>
            </a:r>
          </a:p>
          <a:p xmlns:a="http://schemas.openxmlformats.org/drawingml/2006/main">
            <a:r>
              <a:t>        "acceptance": "인사·안전·시추·지질·설비·시장 업무의 잘못된 라우팅과 복합 요청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"f63574c927275ee8519741567d3f145890d5ed0b96c61b09e00920044886df77"</a:t>
            </a:r>
          </a:p>
          <a:p xmlns:a="http://schemas.openxmlformats.org/drawingml/2006/main">
            <a:r>
              <a:t>      },</a:t>
            </a:r>
          </a:p>
          <a:p xmlns:a="http://schemas.openxmlformats.org/drawingml/2006/main">
            <a:r>
              <a:t>      {</a:t>
            </a:r>
          </a:p>
          <a:p xmlns:a="http://schemas.openxmlformats.org/drawingml/2006/main">
            <a:r>
              <a:t>        "id": "SER-004",</a:t>
            </a:r>
          </a:p>
          <a:p xmlns:a="http://schemas.openxmlformats.org/drawingml/2006/main">
            <a:r>
              <a:t>        "title": "응용 서비스 공통",</a:t>
            </a:r>
          </a:p>
          <a:p xmlns:a="http://schemas.openxmlformats.org/drawingml/2006/main">
            <a:r>
              <a:t>        "locator": "SER-004",</a:t>
            </a:r>
          </a:p>
          <a:p xmlns:a="http://schemas.openxmlformats.org/drawingml/2006/main">
            <a:r>
              <a:t>        "summary": "업무 응용서비스에 공통 적용할 기능과 운영 기준 구성.",</a:t>
            </a:r>
          </a:p>
          <a:p xmlns:a="http://schemas.openxmlformats.org/drawingml/2006/main">
            <a:r>
              <a:t>        "data": "서비스 설정·권한·이용 기록 → 공통 통제·운영 결과",</a:t>
            </a:r>
          </a:p>
          <a:p xmlns:a="http://schemas.openxmlformats.org/drawingml/2006/main">
            <a:r>
              <a:t>        "components": [</a:t>
            </a:r>
          </a:p>
          <a:p xmlns:a="http://schemas.openxmlformats.org/drawingml/2006/main">
            <a:r>
              <a:t>          "C05",</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"개별 서비스 추가 시 공통 인증·통제·운영 기록 적용의 누락 점검",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"581ef5bd7d42a38fff5a1fa79a158712f59c915a988ed9e2f16244c505dd2ce9"</a:t>
            </a:r>
          </a:p>
          <a:p xmlns:a="http://schemas.openxmlformats.org/drawingml/2006/main">
            <a:r>
              <a:t>      },</a:t>
            </a:r>
          </a:p>
          <a:p xmlns:a="http://schemas.openxmlformats.org/drawingml/2006/main">
            <a:r>
              <a:t>      {</a:t>
            </a:r>
          </a:p>
          <a:p xmlns:a="http://schemas.openxmlformats.org/drawingml/2006/main">
            <a:r>
              <a:t>        "id": "FUR-001",</a:t>
            </a:r>
          </a:p>
          <a:p xmlns:a="http://schemas.openxmlformats.org/drawingml/2006/main">
            <a:r>
              <a:t>        "title": "[일반행정] 인사·복지 AI 서비스",</a:t>
            </a:r>
          </a:p>
          <a:p xmlns:a="http://schemas.openxmlformats.org/drawingml/2006/main">
            <a:r>
              <a:t>        "locator": "FUR-001",</a:t>
            </a:r>
          </a:p>
          <a:p xmlns:a="http://schemas.openxmlformats.org/drawingml/2006/main">
            <a:r>
              <a:t>        "summary": "인사·복지 규정과 업무 지식을 활용한 직원 지원.",</a:t>
            </a:r>
          </a:p>
          <a:p xmlns:a="http://schemas.openxmlformats.org/drawingml/2006/main">
            <a:r>
              <a:t>        "data": "직원 문맥·인사복지 질의 → 적용 규정·안내",</a:t>
            </a:r>
          </a:p>
          <a:p xmlns:a="http://schemas.openxmlformats.org/drawingml/2006/main">
            <a:r>
              <a:t>        "components": [</a:t>
            </a:r>
          </a:p>
          <a:p xmlns:a="http://schemas.openxmlformats.org/drawingml/2006/main">
            <a:r>
              <a:t>          "C02",</a:t>
            </a:r>
          </a:p>
          <a:p xmlns:a="http://schemas.openxmlformats.org/drawingml/2006/main">
            <a:r>
              <a:t>          "C03",</a:t>
            </a:r>
          </a:p>
          <a:p xmlns:a="http://schemas.openxmlformats.org/drawingml/2006/main">
            <a:r>
              <a:t>          "C06"</a:t>
            </a:r>
          </a:p>
          <a:p xmlns:a="http://schemas.openxmlformats.org/drawingml/2006/main">
            <a:r>
              <a:t>        ],</a:t>
            </a:r>
          </a:p>
          <a:p xmlns:a="http://schemas.openxmlformats.org/drawingml/2006/main">
            <a:r>
              <a:t>        "acceptance": "근무 조건·시행일·예외 조항이 다른 질문의 근거 선택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"5cd185d2ca6f76c5606a274957c4915b34daac231353f6ab491b45ffb4fc8014"</a:t>
            </a:r>
          </a:p>
          <a:p xmlns:a="http://schemas.openxmlformats.org/drawingml/2006/main">
            <a:r>
              <a:t>      },</a:t>
            </a:r>
          </a:p>
          <a:p xmlns:a="http://schemas.openxmlformats.org/drawingml/2006/main">
            <a:r>
              <a:t>      {</a:t>
            </a:r>
          </a:p>
          <a:p xmlns:a="http://schemas.openxmlformats.org/drawingml/2006/main">
            <a:r>
              <a:t>        "id": "FUR-002",</a:t>
            </a:r>
          </a:p>
          <a:p xmlns:a="http://schemas.openxmlformats.org/drawingml/2006/main">
            <a:r>
              <a:t>        "title": "[안전관리] 안전관리 AI 서비스",</a:t>
            </a:r>
          </a:p>
          <a:p xmlns:a="http://schemas.openxmlformats.org/drawingml/2006/main">
            <a:r>
              <a:t>        "locator": "FUR-002",</a:t>
            </a:r>
          </a:p>
          <a:p xmlns:a="http://schemas.openxmlformats.org/drawingml/2006/main">
            <a:r>
              <a:t>        "summary": "안전 분야 자료를 활용한 업무 지원.",</a:t>
            </a:r>
          </a:p>
          <a:p xmlns:a="http://schemas.openxmlformats.org/drawingml/2006/main">
            <a:r>
              <a:t>        "data": "안전 업무 질의·자료 → 근거·검토 결과",</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"C05"</a:t>
            </a:r>
          </a:p>
          <a:p xmlns:a="http://schemas.openxmlformats.org/drawingml/2006/main">
            <a:r>
              <a:t>        ],</a:t>
            </a:r>
          </a:p>
          <a:p xmlns:a="http://schemas.openxmlformats.org/drawingml/2006/main">
            <a:r>
              <a:t>        "acceptance": "현장 조건과 적용 기준의 불일치·필수 조치 누락을 포함한 검토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"ae5ca92e3dbf8291576889d17428fe931c780d6262138c9eaa06e5f28fc0d3e6"</a:t>
            </a:r>
          </a:p>
          <a:p xmlns:a="http://schemas.openxmlformats.org/drawingml/2006/main">
            <a:r>
              <a:t>      },</a:t>
            </a:r>
          </a:p>
          <a:p xmlns:a="http://schemas.openxmlformats.org/drawingml/2006/main">
            <a:r>
              <a:t>      {</a:t>
            </a:r>
          </a:p>
          <a:p xmlns:a="http://schemas.openxmlformats.org/drawingml/2006/main">
            <a:r>
              <a:t>        "id": "FUR-003",</a:t>
            </a:r>
          </a:p>
          <a:p xmlns:a="http://schemas.openxmlformats.org/drawingml/2006/main">
            <a:r>
              <a:t>        "title": "[석유개발] 석유 시추 정보 AI 서비스",</a:t>
            </a:r>
          </a:p>
          <a:p xmlns:a="http://schemas.openxmlformats.org/drawingml/2006/main">
            <a:r>
              <a:t>        "locator": "FUR-003",</a:t>
            </a:r>
          </a:p>
          <a:p xmlns:a="http://schemas.openxmlformats.org/drawingml/2006/main">
            <a:r>
              <a:t>        "summary": "시추 분야 자료와 전문 지식의 업무 활용.",</a:t>
            </a:r>
          </a:p>
          <a:p xmlns:a="http://schemas.openxmlformats.org/drawingml/2006/main">
            <a:r>
              <a:t>        "data": "시추 질의·기술자료 → 근거·분석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"전문 용어·설비 조건·단위 오류와 출처 없는 추론의 구분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"9acd9aea17e5f3417a6f8f17f19191240f88fedb58e28130587c9b97c113c023"</a:t>
            </a:r>
          </a:p>
          <a:p xmlns:a="http://schemas.openxmlformats.org/drawingml/2006/main">
            <a:r>
              <a:t>      },</a:t>
            </a:r>
          </a:p>
          <a:p xmlns:a="http://schemas.openxmlformats.org/drawingml/2006/main">
            <a:r>
              <a:t>      {</a:t>
            </a:r>
          </a:p>
          <a:p xmlns:a="http://schemas.openxmlformats.org/drawingml/2006/main">
            <a:r>
              <a:t>        "id": "FUR-004",</a:t>
            </a:r>
          </a:p>
          <a:p xmlns:a="http://schemas.openxmlformats.org/drawingml/2006/main">
            <a:r>
              <a:t>        "title": "[석유개발] 석유 지질 정보 AI 서비스",</a:t>
            </a:r>
          </a:p>
          <a:p xmlns:a="http://schemas.openxmlformats.org/drawingml/2006/main">
            <a:r>
              <a:t>        "locator": "FUR-004",</a:t>
            </a:r>
          </a:p>
          <a:p xmlns:a="http://schemas.openxmlformats.org/drawingml/2006/main">
            <a:r>
              <a:t>        "summary": "지질 자료와 분석 업무의 AI 지원.",</a:t>
            </a:r>
          </a:p>
          <a:p xmlns:a="http://schemas.openxmlformats.org/drawingml/2006/main">
            <a:r>
              <a:t>        "data": "지질 질의·연구 자료 → 탐색·분석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"서로 다른 지역·시기 자료의 혼용과 전문 수치·그림 근거 연결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"0c138c01d2c00b386c64812738ceda4a9d3dfa79e5c1ec90b1d8ca4f758908d5"</a:t>
            </a:r>
          </a:p>
          <a:p xmlns:a="http://schemas.openxmlformats.org/drawingml/2006/main">
            <a:r>
              <a:t>      },</a:t>
            </a:r>
          </a:p>
          <a:p xmlns:a="http://schemas.openxmlformats.org/drawingml/2006/main">
            <a:r>
              <a:t>      {</a:t>
            </a:r>
          </a:p>
          <a:p xmlns:a="http://schemas.openxmlformats.org/drawingml/2006/main">
            <a:r>
              <a:t>        "id": "FUR-005",</a:t>
            </a:r>
          </a:p>
          <a:p xmlns:a="http://schemas.openxmlformats.org/drawingml/2006/main">
            <a:r>
              <a:t>        "title": "[석유비축] 비축설비 정비·운영 AI 서비스",</a:t>
            </a:r>
          </a:p>
          <a:p xmlns:a="http://schemas.openxmlformats.org/drawingml/2006/main">
            <a:r>
              <a:t>        "locator": "FUR-005",</a:t>
            </a:r>
          </a:p>
          <a:p xmlns:a="http://schemas.openxmlformats.org/drawingml/2006/main">
            <a:r>
              <a:t>        "summary": "비축설비 관련 자료의 검색·업무 지원.",</a:t>
            </a:r>
          </a:p>
          <a:p xmlns:a="http://schemas.openxmlformats.org/drawingml/2006/main">
            <a:r>
              <a:t>        "data": "설비 식별·정비 자료 → 관련 근거·지원 결과",</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"설비 번호·점검 시점·부품 조건이 다른 자료의 구분과 최신 이력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"4d18cc59bfa5560530dcceb2188516ebb10c10fe8e05807a6f1c8d14188bdec8"</a:t>
            </a:r>
          </a:p>
          <a:p xmlns:a="http://schemas.openxmlformats.org/drawingml/2006/main">
            <a:r>
              <a:t>      },</a:t>
            </a:r>
          </a:p>
          <a:p xmlns:a="http://schemas.openxmlformats.org/drawingml/2006/main">
            <a:r>
              <a:t>      {</a:t>
            </a:r>
          </a:p>
          <a:p xmlns:a="http://schemas.openxmlformats.org/drawingml/2006/main">
            <a:r>
              <a:t>        "id": "FUR-006",</a:t>
            </a:r>
          </a:p>
          <a:p xmlns:a="http://schemas.openxmlformats.org/drawingml/2006/main">
            <a:r>
              <a:t>        "title": "[석유정보] 석유시장 보고서 작성 AI 서비스",</a:t>
            </a:r>
          </a:p>
          <a:p xmlns:a="http://schemas.openxmlformats.org/drawingml/2006/main">
            <a:r>
              <a:t>        "locator": "FUR-006",</a:t>
            </a:r>
          </a:p>
          <a:p xmlns:a="http://schemas.openxmlformats.org/drawingml/2006/main">
            <a:r>
              <a:t>        "summary": "시장 자료를 활용한 보고서 작성 지원.",</a:t>
            </a:r>
          </a:p>
          <a:p xmlns:a="http://schemas.openxmlformats.org/drawingml/2006/main">
            <a:r>
              <a:t>        "data": "시장 자료·기준일 → 근거가 연결된 보고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"기준일·통화·단위 혼용, 숫자 인용, 최신 자료 누락의 항목별 점검",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"1a1e671fc8f1cfe4dc05c83144eb257e226afeea8a0f7096652aeec596b82a80"</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"직원·업무 앱",</a:t>
            </a:r>
          </a:p>
          <a:p xmlns:a="http://schemas.openxmlformats.org/drawingml/2006/main">
            <a:r>
              <a:t>          "layer": "이용 접점",</a:t>
            </a:r>
          </a:p>
          <a:p xmlns:a="http://schemas.openxmlformats.org/drawingml/2006/main">
            <a:r>
              <a:t>          "detail": "인사·안전·개발·비축·시장 담당",</a:t>
            </a:r>
          </a:p>
          <a:p xmlns:a="http://schemas.openxmlformats.org/drawingml/2006/main">
            <a:r>
              <a:t>          "requirements": [</a:t>
            </a:r>
          </a:p>
          <a:p xmlns:a="http://schemas.openxmlformats.org/drawingml/2006/main">
            <a:r>
              <a:t>            "SER-001",</a:t>
            </a:r>
          </a:p>
          <a:p xmlns:a="http://schemas.openxmlformats.org/drawingml/2006/main">
            <a:r>
              <a:t>            "SER-002"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"사번·소속·업무",</a:t>
            </a:r>
          </a:p>
          <a:p xmlns:a="http://schemas.openxmlformats.org/drawingml/2006/main">
            <a:r>
              <a:t>          "layer": "업무 문맥",</a:t>
            </a:r>
          </a:p>
          <a:p xmlns:a="http://schemas.openxmlformats.org/drawingml/2006/main">
            <a:r>
              <a:t>          "detail": "사번·소속·직급·업무분장 기반 접근 판정",</a:t>
            </a:r>
          </a:p>
          <a:p xmlns:a="http://schemas.openxmlformats.org/drawingml/2006/main">
            <a:r>
              <a:t>          "requirements": [</a:t>
            </a:r>
          </a:p>
          <a:p xmlns:a="http://schemas.openxmlformats.org/drawingml/2006/main">
            <a:r>
              <a:t>            "SER-002",</a:t>
            </a:r>
          </a:p>
          <a:p xmlns:a="http://schemas.openxmlformats.org/drawingml/2006/main">
            <a:r>
              <a:t>            "SER-003",</a:t>
            </a:r>
          </a:p>
          <a:p xmlns:a="http://schemas.openxmlformats.org/drawingml/2006/main">
            <a:r>
              <a:t>            "FUR-001"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"도메인 지식 조회",</a:t>
            </a:r>
          </a:p>
          <a:p xmlns:a="http://schemas.openxmlformats.org/drawingml/2006/main">
            <a:r>
              <a:t>          "layer": "자료 조회",</a:t>
            </a:r>
          </a:p>
          <a:p xmlns:a="http://schemas.openxmlformats.org/drawingml/2006/main">
            <a:r>
              <a:t>          "detail": "업무 목적",</a:t>
            </a:r>
          </a:p>
          <a:p xmlns:a="http://schemas.openxmlformats.org/drawingml/2006/main">
            <a:r>
              <a:t>          "requirements": [</a:t>
            </a:r>
          </a:p>
          <a:p xmlns:a="http://schemas.openxmlformats.org/drawingml/2006/main">
            <a:r>
              <a:t>            "SER-001",</a:t>
            </a:r>
          </a:p>
          <a:p xmlns:a="http://schemas.openxmlformats.org/drawingml/2006/main">
            <a:r>
              <a:t>            "FUR-001",</a:t>
            </a:r>
          </a:p>
          <a:p xmlns:a="http://schemas.openxmlformats.org/drawingml/2006/main">
            <a:r>
              <a:t>            "FUR-002",</a:t>
            </a:r>
          </a:p>
          <a:p xmlns:a="http://schemas.openxmlformats.org/drawingml/2006/main">
            <a:r>
              <a:t>            "FUR-003",</a:t>
            </a:r>
          </a:p>
          <a:p xmlns:a="http://schemas.openxmlformats.org/drawingml/2006/main">
            <a:r>
              <a:t>            "FUR-004",</a:t>
            </a:r>
          </a:p>
          <a:p xmlns:a="http://schemas.openxmlformats.org/drawingml/2006/main">
            <a:r>
              <a:t>            "FUR-005",</a:t>
            </a:r>
          </a:p>
          <a:p xmlns:a="http://schemas.openxmlformats.org/drawingml/2006/main">
            <a:r>
              <a:t>            "FUR-006"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"6개 특화 AI 처리",</a:t>
            </a:r>
          </a:p>
          <a:p xmlns:a="http://schemas.openxmlformats.org/drawingml/2006/main">
            <a:r>
              <a:t>          "layer": "핵심 처리",</a:t>
            </a:r>
          </a:p>
          <a:p xmlns:a="http://schemas.openxmlformats.org/drawingml/2006/main">
            <a:r>
              <a:t>          "detail": "도메인 RAG·정형 조회·보고서 생성 라우팅",</a:t>
            </a:r>
          </a:p>
          <a:p xmlns:a="http://schemas.openxmlformats.org/drawingml/2006/main">
            <a:r>
              <a:t>          "requirements": [</a:t>
            </a:r>
          </a:p>
          <a:p xmlns:a="http://schemas.openxmlformats.org/drawingml/2006/main">
            <a:r>
              <a:t>            "SER-001",</a:t>
            </a:r>
          </a:p>
          <a:p xmlns:a="http://schemas.openxmlformats.org/drawingml/2006/main">
            <a:r>
              <a:t>            "SER-003",</a:t>
            </a:r>
          </a:p>
          <a:p xmlns:a="http://schemas.openxmlformats.org/drawingml/2006/main">
            <a:r>
              <a:t>            "FUR-002",</a:t>
            </a:r>
          </a:p>
          <a:p xmlns:a="http://schemas.openxmlformats.org/drawingml/2006/main">
            <a:r>
              <a:t>            "FUR-003",</a:t>
            </a:r>
          </a:p>
          <a:p xmlns:a="http://schemas.openxmlformats.org/drawingml/2006/main">
            <a:r>
              <a:t>            "FUR-004",</a:t>
            </a:r>
          </a:p>
          <a:p xmlns:a="http://schemas.openxmlformats.org/drawingml/2006/main">
            <a:r>
              <a:t>            "FUR-005",</a:t>
            </a:r>
          </a:p>
          <a:p xmlns:a="http://schemas.openxmlformats.org/drawingml/2006/main">
            <a:r>
              <a:t>            "FUR-006"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"권한·근거 대조",</a:t>
            </a:r>
          </a:p>
          <a:p xmlns:a="http://schemas.openxmlformats.org/drawingml/2006/main">
            <a:r>
              <a:t>          "layer": "결과 검증",</a:t>
            </a:r>
          </a:p>
          <a:p xmlns:a="http://schemas.openxmlformats.org/drawingml/2006/main">
            <a:r>
              <a:t>          "detail": "도메인 경계·현업 승인·결과 대사",</a:t>
            </a:r>
          </a:p>
          <a:p xmlns:a="http://schemas.openxmlformats.org/drawingml/2006/main">
            <a:r>
              <a:t>          "requirements": [</a:t>
            </a:r>
          </a:p>
          <a:p xmlns:a="http://schemas.openxmlformats.org/drawingml/2006/main">
            <a:r>
              <a:t>            "SER-004",</a:t>
            </a:r>
          </a:p>
          <a:p xmlns:a="http://schemas.openxmlformats.org/drawingml/2006/main">
            <a:r>
              <a:t>            "FUR-002"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"현업 승인",</a:t>
            </a:r>
          </a:p>
          <a:p xmlns:a="http://schemas.openxmlformats.org/drawingml/2006/main">
            <a:r>
              <a:t>          "layer": "사람 확인",</a:t>
            </a:r>
          </a:p>
          <a:p xmlns:a="http://schemas.openxmlformats.org/drawingml/2006/main">
            <a:r>
              <a:t>          "detail": "직원의 업무 목적을 6개 도메인 중 해당 앱으로 연결",</a:t>
            </a:r>
          </a:p>
          <a:p xmlns:a="http://schemas.openxmlformats.org/drawingml/2006/main">
            <a:r>
              <a:t>          "requirements": [</a:t>
            </a:r>
          </a:p>
          <a:p xmlns:a="http://schemas.openxmlformats.org/drawingml/2006/main">
            <a:r>
              <a:t>            "SER-002",</a:t>
            </a:r>
          </a:p>
          <a:p xmlns:a="http://schemas.openxmlformats.org/drawingml/2006/main">
            <a:r>
              <a:t>            "FUR-001",</a:t>
            </a:r>
          </a:p>
          <a:p xmlns:a="http://schemas.openxmlformats.org/drawingml/2006/main">
            <a:r>
              <a:t>            "FUR-003",</a:t>
            </a:r>
          </a:p>
          <a:p xmlns:a="http://schemas.openxmlformats.org/drawingml/2006/main">
            <a:r>
              <a:t>            "FUR-004",</a:t>
            </a:r>
          </a:p>
          <a:p xmlns:a="http://schemas.openxmlformats.org/drawingml/2006/main">
            <a:r>
              <a:t>            "FUR-005",</a:t>
            </a:r>
          </a:p>
          <a:p xmlns:a="http://schemas.openxmlformats.org/drawingml/2006/main">
            <a:r>
              <a:t>            "FUR-006"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"ERP·보고서 연계",</a:t>
            </a:r>
          </a:p>
          <a:p xmlns:a="http://schemas.openxmlformats.org/drawingml/2006/main">
            <a:r>
              <a:t>          "layer": "업무 연결",</a:t>
            </a:r>
          </a:p>
          <a:p xmlns:a="http://schemas.openxmlformats.org/drawingml/2006/main">
            <a:r>
              <a:t>          "detail": "원천 링크·업무 결과를 현업에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"도메인별 평가",</a:t>
            </a:r>
          </a:p>
          <a:p xmlns:a="http://schemas.openxmlformats.org/drawingml/2006/main">
            <a:r>
              <a:t>          "layer": "운영 관측",</a:t>
            </a:r>
          </a:p>
          <a:p xmlns:a="http://schemas.openxmlformats.org/drawingml/2006/main">
            <a:r>
              <a:t>          "detail": "권한 변경 이력·도메인 평가·업무별 운영 관리",</a:t>
            </a:r>
          </a:p>
          <a:p xmlns:a="http://schemas.openxmlformats.org/drawingml/2006/main">
            <a:r>
              <a:t>          "requirements": [</a:t>
            </a:r>
          </a:p>
          <a:p xmlns:a="http://schemas.openxmlformats.org/drawingml/2006/main">
            <a:r>
              <a:t>            "SER-004"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"시추·설비·규정",</a:t>
            </a:r>
          </a:p>
          <a:p xmlns:a="http://schemas.openxmlformats.org/drawingml/2006/main">
            <a:r>
              <a:t>          "layer": "데이터 원천",</a:t>
            </a:r>
          </a:p>
          <a:p xmlns:a="http://schemas.openxmlformats.org/drawingml/2006/main">
            <a:r>
              <a:t>          "detail": "인사·안전·설비 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"업무별 자료 정합화",</a:t>
            </a:r>
          </a:p>
          <a:p xmlns:a="http://schemas.openxmlformats.org/drawingml/2006/main">
            <a:r>
              <a:t>          "layer": "준비·갱신",</a:t>
            </a:r>
          </a:p>
          <a:p xmlns:a="http://schemas.openxmlformats.org/drawingml/2006/main">
            <a:r>
              <a:t>          "detail": "시추 일보·지질·설비·규정의 도메인별 색인",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"도메인 RAG 색인",</a:t>
            </a:r>
          </a:p>
          <a:p xmlns:a="http://schemas.openxmlformats.org/drawingml/2006/main">
            <a:r>
              <a:t>          "layer": "상태·지식 저장",</a:t>
            </a:r>
          </a:p>
          <a:p xmlns:a="http://schemas.openxmlformats.org/drawingml/2006/main">
            <a:r>
              <a:t>          "detail": "업무별 라우팅·접근 결과와 원천 인용·변경 이력",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"문서·ERP 권한",</a:t>
            </a:r>
          </a:p>
          <a:p xmlns:a="http://schemas.openxmlformats.org/drawingml/2006/main">
            <a:r>
              <a:t>          "layer": "권한·정책",</a:t>
            </a:r>
          </a:p>
          <a:p xmlns:a="http://schemas.openxmlformats.org/drawingml/2006/main">
            <a:r>
              <a:t>          "detail": "직급·근속 변경·다른 도메인 자료·시추 원문 누락",</a:t>
            </a:r>
          </a:p>
          <a:p xmlns:a="http://schemas.openxmlformats.org/drawingml/2006/main">
            <a:r>
              <a:t>          "requirements": [</a:t>
            </a:r>
          </a:p>
          <a:p xmlns:a="http://schemas.openxmlformats.org/drawingml/2006/main">
            <a:r>
              <a:t>            "SER-004"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"사번·소속·직급·업무분장 기반 접근 판정",</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"업무 목적",</a:t>
            </a:r>
          </a:p>
          <a:p xmlns:a="http://schemas.openxmlformats.org/drawingml/2006/main">
            <a:r>
              <a:t>          "check": "도메인 경계·현업 승인·결과 대사"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"도메인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"검토 초안",</a:t>
            </a:r>
          </a:p>
          <a:p xmlns:a="http://schemas.openxmlformats.org/drawingml/2006/main">
            <a:r>
              <a:t>          "check": "직급·근속 변경·다른 도메인 자료·시추 원문 누락"</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"검토 초안",</a:t>
            </a:r>
          </a:p>
          <a:p xmlns:a="http://schemas.openxmlformats.org/drawingml/2006/main">
            <a:r>
              <a:t>          "check": "원천 링크·업무 결과를 현업에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"공식 업무 처리",</a:t>
            </a:r>
          </a:p>
          <a:p xmlns:a="http://schemas.openxmlformats.org/drawingml/2006/main">
            <a:r>
              <a:t>          "check": "업무별 라우팅·접근 결과와 원천 인용·변경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"SER-001~004·FUR-001~006",</a:t>
            </a:r>
          </a:p>
          <a:p xmlns:a="http://schemas.openxmlformats.org/drawingml/2006/main">
            <a:r>
              <a:t>        "extracted": "사번·소속·직급·업무분장, 문서별 권한, 6개 특화업무",</a:t>
            </a:r>
          </a:p>
          <a:p xmlns:a="http://schemas.openxmlformats.org/drawingml/2006/main">
            <a:r>
              <a:t>        "extension": "ERP 조회·실행 권한 분리 및 특화업무별 인수셋"</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"직급·근속 변경·다른 도메인 자료·시추 원문 누락",</a:t>
            </a:r>
          </a:p>
          <a:p xmlns:a="http://schemas.openxmlformats.org/drawingml/2006/main">
            <a:r>
              <a:t>        "hold": "도메인 경계·현업 승인·결과 대사",</a:t>
            </a:r>
          </a:p>
          <a:p xmlns:a="http://schemas.openxmlformats.org/drawingml/2006/main">
            <a:r>
              <a:t>        "recovery": "권한 변경 이력·도메인 평가·업무별 운영 관리",</a:t>
            </a:r>
          </a:p>
          <a:p xmlns:a="http://schemas.openxmlformats.org/drawingml/2006/main">
            <a:r>
              <a:t>        "evidence": "업무별 라우팅·접근 결과와 원천 인용·변경 이력"</a:t>
            </a:r>
          </a:p>
          <a:p xmlns:a="http://schemas.openxmlformats.org/drawingml/2006/main">
            <a:r>
              <a:t>      },</a:t>
            </a:r>
          </a:p>
          <a:p xmlns:a="http://schemas.openxmlformats.org/drawingml/2006/main">
            <a:r>
              <a:t>      "data": {</a:t>
            </a:r>
          </a:p>
          <a:p xmlns:a="http://schemas.openxmlformats.org/drawingml/2006/main">
            <a:r>
              <a:t>        "source": "인사·안전·설비 지식",</a:t>
            </a:r>
          </a:p>
          <a:p xmlns:a="http://schemas.openxmlformats.org/drawingml/2006/main">
            <a:r>
              <a:t>        "prepare": "시추 일보·지질·설비·규정의 도메인별 색인",</a:t>
            </a:r>
          </a:p>
          <a:p xmlns:a="http://schemas.openxmlformats.org/drawingml/2006/main">
            <a:r>
              <a:t>        "output": "업무 목적",</a:t>
            </a:r>
          </a:p>
          <a:p xmlns:a="http://schemas.openxmlformats.org/drawingml/2006/main">
            <a:r>
              <a:t>        "refresh": "권한 변경 이력·도메인 평가·업무별 운영 관리"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"PF-R09",</a:t>
            </a:r>
          </a:p>
          <a:p xmlns:a="http://schemas.openxmlformats.org/drawingml/2006/main">
            <a:r>
              <a:t>    "success": [</a:t>
            </a:r>
          </a:p>
          <a:p xmlns:a="http://schemas.openxmlformats.org/drawingml/2006/main">
            <a:r>
              <a:t>      "공통 챗봇과 6개 도메인 분리",</a:t>
            </a:r>
          </a:p>
          <a:p xmlns:a="http://schemas.openxmlformats.org/drawingml/2006/main">
            <a:r>
              <a:t>      "업무 지식·ERP 경로의 결합"</a:t>
            </a:r>
          </a:p>
          <a:p xmlns:a="http://schemas.openxmlformats.org/drawingml/2006/main">
            <a:r>
              <a:t>    ],</a:t>
            </a:r>
          </a:p>
          <a:p xmlns:a="http://schemas.openxmlformats.org/drawingml/2006/main">
            <a:r>
              <a:t>    "risks": [</a:t>
            </a:r>
          </a:p>
          <a:p xmlns:a="http://schemas.openxmlformats.org/drawingml/2006/main">
            <a:r>
              <a:t>      "도메인 지식의 혼합",</a:t>
            </a:r>
          </a:p>
          <a:p xmlns:a="http://schemas.openxmlformats.org/drawingml/2006/main">
            <a:r>
              <a:t>      "안전·시추 권고를 자동 실행"</a:t>
            </a:r>
          </a:p>
          <a:p xmlns:a="http://schemas.openxmlformats.org/drawingml/2006/main">
            <a:r>
              <a:t>    ],</a:t>
            </a:r>
          </a:p>
          <a:p xmlns:a="http://schemas.openxmlformats.org/drawingml/2006/main">
            <a:r>
              <a:t>    "architecture": [</a:t>
            </a:r>
          </a:p>
          <a:p xmlns:a="http://schemas.openxmlformats.org/drawingml/2006/main">
            <a:r>
              <a:t>      "직원 업무 앱",</a:t>
            </a:r>
          </a:p>
          <a:p xmlns:a="http://schemas.openxmlformats.org/drawingml/2006/main">
            <a:r>
              <a:t>      "도메인 RAG",</a:t>
            </a:r>
          </a:p>
          <a:p xmlns:a="http://schemas.openxmlformats.org/drawingml/2006/main">
            <a:r>
              <a:t>      "인사·안전·설비 지식",</a:t>
            </a:r>
          </a:p>
          <a:p xmlns:a="http://schemas.openxmlformats.org/drawingml/2006/main">
            <a:r>
              <a:t>      "업무·ERP 담당"</a:t>
            </a:r>
          </a:p>
          <a:p xmlns:a="http://schemas.openxmlformats.org/drawingml/2006/main">
            <a:r>
              <a:t>    ],</a:t>
            </a:r>
          </a:p>
          <a:p xmlns:a="http://schemas.openxmlformats.org/drawingml/2006/main">
            <a:r>
              <a:t>    "transfers": [</a:t>
            </a:r>
          </a:p>
          <a:p xmlns:a="http://schemas.openxmlformats.org/drawingml/2006/main">
            <a:r>
              <a:t>      "업무 목적",</a:t>
            </a:r>
          </a:p>
          <a:p xmlns:a="http://schemas.openxmlformats.org/drawingml/2006/main">
            <a:r>
              <a:t>      "도메인 근거",</a:t>
            </a:r>
          </a:p>
          <a:p xmlns:a="http://schemas.openxmlformats.org/drawingml/2006/main">
            <a:r>
              <a:t>      "검토 초안",</a:t>
            </a:r>
          </a:p>
          <a:p xmlns:a="http://schemas.openxmlformats.org/drawingml/2006/main">
            <a:r>
              <a:t>      "공식 업무 처리"</a:t>
            </a:r>
          </a:p>
          <a:p xmlns:a="http://schemas.openxmlformats.org/drawingml/2006/main">
            <a:r>
              <a:t>    ],</a:t>
            </a:r>
          </a:p>
          <a:p xmlns:a="http://schemas.openxmlformats.org/drawingml/2006/main">
            <a:r>
              <a:t>    "control": "도메인 경계·현업 승인·결과 대사",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SER-001~004, FUR-001~006, ASR·DAR / Word T098 https://www.g2b.go.kr/pn/pnp/pnpe/UntyAtchFile/downloadFile.do?bidPbancNo=R26BK01705928&amp;bidPbancOrd=001&amp;fileSeq=4&amp;fileType=&amp;prcmBsneSeCd=03</a:t>
            </a:r>
          </a:p>
          <a:p xmlns:a="http://schemas.openxmlformats.org/drawingml/2006/main">
            <a:r>
              <a:t>홈페이지 https://heen1987-ops.github.io/TS-business-Plan-001/index.html?view=platform-cases&amp;case=PF-R09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"PF-R09",</a:t>
            </a:r>
          </a:p>
          <a:p xmlns:a="http://schemas.openxmlformats.org/drawingml/2006/main">
            <a:r>
              <a:t>    "sourceId": "R09",</a:t>
            </a:r>
          </a:p>
          <a:p xmlns:a="http://schemas.openxmlformats.org/drawingml/2006/main">
            <a:r>
              <a:t>    "title": "석유공사 업무 AI",</a:t>
            </a:r>
          </a:p>
          <a:p xmlns:a="http://schemas.openxmlformats.org/drawingml/2006/main">
            <a:r>
              <a:t>    "region": "국내",</a:t>
            </a:r>
          </a:p>
          <a:p xmlns:a="http://schemas.openxmlformats.org/drawingml/2006/main">
            <a:r>
              <a:t>    "owner": "한국석유공사",</a:t>
            </a:r>
          </a:p>
          <a:p xmlns:a="http://schemas.openxmlformats.org/drawingml/2006/main">
            <a:r>
              <a:t>    "state": "정정 RFP 확인 / 구축·운영 성과 미확인",</a:t>
            </a:r>
          </a:p>
          <a:p xmlns:a="http://schemas.openxmlformats.org/drawingml/2006/main">
            <a:r>
              <a:t>    "period": "기존 원장 확인 2026.10.16",</a:t>
            </a:r>
          </a:p>
          <a:p xmlns:a="http://schemas.openxmlformats.org/drawingml/2006/main">
            <a:r>
              <a:t>    "fact": "범용 챗봇 + 인사복지·안전·시추·지질·비축설비·시장보고 6과제",</a:t>
            </a:r>
          </a:p>
          <a:p xmlns:a="http://schemas.openxmlformats.org/drawingml/2006/main">
            <a:r>
              <a:t>    "limit": "별도 과제(오피넷 AICC·적정유가 등)를 이번 개발로 합산하지 않음",</a:t>
            </a:r>
          </a:p>
          <a:p xmlns:a="http://schemas.openxmlformats.org/drawingml/2006/main">
            <a:r>
              <a:t>    "nodes": [</a:t>
            </a:r>
          </a:p>
          <a:p xmlns:a="http://schemas.openxmlformats.org/drawingml/2006/main">
            <a:r>
              <a:t>      "인사·안전 등 지식",</a:t>
            </a:r>
          </a:p>
          <a:p xmlns:a="http://schemas.openxmlformats.org/drawingml/2006/main">
            <a:r>
              <a:t>      "도메인 RAG",</a:t>
            </a:r>
          </a:p>
          <a:p xmlns:a="http://schemas.openxmlformats.org/drawingml/2006/main">
            <a:r>
              <a:t>      "업무 앱·ERP",</a:t>
            </a:r>
          </a:p>
          <a:p xmlns:a="http://schemas.openxmlformats.org/drawingml/2006/main">
            <a:r>
              <a:t>      "권한·성과 관리"</a:t>
            </a:r>
          </a:p>
          <a:p xmlns:a="http://schemas.openxmlformats.org/drawingml/2006/main">
            <a:r>
              <a:t>    ],</a:t>
            </a:r>
          </a:p>
          <a:p xmlns:a="http://schemas.openxmlformats.org/drawingml/2006/main">
            <a:r>
              <a:t>    "apply": "공통 사용자·권한 기반 위에 업무 도메인별 지식과 실행 경로 구성",</a:t>
            </a:r>
          </a:p>
          <a:p xmlns:a="http://schemas.openxmlformats.org/drawingml/2006/main">
            <a:r>
              <a:t>    "delta": "TS 업무 도메인 라우터 / 사용자 역할·효력일 / 업무별 검색·원천 연계",</a:t>
            </a:r>
          </a:p>
          <a:p xmlns:a="http://schemas.openxmlformats.org/drawingml/2006/main">
            <a:r>
              <a:t>    "test": "전보·겸직·다른 도메인 질의의 라우팅·근거·접근 허용 여부 대조",</a:t>
            </a:r>
          </a:p>
          <a:p xmlns:a="http://schemas.openxmlformats.org/drawingml/2006/main">
            <a:r>
              <a:t>    "url": "https://www.g2b.go.kr/pn/pnp/pnpe/UntyAtchFile/downloadFile.do?bidPbancNo=R26BK01705928&amp;bidPbancOrd=001&amp;fileSeq=4&amp;fileType=&amp;prcmBsneSeCd=03",</a:t>
            </a:r>
          </a:p>
          <a:p xmlns:a="http://schemas.openxmlformats.org/drawingml/2006/main">
            <a:r>
              <a:t>    "urls": [</a:t>
            </a:r>
          </a:p>
          <a:p xmlns:a="http://schemas.openxmlformats.org/drawingml/2006/main">
            <a:r>
              <a:t>      "https://www.g2b.go.kr/pn/pnp/pnpe/UntyAtchFile/downloadFile.do?bidPbancNo=R26BK01705928&amp;bidPbancOrd=001&amp;fileSeq=4&amp;fileType=&amp;prcmBsneSeCd=03"</a:t>
            </a:r>
          </a:p>
          <a:p xmlns:a="http://schemas.openxmlformats.org/drawingml/2006/main">
            <a:r>
              <a:t>    ],</a:t>
            </a:r>
          </a:p>
          <a:p xmlns:a="http://schemas.openxmlformats.org/drawingml/2006/main">
            <a:r>
              <a:t>    "basis": "SER-001~004, FUR-001~006, ASR·DAR / Word T098",</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"업무 분류 정확도 / 근거 적합률 / 도메인 추가 구축 공수",</a:t>
            </a:r>
          </a:p>
          <a:p xmlns:a="http://schemas.openxmlformats.org/drawingml/2006/main">
            <a:r>
              <a:t>    "group": "요구·구축",</a:t>
            </a:r>
          </a:p>
          <a:p xmlns:a="http://schemas.openxmlformats.org/drawingml/2006/main">
            <a:r>
              <a:t>    "sourceDetail": "대화형/전용화면, 에이전트·ERP·권한·문서/정형 데이터 연계, 도메인별 RAG/보고서",</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"PF-R09",</a:t>
            </a:r>
          </a:p>
          <a:p xmlns:a="http://schemas.openxmlformats.org/drawingml/2006/main">
            <a:r>
              <a:t>    "canonicalId": "PF-R09",</a:t>
            </a:r>
          </a:p>
          <a:p xmlns:a="http://schemas.openxmlformats.org/drawingml/2006/main">
            <a:r>
              <a:t>    "purpose": "공통 플랫폼 위의 6개 업무 특화 AI",</a:t>
            </a:r>
          </a:p>
          <a:p xmlns:a="http://schemas.openxmlformats.org/drawingml/2006/main">
            <a:r>
              <a:t>    "users": "인사·안전·개발·비축·시장 담당",</a:t>
            </a:r>
          </a:p>
          <a:p xmlns:a="http://schemas.openxmlformats.org/drawingml/2006/main">
            <a:r>
              <a:t>    "scope": [</a:t>
            </a:r>
          </a:p>
          <a:p xmlns:a="http://schemas.openxmlformats.org/drawingml/2006/main">
            <a:r>
              <a:t>      "공통 챗봇",</a:t>
            </a:r>
          </a:p>
          <a:p xmlns:a="http://schemas.openxmlformats.org/drawingml/2006/main">
            <a:r>
              <a:t>      "6개 업무 앱",</a:t>
            </a:r>
          </a:p>
          <a:p xmlns:a="http://schemas.openxmlformats.org/drawingml/2006/main">
            <a:r>
              <a:t>      "ERP 연계"</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"직원 업무 앱",</a:t>
            </a:r>
          </a:p>
          <a:p xmlns:a="http://schemas.openxmlformats.org/drawingml/2006/main">
            <a:r>
              <a:t>        "detail": "사번·소속·직급·업무분장 기반 접근 판정",</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"공통 챗봇 / 6개 업무 앱 / ERP 연계",</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"도메인 RAG",</a:t>
            </a:r>
          </a:p>
          <a:p xmlns:a="http://schemas.openxmlformats.org/drawingml/2006/main">
            <a:r>
              <a:t>        "detail": "도메인 RAG·정형 조회·보고서 생성 라우팅",</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"업무·ERP 담당",</a:t>
            </a:r>
          </a:p>
          <a:p xmlns:a="http://schemas.openxmlformats.org/drawingml/2006/main">
            <a:r>
              <a:t>        "detail": "원천 링크·업무 결과를 현업에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"인사·안전·설비 지식",</a:t>
            </a:r>
          </a:p>
          <a:p xmlns:a="http://schemas.openxmlformats.org/drawingml/2006/main">
            <a:r>
              <a:t>        "detail": "시추 일보·지질·설비·규정의 도메인별 색인",</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"권한 변경 이력·도메인 평가·업무별 운영 관리",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"인사·안전 등 지식",</a:t>
            </a:r>
          </a:p>
          <a:p xmlns:a="http://schemas.openxmlformats.org/drawingml/2006/main">
            <a:r>
              <a:t>        "input": "사번·소속·직급·업무분장 기반 접근 판정",</a:t>
            </a:r>
          </a:p>
          <a:p xmlns:a="http://schemas.openxmlformats.org/drawingml/2006/main">
            <a:r>
              <a:t>        "process": "시추 일보·지질·설비·규정의 도메인별 색인",</a:t>
            </a:r>
          </a:p>
          <a:p xmlns:a="http://schemas.openxmlformats.org/drawingml/2006/main">
            <a:r>
              <a:t>        "output": "업무 목적"</a:t>
            </a:r>
          </a:p>
          <a:p xmlns:a="http://schemas.openxmlformats.org/drawingml/2006/main">
            <a:r>
              <a:t>      },</a:t>
            </a:r>
          </a:p>
          <a:p xmlns:a="http://schemas.openxmlformats.org/drawingml/2006/main">
            <a:r>
              <a:t>      {</a:t>
            </a:r>
          </a:p>
          <a:p xmlns:a="http://schemas.openxmlformats.org/drawingml/2006/main">
            <a:r>
              <a:t>        "title": "도메인 RAG",</a:t>
            </a:r>
          </a:p>
          <a:p xmlns:a="http://schemas.openxmlformats.org/drawingml/2006/main">
            <a:r>
              <a:t>        "input": "업무 목적",</a:t>
            </a:r>
          </a:p>
          <a:p xmlns:a="http://schemas.openxmlformats.org/drawingml/2006/main">
            <a:r>
              <a:t>        "process": "도메인 RAG·정형 조회·보고서 생성 라우팅",</a:t>
            </a:r>
          </a:p>
          <a:p xmlns:a="http://schemas.openxmlformats.org/drawingml/2006/main">
            <a:r>
              <a:t>        "output": "도메인 근거"</a:t>
            </a:r>
          </a:p>
          <a:p xmlns:a="http://schemas.openxmlformats.org/drawingml/2006/main">
            <a:r>
              <a:t>      },</a:t>
            </a:r>
          </a:p>
          <a:p xmlns:a="http://schemas.openxmlformats.org/drawingml/2006/main">
            <a:r>
              <a:t>      {</a:t>
            </a:r>
          </a:p>
          <a:p xmlns:a="http://schemas.openxmlformats.org/drawingml/2006/main">
            <a:r>
              <a:t>        "title": "업무 앱·ERP",</a:t>
            </a:r>
          </a:p>
          <a:p xmlns:a="http://schemas.openxmlformats.org/drawingml/2006/main">
            <a:r>
              <a:t>        "input": "도메인 근거",</a:t>
            </a:r>
          </a:p>
          <a:p xmlns:a="http://schemas.openxmlformats.org/drawingml/2006/main">
            <a:r>
              <a:t>        "process": "도메인 경계·현업 승인·결과 대사",</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"title": "권한·성과 관리",</a:t>
            </a:r>
          </a:p>
          <a:p xmlns:a="http://schemas.openxmlformats.org/drawingml/2006/main">
            <a:r>
              <a:t>        "input": "검토 초안",</a:t>
            </a:r>
          </a:p>
          <a:p xmlns:a="http://schemas.openxmlformats.org/drawingml/2006/main">
            <a:r>
              <a:t>        "process": "원천 링크·업무 결과를 현업에 제공",</a:t>
            </a:r>
          </a:p>
          <a:p xmlns:a="http://schemas.openxmlformats.org/drawingml/2006/main">
            <a:r>
              <a:t>        "output": "공식 업무 처리"</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"직원의 업무 목적을 6개 도메인 중 해당 앱으로 연결",</a:t>
            </a:r>
          </a:p>
          <a:p xmlns:a="http://schemas.openxmlformats.org/drawingml/2006/main">
            <a:r>
              <a:t>      "exception": "직급·근속 변경·다른 도메인 자료·시추 원문 누락",</a:t>
            </a:r>
          </a:p>
          <a:p xmlns:a="http://schemas.openxmlformats.org/drawingml/2006/main">
            <a:r>
              <a:t>      "evidence": "업무별 라우팅·접근 결과와 원천 인용·변경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"인사·안전·개발·비축·시장 담당",</a:t>
            </a:r>
          </a:p>
          <a:p xmlns:a="http://schemas.openxmlformats.org/drawingml/2006/main">
            <a:r>
              <a:t>          "processing": "사번·소속·직급·업무분장 기반 접근 판정",</a:t>
            </a:r>
          </a:p>
          <a:p xmlns:a="http://schemas.openxmlformats.org/drawingml/2006/main">
            <a:r>
              <a:t>          "output": "업무 목적"</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"인사·안전·설비 지식",</a:t>
            </a:r>
          </a:p>
          <a:p xmlns:a="http://schemas.openxmlformats.org/drawingml/2006/main">
            <a:r>
              <a:t>          "processing": "시추 일보·지질·설비·규정의 도메인별 색인",</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"업무 목적",</a:t>
            </a:r>
          </a:p>
          <a:p xmlns:a="http://schemas.openxmlformats.org/drawingml/2006/main">
            <a:r>
              <a:t>          "processing": "도메인 RAG·정형 조회·보고서 생성 라우팅",</a:t>
            </a:r>
          </a:p>
          <a:p xmlns:a="http://schemas.openxmlformats.org/drawingml/2006/main">
            <a:r>
              <a:t>          "output": "검토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"검토 초안",</a:t>
            </a:r>
          </a:p>
          <a:p xmlns:a="http://schemas.openxmlformats.org/drawingml/2006/main">
            <a:r>
              <a:t>          "processing": "원천 링크·업무 결과를 현업에 제공",</a:t>
            </a:r>
          </a:p>
          <a:p xmlns:a="http://schemas.openxmlformats.org/drawingml/2006/main">
            <a:r>
              <a:t>          "output": "공식 업무 처리"</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"권한 변경 이력·도메인 평가·업무별 운영 관리",</a:t>
            </a:r>
          </a:p>
          <a:p xmlns:a="http://schemas.openxmlformats.org/drawingml/2006/main">
            <a:r>
              <a:t>          "output": "업무별 라우팅·접근 결과와 원천 인용·변경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"권한 변경 이력·도메인 평가·업무별 운영 관리",</a:t>
            </a:r>
          </a:p>
          <a:p xmlns:a="http://schemas.openxmlformats.org/drawingml/2006/main">
            <a:r>
              <a:t>    "status": "RFP 기반 논리 설계",</a:t>
            </a:r>
          </a:p>
          <a:p xmlns:a="http://schemas.openxmlformats.org/drawingml/2006/main">
            <a:r>
              <a:t>    "basis": "RFP 2026.09 · SER-001~004·FUR-001~006",</a:t>
            </a:r>
          </a:p>
          <a:p xmlns:a="http://schemas.openxmlformats.org/drawingml/2006/main">
            <a:r>
              <a:t>    "rfp": true,</a:t>
            </a:r>
          </a:p>
          <a:p xmlns:a="http://schemas.openxmlformats.org/drawingml/2006/main">
            <a:r>
              <a:t>    "sources": [</a:t>
            </a:r>
          </a:p>
          <a:p xmlns:a="http://schemas.openxmlformats.org/drawingml/2006/main">
            <a:r>
              <a:t>      {</a:t>
            </a:r>
          </a:p>
          <a:p xmlns:a="http://schemas.openxmlformats.org/drawingml/2006/main">
            <a:r>
              <a:t>        "title": "SER-001~004, FUR-001~006, ASR·DAR / Word T098",</a:t>
            </a:r>
          </a:p>
          <a:p xmlns:a="http://schemas.openxmlformats.org/drawingml/2006/main">
            <a:r>
              <a:t>        "url": "https://www.g2b.go.kr/pn/pnp/pnpe/UntyAtchFile/downloadFile.do?bidPbancNo=R26BK01705928&amp;bidPbancOrd=001&amp;fileSeq=4&amp;fileType=&amp;prcmBsneSeCd=03"</a:t>
            </a:r>
          </a:p>
          <a:p xmlns:a="http://schemas.openxmlformats.org/drawingml/2006/main">
            <a:r>
              <a:t>      }</a:t>
            </a:r>
          </a:p>
          <a:p xmlns:a="http://schemas.openxmlformats.org/drawingml/2006/main">
            <a:r>
              <a:t>    ],</a:t>
            </a:r>
          </a:p>
          <a:p xmlns:a="http://schemas.openxmlformats.org/drawingml/2006/main">
            <a:r>
              <a:t>    "implication": "공통 사용자·권한 기반 위에 업무 도메인별 지식과 실행 경로 구성",</a:t>
            </a:r>
          </a:p>
          <a:p xmlns:a="http://schemas.openxmlformats.org/drawingml/2006/main">
            <a:r>
              <a:t>    "local": "공통 사용자·권한 기반 위에 업무 도메인별 지식과 실행 경로 구성",</a:t>
            </a:r>
          </a:p>
          <a:p xmlns:a="http://schemas.openxmlformats.org/drawingml/2006/main">
            <a:r>
              <a:t>    "sourceDetail": "대화형/전용화면, 에이전트·ERP·권한·문서/정형 데이터 연계, 도메인별 RAG/보고서",</a:t>
            </a:r>
          </a:p>
          <a:p xmlns:a="http://schemas.openxmlformats.org/drawingml/2006/main">
            <a:r>
              <a:t>    "narrative": [</a:t>
            </a:r>
          </a:p>
          <a:p xmlns:a="http://schemas.openxmlformats.org/drawingml/2006/main">
            <a:r>
              <a:t>      "공통 AI 대화·전용 업무 화면 위에 인사복지, 안전관리, 시추, 지질, 비축설비, 석유시장 보고서의 6개 업무를 구성하는 사업. 전사 공통 기반과 도메인별 지식·산출물의 경계를 비교하기 적합한 사례.",</a:t>
            </a:r>
          </a:p>
          <a:p xmlns:a="http://schemas.openxmlformats.org/drawingml/2006/main">
            <a:r>
              <a:t>      "SER 요구는 공통 접점·업무 범위·권한과 응용 서비스를 정의하고, FUR-001~006은 업무별 자료와 출력 기능을 분리. 직원 사번·소속·직급·업무분장, 문서 접근조건, 정형 데이터·ERP 연계를 각 업무 처리의 문맥으로 사용하는 구조.",</a:t>
            </a:r>
          </a:p>
          <a:p xmlns:a="http://schemas.openxmlformats.org/drawingml/2006/main">
            <a:r>
              <a:t>      "TS의 1차 조직·권한·업무 분류 기반을 만든 뒤 부서별 특화 서비스를 붙이는 순서에 활용할 대상. 공통 챗봇 설치와 6개 업무의 인수 완료를 같은 실적으로 보지 않고, 업무별 데이터 원천·전문가 정답셋·실행 승인·결과 대사를 따로 관리할 필요."</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"SER-001",</a:t>
            </a:r>
          </a:p>
          <a:p xmlns:a="http://schemas.openxmlformats.org/drawingml/2006/main">
            <a:r>
              <a:t>        "title": "AI 대화형 서비스",</a:t>
            </a:r>
          </a:p>
          <a:p xmlns:a="http://schemas.openxmlformats.org/drawingml/2006/main">
            <a:r>
              <a:t>        "locator": "SER-001",</a:t>
            </a:r>
          </a:p>
          <a:p xmlns:a="http://schemas.openxmlformats.org/drawingml/2006/main">
            <a:r>
              <a:t>        "summary": "공통 AI 대화형 서비스 제공.",</a:t>
            </a:r>
          </a:p>
          <a:p xmlns:a="http://schemas.openxmlformats.org/drawingml/2006/main">
            <a:r>
              <a:t>        "data": "직원 질의·자료 → 대화 응답·근거",</a:t>
            </a:r>
          </a:p>
          <a:p xmlns:a="http://schemas.openxmlformats.org/drawingml/2006/main">
            <a:r>
              <a:t>        "components": [</a:t>
            </a:r>
          </a:p>
          <a:p xmlns:a="http://schemas.openxmlformats.org/drawingml/2006/main">
            <a:r>
              <a:t>          "C01",</a:t>
            </a:r>
          </a:p>
          <a:p xmlns:a="http://schemas.openxmlformats.org/drawingml/2006/main">
            <a:r>
              <a:t>          "C03",</a:t>
            </a:r>
          </a:p>
          <a:p xmlns:a="http://schemas.openxmlformats.org/drawingml/2006/main">
            <a:r>
              <a:t>          "C04"</a:t>
            </a:r>
          </a:p>
          <a:p xmlns:a="http://schemas.openxmlformats.org/drawingml/2006/main">
            <a:r>
              <a:t>        ],</a:t>
            </a:r>
          </a:p>
          <a:p xmlns:a="http://schemas.openxmlformats.org/drawingml/2006/main">
            <a:r>
              <a:t>        "acceptance": "문맥 유지·출처 확인·입력 범위·오류 안내의 대화 시나리오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"5c1be9c8c0ac6ecdc4d18ef05c6b02a80c9f5f082231b33b335733de34a142e2"</a:t>
            </a:r>
          </a:p>
          <a:p xmlns:a="http://schemas.openxmlformats.org/drawingml/2006/main">
            <a:r>
              <a:t>      },</a:t>
            </a:r>
          </a:p>
          <a:p xmlns:a="http://schemas.openxmlformats.org/drawingml/2006/main">
            <a:r>
              <a:t>      {</a:t>
            </a:r>
          </a:p>
          <a:p xmlns:a="http://schemas.openxmlformats.org/drawingml/2006/main">
            <a:r>
              <a:t>        "id": "SER-002",</a:t>
            </a:r>
          </a:p>
          <a:p xmlns:a="http://schemas.openxmlformats.org/drawingml/2006/main">
            <a:r>
              <a:t>        "title": "업무 특화 화면 서비스",</a:t>
            </a:r>
          </a:p>
          <a:p xmlns:a="http://schemas.openxmlformats.org/drawingml/2006/main">
            <a:r>
              <a:t>        "locator": "SER-002",</a:t>
            </a:r>
          </a:p>
          <a:p xmlns:a="http://schemas.openxmlformats.org/drawingml/2006/main">
            <a:r>
              <a:t>        "summary": "업무 특화 화면에서 필요한 입력과 결과를 제공.",</a:t>
            </a:r>
          </a:p>
          <a:p xmlns:a="http://schemas.openxmlformats.org/drawingml/2006/main">
            <a:r>
              <a:t>        "data": "업무 종류·필수 입력 → 특화 결과 화면",</a:t>
            </a:r>
          </a:p>
          <a:p xmlns:a="http://schemas.openxmlformats.org/drawingml/2006/main">
            <a:r>
              <a:t>        "components": [</a:t>
            </a:r>
          </a:p>
          <a:p xmlns:a="http://schemas.openxmlformats.org/drawingml/2006/main">
            <a:r>
              <a:t>          "C01",</a:t>
            </a:r>
          </a:p>
          <a:p xmlns:a="http://schemas.openxmlformats.org/drawingml/2006/main">
            <a:r>
              <a:t>          "C02",</a:t>
            </a:r>
          </a:p>
          <a:p xmlns:a="http://schemas.openxmlformats.org/drawingml/2006/main">
            <a:r>
              <a:t>          "C06"</a:t>
            </a:r>
          </a:p>
          <a:p xmlns:a="http://schemas.openxmlformats.org/drawingml/2006/main">
            <a:r>
              <a:t>        ],</a:t>
            </a:r>
          </a:p>
          <a:p xmlns:a="http://schemas.openxmlformats.org/drawingml/2006/main">
            <a:r>
              <a:t>        "acceptance": "업무별 필수 항목 누락·정정·결과 편집의 화면 동작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"4712f1694c7a46f76189d352fd3d252e83e6f128c095acdb1bfaf30e6453b7ea"</a:t>
            </a:r>
          </a:p>
          <a:p xmlns:a="http://schemas.openxmlformats.org/drawingml/2006/main">
            <a:r>
              <a:t>      },</a:t>
            </a:r>
          </a:p>
          <a:p xmlns:a="http://schemas.openxmlformats.org/drawingml/2006/main">
            <a:r>
              <a:t>      {</a:t>
            </a:r>
          </a:p>
          <a:p xmlns:a="http://schemas.openxmlformats.org/drawingml/2006/main">
            <a:r>
              <a:t>        "id": "SER-003",</a:t>
            </a:r>
          </a:p>
          <a:p xmlns:a="http://schemas.openxmlformats.org/drawingml/2006/main">
            <a:r>
              <a:t>        "title": "AI 응용 서비스 대상 업무",</a:t>
            </a:r>
          </a:p>
          <a:p xmlns:a="http://schemas.openxmlformats.org/drawingml/2006/main">
            <a:r>
              <a:t>        "locator": "SER-003",</a:t>
            </a:r>
          </a:p>
          <a:p xmlns:a="http://schemas.openxmlformats.org/drawingml/2006/main">
            <a:r>
              <a:t>        "summary": "AI 응용서비스 대상 업무의 범위 구성.",</a:t>
            </a:r>
          </a:p>
          <a:p xmlns:a="http://schemas.openxmlformats.org/drawingml/2006/main">
            <a:r>
              <a:t>        "data": "업무 요청·영역 → 해당 응용서비스",</a:t>
            </a:r>
          </a:p>
          <a:p xmlns:a="http://schemas.openxmlformats.org/drawingml/2006/main">
            <a:r>
              <a:t>        "components": [</a:t>
            </a:r>
          </a:p>
          <a:p xmlns:a="http://schemas.openxmlformats.org/drawingml/2006/main">
            <a:r>
              <a:t>          "C02",</a:t>
            </a:r>
          </a:p>
          <a:p xmlns:a="http://schemas.openxmlformats.org/drawingml/2006/main">
            <a:r>
              <a:t>          "C04"</a:t>
            </a:r>
          </a:p>
          <a:p xmlns:a="http://schemas.openxmlformats.org/drawingml/2006/main">
            <a:r>
              <a:t>        ],</a:t>
            </a:r>
          </a:p>
          <a:p xmlns:a="http://schemas.openxmlformats.org/drawingml/2006/main">
            <a:r>
              <a:t>        "acceptance": "인사·안전·시추·지질·설비·시장 업무의 잘못된 라우팅과 복합 요청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"f63574c927275ee8519741567d3f145890d5ed0b96c61b09e00920044886df77"</a:t>
            </a:r>
          </a:p>
          <a:p xmlns:a="http://schemas.openxmlformats.org/drawingml/2006/main">
            <a:r>
              <a:t>      },</a:t>
            </a:r>
          </a:p>
          <a:p xmlns:a="http://schemas.openxmlformats.org/drawingml/2006/main">
            <a:r>
              <a:t>      {</a:t>
            </a:r>
          </a:p>
          <a:p xmlns:a="http://schemas.openxmlformats.org/drawingml/2006/main">
            <a:r>
              <a:t>        "id": "SER-004",</a:t>
            </a:r>
          </a:p>
          <a:p xmlns:a="http://schemas.openxmlformats.org/drawingml/2006/main">
            <a:r>
              <a:t>        "title": "응용 서비스 공통",</a:t>
            </a:r>
          </a:p>
          <a:p xmlns:a="http://schemas.openxmlformats.org/drawingml/2006/main">
            <a:r>
              <a:t>        "locator": "SER-004",</a:t>
            </a:r>
          </a:p>
          <a:p xmlns:a="http://schemas.openxmlformats.org/drawingml/2006/main">
            <a:r>
              <a:t>        "summary": "업무 응용서비스에 공통 적용할 기능과 운영 기준 구성.",</a:t>
            </a:r>
          </a:p>
          <a:p xmlns:a="http://schemas.openxmlformats.org/drawingml/2006/main">
            <a:r>
              <a:t>        "data": "서비스 설정·권한·이용 기록 → 공통 통제·운영 결과",</a:t>
            </a:r>
          </a:p>
          <a:p xmlns:a="http://schemas.openxmlformats.org/drawingml/2006/main">
            <a:r>
              <a:t>        "components": [</a:t>
            </a:r>
          </a:p>
          <a:p xmlns:a="http://schemas.openxmlformats.org/drawingml/2006/main">
            <a:r>
              <a:t>          "C05",</a:t>
            </a:r>
          </a:p>
          <a:p xmlns:a="http://schemas.openxmlformats.org/drawingml/2006/main">
            <a:r>
              <a:t>          "C08",</a:t>
            </a:r>
          </a:p>
          <a:p xmlns:a="http://schemas.openxmlformats.org/drawingml/2006/main">
            <a:r>
              <a:t>          "C12"</a:t>
            </a:r>
          </a:p>
          <a:p xmlns:a="http://schemas.openxmlformats.org/drawingml/2006/main">
            <a:r>
              <a:t>        ],</a:t>
            </a:r>
          </a:p>
          <a:p xmlns:a="http://schemas.openxmlformats.org/drawingml/2006/main">
            <a:r>
              <a:t>        "acceptance": "개별 서비스 추가 시 공통 인증·통제·운영 기록 적용의 누락 점검",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"581ef5bd7d42a38fff5a1fa79a158712f59c915a988ed9e2f16244c505dd2ce9"</a:t>
            </a:r>
          </a:p>
          <a:p xmlns:a="http://schemas.openxmlformats.org/drawingml/2006/main">
            <a:r>
              <a:t>      },</a:t>
            </a:r>
          </a:p>
          <a:p xmlns:a="http://schemas.openxmlformats.org/drawingml/2006/main">
            <a:r>
              <a:t>      {</a:t>
            </a:r>
          </a:p>
          <a:p xmlns:a="http://schemas.openxmlformats.org/drawingml/2006/main">
            <a:r>
              <a:t>        "id": "FUR-001",</a:t>
            </a:r>
          </a:p>
          <a:p xmlns:a="http://schemas.openxmlformats.org/drawingml/2006/main">
            <a:r>
              <a:t>        "title": "[일반행정] 인사·복지 AI 서비스",</a:t>
            </a:r>
          </a:p>
          <a:p xmlns:a="http://schemas.openxmlformats.org/drawingml/2006/main">
            <a:r>
              <a:t>        "locator": "FUR-001",</a:t>
            </a:r>
          </a:p>
          <a:p xmlns:a="http://schemas.openxmlformats.org/drawingml/2006/main">
            <a:r>
              <a:t>        "summary": "인사·복지 규정과 업무 지식을 활용한 직원 지원.",</a:t>
            </a:r>
          </a:p>
          <a:p xmlns:a="http://schemas.openxmlformats.org/drawingml/2006/main">
            <a:r>
              <a:t>        "data": "직원 문맥·인사복지 질의 → 적용 규정·안내",</a:t>
            </a:r>
          </a:p>
          <a:p xmlns:a="http://schemas.openxmlformats.org/drawingml/2006/main">
            <a:r>
              <a:t>        "components": [</a:t>
            </a:r>
          </a:p>
          <a:p xmlns:a="http://schemas.openxmlformats.org/drawingml/2006/main">
            <a:r>
              <a:t>          "C02",</a:t>
            </a:r>
          </a:p>
          <a:p xmlns:a="http://schemas.openxmlformats.org/drawingml/2006/main">
            <a:r>
              <a:t>          "C03",</a:t>
            </a:r>
          </a:p>
          <a:p xmlns:a="http://schemas.openxmlformats.org/drawingml/2006/main">
            <a:r>
              <a:t>          "C06"</a:t>
            </a:r>
          </a:p>
          <a:p xmlns:a="http://schemas.openxmlformats.org/drawingml/2006/main">
            <a:r>
              <a:t>        ],</a:t>
            </a:r>
          </a:p>
          <a:p xmlns:a="http://schemas.openxmlformats.org/drawingml/2006/main">
            <a:r>
              <a:t>        "acceptance": "근무 조건·시행일·예외 조항이 다른 질문의 근거 선택 비교",</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"5cd185d2ca6f76c5606a274957c4915b34daac231353f6ab491b45ffb4fc8014"</a:t>
            </a:r>
          </a:p>
          <a:p xmlns:a="http://schemas.openxmlformats.org/drawingml/2006/main">
            <a:r>
              <a:t>      },</a:t>
            </a:r>
          </a:p>
          <a:p xmlns:a="http://schemas.openxmlformats.org/drawingml/2006/main">
            <a:r>
              <a:t>      {</a:t>
            </a:r>
          </a:p>
          <a:p xmlns:a="http://schemas.openxmlformats.org/drawingml/2006/main">
            <a:r>
              <a:t>        "id": "FUR-002",</a:t>
            </a:r>
          </a:p>
          <a:p xmlns:a="http://schemas.openxmlformats.org/drawingml/2006/main">
            <a:r>
              <a:t>        "title": "[안전관리] 안전관리 AI 서비스",</a:t>
            </a:r>
          </a:p>
          <a:p xmlns:a="http://schemas.openxmlformats.org/drawingml/2006/main">
            <a:r>
              <a:t>        "locator": "FUR-002",</a:t>
            </a:r>
          </a:p>
          <a:p xmlns:a="http://schemas.openxmlformats.org/drawingml/2006/main">
            <a:r>
              <a:t>        "summary": "안전 분야 자료를 활용한 업무 지원.",</a:t>
            </a:r>
          </a:p>
          <a:p xmlns:a="http://schemas.openxmlformats.org/drawingml/2006/main">
            <a:r>
              <a:t>        "data": "안전 업무 질의·자료 → 근거·검토 결과",</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"C05"</a:t>
            </a:r>
          </a:p>
          <a:p xmlns:a="http://schemas.openxmlformats.org/drawingml/2006/main">
            <a:r>
              <a:t>        ],</a:t>
            </a:r>
          </a:p>
          <a:p xmlns:a="http://schemas.openxmlformats.org/drawingml/2006/main">
            <a:r>
              <a:t>        "acceptance": "현장 조건과 적용 기준의 불일치·필수 조치 누락을 포함한 검토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"ae5ca92e3dbf8291576889d17428fe931c780d6262138c9eaa06e5f28fc0d3e6"</a:t>
            </a:r>
          </a:p>
          <a:p xmlns:a="http://schemas.openxmlformats.org/drawingml/2006/main">
            <a:r>
              <a:t>      },</a:t>
            </a:r>
          </a:p>
          <a:p xmlns:a="http://schemas.openxmlformats.org/drawingml/2006/main">
            <a:r>
              <a:t>      {</a:t>
            </a:r>
          </a:p>
          <a:p xmlns:a="http://schemas.openxmlformats.org/drawingml/2006/main">
            <a:r>
              <a:t>        "id": "FUR-003",</a:t>
            </a:r>
          </a:p>
          <a:p xmlns:a="http://schemas.openxmlformats.org/drawingml/2006/main">
            <a:r>
              <a:t>        "title": "[석유개발] 석유 시추 정보 AI 서비스",</a:t>
            </a:r>
          </a:p>
          <a:p xmlns:a="http://schemas.openxmlformats.org/drawingml/2006/main">
            <a:r>
              <a:t>        "locator": "FUR-003",</a:t>
            </a:r>
          </a:p>
          <a:p xmlns:a="http://schemas.openxmlformats.org/drawingml/2006/main">
            <a:r>
              <a:t>        "summary": "시추 분야 자료와 전문 지식의 업무 활용.",</a:t>
            </a:r>
          </a:p>
          <a:p xmlns:a="http://schemas.openxmlformats.org/drawingml/2006/main">
            <a:r>
              <a:t>        "data": "시추 질의·기술자료 → 근거·분석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"전문 용어·설비 조건·단위 오류와 출처 없는 추론의 구분 평가",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"9acd9aea17e5f3417a6f8f17f19191240f88fedb58e28130587c9b97c113c023"</a:t>
            </a:r>
          </a:p>
          <a:p xmlns:a="http://schemas.openxmlformats.org/drawingml/2006/main">
            <a:r>
              <a:t>      },</a:t>
            </a:r>
          </a:p>
          <a:p xmlns:a="http://schemas.openxmlformats.org/drawingml/2006/main">
            <a:r>
              <a:t>      {</a:t>
            </a:r>
          </a:p>
          <a:p xmlns:a="http://schemas.openxmlformats.org/drawingml/2006/main">
            <a:r>
              <a:t>        "id": "FUR-004",</a:t>
            </a:r>
          </a:p>
          <a:p xmlns:a="http://schemas.openxmlformats.org/drawingml/2006/main">
            <a:r>
              <a:t>        "title": "[석유개발] 석유 지질 정보 AI 서비스",</a:t>
            </a:r>
          </a:p>
          <a:p xmlns:a="http://schemas.openxmlformats.org/drawingml/2006/main">
            <a:r>
              <a:t>        "locator": "FUR-004",</a:t>
            </a:r>
          </a:p>
          <a:p xmlns:a="http://schemas.openxmlformats.org/drawingml/2006/main">
            <a:r>
              <a:t>        "summary": "지질 자료와 분석 업무의 AI 지원.",</a:t>
            </a:r>
          </a:p>
          <a:p xmlns:a="http://schemas.openxmlformats.org/drawingml/2006/main">
            <a:r>
              <a:t>        "data": "지질 질의·연구 자료 → 탐색·분석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"서로 다른 지역·시기 자료의 혼용과 전문 수치·그림 근거 연결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"0c138c01d2c00b386c64812738ceda4a9d3dfa79e5c1ec90b1d8ca4f758908d5"</a:t>
            </a:r>
          </a:p>
          <a:p xmlns:a="http://schemas.openxmlformats.org/drawingml/2006/main">
            <a:r>
              <a:t>      },</a:t>
            </a:r>
          </a:p>
          <a:p xmlns:a="http://schemas.openxmlformats.org/drawingml/2006/main">
            <a:r>
              <a:t>      {</a:t>
            </a:r>
          </a:p>
          <a:p xmlns:a="http://schemas.openxmlformats.org/drawingml/2006/main">
            <a:r>
              <a:t>        "id": "FUR-005",</a:t>
            </a:r>
          </a:p>
          <a:p xmlns:a="http://schemas.openxmlformats.org/drawingml/2006/main">
            <a:r>
              <a:t>        "title": "[석유비축] 비축설비 정비·운영 AI 서비스",</a:t>
            </a:r>
          </a:p>
          <a:p xmlns:a="http://schemas.openxmlformats.org/drawingml/2006/main">
            <a:r>
              <a:t>        "locator": "FUR-005",</a:t>
            </a:r>
          </a:p>
          <a:p xmlns:a="http://schemas.openxmlformats.org/drawingml/2006/main">
            <a:r>
              <a:t>        "summary": "비축설비 관련 자료의 검색·업무 지원.",</a:t>
            </a:r>
          </a:p>
          <a:p xmlns:a="http://schemas.openxmlformats.org/drawingml/2006/main">
            <a:r>
              <a:t>        "data": "설비 식별·정비 자료 → 관련 근거·지원 결과",</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"설비 번호·점검 시점·부품 조건이 다른 자료의 구분과 최신 이력 확인",</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"4d18cc59bfa5560530dcceb2188516ebb10c10fe8e05807a6f1c8d14188bdec8"</a:t>
            </a:r>
          </a:p>
          <a:p xmlns:a="http://schemas.openxmlformats.org/drawingml/2006/main">
            <a:r>
              <a:t>      },</a:t>
            </a:r>
          </a:p>
          <a:p xmlns:a="http://schemas.openxmlformats.org/drawingml/2006/main">
            <a:r>
              <a:t>      {</a:t>
            </a:r>
          </a:p>
          <a:p xmlns:a="http://schemas.openxmlformats.org/drawingml/2006/main">
            <a:r>
              <a:t>        "id": "FUR-006",</a:t>
            </a:r>
          </a:p>
          <a:p xmlns:a="http://schemas.openxmlformats.org/drawingml/2006/main">
            <a:r>
              <a:t>        "title": "[석유정보] 석유시장 보고서 작성 AI 서비스",</a:t>
            </a:r>
          </a:p>
          <a:p xmlns:a="http://schemas.openxmlformats.org/drawingml/2006/main">
            <a:r>
              <a:t>        "locator": "FUR-006",</a:t>
            </a:r>
          </a:p>
          <a:p xmlns:a="http://schemas.openxmlformats.org/drawingml/2006/main">
            <a:r>
              <a:t>        "summary": "시장 자료를 활용한 보고서 작성 지원.",</a:t>
            </a:r>
          </a:p>
          <a:p xmlns:a="http://schemas.openxmlformats.org/drawingml/2006/main">
            <a:r>
              <a:t>        "data": "시장 자료·기준일 → 근거가 연결된 보고 초안",</a:t>
            </a:r>
          </a:p>
          <a:p xmlns:a="http://schemas.openxmlformats.org/drawingml/2006/main">
            <a:r>
              <a:t>        "components": [</a:t>
            </a:r>
          </a:p>
          <a:p xmlns:a="http://schemas.openxmlformats.org/drawingml/2006/main">
            <a:r>
              <a:t>          "C03",</a:t>
            </a:r>
          </a:p>
          <a:p xmlns:a="http://schemas.openxmlformats.org/drawingml/2006/main">
            <a:r>
              <a:t>          "C04",</a:t>
            </a:r>
          </a:p>
          <a:p xmlns:a="http://schemas.openxmlformats.org/drawingml/2006/main">
            <a:r>
              <a:t>          "C06"</a:t>
            </a:r>
          </a:p>
          <a:p xmlns:a="http://schemas.openxmlformats.org/drawingml/2006/main">
            <a:r>
              <a:t>        ],</a:t>
            </a:r>
          </a:p>
          <a:p xmlns:a="http://schemas.openxmlformats.org/drawingml/2006/main">
            <a:r>
              <a:t>        "acceptance": "기준일·통화·단위 혼용, 숫자 인용, 최신 자료 누락의 항목별 점검",</a:t>
            </a:r>
          </a:p>
          <a:p xmlns:a="http://schemas.openxmlformats.org/drawingml/2006/main">
            <a:r>
              <a:t>        "basis": "RFP 핵심 요구사항 요약",</a:t>
            </a:r>
          </a:p>
          <a:p xmlns:a="http://schemas.openxmlformats.org/drawingml/2006/main">
            <a:r>
              <a:t>        "testBasis": "CCK 비교·검수 설계",</a:t>
            </a:r>
          </a:p>
          <a:p xmlns:a="http://schemas.openxmlformats.org/drawingml/2006/main">
            <a:r>
              <a:t>        "excerptHash": "1a1e671fc8f1cfe4dc05c83144eb257e226afeea8a0f7096652aeec596b82a80"</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"직원·업무 앱",</a:t>
            </a:r>
          </a:p>
          <a:p xmlns:a="http://schemas.openxmlformats.org/drawingml/2006/main">
            <a:r>
              <a:t>          "layer": "이용 접점",</a:t>
            </a:r>
          </a:p>
          <a:p xmlns:a="http://schemas.openxmlformats.org/drawingml/2006/main">
            <a:r>
              <a:t>          "detail": "인사·안전·개발·비축·시장 담당",</a:t>
            </a:r>
          </a:p>
          <a:p xmlns:a="http://schemas.openxmlformats.org/drawingml/2006/main">
            <a:r>
              <a:t>          "requirements": [</a:t>
            </a:r>
          </a:p>
          <a:p xmlns:a="http://schemas.openxmlformats.org/drawingml/2006/main">
            <a:r>
              <a:t>            "SER-001",</a:t>
            </a:r>
          </a:p>
          <a:p xmlns:a="http://schemas.openxmlformats.org/drawingml/2006/main">
            <a:r>
              <a:t>            "SER-002"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"사번·소속·업무",</a:t>
            </a:r>
          </a:p>
          <a:p xmlns:a="http://schemas.openxmlformats.org/drawingml/2006/main">
            <a:r>
              <a:t>          "layer": "업무 문맥",</a:t>
            </a:r>
          </a:p>
          <a:p xmlns:a="http://schemas.openxmlformats.org/drawingml/2006/main">
            <a:r>
              <a:t>          "detail": "사번·소속·직급·업무분장 기반 접근 판정",</a:t>
            </a:r>
          </a:p>
          <a:p xmlns:a="http://schemas.openxmlformats.org/drawingml/2006/main">
            <a:r>
              <a:t>          "requirements": [</a:t>
            </a:r>
          </a:p>
          <a:p xmlns:a="http://schemas.openxmlformats.org/drawingml/2006/main">
            <a:r>
              <a:t>            "SER-002",</a:t>
            </a:r>
          </a:p>
          <a:p xmlns:a="http://schemas.openxmlformats.org/drawingml/2006/main">
            <a:r>
              <a:t>            "SER-003",</a:t>
            </a:r>
          </a:p>
          <a:p xmlns:a="http://schemas.openxmlformats.org/drawingml/2006/main">
            <a:r>
              <a:t>            "FUR-001"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"도메인 지식 조회",</a:t>
            </a:r>
          </a:p>
          <a:p xmlns:a="http://schemas.openxmlformats.org/drawingml/2006/main">
            <a:r>
              <a:t>          "layer": "자료 조회",</a:t>
            </a:r>
          </a:p>
          <a:p xmlns:a="http://schemas.openxmlformats.org/drawingml/2006/main">
            <a:r>
              <a:t>          "detail": "업무 목적",</a:t>
            </a:r>
          </a:p>
          <a:p xmlns:a="http://schemas.openxmlformats.org/drawingml/2006/main">
            <a:r>
              <a:t>          "requirements": [</a:t>
            </a:r>
          </a:p>
          <a:p xmlns:a="http://schemas.openxmlformats.org/drawingml/2006/main">
            <a:r>
              <a:t>            "SER-001",</a:t>
            </a:r>
          </a:p>
          <a:p xmlns:a="http://schemas.openxmlformats.org/drawingml/2006/main">
            <a:r>
              <a:t>            "FUR-001",</a:t>
            </a:r>
          </a:p>
          <a:p xmlns:a="http://schemas.openxmlformats.org/drawingml/2006/main">
            <a:r>
              <a:t>            "FUR-002",</a:t>
            </a:r>
          </a:p>
          <a:p xmlns:a="http://schemas.openxmlformats.org/drawingml/2006/main">
            <a:r>
              <a:t>            "FUR-003",</a:t>
            </a:r>
          </a:p>
          <a:p xmlns:a="http://schemas.openxmlformats.org/drawingml/2006/main">
            <a:r>
              <a:t>            "FUR-004",</a:t>
            </a:r>
          </a:p>
          <a:p xmlns:a="http://schemas.openxmlformats.org/drawingml/2006/main">
            <a:r>
              <a:t>            "FUR-005",</a:t>
            </a:r>
          </a:p>
          <a:p xmlns:a="http://schemas.openxmlformats.org/drawingml/2006/main">
            <a:r>
              <a:t>            "FUR-006"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"6개 특화 AI 처리",</a:t>
            </a:r>
          </a:p>
          <a:p xmlns:a="http://schemas.openxmlformats.org/drawingml/2006/main">
            <a:r>
              <a:t>          "layer": "핵심 처리",</a:t>
            </a:r>
          </a:p>
          <a:p xmlns:a="http://schemas.openxmlformats.org/drawingml/2006/main">
            <a:r>
              <a:t>          "detail": "도메인 RAG·정형 조회·보고서 생성 라우팅",</a:t>
            </a:r>
          </a:p>
          <a:p xmlns:a="http://schemas.openxmlformats.org/drawingml/2006/main">
            <a:r>
              <a:t>          "requirements": [</a:t>
            </a:r>
          </a:p>
          <a:p xmlns:a="http://schemas.openxmlformats.org/drawingml/2006/main">
            <a:r>
              <a:t>            "SER-001",</a:t>
            </a:r>
          </a:p>
          <a:p xmlns:a="http://schemas.openxmlformats.org/drawingml/2006/main">
            <a:r>
              <a:t>            "SER-003",</a:t>
            </a:r>
          </a:p>
          <a:p xmlns:a="http://schemas.openxmlformats.org/drawingml/2006/main">
            <a:r>
              <a:t>            "FUR-002",</a:t>
            </a:r>
          </a:p>
          <a:p xmlns:a="http://schemas.openxmlformats.org/drawingml/2006/main">
            <a:r>
              <a:t>            "FUR-003",</a:t>
            </a:r>
          </a:p>
          <a:p xmlns:a="http://schemas.openxmlformats.org/drawingml/2006/main">
            <a:r>
              <a:t>            "FUR-004",</a:t>
            </a:r>
          </a:p>
          <a:p xmlns:a="http://schemas.openxmlformats.org/drawingml/2006/main">
            <a:r>
              <a:t>            "FUR-005",</a:t>
            </a:r>
          </a:p>
          <a:p xmlns:a="http://schemas.openxmlformats.org/drawingml/2006/main">
            <a:r>
              <a:t>            "FUR-006"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"권한·근거 대조",</a:t>
            </a:r>
          </a:p>
          <a:p xmlns:a="http://schemas.openxmlformats.org/drawingml/2006/main">
            <a:r>
              <a:t>          "layer": "결과 검증",</a:t>
            </a:r>
          </a:p>
          <a:p xmlns:a="http://schemas.openxmlformats.org/drawingml/2006/main">
            <a:r>
              <a:t>          "detail": "도메인 경계·현업 승인·결과 대사",</a:t>
            </a:r>
          </a:p>
          <a:p xmlns:a="http://schemas.openxmlformats.org/drawingml/2006/main">
            <a:r>
              <a:t>          "requirements": [</a:t>
            </a:r>
          </a:p>
          <a:p xmlns:a="http://schemas.openxmlformats.org/drawingml/2006/main">
            <a:r>
              <a:t>            "SER-004",</a:t>
            </a:r>
          </a:p>
          <a:p xmlns:a="http://schemas.openxmlformats.org/drawingml/2006/main">
            <a:r>
              <a:t>            "FUR-002"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"현업 승인",</a:t>
            </a:r>
          </a:p>
          <a:p xmlns:a="http://schemas.openxmlformats.org/drawingml/2006/main">
            <a:r>
              <a:t>          "layer": "사람 확인",</a:t>
            </a:r>
          </a:p>
          <a:p xmlns:a="http://schemas.openxmlformats.org/drawingml/2006/main">
            <a:r>
              <a:t>          "detail": "직원의 업무 목적을 6개 도메인 중 해당 앱으로 연결",</a:t>
            </a:r>
          </a:p>
          <a:p xmlns:a="http://schemas.openxmlformats.org/drawingml/2006/main">
            <a:r>
              <a:t>          "requirements": [</a:t>
            </a:r>
          </a:p>
          <a:p xmlns:a="http://schemas.openxmlformats.org/drawingml/2006/main">
            <a:r>
              <a:t>            "SER-002",</a:t>
            </a:r>
          </a:p>
          <a:p xmlns:a="http://schemas.openxmlformats.org/drawingml/2006/main">
            <a:r>
              <a:t>            "FUR-001",</a:t>
            </a:r>
          </a:p>
          <a:p xmlns:a="http://schemas.openxmlformats.org/drawingml/2006/main">
            <a:r>
              <a:t>            "FUR-003",</a:t>
            </a:r>
          </a:p>
          <a:p xmlns:a="http://schemas.openxmlformats.org/drawingml/2006/main">
            <a:r>
              <a:t>            "FUR-004",</a:t>
            </a:r>
          </a:p>
          <a:p xmlns:a="http://schemas.openxmlformats.org/drawingml/2006/main">
            <a:r>
              <a:t>            "FUR-005",</a:t>
            </a:r>
          </a:p>
          <a:p xmlns:a="http://schemas.openxmlformats.org/drawingml/2006/main">
            <a:r>
              <a:t>            "FUR-006"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"ERP·보고서 연계",</a:t>
            </a:r>
          </a:p>
          <a:p xmlns:a="http://schemas.openxmlformats.org/drawingml/2006/main">
            <a:r>
              <a:t>          "layer": "업무 연결",</a:t>
            </a:r>
          </a:p>
          <a:p xmlns:a="http://schemas.openxmlformats.org/drawingml/2006/main">
            <a:r>
              <a:t>          "detail": "원천 링크·업무 결과를 현업에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"도메인별 평가",</a:t>
            </a:r>
          </a:p>
          <a:p xmlns:a="http://schemas.openxmlformats.org/drawingml/2006/main">
            <a:r>
              <a:t>          "layer": "운영 관측",</a:t>
            </a:r>
          </a:p>
          <a:p xmlns:a="http://schemas.openxmlformats.org/drawingml/2006/main">
            <a:r>
              <a:t>          "detail": "권한 변경 이력·도메인 평가·업무별 운영 관리",</a:t>
            </a:r>
          </a:p>
          <a:p xmlns:a="http://schemas.openxmlformats.org/drawingml/2006/main">
            <a:r>
              <a:t>          "requirements": [</a:t>
            </a:r>
          </a:p>
          <a:p xmlns:a="http://schemas.openxmlformats.org/drawingml/2006/main">
            <a:r>
              <a:t>            "SER-004"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"시추·설비·규정",</a:t>
            </a:r>
          </a:p>
          <a:p xmlns:a="http://schemas.openxmlformats.org/drawingml/2006/main">
            <a:r>
              <a:t>          "layer": "데이터 원천",</a:t>
            </a:r>
          </a:p>
          <a:p xmlns:a="http://schemas.openxmlformats.org/drawingml/2006/main">
            <a:r>
              <a:t>          "detail": "인사·안전·설비 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"업무별 자료 정합화",</a:t>
            </a:r>
          </a:p>
          <a:p xmlns:a="http://schemas.openxmlformats.org/drawingml/2006/main">
            <a:r>
              <a:t>          "layer": "준비·갱신",</a:t>
            </a:r>
          </a:p>
          <a:p xmlns:a="http://schemas.openxmlformats.org/drawingml/2006/main">
            <a:r>
              <a:t>          "detail": "시추 일보·지질·설비·규정의 도메인별 색인",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"도메인 RAG 색인",</a:t>
            </a:r>
          </a:p>
          <a:p xmlns:a="http://schemas.openxmlformats.org/drawingml/2006/main">
            <a:r>
              <a:t>          "layer": "상태·지식 저장",</a:t>
            </a:r>
          </a:p>
          <a:p xmlns:a="http://schemas.openxmlformats.org/drawingml/2006/main">
            <a:r>
              <a:t>          "detail": "업무별 라우팅·접근 결과와 원천 인용·변경 이력",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"문서·ERP 권한",</a:t>
            </a:r>
          </a:p>
          <a:p xmlns:a="http://schemas.openxmlformats.org/drawingml/2006/main">
            <a:r>
              <a:t>          "layer": "권한·정책",</a:t>
            </a:r>
          </a:p>
          <a:p xmlns:a="http://schemas.openxmlformats.org/drawingml/2006/main">
            <a:r>
              <a:t>          "detail": "직급·근속 변경·다른 도메인 자료·시추 원문 누락",</a:t>
            </a:r>
          </a:p>
          <a:p xmlns:a="http://schemas.openxmlformats.org/drawingml/2006/main">
            <a:r>
              <a:t>          "requirements": [</a:t>
            </a:r>
          </a:p>
          <a:p xmlns:a="http://schemas.openxmlformats.org/drawingml/2006/main">
            <a:r>
              <a:t>            "SER-004"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"사번·소속·직급·업무분장 기반 접근 판정",</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"업무 목적",</a:t>
            </a:r>
          </a:p>
          <a:p xmlns:a="http://schemas.openxmlformats.org/drawingml/2006/main">
            <a:r>
              <a:t>          "check": "도메인 경계·현업 승인·결과 대사"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"도메인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"검토 초안",</a:t>
            </a:r>
          </a:p>
          <a:p xmlns:a="http://schemas.openxmlformats.org/drawingml/2006/main">
            <a:r>
              <a:t>          "check": "직급·근속 변경·다른 도메인 자료·시추 원문 누락"</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"검토 초안",</a:t>
            </a:r>
          </a:p>
          <a:p xmlns:a="http://schemas.openxmlformats.org/drawingml/2006/main">
            <a:r>
              <a:t>          "check": "원천 링크·업무 결과를 현업에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"공식 업무 처리",</a:t>
            </a:r>
          </a:p>
          <a:p xmlns:a="http://schemas.openxmlformats.org/drawingml/2006/main">
            <a:r>
              <a:t>          "check": "업무별 라우팅·접근 결과와 원천 인용·변경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"SER-001~004·FUR-001~006",</a:t>
            </a:r>
          </a:p>
          <a:p xmlns:a="http://schemas.openxmlformats.org/drawingml/2006/main">
            <a:r>
              <a:t>        "extracted": "사번·소속·직급·업무분장, 문서별 권한, 6개 특화업무",</a:t>
            </a:r>
          </a:p>
          <a:p xmlns:a="http://schemas.openxmlformats.org/drawingml/2006/main">
            <a:r>
              <a:t>        "extension": "ERP 조회·실행 권한 분리 및 특화업무별 인수셋"</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"직급·근속 변경·다른 도메인 자료·시추 원문 누락",</a:t>
            </a:r>
          </a:p>
          <a:p xmlns:a="http://schemas.openxmlformats.org/drawingml/2006/main">
            <a:r>
              <a:t>        "hold": "도메인 경계·현업 승인·결과 대사",</a:t>
            </a:r>
          </a:p>
          <a:p xmlns:a="http://schemas.openxmlformats.org/drawingml/2006/main">
            <a:r>
              <a:t>        "recovery": "권한 변경 이력·도메인 평가·업무별 운영 관리",</a:t>
            </a:r>
          </a:p>
          <a:p xmlns:a="http://schemas.openxmlformats.org/drawingml/2006/main">
            <a:r>
              <a:t>        "evidence": "업무별 라우팅·접근 결과와 원천 인용·변경 이력"</a:t>
            </a:r>
          </a:p>
          <a:p xmlns:a="http://schemas.openxmlformats.org/drawingml/2006/main">
            <a:r>
              <a:t>      },</a:t>
            </a:r>
          </a:p>
          <a:p xmlns:a="http://schemas.openxmlformats.org/drawingml/2006/main">
            <a:r>
              <a:t>      "data": {</a:t>
            </a:r>
          </a:p>
          <a:p xmlns:a="http://schemas.openxmlformats.org/drawingml/2006/main">
            <a:r>
              <a:t>        "source": "인사·안전·설비 지식",</a:t>
            </a:r>
          </a:p>
          <a:p xmlns:a="http://schemas.openxmlformats.org/drawingml/2006/main">
            <a:r>
              <a:t>        "prepare": "시추 일보·지질·설비·규정의 도메인별 색인",</a:t>
            </a:r>
          </a:p>
          <a:p xmlns:a="http://schemas.openxmlformats.org/drawingml/2006/main">
            <a:r>
              <a:t>        "output": "업무 목적",</a:t>
            </a:r>
          </a:p>
          <a:p xmlns:a="http://schemas.openxmlformats.org/drawingml/2006/main">
            <a:r>
              <a:t>        "refresh": "권한 변경 이력·도메인 평가·업무별 운영 관리"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"PF-R09",</a:t>
            </a:r>
          </a:p>
          <a:p xmlns:a="http://schemas.openxmlformats.org/drawingml/2006/main">
            <a:r>
              <a:t>    "success": [</a:t>
            </a:r>
          </a:p>
          <a:p xmlns:a="http://schemas.openxmlformats.org/drawingml/2006/main">
            <a:r>
              <a:t>      "공통 챗봇과 6개 도메인 분리",</a:t>
            </a:r>
          </a:p>
          <a:p xmlns:a="http://schemas.openxmlformats.org/drawingml/2006/main">
            <a:r>
              <a:t>      "업무 지식·ERP 경로의 결합"</a:t>
            </a:r>
          </a:p>
          <a:p xmlns:a="http://schemas.openxmlformats.org/drawingml/2006/main">
            <a:r>
              <a:t>    ],</a:t>
            </a:r>
          </a:p>
          <a:p xmlns:a="http://schemas.openxmlformats.org/drawingml/2006/main">
            <a:r>
              <a:t>    "risks": [</a:t>
            </a:r>
          </a:p>
          <a:p xmlns:a="http://schemas.openxmlformats.org/drawingml/2006/main">
            <a:r>
              <a:t>      "도메인 지식의 혼합",</a:t>
            </a:r>
          </a:p>
          <a:p xmlns:a="http://schemas.openxmlformats.org/drawingml/2006/main">
            <a:r>
              <a:t>      "안전·시추 권고를 자동 실행"</a:t>
            </a:r>
          </a:p>
          <a:p xmlns:a="http://schemas.openxmlformats.org/drawingml/2006/main">
            <a:r>
              <a:t>    ],</a:t>
            </a:r>
          </a:p>
          <a:p xmlns:a="http://schemas.openxmlformats.org/drawingml/2006/main">
            <a:r>
              <a:t>    "architecture": [</a:t>
            </a:r>
          </a:p>
          <a:p xmlns:a="http://schemas.openxmlformats.org/drawingml/2006/main">
            <a:r>
              <a:t>      "직원 업무 앱",</a:t>
            </a:r>
          </a:p>
          <a:p xmlns:a="http://schemas.openxmlformats.org/drawingml/2006/main">
            <a:r>
              <a:t>      "도메인 RAG",</a:t>
            </a:r>
          </a:p>
          <a:p xmlns:a="http://schemas.openxmlformats.org/drawingml/2006/main">
            <a:r>
              <a:t>      "인사·안전·설비 지식",</a:t>
            </a:r>
          </a:p>
          <a:p xmlns:a="http://schemas.openxmlformats.org/drawingml/2006/main">
            <a:r>
              <a:t>      "업무·ERP 담당"</a:t>
            </a:r>
          </a:p>
          <a:p xmlns:a="http://schemas.openxmlformats.org/drawingml/2006/main">
            <a:r>
              <a:t>    ],</a:t>
            </a:r>
          </a:p>
          <a:p xmlns:a="http://schemas.openxmlformats.org/drawingml/2006/main">
            <a:r>
              <a:t>    "transfers": [</a:t>
            </a:r>
          </a:p>
          <a:p xmlns:a="http://schemas.openxmlformats.org/drawingml/2006/main">
            <a:r>
              <a:t>      "업무 목적",</a:t>
            </a:r>
          </a:p>
          <a:p xmlns:a="http://schemas.openxmlformats.org/drawingml/2006/main">
            <a:r>
              <a:t>      "도메인 근거",</a:t>
            </a:r>
          </a:p>
          <a:p xmlns:a="http://schemas.openxmlformats.org/drawingml/2006/main">
            <a:r>
              <a:t>      "검토 초안",</a:t>
            </a:r>
          </a:p>
          <a:p xmlns:a="http://schemas.openxmlformats.org/drawingml/2006/main">
            <a:r>
              <a:t>      "공식 업무 처리"</a:t>
            </a:r>
          </a:p>
          <a:p xmlns:a="http://schemas.openxmlformats.org/drawingml/2006/main">
            <a:r>
              <a:t>    ],</a:t>
            </a:r>
          </a:p>
          <a:p xmlns:a="http://schemas.openxmlformats.org/drawingml/2006/main">
            <a:r>
              <a:t>    "control": "도메인 경계·현업 승인·결과 대사",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SER-001~004, FUR-001~006, ASR·DAR / Word T098 https://www.g2b.go.kr/pn/pnp/pnpe/UntyAtchFile/downloadFile.do?bidPbancNo=R26BK01705928&amp;bidPbancOrd=001&amp;fileSeq=4&amp;fileType=&amp;prcmBsneSeCd=03</a:t>
            </a:r>
          </a:p>
          <a:p xmlns:a="http://schemas.openxmlformats.org/drawingml/2006/main">
            <a:r>
              <a:t>홈페이지 https://heen1987-ops.github.io/TS-business-Plan-001/index.html?view=platform-cases&amp;case=PF-R09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"PF01",</a:t>
            </a:r>
          </a:p>
          <a:p xmlns:a="http://schemas.openxmlformats.org/drawingml/2006/main">
            <a:r>
              <a:t>    "sourceId": "A01",</a:t>
            </a:r>
          </a:p>
          <a:p xmlns:a="http://schemas.openxmlformats.org/drawingml/2006/main">
            <a:r>
              <a:t>    "title": "범정부 AI 공통기반·법령비서",</a:t>
            </a:r>
          </a:p>
          <a:p xmlns:a="http://schemas.openxmlformats.org/drawingml/2006/main">
            <a:r>
              <a:t>    "region": "국내",</a:t>
            </a:r>
          </a:p>
          <a:p xmlns:a="http://schemas.openxmlformats.org/drawingml/2006/main">
            <a:r>
              <a:t>    "owner": "행정안전부·법제처·과기정통부",</a:t>
            </a:r>
          </a:p>
          <a:p xmlns:a="http://schemas.openxmlformats.org/drawingml/2006/main">
            <a:r>
              <a:t>    "state": "공통기반 운영 / 업무 앱 시범",</a:t>
            </a:r>
          </a:p>
          <a:p xmlns:a="http://schemas.openxmlformats.org/drawingml/2006/main">
            <a:r>
              <a:t>    "period": "2025–2026",</a:t>
            </a:r>
          </a:p>
          <a:p xmlns:a="http://schemas.openxmlformats.org/drawingml/2006/main">
            <a:r>
              <a:t>    "fact": "공통 AI 이용환경에 법령·판례 지식을 결합한 법령비서 시범 서비스",</a:t>
            </a:r>
          </a:p>
          <a:p xmlns:a="http://schemas.openxmlformats.org/drawingml/2006/main">
            <a:r>
              <a:t>    "limit": "시범 개시와 범정부 확산 계획의 구분 · 업무시간 절감 실측 별도",</a:t>
            </a:r>
          </a:p>
          <a:p xmlns:a="http://schemas.openxmlformats.org/drawingml/2006/main">
            <a:r>
              <a:t>    "nodes": [</a:t>
            </a:r>
          </a:p>
          <a:p xmlns:a="http://schemas.openxmlformats.org/drawingml/2006/main">
            <a:r>
              <a:t>      "정부 공통 이용환경",</a:t>
            </a:r>
          </a:p>
          <a:p xmlns:a="http://schemas.openxmlformats.org/drawingml/2006/main">
            <a:r>
              <a:t>      "공통 모델·검색",</a:t>
            </a:r>
          </a:p>
          <a:p xmlns:a="http://schemas.openxmlformats.org/drawingml/2006/main">
            <a:r>
              <a:t>      "법령·판례 지식",</a:t>
            </a:r>
          </a:p>
          <a:p xmlns:a="http://schemas.openxmlformats.org/drawingml/2006/main">
            <a:r>
              <a:t>      "법령비서·직원 검토"</a:t>
            </a:r>
          </a:p>
          <a:p xmlns:a="http://schemas.openxmlformats.org/drawingml/2006/main">
            <a:r>
              <a:t>    ],</a:t>
            </a:r>
          </a:p>
          <a:p xmlns:a="http://schemas.openxmlformats.org/drawingml/2006/main">
            <a:r>
              <a:t>    "apply": "공통 AI 접속환경을 재사용하고 직무별 법령·업무 앱을 별도 구성",</a:t>
            </a:r>
          </a:p>
          <a:p xmlns:a="http://schemas.openxmlformats.org/drawingml/2006/main">
            <a:r>
              <a:t>    "delta": "소관·직무·규정 판본 연결 및 부서별 정답셋",</a:t>
            </a:r>
          </a:p>
          <a:p xmlns:a="http://schemas.openxmlformats.org/drawingml/2006/main">
            <a:r>
              <a:t>    "test": "동일 규정 질의의 판본·출처·소관 일치 검증",</a:t>
            </a:r>
          </a:p>
          <a:p xmlns:a="http://schemas.openxmlformats.org/drawingml/2006/main">
            <a:r>
              <a:t>    "url": "https://www.mois.go.kr/frt/bbs/type010/commonSelectBoardArticle.do?bbsId=BBSMSTR_000000000008&amp;nttId=127770",</a:t>
            </a:r>
          </a:p>
          <a:p xmlns:a="http://schemas.openxmlformats.org/drawingml/2006/main">
            <a:r>
              <a:t>    "basis": "공식 시범 개시 발표",</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"https://www.mois.go.kr/frt/bbs/type010/commonSelectBoardArticle.do?bbsId=BBSMSTR_000000000008&amp;nttId=127770",</a:t>
            </a:r>
          </a:p>
          <a:p xmlns:a="http://schemas.openxmlformats.org/drawingml/2006/main">
            <a:r>
              <a:t>      "https://mois.go.kr/frt/bbs/type002/commonSelectBoardArticle.do?bbsId=BBSMSTR_000000000010&amp;nttId=121989"</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"PF01",</a:t>
            </a:r>
          </a:p>
          <a:p xmlns:a="http://schemas.openxmlformats.org/drawingml/2006/main">
            <a:r>
              <a:t>    "canonicalId": "PF01",</a:t>
            </a:r>
          </a:p>
          <a:p xmlns:a="http://schemas.openxmlformats.org/drawingml/2006/main">
            <a:r>
              <a:t>    "purpose": "정부 공통 AI 이용환경의 법령 업무 확장",</a:t>
            </a:r>
          </a:p>
          <a:p xmlns:a="http://schemas.openxmlformats.org/drawingml/2006/main">
            <a:r>
              <a:t>    "users": "정부 직원·법제 검토 담당",</a:t>
            </a:r>
          </a:p>
          <a:p xmlns:a="http://schemas.openxmlformats.org/drawingml/2006/main">
            <a:r>
              <a:t>    "scope": [</a:t>
            </a:r>
          </a:p>
          <a:p xmlns:a="http://schemas.openxmlformats.org/drawingml/2006/main">
            <a:r>
              <a:t>      "공통 모델",</a:t>
            </a:r>
          </a:p>
          <a:p xmlns:a="http://schemas.openxmlformats.org/drawingml/2006/main">
            <a:r>
              <a:t>      "법령비서",</a:t>
            </a:r>
          </a:p>
          <a:p xmlns:a="http://schemas.openxmlformats.org/drawingml/2006/main">
            <a:r>
              <a:t>      "근거 검색"</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"정부 직원",</a:t>
            </a:r>
          </a:p>
          <a:p xmlns:a="http://schemas.openxmlformats.org/drawingml/2006/main">
            <a:r>
              <a:t>        "detail": "계정·업무 질의·적용 시점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"공통 모델 / 법령비서 / 근거 검색",</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"공통 AI·법령비서",</a:t>
            </a:r>
          </a:p>
          <a:p xmlns:a="http://schemas.openxmlformats.org/drawingml/2006/main">
            <a:r>
              <a:t>        "detail": "공통 AI 호출과 법령·판례 검색 연결",</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"법제 검토자",</a:t>
            </a:r>
          </a:p>
          <a:p xmlns:a="http://schemas.openxmlformats.org/drawingml/2006/main">
            <a:r>
              <a:t>        "detail": "근거 답변을 법제 검토자에게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"법령·판례 지식",</a:t>
            </a:r>
          </a:p>
          <a:p xmlns:a="http://schemas.openxmlformats.org/drawingml/2006/main">
            <a:r>
              <a:t>        "detail": "공식 법령·판례·문서의 기준일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"시범 질의의 정답·근거·사용성 평가",</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"정부 공통 이용환경",</a:t>
            </a:r>
          </a:p>
          <a:p xmlns:a="http://schemas.openxmlformats.org/drawingml/2006/main">
            <a:r>
              <a:t>        "input": "계정·업무 질의·적용 시점 구성",</a:t>
            </a:r>
          </a:p>
          <a:p xmlns:a="http://schemas.openxmlformats.org/drawingml/2006/main">
            <a:r>
              <a:t>        "process": "공식 법령·판례·문서의 기준일 관리",</a:t>
            </a:r>
          </a:p>
          <a:p xmlns:a="http://schemas.openxmlformats.org/drawingml/2006/main">
            <a:r>
              <a:t>        "output": "법률 질문"</a:t>
            </a:r>
          </a:p>
          <a:p xmlns:a="http://schemas.openxmlformats.org/drawingml/2006/main">
            <a:r>
              <a:t>      },</a:t>
            </a:r>
          </a:p>
          <a:p xmlns:a="http://schemas.openxmlformats.org/drawingml/2006/main">
            <a:r>
              <a:t>      {</a:t>
            </a:r>
          </a:p>
          <a:p xmlns:a="http://schemas.openxmlformats.org/drawingml/2006/main">
            <a:r>
              <a:t>        "title": "공통 모델·검색",</a:t>
            </a:r>
          </a:p>
          <a:p xmlns:a="http://schemas.openxmlformats.org/drawingml/2006/main">
            <a:r>
              <a:t>        "input": "법률 질문",</a:t>
            </a:r>
          </a:p>
          <a:p xmlns:a="http://schemas.openxmlformats.org/drawingml/2006/main">
            <a:r>
              <a:t>        "process": "공통 AI 호출과 법령·판례 검색 연결",</a:t>
            </a:r>
          </a:p>
          <a:p xmlns:a="http://schemas.openxmlformats.org/drawingml/2006/main">
            <a:r>
              <a:t>        "output": "관련 근거"</a:t>
            </a:r>
          </a:p>
          <a:p xmlns:a="http://schemas.openxmlformats.org/drawingml/2006/main">
            <a:r>
              <a:t>      },</a:t>
            </a:r>
          </a:p>
          <a:p xmlns:a="http://schemas.openxmlformats.org/drawingml/2006/main">
            <a:r>
              <a:t>      {</a:t>
            </a:r>
          </a:p>
          <a:p xmlns:a="http://schemas.openxmlformats.org/drawingml/2006/main">
            <a:r>
              <a:t>        "title": "법령·판례 지식",</a:t>
            </a:r>
          </a:p>
          <a:p xmlns:a="http://schemas.openxmlformats.org/drawingml/2006/main">
            <a:r>
              <a:t>        "input": "관련 근거",</a:t>
            </a:r>
          </a:p>
          <a:p xmlns:a="http://schemas.openxmlformats.org/drawingml/2006/main">
            <a:r>
              <a:t>        "process": "적용 시점·소관·근거 일치",</a:t>
            </a:r>
          </a:p>
          <a:p xmlns:a="http://schemas.openxmlformats.org/drawingml/2006/main">
            <a:r>
              <a:t>        "output": "업무 답변"</a:t>
            </a:r>
          </a:p>
          <a:p xmlns:a="http://schemas.openxmlformats.org/drawingml/2006/main">
            <a:r>
              <a:t>      },</a:t>
            </a:r>
          </a:p>
          <a:p xmlns:a="http://schemas.openxmlformats.org/drawingml/2006/main">
            <a:r>
              <a:t>      {</a:t>
            </a:r>
          </a:p>
          <a:p xmlns:a="http://schemas.openxmlformats.org/drawingml/2006/main">
            <a:r>
              <a:t>        "title": "법령비서·직원 검토",</a:t>
            </a:r>
          </a:p>
          <a:p xmlns:a="http://schemas.openxmlformats.org/drawingml/2006/main">
            <a:r>
              <a:t>        "input": "업무 답변",</a:t>
            </a:r>
          </a:p>
          <a:p xmlns:a="http://schemas.openxmlformats.org/drawingml/2006/main">
            <a:r>
              <a:t>        "process": "근거 답변을 법제 검토자에게 제공",</a:t>
            </a:r>
          </a:p>
          <a:p xmlns:a="http://schemas.openxmlformats.org/drawingml/2006/main">
            <a:r>
              <a:t>        "output": "직원 확인"</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"적용 업무와 시점에 맞는 법령·판례 근거 검토",</a:t>
            </a:r>
          </a:p>
          <a:p xmlns:a="http://schemas.openxmlformats.org/drawingml/2006/main">
            <a:r>
              <a:t>      "exception": "폐지 조문·유사 명칭 법률·소관 차이",</a:t>
            </a:r>
          </a:p>
          <a:p xmlns:a="http://schemas.openxmlformats.org/drawingml/2006/main">
            <a:r>
              <a:t>      "evidence": "조문·시점·소관 정답셋과 검토자 판정",</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"정부 직원·법제 검토 담당",</a:t>
            </a:r>
          </a:p>
          <a:p xmlns:a="http://schemas.openxmlformats.org/drawingml/2006/main">
            <a:r>
              <a:t>          "processing": "계정·업무 질의·적용 시점 구성",</a:t>
            </a:r>
          </a:p>
          <a:p xmlns:a="http://schemas.openxmlformats.org/drawingml/2006/main">
            <a:r>
              <a:t>          "output": "법률 질문"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"법령·판례 지식",</a:t>
            </a:r>
          </a:p>
          <a:p xmlns:a="http://schemas.openxmlformats.org/drawingml/2006/main">
            <a:r>
              <a:t>          "processing": "공식 법령·판례·문서의 기준일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"법률 질문",</a:t>
            </a:r>
          </a:p>
          <a:p xmlns:a="http://schemas.openxmlformats.org/drawingml/2006/main">
            <a:r>
              <a:t>          "processing": "공통 AI 호출과 법령·판례 검색 연결",</a:t>
            </a:r>
          </a:p>
          <a:p xmlns:a="http://schemas.openxmlformats.org/drawingml/2006/main">
            <a:r>
              <a:t>          "output": "업무 답변"</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"업무 답변",</a:t>
            </a:r>
          </a:p>
          <a:p xmlns:a="http://schemas.openxmlformats.org/drawingml/2006/main">
            <a:r>
              <a:t>          "processing": "근거 답변을 법제 검토자에게 제공",</a:t>
            </a:r>
          </a:p>
          <a:p xmlns:a="http://schemas.openxmlformats.org/drawingml/2006/main">
            <a:r>
              <a:t>          "output": "직원 확인"</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"시범 질의의 정답·근거·사용성 평가",</a:t>
            </a:r>
          </a:p>
          <a:p xmlns:a="http://schemas.openxmlformats.org/drawingml/2006/main">
            <a:r>
              <a:t>          "output": "조문·시점·소관 정답셋과 검토자 판정"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"시범 질의의 정답·근거·사용성 평가",</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"공식 시범 개시 발표",</a:t>
            </a:r>
          </a:p>
          <a:p xmlns:a="http://schemas.openxmlformats.org/drawingml/2006/main">
            <a:r>
              <a:t>        "url": "https://www.mois.go.kr/frt/bbs/type010/commonSelectBoardArticle.do?bbsId=BBSMSTR_000000000008&amp;nttId=127770"</a:t>
            </a:r>
          </a:p>
          <a:p xmlns:a="http://schemas.openxmlformats.org/drawingml/2006/main">
            <a:r>
              <a:t>      }</a:t>
            </a:r>
          </a:p>
          <a:p xmlns:a="http://schemas.openxmlformats.org/drawingml/2006/main">
            <a:r>
              <a:t>    ],</a:t>
            </a:r>
          </a:p>
          <a:p xmlns:a="http://schemas.openxmlformats.org/drawingml/2006/main">
            <a:r>
              <a:t>    "implication": "공통 AI 접속환경을 재사용하고 직무별 법령·업무 앱을 별도 구성",</a:t>
            </a:r>
          </a:p>
          <a:p xmlns:a="http://schemas.openxmlformats.org/drawingml/2006/main">
            <a:r>
              <a:t>    "local": "공통 AI 접속환경을 재사용하고 직무별 법령·업무 앱을 별도 구성",</a:t>
            </a:r>
          </a:p>
          <a:p xmlns:a="http://schemas.openxmlformats.org/drawingml/2006/main">
            <a:r>
              <a:t>    "sourceDetail": null,</a:t>
            </a:r>
          </a:p>
          <a:p xmlns:a="http://schemas.openxmlformats.org/drawingml/2006/main">
            <a:r>
              <a:t>    "narrative": [</a:t>
            </a:r>
          </a:p>
          <a:p xmlns:a="http://schemas.openxmlformats.org/drawingml/2006/main">
            <a:r>
              <a:t>      "범정부 AI 공통기반과 법령비서의 시범 서비스 사례. 공통 AI 이용 환경에 법령·판례 자료를 결합해 직원의 규정 탐색과 근거 확인을 지원하는 구조.",</a:t>
            </a:r>
          </a:p>
          <a:p xmlns:a="http://schemas.openxmlformats.org/drawingml/2006/main">
            <a:r>
              <a:t>      "공개된 서비스 범위에 따라 로그인·질의 문맥·법령 검색·근거 응답·사용자 검토로 재구성. 적용 시점과 법령·판례의 관계를 검색 메타데이터로 유지하고 생성 답변에서 해당 원문으로 돌아가는 확인 경로의 구성.",</a:t>
            </a:r>
          </a:p>
          <a:p xmlns:a="http://schemas.openxmlformats.org/drawingml/2006/main">
            <a:r>
              <a:t>      "TS에서는 법령 지식의 공통 이용과 부서별 업무 책임의 연결을 구분해 추가 개발할 필요. 같은 질문의 담당 직무·시행일별 적용 기준, 폐지·개정 조문 혼용, 근거 없는 단정 응답을 검수 대상으로 설정."</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"정부 직원 접점",</a:t>
            </a:r>
          </a:p>
          <a:p xmlns:a="http://schemas.openxmlformats.org/drawingml/2006/main">
            <a:r>
              <a:t>          "layer": "이용 접점",</a:t>
            </a:r>
          </a:p>
          <a:p xmlns:a="http://schemas.openxmlformats.org/drawingml/2006/main">
            <a:r>
              <a:t>          "detail": "정부 직원·법제 검토 담당",</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"질의·적용시점",</a:t>
            </a:r>
          </a:p>
          <a:p xmlns:a="http://schemas.openxmlformats.org/drawingml/2006/main">
            <a:r>
              <a:t>          "layer": "업무 문맥",</a:t>
            </a:r>
          </a:p>
          <a:p xmlns:a="http://schemas.openxmlformats.org/drawingml/2006/main">
            <a:r>
              <a:t>          "detail": "계정·업무 질의·적용 시점 구성",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"법령·판례 검색",</a:t>
            </a:r>
          </a:p>
          <a:p xmlns:a="http://schemas.openxmlformats.org/drawingml/2006/main">
            <a:r>
              <a:t>          "layer": "자료 조회",</a:t>
            </a:r>
          </a:p>
          <a:p xmlns:a="http://schemas.openxmlformats.org/drawingml/2006/main">
            <a:r>
              <a:t>          "detail": "법률 질문",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"공통 AI·법령비서",</a:t>
            </a:r>
          </a:p>
          <a:p xmlns:a="http://schemas.openxmlformats.org/drawingml/2006/main">
            <a:r>
              <a:t>          "layer": "핵심 처리",</a:t>
            </a:r>
          </a:p>
          <a:p xmlns:a="http://schemas.openxmlformats.org/drawingml/2006/main">
            <a:r>
              <a:t>          "detail": "공통 AI 호출과 법령·판례 검색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"조문·시점 대조",</a:t>
            </a:r>
          </a:p>
          <a:p xmlns:a="http://schemas.openxmlformats.org/drawingml/2006/main">
            <a:r>
              <a:t>          "layer": "결과 검증",</a:t>
            </a:r>
          </a:p>
          <a:p xmlns:a="http://schemas.openxmlformats.org/drawingml/2006/main">
            <a:r>
              <a:t>          "detail": "적용 시점·소관·근거 일치",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"법제 담당 검토",</a:t>
            </a:r>
          </a:p>
          <a:p xmlns:a="http://schemas.openxmlformats.org/drawingml/2006/main">
            <a:r>
              <a:t>          "layer": "사람 확인",</a:t>
            </a:r>
          </a:p>
          <a:p xmlns:a="http://schemas.openxmlformats.org/drawingml/2006/main">
            <a:r>
              <a:t>          "detail": "적용 업무와 시점에 맞는 법령·판례 근거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"업무 문서 참고",</a:t>
            </a:r>
          </a:p>
          <a:p xmlns:a="http://schemas.openxmlformats.org/drawingml/2006/main">
            <a:r>
              <a:t>          "layer": "업무 연결",</a:t>
            </a:r>
          </a:p>
          <a:p xmlns:a="http://schemas.openxmlformats.org/drawingml/2006/main">
            <a:r>
              <a:t>          "detail": "근거 답변을 법제 검토자에게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"시범 질의 평가",</a:t>
            </a:r>
          </a:p>
          <a:p xmlns:a="http://schemas.openxmlformats.org/drawingml/2006/main">
            <a:r>
              <a:t>          "layer": "운영 관측",</a:t>
            </a:r>
          </a:p>
          <a:p xmlns:a="http://schemas.openxmlformats.org/drawingml/2006/main">
            <a:r>
              <a:t>          "detail": "시범 질의의 정답·근거·사용성 평가",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"공식 법령·문서",</a:t>
            </a:r>
          </a:p>
          <a:p xmlns:a="http://schemas.openxmlformats.org/drawingml/2006/main">
            <a:r>
              <a:t>          "layer": "데이터 원천",</a:t>
            </a:r>
          </a:p>
          <a:p xmlns:a="http://schemas.openxmlformats.org/drawingml/2006/main">
            <a:r>
              <a:t>          "detail": "법령·판례 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"기준일·근거 정리",</a:t>
            </a:r>
          </a:p>
          <a:p xmlns:a="http://schemas.openxmlformats.org/drawingml/2006/main">
            <a:r>
              <a:t>          "layer": "준비·갱신",</a:t>
            </a:r>
          </a:p>
          <a:p xmlns:a="http://schemas.openxmlformats.org/drawingml/2006/main">
            <a:r>
              <a:t>          "detail": "공식 법령·판례·문서의 기준일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"지식·평가 자료",</a:t>
            </a:r>
          </a:p>
          <a:p xmlns:a="http://schemas.openxmlformats.org/drawingml/2006/main">
            <a:r>
              <a:t>          "layer": "상태·지식 저장",</a:t>
            </a:r>
          </a:p>
          <a:p xmlns:a="http://schemas.openxmlformats.org/drawingml/2006/main">
            <a:r>
              <a:t>          "detail": "조문·시점·소관 정답셋과 검토자 판정",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"기관·업무 경계",</a:t>
            </a:r>
          </a:p>
          <a:p xmlns:a="http://schemas.openxmlformats.org/drawingml/2006/main">
            <a:r>
              <a:t>          "layer": "권한·정책",</a:t>
            </a:r>
          </a:p>
          <a:p xmlns:a="http://schemas.openxmlformats.org/drawingml/2006/main">
            <a:r>
              <a:t>          "detail": "폐지 조문·유사 명칭 법률·소관 차이",</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"계정·업무 질의·적용 시점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"법률 질문",</a:t>
            </a:r>
          </a:p>
          <a:p xmlns:a="http://schemas.openxmlformats.org/drawingml/2006/main">
            <a:r>
              <a:t>          "check": "적용 시점·소관·근거 일치"</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"관련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"업무 답변",</a:t>
            </a:r>
          </a:p>
          <a:p xmlns:a="http://schemas.openxmlformats.org/drawingml/2006/main">
            <a:r>
              <a:t>          "check": "폐지 조문·유사 명칭 법률·소관 차이"</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"업무 답변",</a:t>
            </a:r>
          </a:p>
          <a:p xmlns:a="http://schemas.openxmlformats.org/drawingml/2006/main">
            <a:r>
              <a:t>          "check": "근거 답변을 법제 검토자에게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"직원 확인",</a:t>
            </a:r>
          </a:p>
          <a:p xmlns:a="http://schemas.openxmlformats.org/drawingml/2006/main">
            <a:r>
              <a:t>          "check": "조문·시점·소관 정답셋과 검토자 판정"</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"정부 공통 AI 이용환경의 법령 업무 확장 / 공통 모델·법령비서·근거 검색",</a:t>
            </a:r>
          </a:p>
          <a:p xmlns:a="http://schemas.openxmlformats.org/drawingml/2006/main">
            <a:r>
              <a:t>        "extension": "공통 AI 접속환경을 재사용하고 직무별 법령·업무 앱을 별도 구성"</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"폐지 조문·유사 명칭 법률·소관 차이",</a:t>
            </a:r>
          </a:p>
          <a:p xmlns:a="http://schemas.openxmlformats.org/drawingml/2006/main">
            <a:r>
              <a:t>        "hold": "적용 시점·소관·근거 일치",</a:t>
            </a:r>
          </a:p>
          <a:p xmlns:a="http://schemas.openxmlformats.org/drawingml/2006/main">
            <a:r>
              <a:t>        "recovery": "시범 질의의 정답·근거·사용성 평가",</a:t>
            </a:r>
          </a:p>
          <a:p xmlns:a="http://schemas.openxmlformats.org/drawingml/2006/main">
            <a:r>
              <a:t>        "evidence": "조문·시점·소관 정답셋과 검토자 판정"</a:t>
            </a:r>
          </a:p>
          <a:p xmlns:a="http://schemas.openxmlformats.org/drawingml/2006/main">
            <a:r>
              <a:t>      },</a:t>
            </a:r>
          </a:p>
          <a:p xmlns:a="http://schemas.openxmlformats.org/drawingml/2006/main">
            <a:r>
              <a:t>      "data": {</a:t>
            </a:r>
          </a:p>
          <a:p xmlns:a="http://schemas.openxmlformats.org/drawingml/2006/main">
            <a:r>
              <a:t>        "source": "법령·판례 지식",</a:t>
            </a:r>
          </a:p>
          <a:p xmlns:a="http://schemas.openxmlformats.org/drawingml/2006/main">
            <a:r>
              <a:t>        "prepare": "공식 법령·판례·문서의 기준일 관리",</a:t>
            </a:r>
          </a:p>
          <a:p xmlns:a="http://schemas.openxmlformats.org/drawingml/2006/main">
            <a:r>
              <a:t>        "output": "법률 질문",</a:t>
            </a:r>
          </a:p>
          <a:p xmlns:a="http://schemas.openxmlformats.org/drawingml/2006/main">
            <a:r>
              <a:t>        "refresh": "시범 질의의 정답·근거·사용성 평가"</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"PF01",</a:t>
            </a:r>
          </a:p>
          <a:p xmlns:a="http://schemas.openxmlformats.org/drawingml/2006/main">
            <a:r>
              <a:t>    "success": [</a:t>
            </a:r>
          </a:p>
          <a:p xmlns:a="http://schemas.openxmlformats.org/drawingml/2006/main">
            <a:r>
              <a:t>      "공통 이용환경의 공동 활용",</a:t>
            </a:r>
          </a:p>
          <a:p xmlns:a="http://schemas.openxmlformats.org/drawingml/2006/main">
            <a:r>
              <a:t>      "법령비서 등 업무 앱 결합"</a:t>
            </a:r>
          </a:p>
          <a:p xmlns:a="http://schemas.openxmlformats.org/drawingml/2006/main">
            <a:r>
              <a:t>    ],</a:t>
            </a:r>
          </a:p>
          <a:p xmlns:a="http://schemas.openxmlformats.org/drawingml/2006/main">
            <a:r>
              <a:t>    "risks": [</a:t>
            </a:r>
          </a:p>
          <a:p xmlns:a="http://schemas.openxmlformats.org/drawingml/2006/main">
            <a:r>
              <a:t>      "범용 답변과 적용 조문 판단의 차이",</a:t>
            </a:r>
          </a:p>
          <a:p xmlns:a="http://schemas.openxmlformats.org/drawingml/2006/main">
            <a:r>
              <a:t>      "시범 서비스의 성과 일반화"</a:t>
            </a:r>
          </a:p>
          <a:p xmlns:a="http://schemas.openxmlformats.org/drawingml/2006/main">
            <a:r>
              <a:t>    ],</a:t>
            </a:r>
          </a:p>
          <a:p xmlns:a="http://schemas.openxmlformats.org/drawingml/2006/main">
            <a:r>
              <a:t>    "architecture": [</a:t>
            </a:r>
          </a:p>
          <a:p xmlns:a="http://schemas.openxmlformats.org/drawingml/2006/main">
            <a:r>
              <a:t>      "정부 직원",</a:t>
            </a:r>
          </a:p>
          <a:p xmlns:a="http://schemas.openxmlformats.org/drawingml/2006/main">
            <a:r>
              <a:t>      "공통 AI·법령비서",</a:t>
            </a:r>
          </a:p>
          <a:p xmlns:a="http://schemas.openxmlformats.org/drawingml/2006/main">
            <a:r>
              <a:t>      "법령·판례 지식",</a:t>
            </a:r>
          </a:p>
          <a:p xmlns:a="http://schemas.openxmlformats.org/drawingml/2006/main">
            <a:r>
              <a:t>      "법제 검토자"</a:t>
            </a:r>
          </a:p>
          <a:p xmlns:a="http://schemas.openxmlformats.org/drawingml/2006/main">
            <a:r>
              <a:t>    ],</a:t>
            </a:r>
          </a:p>
          <a:p xmlns:a="http://schemas.openxmlformats.org/drawingml/2006/main">
            <a:r>
              <a:t>    "transfers": [</a:t>
            </a:r>
          </a:p>
          <a:p xmlns:a="http://schemas.openxmlformats.org/drawingml/2006/main">
            <a:r>
              <a:t>      "법률 질문",</a:t>
            </a:r>
          </a:p>
          <a:p xmlns:a="http://schemas.openxmlformats.org/drawingml/2006/main">
            <a:r>
              <a:t>      "관련 근거",</a:t>
            </a:r>
          </a:p>
          <a:p xmlns:a="http://schemas.openxmlformats.org/drawingml/2006/main">
            <a:r>
              <a:t>      "업무 답변",</a:t>
            </a:r>
          </a:p>
          <a:p xmlns:a="http://schemas.openxmlformats.org/drawingml/2006/main">
            <a:r>
              <a:t>      "직원 확인"</a:t>
            </a:r>
          </a:p>
          <a:p xmlns:a="http://schemas.openxmlformats.org/drawingml/2006/main">
            <a:r>
              <a:t>    ],</a:t>
            </a:r>
          </a:p>
          <a:p xmlns:a="http://schemas.openxmlformats.org/drawingml/2006/main">
            <a:r>
              <a:t>    "control": "적용 시점·소관·근거 일치",</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공식 시범 개시 발표 https://www.mois.go.kr/frt/bbs/type010/commonSelectBoardArticle.do?bbsId=BBSMSTR_000000000008&amp;nttId=127770</a:t>
            </a:r>
          </a:p>
          <a:p xmlns:a="http://schemas.openxmlformats.org/drawingml/2006/main">
            <a:r>
              <a:t>홈페이지 https://heen1987-ops.github.io/TS-business-Plan-001/index.html?view=platform-cases&amp;case=PF01</a:t>
            </a:r>
          </a:p>
          <a:p xmlns:a="http://schemas.openxmlformats.org/drawingml/2006/main">
            <a:r>
              <a:t>한계: 시범 개시와 범정부 확산 계획의 구분 · 업무시간 절감 실측 별도</a:t>
            </a:r>
          </a:p>
          <a:p xmlns:a="http://schemas.openxmlformats.org/drawingml/2006/main">
            <a:r>
              <a:t>실패 위험: 범용 답변과 적용 조문 판단의 차이 / 시범 서비스의 성과 일반화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"PF01",</a:t>
            </a:r>
          </a:p>
          <a:p xmlns:a="http://schemas.openxmlformats.org/drawingml/2006/main">
            <a:r>
              <a:t>    "sourceId": "A01",</a:t>
            </a:r>
          </a:p>
          <a:p xmlns:a="http://schemas.openxmlformats.org/drawingml/2006/main">
            <a:r>
              <a:t>    "title": "범정부 AI 공통기반·법령비서",</a:t>
            </a:r>
          </a:p>
          <a:p xmlns:a="http://schemas.openxmlformats.org/drawingml/2006/main">
            <a:r>
              <a:t>    "region": "국내",</a:t>
            </a:r>
          </a:p>
          <a:p xmlns:a="http://schemas.openxmlformats.org/drawingml/2006/main">
            <a:r>
              <a:t>    "owner": "행정안전부·법제처·과기정통부",</a:t>
            </a:r>
          </a:p>
          <a:p xmlns:a="http://schemas.openxmlformats.org/drawingml/2006/main">
            <a:r>
              <a:t>    "state": "공통기반 운영 / 업무 앱 시범",</a:t>
            </a:r>
          </a:p>
          <a:p xmlns:a="http://schemas.openxmlformats.org/drawingml/2006/main">
            <a:r>
              <a:t>    "period": "2025–2026",</a:t>
            </a:r>
          </a:p>
          <a:p xmlns:a="http://schemas.openxmlformats.org/drawingml/2006/main">
            <a:r>
              <a:t>    "fact": "공통 AI 이용환경에 법령·판례 지식을 결합한 법령비서 시범 서비스",</a:t>
            </a:r>
          </a:p>
          <a:p xmlns:a="http://schemas.openxmlformats.org/drawingml/2006/main">
            <a:r>
              <a:t>    "limit": "시범 개시와 범정부 확산 계획의 구분 · 업무시간 절감 실측 별도",</a:t>
            </a:r>
          </a:p>
          <a:p xmlns:a="http://schemas.openxmlformats.org/drawingml/2006/main">
            <a:r>
              <a:t>    "nodes": [</a:t>
            </a:r>
          </a:p>
          <a:p xmlns:a="http://schemas.openxmlformats.org/drawingml/2006/main">
            <a:r>
              <a:t>      "정부 공통 이용환경",</a:t>
            </a:r>
          </a:p>
          <a:p xmlns:a="http://schemas.openxmlformats.org/drawingml/2006/main">
            <a:r>
              <a:t>      "공통 모델·검색",</a:t>
            </a:r>
          </a:p>
          <a:p xmlns:a="http://schemas.openxmlformats.org/drawingml/2006/main">
            <a:r>
              <a:t>      "법령·판례 지식",</a:t>
            </a:r>
          </a:p>
          <a:p xmlns:a="http://schemas.openxmlformats.org/drawingml/2006/main">
            <a:r>
              <a:t>      "법령비서·직원 검토"</a:t>
            </a:r>
          </a:p>
          <a:p xmlns:a="http://schemas.openxmlformats.org/drawingml/2006/main">
            <a:r>
              <a:t>    ],</a:t>
            </a:r>
          </a:p>
          <a:p xmlns:a="http://schemas.openxmlformats.org/drawingml/2006/main">
            <a:r>
              <a:t>    "apply": "공통 AI 접속환경을 재사용하고 직무별 법령·업무 앱을 별도 구성",</a:t>
            </a:r>
          </a:p>
          <a:p xmlns:a="http://schemas.openxmlformats.org/drawingml/2006/main">
            <a:r>
              <a:t>    "delta": "소관·직무·규정 판본 연결 및 부서별 정답셋",</a:t>
            </a:r>
          </a:p>
          <a:p xmlns:a="http://schemas.openxmlformats.org/drawingml/2006/main">
            <a:r>
              <a:t>    "test": "동일 규정 질의의 판본·출처·소관 일치 검증",</a:t>
            </a:r>
          </a:p>
          <a:p xmlns:a="http://schemas.openxmlformats.org/drawingml/2006/main">
            <a:r>
              <a:t>    "url": "https://www.mois.go.kr/frt/bbs/type010/commonSelectBoardArticle.do?bbsId=BBSMSTR_000000000008&amp;nttId=127770",</a:t>
            </a:r>
          </a:p>
          <a:p xmlns:a="http://schemas.openxmlformats.org/drawingml/2006/main">
            <a:r>
              <a:t>    "basis": "공식 시범 개시 발표",</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"https://www.mois.go.kr/frt/bbs/type010/commonSelectBoardArticle.do?bbsId=BBSMSTR_000000000008&amp;nttId=127770",</a:t>
            </a:r>
          </a:p>
          <a:p xmlns:a="http://schemas.openxmlformats.org/drawingml/2006/main">
            <a:r>
              <a:t>      "https://mois.go.kr/frt/bbs/type002/commonSelectBoardArticle.do?bbsId=BBSMSTR_000000000010&amp;nttId=121989"</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"PF01",</a:t>
            </a:r>
          </a:p>
          <a:p xmlns:a="http://schemas.openxmlformats.org/drawingml/2006/main">
            <a:r>
              <a:t>    "canonicalId": "PF01",</a:t>
            </a:r>
          </a:p>
          <a:p xmlns:a="http://schemas.openxmlformats.org/drawingml/2006/main">
            <a:r>
              <a:t>    "purpose": "정부 공통 AI 이용환경의 법령 업무 확장",</a:t>
            </a:r>
          </a:p>
          <a:p xmlns:a="http://schemas.openxmlformats.org/drawingml/2006/main">
            <a:r>
              <a:t>    "users": "정부 직원·법제 검토 담당",</a:t>
            </a:r>
          </a:p>
          <a:p xmlns:a="http://schemas.openxmlformats.org/drawingml/2006/main">
            <a:r>
              <a:t>    "scope": [</a:t>
            </a:r>
          </a:p>
          <a:p xmlns:a="http://schemas.openxmlformats.org/drawingml/2006/main">
            <a:r>
              <a:t>      "공통 모델",</a:t>
            </a:r>
          </a:p>
          <a:p xmlns:a="http://schemas.openxmlformats.org/drawingml/2006/main">
            <a:r>
              <a:t>      "법령비서",</a:t>
            </a:r>
          </a:p>
          <a:p xmlns:a="http://schemas.openxmlformats.org/drawingml/2006/main">
            <a:r>
              <a:t>      "근거 검색"</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"정부 직원",</a:t>
            </a:r>
          </a:p>
          <a:p xmlns:a="http://schemas.openxmlformats.org/drawingml/2006/main">
            <a:r>
              <a:t>        "detail": "계정·업무 질의·적용 시점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"공통 모델 / 법령비서 / 근거 검색",</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"공통 AI·법령비서",</a:t>
            </a:r>
          </a:p>
          <a:p xmlns:a="http://schemas.openxmlformats.org/drawingml/2006/main">
            <a:r>
              <a:t>        "detail": "공통 AI 호출과 법령·판례 검색 연결",</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"법제 검토자",</a:t>
            </a:r>
          </a:p>
          <a:p xmlns:a="http://schemas.openxmlformats.org/drawingml/2006/main">
            <a:r>
              <a:t>        "detail": "근거 답변을 법제 검토자에게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"법령·판례 지식",</a:t>
            </a:r>
          </a:p>
          <a:p xmlns:a="http://schemas.openxmlformats.org/drawingml/2006/main">
            <a:r>
              <a:t>        "detail": "공식 법령·판례·문서의 기준일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"시범 질의의 정답·근거·사용성 평가",</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"정부 공통 이용환경",</a:t>
            </a:r>
          </a:p>
          <a:p xmlns:a="http://schemas.openxmlformats.org/drawingml/2006/main">
            <a:r>
              <a:t>        "input": "계정·업무 질의·적용 시점 구성",</a:t>
            </a:r>
          </a:p>
          <a:p xmlns:a="http://schemas.openxmlformats.org/drawingml/2006/main">
            <a:r>
              <a:t>        "process": "공식 법령·판례·문서의 기준일 관리",</a:t>
            </a:r>
          </a:p>
          <a:p xmlns:a="http://schemas.openxmlformats.org/drawingml/2006/main">
            <a:r>
              <a:t>        "output": "법률 질문"</a:t>
            </a:r>
          </a:p>
          <a:p xmlns:a="http://schemas.openxmlformats.org/drawingml/2006/main">
            <a:r>
              <a:t>      },</a:t>
            </a:r>
          </a:p>
          <a:p xmlns:a="http://schemas.openxmlformats.org/drawingml/2006/main">
            <a:r>
              <a:t>      {</a:t>
            </a:r>
          </a:p>
          <a:p xmlns:a="http://schemas.openxmlformats.org/drawingml/2006/main">
            <a:r>
              <a:t>        "title": "공통 모델·검색",</a:t>
            </a:r>
          </a:p>
          <a:p xmlns:a="http://schemas.openxmlformats.org/drawingml/2006/main">
            <a:r>
              <a:t>        "input": "법률 질문",</a:t>
            </a:r>
          </a:p>
          <a:p xmlns:a="http://schemas.openxmlformats.org/drawingml/2006/main">
            <a:r>
              <a:t>        "process": "공통 AI 호출과 법령·판례 검색 연결",</a:t>
            </a:r>
          </a:p>
          <a:p xmlns:a="http://schemas.openxmlformats.org/drawingml/2006/main">
            <a:r>
              <a:t>        "output": "관련 근거"</a:t>
            </a:r>
          </a:p>
          <a:p xmlns:a="http://schemas.openxmlformats.org/drawingml/2006/main">
            <a:r>
              <a:t>      },</a:t>
            </a:r>
          </a:p>
          <a:p xmlns:a="http://schemas.openxmlformats.org/drawingml/2006/main">
            <a:r>
              <a:t>      {</a:t>
            </a:r>
          </a:p>
          <a:p xmlns:a="http://schemas.openxmlformats.org/drawingml/2006/main">
            <a:r>
              <a:t>        "title": "법령·판례 지식",</a:t>
            </a:r>
          </a:p>
          <a:p xmlns:a="http://schemas.openxmlformats.org/drawingml/2006/main">
            <a:r>
              <a:t>        "input": "관련 근거",</a:t>
            </a:r>
          </a:p>
          <a:p xmlns:a="http://schemas.openxmlformats.org/drawingml/2006/main">
            <a:r>
              <a:t>        "process": "적용 시점·소관·근거 일치",</a:t>
            </a:r>
          </a:p>
          <a:p xmlns:a="http://schemas.openxmlformats.org/drawingml/2006/main">
            <a:r>
              <a:t>        "output": "업무 답변"</a:t>
            </a:r>
          </a:p>
          <a:p xmlns:a="http://schemas.openxmlformats.org/drawingml/2006/main">
            <a:r>
              <a:t>      },</a:t>
            </a:r>
          </a:p>
          <a:p xmlns:a="http://schemas.openxmlformats.org/drawingml/2006/main">
            <a:r>
              <a:t>      {</a:t>
            </a:r>
          </a:p>
          <a:p xmlns:a="http://schemas.openxmlformats.org/drawingml/2006/main">
            <a:r>
              <a:t>        "title": "법령비서·직원 검토",</a:t>
            </a:r>
          </a:p>
          <a:p xmlns:a="http://schemas.openxmlformats.org/drawingml/2006/main">
            <a:r>
              <a:t>        "input": "업무 답변",</a:t>
            </a:r>
          </a:p>
          <a:p xmlns:a="http://schemas.openxmlformats.org/drawingml/2006/main">
            <a:r>
              <a:t>        "process": "근거 답변을 법제 검토자에게 제공",</a:t>
            </a:r>
          </a:p>
          <a:p xmlns:a="http://schemas.openxmlformats.org/drawingml/2006/main">
            <a:r>
              <a:t>        "output": "직원 확인"</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"적용 업무와 시점에 맞는 법령·판례 근거 검토",</a:t>
            </a:r>
          </a:p>
          <a:p xmlns:a="http://schemas.openxmlformats.org/drawingml/2006/main">
            <a:r>
              <a:t>      "exception": "폐지 조문·유사 명칭 법률·소관 차이",</a:t>
            </a:r>
          </a:p>
          <a:p xmlns:a="http://schemas.openxmlformats.org/drawingml/2006/main">
            <a:r>
              <a:t>      "evidence": "조문·시점·소관 정답셋과 검토자 판정",</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"정부 직원·법제 검토 담당",</a:t>
            </a:r>
          </a:p>
          <a:p xmlns:a="http://schemas.openxmlformats.org/drawingml/2006/main">
            <a:r>
              <a:t>          "processing": "계정·업무 질의·적용 시점 구성",</a:t>
            </a:r>
          </a:p>
          <a:p xmlns:a="http://schemas.openxmlformats.org/drawingml/2006/main">
            <a:r>
              <a:t>          "output": "법률 질문"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"법령·판례 지식",</a:t>
            </a:r>
          </a:p>
          <a:p xmlns:a="http://schemas.openxmlformats.org/drawingml/2006/main">
            <a:r>
              <a:t>          "processing": "공식 법령·판례·문서의 기준일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"법률 질문",</a:t>
            </a:r>
          </a:p>
          <a:p xmlns:a="http://schemas.openxmlformats.org/drawingml/2006/main">
            <a:r>
              <a:t>          "processing": "공통 AI 호출과 법령·판례 검색 연결",</a:t>
            </a:r>
          </a:p>
          <a:p xmlns:a="http://schemas.openxmlformats.org/drawingml/2006/main">
            <a:r>
              <a:t>          "output": "업무 답변"</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"업무 답변",</a:t>
            </a:r>
          </a:p>
          <a:p xmlns:a="http://schemas.openxmlformats.org/drawingml/2006/main">
            <a:r>
              <a:t>          "processing": "근거 답변을 법제 검토자에게 제공",</a:t>
            </a:r>
          </a:p>
          <a:p xmlns:a="http://schemas.openxmlformats.org/drawingml/2006/main">
            <a:r>
              <a:t>          "output": "직원 확인"</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"시범 질의의 정답·근거·사용성 평가",</a:t>
            </a:r>
          </a:p>
          <a:p xmlns:a="http://schemas.openxmlformats.org/drawingml/2006/main">
            <a:r>
              <a:t>          "output": "조문·시점·소관 정답셋과 검토자 판정"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"시범 질의의 정답·근거·사용성 평가",</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"공식 시범 개시 발표",</a:t>
            </a:r>
          </a:p>
          <a:p xmlns:a="http://schemas.openxmlformats.org/drawingml/2006/main">
            <a:r>
              <a:t>        "url": "https://www.mois.go.kr/frt/bbs/type010/commonSelectBoardArticle.do?bbsId=BBSMSTR_000000000008&amp;nttId=127770"</a:t>
            </a:r>
          </a:p>
          <a:p xmlns:a="http://schemas.openxmlformats.org/drawingml/2006/main">
            <a:r>
              <a:t>      }</a:t>
            </a:r>
          </a:p>
          <a:p xmlns:a="http://schemas.openxmlformats.org/drawingml/2006/main">
            <a:r>
              <a:t>    ],</a:t>
            </a:r>
          </a:p>
          <a:p xmlns:a="http://schemas.openxmlformats.org/drawingml/2006/main">
            <a:r>
              <a:t>    "implication": "공통 AI 접속환경을 재사용하고 직무별 법령·업무 앱을 별도 구성",</a:t>
            </a:r>
          </a:p>
          <a:p xmlns:a="http://schemas.openxmlformats.org/drawingml/2006/main">
            <a:r>
              <a:t>    "local": "공통 AI 접속환경을 재사용하고 직무별 법령·업무 앱을 별도 구성",</a:t>
            </a:r>
          </a:p>
          <a:p xmlns:a="http://schemas.openxmlformats.org/drawingml/2006/main">
            <a:r>
              <a:t>    "sourceDetail": null,</a:t>
            </a:r>
          </a:p>
          <a:p xmlns:a="http://schemas.openxmlformats.org/drawingml/2006/main">
            <a:r>
              <a:t>    "narrative": [</a:t>
            </a:r>
          </a:p>
          <a:p xmlns:a="http://schemas.openxmlformats.org/drawingml/2006/main">
            <a:r>
              <a:t>      "범정부 AI 공통기반과 법령비서의 시범 서비스 사례. 공통 AI 이용 환경에 법령·판례 자료를 결합해 직원의 규정 탐색과 근거 확인을 지원하는 구조.",</a:t>
            </a:r>
          </a:p>
          <a:p xmlns:a="http://schemas.openxmlformats.org/drawingml/2006/main">
            <a:r>
              <a:t>      "공개된 서비스 범위에 따라 로그인·질의 문맥·법령 검색·근거 응답·사용자 검토로 재구성. 적용 시점과 법령·판례의 관계를 검색 메타데이터로 유지하고 생성 답변에서 해당 원문으로 돌아가는 확인 경로의 구성.",</a:t>
            </a:r>
          </a:p>
          <a:p xmlns:a="http://schemas.openxmlformats.org/drawingml/2006/main">
            <a:r>
              <a:t>      "TS에서는 법령 지식의 공통 이용과 부서별 업무 책임의 연결을 구분해 추가 개발할 필요. 같은 질문의 담당 직무·시행일별 적용 기준, 폐지·개정 조문 혼용, 근거 없는 단정 응답을 검수 대상으로 설정."</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"정부 직원 접점",</a:t>
            </a:r>
          </a:p>
          <a:p xmlns:a="http://schemas.openxmlformats.org/drawingml/2006/main">
            <a:r>
              <a:t>          "layer": "이용 접점",</a:t>
            </a:r>
          </a:p>
          <a:p xmlns:a="http://schemas.openxmlformats.org/drawingml/2006/main">
            <a:r>
              <a:t>          "detail": "정부 직원·법제 검토 담당",</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"질의·적용시점",</a:t>
            </a:r>
          </a:p>
          <a:p xmlns:a="http://schemas.openxmlformats.org/drawingml/2006/main">
            <a:r>
              <a:t>          "layer": "업무 문맥",</a:t>
            </a:r>
          </a:p>
          <a:p xmlns:a="http://schemas.openxmlformats.org/drawingml/2006/main">
            <a:r>
              <a:t>          "detail": "계정·업무 질의·적용 시점 구성",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"법령·판례 검색",</a:t>
            </a:r>
          </a:p>
          <a:p xmlns:a="http://schemas.openxmlformats.org/drawingml/2006/main">
            <a:r>
              <a:t>          "layer": "자료 조회",</a:t>
            </a:r>
          </a:p>
          <a:p xmlns:a="http://schemas.openxmlformats.org/drawingml/2006/main">
            <a:r>
              <a:t>          "detail": "법률 질문",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"공통 AI·법령비서",</a:t>
            </a:r>
          </a:p>
          <a:p xmlns:a="http://schemas.openxmlformats.org/drawingml/2006/main">
            <a:r>
              <a:t>          "layer": "핵심 처리",</a:t>
            </a:r>
          </a:p>
          <a:p xmlns:a="http://schemas.openxmlformats.org/drawingml/2006/main">
            <a:r>
              <a:t>          "detail": "공통 AI 호출과 법령·판례 검색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"조문·시점 대조",</a:t>
            </a:r>
          </a:p>
          <a:p xmlns:a="http://schemas.openxmlformats.org/drawingml/2006/main">
            <a:r>
              <a:t>          "layer": "결과 검증",</a:t>
            </a:r>
          </a:p>
          <a:p xmlns:a="http://schemas.openxmlformats.org/drawingml/2006/main">
            <a:r>
              <a:t>          "detail": "적용 시점·소관·근거 일치",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"법제 담당 검토",</a:t>
            </a:r>
          </a:p>
          <a:p xmlns:a="http://schemas.openxmlformats.org/drawingml/2006/main">
            <a:r>
              <a:t>          "layer": "사람 확인",</a:t>
            </a:r>
          </a:p>
          <a:p xmlns:a="http://schemas.openxmlformats.org/drawingml/2006/main">
            <a:r>
              <a:t>          "detail": "적용 업무와 시점에 맞는 법령·판례 근거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"업무 문서 참고",</a:t>
            </a:r>
          </a:p>
          <a:p xmlns:a="http://schemas.openxmlformats.org/drawingml/2006/main">
            <a:r>
              <a:t>          "layer": "업무 연결",</a:t>
            </a:r>
          </a:p>
          <a:p xmlns:a="http://schemas.openxmlformats.org/drawingml/2006/main">
            <a:r>
              <a:t>          "detail": "근거 답변을 법제 검토자에게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"시범 질의 평가",</a:t>
            </a:r>
          </a:p>
          <a:p xmlns:a="http://schemas.openxmlformats.org/drawingml/2006/main">
            <a:r>
              <a:t>          "layer": "운영 관측",</a:t>
            </a:r>
          </a:p>
          <a:p xmlns:a="http://schemas.openxmlformats.org/drawingml/2006/main">
            <a:r>
              <a:t>          "detail": "시범 질의의 정답·근거·사용성 평가",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"공식 법령·문서",</a:t>
            </a:r>
          </a:p>
          <a:p xmlns:a="http://schemas.openxmlformats.org/drawingml/2006/main">
            <a:r>
              <a:t>          "layer": "데이터 원천",</a:t>
            </a:r>
          </a:p>
          <a:p xmlns:a="http://schemas.openxmlformats.org/drawingml/2006/main">
            <a:r>
              <a:t>          "detail": "법령·판례 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"기준일·근거 정리",</a:t>
            </a:r>
          </a:p>
          <a:p xmlns:a="http://schemas.openxmlformats.org/drawingml/2006/main">
            <a:r>
              <a:t>          "layer": "준비·갱신",</a:t>
            </a:r>
          </a:p>
          <a:p xmlns:a="http://schemas.openxmlformats.org/drawingml/2006/main">
            <a:r>
              <a:t>          "detail": "공식 법령·판례·문서의 기준일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"지식·평가 자료",</a:t>
            </a:r>
          </a:p>
          <a:p xmlns:a="http://schemas.openxmlformats.org/drawingml/2006/main">
            <a:r>
              <a:t>          "layer": "상태·지식 저장",</a:t>
            </a:r>
          </a:p>
          <a:p xmlns:a="http://schemas.openxmlformats.org/drawingml/2006/main">
            <a:r>
              <a:t>          "detail": "조문·시점·소관 정답셋과 검토자 판정",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"기관·업무 경계",</a:t>
            </a:r>
          </a:p>
          <a:p xmlns:a="http://schemas.openxmlformats.org/drawingml/2006/main">
            <a:r>
              <a:t>          "layer": "권한·정책",</a:t>
            </a:r>
          </a:p>
          <a:p xmlns:a="http://schemas.openxmlformats.org/drawingml/2006/main">
            <a:r>
              <a:t>          "detail": "폐지 조문·유사 명칭 법률·소관 차이",</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"계정·업무 질의·적용 시점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"법률 질문",</a:t>
            </a:r>
          </a:p>
          <a:p xmlns:a="http://schemas.openxmlformats.org/drawingml/2006/main">
            <a:r>
              <a:t>          "check": "적용 시점·소관·근거 일치"</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"관련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"업무 답변",</a:t>
            </a:r>
          </a:p>
          <a:p xmlns:a="http://schemas.openxmlformats.org/drawingml/2006/main">
            <a:r>
              <a:t>          "check": "폐지 조문·유사 명칭 법률·소관 차이"</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"업무 답변",</a:t>
            </a:r>
          </a:p>
          <a:p xmlns:a="http://schemas.openxmlformats.org/drawingml/2006/main">
            <a:r>
              <a:t>          "check": "근거 답변을 법제 검토자에게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"직원 확인",</a:t>
            </a:r>
          </a:p>
          <a:p xmlns:a="http://schemas.openxmlformats.org/drawingml/2006/main">
            <a:r>
              <a:t>          "check": "조문·시점·소관 정답셋과 검토자 판정"</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"정부 공통 AI 이용환경의 법령 업무 확장 / 공통 모델·법령비서·근거 검색",</a:t>
            </a:r>
          </a:p>
          <a:p xmlns:a="http://schemas.openxmlformats.org/drawingml/2006/main">
            <a:r>
              <a:t>        "extension": "공통 AI 접속환경을 재사용하고 직무별 법령·업무 앱을 별도 구성"</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"폐지 조문·유사 명칭 법률·소관 차이",</a:t>
            </a:r>
          </a:p>
          <a:p xmlns:a="http://schemas.openxmlformats.org/drawingml/2006/main">
            <a:r>
              <a:t>        "hold": "적용 시점·소관·근거 일치",</a:t>
            </a:r>
          </a:p>
          <a:p xmlns:a="http://schemas.openxmlformats.org/drawingml/2006/main">
            <a:r>
              <a:t>        "recovery": "시범 질의의 정답·근거·사용성 평가",</a:t>
            </a:r>
          </a:p>
          <a:p xmlns:a="http://schemas.openxmlformats.org/drawingml/2006/main">
            <a:r>
              <a:t>        "evidence": "조문·시점·소관 정답셋과 검토자 판정"</a:t>
            </a:r>
          </a:p>
          <a:p xmlns:a="http://schemas.openxmlformats.org/drawingml/2006/main">
            <a:r>
              <a:t>      },</a:t>
            </a:r>
          </a:p>
          <a:p xmlns:a="http://schemas.openxmlformats.org/drawingml/2006/main">
            <a:r>
              <a:t>      "data": {</a:t>
            </a:r>
          </a:p>
          <a:p xmlns:a="http://schemas.openxmlformats.org/drawingml/2006/main">
            <a:r>
              <a:t>        "source": "법령·판례 지식",</a:t>
            </a:r>
          </a:p>
          <a:p xmlns:a="http://schemas.openxmlformats.org/drawingml/2006/main">
            <a:r>
              <a:t>        "prepare": "공식 법령·판례·문서의 기준일 관리",</a:t>
            </a:r>
          </a:p>
          <a:p xmlns:a="http://schemas.openxmlformats.org/drawingml/2006/main">
            <a:r>
              <a:t>        "output": "법률 질문",</a:t>
            </a:r>
          </a:p>
          <a:p xmlns:a="http://schemas.openxmlformats.org/drawingml/2006/main">
            <a:r>
              <a:t>        "refresh": "시범 질의의 정답·근거·사용성 평가"</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"PF01",</a:t>
            </a:r>
          </a:p>
          <a:p xmlns:a="http://schemas.openxmlformats.org/drawingml/2006/main">
            <a:r>
              <a:t>    "success": [</a:t>
            </a:r>
          </a:p>
          <a:p xmlns:a="http://schemas.openxmlformats.org/drawingml/2006/main">
            <a:r>
              <a:t>      "공통 이용환경의 공동 활용",</a:t>
            </a:r>
          </a:p>
          <a:p xmlns:a="http://schemas.openxmlformats.org/drawingml/2006/main">
            <a:r>
              <a:t>      "법령비서 등 업무 앱 결합"</a:t>
            </a:r>
          </a:p>
          <a:p xmlns:a="http://schemas.openxmlformats.org/drawingml/2006/main">
            <a:r>
              <a:t>    ],</a:t>
            </a:r>
          </a:p>
          <a:p xmlns:a="http://schemas.openxmlformats.org/drawingml/2006/main">
            <a:r>
              <a:t>    "risks": [</a:t>
            </a:r>
          </a:p>
          <a:p xmlns:a="http://schemas.openxmlformats.org/drawingml/2006/main">
            <a:r>
              <a:t>      "범용 답변과 적용 조문 판단의 차이",</a:t>
            </a:r>
          </a:p>
          <a:p xmlns:a="http://schemas.openxmlformats.org/drawingml/2006/main">
            <a:r>
              <a:t>      "시범 서비스의 성과 일반화"</a:t>
            </a:r>
          </a:p>
          <a:p xmlns:a="http://schemas.openxmlformats.org/drawingml/2006/main">
            <a:r>
              <a:t>    ],</a:t>
            </a:r>
          </a:p>
          <a:p xmlns:a="http://schemas.openxmlformats.org/drawingml/2006/main">
            <a:r>
              <a:t>    "architecture": [</a:t>
            </a:r>
          </a:p>
          <a:p xmlns:a="http://schemas.openxmlformats.org/drawingml/2006/main">
            <a:r>
              <a:t>      "정부 직원",</a:t>
            </a:r>
          </a:p>
          <a:p xmlns:a="http://schemas.openxmlformats.org/drawingml/2006/main">
            <a:r>
              <a:t>      "공통 AI·법령비서",</a:t>
            </a:r>
          </a:p>
          <a:p xmlns:a="http://schemas.openxmlformats.org/drawingml/2006/main">
            <a:r>
              <a:t>      "법령·판례 지식",</a:t>
            </a:r>
          </a:p>
          <a:p xmlns:a="http://schemas.openxmlformats.org/drawingml/2006/main">
            <a:r>
              <a:t>      "법제 검토자"</a:t>
            </a:r>
          </a:p>
          <a:p xmlns:a="http://schemas.openxmlformats.org/drawingml/2006/main">
            <a:r>
              <a:t>    ],</a:t>
            </a:r>
          </a:p>
          <a:p xmlns:a="http://schemas.openxmlformats.org/drawingml/2006/main">
            <a:r>
              <a:t>    "transfers": [</a:t>
            </a:r>
          </a:p>
          <a:p xmlns:a="http://schemas.openxmlformats.org/drawingml/2006/main">
            <a:r>
              <a:t>      "법률 질문",</a:t>
            </a:r>
          </a:p>
          <a:p xmlns:a="http://schemas.openxmlformats.org/drawingml/2006/main">
            <a:r>
              <a:t>      "관련 근거",</a:t>
            </a:r>
          </a:p>
          <a:p xmlns:a="http://schemas.openxmlformats.org/drawingml/2006/main">
            <a:r>
              <a:t>      "업무 답변",</a:t>
            </a:r>
          </a:p>
          <a:p xmlns:a="http://schemas.openxmlformats.org/drawingml/2006/main">
            <a:r>
              <a:t>      "직원 확인"</a:t>
            </a:r>
          </a:p>
          <a:p xmlns:a="http://schemas.openxmlformats.org/drawingml/2006/main">
            <a:r>
              <a:t>    ],</a:t>
            </a:r>
          </a:p>
          <a:p xmlns:a="http://schemas.openxmlformats.org/drawingml/2006/main">
            <a:r>
              <a:t>    "control": "적용 시점·소관·근거 일치",</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공식 시범 개시 발표 https://www.mois.go.kr/frt/bbs/type010/commonSelectBoardArticle.do?bbsId=BBSMSTR_000000000008&amp;nttId=127770</a:t>
            </a:r>
          </a:p>
          <a:p xmlns:a="http://schemas.openxmlformats.org/drawingml/2006/main">
            <a:r>
              <a:t>홈페이지 https://heen1987-ops.github.io/TS-business-Plan-001/index.html?view=platform-cases&amp;case=PF01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"PF01",</a:t>
            </a:r>
          </a:p>
          <a:p xmlns:a="http://schemas.openxmlformats.org/drawingml/2006/main">
            <a:r>
              <a:t>    "sourceId": "A01",</a:t>
            </a:r>
          </a:p>
          <a:p xmlns:a="http://schemas.openxmlformats.org/drawingml/2006/main">
            <a:r>
              <a:t>    "title": "범정부 AI 공통기반·법령비서",</a:t>
            </a:r>
          </a:p>
          <a:p xmlns:a="http://schemas.openxmlformats.org/drawingml/2006/main">
            <a:r>
              <a:t>    "region": "국내",</a:t>
            </a:r>
          </a:p>
          <a:p xmlns:a="http://schemas.openxmlformats.org/drawingml/2006/main">
            <a:r>
              <a:t>    "owner": "행정안전부·법제처·과기정통부",</a:t>
            </a:r>
          </a:p>
          <a:p xmlns:a="http://schemas.openxmlformats.org/drawingml/2006/main">
            <a:r>
              <a:t>    "state": "공통기반 운영 / 업무 앱 시범",</a:t>
            </a:r>
          </a:p>
          <a:p xmlns:a="http://schemas.openxmlformats.org/drawingml/2006/main">
            <a:r>
              <a:t>    "period": "2025–2026",</a:t>
            </a:r>
          </a:p>
          <a:p xmlns:a="http://schemas.openxmlformats.org/drawingml/2006/main">
            <a:r>
              <a:t>    "fact": "공통 AI 이용환경에 법령·판례 지식을 결합한 법령비서 시범 서비스",</a:t>
            </a:r>
          </a:p>
          <a:p xmlns:a="http://schemas.openxmlformats.org/drawingml/2006/main">
            <a:r>
              <a:t>    "limit": "시범 개시와 범정부 확산 계획의 구분 · 업무시간 절감 실측 별도",</a:t>
            </a:r>
          </a:p>
          <a:p xmlns:a="http://schemas.openxmlformats.org/drawingml/2006/main">
            <a:r>
              <a:t>    "nodes": [</a:t>
            </a:r>
          </a:p>
          <a:p xmlns:a="http://schemas.openxmlformats.org/drawingml/2006/main">
            <a:r>
              <a:t>      "정부 공통 이용환경",</a:t>
            </a:r>
          </a:p>
          <a:p xmlns:a="http://schemas.openxmlformats.org/drawingml/2006/main">
            <a:r>
              <a:t>      "공통 모델·검색",</a:t>
            </a:r>
          </a:p>
          <a:p xmlns:a="http://schemas.openxmlformats.org/drawingml/2006/main">
            <a:r>
              <a:t>      "법령·판례 지식",</a:t>
            </a:r>
          </a:p>
          <a:p xmlns:a="http://schemas.openxmlformats.org/drawingml/2006/main">
            <a:r>
              <a:t>      "법령비서·직원 검토"</a:t>
            </a:r>
          </a:p>
          <a:p xmlns:a="http://schemas.openxmlformats.org/drawingml/2006/main">
            <a:r>
              <a:t>    ],</a:t>
            </a:r>
          </a:p>
          <a:p xmlns:a="http://schemas.openxmlformats.org/drawingml/2006/main">
            <a:r>
              <a:t>    "apply": "공통 AI 접속환경을 재사용하고 직무별 법령·업무 앱을 별도 구성",</a:t>
            </a:r>
          </a:p>
          <a:p xmlns:a="http://schemas.openxmlformats.org/drawingml/2006/main">
            <a:r>
              <a:t>    "delta": "소관·직무·규정 판본 연결 및 부서별 정답셋",</a:t>
            </a:r>
          </a:p>
          <a:p xmlns:a="http://schemas.openxmlformats.org/drawingml/2006/main">
            <a:r>
              <a:t>    "test": "동일 규정 질의의 판본·출처·소관 일치 검증",</a:t>
            </a:r>
          </a:p>
          <a:p xmlns:a="http://schemas.openxmlformats.org/drawingml/2006/main">
            <a:r>
              <a:t>    "url": "https://www.mois.go.kr/frt/bbs/type010/commonSelectBoardArticle.do?bbsId=BBSMSTR_000000000008&amp;nttId=127770",</a:t>
            </a:r>
          </a:p>
          <a:p xmlns:a="http://schemas.openxmlformats.org/drawingml/2006/main">
            <a:r>
              <a:t>    "basis": "공식 시범 개시 발표",</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"https://www.mois.go.kr/frt/bbs/type010/commonSelectBoardArticle.do?bbsId=BBSMSTR_000000000008&amp;nttId=127770",</a:t>
            </a:r>
          </a:p>
          <a:p xmlns:a="http://schemas.openxmlformats.org/drawingml/2006/main">
            <a:r>
              <a:t>      "https://mois.go.kr/frt/bbs/type002/commonSelectBoardArticle.do?bbsId=BBSMSTR_000000000010&amp;nttId=121989"</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"PF01",</a:t>
            </a:r>
          </a:p>
          <a:p xmlns:a="http://schemas.openxmlformats.org/drawingml/2006/main">
            <a:r>
              <a:t>    "canonicalId": "PF01",</a:t>
            </a:r>
          </a:p>
          <a:p xmlns:a="http://schemas.openxmlformats.org/drawingml/2006/main">
            <a:r>
              <a:t>    "purpose": "정부 공통 AI 이용환경의 법령 업무 확장",</a:t>
            </a:r>
          </a:p>
          <a:p xmlns:a="http://schemas.openxmlformats.org/drawingml/2006/main">
            <a:r>
              <a:t>    "users": "정부 직원·법제 검토 담당",</a:t>
            </a:r>
          </a:p>
          <a:p xmlns:a="http://schemas.openxmlformats.org/drawingml/2006/main">
            <a:r>
              <a:t>    "scope": [</a:t>
            </a:r>
          </a:p>
          <a:p xmlns:a="http://schemas.openxmlformats.org/drawingml/2006/main">
            <a:r>
              <a:t>      "공통 모델",</a:t>
            </a:r>
          </a:p>
          <a:p xmlns:a="http://schemas.openxmlformats.org/drawingml/2006/main">
            <a:r>
              <a:t>      "법령비서",</a:t>
            </a:r>
          </a:p>
          <a:p xmlns:a="http://schemas.openxmlformats.org/drawingml/2006/main">
            <a:r>
              <a:t>      "근거 검색"</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"정부 직원",</a:t>
            </a:r>
          </a:p>
          <a:p xmlns:a="http://schemas.openxmlformats.org/drawingml/2006/main">
            <a:r>
              <a:t>        "detail": "계정·업무 질의·적용 시점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"공통 모델 / 법령비서 / 근거 검색",</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"공통 AI·법령비서",</a:t>
            </a:r>
          </a:p>
          <a:p xmlns:a="http://schemas.openxmlformats.org/drawingml/2006/main">
            <a:r>
              <a:t>        "detail": "공통 AI 호출과 법령·판례 검색 연결",</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"법제 검토자",</a:t>
            </a:r>
          </a:p>
          <a:p xmlns:a="http://schemas.openxmlformats.org/drawingml/2006/main">
            <a:r>
              <a:t>        "detail": "근거 답변을 법제 검토자에게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"법령·판례 지식",</a:t>
            </a:r>
          </a:p>
          <a:p xmlns:a="http://schemas.openxmlformats.org/drawingml/2006/main">
            <a:r>
              <a:t>        "detail": "공식 법령·판례·문서의 기준일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"시범 질의의 정답·근거·사용성 평가",</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"정부 공통 이용환경",</a:t>
            </a:r>
          </a:p>
          <a:p xmlns:a="http://schemas.openxmlformats.org/drawingml/2006/main">
            <a:r>
              <a:t>        "input": "계정·업무 질의·적용 시점 구성",</a:t>
            </a:r>
          </a:p>
          <a:p xmlns:a="http://schemas.openxmlformats.org/drawingml/2006/main">
            <a:r>
              <a:t>        "process": "공식 법령·판례·문서의 기준일 관리",</a:t>
            </a:r>
          </a:p>
          <a:p xmlns:a="http://schemas.openxmlformats.org/drawingml/2006/main">
            <a:r>
              <a:t>        "output": "법률 질문"</a:t>
            </a:r>
          </a:p>
          <a:p xmlns:a="http://schemas.openxmlformats.org/drawingml/2006/main">
            <a:r>
              <a:t>      },</a:t>
            </a:r>
          </a:p>
          <a:p xmlns:a="http://schemas.openxmlformats.org/drawingml/2006/main">
            <a:r>
              <a:t>      {</a:t>
            </a:r>
          </a:p>
          <a:p xmlns:a="http://schemas.openxmlformats.org/drawingml/2006/main">
            <a:r>
              <a:t>        "title": "공통 모델·검색",</a:t>
            </a:r>
          </a:p>
          <a:p xmlns:a="http://schemas.openxmlformats.org/drawingml/2006/main">
            <a:r>
              <a:t>        "input": "법률 질문",</a:t>
            </a:r>
          </a:p>
          <a:p xmlns:a="http://schemas.openxmlformats.org/drawingml/2006/main">
            <a:r>
              <a:t>        "process": "공통 AI 호출과 법령·판례 검색 연결",</a:t>
            </a:r>
          </a:p>
          <a:p xmlns:a="http://schemas.openxmlformats.org/drawingml/2006/main">
            <a:r>
              <a:t>        "output": "관련 근거"</a:t>
            </a:r>
          </a:p>
          <a:p xmlns:a="http://schemas.openxmlformats.org/drawingml/2006/main">
            <a:r>
              <a:t>      },</a:t>
            </a:r>
          </a:p>
          <a:p xmlns:a="http://schemas.openxmlformats.org/drawingml/2006/main">
            <a:r>
              <a:t>      {</a:t>
            </a:r>
          </a:p>
          <a:p xmlns:a="http://schemas.openxmlformats.org/drawingml/2006/main">
            <a:r>
              <a:t>        "title": "법령·판례 지식",</a:t>
            </a:r>
          </a:p>
          <a:p xmlns:a="http://schemas.openxmlformats.org/drawingml/2006/main">
            <a:r>
              <a:t>        "input": "관련 근거",</a:t>
            </a:r>
          </a:p>
          <a:p xmlns:a="http://schemas.openxmlformats.org/drawingml/2006/main">
            <a:r>
              <a:t>        "process": "적용 시점·소관·근거 일치",</a:t>
            </a:r>
          </a:p>
          <a:p xmlns:a="http://schemas.openxmlformats.org/drawingml/2006/main">
            <a:r>
              <a:t>        "output": "업무 답변"</a:t>
            </a:r>
          </a:p>
          <a:p xmlns:a="http://schemas.openxmlformats.org/drawingml/2006/main">
            <a:r>
              <a:t>      },</a:t>
            </a:r>
          </a:p>
          <a:p xmlns:a="http://schemas.openxmlformats.org/drawingml/2006/main">
            <a:r>
              <a:t>      {</a:t>
            </a:r>
          </a:p>
          <a:p xmlns:a="http://schemas.openxmlformats.org/drawingml/2006/main">
            <a:r>
              <a:t>        "title": "법령비서·직원 검토",</a:t>
            </a:r>
          </a:p>
          <a:p xmlns:a="http://schemas.openxmlformats.org/drawingml/2006/main">
            <a:r>
              <a:t>        "input": "업무 답변",</a:t>
            </a:r>
          </a:p>
          <a:p xmlns:a="http://schemas.openxmlformats.org/drawingml/2006/main">
            <a:r>
              <a:t>        "process": "근거 답변을 법제 검토자에게 제공",</a:t>
            </a:r>
          </a:p>
          <a:p xmlns:a="http://schemas.openxmlformats.org/drawingml/2006/main">
            <a:r>
              <a:t>        "output": "직원 확인"</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"적용 업무와 시점에 맞는 법령·판례 근거 검토",</a:t>
            </a:r>
          </a:p>
          <a:p xmlns:a="http://schemas.openxmlformats.org/drawingml/2006/main">
            <a:r>
              <a:t>      "exception": "폐지 조문·유사 명칭 법률·소관 차이",</a:t>
            </a:r>
          </a:p>
          <a:p xmlns:a="http://schemas.openxmlformats.org/drawingml/2006/main">
            <a:r>
              <a:t>      "evidence": "조문·시점·소관 정답셋과 검토자 판정",</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"정부 직원·법제 검토 담당",</a:t>
            </a:r>
          </a:p>
          <a:p xmlns:a="http://schemas.openxmlformats.org/drawingml/2006/main">
            <a:r>
              <a:t>          "processing": "계정·업무 질의·적용 시점 구성",</a:t>
            </a:r>
          </a:p>
          <a:p xmlns:a="http://schemas.openxmlformats.org/drawingml/2006/main">
            <a:r>
              <a:t>          "output": "법률 질문"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"법령·판례 지식",</a:t>
            </a:r>
          </a:p>
          <a:p xmlns:a="http://schemas.openxmlformats.org/drawingml/2006/main">
            <a:r>
              <a:t>          "processing": "공식 법령·판례·문서의 기준일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"법률 질문",</a:t>
            </a:r>
          </a:p>
          <a:p xmlns:a="http://schemas.openxmlformats.org/drawingml/2006/main">
            <a:r>
              <a:t>          "processing": "공통 AI 호출과 법령·판례 검색 연결",</a:t>
            </a:r>
          </a:p>
          <a:p xmlns:a="http://schemas.openxmlformats.org/drawingml/2006/main">
            <a:r>
              <a:t>          "output": "업무 답변"</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"업무 답변",</a:t>
            </a:r>
          </a:p>
          <a:p xmlns:a="http://schemas.openxmlformats.org/drawingml/2006/main">
            <a:r>
              <a:t>          "processing": "근거 답변을 법제 검토자에게 제공",</a:t>
            </a:r>
          </a:p>
          <a:p xmlns:a="http://schemas.openxmlformats.org/drawingml/2006/main">
            <a:r>
              <a:t>          "output": "직원 확인"</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"시범 질의의 정답·근거·사용성 평가",</a:t>
            </a:r>
          </a:p>
          <a:p xmlns:a="http://schemas.openxmlformats.org/drawingml/2006/main">
            <a:r>
              <a:t>          "output": "조문·시점·소관 정답셋과 검토자 판정"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"시범 질의의 정답·근거·사용성 평가",</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"공식 시범 개시 발표",</a:t>
            </a:r>
          </a:p>
          <a:p xmlns:a="http://schemas.openxmlformats.org/drawingml/2006/main">
            <a:r>
              <a:t>        "url": "https://www.mois.go.kr/frt/bbs/type010/commonSelectBoardArticle.do?bbsId=BBSMSTR_000000000008&amp;nttId=127770"</a:t>
            </a:r>
          </a:p>
          <a:p xmlns:a="http://schemas.openxmlformats.org/drawingml/2006/main">
            <a:r>
              <a:t>      }</a:t>
            </a:r>
          </a:p>
          <a:p xmlns:a="http://schemas.openxmlformats.org/drawingml/2006/main">
            <a:r>
              <a:t>    ],</a:t>
            </a:r>
          </a:p>
          <a:p xmlns:a="http://schemas.openxmlformats.org/drawingml/2006/main">
            <a:r>
              <a:t>    "implication": "공통 AI 접속환경을 재사용하고 직무별 법령·업무 앱을 별도 구성",</a:t>
            </a:r>
          </a:p>
          <a:p xmlns:a="http://schemas.openxmlformats.org/drawingml/2006/main">
            <a:r>
              <a:t>    "local": "공통 AI 접속환경을 재사용하고 직무별 법령·업무 앱을 별도 구성",</a:t>
            </a:r>
          </a:p>
          <a:p xmlns:a="http://schemas.openxmlformats.org/drawingml/2006/main">
            <a:r>
              <a:t>    "sourceDetail": null,</a:t>
            </a:r>
          </a:p>
          <a:p xmlns:a="http://schemas.openxmlformats.org/drawingml/2006/main">
            <a:r>
              <a:t>    "narrative": [</a:t>
            </a:r>
          </a:p>
          <a:p xmlns:a="http://schemas.openxmlformats.org/drawingml/2006/main">
            <a:r>
              <a:t>      "범정부 AI 공통기반과 법령비서의 시범 서비스 사례. 공통 AI 이용 환경에 법령·판례 자료를 결합해 직원의 규정 탐색과 근거 확인을 지원하는 구조.",</a:t>
            </a:r>
          </a:p>
          <a:p xmlns:a="http://schemas.openxmlformats.org/drawingml/2006/main">
            <a:r>
              <a:t>      "공개된 서비스 범위에 따라 로그인·질의 문맥·법령 검색·근거 응답·사용자 검토로 재구성. 적용 시점과 법령·판례의 관계를 검색 메타데이터로 유지하고 생성 답변에서 해당 원문으로 돌아가는 확인 경로의 구성.",</a:t>
            </a:r>
          </a:p>
          <a:p xmlns:a="http://schemas.openxmlformats.org/drawingml/2006/main">
            <a:r>
              <a:t>      "TS에서는 법령 지식의 공통 이용과 부서별 업무 책임의 연결을 구분해 추가 개발할 필요. 같은 질문의 담당 직무·시행일별 적용 기준, 폐지·개정 조문 혼용, 근거 없는 단정 응답을 검수 대상으로 설정."</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"정부 직원 접점",</a:t>
            </a:r>
          </a:p>
          <a:p xmlns:a="http://schemas.openxmlformats.org/drawingml/2006/main">
            <a:r>
              <a:t>          "layer": "이용 접점",</a:t>
            </a:r>
          </a:p>
          <a:p xmlns:a="http://schemas.openxmlformats.org/drawingml/2006/main">
            <a:r>
              <a:t>          "detail": "정부 직원·법제 검토 담당",</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"질의·적용시점",</a:t>
            </a:r>
          </a:p>
          <a:p xmlns:a="http://schemas.openxmlformats.org/drawingml/2006/main">
            <a:r>
              <a:t>          "layer": "업무 문맥",</a:t>
            </a:r>
          </a:p>
          <a:p xmlns:a="http://schemas.openxmlformats.org/drawingml/2006/main">
            <a:r>
              <a:t>          "detail": "계정·업무 질의·적용 시점 구성",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"법령·판례 검색",</a:t>
            </a:r>
          </a:p>
          <a:p xmlns:a="http://schemas.openxmlformats.org/drawingml/2006/main">
            <a:r>
              <a:t>          "layer": "자료 조회",</a:t>
            </a:r>
          </a:p>
          <a:p xmlns:a="http://schemas.openxmlformats.org/drawingml/2006/main">
            <a:r>
              <a:t>          "detail": "법률 질문",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"공통 AI·법령비서",</a:t>
            </a:r>
          </a:p>
          <a:p xmlns:a="http://schemas.openxmlformats.org/drawingml/2006/main">
            <a:r>
              <a:t>          "layer": "핵심 처리",</a:t>
            </a:r>
          </a:p>
          <a:p xmlns:a="http://schemas.openxmlformats.org/drawingml/2006/main">
            <a:r>
              <a:t>          "detail": "공통 AI 호출과 법령·판례 검색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"조문·시점 대조",</a:t>
            </a:r>
          </a:p>
          <a:p xmlns:a="http://schemas.openxmlformats.org/drawingml/2006/main">
            <a:r>
              <a:t>          "layer": "결과 검증",</a:t>
            </a:r>
          </a:p>
          <a:p xmlns:a="http://schemas.openxmlformats.org/drawingml/2006/main">
            <a:r>
              <a:t>          "detail": "적용 시점·소관·근거 일치",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"법제 담당 검토",</a:t>
            </a:r>
          </a:p>
          <a:p xmlns:a="http://schemas.openxmlformats.org/drawingml/2006/main">
            <a:r>
              <a:t>          "layer": "사람 확인",</a:t>
            </a:r>
          </a:p>
          <a:p xmlns:a="http://schemas.openxmlformats.org/drawingml/2006/main">
            <a:r>
              <a:t>          "detail": "적용 업무와 시점에 맞는 법령·판례 근거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"업무 문서 참고",</a:t>
            </a:r>
          </a:p>
          <a:p xmlns:a="http://schemas.openxmlformats.org/drawingml/2006/main">
            <a:r>
              <a:t>          "layer": "업무 연결",</a:t>
            </a:r>
          </a:p>
          <a:p xmlns:a="http://schemas.openxmlformats.org/drawingml/2006/main">
            <a:r>
              <a:t>          "detail": "근거 답변을 법제 검토자에게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"시범 질의 평가",</a:t>
            </a:r>
          </a:p>
          <a:p xmlns:a="http://schemas.openxmlformats.org/drawingml/2006/main">
            <a:r>
              <a:t>          "layer": "운영 관측",</a:t>
            </a:r>
          </a:p>
          <a:p xmlns:a="http://schemas.openxmlformats.org/drawingml/2006/main">
            <a:r>
              <a:t>          "detail": "시범 질의의 정답·근거·사용성 평가",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"공식 법령·문서",</a:t>
            </a:r>
          </a:p>
          <a:p xmlns:a="http://schemas.openxmlformats.org/drawingml/2006/main">
            <a:r>
              <a:t>          "layer": "데이터 원천",</a:t>
            </a:r>
          </a:p>
          <a:p xmlns:a="http://schemas.openxmlformats.org/drawingml/2006/main">
            <a:r>
              <a:t>          "detail": "법령·판례 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"기준일·근거 정리",</a:t>
            </a:r>
          </a:p>
          <a:p xmlns:a="http://schemas.openxmlformats.org/drawingml/2006/main">
            <a:r>
              <a:t>          "layer": "준비·갱신",</a:t>
            </a:r>
          </a:p>
          <a:p xmlns:a="http://schemas.openxmlformats.org/drawingml/2006/main">
            <a:r>
              <a:t>          "detail": "공식 법령·판례·문서의 기준일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"지식·평가 자료",</a:t>
            </a:r>
          </a:p>
          <a:p xmlns:a="http://schemas.openxmlformats.org/drawingml/2006/main">
            <a:r>
              <a:t>          "layer": "상태·지식 저장",</a:t>
            </a:r>
          </a:p>
          <a:p xmlns:a="http://schemas.openxmlformats.org/drawingml/2006/main">
            <a:r>
              <a:t>          "detail": "조문·시점·소관 정답셋과 검토자 판정",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"기관·업무 경계",</a:t>
            </a:r>
          </a:p>
          <a:p xmlns:a="http://schemas.openxmlformats.org/drawingml/2006/main">
            <a:r>
              <a:t>          "layer": "권한·정책",</a:t>
            </a:r>
          </a:p>
          <a:p xmlns:a="http://schemas.openxmlformats.org/drawingml/2006/main">
            <a:r>
              <a:t>          "detail": "폐지 조문·유사 명칭 법률·소관 차이",</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"계정·업무 질의·적용 시점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"법률 질문",</a:t>
            </a:r>
          </a:p>
          <a:p xmlns:a="http://schemas.openxmlformats.org/drawingml/2006/main">
            <a:r>
              <a:t>          "check": "적용 시점·소관·근거 일치"</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"관련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"업무 답변",</a:t>
            </a:r>
          </a:p>
          <a:p xmlns:a="http://schemas.openxmlformats.org/drawingml/2006/main">
            <a:r>
              <a:t>          "check": "폐지 조문·유사 명칭 법률·소관 차이"</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"업무 답변",</a:t>
            </a:r>
          </a:p>
          <a:p xmlns:a="http://schemas.openxmlformats.org/drawingml/2006/main">
            <a:r>
              <a:t>          "check": "근거 답변을 법제 검토자에게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"직원 확인",</a:t>
            </a:r>
          </a:p>
          <a:p xmlns:a="http://schemas.openxmlformats.org/drawingml/2006/main">
            <a:r>
              <a:t>          "check": "조문·시점·소관 정답셋과 검토자 판정"</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"정부 공통 AI 이용환경의 법령 업무 확장 / 공통 모델·법령비서·근거 검색",</a:t>
            </a:r>
          </a:p>
          <a:p xmlns:a="http://schemas.openxmlformats.org/drawingml/2006/main">
            <a:r>
              <a:t>        "extension": "공통 AI 접속환경을 재사용하고 직무별 법령·업무 앱을 별도 구성"</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"폐지 조문·유사 명칭 법률·소관 차이",</a:t>
            </a:r>
          </a:p>
          <a:p xmlns:a="http://schemas.openxmlformats.org/drawingml/2006/main">
            <a:r>
              <a:t>        "hold": "적용 시점·소관·근거 일치",</a:t>
            </a:r>
          </a:p>
          <a:p xmlns:a="http://schemas.openxmlformats.org/drawingml/2006/main">
            <a:r>
              <a:t>        "recovery": "시범 질의의 정답·근거·사용성 평가",</a:t>
            </a:r>
          </a:p>
          <a:p xmlns:a="http://schemas.openxmlformats.org/drawingml/2006/main">
            <a:r>
              <a:t>        "evidence": "조문·시점·소관 정답셋과 검토자 판정"</a:t>
            </a:r>
          </a:p>
          <a:p xmlns:a="http://schemas.openxmlformats.org/drawingml/2006/main">
            <a:r>
              <a:t>      },</a:t>
            </a:r>
          </a:p>
          <a:p xmlns:a="http://schemas.openxmlformats.org/drawingml/2006/main">
            <a:r>
              <a:t>      "data": {</a:t>
            </a:r>
          </a:p>
          <a:p xmlns:a="http://schemas.openxmlformats.org/drawingml/2006/main">
            <a:r>
              <a:t>        "source": "법령·판례 지식",</a:t>
            </a:r>
          </a:p>
          <a:p xmlns:a="http://schemas.openxmlformats.org/drawingml/2006/main">
            <a:r>
              <a:t>        "prepare": "공식 법령·판례·문서의 기준일 관리",</a:t>
            </a:r>
          </a:p>
          <a:p xmlns:a="http://schemas.openxmlformats.org/drawingml/2006/main">
            <a:r>
              <a:t>        "output": "법률 질문",</a:t>
            </a:r>
          </a:p>
          <a:p xmlns:a="http://schemas.openxmlformats.org/drawingml/2006/main">
            <a:r>
              <a:t>        "refresh": "시범 질의의 정답·근거·사용성 평가"</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"PF01",</a:t>
            </a:r>
          </a:p>
          <a:p xmlns:a="http://schemas.openxmlformats.org/drawingml/2006/main">
            <a:r>
              <a:t>    "success": [</a:t>
            </a:r>
          </a:p>
          <a:p xmlns:a="http://schemas.openxmlformats.org/drawingml/2006/main">
            <a:r>
              <a:t>      "공통 이용환경의 공동 활용",</a:t>
            </a:r>
          </a:p>
          <a:p xmlns:a="http://schemas.openxmlformats.org/drawingml/2006/main">
            <a:r>
              <a:t>      "법령비서 등 업무 앱 결합"</a:t>
            </a:r>
          </a:p>
          <a:p xmlns:a="http://schemas.openxmlformats.org/drawingml/2006/main">
            <a:r>
              <a:t>    ],</a:t>
            </a:r>
          </a:p>
          <a:p xmlns:a="http://schemas.openxmlformats.org/drawingml/2006/main">
            <a:r>
              <a:t>    "risks": [</a:t>
            </a:r>
          </a:p>
          <a:p xmlns:a="http://schemas.openxmlformats.org/drawingml/2006/main">
            <a:r>
              <a:t>      "범용 답변과 적용 조문 판단의 차이",</a:t>
            </a:r>
          </a:p>
          <a:p xmlns:a="http://schemas.openxmlformats.org/drawingml/2006/main">
            <a:r>
              <a:t>      "시범 서비스의 성과 일반화"</a:t>
            </a:r>
          </a:p>
          <a:p xmlns:a="http://schemas.openxmlformats.org/drawingml/2006/main">
            <a:r>
              <a:t>    ],</a:t>
            </a:r>
          </a:p>
          <a:p xmlns:a="http://schemas.openxmlformats.org/drawingml/2006/main">
            <a:r>
              <a:t>    "architecture": [</a:t>
            </a:r>
          </a:p>
          <a:p xmlns:a="http://schemas.openxmlformats.org/drawingml/2006/main">
            <a:r>
              <a:t>      "정부 직원",</a:t>
            </a:r>
          </a:p>
          <a:p xmlns:a="http://schemas.openxmlformats.org/drawingml/2006/main">
            <a:r>
              <a:t>      "공통 AI·법령비서",</a:t>
            </a:r>
          </a:p>
          <a:p xmlns:a="http://schemas.openxmlformats.org/drawingml/2006/main">
            <a:r>
              <a:t>      "법령·판례 지식",</a:t>
            </a:r>
          </a:p>
          <a:p xmlns:a="http://schemas.openxmlformats.org/drawingml/2006/main">
            <a:r>
              <a:t>      "법제 검토자"</a:t>
            </a:r>
          </a:p>
          <a:p xmlns:a="http://schemas.openxmlformats.org/drawingml/2006/main">
            <a:r>
              <a:t>    ],</a:t>
            </a:r>
          </a:p>
          <a:p xmlns:a="http://schemas.openxmlformats.org/drawingml/2006/main">
            <a:r>
              <a:t>    "transfers": [</a:t>
            </a:r>
          </a:p>
          <a:p xmlns:a="http://schemas.openxmlformats.org/drawingml/2006/main">
            <a:r>
              <a:t>      "법률 질문",</a:t>
            </a:r>
          </a:p>
          <a:p xmlns:a="http://schemas.openxmlformats.org/drawingml/2006/main">
            <a:r>
              <a:t>      "관련 근거",</a:t>
            </a:r>
          </a:p>
          <a:p xmlns:a="http://schemas.openxmlformats.org/drawingml/2006/main">
            <a:r>
              <a:t>      "업무 답변",</a:t>
            </a:r>
          </a:p>
          <a:p xmlns:a="http://schemas.openxmlformats.org/drawingml/2006/main">
            <a:r>
              <a:t>      "직원 확인"</a:t>
            </a:r>
          </a:p>
          <a:p xmlns:a="http://schemas.openxmlformats.org/drawingml/2006/main">
            <a:r>
              <a:t>    ],</a:t>
            </a:r>
          </a:p>
          <a:p xmlns:a="http://schemas.openxmlformats.org/drawingml/2006/main">
            <a:r>
              <a:t>    "control": "적용 시점·소관·근거 일치",</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공식 시범 개시 발표 https://www.mois.go.kr/frt/bbs/type010/commonSelectBoardArticle.do?bbsId=BBSMSTR_000000000008&amp;nttId=127770</a:t>
            </a:r>
          </a:p>
          <a:p xmlns:a="http://schemas.openxmlformats.org/drawingml/2006/main">
            <a:r>
              <a:t>홈페이지 https://heen1987-ops.github.io/TS-business-Plan-001/index.html?view=platform-cases&amp;case=PF01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"PF01",</a:t>
            </a:r>
          </a:p>
          <a:p xmlns:a="http://schemas.openxmlformats.org/drawingml/2006/main">
            <a:r>
              <a:t>    "sourceId": "A01",</a:t>
            </a:r>
          </a:p>
          <a:p xmlns:a="http://schemas.openxmlformats.org/drawingml/2006/main">
            <a:r>
              <a:t>    "title": "범정부 AI 공통기반·법령비서",</a:t>
            </a:r>
          </a:p>
          <a:p xmlns:a="http://schemas.openxmlformats.org/drawingml/2006/main">
            <a:r>
              <a:t>    "region": "국내",</a:t>
            </a:r>
          </a:p>
          <a:p xmlns:a="http://schemas.openxmlformats.org/drawingml/2006/main">
            <a:r>
              <a:t>    "owner": "행정안전부·법제처·과기정통부",</a:t>
            </a:r>
          </a:p>
          <a:p xmlns:a="http://schemas.openxmlformats.org/drawingml/2006/main">
            <a:r>
              <a:t>    "state": "공통기반 운영 / 업무 앱 시범",</a:t>
            </a:r>
          </a:p>
          <a:p xmlns:a="http://schemas.openxmlformats.org/drawingml/2006/main">
            <a:r>
              <a:t>    "period": "2025–2026",</a:t>
            </a:r>
          </a:p>
          <a:p xmlns:a="http://schemas.openxmlformats.org/drawingml/2006/main">
            <a:r>
              <a:t>    "fact": "공통 AI 이용환경에 법령·판례 지식을 결합한 법령비서 시범 서비스",</a:t>
            </a:r>
          </a:p>
          <a:p xmlns:a="http://schemas.openxmlformats.org/drawingml/2006/main">
            <a:r>
              <a:t>    "limit": "시범 개시와 범정부 확산 계획의 구분 · 업무시간 절감 실측 별도",</a:t>
            </a:r>
          </a:p>
          <a:p xmlns:a="http://schemas.openxmlformats.org/drawingml/2006/main">
            <a:r>
              <a:t>    "nodes": [</a:t>
            </a:r>
          </a:p>
          <a:p xmlns:a="http://schemas.openxmlformats.org/drawingml/2006/main">
            <a:r>
              <a:t>      "정부 공통 이용환경",</a:t>
            </a:r>
          </a:p>
          <a:p xmlns:a="http://schemas.openxmlformats.org/drawingml/2006/main">
            <a:r>
              <a:t>      "공통 모델·검색",</a:t>
            </a:r>
          </a:p>
          <a:p xmlns:a="http://schemas.openxmlformats.org/drawingml/2006/main">
            <a:r>
              <a:t>      "법령·판례 지식",</a:t>
            </a:r>
          </a:p>
          <a:p xmlns:a="http://schemas.openxmlformats.org/drawingml/2006/main">
            <a:r>
              <a:t>      "법령비서·직원 검토"</a:t>
            </a:r>
          </a:p>
          <a:p xmlns:a="http://schemas.openxmlformats.org/drawingml/2006/main">
            <a:r>
              <a:t>    ],</a:t>
            </a:r>
          </a:p>
          <a:p xmlns:a="http://schemas.openxmlformats.org/drawingml/2006/main">
            <a:r>
              <a:t>    "apply": "공통 AI 접속환경을 재사용하고 직무별 법령·업무 앱을 별도 구성",</a:t>
            </a:r>
          </a:p>
          <a:p xmlns:a="http://schemas.openxmlformats.org/drawingml/2006/main">
            <a:r>
              <a:t>    "delta": "소관·직무·규정 판본 연결 및 부서별 정답셋",</a:t>
            </a:r>
          </a:p>
          <a:p xmlns:a="http://schemas.openxmlformats.org/drawingml/2006/main">
            <a:r>
              <a:t>    "test": "동일 규정 질의의 판본·출처·소관 일치 검증",</a:t>
            </a:r>
          </a:p>
          <a:p xmlns:a="http://schemas.openxmlformats.org/drawingml/2006/main">
            <a:r>
              <a:t>    "url": "https://www.mois.go.kr/frt/bbs/type010/commonSelectBoardArticle.do?bbsId=BBSMSTR_000000000008&amp;nttId=127770",</a:t>
            </a:r>
          </a:p>
          <a:p xmlns:a="http://schemas.openxmlformats.org/drawingml/2006/main">
            <a:r>
              <a:t>    "basis": "공식 시범 개시 발표",</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"https://www.mois.go.kr/frt/bbs/type010/commonSelectBoardArticle.do?bbsId=BBSMSTR_000000000008&amp;nttId=127770",</a:t>
            </a:r>
          </a:p>
          <a:p xmlns:a="http://schemas.openxmlformats.org/drawingml/2006/main">
            <a:r>
              <a:t>      "https://mois.go.kr/frt/bbs/type002/commonSelectBoardArticle.do?bbsId=BBSMSTR_000000000010&amp;nttId=121989"</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"PF01",</a:t>
            </a:r>
          </a:p>
          <a:p xmlns:a="http://schemas.openxmlformats.org/drawingml/2006/main">
            <a:r>
              <a:t>    "canonicalId": "PF01",</a:t>
            </a:r>
          </a:p>
          <a:p xmlns:a="http://schemas.openxmlformats.org/drawingml/2006/main">
            <a:r>
              <a:t>    "purpose": "정부 공통 AI 이용환경의 법령 업무 확장",</a:t>
            </a:r>
          </a:p>
          <a:p xmlns:a="http://schemas.openxmlformats.org/drawingml/2006/main">
            <a:r>
              <a:t>    "users": "정부 직원·법제 검토 담당",</a:t>
            </a:r>
          </a:p>
          <a:p xmlns:a="http://schemas.openxmlformats.org/drawingml/2006/main">
            <a:r>
              <a:t>    "scope": [</a:t>
            </a:r>
          </a:p>
          <a:p xmlns:a="http://schemas.openxmlformats.org/drawingml/2006/main">
            <a:r>
              <a:t>      "공통 모델",</a:t>
            </a:r>
          </a:p>
          <a:p xmlns:a="http://schemas.openxmlformats.org/drawingml/2006/main">
            <a:r>
              <a:t>      "법령비서",</a:t>
            </a:r>
          </a:p>
          <a:p xmlns:a="http://schemas.openxmlformats.org/drawingml/2006/main">
            <a:r>
              <a:t>      "근거 검색"</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"정부 직원",</a:t>
            </a:r>
          </a:p>
          <a:p xmlns:a="http://schemas.openxmlformats.org/drawingml/2006/main">
            <a:r>
              <a:t>        "detail": "계정·업무 질의·적용 시점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"공통 모델 / 법령비서 / 근거 검색",</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"공통 AI·법령비서",</a:t>
            </a:r>
          </a:p>
          <a:p xmlns:a="http://schemas.openxmlformats.org/drawingml/2006/main">
            <a:r>
              <a:t>        "detail": "공통 AI 호출과 법령·판례 검색 연결",</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"법제 검토자",</a:t>
            </a:r>
          </a:p>
          <a:p xmlns:a="http://schemas.openxmlformats.org/drawingml/2006/main">
            <a:r>
              <a:t>        "detail": "근거 답변을 법제 검토자에게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"법령·판례 지식",</a:t>
            </a:r>
          </a:p>
          <a:p xmlns:a="http://schemas.openxmlformats.org/drawingml/2006/main">
            <a:r>
              <a:t>        "detail": "공식 법령·판례·문서의 기준일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"시범 질의의 정답·근거·사용성 평가",</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"정부 공통 이용환경",</a:t>
            </a:r>
          </a:p>
          <a:p xmlns:a="http://schemas.openxmlformats.org/drawingml/2006/main">
            <a:r>
              <a:t>        "input": "계정·업무 질의·적용 시점 구성",</a:t>
            </a:r>
          </a:p>
          <a:p xmlns:a="http://schemas.openxmlformats.org/drawingml/2006/main">
            <a:r>
              <a:t>        "process": "공식 법령·판례·문서의 기준일 관리",</a:t>
            </a:r>
          </a:p>
          <a:p xmlns:a="http://schemas.openxmlformats.org/drawingml/2006/main">
            <a:r>
              <a:t>        "output": "법률 질문"</a:t>
            </a:r>
          </a:p>
          <a:p xmlns:a="http://schemas.openxmlformats.org/drawingml/2006/main">
            <a:r>
              <a:t>      },</a:t>
            </a:r>
          </a:p>
          <a:p xmlns:a="http://schemas.openxmlformats.org/drawingml/2006/main">
            <a:r>
              <a:t>      {</a:t>
            </a:r>
          </a:p>
          <a:p xmlns:a="http://schemas.openxmlformats.org/drawingml/2006/main">
            <a:r>
              <a:t>        "title": "공통 모델·검색",</a:t>
            </a:r>
          </a:p>
          <a:p xmlns:a="http://schemas.openxmlformats.org/drawingml/2006/main">
            <a:r>
              <a:t>        "input": "법률 질문",</a:t>
            </a:r>
          </a:p>
          <a:p xmlns:a="http://schemas.openxmlformats.org/drawingml/2006/main">
            <a:r>
              <a:t>        "process": "공통 AI 호출과 법령·판례 검색 연결",</a:t>
            </a:r>
          </a:p>
          <a:p xmlns:a="http://schemas.openxmlformats.org/drawingml/2006/main">
            <a:r>
              <a:t>        "output": "관련 근거"</a:t>
            </a:r>
          </a:p>
          <a:p xmlns:a="http://schemas.openxmlformats.org/drawingml/2006/main">
            <a:r>
              <a:t>      },</a:t>
            </a:r>
          </a:p>
          <a:p xmlns:a="http://schemas.openxmlformats.org/drawingml/2006/main">
            <a:r>
              <a:t>      {</a:t>
            </a:r>
          </a:p>
          <a:p xmlns:a="http://schemas.openxmlformats.org/drawingml/2006/main">
            <a:r>
              <a:t>        "title": "법령·판례 지식",</a:t>
            </a:r>
          </a:p>
          <a:p xmlns:a="http://schemas.openxmlformats.org/drawingml/2006/main">
            <a:r>
              <a:t>        "input": "관련 근거",</a:t>
            </a:r>
          </a:p>
          <a:p xmlns:a="http://schemas.openxmlformats.org/drawingml/2006/main">
            <a:r>
              <a:t>        "process": "적용 시점·소관·근거 일치",</a:t>
            </a:r>
          </a:p>
          <a:p xmlns:a="http://schemas.openxmlformats.org/drawingml/2006/main">
            <a:r>
              <a:t>        "output": "업무 답변"</a:t>
            </a:r>
          </a:p>
          <a:p xmlns:a="http://schemas.openxmlformats.org/drawingml/2006/main">
            <a:r>
              <a:t>      },</a:t>
            </a:r>
          </a:p>
          <a:p xmlns:a="http://schemas.openxmlformats.org/drawingml/2006/main">
            <a:r>
              <a:t>      {</a:t>
            </a:r>
          </a:p>
          <a:p xmlns:a="http://schemas.openxmlformats.org/drawingml/2006/main">
            <a:r>
              <a:t>        "title": "법령비서·직원 검토",</a:t>
            </a:r>
          </a:p>
          <a:p xmlns:a="http://schemas.openxmlformats.org/drawingml/2006/main">
            <a:r>
              <a:t>        "input": "업무 답변",</a:t>
            </a:r>
          </a:p>
          <a:p xmlns:a="http://schemas.openxmlformats.org/drawingml/2006/main">
            <a:r>
              <a:t>        "process": "근거 답변을 법제 검토자에게 제공",</a:t>
            </a:r>
          </a:p>
          <a:p xmlns:a="http://schemas.openxmlformats.org/drawingml/2006/main">
            <a:r>
              <a:t>        "output": "직원 확인"</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"적용 업무와 시점에 맞는 법령·판례 근거 검토",</a:t>
            </a:r>
          </a:p>
          <a:p xmlns:a="http://schemas.openxmlformats.org/drawingml/2006/main">
            <a:r>
              <a:t>      "exception": "폐지 조문·유사 명칭 법률·소관 차이",</a:t>
            </a:r>
          </a:p>
          <a:p xmlns:a="http://schemas.openxmlformats.org/drawingml/2006/main">
            <a:r>
              <a:t>      "evidence": "조문·시점·소관 정답셋과 검토자 판정",</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"정부 직원·법제 검토 담당",</a:t>
            </a:r>
          </a:p>
          <a:p xmlns:a="http://schemas.openxmlformats.org/drawingml/2006/main">
            <a:r>
              <a:t>          "processing": "계정·업무 질의·적용 시점 구성",</a:t>
            </a:r>
          </a:p>
          <a:p xmlns:a="http://schemas.openxmlformats.org/drawingml/2006/main">
            <a:r>
              <a:t>          "output": "법률 질문"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"법령·판례 지식",</a:t>
            </a:r>
          </a:p>
          <a:p xmlns:a="http://schemas.openxmlformats.org/drawingml/2006/main">
            <a:r>
              <a:t>          "processing": "공식 법령·판례·문서의 기준일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"법률 질문",</a:t>
            </a:r>
          </a:p>
          <a:p xmlns:a="http://schemas.openxmlformats.org/drawingml/2006/main">
            <a:r>
              <a:t>          "processing": "공통 AI 호출과 법령·판례 검색 연결",</a:t>
            </a:r>
          </a:p>
          <a:p xmlns:a="http://schemas.openxmlformats.org/drawingml/2006/main">
            <a:r>
              <a:t>          "output": "업무 답변"</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"업무 답변",</a:t>
            </a:r>
          </a:p>
          <a:p xmlns:a="http://schemas.openxmlformats.org/drawingml/2006/main">
            <a:r>
              <a:t>          "processing": "근거 답변을 법제 검토자에게 제공",</a:t>
            </a:r>
          </a:p>
          <a:p xmlns:a="http://schemas.openxmlformats.org/drawingml/2006/main">
            <a:r>
              <a:t>          "output": "직원 확인"</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"시범 질의의 정답·근거·사용성 평가",</a:t>
            </a:r>
          </a:p>
          <a:p xmlns:a="http://schemas.openxmlformats.org/drawingml/2006/main">
            <a:r>
              <a:t>          "output": "조문·시점·소관 정답셋과 검토자 판정"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"시범 질의의 정답·근거·사용성 평가",</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"공식 시범 개시 발표",</a:t>
            </a:r>
          </a:p>
          <a:p xmlns:a="http://schemas.openxmlformats.org/drawingml/2006/main">
            <a:r>
              <a:t>        "url": "https://www.mois.go.kr/frt/bbs/type010/commonSelectBoardArticle.do?bbsId=BBSMSTR_000000000008&amp;nttId=127770"</a:t>
            </a:r>
          </a:p>
          <a:p xmlns:a="http://schemas.openxmlformats.org/drawingml/2006/main">
            <a:r>
              <a:t>      }</a:t>
            </a:r>
          </a:p>
          <a:p xmlns:a="http://schemas.openxmlformats.org/drawingml/2006/main">
            <a:r>
              <a:t>    ],</a:t>
            </a:r>
          </a:p>
          <a:p xmlns:a="http://schemas.openxmlformats.org/drawingml/2006/main">
            <a:r>
              <a:t>    "implication": "공통 AI 접속환경을 재사용하고 직무별 법령·업무 앱을 별도 구성",</a:t>
            </a:r>
          </a:p>
          <a:p xmlns:a="http://schemas.openxmlformats.org/drawingml/2006/main">
            <a:r>
              <a:t>    "local": "공통 AI 접속환경을 재사용하고 직무별 법령·업무 앱을 별도 구성",</a:t>
            </a:r>
          </a:p>
          <a:p xmlns:a="http://schemas.openxmlformats.org/drawingml/2006/main">
            <a:r>
              <a:t>    "sourceDetail": null,</a:t>
            </a:r>
          </a:p>
          <a:p xmlns:a="http://schemas.openxmlformats.org/drawingml/2006/main">
            <a:r>
              <a:t>    "narrative": [</a:t>
            </a:r>
          </a:p>
          <a:p xmlns:a="http://schemas.openxmlformats.org/drawingml/2006/main">
            <a:r>
              <a:t>      "범정부 AI 공통기반과 법령비서의 시범 서비스 사례. 공통 AI 이용 환경에 법령·판례 자료를 결합해 직원의 규정 탐색과 근거 확인을 지원하는 구조.",</a:t>
            </a:r>
          </a:p>
          <a:p xmlns:a="http://schemas.openxmlformats.org/drawingml/2006/main">
            <a:r>
              <a:t>      "공개된 서비스 범위에 따라 로그인·질의 문맥·법령 검색·근거 응답·사용자 검토로 재구성. 적용 시점과 법령·판례의 관계를 검색 메타데이터로 유지하고 생성 답변에서 해당 원문으로 돌아가는 확인 경로의 구성.",</a:t>
            </a:r>
          </a:p>
          <a:p xmlns:a="http://schemas.openxmlformats.org/drawingml/2006/main">
            <a:r>
              <a:t>      "TS에서는 법령 지식의 공통 이용과 부서별 업무 책임의 연결을 구분해 추가 개발할 필요. 같은 질문의 담당 직무·시행일별 적용 기준, 폐지·개정 조문 혼용, 근거 없는 단정 응답을 검수 대상으로 설정."</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"정부 직원 접점",</a:t>
            </a:r>
          </a:p>
          <a:p xmlns:a="http://schemas.openxmlformats.org/drawingml/2006/main">
            <a:r>
              <a:t>          "layer": "이용 접점",</a:t>
            </a:r>
          </a:p>
          <a:p xmlns:a="http://schemas.openxmlformats.org/drawingml/2006/main">
            <a:r>
              <a:t>          "detail": "정부 직원·법제 검토 담당",</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"질의·적용시점",</a:t>
            </a:r>
          </a:p>
          <a:p xmlns:a="http://schemas.openxmlformats.org/drawingml/2006/main">
            <a:r>
              <a:t>          "layer": "업무 문맥",</a:t>
            </a:r>
          </a:p>
          <a:p xmlns:a="http://schemas.openxmlformats.org/drawingml/2006/main">
            <a:r>
              <a:t>          "detail": "계정·업무 질의·적용 시점 구성",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"법령·판례 검색",</a:t>
            </a:r>
          </a:p>
          <a:p xmlns:a="http://schemas.openxmlformats.org/drawingml/2006/main">
            <a:r>
              <a:t>          "layer": "자료 조회",</a:t>
            </a:r>
          </a:p>
          <a:p xmlns:a="http://schemas.openxmlformats.org/drawingml/2006/main">
            <a:r>
              <a:t>          "detail": "법률 질문",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"공통 AI·법령비서",</a:t>
            </a:r>
          </a:p>
          <a:p xmlns:a="http://schemas.openxmlformats.org/drawingml/2006/main">
            <a:r>
              <a:t>          "layer": "핵심 처리",</a:t>
            </a:r>
          </a:p>
          <a:p xmlns:a="http://schemas.openxmlformats.org/drawingml/2006/main">
            <a:r>
              <a:t>          "detail": "공통 AI 호출과 법령·판례 검색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"조문·시점 대조",</a:t>
            </a:r>
          </a:p>
          <a:p xmlns:a="http://schemas.openxmlformats.org/drawingml/2006/main">
            <a:r>
              <a:t>          "layer": "결과 검증",</a:t>
            </a:r>
          </a:p>
          <a:p xmlns:a="http://schemas.openxmlformats.org/drawingml/2006/main">
            <a:r>
              <a:t>          "detail": "적용 시점·소관·근거 일치",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"법제 담당 검토",</a:t>
            </a:r>
          </a:p>
          <a:p xmlns:a="http://schemas.openxmlformats.org/drawingml/2006/main">
            <a:r>
              <a:t>          "layer": "사람 확인",</a:t>
            </a:r>
          </a:p>
          <a:p xmlns:a="http://schemas.openxmlformats.org/drawingml/2006/main">
            <a:r>
              <a:t>          "detail": "적용 업무와 시점에 맞는 법령·판례 근거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"업무 문서 참고",</a:t>
            </a:r>
          </a:p>
          <a:p xmlns:a="http://schemas.openxmlformats.org/drawingml/2006/main">
            <a:r>
              <a:t>          "layer": "업무 연결",</a:t>
            </a:r>
          </a:p>
          <a:p xmlns:a="http://schemas.openxmlformats.org/drawingml/2006/main">
            <a:r>
              <a:t>          "detail": "근거 답변을 법제 검토자에게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"시범 질의 평가",</a:t>
            </a:r>
          </a:p>
          <a:p xmlns:a="http://schemas.openxmlformats.org/drawingml/2006/main">
            <a:r>
              <a:t>          "layer": "운영 관측",</a:t>
            </a:r>
          </a:p>
          <a:p xmlns:a="http://schemas.openxmlformats.org/drawingml/2006/main">
            <a:r>
              <a:t>          "detail": "시범 질의의 정답·근거·사용성 평가",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"공식 법령·문서",</a:t>
            </a:r>
          </a:p>
          <a:p xmlns:a="http://schemas.openxmlformats.org/drawingml/2006/main">
            <a:r>
              <a:t>          "layer": "데이터 원천",</a:t>
            </a:r>
          </a:p>
          <a:p xmlns:a="http://schemas.openxmlformats.org/drawingml/2006/main">
            <a:r>
              <a:t>          "detail": "법령·판례 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"기준일·근거 정리",</a:t>
            </a:r>
          </a:p>
          <a:p xmlns:a="http://schemas.openxmlformats.org/drawingml/2006/main">
            <a:r>
              <a:t>          "layer": "준비·갱신",</a:t>
            </a:r>
          </a:p>
          <a:p xmlns:a="http://schemas.openxmlformats.org/drawingml/2006/main">
            <a:r>
              <a:t>          "detail": "공식 법령·판례·문서의 기준일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"지식·평가 자료",</a:t>
            </a:r>
          </a:p>
          <a:p xmlns:a="http://schemas.openxmlformats.org/drawingml/2006/main">
            <a:r>
              <a:t>          "layer": "상태·지식 저장",</a:t>
            </a:r>
          </a:p>
          <a:p xmlns:a="http://schemas.openxmlformats.org/drawingml/2006/main">
            <a:r>
              <a:t>          "detail": "조문·시점·소관 정답셋과 검토자 판정",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"기관·업무 경계",</a:t>
            </a:r>
          </a:p>
          <a:p xmlns:a="http://schemas.openxmlformats.org/drawingml/2006/main">
            <a:r>
              <a:t>          "layer": "권한·정책",</a:t>
            </a:r>
          </a:p>
          <a:p xmlns:a="http://schemas.openxmlformats.org/drawingml/2006/main">
            <a:r>
              <a:t>          "detail": "폐지 조문·유사 명칭 법률·소관 차이",</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"계정·업무 질의·적용 시점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"법률 질문",</a:t>
            </a:r>
          </a:p>
          <a:p xmlns:a="http://schemas.openxmlformats.org/drawingml/2006/main">
            <a:r>
              <a:t>          "check": "적용 시점·소관·근거 일치"</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"관련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"업무 답변",</a:t>
            </a:r>
          </a:p>
          <a:p xmlns:a="http://schemas.openxmlformats.org/drawingml/2006/main">
            <a:r>
              <a:t>          "check": "폐지 조문·유사 명칭 법률·소관 차이"</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"업무 답변",</a:t>
            </a:r>
          </a:p>
          <a:p xmlns:a="http://schemas.openxmlformats.org/drawingml/2006/main">
            <a:r>
              <a:t>          "check": "근거 답변을 법제 검토자에게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"직원 확인",</a:t>
            </a:r>
          </a:p>
          <a:p xmlns:a="http://schemas.openxmlformats.org/drawingml/2006/main">
            <a:r>
              <a:t>          "check": "조문·시점·소관 정답셋과 검토자 판정"</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"정부 공통 AI 이용환경의 법령 업무 확장 / 공통 모델·법령비서·근거 검색",</a:t>
            </a:r>
          </a:p>
          <a:p xmlns:a="http://schemas.openxmlformats.org/drawingml/2006/main">
            <a:r>
              <a:t>        "extension": "공통 AI 접속환경을 재사용하고 직무별 법령·업무 앱을 별도 구성"</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"폐지 조문·유사 명칭 법률·소관 차이",</a:t>
            </a:r>
          </a:p>
          <a:p xmlns:a="http://schemas.openxmlformats.org/drawingml/2006/main">
            <a:r>
              <a:t>        "hold": "적용 시점·소관·근거 일치",</a:t>
            </a:r>
          </a:p>
          <a:p xmlns:a="http://schemas.openxmlformats.org/drawingml/2006/main">
            <a:r>
              <a:t>        "recovery": "시범 질의의 정답·근거·사용성 평가",</a:t>
            </a:r>
          </a:p>
          <a:p xmlns:a="http://schemas.openxmlformats.org/drawingml/2006/main">
            <a:r>
              <a:t>        "evidence": "조문·시점·소관 정답셋과 검토자 판정"</a:t>
            </a:r>
          </a:p>
          <a:p xmlns:a="http://schemas.openxmlformats.org/drawingml/2006/main">
            <a:r>
              <a:t>      },</a:t>
            </a:r>
          </a:p>
          <a:p xmlns:a="http://schemas.openxmlformats.org/drawingml/2006/main">
            <a:r>
              <a:t>      "data": {</a:t>
            </a:r>
          </a:p>
          <a:p xmlns:a="http://schemas.openxmlformats.org/drawingml/2006/main">
            <a:r>
              <a:t>        "source": "법령·판례 지식",</a:t>
            </a:r>
          </a:p>
          <a:p xmlns:a="http://schemas.openxmlformats.org/drawingml/2006/main">
            <a:r>
              <a:t>        "prepare": "공식 법령·판례·문서의 기준일 관리",</a:t>
            </a:r>
          </a:p>
          <a:p xmlns:a="http://schemas.openxmlformats.org/drawingml/2006/main">
            <a:r>
              <a:t>        "output": "법률 질문",</a:t>
            </a:r>
          </a:p>
          <a:p xmlns:a="http://schemas.openxmlformats.org/drawingml/2006/main">
            <a:r>
              <a:t>        "refresh": "시범 질의의 정답·근거·사용성 평가"</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"PF01",</a:t>
            </a:r>
          </a:p>
          <a:p xmlns:a="http://schemas.openxmlformats.org/drawingml/2006/main">
            <a:r>
              <a:t>    "success": [</a:t>
            </a:r>
          </a:p>
          <a:p xmlns:a="http://schemas.openxmlformats.org/drawingml/2006/main">
            <a:r>
              <a:t>      "공통 이용환경의 공동 활용",</a:t>
            </a:r>
          </a:p>
          <a:p xmlns:a="http://schemas.openxmlformats.org/drawingml/2006/main">
            <a:r>
              <a:t>      "법령비서 등 업무 앱 결합"</a:t>
            </a:r>
          </a:p>
          <a:p xmlns:a="http://schemas.openxmlformats.org/drawingml/2006/main">
            <a:r>
              <a:t>    ],</a:t>
            </a:r>
          </a:p>
          <a:p xmlns:a="http://schemas.openxmlformats.org/drawingml/2006/main">
            <a:r>
              <a:t>    "risks": [</a:t>
            </a:r>
          </a:p>
          <a:p xmlns:a="http://schemas.openxmlformats.org/drawingml/2006/main">
            <a:r>
              <a:t>      "범용 답변과 적용 조문 판단의 차이",</a:t>
            </a:r>
          </a:p>
          <a:p xmlns:a="http://schemas.openxmlformats.org/drawingml/2006/main">
            <a:r>
              <a:t>      "시범 서비스의 성과 일반화"</a:t>
            </a:r>
          </a:p>
          <a:p xmlns:a="http://schemas.openxmlformats.org/drawingml/2006/main">
            <a:r>
              <a:t>    ],</a:t>
            </a:r>
          </a:p>
          <a:p xmlns:a="http://schemas.openxmlformats.org/drawingml/2006/main">
            <a:r>
              <a:t>    "architecture": [</a:t>
            </a:r>
          </a:p>
          <a:p xmlns:a="http://schemas.openxmlformats.org/drawingml/2006/main">
            <a:r>
              <a:t>      "정부 직원",</a:t>
            </a:r>
          </a:p>
          <a:p xmlns:a="http://schemas.openxmlformats.org/drawingml/2006/main">
            <a:r>
              <a:t>      "공통 AI·법령비서",</a:t>
            </a:r>
          </a:p>
          <a:p xmlns:a="http://schemas.openxmlformats.org/drawingml/2006/main">
            <a:r>
              <a:t>      "법령·판례 지식",</a:t>
            </a:r>
          </a:p>
          <a:p xmlns:a="http://schemas.openxmlformats.org/drawingml/2006/main">
            <a:r>
              <a:t>      "법제 검토자"</a:t>
            </a:r>
          </a:p>
          <a:p xmlns:a="http://schemas.openxmlformats.org/drawingml/2006/main">
            <a:r>
              <a:t>    ],</a:t>
            </a:r>
          </a:p>
          <a:p xmlns:a="http://schemas.openxmlformats.org/drawingml/2006/main">
            <a:r>
              <a:t>    "transfers": [</a:t>
            </a:r>
          </a:p>
          <a:p xmlns:a="http://schemas.openxmlformats.org/drawingml/2006/main">
            <a:r>
              <a:t>      "법률 질문",</a:t>
            </a:r>
          </a:p>
          <a:p xmlns:a="http://schemas.openxmlformats.org/drawingml/2006/main">
            <a:r>
              <a:t>      "관련 근거",</a:t>
            </a:r>
          </a:p>
          <a:p xmlns:a="http://schemas.openxmlformats.org/drawingml/2006/main">
            <a:r>
              <a:t>      "업무 답변",</a:t>
            </a:r>
          </a:p>
          <a:p xmlns:a="http://schemas.openxmlformats.org/drawingml/2006/main">
            <a:r>
              <a:t>      "직원 확인"</a:t>
            </a:r>
          </a:p>
          <a:p xmlns:a="http://schemas.openxmlformats.org/drawingml/2006/main">
            <a:r>
              <a:t>    ],</a:t>
            </a:r>
          </a:p>
          <a:p xmlns:a="http://schemas.openxmlformats.org/drawingml/2006/main">
            <a:r>
              <a:t>    "control": "적용 시점·소관·근거 일치",</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공식 시범 개시 발표 https://www.mois.go.kr/frt/bbs/type010/commonSelectBoardArticle.do?bbsId=BBSMSTR_000000000008&amp;nttId=127770</a:t>
            </a:r>
          </a:p>
          <a:p xmlns:a="http://schemas.openxmlformats.org/drawingml/2006/main">
            <a:r>
              <a:t>홈페이지 https://heen1987-ops.github.io/TS-business-Plan-001/index.html?view=platform-cases&amp;case=PF01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"PF02",</a:t>
            </a:r>
          </a:p>
          <a:p xmlns:a="http://schemas.openxmlformats.org/drawingml/2006/main">
            <a:r>
              <a:t>    "sourceId": "A02",</a:t>
            </a:r>
          </a:p>
          <a:p xmlns:a="http://schemas.openxmlformats.org/drawingml/2006/main">
            <a:r>
              <a:t>    "title": "한전 사내표준 AI 플랫폼",</a:t>
            </a:r>
          </a:p>
          <a:p xmlns:a="http://schemas.openxmlformats.org/drawingml/2006/main">
            <a:r>
              <a:t>    "region": "국내",</a:t>
            </a:r>
          </a:p>
          <a:p xmlns:a="http://schemas.openxmlformats.org/drawingml/2006/main">
            <a:r>
              <a:t>    "owner": "한국전력",</a:t>
            </a:r>
          </a:p>
          <a:p xmlns:a="http://schemas.openxmlformats.org/drawingml/2006/main">
            <a:r>
              <a:t>    "state": "정식 운영 · 기관 발표",</a:t>
            </a:r>
          </a:p>
          <a:p xmlns:a="http://schemas.openxmlformats.org/drawingml/2006/main">
            <a:r>
              <a:t>    "period": "2026.05 개시 / 09 소개",</a:t>
            </a:r>
          </a:p>
          <a:p xmlns:a="http://schemas.openxmlformats.org/drawingml/2006/main">
            <a:r>
              <a:t>    "fact": "사내표준 질의·근거 조문과 개정 검토·전자결재를 연결한 업무 플랫폼",</a:t>
            </a:r>
          </a:p>
          <a:p xmlns:a="http://schemas.openxmlformats.org/drawingml/2006/main">
            <a:r>
              <a:t>    "limit": "문서번호·답변 근거의 정비 부담 공개 · 제시된 절감 기대와 실측 성과의 구분",</a:t>
            </a:r>
          </a:p>
          <a:p xmlns:a="http://schemas.openxmlformats.org/drawingml/2006/main">
            <a:r>
              <a:t>    "nodes": [</a:t>
            </a:r>
          </a:p>
          <a:p xmlns:a="http://schemas.openxmlformats.org/drawingml/2006/main">
            <a:r>
              <a:t>      "사내표준 정비",</a:t>
            </a:r>
          </a:p>
          <a:p xmlns:a="http://schemas.openxmlformats.org/drawingml/2006/main">
            <a:r>
              <a:t>      "근거 질의·응답",</a:t>
            </a:r>
          </a:p>
          <a:p xmlns:a="http://schemas.openxmlformats.org/drawingml/2006/main">
            <a:r>
              <a:t>      "개정·오류 점검",</a:t>
            </a:r>
          </a:p>
          <a:p xmlns:a="http://schemas.openxmlformats.org/drawingml/2006/main">
            <a:r>
              <a:t>      "전자결재·담당 검토"</a:t>
            </a:r>
          </a:p>
          <a:p xmlns:a="http://schemas.openxmlformats.org/drawingml/2006/main">
            <a:r>
              <a:t>    ],</a:t>
            </a:r>
          </a:p>
          <a:p xmlns:a="http://schemas.openxmlformats.org/drawingml/2006/main">
            <a:r>
              <a:t>    "apply": "규정 검색 결과를 개정 영향·책임부서·전자결재 절차까지 연결",</a:t>
            </a:r>
          </a:p>
          <a:p xmlns:a="http://schemas.openxmlformats.org/drawingml/2006/main">
            <a:r>
              <a:t>    "delta": "규정 개정 영향 업무 탐색 / 폐지 지식 차단 / 승인판본 배포",</a:t>
            </a:r>
          </a:p>
          <a:p xmlns:a="http://schemas.openxmlformats.org/drawingml/2006/main">
            <a:r>
              <a:t>    "test": "개정 전후 질문의 판본 일치 및 영향 업무 재평가",</a:t>
            </a:r>
          </a:p>
          <a:p xmlns:a="http://schemas.openxmlformats.org/drawingml/2006/main">
            <a:r>
              <a:t>    "url": "https://www.kepco.co.kr/KEPCO_FILE/html/2026_09/issue.html",</a:t>
            </a:r>
          </a:p>
          <a:p xmlns:a="http://schemas.openxmlformats.org/drawingml/2006/main">
            <a:r>
              <a:t>    "basis": "기관 사보 운영 소개",</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"https://www.kepco.co.kr/KEPCO_FILE/html/2026_09/issue.html"</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"PF02",</a:t>
            </a:r>
          </a:p>
          <a:p xmlns:a="http://schemas.openxmlformats.org/drawingml/2006/main">
            <a:r>
              <a:t>    "canonicalId": "PF02",</a:t>
            </a:r>
          </a:p>
          <a:p xmlns:a="http://schemas.openxmlformats.org/drawingml/2006/main">
            <a:r>
              <a:t>    "purpose": "사내표준 검색부터 개정 검토까지 연결",</a:t>
            </a:r>
          </a:p>
          <a:p xmlns:a="http://schemas.openxmlformats.org/drawingml/2006/main">
            <a:r>
              <a:t>    "users": "직원·규정 소관부서·결재자",</a:t>
            </a:r>
          </a:p>
          <a:p xmlns:a="http://schemas.openxmlformats.org/drawingml/2006/main">
            <a:r>
              <a:t>    "scope": [</a:t>
            </a:r>
          </a:p>
          <a:p xmlns:a="http://schemas.openxmlformats.org/drawingml/2006/main">
            <a:r>
              <a:t>      "표준 검색",</a:t>
            </a:r>
          </a:p>
          <a:p xmlns:a="http://schemas.openxmlformats.org/drawingml/2006/main">
            <a:r>
              <a:t>      "개정 검토",</a:t>
            </a:r>
          </a:p>
          <a:p xmlns:a="http://schemas.openxmlformats.org/drawingml/2006/main">
            <a:r>
              <a:t>      "전자결재"</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"직원·규정 담당",</a:t>
            </a:r>
          </a:p>
          <a:p xmlns:a="http://schemas.openxmlformats.org/drawingml/2006/main">
            <a:r>
              <a:t>        "detail": "문서번호·적용 업무·검토 사유 식별",</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"표준 검색 / 개정 검토 / 전자결재",</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"근거 검색·개정 검토",</a:t>
            </a:r>
          </a:p>
          <a:p xmlns:a="http://schemas.openxmlformats.org/drawingml/2006/main">
            <a:r>
              <a:t>        "detail": "사내표준 RAG와 조문 대조·개정 초안",</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"전자결재 검토자",</a:t>
            </a:r>
          </a:p>
          <a:p xmlns:a="http://schemas.openxmlformats.org/drawingml/2006/main">
            <a:r>
              <a:t>        "detail": "소관부서 검토 후 전자결재 절차 연계",</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"사내표준·개정 이력",</a:t>
            </a:r>
          </a:p>
          <a:p xmlns:a="http://schemas.openxmlformats.org/drawingml/2006/main">
            <a:r>
              <a:t>        "detail": "사내표준·개정 이력·근거 조문의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"승인본 반영·구판 회수·개정 영향 점검",</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"사내표준 정비",</a:t>
            </a:r>
          </a:p>
          <a:p xmlns:a="http://schemas.openxmlformats.org/drawingml/2006/main">
            <a:r>
              <a:t>        "input": "문서번호·적용 업무·검토 사유 식별",</a:t>
            </a:r>
          </a:p>
          <a:p xmlns:a="http://schemas.openxmlformats.org/drawingml/2006/main">
            <a:r>
              <a:t>        "process": "사내표준·개정 이력·근거 조문의 연결",</a:t>
            </a:r>
          </a:p>
          <a:p xmlns:a="http://schemas.openxmlformats.org/drawingml/2006/main">
            <a:r>
              <a:t>        "output": "사내표준"</a:t>
            </a:r>
          </a:p>
          <a:p xmlns:a="http://schemas.openxmlformats.org/drawingml/2006/main">
            <a:r>
              <a:t>      },</a:t>
            </a:r>
          </a:p>
          <a:p xmlns:a="http://schemas.openxmlformats.org/drawingml/2006/main">
            <a:r>
              <a:t>      {</a:t>
            </a:r>
          </a:p>
          <a:p xmlns:a="http://schemas.openxmlformats.org/drawingml/2006/main">
            <a:r>
              <a:t>        "title": "근거 질의·응답",</a:t>
            </a:r>
          </a:p>
          <a:p xmlns:a="http://schemas.openxmlformats.org/drawingml/2006/main">
            <a:r>
              <a:t>        "input": "사내표준",</a:t>
            </a:r>
          </a:p>
          <a:p xmlns:a="http://schemas.openxmlformats.org/drawingml/2006/main">
            <a:r>
              <a:t>        "process": "사내표준 RAG와 조문 대조·개정 초안",</a:t>
            </a:r>
          </a:p>
          <a:p xmlns:a="http://schemas.openxmlformats.org/drawingml/2006/main">
            <a:r>
              <a:t>        "output": "관련 조문"</a:t>
            </a:r>
          </a:p>
          <a:p xmlns:a="http://schemas.openxmlformats.org/drawingml/2006/main">
            <a:r>
              <a:t>      },</a:t>
            </a:r>
          </a:p>
          <a:p xmlns:a="http://schemas.openxmlformats.org/drawingml/2006/main">
            <a:r>
              <a:t>      {</a:t>
            </a:r>
          </a:p>
          <a:p xmlns:a="http://schemas.openxmlformats.org/drawingml/2006/main">
            <a:r>
              <a:t>        "title": "개정·오류 점검",</a:t>
            </a:r>
          </a:p>
          <a:p xmlns:a="http://schemas.openxmlformats.org/drawingml/2006/main">
            <a:r>
              <a:t>        "input": "관련 조문",</a:t>
            </a:r>
          </a:p>
          <a:p xmlns:a="http://schemas.openxmlformats.org/drawingml/2006/main">
            <a:r>
              <a:t>        "process": "승인 판본·효력일·영향 조문 대사",</a:t>
            </a:r>
          </a:p>
          <a:p xmlns:a="http://schemas.openxmlformats.org/drawingml/2006/main">
            <a:r>
              <a:t>        "output": "개정·오류 후보"</a:t>
            </a:r>
          </a:p>
          <a:p xmlns:a="http://schemas.openxmlformats.org/drawingml/2006/main">
            <a:r>
              <a:t>      },</a:t>
            </a:r>
          </a:p>
          <a:p xmlns:a="http://schemas.openxmlformats.org/drawingml/2006/main">
            <a:r>
              <a:t>      {</a:t>
            </a:r>
          </a:p>
          <a:p xmlns:a="http://schemas.openxmlformats.org/drawingml/2006/main">
            <a:r>
              <a:t>        "title": "전자결재·담당 검토",</a:t>
            </a:r>
          </a:p>
          <a:p xmlns:a="http://schemas.openxmlformats.org/drawingml/2006/main">
            <a:r>
              <a:t>        "input": "개정·오류 후보",</a:t>
            </a:r>
          </a:p>
          <a:p xmlns:a="http://schemas.openxmlformats.org/drawingml/2006/main">
            <a:r>
              <a:t>        "process": "소관부서 검토 후 전자결재 절차 연계",</a:t>
            </a:r>
          </a:p>
          <a:p xmlns:a="http://schemas.openxmlformats.org/drawingml/2006/main">
            <a:r>
              <a:t>        "output": "결재 검토"</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"특정 사내표준을 개정하고 영향 조문을 검토해 결재",</a:t>
            </a:r>
          </a:p>
          <a:p xmlns:a="http://schemas.openxmlformats.org/drawingml/2006/main">
            <a:r>
              <a:t>      "exception": "미승인 개정안·참조 조문 삭제·구판 재인용",</a:t>
            </a:r>
          </a:p>
          <a:p xmlns:a="http://schemas.openxmlformats.org/drawingml/2006/main">
            <a:r>
              <a:t>      "evidence": "판본별 변경·영향·결재·색인 반영 연결표",</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"직원·규정 소관부서·결재자",</a:t>
            </a:r>
          </a:p>
          <a:p xmlns:a="http://schemas.openxmlformats.org/drawingml/2006/main">
            <a:r>
              <a:t>          "processing": "문서번호·적용 업무·검토 사유 식별",</a:t>
            </a:r>
          </a:p>
          <a:p xmlns:a="http://schemas.openxmlformats.org/drawingml/2006/main">
            <a:r>
              <a:t>          "output": "사내표준"</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"사내표준·개정 이력",</a:t>
            </a:r>
          </a:p>
          <a:p xmlns:a="http://schemas.openxmlformats.org/drawingml/2006/main">
            <a:r>
              <a:t>          "processing": "사내표준·개정 이력·근거 조문의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"사내표준",</a:t>
            </a:r>
          </a:p>
          <a:p xmlns:a="http://schemas.openxmlformats.org/drawingml/2006/main">
            <a:r>
              <a:t>          "processing": "사내표준 RAG와 조문 대조·개정 초안",</a:t>
            </a:r>
          </a:p>
          <a:p xmlns:a="http://schemas.openxmlformats.org/drawingml/2006/main">
            <a:r>
              <a:t>          "output": "개정·오류 후보"</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"개정·오류 후보",</a:t>
            </a:r>
          </a:p>
          <a:p xmlns:a="http://schemas.openxmlformats.org/drawingml/2006/main">
            <a:r>
              <a:t>          "processing": "소관부서 검토 후 전자결재 절차 연계",</a:t>
            </a:r>
          </a:p>
          <a:p xmlns:a="http://schemas.openxmlformats.org/drawingml/2006/main">
            <a:r>
              <a:t>          "output": "결재 검토"</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"승인본 반영·구판 회수·개정 영향 점검",</a:t>
            </a:r>
          </a:p>
          <a:p xmlns:a="http://schemas.openxmlformats.org/drawingml/2006/main">
            <a:r>
              <a:t>          "output": "판본별 변경·영향·결재·색인 반영 연결표"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"승인본 반영·구판 회수·개정 영향 점검",</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"기관 사보 운영 소개",</a:t>
            </a:r>
          </a:p>
          <a:p xmlns:a="http://schemas.openxmlformats.org/drawingml/2006/main">
            <a:r>
              <a:t>        "url": "https://www.kepco.co.kr/KEPCO_FILE/html/2026_09/issue.html"</a:t>
            </a:r>
          </a:p>
          <a:p xmlns:a="http://schemas.openxmlformats.org/drawingml/2006/main">
            <a:r>
              <a:t>      }</a:t>
            </a:r>
          </a:p>
          <a:p xmlns:a="http://schemas.openxmlformats.org/drawingml/2006/main">
            <a:r>
              <a:t>    ],</a:t>
            </a:r>
          </a:p>
          <a:p xmlns:a="http://schemas.openxmlformats.org/drawingml/2006/main">
            <a:r>
              <a:t>    "implication": "규정 검색 결과를 개정 영향·책임부서·전자결재 절차까지 연결",</a:t>
            </a:r>
          </a:p>
          <a:p xmlns:a="http://schemas.openxmlformats.org/drawingml/2006/main">
            <a:r>
              <a:t>    "local": "규정 검색 결과를 개정 영향·책임부서·전자결재 절차까지 연결",</a:t>
            </a:r>
          </a:p>
          <a:p xmlns:a="http://schemas.openxmlformats.org/drawingml/2006/main">
            <a:r>
              <a:t>    "sourceDetail": null,</a:t>
            </a:r>
          </a:p>
          <a:p xmlns:a="http://schemas.openxmlformats.org/drawingml/2006/main">
            <a:r>
              <a:t>    "narrative": [</a:t>
            </a:r>
          </a:p>
          <a:p xmlns:a="http://schemas.openxmlformats.org/drawingml/2006/main">
            <a:r>
              <a:t>      "한국전력의 사내표준 AI 플랫폼 사례. 직원의 표준 질의에 근거 조문을 연결하고 표준 개정 검토와 전자결재까지 이어지는 업무 지원 구조.",</a:t>
            </a:r>
          </a:p>
          <a:p xmlns:a="http://schemas.openxmlformats.org/drawingml/2006/main">
            <a:r>
              <a:t>      "표준 문서의 조문·판본을 검색 단위로 구성하고 질의 응답에 근거를 제시하는 흐름. 개정 검토에서는 변경 대상과 관련 조문을 비교하고 검토자가 확인한 내용을 결재 과정으로 연결하는 논리 설계.",</a:t>
            </a:r>
          </a:p>
          <a:p xmlns:a="http://schemas.openxmlformats.org/drawingml/2006/main">
            <a:r>
              <a:t>      "CCK에서 참고할 지점은 검색 결과가 규정 개정·결재 업무로 이어지는 연결. TS 지침의 시행일·관련 조항·개정 책임 부서를 함께 관리하고 최신 조문 검색, 개정 영향 누락, 승인 전 반영을 각각 시험할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"사내표준 질의",</a:t>
            </a:r>
          </a:p>
          <a:p xmlns:a="http://schemas.openxmlformats.org/drawingml/2006/main">
            <a:r>
              <a:t>          "layer": "이용 접점",</a:t>
            </a:r>
          </a:p>
          <a:p xmlns:a="http://schemas.openxmlformats.org/drawingml/2006/main">
            <a:r>
              <a:t>          "detail": "직원·규정 소관부서·결재자",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"문서번호·개정사유",</a:t>
            </a:r>
          </a:p>
          <a:p xmlns:a="http://schemas.openxmlformats.org/drawingml/2006/main">
            <a:r>
              <a:t>          "layer": "업무 문맥",</a:t>
            </a:r>
          </a:p>
          <a:p xmlns:a="http://schemas.openxmlformats.org/drawingml/2006/main">
            <a:r>
              <a:t>          "detail": "문서번호·적용 업무·검토 사유 식별",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"유효 표준 검색",</a:t>
            </a:r>
          </a:p>
          <a:p xmlns:a="http://schemas.openxmlformats.org/drawingml/2006/main">
            <a:r>
              <a:t>          "layer": "자료 조회",</a:t>
            </a:r>
          </a:p>
          <a:p xmlns:a="http://schemas.openxmlformats.org/drawingml/2006/main">
            <a:r>
              <a:t>          "detail": "사내표준",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"조문 대조·초안",</a:t>
            </a:r>
          </a:p>
          <a:p xmlns:a="http://schemas.openxmlformats.org/drawingml/2006/main">
            <a:r>
              <a:t>          "layer": "핵심 처리",</a:t>
            </a:r>
          </a:p>
          <a:p xmlns:a="http://schemas.openxmlformats.org/drawingml/2006/main">
            <a:r>
              <a:t>          "detail": "사내표준 RAG와 조문 대조·개정 초안",</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"영향·판본 검사",</a:t>
            </a:r>
          </a:p>
          <a:p xmlns:a="http://schemas.openxmlformats.org/drawingml/2006/main">
            <a:r>
              <a:t>          "layer": "결과 검증",</a:t>
            </a:r>
          </a:p>
          <a:p xmlns:a="http://schemas.openxmlformats.org/drawingml/2006/main">
            <a:r>
              <a:t>          "detail": "승인 판본·효력일·영향 조문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"소관부서 검토",</a:t>
            </a:r>
          </a:p>
          <a:p xmlns:a="http://schemas.openxmlformats.org/drawingml/2006/main">
            <a:r>
              <a:t>          "layer": "사람 확인",</a:t>
            </a:r>
          </a:p>
          <a:p xmlns:a="http://schemas.openxmlformats.org/drawingml/2006/main">
            <a:r>
              <a:t>          "detail": "특정 사내표준을 개정하고 영향 조문을 검토해 결재",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"전자결재 연결",</a:t>
            </a:r>
          </a:p>
          <a:p xmlns:a="http://schemas.openxmlformats.org/drawingml/2006/main">
            <a:r>
              <a:t>          "layer": "업무 연결",</a:t>
            </a:r>
          </a:p>
          <a:p xmlns:a="http://schemas.openxmlformats.org/drawingml/2006/main">
            <a:r>
              <a:t>          "detail": "소관부서 검토 후 전자결재 절차 연계",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"승인본 갱신",</a:t>
            </a:r>
          </a:p>
          <a:p xmlns:a="http://schemas.openxmlformats.org/drawingml/2006/main">
            <a:r>
              <a:t>          "layer": "운영 관측",</a:t>
            </a:r>
          </a:p>
          <a:p xmlns:a="http://schemas.openxmlformats.org/drawingml/2006/main">
            <a:r>
              <a:t>          "detail": "승인본 반영·구판 회수·개정 영향 점검",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"사내표준·개정이력",</a:t>
            </a:r>
          </a:p>
          <a:p xmlns:a="http://schemas.openxmlformats.org/drawingml/2006/main">
            <a:r>
              <a:t>          "layer": "데이터 원천",</a:t>
            </a:r>
          </a:p>
          <a:p xmlns:a="http://schemas.openxmlformats.org/drawingml/2006/main">
            <a:r>
              <a:t>          "detail": "사내표준·개정 이력",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"조문·효력일 정합화",</a:t>
            </a:r>
          </a:p>
          <a:p xmlns:a="http://schemas.openxmlformats.org/drawingml/2006/main">
            <a:r>
              <a:t>          "layer": "준비·갱신",</a:t>
            </a:r>
          </a:p>
          <a:p xmlns:a="http://schemas.openxmlformats.org/drawingml/2006/main">
            <a:r>
              <a:t>          "detail": "사내표준·개정 이력·근거 조문의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"표준·개정 후보",</a:t>
            </a:r>
          </a:p>
          <a:p xmlns:a="http://schemas.openxmlformats.org/drawingml/2006/main">
            <a:r>
              <a:t>          "layer": "상태·지식 저장",</a:t>
            </a:r>
          </a:p>
          <a:p xmlns:a="http://schemas.openxmlformats.org/drawingml/2006/main">
            <a:r>
              <a:t>          "detail": "판본별 변경·영향·결재·색인 반영 연결표",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"승인·배포 권한",</a:t>
            </a:r>
          </a:p>
          <a:p xmlns:a="http://schemas.openxmlformats.org/drawingml/2006/main">
            <a:r>
              <a:t>          "layer": "권한·정책",</a:t>
            </a:r>
          </a:p>
          <a:p xmlns:a="http://schemas.openxmlformats.org/drawingml/2006/main">
            <a:r>
              <a:t>          "detail": "미승인 개정안·참조 조문 삭제·구판 재인용",</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"문서번호·적용 업무·검토 사유 식별",</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"사내표준",</a:t>
            </a:r>
          </a:p>
          <a:p xmlns:a="http://schemas.openxmlformats.org/drawingml/2006/main">
            <a:r>
              <a:t>          "check": "승인 판본·효력일·영향 조문 대사"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"관련 조문",</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"개정·오류 후보",</a:t>
            </a:r>
          </a:p>
          <a:p xmlns:a="http://schemas.openxmlformats.org/drawingml/2006/main">
            <a:r>
              <a:t>          "check": "미승인 개정안·참조 조문 삭제·구판 재인용"</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"개정·오류 후보",</a:t>
            </a:r>
          </a:p>
          <a:p xmlns:a="http://schemas.openxmlformats.org/drawingml/2006/main">
            <a:r>
              <a:t>          "check": "소관부서 검토 후 전자결재 절차 연계"</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"결재 검토",</a:t>
            </a:r>
          </a:p>
          <a:p xmlns:a="http://schemas.openxmlformats.org/drawingml/2006/main">
            <a:r>
              <a:t>          "check": "판본별 변경·영향·결재·색인 반영 연결표"</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"사내표준 검색부터 개정 검토까지 연결 / 표준 검색·개정 검토·전자결재",</a:t>
            </a:r>
          </a:p>
          <a:p xmlns:a="http://schemas.openxmlformats.org/drawingml/2006/main">
            <a:r>
              <a:t>        "extension": "규정 검색 결과를 개정 영향·책임부서·전자결재 절차까지 연결"</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"미승인 개정안·참조 조문 삭제·구판 재인용",</a:t>
            </a:r>
          </a:p>
          <a:p xmlns:a="http://schemas.openxmlformats.org/drawingml/2006/main">
            <a:r>
              <a:t>        "hold": "승인 판본·효력일·영향 조문 대사",</a:t>
            </a:r>
          </a:p>
          <a:p xmlns:a="http://schemas.openxmlformats.org/drawingml/2006/main">
            <a:r>
              <a:t>        "recovery": "승인본 반영·구판 회수·개정 영향 점검",</a:t>
            </a:r>
          </a:p>
          <a:p xmlns:a="http://schemas.openxmlformats.org/drawingml/2006/main">
            <a:r>
              <a:t>        "evidence": "판본별 변경·영향·결재·색인 반영 연결표"</a:t>
            </a:r>
          </a:p>
          <a:p xmlns:a="http://schemas.openxmlformats.org/drawingml/2006/main">
            <a:r>
              <a:t>      },</a:t>
            </a:r>
          </a:p>
          <a:p xmlns:a="http://schemas.openxmlformats.org/drawingml/2006/main">
            <a:r>
              <a:t>      "data": {</a:t>
            </a:r>
          </a:p>
          <a:p xmlns:a="http://schemas.openxmlformats.org/drawingml/2006/main">
            <a:r>
              <a:t>        "source": "사내표준·개정 이력",</a:t>
            </a:r>
          </a:p>
          <a:p xmlns:a="http://schemas.openxmlformats.org/drawingml/2006/main">
            <a:r>
              <a:t>        "prepare": "사내표준·개정 이력·근거 조문의 연결",</a:t>
            </a:r>
          </a:p>
          <a:p xmlns:a="http://schemas.openxmlformats.org/drawingml/2006/main">
            <a:r>
              <a:t>        "output": "사내표준",</a:t>
            </a:r>
          </a:p>
          <a:p xmlns:a="http://schemas.openxmlformats.org/drawingml/2006/main">
            <a:r>
              <a:t>        "refresh": "승인본 반영·구판 회수·개정 영향 점검"</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"PF02",</a:t>
            </a:r>
          </a:p>
          <a:p xmlns:a="http://schemas.openxmlformats.org/drawingml/2006/main">
            <a:r>
              <a:t>    "success": [</a:t>
            </a:r>
          </a:p>
          <a:p xmlns:a="http://schemas.openxmlformats.org/drawingml/2006/main">
            <a:r>
              <a:t>      "사내표준 검색과 개정 검토 연결",</a:t>
            </a:r>
          </a:p>
          <a:p xmlns:a="http://schemas.openxmlformats.org/drawingml/2006/main">
            <a:r>
              <a:t>      "전자결재 흐름에서의 활용"</a:t>
            </a:r>
          </a:p>
          <a:p xmlns:a="http://schemas.openxmlformats.org/drawingml/2006/main">
            <a:r>
              <a:t>    ],</a:t>
            </a:r>
          </a:p>
          <a:p xmlns:a="http://schemas.openxmlformats.org/drawingml/2006/main">
            <a:r>
              <a:t>    "risks": [</a:t>
            </a:r>
          </a:p>
          <a:p xmlns:a="http://schemas.openxmlformats.org/drawingml/2006/main">
            <a:r>
              <a:t>      "규정 판본·효력일 불일치",</a:t>
            </a:r>
          </a:p>
          <a:p xmlns:a="http://schemas.openxmlformats.org/drawingml/2006/main">
            <a:r>
              <a:t>      "개정 초안의 무승인 배포"</a:t>
            </a:r>
          </a:p>
          <a:p xmlns:a="http://schemas.openxmlformats.org/drawingml/2006/main">
            <a:r>
              <a:t>    ],</a:t>
            </a:r>
          </a:p>
          <a:p xmlns:a="http://schemas.openxmlformats.org/drawingml/2006/main">
            <a:r>
              <a:t>    "architecture": [</a:t>
            </a:r>
          </a:p>
          <a:p xmlns:a="http://schemas.openxmlformats.org/drawingml/2006/main">
            <a:r>
              <a:t>      "직원·규정 담당",</a:t>
            </a:r>
          </a:p>
          <a:p xmlns:a="http://schemas.openxmlformats.org/drawingml/2006/main">
            <a:r>
              <a:t>      "근거 검색·개정 검토",</a:t>
            </a:r>
          </a:p>
          <a:p xmlns:a="http://schemas.openxmlformats.org/drawingml/2006/main">
            <a:r>
              <a:t>      "사내표준·개정 이력",</a:t>
            </a:r>
          </a:p>
          <a:p xmlns:a="http://schemas.openxmlformats.org/drawingml/2006/main">
            <a:r>
              <a:t>      "전자결재 검토자"</a:t>
            </a:r>
          </a:p>
          <a:p xmlns:a="http://schemas.openxmlformats.org/drawingml/2006/main">
            <a:r>
              <a:t>    ],</a:t>
            </a:r>
          </a:p>
          <a:p xmlns:a="http://schemas.openxmlformats.org/drawingml/2006/main">
            <a:r>
              <a:t>    "transfers": [</a:t>
            </a:r>
          </a:p>
          <a:p xmlns:a="http://schemas.openxmlformats.org/drawingml/2006/main">
            <a:r>
              <a:t>      "사내표준",</a:t>
            </a:r>
          </a:p>
          <a:p xmlns:a="http://schemas.openxmlformats.org/drawingml/2006/main">
            <a:r>
              <a:t>      "관련 조문",</a:t>
            </a:r>
          </a:p>
          <a:p xmlns:a="http://schemas.openxmlformats.org/drawingml/2006/main">
            <a:r>
              <a:t>      "개정·오류 후보",</a:t>
            </a:r>
          </a:p>
          <a:p xmlns:a="http://schemas.openxmlformats.org/drawingml/2006/main">
            <a:r>
              <a:t>      "결재 검토"</a:t>
            </a:r>
          </a:p>
          <a:p xmlns:a="http://schemas.openxmlformats.org/drawingml/2006/main">
            <a:r>
              <a:t>    ],</a:t>
            </a:r>
          </a:p>
          <a:p xmlns:a="http://schemas.openxmlformats.org/drawingml/2006/main">
            <a:r>
              <a:t>    "control": "승인 판본·효력일·영향 조문 대사",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기관 사보 운영 소개 https://www.kepco.co.kr/KEPCO_FILE/html/2026_09/issue.html</a:t>
            </a:r>
          </a:p>
          <a:p xmlns:a="http://schemas.openxmlformats.org/drawingml/2006/main">
            <a:r>
              <a:t>홈페이지 https://heen1987-ops.github.io/TS-business-Plan-001/index.html?view=platform-cases&amp;case=PF02</a:t>
            </a:r>
          </a:p>
          <a:p xmlns:a="http://schemas.openxmlformats.org/drawingml/2006/main">
            <a:r>
              <a:t>한계: 문서번호·답변 근거의 정비 부담 공개 · 제시된 절감 기대와 실측 성과의 구분</a:t>
            </a:r>
          </a:p>
          <a:p xmlns:a="http://schemas.openxmlformats.org/drawingml/2006/main">
            <a:r>
              <a:t>실패 위험: 규정 판본·효력일 불일치 / 개정 초안의 무승인 배포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"PF02",</a:t>
            </a:r>
          </a:p>
          <a:p xmlns:a="http://schemas.openxmlformats.org/drawingml/2006/main">
            <a:r>
              <a:t>    "sourceId": "A02",</a:t>
            </a:r>
          </a:p>
          <a:p xmlns:a="http://schemas.openxmlformats.org/drawingml/2006/main">
            <a:r>
              <a:t>    "title": "한전 사내표준 AI 플랫폼",</a:t>
            </a:r>
          </a:p>
          <a:p xmlns:a="http://schemas.openxmlformats.org/drawingml/2006/main">
            <a:r>
              <a:t>    "region": "국내",</a:t>
            </a:r>
          </a:p>
          <a:p xmlns:a="http://schemas.openxmlformats.org/drawingml/2006/main">
            <a:r>
              <a:t>    "owner": "한국전력",</a:t>
            </a:r>
          </a:p>
          <a:p xmlns:a="http://schemas.openxmlformats.org/drawingml/2006/main">
            <a:r>
              <a:t>    "state": "정식 운영 · 기관 발표",</a:t>
            </a:r>
          </a:p>
          <a:p xmlns:a="http://schemas.openxmlformats.org/drawingml/2006/main">
            <a:r>
              <a:t>    "period": "2026.05 개시 / 09 소개",</a:t>
            </a:r>
          </a:p>
          <a:p xmlns:a="http://schemas.openxmlformats.org/drawingml/2006/main">
            <a:r>
              <a:t>    "fact": "사내표준 질의·근거 조문과 개정 검토·전자결재를 연결한 업무 플랫폼",</a:t>
            </a:r>
          </a:p>
          <a:p xmlns:a="http://schemas.openxmlformats.org/drawingml/2006/main">
            <a:r>
              <a:t>    "limit": "문서번호·답변 근거의 정비 부담 공개 · 제시된 절감 기대와 실측 성과의 구분",</a:t>
            </a:r>
          </a:p>
          <a:p xmlns:a="http://schemas.openxmlformats.org/drawingml/2006/main">
            <a:r>
              <a:t>    "nodes": [</a:t>
            </a:r>
          </a:p>
          <a:p xmlns:a="http://schemas.openxmlformats.org/drawingml/2006/main">
            <a:r>
              <a:t>      "사내표준 정비",</a:t>
            </a:r>
          </a:p>
          <a:p xmlns:a="http://schemas.openxmlformats.org/drawingml/2006/main">
            <a:r>
              <a:t>      "근거 질의·응답",</a:t>
            </a:r>
          </a:p>
          <a:p xmlns:a="http://schemas.openxmlformats.org/drawingml/2006/main">
            <a:r>
              <a:t>      "개정·오류 점검",</a:t>
            </a:r>
          </a:p>
          <a:p xmlns:a="http://schemas.openxmlformats.org/drawingml/2006/main">
            <a:r>
              <a:t>      "전자결재·담당 검토"</a:t>
            </a:r>
          </a:p>
          <a:p xmlns:a="http://schemas.openxmlformats.org/drawingml/2006/main">
            <a:r>
              <a:t>    ],</a:t>
            </a:r>
          </a:p>
          <a:p xmlns:a="http://schemas.openxmlformats.org/drawingml/2006/main">
            <a:r>
              <a:t>    "apply": "규정 검색 결과를 개정 영향·책임부서·전자결재 절차까지 연결",</a:t>
            </a:r>
          </a:p>
          <a:p xmlns:a="http://schemas.openxmlformats.org/drawingml/2006/main">
            <a:r>
              <a:t>    "delta": "규정 개정 영향 업무 탐색 / 폐지 지식 차단 / 승인판본 배포",</a:t>
            </a:r>
          </a:p>
          <a:p xmlns:a="http://schemas.openxmlformats.org/drawingml/2006/main">
            <a:r>
              <a:t>    "test": "개정 전후 질문의 판본 일치 및 영향 업무 재평가",</a:t>
            </a:r>
          </a:p>
          <a:p xmlns:a="http://schemas.openxmlformats.org/drawingml/2006/main">
            <a:r>
              <a:t>    "url": "https://www.kepco.co.kr/KEPCO_FILE/html/2026_09/issue.html",</a:t>
            </a:r>
          </a:p>
          <a:p xmlns:a="http://schemas.openxmlformats.org/drawingml/2006/main">
            <a:r>
              <a:t>    "basis": "기관 사보 운영 소개",</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"https://www.kepco.co.kr/KEPCO_FILE/html/2026_09/issue.html"</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"PF02",</a:t>
            </a:r>
          </a:p>
          <a:p xmlns:a="http://schemas.openxmlformats.org/drawingml/2006/main">
            <a:r>
              <a:t>    "canonicalId": "PF02",</a:t>
            </a:r>
          </a:p>
          <a:p xmlns:a="http://schemas.openxmlformats.org/drawingml/2006/main">
            <a:r>
              <a:t>    "purpose": "사내표준 검색부터 개정 검토까지 연결",</a:t>
            </a:r>
          </a:p>
          <a:p xmlns:a="http://schemas.openxmlformats.org/drawingml/2006/main">
            <a:r>
              <a:t>    "users": "직원·규정 소관부서·결재자",</a:t>
            </a:r>
          </a:p>
          <a:p xmlns:a="http://schemas.openxmlformats.org/drawingml/2006/main">
            <a:r>
              <a:t>    "scope": [</a:t>
            </a:r>
          </a:p>
          <a:p xmlns:a="http://schemas.openxmlformats.org/drawingml/2006/main">
            <a:r>
              <a:t>      "표준 검색",</a:t>
            </a:r>
          </a:p>
          <a:p xmlns:a="http://schemas.openxmlformats.org/drawingml/2006/main">
            <a:r>
              <a:t>      "개정 검토",</a:t>
            </a:r>
          </a:p>
          <a:p xmlns:a="http://schemas.openxmlformats.org/drawingml/2006/main">
            <a:r>
              <a:t>      "전자결재"</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"직원·규정 담당",</a:t>
            </a:r>
          </a:p>
          <a:p xmlns:a="http://schemas.openxmlformats.org/drawingml/2006/main">
            <a:r>
              <a:t>        "detail": "문서번호·적용 업무·검토 사유 식별",</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"표준 검색 / 개정 검토 / 전자결재",</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"근거 검색·개정 검토",</a:t>
            </a:r>
          </a:p>
          <a:p xmlns:a="http://schemas.openxmlformats.org/drawingml/2006/main">
            <a:r>
              <a:t>        "detail": "사내표준 RAG와 조문 대조·개정 초안",</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"전자결재 검토자",</a:t>
            </a:r>
          </a:p>
          <a:p xmlns:a="http://schemas.openxmlformats.org/drawingml/2006/main">
            <a:r>
              <a:t>        "detail": "소관부서 검토 후 전자결재 절차 연계",</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"사내표준·개정 이력",</a:t>
            </a:r>
          </a:p>
          <a:p xmlns:a="http://schemas.openxmlformats.org/drawingml/2006/main">
            <a:r>
              <a:t>        "detail": "사내표준·개정 이력·근거 조문의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"승인본 반영·구판 회수·개정 영향 점검",</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"사내표준 정비",</a:t>
            </a:r>
          </a:p>
          <a:p xmlns:a="http://schemas.openxmlformats.org/drawingml/2006/main">
            <a:r>
              <a:t>        "input": "문서번호·적용 업무·검토 사유 식별",</a:t>
            </a:r>
          </a:p>
          <a:p xmlns:a="http://schemas.openxmlformats.org/drawingml/2006/main">
            <a:r>
              <a:t>        "process": "사내표준·개정 이력·근거 조문의 연결",</a:t>
            </a:r>
          </a:p>
          <a:p xmlns:a="http://schemas.openxmlformats.org/drawingml/2006/main">
            <a:r>
              <a:t>        "output": "사내표준"</a:t>
            </a:r>
          </a:p>
          <a:p xmlns:a="http://schemas.openxmlformats.org/drawingml/2006/main">
            <a:r>
              <a:t>      },</a:t>
            </a:r>
          </a:p>
          <a:p xmlns:a="http://schemas.openxmlformats.org/drawingml/2006/main">
            <a:r>
              <a:t>      {</a:t>
            </a:r>
          </a:p>
          <a:p xmlns:a="http://schemas.openxmlformats.org/drawingml/2006/main">
            <a:r>
              <a:t>        "title": "근거 질의·응답",</a:t>
            </a:r>
          </a:p>
          <a:p xmlns:a="http://schemas.openxmlformats.org/drawingml/2006/main">
            <a:r>
              <a:t>        "input": "사내표준",</a:t>
            </a:r>
          </a:p>
          <a:p xmlns:a="http://schemas.openxmlformats.org/drawingml/2006/main">
            <a:r>
              <a:t>        "process": "사내표준 RAG와 조문 대조·개정 초안",</a:t>
            </a:r>
          </a:p>
          <a:p xmlns:a="http://schemas.openxmlformats.org/drawingml/2006/main">
            <a:r>
              <a:t>        "output": "관련 조문"</a:t>
            </a:r>
          </a:p>
          <a:p xmlns:a="http://schemas.openxmlformats.org/drawingml/2006/main">
            <a:r>
              <a:t>      },</a:t>
            </a:r>
          </a:p>
          <a:p xmlns:a="http://schemas.openxmlformats.org/drawingml/2006/main">
            <a:r>
              <a:t>      {</a:t>
            </a:r>
          </a:p>
          <a:p xmlns:a="http://schemas.openxmlformats.org/drawingml/2006/main">
            <a:r>
              <a:t>        "title": "개정·오류 점검",</a:t>
            </a:r>
          </a:p>
          <a:p xmlns:a="http://schemas.openxmlformats.org/drawingml/2006/main">
            <a:r>
              <a:t>        "input": "관련 조문",</a:t>
            </a:r>
          </a:p>
          <a:p xmlns:a="http://schemas.openxmlformats.org/drawingml/2006/main">
            <a:r>
              <a:t>        "process": "승인 판본·효력일·영향 조문 대사",</a:t>
            </a:r>
          </a:p>
          <a:p xmlns:a="http://schemas.openxmlformats.org/drawingml/2006/main">
            <a:r>
              <a:t>        "output": "개정·오류 후보"</a:t>
            </a:r>
          </a:p>
          <a:p xmlns:a="http://schemas.openxmlformats.org/drawingml/2006/main">
            <a:r>
              <a:t>      },</a:t>
            </a:r>
          </a:p>
          <a:p xmlns:a="http://schemas.openxmlformats.org/drawingml/2006/main">
            <a:r>
              <a:t>      {</a:t>
            </a:r>
          </a:p>
          <a:p xmlns:a="http://schemas.openxmlformats.org/drawingml/2006/main">
            <a:r>
              <a:t>        "title": "전자결재·담당 검토",</a:t>
            </a:r>
          </a:p>
          <a:p xmlns:a="http://schemas.openxmlformats.org/drawingml/2006/main">
            <a:r>
              <a:t>        "input": "개정·오류 후보",</a:t>
            </a:r>
          </a:p>
          <a:p xmlns:a="http://schemas.openxmlformats.org/drawingml/2006/main">
            <a:r>
              <a:t>        "process": "소관부서 검토 후 전자결재 절차 연계",</a:t>
            </a:r>
          </a:p>
          <a:p xmlns:a="http://schemas.openxmlformats.org/drawingml/2006/main">
            <a:r>
              <a:t>        "output": "결재 검토"</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"특정 사내표준을 개정하고 영향 조문을 검토해 결재",</a:t>
            </a:r>
          </a:p>
          <a:p xmlns:a="http://schemas.openxmlformats.org/drawingml/2006/main">
            <a:r>
              <a:t>      "exception": "미승인 개정안·참조 조문 삭제·구판 재인용",</a:t>
            </a:r>
          </a:p>
          <a:p xmlns:a="http://schemas.openxmlformats.org/drawingml/2006/main">
            <a:r>
              <a:t>      "evidence": "판본별 변경·영향·결재·색인 반영 연결표",</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"직원·규정 소관부서·결재자",</a:t>
            </a:r>
          </a:p>
          <a:p xmlns:a="http://schemas.openxmlformats.org/drawingml/2006/main">
            <a:r>
              <a:t>          "processing": "문서번호·적용 업무·검토 사유 식별",</a:t>
            </a:r>
          </a:p>
          <a:p xmlns:a="http://schemas.openxmlformats.org/drawingml/2006/main">
            <a:r>
              <a:t>          "output": "사내표준"</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"사내표준·개정 이력",</a:t>
            </a:r>
          </a:p>
          <a:p xmlns:a="http://schemas.openxmlformats.org/drawingml/2006/main">
            <a:r>
              <a:t>          "processing": "사내표준·개정 이력·근거 조문의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"사내표준",</a:t>
            </a:r>
          </a:p>
          <a:p xmlns:a="http://schemas.openxmlformats.org/drawingml/2006/main">
            <a:r>
              <a:t>          "processing": "사내표준 RAG와 조문 대조·개정 초안",</a:t>
            </a:r>
          </a:p>
          <a:p xmlns:a="http://schemas.openxmlformats.org/drawingml/2006/main">
            <a:r>
              <a:t>          "output": "개정·오류 후보"</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"개정·오류 후보",</a:t>
            </a:r>
          </a:p>
          <a:p xmlns:a="http://schemas.openxmlformats.org/drawingml/2006/main">
            <a:r>
              <a:t>          "processing": "소관부서 검토 후 전자결재 절차 연계",</a:t>
            </a:r>
          </a:p>
          <a:p xmlns:a="http://schemas.openxmlformats.org/drawingml/2006/main">
            <a:r>
              <a:t>          "output": "결재 검토"</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"승인본 반영·구판 회수·개정 영향 점검",</a:t>
            </a:r>
          </a:p>
          <a:p xmlns:a="http://schemas.openxmlformats.org/drawingml/2006/main">
            <a:r>
              <a:t>          "output": "판본별 변경·영향·결재·색인 반영 연결표"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"승인본 반영·구판 회수·개정 영향 점검",</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"기관 사보 운영 소개",</a:t>
            </a:r>
          </a:p>
          <a:p xmlns:a="http://schemas.openxmlformats.org/drawingml/2006/main">
            <a:r>
              <a:t>        "url": "https://www.kepco.co.kr/KEPCO_FILE/html/2026_09/issue.html"</a:t>
            </a:r>
          </a:p>
          <a:p xmlns:a="http://schemas.openxmlformats.org/drawingml/2006/main">
            <a:r>
              <a:t>      }</a:t>
            </a:r>
          </a:p>
          <a:p xmlns:a="http://schemas.openxmlformats.org/drawingml/2006/main">
            <a:r>
              <a:t>    ],</a:t>
            </a:r>
          </a:p>
          <a:p xmlns:a="http://schemas.openxmlformats.org/drawingml/2006/main">
            <a:r>
              <a:t>    "implication": "규정 검색 결과를 개정 영향·책임부서·전자결재 절차까지 연결",</a:t>
            </a:r>
          </a:p>
          <a:p xmlns:a="http://schemas.openxmlformats.org/drawingml/2006/main">
            <a:r>
              <a:t>    "local": "규정 검색 결과를 개정 영향·책임부서·전자결재 절차까지 연결",</a:t>
            </a:r>
          </a:p>
          <a:p xmlns:a="http://schemas.openxmlformats.org/drawingml/2006/main">
            <a:r>
              <a:t>    "sourceDetail": null,</a:t>
            </a:r>
          </a:p>
          <a:p xmlns:a="http://schemas.openxmlformats.org/drawingml/2006/main">
            <a:r>
              <a:t>    "narrative": [</a:t>
            </a:r>
          </a:p>
          <a:p xmlns:a="http://schemas.openxmlformats.org/drawingml/2006/main">
            <a:r>
              <a:t>      "한국전력의 사내표준 AI 플랫폼 사례. 직원의 표준 질의에 근거 조문을 연결하고 표준 개정 검토와 전자결재까지 이어지는 업무 지원 구조.",</a:t>
            </a:r>
          </a:p>
          <a:p xmlns:a="http://schemas.openxmlformats.org/drawingml/2006/main">
            <a:r>
              <a:t>      "표준 문서의 조문·판본을 검색 단위로 구성하고 질의 응답에 근거를 제시하는 흐름. 개정 검토에서는 변경 대상과 관련 조문을 비교하고 검토자가 확인한 내용을 결재 과정으로 연결하는 논리 설계.",</a:t>
            </a:r>
          </a:p>
          <a:p xmlns:a="http://schemas.openxmlformats.org/drawingml/2006/main">
            <a:r>
              <a:t>      "CCK에서 참고할 지점은 검색 결과가 규정 개정·결재 업무로 이어지는 연결. TS 지침의 시행일·관련 조항·개정 책임 부서를 함께 관리하고 최신 조문 검색, 개정 영향 누락, 승인 전 반영을 각각 시험할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"사내표준 질의",</a:t>
            </a:r>
          </a:p>
          <a:p xmlns:a="http://schemas.openxmlformats.org/drawingml/2006/main">
            <a:r>
              <a:t>          "layer": "이용 접점",</a:t>
            </a:r>
          </a:p>
          <a:p xmlns:a="http://schemas.openxmlformats.org/drawingml/2006/main">
            <a:r>
              <a:t>          "detail": "직원·규정 소관부서·결재자",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"문서번호·개정사유",</a:t>
            </a:r>
          </a:p>
          <a:p xmlns:a="http://schemas.openxmlformats.org/drawingml/2006/main">
            <a:r>
              <a:t>          "layer": "업무 문맥",</a:t>
            </a:r>
          </a:p>
          <a:p xmlns:a="http://schemas.openxmlformats.org/drawingml/2006/main">
            <a:r>
              <a:t>          "detail": "문서번호·적용 업무·검토 사유 식별",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"유효 표준 검색",</a:t>
            </a:r>
          </a:p>
          <a:p xmlns:a="http://schemas.openxmlformats.org/drawingml/2006/main">
            <a:r>
              <a:t>          "layer": "자료 조회",</a:t>
            </a:r>
          </a:p>
          <a:p xmlns:a="http://schemas.openxmlformats.org/drawingml/2006/main">
            <a:r>
              <a:t>          "detail": "사내표준",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"조문 대조·초안",</a:t>
            </a:r>
          </a:p>
          <a:p xmlns:a="http://schemas.openxmlformats.org/drawingml/2006/main">
            <a:r>
              <a:t>          "layer": "핵심 처리",</a:t>
            </a:r>
          </a:p>
          <a:p xmlns:a="http://schemas.openxmlformats.org/drawingml/2006/main">
            <a:r>
              <a:t>          "detail": "사내표준 RAG와 조문 대조·개정 초안",</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"영향·판본 검사",</a:t>
            </a:r>
          </a:p>
          <a:p xmlns:a="http://schemas.openxmlformats.org/drawingml/2006/main">
            <a:r>
              <a:t>          "layer": "결과 검증",</a:t>
            </a:r>
          </a:p>
          <a:p xmlns:a="http://schemas.openxmlformats.org/drawingml/2006/main">
            <a:r>
              <a:t>          "detail": "승인 판본·효력일·영향 조문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"소관부서 검토",</a:t>
            </a:r>
          </a:p>
          <a:p xmlns:a="http://schemas.openxmlformats.org/drawingml/2006/main">
            <a:r>
              <a:t>          "layer": "사람 확인",</a:t>
            </a:r>
          </a:p>
          <a:p xmlns:a="http://schemas.openxmlformats.org/drawingml/2006/main">
            <a:r>
              <a:t>          "detail": "특정 사내표준을 개정하고 영향 조문을 검토해 결재",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"전자결재 연결",</a:t>
            </a:r>
          </a:p>
          <a:p xmlns:a="http://schemas.openxmlformats.org/drawingml/2006/main">
            <a:r>
              <a:t>          "layer": "업무 연결",</a:t>
            </a:r>
          </a:p>
          <a:p xmlns:a="http://schemas.openxmlformats.org/drawingml/2006/main">
            <a:r>
              <a:t>          "detail": "소관부서 검토 후 전자결재 절차 연계",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"승인본 갱신",</a:t>
            </a:r>
          </a:p>
          <a:p xmlns:a="http://schemas.openxmlformats.org/drawingml/2006/main">
            <a:r>
              <a:t>          "layer": "운영 관측",</a:t>
            </a:r>
          </a:p>
          <a:p xmlns:a="http://schemas.openxmlformats.org/drawingml/2006/main">
            <a:r>
              <a:t>          "detail": "승인본 반영·구판 회수·개정 영향 점검",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"사내표준·개정이력",</a:t>
            </a:r>
          </a:p>
          <a:p xmlns:a="http://schemas.openxmlformats.org/drawingml/2006/main">
            <a:r>
              <a:t>          "layer": "데이터 원천",</a:t>
            </a:r>
          </a:p>
          <a:p xmlns:a="http://schemas.openxmlformats.org/drawingml/2006/main">
            <a:r>
              <a:t>          "detail": "사내표준·개정 이력",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"조문·효력일 정합화",</a:t>
            </a:r>
          </a:p>
          <a:p xmlns:a="http://schemas.openxmlformats.org/drawingml/2006/main">
            <a:r>
              <a:t>          "layer": "준비·갱신",</a:t>
            </a:r>
          </a:p>
          <a:p xmlns:a="http://schemas.openxmlformats.org/drawingml/2006/main">
            <a:r>
              <a:t>          "detail": "사내표준·개정 이력·근거 조문의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"표준·개정 후보",</a:t>
            </a:r>
          </a:p>
          <a:p xmlns:a="http://schemas.openxmlformats.org/drawingml/2006/main">
            <a:r>
              <a:t>          "layer": "상태·지식 저장",</a:t>
            </a:r>
          </a:p>
          <a:p xmlns:a="http://schemas.openxmlformats.org/drawingml/2006/main">
            <a:r>
              <a:t>          "detail": "판본별 변경·영향·결재·색인 반영 연결표",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"승인·배포 권한",</a:t>
            </a:r>
          </a:p>
          <a:p xmlns:a="http://schemas.openxmlformats.org/drawingml/2006/main">
            <a:r>
              <a:t>          "layer": "권한·정책",</a:t>
            </a:r>
          </a:p>
          <a:p xmlns:a="http://schemas.openxmlformats.org/drawingml/2006/main">
            <a:r>
              <a:t>          "detail": "미승인 개정안·참조 조문 삭제·구판 재인용",</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"문서번호·적용 업무·검토 사유 식별",</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"사내표준",</a:t>
            </a:r>
          </a:p>
          <a:p xmlns:a="http://schemas.openxmlformats.org/drawingml/2006/main">
            <a:r>
              <a:t>          "check": "승인 판본·효력일·영향 조문 대사"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"관련 조문",</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"개정·오류 후보",</a:t>
            </a:r>
          </a:p>
          <a:p xmlns:a="http://schemas.openxmlformats.org/drawingml/2006/main">
            <a:r>
              <a:t>          "check": "미승인 개정안·참조 조문 삭제·구판 재인용"</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"개정·오류 후보",</a:t>
            </a:r>
          </a:p>
          <a:p xmlns:a="http://schemas.openxmlformats.org/drawingml/2006/main">
            <a:r>
              <a:t>          "check": "소관부서 검토 후 전자결재 절차 연계"</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"결재 검토",</a:t>
            </a:r>
          </a:p>
          <a:p xmlns:a="http://schemas.openxmlformats.org/drawingml/2006/main">
            <a:r>
              <a:t>          "check": "판본별 변경·영향·결재·색인 반영 연결표"</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"사내표준 검색부터 개정 검토까지 연결 / 표준 검색·개정 검토·전자결재",</a:t>
            </a:r>
          </a:p>
          <a:p xmlns:a="http://schemas.openxmlformats.org/drawingml/2006/main">
            <a:r>
              <a:t>        "extension": "규정 검색 결과를 개정 영향·책임부서·전자결재 절차까지 연결"</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"미승인 개정안·참조 조문 삭제·구판 재인용",</a:t>
            </a:r>
          </a:p>
          <a:p xmlns:a="http://schemas.openxmlformats.org/drawingml/2006/main">
            <a:r>
              <a:t>        "hold": "승인 판본·효력일·영향 조문 대사",</a:t>
            </a:r>
          </a:p>
          <a:p xmlns:a="http://schemas.openxmlformats.org/drawingml/2006/main">
            <a:r>
              <a:t>        "recovery": "승인본 반영·구판 회수·개정 영향 점검",</a:t>
            </a:r>
          </a:p>
          <a:p xmlns:a="http://schemas.openxmlformats.org/drawingml/2006/main">
            <a:r>
              <a:t>        "evidence": "판본별 변경·영향·결재·색인 반영 연결표"</a:t>
            </a:r>
          </a:p>
          <a:p xmlns:a="http://schemas.openxmlformats.org/drawingml/2006/main">
            <a:r>
              <a:t>      },</a:t>
            </a:r>
          </a:p>
          <a:p xmlns:a="http://schemas.openxmlformats.org/drawingml/2006/main">
            <a:r>
              <a:t>      "data": {</a:t>
            </a:r>
          </a:p>
          <a:p xmlns:a="http://schemas.openxmlformats.org/drawingml/2006/main">
            <a:r>
              <a:t>        "source": "사내표준·개정 이력",</a:t>
            </a:r>
          </a:p>
          <a:p xmlns:a="http://schemas.openxmlformats.org/drawingml/2006/main">
            <a:r>
              <a:t>        "prepare": "사내표준·개정 이력·근거 조문의 연결",</a:t>
            </a:r>
          </a:p>
          <a:p xmlns:a="http://schemas.openxmlformats.org/drawingml/2006/main">
            <a:r>
              <a:t>        "output": "사내표준",</a:t>
            </a:r>
          </a:p>
          <a:p xmlns:a="http://schemas.openxmlformats.org/drawingml/2006/main">
            <a:r>
              <a:t>        "refresh": "승인본 반영·구판 회수·개정 영향 점검"</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"PF02",</a:t>
            </a:r>
          </a:p>
          <a:p xmlns:a="http://schemas.openxmlformats.org/drawingml/2006/main">
            <a:r>
              <a:t>    "success": [</a:t>
            </a:r>
          </a:p>
          <a:p xmlns:a="http://schemas.openxmlformats.org/drawingml/2006/main">
            <a:r>
              <a:t>      "사내표준 검색과 개정 검토 연결",</a:t>
            </a:r>
          </a:p>
          <a:p xmlns:a="http://schemas.openxmlformats.org/drawingml/2006/main">
            <a:r>
              <a:t>      "전자결재 흐름에서의 활용"</a:t>
            </a:r>
          </a:p>
          <a:p xmlns:a="http://schemas.openxmlformats.org/drawingml/2006/main">
            <a:r>
              <a:t>    ],</a:t>
            </a:r>
          </a:p>
          <a:p xmlns:a="http://schemas.openxmlformats.org/drawingml/2006/main">
            <a:r>
              <a:t>    "risks": [</a:t>
            </a:r>
          </a:p>
          <a:p xmlns:a="http://schemas.openxmlformats.org/drawingml/2006/main">
            <a:r>
              <a:t>      "규정 판본·효력일 불일치",</a:t>
            </a:r>
          </a:p>
          <a:p xmlns:a="http://schemas.openxmlformats.org/drawingml/2006/main">
            <a:r>
              <a:t>      "개정 초안의 무승인 배포"</a:t>
            </a:r>
          </a:p>
          <a:p xmlns:a="http://schemas.openxmlformats.org/drawingml/2006/main">
            <a:r>
              <a:t>    ],</a:t>
            </a:r>
          </a:p>
          <a:p xmlns:a="http://schemas.openxmlformats.org/drawingml/2006/main">
            <a:r>
              <a:t>    "architecture": [</a:t>
            </a:r>
          </a:p>
          <a:p xmlns:a="http://schemas.openxmlformats.org/drawingml/2006/main">
            <a:r>
              <a:t>      "직원·규정 담당",</a:t>
            </a:r>
          </a:p>
          <a:p xmlns:a="http://schemas.openxmlformats.org/drawingml/2006/main">
            <a:r>
              <a:t>      "근거 검색·개정 검토",</a:t>
            </a:r>
          </a:p>
          <a:p xmlns:a="http://schemas.openxmlformats.org/drawingml/2006/main">
            <a:r>
              <a:t>      "사내표준·개정 이력",</a:t>
            </a:r>
          </a:p>
          <a:p xmlns:a="http://schemas.openxmlformats.org/drawingml/2006/main">
            <a:r>
              <a:t>      "전자결재 검토자"</a:t>
            </a:r>
          </a:p>
          <a:p xmlns:a="http://schemas.openxmlformats.org/drawingml/2006/main">
            <a:r>
              <a:t>    ],</a:t>
            </a:r>
          </a:p>
          <a:p xmlns:a="http://schemas.openxmlformats.org/drawingml/2006/main">
            <a:r>
              <a:t>    "transfers": [</a:t>
            </a:r>
          </a:p>
          <a:p xmlns:a="http://schemas.openxmlformats.org/drawingml/2006/main">
            <a:r>
              <a:t>      "사내표준",</a:t>
            </a:r>
          </a:p>
          <a:p xmlns:a="http://schemas.openxmlformats.org/drawingml/2006/main">
            <a:r>
              <a:t>      "관련 조문",</a:t>
            </a:r>
          </a:p>
          <a:p xmlns:a="http://schemas.openxmlformats.org/drawingml/2006/main">
            <a:r>
              <a:t>      "개정·오류 후보",</a:t>
            </a:r>
          </a:p>
          <a:p xmlns:a="http://schemas.openxmlformats.org/drawingml/2006/main">
            <a:r>
              <a:t>      "결재 검토"</a:t>
            </a:r>
          </a:p>
          <a:p xmlns:a="http://schemas.openxmlformats.org/drawingml/2006/main">
            <a:r>
              <a:t>    ],</a:t>
            </a:r>
          </a:p>
          <a:p xmlns:a="http://schemas.openxmlformats.org/drawingml/2006/main">
            <a:r>
              <a:t>    "control": "승인 판본·효력일·영향 조문 대사",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기관 사보 운영 소개 https://www.kepco.co.kr/KEPCO_FILE/html/2026_09/issue.html</a:t>
            </a:r>
          </a:p>
          <a:p xmlns:a="http://schemas.openxmlformats.org/drawingml/2006/main">
            <a:r>
              <a:t>홈페이지 https://heen1987-ops.github.io/TS-business-Plan-001/index.html?view=platform-cases&amp;case=PF02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"PF02",</a:t>
            </a:r>
          </a:p>
          <a:p xmlns:a="http://schemas.openxmlformats.org/drawingml/2006/main">
            <a:r>
              <a:t>    "sourceId": "A02",</a:t>
            </a:r>
          </a:p>
          <a:p xmlns:a="http://schemas.openxmlformats.org/drawingml/2006/main">
            <a:r>
              <a:t>    "title": "한전 사내표준 AI 플랫폼",</a:t>
            </a:r>
          </a:p>
          <a:p xmlns:a="http://schemas.openxmlformats.org/drawingml/2006/main">
            <a:r>
              <a:t>    "region": "국내",</a:t>
            </a:r>
          </a:p>
          <a:p xmlns:a="http://schemas.openxmlformats.org/drawingml/2006/main">
            <a:r>
              <a:t>    "owner": "한국전력",</a:t>
            </a:r>
          </a:p>
          <a:p xmlns:a="http://schemas.openxmlformats.org/drawingml/2006/main">
            <a:r>
              <a:t>    "state": "정식 운영 · 기관 발표",</a:t>
            </a:r>
          </a:p>
          <a:p xmlns:a="http://schemas.openxmlformats.org/drawingml/2006/main">
            <a:r>
              <a:t>    "period": "2026.05 개시 / 09 소개",</a:t>
            </a:r>
          </a:p>
          <a:p xmlns:a="http://schemas.openxmlformats.org/drawingml/2006/main">
            <a:r>
              <a:t>    "fact": "사내표준 질의·근거 조문과 개정 검토·전자결재를 연결한 업무 플랫폼",</a:t>
            </a:r>
          </a:p>
          <a:p xmlns:a="http://schemas.openxmlformats.org/drawingml/2006/main">
            <a:r>
              <a:t>    "limit": "문서번호·답변 근거의 정비 부담 공개 · 제시된 절감 기대와 실측 성과의 구분",</a:t>
            </a:r>
          </a:p>
          <a:p xmlns:a="http://schemas.openxmlformats.org/drawingml/2006/main">
            <a:r>
              <a:t>    "nodes": [</a:t>
            </a:r>
          </a:p>
          <a:p xmlns:a="http://schemas.openxmlformats.org/drawingml/2006/main">
            <a:r>
              <a:t>      "사내표준 정비",</a:t>
            </a:r>
          </a:p>
          <a:p xmlns:a="http://schemas.openxmlformats.org/drawingml/2006/main">
            <a:r>
              <a:t>      "근거 질의·응답",</a:t>
            </a:r>
          </a:p>
          <a:p xmlns:a="http://schemas.openxmlformats.org/drawingml/2006/main">
            <a:r>
              <a:t>      "개정·오류 점검",</a:t>
            </a:r>
          </a:p>
          <a:p xmlns:a="http://schemas.openxmlformats.org/drawingml/2006/main">
            <a:r>
              <a:t>      "전자결재·담당 검토"</a:t>
            </a:r>
          </a:p>
          <a:p xmlns:a="http://schemas.openxmlformats.org/drawingml/2006/main">
            <a:r>
              <a:t>    ],</a:t>
            </a:r>
          </a:p>
          <a:p xmlns:a="http://schemas.openxmlformats.org/drawingml/2006/main">
            <a:r>
              <a:t>    "apply": "규정 검색 결과를 개정 영향·책임부서·전자결재 절차까지 연결",</a:t>
            </a:r>
          </a:p>
          <a:p xmlns:a="http://schemas.openxmlformats.org/drawingml/2006/main">
            <a:r>
              <a:t>    "delta": "규정 개정 영향 업무 탐색 / 폐지 지식 차단 / 승인판본 배포",</a:t>
            </a:r>
          </a:p>
          <a:p xmlns:a="http://schemas.openxmlformats.org/drawingml/2006/main">
            <a:r>
              <a:t>    "test": "개정 전후 질문의 판본 일치 및 영향 업무 재평가",</a:t>
            </a:r>
          </a:p>
          <a:p xmlns:a="http://schemas.openxmlformats.org/drawingml/2006/main">
            <a:r>
              <a:t>    "url": "https://www.kepco.co.kr/KEPCO_FILE/html/2026_09/issue.html",</a:t>
            </a:r>
          </a:p>
          <a:p xmlns:a="http://schemas.openxmlformats.org/drawingml/2006/main">
            <a:r>
              <a:t>    "basis": "기관 사보 운영 소개",</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"https://www.kepco.co.kr/KEPCO_FILE/html/2026_09/issue.html"</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"PF02",</a:t>
            </a:r>
          </a:p>
          <a:p xmlns:a="http://schemas.openxmlformats.org/drawingml/2006/main">
            <a:r>
              <a:t>    "canonicalId": "PF02",</a:t>
            </a:r>
          </a:p>
          <a:p xmlns:a="http://schemas.openxmlformats.org/drawingml/2006/main">
            <a:r>
              <a:t>    "purpose": "사내표준 검색부터 개정 검토까지 연결",</a:t>
            </a:r>
          </a:p>
          <a:p xmlns:a="http://schemas.openxmlformats.org/drawingml/2006/main">
            <a:r>
              <a:t>    "users": "직원·규정 소관부서·결재자",</a:t>
            </a:r>
          </a:p>
          <a:p xmlns:a="http://schemas.openxmlformats.org/drawingml/2006/main">
            <a:r>
              <a:t>    "scope": [</a:t>
            </a:r>
          </a:p>
          <a:p xmlns:a="http://schemas.openxmlformats.org/drawingml/2006/main">
            <a:r>
              <a:t>      "표준 검색",</a:t>
            </a:r>
          </a:p>
          <a:p xmlns:a="http://schemas.openxmlformats.org/drawingml/2006/main">
            <a:r>
              <a:t>      "개정 검토",</a:t>
            </a:r>
          </a:p>
          <a:p xmlns:a="http://schemas.openxmlformats.org/drawingml/2006/main">
            <a:r>
              <a:t>      "전자결재"</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"직원·규정 담당",</a:t>
            </a:r>
          </a:p>
          <a:p xmlns:a="http://schemas.openxmlformats.org/drawingml/2006/main">
            <a:r>
              <a:t>        "detail": "문서번호·적용 업무·검토 사유 식별",</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"표준 검색 / 개정 검토 / 전자결재",</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"근거 검색·개정 검토",</a:t>
            </a:r>
          </a:p>
          <a:p xmlns:a="http://schemas.openxmlformats.org/drawingml/2006/main">
            <a:r>
              <a:t>        "detail": "사내표준 RAG와 조문 대조·개정 초안",</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"전자결재 검토자",</a:t>
            </a:r>
          </a:p>
          <a:p xmlns:a="http://schemas.openxmlformats.org/drawingml/2006/main">
            <a:r>
              <a:t>        "detail": "소관부서 검토 후 전자결재 절차 연계",</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"사내표준·개정 이력",</a:t>
            </a:r>
          </a:p>
          <a:p xmlns:a="http://schemas.openxmlformats.org/drawingml/2006/main">
            <a:r>
              <a:t>        "detail": "사내표준·개정 이력·근거 조문의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"승인본 반영·구판 회수·개정 영향 점검",</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"사내표준 정비",</a:t>
            </a:r>
          </a:p>
          <a:p xmlns:a="http://schemas.openxmlformats.org/drawingml/2006/main">
            <a:r>
              <a:t>        "input": "문서번호·적용 업무·검토 사유 식별",</a:t>
            </a:r>
          </a:p>
          <a:p xmlns:a="http://schemas.openxmlformats.org/drawingml/2006/main">
            <a:r>
              <a:t>        "process": "사내표준·개정 이력·근거 조문의 연결",</a:t>
            </a:r>
          </a:p>
          <a:p xmlns:a="http://schemas.openxmlformats.org/drawingml/2006/main">
            <a:r>
              <a:t>        "output": "사내표준"</a:t>
            </a:r>
          </a:p>
          <a:p xmlns:a="http://schemas.openxmlformats.org/drawingml/2006/main">
            <a:r>
              <a:t>      },</a:t>
            </a:r>
          </a:p>
          <a:p xmlns:a="http://schemas.openxmlformats.org/drawingml/2006/main">
            <a:r>
              <a:t>      {</a:t>
            </a:r>
          </a:p>
          <a:p xmlns:a="http://schemas.openxmlformats.org/drawingml/2006/main">
            <a:r>
              <a:t>        "title": "근거 질의·응답",</a:t>
            </a:r>
          </a:p>
          <a:p xmlns:a="http://schemas.openxmlformats.org/drawingml/2006/main">
            <a:r>
              <a:t>        "input": "사내표준",</a:t>
            </a:r>
          </a:p>
          <a:p xmlns:a="http://schemas.openxmlformats.org/drawingml/2006/main">
            <a:r>
              <a:t>        "process": "사내표준 RAG와 조문 대조·개정 초안",</a:t>
            </a:r>
          </a:p>
          <a:p xmlns:a="http://schemas.openxmlformats.org/drawingml/2006/main">
            <a:r>
              <a:t>        "output": "관련 조문"</a:t>
            </a:r>
          </a:p>
          <a:p xmlns:a="http://schemas.openxmlformats.org/drawingml/2006/main">
            <a:r>
              <a:t>      },</a:t>
            </a:r>
          </a:p>
          <a:p xmlns:a="http://schemas.openxmlformats.org/drawingml/2006/main">
            <a:r>
              <a:t>      {</a:t>
            </a:r>
          </a:p>
          <a:p xmlns:a="http://schemas.openxmlformats.org/drawingml/2006/main">
            <a:r>
              <a:t>        "title": "개정·오류 점검",</a:t>
            </a:r>
          </a:p>
          <a:p xmlns:a="http://schemas.openxmlformats.org/drawingml/2006/main">
            <a:r>
              <a:t>        "input": "관련 조문",</a:t>
            </a:r>
          </a:p>
          <a:p xmlns:a="http://schemas.openxmlformats.org/drawingml/2006/main">
            <a:r>
              <a:t>        "process": "승인 판본·효력일·영향 조문 대사",</a:t>
            </a:r>
          </a:p>
          <a:p xmlns:a="http://schemas.openxmlformats.org/drawingml/2006/main">
            <a:r>
              <a:t>        "output": "개정·오류 후보"</a:t>
            </a:r>
          </a:p>
          <a:p xmlns:a="http://schemas.openxmlformats.org/drawingml/2006/main">
            <a:r>
              <a:t>      },</a:t>
            </a:r>
          </a:p>
          <a:p xmlns:a="http://schemas.openxmlformats.org/drawingml/2006/main">
            <a:r>
              <a:t>      {</a:t>
            </a:r>
          </a:p>
          <a:p xmlns:a="http://schemas.openxmlformats.org/drawingml/2006/main">
            <a:r>
              <a:t>        "title": "전자결재·담당 검토",</a:t>
            </a:r>
          </a:p>
          <a:p xmlns:a="http://schemas.openxmlformats.org/drawingml/2006/main">
            <a:r>
              <a:t>        "input": "개정·오류 후보",</a:t>
            </a:r>
          </a:p>
          <a:p xmlns:a="http://schemas.openxmlformats.org/drawingml/2006/main">
            <a:r>
              <a:t>        "process": "소관부서 검토 후 전자결재 절차 연계",</a:t>
            </a:r>
          </a:p>
          <a:p xmlns:a="http://schemas.openxmlformats.org/drawingml/2006/main">
            <a:r>
              <a:t>        "output": "결재 검토"</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"특정 사내표준을 개정하고 영향 조문을 검토해 결재",</a:t>
            </a:r>
          </a:p>
          <a:p xmlns:a="http://schemas.openxmlformats.org/drawingml/2006/main">
            <a:r>
              <a:t>      "exception": "미승인 개정안·참조 조문 삭제·구판 재인용",</a:t>
            </a:r>
          </a:p>
          <a:p xmlns:a="http://schemas.openxmlformats.org/drawingml/2006/main">
            <a:r>
              <a:t>      "evidence": "판본별 변경·영향·결재·색인 반영 연결표",</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"직원·규정 소관부서·결재자",</a:t>
            </a:r>
          </a:p>
          <a:p xmlns:a="http://schemas.openxmlformats.org/drawingml/2006/main">
            <a:r>
              <a:t>          "processing": "문서번호·적용 업무·검토 사유 식별",</a:t>
            </a:r>
          </a:p>
          <a:p xmlns:a="http://schemas.openxmlformats.org/drawingml/2006/main">
            <a:r>
              <a:t>          "output": "사내표준"</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"사내표준·개정 이력",</a:t>
            </a:r>
          </a:p>
          <a:p xmlns:a="http://schemas.openxmlformats.org/drawingml/2006/main">
            <a:r>
              <a:t>          "processing": "사내표준·개정 이력·근거 조문의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"사내표준",</a:t>
            </a:r>
          </a:p>
          <a:p xmlns:a="http://schemas.openxmlformats.org/drawingml/2006/main">
            <a:r>
              <a:t>          "processing": "사내표준 RAG와 조문 대조·개정 초안",</a:t>
            </a:r>
          </a:p>
          <a:p xmlns:a="http://schemas.openxmlformats.org/drawingml/2006/main">
            <a:r>
              <a:t>          "output": "개정·오류 후보"</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"개정·오류 후보",</a:t>
            </a:r>
          </a:p>
          <a:p xmlns:a="http://schemas.openxmlformats.org/drawingml/2006/main">
            <a:r>
              <a:t>          "processing": "소관부서 검토 후 전자결재 절차 연계",</a:t>
            </a:r>
          </a:p>
          <a:p xmlns:a="http://schemas.openxmlformats.org/drawingml/2006/main">
            <a:r>
              <a:t>          "output": "결재 검토"</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"승인본 반영·구판 회수·개정 영향 점검",</a:t>
            </a:r>
          </a:p>
          <a:p xmlns:a="http://schemas.openxmlformats.org/drawingml/2006/main">
            <a:r>
              <a:t>          "output": "판본별 변경·영향·결재·색인 반영 연결표"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"승인본 반영·구판 회수·개정 영향 점검",</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"기관 사보 운영 소개",</a:t>
            </a:r>
          </a:p>
          <a:p xmlns:a="http://schemas.openxmlformats.org/drawingml/2006/main">
            <a:r>
              <a:t>        "url": "https://www.kepco.co.kr/KEPCO_FILE/html/2026_09/issue.html"</a:t>
            </a:r>
          </a:p>
          <a:p xmlns:a="http://schemas.openxmlformats.org/drawingml/2006/main">
            <a:r>
              <a:t>      }</a:t>
            </a:r>
          </a:p>
          <a:p xmlns:a="http://schemas.openxmlformats.org/drawingml/2006/main">
            <a:r>
              <a:t>    ],</a:t>
            </a:r>
          </a:p>
          <a:p xmlns:a="http://schemas.openxmlformats.org/drawingml/2006/main">
            <a:r>
              <a:t>    "implication": "규정 검색 결과를 개정 영향·책임부서·전자결재 절차까지 연결",</a:t>
            </a:r>
          </a:p>
          <a:p xmlns:a="http://schemas.openxmlformats.org/drawingml/2006/main">
            <a:r>
              <a:t>    "local": "규정 검색 결과를 개정 영향·책임부서·전자결재 절차까지 연결",</a:t>
            </a:r>
          </a:p>
          <a:p xmlns:a="http://schemas.openxmlformats.org/drawingml/2006/main">
            <a:r>
              <a:t>    "sourceDetail": null,</a:t>
            </a:r>
          </a:p>
          <a:p xmlns:a="http://schemas.openxmlformats.org/drawingml/2006/main">
            <a:r>
              <a:t>    "narrative": [</a:t>
            </a:r>
          </a:p>
          <a:p xmlns:a="http://schemas.openxmlformats.org/drawingml/2006/main">
            <a:r>
              <a:t>      "한국전력의 사내표준 AI 플랫폼 사례. 직원의 표준 질의에 근거 조문을 연결하고 표준 개정 검토와 전자결재까지 이어지는 업무 지원 구조.",</a:t>
            </a:r>
          </a:p>
          <a:p xmlns:a="http://schemas.openxmlformats.org/drawingml/2006/main">
            <a:r>
              <a:t>      "표준 문서의 조문·판본을 검색 단위로 구성하고 질의 응답에 근거를 제시하는 흐름. 개정 검토에서는 변경 대상과 관련 조문을 비교하고 검토자가 확인한 내용을 결재 과정으로 연결하는 논리 설계.",</a:t>
            </a:r>
          </a:p>
          <a:p xmlns:a="http://schemas.openxmlformats.org/drawingml/2006/main">
            <a:r>
              <a:t>      "CCK에서 참고할 지점은 검색 결과가 규정 개정·결재 업무로 이어지는 연결. TS 지침의 시행일·관련 조항·개정 책임 부서를 함께 관리하고 최신 조문 검색, 개정 영향 누락, 승인 전 반영을 각각 시험할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"사내표준 질의",</a:t>
            </a:r>
          </a:p>
          <a:p xmlns:a="http://schemas.openxmlformats.org/drawingml/2006/main">
            <a:r>
              <a:t>          "layer": "이용 접점",</a:t>
            </a:r>
          </a:p>
          <a:p xmlns:a="http://schemas.openxmlformats.org/drawingml/2006/main">
            <a:r>
              <a:t>          "detail": "직원·규정 소관부서·결재자",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"문서번호·개정사유",</a:t>
            </a:r>
          </a:p>
          <a:p xmlns:a="http://schemas.openxmlformats.org/drawingml/2006/main">
            <a:r>
              <a:t>          "layer": "업무 문맥",</a:t>
            </a:r>
          </a:p>
          <a:p xmlns:a="http://schemas.openxmlformats.org/drawingml/2006/main">
            <a:r>
              <a:t>          "detail": "문서번호·적용 업무·검토 사유 식별",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"유효 표준 검색",</a:t>
            </a:r>
          </a:p>
          <a:p xmlns:a="http://schemas.openxmlformats.org/drawingml/2006/main">
            <a:r>
              <a:t>          "layer": "자료 조회",</a:t>
            </a:r>
          </a:p>
          <a:p xmlns:a="http://schemas.openxmlformats.org/drawingml/2006/main">
            <a:r>
              <a:t>          "detail": "사내표준",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"조문 대조·초안",</a:t>
            </a:r>
          </a:p>
          <a:p xmlns:a="http://schemas.openxmlformats.org/drawingml/2006/main">
            <a:r>
              <a:t>          "layer": "핵심 처리",</a:t>
            </a:r>
          </a:p>
          <a:p xmlns:a="http://schemas.openxmlformats.org/drawingml/2006/main">
            <a:r>
              <a:t>          "detail": "사내표준 RAG와 조문 대조·개정 초안",</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"영향·판본 검사",</a:t>
            </a:r>
          </a:p>
          <a:p xmlns:a="http://schemas.openxmlformats.org/drawingml/2006/main">
            <a:r>
              <a:t>          "layer": "결과 검증",</a:t>
            </a:r>
          </a:p>
          <a:p xmlns:a="http://schemas.openxmlformats.org/drawingml/2006/main">
            <a:r>
              <a:t>          "detail": "승인 판본·효력일·영향 조문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"소관부서 검토",</a:t>
            </a:r>
          </a:p>
          <a:p xmlns:a="http://schemas.openxmlformats.org/drawingml/2006/main">
            <a:r>
              <a:t>          "layer": "사람 확인",</a:t>
            </a:r>
          </a:p>
          <a:p xmlns:a="http://schemas.openxmlformats.org/drawingml/2006/main">
            <a:r>
              <a:t>          "detail": "특정 사내표준을 개정하고 영향 조문을 검토해 결재",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"전자결재 연결",</a:t>
            </a:r>
          </a:p>
          <a:p xmlns:a="http://schemas.openxmlformats.org/drawingml/2006/main">
            <a:r>
              <a:t>          "layer": "업무 연결",</a:t>
            </a:r>
          </a:p>
          <a:p xmlns:a="http://schemas.openxmlformats.org/drawingml/2006/main">
            <a:r>
              <a:t>          "detail": "소관부서 검토 후 전자결재 절차 연계",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"승인본 갱신",</a:t>
            </a:r>
          </a:p>
          <a:p xmlns:a="http://schemas.openxmlformats.org/drawingml/2006/main">
            <a:r>
              <a:t>          "layer": "운영 관측",</a:t>
            </a:r>
          </a:p>
          <a:p xmlns:a="http://schemas.openxmlformats.org/drawingml/2006/main">
            <a:r>
              <a:t>          "detail": "승인본 반영·구판 회수·개정 영향 점검",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"사내표준·개정이력",</a:t>
            </a:r>
          </a:p>
          <a:p xmlns:a="http://schemas.openxmlformats.org/drawingml/2006/main">
            <a:r>
              <a:t>          "layer": "데이터 원천",</a:t>
            </a:r>
          </a:p>
          <a:p xmlns:a="http://schemas.openxmlformats.org/drawingml/2006/main">
            <a:r>
              <a:t>          "detail": "사내표준·개정 이력",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"조문·효력일 정합화",</a:t>
            </a:r>
          </a:p>
          <a:p xmlns:a="http://schemas.openxmlformats.org/drawingml/2006/main">
            <a:r>
              <a:t>          "layer": "준비·갱신",</a:t>
            </a:r>
          </a:p>
          <a:p xmlns:a="http://schemas.openxmlformats.org/drawingml/2006/main">
            <a:r>
              <a:t>          "detail": "사내표준·개정 이력·근거 조문의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"표준·개정 후보",</a:t>
            </a:r>
          </a:p>
          <a:p xmlns:a="http://schemas.openxmlformats.org/drawingml/2006/main">
            <a:r>
              <a:t>          "layer": "상태·지식 저장",</a:t>
            </a:r>
          </a:p>
          <a:p xmlns:a="http://schemas.openxmlformats.org/drawingml/2006/main">
            <a:r>
              <a:t>          "detail": "판본별 변경·영향·결재·색인 반영 연결표",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"승인·배포 권한",</a:t>
            </a:r>
          </a:p>
          <a:p xmlns:a="http://schemas.openxmlformats.org/drawingml/2006/main">
            <a:r>
              <a:t>          "layer": "권한·정책",</a:t>
            </a:r>
          </a:p>
          <a:p xmlns:a="http://schemas.openxmlformats.org/drawingml/2006/main">
            <a:r>
              <a:t>          "detail": "미승인 개정안·참조 조문 삭제·구판 재인용",</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"문서번호·적용 업무·검토 사유 식별",</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"사내표준",</a:t>
            </a:r>
          </a:p>
          <a:p xmlns:a="http://schemas.openxmlformats.org/drawingml/2006/main">
            <a:r>
              <a:t>          "check": "승인 판본·효력일·영향 조문 대사"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"관련 조문",</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"개정·오류 후보",</a:t>
            </a:r>
          </a:p>
          <a:p xmlns:a="http://schemas.openxmlformats.org/drawingml/2006/main">
            <a:r>
              <a:t>          "check": "미승인 개정안·참조 조문 삭제·구판 재인용"</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"개정·오류 후보",</a:t>
            </a:r>
          </a:p>
          <a:p xmlns:a="http://schemas.openxmlformats.org/drawingml/2006/main">
            <a:r>
              <a:t>          "check": "소관부서 검토 후 전자결재 절차 연계"</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"결재 검토",</a:t>
            </a:r>
          </a:p>
          <a:p xmlns:a="http://schemas.openxmlformats.org/drawingml/2006/main">
            <a:r>
              <a:t>          "check": "판본별 변경·영향·결재·색인 반영 연결표"</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"사내표준 검색부터 개정 검토까지 연결 / 표준 검색·개정 검토·전자결재",</a:t>
            </a:r>
          </a:p>
          <a:p xmlns:a="http://schemas.openxmlformats.org/drawingml/2006/main">
            <a:r>
              <a:t>        "extension": "규정 검색 결과를 개정 영향·책임부서·전자결재 절차까지 연결"</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"미승인 개정안·참조 조문 삭제·구판 재인용",</a:t>
            </a:r>
          </a:p>
          <a:p xmlns:a="http://schemas.openxmlformats.org/drawingml/2006/main">
            <a:r>
              <a:t>        "hold": "승인 판본·효력일·영향 조문 대사",</a:t>
            </a:r>
          </a:p>
          <a:p xmlns:a="http://schemas.openxmlformats.org/drawingml/2006/main">
            <a:r>
              <a:t>        "recovery": "승인본 반영·구판 회수·개정 영향 점검",</a:t>
            </a:r>
          </a:p>
          <a:p xmlns:a="http://schemas.openxmlformats.org/drawingml/2006/main">
            <a:r>
              <a:t>        "evidence": "판본별 변경·영향·결재·색인 반영 연결표"</a:t>
            </a:r>
          </a:p>
          <a:p xmlns:a="http://schemas.openxmlformats.org/drawingml/2006/main">
            <a:r>
              <a:t>      },</a:t>
            </a:r>
          </a:p>
          <a:p xmlns:a="http://schemas.openxmlformats.org/drawingml/2006/main">
            <a:r>
              <a:t>      "data": {</a:t>
            </a:r>
          </a:p>
          <a:p xmlns:a="http://schemas.openxmlformats.org/drawingml/2006/main">
            <a:r>
              <a:t>        "source": "사내표준·개정 이력",</a:t>
            </a:r>
          </a:p>
          <a:p xmlns:a="http://schemas.openxmlformats.org/drawingml/2006/main">
            <a:r>
              <a:t>        "prepare": "사내표준·개정 이력·근거 조문의 연결",</a:t>
            </a:r>
          </a:p>
          <a:p xmlns:a="http://schemas.openxmlformats.org/drawingml/2006/main">
            <a:r>
              <a:t>        "output": "사내표준",</a:t>
            </a:r>
          </a:p>
          <a:p xmlns:a="http://schemas.openxmlformats.org/drawingml/2006/main">
            <a:r>
              <a:t>        "refresh": "승인본 반영·구판 회수·개정 영향 점검"</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"PF02",</a:t>
            </a:r>
          </a:p>
          <a:p xmlns:a="http://schemas.openxmlformats.org/drawingml/2006/main">
            <a:r>
              <a:t>    "success": [</a:t>
            </a:r>
          </a:p>
          <a:p xmlns:a="http://schemas.openxmlformats.org/drawingml/2006/main">
            <a:r>
              <a:t>      "사내표준 검색과 개정 검토 연결",</a:t>
            </a:r>
          </a:p>
          <a:p xmlns:a="http://schemas.openxmlformats.org/drawingml/2006/main">
            <a:r>
              <a:t>      "전자결재 흐름에서의 활용"</a:t>
            </a:r>
          </a:p>
          <a:p xmlns:a="http://schemas.openxmlformats.org/drawingml/2006/main">
            <a:r>
              <a:t>    ],</a:t>
            </a:r>
          </a:p>
          <a:p xmlns:a="http://schemas.openxmlformats.org/drawingml/2006/main">
            <a:r>
              <a:t>    "risks": [</a:t>
            </a:r>
          </a:p>
          <a:p xmlns:a="http://schemas.openxmlformats.org/drawingml/2006/main">
            <a:r>
              <a:t>      "규정 판본·효력일 불일치",</a:t>
            </a:r>
          </a:p>
          <a:p xmlns:a="http://schemas.openxmlformats.org/drawingml/2006/main">
            <a:r>
              <a:t>      "개정 초안의 무승인 배포"</a:t>
            </a:r>
          </a:p>
          <a:p xmlns:a="http://schemas.openxmlformats.org/drawingml/2006/main">
            <a:r>
              <a:t>    ],</a:t>
            </a:r>
          </a:p>
          <a:p xmlns:a="http://schemas.openxmlformats.org/drawingml/2006/main">
            <a:r>
              <a:t>    "architecture": [</a:t>
            </a:r>
          </a:p>
          <a:p xmlns:a="http://schemas.openxmlformats.org/drawingml/2006/main">
            <a:r>
              <a:t>      "직원·규정 담당",</a:t>
            </a:r>
          </a:p>
          <a:p xmlns:a="http://schemas.openxmlformats.org/drawingml/2006/main">
            <a:r>
              <a:t>      "근거 검색·개정 검토",</a:t>
            </a:r>
          </a:p>
          <a:p xmlns:a="http://schemas.openxmlformats.org/drawingml/2006/main">
            <a:r>
              <a:t>      "사내표준·개정 이력",</a:t>
            </a:r>
          </a:p>
          <a:p xmlns:a="http://schemas.openxmlformats.org/drawingml/2006/main">
            <a:r>
              <a:t>      "전자결재 검토자"</a:t>
            </a:r>
          </a:p>
          <a:p xmlns:a="http://schemas.openxmlformats.org/drawingml/2006/main">
            <a:r>
              <a:t>    ],</a:t>
            </a:r>
          </a:p>
          <a:p xmlns:a="http://schemas.openxmlformats.org/drawingml/2006/main">
            <a:r>
              <a:t>    "transfers": [</a:t>
            </a:r>
          </a:p>
          <a:p xmlns:a="http://schemas.openxmlformats.org/drawingml/2006/main">
            <a:r>
              <a:t>      "사내표준",</a:t>
            </a:r>
          </a:p>
          <a:p xmlns:a="http://schemas.openxmlformats.org/drawingml/2006/main">
            <a:r>
              <a:t>      "관련 조문",</a:t>
            </a:r>
          </a:p>
          <a:p xmlns:a="http://schemas.openxmlformats.org/drawingml/2006/main">
            <a:r>
              <a:t>      "개정·오류 후보",</a:t>
            </a:r>
          </a:p>
          <a:p xmlns:a="http://schemas.openxmlformats.org/drawingml/2006/main">
            <a:r>
              <a:t>      "결재 검토"</a:t>
            </a:r>
          </a:p>
          <a:p xmlns:a="http://schemas.openxmlformats.org/drawingml/2006/main">
            <a:r>
              <a:t>    ],</a:t>
            </a:r>
          </a:p>
          <a:p xmlns:a="http://schemas.openxmlformats.org/drawingml/2006/main">
            <a:r>
              <a:t>    "control": "승인 판본·효력일·영향 조문 대사",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기관 사보 운영 소개 https://www.kepco.co.kr/KEPCO_FILE/html/2026_09/issue.html</a:t>
            </a:r>
          </a:p>
          <a:p xmlns:a="http://schemas.openxmlformats.org/drawingml/2006/main">
            <a:r>
              <a:t>홈페이지 https://heen1987-ops.github.io/TS-business-Plan-001/index.html?view=platform-cases&amp;case=PF02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"PF02",</a:t>
            </a:r>
          </a:p>
          <a:p xmlns:a="http://schemas.openxmlformats.org/drawingml/2006/main">
            <a:r>
              <a:t>    "sourceId": "A02",</a:t>
            </a:r>
          </a:p>
          <a:p xmlns:a="http://schemas.openxmlformats.org/drawingml/2006/main">
            <a:r>
              <a:t>    "title": "한전 사내표준 AI 플랫폼",</a:t>
            </a:r>
          </a:p>
          <a:p xmlns:a="http://schemas.openxmlformats.org/drawingml/2006/main">
            <a:r>
              <a:t>    "region": "국내",</a:t>
            </a:r>
          </a:p>
          <a:p xmlns:a="http://schemas.openxmlformats.org/drawingml/2006/main">
            <a:r>
              <a:t>    "owner": "한국전력",</a:t>
            </a:r>
          </a:p>
          <a:p xmlns:a="http://schemas.openxmlformats.org/drawingml/2006/main">
            <a:r>
              <a:t>    "state": "정식 운영 · 기관 발표",</a:t>
            </a:r>
          </a:p>
          <a:p xmlns:a="http://schemas.openxmlformats.org/drawingml/2006/main">
            <a:r>
              <a:t>    "period": "2026.05 개시 / 09 소개",</a:t>
            </a:r>
          </a:p>
          <a:p xmlns:a="http://schemas.openxmlformats.org/drawingml/2006/main">
            <a:r>
              <a:t>    "fact": "사내표준 질의·근거 조문과 개정 검토·전자결재를 연결한 업무 플랫폼",</a:t>
            </a:r>
          </a:p>
          <a:p xmlns:a="http://schemas.openxmlformats.org/drawingml/2006/main">
            <a:r>
              <a:t>    "limit": "문서번호·답변 근거의 정비 부담 공개 · 제시된 절감 기대와 실측 성과의 구분",</a:t>
            </a:r>
          </a:p>
          <a:p xmlns:a="http://schemas.openxmlformats.org/drawingml/2006/main">
            <a:r>
              <a:t>    "nodes": [</a:t>
            </a:r>
          </a:p>
          <a:p xmlns:a="http://schemas.openxmlformats.org/drawingml/2006/main">
            <a:r>
              <a:t>      "사내표준 정비",</a:t>
            </a:r>
          </a:p>
          <a:p xmlns:a="http://schemas.openxmlformats.org/drawingml/2006/main">
            <a:r>
              <a:t>      "근거 질의·응답",</a:t>
            </a:r>
          </a:p>
          <a:p xmlns:a="http://schemas.openxmlformats.org/drawingml/2006/main">
            <a:r>
              <a:t>      "개정·오류 점검",</a:t>
            </a:r>
          </a:p>
          <a:p xmlns:a="http://schemas.openxmlformats.org/drawingml/2006/main">
            <a:r>
              <a:t>      "전자결재·담당 검토"</a:t>
            </a:r>
          </a:p>
          <a:p xmlns:a="http://schemas.openxmlformats.org/drawingml/2006/main">
            <a:r>
              <a:t>    ],</a:t>
            </a:r>
          </a:p>
          <a:p xmlns:a="http://schemas.openxmlformats.org/drawingml/2006/main">
            <a:r>
              <a:t>    "apply": "규정 검색 결과를 개정 영향·책임부서·전자결재 절차까지 연결",</a:t>
            </a:r>
          </a:p>
          <a:p xmlns:a="http://schemas.openxmlformats.org/drawingml/2006/main">
            <a:r>
              <a:t>    "delta": "규정 개정 영향 업무 탐색 / 폐지 지식 차단 / 승인판본 배포",</a:t>
            </a:r>
          </a:p>
          <a:p xmlns:a="http://schemas.openxmlformats.org/drawingml/2006/main">
            <a:r>
              <a:t>    "test": "개정 전후 질문의 판본 일치 및 영향 업무 재평가",</a:t>
            </a:r>
          </a:p>
          <a:p xmlns:a="http://schemas.openxmlformats.org/drawingml/2006/main">
            <a:r>
              <a:t>    "url": "https://www.kepco.co.kr/KEPCO_FILE/html/2026_09/issue.html",</a:t>
            </a:r>
          </a:p>
          <a:p xmlns:a="http://schemas.openxmlformats.org/drawingml/2006/main">
            <a:r>
              <a:t>    "basis": "기관 사보 운영 소개",</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"https://www.kepco.co.kr/KEPCO_FILE/html/2026_09/issue.html"</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"PF02",</a:t>
            </a:r>
          </a:p>
          <a:p xmlns:a="http://schemas.openxmlformats.org/drawingml/2006/main">
            <a:r>
              <a:t>    "canonicalId": "PF02",</a:t>
            </a:r>
          </a:p>
          <a:p xmlns:a="http://schemas.openxmlformats.org/drawingml/2006/main">
            <a:r>
              <a:t>    "purpose": "사내표준 검색부터 개정 검토까지 연결",</a:t>
            </a:r>
          </a:p>
          <a:p xmlns:a="http://schemas.openxmlformats.org/drawingml/2006/main">
            <a:r>
              <a:t>    "users": "직원·규정 소관부서·결재자",</a:t>
            </a:r>
          </a:p>
          <a:p xmlns:a="http://schemas.openxmlformats.org/drawingml/2006/main">
            <a:r>
              <a:t>    "scope": [</a:t>
            </a:r>
          </a:p>
          <a:p xmlns:a="http://schemas.openxmlformats.org/drawingml/2006/main">
            <a:r>
              <a:t>      "표준 검색",</a:t>
            </a:r>
          </a:p>
          <a:p xmlns:a="http://schemas.openxmlformats.org/drawingml/2006/main">
            <a:r>
              <a:t>      "개정 검토",</a:t>
            </a:r>
          </a:p>
          <a:p xmlns:a="http://schemas.openxmlformats.org/drawingml/2006/main">
            <a:r>
              <a:t>      "전자결재"</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"직원·규정 담당",</a:t>
            </a:r>
          </a:p>
          <a:p xmlns:a="http://schemas.openxmlformats.org/drawingml/2006/main">
            <a:r>
              <a:t>        "detail": "문서번호·적용 업무·검토 사유 식별",</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"표준 검색 / 개정 검토 / 전자결재",</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"근거 검색·개정 검토",</a:t>
            </a:r>
          </a:p>
          <a:p xmlns:a="http://schemas.openxmlformats.org/drawingml/2006/main">
            <a:r>
              <a:t>        "detail": "사내표준 RAG와 조문 대조·개정 초안",</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"전자결재 검토자",</a:t>
            </a:r>
          </a:p>
          <a:p xmlns:a="http://schemas.openxmlformats.org/drawingml/2006/main">
            <a:r>
              <a:t>        "detail": "소관부서 검토 후 전자결재 절차 연계",</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"사내표준·개정 이력",</a:t>
            </a:r>
          </a:p>
          <a:p xmlns:a="http://schemas.openxmlformats.org/drawingml/2006/main">
            <a:r>
              <a:t>        "detail": "사내표준·개정 이력·근거 조문의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"승인본 반영·구판 회수·개정 영향 점검",</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"사내표준 정비",</a:t>
            </a:r>
          </a:p>
          <a:p xmlns:a="http://schemas.openxmlformats.org/drawingml/2006/main">
            <a:r>
              <a:t>        "input": "문서번호·적용 업무·검토 사유 식별",</a:t>
            </a:r>
          </a:p>
          <a:p xmlns:a="http://schemas.openxmlformats.org/drawingml/2006/main">
            <a:r>
              <a:t>        "process": "사내표준·개정 이력·근거 조문의 연결",</a:t>
            </a:r>
          </a:p>
          <a:p xmlns:a="http://schemas.openxmlformats.org/drawingml/2006/main">
            <a:r>
              <a:t>        "output": "사내표준"</a:t>
            </a:r>
          </a:p>
          <a:p xmlns:a="http://schemas.openxmlformats.org/drawingml/2006/main">
            <a:r>
              <a:t>      },</a:t>
            </a:r>
          </a:p>
          <a:p xmlns:a="http://schemas.openxmlformats.org/drawingml/2006/main">
            <a:r>
              <a:t>      {</a:t>
            </a:r>
          </a:p>
          <a:p xmlns:a="http://schemas.openxmlformats.org/drawingml/2006/main">
            <a:r>
              <a:t>        "title": "근거 질의·응답",</a:t>
            </a:r>
          </a:p>
          <a:p xmlns:a="http://schemas.openxmlformats.org/drawingml/2006/main">
            <a:r>
              <a:t>        "input": "사내표준",</a:t>
            </a:r>
          </a:p>
          <a:p xmlns:a="http://schemas.openxmlformats.org/drawingml/2006/main">
            <a:r>
              <a:t>        "process": "사내표준 RAG와 조문 대조·개정 초안",</a:t>
            </a:r>
          </a:p>
          <a:p xmlns:a="http://schemas.openxmlformats.org/drawingml/2006/main">
            <a:r>
              <a:t>        "output": "관련 조문"</a:t>
            </a:r>
          </a:p>
          <a:p xmlns:a="http://schemas.openxmlformats.org/drawingml/2006/main">
            <a:r>
              <a:t>      },</a:t>
            </a:r>
          </a:p>
          <a:p xmlns:a="http://schemas.openxmlformats.org/drawingml/2006/main">
            <a:r>
              <a:t>      {</a:t>
            </a:r>
          </a:p>
          <a:p xmlns:a="http://schemas.openxmlformats.org/drawingml/2006/main">
            <a:r>
              <a:t>        "title": "개정·오류 점검",</a:t>
            </a:r>
          </a:p>
          <a:p xmlns:a="http://schemas.openxmlformats.org/drawingml/2006/main">
            <a:r>
              <a:t>        "input": "관련 조문",</a:t>
            </a:r>
          </a:p>
          <a:p xmlns:a="http://schemas.openxmlformats.org/drawingml/2006/main">
            <a:r>
              <a:t>        "process": "승인 판본·효력일·영향 조문 대사",</a:t>
            </a:r>
          </a:p>
          <a:p xmlns:a="http://schemas.openxmlformats.org/drawingml/2006/main">
            <a:r>
              <a:t>        "output": "개정·오류 후보"</a:t>
            </a:r>
          </a:p>
          <a:p xmlns:a="http://schemas.openxmlformats.org/drawingml/2006/main">
            <a:r>
              <a:t>      },</a:t>
            </a:r>
          </a:p>
          <a:p xmlns:a="http://schemas.openxmlformats.org/drawingml/2006/main">
            <a:r>
              <a:t>      {</a:t>
            </a:r>
          </a:p>
          <a:p xmlns:a="http://schemas.openxmlformats.org/drawingml/2006/main">
            <a:r>
              <a:t>        "title": "전자결재·담당 검토",</a:t>
            </a:r>
          </a:p>
          <a:p xmlns:a="http://schemas.openxmlformats.org/drawingml/2006/main">
            <a:r>
              <a:t>        "input": "개정·오류 후보",</a:t>
            </a:r>
          </a:p>
          <a:p xmlns:a="http://schemas.openxmlformats.org/drawingml/2006/main">
            <a:r>
              <a:t>        "process": "소관부서 검토 후 전자결재 절차 연계",</a:t>
            </a:r>
          </a:p>
          <a:p xmlns:a="http://schemas.openxmlformats.org/drawingml/2006/main">
            <a:r>
              <a:t>        "output": "결재 검토"</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"특정 사내표준을 개정하고 영향 조문을 검토해 결재",</a:t>
            </a:r>
          </a:p>
          <a:p xmlns:a="http://schemas.openxmlformats.org/drawingml/2006/main">
            <a:r>
              <a:t>      "exception": "미승인 개정안·참조 조문 삭제·구판 재인용",</a:t>
            </a:r>
          </a:p>
          <a:p xmlns:a="http://schemas.openxmlformats.org/drawingml/2006/main">
            <a:r>
              <a:t>      "evidence": "판본별 변경·영향·결재·색인 반영 연결표",</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"직원·규정 소관부서·결재자",</a:t>
            </a:r>
          </a:p>
          <a:p xmlns:a="http://schemas.openxmlformats.org/drawingml/2006/main">
            <a:r>
              <a:t>          "processing": "문서번호·적용 업무·검토 사유 식별",</a:t>
            </a:r>
          </a:p>
          <a:p xmlns:a="http://schemas.openxmlformats.org/drawingml/2006/main">
            <a:r>
              <a:t>          "output": "사내표준"</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"사내표준·개정 이력",</a:t>
            </a:r>
          </a:p>
          <a:p xmlns:a="http://schemas.openxmlformats.org/drawingml/2006/main">
            <a:r>
              <a:t>          "processing": "사내표준·개정 이력·근거 조문의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"사내표준",</a:t>
            </a:r>
          </a:p>
          <a:p xmlns:a="http://schemas.openxmlformats.org/drawingml/2006/main">
            <a:r>
              <a:t>          "processing": "사내표준 RAG와 조문 대조·개정 초안",</a:t>
            </a:r>
          </a:p>
          <a:p xmlns:a="http://schemas.openxmlformats.org/drawingml/2006/main">
            <a:r>
              <a:t>          "output": "개정·오류 후보"</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"개정·오류 후보",</a:t>
            </a:r>
          </a:p>
          <a:p xmlns:a="http://schemas.openxmlformats.org/drawingml/2006/main">
            <a:r>
              <a:t>          "processing": "소관부서 검토 후 전자결재 절차 연계",</a:t>
            </a:r>
          </a:p>
          <a:p xmlns:a="http://schemas.openxmlformats.org/drawingml/2006/main">
            <a:r>
              <a:t>          "output": "결재 검토"</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"승인본 반영·구판 회수·개정 영향 점검",</a:t>
            </a:r>
          </a:p>
          <a:p xmlns:a="http://schemas.openxmlformats.org/drawingml/2006/main">
            <a:r>
              <a:t>          "output": "판본별 변경·영향·결재·색인 반영 연결표"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"승인본 반영·구판 회수·개정 영향 점검",</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"기관 사보 운영 소개",</a:t>
            </a:r>
          </a:p>
          <a:p xmlns:a="http://schemas.openxmlformats.org/drawingml/2006/main">
            <a:r>
              <a:t>        "url": "https://www.kepco.co.kr/KEPCO_FILE/html/2026_09/issue.html"</a:t>
            </a:r>
          </a:p>
          <a:p xmlns:a="http://schemas.openxmlformats.org/drawingml/2006/main">
            <a:r>
              <a:t>      }</a:t>
            </a:r>
          </a:p>
          <a:p xmlns:a="http://schemas.openxmlformats.org/drawingml/2006/main">
            <a:r>
              <a:t>    ],</a:t>
            </a:r>
          </a:p>
          <a:p xmlns:a="http://schemas.openxmlformats.org/drawingml/2006/main">
            <a:r>
              <a:t>    "implication": "규정 검색 결과를 개정 영향·책임부서·전자결재 절차까지 연결",</a:t>
            </a:r>
          </a:p>
          <a:p xmlns:a="http://schemas.openxmlformats.org/drawingml/2006/main">
            <a:r>
              <a:t>    "local": "규정 검색 결과를 개정 영향·책임부서·전자결재 절차까지 연결",</a:t>
            </a:r>
          </a:p>
          <a:p xmlns:a="http://schemas.openxmlformats.org/drawingml/2006/main">
            <a:r>
              <a:t>    "sourceDetail": null,</a:t>
            </a:r>
          </a:p>
          <a:p xmlns:a="http://schemas.openxmlformats.org/drawingml/2006/main">
            <a:r>
              <a:t>    "narrative": [</a:t>
            </a:r>
          </a:p>
          <a:p xmlns:a="http://schemas.openxmlformats.org/drawingml/2006/main">
            <a:r>
              <a:t>      "한국전력의 사내표준 AI 플랫폼 사례. 직원의 표준 질의에 근거 조문을 연결하고 표준 개정 검토와 전자결재까지 이어지는 업무 지원 구조.",</a:t>
            </a:r>
          </a:p>
          <a:p xmlns:a="http://schemas.openxmlformats.org/drawingml/2006/main">
            <a:r>
              <a:t>      "표준 문서의 조문·판본을 검색 단위로 구성하고 질의 응답에 근거를 제시하는 흐름. 개정 검토에서는 변경 대상과 관련 조문을 비교하고 검토자가 확인한 내용을 결재 과정으로 연결하는 논리 설계.",</a:t>
            </a:r>
          </a:p>
          <a:p xmlns:a="http://schemas.openxmlformats.org/drawingml/2006/main">
            <a:r>
              <a:t>      "CCK에서 참고할 지점은 검색 결과가 규정 개정·결재 업무로 이어지는 연결. TS 지침의 시행일·관련 조항·개정 책임 부서를 함께 관리하고 최신 조문 검색, 개정 영향 누락, 승인 전 반영을 각각 시험할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"사내표준 질의",</a:t>
            </a:r>
          </a:p>
          <a:p xmlns:a="http://schemas.openxmlformats.org/drawingml/2006/main">
            <a:r>
              <a:t>          "layer": "이용 접점",</a:t>
            </a:r>
          </a:p>
          <a:p xmlns:a="http://schemas.openxmlformats.org/drawingml/2006/main">
            <a:r>
              <a:t>          "detail": "직원·규정 소관부서·결재자",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"문서번호·개정사유",</a:t>
            </a:r>
          </a:p>
          <a:p xmlns:a="http://schemas.openxmlformats.org/drawingml/2006/main">
            <a:r>
              <a:t>          "layer": "업무 문맥",</a:t>
            </a:r>
          </a:p>
          <a:p xmlns:a="http://schemas.openxmlformats.org/drawingml/2006/main">
            <a:r>
              <a:t>          "detail": "문서번호·적용 업무·검토 사유 식별",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"유효 표준 검색",</a:t>
            </a:r>
          </a:p>
          <a:p xmlns:a="http://schemas.openxmlformats.org/drawingml/2006/main">
            <a:r>
              <a:t>          "layer": "자료 조회",</a:t>
            </a:r>
          </a:p>
          <a:p xmlns:a="http://schemas.openxmlformats.org/drawingml/2006/main">
            <a:r>
              <a:t>          "detail": "사내표준",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"조문 대조·초안",</a:t>
            </a:r>
          </a:p>
          <a:p xmlns:a="http://schemas.openxmlformats.org/drawingml/2006/main">
            <a:r>
              <a:t>          "layer": "핵심 처리",</a:t>
            </a:r>
          </a:p>
          <a:p xmlns:a="http://schemas.openxmlformats.org/drawingml/2006/main">
            <a:r>
              <a:t>          "detail": "사내표준 RAG와 조문 대조·개정 초안",</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"영향·판본 검사",</a:t>
            </a:r>
          </a:p>
          <a:p xmlns:a="http://schemas.openxmlformats.org/drawingml/2006/main">
            <a:r>
              <a:t>          "layer": "결과 검증",</a:t>
            </a:r>
          </a:p>
          <a:p xmlns:a="http://schemas.openxmlformats.org/drawingml/2006/main">
            <a:r>
              <a:t>          "detail": "승인 판본·효력일·영향 조문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"소관부서 검토",</a:t>
            </a:r>
          </a:p>
          <a:p xmlns:a="http://schemas.openxmlformats.org/drawingml/2006/main">
            <a:r>
              <a:t>          "layer": "사람 확인",</a:t>
            </a:r>
          </a:p>
          <a:p xmlns:a="http://schemas.openxmlformats.org/drawingml/2006/main">
            <a:r>
              <a:t>          "detail": "특정 사내표준을 개정하고 영향 조문을 검토해 결재",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"전자결재 연결",</a:t>
            </a:r>
          </a:p>
          <a:p xmlns:a="http://schemas.openxmlformats.org/drawingml/2006/main">
            <a:r>
              <a:t>          "layer": "업무 연결",</a:t>
            </a:r>
          </a:p>
          <a:p xmlns:a="http://schemas.openxmlformats.org/drawingml/2006/main">
            <a:r>
              <a:t>          "detail": "소관부서 검토 후 전자결재 절차 연계",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"승인본 갱신",</a:t>
            </a:r>
          </a:p>
          <a:p xmlns:a="http://schemas.openxmlformats.org/drawingml/2006/main">
            <a:r>
              <a:t>          "layer": "운영 관측",</a:t>
            </a:r>
          </a:p>
          <a:p xmlns:a="http://schemas.openxmlformats.org/drawingml/2006/main">
            <a:r>
              <a:t>          "detail": "승인본 반영·구판 회수·개정 영향 점검",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"사내표준·개정이력",</a:t>
            </a:r>
          </a:p>
          <a:p xmlns:a="http://schemas.openxmlformats.org/drawingml/2006/main">
            <a:r>
              <a:t>          "layer": "데이터 원천",</a:t>
            </a:r>
          </a:p>
          <a:p xmlns:a="http://schemas.openxmlformats.org/drawingml/2006/main">
            <a:r>
              <a:t>          "detail": "사내표준·개정 이력",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"조문·효력일 정합화",</a:t>
            </a:r>
          </a:p>
          <a:p xmlns:a="http://schemas.openxmlformats.org/drawingml/2006/main">
            <a:r>
              <a:t>          "layer": "준비·갱신",</a:t>
            </a:r>
          </a:p>
          <a:p xmlns:a="http://schemas.openxmlformats.org/drawingml/2006/main">
            <a:r>
              <a:t>          "detail": "사내표준·개정 이력·근거 조문의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"표준·개정 후보",</a:t>
            </a:r>
          </a:p>
          <a:p xmlns:a="http://schemas.openxmlformats.org/drawingml/2006/main">
            <a:r>
              <a:t>          "layer": "상태·지식 저장",</a:t>
            </a:r>
          </a:p>
          <a:p xmlns:a="http://schemas.openxmlformats.org/drawingml/2006/main">
            <a:r>
              <a:t>          "detail": "판본별 변경·영향·결재·색인 반영 연결표",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"승인·배포 권한",</a:t>
            </a:r>
          </a:p>
          <a:p xmlns:a="http://schemas.openxmlformats.org/drawingml/2006/main">
            <a:r>
              <a:t>          "layer": "권한·정책",</a:t>
            </a:r>
          </a:p>
          <a:p xmlns:a="http://schemas.openxmlformats.org/drawingml/2006/main">
            <a:r>
              <a:t>          "detail": "미승인 개정안·참조 조문 삭제·구판 재인용",</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"문서번호·적용 업무·검토 사유 식별",</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"사내표준",</a:t>
            </a:r>
          </a:p>
          <a:p xmlns:a="http://schemas.openxmlformats.org/drawingml/2006/main">
            <a:r>
              <a:t>          "check": "승인 판본·효력일·영향 조문 대사"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"관련 조문",</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"개정·오류 후보",</a:t>
            </a:r>
          </a:p>
          <a:p xmlns:a="http://schemas.openxmlformats.org/drawingml/2006/main">
            <a:r>
              <a:t>          "check": "미승인 개정안·참조 조문 삭제·구판 재인용"</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"개정·오류 후보",</a:t>
            </a:r>
          </a:p>
          <a:p xmlns:a="http://schemas.openxmlformats.org/drawingml/2006/main">
            <a:r>
              <a:t>          "check": "소관부서 검토 후 전자결재 절차 연계"</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"결재 검토",</a:t>
            </a:r>
          </a:p>
          <a:p xmlns:a="http://schemas.openxmlformats.org/drawingml/2006/main">
            <a:r>
              <a:t>          "check": "판본별 변경·영향·결재·색인 반영 연결표"</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"사내표준 검색부터 개정 검토까지 연결 / 표준 검색·개정 검토·전자결재",</a:t>
            </a:r>
          </a:p>
          <a:p xmlns:a="http://schemas.openxmlformats.org/drawingml/2006/main">
            <a:r>
              <a:t>        "extension": "규정 검색 결과를 개정 영향·책임부서·전자결재 절차까지 연결"</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"미승인 개정안·참조 조문 삭제·구판 재인용",</a:t>
            </a:r>
          </a:p>
          <a:p xmlns:a="http://schemas.openxmlformats.org/drawingml/2006/main">
            <a:r>
              <a:t>        "hold": "승인 판본·효력일·영향 조문 대사",</a:t>
            </a:r>
          </a:p>
          <a:p xmlns:a="http://schemas.openxmlformats.org/drawingml/2006/main">
            <a:r>
              <a:t>        "recovery": "승인본 반영·구판 회수·개정 영향 점검",</a:t>
            </a:r>
          </a:p>
          <a:p xmlns:a="http://schemas.openxmlformats.org/drawingml/2006/main">
            <a:r>
              <a:t>        "evidence": "판본별 변경·영향·결재·색인 반영 연결표"</a:t>
            </a:r>
          </a:p>
          <a:p xmlns:a="http://schemas.openxmlformats.org/drawingml/2006/main">
            <a:r>
              <a:t>      },</a:t>
            </a:r>
          </a:p>
          <a:p xmlns:a="http://schemas.openxmlformats.org/drawingml/2006/main">
            <a:r>
              <a:t>      "data": {</a:t>
            </a:r>
          </a:p>
          <a:p xmlns:a="http://schemas.openxmlformats.org/drawingml/2006/main">
            <a:r>
              <a:t>        "source": "사내표준·개정 이력",</a:t>
            </a:r>
          </a:p>
          <a:p xmlns:a="http://schemas.openxmlformats.org/drawingml/2006/main">
            <a:r>
              <a:t>        "prepare": "사내표준·개정 이력·근거 조문의 연결",</a:t>
            </a:r>
          </a:p>
          <a:p xmlns:a="http://schemas.openxmlformats.org/drawingml/2006/main">
            <a:r>
              <a:t>        "output": "사내표준",</a:t>
            </a:r>
          </a:p>
          <a:p xmlns:a="http://schemas.openxmlformats.org/drawingml/2006/main">
            <a:r>
              <a:t>        "refresh": "승인본 반영·구판 회수·개정 영향 점검"</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"PF02",</a:t>
            </a:r>
          </a:p>
          <a:p xmlns:a="http://schemas.openxmlformats.org/drawingml/2006/main">
            <a:r>
              <a:t>    "success": [</a:t>
            </a:r>
          </a:p>
          <a:p xmlns:a="http://schemas.openxmlformats.org/drawingml/2006/main">
            <a:r>
              <a:t>      "사내표준 검색과 개정 검토 연결",</a:t>
            </a:r>
          </a:p>
          <a:p xmlns:a="http://schemas.openxmlformats.org/drawingml/2006/main">
            <a:r>
              <a:t>      "전자결재 흐름에서의 활용"</a:t>
            </a:r>
          </a:p>
          <a:p xmlns:a="http://schemas.openxmlformats.org/drawingml/2006/main">
            <a:r>
              <a:t>    ],</a:t>
            </a:r>
          </a:p>
          <a:p xmlns:a="http://schemas.openxmlformats.org/drawingml/2006/main">
            <a:r>
              <a:t>    "risks": [</a:t>
            </a:r>
          </a:p>
          <a:p xmlns:a="http://schemas.openxmlformats.org/drawingml/2006/main">
            <a:r>
              <a:t>      "규정 판본·효력일 불일치",</a:t>
            </a:r>
          </a:p>
          <a:p xmlns:a="http://schemas.openxmlformats.org/drawingml/2006/main">
            <a:r>
              <a:t>      "개정 초안의 무승인 배포"</a:t>
            </a:r>
          </a:p>
          <a:p xmlns:a="http://schemas.openxmlformats.org/drawingml/2006/main">
            <a:r>
              <a:t>    ],</a:t>
            </a:r>
          </a:p>
          <a:p xmlns:a="http://schemas.openxmlformats.org/drawingml/2006/main">
            <a:r>
              <a:t>    "architecture": [</a:t>
            </a:r>
          </a:p>
          <a:p xmlns:a="http://schemas.openxmlformats.org/drawingml/2006/main">
            <a:r>
              <a:t>      "직원·규정 담당",</a:t>
            </a:r>
          </a:p>
          <a:p xmlns:a="http://schemas.openxmlformats.org/drawingml/2006/main">
            <a:r>
              <a:t>      "근거 검색·개정 검토",</a:t>
            </a:r>
          </a:p>
          <a:p xmlns:a="http://schemas.openxmlformats.org/drawingml/2006/main">
            <a:r>
              <a:t>      "사내표준·개정 이력",</a:t>
            </a:r>
          </a:p>
          <a:p xmlns:a="http://schemas.openxmlformats.org/drawingml/2006/main">
            <a:r>
              <a:t>      "전자결재 검토자"</a:t>
            </a:r>
          </a:p>
          <a:p xmlns:a="http://schemas.openxmlformats.org/drawingml/2006/main">
            <a:r>
              <a:t>    ],</a:t>
            </a:r>
          </a:p>
          <a:p xmlns:a="http://schemas.openxmlformats.org/drawingml/2006/main">
            <a:r>
              <a:t>    "transfers": [</a:t>
            </a:r>
          </a:p>
          <a:p xmlns:a="http://schemas.openxmlformats.org/drawingml/2006/main">
            <a:r>
              <a:t>      "사내표준",</a:t>
            </a:r>
          </a:p>
          <a:p xmlns:a="http://schemas.openxmlformats.org/drawingml/2006/main">
            <a:r>
              <a:t>      "관련 조문",</a:t>
            </a:r>
          </a:p>
          <a:p xmlns:a="http://schemas.openxmlformats.org/drawingml/2006/main">
            <a:r>
              <a:t>      "개정·오류 후보",</a:t>
            </a:r>
          </a:p>
          <a:p xmlns:a="http://schemas.openxmlformats.org/drawingml/2006/main">
            <a:r>
              <a:t>      "결재 검토"</a:t>
            </a:r>
          </a:p>
          <a:p xmlns:a="http://schemas.openxmlformats.org/drawingml/2006/main">
            <a:r>
              <a:t>    ],</a:t>
            </a:r>
          </a:p>
          <a:p xmlns:a="http://schemas.openxmlformats.org/drawingml/2006/main">
            <a:r>
              <a:t>    "control": "승인 판본·효력일·영향 조문 대사",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기관 사보 운영 소개 https://www.kepco.co.kr/KEPCO_FILE/html/2026_09/issue.html</a:t>
            </a:r>
          </a:p>
          <a:p xmlns:a="http://schemas.openxmlformats.org/drawingml/2006/main">
            <a:r>
              <a:t>홈페이지 https://heen1987-ops.github.io/TS-business-Plan-001/index.html?view=platform-cases&amp;case=PF02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"PF-A03",</a:t>
            </a:r>
          </a:p>
          <a:p xmlns:a="http://schemas.openxmlformats.org/drawingml/2006/main">
            <a:r>
              <a:t>    "sourceId": "A03",</a:t>
            </a:r>
          </a:p>
          <a:p xmlns:a="http://schemas.openxmlformats.org/drawingml/2006/main">
            <a:r>
              <a:t>    "title": "KIND 생성형 AI",</a:t>
            </a:r>
          </a:p>
          <a:p xmlns:a="http://schemas.openxmlformats.org/drawingml/2006/main">
            <a:r>
              <a:t>    "region": "국내",</a:t>
            </a:r>
          </a:p>
          <a:p xmlns:a="http://schemas.openxmlformats.org/drawingml/2006/main">
            <a:r>
              <a:t>    "owner": "KIND / 대내 생성형 AI 서비스 구축",</a:t>
            </a:r>
          </a:p>
          <a:p xmlns:a="http://schemas.openxmlformats.org/drawingml/2006/main">
            <a:r>
              <a:t>    "state": "공식 RFP 확보 / 운영 성과 미확인",</a:t>
            </a:r>
          </a:p>
          <a:p xmlns:a="http://schemas.openxmlformats.org/drawingml/2006/main">
            <a:r>
              <a:t>    "period": "기존 원장 확인 2026.10.16",</a:t>
            </a:r>
          </a:p>
          <a:p xmlns:a="http://schemas.openxmlformats.org/drawingml/2006/main">
            <a:r>
              <a:t>    "fact": "사내 산출물의 RAG 검색·권한 필터와 내부 시스템 API 기반 업무 에이전트 구축 요구",</a:t>
            </a:r>
          </a:p>
          <a:p xmlns:a="http://schemas.openxmlformats.org/drawingml/2006/main">
            <a:r>
              <a:t>    "limit": "로컬 PUBLIC 원본 재사용 사례. 최신 계약·검수·운영 상황은 별도 확인 필요",</a:t>
            </a:r>
          </a:p>
          <a:p xmlns:a="http://schemas.openxmlformats.org/drawingml/2006/main">
            <a:r>
              <a:t>    "nodes": [</a:t>
            </a:r>
          </a:p>
          <a:p xmlns:a="http://schemas.openxmlformats.org/drawingml/2006/main">
            <a:r>
              <a:t>      "권한별 자료",</a:t>
            </a:r>
          </a:p>
          <a:p xmlns:a="http://schemas.openxmlformats.org/drawingml/2006/main">
            <a:r>
              <a:t>      "RAG·지식 갱신",</a:t>
            </a:r>
          </a:p>
          <a:p xmlns:a="http://schemas.openxmlformats.org/drawingml/2006/main">
            <a:r>
              <a:t>      "업무 에이전트",</a:t>
            </a:r>
          </a:p>
          <a:p xmlns:a="http://schemas.openxmlformats.org/drawingml/2006/main">
            <a:r>
              <a:t>      "현업 검토"</a:t>
            </a:r>
          </a:p>
          <a:p xmlns:a="http://schemas.openxmlformats.org/drawingml/2006/main">
            <a:r>
              <a:t>    ],</a:t>
            </a:r>
          </a:p>
          <a:p xmlns:a="http://schemas.openxmlformats.org/drawingml/2006/main">
            <a:r>
              <a:t>    "apply": "문서·청크의 업무 메타데이터와 검색 전 권한 필터를 함께 구성",</a:t>
            </a:r>
          </a:p>
          <a:p xmlns:a="http://schemas.openxmlformats.org/drawingml/2006/main">
            <a:r>
              <a:t>    "delta": "사업·문서·청크 메타데이터 / 동적 권한 필터 / 부서별 API 어댑터",</a:t>
            </a:r>
          </a:p>
          <a:p xmlns:a="http://schemas.openxmlformats.org/drawingml/2006/main">
            <a:r>
              <a:t>    "test": "암호문서·권한 회수·메타데이터 누락 상태에서 검색 결과와 원천 대사",</a:t>
            </a:r>
          </a:p>
          <a:p xmlns:a="http://schemas.openxmlformats.org/drawingml/2006/main">
            <a:r>
              <a:t>    "url": null,</a:t>
            </a:r>
          </a:p>
          <a:p xmlns:a="http://schemas.openxmlformats.org/drawingml/2006/main">
            <a:r>
              <a:t>    "urls": [],</a:t>
            </a:r>
          </a:p>
          <a:p xmlns:a="http://schemas.openxmlformats.org/drawingml/2006/main">
            <a:r>
              <a:t>    "basis": "P121~123 / 공통영역 요구 비교",</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"권한 오노출 / 근거 일치율 / 지식 갱신 지연",</a:t>
            </a:r>
          </a:p>
          <a:p xmlns:a="http://schemas.openxmlformats.org/drawingml/2006/main">
            <a:r>
              <a:t>    "group": "요구·구축",</a:t>
            </a:r>
          </a:p>
          <a:p xmlns:a="http://schemas.openxmlformats.org/drawingml/2006/main">
            <a:r>
              <a:t>    "sourceDetail": "RAG·권한 메타데이터·부서별 업무 지원·에이전트/API 연계·지식 갱신을 요구\n데이터 권한·운영 피드백을 공통체계로 정의",</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"PF-A03",</a:t>
            </a:r>
          </a:p>
          <a:p xmlns:a="http://schemas.openxmlformats.org/drawingml/2006/main">
            <a:r>
              <a:t>    "canonicalId": "PF-A03",</a:t>
            </a:r>
          </a:p>
          <a:p xmlns:a="http://schemas.openxmlformats.org/drawingml/2006/main">
            <a:r>
              <a:t>    "purpose": "해외 인프라 사업 지식의 공통 활용",</a:t>
            </a:r>
          </a:p>
          <a:p xmlns:a="http://schemas.openxmlformats.org/drawingml/2006/main">
            <a:r>
              <a:t>    "users": "사업부서·문서 담당·플랫폼 운영자",</a:t>
            </a:r>
          </a:p>
          <a:p xmlns:a="http://schemas.openxmlformats.org/drawingml/2006/main">
            <a:r>
              <a:t>    "scope": [</a:t>
            </a:r>
          </a:p>
          <a:p xmlns:a="http://schemas.openxmlformats.org/drawingml/2006/main">
            <a:r>
              <a:t>      "기관 RAG",</a:t>
            </a:r>
          </a:p>
          <a:p xmlns:a="http://schemas.openxmlformats.org/drawingml/2006/main">
            <a:r>
              <a:t>      "업무 에이전트",</a:t>
            </a:r>
          </a:p>
          <a:p xmlns:a="http://schemas.openxmlformats.org/drawingml/2006/main">
            <a:r>
              <a:t>      "데이터 거버넌스"</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"기관 사용자",</a:t>
            </a:r>
          </a:p>
          <a:p xmlns:a="http://schemas.openxmlformats.org/drawingml/2006/main">
            <a:r>
              <a:t>        "detail": "SSO와 부서·암호문서 접근조건 연결",</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"기관 RAG / 업무 에이전트 / 데이터 거버넌스",</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"RAG·업무 에이전트",</a:t>
            </a:r>
          </a:p>
          <a:p xmlns:a="http://schemas.openxmlformats.org/drawingml/2006/main">
            <a:r>
              <a:t>        "detail": "하이브리드 검색의 동적 권한 필터와 API 연계",</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"현업 검토자",</a:t>
            </a:r>
          </a:p>
          <a:p xmlns:a="http://schemas.openxmlformats.org/drawingml/2006/main">
            <a:r>
              <a:t>        "detail": "원문 근거·업무 초안을 부서별 검토자에게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"허용 문서",</a:t>
            </a:r>
          </a:p>
          <a:p xmlns:a="http://schemas.openxmlformats.org/drawingml/2006/main">
            <a:r>
              <a:t>        "detail": "사내 산출물 수집·청킹·메타데이터 부착",</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"지식 갱신·응답 정확도·질의 유형의 지속 관측",</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"권한별 자료",</a:t>
            </a:r>
          </a:p>
          <a:p xmlns:a="http://schemas.openxmlformats.org/drawingml/2006/main">
            <a:r>
              <a:t>        "input": "SSO와 부서·암호문서 접근조건 연결",</a:t>
            </a:r>
          </a:p>
          <a:p xmlns:a="http://schemas.openxmlformats.org/drawingml/2006/main">
            <a:r>
              <a:t>        "process": "사내 산출물 수집·청킹·메타데이터 부착",</a:t>
            </a:r>
          </a:p>
          <a:p xmlns:a="http://schemas.openxmlformats.org/drawingml/2006/main">
            <a:r>
              <a:t>        "output": "자료·권한"</a:t>
            </a:r>
          </a:p>
          <a:p xmlns:a="http://schemas.openxmlformats.org/drawingml/2006/main">
            <a:r>
              <a:t>      },</a:t>
            </a:r>
          </a:p>
          <a:p xmlns:a="http://schemas.openxmlformats.org/drawingml/2006/main">
            <a:r>
              <a:t>      {</a:t>
            </a:r>
          </a:p>
          <a:p xmlns:a="http://schemas.openxmlformats.org/drawingml/2006/main">
            <a:r>
              <a:t>        "title": "RAG·지식 갱신",</a:t>
            </a:r>
          </a:p>
          <a:p xmlns:a="http://schemas.openxmlformats.org/drawingml/2006/main">
            <a:r>
              <a:t>        "input": "자료·권한",</a:t>
            </a:r>
          </a:p>
          <a:p xmlns:a="http://schemas.openxmlformats.org/drawingml/2006/main">
            <a:r>
              <a:t>        "process": "하이브리드 검색의 동적 권한 필터와 API 연계",</a:t>
            </a:r>
          </a:p>
          <a:p xmlns:a="http://schemas.openxmlformats.org/drawingml/2006/main">
            <a:r>
              <a:t>        "output": "검색 근거"</a:t>
            </a:r>
          </a:p>
          <a:p xmlns:a="http://schemas.openxmlformats.org/drawingml/2006/main">
            <a:r>
              <a:t>      },</a:t>
            </a:r>
          </a:p>
          <a:p xmlns:a="http://schemas.openxmlformats.org/drawingml/2006/main">
            <a:r>
              <a:t>      {</a:t>
            </a:r>
          </a:p>
          <a:p xmlns:a="http://schemas.openxmlformats.org/drawingml/2006/main">
            <a:r>
              <a:t>        "title": "업무 에이전트",</a:t>
            </a:r>
          </a:p>
          <a:p xmlns:a="http://schemas.openxmlformats.org/drawingml/2006/main">
            <a:r>
              <a:t>        "input": "검색 근거",</a:t>
            </a:r>
          </a:p>
          <a:p xmlns:a="http://schemas.openxmlformats.org/drawingml/2006/main">
            <a:r>
              <a:t>        "process": "사업·문서별 권한과 최신 판본 검증",</a:t>
            </a:r>
          </a:p>
          <a:p xmlns:a="http://schemas.openxmlformats.org/drawingml/2006/main">
            <a:r>
              <a:t>        "output": "업무 초안"</a:t>
            </a:r>
          </a:p>
          <a:p xmlns:a="http://schemas.openxmlformats.org/drawingml/2006/main">
            <a:r>
              <a:t>      },</a:t>
            </a:r>
          </a:p>
          <a:p xmlns:a="http://schemas.openxmlformats.org/drawingml/2006/main">
            <a:r>
              <a:t>      {</a:t>
            </a:r>
          </a:p>
          <a:p xmlns:a="http://schemas.openxmlformats.org/drawingml/2006/main">
            <a:r>
              <a:t>        "title": "현업 검토",</a:t>
            </a:r>
          </a:p>
          <a:p xmlns:a="http://schemas.openxmlformats.org/drawingml/2006/main">
            <a:r>
              <a:t>        "input": "업무 초안",</a:t>
            </a:r>
          </a:p>
          <a:p xmlns:a="http://schemas.openxmlformats.org/drawingml/2006/main">
            <a:r>
              <a:t>        "process": "원문 근거·업무 초안을 부서별 검토자에게 제공",</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"사업 문서 질의에서 권한 내 근거를 찾고 업무 초안 생성",</a:t>
            </a:r>
          </a:p>
          <a:p xmlns:a="http://schemas.openxmlformats.org/drawingml/2006/main">
            <a:r>
              <a:t>      "exception": "암호문서·다른 부서 자료·메타데이터 누락",</a:t>
            </a:r>
          </a:p>
          <a:p xmlns:a="http://schemas.openxmlformats.org/drawingml/2006/main">
            <a:r>
              <a:t>      "evidence": "문서·청크별 접근시험과 근거·갱신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"사업부서·문서 담당·플랫폼 운영자",</a:t>
            </a:r>
          </a:p>
          <a:p xmlns:a="http://schemas.openxmlformats.org/drawingml/2006/main">
            <a:r>
              <a:t>          "processing": "SSO와 부서·암호문서 접근조건 연결",</a:t>
            </a:r>
          </a:p>
          <a:p xmlns:a="http://schemas.openxmlformats.org/drawingml/2006/main">
            <a:r>
              <a:t>          "output": "자료·권한"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"허용 문서",</a:t>
            </a:r>
          </a:p>
          <a:p xmlns:a="http://schemas.openxmlformats.org/drawingml/2006/main">
            <a:r>
              <a:t>          "processing": "사내 산출물 수집·청킹·메타데이터 부착",</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"자료·권한",</a:t>
            </a:r>
          </a:p>
          <a:p xmlns:a="http://schemas.openxmlformats.org/drawingml/2006/main">
            <a:r>
              <a:t>          "processing": "하이브리드 검색의 동적 권한 필터와 API 연계",</a:t>
            </a:r>
          </a:p>
          <a:p xmlns:a="http://schemas.openxmlformats.org/drawingml/2006/main">
            <a:r>
              <a:t>          "output": "업무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"업무 초안",</a:t>
            </a:r>
          </a:p>
          <a:p xmlns:a="http://schemas.openxmlformats.org/drawingml/2006/main">
            <a:r>
              <a:t>          "processing": "원문 근거·업무 초안을 부서별 검토자에게 제공",</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"지식 갱신·응답 정확도·질의 유형의 지속 관측",</a:t>
            </a:r>
          </a:p>
          <a:p xmlns:a="http://schemas.openxmlformats.org/drawingml/2006/main">
            <a:r>
              <a:t>          "output": "문서·청크별 접근시험과 근거·갱신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"지식 갱신·응답 정확도·질의 유형의 지속 관측",</a:t>
            </a:r>
          </a:p>
          <a:p xmlns:a="http://schemas.openxmlformats.org/drawingml/2006/main">
            <a:r>
              <a:t>    "status": "RFP 기반 논리 설계",</a:t>
            </a:r>
          </a:p>
          <a:p xmlns:a="http://schemas.openxmlformats.org/drawingml/2006/main">
            <a:r>
              <a:t>    "basis": "대내 생성형 AI 서비스 구축 RFP · Ⅰ.3 사업범위·메타데이터 및 동적 권한 필터",</a:t>
            </a:r>
          </a:p>
          <a:p xmlns:a="http://schemas.openxmlformats.org/drawingml/2006/main">
            <a:r>
              <a:t>    "rfp": true,</a:t>
            </a:r>
          </a:p>
          <a:p xmlns:a="http://schemas.openxmlformats.org/drawingml/2006/main">
            <a:r>
              <a:t>    "sources": [],</a:t>
            </a:r>
          </a:p>
          <a:p xmlns:a="http://schemas.openxmlformats.org/drawingml/2006/main">
            <a:r>
              <a:t>    "implication": "문서·청크의 업무 메타데이터와 검색 전 권한 필터를 함께 구성",</a:t>
            </a:r>
          </a:p>
          <a:p xmlns:a="http://schemas.openxmlformats.org/drawingml/2006/main">
            <a:r>
              <a:t>    "local": "문서·청크의 업무 메타데이터와 검색 전 권한 필터를 함께 구성",</a:t>
            </a:r>
          </a:p>
          <a:p xmlns:a="http://schemas.openxmlformats.org/drawingml/2006/main">
            <a:r>
              <a:t>    "sourceDetail": "RAG·권한 메타데이터·부서별 업무 지원·에이전트/API 연계·지식 갱신을 요구\n데이터 권한·운영 피드백을 공통체계로 정의",</a:t>
            </a:r>
          </a:p>
          <a:p xmlns:a="http://schemas.openxmlformats.org/drawingml/2006/main">
            <a:r>
              <a:t>    "narrative": [</a:t>
            </a:r>
          </a:p>
          <a:p xmlns:a="http://schemas.openxmlformats.org/drawingml/2006/main">
            <a:r>
              <a:t>      "해외 인프라 사업 산출물의 검색과 업무별 에이전트 활용을 기관 공통 서비스로 구성하는 요구. 사업·부서마다 보유 문서와 접근조건이 달라 문서 수집 단계부터 소유·권한·업무 문맥을 연결해야 하는 유형.",</a:t>
            </a:r>
          </a:p>
          <a:p xmlns:a="http://schemas.openxmlformats.org/drawingml/2006/main">
            <a:r>
              <a:t>      "RFP 사업범위의 핵심은 문서 메타데이터 자동 부착, 청킹, 하이브리드 검색의 동적 권한 필터, API 기반 업무 에이전트. 검색 결과를 나중에 가리는 방식보다 검색 후보를 구성할 때 허용 자료만 전달하는 설계가 주요 비교 지점.",</a:t>
            </a:r>
          </a:p>
          <a:p xmlns:a="http://schemas.openxmlformats.org/drawingml/2006/main">
            <a:r>
              <a:t>      "CCK에서는 기관 공통 RAG를 재사용하면서 공식 조직·사업 ID와 문서 권한을 추가 연결하는 범위로 구체화. 전보·겸직·사업 종료·문서 회수에 따른 색인과 캐시의 갱신, API 도구별 실행권한을 별도 검수할 필요."</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"Ⅰ.3 / 지식검색",</a:t>
            </a:r>
          </a:p>
          <a:p xmlns:a="http://schemas.openxmlformats.org/drawingml/2006/main">
            <a:r>
              <a:t>        "title": "사내 산출물 기반 RAG",</a:t>
            </a:r>
          </a:p>
          <a:p xmlns:a="http://schemas.openxmlformats.org/drawingml/2006/main">
            <a:r>
              <a:t>        "locator": "Ⅰ.3 사업범위",</a:t>
            </a:r>
          </a:p>
          <a:p xmlns:a="http://schemas.openxmlformats.org/drawingml/2006/main">
            <a:r>
              <a:t>        "summary": "내부 산출물의 수집·정제·메타데이터와 검색 증강 기반 질의응답 구성.",</a:t>
            </a:r>
          </a:p>
          <a:p xmlns:a="http://schemas.openxmlformats.org/drawingml/2006/main">
            <a:r>
              <a:t>        "data": "내부 문서·질의 → 근거가 연결된 답변",</a:t>
            </a:r>
          </a:p>
          <a:p xmlns:a="http://schemas.openxmlformats.org/drawingml/2006/main">
            <a:r>
              <a:t>        "components": [</a:t>
            </a:r>
          </a:p>
          <a:p xmlns:a="http://schemas.openxmlformats.org/drawingml/2006/main">
            <a:r>
              <a:t>          "C03",</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"문서 개정·삭제·다른 업무 자료 혼재 시 원문·판본·인용 위치 대사",</a:t>
            </a:r>
          </a:p>
          <a:p xmlns:a="http://schemas.openxmlformats.org/drawingml/2006/main">
            <a:r>
              <a:t>        "basis": "RFP 사업범위 요약 · 항목명은 분석용 구분",</a:t>
            </a:r>
          </a:p>
          <a:p xmlns:a="http://schemas.openxmlformats.org/drawingml/2006/main">
            <a:r>
              <a:t>        "testBasis": "CCK 비교·검수 설계"</a:t>
            </a:r>
          </a:p>
          <a:p xmlns:a="http://schemas.openxmlformats.org/drawingml/2006/main">
            <a:r>
              <a:t>      },</a:t>
            </a:r>
          </a:p>
          <a:p xmlns:a="http://schemas.openxmlformats.org/drawingml/2006/main">
            <a:r>
              <a:t>      {</a:t>
            </a:r>
          </a:p>
          <a:p xmlns:a="http://schemas.openxmlformats.org/drawingml/2006/main">
            <a:r>
              <a:t>        "id": "Ⅰ.3 / 권한",</a:t>
            </a:r>
          </a:p>
          <a:p xmlns:a="http://schemas.openxmlformats.org/drawingml/2006/main">
            <a:r>
              <a:t>        "title": "메타데이터·동적 권한 필터",</a:t>
            </a:r>
          </a:p>
          <a:p xmlns:a="http://schemas.openxmlformats.org/drawingml/2006/main">
            <a:r>
              <a:t>        "locator": "Ⅰ.3 사업범위",</a:t>
            </a:r>
          </a:p>
          <a:p xmlns:a="http://schemas.openxmlformats.org/drawingml/2006/main">
            <a:r>
              <a:t>        "summary": "문서 메타데이터와 사용자 권한을 이용해 검색·응답 대상을 제한하는 요구.",</a:t>
            </a:r>
          </a:p>
          <a:p xmlns:a="http://schemas.openxmlformats.org/drawingml/2006/main">
            <a:r>
              <a:t>        "data": "사용자·권한·문서 속성 → 허용 자료 범위",</a:t>
            </a:r>
          </a:p>
          <a:p xmlns:a="http://schemas.openxmlformats.org/drawingml/2006/main">
            <a:r>
              <a:t>        "components": [</a:t>
            </a:r>
          </a:p>
          <a:p xmlns:a="http://schemas.openxmlformats.org/drawingml/2006/main">
            <a:r>
              <a:t>          "C02",</a:t>
            </a:r>
          </a:p>
          <a:p xmlns:a="http://schemas.openxmlformats.org/drawingml/2006/main">
            <a:r>
              <a:t>          "C03",</a:t>
            </a:r>
          </a:p>
          <a:p xmlns:a="http://schemas.openxmlformats.org/drawingml/2006/main">
            <a:r>
              <a:t>          "C12"</a:t>
            </a:r>
          </a:p>
          <a:p xmlns:a="http://schemas.openxmlformats.org/drawingml/2006/main">
            <a:r>
              <a:t>        ],</a:t>
            </a:r>
          </a:p>
          <a:p xmlns:a="http://schemas.openxmlformats.org/drawingml/2006/main">
            <a:r>
              <a:t>        "acceptance": "전보·공유 해제·권한 회수 직후 검색 후보와 답변 인용에서 비허용 자료 제외 확인",</a:t>
            </a:r>
          </a:p>
          <a:p xmlns:a="http://schemas.openxmlformats.org/drawingml/2006/main">
            <a:r>
              <a:t>        "basis": "RFP 사업범위 요약 · 항목명은 분석용 구분",</a:t>
            </a:r>
          </a:p>
          <a:p xmlns:a="http://schemas.openxmlformats.org/drawingml/2006/main">
            <a:r>
              <a:t>        "testBasis": "CCK 비교·검수 설계"</a:t>
            </a:r>
          </a:p>
          <a:p xmlns:a="http://schemas.openxmlformats.org/drawingml/2006/main">
            <a:r>
              <a:t>      },</a:t>
            </a:r>
          </a:p>
          <a:p xmlns:a="http://schemas.openxmlformats.org/drawingml/2006/main">
            <a:r>
              <a:t>      {</a:t>
            </a:r>
          </a:p>
          <a:p xmlns:a="http://schemas.openxmlformats.org/drawingml/2006/main">
            <a:r>
              <a:t>        "id": "Ⅰ.3 / 업무연계",</a:t>
            </a:r>
          </a:p>
          <a:p xmlns:a="http://schemas.openxmlformats.org/drawingml/2006/main">
            <a:r>
              <a:t>        "title": "내부 API 기반 업무 에이전트",</a:t>
            </a:r>
          </a:p>
          <a:p xmlns:a="http://schemas.openxmlformats.org/drawingml/2006/main">
            <a:r>
              <a:t>        "locator": "Ⅰ.3 사업범위",</a:t>
            </a:r>
          </a:p>
          <a:p xmlns:a="http://schemas.openxmlformats.org/drawingml/2006/main">
            <a:r>
              <a:t>        "summary": "내부 업무시스템의 API를 활용해 요청을 처리하는 업무 에이전트 구성.",</a:t>
            </a:r>
          </a:p>
          <a:p xmlns:a="http://schemas.openxmlformats.org/drawingml/2006/main">
            <a:r>
              <a:t>        "data": "업무 요청·연계 인자 → 시스템 결과·처리 상태",</a:t>
            </a:r>
          </a:p>
          <a:p xmlns:a="http://schemas.openxmlformats.org/drawingml/2006/main">
            <a:r>
              <a:t>        "components": [</a:t>
            </a:r>
          </a:p>
          <a:p xmlns:a="http://schemas.openxmlformats.org/drawingml/2006/main">
            <a:r>
              <a:t>          "C04",</a:t>
            </a:r>
          </a:p>
          <a:p xmlns:a="http://schemas.openxmlformats.org/drawingml/2006/main">
            <a:r>
              <a:t>          "C06",</a:t>
            </a:r>
          </a:p>
          <a:p xmlns:a="http://schemas.openxmlformats.org/drawingml/2006/main">
            <a:r>
              <a:t>          "C07"</a:t>
            </a:r>
          </a:p>
          <a:p xmlns:a="http://schemas.openxmlformats.org/drawingml/2006/main">
            <a:r>
              <a:t>        ],</a:t>
            </a:r>
          </a:p>
          <a:p xmlns:a="http://schemas.openxmlformats.org/drawingml/2006/main">
            <a:r>
              <a:t>        "acceptance": "권한 없는 실행·필수값 누락·중복 호출·부분 실패의 보류 및 처리 결과 대사",</a:t>
            </a:r>
          </a:p>
          <a:p xmlns:a="http://schemas.openxmlformats.org/drawingml/2006/main">
            <a:r>
              <a:t>        "basis": "RFP 사업범위 요약 · 항목명은 분석용 구분",</a:t>
            </a:r>
          </a:p>
          <a:p xmlns:a="http://schemas.openxmlformats.org/drawingml/2006/main">
            <a:r>
              <a:t>        "testBasis": "CCK 비교·검수 설계"</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"기관 사용자 접점",</a:t>
            </a:r>
          </a:p>
          <a:p xmlns:a="http://schemas.openxmlformats.org/drawingml/2006/main">
            <a:r>
              <a:t>          "layer": "이용 접점",</a:t>
            </a:r>
          </a:p>
          <a:p xmlns:a="http://schemas.openxmlformats.org/drawingml/2006/main">
            <a:r>
              <a:t>          "detail": "사업부서·문서 담당·플랫폼 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"SSO·부서·문서",</a:t>
            </a:r>
          </a:p>
          <a:p xmlns:a="http://schemas.openxmlformats.org/drawingml/2006/main">
            <a:r>
              <a:t>          "layer": "업무 문맥",</a:t>
            </a:r>
          </a:p>
          <a:p xmlns:a="http://schemas.openxmlformats.org/drawingml/2006/main">
            <a:r>
              <a:t>          "detail": "SSO와 부서·암호문서 접근조건 연결",</a:t>
            </a:r>
          </a:p>
          <a:p xmlns:a="http://schemas.openxmlformats.org/drawingml/2006/main">
            <a:r>
              <a:t>          "requirements": [</a:t>
            </a:r>
          </a:p>
          <a:p xmlns:a="http://schemas.openxmlformats.org/drawingml/2006/main">
            <a:r>
              <a:t>            "Ⅰ.3 / 권한"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"동적 권한 검색",</a:t>
            </a:r>
          </a:p>
          <a:p xmlns:a="http://schemas.openxmlformats.org/drawingml/2006/main">
            <a:r>
              <a:t>          "layer": "자료 조회",</a:t>
            </a:r>
          </a:p>
          <a:p xmlns:a="http://schemas.openxmlformats.org/drawingml/2006/main">
            <a:r>
              <a:t>          "detail": "자료·권한",</a:t>
            </a:r>
          </a:p>
          <a:p xmlns:a="http://schemas.openxmlformats.org/drawingml/2006/main">
            <a:r>
              <a:t>          "requirements": [</a:t>
            </a:r>
          </a:p>
          <a:p xmlns:a="http://schemas.openxmlformats.org/drawingml/2006/main">
            <a:r>
              <a:t>            "Ⅰ.3 / 지식검색",</a:t>
            </a:r>
          </a:p>
          <a:p xmlns:a="http://schemas.openxmlformats.org/drawingml/2006/main">
            <a:r>
              <a:t>            "Ⅰ.3 / 권한"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"RAG·API 에이전트",</a:t>
            </a:r>
          </a:p>
          <a:p xmlns:a="http://schemas.openxmlformats.org/drawingml/2006/main">
            <a:r>
              <a:t>          "layer": "핵심 처리",</a:t>
            </a:r>
          </a:p>
          <a:p xmlns:a="http://schemas.openxmlformats.org/drawingml/2006/main">
            <a:r>
              <a:t>          "detail": "하이브리드 검색의 동적 권한 필터와 API 연계",</a:t>
            </a:r>
          </a:p>
          <a:p xmlns:a="http://schemas.openxmlformats.org/drawingml/2006/main">
            <a:r>
              <a:t>          "requirements": [</a:t>
            </a:r>
          </a:p>
          <a:p xmlns:a="http://schemas.openxmlformats.org/drawingml/2006/main">
            <a:r>
              <a:t>            "Ⅰ.3 / 업무연계"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"원문·도구 결과 대조",</a:t>
            </a:r>
          </a:p>
          <a:p xmlns:a="http://schemas.openxmlformats.org/drawingml/2006/main">
            <a:r>
              <a:t>          "layer": "결과 검증",</a:t>
            </a:r>
          </a:p>
          <a:p xmlns:a="http://schemas.openxmlformats.org/drawingml/2006/main">
            <a:r>
              <a:t>          "detail": "사업·문서별 권한과 최신 판본 검증",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"사업부서 검토",</a:t>
            </a:r>
          </a:p>
          <a:p xmlns:a="http://schemas.openxmlformats.org/drawingml/2006/main">
            <a:r>
              <a:t>          "layer": "사람 확인",</a:t>
            </a:r>
          </a:p>
          <a:p xmlns:a="http://schemas.openxmlformats.org/drawingml/2006/main">
            <a:r>
              <a:t>          "detail": "사업 문서 질의에서 권한 내 근거를 찾고 업무 초안 생성",</a:t>
            </a:r>
          </a:p>
          <a:p xmlns:a="http://schemas.openxmlformats.org/drawingml/2006/main">
            <a:r>
              <a:t>          "requirements": [</a:t>
            </a:r>
          </a:p>
          <a:p xmlns:a="http://schemas.openxmlformats.org/drawingml/2006/main">
            <a:r>
              <a:t>            "Ⅰ.3 / 업무연계"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"해외사업 업무 초안",</a:t>
            </a:r>
          </a:p>
          <a:p xmlns:a="http://schemas.openxmlformats.org/drawingml/2006/main">
            <a:r>
              <a:t>          "layer": "업무 연결",</a:t>
            </a:r>
          </a:p>
          <a:p xmlns:a="http://schemas.openxmlformats.org/drawingml/2006/main">
            <a:r>
              <a:t>          "detail": "원문 근거·업무 초안을 부서별 검토자에게 제공",</a:t>
            </a:r>
          </a:p>
          <a:p xmlns:a="http://schemas.openxmlformats.org/drawingml/2006/main">
            <a:r>
              <a:t>          "requirements": [</a:t>
            </a:r>
          </a:p>
          <a:p xmlns:a="http://schemas.openxmlformats.org/drawingml/2006/main">
            <a:r>
              <a:t>            "Ⅰ.3 / 업무연계"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"지식·품질 갱신",</a:t>
            </a:r>
          </a:p>
          <a:p xmlns:a="http://schemas.openxmlformats.org/drawingml/2006/main">
            <a:r>
              <a:t>          "layer": "운영 관측",</a:t>
            </a:r>
          </a:p>
          <a:p xmlns:a="http://schemas.openxmlformats.org/drawingml/2006/main">
            <a:r>
              <a:t>          "detail": "지식 갱신·응답 정확도·질의 유형의 지속 관측",</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"사내 사업 산출물",</a:t>
            </a:r>
          </a:p>
          <a:p xmlns:a="http://schemas.openxmlformats.org/drawingml/2006/main">
            <a:r>
              <a:t>          "layer": "데이터 원천",</a:t>
            </a:r>
          </a:p>
          <a:p xmlns:a="http://schemas.openxmlformats.org/drawingml/2006/main">
            <a:r>
              <a:t>          "detail": "허용 문서",</a:t>
            </a:r>
          </a:p>
          <a:p xmlns:a="http://schemas.openxmlformats.org/drawingml/2006/main">
            <a:r>
              <a:t>          "requirements": [</a:t>
            </a:r>
          </a:p>
          <a:p xmlns:a="http://schemas.openxmlformats.org/drawingml/2006/main">
            <a:r>
              <a:t>            "Ⅰ.3 / 지식검색"</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"청킹·메타데이터",</a:t>
            </a:r>
          </a:p>
          <a:p xmlns:a="http://schemas.openxmlformats.org/drawingml/2006/main">
            <a:r>
              <a:t>          "layer": "준비·갱신",</a:t>
            </a:r>
          </a:p>
          <a:p xmlns:a="http://schemas.openxmlformats.org/drawingml/2006/main">
            <a:r>
              <a:t>          "detail": "사내 산출물 수집·청킹·메타데이터 부착",</a:t>
            </a:r>
          </a:p>
          <a:p xmlns:a="http://schemas.openxmlformats.org/drawingml/2006/main">
            <a:r>
              <a:t>          "requirements": [</a:t>
            </a:r>
          </a:p>
          <a:p xmlns:a="http://schemas.openxmlformats.org/drawingml/2006/main">
            <a:r>
              <a:t>            "Ⅰ.3 / 지식검색"</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"하이브리드 색인",</a:t>
            </a:r>
          </a:p>
          <a:p xmlns:a="http://schemas.openxmlformats.org/drawingml/2006/main">
            <a:r>
              <a:t>          "layer": "상태·지식 저장",</a:t>
            </a:r>
          </a:p>
          <a:p xmlns:a="http://schemas.openxmlformats.org/drawingml/2006/main">
            <a:r>
              <a:t>          "detail": "문서·청크별 접근시험과 근거·갱신 이력",</a:t>
            </a:r>
          </a:p>
          <a:p xmlns:a="http://schemas.openxmlformats.org/drawingml/2006/main">
            <a:r>
              <a:t>          "requirements": [</a:t>
            </a:r>
          </a:p>
          <a:p xmlns:a="http://schemas.openxmlformats.org/drawingml/2006/main">
            <a:r>
              <a:t>            "Ⅰ.3 / 지식검색"</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"암호문서·접근정책",</a:t>
            </a:r>
          </a:p>
          <a:p xmlns:a="http://schemas.openxmlformats.org/drawingml/2006/main">
            <a:r>
              <a:t>          "layer": "권한·정책",</a:t>
            </a:r>
          </a:p>
          <a:p xmlns:a="http://schemas.openxmlformats.org/drawingml/2006/main">
            <a:r>
              <a:t>          "detail": "암호문서·다른 부서 자료·메타데이터 누락",</a:t>
            </a:r>
          </a:p>
          <a:p xmlns:a="http://schemas.openxmlformats.org/drawingml/2006/main">
            <a:r>
              <a:t>          "requirements": [</a:t>
            </a:r>
          </a:p>
          <a:p xmlns:a="http://schemas.openxmlformats.org/drawingml/2006/main">
            <a:r>
              <a:t>            "Ⅰ.3 / 권한"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"SSO와 부서·암호문서 접근조건 연결",</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"자료·권한",</a:t>
            </a:r>
          </a:p>
          <a:p xmlns:a="http://schemas.openxmlformats.org/drawingml/2006/main">
            <a:r>
              <a:t>          "check": "사업·문서별 권한과 최신 판본 검증"</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"검색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"업무 초안",</a:t>
            </a:r>
          </a:p>
          <a:p xmlns:a="http://schemas.openxmlformats.org/drawingml/2006/main">
            <a:r>
              <a:t>          "check": "암호문서·다른 부서 자료·메타데이터 누락"</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"업무 초안",</a:t>
            </a:r>
          </a:p>
          <a:p xmlns:a="http://schemas.openxmlformats.org/drawingml/2006/main">
            <a:r>
              <a:t>          "check": "원문 근거·업무 초안을 부서별 검토자에게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 결과",</a:t>
            </a:r>
          </a:p>
          <a:p xmlns:a="http://schemas.openxmlformats.org/drawingml/2006/main">
            <a:r>
              <a:t>          "check": "문서·청크별 접근시험과 근거·갱신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"RFP Ⅰ.3 사업범위",</a:t>
            </a:r>
          </a:p>
          <a:p xmlns:a="http://schemas.openxmlformats.org/drawingml/2006/main">
            <a:r>
              <a:t>        "extracted": "메타데이터 자동 부착·동적 권한 필터·API 업무 에이전트",</a:t>
            </a:r>
          </a:p>
          <a:p xmlns:a="http://schemas.openxmlformats.org/drawingml/2006/main">
            <a:r>
              <a:t>        "extension": "해외사업별 문서 격리와 승인 후 도구 실행"</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"암호문서·다른 부서 자료·메타데이터 누락",</a:t>
            </a:r>
          </a:p>
          <a:p xmlns:a="http://schemas.openxmlformats.org/drawingml/2006/main">
            <a:r>
              <a:t>        "hold": "사업·문서별 권한과 최신 판본 검증",</a:t>
            </a:r>
          </a:p>
          <a:p xmlns:a="http://schemas.openxmlformats.org/drawingml/2006/main">
            <a:r>
              <a:t>        "recovery": "지식 갱신·응답 정확도·질의 유형의 지속 관측",</a:t>
            </a:r>
          </a:p>
          <a:p xmlns:a="http://schemas.openxmlformats.org/drawingml/2006/main">
            <a:r>
              <a:t>        "evidence": "문서·청크별 접근시험과 근거·갱신 이력"</a:t>
            </a:r>
          </a:p>
          <a:p xmlns:a="http://schemas.openxmlformats.org/drawingml/2006/main">
            <a:r>
              <a:t>      },</a:t>
            </a:r>
          </a:p>
          <a:p xmlns:a="http://schemas.openxmlformats.org/drawingml/2006/main">
            <a:r>
              <a:t>      "data": {</a:t>
            </a:r>
          </a:p>
          <a:p xmlns:a="http://schemas.openxmlformats.org/drawingml/2006/main">
            <a:r>
              <a:t>        "source": "허용 문서",</a:t>
            </a:r>
          </a:p>
          <a:p xmlns:a="http://schemas.openxmlformats.org/drawingml/2006/main">
            <a:r>
              <a:t>        "prepare": "사내 산출물 수집·청킹·메타데이터 부착",</a:t>
            </a:r>
          </a:p>
          <a:p xmlns:a="http://schemas.openxmlformats.org/drawingml/2006/main">
            <a:r>
              <a:t>        "output": "자료·권한",</a:t>
            </a:r>
          </a:p>
          <a:p xmlns:a="http://schemas.openxmlformats.org/drawingml/2006/main">
            <a:r>
              <a:t>        "refresh": "지식 갱신·응답 정확도·질의 유형의 지속 관측"</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"PF-A03",</a:t>
            </a:r>
          </a:p>
          <a:p xmlns:a="http://schemas.openxmlformats.org/drawingml/2006/main">
            <a:r>
              <a:t>    "success": [</a:t>
            </a:r>
          </a:p>
          <a:p xmlns:a="http://schemas.openxmlformats.org/drawingml/2006/main">
            <a:r>
              <a:t>      "권한별 자료와 공통 검색 구성",</a:t>
            </a:r>
          </a:p>
          <a:p xmlns:a="http://schemas.openxmlformats.org/drawingml/2006/main">
            <a:r>
              <a:t>      "업무 에이전트의 현업 검토"</a:t>
            </a:r>
          </a:p>
          <a:p xmlns:a="http://schemas.openxmlformats.org/drawingml/2006/main">
            <a:r>
              <a:t>    ],</a:t>
            </a:r>
          </a:p>
          <a:p xmlns:a="http://schemas.openxmlformats.org/drawingml/2006/main">
            <a:r>
              <a:t>    "risks": [</a:t>
            </a:r>
          </a:p>
          <a:p xmlns:a="http://schemas.openxmlformats.org/drawingml/2006/main">
            <a:r>
              <a:t>      "해외사업 문서별 접근 차이",</a:t>
            </a:r>
          </a:p>
          <a:p xmlns:a="http://schemas.openxmlformats.org/drawingml/2006/main">
            <a:r>
              <a:t>      "RFP와 운영 완료의 혼동"</a:t>
            </a:r>
          </a:p>
          <a:p xmlns:a="http://schemas.openxmlformats.org/drawingml/2006/main">
            <a:r>
              <a:t>    ],</a:t>
            </a:r>
          </a:p>
          <a:p xmlns:a="http://schemas.openxmlformats.org/drawingml/2006/main">
            <a:r>
              <a:t>    "architecture": [</a:t>
            </a:r>
          </a:p>
          <a:p xmlns:a="http://schemas.openxmlformats.org/drawingml/2006/main">
            <a:r>
              <a:t>      "기관 사용자",</a:t>
            </a:r>
          </a:p>
          <a:p xmlns:a="http://schemas.openxmlformats.org/drawingml/2006/main">
            <a:r>
              <a:t>      "RAG·업무 에이전트",</a:t>
            </a:r>
          </a:p>
          <a:p xmlns:a="http://schemas.openxmlformats.org/drawingml/2006/main">
            <a:r>
              <a:t>      "허용 문서",</a:t>
            </a:r>
          </a:p>
          <a:p xmlns:a="http://schemas.openxmlformats.org/drawingml/2006/main">
            <a:r>
              <a:t>      "현업 검토자"</a:t>
            </a:r>
          </a:p>
          <a:p xmlns:a="http://schemas.openxmlformats.org/drawingml/2006/main">
            <a:r>
              <a:t>    ],</a:t>
            </a:r>
          </a:p>
          <a:p xmlns:a="http://schemas.openxmlformats.org/drawingml/2006/main">
            <a:r>
              <a:t>    "transfers": [</a:t>
            </a:r>
          </a:p>
          <a:p xmlns:a="http://schemas.openxmlformats.org/drawingml/2006/main">
            <a:r>
              <a:t>      "자료·권한",</a:t>
            </a:r>
          </a:p>
          <a:p xmlns:a="http://schemas.openxmlformats.org/drawingml/2006/main">
            <a:r>
              <a:t>      "검색 근거",</a:t>
            </a:r>
          </a:p>
          <a:p xmlns:a="http://schemas.openxmlformats.org/drawingml/2006/main">
            <a:r>
              <a:t>      "업무 초안",</a:t>
            </a:r>
          </a:p>
          <a:p xmlns:a="http://schemas.openxmlformats.org/drawingml/2006/main">
            <a:r>
              <a:t>      "검토 결과"</a:t>
            </a:r>
          </a:p>
          <a:p xmlns:a="http://schemas.openxmlformats.org/drawingml/2006/main">
            <a:r>
              <a:t>    ],</a:t>
            </a:r>
          </a:p>
          <a:p xmlns:a="http://schemas.openxmlformats.org/drawingml/2006/main">
            <a:r>
              <a:t>    "control": "사업·문서별 권한과 최신 판본 검증",</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
            </a:r>
          </a:p>
          <a:p xmlns:a="http://schemas.openxmlformats.org/drawingml/2006/main">
            <a:r>
              <a:t>홈페이지 https://heen1987-ops.github.io/TS-business-Plan-001/index.html?view=platform-cases&amp;case=PF-A03</a:t>
            </a:r>
          </a:p>
          <a:p xmlns:a="http://schemas.openxmlformats.org/drawingml/2006/main">
            <a:r>
              <a:t>한계: 로컬 PUBLIC 원본 재사용 사례. 최신 계약·검수·운영 상황은 별도 확인 필요</a:t>
            </a:r>
          </a:p>
          <a:p xmlns:a="http://schemas.openxmlformats.org/drawingml/2006/main">
            <a:r>
              <a:t>실패 위험: 해외사업 문서별 접근 차이 / RFP와 운영 완료의 혼동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"PF-A03",</a:t>
            </a:r>
          </a:p>
          <a:p xmlns:a="http://schemas.openxmlformats.org/drawingml/2006/main">
            <a:r>
              <a:t>    "sourceId": "A03",</a:t>
            </a:r>
          </a:p>
          <a:p xmlns:a="http://schemas.openxmlformats.org/drawingml/2006/main">
            <a:r>
              <a:t>    "title": "KIND 생성형 AI",</a:t>
            </a:r>
          </a:p>
          <a:p xmlns:a="http://schemas.openxmlformats.org/drawingml/2006/main">
            <a:r>
              <a:t>    "region": "국내",</a:t>
            </a:r>
          </a:p>
          <a:p xmlns:a="http://schemas.openxmlformats.org/drawingml/2006/main">
            <a:r>
              <a:t>    "owner": "KIND / 대내 생성형 AI 서비스 구축",</a:t>
            </a:r>
          </a:p>
          <a:p xmlns:a="http://schemas.openxmlformats.org/drawingml/2006/main">
            <a:r>
              <a:t>    "state": "공식 RFP 확보 / 운영 성과 미확인",</a:t>
            </a:r>
          </a:p>
          <a:p xmlns:a="http://schemas.openxmlformats.org/drawingml/2006/main">
            <a:r>
              <a:t>    "period": "기존 원장 확인 2026.10.16",</a:t>
            </a:r>
          </a:p>
          <a:p xmlns:a="http://schemas.openxmlformats.org/drawingml/2006/main">
            <a:r>
              <a:t>    "fact": "사내 산출물의 RAG 검색·권한 필터와 내부 시스템 API 기반 업무 에이전트 구축 요구",</a:t>
            </a:r>
          </a:p>
          <a:p xmlns:a="http://schemas.openxmlformats.org/drawingml/2006/main">
            <a:r>
              <a:t>    "limit": "로컬 PUBLIC 원본 재사용 사례. 최신 계약·검수·운영 상황은 별도 확인 필요",</a:t>
            </a:r>
          </a:p>
          <a:p xmlns:a="http://schemas.openxmlformats.org/drawingml/2006/main">
            <a:r>
              <a:t>    "nodes": [</a:t>
            </a:r>
          </a:p>
          <a:p xmlns:a="http://schemas.openxmlformats.org/drawingml/2006/main">
            <a:r>
              <a:t>      "권한별 자료",</a:t>
            </a:r>
          </a:p>
          <a:p xmlns:a="http://schemas.openxmlformats.org/drawingml/2006/main">
            <a:r>
              <a:t>      "RAG·지식 갱신",</a:t>
            </a:r>
          </a:p>
          <a:p xmlns:a="http://schemas.openxmlformats.org/drawingml/2006/main">
            <a:r>
              <a:t>      "업무 에이전트",</a:t>
            </a:r>
          </a:p>
          <a:p xmlns:a="http://schemas.openxmlformats.org/drawingml/2006/main">
            <a:r>
              <a:t>      "현업 검토"</a:t>
            </a:r>
          </a:p>
          <a:p xmlns:a="http://schemas.openxmlformats.org/drawingml/2006/main">
            <a:r>
              <a:t>    ],</a:t>
            </a:r>
          </a:p>
          <a:p xmlns:a="http://schemas.openxmlformats.org/drawingml/2006/main">
            <a:r>
              <a:t>    "apply": "문서·청크의 업무 메타데이터와 검색 전 권한 필터를 함께 구성",</a:t>
            </a:r>
          </a:p>
          <a:p xmlns:a="http://schemas.openxmlformats.org/drawingml/2006/main">
            <a:r>
              <a:t>    "delta": "사업·문서·청크 메타데이터 / 동적 권한 필터 / 부서별 API 어댑터",</a:t>
            </a:r>
          </a:p>
          <a:p xmlns:a="http://schemas.openxmlformats.org/drawingml/2006/main">
            <a:r>
              <a:t>    "test": "암호문서·권한 회수·메타데이터 누락 상태에서 검색 결과와 원천 대사",</a:t>
            </a:r>
          </a:p>
          <a:p xmlns:a="http://schemas.openxmlformats.org/drawingml/2006/main">
            <a:r>
              <a:t>    "url": null,</a:t>
            </a:r>
          </a:p>
          <a:p xmlns:a="http://schemas.openxmlformats.org/drawingml/2006/main">
            <a:r>
              <a:t>    "urls": [],</a:t>
            </a:r>
          </a:p>
          <a:p xmlns:a="http://schemas.openxmlformats.org/drawingml/2006/main">
            <a:r>
              <a:t>    "basis": "P121~123 / 공통영역 요구 비교",</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"권한 오노출 / 근거 일치율 / 지식 갱신 지연",</a:t>
            </a:r>
          </a:p>
          <a:p xmlns:a="http://schemas.openxmlformats.org/drawingml/2006/main">
            <a:r>
              <a:t>    "group": "요구·구축",</a:t>
            </a:r>
          </a:p>
          <a:p xmlns:a="http://schemas.openxmlformats.org/drawingml/2006/main">
            <a:r>
              <a:t>    "sourceDetail": "RAG·권한 메타데이터·부서별 업무 지원·에이전트/API 연계·지식 갱신을 요구\n데이터 권한·운영 피드백을 공통체계로 정의",</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"PF-A03",</a:t>
            </a:r>
          </a:p>
          <a:p xmlns:a="http://schemas.openxmlformats.org/drawingml/2006/main">
            <a:r>
              <a:t>    "canonicalId": "PF-A03",</a:t>
            </a:r>
          </a:p>
          <a:p xmlns:a="http://schemas.openxmlformats.org/drawingml/2006/main">
            <a:r>
              <a:t>    "purpose": "해외 인프라 사업 지식의 공통 활용",</a:t>
            </a:r>
          </a:p>
          <a:p xmlns:a="http://schemas.openxmlformats.org/drawingml/2006/main">
            <a:r>
              <a:t>    "users": "사업부서·문서 담당·플랫폼 운영자",</a:t>
            </a:r>
          </a:p>
          <a:p xmlns:a="http://schemas.openxmlformats.org/drawingml/2006/main">
            <a:r>
              <a:t>    "scope": [</a:t>
            </a:r>
          </a:p>
          <a:p xmlns:a="http://schemas.openxmlformats.org/drawingml/2006/main">
            <a:r>
              <a:t>      "기관 RAG",</a:t>
            </a:r>
          </a:p>
          <a:p xmlns:a="http://schemas.openxmlformats.org/drawingml/2006/main">
            <a:r>
              <a:t>      "업무 에이전트",</a:t>
            </a:r>
          </a:p>
          <a:p xmlns:a="http://schemas.openxmlformats.org/drawingml/2006/main">
            <a:r>
              <a:t>      "데이터 거버넌스"</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"기관 사용자",</a:t>
            </a:r>
          </a:p>
          <a:p xmlns:a="http://schemas.openxmlformats.org/drawingml/2006/main">
            <a:r>
              <a:t>        "detail": "SSO와 부서·암호문서 접근조건 연결",</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"기관 RAG / 업무 에이전트 / 데이터 거버넌스",</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"RAG·업무 에이전트",</a:t>
            </a:r>
          </a:p>
          <a:p xmlns:a="http://schemas.openxmlformats.org/drawingml/2006/main">
            <a:r>
              <a:t>        "detail": "하이브리드 검색의 동적 권한 필터와 API 연계",</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"현업 검토자",</a:t>
            </a:r>
          </a:p>
          <a:p xmlns:a="http://schemas.openxmlformats.org/drawingml/2006/main">
            <a:r>
              <a:t>        "detail": "원문 근거·업무 초안을 부서별 검토자에게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"허용 문서",</a:t>
            </a:r>
          </a:p>
          <a:p xmlns:a="http://schemas.openxmlformats.org/drawingml/2006/main">
            <a:r>
              <a:t>        "detail": "사내 산출물 수집·청킹·메타데이터 부착",</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"지식 갱신·응답 정확도·질의 유형의 지속 관측",</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"권한별 자료",</a:t>
            </a:r>
          </a:p>
          <a:p xmlns:a="http://schemas.openxmlformats.org/drawingml/2006/main">
            <a:r>
              <a:t>        "input": "SSO와 부서·암호문서 접근조건 연결",</a:t>
            </a:r>
          </a:p>
          <a:p xmlns:a="http://schemas.openxmlformats.org/drawingml/2006/main">
            <a:r>
              <a:t>        "process": "사내 산출물 수집·청킹·메타데이터 부착",</a:t>
            </a:r>
          </a:p>
          <a:p xmlns:a="http://schemas.openxmlformats.org/drawingml/2006/main">
            <a:r>
              <a:t>        "output": "자료·권한"</a:t>
            </a:r>
          </a:p>
          <a:p xmlns:a="http://schemas.openxmlformats.org/drawingml/2006/main">
            <a:r>
              <a:t>      },</a:t>
            </a:r>
          </a:p>
          <a:p xmlns:a="http://schemas.openxmlformats.org/drawingml/2006/main">
            <a:r>
              <a:t>      {</a:t>
            </a:r>
          </a:p>
          <a:p xmlns:a="http://schemas.openxmlformats.org/drawingml/2006/main">
            <a:r>
              <a:t>        "title": "RAG·지식 갱신",</a:t>
            </a:r>
          </a:p>
          <a:p xmlns:a="http://schemas.openxmlformats.org/drawingml/2006/main">
            <a:r>
              <a:t>        "input": "자료·권한",</a:t>
            </a:r>
          </a:p>
          <a:p xmlns:a="http://schemas.openxmlformats.org/drawingml/2006/main">
            <a:r>
              <a:t>        "process": "하이브리드 검색의 동적 권한 필터와 API 연계",</a:t>
            </a:r>
          </a:p>
          <a:p xmlns:a="http://schemas.openxmlformats.org/drawingml/2006/main">
            <a:r>
              <a:t>        "output": "검색 근거"</a:t>
            </a:r>
          </a:p>
          <a:p xmlns:a="http://schemas.openxmlformats.org/drawingml/2006/main">
            <a:r>
              <a:t>      },</a:t>
            </a:r>
          </a:p>
          <a:p xmlns:a="http://schemas.openxmlformats.org/drawingml/2006/main">
            <a:r>
              <a:t>      {</a:t>
            </a:r>
          </a:p>
          <a:p xmlns:a="http://schemas.openxmlformats.org/drawingml/2006/main">
            <a:r>
              <a:t>        "title": "업무 에이전트",</a:t>
            </a:r>
          </a:p>
          <a:p xmlns:a="http://schemas.openxmlformats.org/drawingml/2006/main">
            <a:r>
              <a:t>        "input": "검색 근거",</a:t>
            </a:r>
          </a:p>
          <a:p xmlns:a="http://schemas.openxmlformats.org/drawingml/2006/main">
            <a:r>
              <a:t>        "process": "사업·문서별 권한과 최신 판본 검증",</a:t>
            </a:r>
          </a:p>
          <a:p xmlns:a="http://schemas.openxmlformats.org/drawingml/2006/main">
            <a:r>
              <a:t>        "output": "업무 초안"</a:t>
            </a:r>
          </a:p>
          <a:p xmlns:a="http://schemas.openxmlformats.org/drawingml/2006/main">
            <a:r>
              <a:t>      },</a:t>
            </a:r>
          </a:p>
          <a:p xmlns:a="http://schemas.openxmlformats.org/drawingml/2006/main">
            <a:r>
              <a:t>      {</a:t>
            </a:r>
          </a:p>
          <a:p xmlns:a="http://schemas.openxmlformats.org/drawingml/2006/main">
            <a:r>
              <a:t>        "title": "현업 검토",</a:t>
            </a:r>
          </a:p>
          <a:p xmlns:a="http://schemas.openxmlformats.org/drawingml/2006/main">
            <a:r>
              <a:t>        "input": "업무 초안",</a:t>
            </a:r>
          </a:p>
          <a:p xmlns:a="http://schemas.openxmlformats.org/drawingml/2006/main">
            <a:r>
              <a:t>        "process": "원문 근거·업무 초안을 부서별 검토자에게 제공",</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"사업 문서 질의에서 권한 내 근거를 찾고 업무 초안 생성",</a:t>
            </a:r>
          </a:p>
          <a:p xmlns:a="http://schemas.openxmlformats.org/drawingml/2006/main">
            <a:r>
              <a:t>      "exception": "암호문서·다른 부서 자료·메타데이터 누락",</a:t>
            </a:r>
          </a:p>
          <a:p xmlns:a="http://schemas.openxmlformats.org/drawingml/2006/main">
            <a:r>
              <a:t>      "evidence": "문서·청크별 접근시험과 근거·갱신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"사업부서·문서 담당·플랫폼 운영자",</a:t>
            </a:r>
          </a:p>
          <a:p xmlns:a="http://schemas.openxmlformats.org/drawingml/2006/main">
            <a:r>
              <a:t>          "processing": "SSO와 부서·암호문서 접근조건 연결",</a:t>
            </a:r>
          </a:p>
          <a:p xmlns:a="http://schemas.openxmlformats.org/drawingml/2006/main">
            <a:r>
              <a:t>          "output": "자료·권한"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"허용 문서",</a:t>
            </a:r>
          </a:p>
          <a:p xmlns:a="http://schemas.openxmlformats.org/drawingml/2006/main">
            <a:r>
              <a:t>          "processing": "사내 산출물 수집·청킹·메타데이터 부착",</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"자료·권한",</a:t>
            </a:r>
          </a:p>
          <a:p xmlns:a="http://schemas.openxmlformats.org/drawingml/2006/main">
            <a:r>
              <a:t>          "processing": "하이브리드 검색의 동적 권한 필터와 API 연계",</a:t>
            </a:r>
          </a:p>
          <a:p xmlns:a="http://schemas.openxmlformats.org/drawingml/2006/main">
            <a:r>
              <a:t>          "output": "업무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"업무 초안",</a:t>
            </a:r>
          </a:p>
          <a:p xmlns:a="http://schemas.openxmlformats.org/drawingml/2006/main">
            <a:r>
              <a:t>          "processing": "원문 근거·업무 초안을 부서별 검토자에게 제공",</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"지식 갱신·응답 정확도·질의 유형의 지속 관측",</a:t>
            </a:r>
          </a:p>
          <a:p xmlns:a="http://schemas.openxmlformats.org/drawingml/2006/main">
            <a:r>
              <a:t>          "output": "문서·청크별 접근시험과 근거·갱신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"지식 갱신·응답 정확도·질의 유형의 지속 관측",</a:t>
            </a:r>
          </a:p>
          <a:p xmlns:a="http://schemas.openxmlformats.org/drawingml/2006/main">
            <a:r>
              <a:t>    "status": "RFP 기반 논리 설계",</a:t>
            </a:r>
          </a:p>
          <a:p xmlns:a="http://schemas.openxmlformats.org/drawingml/2006/main">
            <a:r>
              <a:t>    "basis": "대내 생성형 AI 서비스 구축 RFP · Ⅰ.3 사업범위·메타데이터 및 동적 권한 필터",</a:t>
            </a:r>
          </a:p>
          <a:p xmlns:a="http://schemas.openxmlformats.org/drawingml/2006/main">
            <a:r>
              <a:t>    "rfp": true,</a:t>
            </a:r>
          </a:p>
          <a:p xmlns:a="http://schemas.openxmlformats.org/drawingml/2006/main">
            <a:r>
              <a:t>    "sources": [],</a:t>
            </a:r>
          </a:p>
          <a:p xmlns:a="http://schemas.openxmlformats.org/drawingml/2006/main">
            <a:r>
              <a:t>    "implication": "문서·청크의 업무 메타데이터와 검색 전 권한 필터를 함께 구성",</a:t>
            </a:r>
          </a:p>
          <a:p xmlns:a="http://schemas.openxmlformats.org/drawingml/2006/main">
            <a:r>
              <a:t>    "local": "문서·청크의 업무 메타데이터와 검색 전 권한 필터를 함께 구성",</a:t>
            </a:r>
          </a:p>
          <a:p xmlns:a="http://schemas.openxmlformats.org/drawingml/2006/main">
            <a:r>
              <a:t>    "sourceDetail": "RAG·권한 메타데이터·부서별 업무 지원·에이전트/API 연계·지식 갱신을 요구\n데이터 권한·운영 피드백을 공통체계로 정의",</a:t>
            </a:r>
          </a:p>
          <a:p xmlns:a="http://schemas.openxmlformats.org/drawingml/2006/main">
            <a:r>
              <a:t>    "narrative": [</a:t>
            </a:r>
          </a:p>
          <a:p xmlns:a="http://schemas.openxmlformats.org/drawingml/2006/main">
            <a:r>
              <a:t>      "해외 인프라 사업 산출물의 검색과 업무별 에이전트 활용을 기관 공통 서비스로 구성하는 요구. 사업·부서마다 보유 문서와 접근조건이 달라 문서 수집 단계부터 소유·권한·업무 문맥을 연결해야 하는 유형.",</a:t>
            </a:r>
          </a:p>
          <a:p xmlns:a="http://schemas.openxmlformats.org/drawingml/2006/main">
            <a:r>
              <a:t>      "RFP 사업범위의 핵심은 문서 메타데이터 자동 부착, 청킹, 하이브리드 검색의 동적 권한 필터, API 기반 업무 에이전트. 검색 결과를 나중에 가리는 방식보다 검색 후보를 구성할 때 허용 자료만 전달하는 설계가 주요 비교 지점.",</a:t>
            </a:r>
          </a:p>
          <a:p xmlns:a="http://schemas.openxmlformats.org/drawingml/2006/main">
            <a:r>
              <a:t>      "CCK에서는 기관 공통 RAG를 재사용하면서 공식 조직·사업 ID와 문서 권한을 추가 연결하는 범위로 구체화. 전보·겸직·사업 종료·문서 회수에 따른 색인과 캐시의 갱신, API 도구별 실행권한을 별도 검수할 필요."</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"Ⅰ.3 / 지식검색",</a:t>
            </a:r>
          </a:p>
          <a:p xmlns:a="http://schemas.openxmlformats.org/drawingml/2006/main">
            <a:r>
              <a:t>        "title": "사내 산출물 기반 RAG",</a:t>
            </a:r>
          </a:p>
          <a:p xmlns:a="http://schemas.openxmlformats.org/drawingml/2006/main">
            <a:r>
              <a:t>        "locator": "Ⅰ.3 사업범위",</a:t>
            </a:r>
          </a:p>
          <a:p xmlns:a="http://schemas.openxmlformats.org/drawingml/2006/main">
            <a:r>
              <a:t>        "summary": "내부 산출물의 수집·정제·메타데이터와 검색 증강 기반 질의응답 구성.",</a:t>
            </a:r>
          </a:p>
          <a:p xmlns:a="http://schemas.openxmlformats.org/drawingml/2006/main">
            <a:r>
              <a:t>        "data": "내부 문서·질의 → 근거가 연결된 답변",</a:t>
            </a:r>
          </a:p>
          <a:p xmlns:a="http://schemas.openxmlformats.org/drawingml/2006/main">
            <a:r>
              <a:t>        "components": [</a:t>
            </a:r>
          </a:p>
          <a:p xmlns:a="http://schemas.openxmlformats.org/drawingml/2006/main">
            <a:r>
              <a:t>          "C03",</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"문서 개정·삭제·다른 업무 자료 혼재 시 원문·판본·인용 위치 대사",</a:t>
            </a:r>
          </a:p>
          <a:p xmlns:a="http://schemas.openxmlformats.org/drawingml/2006/main">
            <a:r>
              <a:t>        "basis": "RFP 사업범위 요약 · 항목명은 분석용 구분",</a:t>
            </a:r>
          </a:p>
          <a:p xmlns:a="http://schemas.openxmlformats.org/drawingml/2006/main">
            <a:r>
              <a:t>        "testBasis": "CCK 비교·검수 설계"</a:t>
            </a:r>
          </a:p>
          <a:p xmlns:a="http://schemas.openxmlformats.org/drawingml/2006/main">
            <a:r>
              <a:t>      },</a:t>
            </a:r>
          </a:p>
          <a:p xmlns:a="http://schemas.openxmlformats.org/drawingml/2006/main">
            <a:r>
              <a:t>      {</a:t>
            </a:r>
          </a:p>
          <a:p xmlns:a="http://schemas.openxmlformats.org/drawingml/2006/main">
            <a:r>
              <a:t>        "id": "Ⅰ.3 / 권한",</a:t>
            </a:r>
          </a:p>
          <a:p xmlns:a="http://schemas.openxmlformats.org/drawingml/2006/main">
            <a:r>
              <a:t>        "title": "메타데이터·동적 권한 필터",</a:t>
            </a:r>
          </a:p>
          <a:p xmlns:a="http://schemas.openxmlformats.org/drawingml/2006/main">
            <a:r>
              <a:t>        "locator": "Ⅰ.3 사업범위",</a:t>
            </a:r>
          </a:p>
          <a:p xmlns:a="http://schemas.openxmlformats.org/drawingml/2006/main">
            <a:r>
              <a:t>        "summary": "문서 메타데이터와 사용자 권한을 이용해 검색·응답 대상을 제한하는 요구.",</a:t>
            </a:r>
          </a:p>
          <a:p xmlns:a="http://schemas.openxmlformats.org/drawingml/2006/main">
            <a:r>
              <a:t>        "data": "사용자·권한·문서 속성 → 허용 자료 범위",</a:t>
            </a:r>
          </a:p>
          <a:p xmlns:a="http://schemas.openxmlformats.org/drawingml/2006/main">
            <a:r>
              <a:t>        "components": [</a:t>
            </a:r>
          </a:p>
          <a:p xmlns:a="http://schemas.openxmlformats.org/drawingml/2006/main">
            <a:r>
              <a:t>          "C02",</a:t>
            </a:r>
          </a:p>
          <a:p xmlns:a="http://schemas.openxmlformats.org/drawingml/2006/main">
            <a:r>
              <a:t>          "C03",</a:t>
            </a:r>
          </a:p>
          <a:p xmlns:a="http://schemas.openxmlformats.org/drawingml/2006/main">
            <a:r>
              <a:t>          "C12"</a:t>
            </a:r>
          </a:p>
          <a:p xmlns:a="http://schemas.openxmlformats.org/drawingml/2006/main">
            <a:r>
              <a:t>        ],</a:t>
            </a:r>
          </a:p>
          <a:p xmlns:a="http://schemas.openxmlformats.org/drawingml/2006/main">
            <a:r>
              <a:t>        "acceptance": "전보·공유 해제·권한 회수 직후 검색 후보와 답변 인용에서 비허용 자료 제외 확인",</a:t>
            </a:r>
          </a:p>
          <a:p xmlns:a="http://schemas.openxmlformats.org/drawingml/2006/main">
            <a:r>
              <a:t>        "basis": "RFP 사업범위 요약 · 항목명은 분석용 구분",</a:t>
            </a:r>
          </a:p>
          <a:p xmlns:a="http://schemas.openxmlformats.org/drawingml/2006/main">
            <a:r>
              <a:t>        "testBasis": "CCK 비교·검수 설계"</a:t>
            </a:r>
          </a:p>
          <a:p xmlns:a="http://schemas.openxmlformats.org/drawingml/2006/main">
            <a:r>
              <a:t>      },</a:t>
            </a:r>
          </a:p>
          <a:p xmlns:a="http://schemas.openxmlformats.org/drawingml/2006/main">
            <a:r>
              <a:t>      {</a:t>
            </a:r>
          </a:p>
          <a:p xmlns:a="http://schemas.openxmlformats.org/drawingml/2006/main">
            <a:r>
              <a:t>        "id": "Ⅰ.3 / 업무연계",</a:t>
            </a:r>
          </a:p>
          <a:p xmlns:a="http://schemas.openxmlformats.org/drawingml/2006/main">
            <a:r>
              <a:t>        "title": "내부 API 기반 업무 에이전트",</a:t>
            </a:r>
          </a:p>
          <a:p xmlns:a="http://schemas.openxmlformats.org/drawingml/2006/main">
            <a:r>
              <a:t>        "locator": "Ⅰ.3 사업범위",</a:t>
            </a:r>
          </a:p>
          <a:p xmlns:a="http://schemas.openxmlformats.org/drawingml/2006/main">
            <a:r>
              <a:t>        "summary": "내부 업무시스템의 API를 활용해 요청을 처리하는 업무 에이전트 구성.",</a:t>
            </a:r>
          </a:p>
          <a:p xmlns:a="http://schemas.openxmlformats.org/drawingml/2006/main">
            <a:r>
              <a:t>        "data": "업무 요청·연계 인자 → 시스템 결과·처리 상태",</a:t>
            </a:r>
          </a:p>
          <a:p xmlns:a="http://schemas.openxmlformats.org/drawingml/2006/main">
            <a:r>
              <a:t>        "components": [</a:t>
            </a:r>
          </a:p>
          <a:p xmlns:a="http://schemas.openxmlformats.org/drawingml/2006/main">
            <a:r>
              <a:t>          "C04",</a:t>
            </a:r>
          </a:p>
          <a:p xmlns:a="http://schemas.openxmlformats.org/drawingml/2006/main">
            <a:r>
              <a:t>          "C06",</a:t>
            </a:r>
          </a:p>
          <a:p xmlns:a="http://schemas.openxmlformats.org/drawingml/2006/main">
            <a:r>
              <a:t>          "C07"</a:t>
            </a:r>
          </a:p>
          <a:p xmlns:a="http://schemas.openxmlformats.org/drawingml/2006/main">
            <a:r>
              <a:t>        ],</a:t>
            </a:r>
          </a:p>
          <a:p xmlns:a="http://schemas.openxmlformats.org/drawingml/2006/main">
            <a:r>
              <a:t>        "acceptance": "권한 없는 실행·필수값 누락·중복 호출·부분 실패의 보류 및 처리 결과 대사",</a:t>
            </a:r>
          </a:p>
          <a:p xmlns:a="http://schemas.openxmlformats.org/drawingml/2006/main">
            <a:r>
              <a:t>        "basis": "RFP 사업범위 요약 · 항목명은 분석용 구분",</a:t>
            </a:r>
          </a:p>
          <a:p xmlns:a="http://schemas.openxmlformats.org/drawingml/2006/main">
            <a:r>
              <a:t>        "testBasis": "CCK 비교·검수 설계"</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"기관 사용자 접점",</a:t>
            </a:r>
          </a:p>
          <a:p xmlns:a="http://schemas.openxmlformats.org/drawingml/2006/main">
            <a:r>
              <a:t>          "layer": "이용 접점",</a:t>
            </a:r>
          </a:p>
          <a:p xmlns:a="http://schemas.openxmlformats.org/drawingml/2006/main">
            <a:r>
              <a:t>          "detail": "사업부서·문서 담당·플랫폼 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"SSO·부서·문서",</a:t>
            </a:r>
          </a:p>
          <a:p xmlns:a="http://schemas.openxmlformats.org/drawingml/2006/main">
            <a:r>
              <a:t>          "layer": "업무 문맥",</a:t>
            </a:r>
          </a:p>
          <a:p xmlns:a="http://schemas.openxmlformats.org/drawingml/2006/main">
            <a:r>
              <a:t>          "detail": "SSO와 부서·암호문서 접근조건 연결",</a:t>
            </a:r>
          </a:p>
          <a:p xmlns:a="http://schemas.openxmlformats.org/drawingml/2006/main">
            <a:r>
              <a:t>          "requirements": [</a:t>
            </a:r>
          </a:p>
          <a:p xmlns:a="http://schemas.openxmlformats.org/drawingml/2006/main">
            <a:r>
              <a:t>            "Ⅰ.3 / 권한"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"동적 권한 검색",</a:t>
            </a:r>
          </a:p>
          <a:p xmlns:a="http://schemas.openxmlformats.org/drawingml/2006/main">
            <a:r>
              <a:t>          "layer": "자료 조회",</a:t>
            </a:r>
          </a:p>
          <a:p xmlns:a="http://schemas.openxmlformats.org/drawingml/2006/main">
            <a:r>
              <a:t>          "detail": "자료·권한",</a:t>
            </a:r>
          </a:p>
          <a:p xmlns:a="http://schemas.openxmlformats.org/drawingml/2006/main">
            <a:r>
              <a:t>          "requirements": [</a:t>
            </a:r>
          </a:p>
          <a:p xmlns:a="http://schemas.openxmlformats.org/drawingml/2006/main">
            <a:r>
              <a:t>            "Ⅰ.3 / 지식검색",</a:t>
            </a:r>
          </a:p>
          <a:p xmlns:a="http://schemas.openxmlformats.org/drawingml/2006/main">
            <a:r>
              <a:t>            "Ⅰ.3 / 권한"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"RAG·API 에이전트",</a:t>
            </a:r>
          </a:p>
          <a:p xmlns:a="http://schemas.openxmlformats.org/drawingml/2006/main">
            <a:r>
              <a:t>          "layer": "핵심 처리",</a:t>
            </a:r>
          </a:p>
          <a:p xmlns:a="http://schemas.openxmlformats.org/drawingml/2006/main">
            <a:r>
              <a:t>          "detail": "하이브리드 검색의 동적 권한 필터와 API 연계",</a:t>
            </a:r>
          </a:p>
          <a:p xmlns:a="http://schemas.openxmlformats.org/drawingml/2006/main">
            <a:r>
              <a:t>          "requirements": [</a:t>
            </a:r>
          </a:p>
          <a:p xmlns:a="http://schemas.openxmlformats.org/drawingml/2006/main">
            <a:r>
              <a:t>            "Ⅰ.3 / 업무연계"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"원문·도구 결과 대조",</a:t>
            </a:r>
          </a:p>
          <a:p xmlns:a="http://schemas.openxmlformats.org/drawingml/2006/main">
            <a:r>
              <a:t>          "layer": "결과 검증",</a:t>
            </a:r>
          </a:p>
          <a:p xmlns:a="http://schemas.openxmlformats.org/drawingml/2006/main">
            <a:r>
              <a:t>          "detail": "사업·문서별 권한과 최신 판본 검증",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"사업부서 검토",</a:t>
            </a:r>
          </a:p>
          <a:p xmlns:a="http://schemas.openxmlformats.org/drawingml/2006/main">
            <a:r>
              <a:t>          "layer": "사람 확인",</a:t>
            </a:r>
          </a:p>
          <a:p xmlns:a="http://schemas.openxmlformats.org/drawingml/2006/main">
            <a:r>
              <a:t>          "detail": "사업 문서 질의에서 권한 내 근거를 찾고 업무 초안 생성",</a:t>
            </a:r>
          </a:p>
          <a:p xmlns:a="http://schemas.openxmlformats.org/drawingml/2006/main">
            <a:r>
              <a:t>          "requirements": [</a:t>
            </a:r>
          </a:p>
          <a:p xmlns:a="http://schemas.openxmlformats.org/drawingml/2006/main">
            <a:r>
              <a:t>            "Ⅰ.3 / 업무연계"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"해외사업 업무 초안",</a:t>
            </a:r>
          </a:p>
          <a:p xmlns:a="http://schemas.openxmlformats.org/drawingml/2006/main">
            <a:r>
              <a:t>          "layer": "업무 연결",</a:t>
            </a:r>
          </a:p>
          <a:p xmlns:a="http://schemas.openxmlformats.org/drawingml/2006/main">
            <a:r>
              <a:t>          "detail": "원문 근거·업무 초안을 부서별 검토자에게 제공",</a:t>
            </a:r>
          </a:p>
          <a:p xmlns:a="http://schemas.openxmlformats.org/drawingml/2006/main">
            <a:r>
              <a:t>          "requirements": [</a:t>
            </a:r>
          </a:p>
          <a:p xmlns:a="http://schemas.openxmlformats.org/drawingml/2006/main">
            <a:r>
              <a:t>            "Ⅰ.3 / 업무연계"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"지식·품질 갱신",</a:t>
            </a:r>
          </a:p>
          <a:p xmlns:a="http://schemas.openxmlformats.org/drawingml/2006/main">
            <a:r>
              <a:t>          "layer": "운영 관측",</a:t>
            </a:r>
          </a:p>
          <a:p xmlns:a="http://schemas.openxmlformats.org/drawingml/2006/main">
            <a:r>
              <a:t>          "detail": "지식 갱신·응답 정확도·질의 유형의 지속 관측",</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"사내 사업 산출물",</a:t>
            </a:r>
          </a:p>
          <a:p xmlns:a="http://schemas.openxmlformats.org/drawingml/2006/main">
            <a:r>
              <a:t>          "layer": "데이터 원천",</a:t>
            </a:r>
          </a:p>
          <a:p xmlns:a="http://schemas.openxmlformats.org/drawingml/2006/main">
            <a:r>
              <a:t>          "detail": "허용 문서",</a:t>
            </a:r>
          </a:p>
          <a:p xmlns:a="http://schemas.openxmlformats.org/drawingml/2006/main">
            <a:r>
              <a:t>          "requirements": [</a:t>
            </a:r>
          </a:p>
          <a:p xmlns:a="http://schemas.openxmlformats.org/drawingml/2006/main">
            <a:r>
              <a:t>            "Ⅰ.3 / 지식검색"</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"청킹·메타데이터",</a:t>
            </a:r>
          </a:p>
          <a:p xmlns:a="http://schemas.openxmlformats.org/drawingml/2006/main">
            <a:r>
              <a:t>          "layer": "준비·갱신",</a:t>
            </a:r>
          </a:p>
          <a:p xmlns:a="http://schemas.openxmlformats.org/drawingml/2006/main">
            <a:r>
              <a:t>          "detail": "사내 산출물 수집·청킹·메타데이터 부착",</a:t>
            </a:r>
          </a:p>
          <a:p xmlns:a="http://schemas.openxmlformats.org/drawingml/2006/main">
            <a:r>
              <a:t>          "requirements": [</a:t>
            </a:r>
          </a:p>
          <a:p xmlns:a="http://schemas.openxmlformats.org/drawingml/2006/main">
            <a:r>
              <a:t>            "Ⅰ.3 / 지식검색"</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"하이브리드 색인",</a:t>
            </a:r>
          </a:p>
          <a:p xmlns:a="http://schemas.openxmlformats.org/drawingml/2006/main">
            <a:r>
              <a:t>          "layer": "상태·지식 저장",</a:t>
            </a:r>
          </a:p>
          <a:p xmlns:a="http://schemas.openxmlformats.org/drawingml/2006/main">
            <a:r>
              <a:t>          "detail": "문서·청크별 접근시험과 근거·갱신 이력",</a:t>
            </a:r>
          </a:p>
          <a:p xmlns:a="http://schemas.openxmlformats.org/drawingml/2006/main">
            <a:r>
              <a:t>          "requirements": [</a:t>
            </a:r>
          </a:p>
          <a:p xmlns:a="http://schemas.openxmlformats.org/drawingml/2006/main">
            <a:r>
              <a:t>            "Ⅰ.3 / 지식검색"</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"암호문서·접근정책",</a:t>
            </a:r>
          </a:p>
          <a:p xmlns:a="http://schemas.openxmlformats.org/drawingml/2006/main">
            <a:r>
              <a:t>          "layer": "권한·정책",</a:t>
            </a:r>
          </a:p>
          <a:p xmlns:a="http://schemas.openxmlformats.org/drawingml/2006/main">
            <a:r>
              <a:t>          "detail": "암호문서·다른 부서 자료·메타데이터 누락",</a:t>
            </a:r>
          </a:p>
          <a:p xmlns:a="http://schemas.openxmlformats.org/drawingml/2006/main">
            <a:r>
              <a:t>          "requirements": [</a:t>
            </a:r>
          </a:p>
          <a:p xmlns:a="http://schemas.openxmlformats.org/drawingml/2006/main">
            <a:r>
              <a:t>            "Ⅰ.3 / 권한"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"SSO와 부서·암호문서 접근조건 연결",</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"자료·권한",</a:t>
            </a:r>
          </a:p>
          <a:p xmlns:a="http://schemas.openxmlformats.org/drawingml/2006/main">
            <a:r>
              <a:t>          "check": "사업·문서별 권한과 최신 판본 검증"</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"검색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"업무 초안",</a:t>
            </a:r>
          </a:p>
          <a:p xmlns:a="http://schemas.openxmlformats.org/drawingml/2006/main">
            <a:r>
              <a:t>          "check": "암호문서·다른 부서 자료·메타데이터 누락"</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"업무 초안",</a:t>
            </a:r>
          </a:p>
          <a:p xmlns:a="http://schemas.openxmlformats.org/drawingml/2006/main">
            <a:r>
              <a:t>          "check": "원문 근거·업무 초안을 부서별 검토자에게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 결과",</a:t>
            </a:r>
          </a:p>
          <a:p xmlns:a="http://schemas.openxmlformats.org/drawingml/2006/main">
            <a:r>
              <a:t>          "check": "문서·청크별 접근시험과 근거·갱신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"RFP Ⅰ.3 사업범위",</a:t>
            </a:r>
          </a:p>
          <a:p xmlns:a="http://schemas.openxmlformats.org/drawingml/2006/main">
            <a:r>
              <a:t>        "extracted": "메타데이터 자동 부착·동적 권한 필터·API 업무 에이전트",</a:t>
            </a:r>
          </a:p>
          <a:p xmlns:a="http://schemas.openxmlformats.org/drawingml/2006/main">
            <a:r>
              <a:t>        "extension": "해외사업별 문서 격리와 승인 후 도구 실행"</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"암호문서·다른 부서 자료·메타데이터 누락",</a:t>
            </a:r>
          </a:p>
          <a:p xmlns:a="http://schemas.openxmlformats.org/drawingml/2006/main">
            <a:r>
              <a:t>        "hold": "사업·문서별 권한과 최신 판본 검증",</a:t>
            </a:r>
          </a:p>
          <a:p xmlns:a="http://schemas.openxmlformats.org/drawingml/2006/main">
            <a:r>
              <a:t>        "recovery": "지식 갱신·응답 정확도·질의 유형의 지속 관측",</a:t>
            </a:r>
          </a:p>
          <a:p xmlns:a="http://schemas.openxmlformats.org/drawingml/2006/main">
            <a:r>
              <a:t>        "evidence": "문서·청크별 접근시험과 근거·갱신 이력"</a:t>
            </a:r>
          </a:p>
          <a:p xmlns:a="http://schemas.openxmlformats.org/drawingml/2006/main">
            <a:r>
              <a:t>      },</a:t>
            </a:r>
          </a:p>
          <a:p xmlns:a="http://schemas.openxmlformats.org/drawingml/2006/main">
            <a:r>
              <a:t>      "data": {</a:t>
            </a:r>
          </a:p>
          <a:p xmlns:a="http://schemas.openxmlformats.org/drawingml/2006/main">
            <a:r>
              <a:t>        "source": "허용 문서",</a:t>
            </a:r>
          </a:p>
          <a:p xmlns:a="http://schemas.openxmlformats.org/drawingml/2006/main">
            <a:r>
              <a:t>        "prepare": "사내 산출물 수집·청킹·메타데이터 부착",</a:t>
            </a:r>
          </a:p>
          <a:p xmlns:a="http://schemas.openxmlformats.org/drawingml/2006/main">
            <a:r>
              <a:t>        "output": "자료·권한",</a:t>
            </a:r>
          </a:p>
          <a:p xmlns:a="http://schemas.openxmlformats.org/drawingml/2006/main">
            <a:r>
              <a:t>        "refresh": "지식 갱신·응답 정확도·질의 유형의 지속 관측"</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"PF-A03",</a:t>
            </a:r>
          </a:p>
          <a:p xmlns:a="http://schemas.openxmlformats.org/drawingml/2006/main">
            <a:r>
              <a:t>    "success": [</a:t>
            </a:r>
          </a:p>
          <a:p xmlns:a="http://schemas.openxmlformats.org/drawingml/2006/main">
            <a:r>
              <a:t>      "권한별 자료와 공통 검색 구성",</a:t>
            </a:r>
          </a:p>
          <a:p xmlns:a="http://schemas.openxmlformats.org/drawingml/2006/main">
            <a:r>
              <a:t>      "업무 에이전트의 현업 검토"</a:t>
            </a:r>
          </a:p>
          <a:p xmlns:a="http://schemas.openxmlformats.org/drawingml/2006/main">
            <a:r>
              <a:t>    ],</a:t>
            </a:r>
          </a:p>
          <a:p xmlns:a="http://schemas.openxmlformats.org/drawingml/2006/main">
            <a:r>
              <a:t>    "risks": [</a:t>
            </a:r>
          </a:p>
          <a:p xmlns:a="http://schemas.openxmlformats.org/drawingml/2006/main">
            <a:r>
              <a:t>      "해외사업 문서별 접근 차이",</a:t>
            </a:r>
          </a:p>
          <a:p xmlns:a="http://schemas.openxmlformats.org/drawingml/2006/main">
            <a:r>
              <a:t>      "RFP와 운영 완료의 혼동"</a:t>
            </a:r>
          </a:p>
          <a:p xmlns:a="http://schemas.openxmlformats.org/drawingml/2006/main">
            <a:r>
              <a:t>    ],</a:t>
            </a:r>
          </a:p>
          <a:p xmlns:a="http://schemas.openxmlformats.org/drawingml/2006/main">
            <a:r>
              <a:t>    "architecture": [</a:t>
            </a:r>
          </a:p>
          <a:p xmlns:a="http://schemas.openxmlformats.org/drawingml/2006/main">
            <a:r>
              <a:t>      "기관 사용자",</a:t>
            </a:r>
          </a:p>
          <a:p xmlns:a="http://schemas.openxmlformats.org/drawingml/2006/main">
            <a:r>
              <a:t>      "RAG·업무 에이전트",</a:t>
            </a:r>
          </a:p>
          <a:p xmlns:a="http://schemas.openxmlformats.org/drawingml/2006/main">
            <a:r>
              <a:t>      "허용 문서",</a:t>
            </a:r>
          </a:p>
          <a:p xmlns:a="http://schemas.openxmlformats.org/drawingml/2006/main">
            <a:r>
              <a:t>      "현업 검토자"</a:t>
            </a:r>
          </a:p>
          <a:p xmlns:a="http://schemas.openxmlformats.org/drawingml/2006/main">
            <a:r>
              <a:t>    ],</a:t>
            </a:r>
          </a:p>
          <a:p xmlns:a="http://schemas.openxmlformats.org/drawingml/2006/main">
            <a:r>
              <a:t>    "transfers": [</a:t>
            </a:r>
          </a:p>
          <a:p xmlns:a="http://schemas.openxmlformats.org/drawingml/2006/main">
            <a:r>
              <a:t>      "자료·권한",</a:t>
            </a:r>
          </a:p>
          <a:p xmlns:a="http://schemas.openxmlformats.org/drawingml/2006/main">
            <a:r>
              <a:t>      "검색 근거",</a:t>
            </a:r>
          </a:p>
          <a:p xmlns:a="http://schemas.openxmlformats.org/drawingml/2006/main">
            <a:r>
              <a:t>      "업무 초안",</a:t>
            </a:r>
          </a:p>
          <a:p xmlns:a="http://schemas.openxmlformats.org/drawingml/2006/main">
            <a:r>
              <a:t>      "검토 결과"</a:t>
            </a:r>
          </a:p>
          <a:p xmlns:a="http://schemas.openxmlformats.org/drawingml/2006/main">
            <a:r>
              <a:t>    ],</a:t>
            </a:r>
          </a:p>
          <a:p xmlns:a="http://schemas.openxmlformats.org/drawingml/2006/main">
            <a:r>
              <a:t>    "control": "사업·문서별 권한과 최신 판본 검증",</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
            </a:r>
          </a:p>
          <a:p xmlns:a="http://schemas.openxmlformats.org/drawingml/2006/main">
            <a:r>
              <a:t>홈페이지 https://heen1987-ops.github.io/TS-business-Plan-001/index.html?view=platform-cases&amp;case=PF-A03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"PF-A03",</a:t>
            </a:r>
          </a:p>
          <a:p xmlns:a="http://schemas.openxmlformats.org/drawingml/2006/main">
            <a:r>
              <a:t>    "sourceId": "A03",</a:t>
            </a:r>
          </a:p>
          <a:p xmlns:a="http://schemas.openxmlformats.org/drawingml/2006/main">
            <a:r>
              <a:t>    "title": "KIND 생성형 AI",</a:t>
            </a:r>
          </a:p>
          <a:p xmlns:a="http://schemas.openxmlformats.org/drawingml/2006/main">
            <a:r>
              <a:t>    "region": "국내",</a:t>
            </a:r>
          </a:p>
          <a:p xmlns:a="http://schemas.openxmlformats.org/drawingml/2006/main">
            <a:r>
              <a:t>    "owner": "KIND / 대내 생성형 AI 서비스 구축",</a:t>
            </a:r>
          </a:p>
          <a:p xmlns:a="http://schemas.openxmlformats.org/drawingml/2006/main">
            <a:r>
              <a:t>    "state": "공식 RFP 확보 / 운영 성과 미확인",</a:t>
            </a:r>
          </a:p>
          <a:p xmlns:a="http://schemas.openxmlformats.org/drawingml/2006/main">
            <a:r>
              <a:t>    "period": "기존 원장 확인 2026.10.16",</a:t>
            </a:r>
          </a:p>
          <a:p xmlns:a="http://schemas.openxmlformats.org/drawingml/2006/main">
            <a:r>
              <a:t>    "fact": "사내 산출물의 RAG 검색·권한 필터와 내부 시스템 API 기반 업무 에이전트 구축 요구",</a:t>
            </a:r>
          </a:p>
          <a:p xmlns:a="http://schemas.openxmlformats.org/drawingml/2006/main">
            <a:r>
              <a:t>    "limit": "로컬 PUBLIC 원본 재사용 사례. 최신 계약·검수·운영 상황은 별도 확인 필요",</a:t>
            </a:r>
          </a:p>
          <a:p xmlns:a="http://schemas.openxmlformats.org/drawingml/2006/main">
            <a:r>
              <a:t>    "nodes": [</a:t>
            </a:r>
          </a:p>
          <a:p xmlns:a="http://schemas.openxmlformats.org/drawingml/2006/main">
            <a:r>
              <a:t>      "권한별 자료",</a:t>
            </a:r>
          </a:p>
          <a:p xmlns:a="http://schemas.openxmlformats.org/drawingml/2006/main">
            <a:r>
              <a:t>      "RAG·지식 갱신",</a:t>
            </a:r>
          </a:p>
          <a:p xmlns:a="http://schemas.openxmlformats.org/drawingml/2006/main">
            <a:r>
              <a:t>      "업무 에이전트",</a:t>
            </a:r>
          </a:p>
          <a:p xmlns:a="http://schemas.openxmlformats.org/drawingml/2006/main">
            <a:r>
              <a:t>      "현업 검토"</a:t>
            </a:r>
          </a:p>
          <a:p xmlns:a="http://schemas.openxmlformats.org/drawingml/2006/main">
            <a:r>
              <a:t>    ],</a:t>
            </a:r>
          </a:p>
          <a:p xmlns:a="http://schemas.openxmlformats.org/drawingml/2006/main">
            <a:r>
              <a:t>    "apply": "문서·청크의 업무 메타데이터와 검색 전 권한 필터를 함께 구성",</a:t>
            </a:r>
          </a:p>
          <a:p xmlns:a="http://schemas.openxmlformats.org/drawingml/2006/main">
            <a:r>
              <a:t>    "delta": "사업·문서·청크 메타데이터 / 동적 권한 필터 / 부서별 API 어댑터",</a:t>
            </a:r>
          </a:p>
          <a:p xmlns:a="http://schemas.openxmlformats.org/drawingml/2006/main">
            <a:r>
              <a:t>    "test": "암호문서·권한 회수·메타데이터 누락 상태에서 검색 결과와 원천 대사",</a:t>
            </a:r>
          </a:p>
          <a:p xmlns:a="http://schemas.openxmlformats.org/drawingml/2006/main">
            <a:r>
              <a:t>    "url": null,</a:t>
            </a:r>
          </a:p>
          <a:p xmlns:a="http://schemas.openxmlformats.org/drawingml/2006/main">
            <a:r>
              <a:t>    "urls": [],</a:t>
            </a:r>
          </a:p>
          <a:p xmlns:a="http://schemas.openxmlformats.org/drawingml/2006/main">
            <a:r>
              <a:t>    "basis": "P121~123 / 공통영역 요구 비교",</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"권한 오노출 / 근거 일치율 / 지식 갱신 지연",</a:t>
            </a:r>
          </a:p>
          <a:p xmlns:a="http://schemas.openxmlformats.org/drawingml/2006/main">
            <a:r>
              <a:t>    "group": "요구·구축",</a:t>
            </a:r>
          </a:p>
          <a:p xmlns:a="http://schemas.openxmlformats.org/drawingml/2006/main">
            <a:r>
              <a:t>    "sourceDetail": "RAG·권한 메타데이터·부서별 업무 지원·에이전트/API 연계·지식 갱신을 요구\n데이터 권한·운영 피드백을 공통체계로 정의",</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"PF-A03",</a:t>
            </a:r>
          </a:p>
          <a:p xmlns:a="http://schemas.openxmlformats.org/drawingml/2006/main">
            <a:r>
              <a:t>    "canonicalId": "PF-A03",</a:t>
            </a:r>
          </a:p>
          <a:p xmlns:a="http://schemas.openxmlformats.org/drawingml/2006/main">
            <a:r>
              <a:t>    "purpose": "해외 인프라 사업 지식의 공통 활용",</a:t>
            </a:r>
          </a:p>
          <a:p xmlns:a="http://schemas.openxmlformats.org/drawingml/2006/main">
            <a:r>
              <a:t>    "users": "사업부서·문서 담당·플랫폼 운영자",</a:t>
            </a:r>
          </a:p>
          <a:p xmlns:a="http://schemas.openxmlformats.org/drawingml/2006/main">
            <a:r>
              <a:t>    "scope": [</a:t>
            </a:r>
          </a:p>
          <a:p xmlns:a="http://schemas.openxmlformats.org/drawingml/2006/main">
            <a:r>
              <a:t>      "기관 RAG",</a:t>
            </a:r>
          </a:p>
          <a:p xmlns:a="http://schemas.openxmlformats.org/drawingml/2006/main">
            <a:r>
              <a:t>      "업무 에이전트",</a:t>
            </a:r>
          </a:p>
          <a:p xmlns:a="http://schemas.openxmlformats.org/drawingml/2006/main">
            <a:r>
              <a:t>      "데이터 거버넌스"</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"기관 사용자",</a:t>
            </a:r>
          </a:p>
          <a:p xmlns:a="http://schemas.openxmlformats.org/drawingml/2006/main">
            <a:r>
              <a:t>        "detail": "SSO와 부서·암호문서 접근조건 연결",</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"기관 RAG / 업무 에이전트 / 데이터 거버넌스",</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"RAG·업무 에이전트",</a:t>
            </a:r>
          </a:p>
          <a:p xmlns:a="http://schemas.openxmlformats.org/drawingml/2006/main">
            <a:r>
              <a:t>        "detail": "하이브리드 검색의 동적 권한 필터와 API 연계",</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"현업 검토자",</a:t>
            </a:r>
          </a:p>
          <a:p xmlns:a="http://schemas.openxmlformats.org/drawingml/2006/main">
            <a:r>
              <a:t>        "detail": "원문 근거·업무 초안을 부서별 검토자에게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"허용 문서",</a:t>
            </a:r>
          </a:p>
          <a:p xmlns:a="http://schemas.openxmlformats.org/drawingml/2006/main">
            <a:r>
              <a:t>        "detail": "사내 산출물 수집·청킹·메타데이터 부착",</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"지식 갱신·응답 정확도·질의 유형의 지속 관측",</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"권한별 자료",</a:t>
            </a:r>
          </a:p>
          <a:p xmlns:a="http://schemas.openxmlformats.org/drawingml/2006/main">
            <a:r>
              <a:t>        "input": "SSO와 부서·암호문서 접근조건 연결",</a:t>
            </a:r>
          </a:p>
          <a:p xmlns:a="http://schemas.openxmlformats.org/drawingml/2006/main">
            <a:r>
              <a:t>        "process": "사내 산출물 수집·청킹·메타데이터 부착",</a:t>
            </a:r>
          </a:p>
          <a:p xmlns:a="http://schemas.openxmlformats.org/drawingml/2006/main">
            <a:r>
              <a:t>        "output": "자료·권한"</a:t>
            </a:r>
          </a:p>
          <a:p xmlns:a="http://schemas.openxmlformats.org/drawingml/2006/main">
            <a:r>
              <a:t>      },</a:t>
            </a:r>
          </a:p>
          <a:p xmlns:a="http://schemas.openxmlformats.org/drawingml/2006/main">
            <a:r>
              <a:t>      {</a:t>
            </a:r>
          </a:p>
          <a:p xmlns:a="http://schemas.openxmlformats.org/drawingml/2006/main">
            <a:r>
              <a:t>        "title": "RAG·지식 갱신",</a:t>
            </a:r>
          </a:p>
          <a:p xmlns:a="http://schemas.openxmlformats.org/drawingml/2006/main">
            <a:r>
              <a:t>        "input": "자료·권한",</a:t>
            </a:r>
          </a:p>
          <a:p xmlns:a="http://schemas.openxmlformats.org/drawingml/2006/main">
            <a:r>
              <a:t>        "process": "하이브리드 검색의 동적 권한 필터와 API 연계",</a:t>
            </a:r>
          </a:p>
          <a:p xmlns:a="http://schemas.openxmlformats.org/drawingml/2006/main">
            <a:r>
              <a:t>        "output": "검색 근거"</a:t>
            </a:r>
          </a:p>
          <a:p xmlns:a="http://schemas.openxmlformats.org/drawingml/2006/main">
            <a:r>
              <a:t>      },</a:t>
            </a:r>
          </a:p>
          <a:p xmlns:a="http://schemas.openxmlformats.org/drawingml/2006/main">
            <a:r>
              <a:t>      {</a:t>
            </a:r>
          </a:p>
          <a:p xmlns:a="http://schemas.openxmlformats.org/drawingml/2006/main">
            <a:r>
              <a:t>        "title": "업무 에이전트",</a:t>
            </a:r>
          </a:p>
          <a:p xmlns:a="http://schemas.openxmlformats.org/drawingml/2006/main">
            <a:r>
              <a:t>        "input": "검색 근거",</a:t>
            </a:r>
          </a:p>
          <a:p xmlns:a="http://schemas.openxmlformats.org/drawingml/2006/main">
            <a:r>
              <a:t>        "process": "사업·문서별 권한과 최신 판본 검증",</a:t>
            </a:r>
          </a:p>
          <a:p xmlns:a="http://schemas.openxmlformats.org/drawingml/2006/main">
            <a:r>
              <a:t>        "output": "업무 초안"</a:t>
            </a:r>
          </a:p>
          <a:p xmlns:a="http://schemas.openxmlformats.org/drawingml/2006/main">
            <a:r>
              <a:t>      },</a:t>
            </a:r>
          </a:p>
          <a:p xmlns:a="http://schemas.openxmlformats.org/drawingml/2006/main">
            <a:r>
              <a:t>      {</a:t>
            </a:r>
          </a:p>
          <a:p xmlns:a="http://schemas.openxmlformats.org/drawingml/2006/main">
            <a:r>
              <a:t>        "title": "현업 검토",</a:t>
            </a:r>
          </a:p>
          <a:p xmlns:a="http://schemas.openxmlformats.org/drawingml/2006/main">
            <a:r>
              <a:t>        "input": "업무 초안",</a:t>
            </a:r>
          </a:p>
          <a:p xmlns:a="http://schemas.openxmlformats.org/drawingml/2006/main">
            <a:r>
              <a:t>        "process": "원문 근거·업무 초안을 부서별 검토자에게 제공",</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"사업 문서 질의에서 권한 내 근거를 찾고 업무 초안 생성",</a:t>
            </a:r>
          </a:p>
          <a:p xmlns:a="http://schemas.openxmlformats.org/drawingml/2006/main">
            <a:r>
              <a:t>      "exception": "암호문서·다른 부서 자료·메타데이터 누락",</a:t>
            </a:r>
          </a:p>
          <a:p xmlns:a="http://schemas.openxmlformats.org/drawingml/2006/main">
            <a:r>
              <a:t>      "evidence": "문서·청크별 접근시험과 근거·갱신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"사업부서·문서 담당·플랫폼 운영자",</a:t>
            </a:r>
          </a:p>
          <a:p xmlns:a="http://schemas.openxmlformats.org/drawingml/2006/main">
            <a:r>
              <a:t>          "processing": "SSO와 부서·암호문서 접근조건 연결",</a:t>
            </a:r>
          </a:p>
          <a:p xmlns:a="http://schemas.openxmlformats.org/drawingml/2006/main">
            <a:r>
              <a:t>          "output": "자료·권한"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"허용 문서",</a:t>
            </a:r>
          </a:p>
          <a:p xmlns:a="http://schemas.openxmlformats.org/drawingml/2006/main">
            <a:r>
              <a:t>          "processing": "사내 산출물 수집·청킹·메타데이터 부착",</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"자료·권한",</a:t>
            </a:r>
          </a:p>
          <a:p xmlns:a="http://schemas.openxmlformats.org/drawingml/2006/main">
            <a:r>
              <a:t>          "processing": "하이브리드 검색의 동적 권한 필터와 API 연계",</a:t>
            </a:r>
          </a:p>
          <a:p xmlns:a="http://schemas.openxmlformats.org/drawingml/2006/main">
            <a:r>
              <a:t>          "output": "업무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"업무 초안",</a:t>
            </a:r>
          </a:p>
          <a:p xmlns:a="http://schemas.openxmlformats.org/drawingml/2006/main">
            <a:r>
              <a:t>          "processing": "원문 근거·업무 초안을 부서별 검토자에게 제공",</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"지식 갱신·응답 정확도·질의 유형의 지속 관측",</a:t>
            </a:r>
          </a:p>
          <a:p xmlns:a="http://schemas.openxmlformats.org/drawingml/2006/main">
            <a:r>
              <a:t>          "output": "문서·청크별 접근시험과 근거·갱신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"지식 갱신·응답 정확도·질의 유형의 지속 관측",</a:t>
            </a:r>
          </a:p>
          <a:p xmlns:a="http://schemas.openxmlformats.org/drawingml/2006/main">
            <a:r>
              <a:t>    "status": "RFP 기반 논리 설계",</a:t>
            </a:r>
          </a:p>
          <a:p xmlns:a="http://schemas.openxmlformats.org/drawingml/2006/main">
            <a:r>
              <a:t>    "basis": "대내 생성형 AI 서비스 구축 RFP · Ⅰ.3 사업범위·메타데이터 및 동적 권한 필터",</a:t>
            </a:r>
          </a:p>
          <a:p xmlns:a="http://schemas.openxmlformats.org/drawingml/2006/main">
            <a:r>
              <a:t>    "rfp": true,</a:t>
            </a:r>
          </a:p>
          <a:p xmlns:a="http://schemas.openxmlformats.org/drawingml/2006/main">
            <a:r>
              <a:t>    "sources": [],</a:t>
            </a:r>
          </a:p>
          <a:p xmlns:a="http://schemas.openxmlformats.org/drawingml/2006/main">
            <a:r>
              <a:t>    "implication": "문서·청크의 업무 메타데이터와 검색 전 권한 필터를 함께 구성",</a:t>
            </a:r>
          </a:p>
          <a:p xmlns:a="http://schemas.openxmlformats.org/drawingml/2006/main">
            <a:r>
              <a:t>    "local": "문서·청크의 업무 메타데이터와 검색 전 권한 필터를 함께 구성",</a:t>
            </a:r>
          </a:p>
          <a:p xmlns:a="http://schemas.openxmlformats.org/drawingml/2006/main">
            <a:r>
              <a:t>    "sourceDetail": "RAG·권한 메타데이터·부서별 업무 지원·에이전트/API 연계·지식 갱신을 요구\n데이터 권한·운영 피드백을 공통체계로 정의",</a:t>
            </a:r>
          </a:p>
          <a:p xmlns:a="http://schemas.openxmlformats.org/drawingml/2006/main">
            <a:r>
              <a:t>    "narrative": [</a:t>
            </a:r>
          </a:p>
          <a:p xmlns:a="http://schemas.openxmlformats.org/drawingml/2006/main">
            <a:r>
              <a:t>      "해외 인프라 사업 산출물의 검색과 업무별 에이전트 활용을 기관 공통 서비스로 구성하는 요구. 사업·부서마다 보유 문서와 접근조건이 달라 문서 수집 단계부터 소유·권한·업무 문맥을 연결해야 하는 유형.",</a:t>
            </a:r>
          </a:p>
          <a:p xmlns:a="http://schemas.openxmlformats.org/drawingml/2006/main">
            <a:r>
              <a:t>      "RFP 사업범위의 핵심은 문서 메타데이터 자동 부착, 청킹, 하이브리드 검색의 동적 권한 필터, API 기반 업무 에이전트. 검색 결과를 나중에 가리는 방식보다 검색 후보를 구성할 때 허용 자료만 전달하는 설계가 주요 비교 지점.",</a:t>
            </a:r>
          </a:p>
          <a:p xmlns:a="http://schemas.openxmlformats.org/drawingml/2006/main">
            <a:r>
              <a:t>      "CCK에서는 기관 공통 RAG를 재사용하면서 공식 조직·사업 ID와 문서 권한을 추가 연결하는 범위로 구체화. 전보·겸직·사업 종료·문서 회수에 따른 색인과 캐시의 갱신, API 도구별 실행권한을 별도 검수할 필요."</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"Ⅰ.3 / 지식검색",</a:t>
            </a:r>
          </a:p>
          <a:p xmlns:a="http://schemas.openxmlformats.org/drawingml/2006/main">
            <a:r>
              <a:t>        "title": "사내 산출물 기반 RAG",</a:t>
            </a:r>
          </a:p>
          <a:p xmlns:a="http://schemas.openxmlformats.org/drawingml/2006/main">
            <a:r>
              <a:t>        "locator": "Ⅰ.3 사업범위",</a:t>
            </a:r>
          </a:p>
          <a:p xmlns:a="http://schemas.openxmlformats.org/drawingml/2006/main">
            <a:r>
              <a:t>        "summary": "내부 산출물의 수집·정제·메타데이터와 검색 증강 기반 질의응답 구성.",</a:t>
            </a:r>
          </a:p>
          <a:p xmlns:a="http://schemas.openxmlformats.org/drawingml/2006/main">
            <a:r>
              <a:t>        "data": "내부 문서·질의 → 근거가 연결된 답변",</a:t>
            </a:r>
          </a:p>
          <a:p xmlns:a="http://schemas.openxmlformats.org/drawingml/2006/main">
            <a:r>
              <a:t>        "components": [</a:t>
            </a:r>
          </a:p>
          <a:p xmlns:a="http://schemas.openxmlformats.org/drawingml/2006/main">
            <a:r>
              <a:t>          "C03",</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"문서 개정·삭제·다른 업무 자료 혼재 시 원문·판본·인용 위치 대사",</a:t>
            </a:r>
          </a:p>
          <a:p xmlns:a="http://schemas.openxmlformats.org/drawingml/2006/main">
            <a:r>
              <a:t>        "basis": "RFP 사업범위 요약 · 항목명은 분석용 구분",</a:t>
            </a:r>
          </a:p>
          <a:p xmlns:a="http://schemas.openxmlformats.org/drawingml/2006/main">
            <a:r>
              <a:t>        "testBasis": "CCK 비교·검수 설계"</a:t>
            </a:r>
          </a:p>
          <a:p xmlns:a="http://schemas.openxmlformats.org/drawingml/2006/main">
            <a:r>
              <a:t>      },</a:t>
            </a:r>
          </a:p>
          <a:p xmlns:a="http://schemas.openxmlformats.org/drawingml/2006/main">
            <a:r>
              <a:t>      {</a:t>
            </a:r>
          </a:p>
          <a:p xmlns:a="http://schemas.openxmlformats.org/drawingml/2006/main">
            <a:r>
              <a:t>        "id": "Ⅰ.3 / 권한",</a:t>
            </a:r>
          </a:p>
          <a:p xmlns:a="http://schemas.openxmlformats.org/drawingml/2006/main">
            <a:r>
              <a:t>        "title": "메타데이터·동적 권한 필터",</a:t>
            </a:r>
          </a:p>
          <a:p xmlns:a="http://schemas.openxmlformats.org/drawingml/2006/main">
            <a:r>
              <a:t>        "locator": "Ⅰ.3 사업범위",</a:t>
            </a:r>
          </a:p>
          <a:p xmlns:a="http://schemas.openxmlformats.org/drawingml/2006/main">
            <a:r>
              <a:t>        "summary": "문서 메타데이터와 사용자 권한을 이용해 검색·응답 대상을 제한하는 요구.",</a:t>
            </a:r>
          </a:p>
          <a:p xmlns:a="http://schemas.openxmlformats.org/drawingml/2006/main">
            <a:r>
              <a:t>        "data": "사용자·권한·문서 속성 → 허용 자료 범위",</a:t>
            </a:r>
          </a:p>
          <a:p xmlns:a="http://schemas.openxmlformats.org/drawingml/2006/main">
            <a:r>
              <a:t>        "components": [</a:t>
            </a:r>
          </a:p>
          <a:p xmlns:a="http://schemas.openxmlformats.org/drawingml/2006/main">
            <a:r>
              <a:t>          "C02",</a:t>
            </a:r>
          </a:p>
          <a:p xmlns:a="http://schemas.openxmlformats.org/drawingml/2006/main">
            <a:r>
              <a:t>          "C03",</a:t>
            </a:r>
          </a:p>
          <a:p xmlns:a="http://schemas.openxmlformats.org/drawingml/2006/main">
            <a:r>
              <a:t>          "C12"</a:t>
            </a:r>
          </a:p>
          <a:p xmlns:a="http://schemas.openxmlformats.org/drawingml/2006/main">
            <a:r>
              <a:t>        ],</a:t>
            </a:r>
          </a:p>
          <a:p xmlns:a="http://schemas.openxmlformats.org/drawingml/2006/main">
            <a:r>
              <a:t>        "acceptance": "전보·공유 해제·권한 회수 직후 검색 후보와 답변 인용에서 비허용 자료 제외 확인",</a:t>
            </a:r>
          </a:p>
          <a:p xmlns:a="http://schemas.openxmlformats.org/drawingml/2006/main">
            <a:r>
              <a:t>        "basis": "RFP 사업범위 요약 · 항목명은 분석용 구분",</a:t>
            </a:r>
          </a:p>
          <a:p xmlns:a="http://schemas.openxmlformats.org/drawingml/2006/main">
            <a:r>
              <a:t>        "testBasis": "CCK 비교·검수 설계"</a:t>
            </a:r>
          </a:p>
          <a:p xmlns:a="http://schemas.openxmlformats.org/drawingml/2006/main">
            <a:r>
              <a:t>      },</a:t>
            </a:r>
          </a:p>
          <a:p xmlns:a="http://schemas.openxmlformats.org/drawingml/2006/main">
            <a:r>
              <a:t>      {</a:t>
            </a:r>
          </a:p>
          <a:p xmlns:a="http://schemas.openxmlformats.org/drawingml/2006/main">
            <a:r>
              <a:t>        "id": "Ⅰ.3 / 업무연계",</a:t>
            </a:r>
          </a:p>
          <a:p xmlns:a="http://schemas.openxmlformats.org/drawingml/2006/main">
            <a:r>
              <a:t>        "title": "내부 API 기반 업무 에이전트",</a:t>
            </a:r>
          </a:p>
          <a:p xmlns:a="http://schemas.openxmlformats.org/drawingml/2006/main">
            <a:r>
              <a:t>        "locator": "Ⅰ.3 사업범위",</a:t>
            </a:r>
          </a:p>
          <a:p xmlns:a="http://schemas.openxmlformats.org/drawingml/2006/main">
            <a:r>
              <a:t>        "summary": "내부 업무시스템의 API를 활용해 요청을 처리하는 업무 에이전트 구성.",</a:t>
            </a:r>
          </a:p>
          <a:p xmlns:a="http://schemas.openxmlformats.org/drawingml/2006/main">
            <a:r>
              <a:t>        "data": "업무 요청·연계 인자 → 시스템 결과·처리 상태",</a:t>
            </a:r>
          </a:p>
          <a:p xmlns:a="http://schemas.openxmlformats.org/drawingml/2006/main">
            <a:r>
              <a:t>        "components": [</a:t>
            </a:r>
          </a:p>
          <a:p xmlns:a="http://schemas.openxmlformats.org/drawingml/2006/main">
            <a:r>
              <a:t>          "C04",</a:t>
            </a:r>
          </a:p>
          <a:p xmlns:a="http://schemas.openxmlformats.org/drawingml/2006/main">
            <a:r>
              <a:t>          "C06",</a:t>
            </a:r>
          </a:p>
          <a:p xmlns:a="http://schemas.openxmlformats.org/drawingml/2006/main">
            <a:r>
              <a:t>          "C07"</a:t>
            </a:r>
          </a:p>
          <a:p xmlns:a="http://schemas.openxmlformats.org/drawingml/2006/main">
            <a:r>
              <a:t>        ],</a:t>
            </a:r>
          </a:p>
          <a:p xmlns:a="http://schemas.openxmlformats.org/drawingml/2006/main">
            <a:r>
              <a:t>        "acceptance": "권한 없는 실행·필수값 누락·중복 호출·부분 실패의 보류 및 처리 결과 대사",</a:t>
            </a:r>
          </a:p>
          <a:p xmlns:a="http://schemas.openxmlformats.org/drawingml/2006/main">
            <a:r>
              <a:t>        "basis": "RFP 사업범위 요약 · 항목명은 분석용 구분",</a:t>
            </a:r>
          </a:p>
          <a:p xmlns:a="http://schemas.openxmlformats.org/drawingml/2006/main">
            <a:r>
              <a:t>        "testBasis": "CCK 비교·검수 설계"</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"기관 사용자 접점",</a:t>
            </a:r>
          </a:p>
          <a:p xmlns:a="http://schemas.openxmlformats.org/drawingml/2006/main">
            <a:r>
              <a:t>          "layer": "이용 접점",</a:t>
            </a:r>
          </a:p>
          <a:p xmlns:a="http://schemas.openxmlformats.org/drawingml/2006/main">
            <a:r>
              <a:t>          "detail": "사업부서·문서 담당·플랫폼 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"SSO·부서·문서",</a:t>
            </a:r>
          </a:p>
          <a:p xmlns:a="http://schemas.openxmlformats.org/drawingml/2006/main">
            <a:r>
              <a:t>          "layer": "업무 문맥",</a:t>
            </a:r>
          </a:p>
          <a:p xmlns:a="http://schemas.openxmlformats.org/drawingml/2006/main">
            <a:r>
              <a:t>          "detail": "SSO와 부서·암호문서 접근조건 연결",</a:t>
            </a:r>
          </a:p>
          <a:p xmlns:a="http://schemas.openxmlformats.org/drawingml/2006/main">
            <a:r>
              <a:t>          "requirements": [</a:t>
            </a:r>
          </a:p>
          <a:p xmlns:a="http://schemas.openxmlformats.org/drawingml/2006/main">
            <a:r>
              <a:t>            "Ⅰ.3 / 권한"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"동적 권한 검색",</a:t>
            </a:r>
          </a:p>
          <a:p xmlns:a="http://schemas.openxmlformats.org/drawingml/2006/main">
            <a:r>
              <a:t>          "layer": "자료 조회",</a:t>
            </a:r>
          </a:p>
          <a:p xmlns:a="http://schemas.openxmlformats.org/drawingml/2006/main">
            <a:r>
              <a:t>          "detail": "자료·권한",</a:t>
            </a:r>
          </a:p>
          <a:p xmlns:a="http://schemas.openxmlformats.org/drawingml/2006/main">
            <a:r>
              <a:t>          "requirements": [</a:t>
            </a:r>
          </a:p>
          <a:p xmlns:a="http://schemas.openxmlformats.org/drawingml/2006/main">
            <a:r>
              <a:t>            "Ⅰ.3 / 지식검색",</a:t>
            </a:r>
          </a:p>
          <a:p xmlns:a="http://schemas.openxmlformats.org/drawingml/2006/main">
            <a:r>
              <a:t>            "Ⅰ.3 / 권한"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"RAG·API 에이전트",</a:t>
            </a:r>
          </a:p>
          <a:p xmlns:a="http://schemas.openxmlformats.org/drawingml/2006/main">
            <a:r>
              <a:t>          "layer": "핵심 처리",</a:t>
            </a:r>
          </a:p>
          <a:p xmlns:a="http://schemas.openxmlformats.org/drawingml/2006/main">
            <a:r>
              <a:t>          "detail": "하이브리드 검색의 동적 권한 필터와 API 연계",</a:t>
            </a:r>
          </a:p>
          <a:p xmlns:a="http://schemas.openxmlformats.org/drawingml/2006/main">
            <a:r>
              <a:t>          "requirements": [</a:t>
            </a:r>
          </a:p>
          <a:p xmlns:a="http://schemas.openxmlformats.org/drawingml/2006/main">
            <a:r>
              <a:t>            "Ⅰ.3 / 업무연계"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"원문·도구 결과 대조",</a:t>
            </a:r>
          </a:p>
          <a:p xmlns:a="http://schemas.openxmlformats.org/drawingml/2006/main">
            <a:r>
              <a:t>          "layer": "결과 검증",</a:t>
            </a:r>
          </a:p>
          <a:p xmlns:a="http://schemas.openxmlformats.org/drawingml/2006/main">
            <a:r>
              <a:t>          "detail": "사업·문서별 권한과 최신 판본 검증",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"사업부서 검토",</a:t>
            </a:r>
          </a:p>
          <a:p xmlns:a="http://schemas.openxmlformats.org/drawingml/2006/main">
            <a:r>
              <a:t>          "layer": "사람 확인",</a:t>
            </a:r>
          </a:p>
          <a:p xmlns:a="http://schemas.openxmlformats.org/drawingml/2006/main">
            <a:r>
              <a:t>          "detail": "사업 문서 질의에서 권한 내 근거를 찾고 업무 초안 생성",</a:t>
            </a:r>
          </a:p>
          <a:p xmlns:a="http://schemas.openxmlformats.org/drawingml/2006/main">
            <a:r>
              <a:t>          "requirements": [</a:t>
            </a:r>
          </a:p>
          <a:p xmlns:a="http://schemas.openxmlformats.org/drawingml/2006/main">
            <a:r>
              <a:t>            "Ⅰ.3 / 업무연계"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"해외사업 업무 초안",</a:t>
            </a:r>
          </a:p>
          <a:p xmlns:a="http://schemas.openxmlformats.org/drawingml/2006/main">
            <a:r>
              <a:t>          "layer": "업무 연결",</a:t>
            </a:r>
          </a:p>
          <a:p xmlns:a="http://schemas.openxmlformats.org/drawingml/2006/main">
            <a:r>
              <a:t>          "detail": "원문 근거·업무 초안을 부서별 검토자에게 제공",</a:t>
            </a:r>
          </a:p>
          <a:p xmlns:a="http://schemas.openxmlformats.org/drawingml/2006/main">
            <a:r>
              <a:t>          "requirements": [</a:t>
            </a:r>
          </a:p>
          <a:p xmlns:a="http://schemas.openxmlformats.org/drawingml/2006/main">
            <a:r>
              <a:t>            "Ⅰ.3 / 업무연계"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"지식·품질 갱신",</a:t>
            </a:r>
          </a:p>
          <a:p xmlns:a="http://schemas.openxmlformats.org/drawingml/2006/main">
            <a:r>
              <a:t>          "layer": "운영 관측",</a:t>
            </a:r>
          </a:p>
          <a:p xmlns:a="http://schemas.openxmlformats.org/drawingml/2006/main">
            <a:r>
              <a:t>          "detail": "지식 갱신·응답 정확도·질의 유형의 지속 관측",</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"사내 사업 산출물",</a:t>
            </a:r>
          </a:p>
          <a:p xmlns:a="http://schemas.openxmlformats.org/drawingml/2006/main">
            <a:r>
              <a:t>          "layer": "데이터 원천",</a:t>
            </a:r>
          </a:p>
          <a:p xmlns:a="http://schemas.openxmlformats.org/drawingml/2006/main">
            <a:r>
              <a:t>          "detail": "허용 문서",</a:t>
            </a:r>
          </a:p>
          <a:p xmlns:a="http://schemas.openxmlformats.org/drawingml/2006/main">
            <a:r>
              <a:t>          "requirements": [</a:t>
            </a:r>
          </a:p>
          <a:p xmlns:a="http://schemas.openxmlformats.org/drawingml/2006/main">
            <a:r>
              <a:t>            "Ⅰ.3 / 지식검색"</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"청킹·메타데이터",</a:t>
            </a:r>
          </a:p>
          <a:p xmlns:a="http://schemas.openxmlformats.org/drawingml/2006/main">
            <a:r>
              <a:t>          "layer": "준비·갱신",</a:t>
            </a:r>
          </a:p>
          <a:p xmlns:a="http://schemas.openxmlformats.org/drawingml/2006/main">
            <a:r>
              <a:t>          "detail": "사내 산출물 수집·청킹·메타데이터 부착",</a:t>
            </a:r>
          </a:p>
          <a:p xmlns:a="http://schemas.openxmlformats.org/drawingml/2006/main">
            <a:r>
              <a:t>          "requirements": [</a:t>
            </a:r>
          </a:p>
          <a:p xmlns:a="http://schemas.openxmlformats.org/drawingml/2006/main">
            <a:r>
              <a:t>            "Ⅰ.3 / 지식검색"</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"하이브리드 색인",</a:t>
            </a:r>
          </a:p>
          <a:p xmlns:a="http://schemas.openxmlformats.org/drawingml/2006/main">
            <a:r>
              <a:t>          "layer": "상태·지식 저장",</a:t>
            </a:r>
          </a:p>
          <a:p xmlns:a="http://schemas.openxmlformats.org/drawingml/2006/main">
            <a:r>
              <a:t>          "detail": "문서·청크별 접근시험과 근거·갱신 이력",</a:t>
            </a:r>
          </a:p>
          <a:p xmlns:a="http://schemas.openxmlformats.org/drawingml/2006/main">
            <a:r>
              <a:t>          "requirements": [</a:t>
            </a:r>
          </a:p>
          <a:p xmlns:a="http://schemas.openxmlformats.org/drawingml/2006/main">
            <a:r>
              <a:t>            "Ⅰ.3 / 지식검색"</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"암호문서·접근정책",</a:t>
            </a:r>
          </a:p>
          <a:p xmlns:a="http://schemas.openxmlformats.org/drawingml/2006/main">
            <a:r>
              <a:t>          "layer": "권한·정책",</a:t>
            </a:r>
          </a:p>
          <a:p xmlns:a="http://schemas.openxmlformats.org/drawingml/2006/main">
            <a:r>
              <a:t>          "detail": "암호문서·다른 부서 자료·메타데이터 누락",</a:t>
            </a:r>
          </a:p>
          <a:p xmlns:a="http://schemas.openxmlformats.org/drawingml/2006/main">
            <a:r>
              <a:t>          "requirements": [</a:t>
            </a:r>
          </a:p>
          <a:p xmlns:a="http://schemas.openxmlformats.org/drawingml/2006/main">
            <a:r>
              <a:t>            "Ⅰ.3 / 권한"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"SSO와 부서·암호문서 접근조건 연결",</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"자료·권한",</a:t>
            </a:r>
          </a:p>
          <a:p xmlns:a="http://schemas.openxmlformats.org/drawingml/2006/main">
            <a:r>
              <a:t>          "check": "사업·문서별 권한과 최신 판본 검증"</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"검색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"업무 초안",</a:t>
            </a:r>
          </a:p>
          <a:p xmlns:a="http://schemas.openxmlformats.org/drawingml/2006/main">
            <a:r>
              <a:t>          "check": "암호문서·다른 부서 자료·메타데이터 누락"</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"업무 초안",</a:t>
            </a:r>
          </a:p>
          <a:p xmlns:a="http://schemas.openxmlformats.org/drawingml/2006/main">
            <a:r>
              <a:t>          "check": "원문 근거·업무 초안을 부서별 검토자에게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 결과",</a:t>
            </a:r>
          </a:p>
          <a:p xmlns:a="http://schemas.openxmlformats.org/drawingml/2006/main">
            <a:r>
              <a:t>          "check": "문서·청크별 접근시험과 근거·갱신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"RFP Ⅰ.3 사업범위",</a:t>
            </a:r>
          </a:p>
          <a:p xmlns:a="http://schemas.openxmlformats.org/drawingml/2006/main">
            <a:r>
              <a:t>        "extracted": "메타데이터 자동 부착·동적 권한 필터·API 업무 에이전트",</a:t>
            </a:r>
          </a:p>
          <a:p xmlns:a="http://schemas.openxmlformats.org/drawingml/2006/main">
            <a:r>
              <a:t>        "extension": "해외사업별 문서 격리와 승인 후 도구 실행"</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"암호문서·다른 부서 자료·메타데이터 누락",</a:t>
            </a:r>
          </a:p>
          <a:p xmlns:a="http://schemas.openxmlformats.org/drawingml/2006/main">
            <a:r>
              <a:t>        "hold": "사업·문서별 권한과 최신 판본 검증",</a:t>
            </a:r>
          </a:p>
          <a:p xmlns:a="http://schemas.openxmlformats.org/drawingml/2006/main">
            <a:r>
              <a:t>        "recovery": "지식 갱신·응답 정확도·질의 유형의 지속 관측",</a:t>
            </a:r>
          </a:p>
          <a:p xmlns:a="http://schemas.openxmlformats.org/drawingml/2006/main">
            <a:r>
              <a:t>        "evidence": "문서·청크별 접근시험과 근거·갱신 이력"</a:t>
            </a:r>
          </a:p>
          <a:p xmlns:a="http://schemas.openxmlformats.org/drawingml/2006/main">
            <a:r>
              <a:t>      },</a:t>
            </a:r>
          </a:p>
          <a:p xmlns:a="http://schemas.openxmlformats.org/drawingml/2006/main">
            <a:r>
              <a:t>      "data": {</a:t>
            </a:r>
          </a:p>
          <a:p xmlns:a="http://schemas.openxmlformats.org/drawingml/2006/main">
            <a:r>
              <a:t>        "source": "허용 문서",</a:t>
            </a:r>
          </a:p>
          <a:p xmlns:a="http://schemas.openxmlformats.org/drawingml/2006/main">
            <a:r>
              <a:t>        "prepare": "사내 산출물 수집·청킹·메타데이터 부착",</a:t>
            </a:r>
          </a:p>
          <a:p xmlns:a="http://schemas.openxmlformats.org/drawingml/2006/main">
            <a:r>
              <a:t>        "output": "자료·권한",</a:t>
            </a:r>
          </a:p>
          <a:p xmlns:a="http://schemas.openxmlformats.org/drawingml/2006/main">
            <a:r>
              <a:t>        "refresh": "지식 갱신·응답 정확도·질의 유형의 지속 관측"</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"PF-A03",</a:t>
            </a:r>
          </a:p>
          <a:p xmlns:a="http://schemas.openxmlformats.org/drawingml/2006/main">
            <a:r>
              <a:t>    "success": [</a:t>
            </a:r>
          </a:p>
          <a:p xmlns:a="http://schemas.openxmlformats.org/drawingml/2006/main">
            <a:r>
              <a:t>      "권한별 자료와 공통 검색 구성",</a:t>
            </a:r>
          </a:p>
          <a:p xmlns:a="http://schemas.openxmlformats.org/drawingml/2006/main">
            <a:r>
              <a:t>      "업무 에이전트의 현업 검토"</a:t>
            </a:r>
          </a:p>
          <a:p xmlns:a="http://schemas.openxmlformats.org/drawingml/2006/main">
            <a:r>
              <a:t>    ],</a:t>
            </a:r>
          </a:p>
          <a:p xmlns:a="http://schemas.openxmlformats.org/drawingml/2006/main">
            <a:r>
              <a:t>    "risks": [</a:t>
            </a:r>
          </a:p>
          <a:p xmlns:a="http://schemas.openxmlformats.org/drawingml/2006/main">
            <a:r>
              <a:t>      "해외사업 문서별 접근 차이",</a:t>
            </a:r>
          </a:p>
          <a:p xmlns:a="http://schemas.openxmlformats.org/drawingml/2006/main">
            <a:r>
              <a:t>      "RFP와 운영 완료의 혼동"</a:t>
            </a:r>
          </a:p>
          <a:p xmlns:a="http://schemas.openxmlformats.org/drawingml/2006/main">
            <a:r>
              <a:t>    ],</a:t>
            </a:r>
          </a:p>
          <a:p xmlns:a="http://schemas.openxmlformats.org/drawingml/2006/main">
            <a:r>
              <a:t>    "architecture": [</a:t>
            </a:r>
          </a:p>
          <a:p xmlns:a="http://schemas.openxmlformats.org/drawingml/2006/main">
            <a:r>
              <a:t>      "기관 사용자",</a:t>
            </a:r>
          </a:p>
          <a:p xmlns:a="http://schemas.openxmlformats.org/drawingml/2006/main">
            <a:r>
              <a:t>      "RAG·업무 에이전트",</a:t>
            </a:r>
          </a:p>
          <a:p xmlns:a="http://schemas.openxmlformats.org/drawingml/2006/main">
            <a:r>
              <a:t>      "허용 문서",</a:t>
            </a:r>
          </a:p>
          <a:p xmlns:a="http://schemas.openxmlformats.org/drawingml/2006/main">
            <a:r>
              <a:t>      "현업 검토자"</a:t>
            </a:r>
          </a:p>
          <a:p xmlns:a="http://schemas.openxmlformats.org/drawingml/2006/main">
            <a:r>
              <a:t>    ],</a:t>
            </a:r>
          </a:p>
          <a:p xmlns:a="http://schemas.openxmlformats.org/drawingml/2006/main">
            <a:r>
              <a:t>    "transfers": [</a:t>
            </a:r>
          </a:p>
          <a:p xmlns:a="http://schemas.openxmlformats.org/drawingml/2006/main">
            <a:r>
              <a:t>      "자료·권한",</a:t>
            </a:r>
          </a:p>
          <a:p xmlns:a="http://schemas.openxmlformats.org/drawingml/2006/main">
            <a:r>
              <a:t>      "검색 근거",</a:t>
            </a:r>
          </a:p>
          <a:p xmlns:a="http://schemas.openxmlformats.org/drawingml/2006/main">
            <a:r>
              <a:t>      "업무 초안",</a:t>
            </a:r>
          </a:p>
          <a:p xmlns:a="http://schemas.openxmlformats.org/drawingml/2006/main">
            <a:r>
              <a:t>      "검토 결과"</a:t>
            </a:r>
          </a:p>
          <a:p xmlns:a="http://schemas.openxmlformats.org/drawingml/2006/main">
            <a:r>
              <a:t>    ],</a:t>
            </a:r>
          </a:p>
          <a:p xmlns:a="http://schemas.openxmlformats.org/drawingml/2006/main">
            <a:r>
              <a:t>    "control": "사업·문서별 권한과 최신 판본 검증",</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
            </a:r>
          </a:p>
          <a:p xmlns:a="http://schemas.openxmlformats.org/drawingml/2006/main">
            <a:r>
              <a:t>홈페이지 https://heen1987-ops.github.io/TS-business-Plan-001/index.html?view=platform-cases&amp;case=PF-A03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"PF-A03",</a:t>
            </a:r>
          </a:p>
          <a:p xmlns:a="http://schemas.openxmlformats.org/drawingml/2006/main">
            <a:r>
              <a:t>    "sourceId": "A03",</a:t>
            </a:r>
          </a:p>
          <a:p xmlns:a="http://schemas.openxmlformats.org/drawingml/2006/main">
            <a:r>
              <a:t>    "title": "KIND 생성형 AI",</a:t>
            </a:r>
          </a:p>
          <a:p xmlns:a="http://schemas.openxmlformats.org/drawingml/2006/main">
            <a:r>
              <a:t>    "region": "국내",</a:t>
            </a:r>
          </a:p>
          <a:p xmlns:a="http://schemas.openxmlformats.org/drawingml/2006/main">
            <a:r>
              <a:t>    "owner": "KIND / 대내 생성형 AI 서비스 구축",</a:t>
            </a:r>
          </a:p>
          <a:p xmlns:a="http://schemas.openxmlformats.org/drawingml/2006/main">
            <a:r>
              <a:t>    "state": "공식 RFP 확보 / 운영 성과 미확인",</a:t>
            </a:r>
          </a:p>
          <a:p xmlns:a="http://schemas.openxmlformats.org/drawingml/2006/main">
            <a:r>
              <a:t>    "period": "기존 원장 확인 2026.10.16",</a:t>
            </a:r>
          </a:p>
          <a:p xmlns:a="http://schemas.openxmlformats.org/drawingml/2006/main">
            <a:r>
              <a:t>    "fact": "사내 산출물의 RAG 검색·권한 필터와 내부 시스템 API 기반 업무 에이전트 구축 요구",</a:t>
            </a:r>
          </a:p>
          <a:p xmlns:a="http://schemas.openxmlformats.org/drawingml/2006/main">
            <a:r>
              <a:t>    "limit": "로컬 PUBLIC 원본 재사용 사례. 최신 계약·검수·운영 상황은 별도 확인 필요",</a:t>
            </a:r>
          </a:p>
          <a:p xmlns:a="http://schemas.openxmlformats.org/drawingml/2006/main">
            <a:r>
              <a:t>    "nodes": [</a:t>
            </a:r>
          </a:p>
          <a:p xmlns:a="http://schemas.openxmlformats.org/drawingml/2006/main">
            <a:r>
              <a:t>      "권한별 자료",</a:t>
            </a:r>
          </a:p>
          <a:p xmlns:a="http://schemas.openxmlformats.org/drawingml/2006/main">
            <a:r>
              <a:t>      "RAG·지식 갱신",</a:t>
            </a:r>
          </a:p>
          <a:p xmlns:a="http://schemas.openxmlformats.org/drawingml/2006/main">
            <a:r>
              <a:t>      "업무 에이전트",</a:t>
            </a:r>
          </a:p>
          <a:p xmlns:a="http://schemas.openxmlformats.org/drawingml/2006/main">
            <a:r>
              <a:t>      "현업 검토"</a:t>
            </a:r>
          </a:p>
          <a:p xmlns:a="http://schemas.openxmlformats.org/drawingml/2006/main">
            <a:r>
              <a:t>    ],</a:t>
            </a:r>
          </a:p>
          <a:p xmlns:a="http://schemas.openxmlformats.org/drawingml/2006/main">
            <a:r>
              <a:t>    "apply": "문서·청크의 업무 메타데이터와 검색 전 권한 필터를 함께 구성",</a:t>
            </a:r>
          </a:p>
          <a:p xmlns:a="http://schemas.openxmlformats.org/drawingml/2006/main">
            <a:r>
              <a:t>    "delta": "사업·문서·청크 메타데이터 / 동적 권한 필터 / 부서별 API 어댑터",</a:t>
            </a:r>
          </a:p>
          <a:p xmlns:a="http://schemas.openxmlformats.org/drawingml/2006/main">
            <a:r>
              <a:t>    "test": "암호문서·권한 회수·메타데이터 누락 상태에서 검색 결과와 원천 대사",</a:t>
            </a:r>
          </a:p>
          <a:p xmlns:a="http://schemas.openxmlformats.org/drawingml/2006/main">
            <a:r>
              <a:t>    "url": null,</a:t>
            </a:r>
          </a:p>
          <a:p xmlns:a="http://schemas.openxmlformats.org/drawingml/2006/main">
            <a:r>
              <a:t>    "urls": [],</a:t>
            </a:r>
          </a:p>
          <a:p xmlns:a="http://schemas.openxmlformats.org/drawingml/2006/main">
            <a:r>
              <a:t>    "basis": "P121~123 / 공통영역 요구 비교",</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"권한 오노출 / 근거 일치율 / 지식 갱신 지연",</a:t>
            </a:r>
          </a:p>
          <a:p xmlns:a="http://schemas.openxmlformats.org/drawingml/2006/main">
            <a:r>
              <a:t>    "group": "요구·구축",</a:t>
            </a:r>
          </a:p>
          <a:p xmlns:a="http://schemas.openxmlformats.org/drawingml/2006/main">
            <a:r>
              <a:t>    "sourceDetail": "RAG·권한 메타데이터·부서별 업무 지원·에이전트/API 연계·지식 갱신을 요구\n데이터 권한·운영 피드백을 공통체계로 정의",</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"PF-A03",</a:t>
            </a:r>
          </a:p>
          <a:p xmlns:a="http://schemas.openxmlformats.org/drawingml/2006/main">
            <a:r>
              <a:t>    "canonicalId": "PF-A03",</a:t>
            </a:r>
          </a:p>
          <a:p xmlns:a="http://schemas.openxmlformats.org/drawingml/2006/main">
            <a:r>
              <a:t>    "purpose": "해외 인프라 사업 지식의 공통 활용",</a:t>
            </a:r>
          </a:p>
          <a:p xmlns:a="http://schemas.openxmlformats.org/drawingml/2006/main">
            <a:r>
              <a:t>    "users": "사업부서·문서 담당·플랫폼 운영자",</a:t>
            </a:r>
          </a:p>
          <a:p xmlns:a="http://schemas.openxmlformats.org/drawingml/2006/main">
            <a:r>
              <a:t>    "scope": [</a:t>
            </a:r>
          </a:p>
          <a:p xmlns:a="http://schemas.openxmlformats.org/drawingml/2006/main">
            <a:r>
              <a:t>      "기관 RAG",</a:t>
            </a:r>
          </a:p>
          <a:p xmlns:a="http://schemas.openxmlformats.org/drawingml/2006/main">
            <a:r>
              <a:t>      "업무 에이전트",</a:t>
            </a:r>
          </a:p>
          <a:p xmlns:a="http://schemas.openxmlformats.org/drawingml/2006/main">
            <a:r>
              <a:t>      "데이터 거버넌스"</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"기관 사용자",</a:t>
            </a:r>
          </a:p>
          <a:p xmlns:a="http://schemas.openxmlformats.org/drawingml/2006/main">
            <a:r>
              <a:t>        "detail": "SSO와 부서·암호문서 접근조건 연결",</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"기관 RAG / 업무 에이전트 / 데이터 거버넌스",</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"RAG·업무 에이전트",</a:t>
            </a:r>
          </a:p>
          <a:p xmlns:a="http://schemas.openxmlformats.org/drawingml/2006/main">
            <a:r>
              <a:t>        "detail": "하이브리드 검색의 동적 권한 필터와 API 연계",</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"현업 검토자",</a:t>
            </a:r>
          </a:p>
          <a:p xmlns:a="http://schemas.openxmlformats.org/drawingml/2006/main">
            <a:r>
              <a:t>        "detail": "원문 근거·업무 초안을 부서별 검토자에게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"허용 문서",</a:t>
            </a:r>
          </a:p>
          <a:p xmlns:a="http://schemas.openxmlformats.org/drawingml/2006/main">
            <a:r>
              <a:t>        "detail": "사내 산출물 수집·청킹·메타데이터 부착",</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"지식 갱신·응답 정확도·질의 유형의 지속 관측",</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"권한별 자료",</a:t>
            </a:r>
          </a:p>
          <a:p xmlns:a="http://schemas.openxmlformats.org/drawingml/2006/main">
            <a:r>
              <a:t>        "input": "SSO와 부서·암호문서 접근조건 연결",</a:t>
            </a:r>
          </a:p>
          <a:p xmlns:a="http://schemas.openxmlformats.org/drawingml/2006/main">
            <a:r>
              <a:t>        "process": "사내 산출물 수집·청킹·메타데이터 부착",</a:t>
            </a:r>
          </a:p>
          <a:p xmlns:a="http://schemas.openxmlformats.org/drawingml/2006/main">
            <a:r>
              <a:t>        "output": "자료·권한"</a:t>
            </a:r>
          </a:p>
          <a:p xmlns:a="http://schemas.openxmlformats.org/drawingml/2006/main">
            <a:r>
              <a:t>      },</a:t>
            </a:r>
          </a:p>
          <a:p xmlns:a="http://schemas.openxmlformats.org/drawingml/2006/main">
            <a:r>
              <a:t>      {</a:t>
            </a:r>
          </a:p>
          <a:p xmlns:a="http://schemas.openxmlformats.org/drawingml/2006/main">
            <a:r>
              <a:t>        "title": "RAG·지식 갱신",</a:t>
            </a:r>
          </a:p>
          <a:p xmlns:a="http://schemas.openxmlformats.org/drawingml/2006/main">
            <a:r>
              <a:t>        "input": "자료·권한",</a:t>
            </a:r>
          </a:p>
          <a:p xmlns:a="http://schemas.openxmlformats.org/drawingml/2006/main">
            <a:r>
              <a:t>        "process": "하이브리드 검색의 동적 권한 필터와 API 연계",</a:t>
            </a:r>
          </a:p>
          <a:p xmlns:a="http://schemas.openxmlformats.org/drawingml/2006/main">
            <a:r>
              <a:t>        "output": "검색 근거"</a:t>
            </a:r>
          </a:p>
          <a:p xmlns:a="http://schemas.openxmlformats.org/drawingml/2006/main">
            <a:r>
              <a:t>      },</a:t>
            </a:r>
          </a:p>
          <a:p xmlns:a="http://schemas.openxmlformats.org/drawingml/2006/main">
            <a:r>
              <a:t>      {</a:t>
            </a:r>
          </a:p>
          <a:p xmlns:a="http://schemas.openxmlformats.org/drawingml/2006/main">
            <a:r>
              <a:t>        "title": "업무 에이전트",</a:t>
            </a:r>
          </a:p>
          <a:p xmlns:a="http://schemas.openxmlformats.org/drawingml/2006/main">
            <a:r>
              <a:t>        "input": "검색 근거",</a:t>
            </a:r>
          </a:p>
          <a:p xmlns:a="http://schemas.openxmlformats.org/drawingml/2006/main">
            <a:r>
              <a:t>        "process": "사업·문서별 권한과 최신 판본 검증",</a:t>
            </a:r>
          </a:p>
          <a:p xmlns:a="http://schemas.openxmlformats.org/drawingml/2006/main">
            <a:r>
              <a:t>        "output": "업무 초안"</a:t>
            </a:r>
          </a:p>
          <a:p xmlns:a="http://schemas.openxmlformats.org/drawingml/2006/main">
            <a:r>
              <a:t>      },</a:t>
            </a:r>
          </a:p>
          <a:p xmlns:a="http://schemas.openxmlformats.org/drawingml/2006/main">
            <a:r>
              <a:t>      {</a:t>
            </a:r>
          </a:p>
          <a:p xmlns:a="http://schemas.openxmlformats.org/drawingml/2006/main">
            <a:r>
              <a:t>        "title": "현업 검토",</a:t>
            </a:r>
          </a:p>
          <a:p xmlns:a="http://schemas.openxmlformats.org/drawingml/2006/main">
            <a:r>
              <a:t>        "input": "업무 초안",</a:t>
            </a:r>
          </a:p>
          <a:p xmlns:a="http://schemas.openxmlformats.org/drawingml/2006/main">
            <a:r>
              <a:t>        "process": "원문 근거·업무 초안을 부서별 검토자에게 제공",</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"사업 문서 질의에서 권한 내 근거를 찾고 업무 초안 생성",</a:t>
            </a:r>
          </a:p>
          <a:p xmlns:a="http://schemas.openxmlformats.org/drawingml/2006/main">
            <a:r>
              <a:t>      "exception": "암호문서·다른 부서 자료·메타데이터 누락",</a:t>
            </a:r>
          </a:p>
          <a:p xmlns:a="http://schemas.openxmlformats.org/drawingml/2006/main">
            <a:r>
              <a:t>      "evidence": "문서·청크별 접근시험과 근거·갱신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"사업부서·문서 담당·플랫폼 운영자",</a:t>
            </a:r>
          </a:p>
          <a:p xmlns:a="http://schemas.openxmlformats.org/drawingml/2006/main">
            <a:r>
              <a:t>          "processing": "SSO와 부서·암호문서 접근조건 연결",</a:t>
            </a:r>
          </a:p>
          <a:p xmlns:a="http://schemas.openxmlformats.org/drawingml/2006/main">
            <a:r>
              <a:t>          "output": "자료·권한"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"허용 문서",</a:t>
            </a:r>
          </a:p>
          <a:p xmlns:a="http://schemas.openxmlformats.org/drawingml/2006/main">
            <a:r>
              <a:t>          "processing": "사내 산출물 수집·청킹·메타데이터 부착",</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"자료·권한",</a:t>
            </a:r>
          </a:p>
          <a:p xmlns:a="http://schemas.openxmlformats.org/drawingml/2006/main">
            <a:r>
              <a:t>          "processing": "하이브리드 검색의 동적 권한 필터와 API 연계",</a:t>
            </a:r>
          </a:p>
          <a:p xmlns:a="http://schemas.openxmlformats.org/drawingml/2006/main">
            <a:r>
              <a:t>          "output": "업무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"업무 초안",</a:t>
            </a:r>
          </a:p>
          <a:p xmlns:a="http://schemas.openxmlformats.org/drawingml/2006/main">
            <a:r>
              <a:t>          "processing": "원문 근거·업무 초안을 부서별 검토자에게 제공",</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"지식 갱신·응답 정확도·질의 유형의 지속 관측",</a:t>
            </a:r>
          </a:p>
          <a:p xmlns:a="http://schemas.openxmlformats.org/drawingml/2006/main">
            <a:r>
              <a:t>          "output": "문서·청크별 접근시험과 근거·갱신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"지식 갱신·응답 정확도·질의 유형의 지속 관측",</a:t>
            </a:r>
          </a:p>
          <a:p xmlns:a="http://schemas.openxmlformats.org/drawingml/2006/main">
            <a:r>
              <a:t>    "status": "RFP 기반 논리 설계",</a:t>
            </a:r>
          </a:p>
          <a:p xmlns:a="http://schemas.openxmlformats.org/drawingml/2006/main">
            <a:r>
              <a:t>    "basis": "대내 생성형 AI 서비스 구축 RFP · Ⅰ.3 사업범위·메타데이터 및 동적 권한 필터",</a:t>
            </a:r>
          </a:p>
          <a:p xmlns:a="http://schemas.openxmlformats.org/drawingml/2006/main">
            <a:r>
              <a:t>    "rfp": true,</a:t>
            </a:r>
          </a:p>
          <a:p xmlns:a="http://schemas.openxmlformats.org/drawingml/2006/main">
            <a:r>
              <a:t>    "sources": [],</a:t>
            </a:r>
          </a:p>
          <a:p xmlns:a="http://schemas.openxmlformats.org/drawingml/2006/main">
            <a:r>
              <a:t>    "implication": "문서·청크의 업무 메타데이터와 검색 전 권한 필터를 함께 구성",</a:t>
            </a:r>
          </a:p>
          <a:p xmlns:a="http://schemas.openxmlformats.org/drawingml/2006/main">
            <a:r>
              <a:t>    "local": "문서·청크의 업무 메타데이터와 검색 전 권한 필터를 함께 구성",</a:t>
            </a:r>
          </a:p>
          <a:p xmlns:a="http://schemas.openxmlformats.org/drawingml/2006/main">
            <a:r>
              <a:t>    "sourceDetail": "RAG·권한 메타데이터·부서별 업무 지원·에이전트/API 연계·지식 갱신을 요구\n데이터 권한·운영 피드백을 공통체계로 정의",</a:t>
            </a:r>
          </a:p>
          <a:p xmlns:a="http://schemas.openxmlformats.org/drawingml/2006/main">
            <a:r>
              <a:t>    "narrative": [</a:t>
            </a:r>
          </a:p>
          <a:p xmlns:a="http://schemas.openxmlformats.org/drawingml/2006/main">
            <a:r>
              <a:t>      "해외 인프라 사업 산출물의 검색과 업무별 에이전트 활용을 기관 공통 서비스로 구성하는 요구. 사업·부서마다 보유 문서와 접근조건이 달라 문서 수집 단계부터 소유·권한·업무 문맥을 연결해야 하는 유형.",</a:t>
            </a:r>
          </a:p>
          <a:p xmlns:a="http://schemas.openxmlformats.org/drawingml/2006/main">
            <a:r>
              <a:t>      "RFP 사업범위의 핵심은 문서 메타데이터 자동 부착, 청킹, 하이브리드 검색의 동적 권한 필터, API 기반 업무 에이전트. 검색 결과를 나중에 가리는 방식보다 검색 후보를 구성할 때 허용 자료만 전달하는 설계가 주요 비교 지점.",</a:t>
            </a:r>
          </a:p>
          <a:p xmlns:a="http://schemas.openxmlformats.org/drawingml/2006/main">
            <a:r>
              <a:t>      "CCK에서는 기관 공통 RAG를 재사용하면서 공식 조직·사업 ID와 문서 권한을 추가 연결하는 범위로 구체화. 전보·겸직·사업 종료·문서 회수에 따른 색인과 캐시의 갱신, API 도구별 실행권한을 별도 검수할 필요."</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"Ⅰ.3 / 지식검색",</a:t>
            </a:r>
          </a:p>
          <a:p xmlns:a="http://schemas.openxmlformats.org/drawingml/2006/main">
            <a:r>
              <a:t>        "title": "사내 산출물 기반 RAG",</a:t>
            </a:r>
          </a:p>
          <a:p xmlns:a="http://schemas.openxmlformats.org/drawingml/2006/main">
            <a:r>
              <a:t>        "locator": "Ⅰ.3 사업범위",</a:t>
            </a:r>
          </a:p>
          <a:p xmlns:a="http://schemas.openxmlformats.org/drawingml/2006/main">
            <a:r>
              <a:t>        "summary": "내부 산출물의 수집·정제·메타데이터와 검색 증강 기반 질의응답 구성.",</a:t>
            </a:r>
          </a:p>
          <a:p xmlns:a="http://schemas.openxmlformats.org/drawingml/2006/main">
            <a:r>
              <a:t>        "data": "내부 문서·질의 → 근거가 연결된 답변",</a:t>
            </a:r>
          </a:p>
          <a:p xmlns:a="http://schemas.openxmlformats.org/drawingml/2006/main">
            <a:r>
              <a:t>        "components": [</a:t>
            </a:r>
          </a:p>
          <a:p xmlns:a="http://schemas.openxmlformats.org/drawingml/2006/main">
            <a:r>
              <a:t>          "C03",</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"문서 개정·삭제·다른 업무 자료 혼재 시 원문·판본·인용 위치 대사",</a:t>
            </a:r>
          </a:p>
          <a:p xmlns:a="http://schemas.openxmlformats.org/drawingml/2006/main">
            <a:r>
              <a:t>        "basis": "RFP 사업범위 요약 · 항목명은 분석용 구분",</a:t>
            </a:r>
          </a:p>
          <a:p xmlns:a="http://schemas.openxmlformats.org/drawingml/2006/main">
            <a:r>
              <a:t>        "testBasis": "CCK 비교·검수 설계"</a:t>
            </a:r>
          </a:p>
          <a:p xmlns:a="http://schemas.openxmlformats.org/drawingml/2006/main">
            <a:r>
              <a:t>      },</a:t>
            </a:r>
          </a:p>
          <a:p xmlns:a="http://schemas.openxmlformats.org/drawingml/2006/main">
            <a:r>
              <a:t>      {</a:t>
            </a:r>
          </a:p>
          <a:p xmlns:a="http://schemas.openxmlformats.org/drawingml/2006/main">
            <a:r>
              <a:t>        "id": "Ⅰ.3 / 권한",</a:t>
            </a:r>
          </a:p>
          <a:p xmlns:a="http://schemas.openxmlformats.org/drawingml/2006/main">
            <a:r>
              <a:t>        "title": "메타데이터·동적 권한 필터",</a:t>
            </a:r>
          </a:p>
          <a:p xmlns:a="http://schemas.openxmlformats.org/drawingml/2006/main">
            <a:r>
              <a:t>        "locator": "Ⅰ.3 사업범위",</a:t>
            </a:r>
          </a:p>
          <a:p xmlns:a="http://schemas.openxmlformats.org/drawingml/2006/main">
            <a:r>
              <a:t>        "summary": "문서 메타데이터와 사용자 권한을 이용해 검색·응답 대상을 제한하는 요구.",</a:t>
            </a:r>
          </a:p>
          <a:p xmlns:a="http://schemas.openxmlformats.org/drawingml/2006/main">
            <a:r>
              <a:t>        "data": "사용자·권한·문서 속성 → 허용 자료 범위",</a:t>
            </a:r>
          </a:p>
          <a:p xmlns:a="http://schemas.openxmlformats.org/drawingml/2006/main">
            <a:r>
              <a:t>        "components": [</a:t>
            </a:r>
          </a:p>
          <a:p xmlns:a="http://schemas.openxmlformats.org/drawingml/2006/main">
            <a:r>
              <a:t>          "C02",</a:t>
            </a:r>
          </a:p>
          <a:p xmlns:a="http://schemas.openxmlformats.org/drawingml/2006/main">
            <a:r>
              <a:t>          "C03",</a:t>
            </a:r>
          </a:p>
          <a:p xmlns:a="http://schemas.openxmlformats.org/drawingml/2006/main">
            <a:r>
              <a:t>          "C12"</a:t>
            </a:r>
          </a:p>
          <a:p xmlns:a="http://schemas.openxmlformats.org/drawingml/2006/main">
            <a:r>
              <a:t>        ],</a:t>
            </a:r>
          </a:p>
          <a:p xmlns:a="http://schemas.openxmlformats.org/drawingml/2006/main">
            <a:r>
              <a:t>        "acceptance": "전보·공유 해제·권한 회수 직후 검색 후보와 답변 인용에서 비허용 자료 제외 확인",</a:t>
            </a:r>
          </a:p>
          <a:p xmlns:a="http://schemas.openxmlformats.org/drawingml/2006/main">
            <a:r>
              <a:t>        "basis": "RFP 사업범위 요약 · 항목명은 분석용 구분",</a:t>
            </a:r>
          </a:p>
          <a:p xmlns:a="http://schemas.openxmlformats.org/drawingml/2006/main">
            <a:r>
              <a:t>        "testBasis": "CCK 비교·검수 설계"</a:t>
            </a:r>
          </a:p>
          <a:p xmlns:a="http://schemas.openxmlformats.org/drawingml/2006/main">
            <a:r>
              <a:t>      },</a:t>
            </a:r>
          </a:p>
          <a:p xmlns:a="http://schemas.openxmlformats.org/drawingml/2006/main">
            <a:r>
              <a:t>      {</a:t>
            </a:r>
          </a:p>
          <a:p xmlns:a="http://schemas.openxmlformats.org/drawingml/2006/main">
            <a:r>
              <a:t>        "id": "Ⅰ.3 / 업무연계",</a:t>
            </a:r>
          </a:p>
          <a:p xmlns:a="http://schemas.openxmlformats.org/drawingml/2006/main">
            <a:r>
              <a:t>        "title": "내부 API 기반 업무 에이전트",</a:t>
            </a:r>
          </a:p>
          <a:p xmlns:a="http://schemas.openxmlformats.org/drawingml/2006/main">
            <a:r>
              <a:t>        "locator": "Ⅰ.3 사업범위",</a:t>
            </a:r>
          </a:p>
          <a:p xmlns:a="http://schemas.openxmlformats.org/drawingml/2006/main">
            <a:r>
              <a:t>        "summary": "내부 업무시스템의 API를 활용해 요청을 처리하는 업무 에이전트 구성.",</a:t>
            </a:r>
          </a:p>
          <a:p xmlns:a="http://schemas.openxmlformats.org/drawingml/2006/main">
            <a:r>
              <a:t>        "data": "업무 요청·연계 인자 → 시스템 결과·처리 상태",</a:t>
            </a:r>
          </a:p>
          <a:p xmlns:a="http://schemas.openxmlformats.org/drawingml/2006/main">
            <a:r>
              <a:t>        "components": [</a:t>
            </a:r>
          </a:p>
          <a:p xmlns:a="http://schemas.openxmlformats.org/drawingml/2006/main">
            <a:r>
              <a:t>          "C04",</a:t>
            </a:r>
          </a:p>
          <a:p xmlns:a="http://schemas.openxmlformats.org/drawingml/2006/main">
            <a:r>
              <a:t>          "C06",</a:t>
            </a:r>
          </a:p>
          <a:p xmlns:a="http://schemas.openxmlformats.org/drawingml/2006/main">
            <a:r>
              <a:t>          "C07"</a:t>
            </a:r>
          </a:p>
          <a:p xmlns:a="http://schemas.openxmlformats.org/drawingml/2006/main">
            <a:r>
              <a:t>        ],</a:t>
            </a:r>
          </a:p>
          <a:p xmlns:a="http://schemas.openxmlformats.org/drawingml/2006/main">
            <a:r>
              <a:t>        "acceptance": "권한 없는 실행·필수값 누락·중복 호출·부분 실패의 보류 및 처리 결과 대사",</a:t>
            </a:r>
          </a:p>
          <a:p xmlns:a="http://schemas.openxmlformats.org/drawingml/2006/main">
            <a:r>
              <a:t>        "basis": "RFP 사업범위 요약 · 항목명은 분석용 구분",</a:t>
            </a:r>
          </a:p>
          <a:p xmlns:a="http://schemas.openxmlformats.org/drawingml/2006/main">
            <a:r>
              <a:t>        "testBasis": "CCK 비교·검수 설계"</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"기관 사용자 접점",</a:t>
            </a:r>
          </a:p>
          <a:p xmlns:a="http://schemas.openxmlformats.org/drawingml/2006/main">
            <a:r>
              <a:t>          "layer": "이용 접점",</a:t>
            </a:r>
          </a:p>
          <a:p xmlns:a="http://schemas.openxmlformats.org/drawingml/2006/main">
            <a:r>
              <a:t>          "detail": "사업부서·문서 담당·플랫폼 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"SSO·부서·문서",</a:t>
            </a:r>
          </a:p>
          <a:p xmlns:a="http://schemas.openxmlformats.org/drawingml/2006/main">
            <a:r>
              <a:t>          "layer": "업무 문맥",</a:t>
            </a:r>
          </a:p>
          <a:p xmlns:a="http://schemas.openxmlformats.org/drawingml/2006/main">
            <a:r>
              <a:t>          "detail": "SSO와 부서·암호문서 접근조건 연결",</a:t>
            </a:r>
          </a:p>
          <a:p xmlns:a="http://schemas.openxmlformats.org/drawingml/2006/main">
            <a:r>
              <a:t>          "requirements": [</a:t>
            </a:r>
          </a:p>
          <a:p xmlns:a="http://schemas.openxmlformats.org/drawingml/2006/main">
            <a:r>
              <a:t>            "Ⅰ.3 / 권한"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"동적 권한 검색",</a:t>
            </a:r>
          </a:p>
          <a:p xmlns:a="http://schemas.openxmlformats.org/drawingml/2006/main">
            <a:r>
              <a:t>          "layer": "자료 조회",</a:t>
            </a:r>
          </a:p>
          <a:p xmlns:a="http://schemas.openxmlformats.org/drawingml/2006/main">
            <a:r>
              <a:t>          "detail": "자료·권한",</a:t>
            </a:r>
          </a:p>
          <a:p xmlns:a="http://schemas.openxmlformats.org/drawingml/2006/main">
            <a:r>
              <a:t>          "requirements": [</a:t>
            </a:r>
          </a:p>
          <a:p xmlns:a="http://schemas.openxmlformats.org/drawingml/2006/main">
            <a:r>
              <a:t>            "Ⅰ.3 / 지식검색",</a:t>
            </a:r>
          </a:p>
          <a:p xmlns:a="http://schemas.openxmlformats.org/drawingml/2006/main">
            <a:r>
              <a:t>            "Ⅰ.3 / 권한"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"RAG·API 에이전트",</a:t>
            </a:r>
          </a:p>
          <a:p xmlns:a="http://schemas.openxmlformats.org/drawingml/2006/main">
            <a:r>
              <a:t>          "layer": "핵심 처리",</a:t>
            </a:r>
          </a:p>
          <a:p xmlns:a="http://schemas.openxmlformats.org/drawingml/2006/main">
            <a:r>
              <a:t>          "detail": "하이브리드 검색의 동적 권한 필터와 API 연계",</a:t>
            </a:r>
          </a:p>
          <a:p xmlns:a="http://schemas.openxmlformats.org/drawingml/2006/main">
            <a:r>
              <a:t>          "requirements": [</a:t>
            </a:r>
          </a:p>
          <a:p xmlns:a="http://schemas.openxmlformats.org/drawingml/2006/main">
            <a:r>
              <a:t>            "Ⅰ.3 / 업무연계"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"원문·도구 결과 대조",</a:t>
            </a:r>
          </a:p>
          <a:p xmlns:a="http://schemas.openxmlformats.org/drawingml/2006/main">
            <a:r>
              <a:t>          "layer": "결과 검증",</a:t>
            </a:r>
          </a:p>
          <a:p xmlns:a="http://schemas.openxmlformats.org/drawingml/2006/main">
            <a:r>
              <a:t>          "detail": "사업·문서별 권한과 최신 판본 검증",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"사업부서 검토",</a:t>
            </a:r>
          </a:p>
          <a:p xmlns:a="http://schemas.openxmlformats.org/drawingml/2006/main">
            <a:r>
              <a:t>          "layer": "사람 확인",</a:t>
            </a:r>
          </a:p>
          <a:p xmlns:a="http://schemas.openxmlformats.org/drawingml/2006/main">
            <a:r>
              <a:t>          "detail": "사업 문서 질의에서 권한 내 근거를 찾고 업무 초안 생성",</a:t>
            </a:r>
          </a:p>
          <a:p xmlns:a="http://schemas.openxmlformats.org/drawingml/2006/main">
            <a:r>
              <a:t>          "requirements": [</a:t>
            </a:r>
          </a:p>
          <a:p xmlns:a="http://schemas.openxmlformats.org/drawingml/2006/main">
            <a:r>
              <a:t>            "Ⅰ.3 / 업무연계"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"해외사업 업무 초안",</a:t>
            </a:r>
          </a:p>
          <a:p xmlns:a="http://schemas.openxmlformats.org/drawingml/2006/main">
            <a:r>
              <a:t>          "layer": "업무 연결",</a:t>
            </a:r>
          </a:p>
          <a:p xmlns:a="http://schemas.openxmlformats.org/drawingml/2006/main">
            <a:r>
              <a:t>          "detail": "원문 근거·업무 초안을 부서별 검토자에게 제공",</a:t>
            </a:r>
          </a:p>
          <a:p xmlns:a="http://schemas.openxmlformats.org/drawingml/2006/main">
            <a:r>
              <a:t>          "requirements": [</a:t>
            </a:r>
          </a:p>
          <a:p xmlns:a="http://schemas.openxmlformats.org/drawingml/2006/main">
            <a:r>
              <a:t>            "Ⅰ.3 / 업무연계"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"지식·품질 갱신",</a:t>
            </a:r>
          </a:p>
          <a:p xmlns:a="http://schemas.openxmlformats.org/drawingml/2006/main">
            <a:r>
              <a:t>          "layer": "운영 관측",</a:t>
            </a:r>
          </a:p>
          <a:p xmlns:a="http://schemas.openxmlformats.org/drawingml/2006/main">
            <a:r>
              <a:t>          "detail": "지식 갱신·응답 정확도·질의 유형의 지속 관측",</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"사내 사업 산출물",</a:t>
            </a:r>
          </a:p>
          <a:p xmlns:a="http://schemas.openxmlformats.org/drawingml/2006/main">
            <a:r>
              <a:t>          "layer": "데이터 원천",</a:t>
            </a:r>
          </a:p>
          <a:p xmlns:a="http://schemas.openxmlformats.org/drawingml/2006/main">
            <a:r>
              <a:t>          "detail": "허용 문서",</a:t>
            </a:r>
          </a:p>
          <a:p xmlns:a="http://schemas.openxmlformats.org/drawingml/2006/main">
            <a:r>
              <a:t>          "requirements": [</a:t>
            </a:r>
          </a:p>
          <a:p xmlns:a="http://schemas.openxmlformats.org/drawingml/2006/main">
            <a:r>
              <a:t>            "Ⅰ.3 / 지식검색"</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"청킹·메타데이터",</a:t>
            </a:r>
          </a:p>
          <a:p xmlns:a="http://schemas.openxmlformats.org/drawingml/2006/main">
            <a:r>
              <a:t>          "layer": "준비·갱신",</a:t>
            </a:r>
          </a:p>
          <a:p xmlns:a="http://schemas.openxmlformats.org/drawingml/2006/main">
            <a:r>
              <a:t>          "detail": "사내 산출물 수집·청킹·메타데이터 부착",</a:t>
            </a:r>
          </a:p>
          <a:p xmlns:a="http://schemas.openxmlformats.org/drawingml/2006/main">
            <a:r>
              <a:t>          "requirements": [</a:t>
            </a:r>
          </a:p>
          <a:p xmlns:a="http://schemas.openxmlformats.org/drawingml/2006/main">
            <a:r>
              <a:t>            "Ⅰ.3 / 지식검색"</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"하이브리드 색인",</a:t>
            </a:r>
          </a:p>
          <a:p xmlns:a="http://schemas.openxmlformats.org/drawingml/2006/main">
            <a:r>
              <a:t>          "layer": "상태·지식 저장",</a:t>
            </a:r>
          </a:p>
          <a:p xmlns:a="http://schemas.openxmlformats.org/drawingml/2006/main">
            <a:r>
              <a:t>          "detail": "문서·청크별 접근시험과 근거·갱신 이력",</a:t>
            </a:r>
          </a:p>
          <a:p xmlns:a="http://schemas.openxmlformats.org/drawingml/2006/main">
            <a:r>
              <a:t>          "requirements": [</a:t>
            </a:r>
          </a:p>
          <a:p xmlns:a="http://schemas.openxmlformats.org/drawingml/2006/main">
            <a:r>
              <a:t>            "Ⅰ.3 / 지식검색"</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"암호문서·접근정책",</a:t>
            </a:r>
          </a:p>
          <a:p xmlns:a="http://schemas.openxmlformats.org/drawingml/2006/main">
            <a:r>
              <a:t>          "layer": "권한·정책",</a:t>
            </a:r>
          </a:p>
          <a:p xmlns:a="http://schemas.openxmlformats.org/drawingml/2006/main">
            <a:r>
              <a:t>          "detail": "암호문서·다른 부서 자료·메타데이터 누락",</a:t>
            </a:r>
          </a:p>
          <a:p xmlns:a="http://schemas.openxmlformats.org/drawingml/2006/main">
            <a:r>
              <a:t>          "requirements": [</a:t>
            </a:r>
          </a:p>
          <a:p xmlns:a="http://schemas.openxmlformats.org/drawingml/2006/main">
            <a:r>
              <a:t>            "Ⅰ.3 / 권한"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"SSO와 부서·암호문서 접근조건 연결",</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"자료·권한",</a:t>
            </a:r>
          </a:p>
          <a:p xmlns:a="http://schemas.openxmlformats.org/drawingml/2006/main">
            <a:r>
              <a:t>          "check": "사업·문서별 권한과 최신 판본 검증"</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"검색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"업무 초안",</a:t>
            </a:r>
          </a:p>
          <a:p xmlns:a="http://schemas.openxmlformats.org/drawingml/2006/main">
            <a:r>
              <a:t>          "check": "암호문서·다른 부서 자료·메타데이터 누락"</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"업무 초안",</a:t>
            </a:r>
          </a:p>
          <a:p xmlns:a="http://schemas.openxmlformats.org/drawingml/2006/main">
            <a:r>
              <a:t>          "check": "원문 근거·업무 초안을 부서별 검토자에게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 결과",</a:t>
            </a:r>
          </a:p>
          <a:p xmlns:a="http://schemas.openxmlformats.org/drawingml/2006/main">
            <a:r>
              <a:t>          "check": "문서·청크별 접근시험과 근거·갱신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"RFP Ⅰ.3 사업범위",</a:t>
            </a:r>
          </a:p>
          <a:p xmlns:a="http://schemas.openxmlformats.org/drawingml/2006/main">
            <a:r>
              <a:t>        "extracted": "메타데이터 자동 부착·동적 권한 필터·API 업무 에이전트",</a:t>
            </a:r>
          </a:p>
          <a:p xmlns:a="http://schemas.openxmlformats.org/drawingml/2006/main">
            <a:r>
              <a:t>        "extension": "해외사업별 문서 격리와 승인 후 도구 실행"</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"암호문서·다른 부서 자료·메타데이터 누락",</a:t>
            </a:r>
          </a:p>
          <a:p xmlns:a="http://schemas.openxmlformats.org/drawingml/2006/main">
            <a:r>
              <a:t>        "hold": "사업·문서별 권한과 최신 판본 검증",</a:t>
            </a:r>
          </a:p>
          <a:p xmlns:a="http://schemas.openxmlformats.org/drawingml/2006/main">
            <a:r>
              <a:t>        "recovery": "지식 갱신·응답 정확도·질의 유형의 지속 관측",</a:t>
            </a:r>
          </a:p>
          <a:p xmlns:a="http://schemas.openxmlformats.org/drawingml/2006/main">
            <a:r>
              <a:t>        "evidence": "문서·청크별 접근시험과 근거·갱신 이력"</a:t>
            </a:r>
          </a:p>
          <a:p xmlns:a="http://schemas.openxmlformats.org/drawingml/2006/main">
            <a:r>
              <a:t>      },</a:t>
            </a:r>
          </a:p>
          <a:p xmlns:a="http://schemas.openxmlformats.org/drawingml/2006/main">
            <a:r>
              <a:t>      "data": {</a:t>
            </a:r>
          </a:p>
          <a:p xmlns:a="http://schemas.openxmlformats.org/drawingml/2006/main">
            <a:r>
              <a:t>        "source": "허용 문서",</a:t>
            </a:r>
          </a:p>
          <a:p xmlns:a="http://schemas.openxmlformats.org/drawingml/2006/main">
            <a:r>
              <a:t>        "prepare": "사내 산출물 수집·청킹·메타데이터 부착",</a:t>
            </a:r>
          </a:p>
          <a:p xmlns:a="http://schemas.openxmlformats.org/drawingml/2006/main">
            <a:r>
              <a:t>        "output": "자료·권한",</a:t>
            </a:r>
          </a:p>
          <a:p xmlns:a="http://schemas.openxmlformats.org/drawingml/2006/main">
            <a:r>
              <a:t>        "refresh": "지식 갱신·응답 정확도·질의 유형의 지속 관측"</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"PF-A03",</a:t>
            </a:r>
          </a:p>
          <a:p xmlns:a="http://schemas.openxmlformats.org/drawingml/2006/main">
            <a:r>
              <a:t>    "success": [</a:t>
            </a:r>
          </a:p>
          <a:p xmlns:a="http://schemas.openxmlformats.org/drawingml/2006/main">
            <a:r>
              <a:t>      "권한별 자료와 공통 검색 구성",</a:t>
            </a:r>
          </a:p>
          <a:p xmlns:a="http://schemas.openxmlformats.org/drawingml/2006/main">
            <a:r>
              <a:t>      "업무 에이전트의 현업 검토"</a:t>
            </a:r>
          </a:p>
          <a:p xmlns:a="http://schemas.openxmlformats.org/drawingml/2006/main">
            <a:r>
              <a:t>    ],</a:t>
            </a:r>
          </a:p>
          <a:p xmlns:a="http://schemas.openxmlformats.org/drawingml/2006/main">
            <a:r>
              <a:t>    "risks": [</a:t>
            </a:r>
          </a:p>
          <a:p xmlns:a="http://schemas.openxmlformats.org/drawingml/2006/main">
            <a:r>
              <a:t>      "해외사업 문서별 접근 차이",</a:t>
            </a:r>
          </a:p>
          <a:p xmlns:a="http://schemas.openxmlformats.org/drawingml/2006/main">
            <a:r>
              <a:t>      "RFP와 운영 완료의 혼동"</a:t>
            </a:r>
          </a:p>
          <a:p xmlns:a="http://schemas.openxmlformats.org/drawingml/2006/main">
            <a:r>
              <a:t>    ],</a:t>
            </a:r>
          </a:p>
          <a:p xmlns:a="http://schemas.openxmlformats.org/drawingml/2006/main">
            <a:r>
              <a:t>    "architecture": [</a:t>
            </a:r>
          </a:p>
          <a:p xmlns:a="http://schemas.openxmlformats.org/drawingml/2006/main">
            <a:r>
              <a:t>      "기관 사용자",</a:t>
            </a:r>
          </a:p>
          <a:p xmlns:a="http://schemas.openxmlformats.org/drawingml/2006/main">
            <a:r>
              <a:t>      "RAG·업무 에이전트",</a:t>
            </a:r>
          </a:p>
          <a:p xmlns:a="http://schemas.openxmlformats.org/drawingml/2006/main">
            <a:r>
              <a:t>      "허용 문서",</a:t>
            </a:r>
          </a:p>
          <a:p xmlns:a="http://schemas.openxmlformats.org/drawingml/2006/main">
            <a:r>
              <a:t>      "현업 검토자"</a:t>
            </a:r>
          </a:p>
          <a:p xmlns:a="http://schemas.openxmlformats.org/drawingml/2006/main">
            <a:r>
              <a:t>    ],</a:t>
            </a:r>
          </a:p>
          <a:p xmlns:a="http://schemas.openxmlformats.org/drawingml/2006/main">
            <a:r>
              <a:t>    "transfers": [</a:t>
            </a:r>
          </a:p>
          <a:p xmlns:a="http://schemas.openxmlformats.org/drawingml/2006/main">
            <a:r>
              <a:t>      "자료·권한",</a:t>
            </a:r>
          </a:p>
          <a:p xmlns:a="http://schemas.openxmlformats.org/drawingml/2006/main">
            <a:r>
              <a:t>      "검색 근거",</a:t>
            </a:r>
          </a:p>
          <a:p xmlns:a="http://schemas.openxmlformats.org/drawingml/2006/main">
            <a:r>
              <a:t>      "업무 초안",</a:t>
            </a:r>
          </a:p>
          <a:p xmlns:a="http://schemas.openxmlformats.org/drawingml/2006/main">
            <a:r>
              <a:t>      "검토 결과"</a:t>
            </a:r>
          </a:p>
          <a:p xmlns:a="http://schemas.openxmlformats.org/drawingml/2006/main">
            <a:r>
              <a:t>    ],</a:t>
            </a:r>
          </a:p>
          <a:p xmlns:a="http://schemas.openxmlformats.org/drawingml/2006/main">
            <a:r>
              <a:t>    "control": "사업·문서별 권한과 최신 판본 검증",</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
            </a:r>
          </a:p>
          <a:p xmlns:a="http://schemas.openxmlformats.org/drawingml/2006/main">
            <a:r>
              <a:t>홈페이지 https://heen1987-ops.github.io/TS-business-Plan-001/index.html?view=platform-cases&amp;case=PF-A03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"PF-A03",</a:t>
            </a:r>
          </a:p>
          <a:p xmlns:a="http://schemas.openxmlformats.org/drawingml/2006/main">
            <a:r>
              <a:t>    "sourceId": "A03",</a:t>
            </a:r>
          </a:p>
          <a:p xmlns:a="http://schemas.openxmlformats.org/drawingml/2006/main">
            <a:r>
              <a:t>    "title": "KIND 생성형 AI",</a:t>
            </a:r>
          </a:p>
          <a:p xmlns:a="http://schemas.openxmlformats.org/drawingml/2006/main">
            <a:r>
              <a:t>    "region": "국내",</a:t>
            </a:r>
          </a:p>
          <a:p xmlns:a="http://schemas.openxmlformats.org/drawingml/2006/main">
            <a:r>
              <a:t>    "owner": "KIND / 대내 생성형 AI 서비스 구축",</a:t>
            </a:r>
          </a:p>
          <a:p xmlns:a="http://schemas.openxmlformats.org/drawingml/2006/main">
            <a:r>
              <a:t>    "state": "공식 RFP 확보 / 운영 성과 미확인",</a:t>
            </a:r>
          </a:p>
          <a:p xmlns:a="http://schemas.openxmlformats.org/drawingml/2006/main">
            <a:r>
              <a:t>    "period": "기존 원장 확인 2026.10.16",</a:t>
            </a:r>
          </a:p>
          <a:p xmlns:a="http://schemas.openxmlformats.org/drawingml/2006/main">
            <a:r>
              <a:t>    "fact": "사내 산출물의 RAG 검색·권한 필터와 내부 시스템 API 기반 업무 에이전트 구축 요구",</a:t>
            </a:r>
          </a:p>
          <a:p xmlns:a="http://schemas.openxmlformats.org/drawingml/2006/main">
            <a:r>
              <a:t>    "limit": "로컬 PUBLIC 원본 재사용 사례. 최신 계약·검수·운영 상황은 별도 확인 필요",</a:t>
            </a:r>
          </a:p>
          <a:p xmlns:a="http://schemas.openxmlformats.org/drawingml/2006/main">
            <a:r>
              <a:t>    "nodes": [</a:t>
            </a:r>
          </a:p>
          <a:p xmlns:a="http://schemas.openxmlformats.org/drawingml/2006/main">
            <a:r>
              <a:t>      "권한별 자료",</a:t>
            </a:r>
          </a:p>
          <a:p xmlns:a="http://schemas.openxmlformats.org/drawingml/2006/main">
            <a:r>
              <a:t>      "RAG·지식 갱신",</a:t>
            </a:r>
          </a:p>
          <a:p xmlns:a="http://schemas.openxmlformats.org/drawingml/2006/main">
            <a:r>
              <a:t>      "업무 에이전트",</a:t>
            </a:r>
          </a:p>
          <a:p xmlns:a="http://schemas.openxmlformats.org/drawingml/2006/main">
            <a:r>
              <a:t>      "현업 검토"</a:t>
            </a:r>
          </a:p>
          <a:p xmlns:a="http://schemas.openxmlformats.org/drawingml/2006/main">
            <a:r>
              <a:t>    ],</a:t>
            </a:r>
          </a:p>
          <a:p xmlns:a="http://schemas.openxmlformats.org/drawingml/2006/main">
            <a:r>
              <a:t>    "apply": "문서·청크의 업무 메타데이터와 검색 전 권한 필터를 함께 구성",</a:t>
            </a:r>
          </a:p>
          <a:p xmlns:a="http://schemas.openxmlformats.org/drawingml/2006/main">
            <a:r>
              <a:t>    "delta": "사업·문서·청크 메타데이터 / 동적 권한 필터 / 부서별 API 어댑터",</a:t>
            </a:r>
          </a:p>
          <a:p xmlns:a="http://schemas.openxmlformats.org/drawingml/2006/main">
            <a:r>
              <a:t>    "test": "암호문서·권한 회수·메타데이터 누락 상태에서 검색 결과와 원천 대사",</a:t>
            </a:r>
          </a:p>
          <a:p xmlns:a="http://schemas.openxmlformats.org/drawingml/2006/main">
            <a:r>
              <a:t>    "url": null,</a:t>
            </a:r>
          </a:p>
          <a:p xmlns:a="http://schemas.openxmlformats.org/drawingml/2006/main">
            <a:r>
              <a:t>    "urls": [],</a:t>
            </a:r>
          </a:p>
          <a:p xmlns:a="http://schemas.openxmlformats.org/drawingml/2006/main">
            <a:r>
              <a:t>    "basis": "P121~123 / 공통영역 요구 비교",</a:t>
            </a:r>
          </a:p>
          <a:p xmlns:a="http://schemas.openxmlformats.org/drawingml/2006/main">
            <a:r>
              <a:t>    "checked": "2026-10-16",</a:t>
            </a:r>
          </a:p>
          <a:p xmlns:a="http://schemas.openxmlformats.org/drawingml/2006/main">
            <a:r>
              <a:t>    "diagramBasis": "공개 요구사항 기반 설계 흐름 재구성 · 실제 구현·비공개 배치와 구분",</a:t>
            </a:r>
          </a:p>
          <a:p xmlns:a="http://schemas.openxmlformats.org/drawingml/2006/main">
            <a:r>
              <a:t>    "effect": "권한 오노출 / 근거 일치율 / 지식 갱신 지연",</a:t>
            </a:r>
          </a:p>
          <a:p xmlns:a="http://schemas.openxmlformats.org/drawingml/2006/main">
            <a:r>
              <a:t>    "group": "요구·구축",</a:t>
            </a:r>
          </a:p>
          <a:p xmlns:a="http://schemas.openxmlformats.org/drawingml/2006/main">
            <a:r>
              <a:t>    "sourceDetail": "RAG·권한 메타데이터·부서별 업무 지원·에이전트/API 연계·지식 갱신을 요구\n데이터 권한·운영 피드백을 공통체계로 정의",</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"PF-A03",</a:t>
            </a:r>
          </a:p>
          <a:p xmlns:a="http://schemas.openxmlformats.org/drawingml/2006/main">
            <a:r>
              <a:t>    "canonicalId": "PF-A03",</a:t>
            </a:r>
          </a:p>
          <a:p xmlns:a="http://schemas.openxmlformats.org/drawingml/2006/main">
            <a:r>
              <a:t>    "purpose": "해외 인프라 사업 지식의 공통 활용",</a:t>
            </a:r>
          </a:p>
          <a:p xmlns:a="http://schemas.openxmlformats.org/drawingml/2006/main">
            <a:r>
              <a:t>    "users": "사업부서·문서 담당·플랫폼 운영자",</a:t>
            </a:r>
          </a:p>
          <a:p xmlns:a="http://schemas.openxmlformats.org/drawingml/2006/main">
            <a:r>
              <a:t>    "scope": [</a:t>
            </a:r>
          </a:p>
          <a:p xmlns:a="http://schemas.openxmlformats.org/drawingml/2006/main">
            <a:r>
              <a:t>      "기관 RAG",</a:t>
            </a:r>
          </a:p>
          <a:p xmlns:a="http://schemas.openxmlformats.org/drawingml/2006/main">
            <a:r>
              <a:t>      "업무 에이전트",</a:t>
            </a:r>
          </a:p>
          <a:p xmlns:a="http://schemas.openxmlformats.org/drawingml/2006/main">
            <a:r>
              <a:t>      "데이터 거버넌스"</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"기관 사용자",</a:t>
            </a:r>
          </a:p>
          <a:p xmlns:a="http://schemas.openxmlformats.org/drawingml/2006/main">
            <a:r>
              <a:t>        "detail": "SSO와 부서·암호문서 접근조건 연결",</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"기관 RAG / 업무 에이전트 / 데이터 거버넌스",</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"RAG·업무 에이전트",</a:t>
            </a:r>
          </a:p>
          <a:p xmlns:a="http://schemas.openxmlformats.org/drawingml/2006/main">
            <a:r>
              <a:t>        "detail": "하이브리드 검색의 동적 권한 필터와 API 연계",</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"현업 검토자",</a:t>
            </a:r>
          </a:p>
          <a:p xmlns:a="http://schemas.openxmlformats.org/drawingml/2006/main">
            <a:r>
              <a:t>        "detail": "원문 근거·업무 초안을 부서별 검토자에게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"허용 문서",</a:t>
            </a:r>
          </a:p>
          <a:p xmlns:a="http://schemas.openxmlformats.org/drawingml/2006/main">
            <a:r>
              <a:t>        "detail": "사내 산출물 수집·청킹·메타데이터 부착",</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"지식 갱신·응답 정확도·질의 유형의 지속 관측",</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"권한별 자료",</a:t>
            </a:r>
          </a:p>
          <a:p xmlns:a="http://schemas.openxmlformats.org/drawingml/2006/main">
            <a:r>
              <a:t>        "input": "SSO와 부서·암호문서 접근조건 연결",</a:t>
            </a:r>
          </a:p>
          <a:p xmlns:a="http://schemas.openxmlformats.org/drawingml/2006/main">
            <a:r>
              <a:t>        "process": "사내 산출물 수집·청킹·메타데이터 부착",</a:t>
            </a:r>
          </a:p>
          <a:p xmlns:a="http://schemas.openxmlformats.org/drawingml/2006/main">
            <a:r>
              <a:t>        "output": "자료·권한"</a:t>
            </a:r>
          </a:p>
          <a:p xmlns:a="http://schemas.openxmlformats.org/drawingml/2006/main">
            <a:r>
              <a:t>      },</a:t>
            </a:r>
          </a:p>
          <a:p xmlns:a="http://schemas.openxmlformats.org/drawingml/2006/main">
            <a:r>
              <a:t>      {</a:t>
            </a:r>
          </a:p>
          <a:p xmlns:a="http://schemas.openxmlformats.org/drawingml/2006/main">
            <a:r>
              <a:t>        "title": "RAG·지식 갱신",</a:t>
            </a:r>
          </a:p>
          <a:p xmlns:a="http://schemas.openxmlformats.org/drawingml/2006/main">
            <a:r>
              <a:t>        "input": "자료·권한",</a:t>
            </a:r>
          </a:p>
          <a:p xmlns:a="http://schemas.openxmlformats.org/drawingml/2006/main">
            <a:r>
              <a:t>        "process": "하이브리드 검색의 동적 권한 필터와 API 연계",</a:t>
            </a:r>
          </a:p>
          <a:p xmlns:a="http://schemas.openxmlformats.org/drawingml/2006/main">
            <a:r>
              <a:t>        "output": "검색 근거"</a:t>
            </a:r>
          </a:p>
          <a:p xmlns:a="http://schemas.openxmlformats.org/drawingml/2006/main">
            <a:r>
              <a:t>      },</a:t>
            </a:r>
          </a:p>
          <a:p xmlns:a="http://schemas.openxmlformats.org/drawingml/2006/main">
            <a:r>
              <a:t>      {</a:t>
            </a:r>
          </a:p>
          <a:p xmlns:a="http://schemas.openxmlformats.org/drawingml/2006/main">
            <a:r>
              <a:t>        "title": "업무 에이전트",</a:t>
            </a:r>
          </a:p>
          <a:p xmlns:a="http://schemas.openxmlformats.org/drawingml/2006/main">
            <a:r>
              <a:t>        "input": "검색 근거",</a:t>
            </a:r>
          </a:p>
          <a:p xmlns:a="http://schemas.openxmlformats.org/drawingml/2006/main">
            <a:r>
              <a:t>        "process": "사업·문서별 권한과 최신 판본 검증",</a:t>
            </a:r>
          </a:p>
          <a:p xmlns:a="http://schemas.openxmlformats.org/drawingml/2006/main">
            <a:r>
              <a:t>        "output": "업무 초안"</a:t>
            </a:r>
          </a:p>
          <a:p xmlns:a="http://schemas.openxmlformats.org/drawingml/2006/main">
            <a:r>
              <a:t>      },</a:t>
            </a:r>
          </a:p>
          <a:p xmlns:a="http://schemas.openxmlformats.org/drawingml/2006/main">
            <a:r>
              <a:t>      {</a:t>
            </a:r>
          </a:p>
          <a:p xmlns:a="http://schemas.openxmlformats.org/drawingml/2006/main">
            <a:r>
              <a:t>        "title": "현업 검토",</a:t>
            </a:r>
          </a:p>
          <a:p xmlns:a="http://schemas.openxmlformats.org/drawingml/2006/main">
            <a:r>
              <a:t>        "input": "업무 초안",</a:t>
            </a:r>
          </a:p>
          <a:p xmlns:a="http://schemas.openxmlformats.org/drawingml/2006/main">
            <a:r>
              <a:t>        "process": "원문 근거·업무 초안을 부서별 검토자에게 제공",</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"사업 문서 질의에서 권한 내 근거를 찾고 업무 초안 생성",</a:t>
            </a:r>
          </a:p>
          <a:p xmlns:a="http://schemas.openxmlformats.org/drawingml/2006/main">
            <a:r>
              <a:t>      "exception": "암호문서·다른 부서 자료·메타데이터 누락",</a:t>
            </a:r>
          </a:p>
          <a:p xmlns:a="http://schemas.openxmlformats.org/drawingml/2006/main">
            <a:r>
              <a:t>      "evidence": "문서·청크별 접근시험과 근거·갱신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"사업부서·문서 담당·플랫폼 운영자",</a:t>
            </a:r>
          </a:p>
          <a:p xmlns:a="http://schemas.openxmlformats.org/drawingml/2006/main">
            <a:r>
              <a:t>          "processing": "SSO와 부서·암호문서 접근조건 연결",</a:t>
            </a:r>
          </a:p>
          <a:p xmlns:a="http://schemas.openxmlformats.org/drawingml/2006/main">
            <a:r>
              <a:t>          "output": "자료·권한"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"허용 문서",</a:t>
            </a:r>
          </a:p>
          <a:p xmlns:a="http://schemas.openxmlformats.org/drawingml/2006/main">
            <a:r>
              <a:t>          "processing": "사내 산출물 수집·청킹·메타데이터 부착",</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"자료·권한",</a:t>
            </a:r>
          </a:p>
          <a:p xmlns:a="http://schemas.openxmlformats.org/drawingml/2006/main">
            <a:r>
              <a:t>          "processing": "하이브리드 검색의 동적 권한 필터와 API 연계",</a:t>
            </a:r>
          </a:p>
          <a:p xmlns:a="http://schemas.openxmlformats.org/drawingml/2006/main">
            <a:r>
              <a:t>          "output": "업무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"업무 초안",</a:t>
            </a:r>
          </a:p>
          <a:p xmlns:a="http://schemas.openxmlformats.org/drawingml/2006/main">
            <a:r>
              <a:t>          "processing": "원문 근거·업무 초안을 부서별 검토자에게 제공",</a:t>
            </a:r>
          </a:p>
          <a:p xmlns:a="http://schemas.openxmlformats.org/drawingml/2006/main">
            <a:r>
              <a:t>          "output": "검토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"지식 갱신·응답 정확도·질의 유형의 지속 관측",</a:t>
            </a:r>
          </a:p>
          <a:p xmlns:a="http://schemas.openxmlformats.org/drawingml/2006/main">
            <a:r>
              <a:t>          "output": "문서·청크별 접근시험과 근거·갱신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"지식 갱신·응답 정확도·질의 유형의 지속 관측",</a:t>
            </a:r>
          </a:p>
          <a:p xmlns:a="http://schemas.openxmlformats.org/drawingml/2006/main">
            <a:r>
              <a:t>    "status": "RFP 기반 논리 설계",</a:t>
            </a:r>
          </a:p>
          <a:p xmlns:a="http://schemas.openxmlformats.org/drawingml/2006/main">
            <a:r>
              <a:t>    "basis": "대내 생성형 AI 서비스 구축 RFP · Ⅰ.3 사업범위·메타데이터 및 동적 권한 필터",</a:t>
            </a:r>
          </a:p>
          <a:p xmlns:a="http://schemas.openxmlformats.org/drawingml/2006/main">
            <a:r>
              <a:t>    "rfp": true,</a:t>
            </a:r>
          </a:p>
          <a:p xmlns:a="http://schemas.openxmlformats.org/drawingml/2006/main">
            <a:r>
              <a:t>    "sources": [],</a:t>
            </a:r>
          </a:p>
          <a:p xmlns:a="http://schemas.openxmlformats.org/drawingml/2006/main">
            <a:r>
              <a:t>    "implication": "문서·청크의 업무 메타데이터와 검색 전 권한 필터를 함께 구성",</a:t>
            </a:r>
          </a:p>
          <a:p xmlns:a="http://schemas.openxmlformats.org/drawingml/2006/main">
            <a:r>
              <a:t>    "local": "문서·청크의 업무 메타데이터와 검색 전 권한 필터를 함께 구성",</a:t>
            </a:r>
          </a:p>
          <a:p xmlns:a="http://schemas.openxmlformats.org/drawingml/2006/main">
            <a:r>
              <a:t>    "sourceDetail": "RAG·권한 메타데이터·부서별 업무 지원·에이전트/API 연계·지식 갱신을 요구\n데이터 권한·운영 피드백을 공통체계로 정의",</a:t>
            </a:r>
          </a:p>
          <a:p xmlns:a="http://schemas.openxmlformats.org/drawingml/2006/main">
            <a:r>
              <a:t>    "narrative": [</a:t>
            </a:r>
          </a:p>
          <a:p xmlns:a="http://schemas.openxmlformats.org/drawingml/2006/main">
            <a:r>
              <a:t>      "해외 인프라 사업 산출물의 검색과 업무별 에이전트 활용을 기관 공통 서비스로 구성하는 요구. 사업·부서마다 보유 문서와 접근조건이 달라 문서 수집 단계부터 소유·권한·업무 문맥을 연결해야 하는 유형.",</a:t>
            </a:r>
          </a:p>
          <a:p xmlns:a="http://schemas.openxmlformats.org/drawingml/2006/main">
            <a:r>
              <a:t>      "RFP 사업범위의 핵심은 문서 메타데이터 자동 부착, 청킹, 하이브리드 검색의 동적 권한 필터, API 기반 업무 에이전트. 검색 결과를 나중에 가리는 방식보다 검색 후보를 구성할 때 허용 자료만 전달하는 설계가 주요 비교 지점.",</a:t>
            </a:r>
          </a:p>
          <a:p xmlns:a="http://schemas.openxmlformats.org/drawingml/2006/main">
            <a:r>
              <a:t>      "CCK에서는 기관 공통 RAG를 재사용하면서 공식 조직·사업 ID와 문서 권한을 추가 연결하는 범위로 구체화. 전보·겸직·사업 종료·문서 회수에 따른 색인과 캐시의 갱신, API 도구별 실행권한을 별도 검수할 필요."</a:t>
            </a:r>
          </a:p>
          <a:p xmlns:a="http://schemas.openxmlformats.org/drawingml/2006/main">
            <a:r>
              <a:t>    ],</a:t>
            </a:r>
          </a:p>
          <a:p xmlns:a="http://schemas.openxmlformats.org/drawingml/2006/main">
            <a:r>
              <a:t>    "requirements": [</a:t>
            </a:r>
          </a:p>
          <a:p xmlns:a="http://schemas.openxmlformats.org/drawingml/2006/main">
            <a:r>
              <a:t>      {</a:t>
            </a:r>
          </a:p>
          <a:p xmlns:a="http://schemas.openxmlformats.org/drawingml/2006/main">
            <a:r>
              <a:t>        "id": "Ⅰ.3 / 지식검색",</a:t>
            </a:r>
          </a:p>
          <a:p xmlns:a="http://schemas.openxmlformats.org/drawingml/2006/main">
            <a:r>
              <a:t>        "title": "사내 산출물 기반 RAG",</a:t>
            </a:r>
          </a:p>
          <a:p xmlns:a="http://schemas.openxmlformats.org/drawingml/2006/main">
            <a:r>
              <a:t>        "locator": "Ⅰ.3 사업범위",</a:t>
            </a:r>
          </a:p>
          <a:p xmlns:a="http://schemas.openxmlformats.org/drawingml/2006/main">
            <a:r>
              <a:t>        "summary": "내부 산출물의 수집·정제·메타데이터와 검색 증강 기반 질의응답 구성.",</a:t>
            </a:r>
          </a:p>
          <a:p xmlns:a="http://schemas.openxmlformats.org/drawingml/2006/main">
            <a:r>
              <a:t>        "data": "내부 문서·질의 → 근거가 연결된 답변",</a:t>
            </a:r>
          </a:p>
          <a:p xmlns:a="http://schemas.openxmlformats.org/drawingml/2006/main">
            <a:r>
              <a:t>        "components": [</a:t>
            </a:r>
          </a:p>
          <a:p xmlns:a="http://schemas.openxmlformats.org/drawingml/2006/main">
            <a:r>
              <a:t>          "C03",</a:t>
            </a:r>
          </a:p>
          <a:p xmlns:a="http://schemas.openxmlformats.org/drawingml/2006/main">
            <a:r>
              <a:t>          "C09",</a:t>
            </a:r>
          </a:p>
          <a:p xmlns:a="http://schemas.openxmlformats.org/drawingml/2006/main">
            <a:r>
              <a:t>          "C10",</a:t>
            </a:r>
          </a:p>
          <a:p xmlns:a="http://schemas.openxmlformats.org/drawingml/2006/main">
            <a:r>
              <a:t>          "C11"</a:t>
            </a:r>
          </a:p>
          <a:p xmlns:a="http://schemas.openxmlformats.org/drawingml/2006/main">
            <a:r>
              <a:t>        ],</a:t>
            </a:r>
          </a:p>
          <a:p xmlns:a="http://schemas.openxmlformats.org/drawingml/2006/main">
            <a:r>
              <a:t>        "acceptance": "문서 개정·삭제·다른 업무 자료 혼재 시 원문·판본·인용 위치 대사",</a:t>
            </a:r>
          </a:p>
          <a:p xmlns:a="http://schemas.openxmlformats.org/drawingml/2006/main">
            <a:r>
              <a:t>        "basis": "RFP 사업범위 요약 · 항목명은 분석용 구분",</a:t>
            </a:r>
          </a:p>
          <a:p xmlns:a="http://schemas.openxmlformats.org/drawingml/2006/main">
            <a:r>
              <a:t>        "testBasis": "CCK 비교·검수 설계"</a:t>
            </a:r>
          </a:p>
          <a:p xmlns:a="http://schemas.openxmlformats.org/drawingml/2006/main">
            <a:r>
              <a:t>      },</a:t>
            </a:r>
          </a:p>
          <a:p xmlns:a="http://schemas.openxmlformats.org/drawingml/2006/main">
            <a:r>
              <a:t>      {</a:t>
            </a:r>
          </a:p>
          <a:p xmlns:a="http://schemas.openxmlformats.org/drawingml/2006/main">
            <a:r>
              <a:t>        "id": "Ⅰ.3 / 권한",</a:t>
            </a:r>
          </a:p>
          <a:p xmlns:a="http://schemas.openxmlformats.org/drawingml/2006/main">
            <a:r>
              <a:t>        "title": "메타데이터·동적 권한 필터",</a:t>
            </a:r>
          </a:p>
          <a:p xmlns:a="http://schemas.openxmlformats.org/drawingml/2006/main">
            <a:r>
              <a:t>        "locator": "Ⅰ.3 사업범위",</a:t>
            </a:r>
          </a:p>
          <a:p xmlns:a="http://schemas.openxmlformats.org/drawingml/2006/main">
            <a:r>
              <a:t>        "summary": "문서 메타데이터와 사용자 권한을 이용해 검색·응답 대상을 제한하는 요구.",</a:t>
            </a:r>
          </a:p>
          <a:p xmlns:a="http://schemas.openxmlformats.org/drawingml/2006/main">
            <a:r>
              <a:t>        "data": "사용자·권한·문서 속성 → 허용 자료 범위",</a:t>
            </a:r>
          </a:p>
          <a:p xmlns:a="http://schemas.openxmlformats.org/drawingml/2006/main">
            <a:r>
              <a:t>        "components": [</a:t>
            </a:r>
          </a:p>
          <a:p xmlns:a="http://schemas.openxmlformats.org/drawingml/2006/main">
            <a:r>
              <a:t>          "C02",</a:t>
            </a:r>
          </a:p>
          <a:p xmlns:a="http://schemas.openxmlformats.org/drawingml/2006/main">
            <a:r>
              <a:t>          "C03",</a:t>
            </a:r>
          </a:p>
          <a:p xmlns:a="http://schemas.openxmlformats.org/drawingml/2006/main">
            <a:r>
              <a:t>          "C12"</a:t>
            </a:r>
          </a:p>
          <a:p xmlns:a="http://schemas.openxmlformats.org/drawingml/2006/main">
            <a:r>
              <a:t>        ],</a:t>
            </a:r>
          </a:p>
          <a:p xmlns:a="http://schemas.openxmlformats.org/drawingml/2006/main">
            <a:r>
              <a:t>        "acceptance": "전보·공유 해제·권한 회수 직후 검색 후보와 답변 인용에서 비허용 자료 제외 확인",</a:t>
            </a:r>
          </a:p>
          <a:p xmlns:a="http://schemas.openxmlformats.org/drawingml/2006/main">
            <a:r>
              <a:t>        "basis": "RFP 사업범위 요약 · 항목명은 분석용 구분",</a:t>
            </a:r>
          </a:p>
          <a:p xmlns:a="http://schemas.openxmlformats.org/drawingml/2006/main">
            <a:r>
              <a:t>        "testBasis": "CCK 비교·검수 설계"</a:t>
            </a:r>
          </a:p>
          <a:p xmlns:a="http://schemas.openxmlformats.org/drawingml/2006/main">
            <a:r>
              <a:t>      },</a:t>
            </a:r>
          </a:p>
          <a:p xmlns:a="http://schemas.openxmlformats.org/drawingml/2006/main">
            <a:r>
              <a:t>      {</a:t>
            </a:r>
          </a:p>
          <a:p xmlns:a="http://schemas.openxmlformats.org/drawingml/2006/main">
            <a:r>
              <a:t>        "id": "Ⅰ.3 / 업무연계",</a:t>
            </a:r>
          </a:p>
          <a:p xmlns:a="http://schemas.openxmlformats.org/drawingml/2006/main">
            <a:r>
              <a:t>        "title": "내부 API 기반 업무 에이전트",</a:t>
            </a:r>
          </a:p>
          <a:p xmlns:a="http://schemas.openxmlformats.org/drawingml/2006/main">
            <a:r>
              <a:t>        "locator": "Ⅰ.3 사업범위",</a:t>
            </a:r>
          </a:p>
          <a:p xmlns:a="http://schemas.openxmlformats.org/drawingml/2006/main">
            <a:r>
              <a:t>        "summary": "내부 업무시스템의 API를 활용해 요청을 처리하는 업무 에이전트 구성.",</a:t>
            </a:r>
          </a:p>
          <a:p xmlns:a="http://schemas.openxmlformats.org/drawingml/2006/main">
            <a:r>
              <a:t>        "data": "업무 요청·연계 인자 → 시스템 결과·처리 상태",</a:t>
            </a:r>
          </a:p>
          <a:p xmlns:a="http://schemas.openxmlformats.org/drawingml/2006/main">
            <a:r>
              <a:t>        "components": [</a:t>
            </a:r>
          </a:p>
          <a:p xmlns:a="http://schemas.openxmlformats.org/drawingml/2006/main">
            <a:r>
              <a:t>          "C04",</a:t>
            </a:r>
          </a:p>
          <a:p xmlns:a="http://schemas.openxmlformats.org/drawingml/2006/main">
            <a:r>
              <a:t>          "C06",</a:t>
            </a:r>
          </a:p>
          <a:p xmlns:a="http://schemas.openxmlformats.org/drawingml/2006/main">
            <a:r>
              <a:t>          "C07"</a:t>
            </a:r>
          </a:p>
          <a:p xmlns:a="http://schemas.openxmlformats.org/drawingml/2006/main">
            <a:r>
              <a:t>        ],</a:t>
            </a:r>
          </a:p>
          <a:p xmlns:a="http://schemas.openxmlformats.org/drawingml/2006/main">
            <a:r>
              <a:t>        "acceptance": "권한 없는 실행·필수값 누락·중복 호출·부분 실패의 보류 및 처리 결과 대사",</a:t>
            </a:r>
          </a:p>
          <a:p xmlns:a="http://schemas.openxmlformats.org/drawingml/2006/main">
            <a:r>
              <a:t>        "basis": "RFP 사업범위 요약 · 항목명은 분석용 구분",</a:t>
            </a:r>
          </a:p>
          <a:p xmlns:a="http://schemas.openxmlformats.org/drawingml/2006/main">
            <a:r>
              <a:t>        "testBasis": "CCK 비교·검수 설계"</a:t>
            </a:r>
          </a:p>
          <a:p xmlns:a="http://schemas.openxmlformats.org/drawingml/2006/main">
            <a:r>
              <a:t>      }</a:t>
            </a:r>
          </a:p>
          <a:p xmlns:a="http://schemas.openxmlformats.org/drawingml/2006/main">
            <a:r>
              <a:t>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"기관 사용자 접점",</a:t>
            </a:r>
          </a:p>
          <a:p xmlns:a="http://schemas.openxmlformats.org/drawingml/2006/main">
            <a:r>
              <a:t>          "layer": "이용 접점",</a:t>
            </a:r>
          </a:p>
          <a:p xmlns:a="http://schemas.openxmlformats.org/drawingml/2006/main">
            <a:r>
              <a:t>          "detail": "사업부서·문서 담당·플랫폼 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"SSO·부서·문서",</a:t>
            </a:r>
          </a:p>
          <a:p xmlns:a="http://schemas.openxmlformats.org/drawingml/2006/main">
            <a:r>
              <a:t>          "layer": "업무 문맥",</a:t>
            </a:r>
          </a:p>
          <a:p xmlns:a="http://schemas.openxmlformats.org/drawingml/2006/main">
            <a:r>
              <a:t>          "detail": "SSO와 부서·암호문서 접근조건 연결",</a:t>
            </a:r>
          </a:p>
          <a:p xmlns:a="http://schemas.openxmlformats.org/drawingml/2006/main">
            <a:r>
              <a:t>          "requirements": [</a:t>
            </a:r>
          </a:p>
          <a:p xmlns:a="http://schemas.openxmlformats.org/drawingml/2006/main">
            <a:r>
              <a:t>            "Ⅰ.3 / 권한"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"동적 권한 검색",</a:t>
            </a:r>
          </a:p>
          <a:p xmlns:a="http://schemas.openxmlformats.org/drawingml/2006/main">
            <a:r>
              <a:t>          "layer": "자료 조회",</a:t>
            </a:r>
          </a:p>
          <a:p xmlns:a="http://schemas.openxmlformats.org/drawingml/2006/main">
            <a:r>
              <a:t>          "detail": "자료·권한",</a:t>
            </a:r>
          </a:p>
          <a:p xmlns:a="http://schemas.openxmlformats.org/drawingml/2006/main">
            <a:r>
              <a:t>          "requirements": [</a:t>
            </a:r>
          </a:p>
          <a:p xmlns:a="http://schemas.openxmlformats.org/drawingml/2006/main">
            <a:r>
              <a:t>            "Ⅰ.3 / 지식검색",</a:t>
            </a:r>
          </a:p>
          <a:p xmlns:a="http://schemas.openxmlformats.org/drawingml/2006/main">
            <a:r>
              <a:t>            "Ⅰ.3 / 권한"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"RAG·API 에이전트",</a:t>
            </a:r>
          </a:p>
          <a:p xmlns:a="http://schemas.openxmlformats.org/drawingml/2006/main">
            <a:r>
              <a:t>          "layer": "핵심 처리",</a:t>
            </a:r>
          </a:p>
          <a:p xmlns:a="http://schemas.openxmlformats.org/drawingml/2006/main">
            <a:r>
              <a:t>          "detail": "하이브리드 검색의 동적 권한 필터와 API 연계",</a:t>
            </a:r>
          </a:p>
          <a:p xmlns:a="http://schemas.openxmlformats.org/drawingml/2006/main">
            <a:r>
              <a:t>          "requirements": [</a:t>
            </a:r>
          </a:p>
          <a:p xmlns:a="http://schemas.openxmlformats.org/drawingml/2006/main">
            <a:r>
              <a:t>            "Ⅰ.3 / 업무연계"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"원문·도구 결과 대조",</a:t>
            </a:r>
          </a:p>
          <a:p xmlns:a="http://schemas.openxmlformats.org/drawingml/2006/main">
            <a:r>
              <a:t>          "layer": "결과 검증",</a:t>
            </a:r>
          </a:p>
          <a:p xmlns:a="http://schemas.openxmlformats.org/drawingml/2006/main">
            <a:r>
              <a:t>          "detail": "사업·문서별 권한과 최신 판본 검증",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"사업부서 검토",</a:t>
            </a:r>
          </a:p>
          <a:p xmlns:a="http://schemas.openxmlformats.org/drawingml/2006/main">
            <a:r>
              <a:t>          "layer": "사람 확인",</a:t>
            </a:r>
          </a:p>
          <a:p xmlns:a="http://schemas.openxmlformats.org/drawingml/2006/main">
            <a:r>
              <a:t>          "detail": "사업 문서 질의에서 권한 내 근거를 찾고 업무 초안 생성",</a:t>
            </a:r>
          </a:p>
          <a:p xmlns:a="http://schemas.openxmlformats.org/drawingml/2006/main">
            <a:r>
              <a:t>          "requirements": [</a:t>
            </a:r>
          </a:p>
          <a:p xmlns:a="http://schemas.openxmlformats.org/drawingml/2006/main">
            <a:r>
              <a:t>            "Ⅰ.3 / 업무연계"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"해외사업 업무 초안",</a:t>
            </a:r>
          </a:p>
          <a:p xmlns:a="http://schemas.openxmlformats.org/drawingml/2006/main">
            <a:r>
              <a:t>          "layer": "업무 연결",</a:t>
            </a:r>
          </a:p>
          <a:p xmlns:a="http://schemas.openxmlformats.org/drawingml/2006/main">
            <a:r>
              <a:t>          "detail": "원문 근거·업무 초안을 부서별 검토자에게 제공",</a:t>
            </a:r>
          </a:p>
          <a:p xmlns:a="http://schemas.openxmlformats.org/drawingml/2006/main">
            <a:r>
              <a:t>          "requirements": [</a:t>
            </a:r>
          </a:p>
          <a:p xmlns:a="http://schemas.openxmlformats.org/drawingml/2006/main">
            <a:r>
              <a:t>            "Ⅰ.3 / 업무연계"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"지식·품질 갱신",</a:t>
            </a:r>
          </a:p>
          <a:p xmlns:a="http://schemas.openxmlformats.org/drawingml/2006/main">
            <a:r>
              <a:t>          "layer": "운영 관측",</a:t>
            </a:r>
          </a:p>
          <a:p xmlns:a="http://schemas.openxmlformats.org/drawingml/2006/main">
            <a:r>
              <a:t>          "detail": "지식 갱신·응답 정확도·질의 유형의 지속 관측",</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"사내 사업 산출물",</a:t>
            </a:r>
          </a:p>
          <a:p xmlns:a="http://schemas.openxmlformats.org/drawingml/2006/main">
            <a:r>
              <a:t>          "layer": "데이터 원천",</a:t>
            </a:r>
          </a:p>
          <a:p xmlns:a="http://schemas.openxmlformats.org/drawingml/2006/main">
            <a:r>
              <a:t>          "detail": "허용 문서",</a:t>
            </a:r>
          </a:p>
          <a:p xmlns:a="http://schemas.openxmlformats.org/drawingml/2006/main">
            <a:r>
              <a:t>          "requirements": [</a:t>
            </a:r>
          </a:p>
          <a:p xmlns:a="http://schemas.openxmlformats.org/drawingml/2006/main">
            <a:r>
              <a:t>            "Ⅰ.3 / 지식검색"</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"청킹·메타데이터",</a:t>
            </a:r>
          </a:p>
          <a:p xmlns:a="http://schemas.openxmlformats.org/drawingml/2006/main">
            <a:r>
              <a:t>          "layer": "준비·갱신",</a:t>
            </a:r>
          </a:p>
          <a:p xmlns:a="http://schemas.openxmlformats.org/drawingml/2006/main">
            <a:r>
              <a:t>          "detail": "사내 산출물 수집·청킹·메타데이터 부착",</a:t>
            </a:r>
          </a:p>
          <a:p xmlns:a="http://schemas.openxmlformats.org/drawingml/2006/main">
            <a:r>
              <a:t>          "requirements": [</a:t>
            </a:r>
          </a:p>
          <a:p xmlns:a="http://schemas.openxmlformats.org/drawingml/2006/main">
            <a:r>
              <a:t>            "Ⅰ.3 / 지식검색"</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"하이브리드 색인",</a:t>
            </a:r>
          </a:p>
          <a:p xmlns:a="http://schemas.openxmlformats.org/drawingml/2006/main">
            <a:r>
              <a:t>          "layer": "상태·지식 저장",</a:t>
            </a:r>
          </a:p>
          <a:p xmlns:a="http://schemas.openxmlformats.org/drawingml/2006/main">
            <a:r>
              <a:t>          "detail": "문서·청크별 접근시험과 근거·갱신 이력",</a:t>
            </a:r>
          </a:p>
          <a:p xmlns:a="http://schemas.openxmlformats.org/drawingml/2006/main">
            <a:r>
              <a:t>          "requirements": [</a:t>
            </a:r>
          </a:p>
          <a:p xmlns:a="http://schemas.openxmlformats.org/drawingml/2006/main">
            <a:r>
              <a:t>            "Ⅰ.3 / 지식검색"</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"암호문서·접근정책",</a:t>
            </a:r>
          </a:p>
          <a:p xmlns:a="http://schemas.openxmlformats.org/drawingml/2006/main">
            <a:r>
              <a:t>          "layer": "권한·정책",</a:t>
            </a:r>
          </a:p>
          <a:p xmlns:a="http://schemas.openxmlformats.org/drawingml/2006/main">
            <a:r>
              <a:t>          "detail": "암호문서·다른 부서 자료·메타데이터 누락",</a:t>
            </a:r>
          </a:p>
          <a:p xmlns:a="http://schemas.openxmlformats.org/drawingml/2006/main">
            <a:r>
              <a:t>          "requirements": [</a:t>
            </a:r>
          </a:p>
          <a:p xmlns:a="http://schemas.openxmlformats.org/drawingml/2006/main">
            <a:r>
              <a:t>            "Ⅰ.3 / 권한"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"SSO와 부서·암호문서 접근조건 연결",</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"자료·권한",</a:t>
            </a:r>
          </a:p>
          <a:p xmlns:a="http://schemas.openxmlformats.org/drawingml/2006/main">
            <a:r>
              <a:t>          "check": "사업·문서별 권한과 최신 판본 검증"</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"검색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"업무 초안",</a:t>
            </a:r>
          </a:p>
          <a:p xmlns:a="http://schemas.openxmlformats.org/drawingml/2006/main">
            <a:r>
              <a:t>          "check": "암호문서·다른 부서 자료·메타데이터 누락"</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"업무 초안",</a:t>
            </a:r>
          </a:p>
          <a:p xmlns:a="http://schemas.openxmlformats.org/drawingml/2006/main">
            <a:r>
              <a:t>          "check": "원문 근거·업무 초안을 부서별 검토자에게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 결과",</a:t>
            </a:r>
          </a:p>
          <a:p xmlns:a="http://schemas.openxmlformats.org/drawingml/2006/main">
            <a:r>
              <a:t>          "check": "문서·청크별 접근시험과 근거·갱신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"RFP Ⅰ.3 사업범위",</a:t>
            </a:r>
          </a:p>
          <a:p xmlns:a="http://schemas.openxmlformats.org/drawingml/2006/main">
            <a:r>
              <a:t>        "extracted": "메타데이터 자동 부착·동적 권한 필터·API 업무 에이전트",</a:t>
            </a:r>
          </a:p>
          <a:p xmlns:a="http://schemas.openxmlformats.org/drawingml/2006/main">
            <a:r>
              <a:t>        "extension": "해외사업별 문서 격리와 승인 후 도구 실행"</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"암호문서·다른 부서 자료·메타데이터 누락",</a:t>
            </a:r>
          </a:p>
          <a:p xmlns:a="http://schemas.openxmlformats.org/drawingml/2006/main">
            <a:r>
              <a:t>        "hold": "사업·문서별 권한과 최신 판본 검증",</a:t>
            </a:r>
          </a:p>
          <a:p xmlns:a="http://schemas.openxmlformats.org/drawingml/2006/main">
            <a:r>
              <a:t>        "recovery": "지식 갱신·응답 정확도·질의 유형의 지속 관측",</a:t>
            </a:r>
          </a:p>
          <a:p xmlns:a="http://schemas.openxmlformats.org/drawingml/2006/main">
            <a:r>
              <a:t>        "evidence": "문서·청크별 접근시험과 근거·갱신 이력"</a:t>
            </a:r>
          </a:p>
          <a:p xmlns:a="http://schemas.openxmlformats.org/drawingml/2006/main">
            <a:r>
              <a:t>      },</a:t>
            </a:r>
          </a:p>
          <a:p xmlns:a="http://schemas.openxmlformats.org/drawingml/2006/main">
            <a:r>
              <a:t>      "data": {</a:t>
            </a:r>
          </a:p>
          <a:p xmlns:a="http://schemas.openxmlformats.org/drawingml/2006/main">
            <a:r>
              <a:t>        "source": "허용 문서",</a:t>
            </a:r>
          </a:p>
          <a:p xmlns:a="http://schemas.openxmlformats.org/drawingml/2006/main">
            <a:r>
              <a:t>        "prepare": "사내 산출물 수집·청킹·메타데이터 부착",</a:t>
            </a:r>
          </a:p>
          <a:p xmlns:a="http://schemas.openxmlformats.org/drawingml/2006/main">
            <a:r>
              <a:t>        "output": "자료·권한",</a:t>
            </a:r>
          </a:p>
          <a:p xmlns:a="http://schemas.openxmlformats.org/drawingml/2006/main">
            <a:r>
              <a:t>        "refresh": "지식 갱신·응답 정확도·질의 유형의 지속 관측"</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"PF-A03",</a:t>
            </a:r>
          </a:p>
          <a:p xmlns:a="http://schemas.openxmlformats.org/drawingml/2006/main">
            <a:r>
              <a:t>    "success": [</a:t>
            </a:r>
          </a:p>
          <a:p xmlns:a="http://schemas.openxmlformats.org/drawingml/2006/main">
            <a:r>
              <a:t>      "권한별 자료와 공통 검색 구성",</a:t>
            </a:r>
          </a:p>
          <a:p xmlns:a="http://schemas.openxmlformats.org/drawingml/2006/main">
            <a:r>
              <a:t>      "업무 에이전트의 현업 검토"</a:t>
            </a:r>
          </a:p>
          <a:p xmlns:a="http://schemas.openxmlformats.org/drawingml/2006/main">
            <a:r>
              <a:t>    ],</a:t>
            </a:r>
          </a:p>
          <a:p xmlns:a="http://schemas.openxmlformats.org/drawingml/2006/main">
            <a:r>
              <a:t>    "risks": [</a:t>
            </a:r>
          </a:p>
          <a:p xmlns:a="http://schemas.openxmlformats.org/drawingml/2006/main">
            <a:r>
              <a:t>      "해외사업 문서별 접근 차이",</a:t>
            </a:r>
          </a:p>
          <a:p xmlns:a="http://schemas.openxmlformats.org/drawingml/2006/main">
            <a:r>
              <a:t>      "RFP와 운영 완료의 혼동"</a:t>
            </a:r>
          </a:p>
          <a:p xmlns:a="http://schemas.openxmlformats.org/drawingml/2006/main">
            <a:r>
              <a:t>    ],</a:t>
            </a:r>
          </a:p>
          <a:p xmlns:a="http://schemas.openxmlformats.org/drawingml/2006/main">
            <a:r>
              <a:t>    "architecture": [</a:t>
            </a:r>
          </a:p>
          <a:p xmlns:a="http://schemas.openxmlformats.org/drawingml/2006/main">
            <a:r>
              <a:t>      "기관 사용자",</a:t>
            </a:r>
          </a:p>
          <a:p xmlns:a="http://schemas.openxmlformats.org/drawingml/2006/main">
            <a:r>
              <a:t>      "RAG·업무 에이전트",</a:t>
            </a:r>
          </a:p>
          <a:p xmlns:a="http://schemas.openxmlformats.org/drawingml/2006/main">
            <a:r>
              <a:t>      "허용 문서",</a:t>
            </a:r>
          </a:p>
          <a:p xmlns:a="http://schemas.openxmlformats.org/drawingml/2006/main">
            <a:r>
              <a:t>      "현업 검토자"</a:t>
            </a:r>
          </a:p>
          <a:p xmlns:a="http://schemas.openxmlformats.org/drawingml/2006/main">
            <a:r>
              <a:t>    ],</a:t>
            </a:r>
          </a:p>
          <a:p xmlns:a="http://schemas.openxmlformats.org/drawingml/2006/main">
            <a:r>
              <a:t>    "transfers": [</a:t>
            </a:r>
          </a:p>
          <a:p xmlns:a="http://schemas.openxmlformats.org/drawingml/2006/main">
            <a:r>
              <a:t>      "자료·권한",</a:t>
            </a:r>
          </a:p>
          <a:p xmlns:a="http://schemas.openxmlformats.org/drawingml/2006/main">
            <a:r>
              <a:t>      "검색 근거",</a:t>
            </a:r>
          </a:p>
          <a:p xmlns:a="http://schemas.openxmlformats.org/drawingml/2006/main">
            <a:r>
              <a:t>      "업무 초안",</a:t>
            </a:r>
          </a:p>
          <a:p xmlns:a="http://schemas.openxmlformats.org/drawingml/2006/main">
            <a:r>
              <a:t>      "검토 결과"</a:t>
            </a:r>
          </a:p>
          <a:p xmlns:a="http://schemas.openxmlformats.org/drawingml/2006/main">
            <a:r>
              <a:t>    ],</a:t>
            </a:r>
          </a:p>
          <a:p xmlns:a="http://schemas.openxmlformats.org/drawingml/2006/main">
            <a:r>
              <a:t>    "control": "사업·문서별 권한과 최신 판본 검증",</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
            </a:r>
          </a:p>
          <a:p xmlns:a="http://schemas.openxmlformats.org/drawingml/2006/main">
            <a:r>
              <a:t>홈페이지 https://heen1987-ops.github.io/TS-business-Plan-001/index.html?view=platform-cases&amp;case=PF-A03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"PF03",</a:t>
            </a:r>
          </a:p>
          <a:p xmlns:a="http://schemas.openxmlformats.org/drawingml/2006/main">
            <a:r>
              <a:t>    "sourceId": "A04",</a:t>
            </a:r>
          </a:p>
          <a:p xmlns:a="http://schemas.openxmlformats.org/drawingml/2006/main">
            <a:r>
              <a:t>    "title": "HRDKorea MCP",</a:t>
            </a:r>
          </a:p>
          <a:p xmlns:a="http://schemas.openxmlformats.org/drawingml/2006/main">
            <a:r>
              <a:t>    "region": "국내",</a:t>
            </a:r>
          </a:p>
          <a:p xmlns:a="http://schemas.openxmlformats.org/drawingml/2006/main">
            <a:r>
              <a:t>    "owner": "한국산업인력공단",</a:t>
            </a:r>
          </a:p>
          <a:p xmlns:a="http://schemas.openxmlformats.org/drawingml/2006/main">
            <a:r>
              <a:t>    "state": "공개 데이터 연계 서비스",</a:t>
            </a:r>
          </a:p>
          <a:p xmlns:a="http://schemas.openxmlformats.org/drawingml/2006/main">
            <a:r>
              <a:t>    "period": "2026.08 개시",</a:t>
            </a:r>
          </a:p>
          <a:p xmlns:a="http://schemas.openxmlformats.org/drawingml/2006/main">
            <a:r>
              <a:t>    "fact": "기존 공공 API를 MCP 도구로 제공하여 외부 AI의 공식 데이터 조회 지원",</a:t>
            </a:r>
          </a:p>
          <a:p xmlns:a="http://schemas.openxmlformats.org/drawingml/2006/main">
            <a:r>
              <a:t>    "limit": "공개 조회의 구축 사례 · 내부 결재·수정 실행의 검증과 별개",</a:t>
            </a:r>
          </a:p>
          <a:p xmlns:a="http://schemas.openxmlformats.org/drawingml/2006/main">
            <a:r>
              <a:t>    "nodes": [</a:t>
            </a:r>
          </a:p>
          <a:p xmlns:a="http://schemas.openxmlformats.org/drawingml/2006/main">
            <a:r>
              <a:t>      "외부 AI 요청",</a:t>
            </a:r>
          </a:p>
          <a:p xmlns:a="http://schemas.openxmlformats.org/drawingml/2006/main">
            <a:r>
              <a:t>      "MCP 도구 선택",</a:t>
            </a:r>
          </a:p>
          <a:p xmlns:a="http://schemas.openxmlformats.org/drawingml/2006/main">
            <a:r>
              <a:t>      "기존 공식 API",</a:t>
            </a:r>
          </a:p>
          <a:p xmlns:a="http://schemas.openxmlformats.org/drawingml/2006/main">
            <a:r>
              <a:t>      "최신 데이터 안내"</a:t>
            </a:r>
          </a:p>
          <a:p xmlns:a="http://schemas.openxmlformats.org/drawingml/2006/main">
            <a:r>
              <a:t>    ],</a:t>
            </a:r>
          </a:p>
          <a:p xmlns:a="http://schemas.openxmlformats.org/drawingml/2006/main">
            <a:r>
              <a:t>    "apply": "기존 공공 API를 AI 조회 도구로 연결하고 원천 응답과 안내의 일치 검증",</a:t>
            </a:r>
          </a:p>
          <a:p xmlns:a="http://schemas.openxmlformats.org/drawingml/2006/main">
            <a:r>
              <a:t>    "delta": "기관·직무별 도구 권한 / 요청키 / 오류·중복 처리",</a:t>
            </a:r>
          </a:p>
          <a:p xmlns:a="http://schemas.openxmlformats.org/drawingml/2006/main">
            <a:r>
              <a:t>    "test": "도구별 입력·응답·인증·오류 처리 계약 및 쓰기 요청 차단",</a:t>
            </a:r>
          </a:p>
          <a:p xmlns:a="http://schemas.openxmlformats.org/drawingml/2006/main">
            <a:r>
              <a:t>    "url": "https://www.moel.go.kr/news/enews/report/enewsView.do?news_seq=19787",</a:t>
            </a:r>
          </a:p>
          <a:p xmlns:a="http://schemas.openxmlformats.org/drawingml/2006/main">
            <a:r>
              <a:t>    "basis": "소관 부처 서비스 개시 발표",</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"https://www.moel.go.kr/news/enews/report/enewsView.do?news_seq=19787"</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"PF03",</a:t>
            </a:r>
          </a:p>
          <a:p xmlns:a="http://schemas.openxmlformats.org/drawingml/2006/main">
            <a:r>
              <a:t>    "canonicalId": "PF03",</a:t>
            </a:r>
          </a:p>
          <a:p xmlns:a="http://schemas.openxmlformats.org/drawingml/2006/main">
            <a:r>
              <a:t>    "purpose": "공공 API의 AI 도구 접점 제공",</a:t>
            </a:r>
          </a:p>
          <a:p xmlns:a="http://schemas.openxmlformats.org/drawingml/2006/main">
            <a:r>
              <a:t>    "users": "외부 AI 이용자·API 운영기관",</a:t>
            </a:r>
          </a:p>
          <a:p xmlns:a="http://schemas.openxmlformats.org/drawingml/2006/main">
            <a:r>
              <a:t>    "scope": [</a:t>
            </a:r>
          </a:p>
          <a:p xmlns:a="http://schemas.openxmlformats.org/drawingml/2006/main">
            <a:r>
              <a:t>      "MCP 도구",</a:t>
            </a:r>
          </a:p>
          <a:p xmlns:a="http://schemas.openxmlformats.org/drawingml/2006/main">
            <a:r>
              <a:t>      "공식 API 조회",</a:t>
            </a:r>
          </a:p>
          <a:p xmlns:a="http://schemas.openxmlformats.org/drawingml/2006/main">
            <a:r>
              <a:t>      "결과 안내"</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"외부 AI",</a:t>
            </a:r>
          </a:p>
          <a:p xmlns:a="http://schemas.openxmlformats.org/drawingml/2006/main">
            <a:r>
              <a:t>        "detail": "자연어 질의를 조회 도구와 인자로 변환",</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"MCP 도구 / 공식 API 조회 / 결과 안내",</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"MCP 도구",</a:t>
            </a:r>
          </a:p>
          <a:p xmlns:a="http://schemas.openxmlformats.org/drawingml/2006/main">
            <a:r>
              <a:t>        "detail": "MCP 도구의 인자 검사·API 호출 조정",</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"데이터 이용자",</a:t>
            </a:r>
          </a:p>
          <a:p xmlns:a="http://schemas.openxmlformats.org/drawingml/2006/main">
            <a:r>
              <a:t>        "detail": "출처가 있는 공식 조회 결과를 AI에 반환",</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"기존 공공 API",</a:t>
            </a:r>
          </a:p>
          <a:p xmlns:a="http://schemas.openxmlformats.org/drawingml/2006/main">
            <a:r>
              <a:t>        "detail": "공식 API 스키마·코드·갱신일 참조",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"실패 응답·스키마 변경·호출량의 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"외부 AI 요청",</a:t>
            </a:r>
          </a:p>
          <a:p xmlns:a="http://schemas.openxmlformats.org/drawingml/2006/main">
            <a:r>
              <a:t>        "input": "자연어 질의를 조회 도구와 인자로 변환",</a:t>
            </a:r>
          </a:p>
          <a:p xmlns:a="http://schemas.openxmlformats.org/drawingml/2006/main">
            <a:r>
              <a:t>        "process": "공식 API 스키마·코드·갱신일 참조",</a:t>
            </a:r>
          </a:p>
          <a:p xmlns:a="http://schemas.openxmlformats.org/drawingml/2006/main">
            <a:r>
              <a:t>        "output": "조회 의도"</a:t>
            </a:r>
          </a:p>
          <a:p xmlns:a="http://schemas.openxmlformats.org/drawingml/2006/main">
            <a:r>
              <a:t>      },</a:t>
            </a:r>
          </a:p>
          <a:p xmlns:a="http://schemas.openxmlformats.org/drawingml/2006/main">
            <a:r>
              <a:t>      {</a:t>
            </a:r>
          </a:p>
          <a:p xmlns:a="http://schemas.openxmlformats.org/drawingml/2006/main">
            <a:r>
              <a:t>        "title": "MCP 도구 선택",</a:t>
            </a:r>
          </a:p>
          <a:p xmlns:a="http://schemas.openxmlformats.org/drawingml/2006/main">
            <a:r>
              <a:t>        "input": "조회 의도",</a:t>
            </a:r>
          </a:p>
          <a:p xmlns:a="http://schemas.openxmlformats.org/drawingml/2006/main">
            <a:r>
              <a:t>        "process": "MCP 도구의 인자 검사·API 호출 조정",</a:t>
            </a:r>
          </a:p>
          <a:p xmlns:a="http://schemas.openxmlformats.org/drawingml/2006/main">
            <a:r>
              <a:t>        "output": "도구 인자"</a:t>
            </a:r>
          </a:p>
          <a:p xmlns:a="http://schemas.openxmlformats.org/drawingml/2006/main">
            <a:r>
              <a:t>      },</a:t>
            </a:r>
          </a:p>
          <a:p xmlns:a="http://schemas.openxmlformats.org/drawingml/2006/main">
            <a:r>
              <a:t>      {</a:t>
            </a:r>
          </a:p>
          <a:p xmlns:a="http://schemas.openxmlformats.org/drawingml/2006/main">
            <a:r>
              <a:t>        "title": "기존 공식 API",</a:t>
            </a:r>
          </a:p>
          <a:p xmlns:a="http://schemas.openxmlformats.org/drawingml/2006/main">
            <a:r>
              <a:t>        "input": "도구 인자",</a:t>
            </a:r>
          </a:p>
          <a:p xmlns:a="http://schemas.openxmlformats.org/drawingml/2006/main">
            <a:r>
              <a:t>        "process": "인자·스키마·오류·최신성 대사",</a:t>
            </a:r>
          </a:p>
          <a:p xmlns:a="http://schemas.openxmlformats.org/drawingml/2006/main">
            <a:r>
              <a:t>        "output": "공식 API 결과"</a:t>
            </a:r>
          </a:p>
          <a:p xmlns:a="http://schemas.openxmlformats.org/drawingml/2006/main">
            <a:r>
              <a:t>      },</a:t>
            </a:r>
          </a:p>
          <a:p xmlns:a="http://schemas.openxmlformats.org/drawingml/2006/main">
            <a:r>
              <a:t>      {</a:t>
            </a:r>
          </a:p>
          <a:p xmlns:a="http://schemas.openxmlformats.org/drawingml/2006/main">
            <a:r>
              <a:t>        "title": "최신 데이터 안내",</a:t>
            </a:r>
          </a:p>
          <a:p xmlns:a="http://schemas.openxmlformats.org/drawingml/2006/main">
            <a:r>
              <a:t>        "input": "공식 API 결과",</a:t>
            </a:r>
          </a:p>
          <a:p xmlns:a="http://schemas.openxmlformats.org/drawingml/2006/main">
            <a:r>
              <a:t>        "process": "출처가 있는 공식 조회 결과를 AI에 반환",</a:t>
            </a:r>
          </a:p>
          <a:p xmlns:a="http://schemas.openxmlformats.org/drawingml/2006/main">
            <a:r>
              <a:t>        "output": "출처 안내"</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"자연어 요청을 공식 API 인자로 변환해 조회",</a:t>
            </a:r>
          </a:p>
          <a:p xmlns:a="http://schemas.openxmlformats.org/drawingml/2006/main">
            <a:r>
              <a:t>      "exception": "필수 인자 누락·스키마 변경·API 지연·빈 결과",</a:t>
            </a:r>
          </a:p>
          <a:p xmlns:a="http://schemas.openxmlformats.org/drawingml/2006/main">
            <a:r>
              <a:t>      "evidence": "도구 인자·원천 응답·사용자 안내의 일치 기록",</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"외부 AI 이용자·API 운영기관",</a:t>
            </a:r>
          </a:p>
          <a:p xmlns:a="http://schemas.openxmlformats.org/drawingml/2006/main">
            <a:r>
              <a:t>          "processing": "자연어 질의를 조회 도구와 인자로 변환",</a:t>
            </a:r>
          </a:p>
          <a:p xmlns:a="http://schemas.openxmlformats.org/drawingml/2006/main">
            <a:r>
              <a:t>          "output": "조회 의도"</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"기존 공공 API",</a:t>
            </a:r>
          </a:p>
          <a:p xmlns:a="http://schemas.openxmlformats.org/drawingml/2006/main">
            <a:r>
              <a:t>          "processing": "공식 API 스키마·코드·갱신일 참조",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"조회 의도",</a:t>
            </a:r>
          </a:p>
          <a:p xmlns:a="http://schemas.openxmlformats.org/drawingml/2006/main">
            <a:r>
              <a:t>          "processing": "MCP 도구의 인자 검사·API 호출 조정",</a:t>
            </a:r>
          </a:p>
          <a:p xmlns:a="http://schemas.openxmlformats.org/drawingml/2006/main">
            <a:r>
              <a:t>          "output": "공식 API 결과"</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"공식 API 결과",</a:t>
            </a:r>
          </a:p>
          <a:p xmlns:a="http://schemas.openxmlformats.org/drawingml/2006/main">
            <a:r>
              <a:t>          "processing": "출처가 있는 공식 조회 결과를 AI에 반환",</a:t>
            </a:r>
          </a:p>
          <a:p xmlns:a="http://schemas.openxmlformats.org/drawingml/2006/main">
            <a:r>
              <a:t>          "output": "출처 안내"</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"실패 응답·스키마 변경·호출량의 검사",</a:t>
            </a:r>
          </a:p>
          <a:p xmlns:a="http://schemas.openxmlformats.org/drawingml/2006/main">
            <a:r>
              <a:t>          "output": "도구 인자·원천 응답·사용자 안내의 일치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"실패 응답·스키마 변경·호출량의 검사",</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"소관 부처 서비스 개시 발표",</a:t>
            </a:r>
          </a:p>
          <a:p xmlns:a="http://schemas.openxmlformats.org/drawingml/2006/main">
            <a:r>
              <a:t>        "url": "https://www.moel.go.kr/news/enews/report/enewsView.do?news_seq=19787"</a:t>
            </a:r>
          </a:p>
          <a:p xmlns:a="http://schemas.openxmlformats.org/drawingml/2006/main">
            <a:r>
              <a:t>      }</a:t>
            </a:r>
          </a:p>
          <a:p xmlns:a="http://schemas.openxmlformats.org/drawingml/2006/main">
            <a:r>
              <a:t>    ],</a:t>
            </a:r>
          </a:p>
          <a:p xmlns:a="http://schemas.openxmlformats.org/drawingml/2006/main">
            <a:r>
              <a:t>    "implication": "기존 공공 API를 AI 조회 도구로 연결하고 원천 응답과 안내의 일치 검증",</a:t>
            </a:r>
          </a:p>
          <a:p xmlns:a="http://schemas.openxmlformats.org/drawingml/2006/main">
            <a:r>
              <a:t>    "local": "기존 공공 API를 AI 조회 도구로 연결하고 원천 응답과 안내의 일치 검증",</a:t>
            </a:r>
          </a:p>
          <a:p xmlns:a="http://schemas.openxmlformats.org/drawingml/2006/main">
            <a:r>
              <a:t>    "sourceDetail": null,</a:t>
            </a:r>
          </a:p>
          <a:p xmlns:a="http://schemas.openxmlformats.org/drawingml/2006/main">
            <a:r>
              <a:t>    "narrative": [</a:t>
            </a:r>
          </a:p>
          <a:p xmlns:a="http://schemas.openxmlformats.org/drawingml/2006/main">
            <a:r>
              <a:t>      "한국산업인력공단의 공공 API를 MCP 도구로 제공하는 사례. 외부 AI가 추정한 답을 생성하기 전에 기관의 공식 데이터를 조회할 수 있도록 접근 수단을 제공하는 방식.",</a:t>
            </a:r>
          </a:p>
          <a:p xmlns:a="http://schemas.openxmlformats.org/drawingml/2006/main">
            <a:r>
              <a:t>      "AI 클라이언트의 도구 요청을 MCP 서버에서 공식 API 호출로 변환하고 결과를 구조화해 반환하는 흐름. 도구 이름·입력 스키마·오류 형식·데이터 시점을 명확히 정의하는 것이 서비스 연결의 핵심.",</a:t>
            </a:r>
          </a:p>
          <a:p xmlns:a="http://schemas.openxmlformats.org/drawingml/2006/main">
            <a:r>
              <a:t>      "TS 공공데이터·자격·검사 안내에서도 공식 조회와 자연어 설명을 분리하는 참고. 잘못된 인자, 결과 없음, API 장애, 오래된 데이터의 처리와 읽기 전용 권한을 검수하고 외부 AI의 최종 설명에서 출처를 확인할 수 있도록 제공."</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"외부 AI 질의",</a:t>
            </a:r>
          </a:p>
          <a:p xmlns:a="http://schemas.openxmlformats.org/drawingml/2006/main">
            <a:r>
              <a:t>          "layer": "이용 접점",</a:t>
            </a:r>
          </a:p>
          <a:p xmlns:a="http://schemas.openxmlformats.org/drawingml/2006/main">
            <a:r>
              <a:t>          "detail": "외부 AI 이용자·API 운영기관",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"도구·인자 정의",</a:t>
            </a:r>
          </a:p>
          <a:p xmlns:a="http://schemas.openxmlformats.org/drawingml/2006/main">
            <a:r>
              <a:t>          "layer": "업무 문맥",</a:t>
            </a:r>
          </a:p>
          <a:p xmlns:a="http://schemas.openxmlformats.org/drawingml/2006/main">
            <a:r>
              <a:t>          "detail": "자연어 질의를 조회 도구와 인자로 변환",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"공식 API 선택",</a:t>
            </a:r>
          </a:p>
          <a:p xmlns:a="http://schemas.openxmlformats.org/drawingml/2006/main">
            <a:r>
              <a:t>          "layer": "자료 조회",</a:t>
            </a:r>
          </a:p>
          <a:p xmlns:a="http://schemas.openxmlformats.org/drawingml/2006/main">
            <a:r>
              <a:t>          "detail": "조회 의도",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"MCP 호출 조정",</a:t>
            </a:r>
          </a:p>
          <a:p xmlns:a="http://schemas.openxmlformats.org/drawingml/2006/main">
            <a:r>
              <a:t>          "layer": "핵심 처리",</a:t>
            </a:r>
          </a:p>
          <a:p xmlns:a="http://schemas.openxmlformats.org/drawingml/2006/main">
            <a:r>
              <a:t>          "detail": "MCP 도구의 인자 검사·API 호출 조정",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"스키마·상태 검사",</a:t>
            </a:r>
          </a:p>
          <a:p xmlns:a="http://schemas.openxmlformats.org/drawingml/2006/main">
            <a:r>
              <a:t>          "layer": "결과 검증",</a:t>
            </a:r>
          </a:p>
          <a:p xmlns:a="http://schemas.openxmlformats.org/drawingml/2006/main">
            <a:r>
              <a:t>          "detail": "인자·스키마·오류·최신성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"이용자 확인",</a:t>
            </a:r>
          </a:p>
          <a:p xmlns:a="http://schemas.openxmlformats.org/drawingml/2006/main">
            <a:r>
              <a:t>          "layer": "사람 확인",</a:t>
            </a:r>
          </a:p>
          <a:p xmlns:a="http://schemas.openxmlformats.org/drawingml/2006/main">
            <a:r>
              <a:t>          "detail": "자연어 요청을 공식 API 인자로 변환해 조회",</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"출처 조회 결과",</a:t>
            </a:r>
          </a:p>
          <a:p xmlns:a="http://schemas.openxmlformats.org/drawingml/2006/main">
            <a:r>
              <a:t>          "layer": "업무 연결",</a:t>
            </a:r>
          </a:p>
          <a:p xmlns:a="http://schemas.openxmlformats.org/drawingml/2006/main">
            <a:r>
              <a:t>          "detail": "출처가 있는 공식 조회 결과를 AI에 반환",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"호출·변경 검사",</a:t>
            </a:r>
          </a:p>
          <a:p xmlns:a="http://schemas.openxmlformats.org/drawingml/2006/main">
            <a:r>
              <a:t>          "layer": "운영 관측",</a:t>
            </a:r>
          </a:p>
          <a:p xmlns:a="http://schemas.openxmlformats.org/drawingml/2006/main">
            <a:r>
              <a:t>          "detail": "실패 응답·스키마 변경·호출량의 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"공공 API·코드",</a:t>
            </a:r>
          </a:p>
          <a:p xmlns:a="http://schemas.openxmlformats.org/drawingml/2006/main">
            <a:r>
              <a:t>          "layer": "데이터 원천",</a:t>
            </a:r>
          </a:p>
          <a:p xmlns:a="http://schemas.openxmlformats.org/drawingml/2006/main">
            <a:r>
              <a:t>          "detail": "기존 공공 API",</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"스키마·갱신일 정리",</a:t>
            </a:r>
          </a:p>
          <a:p xmlns:a="http://schemas.openxmlformats.org/drawingml/2006/main">
            <a:r>
              <a:t>          "layer": "준비·갱신",</a:t>
            </a:r>
          </a:p>
          <a:p xmlns:a="http://schemas.openxmlformats.org/drawingml/2006/main">
            <a:r>
              <a:t>          "detail": "공식 API 스키마·코드·갱신일 참조",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"도구·호출 기록",</a:t>
            </a:r>
          </a:p>
          <a:p xmlns:a="http://schemas.openxmlformats.org/drawingml/2006/main">
            <a:r>
              <a:t>          "layer": "상태·지식 저장",</a:t>
            </a:r>
          </a:p>
          <a:p xmlns:a="http://schemas.openxmlformats.org/drawingml/2006/main">
            <a:r>
              <a:t>          "detail": "도구 인자·원천 응답·사용자 안내의 일치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"호출 권한·한도",</a:t>
            </a:r>
          </a:p>
          <a:p xmlns:a="http://schemas.openxmlformats.org/drawingml/2006/main">
            <a:r>
              <a:t>          "layer": "권한·정책",</a:t>
            </a:r>
          </a:p>
          <a:p xmlns:a="http://schemas.openxmlformats.org/drawingml/2006/main">
            <a:r>
              <a:t>          "detail": "필수 인자 누락·스키마 변경·API 지연·빈 결과",</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"자연어 질의를 조회 도구와 인자로 변환",</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"조회 의도",</a:t>
            </a:r>
          </a:p>
          <a:p xmlns:a="http://schemas.openxmlformats.org/drawingml/2006/main">
            <a:r>
              <a:t>          "check": "인자·스키마·오류·최신성 대사"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"도구 인자",</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"공식 API 결과",</a:t>
            </a:r>
          </a:p>
          <a:p xmlns:a="http://schemas.openxmlformats.org/drawingml/2006/main">
            <a:r>
              <a:t>          "check": "필수 인자 누락·스키마 변경·API 지연·빈 결과"</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"공식 API 결과",</a:t>
            </a:r>
          </a:p>
          <a:p xmlns:a="http://schemas.openxmlformats.org/drawingml/2006/main">
            <a:r>
              <a:t>          "check": "출처가 있는 공식 조회 결과를 AI에 반환"</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"출처 안내",</a:t>
            </a:r>
          </a:p>
          <a:p xmlns:a="http://schemas.openxmlformats.org/drawingml/2006/main">
            <a:r>
              <a:t>          "check": "도구 인자·원천 응답·사용자 안내의 일치 기록"</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"공공 API의 AI 도구 접점 제공 / MCP 도구·공식 API 조회·결과 안내",</a:t>
            </a:r>
          </a:p>
          <a:p xmlns:a="http://schemas.openxmlformats.org/drawingml/2006/main">
            <a:r>
              <a:t>        "extension": "기존 공공 API를 AI 조회 도구로 연결하고 원천 응답과 안내의 일치 검증"</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"필수 인자 누락·스키마 변경·API 지연·빈 결과",</a:t>
            </a:r>
          </a:p>
          <a:p xmlns:a="http://schemas.openxmlformats.org/drawingml/2006/main">
            <a:r>
              <a:t>        "hold": "인자·스키마·오류·최신성 대사",</a:t>
            </a:r>
          </a:p>
          <a:p xmlns:a="http://schemas.openxmlformats.org/drawingml/2006/main">
            <a:r>
              <a:t>        "recovery": "실패 응답·스키마 변경·호출량의 검사",</a:t>
            </a:r>
          </a:p>
          <a:p xmlns:a="http://schemas.openxmlformats.org/drawingml/2006/main">
            <a:r>
              <a:t>        "evidence": "도구 인자·원천 응답·사용자 안내의 일치 기록"</a:t>
            </a:r>
          </a:p>
          <a:p xmlns:a="http://schemas.openxmlformats.org/drawingml/2006/main">
            <a:r>
              <a:t>      },</a:t>
            </a:r>
          </a:p>
          <a:p xmlns:a="http://schemas.openxmlformats.org/drawingml/2006/main">
            <a:r>
              <a:t>      "data": {</a:t>
            </a:r>
          </a:p>
          <a:p xmlns:a="http://schemas.openxmlformats.org/drawingml/2006/main">
            <a:r>
              <a:t>        "source": "기존 공공 API",</a:t>
            </a:r>
          </a:p>
          <a:p xmlns:a="http://schemas.openxmlformats.org/drawingml/2006/main">
            <a:r>
              <a:t>        "prepare": "공식 API 스키마·코드·갱신일 참조",</a:t>
            </a:r>
          </a:p>
          <a:p xmlns:a="http://schemas.openxmlformats.org/drawingml/2006/main">
            <a:r>
              <a:t>        "output": "조회 의도",</a:t>
            </a:r>
          </a:p>
          <a:p xmlns:a="http://schemas.openxmlformats.org/drawingml/2006/main">
            <a:r>
              <a:t>        "refresh": "실패 응답·스키마 변경·호출량의 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"PF03",</a:t>
            </a:r>
          </a:p>
          <a:p xmlns:a="http://schemas.openxmlformats.org/drawingml/2006/main">
            <a:r>
              <a:t>    "success": [</a:t>
            </a:r>
          </a:p>
          <a:p xmlns:a="http://schemas.openxmlformats.org/drawingml/2006/main">
            <a:r>
              <a:t>      "기존 공식 API의 재사용",</a:t>
            </a:r>
          </a:p>
          <a:p xmlns:a="http://schemas.openxmlformats.org/drawingml/2006/main">
            <a:r>
              <a:t>      "AI 도구의 공식 데이터 조회 연결"</a:t>
            </a:r>
          </a:p>
          <a:p xmlns:a="http://schemas.openxmlformats.org/drawingml/2006/main">
            <a:r>
              <a:t>    ],</a:t>
            </a:r>
          </a:p>
          <a:p xmlns:a="http://schemas.openxmlformats.org/drawingml/2006/main">
            <a:r>
              <a:t>    "risks": [</a:t>
            </a:r>
          </a:p>
          <a:p xmlns:a="http://schemas.openxmlformats.org/drawingml/2006/main">
            <a:r>
              <a:t>      "도구 응답 지연·스키마 변경",</a:t>
            </a:r>
          </a:p>
          <a:p xmlns:a="http://schemas.openxmlformats.org/drawingml/2006/main">
            <a:r>
              <a:t>      "조회 성공을 신청 완료로 오인"</a:t>
            </a:r>
          </a:p>
          <a:p xmlns:a="http://schemas.openxmlformats.org/drawingml/2006/main">
            <a:r>
              <a:t>    ],</a:t>
            </a:r>
          </a:p>
          <a:p xmlns:a="http://schemas.openxmlformats.org/drawingml/2006/main">
            <a:r>
              <a:t>    "architecture": [</a:t>
            </a:r>
          </a:p>
          <a:p xmlns:a="http://schemas.openxmlformats.org/drawingml/2006/main">
            <a:r>
              <a:t>      "외부 AI",</a:t>
            </a:r>
          </a:p>
          <a:p xmlns:a="http://schemas.openxmlformats.org/drawingml/2006/main">
            <a:r>
              <a:t>      "MCP 도구",</a:t>
            </a:r>
          </a:p>
          <a:p xmlns:a="http://schemas.openxmlformats.org/drawingml/2006/main">
            <a:r>
              <a:t>      "기존 공공 API",</a:t>
            </a:r>
          </a:p>
          <a:p xmlns:a="http://schemas.openxmlformats.org/drawingml/2006/main">
            <a:r>
              <a:t>      "데이터 이용자"</a:t>
            </a:r>
          </a:p>
          <a:p xmlns:a="http://schemas.openxmlformats.org/drawingml/2006/main">
            <a:r>
              <a:t>    ],</a:t>
            </a:r>
          </a:p>
          <a:p xmlns:a="http://schemas.openxmlformats.org/drawingml/2006/main">
            <a:r>
              <a:t>    "transfers": [</a:t>
            </a:r>
          </a:p>
          <a:p xmlns:a="http://schemas.openxmlformats.org/drawingml/2006/main">
            <a:r>
              <a:t>      "조회 의도",</a:t>
            </a:r>
          </a:p>
          <a:p xmlns:a="http://schemas.openxmlformats.org/drawingml/2006/main">
            <a:r>
              <a:t>      "도구 인자",</a:t>
            </a:r>
          </a:p>
          <a:p xmlns:a="http://schemas.openxmlformats.org/drawingml/2006/main">
            <a:r>
              <a:t>      "공식 API 결과",</a:t>
            </a:r>
          </a:p>
          <a:p xmlns:a="http://schemas.openxmlformats.org/drawingml/2006/main">
            <a:r>
              <a:t>      "출처 안내"</a:t>
            </a:r>
          </a:p>
          <a:p xmlns:a="http://schemas.openxmlformats.org/drawingml/2006/main">
            <a:r>
              <a:t>    ],</a:t>
            </a:r>
          </a:p>
          <a:p xmlns:a="http://schemas.openxmlformats.org/drawingml/2006/main">
            <a:r>
              <a:t>    "control": "인자·스키마·오류·최신성 대사",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소관 부처 서비스 개시 발표 https://www.moel.go.kr/news/enews/report/enewsView.do?news_seq=19787</a:t>
            </a:r>
          </a:p>
          <a:p xmlns:a="http://schemas.openxmlformats.org/drawingml/2006/main">
            <a:r>
              <a:t>홈페이지 https://heen1987-ops.github.io/TS-business-Plan-001/index.html?view=platform-cases&amp;case=PF03</a:t>
            </a:r>
          </a:p>
          <a:p xmlns:a="http://schemas.openxmlformats.org/drawingml/2006/main">
            <a:r>
              <a:t>한계: 공개 조회의 구축 사례 · 내부 결재·수정 실행의 검증과 별개</a:t>
            </a:r>
          </a:p>
          <a:p xmlns:a="http://schemas.openxmlformats.org/drawingml/2006/main">
            <a:r>
              <a:t>실패 위험: 도구 응답 지연·스키마 변경 / 조회 성공을 신청 완료로 오인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"PF03",</a:t>
            </a:r>
          </a:p>
          <a:p xmlns:a="http://schemas.openxmlformats.org/drawingml/2006/main">
            <a:r>
              <a:t>    "sourceId": "A04",</a:t>
            </a:r>
          </a:p>
          <a:p xmlns:a="http://schemas.openxmlformats.org/drawingml/2006/main">
            <a:r>
              <a:t>    "title": "HRDKorea MCP",</a:t>
            </a:r>
          </a:p>
          <a:p xmlns:a="http://schemas.openxmlformats.org/drawingml/2006/main">
            <a:r>
              <a:t>    "region": "국내",</a:t>
            </a:r>
          </a:p>
          <a:p xmlns:a="http://schemas.openxmlformats.org/drawingml/2006/main">
            <a:r>
              <a:t>    "owner": "한국산업인력공단",</a:t>
            </a:r>
          </a:p>
          <a:p xmlns:a="http://schemas.openxmlformats.org/drawingml/2006/main">
            <a:r>
              <a:t>    "state": "공개 데이터 연계 서비스",</a:t>
            </a:r>
          </a:p>
          <a:p xmlns:a="http://schemas.openxmlformats.org/drawingml/2006/main">
            <a:r>
              <a:t>    "period": "2026.08 개시",</a:t>
            </a:r>
          </a:p>
          <a:p xmlns:a="http://schemas.openxmlformats.org/drawingml/2006/main">
            <a:r>
              <a:t>    "fact": "기존 공공 API를 MCP 도구로 제공하여 외부 AI의 공식 데이터 조회 지원",</a:t>
            </a:r>
          </a:p>
          <a:p xmlns:a="http://schemas.openxmlformats.org/drawingml/2006/main">
            <a:r>
              <a:t>    "limit": "공개 조회의 구축 사례 · 내부 결재·수정 실행의 검증과 별개",</a:t>
            </a:r>
          </a:p>
          <a:p xmlns:a="http://schemas.openxmlformats.org/drawingml/2006/main">
            <a:r>
              <a:t>    "nodes": [</a:t>
            </a:r>
          </a:p>
          <a:p xmlns:a="http://schemas.openxmlformats.org/drawingml/2006/main">
            <a:r>
              <a:t>      "외부 AI 요청",</a:t>
            </a:r>
          </a:p>
          <a:p xmlns:a="http://schemas.openxmlformats.org/drawingml/2006/main">
            <a:r>
              <a:t>      "MCP 도구 선택",</a:t>
            </a:r>
          </a:p>
          <a:p xmlns:a="http://schemas.openxmlformats.org/drawingml/2006/main">
            <a:r>
              <a:t>      "기존 공식 API",</a:t>
            </a:r>
          </a:p>
          <a:p xmlns:a="http://schemas.openxmlformats.org/drawingml/2006/main">
            <a:r>
              <a:t>      "최신 데이터 안내"</a:t>
            </a:r>
          </a:p>
          <a:p xmlns:a="http://schemas.openxmlformats.org/drawingml/2006/main">
            <a:r>
              <a:t>    ],</a:t>
            </a:r>
          </a:p>
          <a:p xmlns:a="http://schemas.openxmlformats.org/drawingml/2006/main">
            <a:r>
              <a:t>    "apply": "기존 공공 API를 AI 조회 도구로 연결하고 원천 응답과 안내의 일치 검증",</a:t>
            </a:r>
          </a:p>
          <a:p xmlns:a="http://schemas.openxmlformats.org/drawingml/2006/main">
            <a:r>
              <a:t>    "delta": "기관·직무별 도구 권한 / 요청키 / 오류·중복 처리",</a:t>
            </a:r>
          </a:p>
          <a:p xmlns:a="http://schemas.openxmlformats.org/drawingml/2006/main">
            <a:r>
              <a:t>    "test": "도구별 입력·응답·인증·오류 처리 계약 및 쓰기 요청 차단",</a:t>
            </a:r>
          </a:p>
          <a:p xmlns:a="http://schemas.openxmlformats.org/drawingml/2006/main">
            <a:r>
              <a:t>    "url": "https://www.moel.go.kr/news/enews/report/enewsView.do?news_seq=19787",</a:t>
            </a:r>
          </a:p>
          <a:p xmlns:a="http://schemas.openxmlformats.org/drawingml/2006/main">
            <a:r>
              <a:t>    "basis": "소관 부처 서비스 개시 발표",</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"https://www.moel.go.kr/news/enews/report/enewsView.do?news_seq=19787"</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"PF03",</a:t>
            </a:r>
          </a:p>
          <a:p xmlns:a="http://schemas.openxmlformats.org/drawingml/2006/main">
            <a:r>
              <a:t>    "canonicalId": "PF03",</a:t>
            </a:r>
          </a:p>
          <a:p xmlns:a="http://schemas.openxmlformats.org/drawingml/2006/main">
            <a:r>
              <a:t>    "purpose": "공공 API의 AI 도구 접점 제공",</a:t>
            </a:r>
          </a:p>
          <a:p xmlns:a="http://schemas.openxmlformats.org/drawingml/2006/main">
            <a:r>
              <a:t>    "users": "외부 AI 이용자·API 운영기관",</a:t>
            </a:r>
          </a:p>
          <a:p xmlns:a="http://schemas.openxmlformats.org/drawingml/2006/main">
            <a:r>
              <a:t>    "scope": [</a:t>
            </a:r>
          </a:p>
          <a:p xmlns:a="http://schemas.openxmlformats.org/drawingml/2006/main">
            <a:r>
              <a:t>      "MCP 도구",</a:t>
            </a:r>
          </a:p>
          <a:p xmlns:a="http://schemas.openxmlformats.org/drawingml/2006/main">
            <a:r>
              <a:t>      "공식 API 조회",</a:t>
            </a:r>
          </a:p>
          <a:p xmlns:a="http://schemas.openxmlformats.org/drawingml/2006/main">
            <a:r>
              <a:t>      "결과 안내"</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"외부 AI",</a:t>
            </a:r>
          </a:p>
          <a:p xmlns:a="http://schemas.openxmlformats.org/drawingml/2006/main">
            <a:r>
              <a:t>        "detail": "자연어 질의를 조회 도구와 인자로 변환",</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"MCP 도구 / 공식 API 조회 / 결과 안내",</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"MCP 도구",</a:t>
            </a:r>
          </a:p>
          <a:p xmlns:a="http://schemas.openxmlformats.org/drawingml/2006/main">
            <a:r>
              <a:t>        "detail": "MCP 도구의 인자 검사·API 호출 조정",</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"데이터 이용자",</a:t>
            </a:r>
          </a:p>
          <a:p xmlns:a="http://schemas.openxmlformats.org/drawingml/2006/main">
            <a:r>
              <a:t>        "detail": "출처가 있는 공식 조회 결과를 AI에 반환",</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"기존 공공 API",</a:t>
            </a:r>
          </a:p>
          <a:p xmlns:a="http://schemas.openxmlformats.org/drawingml/2006/main">
            <a:r>
              <a:t>        "detail": "공식 API 스키마·코드·갱신일 참조",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"실패 응답·스키마 변경·호출량의 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"외부 AI 요청",</a:t>
            </a:r>
          </a:p>
          <a:p xmlns:a="http://schemas.openxmlformats.org/drawingml/2006/main">
            <a:r>
              <a:t>        "input": "자연어 질의를 조회 도구와 인자로 변환",</a:t>
            </a:r>
          </a:p>
          <a:p xmlns:a="http://schemas.openxmlformats.org/drawingml/2006/main">
            <a:r>
              <a:t>        "process": "공식 API 스키마·코드·갱신일 참조",</a:t>
            </a:r>
          </a:p>
          <a:p xmlns:a="http://schemas.openxmlformats.org/drawingml/2006/main">
            <a:r>
              <a:t>        "output": "조회 의도"</a:t>
            </a:r>
          </a:p>
          <a:p xmlns:a="http://schemas.openxmlformats.org/drawingml/2006/main">
            <a:r>
              <a:t>      },</a:t>
            </a:r>
          </a:p>
          <a:p xmlns:a="http://schemas.openxmlformats.org/drawingml/2006/main">
            <a:r>
              <a:t>      {</a:t>
            </a:r>
          </a:p>
          <a:p xmlns:a="http://schemas.openxmlformats.org/drawingml/2006/main">
            <a:r>
              <a:t>        "title": "MCP 도구 선택",</a:t>
            </a:r>
          </a:p>
          <a:p xmlns:a="http://schemas.openxmlformats.org/drawingml/2006/main">
            <a:r>
              <a:t>        "input": "조회 의도",</a:t>
            </a:r>
          </a:p>
          <a:p xmlns:a="http://schemas.openxmlformats.org/drawingml/2006/main">
            <a:r>
              <a:t>        "process": "MCP 도구의 인자 검사·API 호출 조정",</a:t>
            </a:r>
          </a:p>
          <a:p xmlns:a="http://schemas.openxmlformats.org/drawingml/2006/main">
            <a:r>
              <a:t>        "output": "도구 인자"</a:t>
            </a:r>
          </a:p>
          <a:p xmlns:a="http://schemas.openxmlformats.org/drawingml/2006/main">
            <a:r>
              <a:t>      },</a:t>
            </a:r>
          </a:p>
          <a:p xmlns:a="http://schemas.openxmlformats.org/drawingml/2006/main">
            <a:r>
              <a:t>      {</a:t>
            </a:r>
          </a:p>
          <a:p xmlns:a="http://schemas.openxmlformats.org/drawingml/2006/main">
            <a:r>
              <a:t>        "title": "기존 공식 API",</a:t>
            </a:r>
          </a:p>
          <a:p xmlns:a="http://schemas.openxmlformats.org/drawingml/2006/main">
            <a:r>
              <a:t>        "input": "도구 인자",</a:t>
            </a:r>
          </a:p>
          <a:p xmlns:a="http://schemas.openxmlformats.org/drawingml/2006/main">
            <a:r>
              <a:t>        "process": "인자·스키마·오류·최신성 대사",</a:t>
            </a:r>
          </a:p>
          <a:p xmlns:a="http://schemas.openxmlformats.org/drawingml/2006/main">
            <a:r>
              <a:t>        "output": "공식 API 결과"</a:t>
            </a:r>
          </a:p>
          <a:p xmlns:a="http://schemas.openxmlformats.org/drawingml/2006/main">
            <a:r>
              <a:t>      },</a:t>
            </a:r>
          </a:p>
          <a:p xmlns:a="http://schemas.openxmlformats.org/drawingml/2006/main">
            <a:r>
              <a:t>      {</a:t>
            </a:r>
          </a:p>
          <a:p xmlns:a="http://schemas.openxmlformats.org/drawingml/2006/main">
            <a:r>
              <a:t>        "title": "최신 데이터 안내",</a:t>
            </a:r>
          </a:p>
          <a:p xmlns:a="http://schemas.openxmlformats.org/drawingml/2006/main">
            <a:r>
              <a:t>        "input": "공식 API 결과",</a:t>
            </a:r>
          </a:p>
          <a:p xmlns:a="http://schemas.openxmlformats.org/drawingml/2006/main">
            <a:r>
              <a:t>        "process": "출처가 있는 공식 조회 결과를 AI에 반환",</a:t>
            </a:r>
          </a:p>
          <a:p xmlns:a="http://schemas.openxmlformats.org/drawingml/2006/main">
            <a:r>
              <a:t>        "output": "출처 안내"</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"자연어 요청을 공식 API 인자로 변환해 조회",</a:t>
            </a:r>
          </a:p>
          <a:p xmlns:a="http://schemas.openxmlformats.org/drawingml/2006/main">
            <a:r>
              <a:t>      "exception": "필수 인자 누락·스키마 변경·API 지연·빈 결과",</a:t>
            </a:r>
          </a:p>
          <a:p xmlns:a="http://schemas.openxmlformats.org/drawingml/2006/main">
            <a:r>
              <a:t>      "evidence": "도구 인자·원천 응답·사용자 안내의 일치 기록",</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"외부 AI 이용자·API 운영기관",</a:t>
            </a:r>
          </a:p>
          <a:p xmlns:a="http://schemas.openxmlformats.org/drawingml/2006/main">
            <a:r>
              <a:t>          "processing": "자연어 질의를 조회 도구와 인자로 변환",</a:t>
            </a:r>
          </a:p>
          <a:p xmlns:a="http://schemas.openxmlformats.org/drawingml/2006/main">
            <a:r>
              <a:t>          "output": "조회 의도"</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"기존 공공 API",</a:t>
            </a:r>
          </a:p>
          <a:p xmlns:a="http://schemas.openxmlformats.org/drawingml/2006/main">
            <a:r>
              <a:t>          "processing": "공식 API 스키마·코드·갱신일 참조",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"조회 의도",</a:t>
            </a:r>
          </a:p>
          <a:p xmlns:a="http://schemas.openxmlformats.org/drawingml/2006/main">
            <a:r>
              <a:t>          "processing": "MCP 도구의 인자 검사·API 호출 조정",</a:t>
            </a:r>
          </a:p>
          <a:p xmlns:a="http://schemas.openxmlformats.org/drawingml/2006/main">
            <a:r>
              <a:t>          "output": "공식 API 결과"</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"공식 API 결과",</a:t>
            </a:r>
          </a:p>
          <a:p xmlns:a="http://schemas.openxmlformats.org/drawingml/2006/main">
            <a:r>
              <a:t>          "processing": "출처가 있는 공식 조회 결과를 AI에 반환",</a:t>
            </a:r>
          </a:p>
          <a:p xmlns:a="http://schemas.openxmlformats.org/drawingml/2006/main">
            <a:r>
              <a:t>          "output": "출처 안내"</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"실패 응답·스키마 변경·호출량의 검사",</a:t>
            </a:r>
          </a:p>
          <a:p xmlns:a="http://schemas.openxmlformats.org/drawingml/2006/main">
            <a:r>
              <a:t>          "output": "도구 인자·원천 응답·사용자 안내의 일치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"실패 응답·스키마 변경·호출량의 검사",</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"소관 부처 서비스 개시 발표",</a:t>
            </a:r>
          </a:p>
          <a:p xmlns:a="http://schemas.openxmlformats.org/drawingml/2006/main">
            <a:r>
              <a:t>        "url": "https://www.moel.go.kr/news/enews/report/enewsView.do?news_seq=19787"</a:t>
            </a:r>
          </a:p>
          <a:p xmlns:a="http://schemas.openxmlformats.org/drawingml/2006/main">
            <a:r>
              <a:t>      }</a:t>
            </a:r>
          </a:p>
          <a:p xmlns:a="http://schemas.openxmlformats.org/drawingml/2006/main">
            <a:r>
              <a:t>    ],</a:t>
            </a:r>
          </a:p>
          <a:p xmlns:a="http://schemas.openxmlformats.org/drawingml/2006/main">
            <a:r>
              <a:t>    "implication": "기존 공공 API를 AI 조회 도구로 연결하고 원천 응답과 안내의 일치 검증",</a:t>
            </a:r>
          </a:p>
          <a:p xmlns:a="http://schemas.openxmlformats.org/drawingml/2006/main">
            <a:r>
              <a:t>    "local": "기존 공공 API를 AI 조회 도구로 연결하고 원천 응답과 안내의 일치 검증",</a:t>
            </a:r>
          </a:p>
          <a:p xmlns:a="http://schemas.openxmlformats.org/drawingml/2006/main">
            <a:r>
              <a:t>    "sourceDetail": null,</a:t>
            </a:r>
          </a:p>
          <a:p xmlns:a="http://schemas.openxmlformats.org/drawingml/2006/main">
            <a:r>
              <a:t>    "narrative": [</a:t>
            </a:r>
          </a:p>
          <a:p xmlns:a="http://schemas.openxmlformats.org/drawingml/2006/main">
            <a:r>
              <a:t>      "한국산업인력공단의 공공 API를 MCP 도구로 제공하는 사례. 외부 AI가 추정한 답을 생성하기 전에 기관의 공식 데이터를 조회할 수 있도록 접근 수단을 제공하는 방식.",</a:t>
            </a:r>
          </a:p>
          <a:p xmlns:a="http://schemas.openxmlformats.org/drawingml/2006/main">
            <a:r>
              <a:t>      "AI 클라이언트의 도구 요청을 MCP 서버에서 공식 API 호출로 변환하고 결과를 구조화해 반환하는 흐름. 도구 이름·입력 스키마·오류 형식·데이터 시점을 명확히 정의하는 것이 서비스 연결의 핵심.",</a:t>
            </a:r>
          </a:p>
          <a:p xmlns:a="http://schemas.openxmlformats.org/drawingml/2006/main">
            <a:r>
              <a:t>      "TS 공공데이터·자격·검사 안내에서도 공식 조회와 자연어 설명을 분리하는 참고. 잘못된 인자, 결과 없음, API 장애, 오래된 데이터의 처리와 읽기 전용 권한을 검수하고 외부 AI의 최종 설명에서 출처를 확인할 수 있도록 제공."</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"외부 AI 질의",</a:t>
            </a:r>
          </a:p>
          <a:p xmlns:a="http://schemas.openxmlformats.org/drawingml/2006/main">
            <a:r>
              <a:t>          "layer": "이용 접점",</a:t>
            </a:r>
          </a:p>
          <a:p xmlns:a="http://schemas.openxmlformats.org/drawingml/2006/main">
            <a:r>
              <a:t>          "detail": "외부 AI 이용자·API 운영기관",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"도구·인자 정의",</a:t>
            </a:r>
          </a:p>
          <a:p xmlns:a="http://schemas.openxmlformats.org/drawingml/2006/main">
            <a:r>
              <a:t>          "layer": "업무 문맥",</a:t>
            </a:r>
          </a:p>
          <a:p xmlns:a="http://schemas.openxmlformats.org/drawingml/2006/main">
            <a:r>
              <a:t>          "detail": "자연어 질의를 조회 도구와 인자로 변환",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"공식 API 선택",</a:t>
            </a:r>
          </a:p>
          <a:p xmlns:a="http://schemas.openxmlformats.org/drawingml/2006/main">
            <a:r>
              <a:t>          "layer": "자료 조회",</a:t>
            </a:r>
          </a:p>
          <a:p xmlns:a="http://schemas.openxmlformats.org/drawingml/2006/main">
            <a:r>
              <a:t>          "detail": "조회 의도",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"MCP 호출 조정",</a:t>
            </a:r>
          </a:p>
          <a:p xmlns:a="http://schemas.openxmlformats.org/drawingml/2006/main">
            <a:r>
              <a:t>          "layer": "핵심 처리",</a:t>
            </a:r>
          </a:p>
          <a:p xmlns:a="http://schemas.openxmlformats.org/drawingml/2006/main">
            <a:r>
              <a:t>          "detail": "MCP 도구의 인자 검사·API 호출 조정",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"스키마·상태 검사",</a:t>
            </a:r>
          </a:p>
          <a:p xmlns:a="http://schemas.openxmlformats.org/drawingml/2006/main">
            <a:r>
              <a:t>          "layer": "결과 검증",</a:t>
            </a:r>
          </a:p>
          <a:p xmlns:a="http://schemas.openxmlformats.org/drawingml/2006/main">
            <a:r>
              <a:t>          "detail": "인자·스키마·오류·최신성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"이용자 확인",</a:t>
            </a:r>
          </a:p>
          <a:p xmlns:a="http://schemas.openxmlformats.org/drawingml/2006/main">
            <a:r>
              <a:t>          "layer": "사람 확인",</a:t>
            </a:r>
          </a:p>
          <a:p xmlns:a="http://schemas.openxmlformats.org/drawingml/2006/main">
            <a:r>
              <a:t>          "detail": "자연어 요청을 공식 API 인자로 변환해 조회",</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"출처 조회 결과",</a:t>
            </a:r>
          </a:p>
          <a:p xmlns:a="http://schemas.openxmlformats.org/drawingml/2006/main">
            <a:r>
              <a:t>          "layer": "업무 연결",</a:t>
            </a:r>
          </a:p>
          <a:p xmlns:a="http://schemas.openxmlformats.org/drawingml/2006/main">
            <a:r>
              <a:t>          "detail": "출처가 있는 공식 조회 결과를 AI에 반환",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"호출·변경 검사",</a:t>
            </a:r>
          </a:p>
          <a:p xmlns:a="http://schemas.openxmlformats.org/drawingml/2006/main">
            <a:r>
              <a:t>          "layer": "운영 관측",</a:t>
            </a:r>
          </a:p>
          <a:p xmlns:a="http://schemas.openxmlformats.org/drawingml/2006/main">
            <a:r>
              <a:t>          "detail": "실패 응답·스키마 변경·호출량의 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"공공 API·코드",</a:t>
            </a:r>
          </a:p>
          <a:p xmlns:a="http://schemas.openxmlformats.org/drawingml/2006/main">
            <a:r>
              <a:t>          "layer": "데이터 원천",</a:t>
            </a:r>
          </a:p>
          <a:p xmlns:a="http://schemas.openxmlformats.org/drawingml/2006/main">
            <a:r>
              <a:t>          "detail": "기존 공공 API",</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"스키마·갱신일 정리",</a:t>
            </a:r>
          </a:p>
          <a:p xmlns:a="http://schemas.openxmlformats.org/drawingml/2006/main">
            <a:r>
              <a:t>          "layer": "준비·갱신",</a:t>
            </a:r>
          </a:p>
          <a:p xmlns:a="http://schemas.openxmlformats.org/drawingml/2006/main">
            <a:r>
              <a:t>          "detail": "공식 API 스키마·코드·갱신일 참조",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"도구·호출 기록",</a:t>
            </a:r>
          </a:p>
          <a:p xmlns:a="http://schemas.openxmlformats.org/drawingml/2006/main">
            <a:r>
              <a:t>          "layer": "상태·지식 저장",</a:t>
            </a:r>
          </a:p>
          <a:p xmlns:a="http://schemas.openxmlformats.org/drawingml/2006/main">
            <a:r>
              <a:t>          "detail": "도구 인자·원천 응답·사용자 안내의 일치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"호출 권한·한도",</a:t>
            </a:r>
          </a:p>
          <a:p xmlns:a="http://schemas.openxmlformats.org/drawingml/2006/main">
            <a:r>
              <a:t>          "layer": "권한·정책",</a:t>
            </a:r>
          </a:p>
          <a:p xmlns:a="http://schemas.openxmlformats.org/drawingml/2006/main">
            <a:r>
              <a:t>          "detail": "필수 인자 누락·스키마 변경·API 지연·빈 결과",</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"자연어 질의를 조회 도구와 인자로 변환",</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"조회 의도",</a:t>
            </a:r>
          </a:p>
          <a:p xmlns:a="http://schemas.openxmlformats.org/drawingml/2006/main">
            <a:r>
              <a:t>          "check": "인자·스키마·오류·최신성 대사"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"도구 인자",</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"공식 API 결과",</a:t>
            </a:r>
          </a:p>
          <a:p xmlns:a="http://schemas.openxmlformats.org/drawingml/2006/main">
            <a:r>
              <a:t>          "check": "필수 인자 누락·스키마 변경·API 지연·빈 결과"</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"공식 API 결과",</a:t>
            </a:r>
          </a:p>
          <a:p xmlns:a="http://schemas.openxmlformats.org/drawingml/2006/main">
            <a:r>
              <a:t>          "check": "출처가 있는 공식 조회 결과를 AI에 반환"</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"출처 안내",</a:t>
            </a:r>
          </a:p>
          <a:p xmlns:a="http://schemas.openxmlformats.org/drawingml/2006/main">
            <a:r>
              <a:t>          "check": "도구 인자·원천 응답·사용자 안내의 일치 기록"</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"공공 API의 AI 도구 접점 제공 / MCP 도구·공식 API 조회·결과 안내",</a:t>
            </a:r>
          </a:p>
          <a:p xmlns:a="http://schemas.openxmlformats.org/drawingml/2006/main">
            <a:r>
              <a:t>        "extension": "기존 공공 API를 AI 조회 도구로 연결하고 원천 응답과 안내의 일치 검증"</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"필수 인자 누락·스키마 변경·API 지연·빈 결과",</a:t>
            </a:r>
          </a:p>
          <a:p xmlns:a="http://schemas.openxmlformats.org/drawingml/2006/main">
            <a:r>
              <a:t>        "hold": "인자·스키마·오류·최신성 대사",</a:t>
            </a:r>
          </a:p>
          <a:p xmlns:a="http://schemas.openxmlformats.org/drawingml/2006/main">
            <a:r>
              <a:t>        "recovery": "실패 응답·스키마 변경·호출량의 검사",</a:t>
            </a:r>
          </a:p>
          <a:p xmlns:a="http://schemas.openxmlformats.org/drawingml/2006/main">
            <a:r>
              <a:t>        "evidence": "도구 인자·원천 응답·사용자 안내의 일치 기록"</a:t>
            </a:r>
          </a:p>
          <a:p xmlns:a="http://schemas.openxmlformats.org/drawingml/2006/main">
            <a:r>
              <a:t>      },</a:t>
            </a:r>
          </a:p>
          <a:p xmlns:a="http://schemas.openxmlformats.org/drawingml/2006/main">
            <a:r>
              <a:t>      "data": {</a:t>
            </a:r>
          </a:p>
          <a:p xmlns:a="http://schemas.openxmlformats.org/drawingml/2006/main">
            <a:r>
              <a:t>        "source": "기존 공공 API",</a:t>
            </a:r>
          </a:p>
          <a:p xmlns:a="http://schemas.openxmlformats.org/drawingml/2006/main">
            <a:r>
              <a:t>        "prepare": "공식 API 스키마·코드·갱신일 참조",</a:t>
            </a:r>
          </a:p>
          <a:p xmlns:a="http://schemas.openxmlformats.org/drawingml/2006/main">
            <a:r>
              <a:t>        "output": "조회 의도",</a:t>
            </a:r>
          </a:p>
          <a:p xmlns:a="http://schemas.openxmlformats.org/drawingml/2006/main">
            <a:r>
              <a:t>        "refresh": "실패 응답·스키마 변경·호출량의 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"PF03",</a:t>
            </a:r>
          </a:p>
          <a:p xmlns:a="http://schemas.openxmlformats.org/drawingml/2006/main">
            <a:r>
              <a:t>    "success": [</a:t>
            </a:r>
          </a:p>
          <a:p xmlns:a="http://schemas.openxmlformats.org/drawingml/2006/main">
            <a:r>
              <a:t>      "기존 공식 API의 재사용",</a:t>
            </a:r>
          </a:p>
          <a:p xmlns:a="http://schemas.openxmlformats.org/drawingml/2006/main">
            <a:r>
              <a:t>      "AI 도구의 공식 데이터 조회 연결"</a:t>
            </a:r>
          </a:p>
          <a:p xmlns:a="http://schemas.openxmlformats.org/drawingml/2006/main">
            <a:r>
              <a:t>    ],</a:t>
            </a:r>
          </a:p>
          <a:p xmlns:a="http://schemas.openxmlformats.org/drawingml/2006/main">
            <a:r>
              <a:t>    "risks": [</a:t>
            </a:r>
          </a:p>
          <a:p xmlns:a="http://schemas.openxmlformats.org/drawingml/2006/main">
            <a:r>
              <a:t>      "도구 응답 지연·스키마 변경",</a:t>
            </a:r>
          </a:p>
          <a:p xmlns:a="http://schemas.openxmlformats.org/drawingml/2006/main">
            <a:r>
              <a:t>      "조회 성공을 신청 완료로 오인"</a:t>
            </a:r>
          </a:p>
          <a:p xmlns:a="http://schemas.openxmlformats.org/drawingml/2006/main">
            <a:r>
              <a:t>    ],</a:t>
            </a:r>
          </a:p>
          <a:p xmlns:a="http://schemas.openxmlformats.org/drawingml/2006/main">
            <a:r>
              <a:t>    "architecture": [</a:t>
            </a:r>
          </a:p>
          <a:p xmlns:a="http://schemas.openxmlformats.org/drawingml/2006/main">
            <a:r>
              <a:t>      "외부 AI",</a:t>
            </a:r>
          </a:p>
          <a:p xmlns:a="http://schemas.openxmlformats.org/drawingml/2006/main">
            <a:r>
              <a:t>      "MCP 도구",</a:t>
            </a:r>
          </a:p>
          <a:p xmlns:a="http://schemas.openxmlformats.org/drawingml/2006/main">
            <a:r>
              <a:t>      "기존 공공 API",</a:t>
            </a:r>
          </a:p>
          <a:p xmlns:a="http://schemas.openxmlformats.org/drawingml/2006/main">
            <a:r>
              <a:t>      "데이터 이용자"</a:t>
            </a:r>
          </a:p>
          <a:p xmlns:a="http://schemas.openxmlformats.org/drawingml/2006/main">
            <a:r>
              <a:t>    ],</a:t>
            </a:r>
          </a:p>
          <a:p xmlns:a="http://schemas.openxmlformats.org/drawingml/2006/main">
            <a:r>
              <a:t>    "transfers": [</a:t>
            </a:r>
          </a:p>
          <a:p xmlns:a="http://schemas.openxmlformats.org/drawingml/2006/main">
            <a:r>
              <a:t>      "조회 의도",</a:t>
            </a:r>
          </a:p>
          <a:p xmlns:a="http://schemas.openxmlformats.org/drawingml/2006/main">
            <a:r>
              <a:t>      "도구 인자",</a:t>
            </a:r>
          </a:p>
          <a:p xmlns:a="http://schemas.openxmlformats.org/drawingml/2006/main">
            <a:r>
              <a:t>      "공식 API 결과",</a:t>
            </a:r>
          </a:p>
          <a:p xmlns:a="http://schemas.openxmlformats.org/drawingml/2006/main">
            <a:r>
              <a:t>      "출처 안내"</a:t>
            </a:r>
          </a:p>
          <a:p xmlns:a="http://schemas.openxmlformats.org/drawingml/2006/main">
            <a:r>
              <a:t>    ],</a:t>
            </a:r>
          </a:p>
          <a:p xmlns:a="http://schemas.openxmlformats.org/drawingml/2006/main">
            <a:r>
              <a:t>    "control": "인자·스키마·오류·최신성 대사",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소관 부처 서비스 개시 발표 https://www.moel.go.kr/news/enews/report/enewsView.do?news_seq=19787</a:t>
            </a:r>
          </a:p>
          <a:p xmlns:a="http://schemas.openxmlformats.org/drawingml/2006/main">
            <a:r>
              <a:t>홈페이지 https://heen1987-ops.github.io/TS-business-Plan-001/index.html?view=platform-cases&amp;case=PF03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"PF03",</a:t>
            </a:r>
          </a:p>
          <a:p xmlns:a="http://schemas.openxmlformats.org/drawingml/2006/main">
            <a:r>
              <a:t>    "sourceId": "A04",</a:t>
            </a:r>
          </a:p>
          <a:p xmlns:a="http://schemas.openxmlformats.org/drawingml/2006/main">
            <a:r>
              <a:t>    "title": "HRDKorea MCP",</a:t>
            </a:r>
          </a:p>
          <a:p xmlns:a="http://schemas.openxmlformats.org/drawingml/2006/main">
            <a:r>
              <a:t>    "region": "국내",</a:t>
            </a:r>
          </a:p>
          <a:p xmlns:a="http://schemas.openxmlformats.org/drawingml/2006/main">
            <a:r>
              <a:t>    "owner": "한국산업인력공단",</a:t>
            </a:r>
          </a:p>
          <a:p xmlns:a="http://schemas.openxmlformats.org/drawingml/2006/main">
            <a:r>
              <a:t>    "state": "공개 데이터 연계 서비스",</a:t>
            </a:r>
          </a:p>
          <a:p xmlns:a="http://schemas.openxmlformats.org/drawingml/2006/main">
            <a:r>
              <a:t>    "period": "2026.08 개시",</a:t>
            </a:r>
          </a:p>
          <a:p xmlns:a="http://schemas.openxmlformats.org/drawingml/2006/main">
            <a:r>
              <a:t>    "fact": "기존 공공 API를 MCP 도구로 제공하여 외부 AI의 공식 데이터 조회 지원",</a:t>
            </a:r>
          </a:p>
          <a:p xmlns:a="http://schemas.openxmlformats.org/drawingml/2006/main">
            <a:r>
              <a:t>    "limit": "공개 조회의 구축 사례 · 내부 결재·수정 실행의 검증과 별개",</a:t>
            </a:r>
          </a:p>
          <a:p xmlns:a="http://schemas.openxmlformats.org/drawingml/2006/main">
            <a:r>
              <a:t>    "nodes": [</a:t>
            </a:r>
          </a:p>
          <a:p xmlns:a="http://schemas.openxmlformats.org/drawingml/2006/main">
            <a:r>
              <a:t>      "외부 AI 요청",</a:t>
            </a:r>
          </a:p>
          <a:p xmlns:a="http://schemas.openxmlformats.org/drawingml/2006/main">
            <a:r>
              <a:t>      "MCP 도구 선택",</a:t>
            </a:r>
          </a:p>
          <a:p xmlns:a="http://schemas.openxmlformats.org/drawingml/2006/main">
            <a:r>
              <a:t>      "기존 공식 API",</a:t>
            </a:r>
          </a:p>
          <a:p xmlns:a="http://schemas.openxmlformats.org/drawingml/2006/main">
            <a:r>
              <a:t>      "최신 데이터 안내"</a:t>
            </a:r>
          </a:p>
          <a:p xmlns:a="http://schemas.openxmlformats.org/drawingml/2006/main">
            <a:r>
              <a:t>    ],</a:t>
            </a:r>
          </a:p>
          <a:p xmlns:a="http://schemas.openxmlformats.org/drawingml/2006/main">
            <a:r>
              <a:t>    "apply": "기존 공공 API를 AI 조회 도구로 연결하고 원천 응답과 안내의 일치 검증",</a:t>
            </a:r>
          </a:p>
          <a:p xmlns:a="http://schemas.openxmlformats.org/drawingml/2006/main">
            <a:r>
              <a:t>    "delta": "기관·직무별 도구 권한 / 요청키 / 오류·중복 처리",</a:t>
            </a:r>
          </a:p>
          <a:p xmlns:a="http://schemas.openxmlformats.org/drawingml/2006/main">
            <a:r>
              <a:t>    "test": "도구별 입력·응답·인증·오류 처리 계약 및 쓰기 요청 차단",</a:t>
            </a:r>
          </a:p>
          <a:p xmlns:a="http://schemas.openxmlformats.org/drawingml/2006/main">
            <a:r>
              <a:t>    "url": "https://www.moel.go.kr/news/enews/report/enewsView.do?news_seq=19787",</a:t>
            </a:r>
          </a:p>
          <a:p xmlns:a="http://schemas.openxmlformats.org/drawingml/2006/main">
            <a:r>
              <a:t>    "basis": "소관 부처 서비스 개시 발표",</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"https://www.moel.go.kr/news/enews/report/enewsView.do?news_seq=19787"</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"PF03",</a:t>
            </a:r>
          </a:p>
          <a:p xmlns:a="http://schemas.openxmlformats.org/drawingml/2006/main">
            <a:r>
              <a:t>    "canonicalId": "PF03",</a:t>
            </a:r>
          </a:p>
          <a:p xmlns:a="http://schemas.openxmlformats.org/drawingml/2006/main">
            <a:r>
              <a:t>    "purpose": "공공 API의 AI 도구 접점 제공",</a:t>
            </a:r>
          </a:p>
          <a:p xmlns:a="http://schemas.openxmlformats.org/drawingml/2006/main">
            <a:r>
              <a:t>    "users": "외부 AI 이용자·API 운영기관",</a:t>
            </a:r>
          </a:p>
          <a:p xmlns:a="http://schemas.openxmlformats.org/drawingml/2006/main">
            <a:r>
              <a:t>    "scope": [</a:t>
            </a:r>
          </a:p>
          <a:p xmlns:a="http://schemas.openxmlformats.org/drawingml/2006/main">
            <a:r>
              <a:t>      "MCP 도구",</a:t>
            </a:r>
          </a:p>
          <a:p xmlns:a="http://schemas.openxmlformats.org/drawingml/2006/main">
            <a:r>
              <a:t>      "공식 API 조회",</a:t>
            </a:r>
          </a:p>
          <a:p xmlns:a="http://schemas.openxmlformats.org/drawingml/2006/main">
            <a:r>
              <a:t>      "결과 안내"</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"외부 AI",</a:t>
            </a:r>
          </a:p>
          <a:p xmlns:a="http://schemas.openxmlformats.org/drawingml/2006/main">
            <a:r>
              <a:t>        "detail": "자연어 질의를 조회 도구와 인자로 변환",</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"MCP 도구 / 공식 API 조회 / 결과 안내",</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"MCP 도구",</a:t>
            </a:r>
          </a:p>
          <a:p xmlns:a="http://schemas.openxmlformats.org/drawingml/2006/main">
            <a:r>
              <a:t>        "detail": "MCP 도구의 인자 검사·API 호출 조정",</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"데이터 이용자",</a:t>
            </a:r>
          </a:p>
          <a:p xmlns:a="http://schemas.openxmlformats.org/drawingml/2006/main">
            <a:r>
              <a:t>        "detail": "출처가 있는 공식 조회 결과를 AI에 반환",</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"기존 공공 API",</a:t>
            </a:r>
          </a:p>
          <a:p xmlns:a="http://schemas.openxmlformats.org/drawingml/2006/main">
            <a:r>
              <a:t>        "detail": "공식 API 스키마·코드·갱신일 참조",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"실패 응답·스키마 변경·호출량의 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"외부 AI 요청",</a:t>
            </a:r>
          </a:p>
          <a:p xmlns:a="http://schemas.openxmlformats.org/drawingml/2006/main">
            <a:r>
              <a:t>        "input": "자연어 질의를 조회 도구와 인자로 변환",</a:t>
            </a:r>
          </a:p>
          <a:p xmlns:a="http://schemas.openxmlformats.org/drawingml/2006/main">
            <a:r>
              <a:t>        "process": "공식 API 스키마·코드·갱신일 참조",</a:t>
            </a:r>
          </a:p>
          <a:p xmlns:a="http://schemas.openxmlformats.org/drawingml/2006/main">
            <a:r>
              <a:t>        "output": "조회 의도"</a:t>
            </a:r>
          </a:p>
          <a:p xmlns:a="http://schemas.openxmlformats.org/drawingml/2006/main">
            <a:r>
              <a:t>      },</a:t>
            </a:r>
          </a:p>
          <a:p xmlns:a="http://schemas.openxmlformats.org/drawingml/2006/main">
            <a:r>
              <a:t>      {</a:t>
            </a:r>
          </a:p>
          <a:p xmlns:a="http://schemas.openxmlformats.org/drawingml/2006/main">
            <a:r>
              <a:t>        "title": "MCP 도구 선택",</a:t>
            </a:r>
          </a:p>
          <a:p xmlns:a="http://schemas.openxmlformats.org/drawingml/2006/main">
            <a:r>
              <a:t>        "input": "조회 의도",</a:t>
            </a:r>
          </a:p>
          <a:p xmlns:a="http://schemas.openxmlformats.org/drawingml/2006/main">
            <a:r>
              <a:t>        "process": "MCP 도구의 인자 검사·API 호출 조정",</a:t>
            </a:r>
          </a:p>
          <a:p xmlns:a="http://schemas.openxmlformats.org/drawingml/2006/main">
            <a:r>
              <a:t>        "output": "도구 인자"</a:t>
            </a:r>
          </a:p>
          <a:p xmlns:a="http://schemas.openxmlformats.org/drawingml/2006/main">
            <a:r>
              <a:t>      },</a:t>
            </a:r>
          </a:p>
          <a:p xmlns:a="http://schemas.openxmlformats.org/drawingml/2006/main">
            <a:r>
              <a:t>      {</a:t>
            </a:r>
          </a:p>
          <a:p xmlns:a="http://schemas.openxmlformats.org/drawingml/2006/main">
            <a:r>
              <a:t>        "title": "기존 공식 API",</a:t>
            </a:r>
          </a:p>
          <a:p xmlns:a="http://schemas.openxmlformats.org/drawingml/2006/main">
            <a:r>
              <a:t>        "input": "도구 인자",</a:t>
            </a:r>
          </a:p>
          <a:p xmlns:a="http://schemas.openxmlformats.org/drawingml/2006/main">
            <a:r>
              <a:t>        "process": "인자·스키마·오류·최신성 대사",</a:t>
            </a:r>
          </a:p>
          <a:p xmlns:a="http://schemas.openxmlformats.org/drawingml/2006/main">
            <a:r>
              <a:t>        "output": "공식 API 결과"</a:t>
            </a:r>
          </a:p>
          <a:p xmlns:a="http://schemas.openxmlformats.org/drawingml/2006/main">
            <a:r>
              <a:t>      },</a:t>
            </a:r>
          </a:p>
          <a:p xmlns:a="http://schemas.openxmlformats.org/drawingml/2006/main">
            <a:r>
              <a:t>      {</a:t>
            </a:r>
          </a:p>
          <a:p xmlns:a="http://schemas.openxmlformats.org/drawingml/2006/main">
            <a:r>
              <a:t>        "title": "최신 데이터 안내",</a:t>
            </a:r>
          </a:p>
          <a:p xmlns:a="http://schemas.openxmlformats.org/drawingml/2006/main">
            <a:r>
              <a:t>        "input": "공식 API 결과",</a:t>
            </a:r>
          </a:p>
          <a:p xmlns:a="http://schemas.openxmlformats.org/drawingml/2006/main">
            <a:r>
              <a:t>        "process": "출처가 있는 공식 조회 결과를 AI에 반환",</a:t>
            </a:r>
          </a:p>
          <a:p xmlns:a="http://schemas.openxmlformats.org/drawingml/2006/main">
            <a:r>
              <a:t>        "output": "출처 안내"</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"자연어 요청을 공식 API 인자로 변환해 조회",</a:t>
            </a:r>
          </a:p>
          <a:p xmlns:a="http://schemas.openxmlformats.org/drawingml/2006/main">
            <a:r>
              <a:t>      "exception": "필수 인자 누락·스키마 변경·API 지연·빈 결과",</a:t>
            </a:r>
          </a:p>
          <a:p xmlns:a="http://schemas.openxmlformats.org/drawingml/2006/main">
            <a:r>
              <a:t>      "evidence": "도구 인자·원천 응답·사용자 안내의 일치 기록",</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"외부 AI 이용자·API 운영기관",</a:t>
            </a:r>
          </a:p>
          <a:p xmlns:a="http://schemas.openxmlformats.org/drawingml/2006/main">
            <a:r>
              <a:t>          "processing": "자연어 질의를 조회 도구와 인자로 변환",</a:t>
            </a:r>
          </a:p>
          <a:p xmlns:a="http://schemas.openxmlformats.org/drawingml/2006/main">
            <a:r>
              <a:t>          "output": "조회 의도"</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"기존 공공 API",</a:t>
            </a:r>
          </a:p>
          <a:p xmlns:a="http://schemas.openxmlformats.org/drawingml/2006/main">
            <a:r>
              <a:t>          "processing": "공식 API 스키마·코드·갱신일 참조",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"조회 의도",</a:t>
            </a:r>
          </a:p>
          <a:p xmlns:a="http://schemas.openxmlformats.org/drawingml/2006/main">
            <a:r>
              <a:t>          "processing": "MCP 도구의 인자 검사·API 호출 조정",</a:t>
            </a:r>
          </a:p>
          <a:p xmlns:a="http://schemas.openxmlformats.org/drawingml/2006/main">
            <a:r>
              <a:t>          "output": "공식 API 결과"</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"공식 API 결과",</a:t>
            </a:r>
          </a:p>
          <a:p xmlns:a="http://schemas.openxmlformats.org/drawingml/2006/main">
            <a:r>
              <a:t>          "processing": "출처가 있는 공식 조회 결과를 AI에 반환",</a:t>
            </a:r>
          </a:p>
          <a:p xmlns:a="http://schemas.openxmlformats.org/drawingml/2006/main">
            <a:r>
              <a:t>          "output": "출처 안내"</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"실패 응답·스키마 변경·호출량의 검사",</a:t>
            </a:r>
          </a:p>
          <a:p xmlns:a="http://schemas.openxmlformats.org/drawingml/2006/main">
            <a:r>
              <a:t>          "output": "도구 인자·원천 응답·사용자 안내의 일치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"실패 응답·스키마 변경·호출량의 검사",</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"소관 부처 서비스 개시 발표",</a:t>
            </a:r>
          </a:p>
          <a:p xmlns:a="http://schemas.openxmlformats.org/drawingml/2006/main">
            <a:r>
              <a:t>        "url": "https://www.moel.go.kr/news/enews/report/enewsView.do?news_seq=19787"</a:t>
            </a:r>
          </a:p>
          <a:p xmlns:a="http://schemas.openxmlformats.org/drawingml/2006/main">
            <a:r>
              <a:t>      }</a:t>
            </a:r>
          </a:p>
          <a:p xmlns:a="http://schemas.openxmlformats.org/drawingml/2006/main">
            <a:r>
              <a:t>    ],</a:t>
            </a:r>
          </a:p>
          <a:p xmlns:a="http://schemas.openxmlformats.org/drawingml/2006/main">
            <a:r>
              <a:t>    "implication": "기존 공공 API를 AI 조회 도구로 연결하고 원천 응답과 안내의 일치 검증",</a:t>
            </a:r>
          </a:p>
          <a:p xmlns:a="http://schemas.openxmlformats.org/drawingml/2006/main">
            <a:r>
              <a:t>    "local": "기존 공공 API를 AI 조회 도구로 연결하고 원천 응답과 안내의 일치 검증",</a:t>
            </a:r>
          </a:p>
          <a:p xmlns:a="http://schemas.openxmlformats.org/drawingml/2006/main">
            <a:r>
              <a:t>    "sourceDetail": null,</a:t>
            </a:r>
          </a:p>
          <a:p xmlns:a="http://schemas.openxmlformats.org/drawingml/2006/main">
            <a:r>
              <a:t>    "narrative": [</a:t>
            </a:r>
          </a:p>
          <a:p xmlns:a="http://schemas.openxmlformats.org/drawingml/2006/main">
            <a:r>
              <a:t>      "한국산업인력공단의 공공 API를 MCP 도구로 제공하는 사례. 외부 AI가 추정한 답을 생성하기 전에 기관의 공식 데이터를 조회할 수 있도록 접근 수단을 제공하는 방식.",</a:t>
            </a:r>
          </a:p>
          <a:p xmlns:a="http://schemas.openxmlformats.org/drawingml/2006/main">
            <a:r>
              <a:t>      "AI 클라이언트의 도구 요청을 MCP 서버에서 공식 API 호출로 변환하고 결과를 구조화해 반환하는 흐름. 도구 이름·입력 스키마·오류 형식·데이터 시점을 명확히 정의하는 것이 서비스 연결의 핵심.",</a:t>
            </a:r>
          </a:p>
          <a:p xmlns:a="http://schemas.openxmlformats.org/drawingml/2006/main">
            <a:r>
              <a:t>      "TS 공공데이터·자격·검사 안내에서도 공식 조회와 자연어 설명을 분리하는 참고. 잘못된 인자, 결과 없음, API 장애, 오래된 데이터의 처리와 읽기 전용 권한을 검수하고 외부 AI의 최종 설명에서 출처를 확인할 수 있도록 제공."</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"외부 AI 질의",</a:t>
            </a:r>
          </a:p>
          <a:p xmlns:a="http://schemas.openxmlformats.org/drawingml/2006/main">
            <a:r>
              <a:t>          "layer": "이용 접점",</a:t>
            </a:r>
          </a:p>
          <a:p xmlns:a="http://schemas.openxmlformats.org/drawingml/2006/main">
            <a:r>
              <a:t>          "detail": "외부 AI 이용자·API 운영기관",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"도구·인자 정의",</a:t>
            </a:r>
          </a:p>
          <a:p xmlns:a="http://schemas.openxmlformats.org/drawingml/2006/main">
            <a:r>
              <a:t>          "layer": "업무 문맥",</a:t>
            </a:r>
          </a:p>
          <a:p xmlns:a="http://schemas.openxmlformats.org/drawingml/2006/main">
            <a:r>
              <a:t>          "detail": "자연어 질의를 조회 도구와 인자로 변환",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"공식 API 선택",</a:t>
            </a:r>
          </a:p>
          <a:p xmlns:a="http://schemas.openxmlformats.org/drawingml/2006/main">
            <a:r>
              <a:t>          "layer": "자료 조회",</a:t>
            </a:r>
          </a:p>
          <a:p xmlns:a="http://schemas.openxmlformats.org/drawingml/2006/main">
            <a:r>
              <a:t>          "detail": "조회 의도",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"MCP 호출 조정",</a:t>
            </a:r>
          </a:p>
          <a:p xmlns:a="http://schemas.openxmlformats.org/drawingml/2006/main">
            <a:r>
              <a:t>          "layer": "핵심 처리",</a:t>
            </a:r>
          </a:p>
          <a:p xmlns:a="http://schemas.openxmlformats.org/drawingml/2006/main">
            <a:r>
              <a:t>          "detail": "MCP 도구의 인자 검사·API 호출 조정",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"스키마·상태 검사",</a:t>
            </a:r>
          </a:p>
          <a:p xmlns:a="http://schemas.openxmlformats.org/drawingml/2006/main">
            <a:r>
              <a:t>          "layer": "결과 검증",</a:t>
            </a:r>
          </a:p>
          <a:p xmlns:a="http://schemas.openxmlformats.org/drawingml/2006/main">
            <a:r>
              <a:t>          "detail": "인자·스키마·오류·최신성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"이용자 확인",</a:t>
            </a:r>
          </a:p>
          <a:p xmlns:a="http://schemas.openxmlformats.org/drawingml/2006/main">
            <a:r>
              <a:t>          "layer": "사람 확인",</a:t>
            </a:r>
          </a:p>
          <a:p xmlns:a="http://schemas.openxmlformats.org/drawingml/2006/main">
            <a:r>
              <a:t>          "detail": "자연어 요청을 공식 API 인자로 변환해 조회",</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"출처 조회 결과",</a:t>
            </a:r>
          </a:p>
          <a:p xmlns:a="http://schemas.openxmlformats.org/drawingml/2006/main">
            <a:r>
              <a:t>          "layer": "업무 연결",</a:t>
            </a:r>
          </a:p>
          <a:p xmlns:a="http://schemas.openxmlformats.org/drawingml/2006/main">
            <a:r>
              <a:t>          "detail": "출처가 있는 공식 조회 결과를 AI에 반환",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"호출·변경 검사",</a:t>
            </a:r>
          </a:p>
          <a:p xmlns:a="http://schemas.openxmlformats.org/drawingml/2006/main">
            <a:r>
              <a:t>          "layer": "운영 관측",</a:t>
            </a:r>
          </a:p>
          <a:p xmlns:a="http://schemas.openxmlformats.org/drawingml/2006/main">
            <a:r>
              <a:t>          "detail": "실패 응답·스키마 변경·호출량의 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"공공 API·코드",</a:t>
            </a:r>
          </a:p>
          <a:p xmlns:a="http://schemas.openxmlformats.org/drawingml/2006/main">
            <a:r>
              <a:t>          "layer": "데이터 원천",</a:t>
            </a:r>
          </a:p>
          <a:p xmlns:a="http://schemas.openxmlformats.org/drawingml/2006/main">
            <a:r>
              <a:t>          "detail": "기존 공공 API",</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"스키마·갱신일 정리",</a:t>
            </a:r>
          </a:p>
          <a:p xmlns:a="http://schemas.openxmlformats.org/drawingml/2006/main">
            <a:r>
              <a:t>          "layer": "준비·갱신",</a:t>
            </a:r>
          </a:p>
          <a:p xmlns:a="http://schemas.openxmlformats.org/drawingml/2006/main">
            <a:r>
              <a:t>          "detail": "공식 API 스키마·코드·갱신일 참조",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"도구·호출 기록",</a:t>
            </a:r>
          </a:p>
          <a:p xmlns:a="http://schemas.openxmlformats.org/drawingml/2006/main">
            <a:r>
              <a:t>          "layer": "상태·지식 저장",</a:t>
            </a:r>
          </a:p>
          <a:p xmlns:a="http://schemas.openxmlformats.org/drawingml/2006/main">
            <a:r>
              <a:t>          "detail": "도구 인자·원천 응답·사용자 안내의 일치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"호출 권한·한도",</a:t>
            </a:r>
          </a:p>
          <a:p xmlns:a="http://schemas.openxmlformats.org/drawingml/2006/main">
            <a:r>
              <a:t>          "layer": "권한·정책",</a:t>
            </a:r>
          </a:p>
          <a:p xmlns:a="http://schemas.openxmlformats.org/drawingml/2006/main">
            <a:r>
              <a:t>          "detail": "필수 인자 누락·스키마 변경·API 지연·빈 결과",</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"자연어 질의를 조회 도구와 인자로 변환",</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"조회 의도",</a:t>
            </a:r>
          </a:p>
          <a:p xmlns:a="http://schemas.openxmlformats.org/drawingml/2006/main">
            <a:r>
              <a:t>          "check": "인자·스키마·오류·최신성 대사"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"도구 인자",</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"공식 API 결과",</a:t>
            </a:r>
          </a:p>
          <a:p xmlns:a="http://schemas.openxmlformats.org/drawingml/2006/main">
            <a:r>
              <a:t>          "check": "필수 인자 누락·스키마 변경·API 지연·빈 결과"</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"공식 API 결과",</a:t>
            </a:r>
          </a:p>
          <a:p xmlns:a="http://schemas.openxmlformats.org/drawingml/2006/main">
            <a:r>
              <a:t>          "check": "출처가 있는 공식 조회 결과를 AI에 반환"</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"출처 안내",</a:t>
            </a:r>
          </a:p>
          <a:p xmlns:a="http://schemas.openxmlformats.org/drawingml/2006/main">
            <a:r>
              <a:t>          "check": "도구 인자·원천 응답·사용자 안내의 일치 기록"</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"공공 API의 AI 도구 접점 제공 / MCP 도구·공식 API 조회·결과 안내",</a:t>
            </a:r>
          </a:p>
          <a:p xmlns:a="http://schemas.openxmlformats.org/drawingml/2006/main">
            <a:r>
              <a:t>        "extension": "기존 공공 API를 AI 조회 도구로 연결하고 원천 응답과 안내의 일치 검증"</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"필수 인자 누락·스키마 변경·API 지연·빈 결과",</a:t>
            </a:r>
          </a:p>
          <a:p xmlns:a="http://schemas.openxmlformats.org/drawingml/2006/main">
            <a:r>
              <a:t>        "hold": "인자·스키마·오류·최신성 대사",</a:t>
            </a:r>
          </a:p>
          <a:p xmlns:a="http://schemas.openxmlformats.org/drawingml/2006/main">
            <a:r>
              <a:t>        "recovery": "실패 응답·스키마 변경·호출량의 검사",</a:t>
            </a:r>
          </a:p>
          <a:p xmlns:a="http://schemas.openxmlformats.org/drawingml/2006/main">
            <a:r>
              <a:t>        "evidence": "도구 인자·원천 응답·사용자 안내의 일치 기록"</a:t>
            </a:r>
          </a:p>
          <a:p xmlns:a="http://schemas.openxmlformats.org/drawingml/2006/main">
            <a:r>
              <a:t>      },</a:t>
            </a:r>
          </a:p>
          <a:p xmlns:a="http://schemas.openxmlformats.org/drawingml/2006/main">
            <a:r>
              <a:t>      "data": {</a:t>
            </a:r>
          </a:p>
          <a:p xmlns:a="http://schemas.openxmlformats.org/drawingml/2006/main">
            <a:r>
              <a:t>        "source": "기존 공공 API",</a:t>
            </a:r>
          </a:p>
          <a:p xmlns:a="http://schemas.openxmlformats.org/drawingml/2006/main">
            <a:r>
              <a:t>        "prepare": "공식 API 스키마·코드·갱신일 참조",</a:t>
            </a:r>
          </a:p>
          <a:p xmlns:a="http://schemas.openxmlformats.org/drawingml/2006/main">
            <a:r>
              <a:t>        "output": "조회 의도",</a:t>
            </a:r>
          </a:p>
          <a:p xmlns:a="http://schemas.openxmlformats.org/drawingml/2006/main">
            <a:r>
              <a:t>        "refresh": "실패 응답·스키마 변경·호출량의 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"PF03",</a:t>
            </a:r>
          </a:p>
          <a:p xmlns:a="http://schemas.openxmlformats.org/drawingml/2006/main">
            <a:r>
              <a:t>    "success": [</a:t>
            </a:r>
          </a:p>
          <a:p xmlns:a="http://schemas.openxmlformats.org/drawingml/2006/main">
            <a:r>
              <a:t>      "기존 공식 API의 재사용",</a:t>
            </a:r>
          </a:p>
          <a:p xmlns:a="http://schemas.openxmlformats.org/drawingml/2006/main">
            <a:r>
              <a:t>      "AI 도구의 공식 데이터 조회 연결"</a:t>
            </a:r>
          </a:p>
          <a:p xmlns:a="http://schemas.openxmlformats.org/drawingml/2006/main">
            <a:r>
              <a:t>    ],</a:t>
            </a:r>
          </a:p>
          <a:p xmlns:a="http://schemas.openxmlformats.org/drawingml/2006/main">
            <a:r>
              <a:t>    "risks": [</a:t>
            </a:r>
          </a:p>
          <a:p xmlns:a="http://schemas.openxmlformats.org/drawingml/2006/main">
            <a:r>
              <a:t>      "도구 응답 지연·스키마 변경",</a:t>
            </a:r>
          </a:p>
          <a:p xmlns:a="http://schemas.openxmlformats.org/drawingml/2006/main">
            <a:r>
              <a:t>      "조회 성공을 신청 완료로 오인"</a:t>
            </a:r>
          </a:p>
          <a:p xmlns:a="http://schemas.openxmlformats.org/drawingml/2006/main">
            <a:r>
              <a:t>    ],</a:t>
            </a:r>
          </a:p>
          <a:p xmlns:a="http://schemas.openxmlformats.org/drawingml/2006/main">
            <a:r>
              <a:t>    "architecture": [</a:t>
            </a:r>
          </a:p>
          <a:p xmlns:a="http://schemas.openxmlformats.org/drawingml/2006/main">
            <a:r>
              <a:t>      "외부 AI",</a:t>
            </a:r>
          </a:p>
          <a:p xmlns:a="http://schemas.openxmlformats.org/drawingml/2006/main">
            <a:r>
              <a:t>      "MCP 도구",</a:t>
            </a:r>
          </a:p>
          <a:p xmlns:a="http://schemas.openxmlformats.org/drawingml/2006/main">
            <a:r>
              <a:t>      "기존 공공 API",</a:t>
            </a:r>
          </a:p>
          <a:p xmlns:a="http://schemas.openxmlformats.org/drawingml/2006/main">
            <a:r>
              <a:t>      "데이터 이용자"</a:t>
            </a:r>
          </a:p>
          <a:p xmlns:a="http://schemas.openxmlformats.org/drawingml/2006/main">
            <a:r>
              <a:t>    ],</a:t>
            </a:r>
          </a:p>
          <a:p xmlns:a="http://schemas.openxmlformats.org/drawingml/2006/main">
            <a:r>
              <a:t>    "transfers": [</a:t>
            </a:r>
          </a:p>
          <a:p xmlns:a="http://schemas.openxmlformats.org/drawingml/2006/main">
            <a:r>
              <a:t>      "조회 의도",</a:t>
            </a:r>
          </a:p>
          <a:p xmlns:a="http://schemas.openxmlformats.org/drawingml/2006/main">
            <a:r>
              <a:t>      "도구 인자",</a:t>
            </a:r>
          </a:p>
          <a:p xmlns:a="http://schemas.openxmlformats.org/drawingml/2006/main">
            <a:r>
              <a:t>      "공식 API 결과",</a:t>
            </a:r>
          </a:p>
          <a:p xmlns:a="http://schemas.openxmlformats.org/drawingml/2006/main">
            <a:r>
              <a:t>      "출처 안내"</a:t>
            </a:r>
          </a:p>
          <a:p xmlns:a="http://schemas.openxmlformats.org/drawingml/2006/main">
            <a:r>
              <a:t>    ],</a:t>
            </a:r>
          </a:p>
          <a:p xmlns:a="http://schemas.openxmlformats.org/drawingml/2006/main">
            <a:r>
              <a:t>    "control": "인자·스키마·오류·최신성 대사",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소관 부처 서비스 개시 발표 https://www.moel.go.kr/news/enews/report/enewsView.do?news_seq=19787</a:t>
            </a:r>
          </a:p>
          <a:p xmlns:a="http://schemas.openxmlformats.org/drawingml/2006/main">
            <a:r>
              <a:t>홈페이지 https://heen1987-ops.github.io/TS-business-Plan-001/index.html?view=platform-cases&amp;case=PF03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"PF03",</a:t>
            </a:r>
          </a:p>
          <a:p xmlns:a="http://schemas.openxmlformats.org/drawingml/2006/main">
            <a:r>
              <a:t>    "sourceId": "A04",</a:t>
            </a:r>
          </a:p>
          <a:p xmlns:a="http://schemas.openxmlformats.org/drawingml/2006/main">
            <a:r>
              <a:t>    "title": "HRDKorea MCP",</a:t>
            </a:r>
          </a:p>
          <a:p xmlns:a="http://schemas.openxmlformats.org/drawingml/2006/main">
            <a:r>
              <a:t>    "region": "국내",</a:t>
            </a:r>
          </a:p>
          <a:p xmlns:a="http://schemas.openxmlformats.org/drawingml/2006/main">
            <a:r>
              <a:t>    "owner": "한국산업인력공단",</a:t>
            </a:r>
          </a:p>
          <a:p xmlns:a="http://schemas.openxmlformats.org/drawingml/2006/main">
            <a:r>
              <a:t>    "state": "공개 데이터 연계 서비스",</a:t>
            </a:r>
          </a:p>
          <a:p xmlns:a="http://schemas.openxmlformats.org/drawingml/2006/main">
            <a:r>
              <a:t>    "period": "2026.08 개시",</a:t>
            </a:r>
          </a:p>
          <a:p xmlns:a="http://schemas.openxmlformats.org/drawingml/2006/main">
            <a:r>
              <a:t>    "fact": "기존 공공 API를 MCP 도구로 제공하여 외부 AI의 공식 데이터 조회 지원",</a:t>
            </a:r>
          </a:p>
          <a:p xmlns:a="http://schemas.openxmlformats.org/drawingml/2006/main">
            <a:r>
              <a:t>    "limit": "공개 조회의 구축 사례 · 내부 결재·수정 실행의 검증과 별개",</a:t>
            </a:r>
          </a:p>
          <a:p xmlns:a="http://schemas.openxmlformats.org/drawingml/2006/main">
            <a:r>
              <a:t>    "nodes": [</a:t>
            </a:r>
          </a:p>
          <a:p xmlns:a="http://schemas.openxmlformats.org/drawingml/2006/main">
            <a:r>
              <a:t>      "외부 AI 요청",</a:t>
            </a:r>
          </a:p>
          <a:p xmlns:a="http://schemas.openxmlformats.org/drawingml/2006/main">
            <a:r>
              <a:t>      "MCP 도구 선택",</a:t>
            </a:r>
          </a:p>
          <a:p xmlns:a="http://schemas.openxmlformats.org/drawingml/2006/main">
            <a:r>
              <a:t>      "기존 공식 API",</a:t>
            </a:r>
          </a:p>
          <a:p xmlns:a="http://schemas.openxmlformats.org/drawingml/2006/main">
            <a:r>
              <a:t>      "최신 데이터 안내"</a:t>
            </a:r>
          </a:p>
          <a:p xmlns:a="http://schemas.openxmlformats.org/drawingml/2006/main">
            <a:r>
              <a:t>    ],</a:t>
            </a:r>
          </a:p>
          <a:p xmlns:a="http://schemas.openxmlformats.org/drawingml/2006/main">
            <a:r>
              <a:t>    "apply": "기존 공공 API를 AI 조회 도구로 연결하고 원천 응답과 안내의 일치 검증",</a:t>
            </a:r>
          </a:p>
          <a:p xmlns:a="http://schemas.openxmlformats.org/drawingml/2006/main">
            <a:r>
              <a:t>    "delta": "기관·직무별 도구 권한 / 요청키 / 오류·중복 처리",</a:t>
            </a:r>
          </a:p>
          <a:p xmlns:a="http://schemas.openxmlformats.org/drawingml/2006/main">
            <a:r>
              <a:t>    "test": "도구별 입력·응답·인증·오류 처리 계약 및 쓰기 요청 차단",</a:t>
            </a:r>
          </a:p>
          <a:p xmlns:a="http://schemas.openxmlformats.org/drawingml/2006/main">
            <a:r>
              <a:t>    "url": "https://www.moel.go.kr/news/enews/report/enewsView.do?news_seq=19787",</a:t>
            </a:r>
          </a:p>
          <a:p xmlns:a="http://schemas.openxmlformats.org/drawingml/2006/main">
            <a:r>
              <a:t>    "basis": "소관 부처 서비스 개시 발표",</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"https://www.moel.go.kr/news/enews/report/enewsView.do?news_seq=19787"</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"PF03",</a:t>
            </a:r>
          </a:p>
          <a:p xmlns:a="http://schemas.openxmlformats.org/drawingml/2006/main">
            <a:r>
              <a:t>    "canonicalId": "PF03",</a:t>
            </a:r>
          </a:p>
          <a:p xmlns:a="http://schemas.openxmlformats.org/drawingml/2006/main">
            <a:r>
              <a:t>    "purpose": "공공 API의 AI 도구 접점 제공",</a:t>
            </a:r>
          </a:p>
          <a:p xmlns:a="http://schemas.openxmlformats.org/drawingml/2006/main">
            <a:r>
              <a:t>    "users": "외부 AI 이용자·API 운영기관",</a:t>
            </a:r>
          </a:p>
          <a:p xmlns:a="http://schemas.openxmlformats.org/drawingml/2006/main">
            <a:r>
              <a:t>    "scope": [</a:t>
            </a:r>
          </a:p>
          <a:p xmlns:a="http://schemas.openxmlformats.org/drawingml/2006/main">
            <a:r>
              <a:t>      "MCP 도구",</a:t>
            </a:r>
          </a:p>
          <a:p xmlns:a="http://schemas.openxmlformats.org/drawingml/2006/main">
            <a:r>
              <a:t>      "공식 API 조회",</a:t>
            </a:r>
          </a:p>
          <a:p xmlns:a="http://schemas.openxmlformats.org/drawingml/2006/main">
            <a:r>
              <a:t>      "결과 안내"</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"외부 AI",</a:t>
            </a:r>
          </a:p>
          <a:p xmlns:a="http://schemas.openxmlformats.org/drawingml/2006/main">
            <a:r>
              <a:t>        "detail": "자연어 질의를 조회 도구와 인자로 변환",</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"MCP 도구 / 공식 API 조회 / 결과 안내",</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"MCP 도구",</a:t>
            </a:r>
          </a:p>
          <a:p xmlns:a="http://schemas.openxmlformats.org/drawingml/2006/main">
            <a:r>
              <a:t>        "detail": "MCP 도구의 인자 검사·API 호출 조정",</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"데이터 이용자",</a:t>
            </a:r>
          </a:p>
          <a:p xmlns:a="http://schemas.openxmlformats.org/drawingml/2006/main">
            <a:r>
              <a:t>        "detail": "출처가 있는 공식 조회 결과를 AI에 반환",</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"기존 공공 API",</a:t>
            </a:r>
          </a:p>
          <a:p xmlns:a="http://schemas.openxmlformats.org/drawingml/2006/main">
            <a:r>
              <a:t>        "detail": "공식 API 스키마·코드·갱신일 참조",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"실패 응답·스키마 변경·호출량의 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"외부 AI 요청",</a:t>
            </a:r>
          </a:p>
          <a:p xmlns:a="http://schemas.openxmlformats.org/drawingml/2006/main">
            <a:r>
              <a:t>        "input": "자연어 질의를 조회 도구와 인자로 변환",</a:t>
            </a:r>
          </a:p>
          <a:p xmlns:a="http://schemas.openxmlformats.org/drawingml/2006/main">
            <a:r>
              <a:t>        "process": "공식 API 스키마·코드·갱신일 참조",</a:t>
            </a:r>
          </a:p>
          <a:p xmlns:a="http://schemas.openxmlformats.org/drawingml/2006/main">
            <a:r>
              <a:t>        "output": "조회 의도"</a:t>
            </a:r>
          </a:p>
          <a:p xmlns:a="http://schemas.openxmlformats.org/drawingml/2006/main">
            <a:r>
              <a:t>      },</a:t>
            </a:r>
          </a:p>
          <a:p xmlns:a="http://schemas.openxmlformats.org/drawingml/2006/main">
            <a:r>
              <a:t>      {</a:t>
            </a:r>
          </a:p>
          <a:p xmlns:a="http://schemas.openxmlformats.org/drawingml/2006/main">
            <a:r>
              <a:t>        "title": "MCP 도구 선택",</a:t>
            </a:r>
          </a:p>
          <a:p xmlns:a="http://schemas.openxmlformats.org/drawingml/2006/main">
            <a:r>
              <a:t>        "input": "조회 의도",</a:t>
            </a:r>
          </a:p>
          <a:p xmlns:a="http://schemas.openxmlformats.org/drawingml/2006/main">
            <a:r>
              <a:t>        "process": "MCP 도구의 인자 검사·API 호출 조정",</a:t>
            </a:r>
          </a:p>
          <a:p xmlns:a="http://schemas.openxmlformats.org/drawingml/2006/main">
            <a:r>
              <a:t>        "output": "도구 인자"</a:t>
            </a:r>
          </a:p>
          <a:p xmlns:a="http://schemas.openxmlformats.org/drawingml/2006/main">
            <a:r>
              <a:t>      },</a:t>
            </a:r>
          </a:p>
          <a:p xmlns:a="http://schemas.openxmlformats.org/drawingml/2006/main">
            <a:r>
              <a:t>      {</a:t>
            </a:r>
          </a:p>
          <a:p xmlns:a="http://schemas.openxmlformats.org/drawingml/2006/main">
            <a:r>
              <a:t>        "title": "기존 공식 API",</a:t>
            </a:r>
          </a:p>
          <a:p xmlns:a="http://schemas.openxmlformats.org/drawingml/2006/main">
            <a:r>
              <a:t>        "input": "도구 인자",</a:t>
            </a:r>
          </a:p>
          <a:p xmlns:a="http://schemas.openxmlformats.org/drawingml/2006/main">
            <a:r>
              <a:t>        "process": "인자·스키마·오류·최신성 대사",</a:t>
            </a:r>
          </a:p>
          <a:p xmlns:a="http://schemas.openxmlformats.org/drawingml/2006/main">
            <a:r>
              <a:t>        "output": "공식 API 결과"</a:t>
            </a:r>
          </a:p>
          <a:p xmlns:a="http://schemas.openxmlformats.org/drawingml/2006/main">
            <a:r>
              <a:t>      },</a:t>
            </a:r>
          </a:p>
          <a:p xmlns:a="http://schemas.openxmlformats.org/drawingml/2006/main">
            <a:r>
              <a:t>      {</a:t>
            </a:r>
          </a:p>
          <a:p xmlns:a="http://schemas.openxmlformats.org/drawingml/2006/main">
            <a:r>
              <a:t>        "title": "최신 데이터 안내",</a:t>
            </a:r>
          </a:p>
          <a:p xmlns:a="http://schemas.openxmlformats.org/drawingml/2006/main">
            <a:r>
              <a:t>        "input": "공식 API 결과",</a:t>
            </a:r>
          </a:p>
          <a:p xmlns:a="http://schemas.openxmlformats.org/drawingml/2006/main">
            <a:r>
              <a:t>        "process": "출처가 있는 공식 조회 결과를 AI에 반환",</a:t>
            </a:r>
          </a:p>
          <a:p xmlns:a="http://schemas.openxmlformats.org/drawingml/2006/main">
            <a:r>
              <a:t>        "output": "출처 안내"</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"자연어 요청을 공식 API 인자로 변환해 조회",</a:t>
            </a:r>
          </a:p>
          <a:p xmlns:a="http://schemas.openxmlformats.org/drawingml/2006/main">
            <a:r>
              <a:t>      "exception": "필수 인자 누락·스키마 변경·API 지연·빈 결과",</a:t>
            </a:r>
          </a:p>
          <a:p xmlns:a="http://schemas.openxmlformats.org/drawingml/2006/main">
            <a:r>
              <a:t>      "evidence": "도구 인자·원천 응답·사용자 안내의 일치 기록",</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"외부 AI 이용자·API 운영기관",</a:t>
            </a:r>
          </a:p>
          <a:p xmlns:a="http://schemas.openxmlformats.org/drawingml/2006/main">
            <a:r>
              <a:t>          "processing": "자연어 질의를 조회 도구와 인자로 변환",</a:t>
            </a:r>
          </a:p>
          <a:p xmlns:a="http://schemas.openxmlformats.org/drawingml/2006/main">
            <a:r>
              <a:t>          "output": "조회 의도"</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"기존 공공 API",</a:t>
            </a:r>
          </a:p>
          <a:p xmlns:a="http://schemas.openxmlformats.org/drawingml/2006/main">
            <a:r>
              <a:t>          "processing": "공식 API 스키마·코드·갱신일 참조",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"조회 의도",</a:t>
            </a:r>
          </a:p>
          <a:p xmlns:a="http://schemas.openxmlformats.org/drawingml/2006/main">
            <a:r>
              <a:t>          "processing": "MCP 도구의 인자 검사·API 호출 조정",</a:t>
            </a:r>
          </a:p>
          <a:p xmlns:a="http://schemas.openxmlformats.org/drawingml/2006/main">
            <a:r>
              <a:t>          "output": "공식 API 결과"</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"공식 API 결과",</a:t>
            </a:r>
          </a:p>
          <a:p xmlns:a="http://schemas.openxmlformats.org/drawingml/2006/main">
            <a:r>
              <a:t>          "processing": "출처가 있는 공식 조회 결과를 AI에 반환",</a:t>
            </a:r>
          </a:p>
          <a:p xmlns:a="http://schemas.openxmlformats.org/drawingml/2006/main">
            <a:r>
              <a:t>          "output": "출처 안내"</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"실패 응답·스키마 변경·호출량의 검사",</a:t>
            </a:r>
          </a:p>
          <a:p xmlns:a="http://schemas.openxmlformats.org/drawingml/2006/main">
            <a:r>
              <a:t>          "output": "도구 인자·원천 응답·사용자 안내의 일치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"실패 응답·스키마 변경·호출량의 검사",</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"소관 부처 서비스 개시 발표",</a:t>
            </a:r>
          </a:p>
          <a:p xmlns:a="http://schemas.openxmlformats.org/drawingml/2006/main">
            <a:r>
              <a:t>        "url": "https://www.moel.go.kr/news/enews/report/enewsView.do?news_seq=19787"</a:t>
            </a:r>
          </a:p>
          <a:p xmlns:a="http://schemas.openxmlformats.org/drawingml/2006/main">
            <a:r>
              <a:t>      }</a:t>
            </a:r>
          </a:p>
          <a:p xmlns:a="http://schemas.openxmlformats.org/drawingml/2006/main">
            <a:r>
              <a:t>    ],</a:t>
            </a:r>
          </a:p>
          <a:p xmlns:a="http://schemas.openxmlformats.org/drawingml/2006/main">
            <a:r>
              <a:t>    "implication": "기존 공공 API를 AI 조회 도구로 연결하고 원천 응답과 안내의 일치 검증",</a:t>
            </a:r>
          </a:p>
          <a:p xmlns:a="http://schemas.openxmlformats.org/drawingml/2006/main">
            <a:r>
              <a:t>    "local": "기존 공공 API를 AI 조회 도구로 연결하고 원천 응답과 안내의 일치 검증",</a:t>
            </a:r>
          </a:p>
          <a:p xmlns:a="http://schemas.openxmlformats.org/drawingml/2006/main">
            <a:r>
              <a:t>    "sourceDetail": null,</a:t>
            </a:r>
          </a:p>
          <a:p xmlns:a="http://schemas.openxmlformats.org/drawingml/2006/main">
            <a:r>
              <a:t>    "narrative": [</a:t>
            </a:r>
          </a:p>
          <a:p xmlns:a="http://schemas.openxmlformats.org/drawingml/2006/main">
            <a:r>
              <a:t>      "한국산업인력공단의 공공 API를 MCP 도구로 제공하는 사례. 외부 AI가 추정한 답을 생성하기 전에 기관의 공식 데이터를 조회할 수 있도록 접근 수단을 제공하는 방식.",</a:t>
            </a:r>
          </a:p>
          <a:p xmlns:a="http://schemas.openxmlformats.org/drawingml/2006/main">
            <a:r>
              <a:t>      "AI 클라이언트의 도구 요청을 MCP 서버에서 공식 API 호출로 변환하고 결과를 구조화해 반환하는 흐름. 도구 이름·입력 스키마·오류 형식·데이터 시점을 명확히 정의하는 것이 서비스 연결의 핵심.",</a:t>
            </a:r>
          </a:p>
          <a:p xmlns:a="http://schemas.openxmlformats.org/drawingml/2006/main">
            <a:r>
              <a:t>      "TS 공공데이터·자격·검사 안내에서도 공식 조회와 자연어 설명을 분리하는 참고. 잘못된 인자, 결과 없음, API 장애, 오래된 데이터의 처리와 읽기 전용 권한을 검수하고 외부 AI의 최종 설명에서 출처를 확인할 수 있도록 제공."</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"외부 AI 질의",</a:t>
            </a:r>
          </a:p>
          <a:p xmlns:a="http://schemas.openxmlformats.org/drawingml/2006/main">
            <a:r>
              <a:t>          "layer": "이용 접점",</a:t>
            </a:r>
          </a:p>
          <a:p xmlns:a="http://schemas.openxmlformats.org/drawingml/2006/main">
            <a:r>
              <a:t>          "detail": "외부 AI 이용자·API 운영기관",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"도구·인자 정의",</a:t>
            </a:r>
          </a:p>
          <a:p xmlns:a="http://schemas.openxmlformats.org/drawingml/2006/main">
            <a:r>
              <a:t>          "layer": "업무 문맥",</a:t>
            </a:r>
          </a:p>
          <a:p xmlns:a="http://schemas.openxmlformats.org/drawingml/2006/main">
            <a:r>
              <a:t>          "detail": "자연어 질의를 조회 도구와 인자로 변환",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"공식 API 선택",</a:t>
            </a:r>
          </a:p>
          <a:p xmlns:a="http://schemas.openxmlformats.org/drawingml/2006/main">
            <a:r>
              <a:t>          "layer": "자료 조회",</a:t>
            </a:r>
          </a:p>
          <a:p xmlns:a="http://schemas.openxmlformats.org/drawingml/2006/main">
            <a:r>
              <a:t>          "detail": "조회 의도",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"MCP 호출 조정",</a:t>
            </a:r>
          </a:p>
          <a:p xmlns:a="http://schemas.openxmlformats.org/drawingml/2006/main">
            <a:r>
              <a:t>          "layer": "핵심 처리",</a:t>
            </a:r>
          </a:p>
          <a:p xmlns:a="http://schemas.openxmlformats.org/drawingml/2006/main">
            <a:r>
              <a:t>          "detail": "MCP 도구의 인자 검사·API 호출 조정",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"스키마·상태 검사",</a:t>
            </a:r>
          </a:p>
          <a:p xmlns:a="http://schemas.openxmlformats.org/drawingml/2006/main">
            <a:r>
              <a:t>          "layer": "결과 검증",</a:t>
            </a:r>
          </a:p>
          <a:p xmlns:a="http://schemas.openxmlformats.org/drawingml/2006/main">
            <a:r>
              <a:t>          "detail": "인자·스키마·오류·최신성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"이용자 확인",</a:t>
            </a:r>
          </a:p>
          <a:p xmlns:a="http://schemas.openxmlformats.org/drawingml/2006/main">
            <a:r>
              <a:t>          "layer": "사람 확인",</a:t>
            </a:r>
          </a:p>
          <a:p xmlns:a="http://schemas.openxmlformats.org/drawingml/2006/main">
            <a:r>
              <a:t>          "detail": "자연어 요청을 공식 API 인자로 변환해 조회",</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"출처 조회 결과",</a:t>
            </a:r>
          </a:p>
          <a:p xmlns:a="http://schemas.openxmlformats.org/drawingml/2006/main">
            <a:r>
              <a:t>          "layer": "업무 연결",</a:t>
            </a:r>
          </a:p>
          <a:p xmlns:a="http://schemas.openxmlformats.org/drawingml/2006/main">
            <a:r>
              <a:t>          "detail": "출처가 있는 공식 조회 결과를 AI에 반환",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"호출·변경 검사",</a:t>
            </a:r>
          </a:p>
          <a:p xmlns:a="http://schemas.openxmlformats.org/drawingml/2006/main">
            <a:r>
              <a:t>          "layer": "운영 관측",</a:t>
            </a:r>
          </a:p>
          <a:p xmlns:a="http://schemas.openxmlformats.org/drawingml/2006/main">
            <a:r>
              <a:t>          "detail": "실패 응답·스키마 변경·호출량의 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"공공 API·코드",</a:t>
            </a:r>
          </a:p>
          <a:p xmlns:a="http://schemas.openxmlformats.org/drawingml/2006/main">
            <a:r>
              <a:t>          "layer": "데이터 원천",</a:t>
            </a:r>
          </a:p>
          <a:p xmlns:a="http://schemas.openxmlformats.org/drawingml/2006/main">
            <a:r>
              <a:t>          "detail": "기존 공공 API",</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"스키마·갱신일 정리",</a:t>
            </a:r>
          </a:p>
          <a:p xmlns:a="http://schemas.openxmlformats.org/drawingml/2006/main">
            <a:r>
              <a:t>          "layer": "준비·갱신",</a:t>
            </a:r>
          </a:p>
          <a:p xmlns:a="http://schemas.openxmlformats.org/drawingml/2006/main">
            <a:r>
              <a:t>          "detail": "공식 API 스키마·코드·갱신일 참조",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"도구·호출 기록",</a:t>
            </a:r>
          </a:p>
          <a:p xmlns:a="http://schemas.openxmlformats.org/drawingml/2006/main">
            <a:r>
              <a:t>          "layer": "상태·지식 저장",</a:t>
            </a:r>
          </a:p>
          <a:p xmlns:a="http://schemas.openxmlformats.org/drawingml/2006/main">
            <a:r>
              <a:t>          "detail": "도구 인자·원천 응답·사용자 안내의 일치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"호출 권한·한도",</a:t>
            </a:r>
          </a:p>
          <a:p xmlns:a="http://schemas.openxmlformats.org/drawingml/2006/main">
            <a:r>
              <a:t>          "layer": "권한·정책",</a:t>
            </a:r>
          </a:p>
          <a:p xmlns:a="http://schemas.openxmlformats.org/drawingml/2006/main">
            <a:r>
              <a:t>          "detail": "필수 인자 누락·스키마 변경·API 지연·빈 결과",</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"자연어 질의를 조회 도구와 인자로 변환",</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"조회 의도",</a:t>
            </a:r>
          </a:p>
          <a:p xmlns:a="http://schemas.openxmlformats.org/drawingml/2006/main">
            <a:r>
              <a:t>          "check": "인자·스키마·오류·최신성 대사"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"도구 인자",</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"공식 API 결과",</a:t>
            </a:r>
          </a:p>
          <a:p xmlns:a="http://schemas.openxmlformats.org/drawingml/2006/main">
            <a:r>
              <a:t>          "check": "필수 인자 누락·스키마 변경·API 지연·빈 결과"</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"공식 API 결과",</a:t>
            </a:r>
          </a:p>
          <a:p xmlns:a="http://schemas.openxmlformats.org/drawingml/2006/main">
            <a:r>
              <a:t>          "check": "출처가 있는 공식 조회 결과를 AI에 반환"</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"출처 안내",</a:t>
            </a:r>
          </a:p>
          <a:p xmlns:a="http://schemas.openxmlformats.org/drawingml/2006/main">
            <a:r>
              <a:t>          "check": "도구 인자·원천 응답·사용자 안내의 일치 기록"</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"공공 API의 AI 도구 접점 제공 / MCP 도구·공식 API 조회·결과 안내",</a:t>
            </a:r>
          </a:p>
          <a:p xmlns:a="http://schemas.openxmlformats.org/drawingml/2006/main">
            <a:r>
              <a:t>        "extension": "기존 공공 API를 AI 조회 도구로 연결하고 원천 응답과 안내의 일치 검증"</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"필수 인자 누락·스키마 변경·API 지연·빈 결과",</a:t>
            </a:r>
          </a:p>
          <a:p xmlns:a="http://schemas.openxmlformats.org/drawingml/2006/main">
            <a:r>
              <a:t>        "hold": "인자·스키마·오류·최신성 대사",</a:t>
            </a:r>
          </a:p>
          <a:p xmlns:a="http://schemas.openxmlformats.org/drawingml/2006/main">
            <a:r>
              <a:t>        "recovery": "실패 응답·스키마 변경·호출량의 검사",</a:t>
            </a:r>
          </a:p>
          <a:p xmlns:a="http://schemas.openxmlformats.org/drawingml/2006/main">
            <a:r>
              <a:t>        "evidence": "도구 인자·원천 응답·사용자 안내의 일치 기록"</a:t>
            </a:r>
          </a:p>
          <a:p xmlns:a="http://schemas.openxmlformats.org/drawingml/2006/main">
            <a:r>
              <a:t>      },</a:t>
            </a:r>
          </a:p>
          <a:p xmlns:a="http://schemas.openxmlformats.org/drawingml/2006/main">
            <a:r>
              <a:t>      "data": {</a:t>
            </a:r>
          </a:p>
          <a:p xmlns:a="http://schemas.openxmlformats.org/drawingml/2006/main">
            <a:r>
              <a:t>        "source": "기존 공공 API",</a:t>
            </a:r>
          </a:p>
          <a:p xmlns:a="http://schemas.openxmlformats.org/drawingml/2006/main">
            <a:r>
              <a:t>        "prepare": "공식 API 스키마·코드·갱신일 참조",</a:t>
            </a:r>
          </a:p>
          <a:p xmlns:a="http://schemas.openxmlformats.org/drawingml/2006/main">
            <a:r>
              <a:t>        "output": "조회 의도",</a:t>
            </a:r>
          </a:p>
          <a:p xmlns:a="http://schemas.openxmlformats.org/drawingml/2006/main">
            <a:r>
              <a:t>        "refresh": "실패 응답·스키마 변경·호출량의 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"PF03",</a:t>
            </a:r>
          </a:p>
          <a:p xmlns:a="http://schemas.openxmlformats.org/drawingml/2006/main">
            <a:r>
              <a:t>    "success": [</a:t>
            </a:r>
          </a:p>
          <a:p xmlns:a="http://schemas.openxmlformats.org/drawingml/2006/main">
            <a:r>
              <a:t>      "기존 공식 API의 재사용",</a:t>
            </a:r>
          </a:p>
          <a:p xmlns:a="http://schemas.openxmlformats.org/drawingml/2006/main">
            <a:r>
              <a:t>      "AI 도구의 공식 데이터 조회 연결"</a:t>
            </a:r>
          </a:p>
          <a:p xmlns:a="http://schemas.openxmlformats.org/drawingml/2006/main">
            <a:r>
              <a:t>    ],</a:t>
            </a:r>
          </a:p>
          <a:p xmlns:a="http://schemas.openxmlformats.org/drawingml/2006/main">
            <a:r>
              <a:t>    "risks": [</a:t>
            </a:r>
          </a:p>
          <a:p xmlns:a="http://schemas.openxmlformats.org/drawingml/2006/main">
            <a:r>
              <a:t>      "도구 응답 지연·스키마 변경",</a:t>
            </a:r>
          </a:p>
          <a:p xmlns:a="http://schemas.openxmlformats.org/drawingml/2006/main">
            <a:r>
              <a:t>      "조회 성공을 신청 완료로 오인"</a:t>
            </a:r>
          </a:p>
          <a:p xmlns:a="http://schemas.openxmlformats.org/drawingml/2006/main">
            <a:r>
              <a:t>    ],</a:t>
            </a:r>
          </a:p>
          <a:p xmlns:a="http://schemas.openxmlformats.org/drawingml/2006/main">
            <a:r>
              <a:t>    "architecture": [</a:t>
            </a:r>
          </a:p>
          <a:p xmlns:a="http://schemas.openxmlformats.org/drawingml/2006/main">
            <a:r>
              <a:t>      "외부 AI",</a:t>
            </a:r>
          </a:p>
          <a:p xmlns:a="http://schemas.openxmlformats.org/drawingml/2006/main">
            <a:r>
              <a:t>      "MCP 도구",</a:t>
            </a:r>
          </a:p>
          <a:p xmlns:a="http://schemas.openxmlformats.org/drawingml/2006/main">
            <a:r>
              <a:t>      "기존 공공 API",</a:t>
            </a:r>
          </a:p>
          <a:p xmlns:a="http://schemas.openxmlformats.org/drawingml/2006/main">
            <a:r>
              <a:t>      "데이터 이용자"</a:t>
            </a:r>
          </a:p>
          <a:p xmlns:a="http://schemas.openxmlformats.org/drawingml/2006/main">
            <a:r>
              <a:t>    ],</a:t>
            </a:r>
          </a:p>
          <a:p xmlns:a="http://schemas.openxmlformats.org/drawingml/2006/main">
            <a:r>
              <a:t>    "transfers": [</a:t>
            </a:r>
          </a:p>
          <a:p xmlns:a="http://schemas.openxmlformats.org/drawingml/2006/main">
            <a:r>
              <a:t>      "조회 의도",</a:t>
            </a:r>
          </a:p>
          <a:p xmlns:a="http://schemas.openxmlformats.org/drawingml/2006/main">
            <a:r>
              <a:t>      "도구 인자",</a:t>
            </a:r>
          </a:p>
          <a:p xmlns:a="http://schemas.openxmlformats.org/drawingml/2006/main">
            <a:r>
              <a:t>      "공식 API 결과",</a:t>
            </a:r>
          </a:p>
          <a:p xmlns:a="http://schemas.openxmlformats.org/drawingml/2006/main">
            <a:r>
              <a:t>      "출처 안내"</a:t>
            </a:r>
          </a:p>
          <a:p xmlns:a="http://schemas.openxmlformats.org/drawingml/2006/main">
            <a:r>
              <a:t>    ],</a:t>
            </a:r>
          </a:p>
          <a:p xmlns:a="http://schemas.openxmlformats.org/drawingml/2006/main">
            <a:r>
              <a:t>    "control": "인자·스키마·오류·최신성 대사",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소관 부처 서비스 개시 발표 https://www.moel.go.kr/news/enews/report/enewsView.do?news_seq=19787</a:t>
            </a:r>
          </a:p>
          <a:p xmlns:a="http://schemas.openxmlformats.org/drawingml/2006/main">
            <a:r>
              <a:t>홈페이지 https://heen1987-ops.github.io/TS-business-Plan-001/index.html?view=platform-cases&amp;case=PF03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"PF04",</a:t>
            </a:r>
          </a:p>
          <a:p xmlns:a="http://schemas.openxmlformats.org/drawingml/2006/main">
            <a:r>
              <a:t>    "sourceId": "A05",</a:t>
            </a:r>
          </a:p>
          <a:p xmlns:a="http://schemas.openxmlformats.org/drawingml/2006/main">
            <a:r>
              <a:t>    "title": "삼성SDS FabriX 업무 플랫폼",</a:t>
            </a:r>
          </a:p>
          <a:p xmlns:a="http://schemas.openxmlformats.org/drawingml/2006/main">
            <a:r>
              <a:t>    "region": "국내",</a:t>
            </a:r>
          </a:p>
          <a:p xmlns:a="http://schemas.openxmlformats.org/drawingml/2006/main">
            <a:r>
              <a:t>    "owner": "삼성SDS",</a:t>
            </a:r>
          </a:p>
          <a:p xmlns:a="http://schemas.openxmlformats.org/drawingml/2006/main">
            <a:r>
              <a:t>    "state": "사내 운영 · 자사 발표",</a:t>
            </a:r>
          </a:p>
          <a:p xmlns:a="http://schemas.openxmlformats.org/drawingml/2006/main">
            <a:r>
              <a:t>    "period": "2025.10 소개",</a:t>
            </a:r>
          </a:p>
          <a:p xmlns:a="http://schemas.openxmlformats.org/drawingml/2006/main">
            <a:r>
              <a:t>    "fact": "공통 AI와 사내 시스템 API·협업 도구·개발 접점을 결합한 전사 활용",</a:t>
            </a:r>
          </a:p>
          <a:p xmlns:a="http://schemas.openxmlformats.org/drawingml/2006/main">
            <a:r>
              <a:t>    "limit": "자사 발표 · 특정 직무 성과를 전사 생산성으로 일반화 불가",</a:t>
            </a:r>
          </a:p>
          <a:p xmlns:a="http://schemas.openxmlformats.org/drawingml/2006/main">
            <a:r>
              <a:t>    "nodes": [</a:t>
            </a:r>
          </a:p>
          <a:p xmlns:a="http://schemas.openxmlformats.org/drawingml/2006/main">
            <a:r>
              <a:t>      "공통 AI 접점",</a:t>
            </a:r>
          </a:p>
          <a:p xmlns:a="http://schemas.openxmlformats.org/drawingml/2006/main">
            <a:r>
              <a:t>      "FabriX·검색",</a:t>
            </a:r>
          </a:p>
          <a:p xmlns:a="http://schemas.openxmlformats.org/drawingml/2006/main">
            <a:r>
              <a:t>      "사내 시스템 API",</a:t>
            </a:r>
          </a:p>
          <a:p xmlns:a="http://schemas.openxmlformats.org/drawingml/2006/main">
            <a:r>
              <a:t>      "직무 도구·현업 피드백"</a:t>
            </a:r>
          </a:p>
          <a:p xmlns:a="http://schemas.openxmlformats.org/drawingml/2006/main">
            <a:r>
              <a:t>    ],</a:t>
            </a:r>
          </a:p>
          <a:p xmlns:a="http://schemas.openxmlformats.org/drawingml/2006/main">
            <a:r>
              <a:t>    "apply": "공통 모델·검색과 직무별 시스템 도구를 분리해 단계적으로 확장",</a:t>
            </a:r>
          </a:p>
          <a:p xmlns:a="http://schemas.openxmlformats.org/drawingml/2006/main">
            <a:r>
              <a:t>    "delta": "업무단위 연계 모듈 / 현업 교육 / 품질·비용 관측",</a:t>
            </a:r>
          </a:p>
          <a:p xmlns:a="http://schemas.openxmlformats.org/drawingml/2006/main">
            <a:r>
              <a:t>    "test": "업무 완료율·오실행·재작업·총소요시간 동시 평가",</a:t>
            </a:r>
          </a:p>
          <a:p xmlns:a="http://schemas.openxmlformats.org/drawingml/2006/main">
            <a:r>
              <a:t>    "url": "https://www.samsungsds.com/kr/insights/samsung-sds-ai-journey.html",</a:t>
            </a:r>
          </a:p>
          <a:p xmlns:a="http://schemas.openxmlformats.org/drawingml/2006/main">
            <a:r>
              <a:t>    "basis": "기업 기술·운영 소개",</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"https://www.samsungsds.com/kr/insights/samsung-sds-ai-journey.html"</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"PF04",</a:t>
            </a:r>
          </a:p>
          <a:p xmlns:a="http://schemas.openxmlformats.org/drawingml/2006/main">
            <a:r>
              <a:t>    "canonicalId": "PF04",</a:t>
            </a:r>
          </a:p>
          <a:p xmlns:a="http://schemas.openxmlformats.org/drawingml/2006/main">
            <a:r>
              <a:t>    "purpose": "전사 지식·시스템과 직무용 AI의 연결",</a:t>
            </a:r>
          </a:p>
          <a:p xmlns:a="http://schemas.openxmlformats.org/drawingml/2006/main">
            <a:r>
              <a:t>    "users": "임직원·개발자·업무 관리자",</a:t>
            </a:r>
          </a:p>
          <a:p xmlns:a="http://schemas.openxmlformats.org/drawingml/2006/main">
            <a:r>
              <a:t>    "scope": [</a:t>
            </a:r>
          </a:p>
          <a:p xmlns:a="http://schemas.openxmlformats.org/drawingml/2006/main">
            <a:r>
              <a:t>      "공통 AI",</a:t>
            </a:r>
          </a:p>
          <a:p xmlns:a="http://schemas.openxmlformats.org/drawingml/2006/main">
            <a:r>
              <a:t>      "사내 API",</a:t>
            </a:r>
          </a:p>
          <a:p xmlns:a="http://schemas.openxmlformats.org/drawingml/2006/main">
            <a:r>
              <a:t>      "업무 도구"</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"임직원 접점",</a:t>
            </a:r>
          </a:p>
          <a:p xmlns:a="http://schemas.openxmlformats.org/drawingml/2006/main">
            <a:r>
              <a:t>        "detail": "직원 계정·업무 목적·도구 권한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"공통 AI / 사내 API / 업무 도구",</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"FabriX·검색·도구",</a:t>
            </a:r>
          </a:p>
          <a:p xmlns:a="http://schemas.openxmlformats.org/drawingml/2006/main">
            <a:r>
              <a:t>        "detail": "FabriX를 통한 검색·생성·도구 호출 조정",</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"직무 담당",</a:t>
            </a:r>
          </a:p>
          <a:p xmlns:a="http://schemas.openxmlformats.org/drawingml/2006/main">
            <a:r>
              <a:t>        "detail": "직무 도구의 초안·조회·실행 결과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"사내 지식·API",</a:t>
            </a:r>
          </a:p>
          <a:p xmlns:a="http://schemas.openxmlformats.org/drawingml/2006/main">
            <a:r>
              <a:t>        "detail": "사내 지식과 시스템별 데이터 인터페이스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"사용자 피드백·업무별 품질·실행 오류 분석",</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"공통 AI 접점",</a:t>
            </a:r>
          </a:p>
          <a:p xmlns:a="http://schemas.openxmlformats.org/drawingml/2006/main">
            <a:r>
              <a:t>        "input": "직원 계정·업무 목적·도구 권한 확인",</a:t>
            </a:r>
          </a:p>
          <a:p xmlns:a="http://schemas.openxmlformats.org/drawingml/2006/main">
            <a:r>
              <a:t>        "process": "사내 지식과 시스템별 데이터 인터페이스 연결",</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"title": "FabriX·검색",</a:t>
            </a:r>
          </a:p>
          <a:p xmlns:a="http://schemas.openxmlformats.org/drawingml/2006/main">
            <a:r>
              <a:t>        "input": "업무 요청",</a:t>
            </a:r>
          </a:p>
          <a:p xmlns:a="http://schemas.openxmlformats.org/drawingml/2006/main">
            <a:r>
              <a:t>        "process": "FabriX를 통한 검색·생성·도구 호출 조정",</a:t>
            </a:r>
          </a:p>
          <a:p xmlns:a="http://schemas.openxmlformats.org/drawingml/2006/main">
            <a:r>
              <a:t>        "output": "검색·도구 인자"</a:t>
            </a:r>
          </a:p>
          <a:p xmlns:a="http://schemas.openxmlformats.org/drawingml/2006/main">
            <a:r>
              <a:t>      },</a:t>
            </a:r>
          </a:p>
          <a:p xmlns:a="http://schemas.openxmlformats.org/drawingml/2006/main">
            <a:r>
              <a:t>      {</a:t>
            </a:r>
          </a:p>
          <a:p xmlns:a="http://schemas.openxmlformats.org/drawingml/2006/main">
            <a:r>
              <a:t>        "title": "사내 시스템 API",</a:t>
            </a:r>
          </a:p>
          <a:p xmlns:a="http://schemas.openxmlformats.org/drawingml/2006/main">
            <a:r>
              <a:t>        "input": "검색·도구 인자",</a:t>
            </a:r>
          </a:p>
          <a:p xmlns:a="http://schemas.openxmlformats.org/drawingml/2006/main">
            <a:r>
              <a:t>        "process": "실행 권한·중복 호출·실패 복구",</a:t>
            </a:r>
          </a:p>
          <a:p xmlns:a="http://schemas.openxmlformats.org/drawingml/2006/main">
            <a:r>
              <a:t>        "output": "시스템 결과"</a:t>
            </a:r>
          </a:p>
          <a:p xmlns:a="http://schemas.openxmlformats.org/drawingml/2006/main">
            <a:r>
              <a:t>      },</a:t>
            </a:r>
          </a:p>
          <a:p xmlns:a="http://schemas.openxmlformats.org/drawingml/2006/main">
            <a:r>
              <a:t>      {</a:t>
            </a:r>
          </a:p>
          <a:p xmlns:a="http://schemas.openxmlformats.org/drawingml/2006/main">
            <a:r>
              <a:t>        "title": "직무 도구·현업 피드백",</a:t>
            </a:r>
          </a:p>
          <a:p xmlns:a="http://schemas.openxmlformats.org/drawingml/2006/main">
            <a:r>
              <a:t>        "input": "시스템 결과",</a:t>
            </a:r>
          </a:p>
          <a:p xmlns:a="http://schemas.openxmlformats.org/drawingml/2006/main">
            <a:r>
              <a:t>        "process": "직무 도구의 초안·조회·실행 결과 제공",</a:t>
            </a:r>
          </a:p>
          <a:p xmlns:a="http://schemas.openxmlformats.org/drawingml/2006/main">
            <a:r>
              <a:t>        "output": "검토·후속조치"</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"사내 업무 목적을 검색·도구 호출에 연결",</a:t>
            </a:r>
          </a:p>
          <a:p xmlns:a="http://schemas.openxmlformats.org/drawingml/2006/main">
            <a:r>
              <a:t>      "exception": "권한 부족·API 부분 실패·같은 요청 재전송",</a:t>
            </a:r>
          </a:p>
          <a:p xmlns:a="http://schemas.openxmlformats.org/drawingml/2006/main">
            <a:r>
              <a:t>      "evidence": "업무별 도구 선택·실행 결과·복구 로그",</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"임직원·개발자·업무 관리자",</a:t>
            </a:r>
          </a:p>
          <a:p xmlns:a="http://schemas.openxmlformats.org/drawingml/2006/main">
            <a:r>
              <a:t>          "processing": "직원 계정·업무 목적·도구 권한 확인",</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"사내 지식·API",</a:t>
            </a:r>
          </a:p>
          <a:p xmlns:a="http://schemas.openxmlformats.org/drawingml/2006/main">
            <a:r>
              <a:t>          "processing": "사내 지식과 시스템별 데이터 인터페이스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"업무 요청",</a:t>
            </a:r>
          </a:p>
          <a:p xmlns:a="http://schemas.openxmlformats.org/drawingml/2006/main">
            <a:r>
              <a:t>          "processing": "FabriX를 통한 검색·생성·도구 호출 조정",</a:t>
            </a:r>
          </a:p>
          <a:p xmlns:a="http://schemas.openxmlformats.org/drawingml/2006/main">
            <a:r>
              <a:t>          "output": "시스템 결과"</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"시스템 결과",</a:t>
            </a:r>
          </a:p>
          <a:p xmlns:a="http://schemas.openxmlformats.org/drawingml/2006/main">
            <a:r>
              <a:t>          "processing": "직무 도구의 초안·조회·실행 결과 제공",</a:t>
            </a:r>
          </a:p>
          <a:p xmlns:a="http://schemas.openxmlformats.org/drawingml/2006/main">
            <a:r>
              <a:t>          "output": "검토·후속조치"</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"사용자 피드백·업무별 품질·실행 오류 분석",</a:t>
            </a:r>
          </a:p>
          <a:p xmlns:a="http://schemas.openxmlformats.org/drawingml/2006/main">
            <a:r>
              <a:t>          "output": "업무별 도구 선택·실행 결과·복구 로그"</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"사용자 피드백·업무별 품질·실행 오류 분석",</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"기업 기술·운영 소개",</a:t>
            </a:r>
          </a:p>
          <a:p xmlns:a="http://schemas.openxmlformats.org/drawingml/2006/main">
            <a:r>
              <a:t>        "url": "https://www.samsungsds.com/kr/insights/samsung-sds-ai-journey.html"</a:t>
            </a:r>
          </a:p>
          <a:p xmlns:a="http://schemas.openxmlformats.org/drawingml/2006/main">
            <a:r>
              <a:t>      }</a:t>
            </a:r>
          </a:p>
          <a:p xmlns:a="http://schemas.openxmlformats.org/drawingml/2006/main">
            <a:r>
              <a:t>    ],</a:t>
            </a:r>
          </a:p>
          <a:p xmlns:a="http://schemas.openxmlformats.org/drawingml/2006/main">
            <a:r>
              <a:t>    "implication": "공통 모델·검색과 직무별 시스템 도구를 분리해 단계적으로 확장",</a:t>
            </a:r>
          </a:p>
          <a:p xmlns:a="http://schemas.openxmlformats.org/drawingml/2006/main">
            <a:r>
              <a:t>    "local": "공통 모델·검색과 직무별 시스템 도구를 분리해 단계적으로 확장",</a:t>
            </a:r>
          </a:p>
          <a:p xmlns:a="http://schemas.openxmlformats.org/drawingml/2006/main">
            <a:r>
              <a:t>    "sourceDetail": null,</a:t>
            </a:r>
          </a:p>
          <a:p xmlns:a="http://schemas.openxmlformats.org/drawingml/2006/main">
            <a:r>
              <a:t>    "narrative": [</a:t>
            </a:r>
          </a:p>
          <a:p xmlns:a="http://schemas.openxmlformats.org/drawingml/2006/main">
            <a:r>
              <a:t>      "삼성SDS의 FabriX 공통 AI와 사내 시스템·협업·개발 도구의 연계 사례. 공통 대화 접점에서 API 기반 업무 적용, 협업 도구, 개발 플러그인으로 활용 경로를 확대하는 접근.",</a:t>
            </a:r>
          </a:p>
          <a:p xmlns:a="http://schemas.openxmlformats.org/drawingml/2006/main">
            <a:r>
              <a:t>      "공개 도입 설명은 업무 문서 정비와 공통 플랫폼 제공, 기존 시스템 API 연계, 현장 담당자·전담 조직의 운영을 함께 제시. MCP·권한 연계는 후속 고도화 방향으로 설명된 범위이며 모든 단계의 완료 성과로 묶지 않는 해석.",</a:t>
            </a:r>
          </a:p>
          <a:p xmlns:a="http://schemas.openxmlformats.org/drawingml/2006/main">
            <a:r>
              <a:t>      "CCK에서는 데이터 표준·업무 소유자·운영 책임을 플랫폼과 함께 구축하는 참고. AI혁신처의 공통 기반과 부서별 업무 API·검수 책임을 분리해 확장비용과 업무 완료 품질을 비교할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"직무용 AI 접점",</a:t>
            </a:r>
          </a:p>
          <a:p xmlns:a="http://schemas.openxmlformats.org/drawingml/2006/main">
            <a:r>
              <a:t>          "layer": "이용 접점",</a:t>
            </a:r>
          </a:p>
          <a:p xmlns:a="http://schemas.openxmlformats.org/drawingml/2006/main">
            <a:r>
              <a:t>          "detail": "임직원·개발자·업무 관리자",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"직원·목적·도구",</a:t>
            </a:r>
          </a:p>
          <a:p xmlns:a="http://schemas.openxmlformats.org/drawingml/2006/main">
            <a:r>
              <a:t>          "layer": "업무 문맥",</a:t>
            </a:r>
          </a:p>
          <a:p xmlns:a="http://schemas.openxmlformats.org/drawingml/2006/main">
            <a:r>
              <a:t>          "detail": "직원 계정·업무 목적·도구 권한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"사내 지식 검색",</a:t>
            </a:r>
          </a:p>
          <a:p xmlns:a="http://schemas.openxmlformats.org/drawingml/2006/main">
            <a:r>
              <a:t>          "layer": "자료 조회",</a:t>
            </a:r>
          </a:p>
          <a:p xmlns:a="http://schemas.openxmlformats.org/drawingml/2006/main">
            <a:r>
              <a:t>          "detail": "업무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"FabriX·API 조정",</a:t>
            </a:r>
          </a:p>
          <a:p xmlns:a="http://schemas.openxmlformats.org/drawingml/2006/main">
            <a:r>
              <a:t>          "layer": "핵심 처리",</a:t>
            </a:r>
          </a:p>
          <a:p xmlns:a="http://schemas.openxmlformats.org/drawingml/2006/main">
            <a:r>
              <a:t>          "detail": "FabriX를 통한 검색·생성·도구 호출 조정",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"실행·결과 검사",</a:t>
            </a:r>
          </a:p>
          <a:p xmlns:a="http://schemas.openxmlformats.org/drawingml/2006/main">
            <a:r>
              <a:t>          "layer": "결과 검증",</a:t>
            </a:r>
          </a:p>
          <a:p xmlns:a="http://schemas.openxmlformats.org/drawingml/2006/main">
            <a:r>
              <a:t>          "detail": "실행 권한·중복 호출·실패 복구",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"현업 확인",</a:t>
            </a:r>
          </a:p>
          <a:p xmlns:a="http://schemas.openxmlformats.org/drawingml/2006/main">
            <a:r>
              <a:t>          "layer": "사람 확인",</a:t>
            </a:r>
          </a:p>
          <a:p xmlns:a="http://schemas.openxmlformats.org/drawingml/2006/main">
            <a:r>
              <a:t>          "detail": "사내 업무 목적을 검색·도구 호출에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"직무 시스템 연결",</a:t>
            </a:r>
          </a:p>
          <a:p xmlns:a="http://schemas.openxmlformats.org/drawingml/2006/main">
            <a:r>
              <a:t>          "layer": "업무 연결",</a:t>
            </a:r>
          </a:p>
          <a:p xmlns:a="http://schemas.openxmlformats.org/drawingml/2006/main">
            <a:r>
              <a:t>          "detail": "직무 도구의 초안·조회·실행 결과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"실패·피드백 분석",</a:t>
            </a:r>
          </a:p>
          <a:p xmlns:a="http://schemas.openxmlformats.org/drawingml/2006/main">
            <a:r>
              <a:t>          "layer": "운영 관측",</a:t>
            </a:r>
          </a:p>
          <a:p xmlns:a="http://schemas.openxmlformats.org/drawingml/2006/main">
            <a:r>
              <a:t>          "detail": "사용자 피드백·업무별 품질·실행 오류 분석",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"사내 지식·API",</a:t>
            </a:r>
          </a:p>
          <a:p xmlns:a="http://schemas.openxmlformats.org/drawingml/2006/main">
            <a:r>
              <a:t>          "layer": "데이터 원천",</a:t>
            </a:r>
          </a:p>
          <a:p xmlns:a="http://schemas.openxmlformats.org/drawingml/2006/main">
            <a:r>
              <a:t>          "detail": "사내 지식·API",</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"인터페이스 정리",</a:t>
            </a:r>
          </a:p>
          <a:p xmlns:a="http://schemas.openxmlformats.org/drawingml/2006/main">
            <a:r>
              <a:t>          "layer": "준비·갱신",</a:t>
            </a:r>
          </a:p>
          <a:p xmlns:a="http://schemas.openxmlformats.org/drawingml/2006/main">
            <a:r>
              <a:t>          "detail": "사내 지식과 시스템별 데이터 인터페이스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"지식·처리 상태",</a:t>
            </a:r>
          </a:p>
          <a:p xmlns:a="http://schemas.openxmlformats.org/drawingml/2006/main">
            <a:r>
              <a:t>          "layer": "상태·지식 저장",</a:t>
            </a:r>
          </a:p>
          <a:p xmlns:a="http://schemas.openxmlformats.org/drawingml/2006/main">
            <a:r>
              <a:t>          "detail": "업무별 도구 선택·실행 결과·복구 로그",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"도구별 실행 권한",</a:t>
            </a:r>
          </a:p>
          <a:p xmlns:a="http://schemas.openxmlformats.org/drawingml/2006/main">
            <a:r>
              <a:t>          "layer": "권한·정책",</a:t>
            </a:r>
          </a:p>
          <a:p xmlns:a="http://schemas.openxmlformats.org/drawingml/2006/main">
            <a:r>
              <a:t>          "detail": "권한 부족·API 부분 실패·같은 요청 재전송",</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"직원 계정·업무 목적·도구 권한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"업무 요청",</a:t>
            </a:r>
          </a:p>
          <a:p xmlns:a="http://schemas.openxmlformats.org/drawingml/2006/main">
            <a:r>
              <a:t>          "check": "실행 권한·중복 호출·실패 복구"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"검색·도구 인자",</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"시스템 결과",</a:t>
            </a:r>
          </a:p>
          <a:p xmlns:a="http://schemas.openxmlformats.org/drawingml/2006/main">
            <a:r>
              <a:t>          "check": "권한 부족·API 부분 실패·같은 요청 재전송"</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"시스템 결과",</a:t>
            </a:r>
          </a:p>
          <a:p xmlns:a="http://schemas.openxmlformats.org/drawingml/2006/main">
            <a:r>
              <a:t>          "check": "직무 도구의 초안·조회·실행 결과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"검토·후속조치",</a:t>
            </a:r>
          </a:p>
          <a:p xmlns:a="http://schemas.openxmlformats.org/drawingml/2006/main">
            <a:r>
              <a:t>          "check": "업무별 도구 선택·실행 결과·복구 로그"</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"전사 지식·시스템과 직무용 AI의 연결 / 공통 AI·사내 API·업무 도구",</a:t>
            </a:r>
          </a:p>
          <a:p xmlns:a="http://schemas.openxmlformats.org/drawingml/2006/main">
            <a:r>
              <a:t>        "extension": "공통 모델·검색과 직무별 시스템 도구를 분리해 단계적으로 확장"</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"권한 부족·API 부분 실패·같은 요청 재전송",</a:t>
            </a:r>
          </a:p>
          <a:p xmlns:a="http://schemas.openxmlformats.org/drawingml/2006/main">
            <a:r>
              <a:t>        "hold": "실행 권한·중복 호출·실패 복구",</a:t>
            </a:r>
          </a:p>
          <a:p xmlns:a="http://schemas.openxmlformats.org/drawingml/2006/main">
            <a:r>
              <a:t>        "recovery": "사용자 피드백·업무별 품질·실행 오류 분석",</a:t>
            </a:r>
          </a:p>
          <a:p xmlns:a="http://schemas.openxmlformats.org/drawingml/2006/main">
            <a:r>
              <a:t>        "evidence": "업무별 도구 선택·실행 결과·복구 로그"</a:t>
            </a:r>
          </a:p>
          <a:p xmlns:a="http://schemas.openxmlformats.org/drawingml/2006/main">
            <a:r>
              <a:t>      },</a:t>
            </a:r>
          </a:p>
          <a:p xmlns:a="http://schemas.openxmlformats.org/drawingml/2006/main">
            <a:r>
              <a:t>      "data": {</a:t>
            </a:r>
          </a:p>
          <a:p xmlns:a="http://schemas.openxmlformats.org/drawingml/2006/main">
            <a:r>
              <a:t>        "source": "사내 지식·API",</a:t>
            </a:r>
          </a:p>
          <a:p xmlns:a="http://schemas.openxmlformats.org/drawingml/2006/main">
            <a:r>
              <a:t>        "prepare": "사내 지식과 시스템별 데이터 인터페이스 연결",</a:t>
            </a:r>
          </a:p>
          <a:p xmlns:a="http://schemas.openxmlformats.org/drawingml/2006/main">
            <a:r>
              <a:t>        "output": "업무 요청",</a:t>
            </a:r>
          </a:p>
          <a:p xmlns:a="http://schemas.openxmlformats.org/drawingml/2006/main">
            <a:r>
              <a:t>        "refresh": "사용자 피드백·업무별 품질·실행 오류 분석"</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"PF04",</a:t>
            </a:r>
          </a:p>
          <a:p xmlns:a="http://schemas.openxmlformats.org/drawingml/2006/main">
            <a:r>
              <a:t>    "success": [</a:t>
            </a:r>
          </a:p>
          <a:p xmlns:a="http://schemas.openxmlformats.org/drawingml/2006/main">
            <a:r>
              <a:t>      "공통 AI와 사내 시스템 연결",</a:t>
            </a:r>
          </a:p>
          <a:p xmlns:a="http://schemas.openxmlformats.org/drawingml/2006/main">
            <a:r>
              <a:t>      "직무 도구·피드백을 통한 확산"</a:t>
            </a:r>
          </a:p>
          <a:p xmlns:a="http://schemas.openxmlformats.org/drawingml/2006/main">
            <a:r>
              <a:t>    ],</a:t>
            </a:r>
          </a:p>
          <a:p xmlns:a="http://schemas.openxmlformats.org/drawingml/2006/main">
            <a:r>
              <a:t>    "risks": [</a:t>
            </a:r>
          </a:p>
          <a:p xmlns:a="http://schemas.openxmlformats.org/drawingml/2006/main">
            <a:r>
              <a:t>      "API별 권한·실패 상태 차이",</a:t>
            </a:r>
          </a:p>
          <a:p xmlns:a="http://schemas.openxmlformats.org/drawingml/2006/main">
            <a:r>
              <a:t>      "전사 도입과 모든 업무의 효과 혼동"</a:t>
            </a:r>
          </a:p>
          <a:p xmlns:a="http://schemas.openxmlformats.org/drawingml/2006/main">
            <a:r>
              <a:t>    ],</a:t>
            </a:r>
          </a:p>
          <a:p xmlns:a="http://schemas.openxmlformats.org/drawingml/2006/main">
            <a:r>
              <a:t>    "architecture": [</a:t>
            </a:r>
          </a:p>
          <a:p xmlns:a="http://schemas.openxmlformats.org/drawingml/2006/main">
            <a:r>
              <a:t>      "임직원 접점",</a:t>
            </a:r>
          </a:p>
          <a:p xmlns:a="http://schemas.openxmlformats.org/drawingml/2006/main">
            <a:r>
              <a:t>      "FabriX·검색·도구",</a:t>
            </a:r>
          </a:p>
          <a:p xmlns:a="http://schemas.openxmlformats.org/drawingml/2006/main">
            <a:r>
              <a:t>      "사내 지식·API",</a:t>
            </a:r>
          </a:p>
          <a:p xmlns:a="http://schemas.openxmlformats.org/drawingml/2006/main">
            <a:r>
              <a:t>      "직무 담당"</a:t>
            </a:r>
          </a:p>
          <a:p xmlns:a="http://schemas.openxmlformats.org/drawingml/2006/main">
            <a:r>
              <a:t>    ],</a:t>
            </a:r>
          </a:p>
          <a:p xmlns:a="http://schemas.openxmlformats.org/drawingml/2006/main">
            <a:r>
              <a:t>    "transfers": [</a:t>
            </a:r>
          </a:p>
          <a:p xmlns:a="http://schemas.openxmlformats.org/drawingml/2006/main">
            <a:r>
              <a:t>      "업무 요청",</a:t>
            </a:r>
          </a:p>
          <a:p xmlns:a="http://schemas.openxmlformats.org/drawingml/2006/main">
            <a:r>
              <a:t>      "검색·도구 인자",</a:t>
            </a:r>
          </a:p>
          <a:p xmlns:a="http://schemas.openxmlformats.org/drawingml/2006/main">
            <a:r>
              <a:t>      "시스템 결과",</a:t>
            </a:r>
          </a:p>
          <a:p xmlns:a="http://schemas.openxmlformats.org/drawingml/2006/main">
            <a:r>
              <a:t>      "검토·후속조치"</a:t>
            </a:r>
          </a:p>
          <a:p xmlns:a="http://schemas.openxmlformats.org/drawingml/2006/main">
            <a:r>
              <a:t>    ],</a:t>
            </a:r>
          </a:p>
          <a:p xmlns:a="http://schemas.openxmlformats.org/drawingml/2006/main">
            <a:r>
              <a:t>    "control": "실행 권한·중복 호출·실패 복구",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기업 기술·운영 소개 https://www.samsungsds.com/kr/insights/samsung-sds-ai-journey.html</a:t>
            </a:r>
          </a:p>
          <a:p xmlns:a="http://schemas.openxmlformats.org/drawingml/2006/main">
            <a:r>
              <a:t>홈페이지 https://heen1987-ops.github.io/TS-business-Plan-001/index.html?view=platform-cases&amp;case=PF04</a:t>
            </a:r>
          </a:p>
          <a:p xmlns:a="http://schemas.openxmlformats.org/drawingml/2006/main">
            <a:r>
              <a:t>한계: 자사 발표 · 특정 직무 성과를 전사 생산성으로 일반화 불가</a:t>
            </a:r>
          </a:p>
          <a:p xmlns:a="http://schemas.openxmlformats.org/drawingml/2006/main">
            <a:r>
              <a:t>실패 위험: API별 권한·실패 상태 차이 / 전사 도입과 모든 업무의 효과 혼동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"PF04",</a:t>
            </a:r>
          </a:p>
          <a:p xmlns:a="http://schemas.openxmlformats.org/drawingml/2006/main">
            <a:r>
              <a:t>    "sourceId": "A05",</a:t>
            </a:r>
          </a:p>
          <a:p xmlns:a="http://schemas.openxmlformats.org/drawingml/2006/main">
            <a:r>
              <a:t>    "title": "삼성SDS FabriX 업무 플랫폼",</a:t>
            </a:r>
          </a:p>
          <a:p xmlns:a="http://schemas.openxmlformats.org/drawingml/2006/main">
            <a:r>
              <a:t>    "region": "국내",</a:t>
            </a:r>
          </a:p>
          <a:p xmlns:a="http://schemas.openxmlformats.org/drawingml/2006/main">
            <a:r>
              <a:t>    "owner": "삼성SDS",</a:t>
            </a:r>
          </a:p>
          <a:p xmlns:a="http://schemas.openxmlformats.org/drawingml/2006/main">
            <a:r>
              <a:t>    "state": "사내 운영 · 자사 발표",</a:t>
            </a:r>
          </a:p>
          <a:p xmlns:a="http://schemas.openxmlformats.org/drawingml/2006/main">
            <a:r>
              <a:t>    "period": "2025.10 소개",</a:t>
            </a:r>
          </a:p>
          <a:p xmlns:a="http://schemas.openxmlformats.org/drawingml/2006/main">
            <a:r>
              <a:t>    "fact": "공통 AI와 사내 시스템 API·협업 도구·개발 접점을 결합한 전사 활용",</a:t>
            </a:r>
          </a:p>
          <a:p xmlns:a="http://schemas.openxmlformats.org/drawingml/2006/main">
            <a:r>
              <a:t>    "limit": "자사 발표 · 특정 직무 성과를 전사 생산성으로 일반화 불가",</a:t>
            </a:r>
          </a:p>
          <a:p xmlns:a="http://schemas.openxmlformats.org/drawingml/2006/main">
            <a:r>
              <a:t>    "nodes": [</a:t>
            </a:r>
          </a:p>
          <a:p xmlns:a="http://schemas.openxmlformats.org/drawingml/2006/main">
            <a:r>
              <a:t>      "공통 AI 접점",</a:t>
            </a:r>
          </a:p>
          <a:p xmlns:a="http://schemas.openxmlformats.org/drawingml/2006/main">
            <a:r>
              <a:t>      "FabriX·검색",</a:t>
            </a:r>
          </a:p>
          <a:p xmlns:a="http://schemas.openxmlformats.org/drawingml/2006/main">
            <a:r>
              <a:t>      "사내 시스템 API",</a:t>
            </a:r>
          </a:p>
          <a:p xmlns:a="http://schemas.openxmlformats.org/drawingml/2006/main">
            <a:r>
              <a:t>      "직무 도구·현업 피드백"</a:t>
            </a:r>
          </a:p>
          <a:p xmlns:a="http://schemas.openxmlformats.org/drawingml/2006/main">
            <a:r>
              <a:t>    ],</a:t>
            </a:r>
          </a:p>
          <a:p xmlns:a="http://schemas.openxmlformats.org/drawingml/2006/main">
            <a:r>
              <a:t>    "apply": "공통 모델·검색과 직무별 시스템 도구를 분리해 단계적으로 확장",</a:t>
            </a:r>
          </a:p>
          <a:p xmlns:a="http://schemas.openxmlformats.org/drawingml/2006/main">
            <a:r>
              <a:t>    "delta": "업무단위 연계 모듈 / 현업 교육 / 품질·비용 관측",</a:t>
            </a:r>
          </a:p>
          <a:p xmlns:a="http://schemas.openxmlformats.org/drawingml/2006/main">
            <a:r>
              <a:t>    "test": "업무 완료율·오실행·재작업·총소요시간 동시 평가",</a:t>
            </a:r>
          </a:p>
          <a:p xmlns:a="http://schemas.openxmlformats.org/drawingml/2006/main">
            <a:r>
              <a:t>    "url": "https://www.samsungsds.com/kr/insights/samsung-sds-ai-journey.html",</a:t>
            </a:r>
          </a:p>
          <a:p xmlns:a="http://schemas.openxmlformats.org/drawingml/2006/main">
            <a:r>
              <a:t>    "basis": "기업 기술·운영 소개",</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"https://www.samsungsds.com/kr/insights/samsung-sds-ai-journey.html"</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"PF04",</a:t>
            </a:r>
          </a:p>
          <a:p xmlns:a="http://schemas.openxmlformats.org/drawingml/2006/main">
            <a:r>
              <a:t>    "canonicalId": "PF04",</a:t>
            </a:r>
          </a:p>
          <a:p xmlns:a="http://schemas.openxmlformats.org/drawingml/2006/main">
            <a:r>
              <a:t>    "purpose": "전사 지식·시스템과 직무용 AI의 연결",</a:t>
            </a:r>
          </a:p>
          <a:p xmlns:a="http://schemas.openxmlformats.org/drawingml/2006/main">
            <a:r>
              <a:t>    "users": "임직원·개발자·업무 관리자",</a:t>
            </a:r>
          </a:p>
          <a:p xmlns:a="http://schemas.openxmlformats.org/drawingml/2006/main">
            <a:r>
              <a:t>    "scope": [</a:t>
            </a:r>
          </a:p>
          <a:p xmlns:a="http://schemas.openxmlformats.org/drawingml/2006/main">
            <a:r>
              <a:t>      "공통 AI",</a:t>
            </a:r>
          </a:p>
          <a:p xmlns:a="http://schemas.openxmlformats.org/drawingml/2006/main">
            <a:r>
              <a:t>      "사내 API",</a:t>
            </a:r>
          </a:p>
          <a:p xmlns:a="http://schemas.openxmlformats.org/drawingml/2006/main">
            <a:r>
              <a:t>      "업무 도구"</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"임직원 접점",</a:t>
            </a:r>
          </a:p>
          <a:p xmlns:a="http://schemas.openxmlformats.org/drawingml/2006/main">
            <a:r>
              <a:t>        "detail": "직원 계정·업무 목적·도구 권한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"공통 AI / 사내 API / 업무 도구",</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"FabriX·검색·도구",</a:t>
            </a:r>
          </a:p>
          <a:p xmlns:a="http://schemas.openxmlformats.org/drawingml/2006/main">
            <a:r>
              <a:t>        "detail": "FabriX를 통한 검색·생성·도구 호출 조정",</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"직무 담당",</a:t>
            </a:r>
          </a:p>
          <a:p xmlns:a="http://schemas.openxmlformats.org/drawingml/2006/main">
            <a:r>
              <a:t>        "detail": "직무 도구의 초안·조회·실행 결과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"사내 지식·API",</a:t>
            </a:r>
          </a:p>
          <a:p xmlns:a="http://schemas.openxmlformats.org/drawingml/2006/main">
            <a:r>
              <a:t>        "detail": "사내 지식과 시스템별 데이터 인터페이스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"사용자 피드백·업무별 품질·실행 오류 분석",</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"공통 AI 접점",</a:t>
            </a:r>
          </a:p>
          <a:p xmlns:a="http://schemas.openxmlformats.org/drawingml/2006/main">
            <a:r>
              <a:t>        "input": "직원 계정·업무 목적·도구 권한 확인",</a:t>
            </a:r>
          </a:p>
          <a:p xmlns:a="http://schemas.openxmlformats.org/drawingml/2006/main">
            <a:r>
              <a:t>        "process": "사내 지식과 시스템별 데이터 인터페이스 연결",</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"title": "FabriX·검색",</a:t>
            </a:r>
          </a:p>
          <a:p xmlns:a="http://schemas.openxmlformats.org/drawingml/2006/main">
            <a:r>
              <a:t>        "input": "업무 요청",</a:t>
            </a:r>
          </a:p>
          <a:p xmlns:a="http://schemas.openxmlformats.org/drawingml/2006/main">
            <a:r>
              <a:t>        "process": "FabriX를 통한 검색·생성·도구 호출 조정",</a:t>
            </a:r>
          </a:p>
          <a:p xmlns:a="http://schemas.openxmlformats.org/drawingml/2006/main">
            <a:r>
              <a:t>        "output": "검색·도구 인자"</a:t>
            </a:r>
          </a:p>
          <a:p xmlns:a="http://schemas.openxmlformats.org/drawingml/2006/main">
            <a:r>
              <a:t>      },</a:t>
            </a:r>
          </a:p>
          <a:p xmlns:a="http://schemas.openxmlformats.org/drawingml/2006/main">
            <a:r>
              <a:t>      {</a:t>
            </a:r>
          </a:p>
          <a:p xmlns:a="http://schemas.openxmlformats.org/drawingml/2006/main">
            <a:r>
              <a:t>        "title": "사내 시스템 API",</a:t>
            </a:r>
          </a:p>
          <a:p xmlns:a="http://schemas.openxmlformats.org/drawingml/2006/main">
            <a:r>
              <a:t>        "input": "검색·도구 인자",</a:t>
            </a:r>
          </a:p>
          <a:p xmlns:a="http://schemas.openxmlformats.org/drawingml/2006/main">
            <a:r>
              <a:t>        "process": "실행 권한·중복 호출·실패 복구",</a:t>
            </a:r>
          </a:p>
          <a:p xmlns:a="http://schemas.openxmlformats.org/drawingml/2006/main">
            <a:r>
              <a:t>        "output": "시스템 결과"</a:t>
            </a:r>
          </a:p>
          <a:p xmlns:a="http://schemas.openxmlformats.org/drawingml/2006/main">
            <a:r>
              <a:t>      },</a:t>
            </a:r>
          </a:p>
          <a:p xmlns:a="http://schemas.openxmlformats.org/drawingml/2006/main">
            <a:r>
              <a:t>      {</a:t>
            </a:r>
          </a:p>
          <a:p xmlns:a="http://schemas.openxmlformats.org/drawingml/2006/main">
            <a:r>
              <a:t>        "title": "직무 도구·현업 피드백",</a:t>
            </a:r>
          </a:p>
          <a:p xmlns:a="http://schemas.openxmlformats.org/drawingml/2006/main">
            <a:r>
              <a:t>        "input": "시스템 결과",</a:t>
            </a:r>
          </a:p>
          <a:p xmlns:a="http://schemas.openxmlformats.org/drawingml/2006/main">
            <a:r>
              <a:t>        "process": "직무 도구의 초안·조회·실행 결과 제공",</a:t>
            </a:r>
          </a:p>
          <a:p xmlns:a="http://schemas.openxmlformats.org/drawingml/2006/main">
            <a:r>
              <a:t>        "output": "검토·후속조치"</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"사내 업무 목적을 검색·도구 호출에 연결",</a:t>
            </a:r>
          </a:p>
          <a:p xmlns:a="http://schemas.openxmlformats.org/drawingml/2006/main">
            <a:r>
              <a:t>      "exception": "권한 부족·API 부분 실패·같은 요청 재전송",</a:t>
            </a:r>
          </a:p>
          <a:p xmlns:a="http://schemas.openxmlformats.org/drawingml/2006/main">
            <a:r>
              <a:t>      "evidence": "업무별 도구 선택·실행 결과·복구 로그",</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"임직원·개발자·업무 관리자",</a:t>
            </a:r>
          </a:p>
          <a:p xmlns:a="http://schemas.openxmlformats.org/drawingml/2006/main">
            <a:r>
              <a:t>          "processing": "직원 계정·업무 목적·도구 권한 확인",</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"사내 지식·API",</a:t>
            </a:r>
          </a:p>
          <a:p xmlns:a="http://schemas.openxmlformats.org/drawingml/2006/main">
            <a:r>
              <a:t>          "processing": "사내 지식과 시스템별 데이터 인터페이스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"업무 요청",</a:t>
            </a:r>
          </a:p>
          <a:p xmlns:a="http://schemas.openxmlformats.org/drawingml/2006/main">
            <a:r>
              <a:t>          "processing": "FabriX를 통한 검색·생성·도구 호출 조정",</a:t>
            </a:r>
          </a:p>
          <a:p xmlns:a="http://schemas.openxmlformats.org/drawingml/2006/main">
            <a:r>
              <a:t>          "output": "시스템 결과"</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"시스템 결과",</a:t>
            </a:r>
          </a:p>
          <a:p xmlns:a="http://schemas.openxmlformats.org/drawingml/2006/main">
            <a:r>
              <a:t>          "processing": "직무 도구의 초안·조회·실행 결과 제공",</a:t>
            </a:r>
          </a:p>
          <a:p xmlns:a="http://schemas.openxmlformats.org/drawingml/2006/main">
            <a:r>
              <a:t>          "output": "검토·후속조치"</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"사용자 피드백·업무별 품질·실행 오류 분석",</a:t>
            </a:r>
          </a:p>
          <a:p xmlns:a="http://schemas.openxmlformats.org/drawingml/2006/main">
            <a:r>
              <a:t>          "output": "업무별 도구 선택·실행 결과·복구 로그"</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"사용자 피드백·업무별 품질·실행 오류 분석",</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"기업 기술·운영 소개",</a:t>
            </a:r>
          </a:p>
          <a:p xmlns:a="http://schemas.openxmlformats.org/drawingml/2006/main">
            <a:r>
              <a:t>        "url": "https://www.samsungsds.com/kr/insights/samsung-sds-ai-journey.html"</a:t>
            </a:r>
          </a:p>
          <a:p xmlns:a="http://schemas.openxmlformats.org/drawingml/2006/main">
            <a:r>
              <a:t>      }</a:t>
            </a:r>
          </a:p>
          <a:p xmlns:a="http://schemas.openxmlformats.org/drawingml/2006/main">
            <a:r>
              <a:t>    ],</a:t>
            </a:r>
          </a:p>
          <a:p xmlns:a="http://schemas.openxmlformats.org/drawingml/2006/main">
            <a:r>
              <a:t>    "implication": "공통 모델·검색과 직무별 시스템 도구를 분리해 단계적으로 확장",</a:t>
            </a:r>
          </a:p>
          <a:p xmlns:a="http://schemas.openxmlformats.org/drawingml/2006/main">
            <a:r>
              <a:t>    "local": "공통 모델·검색과 직무별 시스템 도구를 분리해 단계적으로 확장",</a:t>
            </a:r>
          </a:p>
          <a:p xmlns:a="http://schemas.openxmlformats.org/drawingml/2006/main">
            <a:r>
              <a:t>    "sourceDetail": null,</a:t>
            </a:r>
          </a:p>
          <a:p xmlns:a="http://schemas.openxmlformats.org/drawingml/2006/main">
            <a:r>
              <a:t>    "narrative": [</a:t>
            </a:r>
          </a:p>
          <a:p xmlns:a="http://schemas.openxmlformats.org/drawingml/2006/main">
            <a:r>
              <a:t>      "삼성SDS의 FabriX 공통 AI와 사내 시스템·협업·개발 도구의 연계 사례. 공통 대화 접점에서 API 기반 업무 적용, 협업 도구, 개발 플러그인으로 활용 경로를 확대하는 접근.",</a:t>
            </a:r>
          </a:p>
          <a:p xmlns:a="http://schemas.openxmlformats.org/drawingml/2006/main">
            <a:r>
              <a:t>      "공개 도입 설명은 업무 문서 정비와 공통 플랫폼 제공, 기존 시스템 API 연계, 현장 담당자·전담 조직의 운영을 함께 제시. MCP·권한 연계는 후속 고도화 방향으로 설명된 범위이며 모든 단계의 완료 성과로 묶지 않는 해석.",</a:t>
            </a:r>
          </a:p>
          <a:p xmlns:a="http://schemas.openxmlformats.org/drawingml/2006/main">
            <a:r>
              <a:t>      "CCK에서는 데이터 표준·업무 소유자·운영 책임을 플랫폼과 함께 구축하는 참고. AI혁신처의 공통 기반과 부서별 업무 API·검수 책임을 분리해 확장비용과 업무 완료 품질을 비교할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"직무용 AI 접점",</a:t>
            </a:r>
          </a:p>
          <a:p xmlns:a="http://schemas.openxmlformats.org/drawingml/2006/main">
            <a:r>
              <a:t>          "layer": "이용 접점",</a:t>
            </a:r>
          </a:p>
          <a:p xmlns:a="http://schemas.openxmlformats.org/drawingml/2006/main">
            <a:r>
              <a:t>          "detail": "임직원·개발자·업무 관리자",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"직원·목적·도구",</a:t>
            </a:r>
          </a:p>
          <a:p xmlns:a="http://schemas.openxmlformats.org/drawingml/2006/main">
            <a:r>
              <a:t>          "layer": "업무 문맥",</a:t>
            </a:r>
          </a:p>
          <a:p xmlns:a="http://schemas.openxmlformats.org/drawingml/2006/main">
            <a:r>
              <a:t>          "detail": "직원 계정·업무 목적·도구 권한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"사내 지식 검색",</a:t>
            </a:r>
          </a:p>
          <a:p xmlns:a="http://schemas.openxmlformats.org/drawingml/2006/main">
            <a:r>
              <a:t>          "layer": "자료 조회",</a:t>
            </a:r>
          </a:p>
          <a:p xmlns:a="http://schemas.openxmlformats.org/drawingml/2006/main">
            <a:r>
              <a:t>          "detail": "업무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"FabriX·API 조정",</a:t>
            </a:r>
          </a:p>
          <a:p xmlns:a="http://schemas.openxmlformats.org/drawingml/2006/main">
            <a:r>
              <a:t>          "layer": "핵심 처리",</a:t>
            </a:r>
          </a:p>
          <a:p xmlns:a="http://schemas.openxmlformats.org/drawingml/2006/main">
            <a:r>
              <a:t>          "detail": "FabriX를 통한 검색·생성·도구 호출 조정",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"실행·결과 검사",</a:t>
            </a:r>
          </a:p>
          <a:p xmlns:a="http://schemas.openxmlformats.org/drawingml/2006/main">
            <a:r>
              <a:t>          "layer": "결과 검증",</a:t>
            </a:r>
          </a:p>
          <a:p xmlns:a="http://schemas.openxmlformats.org/drawingml/2006/main">
            <a:r>
              <a:t>          "detail": "실행 권한·중복 호출·실패 복구",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"현업 확인",</a:t>
            </a:r>
          </a:p>
          <a:p xmlns:a="http://schemas.openxmlformats.org/drawingml/2006/main">
            <a:r>
              <a:t>          "layer": "사람 확인",</a:t>
            </a:r>
          </a:p>
          <a:p xmlns:a="http://schemas.openxmlformats.org/drawingml/2006/main">
            <a:r>
              <a:t>          "detail": "사내 업무 목적을 검색·도구 호출에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"직무 시스템 연결",</a:t>
            </a:r>
          </a:p>
          <a:p xmlns:a="http://schemas.openxmlformats.org/drawingml/2006/main">
            <a:r>
              <a:t>          "layer": "업무 연결",</a:t>
            </a:r>
          </a:p>
          <a:p xmlns:a="http://schemas.openxmlformats.org/drawingml/2006/main">
            <a:r>
              <a:t>          "detail": "직무 도구의 초안·조회·실행 결과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"실패·피드백 분석",</a:t>
            </a:r>
          </a:p>
          <a:p xmlns:a="http://schemas.openxmlformats.org/drawingml/2006/main">
            <a:r>
              <a:t>          "layer": "운영 관측",</a:t>
            </a:r>
          </a:p>
          <a:p xmlns:a="http://schemas.openxmlformats.org/drawingml/2006/main">
            <a:r>
              <a:t>          "detail": "사용자 피드백·업무별 품질·실행 오류 분석",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"사내 지식·API",</a:t>
            </a:r>
          </a:p>
          <a:p xmlns:a="http://schemas.openxmlformats.org/drawingml/2006/main">
            <a:r>
              <a:t>          "layer": "데이터 원천",</a:t>
            </a:r>
          </a:p>
          <a:p xmlns:a="http://schemas.openxmlformats.org/drawingml/2006/main">
            <a:r>
              <a:t>          "detail": "사내 지식·API",</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"인터페이스 정리",</a:t>
            </a:r>
          </a:p>
          <a:p xmlns:a="http://schemas.openxmlformats.org/drawingml/2006/main">
            <a:r>
              <a:t>          "layer": "준비·갱신",</a:t>
            </a:r>
          </a:p>
          <a:p xmlns:a="http://schemas.openxmlformats.org/drawingml/2006/main">
            <a:r>
              <a:t>          "detail": "사내 지식과 시스템별 데이터 인터페이스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"지식·처리 상태",</a:t>
            </a:r>
          </a:p>
          <a:p xmlns:a="http://schemas.openxmlformats.org/drawingml/2006/main">
            <a:r>
              <a:t>          "layer": "상태·지식 저장",</a:t>
            </a:r>
          </a:p>
          <a:p xmlns:a="http://schemas.openxmlformats.org/drawingml/2006/main">
            <a:r>
              <a:t>          "detail": "업무별 도구 선택·실행 결과·복구 로그",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"도구별 실행 권한",</a:t>
            </a:r>
          </a:p>
          <a:p xmlns:a="http://schemas.openxmlformats.org/drawingml/2006/main">
            <a:r>
              <a:t>          "layer": "권한·정책",</a:t>
            </a:r>
          </a:p>
          <a:p xmlns:a="http://schemas.openxmlformats.org/drawingml/2006/main">
            <a:r>
              <a:t>          "detail": "권한 부족·API 부분 실패·같은 요청 재전송",</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"직원 계정·업무 목적·도구 권한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"업무 요청",</a:t>
            </a:r>
          </a:p>
          <a:p xmlns:a="http://schemas.openxmlformats.org/drawingml/2006/main">
            <a:r>
              <a:t>          "check": "실행 권한·중복 호출·실패 복구"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"검색·도구 인자",</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"시스템 결과",</a:t>
            </a:r>
          </a:p>
          <a:p xmlns:a="http://schemas.openxmlformats.org/drawingml/2006/main">
            <a:r>
              <a:t>          "check": "권한 부족·API 부분 실패·같은 요청 재전송"</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"시스템 결과",</a:t>
            </a:r>
          </a:p>
          <a:p xmlns:a="http://schemas.openxmlformats.org/drawingml/2006/main">
            <a:r>
              <a:t>          "check": "직무 도구의 초안·조회·실행 결과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"검토·후속조치",</a:t>
            </a:r>
          </a:p>
          <a:p xmlns:a="http://schemas.openxmlformats.org/drawingml/2006/main">
            <a:r>
              <a:t>          "check": "업무별 도구 선택·실행 결과·복구 로그"</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"전사 지식·시스템과 직무용 AI의 연결 / 공통 AI·사내 API·업무 도구",</a:t>
            </a:r>
          </a:p>
          <a:p xmlns:a="http://schemas.openxmlformats.org/drawingml/2006/main">
            <a:r>
              <a:t>        "extension": "공통 모델·검색과 직무별 시스템 도구를 분리해 단계적으로 확장"</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"권한 부족·API 부분 실패·같은 요청 재전송",</a:t>
            </a:r>
          </a:p>
          <a:p xmlns:a="http://schemas.openxmlformats.org/drawingml/2006/main">
            <a:r>
              <a:t>        "hold": "실행 권한·중복 호출·실패 복구",</a:t>
            </a:r>
          </a:p>
          <a:p xmlns:a="http://schemas.openxmlformats.org/drawingml/2006/main">
            <a:r>
              <a:t>        "recovery": "사용자 피드백·업무별 품질·실행 오류 분석",</a:t>
            </a:r>
          </a:p>
          <a:p xmlns:a="http://schemas.openxmlformats.org/drawingml/2006/main">
            <a:r>
              <a:t>        "evidence": "업무별 도구 선택·실행 결과·복구 로그"</a:t>
            </a:r>
          </a:p>
          <a:p xmlns:a="http://schemas.openxmlformats.org/drawingml/2006/main">
            <a:r>
              <a:t>      },</a:t>
            </a:r>
          </a:p>
          <a:p xmlns:a="http://schemas.openxmlformats.org/drawingml/2006/main">
            <a:r>
              <a:t>      "data": {</a:t>
            </a:r>
          </a:p>
          <a:p xmlns:a="http://schemas.openxmlformats.org/drawingml/2006/main">
            <a:r>
              <a:t>        "source": "사내 지식·API",</a:t>
            </a:r>
          </a:p>
          <a:p xmlns:a="http://schemas.openxmlformats.org/drawingml/2006/main">
            <a:r>
              <a:t>        "prepare": "사내 지식과 시스템별 데이터 인터페이스 연결",</a:t>
            </a:r>
          </a:p>
          <a:p xmlns:a="http://schemas.openxmlformats.org/drawingml/2006/main">
            <a:r>
              <a:t>        "output": "업무 요청",</a:t>
            </a:r>
          </a:p>
          <a:p xmlns:a="http://schemas.openxmlformats.org/drawingml/2006/main">
            <a:r>
              <a:t>        "refresh": "사용자 피드백·업무별 품질·실행 오류 분석"</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"PF04",</a:t>
            </a:r>
          </a:p>
          <a:p xmlns:a="http://schemas.openxmlformats.org/drawingml/2006/main">
            <a:r>
              <a:t>    "success": [</a:t>
            </a:r>
          </a:p>
          <a:p xmlns:a="http://schemas.openxmlformats.org/drawingml/2006/main">
            <a:r>
              <a:t>      "공통 AI와 사내 시스템 연결",</a:t>
            </a:r>
          </a:p>
          <a:p xmlns:a="http://schemas.openxmlformats.org/drawingml/2006/main">
            <a:r>
              <a:t>      "직무 도구·피드백을 통한 확산"</a:t>
            </a:r>
          </a:p>
          <a:p xmlns:a="http://schemas.openxmlformats.org/drawingml/2006/main">
            <a:r>
              <a:t>    ],</a:t>
            </a:r>
          </a:p>
          <a:p xmlns:a="http://schemas.openxmlformats.org/drawingml/2006/main">
            <a:r>
              <a:t>    "risks": [</a:t>
            </a:r>
          </a:p>
          <a:p xmlns:a="http://schemas.openxmlformats.org/drawingml/2006/main">
            <a:r>
              <a:t>      "API별 권한·실패 상태 차이",</a:t>
            </a:r>
          </a:p>
          <a:p xmlns:a="http://schemas.openxmlformats.org/drawingml/2006/main">
            <a:r>
              <a:t>      "전사 도입과 모든 업무의 효과 혼동"</a:t>
            </a:r>
          </a:p>
          <a:p xmlns:a="http://schemas.openxmlformats.org/drawingml/2006/main">
            <a:r>
              <a:t>    ],</a:t>
            </a:r>
          </a:p>
          <a:p xmlns:a="http://schemas.openxmlformats.org/drawingml/2006/main">
            <a:r>
              <a:t>    "architecture": [</a:t>
            </a:r>
          </a:p>
          <a:p xmlns:a="http://schemas.openxmlformats.org/drawingml/2006/main">
            <a:r>
              <a:t>      "임직원 접점",</a:t>
            </a:r>
          </a:p>
          <a:p xmlns:a="http://schemas.openxmlformats.org/drawingml/2006/main">
            <a:r>
              <a:t>      "FabriX·검색·도구",</a:t>
            </a:r>
          </a:p>
          <a:p xmlns:a="http://schemas.openxmlformats.org/drawingml/2006/main">
            <a:r>
              <a:t>      "사내 지식·API",</a:t>
            </a:r>
          </a:p>
          <a:p xmlns:a="http://schemas.openxmlformats.org/drawingml/2006/main">
            <a:r>
              <a:t>      "직무 담당"</a:t>
            </a:r>
          </a:p>
          <a:p xmlns:a="http://schemas.openxmlformats.org/drawingml/2006/main">
            <a:r>
              <a:t>    ],</a:t>
            </a:r>
          </a:p>
          <a:p xmlns:a="http://schemas.openxmlformats.org/drawingml/2006/main">
            <a:r>
              <a:t>    "transfers": [</a:t>
            </a:r>
          </a:p>
          <a:p xmlns:a="http://schemas.openxmlformats.org/drawingml/2006/main">
            <a:r>
              <a:t>      "업무 요청",</a:t>
            </a:r>
          </a:p>
          <a:p xmlns:a="http://schemas.openxmlformats.org/drawingml/2006/main">
            <a:r>
              <a:t>      "검색·도구 인자",</a:t>
            </a:r>
          </a:p>
          <a:p xmlns:a="http://schemas.openxmlformats.org/drawingml/2006/main">
            <a:r>
              <a:t>      "시스템 결과",</a:t>
            </a:r>
          </a:p>
          <a:p xmlns:a="http://schemas.openxmlformats.org/drawingml/2006/main">
            <a:r>
              <a:t>      "검토·후속조치"</a:t>
            </a:r>
          </a:p>
          <a:p xmlns:a="http://schemas.openxmlformats.org/drawingml/2006/main">
            <a:r>
              <a:t>    ],</a:t>
            </a:r>
          </a:p>
          <a:p xmlns:a="http://schemas.openxmlformats.org/drawingml/2006/main">
            <a:r>
              <a:t>    "control": "실행 권한·중복 호출·실패 복구",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기업 기술·운영 소개 https://www.samsungsds.com/kr/insights/samsung-sds-ai-journey.html</a:t>
            </a:r>
          </a:p>
          <a:p xmlns:a="http://schemas.openxmlformats.org/drawingml/2006/main">
            <a:r>
              <a:t>홈페이지 https://heen1987-ops.github.io/TS-business-Plan-001/index.html?view=platform-cases&amp;case=PF04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"PF04",</a:t>
            </a:r>
          </a:p>
          <a:p xmlns:a="http://schemas.openxmlformats.org/drawingml/2006/main">
            <a:r>
              <a:t>    "sourceId": "A05",</a:t>
            </a:r>
          </a:p>
          <a:p xmlns:a="http://schemas.openxmlformats.org/drawingml/2006/main">
            <a:r>
              <a:t>    "title": "삼성SDS FabriX 업무 플랫폼",</a:t>
            </a:r>
          </a:p>
          <a:p xmlns:a="http://schemas.openxmlformats.org/drawingml/2006/main">
            <a:r>
              <a:t>    "region": "국내",</a:t>
            </a:r>
          </a:p>
          <a:p xmlns:a="http://schemas.openxmlformats.org/drawingml/2006/main">
            <a:r>
              <a:t>    "owner": "삼성SDS",</a:t>
            </a:r>
          </a:p>
          <a:p xmlns:a="http://schemas.openxmlformats.org/drawingml/2006/main">
            <a:r>
              <a:t>    "state": "사내 운영 · 자사 발표",</a:t>
            </a:r>
          </a:p>
          <a:p xmlns:a="http://schemas.openxmlformats.org/drawingml/2006/main">
            <a:r>
              <a:t>    "period": "2025.10 소개",</a:t>
            </a:r>
          </a:p>
          <a:p xmlns:a="http://schemas.openxmlformats.org/drawingml/2006/main">
            <a:r>
              <a:t>    "fact": "공통 AI와 사내 시스템 API·협업 도구·개발 접점을 결합한 전사 활용",</a:t>
            </a:r>
          </a:p>
          <a:p xmlns:a="http://schemas.openxmlformats.org/drawingml/2006/main">
            <a:r>
              <a:t>    "limit": "자사 발표 · 특정 직무 성과를 전사 생산성으로 일반화 불가",</a:t>
            </a:r>
          </a:p>
          <a:p xmlns:a="http://schemas.openxmlformats.org/drawingml/2006/main">
            <a:r>
              <a:t>    "nodes": [</a:t>
            </a:r>
          </a:p>
          <a:p xmlns:a="http://schemas.openxmlformats.org/drawingml/2006/main">
            <a:r>
              <a:t>      "공통 AI 접점",</a:t>
            </a:r>
          </a:p>
          <a:p xmlns:a="http://schemas.openxmlformats.org/drawingml/2006/main">
            <a:r>
              <a:t>      "FabriX·검색",</a:t>
            </a:r>
          </a:p>
          <a:p xmlns:a="http://schemas.openxmlformats.org/drawingml/2006/main">
            <a:r>
              <a:t>      "사내 시스템 API",</a:t>
            </a:r>
          </a:p>
          <a:p xmlns:a="http://schemas.openxmlformats.org/drawingml/2006/main">
            <a:r>
              <a:t>      "직무 도구·현업 피드백"</a:t>
            </a:r>
          </a:p>
          <a:p xmlns:a="http://schemas.openxmlformats.org/drawingml/2006/main">
            <a:r>
              <a:t>    ],</a:t>
            </a:r>
          </a:p>
          <a:p xmlns:a="http://schemas.openxmlformats.org/drawingml/2006/main">
            <a:r>
              <a:t>    "apply": "공통 모델·검색과 직무별 시스템 도구를 분리해 단계적으로 확장",</a:t>
            </a:r>
          </a:p>
          <a:p xmlns:a="http://schemas.openxmlformats.org/drawingml/2006/main">
            <a:r>
              <a:t>    "delta": "업무단위 연계 모듈 / 현업 교육 / 품질·비용 관측",</a:t>
            </a:r>
          </a:p>
          <a:p xmlns:a="http://schemas.openxmlformats.org/drawingml/2006/main">
            <a:r>
              <a:t>    "test": "업무 완료율·오실행·재작업·총소요시간 동시 평가",</a:t>
            </a:r>
          </a:p>
          <a:p xmlns:a="http://schemas.openxmlformats.org/drawingml/2006/main">
            <a:r>
              <a:t>    "url": "https://www.samsungsds.com/kr/insights/samsung-sds-ai-journey.html",</a:t>
            </a:r>
          </a:p>
          <a:p xmlns:a="http://schemas.openxmlformats.org/drawingml/2006/main">
            <a:r>
              <a:t>    "basis": "기업 기술·운영 소개",</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"https://www.samsungsds.com/kr/insights/samsung-sds-ai-journey.html"</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"PF04",</a:t>
            </a:r>
          </a:p>
          <a:p xmlns:a="http://schemas.openxmlformats.org/drawingml/2006/main">
            <a:r>
              <a:t>    "canonicalId": "PF04",</a:t>
            </a:r>
          </a:p>
          <a:p xmlns:a="http://schemas.openxmlformats.org/drawingml/2006/main">
            <a:r>
              <a:t>    "purpose": "전사 지식·시스템과 직무용 AI의 연결",</a:t>
            </a:r>
          </a:p>
          <a:p xmlns:a="http://schemas.openxmlformats.org/drawingml/2006/main">
            <a:r>
              <a:t>    "users": "임직원·개발자·업무 관리자",</a:t>
            </a:r>
          </a:p>
          <a:p xmlns:a="http://schemas.openxmlformats.org/drawingml/2006/main">
            <a:r>
              <a:t>    "scope": [</a:t>
            </a:r>
          </a:p>
          <a:p xmlns:a="http://schemas.openxmlformats.org/drawingml/2006/main">
            <a:r>
              <a:t>      "공통 AI",</a:t>
            </a:r>
          </a:p>
          <a:p xmlns:a="http://schemas.openxmlformats.org/drawingml/2006/main">
            <a:r>
              <a:t>      "사내 API",</a:t>
            </a:r>
          </a:p>
          <a:p xmlns:a="http://schemas.openxmlformats.org/drawingml/2006/main">
            <a:r>
              <a:t>      "업무 도구"</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"임직원 접점",</a:t>
            </a:r>
          </a:p>
          <a:p xmlns:a="http://schemas.openxmlformats.org/drawingml/2006/main">
            <a:r>
              <a:t>        "detail": "직원 계정·업무 목적·도구 권한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"공통 AI / 사내 API / 업무 도구",</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"FabriX·검색·도구",</a:t>
            </a:r>
          </a:p>
          <a:p xmlns:a="http://schemas.openxmlformats.org/drawingml/2006/main">
            <a:r>
              <a:t>        "detail": "FabriX를 통한 검색·생성·도구 호출 조정",</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"직무 담당",</a:t>
            </a:r>
          </a:p>
          <a:p xmlns:a="http://schemas.openxmlformats.org/drawingml/2006/main">
            <a:r>
              <a:t>        "detail": "직무 도구의 초안·조회·실행 결과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"사내 지식·API",</a:t>
            </a:r>
          </a:p>
          <a:p xmlns:a="http://schemas.openxmlformats.org/drawingml/2006/main">
            <a:r>
              <a:t>        "detail": "사내 지식과 시스템별 데이터 인터페이스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"사용자 피드백·업무별 품질·실행 오류 분석",</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"공통 AI 접점",</a:t>
            </a:r>
          </a:p>
          <a:p xmlns:a="http://schemas.openxmlformats.org/drawingml/2006/main">
            <a:r>
              <a:t>        "input": "직원 계정·업무 목적·도구 권한 확인",</a:t>
            </a:r>
          </a:p>
          <a:p xmlns:a="http://schemas.openxmlformats.org/drawingml/2006/main">
            <a:r>
              <a:t>        "process": "사내 지식과 시스템별 데이터 인터페이스 연결",</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"title": "FabriX·검색",</a:t>
            </a:r>
          </a:p>
          <a:p xmlns:a="http://schemas.openxmlformats.org/drawingml/2006/main">
            <a:r>
              <a:t>        "input": "업무 요청",</a:t>
            </a:r>
          </a:p>
          <a:p xmlns:a="http://schemas.openxmlformats.org/drawingml/2006/main">
            <a:r>
              <a:t>        "process": "FabriX를 통한 검색·생성·도구 호출 조정",</a:t>
            </a:r>
          </a:p>
          <a:p xmlns:a="http://schemas.openxmlformats.org/drawingml/2006/main">
            <a:r>
              <a:t>        "output": "검색·도구 인자"</a:t>
            </a:r>
          </a:p>
          <a:p xmlns:a="http://schemas.openxmlformats.org/drawingml/2006/main">
            <a:r>
              <a:t>      },</a:t>
            </a:r>
          </a:p>
          <a:p xmlns:a="http://schemas.openxmlformats.org/drawingml/2006/main">
            <a:r>
              <a:t>      {</a:t>
            </a:r>
          </a:p>
          <a:p xmlns:a="http://schemas.openxmlformats.org/drawingml/2006/main">
            <a:r>
              <a:t>        "title": "사내 시스템 API",</a:t>
            </a:r>
          </a:p>
          <a:p xmlns:a="http://schemas.openxmlformats.org/drawingml/2006/main">
            <a:r>
              <a:t>        "input": "검색·도구 인자",</a:t>
            </a:r>
          </a:p>
          <a:p xmlns:a="http://schemas.openxmlformats.org/drawingml/2006/main">
            <a:r>
              <a:t>        "process": "실행 권한·중복 호출·실패 복구",</a:t>
            </a:r>
          </a:p>
          <a:p xmlns:a="http://schemas.openxmlformats.org/drawingml/2006/main">
            <a:r>
              <a:t>        "output": "시스템 결과"</a:t>
            </a:r>
          </a:p>
          <a:p xmlns:a="http://schemas.openxmlformats.org/drawingml/2006/main">
            <a:r>
              <a:t>      },</a:t>
            </a:r>
          </a:p>
          <a:p xmlns:a="http://schemas.openxmlformats.org/drawingml/2006/main">
            <a:r>
              <a:t>      {</a:t>
            </a:r>
          </a:p>
          <a:p xmlns:a="http://schemas.openxmlformats.org/drawingml/2006/main">
            <a:r>
              <a:t>        "title": "직무 도구·현업 피드백",</a:t>
            </a:r>
          </a:p>
          <a:p xmlns:a="http://schemas.openxmlformats.org/drawingml/2006/main">
            <a:r>
              <a:t>        "input": "시스템 결과",</a:t>
            </a:r>
          </a:p>
          <a:p xmlns:a="http://schemas.openxmlformats.org/drawingml/2006/main">
            <a:r>
              <a:t>        "process": "직무 도구의 초안·조회·실행 결과 제공",</a:t>
            </a:r>
          </a:p>
          <a:p xmlns:a="http://schemas.openxmlformats.org/drawingml/2006/main">
            <a:r>
              <a:t>        "output": "검토·후속조치"</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"사내 업무 목적을 검색·도구 호출에 연결",</a:t>
            </a:r>
          </a:p>
          <a:p xmlns:a="http://schemas.openxmlformats.org/drawingml/2006/main">
            <a:r>
              <a:t>      "exception": "권한 부족·API 부분 실패·같은 요청 재전송",</a:t>
            </a:r>
          </a:p>
          <a:p xmlns:a="http://schemas.openxmlformats.org/drawingml/2006/main">
            <a:r>
              <a:t>      "evidence": "업무별 도구 선택·실행 결과·복구 로그",</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"임직원·개발자·업무 관리자",</a:t>
            </a:r>
          </a:p>
          <a:p xmlns:a="http://schemas.openxmlformats.org/drawingml/2006/main">
            <a:r>
              <a:t>          "processing": "직원 계정·업무 목적·도구 권한 확인",</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"사내 지식·API",</a:t>
            </a:r>
          </a:p>
          <a:p xmlns:a="http://schemas.openxmlformats.org/drawingml/2006/main">
            <a:r>
              <a:t>          "processing": "사내 지식과 시스템별 데이터 인터페이스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"업무 요청",</a:t>
            </a:r>
          </a:p>
          <a:p xmlns:a="http://schemas.openxmlformats.org/drawingml/2006/main">
            <a:r>
              <a:t>          "processing": "FabriX를 통한 검색·생성·도구 호출 조정",</a:t>
            </a:r>
          </a:p>
          <a:p xmlns:a="http://schemas.openxmlformats.org/drawingml/2006/main">
            <a:r>
              <a:t>          "output": "시스템 결과"</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"시스템 결과",</a:t>
            </a:r>
          </a:p>
          <a:p xmlns:a="http://schemas.openxmlformats.org/drawingml/2006/main">
            <a:r>
              <a:t>          "processing": "직무 도구의 초안·조회·실행 결과 제공",</a:t>
            </a:r>
          </a:p>
          <a:p xmlns:a="http://schemas.openxmlformats.org/drawingml/2006/main">
            <a:r>
              <a:t>          "output": "검토·후속조치"</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"사용자 피드백·업무별 품질·실행 오류 분석",</a:t>
            </a:r>
          </a:p>
          <a:p xmlns:a="http://schemas.openxmlformats.org/drawingml/2006/main">
            <a:r>
              <a:t>          "output": "업무별 도구 선택·실행 결과·복구 로그"</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"사용자 피드백·업무별 품질·실행 오류 분석",</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"기업 기술·운영 소개",</a:t>
            </a:r>
          </a:p>
          <a:p xmlns:a="http://schemas.openxmlformats.org/drawingml/2006/main">
            <a:r>
              <a:t>        "url": "https://www.samsungsds.com/kr/insights/samsung-sds-ai-journey.html"</a:t>
            </a:r>
          </a:p>
          <a:p xmlns:a="http://schemas.openxmlformats.org/drawingml/2006/main">
            <a:r>
              <a:t>      }</a:t>
            </a:r>
          </a:p>
          <a:p xmlns:a="http://schemas.openxmlformats.org/drawingml/2006/main">
            <a:r>
              <a:t>    ],</a:t>
            </a:r>
          </a:p>
          <a:p xmlns:a="http://schemas.openxmlformats.org/drawingml/2006/main">
            <a:r>
              <a:t>    "implication": "공통 모델·검색과 직무별 시스템 도구를 분리해 단계적으로 확장",</a:t>
            </a:r>
          </a:p>
          <a:p xmlns:a="http://schemas.openxmlformats.org/drawingml/2006/main">
            <a:r>
              <a:t>    "local": "공통 모델·검색과 직무별 시스템 도구를 분리해 단계적으로 확장",</a:t>
            </a:r>
          </a:p>
          <a:p xmlns:a="http://schemas.openxmlformats.org/drawingml/2006/main">
            <a:r>
              <a:t>    "sourceDetail": null,</a:t>
            </a:r>
          </a:p>
          <a:p xmlns:a="http://schemas.openxmlformats.org/drawingml/2006/main">
            <a:r>
              <a:t>    "narrative": [</a:t>
            </a:r>
          </a:p>
          <a:p xmlns:a="http://schemas.openxmlformats.org/drawingml/2006/main">
            <a:r>
              <a:t>      "삼성SDS의 FabriX 공통 AI와 사내 시스템·협업·개발 도구의 연계 사례. 공통 대화 접점에서 API 기반 업무 적용, 협업 도구, 개발 플러그인으로 활용 경로를 확대하는 접근.",</a:t>
            </a:r>
          </a:p>
          <a:p xmlns:a="http://schemas.openxmlformats.org/drawingml/2006/main">
            <a:r>
              <a:t>      "공개 도입 설명은 업무 문서 정비와 공통 플랫폼 제공, 기존 시스템 API 연계, 현장 담당자·전담 조직의 운영을 함께 제시. MCP·권한 연계는 후속 고도화 방향으로 설명된 범위이며 모든 단계의 완료 성과로 묶지 않는 해석.",</a:t>
            </a:r>
          </a:p>
          <a:p xmlns:a="http://schemas.openxmlformats.org/drawingml/2006/main">
            <a:r>
              <a:t>      "CCK에서는 데이터 표준·업무 소유자·운영 책임을 플랫폼과 함께 구축하는 참고. AI혁신처의 공통 기반과 부서별 업무 API·검수 책임을 분리해 확장비용과 업무 완료 품질을 비교할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"직무용 AI 접점",</a:t>
            </a:r>
          </a:p>
          <a:p xmlns:a="http://schemas.openxmlformats.org/drawingml/2006/main">
            <a:r>
              <a:t>          "layer": "이용 접점",</a:t>
            </a:r>
          </a:p>
          <a:p xmlns:a="http://schemas.openxmlformats.org/drawingml/2006/main">
            <a:r>
              <a:t>          "detail": "임직원·개발자·업무 관리자",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"직원·목적·도구",</a:t>
            </a:r>
          </a:p>
          <a:p xmlns:a="http://schemas.openxmlformats.org/drawingml/2006/main">
            <a:r>
              <a:t>          "layer": "업무 문맥",</a:t>
            </a:r>
          </a:p>
          <a:p xmlns:a="http://schemas.openxmlformats.org/drawingml/2006/main">
            <a:r>
              <a:t>          "detail": "직원 계정·업무 목적·도구 권한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"사내 지식 검색",</a:t>
            </a:r>
          </a:p>
          <a:p xmlns:a="http://schemas.openxmlformats.org/drawingml/2006/main">
            <a:r>
              <a:t>          "layer": "자료 조회",</a:t>
            </a:r>
          </a:p>
          <a:p xmlns:a="http://schemas.openxmlformats.org/drawingml/2006/main">
            <a:r>
              <a:t>          "detail": "업무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"FabriX·API 조정",</a:t>
            </a:r>
          </a:p>
          <a:p xmlns:a="http://schemas.openxmlformats.org/drawingml/2006/main">
            <a:r>
              <a:t>          "layer": "핵심 처리",</a:t>
            </a:r>
          </a:p>
          <a:p xmlns:a="http://schemas.openxmlformats.org/drawingml/2006/main">
            <a:r>
              <a:t>          "detail": "FabriX를 통한 검색·생성·도구 호출 조정",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"실행·결과 검사",</a:t>
            </a:r>
          </a:p>
          <a:p xmlns:a="http://schemas.openxmlformats.org/drawingml/2006/main">
            <a:r>
              <a:t>          "layer": "결과 검증",</a:t>
            </a:r>
          </a:p>
          <a:p xmlns:a="http://schemas.openxmlformats.org/drawingml/2006/main">
            <a:r>
              <a:t>          "detail": "실행 권한·중복 호출·실패 복구",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"현업 확인",</a:t>
            </a:r>
          </a:p>
          <a:p xmlns:a="http://schemas.openxmlformats.org/drawingml/2006/main">
            <a:r>
              <a:t>          "layer": "사람 확인",</a:t>
            </a:r>
          </a:p>
          <a:p xmlns:a="http://schemas.openxmlformats.org/drawingml/2006/main">
            <a:r>
              <a:t>          "detail": "사내 업무 목적을 검색·도구 호출에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"직무 시스템 연결",</a:t>
            </a:r>
          </a:p>
          <a:p xmlns:a="http://schemas.openxmlformats.org/drawingml/2006/main">
            <a:r>
              <a:t>          "layer": "업무 연결",</a:t>
            </a:r>
          </a:p>
          <a:p xmlns:a="http://schemas.openxmlformats.org/drawingml/2006/main">
            <a:r>
              <a:t>          "detail": "직무 도구의 초안·조회·실행 결과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"실패·피드백 분석",</a:t>
            </a:r>
          </a:p>
          <a:p xmlns:a="http://schemas.openxmlformats.org/drawingml/2006/main">
            <a:r>
              <a:t>          "layer": "운영 관측",</a:t>
            </a:r>
          </a:p>
          <a:p xmlns:a="http://schemas.openxmlformats.org/drawingml/2006/main">
            <a:r>
              <a:t>          "detail": "사용자 피드백·업무별 품질·실행 오류 분석",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"사내 지식·API",</a:t>
            </a:r>
          </a:p>
          <a:p xmlns:a="http://schemas.openxmlformats.org/drawingml/2006/main">
            <a:r>
              <a:t>          "layer": "데이터 원천",</a:t>
            </a:r>
          </a:p>
          <a:p xmlns:a="http://schemas.openxmlformats.org/drawingml/2006/main">
            <a:r>
              <a:t>          "detail": "사내 지식·API",</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"인터페이스 정리",</a:t>
            </a:r>
          </a:p>
          <a:p xmlns:a="http://schemas.openxmlformats.org/drawingml/2006/main">
            <a:r>
              <a:t>          "layer": "준비·갱신",</a:t>
            </a:r>
          </a:p>
          <a:p xmlns:a="http://schemas.openxmlformats.org/drawingml/2006/main">
            <a:r>
              <a:t>          "detail": "사내 지식과 시스템별 데이터 인터페이스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"지식·처리 상태",</a:t>
            </a:r>
          </a:p>
          <a:p xmlns:a="http://schemas.openxmlformats.org/drawingml/2006/main">
            <a:r>
              <a:t>          "layer": "상태·지식 저장",</a:t>
            </a:r>
          </a:p>
          <a:p xmlns:a="http://schemas.openxmlformats.org/drawingml/2006/main">
            <a:r>
              <a:t>          "detail": "업무별 도구 선택·실행 결과·복구 로그",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"도구별 실행 권한",</a:t>
            </a:r>
          </a:p>
          <a:p xmlns:a="http://schemas.openxmlformats.org/drawingml/2006/main">
            <a:r>
              <a:t>          "layer": "권한·정책",</a:t>
            </a:r>
          </a:p>
          <a:p xmlns:a="http://schemas.openxmlformats.org/drawingml/2006/main">
            <a:r>
              <a:t>          "detail": "권한 부족·API 부분 실패·같은 요청 재전송",</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"직원 계정·업무 목적·도구 권한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"업무 요청",</a:t>
            </a:r>
          </a:p>
          <a:p xmlns:a="http://schemas.openxmlformats.org/drawingml/2006/main">
            <a:r>
              <a:t>          "check": "실행 권한·중복 호출·실패 복구"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"검색·도구 인자",</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"시스템 결과",</a:t>
            </a:r>
          </a:p>
          <a:p xmlns:a="http://schemas.openxmlformats.org/drawingml/2006/main">
            <a:r>
              <a:t>          "check": "권한 부족·API 부분 실패·같은 요청 재전송"</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"시스템 결과",</a:t>
            </a:r>
          </a:p>
          <a:p xmlns:a="http://schemas.openxmlformats.org/drawingml/2006/main">
            <a:r>
              <a:t>          "check": "직무 도구의 초안·조회·실행 결과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"검토·후속조치",</a:t>
            </a:r>
          </a:p>
          <a:p xmlns:a="http://schemas.openxmlformats.org/drawingml/2006/main">
            <a:r>
              <a:t>          "check": "업무별 도구 선택·실행 결과·복구 로그"</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"전사 지식·시스템과 직무용 AI의 연결 / 공통 AI·사내 API·업무 도구",</a:t>
            </a:r>
          </a:p>
          <a:p xmlns:a="http://schemas.openxmlformats.org/drawingml/2006/main">
            <a:r>
              <a:t>        "extension": "공통 모델·검색과 직무별 시스템 도구를 분리해 단계적으로 확장"</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"권한 부족·API 부분 실패·같은 요청 재전송",</a:t>
            </a:r>
          </a:p>
          <a:p xmlns:a="http://schemas.openxmlformats.org/drawingml/2006/main">
            <a:r>
              <a:t>        "hold": "실행 권한·중복 호출·실패 복구",</a:t>
            </a:r>
          </a:p>
          <a:p xmlns:a="http://schemas.openxmlformats.org/drawingml/2006/main">
            <a:r>
              <a:t>        "recovery": "사용자 피드백·업무별 품질·실행 오류 분석",</a:t>
            </a:r>
          </a:p>
          <a:p xmlns:a="http://schemas.openxmlformats.org/drawingml/2006/main">
            <a:r>
              <a:t>        "evidence": "업무별 도구 선택·실행 결과·복구 로그"</a:t>
            </a:r>
          </a:p>
          <a:p xmlns:a="http://schemas.openxmlformats.org/drawingml/2006/main">
            <a:r>
              <a:t>      },</a:t>
            </a:r>
          </a:p>
          <a:p xmlns:a="http://schemas.openxmlformats.org/drawingml/2006/main">
            <a:r>
              <a:t>      "data": {</a:t>
            </a:r>
          </a:p>
          <a:p xmlns:a="http://schemas.openxmlformats.org/drawingml/2006/main">
            <a:r>
              <a:t>        "source": "사내 지식·API",</a:t>
            </a:r>
          </a:p>
          <a:p xmlns:a="http://schemas.openxmlformats.org/drawingml/2006/main">
            <a:r>
              <a:t>        "prepare": "사내 지식과 시스템별 데이터 인터페이스 연결",</a:t>
            </a:r>
          </a:p>
          <a:p xmlns:a="http://schemas.openxmlformats.org/drawingml/2006/main">
            <a:r>
              <a:t>        "output": "업무 요청",</a:t>
            </a:r>
          </a:p>
          <a:p xmlns:a="http://schemas.openxmlformats.org/drawingml/2006/main">
            <a:r>
              <a:t>        "refresh": "사용자 피드백·업무별 품질·실행 오류 분석"</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"PF04",</a:t>
            </a:r>
          </a:p>
          <a:p xmlns:a="http://schemas.openxmlformats.org/drawingml/2006/main">
            <a:r>
              <a:t>    "success": [</a:t>
            </a:r>
          </a:p>
          <a:p xmlns:a="http://schemas.openxmlformats.org/drawingml/2006/main">
            <a:r>
              <a:t>      "공통 AI와 사내 시스템 연결",</a:t>
            </a:r>
          </a:p>
          <a:p xmlns:a="http://schemas.openxmlformats.org/drawingml/2006/main">
            <a:r>
              <a:t>      "직무 도구·피드백을 통한 확산"</a:t>
            </a:r>
          </a:p>
          <a:p xmlns:a="http://schemas.openxmlformats.org/drawingml/2006/main">
            <a:r>
              <a:t>    ],</a:t>
            </a:r>
          </a:p>
          <a:p xmlns:a="http://schemas.openxmlformats.org/drawingml/2006/main">
            <a:r>
              <a:t>    "risks": [</a:t>
            </a:r>
          </a:p>
          <a:p xmlns:a="http://schemas.openxmlformats.org/drawingml/2006/main">
            <a:r>
              <a:t>      "API별 권한·실패 상태 차이",</a:t>
            </a:r>
          </a:p>
          <a:p xmlns:a="http://schemas.openxmlformats.org/drawingml/2006/main">
            <a:r>
              <a:t>      "전사 도입과 모든 업무의 효과 혼동"</a:t>
            </a:r>
          </a:p>
          <a:p xmlns:a="http://schemas.openxmlformats.org/drawingml/2006/main">
            <a:r>
              <a:t>    ],</a:t>
            </a:r>
          </a:p>
          <a:p xmlns:a="http://schemas.openxmlformats.org/drawingml/2006/main">
            <a:r>
              <a:t>    "architecture": [</a:t>
            </a:r>
          </a:p>
          <a:p xmlns:a="http://schemas.openxmlformats.org/drawingml/2006/main">
            <a:r>
              <a:t>      "임직원 접점",</a:t>
            </a:r>
          </a:p>
          <a:p xmlns:a="http://schemas.openxmlformats.org/drawingml/2006/main">
            <a:r>
              <a:t>      "FabriX·검색·도구",</a:t>
            </a:r>
          </a:p>
          <a:p xmlns:a="http://schemas.openxmlformats.org/drawingml/2006/main">
            <a:r>
              <a:t>      "사내 지식·API",</a:t>
            </a:r>
          </a:p>
          <a:p xmlns:a="http://schemas.openxmlformats.org/drawingml/2006/main">
            <a:r>
              <a:t>      "직무 담당"</a:t>
            </a:r>
          </a:p>
          <a:p xmlns:a="http://schemas.openxmlformats.org/drawingml/2006/main">
            <a:r>
              <a:t>    ],</a:t>
            </a:r>
          </a:p>
          <a:p xmlns:a="http://schemas.openxmlformats.org/drawingml/2006/main">
            <a:r>
              <a:t>    "transfers": [</a:t>
            </a:r>
          </a:p>
          <a:p xmlns:a="http://schemas.openxmlformats.org/drawingml/2006/main">
            <a:r>
              <a:t>      "업무 요청",</a:t>
            </a:r>
          </a:p>
          <a:p xmlns:a="http://schemas.openxmlformats.org/drawingml/2006/main">
            <a:r>
              <a:t>      "검색·도구 인자",</a:t>
            </a:r>
          </a:p>
          <a:p xmlns:a="http://schemas.openxmlformats.org/drawingml/2006/main">
            <a:r>
              <a:t>      "시스템 결과",</a:t>
            </a:r>
          </a:p>
          <a:p xmlns:a="http://schemas.openxmlformats.org/drawingml/2006/main">
            <a:r>
              <a:t>      "검토·후속조치"</a:t>
            </a:r>
          </a:p>
          <a:p xmlns:a="http://schemas.openxmlformats.org/drawingml/2006/main">
            <a:r>
              <a:t>    ],</a:t>
            </a:r>
          </a:p>
          <a:p xmlns:a="http://schemas.openxmlformats.org/drawingml/2006/main">
            <a:r>
              <a:t>    "control": "실행 권한·중복 호출·실패 복구",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기업 기술·운영 소개 https://www.samsungsds.com/kr/insights/samsung-sds-ai-journey.html</a:t>
            </a:r>
          </a:p>
          <a:p xmlns:a="http://schemas.openxmlformats.org/drawingml/2006/main">
            <a:r>
              <a:t>홈페이지 https://heen1987-ops.github.io/TS-business-Plan-001/index.html?view=platform-cases&amp;case=PF04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"PF04",</a:t>
            </a:r>
          </a:p>
          <a:p xmlns:a="http://schemas.openxmlformats.org/drawingml/2006/main">
            <a:r>
              <a:t>    "sourceId": "A05",</a:t>
            </a:r>
          </a:p>
          <a:p xmlns:a="http://schemas.openxmlformats.org/drawingml/2006/main">
            <a:r>
              <a:t>    "title": "삼성SDS FabriX 업무 플랫폼",</a:t>
            </a:r>
          </a:p>
          <a:p xmlns:a="http://schemas.openxmlformats.org/drawingml/2006/main">
            <a:r>
              <a:t>    "region": "국내",</a:t>
            </a:r>
          </a:p>
          <a:p xmlns:a="http://schemas.openxmlformats.org/drawingml/2006/main">
            <a:r>
              <a:t>    "owner": "삼성SDS",</a:t>
            </a:r>
          </a:p>
          <a:p xmlns:a="http://schemas.openxmlformats.org/drawingml/2006/main">
            <a:r>
              <a:t>    "state": "사내 운영 · 자사 발표",</a:t>
            </a:r>
          </a:p>
          <a:p xmlns:a="http://schemas.openxmlformats.org/drawingml/2006/main">
            <a:r>
              <a:t>    "period": "2025.10 소개",</a:t>
            </a:r>
          </a:p>
          <a:p xmlns:a="http://schemas.openxmlformats.org/drawingml/2006/main">
            <a:r>
              <a:t>    "fact": "공통 AI와 사내 시스템 API·협업 도구·개발 접점을 결합한 전사 활용",</a:t>
            </a:r>
          </a:p>
          <a:p xmlns:a="http://schemas.openxmlformats.org/drawingml/2006/main">
            <a:r>
              <a:t>    "limit": "자사 발표 · 특정 직무 성과를 전사 생산성으로 일반화 불가",</a:t>
            </a:r>
          </a:p>
          <a:p xmlns:a="http://schemas.openxmlformats.org/drawingml/2006/main">
            <a:r>
              <a:t>    "nodes": [</a:t>
            </a:r>
          </a:p>
          <a:p xmlns:a="http://schemas.openxmlformats.org/drawingml/2006/main">
            <a:r>
              <a:t>      "공통 AI 접점",</a:t>
            </a:r>
          </a:p>
          <a:p xmlns:a="http://schemas.openxmlformats.org/drawingml/2006/main">
            <a:r>
              <a:t>      "FabriX·검색",</a:t>
            </a:r>
          </a:p>
          <a:p xmlns:a="http://schemas.openxmlformats.org/drawingml/2006/main">
            <a:r>
              <a:t>      "사내 시스템 API",</a:t>
            </a:r>
          </a:p>
          <a:p xmlns:a="http://schemas.openxmlformats.org/drawingml/2006/main">
            <a:r>
              <a:t>      "직무 도구·현업 피드백"</a:t>
            </a:r>
          </a:p>
          <a:p xmlns:a="http://schemas.openxmlformats.org/drawingml/2006/main">
            <a:r>
              <a:t>    ],</a:t>
            </a:r>
          </a:p>
          <a:p xmlns:a="http://schemas.openxmlformats.org/drawingml/2006/main">
            <a:r>
              <a:t>    "apply": "공통 모델·검색과 직무별 시스템 도구를 분리해 단계적으로 확장",</a:t>
            </a:r>
          </a:p>
          <a:p xmlns:a="http://schemas.openxmlformats.org/drawingml/2006/main">
            <a:r>
              <a:t>    "delta": "업무단위 연계 모듈 / 현업 교육 / 품질·비용 관측",</a:t>
            </a:r>
          </a:p>
          <a:p xmlns:a="http://schemas.openxmlformats.org/drawingml/2006/main">
            <a:r>
              <a:t>    "test": "업무 완료율·오실행·재작업·총소요시간 동시 평가",</a:t>
            </a:r>
          </a:p>
          <a:p xmlns:a="http://schemas.openxmlformats.org/drawingml/2006/main">
            <a:r>
              <a:t>    "url": "https://www.samsungsds.com/kr/insights/samsung-sds-ai-journey.html",</a:t>
            </a:r>
          </a:p>
          <a:p xmlns:a="http://schemas.openxmlformats.org/drawingml/2006/main">
            <a:r>
              <a:t>    "basis": "기업 기술·운영 소개",</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"https://www.samsungsds.com/kr/insights/samsung-sds-ai-journey.html"</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"PF04",</a:t>
            </a:r>
          </a:p>
          <a:p xmlns:a="http://schemas.openxmlformats.org/drawingml/2006/main">
            <a:r>
              <a:t>    "canonicalId": "PF04",</a:t>
            </a:r>
          </a:p>
          <a:p xmlns:a="http://schemas.openxmlformats.org/drawingml/2006/main">
            <a:r>
              <a:t>    "purpose": "전사 지식·시스템과 직무용 AI의 연결",</a:t>
            </a:r>
          </a:p>
          <a:p xmlns:a="http://schemas.openxmlformats.org/drawingml/2006/main">
            <a:r>
              <a:t>    "users": "임직원·개발자·업무 관리자",</a:t>
            </a:r>
          </a:p>
          <a:p xmlns:a="http://schemas.openxmlformats.org/drawingml/2006/main">
            <a:r>
              <a:t>    "scope": [</a:t>
            </a:r>
          </a:p>
          <a:p xmlns:a="http://schemas.openxmlformats.org/drawingml/2006/main">
            <a:r>
              <a:t>      "공통 AI",</a:t>
            </a:r>
          </a:p>
          <a:p xmlns:a="http://schemas.openxmlformats.org/drawingml/2006/main">
            <a:r>
              <a:t>      "사내 API",</a:t>
            </a:r>
          </a:p>
          <a:p xmlns:a="http://schemas.openxmlformats.org/drawingml/2006/main">
            <a:r>
              <a:t>      "업무 도구"</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"임직원 접점",</a:t>
            </a:r>
          </a:p>
          <a:p xmlns:a="http://schemas.openxmlformats.org/drawingml/2006/main">
            <a:r>
              <a:t>        "detail": "직원 계정·업무 목적·도구 권한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"공통 AI / 사내 API / 업무 도구",</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"FabriX·검색·도구",</a:t>
            </a:r>
          </a:p>
          <a:p xmlns:a="http://schemas.openxmlformats.org/drawingml/2006/main">
            <a:r>
              <a:t>        "detail": "FabriX를 통한 검색·생성·도구 호출 조정",</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"직무 담당",</a:t>
            </a:r>
          </a:p>
          <a:p xmlns:a="http://schemas.openxmlformats.org/drawingml/2006/main">
            <a:r>
              <a:t>        "detail": "직무 도구의 초안·조회·실행 결과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"사내 지식·API",</a:t>
            </a:r>
          </a:p>
          <a:p xmlns:a="http://schemas.openxmlformats.org/drawingml/2006/main">
            <a:r>
              <a:t>        "detail": "사내 지식과 시스템별 데이터 인터페이스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"사용자 피드백·업무별 품질·실행 오류 분석",</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"공통 AI 접점",</a:t>
            </a:r>
          </a:p>
          <a:p xmlns:a="http://schemas.openxmlformats.org/drawingml/2006/main">
            <a:r>
              <a:t>        "input": "직원 계정·업무 목적·도구 권한 확인",</a:t>
            </a:r>
          </a:p>
          <a:p xmlns:a="http://schemas.openxmlformats.org/drawingml/2006/main">
            <a:r>
              <a:t>        "process": "사내 지식과 시스템별 데이터 인터페이스 연결",</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"title": "FabriX·검색",</a:t>
            </a:r>
          </a:p>
          <a:p xmlns:a="http://schemas.openxmlformats.org/drawingml/2006/main">
            <a:r>
              <a:t>        "input": "업무 요청",</a:t>
            </a:r>
          </a:p>
          <a:p xmlns:a="http://schemas.openxmlformats.org/drawingml/2006/main">
            <a:r>
              <a:t>        "process": "FabriX를 통한 검색·생성·도구 호출 조정",</a:t>
            </a:r>
          </a:p>
          <a:p xmlns:a="http://schemas.openxmlformats.org/drawingml/2006/main">
            <a:r>
              <a:t>        "output": "검색·도구 인자"</a:t>
            </a:r>
          </a:p>
          <a:p xmlns:a="http://schemas.openxmlformats.org/drawingml/2006/main">
            <a:r>
              <a:t>      },</a:t>
            </a:r>
          </a:p>
          <a:p xmlns:a="http://schemas.openxmlformats.org/drawingml/2006/main">
            <a:r>
              <a:t>      {</a:t>
            </a:r>
          </a:p>
          <a:p xmlns:a="http://schemas.openxmlformats.org/drawingml/2006/main">
            <a:r>
              <a:t>        "title": "사내 시스템 API",</a:t>
            </a:r>
          </a:p>
          <a:p xmlns:a="http://schemas.openxmlformats.org/drawingml/2006/main">
            <a:r>
              <a:t>        "input": "검색·도구 인자",</a:t>
            </a:r>
          </a:p>
          <a:p xmlns:a="http://schemas.openxmlformats.org/drawingml/2006/main">
            <a:r>
              <a:t>        "process": "실행 권한·중복 호출·실패 복구",</a:t>
            </a:r>
          </a:p>
          <a:p xmlns:a="http://schemas.openxmlformats.org/drawingml/2006/main">
            <a:r>
              <a:t>        "output": "시스템 결과"</a:t>
            </a:r>
          </a:p>
          <a:p xmlns:a="http://schemas.openxmlformats.org/drawingml/2006/main">
            <a:r>
              <a:t>      },</a:t>
            </a:r>
          </a:p>
          <a:p xmlns:a="http://schemas.openxmlformats.org/drawingml/2006/main">
            <a:r>
              <a:t>      {</a:t>
            </a:r>
          </a:p>
          <a:p xmlns:a="http://schemas.openxmlformats.org/drawingml/2006/main">
            <a:r>
              <a:t>        "title": "직무 도구·현업 피드백",</a:t>
            </a:r>
          </a:p>
          <a:p xmlns:a="http://schemas.openxmlformats.org/drawingml/2006/main">
            <a:r>
              <a:t>        "input": "시스템 결과",</a:t>
            </a:r>
          </a:p>
          <a:p xmlns:a="http://schemas.openxmlformats.org/drawingml/2006/main">
            <a:r>
              <a:t>        "process": "직무 도구의 초안·조회·실행 결과 제공",</a:t>
            </a:r>
          </a:p>
          <a:p xmlns:a="http://schemas.openxmlformats.org/drawingml/2006/main">
            <a:r>
              <a:t>        "output": "검토·후속조치"</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"사내 업무 목적을 검색·도구 호출에 연결",</a:t>
            </a:r>
          </a:p>
          <a:p xmlns:a="http://schemas.openxmlformats.org/drawingml/2006/main">
            <a:r>
              <a:t>      "exception": "권한 부족·API 부분 실패·같은 요청 재전송",</a:t>
            </a:r>
          </a:p>
          <a:p xmlns:a="http://schemas.openxmlformats.org/drawingml/2006/main">
            <a:r>
              <a:t>      "evidence": "업무별 도구 선택·실행 결과·복구 로그",</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"임직원·개발자·업무 관리자",</a:t>
            </a:r>
          </a:p>
          <a:p xmlns:a="http://schemas.openxmlformats.org/drawingml/2006/main">
            <a:r>
              <a:t>          "processing": "직원 계정·업무 목적·도구 권한 확인",</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"사내 지식·API",</a:t>
            </a:r>
          </a:p>
          <a:p xmlns:a="http://schemas.openxmlformats.org/drawingml/2006/main">
            <a:r>
              <a:t>          "processing": "사내 지식과 시스템별 데이터 인터페이스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"업무 요청",</a:t>
            </a:r>
          </a:p>
          <a:p xmlns:a="http://schemas.openxmlformats.org/drawingml/2006/main">
            <a:r>
              <a:t>          "processing": "FabriX를 통한 검색·생성·도구 호출 조정",</a:t>
            </a:r>
          </a:p>
          <a:p xmlns:a="http://schemas.openxmlformats.org/drawingml/2006/main">
            <a:r>
              <a:t>          "output": "시스템 결과"</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"시스템 결과",</a:t>
            </a:r>
          </a:p>
          <a:p xmlns:a="http://schemas.openxmlformats.org/drawingml/2006/main">
            <a:r>
              <a:t>          "processing": "직무 도구의 초안·조회·실행 결과 제공",</a:t>
            </a:r>
          </a:p>
          <a:p xmlns:a="http://schemas.openxmlformats.org/drawingml/2006/main">
            <a:r>
              <a:t>          "output": "검토·후속조치"</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"사용자 피드백·업무별 품질·실행 오류 분석",</a:t>
            </a:r>
          </a:p>
          <a:p xmlns:a="http://schemas.openxmlformats.org/drawingml/2006/main">
            <a:r>
              <a:t>          "output": "업무별 도구 선택·실행 결과·복구 로그"</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"사용자 피드백·업무별 품질·실행 오류 분석",</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"기업 기술·운영 소개",</a:t>
            </a:r>
          </a:p>
          <a:p xmlns:a="http://schemas.openxmlformats.org/drawingml/2006/main">
            <a:r>
              <a:t>        "url": "https://www.samsungsds.com/kr/insights/samsung-sds-ai-journey.html"</a:t>
            </a:r>
          </a:p>
          <a:p xmlns:a="http://schemas.openxmlformats.org/drawingml/2006/main">
            <a:r>
              <a:t>      }</a:t>
            </a:r>
          </a:p>
          <a:p xmlns:a="http://schemas.openxmlformats.org/drawingml/2006/main">
            <a:r>
              <a:t>    ],</a:t>
            </a:r>
          </a:p>
          <a:p xmlns:a="http://schemas.openxmlformats.org/drawingml/2006/main">
            <a:r>
              <a:t>    "implication": "공통 모델·검색과 직무별 시스템 도구를 분리해 단계적으로 확장",</a:t>
            </a:r>
          </a:p>
          <a:p xmlns:a="http://schemas.openxmlformats.org/drawingml/2006/main">
            <a:r>
              <a:t>    "local": "공통 모델·검색과 직무별 시스템 도구를 분리해 단계적으로 확장",</a:t>
            </a:r>
          </a:p>
          <a:p xmlns:a="http://schemas.openxmlformats.org/drawingml/2006/main">
            <a:r>
              <a:t>    "sourceDetail": null,</a:t>
            </a:r>
          </a:p>
          <a:p xmlns:a="http://schemas.openxmlformats.org/drawingml/2006/main">
            <a:r>
              <a:t>    "narrative": [</a:t>
            </a:r>
          </a:p>
          <a:p xmlns:a="http://schemas.openxmlformats.org/drawingml/2006/main">
            <a:r>
              <a:t>      "삼성SDS의 FabriX 공통 AI와 사내 시스템·협업·개발 도구의 연계 사례. 공통 대화 접점에서 API 기반 업무 적용, 협업 도구, 개발 플러그인으로 활용 경로를 확대하는 접근.",</a:t>
            </a:r>
          </a:p>
          <a:p xmlns:a="http://schemas.openxmlformats.org/drawingml/2006/main">
            <a:r>
              <a:t>      "공개 도입 설명은 업무 문서 정비와 공통 플랫폼 제공, 기존 시스템 API 연계, 현장 담당자·전담 조직의 운영을 함께 제시. MCP·권한 연계는 후속 고도화 방향으로 설명된 범위이며 모든 단계의 완료 성과로 묶지 않는 해석.",</a:t>
            </a:r>
          </a:p>
          <a:p xmlns:a="http://schemas.openxmlformats.org/drawingml/2006/main">
            <a:r>
              <a:t>      "CCK에서는 데이터 표준·업무 소유자·운영 책임을 플랫폼과 함께 구축하는 참고. AI혁신처의 공통 기반과 부서별 업무 API·검수 책임을 분리해 확장비용과 업무 완료 품질을 비교할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"직무용 AI 접점",</a:t>
            </a:r>
          </a:p>
          <a:p xmlns:a="http://schemas.openxmlformats.org/drawingml/2006/main">
            <a:r>
              <a:t>          "layer": "이용 접점",</a:t>
            </a:r>
          </a:p>
          <a:p xmlns:a="http://schemas.openxmlformats.org/drawingml/2006/main">
            <a:r>
              <a:t>          "detail": "임직원·개발자·업무 관리자",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"직원·목적·도구",</a:t>
            </a:r>
          </a:p>
          <a:p xmlns:a="http://schemas.openxmlformats.org/drawingml/2006/main">
            <a:r>
              <a:t>          "layer": "업무 문맥",</a:t>
            </a:r>
          </a:p>
          <a:p xmlns:a="http://schemas.openxmlformats.org/drawingml/2006/main">
            <a:r>
              <a:t>          "detail": "직원 계정·업무 목적·도구 권한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"사내 지식 검색",</a:t>
            </a:r>
          </a:p>
          <a:p xmlns:a="http://schemas.openxmlformats.org/drawingml/2006/main">
            <a:r>
              <a:t>          "layer": "자료 조회",</a:t>
            </a:r>
          </a:p>
          <a:p xmlns:a="http://schemas.openxmlformats.org/drawingml/2006/main">
            <a:r>
              <a:t>          "detail": "업무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"FabriX·API 조정",</a:t>
            </a:r>
          </a:p>
          <a:p xmlns:a="http://schemas.openxmlformats.org/drawingml/2006/main">
            <a:r>
              <a:t>          "layer": "핵심 처리",</a:t>
            </a:r>
          </a:p>
          <a:p xmlns:a="http://schemas.openxmlformats.org/drawingml/2006/main">
            <a:r>
              <a:t>          "detail": "FabriX를 통한 검색·생성·도구 호출 조정",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"실행·결과 검사",</a:t>
            </a:r>
          </a:p>
          <a:p xmlns:a="http://schemas.openxmlformats.org/drawingml/2006/main">
            <a:r>
              <a:t>          "layer": "결과 검증",</a:t>
            </a:r>
          </a:p>
          <a:p xmlns:a="http://schemas.openxmlformats.org/drawingml/2006/main">
            <a:r>
              <a:t>          "detail": "실행 권한·중복 호출·실패 복구",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"현업 확인",</a:t>
            </a:r>
          </a:p>
          <a:p xmlns:a="http://schemas.openxmlformats.org/drawingml/2006/main">
            <a:r>
              <a:t>          "layer": "사람 확인",</a:t>
            </a:r>
          </a:p>
          <a:p xmlns:a="http://schemas.openxmlformats.org/drawingml/2006/main">
            <a:r>
              <a:t>          "detail": "사내 업무 목적을 검색·도구 호출에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"직무 시스템 연결",</a:t>
            </a:r>
          </a:p>
          <a:p xmlns:a="http://schemas.openxmlformats.org/drawingml/2006/main">
            <a:r>
              <a:t>          "layer": "업무 연결",</a:t>
            </a:r>
          </a:p>
          <a:p xmlns:a="http://schemas.openxmlformats.org/drawingml/2006/main">
            <a:r>
              <a:t>          "detail": "직무 도구의 초안·조회·실행 결과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"실패·피드백 분석",</a:t>
            </a:r>
          </a:p>
          <a:p xmlns:a="http://schemas.openxmlformats.org/drawingml/2006/main">
            <a:r>
              <a:t>          "layer": "운영 관측",</a:t>
            </a:r>
          </a:p>
          <a:p xmlns:a="http://schemas.openxmlformats.org/drawingml/2006/main">
            <a:r>
              <a:t>          "detail": "사용자 피드백·업무별 품질·실행 오류 분석",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"사내 지식·API",</a:t>
            </a:r>
          </a:p>
          <a:p xmlns:a="http://schemas.openxmlformats.org/drawingml/2006/main">
            <a:r>
              <a:t>          "layer": "데이터 원천",</a:t>
            </a:r>
          </a:p>
          <a:p xmlns:a="http://schemas.openxmlformats.org/drawingml/2006/main">
            <a:r>
              <a:t>          "detail": "사내 지식·API",</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"인터페이스 정리",</a:t>
            </a:r>
          </a:p>
          <a:p xmlns:a="http://schemas.openxmlformats.org/drawingml/2006/main">
            <a:r>
              <a:t>          "layer": "준비·갱신",</a:t>
            </a:r>
          </a:p>
          <a:p xmlns:a="http://schemas.openxmlformats.org/drawingml/2006/main">
            <a:r>
              <a:t>          "detail": "사내 지식과 시스템별 데이터 인터페이스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"지식·처리 상태",</a:t>
            </a:r>
          </a:p>
          <a:p xmlns:a="http://schemas.openxmlformats.org/drawingml/2006/main">
            <a:r>
              <a:t>          "layer": "상태·지식 저장",</a:t>
            </a:r>
          </a:p>
          <a:p xmlns:a="http://schemas.openxmlformats.org/drawingml/2006/main">
            <a:r>
              <a:t>          "detail": "업무별 도구 선택·실행 결과·복구 로그",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"도구별 실행 권한",</a:t>
            </a:r>
          </a:p>
          <a:p xmlns:a="http://schemas.openxmlformats.org/drawingml/2006/main">
            <a:r>
              <a:t>          "layer": "권한·정책",</a:t>
            </a:r>
          </a:p>
          <a:p xmlns:a="http://schemas.openxmlformats.org/drawingml/2006/main">
            <a:r>
              <a:t>          "detail": "권한 부족·API 부분 실패·같은 요청 재전송",</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"직원 계정·업무 목적·도구 권한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"업무 요청",</a:t>
            </a:r>
          </a:p>
          <a:p xmlns:a="http://schemas.openxmlformats.org/drawingml/2006/main">
            <a:r>
              <a:t>          "check": "실행 권한·중복 호출·실패 복구"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"검색·도구 인자",</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"시스템 결과",</a:t>
            </a:r>
          </a:p>
          <a:p xmlns:a="http://schemas.openxmlformats.org/drawingml/2006/main">
            <a:r>
              <a:t>          "check": "권한 부족·API 부분 실패·같은 요청 재전송"</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"시스템 결과",</a:t>
            </a:r>
          </a:p>
          <a:p xmlns:a="http://schemas.openxmlformats.org/drawingml/2006/main">
            <a:r>
              <a:t>          "check": "직무 도구의 초안·조회·실행 결과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"검토·후속조치",</a:t>
            </a:r>
          </a:p>
          <a:p xmlns:a="http://schemas.openxmlformats.org/drawingml/2006/main">
            <a:r>
              <a:t>          "check": "업무별 도구 선택·실행 결과·복구 로그"</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"전사 지식·시스템과 직무용 AI의 연결 / 공통 AI·사내 API·업무 도구",</a:t>
            </a:r>
          </a:p>
          <a:p xmlns:a="http://schemas.openxmlformats.org/drawingml/2006/main">
            <a:r>
              <a:t>        "extension": "공통 모델·검색과 직무별 시스템 도구를 분리해 단계적으로 확장"</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"권한 부족·API 부분 실패·같은 요청 재전송",</a:t>
            </a:r>
          </a:p>
          <a:p xmlns:a="http://schemas.openxmlformats.org/drawingml/2006/main">
            <a:r>
              <a:t>        "hold": "실행 권한·중복 호출·실패 복구",</a:t>
            </a:r>
          </a:p>
          <a:p xmlns:a="http://schemas.openxmlformats.org/drawingml/2006/main">
            <a:r>
              <a:t>        "recovery": "사용자 피드백·업무별 품질·실행 오류 분석",</a:t>
            </a:r>
          </a:p>
          <a:p xmlns:a="http://schemas.openxmlformats.org/drawingml/2006/main">
            <a:r>
              <a:t>        "evidence": "업무별 도구 선택·실행 결과·복구 로그"</a:t>
            </a:r>
          </a:p>
          <a:p xmlns:a="http://schemas.openxmlformats.org/drawingml/2006/main">
            <a:r>
              <a:t>      },</a:t>
            </a:r>
          </a:p>
          <a:p xmlns:a="http://schemas.openxmlformats.org/drawingml/2006/main">
            <a:r>
              <a:t>      "data": {</a:t>
            </a:r>
          </a:p>
          <a:p xmlns:a="http://schemas.openxmlformats.org/drawingml/2006/main">
            <a:r>
              <a:t>        "source": "사내 지식·API",</a:t>
            </a:r>
          </a:p>
          <a:p xmlns:a="http://schemas.openxmlformats.org/drawingml/2006/main">
            <a:r>
              <a:t>        "prepare": "사내 지식과 시스템별 데이터 인터페이스 연결",</a:t>
            </a:r>
          </a:p>
          <a:p xmlns:a="http://schemas.openxmlformats.org/drawingml/2006/main">
            <a:r>
              <a:t>        "output": "업무 요청",</a:t>
            </a:r>
          </a:p>
          <a:p xmlns:a="http://schemas.openxmlformats.org/drawingml/2006/main">
            <a:r>
              <a:t>        "refresh": "사용자 피드백·업무별 품질·실행 오류 분석"</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"PF04",</a:t>
            </a:r>
          </a:p>
          <a:p xmlns:a="http://schemas.openxmlformats.org/drawingml/2006/main">
            <a:r>
              <a:t>    "success": [</a:t>
            </a:r>
          </a:p>
          <a:p xmlns:a="http://schemas.openxmlformats.org/drawingml/2006/main">
            <a:r>
              <a:t>      "공통 AI와 사내 시스템 연결",</a:t>
            </a:r>
          </a:p>
          <a:p xmlns:a="http://schemas.openxmlformats.org/drawingml/2006/main">
            <a:r>
              <a:t>      "직무 도구·피드백을 통한 확산"</a:t>
            </a:r>
          </a:p>
          <a:p xmlns:a="http://schemas.openxmlformats.org/drawingml/2006/main">
            <a:r>
              <a:t>    ],</a:t>
            </a:r>
          </a:p>
          <a:p xmlns:a="http://schemas.openxmlformats.org/drawingml/2006/main">
            <a:r>
              <a:t>    "risks": [</a:t>
            </a:r>
          </a:p>
          <a:p xmlns:a="http://schemas.openxmlformats.org/drawingml/2006/main">
            <a:r>
              <a:t>      "API별 권한·실패 상태 차이",</a:t>
            </a:r>
          </a:p>
          <a:p xmlns:a="http://schemas.openxmlformats.org/drawingml/2006/main">
            <a:r>
              <a:t>      "전사 도입과 모든 업무의 효과 혼동"</a:t>
            </a:r>
          </a:p>
          <a:p xmlns:a="http://schemas.openxmlformats.org/drawingml/2006/main">
            <a:r>
              <a:t>    ],</a:t>
            </a:r>
          </a:p>
          <a:p xmlns:a="http://schemas.openxmlformats.org/drawingml/2006/main">
            <a:r>
              <a:t>    "architecture": [</a:t>
            </a:r>
          </a:p>
          <a:p xmlns:a="http://schemas.openxmlformats.org/drawingml/2006/main">
            <a:r>
              <a:t>      "임직원 접점",</a:t>
            </a:r>
          </a:p>
          <a:p xmlns:a="http://schemas.openxmlformats.org/drawingml/2006/main">
            <a:r>
              <a:t>      "FabriX·검색·도구",</a:t>
            </a:r>
          </a:p>
          <a:p xmlns:a="http://schemas.openxmlformats.org/drawingml/2006/main">
            <a:r>
              <a:t>      "사내 지식·API",</a:t>
            </a:r>
          </a:p>
          <a:p xmlns:a="http://schemas.openxmlformats.org/drawingml/2006/main">
            <a:r>
              <a:t>      "직무 담당"</a:t>
            </a:r>
          </a:p>
          <a:p xmlns:a="http://schemas.openxmlformats.org/drawingml/2006/main">
            <a:r>
              <a:t>    ],</a:t>
            </a:r>
          </a:p>
          <a:p xmlns:a="http://schemas.openxmlformats.org/drawingml/2006/main">
            <a:r>
              <a:t>    "transfers": [</a:t>
            </a:r>
          </a:p>
          <a:p xmlns:a="http://schemas.openxmlformats.org/drawingml/2006/main">
            <a:r>
              <a:t>      "업무 요청",</a:t>
            </a:r>
          </a:p>
          <a:p xmlns:a="http://schemas.openxmlformats.org/drawingml/2006/main">
            <a:r>
              <a:t>      "검색·도구 인자",</a:t>
            </a:r>
          </a:p>
          <a:p xmlns:a="http://schemas.openxmlformats.org/drawingml/2006/main">
            <a:r>
              <a:t>      "시스템 결과",</a:t>
            </a:r>
          </a:p>
          <a:p xmlns:a="http://schemas.openxmlformats.org/drawingml/2006/main">
            <a:r>
              <a:t>      "검토·후속조치"</a:t>
            </a:r>
          </a:p>
          <a:p xmlns:a="http://schemas.openxmlformats.org/drawingml/2006/main">
            <a:r>
              <a:t>    ],</a:t>
            </a:r>
          </a:p>
          <a:p xmlns:a="http://schemas.openxmlformats.org/drawingml/2006/main">
            <a:r>
              <a:t>    "control": "실행 권한·중복 호출·실패 복구",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기업 기술·운영 소개 https://www.samsungsds.com/kr/insights/samsung-sds-ai-journey.html</a:t>
            </a:r>
          </a:p>
          <a:p xmlns:a="http://schemas.openxmlformats.org/drawingml/2006/main">
            <a:r>
              <a:t>홈페이지 https://heen1987-ops.github.io/TS-business-Plan-001/index.html?view=platform-cases&amp;case=PF04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"PF-A06",</a:t>
            </a:r>
          </a:p>
          <a:p xmlns:a="http://schemas.openxmlformats.org/drawingml/2006/main">
            <a:r>
              <a:t>    "sourceId": "A06",</a:t>
            </a:r>
          </a:p>
          <a:p xmlns:a="http://schemas.openxmlformats.org/drawingml/2006/main">
            <a:r>
              <a:t>    "title": "삼성 Gauss Portal·code.i",</a:t>
            </a:r>
          </a:p>
          <a:p xmlns:a="http://schemas.openxmlformats.org/drawingml/2006/main">
            <a:r>
              <a:t>    "region": "국내",</a:t>
            </a:r>
          </a:p>
          <a:p xmlns:a="http://schemas.openxmlformats.org/drawingml/2006/main">
            <a:r>
              <a:t>    "owner": "삼성전자 / Gauss Portal·code.i",</a:t>
            </a:r>
          </a:p>
          <a:p xmlns:a="http://schemas.openxmlformats.org/drawingml/2006/main">
            <a:r>
              <a:t>    "state": "사내 운영(2024-11 발표)",</a:t>
            </a:r>
          </a:p>
          <a:p xmlns:a="http://schemas.openxmlformats.org/drawingml/2006/main">
            <a:r>
              <a:t>    "period": "기존 원장 확인 2026.10.16",</a:t>
            </a:r>
          </a:p>
          <a:p xmlns:a="http://schemas.openxmlformats.org/drawingml/2006/main">
            <a:r>
              <a:t>    "fact": "기업 공통 AI·개발 지원",</a:t>
            </a:r>
          </a:p>
          <a:p xmlns:a="http://schemas.openxmlformats.org/drawingml/2006/main">
            <a:r>
              <a:t>    "limit": "사용량은 시간·비용 절감이 아님. 2026 현재 사용률로 제시하지 않음",</a:t>
            </a:r>
          </a:p>
          <a:p xmlns:a="http://schemas.openxmlformats.org/drawingml/2006/main">
            <a:r>
              <a:t>    "nodes": [</a:t>
            </a:r>
          </a:p>
          <a:p xmlns:a="http://schemas.openxmlformats.org/drawingml/2006/main">
            <a:r>
              <a:t>      "사내 사용자",</a:t>
            </a:r>
          </a:p>
          <a:p xmlns:a="http://schemas.openxmlformats.org/drawingml/2006/main">
            <a:r>
              <a:t>      "Gauss 모델군",</a:t>
            </a:r>
          </a:p>
          <a:p xmlns:a="http://schemas.openxmlformats.org/drawingml/2006/main">
            <a:r>
              <a:t>      "일반·개발 도구",</a:t>
            </a:r>
          </a:p>
          <a:p xmlns:a="http://schemas.openxmlformats.org/drawingml/2006/main">
            <a:r>
              <a:t>      "업무 결과 검토"</a:t>
            </a:r>
          </a:p>
          <a:p xmlns:a="http://schemas.openxmlformats.org/drawingml/2006/main">
            <a:r>
              <a:t>    ],</a:t>
            </a:r>
          </a:p>
          <a:p xmlns:a="http://schemas.openxmlformats.org/drawingml/2006/main">
            <a:r>
              <a:t>    "apply": "일반 직원과 개발자의 입력 문맥·결과 검토 기준을 직무별 분리",</a:t>
            </a:r>
          </a:p>
          <a:p xmlns:a="http://schemas.openxmlformats.org/drawingml/2006/main">
            <a:r>
              <a:t>    "delta": "기관 설정·회귀 평가·두 번째 부서 적용",</a:t>
            </a:r>
          </a:p>
          <a:p xmlns:a="http://schemas.openxmlformats.org/drawingml/2006/main">
            <a:r>
              <a:t>    "test": "도입기간·유지비·교육 부담의 기준선·비교 평가",</a:t>
            </a:r>
          </a:p>
          <a:p xmlns:a="http://schemas.openxmlformats.org/drawingml/2006/main">
            <a:r>
              <a:t>    "url": "https://news.samsung.com/ca/samsung-electronics-hosts-samsung-developer-conference-korea-2024-unveils-its-improved-gen-ai-model",</a:t>
            </a:r>
          </a:p>
          <a:p xmlns:a="http://schemas.openxmlformats.org/drawingml/2006/main">
            <a:r>
              <a:t>    "urls": [</a:t>
            </a:r>
          </a:p>
          <a:p xmlns:a="http://schemas.openxmlformats.org/drawingml/2006/main">
            <a:r>
              <a:t>      "https://news.samsung.com/ca/samsung-electronics-hosts-samsung-developer-conference-korea-2024-unveils-its-improved-gen-ai-model"</a:t>
            </a:r>
          </a:p>
          <a:p xmlns:a="http://schemas.openxmlformats.org/drawingml/2006/main">
            <a:r>
              <a:t>    ],</a:t>
            </a:r>
          </a:p>
          <a:p xmlns:a="http://schemas.openxmlformats.org/drawingml/2006/main">
            <a:r>
              <a:t>    "basis": "T044 / 공통모델+직무 특화 접점",</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"도입기간·유지비·교육 부담",</a:t>
            </a:r>
          </a:p>
          <a:p xmlns:a="http://schemas.openxmlformats.org/drawingml/2006/main">
            <a:r>
              <a:t>    "group": "운영·실증",</a:t>
            </a:r>
          </a:p>
          <a:p xmlns:a="http://schemas.openxmlformats.org/drawingml/2006/main">
            <a:r>
              <a:t>    "sourceDetail": "자체 Gauss 모델군을 공통 포털과 code.i에 적용, 개발 도구와 업무 기능 결합\n개발 직무용 도구와 일반 업무 포털 분리",</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"PF-A06",</a:t>
            </a:r>
          </a:p>
          <a:p xmlns:a="http://schemas.openxmlformats.org/drawingml/2006/main">
            <a:r>
              <a:t>    "canonicalId": "PF-A06",</a:t>
            </a:r>
          </a:p>
          <a:p xmlns:a="http://schemas.openxmlformats.org/drawingml/2006/main">
            <a:r>
              <a:t>    "purpose": "범용 업무 지원과 개발자 지원의 분리",</a:t>
            </a:r>
          </a:p>
          <a:p xmlns:a="http://schemas.openxmlformats.org/drawingml/2006/main">
            <a:r>
              <a:t>    "users": "사내 직원·소프트웨어 개발자",</a:t>
            </a:r>
          </a:p>
          <a:p xmlns:a="http://schemas.openxmlformats.org/drawingml/2006/main">
            <a:r>
              <a:t>    "scope": [</a:t>
            </a:r>
          </a:p>
          <a:p xmlns:a="http://schemas.openxmlformats.org/drawingml/2006/main">
            <a:r>
              <a:t>      "Gauss Portal",</a:t>
            </a:r>
          </a:p>
          <a:p xmlns:a="http://schemas.openxmlformats.org/drawingml/2006/main">
            <a:r>
              <a:t>      "code.i",</a:t>
            </a:r>
          </a:p>
          <a:p xmlns:a="http://schemas.openxmlformats.org/drawingml/2006/main">
            <a:r>
              <a:t>      "모델군"</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"사내 사용자",</a:t>
            </a:r>
          </a:p>
          <a:p xmlns:a="http://schemas.openxmlformats.org/drawingml/2006/main">
            <a:r>
              <a:t>        "detail": "포털 요청 또는 개발 도구의 코드 문맥",</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"Gauss Portal / code.i / 모델군",</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"Gauss 모델군",</a:t>
            </a:r>
          </a:p>
          <a:p xmlns:a="http://schemas.openxmlformats.org/drawingml/2006/main">
            <a:r>
              <a:t>        "detail": "업무 유형에 맞는 Gauss 모델 기능 호출",</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"개발자·현업",</a:t>
            </a:r>
          </a:p>
          <a:p xmlns:a="http://schemas.openxmlformats.org/drawingml/2006/main">
            <a:r>
              <a:t>        "detail": "문서·코드 초안을 현업·개발자에게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"업무·개발 문맥",</a:t>
            </a:r>
          </a:p>
          <a:p xmlns:a="http://schemas.openxmlformats.org/drawingml/2006/main">
            <a:r>
              <a:t>        "detail": "업무 문서·코드 문맥의 입력 경계 구성",</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"생성 코드 검토·보안·회귀시험 결과 환류",</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"사내 사용자",</a:t>
            </a:r>
          </a:p>
          <a:p xmlns:a="http://schemas.openxmlformats.org/drawingml/2006/main">
            <a:r>
              <a:t>        "input": "포털 요청 또는 개발 도구의 코드 문맥",</a:t>
            </a:r>
          </a:p>
          <a:p xmlns:a="http://schemas.openxmlformats.org/drawingml/2006/main">
            <a:r>
              <a:t>        "process": "업무 문서·코드 문맥의 입력 경계 구성",</a:t>
            </a:r>
          </a:p>
          <a:p xmlns:a="http://schemas.openxmlformats.org/drawingml/2006/main">
            <a:r>
              <a:t>        "output": "요청·코드 문맥"</a:t>
            </a:r>
          </a:p>
          <a:p xmlns:a="http://schemas.openxmlformats.org/drawingml/2006/main">
            <a:r>
              <a:t>      },</a:t>
            </a:r>
          </a:p>
          <a:p xmlns:a="http://schemas.openxmlformats.org/drawingml/2006/main">
            <a:r>
              <a:t>      {</a:t>
            </a:r>
          </a:p>
          <a:p xmlns:a="http://schemas.openxmlformats.org/drawingml/2006/main">
            <a:r>
              <a:t>        "title": "Gauss 모델군",</a:t>
            </a:r>
          </a:p>
          <a:p xmlns:a="http://schemas.openxmlformats.org/drawingml/2006/main">
            <a:r>
              <a:t>        "input": "요청·코드 문맥",</a:t>
            </a:r>
          </a:p>
          <a:p xmlns:a="http://schemas.openxmlformats.org/drawingml/2006/main">
            <a:r>
              <a:t>        "process": "업무 유형에 맞는 Gauss 모델 기능 호출",</a:t>
            </a:r>
          </a:p>
          <a:p xmlns:a="http://schemas.openxmlformats.org/drawingml/2006/main">
            <a:r>
              <a:t>        "output": "모델 입력"</a:t>
            </a:r>
          </a:p>
          <a:p xmlns:a="http://schemas.openxmlformats.org/drawingml/2006/main">
            <a:r>
              <a:t>      },</a:t>
            </a:r>
          </a:p>
          <a:p xmlns:a="http://schemas.openxmlformats.org/drawingml/2006/main">
            <a:r>
              <a:t>      {</a:t>
            </a:r>
          </a:p>
          <a:p xmlns:a="http://schemas.openxmlformats.org/drawingml/2006/main">
            <a:r>
              <a:t>        "title": "일반·개발 도구",</a:t>
            </a:r>
          </a:p>
          <a:p xmlns:a="http://schemas.openxmlformats.org/drawingml/2006/main">
            <a:r>
              <a:t>        "input": "모델 입력",</a:t>
            </a:r>
          </a:p>
          <a:p xmlns:a="http://schemas.openxmlformats.org/drawingml/2006/main">
            <a:r>
              <a:t>        "process": "보안 검사·회귀 시험·현업 검토",</a:t>
            </a:r>
          </a:p>
          <a:p xmlns:a="http://schemas.openxmlformats.org/drawingml/2006/main">
            <a:r>
              <a:t>        "output": "생성 결과"</a:t>
            </a:r>
          </a:p>
          <a:p xmlns:a="http://schemas.openxmlformats.org/drawingml/2006/main">
            <a:r>
              <a:t>      },</a:t>
            </a:r>
          </a:p>
          <a:p xmlns:a="http://schemas.openxmlformats.org/drawingml/2006/main">
            <a:r>
              <a:t>      {</a:t>
            </a:r>
          </a:p>
          <a:p xmlns:a="http://schemas.openxmlformats.org/drawingml/2006/main">
            <a:r>
              <a:t>        "title": "업무 결과 검토",</a:t>
            </a:r>
          </a:p>
          <a:p xmlns:a="http://schemas.openxmlformats.org/drawingml/2006/main">
            <a:r>
              <a:t>        "input": "생성 결과",</a:t>
            </a:r>
          </a:p>
          <a:p xmlns:a="http://schemas.openxmlformats.org/drawingml/2006/main">
            <a:r>
              <a:t>        "process": "문서·코드 초안을 현업·개발자에게 제공",</a:t>
            </a:r>
          </a:p>
          <a:p xmlns:a="http://schemas.openxmlformats.org/drawingml/2006/main">
            <a:r>
              <a:t>        "output": "검토·시험"</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"일반 문서와 개발 코드를 각 업무 도구에서 작성",</a:t>
            </a:r>
          </a:p>
          <a:p xmlns:a="http://schemas.openxmlformats.org/drawingml/2006/main">
            <a:r>
              <a:t>      "exception": "민감 코드 입력·취약 코드 생성·시험 실패",</a:t>
            </a:r>
          </a:p>
          <a:p xmlns:a="http://schemas.openxmlformats.org/drawingml/2006/main">
            <a:r>
              <a:t>      "evidence": "입력 경계·코드 검토·보안·회귀시험 결과",</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"사내 직원·소프트웨어 개발자",</a:t>
            </a:r>
          </a:p>
          <a:p xmlns:a="http://schemas.openxmlformats.org/drawingml/2006/main">
            <a:r>
              <a:t>          "processing": "포털 요청 또는 개발 도구의 코드 문맥",</a:t>
            </a:r>
          </a:p>
          <a:p xmlns:a="http://schemas.openxmlformats.org/drawingml/2006/main">
            <a:r>
              <a:t>          "output": "요청·코드 문맥"</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"업무·개발 문맥",</a:t>
            </a:r>
          </a:p>
          <a:p xmlns:a="http://schemas.openxmlformats.org/drawingml/2006/main">
            <a:r>
              <a:t>          "processing": "업무 문서·코드 문맥의 입력 경계 구성",</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"요청·코드 문맥",</a:t>
            </a:r>
          </a:p>
          <a:p xmlns:a="http://schemas.openxmlformats.org/drawingml/2006/main">
            <a:r>
              <a:t>          "processing": "업무 유형에 맞는 Gauss 모델 기능 호출",</a:t>
            </a:r>
          </a:p>
          <a:p xmlns:a="http://schemas.openxmlformats.org/drawingml/2006/main">
            <a:r>
              <a:t>          "output": "생성 결과"</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"생성 결과",</a:t>
            </a:r>
          </a:p>
          <a:p xmlns:a="http://schemas.openxmlformats.org/drawingml/2006/main">
            <a:r>
              <a:t>          "processing": "문서·코드 초안을 현업·개발자에게 제공",</a:t>
            </a:r>
          </a:p>
          <a:p xmlns:a="http://schemas.openxmlformats.org/drawingml/2006/main">
            <a:r>
              <a:t>          "output": "검토·시험"</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"생성 코드 검토·보안·회귀시험 결과 환류",</a:t>
            </a:r>
          </a:p>
          <a:p xmlns:a="http://schemas.openxmlformats.org/drawingml/2006/main">
            <a:r>
              <a:t>          "output": "입력 경계·코드 검토·보안·회귀시험 결과"</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"생성 코드 검토·보안·회귀시험 결과 환류",</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"T044 / 공통모델+직무 특화 접점",</a:t>
            </a:r>
          </a:p>
          <a:p xmlns:a="http://schemas.openxmlformats.org/drawingml/2006/main">
            <a:r>
              <a:t>        "url": "https://news.samsung.com/ca/samsung-electronics-hosts-samsung-developer-conference-korea-2024-unveils-its-improved-gen-ai-model"</a:t>
            </a:r>
          </a:p>
          <a:p xmlns:a="http://schemas.openxmlformats.org/drawingml/2006/main">
            <a:r>
              <a:t>      }</a:t>
            </a:r>
          </a:p>
          <a:p xmlns:a="http://schemas.openxmlformats.org/drawingml/2006/main">
            <a:r>
              <a:t>    ],</a:t>
            </a:r>
          </a:p>
          <a:p xmlns:a="http://schemas.openxmlformats.org/drawingml/2006/main">
            <a:r>
              <a:t>    "implication": "일반 직원과 개발자의 입력 문맥·결과 검토 기준을 직무별 분리",</a:t>
            </a:r>
          </a:p>
          <a:p xmlns:a="http://schemas.openxmlformats.org/drawingml/2006/main">
            <a:r>
              <a:t>    "local": "일반 직원과 개발자의 입력 문맥·결과 검토 기준을 직무별 분리",</a:t>
            </a:r>
          </a:p>
          <a:p xmlns:a="http://schemas.openxmlformats.org/drawingml/2006/main">
            <a:r>
              <a:t>    "sourceDetail": "자체 Gauss 모델군을 공통 포털과 code.i에 적용, 개발 도구와 업무 기능 결합\n개발 직무용 도구와 일반 업무 포털 분리",</a:t>
            </a:r>
          </a:p>
          <a:p xmlns:a="http://schemas.openxmlformats.org/drawingml/2006/main">
            <a:r>
              <a:t>    "narrative": [</a:t>
            </a:r>
          </a:p>
          <a:p xmlns:a="http://schemas.openxmlformats.org/drawingml/2006/main">
            <a:r>
              <a:t>      "삼성 Gauss Portal과 code.i의 기업 공통 AI·개발 지원 사례. 전 직원의 문서 업무와 개발자의 코드 작업을 다른 접점으로 지원하는 도입 방식.",</a:t>
            </a:r>
          </a:p>
          <a:p xmlns:a="http://schemas.openxmlformats.org/drawingml/2006/main">
            <a:r>
              <a:t>      "공개 제품 발표의 업무 지원 범위를 기준으로 직원 포털, 개발 도구 접점, AI 처리, 업무 자료·코드 문맥, 결과 검토 계층으로 재구성. 문서 작성과 코드 생성은 입력 데이터와 오류 판정 기준이 다른 서비스로 설계.",</a:t>
            </a:r>
          </a:p>
          <a:p xmlns:a="http://schemas.openxmlformats.org/drawingml/2006/main">
            <a:r>
              <a:t>      "CCK에서는 동일 모델의 이용률보다 직무별 결과물의 검증 가능성을 비교할 필요. 문서의 근거·서식 점검과 코드의 빌드·시험·보안 검토를 각각 수행하고 데이터 반출·소스코드 접근 범위를 공통 정책과 연결."</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"포털·개발 도구",</a:t>
            </a:r>
          </a:p>
          <a:p xmlns:a="http://schemas.openxmlformats.org/drawingml/2006/main">
            <a:r>
              <a:t>          "layer": "이용 접점",</a:t>
            </a:r>
          </a:p>
          <a:p xmlns:a="http://schemas.openxmlformats.org/drawingml/2006/main">
            <a:r>
              <a:t>          "detail": "사내 직원·소프트웨어 개발자",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"문서·코드 문맥",</a:t>
            </a:r>
          </a:p>
          <a:p xmlns:a="http://schemas.openxmlformats.org/drawingml/2006/main">
            <a:r>
              <a:t>          "layer": "업무 문맥",</a:t>
            </a:r>
          </a:p>
          <a:p xmlns:a="http://schemas.openxmlformats.org/drawingml/2006/main">
            <a:r>
              <a:t>          "detail": "포털 요청 또는 개발 도구의 코드 문맥",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"허용 문맥 구성",</a:t>
            </a:r>
          </a:p>
          <a:p xmlns:a="http://schemas.openxmlformats.org/drawingml/2006/main">
            <a:r>
              <a:t>          "layer": "자료 조회",</a:t>
            </a:r>
          </a:p>
          <a:p xmlns:a="http://schemas.openxmlformats.org/drawingml/2006/main">
            <a:r>
              <a:t>          "detail": "요청·코드 문맥",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"Gauss 모델군",</a:t>
            </a:r>
          </a:p>
          <a:p xmlns:a="http://schemas.openxmlformats.org/drawingml/2006/main">
            <a:r>
              <a:t>          "layer": "핵심 처리",</a:t>
            </a:r>
          </a:p>
          <a:p xmlns:a="http://schemas.openxmlformats.org/drawingml/2006/main">
            <a:r>
              <a:t>          "detail": "업무 유형에 맞는 Gauss 모델 기능 호출",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"코드·보안 검사",</a:t>
            </a:r>
          </a:p>
          <a:p xmlns:a="http://schemas.openxmlformats.org/drawingml/2006/main">
            <a:r>
              <a:t>          "layer": "결과 검증",</a:t>
            </a:r>
          </a:p>
          <a:p xmlns:a="http://schemas.openxmlformats.org/drawingml/2006/main">
            <a:r>
              <a:t>          "detail": "보안 검사·회귀 시험·현업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"직원·개발자 검토",</a:t>
            </a:r>
          </a:p>
          <a:p xmlns:a="http://schemas.openxmlformats.org/drawingml/2006/main">
            <a:r>
              <a:t>          "layer": "사람 확인",</a:t>
            </a:r>
          </a:p>
          <a:p xmlns:a="http://schemas.openxmlformats.org/drawingml/2006/main">
            <a:r>
              <a:t>          "detail": "일반 문서와 개발 코드를 각 업무 도구에서 작성",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"업무·코드 초안",</a:t>
            </a:r>
          </a:p>
          <a:p xmlns:a="http://schemas.openxmlformats.org/drawingml/2006/main">
            <a:r>
              <a:t>          "layer": "업무 연결",</a:t>
            </a:r>
          </a:p>
          <a:p xmlns:a="http://schemas.openxmlformats.org/drawingml/2006/main">
            <a:r>
              <a:t>          "detail": "문서·코드 초안을 현업·개발자에게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"회귀시험 환류",</a:t>
            </a:r>
          </a:p>
          <a:p xmlns:a="http://schemas.openxmlformats.org/drawingml/2006/main">
            <a:r>
              <a:t>          "layer": "운영 관측",</a:t>
            </a:r>
          </a:p>
          <a:p xmlns:a="http://schemas.openxmlformats.org/drawingml/2006/main">
            <a:r>
              <a:t>          "detail": "생성 코드 검토·보안·회귀시험 결과 환류",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"업무문서·코드",</a:t>
            </a:r>
          </a:p>
          <a:p xmlns:a="http://schemas.openxmlformats.org/drawingml/2006/main">
            <a:r>
              <a:t>          "layer": "데이터 원천",</a:t>
            </a:r>
          </a:p>
          <a:p xmlns:a="http://schemas.openxmlformats.org/drawingml/2006/main">
            <a:r>
              <a:t>          "detail": "업무·개발 문맥",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"입력 범위 정리",</a:t>
            </a:r>
          </a:p>
          <a:p xmlns:a="http://schemas.openxmlformats.org/drawingml/2006/main">
            <a:r>
              <a:t>          "layer": "준비·갱신",</a:t>
            </a:r>
          </a:p>
          <a:p xmlns:a="http://schemas.openxmlformats.org/drawingml/2006/main">
            <a:r>
              <a:t>          "detail": "업무 문서·코드 문맥의 입력 경계 구성",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"초안·시험 기록",</a:t>
            </a:r>
          </a:p>
          <a:p xmlns:a="http://schemas.openxmlformats.org/drawingml/2006/main">
            <a:r>
              <a:t>          "layer": "상태·지식 저장",</a:t>
            </a:r>
          </a:p>
          <a:p xmlns:a="http://schemas.openxmlformats.org/drawingml/2006/main">
            <a:r>
              <a:t>          "detail": "입력 경계·코드 검토·보안·회귀시험 결과",</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"업무별 이용정책",</a:t>
            </a:r>
          </a:p>
          <a:p xmlns:a="http://schemas.openxmlformats.org/drawingml/2006/main">
            <a:r>
              <a:t>          "layer": "권한·정책",</a:t>
            </a:r>
          </a:p>
          <a:p xmlns:a="http://schemas.openxmlformats.org/drawingml/2006/main">
            <a:r>
              <a:t>          "detail": "민감 코드 입력·취약 코드 생성·시험 실패",</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"포털 요청 또는 개발 도구의 코드 문맥",</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"요청·코드 문맥",</a:t>
            </a:r>
          </a:p>
          <a:p xmlns:a="http://schemas.openxmlformats.org/drawingml/2006/main">
            <a:r>
              <a:t>          "check": "보안 검사·회귀 시험·현업 검토"</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"모델 입력",</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"생성 결과",</a:t>
            </a:r>
          </a:p>
          <a:p xmlns:a="http://schemas.openxmlformats.org/drawingml/2006/main">
            <a:r>
              <a:t>          "check": "민감 코드 입력·취약 코드 생성·시험 실패"</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"생성 결과",</a:t>
            </a:r>
          </a:p>
          <a:p xmlns:a="http://schemas.openxmlformats.org/drawingml/2006/main">
            <a:r>
              <a:t>          "check": "문서·코드 초안을 현업·개발자에게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"검토·시험",</a:t>
            </a:r>
          </a:p>
          <a:p xmlns:a="http://schemas.openxmlformats.org/drawingml/2006/main">
            <a:r>
              <a:t>          "check": "입력 경계·코드 검토·보안·회귀시험 결과"</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"범용 업무 지원과 개발자 지원의 분리 / Gauss Portal·code.i·모델군",</a:t>
            </a:r>
          </a:p>
          <a:p xmlns:a="http://schemas.openxmlformats.org/drawingml/2006/main">
            <a:r>
              <a:t>        "extension": "일반 직원과 개발자의 입력 문맥·결과 검토 기준을 직무별 분리"</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"민감 코드 입력·취약 코드 생성·시험 실패",</a:t>
            </a:r>
          </a:p>
          <a:p xmlns:a="http://schemas.openxmlformats.org/drawingml/2006/main">
            <a:r>
              <a:t>        "hold": "보안 검사·회귀 시험·현업 검토",</a:t>
            </a:r>
          </a:p>
          <a:p xmlns:a="http://schemas.openxmlformats.org/drawingml/2006/main">
            <a:r>
              <a:t>        "recovery": "생성 코드 검토·보안·회귀시험 결과 환류",</a:t>
            </a:r>
          </a:p>
          <a:p xmlns:a="http://schemas.openxmlformats.org/drawingml/2006/main">
            <a:r>
              <a:t>        "evidence": "입력 경계·코드 검토·보안·회귀시험 결과"</a:t>
            </a:r>
          </a:p>
          <a:p xmlns:a="http://schemas.openxmlformats.org/drawingml/2006/main">
            <a:r>
              <a:t>      },</a:t>
            </a:r>
          </a:p>
          <a:p xmlns:a="http://schemas.openxmlformats.org/drawingml/2006/main">
            <a:r>
              <a:t>      "data": {</a:t>
            </a:r>
          </a:p>
          <a:p xmlns:a="http://schemas.openxmlformats.org/drawingml/2006/main">
            <a:r>
              <a:t>        "source": "업무·개발 문맥",</a:t>
            </a:r>
          </a:p>
          <a:p xmlns:a="http://schemas.openxmlformats.org/drawingml/2006/main">
            <a:r>
              <a:t>        "prepare": "업무 문서·코드 문맥의 입력 경계 구성",</a:t>
            </a:r>
          </a:p>
          <a:p xmlns:a="http://schemas.openxmlformats.org/drawingml/2006/main">
            <a:r>
              <a:t>        "output": "요청·코드 문맥",</a:t>
            </a:r>
          </a:p>
          <a:p xmlns:a="http://schemas.openxmlformats.org/drawingml/2006/main">
            <a:r>
              <a:t>        "refresh": "생성 코드 검토·보안·회귀시험 결과 환류"</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"PF-A06",</a:t>
            </a:r>
          </a:p>
          <a:p xmlns:a="http://schemas.openxmlformats.org/drawingml/2006/main">
            <a:r>
              <a:t>    "success": [</a:t>
            </a:r>
          </a:p>
          <a:p xmlns:a="http://schemas.openxmlformats.org/drawingml/2006/main">
            <a:r>
              <a:t>      "범용 지원과 개발 지원의 구분",</a:t>
            </a:r>
          </a:p>
          <a:p xmlns:a="http://schemas.openxmlformats.org/drawingml/2006/main">
            <a:r>
              <a:t>      "공통 모델군의 업무 도구 적용"</a:t>
            </a:r>
          </a:p>
          <a:p xmlns:a="http://schemas.openxmlformats.org/drawingml/2006/main">
            <a:r>
              <a:t>    ],</a:t>
            </a:r>
          </a:p>
          <a:p xmlns:a="http://schemas.openxmlformats.org/drawingml/2006/main">
            <a:r>
              <a:t>    "risks": [</a:t>
            </a:r>
          </a:p>
          <a:p xmlns:a="http://schemas.openxmlformats.org/drawingml/2006/main">
            <a:r>
              <a:t>      "코드 보안·품질 편차",</a:t>
            </a:r>
          </a:p>
          <a:p xmlns:a="http://schemas.openxmlformats.org/drawingml/2006/main">
            <a:r>
              <a:t>      "생성 코드의 무검토 반영"</a:t>
            </a:r>
          </a:p>
          <a:p xmlns:a="http://schemas.openxmlformats.org/drawingml/2006/main">
            <a:r>
              <a:t>    ],</a:t>
            </a:r>
          </a:p>
          <a:p xmlns:a="http://schemas.openxmlformats.org/drawingml/2006/main">
            <a:r>
              <a:t>    "architecture": [</a:t>
            </a:r>
          </a:p>
          <a:p xmlns:a="http://schemas.openxmlformats.org/drawingml/2006/main">
            <a:r>
              <a:t>      "사내 사용자",</a:t>
            </a:r>
          </a:p>
          <a:p xmlns:a="http://schemas.openxmlformats.org/drawingml/2006/main">
            <a:r>
              <a:t>      "Gauss 모델군",</a:t>
            </a:r>
          </a:p>
          <a:p xmlns:a="http://schemas.openxmlformats.org/drawingml/2006/main">
            <a:r>
              <a:t>      "업무·개발 문맥",</a:t>
            </a:r>
          </a:p>
          <a:p xmlns:a="http://schemas.openxmlformats.org/drawingml/2006/main">
            <a:r>
              <a:t>      "개발자·현업"</a:t>
            </a:r>
          </a:p>
          <a:p xmlns:a="http://schemas.openxmlformats.org/drawingml/2006/main">
            <a:r>
              <a:t>    ],</a:t>
            </a:r>
          </a:p>
          <a:p xmlns:a="http://schemas.openxmlformats.org/drawingml/2006/main">
            <a:r>
              <a:t>    "transfers": [</a:t>
            </a:r>
          </a:p>
          <a:p xmlns:a="http://schemas.openxmlformats.org/drawingml/2006/main">
            <a:r>
              <a:t>      "요청·코드 문맥",</a:t>
            </a:r>
          </a:p>
          <a:p xmlns:a="http://schemas.openxmlformats.org/drawingml/2006/main">
            <a:r>
              <a:t>      "모델 입력",</a:t>
            </a:r>
          </a:p>
          <a:p xmlns:a="http://schemas.openxmlformats.org/drawingml/2006/main">
            <a:r>
              <a:t>      "생성 결과",</a:t>
            </a:r>
          </a:p>
          <a:p xmlns:a="http://schemas.openxmlformats.org/drawingml/2006/main">
            <a:r>
              <a:t>      "검토·시험"</a:t>
            </a:r>
          </a:p>
          <a:p xmlns:a="http://schemas.openxmlformats.org/drawingml/2006/main">
            <a:r>
              <a:t>    ],</a:t>
            </a:r>
          </a:p>
          <a:p xmlns:a="http://schemas.openxmlformats.org/drawingml/2006/main">
            <a:r>
              <a:t>    "control": "보안 검사·회귀 시험·현업 검토",</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T044 / 공통모델+직무 특화 접점 https://news.samsung.com/ca/samsung-electronics-hosts-samsung-developer-conference-korea-2024-unveils-its-improved-gen-ai-model</a:t>
            </a:r>
          </a:p>
          <a:p xmlns:a="http://schemas.openxmlformats.org/drawingml/2006/main">
            <a:r>
              <a:t>홈페이지 https://heen1987-ops.github.io/TS-business-Plan-001/index.html?view=platform-cases&amp;case=PF-A06</a:t>
            </a:r>
          </a:p>
          <a:p xmlns:a="http://schemas.openxmlformats.org/drawingml/2006/main">
            <a:r>
              <a:t>한계: 사용량은 시간·비용 절감이 아님. 2026 현재 사용률로 제시하지 않음</a:t>
            </a:r>
          </a:p>
          <a:p xmlns:a="http://schemas.openxmlformats.org/drawingml/2006/main">
            <a:r>
              <a:t>실패 위험: 코드 보안·품질 편차 / 생성 코드의 무검토 반영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"PF-A06",</a:t>
            </a:r>
          </a:p>
          <a:p xmlns:a="http://schemas.openxmlformats.org/drawingml/2006/main">
            <a:r>
              <a:t>    "sourceId": "A06",</a:t>
            </a:r>
          </a:p>
          <a:p xmlns:a="http://schemas.openxmlformats.org/drawingml/2006/main">
            <a:r>
              <a:t>    "title": "삼성 Gauss Portal·code.i",</a:t>
            </a:r>
          </a:p>
          <a:p xmlns:a="http://schemas.openxmlformats.org/drawingml/2006/main">
            <a:r>
              <a:t>    "region": "국내",</a:t>
            </a:r>
          </a:p>
          <a:p xmlns:a="http://schemas.openxmlformats.org/drawingml/2006/main">
            <a:r>
              <a:t>    "owner": "삼성전자 / Gauss Portal·code.i",</a:t>
            </a:r>
          </a:p>
          <a:p xmlns:a="http://schemas.openxmlformats.org/drawingml/2006/main">
            <a:r>
              <a:t>    "state": "사내 운영(2024-11 발표)",</a:t>
            </a:r>
          </a:p>
          <a:p xmlns:a="http://schemas.openxmlformats.org/drawingml/2006/main">
            <a:r>
              <a:t>    "period": "기존 원장 확인 2026.10.16",</a:t>
            </a:r>
          </a:p>
          <a:p xmlns:a="http://schemas.openxmlformats.org/drawingml/2006/main">
            <a:r>
              <a:t>    "fact": "기업 공통 AI·개발 지원",</a:t>
            </a:r>
          </a:p>
          <a:p xmlns:a="http://schemas.openxmlformats.org/drawingml/2006/main">
            <a:r>
              <a:t>    "limit": "사용량은 시간·비용 절감이 아님. 2026 현재 사용률로 제시하지 않음",</a:t>
            </a:r>
          </a:p>
          <a:p xmlns:a="http://schemas.openxmlformats.org/drawingml/2006/main">
            <a:r>
              <a:t>    "nodes": [</a:t>
            </a:r>
          </a:p>
          <a:p xmlns:a="http://schemas.openxmlformats.org/drawingml/2006/main">
            <a:r>
              <a:t>      "사내 사용자",</a:t>
            </a:r>
          </a:p>
          <a:p xmlns:a="http://schemas.openxmlformats.org/drawingml/2006/main">
            <a:r>
              <a:t>      "Gauss 모델군",</a:t>
            </a:r>
          </a:p>
          <a:p xmlns:a="http://schemas.openxmlformats.org/drawingml/2006/main">
            <a:r>
              <a:t>      "일반·개발 도구",</a:t>
            </a:r>
          </a:p>
          <a:p xmlns:a="http://schemas.openxmlformats.org/drawingml/2006/main">
            <a:r>
              <a:t>      "업무 결과 검토"</a:t>
            </a:r>
          </a:p>
          <a:p xmlns:a="http://schemas.openxmlformats.org/drawingml/2006/main">
            <a:r>
              <a:t>    ],</a:t>
            </a:r>
          </a:p>
          <a:p xmlns:a="http://schemas.openxmlformats.org/drawingml/2006/main">
            <a:r>
              <a:t>    "apply": "일반 직원과 개발자의 입력 문맥·결과 검토 기준을 직무별 분리",</a:t>
            </a:r>
          </a:p>
          <a:p xmlns:a="http://schemas.openxmlformats.org/drawingml/2006/main">
            <a:r>
              <a:t>    "delta": "기관 설정·회귀 평가·두 번째 부서 적용",</a:t>
            </a:r>
          </a:p>
          <a:p xmlns:a="http://schemas.openxmlformats.org/drawingml/2006/main">
            <a:r>
              <a:t>    "test": "도입기간·유지비·교육 부담의 기준선·비교 평가",</a:t>
            </a:r>
          </a:p>
          <a:p xmlns:a="http://schemas.openxmlformats.org/drawingml/2006/main">
            <a:r>
              <a:t>    "url": "https://news.samsung.com/ca/samsung-electronics-hosts-samsung-developer-conference-korea-2024-unveils-its-improved-gen-ai-model",</a:t>
            </a:r>
          </a:p>
          <a:p xmlns:a="http://schemas.openxmlformats.org/drawingml/2006/main">
            <a:r>
              <a:t>    "urls": [</a:t>
            </a:r>
          </a:p>
          <a:p xmlns:a="http://schemas.openxmlformats.org/drawingml/2006/main">
            <a:r>
              <a:t>      "https://news.samsung.com/ca/samsung-electronics-hosts-samsung-developer-conference-korea-2024-unveils-its-improved-gen-ai-model"</a:t>
            </a:r>
          </a:p>
          <a:p xmlns:a="http://schemas.openxmlformats.org/drawingml/2006/main">
            <a:r>
              <a:t>    ],</a:t>
            </a:r>
          </a:p>
          <a:p xmlns:a="http://schemas.openxmlformats.org/drawingml/2006/main">
            <a:r>
              <a:t>    "basis": "T044 / 공통모델+직무 특화 접점",</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"도입기간·유지비·교육 부담",</a:t>
            </a:r>
          </a:p>
          <a:p xmlns:a="http://schemas.openxmlformats.org/drawingml/2006/main">
            <a:r>
              <a:t>    "group": "운영·실증",</a:t>
            </a:r>
          </a:p>
          <a:p xmlns:a="http://schemas.openxmlformats.org/drawingml/2006/main">
            <a:r>
              <a:t>    "sourceDetail": "자체 Gauss 모델군을 공통 포털과 code.i에 적용, 개발 도구와 업무 기능 결합\n개발 직무용 도구와 일반 업무 포털 분리",</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"PF-A06",</a:t>
            </a:r>
          </a:p>
          <a:p xmlns:a="http://schemas.openxmlformats.org/drawingml/2006/main">
            <a:r>
              <a:t>    "canonicalId": "PF-A06",</a:t>
            </a:r>
          </a:p>
          <a:p xmlns:a="http://schemas.openxmlformats.org/drawingml/2006/main">
            <a:r>
              <a:t>    "purpose": "범용 업무 지원과 개발자 지원의 분리",</a:t>
            </a:r>
          </a:p>
          <a:p xmlns:a="http://schemas.openxmlformats.org/drawingml/2006/main">
            <a:r>
              <a:t>    "users": "사내 직원·소프트웨어 개발자",</a:t>
            </a:r>
          </a:p>
          <a:p xmlns:a="http://schemas.openxmlformats.org/drawingml/2006/main">
            <a:r>
              <a:t>    "scope": [</a:t>
            </a:r>
          </a:p>
          <a:p xmlns:a="http://schemas.openxmlformats.org/drawingml/2006/main">
            <a:r>
              <a:t>      "Gauss Portal",</a:t>
            </a:r>
          </a:p>
          <a:p xmlns:a="http://schemas.openxmlformats.org/drawingml/2006/main">
            <a:r>
              <a:t>      "code.i",</a:t>
            </a:r>
          </a:p>
          <a:p xmlns:a="http://schemas.openxmlformats.org/drawingml/2006/main">
            <a:r>
              <a:t>      "모델군"</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"사내 사용자",</a:t>
            </a:r>
          </a:p>
          <a:p xmlns:a="http://schemas.openxmlformats.org/drawingml/2006/main">
            <a:r>
              <a:t>        "detail": "포털 요청 또는 개발 도구의 코드 문맥",</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"Gauss Portal / code.i / 모델군",</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"Gauss 모델군",</a:t>
            </a:r>
          </a:p>
          <a:p xmlns:a="http://schemas.openxmlformats.org/drawingml/2006/main">
            <a:r>
              <a:t>        "detail": "업무 유형에 맞는 Gauss 모델 기능 호출",</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"개발자·현업",</a:t>
            </a:r>
          </a:p>
          <a:p xmlns:a="http://schemas.openxmlformats.org/drawingml/2006/main">
            <a:r>
              <a:t>        "detail": "문서·코드 초안을 현업·개발자에게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"업무·개발 문맥",</a:t>
            </a:r>
          </a:p>
          <a:p xmlns:a="http://schemas.openxmlformats.org/drawingml/2006/main">
            <a:r>
              <a:t>        "detail": "업무 문서·코드 문맥의 입력 경계 구성",</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"생성 코드 검토·보안·회귀시험 결과 환류",</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"사내 사용자",</a:t>
            </a:r>
          </a:p>
          <a:p xmlns:a="http://schemas.openxmlformats.org/drawingml/2006/main">
            <a:r>
              <a:t>        "input": "포털 요청 또는 개발 도구의 코드 문맥",</a:t>
            </a:r>
          </a:p>
          <a:p xmlns:a="http://schemas.openxmlformats.org/drawingml/2006/main">
            <a:r>
              <a:t>        "process": "업무 문서·코드 문맥의 입력 경계 구성",</a:t>
            </a:r>
          </a:p>
          <a:p xmlns:a="http://schemas.openxmlformats.org/drawingml/2006/main">
            <a:r>
              <a:t>        "output": "요청·코드 문맥"</a:t>
            </a:r>
          </a:p>
          <a:p xmlns:a="http://schemas.openxmlformats.org/drawingml/2006/main">
            <a:r>
              <a:t>      },</a:t>
            </a:r>
          </a:p>
          <a:p xmlns:a="http://schemas.openxmlformats.org/drawingml/2006/main">
            <a:r>
              <a:t>      {</a:t>
            </a:r>
          </a:p>
          <a:p xmlns:a="http://schemas.openxmlformats.org/drawingml/2006/main">
            <a:r>
              <a:t>        "title": "Gauss 모델군",</a:t>
            </a:r>
          </a:p>
          <a:p xmlns:a="http://schemas.openxmlformats.org/drawingml/2006/main">
            <a:r>
              <a:t>        "input": "요청·코드 문맥",</a:t>
            </a:r>
          </a:p>
          <a:p xmlns:a="http://schemas.openxmlformats.org/drawingml/2006/main">
            <a:r>
              <a:t>        "process": "업무 유형에 맞는 Gauss 모델 기능 호출",</a:t>
            </a:r>
          </a:p>
          <a:p xmlns:a="http://schemas.openxmlformats.org/drawingml/2006/main">
            <a:r>
              <a:t>        "output": "모델 입력"</a:t>
            </a:r>
          </a:p>
          <a:p xmlns:a="http://schemas.openxmlformats.org/drawingml/2006/main">
            <a:r>
              <a:t>      },</a:t>
            </a:r>
          </a:p>
          <a:p xmlns:a="http://schemas.openxmlformats.org/drawingml/2006/main">
            <a:r>
              <a:t>      {</a:t>
            </a:r>
          </a:p>
          <a:p xmlns:a="http://schemas.openxmlformats.org/drawingml/2006/main">
            <a:r>
              <a:t>        "title": "일반·개발 도구",</a:t>
            </a:r>
          </a:p>
          <a:p xmlns:a="http://schemas.openxmlformats.org/drawingml/2006/main">
            <a:r>
              <a:t>        "input": "모델 입력",</a:t>
            </a:r>
          </a:p>
          <a:p xmlns:a="http://schemas.openxmlformats.org/drawingml/2006/main">
            <a:r>
              <a:t>        "process": "보안 검사·회귀 시험·현업 검토",</a:t>
            </a:r>
          </a:p>
          <a:p xmlns:a="http://schemas.openxmlformats.org/drawingml/2006/main">
            <a:r>
              <a:t>        "output": "생성 결과"</a:t>
            </a:r>
          </a:p>
          <a:p xmlns:a="http://schemas.openxmlformats.org/drawingml/2006/main">
            <a:r>
              <a:t>      },</a:t>
            </a:r>
          </a:p>
          <a:p xmlns:a="http://schemas.openxmlformats.org/drawingml/2006/main">
            <a:r>
              <a:t>      {</a:t>
            </a:r>
          </a:p>
          <a:p xmlns:a="http://schemas.openxmlformats.org/drawingml/2006/main">
            <a:r>
              <a:t>        "title": "업무 결과 검토",</a:t>
            </a:r>
          </a:p>
          <a:p xmlns:a="http://schemas.openxmlformats.org/drawingml/2006/main">
            <a:r>
              <a:t>        "input": "생성 결과",</a:t>
            </a:r>
          </a:p>
          <a:p xmlns:a="http://schemas.openxmlformats.org/drawingml/2006/main">
            <a:r>
              <a:t>        "process": "문서·코드 초안을 현업·개발자에게 제공",</a:t>
            </a:r>
          </a:p>
          <a:p xmlns:a="http://schemas.openxmlformats.org/drawingml/2006/main">
            <a:r>
              <a:t>        "output": "검토·시험"</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"일반 문서와 개발 코드를 각 업무 도구에서 작성",</a:t>
            </a:r>
          </a:p>
          <a:p xmlns:a="http://schemas.openxmlformats.org/drawingml/2006/main">
            <a:r>
              <a:t>      "exception": "민감 코드 입력·취약 코드 생성·시험 실패",</a:t>
            </a:r>
          </a:p>
          <a:p xmlns:a="http://schemas.openxmlformats.org/drawingml/2006/main">
            <a:r>
              <a:t>      "evidence": "입력 경계·코드 검토·보안·회귀시험 결과",</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"사내 직원·소프트웨어 개발자",</a:t>
            </a:r>
          </a:p>
          <a:p xmlns:a="http://schemas.openxmlformats.org/drawingml/2006/main">
            <a:r>
              <a:t>          "processing": "포털 요청 또는 개발 도구의 코드 문맥",</a:t>
            </a:r>
          </a:p>
          <a:p xmlns:a="http://schemas.openxmlformats.org/drawingml/2006/main">
            <a:r>
              <a:t>          "output": "요청·코드 문맥"</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"업무·개발 문맥",</a:t>
            </a:r>
          </a:p>
          <a:p xmlns:a="http://schemas.openxmlformats.org/drawingml/2006/main">
            <a:r>
              <a:t>          "processing": "업무 문서·코드 문맥의 입력 경계 구성",</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"요청·코드 문맥",</a:t>
            </a:r>
          </a:p>
          <a:p xmlns:a="http://schemas.openxmlformats.org/drawingml/2006/main">
            <a:r>
              <a:t>          "processing": "업무 유형에 맞는 Gauss 모델 기능 호출",</a:t>
            </a:r>
          </a:p>
          <a:p xmlns:a="http://schemas.openxmlformats.org/drawingml/2006/main">
            <a:r>
              <a:t>          "output": "생성 결과"</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"생성 결과",</a:t>
            </a:r>
          </a:p>
          <a:p xmlns:a="http://schemas.openxmlformats.org/drawingml/2006/main">
            <a:r>
              <a:t>          "processing": "문서·코드 초안을 현업·개발자에게 제공",</a:t>
            </a:r>
          </a:p>
          <a:p xmlns:a="http://schemas.openxmlformats.org/drawingml/2006/main">
            <a:r>
              <a:t>          "output": "검토·시험"</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"생성 코드 검토·보안·회귀시험 결과 환류",</a:t>
            </a:r>
          </a:p>
          <a:p xmlns:a="http://schemas.openxmlformats.org/drawingml/2006/main">
            <a:r>
              <a:t>          "output": "입력 경계·코드 검토·보안·회귀시험 결과"</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"생성 코드 검토·보안·회귀시험 결과 환류",</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"T044 / 공통모델+직무 특화 접점",</a:t>
            </a:r>
          </a:p>
          <a:p xmlns:a="http://schemas.openxmlformats.org/drawingml/2006/main">
            <a:r>
              <a:t>        "url": "https://news.samsung.com/ca/samsung-electronics-hosts-samsung-developer-conference-korea-2024-unveils-its-improved-gen-ai-model"</a:t>
            </a:r>
          </a:p>
          <a:p xmlns:a="http://schemas.openxmlformats.org/drawingml/2006/main">
            <a:r>
              <a:t>      }</a:t>
            </a:r>
          </a:p>
          <a:p xmlns:a="http://schemas.openxmlformats.org/drawingml/2006/main">
            <a:r>
              <a:t>    ],</a:t>
            </a:r>
          </a:p>
          <a:p xmlns:a="http://schemas.openxmlformats.org/drawingml/2006/main">
            <a:r>
              <a:t>    "implication": "일반 직원과 개발자의 입력 문맥·결과 검토 기준을 직무별 분리",</a:t>
            </a:r>
          </a:p>
          <a:p xmlns:a="http://schemas.openxmlformats.org/drawingml/2006/main">
            <a:r>
              <a:t>    "local": "일반 직원과 개발자의 입력 문맥·결과 검토 기준을 직무별 분리",</a:t>
            </a:r>
          </a:p>
          <a:p xmlns:a="http://schemas.openxmlformats.org/drawingml/2006/main">
            <a:r>
              <a:t>    "sourceDetail": "자체 Gauss 모델군을 공통 포털과 code.i에 적용, 개발 도구와 업무 기능 결합\n개발 직무용 도구와 일반 업무 포털 분리",</a:t>
            </a:r>
          </a:p>
          <a:p xmlns:a="http://schemas.openxmlformats.org/drawingml/2006/main">
            <a:r>
              <a:t>    "narrative": [</a:t>
            </a:r>
          </a:p>
          <a:p xmlns:a="http://schemas.openxmlformats.org/drawingml/2006/main">
            <a:r>
              <a:t>      "삼성 Gauss Portal과 code.i의 기업 공통 AI·개발 지원 사례. 전 직원의 문서 업무와 개발자의 코드 작업을 다른 접점으로 지원하는 도입 방식.",</a:t>
            </a:r>
          </a:p>
          <a:p xmlns:a="http://schemas.openxmlformats.org/drawingml/2006/main">
            <a:r>
              <a:t>      "공개 제품 발표의 업무 지원 범위를 기준으로 직원 포털, 개발 도구 접점, AI 처리, 업무 자료·코드 문맥, 결과 검토 계층으로 재구성. 문서 작성과 코드 생성은 입력 데이터와 오류 판정 기준이 다른 서비스로 설계.",</a:t>
            </a:r>
          </a:p>
          <a:p xmlns:a="http://schemas.openxmlformats.org/drawingml/2006/main">
            <a:r>
              <a:t>      "CCK에서는 동일 모델의 이용률보다 직무별 결과물의 검증 가능성을 비교할 필요. 문서의 근거·서식 점검과 코드의 빌드·시험·보안 검토를 각각 수행하고 데이터 반출·소스코드 접근 범위를 공통 정책과 연결."</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"포털·개발 도구",</a:t>
            </a:r>
          </a:p>
          <a:p xmlns:a="http://schemas.openxmlformats.org/drawingml/2006/main">
            <a:r>
              <a:t>          "layer": "이용 접점",</a:t>
            </a:r>
          </a:p>
          <a:p xmlns:a="http://schemas.openxmlformats.org/drawingml/2006/main">
            <a:r>
              <a:t>          "detail": "사내 직원·소프트웨어 개발자",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"문서·코드 문맥",</a:t>
            </a:r>
          </a:p>
          <a:p xmlns:a="http://schemas.openxmlformats.org/drawingml/2006/main">
            <a:r>
              <a:t>          "layer": "업무 문맥",</a:t>
            </a:r>
          </a:p>
          <a:p xmlns:a="http://schemas.openxmlformats.org/drawingml/2006/main">
            <a:r>
              <a:t>          "detail": "포털 요청 또는 개발 도구의 코드 문맥",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"허용 문맥 구성",</a:t>
            </a:r>
          </a:p>
          <a:p xmlns:a="http://schemas.openxmlformats.org/drawingml/2006/main">
            <a:r>
              <a:t>          "layer": "자료 조회",</a:t>
            </a:r>
          </a:p>
          <a:p xmlns:a="http://schemas.openxmlformats.org/drawingml/2006/main">
            <a:r>
              <a:t>          "detail": "요청·코드 문맥",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"Gauss 모델군",</a:t>
            </a:r>
          </a:p>
          <a:p xmlns:a="http://schemas.openxmlformats.org/drawingml/2006/main">
            <a:r>
              <a:t>          "layer": "핵심 처리",</a:t>
            </a:r>
          </a:p>
          <a:p xmlns:a="http://schemas.openxmlformats.org/drawingml/2006/main">
            <a:r>
              <a:t>          "detail": "업무 유형에 맞는 Gauss 모델 기능 호출",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"코드·보안 검사",</a:t>
            </a:r>
          </a:p>
          <a:p xmlns:a="http://schemas.openxmlformats.org/drawingml/2006/main">
            <a:r>
              <a:t>          "layer": "결과 검증",</a:t>
            </a:r>
          </a:p>
          <a:p xmlns:a="http://schemas.openxmlformats.org/drawingml/2006/main">
            <a:r>
              <a:t>          "detail": "보안 검사·회귀 시험·현업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"직원·개발자 검토",</a:t>
            </a:r>
          </a:p>
          <a:p xmlns:a="http://schemas.openxmlformats.org/drawingml/2006/main">
            <a:r>
              <a:t>          "layer": "사람 확인",</a:t>
            </a:r>
          </a:p>
          <a:p xmlns:a="http://schemas.openxmlformats.org/drawingml/2006/main">
            <a:r>
              <a:t>          "detail": "일반 문서와 개발 코드를 각 업무 도구에서 작성",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"업무·코드 초안",</a:t>
            </a:r>
          </a:p>
          <a:p xmlns:a="http://schemas.openxmlformats.org/drawingml/2006/main">
            <a:r>
              <a:t>          "layer": "업무 연결",</a:t>
            </a:r>
          </a:p>
          <a:p xmlns:a="http://schemas.openxmlformats.org/drawingml/2006/main">
            <a:r>
              <a:t>          "detail": "문서·코드 초안을 현업·개발자에게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"회귀시험 환류",</a:t>
            </a:r>
          </a:p>
          <a:p xmlns:a="http://schemas.openxmlformats.org/drawingml/2006/main">
            <a:r>
              <a:t>          "layer": "운영 관측",</a:t>
            </a:r>
          </a:p>
          <a:p xmlns:a="http://schemas.openxmlformats.org/drawingml/2006/main">
            <a:r>
              <a:t>          "detail": "생성 코드 검토·보안·회귀시험 결과 환류",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"업무문서·코드",</a:t>
            </a:r>
          </a:p>
          <a:p xmlns:a="http://schemas.openxmlformats.org/drawingml/2006/main">
            <a:r>
              <a:t>          "layer": "데이터 원천",</a:t>
            </a:r>
          </a:p>
          <a:p xmlns:a="http://schemas.openxmlformats.org/drawingml/2006/main">
            <a:r>
              <a:t>          "detail": "업무·개발 문맥",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"입력 범위 정리",</a:t>
            </a:r>
          </a:p>
          <a:p xmlns:a="http://schemas.openxmlformats.org/drawingml/2006/main">
            <a:r>
              <a:t>          "layer": "준비·갱신",</a:t>
            </a:r>
          </a:p>
          <a:p xmlns:a="http://schemas.openxmlformats.org/drawingml/2006/main">
            <a:r>
              <a:t>          "detail": "업무 문서·코드 문맥의 입력 경계 구성",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"초안·시험 기록",</a:t>
            </a:r>
          </a:p>
          <a:p xmlns:a="http://schemas.openxmlformats.org/drawingml/2006/main">
            <a:r>
              <a:t>          "layer": "상태·지식 저장",</a:t>
            </a:r>
          </a:p>
          <a:p xmlns:a="http://schemas.openxmlformats.org/drawingml/2006/main">
            <a:r>
              <a:t>          "detail": "입력 경계·코드 검토·보안·회귀시험 결과",</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"업무별 이용정책",</a:t>
            </a:r>
          </a:p>
          <a:p xmlns:a="http://schemas.openxmlformats.org/drawingml/2006/main">
            <a:r>
              <a:t>          "layer": "권한·정책",</a:t>
            </a:r>
          </a:p>
          <a:p xmlns:a="http://schemas.openxmlformats.org/drawingml/2006/main">
            <a:r>
              <a:t>          "detail": "민감 코드 입력·취약 코드 생성·시험 실패",</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"포털 요청 또는 개발 도구의 코드 문맥",</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"요청·코드 문맥",</a:t>
            </a:r>
          </a:p>
          <a:p xmlns:a="http://schemas.openxmlformats.org/drawingml/2006/main">
            <a:r>
              <a:t>          "check": "보안 검사·회귀 시험·현업 검토"</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"모델 입력",</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"생성 결과",</a:t>
            </a:r>
          </a:p>
          <a:p xmlns:a="http://schemas.openxmlformats.org/drawingml/2006/main">
            <a:r>
              <a:t>          "check": "민감 코드 입력·취약 코드 생성·시험 실패"</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"생성 결과",</a:t>
            </a:r>
          </a:p>
          <a:p xmlns:a="http://schemas.openxmlformats.org/drawingml/2006/main">
            <a:r>
              <a:t>          "check": "문서·코드 초안을 현업·개발자에게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"검토·시험",</a:t>
            </a:r>
          </a:p>
          <a:p xmlns:a="http://schemas.openxmlformats.org/drawingml/2006/main">
            <a:r>
              <a:t>          "check": "입력 경계·코드 검토·보안·회귀시험 결과"</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"범용 업무 지원과 개발자 지원의 분리 / Gauss Portal·code.i·모델군",</a:t>
            </a:r>
          </a:p>
          <a:p xmlns:a="http://schemas.openxmlformats.org/drawingml/2006/main">
            <a:r>
              <a:t>        "extension": "일반 직원과 개발자의 입력 문맥·결과 검토 기준을 직무별 분리"</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"민감 코드 입력·취약 코드 생성·시험 실패",</a:t>
            </a:r>
          </a:p>
          <a:p xmlns:a="http://schemas.openxmlformats.org/drawingml/2006/main">
            <a:r>
              <a:t>        "hold": "보안 검사·회귀 시험·현업 검토",</a:t>
            </a:r>
          </a:p>
          <a:p xmlns:a="http://schemas.openxmlformats.org/drawingml/2006/main">
            <a:r>
              <a:t>        "recovery": "생성 코드 검토·보안·회귀시험 결과 환류",</a:t>
            </a:r>
          </a:p>
          <a:p xmlns:a="http://schemas.openxmlformats.org/drawingml/2006/main">
            <a:r>
              <a:t>        "evidence": "입력 경계·코드 검토·보안·회귀시험 결과"</a:t>
            </a:r>
          </a:p>
          <a:p xmlns:a="http://schemas.openxmlformats.org/drawingml/2006/main">
            <a:r>
              <a:t>      },</a:t>
            </a:r>
          </a:p>
          <a:p xmlns:a="http://schemas.openxmlformats.org/drawingml/2006/main">
            <a:r>
              <a:t>      "data": {</a:t>
            </a:r>
          </a:p>
          <a:p xmlns:a="http://schemas.openxmlformats.org/drawingml/2006/main">
            <a:r>
              <a:t>        "source": "업무·개발 문맥",</a:t>
            </a:r>
          </a:p>
          <a:p xmlns:a="http://schemas.openxmlformats.org/drawingml/2006/main">
            <a:r>
              <a:t>        "prepare": "업무 문서·코드 문맥의 입력 경계 구성",</a:t>
            </a:r>
          </a:p>
          <a:p xmlns:a="http://schemas.openxmlformats.org/drawingml/2006/main">
            <a:r>
              <a:t>        "output": "요청·코드 문맥",</a:t>
            </a:r>
          </a:p>
          <a:p xmlns:a="http://schemas.openxmlformats.org/drawingml/2006/main">
            <a:r>
              <a:t>        "refresh": "생성 코드 검토·보안·회귀시험 결과 환류"</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"PF-A06",</a:t>
            </a:r>
          </a:p>
          <a:p xmlns:a="http://schemas.openxmlformats.org/drawingml/2006/main">
            <a:r>
              <a:t>    "success": [</a:t>
            </a:r>
          </a:p>
          <a:p xmlns:a="http://schemas.openxmlformats.org/drawingml/2006/main">
            <a:r>
              <a:t>      "범용 지원과 개발 지원의 구분",</a:t>
            </a:r>
          </a:p>
          <a:p xmlns:a="http://schemas.openxmlformats.org/drawingml/2006/main">
            <a:r>
              <a:t>      "공통 모델군의 업무 도구 적용"</a:t>
            </a:r>
          </a:p>
          <a:p xmlns:a="http://schemas.openxmlformats.org/drawingml/2006/main">
            <a:r>
              <a:t>    ],</a:t>
            </a:r>
          </a:p>
          <a:p xmlns:a="http://schemas.openxmlformats.org/drawingml/2006/main">
            <a:r>
              <a:t>    "risks": [</a:t>
            </a:r>
          </a:p>
          <a:p xmlns:a="http://schemas.openxmlformats.org/drawingml/2006/main">
            <a:r>
              <a:t>      "코드 보안·품질 편차",</a:t>
            </a:r>
          </a:p>
          <a:p xmlns:a="http://schemas.openxmlformats.org/drawingml/2006/main">
            <a:r>
              <a:t>      "생성 코드의 무검토 반영"</a:t>
            </a:r>
          </a:p>
          <a:p xmlns:a="http://schemas.openxmlformats.org/drawingml/2006/main">
            <a:r>
              <a:t>    ],</a:t>
            </a:r>
          </a:p>
          <a:p xmlns:a="http://schemas.openxmlformats.org/drawingml/2006/main">
            <a:r>
              <a:t>    "architecture": [</a:t>
            </a:r>
          </a:p>
          <a:p xmlns:a="http://schemas.openxmlformats.org/drawingml/2006/main">
            <a:r>
              <a:t>      "사내 사용자",</a:t>
            </a:r>
          </a:p>
          <a:p xmlns:a="http://schemas.openxmlformats.org/drawingml/2006/main">
            <a:r>
              <a:t>      "Gauss 모델군",</a:t>
            </a:r>
          </a:p>
          <a:p xmlns:a="http://schemas.openxmlformats.org/drawingml/2006/main">
            <a:r>
              <a:t>      "업무·개발 문맥",</a:t>
            </a:r>
          </a:p>
          <a:p xmlns:a="http://schemas.openxmlformats.org/drawingml/2006/main">
            <a:r>
              <a:t>      "개발자·현업"</a:t>
            </a:r>
          </a:p>
          <a:p xmlns:a="http://schemas.openxmlformats.org/drawingml/2006/main">
            <a:r>
              <a:t>    ],</a:t>
            </a:r>
          </a:p>
          <a:p xmlns:a="http://schemas.openxmlformats.org/drawingml/2006/main">
            <a:r>
              <a:t>    "transfers": [</a:t>
            </a:r>
          </a:p>
          <a:p xmlns:a="http://schemas.openxmlformats.org/drawingml/2006/main">
            <a:r>
              <a:t>      "요청·코드 문맥",</a:t>
            </a:r>
          </a:p>
          <a:p xmlns:a="http://schemas.openxmlformats.org/drawingml/2006/main">
            <a:r>
              <a:t>      "모델 입력",</a:t>
            </a:r>
          </a:p>
          <a:p xmlns:a="http://schemas.openxmlformats.org/drawingml/2006/main">
            <a:r>
              <a:t>      "생성 결과",</a:t>
            </a:r>
          </a:p>
          <a:p xmlns:a="http://schemas.openxmlformats.org/drawingml/2006/main">
            <a:r>
              <a:t>      "검토·시험"</a:t>
            </a:r>
          </a:p>
          <a:p xmlns:a="http://schemas.openxmlformats.org/drawingml/2006/main">
            <a:r>
              <a:t>    ],</a:t>
            </a:r>
          </a:p>
          <a:p xmlns:a="http://schemas.openxmlformats.org/drawingml/2006/main">
            <a:r>
              <a:t>    "control": "보안 검사·회귀 시험·현업 검토",</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T044 / 공통모델+직무 특화 접점 https://news.samsung.com/ca/samsung-electronics-hosts-samsung-developer-conference-korea-2024-unveils-its-improved-gen-ai-model</a:t>
            </a:r>
          </a:p>
          <a:p xmlns:a="http://schemas.openxmlformats.org/drawingml/2006/main">
            <a:r>
              <a:t>홈페이지 https://heen1987-ops.github.io/TS-business-Plan-001/index.html?view=platform-cases&amp;case=PF-A06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"PF-A06",</a:t>
            </a:r>
          </a:p>
          <a:p xmlns:a="http://schemas.openxmlformats.org/drawingml/2006/main">
            <a:r>
              <a:t>    "sourceId": "A06",</a:t>
            </a:r>
          </a:p>
          <a:p xmlns:a="http://schemas.openxmlformats.org/drawingml/2006/main">
            <a:r>
              <a:t>    "title": "삼성 Gauss Portal·code.i",</a:t>
            </a:r>
          </a:p>
          <a:p xmlns:a="http://schemas.openxmlformats.org/drawingml/2006/main">
            <a:r>
              <a:t>    "region": "국내",</a:t>
            </a:r>
          </a:p>
          <a:p xmlns:a="http://schemas.openxmlformats.org/drawingml/2006/main">
            <a:r>
              <a:t>    "owner": "삼성전자 / Gauss Portal·code.i",</a:t>
            </a:r>
          </a:p>
          <a:p xmlns:a="http://schemas.openxmlformats.org/drawingml/2006/main">
            <a:r>
              <a:t>    "state": "사내 운영(2024-11 발표)",</a:t>
            </a:r>
          </a:p>
          <a:p xmlns:a="http://schemas.openxmlformats.org/drawingml/2006/main">
            <a:r>
              <a:t>    "period": "기존 원장 확인 2026.10.16",</a:t>
            </a:r>
          </a:p>
          <a:p xmlns:a="http://schemas.openxmlformats.org/drawingml/2006/main">
            <a:r>
              <a:t>    "fact": "기업 공통 AI·개발 지원",</a:t>
            </a:r>
          </a:p>
          <a:p xmlns:a="http://schemas.openxmlformats.org/drawingml/2006/main">
            <a:r>
              <a:t>    "limit": "사용량은 시간·비용 절감이 아님. 2026 현재 사용률로 제시하지 않음",</a:t>
            </a:r>
          </a:p>
          <a:p xmlns:a="http://schemas.openxmlformats.org/drawingml/2006/main">
            <a:r>
              <a:t>    "nodes": [</a:t>
            </a:r>
          </a:p>
          <a:p xmlns:a="http://schemas.openxmlformats.org/drawingml/2006/main">
            <a:r>
              <a:t>      "사내 사용자",</a:t>
            </a:r>
          </a:p>
          <a:p xmlns:a="http://schemas.openxmlformats.org/drawingml/2006/main">
            <a:r>
              <a:t>      "Gauss 모델군",</a:t>
            </a:r>
          </a:p>
          <a:p xmlns:a="http://schemas.openxmlformats.org/drawingml/2006/main">
            <a:r>
              <a:t>      "일반·개발 도구",</a:t>
            </a:r>
          </a:p>
          <a:p xmlns:a="http://schemas.openxmlformats.org/drawingml/2006/main">
            <a:r>
              <a:t>      "업무 결과 검토"</a:t>
            </a:r>
          </a:p>
          <a:p xmlns:a="http://schemas.openxmlformats.org/drawingml/2006/main">
            <a:r>
              <a:t>    ],</a:t>
            </a:r>
          </a:p>
          <a:p xmlns:a="http://schemas.openxmlformats.org/drawingml/2006/main">
            <a:r>
              <a:t>    "apply": "일반 직원과 개발자의 입력 문맥·결과 검토 기준을 직무별 분리",</a:t>
            </a:r>
          </a:p>
          <a:p xmlns:a="http://schemas.openxmlformats.org/drawingml/2006/main">
            <a:r>
              <a:t>    "delta": "기관 설정·회귀 평가·두 번째 부서 적용",</a:t>
            </a:r>
          </a:p>
          <a:p xmlns:a="http://schemas.openxmlformats.org/drawingml/2006/main">
            <a:r>
              <a:t>    "test": "도입기간·유지비·교육 부담의 기준선·비교 평가",</a:t>
            </a:r>
          </a:p>
          <a:p xmlns:a="http://schemas.openxmlformats.org/drawingml/2006/main">
            <a:r>
              <a:t>    "url": "https://news.samsung.com/ca/samsung-electronics-hosts-samsung-developer-conference-korea-2024-unveils-its-improved-gen-ai-model",</a:t>
            </a:r>
          </a:p>
          <a:p xmlns:a="http://schemas.openxmlformats.org/drawingml/2006/main">
            <a:r>
              <a:t>    "urls": [</a:t>
            </a:r>
          </a:p>
          <a:p xmlns:a="http://schemas.openxmlformats.org/drawingml/2006/main">
            <a:r>
              <a:t>      "https://news.samsung.com/ca/samsung-electronics-hosts-samsung-developer-conference-korea-2024-unveils-its-improved-gen-ai-model"</a:t>
            </a:r>
          </a:p>
          <a:p xmlns:a="http://schemas.openxmlformats.org/drawingml/2006/main">
            <a:r>
              <a:t>    ],</a:t>
            </a:r>
          </a:p>
          <a:p xmlns:a="http://schemas.openxmlformats.org/drawingml/2006/main">
            <a:r>
              <a:t>    "basis": "T044 / 공통모델+직무 특화 접점",</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"도입기간·유지비·교육 부담",</a:t>
            </a:r>
          </a:p>
          <a:p xmlns:a="http://schemas.openxmlformats.org/drawingml/2006/main">
            <a:r>
              <a:t>    "group": "운영·실증",</a:t>
            </a:r>
          </a:p>
          <a:p xmlns:a="http://schemas.openxmlformats.org/drawingml/2006/main">
            <a:r>
              <a:t>    "sourceDetail": "자체 Gauss 모델군을 공통 포털과 code.i에 적용, 개발 도구와 업무 기능 결합\n개발 직무용 도구와 일반 업무 포털 분리",</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"PF-A06",</a:t>
            </a:r>
          </a:p>
          <a:p xmlns:a="http://schemas.openxmlformats.org/drawingml/2006/main">
            <a:r>
              <a:t>    "canonicalId": "PF-A06",</a:t>
            </a:r>
          </a:p>
          <a:p xmlns:a="http://schemas.openxmlformats.org/drawingml/2006/main">
            <a:r>
              <a:t>    "purpose": "범용 업무 지원과 개발자 지원의 분리",</a:t>
            </a:r>
          </a:p>
          <a:p xmlns:a="http://schemas.openxmlformats.org/drawingml/2006/main">
            <a:r>
              <a:t>    "users": "사내 직원·소프트웨어 개발자",</a:t>
            </a:r>
          </a:p>
          <a:p xmlns:a="http://schemas.openxmlformats.org/drawingml/2006/main">
            <a:r>
              <a:t>    "scope": [</a:t>
            </a:r>
          </a:p>
          <a:p xmlns:a="http://schemas.openxmlformats.org/drawingml/2006/main">
            <a:r>
              <a:t>      "Gauss Portal",</a:t>
            </a:r>
          </a:p>
          <a:p xmlns:a="http://schemas.openxmlformats.org/drawingml/2006/main">
            <a:r>
              <a:t>      "code.i",</a:t>
            </a:r>
          </a:p>
          <a:p xmlns:a="http://schemas.openxmlformats.org/drawingml/2006/main">
            <a:r>
              <a:t>      "모델군"</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"사내 사용자",</a:t>
            </a:r>
          </a:p>
          <a:p xmlns:a="http://schemas.openxmlformats.org/drawingml/2006/main">
            <a:r>
              <a:t>        "detail": "포털 요청 또는 개발 도구의 코드 문맥",</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"Gauss Portal / code.i / 모델군",</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"Gauss 모델군",</a:t>
            </a:r>
          </a:p>
          <a:p xmlns:a="http://schemas.openxmlformats.org/drawingml/2006/main">
            <a:r>
              <a:t>        "detail": "업무 유형에 맞는 Gauss 모델 기능 호출",</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"개발자·현업",</a:t>
            </a:r>
          </a:p>
          <a:p xmlns:a="http://schemas.openxmlformats.org/drawingml/2006/main">
            <a:r>
              <a:t>        "detail": "문서·코드 초안을 현업·개발자에게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"업무·개발 문맥",</a:t>
            </a:r>
          </a:p>
          <a:p xmlns:a="http://schemas.openxmlformats.org/drawingml/2006/main">
            <a:r>
              <a:t>        "detail": "업무 문서·코드 문맥의 입력 경계 구성",</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"생성 코드 검토·보안·회귀시험 결과 환류",</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"사내 사용자",</a:t>
            </a:r>
          </a:p>
          <a:p xmlns:a="http://schemas.openxmlformats.org/drawingml/2006/main">
            <a:r>
              <a:t>        "input": "포털 요청 또는 개발 도구의 코드 문맥",</a:t>
            </a:r>
          </a:p>
          <a:p xmlns:a="http://schemas.openxmlformats.org/drawingml/2006/main">
            <a:r>
              <a:t>        "process": "업무 문서·코드 문맥의 입력 경계 구성",</a:t>
            </a:r>
          </a:p>
          <a:p xmlns:a="http://schemas.openxmlformats.org/drawingml/2006/main">
            <a:r>
              <a:t>        "output": "요청·코드 문맥"</a:t>
            </a:r>
          </a:p>
          <a:p xmlns:a="http://schemas.openxmlformats.org/drawingml/2006/main">
            <a:r>
              <a:t>      },</a:t>
            </a:r>
          </a:p>
          <a:p xmlns:a="http://schemas.openxmlformats.org/drawingml/2006/main">
            <a:r>
              <a:t>      {</a:t>
            </a:r>
          </a:p>
          <a:p xmlns:a="http://schemas.openxmlformats.org/drawingml/2006/main">
            <a:r>
              <a:t>        "title": "Gauss 모델군",</a:t>
            </a:r>
          </a:p>
          <a:p xmlns:a="http://schemas.openxmlformats.org/drawingml/2006/main">
            <a:r>
              <a:t>        "input": "요청·코드 문맥",</a:t>
            </a:r>
          </a:p>
          <a:p xmlns:a="http://schemas.openxmlformats.org/drawingml/2006/main">
            <a:r>
              <a:t>        "process": "업무 유형에 맞는 Gauss 모델 기능 호출",</a:t>
            </a:r>
          </a:p>
          <a:p xmlns:a="http://schemas.openxmlformats.org/drawingml/2006/main">
            <a:r>
              <a:t>        "output": "모델 입력"</a:t>
            </a:r>
          </a:p>
          <a:p xmlns:a="http://schemas.openxmlformats.org/drawingml/2006/main">
            <a:r>
              <a:t>      },</a:t>
            </a:r>
          </a:p>
          <a:p xmlns:a="http://schemas.openxmlformats.org/drawingml/2006/main">
            <a:r>
              <a:t>      {</a:t>
            </a:r>
          </a:p>
          <a:p xmlns:a="http://schemas.openxmlformats.org/drawingml/2006/main">
            <a:r>
              <a:t>        "title": "일반·개발 도구",</a:t>
            </a:r>
          </a:p>
          <a:p xmlns:a="http://schemas.openxmlformats.org/drawingml/2006/main">
            <a:r>
              <a:t>        "input": "모델 입력",</a:t>
            </a:r>
          </a:p>
          <a:p xmlns:a="http://schemas.openxmlformats.org/drawingml/2006/main">
            <a:r>
              <a:t>        "process": "보안 검사·회귀 시험·현업 검토",</a:t>
            </a:r>
          </a:p>
          <a:p xmlns:a="http://schemas.openxmlformats.org/drawingml/2006/main">
            <a:r>
              <a:t>        "output": "생성 결과"</a:t>
            </a:r>
          </a:p>
          <a:p xmlns:a="http://schemas.openxmlformats.org/drawingml/2006/main">
            <a:r>
              <a:t>      },</a:t>
            </a:r>
          </a:p>
          <a:p xmlns:a="http://schemas.openxmlformats.org/drawingml/2006/main">
            <a:r>
              <a:t>      {</a:t>
            </a:r>
          </a:p>
          <a:p xmlns:a="http://schemas.openxmlformats.org/drawingml/2006/main">
            <a:r>
              <a:t>        "title": "업무 결과 검토",</a:t>
            </a:r>
          </a:p>
          <a:p xmlns:a="http://schemas.openxmlformats.org/drawingml/2006/main">
            <a:r>
              <a:t>        "input": "생성 결과",</a:t>
            </a:r>
          </a:p>
          <a:p xmlns:a="http://schemas.openxmlformats.org/drawingml/2006/main">
            <a:r>
              <a:t>        "process": "문서·코드 초안을 현업·개발자에게 제공",</a:t>
            </a:r>
          </a:p>
          <a:p xmlns:a="http://schemas.openxmlformats.org/drawingml/2006/main">
            <a:r>
              <a:t>        "output": "검토·시험"</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"일반 문서와 개발 코드를 각 업무 도구에서 작성",</a:t>
            </a:r>
          </a:p>
          <a:p xmlns:a="http://schemas.openxmlformats.org/drawingml/2006/main">
            <a:r>
              <a:t>      "exception": "민감 코드 입력·취약 코드 생성·시험 실패",</a:t>
            </a:r>
          </a:p>
          <a:p xmlns:a="http://schemas.openxmlformats.org/drawingml/2006/main">
            <a:r>
              <a:t>      "evidence": "입력 경계·코드 검토·보안·회귀시험 결과",</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"사내 직원·소프트웨어 개발자",</a:t>
            </a:r>
          </a:p>
          <a:p xmlns:a="http://schemas.openxmlformats.org/drawingml/2006/main">
            <a:r>
              <a:t>          "processing": "포털 요청 또는 개발 도구의 코드 문맥",</a:t>
            </a:r>
          </a:p>
          <a:p xmlns:a="http://schemas.openxmlformats.org/drawingml/2006/main">
            <a:r>
              <a:t>          "output": "요청·코드 문맥"</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"업무·개발 문맥",</a:t>
            </a:r>
          </a:p>
          <a:p xmlns:a="http://schemas.openxmlformats.org/drawingml/2006/main">
            <a:r>
              <a:t>          "processing": "업무 문서·코드 문맥의 입력 경계 구성",</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"요청·코드 문맥",</a:t>
            </a:r>
          </a:p>
          <a:p xmlns:a="http://schemas.openxmlformats.org/drawingml/2006/main">
            <a:r>
              <a:t>          "processing": "업무 유형에 맞는 Gauss 모델 기능 호출",</a:t>
            </a:r>
          </a:p>
          <a:p xmlns:a="http://schemas.openxmlformats.org/drawingml/2006/main">
            <a:r>
              <a:t>          "output": "생성 결과"</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"생성 결과",</a:t>
            </a:r>
          </a:p>
          <a:p xmlns:a="http://schemas.openxmlformats.org/drawingml/2006/main">
            <a:r>
              <a:t>          "processing": "문서·코드 초안을 현업·개발자에게 제공",</a:t>
            </a:r>
          </a:p>
          <a:p xmlns:a="http://schemas.openxmlformats.org/drawingml/2006/main">
            <a:r>
              <a:t>          "output": "검토·시험"</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"생성 코드 검토·보안·회귀시험 결과 환류",</a:t>
            </a:r>
          </a:p>
          <a:p xmlns:a="http://schemas.openxmlformats.org/drawingml/2006/main">
            <a:r>
              <a:t>          "output": "입력 경계·코드 검토·보안·회귀시험 결과"</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"생성 코드 검토·보안·회귀시험 결과 환류",</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"T044 / 공통모델+직무 특화 접점",</a:t>
            </a:r>
          </a:p>
          <a:p xmlns:a="http://schemas.openxmlformats.org/drawingml/2006/main">
            <a:r>
              <a:t>        "url": "https://news.samsung.com/ca/samsung-electronics-hosts-samsung-developer-conference-korea-2024-unveils-its-improved-gen-ai-model"</a:t>
            </a:r>
          </a:p>
          <a:p xmlns:a="http://schemas.openxmlformats.org/drawingml/2006/main">
            <a:r>
              <a:t>      }</a:t>
            </a:r>
          </a:p>
          <a:p xmlns:a="http://schemas.openxmlformats.org/drawingml/2006/main">
            <a:r>
              <a:t>    ],</a:t>
            </a:r>
          </a:p>
          <a:p xmlns:a="http://schemas.openxmlformats.org/drawingml/2006/main">
            <a:r>
              <a:t>    "implication": "일반 직원과 개발자의 입력 문맥·결과 검토 기준을 직무별 분리",</a:t>
            </a:r>
          </a:p>
          <a:p xmlns:a="http://schemas.openxmlformats.org/drawingml/2006/main">
            <a:r>
              <a:t>    "local": "일반 직원과 개발자의 입력 문맥·결과 검토 기준을 직무별 분리",</a:t>
            </a:r>
          </a:p>
          <a:p xmlns:a="http://schemas.openxmlformats.org/drawingml/2006/main">
            <a:r>
              <a:t>    "sourceDetail": "자체 Gauss 모델군을 공통 포털과 code.i에 적용, 개발 도구와 업무 기능 결합\n개발 직무용 도구와 일반 업무 포털 분리",</a:t>
            </a:r>
          </a:p>
          <a:p xmlns:a="http://schemas.openxmlformats.org/drawingml/2006/main">
            <a:r>
              <a:t>    "narrative": [</a:t>
            </a:r>
          </a:p>
          <a:p xmlns:a="http://schemas.openxmlformats.org/drawingml/2006/main">
            <a:r>
              <a:t>      "삼성 Gauss Portal과 code.i의 기업 공통 AI·개발 지원 사례. 전 직원의 문서 업무와 개발자의 코드 작업을 다른 접점으로 지원하는 도입 방식.",</a:t>
            </a:r>
          </a:p>
          <a:p xmlns:a="http://schemas.openxmlformats.org/drawingml/2006/main">
            <a:r>
              <a:t>      "공개 제품 발표의 업무 지원 범위를 기준으로 직원 포털, 개발 도구 접점, AI 처리, 업무 자료·코드 문맥, 결과 검토 계층으로 재구성. 문서 작성과 코드 생성은 입력 데이터와 오류 판정 기준이 다른 서비스로 설계.",</a:t>
            </a:r>
          </a:p>
          <a:p xmlns:a="http://schemas.openxmlformats.org/drawingml/2006/main">
            <a:r>
              <a:t>      "CCK에서는 동일 모델의 이용률보다 직무별 결과물의 검증 가능성을 비교할 필요. 문서의 근거·서식 점검과 코드의 빌드·시험·보안 검토를 각각 수행하고 데이터 반출·소스코드 접근 범위를 공통 정책과 연결."</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"포털·개발 도구",</a:t>
            </a:r>
          </a:p>
          <a:p xmlns:a="http://schemas.openxmlformats.org/drawingml/2006/main">
            <a:r>
              <a:t>          "layer": "이용 접점",</a:t>
            </a:r>
          </a:p>
          <a:p xmlns:a="http://schemas.openxmlformats.org/drawingml/2006/main">
            <a:r>
              <a:t>          "detail": "사내 직원·소프트웨어 개발자",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"문서·코드 문맥",</a:t>
            </a:r>
          </a:p>
          <a:p xmlns:a="http://schemas.openxmlformats.org/drawingml/2006/main">
            <a:r>
              <a:t>          "layer": "업무 문맥",</a:t>
            </a:r>
          </a:p>
          <a:p xmlns:a="http://schemas.openxmlformats.org/drawingml/2006/main">
            <a:r>
              <a:t>          "detail": "포털 요청 또는 개발 도구의 코드 문맥",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"허용 문맥 구성",</a:t>
            </a:r>
          </a:p>
          <a:p xmlns:a="http://schemas.openxmlformats.org/drawingml/2006/main">
            <a:r>
              <a:t>          "layer": "자료 조회",</a:t>
            </a:r>
          </a:p>
          <a:p xmlns:a="http://schemas.openxmlformats.org/drawingml/2006/main">
            <a:r>
              <a:t>          "detail": "요청·코드 문맥",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"Gauss 모델군",</a:t>
            </a:r>
          </a:p>
          <a:p xmlns:a="http://schemas.openxmlformats.org/drawingml/2006/main">
            <a:r>
              <a:t>          "layer": "핵심 처리",</a:t>
            </a:r>
          </a:p>
          <a:p xmlns:a="http://schemas.openxmlformats.org/drawingml/2006/main">
            <a:r>
              <a:t>          "detail": "업무 유형에 맞는 Gauss 모델 기능 호출",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"코드·보안 검사",</a:t>
            </a:r>
          </a:p>
          <a:p xmlns:a="http://schemas.openxmlformats.org/drawingml/2006/main">
            <a:r>
              <a:t>          "layer": "결과 검증",</a:t>
            </a:r>
          </a:p>
          <a:p xmlns:a="http://schemas.openxmlformats.org/drawingml/2006/main">
            <a:r>
              <a:t>          "detail": "보안 검사·회귀 시험·현업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"직원·개발자 검토",</a:t>
            </a:r>
          </a:p>
          <a:p xmlns:a="http://schemas.openxmlformats.org/drawingml/2006/main">
            <a:r>
              <a:t>          "layer": "사람 확인",</a:t>
            </a:r>
          </a:p>
          <a:p xmlns:a="http://schemas.openxmlformats.org/drawingml/2006/main">
            <a:r>
              <a:t>          "detail": "일반 문서와 개발 코드를 각 업무 도구에서 작성",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"업무·코드 초안",</a:t>
            </a:r>
          </a:p>
          <a:p xmlns:a="http://schemas.openxmlformats.org/drawingml/2006/main">
            <a:r>
              <a:t>          "layer": "업무 연결",</a:t>
            </a:r>
          </a:p>
          <a:p xmlns:a="http://schemas.openxmlformats.org/drawingml/2006/main">
            <a:r>
              <a:t>          "detail": "문서·코드 초안을 현업·개발자에게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"회귀시험 환류",</a:t>
            </a:r>
          </a:p>
          <a:p xmlns:a="http://schemas.openxmlformats.org/drawingml/2006/main">
            <a:r>
              <a:t>          "layer": "운영 관측",</a:t>
            </a:r>
          </a:p>
          <a:p xmlns:a="http://schemas.openxmlformats.org/drawingml/2006/main">
            <a:r>
              <a:t>          "detail": "생성 코드 검토·보안·회귀시험 결과 환류",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"업무문서·코드",</a:t>
            </a:r>
          </a:p>
          <a:p xmlns:a="http://schemas.openxmlformats.org/drawingml/2006/main">
            <a:r>
              <a:t>          "layer": "데이터 원천",</a:t>
            </a:r>
          </a:p>
          <a:p xmlns:a="http://schemas.openxmlformats.org/drawingml/2006/main">
            <a:r>
              <a:t>          "detail": "업무·개발 문맥",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"입력 범위 정리",</a:t>
            </a:r>
          </a:p>
          <a:p xmlns:a="http://schemas.openxmlformats.org/drawingml/2006/main">
            <a:r>
              <a:t>          "layer": "준비·갱신",</a:t>
            </a:r>
          </a:p>
          <a:p xmlns:a="http://schemas.openxmlformats.org/drawingml/2006/main">
            <a:r>
              <a:t>          "detail": "업무 문서·코드 문맥의 입력 경계 구성",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"초안·시험 기록",</a:t>
            </a:r>
          </a:p>
          <a:p xmlns:a="http://schemas.openxmlformats.org/drawingml/2006/main">
            <a:r>
              <a:t>          "layer": "상태·지식 저장",</a:t>
            </a:r>
          </a:p>
          <a:p xmlns:a="http://schemas.openxmlformats.org/drawingml/2006/main">
            <a:r>
              <a:t>          "detail": "입력 경계·코드 검토·보안·회귀시험 결과",</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"업무별 이용정책",</a:t>
            </a:r>
          </a:p>
          <a:p xmlns:a="http://schemas.openxmlformats.org/drawingml/2006/main">
            <a:r>
              <a:t>          "layer": "권한·정책",</a:t>
            </a:r>
          </a:p>
          <a:p xmlns:a="http://schemas.openxmlformats.org/drawingml/2006/main">
            <a:r>
              <a:t>          "detail": "민감 코드 입력·취약 코드 생성·시험 실패",</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"포털 요청 또는 개발 도구의 코드 문맥",</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"요청·코드 문맥",</a:t>
            </a:r>
          </a:p>
          <a:p xmlns:a="http://schemas.openxmlformats.org/drawingml/2006/main">
            <a:r>
              <a:t>          "check": "보안 검사·회귀 시험·현업 검토"</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"모델 입력",</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"생성 결과",</a:t>
            </a:r>
          </a:p>
          <a:p xmlns:a="http://schemas.openxmlformats.org/drawingml/2006/main">
            <a:r>
              <a:t>          "check": "민감 코드 입력·취약 코드 생성·시험 실패"</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"생성 결과",</a:t>
            </a:r>
          </a:p>
          <a:p xmlns:a="http://schemas.openxmlformats.org/drawingml/2006/main">
            <a:r>
              <a:t>          "check": "문서·코드 초안을 현업·개발자에게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"검토·시험",</a:t>
            </a:r>
          </a:p>
          <a:p xmlns:a="http://schemas.openxmlformats.org/drawingml/2006/main">
            <a:r>
              <a:t>          "check": "입력 경계·코드 검토·보안·회귀시험 결과"</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"범용 업무 지원과 개발자 지원의 분리 / Gauss Portal·code.i·모델군",</a:t>
            </a:r>
          </a:p>
          <a:p xmlns:a="http://schemas.openxmlformats.org/drawingml/2006/main">
            <a:r>
              <a:t>        "extension": "일반 직원과 개발자의 입력 문맥·결과 검토 기준을 직무별 분리"</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"민감 코드 입력·취약 코드 생성·시험 실패",</a:t>
            </a:r>
          </a:p>
          <a:p xmlns:a="http://schemas.openxmlformats.org/drawingml/2006/main">
            <a:r>
              <a:t>        "hold": "보안 검사·회귀 시험·현업 검토",</a:t>
            </a:r>
          </a:p>
          <a:p xmlns:a="http://schemas.openxmlformats.org/drawingml/2006/main">
            <a:r>
              <a:t>        "recovery": "생성 코드 검토·보안·회귀시험 결과 환류",</a:t>
            </a:r>
          </a:p>
          <a:p xmlns:a="http://schemas.openxmlformats.org/drawingml/2006/main">
            <a:r>
              <a:t>        "evidence": "입력 경계·코드 검토·보안·회귀시험 결과"</a:t>
            </a:r>
          </a:p>
          <a:p xmlns:a="http://schemas.openxmlformats.org/drawingml/2006/main">
            <a:r>
              <a:t>      },</a:t>
            </a:r>
          </a:p>
          <a:p xmlns:a="http://schemas.openxmlformats.org/drawingml/2006/main">
            <a:r>
              <a:t>      "data": {</a:t>
            </a:r>
          </a:p>
          <a:p xmlns:a="http://schemas.openxmlformats.org/drawingml/2006/main">
            <a:r>
              <a:t>        "source": "업무·개발 문맥",</a:t>
            </a:r>
          </a:p>
          <a:p xmlns:a="http://schemas.openxmlformats.org/drawingml/2006/main">
            <a:r>
              <a:t>        "prepare": "업무 문서·코드 문맥의 입력 경계 구성",</a:t>
            </a:r>
          </a:p>
          <a:p xmlns:a="http://schemas.openxmlformats.org/drawingml/2006/main">
            <a:r>
              <a:t>        "output": "요청·코드 문맥",</a:t>
            </a:r>
          </a:p>
          <a:p xmlns:a="http://schemas.openxmlformats.org/drawingml/2006/main">
            <a:r>
              <a:t>        "refresh": "생성 코드 검토·보안·회귀시험 결과 환류"</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"PF-A06",</a:t>
            </a:r>
          </a:p>
          <a:p xmlns:a="http://schemas.openxmlformats.org/drawingml/2006/main">
            <a:r>
              <a:t>    "success": [</a:t>
            </a:r>
          </a:p>
          <a:p xmlns:a="http://schemas.openxmlformats.org/drawingml/2006/main">
            <a:r>
              <a:t>      "범용 지원과 개발 지원의 구분",</a:t>
            </a:r>
          </a:p>
          <a:p xmlns:a="http://schemas.openxmlformats.org/drawingml/2006/main">
            <a:r>
              <a:t>      "공통 모델군의 업무 도구 적용"</a:t>
            </a:r>
          </a:p>
          <a:p xmlns:a="http://schemas.openxmlformats.org/drawingml/2006/main">
            <a:r>
              <a:t>    ],</a:t>
            </a:r>
          </a:p>
          <a:p xmlns:a="http://schemas.openxmlformats.org/drawingml/2006/main">
            <a:r>
              <a:t>    "risks": [</a:t>
            </a:r>
          </a:p>
          <a:p xmlns:a="http://schemas.openxmlformats.org/drawingml/2006/main">
            <a:r>
              <a:t>      "코드 보안·품질 편차",</a:t>
            </a:r>
          </a:p>
          <a:p xmlns:a="http://schemas.openxmlformats.org/drawingml/2006/main">
            <a:r>
              <a:t>      "생성 코드의 무검토 반영"</a:t>
            </a:r>
          </a:p>
          <a:p xmlns:a="http://schemas.openxmlformats.org/drawingml/2006/main">
            <a:r>
              <a:t>    ],</a:t>
            </a:r>
          </a:p>
          <a:p xmlns:a="http://schemas.openxmlformats.org/drawingml/2006/main">
            <a:r>
              <a:t>    "architecture": [</a:t>
            </a:r>
          </a:p>
          <a:p xmlns:a="http://schemas.openxmlformats.org/drawingml/2006/main">
            <a:r>
              <a:t>      "사내 사용자",</a:t>
            </a:r>
          </a:p>
          <a:p xmlns:a="http://schemas.openxmlformats.org/drawingml/2006/main">
            <a:r>
              <a:t>      "Gauss 모델군",</a:t>
            </a:r>
          </a:p>
          <a:p xmlns:a="http://schemas.openxmlformats.org/drawingml/2006/main">
            <a:r>
              <a:t>      "업무·개발 문맥",</a:t>
            </a:r>
          </a:p>
          <a:p xmlns:a="http://schemas.openxmlformats.org/drawingml/2006/main">
            <a:r>
              <a:t>      "개발자·현업"</a:t>
            </a:r>
          </a:p>
          <a:p xmlns:a="http://schemas.openxmlformats.org/drawingml/2006/main">
            <a:r>
              <a:t>    ],</a:t>
            </a:r>
          </a:p>
          <a:p xmlns:a="http://schemas.openxmlformats.org/drawingml/2006/main">
            <a:r>
              <a:t>    "transfers": [</a:t>
            </a:r>
          </a:p>
          <a:p xmlns:a="http://schemas.openxmlformats.org/drawingml/2006/main">
            <a:r>
              <a:t>      "요청·코드 문맥",</a:t>
            </a:r>
          </a:p>
          <a:p xmlns:a="http://schemas.openxmlformats.org/drawingml/2006/main">
            <a:r>
              <a:t>      "모델 입력",</a:t>
            </a:r>
          </a:p>
          <a:p xmlns:a="http://schemas.openxmlformats.org/drawingml/2006/main">
            <a:r>
              <a:t>      "생성 결과",</a:t>
            </a:r>
          </a:p>
          <a:p xmlns:a="http://schemas.openxmlformats.org/drawingml/2006/main">
            <a:r>
              <a:t>      "검토·시험"</a:t>
            </a:r>
          </a:p>
          <a:p xmlns:a="http://schemas.openxmlformats.org/drawingml/2006/main">
            <a:r>
              <a:t>    ],</a:t>
            </a:r>
          </a:p>
          <a:p xmlns:a="http://schemas.openxmlformats.org/drawingml/2006/main">
            <a:r>
              <a:t>    "control": "보안 검사·회귀 시험·현업 검토",</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T044 / 공통모델+직무 특화 접점 https://news.samsung.com/ca/samsung-electronics-hosts-samsung-developer-conference-korea-2024-unveils-its-improved-gen-ai-model</a:t>
            </a:r>
          </a:p>
          <a:p xmlns:a="http://schemas.openxmlformats.org/drawingml/2006/main">
            <a:r>
              <a:t>홈페이지 https://heen1987-ops.github.io/TS-business-Plan-001/index.html?view=platform-cases&amp;case=PF-A06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"PF-A06",</a:t>
            </a:r>
          </a:p>
          <a:p xmlns:a="http://schemas.openxmlformats.org/drawingml/2006/main">
            <a:r>
              <a:t>    "sourceId": "A06",</a:t>
            </a:r>
          </a:p>
          <a:p xmlns:a="http://schemas.openxmlformats.org/drawingml/2006/main">
            <a:r>
              <a:t>    "title": "삼성 Gauss Portal·code.i",</a:t>
            </a:r>
          </a:p>
          <a:p xmlns:a="http://schemas.openxmlformats.org/drawingml/2006/main">
            <a:r>
              <a:t>    "region": "국내",</a:t>
            </a:r>
          </a:p>
          <a:p xmlns:a="http://schemas.openxmlformats.org/drawingml/2006/main">
            <a:r>
              <a:t>    "owner": "삼성전자 / Gauss Portal·code.i",</a:t>
            </a:r>
          </a:p>
          <a:p xmlns:a="http://schemas.openxmlformats.org/drawingml/2006/main">
            <a:r>
              <a:t>    "state": "사내 운영(2024-11 발표)",</a:t>
            </a:r>
          </a:p>
          <a:p xmlns:a="http://schemas.openxmlformats.org/drawingml/2006/main">
            <a:r>
              <a:t>    "period": "기존 원장 확인 2026.10.16",</a:t>
            </a:r>
          </a:p>
          <a:p xmlns:a="http://schemas.openxmlformats.org/drawingml/2006/main">
            <a:r>
              <a:t>    "fact": "기업 공통 AI·개발 지원",</a:t>
            </a:r>
          </a:p>
          <a:p xmlns:a="http://schemas.openxmlformats.org/drawingml/2006/main">
            <a:r>
              <a:t>    "limit": "사용량은 시간·비용 절감이 아님. 2026 현재 사용률로 제시하지 않음",</a:t>
            </a:r>
          </a:p>
          <a:p xmlns:a="http://schemas.openxmlformats.org/drawingml/2006/main">
            <a:r>
              <a:t>    "nodes": [</a:t>
            </a:r>
          </a:p>
          <a:p xmlns:a="http://schemas.openxmlformats.org/drawingml/2006/main">
            <a:r>
              <a:t>      "사내 사용자",</a:t>
            </a:r>
          </a:p>
          <a:p xmlns:a="http://schemas.openxmlformats.org/drawingml/2006/main">
            <a:r>
              <a:t>      "Gauss 모델군",</a:t>
            </a:r>
          </a:p>
          <a:p xmlns:a="http://schemas.openxmlformats.org/drawingml/2006/main">
            <a:r>
              <a:t>      "일반·개발 도구",</a:t>
            </a:r>
          </a:p>
          <a:p xmlns:a="http://schemas.openxmlformats.org/drawingml/2006/main">
            <a:r>
              <a:t>      "업무 결과 검토"</a:t>
            </a:r>
          </a:p>
          <a:p xmlns:a="http://schemas.openxmlformats.org/drawingml/2006/main">
            <a:r>
              <a:t>    ],</a:t>
            </a:r>
          </a:p>
          <a:p xmlns:a="http://schemas.openxmlformats.org/drawingml/2006/main">
            <a:r>
              <a:t>    "apply": "일반 직원과 개발자의 입력 문맥·결과 검토 기준을 직무별 분리",</a:t>
            </a:r>
          </a:p>
          <a:p xmlns:a="http://schemas.openxmlformats.org/drawingml/2006/main">
            <a:r>
              <a:t>    "delta": "기관 설정·회귀 평가·두 번째 부서 적용",</a:t>
            </a:r>
          </a:p>
          <a:p xmlns:a="http://schemas.openxmlformats.org/drawingml/2006/main">
            <a:r>
              <a:t>    "test": "도입기간·유지비·교육 부담의 기준선·비교 평가",</a:t>
            </a:r>
          </a:p>
          <a:p xmlns:a="http://schemas.openxmlformats.org/drawingml/2006/main">
            <a:r>
              <a:t>    "url": "https://news.samsung.com/ca/samsung-electronics-hosts-samsung-developer-conference-korea-2024-unveils-its-improved-gen-ai-model",</a:t>
            </a:r>
          </a:p>
          <a:p xmlns:a="http://schemas.openxmlformats.org/drawingml/2006/main">
            <a:r>
              <a:t>    "urls": [</a:t>
            </a:r>
          </a:p>
          <a:p xmlns:a="http://schemas.openxmlformats.org/drawingml/2006/main">
            <a:r>
              <a:t>      "https://news.samsung.com/ca/samsung-electronics-hosts-samsung-developer-conference-korea-2024-unveils-its-improved-gen-ai-model"</a:t>
            </a:r>
          </a:p>
          <a:p xmlns:a="http://schemas.openxmlformats.org/drawingml/2006/main">
            <a:r>
              <a:t>    ],</a:t>
            </a:r>
          </a:p>
          <a:p xmlns:a="http://schemas.openxmlformats.org/drawingml/2006/main">
            <a:r>
              <a:t>    "basis": "T044 / 공통모델+직무 특화 접점",</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"도입기간·유지비·교육 부담",</a:t>
            </a:r>
          </a:p>
          <a:p xmlns:a="http://schemas.openxmlformats.org/drawingml/2006/main">
            <a:r>
              <a:t>    "group": "운영·실증",</a:t>
            </a:r>
          </a:p>
          <a:p xmlns:a="http://schemas.openxmlformats.org/drawingml/2006/main">
            <a:r>
              <a:t>    "sourceDetail": "자체 Gauss 모델군을 공통 포털과 code.i에 적용, 개발 도구와 업무 기능 결합\n개발 직무용 도구와 일반 업무 포털 분리",</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"PF-A06",</a:t>
            </a:r>
          </a:p>
          <a:p xmlns:a="http://schemas.openxmlformats.org/drawingml/2006/main">
            <a:r>
              <a:t>    "canonicalId": "PF-A06",</a:t>
            </a:r>
          </a:p>
          <a:p xmlns:a="http://schemas.openxmlformats.org/drawingml/2006/main">
            <a:r>
              <a:t>    "purpose": "범용 업무 지원과 개발자 지원의 분리",</a:t>
            </a:r>
          </a:p>
          <a:p xmlns:a="http://schemas.openxmlformats.org/drawingml/2006/main">
            <a:r>
              <a:t>    "users": "사내 직원·소프트웨어 개발자",</a:t>
            </a:r>
          </a:p>
          <a:p xmlns:a="http://schemas.openxmlformats.org/drawingml/2006/main">
            <a:r>
              <a:t>    "scope": [</a:t>
            </a:r>
          </a:p>
          <a:p xmlns:a="http://schemas.openxmlformats.org/drawingml/2006/main">
            <a:r>
              <a:t>      "Gauss Portal",</a:t>
            </a:r>
          </a:p>
          <a:p xmlns:a="http://schemas.openxmlformats.org/drawingml/2006/main">
            <a:r>
              <a:t>      "code.i",</a:t>
            </a:r>
          </a:p>
          <a:p xmlns:a="http://schemas.openxmlformats.org/drawingml/2006/main">
            <a:r>
              <a:t>      "모델군"</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"사내 사용자",</a:t>
            </a:r>
          </a:p>
          <a:p xmlns:a="http://schemas.openxmlformats.org/drawingml/2006/main">
            <a:r>
              <a:t>        "detail": "포털 요청 또는 개발 도구의 코드 문맥",</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"Gauss Portal / code.i / 모델군",</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"Gauss 모델군",</a:t>
            </a:r>
          </a:p>
          <a:p xmlns:a="http://schemas.openxmlformats.org/drawingml/2006/main">
            <a:r>
              <a:t>        "detail": "업무 유형에 맞는 Gauss 모델 기능 호출",</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"개발자·현업",</a:t>
            </a:r>
          </a:p>
          <a:p xmlns:a="http://schemas.openxmlformats.org/drawingml/2006/main">
            <a:r>
              <a:t>        "detail": "문서·코드 초안을 현업·개발자에게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"업무·개발 문맥",</a:t>
            </a:r>
          </a:p>
          <a:p xmlns:a="http://schemas.openxmlformats.org/drawingml/2006/main">
            <a:r>
              <a:t>        "detail": "업무 문서·코드 문맥의 입력 경계 구성",</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"생성 코드 검토·보안·회귀시험 결과 환류",</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"사내 사용자",</a:t>
            </a:r>
          </a:p>
          <a:p xmlns:a="http://schemas.openxmlformats.org/drawingml/2006/main">
            <a:r>
              <a:t>        "input": "포털 요청 또는 개발 도구의 코드 문맥",</a:t>
            </a:r>
          </a:p>
          <a:p xmlns:a="http://schemas.openxmlformats.org/drawingml/2006/main">
            <a:r>
              <a:t>        "process": "업무 문서·코드 문맥의 입력 경계 구성",</a:t>
            </a:r>
          </a:p>
          <a:p xmlns:a="http://schemas.openxmlformats.org/drawingml/2006/main">
            <a:r>
              <a:t>        "output": "요청·코드 문맥"</a:t>
            </a:r>
          </a:p>
          <a:p xmlns:a="http://schemas.openxmlformats.org/drawingml/2006/main">
            <a:r>
              <a:t>      },</a:t>
            </a:r>
          </a:p>
          <a:p xmlns:a="http://schemas.openxmlformats.org/drawingml/2006/main">
            <a:r>
              <a:t>      {</a:t>
            </a:r>
          </a:p>
          <a:p xmlns:a="http://schemas.openxmlformats.org/drawingml/2006/main">
            <a:r>
              <a:t>        "title": "Gauss 모델군",</a:t>
            </a:r>
          </a:p>
          <a:p xmlns:a="http://schemas.openxmlformats.org/drawingml/2006/main">
            <a:r>
              <a:t>        "input": "요청·코드 문맥",</a:t>
            </a:r>
          </a:p>
          <a:p xmlns:a="http://schemas.openxmlformats.org/drawingml/2006/main">
            <a:r>
              <a:t>        "process": "업무 유형에 맞는 Gauss 모델 기능 호출",</a:t>
            </a:r>
          </a:p>
          <a:p xmlns:a="http://schemas.openxmlformats.org/drawingml/2006/main">
            <a:r>
              <a:t>        "output": "모델 입력"</a:t>
            </a:r>
          </a:p>
          <a:p xmlns:a="http://schemas.openxmlformats.org/drawingml/2006/main">
            <a:r>
              <a:t>      },</a:t>
            </a:r>
          </a:p>
          <a:p xmlns:a="http://schemas.openxmlformats.org/drawingml/2006/main">
            <a:r>
              <a:t>      {</a:t>
            </a:r>
          </a:p>
          <a:p xmlns:a="http://schemas.openxmlformats.org/drawingml/2006/main">
            <a:r>
              <a:t>        "title": "일반·개발 도구",</a:t>
            </a:r>
          </a:p>
          <a:p xmlns:a="http://schemas.openxmlformats.org/drawingml/2006/main">
            <a:r>
              <a:t>        "input": "모델 입력",</a:t>
            </a:r>
          </a:p>
          <a:p xmlns:a="http://schemas.openxmlformats.org/drawingml/2006/main">
            <a:r>
              <a:t>        "process": "보안 검사·회귀 시험·현업 검토",</a:t>
            </a:r>
          </a:p>
          <a:p xmlns:a="http://schemas.openxmlformats.org/drawingml/2006/main">
            <a:r>
              <a:t>        "output": "생성 결과"</a:t>
            </a:r>
          </a:p>
          <a:p xmlns:a="http://schemas.openxmlformats.org/drawingml/2006/main">
            <a:r>
              <a:t>      },</a:t>
            </a:r>
          </a:p>
          <a:p xmlns:a="http://schemas.openxmlformats.org/drawingml/2006/main">
            <a:r>
              <a:t>      {</a:t>
            </a:r>
          </a:p>
          <a:p xmlns:a="http://schemas.openxmlformats.org/drawingml/2006/main">
            <a:r>
              <a:t>        "title": "업무 결과 검토",</a:t>
            </a:r>
          </a:p>
          <a:p xmlns:a="http://schemas.openxmlformats.org/drawingml/2006/main">
            <a:r>
              <a:t>        "input": "생성 결과",</a:t>
            </a:r>
          </a:p>
          <a:p xmlns:a="http://schemas.openxmlformats.org/drawingml/2006/main">
            <a:r>
              <a:t>        "process": "문서·코드 초안을 현업·개발자에게 제공",</a:t>
            </a:r>
          </a:p>
          <a:p xmlns:a="http://schemas.openxmlformats.org/drawingml/2006/main">
            <a:r>
              <a:t>        "output": "검토·시험"</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"일반 문서와 개발 코드를 각 업무 도구에서 작성",</a:t>
            </a:r>
          </a:p>
          <a:p xmlns:a="http://schemas.openxmlformats.org/drawingml/2006/main">
            <a:r>
              <a:t>      "exception": "민감 코드 입력·취약 코드 생성·시험 실패",</a:t>
            </a:r>
          </a:p>
          <a:p xmlns:a="http://schemas.openxmlformats.org/drawingml/2006/main">
            <a:r>
              <a:t>      "evidence": "입력 경계·코드 검토·보안·회귀시험 결과",</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"사내 직원·소프트웨어 개발자",</a:t>
            </a:r>
          </a:p>
          <a:p xmlns:a="http://schemas.openxmlformats.org/drawingml/2006/main">
            <a:r>
              <a:t>          "processing": "포털 요청 또는 개발 도구의 코드 문맥",</a:t>
            </a:r>
          </a:p>
          <a:p xmlns:a="http://schemas.openxmlformats.org/drawingml/2006/main">
            <a:r>
              <a:t>          "output": "요청·코드 문맥"</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"업무·개발 문맥",</a:t>
            </a:r>
          </a:p>
          <a:p xmlns:a="http://schemas.openxmlformats.org/drawingml/2006/main">
            <a:r>
              <a:t>          "processing": "업무 문서·코드 문맥의 입력 경계 구성",</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"요청·코드 문맥",</a:t>
            </a:r>
          </a:p>
          <a:p xmlns:a="http://schemas.openxmlformats.org/drawingml/2006/main">
            <a:r>
              <a:t>          "processing": "업무 유형에 맞는 Gauss 모델 기능 호출",</a:t>
            </a:r>
          </a:p>
          <a:p xmlns:a="http://schemas.openxmlformats.org/drawingml/2006/main">
            <a:r>
              <a:t>          "output": "생성 결과"</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"생성 결과",</a:t>
            </a:r>
          </a:p>
          <a:p xmlns:a="http://schemas.openxmlformats.org/drawingml/2006/main">
            <a:r>
              <a:t>          "processing": "문서·코드 초안을 현업·개발자에게 제공",</a:t>
            </a:r>
          </a:p>
          <a:p xmlns:a="http://schemas.openxmlformats.org/drawingml/2006/main">
            <a:r>
              <a:t>          "output": "검토·시험"</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"생성 코드 검토·보안·회귀시험 결과 환류",</a:t>
            </a:r>
          </a:p>
          <a:p xmlns:a="http://schemas.openxmlformats.org/drawingml/2006/main">
            <a:r>
              <a:t>          "output": "입력 경계·코드 검토·보안·회귀시험 결과"</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"생성 코드 검토·보안·회귀시험 결과 환류",</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"T044 / 공통모델+직무 특화 접점",</a:t>
            </a:r>
          </a:p>
          <a:p xmlns:a="http://schemas.openxmlformats.org/drawingml/2006/main">
            <a:r>
              <a:t>        "url": "https://news.samsung.com/ca/samsung-electronics-hosts-samsung-developer-conference-korea-2024-unveils-its-improved-gen-ai-model"</a:t>
            </a:r>
          </a:p>
          <a:p xmlns:a="http://schemas.openxmlformats.org/drawingml/2006/main">
            <a:r>
              <a:t>      }</a:t>
            </a:r>
          </a:p>
          <a:p xmlns:a="http://schemas.openxmlformats.org/drawingml/2006/main">
            <a:r>
              <a:t>    ],</a:t>
            </a:r>
          </a:p>
          <a:p xmlns:a="http://schemas.openxmlformats.org/drawingml/2006/main">
            <a:r>
              <a:t>    "implication": "일반 직원과 개발자의 입력 문맥·결과 검토 기준을 직무별 분리",</a:t>
            </a:r>
          </a:p>
          <a:p xmlns:a="http://schemas.openxmlformats.org/drawingml/2006/main">
            <a:r>
              <a:t>    "local": "일반 직원과 개발자의 입력 문맥·결과 검토 기준을 직무별 분리",</a:t>
            </a:r>
          </a:p>
          <a:p xmlns:a="http://schemas.openxmlformats.org/drawingml/2006/main">
            <a:r>
              <a:t>    "sourceDetail": "자체 Gauss 모델군을 공통 포털과 code.i에 적용, 개발 도구와 업무 기능 결합\n개발 직무용 도구와 일반 업무 포털 분리",</a:t>
            </a:r>
          </a:p>
          <a:p xmlns:a="http://schemas.openxmlformats.org/drawingml/2006/main">
            <a:r>
              <a:t>    "narrative": [</a:t>
            </a:r>
          </a:p>
          <a:p xmlns:a="http://schemas.openxmlformats.org/drawingml/2006/main">
            <a:r>
              <a:t>      "삼성 Gauss Portal과 code.i의 기업 공통 AI·개발 지원 사례. 전 직원의 문서 업무와 개발자의 코드 작업을 다른 접점으로 지원하는 도입 방식.",</a:t>
            </a:r>
          </a:p>
          <a:p xmlns:a="http://schemas.openxmlformats.org/drawingml/2006/main">
            <a:r>
              <a:t>      "공개 제품 발표의 업무 지원 범위를 기준으로 직원 포털, 개발 도구 접점, AI 처리, 업무 자료·코드 문맥, 결과 검토 계층으로 재구성. 문서 작성과 코드 생성은 입력 데이터와 오류 판정 기준이 다른 서비스로 설계.",</a:t>
            </a:r>
          </a:p>
          <a:p xmlns:a="http://schemas.openxmlformats.org/drawingml/2006/main">
            <a:r>
              <a:t>      "CCK에서는 동일 모델의 이용률보다 직무별 결과물의 검증 가능성을 비교할 필요. 문서의 근거·서식 점검과 코드의 빌드·시험·보안 검토를 각각 수행하고 데이터 반출·소스코드 접근 범위를 공통 정책과 연결."</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"포털·개발 도구",</a:t>
            </a:r>
          </a:p>
          <a:p xmlns:a="http://schemas.openxmlformats.org/drawingml/2006/main">
            <a:r>
              <a:t>          "layer": "이용 접점",</a:t>
            </a:r>
          </a:p>
          <a:p xmlns:a="http://schemas.openxmlformats.org/drawingml/2006/main">
            <a:r>
              <a:t>          "detail": "사내 직원·소프트웨어 개발자",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"문서·코드 문맥",</a:t>
            </a:r>
          </a:p>
          <a:p xmlns:a="http://schemas.openxmlformats.org/drawingml/2006/main">
            <a:r>
              <a:t>          "layer": "업무 문맥",</a:t>
            </a:r>
          </a:p>
          <a:p xmlns:a="http://schemas.openxmlformats.org/drawingml/2006/main">
            <a:r>
              <a:t>          "detail": "포털 요청 또는 개발 도구의 코드 문맥",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"허용 문맥 구성",</a:t>
            </a:r>
          </a:p>
          <a:p xmlns:a="http://schemas.openxmlformats.org/drawingml/2006/main">
            <a:r>
              <a:t>          "layer": "자료 조회",</a:t>
            </a:r>
          </a:p>
          <a:p xmlns:a="http://schemas.openxmlformats.org/drawingml/2006/main">
            <a:r>
              <a:t>          "detail": "요청·코드 문맥",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"Gauss 모델군",</a:t>
            </a:r>
          </a:p>
          <a:p xmlns:a="http://schemas.openxmlformats.org/drawingml/2006/main">
            <a:r>
              <a:t>          "layer": "핵심 처리",</a:t>
            </a:r>
          </a:p>
          <a:p xmlns:a="http://schemas.openxmlformats.org/drawingml/2006/main">
            <a:r>
              <a:t>          "detail": "업무 유형에 맞는 Gauss 모델 기능 호출",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"코드·보안 검사",</a:t>
            </a:r>
          </a:p>
          <a:p xmlns:a="http://schemas.openxmlformats.org/drawingml/2006/main">
            <a:r>
              <a:t>          "layer": "결과 검증",</a:t>
            </a:r>
          </a:p>
          <a:p xmlns:a="http://schemas.openxmlformats.org/drawingml/2006/main">
            <a:r>
              <a:t>          "detail": "보안 검사·회귀 시험·현업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"직원·개발자 검토",</a:t>
            </a:r>
          </a:p>
          <a:p xmlns:a="http://schemas.openxmlformats.org/drawingml/2006/main">
            <a:r>
              <a:t>          "layer": "사람 확인",</a:t>
            </a:r>
          </a:p>
          <a:p xmlns:a="http://schemas.openxmlformats.org/drawingml/2006/main">
            <a:r>
              <a:t>          "detail": "일반 문서와 개발 코드를 각 업무 도구에서 작성",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"업무·코드 초안",</a:t>
            </a:r>
          </a:p>
          <a:p xmlns:a="http://schemas.openxmlformats.org/drawingml/2006/main">
            <a:r>
              <a:t>          "layer": "업무 연결",</a:t>
            </a:r>
          </a:p>
          <a:p xmlns:a="http://schemas.openxmlformats.org/drawingml/2006/main">
            <a:r>
              <a:t>          "detail": "문서·코드 초안을 현업·개발자에게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"회귀시험 환류",</a:t>
            </a:r>
          </a:p>
          <a:p xmlns:a="http://schemas.openxmlformats.org/drawingml/2006/main">
            <a:r>
              <a:t>          "layer": "운영 관측",</a:t>
            </a:r>
          </a:p>
          <a:p xmlns:a="http://schemas.openxmlformats.org/drawingml/2006/main">
            <a:r>
              <a:t>          "detail": "생성 코드 검토·보안·회귀시험 결과 환류",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"업무문서·코드",</a:t>
            </a:r>
          </a:p>
          <a:p xmlns:a="http://schemas.openxmlformats.org/drawingml/2006/main">
            <a:r>
              <a:t>          "layer": "데이터 원천",</a:t>
            </a:r>
          </a:p>
          <a:p xmlns:a="http://schemas.openxmlformats.org/drawingml/2006/main">
            <a:r>
              <a:t>          "detail": "업무·개발 문맥",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"입력 범위 정리",</a:t>
            </a:r>
          </a:p>
          <a:p xmlns:a="http://schemas.openxmlformats.org/drawingml/2006/main">
            <a:r>
              <a:t>          "layer": "준비·갱신",</a:t>
            </a:r>
          </a:p>
          <a:p xmlns:a="http://schemas.openxmlformats.org/drawingml/2006/main">
            <a:r>
              <a:t>          "detail": "업무 문서·코드 문맥의 입력 경계 구성",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"초안·시험 기록",</a:t>
            </a:r>
          </a:p>
          <a:p xmlns:a="http://schemas.openxmlformats.org/drawingml/2006/main">
            <a:r>
              <a:t>          "layer": "상태·지식 저장",</a:t>
            </a:r>
          </a:p>
          <a:p xmlns:a="http://schemas.openxmlformats.org/drawingml/2006/main">
            <a:r>
              <a:t>          "detail": "입력 경계·코드 검토·보안·회귀시험 결과",</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"업무별 이용정책",</a:t>
            </a:r>
          </a:p>
          <a:p xmlns:a="http://schemas.openxmlformats.org/drawingml/2006/main">
            <a:r>
              <a:t>          "layer": "권한·정책",</a:t>
            </a:r>
          </a:p>
          <a:p xmlns:a="http://schemas.openxmlformats.org/drawingml/2006/main">
            <a:r>
              <a:t>          "detail": "민감 코드 입력·취약 코드 생성·시험 실패",</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"포털 요청 또는 개발 도구의 코드 문맥",</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"요청·코드 문맥",</a:t>
            </a:r>
          </a:p>
          <a:p xmlns:a="http://schemas.openxmlformats.org/drawingml/2006/main">
            <a:r>
              <a:t>          "check": "보안 검사·회귀 시험·현업 검토"</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"모델 입력",</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"생성 결과",</a:t>
            </a:r>
          </a:p>
          <a:p xmlns:a="http://schemas.openxmlformats.org/drawingml/2006/main">
            <a:r>
              <a:t>          "check": "민감 코드 입력·취약 코드 생성·시험 실패"</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"생성 결과",</a:t>
            </a:r>
          </a:p>
          <a:p xmlns:a="http://schemas.openxmlformats.org/drawingml/2006/main">
            <a:r>
              <a:t>          "check": "문서·코드 초안을 현업·개발자에게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"검토·시험",</a:t>
            </a:r>
          </a:p>
          <a:p xmlns:a="http://schemas.openxmlformats.org/drawingml/2006/main">
            <a:r>
              <a:t>          "check": "입력 경계·코드 검토·보안·회귀시험 결과"</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"범용 업무 지원과 개발자 지원의 분리 / Gauss Portal·code.i·모델군",</a:t>
            </a:r>
          </a:p>
          <a:p xmlns:a="http://schemas.openxmlformats.org/drawingml/2006/main">
            <a:r>
              <a:t>        "extension": "일반 직원과 개발자의 입력 문맥·결과 검토 기준을 직무별 분리"</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"민감 코드 입력·취약 코드 생성·시험 실패",</a:t>
            </a:r>
          </a:p>
          <a:p xmlns:a="http://schemas.openxmlformats.org/drawingml/2006/main">
            <a:r>
              <a:t>        "hold": "보안 검사·회귀 시험·현업 검토",</a:t>
            </a:r>
          </a:p>
          <a:p xmlns:a="http://schemas.openxmlformats.org/drawingml/2006/main">
            <a:r>
              <a:t>        "recovery": "생성 코드 검토·보안·회귀시험 결과 환류",</a:t>
            </a:r>
          </a:p>
          <a:p xmlns:a="http://schemas.openxmlformats.org/drawingml/2006/main">
            <a:r>
              <a:t>        "evidence": "입력 경계·코드 검토·보안·회귀시험 결과"</a:t>
            </a:r>
          </a:p>
          <a:p xmlns:a="http://schemas.openxmlformats.org/drawingml/2006/main">
            <a:r>
              <a:t>      },</a:t>
            </a:r>
          </a:p>
          <a:p xmlns:a="http://schemas.openxmlformats.org/drawingml/2006/main">
            <a:r>
              <a:t>      "data": {</a:t>
            </a:r>
          </a:p>
          <a:p xmlns:a="http://schemas.openxmlformats.org/drawingml/2006/main">
            <a:r>
              <a:t>        "source": "업무·개발 문맥",</a:t>
            </a:r>
          </a:p>
          <a:p xmlns:a="http://schemas.openxmlformats.org/drawingml/2006/main">
            <a:r>
              <a:t>        "prepare": "업무 문서·코드 문맥의 입력 경계 구성",</a:t>
            </a:r>
          </a:p>
          <a:p xmlns:a="http://schemas.openxmlformats.org/drawingml/2006/main">
            <a:r>
              <a:t>        "output": "요청·코드 문맥",</a:t>
            </a:r>
          </a:p>
          <a:p xmlns:a="http://schemas.openxmlformats.org/drawingml/2006/main">
            <a:r>
              <a:t>        "refresh": "생성 코드 검토·보안·회귀시험 결과 환류"</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"PF-A06",</a:t>
            </a:r>
          </a:p>
          <a:p xmlns:a="http://schemas.openxmlformats.org/drawingml/2006/main">
            <a:r>
              <a:t>    "success": [</a:t>
            </a:r>
          </a:p>
          <a:p xmlns:a="http://schemas.openxmlformats.org/drawingml/2006/main">
            <a:r>
              <a:t>      "범용 지원과 개발 지원의 구분",</a:t>
            </a:r>
          </a:p>
          <a:p xmlns:a="http://schemas.openxmlformats.org/drawingml/2006/main">
            <a:r>
              <a:t>      "공통 모델군의 업무 도구 적용"</a:t>
            </a:r>
          </a:p>
          <a:p xmlns:a="http://schemas.openxmlformats.org/drawingml/2006/main">
            <a:r>
              <a:t>    ],</a:t>
            </a:r>
          </a:p>
          <a:p xmlns:a="http://schemas.openxmlformats.org/drawingml/2006/main">
            <a:r>
              <a:t>    "risks": [</a:t>
            </a:r>
          </a:p>
          <a:p xmlns:a="http://schemas.openxmlformats.org/drawingml/2006/main">
            <a:r>
              <a:t>      "코드 보안·품질 편차",</a:t>
            </a:r>
          </a:p>
          <a:p xmlns:a="http://schemas.openxmlformats.org/drawingml/2006/main">
            <a:r>
              <a:t>      "생성 코드의 무검토 반영"</a:t>
            </a:r>
          </a:p>
          <a:p xmlns:a="http://schemas.openxmlformats.org/drawingml/2006/main">
            <a:r>
              <a:t>    ],</a:t>
            </a:r>
          </a:p>
          <a:p xmlns:a="http://schemas.openxmlformats.org/drawingml/2006/main">
            <a:r>
              <a:t>    "architecture": [</a:t>
            </a:r>
          </a:p>
          <a:p xmlns:a="http://schemas.openxmlformats.org/drawingml/2006/main">
            <a:r>
              <a:t>      "사내 사용자",</a:t>
            </a:r>
          </a:p>
          <a:p xmlns:a="http://schemas.openxmlformats.org/drawingml/2006/main">
            <a:r>
              <a:t>      "Gauss 모델군",</a:t>
            </a:r>
          </a:p>
          <a:p xmlns:a="http://schemas.openxmlformats.org/drawingml/2006/main">
            <a:r>
              <a:t>      "업무·개발 문맥",</a:t>
            </a:r>
          </a:p>
          <a:p xmlns:a="http://schemas.openxmlformats.org/drawingml/2006/main">
            <a:r>
              <a:t>      "개발자·현업"</a:t>
            </a:r>
          </a:p>
          <a:p xmlns:a="http://schemas.openxmlformats.org/drawingml/2006/main">
            <a:r>
              <a:t>    ],</a:t>
            </a:r>
          </a:p>
          <a:p xmlns:a="http://schemas.openxmlformats.org/drawingml/2006/main">
            <a:r>
              <a:t>    "transfers": [</a:t>
            </a:r>
          </a:p>
          <a:p xmlns:a="http://schemas.openxmlformats.org/drawingml/2006/main">
            <a:r>
              <a:t>      "요청·코드 문맥",</a:t>
            </a:r>
          </a:p>
          <a:p xmlns:a="http://schemas.openxmlformats.org/drawingml/2006/main">
            <a:r>
              <a:t>      "모델 입력",</a:t>
            </a:r>
          </a:p>
          <a:p xmlns:a="http://schemas.openxmlformats.org/drawingml/2006/main">
            <a:r>
              <a:t>      "생성 결과",</a:t>
            </a:r>
          </a:p>
          <a:p xmlns:a="http://schemas.openxmlformats.org/drawingml/2006/main">
            <a:r>
              <a:t>      "검토·시험"</a:t>
            </a:r>
          </a:p>
          <a:p xmlns:a="http://schemas.openxmlformats.org/drawingml/2006/main">
            <a:r>
              <a:t>    ],</a:t>
            </a:r>
          </a:p>
          <a:p xmlns:a="http://schemas.openxmlformats.org/drawingml/2006/main">
            <a:r>
              <a:t>    "control": "보안 검사·회귀 시험·현업 검토",</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T044 / 공통모델+직무 특화 접점 https://news.samsung.com/ca/samsung-electronics-hosts-samsung-developer-conference-korea-2024-unveils-its-improved-gen-ai-model</a:t>
            </a:r>
          </a:p>
          <a:p xmlns:a="http://schemas.openxmlformats.org/drawingml/2006/main">
            <a:r>
              <a:t>홈페이지 https://heen1987-ops.github.io/TS-business-Plan-001/index.html?view=platform-cases&amp;case=PF-A06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"PF05",</a:t>
            </a:r>
          </a:p>
          <a:p xmlns:a="http://schemas.openxmlformats.org/drawingml/2006/main">
            <a:r>
              <a:t>    "sourceId": "A07",</a:t>
            </a:r>
          </a:p>
          <a:p xmlns:a="http://schemas.openxmlformats.org/drawingml/2006/main">
            <a:r>
              <a:t>    "title": "일본 정부 AI 源内",</a:t>
            </a:r>
          </a:p>
          <a:p xmlns:a="http://schemas.openxmlformats.org/drawingml/2006/main">
            <a:r>
              <a:t>    "region": "해외",</a:t>
            </a:r>
          </a:p>
          <a:p xmlns:a="http://schemas.openxmlformats.org/drawingml/2006/main">
            <a:r>
              <a:t>    "owner": "일본 디지털청",</a:t>
            </a:r>
          </a:p>
          <a:p xmlns:a="http://schemas.openxmlformats.org/drawingml/2006/main">
            <a:r>
              <a:t>    "state": "청내 운영 / 범정부 실증",</a:t>
            </a:r>
          </a:p>
          <a:p xmlns:a="http://schemas.openxmlformats.org/drawingml/2006/main">
            <a:r>
              <a:t>    "period": "2025 운영 / 2026 확산",</a:t>
            </a:r>
          </a:p>
          <a:p xmlns:a="http://schemas.openxmlformats.org/drawingml/2006/main">
            <a:r>
              <a:t>    "fact": "정부 공통 환경의 범용 AI와 업무별 앱·템플릿 구성",</a:t>
            </a:r>
          </a:p>
          <a:p xmlns:a="http://schemas.openxmlformats.org/drawingml/2006/main">
            <a:r>
              <a:t>    "limit": "청내 운영 실적과 범정부 실증 대상 규모의 분리 · 도입 인원과 생산성 구분",</a:t>
            </a:r>
          </a:p>
          <a:p xmlns:a="http://schemas.openxmlformats.org/drawingml/2006/main">
            <a:r>
              <a:t>    "nodes": [</a:t>
            </a:r>
          </a:p>
          <a:p xmlns:a="http://schemas.openxmlformats.org/drawingml/2006/main">
            <a:r>
              <a:t>      "정부 인증·접점",</a:t>
            </a:r>
          </a:p>
          <a:p xmlns:a="http://schemas.openxmlformats.org/drawingml/2006/main">
            <a:r>
              <a:t>      "공통 AI 환경",</a:t>
            </a:r>
          </a:p>
          <a:p xmlns:a="http://schemas.openxmlformats.org/drawingml/2006/main">
            <a:r>
              <a:t>      "법제·답변 업무 앱",</a:t>
            </a:r>
          </a:p>
          <a:p xmlns:a="http://schemas.openxmlformats.org/drawingml/2006/main">
            <a:r>
              <a:t>      "이용 관측·현업 개선"</a:t>
            </a:r>
          </a:p>
          <a:p xmlns:a="http://schemas.openxmlformats.org/drawingml/2006/main">
            <a:r>
              <a:t>    ],</a:t>
            </a:r>
          </a:p>
          <a:p xmlns:a="http://schemas.openxmlformats.org/drawingml/2006/main">
            <a:r>
              <a:t>    "apply": "공통 AI 운영과 현업 앱의 소유·갱신·승인 책임을 함께 정의",</a:t>
            </a:r>
          </a:p>
          <a:p xmlns:a="http://schemas.openxmlformats.org/drawingml/2006/main">
            <a:r>
              <a:t>    "delta": "기관 설정·조직 사전·업무 스킬·배포판본 관리",</a:t>
            </a:r>
          </a:p>
          <a:p xmlns:a="http://schemas.openxmlformats.org/drawingml/2006/main">
            <a:r>
              <a:t>    "test": "두 번째 부서 적용의 수정 범위·추가 공수·격리 평가",</a:t>
            </a:r>
          </a:p>
          <a:p xmlns:a="http://schemas.openxmlformats.org/drawingml/2006/main">
            <a:r>
              <a:t>    "url": "https://www.digital.go.jp/policies/genai",</a:t>
            </a:r>
          </a:p>
          <a:p xmlns:a="http://schemas.openxmlformats.org/drawingml/2006/main">
            <a:r>
              <a:t>    "basis": "운영기관 정책·서비스 공개",</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"https://www.digital.go.jp/policies/genai",</a:t>
            </a:r>
          </a:p>
          <a:p xmlns:a="http://schemas.openxmlformats.org/drawingml/2006/main">
            <a:r>
              <a:t>      "https://www.digital.go.jp/en/news/907c8e5d-2f4f-4bd7-9400-37c9f4221d7d",</a:t>
            </a:r>
          </a:p>
          <a:p xmlns:a="http://schemas.openxmlformats.org/drawingml/2006/main">
            <a:r>
              <a:t>      "https://www.digital.go.jp/assets/contents/node/information/field_ref_resources/08ded405-ca03-48c7-9b92-6b8878854a74/5147384f/20250829_news_ai_usage_report_01.pdf"</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"PF05",</a:t>
            </a:r>
          </a:p>
          <a:p xmlns:a="http://schemas.openxmlformats.org/drawingml/2006/main">
            <a:r>
              <a:t>    "canonicalId": "PF05",</a:t>
            </a:r>
          </a:p>
          <a:p xmlns:a="http://schemas.openxmlformats.org/drawingml/2006/main">
            <a:r>
              <a:t>    "purpose": "정부 공통 AI와 업무 앱의 단계적 확산",</a:t>
            </a:r>
          </a:p>
          <a:p xmlns:a="http://schemas.openxmlformats.org/drawingml/2006/main">
            <a:r>
              <a:t>    "users": "정부 직원·앱 담당·운영자",</a:t>
            </a:r>
          </a:p>
          <a:p xmlns:a="http://schemas.openxmlformats.org/drawingml/2006/main">
            <a:r>
              <a:t>    "scope": [</a:t>
            </a:r>
          </a:p>
          <a:p xmlns:a="http://schemas.openxmlformats.org/drawingml/2006/main">
            <a:r>
              <a:t>      "범용 AI",</a:t>
            </a:r>
          </a:p>
          <a:p xmlns:a="http://schemas.openxmlformats.org/drawingml/2006/main">
            <a:r>
              <a:t>      "업무 앱",</a:t>
            </a:r>
          </a:p>
          <a:p xmlns:a="http://schemas.openxmlformats.org/drawingml/2006/main">
            <a:r>
              <a:t>      "템플릿"</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"정부 사용자",</a:t>
            </a:r>
          </a:p>
          <a:p xmlns:a="http://schemas.openxmlformats.org/drawingml/2006/main">
            <a:r>
              <a:t>        "detail": "이용자·앱·업무 목적의 문맥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"범용 AI / 업무 앱 / 템플릿",</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"源内 공통 AI·앱",</a:t>
            </a:r>
          </a:p>
          <a:p xmlns:a="http://schemas.openxmlformats.org/drawingml/2006/main">
            <a:r>
              <a:t>        "detail": "공통 모델과 앱별 지식·도구 연결",</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"공무원 검토",</a:t>
            </a:r>
          </a:p>
          <a:p xmlns:a="http://schemas.openxmlformats.org/drawingml/2006/main">
            <a:r>
              <a:t>        "detail": "직원이 검토 가능한 업무 초안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"업무 문서·템플릿",</a:t>
            </a:r>
          </a:p>
          <a:p xmlns:a="http://schemas.openxmlformats.org/drawingml/2006/main">
            <a:r>
              <a:t>        "detail": "앱별 문서·템플릿·프롬프트 판본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"앱 이용·품질·개선 요청의 공통 운영",</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"정부 인증·접점",</a:t>
            </a:r>
          </a:p>
          <a:p xmlns:a="http://schemas.openxmlformats.org/drawingml/2006/main">
            <a:r>
              <a:t>        "input": "이용자·앱·업무 목적의 문맥 구성",</a:t>
            </a:r>
          </a:p>
          <a:p xmlns:a="http://schemas.openxmlformats.org/drawingml/2006/main">
            <a:r>
              <a:t>        "process": "앱별 문서·템플릿·프롬프트 판본 관리",</a:t>
            </a:r>
          </a:p>
          <a:p xmlns:a="http://schemas.openxmlformats.org/drawingml/2006/main">
            <a:r>
              <a:t>        "output": "질문·업무 선택"</a:t>
            </a:r>
          </a:p>
          <a:p xmlns:a="http://schemas.openxmlformats.org/drawingml/2006/main">
            <a:r>
              <a:t>      },</a:t>
            </a:r>
          </a:p>
          <a:p xmlns:a="http://schemas.openxmlformats.org/drawingml/2006/main">
            <a:r>
              <a:t>      {</a:t>
            </a:r>
          </a:p>
          <a:p xmlns:a="http://schemas.openxmlformats.org/drawingml/2006/main">
            <a:r>
              <a:t>        "title": "공통 AI 환경",</a:t>
            </a:r>
          </a:p>
          <a:p xmlns:a="http://schemas.openxmlformats.org/drawingml/2006/main">
            <a:r>
              <a:t>        "input": "질문·업무 선택",</a:t>
            </a:r>
          </a:p>
          <a:p xmlns:a="http://schemas.openxmlformats.org/drawingml/2006/main">
            <a:r>
              <a:t>        "process": "공통 모델과 앱별 지식·도구 연결",</a:t>
            </a:r>
          </a:p>
          <a:p xmlns:a="http://schemas.openxmlformats.org/drawingml/2006/main">
            <a:r>
              <a:t>        "output": "앱별 맥락"</a:t>
            </a:r>
          </a:p>
          <a:p xmlns:a="http://schemas.openxmlformats.org/drawingml/2006/main">
            <a:r>
              <a:t>      },</a:t>
            </a:r>
          </a:p>
          <a:p xmlns:a="http://schemas.openxmlformats.org/drawingml/2006/main">
            <a:r>
              <a:t>      {</a:t>
            </a:r>
          </a:p>
          <a:p xmlns:a="http://schemas.openxmlformats.org/drawingml/2006/main">
            <a:r>
              <a:t>        "title": "법제·답변 업무 앱",</a:t>
            </a:r>
          </a:p>
          <a:p xmlns:a="http://schemas.openxmlformats.org/drawingml/2006/main">
            <a:r>
              <a:t>        "input": "앱별 맥락",</a:t>
            </a:r>
          </a:p>
          <a:p xmlns:a="http://schemas.openxmlformats.org/drawingml/2006/main">
            <a:r>
              <a:t>        "process": "업무별 평가·기관별 데이터 경계",</a:t>
            </a:r>
          </a:p>
          <a:p xmlns:a="http://schemas.openxmlformats.org/drawingml/2006/main">
            <a:r>
              <a:t>        "output": "답변·초안"</a:t>
            </a:r>
          </a:p>
          <a:p xmlns:a="http://schemas.openxmlformats.org/drawingml/2006/main">
            <a:r>
              <a:t>      },</a:t>
            </a:r>
          </a:p>
          <a:p xmlns:a="http://schemas.openxmlformats.org/drawingml/2006/main">
            <a:r>
              <a:t>      {</a:t>
            </a:r>
          </a:p>
          <a:p xmlns:a="http://schemas.openxmlformats.org/drawingml/2006/main">
            <a:r>
              <a:t>        "title": "이용 관측·현업 개선",</a:t>
            </a:r>
          </a:p>
          <a:p xmlns:a="http://schemas.openxmlformats.org/drawingml/2006/main">
            <a:r>
              <a:t>        "input": "답변·초안",</a:t>
            </a:r>
          </a:p>
          <a:p xmlns:a="http://schemas.openxmlformats.org/drawingml/2006/main">
            <a:r>
              <a:t>        "process": "직원이 검토 가능한 업무 초안 제공",</a:t>
            </a:r>
          </a:p>
          <a:p xmlns:a="http://schemas.openxmlformats.org/drawingml/2006/main">
            <a:r>
              <a:t>        "output": "이용·품질 기록"</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"현업 앱에서 승인된 지식과 템플릿으로 초안 작성",</a:t>
            </a:r>
          </a:p>
          <a:p xmlns:a="http://schemas.openxmlformats.org/drawingml/2006/main">
            <a:r>
              <a:t>      "exception": "앱 간 문서 혼입·구판 템플릿·담당자 변경",</a:t>
            </a:r>
          </a:p>
          <a:p xmlns:a="http://schemas.openxmlformats.org/drawingml/2006/main">
            <a:r>
              <a:t>      "evidence": "앱·판본·소관별 결과와 갱신·승인 기록",</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"정부 직원·앱 담당·운영자",</a:t>
            </a:r>
          </a:p>
          <a:p xmlns:a="http://schemas.openxmlformats.org/drawingml/2006/main">
            <a:r>
              <a:t>          "processing": "이용자·앱·업무 목적의 문맥 구성",</a:t>
            </a:r>
          </a:p>
          <a:p xmlns:a="http://schemas.openxmlformats.org/drawingml/2006/main">
            <a:r>
              <a:t>          "output": "질문·업무 선택"</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"업무 문서·템플릿",</a:t>
            </a:r>
          </a:p>
          <a:p xmlns:a="http://schemas.openxmlformats.org/drawingml/2006/main">
            <a:r>
              <a:t>          "processing": "앱별 문서·템플릿·프롬프트 판본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"질문·업무 선택",</a:t>
            </a:r>
          </a:p>
          <a:p xmlns:a="http://schemas.openxmlformats.org/drawingml/2006/main">
            <a:r>
              <a:t>          "processing": "공통 모델과 앱별 지식·도구 연결",</a:t>
            </a:r>
          </a:p>
          <a:p xmlns:a="http://schemas.openxmlformats.org/drawingml/2006/main">
            <a:r>
              <a:t>          "output": "답변·초안"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"답변·초안",</a:t>
            </a:r>
          </a:p>
          <a:p xmlns:a="http://schemas.openxmlformats.org/drawingml/2006/main">
            <a:r>
              <a:t>          "processing": "직원이 검토 가능한 업무 초안 제공",</a:t>
            </a:r>
          </a:p>
          <a:p xmlns:a="http://schemas.openxmlformats.org/drawingml/2006/main">
            <a:r>
              <a:t>          "output": "이용·품질 기록"</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"앱 이용·품질·개선 요청의 공통 운영",</a:t>
            </a:r>
          </a:p>
          <a:p xmlns:a="http://schemas.openxmlformats.org/drawingml/2006/main">
            <a:r>
              <a:t>          "output": "앱·판본·소관별 결과와 갱신·승인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"앱 이용·품질·개선 요청의 공통 운영",</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"운영기관 정책·서비스 공개",</a:t>
            </a:r>
          </a:p>
          <a:p xmlns:a="http://schemas.openxmlformats.org/drawingml/2006/main">
            <a:r>
              <a:t>        "url": "https://www.digital.go.jp/policies/genai"</a:t>
            </a:r>
          </a:p>
          <a:p xmlns:a="http://schemas.openxmlformats.org/drawingml/2006/main">
            <a:r>
              <a:t>      }</a:t>
            </a:r>
          </a:p>
          <a:p xmlns:a="http://schemas.openxmlformats.org/drawingml/2006/main">
            <a:r>
              <a:t>    ],</a:t>
            </a:r>
          </a:p>
          <a:p xmlns:a="http://schemas.openxmlformats.org/drawingml/2006/main">
            <a:r>
              <a:t>    "implication": "공통 AI 운영과 현업 앱의 소유·갱신·승인 책임을 함께 정의",</a:t>
            </a:r>
          </a:p>
          <a:p xmlns:a="http://schemas.openxmlformats.org/drawingml/2006/main">
            <a:r>
              <a:t>    "local": "공통 AI 운영과 현업 앱의 소유·갱신·승인 책임을 함께 정의",</a:t>
            </a:r>
          </a:p>
          <a:p xmlns:a="http://schemas.openxmlformats.org/drawingml/2006/main">
            <a:r>
              <a:t>    "sourceDetail": null,</a:t>
            </a:r>
          </a:p>
          <a:p xmlns:a="http://schemas.openxmlformats.org/drawingml/2006/main">
            <a:r>
              <a:t>    "narrative": [</a:t>
            </a:r>
          </a:p>
          <a:p xmlns:a="http://schemas.openxmlformats.org/drawingml/2006/main">
            <a:r>
              <a:t>      "일본 정부 AI 源内의 공통 AI 도구와 업무 앱 확산 사례. 범용 도구 제공과 특정 업무를 수행하는 앱 개발을 함께 운영해 직원의 활용 진입점과 기관별 확장 경로를 마련하는 접근.",</a:t>
            </a:r>
          </a:p>
          <a:p xmlns:a="http://schemas.openxmlformats.org/drawingml/2006/main">
            <a:r>
              <a:t>      "공통 계정·모델 접근 계층 위에 업무 앱·지식·템플릿을 연결하는 논리 구성. 앱별 소유자, 사용 가능한 자료, 입력 형식, 출력 검토 절차를 정의하고 공통 운영에서 이용·오류·비용을 관찰하는 구조.",</a:t>
            </a:r>
          </a:p>
          <a:p xmlns:a="http://schemas.openxmlformats.org/drawingml/2006/main">
            <a:r>
              <a:t>      "TS의 AI혁신처는 공통 접속·권한·관측 기반을 담당하고 각 부서는 업무 지식과 결과물의 책임을 담당하는 운영 참고. 공통 기반 검수와 업무 앱 검수를 분리해 부서 확장 때 반복 구축을 줄이는 방식의 적용."</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"정부 업무 접점",</a:t>
            </a:r>
          </a:p>
          <a:p xmlns:a="http://schemas.openxmlformats.org/drawingml/2006/main">
            <a:r>
              <a:t>          "layer": "이용 접점",</a:t>
            </a:r>
          </a:p>
          <a:p xmlns:a="http://schemas.openxmlformats.org/drawingml/2006/main">
            <a:r>
              <a:t>          "detail": "정부 직원·앱 담당·운영자",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"앱·업무 목적",</a:t>
            </a:r>
          </a:p>
          <a:p xmlns:a="http://schemas.openxmlformats.org/drawingml/2006/main">
            <a:r>
              <a:t>          "layer": "업무 문맥",</a:t>
            </a:r>
          </a:p>
          <a:p xmlns:a="http://schemas.openxmlformats.org/drawingml/2006/main">
            <a:r>
              <a:t>          "detail": "이용자·앱·업무 목적의 문맥 구성",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"앱 지식 검색",</a:t>
            </a:r>
          </a:p>
          <a:p xmlns:a="http://schemas.openxmlformats.org/drawingml/2006/main">
            <a:r>
              <a:t>          "layer": "자료 조회",</a:t>
            </a:r>
          </a:p>
          <a:p xmlns:a="http://schemas.openxmlformats.org/drawingml/2006/main">
            <a:r>
              <a:t>          "detail": "질문·업무 선택",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"源内 공통 AI",</a:t>
            </a:r>
          </a:p>
          <a:p xmlns:a="http://schemas.openxmlformats.org/drawingml/2006/main">
            <a:r>
              <a:t>          "layer": "핵심 처리",</a:t>
            </a:r>
          </a:p>
          <a:p xmlns:a="http://schemas.openxmlformats.org/drawingml/2006/main">
            <a:r>
              <a:t>          "detail": "공통 모델과 앱별 지식·도구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"근거·용도 검사",</a:t>
            </a:r>
          </a:p>
          <a:p xmlns:a="http://schemas.openxmlformats.org/drawingml/2006/main">
            <a:r>
              <a:t>          "layer": "결과 검증",</a:t>
            </a:r>
          </a:p>
          <a:p xmlns:a="http://schemas.openxmlformats.org/drawingml/2006/main">
            <a:r>
              <a:t>          "detail": "업무별 평가·기관별 데이터 경계",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"공무원 확인",</a:t>
            </a:r>
          </a:p>
          <a:p xmlns:a="http://schemas.openxmlformats.org/drawingml/2006/main">
            <a:r>
              <a:t>          "layer": "사람 확인",</a:t>
            </a:r>
          </a:p>
          <a:p xmlns:a="http://schemas.openxmlformats.org/drawingml/2006/main">
            <a:r>
              <a:t>          "detail": "현업 앱에서 승인된 지식과 템플릿으로 초안 작성",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"업무 앱 결과",</a:t>
            </a:r>
          </a:p>
          <a:p xmlns:a="http://schemas.openxmlformats.org/drawingml/2006/main">
            <a:r>
              <a:t>          "layer": "업무 연결",</a:t>
            </a:r>
          </a:p>
          <a:p xmlns:a="http://schemas.openxmlformats.org/drawingml/2006/main">
            <a:r>
              <a:t>          "detail": "직원이 검토 가능한 업무 초안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"앱별 품질 관측",</a:t>
            </a:r>
          </a:p>
          <a:p xmlns:a="http://schemas.openxmlformats.org/drawingml/2006/main">
            <a:r>
              <a:t>          "layer": "운영 관측",</a:t>
            </a:r>
          </a:p>
          <a:p xmlns:a="http://schemas.openxmlformats.org/drawingml/2006/main">
            <a:r>
              <a:t>          "detail": "앱 이용·품질·개선 요청의 공통 운영",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"문서·템플릿",</a:t>
            </a:r>
          </a:p>
          <a:p xmlns:a="http://schemas.openxmlformats.org/drawingml/2006/main">
            <a:r>
              <a:t>          "layer": "데이터 원천",</a:t>
            </a:r>
          </a:p>
          <a:p xmlns:a="http://schemas.openxmlformats.org/drawingml/2006/main">
            <a:r>
              <a:t>          "detail": "업무 문서·템플릿",</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"판본·소유부서 정리",</a:t>
            </a:r>
          </a:p>
          <a:p xmlns:a="http://schemas.openxmlformats.org/drawingml/2006/main">
            <a:r>
              <a:t>          "layer": "준비·갱신",</a:t>
            </a:r>
          </a:p>
          <a:p xmlns:a="http://schemas.openxmlformats.org/drawingml/2006/main">
            <a:r>
              <a:t>          "detail": "앱별 문서·템플릿·프롬프트 판본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"앱별 지식",</a:t>
            </a:r>
          </a:p>
          <a:p xmlns:a="http://schemas.openxmlformats.org/drawingml/2006/main">
            <a:r>
              <a:t>          "layer": "상태·지식 저장",</a:t>
            </a:r>
          </a:p>
          <a:p xmlns:a="http://schemas.openxmlformats.org/drawingml/2006/main">
            <a:r>
              <a:t>          "detail": "앱·판본·소관별 결과와 갱신·승인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"기관별 이용정책",</a:t>
            </a:r>
          </a:p>
          <a:p xmlns:a="http://schemas.openxmlformats.org/drawingml/2006/main">
            <a:r>
              <a:t>          "layer": "권한·정책",</a:t>
            </a:r>
          </a:p>
          <a:p xmlns:a="http://schemas.openxmlformats.org/drawingml/2006/main">
            <a:r>
              <a:t>          "detail": "앱 간 문서 혼입·구판 템플릿·담당자 변경",</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"이용자·앱·업무 목적의 문맥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"질문·업무 선택",</a:t>
            </a:r>
          </a:p>
          <a:p xmlns:a="http://schemas.openxmlformats.org/drawingml/2006/main">
            <a:r>
              <a:t>          "check": "업무별 평가·기관별 데이터 경계"</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"앱별 맥락",</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"답변·초안",</a:t>
            </a:r>
          </a:p>
          <a:p xmlns:a="http://schemas.openxmlformats.org/drawingml/2006/main">
            <a:r>
              <a:t>          "check": "앱 간 문서 혼입·구판 템플릿·담당자 변경"</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"답변·초안",</a:t>
            </a:r>
          </a:p>
          <a:p xmlns:a="http://schemas.openxmlformats.org/drawingml/2006/main">
            <a:r>
              <a:t>          "check": "직원이 검토 가능한 업무 초안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"이용·품질 기록",</a:t>
            </a:r>
          </a:p>
          <a:p xmlns:a="http://schemas.openxmlformats.org/drawingml/2006/main">
            <a:r>
              <a:t>          "check": "앱·판본·소관별 결과와 갱신·승인 기록"</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"정부 공통 AI와 업무 앱의 단계적 확산 / 범용 AI·업무 앱·템플릿",</a:t>
            </a:r>
          </a:p>
          <a:p xmlns:a="http://schemas.openxmlformats.org/drawingml/2006/main">
            <a:r>
              <a:t>        "extension": "공통 AI 운영과 현업 앱의 소유·갱신·승인 책임을 함께 정의"</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"앱 간 문서 혼입·구판 템플릿·담당자 변경",</a:t>
            </a:r>
          </a:p>
          <a:p xmlns:a="http://schemas.openxmlformats.org/drawingml/2006/main">
            <a:r>
              <a:t>        "hold": "업무별 평가·기관별 데이터 경계",</a:t>
            </a:r>
          </a:p>
          <a:p xmlns:a="http://schemas.openxmlformats.org/drawingml/2006/main">
            <a:r>
              <a:t>        "recovery": "앱 이용·품질·개선 요청의 공통 운영",</a:t>
            </a:r>
          </a:p>
          <a:p xmlns:a="http://schemas.openxmlformats.org/drawingml/2006/main">
            <a:r>
              <a:t>        "evidence": "앱·판본·소관별 결과와 갱신·승인 기록"</a:t>
            </a:r>
          </a:p>
          <a:p xmlns:a="http://schemas.openxmlformats.org/drawingml/2006/main">
            <a:r>
              <a:t>      },</a:t>
            </a:r>
          </a:p>
          <a:p xmlns:a="http://schemas.openxmlformats.org/drawingml/2006/main">
            <a:r>
              <a:t>      "data": {</a:t>
            </a:r>
          </a:p>
          <a:p xmlns:a="http://schemas.openxmlformats.org/drawingml/2006/main">
            <a:r>
              <a:t>        "source": "업무 문서·템플릿",</a:t>
            </a:r>
          </a:p>
          <a:p xmlns:a="http://schemas.openxmlformats.org/drawingml/2006/main">
            <a:r>
              <a:t>        "prepare": "앱별 문서·템플릿·프롬프트 판본 관리",</a:t>
            </a:r>
          </a:p>
          <a:p xmlns:a="http://schemas.openxmlformats.org/drawingml/2006/main">
            <a:r>
              <a:t>        "output": "질문·업무 선택",</a:t>
            </a:r>
          </a:p>
          <a:p xmlns:a="http://schemas.openxmlformats.org/drawingml/2006/main">
            <a:r>
              <a:t>        "refresh": "앱 이용·품질·개선 요청의 공통 운영"</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"PF05",</a:t>
            </a:r>
          </a:p>
          <a:p xmlns:a="http://schemas.openxmlformats.org/drawingml/2006/main">
            <a:r>
              <a:t>    "success": [</a:t>
            </a:r>
          </a:p>
          <a:p xmlns:a="http://schemas.openxmlformats.org/drawingml/2006/main">
            <a:r>
              <a:t>      "정부 공통 환경과 업무 앱의 결합",</a:t>
            </a:r>
          </a:p>
          <a:p xmlns:a="http://schemas.openxmlformats.org/drawingml/2006/main">
            <a:r>
              <a:t>      "템플릿·이용 관측을 통한 개선"</a:t>
            </a:r>
          </a:p>
          <a:p xmlns:a="http://schemas.openxmlformats.org/drawingml/2006/main">
            <a:r>
              <a:t>    ],</a:t>
            </a:r>
          </a:p>
          <a:p xmlns:a="http://schemas.openxmlformats.org/drawingml/2006/main">
            <a:r>
              <a:t>    "risks": [</a:t>
            </a:r>
          </a:p>
          <a:p xmlns:a="http://schemas.openxmlformats.org/drawingml/2006/main">
            <a:r>
              <a:t>      "기관별 규정·문서 경계 차이",</a:t>
            </a:r>
          </a:p>
          <a:p xmlns:a="http://schemas.openxmlformats.org/drawingml/2006/main">
            <a:r>
              <a:t>      "청내 운영 결과의 범정부 일반화"</a:t>
            </a:r>
          </a:p>
          <a:p xmlns:a="http://schemas.openxmlformats.org/drawingml/2006/main">
            <a:r>
              <a:t>    ],</a:t>
            </a:r>
          </a:p>
          <a:p xmlns:a="http://schemas.openxmlformats.org/drawingml/2006/main">
            <a:r>
              <a:t>    "architecture": [</a:t>
            </a:r>
          </a:p>
          <a:p xmlns:a="http://schemas.openxmlformats.org/drawingml/2006/main">
            <a:r>
              <a:t>      "정부 사용자",</a:t>
            </a:r>
          </a:p>
          <a:p xmlns:a="http://schemas.openxmlformats.org/drawingml/2006/main">
            <a:r>
              <a:t>      "源内 공통 AI·앱",</a:t>
            </a:r>
          </a:p>
          <a:p xmlns:a="http://schemas.openxmlformats.org/drawingml/2006/main">
            <a:r>
              <a:t>      "업무 문서·템플릿",</a:t>
            </a:r>
          </a:p>
          <a:p xmlns:a="http://schemas.openxmlformats.org/drawingml/2006/main">
            <a:r>
              <a:t>      "공무원 검토"</a:t>
            </a:r>
          </a:p>
          <a:p xmlns:a="http://schemas.openxmlformats.org/drawingml/2006/main">
            <a:r>
              <a:t>    ],</a:t>
            </a:r>
          </a:p>
          <a:p xmlns:a="http://schemas.openxmlformats.org/drawingml/2006/main">
            <a:r>
              <a:t>    "transfers": [</a:t>
            </a:r>
          </a:p>
          <a:p xmlns:a="http://schemas.openxmlformats.org/drawingml/2006/main">
            <a:r>
              <a:t>      "질문·업무 선택",</a:t>
            </a:r>
          </a:p>
          <a:p xmlns:a="http://schemas.openxmlformats.org/drawingml/2006/main">
            <a:r>
              <a:t>      "앱별 맥락",</a:t>
            </a:r>
          </a:p>
          <a:p xmlns:a="http://schemas.openxmlformats.org/drawingml/2006/main">
            <a:r>
              <a:t>      "답변·초안",</a:t>
            </a:r>
          </a:p>
          <a:p xmlns:a="http://schemas.openxmlformats.org/drawingml/2006/main">
            <a:r>
              <a:t>      "이용·품질 기록"</a:t>
            </a:r>
          </a:p>
          <a:p xmlns:a="http://schemas.openxmlformats.org/drawingml/2006/main">
            <a:r>
              <a:t>    ],</a:t>
            </a:r>
          </a:p>
          <a:p xmlns:a="http://schemas.openxmlformats.org/drawingml/2006/main">
            <a:r>
              <a:t>    "control": "업무별 평가·기관별 데이터 경계",</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운영기관 정책·서비스 공개 https://www.digital.go.jp/policies/genai</a:t>
            </a:r>
          </a:p>
          <a:p xmlns:a="http://schemas.openxmlformats.org/drawingml/2006/main">
            <a:r>
              <a:t>홈페이지 https://heen1987-ops.github.io/TS-business-Plan-001/index.html?view=platform-cases&amp;case=PF05</a:t>
            </a:r>
          </a:p>
          <a:p xmlns:a="http://schemas.openxmlformats.org/drawingml/2006/main">
            <a:r>
              <a:t>한계: 청내 운영 실적과 범정부 실증 대상 규모의 분리 · 도입 인원과 생산성 구분</a:t>
            </a:r>
          </a:p>
          <a:p xmlns:a="http://schemas.openxmlformats.org/drawingml/2006/main">
            <a:r>
              <a:t>실패 위험: 기관별 규정·문서 경계 차이 / 청내 운영 결과의 범정부 일반화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"PF05",</a:t>
            </a:r>
          </a:p>
          <a:p xmlns:a="http://schemas.openxmlformats.org/drawingml/2006/main">
            <a:r>
              <a:t>    "sourceId": "A07",</a:t>
            </a:r>
          </a:p>
          <a:p xmlns:a="http://schemas.openxmlformats.org/drawingml/2006/main">
            <a:r>
              <a:t>    "title": "일본 정부 AI 源内",</a:t>
            </a:r>
          </a:p>
          <a:p xmlns:a="http://schemas.openxmlformats.org/drawingml/2006/main">
            <a:r>
              <a:t>    "region": "해외",</a:t>
            </a:r>
          </a:p>
          <a:p xmlns:a="http://schemas.openxmlformats.org/drawingml/2006/main">
            <a:r>
              <a:t>    "owner": "일본 디지털청",</a:t>
            </a:r>
          </a:p>
          <a:p xmlns:a="http://schemas.openxmlformats.org/drawingml/2006/main">
            <a:r>
              <a:t>    "state": "청내 운영 / 범정부 실증",</a:t>
            </a:r>
          </a:p>
          <a:p xmlns:a="http://schemas.openxmlformats.org/drawingml/2006/main">
            <a:r>
              <a:t>    "period": "2025 운영 / 2026 확산",</a:t>
            </a:r>
          </a:p>
          <a:p xmlns:a="http://schemas.openxmlformats.org/drawingml/2006/main">
            <a:r>
              <a:t>    "fact": "정부 공통 환경의 범용 AI와 업무별 앱·템플릿 구성",</a:t>
            </a:r>
          </a:p>
          <a:p xmlns:a="http://schemas.openxmlformats.org/drawingml/2006/main">
            <a:r>
              <a:t>    "limit": "청내 운영 실적과 범정부 실증 대상 규모의 분리 · 도입 인원과 생산성 구분",</a:t>
            </a:r>
          </a:p>
          <a:p xmlns:a="http://schemas.openxmlformats.org/drawingml/2006/main">
            <a:r>
              <a:t>    "nodes": [</a:t>
            </a:r>
          </a:p>
          <a:p xmlns:a="http://schemas.openxmlformats.org/drawingml/2006/main">
            <a:r>
              <a:t>      "정부 인증·접점",</a:t>
            </a:r>
          </a:p>
          <a:p xmlns:a="http://schemas.openxmlformats.org/drawingml/2006/main">
            <a:r>
              <a:t>      "공통 AI 환경",</a:t>
            </a:r>
          </a:p>
          <a:p xmlns:a="http://schemas.openxmlformats.org/drawingml/2006/main">
            <a:r>
              <a:t>      "법제·답변 업무 앱",</a:t>
            </a:r>
          </a:p>
          <a:p xmlns:a="http://schemas.openxmlformats.org/drawingml/2006/main">
            <a:r>
              <a:t>      "이용 관측·현업 개선"</a:t>
            </a:r>
          </a:p>
          <a:p xmlns:a="http://schemas.openxmlformats.org/drawingml/2006/main">
            <a:r>
              <a:t>    ],</a:t>
            </a:r>
          </a:p>
          <a:p xmlns:a="http://schemas.openxmlformats.org/drawingml/2006/main">
            <a:r>
              <a:t>    "apply": "공통 AI 운영과 현업 앱의 소유·갱신·승인 책임을 함께 정의",</a:t>
            </a:r>
          </a:p>
          <a:p xmlns:a="http://schemas.openxmlformats.org/drawingml/2006/main">
            <a:r>
              <a:t>    "delta": "기관 설정·조직 사전·업무 스킬·배포판본 관리",</a:t>
            </a:r>
          </a:p>
          <a:p xmlns:a="http://schemas.openxmlformats.org/drawingml/2006/main">
            <a:r>
              <a:t>    "test": "두 번째 부서 적용의 수정 범위·추가 공수·격리 평가",</a:t>
            </a:r>
          </a:p>
          <a:p xmlns:a="http://schemas.openxmlformats.org/drawingml/2006/main">
            <a:r>
              <a:t>    "url": "https://www.digital.go.jp/policies/genai",</a:t>
            </a:r>
          </a:p>
          <a:p xmlns:a="http://schemas.openxmlformats.org/drawingml/2006/main">
            <a:r>
              <a:t>    "basis": "운영기관 정책·서비스 공개",</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"https://www.digital.go.jp/policies/genai",</a:t>
            </a:r>
          </a:p>
          <a:p xmlns:a="http://schemas.openxmlformats.org/drawingml/2006/main">
            <a:r>
              <a:t>      "https://www.digital.go.jp/en/news/907c8e5d-2f4f-4bd7-9400-37c9f4221d7d",</a:t>
            </a:r>
          </a:p>
          <a:p xmlns:a="http://schemas.openxmlformats.org/drawingml/2006/main">
            <a:r>
              <a:t>      "https://www.digital.go.jp/assets/contents/node/information/field_ref_resources/08ded405-ca03-48c7-9b92-6b8878854a74/5147384f/20250829_news_ai_usage_report_01.pdf"</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"PF05",</a:t>
            </a:r>
          </a:p>
          <a:p xmlns:a="http://schemas.openxmlformats.org/drawingml/2006/main">
            <a:r>
              <a:t>    "canonicalId": "PF05",</a:t>
            </a:r>
          </a:p>
          <a:p xmlns:a="http://schemas.openxmlformats.org/drawingml/2006/main">
            <a:r>
              <a:t>    "purpose": "정부 공통 AI와 업무 앱의 단계적 확산",</a:t>
            </a:r>
          </a:p>
          <a:p xmlns:a="http://schemas.openxmlformats.org/drawingml/2006/main">
            <a:r>
              <a:t>    "users": "정부 직원·앱 담당·운영자",</a:t>
            </a:r>
          </a:p>
          <a:p xmlns:a="http://schemas.openxmlformats.org/drawingml/2006/main">
            <a:r>
              <a:t>    "scope": [</a:t>
            </a:r>
          </a:p>
          <a:p xmlns:a="http://schemas.openxmlformats.org/drawingml/2006/main">
            <a:r>
              <a:t>      "범용 AI",</a:t>
            </a:r>
          </a:p>
          <a:p xmlns:a="http://schemas.openxmlformats.org/drawingml/2006/main">
            <a:r>
              <a:t>      "업무 앱",</a:t>
            </a:r>
          </a:p>
          <a:p xmlns:a="http://schemas.openxmlformats.org/drawingml/2006/main">
            <a:r>
              <a:t>      "템플릿"</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"정부 사용자",</a:t>
            </a:r>
          </a:p>
          <a:p xmlns:a="http://schemas.openxmlformats.org/drawingml/2006/main">
            <a:r>
              <a:t>        "detail": "이용자·앱·업무 목적의 문맥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"범용 AI / 업무 앱 / 템플릿",</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"源内 공통 AI·앱",</a:t>
            </a:r>
          </a:p>
          <a:p xmlns:a="http://schemas.openxmlformats.org/drawingml/2006/main">
            <a:r>
              <a:t>        "detail": "공통 모델과 앱별 지식·도구 연결",</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"공무원 검토",</a:t>
            </a:r>
          </a:p>
          <a:p xmlns:a="http://schemas.openxmlformats.org/drawingml/2006/main">
            <a:r>
              <a:t>        "detail": "직원이 검토 가능한 업무 초안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"업무 문서·템플릿",</a:t>
            </a:r>
          </a:p>
          <a:p xmlns:a="http://schemas.openxmlformats.org/drawingml/2006/main">
            <a:r>
              <a:t>        "detail": "앱별 문서·템플릿·프롬프트 판본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"앱 이용·품질·개선 요청의 공통 운영",</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"정부 인증·접점",</a:t>
            </a:r>
          </a:p>
          <a:p xmlns:a="http://schemas.openxmlformats.org/drawingml/2006/main">
            <a:r>
              <a:t>        "input": "이용자·앱·업무 목적의 문맥 구성",</a:t>
            </a:r>
          </a:p>
          <a:p xmlns:a="http://schemas.openxmlformats.org/drawingml/2006/main">
            <a:r>
              <a:t>        "process": "앱별 문서·템플릿·프롬프트 판본 관리",</a:t>
            </a:r>
          </a:p>
          <a:p xmlns:a="http://schemas.openxmlformats.org/drawingml/2006/main">
            <a:r>
              <a:t>        "output": "질문·업무 선택"</a:t>
            </a:r>
          </a:p>
          <a:p xmlns:a="http://schemas.openxmlformats.org/drawingml/2006/main">
            <a:r>
              <a:t>      },</a:t>
            </a:r>
          </a:p>
          <a:p xmlns:a="http://schemas.openxmlformats.org/drawingml/2006/main">
            <a:r>
              <a:t>      {</a:t>
            </a:r>
          </a:p>
          <a:p xmlns:a="http://schemas.openxmlformats.org/drawingml/2006/main">
            <a:r>
              <a:t>        "title": "공통 AI 환경",</a:t>
            </a:r>
          </a:p>
          <a:p xmlns:a="http://schemas.openxmlformats.org/drawingml/2006/main">
            <a:r>
              <a:t>        "input": "질문·업무 선택",</a:t>
            </a:r>
          </a:p>
          <a:p xmlns:a="http://schemas.openxmlformats.org/drawingml/2006/main">
            <a:r>
              <a:t>        "process": "공통 모델과 앱별 지식·도구 연결",</a:t>
            </a:r>
          </a:p>
          <a:p xmlns:a="http://schemas.openxmlformats.org/drawingml/2006/main">
            <a:r>
              <a:t>        "output": "앱별 맥락"</a:t>
            </a:r>
          </a:p>
          <a:p xmlns:a="http://schemas.openxmlformats.org/drawingml/2006/main">
            <a:r>
              <a:t>      },</a:t>
            </a:r>
          </a:p>
          <a:p xmlns:a="http://schemas.openxmlformats.org/drawingml/2006/main">
            <a:r>
              <a:t>      {</a:t>
            </a:r>
          </a:p>
          <a:p xmlns:a="http://schemas.openxmlformats.org/drawingml/2006/main">
            <a:r>
              <a:t>        "title": "법제·답변 업무 앱",</a:t>
            </a:r>
          </a:p>
          <a:p xmlns:a="http://schemas.openxmlformats.org/drawingml/2006/main">
            <a:r>
              <a:t>        "input": "앱별 맥락",</a:t>
            </a:r>
          </a:p>
          <a:p xmlns:a="http://schemas.openxmlformats.org/drawingml/2006/main">
            <a:r>
              <a:t>        "process": "업무별 평가·기관별 데이터 경계",</a:t>
            </a:r>
          </a:p>
          <a:p xmlns:a="http://schemas.openxmlformats.org/drawingml/2006/main">
            <a:r>
              <a:t>        "output": "답변·초안"</a:t>
            </a:r>
          </a:p>
          <a:p xmlns:a="http://schemas.openxmlformats.org/drawingml/2006/main">
            <a:r>
              <a:t>      },</a:t>
            </a:r>
          </a:p>
          <a:p xmlns:a="http://schemas.openxmlformats.org/drawingml/2006/main">
            <a:r>
              <a:t>      {</a:t>
            </a:r>
          </a:p>
          <a:p xmlns:a="http://schemas.openxmlformats.org/drawingml/2006/main">
            <a:r>
              <a:t>        "title": "이용 관측·현업 개선",</a:t>
            </a:r>
          </a:p>
          <a:p xmlns:a="http://schemas.openxmlformats.org/drawingml/2006/main">
            <a:r>
              <a:t>        "input": "답변·초안",</a:t>
            </a:r>
          </a:p>
          <a:p xmlns:a="http://schemas.openxmlformats.org/drawingml/2006/main">
            <a:r>
              <a:t>        "process": "직원이 검토 가능한 업무 초안 제공",</a:t>
            </a:r>
          </a:p>
          <a:p xmlns:a="http://schemas.openxmlformats.org/drawingml/2006/main">
            <a:r>
              <a:t>        "output": "이용·품질 기록"</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"현업 앱에서 승인된 지식과 템플릿으로 초안 작성",</a:t>
            </a:r>
          </a:p>
          <a:p xmlns:a="http://schemas.openxmlformats.org/drawingml/2006/main">
            <a:r>
              <a:t>      "exception": "앱 간 문서 혼입·구판 템플릿·담당자 변경",</a:t>
            </a:r>
          </a:p>
          <a:p xmlns:a="http://schemas.openxmlformats.org/drawingml/2006/main">
            <a:r>
              <a:t>      "evidence": "앱·판본·소관별 결과와 갱신·승인 기록",</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"정부 직원·앱 담당·운영자",</a:t>
            </a:r>
          </a:p>
          <a:p xmlns:a="http://schemas.openxmlformats.org/drawingml/2006/main">
            <a:r>
              <a:t>          "processing": "이용자·앱·업무 목적의 문맥 구성",</a:t>
            </a:r>
          </a:p>
          <a:p xmlns:a="http://schemas.openxmlformats.org/drawingml/2006/main">
            <a:r>
              <a:t>          "output": "질문·업무 선택"</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"업무 문서·템플릿",</a:t>
            </a:r>
          </a:p>
          <a:p xmlns:a="http://schemas.openxmlformats.org/drawingml/2006/main">
            <a:r>
              <a:t>          "processing": "앱별 문서·템플릿·프롬프트 판본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"질문·업무 선택",</a:t>
            </a:r>
          </a:p>
          <a:p xmlns:a="http://schemas.openxmlformats.org/drawingml/2006/main">
            <a:r>
              <a:t>          "processing": "공통 모델과 앱별 지식·도구 연결",</a:t>
            </a:r>
          </a:p>
          <a:p xmlns:a="http://schemas.openxmlformats.org/drawingml/2006/main">
            <a:r>
              <a:t>          "output": "답변·초안"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"답변·초안",</a:t>
            </a:r>
          </a:p>
          <a:p xmlns:a="http://schemas.openxmlformats.org/drawingml/2006/main">
            <a:r>
              <a:t>          "processing": "직원이 검토 가능한 업무 초안 제공",</a:t>
            </a:r>
          </a:p>
          <a:p xmlns:a="http://schemas.openxmlformats.org/drawingml/2006/main">
            <a:r>
              <a:t>          "output": "이용·품질 기록"</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"앱 이용·품질·개선 요청의 공통 운영",</a:t>
            </a:r>
          </a:p>
          <a:p xmlns:a="http://schemas.openxmlformats.org/drawingml/2006/main">
            <a:r>
              <a:t>          "output": "앱·판본·소관별 결과와 갱신·승인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"앱 이용·품질·개선 요청의 공통 운영",</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"운영기관 정책·서비스 공개",</a:t>
            </a:r>
          </a:p>
          <a:p xmlns:a="http://schemas.openxmlformats.org/drawingml/2006/main">
            <a:r>
              <a:t>        "url": "https://www.digital.go.jp/policies/genai"</a:t>
            </a:r>
          </a:p>
          <a:p xmlns:a="http://schemas.openxmlformats.org/drawingml/2006/main">
            <a:r>
              <a:t>      }</a:t>
            </a:r>
          </a:p>
          <a:p xmlns:a="http://schemas.openxmlformats.org/drawingml/2006/main">
            <a:r>
              <a:t>    ],</a:t>
            </a:r>
          </a:p>
          <a:p xmlns:a="http://schemas.openxmlformats.org/drawingml/2006/main">
            <a:r>
              <a:t>    "implication": "공통 AI 운영과 현업 앱의 소유·갱신·승인 책임을 함께 정의",</a:t>
            </a:r>
          </a:p>
          <a:p xmlns:a="http://schemas.openxmlformats.org/drawingml/2006/main">
            <a:r>
              <a:t>    "local": "공통 AI 운영과 현업 앱의 소유·갱신·승인 책임을 함께 정의",</a:t>
            </a:r>
          </a:p>
          <a:p xmlns:a="http://schemas.openxmlformats.org/drawingml/2006/main">
            <a:r>
              <a:t>    "sourceDetail": null,</a:t>
            </a:r>
          </a:p>
          <a:p xmlns:a="http://schemas.openxmlformats.org/drawingml/2006/main">
            <a:r>
              <a:t>    "narrative": [</a:t>
            </a:r>
          </a:p>
          <a:p xmlns:a="http://schemas.openxmlformats.org/drawingml/2006/main">
            <a:r>
              <a:t>      "일본 정부 AI 源内의 공통 AI 도구와 업무 앱 확산 사례. 범용 도구 제공과 특정 업무를 수행하는 앱 개발을 함께 운영해 직원의 활용 진입점과 기관별 확장 경로를 마련하는 접근.",</a:t>
            </a:r>
          </a:p>
          <a:p xmlns:a="http://schemas.openxmlformats.org/drawingml/2006/main">
            <a:r>
              <a:t>      "공통 계정·모델 접근 계층 위에 업무 앱·지식·템플릿을 연결하는 논리 구성. 앱별 소유자, 사용 가능한 자료, 입력 형식, 출력 검토 절차를 정의하고 공통 운영에서 이용·오류·비용을 관찰하는 구조.",</a:t>
            </a:r>
          </a:p>
          <a:p xmlns:a="http://schemas.openxmlformats.org/drawingml/2006/main">
            <a:r>
              <a:t>      "TS의 AI혁신처는 공통 접속·권한·관측 기반을 담당하고 각 부서는 업무 지식과 결과물의 책임을 담당하는 운영 참고. 공통 기반 검수와 업무 앱 검수를 분리해 부서 확장 때 반복 구축을 줄이는 방식의 적용."</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"정부 업무 접점",</a:t>
            </a:r>
          </a:p>
          <a:p xmlns:a="http://schemas.openxmlformats.org/drawingml/2006/main">
            <a:r>
              <a:t>          "layer": "이용 접점",</a:t>
            </a:r>
          </a:p>
          <a:p xmlns:a="http://schemas.openxmlformats.org/drawingml/2006/main">
            <a:r>
              <a:t>          "detail": "정부 직원·앱 담당·운영자",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"앱·업무 목적",</a:t>
            </a:r>
          </a:p>
          <a:p xmlns:a="http://schemas.openxmlformats.org/drawingml/2006/main">
            <a:r>
              <a:t>          "layer": "업무 문맥",</a:t>
            </a:r>
          </a:p>
          <a:p xmlns:a="http://schemas.openxmlformats.org/drawingml/2006/main">
            <a:r>
              <a:t>          "detail": "이용자·앱·업무 목적의 문맥 구성",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"앱 지식 검색",</a:t>
            </a:r>
          </a:p>
          <a:p xmlns:a="http://schemas.openxmlformats.org/drawingml/2006/main">
            <a:r>
              <a:t>          "layer": "자료 조회",</a:t>
            </a:r>
          </a:p>
          <a:p xmlns:a="http://schemas.openxmlformats.org/drawingml/2006/main">
            <a:r>
              <a:t>          "detail": "질문·업무 선택",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"源内 공통 AI",</a:t>
            </a:r>
          </a:p>
          <a:p xmlns:a="http://schemas.openxmlformats.org/drawingml/2006/main">
            <a:r>
              <a:t>          "layer": "핵심 처리",</a:t>
            </a:r>
          </a:p>
          <a:p xmlns:a="http://schemas.openxmlformats.org/drawingml/2006/main">
            <a:r>
              <a:t>          "detail": "공통 모델과 앱별 지식·도구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"근거·용도 검사",</a:t>
            </a:r>
          </a:p>
          <a:p xmlns:a="http://schemas.openxmlformats.org/drawingml/2006/main">
            <a:r>
              <a:t>          "layer": "결과 검증",</a:t>
            </a:r>
          </a:p>
          <a:p xmlns:a="http://schemas.openxmlformats.org/drawingml/2006/main">
            <a:r>
              <a:t>          "detail": "업무별 평가·기관별 데이터 경계",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"공무원 확인",</a:t>
            </a:r>
          </a:p>
          <a:p xmlns:a="http://schemas.openxmlformats.org/drawingml/2006/main">
            <a:r>
              <a:t>          "layer": "사람 확인",</a:t>
            </a:r>
          </a:p>
          <a:p xmlns:a="http://schemas.openxmlformats.org/drawingml/2006/main">
            <a:r>
              <a:t>          "detail": "현업 앱에서 승인된 지식과 템플릿으로 초안 작성",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"업무 앱 결과",</a:t>
            </a:r>
          </a:p>
          <a:p xmlns:a="http://schemas.openxmlformats.org/drawingml/2006/main">
            <a:r>
              <a:t>          "layer": "업무 연결",</a:t>
            </a:r>
          </a:p>
          <a:p xmlns:a="http://schemas.openxmlformats.org/drawingml/2006/main">
            <a:r>
              <a:t>          "detail": "직원이 검토 가능한 업무 초안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"앱별 품질 관측",</a:t>
            </a:r>
          </a:p>
          <a:p xmlns:a="http://schemas.openxmlformats.org/drawingml/2006/main">
            <a:r>
              <a:t>          "layer": "운영 관측",</a:t>
            </a:r>
          </a:p>
          <a:p xmlns:a="http://schemas.openxmlformats.org/drawingml/2006/main">
            <a:r>
              <a:t>          "detail": "앱 이용·품질·개선 요청의 공통 운영",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"문서·템플릿",</a:t>
            </a:r>
          </a:p>
          <a:p xmlns:a="http://schemas.openxmlformats.org/drawingml/2006/main">
            <a:r>
              <a:t>          "layer": "데이터 원천",</a:t>
            </a:r>
          </a:p>
          <a:p xmlns:a="http://schemas.openxmlformats.org/drawingml/2006/main">
            <a:r>
              <a:t>          "detail": "업무 문서·템플릿",</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"판본·소유부서 정리",</a:t>
            </a:r>
          </a:p>
          <a:p xmlns:a="http://schemas.openxmlformats.org/drawingml/2006/main">
            <a:r>
              <a:t>          "layer": "준비·갱신",</a:t>
            </a:r>
          </a:p>
          <a:p xmlns:a="http://schemas.openxmlformats.org/drawingml/2006/main">
            <a:r>
              <a:t>          "detail": "앱별 문서·템플릿·프롬프트 판본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"앱별 지식",</a:t>
            </a:r>
          </a:p>
          <a:p xmlns:a="http://schemas.openxmlformats.org/drawingml/2006/main">
            <a:r>
              <a:t>          "layer": "상태·지식 저장",</a:t>
            </a:r>
          </a:p>
          <a:p xmlns:a="http://schemas.openxmlformats.org/drawingml/2006/main">
            <a:r>
              <a:t>          "detail": "앱·판본·소관별 결과와 갱신·승인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"기관별 이용정책",</a:t>
            </a:r>
          </a:p>
          <a:p xmlns:a="http://schemas.openxmlformats.org/drawingml/2006/main">
            <a:r>
              <a:t>          "layer": "권한·정책",</a:t>
            </a:r>
          </a:p>
          <a:p xmlns:a="http://schemas.openxmlformats.org/drawingml/2006/main">
            <a:r>
              <a:t>          "detail": "앱 간 문서 혼입·구판 템플릿·담당자 변경",</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"이용자·앱·업무 목적의 문맥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"질문·업무 선택",</a:t>
            </a:r>
          </a:p>
          <a:p xmlns:a="http://schemas.openxmlformats.org/drawingml/2006/main">
            <a:r>
              <a:t>          "check": "업무별 평가·기관별 데이터 경계"</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"앱별 맥락",</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"답변·초안",</a:t>
            </a:r>
          </a:p>
          <a:p xmlns:a="http://schemas.openxmlformats.org/drawingml/2006/main">
            <a:r>
              <a:t>          "check": "앱 간 문서 혼입·구판 템플릿·담당자 변경"</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"답변·초안",</a:t>
            </a:r>
          </a:p>
          <a:p xmlns:a="http://schemas.openxmlformats.org/drawingml/2006/main">
            <a:r>
              <a:t>          "check": "직원이 검토 가능한 업무 초안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"이용·품질 기록",</a:t>
            </a:r>
          </a:p>
          <a:p xmlns:a="http://schemas.openxmlformats.org/drawingml/2006/main">
            <a:r>
              <a:t>          "check": "앱·판본·소관별 결과와 갱신·승인 기록"</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"정부 공통 AI와 업무 앱의 단계적 확산 / 범용 AI·업무 앱·템플릿",</a:t>
            </a:r>
          </a:p>
          <a:p xmlns:a="http://schemas.openxmlformats.org/drawingml/2006/main">
            <a:r>
              <a:t>        "extension": "공통 AI 운영과 현업 앱의 소유·갱신·승인 책임을 함께 정의"</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"앱 간 문서 혼입·구판 템플릿·담당자 변경",</a:t>
            </a:r>
          </a:p>
          <a:p xmlns:a="http://schemas.openxmlformats.org/drawingml/2006/main">
            <a:r>
              <a:t>        "hold": "업무별 평가·기관별 데이터 경계",</a:t>
            </a:r>
          </a:p>
          <a:p xmlns:a="http://schemas.openxmlformats.org/drawingml/2006/main">
            <a:r>
              <a:t>        "recovery": "앱 이용·품질·개선 요청의 공통 운영",</a:t>
            </a:r>
          </a:p>
          <a:p xmlns:a="http://schemas.openxmlformats.org/drawingml/2006/main">
            <a:r>
              <a:t>        "evidence": "앱·판본·소관별 결과와 갱신·승인 기록"</a:t>
            </a:r>
          </a:p>
          <a:p xmlns:a="http://schemas.openxmlformats.org/drawingml/2006/main">
            <a:r>
              <a:t>      },</a:t>
            </a:r>
          </a:p>
          <a:p xmlns:a="http://schemas.openxmlformats.org/drawingml/2006/main">
            <a:r>
              <a:t>      "data": {</a:t>
            </a:r>
          </a:p>
          <a:p xmlns:a="http://schemas.openxmlformats.org/drawingml/2006/main">
            <a:r>
              <a:t>        "source": "업무 문서·템플릿",</a:t>
            </a:r>
          </a:p>
          <a:p xmlns:a="http://schemas.openxmlformats.org/drawingml/2006/main">
            <a:r>
              <a:t>        "prepare": "앱별 문서·템플릿·프롬프트 판본 관리",</a:t>
            </a:r>
          </a:p>
          <a:p xmlns:a="http://schemas.openxmlformats.org/drawingml/2006/main">
            <a:r>
              <a:t>        "output": "질문·업무 선택",</a:t>
            </a:r>
          </a:p>
          <a:p xmlns:a="http://schemas.openxmlformats.org/drawingml/2006/main">
            <a:r>
              <a:t>        "refresh": "앱 이용·품질·개선 요청의 공통 운영"</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"PF05",</a:t>
            </a:r>
          </a:p>
          <a:p xmlns:a="http://schemas.openxmlformats.org/drawingml/2006/main">
            <a:r>
              <a:t>    "success": [</a:t>
            </a:r>
          </a:p>
          <a:p xmlns:a="http://schemas.openxmlformats.org/drawingml/2006/main">
            <a:r>
              <a:t>      "정부 공통 환경과 업무 앱의 결합",</a:t>
            </a:r>
          </a:p>
          <a:p xmlns:a="http://schemas.openxmlformats.org/drawingml/2006/main">
            <a:r>
              <a:t>      "템플릿·이용 관측을 통한 개선"</a:t>
            </a:r>
          </a:p>
          <a:p xmlns:a="http://schemas.openxmlformats.org/drawingml/2006/main">
            <a:r>
              <a:t>    ],</a:t>
            </a:r>
          </a:p>
          <a:p xmlns:a="http://schemas.openxmlformats.org/drawingml/2006/main">
            <a:r>
              <a:t>    "risks": [</a:t>
            </a:r>
          </a:p>
          <a:p xmlns:a="http://schemas.openxmlformats.org/drawingml/2006/main">
            <a:r>
              <a:t>      "기관별 규정·문서 경계 차이",</a:t>
            </a:r>
          </a:p>
          <a:p xmlns:a="http://schemas.openxmlformats.org/drawingml/2006/main">
            <a:r>
              <a:t>      "청내 운영 결과의 범정부 일반화"</a:t>
            </a:r>
          </a:p>
          <a:p xmlns:a="http://schemas.openxmlformats.org/drawingml/2006/main">
            <a:r>
              <a:t>    ],</a:t>
            </a:r>
          </a:p>
          <a:p xmlns:a="http://schemas.openxmlformats.org/drawingml/2006/main">
            <a:r>
              <a:t>    "architecture": [</a:t>
            </a:r>
          </a:p>
          <a:p xmlns:a="http://schemas.openxmlformats.org/drawingml/2006/main">
            <a:r>
              <a:t>      "정부 사용자",</a:t>
            </a:r>
          </a:p>
          <a:p xmlns:a="http://schemas.openxmlformats.org/drawingml/2006/main">
            <a:r>
              <a:t>      "源内 공통 AI·앱",</a:t>
            </a:r>
          </a:p>
          <a:p xmlns:a="http://schemas.openxmlformats.org/drawingml/2006/main">
            <a:r>
              <a:t>      "업무 문서·템플릿",</a:t>
            </a:r>
          </a:p>
          <a:p xmlns:a="http://schemas.openxmlformats.org/drawingml/2006/main">
            <a:r>
              <a:t>      "공무원 검토"</a:t>
            </a:r>
          </a:p>
          <a:p xmlns:a="http://schemas.openxmlformats.org/drawingml/2006/main">
            <a:r>
              <a:t>    ],</a:t>
            </a:r>
          </a:p>
          <a:p xmlns:a="http://schemas.openxmlformats.org/drawingml/2006/main">
            <a:r>
              <a:t>    "transfers": [</a:t>
            </a:r>
          </a:p>
          <a:p xmlns:a="http://schemas.openxmlformats.org/drawingml/2006/main">
            <a:r>
              <a:t>      "질문·업무 선택",</a:t>
            </a:r>
          </a:p>
          <a:p xmlns:a="http://schemas.openxmlformats.org/drawingml/2006/main">
            <a:r>
              <a:t>      "앱별 맥락",</a:t>
            </a:r>
          </a:p>
          <a:p xmlns:a="http://schemas.openxmlformats.org/drawingml/2006/main">
            <a:r>
              <a:t>      "답변·초안",</a:t>
            </a:r>
          </a:p>
          <a:p xmlns:a="http://schemas.openxmlformats.org/drawingml/2006/main">
            <a:r>
              <a:t>      "이용·품질 기록"</a:t>
            </a:r>
          </a:p>
          <a:p xmlns:a="http://schemas.openxmlformats.org/drawingml/2006/main">
            <a:r>
              <a:t>    ],</a:t>
            </a:r>
          </a:p>
          <a:p xmlns:a="http://schemas.openxmlformats.org/drawingml/2006/main">
            <a:r>
              <a:t>    "control": "업무별 평가·기관별 데이터 경계",</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운영기관 정책·서비스 공개 https://www.digital.go.jp/policies/genai</a:t>
            </a:r>
          </a:p>
          <a:p xmlns:a="http://schemas.openxmlformats.org/drawingml/2006/main">
            <a:r>
              <a:t>홈페이지 https://heen1987-ops.github.io/TS-business-Plan-001/index.html?view=platform-cases&amp;case=PF05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"PF05",</a:t>
            </a:r>
          </a:p>
          <a:p xmlns:a="http://schemas.openxmlformats.org/drawingml/2006/main">
            <a:r>
              <a:t>    "sourceId": "A07",</a:t>
            </a:r>
          </a:p>
          <a:p xmlns:a="http://schemas.openxmlformats.org/drawingml/2006/main">
            <a:r>
              <a:t>    "title": "일본 정부 AI 源内",</a:t>
            </a:r>
          </a:p>
          <a:p xmlns:a="http://schemas.openxmlformats.org/drawingml/2006/main">
            <a:r>
              <a:t>    "region": "해외",</a:t>
            </a:r>
          </a:p>
          <a:p xmlns:a="http://schemas.openxmlformats.org/drawingml/2006/main">
            <a:r>
              <a:t>    "owner": "일본 디지털청",</a:t>
            </a:r>
          </a:p>
          <a:p xmlns:a="http://schemas.openxmlformats.org/drawingml/2006/main">
            <a:r>
              <a:t>    "state": "청내 운영 / 범정부 실증",</a:t>
            </a:r>
          </a:p>
          <a:p xmlns:a="http://schemas.openxmlformats.org/drawingml/2006/main">
            <a:r>
              <a:t>    "period": "2025 운영 / 2026 확산",</a:t>
            </a:r>
          </a:p>
          <a:p xmlns:a="http://schemas.openxmlformats.org/drawingml/2006/main">
            <a:r>
              <a:t>    "fact": "정부 공통 환경의 범용 AI와 업무별 앱·템플릿 구성",</a:t>
            </a:r>
          </a:p>
          <a:p xmlns:a="http://schemas.openxmlformats.org/drawingml/2006/main">
            <a:r>
              <a:t>    "limit": "청내 운영 실적과 범정부 실증 대상 규모의 분리 · 도입 인원과 생산성 구분",</a:t>
            </a:r>
          </a:p>
          <a:p xmlns:a="http://schemas.openxmlformats.org/drawingml/2006/main">
            <a:r>
              <a:t>    "nodes": [</a:t>
            </a:r>
          </a:p>
          <a:p xmlns:a="http://schemas.openxmlformats.org/drawingml/2006/main">
            <a:r>
              <a:t>      "정부 인증·접점",</a:t>
            </a:r>
          </a:p>
          <a:p xmlns:a="http://schemas.openxmlformats.org/drawingml/2006/main">
            <a:r>
              <a:t>      "공통 AI 환경",</a:t>
            </a:r>
          </a:p>
          <a:p xmlns:a="http://schemas.openxmlformats.org/drawingml/2006/main">
            <a:r>
              <a:t>      "법제·답변 업무 앱",</a:t>
            </a:r>
          </a:p>
          <a:p xmlns:a="http://schemas.openxmlformats.org/drawingml/2006/main">
            <a:r>
              <a:t>      "이용 관측·현업 개선"</a:t>
            </a:r>
          </a:p>
          <a:p xmlns:a="http://schemas.openxmlformats.org/drawingml/2006/main">
            <a:r>
              <a:t>    ],</a:t>
            </a:r>
          </a:p>
          <a:p xmlns:a="http://schemas.openxmlformats.org/drawingml/2006/main">
            <a:r>
              <a:t>    "apply": "공통 AI 운영과 현업 앱의 소유·갱신·승인 책임을 함께 정의",</a:t>
            </a:r>
          </a:p>
          <a:p xmlns:a="http://schemas.openxmlformats.org/drawingml/2006/main">
            <a:r>
              <a:t>    "delta": "기관 설정·조직 사전·업무 스킬·배포판본 관리",</a:t>
            </a:r>
          </a:p>
          <a:p xmlns:a="http://schemas.openxmlformats.org/drawingml/2006/main">
            <a:r>
              <a:t>    "test": "두 번째 부서 적용의 수정 범위·추가 공수·격리 평가",</a:t>
            </a:r>
          </a:p>
          <a:p xmlns:a="http://schemas.openxmlformats.org/drawingml/2006/main">
            <a:r>
              <a:t>    "url": "https://www.digital.go.jp/policies/genai",</a:t>
            </a:r>
          </a:p>
          <a:p xmlns:a="http://schemas.openxmlformats.org/drawingml/2006/main">
            <a:r>
              <a:t>    "basis": "운영기관 정책·서비스 공개",</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"https://www.digital.go.jp/policies/genai",</a:t>
            </a:r>
          </a:p>
          <a:p xmlns:a="http://schemas.openxmlformats.org/drawingml/2006/main">
            <a:r>
              <a:t>      "https://www.digital.go.jp/en/news/907c8e5d-2f4f-4bd7-9400-37c9f4221d7d",</a:t>
            </a:r>
          </a:p>
          <a:p xmlns:a="http://schemas.openxmlformats.org/drawingml/2006/main">
            <a:r>
              <a:t>      "https://www.digital.go.jp/assets/contents/node/information/field_ref_resources/08ded405-ca03-48c7-9b92-6b8878854a74/5147384f/20250829_news_ai_usage_report_01.pdf"</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"PF05",</a:t>
            </a:r>
          </a:p>
          <a:p xmlns:a="http://schemas.openxmlformats.org/drawingml/2006/main">
            <a:r>
              <a:t>    "canonicalId": "PF05",</a:t>
            </a:r>
          </a:p>
          <a:p xmlns:a="http://schemas.openxmlformats.org/drawingml/2006/main">
            <a:r>
              <a:t>    "purpose": "정부 공통 AI와 업무 앱의 단계적 확산",</a:t>
            </a:r>
          </a:p>
          <a:p xmlns:a="http://schemas.openxmlformats.org/drawingml/2006/main">
            <a:r>
              <a:t>    "users": "정부 직원·앱 담당·운영자",</a:t>
            </a:r>
          </a:p>
          <a:p xmlns:a="http://schemas.openxmlformats.org/drawingml/2006/main">
            <a:r>
              <a:t>    "scope": [</a:t>
            </a:r>
          </a:p>
          <a:p xmlns:a="http://schemas.openxmlformats.org/drawingml/2006/main">
            <a:r>
              <a:t>      "범용 AI",</a:t>
            </a:r>
          </a:p>
          <a:p xmlns:a="http://schemas.openxmlformats.org/drawingml/2006/main">
            <a:r>
              <a:t>      "업무 앱",</a:t>
            </a:r>
          </a:p>
          <a:p xmlns:a="http://schemas.openxmlformats.org/drawingml/2006/main">
            <a:r>
              <a:t>      "템플릿"</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"정부 사용자",</a:t>
            </a:r>
          </a:p>
          <a:p xmlns:a="http://schemas.openxmlformats.org/drawingml/2006/main">
            <a:r>
              <a:t>        "detail": "이용자·앱·업무 목적의 문맥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"범용 AI / 업무 앱 / 템플릿",</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"源内 공통 AI·앱",</a:t>
            </a:r>
          </a:p>
          <a:p xmlns:a="http://schemas.openxmlformats.org/drawingml/2006/main">
            <a:r>
              <a:t>        "detail": "공통 모델과 앱별 지식·도구 연결",</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"공무원 검토",</a:t>
            </a:r>
          </a:p>
          <a:p xmlns:a="http://schemas.openxmlformats.org/drawingml/2006/main">
            <a:r>
              <a:t>        "detail": "직원이 검토 가능한 업무 초안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"업무 문서·템플릿",</a:t>
            </a:r>
          </a:p>
          <a:p xmlns:a="http://schemas.openxmlformats.org/drawingml/2006/main">
            <a:r>
              <a:t>        "detail": "앱별 문서·템플릿·프롬프트 판본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"앱 이용·품질·개선 요청의 공통 운영",</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"정부 인증·접점",</a:t>
            </a:r>
          </a:p>
          <a:p xmlns:a="http://schemas.openxmlformats.org/drawingml/2006/main">
            <a:r>
              <a:t>        "input": "이용자·앱·업무 목적의 문맥 구성",</a:t>
            </a:r>
          </a:p>
          <a:p xmlns:a="http://schemas.openxmlformats.org/drawingml/2006/main">
            <a:r>
              <a:t>        "process": "앱별 문서·템플릿·프롬프트 판본 관리",</a:t>
            </a:r>
          </a:p>
          <a:p xmlns:a="http://schemas.openxmlformats.org/drawingml/2006/main">
            <a:r>
              <a:t>        "output": "질문·업무 선택"</a:t>
            </a:r>
          </a:p>
          <a:p xmlns:a="http://schemas.openxmlformats.org/drawingml/2006/main">
            <a:r>
              <a:t>      },</a:t>
            </a:r>
          </a:p>
          <a:p xmlns:a="http://schemas.openxmlformats.org/drawingml/2006/main">
            <a:r>
              <a:t>      {</a:t>
            </a:r>
          </a:p>
          <a:p xmlns:a="http://schemas.openxmlformats.org/drawingml/2006/main">
            <a:r>
              <a:t>        "title": "공통 AI 환경",</a:t>
            </a:r>
          </a:p>
          <a:p xmlns:a="http://schemas.openxmlformats.org/drawingml/2006/main">
            <a:r>
              <a:t>        "input": "질문·업무 선택",</a:t>
            </a:r>
          </a:p>
          <a:p xmlns:a="http://schemas.openxmlformats.org/drawingml/2006/main">
            <a:r>
              <a:t>        "process": "공통 모델과 앱별 지식·도구 연결",</a:t>
            </a:r>
          </a:p>
          <a:p xmlns:a="http://schemas.openxmlformats.org/drawingml/2006/main">
            <a:r>
              <a:t>        "output": "앱별 맥락"</a:t>
            </a:r>
          </a:p>
          <a:p xmlns:a="http://schemas.openxmlformats.org/drawingml/2006/main">
            <a:r>
              <a:t>      },</a:t>
            </a:r>
          </a:p>
          <a:p xmlns:a="http://schemas.openxmlformats.org/drawingml/2006/main">
            <a:r>
              <a:t>      {</a:t>
            </a:r>
          </a:p>
          <a:p xmlns:a="http://schemas.openxmlformats.org/drawingml/2006/main">
            <a:r>
              <a:t>        "title": "법제·답변 업무 앱",</a:t>
            </a:r>
          </a:p>
          <a:p xmlns:a="http://schemas.openxmlformats.org/drawingml/2006/main">
            <a:r>
              <a:t>        "input": "앱별 맥락",</a:t>
            </a:r>
          </a:p>
          <a:p xmlns:a="http://schemas.openxmlformats.org/drawingml/2006/main">
            <a:r>
              <a:t>        "process": "업무별 평가·기관별 데이터 경계",</a:t>
            </a:r>
          </a:p>
          <a:p xmlns:a="http://schemas.openxmlformats.org/drawingml/2006/main">
            <a:r>
              <a:t>        "output": "답변·초안"</a:t>
            </a:r>
          </a:p>
          <a:p xmlns:a="http://schemas.openxmlformats.org/drawingml/2006/main">
            <a:r>
              <a:t>      },</a:t>
            </a:r>
          </a:p>
          <a:p xmlns:a="http://schemas.openxmlformats.org/drawingml/2006/main">
            <a:r>
              <a:t>      {</a:t>
            </a:r>
          </a:p>
          <a:p xmlns:a="http://schemas.openxmlformats.org/drawingml/2006/main">
            <a:r>
              <a:t>        "title": "이용 관측·현업 개선",</a:t>
            </a:r>
          </a:p>
          <a:p xmlns:a="http://schemas.openxmlformats.org/drawingml/2006/main">
            <a:r>
              <a:t>        "input": "답변·초안",</a:t>
            </a:r>
          </a:p>
          <a:p xmlns:a="http://schemas.openxmlformats.org/drawingml/2006/main">
            <a:r>
              <a:t>        "process": "직원이 검토 가능한 업무 초안 제공",</a:t>
            </a:r>
          </a:p>
          <a:p xmlns:a="http://schemas.openxmlformats.org/drawingml/2006/main">
            <a:r>
              <a:t>        "output": "이용·품질 기록"</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"현업 앱에서 승인된 지식과 템플릿으로 초안 작성",</a:t>
            </a:r>
          </a:p>
          <a:p xmlns:a="http://schemas.openxmlformats.org/drawingml/2006/main">
            <a:r>
              <a:t>      "exception": "앱 간 문서 혼입·구판 템플릿·담당자 변경",</a:t>
            </a:r>
          </a:p>
          <a:p xmlns:a="http://schemas.openxmlformats.org/drawingml/2006/main">
            <a:r>
              <a:t>      "evidence": "앱·판본·소관별 결과와 갱신·승인 기록",</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"정부 직원·앱 담당·운영자",</a:t>
            </a:r>
          </a:p>
          <a:p xmlns:a="http://schemas.openxmlformats.org/drawingml/2006/main">
            <a:r>
              <a:t>          "processing": "이용자·앱·업무 목적의 문맥 구성",</a:t>
            </a:r>
          </a:p>
          <a:p xmlns:a="http://schemas.openxmlformats.org/drawingml/2006/main">
            <a:r>
              <a:t>          "output": "질문·업무 선택"</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"업무 문서·템플릿",</a:t>
            </a:r>
          </a:p>
          <a:p xmlns:a="http://schemas.openxmlformats.org/drawingml/2006/main">
            <a:r>
              <a:t>          "processing": "앱별 문서·템플릿·프롬프트 판본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"질문·업무 선택",</a:t>
            </a:r>
          </a:p>
          <a:p xmlns:a="http://schemas.openxmlformats.org/drawingml/2006/main">
            <a:r>
              <a:t>          "processing": "공통 모델과 앱별 지식·도구 연결",</a:t>
            </a:r>
          </a:p>
          <a:p xmlns:a="http://schemas.openxmlformats.org/drawingml/2006/main">
            <a:r>
              <a:t>          "output": "답변·초안"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"답변·초안",</a:t>
            </a:r>
          </a:p>
          <a:p xmlns:a="http://schemas.openxmlformats.org/drawingml/2006/main">
            <a:r>
              <a:t>          "processing": "직원이 검토 가능한 업무 초안 제공",</a:t>
            </a:r>
          </a:p>
          <a:p xmlns:a="http://schemas.openxmlformats.org/drawingml/2006/main">
            <a:r>
              <a:t>          "output": "이용·품질 기록"</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"앱 이용·품질·개선 요청의 공통 운영",</a:t>
            </a:r>
          </a:p>
          <a:p xmlns:a="http://schemas.openxmlformats.org/drawingml/2006/main">
            <a:r>
              <a:t>          "output": "앱·판본·소관별 결과와 갱신·승인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"앱 이용·품질·개선 요청의 공통 운영",</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"운영기관 정책·서비스 공개",</a:t>
            </a:r>
          </a:p>
          <a:p xmlns:a="http://schemas.openxmlformats.org/drawingml/2006/main">
            <a:r>
              <a:t>        "url": "https://www.digital.go.jp/policies/genai"</a:t>
            </a:r>
          </a:p>
          <a:p xmlns:a="http://schemas.openxmlformats.org/drawingml/2006/main">
            <a:r>
              <a:t>      }</a:t>
            </a:r>
          </a:p>
          <a:p xmlns:a="http://schemas.openxmlformats.org/drawingml/2006/main">
            <a:r>
              <a:t>    ],</a:t>
            </a:r>
          </a:p>
          <a:p xmlns:a="http://schemas.openxmlformats.org/drawingml/2006/main">
            <a:r>
              <a:t>    "implication": "공통 AI 운영과 현업 앱의 소유·갱신·승인 책임을 함께 정의",</a:t>
            </a:r>
          </a:p>
          <a:p xmlns:a="http://schemas.openxmlformats.org/drawingml/2006/main">
            <a:r>
              <a:t>    "local": "공통 AI 운영과 현업 앱의 소유·갱신·승인 책임을 함께 정의",</a:t>
            </a:r>
          </a:p>
          <a:p xmlns:a="http://schemas.openxmlformats.org/drawingml/2006/main">
            <a:r>
              <a:t>    "sourceDetail": null,</a:t>
            </a:r>
          </a:p>
          <a:p xmlns:a="http://schemas.openxmlformats.org/drawingml/2006/main">
            <a:r>
              <a:t>    "narrative": [</a:t>
            </a:r>
          </a:p>
          <a:p xmlns:a="http://schemas.openxmlformats.org/drawingml/2006/main">
            <a:r>
              <a:t>      "일본 정부 AI 源内의 공통 AI 도구와 업무 앱 확산 사례. 범용 도구 제공과 특정 업무를 수행하는 앱 개발을 함께 운영해 직원의 활용 진입점과 기관별 확장 경로를 마련하는 접근.",</a:t>
            </a:r>
          </a:p>
          <a:p xmlns:a="http://schemas.openxmlformats.org/drawingml/2006/main">
            <a:r>
              <a:t>      "공통 계정·모델 접근 계층 위에 업무 앱·지식·템플릿을 연결하는 논리 구성. 앱별 소유자, 사용 가능한 자료, 입력 형식, 출력 검토 절차를 정의하고 공통 운영에서 이용·오류·비용을 관찰하는 구조.",</a:t>
            </a:r>
          </a:p>
          <a:p xmlns:a="http://schemas.openxmlformats.org/drawingml/2006/main">
            <a:r>
              <a:t>      "TS의 AI혁신처는 공통 접속·권한·관측 기반을 담당하고 각 부서는 업무 지식과 결과물의 책임을 담당하는 운영 참고. 공통 기반 검수와 업무 앱 검수를 분리해 부서 확장 때 반복 구축을 줄이는 방식의 적용."</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"정부 업무 접점",</a:t>
            </a:r>
          </a:p>
          <a:p xmlns:a="http://schemas.openxmlformats.org/drawingml/2006/main">
            <a:r>
              <a:t>          "layer": "이용 접점",</a:t>
            </a:r>
          </a:p>
          <a:p xmlns:a="http://schemas.openxmlformats.org/drawingml/2006/main">
            <a:r>
              <a:t>          "detail": "정부 직원·앱 담당·운영자",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"앱·업무 목적",</a:t>
            </a:r>
          </a:p>
          <a:p xmlns:a="http://schemas.openxmlformats.org/drawingml/2006/main">
            <a:r>
              <a:t>          "layer": "업무 문맥",</a:t>
            </a:r>
          </a:p>
          <a:p xmlns:a="http://schemas.openxmlformats.org/drawingml/2006/main">
            <a:r>
              <a:t>          "detail": "이용자·앱·업무 목적의 문맥 구성",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"앱 지식 검색",</a:t>
            </a:r>
          </a:p>
          <a:p xmlns:a="http://schemas.openxmlformats.org/drawingml/2006/main">
            <a:r>
              <a:t>          "layer": "자료 조회",</a:t>
            </a:r>
          </a:p>
          <a:p xmlns:a="http://schemas.openxmlformats.org/drawingml/2006/main">
            <a:r>
              <a:t>          "detail": "질문·업무 선택",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"源内 공통 AI",</a:t>
            </a:r>
          </a:p>
          <a:p xmlns:a="http://schemas.openxmlformats.org/drawingml/2006/main">
            <a:r>
              <a:t>          "layer": "핵심 처리",</a:t>
            </a:r>
          </a:p>
          <a:p xmlns:a="http://schemas.openxmlformats.org/drawingml/2006/main">
            <a:r>
              <a:t>          "detail": "공통 모델과 앱별 지식·도구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"근거·용도 검사",</a:t>
            </a:r>
          </a:p>
          <a:p xmlns:a="http://schemas.openxmlformats.org/drawingml/2006/main">
            <a:r>
              <a:t>          "layer": "결과 검증",</a:t>
            </a:r>
          </a:p>
          <a:p xmlns:a="http://schemas.openxmlformats.org/drawingml/2006/main">
            <a:r>
              <a:t>          "detail": "업무별 평가·기관별 데이터 경계",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"공무원 확인",</a:t>
            </a:r>
          </a:p>
          <a:p xmlns:a="http://schemas.openxmlformats.org/drawingml/2006/main">
            <a:r>
              <a:t>          "layer": "사람 확인",</a:t>
            </a:r>
          </a:p>
          <a:p xmlns:a="http://schemas.openxmlformats.org/drawingml/2006/main">
            <a:r>
              <a:t>          "detail": "현업 앱에서 승인된 지식과 템플릿으로 초안 작성",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"업무 앱 결과",</a:t>
            </a:r>
          </a:p>
          <a:p xmlns:a="http://schemas.openxmlformats.org/drawingml/2006/main">
            <a:r>
              <a:t>          "layer": "업무 연결",</a:t>
            </a:r>
          </a:p>
          <a:p xmlns:a="http://schemas.openxmlformats.org/drawingml/2006/main">
            <a:r>
              <a:t>          "detail": "직원이 검토 가능한 업무 초안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"앱별 품질 관측",</a:t>
            </a:r>
          </a:p>
          <a:p xmlns:a="http://schemas.openxmlformats.org/drawingml/2006/main">
            <a:r>
              <a:t>          "layer": "운영 관측",</a:t>
            </a:r>
          </a:p>
          <a:p xmlns:a="http://schemas.openxmlformats.org/drawingml/2006/main">
            <a:r>
              <a:t>          "detail": "앱 이용·품질·개선 요청의 공통 운영",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"문서·템플릿",</a:t>
            </a:r>
          </a:p>
          <a:p xmlns:a="http://schemas.openxmlformats.org/drawingml/2006/main">
            <a:r>
              <a:t>          "layer": "데이터 원천",</a:t>
            </a:r>
          </a:p>
          <a:p xmlns:a="http://schemas.openxmlformats.org/drawingml/2006/main">
            <a:r>
              <a:t>          "detail": "업무 문서·템플릿",</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"판본·소유부서 정리",</a:t>
            </a:r>
          </a:p>
          <a:p xmlns:a="http://schemas.openxmlformats.org/drawingml/2006/main">
            <a:r>
              <a:t>          "layer": "준비·갱신",</a:t>
            </a:r>
          </a:p>
          <a:p xmlns:a="http://schemas.openxmlformats.org/drawingml/2006/main">
            <a:r>
              <a:t>          "detail": "앱별 문서·템플릿·프롬프트 판본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"앱별 지식",</a:t>
            </a:r>
          </a:p>
          <a:p xmlns:a="http://schemas.openxmlformats.org/drawingml/2006/main">
            <a:r>
              <a:t>          "layer": "상태·지식 저장",</a:t>
            </a:r>
          </a:p>
          <a:p xmlns:a="http://schemas.openxmlformats.org/drawingml/2006/main">
            <a:r>
              <a:t>          "detail": "앱·판본·소관별 결과와 갱신·승인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"기관별 이용정책",</a:t>
            </a:r>
          </a:p>
          <a:p xmlns:a="http://schemas.openxmlformats.org/drawingml/2006/main">
            <a:r>
              <a:t>          "layer": "권한·정책",</a:t>
            </a:r>
          </a:p>
          <a:p xmlns:a="http://schemas.openxmlformats.org/drawingml/2006/main">
            <a:r>
              <a:t>          "detail": "앱 간 문서 혼입·구판 템플릿·담당자 변경",</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"이용자·앱·업무 목적의 문맥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"질문·업무 선택",</a:t>
            </a:r>
          </a:p>
          <a:p xmlns:a="http://schemas.openxmlformats.org/drawingml/2006/main">
            <a:r>
              <a:t>          "check": "업무별 평가·기관별 데이터 경계"</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"앱별 맥락",</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"답변·초안",</a:t>
            </a:r>
          </a:p>
          <a:p xmlns:a="http://schemas.openxmlformats.org/drawingml/2006/main">
            <a:r>
              <a:t>          "check": "앱 간 문서 혼입·구판 템플릿·담당자 변경"</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"답변·초안",</a:t>
            </a:r>
          </a:p>
          <a:p xmlns:a="http://schemas.openxmlformats.org/drawingml/2006/main">
            <a:r>
              <a:t>          "check": "직원이 검토 가능한 업무 초안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"이용·품질 기록",</a:t>
            </a:r>
          </a:p>
          <a:p xmlns:a="http://schemas.openxmlformats.org/drawingml/2006/main">
            <a:r>
              <a:t>          "check": "앱·판본·소관별 결과와 갱신·승인 기록"</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"정부 공통 AI와 업무 앱의 단계적 확산 / 범용 AI·업무 앱·템플릿",</a:t>
            </a:r>
          </a:p>
          <a:p xmlns:a="http://schemas.openxmlformats.org/drawingml/2006/main">
            <a:r>
              <a:t>        "extension": "공통 AI 운영과 현업 앱의 소유·갱신·승인 책임을 함께 정의"</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"앱 간 문서 혼입·구판 템플릿·담당자 변경",</a:t>
            </a:r>
          </a:p>
          <a:p xmlns:a="http://schemas.openxmlformats.org/drawingml/2006/main">
            <a:r>
              <a:t>        "hold": "업무별 평가·기관별 데이터 경계",</a:t>
            </a:r>
          </a:p>
          <a:p xmlns:a="http://schemas.openxmlformats.org/drawingml/2006/main">
            <a:r>
              <a:t>        "recovery": "앱 이용·품질·개선 요청의 공통 운영",</a:t>
            </a:r>
          </a:p>
          <a:p xmlns:a="http://schemas.openxmlformats.org/drawingml/2006/main">
            <a:r>
              <a:t>        "evidence": "앱·판본·소관별 결과와 갱신·승인 기록"</a:t>
            </a:r>
          </a:p>
          <a:p xmlns:a="http://schemas.openxmlformats.org/drawingml/2006/main">
            <a:r>
              <a:t>      },</a:t>
            </a:r>
          </a:p>
          <a:p xmlns:a="http://schemas.openxmlformats.org/drawingml/2006/main">
            <a:r>
              <a:t>      "data": {</a:t>
            </a:r>
          </a:p>
          <a:p xmlns:a="http://schemas.openxmlformats.org/drawingml/2006/main">
            <a:r>
              <a:t>        "source": "업무 문서·템플릿",</a:t>
            </a:r>
          </a:p>
          <a:p xmlns:a="http://schemas.openxmlformats.org/drawingml/2006/main">
            <a:r>
              <a:t>        "prepare": "앱별 문서·템플릿·프롬프트 판본 관리",</a:t>
            </a:r>
          </a:p>
          <a:p xmlns:a="http://schemas.openxmlformats.org/drawingml/2006/main">
            <a:r>
              <a:t>        "output": "질문·업무 선택",</a:t>
            </a:r>
          </a:p>
          <a:p xmlns:a="http://schemas.openxmlformats.org/drawingml/2006/main">
            <a:r>
              <a:t>        "refresh": "앱 이용·품질·개선 요청의 공통 운영"</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"PF05",</a:t>
            </a:r>
          </a:p>
          <a:p xmlns:a="http://schemas.openxmlformats.org/drawingml/2006/main">
            <a:r>
              <a:t>    "success": [</a:t>
            </a:r>
          </a:p>
          <a:p xmlns:a="http://schemas.openxmlformats.org/drawingml/2006/main">
            <a:r>
              <a:t>      "정부 공통 환경과 업무 앱의 결합",</a:t>
            </a:r>
          </a:p>
          <a:p xmlns:a="http://schemas.openxmlformats.org/drawingml/2006/main">
            <a:r>
              <a:t>      "템플릿·이용 관측을 통한 개선"</a:t>
            </a:r>
          </a:p>
          <a:p xmlns:a="http://schemas.openxmlformats.org/drawingml/2006/main">
            <a:r>
              <a:t>    ],</a:t>
            </a:r>
          </a:p>
          <a:p xmlns:a="http://schemas.openxmlformats.org/drawingml/2006/main">
            <a:r>
              <a:t>    "risks": [</a:t>
            </a:r>
          </a:p>
          <a:p xmlns:a="http://schemas.openxmlformats.org/drawingml/2006/main">
            <a:r>
              <a:t>      "기관별 규정·문서 경계 차이",</a:t>
            </a:r>
          </a:p>
          <a:p xmlns:a="http://schemas.openxmlformats.org/drawingml/2006/main">
            <a:r>
              <a:t>      "청내 운영 결과의 범정부 일반화"</a:t>
            </a:r>
          </a:p>
          <a:p xmlns:a="http://schemas.openxmlformats.org/drawingml/2006/main">
            <a:r>
              <a:t>    ],</a:t>
            </a:r>
          </a:p>
          <a:p xmlns:a="http://schemas.openxmlformats.org/drawingml/2006/main">
            <a:r>
              <a:t>    "architecture": [</a:t>
            </a:r>
          </a:p>
          <a:p xmlns:a="http://schemas.openxmlformats.org/drawingml/2006/main">
            <a:r>
              <a:t>      "정부 사용자",</a:t>
            </a:r>
          </a:p>
          <a:p xmlns:a="http://schemas.openxmlformats.org/drawingml/2006/main">
            <a:r>
              <a:t>      "源内 공통 AI·앱",</a:t>
            </a:r>
          </a:p>
          <a:p xmlns:a="http://schemas.openxmlformats.org/drawingml/2006/main">
            <a:r>
              <a:t>      "업무 문서·템플릿",</a:t>
            </a:r>
          </a:p>
          <a:p xmlns:a="http://schemas.openxmlformats.org/drawingml/2006/main">
            <a:r>
              <a:t>      "공무원 검토"</a:t>
            </a:r>
          </a:p>
          <a:p xmlns:a="http://schemas.openxmlformats.org/drawingml/2006/main">
            <a:r>
              <a:t>    ],</a:t>
            </a:r>
          </a:p>
          <a:p xmlns:a="http://schemas.openxmlformats.org/drawingml/2006/main">
            <a:r>
              <a:t>    "transfers": [</a:t>
            </a:r>
          </a:p>
          <a:p xmlns:a="http://schemas.openxmlformats.org/drawingml/2006/main">
            <a:r>
              <a:t>      "질문·업무 선택",</a:t>
            </a:r>
          </a:p>
          <a:p xmlns:a="http://schemas.openxmlformats.org/drawingml/2006/main">
            <a:r>
              <a:t>      "앱별 맥락",</a:t>
            </a:r>
          </a:p>
          <a:p xmlns:a="http://schemas.openxmlformats.org/drawingml/2006/main">
            <a:r>
              <a:t>      "답변·초안",</a:t>
            </a:r>
          </a:p>
          <a:p xmlns:a="http://schemas.openxmlformats.org/drawingml/2006/main">
            <a:r>
              <a:t>      "이용·품질 기록"</a:t>
            </a:r>
          </a:p>
          <a:p xmlns:a="http://schemas.openxmlformats.org/drawingml/2006/main">
            <a:r>
              <a:t>    ],</a:t>
            </a:r>
          </a:p>
          <a:p xmlns:a="http://schemas.openxmlformats.org/drawingml/2006/main">
            <a:r>
              <a:t>    "control": "업무별 평가·기관별 데이터 경계",</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운영기관 정책·서비스 공개 https://www.digital.go.jp/policies/genai</a:t>
            </a:r>
          </a:p>
          <a:p xmlns:a="http://schemas.openxmlformats.org/drawingml/2006/main">
            <a:r>
              <a:t>홈페이지 https://heen1987-ops.github.io/TS-business-Plan-001/index.html?view=platform-cases&amp;case=PF05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"PF05",</a:t>
            </a:r>
          </a:p>
          <a:p xmlns:a="http://schemas.openxmlformats.org/drawingml/2006/main">
            <a:r>
              <a:t>    "sourceId": "A07",</a:t>
            </a:r>
          </a:p>
          <a:p xmlns:a="http://schemas.openxmlformats.org/drawingml/2006/main">
            <a:r>
              <a:t>    "title": "일본 정부 AI 源内",</a:t>
            </a:r>
          </a:p>
          <a:p xmlns:a="http://schemas.openxmlformats.org/drawingml/2006/main">
            <a:r>
              <a:t>    "region": "해외",</a:t>
            </a:r>
          </a:p>
          <a:p xmlns:a="http://schemas.openxmlformats.org/drawingml/2006/main">
            <a:r>
              <a:t>    "owner": "일본 디지털청",</a:t>
            </a:r>
          </a:p>
          <a:p xmlns:a="http://schemas.openxmlformats.org/drawingml/2006/main">
            <a:r>
              <a:t>    "state": "청내 운영 / 범정부 실증",</a:t>
            </a:r>
          </a:p>
          <a:p xmlns:a="http://schemas.openxmlformats.org/drawingml/2006/main">
            <a:r>
              <a:t>    "period": "2025 운영 / 2026 확산",</a:t>
            </a:r>
          </a:p>
          <a:p xmlns:a="http://schemas.openxmlformats.org/drawingml/2006/main">
            <a:r>
              <a:t>    "fact": "정부 공통 환경의 범용 AI와 업무별 앱·템플릿 구성",</a:t>
            </a:r>
          </a:p>
          <a:p xmlns:a="http://schemas.openxmlformats.org/drawingml/2006/main">
            <a:r>
              <a:t>    "limit": "청내 운영 실적과 범정부 실증 대상 규모의 분리 · 도입 인원과 생산성 구분",</a:t>
            </a:r>
          </a:p>
          <a:p xmlns:a="http://schemas.openxmlformats.org/drawingml/2006/main">
            <a:r>
              <a:t>    "nodes": [</a:t>
            </a:r>
          </a:p>
          <a:p xmlns:a="http://schemas.openxmlformats.org/drawingml/2006/main">
            <a:r>
              <a:t>      "정부 인증·접점",</a:t>
            </a:r>
          </a:p>
          <a:p xmlns:a="http://schemas.openxmlformats.org/drawingml/2006/main">
            <a:r>
              <a:t>      "공통 AI 환경",</a:t>
            </a:r>
          </a:p>
          <a:p xmlns:a="http://schemas.openxmlformats.org/drawingml/2006/main">
            <a:r>
              <a:t>      "법제·답변 업무 앱",</a:t>
            </a:r>
          </a:p>
          <a:p xmlns:a="http://schemas.openxmlformats.org/drawingml/2006/main">
            <a:r>
              <a:t>      "이용 관측·현업 개선"</a:t>
            </a:r>
          </a:p>
          <a:p xmlns:a="http://schemas.openxmlformats.org/drawingml/2006/main">
            <a:r>
              <a:t>    ],</a:t>
            </a:r>
          </a:p>
          <a:p xmlns:a="http://schemas.openxmlformats.org/drawingml/2006/main">
            <a:r>
              <a:t>    "apply": "공통 AI 운영과 현업 앱의 소유·갱신·승인 책임을 함께 정의",</a:t>
            </a:r>
          </a:p>
          <a:p xmlns:a="http://schemas.openxmlformats.org/drawingml/2006/main">
            <a:r>
              <a:t>    "delta": "기관 설정·조직 사전·업무 스킬·배포판본 관리",</a:t>
            </a:r>
          </a:p>
          <a:p xmlns:a="http://schemas.openxmlformats.org/drawingml/2006/main">
            <a:r>
              <a:t>    "test": "두 번째 부서 적용의 수정 범위·추가 공수·격리 평가",</a:t>
            </a:r>
          </a:p>
          <a:p xmlns:a="http://schemas.openxmlformats.org/drawingml/2006/main">
            <a:r>
              <a:t>    "url": "https://www.digital.go.jp/policies/genai",</a:t>
            </a:r>
          </a:p>
          <a:p xmlns:a="http://schemas.openxmlformats.org/drawingml/2006/main">
            <a:r>
              <a:t>    "basis": "운영기관 정책·서비스 공개",</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"https://www.digital.go.jp/policies/genai",</a:t>
            </a:r>
          </a:p>
          <a:p xmlns:a="http://schemas.openxmlformats.org/drawingml/2006/main">
            <a:r>
              <a:t>      "https://www.digital.go.jp/en/news/907c8e5d-2f4f-4bd7-9400-37c9f4221d7d",</a:t>
            </a:r>
          </a:p>
          <a:p xmlns:a="http://schemas.openxmlformats.org/drawingml/2006/main">
            <a:r>
              <a:t>      "https://www.digital.go.jp/assets/contents/node/information/field_ref_resources/08ded405-ca03-48c7-9b92-6b8878854a74/5147384f/20250829_news_ai_usage_report_01.pdf"</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"PF05",</a:t>
            </a:r>
          </a:p>
          <a:p xmlns:a="http://schemas.openxmlformats.org/drawingml/2006/main">
            <a:r>
              <a:t>    "canonicalId": "PF05",</a:t>
            </a:r>
          </a:p>
          <a:p xmlns:a="http://schemas.openxmlformats.org/drawingml/2006/main">
            <a:r>
              <a:t>    "purpose": "정부 공통 AI와 업무 앱의 단계적 확산",</a:t>
            </a:r>
          </a:p>
          <a:p xmlns:a="http://schemas.openxmlformats.org/drawingml/2006/main">
            <a:r>
              <a:t>    "users": "정부 직원·앱 담당·운영자",</a:t>
            </a:r>
          </a:p>
          <a:p xmlns:a="http://schemas.openxmlformats.org/drawingml/2006/main">
            <a:r>
              <a:t>    "scope": [</a:t>
            </a:r>
          </a:p>
          <a:p xmlns:a="http://schemas.openxmlformats.org/drawingml/2006/main">
            <a:r>
              <a:t>      "범용 AI",</a:t>
            </a:r>
          </a:p>
          <a:p xmlns:a="http://schemas.openxmlformats.org/drawingml/2006/main">
            <a:r>
              <a:t>      "업무 앱",</a:t>
            </a:r>
          </a:p>
          <a:p xmlns:a="http://schemas.openxmlformats.org/drawingml/2006/main">
            <a:r>
              <a:t>      "템플릿"</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"정부 사용자",</a:t>
            </a:r>
          </a:p>
          <a:p xmlns:a="http://schemas.openxmlformats.org/drawingml/2006/main">
            <a:r>
              <a:t>        "detail": "이용자·앱·업무 목적의 문맥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"범용 AI / 업무 앱 / 템플릿",</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"源内 공통 AI·앱",</a:t>
            </a:r>
          </a:p>
          <a:p xmlns:a="http://schemas.openxmlformats.org/drawingml/2006/main">
            <a:r>
              <a:t>        "detail": "공통 모델과 앱별 지식·도구 연결",</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"공무원 검토",</a:t>
            </a:r>
          </a:p>
          <a:p xmlns:a="http://schemas.openxmlformats.org/drawingml/2006/main">
            <a:r>
              <a:t>        "detail": "직원이 검토 가능한 업무 초안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"업무 문서·템플릿",</a:t>
            </a:r>
          </a:p>
          <a:p xmlns:a="http://schemas.openxmlformats.org/drawingml/2006/main">
            <a:r>
              <a:t>        "detail": "앱별 문서·템플릿·프롬프트 판본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"앱 이용·품질·개선 요청의 공통 운영",</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"정부 인증·접점",</a:t>
            </a:r>
          </a:p>
          <a:p xmlns:a="http://schemas.openxmlformats.org/drawingml/2006/main">
            <a:r>
              <a:t>        "input": "이용자·앱·업무 목적의 문맥 구성",</a:t>
            </a:r>
          </a:p>
          <a:p xmlns:a="http://schemas.openxmlformats.org/drawingml/2006/main">
            <a:r>
              <a:t>        "process": "앱별 문서·템플릿·프롬프트 판본 관리",</a:t>
            </a:r>
          </a:p>
          <a:p xmlns:a="http://schemas.openxmlformats.org/drawingml/2006/main">
            <a:r>
              <a:t>        "output": "질문·업무 선택"</a:t>
            </a:r>
          </a:p>
          <a:p xmlns:a="http://schemas.openxmlformats.org/drawingml/2006/main">
            <a:r>
              <a:t>      },</a:t>
            </a:r>
          </a:p>
          <a:p xmlns:a="http://schemas.openxmlformats.org/drawingml/2006/main">
            <a:r>
              <a:t>      {</a:t>
            </a:r>
          </a:p>
          <a:p xmlns:a="http://schemas.openxmlformats.org/drawingml/2006/main">
            <a:r>
              <a:t>        "title": "공통 AI 환경",</a:t>
            </a:r>
          </a:p>
          <a:p xmlns:a="http://schemas.openxmlformats.org/drawingml/2006/main">
            <a:r>
              <a:t>        "input": "질문·업무 선택",</a:t>
            </a:r>
          </a:p>
          <a:p xmlns:a="http://schemas.openxmlformats.org/drawingml/2006/main">
            <a:r>
              <a:t>        "process": "공통 모델과 앱별 지식·도구 연결",</a:t>
            </a:r>
          </a:p>
          <a:p xmlns:a="http://schemas.openxmlformats.org/drawingml/2006/main">
            <a:r>
              <a:t>        "output": "앱별 맥락"</a:t>
            </a:r>
          </a:p>
          <a:p xmlns:a="http://schemas.openxmlformats.org/drawingml/2006/main">
            <a:r>
              <a:t>      },</a:t>
            </a:r>
          </a:p>
          <a:p xmlns:a="http://schemas.openxmlformats.org/drawingml/2006/main">
            <a:r>
              <a:t>      {</a:t>
            </a:r>
          </a:p>
          <a:p xmlns:a="http://schemas.openxmlformats.org/drawingml/2006/main">
            <a:r>
              <a:t>        "title": "법제·답변 업무 앱",</a:t>
            </a:r>
          </a:p>
          <a:p xmlns:a="http://schemas.openxmlformats.org/drawingml/2006/main">
            <a:r>
              <a:t>        "input": "앱별 맥락",</a:t>
            </a:r>
          </a:p>
          <a:p xmlns:a="http://schemas.openxmlformats.org/drawingml/2006/main">
            <a:r>
              <a:t>        "process": "업무별 평가·기관별 데이터 경계",</a:t>
            </a:r>
          </a:p>
          <a:p xmlns:a="http://schemas.openxmlformats.org/drawingml/2006/main">
            <a:r>
              <a:t>        "output": "답변·초안"</a:t>
            </a:r>
          </a:p>
          <a:p xmlns:a="http://schemas.openxmlformats.org/drawingml/2006/main">
            <a:r>
              <a:t>      },</a:t>
            </a:r>
          </a:p>
          <a:p xmlns:a="http://schemas.openxmlformats.org/drawingml/2006/main">
            <a:r>
              <a:t>      {</a:t>
            </a:r>
          </a:p>
          <a:p xmlns:a="http://schemas.openxmlformats.org/drawingml/2006/main">
            <a:r>
              <a:t>        "title": "이용 관측·현업 개선",</a:t>
            </a:r>
          </a:p>
          <a:p xmlns:a="http://schemas.openxmlformats.org/drawingml/2006/main">
            <a:r>
              <a:t>        "input": "답변·초안",</a:t>
            </a:r>
          </a:p>
          <a:p xmlns:a="http://schemas.openxmlformats.org/drawingml/2006/main">
            <a:r>
              <a:t>        "process": "직원이 검토 가능한 업무 초안 제공",</a:t>
            </a:r>
          </a:p>
          <a:p xmlns:a="http://schemas.openxmlformats.org/drawingml/2006/main">
            <a:r>
              <a:t>        "output": "이용·품질 기록"</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"현업 앱에서 승인된 지식과 템플릿으로 초안 작성",</a:t>
            </a:r>
          </a:p>
          <a:p xmlns:a="http://schemas.openxmlformats.org/drawingml/2006/main">
            <a:r>
              <a:t>      "exception": "앱 간 문서 혼입·구판 템플릿·담당자 변경",</a:t>
            </a:r>
          </a:p>
          <a:p xmlns:a="http://schemas.openxmlformats.org/drawingml/2006/main">
            <a:r>
              <a:t>      "evidence": "앱·판본·소관별 결과와 갱신·승인 기록",</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"정부 직원·앱 담당·운영자",</a:t>
            </a:r>
          </a:p>
          <a:p xmlns:a="http://schemas.openxmlformats.org/drawingml/2006/main">
            <a:r>
              <a:t>          "processing": "이용자·앱·업무 목적의 문맥 구성",</a:t>
            </a:r>
          </a:p>
          <a:p xmlns:a="http://schemas.openxmlformats.org/drawingml/2006/main">
            <a:r>
              <a:t>          "output": "질문·업무 선택"</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"업무 문서·템플릿",</a:t>
            </a:r>
          </a:p>
          <a:p xmlns:a="http://schemas.openxmlformats.org/drawingml/2006/main">
            <a:r>
              <a:t>          "processing": "앱별 문서·템플릿·프롬프트 판본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"질문·업무 선택",</a:t>
            </a:r>
          </a:p>
          <a:p xmlns:a="http://schemas.openxmlformats.org/drawingml/2006/main">
            <a:r>
              <a:t>          "processing": "공통 모델과 앱별 지식·도구 연결",</a:t>
            </a:r>
          </a:p>
          <a:p xmlns:a="http://schemas.openxmlformats.org/drawingml/2006/main">
            <a:r>
              <a:t>          "output": "답변·초안"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"답변·초안",</a:t>
            </a:r>
          </a:p>
          <a:p xmlns:a="http://schemas.openxmlformats.org/drawingml/2006/main">
            <a:r>
              <a:t>          "processing": "직원이 검토 가능한 업무 초안 제공",</a:t>
            </a:r>
          </a:p>
          <a:p xmlns:a="http://schemas.openxmlformats.org/drawingml/2006/main">
            <a:r>
              <a:t>          "output": "이용·품질 기록"</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"앱 이용·품질·개선 요청의 공통 운영",</a:t>
            </a:r>
          </a:p>
          <a:p xmlns:a="http://schemas.openxmlformats.org/drawingml/2006/main">
            <a:r>
              <a:t>          "output": "앱·판본·소관별 결과와 갱신·승인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"앱 이용·품질·개선 요청의 공통 운영",</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"운영기관 정책·서비스 공개",</a:t>
            </a:r>
          </a:p>
          <a:p xmlns:a="http://schemas.openxmlformats.org/drawingml/2006/main">
            <a:r>
              <a:t>        "url": "https://www.digital.go.jp/policies/genai"</a:t>
            </a:r>
          </a:p>
          <a:p xmlns:a="http://schemas.openxmlformats.org/drawingml/2006/main">
            <a:r>
              <a:t>      }</a:t>
            </a:r>
          </a:p>
          <a:p xmlns:a="http://schemas.openxmlformats.org/drawingml/2006/main">
            <a:r>
              <a:t>    ],</a:t>
            </a:r>
          </a:p>
          <a:p xmlns:a="http://schemas.openxmlformats.org/drawingml/2006/main">
            <a:r>
              <a:t>    "implication": "공통 AI 운영과 현업 앱의 소유·갱신·승인 책임을 함께 정의",</a:t>
            </a:r>
          </a:p>
          <a:p xmlns:a="http://schemas.openxmlformats.org/drawingml/2006/main">
            <a:r>
              <a:t>    "local": "공통 AI 운영과 현업 앱의 소유·갱신·승인 책임을 함께 정의",</a:t>
            </a:r>
          </a:p>
          <a:p xmlns:a="http://schemas.openxmlformats.org/drawingml/2006/main">
            <a:r>
              <a:t>    "sourceDetail": null,</a:t>
            </a:r>
          </a:p>
          <a:p xmlns:a="http://schemas.openxmlformats.org/drawingml/2006/main">
            <a:r>
              <a:t>    "narrative": [</a:t>
            </a:r>
          </a:p>
          <a:p xmlns:a="http://schemas.openxmlformats.org/drawingml/2006/main">
            <a:r>
              <a:t>      "일본 정부 AI 源内의 공통 AI 도구와 업무 앱 확산 사례. 범용 도구 제공과 특정 업무를 수행하는 앱 개발을 함께 운영해 직원의 활용 진입점과 기관별 확장 경로를 마련하는 접근.",</a:t>
            </a:r>
          </a:p>
          <a:p xmlns:a="http://schemas.openxmlformats.org/drawingml/2006/main">
            <a:r>
              <a:t>      "공통 계정·모델 접근 계층 위에 업무 앱·지식·템플릿을 연결하는 논리 구성. 앱별 소유자, 사용 가능한 자료, 입력 형식, 출력 검토 절차를 정의하고 공통 운영에서 이용·오류·비용을 관찰하는 구조.",</a:t>
            </a:r>
          </a:p>
          <a:p xmlns:a="http://schemas.openxmlformats.org/drawingml/2006/main">
            <a:r>
              <a:t>      "TS의 AI혁신처는 공통 접속·권한·관측 기반을 담당하고 각 부서는 업무 지식과 결과물의 책임을 담당하는 운영 참고. 공통 기반 검수와 업무 앱 검수를 분리해 부서 확장 때 반복 구축을 줄이는 방식의 적용."</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"정부 업무 접점",</a:t>
            </a:r>
          </a:p>
          <a:p xmlns:a="http://schemas.openxmlformats.org/drawingml/2006/main">
            <a:r>
              <a:t>          "layer": "이용 접점",</a:t>
            </a:r>
          </a:p>
          <a:p xmlns:a="http://schemas.openxmlformats.org/drawingml/2006/main">
            <a:r>
              <a:t>          "detail": "정부 직원·앱 담당·운영자",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"앱·업무 목적",</a:t>
            </a:r>
          </a:p>
          <a:p xmlns:a="http://schemas.openxmlformats.org/drawingml/2006/main">
            <a:r>
              <a:t>          "layer": "업무 문맥",</a:t>
            </a:r>
          </a:p>
          <a:p xmlns:a="http://schemas.openxmlformats.org/drawingml/2006/main">
            <a:r>
              <a:t>          "detail": "이용자·앱·업무 목적의 문맥 구성",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"앱 지식 검색",</a:t>
            </a:r>
          </a:p>
          <a:p xmlns:a="http://schemas.openxmlformats.org/drawingml/2006/main">
            <a:r>
              <a:t>          "layer": "자료 조회",</a:t>
            </a:r>
          </a:p>
          <a:p xmlns:a="http://schemas.openxmlformats.org/drawingml/2006/main">
            <a:r>
              <a:t>          "detail": "질문·업무 선택",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"源内 공통 AI",</a:t>
            </a:r>
          </a:p>
          <a:p xmlns:a="http://schemas.openxmlformats.org/drawingml/2006/main">
            <a:r>
              <a:t>          "layer": "핵심 처리",</a:t>
            </a:r>
          </a:p>
          <a:p xmlns:a="http://schemas.openxmlformats.org/drawingml/2006/main">
            <a:r>
              <a:t>          "detail": "공통 모델과 앱별 지식·도구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"근거·용도 검사",</a:t>
            </a:r>
          </a:p>
          <a:p xmlns:a="http://schemas.openxmlformats.org/drawingml/2006/main">
            <a:r>
              <a:t>          "layer": "결과 검증",</a:t>
            </a:r>
          </a:p>
          <a:p xmlns:a="http://schemas.openxmlformats.org/drawingml/2006/main">
            <a:r>
              <a:t>          "detail": "업무별 평가·기관별 데이터 경계",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"공무원 확인",</a:t>
            </a:r>
          </a:p>
          <a:p xmlns:a="http://schemas.openxmlformats.org/drawingml/2006/main">
            <a:r>
              <a:t>          "layer": "사람 확인",</a:t>
            </a:r>
          </a:p>
          <a:p xmlns:a="http://schemas.openxmlformats.org/drawingml/2006/main">
            <a:r>
              <a:t>          "detail": "현업 앱에서 승인된 지식과 템플릿으로 초안 작성",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"업무 앱 결과",</a:t>
            </a:r>
          </a:p>
          <a:p xmlns:a="http://schemas.openxmlformats.org/drawingml/2006/main">
            <a:r>
              <a:t>          "layer": "업무 연결",</a:t>
            </a:r>
          </a:p>
          <a:p xmlns:a="http://schemas.openxmlformats.org/drawingml/2006/main">
            <a:r>
              <a:t>          "detail": "직원이 검토 가능한 업무 초안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"앱별 품질 관측",</a:t>
            </a:r>
          </a:p>
          <a:p xmlns:a="http://schemas.openxmlformats.org/drawingml/2006/main">
            <a:r>
              <a:t>          "layer": "운영 관측",</a:t>
            </a:r>
          </a:p>
          <a:p xmlns:a="http://schemas.openxmlformats.org/drawingml/2006/main">
            <a:r>
              <a:t>          "detail": "앱 이용·품질·개선 요청의 공통 운영",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"문서·템플릿",</a:t>
            </a:r>
          </a:p>
          <a:p xmlns:a="http://schemas.openxmlformats.org/drawingml/2006/main">
            <a:r>
              <a:t>          "layer": "데이터 원천",</a:t>
            </a:r>
          </a:p>
          <a:p xmlns:a="http://schemas.openxmlformats.org/drawingml/2006/main">
            <a:r>
              <a:t>          "detail": "업무 문서·템플릿",</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"판본·소유부서 정리",</a:t>
            </a:r>
          </a:p>
          <a:p xmlns:a="http://schemas.openxmlformats.org/drawingml/2006/main">
            <a:r>
              <a:t>          "layer": "준비·갱신",</a:t>
            </a:r>
          </a:p>
          <a:p xmlns:a="http://schemas.openxmlformats.org/drawingml/2006/main">
            <a:r>
              <a:t>          "detail": "앱별 문서·템플릿·프롬프트 판본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"앱별 지식",</a:t>
            </a:r>
          </a:p>
          <a:p xmlns:a="http://schemas.openxmlformats.org/drawingml/2006/main">
            <a:r>
              <a:t>          "layer": "상태·지식 저장",</a:t>
            </a:r>
          </a:p>
          <a:p xmlns:a="http://schemas.openxmlformats.org/drawingml/2006/main">
            <a:r>
              <a:t>          "detail": "앱·판본·소관별 결과와 갱신·승인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"기관별 이용정책",</a:t>
            </a:r>
          </a:p>
          <a:p xmlns:a="http://schemas.openxmlformats.org/drawingml/2006/main">
            <a:r>
              <a:t>          "layer": "권한·정책",</a:t>
            </a:r>
          </a:p>
          <a:p xmlns:a="http://schemas.openxmlformats.org/drawingml/2006/main">
            <a:r>
              <a:t>          "detail": "앱 간 문서 혼입·구판 템플릿·담당자 변경",</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"이용자·앱·업무 목적의 문맥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"질문·업무 선택",</a:t>
            </a:r>
          </a:p>
          <a:p xmlns:a="http://schemas.openxmlformats.org/drawingml/2006/main">
            <a:r>
              <a:t>          "check": "업무별 평가·기관별 데이터 경계"</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"앱별 맥락",</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"답변·초안",</a:t>
            </a:r>
          </a:p>
          <a:p xmlns:a="http://schemas.openxmlformats.org/drawingml/2006/main">
            <a:r>
              <a:t>          "check": "앱 간 문서 혼입·구판 템플릿·담당자 변경"</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"답변·초안",</a:t>
            </a:r>
          </a:p>
          <a:p xmlns:a="http://schemas.openxmlformats.org/drawingml/2006/main">
            <a:r>
              <a:t>          "check": "직원이 검토 가능한 업무 초안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"이용·품질 기록",</a:t>
            </a:r>
          </a:p>
          <a:p xmlns:a="http://schemas.openxmlformats.org/drawingml/2006/main">
            <a:r>
              <a:t>          "check": "앱·판본·소관별 결과와 갱신·승인 기록"</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"정부 공통 AI와 업무 앱의 단계적 확산 / 범용 AI·업무 앱·템플릿",</a:t>
            </a:r>
          </a:p>
          <a:p xmlns:a="http://schemas.openxmlformats.org/drawingml/2006/main">
            <a:r>
              <a:t>        "extension": "공통 AI 운영과 현업 앱의 소유·갱신·승인 책임을 함께 정의"</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"앱 간 문서 혼입·구판 템플릿·담당자 변경",</a:t>
            </a:r>
          </a:p>
          <a:p xmlns:a="http://schemas.openxmlformats.org/drawingml/2006/main">
            <a:r>
              <a:t>        "hold": "업무별 평가·기관별 데이터 경계",</a:t>
            </a:r>
          </a:p>
          <a:p xmlns:a="http://schemas.openxmlformats.org/drawingml/2006/main">
            <a:r>
              <a:t>        "recovery": "앱 이용·품질·개선 요청의 공통 운영",</a:t>
            </a:r>
          </a:p>
          <a:p xmlns:a="http://schemas.openxmlformats.org/drawingml/2006/main">
            <a:r>
              <a:t>        "evidence": "앱·판본·소관별 결과와 갱신·승인 기록"</a:t>
            </a:r>
          </a:p>
          <a:p xmlns:a="http://schemas.openxmlformats.org/drawingml/2006/main">
            <a:r>
              <a:t>      },</a:t>
            </a:r>
          </a:p>
          <a:p xmlns:a="http://schemas.openxmlformats.org/drawingml/2006/main">
            <a:r>
              <a:t>      "data": {</a:t>
            </a:r>
          </a:p>
          <a:p xmlns:a="http://schemas.openxmlformats.org/drawingml/2006/main">
            <a:r>
              <a:t>        "source": "업무 문서·템플릿",</a:t>
            </a:r>
          </a:p>
          <a:p xmlns:a="http://schemas.openxmlformats.org/drawingml/2006/main">
            <a:r>
              <a:t>        "prepare": "앱별 문서·템플릿·프롬프트 판본 관리",</a:t>
            </a:r>
          </a:p>
          <a:p xmlns:a="http://schemas.openxmlformats.org/drawingml/2006/main">
            <a:r>
              <a:t>        "output": "질문·업무 선택",</a:t>
            </a:r>
          </a:p>
          <a:p xmlns:a="http://schemas.openxmlformats.org/drawingml/2006/main">
            <a:r>
              <a:t>        "refresh": "앱 이용·품질·개선 요청의 공통 운영"</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"PF05",</a:t>
            </a:r>
          </a:p>
          <a:p xmlns:a="http://schemas.openxmlformats.org/drawingml/2006/main">
            <a:r>
              <a:t>    "success": [</a:t>
            </a:r>
          </a:p>
          <a:p xmlns:a="http://schemas.openxmlformats.org/drawingml/2006/main">
            <a:r>
              <a:t>      "정부 공통 환경과 업무 앱의 결합",</a:t>
            </a:r>
          </a:p>
          <a:p xmlns:a="http://schemas.openxmlformats.org/drawingml/2006/main">
            <a:r>
              <a:t>      "템플릿·이용 관측을 통한 개선"</a:t>
            </a:r>
          </a:p>
          <a:p xmlns:a="http://schemas.openxmlformats.org/drawingml/2006/main">
            <a:r>
              <a:t>    ],</a:t>
            </a:r>
          </a:p>
          <a:p xmlns:a="http://schemas.openxmlformats.org/drawingml/2006/main">
            <a:r>
              <a:t>    "risks": [</a:t>
            </a:r>
          </a:p>
          <a:p xmlns:a="http://schemas.openxmlformats.org/drawingml/2006/main">
            <a:r>
              <a:t>      "기관별 규정·문서 경계 차이",</a:t>
            </a:r>
          </a:p>
          <a:p xmlns:a="http://schemas.openxmlformats.org/drawingml/2006/main">
            <a:r>
              <a:t>      "청내 운영 결과의 범정부 일반화"</a:t>
            </a:r>
          </a:p>
          <a:p xmlns:a="http://schemas.openxmlformats.org/drawingml/2006/main">
            <a:r>
              <a:t>    ],</a:t>
            </a:r>
          </a:p>
          <a:p xmlns:a="http://schemas.openxmlformats.org/drawingml/2006/main">
            <a:r>
              <a:t>    "architecture": [</a:t>
            </a:r>
          </a:p>
          <a:p xmlns:a="http://schemas.openxmlformats.org/drawingml/2006/main">
            <a:r>
              <a:t>      "정부 사용자",</a:t>
            </a:r>
          </a:p>
          <a:p xmlns:a="http://schemas.openxmlformats.org/drawingml/2006/main">
            <a:r>
              <a:t>      "源内 공통 AI·앱",</a:t>
            </a:r>
          </a:p>
          <a:p xmlns:a="http://schemas.openxmlformats.org/drawingml/2006/main">
            <a:r>
              <a:t>      "업무 문서·템플릿",</a:t>
            </a:r>
          </a:p>
          <a:p xmlns:a="http://schemas.openxmlformats.org/drawingml/2006/main">
            <a:r>
              <a:t>      "공무원 검토"</a:t>
            </a:r>
          </a:p>
          <a:p xmlns:a="http://schemas.openxmlformats.org/drawingml/2006/main">
            <a:r>
              <a:t>    ],</a:t>
            </a:r>
          </a:p>
          <a:p xmlns:a="http://schemas.openxmlformats.org/drawingml/2006/main">
            <a:r>
              <a:t>    "transfers": [</a:t>
            </a:r>
          </a:p>
          <a:p xmlns:a="http://schemas.openxmlformats.org/drawingml/2006/main">
            <a:r>
              <a:t>      "질문·업무 선택",</a:t>
            </a:r>
          </a:p>
          <a:p xmlns:a="http://schemas.openxmlformats.org/drawingml/2006/main">
            <a:r>
              <a:t>      "앱별 맥락",</a:t>
            </a:r>
          </a:p>
          <a:p xmlns:a="http://schemas.openxmlformats.org/drawingml/2006/main">
            <a:r>
              <a:t>      "답변·초안",</a:t>
            </a:r>
          </a:p>
          <a:p xmlns:a="http://schemas.openxmlformats.org/drawingml/2006/main">
            <a:r>
              <a:t>      "이용·품질 기록"</a:t>
            </a:r>
          </a:p>
          <a:p xmlns:a="http://schemas.openxmlformats.org/drawingml/2006/main">
            <a:r>
              <a:t>    ],</a:t>
            </a:r>
          </a:p>
          <a:p xmlns:a="http://schemas.openxmlformats.org/drawingml/2006/main">
            <a:r>
              <a:t>    "control": "업무별 평가·기관별 데이터 경계",</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운영기관 정책·서비스 공개 https://www.digital.go.jp/policies/genai</a:t>
            </a:r>
          </a:p>
          <a:p xmlns:a="http://schemas.openxmlformats.org/drawingml/2006/main">
            <a:r>
              <a:t>홈페이지 https://heen1987-ops.github.io/TS-business-Plan-001/index.html?view=platform-cases&amp;case=PF05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"PF-A08",</a:t>
            </a:r>
          </a:p>
          <a:p xmlns:a="http://schemas.openxmlformats.org/drawingml/2006/main">
            <a:r>
              <a:t>    "sourceId": "A08",</a:t>
            </a:r>
          </a:p>
          <a:p xmlns:a="http://schemas.openxmlformats.org/drawingml/2006/main">
            <a:r>
              <a:t>    "title": "싱가포르 AIBots·Desk",</a:t>
            </a:r>
          </a:p>
          <a:p xmlns:a="http://schemas.openxmlformats.org/drawingml/2006/main">
            <a:r>
              <a:t>    "region": "해외",</a:t>
            </a:r>
          </a:p>
          <a:p xmlns:a="http://schemas.openxmlformats.org/drawingml/2006/main">
            <a:r>
              <a:t>    "owner": "GovTech / AIBots→Desk",</a:t>
            </a:r>
          </a:p>
          <a:p xmlns:a="http://schemas.openxmlformats.org/drawingml/2006/main">
            <a:r>
              <a:t>    "state": "AIBots 사용 실적 / 현재 카탈로그 Desk 통합·POV",</a:t>
            </a:r>
          </a:p>
          <a:p xmlns:a="http://schemas.openxmlformats.org/drawingml/2006/main">
            <a:r>
              <a:t>    "period": "기존 원장 확인 2026.10.16",</a:t>
            </a:r>
          </a:p>
          <a:p xmlns:a="http://schemas.openxmlformats.org/drawingml/2006/main">
            <a:r>
              <a:t>    "fact": "정부 셀프서비스 AI 플랫폼",</a:t>
            </a:r>
          </a:p>
          <a:p xmlns:a="http://schemas.openxmlformats.org/drawingml/2006/main">
            <a:r>
              <a:t>    "limit": "봇 개수·사용량이 업무성과는 아님. 2025 AIBots와 2026 Desk를 독립 실적으로 합산하지 않음",</a:t>
            </a:r>
          </a:p>
          <a:p xmlns:a="http://schemas.openxmlformats.org/drawingml/2006/main">
            <a:r>
              <a:t>    "nodes": [</a:t>
            </a:r>
          </a:p>
          <a:p xmlns:a="http://schemas.openxmlformats.org/drawingml/2006/main">
            <a:r>
              <a:t>      "부서 문서",</a:t>
            </a:r>
          </a:p>
          <a:p xmlns:a="http://schemas.openxmlformats.org/drawingml/2006/main">
            <a:r>
              <a:t>      "RAG·업무 봇",</a:t>
            </a:r>
          </a:p>
          <a:p xmlns:a="http://schemas.openxmlformats.org/drawingml/2006/main">
            <a:r>
              <a:t>      "공유·이용 통제",</a:t>
            </a:r>
          </a:p>
          <a:p xmlns:a="http://schemas.openxmlformats.org/drawingml/2006/main">
            <a:r>
              <a:t>      "업무 접점"</a:t>
            </a:r>
          </a:p>
          <a:p xmlns:a="http://schemas.openxmlformats.org/drawingml/2006/main">
            <a:r>
              <a:t>    ],</a:t>
            </a:r>
          </a:p>
          <a:p xmlns:a="http://schemas.openxmlformats.org/drawingml/2006/main">
            <a:r>
              <a:t>    "apply": "현업이 제작하는 봇의 자료 등급·공유범위·승인판본 관리",</a:t>
            </a:r>
          </a:p>
          <a:p xmlns:a="http://schemas.openxmlformats.org/drawingml/2006/main">
            <a:r>
              <a:t>    "delta": "담당·승인판본·배포·폐기 조건",</a:t>
            </a:r>
          </a:p>
          <a:p xmlns:a="http://schemas.openxmlformats.org/drawingml/2006/main">
            <a:r>
              <a:t>    "test": "중복 도구·갱신 공수의 기준선·비교 평가",</a:t>
            </a:r>
          </a:p>
          <a:p xmlns:a="http://schemas.openxmlformats.org/drawingml/2006/main">
            <a:r>
              <a:t>    "url": "https://www.tech.gov.sg/products-and-services/for-government-agencies/productivity-and-marketing/aibots/",</a:t>
            </a:r>
          </a:p>
          <a:p xmlns:a="http://schemas.openxmlformats.org/drawingml/2006/main">
            <a:r>
              <a:t>    "urls": [</a:t>
            </a:r>
          </a:p>
          <a:p xmlns:a="http://schemas.openxmlformats.org/drawingml/2006/main">
            <a:r>
              <a:t>      "https://www.tech.gov.sg/products-and-services/for-government-agencies/productivity-and-marketing/aibots/",</a:t>
            </a:r>
          </a:p>
          <a:p xmlns:a="http://schemas.openxmlformats.org/drawingml/2006/main">
            <a:r>
              <a:t>      "https://v2.developer.tech.gov.sg/products/categories/productivity-tools/aibots/features-roadmap",</a:t>
            </a:r>
          </a:p>
          <a:p xmlns:a="http://schemas.openxmlformats.org/drawingml/2006/main">
            <a:r>
              <a:t>      "https://products.tech.gov.sg/products?category=all&amp;status=ga"</a:t>
            </a:r>
          </a:p>
          <a:p xmlns:a="http://schemas.openxmlformats.org/drawingml/2006/main">
            <a:r>
              <a:t>    ],</a:t>
            </a:r>
          </a:p>
          <a:p xmlns:a="http://schemas.openxmlformats.org/drawingml/2006/main">
            <a:r>
              <a:t>    "basis": "T053 / 부서지식·셀프서비스·운영 통제",</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"중복 도구·갱신 공수",</a:t>
            </a:r>
          </a:p>
          <a:p xmlns:a="http://schemas.openxmlformats.org/drawingml/2006/main">
            <a:r>
              <a:t>    "group": "운영·실증",</a:t>
            </a:r>
          </a:p>
          <a:p xmlns:a="http://schemas.openxmlformats.org/drawingml/2006/main">
            <a:r>
              <a:t>    "sourceDetail": "문서 업로드·RAG·시스템프롬프트·팀 공유. Desk는 업무시스템 탐색·이해·실행 지향\nRestricted/Sensitive Normal 범위, 고위험 용도 승인. 최신 카탈로그의 성숙도 확인",</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"PF-A08",</a:t>
            </a:r>
          </a:p>
          <a:p xmlns:a="http://schemas.openxmlformats.org/drawingml/2006/main">
            <a:r>
              <a:t>    "canonicalId": "PF-A08",</a:t>
            </a:r>
          </a:p>
          <a:p xmlns:a="http://schemas.openxmlformats.org/drawingml/2006/main">
            <a:r>
              <a:t>    "purpose": "현업의 문서형 AI 봇 제작과 공유",</a:t>
            </a:r>
          </a:p>
          <a:p xmlns:a="http://schemas.openxmlformats.org/drawingml/2006/main">
            <a:r>
              <a:t>    "users": "정부 직원·봇 제작자·팀",</a:t>
            </a:r>
          </a:p>
          <a:p xmlns:a="http://schemas.openxmlformats.org/drawingml/2006/main">
            <a:r>
              <a:t>    "scope": [</a:t>
            </a:r>
          </a:p>
          <a:p xmlns:a="http://schemas.openxmlformats.org/drawingml/2006/main">
            <a:r>
              <a:t>      "문서 RAG",</a:t>
            </a:r>
          </a:p>
          <a:p xmlns:a="http://schemas.openxmlformats.org/drawingml/2006/main">
            <a:r>
              <a:t>      "지시 설정",</a:t>
            </a:r>
          </a:p>
          <a:p xmlns:a="http://schemas.openxmlformats.org/drawingml/2006/main">
            <a:r>
              <a:t>      "팀 공유"</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"부서 제작자",</a:t>
            </a:r>
          </a:p>
          <a:p xmlns:a="http://schemas.openxmlformats.org/drawingml/2006/main">
            <a:r>
              <a:t>        "detail": "계정·봇 접근범위·입력정보 등급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"문서 RAG / 지시 설정 / 팀 공유",</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"AIBots·Desk",</a:t>
            </a:r>
          </a:p>
          <a:p xmlns:a="http://schemas.openxmlformats.org/drawingml/2006/main">
            <a:r>
              <a:t>        "detail": "봇 지시와 문서 검색 문맥의 조정",</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"업무 이용자",</a:t>
            </a:r>
          </a:p>
          <a:p xmlns:a="http://schemas.openxmlformats.org/drawingml/2006/main">
            <a:r>
              <a:t>        "detail": "출처 답변을 팀에 제공하고 고위험 용도 심사",</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"부서 문서",</a:t>
            </a:r>
          </a:p>
          <a:p xmlns:a="http://schemas.openxmlformats.org/drawingml/2006/main">
            <a:r>
              <a:t>        "detail": "업로드 문서의 청킹·색인·소유팀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"봇 갱신·공유 범위·오답 피드백 관리",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"부서 문서",</a:t>
            </a:r>
          </a:p>
          <a:p xmlns:a="http://schemas.openxmlformats.org/drawingml/2006/main">
            <a:r>
              <a:t>        "input": "계정·봇 접근범위·입력정보 등급 확인",</a:t>
            </a:r>
          </a:p>
          <a:p xmlns:a="http://schemas.openxmlformats.org/drawingml/2006/main">
            <a:r>
              <a:t>        "process": "업로드 문서의 청킹·색인·소유팀 관리",</a:t>
            </a:r>
          </a:p>
          <a:p xmlns:a="http://schemas.openxmlformats.org/drawingml/2006/main">
            <a:r>
              <a:t>        "output": "등록 문서"</a:t>
            </a:r>
          </a:p>
          <a:p xmlns:a="http://schemas.openxmlformats.org/drawingml/2006/main">
            <a:r>
              <a:t>      },</a:t>
            </a:r>
          </a:p>
          <a:p xmlns:a="http://schemas.openxmlformats.org/drawingml/2006/main">
            <a:r>
              <a:t>      {</a:t>
            </a:r>
          </a:p>
          <a:p xmlns:a="http://schemas.openxmlformats.org/drawingml/2006/main">
            <a:r>
              <a:t>        "title": "RAG·업무 봇",</a:t>
            </a:r>
          </a:p>
          <a:p xmlns:a="http://schemas.openxmlformats.org/drawingml/2006/main">
            <a:r>
              <a:t>        "input": "등록 문서",</a:t>
            </a:r>
          </a:p>
          <a:p xmlns:a="http://schemas.openxmlformats.org/drawingml/2006/main">
            <a:r>
              <a:t>        "process": "봇 지시와 문서 검색 문맥의 조정",</a:t>
            </a:r>
          </a:p>
          <a:p xmlns:a="http://schemas.openxmlformats.org/drawingml/2006/main">
            <a:r>
              <a:t>        "output": "검색 지식"</a:t>
            </a:r>
          </a:p>
          <a:p xmlns:a="http://schemas.openxmlformats.org/drawingml/2006/main">
            <a:r>
              <a:t>      },</a:t>
            </a:r>
          </a:p>
          <a:p xmlns:a="http://schemas.openxmlformats.org/drawingml/2006/main">
            <a:r>
              <a:t>      {</a:t>
            </a:r>
          </a:p>
          <a:p xmlns:a="http://schemas.openxmlformats.org/drawingml/2006/main">
            <a:r>
              <a:t>        "title": "공유·이용 통제",</a:t>
            </a:r>
          </a:p>
          <a:p xmlns:a="http://schemas.openxmlformats.org/drawingml/2006/main">
            <a:r>
              <a:t>        "input": "검색 지식",</a:t>
            </a:r>
          </a:p>
          <a:p xmlns:a="http://schemas.openxmlformats.org/drawingml/2006/main">
            <a:r>
              <a:t>        "process": "자료 회수·봇 공유 범위 검증",</a:t>
            </a:r>
          </a:p>
          <a:p xmlns:a="http://schemas.openxmlformats.org/drawingml/2006/main">
            <a:r>
              <a:t>        "output": "업무 봇 응답"</a:t>
            </a:r>
          </a:p>
          <a:p xmlns:a="http://schemas.openxmlformats.org/drawingml/2006/main">
            <a:r>
              <a:t>      },</a:t>
            </a:r>
          </a:p>
          <a:p xmlns:a="http://schemas.openxmlformats.org/drawingml/2006/main">
            <a:r>
              <a:t>      {</a:t>
            </a:r>
          </a:p>
          <a:p xmlns:a="http://schemas.openxmlformats.org/drawingml/2006/main">
            <a:r>
              <a:t>        "title": "업무 접점",</a:t>
            </a:r>
          </a:p>
          <a:p xmlns:a="http://schemas.openxmlformats.org/drawingml/2006/main">
            <a:r>
              <a:t>        "input": "업무 봇 응답",</a:t>
            </a:r>
          </a:p>
          <a:p xmlns:a="http://schemas.openxmlformats.org/drawingml/2006/main">
            <a:r>
              <a:t>        "process": "출처 답변을 팀에 제공하고 고위험 용도 심사",</a:t>
            </a:r>
          </a:p>
          <a:p xmlns:a="http://schemas.openxmlformats.org/drawingml/2006/main">
            <a:r>
              <a:t>        "output": "이용 피드백"</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"팀이 지식 봇을 만들고 팀원에게 공유",</a:t>
            </a:r>
          </a:p>
          <a:p xmlns:a="http://schemas.openxmlformats.org/drawingml/2006/main">
            <a:r>
              <a:t>      "exception": "허용 등급 초과·공유 대상 오류·고위험 용도",</a:t>
            </a:r>
          </a:p>
          <a:p xmlns:a="http://schemas.openxmlformats.org/drawingml/2006/main">
            <a:r>
              <a:t>      "evidence": "문서 등급·봇 권한·심사·답변 출처 확인표",</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"정부 직원·봇 제작자·팀",</a:t>
            </a:r>
          </a:p>
          <a:p xmlns:a="http://schemas.openxmlformats.org/drawingml/2006/main">
            <a:r>
              <a:t>          "processing": "계정·봇 접근범위·입력정보 등급 확인",</a:t>
            </a:r>
          </a:p>
          <a:p xmlns:a="http://schemas.openxmlformats.org/drawingml/2006/main">
            <a:r>
              <a:t>          "output": "등록 문서"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"부서 문서",</a:t>
            </a:r>
          </a:p>
          <a:p xmlns:a="http://schemas.openxmlformats.org/drawingml/2006/main">
            <a:r>
              <a:t>          "processing": "업로드 문서의 청킹·색인·소유팀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"등록 문서",</a:t>
            </a:r>
          </a:p>
          <a:p xmlns:a="http://schemas.openxmlformats.org/drawingml/2006/main">
            <a:r>
              <a:t>          "processing": "봇 지시와 문서 검색 문맥의 조정",</a:t>
            </a:r>
          </a:p>
          <a:p xmlns:a="http://schemas.openxmlformats.org/drawingml/2006/main">
            <a:r>
              <a:t>          "output": "업무 봇 응답"</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"업무 봇 응답",</a:t>
            </a:r>
          </a:p>
          <a:p xmlns:a="http://schemas.openxmlformats.org/drawingml/2006/main">
            <a:r>
              <a:t>          "processing": "출처 답변을 팀에 제공하고 고위험 용도 심사",</a:t>
            </a:r>
          </a:p>
          <a:p xmlns:a="http://schemas.openxmlformats.org/drawingml/2006/main">
            <a:r>
              <a:t>          "output": "이용 피드백"</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"봇 갱신·공유 범위·오답 피드백 관리",</a:t>
            </a:r>
          </a:p>
          <a:p xmlns:a="http://schemas.openxmlformats.org/drawingml/2006/main">
            <a:r>
              <a:t>          "output": "문서 등급·봇 권한·심사·답변 출처 확인표"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"봇 갱신·공유 범위·오답 피드백 관리",</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"T053 / 부서지식·셀프서비스·운영 통제",</a:t>
            </a:r>
          </a:p>
          <a:p xmlns:a="http://schemas.openxmlformats.org/drawingml/2006/main">
            <a:r>
              <a:t>        "url": "https://www.tech.gov.sg/products-and-services/for-government-agencies/productivity-and-marketing/aibots/"</a:t>
            </a:r>
          </a:p>
          <a:p xmlns:a="http://schemas.openxmlformats.org/drawingml/2006/main">
            <a:r>
              <a:t>      }</a:t>
            </a:r>
          </a:p>
          <a:p xmlns:a="http://schemas.openxmlformats.org/drawingml/2006/main">
            <a:r>
              <a:t>    ],</a:t>
            </a:r>
          </a:p>
          <a:p xmlns:a="http://schemas.openxmlformats.org/drawingml/2006/main">
            <a:r>
              <a:t>    "implication": "현업이 제작하는 봇의 자료 등급·공유범위·승인판본 관리",</a:t>
            </a:r>
          </a:p>
          <a:p xmlns:a="http://schemas.openxmlformats.org/drawingml/2006/main">
            <a:r>
              <a:t>    "local": "현업이 제작하는 봇의 자료 등급·공유범위·승인판본 관리",</a:t>
            </a:r>
          </a:p>
          <a:p xmlns:a="http://schemas.openxmlformats.org/drawingml/2006/main">
            <a:r>
              <a:t>    "sourceDetail": "문서 업로드·RAG·시스템프롬프트·팀 공유. Desk는 업무시스템 탐색·이해·실행 지향\nRestricted/Sensitive Normal 범위, 고위험 용도 승인. 최신 카탈로그의 성숙도 확인",</a:t>
            </a:r>
          </a:p>
          <a:p xmlns:a="http://schemas.openxmlformats.org/drawingml/2006/main">
            <a:r>
              <a:t>    "narrative": [</a:t>
            </a:r>
          </a:p>
          <a:p xmlns:a="http://schemas.openxmlformats.org/drawingml/2006/main">
            <a:r>
              <a:t>      "싱가포르 AIBots의 문서 기반 봇 제작·공유 사례. 전문 개발자 외의 직원이 지시와 문서를 설정해 팀의 반복 질문에 대응하는 봇을 구성하는 접근.",</a:t>
            </a:r>
          </a:p>
          <a:p xmlns:a="http://schemas.openxmlformats.org/drawingml/2006/main">
            <a:r>
              <a:t>      "문서 업로드·색인, 봇 지시 설정, 팀 공유, 질의 검색, 근거 응답의 흐름으로 재구성. 봇 소유자와 문서 소유자가 다를 수 있으므로 공유 권한 변경과 문서 삭제를 검색 결과에 함께 반영하는 통제 설계.",</a:t>
            </a:r>
          </a:p>
          <a:p xmlns:a="http://schemas.openxmlformats.org/drawingml/2006/main">
            <a:r>
              <a:t>      "CCK에서는 부서 봇을 개인 계정의 지식 저장소로 방치하지 않는 운영이 중요. 소유자 전보·퇴직, 공유 해제, 규정 개정 이후 검색 결과를 비교하고 봇의 인수인계와 자료 폐기 이력을 공통 관리 대상으로 설정."</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"봇 제작·대화",</a:t>
            </a:r>
          </a:p>
          <a:p xmlns:a="http://schemas.openxmlformats.org/drawingml/2006/main">
            <a:r>
              <a:t>          "layer": "이용 접점",</a:t>
            </a:r>
          </a:p>
          <a:p xmlns:a="http://schemas.openxmlformats.org/drawingml/2006/main">
            <a:r>
              <a:t>          "detail": "정부 직원·봇 제작자·팀",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"계정·봇·공유범위",</a:t>
            </a:r>
          </a:p>
          <a:p xmlns:a="http://schemas.openxmlformats.org/drawingml/2006/main">
            <a:r>
              <a:t>          "layer": "업무 문맥",</a:t>
            </a:r>
          </a:p>
          <a:p xmlns:a="http://schemas.openxmlformats.org/drawingml/2006/main">
            <a:r>
              <a:t>          "detail": "계정·봇 접근범위·입력정보 등급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"봇 문서 검색",</a:t>
            </a:r>
          </a:p>
          <a:p xmlns:a="http://schemas.openxmlformats.org/drawingml/2006/main">
            <a:r>
              <a:t>          "layer": "자료 조회",</a:t>
            </a:r>
          </a:p>
          <a:p xmlns:a="http://schemas.openxmlformats.org/drawingml/2006/main">
            <a:r>
              <a:t>          "detail": "등록 문서",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"AIBots 지시 처리",</a:t>
            </a:r>
          </a:p>
          <a:p xmlns:a="http://schemas.openxmlformats.org/drawingml/2006/main">
            <a:r>
              <a:t>          "layer": "핵심 처리",</a:t>
            </a:r>
          </a:p>
          <a:p xmlns:a="http://schemas.openxmlformats.org/drawingml/2006/main">
            <a:r>
              <a:t>          "detail": "봇 지시와 문서 검색 문맥의 조정",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"출처·정보등급 검사",</a:t>
            </a:r>
          </a:p>
          <a:p xmlns:a="http://schemas.openxmlformats.org/drawingml/2006/main">
            <a:r>
              <a:t>          "layer": "결과 검증",</a:t>
            </a:r>
          </a:p>
          <a:p xmlns:a="http://schemas.openxmlformats.org/drawingml/2006/main">
            <a:r>
              <a:t>          "detail": "자료 회수·봇 공유 범위 검증",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"팀 검토",</a:t>
            </a:r>
          </a:p>
          <a:p xmlns:a="http://schemas.openxmlformats.org/drawingml/2006/main">
            <a:r>
              <a:t>          "layer": "사람 확인",</a:t>
            </a:r>
          </a:p>
          <a:p xmlns:a="http://schemas.openxmlformats.org/drawingml/2006/main">
            <a:r>
              <a:t>          "detail": "팀이 지식 봇을 만들고 팀원에게 공유",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"봇 공유·응답",</a:t>
            </a:r>
          </a:p>
          <a:p xmlns:a="http://schemas.openxmlformats.org/drawingml/2006/main">
            <a:r>
              <a:t>          "layer": "업무 연결",</a:t>
            </a:r>
          </a:p>
          <a:p xmlns:a="http://schemas.openxmlformats.org/drawingml/2006/main">
            <a:r>
              <a:t>          "detail": "출처 답변을 팀에 제공하고 고위험 용도 심사",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"오답·갱신 관리",</a:t>
            </a:r>
          </a:p>
          <a:p xmlns:a="http://schemas.openxmlformats.org/drawingml/2006/main">
            <a:r>
              <a:t>          "layer": "운영 관측",</a:t>
            </a:r>
          </a:p>
          <a:p xmlns:a="http://schemas.openxmlformats.org/drawingml/2006/main">
            <a:r>
              <a:t>          "detail": "봇 갱신·공유 범위·오답 피드백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"업로드 문서",</a:t>
            </a:r>
          </a:p>
          <a:p xmlns:a="http://schemas.openxmlformats.org/drawingml/2006/main">
            <a:r>
              <a:t>          "layer": "데이터 원천",</a:t>
            </a:r>
          </a:p>
          <a:p xmlns:a="http://schemas.openxmlformats.org/drawingml/2006/main">
            <a:r>
              <a:t>          "detail": "부서 문서",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"청킹·소유팀 매핑",</a:t>
            </a:r>
          </a:p>
          <a:p xmlns:a="http://schemas.openxmlformats.org/drawingml/2006/main">
            <a:r>
              <a:t>          "layer": "준비·갱신",</a:t>
            </a:r>
          </a:p>
          <a:p xmlns:a="http://schemas.openxmlformats.org/drawingml/2006/main">
            <a:r>
              <a:t>          "detail": "업로드 문서의 청킹·색인·소유팀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"봇 지식·설정",</a:t>
            </a:r>
          </a:p>
          <a:p xmlns:a="http://schemas.openxmlformats.org/drawingml/2006/main">
            <a:r>
              <a:t>          "layer": "상태·지식 저장",</a:t>
            </a:r>
          </a:p>
          <a:p xmlns:a="http://schemas.openxmlformats.org/drawingml/2006/main">
            <a:r>
              <a:t>          "detail": "문서 등급·봇 권한·심사·답변 출처 확인표",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"공유·회수 정책",</a:t>
            </a:r>
          </a:p>
          <a:p xmlns:a="http://schemas.openxmlformats.org/drawingml/2006/main">
            <a:r>
              <a:t>          "layer": "권한·정책",</a:t>
            </a:r>
          </a:p>
          <a:p xmlns:a="http://schemas.openxmlformats.org/drawingml/2006/main">
            <a:r>
              <a:t>          "detail": "허용 등급 초과·공유 대상 오류·고위험 용도",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"계정·봇 접근범위·입력정보 등급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"등록 문서",</a:t>
            </a:r>
          </a:p>
          <a:p xmlns:a="http://schemas.openxmlformats.org/drawingml/2006/main">
            <a:r>
              <a:t>          "check": "자료 회수·봇 공유 범위 검증"</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"검색 지식",</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"업무 봇 응답",</a:t>
            </a:r>
          </a:p>
          <a:p xmlns:a="http://schemas.openxmlformats.org/drawingml/2006/main">
            <a:r>
              <a:t>          "check": "허용 등급 초과·공유 대상 오류·고위험 용도"</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"업무 봇 응답",</a:t>
            </a:r>
          </a:p>
          <a:p xmlns:a="http://schemas.openxmlformats.org/drawingml/2006/main">
            <a:r>
              <a:t>          "check": "출처 답변을 팀에 제공하고 고위험 용도 심사"</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"이용 피드백",</a:t>
            </a:r>
          </a:p>
          <a:p xmlns:a="http://schemas.openxmlformats.org/drawingml/2006/main">
            <a:r>
              <a:t>          "check": "문서 등급·봇 권한·심사·답변 출처 확인표"</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"현업의 문서형 AI 봇 제작과 공유 / 문서 RAG·지시 설정·팀 공유",</a:t>
            </a:r>
          </a:p>
          <a:p xmlns:a="http://schemas.openxmlformats.org/drawingml/2006/main">
            <a:r>
              <a:t>        "extension": "현업이 제작하는 봇의 자료 등급·공유범위·승인판본 관리"</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"허용 등급 초과·공유 대상 오류·고위험 용도",</a:t>
            </a:r>
          </a:p>
          <a:p xmlns:a="http://schemas.openxmlformats.org/drawingml/2006/main">
            <a:r>
              <a:t>        "hold": "자료 회수·봇 공유 범위 검증",</a:t>
            </a:r>
          </a:p>
          <a:p xmlns:a="http://schemas.openxmlformats.org/drawingml/2006/main">
            <a:r>
              <a:t>        "recovery": "봇 갱신·공유 범위·오답 피드백 관리",</a:t>
            </a:r>
          </a:p>
          <a:p xmlns:a="http://schemas.openxmlformats.org/drawingml/2006/main">
            <a:r>
              <a:t>        "evidence": "문서 등급·봇 권한·심사·답변 출처 확인표"</a:t>
            </a:r>
          </a:p>
          <a:p xmlns:a="http://schemas.openxmlformats.org/drawingml/2006/main">
            <a:r>
              <a:t>      },</a:t>
            </a:r>
          </a:p>
          <a:p xmlns:a="http://schemas.openxmlformats.org/drawingml/2006/main">
            <a:r>
              <a:t>      "data": {</a:t>
            </a:r>
          </a:p>
          <a:p xmlns:a="http://schemas.openxmlformats.org/drawingml/2006/main">
            <a:r>
              <a:t>        "source": "부서 문서",</a:t>
            </a:r>
          </a:p>
          <a:p xmlns:a="http://schemas.openxmlformats.org/drawingml/2006/main">
            <a:r>
              <a:t>        "prepare": "업로드 문서의 청킹·색인·소유팀 관리",</a:t>
            </a:r>
          </a:p>
          <a:p xmlns:a="http://schemas.openxmlformats.org/drawingml/2006/main">
            <a:r>
              <a:t>        "output": "등록 문서",</a:t>
            </a:r>
          </a:p>
          <a:p xmlns:a="http://schemas.openxmlformats.org/drawingml/2006/main">
            <a:r>
              <a:t>        "refresh": "봇 갱신·공유 범위·오답 피드백 관리"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"PF-A08",</a:t>
            </a:r>
          </a:p>
          <a:p xmlns:a="http://schemas.openxmlformats.org/drawingml/2006/main">
            <a:r>
              <a:t>    "success": [</a:t>
            </a:r>
          </a:p>
          <a:p xmlns:a="http://schemas.openxmlformats.org/drawingml/2006/main">
            <a:r>
              <a:t>      "부서 문서로 업무 봇 구성",</a:t>
            </a:r>
          </a:p>
          <a:p xmlns:a="http://schemas.openxmlformats.org/drawingml/2006/main">
            <a:r>
              <a:t>      "공유·이용 범위의 관리"</a:t>
            </a:r>
          </a:p>
          <a:p xmlns:a="http://schemas.openxmlformats.org/drawingml/2006/main">
            <a:r>
              <a:t>    ],</a:t>
            </a:r>
          </a:p>
          <a:p xmlns:a="http://schemas.openxmlformats.org/drawingml/2006/main">
            <a:r>
              <a:t>    "risks": [</a:t>
            </a:r>
          </a:p>
          <a:p xmlns:a="http://schemas.openxmlformats.org/drawingml/2006/main">
            <a:r>
              <a:t>      "출처 문서 갱신 누락",</a:t>
            </a:r>
          </a:p>
          <a:p xmlns:a="http://schemas.openxmlformats.org/drawingml/2006/main">
            <a:r>
              <a:t>      "봇 공유 시 권한 확대"</a:t>
            </a:r>
          </a:p>
          <a:p xmlns:a="http://schemas.openxmlformats.org/drawingml/2006/main">
            <a:r>
              <a:t>    ],</a:t>
            </a:r>
          </a:p>
          <a:p xmlns:a="http://schemas.openxmlformats.org/drawingml/2006/main">
            <a:r>
              <a:t>    "architecture": [</a:t>
            </a:r>
          </a:p>
          <a:p xmlns:a="http://schemas.openxmlformats.org/drawingml/2006/main">
            <a:r>
              <a:t>      "부서 제작자",</a:t>
            </a:r>
          </a:p>
          <a:p xmlns:a="http://schemas.openxmlformats.org/drawingml/2006/main">
            <a:r>
              <a:t>      "AIBots·Desk",</a:t>
            </a:r>
          </a:p>
          <a:p xmlns:a="http://schemas.openxmlformats.org/drawingml/2006/main">
            <a:r>
              <a:t>      "부서 문서",</a:t>
            </a:r>
          </a:p>
          <a:p xmlns:a="http://schemas.openxmlformats.org/drawingml/2006/main">
            <a:r>
              <a:t>      "업무 이용자"</a:t>
            </a:r>
          </a:p>
          <a:p xmlns:a="http://schemas.openxmlformats.org/drawingml/2006/main">
            <a:r>
              <a:t>    ],</a:t>
            </a:r>
          </a:p>
          <a:p xmlns:a="http://schemas.openxmlformats.org/drawingml/2006/main">
            <a:r>
              <a:t>    "transfers": [</a:t>
            </a:r>
          </a:p>
          <a:p xmlns:a="http://schemas.openxmlformats.org/drawingml/2006/main">
            <a:r>
              <a:t>      "등록 문서",</a:t>
            </a:r>
          </a:p>
          <a:p xmlns:a="http://schemas.openxmlformats.org/drawingml/2006/main">
            <a:r>
              <a:t>      "검색 지식",</a:t>
            </a:r>
          </a:p>
          <a:p xmlns:a="http://schemas.openxmlformats.org/drawingml/2006/main">
            <a:r>
              <a:t>      "업무 봇 응답",</a:t>
            </a:r>
          </a:p>
          <a:p xmlns:a="http://schemas.openxmlformats.org/drawingml/2006/main">
            <a:r>
              <a:t>      "이용 피드백"</a:t>
            </a:r>
          </a:p>
          <a:p xmlns:a="http://schemas.openxmlformats.org/drawingml/2006/main">
            <a:r>
              <a:t>    ],</a:t>
            </a:r>
          </a:p>
          <a:p xmlns:a="http://schemas.openxmlformats.org/drawingml/2006/main">
            <a:r>
              <a:t>    "control": "자료 회수·봇 공유 범위 검증",</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T053 / 부서지식·셀프서비스·운영 통제 https://www.tech.gov.sg/products-and-services/for-government-agencies/productivity-and-marketing/aibots/</a:t>
            </a:r>
          </a:p>
          <a:p xmlns:a="http://schemas.openxmlformats.org/drawingml/2006/main">
            <a:r>
              <a:t>홈페이지 https://heen1987-ops.github.io/TS-business-Plan-001/index.html?view=platform-cases&amp;case=PF-A08</a:t>
            </a:r>
          </a:p>
          <a:p xmlns:a="http://schemas.openxmlformats.org/drawingml/2006/main">
            <a:r>
              <a:t>한계: 봇 개수·사용량이 업무성과는 아님. 2025 AIBots와 2026 Desk를 독립 실적으로 합산하지 않음</a:t>
            </a:r>
          </a:p>
          <a:p xmlns:a="http://schemas.openxmlformats.org/drawingml/2006/main">
            <a:r>
              <a:t>실패 위험: 출처 문서 갱신 누락 / 봇 공유 시 권한 확대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"PF-A08",</a:t>
            </a:r>
          </a:p>
          <a:p xmlns:a="http://schemas.openxmlformats.org/drawingml/2006/main">
            <a:r>
              <a:t>    "sourceId": "A08",</a:t>
            </a:r>
          </a:p>
          <a:p xmlns:a="http://schemas.openxmlformats.org/drawingml/2006/main">
            <a:r>
              <a:t>    "title": "싱가포르 AIBots·Desk",</a:t>
            </a:r>
          </a:p>
          <a:p xmlns:a="http://schemas.openxmlformats.org/drawingml/2006/main">
            <a:r>
              <a:t>    "region": "해외",</a:t>
            </a:r>
          </a:p>
          <a:p xmlns:a="http://schemas.openxmlformats.org/drawingml/2006/main">
            <a:r>
              <a:t>    "owner": "GovTech / AIBots→Desk",</a:t>
            </a:r>
          </a:p>
          <a:p xmlns:a="http://schemas.openxmlformats.org/drawingml/2006/main">
            <a:r>
              <a:t>    "state": "AIBots 사용 실적 / 현재 카탈로그 Desk 통합·POV",</a:t>
            </a:r>
          </a:p>
          <a:p xmlns:a="http://schemas.openxmlformats.org/drawingml/2006/main">
            <a:r>
              <a:t>    "period": "기존 원장 확인 2026.10.16",</a:t>
            </a:r>
          </a:p>
          <a:p xmlns:a="http://schemas.openxmlformats.org/drawingml/2006/main">
            <a:r>
              <a:t>    "fact": "정부 셀프서비스 AI 플랫폼",</a:t>
            </a:r>
          </a:p>
          <a:p xmlns:a="http://schemas.openxmlformats.org/drawingml/2006/main">
            <a:r>
              <a:t>    "limit": "봇 개수·사용량이 업무성과는 아님. 2025 AIBots와 2026 Desk를 독립 실적으로 합산하지 않음",</a:t>
            </a:r>
          </a:p>
          <a:p xmlns:a="http://schemas.openxmlformats.org/drawingml/2006/main">
            <a:r>
              <a:t>    "nodes": [</a:t>
            </a:r>
          </a:p>
          <a:p xmlns:a="http://schemas.openxmlformats.org/drawingml/2006/main">
            <a:r>
              <a:t>      "부서 문서",</a:t>
            </a:r>
          </a:p>
          <a:p xmlns:a="http://schemas.openxmlformats.org/drawingml/2006/main">
            <a:r>
              <a:t>      "RAG·업무 봇",</a:t>
            </a:r>
          </a:p>
          <a:p xmlns:a="http://schemas.openxmlformats.org/drawingml/2006/main">
            <a:r>
              <a:t>      "공유·이용 통제",</a:t>
            </a:r>
          </a:p>
          <a:p xmlns:a="http://schemas.openxmlformats.org/drawingml/2006/main">
            <a:r>
              <a:t>      "업무 접점"</a:t>
            </a:r>
          </a:p>
          <a:p xmlns:a="http://schemas.openxmlformats.org/drawingml/2006/main">
            <a:r>
              <a:t>    ],</a:t>
            </a:r>
          </a:p>
          <a:p xmlns:a="http://schemas.openxmlformats.org/drawingml/2006/main">
            <a:r>
              <a:t>    "apply": "현업이 제작하는 봇의 자료 등급·공유범위·승인판본 관리",</a:t>
            </a:r>
          </a:p>
          <a:p xmlns:a="http://schemas.openxmlformats.org/drawingml/2006/main">
            <a:r>
              <a:t>    "delta": "담당·승인판본·배포·폐기 조건",</a:t>
            </a:r>
          </a:p>
          <a:p xmlns:a="http://schemas.openxmlformats.org/drawingml/2006/main">
            <a:r>
              <a:t>    "test": "중복 도구·갱신 공수의 기준선·비교 평가",</a:t>
            </a:r>
          </a:p>
          <a:p xmlns:a="http://schemas.openxmlformats.org/drawingml/2006/main">
            <a:r>
              <a:t>    "url": "https://www.tech.gov.sg/products-and-services/for-government-agencies/productivity-and-marketing/aibots/",</a:t>
            </a:r>
          </a:p>
          <a:p xmlns:a="http://schemas.openxmlformats.org/drawingml/2006/main">
            <a:r>
              <a:t>    "urls": [</a:t>
            </a:r>
          </a:p>
          <a:p xmlns:a="http://schemas.openxmlformats.org/drawingml/2006/main">
            <a:r>
              <a:t>      "https://www.tech.gov.sg/products-and-services/for-government-agencies/productivity-and-marketing/aibots/",</a:t>
            </a:r>
          </a:p>
          <a:p xmlns:a="http://schemas.openxmlformats.org/drawingml/2006/main">
            <a:r>
              <a:t>      "https://v2.developer.tech.gov.sg/products/categories/productivity-tools/aibots/features-roadmap",</a:t>
            </a:r>
          </a:p>
          <a:p xmlns:a="http://schemas.openxmlformats.org/drawingml/2006/main">
            <a:r>
              <a:t>      "https://products.tech.gov.sg/products?category=all&amp;status=ga"</a:t>
            </a:r>
          </a:p>
          <a:p xmlns:a="http://schemas.openxmlformats.org/drawingml/2006/main">
            <a:r>
              <a:t>    ],</a:t>
            </a:r>
          </a:p>
          <a:p xmlns:a="http://schemas.openxmlformats.org/drawingml/2006/main">
            <a:r>
              <a:t>    "basis": "T053 / 부서지식·셀프서비스·운영 통제",</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"중복 도구·갱신 공수",</a:t>
            </a:r>
          </a:p>
          <a:p xmlns:a="http://schemas.openxmlformats.org/drawingml/2006/main">
            <a:r>
              <a:t>    "group": "운영·실증",</a:t>
            </a:r>
          </a:p>
          <a:p xmlns:a="http://schemas.openxmlformats.org/drawingml/2006/main">
            <a:r>
              <a:t>    "sourceDetail": "문서 업로드·RAG·시스템프롬프트·팀 공유. Desk는 업무시스템 탐색·이해·실행 지향\nRestricted/Sensitive Normal 범위, 고위험 용도 승인. 최신 카탈로그의 성숙도 확인",</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"PF-A08",</a:t>
            </a:r>
          </a:p>
          <a:p xmlns:a="http://schemas.openxmlformats.org/drawingml/2006/main">
            <a:r>
              <a:t>    "canonicalId": "PF-A08",</a:t>
            </a:r>
          </a:p>
          <a:p xmlns:a="http://schemas.openxmlformats.org/drawingml/2006/main">
            <a:r>
              <a:t>    "purpose": "현업의 문서형 AI 봇 제작과 공유",</a:t>
            </a:r>
          </a:p>
          <a:p xmlns:a="http://schemas.openxmlformats.org/drawingml/2006/main">
            <a:r>
              <a:t>    "users": "정부 직원·봇 제작자·팀",</a:t>
            </a:r>
          </a:p>
          <a:p xmlns:a="http://schemas.openxmlformats.org/drawingml/2006/main">
            <a:r>
              <a:t>    "scope": [</a:t>
            </a:r>
          </a:p>
          <a:p xmlns:a="http://schemas.openxmlformats.org/drawingml/2006/main">
            <a:r>
              <a:t>      "문서 RAG",</a:t>
            </a:r>
          </a:p>
          <a:p xmlns:a="http://schemas.openxmlformats.org/drawingml/2006/main">
            <a:r>
              <a:t>      "지시 설정",</a:t>
            </a:r>
          </a:p>
          <a:p xmlns:a="http://schemas.openxmlformats.org/drawingml/2006/main">
            <a:r>
              <a:t>      "팀 공유"</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"부서 제작자",</a:t>
            </a:r>
          </a:p>
          <a:p xmlns:a="http://schemas.openxmlformats.org/drawingml/2006/main">
            <a:r>
              <a:t>        "detail": "계정·봇 접근범위·입력정보 등급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"문서 RAG / 지시 설정 / 팀 공유",</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"AIBots·Desk",</a:t>
            </a:r>
          </a:p>
          <a:p xmlns:a="http://schemas.openxmlformats.org/drawingml/2006/main">
            <a:r>
              <a:t>        "detail": "봇 지시와 문서 검색 문맥의 조정",</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"업무 이용자",</a:t>
            </a:r>
          </a:p>
          <a:p xmlns:a="http://schemas.openxmlformats.org/drawingml/2006/main">
            <a:r>
              <a:t>        "detail": "출처 답변을 팀에 제공하고 고위험 용도 심사",</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"부서 문서",</a:t>
            </a:r>
          </a:p>
          <a:p xmlns:a="http://schemas.openxmlformats.org/drawingml/2006/main">
            <a:r>
              <a:t>        "detail": "업로드 문서의 청킹·색인·소유팀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"봇 갱신·공유 범위·오답 피드백 관리",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"부서 문서",</a:t>
            </a:r>
          </a:p>
          <a:p xmlns:a="http://schemas.openxmlformats.org/drawingml/2006/main">
            <a:r>
              <a:t>        "input": "계정·봇 접근범위·입력정보 등급 확인",</a:t>
            </a:r>
          </a:p>
          <a:p xmlns:a="http://schemas.openxmlformats.org/drawingml/2006/main">
            <a:r>
              <a:t>        "process": "업로드 문서의 청킹·색인·소유팀 관리",</a:t>
            </a:r>
          </a:p>
          <a:p xmlns:a="http://schemas.openxmlformats.org/drawingml/2006/main">
            <a:r>
              <a:t>        "output": "등록 문서"</a:t>
            </a:r>
          </a:p>
          <a:p xmlns:a="http://schemas.openxmlformats.org/drawingml/2006/main">
            <a:r>
              <a:t>      },</a:t>
            </a:r>
          </a:p>
          <a:p xmlns:a="http://schemas.openxmlformats.org/drawingml/2006/main">
            <a:r>
              <a:t>      {</a:t>
            </a:r>
          </a:p>
          <a:p xmlns:a="http://schemas.openxmlformats.org/drawingml/2006/main">
            <a:r>
              <a:t>        "title": "RAG·업무 봇",</a:t>
            </a:r>
          </a:p>
          <a:p xmlns:a="http://schemas.openxmlformats.org/drawingml/2006/main">
            <a:r>
              <a:t>        "input": "등록 문서",</a:t>
            </a:r>
          </a:p>
          <a:p xmlns:a="http://schemas.openxmlformats.org/drawingml/2006/main">
            <a:r>
              <a:t>        "process": "봇 지시와 문서 검색 문맥의 조정",</a:t>
            </a:r>
          </a:p>
          <a:p xmlns:a="http://schemas.openxmlformats.org/drawingml/2006/main">
            <a:r>
              <a:t>        "output": "검색 지식"</a:t>
            </a:r>
          </a:p>
          <a:p xmlns:a="http://schemas.openxmlformats.org/drawingml/2006/main">
            <a:r>
              <a:t>      },</a:t>
            </a:r>
          </a:p>
          <a:p xmlns:a="http://schemas.openxmlformats.org/drawingml/2006/main">
            <a:r>
              <a:t>      {</a:t>
            </a:r>
          </a:p>
          <a:p xmlns:a="http://schemas.openxmlformats.org/drawingml/2006/main">
            <a:r>
              <a:t>        "title": "공유·이용 통제",</a:t>
            </a:r>
          </a:p>
          <a:p xmlns:a="http://schemas.openxmlformats.org/drawingml/2006/main">
            <a:r>
              <a:t>        "input": "검색 지식",</a:t>
            </a:r>
          </a:p>
          <a:p xmlns:a="http://schemas.openxmlformats.org/drawingml/2006/main">
            <a:r>
              <a:t>        "process": "자료 회수·봇 공유 범위 검증",</a:t>
            </a:r>
          </a:p>
          <a:p xmlns:a="http://schemas.openxmlformats.org/drawingml/2006/main">
            <a:r>
              <a:t>        "output": "업무 봇 응답"</a:t>
            </a:r>
          </a:p>
          <a:p xmlns:a="http://schemas.openxmlformats.org/drawingml/2006/main">
            <a:r>
              <a:t>      },</a:t>
            </a:r>
          </a:p>
          <a:p xmlns:a="http://schemas.openxmlformats.org/drawingml/2006/main">
            <a:r>
              <a:t>      {</a:t>
            </a:r>
          </a:p>
          <a:p xmlns:a="http://schemas.openxmlformats.org/drawingml/2006/main">
            <a:r>
              <a:t>        "title": "업무 접점",</a:t>
            </a:r>
          </a:p>
          <a:p xmlns:a="http://schemas.openxmlformats.org/drawingml/2006/main">
            <a:r>
              <a:t>        "input": "업무 봇 응답",</a:t>
            </a:r>
          </a:p>
          <a:p xmlns:a="http://schemas.openxmlformats.org/drawingml/2006/main">
            <a:r>
              <a:t>        "process": "출처 답변을 팀에 제공하고 고위험 용도 심사",</a:t>
            </a:r>
          </a:p>
          <a:p xmlns:a="http://schemas.openxmlformats.org/drawingml/2006/main">
            <a:r>
              <a:t>        "output": "이용 피드백"</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"팀이 지식 봇을 만들고 팀원에게 공유",</a:t>
            </a:r>
          </a:p>
          <a:p xmlns:a="http://schemas.openxmlformats.org/drawingml/2006/main">
            <a:r>
              <a:t>      "exception": "허용 등급 초과·공유 대상 오류·고위험 용도",</a:t>
            </a:r>
          </a:p>
          <a:p xmlns:a="http://schemas.openxmlformats.org/drawingml/2006/main">
            <a:r>
              <a:t>      "evidence": "문서 등급·봇 권한·심사·답변 출처 확인표",</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"정부 직원·봇 제작자·팀",</a:t>
            </a:r>
          </a:p>
          <a:p xmlns:a="http://schemas.openxmlformats.org/drawingml/2006/main">
            <a:r>
              <a:t>          "processing": "계정·봇 접근범위·입력정보 등급 확인",</a:t>
            </a:r>
          </a:p>
          <a:p xmlns:a="http://schemas.openxmlformats.org/drawingml/2006/main">
            <a:r>
              <a:t>          "output": "등록 문서"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"부서 문서",</a:t>
            </a:r>
          </a:p>
          <a:p xmlns:a="http://schemas.openxmlformats.org/drawingml/2006/main">
            <a:r>
              <a:t>          "processing": "업로드 문서의 청킹·색인·소유팀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"등록 문서",</a:t>
            </a:r>
          </a:p>
          <a:p xmlns:a="http://schemas.openxmlformats.org/drawingml/2006/main">
            <a:r>
              <a:t>          "processing": "봇 지시와 문서 검색 문맥의 조정",</a:t>
            </a:r>
          </a:p>
          <a:p xmlns:a="http://schemas.openxmlformats.org/drawingml/2006/main">
            <a:r>
              <a:t>          "output": "업무 봇 응답"</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"업무 봇 응답",</a:t>
            </a:r>
          </a:p>
          <a:p xmlns:a="http://schemas.openxmlformats.org/drawingml/2006/main">
            <a:r>
              <a:t>          "processing": "출처 답변을 팀에 제공하고 고위험 용도 심사",</a:t>
            </a:r>
          </a:p>
          <a:p xmlns:a="http://schemas.openxmlformats.org/drawingml/2006/main">
            <a:r>
              <a:t>          "output": "이용 피드백"</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"봇 갱신·공유 범위·오답 피드백 관리",</a:t>
            </a:r>
          </a:p>
          <a:p xmlns:a="http://schemas.openxmlformats.org/drawingml/2006/main">
            <a:r>
              <a:t>          "output": "문서 등급·봇 권한·심사·답변 출처 확인표"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"봇 갱신·공유 범위·오답 피드백 관리",</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"T053 / 부서지식·셀프서비스·운영 통제",</a:t>
            </a:r>
          </a:p>
          <a:p xmlns:a="http://schemas.openxmlformats.org/drawingml/2006/main">
            <a:r>
              <a:t>        "url": "https://www.tech.gov.sg/products-and-services/for-government-agencies/productivity-and-marketing/aibots/"</a:t>
            </a:r>
          </a:p>
          <a:p xmlns:a="http://schemas.openxmlformats.org/drawingml/2006/main">
            <a:r>
              <a:t>      }</a:t>
            </a:r>
          </a:p>
          <a:p xmlns:a="http://schemas.openxmlformats.org/drawingml/2006/main">
            <a:r>
              <a:t>    ],</a:t>
            </a:r>
          </a:p>
          <a:p xmlns:a="http://schemas.openxmlformats.org/drawingml/2006/main">
            <a:r>
              <a:t>    "implication": "현업이 제작하는 봇의 자료 등급·공유범위·승인판본 관리",</a:t>
            </a:r>
          </a:p>
          <a:p xmlns:a="http://schemas.openxmlformats.org/drawingml/2006/main">
            <a:r>
              <a:t>    "local": "현업이 제작하는 봇의 자료 등급·공유범위·승인판본 관리",</a:t>
            </a:r>
          </a:p>
          <a:p xmlns:a="http://schemas.openxmlformats.org/drawingml/2006/main">
            <a:r>
              <a:t>    "sourceDetail": "문서 업로드·RAG·시스템프롬프트·팀 공유. Desk는 업무시스템 탐색·이해·실행 지향\nRestricted/Sensitive Normal 범위, 고위험 용도 승인. 최신 카탈로그의 성숙도 확인",</a:t>
            </a:r>
          </a:p>
          <a:p xmlns:a="http://schemas.openxmlformats.org/drawingml/2006/main">
            <a:r>
              <a:t>    "narrative": [</a:t>
            </a:r>
          </a:p>
          <a:p xmlns:a="http://schemas.openxmlformats.org/drawingml/2006/main">
            <a:r>
              <a:t>      "싱가포르 AIBots의 문서 기반 봇 제작·공유 사례. 전문 개발자 외의 직원이 지시와 문서를 설정해 팀의 반복 질문에 대응하는 봇을 구성하는 접근.",</a:t>
            </a:r>
          </a:p>
          <a:p xmlns:a="http://schemas.openxmlformats.org/drawingml/2006/main">
            <a:r>
              <a:t>      "문서 업로드·색인, 봇 지시 설정, 팀 공유, 질의 검색, 근거 응답의 흐름으로 재구성. 봇 소유자와 문서 소유자가 다를 수 있으므로 공유 권한 변경과 문서 삭제를 검색 결과에 함께 반영하는 통제 설계.",</a:t>
            </a:r>
          </a:p>
          <a:p xmlns:a="http://schemas.openxmlformats.org/drawingml/2006/main">
            <a:r>
              <a:t>      "CCK에서는 부서 봇을 개인 계정의 지식 저장소로 방치하지 않는 운영이 중요. 소유자 전보·퇴직, 공유 해제, 규정 개정 이후 검색 결과를 비교하고 봇의 인수인계와 자료 폐기 이력을 공통 관리 대상으로 설정."</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"봇 제작·대화",</a:t>
            </a:r>
          </a:p>
          <a:p xmlns:a="http://schemas.openxmlformats.org/drawingml/2006/main">
            <a:r>
              <a:t>          "layer": "이용 접점",</a:t>
            </a:r>
          </a:p>
          <a:p xmlns:a="http://schemas.openxmlformats.org/drawingml/2006/main">
            <a:r>
              <a:t>          "detail": "정부 직원·봇 제작자·팀",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"계정·봇·공유범위",</a:t>
            </a:r>
          </a:p>
          <a:p xmlns:a="http://schemas.openxmlformats.org/drawingml/2006/main">
            <a:r>
              <a:t>          "layer": "업무 문맥",</a:t>
            </a:r>
          </a:p>
          <a:p xmlns:a="http://schemas.openxmlformats.org/drawingml/2006/main">
            <a:r>
              <a:t>          "detail": "계정·봇 접근범위·입력정보 등급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"봇 문서 검색",</a:t>
            </a:r>
          </a:p>
          <a:p xmlns:a="http://schemas.openxmlformats.org/drawingml/2006/main">
            <a:r>
              <a:t>          "layer": "자료 조회",</a:t>
            </a:r>
          </a:p>
          <a:p xmlns:a="http://schemas.openxmlformats.org/drawingml/2006/main">
            <a:r>
              <a:t>          "detail": "등록 문서",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"AIBots 지시 처리",</a:t>
            </a:r>
          </a:p>
          <a:p xmlns:a="http://schemas.openxmlformats.org/drawingml/2006/main">
            <a:r>
              <a:t>          "layer": "핵심 처리",</a:t>
            </a:r>
          </a:p>
          <a:p xmlns:a="http://schemas.openxmlformats.org/drawingml/2006/main">
            <a:r>
              <a:t>          "detail": "봇 지시와 문서 검색 문맥의 조정",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"출처·정보등급 검사",</a:t>
            </a:r>
          </a:p>
          <a:p xmlns:a="http://schemas.openxmlformats.org/drawingml/2006/main">
            <a:r>
              <a:t>          "layer": "결과 검증",</a:t>
            </a:r>
          </a:p>
          <a:p xmlns:a="http://schemas.openxmlformats.org/drawingml/2006/main">
            <a:r>
              <a:t>          "detail": "자료 회수·봇 공유 범위 검증",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"팀 검토",</a:t>
            </a:r>
          </a:p>
          <a:p xmlns:a="http://schemas.openxmlformats.org/drawingml/2006/main">
            <a:r>
              <a:t>          "layer": "사람 확인",</a:t>
            </a:r>
          </a:p>
          <a:p xmlns:a="http://schemas.openxmlformats.org/drawingml/2006/main">
            <a:r>
              <a:t>          "detail": "팀이 지식 봇을 만들고 팀원에게 공유",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"봇 공유·응답",</a:t>
            </a:r>
          </a:p>
          <a:p xmlns:a="http://schemas.openxmlformats.org/drawingml/2006/main">
            <a:r>
              <a:t>          "layer": "업무 연결",</a:t>
            </a:r>
          </a:p>
          <a:p xmlns:a="http://schemas.openxmlformats.org/drawingml/2006/main">
            <a:r>
              <a:t>          "detail": "출처 답변을 팀에 제공하고 고위험 용도 심사",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"오답·갱신 관리",</a:t>
            </a:r>
          </a:p>
          <a:p xmlns:a="http://schemas.openxmlformats.org/drawingml/2006/main">
            <a:r>
              <a:t>          "layer": "운영 관측",</a:t>
            </a:r>
          </a:p>
          <a:p xmlns:a="http://schemas.openxmlformats.org/drawingml/2006/main">
            <a:r>
              <a:t>          "detail": "봇 갱신·공유 범위·오답 피드백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"업로드 문서",</a:t>
            </a:r>
          </a:p>
          <a:p xmlns:a="http://schemas.openxmlformats.org/drawingml/2006/main">
            <a:r>
              <a:t>          "layer": "데이터 원천",</a:t>
            </a:r>
          </a:p>
          <a:p xmlns:a="http://schemas.openxmlformats.org/drawingml/2006/main">
            <a:r>
              <a:t>          "detail": "부서 문서",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"청킹·소유팀 매핑",</a:t>
            </a:r>
          </a:p>
          <a:p xmlns:a="http://schemas.openxmlformats.org/drawingml/2006/main">
            <a:r>
              <a:t>          "layer": "준비·갱신",</a:t>
            </a:r>
          </a:p>
          <a:p xmlns:a="http://schemas.openxmlformats.org/drawingml/2006/main">
            <a:r>
              <a:t>          "detail": "업로드 문서의 청킹·색인·소유팀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"봇 지식·설정",</a:t>
            </a:r>
          </a:p>
          <a:p xmlns:a="http://schemas.openxmlformats.org/drawingml/2006/main">
            <a:r>
              <a:t>          "layer": "상태·지식 저장",</a:t>
            </a:r>
          </a:p>
          <a:p xmlns:a="http://schemas.openxmlformats.org/drawingml/2006/main">
            <a:r>
              <a:t>          "detail": "문서 등급·봇 권한·심사·답변 출처 확인표",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"공유·회수 정책",</a:t>
            </a:r>
          </a:p>
          <a:p xmlns:a="http://schemas.openxmlformats.org/drawingml/2006/main">
            <a:r>
              <a:t>          "layer": "권한·정책",</a:t>
            </a:r>
          </a:p>
          <a:p xmlns:a="http://schemas.openxmlformats.org/drawingml/2006/main">
            <a:r>
              <a:t>          "detail": "허용 등급 초과·공유 대상 오류·고위험 용도",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"계정·봇 접근범위·입력정보 등급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"등록 문서",</a:t>
            </a:r>
          </a:p>
          <a:p xmlns:a="http://schemas.openxmlformats.org/drawingml/2006/main">
            <a:r>
              <a:t>          "check": "자료 회수·봇 공유 범위 검증"</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"검색 지식",</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"업무 봇 응답",</a:t>
            </a:r>
          </a:p>
          <a:p xmlns:a="http://schemas.openxmlformats.org/drawingml/2006/main">
            <a:r>
              <a:t>          "check": "허용 등급 초과·공유 대상 오류·고위험 용도"</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"업무 봇 응답",</a:t>
            </a:r>
          </a:p>
          <a:p xmlns:a="http://schemas.openxmlformats.org/drawingml/2006/main">
            <a:r>
              <a:t>          "check": "출처 답변을 팀에 제공하고 고위험 용도 심사"</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"이용 피드백",</a:t>
            </a:r>
          </a:p>
          <a:p xmlns:a="http://schemas.openxmlformats.org/drawingml/2006/main">
            <a:r>
              <a:t>          "check": "문서 등급·봇 권한·심사·답변 출처 확인표"</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"현업의 문서형 AI 봇 제작과 공유 / 문서 RAG·지시 설정·팀 공유",</a:t>
            </a:r>
          </a:p>
          <a:p xmlns:a="http://schemas.openxmlformats.org/drawingml/2006/main">
            <a:r>
              <a:t>        "extension": "현업이 제작하는 봇의 자료 등급·공유범위·승인판본 관리"</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"허용 등급 초과·공유 대상 오류·고위험 용도",</a:t>
            </a:r>
          </a:p>
          <a:p xmlns:a="http://schemas.openxmlformats.org/drawingml/2006/main">
            <a:r>
              <a:t>        "hold": "자료 회수·봇 공유 범위 검증",</a:t>
            </a:r>
          </a:p>
          <a:p xmlns:a="http://schemas.openxmlformats.org/drawingml/2006/main">
            <a:r>
              <a:t>        "recovery": "봇 갱신·공유 범위·오답 피드백 관리",</a:t>
            </a:r>
          </a:p>
          <a:p xmlns:a="http://schemas.openxmlformats.org/drawingml/2006/main">
            <a:r>
              <a:t>        "evidence": "문서 등급·봇 권한·심사·답변 출처 확인표"</a:t>
            </a:r>
          </a:p>
          <a:p xmlns:a="http://schemas.openxmlformats.org/drawingml/2006/main">
            <a:r>
              <a:t>      },</a:t>
            </a:r>
          </a:p>
          <a:p xmlns:a="http://schemas.openxmlformats.org/drawingml/2006/main">
            <a:r>
              <a:t>      "data": {</a:t>
            </a:r>
          </a:p>
          <a:p xmlns:a="http://schemas.openxmlformats.org/drawingml/2006/main">
            <a:r>
              <a:t>        "source": "부서 문서",</a:t>
            </a:r>
          </a:p>
          <a:p xmlns:a="http://schemas.openxmlformats.org/drawingml/2006/main">
            <a:r>
              <a:t>        "prepare": "업로드 문서의 청킹·색인·소유팀 관리",</a:t>
            </a:r>
          </a:p>
          <a:p xmlns:a="http://schemas.openxmlformats.org/drawingml/2006/main">
            <a:r>
              <a:t>        "output": "등록 문서",</a:t>
            </a:r>
          </a:p>
          <a:p xmlns:a="http://schemas.openxmlformats.org/drawingml/2006/main">
            <a:r>
              <a:t>        "refresh": "봇 갱신·공유 범위·오답 피드백 관리"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"PF-A08",</a:t>
            </a:r>
          </a:p>
          <a:p xmlns:a="http://schemas.openxmlformats.org/drawingml/2006/main">
            <a:r>
              <a:t>    "success": [</a:t>
            </a:r>
          </a:p>
          <a:p xmlns:a="http://schemas.openxmlformats.org/drawingml/2006/main">
            <a:r>
              <a:t>      "부서 문서로 업무 봇 구성",</a:t>
            </a:r>
          </a:p>
          <a:p xmlns:a="http://schemas.openxmlformats.org/drawingml/2006/main">
            <a:r>
              <a:t>      "공유·이용 범위의 관리"</a:t>
            </a:r>
          </a:p>
          <a:p xmlns:a="http://schemas.openxmlformats.org/drawingml/2006/main">
            <a:r>
              <a:t>    ],</a:t>
            </a:r>
          </a:p>
          <a:p xmlns:a="http://schemas.openxmlformats.org/drawingml/2006/main">
            <a:r>
              <a:t>    "risks": [</a:t>
            </a:r>
          </a:p>
          <a:p xmlns:a="http://schemas.openxmlformats.org/drawingml/2006/main">
            <a:r>
              <a:t>      "출처 문서 갱신 누락",</a:t>
            </a:r>
          </a:p>
          <a:p xmlns:a="http://schemas.openxmlformats.org/drawingml/2006/main">
            <a:r>
              <a:t>      "봇 공유 시 권한 확대"</a:t>
            </a:r>
          </a:p>
          <a:p xmlns:a="http://schemas.openxmlformats.org/drawingml/2006/main">
            <a:r>
              <a:t>    ],</a:t>
            </a:r>
          </a:p>
          <a:p xmlns:a="http://schemas.openxmlformats.org/drawingml/2006/main">
            <a:r>
              <a:t>    "architecture": [</a:t>
            </a:r>
          </a:p>
          <a:p xmlns:a="http://schemas.openxmlformats.org/drawingml/2006/main">
            <a:r>
              <a:t>      "부서 제작자",</a:t>
            </a:r>
          </a:p>
          <a:p xmlns:a="http://schemas.openxmlformats.org/drawingml/2006/main">
            <a:r>
              <a:t>      "AIBots·Desk",</a:t>
            </a:r>
          </a:p>
          <a:p xmlns:a="http://schemas.openxmlformats.org/drawingml/2006/main">
            <a:r>
              <a:t>      "부서 문서",</a:t>
            </a:r>
          </a:p>
          <a:p xmlns:a="http://schemas.openxmlformats.org/drawingml/2006/main">
            <a:r>
              <a:t>      "업무 이용자"</a:t>
            </a:r>
          </a:p>
          <a:p xmlns:a="http://schemas.openxmlformats.org/drawingml/2006/main">
            <a:r>
              <a:t>    ],</a:t>
            </a:r>
          </a:p>
          <a:p xmlns:a="http://schemas.openxmlformats.org/drawingml/2006/main">
            <a:r>
              <a:t>    "transfers": [</a:t>
            </a:r>
          </a:p>
          <a:p xmlns:a="http://schemas.openxmlformats.org/drawingml/2006/main">
            <a:r>
              <a:t>      "등록 문서",</a:t>
            </a:r>
          </a:p>
          <a:p xmlns:a="http://schemas.openxmlformats.org/drawingml/2006/main">
            <a:r>
              <a:t>      "검색 지식",</a:t>
            </a:r>
          </a:p>
          <a:p xmlns:a="http://schemas.openxmlformats.org/drawingml/2006/main">
            <a:r>
              <a:t>      "업무 봇 응답",</a:t>
            </a:r>
          </a:p>
          <a:p xmlns:a="http://schemas.openxmlformats.org/drawingml/2006/main">
            <a:r>
              <a:t>      "이용 피드백"</a:t>
            </a:r>
          </a:p>
          <a:p xmlns:a="http://schemas.openxmlformats.org/drawingml/2006/main">
            <a:r>
              <a:t>    ],</a:t>
            </a:r>
          </a:p>
          <a:p xmlns:a="http://schemas.openxmlformats.org/drawingml/2006/main">
            <a:r>
              <a:t>    "control": "자료 회수·봇 공유 범위 검증",</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T053 / 부서지식·셀프서비스·운영 통제 https://www.tech.gov.sg/products-and-services/for-government-agencies/productivity-and-marketing/aibots/</a:t>
            </a:r>
          </a:p>
          <a:p xmlns:a="http://schemas.openxmlformats.org/drawingml/2006/main">
            <a:r>
              <a:t>홈페이지 https://heen1987-ops.github.io/TS-business-Plan-001/index.html?view=platform-cases&amp;case=PF-A08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"PF-A08",</a:t>
            </a:r>
          </a:p>
          <a:p xmlns:a="http://schemas.openxmlformats.org/drawingml/2006/main">
            <a:r>
              <a:t>    "sourceId": "A08",</a:t>
            </a:r>
          </a:p>
          <a:p xmlns:a="http://schemas.openxmlformats.org/drawingml/2006/main">
            <a:r>
              <a:t>    "title": "싱가포르 AIBots·Desk",</a:t>
            </a:r>
          </a:p>
          <a:p xmlns:a="http://schemas.openxmlformats.org/drawingml/2006/main">
            <a:r>
              <a:t>    "region": "해외",</a:t>
            </a:r>
          </a:p>
          <a:p xmlns:a="http://schemas.openxmlformats.org/drawingml/2006/main">
            <a:r>
              <a:t>    "owner": "GovTech / AIBots→Desk",</a:t>
            </a:r>
          </a:p>
          <a:p xmlns:a="http://schemas.openxmlformats.org/drawingml/2006/main">
            <a:r>
              <a:t>    "state": "AIBots 사용 실적 / 현재 카탈로그 Desk 통합·POV",</a:t>
            </a:r>
          </a:p>
          <a:p xmlns:a="http://schemas.openxmlformats.org/drawingml/2006/main">
            <a:r>
              <a:t>    "period": "기존 원장 확인 2026.10.16",</a:t>
            </a:r>
          </a:p>
          <a:p xmlns:a="http://schemas.openxmlformats.org/drawingml/2006/main">
            <a:r>
              <a:t>    "fact": "정부 셀프서비스 AI 플랫폼",</a:t>
            </a:r>
          </a:p>
          <a:p xmlns:a="http://schemas.openxmlformats.org/drawingml/2006/main">
            <a:r>
              <a:t>    "limit": "봇 개수·사용량이 업무성과는 아님. 2025 AIBots와 2026 Desk를 독립 실적으로 합산하지 않음",</a:t>
            </a:r>
          </a:p>
          <a:p xmlns:a="http://schemas.openxmlformats.org/drawingml/2006/main">
            <a:r>
              <a:t>    "nodes": [</a:t>
            </a:r>
          </a:p>
          <a:p xmlns:a="http://schemas.openxmlformats.org/drawingml/2006/main">
            <a:r>
              <a:t>      "부서 문서",</a:t>
            </a:r>
          </a:p>
          <a:p xmlns:a="http://schemas.openxmlformats.org/drawingml/2006/main">
            <a:r>
              <a:t>      "RAG·업무 봇",</a:t>
            </a:r>
          </a:p>
          <a:p xmlns:a="http://schemas.openxmlformats.org/drawingml/2006/main">
            <a:r>
              <a:t>      "공유·이용 통제",</a:t>
            </a:r>
          </a:p>
          <a:p xmlns:a="http://schemas.openxmlformats.org/drawingml/2006/main">
            <a:r>
              <a:t>      "업무 접점"</a:t>
            </a:r>
          </a:p>
          <a:p xmlns:a="http://schemas.openxmlformats.org/drawingml/2006/main">
            <a:r>
              <a:t>    ],</a:t>
            </a:r>
          </a:p>
          <a:p xmlns:a="http://schemas.openxmlformats.org/drawingml/2006/main">
            <a:r>
              <a:t>    "apply": "현업이 제작하는 봇의 자료 등급·공유범위·승인판본 관리",</a:t>
            </a:r>
          </a:p>
          <a:p xmlns:a="http://schemas.openxmlformats.org/drawingml/2006/main">
            <a:r>
              <a:t>    "delta": "담당·승인판본·배포·폐기 조건",</a:t>
            </a:r>
          </a:p>
          <a:p xmlns:a="http://schemas.openxmlformats.org/drawingml/2006/main">
            <a:r>
              <a:t>    "test": "중복 도구·갱신 공수의 기준선·비교 평가",</a:t>
            </a:r>
          </a:p>
          <a:p xmlns:a="http://schemas.openxmlformats.org/drawingml/2006/main">
            <a:r>
              <a:t>    "url": "https://www.tech.gov.sg/products-and-services/for-government-agencies/productivity-and-marketing/aibots/",</a:t>
            </a:r>
          </a:p>
          <a:p xmlns:a="http://schemas.openxmlformats.org/drawingml/2006/main">
            <a:r>
              <a:t>    "urls": [</a:t>
            </a:r>
          </a:p>
          <a:p xmlns:a="http://schemas.openxmlformats.org/drawingml/2006/main">
            <a:r>
              <a:t>      "https://www.tech.gov.sg/products-and-services/for-government-agencies/productivity-and-marketing/aibots/",</a:t>
            </a:r>
          </a:p>
          <a:p xmlns:a="http://schemas.openxmlformats.org/drawingml/2006/main">
            <a:r>
              <a:t>      "https://v2.developer.tech.gov.sg/products/categories/productivity-tools/aibots/features-roadmap",</a:t>
            </a:r>
          </a:p>
          <a:p xmlns:a="http://schemas.openxmlformats.org/drawingml/2006/main">
            <a:r>
              <a:t>      "https://products.tech.gov.sg/products?category=all&amp;status=ga"</a:t>
            </a:r>
          </a:p>
          <a:p xmlns:a="http://schemas.openxmlformats.org/drawingml/2006/main">
            <a:r>
              <a:t>    ],</a:t>
            </a:r>
          </a:p>
          <a:p xmlns:a="http://schemas.openxmlformats.org/drawingml/2006/main">
            <a:r>
              <a:t>    "basis": "T053 / 부서지식·셀프서비스·운영 통제",</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"중복 도구·갱신 공수",</a:t>
            </a:r>
          </a:p>
          <a:p xmlns:a="http://schemas.openxmlformats.org/drawingml/2006/main">
            <a:r>
              <a:t>    "group": "운영·실증",</a:t>
            </a:r>
          </a:p>
          <a:p xmlns:a="http://schemas.openxmlformats.org/drawingml/2006/main">
            <a:r>
              <a:t>    "sourceDetail": "문서 업로드·RAG·시스템프롬프트·팀 공유. Desk는 업무시스템 탐색·이해·실행 지향\nRestricted/Sensitive Normal 범위, 고위험 용도 승인. 최신 카탈로그의 성숙도 확인",</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"PF-A08",</a:t>
            </a:r>
          </a:p>
          <a:p xmlns:a="http://schemas.openxmlformats.org/drawingml/2006/main">
            <a:r>
              <a:t>    "canonicalId": "PF-A08",</a:t>
            </a:r>
          </a:p>
          <a:p xmlns:a="http://schemas.openxmlformats.org/drawingml/2006/main">
            <a:r>
              <a:t>    "purpose": "현업의 문서형 AI 봇 제작과 공유",</a:t>
            </a:r>
          </a:p>
          <a:p xmlns:a="http://schemas.openxmlformats.org/drawingml/2006/main">
            <a:r>
              <a:t>    "users": "정부 직원·봇 제작자·팀",</a:t>
            </a:r>
          </a:p>
          <a:p xmlns:a="http://schemas.openxmlformats.org/drawingml/2006/main">
            <a:r>
              <a:t>    "scope": [</a:t>
            </a:r>
          </a:p>
          <a:p xmlns:a="http://schemas.openxmlformats.org/drawingml/2006/main">
            <a:r>
              <a:t>      "문서 RAG",</a:t>
            </a:r>
          </a:p>
          <a:p xmlns:a="http://schemas.openxmlformats.org/drawingml/2006/main">
            <a:r>
              <a:t>      "지시 설정",</a:t>
            </a:r>
          </a:p>
          <a:p xmlns:a="http://schemas.openxmlformats.org/drawingml/2006/main">
            <a:r>
              <a:t>      "팀 공유"</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"부서 제작자",</a:t>
            </a:r>
          </a:p>
          <a:p xmlns:a="http://schemas.openxmlformats.org/drawingml/2006/main">
            <a:r>
              <a:t>        "detail": "계정·봇 접근범위·입력정보 등급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"문서 RAG / 지시 설정 / 팀 공유",</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"AIBots·Desk",</a:t>
            </a:r>
          </a:p>
          <a:p xmlns:a="http://schemas.openxmlformats.org/drawingml/2006/main">
            <a:r>
              <a:t>        "detail": "봇 지시와 문서 검색 문맥의 조정",</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"업무 이용자",</a:t>
            </a:r>
          </a:p>
          <a:p xmlns:a="http://schemas.openxmlformats.org/drawingml/2006/main">
            <a:r>
              <a:t>        "detail": "출처 답변을 팀에 제공하고 고위험 용도 심사",</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"부서 문서",</a:t>
            </a:r>
          </a:p>
          <a:p xmlns:a="http://schemas.openxmlformats.org/drawingml/2006/main">
            <a:r>
              <a:t>        "detail": "업로드 문서의 청킹·색인·소유팀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"봇 갱신·공유 범위·오답 피드백 관리",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"부서 문서",</a:t>
            </a:r>
          </a:p>
          <a:p xmlns:a="http://schemas.openxmlformats.org/drawingml/2006/main">
            <a:r>
              <a:t>        "input": "계정·봇 접근범위·입력정보 등급 확인",</a:t>
            </a:r>
          </a:p>
          <a:p xmlns:a="http://schemas.openxmlformats.org/drawingml/2006/main">
            <a:r>
              <a:t>        "process": "업로드 문서의 청킹·색인·소유팀 관리",</a:t>
            </a:r>
          </a:p>
          <a:p xmlns:a="http://schemas.openxmlformats.org/drawingml/2006/main">
            <a:r>
              <a:t>        "output": "등록 문서"</a:t>
            </a:r>
          </a:p>
          <a:p xmlns:a="http://schemas.openxmlformats.org/drawingml/2006/main">
            <a:r>
              <a:t>      },</a:t>
            </a:r>
          </a:p>
          <a:p xmlns:a="http://schemas.openxmlformats.org/drawingml/2006/main">
            <a:r>
              <a:t>      {</a:t>
            </a:r>
          </a:p>
          <a:p xmlns:a="http://schemas.openxmlformats.org/drawingml/2006/main">
            <a:r>
              <a:t>        "title": "RAG·업무 봇",</a:t>
            </a:r>
          </a:p>
          <a:p xmlns:a="http://schemas.openxmlformats.org/drawingml/2006/main">
            <a:r>
              <a:t>        "input": "등록 문서",</a:t>
            </a:r>
          </a:p>
          <a:p xmlns:a="http://schemas.openxmlformats.org/drawingml/2006/main">
            <a:r>
              <a:t>        "process": "봇 지시와 문서 검색 문맥의 조정",</a:t>
            </a:r>
          </a:p>
          <a:p xmlns:a="http://schemas.openxmlformats.org/drawingml/2006/main">
            <a:r>
              <a:t>        "output": "검색 지식"</a:t>
            </a:r>
          </a:p>
          <a:p xmlns:a="http://schemas.openxmlformats.org/drawingml/2006/main">
            <a:r>
              <a:t>      },</a:t>
            </a:r>
          </a:p>
          <a:p xmlns:a="http://schemas.openxmlformats.org/drawingml/2006/main">
            <a:r>
              <a:t>      {</a:t>
            </a:r>
          </a:p>
          <a:p xmlns:a="http://schemas.openxmlformats.org/drawingml/2006/main">
            <a:r>
              <a:t>        "title": "공유·이용 통제",</a:t>
            </a:r>
          </a:p>
          <a:p xmlns:a="http://schemas.openxmlformats.org/drawingml/2006/main">
            <a:r>
              <a:t>        "input": "검색 지식",</a:t>
            </a:r>
          </a:p>
          <a:p xmlns:a="http://schemas.openxmlformats.org/drawingml/2006/main">
            <a:r>
              <a:t>        "process": "자료 회수·봇 공유 범위 검증",</a:t>
            </a:r>
          </a:p>
          <a:p xmlns:a="http://schemas.openxmlformats.org/drawingml/2006/main">
            <a:r>
              <a:t>        "output": "업무 봇 응답"</a:t>
            </a:r>
          </a:p>
          <a:p xmlns:a="http://schemas.openxmlformats.org/drawingml/2006/main">
            <a:r>
              <a:t>      },</a:t>
            </a:r>
          </a:p>
          <a:p xmlns:a="http://schemas.openxmlformats.org/drawingml/2006/main">
            <a:r>
              <a:t>      {</a:t>
            </a:r>
          </a:p>
          <a:p xmlns:a="http://schemas.openxmlformats.org/drawingml/2006/main">
            <a:r>
              <a:t>        "title": "업무 접점",</a:t>
            </a:r>
          </a:p>
          <a:p xmlns:a="http://schemas.openxmlformats.org/drawingml/2006/main">
            <a:r>
              <a:t>        "input": "업무 봇 응답",</a:t>
            </a:r>
          </a:p>
          <a:p xmlns:a="http://schemas.openxmlformats.org/drawingml/2006/main">
            <a:r>
              <a:t>        "process": "출처 답변을 팀에 제공하고 고위험 용도 심사",</a:t>
            </a:r>
          </a:p>
          <a:p xmlns:a="http://schemas.openxmlformats.org/drawingml/2006/main">
            <a:r>
              <a:t>        "output": "이용 피드백"</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"팀이 지식 봇을 만들고 팀원에게 공유",</a:t>
            </a:r>
          </a:p>
          <a:p xmlns:a="http://schemas.openxmlformats.org/drawingml/2006/main">
            <a:r>
              <a:t>      "exception": "허용 등급 초과·공유 대상 오류·고위험 용도",</a:t>
            </a:r>
          </a:p>
          <a:p xmlns:a="http://schemas.openxmlformats.org/drawingml/2006/main">
            <a:r>
              <a:t>      "evidence": "문서 등급·봇 권한·심사·답변 출처 확인표",</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"정부 직원·봇 제작자·팀",</a:t>
            </a:r>
          </a:p>
          <a:p xmlns:a="http://schemas.openxmlformats.org/drawingml/2006/main">
            <a:r>
              <a:t>          "processing": "계정·봇 접근범위·입력정보 등급 확인",</a:t>
            </a:r>
          </a:p>
          <a:p xmlns:a="http://schemas.openxmlformats.org/drawingml/2006/main">
            <a:r>
              <a:t>          "output": "등록 문서"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"부서 문서",</a:t>
            </a:r>
          </a:p>
          <a:p xmlns:a="http://schemas.openxmlformats.org/drawingml/2006/main">
            <a:r>
              <a:t>          "processing": "업로드 문서의 청킹·색인·소유팀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"등록 문서",</a:t>
            </a:r>
          </a:p>
          <a:p xmlns:a="http://schemas.openxmlformats.org/drawingml/2006/main">
            <a:r>
              <a:t>          "processing": "봇 지시와 문서 검색 문맥의 조정",</a:t>
            </a:r>
          </a:p>
          <a:p xmlns:a="http://schemas.openxmlformats.org/drawingml/2006/main">
            <a:r>
              <a:t>          "output": "업무 봇 응답"</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"업무 봇 응답",</a:t>
            </a:r>
          </a:p>
          <a:p xmlns:a="http://schemas.openxmlformats.org/drawingml/2006/main">
            <a:r>
              <a:t>          "processing": "출처 답변을 팀에 제공하고 고위험 용도 심사",</a:t>
            </a:r>
          </a:p>
          <a:p xmlns:a="http://schemas.openxmlformats.org/drawingml/2006/main">
            <a:r>
              <a:t>          "output": "이용 피드백"</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"봇 갱신·공유 범위·오답 피드백 관리",</a:t>
            </a:r>
          </a:p>
          <a:p xmlns:a="http://schemas.openxmlformats.org/drawingml/2006/main">
            <a:r>
              <a:t>          "output": "문서 등급·봇 권한·심사·답변 출처 확인표"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"봇 갱신·공유 범위·오답 피드백 관리",</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"T053 / 부서지식·셀프서비스·운영 통제",</a:t>
            </a:r>
          </a:p>
          <a:p xmlns:a="http://schemas.openxmlformats.org/drawingml/2006/main">
            <a:r>
              <a:t>        "url": "https://www.tech.gov.sg/products-and-services/for-government-agencies/productivity-and-marketing/aibots/"</a:t>
            </a:r>
          </a:p>
          <a:p xmlns:a="http://schemas.openxmlformats.org/drawingml/2006/main">
            <a:r>
              <a:t>      }</a:t>
            </a:r>
          </a:p>
          <a:p xmlns:a="http://schemas.openxmlformats.org/drawingml/2006/main">
            <a:r>
              <a:t>    ],</a:t>
            </a:r>
          </a:p>
          <a:p xmlns:a="http://schemas.openxmlformats.org/drawingml/2006/main">
            <a:r>
              <a:t>    "implication": "현업이 제작하는 봇의 자료 등급·공유범위·승인판본 관리",</a:t>
            </a:r>
          </a:p>
          <a:p xmlns:a="http://schemas.openxmlformats.org/drawingml/2006/main">
            <a:r>
              <a:t>    "local": "현업이 제작하는 봇의 자료 등급·공유범위·승인판본 관리",</a:t>
            </a:r>
          </a:p>
          <a:p xmlns:a="http://schemas.openxmlformats.org/drawingml/2006/main">
            <a:r>
              <a:t>    "sourceDetail": "문서 업로드·RAG·시스템프롬프트·팀 공유. Desk는 업무시스템 탐색·이해·실행 지향\nRestricted/Sensitive Normal 범위, 고위험 용도 승인. 최신 카탈로그의 성숙도 확인",</a:t>
            </a:r>
          </a:p>
          <a:p xmlns:a="http://schemas.openxmlformats.org/drawingml/2006/main">
            <a:r>
              <a:t>    "narrative": [</a:t>
            </a:r>
          </a:p>
          <a:p xmlns:a="http://schemas.openxmlformats.org/drawingml/2006/main">
            <a:r>
              <a:t>      "싱가포르 AIBots의 문서 기반 봇 제작·공유 사례. 전문 개발자 외의 직원이 지시와 문서를 설정해 팀의 반복 질문에 대응하는 봇을 구성하는 접근.",</a:t>
            </a:r>
          </a:p>
          <a:p xmlns:a="http://schemas.openxmlformats.org/drawingml/2006/main">
            <a:r>
              <a:t>      "문서 업로드·색인, 봇 지시 설정, 팀 공유, 질의 검색, 근거 응답의 흐름으로 재구성. 봇 소유자와 문서 소유자가 다를 수 있으므로 공유 권한 변경과 문서 삭제를 검색 결과에 함께 반영하는 통제 설계.",</a:t>
            </a:r>
          </a:p>
          <a:p xmlns:a="http://schemas.openxmlformats.org/drawingml/2006/main">
            <a:r>
              <a:t>      "CCK에서는 부서 봇을 개인 계정의 지식 저장소로 방치하지 않는 운영이 중요. 소유자 전보·퇴직, 공유 해제, 규정 개정 이후 검색 결과를 비교하고 봇의 인수인계와 자료 폐기 이력을 공통 관리 대상으로 설정."</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"봇 제작·대화",</a:t>
            </a:r>
          </a:p>
          <a:p xmlns:a="http://schemas.openxmlformats.org/drawingml/2006/main">
            <a:r>
              <a:t>          "layer": "이용 접점",</a:t>
            </a:r>
          </a:p>
          <a:p xmlns:a="http://schemas.openxmlformats.org/drawingml/2006/main">
            <a:r>
              <a:t>          "detail": "정부 직원·봇 제작자·팀",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"계정·봇·공유범위",</a:t>
            </a:r>
          </a:p>
          <a:p xmlns:a="http://schemas.openxmlformats.org/drawingml/2006/main">
            <a:r>
              <a:t>          "layer": "업무 문맥",</a:t>
            </a:r>
          </a:p>
          <a:p xmlns:a="http://schemas.openxmlformats.org/drawingml/2006/main">
            <a:r>
              <a:t>          "detail": "계정·봇 접근범위·입력정보 등급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"봇 문서 검색",</a:t>
            </a:r>
          </a:p>
          <a:p xmlns:a="http://schemas.openxmlformats.org/drawingml/2006/main">
            <a:r>
              <a:t>          "layer": "자료 조회",</a:t>
            </a:r>
          </a:p>
          <a:p xmlns:a="http://schemas.openxmlformats.org/drawingml/2006/main">
            <a:r>
              <a:t>          "detail": "등록 문서",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"AIBots 지시 처리",</a:t>
            </a:r>
          </a:p>
          <a:p xmlns:a="http://schemas.openxmlformats.org/drawingml/2006/main">
            <a:r>
              <a:t>          "layer": "핵심 처리",</a:t>
            </a:r>
          </a:p>
          <a:p xmlns:a="http://schemas.openxmlformats.org/drawingml/2006/main">
            <a:r>
              <a:t>          "detail": "봇 지시와 문서 검색 문맥의 조정",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"출처·정보등급 검사",</a:t>
            </a:r>
          </a:p>
          <a:p xmlns:a="http://schemas.openxmlformats.org/drawingml/2006/main">
            <a:r>
              <a:t>          "layer": "결과 검증",</a:t>
            </a:r>
          </a:p>
          <a:p xmlns:a="http://schemas.openxmlformats.org/drawingml/2006/main">
            <a:r>
              <a:t>          "detail": "자료 회수·봇 공유 범위 검증",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"팀 검토",</a:t>
            </a:r>
          </a:p>
          <a:p xmlns:a="http://schemas.openxmlformats.org/drawingml/2006/main">
            <a:r>
              <a:t>          "layer": "사람 확인",</a:t>
            </a:r>
          </a:p>
          <a:p xmlns:a="http://schemas.openxmlformats.org/drawingml/2006/main">
            <a:r>
              <a:t>          "detail": "팀이 지식 봇을 만들고 팀원에게 공유",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"봇 공유·응답",</a:t>
            </a:r>
          </a:p>
          <a:p xmlns:a="http://schemas.openxmlformats.org/drawingml/2006/main">
            <a:r>
              <a:t>          "layer": "업무 연결",</a:t>
            </a:r>
          </a:p>
          <a:p xmlns:a="http://schemas.openxmlformats.org/drawingml/2006/main">
            <a:r>
              <a:t>          "detail": "출처 답변을 팀에 제공하고 고위험 용도 심사",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"오답·갱신 관리",</a:t>
            </a:r>
          </a:p>
          <a:p xmlns:a="http://schemas.openxmlformats.org/drawingml/2006/main">
            <a:r>
              <a:t>          "layer": "운영 관측",</a:t>
            </a:r>
          </a:p>
          <a:p xmlns:a="http://schemas.openxmlformats.org/drawingml/2006/main">
            <a:r>
              <a:t>          "detail": "봇 갱신·공유 범위·오답 피드백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"업로드 문서",</a:t>
            </a:r>
          </a:p>
          <a:p xmlns:a="http://schemas.openxmlformats.org/drawingml/2006/main">
            <a:r>
              <a:t>          "layer": "데이터 원천",</a:t>
            </a:r>
          </a:p>
          <a:p xmlns:a="http://schemas.openxmlformats.org/drawingml/2006/main">
            <a:r>
              <a:t>          "detail": "부서 문서",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"청킹·소유팀 매핑",</a:t>
            </a:r>
          </a:p>
          <a:p xmlns:a="http://schemas.openxmlformats.org/drawingml/2006/main">
            <a:r>
              <a:t>          "layer": "준비·갱신",</a:t>
            </a:r>
          </a:p>
          <a:p xmlns:a="http://schemas.openxmlformats.org/drawingml/2006/main">
            <a:r>
              <a:t>          "detail": "업로드 문서의 청킹·색인·소유팀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"봇 지식·설정",</a:t>
            </a:r>
          </a:p>
          <a:p xmlns:a="http://schemas.openxmlformats.org/drawingml/2006/main">
            <a:r>
              <a:t>          "layer": "상태·지식 저장",</a:t>
            </a:r>
          </a:p>
          <a:p xmlns:a="http://schemas.openxmlformats.org/drawingml/2006/main">
            <a:r>
              <a:t>          "detail": "문서 등급·봇 권한·심사·답변 출처 확인표",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"공유·회수 정책",</a:t>
            </a:r>
          </a:p>
          <a:p xmlns:a="http://schemas.openxmlformats.org/drawingml/2006/main">
            <a:r>
              <a:t>          "layer": "권한·정책",</a:t>
            </a:r>
          </a:p>
          <a:p xmlns:a="http://schemas.openxmlformats.org/drawingml/2006/main">
            <a:r>
              <a:t>          "detail": "허용 등급 초과·공유 대상 오류·고위험 용도",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"계정·봇 접근범위·입력정보 등급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"등록 문서",</a:t>
            </a:r>
          </a:p>
          <a:p xmlns:a="http://schemas.openxmlformats.org/drawingml/2006/main">
            <a:r>
              <a:t>          "check": "자료 회수·봇 공유 범위 검증"</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"검색 지식",</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"업무 봇 응답",</a:t>
            </a:r>
          </a:p>
          <a:p xmlns:a="http://schemas.openxmlformats.org/drawingml/2006/main">
            <a:r>
              <a:t>          "check": "허용 등급 초과·공유 대상 오류·고위험 용도"</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"업무 봇 응답",</a:t>
            </a:r>
          </a:p>
          <a:p xmlns:a="http://schemas.openxmlformats.org/drawingml/2006/main">
            <a:r>
              <a:t>          "check": "출처 답변을 팀에 제공하고 고위험 용도 심사"</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"이용 피드백",</a:t>
            </a:r>
          </a:p>
          <a:p xmlns:a="http://schemas.openxmlformats.org/drawingml/2006/main">
            <a:r>
              <a:t>          "check": "문서 등급·봇 권한·심사·답변 출처 확인표"</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"현업의 문서형 AI 봇 제작과 공유 / 문서 RAG·지시 설정·팀 공유",</a:t>
            </a:r>
          </a:p>
          <a:p xmlns:a="http://schemas.openxmlformats.org/drawingml/2006/main">
            <a:r>
              <a:t>        "extension": "현업이 제작하는 봇의 자료 등급·공유범위·승인판본 관리"</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"허용 등급 초과·공유 대상 오류·고위험 용도",</a:t>
            </a:r>
          </a:p>
          <a:p xmlns:a="http://schemas.openxmlformats.org/drawingml/2006/main">
            <a:r>
              <a:t>        "hold": "자료 회수·봇 공유 범위 검증",</a:t>
            </a:r>
          </a:p>
          <a:p xmlns:a="http://schemas.openxmlformats.org/drawingml/2006/main">
            <a:r>
              <a:t>        "recovery": "봇 갱신·공유 범위·오답 피드백 관리",</a:t>
            </a:r>
          </a:p>
          <a:p xmlns:a="http://schemas.openxmlformats.org/drawingml/2006/main">
            <a:r>
              <a:t>        "evidence": "문서 등급·봇 권한·심사·답변 출처 확인표"</a:t>
            </a:r>
          </a:p>
          <a:p xmlns:a="http://schemas.openxmlformats.org/drawingml/2006/main">
            <a:r>
              <a:t>      },</a:t>
            </a:r>
          </a:p>
          <a:p xmlns:a="http://schemas.openxmlformats.org/drawingml/2006/main">
            <a:r>
              <a:t>      "data": {</a:t>
            </a:r>
          </a:p>
          <a:p xmlns:a="http://schemas.openxmlformats.org/drawingml/2006/main">
            <a:r>
              <a:t>        "source": "부서 문서",</a:t>
            </a:r>
          </a:p>
          <a:p xmlns:a="http://schemas.openxmlformats.org/drawingml/2006/main">
            <a:r>
              <a:t>        "prepare": "업로드 문서의 청킹·색인·소유팀 관리",</a:t>
            </a:r>
          </a:p>
          <a:p xmlns:a="http://schemas.openxmlformats.org/drawingml/2006/main">
            <a:r>
              <a:t>        "output": "등록 문서",</a:t>
            </a:r>
          </a:p>
          <a:p xmlns:a="http://schemas.openxmlformats.org/drawingml/2006/main">
            <a:r>
              <a:t>        "refresh": "봇 갱신·공유 범위·오답 피드백 관리"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"PF-A08",</a:t>
            </a:r>
          </a:p>
          <a:p xmlns:a="http://schemas.openxmlformats.org/drawingml/2006/main">
            <a:r>
              <a:t>    "success": [</a:t>
            </a:r>
          </a:p>
          <a:p xmlns:a="http://schemas.openxmlformats.org/drawingml/2006/main">
            <a:r>
              <a:t>      "부서 문서로 업무 봇 구성",</a:t>
            </a:r>
          </a:p>
          <a:p xmlns:a="http://schemas.openxmlformats.org/drawingml/2006/main">
            <a:r>
              <a:t>      "공유·이용 범위의 관리"</a:t>
            </a:r>
          </a:p>
          <a:p xmlns:a="http://schemas.openxmlformats.org/drawingml/2006/main">
            <a:r>
              <a:t>    ],</a:t>
            </a:r>
          </a:p>
          <a:p xmlns:a="http://schemas.openxmlformats.org/drawingml/2006/main">
            <a:r>
              <a:t>    "risks": [</a:t>
            </a:r>
          </a:p>
          <a:p xmlns:a="http://schemas.openxmlformats.org/drawingml/2006/main">
            <a:r>
              <a:t>      "출처 문서 갱신 누락",</a:t>
            </a:r>
          </a:p>
          <a:p xmlns:a="http://schemas.openxmlformats.org/drawingml/2006/main">
            <a:r>
              <a:t>      "봇 공유 시 권한 확대"</a:t>
            </a:r>
          </a:p>
          <a:p xmlns:a="http://schemas.openxmlformats.org/drawingml/2006/main">
            <a:r>
              <a:t>    ],</a:t>
            </a:r>
          </a:p>
          <a:p xmlns:a="http://schemas.openxmlformats.org/drawingml/2006/main">
            <a:r>
              <a:t>    "architecture": [</a:t>
            </a:r>
          </a:p>
          <a:p xmlns:a="http://schemas.openxmlformats.org/drawingml/2006/main">
            <a:r>
              <a:t>      "부서 제작자",</a:t>
            </a:r>
          </a:p>
          <a:p xmlns:a="http://schemas.openxmlformats.org/drawingml/2006/main">
            <a:r>
              <a:t>      "AIBots·Desk",</a:t>
            </a:r>
          </a:p>
          <a:p xmlns:a="http://schemas.openxmlformats.org/drawingml/2006/main">
            <a:r>
              <a:t>      "부서 문서",</a:t>
            </a:r>
          </a:p>
          <a:p xmlns:a="http://schemas.openxmlformats.org/drawingml/2006/main">
            <a:r>
              <a:t>      "업무 이용자"</a:t>
            </a:r>
          </a:p>
          <a:p xmlns:a="http://schemas.openxmlformats.org/drawingml/2006/main">
            <a:r>
              <a:t>    ],</a:t>
            </a:r>
          </a:p>
          <a:p xmlns:a="http://schemas.openxmlformats.org/drawingml/2006/main">
            <a:r>
              <a:t>    "transfers": [</a:t>
            </a:r>
          </a:p>
          <a:p xmlns:a="http://schemas.openxmlformats.org/drawingml/2006/main">
            <a:r>
              <a:t>      "등록 문서",</a:t>
            </a:r>
          </a:p>
          <a:p xmlns:a="http://schemas.openxmlformats.org/drawingml/2006/main">
            <a:r>
              <a:t>      "검색 지식",</a:t>
            </a:r>
          </a:p>
          <a:p xmlns:a="http://schemas.openxmlformats.org/drawingml/2006/main">
            <a:r>
              <a:t>      "업무 봇 응답",</a:t>
            </a:r>
          </a:p>
          <a:p xmlns:a="http://schemas.openxmlformats.org/drawingml/2006/main">
            <a:r>
              <a:t>      "이용 피드백"</a:t>
            </a:r>
          </a:p>
          <a:p xmlns:a="http://schemas.openxmlformats.org/drawingml/2006/main">
            <a:r>
              <a:t>    ],</a:t>
            </a:r>
          </a:p>
          <a:p xmlns:a="http://schemas.openxmlformats.org/drawingml/2006/main">
            <a:r>
              <a:t>    "control": "자료 회수·봇 공유 범위 검증",</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T053 / 부서지식·셀프서비스·운영 통제 https://www.tech.gov.sg/products-and-services/for-government-agencies/productivity-and-marketing/aibots/</a:t>
            </a:r>
          </a:p>
          <a:p xmlns:a="http://schemas.openxmlformats.org/drawingml/2006/main">
            <a:r>
              <a:t>홈페이지 https://heen1987-ops.github.io/TS-business-Plan-001/index.html?view=platform-cases&amp;case=PF-A08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"PF-A08",</a:t>
            </a:r>
          </a:p>
          <a:p xmlns:a="http://schemas.openxmlformats.org/drawingml/2006/main">
            <a:r>
              <a:t>    "sourceId": "A08",</a:t>
            </a:r>
          </a:p>
          <a:p xmlns:a="http://schemas.openxmlformats.org/drawingml/2006/main">
            <a:r>
              <a:t>    "title": "싱가포르 AIBots·Desk",</a:t>
            </a:r>
          </a:p>
          <a:p xmlns:a="http://schemas.openxmlformats.org/drawingml/2006/main">
            <a:r>
              <a:t>    "region": "해외",</a:t>
            </a:r>
          </a:p>
          <a:p xmlns:a="http://schemas.openxmlformats.org/drawingml/2006/main">
            <a:r>
              <a:t>    "owner": "GovTech / AIBots→Desk",</a:t>
            </a:r>
          </a:p>
          <a:p xmlns:a="http://schemas.openxmlformats.org/drawingml/2006/main">
            <a:r>
              <a:t>    "state": "AIBots 사용 실적 / 현재 카탈로그 Desk 통합·POV",</a:t>
            </a:r>
          </a:p>
          <a:p xmlns:a="http://schemas.openxmlformats.org/drawingml/2006/main">
            <a:r>
              <a:t>    "period": "기존 원장 확인 2026.10.16",</a:t>
            </a:r>
          </a:p>
          <a:p xmlns:a="http://schemas.openxmlformats.org/drawingml/2006/main">
            <a:r>
              <a:t>    "fact": "정부 셀프서비스 AI 플랫폼",</a:t>
            </a:r>
          </a:p>
          <a:p xmlns:a="http://schemas.openxmlformats.org/drawingml/2006/main">
            <a:r>
              <a:t>    "limit": "봇 개수·사용량이 업무성과는 아님. 2025 AIBots와 2026 Desk를 독립 실적으로 합산하지 않음",</a:t>
            </a:r>
          </a:p>
          <a:p xmlns:a="http://schemas.openxmlformats.org/drawingml/2006/main">
            <a:r>
              <a:t>    "nodes": [</a:t>
            </a:r>
          </a:p>
          <a:p xmlns:a="http://schemas.openxmlformats.org/drawingml/2006/main">
            <a:r>
              <a:t>      "부서 문서",</a:t>
            </a:r>
          </a:p>
          <a:p xmlns:a="http://schemas.openxmlformats.org/drawingml/2006/main">
            <a:r>
              <a:t>      "RAG·업무 봇",</a:t>
            </a:r>
          </a:p>
          <a:p xmlns:a="http://schemas.openxmlformats.org/drawingml/2006/main">
            <a:r>
              <a:t>      "공유·이용 통제",</a:t>
            </a:r>
          </a:p>
          <a:p xmlns:a="http://schemas.openxmlformats.org/drawingml/2006/main">
            <a:r>
              <a:t>      "업무 접점"</a:t>
            </a:r>
          </a:p>
          <a:p xmlns:a="http://schemas.openxmlformats.org/drawingml/2006/main">
            <a:r>
              <a:t>    ],</a:t>
            </a:r>
          </a:p>
          <a:p xmlns:a="http://schemas.openxmlformats.org/drawingml/2006/main">
            <a:r>
              <a:t>    "apply": "현업이 제작하는 봇의 자료 등급·공유범위·승인판본 관리",</a:t>
            </a:r>
          </a:p>
          <a:p xmlns:a="http://schemas.openxmlformats.org/drawingml/2006/main">
            <a:r>
              <a:t>    "delta": "담당·승인판본·배포·폐기 조건",</a:t>
            </a:r>
          </a:p>
          <a:p xmlns:a="http://schemas.openxmlformats.org/drawingml/2006/main">
            <a:r>
              <a:t>    "test": "중복 도구·갱신 공수의 기준선·비교 평가",</a:t>
            </a:r>
          </a:p>
          <a:p xmlns:a="http://schemas.openxmlformats.org/drawingml/2006/main">
            <a:r>
              <a:t>    "url": "https://www.tech.gov.sg/products-and-services/for-government-agencies/productivity-and-marketing/aibots/",</a:t>
            </a:r>
          </a:p>
          <a:p xmlns:a="http://schemas.openxmlformats.org/drawingml/2006/main">
            <a:r>
              <a:t>    "urls": [</a:t>
            </a:r>
          </a:p>
          <a:p xmlns:a="http://schemas.openxmlformats.org/drawingml/2006/main">
            <a:r>
              <a:t>      "https://www.tech.gov.sg/products-and-services/for-government-agencies/productivity-and-marketing/aibots/",</a:t>
            </a:r>
          </a:p>
          <a:p xmlns:a="http://schemas.openxmlformats.org/drawingml/2006/main">
            <a:r>
              <a:t>      "https://v2.developer.tech.gov.sg/products/categories/productivity-tools/aibots/features-roadmap",</a:t>
            </a:r>
          </a:p>
          <a:p xmlns:a="http://schemas.openxmlformats.org/drawingml/2006/main">
            <a:r>
              <a:t>      "https://products.tech.gov.sg/products?category=all&amp;status=ga"</a:t>
            </a:r>
          </a:p>
          <a:p xmlns:a="http://schemas.openxmlformats.org/drawingml/2006/main">
            <a:r>
              <a:t>    ],</a:t>
            </a:r>
          </a:p>
          <a:p xmlns:a="http://schemas.openxmlformats.org/drawingml/2006/main">
            <a:r>
              <a:t>    "basis": "T053 / 부서지식·셀프서비스·운영 통제",</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"중복 도구·갱신 공수",</a:t>
            </a:r>
          </a:p>
          <a:p xmlns:a="http://schemas.openxmlformats.org/drawingml/2006/main">
            <a:r>
              <a:t>    "group": "운영·실증",</a:t>
            </a:r>
          </a:p>
          <a:p xmlns:a="http://schemas.openxmlformats.org/drawingml/2006/main">
            <a:r>
              <a:t>    "sourceDetail": "문서 업로드·RAG·시스템프롬프트·팀 공유. Desk는 업무시스템 탐색·이해·실행 지향\nRestricted/Sensitive Normal 범위, 고위험 용도 승인. 최신 카탈로그의 성숙도 확인",</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"PF-A08",</a:t>
            </a:r>
          </a:p>
          <a:p xmlns:a="http://schemas.openxmlformats.org/drawingml/2006/main">
            <a:r>
              <a:t>    "canonicalId": "PF-A08",</a:t>
            </a:r>
          </a:p>
          <a:p xmlns:a="http://schemas.openxmlformats.org/drawingml/2006/main">
            <a:r>
              <a:t>    "purpose": "현업의 문서형 AI 봇 제작과 공유",</a:t>
            </a:r>
          </a:p>
          <a:p xmlns:a="http://schemas.openxmlformats.org/drawingml/2006/main">
            <a:r>
              <a:t>    "users": "정부 직원·봇 제작자·팀",</a:t>
            </a:r>
          </a:p>
          <a:p xmlns:a="http://schemas.openxmlformats.org/drawingml/2006/main">
            <a:r>
              <a:t>    "scope": [</a:t>
            </a:r>
          </a:p>
          <a:p xmlns:a="http://schemas.openxmlformats.org/drawingml/2006/main">
            <a:r>
              <a:t>      "문서 RAG",</a:t>
            </a:r>
          </a:p>
          <a:p xmlns:a="http://schemas.openxmlformats.org/drawingml/2006/main">
            <a:r>
              <a:t>      "지시 설정",</a:t>
            </a:r>
          </a:p>
          <a:p xmlns:a="http://schemas.openxmlformats.org/drawingml/2006/main">
            <a:r>
              <a:t>      "팀 공유"</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"부서 제작자",</a:t>
            </a:r>
          </a:p>
          <a:p xmlns:a="http://schemas.openxmlformats.org/drawingml/2006/main">
            <a:r>
              <a:t>        "detail": "계정·봇 접근범위·입력정보 등급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"문서 RAG / 지시 설정 / 팀 공유",</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"AIBots·Desk",</a:t>
            </a:r>
          </a:p>
          <a:p xmlns:a="http://schemas.openxmlformats.org/drawingml/2006/main">
            <a:r>
              <a:t>        "detail": "봇 지시와 문서 검색 문맥의 조정",</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"업무 이용자",</a:t>
            </a:r>
          </a:p>
          <a:p xmlns:a="http://schemas.openxmlformats.org/drawingml/2006/main">
            <a:r>
              <a:t>        "detail": "출처 답변을 팀에 제공하고 고위험 용도 심사",</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"부서 문서",</a:t>
            </a:r>
          </a:p>
          <a:p xmlns:a="http://schemas.openxmlformats.org/drawingml/2006/main">
            <a:r>
              <a:t>        "detail": "업로드 문서의 청킹·색인·소유팀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"봇 갱신·공유 범위·오답 피드백 관리",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"부서 문서",</a:t>
            </a:r>
          </a:p>
          <a:p xmlns:a="http://schemas.openxmlformats.org/drawingml/2006/main">
            <a:r>
              <a:t>        "input": "계정·봇 접근범위·입력정보 등급 확인",</a:t>
            </a:r>
          </a:p>
          <a:p xmlns:a="http://schemas.openxmlformats.org/drawingml/2006/main">
            <a:r>
              <a:t>        "process": "업로드 문서의 청킹·색인·소유팀 관리",</a:t>
            </a:r>
          </a:p>
          <a:p xmlns:a="http://schemas.openxmlformats.org/drawingml/2006/main">
            <a:r>
              <a:t>        "output": "등록 문서"</a:t>
            </a:r>
          </a:p>
          <a:p xmlns:a="http://schemas.openxmlformats.org/drawingml/2006/main">
            <a:r>
              <a:t>      },</a:t>
            </a:r>
          </a:p>
          <a:p xmlns:a="http://schemas.openxmlformats.org/drawingml/2006/main">
            <a:r>
              <a:t>      {</a:t>
            </a:r>
          </a:p>
          <a:p xmlns:a="http://schemas.openxmlformats.org/drawingml/2006/main">
            <a:r>
              <a:t>        "title": "RAG·업무 봇",</a:t>
            </a:r>
          </a:p>
          <a:p xmlns:a="http://schemas.openxmlformats.org/drawingml/2006/main">
            <a:r>
              <a:t>        "input": "등록 문서",</a:t>
            </a:r>
          </a:p>
          <a:p xmlns:a="http://schemas.openxmlformats.org/drawingml/2006/main">
            <a:r>
              <a:t>        "process": "봇 지시와 문서 검색 문맥의 조정",</a:t>
            </a:r>
          </a:p>
          <a:p xmlns:a="http://schemas.openxmlformats.org/drawingml/2006/main">
            <a:r>
              <a:t>        "output": "검색 지식"</a:t>
            </a:r>
          </a:p>
          <a:p xmlns:a="http://schemas.openxmlformats.org/drawingml/2006/main">
            <a:r>
              <a:t>      },</a:t>
            </a:r>
          </a:p>
          <a:p xmlns:a="http://schemas.openxmlformats.org/drawingml/2006/main">
            <a:r>
              <a:t>      {</a:t>
            </a:r>
          </a:p>
          <a:p xmlns:a="http://schemas.openxmlformats.org/drawingml/2006/main">
            <a:r>
              <a:t>        "title": "공유·이용 통제",</a:t>
            </a:r>
          </a:p>
          <a:p xmlns:a="http://schemas.openxmlformats.org/drawingml/2006/main">
            <a:r>
              <a:t>        "input": "검색 지식",</a:t>
            </a:r>
          </a:p>
          <a:p xmlns:a="http://schemas.openxmlformats.org/drawingml/2006/main">
            <a:r>
              <a:t>        "process": "자료 회수·봇 공유 범위 검증",</a:t>
            </a:r>
          </a:p>
          <a:p xmlns:a="http://schemas.openxmlformats.org/drawingml/2006/main">
            <a:r>
              <a:t>        "output": "업무 봇 응답"</a:t>
            </a:r>
          </a:p>
          <a:p xmlns:a="http://schemas.openxmlformats.org/drawingml/2006/main">
            <a:r>
              <a:t>      },</a:t>
            </a:r>
          </a:p>
          <a:p xmlns:a="http://schemas.openxmlformats.org/drawingml/2006/main">
            <a:r>
              <a:t>      {</a:t>
            </a:r>
          </a:p>
          <a:p xmlns:a="http://schemas.openxmlformats.org/drawingml/2006/main">
            <a:r>
              <a:t>        "title": "업무 접점",</a:t>
            </a:r>
          </a:p>
          <a:p xmlns:a="http://schemas.openxmlformats.org/drawingml/2006/main">
            <a:r>
              <a:t>        "input": "업무 봇 응답",</a:t>
            </a:r>
          </a:p>
          <a:p xmlns:a="http://schemas.openxmlformats.org/drawingml/2006/main">
            <a:r>
              <a:t>        "process": "출처 답변을 팀에 제공하고 고위험 용도 심사",</a:t>
            </a:r>
          </a:p>
          <a:p xmlns:a="http://schemas.openxmlformats.org/drawingml/2006/main">
            <a:r>
              <a:t>        "output": "이용 피드백"</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"팀이 지식 봇을 만들고 팀원에게 공유",</a:t>
            </a:r>
          </a:p>
          <a:p xmlns:a="http://schemas.openxmlformats.org/drawingml/2006/main">
            <a:r>
              <a:t>      "exception": "허용 등급 초과·공유 대상 오류·고위험 용도",</a:t>
            </a:r>
          </a:p>
          <a:p xmlns:a="http://schemas.openxmlformats.org/drawingml/2006/main">
            <a:r>
              <a:t>      "evidence": "문서 등급·봇 권한·심사·답변 출처 확인표",</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"정부 직원·봇 제작자·팀",</a:t>
            </a:r>
          </a:p>
          <a:p xmlns:a="http://schemas.openxmlformats.org/drawingml/2006/main">
            <a:r>
              <a:t>          "processing": "계정·봇 접근범위·입력정보 등급 확인",</a:t>
            </a:r>
          </a:p>
          <a:p xmlns:a="http://schemas.openxmlformats.org/drawingml/2006/main">
            <a:r>
              <a:t>          "output": "등록 문서"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"부서 문서",</a:t>
            </a:r>
          </a:p>
          <a:p xmlns:a="http://schemas.openxmlformats.org/drawingml/2006/main">
            <a:r>
              <a:t>          "processing": "업로드 문서의 청킹·색인·소유팀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"등록 문서",</a:t>
            </a:r>
          </a:p>
          <a:p xmlns:a="http://schemas.openxmlformats.org/drawingml/2006/main">
            <a:r>
              <a:t>          "processing": "봇 지시와 문서 검색 문맥의 조정",</a:t>
            </a:r>
          </a:p>
          <a:p xmlns:a="http://schemas.openxmlformats.org/drawingml/2006/main">
            <a:r>
              <a:t>          "output": "업무 봇 응답"</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"업무 봇 응답",</a:t>
            </a:r>
          </a:p>
          <a:p xmlns:a="http://schemas.openxmlformats.org/drawingml/2006/main">
            <a:r>
              <a:t>          "processing": "출처 답변을 팀에 제공하고 고위험 용도 심사",</a:t>
            </a:r>
          </a:p>
          <a:p xmlns:a="http://schemas.openxmlformats.org/drawingml/2006/main">
            <a:r>
              <a:t>          "output": "이용 피드백"</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"봇 갱신·공유 범위·오답 피드백 관리",</a:t>
            </a:r>
          </a:p>
          <a:p xmlns:a="http://schemas.openxmlformats.org/drawingml/2006/main">
            <a:r>
              <a:t>          "output": "문서 등급·봇 권한·심사·답변 출처 확인표"</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"봇 갱신·공유 범위·오답 피드백 관리",</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"T053 / 부서지식·셀프서비스·운영 통제",</a:t>
            </a:r>
          </a:p>
          <a:p xmlns:a="http://schemas.openxmlformats.org/drawingml/2006/main">
            <a:r>
              <a:t>        "url": "https://www.tech.gov.sg/products-and-services/for-government-agencies/productivity-and-marketing/aibots/"</a:t>
            </a:r>
          </a:p>
          <a:p xmlns:a="http://schemas.openxmlformats.org/drawingml/2006/main">
            <a:r>
              <a:t>      }</a:t>
            </a:r>
          </a:p>
          <a:p xmlns:a="http://schemas.openxmlformats.org/drawingml/2006/main">
            <a:r>
              <a:t>    ],</a:t>
            </a:r>
          </a:p>
          <a:p xmlns:a="http://schemas.openxmlformats.org/drawingml/2006/main">
            <a:r>
              <a:t>    "implication": "현업이 제작하는 봇의 자료 등급·공유범위·승인판본 관리",</a:t>
            </a:r>
          </a:p>
          <a:p xmlns:a="http://schemas.openxmlformats.org/drawingml/2006/main">
            <a:r>
              <a:t>    "local": "현업이 제작하는 봇의 자료 등급·공유범위·승인판본 관리",</a:t>
            </a:r>
          </a:p>
          <a:p xmlns:a="http://schemas.openxmlformats.org/drawingml/2006/main">
            <a:r>
              <a:t>    "sourceDetail": "문서 업로드·RAG·시스템프롬프트·팀 공유. Desk는 업무시스템 탐색·이해·실행 지향\nRestricted/Sensitive Normal 범위, 고위험 용도 승인. 최신 카탈로그의 성숙도 확인",</a:t>
            </a:r>
          </a:p>
          <a:p xmlns:a="http://schemas.openxmlformats.org/drawingml/2006/main">
            <a:r>
              <a:t>    "narrative": [</a:t>
            </a:r>
          </a:p>
          <a:p xmlns:a="http://schemas.openxmlformats.org/drawingml/2006/main">
            <a:r>
              <a:t>      "싱가포르 AIBots의 문서 기반 봇 제작·공유 사례. 전문 개발자 외의 직원이 지시와 문서를 설정해 팀의 반복 질문에 대응하는 봇을 구성하는 접근.",</a:t>
            </a:r>
          </a:p>
          <a:p xmlns:a="http://schemas.openxmlformats.org/drawingml/2006/main">
            <a:r>
              <a:t>      "문서 업로드·색인, 봇 지시 설정, 팀 공유, 질의 검색, 근거 응답의 흐름으로 재구성. 봇 소유자와 문서 소유자가 다를 수 있으므로 공유 권한 변경과 문서 삭제를 검색 결과에 함께 반영하는 통제 설계.",</a:t>
            </a:r>
          </a:p>
          <a:p xmlns:a="http://schemas.openxmlformats.org/drawingml/2006/main">
            <a:r>
              <a:t>      "CCK에서는 부서 봇을 개인 계정의 지식 저장소로 방치하지 않는 운영이 중요. 소유자 전보·퇴직, 공유 해제, 규정 개정 이후 검색 결과를 비교하고 봇의 인수인계와 자료 폐기 이력을 공통 관리 대상으로 설정."</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"봇 제작·대화",</a:t>
            </a:r>
          </a:p>
          <a:p xmlns:a="http://schemas.openxmlformats.org/drawingml/2006/main">
            <a:r>
              <a:t>          "layer": "이용 접점",</a:t>
            </a:r>
          </a:p>
          <a:p xmlns:a="http://schemas.openxmlformats.org/drawingml/2006/main">
            <a:r>
              <a:t>          "detail": "정부 직원·봇 제작자·팀",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"계정·봇·공유범위",</a:t>
            </a:r>
          </a:p>
          <a:p xmlns:a="http://schemas.openxmlformats.org/drawingml/2006/main">
            <a:r>
              <a:t>          "layer": "업무 문맥",</a:t>
            </a:r>
          </a:p>
          <a:p xmlns:a="http://schemas.openxmlformats.org/drawingml/2006/main">
            <a:r>
              <a:t>          "detail": "계정·봇 접근범위·입력정보 등급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"봇 문서 검색",</a:t>
            </a:r>
          </a:p>
          <a:p xmlns:a="http://schemas.openxmlformats.org/drawingml/2006/main">
            <a:r>
              <a:t>          "layer": "자료 조회",</a:t>
            </a:r>
          </a:p>
          <a:p xmlns:a="http://schemas.openxmlformats.org/drawingml/2006/main">
            <a:r>
              <a:t>          "detail": "등록 문서",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"AIBots 지시 처리",</a:t>
            </a:r>
          </a:p>
          <a:p xmlns:a="http://schemas.openxmlformats.org/drawingml/2006/main">
            <a:r>
              <a:t>          "layer": "핵심 처리",</a:t>
            </a:r>
          </a:p>
          <a:p xmlns:a="http://schemas.openxmlformats.org/drawingml/2006/main">
            <a:r>
              <a:t>          "detail": "봇 지시와 문서 검색 문맥의 조정",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"출처·정보등급 검사",</a:t>
            </a:r>
          </a:p>
          <a:p xmlns:a="http://schemas.openxmlformats.org/drawingml/2006/main">
            <a:r>
              <a:t>          "layer": "결과 검증",</a:t>
            </a:r>
          </a:p>
          <a:p xmlns:a="http://schemas.openxmlformats.org/drawingml/2006/main">
            <a:r>
              <a:t>          "detail": "자료 회수·봇 공유 범위 검증",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"팀 검토",</a:t>
            </a:r>
          </a:p>
          <a:p xmlns:a="http://schemas.openxmlformats.org/drawingml/2006/main">
            <a:r>
              <a:t>          "layer": "사람 확인",</a:t>
            </a:r>
          </a:p>
          <a:p xmlns:a="http://schemas.openxmlformats.org/drawingml/2006/main">
            <a:r>
              <a:t>          "detail": "팀이 지식 봇을 만들고 팀원에게 공유",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"봇 공유·응답",</a:t>
            </a:r>
          </a:p>
          <a:p xmlns:a="http://schemas.openxmlformats.org/drawingml/2006/main">
            <a:r>
              <a:t>          "layer": "업무 연결",</a:t>
            </a:r>
          </a:p>
          <a:p xmlns:a="http://schemas.openxmlformats.org/drawingml/2006/main">
            <a:r>
              <a:t>          "detail": "출처 답변을 팀에 제공하고 고위험 용도 심사",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"오답·갱신 관리",</a:t>
            </a:r>
          </a:p>
          <a:p xmlns:a="http://schemas.openxmlformats.org/drawingml/2006/main">
            <a:r>
              <a:t>          "layer": "운영 관측",</a:t>
            </a:r>
          </a:p>
          <a:p xmlns:a="http://schemas.openxmlformats.org/drawingml/2006/main">
            <a:r>
              <a:t>          "detail": "봇 갱신·공유 범위·오답 피드백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"업로드 문서",</a:t>
            </a:r>
          </a:p>
          <a:p xmlns:a="http://schemas.openxmlformats.org/drawingml/2006/main">
            <a:r>
              <a:t>          "layer": "데이터 원천",</a:t>
            </a:r>
          </a:p>
          <a:p xmlns:a="http://schemas.openxmlformats.org/drawingml/2006/main">
            <a:r>
              <a:t>          "detail": "부서 문서",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"청킹·소유팀 매핑",</a:t>
            </a:r>
          </a:p>
          <a:p xmlns:a="http://schemas.openxmlformats.org/drawingml/2006/main">
            <a:r>
              <a:t>          "layer": "준비·갱신",</a:t>
            </a:r>
          </a:p>
          <a:p xmlns:a="http://schemas.openxmlformats.org/drawingml/2006/main">
            <a:r>
              <a:t>          "detail": "업로드 문서의 청킹·색인·소유팀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"봇 지식·설정",</a:t>
            </a:r>
          </a:p>
          <a:p xmlns:a="http://schemas.openxmlformats.org/drawingml/2006/main">
            <a:r>
              <a:t>          "layer": "상태·지식 저장",</a:t>
            </a:r>
          </a:p>
          <a:p xmlns:a="http://schemas.openxmlformats.org/drawingml/2006/main">
            <a:r>
              <a:t>          "detail": "문서 등급·봇 권한·심사·답변 출처 확인표",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"공유·회수 정책",</a:t>
            </a:r>
          </a:p>
          <a:p xmlns:a="http://schemas.openxmlformats.org/drawingml/2006/main">
            <a:r>
              <a:t>          "layer": "권한·정책",</a:t>
            </a:r>
          </a:p>
          <a:p xmlns:a="http://schemas.openxmlformats.org/drawingml/2006/main">
            <a:r>
              <a:t>          "detail": "허용 등급 초과·공유 대상 오류·고위험 용도",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"계정·봇 접근범위·입력정보 등급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"등록 문서",</a:t>
            </a:r>
          </a:p>
          <a:p xmlns:a="http://schemas.openxmlformats.org/drawingml/2006/main">
            <a:r>
              <a:t>          "check": "자료 회수·봇 공유 범위 검증"</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"검색 지식",</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"업무 봇 응답",</a:t>
            </a:r>
          </a:p>
          <a:p xmlns:a="http://schemas.openxmlformats.org/drawingml/2006/main">
            <a:r>
              <a:t>          "check": "허용 등급 초과·공유 대상 오류·고위험 용도"</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"업무 봇 응답",</a:t>
            </a:r>
          </a:p>
          <a:p xmlns:a="http://schemas.openxmlformats.org/drawingml/2006/main">
            <a:r>
              <a:t>          "check": "출처 답변을 팀에 제공하고 고위험 용도 심사"</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"이용 피드백",</a:t>
            </a:r>
          </a:p>
          <a:p xmlns:a="http://schemas.openxmlformats.org/drawingml/2006/main">
            <a:r>
              <a:t>          "check": "문서 등급·봇 권한·심사·답변 출처 확인표"</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"현업의 문서형 AI 봇 제작과 공유 / 문서 RAG·지시 설정·팀 공유",</a:t>
            </a:r>
          </a:p>
          <a:p xmlns:a="http://schemas.openxmlformats.org/drawingml/2006/main">
            <a:r>
              <a:t>        "extension": "현업이 제작하는 봇의 자료 등급·공유범위·승인판본 관리"</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"허용 등급 초과·공유 대상 오류·고위험 용도",</a:t>
            </a:r>
          </a:p>
          <a:p xmlns:a="http://schemas.openxmlformats.org/drawingml/2006/main">
            <a:r>
              <a:t>        "hold": "자료 회수·봇 공유 범위 검증",</a:t>
            </a:r>
          </a:p>
          <a:p xmlns:a="http://schemas.openxmlformats.org/drawingml/2006/main">
            <a:r>
              <a:t>        "recovery": "봇 갱신·공유 범위·오답 피드백 관리",</a:t>
            </a:r>
          </a:p>
          <a:p xmlns:a="http://schemas.openxmlformats.org/drawingml/2006/main">
            <a:r>
              <a:t>        "evidence": "문서 등급·봇 권한·심사·답변 출처 확인표"</a:t>
            </a:r>
          </a:p>
          <a:p xmlns:a="http://schemas.openxmlformats.org/drawingml/2006/main">
            <a:r>
              <a:t>      },</a:t>
            </a:r>
          </a:p>
          <a:p xmlns:a="http://schemas.openxmlformats.org/drawingml/2006/main">
            <a:r>
              <a:t>      "data": {</a:t>
            </a:r>
          </a:p>
          <a:p xmlns:a="http://schemas.openxmlformats.org/drawingml/2006/main">
            <a:r>
              <a:t>        "source": "부서 문서",</a:t>
            </a:r>
          </a:p>
          <a:p xmlns:a="http://schemas.openxmlformats.org/drawingml/2006/main">
            <a:r>
              <a:t>        "prepare": "업로드 문서의 청킹·색인·소유팀 관리",</a:t>
            </a:r>
          </a:p>
          <a:p xmlns:a="http://schemas.openxmlformats.org/drawingml/2006/main">
            <a:r>
              <a:t>        "output": "등록 문서",</a:t>
            </a:r>
          </a:p>
          <a:p xmlns:a="http://schemas.openxmlformats.org/drawingml/2006/main">
            <a:r>
              <a:t>        "refresh": "봇 갱신·공유 범위·오답 피드백 관리"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"PF-A08",</a:t>
            </a:r>
          </a:p>
          <a:p xmlns:a="http://schemas.openxmlformats.org/drawingml/2006/main">
            <a:r>
              <a:t>    "success": [</a:t>
            </a:r>
          </a:p>
          <a:p xmlns:a="http://schemas.openxmlformats.org/drawingml/2006/main">
            <a:r>
              <a:t>      "부서 문서로 업무 봇 구성",</a:t>
            </a:r>
          </a:p>
          <a:p xmlns:a="http://schemas.openxmlformats.org/drawingml/2006/main">
            <a:r>
              <a:t>      "공유·이용 범위의 관리"</a:t>
            </a:r>
          </a:p>
          <a:p xmlns:a="http://schemas.openxmlformats.org/drawingml/2006/main">
            <a:r>
              <a:t>    ],</a:t>
            </a:r>
          </a:p>
          <a:p xmlns:a="http://schemas.openxmlformats.org/drawingml/2006/main">
            <a:r>
              <a:t>    "risks": [</a:t>
            </a:r>
          </a:p>
          <a:p xmlns:a="http://schemas.openxmlformats.org/drawingml/2006/main">
            <a:r>
              <a:t>      "출처 문서 갱신 누락",</a:t>
            </a:r>
          </a:p>
          <a:p xmlns:a="http://schemas.openxmlformats.org/drawingml/2006/main">
            <a:r>
              <a:t>      "봇 공유 시 권한 확대"</a:t>
            </a:r>
          </a:p>
          <a:p xmlns:a="http://schemas.openxmlformats.org/drawingml/2006/main">
            <a:r>
              <a:t>    ],</a:t>
            </a:r>
          </a:p>
          <a:p xmlns:a="http://schemas.openxmlformats.org/drawingml/2006/main">
            <a:r>
              <a:t>    "architecture": [</a:t>
            </a:r>
          </a:p>
          <a:p xmlns:a="http://schemas.openxmlformats.org/drawingml/2006/main">
            <a:r>
              <a:t>      "부서 제작자",</a:t>
            </a:r>
          </a:p>
          <a:p xmlns:a="http://schemas.openxmlformats.org/drawingml/2006/main">
            <a:r>
              <a:t>      "AIBots·Desk",</a:t>
            </a:r>
          </a:p>
          <a:p xmlns:a="http://schemas.openxmlformats.org/drawingml/2006/main">
            <a:r>
              <a:t>      "부서 문서",</a:t>
            </a:r>
          </a:p>
          <a:p xmlns:a="http://schemas.openxmlformats.org/drawingml/2006/main">
            <a:r>
              <a:t>      "업무 이용자"</a:t>
            </a:r>
          </a:p>
          <a:p xmlns:a="http://schemas.openxmlformats.org/drawingml/2006/main">
            <a:r>
              <a:t>    ],</a:t>
            </a:r>
          </a:p>
          <a:p xmlns:a="http://schemas.openxmlformats.org/drawingml/2006/main">
            <a:r>
              <a:t>    "transfers": [</a:t>
            </a:r>
          </a:p>
          <a:p xmlns:a="http://schemas.openxmlformats.org/drawingml/2006/main">
            <a:r>
              <a:t>      "등록 문서",</a:t>
            </a:r>
          </a:p>
          <a:p xmlns:a="http://schemas.openxmlformats.org/drawingml/2006/main">
            <a:r>
              <a:t>      "검색 지식",</a:t>
            </a:r>
          </a:p>
          <a:p xmlns:a="http://schemas.openxmlformats.org/drawingml/2006/main">
            <a:r>
              <a:t>      "업무 봇 응답",</a:t>
            </a:r>
          </a:p>
          <a:p xmlns:a="http://schemas.openxmlformats.org/drawingml/2006/main">
            <a:r>
              <a:t>      "이용 피드백"</a:t>
            </a:r>
          </a:p>
          <a:p xmlns:a="http://schemas.openxmlformats.org/drawingml/2006/main">
            <a:r>
              <a:t>    ],</a:t>
            </a:r>
          </a:p>
          <a:p xmlns:a="http://schemas.openxmlformats.org/drawingml/2006/main">
            <a:r>
              <a:t>    "control": "자료 회수·봇 공유 범위 검증",</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T053 / 부서지식·셀프서비스·운영 통제 https://www.tech.gov.sg/products-and-services/for-government-agencies/productivity-and-marketing/aibots/</a:t>
            </a:r>
          </a:p>
          <a:p xmlns:a="http://schemas.openxmlformats.org/drawingml/2006/main">
            <a:r>
              <a:t>홈페이지 https://heen1987-ops.github.io/TS-business-Plan-001/index.html?view=platform-cases&amp;case=PF-A08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"PF-A09",</a:t>
            </a:r>
          </a:p>
          <a:p xmlns:a="http://schemas.openxmlformats.org/drawingml/2006/main">
            <a:r>
              <a:t>    "sourceId": "A09",</a:t>
            </a:r>
          </a:p>
          <a:p xmlns:a="http://schemas.openxmlformats.org/drawingml/2006/main">
            <a:r>
              <a:t>    "title": "싱가포르 Pair",</a:t>
            </a:r>
          </a:p>
          <a:p xmlns:a="http://schemas.openxmlformats.org/drawingml/2006/main">
            <a:r>
              <a:t>    "region": "해외",</a:t>
            </a:r>
          </a:p>
          <a:p xmlns:a="http://schemas.openxmlformats.org/drawingml/2006/main">
            <a:r>
              <a:t>    "owner": "Open Government Products / Pair",</a:t>
            </a:r>
          </a:p>
          <a:p xmlns:a="http://schemas.openxmlformats.org/drawingml/2006/main">
            <a:r>
              <a:t>    "state": "2023년 이후 운영 / 공식 제품 목록 Active",</a:t>
            </a:r>
          </a:p>
          <a:p xmlns:a="http://schemas.openxmlformats.org/drawingml/2006/main">
            <a:r>
              <a:t>    "period": "기존 원장 확인 2026.10.16",</a:t>
            </a:r>
          </a:p>
          <a:p xmlns:a="http://schemas.openxmlformats.org/drawingml/2006/main">
            <a:r>
              <a:t>    "fact": "정부 공통 업무도구",</a:t>
            </a:r>
          </a:p>
          <a:p xmlns:a="http://schemas.openxmlformats.org/drawingml/2006/main">
            <a:r>
              <a:t>    "limit": "오래된 소개 지표로 현재 규모를 추정하지 않음. 독립 정량 업무효과 미확인",</a:t>
            </a:r>
          </a:p>
          <a:p xmlns:a="http://schemas.openxmlformats.org/drawingml/2006/main">
            <a:r>
              <a:t>    "nodes": [</a:t>
            </a:r>
          </a:p>
          <a:p xmlns:a="http://schemas.openxmlformats.org/drawingml/2006/main">
            <a:r>
              <a:t>      "정부 사용자",</a:t>
            </a:r>
          </a:p>
          <a:p xmlns:a="http://schemas.openxmlformats.org/drawingml/2006/main">
            <a:r>
              <a:t>      "공통 LLM 도구",</a:t>
            </a:r>
          </a:p>
          <a:p xmlns:a="http://schemas.openxmlformats.org/drawingml/2006/main">
            <a:r>
              <a:t>      "작성·조사 지원",</a:t>
            </a:r>
          </a:p>
          <a:p xmlns:a="http://schemas.openxmlformats.org/drawingml/2006/main">
            <a:r>
              <a:t>      "공무원 검토"</a:t>
            </a:r>
          </a:p>
          <a:p xmlns:a="http://schemas.openxmlformats.org/drawingml/2006/main">
            <a:r>
              <a:t>    ],</a:t>
            </a:r>
          </a:p>
          <a:p xmlns:a="http://schemas.openxmlformats.org/drawingml/2006/main">
            <a:r>
              <a:t>    "apply": "공통 이용환경 안에서 공공업무 입력 기준과 직원 검토 절차 정착",</a:t>
            </a:r>
          </a:p>
          <a:p xmlns:a="http://schemas.openxmlformats.org/drawingml/2006/main">
            <a:r>
              <a:t>    "delta": "기관·직무별 설정과 품질 기준",</a:t>
            </a:r>
          </a:p>
          <a:p xmlns:a="http://schemas.openxmlformats.org/drawingml/2006/main">
            <a:r>
              <a:t>    "test": "신규 연결 공수·요청당 비용의 기준선·비교 평가",</a:t>
            </a:r>
          </a:p>
          <a:p xmlns:a="http://schemas.openxmlformats.org/drawingml/2006/main">
            <a:r>
              <a:t>    "url": "https://www.tech.gov.sg/products-and-services/for-government-agencies/productivity-and-marketing/pair/",</a:t>
            </a:r>
          </a:p>
          <a:p xmlns:a="http://schemas.openxmlformats.org/drawingml/2006/main">
            <a:r>
              <a:t>    "urls": [</a:t>
            </a:r>
          </a:p>
          <a:p xmlns:a="http://schemas.openxmlformats.org/drawingml/2006/main">
            <a:r>
              <a:t>      "https://www.tech.gov.sg/products-and-services/for-government-agencies/productivity-and-marketing/pair/",</a:t>
            </a:r>
          </a:p>
          <a:p xmlns:a="http://schemas.openxmlformats.org/drawingml/2006/main">
            <a:r>
              <a:t>      "https://reports.open.gov.sg/pair"</a:t>
            </a:r>
          </a:p>
          <a:p xmlns:a="http://schemas.openxmlformats.org/drawingml/2006/main">
            <a:r>
              <a:t>    ],</a:t>
            </a:r>
          </a:p>
          <a:p xmlns:a="http://schemas.openxmlformats.org/drawingml/2006/main">
            <a:r>
              <a:t>    "basis": "P109~111 / 범용 생산성 도구 확산",</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"신규 연결 공수·요청당 비용",</a:t>
            </a:r>
          </a:p>
          <a:p xmlns:a="http://schemas.openxmlformats.org/drawingml/2006/main">
            <a:r>
              <a:t>    "group": "운영·실증",</a:t>
            </a:r>
          </a:p>
          <a:p xmlns:a="http://schemas.openxmlformats.org/drawingml/2006/main">
            <a:r>
              <a:t>    "sourceDetail": "정부 기기에서 이용하는 공통 LLM 보조도구, 공공업무 맥락에 맞춘 서비스\n정부 사용환경·보안 조건을 공통으로 제공",</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"PF-A09",</a:t>
            </a:r>
          </a:p>
          <a:p xmlns:a="http://schemas.openxmlformats.org/drawingml/2006/main">
            <a:r>
              <a:t>    "canonicalId": "PF-A09",</a:t>
            </a:r>
          </a:p>
          <a:p xmlns:a="http://schemas.openxmlformats.org/drawingml/2006/main">
            <a:r>
              <a:t>    "purpose": "정부 환경에 맞춘 공통 LLM 업무 지원",</a:t>
            </a:r>
          </a:p>
          <a:p xmlns:a="http://schemas.openxmlformats.org/drawingml/2006/main">
            <a:r>
              <a:t>    "users": "정부 직원·운영 담당",</a:t>
            </a:r>
          </a:p>
          <a:p xmlns:a="http://schemas.openxmlformats.org/drawingml/2006/main">
            <a:r>
              <a:t>    "scope": [</a:t>
            </a:r>
          </a:p>
          <a:p xmlns:a="http://schemas.openxmlformats.org/drawingml/2006/main">
            <a:r>
              <a:t>      "질의응답",</a:t>
            </a:r>
          </a:p>
          <a:p xmlns:a="http://schemas.openxmlformats.org/drawingml/2006/main">
            <a:r>
              <a:t>      "작성 보조",</a:t>
            </a:r>
          </a:p>
          <a:p xmlns:a="http://schemas.openxmlformats.org/drawingml/2006/main">
            <a:r>
              <a:t>      "정부 이용환경"</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"정부 직원",</a:t>
            </a:r>
          </a:p>
          <a:p xmlns:a="http://schemas.openxmlformats.org/drawingml/2006/main">
            <a:r>
              <a:t>        "detail": "정부 기기·사용자 문맥·업무 입력 구분",</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"질의응답 / 작성 보조 / 정부 이용환경",</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"Pair 공통 LLM",</a:t>
            </a:r>
          </a:p>
          <a:p xmlns:a="http://schemas.openxmlformats.org/drawingml/2006/main">
            <a:r>
              <a:t>        "detail": "공공업무에 맞춘 모델 요청·응답 처리",</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"직원 검토",</a:t>
            </a:r>
          </a:p>
          <a:p xmlns:a="http://schemas.openxmlformats.org/drawingml/2006/main">
            <a:r>
              <a:t>        "detail": "직원 검토를 거친 문서·업무 초안 활용",</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"업무 문맥",</a:t>
            </a:r>
          </a:p>
          <a:p xmlns:a="http://schemas.openxmlformats.org/drawingml/2006/main">
            <a:r>
              <a:t>        "detail": "업무 문맥의 허용 입력범위·보관조건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"오류·사용성·정책 준수의 운영 점검",</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"정부 사용자",</a:t>
            </a:r>
          </a:p>
          <a:p xmlns:a="http://schemas.openxmlformats.org/drawingml/2006/main">
            <a:r>
              <a:t>        "input": "정부 기기·사용자 문맥·업무 입력 구분",</a:t>
            </a:r>
          </a:p>
          <a:p xmlns:a="http://schemas.openxmlformats.org/drawingml/2006/main">
            <a:r>
              <a:t>        "process": "업무 문맥의 허용 입력범위·보관조건 관리",</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"title": "공통 LLM 도구",</a:t>
            </a:r>
          </a:p>
          <a:p xmlns:a="http://schemas.openxmlformats.org/drawingml/2006/main">
            <a:r>
              <a:t>        "input": "업무 요청",</a:t>
            </a:r>
          </a:p>
          <a:p xmlns:a="http://schemas.openxmlformats.org/drawingml/2006/main">
            <a:r>
              <a:t>        "process": "공공업무에 맞춘 모델 요청·응답 처리",</a:t>
            </a:r>
          </a:p>
          <a:p xmlns:a="http://schemas.openxmlformats.org/drawingml/2006/main">
            <a:r>
              <a:t>        "output": "도구 입력"</a:t>
            </a:r>
          </a:p>
          <a:p xmlns:a="http://schemas.openxmlformats.org/drawingml/2006/main">
            <a:r>
              <a:t>      },</a:t>
            </a:r>
          </a:p>
          <a:p xmlns:a="http://schemas.openxmlformats.org/drawingml/2006/main">
            <a:r>
              <a:t>      {</a:t>
            </a:r>
          </a:p>
          <a:p xmlns:a="http://schemas.openxmlformats.org/drawingml/2006/main">
            <a:r>
              <a:t>        "title": "작성·조사 지원",</a:t>
            </a:r>
          </a:p>
          <a:p xmlns:a="http://schemas.openxmlformats.org/drawingml/2006/main">
            <a:r>
              <a:t>        "input": "도구 입력",</a:t>
            </a:r>
          </a:p>
          <a:p xmlns:a="http://schemas.openxmlformats.org/drawingml/2006/main">
            <a:r>
              <a:t>        "process": "공개 범위·근거·내용 대조",</a:t>
            </a:r>
          </a:p>
          <a:p xmlns:a="http://schemas.openxmlformats.org/drawingml/2006/main">
            <a:r>
              <a:t>        "output": "작성·조사 초안"</a:t>
            </a:r>
          </a:p>
          <a:p xmlns:a="http://schemas.openxmlformats.org/drawingml/2006/main">
            <a:r>
              <a:t>      },</a:t>
            </a:r>
          </a:p>
          <a:p xmlns:a="http://schemas.openxmlformats.org/drawingml/2006/main">
            <a:r>
              <a:t>      {</a:t>
            </a:r>
          </a:p>
          <a:p xmlns:a="http://schemas.openxmlformats.org/drawingml/2006/main">
            <a:r>
              <a:t>        "title": "공무원 검토",</a:t>
            </a:r>
          </a:p>
          <a:p xmlns:a="http://schemas.openxmlformats.org/drawingml/2006/main">
            <a:r>
              <a:t>        "input": "작성·조사 초안",</a:t>
            </a:r>
          </a:p>
          <a:p xmlns:a="http://schemas.openxmlformats.org/drawingml/2006/main">
            <a:r>
              <a:t>        "process": "직원 검토를 거친 문서·업무 초안 활용",</a:t>
            </a:r>
          </a:p>
          <a:p xmlns:a="http://schemas.openxmlformats.org/drawingml/2006/main">
            <a:r>
              <a:t>        "output": "확인된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"정부 업무자료를 허용 범위에서 요약·작성",</a:t>
            </a:r>
          </a:p>
          <a:p xmlns:a="http://schemas.openxmlformats.org/drawingml/2006/main">
            <a:r>
              <a:t>      "exception": "금지 입력·근거 없는 질문·장시간 응답",</a:t>
            </a:r>
          </a:p>
          <a:p xmlns:a="http://schemas.openxmlformats.org/drawingml/2006/main">
            <a:r>
              <a:t>      "evidence": "입력 정책·답변 품질·서비스 실패 대응 기록",</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"정부 직원·운영 담당",</a:t>
            </a:r>
          </a:p>
          <a:p xmlns:a="http://schemas.openxmlformats.org/drawingml/2006/main">
            <a:r>
              <a:t>          "processing": "정부 기기·사용자 문맥·업무 입력 구분",</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"업무 문맥",</a:t>
            </a:r>
          </a:p>
          <a:p xmlns:a="http://schemas.openxmlformats.org/drawingml/2006/main">
            <a:r>
              <a:t>          "processing": "업무 문맥의 허용 입력범위·보관조건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"업무 요청",</a:t>
            </a:r>
          </a:p>
          <a:p xmlns:a="http://schemas.openxmlformats.org/drawingml/2006/main">
            <a:r>
              <a:t>          "processing": "공공업무에 맞춘 모델 요청·응답 처리",</a:t>
            </a:r>
          </a:p>
          <a:p xmlns:a="http://schemas.openxmlformats.org/drawingml/2006/main">
            <a:r>
              <a:t>          "output": "작성·조사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"작성·조사 초안",</a:t>
            </a:r>
          </a:p>
          <a:p xmlns:a="http://schemas.openxmlformats.org/drawingml/2006/main">
            <a:r>
              <a:t>          "processing": "직원 검토를 거친 문서·업무 초안 활용",</a:t>
            </a:r>
          </a:p>
          <a:p xmlns:a="http://schemas.openxmlformats.org/drawingml/2006/main">
            <a:r>
              <a:t>          "output": "확인된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"오류·사용성·정책 준수의 운영 점검",</a:t>
            </a:r>
          </a:p>
          <a:p xmlns:a="http://schemas.openxmlformats.org/drawingml/2006/main">
            <a:r>
              <a:t>          "output": "입력 정책·답변 품질·서비스 실패 대응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"오류·사용성·정책 준수의 운영 점검",</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"P109~111 / 범용 생산성 도구 확산",</a:t>
            </a:r>
          </a:p>
          <a:p xmlns:a="http://schemas.openxmlformats.org/drawingml/2006/main">
            <a:r>
              <a:t>        "url": "https://www.tech.gov.sg/products-and-services/for-government-agencies/productivity-and-marketing/pair/"</a:t>
            </a:r>
          </a:p>
          <a:p xmlns:a="http://schemas.openxmlformats.org/drawingml/2006/main">
            <a:r>
              <a:t>      }</a:t>
            </a:r>
          </a:p>
          <a:p xmlns:a="http://schemas.openxmlformats.org/drawingml/2006/main">
            <a:r>
              <a:t>    ],</a:t>
            </a:r>
          </a:p>
          <a:p xmlns:a="http://schemas.openxmlformats.org/drawingml/2006/main">
            <a:r>
              <a:t>    "implication": "공통 이용환경 안에서 공공업무 입력 기준과 직원 검토 절차 정착",</a:t>
            </a:r>
          </a:p>
          <a:p xmlns:a="http://schemas.openxmlformats.org/drawingml/2006/main">
            <a:r>
              <a:t>    "local": "공통 이용환경 안에서 공공업무 입력 기준과 직원 검토 절차 정착",</a:t>
            </a:r>
          </a:p>
          <a:p xmlns:a="http://schemas.openxmlformats.org/drawingml/2006/main">
            <a:r>
              <a:t>    "sourceDetail": "정부 기기에서 이용하는 공통 LLM 보조도구, 공공업무 맥락에 맞춘 서비스\n정부 사용환경·보안 조건을 공통으로 제공",</a:t>
            </a:r>
          </a:p>
          <a:p xmlns:a="http://schemas.openxmlformats.org/drawingml/2006/main">
            <a:r>
              <a:t>    "narrative": [</a:t>
            </a:r>
          </a:p>
          <a:p xmlns:a="http://schemas.openxmlformats.org/drawingml/2006/main">
            <a:r>
              <a:t>      "싱가포르 Pair의 공공부문 업무 지원 사례. 직원의 조사·작성·분석을 지원하면서 정부 사용 조건과 업무 자료 취급 기준을 적용하는 도입 방식.",</a:t>
            </a:r>
          </a:p>
          <a:p xmlns:a="http://schemas.openxmlformats.org/drawingml/2006/main">
            <a:r>
              <a:t>      "정부 사용자 접근, 허용된 업무 입력, 모델 처리, 결과 검토·활용으로 재구성. 공급사의 일반 제품 기능과 정부 도입 조건, 실제 이용 범위를 구분하고 기관 내부 시스템과의 자동 연계 여부를 별도 확인하는 구조.",</a:t>
            </a:r>
          </a:p>
          <a:p xmlns:a="http://schemas.openxmlformats.org/drawingml/2006/main">
            <a:r>
              <a:t>      "TS에서는 서비스 구매 자체를 조직 네이티브 기능 구현으로 보지 않는 것이 비교의 출발점. 공식 직원 ID·부서·업무 책임·자료 권한과 모델의 이용 문맥을 연결하는 추가 개발·운영 책임의 별도 정의."</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"정부 직원 접점",</a:t>
            </a:r>
          </a:p>
          <a:p xmlns:a="http://schemas.openxmlformats.org/drawingml/2006/main">
            <a:r>
              <a:t>          "layer": "이용 접점",</a:t>
            </a:r>
          </a:p>
          <a:p xmlns:a="http://schemas.openxmlformats.org/drawingml/2006/main">
            <a:r>
              <a:t>          "detail": "정부 직원·운영 담당",</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"업무·입력등급",</a:t>
            </a:r>
          </a:p>
          <a:p xmlns:a="http://schemas.openxmlformats.org/drawingml/2006/main">
            <a:r>
              <a:t>          "layer": "업무 문맥",</a:t>
            </a:r>
          </a:p>
          <a:p xmlns:a="http://schemas.openxmlformats.org/drawingml/2006/main">
            <a:r>
              <a:t>          "detail": "정부 기기·사용자 문맥·업무 입력 구분",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"업무 문맥 구성",</a:t>
            </a:r>
          </a:p>
          <a:p xmlns:a="http://schemas.openxmlformats.org/drawingml/2006/main">
            <a:r>
              <a:t>          "layer": "자료 조회",</a:t>
            </a:r>
          </a:p>
          <a:p xmlns:a="http://schemas.openxmlformats.org/drawingml/2006/main">
            <a:r>
              <a:t>          "detail": "업무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"Pair 공통 LLM",</a:t>
            </a:r>
          </a:p>
          <a:p xmlns:a="http://schemas.openxmlformats.org/drawingml/2006/main">
            <a:r>
              <a:t>          "layer": "핵심 처리",</a:t>
            </a:r>
          </a:p>
          <a:p xmlns:a="http://schemas.openxmlformats.org/drawingml/2006/main">
            <a:r>
              <a:t>          "detail": "공공업무에 맞춘 모델 요청·응답 처리",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"근거·민감정보 검사",</a:t>
            </a:r>
          </a:p>
          <a:p xmlns:a="http://schemas.openxmlformats.org/drawingml/2006/main">
            <a:r>
              <a:t>          "layer": "결과 검증",</a:t>
            </a:r>
          </a:p>
          <a:p xmlns:a="http://schemas.openxmlformats.org/drawingml/2006/main">
            <a:r>
              <a:t>          "detail": "공개 범위·근거·내용 대조",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"직원 검토",</a:t>
            </a:r>
          </a:p>
          <a:p xmlns:a="http://schemas.openxmlformats.org/drawingml/2006/main">
            <a:r>
              <a:t>          "layer": "사람 확인",</a:t>
            </a:r>
          </a:p>
          <a:p xmlns:a="http://schemas.openxmlformats.org/drawingml/2006/main">
            <a:r>
              <a:t>          "detail": "정부 업무자료를 허용 범위에서 요약·작성",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"작성·조사 초안",</a:t>
            </a:r>
          </a:p>
          <a:p xmlns:a="http://schemas.openxmlformats.org/drawingml/2006/main">
            <a:r>
              <a:t>          "layer": "업무 연결",</a:t>
            </a:r>
          </a:p>
          <a:p xmlns:a="http://schemas.openxmlformats.org/drawingml/2006/main">
            <a:r>
              <a:t>          "detail": "직원 검토를 거친 문서·업무 초안 활용",</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"오류·사용성 점검",</a:t>
            </a:r>
          </a:p>
          <a:p xmlns:a="http://schemas.openxmlformats.org/drawingml/2006/main">
            <a:r>
              <a:t>          "layer": "운영 관측",</a:t>
            </a:r>
          </a:p>
          <a:p xmlns:a="http://schemas.openxmlformats.org/drawingml/2006/main">
            <a:r>
              <a:t>          "detail": "오류·사용성·정책 준수의 운영 점검",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"허용 업무 입력",</a:t>
            </a:r>
          </a:p>
          <a:p xmlns:a="http://schemas.openxmlformats.org/drawingml/2006/main">
            <a:r>
              <a:t>          "layer": "데이터 원천",</a:t>
            </a:r>
          </a:p>
          <a:p xmlns:a="http://schemas.openxmlformats.org/drawingml/2006/main">
            <a:r>
              <a:t>          "detail": "업무 문맥",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"보관조건 정리",</a:t>
            </a:r>
          </a:p>
          <a:p xmlns:a="http://schemas.openxmlformats.org/drawingml/2006/main">
            <a:r>
              <a:t>          "layer": "준비·갱신",</a:t>
            </a:r>
          </a:p>
          <a:p xmlns:a="http://schemas.openxmlformats.org/drawingml/2006/main">
            <a:r>
              <a:t>          "detail": "업무 문맥의 허용 입력범위·보관조건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"과업·평가 기록",</a:t>
            </a:r>
          </a:p>
          <a:p xmlns:a="http://schemas.openxmlformats.org/drawingml/2006/main">
            <a:r>
              <a:t>          "layer": "상태·지식 저장",</a:t>
            </a:r>
          </a:p>
          <a:p xmlns:a="http://schemas.openxmlformats.org/drawingml/2006/main">
            <a:r>
              <a:t>          "detail": "입력 정책·답변 품질·서비스 실패 대응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"정부 이용정책",</a:t>
            </a:r>
          </a:p>
          <a:p xmlns:a="http://schemas.openxmlformats.org/drawingml/2006/main">
            <a:r>
              <a:t>          "layer": "권한·정책",</a:t>
            </a:r>
          </a:p>
          <a:p xmlns:a="http://schemas.openxmlformats.org/drawingml/2006/main">
            <a:r>
              <a:t>          "detail": "금지 입력·근거 없는 질문·장시간 응답",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"정부 기기·사용자 문맥·업무 입력 구분",</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"업무 요청",</a:t>
            </a:r>
          </a:p>
          <a:p xmlns:a="http://schemas.openxmlformats.org/drawingml/2006/main">
            <a:r>
              <a:t>          "check": "공개 범위·근거·내용 대조"</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"도구 입력",</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"작성·조사 초안",</a:t>
            </a:r>
          </a:p>
          <a:p xmlns:a="http://schemas.openxmlformats.org/drawingml/2006/main">
            <a:r>
              <a:t>          "check": "금지 입력·근거 없는 질문·장시간 응답"</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"작성·조사 초안",</a:t>
            </a:r>
          </a:p>
          <a:p xmlns:a="http://schemas.openxmlformats.org/drawingml/2006/main">
            <a:r>
              <a:t>          "check": "직원 검토를 거친 문서·업무 초안 활용"</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"확인된 결과",</a:t>
            </a:r>
          </a:p>
          <a:p xmlns:a="http://schemas.openxmlformats.org/drawingml/2006/main">
            <a:r>
              <a:t>          "check": "입력 정책·답변 품질·서비스 실패 대응 기록"</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"정부 환경에 맞춘 공통 LLM 업무 지원 / 질의응답·작성 보조·정부 이용환경",</a:t>
            </a:r>
          </a:p>
          <a:p xmlns:a="http://schemas.openxmlformats.org/drawingml/2006/main">
            <a:r>
              <a:t>        "extension": "공통 이용환경 안에서 공공업무 입력 기준과 직원 검토 절차 정착"</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"금지 입력·근거 없는 질문·장시간 응답",</a:t>
            </a:r>
          </a:p>
          <a:p xmlns:a="http://schemas.openxmlformats.org/drawingml/2006/main">
            <a:r>
              <a:t>        "hold": "공개 범위·근거·내용 대조",</a:t>
            </a:r>
          </a:p>
          <a:p xmlns:a="http://schemas.openxmlformats.org/drawingml/2006/main">
            <a:r>
              <a:t>        "recovery": "오류·사용성·정책 준수의 운영 점검",</a:t>
            </a:r>
          </a:p>
          <a:p xmlns:a="http://schemas.openxmlformats.org/drawingml/2006/main">
            <a:r>
              <a:t>        "evidence": "입력 정책·답변 품질·서비스 실패 대응 기록"</a:t>
            </a:r>
          </a:p>
          <a:p xmlns:a="http://schemas.openxmlformats.org/drawingml/2006/main">
            <a:r>
              <a:t>      },</a:t>
            </a:r>
          </a:p>
          <a:p xmlns:a="http://schemas.openxmlformats.org/drawingml/2006/main">
            <a:r>
              <a:t>      "data": {</a:t>
            </a:r>
          </a:p>
          <a:p xmlns:a="http://schemas.openxmlformats.org/drawingml/2006/main">
            <a:r>
              <a:t>        "source": "업무 문맥",</a:t>
            </a:r>
          </a:p>
          <a:p xmlns:a="http://schemas.openxmlformats.org/drawingml/2006/main">
            <a:r>
              <a:t>        "prepare": "업무 문맥의 허용 입력범위·보관조건 관리",</a:t>
            </a:r>
          </a:p>
          <a:p xmlns:a="http://schemas.openxmlformats.org/drawingml/2006/main">
            <a:r>
              <a:t>        "output": "업무 요청",</a:t>
            </a:r>
          </a:p>
          <a:p xmlns:a="http://schemas.openxmlformats.org/drawingml/2006/main">
            <a:r>
              <a:t>        "refresh": "오류·사용성·정책 준수의 운영 점검"</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"PF-A09",</a:t>
            </a:r>
          </a:p>
          <a:p xmlns:a="http://schemas.openxmlformats.org/drawingml/2006/main">
            <a:r>
              <a:t>    "success": [</a:t>
            </a:r>
          </a:p>
          <a:p xmlns:a="http://schemas.openxmlformats.org/drawingml/2006/main">
            <a:r>
              <a:t>      "공통 작성·조사 도구 접근",</a:t>
            </a:r>
          </a:p>
          <a:p xmlns:a="http://schemas.openxmlformats.org/drawingml/2006/main">
            <a:r>
              <a:t>      "공무원의 결과 검토"</a:t>
            </a:r>
          </a:p>
          <a:p xmlns:a="http://schemas.openxmlformats.org/drawingml/2006/main">
            <a:r>
              <a:t>    ],</a:t>
            </a:r>
          </a:p>
          <a:p xmlns:a="http://schemas.openxmlformats.org/drawingml/2006/main">
            <a:r>
              <a:t>    "risks": [</a:t>
            </a:r>
          </a:p>
          <a:p xmlns:a="http://schemas.openxmlformats.org/drawingml/2006/main">
            <a:r>
              <a:t>      "범용 도구의 전문 규정 한계",</a:t>
            </a:r>
          </a:p>
          <a:p xmlns:a="http://schemas.openxmlformats.org/drawingml/2006/main">
            <a:r>
              <a:t>      "민감 정보 입력·검증 없는 재사용"</a:t>
            </a:r>
          </a:p>
          <a:p xmlns:a="http://schemas.openxmlformats.org/drawingml/2006/main">
            <a:r>
              <a:t>    ],</a:t>
            </a:r>
          </a:p>
          <a:p xmlns:a="http://schemas.openxmlformats.org/drawingml/2006/main">
            <a:r>
              <a:t>    "architecture": [</a:t>
            </a:r>
          </a:p>
          <a:p xmlns:a="http://schemas.openxmlformats.org/drawingml/2006/main">
            <a:r>
              <a:t>      "정부 직원",</a:t>
            </a:r>
          </a:p>
          <a:p xmlns:a="http://schemas.openxmlformats.org/drawingml/2006/main">
            <a:r>
              <a:t>      "Pair 공통 LLM",</a:t>
            </a:r>
          </a:p>
          <a:p xmlns:a="http://schemas.openxmlformats.org/drawingml/2006/main">
            <a:r>
              <a:t>      "업무 문맥",</a:t>
            </a:r>
          </a:p>
          <a:p xmlns:a="http://schemas.openxmlformats.org/drawingml/2006/main">
            <a:r>
              <a:t>      "직원 검토"</a:t>
            </a:r>
          </a:p>
          <a:p xmlns:a="http://schemas.openxmlformats.org/drawingml/2006/main">
            <a:r>
              <a:t>    ],</a:t>
            </a:r>
          </a:p>
          <a:p xmlns:a="http://schemas.openxmlformats.org/drawingml/2006/main">
            <a:r>
              <a:t>    "transfers": [</a:t>
            </a:r>
          </a:p>
          <a:p xmlns:a="http://schemas.openxmlformats.org/drawingml/2006/main">
            <a:r>
              <a:t>      "업무 요청",</a:t>
            </a:r>
          </a:p>
          <a:p xmlns:a="http://schemas.openxmlformats.org/drawingml/2006/main">
            <a:r>
              <a:t>      "도구 입력",</a:t>
            </a:r>
          </a:p>
          <a:p xmlns:a="http://schemas.openxmlformats.org/drawingml/2006/main">
            <a:r>
              <a:t>      "작성·조사 초안",</a:t>
            </a:r>
          </a:p>
          <a:p xmlns:a="http://schemas.openxmlformats.org/drawingml/2006/main">
            <a:r>
              <a:t>      "확인된 결과"</a:t>
            </a:r>
          </a:p>
          <a:p xmlns:a="http://schemas.openxmlformats.org/drawingml/2006/main">
            <a:r>
              <a:t>    ],</a:t>
            </a:r>
          </a:p>
          <a:p xmlns:a="http://schemas.openxmlformats.org/drawingml/2006/main">
            <a:r>
              <a:t>    "control": "공개 범위·근거·내용 대조",</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P109~111 / 범용 생산성 도구 확산 https://www.tech.gov.sg/products-and-services/for-government-agencies/productivity-and-marketing/pair/</a:t>
            </a:r>
          </a:p>
          <a:p xmlns:a="http://schemas.openxmlformats.org/drawingml/2006/main">
            <a:r>
              <a:t>홈페이지 https://heen1987-ops.github.io/TS-business-Plan-001/index.html?view=platform-cases&amp;case=PF-A09</a:t>
            </a:r>
          </a:p>
          <a:p xmlns:a="http://schemas.openxmlformats.org/drawingml/2006/main">
            <a:r>
              <a:t>한계: 오래된 소개 지표로 현재 규모를 추정하지 않음. 독립 정량 업무효과 미확인</a:t>
            </a:r>
          </a:p>
          <a:p xmlns:a="http://schemas.openxmlformats.org/drawingml/2006/main">
            <a:r>
              <a:t>실패 위험: 범용 도구의 전문 규정 한계 / 민감 정보 입력·검증 없는 재사용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"PF-A09",</a:t>
            </a:r>
          </a:p>
          <a:p xmlns:a="http://schemas.openxmlformats.org/drawingml/2006/main">
            <a:r>
              <a:t>    "sourceId": "A09",</a:t>
            </a:r>
          </a:p>
          <a:p xmlns:a="http://schemas.openxmlformats.org/drawingml/2006/main">
            <a:r>
              <a:t>    "title": "싱가포르 Pair",</a:t>
            </a:r>
          </a:p>
          <a:p xmlns:a="http://schemas.openxmlformats.org/drawingml/2006/main">
            <a:r>
              <a:t>    "region": "해외",</a:t>
            </a:r>
          </a:p>
          <a:p xmlns:a="http://schemas.openxmlformats.org/drawingml/2006/main">
            <a:r>
              <a:t>    "owner": "Open Government Products / Pair",</a:t>
            </a:r>
          </a:p>
          <a:p xmlns:a="http://schemas.openxmlformats.org/drawingml/2006/main">
            <a:r>
              <a:t>    "state": "2023년 이후 운영 / 공식 제품 목록 Active",</a:t>
            </a:r>
          </a:p>
          <a:p xmlns:a="http://schemas.openxmlformats.org/drawingml/2006/main">
            <a:r>
              <a:t>    "period": "기존 원장 확인 2026.10.16",</a:t>
            </a:r>
          </a:p>
          <a:p xmlns:a="http://schemas.openxmlformats.org/drawingml/2006/main">
            <a:r>
              <a:t>    "fact": "정부 공통 업무도구",</a:t>
            </a:r>
          </a:p>
          <a:p xmlns:a="http://schemas.openxmlformats.org/drawingml/2006/main">
            <a:r>
              <a:t>    "limit": "오래된 소개 지표로 현재 규모를 추정하지 않음. 독립 정량 업무효과 미확인",</a:t>
            </a:r>
          </a:p>
          <a:p xmlns:a="http://schemas.openxmlformats.org/drawingml/2006/main">
            <a:r>
              <a:t>    "nodes": [</a:t>
            </a:r>
          </a:p>
          <a:p xmlns:a="http://schemas.openxmlformats.org/drawingml/2006/main">
            <a:r>
              <a:t>      "정부 사용자",</a:t>
            </a:r>
          </a:p>
          <a:p xmlns:a="http://schemas.openxmlformats.org/drawingml/2006/main">
            <a:r>
              <a:t>      "공통 LLM 도구",</a:t>
            </a:r>
          </a:p>
          <a:p xmlns:a="http://schemas.openxmlformats.org/drawingml/2006/main">
            <a:r>
              <a:t>      "작성·조사 지원",</a:t>
            </a:r>
          </a:p>
          <a:p xmlns:a="http://schemas.openxmlformats.org/drawingml/2006/main">
            <a:r>
              <a:t>      "공무원 검토"</a:t>
            </a:r>
          </a:p>
          <a:p xmlns:a="http://schemas.openxmlformats.org/drawingml/2006/main">
            <a:r>
              <a:t>    ],</a:t>
            </a:r>
          </a:p>
          <a:p xmlns:a="http://schemas.openxmlformats.org/drawingml/2006/main">
            <a:r>
              <a:t>    "apply": "공통 이용환경 안에서 공공업무 입력 기준과 직원 검토 절차 정착",</a:t>
            </a:r>
          </a:p>
          <a:p xmlns:a="http://schemas.openxmlformats.org/drawingml/2006/main">
            <a:r>
              <a:t>    "delta": "기관·직무별 설정과 품질 기준",</a:t>
            </a:r>
          </a:p>
          <a:p xmlns:a="http://schemas.openxmlformats.org/drawingml/2006/main">
            <a:r>
              <a:t>    "test": "신규 연결 공수·요청당 비용의 기준선·비교 평가",</a:t>
            </a:r>
          </a:p>
          <a:p xmlns:a="http://schemas.openxmlformats.org/drawingml/2006/main">
            <a:r>
              <a:t>    "url": "https://www.tech.gov.sg/products-and-services/for-government-agencies/productivity-and-marketing/pair/",</a:t>
            </a:r>
          </a:p>
          <a:p xmlns:a="http://schemas.openxmlformats.org/drawingml/2006/main">
            <a:r>
              <a:t>    "urls": [</a:t>
            </a:r>
          </a:p>
          <a:p xmlns:a="http://schemas.openxmlformats.org/drawingml/2006/main">
            <a:r>
              <a:t>      "https://www.tech.gov.sg/products-and-services/for-government-agencies/productivity-and-marketing/pair/",</a:t>
            </a:r>
          </a:p>
          <a:p xmlns:a="http://schemas.openxmlformats.org/drawingml/2006/main">
            <a:r>
              <a:t>      "https://reports.open.gov.sg/pair"</a:t>
            </a:r>
          </a:p>
          <a:p xmlns:a="http://schemas.openxmlformats.org/drawingml/2006/main">
            <a:r>
              <a:t>    ],</a:t>
            </a:r>
          </a:p>
          <a:p xmlns:a="http://schemas.openxmlformats.org/drawingml/2006/main">
            <a:r>
              <a:t>    "basis": "P109~111 / 범용 생산성 도구 확산",</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"신규 연결 공수·요청당 비용",</a:t>
            </a:r>
          </a:p>
          <a:p xmlns:a="http://schemas.openxmlformats.org/drawingml/2006/main">
            <a:r>
              <a:t>    "group": "운영·실증",</a:t>
            </a:r>
          </a:p>
          <a:p xmlns:a="http://schemas.openxmlformats.org/drawingml/2006/main">
            <a:r>
              <a:t>    "sourceDetail": "정부 기기에서 이용하는 공통 LLM 보조도구, 공공업무 맥락에 맞춘 서비스\n정부 사용환경·보안 조건을 공통으로 제공",</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"PF-A09",</a:t>
            </a:r>
          </a:p>
          <a:p xmlns:a="http://schemas.openxmlformats.org/drawingml/2006/main">
            <a:r>
              <a:t>    "canonicalId": "PF-A09",</a:t>
            </a:r>
          </a:p>
          <a:p xmlns:a="http://schemas.openxmlformats.org/drawingml/2006/main">
            <a:r>
              <a:t>    "purpose": "정부 환경에 맞춘 공통 LLM 업무 지원",</a:t>
            </a:r>
          </a:p>
          <a:p xmlns:a="http://schemas.openxmlformats.org/drawingml/2006/main">
            <a:r>
              <a:t>    "users": "정부 직원·운영 담당",</a:t>
            </a:r>
          </a:p>
          <a:p xmlns:a="http://schemas.openxmlformats.org/drawingml/2006/main">
            <a:r>
              <a:t>    "scope": [</a:t>
            </a:r>
          </a:p>
          <a:p xmlns:a="http://schemas.openxmlformats.org/drawingml/2006/main">
            <a:r>
              <a:t>      "질의응답",</a:t>
            </a:r>
          </a:p>
          <a:p xmlns:a="http://schemas.openxmlformats.org/drawingml/2006/main">
            <a:r>
              <a:t>      "작성 보조",</a:t>
            </a:r>
          </a:p>
          <a:p xmlns:a="http://schemas.openxmlformats.org/drawingml/2006/main">
            <a:r>
              <a:t>      "정부 이용환경"</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"정부 직원",</a:t>
            </a:r>
          </a:p>
          <a:p xmlns:a="http://schemas.openxmlformats.org/drawingml/2006/main">
            <a:r>
              <a:t>        "detail": "정부 기기·사용자 문맥·업무 입력 구분",</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"질의응답 / 작성 보조 / 정부 이용환경",</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"Pair 공통 LLM",</a:t>
            </a:r>
          </a:p>
          <a:p xmlns:a="http://schemas.openxmlformats.org/drawingml/2006/main">
            <a:r>
              <a:t>        "detail": "공공업무에 맞춘 모델 요청·응답 처리",</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"직원 검토",</a:t>
            </a:r>
          </a:p>
          <a:p xmlns:a="http://schemas.openxmlformats.org/drawingml/2006/main">
            <a:r>
              <a:t>        "detail": "직원 검토를 거친 문서·업무 초안 활용",</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"업무 문맥",</a:t>
            </a:r>
          </a:p>
          <a:p xmlns:a="http://schemas.openxmlformats.org/drawingml/2006/main">
            <a:r>
              <a:t>        "detail": "업무 문맥의 허용 입력범위·보관조건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"오류·사용성·정책 준수의 운영 점검",</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"정부 사용자",</a:t>
            </a:r>
          </a:p>
          <a:p xmlns:a="http://schemas.openxmlformats.org/drawingml/2006/main">
            <a:r>
              <a:t>        "input": "정부 기기·사용자 문맥·업무 입력 구분",</a:t>
            </a:r>
          </a:p>
          <a:p xmlns:a="http://schemas.openxmlformats.org/drawingml/2006/main">
            <a:r>
              <a:t>        "process": "업무 문맥의 허용 입력범위·보관조건 관리",</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"title": "공통 LLM 도구",</a:t>
            </a:r>
          </a:p>
          <a:p xmlns:a="http://schemas.openxmlformats.org/drawingml/2006/main">
            <a:r>
              <a:t>        "input": "업무 요청",</a:t>
            </a:r>
          </a:p>
          <a:p xmlns:a="http://schemas.openxmlformats.org/drawingml/2006/main">
            <a:r>
              <a:t>        "process": "공공업무에 맞춘 모델 요청·응답 처리",</a:t>
            </a:r>
          </a:p>
          <a:p xmlns:a="http://schemas.openxmlformats.org/drawingml/2006/main">
            <a:r>
              <a:t>        "output": "도구 입력"</a:t>
            </a:r>
          </a:p>
          <a:p xmlns:a="http://schemas.openxmlformats.org/drawingml/2006/main">
            <a:r>
              <a:t>      },</a:t>
            </a:r>
          </a:p>
          <a:p xmlns:a="http://schemas.openxmlformats.org/drawingml/2006/main">
            <a:r>
              <a:t>      {</a:t>
            </a:r>
          </a:p>
          <a:p xmlns:a="http://schemas.openxmlformats.org/drawingml/2006/main">
            <a:r>
              <a:t>        "title": "작성·조사 지원",</a:t>
            </a:r>
          </a:p>
          <a:p xmlns:a="http://schemas.openxmlformats.org/drawingml/2006/main">
            <a:r>
              <a:t>        "input": "도구 입력",</a:t>
            </a:r>
          </a:p>
          <a:p xmlns:a="http://schemas.openxmlformats.org/drawingml/2006/main">
            <a:r>
              <a:t>        "process": "공개 범위·근거·내용 대조",</a:t>
            </a:r>
          </a:p>
          <a:p xmlns:a="http://schemas.openxmlformats.org/drawingml/2006/main">
            <a:r>
              <a:t>        "output": "작성·조사 초안"</a:t>
            </a:r>
          </a:p>
          <a:p xmlns:a="http://schemas.openxmlformats.org/drawingml/2006/main">
            <a:r>
              <a:t>      },</a:t>
            </a:r>
          </a:p>
          <a:p xmlns:a="http://schemas.openxmlformats.org/drawingml/2006/main">
            <a:r>
              <a:t>      {</a:t>
            </a:r>
          </a:p>
          <a:p xmlns:a="http://schemas.openxmlformats.org/drawingml/2006/main">
            <a:r>
              <a:t>        "title": "공무원 검토",</a:t>
            </a:r>
          </a:p>
          <a:p xmlns:a="http://schemas.openxmlformats.org/drawingml/2006/main">
            <a:r>
              <a:t>        "input": "작성·조사 초안",</a:t>
            </a:r>
          </a:p>
          <a:p xmlns:a="http://schemas.openxmlformats.org/drawingml/2006/main">
            <a:r>
              <a:t>        "process": "직원 검토를 거친 문서·업무 초안 활용",</a:t>
            </a:r>
          </a:p>
          <a:p xmlns:a="http://schemas.openxmlformats.org/drawingml/2006/main">
            <a:r>
              <a:t>        "output": "확인된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"정부 업무자료를 허용 범위에서 요약·작성",</a:t>
            </a:r>
          </a:p>
          <a:p xmlns:a="http://schemas.openxmlformats.org/drawingml/2006/main">
            <a:r>
              <a:t>      "exception": "금지 입력·근거 없는 질문·장시간 응답",</a:t>
            </a:r>
          </a:p>
          <a:p xmlns:a="http://schemas.openxmlformats.org/drawingml/2006/main">
            <a:r>
              <a:t>      "evidence": "입력 정책·답변 품질·서비스 실패 대응 기록",</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"정부 직원·운영 담당",</a:t>
            </a:r>
          </a:p>
          <a:p xmlns:a="http://schemas.openxmlformats.org/drawingml/2006/main">
            <a:r>
              <a:t>          "processing": "정부 기기·사용자 문맥·업무 입력 구분",</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"업무 문맥",</a:t>
            </a:r>
          </a:p>
          <a:p xmlns:a="http://schemas.openxmlformats.org/drawingml/2006/main">
            <a:r>
              <a:t>          "processing": "업무 문맥의 허용 입력범위·보관조건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"업무 요청",</a:t>
            </a:r>
          </a:p>
          <a:p xmlns:a="http://schemas.openxmlformats.org/drawingml/2006/main">
            <a:r>
              <a:t>          "processing": "공공업무에 맞춘 모델 요청·응답 처리",</a:t>
            </a:r>
          </a:p>
          <a:p xmlns:a="http://schemas.openxmlformats.org/drawingml/2006/main">
            <a:r>
              <a:t>          "output": "작성·조사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"작성·조사 초안",</a:t>
            </a:r>
          </a:p>
          <a:p xmlns:a="http://schemas.openxmlformats.org/drawingml/2006/main">
            <a:r>
              <a:t>          "processing": "직원 검토를 거친 문서·업무 초안 활용",</a:t>
            </a:r>
          </a:p>
          <a:p xmlns:a="http://schemas.openxmlformats.org/drawingml/2006/main">
            <a:r>
              <a:t>          "output": "확인된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"오류·사용성·정책 준수의 운영 점검",</a:t>
            </a:r>
          </a:p>
          <a:p xmlns:a="http://schemas.openxmlformats.org/drawingml/2006/main">
            <a:r>
              <a:t>          "output": "입력 정책·답변 품질·서비스 실패 대응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"오류·사용성·정책 준수의 운영 점검",</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"P109~111 / 범용 생산성 도구 확산",</a:t>
            </a:r>
          </a:p>
          <a:p xmlns:a="http://schemas.openxmlformats.org/drawingml/2006/main">
            <a:r>
              <a:t>        "url": "https://www.tech.gov.sg/products-and-services/for-government-agencies/productivity-and-marketing/pair/"</a:t>
            </a:r>
          </a:p>
          <a:p xmlns:a="http://schemas.openxmlformats.org/drawingml/2006/main">
            <a:r>
              <a:t>      }</a:t>
            </a:r>
          </a:p>
          <a:p xmlns:a="http://schemas.openxmlformats.org/drawingml/2006/main">
            <a:r>
              <a:t>    ],</a:t>
            </a:r>
          </a:p>
          <a:p xmlns:a="http://schemas.openxmlformats.org/drawingml/2006/main">
            <a:r>
              <a:t>    "implication": "공통 이용환경 안에서 공공업무 입력 기준과 직원 검토 절차 정착",</a:t>
            </a:r>
          </a:p>
          <a:p xmlns:a="http://schemas.openxmlformats.org/drawingml/2006/main">
            <a:r>
              <a:t>    "local": "공통 이용환경 안에서 공공업무 입력 기준과 직원 검토 절차 정착",</a:t>
            </a:r>
          </a:p>
          <a:p xmlns:a="http://schemas.openxmlformats.org/drawingml/2006/main">
            <a:r>
              <a:t>    "sourceDetail": "정부 기기에서 이용하는 공통 LLM 보조도구, 공공업무 맥락에 맞춘 서비스\n정부 사용환경·보안 조건을 공통으로 제공",</a:t>
            </a:r>
          </a:p>
          <a:p xmlns:a="http://schemas.openxmlformats.org/drawingml/2006/main">
            <a:r>
              <a:t>    "narrative": [</a:t>
            </a:r>
          </a:p>
          <a:p xmlns:a="http://schemas.openxmlformats.org/drawingml/2006/main">
            <a:r>
              <a:t>      "싱가포르 Pair의 공공부문 업무 지원 사례. 직원의 조사·작성·분석을 지원하면서 정부 사용 조건과 업무 자료 취급 기준을 적용하는 도입 방식.",</a:t>
            </a:r>
          </a:p>
          <a:p xmlns:a="http://schemas.openxmlformats.org/drawingml/2006/main">
            <a:r>
              <a:t>      "정부 사용자 접근, 허용된 업무 입력, 모델 처리, 결과 검토·활용으로 재구성. 공급사의 일반 제품 기능과 정부 도입 조건, 실제 이용 범위를 구분하고 기관 내부 시스템과의 자동 연계 여부를 별도 확인하는 구조.",</a:t>
            </a:r>
          </a:p>
          <a:p xmlns:a="http://schemas.openxmlformats.org/drawingml/2006/main">
            <a:r>
              <a:t>      "TS에서는 서비스 구매 자체를 조직 네이티브 기능 구현으로 보지 않는 것이 비교의 출발점. 공식 직원 ID·부서·업무 책임·자료 권한과 모델의 이용 문맥을 연결하는 추가 개발·운영 책임의 별도 정의."</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"정부 직원 접점",</a:t>
            </a:r>
          </a:p>
          <a:p xmlns:a="http://schemas.openxmlformats.org/drawingml/2006/main">
            <a:r>
              <a:t>          "layer": "이용 접점",</a:t>
            </a:r>
          </a:p>
          <a:p xmlns:a="http://schemas.openxmlformats.org/drawingml/2006/main">
            <a:r>
              <a:t>          "detail": "정부 직원·운영 담당",</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"업무·입력등급",</a:t>
            </a:r>
          </a:p>
          <a:p xmlns:a="http://schemas.openxmlformats.org/drawingml/2006/main">
            <a:r>
              <a:t>          "layer": "업무 문맥",</a:t>
            </a:r>
          </a:p>
          <a:p xmlns:a="http://schemas.openxmlformats.org/drawingml/2006/main">
            <a:r>
              <a:t>          "detail": "정부 기기·사용자 문맥·업무 입력 구분",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"업무 문맥 구성",</a:t>
            </a:r>
          </a:p>
          <a:p xmlns:a="http://schemas.openxmlformats.org/drawingml/2006/main">
            <a:r>
              <a:t>          "layer": "자료 조회",</a:t>
            </a:r>
          </a:p>
          <a:p xmlns:a="http://schemas.openxmlformats.org/drawingml/2006/main">
            <a:r>
              <a:t>          "detail": "업무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"Pair 공통 LLM",</a:t>
            </a:r>
          </a:p>
          <a:p xmlns:a="http://schemas.openxmlformats.org/drawingml/2006/main">
            <a:r>
              <a:t>          "layer": "핵심 처리",</a:t>
            </a:r>
          </a:p>
          <a:p xmlns:a="http://schemas.openxmlformats.org/drawingml/2006/main">
            <a:r>
              <a:t>          "detail": "공공업무에 맞춘 모델 요청·응답 처리",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"근거·민감정보 검사",</a:t>
            </a:r>
          </a:p>
          <a:p xmlns:a="http://schemas.openxmlformats.org/drawingml/2006/main">
            <a:r>
              <a:t>          "layer": "결과 검증",</a:t>
            </a:r>
          </a:p>
          <a:p xmlns:a="http://schemas.openxmlformats.org/drawingml/2006/main">
            <a:r>
              <a:t>          "detail": "공개 범위·근거·내용 대조",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"직원 검토",</a:t>
            </a:r>
          </a:p>
          <a:p xmlns:a="http://schemas.openxmlformats.org/drawingml/2006/main">
            <a:r>
              <a:t>          "layer": "사람 확인",</a:t>
            </a:r>
          </a:p>
          <a:p xmlns:a="http://schemas.openxmlformats.org/drawingml/2006/main">
            <a:r>
              <a:t>          "detail": "정부 업무자료를 허용 범위에서 요약·작성",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"작성·조사 초안",</a:t>
            </a:r>
          </a:p>
          <a:p xmlns:a="http://schemas.openxmlformats.org/drawingml/2006/main">
            <a:r>
              <a:t>          "layer": "업무 연결",</a:t>
            </a:r>
          </a:p>
          <a:p xmlns:a="http://schemas.openxmlformats.org/drawingml/2006/main">
            <a:r>
              <a:t>          "detail": "직원 검토를 거친 문서·업무 초안 활용",</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"오류·사용성 점검",</a:t>
            </a:r>
          </a:p>
          <a:p xmlns:a="http://schemas.openxmlformats.org/drawingml/2006/main">
            <a:r>
              <a:t>          "layer": "운영 관측",</a:t>
            </a:r>
          </a:p>
          <a:p xmlns:a="http://schemas.openxmlformats.org/drawingml/2006/main">
            <a:r>
              <a:t>          "detail": "오류·사용성·정책 준수의 운영 점검",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"허용 업무 입력",</a:t>
            </a:r>
          </a:p>
          <a:p xmlns:a="http://schemas.openxmlformats.org/drawingml/2006/main">
            <a:r>
              <a:t>          "layer": "데이터 원천",</a:t>
            </a:r>
          </a:p>
          <a:p xmlns:a="http://schemas.openxmlformats.org/drawingml/2006/main">
            <a:r>
              <a:t>          "detail": "업무 문맥",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"보관조건 정리",</a:t>
            </a:r>
          </a:p>
          <a:p xmlns:a="http://schemas.openxmlformats.org/drawingml/2006/main">
            <a:r>
              <a:t>          "layer": "준비·갱신",</a:t>
            </a:r>
          </a:p>
          <a:p xmlns:a="http://schemas.openxmlformats.org/drawingml/2006/main">
            <a:r>
              <a:t>          "detail": "업무 문맥의 허용 입력범위·보관조건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"과업·평가 기록",</a:t>
            </a:r>
          </a:p>
          <a:p xmlns:a="http://schemas.openxmlformats.org/drawingml/2006/main">
            <a:r>
              <a:t>          "layer": "상태·지식 저장",</a:t>
            </a:r>
          </a:p>
          <a:p xmlns:a="http://schemas.openxmlformats.org/drawingml/2006/main">
            <a:r>
              <a:t>          "detail": "입력 정책·답변 품질·서비스 실패 대응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"정부 이용정책",</a:t>
            </a:r>
          </a:p>
          <a:p xmlns:a="http://schemas.openxmlformats.org/drawingml/2006/main">
            <a:r>
              <a:t>          "layer": "권한·정책",</a:t>
            </a:r>
          </a:p>
          <a:p xmlns:a="http://schemas.openxmlformats.org/drawingml/2006/main">
            <a:r>
              <a:t>          "detail": "금지 입력·근거 없는 질문·장시간 응답",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"정부 기기·사용자 문맥·업무 입력 구분",</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"업무 요청",</a:t>
            </a:r>
          </a:p>
          <a:p xmlns:a="http://schemas.openxmlformats.org/drawingml/2006/main">
            <a:r>
              <a:t>          "check": "공개 범위·근거·내용 대조"</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"도구 입력",</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"작성·조사 초안",</a:t>
            </a:r>
          </a:p>
          <a:p xmlns:a="http://schemas.openxmlformats.org/drawingml/2006/main">
            <a:r>
              <a:t>          "check": "금지 입력·근거 없는 질문·장시간 응답"</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"작성·조사 초안",</a:t>
            </a:r>
          </a:p>
          <a:p xmlns:a="http://schemas.openxmlformats.org/drawingml/2006/main">
            <a:r>
              <a:t>          "check": "직원 검토를 거친 문서·업무 초안 활용"</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"확인된 결과",</a:t>
            </a:r>
          </a:p>
          <a:p xmlns:a="http://schemas.openxmlformats.org/drawingml/2006/main">
            <a:r>
              <a:t>          "check": "입력 정책·답변 품질·서비스 실패 대응 기록"</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"정부 환경에 맞춘 공통 LLM 업무 지원 / 질의응답·작성 보조·정부 이용환경",</a:t>
            </a:r>
          </a:p>
          <a:p xmlns:a="http://schemas.openxmlformats.org/drawingml/2006/main">
            <a:r>
              <a:t>        "extension": "공통 이용환경 안에서 공공업무 입력 기준과 직원 검토 절차 정착"</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"금지 입력·근거 없는 질문·장시간 응답",</a:t>
            </a:r>
          </a:p>
          <a:p xmlns:a="http://schemas.openxmlformats.org/drawingml/2006/main">
            <a:r>
              <a:t>        "hold": "공개 범위·근거·내용 대조",</a:t>
            </a:r>
          </a:p>
          <a:p xmlns:a="http://schemas.openxmlformats.org/drawingml/2006/main">
            <a:r>
              <a:t>        "recovery": "오류·사용성·정책 준수의 운영 점검",</a:t>
            </a:r>
          </a:p>
          <a:p xmlns:a="http://schemas.openxmlformats.org/drawingml/2006/main">
            <a:r>
              <a:t>        "evidence": "입력 정책·답변 품질·서비스 실패 대응 기록"</a:t>
            </a:r>
          </a:p>
          <a:p xmlns:a="http://schemas.openxmlformats.org/drawingml/2006/main">
            <a:r>
              <a:t>      },</a:t>
            </a:r>
          </a:p>
          <a:p xmlns:a="http://schemas.openxmlformats.org/drawingml/2006/main">
            <a:r>
              <a:t>      "data": {</a:t>
            </a:r>
          </a:p>
          <a:p xmlns:a="http://schemas.openxmlformats.org/drawingml/2006/main">
            <a:r>
              <a:t>        "source": "업무 문맥",</a:t>
            </a:r>
          </a:p>
          <a:p xmlns:a="http://schemas.openxmlformats.org/drawingml/2006/main">
            <a:r>
              <a:t>        "prepare": "업무 문맥의 허용 입력범위·보관조건 관리",</a:t>
            </a:r>
          </a:p>
          <a:p xmlns:a="http://schemas.openxmlformats.org/drawingml/2006/main">
            <a:r>
              <a:t>        "output": "업무 요청",</a:t>
            </a:r>
          </a:p>
          <a:p xmlns:a="http://schemas.openxmlformats.org/drawingml/2006/main">
            <a:r>
              <a:t>        "refresh": "오류·사용성·정책 준수의 운영 점검"</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"PF-A09",</a:t>
            </a:r>
          </a:p>
          <a:p xmlns:a="http://schemas.openxmlformats.org/drawingml/2006/main">
            <a:r>
              <a:t>    "success": [</a:t>
            </a:r>
          </a:p>
          <a:p xmlns:a="http://schemas.openxmlformats.org/drawingml/2006/main">
            <a:r>
              <a:t>      "공통 작성·조사 도구 접근",</a:t>
            </a:r>
          </a:p>
          <a:p xmlns:a="http://schemas.openxmlformats.org/drawingml/2006/main">
            <a:r>
              <a:t>      "공무원의 결과 검토"</a:t>
            </a:r>
          </a:p>
          <a:p xmlns:a="http://schemas.openxmlformats.org/drawingml/2006/main">
            <a:r>
              <a:t>    ],</a:t>
            </a:r>
          </a:p>
          <a:p xmlns:a="http://schemas.openxmlformats.org/drawingml/2006/main">
            <a:r>
              <a:t>    "risks": [</a:t>
            </a:r>
          </a:p>
          <a:p xmlns:a="http://schemas.openxmlformats.org/drawingml/2006/main">
            <a:r>
              <a:t>      "범용 도구의 전문 규정 한계",</a:t>
            </a:r>
          </a:p>
          <a:p xmlns:a="http://schemas.openxmlformats.org/drawingml/2006/main">
            <a:r>
              <a:t>      "민감 정보 입력·검증 없는 재사용"</a:t>
            </a:r>
          </a:p>
          <a:p xmlns:a="http://schemas.openxmlformats.org/drawingml/2006/main">
            <a:r>
              <a:t>    ],</a:t>
            </a:r>
          </a:p>
          <a:p xmlns:a="http://schemas.openxmlformats.org/drawingml/2006/main">
            <a:r>
              <a:t>    "architecture": [</a:t>
            </a:r>
          </a:p>
          <a:p xmlns:a="http://schemas.openxmlformats.org/drawingml/2006/main">
            <a:r>
              <a:t>      "정부 직원",</a:t>
            </a:r>
          </a:p>
          <a:p xmlns:a="http://schemas.openxmlformats.org/drawingml/2006/main">
            <a:r>
              <a:t>      "Pair 공통 LLM",</a:t>
            </a:r>
          </a:p>
          <a:p xmlns:a="http://schemas.openxmlformats.org/drawingml/2006/main">
            <a:r>
              <a:t>      "업무 문맥",</a:t>
            </a:r>
          </a:p>
          <a:p xmlns:a="http://schemas.openxmlformats.org/drawingml/2006/main">
            <a:r>
              <a:t>      "직원 검토"</a:t>
            </a:r>
          </a:p>
          <a:p xmlns:a="http://schemas.openxmlformats.org/drawingml/2006/main">
            <a:r>
              <a:t>    ],</a:t>
            </a:r>
          </a:p>
          <a:p xmlns:a="http://schemas.openxmlformats.org/drawingml/2006/main">
            <a:r>
              <a:t>    "transfers": [</a:t>
            </a:r>
          </a:p>
          <a:p xmlns:a="http://schemas.openxmlformats.org/drawingml/2006/main">
            <a:r>
              <a:t>      "업무 요청",</a:t>
            </a:r>
          </a:p>
          <a:p xmlns:a="http://schemas.openxmlformats.org/drawingml/2006/main">
            <a:r>
              <a:t>      "도구 입력",</a:t>
            </a:r>
          </a:p>
          <a:p xmlns:a="http://schemas.openxmlformats.org/drawingml/2006/main">
            <a:r>
              <a:t>      "작성·조사 초안",</a:t>
            </a:r>
          </a:p>
          <a:p xmlns:a="http://schemas.openxmlformats.org/drawingml/2006/main">
            <a:r>
              <a:t>      "확인된 결과"</a:t>
            </a:r>
          </a:p>
          <a:p xmlns:a="http://schemas.openxmlformats.org/drawingml/2006/main">
            <a:r>
              <a:t>    ],</a:t>
            </a:r>
          </a:p>
          <a:p xmlns:a="http://schemas.openxmlformats.org/drawingml/2006/main">
            <a:r>
              <a:t>    "control": "공개 범위·근거·내용 대조",</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P109~111 / 범용 생산성 도구 확산 https://www.tech.gov.sg/products-and-services/for-government-agencies/productivity-and-marketing/pair/</a:t>
            </a:r>
          </a:p>
          <a:p xmlns:a="http://schemas.openxmlformats.org/drawingml/2006/main">
            <a:r>
              <a:t>홈페이지 https://heen1987-ops.github.io/TS-business-Plan-001/index.html?view=platform-cases&amp;case=PF-A09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"PF-A09",</a:t>
            </a:r>
          </a:p>
          <a:p xmlns:a="http://schemas.openxmlformats.org/drawingml/2006/main">
            <a:r>
              <a:t>    "sourceId": "A09",</a:t>
            </a:r>
          </a:p>
          <a:p xmlns:a="http://schemas.openxmlformats.org/drawingml/2006/main">
            <a:r>
              <a:t>    "title": "싱가포르 Pair",</a:t>
            </a:r>
          </a:p>
          <a:p xmlns:a="http://schemas.openxmlformats.org/drawingml/2006/main">
            <a:r>
              <a:t>    "region": "해외",</a:t>
            </a:r>
          </a:p>
          <a:p xmlns:a="http://schemas.openxmlformats.org/drawingml/2006/main">
            <a:r>
              <a:t>    "owner": "Open Government Products / Pair",</a:t>
            </a:r>
          </a:p>
          <a:p xmlns:a="http://schemas.openxmlformats.org/drawingml/2006/main">
            <a:r>
              <a:t>    "state": "2023년 이후 운영 / 공식 제품 목록 Active",</a:t>
            </a:r>
          </a:p>
          <a:p xmlns:a="http://schemas.openxmlformats.org/drawingml/2006/main">
            <a:r>
              <a:t>    "period": "기존 원장 확인 2026.10.16",</a:t>
            </a:r>
          </a:p>
          <a:p xmlns:a="http://schemas.openxmlformats.org/drawingml/2006/main">
            <a:r>
              <a:t>    "fact": "정부 공통 업무도구",</a:t>
            </a:r>
          </a:p>
          <a:p xmlns:a="http://schemas.openxmlformats.org/drawingml/2006/main">
            <a:r>
              <a:t>    "limit": "오래된 소개 지표로 현재 규모를 추정하지 않음. 독립 정량 업무효과 미확인",</a:t>
            </a:r>
          </a:p>
          <a:p xmlns:a="http://schemas.openxmlformats.org/drawingml/2006/main">
            <a:r>
              <a:t>    "nodes": [</a:t>
            </a:r>
          </a:p>
          <a:p xmlns:a="http://schemas.openxmlformats.org/drawingml/2006/main">
            <a:r>
              <a:t>      "정부 사용자",</a:t>
            </a:r>
          </a:p>
          <a:p xmlns:a="http://schemas.openxmlformats.org/drawingml/2006/main">
            <a:r>
              <a:t>      "공통 LLM 도구",</a:t>
            </a:r>
          </a:p>
          <a:p xmlns:a="http://schemas.openxmlformats.org/drawingml/2006/main">
            <a:r>
              <a:t>      "작성·조사 지원",</a:t>
            </a:r>
          </a:p>
          <a:p xmlns:a="http://schemas.openxmlformats.org/drawingml/2006/main">
            <a:r>
              <a:t>      "공무원 검토"</a:t>
            </a:r>
          </a:p>
          <a:p xmlns:a="http://schemas.openxmlformats.org/drawingml/2006/main">
            <a:r>
              <a:t>    ],</a:t>
            </a:r>
          </a:p>
          <a:p xmlns:a="http://schemas.openxmlformats.org/drawingml/2006/main">
            <a:r>
              <a:t>    "apply": "공통 이용환경 안에서 공공업무 입력 기준과 직원 검토 절차 정착",</a:t>
            </a:r>
          </a:p>
          <a:p xmlns:a="http://schemas.openxmlformats.org/drawingml/2006/main">
            <a:r>
              <a:t>    "delta": "기관·직무별 설정과 품질 기준",</a:t>
            </a:r>
          </a:p>
          <a:p xmlns:a="http://schemas.openxmlformats.org/drawingml/2006/main">
            <a:r>
              <a:t>    "test": "신규 연결 공수·요청당 비용의 기준선·비교 평가",</a:t>
            </a:r>
          </a:p>
          <a:p xmlns:a="http://schemas.openxmlformats.org/drawingml/2006/main">
            <a:r>
              <a:t>    "url": "https://www.tech.gov.sg/products-and-services/for-government-agencies/productivity-and-marketing/pair/",</a:t>
            </a:r>
          </a:p>
          <a:p xmlns:a="http://schemas.openxmlformats.org/drawingml/2006/main">
            <a:r>
              <a:t>    "urls": [</a:t>
            </a:r>
          </a:p>
          <a:p xmlns:a="http://schemas.openxmlformats.org/drawingml/2006/main">
            <a:r>
              <a:t>      "https://www.tech.gov.sg/products-and-services/for-government-agencies/productivity-and-marketing/pair/",</a:t>
            </a:r>
          </a:p>
          <a:p xmlns:a="http://schemas.openxmlformats.org/drawingml/2006/main">
            <a:r>
              <a:t>      "https://reports.open.gov.sg/pair"</a:t>
            </a:r>
          </a:p>
          <a:p xmlns:a="http://schemas.openxmlformats.org/drawingml/2006/main">
            <a:r>
              <a:t>    ],</a:t>
            </a:r>
          </a:p>
          <a:p xmlns:a="http://schemas.openxmlformats.org/drawingml/2006/main">
            <a:r>
              <a:t>    "basis": "P109~111 / 범용 생산성 도구 확산",</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"신규 연결 공수·요청당 비용",</a:t>
            </a:r>
          </a:p>
          <a:p xmlns:a="http://schemas.openxmlformats.org/drawingml/2006/main">
            <a:r>
              <a:t>    "group": "운영·실증",</a:t>
            </a:r>
          </a:p>
          <a:p xmlns:a="http://schemas.openxmlformats.org/drawingml/2006/main">
            <a:r>
              <a:t>    "sourceDetail": "정부 기기에서 이용하는 공통 LLM 보조도구, 공공업무 맥락에 맞춘 서비스\n정부 사용환경·보안 조건을 공통으로 제공",</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"PF-A09",</a:t>
            </a:r>
          </a:p>
          <a:p xmlns:a="http://schemas.openxmlformats.org/drawingml/2006/main">
            <a:r>
              <a:t>    "canonicalId": "PF-A09",</a:t>
            </a:r>
          </a:p>
          <a:p xmlns:a="http://schemas.openxmlformats.org/drawingml/2006/main">
            <a:r>
              <a:t>    "purpose": "정부 환경에 맞춘 공통 LLM 업무 지원",</a:t>
            </a:r>
          </a:p>
          <a:p xmlns:a="http://schemas.openxmlformats.org/drawingml/2006/main">
            <a:r>
              <a:t>    "users": "정부 직원·운영 담당",</a:t>
            </a:r>
          </a:p>
          <a:p xmlns:a="http://schemas.openxmlformats.org/drawingml/2006/main">
            <a:r>
              <a:t>    "scope": [</a:t>
            </a:r>
          </a:p>
          <a:p xmlns:a="http://schemas.openxmlformats.org/drawingml/2006/main">
            <a:r>
              <a:t>      "질의응답",</a:t>
            </a:r>
          </a:p>
          <a:p xmlns:a="http://schemas.openxmlformats.org/drawingml/2006/main">
            <a:r>
              <a:t>      "작성 보조",</a:t>
            </a:r>
          </a:p>
          <a:p xmlns:a="http://schemas.openxmlformats.org/drawingml/2006/main">
            <a:r>
              <a:t>      "정부 이용환경"</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"정부 직원",</a:t>
            </a:r>
          </a:p>
          <a:p xmlns:a="http://schemas.openxmlformats.org/drawingml/2006/main">
            <a:r>
              <a:t>        "detail": "정부 기기·사용자 문맥·업무 입력 구분",</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"질의응답 / 작성 보조 / 정부 이용환경",</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"Pair 공통 LLM",</a:t>
            </a:r>
          </a:p>
          <a:p xmlns:a="http://schemas.openxmlformats.org/drawingml/2006/main">
            <a:r>
              <a:t>        "detail": "공공업무에 맞춘 모델 요청·응답 처리",</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"직원 검토",</a:t>
            </a:r>
          </a:p>
          <a:p xmlns:a="http://schemas.openxmlformats.org/drawingml/2006/main">
            <a:r>
              <a:t>        "detail": "직원 검토를 거친 문서·업무 초안 활용",</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"업무 문맥",</a:t>
            </a:r>
          </a:p>
          <a:p xmlns:a="http://schemas.openxmlformats.org/drawingml/2006/main">
            <a:r>
              <a:t>        "detail": "업무 문맥의 허용 입력범위·보관조건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"오류·사용성·정책 준수의 운영 점검",</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"정부 사용자",</a:t>
            </a:r>
          </a:p>
          <a:p xmlns:a="http://schemas.openxmlformats.org/drawingml/2006/main">
            <a:r>
              <a:t>        "input": "정부 기기·사용자 문맥·업무 입력 구분",</a:t>
            </a:r>
          </a:p>
          <a:p xmlns:a="http://schemas.openxmlformats.org/drawingml/2006/main">
            <a:r>
              <a:t>        "process": "업무 문맥의 허용 입력범위·보관조건 관리",</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"title": "공통 LLM 도구",</a:t>
            </a:r>
          </a:p>
          <a:p xmlns:a="http://schemas.openxmlformats.org/drawingml/2006/main">
            <a:r>
              <a:t>        "input": "업무 요청",</a:t>
            </a:r>
          </a:p>
          <a:p xmlns:a="http://schemas.openxmlformats.org/drawingml/2006/main">
            <a:r>
              <a:t>        "process": "공공업무에 맞춘 모델 요청·응답 처리",</a:t>
            </a:r>
          </a:p>
          <a:p xmlns:a="http://schemas.openxmlformats.org/drawingml/2006/main">
            <a:r>
              <a:t>        "output": "도구 입력"</a:t>
            </a:r>
          </a:p>
          <a:p xmlns:a="http://schemas.openxmlformats.org/drawingml/2006/main">
            <a:r>
              <a:t>      },</a:t>
            </a:r>
          </a:p>
          <a:p xmlns:a="http://schemas.openxmlformats.org/drawingml/2006/main">
            <a:r>
              <a:t>      {</a:t>
            </a:r>
          </a:p>
          <a:p xmlns:a="http://schemas.openxmlformats.org/drawingml/2006/main">
            <a:r>
              <a:t>        "title": "작성·조사 지원",</a:t>
            </a:r>
          </a:p>
          <a:p xmlns:a="http://schemas.openxmlformats.org/drawingml/2006/main">
            <a:r>
              <a:t>        "input": "도구 입력",</a:t>
            </a:r>
          </a:p>
          <a:p xmlns:a="http://schemas.openxmlformats.org/drawingml/2006/main">
            <a:r>
              <a:t>        "process": "공개 범위·근거·내용 대조",</a:t>
            </a:r>
          </a:p>
          <a:p xmlns:a="http://schemas.openxmlformats.org/drawingml/2006/main">
            <a:r>
              <a:t>        "output": "작성·조사 초안"</a:t>
            </a:r>
          </a:p>
          <a:p xmlns:a="http://schemas.openxmlformats.org/drawingml/2006/main">
            <a:r>
              <a:t>      },</a:t>
            </a:r>
          </a:p>
          <a:p xmlns:a="http://schemas.openxmlformats.org/drawingml/2006/main">
            <a:r>
              <a:t>      {</a:t>
            </a:r>
          </a:p>
          <a:p xmlns:a="http://schemas.openxmlformats.org/drawingml/2006/main">
            <a:r>
              <a:t>        "title": "공무원 검토",</a:t>
            </a:r>
          </a:p>
          <a:p xmlns:a="http://schemas.openxmlformats.org/drawingml/2006/main">
            <a:r>
              <a:t>        "input": "작성·조사 초안",</a:t>
            </a:r>
          </a:p>
          <a:p xmlns:a="http://schemas.openxmlformats.org/drawingml/2006/main">
            <a:r>
              <a:t>        "process": "직원 검토를 거친 문서·업무 초안 활용",</a:t>
            </a:r>
          </a:p>
          <a:p xmlns:a="http://schemas.openxmlformats.org/drawingml/2006/main">
            <a:r>
              <a:t>        "output": "확인된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"정부 업무자료를 허용 범위에서 요약·작성",</a:t>
            </a:r>
          </a:p>
          <a:p xmlns:a="http://schemas.openxmlformats.org/drawingml/2006/main">
            <a:r>
              <a:t>      "exception": "금지 입력·근거 없는 질문·장시간 응답",</a:t>
            </a:r>
          </a:p>
          <a:p xmlns:a="http://schemas.openxmlformats.org/drawingml/2006/main">
            <a:r>
              <a:t>      "evidence": "입력 정책·답변 품질·서비스 실패 대응 기록",</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"정부 직원·운영 담당",</a:t>
            </a:r>
          </a:p>
          <a:p xmlns:a="http://schemas.openxmlformats.org/drawingml/2006/main">
            <a:r>
              <a:t>          "processing": "정부 기기·사용자 문맥·업무 입력 구분",</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"업무 문맥",</a:t>
            </a:r>
          </a:p>
          <a:p xmlns:a="http://schemas.openxmlformats.org/drawingml/2006/main">
            <a:r>
              <a:t>          "processing": "업무 문맥의 허용 입력범위·보관조건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"업무 요청",</a:t>
            </a:r>
          </a:p>
          <a:p xmlns:a="http://schemas.openxmlformats.org/drawingml/2006/main">
            <a:r>
              <a:t>          "processing": "공공업무에 맞춘 모델 요청·응답 처리",</a:t>
            </a:r>
          </a:p>
          <a:p xmlns:a="http://schemas.openxmlformats.org/drawingml/2006/main">
            <a:r>
              <a:t>          "output": "작성·조사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"작성·조사 초안",</a:t>
            </a:r>
          </a:p>
          <a:p xmlns:a="http://schemas.openxmlformats.org/drawingml/2006/main">
            <a:r>
              <a:t>          "processing": "직원 검토를 거친 문서·업무 초안 활용",</a:t>
            </a:r>
          </a:p>
          <a:p xmlns:a="http://schemas.openxmlformats.org/drawingml/2006/main">
            <a:r>
              <a:t>          "output": "확인된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"오류·사용성·정책 준수의 운영 점검",</a:t>
            </a:r>
          </a:p>
          <a:p xmlns:a="http://schemas.openxmlformats.org/drawingml/2006/main">
            <a:r>
              <a:t>          "output": "입력 정책·답변 품질·서비스 실패 대응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"오류·사용성·정책 준수의 운영 점검",</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"P109~111 / 범용 생산성 도구 확산",</a:t>
            </a:r>
          </a:p>
          <a:p xmlns:a="http://schemas.openxmlformats.org/drawingml/2006/main">
            <a:r>
              <a:t>        "url": "https://www.tech.gov.sg/products-and-services/for-government-agencies/productivity-and-marketing/pair/"</a:t>
            </a:r>
          </a:p>
          <a:p xmlns:a="http://schemas.openxmlformats.org/drawingml/2006/main">
            <a:r>
              <a:t>      }</a:t>
            </a:r>
          </a:p>
          <a:p xmlns:a="http://schemas.openxmlformats.org/drawingml/2006/main">
            <a:r>
              <a:t>    ],</a:t>
            </a:r>
          </a:p>
          <a:p xmlns:a="http://schemas.openxmlformats.org/drawingml/2006/main">
            <a:r>
              <a:t>    "implication": "공통 이용환경 안에서 공공업무 입력 기준과 직원 검토 절차 정착",</a:t>
            </a:r>
          </a:p>
          <a:p xmlns:a="http://schemas.openxmlformats.org/drawingml/2006/main">
            <a:r>
              <a:t>    "local": "공통 이용환경 안에서 공공업무 입력 기준과 직원 검토 절차 정착",</a:t>
            </a:r>
          </a:p>
          <a:p xmlns:a="http://schemas.openxmlformats.org/drawingml/2006/main">
            <a:r>
              <a:t>    "sourceDetail": "정부 기기에서 이용하는 공통 LLM 보조도구, 공공업무 맥락에 맞춘 서비스\n정부 사용환경·보안 조건을 공통으로 제공",</a:t>
            </a:r>
          </a:p>
          <a:p xmlns:a="http://schemas.openxmlformats.org/drawingml/2006/main">
            <a:r>
              <a:t>    "narrative": [</a:t>
            </a:r>
          </a:p>
          <a:p xmlns:a="http://schemas.openxmlformats.org/drawingml/2006/main">
            <a:r>
              <a:t>      "싱가포르 Pair의 공공부문 업무 지원 사례. 직원의 조사·작성·분석을 지원하면서 정부 사용 조건과 업무 자료 취급 기준을 적용하는 도입 방식.",</a:t>
            </a:r>
          </a:p>
          <a:p xmlns:a="http://schemas.openxmlformats.org/drawingml/2006/main">
            <a:r>
              <a:t>      "정부 사용자 접근, 허용된 업무 입력, 모델 처리, 결과 검토·활용으로 재구성. 공급사의 일반 제품 기능과 정부 도입 조건, 실제 이용 범위를 구분하고 기관 내부 시스템과의 자동 연계 여부를 별도 확인하는 구조.",</a:t>
            </a:r>
          </a:p>
          <a:p xmlns:a="http://schemas.openxmlformats.org/drawingml/2006/main">
            <a:r>
              <a:t>      "TS에서는 서비스 구매 자체를 조직 네이티브 기능 구현으로 보지 않는 것이 비교의 출발점. 공식 직원 ID·부서·업무 책임·자료 권한과 모델의 이용 문맥을 연결하는 추가 개발·운영 책임의 별도 정의."</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"정부 직원 접점",</a:t>
            </a:r>
          </a:p>
          <a:p xmlns:a="http://schemas.openxmlformats.org/drawingml/2006/main">
            <a:r>
              <a:t>          "layer": "이용 접점",</a:t>
            </a:r>
          </a:p>
          <a:p xmlns:a="http://schemas.openxmlformats.org/drawingml/2006/main">
            <a:r>
              <a:t>          "detail": "정부 직원·운영 담당",</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"업무·입력등급",</a:t>
            </a:r>
          </a:p>
          <a:p xmlns:a="http://schemas.openxmlformats.org/drawingml/2006/main">
            <a:r>
              <a:t>          "layer": "업무 문맥",</a:t>
            </a:r>
          </a:p>
          <a:p xmlns:a="http://schemas.openxmlformats.org/drawingml/2006/main">
            <a:r>
              <a:t>          "detail": "정부 기기·사용자 문맥·업무 입력 구분",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"업무 문맥 구성",</a:t>
            </a:r>
          </a:p>
          <a:p xmlns:a="http://schemas.openxmlformats.org/drawingml/2006/main">
            <a:r>
              <a:t>          "layer": "자료 조회",</a:t>
            </a:r>
          </a:p>
          <a:p xmlns:a="http://schemas.openxmlformats.org/drawingml/2006/main">
            <a:r>
              <a:t>          "detail": "업무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"Pair 공통 LLM",</a:t>
            </a:r>
          </a:p>
          <a:p xmlns:a="http://schemas.openxmlformats.org/drawingml/2006/main">
            <a:r>
              <a:t>          "layer": "핵심 처리",</a:t>
            </a:r>
          </a:p>
          <a:p xmlns:a="http://schemas.openxmlformats.org/drawingml/2006/main">
            <a:r>
              <a:t>          "detail": "공공업무에 맞춘 모델 요청·응답 처리",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"근거·민감정보 검사",</a:t>
            </a:r>
          </a:p>
          <a:p xmlns:a="http://schemas.openxmlformats.org/drawingml/2006/main">
            <a:r>
              <a:t>          "layer": "결과 검증",</a:t>
            </a:r>
          </a:p>
          <a:p xmlns:a="http://schemas.openxmlformats.org/drawingml/2006/main">
            <a:r>
              <a:t>          "detail": "공개 범위·근거·내용 대조",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"직원 검토",</a:t>
            </a:r>
          </a:p>
          <a:p xmlns:a="http://schemas.openxmlformats.org/drawingml/2006/main">
            <a:r>
              <a:t>          "layer": "사람 확인",</a:t>
            </a:r>
          </a:p>
          <a:p xmlns:a="http://schemas.openxmlformats.org/drawingml/2006/main">
            <a:r>
              <a:t>          "detail": "정부 업무자료를 허용 범위에서 요약·작성",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"작성·조사 초안",</a:t>
            </a:r>
          </a:p>
          <a:p xmlns:a="http://schemas.openxmlformats.org/drawingml/2006/main">
            <a:r>
              <a:t>          "layer": "업무 연결",</a:t>
            </a:r>
          </a:p>
          <a:p xmlns:a="http://schemas.openxmlformats.org/drawingml/2006/main">
            <a:r>
              <a:t>          "detail": "직원 검토를 거친 문서·업무 초안 활용",</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"오류·사용성 점검",</a:t>
            </a:r>
          </a:p>
          <a:p xmlns:a="http://schemas.openxmlformats.org/drawingml/2006/main">
            <a:r>
              <a:t>          "layer": "운영 관측",</a:t>
            </a:r>
          </a:p>
          <a:p xmlns:a="http://schemas.openxmlformats.org/drawingml/2006/main">
            <a:r>
              <a:t>          "detail": "오류·사용성·정책 준수의 운영 점검",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"허용 업무 입력",</a:t>
            </a:r>
          </a:p>
          <a:p xmlns:a="http://schemas.openxmlformats.org/drawingml/2006/main">
            <a:r>
              <a:t>          "layer": "데이터 원천",</a:t>
            </a:r>
          </a:p>
          <a:p xmlns:a="http://schemas.openxmlformats.org/drawingml/2006/main">
            <a:r>
              <a:t>          "detail": "업무 문맥",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"보관조건 정리",</a:t>
            </a:r>
          </a:p>
          <a:p xmlns:a="http://schemas.openxmlformats.org/drawingml/2006/main">
            <a:r>
              <a:t>          "layer": "준비·갱신",</a:t>
            </a:r>
          </a:p>
          <a:p xmlns:a="http://schemas.openxmlformats.org/drawingml/2006/main">
            <a:r>
              <a:t>          "detail": "업무 문맥의 허용 입력범위·보관조건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"과업·평가 기록",</a:t>
            </a:r>
          </a:p>
          <a:p xmlns:a="http://schemas.openxmlformats.org/drawingml/2006/main">
            <a:r>
              <a:t>          "layer": "상태·지식 저장",</a:t>
            </a:r>
          </a:p>
          <a:p xmlns:a="http://schemas.openxmlformats.org/drawingml/2006/main">
            <a:r>
              <a:t>          "detail": "입력 정책·답변 품질·서비스 실패 대응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"정부 이용정책",</a:t>
            </a:r>
          </a:p>
          <a:p xmlns:a="http://schemas.openxmlformats.org/drawingml/2006/main">
            <a:r>
              <a:t>          "layer": "권한·정책",</a:t>
            </a:r>
          </a:p>
          <a:p xmlns:a="http://schemas.openxmlformats.org/drawingml/2006/main">
            <a:r>
              <a:t>          "detail": "금지 입력·근거 없는 질문·장시간 응답",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"정부 기기·사용자 문맥·업무 입력 구분",</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"업무 요청",</a:t>
            </a:r>
          </a:p>
          <a:p xmlns:a="http://schemas.openxmlformats.org/drawingml/2006/main">
            <a:r>
              <a:t>          "check": "공개 범위·근거·내용 대조"</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"도구 입력",</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"작성·조사 초안",</a:t>
            </a:r>
          </a:p>
          <a:p xmlns:a="http://schemas.openxmlformats.org/drawingml/2006/main">
            <a:r>
              <a:t>          "check": "금지 입력·근거 없는 질문·장시간 응답"</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"작성·조사 초안",</a:t>
            </a:r>
          </a:p>
          <a:p xmlns:a="http://schemas.openxmlformats.org/drawingml/2006/main">
            <a:r>
              <a:t>          "check": "직원 검토를 거친 문서·업무 초안 활용"</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"확인된 결과",</a:t>
            </a:r>
          </a:p>
          <a:p xmlns:a="http://schemas.openxmlformats.org/drawingml/2006/main">
            <a:r>
              <a:t>          "check": "입력 정책·답변 품질·서비스 실패 대응 기록"</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"정부 환경에 맞춘 공통 LLM 업무 지원 / 질의응답·작성 보조·정부 이용환경",</a:t>
            </a:r>
          </a:p>
          <a:p xmlns:a="http://schemas.openxmlformats.org/drawingml/2006/main">
            <a:r>
              <a:t>        "extension": "공통 이용환경 안에서 공공업무 입력 기준과 직원 검토 절차 정착"</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"금지 입력·근거 없는 질문·장시간 응답",</a:t>
            </a:r>
          </a:p>
          <a:p xmlns:a="http://schemas.openxmlformats.org/drawingml/2006/main">
            <a:r>
              <a:t>        "hold": "공개 범위·근거·내용 대조",</a:t>
            </a:r>
          </a:p>
          <a:p xmlns:a="http://schemas.openxmlformats.org/drawingml/2006/main">
            <a:r>
              <a:t>        "recovery": "오류·사용성·정책 준수의 운영 점검",</a:t>
            </a:r>
          </a:p>
          <a:p xmlns:a="http://schemas.openxmlformats.org/drawingml/2006/main">
            <a:r>
              <a:t>        "evidence": "입력 정책·답변 품질·서비스 실패 대응 기록"</a:t>
            </a:r>
          </a:p>
          <a:p xmlns:a="http://schemas.openxmlformats.org/drawingml/2006/main">
            <a:r>
              <a:t>      },</a:t>
            </a:r>
          </a:p>
          <a:p xmlns:a="http://schemas.openxmlformats.org/drawingml/2006/main">
            <a:r>
              <a:t>      "data": {</a:t>
            </a:r>
          </a:p>
          <a:p xmlns:a="http://schemas.openxmlformats.org/drawingml/2006/main">
            <a:r>
              <a:t>        "source": "업무 문맥",</a:t>
            </a:r>
          </a:p>
          <a:p xmlns:a="http://schemas.openxmlformats.org/drawingml/2006/main">
            <a:r>
              <a:t>        "prepare": "업무 문맥의 허용 입력범위·보관조건 관리",</a:t>
            </a:r>
          </a:p>
          <a:p xmlns:a="http://schemas.openxmlformats.org/drawingml/2006/main">
            <a:r>
              <a:t>        "output": "업무 요청",</a:t>
            </a:r>
          </a:p>
          <a:p xmlns:a="http://schemas.openxmlformats.org/drawingml/2006/main">
            <a:r>
              <a:t>        "refresh": "오류·사용성·정책 준수의 운영 점검"</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"PF-A09",</a:t>
            </a:r>
          </a:p>
          <a:p xmlns:a="http://schemas.openxmlformats.org/drawingml/2006/main">
            <a:r>
              <a:t>    "success": [</a:t>
            </a:r>
          </a:p>
          <a:p xmlns:a="http://schemas.openxmlformats.org/drawingml/2006/main">
            <a:r>
              <a:t>      "공통 작성·조사 도구 접근",</a:t>
            </a:r>
          </a:p>
          <a:p xmlns:a="http://schemas.openxmlformats.org/drawingml/2006/main">
            <a:r>
              <a:t>      "공무원의 결과 검토"</a:t>
            </a:r>
          </a:p>
          <a:p xmlns:a="http://schemas.openxmlformats.org/drawingml/2006/main">
            <a:r>
              <a:t>    ],</a:t>
            </a:r>
          </a:p>
          <a:p xmlns:a="http://schemas.openxmlformats.org/drawingml/2006/main">
            <a:r>
              <a:t>    "risks": [</a:t>
            </a:r>
          </a:p>
          <a:p xmlns:a="http://schemas.openxmlformats.org/drawingml/2006/main">
            <a:r>
              <a:t>      "범용 도구의 전문 규정 한계",</a:t>
            </a:r>
          </a:p>
          <a:p xmlns:a="http://schemas.openxmlformats.org/drawingml/2006/main">
            <a:r>
              <a:t>      "민감 정보 입력·검증 없는 재사용"</a:t>
            </a:r>
          </a:p>
          <a:p xmlns:a="http://schemas.openxmlformats.org/drawingml/2006/main">
            <a:r>
              <a:t>    ],</a:t>
            </a:r>
          </a:p>
          <a:p xmlns:a="http://schemas.openxmlformats.org/drawingml/2006/main">
            <a:r>
              <a:t>    "architecture": [</a:t>
            </a:r>
          </a:p>
          <a:p xmlns:a="http://schemas.openxmlformats.org/drawingml/2006/main">
            <a:r>
              <a:t>      "정부 직원",</a:t>
            </a:r>
          </a:p>
          <a:p xmlns:a="http://schemas.openxmlformats.org/drawingml/2006/main">
            <a:r>
              <a:t>      "Pair 공통 LLM",</a:t>
            </a:r>
          </a:p>
          <a:p xmlns:a="http://schemas.openxmlformats.org/drawingml/2006/main">
            <a:r>
              <a:t>      "업무 문맥",</a:t>
            </a:r>
          </a:p>
          <a:p xmlns:a="http://schemas.openxmlformats.org/drawingml/2006/main">
            <a:r>
              <a:t>      "직원 검토"</a:t>
            </a:r>
          </a:p>
          <a:p xmlns:a="http://schemas.openxmlformats.org/drawingml/2006/main">
            <a:r>
              <a:t>    ],</a:t>
            </a:r>
          </a:p>
          <a:p xmlns:a="http://schemas.openxmlformats.org/drawingml/2006/main">
            <a:r>
              <a:t>    "transfers": [</a:t>
            </a:r>
          </a:p>
          <a:p xmlns:a="http://schemas.openxmlformats.org/drawingml/2006/main">
            <a:r>
              <a:t>      "업무 요청",</a:t>
            </a:r>
          </a:p>
          <a:p xmlns:a="http://schemas.openxmlformats.org/drawingml/2006/main">
            <a:r>
              <a:t>      "도구 입력",</a:t>
            </a:r>
          </a:p>
          <a:p xmlns:a="http://schemas.openxmlformats.org/drawingml/2006/main">
            <a:r>
              <a:t>      "작성·조사 초안",</a:t>
            </a:r>
          </a:p>
          <a:p xmlns:a="http://schemas.openxmlformats.org/drawingml/2006/main">
            <a:r>
              <a:t>      "확인된 결과"</a:t>
            </a:r>
          </a:p>
          <a:p xmlns:a="http://schemas.openxmlformats.org/drawingml/2006/main">
            <a:r>
              <a:t>    ],</a:t>
            </a:r>
          </a:p>
          <a:p xmlns:a="http://schemas.openxmlformats.org/drawingml/2006/main">
            <a:r>
              <a:t>    "control": "공개 범위·근거·내용 대조",</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P109~111 / 범용 생산성 도구 확산 https://www.tech.gov.sg/products-and-services/for-government-agencies/productivity-and-marketing/pair/</a:t>
            </a:r>
          </a:p>
          <a:p xmlns:a="http://schemas.openxmlformats.org/drawingml/2006/main">
            <a:r>
              <a:t>홈페이지 https://heen1987-ops.github.io/TS-business-Plan-001/index.html?view=platform-cases&amp;case=PF-A09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"PF-A09",</a:t>
            </a:r>
          </a:p>
          <a:p xmlns:a="http://schemas.openxmlformats.org/drawingml/2006/main">
            <a:r>
              <a:t>    "sourceId": "A09",</a:t>
            </a:r>
          </a:p>
          <a:p xmlns:a="http://schemas.openxmlformats.org/drawingml/2006/main">
            <a:r>
              <a:t>    "title": "싱가포르 Pair",</a:t>
            </a:r>
          </a:p>
          <a:p xmlns:a="http://schemas.openxmlformats.org/drawingml/2006/main">
            <a:r>
              <a:t>    "region": "해외",</a:t>
            </a:r>
          </a:p>
          <a:p xmlns:a="http://schemas.openxmlformats.org/drawingml/2006/main">
            <a:r>
              <a:t>    "owner": "Open Government Products / Pair",</a:t>
            </a:r>
          </a:p>
          <a:p xmlns:a="http://schemas.openxmlformats.org/drawingml/2006/main">
            <a:r>
              <a:t>    "state": "2023년 이후 운영 / 공식 제품 목록 Active",</a:t>
            </a:r>
          </a:p>
          <a:p xmlns:a="http://schemas.openxmlformats.org/drawingml/2006/main">
            <a:r>
              <a:t>    "period": "기존 원장 확인 2026.10.16",</a:t>
            </a:r>
          </a:p>
          <a:p xmlns:a="http://schemas.openxmlformats.org/drawingml/2006/main">
            <a:r>
              <a:t>    "fact": "정부 공통 업무도구",</a:t>
            </a:r>
          </a:p>
          <a:p xmlns:a="http://schemas.openxmlformats.org/drawingml/2006/main">
            <a:r>
              <a:t>    "limit": "오래된 소개 지표로 현재 규모를 추정하지 않음. 독립 정량 업무효과 미확인",</a:t>
            </a:r>
          </a:p>
          <a:p xmlns:a="http://schemas.openxmlformats.org/drawingml/2006/main">
            <a:r>
              <a:t>    "nodes": [</a:t>
            </a:r>
          </a:p>
          <a:p xmlns:a="http://schemas.openxmlformats.org/drawingml/2006/main">
            <a:r>
              <a:t>      "정부 사용자",</a:t>
            </a:r>
          </a:p>
          <a:p xmlns:a="http://schemas.openxmlformats.org/drawingml/2006/main">
            <a:r>
              <a:t>      "공통 LLM 도구",</a:t>
            </a:r>
          </a:p>
          <a:p xmlns:a="http://schemas.openxmlformats.org/drawingml/2006/main">
            <a:r>
              <a:t>      "작성·조사 지원",</a:t>
            </a:r>
          </a:p>
          <a:p xmlns:a="http://schemas.openxmlformats.org/drawingml/2006/main">
            <a:r>
              <a:t>      "공무원 검토"</a:t>
            </a:r>
          </a:p>
          <a:p xmlns:a="http://schemas.openxmlformats.org/drawingml/2006/main">
            <a:r>
              <a:t>    ],</a:t>
            </a:r>
          </a:p>
          <a:p xmlns:a="http://schemas.openxmlformats.org/drawingml/2006/main">
            <a:r>
              <a:t>    "apply": "공통 이용환경 안에서 공공업무 입력 기준과 직원 검토 절차 정착",</a:t>
            </a:r>
          </a:p>
          <a:p xmlns:a="http://schemas.openxmlformats.org/drawingml/2006/main">
            <a:r>
              <a:t>    "delta": "기관·직무별 설정과 품질 기준",</a:t>
            </a:r>
          </a:p>
          <a:p xmlns:a="http://schemas.openxmlformats.org/drawingml/2006/main">
            <a:r>
              <a:t>    "test": "신규 연결 공수·요청당 비용의 기준선·비교 평가",</a:t>
            </a:r>
          </a:p>
          <a:p xmlns:a="http://schemas.openxmlformats.org/drawingml/2006/main">
            <a:r>
              <a:t>    "url": "https://www.tech.gov.sg/products-and-services/for-government-agencies/productivity-and-marketing/pair/",</a:t>
            </a:r>
          </a:p>
          <a:p xmlns:a="http://schemas.openxmlformats.org/drawingml/2006/main">
            <a:r>
              <a:t>    "urls": [</a:t>
            </a:r>
          </a:p>
          <a:p xmlns:a="http://schemas.openxmlformats.org/drawingml/2006/main">
            <a:r>
              <a:t>      "https://www.tech.gov.sg/products-and-services/for-government-agencies/productivity-and-marketing/pair/",</a:t>
            </a:r>
          </a:p>
          <a:p xmlns:a="http://schemas.openxmlformats.org/drawingml/2006/main">
            <a:r>
              <a:t>      "https://reports.open.gov.sg/pair"</a:t>
            </a:r>
          </a:p>
          <a:p xmlns:a="http://schemas.openxmlformats.org/drawingml/2006/main">
            <a:r>
              <a:t>    ],</a:t>
            </a:r>
          </a:p>
          <a:p xmlns:a="http://schemas.openxmlformats.org/drawingml/2006/main">
            <a:r>
              <a:t>    "basis": "P109~111 / 범용 생산성 도구 확산",</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"신규 연결 공수·요청당 비용",</a:t>
            </a:r>
          </a:p>
          <a:p xmlns:a="http://schemas.openxmlformats.org/drawingml/2006/main">
            <a:r>
              <a:t>    "group": "운영·실증",</a:t>
            </a:r>
          </a:p>
          <a:p xmlns:a="http://schemas.openxmlformats.org/drawingml/2006/main">
            <a:r>
              <a:t>    "sourceDetail": "정부 기기에서 이용하는 공통 LLM 보조도구, 공공업무 맥락에 맞춘 서비스\n정부 사용환경·보안 조건을 공통으로 제공",</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"PF-A09",</a:t>
            </a:r>
          </a:p>
          <a:p xmlns:a="http://schemas.openxmlformats.org/drawingml/2006/main">
            <a:r>
              <a:t>    "canonicalId": "PF-A09",</a:t>
            </a:r>
          </a:p>
          <a:p xmlns:a="http://schemas.openxmlformats.org/drawingml/2006/main">
            <a:r>
              <a:t>    "purpose": "정부 환경에 맞춘 공통 LLM 업무 지원",</a:t>
            </a:r>
          </a:p>
          <a:p xmlns:a="http://schemas.openxmlformats.org/drawingml/2006/main">
            <a:r>
              <a:t>    "users": "정부 직원·운영 담당",</a:t>
            </a:r>
          </a:p>
          <a:p xmlns:a="http://schemas.openxmlformats.org/drawingml/2006/main">
            <a:r>
              <a:t>    "scope": [</a:t>
            </a:r>
          </a:p>
          <a:p xmlns:a="http://schemas.openxmlformats.org/drawingml/2006/main">
            <a:r>
              <a:t>      "질의응답",</a:t>
            </a:r>
          </a:p>
          <a:p xmlns:a="http://schemas.openxmlformats.org/drawingml/2006/main">
            <a:r>
              <a:t>      "작성 보조",</a:t>
            </a:r>
          </a:p>
          <a:p xmlns:a="http://schemas.openxmlformats.org/drawingml/2006/main">
            <a:r>
              <a:t>      "정부 이용환경"</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"정부 직원",</a:t>
            </a:r>
          </a:p>
          <a:p xmlns:a="http://schemas.openxmlformats.org/drawingml/2006/main">
            <a:r>
              <a:t>        "detail": "정부 기기·사용자 문맥·업무 입력 구분",</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"질의응답 / 작성 보조 / 정부 이용환경",</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"Pair 공통 LLM",</a:t>
            </a:r>
          </a:p>
          <a:p xmlns:a="http://schemas.openxmlformats.org/drawingml/2006/main">
            <a:r>
              <a:t>        "detail": "공공업무에 맞춘 모델 요청·응답 처리",</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"직원 검토",</a:t>
            </a:r>
          </a:p>
          <a:p xmlns:a="http://schemas.openxmlformats.org/drawingml/2006/main">
            <a:r>
              <a:t>        "detail": "직원 검토를 거친 문서·업무 초안 활용",</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"업무 문맥",</a:t>
            </a:r>
          </a:p>
          <a:p xmlns:a="http://schemas.openxmlformats.org/drawingml/2006/main">
            <a:r>
              <a:t>        "detail": "업무 문맥의 허용 입력범위·보관조건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"오류·사용성·정책 준수의 운영 점검",</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"정부 사용자",</a:t>
            </a:r>
          </a:p>
          <a:p xmlns:a="http://schemas.openxmlformats.org/drawingml/2006/main">
            <a:r>
              <a:t>        "input": "정부 기기·사용자 문맥·업무 입력 구분",</a:t>
            </a:r>
          </a:p>
          <a:p xmlns:a="http://schemas.openxmlformats.org/drawingml/2006/main">
            <a:r>
              <a:t>        "process": "업무 문맥의 허용 입력범위·보관조건 관리",</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"title": "공통 LLM 도구",</a:t>
            </a:r>
          </a:p>
          <a:p xmlns:a="http://schemas.openxmlformats.org/drawingml/2006/main">
            <a:r>
              <a:t>        "input": "업무 요청",</a:t>
            </a:r>
          </a:p>
          <a:p xmlns:a="http://schemas.openxmlformats.org/drawingml/2006/main">
            <a:r>
              <a:t>        "process": "공공업무에 맞춘 모델 요청·응답 처리",</a:t>
            </a:r>
          </a:p>
          <a:p xmlns:a="http://schemas.openxmlformats.org/drawingml/2006/main">
            <a:r>
              <a:t>        "output": "도구 입력"</a:t>
            </a:r>
          </a:p>
          <a:p xmlns:a="http://schemas.openxmlformats.org/drawingml/2006/main">
            <a:r>
              <a:t>      },</a:t>
            </a:r>
          </a:p>
          <a:p xmlns:a="http://schemas.openxmlformats.org/drawingml/2006/main">
            <a:r>
              <a:t>      {</a:t>
            </a:r>
          </a:p>
          <a:p xmlns:a="http://schemas.openxmlformats.org/drawingml/2006/main">
            <a:r>
              <a:t>        "title": "작성·조사 지원",</a:t>
            </a:r>
          </a:p>
          <a:p xmlns:a="http://schemas.openxmlformats.org/drawingml/2006/main">
            <a:r>
              <a:t>        "input": "도구 입력",</a:t>
            </a:r>
          </a:p>
          <a:p xmlns:a="http://schemas.openxmlformats.org/drawingml/2006/main">
            <a:r>
              <a:t>        "process": "공개 범위·근거·내용 대조",</a:t>
            </a:r>
          </a:p>
          <a:p xmlns:a="http://schemas.openxmlformats.org/drawingml/2006/main">
            <a:r>
              <a:t>        "output": "작성·조사 초안"</a:t>
            </a:r>
          </a:p>
          <a:p xmlns:a="http://schemas.openxmlformats.org/drawingml/2006/main">
            <a:r>
              <a:t>      },</a:t>
            </a:r>
          </a:p>
          <a:p xmlns:a="http://schemas.openxmlformats.org/drawingml/2006/main">
            <a:r>
              <a:t>      {</a:t>
            </a:r>
          </a:p>
          <a:p xmlns:a="http://schemas.openxmlformats.org/drawingml/2006/main">
            <a:r>
              <a:t>        "title": "공무원 검토",</a:t>
            </a:r>
          </a:p>
          <a:p xmlns:a="http://schemas.openxmlformats.org/drawingml/2006/main">
            <a:r>
              <a:t>        "input": "작성·조사 초안",</a:t>
            </a:r>
          </a:p>
          <a:p xmlns:a="http://schemas.openxmlformats.org/drawingml/2006/main">
            <a:r>
              <a:t>        "process": "직원 검토를 거친 문서·업무 초안 활용",</a:t>
            </a:r>
          </a:p>
          <a:p xmlns:a="http://schemas.openxmlformats.org/drawingml/2006/main">
            <a:r>
              <a:t>        "output": "확인된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"정부 업무자료를 허용 범위에서 요약·작성",</a:t>
            </a:r>
          </a:p>
          <a:p xmlns:a="http://schemas.openxmlformats.org/drawingml/2006/main">
            <a:r>
              <a:t>      "exception": "금지 입력·근거 없는 질문·장시간 응답",</a:t>
            </a:r>
          </a:p>
          <a:p xmlns:a="http://schemas.openxmlformats.org/drawingml/2006/main">
            <a:r>
              <a:t>      "evidence": "입력 정책·답변 품질·서비스 실패 대응 기록",</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"정부 직원·운영 담당",</a:t>
            </a:r>
          </a:p>
          <a:p xmlns:a="http://schemas.openxmlformats.org/drawingml/2006/main">
            <a:r>
              <a:t>          "processing": "정부 기기·사용자 문맥·업무 입력 구분",</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"업무 문맥",</a:t>
            </a:r>
          </a:p>
          <a:p xmlns:a="http://schemas.openxmlformats.org/drawingml/2006/main">
            <a:r>
              <a:t>          "processing": "업무 문맥의 허용 입력범위·보관조건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"업무 요청",</a:t>
            </a:r>
          </a:p>
          <a:p xmlns:a="http://schemas.openxmlformats.org/drawingml/2006/main">
            <a:r>
              <a:t>          "processing": "공공업무에 맞춘 모델 요청·응답 처리",</a:t>
            </a:r>
          </a:p>
          <a:p xmlns:a="http://schemas.openxmlformats.org/drawingml/2006/main">
            <a:r>
              <a:t>          "output": "작성·조사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"작성·조사 초안",</a:t>
            </a:r>
          </a:p>
          <a:p xmlns:a="http://schemas.openxmlformats.org/drawingml/2006/main">
            <a:r>
              <a:t>          "processing": "직원 검토를 거친 문서·업무 초안 활용",</a:t>
            </a:r>
          </a:p>
          <a:p xmlns:a="http://schemas.openxmlformats.org/drawingml/2006/main">
            <a:r>
              <a:t>          "output": "확인된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"오류·사용성·정책 준수의 운영 점검",</a:t>
            </a:r>
          </a:p>
          <a:p xmlns:a="http://schemas.openxmlformats.org/drawingml/2006/main">
            <a:r>
              <a:t>          "output": "입력 정책·답변 품질·서비스 실패 대응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"오류·사용성·정책 준수의 운영 점검",</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"P109~111 / 범용 생산성 도구 확산",</a:t>
            </a:r>
          </a:p>
          <a:p xmlns:a="http://schemas.openxmlformats.org/drawingml/2006/main">
            <a:r>
              <a:t>        "url": "https://www.tech.gov.sg/products-and-services/for-government-agencies/productivity-and-marketing/pair/"</a:t>
            </a:r>
          </a:p>
          <a:p xmlns:a="http://schemas.openxmlformats.org/drawingml/2006/main">
            <a:r>
              <a:t>      }</a:t>
            </a:r>
          </a:p>
          <a:p xmlns:a="http://schemas.openxmlformats.org/drawingml/2006/main">
            <a:r>
              <a:t>    ],</a:t>
            </a:r>
          </a:p>
          <a:p xmlns:a="http://schemas.openxmlformats.org/drawingml/2006/main">
            <a:r>
              <a:t>    "implication": "공통 이용환경 안에서 공공업무 입력 기준과 직원 검토 절차 정착",</a:t>
            </a:r>
          </a:p>
          <a:p xmlns:a="http://schemas.openxmlformats.org/drawingml/2006/main">
            <a:r>
              <a:t>    "local": "공통 이용환경 안에서 공공업무 입력 기준과 직원 검토 절차 정착",</a:t>
            </a:r>
          </a:p>
          <a:p xmlns:a="http://schemas.openxmlformats.org/drawingml/2006/main">
            <a:r>
              <a:t>    "sourceDetail": "정부 기기에서 이용하는 공통 LLM 보조도구, 공공업무 맥락에 맞춘 서비스\n정부 사용환경·보안 조건을 공통으로 제공",</a:t>
            </a:r>
          </a:p>
          <a:p xmlns:a="http://schemas.openxmlformats.org/drawingml/2006/main">
            <a:r>
              <a:t>    "narrative": [</a:t>
            </a:r>
          </a:p>
          <a:p xmlns:a="http://schemas.openxmlformats.org/drawingml/2006/main">
            <a:r>
              <a:t>      "싱가포르 Pair의 공공부문 업무 지원 사례. 직원의 조사·작성·분석을 지원하면서 정부 사용 조건과 업무 자료 취급 기준을 적용하는 도입 방식.",</a:t>
            </a:r>
          </a:p>
          <a:p xmlns:a="http://schemas.openxmlformats.org/drawingml/2006/main">
            <a:r>
              <a:t>      "정부 사용자 접근, 허용된 업무 입력, 모델 처리, 결과 검토·활용으로 재구성. 공급사의 일반 제품 기능과 정부 도입 조건, 실제 이용 범위를 구분하고 기관 내부 시스템과의 자동 연계 여부를 별도 확인하는 구조.",</a:t>
            </a:r>
          </a:p>
          <a:p xmlns:a="http://schemas.openxmlformats.org/drawingml/2006/main">
            <a:r>
              <a:t>      "TS에서는 서비스 구매 자체를 조직 네이티브 기능 구현으로 보지 않는 것이 비교의 출발점. 공식 직원 ID·부서·업무 책임·자료 권한과 모델의 이용 문맥을 연결하는 추가 개발·운영 책임의 별도 정의."</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"정부 직원 접점",</a:t>
            </a:r>
          </a:p>
          <a:p xmlns:a="http://schemas.openxmlformats.org/drawingml/2006/main">
            <a:r>
              <a:t>          "layer": "이용 접점",</a:t>
            </a:r>
          </a:p>
          <a:p xmlns:a="http://schemas.openxmlformats.org/drawingml/2006/main">
            <a:r>
              <a:t>          "detail": "정부 직원·운영 담당",</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"업무·입력등급",</a:t>
            </a:r>
          </a:p>
          <a:p xmlns:a="http://schemas.openxmlformats.org/drawingml/2006/main">
            <a:r>
              <a:t>          "layer": "업무 문맥",</a:t>
            </a:r>
          </a:p>
          <a:p xmlns:a="http://schemas.openxmlformats.org/drawingml/2006/main">
            <a:r>
              <a:t>          "detail": "정부 기기·사용자 문맥·업무 입력 구분",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"업무 문맥 구성",</a:t>
            </a:r>
          </a:p>
          <a:p xmlns:a="http://schemas.openxmlformats.org/drawingml/2006/main">
            <a:r>
              <a:t>          "layer": "자료 조회",</a:t>
            </a:r>
          </a:p>
          <a:p xmlns:a="http://schemas.openxmlformats.org/drawingml/2006/main">
            <a:r>
              <a:t>          "detail": "업무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"Pair 공통 LLM",</a:t>
            </a:r>
          </a:p>
          <a:p xmlns:a="http://schemas.openxmlformats.org/drawingml/2006/main">
            <a:r>
              <a:t>          "layer": "핵심 처리",</a:t>
            </a:r>
          </a:p>
          <a:p xmlns:a="http://schemas.openxmlformats.org/drawingml/2006/main">
            <a:r>
              <a:t>          "detail": "공공업무에 맞춘 모델 요청·응답 처리",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"근거·민감정보 검사",</a:t>
            </a:r>
          </a:p>
          <a:p xmlns:a="http://schemas.openxmlformats.org/drawingml/2006/main">
            <a:r>
              <a:t>          "layer": "결과 검증",</a:t>
            </a:r>
          </a:p>
          <a:p xmlns:a="http://schemas.openxmlformats.org/drawingml/2006/main">
            <a:r>
              <a:t>          "detail": "공개 범위·근거·내용 대조",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"직원 검토",</a:t>
            </a:r>
          </a:p>
          <a:p xmlns:a="http://schemas.openxmlformats.org/drawingml/2006/main">
            <a:r>
              <a:t>          "layer": "사람 확인",</a:t>
            </a:r>
          </a:p>
          <a:p xmlns:a="http://schemas.openxmlformats.org/drawingml/2006/main">
            <a:r>
              <a:t>          "detail": "정부 업무자료를 허용 범위에서 요약·작성",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"작성·조사 초안",</a:t>
            </a:r>
          </a:p>
          <a:p xmlns:a="http://schemas.openxmlformats.org/drawingml/2006/main">
            <a:r>
              <a:t>          "layer": "업무 연결",</a:t>
            </a:r>
          </a:p>
          <a:p xmlns:a="http://schemas.openxmlformats.org/drawingml/2006/main">
            <a:r>
              <a:t>          "detail": "직원 검토를 거친 문서·업무 초안 활용",</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"오류·사용성 점검",</a:t>
            </a:r>
          </a:p>
          <a:p xmlns:a="http://schemas.openxmlformats.org/drawingml/2006/main">
            <a:r>
              <a:t>          "layer": "운영 관측",</a:t>
            </a:r>
          </a:p>
          <a:p xmlns:a="http://schemas.openxmlformats.org/drawingml/2006/main">
            <a:r>
              <a:t>          "detail": "오류·사용성·정책 준수의 운영 점검",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"허용 업무 입력",</a:t>
            </a:r>
          </a:p>
          <a:p xmlns:a="http://schemas.openxmlformats.org/drawingml/2006/main">
            <a:r>
              <a:t>          "layer": "데이터 원천",</a:t>
            </a:r>
          </a:p>
          <a:p xmlns:a="http://schemas.openxmlformats.org/drawingml/2006/main">
            <a:r>
              <a:t>          "detail": "업무 문맥",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"보관조건 정리",</a:t>
            </a:r>
          </a:p>
          <a:p xmlns:a="http://schemas.openxmlformats.org/drawingml/2006/main">
            <a:r>
              <a:t>          "layer": "준비·갱신",</a:t>
            </a:r>
          </a:p>
          <a:p xmlns:a="http://schemas.openxmlformats.org/drawingml/2006/main">
            <a:r>
              <a:t>          "detail": "업무 문맥의 허용 입력범위·보관조건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"과업·평가 기록",</a:t>
            </a:r>
          </a:p>
          <a:p xmlns:a="http://schemas.openxmlformats.org/drawingml/2006/main">
            <a:r>
              <a:t>          "layer": "상태·지식 저장",</a:t>
            </a:r>
          </a:p>
          <a:p xmlns:a="http://schemas.openxmlformats.org/drawingml/2006/main">
            <a:r>
              <a:t>          "detail": "입력 정책·답변 품질·서비스 실패 대응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"정부 이용정책",</a:t>
            </a:r>
          </a:p>
          <a:p xmlns:a="http://schemas.openxmlformats.org/drawingml/2006/main">
            <a:r>
              <a:t>          "layer": "권한·정책",</a:t>
            </a:r>
          </a:p>
          <a:p xmlns:a="http://schemas.openxmlformats.org/drawingml/2006/main">
            <a:r>
              <a:t>          "detail": "금지 입력·근거 없는 질문·장시간 응답",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"정부 기기·사용자 문맥·업무 입력 구분",</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"업무 요청",</a:t>
            </a:r>
          </a:p>
          <a:p xmlns:a="http://schemas.openxmlformats.org/drawingml/2006/main">
            <a:r>
              <a:t>          "check": "공개 범위·근거·내용 대조"</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"도구 입력",</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"작성·조사 초안",</a:t>
            </a:r>
          </a:p>
          <a:p xmlns:a="http://schemas.openxmlformats.org/drawingml/2006/main">
            <a:r>
              <a:t>          "check": "금지 입력·근거 없는 질문·장시간 응답"</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"작성·조사 초안",</a:t>
            </a:r>
          </a:p>
          <a:p xmlns:a="http://schemas.openxmlformats.org/drawingml/2006/main">
            <a:r>
              <a:t>          "check": "직원 검토를 거친 문서·업무 초안 활용"</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"확인된 결과",</a:t>
            </a:r>
          </a:p>
          <a:p xmlns:a="http://schemas.openxmlformats.org/drawingml/2006/main">
            <a:r>
              <a:t>          "check": "입력 정책·답변 품질·서비스 실패 대응 기록"</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"정부 환경에 맞춘 공통 LLM 업무 지원 / 질의응답·작성 보조·정부 이용환경",</a:t>
            </a:r>
          </a:p>
          <a:p xmlns:a="http://schemas.openxmlformats.org/drawingml/2006/main">
            <a:r>
              <a:t>        "extension": "공통 이용환경 안에서 공공업무 입력 기준과 직원 검토 절차 정착"</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"금지 입력·근거 없는 질문·장시간 응답",</a:t>
            </a:r>
          </a:p>
          <a:p xmlns:a="http://schemas.openxmlformats.org/drawingml/2006/main">
            <a:r>
              <a:t>        "hold": "공개 범위·근거·내용 대조",</a:t>
            </a:r>
          </a:p>
          <a:p xmlns:a="http://schemas.openxmlformats.org/drawingml/2006/main">
            <a:r>
              <a:t>        "recovery": "오류·사용성·정책 준수의 운영 점검",</a:t>
            </a:r>
          </a:p>
          <a:p xmlns:a="http://schemas.openxmlformats.org/drawingml/2006/main">
            <a:r>
              <a:t>        "evidence": "입력 정책·답변 품질·서비스 실패 대응 기록"</a:t>
            </a:r>
          </a:p>
          <a:p xmlns:a="http://schemas.openxmlformats.org/drawingml/2006/main">
            <a:r>
              <a:t>      },</a:t>
            </a:r>
          </a:p>
          <a:p xmlns:a="http://schemas.openxmlformats.org/drawingml/2006/main">
            <a:r>
              <a:t>      "data": {</a:t>
            </a:r>
          </a:p>
          <a:p xmlns:a="http://schemas.openxmlformats.org/drawingml/2006/main">
            <a:r>
              <a:t>        "source": "업무 문맥",</a:t>
            </a:r>
          </a:p>
          <a:p xmlns:a="http://schemas.openxmlformats.org/drawingml/2006/main">
            <a:r>
              <a:t>        "prepare": "업무 문맥의 허용 입력범위·보관조건 관리",</a:t>
            </a:r>
          </a:p>
          <a:p xmlns:a="http://schemas.openxmlformats.org/drawingml/2006/main">
            <a:r>
              <a:t>        "output": "업무 요청",</a:t>
            </a:r>
          </a:p>
          <a:p xmlns:a="http://schemas.openxmlformats.org/drawingml/2006/main">
            <a:r>
              <a:t>        "refresh": "오류·사용성·정책 준수의 운영 점검"</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"PF-A09",</a:t>
            </a:r>
          </a:p>
          <a:p xmlns:a="http://schemas.openxmlformats.org/drawingml/2006/main">
            <a:r>
              <a:t>    "success": [</a:t>
            </a:r>
          </a:p>
          <a:p xmlns:a="http://schemas.openxmlformats.org/drawingml/2006/main">
            <a:r>
              <a:t>      "공통 작성·조사 도구 접근",</a:t>
            </a:r>
          </a:p>
          <a:p xmlns:a="http://schemas.openxmlformats.org/drawingml/2006/main">
            <a:r>
              <a:t>      "공무원의 결과 검토"</a:t>
            </a:r>
          </a:p>
          <a:p xmlns:a="http://schemas.openxmlformats.org/drawingml/2006/main">
            <a:r>
              <a:t>    ],</a:t>
            </a:r>
          </a:p>
          <a:p xmlns:a="http://schemas.openxmlformats.org/drawingml/2006/main">
            <a:r>
              <a:t>    "risks": [</a:t>
            </a:r>
          </a:p>
          <a:p xmlns:a="http://schemas.openxmlformats.org/drawingml/2006/main">
            <a:r>
              <a:t>      "범용 도구의 전문 규정 한계",</a:t>
            </a:r>
          </a:p>
          <a:p xmlns:a="http://schemas.openxmlformats.org/drawingml/2006/main">
            <a:r>
              <a:t>      "민감 정보 입력·검증 없는 재사용"</a:t>
            </a:r>
          </a:p>
          <a:p xmlns:a="http://schemas.openxmlformats.org/drawingml/2006/main">
            <a:r>
              <a:t>    ],</a:t>
            </a:r>
          </a:p>
          <a:p xmlns:a="http://schemas.openxmlformats.org/drawingml/2006/main">
            <a:r>
              <a:t>    "architecture": [</a:t>
            </a:r>
          </a:p>
          <a:p xmlns:a="http://schemas.openxmlformats.org/drawingml/2006/main">
            <a:r>
              <a:t>      "정부 직원",</a:t>
            </a:r>
          </a:p>
          <a:p xmlns:a="http://schemas.openxmlformats.org/drawingml/2006/main">
            <a:r>
              <a:t>      "Pair 공통 LLM",</a:t>
            </a:r>
          </a:p>
          <a:p xmlns:a="http://schemas.openxmlformats.org/drawingml/2006/main">
            <a:r>
              <a:t>      "업무 문맥",</a:t>
            </a:r>
          </a:p>
          <a:p xmlns:a="http://schemas.openxmlformats.org/drawingml/2006/main">
            <a:r>
              <a:t>      "직원 검토"</a:t>
            </a:r>
          </a:p>
          <a:p xmlns:a="http://schemas.openxmlformats.org/drawingml/2006/main">
            <a:r>
              <a:t>    ],</a:t>
            </a:r>
          </a:p>
          <a:p xmlns:a="http://schemas.openxmlformats.org/drawingml/2006/main">
            <a:r>
              <a:t>    "transfers": [</a:t>
            </a:r>
          </a:p>
          <a:p xmlns:a="http://schemas.openxmlformats.org/drawingml/2006/main">
            <a:r>
              <a:t>      "업무 요청",</a:t>
            </a:r>
          </a:p>
          <a:p xmlns:a="http://schemas.openxmlformats.org/drawingml/2006/main">
            <a:r>
              <a:t>      "도구 입력",</a:t>
            </a:r>
          </a:p>
          <a:p xmlns:a="http://schemas.openxmlformats.org/drawingml/2006/main">
            <a:r>
              <a:t>      "작성·조사 초안",</a:t>
            </a:r>
          </a:p>
          <a:p xmlns:a="http://schemas.openxmlformats.org/drawingml/2006/main">
            <a:r>
              <a:t>      "확인된 결과"</a:t>
            </a:r>
          </a:p>
          <a:p xmlns:a="http://schemas.openxmlformats.org/drawingml/2006/main">
            <a:r>
              <a:t>    ],</a:t>
            </a:r>
          </a:p>
          <a:p xmlns:a="http://schemas.openxmlformats.org/drawingml/2006/main">
            <a:r>
              <a:t>    "control": "공개 범위·근거·내용 대조",</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P109~111 / 범용 생산성 도구 확산 https://www.tech.gov.sg/products-and-services/for-government-agencies/productivity-and-marketing/pair/</a:t>
            </a:r>
          </a:p>
          <a:p xmlns:a="http://schemas.openxmlformats.org/drawingml/2006/main">
            <a:r>
              <a:t>홈페이지 https://heen1987-ops.github.io/TS-business-Plan-001/index.html?view=platform-cases&amp;case=PF-A09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"PF06",</a:t>
            </a:r>
          </a:p>
          <a:p xmlns:a="http://schemas.openxmlformats.org/drawingml/2006/main">
            <a:r>
              <a:t>    "sourceId": "A10",</a:t>
            </a:r>
          </a:p>
          <a:p xmlns:a="http://schemas.openxmlformats.org/drawingml/2006/main">
            <a:r>
              <a:t>    "title": "프랑스 Albert API",</a:t>
            </a:r>
          </a:p>
          <a:p xmlns:a="http://schemas.openxmlformats.org/drawingml/2006/main">
            <a:r>
              <a:t>    "region": "해외",</a:t>
            </a:r>
          </a:p>
          <a:p xmlns:a="http://schemas.openxmlformats.org/drawingml/2006/main">
            <a:r>
              <a:t>    "owner": "DINUM",</a:t>
            </a:r>
          </a:p>
          <a:p xmlns:a="http://schemas.openxmlformats.org/drawingml/2006/main">
            <a:r>
              <a:t>    "state": "공통 API 운영",</a:t>
            </a:r>
          </a:p>
          <a:p xmlns:a="http://schemas.openxmlformats.org/drawingml/2006/main">
            <a:r>
              <a:t>    "period": "열람 2026.10",</a:t>
            </a:r>
          </a:p>
          <a:p xmlns:a="http://schemas.openxmlformats.org/drawingml/2006/main">
            <a:r>
              <a:t>    "fact": "모델·검색·OCR·음성전사 등 공통 AI 기능의 API 제공",</a:t>
            </a:r>
          </a:p>
          <a:p xmlns:a="http://schemas.openxmlformats.org/drawingml/2006/main">
            <a:r>
              <a:t>    "limit": "서비스 기능 확인 · 공개 이용 통계와 업무성과의 별도 평가",</a:t>
            </a:r>
          </a:p>
          <a:p xmlns:a="http://schemas.openxmlformats.org/drawingml/2006/main">
            <a:r>
              <a:t>    "nodes": [</a:t>
            </a:r>
          </a:p>
          <a:p xmlns:a="http://schemas.openxmlformats.org/drawingml/2006/main">
            <a:r>
              <a:t>      "업무 앱",</a:t>
            </a:r>
          </a:p>
          <a:p xmlns:a="http://schemas.openxmlformats.org/drawingml/2006/main">
            <a:r>
              <a:t>      "공통 API·접근관리",</a:t>
            </a:r>
          </a:p>
          <a:p xmlns:a="http://schemas.openxmlformats.org/drawingml/2006/main">
            <a:r>
              <a:t>      "모델·검색·문서·음성",</a:t>
            </a:r>
          </a:p>
          <a:p xmlns:a="http://schemas.openxmlformats.org/drawingml/2006/main">
            <a:r>
              <a:t>      "프로젝트·사용량 관리"</a:t>
            </a:r>
          </a:p>
          <a:p xmlns:a="http://schemas.openxmlformats.org/drawingml/2006/main">
            <a:r>
              <a:t>    ],</a:t>
            </a:r>
          </a:p>
          <a:p xmlns:a="http://schemas.openxmlformats.org/drawingml/2006/main">
            <a:r>
              <a:t>    "apply": "OCR·검색·전사 기능을 공통 서비스로 묶고 부서 업무 앱에서 조합",</a:t>
            </a:r>
          </a:p>
          <a:p xmlns:a="http://schemas.openxmlformats.org/drawingml/2006/main">
            <a:r>
              <a:t>    "delta": "API 계약·사용 정책·부서별 사용량·장애 격리",</a:t>
            </a:r>
          </a:p>
          <a:p xmlns:a="http://schemas.openxmlformats.org/drawingml/2006/main">
            <a:r>
              <a:t>    "test": "공통 기능 계약 시험 / 지연·실패·비용의 업무별 분리",</a:t>
            </a:r>
          </a:p>
          <a:p xmlns:a="http://schemas.openxmlformats.org/drawingml/2006/main">
            <a:r>
              <a:t>    "url": "https://ia.numerique.gouv.fr/outils-ia/albert-api/offre-de-services/",</a:t>
            </a:r>
          </a:p>
          <a:p xmlns:a="http://schemas.openxmlformats.org/drawingml/2006/main">
            <a:r>
              <a:t>    "basis": "운영기관 서비스·API 설명",</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"https://ia.numerique.gouv.fr/outils-ia/albert-api/offre-de-services/",</a:t>
            </a:r>
          </a:p>
          <a:p xmlns:a="http://schemas.openxmlformats.org/drawingml/2006/main">
            <a:r>
              <a:t>      "https://www.numerique.gouv.fr/offre-accompagnement/expertise-albert-ia-etat/",</a:t>
            </a:r>
          </a:p>
          <a:p xmlns:a="http://schemas.openxmlformats.org/drawingml/2006/main">
            <a:r>
              <a:t>      "https://ia.numerique.gouv.fr/outils-ia/albert-api/statistiques/"</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"PF06",</a:t>
            </a:r>
          </a:p>
          <a:p xmlns:a="http://schemas.openxmlformats.org/drawingml/2006/main">
            <a:r>
              <a:t>    "canonicalId": "PF06",</a:t>
            </a:r>
          </a:p>
          <a:p xmlns:a="http://schemas.openxmlformats.org/drawingml/2006/main">
            <a:r>
              <a:t>    "purpose": "기관별 AI 앱을 위한 공통 API 제공",</a:t>
            </a:r>
          </a:p>
          <a:p xmlns:a="http://schemas.openxmlformats.org/drawingml/2006/main">
            <a:r>
              <a:t>    "users": "공공기관 앱 개발자·운영자",</a:t>
            </a:r>
          </a:p>
          <a:p xmlns:a="http://schemas.openxmlformats.org/drawingml/2006/main">
            <a:r>
              <a:t>    "scope": [</a:t>
            </a:r>
          </a:p>
          <a:p xmlns:a="http://schemas.openxmlformats.org/drawingml/2006/main">
            <a:r>
              <a:t>      "모델·검색",</a:t>
            </a:r>
          </a:p>
          <a:p xmlns:a="http://schemas.openxmlformats.org/drawingml/2006/main">
            <a:r>
              <a:t>      "OCR",</a:t>
            </a:r>
          </a:p>
          <a:p xmlns:a="http://schemas.openxmlformats.org/drawingml/2006/main">
            <a:r>
              <a:t>      "음성전사"</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"기관 업무 앱",</a:t>
            </a:r>
          </a:p>
          <a:p xmlns:a="http://schemas.openxmlformats.org/drawingml/2006/main">
            <a:r>
              <a:t>        "detail": "앱별 인증과 요청 종류·용량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"모델·검색 / OCR / 음성전사",</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"Albert API",</a:t>
            </a:r>
          </a:p>
          <a:p xmlns:a="http://schemas.openxmlformats.org/drawingml/2006/main">
            <a:r>
              <a:t>        "detail": "작업에 맞는 모델·검색·변환 API 호출",</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"프로젝트 운영자",</a:t>
            </a:r>
          </a:p>
          <a:p xmlns:a="http://schemas.openxmlformats.org/drawingml/2006/main">
            <a:r>
              <a:t>        "detail": "구조화된 API 결과를 기관 업무 앱에 전달",</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"문서·검색·모델 서비스",</a:t>
            </a:r>
          </a:p>
          <a:p xmlns:a="http://schemas.openxmlformats.org/drawingml/2006/main">
            <a:r>
              <a:t>        "detail": "문서·음성의 전처리와 검색용 자료 구성",</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"호출 실패·처리시간·사용량·품질 관측",</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"업무 앱",</a:t>
            </a:r>
          </a:p>
          <a:p xmlns:a="http://schemas.openxmlformats.org/drawingml/2006/main">
            <a:r>
              <a:t>        "input": "앱별 인증과 요청 종류·용량 확인",</a:t>
            </a:r>
          </a:p>
          <a:p xmlns:a="http://schemas.openxmlformats.org/drawingml/2006/main">
            <a:r>
              <a:t>        "process": "문서·음성의 전처리와 검색용 자료 구성",</a:t>
            </a:r>
          </a:p>
          <a:p xmlns:a="http://schemas.openxmlformats.org/drawingml/2006/main">
            <a:r>
              <a:t>        "output": "API 요청"</a:t>
            </a:r>
          </a:p>
          <a:p xmlns:a="http://schemas.openxmlformats.org/drawingml/2006/main">
            <a:r>
              <a:t>      },</a:t>
            </a:r>
          </a:p>
          <a:p xmlns:a="http://schemas.openxmlformats.org/drawingml/2006/main">
            <a:r>
              <a:t>      {</a:t>
            </a:r>
          </a:p>
          <a:p xmlns:a="http://schemas.openxmlformats.org/drawingml/2006/main">
            <a:r>
              <a:t>        "title": "공통 API·접근관리",</a:t>
            </a:r>
          </a:p>
          <a:p xmlns:a="http://schemas.openxmlformats.org/drawingml/2006/main">
            <a:r>
              <a:t>        "input": "API 요청",</a:t>
            </a:r>
          </a:p>
          <a:p xmlns:a="http://schemas.openxmlformats.org/drawingml/2006/main">
            <a:r>
              <a:t>        "process": "작업에 맞는 모델·검색·변환 API 호출",</a:t>
            </a:r>
          </a:p>
          <a:p xmlns:a="http://schemas.openxmlformats.org/drawingml/2006/main">
            <a:r>
              <a:t>        "output": "인증·호출 인자"</a:t>
            </a:r>
          </a:p>
          <a:p xmlns:a="http://schemas.openxmlformats.org/drawingml/2006/main">
            <a:r>
              <a:t>      },</a:t>
            </a:r>
          </a:p>
          <a:p xmlns:a="http://schemas.openxmlformats.org/drawingml/2006/main">
            <a:r>
              <a:t>      {</a:t>
            </a:r>
          </a:p>
          <a:p xmlns:a="http://schemas.openxmlformats.org/drawingml/2006/main">
            <a:r>
              <a:t>        "title": "모델·검색·문서·음성",</a:t>
            </a:r>
          </a:p>
          <a:p xmlns:a="http://schemas.openxmlformats.org/drawingml/2006/main">
            <a:r>
              <a:t>        "input": "인증·호출 인자",</a:t>
            </a:r>
          </a:p>
          <a:p xmlns:a="http://schemas.openxmlformats.org/drawingml/2006/main">
            <a:r>
              <a:t>        "process": "호출 계약·오류·단가·대체 경로",</a:t>
            </a:r>
          </a:p>
          <a:p xmlns:a="http://schemas.openxmlformats.org/drawingml/2006/main">
            <a:r>
              <a:t>        "output": "공통 처리 결과"</a:t>
            </a:r>
          </a:p>
          <a:p xmlns:a="http://schemas.openxmlformats.org/drawingml/2006/main">
            <a:r>
              <a:t>      },</a:t>
            </a:r>
          </a:p>
          <a:p xmlns:a="http://schemas.openxmlformats.org/drawingml/2006/main">
            <a:r>
              <a:t>      {</a:t>
            </a:r>
          </a:p>
          <a:p xmlns:a="http://schemas.openxmlformats.org/drawingml/2006/main">
            <a:r>
              <a:t>        "title": "프로젝트·사용량 관리",</a:t>
            </a:r>
          </a:p>
          <a:p xmlns:a="http://schemas.openxmlformats.org/drawingml/2006/main">
            <a:r>
              <a:t>        "input": "공통 처리 결과",</a:t>
            </a:r>
          </a:p>
          <a:p xmlns:a="http://schemas.openxmlformats.org/drawingml/2006/main">
            <a:r>
              <a:t>        "process": "구조화된 API 결과를 기관 업무 앱에 전달",</a:t>
            </a:r>
          </a:p>
          <a:p xmlns:a="http://schemas.openxmlformats.org/drawingml/2006/main">
            <a:r>
              <a:t>        "output": "사용량·업무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"기관 앱이 문서 OCR 후 검색·요약 API를 호출",</a:t>
            </a:r>
          </a:p>
          <a:p xmlns:a="http://schemas.openxmlformats.org/drawingml/2006/main">
            <a:r>
              <a:t>      "exception": "잘못된 파일·과도한 요청·일부 단계 실패",</a:t>
            </a:r>
          </a:p>
          <a:p xmlns:a="http://schemas.openxmlformats.org/drawingml/2006/main">
            <a:r>
              <a:t>      "evidence": "요청 ID별 API 입력·결과·오류·재시도 대사",</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"공공기관 앱 개발자·운영자",</a:t>
            </a:r>
          </a:p>
          <a:p xmlns:a="http://schemas.openxmlformats.org/drawingml/2006/main">
            <a:r>
              <a:t>          "processing": "앱별 인증과 요청 종류·용량 확인",</a:t>
            </a:r>
          </a:p>
          <a:p xmlns:a="http://schemas.openxmlformats.org/drawingml/2006/main">
            <a:r>
              <a:t>          "output": "API 요청"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"문서·검색·모델 서비스",</a:t>
            </a:r>
          </a:p>
          <a:p xmlns:a="http://schemas.openxmlformats.org/drawingml/2006/main">
            <a:r>
              <a:t>          "processing": "문서·음성의 전처리와 검색용 자료 구성",</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"API 요청",</a:t>
            </a:r>
          </a:p>
          <a:p xmlns:a="http://schemas.openxmlformats.org/drawingml/2006/main">
            <a:r>
              <a:t>          "processing": "작업에 맞는 모델·검색·변환 API 호출",</a:t>
            </a:r>
          </a:p>
          <a:p xmlns:a="http://schemas.openxmlformats.org/drawingml/2006/main">
            <a:r>
              <a:t>          "output": "공통 처리 결과"</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"공통 처리 결과",</a:t>
            </a:r>
          </a:p>
          <a:p xmlns:a="http://schemas.openxmlformats.org/drawingml/2006/main">
            <a:r>
              <a:t>          "processing": "구조화된 API 결과를 기관 업무 앱에 전달",</a:t>
            </a:r>
          </a:p>
          <a:p xmlns:a="http://schemas.openxmlformats.org/drawingml/2006/main">
            <a:r>
              <a:t>          "output": "사용량·업무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"호출 실패·처리시간·사용량·품질 관측",</a:t>
            </a:r>
          </a:p>
          <a:p xmlns:a="http://schemas.openxmlformats.org/drawingml/2006/main">
            <a:r>
              <a:t>          "output": "요청 ID별 API 입력·결과·오류·재시도 대사"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"호출 실패·처리시간·사용량·품질 관측",</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"운영기관 서비스·API 설명",</a:t>
            </a:r>
          </a:p>
          <a:p xmlns:a="http://schemas.openxmlformats.org/drawingml/2006/main">
            <a:r>
              <a:t>        "url": "https://ia.numerique.gouv.fr/outils-ia/albert-api/offre-de-services/"</a:t>
            </a:r>
          </a:p>
          <a:p xmlns:a="http://schemas.openxmlformats.org/drawingml/2006/main">
            <a:r>
              <a:t>      }</a:t>
            </a:r>
          </a:p>
          <a:p xmlns:a="http://schemas.openxmlformats.org/drawingml/2006/main">
            <a:r>
              <a:t>    ],</a:t>
            </a:r>
          </a:p>
          <a:p xmlns:a="http://schemas.openxmlformats.org/drawingml/2006/main">
            <a:r>
              <a:t>    "implication": "OCR·검색·전사 기능을 공통 서비스로 묶고 부서 업무 앱에서 조합",</a:t>
            </a:r>
          </a:p>
          <a:p xmlns:a="http://schemas.openxmlformats.org/drawingml/2006/main">
            <a:r>
              <a:t>    "local": "OCR·검색·전사 기능을 공통 서비스로 묶고 부서 업무 앱에서 조합",</a:t>
            </a:r>
          </a:p>
          <a:p xmlns:a="http://schemas.openxmlformats.org/drawingml/2006/main">
            <a:r>
              <a:t>    "sourceDetail": null,</a:t>
            </a:r>
          </a:p>
          <a:p xmlns:a="http://schemas.openxmlformats.org/drawingml/2006/main">
            <a:r>
              <a:t>    "narrative": [</a:t>
            </a:r>
          </a:p>
          <a:p xmlns:a="http://schemas.openxmlformats.org/drawingml/2006/main">
            <a:r>
              <a:t>      "프랑스 Albert API는 공공기관이 자체 업무 서비스에 AI 기능을 붙일 수 있도록 공통 API를 제공하는 사례. 완성형 챗봇뿐 아니라 문서·음성 처리와 모델 기능을 업무 앱에서 선택해 활용하는 구조.",</a:t>
            </a:r>
          </a:p>
          <a:p xmlns:a="http://schemas.openxmlformats.org/drawingml/2006/main">
            <a:r>
              <a:t>      "공개 API 명세의 Bearer 인증, 모델 조회, OCR, 음성 전사, 사용량 관측 기능을 기준으로 요청·변환·추론·결과 반환 계층을 구성. 업무 서비스는 인증·입력 제약·오류 처리·출력 활용을 담당하고 공통 API는 호출 가능한 기능을 제공하는 책임 분리.",</a:t>
            </a:r>
          </a:p>
          <a:p xmlns:a="http://schemas.openxmlformats.org/drawingml/2006/main">
            <a:r>
              <a:t>      "CCK 기능 재사용 단위를 화면보다 API 계약으로 정의하는 참고. 요청 크기·형식 오류·인증 실패·타임아웃·재시도·중복 호출에 대한 시험과 부서별 호출 이력·비용·개인정보 처리 기준의 연결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"기관 앱 API",</a:t>
            </a:r>
          </a:p>
          <a:p xmlns:a="http://schemas.openxmlformats.org/drawingml/2006/main">
            <a:r>
              <a:t>          "layer": "이용 접점",</a:t>
            </a:r>
          </a:p>
          <a:p xmlns:a="http://schemas.openxmlformats.org/drawingml/2006/main">
            <a:r>
              <a:t>          "detail": "공공기관 앱 개발자·운영자",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"Bearer 인증",</a:t>
            </a:r>
          </a:p>
          <a:p xmlns:a="http://schemas.openxmlformats.org/drawingml/2006/main">
            <a:r>
              <a:t>          "layer": "업무 문맥",</a:t>
            </a:r>
          </a:p>
          <a:p xmlns:a="http://schemas.openxmlformats.org/drawingml/2006/main">
            <a:r>
              <a:t>          "detail": "앱별 인증과 요청 종류·용량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"모델·기능 선택",</a:t>
            </a:r>
          </a:p>
          <a:p xmlns:a="http://schemas.openxmlformats.org/drawingml/2006/main">
            <a:r>
              <a:t>          "layer": "자료 조회",</a:t>
            </a:r>
          </a:p>
          <a:p xmlns:a="http://schemas.openxmlformats.org/drawingml/2006/main">
            <a:r>
              <a:t>          "detail": "API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"검색·OCR·전사",</a:t>
            </a:r>
          </a:p>
          <a:p xmlns:a="http://schemas.openxmlformats.org/drawingml/2006/main">
            <a:r>
              <a:t>          "layer": "핵심 처리",</a:t>
            </a:r>
          </a:p>
          <a:p xmlns:a="http://schemas.openxmlformats.org/drawingml/2006/main">
            <a:r>
              <a:t>          "detail": "작업에 맞는 모델·검색·변환 API 호출",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"응답·오류 검사",</a:t>
            </a:r>
          </a:p>
          <a:p xmlns:a="http://schemas.openxmlformats.org/drawingml/2006/main">
            <a:r>
              <a:t>          "layer": "결과 검증",</a:t>
            </a:r>
          </a:p>
          <a:p xmlns:a="http://schemas.openxmlformats.org/drawingml/2006/main">
            <a:r>
              <a:t>          "detail": "호출 계약·오류·단가·대체 경로",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"앱 후처리",</a:t>
            </a:r>
          </a:p>
          <a:p xmlns:a="http://schemas.openxmlformats.org/drawingml/2006/main">
            <a:r>
              <a:t>          "layer": "사람 확인",</a:t>
            </a:r>
          </a:p>
          <a:p xmlns:a="http://schemas.openxmlformats.org/drawingml/2006/main">
            <a:r>
              <a:t>          "detail": "기관 앱이 문서 OCR 후 검색·요약 API를 호출",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"구조화 API 결과",</a:t>
            </a:r>
          </a:p>
          <a:p xmlns:a="http://schemas.openxmlformats.org/drawingml/2006/main">
            <a:r>
              <a:t>          "layer": "업무 연결",</a:t>
            </a:r>
          </a:p>
          <a:p xmlns:a="http://schemas.openxmlformats.org/drawingml/2006/main">
            <a:r>
              <a:t>          "detail": "구조화된 API 결과를 기관 업무 앱에 전달",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"상태·지표 수집",</a:t>
            </a:r>
          </a:p>
          <a:p xmlns:a="http://schemas.openxmlformats.org/drawingml/2006/main">
            <a:r>
              <a:t>          "layer": "운영 관측",</a:t>
            </a:r>
          </a:p>
          <a:p xmlns:a="http://schemas.openxmlformats.org/drawingml/2006/main">
            <a:r>
              <a:t>          "detail": "호출 실패·처리시간·사용량·품질 관측",</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"문서·음성·질의",</a:t>
            </a:r>
          </a:p>
          <a:p xmlns:a="http://schemas.openxmlformats.org/drawingml/2006/main">
            <a:r>
              <a:t>          "layer": "데이터 원천",</a:t>
            </a:r>
          </a:p>
          <a:p xmlns:a="http://schemas.openxmlformats.org/drawingml/2006/main">
            <a:r>
              <a:t>          "detail": "문서·검색·모델 서비스",</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"파일·인자 정리",</a:t>
            </a:r>
          </a:p>
          <a:p xmlns:a="http://schemas.openxmlformats.org/drawingml/2006/main">
            <a:r>
              <a:t>          "layer": "준비·갱신",</a:t>
            </a:r>
          </a:p>
          <a:p xmlns:a="http://schemas.openxmlformats.org/drawingml/2006/main">
            <a:r>
              <a:t>          "detail": "문서·음성의 전처리와 검색용 자료 구성",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"처리·사용 기록",</a:t>
            </a:r>
          </a:p>
          <a:p xmlns:a="http://schemas.openxmlformats.org/drawingml/2006/main">
            <a:r>
              <a:t>          "layer": "상태·지식 저장",</a:t>
            </a:r>
          </a:p>
          <a:p xmlns:a="http://schemas.openxmlformats.org/drawingml/2006/main">
            <a:r>
              <a:t>          "detail": "요청 ID별 API 입력·결과·오류·재시도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"API 계약·한도",</a:t>
            </a:r>
          </a:p>
          <a:p xmlns:a="http://schemas.openxmlformats.org/drawingml/2006/main">
            <a:r>
              <a:t>          "layer": "권한·정책",</a:t>
            </a:r>
          </a:p>
          <a:p xmlns:a="http://schemas.openxmlformats.org/drawingml/2006/main">
            <a:r>
              <a:t>          "detail": "잘못된 파일·과도한 요청·일부 단계 실패",</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"앱별 인증과 요청 종류·용량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"API 요청",</a:t>
            </a:r>
          </a:p>
          <a:p xmlns:a="http://schemas.openxmlformats.org/drawingml/2006/main">
            <a:r>
              <a:t>          "check": "호출 계약·오류·단가·대체 경로"</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"인증·호출 인자",</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"공통 처리 결과",</a:t>
            </a:r>
          </a:p>
          <a:p xmlns:a="http://schemas.openxmlformats.org/drawingml/2006/main">
            <a:r>
              <a:t>          "check": "잘못된 파일·과도한 요청·일부 단계 실패"</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"공통 처리 결과",</a:t>
            </a:r>
          </a:p>
          <a:p xmlns:a="http://schemas.openxmlformats.org/drawingml/2006/main">
            <a:r>
              <a:t>          "check": "구조화된 API 결과를 기관 업무 앱에 전달"</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"사용량·업무 결과",</a:t>
            </a:r>
          </a:p>
          <a:p xmlns:a="http://schemas.openxmlformats.org/drawingml/2006/main">
            <a:r>
              <a:t>          "check": "요청 ID별 API 입력·결과·오류·재시도 대사"</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"Albert API 공식 OpenAPI 문서",</a:t>
            </a:r>
          </a:p>
          <a:p xmlns:a="http://schemas.openxmlformats.org/drawingml/2006/main">
            <a:r>
              <a:t>        "extracted": "Bearer 인증·모델 목록·음성 전사·OCR·모니터링 API",</a:t>
            </a:r>
          </a:p>
          <a:p xmlns:a="http://schemas.openxmlformats.org/drawingml/2006/main">
            <a:r>
              <a:t>        "extension": "앱별 오류 변환·요청 추적·재시도 한도의 적용 설계"</a:t>
            </a:r>
          </a:p>
          <a:p xmlns:a="http://schemas.openxmlformats.org/drawingml/2006/main">
            <a:r>
              <a:t>      },</a:t>
            </a:r>
          </a:p>
          <a:p xmlns:a="http://schemas.openxmlformats.org/drawingml/2006/main">
            <a:r>
              <a:t>      "figures": [],</a:t>
            </a:r>
          </a:p>
          <a:p xmlns:a="http://schemas.openxmlformats.org/drawingml/2006/main">
            <a:r>
              <a:t>      "source": {</a:t>
            </a:r>
          </a:p>
          <a:p xmlns:a="http://schemas.openxmlformats.org/drawingml/2006/main">
            <a:r>
              <a:t>        "title": "DINUM Albert API · 공식 OpenAPI",</a:t>
            </a:r>
          </a:p>
          <a:p xmlns:a="http://schemas.openxmlformats.org/drawingml/2006/main">
            <a:r>
              <a:t>        "url": "https://albert.api.etalab.gouv.fr/reference"</a:t>
            </a:r>
          </a:p>
          <a:p xmlns:a="http://schemas.openxmlformats.org/drawingml/2006/main">
            <a:r>
              <a:t>      },</a:t>
            </a:r>
          </a:p>
          <a:p xmlns:a="http://schemas.openxmlformats.org/drawingml/2006/main">
            <a:r>
              <a:t>      "exception": {</a:t>
            </a:r>
          </a:p>
          <a:p xmlns:a="http://schemas.openxmlformats.org/drawingml/2006/main">
            <a:r>
              <a:t>        "input": "잘못된 파일·과도한 요청·일부 단계 실패",</a:t>
            </a:r>
          </a:p>
          <a:p xmlns:a="http://schemas.openxmlformats.org/drawingml/2006/main">
            <a:r>
              <a:t>        "hold": "호출 계약·오류·단가·대체 경로",</a:t>
            </a:r>
          </a:p>
          <a:p xmlns:a="http://schemas.openxmlformats.org/drawingml/2006/main">
            <a:r>
              <a:t>        "recovery": "호출 실패·처리시간·사용량·품질 관측",</a:t>
            </a:r>
          </a:p>
          <a:p xmlns:a="http://schemas.openxmlformats.org/drawingml/2006/main">
            <a:r>
              <a:t>        "evidence": "요청 ID별 API 입력·결과·오류·재시도 대사"</a:t>
            </a:r>
          </a:p>
          <a:p xmlns:a="http://schemas.openxmlformats.org/drawingml/2006/main">
            <a:r>
              <a:t>      },</a:t>
            </a:r>
          </a:p>
          <a:p xmlns:a="http://schemas.openxmlformats.org/drawingml/2006/main">
            <a:r>
              <a:t>      "data": {</a:t>
            </a:r>
          </a:p>
          <a:p xmlns:a="http://schemas.openxmlformats.org/drawingml/2006/main">
            <a:r>
              <a:t>        "source": "문서·검색·모델 서비스",</a:t>
            </a:r>
          </a:p>
          <a:p xmlns:a="http://schemas.openxmlformats.org/drawingml/2006/main">
            <a:r>
              <a:t>        "prepare": "문서·음성의 전처리와 검색용 자료 구성",</a:t>
            </a:r>
          </a:p>
          <a:p xmlns:a="http://schemas.openxmlformats.org/drawingml/2006/main">
            <a:r>
              <a:t>        "output": "API 요청",</a:t>
            </a:r>
          </a:p>
          <a:p xmlns:a="http://schemas.openxmlformats.org/drawingml/2006/main">
            <a:r>
              <a:t>        "refresh": "호출 실패·처리시간·사용량·품질 관측"</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"PF06",</a:t>
            </a:r>
          </a:p>
          <a:p xmlns:a="http://schemas.openxmlformats.org/drawingml/2006/main">
            <a:r>
              <a:t>    "success": [</a:t>
            </a:r>
          </a:p>
          <a:p xmlns:a="http://schemas.openxmlformats.org/drawingml/2006/main">
            <a:r>
              <a:t>      "모델·검색·문서·음성 기능의 API화",</a:t>
            </a:r>
          </a:p>
          <a:p xmlns:a="http://schemas.openxmlformats.org/drawingml/2006/main">
            <a:r>
              <a:t>      "프로젝트별 사용량 관리"</a:t>
            </a:r>
          </a:p>
          <a:p xmlns:a="http://schemas.openxmlformats.org/drawingml/2006/main">
            <a:r>
              <a:t>    ],</a:t>
            </a:r>
          </a:p>
          <a:p xmlns:a="http://schemas.openxmlformats.org/drawingml/2006/main">
            <a:r>
              <a:t>    "risks": [</a:t>
            </a:r>
          </a:p>
          <a:p xmlns:a="http://schemas.openxmlformats.org/drawingml/2006/main">
            <a:r>
              <a:t>      "공통 API 의존·장애 영향",</a:t>
            </a:r>
          </a:p>
          <a:p xmlns:a="http://schemas.openxmlformats.org/drawingml/2006/main">
            <a:r>
              <a:t>      "기관별 정책을 공통 기능으로 대체"</a:t>
            </a:r>
          </a:p>
          <a:p xmlns:a="http://schemas.openxmlformats.org/drawingml/2006/main">
            <a:r>
              <a:t>    ],</a:t>
            </a:r>
          </a:p>
          <a:p xmlns:a="http://schemas.openxmlformats.org/drawingml/2006/main">
            <a:r>
              <a:t>    "architecture": [</a:t>
            </a:r>
          </a:p>
          <a:p xmlns:a="http://schemas.openxmlformats.org/drawingml/2006/main">
            <a:r>
              <a:t>      "기관 업무 앱",</a:t>
            </a:r>
          </a:p>
          <a:p xmlns:a="http://schemas.openxmlformats.org/drawingml/2006/main">
            <a:r>
              <a:t>      "Albert API",</a:t>
            </a:r>
          </a:p>
          <a:p xmlns:a="http://schemas.openxmlformats.org/drawingml/2006/main">
            <a:r>
              <a:t>      "문서·검색·모델 서비스",</a:t>
            </a:r>
          </a:p>
          <a:p xmlns:a="http://schemas.openxmlformats.org/drawingml/2006/main">
            <a:r>
              <a:t>      "프로젝트 운영자"</a:t>
            </a:r>
          </a:p>
          <a:p xmlns:a="http://schemas.openxmlformats.org/drawingml/2006/main">
            <a:r>
              <a:t>    ],</a:t>
            </a:r>
          </a:p>
          <a:p xmlns:a="http://schemas.openxmlformats.org/drawingml/2006/main">
            <a:r>
              <a:t>    "transfers": [</a:t>
            </a:r>
          </a:p>
          <a:p xmlns:a="http://schemas.openxmlformats.org/drawingml/2006/main">
            <a:r>
              <a:t>      "API 요청",</a:t>
            </a:r>
          </a:p>
          <a:p xmlns:a="http://schemas.openxmlformats.org/drawingml/2006/main">
            <a:r>
              <a:t>      "인증·호출 인자",</a:t>
            </a:r>
          </a:p>
          <a:p xmlns:a="http://schemas.openxmlformats.org/drawingml/2006/main">
            <a:r>
              <a:t>      "공통 처리 결과",</a:t>
            </a:r>
          </a:p>
          <a:p xmlns:a="http://schemas.openxmlformats.org/drawingml/2006/main">
            <a:r>
              <a:t>      "사용량·업무 결과"</a:t>
            </a:r>
          </a:p>
          <a:p xmlns:a="http://schemas.openxmlformats.org/drawingml/2006/main">
            <a:r>
              <a:t>    ],</a:t>
            </a:r>
          </a:p>
          <a:p xmlns:a="http://schemas.openxmlformats.org/drawingml/2006/main">
            <a:r>
              <a:t>    "control": "호출 계약·오류·단가·대체 경로",</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운영기관 서비스·API 설명 https://ia.numerique.gouv.fr/outils-ia/albert-api/offre-de-services/</a:t>
            </a:r>
          </a:p>
          <a:p xmlns:a="http://schemas.openxmlformats.org/drawingml/2006/main">
            <a:r>
              <a:t>홈페이지 https://heen1987-ops.github.io/TS-business-Plan-001/index.html?view=platform-cases&amp;case=PF06</a:t>
            </a:r>
          </a:p>
          <a:p xmlns:a="http://schemas.openxmlformats.org/drawingml/2006/main">
            <a:r>
              <a:t>한계: 서비스 기능 확인 · 공개 이용 통계와 업무성과의 별도 평가</a:t>
            </a:r>
          </a:p>
          <a:p xmlns:a="http://schemas.openxmlformats.org/drawingml/2006/main">
            <a:r>
              <a:t>실패 위험: 공통 API 의존·장애 영향 / 기관별 정책을 공통 기능으로 대체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"PF06",</a:t>
            </a:r>
          </a:p>
          <a:p xmlns:a="http://schemas.openxmlformats.org/drawingml/2006/main">
            <a:r>
              <a:t>    "sourceId": "A10",</a:t>
            </a:r>
          </a:p>
          <a:p xmlns:a="http://schemas.openxmlformats.org/drawingml/2006/main">
            <a:r>
              <a:t>    "title": "프랑스 Albert API",</a:t>
            </a:r>
          </a:p>
          <a:p xmlns:a="http://schemas.openxmlformats.org/drawingml/2006/main">
            <a:r>
              <a:t>    "region": "해외",</a:t>
            </a:r>
          </a:p>
          <a:p xmlns:a="http://schemas.openxmlformats.org/drawingml/2006/main">
            <a:r>
              <a:t>    "owner": "DINUM",</a:t>
            </a:r>
          </a:p>
          <a:p xmlns:a="http://schemas.openxmlformats.org/drawingml/2006/main">
            <a:r>
              <a:t>    "state": "공통 API 운영",</a:t>
            </a:r>
          </a:p>
          <a:p xmlns:a="http://schemas.openxmlformats.org/drawingml/2006/main">
            <a:r>
              <a:t>    "period": "열람 2026.10",</a:t>
            </a:r>
          </a:p>
          <a:p xmlns:a="http://schemas.openxmlformats.org/drawingml/2006/main">
            <a:r>
              <a:t>    "fact": "모델·검색·OCR·음성전사 등 공통 AI 기능의 API 제공",</a:t>
            </a:r>
          </a:p>
          <a:p xmlns:a="http://schemas.openxmlformats.org/drawingml/2006/main">
            <a:r>
              <a:t>    "limit": "서비스 기능 확인 · 공개 이용 통계와 업무성과의 별도 평가",</a:t>
            </a:r>
          </a:p>
          <a:p xmlns:a="http://schemas.openxmlformats.org/drawingml/2006/main">
            <a:r>
              <a:t>    "nodes": [</a:t>
            </a:r>
          </a:p>
          <a:p xmlns:a="http://schemas.openxmlformats.org/drawingml/2006/main">
            <a:r>
              <a:t>      "업무 앱",</a:t>
            </a:r>
          </a:p>
          <a:p xmlns:a="http://schemas.openxmlformats.org/drawingml/2006/main">
            <a:r>
              <a:t>      "공통 API·접근관리",</a:t>
            </a:r>
          </a:p>
          <a:p xmlns:a="http://schemas.openxmlformats.org/drawingml/2006/main">
            <a:r>
              <a:t>      "모델·검색·문서·음성",</a:t>
            </a:r>
          </a:p>
          <a:p xmlns:a="http://schemas.openxmlformats.org/drawingml/2006/main">
            <a:r>
              <a:t>      "프로젝트·사용량 관리"</a:t>
            </a:r>
          </a:p>
          <a:p xmlns:a="http://schemas.openxmlformats.org/drawingml/2006/main">
            <a:r>
              <a:t>    ],</a:t>
            </a:r>
          </a:p>
          <a:p xmlns:a="http://schemas.openxmlformats.org/drawingml/2006/main">
            <a:r>
              <a:t>    "apply": "OCR·검색·전사 기능을 공통 서비스로 묶고 부서 업무 앱에서 조합",</a:t>
            </a:r>
          </a:p>
          <a:p xmlns:a="http://schemas.openxmlformats.org/drawingml/2006/main">
            <a:r>
              <a:t>    "delta": "API 계약·사용 정책·부서별 사용량·장애 격리",</a:t>
            </a:r>
          </a:p>
          <a:p xmlns:a="http://schemas.openxmlformats.org/drawingml/2006/main">
            <a:r>
              <a:t>    "test": "공통 기능 계약 시험 / 지연·실패·비용의 업무별 분리",</a:t>
            </a:r>
          </a:p>
          <a:p xmlns:a="http://schemas.openxmlformats.org/drawingml/2006/main">
            <a:r>
              <a:t>    "url": "https://ia.numerique.gouv.fr/outils-ia/albert-api/offre-de-services/",</a:t>
            </a:r>
          </a:p>
          <a:p xmlns:a="http://schemas.openxmlformats.org/drawingml/2006/main">
            <a:r>
              <a:t>    "basis": "운영기관 서비스·API 설명",</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"https://ia.numerique.gouv.fr/outils-ia/albert-api/offre-de-services/",</a:t>
            </a:r>
          </a:p>
          <a:p xmlns:a="http://schemas.openxmlformats.org/drawingml/2006/main">
            <a:r>
              <a:t>      "https://www.numerique.gouv.fr/offre-accompagnement/expertise-albert-ia-etat/",</a:t>
            </a:r>
          </a:p>
          <a:p xmlns:a="http://schemas.openxmlformats.org/drawingml/2006/main">
            <a:r>
              <a:t>      "https://ia.numerique.gouv.fr/outils-ia/albert-api/statistiques/"</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"PF06",</a:t>
            </a:r>
          </a:p>
          <a:p xmlns:a="http://schemas.openxmlformats.org/drawingml/2006/main">
            <a:r>
              <a:t>    "canonicalId": "PF06",</a:t>
            </a:r>
          </a:p>
          <a:p xmlns:a="http://schemas.openxmlformats.org/drawingml/2006/main">
            <a:r>
              <a:t>    "purpose": "기관별 AI 앱을 위한 공통 API 제공",</a:t>
            </a:r>
          </a:p>
          <a:p xmlns:a="http://schemas.openxmlformats.org/drawingml/2006/main">
            <a:r>
              <a:t>    "users": "공공기관 앱 개발자·운영자",</a:t>
            </a:r>
          </a:p>
          <a:p xmlns:a="http://schemas.openxmlformats.org/drawingml/2006/main">
            <a:r>
              <a:t>    "scope": [</a:t>
            </a:r>
          </a:p>
          <a:p xmlns:a="http://schemas.openxmlformats.org/drawingml/2006/main">
            <a:r>
              <a:t>      "모델·검색",</a:t>
            </a:r>
          </a:p>
          <a:p xmlns:a="http://schemas.openxmlformats.org/drawingml/2006/main">
            <a:r>
              <a:t>      "OCR",</a:t>
            </a:r>
          </a:p>
          <a:p xmlns:a="http://schemas.openxmlformats.org/drawingml/2006/main">
            <a:r>
              <a:t>      "음성전사"</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"기관 업무 앱",</a:t>
            </a:r>
          </a:p>
          <a:p xmlns:a="http://schemas.openxmlformats.org/drawingml/2006/main">
            <a:r>
              <a:t>        "detail": "앱별 인증과 요청 종류·용량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"모델·검색 / OCR / 음성전사",</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"Albert API",</a:t>
            </a:r>
          </a:p>
          <a:p xmlns:a="http://schemas.openxmlformats.org/drawingml/2006/main">
            <a:r>
              <a:t>        "detail": "작업에 맞는 모델·검색·변환 API 호출",</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"프로젝트 운영자",</a:t>
            </a:r>
          </a:p>
          <a:p xmlns:a="http://schemas.openxmlformats.org/drawingml/2006/main">
            <a:r>
              <a:t>        "detail": "구조화된 API 결과를 기관 업무 앱에 전달",</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"문서·검색·모델 서비스",</a:t>
            </a:r>
          </a:p>
          <a:p xmlns:a="http://schemas.openxmlformats.org/drawingml/2006/main">
            <a:r>
              <a:t>        "detail": "문서·음성의 전처리와 검색용 자료 구성",</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"호출 실패·처리시간·사용량·품질 관측",</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"업무 앱",</a:t>
            </a:r>
          </a:p>
          <a:p xmlns:a="http://schemas.openxmlformats.org/drawingml/2006/main">
            <a:r>
              <a:t>        "input": "앱별 인증과 요청 종류·용량 확인",</a:t>
            </a:r>
          </a:p>
          <a:p xmlns:a="http://schemas.openxmlformats.org/drawingml/2006/main">
            <a:r>
              <a:t>        "process": "문서·음성의 전처리와 검색용 자료 구성",</a:t>
            </a:r>
          </a:p>
          <a:p xmlns:a="http://schemas.openxmlformats.org/drawingml/2006/main">
            <a:r>
              <a:t>        "output": "API 요청"</a:t>
            </a:r>
          </a:p>
          <a:p xmlns:a="http://schemas.openxmlformats.org/drawingml/2006/main">
            <a:r>
              <a:t>      },</a:t>
            </a:r>
          </a:p>
          <a:p xmlns:a="http://schemas.openxmlformats.org/drawingml/2006/main">
            <a:r>
              <a:t>      {</a:t>
            </a:r>
          </a:p>
          <a:p xmlns:a="http://schemas.openxmlformats.org/drawingml/2006/main">
            <a:r>
              <a:t>        "title": "공통 API·접근관리",</a:t>
            </a:r>
          </a:p>
          <a:p xmlns:a="http://schemas.openxmlformats.org/drawingml/2006/main">
            <a:r>
              <a:t>        "input": "API 요청",</a:t>
            </a:r>
          </a:p>
          <a:p xmlns:a="http://schemas.openxmlformats.org/drawingml/2006/main">
            <a:r>
              <a:t>        "process": "작업에 맞는 모델·검색·변환 API 호출",</a:t>
            </a:r>
          </a:p>
          <a:p xmlns:a="http://schemas.openxmlformats.org/drawingml/2006/main">
            <a:r>
              <a:t>        "output": "인증·호출 인자"</a:t>
            </a:r>
          </a:p>
          <a:p xmlns:a="http://schemas.openxmlformats.org/drawingml/2006/main">
            <a:r>
              <a:t>      },</a:t>
            </a:r>
          </a:p>
          <a:p xmlns:a="http://schemas.openxmlformats.org/drawingml/2006/main">
            <a:r>
              <a:t>      {</a:t>
            </a:r>
          </a:p>
          <a:p xmlns:a="http://schemas.openxmlformats.org/drawingml/2006/main">
            <a:r>
              <a:t>        "title": "모델·검색·문서·음성",</a:t>
            </a:r>
          </a:p>
          <a:p xmlns:a="http://schemas.openxmlformats.org/drawingml/2006/main">
            <a:r>
              <a:t>        "input": "인증·호출 인자",</a:t>
            </a:r>
          </a:p>
          <a:p xmlns:a="http://schemas.openxmlformats.org/drawingml/2006/main">
            <a:r>
              <a:t>        "process": "호출 계약·오류·단가·대체 경로",</a:t>
            </a:r>
          </a:p>
          <a:p xmlns:a="http://schemas.openxmlformats.org/drawingml/2006/main">
            <a:r>
              <a:t>        "output": "공통 처리 결과"</a:t>
            </a:r>
          </a:p>
          <a:p xmlns:a="http://schemas.openxmlformats.org/drawingml/2006/main">
            <a:r>
              <a:t>      },</a:t>
            </a:r>
          </a:p>
          <a:p xmlns:a="http://schemas.openxmlformats.org/drawingml/2006/main">
            <a:r>
              <a:t>      {</a:t>
            </a:r>
          </a:p>
          <a:p xmlns:a="http://schemas.openxmlformats.org/drawingml/2006/main">
            <a:r>
              <a:t>        "title": "프로젝트·사용량 관리",</a:t>
            </a:r>
          </a:p>
          <a:p xmlns:a="http://schemas.openxmlformats.org/drawingml/2006/main">
            <a:r>
              <a:t>        "input": "공통 처리 결과",</a:t>
            </a:r>
          </a:p>
          <a:p xmlns:a="http://schemas.openxmlformats.org/drawingml/2006/main">
            <a:r>
              <a:t>        "process": "구조화된 API 결과를 기관 업무 앱에 전달",</a:t>
            </a:r>
          </a:p>
          <a:p xmlns:a="http://schemas.openxmlformats.org/drawingml/2006/main">
            <a:r>
              <a:t>        "output": "사용량·업무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"기관 앱이 문서 OCR 후 검색·요약 API를 호출",</a:t>
            </a:r>
          </a:p>
          <a:p xmlns:a="http://schemas.openxmlformats.org/drawingml/2006/main">
            <a:r>
              <a:t>      "exception": "잘못된 파일·과도한 요청·일부 단계 실패",</a:t>
            </a:r>
          </a:p>
          <a:p xmlns:a="http://schemas.openxmlformats.org/drawingml/2006/main">
            <a:r>
              <a:t>      "evidence": "요청 ID별 API 입력·결과·오류·재시도 대사",</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"공공기관 앱 개발자·운영자",</a:t>
            </a:r>
          </a:p>
          <a:p xmlns:a="http://schemas.openxmlformats.org/drawingml/2006/main">
            <a:r>
              <a:t>          "processing": "앱별 인증과 요청 종류·용량 확인",</a:t>
            </a:r>
          </a:p>
          <a:p xmlns:a="http://schemas.openxmlformats.org/drawingml/2006/main">
            <a:r>
              <a:t>          "output": "API 요청"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"문서·검색·모델 서비스",</a:t>
            </a:r>
          </a:p>
          <a:p xmlns:a="http://schemas.openxmlformats.org/drawingml/2006/main">
            <a:r>
              <a:t>          "processing": "문서·음성의 전처리와 검색용 자료 구성",</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"API 요청",</a:t>
            </a:r>
          </a:p>
          <a:p xmlns:a="http://schemas.openxmlformats.org/drawingml/2006/main">
            <a:r>
              <a:t>          "processing": "작업에 맞는 모델·검색·변환 API 호출",</a:t>
            </a:r>
          </a:p>
          <a:p xmlns:a="http://schemas.openxmlformats.org/drawingml/2006/main">
            <a:r>
              <a:t>          "output": "공통 처리 결과"</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"공통 처리 결과",</a:t>
            </a:r>
          </a:p>
          <a:p xmlns:a="http://schemas.openxmlformats.org/drawingml/2006/main">
            <a:r>
              <a:t>          "processing": "구조화된 API 결과를 기관 업무 앱에 전달",</a:t>
            </a:r>
          </a:p>
          <a:p xmlns:a="http://schemas.openxmlformats.org/drawingml/2006/main">
            <a:r>
              <a:t>          "output": "사용량·업무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"호출 실패·처리시간·사용량·품질 관측",</a:t>
            </a:r>
          </a:p>
          <a:p xmlns:a="http://schemas.openxmlformats.org/drawingml/2006/main">
            <a:r>
              <a:t>          "output": "요청 ID별 API 입력·결과·오류·재시도 대사"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"호출 실패·처리시간·사용량·품질 관측",</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"운영기관 서비스·API 설명",</a:t>
            </a:r>
          </a:p>
          <a:p xmlns:a="http://schemas.openxmlformats.org/drawingml/2006/main">
            <a:r>
              <a:t>        "url": "https://ia.numerique.gouv.fr/outils-ia/albert-api/offre-de-services/"</a:t>
            </a:r>
          </a:p>
          <a:p xmlns:a="http://schemas.openxmlformats.org/drawingml/2006/main">
            <a:r>
              <a:t>      }</a:t>
            </a:r>
          </a:p>
          <a:p xmlns:a="http://schemas.openxmlformats.org/drawingml/2006/main">
            <a:r>
              <a:t>    ],</a:t>
            </a:r>
          </a:p>
          <a:p xmlns:a="http://schemas.openxmlformats.org/drawingml/2006/main">
            <a:r>
              <a:t>    "implication": "OCR·검색·전사 기능을 공통 서비스로 묶고 부서 업무 앱에서 조합",</a:t>
            </a:r>
          </a:p>
          <a:p xmlns:a="http://schemas.openxmlformats.org/drawingml/2006/main">
            <a:r>
              <a:t>    "local": "OCR·검색·전사 기능을 공통 서비스로 묶고 부서 업무 앱에서 조합",</a:t>
            </a:r>
          </a:p>
          <a:p xmlns:a="http://schemas.openxmlformats.org/drawingml/2006/main">
            <a:r>
              <a:t>    "sourceDetail": null,</a:t>
            </a:r>
          </a:p>
          <a:p xmlns:a="http://schemas.openxmlformats.org/drawingml/2006/main">
            <a:r>
              <a:t>    "narrative": [</a:t>
            </a:r>
          </a:p>
          <a:p xmlns:a="http://schemas.openxmlformats.org/drawingml/2006/main">
            <a:r>
              <a:t>      "프랑스 Albert API는 공공기관이 자체 업무 서비스에 AI 기능을 붙일 수 있도록 공통 API를 제공하는 사례. 완성형 챗봇뿐 아니라 문서·음성 처리와 모델 기능을 업무 앱에서 선택해 활용하는 구조.",</a:t>
            </a:r>
          </a:p>
          <a:p xmlns:a="http://schemas.openxmlformats.org/drawingml/2006/main">
            <a:r>
              <a:t>      "공개 API 명세의 Bearer 인증, 모델 조회, OCR, 음성 전사, 사용량 관측 기능을 기준으로 요청·변환·추론·결과 반환 계층을 구성. 업무 서비스는 인증·입력 제약·오류 처리·출력 활용을 담당하고 공통 API는 호출 가능한 기능을 제공하는 책임 분리.",</a:t>
            </a:r>
          </a:p>
          <a:p xmlns:a="http://schemas.openxmlformats.org/drawingml/2006/main">
            <a:r>
              <a:t>      "CCK 기능 재사용 단위를 화면보다 API 계약으로 정의하는 참고. 요청 크기·형식 오류·인증 실패·타임아웃·재시도·중복 호출에 대한 시험과 부서별 호출 이력·비용·개인정보 처리 기준의 연결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"기관 앱 API",</a:t>
            </a:r>
          </a:p>
          <a:p xmlns:a="http://schemas.openxmlformats.org/drawingml/2006/main">
            <a:r>
              <a:t>          "layer": "이용 접점",</a:t>
            </a:r>
          </a:p>
          <a:p xmlns:a="http://schemas.openxmlformats.org/drawingml/2006/main">
            <a:r>
              <a:t>          "detail": "공공기관 앱 개발자·운영자",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"Bearer 인증",</a:t>
            </a:r>
          </a:p>
          <a:p xmlns:a="http://schemas.openxmlformats.org/drawingml/2006/main">
            <a:r>
              <a:t>          "layer": "업무 문맥",</a:t>
            </a:r>
          </a:p>
          <a:p xmlns:a="http://schemas.openxmlformats.org/drawingml/2006/main">
            <a:r>
              <a:t>          "detail": "앱별 인증과 요청 종류·용량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"모델·기능 선택",</a:t>
            </a:r>
          </a:p>
          <a:p xmlns:a="http://schemas.openxmlformats.org/drawingml/2006/main">
            <a:r>
              <a:t>          "layer": "자료 조회",</a:t>
            </a:r>
          </a:p>
          <a:p xmlns:a="http://schemas.openxmlformats.org/drawingml/2006/main">
            <a:r>
              <a:t>          "detail": "API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"검색·OCR·전사",</a:t>
            </a:r>
          </a:p>
          <a:p xmlns:a="http://schemas.openxmlformats.org/drawingml/2006/main">
            <a:r>
              <a:t>          "layer": "핵심 처리",</a:t>
            </a:r>
          </a:p>
          <a:p xmlns:a="http://schemas.openxmlformats.org/drawingml/2006/main">
            <a:r>
              <a:t>          "detail": "작업에 맞는 모델·검색·변환 API 호출",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"응답·오류 검사",</a:t>
            </a:r>
          </a:p>
          <a:p xmlns:a="http://schemas.openxmlformats.org/drawingml/2006/main">
            <a:r>
              <a:t>          "layer": "결과 검증",</a:t>
            </a:r>
          </a:p>
          <a:p xmlns:a="http://schemas.openxmlformats.org/drawingml/2006/main">
            <a:r>
              <a:t>          "detail": "호출 계약·오류·단가·대체 경로",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"앱 후처리",</a:t>
            </a:r>
          </a:p>
          <a:p xmlns:a="http://schemas.openxmlformats.org/drawingml/2006/main">
            <a:r>
              <a:t>          "layer": "사람 확인",</a:t>
            </a:r>
          </a:p>
          <a:p xmlns:a="http://schemas.openxmlformats.org/drawingml/2006/main">
            <a:r>
              <a:t>          "detail": "기관 앱이 문서 OCR 후 검색·요약 API를 호출",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"구조화 API 결과",</a:t>
            </a:r>
          </a:p>
          <a:p xmlns:a="http://schemas.openxmlformats.org/drawingml/2006/main">
            <a:r>
              <a:t>          "layer": "업무 연결",</a:t>
            </a:r>
          </a:p>
          <a:p xmlns:a="http://schemas.openxmlformats.org/drawingml/2006/main">
            <a:r>
              <a:t>          "detail": "구조화된 API 결과를 기관 업무 앱에 전달",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"상태·지표 수집",</a:t>
            </a:r>
          </a:p>
          <a:p xmlns:a="http://schemas.openxmlformats.org/drawingml/2006/main">
            <a:r>
              <a:t>          "layer": "운영 관측",</a:t>
            </a:r>
          </a:p>
          <a:p xmlns:a="http://schemas.openxmlformats.org/drawingml/2006/main">
            <a:r>
              <a:t>          "detail": "호출 실패·처리시간·사용량·품질 관측",</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"문서·음성·질의",</a:t>
            </a:r>
          </a:p>
          <a:p xmlns:a="http://schemas.openxmlformats.org/drawingml/2006/main">
            <a:r>
              <a:t>          "layer": "데이터 원천",</a:t>
            </a:r>
          </a:p>
          <a:p xmlns:a="http://schemas.openxmlformats.org/drawingml/2006/main">
            <a:r>
              <a:t>          "detail": "문서·검색·모델 서비스",</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"파일·인자 정리",</a:t>
            </a:r>
          </a:p>
          <a:p xmlns:a="http://schemas.openxmlformats.org/drawingml/2006/main">
            <a:r>
              <a:t>          "layer": "준비·갱신",</a:t>
            </a:r>
          </a:p>
          <a:p xmlns:a="http://schemas.openxmlformats.org/drawingml/2006/main">
            <a:r>
              <a:t>          "detail": "문서·음성의 전처리와 검색용 자료 구성",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"처리·사용 기록",</a:t>
            </a:r>
          </a:p>
          <a:p xmlns:a="http://schemas.openxmlformats.org/drawingml/2006/main">
            <a:r>
              <a:t>          "layer": "상태·지식 저장",</a:t>
            </a:r>
          </a:p>
          <a:p xmlns:a="http://schemas.openxmlformats.org/drawingml/2006/main">
            <a:r>
              <a:t>          "detail": "요청 ID별 API 입력·결과·오류·재시도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"API 계약·한도",</a:t>
            </a:r>
          </a:p>
          <a:p xmlns:a="http://schemas.openxmlformats.org/drawingml/2006/main">
            <a:r>
              <a:t>          "layer": "권한·정책",</a:t>
            </a:r>
          </a:p>
          <a:p xmlns:a="http://schemas.openxmlformats.org/drawingml/2006/main">
            <a:r>
              <a:t>          "detail": "잘못된 파일·과도한 요청·일부 단계 실패",</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"앱별 인증과 요청 종류·용량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"API 요청",</a:t>
            </a:r>
          </a:p>
          <a:p xmlns:a="http://schemas.openxmlformats.org/drawingml/2006/main">
            <a:r>
              <a:t>          "check": "호출 계약·오류·단가·대체 경로"</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"인증·호출 인자",</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"공통 처리 결과",</a:t>
            </a:r>
          </a:p>
          <a:p xmlns:a="http://schemas.openxmlformats.org/drawingml/2006/main">
            <a:r>
              <a:t>          "check": "잘못된 파일·과도한 요청·일부 단계 실패"</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"공통 처리 결과",</a:t>
            </a:r>
          </a:p>
          <a:p xmlns:a="http://schemas.openxmlformats.org/drawingml/2006/main">
            <a:r>
              <a:t>          "check": "구조화된 API 결과를 기관 업무 앱에 전달"</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"사용량·업무 결과",</a:t>
            </a:r>
          </a:p>
          <a:p xmlns:a="http://schemas.openxmlformats.org/drawingml/2006/main">
            <a:r>
              <a:t>          "check": "요청 ID별 API 입력·결과·오류·재시도 대사"</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"Albert API 공식 OpenAPI 문서",</a:t>
            </a:r>
          </a:p>
          <a:p xmlns:a="http://schemas.openxmlformats.org/drawingml/2006/main">
            <a:r>
              <a:t>        "extracted": "Bearer 인증·모델 목록·음성 전사·OCR·모니터링 API",</a:t>
            </a:r>
          </a:p>
          <a:p xmlns:a="http://schemas.openxmlformats.org/drawingml/2006/main">
            <a:r>
              <a:t>        "extension": "앱별 오류 변환·요청 추적·재시도 한도의 적용 설계"</a:t>
            </a:r>
          </a:p>
          <a:p xmlns:a="http://schemas.openxmlformats.org/drawingml/2006/main">
            <a:r>
              <a:t>      },</a:t>
            </a:r>
          </a:p>
          <a:p xmlns:a="http://schemas.openxmlformats.org/drawingml/2006/main">
            <a:r>
              <a:t>      "figures": [],</a:t>
            </a:r>
          </a:p>
          <a:p xmlns:a="http://schemas.openxmlformats.org/drawingml/2006/main">
            <a:r>
              <a:t>      "source": {</a:t>
            </a:r>
          </a:p>
          <a:p xmlns:a="http://schemas.openxmlformats.org/drawingml/2006/main">
            <a:r>
              <a:t>        "title": "DINUM Albert API · 공식 OpenAPI",</a:t>
            </a:r>
          </a:p>
          <a:p xmlns:a="http://schemas.openxmlformats.org/drawingml/2006/main">
            <a:r>
              <a:t>        "url": "https://albert.api.etalab.gouv.fr/reference"</a:t>
            </a:r>
          </a:p>
          <a:p xmlns:a="http://schemas.openxmlformats.org/drawingml/2006/main">
            <a:r>
              <a:t>      },</a:t>
            </a:r>
          </a:p>
          <a:p xmlns:a="http://schemas.openxmlformats.org/drawingml/2006/main">
            <a:r>
              <a:t>      "exception": {</a:t>
            </a:r>
          </a:p>
          <a:p xmlns:a="http://schemas.openxmlformats.org/drawingml/2006/main">
            <a:r>
              <a:t>        "input": "잘못된 파일·과도한 요청·일부 단계 실패",</a:t>
            </a:r>
          </a:p>
          <a:p xmlns:a="http://schemas.openxmlformats.org/drawingml/2006/main">
            <a:r>
              <a:t>        "hold": "호출 계약·오류·단가·대체 경로",</a:t>
            </a:r>
          </a:p>
          <a:p xmlns:a="http://schemas.openxmlformats.org/drawingml/2006/main">
            <a:r>
              <a:t>        "recovery": "호출 실패·처리시간·사용량·품질 관측",</a:t>
            </a:r>
          </a:p>
          <a:p xmlns:a="http://schemas.openxmlformats.org/drawingml/2006/main">
            <a:r>
              <a:t>        "evidence": "요청 ID별 API 입력·결과·오류·재시도 대사"</a:t>
            </a:r>
          </a:p>
          <a:p xmlns:a="http://schemas.openxmlformats.org/drawingml/2006/main">
            <a:r>
              <a:t>      },</a:t>
            </a:r>
          </a:p>
          <a:p xmlns:a="http://schemas.openxmlformats.org/drawingml/2006/main">
            <a:r>
              <a:t>      "data": {</a:t>
            </a:r>
          </a:p>
          <a:p xmlns:a="http://schemas.openxmlformats.org/drawingml/2006/main">
            <a:r>
              <a:t>        "source": "문서·검색·모델 서비스",</a:t>
            </a:r>
          </a:p>
          <a:p xmlns:a="http://schemas.openxmlformats.org/drawingml/2006/main">
            <a:r>
              <a:t>        "prepare": "문서·음성의 전처리와 검색용 자료 구성",</a:t>
            </a:r>
          </a:p>
          <a:p xmlns:a="http://schemas.openxmlformats.org/drawingml/2006/main">
            <a:r>
              <a:t>        "output": "API 요청",</a:t>
            </a:r>
          </a:p>
          <a:p xmlns:a="http://schemas.openxmlformats.org/drawingml/2006/main">
            <a:r>
              <a:t>        "refresh": "호출 실패·처리시간·사용량·품질 관측"</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"PF06",</a:t>
            </a:r>
          </a:p>
          <a:p xmlns:a="http://schemas.openxmlformats.org/drawingml/2006/main">
            <a:r>
              <a:t>    "success": [</a:t>
            </a:r>
          </a:p>
          <a:p xmlns:a="http://schemas.openxmlformats.org/drawingml/2006/main">
            <a:r>
              <a:t>      "모델·검색·문서·음성 기능의 API화",</a:t>
            </a:r>
          </a:p>
          <a:p xmlns:a="http://schemas.openxmlformats.org/drawingml/2006/main">
            <a:r>
              <a:t>      "프로젝트별 사용량 관리"</a:t>
            </a:r>
          </a:p>
          <a:p xmlns:a="http://schemas.openxmlformats.org/drawingml/2006/main">
            <a:r>
              <a:t>    ],</a:t>
            </a:r>
          </a:p>
          <a:p xmlns:a="http://schemas.openxmlformats.org/drawingml/2006/main">
            <a:r>
              <a:t>    "risks": [</a:t>
            </a:r>
          </a:p>
          <a:p xmlns:a="http://schemas.openxmlformats.org/drawingml/2006/main">
            <a:r>
              <a:t>      "공통 API 의존·장애 영향",</a:t>
            </a:r>
          </a:p>
          <a:p xmlns:a="http://schemas.openxmlformats.org/drawingml/2006/main">
            <a:r>
              <a:t>      "기관별 정책을 공통 기능으로 대체"</a:t>
            </a:r>
          </a:p>
          <a:p xmlns:a="http://schemas.openxmlformats.org/drawingml/2006/main">
            <a:r>
              <a:t>    ],</a:t>
            </a:r>
          </a:p>
          <a:p xmlns:a="http://schemas.openxmlformats.org/drawingml/2006/main">
            <a:r>
              <a:t>    "architecture": [</a:t>
            </a:r>
          </a:p>
          <a:p xmlns:a="http://schemas.openxmlformats.org/drawingml/2006/main">
            <a:r>
              <a:t>      "기관 업무 앱",</a:t>
            </a:r>
          </a:p>
          <a:p xmlns:a="http://schemas.openxmlformats.org/drawingml/2006/main">
            <a:r>
              <a:t>      "Albert API",</a:t>
            </a:r>
          </a:p>
          <a:p xmlns:a="http://schemas.openxmlformats.org/drawingml/2006/main">
            <a:r>
              <a:t>      "문서·검색·모델 서비스",</a:t>
            </a:r>
          </a:p>
          <a:p xmlns:a="http://schemas.openxmlformats.org/drawingml/2006/main">
            <a:r>
              <a:t>      "프로젝트 운영자"</a:t>
            </a:r>
          </a:p>
          <a:p xmlns:a="http://schemas.openxmlformats.org/drawingml/2006/main">
            <a:r>
              <a:t>    ],</a:t>
            </a:r>
          </a:p>
          <a:p xmlns:a="http://schemas.openxmlformats.org/drawingml/2006/main">
            <a:r>
              <a:t>    "transfers": [</a:t>
            </a:r>
          </a:p>
          <a:p xmlns:a="http://schemas.openxmlformats.org/drawingml/2006/main">
            <a:r>
              <a:t>      "API 요청",</a:t>
            </a:r>
          </a:p>
          <a:p xmlns:a="http://schemas.openxmlformats.org/drawingml/2006/main">
            <a:r>
              <a:t>      "인증·호출 인자",</a:t>
            </a:r>
          </a:p>
          <a:p xmlns:a="http://schemas.openxmlformats.org/drawingml/2006/main">
            <a:r>
              <a:t>      "공통 처리 결과",</a:t>
            </a:r>
          </a:p>
          <a:p xmlns:a="http://schemas.openxmlformats.org/drawingml/2006/main">
            <a:r>
              <a:t>      "사용량·업무 결과"</a:t>
            </a:r>
          </a:p>
          <a:p xmlns:a="http://schemas.openxmlformats.org/drawingml/2006/main">
            <a:r>
              <a:t>    ],</a:t>
            </a:r>
          </a:p>
          <a:p xmlns:a="http://schemas.openxmlformats.org/drawingml/2006/main">
            <a:r>
              <a:t>    "control": "호출 계약·오류·단가·대체 경로",</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운영기관 서비스·API 설명 https://ia.numerique.gouv.fr/outils-ia/albert-api/offre-de-services/</a:t>
            </a:r>
          </a:p>
          <a:p xmlns:a="http://schemas.openxmlformats.org/drawingml/2006/main">
            <a:r>
              <a:t>홈페이지 https://heen1987-ops.github.io/TS-business-Plan-001/index.html?view=platform-cases&amp;case=PF06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"PF06",</a:t>
            </a:r>
          </a:p>
          <a:p xmlns:a="http://schemas.openxmlformats.org/drawingml/2006/main">
            <a:r>
              <a:t>    "sourceId": "A10",</a:t>
            </a:r>
          </a:p>
          <a:p xmlns:a="http://schemas.openxmlformats.org/drawingml/2006/main">
            <a:r>
              <a:t>    "title": "프랑스 Albert API",</a:t>
            </a:r>
          </a:p>
          <a:p xmlns:a="http://schemas.openxmlformats.org/drawingml/2006/main">
            <a:r>
              <a:t>    "region": "해외",</a:t>
            </a:r>
          </a:p>
          <a:p xmlns:a="http://schemas.openxmlformats.org/drawingml/2006/main">
            <a:r>
              <a:t>    "owner": "DINUM",</a:t>
            </a:r>
          </a:p>
          <a:p xmlns:a="http://schemas.openxmlformats.org/drawingml/2006/main">
            <a:r>
              <a:t>    "state": "공통 API 운영",</a:t>
            </a:r>
          </a:p>
          <a:p xmlns:a="http://schemas.openxmlformats.org/drawingml/2006/main">
            <a:r>
              <a:t>    "period": "열람 2026.10",</a:t>
            </a:r>
          </a:p>
          <a:p xmlns:a="http://schemas.openxmlformats.org/drawingml/2006/main">
            <a:r>
              <a:t>    "fact": "모델·검색·OCR·음성전사 등 공통 AI 기능의 API 제공",</a:t>
            </a:r>
          </a:p>
          <a:p xmlns:a="http://schemas.openxmlformats.org/drawingml/2006/main">
            <a:r>
              <a:t>    "limit": "서비스 기능 확인 · 공개 이용 통계와 업무성과의 별도 평가",</a:t>
            </a:r>
          </a:p>
          <a:p xmlns:a="http://schemas.openxmlformats.org/drawingml/2006/main">
            <a:r>
              <a:t>    "nodes": [</a:t>
            </a:r>
          </a:p>
          <a:p xmlns:a="http://schemas.openxmlformats.org/drawingml/2006/main">
            <a:r>
              <a:t>      "업무 앱",</a:t>
            </a:r>
          </a:p>
          <a:p xmlns:a="http://schemas.openxmlformats.org/drawingml/2006/main">
            <a:r>
              <a:t>      "공통 API·접근관리",</a:t>
            </a:r>
          </a:p>
          <a:p xmlns:a="http://schemas.openxmlformats.org/drawingml/2006/main">
            <a:r>
              <a:t>      "모델·검색·문서·음성",</a:t>
            </a:r>
          </a:p>
          <a:p xmlns:a="http://schemas.openxmlformats.org/drawingml/2006/main">
            <a:r>
              <a:t>      "프로젝트·사용량 관리"</a:t>
            </a:r>
          </a:p>
          <a:p xmlns:a="http://schemas.openxmlformats.org/drawingml/2006/main">
            <a:r>
              <a:t>    ],</a:t>
            </a:r>
          </a:p>
          <a:p xmlns:a="http://schemas.openxmlformats.org/drawingml/2006/main">
            <a:r>
              <a:t>    "apply": "OCR·검색·전사 기능을 공통 서비스로 묶고 부서 업무 앱에서 조합",</a:t>
            </a:r>
          </a:p>
          <a:p xmlns:a="http://schemas.openxmlformats.org/drawingml/2006/main">
            <a:r>
              <a:t>    "delta": "API 계약·사용 정책·부서별 사용량·장애 격리",</a:t>
            </a:r>
          </a:p>
          <a:p xmlns:a="http://schemas.openxmlformats.org/drawingml/2006/main">
            <a:r>
              <a:t>    "test": "공통 기능 계약 시험 / 지연·실패·비용의 업무별 분리",</a:t>
            </a:r>
          </a:p>
          <a:p xmlns:a="http://schemas.openxmlformats.org/drawingml/2006/main">
            <a:r>
              <a:t>    "url": "https://ia.numerique.gouv.fr/outils-ia/albert-api/offre-de-services/",</a:t>
            </a:r>
          </a:p>
          <a:p xmlns:a="http://schemas.openxmlformats.org/drawingml/2006/main">
            <a:r>
              <a:t>    "basis": "운영기관 서비스·API 설명",</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"https://ia.numerique.gouv.fr/outils-ia/albert-api/offre-de-services/",</a:t>
            </a:r>
          </a:p>
          <a:p xmlns:a="http://schemas.openxmlformats.org/drawingml/2006/main">
            <a:r>
              <a:t>      "https://www.numerique.gouv.fr/offre-accompagnement/expertise-albert-ia-etat/",</a:t>
            </a:r>
          </a:p>
          <a:p xmlns:a="http://schemas.openxmlformats.org/drawingml/2006/main">
            <a:r>
              <a:t>      "https://ia.numerique.gouv.fr/outils-ia/albert-api/statistiques/"</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"PF06",</a:t>
            </a:r>
          </a:p>
          <a:p xmlns:a="http://schemas.openxmlformats.org/drawingml/2006/main">
            <a:r>
              <a:t>    "canonicalId": "PF06",</a:t>
            </a:r>
          </a:p>
          <a:p xmlns:a="http://schemas.openxmlformats.org/drawingml/2006/main">
            <a:r>
              <a:t>    "purpose": "기관별 AI 앱을 위한 공통 API 제공",</a:t>
            </a:r>
          </a:p>
          <a:p xmlns:a="http://schemas.openxmlformats.org/drawingml/2006/main">
            <a:r>
              <a:t>    "users": "공공기관 앱 개발자·운영자",</a:t>
            </a:r>
          </a:p>
          <a:p xmlns:a="http://schemas.openxmlformats.org/drawingml/2006/main">
            <a:r>
              <a:t>    "scope": [</a:t>
            </a:r>
          </a:p>
          <a:p xmlns:a="http://schemas.openxmlformats.org/drawingml/2006/main">
            <a:r>
              <a:t>      "모델·검색",</a:t>
            </a:r>
          </a:p>
          <a:p xmlns:a="http://schemas.openxmlformats.org/drawingml/2006/main">
            <a:r>
              <a:t>      "OCR",</a:t>
            </a:r>
          </a:p>
          <a:p xmlns:a="http://schemas.openxmlformats.org/drawingml/2006/main">
            <a:r>
              <a:t>      "음성전사"</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"기관 업무 앱",</a:t>
            </a:r>
          </a:p>
          <a:p xmlns:a="http://schemas.openxmlformats.org/drawingml/2006/main">
            <a:r>
              <a:t>        "detail": "앱별 인증과 요청 종류·용량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"모델·검색 / OCR / 음성전사",</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"Albert API",</a:t>
            </a:r>
          </a:p>
          <a:p xmlns:a="http://schemas.openxmlformats.org/drawingml/2006/main">
            <a:r>
              <a:t>        "detail": "작업에 맞는 모델·검색·변환 API 호출",</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"프로젝트 운영자",</a:t>
            </a:r>
          </a:p>
          <a:p xmlns:a="http://schemas.openxmlformats.org/drawingml/2006/main">
            <a:r>
              <a:t>        "detail": "구조화된 API 결과를 기관 업무 앱에 전달",</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"문서·검색·모델 서비스",</a:t>
            </a:r>
          </a:p>
          <a:p xmlns:a="http://schemas.openxmlformats.org/drawingml/2006/main">
            <a:r>
              <a:t>        "detail": "문서·음성의 전처리와 검색용 자료 구성",</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"호출 실패·처리시간·사용량·품질 관측",</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"업무 앱",</a:t>
            </a:r>
          </a:p>
          <a:p xmlns:a="http://schemas.openxmlformats.org/drawingml/2006/main">
            <a:r>
              <a:t>        "input": "앱별 인증과 요청 종류·용량 확인",</a:t>
            </a:r>
          </a:p>
          <a:p xmlns:a="http://schemas.openxmlformats.org/drawingml/2006/main">
            <a:r>
              <a:t>        "process": "문서·음성의 전처리와 검색용 자료 구성",</a:t>
            </a:r>
          </a:p>
          <a:p xmlns:a="http://schemas.openxmlformats.org/drawingml/2006/main">
            <a:r>
              <a:t>        "output": "API 요청"</a:t>
            </a:r>
          </a:p>
          <a:p xmlns:a="http://schemas.openxmlformats.org/drawingml/2006/main">
            <a:r>
              <a:t>      },</a:t>
            </a:r>
          </a:p>
          <a:p xmlns:a="http://schemas.openxmlformats.org/drawingml/2006/main">
            <a:r>
              <a:t>      {</a:t>
            </a:r>
          </a:p>
          <a:p xmlns:a="http://schemas.openxmlformats.org/drawingml/2006/main">
            <a:r>
              <a:t>        "title": "공통 API·접근관리",</a:t>
            </a:r>
          </a:p>
          <a:p xmlns:a="http://schemas.openxmlformats.org/drawingml/2006/main">
            <a:r>
              <a:t>        "input": "API 요청",</a:t>
            </a:r>
          </a:p>
          <a:p xmlns:a="http://schemas.openxmlformats.org/drawingml/2006/main">
            <a:r>
              <a:t>        "process": "작업에 맞는 모델·검색·변환 API 호출",</a:t>
            </a:r>
          </a:p>
          <a:p xmlns:a="http://schemas.openxmlformats.org/drawingml/2006/main">
            <a:r>
              <a:t>        "output": "인증·호출 인자"</a:t>
            </a:r>
          </a:p>
          <a:p xmlns:a="http://schemas.openxmlformats.org/drawingml/2006/main">
            <a:r>
              <a:t>      },</a:t>
            </a:r>
          </a:p>
          <a:p xmlns:a="http://schemas.openxmlformats.org/drawingml/2006/main">
            <a:r>
              <a:t>      {</a:t>
            </a:r>
          </a:p>
          <a:p xmlns:a="http://schemas.openxmlformats.org/drawingml/2006/main">
            <a:r>
              <a:t>        "title": "모델·검색·문서·음성",</a:t>
            </a:r>
          </a:p>
          <a:p xmlns:a="http://schemas.openxmlformats.org/drawingml/2006/main">
            <a:r>
              <a:t>        "input": "인증·호출 인자",</a:t>
            </a:r>
          </a:p>
          <a:p xmlns:a="http://schemas.openxmlformats.org/drawingml/2006/main">
            <a:r>
              <a:t>        "process": "호출 계약·오류·단가·대체 경로",</a:t>
            </a:r>
          </a:p>
          <a:p xmlns:a="http://schemas.openxmlformats.org/drawingml/2006/main">
            <a:r>
              <a:t>        "output": "공통 처리 결과"</a:t>
            </a:r>
          </a:p>
          <a:p xmlns:a="http://schemas.openxmlformats.org/drawingml/2006/main">
            <a:r>
              <a:t>      },</a:t>
            </a:r>
          </a:p>
          <a:p xmlns:a="http://schemas.openxmlformats.org/drawingml/2006/main">
            <a:r>
              <a:t>      {</a:t>
            </a:r>
          </a:p>
          <a:p xmlns:a="http://schemas.openxmlformats.org/drawingml/2006/main">
            <a:r>
              <a:t>        "title": "프로젝트·사용량 관리",</a:t>
            </a:r>
          </a:p>
          <a:p xmlns:a="http://schemas.openxmlformats.org/drawingml/2006/main">
            <a:r>
              <a:t>        "input": "공통 처리 결과",</a:t>
            </a:r>
          </a:p>
          <a:p xmlns:a="http://schemas.openxmlformats.org/drawingml/2006/main">
            <a:r>
              <a:t>        "process": "구조화된 API 결과를 기관 업무 앱에 전달",</a:t>
            </a:r>
          </a:p>
          <a:p xmlns:a="http://schemas.openxmlformats.org/drawingml/2006/main">
            <a:r>
              <a:t>        "output": "사용량·업무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"기관 앱이 문서 OCR 후 검색·요약 API를 호출",</a:t>
            </a:r>
          </a:p>
          <a:p xmlns:a="http://schemas.openxmlformats.org/drawingml/2006/main">
            <a:r>
              <a:t>      "exception": "잘못된 파일·과도한 요청·일부 단계 실패",</a:t>
            </a:r>
          </a:p>
          <a:p xmlns:a="http://schemas.openxmlformats.org/drawingml/2006/main">
            <a:r>
              <a:t>      "evidence": "요청 ID별 API 입력·결과·오류·재시도 대사",</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"공공기관 앱 개발자·운영자",</a:t>
            </a:r>
          </a:p>
          <a:p xmlns:a="http://schemas.openxmlformats.org/drawingml/2006/main">
            <a:r>
              <a:t>          "processing": "앱별 인증과 요청 종류·용량 확인",</a:t>
            </a:r>
          </a:p>
          <a:p xmlns:a="http://schemas.openxmlformats.org/drawingml/2006/main">
            <a:r>
              <a:t>          "output": "API 요청"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"문서·검색·모델 서비스",</a:t>
            </a:r>
          </a:p>
          <a:p xmlns:a="http://schemas.openxmlformats.org/drawingml/2006/main">
            <a:r>
              <a:t>          "processing": "문서·음성의 전처리와 검색용 자료 구성",</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"API 요청",</a:t>
            </a:r>
          </a:p>
          <a:p xmlns:a="http://schemas.openxmlformats.org/drawingml/2006/main">
            <a:r>
              <a:t>          "processing": "작업에 맞는 모델·검색·변환 API 호출",</a:t>
            </a:r>
          </a:p>
          <a:p xmlns:a="http://schemas.openxmlformats.org/drawingml/2006/main">
            <a:r>
              <a:t>          "output": "공통 처리 결과"</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"공통 처리 결과",</a:t>
            </a:r>
          </a:p>
          <a:p xmlns:a="http://schemas.openxmlformats.org/drawingml/2006/main">
            <a:r>
              <a:t>          "processing": "구조화된 API 결과를 기관 업무 앱에 전달",</a:t>
            </a:r>
          </a:p>
          <a:p xmlns:a="http://schemas.openxmlformats.org/drawingml/2006/main">
            <a:r>
              <a:t>          "output": "사용량·업무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"호출 실패·처리시간·사용량·품질 관측",</a:t>
            </a:r>
          </a:p>
          <a:p xmlns:a="http://schemas.openxmlformats.org/drawingml/2006/main">
            <a:r>
              <a:t>          "output": "요청 ID별 API 입력·결과·오류·재시도 대사"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"호출 실패·처리시간·사용량·품질 관측",</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"운영기관 서비스·API 설명",</a:t>
            </a:r>
          </a:p>
          <a:p xmlns:a="http://schemas.openxmlformats.org/drawingml/2006/main">
            <a:r>
              <a:t>        "url": "https://ia.numerique.gouv.fr/outils-ia/albert-api/offre-de-services/"</a:t>
            </a:r>
          </a:p>
          <a:p xmlns:a="http://schemas.openxmlformats.org/drawingml/2006/main">
            <a:r>
              <a:t>      }</a:t>
            </a:r>
          </a:p>
          <a:p xmlns:a="http://schemas.openxmlformats.org/drawingml/2006/main">
            <a:r>
              <a:t>    ],</a:t>
            </a:r>
          </a:p>
          <a:p xmlns:a="http://schemas.openxmlformats.org/drawingml/2006/main">
            <a:r>
              <a:t>    "implication": "OCR·검색·전사 기능을 공통 서비스로 묶고 부서 업무 앱에서 조합",</a:t>
            </a:r>
          </a:p>
          <a:p xmlns:a="http://schemas.openxmlformats.org/drawingml/2006/main">
            <a:r>
              <a:t>    "local": "OCR·검색·전사 기능을 공통 서비스로 묶고 부서 업무 앱에서 조합",</a:t>
            </a:r>
          </a:p>
          <a:p xmlns:a="http://schemas.openxmlformats.org/drawingml/2006/main">
            <a:r>
              <a:t>    "sourceDetail": null,</a:t>
            </a:r>
          </a:p>
          <a:p xmlns:a="http://schemas.openxmlformats.org/drawingml/2006/main">
            <a:r>
              <a:t>    "narrative": [</a:t>
            </a:r>
          </a:p>
          <a:p xmlns:a="http://schemas.openxmlformats.org/drawingml/2006/main">
            <a:r>
              <a:t>      "프랑스 Albert API는 공공기관이 자체 업무 서비스에 AI 기능을 붙일 수 있도록 공통 API를 제공하는 사례. 완성형 챗봇뿐 아니라 문서·음성 처리와 모델 기능을 업무 앱에서 선택해 활용하는 구조.",</a:t>
            </a:r>
          </a:p>
          <a:p xmlns:a="http://schemas.openxmlformats.org/drawingml/2006/main">
            <a:r>
              <a:t>      "공개 API 명세의 Bearer 인증, 모델 조회, OCR, 음성 전사, 사용량 관측 기능을 기준으로 요청·변환·추론·결과 반환 계층을 구성. 업무 서비스는 인증·입력 제약·오류 처리·출력 활용을 담당하고 공통 API는 호출 가능한 기능을 제공하는 책임 분리.",</a:t>
            </a:r>
          </a:p>
          <a:p xmlns:a="http://schemas.openxmlformats.org/drawingml/2006/main">
            <a:r>
              <a:t>      "CCK 기능 재사용 단위를 화면보다 API 계약으로 정의하는 참고. 요청 크기·형식 오류·인증 실패·타임아웃·재시도·중복 호출에 대한 시험과 부서별 호출 이력·비용·개인정보 처리 기준의 연결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"기관 앱 API",</a:t>
            </a:r>
          </a:p>
          <a:p xmlns:a="http://schemas.openxmlformats.org/drawingml/2006/main">
            <a:r>
              <a:t>          "layer": "이용 접점",</a:t>
            </a:r>
          </a:p>
          <a:p xmlns:a="http://schemas.openxmlformats.org/drawingml/2006/main">
            <a:r>
              <a:t>          "detail": "공공기관 앱 개발자·운영자",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"Bearer 인증",</a:t>
            </a:r>
          </a:p>
          <a:p xmlns:a="http://schemas.openxmlformats.org/drawingml/2006/main">
            <a:r>
              <a:t>          "layer": "업무 문맥",</a:t>
            </a:r>
          </a:p>
          <a:p xmlns:a="http://schemas.openxmlformats.org/drawingml/2006/main">
            <a:r>
              <a:t>          "detail": "앱별 인증과 요청 종류·용량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"모델·기능 선택",</a:t>
            </a:r>
          </a:p>
          <a:p xmlns:a="http://schemas.openxmlformats.org/drawingml/2006/main">
            <a:r>
              <a:t>          "layer": "자료 조회",</a:t>
            </a:r>
          </a:p>
          <a:p xmlns:a="http://schemas.openxmlformats.org/drawingml/2006/main">
            <a:r>
              <a:t>          "detail": "API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"검색·OCR·전사",</a:t>
            </a:r>
          </a:p>
          <a:p xmlns:a="http://schemas.openxmlformats.org/drawingml/2006/main">
            <a:r>
              <a:t>          "layer": "핵심 처리",</a:t>
            </a:r>
          </a:p>
          <a:p xmlns:a="http://schemas.openxmlformats.org/drawingml/2006/main">
            <a:r>
              <a:t>          "detail": "작업에 맞는 모델·검색·변환 API 호출",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"응답·오류 검사",</a:t>
            </a:r>
          </a:p>
          <a:p xmlns:a="http://schemas.openxmlformats.org/drawingml/2006/main">
            <a:r>
              <a:t>          "layer": "결과 검증",</a:t>
            </a:r>
          </a:p>
          <a:p xmlns:a="http://schemas.openxmlformats.org/drawingml/2006/main">
            <a:r>
              <a:t>          "detail": "호출 계약·오류·단가·대체 경로",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"앱 후처리",</a:t>
            </a:r>
          </a:p>
          <a:p xmlns:a="http://schemas.openxmlformats.org/drawingml/2006/main">
            <a:r>
              <a:t>          "layer": "사람 확인",</a:t>
            </a:r>
          </a:p>
          <a:p xmlns:a="http://schemas.openxmlformats.org/drawingml/2006/main">
            <a:r>
              <a:t>          "detail": "기관 앱이 문서 OCR 후 검색·요약 API를 호출",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"구조화 API 결과",</a:t>
            </a:r>
          </a:p>
          <a:p xmlns:a="http://schemas.openxmlformats.org/drawingml/2006/main">
            <a:r>
              <a:t>          "layer": "업무 연결",</a:t>
            </a:r>
          </a:p>
          <a:p xmlns:a="http://schemas.openxmlformats.org/drawingml/2006/main">
            <a:r>
              <a:t>          "detail": "구조화된 API 결과를 기관 업무 앱에 전달",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"상태·지표 수집",</a:t>
            </a:r>
          </a:p>
          <a:p xmlns:a="http://schemas.openxmlformats.org/drawingml/2006/main">
            <a:r>
              <a:t>          "layer": "운영 관측",</a:t>
            </a:r>
          </a:p>
          <a:p xmlns:a="http://schemas.openxmlformats.org/drawingml/2006/main">
            <a:r>
              <a:t>          "detail": "호출 실패·처리시간·사용량·품질 관측",</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"문서·음성·질의",</a:t>
            </a:r>
          </a:p>
          <a:p xmlns:a="http://schemas.openxmlformats.org/drawingml/2006/main">
            <a:r>
              <a:t>          "layer": "데이터 원천",</a:t>
            </a:r>
          </a:p>
          <a:p xmlns:a="http://schemas.openxmlformats.org/drawingml/2006/main">
            <a:r>
              <a:t>          "detail": "문서·검색·모델 서비스",</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"파일·인자 정리",</a:t>
            </a:r>
          </a:p>
          <a:p xmlns:a="http://schemas.openxmlformats.org/drawingml/2006/main">
            <a:r>
              <a:t>          "layer": "준비·갱신",</a:t>
            </a:r>
          </a:p>
          <a:p xmlns:a="http://schemas.openxmlformats.org/drawingml/2006/main">
            <a:r>
              <a:t>          "detail": "문서·음성의 전처리와 검색용 자료 구성",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"처리·사용 기록",</a:t>
            </a:r>
          </a:p>
          <a:p xmlns:a="http://schemas.openxmlformats.org/drawingml/2006/main">
            <a:r>
              <a:t>          "layer": "상태·지식 저장",</a:t>
            </a:r>
          </a:p>
          <a:p xmlns:a="http://schemas.openxmlformats.org/drawingml/2006/main">
            <a:r>
              <a:t>          "detail": "요청 ID별 API 입력·결과·오류·재시도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"API 계약·한도",</a:t>
            </a:r>
          </a:p>
          <a:p xmlns:a="http://schemas.openxmlformats.org/drawingml/2006/main">
            <a:r>
              <a:t>          "layer": "권한·정책",</a:t>
            </a:r>
          </a:p>
          <a:p xmlns:a="http://schemas.openxmlformats.org/drawingml/2006/main">
            <a:r>
              <a:t>          "detail": "잘못된 파일·과도한 요청·일부 단계 실패",</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"앱별 인증과 요청 종류·용량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"API 요청",</a:t>
            </a:r>
          </a:p>
          <a:p xmlns:a="http://schemas.openxmlformats.org/drawingml/2006/main">
            <a:r>
              <a:t>          "check": "호출 계약·오류·단가·대체 경로"</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"인증·호출 인자",</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"공통 처리 결과",</a:t>
            </a:r>
          </a:p>
          <a:p xmlns:a="http://schemas.openxmlformats.org/drawingml/2006/main">
            <a:r>
              <a:t>          "check": "잘못된 파일·과도한 요청·일부 단계 실패"</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"공통 처리 결과",</a:t>
            </a:r>
          </a:p>
          <a:p xmlns:a="http://schemas.openxmlformats.org/drawingml/2006/main">
            <a:r>
              <a:t>          "check": "구조화된 API 결과를 기관 업무 앱에 전달"</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"사용량·업무 결과",</a:t>
            </a:r>
          </a:p>
          <a:p xmlns:a="http://schemas.openxmlformats.org/drawingml/2006/main">
            <a:r>
              <a:t>          "check": "요청 ID별 API 입력·결과·오류·재시도 대사"</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"Albert API 공식 OpenAPI 문서",</a:t>
            </a:r>
          </a:p>
          <a:p xmlns:a="http://schemas.openxmlformats.org/drawingml/2006/main">
            <a:r>
              <a:t>        "extracted": "Bearer 인증·모델 목록·음성 전사·OCR·모니터링 API",</a:t>
            </a:r>
          </a:p>
          <a:p xmlns:a="http://schemas.openxmlformats.org/drawingml/2006/main">
            <a:r>
              <a:t>        "extension": "앱별 오류 변환·요청 추적·재시도 한도의 적용 설계"</a:t>
            </a:r>
          </a:p>
          <a:p xmlns:a="http://schemas.openxmlformats.org/drawingml/2006/main">
            <a:r>
              <a:t>      },</a:t>
            </a:r>
          </a:p>
          <a:p xmlns:a="http://schemas.openxmlformats.org/drawingml/2006/main">
            <a:r>
              <a:t>      "figures": [],</a:t>
            </a:r>
          </a:p>
          <a:p xmlns:a="http://schemas.openxmlformats.org/drawingml/2006/main">
            <a:r>
              <a:t>      "source": {</a:t>
            </a:r>
          </a:p>
          <a:p xmlns:a="http://schemas.openxmlformats.org/drawingml/2006/main">
            <a:r>
              <a:t>        "title": "DINUM Albert API · 공식 OpenAPI",</a:t>
            </a:r>
          </a:p>
          <a:p xmlns:a="http://schemas.openxmlformats.org/drawingml/2006/main">
            <a:r>
              <a:t>        "url": "https://albert.api.etalab.gouv.fr/reference"</a:t>
            </a:r>
          </a:p>
          <a:p xmlns:a="http://schemas.openxmlformats.org/drawingml/2006/main">
            <a:r>
              <a:t>      },</a:t>
            </a:r>
          </a:p>
          <a:p xmlns:a="http://schemas.openxmlformats.org/drawingml/2006/main">
            <a:r>
              <a:t>      "exception": {</a:t>
            </a:r>
          </a:p>
          <a:p xmlns:a="http://schemas.openxmlformats.org/drawingml/2006/main">
            <a:r>
              <a:t>        "input": "잘못된 파일·과도한 요청·일부 단계 실패",</a:t>
            </a:r>
          </a:p>
          <a:p xmlns:a="http://schemas.openxmlformats.org/drawingml/2006/main">
            <a:r>
              <a:t>        "hold": "호출 계약·오류·단가·대체 경로",</a:t>
            </a:r>
          </a:p>
          <a:p xmlns:a="http://schemas.openxmlformats.org/drawingml/2006/main">
            <a:r>
              <a:t>        "recovery": "호출 실패·처리시간·사용량·품질 관측",</a:t>
            </a:r>
          </a:p>
          <a:p xmlns:a="http://schemas.openxmlformats.org/drawingml/2006/main">
            <a:r>
              <a:t>        "evidence": "요청 ID별 API 입력·결과·오류·재시도 대사"</a:t>
            </a:r>
          </a:p>
          <a:p xmlns:a="http://schemas.openxmlformats.org/drawingml/2006/main">
            <a:r>
              <a:t>      },</a:t>
            </a:r>
          </a:p>
          <a:p xmlns:a="http://schemas.openxmlformats.org/drawingml/2006/main">
            <a:r>
              <a:t>      "data": {</a:t>
            </a:r>
          </a:p>
          <a:p xmlns:a="http://schemas.openxmlformats.org/drawingml/2006/main">
            <a:r>
              <a:t>        "source": "문서·검색·모델 서비스",</a:t>
            </a:r>
          </a:p>
          <a:p xmlns:a="http://schemas.openxmlformats.org/drawingml/2006/main">
            <a:r>
              <a:t>        "prepare": "문서·음성의 전처리와 검색용 자료 구성",</a:t>
            </a:r>
          </a:p>
          <a:p xmlns:a="http://schemas.openxmlformats.org/drawingml/2006/main">
            <a:r>
              <a:t>        "output": "API 요청",</a:t>
            </a:r>
          </a:p>
          <a:p xmlns:a="http://schemas.openxmlformats.org/drawingml/2006/main">
            <a:r>
              <a:t>        "refresh": "호출 실패·처리시간·사용량·품질 관측"</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"PF06",</a:t>
            </a:r>
          </a:p>
          <a:p xmlns:a="http://schemas.openxmlformats.org/drawingml/2006/main">
            <a:r>
              <a:t>    "success": [</a:t>
            </a:r>
          </a:p>
          <a:p xmlns:a="http://schemas.openxmlformats.org/drawingml/2006/main">
            <a:r>
              <a:t>      "모델·검색·문서·음성 기능의 API화",</a:t>
            </a:r>
          </a:p>
          <a:p xmlns:a="http://schemas.openxmlformats.org/drawingml/2006/main">
            <a:r>
              <a:t>      "프로젝트별 사용량 관리"</a:t>
            </a:r>
          </a:p>
          <a:p xmlns:a="http://schemas.openxmlformats.org/drawingml/2006/main">
            <a:r>
              <a:t>    ],</a:t>
            </a:r>
          </a:p>
          <a:p xmlns:a="http://schemas.openxmlformats.org/drawingml/2006/main">
            <a:r>
              <a:t>    "risks": [</a:t>
            </a:r>
          </a:p>
          <a:p xmlns:a="http://schemas.openxmlformats.org/drawingml/2006/main">
            <a:r>
              <a:t>      "공통 API 의존·장애 영향",</a:t>
            </a:r>
          </a:p>
          <a:p xmlns:a="http://schemas.openxmlformats.org/drawingml/2006/main">
            <a:r>
              <a:t>      "기관별 정책을 공통 기능으로 대체"</a:t>
            </a:r>
          </a:p>
          <a:p xmlns:a="http://schemas.openxmlformats.org/drawingml/2006/main">
            <a:r>
              <a:t>    ],</a:t>
            </a:r>
          </a:p>
          <a:p xmlns:a="http://schemas.openxmlformats.org/drawingml/2006/main">
            <a:r>
              <a:t>    "architecture": [</a:t>
            </a:r>
          </a:p>
          <a:p xmlns:a="http://schemas.openxmlformats.org/drawingml/2006/main">
            <a:r>
              <a:t>      "기관 업무 앱",</a:t>
            </a:r>
          </a:p>
          <a:p xmlns:a="http://schemas.openxmlformats.org/drawingml/2006/main">
            <a:r>
              <a:t>      "Albert API",</a:t>
            </a:r>
          </a:p>
          <a:p xmlns:a="http://schemas.openxmlformats.org/drawingml/2006/main">
            <a:r>
              <a:t>      "문서·검색·모델 서비스",</a:t>
            </a:r>
          </a:p>
          <a:p xmlns:a="http://schemas.openxmlformats.org/drawingml/2006/main">
            <a:r>
              <a:t>      "프로젝트 운영자"</a:t>
            </a:r>
          </a:p>
          <a:p xmlns:a="http://schemas.openxmlformats.org/drawingml/2006/main">
            <a:r>
              <a:t>    ],</a:t>
            </a:r>
          </a:p>
          <a:p xmlns:a="http://schemas.openxmlformats.org/drawingml/2006/main">
            <a:r>
              <a:t>    "transfers": [</a:t>
            </a:r>
          </a:p>
          <a:p xmlns:a="http://schemas.openxmlformats.org/drawingml/2006/main">
            <a:r>
              <a:t>      "API 요청",</a:t>
            </a:r>
          </a:p>
          <a:p xmlns:a="http://schemas.openxmlformats.org/drawingml/2006/main">
            <a:r>
              <a:t>      "인증·호출 인자",</a:t>
            </a:r>
          </a:p>
          <a:p xmlns:a="http://schemas.openxmlformats.org/drawingml/2006/main">
            <a:r>
              <a:t>      "공통 처리 결과",</a:t>
            </a:r>
          </a:p>
          <a:p xmlns:a="http://schemas.openxmlformats.org/drawingml/2006/main">
            <a:r>
              <a:t>      "사용량·업무 결과"</a:t>
            </a:r>
          </a:p>
          <a:p xmlns:a="http://schemas.openxmlformats.org/drawingml/2006/main">
            <a:r>
              <a:t>    ],</a:t>
            </a:r>
          </a:p>
          <a:p xmlns:a="http://schemas.openxmlformats.org/drawingml/2006/main">
            <a:r>
              <a:t>    "control": "호출 계약·오류·단가·대체 경로",</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운영기관 서비스·API 설명 https://ia.numerique.gouv.fr/outils-ia/albert-api/offre-de-services/</a:t>
            </a:r>
          </a:p>
          <a:p xmlns:a="http://schemas.openxmlformats.org/drawingml/2006/main">
            <a:r>
              <a:t>홈페이지 https://heen1987-ops.github.io/TS-business-Plan-001/index.html?view=platform-cases&amp;case=PF06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"PF06",</a:t>
            </a:r>
          </a:p>
          <a:p xmlns:a="http://schemas.openxmlformats.org/drawingml/2006/main">
            <a:r>
              <a:t>    "sourceId": "A10",</a:t>
            </a:r>
          </a:p>
          <a:p xmlns:a="http://schemas.openxmlformats.org/drawingml/2006/main">
            <a:r>
              <a:t>    "title": "프랑스 Albert API",</a:t>
            </a:r>
          </a:p>
          <a:p xmlns:a="http://schemas.openxmlformats.org/drawingml/2006/main">
            <a:r>
              <a:t>    "region": "해외",</a:t>
            </a:r>
          </a:p>
          <a:p xmlns:a="http://schemas.openxmlformats.org/drawingml/2006/main">
            <a:r>
              <a:t>    "owner": "DINUM",</a:t>
            </a:r>
          </a:p>
          <a:p xmlns:a="http://schemas.openxmlformats.org/drawingml/2006/main">
            <a:r>
              <a:t>    "state": "공통 API 운영",</a:t>
            </a:r>
          </a:p>
          <a:p xmlns:a="http://schemas.openxmlformats.org/drawingml/2006/main">
            <a:r>
              <a:t>    "period": "열람 2026.10",</a:t>
            </a:r>
          </a:p>
          <a:p xmlns:a="http://schemas.openxmlformats.org/drawingml/2006/main">
            <a:r>
              <a:t>    "fact": "모델·검색·OCR·음성전사 등 공통 AI 기능의 API 제공",</a:t>
            </a:r>
          </a:p>
          <a:p xmlns:a="http://schemas.openxmlformats.org/drawingml/2006/main">
            <a:r>
              <a:t>    "limit": "서비스 기능 확인 · 공개 이용 통계와 업무성과의 별도 평가",</a:t>
            </a:r>
          </a:p>
          <a:p xmlns:a="http://schemas.openxmlformats.org/drawingml/2006/main">
            <a:r>
              <a:t>    "nodes": [</a:t>
            </a:r>
          </a:p>
          <a:p xmlns:a="http://schemas.openxmlformats.org/drawingml/2006/main">
            <a:r>
              <a:t>      "업무 앱",</a:t>
            </a:r>
          </a:p>
          <a:p xmlns:a="http://schemas.openxmlformats.org/drawingml/2006/main">
            <a:r>
              <a:t>      "공통 API·접근관리",</a:t>
            </a:r>
          </a:p>
          <a:p xmlns:a="http://schemas.openxmlformats.org/drawingml/2006/main">
            <a:r>
              <a:t>      "모델·검색·문서·음성",</a:t>
            </a:r>
          </a:p>
          <a:p xmlns:a="http://schemas.openxmlformats.org/drawingml/2006/main">
            <a:r>
              <a:t>      "프로젝트·사용량 관리"</a:t>
            </a:r>
          </a:p>
          <a:p xmlns:a="http://schemas.openxmlformats.org/drawingml/2006/main">
            <a:r>
              <a:t>    ],</a:t>
            </a:r>
          </a:p>
          <a:p xmlns:a="http://schemas.openxmlformats.org/drawingml/2006/main">
            <a:r>
              <a:t>    "apply": "OCR·검색·전사 기능을 공통 서비스로 묶고 부서 업무 앱에서 조합",</a:t>
            </a:r>
          </a:p>
          <a:p xmlns:a="http://schemas.openxmlformats.org/drawingml/2006/main">
            <a:r>
              <a:t>    "delta": "API 계약·사용 정책·부서별 사용량·장애 격리",</a:t>
            </a:r>
          </a:p>
          <a:p xmlns:a="http://schemas.openxmlformats.org/drawingml/2006/main">
            <a:r>
              <a:t>    "test": "공통 기능 계약 시험 / 지연·실패·비용의 업무별 분리",</a:t>
            </a:r>
          </a:p>
          <a:p xmlns:a="http://schemas.openxmlformats.org/drawingml/2006/main">
            <a:r>
              <a:t>    "url": "https://ia.numerique.gouv.fr/outils-ia/albert-api/offre-de-services/",</a:t>
            </a:r>
          </a:p>
          <a:p xmlns:a="http://schemas.openxmlformats.org/drawingml/2006/main">
            <a:r>
              <a:t>    "basis": "운영기관 서비스·API 설명",</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"https://ia.numerique.gouv.fr/outils-ia/albert-api/offre-de-services/",</a:t>
            </a:r>
          </a:p>
          <a:p xmlns:a="http://schemas.openxmlformats.org/drawingml/2006/main">
            <a:r>
              <a:t>      "https://www.numerique.gouv.fr/offre-accompagnement/expertise-albert-ia-etat/",</a:t>
            </a:r>
          </a:p>
          <a:p xmlns:a="http://schemas.openxmlformats.org/drawingml/2006/main">
            <a:r>
              <a:t>      "https://ia.numerique.gouv.fr/outils-ia/albert-api/statistiques/"</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"PF06",</a:t>
            </a:r>
          </a:p>
          <a:p xmlns:a="http://schemas.openxmlformats.org/drawingml/2006/main">
            <a:r>
              <a:t>    "canonicalId": "PF06",</a:t>
            </a:r>
          </a:p>
          <a:p xmlns:a="http://schemas.openxmlformats.org/drawingml/2006/main">
            <a:r>
              <a:t>    "purpose": "기관별 AI 앱을 위한 공통 API 제공",</a:t>
            </a:r>
          </a:p>
          <a:p xmlns:a="http://schemas.openxmlformats.org/drawingml/2006/main">
            <a:r>
              <a:t>    "users": "공공기관 앱 개발자·운영자",</a:t>
            </a:r>
          </a:p>
          <a:p xmlns:a="http://schemas.openxmlformats.org/drawingml/2006/main">
            <a:r>
              <a:t>    "scope": [</a:t>
            </a:r>
          </a:p>
          <a:p xmlns:a="http://schemas.openxmlformats.org/drawingml/2006/main">
            <a:r>
              <a:t>      "모델·검색",</a:t>
            </a:r>
          </a:p>
          <a:p xmlns:a="http://schemas.openxmlformats.org/drawingml/2006/main">
            <a:r>
              <a:t>      "OCR",</a:t>
            </a:r>
          </a:p>
          <a:p xmlns:a="http://schemas.openxmlformats.org/drawingml/2006/main">
            <a:r>
              <a:t>      "음성전사"</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"기관 업무 앱",</a:t>
            </a:r>
          </a:p>
          <a:p xmlns:a="http://schemas.openxmlformats.org/drawingml/2006/main">
            <a:r>
              <a:t>        "detail": "앱별 인증과 요청 종류·용량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"모델·검색 / OCR / 음성전사",</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"Albert API",</a:t>
            </a:r>
          </a:p>
          <a:p xmlns:a="http://schemas.openxmlformats.org/drawingml/2006/main">
            <a:r>
              <a:t>        "detail": "작업에 맞는 모델·검색·변환 API 호출",</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"프로젝트 운영자",</a:t>
            </a:r>
          </a:p>
          <a:p xmlns:a="http://schemas.openxmlformats.org/drawingml/2006/main">
            <a:r>
              <a:t>        "detail": "구조화된 API 결과를 기관 업무 앱에 전달",</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"문서·검색·모델 서비스",</a:t>
            </a:r>
          </a:p>
          <a:p xmlns:a="http://schemas.openxmlformats.org/drawingml/2006/main">
            <a:r>
              <a:t>        "detail": "문서·음성의 전처리와 검색용 자료 구성",</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"호출 실패·처리시간·사용량·품질 관측",</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"업무 앱",</a:t>
            </a:r>
          </a:p>
          <a:p xmlns:a="http://schemas.openxmlformats.org/drawingml/2006/main">
            <a:r>
              <a:t>        "input": "앱별 인증과 요청 종류·용량 확인",</a:t>
            </a:r>
          </a:p>
          <a:p xmlns:a="http://schemas.openxmlformats.org/drawingml/2006/main">
            <a:r>
              <a:t>        "process": "문서·음성의 전처리와 검색용 자료 구성",</a:t>
            </a:r>
          </a:p>
          <a:p xmlns:a="http://schemas.openxmlformats.org/drawingml/2006/main">
            <a:r>
              <a:t>        "output": "API 요청"</a:t>
            </a:r>
          </a:p>
          <a:p xmlns:a="http://schemas.openxmlformats.org/drawingml/2006/main">
            <a:r>
              <a:t>      },</a:t>
            </a:r>
          </a:p>
          <a:p xmlns:a="http://schemas.openxmlformats.org/drawingml/2006/main">
            <a:r>
              <a:t>      {</a:t>
            </a:r>
          </a:p>
          <a:p xmlns:a="http://schemas.openxmlformats.org/drawingml/2006/main">
            <a:r>
              <a:t>        "title": "공통 API·접근관리",</a:t>
            </a:r>
          </a:p>
          <a:p xmlns:a="http://schemas.openxmlformats.org/drawingml/2006/main">
            <a:r>
              <a:t>        "input": "API 요청",</a:t>
            </a:r>
          </a:p>
          <a:p xmlns:a="http://schemas.openxmlformats.org/drawingml/2006/main">
            <a:r>
              <a:t>        "process": "작업에 맞는 모델·검색·변환 API 호출",</a:t>
            </a:r>
          </a:p>
          <a:p xmlns:a="http://schemas.openxmlformats.org/drawingml/2006/main">
            <a:r>
              <a:t>        "output": "인증·호출 인자"</a:t>
            </a:r>
          </a:p>
          <a:p xmlns:a="http://schemas.openxmlformats.org/drawingml/2006/main">
            <a:r>
              <a:t>      },</a:t>
            </a:r>
          </a:p>
          <a:p xmlns:a="http://schemas.openxmlformats.org/drawingml/2006/main">
            <a:r>
              <a:t>      {</a:t>
            </a:r>
          </a:p>
          <a:p xmlns:a="http://schemas.openxmlformats.org/drawingml/2006/main">
            <a:r>
              <a:t>        "title": "모델·검색·문서·음성",</a:t>
            </a:r>
          </a:p>
          <a:p xmlns:a="http://schemas.openxmlformats.org/drawingml/2006/main">
            <a:r>
              <a:t>        "input": "인증·호출 인자",</a:t>
            </a:r>
          </a:p>
          <a:p xmlns:a="http://schemas.openxmlformats.org/drawingml/2006/main">
            <a:r>
              <a:t>        "process": "호출 계약·오류·단가·대체 경로",</a:t>
            </a:r>
          </a:p>
          <a:p xmlns:a="http://schemas.openxmlformats.org/drawingml/2006/main">
            <a:r>
              <a:t>        "output": "공통 처리 결과"</a:t>
            </a:r>
          </a:p>
          <a:p xmlns:a="http://schemas.openxmlformats.org/drawingml/2006/main">
            <a:r>
              <a:t>      },</a:t>
            </a:r>
          </a:p>
          <a:p xmlns:a="http://schemas.openxmlformats.org/drawingml/2006/main">
            <a:r>
              <a:t>      {</a:t>
            </a:r>
          </a:p>
          <a:p xmlns:a="http://schemas.openxmlformats.org/drawingml/2006/main">
            <a:r>
              <a:t>        "title": "프로젝트·사용량 관리",</a:t>
            </a:r>
          </a:p>
          <a:p xmlns:a="http://schemas.openxmlformats.org/drawingml/2006/main">
            <a:r>
              <a:t>        "input": "공통 처리 결과",</a:t>
            </a:r>
          </a:p>
          <a:p xmlns:a="http://schemas.openxmlformats.org/drawingml/2006/main">
            <a:r>
              <a:t>        "process": "구조화된 API 결과를 기관 업무 앱에 전달",</a:t>
            </a:r>
          </a:p>
          <a:p xmlns:a="http://schemas.openxmlformats.org/drawingml/2006/main">
            <a:r>
              <a:t>        "output": "사용량·업무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"기관 앱이 문서 OCR 후 검색·요약 API를 호출",</a:t>
            </a:r>
          </a:p>
          <a:p xmlns:a="http://schemas.openxmlformats.org/drawingml/2006/main">
            <a:r>
              <a:t>      "exception": "잘못된 파일·과도한 요청·일부 단계 실패",</a:t>
            </a:r>
          </a:p>
          <a:p xmlns:a="http://schemas.openxmlformats.org/drawingml/2006/main">
            <a:r>
              <a:t>      "evidence": "요청 ID별 API 입력·결과·오류·재시도 대사",</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"공공기관 앱 개발자·운영자",</a:t>
            </a:r>
          </a:p>
          <a:p xmlns:a="http://schemas.openxmlformats.org/drawingml/2006/main">
            <a:r>
              <a:t>          "processing": "앱별 인증과 요청 종류·용량 확인",</a:t>
            </a:r>
          </a:p>
          <a:p xmlns:a="http://schemas.openxmlformats.org/drawingml/2006/main">
            <a:r>
              <a:t>          "output": "API 요청"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"문서·검색·모델 서비스",</a:t>
            </a:r>
          </a:p>
          <a:p xmlns:a="http://schemas.openxmlformats.org/drawingml/2006/main">
            <a:r>
              <a:t>          "processing": "문서·음성의 전처리와 검색용 자료 구성",</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"API 요청",</a:t>
            </a:r>
          </a:p>
          <a:p xmlns:a="http://schemas.openxmlformats.org/drawingml/2006/main">
            <a:r>
              <a:t>          "processing": "작업에 맞는 모델·검색·변환 API 호출",</a:t>
            </a:r>
          </a:p>
          <a:p xmlns:a="http://schemas.openxmlformats.org/drawingml/2006/main">
            <a:r>
              <a:t>          "output": "공통 처리 결과"</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"공통 처리 결과",</a:t>
            </a:r>
          </a:p>
          <a:p xmlns:a="http://schemas.openxmlformats.org/drawingml/2006/main">
            <a:r>
              <a:t>          "processing": "구조화된 API 결과를 기관 업무 앱에 전달",</a:t>
            </a:r>
          </a:p>
          <a:p xmlns:a="http://schemas.openxmlformats.org/drawingml/2006/main">
            <a:r>
              <a:t>          "output": "사용량·업무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"호출 실패·처리시간·사용량·품질 관측",</a:t>
            </a:r>
          </a:p>
          <a:p xmlns:a="http://schemas.openxmlformats.org/drawingml/2006/main">
            <a:r>
              <a:t>          "output": "요청 ID별 API 입력·결과·오류·재시도 대사"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"호출 실패·처리시간·사용량·품질 관측",</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"운영기관 서비스·API 설명",</a:t>
            </a:r>
          </a:p>
          <a:p xmlns:a="http://schemas.openxmlformats.org/drawingml/2006/main">
            <a:r>
              <a:t>        "url": "https://ia.numerique.gouv.fr/outils-ia/albert-api/offre-de-services/"</a:t>
            </a:r>
          </a:p>
          <a:p xmlns:a="http://schemas.openxmlformats.org/drawingml/2006/main">
            <a:r>
              <a:t>      }</a:t>
            </a:r>
          </a:p>
          <a:p xmlns:a="http://schemas.openxmlformats.org/drawingml/2006/main">
            <a:r>
              <a:t>    ],</a:t>
            </a:r>
          </a:p>
          <a:p xmlns:a="http://schemas.openxmlformats.org/drawingml/2006/main">
            <a:r>
              <a:t>    "implication": "OCR·검색·전사 기능을 공통 서비스로 묶고 부서 업무 앱에서 조합",</a:t>
            </a:r>
          </a:p>
          <a:p xmlns:a="http://schemas.openxmlformats.org/drawingml/2006/main">
            <a:r>
              <a:t>    "local": "OCR·검색·전사 기능을 공통 서비스로 묶고 부서 업무 앱에서 조합",</a:t>
            </a:r>
          </a:p>
          <a:p xmlns:a="http://schemas.openxmlformats.org/drawingml/2006/main">
            <a:r>
              <a:t>    "sourceDetail": null,</a:t>
            </a:r>
          </a:p>
          <a:p xmlns:a="http://schemas.openxmlformats.org/drawingml/2006/main">
            <a:r>
              <a:t>    "narrative": [</a:t>
            </a:r>
          </a:p>
          <a:p xmlns:a="http://schemas.openxmlformats.org/drawingml/2006/main">
            <a:r>
              <a:t>      "프랑스 Albert API는 공공기관이 자체 업무 서비스에 AI 기능을 붙일 수 있도록 공통 API를 제공하는 사례. 완성형 챗봇뿐 아니라 문서·음성 처리와 모델 기능을 업무 앱에서 선택해 활용하는 구조.",</a:t>
            </a:r>
          </a:p>
          <a:p xmlns:a="http://schemas.openxmlformats.org/drawingml/2006/main">
            <a:r>
              <a:t>      "공개 API 명세의 Bearer 인증, 모델 조회, OCR, 음성 전사, 사용량 관측 기능을 기준으로 요청·변환·추론·결과 반환 계층을 구성. 업무 서비스는 인증·입력 제약·오류 처리·출력 활용을 담당하고 공통 API는 호출 가능한 기능을 제공하는 책임 분리.",</a:t>
            </a:r>
          </a:p>
          <a:p xmlns:a="http://schemas.openxmlformats.org/drawingml/2006/main">
            <a:r>
              <a:t>      "CCK 기능 재사용 단위를 화면보다 API 계약으로 정의하는 참고. 요청 크기·형식 오류·인증 실패·타임아웃·재시도·중복 호출에 대한 시험과 부서별 호출 이력·비용·개인정보 처리 기준의 연결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"기관 앱 API",</a:t>
            </a:r>
          </a:p>
          <a:p xmlns:a="http://schemas.openxmlformats.org/drawingml/2006/main">
            <a:r>
              <a:t>          "layer": "이용 접점",</a:t>
            </a:r>
          </a:p>
          <a:p xmlns:a="http://schemas.openxmlformats.org/drawingml/2006/main">
            <a:r>
              <a:t>          "detail": "공공기관 앱 개발자·운영자",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"Bearer 인증",</a:t>
            </a:r>
          </a:p>
          <a:p xmlns:a="http://schemas.openxmlformats.org/drawingml/2006/main">
            <a:r>
              <a:t>          "layer": "업무 문맥",</a:t>
            </a:r>
          </a:p>
          <a:p xmlns:a="http://schemas.openxmlformats.org/drawingml/2006/main">
            <a:r>
              <a:t>          "detail": "앱별 인증과 요청 종류·용량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"모델·기능 선택",</a:t>
            </a:r>
          </a:p>
          <a:p xmlns:a="http://schemas.openxmlformats.org/drawingml/2006/main">
            <a:r>
              <a:t>          "layer": "자료 조회",</a:t>
            </a:r>
          </a:p>
          <a:p xmlns:a="http://schemas.openxmlformats.org/drawingml/2006/main">
            <a:r>
              <a:t>          "detail": "API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"검색·OCR·전사",</a:t>
            </a:r>
          </a:p>
          <a:p xmlns:a="http://schemas.openxmlformats.org/drawingml/2006/main">
            <a:r>
              <a:t>          "layer": "핵심 처리",</a:t>
            </a:r>
          </a:p>
          <a:p xmlns:a="http://schemas.openxmlformats.org/drawingml/2006/main">
            <a:r>
              <a:t>          "detail": "작업에 맞는 모델·검색·변환 API 호출",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"응답·오류 검사",</a:t>
            </a:r>
          </a:p>
          <a:p xmlns:a="http://schemas.openxmlformats.org/drawingml/2006/main">
            <a:r>
              <a:t>          "layer": "결과 검증",</a:t>
            </a:r>
          </a:p>
          <a:p xmlns:a="http://schemas.openxmlformats.org/drawingml/2006/main">
            <a:r>
              <a:t>          "detail": "호출 계약·오류·단가·대체 경로",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"앱 후처리",</a:t>
            </a:r>
          </a:p>
          <a:p xmlns:a="http://schemas.openxmlformats.org/drawingml/2006/main">
            <a:r>
              <a:t>          "layer": "사람 확인",</a:t>
            </a:r>
          </a:p>
          <a:p xmlns:a="http://schemas.openxmlformats.org/drawingml/2006/main">
            <a:r>
              <a:t>          "detail": "기관 앱이 문서 OCR 후 검색·요약 API를 호출",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"구조화 API 결과",</a:t>
            </a:r>
          </a:p>
          <a:p xmlns:a="http://schemas.openxmlformats.org/drawingml/2006/main">
            <a:r>
              <a:t>          "layer": "업무 연결",</a:t>
            </a:r>
          </a:p>
          <a:p xmlns:a="http://schemas.openxmlformats.org/drawingml/2006/main">
            <a:r>
              <a:t>          "detail": "구조화된 API 결과를 기관 업무 앱에 전달",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"상태·지표 수집",</a:t>
            </a:r>
          </a:p>
          <a:p xmlns:a="http://schemas.openxmlformats.org/drawingml/2006/main">
            <a:r>
              <a:t>          "layer": "운영 관측",</a:t>
            </a:r>
          </a:p>
          <a:p xmlns:a="http://schemas.openxmlformats.org/drawingml/2006/main">
            <a:r>
              <a:t>          "detail": "호출 실패·처리시간·사용량·품질 관측",</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"문서·음성·질의",</a:t>
            </a:r>
          </a:p>
          <a:p xmlns:a="http://schemas.openxmlformats.org/drawingml/2006/main">
            <a:r>
              <a:t>          "layer": "데이터 원천",</a:t>
            </a:r>
          </a:p>
          <a:p xmlns:a="http://schemas.openxmlformats.org/drawingml/2006/main">
            <a:r>
              <a:t>          "detail": "문서·검색·모델 서비스",</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"파일·인자 정리",</a:t>
            </a:r>
          </a:p>
          <a:p xmlns:a="http://schemas.openxmlformats.org/drawingml/2006/main">
            <a:r>
              <a:t>          "layer": "준비·갱신",</a:t>
            </a:r>
          </a:p>
          <a:p xmlns:a="http://schemas.openxmlformats.org/drawingml/2006/main">
            <a:r>
              <a:t>          "detail": "문서·음성의 전처리와 검색용 자료 구성",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"처리·사용 기록",</a:t>
            </a:r>
          </a:p>
          <a:p xmlns:a="http://schemas.openxmlformats.org/drawingml/2006/main">
            <a:r>
              <a:t>          "layer": "상태·지식 저장",</a:t>
            </a:r>
          </a:p>
          <a:p xmlns:a="http://schemas.openxmlformats.org/drawingml/2006/main">
            <a:r>
              <a:t>          "detail": "요청 ID별 API 입력·결과·오류·재시도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"API 계약·한도",</a:t>
            </a:r>
          </a:p>
          <a:p xmlns:a="http://schemas.openxmlformats.org/drawingml/2006/main">
            <a:r>
              <a:t>          "layer": "권한·정책",</a:t>
            </a:r>
          </a:p>
          <a:p xmlns:a="http://schemas.openxmlformats.org/drawingml/2006/main">
            <a:r>
              <a:t>          "detail": "잘못된 파일·과도한 요청·일부 단계 실패",</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"앱별 인증과 요청 종류·용량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"API 요청",</a:t>
            </a:r>
          </a:p>
          <a:p xmlns:a="http://schemas.openxmlformats.org/drawingml/2006/main">
            <a:r>
              <a:t>          "check": "호출 계약·오류·단가·대체 경로"</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"인증·호출 인자",</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"공통 처리 결과",</a:t>
            </a:r>
          </a:p>
          <a:p xmlns:a="http://schemas.openxmlformats.org/drawingml/2006/main">
            <a:r>
              <a:t>          "check": "잘못된 파일·과도한 요청·일부 단계 실패"</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"공통 처리 결과",</a:t>
            </a:r>
          </a:p>
          <a:p xmlns:a="http://schemas.openxmlformats.org/drawingml/2006/main">
            <a:r>
              <a:t>          "check": "구조화된 API 결과를 기관 업무 앱에 전달"</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"사용량·업무 결과",</a:t>
            </a:r>
          </a:p>
          <a:p xmlns:a="http://schemas.openxmlformats.org/drawingml/2006/main">
            <a:r>
              <a:t>          "check": "요청 ID별 API 입력·결과·오류·재시도 대사"</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"Albert API 공식 OpenAPI 문서",</a:t>
            </a:r>
          </a:p>
          <a:p xmlns:a="http://schemas.openxmlformats.org/drawingml/2006/main">
            <a:r>
              <a:t>        "extracted": "Bearer 인증·모델 목록·음성 전사·OCR·모니터링 API",</a:t>
            </a:r>
          </a:p>
          <a:p xmlns:a="http://schemas.openxmlformats.org/drawingml/2006/main">
            <a:r>
              <a:t>        "extension": "앱별 오류 변환·요청 추적·재시도 한도의 적용 설계"</a:t>
            </a:r>
          </a:p>
          <a:p xmlns:a="http://schemas.openxmlformats.org/drawingml/2006/main">
            <a:r>
              <a:t>      },</a:t>
            </a:r>
          </a:p>
          <a:p xmlns:a="http://schemas.openxmlformats.org/drawingml/2006/main">
            <a:r>
              <a:t>      "figures": [],</a:t>
            </a:r>
          </a:p>
          <a:p xmlns:a="http://schemas.openxmlformats.org/drawingml/2006/main">
            <a:r>
              <a:t>      "source": {</a:t>
            </a:r>
          </a:p>
          <a:p xmlns:a="http://schemas.openxmlformats.org/drawingml/2006/main">
            <a:r>
              <a:t>        "title": "DINUM Albert API · 공식 OpenAPI",</a:t>
            </a:r>
          </a:p>
          <a:p xmlns:a="http://schemas.openxmlformats.org/drawingml/2006/main">
            <a:r>
              <a:t>        "url": "https://albert.api.etalab.gouv.fr/reference"</a:t>
            </a:r>
          </a:p>
          <a:p xmlns:a="http://schemas.openxmlformats.org/drawingml/2006/main">
            <a:r>
              <a:t>      },</a:t>
            </a:r>
          </a:p>
          <a:p xmlns:a="http://schemas.openxmlformats.org/drawingml/2006/main">
            <a:r>
              <a:t>      "exception": {</a:t>
            </a:r>
          </a:p>
          <a:p xmlns:a="http://schemas.openxmlformats.org/drawingml/2006/main">
            <a:r>
              <a:t>        "input": "잘못된 파일·과도한 요청·일부 단계 실패",</a:t>
            </a:r>
          </a:p>
          <a:p xmlns:a="http://schemas.openxmlformats.org/drawingml/2006/main">
            <a:r>
              <a:t>        "hold": "호출 계약·오류·단가·대체 경로",</a:t>
            </a:r>
          </a:p>
          <a:p xmlns:a="http://schemas.openxmlformats.org/drawingml/2006/main">
            <a:r>
              <a:t>        "recovery": "호출 실패·처리시간·사용량·품질 관측",</a:t>
            </a:r>
          </a:p>
          <a:p xmlns:a="http://schemas.openxmlformats.org/drawingml/2006/main">
            <a:r>
              <a:t>        "evidence": "요청 ID별 API 입력·결과·오류·재시도 대사"</a:t>
            </a:r>
          </a:p>
          <a:p xmlns:a="http://schemas.openxmlformats.org/drawingml/2006/main">
            <a:r>
              <a:t>      },</a:t>
            </a:r>
          </a:p>
          <a:p xmlns:a="http://schemas.openxmlformats.org/drawingml/2006/main">
            <a:r>
              <a:t>      "data": {</a:t>
            </a:r>
          </a:p>
          <a:p xmlns:a="http://schemas.openxmlformats.org/drawingml/2006/main">
            <a:r>
              <a:t>        "source": "문서·검색·모델 서비스",</a:t>
            </a:r>
          </a:p>
          <a:p xmlns:a="http://schemas.openxmlformats.org/drawingml/2006/main">
            <a:r>
              <a:t>        "prepare": "문서·음성의 전처리와 검색용 자료 구성",</a:t>
            </a:r>
          </a:p>
          <a:p xmlns:a="http://schemas.openxmlformats.org/drawingml/2006/main">
            <a:r>
              <a:t>        "output": "API 요청",</a:t>
            </a:r>
          </a:p>
          <a:p xmlns:a="http://schemas.openxmlformats.org/drawingml/2006/main">
            <a:r>
              <a:t>        "refresh": "호출 실패·처리시간·사용량·품질 관측"</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"PF06",</a:t>
            </a:r>
          </a:p>
          <a:p xmlns:a="http://schemas.openxmlformats.org/drawingml/2006/main">
            <a:r>
              <a:t>    "success": [</a:t>
            </a:r>
          </a:p>
          <a:p xmlns:a="http://schemas.openxmlformats.org/drawingml/2006/main">
            <a:r>
              <a:t>      "모델·검색·문서·음성 기능의 API화",</a:t>
            </a:r>
          </a:p>
          <a:p xmlns:a="http://schemas.openxmlformats.org/drawingml/2006/main">
            <a:r>
              <a:t>      "프로젝트별 사용량 관리"</a:t>
            </a:r>
          </a:p>
          <a:p xmlns:a="http://schemas.openxmlformats.org/drawingml/2006/main">
            <a:r>
              <a:t>    ],</a:t>
            </a:r>
          </a:p>
          <a:p xmlns:a="http://schemas.openxmlformats.org/drawingml/2006/main">
            <a:r>
              <a:t>    "risks": [</a:t>
            </a:r>
          </a:p>
          <a:p xmlns:a="http://schemas.openxmlformats.org/drawingml/2006/main">
            <a:r>
              <a:t>      "공통 API 의존·장애 영향",</a:t>
            </a:r>
          </a:p>
          <a:p xmlns:a="http://schemas.openxmlformats.org/drawingml/2006/main">
            <a:r>
              <a:t>      "기관별 정책을 공통 기능으로 대체"</a:t>
            </a:r>
          </a:p>
          <a:p xmlns:a="http://schemas.openxmlformats.org/drawingml/2006/main">
            <a:r>
              <a:t>    ],</a:t>
            </a:r>
          </a:p>
          <a:p xmlns:a="http://schemas.openxmlformats.org/drawingml/2006/main">
            <a:r>
              <a:t>    "architecture": [</a:t>
            </a:r>
          </a:p>
          <a:p xmlns:a="http://schemas.openxmlformats.org/drawingml/2006/main">
            <a:r>
              <a:t>      "기관 업무 앱",</a:t>
            </a:r>
          </a:p>
          <a:p xmlns:a="http://schemas.openxmlformats.org/drawingml/2006/main">
            <a:r>
              <a:t>      "Albert API",</a:t>
            </a:r>
          </a:p>
          <a:p xmlns:a="http://schemas.openxmlformats.org/drawingml/2006/main">
            <a:r>
              <a:t>      "문서·검색·모델 서비스",</a:t>
            </a:r>
          </a:p>
          <a:p xmlns:a="http://schemas.openxmlformats.org/drawingml/2006/main">
            <a:r>
              <a:t>      "프로젝트 운영자"</a:t>
            </a:r>
          </a:p>
          <a:p xmlns:a="http://schemas.openxmlformats.org/drawingml/2006/main">
            <a:r>
              <a:t>    ],</a:t>
            </a:r>
          </a:p>
          <a:p xmlns:a="http://schemas.openxmlformats.org/drawingml/2006/main">
            <a:r>
              <a:t>    "transfers": [</a:t>
            </a:r>
          </a:p>
          <a:p xmlns:a="http://schemas.openxmlformats.org/drawingml/2006/main">
            <a:r>
              <a:t>      "API 요청",</a:t>
            </a:r>
          </a:p>
          <a:p xmlns:a="http://schemas.openxmlformats.org/drawingml/2006/main">
            <a:r>
              <a:t>      "인증·호출 인자",</a:t>
            </a:r>
          </a:p>
          <a:p xmlns:a="http://schemas.openxmlformats.org/drawingml/2006/main">
            <a:r>
              <a:t>      "공통 처리 결과",</a:t>
            </a:r>
          </a:p>
          <a:p xmlns:a="http://schemas.openxmlformats.org/drawingml/2006/main">
            <a:r>
              <a:t>      "사용량·업무 결과"</a:t>
            </a:r>
          </a:p>
          <a:p xmlns:a="http://schemas.openxmlformats.org/drawingml/2006/main">
            <a:r>
              <a:t>    ],</a:t>
            </a:r>
          </a:p>
          <a:p xmlns:a="http://schemas.openxmlformats.org/drawingml/2006/main">
            <a:r>
              <a:t>    "control": "호출 계약·오류·단가·대체 경로",</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운영기관 서비스·API 설명 https://ia.numerique.gouv.fr/outils-ia/albert-api/offre-de-services/</a:t>
            </a:r>
          </a:p>
          <a:p xmlns:a="http://schemas.openxmlformats.org/drawingml/2006/main">
            <a:r>
              <a:t>홈페이지 https://heen1987-ops.github.io/TS-business-Plan-001/index.html?view=platform-cases&amp;case=PF06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"PF07",</a:t>
            </a:r>
          </a:p>
          <a:p xmlns:a="http://schemas.openxmlformats.org/drawingml/2006/main">
            <a:r>
              <a:t>    "sourceId": "A11",</a:t>
            </a:r>
          </a:p>
          <a:p xmlns:a="http://schemas.openxmlformats.org/drawingml/2006/main">
            <a:r>
              <a:t>    "title": "에스토니아 Bürokratt",</a:t>
            </a:r>
          </a:p>
          <a:p xmlns:a="http://schemas.openxmlformats.org/drawingml/2006/main">
            <a:r>
              <a:t>    "region": "해외",</a:t>
            </a:r>
          </a:p>
          <a:p xmlns:a="http://schemas.openxmlformats.org/drawingml/2006/main">
            <a:r>
              <a:t>    "owner": "RIA·참여 기관",</a:t>
            </a:r>
          </a:p>
          <a:p xmlns:a="http://schemas.openxmlformats.org/drawingml/2006/main">
            <a:r>
              <a:t>    "state": "다기관 안내 운영",</a:t>
            </a:r>
          </a:p>
          <a:p xmlns:a="http://schemas.openxmlformats.org/drawingml/2006/main">
            <a:r>
              <a:t>    "period": "열람 2026.10",</a:t>
            </a:r>
          </a:p>
          <a:p xmlns:a="http://schemas.openxmlformats.org/drawingml/2006/main">
            <a:r>
              <a:t>    "fact": "기관별 안내 지식과 상담원 연결을 공동 기반으로 제공",</a:t>
            </a:r>
          </a:p>
          <a:p xmlns:a="http://schemas.openxmlformats.org/drawingml/2006/main">
            <a:r>
              <a:t>    "limit": "운영기관 목록 확인 · 자율 행정 처리나 최신 LLM 스택의 근거와 구분",</a:t>
            </a:r>
          </a:p>
          <a:p xmlns:a="http://schemas.openxmlformats.org/drawingml/2006/main">
            <a:r>
              <a:t>    "nodes": [</a:t>
            </a:r>
          </a:p>
          <a:p xmlns:a="http://schemas.openxmlformats.org/drawingml/2006/main">
            <a:r>
              <a:t>      "자연어 질문",</a:t>
            </a:r>
          </a:p>
          <a:p xmlns:a="http://schemas.openxmlformats.org/drawingml/2006/main">
            <a:r>
              <a:t>      "기관별 안내 지식",</a:t>
            </a:r>
          </a:p>
          <a:p xmlns:a="http://schemas.openxmlformats.org/drawingml/2006/main">
            <a:r>
              <a:t>      "공통 대화 서비스",</a:t>
            </a:r>
          </a:p>
          <a:p xmlns:a="http://schemas.openxmlformats.org/drawingml/2006/main">
            <a:r>
              <a:t>      "해결·상담원 연결"</a:t>
            </a:r>
          </a:p>
          <a:p xmlns:a="http://schemas.openxmlformats.org/drawingml/2006/main">
            <a:r>
              <a:t>    ],</a:t>
            </a:r>
          </a:p>
          <a:p xmlns:a="http://schemas.openxmlformats.org/drawingml/2006/main">
            <a:r>
              <a:t>    "apply": "민원 안내의 끝점을 담당기관·상담원 수신과 해결 여부까지 확장",</a:t>
            </a:r>
          </a:p>
          <a:p xmlns:a="http://schemas.openxmlformats.org/drawingml/2006/main">
            <a:r>
              <a:t>    "delta": "관할·복수부서·개인정보 경계 및 인계 수락 상태",</a:t>
            </a:r>
          </a:p>
          <a:p xmlns:a="http://schemas.openxmlformats.org/drawingml/2006/main">
            <a:r>
              <a:t>    "test": "미해결·관할외·복수부서 문의의 상담 전환 완료 검증",</a:t>
            </a:r>
          </a:p>
          <a:p xmlns:a="http://schemas.openxmlformats.org/drawingml/2006/main">
            <a:r>
              <a:t>    "url": "https://ria.ee/en/state-information-system/artificial-intelligence/burokratt",</a:t>
            </a:r>
          </a:p>
          <a:p xmlns:a="http://schemas.openxmlformats.org/drawingml/2006/main">
            <a:r>
              <a:t>    "basis": "운영기관 서비스 소개",</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"https://ria.ee/en/state-information-system/artificial-intelligence/burokratt"</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"PF07",</a:t>
            </a:r>
          </a:p>
          <a:p xmlns:a="http://schemas.openxmlformats.org/drawingml/2006/main">
            <a:r>
              <a:t>    "canonicalId": "PF07",</a:t>
            </a:r>
          </a:p>
          <a:p xmlns:a="http://schemas.openxmlformats.org/drawingml/2006/main">
            <a:r>
              <a:t>    "purpose": "기관 안내와 상담 연결의 공동 서비스",</a:t>
            </a:r>
          </a:p>
          <a:p xmlns:a="http://schemas.openxmlformats.org/drawingml/2006/main">
            <a:r>
              <a:t>    "users": "국민·상담원·기관 지식 담당",</a:t>
            </a:r>
          </a:p>
          <a:p xmlns:a="http://schemas.openxmlformats.org/drawingml/2006/main">
            <a:r>
              <a:t>    "scope": [</a:t>
            </a:r>
          </a:p>
          <a:p xmlns:a="http://schemas.openxmlformats.org/drawingml/2006/main">
            <a:r>
              <a:t>      "공동 대화",</a:t>
            </a:r>
          </a:p>
          <a:p xmlns:a="http://schemas.openxmlformats.org/drawingml/2006/main">
            <a:r>
              <a:t>      "기관 안내",</a:t>
            </a:r>
          </a:p>
          <a:p xmlns:a="http://schemas.openxmlformats.org/drawingml/2006/main">
            <a:r>
              <a:t>      "상담원 연결"</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"이용자 대화",</a:t>
            </a:r>
          </a:p>
          <a:p xmlns:a="http://schemas.openxmlformats.org/drawingml/2006/main">
            <a:r>
              <a:t>        "detail": "문의 의도·소관기관·대화 맥락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"공동 대화 / 기관 안내 / 상담원 연결",</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"Bürokratt 공동 대화",</a:t>
            </a:r>
          </a:p>
          <a:p xmlns:a="http://schemas.openxmlformats.org/drawingml/2006/main">
            <a:r>
              <a:t>        "detail": "기관 지식 탐색과 상담 전환 분기",</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"상담원·기관 담당",</a:t>
            </a:r>
          </a:p>
          <a:p xmlns:a="http://schemas.openxmlformats.org/drawingml/2006/main">
            <a:r>
              <a:t>        "detail": "안내 응답 또는 대화 맥락을 포함한 상담 인계",</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"기관 안내 지식",</a:t>
            </a:r>
          </a:p>
          <a:p xmlns:a="http://schemas.openxmlformats.org/drawingml/2006/main">
            <a:r>
              <a:t>        "detail": "기관 안내·FAQ·담당 창구의 갱신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"이관 수신·미해결 질의·지식 갱신 확인",</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"자연어 질문",</a:t>
            </a:r>
          </a:p>
          <a:p xmlns:a="http://schemas.openxmlformats.org/drawingml/2006/main">
            <a:r>
              <a:t>        "input": "문의 의도·소관기관·대화 맥락 확인",</a:t>
            </a:r>
          </a:p>
          <a:p xmlns:a="http://schemas.openxmlformats.org/drawingml/2006/main">
            <a:r>
              <a:t>        "process": "기관 안내·FAQ·담당 창구의 갱신 관리",</a:t>
            </a:r>
          </a:p>
          <a:p xmlns:a="http://schemas.openxmlformats.org/drawingml/2006/main">
            <a:r>
              <a:t>        "output": "자연어 질문"</a:t>
            </a:r>
          </a:p>
          <a:p xmlns:a="http://schemas.openxmlformats.org/drawingml/2006/main">
            <a:r>
              <a:t>      },</a:t>
            </a:r>
          </a:p>
          <a:p xmlns:a="http://schemas.openxmlformats.org/drawingml/2006/main">
            <a:r>
              <a:t>      {</a:t>
            </a:r>
          </a:p>
          <a:p xmlns:a="http://schemas.openxmlformats.org/drawingml/2006/main">
            <a:r>
              <a:t>        "title": "기관별 안내 지식",</a:t>
            </a:r>
          </a:p>
          <a:p xmlns:a="http://schemas.openxmlformats.org/drawingml/2006/main">
            <a:r>
              <a:t>        "input": "자연어 질문",</a:t>
            </a:r>
          </a:p>
          <a:p xmlns:a="http://schemas.openxmlformats.org/drawingml/2006/main">
            <a:r>
              <a:t>        "process": "기관 지식 탐색과 상담 전환 분기",</a:t>
            </a:r>
          </a:p>
          <a:p xmlns:a="http://schemas.openxmlformats.org/drawingml/2006/main">
            <a:r>
              <a:t>        "output": "소관·안내 근거"</a:t>
            </a:r>
          </a:p>
          <a:p xmlns:a="http://schemas.openxmlformats.org/drawingml/2006/main">
            <a:r>
              <a:t>      },</a:t>
            </a:r>
          </a:p>
          <a:p xmlns:a="http://schemas.openxmlformats.org/drawingml/2006/main">
            <a:r>
              <a:t>      {</a:t>
            </a:r>
          </a:p>
          <a:p xmlns:a="http://schemas.openxmlformats.org/drawingml/2006/main">
            <a:r>
              <a:t>        "title": "공통 대화 서비스",</a:t>
            </a:r>
          </a:p>
          <a:p xmlns:a="http://schemas.openxmlformats.org/drawingml/2006/main">
            <a:r>
              <a:t>        "input": "소관·안내 근거",</a:t>
            </a:r>
          </a:p>
          <a:p xmlns:a="http://schemas.openxmlformats.org/drawingml/2006/main">
            <a:r>
              <a:t>        "process": "인계 대상·대화 맥락·수신 확인",</a:t>
            </a:r>
          </a:p>
          <a:p xmlns:a="http://schemas.openxmlformats.org/drawingml/2006/main">
            <a:r>
              <a:t>        "output": "대화 응답"</a:t>
            </a:r>
          </a:p>
          <a:p xmlns:a="http://schemas.openxmlformats.org/drawingml/2006/main">
            <a:r>
              <a:t>      },</a:t>
            </a:r>
          </a:p>
          <a:p xmlns:a="http://schemas.openxmlformats.org/drawingml/2006/main">
            <a:r>
              <a:t>      {</a:t>
            </a:r>
          </a:p>
          <a:p xmlns:a="http://schemas.openxmlformats.org/drawingml/2006/main">
            <a:r>
              <a:t>        "title": "해결·상담원 연결",</a:t>
            </a:r>
          </a:p>
          <a:p xmlns:a="http://schemas.openxmlformats.org/drawingml/2006/main">
            <a:r>
              <a:t>        "input": "대화 응답",</a:t>
            </a:r>
          </a:p>
          <a:p xmlns:a="http://schemas.openxmlformats.org/drawingml/2006/main">
            <a:r>
              <a:t>        "process": "안내 응답 또는 대화 맥락을 포함한 상담 인계",</a:t>
            </a:r>
          </a:p>
          <a:p xmlns:a="http://schemas.openxmlformats.org/drawingml/2006/main">
            <a:r>
              <a:t>        "output": "상담 인계"</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"기관 안내 후 해결이 어려운 문의를 상담원에게 인계",</a:t>
            </a:r>
          </a:p>
          <a:p xmlns:a="http://schemas.openxmlformats.org/drawingml/2006/main">
            <a:r>
              <a:t>      "exception": "소관 불명확·상담원 부재·대화 맥락 누락",</a:t>
            </a:r>
          </a:p>
          <a:p xmlns:a="http://schemas.openxmlformats.org/drawingml/2006/main">
            <a:r>
              <a:t>      "evidence": "기관 선택·인계 내용·수신·해결 여부 기록",</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"국민·상담원·기관 지식 담당",</a:t>
            </a:r>
          </a:p>
          <a:p xmlns:a="http://schemas.openxmlformats.org/drawingml/2006/main">
            <a:r>
              <a:t>          "processing": "문의 의도·소관기관·대화 맥락 확인",</a:t>
            </a:r>
          </a:p>
          <a:p xmlns:a="http://schemas.openxmlformats.org/drawingml/2006/main">
            <a:r>
              <a:t>          "output": "자연어 질문"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"기관 안내 지식",</a:t>
            </a:r>
          </a:p>
          <a:p xmlns:a="http://schemas.openxmlformats.org/drawingml/2006/main">
            <a:r>
              <a:t>          "processing": "기관 안내·FAQ·담당 창구의 갱신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"자연어 질문",</a:t>
            </a:r>
          </a:p>
          <a:p xmlns:a="http://schemas.openxmlformats.org/drawingml/2006/main">
            <a:r>
              <a:t>          "processing": "기관 지식 탐색과 상담 전환 분기",</a:t>
            </a:r>
          </a:p>
          <a:p xmlns:a="http://schemas.openxmlformats.org/drawingml/2006/main">
            <a:r>
              <a:t>          "output": "대화 응답"</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"대화 응답",</a:t>
            </a:r>
          </a:p>
          <a:p xmlns:a="http://schemas.openxmlformats.org/drawingml/2006/main">
            <a:r>
              <a:t>          "processing": "안내 응답 또는 대화 맥락을 포함한 상담 인계",</a:t>
            </a:r>
          </a:p>
          <a:p xmlns:a="http://schemas.openxmlformats.org/drawingml/2006/main">
            <a:r>
              <a:t>          "output": "상담 인계"</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"이관 수신·미해결 질의·지식 갱신 확인",</a:t>
            </a:r>
          </a:p>
          <a:p xmlns:a="http://schemas.openxmlformats.org/drawingml/2006/main">
            <a:r>
              <a:t>          "output": "기관 선택·인계 내용·수신·해결 여부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"이관 수신·미해결 질의·지식 갱신 확인",</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"운영기관 서비스 소개",</a:t>
            </a:r>
          </a:p>
          <a:p xmlns:a="http://schemas.openxmlformats.org/drawingml/2006/main">
            <a:r>
              <a:t>        "url": "https://ria.ee/en/state-information-system/artificial-intelligence/burokratt"</a:t>
            </a:r>
          </a:p>
          <a:p xmlns:a="http://schemas.openxmlformats.org/drawingml/2006/main">
            <a:r>
              <a:t>      }</a:t>
            </a:r>
          </a:p>
          <a:p xmlns:a="http://schemas.openxmlformats.org/drawingml/2006/main">
            <a:r>
              <a:t>    ],</a:t>
            </a:r>
          </a:p>
          <a:p xmlns:a="http://schemas.openxmlformats.org/drawingml/2006/main">
            <a:r>
              <a:t>    "implication": "민원 안내의 끝점을 담당기관·상담원 수신과 해결 여부까지 확장",</a:t>
            </a:r>
          </a:p>
          <a:p xmlns:a="http://schemas.openxmlformats.org/drawingml/2006/main">
            <a:r>
              <a:t>    "local": "민원 안내의 끝점을 담당기관·상담원 수신과 해결 여부까지 확장",</a:t>
            </a:r>
          </a:p>
          <a:p xmlns:a="http://schemas.openxmlformats.org/drawingml/2006/main">
            <a:r>
              <a:t>    "sourceDetail": null,</a:t>
            </a:r>
          </a:p>
          <a:p xmlns:a="http://schemas.openxmlformats.org/drawingml/2006/main">
            <a:r>
              <a:t>    "narrative": [</a:t>
            </a:r>
          </a:p>
          <a:p xmlns:a="http://schemas.openxmlformats.org/drawingml/2006/main">
            <a:r>
              <a:t>      "에스토니아 Bürokratt의 기관 간 대화형 안내·상담 연계 사례. 질문이 한 기관 안에서 해결되지 않는 경우 소관 기관과 상담 경로를 연결하는 서비스 목표.",</a:t>
            </a:r>
          </a:p>
          <a:p xmlns:a="http://schemas.openxmlformats.org/drawingml/2006/main">
            <a:r>
              <a:t>      "공개 Common Knowledge 구성은 수집·정제·파일 처리·스케줄러·내보내기와 Ruuter·Resql·저장소로 구성된 지식 기반 영역. 수집 설정에서 원시 자료·메타데이터 저장, 텍스트 정제와 처리 상태 관리로 이어지는 흐름이며 전체 상담 엔진과는 별도 범위.",</a:t>
            </a:r>
          </a:p>
          <a:p xmlns:a="http://schemas.openxmlformats.org/drawingml/2006/main">
            <a:r>
              <a:t>      "TS 대국민 업무에서는 답변 생성보다 관할 부서 인계와 접수 완료까지의 책임 연결이 중요. 기관 지식 갱신 주기와 상담 수신 여부를 관리하고 이관 실패·담당 부서 변경·중복 접수의 복구 경로를 검수 대상으로 설정."</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"국민 대화 접점",</a:t>
            </a:r>
          </a:p>
          <a:p xmlns:a="http://schemas.openxmlformats.org/drawingml/2006/main">
            <a:r>
              <a:t>          "layer": "이용 접점",</a:t>
            </a:r>
          </a:p>
          <a:p xmlns:a="http://schemas.openxmlformats.org/drawingml/2006/main">
            <a:r>
              <a:t>          "detail": "국민·상담원·기관 지식 담당",</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"의도·소관기관",</a:t>
            </a:r>
          </a:p>
          <a:p xmlns:a="http://schemas.openxmlformats.org/drawingml/2006/main">
            <a:r>
              <a:t>          "layer": "업무 문맥",</a:t>
            </a:r>
          </a:p>
          <a:p xmlns:a="http://schemas.openxmlformats.org/drawingml/2006/main">
            <a:r>
              <a:t>          "detail": "문의 의도·소관기관·대화 맥락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"기관 지식 조회",</a:t>
            </a:r>
          </a:p>
          <a:p xmlns:a="http://schemas.openxmlformats.org/drawingml/2006/main">
            <a:r>
              <a:t>          "layer": "자료 조회",</a:t>
            </a:r>
          </a:p>
          <a:p xmlns:a="http://schemas.openxmlformats.org/drawingml/2006/main">
            <a:r>
              <a:t>          "detail": "자연어 질문",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"공동 대화 처리",</a:t>
            </a:r>
          </a:p>
          <a:p xmlns:a="http://schemas.openxmlformats.org/drawingml/2006/main">
            <a:r>
              <a:t>          "layer": "핵심 처리",</a:t>
            </a:r>
          </a:p>
          <a:p xmlns:a="http://schemas.openxmlformats.org/drawingml/2006/main">
            <a:r>
              <a:t>          "detail": "기관 지식 탐색과 상담 전환 분기",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"미해결·소관 검사",</a:t>
            </a:r>
          </a:p>
          <a:p xmlns:a="http://schemas.openxmlformats.org/drawingml/2006/main">
            <a:r>
              <a:t>          "layer": "결과 검증",</a:t>
            </a:r>
          </a:p>
          <a:p xmlns:a="http://schemas.openxmlformats.org/drawingml/2006/main">
            <a:r>
              <a:t>          "detail": "인계 대상·대화 맥락·수신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"상담원 확인",</a:t>
            </a:r>
          </a:p>
          <a:p xmlns:a="http://schemas.openxmlformats.org/drawingml/2006/main">
            <a:r>
              <a:t>          "layer": "사람 확인",</a:t>
            </a:r>
          </a:p>
          <a:p xmlns:a="http://schemas.openxmlformats.org/drawingml/2006/main">
            <a:r>
              <a:t>          "detail": "기관 안내 후 해결이 어려운 문의를 상담원에게 인계",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"맥락 포함 인계",</a:t>
            </a:r>
          </a:p>
          <a:p xmlns:a="http://schemas.openxmlformats.org/drawingml/2006/main">
            <a:r>
              <a:t>          "layer": "업무 연결",</a:t>
            </a:r>
          </a:p>
          <a:p xmlns:a="http://schemas.openxmlformats.org/drawingml/2006/main">
            <a:r>
              <a:t>          "detail": "안내 응답 또는 대화 맥락을 포함한 상담 인계",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"수신·해결 추적",</a:t>
            </a:r>
          </a:p>
          <a:p xmlns:a="http://schemas.openxmlformats.org/drawingml/2006/main">
            <a:r>
              <a:t>          "layer": "운영 관측",</a:t>
            </a:r>
          </a:p>
          <a:p xmlns:a="http://schemas.openxmlformats.org/drawingml/2006/main">
            <a:r>
              <a:t>          "detail": "이관 수신·미해결 질의·지식 갱신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"공식 웹·API",</a:t>
            </a:r>
          </a:p>
          <a:p xmlns:a="http://schemas.openxmlformats.org/drawingml/2006/main">
            <a:r>
              <a:t>          "layer": "데이터 원천",</a:t>
            </a:r>
          </a:p>
          <a:p xmlns:a="http://schemas.openxmlformats.org/drawingml/2006/main">
            <a:r>
              <a:t>          "detail": "기관 안내 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"수집·정제·갱신",</a:t>
            </a:r>
          </a:p>
          <a:p xmlns:a="http://schemas.openxmlformats.org/drawingml/2006/main">
            <a:r>
              <a:t>          "layer": "준비·갱신",</a:t>
            </a:r>
          </a:p>
          <a:p xmlns:a="http://schemas.openxmlformats.org/drawingml/2006/main">
            <a:r>
              <a:t>          "detail": "기관 안내·FAQ·담당 창구의 갱신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"공동 지식·메타DB",</a:t>
            </a:r>
          </a:p>
          <a:p xmlns:a="http://schemas.openxmlformats.org/drawingml/2006/main">
            <a:r>
              <a:t>          "layer": "상태·지식 저장",</a:t>
            </a:r>
          </a:p>
          <a:p xmlns:a="http://schemas.openxmlformats.org/drawingml/2006/main">
            <a:r>
              <a:t>          "detail": "기관 선택·인계 내용·수신·해결 여부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"기관·상담 권한",</a:t>
            </a:r>
          </a:p>
          <a:p xmlns:a="http://schemas.openxmlformats.org/drawingml/2006/main">
            <a:r>
              <a:t>          "layer": "권한·정책",</a:t>
            </a:r>
          </a:p>
          <a:p xmlns:a="http://schemas.openxmlformats.org/drawingml/2006/main">
            <a:r>
              <a:t>          "detail": "소관 불명확·상담원 부재·대화 맥락 누락",</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"문의 의도·소관기관·대화 맥락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"자연어 질문",</a:t>
            </a:r>
          </a:p>
          <a:p xmlns:a="http://schemas.openxmlformats.org/drawingml/2006/main">
            <a:r>
              <a:t>          "check": "인계 대상·대화 맥락·수신 확인"</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"소관·안내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"대화 응답",</a:t>
            </a:r>
          </a:p>
          <a:p xmlns:a="http://schemas.openxmlformats.org/drawingml/2006/main">
            <a:r>
              <a:t>          "check": "소관 불명확·상담원 부재·대화 맥락 누락"</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"대화 응답",</a:t>
            </a:r>
          </a:p>
          <a:p xmlns:a="http://schemas.openxmlformats.org/drawingml/2006/main">
            <a:r>
              <a:t>          "check": "안내 응답 또는 대화 맥락을 포함한 상담 인계"</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"상담 인계",</a:t>
            </a:r>
          </a:p>
          <a:p xmlns:a="http://schemas.openxmlformats.org/drawingml/2006/main">
            <a:r>
              <a:t>          "check": "기관 선택·인계 내용·수신·해결 여부 기록"</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"Common-Knowledge ARCHITECTURE.md",</a:t>
            </a:r>
          </a:p>
          <a:p xmlns:a="http://schemas.openxmlformats.org/drawingml/2006/main">
            <a:r>
              <a:t>        "extracted": "Ruuter·Resql·수집/정제/파일처리·PostgreSQL·S3 지식 계층",</a:t>
            </a:r>
          </a:p>
          <a:p xmlns:a="http://schemas.openxmlformats.org/drawingml/2006/main">
            <a:r>
              <a:t>        "extension": "공동 지식 계층과 상담 이관의 서비스 연결 설계"</a:t>
            </a:r>
          </a:p>
          <a:p xmlns:a="http://schemas.openxmlformats.org/drawingml/2006/main">
            <a:r>
              <a:t>      },</a:t>
            </a:r>
          </a:p>
          <a:p xmlns:a="http://schemas.openxmlformats.org/drawingml/2006/main">
            <a:r>
              <a:t>      "figures": [],</a:t>
            </a:r>
          </a:p>
          <a:p xmlns:a="http://schemas.openxmlformats.org/drawingml/2006/main">
            <a:r>
              <a:t>      "source": {</a:t>
            </a:r>
          </a:p>
          <a:p xmlns:a="http://schemas.openxmlformats.org/drawingml/2006/main">
            <a:r>
              <a:t>        "title": "Bürokratt Common Knowledge · 공식 아키텍처",</a:t>
            </a:r>
          </a:p>
          <a:p xmlns:a="http://schemas.openxmlformats.org/drawingml/2006/main">
            <a:r>
              <a:t>        "url": "https://github.com/buerokratt/Common-Knowledge/blob/main/ARCHITECTURE.md"</a:t>
            </a:r>
          </a:p>
          <a:p xmlns:a="http://schemas.openxmlformats.org/drawingml/2006/main">
            <a:r>
              <a:t>      },</a:t>
            </a:r>
          </a:p>
          <a:p xmlns:a="http://schemas.openxmlformats.org/drawingml/2006/main">
            <a:r>
              <a:t>      "exception": {</a:t>
            </a:r>
          </a:p>
          <a:p xmlns:a="http://schemas.openxmlformats.org/drawingml/2006/main">
            <a:r>
              <a:t>        "input": "소관 불명확·상담원 부재·대화 맥락 누락",</a:t>
            </a:r>
          </a:p>
          <a:p xmlns:a="http://schemas.openxmlformats.org/drawingml/2006/main">
            <a:r>
              <a:t>        "hold": "인계 대상·대화 맥락·수신 확인",</a:t>
            </a:r>
          </a:p>
          <a:p xmlns:a="http://schemas.openxmlformats.org/drawingml/2006/main">
            <a:r>
              <a:t>        "recovery": "이관 수신·미해결 질의·지식 갱신 확인",</a:t>
            </a:r>
          </a:p>
          <a:p xmlns:a="http://schemas.openxmlformats.org/drawingml/2006/main">
            <a:r>
              <a:t>        "evidence": "기관 선택·인계 내용·수신·해결 여부 기록"</a:t>
            </a:r>
          </a:p>
          <a:p xmlns:a="http://schemas.openxmlformats.org/drawingml/2006/main">
            <a:r>
              <a:t>      },</a:t>
            </a:r>
          </a:p>
          <a:p xmlns:a="http://schemas.openxmlformats.org/drawingml/2006/main">
            <a:r>
              <a:t>      "data": {</a:t>
            </a:r>
          </a:p>
          <a:p xmlns:a="http://schemas.openxmlformats.org/drawingml/2006/main">
            <a:r>
              <a:t>        "source": "기관 안내 지식",</a:t>
            </a:r>
          </a:p>
          <a:p xmlns:a="http://schemas.openxmlformats.org/drawingml/2006/main">
            <a:r>
              <a:t>        "prepare": "기관 안내·FAQ·담당 창구의 갱신 관리",</a:t>
            </a:r>
          </a:p>
          <a:p xmlns:a="http://schemas.openxmlformats.org/drawingml/2006/main">
            <a:r>
              <a:t>        "output": "자연어 질문",</a:t>
            </a:r>
          </a:p>
          <a:p xmlns:a="http://schemas.openxmlformats.org/drawingml/2006/main">
            <a:r>
              <a:t>        "refresh": "이관 수신·미해결 질의·지식 갱신 확인"</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"PF07",</a:t>
            </a:r>
          </a:p>
          <a:p xmlns:a="http://schemas.openxmlformats.org/drawingml/2006/main">
            <a:r>
              <a:t>    "success": [</a:t>
            </a:r>
          </a:p>
          <a:p xmlns:a="http://schemas.openxmlformats.org/drawingml/2006/main">
            <a:r>
              <a:t>      "기관 안내 지식의 공동 기반",</a:t>
            </a:r>
          </a:p>
          <a:p xmlns:a="http://schemas.openxmlformats.org/drawingml/2006/main">
            <a:r>
              <a:t>      "해결 불가 시 상담원 연결"</a:t>
            </a:r>
          </a:p>
          <a:p xmlns:a="http://schemas.openxmlformats.org/drawingml/2006/main">
            <a:r>
              <a:t>    ],</a:t>
            </a:r>
          </a:p>
          <a:p xmlns:a="http://schemas.openxmlformats.org/drawingml/2006/main">
            <a:r>
              <a:t>    "risks": [</a:t>
            </a:r>
          </a:p>
          <a:p xmlns:a="http://schemas.openxmlformats.org/drawingml/2006/main">
            <a:r>
              <a:t>      "기관 간 지식·소관 불일치",</a:t>
            </a:r>
          </a:p>
          <a:p xmlns:a="http://schemas.openxmlformats.org/drawingml/2006/main">
            <a:r>
              <a:t>      "안내와 접수·처리 완료의 혼동"</a:t>
            </a:r>
          </a:p>
          <a:p xmlns:a="http://schemas.openxmlformats.org/drawingml/2006/main">
            <a:r>
              <a:t>    ],</a:t>
            </a:r>
          </a:p>
          <a:p xmlns:a="http://schemas.openxmlformats.org/drawingml/2006/main">
            <a:r>
              <a:t>    "architecture": [</a:t>
            </a:r>
          </a:p>
          <a:p xmlns:a="http://schemas.openxmlformats.org/drawingml/2006/main">
            <a:r>
              <a:t>      "이용자 대화",</a:t>
            </a:r>
          </a:p>
          <a:p xmlns:a="http://schemas.openxmlformats.org/drawingml/2006/main">
            <a:r>
              <a:t>      "Bürokratt 공동 대화",</a:t>
            </a:r>
          </a:p>
          <a:p xmlns:a="http://schemas.openxmlformats.org/drawingml/2006/main">
            <a:r>
              <a:t>      "기관 안내 지식",</a:t>
            </a:r>
          </a:p>
          <a:p xmlns:a="http://schemas.openxmlformats.org/drawingml/2006/main">
            <a:r>
              <a:t>      "상담원·기관 담당"</a:t>
            </a:r>
          </a:p>
          <a:p xmlns:a="http://schemas.openxmlformats.org/drawingml/2006/main">
            <a:r>
              <a:t>    ],</a:t>
            </a:r>
          </a:p>
          <a:p xmlns:a="http://schemas.openxmlformats.org/drawingml/2006/main">
            <a:r>
              <a:t>    "transfers": [</a:t>
            </a:r>
          </a:p>
          <a:p xmlns:a="http://schemas.openxmlformats.org/drawingml/2006/main">
            <a:r>
              <a:t>      "자연어 질문",</a:t>
            </a:r>
          </a:p>
          <a:p xmlns:a="http://schemas.openxmlformats.org/drawingml/2006/main">
            <a:r>
              <a:t>      "소관·안내 근거",</a:t>
            </a:r>
          </a:p>
          <a:p xmlns:a="http://schemas.openxmlformats.org/drawingml/2006/main">
            <a:r>
              <a:t>      "대화 응답",</a:t>
            </a:r>
          </a:p>
          <a:p xmlns:a="http://schemas.openxmlformats.org/drawingml/2006/main">
            <a:r>
              <a:t>      "상담 인계"</a:t>
            </a:r>
          </a:p>
          <a:p xmlns:a="http://schemas.openxmlformats.org/drawingml/2006/main">
            <a:r>
              <a:t>    ],</a:t>
            </a:r>
          </a:p>
          <a:p xmlns:a="http://schemas.openxmlformats.org/drawingml/2006/main">
            <a:r>
              <a:t>    "control": "인계 대상·대화 맥락·수신 확인",</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운영기관 서비스 소개 https://ria.ee/en/state-information-system/artificial-intelligence/burokratt</a:t>
            </a:r>
          </a:p>
          <a:p xmlns:a="http://schemas.openxmlformats.org/drawingml/2006/main">
            <a:r>
              <a:t>홈페이지 https://heen1987-ops.github.io/TS-business-Plan-001/index.html?view=platform-cases&amp;case=PF07</a:t>
            </a:r>
          </a:p>
          <a:p xmlns:a="http://schemas.openxmlformats.org/drawingml/2006/main">
            <a:r>
              <a:t>한계: 운영기관 목록 확인 · 자율 행정 처리나 최신 LLM 스택의 근거와 구분</a:t>
            </a:r>
          </a:p>
          <a:p xmlns:a="http://schemas.openxmlformats.org/drawingml/2006/main">
            <a:r>
              <a:t>실패 위험: 기관 간 지식·소관 불일치 / 안내와 접수·처리 완료의 혼동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"PF07",</a:t>
            </a:r>
          </a:p>
          <a:p xmlns:a="http://schemas.openxmlformats.org/drawingml/2006/main">
            <a:r>
              <a:t>    "sourceId": "A11",</a:t>
            </a:r>
          </a:p>
          <a:p xmlns:a="http://schemas.openxmlformats.org/drawingml/2006/main">
            <a:r>
              <a:t>    "title": "에스토니아 Bürokratt",</a:t>
            </a:r>
          </a:p>
          <a:p xmlns:a="http://schemas.openxmlformats.org/drawingml/2006/main">
            <a:r>
              <a:t>    "region": "해외",</a:t>
            </a:r>
          </a:p>
          <a:p xmlns:a="http://schemas.openxmlformats.org/drawingml/2006/main">
            <a:r>
              <a:t>    "owner": "RIA·참여 기관",</a:t>
            </a:r>
          </a:p>
          <a:p xmlns:a="http://schemas.openxmlformats.org/drawingml/2006/main">
            <a:r>
              <a:t>    "state": "다기관 안내 운영",</a:t>
            </a:r>
          </a:p>
          <a:p xmlns:a="http://schemas.openxmlformats.org/drawingml/2006/main">
            <a:r>
              <a:t>    "period": "열람 2026.10",</a:t>
            </a:r>
          </a:p>
          <a:p xmlns:a="http://schemas.openxmlformats.org/drawingml/2006/main">
            <a:r>
              <a:t>    "fact": "기관별 안내 지식과 상담원 연결을 공동 기반으로 제공",</a:t>
            </a:r>
          </a:p>
          <a:p xmlns:a="http://schemas.openxmlformats.org/drawingml/2006/main">
            <a:r>
              <a:t>    "limit": "운영기관 목록 확인 · 자율 행정 처리나 최신 LLM 스택의 근거와 구분",</a:t>
            </a:r>
          </a:p>
          <a:p xmlns:a="http://schemas.openxmlformats.org/drawingml/2006/main">
            <a:r>
              <a:t>    "nodes": [</a:t>
            </a:r>
          </a:p>
          <a:p xmlns:a="http://schemas.openxmlformats.org/drawingml/2006/main">
            <a:r>
              <a:t>      "자연어 질문",</a:t>
            </a:r>
          </a:p>
          <a:p xmlns:a="http://schemas.openxmlformats.org/drawingml/2006/main">
            <a:r>
              <a:t>      "기관별 안내 지식",</a:t>
            </a:r>
          </a:p>
          <a:p xmlns:a="http://schemas.openxmlformats.org/drawingml/2006/main">
            <a:r>
              <a:t>      "공통 대화 서비스",</a:t>
            </a:r>
          </a:p>
          <a:p xmlns:a="http://schemas.openxmlformats.org/drawingml/2006/main">
            <a:r>
              <a:t>      "해결·상담원 연결"</a:t>
            </a:r>
          </a:p>
          <a:p xmlns:a="http://schemas.openxmlformats.org/drawingml/2006/main">
            <a:r>
              <a:t>    ],</a:t>
            </a:r>
          </a:p>
          <a:p xmlns:a="http://schemas.openxmlformats.org/drawingml/2006/main">
            <a:r>
              <a:t>    "apply": "민원 안내의 끝점을 담당기관·상담원 수신과 해결 여부까지 확장",</a:t>
            </a:r>
          </a:p>
          <a:p xmlns:a="http://schemas.openxmlformats.org/drawingml/2006/main">
            <a:r>
              <a:t>    "delta": "관할·복수부서·개인정보 경계 및 인계 수락 상태",</a:t>
            </a:r>
          </a:p>
          <a:p xmlns:a="http://schemas.openxmlformats.org/drawingml/2006/main">
            <a:r>
              <a:t>    "test": "미해결·관할외·복수부서 문의의 상담 전환 완료 검증",</a:t>
            </a:r>
          </a:p>
          <a:p xmlns:a="http://schemas.openxmlformats.org/drawingml/2006/main">
            <a:r>
              <a:t>    "url": "https://ria.ee/en/state-information-system/artificial-intelligence/burokratt",</a:t>
            </a:r>
          </a:p>
          <a:p xmlns:a="http://schemas.openxmlformats.org/drawingml/2006/main">
            <a:r>
              <a:t>    "basis": "운영기관 서비스 소개",</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"https://ria.ee/en/state-information-system/artificial-intelligence/burokratt"</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"PF07",</a:t>
            </a:r>
          </a:p>
          <a:p xmlns:a="http://schemas.openxmlformats.org/drawingml/2006/main">
            <a:r>
              <a:t>    "canonicalId": "PF07",</a:t>
            </a:r>
          </a:p>
          <a:p xmlns:a="http://schemas.openxmlformats.org/drawingml/2006/main">
            <a:r>
              <a:t>    "purpose": "기관 안내와 상담 연결의 공동 서비스",</a:t>
            </a:r>
          </a:p>
          <a:p xmlns:a="http://schemas.openxmlformats.org/drawingml/2006/main">
            <a:r>
              <a:t>    "users": "국민·상담원·기관 지식 담당",</a:t>
            </a:r>
          </a:p>
          <a:p xmlns:a="http://schemas.openxmlformats.org/drawingml/2006/main">
            <a:r>
              <a:t>    "scope": [</a:t>
            </a:r>
          </a:p>
          <a:p xmlns:a="http://schemas.openxmlformats.org/drawingml/2006/main">
            <a:r>
              <a:t>      "공동 대화",</a:t>
            </a:r>
          </a:p>
          <a:p xmlns:a="http://schemas.openxmlformats.org/drawingml/2006/main">
            <a:r>
              <a:t>      "기관 안내",</a:t>
            </a:r>
          </a:p>
          <a:p xmlns:a="http://schemas.openxmlformats.org/drawingml/2006/main">
            <a:r>
              <a:t>      "상담원 연결"</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"이용자 대화",</a:t>
            </a:r>
          </a:p>
          <a:p xmlns:a="http://schemas.openxmlformats.org/drawingml/2006/main">
            <a:r>
              <a:t>        "detail": "문의 의도·소관기관·대화 맥락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"공동 대화 / 기관 안내 / 상담원 연결",</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"Bürokratt 공동 대화",</a:t>
            </a:r>
          </a:p>
          <a:p xmlns:a="http://schemas.openxmlformats.org/drawingml/2006/main">
            <a:r>
              <a:t>        "detail": "기관 지식 탐색과 상담 전환 분기",</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"상담원·기관 담당",</a:t>
            </a:r>
          </a:p>
          <a:p xmlns:a="http://schemas.openxmlformats.org/drawingml/2006/main">
            <a:r>
              <a:t>        "detail": "안내 응답 또는 대화 맥락을 포함한 상담 인계",</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"기관 안내 지식",</a:t>
            </a:r>
          </a:p>
          <a:p xmlns:a="http://schemas.openxmlformats.org/drawingml/2006/main">
            <a:r>
              <a:t>        "detail": "기관 안내·FAQ·담당 창구의 갱신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"이관 수신·미해결 질의·지식 갱신 확인",</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"자연어 질문",</a:t>
            </a:r>
          </a:p>
          <a:p xmlns:a="http://schemas.openxmlformats.org/drawingml/2006/main">
            <a:r>
              <a:t>        "input": "문의 의도·소관기관·대화 맥락 확인",</a:t>
            </a:r>
          </a:p>
          <a:p xmlns:a="http://schemas.openxmlformats.org/drawingml/2006/main">
            <a:r>
              <a:t>        "process": "기관 안내·FAQ·담당 창구의 갱신 관리",</a:t>
            </a:r>
          </a:p>
          <a:p xmlns:a="http://schemas.openxmlformats.org/drawingml/2006/main">
            <a:r>
              <a:t>        "output": "자연어 질문"</a:t>
            </a:r>
          </a:p>
          <a:p xmlns:a="http://schemas.openxmlformats.org/drawingml/2006/main">
            <a:r>
              <a:t>      },</a:t>
            </a:r>
          </a:p>
          <a:p xmlns:a="http://schemas.openxmlformats.org/drawingml/2006/main">
            <a:r>
              <a:t>      {</a:t>
            </a:r>
          </a:p>
          <a:p xmlns:a="http://schemas.openxmlformats.org/drawingml/2006/main">
            <a:r>
              <a:t>        "title": "기관별 안내 지식",</a:t>
            </a:r>
          </a:p>
          <a:p xmlns:a="http://schemas.openxmlformats.org/drawingml/2006/main">
            <a:r>
              <a:t>        "input": "자연어 질문",</a:t>
            </a:r>
          </a:p>
          <a:p xmlns:a="http://schemas.openxmlformats.org/drawingml/2006/main">
            <a:r>
              <a:t>        "process": "기관 지식 탐색과 상담 전환 분기",</a:t>
            </a:r>
          </a:p>
          <a:p xmlns:a="http://schemas.openxmlformats.org/drawingml/2006/main">
            <a:r>
              <a:t>        "output": "소관·안내 근거"</a:t>
            </a:r>
          </a:p>
          <a:p xmlns:a="http://schemas.openxmlformats.org/drawingml/2006/main">
            <a:r>
              <a:t>      },</a:t>
            </a:r>
          </a:p>
          <a:p xmlns:a="http://schemas.openxmlformats.org/drawingml/2006/main">
            <a:r>
              <a:t>      {</a:t>
            </a:r>
          </a:p>
          <a:p xmlns:a="http://schemas.openxmlformats.org/drawingml/2006/main">
            <a:r>
              <a:t>        "title": "공통 대화 서비스",</a:t>
            </a:r>
          </a:p>
          <a:p xmlns:a="http://schemas.openxmlformats.org/drawingml/2006/main">
            <a:r>
              <a:t>        "input": "소관·안내 근거",</a:t>
            </a:r>
          </a:p>
          <a:p xmlns:a="http://schemas.openxmlformats.org/drawingml/2006/main">
            <a:r>
              <a:t>        "process": "인계 대상·대화 맥락·수신 확인",</a:t>
            </a:r>
          </a:p>
          <a:p xmlns:a="http://schemas.openxmlformats.org/drawingml/2006/main">
            <a:r>
              <a:t>        "output": "대화 응답"</a:t>
            </a:r>
          </a:p>
          <a:p xmlns:a="http://schemas.openxmlformats.org/drawingml/2006/main">
            <a:r>
              <a:t>      },</a:t>
            </a:r>
          </a:p>
          <a:p xmlns:a="http://schemas.openxmlformats.org/drawingml/2006/main">
            <a:r>
              <a:t>      {</a:t>
            </a:r>
          </a:p>
          <a:p xmlns:a="http://schemas.openxmlformats.org/drawingml/2006/main">
            <a:r>
              <a:t>        "title": "해결·상담원 연결",</a:t>
            </a:r>
          </a:p>
          <a:p xmlns:a="http://schemas.openxmlformats.org/drawingml/2006/main">
            <a:r>
              <a:t>        "input": "대화 응답",</a:t>
            </a:r>
          </a:p>
          <a:p xmlns:a="http://schemas.openxmlformats.org/drawingml/2006/main">
            <a:r>
              <a:t>        "process": "안내 응답 또는 대화 맥락을 포함한 상담 인계",</a:t>
            </a:r>
          </a:p>
          <a:p xmlns:a="http://schemas.openxmlformats.org/drawingml/2006/main">
            <a:r>
              <a:t>        "output": "상담 인계"</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"기관 안내 후 해결이 어려운 문의를 상담원에게 인계",</a:t>
            </a:r>
          </a:p>
          <a:p xmlns:a="http://schemas.openxmlformats.org/drawingml/2006/main">
            <a:r>
              <a:t>      "exception": "소관 불명확·상담원 부재·대화 맥락 누락",</a:t>
            </a:r>
          </a:p>
          <a:p xmlns:a="http://schemas.openxmlformats.org/drawingml/2006/main">
            <a:r>
              <a:t>      "evidence": "기관 선택·인계 내용·수신·해결 여부 기록",</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"국민·상담원·기관 지식 담당",</a:t>
            </a:r>
          </a:p>
          <a:p xmlns:a="http://schemas.openxmlformats.org/drawingml/2006/main">
            <a:r>
              <a:t>          "processing": "문의 의도·소관기관·대화 맥락 확인",</a:t>
            </a:r>
          </a:p>
          <a:p xmlns:a="http://schemas.openxmlformats.org/drawingml/2006/main">
            <a:r>
              <a:t>          "output": "자연어 질문"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"기관 안내 지식",</a:t>
            </a:r>
          </a:p>
          <a:p xmlns:a="http://schemas.openxmlformats.org/drawingml/2006/main">
            <a:r>
              <a:t>          "processing": "기관 안내·FAQ·담당 창구의 갱신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"자연어 질문",</a:t>
            </a:r>
          </a:p>
          <a:p xmlns:a="http://schemas.openxmlformats.org/drawingml/2006/main">
            <a:r>
              <a:t>          "processing": "기관 지식 탐색과 상담 전환 분기",</a:t>
            </a:r>
          </a:p>
          <a:p xmlns:a="http://schemas.openxmlformats.org/drawingml/2006/main">
            <a:r>
              <a:t>          "output": "대화 응답"</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"대화 응답",</a:t>
            </a:r>
          </a:p>
          <a:p xmlns:a="http://schemas.openxmlformats.org/drawingml/2006/main">
            <a:r>
              <a:t>          "processing": "안내 응답 또는 대화 맥락을 포함한 상담 인계",</a:t>
            </a:r>
          </a:p>
          <a:p xmlns:a="http://schemas.openxmlformats.org/drawingml/2006/main">
            <a:r>
              <a:t>          "output": "상담 인계"</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"이관 수신·미해결 질의·지식 갱신 확인",</a:t>
            </a:r>
          </a:p>
          <a:p xmlns:a="http://schemas.openxmlformats.org/drawingml/2006/main">
            <a:r>
              <a:t>          "output": "기관 선택·인계 내용·수신·해결 여부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"이관 수신·미해결 질의·지식 갱신 확인",</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"운영기관 서비스 소개",</a:t>
            </a:r>
          </a:p>
          <a:p xmlns:a="http://schemas.openxmlformats.org/drawingml/2006/main">
            <a:r>
              <a:t>        "url": "https://ria.ee/en/state-information-system/artificial-intelligence/burokratt"</a:t>
            </a:r>
          </a:p>
          <a:p xmlns:a="http://schemas.openxmlformats.org/drawingml/2006/main">
            <a:r>
              <a:t>      }</a:t>
            </a:r>
          </a:p>
          <a:p xmlns:a="http://schemas.openxmlformats.org/drawingml/2006/main">
            <a:r>
              <a:t>    ],</a:t>
            </a:r>
          </a:p>
          <a:p xmlns:a="http://schemas.openxmlformats.org/drawingml/2006/main">
            <a:r>
              <a:t>    "implication": "민원 안내의 끝점을 담당기관·상담원 수신과 해결 여부까지 확장",</a:t>
            </a:r>
          </a:p>
          <a:p xmlns:a="http://schemas.openxmlformats.org/drawingml/2006/main">
            <a:r>
              <a:t>    "local": "민원 안내의 끝점을 담당기관·상담원 수신과 해결 여부까지 확장",</a:t>
            </a:r>
          </a:p>
          <a:p xmlns:a="http://schemas.openxmlformats.org/drawingml/2006/main">
            <a:r>
              <a:t>    "sourceDetail": null,</a:t>
            </a:r>
          </a:p>
          <a:p xmlns:a="http://schemas.openxmlformats.org/drawingml/2006/main">
            <a:r>
              <a:t>    "narrative": [</a:t>
            </a:r>
          </a:p>
          <a:p xmlns:a="http://schemas.openxmlformats.org/drawingml/2006/main">
            <a:r>
              <a:t>      "에스토니아 Bürokratt의 기관 간 대화형 안내·상담 연계 사례. 질문이 한 기관 안에서 해결되지 않는 경우 소관 기관과 상담 경로를 연결하는 서비스 목표.",</a:t>
            </a:r>
          </a:p>
          <a:p xmlns:a="http://schemas.openxmlformats.org/drawingml/2006/main">
            <a:r>
              <a:t>      "공개 Common Knowledge 구성은 수집·정제·파일 처리·스케줄러·내보내기와 Ruuter·Resql·저장소로 구성된 지식 기반 영역. 수집 설정에서 원시 자료·메타데이터 저장, 텍스트 정제와 처리 상태 관리로 이어지는 흐름이며 전체 상담 엔진과는 별도 범위.",</a:t>
            </a:r>
          </a:p>
          <a:p xmlns:a="http://schemas.openxmlformats.org/drawingml/2006/main">
            <a:r>
              <a:t>      "TS 대국민 업무에서는 답변 생성보다 관할 부서 인계와 접수 완료까지의 책임 연결이 중요. 기관 지식 갱신 주기와 상담 수신 여부를 관리하고 이관 실패·담당 부서 변경·중복 접수의 복구 경로를 검수 대상으로 설정."</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"국민 대화 접점",</a:t>
            </a:r>
          </a:p>
          <a:p xmlns:a="http://schemas.openxmlformats.org/drawingml/2006/main">
            <a:r>
              <a:t>          "layer": "이용 접점",</a:t>
            </a:r>
          </a:p>
          <a:p xmlns:a="http://schemas.openxmlformats.org/drawingml/2006/main">
            <a:r>
              <a:t>          "detail": "국민·상담원·기관 지식 담당",</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"의도·소관기관",</a:t>
            </a:r>
          </a:p>
          <a:p xmlns:a="http://schemas.openxmlformats.org/drawingml/2006/main">
            <a:r>
              <a:t>          "layer": "업무 문맥",</a:t>
            </a:r>
          </a:p>
          <a:p xmlns:a="http://schemas.openxmlformats.org/drawingml/2006/main">
            <a:r>
              <a:t>          "detail": "문의 의도·소관기관·대화 맥락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"기관 지식 조회",</a:t>
            </a:r>
          </a:p>
          <a:p xmlns:a="http://schemas.openxmlformats.org/drawingml/2006/main">
            <a:r>
              <a:t>          "layer": "자료 조회",</a:t>
            </a:r>
          </a:p>
          <a:p xmlns:a="http://schemas.openxmlformats.org/drawingml/2006/main">
            <a:r>
              <a:t>          "detail": "자연어 질문",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"공동 대화 처리",</a:t>
            </a:r>
          </a:p>
          <a:p xmlns:a="http://schemas.openxmlformats.org/drawingml/2006/main">
            <a:r>
              <a:t>          "layer": "핵심 처리",</a:t>
            </a:r>
          </a:p>
          <a:p xmlns:a="http://schemas.openxmlformats.org/drawingml/2006/main">
            <a:r>
              <a:t>          "detail": "기관 지식 탐색과 상담 전환 분기",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"미해결·소관 검사",</a:t>
            </a:r>
          </a:p>
          <a:p xmlns:a="http://schemas.openxmlformats.org/drawingml/2006/main">
            <a:r>
              <a:t>          "layer": "결과 검증",</a:t>
            </a:r>
          </a:p>
          <a:p xmlns:a="http://schemas.openxmlformats.org/drawingml/2006/main">
            <a:r>
              <a:t>          "detail": "인계 대상·대화 맥락·수신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"상담원 확인",</a:t>
            </a:r>
          </a:p>
          <a:p xmlns:a="http://schemas.openxmlformats.org/drawingml/2006/main">
            <a:r>
              <a:t>          "layer": "사람 확인",</a:t>
            </a:r>
          </a:p>
          <a:p xmlns:a="http://schemas.openxmlformats.org/drawingml/2006/main">
            <a:r>
              <a:t>          "detail": "기관 안내 후 해결이 어려운 문의를 상담원에게 인계",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"맥락 포함 인계",</a:t>
            </a:r>
          </a:p>
          <a:p xmlns:a="http://schemas.openxmlformats.org/drawingml/2006/main">
            <a:r>
              <a:t>          "layer": "업무 연결",</a:t>
            </a:r>
          </a:p>
          <a:p xmlns:a="http://schemas.openxmlformats.org/drawingml/2006/main">
            <a:r>
              <a:t>          "detail": "안내 응답 또는 대화 맥락을 포함한 상담 인계",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"수신·해결 추적",</a:t>
            </a:r>
          </a:p>
          <a:p xmlns:a="http://schemas.openxmlformats.org/drawingml/2006/main">
            <a:r>
              <a:t>          "layer": "운영 관측",</a:t>
            </a:r>
          </a:p>
          <a:p xmlns:a="http://schemas.openxmlformats.org/drawingml/2006/main">
            <a:r>
              <a:t>          "detail": "이관 수신·미해결 질의·지식 갱신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"공식 웹·API",</a:t>
            </a:r>
          </a:p>
          <a:p xmlns:a="http://schemas.openxmlformats.org/drawingml/2006/main">
            <a:r>
              <a:t>          "layer": "데이터 원천",</a:t>
            </a:r>
          </a:p>
          <a:p xmlns:a="http://schemas.openxmlformats.org/drawingml/2006/main">
            <a:r>
              <a:t>          "detail": "기관 안내 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"수집·정제·갱신",</a:t>
            </a:r>
          </a:p>
          <a:p xmlns:a="http://schemas.openxmlformats.org/drawingml/2006/main">
            <a:r>
              <a:t>          "layer": "준비·갱신",</a:t>
            </a:r>
          </a:p>
          <a:p xmlns:a="http://schemas.openxmlformats.org/drawingml/2006/main">
            <a:r>
              <a:t>          "detail": "기관 안내·FAQ·담당 창구의 갱신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"공동 지식·메타DB",</a:t>
            </a:r>
          </a:p>
          <a:p xmlns:a="http://schemas.openxmlformats.org/drawingml/2006/main">
            <a:r>
              <a:t>          "layer": "상태·지식 저장",</a:t>
            </a:r>
          </a:p>
          <a:p xmlns:a="http://schemas.openxmlformats.org/drawingml/2006/main">
            <a:r>
              <a:t>          "detail": "기관 선택·인계 내용·수신·해결 여부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"기관·상담 권한",</a:t>
            </a:r>
          </a:p>
          <a:p xmlns:a="http://schemas.openxmlformats.org/drawingml/2006/main">
            <a:r>
              <a:t>          "layer": "권한·정책",</a:t>
            </a:r>
          </a:p>
          <a:p xmlns:a="http://schemas.openxmlformats.org/drawingml/2006/main">
            <a:r>
              <a:t>          "detail": "소관 불명확·상담원 부재·대화 맥락 누락",</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"문의 의도·소관기관·대화 맥락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"자연어 질문",</a:t>
            </a:r>
          </a:p>
          <a:p xmlns:a="http://schemas.openxmlformats.org/drawingml/2006/main">
            <a:r>
              <a:t>          "check": "인계 대상·대화 맥락·수신 확인"</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"소관·안내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"대화 응답",</a:t>
            </a:r>
          </a:p>
          <a:p xmlns:a="http://schemas.openxmlformats.org/drawingml/2006/main">
            <a:r>
              <a:t>          "check": "소관 불명확·상담원 부재·대화 맥락 누락"</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"대화 응답",</a:t>
            </a:r>
          </a:p>
          <a:p xmlns:a="http://schemas.openxmlformats.org/drawingml/2006/main">
            <a:r>
              <a:t>          "check": "안내 응답 또는 대화 맥락을 포함한 상담 인계"</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"상담 인계",</a:t>
            </a:r>
          </a:p>
          <a:p xmlns:a="http://schemas.openxmlformats.org/drawingml/2006/main">
            <a:r>
              <a:t>          "check": "기관 선택·인계 내용·수신·해결 여부 기록"</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"Common-Knowledge ARCHITECTURE.md",</a:t>
            </a:r>
          </a:p>
          <a:p xmlns:a="http://schemas.openxmlformats.org/drawingml/2006/main">
            <a:r>
              <a:t>        "extracted": "Ruuter·Resql·수집/정제/파일처리·PostgreSQL·S3 지식 계층",</a:t>
            </a:r>
          </a:p>
          <a:p xmlns:a="http://schemas.openxmlformats.org/drawingml/2006/main">
            <a:r>
              <a:t>        "extension": "공동 지식 계층과 상담 이관의 서비스 연결 설계"</a:t>
            </a:r>
          </a:p>
          <a:p xmlns:a="http://schemas.openxmlformats.org/drawingml/2006/main">
            <a:r>
              <a:t>      },</a:t>
            </a:r>
          </a:p>
          <a:p xmlns:a="http://schemas.openxmlformats.org/drawingml/2006/main">
            <a:r>
              <a:t>      "figures": [],</a:t>
            </a:r>
          </a:p>
          <a:p xmlns:a="http://schemas.openxmlformats.org/drawingml/2006/main">
            <a:r>
              <a:t>      "source": {</a:t>
            </a:r>
          </a:p>
          <a:p xmlns:a="http://schemas.openxmlformats.org/drawingml/2006/main">
            <a:r>
              <a:t>        "title": "Bürokratt Common Knowledge · 공식 아키텍처",</a:t>
            </a:r>
          </a:p>
          <a:p xmlns:a="http://schemas.openxmlformats.org/drawingml/2006/main">
            <a:r>
              <a:t>        "url": "https://github.com/buerokratt/Common-Knowledge/blob/main/ARCHITECTURE.md"</a:t>
            </a:r>
          </a:p>
          <a:p xmlns:a="http://schemas.openxmlformats.org/drawingml/2006/main">
            <a:r>
              <a:t>      },</a:t>
            </a:r>
          </a:p>
          <a:p xmlns:a="http://schemas.openxmlformats.org/drawingml/2006/main">
            <a:r>
              <a:t>      "exception": {</a:t>
            </a:r>
          </a:p>
          <a:p xmlns:a="http://schemas.openxmlformats.org/drawingml/2006/main">
            <a:r>
              <a:t>        "input": "소관 불명확·상담원 부재·대화 맥락 누락",</a:t>
            </a:r>
          </a:p>
          <a:p xmlns:a="http://schemas.openxmlformats.org/drawingml/2006/main">
            <a:r>
              <a:t>        "hold": "인계 대상·대화 맥락·수신 확인",</a:t>
            </a:r>
          </a:p>
          <a:p xmlns:a="http://schemas.openxmlformats.org/drawingml/2006/main">
            <a:r>
              <a:t>        "recovery": "이관 수신·미해결 질의·지식 갱신 확인",</a:t>
            </a:r>
          </a:p>
          <a:p xmlns:a="http://schemas.openxmlformats.org/drawingml/2006/main">
            <a:r>
              <a:t>        "evidence": "기관 선택·인계 내용·수신·해결 여부 기록"</a:t>
            </a:r>
          </a:p>
          <a:p xmlns:a="http://schemas.openxmlformats.org/drawingml/2006/main">
            <a:r>
              <a:t>      },</a:t>
            </a:r>
          </a:p>
          <a:p xmlns:a="http://schemas.openxmlformats.org/drawingml/2006/main">
            <a:r>
              <a:t>      "data": {</a:t>
            </a:r>
          </a:p>
          <a:p xmlns:a="http://schemas.openxmlformats.org/drawingml/2006/main">
            <a:r>
              <a:t>        "source": "기관 안내 지식",</a:t>
            </a:r>
          </a:p>
          <a:p xmlns:a="http://schemas.openxmlformats.org/drawingml/2006/main">
            <a:r>
              <a:t>        "prepare": "기관 안내·FAQ·담당 창구의 갱신 관리",</a:t>
            </a:r>
          </a:p>
          <a:p xmlns:a="http://schemas.openxmlformats.org/drawingml/2006/main">
            <a:r>
              <a:t>        "output": "자연어 질문",</a:t>
            </a:r>
          </a:p>
          <a:p xmlns:a="http://schemas.openxmlformats.org/drawingml/2006/main">
            <a:r>
              <a:t>        "refresh": "이관 수신·미해결 질의·지식 갱신 확인"</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"PF07",</a:t>
            </a:r>
          </a:p>
          <a:p xmlns:a="http://schemas.openxmlformats.org/drawingml/2006/main">
            <a:r>
              <a:t>    "success": [</a:t>
            </a:r>
          </a:p>
          <a:p xmlns:a="http://schemas.openxmlformats.org/drawingml/2006/main">
            <a:r>
              <a:t>      "기관 안내 지식의 공동 기반",</a:t>
            </a:r>
          </a:p>
          <a:p xmlns:a="http://schemas.openxmlformats.org/drawingml/2006/main">
            <a:r>
              <a:t>      "해결 불가 시 상담원 연결"</a:t>
            </a:r>
          </a:p>
          <a:p xmlns:a="http://schemas.openxmlformats.org/drawingml/2006/main">
            <a:r>
              <a:t>    ],</a:t>
            </a:r>
          </a:p>
          <a:p xmlns:a="http://schemas.openxmlformats.org/drawingml/2006/main">
            <a:r>
              <a:t>    "risks": [</a:t>
            </a:r>
          </a:p>
          <a:p xmlns:a="http://schemas.openxmlformats.org/drawingml/2006/main">
            <a:r>
              <a:t>      "기관 간 지식·소관 불일치",</a:t>
            </a:r>
          </a:p>
          <a:p xmlns:a="http://schemas.openxmlformats.org/drawingml/2006/main">
            <a:r>
              <a:t>      "안내와 접수·처리 완료의 혼동"</a:t>
            </a:r>
          </a:p>
          <a:p xmlns:a="http://schemas.openxmlformats.org/drawingml/2006/main">
            <a:r>
              <a:t>    ],</a:t>
            </a:r>
          </a:p>
          <a:p xmlns:a="http://schemas.openxmlformats.org/drawingml/2006/main">
            <a:r>
              <a:t>    "architecture": [</a:t>
            </a:r>
          </a:p>
          <a:p xmlns:a="http://schemas.openxmlformats.org/drawingml/2006/main">
            <a:r>
              <a:t>      "이용자 대화",</a:t>
            </a:r>
          </a:p>
          <a:p xmlns:a="http://schemas.openxmlformats.org/drawingml/2006/main">
            <a:r>
              <a:t>      "Bürokratt 공동 대화",</a:t>
            </a:r>
          </a:p>
          <a:p xmlns:a="http://schemas.openxmlformats.org/drawingml/2006/main">
            <a:r>
              <a:t>      "기관 안내 지식",</a:t>
            </a:r>
          </a:p>
          <a:p xmlns:a="http://schemas.openxmlformats.org/drawingml/2006/main">
            <a:r>
              <a:t>      "상담원·기관 담당"</a:t>
            </a:r>
          </a:p>
          <a:p xmlns:a="http://schemas.openxmlformats.org/drawingml/2006/main">
            <a:r>
              <a:t>    ],</a:t>
            </a:r>
          </a:p>
          <a:p xmlns:a="http://schemas.openxmlformats.org/drawingml/2006/main">
            <a:r>
              <a:t>    "transfers": [</a:t>
            </a:r>
          </a:p>
          <a:p xmlns:a="http://schemas.openxmlformats.org/drawingml/2006/main">
            <a:r>
              <a:t>      "자연어 질문",</a:t>
            </a:r>
          </a:p>
          <a:p xmlns:a="http://schemas.openxmlformats.org/drawingml/2006/main">
            <a:r>
              <a:t>      "소관·안내 근거",</a:t>
            </a:r>
          </a:p>
          <a:p xmlns:a="http://schemas.openxmlformats.org/drawingml/2006/main">
            <a:r>
              <a:t>      "대화 응답",</a:t>
            </a:r>
          </a:p>
          <a:p xmlns:a="http://schemas.openxmlformats.org/drawingml/2006/main">
            <a:r>
              <a:t>      "상담 인계"</a:t>
            </a:r>
          </a:p>
          <a:p xmlns:a="http://schemas.openxmlformats.org/drawingml/2006/main">
            <a:r>
              <a:t>    ],</a:t>
            </a:r>
          </a:p>
          <a:p xmlns:a="http://schemas.openxmlformats.org/drawingml/2006/main">
            <a:r>
              <a:t>    "control": "인계 대상·대화 맥락·수신 확인",</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운영기관 서비스 소개 https://ria.ee/en/state-information-system/artificial-intelligence/burokratt</a:t>
            </a:r>
          </a:p>
          <a:p xmlns:a="http://schemas.openxmlformats.org/drawingml/2006/main">
            <a:r>
              <a:t>홈페이지 https://heen1987-ops.github.io/TS-business-Plan-001/index.html?view=platform-cases&amp;case=PF07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"PF07",</a:t>
            </a:r>
          </a:p>
          <a:p xmlns:a="http://schemas.openxmlformats.org/drawingml/2006/main">
            <a:r>
              <a:t>    "sourceId": "A11",</a:t>
            </a:r>
          </a:p>
          <a:p xmlns:a="http://schemas.openxmlformats.org/drawingml/2006/main">
            <a:r>
              <a:t>    "title": "에스토니아 Bürokratt",</a:t>
            </a:r>
          </a:p>
          <a:p xmlns:a="http://schemas.openxmlformats.org/drawingml/2006/main">
            <a:r>
              <a:t>    "region": "해외",</a:t>
            </a:r>
          </a:p>
          <a:p xmlns:a="http://schemas.openxmlformats.org/drawingml/2006/main">
            <a:r>
              <a:t>    "owner": "RIA·참여 기관",</a:t>
            </a:r>
          </a:p>
          <a:p xmlns:a="http://schemas.openxmlformats.org/drawingml/2006/main">
            <a:r>
              <a:t>    "state": "다기관 안내 운영",</a:t>
            </a:r>
          </a:p>
          <a:p xmlns:a="http://schemas.openxmlformats.org/drawingml/2006/main">
            <a:r>
              <a:t>    "period": "열람 2026.10",</a:t>
            </a:r>
          </a:p>
          <a:p xmlns:a="http://schemas.openxmlformats.org/drawingml/2006/main">
            <a:r>
              <a:t>    "fact": "기관별 안내 지식과 상담원 연결을 공동 기반으로 제공",</a:t>
            </a:r>
          </a:p>
          <a:p xmlns:a="http://schemas.openxmlformats.org/drawingml/2006/main">
            <a:r>
              <a:t>    "limit": "운영기관 목록 확인 · 자율 행정 처리나 최신 LLM 스택의 근거와 구분",</a:t>
            </a:r>
          </a:p>
          <a:p xmlns:a="http://schemas.openxmlformats.org/drawingml/2006/main">
            <a:r>
              <a:t>    "nodes": [</a:t>
            </a:r>
          </a:p>
          <a:p xmlns:a="http://schemas.openxmlformats.org/drawingml/2006/main">
            <a:r>
              <a:t>      "자연어 질문",</a:t>
            </a:r>
          </a:p>
          <a:p xmlns:a="http://schemas.openxmlformats.org/drawingml/2006/main">
            <a:r>
              <a:t>      "기관별 안내 지식",</a:t>
            </a:r>
          </a:p>
          <a:p xmlns:a="http://schemas.openxmlformats.org/drawingml/2006/main">
            <a:r>
              <a:t>      "공통 대화 서비스",</a:t>
            </a:r>
          </a:p>
          <a:p xmlns:a="http://schemas.openxmlformats.org/drawingml/2006/main">
            <a:r>
              <a:t>      "해결·상담원 연결"</a:t>
            </a:r>
          </a:p>
          <a:p xmlns:a="http://schemas.openxmlformats.org/drawingml/2006/main">
            <a:r>
              <a:t>    ],</a:t>
            </a:r>
          </a:p>
          <a:p xmlns:a="http://schemas.openxmlformats.org/drawingml/2006/main">
            <a:r>
              <a:t>    "apply": "민원 안내의 끝점을 담당기관·상담원 수신과 해결 여부까지 확장",</a:t>
            </a:r>
          </a:p>
          <a:p xmlns:a="http://schemas.openxmlformats.org/drawingml/2006/main">
            <a:r>
              <a:t>    "delta": "관할·복수부서·개인정보 경계 및 인계 수락 상태",</a:t>
            </a:r>
          </a:p>
          <a:p xmlns:a="http://schemas.openxmlformats.org/drawingml/2006/main">
            <a:r>
              <a:t>    "test": "미해결·관할외·복수부서 문의의 상담 전환 완료 검증",</a:t>
            </a:r>
          </a:p>
          <a:p xmlns:a="http://schemas.openxmlformats.org/drawingml/2006/main">
            <a:r>
              <a:t>    "url": "https://ria.ee/en/state-information-system/artificial-intelligence/burokratt",</a:t>
            </a:r>
          </a:p>
          <a:p xmlns:a="http://schemas.openxmlformats.org/drawingml/2006/main">
            <a:r>
              <a:t>    "basis": "운영기관 서비스 소개",</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"https://ria.ee/en/state-information-system/artificial-intelligence/burokratt"</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"PF07",</a:t>
            </a:r>
          </a:p>
          <a:p xmlns:a="http://schemas.openxmlformats.org/drawingml/2006/main">
            <a:r>
              <a:t>    "canonicalId": "PF07",</a:t>
            </a:r>
          </a:p>
          <a:p xmlns:a="http://schemas.openxmlformats.org/drawingml/2006/main">
            <a:r>
              <a:t>    "purpose": "기관 안내와 상담 연결의 공동 서비스",</a:t>
            </a:r>
          </a:p>
          <a:p xmlns:a="http://schemas.openxmlformats.org/drawingml/2006/main">
            <a:r>
              <a:t>    "users": "국민·상담원·기관 지식 담당",</a:t>
            </a:r>
          </a:p>
          <a:p xmlns:a="http://schemas.openxmlformats.org/drawingml/2006/main">
            <a:r>
              <a:t>    "scope": [</a:t>
            </a:r>
          </a:p>
          <a:p xmlns:a="http://schemas.openxmlformats.org/drawingml/2006/main">
            <a:r>
              <a:t>      "공동 대화",</a:t>
            </a:r>
          </a:p>
          <a:p xmlns:a="http://schemas.openxmlformats.org/drawingml/2006/main">
            <a:r>
              <a:t>      "기관 안내",</a:t>
            </a:r>
          </a:p>
          <a:p xmlns:a="http://schemas.openxmlformats.org/drawingml/2006/main">
            <a:r>
              <a:t>      "상담원 연결"</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"이용자 대화",</a:t>
            </a:r>
          </a:p>
          <a:p xmlns:a="http://schemas.openxmlformats.org/drawingml/2006/main">
            <a:r>
              <a:t>        "detail": "문의 의도·소관기관·대화 맥락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"공동 대화 / 기관 안내 / 상담원 연결",</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"Bürokratt 공동 대화",</a:t>
            </a:r>
          </a:p>
          <a:p xmlns:a="http://schemas.openxmlformats.org/drawingml/2006/main">
            <a:r>
              <a:t>        "detail": "기관 지식 탐색과 상담 전환 분기",</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"상담원·기관 담당",</a:t>
            </a:r>
          </a:p>
          <a:p xmlns:a="http://schemas.openxmlformats.org/drawingml/2006/main">
            <a:r>
              <a:t>        "detail": "안내 응답 또는 대화 맥락을 포함한 상담 인계",</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"기관 안내 지식",</a:t>
            </a:r>
          </a:p>
          <a:p xmlns:a="http://schemas.openxmlformats.org/drawingml/2006/main">
            <a:r>
              <a:t>        "detail": "기관 안내·FAQ·담당 창구의 갱신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"이관 수신·미해결 질의·지식 갱신 확인",</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"자연어 질문",</a:t>
            </a:r>
          </a:p>
          <a:p xmlns:a="http://schemas.openxmlformats.org/drawingml/2006/main">
            <a:r>
              <a:t>        "input": "문의 의도·소관기관·대화 맥락 확인",</a:t>
            </a:r>
          </a:p>
          <a:p xmlns:a="http://schemas.openxmlformats.org/drawingml/2006/main">
            <a:r>
              <a:t>        "process": "기관 안내·FAQ·담당 창구의 갱신 관리",</a:t>
            </a:r>
          </a:p>
          <a:p xmlns:a="http://schemas.openxmlformats.org/drawingml/2006/main">
            <a:r>
              <a:t>        "output": "자연어 질문"</a:t>
            </a:r>
          </a:p>
          <a:p xmlns:a="http://schemas.openxmlformats.org/drawingml/2006/main">
            <a:r>
              <a:t>      },</a:t>
            </a:r>
          </a:p>
          <a:p xmlns:a="http://schemas.openxmlformats.org/drawingml/2006/main">
            <a:r>
              <a:t>      {</a:t>
            </a:r>
          </a:p>
          <a:p xmlns:a="http://schemas.openxmlformats.org/drawingml/2006/main">
            <a:r>
              <a:t>        "title": "기관별 안내 지식",</a:t>
            </a:r>
          </a:p>
          <a:p xmlns:a="http://schemas.openxmlformats.org/drawingml/2006/main">
            <a:r>
              <a:t>        "input": "자연어 질문",</a:t>
            </a:r>
          </a:p>
          <a:p xmlns:a="http://schemas.openxmlformats.org/drawingml/2006/main">
            <a:r>
              <a:t>        "process": "기관 지식 탐색과 상담 전환 분기",</a:t>
            </a:r>
          </a:p>
          <a:p xmlns:a="http://schemas.openxmlformats.org/drawingml/2006/main">
            <a:r>
              <a:t>        "output": "소관·안내 근거"</a:t>
            </a:r>
          </a:p>
          <a:p xmlns:a="http://schemas.openxmlformats.org/drawingml/2006/main">
            <a:r>
              <a:t>      },</a:t>
            </a:r>
          </a:p>
          <a:p xmlns:a="http://schemas.openxmlformats.org/drawingml/2006/main">
            <a:r>
              <a:t>      {</a:t>
            </a:r>
          </a:p>
          <a:p xmlns:a="http://schemas.openxmlformats.org/drawingml/2006/main">
            <a:r>
              <a:t>        "title": "공통 대화 서비스",</a:t>
            </a:r>
          </a:p>
          <a:p xmlns:a="http://schemas.openxmlformats.org/drawingml/2006/main">
            <a:r>
              <a:t>        "input": "소관·안내 근거",</a:t>
            </a:r>
          </a:p>
          <a:p xmlns:a="http://schemas.openxmlformats.org/drawingml/2006/main">
            <a:r>
              <a:t>        "process": "인계 대상·대화 맥락·수신 확인",</a:t>
            </a:r>
          </a:p>
          <a:p xmlns:a="http://schemas.openxmlformats.org/drawingml/2006/main">
            <a:r>
              <a:t>        "output": "대화 응답"</a:t>
            </a:r>
          </a:p>
          <a:p xmlns:a="http://schemas.openxmlformats.org/drawingml/2006/main">
            <a:r>
              <a:t>      },</a:t>
            </a:r>
          </a:p>
          <a:p xmlns:a="http://schemas.openxmlformats.org/drawingml/2006/main">
            <a:r>
              <a:t>      {</a:t>
            </a:r>
          </a:p>
          <a:p xmlns:a="http://schemas.openxmlformats.org/drawingml/2006/main">
            <a:r>
              <a:t>        "title": "해결·상담원 연결",</a:t>
            </a:r>
          </a:p>
          <a:p xmlns:a="http://schemas.openxmlformats.org/drawingml/2006/main">
            <a:r>
              <a:t>        "input": "대화 응답",</a:t>
            </a:r>
          </a:p>
          <a:p xmlns:a="http://schemas.openxmlformats.org/drawingml/2006/main">
            <a:r>
              <a:t>        "process": "안내 응답 또는 대화 맥락을 포함한 상담 인계",</a:t>
            </a:r>
          </a:p>
          <a:p xmlns:a="http://schemas.openxmlformats.org/drawingml/2006/main">
            <a:r>
              <a:t>        "output": "상담 인계"</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"기관 안내 후 해결이 어려운 문의를 상담원에게 인계",</a:t>
            </a:r>
          </a:p>
          <a:p xmlns:a="http://schemas.openxmlformats.org/drawingml/2006/main">
            <a:r>
              <a:t>      "exception": "소관 불명확·상담원 부재·대화 맥락 누락",</a:t>
            </a:r>
          </a:p>
          <a:p xmlns:a="http://schemas.openxmlformats.org/drawingml/2006/main">
            <a:r>
              <a:t>      "evidence": "기관 선택·인계 내용·수신·해결 여부 기록",</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"국민·상담원·기관 지식 담당",</a:t>
            </a:r>
          </a:p>
          <a:p xmlns:a="http://schemas.openxmlformats.org/drawingml/2006/main">
            <a:r>
              <a:t>          "processing": "문의 의도·소관기관·대화 맥락 확인",</a:t>
            </a:r>
          </a:p>
          <a:p xmlns:a="http://schemas.openxmlformats.org/drawingml/2006/main">
            <a:r>
              <a:t>          "output": "자연어 질문"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"기관 안내 지식",</a:t>
            </a:r>
          </a:p>
          <a:p xmlns:a="http://schemas.openxmlformats.org/drawingml/2006/main">
            <a:r>
              <a:t>          "processing": "기관 안내·FAQ·담당 창구의 갱신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"자연어 질문",</a:t>
            </a:r>
          </a:p>
          <a:p xmlns:a="http://schemas.openxmlformats.org/drawingml/2006/main">
            <a:r>
              <a:t>          "processing": "기관 지식 탐색과 상담 전환 분기",</a:t>
            </a:r>
          </a:p>
          <a:p xmlns:a="http://schemas.openxmlformats.org/drawingml/2006/main">
            <a:r>
              <a:t>          "output": "대화 응답"</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"대화 응답",</a:t>
            </a:r>
          </a:p>
          <a:p xmlns:a="http://schemas.openxmlformats.org/drawingml/2006/main">
            <a:r>
              <a:t>          "processing": "안내 응답 또는 대화 맥락을 포함한 상담 인계",</a:t>
            </a:r>
          </a:p>
          <a:p xmlns:a="http://schemas.openxmlformats.org/drawingml/2006/main">
            <a:r>
              <a:t>          "output": "상담 인계"</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"이관 수신·미해결 질의·지식 갱신 확인",</a:t>
            </a:r>
          </a:p>
          <a:p xmlns:a="http://schemas.openxmlformats.org/drawingml/2006/main">
            <a:r>
              <a:t>          "output": "기관 선택·인계 내용·수신·해결 여부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"이관 수신·미해결 질의·지식 갱신 확인",</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"운영기관 서비스 소개",</a:t>
            </a:r>
          </a:p>
          <a:p xmlns:a="http://schemas.openxmlformats.org/drawingml/2006/main">
            <a:r>
              <a:t>        "url": "https://ria.ee/en/state-information-system/artificial-intelligence/burokratt"</a:t>
            </a:r>
          </a:p>
          <a:p xmlns:a="http://schemas.openxmlformats.org/drawingml/2006/main">
            <a:r>
              <a:t>      }</a:t>
            </a:r>
          </a:p>
          <a:p xmlns:a="http://schemas.openxmlformats.org/drawingml/2006/main">
            <a:r>
              <a:t>    ],</a:t>
            </a:r>
          </a:p>
          <a:p xmlns:a="http://schemas.openxmlformats.org/drawingml/2006/main">
            <a:r>
              <a:t>    "implication": "민원 안내의 끝점을 담당기관·상담원 수신과 해결 여부까지 확장",</a:t>
            </a:r>
          </a:p>
          <a:p xmlns:a="http://schemas.openxmlformats.org/drawingml/2006/main">
            <a:r>
              <a:t>    "local": "민원 안내의 끝점을 담당기관·상담원 수신과 해결 여부까지 확장",</a:t>
            </a:r>
          </a:p>
          <a:p xmlns:a="http://schemas.openxmlformats.org/drawingml/2006/main">
            <a:r>
              <a:t>    "sourceDetail": null,</a:t>
            </a:r>
          </a:p>
          <a:p xmlns:a="http://schemas.openxmlformats.org/drawingml/2006/main">
            <a:r>
              <a:t>    "narrative": [</a:t>
            </a:r>
          </a:p>
          <a:p xmlns:a="http://schemas.openxmlformats.org/drawingml/2006/main">
            <a:r>
              <a:t>      "에스토니아 Bürokratt의 기관 간 대화형 안내·상담 연계 사례. 질문이 한 기관 안에서 해결되지 않는 경우 소관 기관과 상담 경로를 연결하는 서비스 목표.",</a:t>
            </a:r>
          </a:p>
          <a:p xmlns:a="http://schemas.openxmlformats.org/drawingml/2006/main">
            <a:r>
              <a:t>      "공개 Common Knowledge 구성은 수집·정제·파일 처리·스케줄러·내보내기와 Ruuter·Resql·저장소로 구성된 지식 기반 영역. 수집 설정에서 원시 자료·메타데이터 저장, 텍스트 정제와 처리 상태 관리로 이어지는 흐름이며 전체 상담 엔진과는 별도 범위.",</a:t>
            </a:r>
          </a:p>
          <a:p xmlns:a="http://schemas.openxmlformats.org/drawingml/2006/main">
            <a:r>
              <a:t>      "TS 대국민 업무에서는 답변 생성보다 관할 부서 인계와 접수 완료까지의 책임 연결이 중요. 기관 지식 갱신 주기와 상담 수신 여부를 관리하고 이관 실패·담당 부서 변경·중복 접수의 복구 경로를 검수 대상으로 설정."</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"국민 대화 접점",</a:t>
            </a:r>
          </a:p>
          <a:p xmlns:a="http://schemas.openxmlformats.org/drawingml/2006/main">
            <a:r>
              <a:t>          "layer": "이용 접점",</a:t>
            </a:r>
          </a:p>
          <a:p xmlns:a="http://schemas.openxmlformats.org/drawingml/2006/main">
            <a:r>
              <a:t>          "detail": "국민·상담원·기관 지식 담당",</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"의도·소관기관",</a:t>
            </a:r>
          </a:p>
          <a:p xmlns:a="http://schemas.openxmlformats.org/drawingml/2006/main">
            <a:r>
              <a:t>          "layer": "업무 문맥",</a:t>
            </a:r>
          </a:p>
          <a:p xmlns:a="http://schemas.openxmlformats.org/drawingml/2006/main">
            <a:r>
              <a:t>          "detail": "문의 의도·소관기관·대화 맥락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"기관 지식 조회",</a:t>
            </a:r>
          </a:p>
          <a:p xmlns:a="http://schemas.openxmlformats.org/drawingml/2006/main">
            <a:r>
              <a:t>          "layer": "자료 조회",</a:t>
            </a:r>
          </a:p>
          <a:p xmlns:a="http://schemas.openxmlformats.org/drawingml/2006/main">
            <a:r>
              <a:t>          "detail": "자연어 질문",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"공동 대화 처리",</a:t>
            </a:r>
          </a:p>
          <a:p xmlns:a="http://schemas.openxmlformats.org/drawingml/2006/main">
            <a:r>
              <a:t>          "layer": "핵심 처리",</a:t>
            </a:r>
          </a:p>
          <a:p xmlns:a="http://schemas.openxmlformats.org/drawingml/2006/main">
            <a:r>
              <a:t>          "detail": "기관 지식 탐색과 상담 전환 분기",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"미해결·소관 검사",</a:t>
            </a:r>
          </a:p>
          <a:p xmlns:a="http://schemas.openxmlformats.org/drawingml/2006/main">
            <a:r>
              <a:t>          "layer": "결과 검증",</a:t>
            </a:r>
          </a:p>
          <a:p xmlns:a="http://schemas.openxmlformats.org/drawingml/2006/main">
            <a:r>
              <a:t>          "detail": "인계 대상·대화 맥락·수신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"상담원 확인",</a:t>
            </a:r>
          </a:p>
          <a:p xmlns:a="http://schemas.openxmlformats.org/drawingml/2006/main">
            <a:r>
              <a:t>          "layer": "사람 확인",</a:t>
            </a:r>
          </a:p>
          <a:p xmlns:a="http://schemas.openxmlformats.org/drawingml/2006/main">
            <a:r>
              <a:t>          "detail": "기관 안내 후 해결이 어려운 문의를 상담원에게 인계",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"맥락 포함 인계",</a:t>
            </a:r>
          </a:p>
          <a:p xmlns:a="http://schemas.openxmlformats.org/drawingml/2006/main">
            <a:r>
              <a:t>          "layer": "업무 연결",</a:t>
            </a:r>
          </a:p>
          <a:p xmlns:a="http://schemas.openxmlformats.org/drawingml/2006/main">
            <a:r>
              <a:t>          "detail": "안내 응답 또는 대화 맥락을 포함한 상담 인계",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"수신·해결 추적",</a:t>
            </a:r>
          </a:p>
          <a:p xmlns:a="http://schemas.openxmlformats.org/drawingml/2006/main">
            <a:r>
              <a:t>          "layer": "운영 관측",</a:t>
            </a:r>
          </a:p>
          <a:p xmlns:a="http://schemas.openxmlformats.org/drawingml/2006/main">
            <a:r>
              <a:t>          "detail": "이관 수신·미해결 질의·지식 갱신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"공식 웹·API",</a:t>
            </a:r>
          </a:p>
          <a:p xmlns:a="http://schemas.openxmlformats.org/drawingml/2006/main">
            <a:r>
              <a:t>          "layer": "데이터 원천",</a:t>
            </a:r>
          </a:p>
          <a:p xmlns:a="http://schemas.openxmlformats.org/drawingml/2006/main">
            <a:r>
              <a:t>          "detail": "기관 안내 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"수집·정제·갱신",</a:t>
            </a:r>
          </a:p>
          <a:p xmlns:a="http://schemas.openxmlformats.org/drawingml/2006/main">
            <a:r>
              <a:t>          "layer": "준비·갱신",</a:t>
            </a:r>
          </a:p>
          <a:p xmlns:a="http://schemas.openxmlformats.org/drawingml/2006/main">
            <a:r>
              <a:t>          "detail": "기관 안내·FAQ·담당 창구의 갱신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"공동 지식·메타DB",</a:t>
            </a:r>
          </a:p>
          <a:p xmlns:a="http://schemas.openxmlformats.org/drawingml/2006/main">
            <a:r>
              <a:t>          "layer": "상태·지식 저장",</a:t>
            </a:r>
          </a:p>
          <a:p xmlns:a="http://schemas.openxmlformats.org/drawingml/2006/main">
            <a:r>
              <a:t>          "detail": "기관 선택·인계 내용·수신·해결 여부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"기관·상담 권한",</a:t>
            </a:r>
          </a:p>
          <a:p xmlns:a="http://schemas.openxmlformats.org/drawingml/2006/main">
            <a:r>
              <a:t>          "layer": "권한·정책",</a:t>
            </a:r>
          </a:p>
          <a:p xmlns:a="http://schemas.openxmlformats.org/drawingml/2006/main">
            <a:r>
              <a:t>          "detail": "소관 불명확·상담원 부재·대화 맥락 누락",</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"문의 의도·소관기관·대화 맥락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"자연어 질문",</a:t>
            </a:r>
          </a:p>
          <a:p xmlns:a="http://schemas.openxmlformats.org/drawingml/2006/main">
            <a:r>
              <a:t>          "check": "인계 대상·대화 맥락·수신 확인"</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"소관·안내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"대화 응답",</a:t>
            </a:r>
          </a:p>
          <a:p xmlns:a="http://schemas.openxmlformats.org/drawingml/2006/main">
            <a:r>
              <a:t>          "check": "소관 불명확·상담원 부재·대화 맥락 누락"</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"대화 응답",</a:t>
            </a:r>
          </a:p>
          <a:p xmlns:a="http://schemas.openxmlformats.org/drawingml/2006/main">
            <a:r>
              <a:t>          "check": "안내 응답 또는 대화 맥락을 포함한 상담 인계"</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"상담 인계",</a:t>
            </a:r>
          </a:p>
          <a:p xmlns:a="http://schemas.openxmlformats.org/drawingml/2006/main">
            <a:r>
              <a:t>          "check": "기관 선택·인계 내용·수신·해결 여부 기록"</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"Common-Knowledge ARCHITECTURE.md",</a:t>
            </a:r>
          </a:p>
          <a:p xmlns:a="http://schemas.openxmlformats.org/drawingml/2006/main">
            <a:r>
              <a:t>        "extracted": "Ruuter·Resql·수집/정제/파일처리·PostgreSQL·S3 지식 계층",</a:t>
            </a:r>
          </a:p>
          <a:p xmlns:a="http://schemas.openxmlformats.org/drawingml/2006/main">
            <a:r>
              <a:t>        "extension": "공동 지식 계층과 상담 이관의 서비스 연결 설계"</a:t>
            </a:r>
          </a:p>
          <a:p xmlns:a="http://schemas.openxmlformats.org/drawingml/2006/main">
            <a:r>
              <a:t>      },</a:t>
            </a:r>
          </a:p>
          <a:p xmlns:a="http://schemas.openxmlformats.org/drawingml/2006/main">
            <a:r>
              <a:t>      "figures": [],</a:t>
            </a:r>
          </a:p>
          <a:p xmlns:a="http://schemas.openxmlformats.org/drawingml/2006/main">
            <a:r>
              <a:t>      "source": {</a:t>
            </a:r>
          </a:p>
          <a:p xmlns:a="http://schemas.openxmlformats.org/drawingml/2006/main">
            <a:r>
              <a:t>        "title": "Bürokratt Common Knowledge · 공식 아키텍처",</a:t>
            </a:r>
          </a:p>
          <a:p xmlns:a="http://schemas.openxmlformats.org/drawingml/2006/main">
            <a:r>
              <a:t>        "url": "https://github.com/buerokratt/Common-Knowledge/blob/main/ARCHITECTURE.md"</a:t>
            </a:r>
          </a:p>
          <a:p xmlns:a="http://schemas.openxmlformats.org/drawingml/2006/main">
            <a:r>
              <a:t>      },</a:t>
            </a:r>
          </a:p>
          <a:p xmlns:a="http://schemas.openxmlformats.org/drawingml/2006/main">
            <a:r>
              <a:t>      "exception": {</a:t>
            </a:r>
          </a:p>
          <a:p xmlns:a="http://schemas.openxmlformats.org/drawingml/2006/main">
            <a:r>
              <a:t>        "input": "소관 불명확·상담원 부재·대화 맥락 누락",</a:t>
            </a:r>
          </a:p>
          <a:p xmlns:a="http://schemas.openxmlformats.org/drawingml/2006/main">
            <a:r>
              <a:t>        "hold": "인계 대상·대화 맥락·수신 확인",</a:t>
            </a:r>
          </a:p>
          <a:p xmlns:a="http://schemas.openxmlformats.org/drawingml/2006/main">
            <a:r>
              <a:t>        "recovery": "이관 수신·미해결 질의·지식 갱신 확인",</a:t>
            </a:r>
          </a:p>
          <a:p xmlns:a="http://schemas.openxmlformats.org/drawingml/2006/main">
            <a:r>
              <a:t>        "evidence": "기관 선택·인계 내용·수신·해결 여부 기록"</a:t>
            </a:r>
          </a:p>
          <a:p xmlns:a="http://schemas.openxmlformats.org/drawingml/2006/main">
            <a:r>
              <a:t>      },</a:t>
            </a:r>
          </a:p>
          <a:p xmlns:a="http://schemas.openxmlformats.org/drawingml/2006/main">
            <a:r>
              <a:t>      "data": {</a:t>
            </a:r>
          </a:p>
          <a:p xmlns:a="http://schemas.openxmlformats.org/drawingml/2006/main">
            <a:r>
              <a:t>        "source": "기관 안내 지식",</a:t>
            </a:r>
          </a:p>
          <a:p xmlns:a="http://schemas.openxmlformats.org/drawingml/2006/main">
            <a:r>
              <a:t>        "prepare": "기관 안내·FAQ·담당 창구의 갱신 관리",</a:t>
            </a:r>
          </a:p>
          <a:p xmlns:a="http://schemas.openxmlformats.org/drawingml/2006/main">
            <a:r>
              <a:t>        "output": "자연어 질문",</a:t>
            </a:r>
          </a:p>
          <a:p xmlns:a="http://schemas.openxmlformats.org/drawingml/2006/main">
            <a:r>
              <a:t>        "refresh": "이관 수신·미해결 질의·지식 갱신 확인"</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"PF07",</a:t>
            </a:r>
          </a:p>
          <a:p xmlns:a="http://schemas.openxmlformats.org/drawingml/2006/main">
            <a:r>
              <a:t>    "success": [</a:t>
            </a:r>
          </a:p>
          <a:p xmlns:a="http://schemas.openxmlformats.org/drawingml/2006/main">
            <a:r>
              <a:t>      "기관 안내 지식의 공동 기반",</a:t>
            </a:r>
          </a:p>
          <a:p xmlns:a="http://schemas.openxmlformats.org/drawingml/2006/main">
            <a:r>
              <a:t>      "해결 불가 시 상담원 연결"</a:t>
            </a:r>
          </a:p>
          <a:p xmlns:a="http://schemas.openxmlformats.org/drawingml/2006/main">
            <a:r>
              <a:t>    ],</a:t>
            </a:r>
          </a:p>
          <a:p xmlns:a="http://schemas.openxmlformats.org/drawingml/2006/main">
            <a:r>
              <a:t>    "risks": [</a:t>
            </a:r>
          </a:p>
          <a:p xmlns:a="http://schemas.openxmlformats.org/drawingml/2006/main">
            <a:r>
              <a:t>      "기관 간 지식·소관 불일치",</a:t>
            </a:r>
          </a:p>
          <a:p xmlns:a="http://schemas.openxmlformats.org/drawingml/2006/main">
            <a:r>
              <a:t>      "안내와 접수·처리 완료의 혼동"</a:t>
            </a:r>
          </a:p>
          <a:p xmlns:a="http://schemas.openxmlformats.org/drawingml/2006/main">
            <a:r>
              <a:t>    ],</a:t>
            </a:r>
          </a:p>
          <a:p xmlns:a="http://schemas.openxmlformats.org/drawingml/2006/main">
            <a:r>
              <a:t>    "architecture": [</a:t>
            </a:r>
          </a:p>
          <a:p xmlns:a="http://schemas.openxmlformats.org/drawingml/2006/main">
            <a:r>
              <a:t>      "이용자 대화",</a:t>
            </a:r>
          </a:p>
          <a:p xmlns:a="http://schemas.openxmlformats.org/drawingml/2006/main">
            <a:r>
              <a:t>      "Bürokratt 공동 대화",</a:t>
            </a:r>
          </a:p>
          <a:p xmlns:a="http://schemas.openxmlformats.org/drawingml/2006/main">
            <a:r>
              <a:t>      "기관 안내 지식",</a:t>
            </a:r>
          </a:p>
          <a:p xmlns:a="http://schemas.openxmlformats.org/drawingml/2006/main">
            <a:r>
              <a:t>      "상담원·기관 담당"</a:t>
            </a:r>
          </a:p>
          <a:p xmlns:a="http://schemas.openxmlformats.org/drawingml/2006/main">
            <a:r>
              <a:t>    ],</a:t>
            </a:r>
          </a:p>
          <a:p xmlns:a="http://schemas.openxmlformats.org/drawingml/2006/main">
            <a:r>
              <a:t>    "transfers": [</a:t>
            </a:r>
          </a:p>
          <a:p xmlns:a="http://schemas.openxmlformats.org/drawingml/2006/main">
            <a:r>
              <a:t>      "자연어 질문",</a:t>
            </a:r>
          </a:p>
          <a:p xmlns:a="http://schemas.openxmlformats.org/drawingml/2006/main">
            <a:r>
              <a:t>      "소관·안내 근거",</a:t>
            </a:r>
          </a:p>
          <a:p xmlns:a="http://schemas.openxmlformats.org/drawingml/2006/main">
            <a:r>
              <a:t>      "대화 응답",</a:t>
            </a:r>
          </a:p>
          <a:p xmlns:a="http://schemas.openxmlformats.org/drawingml/2006/main">
            <a:r>
              <a:t>      "상담 인계"</a:t>
            </a:r>
          </a:p>
          <a:p xmlns:a="http://schemas.openxmlformats.org/drawingml/2006/main">
            <a:r>
              <a:t>    ],</a:t>
            </a:r>
          </a:p>
          <a:p xmlns:a="http://schemas.openxmlformats.org/drawingml/2006/main">
            <a:r>
              <a:t>    "control": "인계 대상·대화 맥락·수신 확인",</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운영기관 서비스 소개 https://ria.ee/en/state-information-system/artificial-intelligence/burokratt</a:t>
            </a:r>
          </a:p>
          <a:p xmlns:a="http://schemas.openxmlformats.org/drawingml/2006/main">
            <a:r>
              <a:t>홈페이지 https://heen1987-ops.github.io/TS-business-Plan-001/index.html?view=platform-cases&amp;case=PF07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"PF07",</a:t>
            </a:r>
          </a:p>
          <a:p xmlns:a="http://schemas.openxmlformats.org/drawingml/2006/main">
            <a:r>
              <a:t>    "sourceId": "A11",</a:t>
            </a:r>
          </a:p>
          <a:p xmlns:a="http://schemas.openxmlformats.org/drawingml/2006/main">
            <a:r>
              <a:t>    "title": "에스토니아 Bürokratt",</a:t>
            </a:r>
          </a:p>
          <a:p xmlns:a="http://schemas.openxmlformats.org/drawingml/2006/main">
            <a:r>
              <a:t>    "region": "해외",</a:t>
            </a:r>
          </a:p>
          <a:p xmlns:a="http://schemas.openxmlformats.org/drawingml/2006/main">
            <a:r>
              <a:t>    "owner": "RIA·참여 기관",</a:t>
            </a:r>
          </a:p>
          <a:p xmlns:a="http://schemas.openxmlformats.org/drawingml/2006/main">
            <a:r>
              <a:t>    "state": "다기관 안내 운영",</a:t>
            </a:r>
          </a:p>
          <a:p xmlns:a="http://schemas.openxmlformats.org/drawingml/2006/main">
            <a:r>
              <a:t>    "period": "열람 2026.10",</a:t>
            </a:r>
          </a:p>
          <a:p xmlns:a="http://schemas.openxmlformats.org/drawingml/2006/main">
            <a:r>
              <a:t>    "fact": "기관별 안내 지식과 상담원 연결을 공동 기반으로 제공",</a:t>
            </a:r>
          </a:p>
          <a:p xmlns:a="http://schemas.openxmlformats.org/drawingml/2006/main">
            <a:r>
              <a:t>    "limit": "운영기관 목록 확인 · 자율 행정 처리나 최신 LLM 스택의 근거와 구분",</a:t>
            </a:r>
          </a:p>
          <a:p xmlns:a="http://schemas.openxmlformats.org/drawingml/2006/main">
            <a:r>
              <a:t>    "nodes": [</a:t>
            </a:r>
          </a:p>
          <a:p xmlns:a="http://schemas.openxmlformats.org/drawingml/2006/main">
            <a:r>
              <a:t>      "자연어 질문",</a:t>
            </a:r>
          </a:p>
          <a:p xmlns:a="http://schemas.openxmlformats.org/drawingml/2006/main">
            <a:r>
              <a:t>      "기관별 안내 지식",</a:t>
            </a:r>
          </a:p>
          <a:p xmlns:a="http://schemas.openxmlformats.org/drawingml/2006/main">
            <a:r>
              <a:t>      "공통 대화 서비스",</a:t>
            </a:r>
          </a:p>
          <a:p xmlns:a="http://schemas.openxmlformats.org/drawingml/2006/main">
            <a:r>
              <a:t>      "해결·상담원 연결"</a:t>
            </a:r>
          </a:p>
          <a:p xmlns:a="http://schemas.openxmlformats.org/drawingml/2006/main">
            <a:r>
              <a:t>    ],</a:t>
            </a:r>
          </a:p>
          <a:p xmlns:a="http://schemas.openxmlformats.org/drawingml/2006/main">
            <a:r>
              <a:t>    "apply": "민원 안내의 끝점을 담당기관·상담원 수신과 해결 여부까지 확장",</a:t>
            </a:r>
          </a:p>
          <a:p xmlns:a="http://schemas.openxmlformats.org/drawingml/2006/main">
            <a:r>
              <a:t>    "delta": "관할·복수부서·개인정보 경계 및 인계 수락 상태",</a:t>
            </a:r>
          </a:p>
          <a:p xmlns:a="http://schemas.openxmlformats.org/drawingml/2006/main">
            <a:r>
              <a:t>    "test": "미해결·관할외·복수부서 문의의 상담 전환 완료 검증",</a:t>
            </a:r>
          </a:p>
          <a:p xmlns:a="http://schemas.openxmlformats.org/drawingml/2006/main">
            <a:r>
              <a:t>    "url": "https://ria.ee/en/state-information-system/artificial-intelligence/burokratt",</a:t>
            </a:r>
          </a:p>
          <a:p xmlns:a="http://schemas.openxmlformats.org/drawingml/2006/main">
            <a:r>
              <a:t>    "basis": "운영기관 서비스 소개",</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"https://ria.ee/en/state-information-system/artificial-intelligence/burokratt"</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"PF07",</a:t>
            </a:r>
          </a:p>
          <a:p xmlns:a="http://schemas.openxmlformats.org/drawingml/2006/main">
            <a:r>
              <a:t>    "canonicalId": "PF07",</a:t>
            </a:r>
          </a:p>
          <a:p xmlns:a="http://schemas.openxmlformats.org/drawingml/2006/main">
            <a:r>
              <a:t>    "purpose": "기관 안내와 상담 연결의 공동 서비스",</a:t>
            </a:r>
          </a:p>
          <a:p xmlns:a="http://schemas.openxmlformats.org/drawingml/2006/main">
            <a:r>
              <a:t>    "users": "국민·상담원·기관 지식 담당",</a:t>
            </a:r>
          </a:p>
          <a:p xmlns:a="http://schemas.openxmlformats.org/drawingml/2006/main">
            <a:r>
              <a:t>    "scope": [</a:t>
            </a:r>
          </a:p>
          <a:p xmlns:a="http://schemas.openxmlformats.org/drawingml/2006/main">
            <a:r>
              <a:t>      "공동 대화",</a:t>
            </a:r>
          </a:p>
          <a:p xmlns:a="http://schemas.openxmlformats.org/drawingml/2006/main">
            <a:r>
              <a:t>      "기관 안내",</a:t>
            </a:r>
          </a:p>
          <a:p xmlns:a="http://schemas.openxmlformats.org/drawingml/2006/main">
            <a:r>
              <a:t>      "상담원 연결"</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"이용자 대화",</a:t>
            </a:r>
          </a:p>
          <a:p xmlns:a="http://schemas.openxmlformats.org/drawingml/2006/main">
            <a:r>
              <a:t>        "detail": "문의 의도·소관기관·대화 맥락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"공동 대화 / 기관 안내 / 상담원 연결",</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"Bürokratt 공동 대화",</a:t>
            </a:r>
          </a:p>
          <a:p xmlns:a="http://schemas.openxmlformats.org/drawingml/2006/main">
            <a:r>
              <a:t>        "detail": "기관 지식 탐색과 상담 전환 분기",</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"상담원·기관 담당",</a:t>
            </a:r>
          </a:p>
          <a:p xmlns:a="http://schemas.openxmlformats.org/drawingml/2006/main">
            <a:r>
              <a:t>        "detail": "안내 응답 또는 대화 맥락을 포함한 상담 인계",</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"기관 안내 지식",</a:t>
            </a:r>
          </a:p>
          <a:p xmlns:a="http://schemas.openxmlformats.org/drawingml/2006/main">
            <a:r>
              <a:t>        "detail": "기관 안내·FAQ·담당 창구의 갱신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"이관 수신·미해결 질의·지식 갱신 확인",</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"자연어 질문",</a:t>
            </a:r>
          </a:p>
          <a:p xmlns:a="http://schemas.openxmlformats.org/drawingml/2006/main">
            <a:r>
              <a:t>        "input": "문의 의도·소관기관·대화 맥락 확인",</a:t>
            </a:r>
          </a:p>
          <a:p xmlns:a="http://schemas.openxmlformats.org/drawingml/2006/main">
            <a:r>
              <a:t>        "process": "기관 안내·FAQ·담당 창구의 갱신 관리",</a:t>
            </a:r>
          </a:p>
          <a:p xmlns:a="http://schemas.openxmlformats.org/drawingml/2006/main">
            <a:r>
              <a:t>        "output": "자연어 질문"</a:t>
            </a:r>
          </a:p>
          <a:p xmlns:a="http://schemas.openxmlformats.org/drawingml/2006/main">
            <a:r>
              <a:t>      },</a:t>
            </a:r>
          </a:p>
          <a:p xmlns:a="http://schemas.openxmlformats.org/drawingml/2006/main">
            <a:r>
              <a:t>      {</a:t>
            </a:r>
          </a:p>
          <a:p xmlns:a="http://schemas.openxmlformats.org/drawingml/2006/main">
            <a:r>
              <a:t>        "title": "기관별 안내 지식",</a:t>
            </a:r>
          </a:p>
          <a:p xmlns:a="http://schemas.openxmlformats.org/drawingml/2006/main">
            <a:r>
              <a:t>        "input": "자연어 질문",</a:t>
            </a:r>
          </a:p>
          <a:p xmlns:a="http://schemas.openxmlformats.org/drawingml/2006/main">
            <a:r>
              <a:t>        "process": "기관 지식 탐색과 상담 전환 분기",</a:t>
            </a:r>
          </a:p>
          <a:p xmlns:a="http://schemas.openxmlformats.org/drawingml/2006/main">
            <a:r>
              <a:t>        "output": "소관·안내 근거"</a:t>
            </a:r>
          </a:p>
          <a:p xmlns:a="http://schemas.openxmlformats.org/drawingml/2006/main">
            <a:r>
              <a:t>      },</a:t>
            </a:r>
          </a:p>
          <a:p xmlns:a="http://schemas.openxmlformats.org/drawingml/2006/main">
            <a:r>
              <a:t>      {</a:t>
            </a:r>
          </a:p>
          <a:p xmlns:a="http://schemas.openxmlformats.org/drawingml/2006/main">
            <a:r>
              <a:t>        "title": "공통 대화 서비스",</a:t>
            </a:r>
          </a:p>
          <a:p xmlns:a="http://schemas.openxmlformats.org/drawingml/2006/main">
            <a:r>
              <a:t>        "input": "소관·안내 근거",</a:t>
            </a:r>
          </a:p>
          <a:p xmlns:a="http://schemas.openxmlformats.org/drawingml/2006/main">
            <a:r>
              <a:t>        "process": "인계 대상·대화 맥락·수신 확인",</a:t>
            </a:r>
          </a:p>
          <a:p xmlns:a="http://schemas.openxmlformats.org/drawingml/2006/main">
            <a:r>
              <a:t>        "output": "대화 응답"</a:t>
            </a:r>
          </a:p>
          <a:p xmlns:a="http://schemas.openxmlformats.org/drawingml/2006/main">
            <a:r>
              <a:t>      },</a:t>
            </a:r>
          </a:p>
          <a:p xmlns:a="http://schemas.openxmlformats.org/drawingml/2006/main">
            <a:r>
              <a:t>      {</a:t>
            </a:r>
          </a:p>
          <a:p xmlns:a="http://schemas.openxmlformats.org/drawingml/2006/main">
            <a:r>
              <a:t>        "title": "해결·상담원 연결",</a:t>
            </a:r>
          </a:p>
          <a:p xmlns:a="http://schemas.openxmlformats.org/drawingml/2006/main">
            <a:r>
              <a:t>        "input": "대화 응답",</a:t>
            </a:r>
          </a:p>
          <a:p xmlns:a="http://schemas.openxmlformats.org/drawingml/2006/main">
            <a:r>
              <a:t>        "process": "안내 응답 또는 대화 맥락을 포함한 상담 인계",</a:t>
            </a:r>
          </a:p>
          <a:p xmlns:a="http://schemas.openxmlformats.org/drawingml/2006/main">
            <a:r>
              <a:t>        "output": "상담 인계"</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"기관 안내 후 해결이 어려운 문의를 상담원에게 인계",</a:t>
            </a:r>
          </a:p>
          <a:p xmlns:a="http://schemas.openxmlformats.org/drawingml/2006/main">
            <a:r>
              <a:t>      "exception": "소관 불명확·상담원 부재·대화 맥락 누락",</a:t>
            </a:r>
          </a:p>
          <a:p xmlns:a="http://schemas.openxmlformats.org/drawingml/2006/main">
            <a:r>
              <a:t>      "evidence": "기관 선택·인계 내용·수신·해결 여부 기록",</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"국민·상담원·기관 지식 담당",</a:t>
            </a:r>
          </a:p>
          <a:p xmlns:a="http://schemas.openxmlformats.org/drawingml/2006/main">
            <a:r>
              <a:t>          "processing": "문의 의도·소관기관·대화 맥락 확인",</a:t>
            </a:r>
          </a:p>
          <a:p xmlns:a="http://schemas.openxmlformats.org/drawingml/2006/main">
            <a:r>
              <a:t>          "output": "자연어 질문"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"기관 안내 지식",</a:t>
            </a:r>
          </a:p>
          <a:p xmlns:a="http://schemas.openxmlformats.org/drawingml/2006/main">
            <a:r>
              <a:t>          "processing": "기관 안내·FAQ·담당 창구의 갱신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"자연어 질문",</a:t>
            </a:r>
          </a:p>
          <a:p xmlns:a="http://schemas.openxmlformats.org/drawingml/2006/main">
            <a:r>
              <a:t>          "processing": "기관 지식 탐색과 상담 전환 분기",</a:t>
            </a:r>
          </a:p>
          <a:p xmlns:a="http://schemas.openxmlformats.org/drawingml/2006/main">
            <a:r>
              <a:t>          "output": "대화 응답"</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"대화 응답",</a:t>
            </a:r>
          </a:p>
          <a:p xmlns:a="http://schemas.openxmlformats.org/drawingml/2006/main">
            <a:r>
              <a:t>          "processing": "안내 응답 또는 대화 맥락을 포함한 상담 인계",</a:t>
            </a:r>
          </a:p>
          <a:p xmlns:a="http://schemas.openxmlformats.org/drawingml/2006/main">
            <a:r>
              <a:t>          "output": "상담 인계"</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"이관 수신·미해결 질의·지식 갱신 확인",</a:t>
            </a:r>
          </a:p>
          <a:p xmlns:a="http://schemas.openxmlformats.org/drawingml/2006/main">
            <a:r>
              <a:t>          "output": "기관 선택·인계 내용·수신·해결 여부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"이관 수신·미해결 질의·지식 갱신 확인",</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"운영기관 서비스 소개",</a:t>
            </a:r>
          </a:p>
          <a:p xmlns:a="http://schemas.openxmlformats.org/drawingml/2006/main">
            <a:r>
              <a:t>        "url": "https://ria.ee/en/state-information-system/artificial-intelligence/burokratt"</a:t>
            </a:r>
          </a:p>
          <a:p xmlns:a="http://schemas.openxmlformats.org/drawingml/2006/main">
            <a:r>
              <a:t>      }</a:t>
            </a:r>
          </a:p>
          <a:p xmlns:a="http://schemas.openxmlformats.org/drawingml/2006/main">
            <a:r>
              <a:t>    ],</a:t>
            </a:r>
          </a:p>
          <a:p xmlns:a="http://schemas.openxmlformats.org/drawingml/2006/main">
            <a:r>
              <a:t>    "implication": "민원 안내의 끝점을 담당기관·상담원 수신과 해결 여부까지 확장",</a:t>
            </a:r>
          </a:p>
          <a:p xmlns:a="http://schemas.openxmlformats.org/drawingml/2006/main">
            <a:r>
              <a:t>    "local": "민원 안내의 끝점을 담당기관·상담원 수신과 해결 여부까지 확장",</a:t>
            </a:r>
          </a:p>
          <a:p xmlns:a="http://schemas.openxmlformats.org/drawingml/2006/main">
            <a:r>
              <a:t>    "sourceDetail": null,</a:t>
            </a:r>
          </a:p>
          <a:p xmlns:a="http://schemas.openxmlformats.org/drawingml/2006/main">
            <a:r>
              <a:t>    "narrative": [</a:t>
            </a:r>
          </a:p>
          <a:p xmlns:a="http://schemas.openxmlformats.org/drawingml/2006/main">
            <a:r>
              <a:t>      "에스토니아 Bürokratt의 기관 간 대화형 안내·상담 연계 사례. 질문이 한 기관 안에서 해결되지 않는 경우 소관 기관과 상담 경로를 연결하는 서비스 목표.",</a:t>
            </a:r>
          </a:p>
          <a:p xmlns:a="http://schemas.openxmlformats.org/drawingml/2006/main">
            <a:r>
              <a:t>      "공개 Common Knowledge 구성은 수집·정제·파일 처리·스케줄러·내보내기와 Ruuter·Resql·저장소로 구성된 지식 기반 영역. 수집 설정에서 원시 자료·메타데이터 저장, 텍스트 정제와 처리 상태 관리로 이어지는 흐름이며 전체 상담 엔진과는 별도 범위.",</a:t>
            </a:r>
          </a:p>
          <a:p xmlns:a="http://schemas.openxmlformats.org/drawingml/2006/main">
            <a:r>
              <a:t>      "TS 대국민 업무에서는 답변 생성보다 관할 부서 인계와 접수 완료까지의 책임 연결이 중요. 기관 지식 갱신 주기와 상담 수신 여부를 관리하고 이관 실패·담당 부서 변경·중복 접수의 복구 경로를 검수 대상으로 설정."</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"국민 대화 접점",</a:t>
            </a:r>
          </a:p>
          <a:p xmlns:a="http://schemas.openxmlformats.org/drawingml/2006/main">
            <a:r>
              <a:t>          "layer": "이용 접점",</a:t>
            </a:r>
          </a:p>
          <a:p xmlns:a="http://schemas.openxmlformats.org/drawingml/2006/main">
            <a:r>
              <a:t>          "detail": "국민·상담원·기관 지식 담당",</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"의도·소관기관",</a:t>
            </a:r>
          </a:p>
          <a:p xmlns:a="http://schemas.openxmlformats.org/drawingml/2006/main">
            <a:r>
              <a:t>          "layer": "업무 문맥",</a:t>
            </a:r>
          </a:p>
          <a:p xmlns:a="http://schemas.openxmlformats.org/drawingml/2006/main">
            <a:r>
              <a:t>          "detail": "문의 의도·소관기관·대화 맥락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"기관 지식 조회",</a:t>
            </a:r>
          </a:p>
          <a:p xmlns:a="http://schemas.openxmlformats.org/drawingml/2006/main">
            <a:r>
              <a:t>          "layer": "자료 조회",</a:t>
            </a:r>
          </a:p>
          <a:p xmlns:a="http://schemas.openxmlformats.org/drawingml/2006/main">
            <a:r>
              <a:t>          "detail": "자연어 질문",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"공동 대화 처리",</a:t>
            </a:r>
          </a:p>
          <a:p xmlns:a="http://schemas.openxmlformats.org/drawingml/2006/main">
            <a:r>
              <a:t>          "layer": "핵심 처리",</a:t>
            </a:r>
          </a:p>
          <a:p xmlns:a="http://schemas.openxmlformats.org/drawingml/2006/main">
            <a:r>
              <a:t>          "detail": "기관 지식 탐색과 상담 전환 분기",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"미해결·소관 검사",</a:t>
            </a:r>
          </a:p>
          <a:p xmlns:a="http://schemas.openxmlformats.org/drawingml/2006/main">
            <a:r>
              <a:t>          "layer": "결과 검증",</a:t>
            </a:r>
          </a:p>
          <a:p xmlns:a="http://schemas.openxmlformats.org/drawingml/2006/main">
            <a:r>
              <a:t>          "detail": "인계 대상·대화 맥락·수신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"상담원 확인",</a:t>
            </a:r>
          </a:p>
          <a:p xmlns:a="http://schemas.openxmlformats.org/drawingml/2006/main">
            <a:r>
              <a:t>          "layer": "사람 확인",</a:t>
            </a:r>
          </a:p>
          <a:p xmlns:a="http://schemas.openxmlformats.org/drawingml/2006/main">
            <a:r>
              <a:t>          "detail": "기관 안내 후 해결이 어려운 문의를 상담원에게 인계",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"맥락 포함 인계",</a:t>
            </a:r>
          </a:p>
          <a:p xmlns:a="http://schemas.openxmlformats.org/drawingml/2006/main">
            <a:r>
              <a:t>          "layer": "업무 연결",</a:t>
            </a:r>
          </a:p>
          <a:p xmlns:a="http://schemas.openxmlformats.org/drawingml/2006/main">
            <a:r>
              <a:t>          "detail": "안내 응답 또는 대화 맥락을 포함한 상담 인계",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"수신·해결 추적",</a:t>
            </a:r>
          </a:p>
          <a:p xmlns:a="http://schemas.openxmlformats.org/drawingml/2006/main">
            <a:r>
              <a:t>          "layer": "운영 관측",</a:t>
            </a:r>
          </a:p>
          <a:p xmlns:a="http://schemas.openxmlformats.org/drawingml/2006/main">
            <a:r>
              <a:t>          "detail": "이관 수신·미해결 질의·지식 갱신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"공식 웹·API",</a:t>
            </a:r>
          </a:p>
          <a:p xmlns:a="http://schemas.openxmlformats.org/drawingml/2006/main">
            <a:r>
              <a:t>          "layer": "데이터 원천",</a:t>
            </a:r>
          </a:p>
          <a:p xmlns:a="http://schemas.openxmlformats.org/drawingml/2006/main">
            <a:r>
              <a:t>          "detail": "기관 안내 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"수집·정제·갱신",</a:t>
            </a:r>
          </a:p>
          <a:p xmlns:a="http://schemas.openxmlformats.org/drawingml/2006/main">
            <a:r>
              <a:t>          "layer": "준비·갱신",</a:t>
            </a:r>
          </a:p>
          <a:p xmlns:a="http://schemas.openxmlformats.org/drawingml/2006/main">
            <a:r>
              <a:t>          "detail": "기관 안내·FAQ·담당 창구의 갱신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"공동 지식·메타DB",</a:t>
            </a:r>
          </a:p>
          <a:p xmlns:a="http://schemas.openxmlformats.org/drawingml/2006/main">
            <a:r>
              <a:t>          "layer": "상태·지식 저장",</a:t>
            </a:r>
          </a:p>
          <a:p xmlns:a="http://schemas.openxmlformats.org/drawingml/2006/main">
            <a:r>
              <a:t>          "detail": "기관 선택·인계 내용·수신·해결 여부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"기관·상담 권한",</a:t>
            </a:r>
          </a:p>
          <a:p xmlns:a="http://schemas.openxmlformats.org/drawingml/2006/main">
            <a:r>
              <a:t>          "layer": "권한·정책",</a:t>
            </a:r>
          </a:p>
          <a:p xmlns:a="http://schemas.openxmlformats.org/drawingml/2006/main">
            <a:r>
              <a:t>          "detail": "소관 불명확·상담원 부재·대화 맥락 누락",</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"문의 의도·소관기관·대화 맥락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"자연어 질문",</a:t>
            </a:r>
          </a:p>
          <a:p xmlns:a="http://schemas.openxmlformats.org/drawingml/2006/main">
            <a:r>
              <a:t>          "check": "인계 대상·대화 맥락·수신 확인"</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"소관·안내 근거",</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"대화 응답",</a:t>
            </a:r>
          </a:p>
          <a:p xmlns:a="http://schemas.openxmlformats.org/drawingml/2006/main">
            <a:r>
              <a:t>          "check": "소관 불명확·상담원 부재·대화 맥락 누락"</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"대화 응답",</a:t>
            </a:r>
          </a:p>
          <a:p xmlns:a="http://schemas.openxmlformats.org/drawingml/2006/main">
            <a:r>
              <a:t>          "check": "안내 응답 또는 대화 맥락을 포함한 상담 인계"</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"상담 인계",</a:t>
            </a:r>
          </a:p>
          <a:p xmlns:a="http://schemas.openxmlformats.org/drawingml/2006/main">
            <a:r>
              <a:t>          "check": "기관 선택·인계 내용·수신·해결 여부 기록"</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"Common-Knowledge ARCHITECTURE.md",</a:t>
            </a:r>
          </a:p>
          <a:p xmlns:a="http://schemas.openxmlformats.org/drawingml/2006/main">
            <a:r>
              <a:t>        "extracted": "Ruuter·Resql·수집/정제/파일처리·PostgreSQL·S3 지식 계층",</a:t>
            </a:r>
          </a:p>
          <a:p xmlns:a="http://schemas.openxmlformats.org/drawingml/2006/main">
            <a:r>
              <a:t>        "extension": "공동 지식 계층과 상담 이관의 서비스 연결 설계"</a:t>
            </a:r>
          </a:p>
          <a:p xmlns:a="http://schemas.openxmlformats.org/drawingml/2006/main">
            <a:r>
              <a:t>      },</a:t>
            </a:r>
          </a:p>
          <a:p xmlns:a="http://schemas.openxmlformats.org/drawingml/2006/main">
            <a:r>
              <a:t>      "figures": [],</a:t>
            </a:r>
          </a:p>
          <a:p xmlns:a="http://schemas.openxmlformats.org/drawingml/2006/main">
            <a:r>
              <a:t>      "source": {</a:t>
            </a:r>
          </a:p>
          <a:p xmlns:a="http://schemas.openxmlformats.org/drawingml/2006/main">
            <a:r>
              <a:t>        "title": "Bürokratt Common Knowledge · 공식 아키텍처",</a:t>
            </a:r>
          </a:p>
          <a:p xmlns:a="http://schemas.openxmlformats.org/drawingml/2006/main">
            <a:r>
              <a:t>        "url": "https://github.com/buerokratt/Common-Knowledge/blob/main/ARCHITECTURE.md"</a:t>
            </a:r>
          </a:p>
          <a:p xmlns:a="http://schemas.openxmlformats.org/drawingml/2006/main">
            <a:r>
              <a:t>      },</a:t>
            </a:r>
          </a:p>
          <a:p xmlns:a="http://schemas.openxmlformats.org/drawingml/2006/main">
            <a:r>
              <a:t>      "exception": {</a:t>
            </a:r>
          </a:p>
          <a:p xmlns:a="http://schemas.openxmlformats.org/drawingml/2006/main">
            <a:r>
              <a:t>        "input": "소관 불명확·상담원 부재·대화 맥락 누락",</a:t>
            </a:r>
          </a:p>
          <a:p xmlns:a="http://schemas.openxmlformats.org/drawingml/2006/main">
            <a:r>
              <a:t>        "hold": "인계 대상·대화 맥락·수신 확인",</a:t>
            </a:r>
          </a:p>
          <a:p xmlns:a="http://schemas.openxmlformats.org/drawingml/2006/main">
            <a:r>
              <a:t>        "recovery": "이관 수신·미해결 질의·지식 갱신 확인",</a:t>
            </a:r>
          </a:p>
          <a:p xmlns:a="http://schemas.openxmlformats.org/drawingml/2006/main">
            <a:r>
              <a:t>        "evidence": "기관 선택·인계 내용·수신·해결 여부 기록"</a:t>
            </a:r>
          </a:p>
          <a:p xmlns:a="http://schemas.openxmlformats.org/drawingml/2006/main">
            <a:r>
              <a:t>      },</a:t>
            </a:r>
          </a:p>
          <a:p xmlns:a="http://schemas.openxmlformats.org/drawingml/2006/main">
            <a:r>
              <a:t>      "data": {</a:t>
            </a:r>
          </a:p>
          <a:p xmlns:a="http://schemas.openxmlformats.org/drawingml/2006/main">
            <a:r>
              <a:t>        "source": "기관 안내 지식",</a:t>
            </a:r>
          </a:p>
          <a:p xmlns:a="http://schemas.openxmlformats.org/drawingml/2006/main">
            <a:r>
              <a:t>        "prepare": "기관 안내·FAQ·담당 창구의 갱신 관리",</a:t>
            </a:r>
          </a:p>
          <a:p xmlns:a="http://schemas.openxmlformats.org/drawingml/2006/main">
            <a:r>
              <a:t>        "output": "자연어 질문",</a:t>
            </a:r>
          </a:p>
          <a:p xmlns:a="http://schemas.openxmlformats.org/drawingml/2006/main">
            <a:r>
              <a:t>        "refresh": "이관 수신·미해결 질의·지식 갱신 확인"</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"PF07",</a:t>
            </a:r>
          </a:p>
          <a:p xmlns:a="http://schemas.openxmlformats.org/drawingml/2006/main">
            <a:r>
              <a:t>    "success": [</a:t>
            </a:r>
          </a:p>
          <a:p xmlns:a="http://schemas.openxmlformats.org/drawingml/2006/main">
            <a:r>
              <a:t>      "기관 안내 지식의 공동 기반",</a:t>
            </a:r>
          </a:p>
          <a:p xmlns:a="http://schemas.openxmlformats.org/drawingml/2006/main">
            <a:r>
              <a:t>      "해결 불가 시 상담원 연결"</a:t>
            </a:r>
          </a:p>
          <a:p xmlns:a="http://schemas.openxmlformats.org/drawingml/2006/main">
            <a:r>
              <a:t>    ],</a:t>
            </a:r>
          </a:p>
          <a:p xmlns:a="http://schemas.openxmlformats.org/drawingml/2006/main">
            <a:r>
              <a:t>    "risks": [</a:t>
            </a:r>
          </a:p>
          <a:p xmlns:a="http://schemas.openxmlformats.org/drawingml/2006/main">
            <a:r>
              <a:t>      "기관 간 지식·소관 불일치",</a:t>
            </a:r>
          </a:p>
          <a:p xmlns:a="http://schemas.openxmlformats.org/drawingml/2006/main">
            <a:r>
              <a:t>      "안내와 접수·처리 완료의 혼동"</a:t>
            </a:r>
          </a:p>
          <a:p xmlns:a="http://schemas.openxmlformats.org/drawingml/2006/main">
            <a:r>
              <a:t>    ],</a:t>
            </a:r>
          </a:p>
          <a:p xmlns:a="http://schemas.openxmlformats.org/drawingml/2006/main">
            <a:r>
              <a:t>    "architecture": [</a:t>
            </a:r>
          </a:p>
          <a:p xmlns:a="http://schemas.openxmlformats.org/drawingml/2006/main">
            <a:r>
              <a:t>      "이용자 대화",</a:t>
            </a:r>
          </a:p>
          <a:p xmlns:a="http://schemas.openxmlformats.org/drawingml/2006/main">
            <a:r>
              <a:t>      "Bürokratt 공동 대화",</a:t>
            </a:r>
          </a:p>
          <a:p xmlns:a="http://schemas.openxmlformats.org/drawingml/2006/main">
            <a:r>
              <a:t>      "기관 안내 지식",</a:t>
            </a:r>
          </a:p>
          <a:p xmlns:a="http://schemas.openxmlformats.org/drawingml/2006/main">
            <a:r>
              <a:t>      "상담원·기관 담당"</a:t>
            </a:r>
          </a:p>
          <a:p xmlns:a="http://schemas.openxmlformats.org/drawingml/2006/main">
            <a:r>
              <a:t>    ],</a:t>
            </a:r>
          </a:p>
          <a:p xmlns:a="http://schemas.openxmlformats.org/drawingml/2006/main">
            <a:r>
              <a:t>    "transfers": [</a:t>
            </a:r>
          </a:p>
          <a:p xmlns:a="http://schemas.openxmlformats.org/drawingml/2006/main">
            <a:r>
              <a:t>      "자연어 질문",</a:t>
            </a:r>
          </a:p>
          <a:p xmlns:a="http://schemas.openxmlformats.org/drawingml/2006/main">
            <a:r>
              <a:t>      "소관·안내 근거",</a:t>
            </a:r>
          </a:p>
          <a:p xmlns:a="http://schemas.openxmlformats.org/drawingml/2006/main">
            <a:r>
              <a:t>      "대화 응답",</a:t>
            </a:r>
          </a:p>
          <a:p xmlns:a="http://schemas.openxmlformats.org/drawingml/2006/main">
            <a:r>
              <a:t>      "상담 인계"</a:t>
            </a:r>
          </a:p>
          <a:p xmlns:a="http://schemas.openxmlformats.org/drawingml/2006/main">
            <a:r>
              <a:t>    ],</a:t>
            </a:r>
          </a:p>
          <a:p xmlns:a="http://schemas.openxmlformats.org/drawingml/2006/main">
            <a:r>
              <a:t>    "control": "인계 대상·대화 맥락·수신 확인",</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운영기관 서비스 소개 https://ria.ee/en/state-information-system/artificial-intelligence/burokratt</a:t>
            </a:r>
          </a:p>
          <a:p xmlns:a="http://schemas.openxmlformats.org/drawingml/2006/main">
            <a:r>
              <a:t>홈페이지 https://heen1987-ops.github.io/TS-business-Plan-001/index.html?view=platform-cases&amp;case=PF07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"PF-A12",</a:t>
            </a:r>
          </a:p>
          <a:p xmlns:a="http://schemas.openxmlformats.org/drawingml/2006/main">
            <a:r>
              <a:t>    "sourceId": "A12",</a:t>
            </a:r>
          </a:p>
          <a:p xmlns:a="http://schemas.openxmlformats.org/drawingml/2006/main">
            <a:r>
              <a:t>    "title": "GOV.UK Chat",</a:t>
            </a:r>
          </a:p>
          <a:p xmlns:a="http://schemas.openxmlformats.org/drawingml/2006/main">
            <a:r>
              <a:t>    "region": "해외",</a:t>
            </a:r>
          </a:p>
          <a:p xmlns:a="http://schemas.openxmlformats.org/drawingml/2006/main">
            <a:r>
              <a:t>    "owner": "GDS / GOV.UK Chat",</a:t>
            </a:r>
          </a:p>
          <a:p xmlns:a="http://schemas.openxmlformats.org/drawingml/2006/main">
            <a:r>
              <a:t>    "state": "웹·앱 실증 평가 공개(2026-03)",</a:t>
            </a:r>
          </a:p>
          <a:p xmlns:a="http://schemas.openxmlformats.org/drawingml/2006/main">
            <a:r>
              <a:t>    "period": "기존 원장 확인 2026.10.16",</a:t>
            </a:r>
          </a:p>
          <a:p xmlns:a="http://schemas.openxmlformats.org/drawingml/2006/main">
            <a:r>
              <a:t>    "fact": "공통 지식 기반 대민 서비스",</a:t>
            </a:r>
          </a:p>
          <a:p xmlns:a="http://schemas.openxmlformats.org/drawingml/2006/main">
            <a:r>
              <a:t>    "limit": "2026-03 시험: 모호한 질문은 추가 확인으로 개선, 개인자료 상담 연결 미지원. 범위 내 답변률88%, 평균응답10.7초. 정확도·답변률·앱 설문을 구분.",</a:t>
            </a:r>
          </a:p>
          <a:p xmlns:a="http://schemas.openxmlformats.org/drawingml/2006/main">
            <a:r>
              <a:t>    "nodes": [</a:t>
            </a:r>
          </a:p>
          <a:p xmlns:a="http://schemas.openxmlformats.org/drawingml/2006/main">
            <a:r>
              <a:t>      "공식 공개 자료",</a:t>
            </a:r>
          </a:p>
          <a:p xmlns:a="http://schemas.openxmlformats.org/drawingml/2006/main">
            <a:r>
              <a:t>      "질문·범위 분류",</a:t>
            </a:r>
          </a:p>
          <a:p xmlns:a="http://schemas.openxmlformats.org/drawingml/2006/main">
            <a:r>
              <a:t>      "RAG 응답",</a:t>
            </a:r>
          </a:p>
          <a:p xmlns:a="http://schemas.openxmlformats.org/drawingml/2006/main">
            <a:r>
              <a:t>      "사용자 실증"</a:t>
            </a:r>
          </a:p>
          <a:p xmlns:a="http://schemas.openxmlformats.org/drawingml/2006/main">
            <a:r>
              <a:t>    ],</a:t>
            </a:r>
          </a:p>
          <a:p xmlns:a="http://schemas.openxmlformats.org/drawingml/2006/main">
            <a:r>
              <a:t>    "apply": "공개 지식의 출처 응답과 공식 신청 페이지를 연결하는 대민 접점",</a:t>
            </a:r>
          </a:p>
          <a:p xmlns:a="http://schemas.openxmlformats.org/drawingml/2006/main">
            <a:r>
              <a:t>    "delta": "발화 확인·준비서류·공식 메뉴·상담 연결",</a:t>
            </a:r>
          </a:p>
          <a:p xmlns:a="http://schemas.openxmlformats.org/drawingml/2006/main">
            <a:r>
              <a:t>    "test": "서비스 도달률·포기율의 기준선·비교 평가",</a:t>
            </a:r>
          </a:p>
          <a:p xmlns:a="http://schemas.openxmlformats.org/drawingml/2006/main">
            <a:r>
              <a:t>    "url": "https://insidegovuk.blog.gov.uk/2026/03/16/5-things-we-learned-testing-gov-uk-chat-an-ai-assistant-for-government/",</a:t>
            </a:r>
          </a:p>
          <a:p xmlns:a="http://schemas.openxmlformats.org/drawingml/2006/main">
            <a:r>
              <a:t>    "urls": [</a:t>
            </a:r>
          </a:p>
          <a:p xmlns:a="http://schemas.openxmlformats.org/drawingml/2006/main">
            <a:r>
              <a:t>      "https://insidegovuk.blog.gov.uk/2026/03/16/5-things-we-learned-testing-gov-uk-chat-an-ai-assistant-for-government/",</a:t>
            </a:r>
          </a:p>
          <a:p xmlns:a="http://schemas.openxmlformats.org/drawingml/2006/main">
            <a:r>
              <a:t>      "https://insidegovuk.blog.gov.uk/2026/05/15/developing-gov-uk-chat-our-data-science-and-ai-engineering-journey/"</a:t>
            </a:r>
          </a:p>
          <a:p xmlns:a="http://schemas.openxmlformats.org/drawingml/2006/main">
            <a:r>
              <a:t>    ],</a:t>
            </a:r>
          </a:p>
          <a:p xmlns:a="http://schemas.openxmlformats.org/drawingml/2006/main">
            <a:r>
              <a:t>    "basis": "T062·T080·P136~139 / 평가 설계",</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"서비스 도달률·포기율",</a:t>
            </a:r>
          </a:p>
          <a:p xmlns:a="http://schemas.openxmlformats.org/drawingml/2006/main">
            <a:r>
              <a:t>    "group": "운영·실증",</a:t>
            </a:r>
          </a:p>
          <a:p xmlns:a="http://schemas.openxmlformats.org/drawingml/2006/main">
            <a:r>
              <a:t>    "sourceDetail": "GOV.UK 콘텐츠 기반 RAG·출처 연결, 도메인/범위 제어, 전문가+자동 평가\n사용자 실증·질문셋·답변 품질 검토로 개선",</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"PF-A12",</a:t>
            </a:r>
          </a:p>
          <a:p xmlns:a="http://schemas.openxmlformats.org/drawingml/2006/main">
            <a:r>
              <a:t>    "canonicalId": "AX06",</a:t>
            </a:r>
          </a:p>
          <a:p xmlns:a="http://schemas.openxmlformats.org/drawingml/2006/main">
            <a:r>
              <a:t>    "purpose": "공식 정부 안내를 자연어로 탐색하는 접점",</a:t>
            </a:r>
          </a:p>
          <a:p xmlns:a="http://schemas.openxmlformats.org/drawingml/2006/main">
            <a:r>
              <a:t>    "users": "국민·GOV.UK 운영팀",</a:t>
            </a:r>
          </a:p>
          <a:p xmlns:a="http://schemas.openxmlformats.org/drawingml/2006/main">
            <a:r>
              <a:t>    "scope": [</a:t>
            </a:r>
          </a:p>
          <a:p xmlns:a="http://schemas.openxmlformats.org/drawingml/2006/main">
            <a:r>
              <a:t>      "공식 지식 검색",</a:t>
            </a:r>
          </a:p>
          <a:p xmlns:a="http://schemas.openxmlformats.org/drawingml/2006/main">
            <a:r>
              <a:t>      "출처 답변",</a:t>
            </a:r>
          </a:p>
          <a:p xmlns:a="http://schemas.openxmlformats.org/drawingml/2006/main">
            <a:r>
              <a:t>      "서비스 안내"</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"GOV.UK 앱",</a:t>
            </a:r>
          </a:p>
          <a:p xmlns:a="http://schemas.openxmlformats.org/drawingml/2006/main">
            <a:r>
              <a:t>        "detail": "앱 질문과 이전 대화의 문맥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"공식 지식 검색 / 출처 답변 / 서비스 안내",</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"Rails·Claude / Bedrock",</a:t>
            </a:r>
          </a:p>
          <a:p xmlns:a="http://schemas.openxmlformats.org/drawingml/2006/main">
            <a:r>
              <a:t>        "detail": "질문 처리·검색·Claude 응답의 조정",</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"이용자·운영자",</a:t>
            </a:r>
          </a:p>
          <a:p xmlns:a="http://schemas.openxmlformats.org/drawingml/2006/main">
            <a:r>
              <a:t>        "detail": "출처가 있는 답변과 공식 안내 페이지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"OpenSearch·품질 분석 기록",</a:t>
            </a:r>
          </a:p>
          <a:p xmlns:a="http://schemas.openxmlformats.org/drawingml/2006/main">
            <a:r>
              <a:t>        "detail": "공개 콘텐츠 선별·벡터화·OpenSearch 저장",</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"관리 도구·BigQuery 기반 품질 분석",</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"공식 공개 자료",</a:t>
            </a:r>
          </a:p>
          <a:p xmlns:a="http://schemas.openxmlformats.org/drawingml/2006/main">
            <a:r>
              <a:t>        "input": "앱 질문과 이전 대화의 문맥 구성",</a:t>
            </a:r>
          </a:p>
          <a:p xmlns:a="http://schemas.openxmlformats.org/drawingml/2006/main">
            <a:r>
              <a:t>        "process": "공개 콘텐츠 선별·벡터화·OpenSearch 저장",</a:t>
            </a:r>
          </a:p>
          <a:p xmlns:a="http://schemas.openxmlformats.org/drawingml/2006/main">
            <a:r>
              <a:t>        "output": "질문"</a:t>
            </a:r>
          </a:p>
          <a:p xmlns:a="http://schemas.openxmlformats.org/drawingml/2006/main">
            <a:r>
              <a:t>      },</a:t>
            </a:r>
          </a:p>
          <a:p xmlns:a="http://schemas.openxmlformats.org/drawingml/2006/main">
            <a:r>
              <a:t>      {</a:t>
            </a:r>
          </a:p>
          <a:p xmlns:a="http://schemas.openxmlformats.org/drawingml/2006/main">
            <a:r>
              <a:t>        "title": "질문·범위 분류",</a:t>
            </a:r>
          </a:p>
          <a:p xmlns:a="http://schemas.openxmlformats.org/drawingml/2006/main">
            <a:r>
              <a:t>        "input": "질문",</a:t>
            </a:r>
          </a:p>
          <a:p xmlns:a="http://schemas.openxmlformats.org/drawingml/2006/main">
            <a:r>
              <a:t>        "process": "질문 처리·검색·Claude 응답의 조정",</a:t>
            </a:r>
          </a:p>
          <a:p xmlns:a="http://schemas.openxmlformats.org/drawingml/2006/main">
            <a:r>
              <a:t>        "output": "공식 문서 조각"</a:t>
            </a:r>
          </a:p>
          <a:p xmlns:a="http://schemas.openxmlformats.org/drawingml/2006/main">
            <a:r>
              <a:t>      },</a:t>
            </a:r>
          </a:p>
          <a:p xmlns:a="http://schemas.openxmlformats.org/drawingml/2006/main">
            <a:r>
              <a:t>      {</a:t>
            </a:r>
          </a:p>
          <a:p xmlns:a="http://schemas.openxmlformats.org/drawingml/2006/main">
            <a:r>
              <a:t>        "title": "RAG 응답",</a:t>
            </a:r>
          </a:p>
          <a:p xmlns:a="http://schemas.openxmlformats.org/drawingml/2006/main">
            <a:r>
              <a:t>        "input": "공식 문서 조각",</a:t>
            </a:r>
          </a:p>
          <a:p xmlns:a="http://schemas.openxmlformats.org/drawingml/2006/main">
            <a:r>
              <a:t>        "process": "의도 분류·근거·응답 품질 대조",</a:t>
            </a:r>
          </a:p>
          <a:p xmlns:a="http://schemas.openxmlformats.org/drawingml/2006/main">
            <a:r>
              <a:t>        "output": "출처 답변"</a:t>
            </a:r>
          </a:p>
          <a:p xmlns:a="http://schemas.openxmlformats.org/drawingml/2006/main">
            <a:r>
              <a:t>      },</a:t>
            </a:r>
          </a:p>
          <a:p xmlns:a="http://schemas.openxmlformats.org/drawingml/2006/main">
            <a:r>
              <a:t>      {</a:t>
            </a:r>
          </a:p>
          <a:p xmlns:a="http://schemas.openxmlformats.org/drawingml/2006/main">
            <a:r>
              <a:t>        "title": "사용자 실증",</a:t>
            </a:r>
          </a:p>
          <a:p xmlns:a="http://schemas.openxmlformats.org/drawingml/2006/main">
            <a:r>
              <a:t>        "input": "출처 답변",</a:t>
            </a:r>
          </a:p>
          <a:p xmlns:a="http://schemas.openxmlformats.org/drawingml/2006/main">
            <a:r>
              <a:t>        "process": "출처가 있는 답변과 공식 안내 페이지 제공",</a:t>
            </a:r>
          </a:p>
          <a:p xmlns:a="http://schemas.openxmlformats.org/drawingml/2006/main">
            <a:r>
              <a:t>        "output": "공식 서비스"</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"신청 방법을 질문하고 근거 안내와 해당 공식 페이지 확인",</a:t>
            </a:r>
          </a:p>
          <a:p xmlns:a="http://schemas.openxmlformats.org/drawingml/2006/main">
            <a:r>
              <a:t>      "exception": "범위 밖 질문·상충 안내·개인 업무의 실행 요청",</a:t>
            </a:r>
          </a:p>
          <a:p xmlns:a="http://schemas.openxmlformats.org/drawingml/2006/main">
            <a:r>
              <a:t>      "evidence": "정답 안내 페이지·근거 문단·응답 보류·처리시간 대조",</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"국민·GOV.UK 운영팀",</a:t>
            </a:r>
          </a:p>
          <a:p xmlns:a="http://schemas.openxmlformats.org/drawingml/2006/main">
            <a:r>
              <a:t>          "processing": "앱 질문과 이전 대화의 문맥 구성",</a:t>
            </a:r>
          </a:p>
          <a:p xmlns:a="http://schemas.openxmlformats.org/drawingml/2006/main">
            <a:r>
              <a:t>          "output": "질문"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"OpenSearch·품질 분석 기록",</a:t>
            </a:r>
          </a:p>
          <a:p xmlns:a="http://schemas.openxmlformats.org/drawingml/2006/main">
            <a:r>
              <a:t>          "processing": "공개 콘텐츠 선별·벡터화·OpenSearch 저장",</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"질문",</a:t>
            </a:r>
          </a:p>
          <a:p xmlns:a="http://schemas.openxmlformats.org/drawingml/2006/main">
            <a:r>
              <a:t>          "processing": "질문 처리·검색·Claude 응답의 조정",</a:t>
            </a:r>
          </a:p>
          <a:p xmlns:a="http://schemas.openxmlformats.org/drawingml/2006/main">
            <a:r>
              <a:t>          "output": "출처 답변"</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"출처 답변",</a:t>
            </a:r>
          </a:p>
          <a:p xmlns:a="http://schemas.openxmlformats.org/drawingml/2006/main">
            <a:r>
              <a:t>          "processing": "출처가 있는 답변과 공식 안내 페이지 제공",</a:t>
            </a:r>
          </a:p>
          <a:p xmlns:a="http://schemas.openxmlformats.org/drawingml/2006/main">
            <a:r>
              <a:t>          "output": "공식 서비스"</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"관리 도구·BigQuery 기반 품질 분석",</a:t>
            </a:r>
          </a:p>
          <a:p xmlns:a="http://schemas.openxmlformats.org/drawingml/2006/main">
            <a:r>
              <a:t>          "output": "정답 안내 페이지·근거 문단·응답 보류·처리시간 대조"</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"관리 도구·BigQuery 기반 품질 분석",</a:t>
            </a:r>
          </a:p>
          <a:p xmlns:a="http://schemas.openxmlformats.org/drawingml/2006/main">
            <a:r>
              <a:t>    "status": "공개자료 기반 추론 설계",</a:t>
            </a:r>
          </a:p>
          <a:p xmlns:a="http://schemas.openxmlformats.org/drawingml/2006/main">
            <a:r>
              <a:t>    "basis": "공개 기술 설명 + 연결 구조 추론",</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"T062·T080·P136~139 / 평가 설계",</a:t>
            </a:r>
          </a:p>
          <a:p xmlns:a="http://schemas.openxmlformats.org/drawingml/2006/main">
            <a:r>
              <a:t>        "url": "https://insidegovuk.blog.gov.uk/2026/03/16/5-things-we-learned-testing-gov-uk-chat-an-ai-assistant-for-government/"</a:t>
            </a:r>
          </a:p>
          <a:p xmlns:a="http://schemas.openxmlformats.org/drawingml/2006/main">
            <a:r>
              <a:t>      },</a:t>
            </a:r>
          </a:p>
          <a:p xmlns:a="http://schemas.openxmlformats.org/drawingml/2006/main">
            <a:r>
              <a:t>      {</a:t>
            </a:r>
          </a:p>
          <a:p xmlns:a="http://schemas.openxmlformats.org/drawingml/2006/main">
            <a:r>
              <a:t>        "title": "GOV.UK Chat 기술 공개 기록 · 2025-10-07",</a:t>
            </a:r>
          </a:p>
          <a:p xmlns:a="http://schemas.openxmlformats.org/drawingml/2006/main">
            <a:r>
              <a:t>        "url": "https://www.gov.uk/algorithmic-transparency-records/dsit-gov-dot-uk-chat"</a:t>
            </a:r>
          </a:p>
          <a:p xmlns:a="http://schemas.openxmlformats.org/drawingml/2006/main">
            <a:r>
              <a:t>      }</a:t>
            </a:r>
          </a:p>
          <a:p xmlns:a="http://schemas.openxmlformats.org/drawingml/2006/main">
            <a:r>
              <a:t>    ],</a:t>
            </a:r>
          </a:p>
          <a:p xmlns:a="http://schemas.openxmlformats.org/drawingml/2006/main">
            <a:r>
              <a:t>    "implication": "공식 서비스 목록·정확도·수행 경계의 명시",</a:t>
            </a:r>
          </a:p>
          <a:p xmlns:a="http://schemas.openxmlformats.org/drawingml/2006/main">
            <a:r>
              <a:t>    "local": "공개 지식의 출처 응답과 공식 신청 페이지를 연결하는 대민 접점",</a:t>
            </a:r>
          </a:p>
          <a:p xmlns:a="http://schemas.openxmlformats.org/drawingml/2006/main">
            <a:r>
              <a:t>    "sourceDetail": "GOV.UK 콘텐츠 기반 RAG·출처 연결, 도메인/범위 제어, 전문가+자동 평가\n사용자 실증·질문셋·답변 품질 검토로 개선",</a:t>
            </a:r>
          </a:p>
          <a:p xmlns:a="http://schemas.openxmlformats.org/drawingml/2006/main">
            <a:r>
              <a:t>    "narrative": [</a:t>
            </a:r>
          </a:p>
          <a:p xmlns:a="http://schemas.openxmlformats.org/drawingml/2006/main">
            <a:r>
              <a:t>      "정부 안내 페이지를 이용자가 직접 탐색하는 과정에 자연어 질의 접점을 추가한 사례. 질문에 대한 설명과 실제 공공서비스 신청은 별도 단계이며 원문·공식 서비스로의 이동이 중요한 완료조건.",</a:t>
            </a:r>
          </a:p>
          <a:p xmlns:a="http://schemas.openxmlformats.org/drawingml/2006/main">
            <a:r>
              <a:t>      "공개 기술기록의 Rails·Claude/Bedrock·OpenSearch·BigQuery를 기준으로 콘텐츠 준비, 질의 검색, 응답 생성, 품질 관측을 구분. 2023년 파일럿 설계와 2025년 공개 기술기록은 판본이 다른 자료로 취급.",</a:t>
            </a:r>
          </a:p>
          <a:p xmlns:a="http://schemas.openxmlformats.org/drawingml/2006/main">
            <a:r>
              <a:t>      "CCK에서는 TS 메뉴를 없애기보다 질문의 소관·지역·자격을 정리하고 검증된 메뉴에 연결하는 방식으로 현지화. 근거 없음·범위 밖 질의·느린 응답·틀린 신청 경로를 별도 과업으로 시험할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"GOV.UK 앱 질의",</a:t>
            </a:r>
          </a:p>
          <a:p xmlns:a="http://schemas.openxmlformats.org/drawingml/2006/main">
            <a:r>
              <a:t>          "layer": "이용 접점",</a:t>
            </a:r>
          </a:p>
          <a:p xmlns:a="http://schemas.openxmlformats.org/drawingml/2006/main">
            <a:r>
              <a:t>          "detail": "국민·GOV.UK 운영팀",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"질문·대화 문맥",</a:t>
            </a:r>
          </a:p>
          <a:p xmlns:a="http://schemas.openxmlformats.org/drawingml/2006/main">
            <a:r>
              <a:t>          "layer": "업무 문맥",</a:t>
            </a:r>
          </a:p>
          <a:p xmlns:a="http://schemas.openxmlformats.org/drawingml/2006/main">
            <a:r>
              <a:t>          "detail": "앱 질문과 이전 대화의 문맥 구성",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"OpenSearch 검색",</a:t>
            </a:r>
          </a:p>
          <a:p xmlns:a="http://schemas.openxmlformats.org/drawingml/2006/main">
            <a:r>
              <a:t>          "layer": "자료 조회",</a:t>
            </a:r>
          </a:p>
          <a:p xmlns:a="http://schemas.openxmlformats.org/drawingml/2006/main">
            <a:r>
              <a:t>          "detail": "질문",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"Claude / Bedrock",</a:t>
            </a:r>
          </a:p>
          <a:p xmlns:a="http://schemas.openxmlformats.org/drawingml/2006/main">
            <a:r>
              <a:t>          "layer": "핵심 처리",</a:t>
            </a:r>
          </a:p>
          <a:p xmlns:a="http://schemas.openxmlformats.org/drawingml/2006/main">
            <a:r>
              <a:t>          "detail": "질문 처리·검색·Claude 응답의 조정",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"범위·근거 검사",</a:t>
            </a:r>
          </a:p>
          <a:p xmlns:a="http://schemas.openxmlformats.org/drawingml/2006/main">
            <a:r>
              <a:t>          "layer": "결과 검증",</a:t>
            </a:r>
          </a:p>
          <a:p xmlns:a="http://schemas.openxmlformats.org/drawingml/2006/main">
            <a:r>
              <a:t>          "detail": "의도 분류·근거·응답 품질 대조",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"이용자 원문 확인",</a:t>
            </a:r>
          </a:p>
          <a:p xmlns:a="http://schemas.openxmlformats.org/drawingml/2006/main">
            <a:r>
              <a:t>          "layer": "사람 확인",</a:t>
            </a:r>
          </a:p>
          <a:p xmlns:a="http://schemas.openxmlformats.org/drawingml/2006/main">
            <a:r>
              <a:t>          "detail": "신청 방법을 질문하고 근거 안내와 해당 공식 페이지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"공식 서비스 연결",</a:t>
            </a:r>
          </a:p>
          <a:p xmlns:a="http://schemas.openxmlformats.org/drawingml/2006/main">
            <a:r>
              <a:t>          "layer": "업무 연결",</a:t>
            </a:r>
          </a:p>
          <a:p xmlns:a="http://schemas.openxmlformats.org/drawingml/2006/main">
            <a:r>
              <a:t>          "detail": "출처가 있는 답변과 공식 안내 페이지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"관리·품질 분석",</a:t>
            </a:r>
          </a:p>
          <a:p xmlns:a="http://schemas.openxmlformats.org/drawingml/2006/main">
            <a:r>
              <a:t>          "layer": "운영 관측",</a:t>
            </a:r>
          </a:p>
          <a:p xmlns:a="http://schemas.openxmlformats.org/drawingml/2006/main">
            <a:r>
              <a:t>          "detail": "관리 도구·BigQuery 기반 품질 분석",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"GOV.UK 콘텐츠",</a:t>
            </a:r>
          </a:p>
          <a:p xmlns:a="http://schemas.openxmlformats.org/drawingml/2006/main">
            <a:r>
              <a:t>          "layer": "데이터 원천",</a:t>
            </a:r>
          </a:p>
          <a:p xmlns:a="http://schemas.openxmlformats.org/drawingml/2006/main">
            <a:r>
              <a:t>          "detail": "OpenSearch·품질 분석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"선별·청킹·벡터화",</a:t>
            </a:r>
          </a:p>
          <a:p xmlns:a="http://schemas.openxmlformats.org/drawingml/2006/main">
            <a:r>
              <a:t>          "layer": "준비·갱신",</a:t>
            </a:r>
          </a:p>
          <a:p xmlns:a="http://schemas.openxmlformats.org/drawingml/2006/main">
            <a:r>
              <a:t>          "detail": "공개 콘텐츠 선별·벡터화·OpenSearch 저장",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"문서·BigQuery 기록",</a:t>
            </a:r>
          </a:p>
          <a:p xmlns:a="http://schemas.openxmlformats.org/drawingml/2006/main">
            <a:r>
              <a:t>          "layer": "상태·지식 저장",</a:t>
            </a:r>
          </a:p>
          <a:p xmlns:a="http://schemas.openxmlformats.org/drawingml/2006/main">
            <a:r>
              <a:t>          "detail": "정답 안내 페이지·근거 문단·응답 보류·처리시간 대조",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"지식 범위·안전정책",</a:t>
            </a:r>
          </a:p>
          <a:p xmlns:a="http://schemas.openxmlformats.org/drawingml/2006/main">
            <a:r>
              <a:t>          "layer": "권한·정책",</a:t>
            </a:r>
          </a:p>
          <a:p xmlns:a="http://schemas.openxmlformats.org/drawingml/2006/main">
            <a:r>
              <a:t>          "detail": "범위 밖 질문·상충 안내·개인 업무의 실행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"앱 질문과 이전 대화의 문맥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"질문",</a:t>
            </a:r>
          </a:p>
          <a:p xmlns:a="http://schemas.openxmlformats.org/drawingml/2006/main">
            <a:r>
              <a:t>          "check": "의도 분류·근거·응답 품질 대조"</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"공식 문서 조각",</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"출처 답변",</a:t>
            </a:r>
          </a:p>
          <a:p xmlns:a="http://schemas.openxmlformats.org/drawingml/2006/main">
            <a:r>
              <a:t>          "check": "범위 밖 질문·상충 안내·개인 업무의 실행 요청"</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"출처 답변",</a:t>
            </a:r>
          </a:p>
          <a:p xmlns:a="http://schemas.openxmlformats.org/drawingml/2006/main">
            <a:r>
              <a:t>          "check": "출처가 있는 답변과 공식 안내 페이지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"공식 서비스",</a:t>
            </a:r>
          </a:p>
          <a:p xmlns:a="http://schemas.openxmlformats.org/drawingml/2006/main">
            <a:r>
              <a:t>          "check": "정답 안내 페이지·근거 문단·응답 보류·처리시간 대조"</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"ATRS 2025-10-07",</a:t>
            </a:r>
          </a:p>
          <a:p xmlns:a="http://schemas.openxmlformats.org/drawingml/2006/main">
            <a:r>
              <a:t>        "extracted": "Rails·Claude/Bedrock·OpenSearch·BigQuery 공개 구성",</a:t>
            </a:r>
          </a:p>
          <a:p xmlns:a="http://schemas.openxmlformats.org/drawingml/2006/main">
            <a:r>
              <a:t>        "extension": "질문·검색·근거·원문 이동의 추적 ID 연결"</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"범위 밖 질문·상충 안내·개인 업무의 실행 요청",</a:t>
            </a:r>
          </a:p>
          <a:p xmlns:a="http://schemas.openxmlformats.org/drawingml/2006/main">
            <a:r>
              <a:t>        "hold": "의도 분류·근거·응답 품질 대조",</a:t>
            </a:r>
          </a:p>
          <a:p xmlns:a="http://schemas.openxmlformats.org/drawingml/2006/main">
            <a:r>
              <a:t>        "recovery": "관리 도구·BigQuery 기반 품질 분석",</a:t>
            </a:r>
          </a:p>
          <a:p xmlns:a="http://schemas.openxmlformats.org/drawingml/2006/main">
            <a:r>
              <a:t>        "evidence": "정답 안내 페이지·근거 문단·응답 보류·처리시간 대조"</a:t>
            </a:r>
          </a:p>
          <a:p xmlns:a="http://schemas.openxmlformats.org/drawingml/2006/main">
            <a:r>
              <a:t>      },</a:t>
            </a:r>
          </a:p>
          <a:p xmlns:a="http://schemas.openxmlformats.org/drawingml/2006/main">
            <a:r>
              <a:t>      "data": {</a:t>
            </a:r>
          </a:p>
          <a:p xmlns:a="http://schemas.openxmlformats.org/drawingml/2006/main">
            <a:r>
              <a:t>        "source": "OpenSearch·품질 분석 기록",</a:t>
            </a:r>
          </a:p>
          <a:p xmlns:a="http://schemas.openxmlformats.org/drawingml/2006/main">
            <a:r>
              <a:t>        "prepare": "공개 콘텐츠 선별·벡터화·OpenSearch 저장",</a:t>
            </a:r>
          </a:p>
          <a:p xmlns:a="http://schemas.openxmlformats.org/drawingml/2006/main">
            <a:r>
              <a:t>        "output": "질문",</a:t>
            </a:r>
          </a:p>
          <a:p xmlns:a="http://schemas.openxmlformats.org/drawingml/2006/main">
            <a:r>
              <a:t>        "refresh": "관리 도구·BigQuery 기반 품질 분석"</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"PF-A12",</a:t>
            </a:r>
          </a:p>
          <a:p xmlns:a="http://schemas.openxmlformats.org/drawingml/2006/main">
            <a:r>
              <a:t>    "success": [</a:t>
            </a:r>
          </a:p>
          <a:p xmlns:a="http://schemas.openxmlformats.org/drawingml/2006/main">
            <a:r>
              <a:t>      "공식 공개 지식에 한정한 RAG",</a:t>
            </a:r>
          </a:p>
          <a:p xmlns:a="http://schemas.openxmlformats.org/drawingml/2006/main">
            <a:r>
              <a:t>      "실제 이용자 실증 평가"</a:t>
            </a:r>
          </a:p>
          <a:p xmlns:a="http://schemas.openxmlformats.org/drawingml/2006/main">
            <a:r>
              <a:t>    ],</a:t>
            </a:r>
          </a:p>
          <a:p xmlns:a="http://schemas.openxmlformats.org/drawingml/2006/main">
            <a:r>
              <a:t>    "risks": [</a:t>
            </a:r>
          </a:p>
          <a:p xmlns:a="http://schemas.openxmlformats.org/drawingml/2006/main">
            <a:r>
              <a:t>      "지연·범위 밖 질문",</a:t>
            </a:r>
          </a:p>
          <a:p xmlns:a="http://schemas.openxmlformats.org/drawingml/2006/main">
            <a:r>
              <a:t>      "안내 서비스를 행정 처리로 확대"</a:t>
            </a:r>
          </a:p>
          <a:p xmlns:a="http://schemas.openxmlformats.org/drawingml/2006/main">
            <a:r>
              <a:t>    ],</a:t>
            </a:r>
          </a:p>
          <a:p xmlns:a="http://schemas.openxmlformats.org/drawingml/2006/main">
            <a:r>
              <a:t>    "architecture": [</a:t>
            </a:r>
          </a:p>
          <a:p xmlns:a="http://schemas.openxmlformats.org/drawingml/2006/main">
            <a:r>
              <a:t>      "GOV.UK 앱",</a:t>
            </a:r>
          </a:p>
          <a:p xmlns:a="http://schemas.openxmlformats.org/drawingml/2006/main">
            <a:r>
              <a:t>      "Rails·Claude / Bedrock",</a:t>
            </a:r>
          </a:p>
          <a:p xmlns:a="http://schemas.openxmlformats.org/drawingml/2006/main">
            <a:r>
              <a:t>      "OpenSearch·품질 분석 기록",</a:t>
            </a:r>
          </a:p>
          <a:p xmlns:a="http://schemas.openxmlformats.org/drawingml/2006/main">
            <a:r>
              <a:t>      "이용자·운영자"</a:t>
            </a:r>
          </a:p>
          <a:p xmlns:a="http://schemas.openxmlformats.org/drawingml/2006/main">
            <a:r>
              <a:t>    ],</a:t>
            </a:r>
          </a:p>
          <a:p xmlns:a="http://schemas.openxmlformats.org/drawingml/2006/main">
            <a:r>
              <a:t>    "transfers": [</a:t>
            </a:r>
          </a:p>
          <a:p xmlns:a="http://schemas.openxmlformats.org/drawingml/2006/main">
            <a:r>
              <a:t>      "질문",</a:t>
            </a:r>
          </a:p>
          <a:p xmlns:a="http://schemas.openxmlformats.org/drawingml/2006/main">
            <a:r>
              <a:t>      "공식 문서 조각",</a:t>
            </a:r>
          </a:p>
          <a:p xmlns:a="http://schemas.openxmlformats.org/drawingml/2006/main">
            <a:r>
              <a:t>      "출처 답변",</a:t>
            </a:r>
          </a:p>
          <a:p xmlns:a="http://schemas.openxmlformats.org/drawingml/2006/main">
            <a:r>
              <a:t>      "공식 서비스"</a:t>
            </a:r>
          </a:p>
          <a:p xmlns:a="http://schemas.openxmlformats.org/drawingml/2006/main">
            <a:r>
              <a:t>    ],</a:t>
            </a:r>
          </a:p>
          <a:p xmlns:a="http://schemas.openxmlformats.org/drawingml/2006/main">
            <a:r>
              <a:t>    "control": "의도 분류·근거·응답 품질 대조",</a:t>
            </a:r>
          </a:p>
          <a:p xmlns:a="http://schemas.openxmlformats.org/drawingml/2006/main">
            <a:r>
              <a:t>    "analysis": "공개 내용에 근거한 CCK 분석",</a:t>
            </a:r>
          </a:p>
          <a:p xmlns:a="http://schemas.openxmlformats.org/drawingml/2006/main">
            <a:r>
              <a:t>    "diagramBasis": "공개 기술 설명 요약",</a:t>
            </a:r>
          </a:p>
          <a:p xmlns:a="http://schemas.openxmlformats.org/drawingml/2006/main">
            <a:r>
              <a:t>    "structureSource": {</a:t>
            </a:r>
          </a:p>
          <a:p xmlns:a="http://schemas.openxmlformats.org/drawingml/2006/main">
            <a:r>
              <a:t>      "title": "GOV.UK Chat 기술 공개 기록 · 2025-10-07",</a:t>
            </a:r>
          </a:p>
          <a:p xmlns:a="http://schemas.openxmlformats.org/drawingml/2006/main">
            <a:r>
              <a:t>      "url": "https://www.gov.uk/algorithmic-transparency-records/dsit-gov-dot-uk-chat"</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T062·T080·P136~139 / 평가 설계 https://insidegovuk.blog.gov.uk/2026/03/16/5-things-we-learned-testing-gov-uk-chat-an-ai-assistant-for-government/</a:t>
            </a:r>
          </a:p>
          <a:p xmlns:a="http://schemas.openxmlformats.org/drawingml/2006/main">
            <a:r>
              <a:t>GOV.UK Chat 기술 공개 기록 · 2025-10-07 https://www.gov.uk/algorithmic-transparency-records/dsit-gov-dot-uk-chat</a:t>
            </a:r>
          </a:p>
          <a:p xmlns:a="http://schemas.openxmlformats.org/drawingml/2006/main">
            <a:r>
              <a:t>홈페이지 https://heen1987-ops.github.io/TS-business-Plan-001/index.html?view=platform-cases&amp;case=PF-A12</a:t>
            </a:r>
          </a:p>
          <a:p xmlns:a="http://schemas.openxmlformats.org/drawingml/2006/main">
            <a:r>
              <a:t>한계: 2026-03 시험: 모호한 질문은 추가 확인으로 개선, 개인자료 상담 연결 미지원. 범위 내 답변률88%, 평균응답10.7초. 정확도·답변률·앱 설문을 구분.</a:t>
            </a:r>
          </a:p>
          <a:p xmlns:a="http://schemas.openxmlformats.org/drawingml/2006/main">
            <a:r>
              <a:t>실패 위험: 지연·범위 밖 질문 / 안내 서비스를 행정 처리로 확대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"PF-A12",</a:t>
            </a:r>
          </a:p>
          <a:p xmlns:a="http://schemas.openxmlformats.org/drawingml/2006/main">
            <a:r>
              <a:t>    "sourceId": "A12",</a:t>
            </a:r>
          </a:p>
          <a:p xmlns:a="http://schemas.openxmlformats.org/drawingml/2006/main">
            <a:r>
              <a:t>    "title": "GOV.UK Chat",</a:t>
            </a:r>
          </a:p>
          <a:p xmlns:a="http://schemas.openxmlformats.org/drawingml/2006/main">
            <a:r>
              <a:t>    "region": "해외",</a:t>
            </a:r>
          </a:p>
          <a:p xmlns:a="http://schemas.openxmlformats.org/drawingml/2006/main">
            <a:r>
              <a:t>    "owner": "GDS / GOV.UK Chat",</a:t>
            </a:r>
          </a:p>
          <a:p xmlns:a="http://schemas.openxmlformats.org/drawingml/2006/main">
            <a:r>
              <a:t>    "state": "웹·앱 실증 평가 공개(2026-03)",</a:t>
            </a:r>
          </a:p>
          <a:p xmlns:a="http://schemas.openxmlformats.org/drawingml/2006/main">
            <a:r>
              <a:t>    "period": "기존 원장 확인 2026.10.16",</a:t>
            </a:r>
          </a:p>
          <a:p xmlns:a="http://schemas.openxmlformats.org/drawingml/2006/main">
            <a:r>
              <a:t>    "fact": "공통 지식 기반 대민 서비스",</a:t>
            </a:r>
          </a:p>
          <a:p xmlns:a="http://schemas.openxmlformats.org/drawingml/2006/main">
            <a:r>
              <a:t>    "limit": "2026-03 시험: 모호한 질문은 추가 확인으로 개선, 개인자료 상담 연결 미지원. 범위 내 답변률88%, 평균응답10.7초. 정확도·답변률·앱 설문을 구분.",</a:t>
            </a:r>
          </a:p>
          <a:p xmlns:a="http://schemas.openxmlformats.org/drawingml/2006/main">
            <a:r>
              <a:t>    "nodes": [</a:t>
            </a:r>
          </a:p>
          <a:p xmlns:a="http://schemas.openxmlformats.org/drawingml/2006/main">
            <a:r>
              <a:t>      "공식 공개 자료",</a:t>
            </a:r>
          </a:p>
          <a:p xmlns:a="http://schemas.openxmlformats.org/drawingml/2006/main">
            <a:r>
              <a:t>      "질문·범위 분류",</a:t>
            </a:r>
          </a:p>
          <a:p xmlns:a="http://schemas.openxmlformats.org/drawingml/2006/main">
            <a:r>
              <a:t>      "RAG 응답",</a:t>
            </a:r>
          </a:p>
          <a:p xmlns:a="http://schemas.openxmlformats.org/drawingml/2006/main">
            <a:r>
              <a:t>      "사용자 실증"</a:t>
            </a:r>
          </a:p>
          <a:p xmlns:a="http://schemas.openxmlformats.org/drawingml/2006/main">
            <a:r>
              <a:t>    ],</a:t>
            </a:r>
          </a:p>
          <a:p xmlns:a="http://schemas.openxmlformats.org/drawingml/2006/main">
            <a:r>
              <a:t>    "apply": "공개 지식의 출처 응답과 공식 신청 페이지를 연결하는 대민 접점",</a:t>
            </a:r>
          </a:p>
          <a:p xmlns:a="http://schemas.openxmlformats.org/drawingml/2006/main">
            <a:r>
              <a:t>    "delta": "발화 확인·준비서류·공식 메뉴·상담 연결",</a:t>
            </a:r>
          </a:p>
          <a:p xmlns:a="http://schemas.openxmlformats.org/drawingml/2006/main">
            <a:r>
              <a:t>    "test": "서비스 도달률·포기율의 기준선·비교 평가",</a:t>
            </a:r>
          </a:p>
          <a:p xmlns:a="http://schemas.openxmlformats.org/drawingml/2006/main">
            <a:r>
              <a:t>    "url": "https://insidegovuk.blog.gov.uk/2026/03/16/5-things-we-learned-testing-gov-uk-chat-an-ai-assistant-for-government/",</a:t>
            </a:r>
          </a:p>
          <a:p xmlns:a="http://schemas.openxmlformats.org/drawingml/2006/main">
            <a:r>
              <a:t>    "urls": [</a:t>
            </a:r>
          </a:p>
          <a:p xmlns:a="http://schemas.openxmlformats.org/drawingml/2006/main">
            <a:r>
              <a:t>      "https://insidegovuk.blog.gov.uk/2026/03/16/5-things-we-learned-testing-gov-uk-chat-an-ai-assistant-for-government/",</a:t>
            </a:r>
          </a:p>
          <a:p xmlns:a="http://schemas.openxmlformats.org/drawingml/2006/main">
            <a:r>
              <a:t>      "https://insidegovuk.blog.gov.uk/2026/05/15/developing-gov-uk-chat-our-data-science-and-ai-engineering-journey/"</a:t>
            </a:r>
          </a:p>
          <a:p xmlns:a="http://schemas.openxmlformats.org/drawingml/2006/main">
            <a:r>
              <a:t>    ],</a:t>
            </a:r>
          </a:p>
          <a:p xmlns:a="http://schemas.openxmlformats.org/drawingml/2006/main">
            <a:r>
              <a:t>    "basis": "T062·T080·P136~139 / 평가 설계",</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"서비스 도달률·포기율",</a:t>
            </a:r>
          </a:p>
          <a:p xmlns:a="http://schemas.openxmlformats.org/drawingml/2006/main">
            <a:r>
              <a:t>    "group": "운영·실증",</a:t>
            </a:r>
          </a:p>
          <a:p xmlns:a="http://schemas.openxmlformats.org/drawingml/2006/main">
            <a:r>
              <a:t>    "sourceDetail": "GOV.UK 콘텐츠 기반 RAG·출처 연결, 도메인/범위 제어, 전문가+자동 평가\n사용자 실증·질문셋·답변 품질 검토로 개선",</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"PF-A12",</a:t>
            </a:r>
          </a:p>
          <a:p xmlns:a="http://schemas.openxmlformats.org/drawingml/2006/main">
            <a:r>
              <a:t>    "canonicalId": "AX06",</a:t>
            </a:r>
          </a:p>
          <a:p xmlns:a="http://schemas.openxmlformats.org/drawingml/2006/main">
            <a:r>
              <a:t>    "purpose": "공식 정부 안내를 자연어로 탐색하는 접점",</a:t>
            </a:r>
          </a:p>
          <a:p xmlns:a="http://schemas.openxmlformats.org/drawingml/2006/main">
            <a:r>
              <a:t>    "users": "국민·GOV.UK 운영팀",</a:t>
            </a:r>
          </a:p>
          <a:p xmlns:a="http://schemas.openxmlformats.org/drawingml/2006/main">
            <a:r>
              <a:t>    "scope": [</a:t>
            </a:r>
          </a:p>
          <a:p xmlns:a="http://schemas.openxmlformats.org/drawingml/2006/main">
            <a:r>
              <a:t>      "공식 지식 검색",</a:t>
            </a:r>
          </a:p>
          <a:p xmlns:a="http://schemas.openxmlformats.org/drawingml/2006/main">
            <a:r>
              <a:t>      "출처 답변",</a:t>
            </a:r>
          </a:p>
          <a:p xmlns:a="http://schemas.openxmlformats.org/drawingml/2006/main">
            <a:r>
              <a:t>      "서비스 안내"</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"GOV.UK 앱",</a:t>
            </a:r>
          </a:p>
          <a:p xmlns:a="http://schemas.openxmlformats.org/drawingml/2006/main">
            <a:r>
              <a:t>        "detail": "앱 질문과 이전 대화의 문맥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"공식 지식 검색 / 출처 답변 / 서비스 안내",</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"Rails·Claude / Bedrock",</a:t>
            </a:r>
          </a:p>
          <a:p xmlns:a="http://schemas.openxmlformats.org/drawingml/2006/main">
            <a:r>
              <a:t>        "detail": "질문 처리·검색·Claude 응답의 조정",</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"이용자·운영자",</a:t>
            </a:r>
          </a:p>
          <a:p xmlns:a="http://schemas.openxmlformats.org/drawingml/2006/main">
            <a:r>
              <a:t>        "detail": "출처가 있는 답변과 공식 안내 페이지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"OpenSearch·품질 분석 기록",</a:t>
            </a:r>
          </a:p>
          <a:p xmlns:a="http://schemas.openxmlformats.org/drawingml/2006/main">
            <a:r>
              <a:t>        "detail": "공개 콘텐츠 선별·벡터화·OpenSearch 저장",</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"관리 도구·BigQuery 기반 품질 분석",</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"공식 공개 자료",</a:t>
            </a:r>
          </a:p>
          <a:p xmlns:a="http://schemas.openxmlformats.org/drawingml/2006/main">
            <a:r>
              <a:t>        "input": "앱 질문과 이전 대화의 문맥 구성",</a:t>
            </a:r>
          </a:p>
          <a:p xmlns:a="http://schemas.openxmlformats.org/drawingml/2006/main">
            <a:r>
              <a:t>        "process": "공개 콘텐츠 선별·벡터화·OpenSearch 저장",</a:t>
            </a:r>
          </a:p>
          <a:p xmlns:a="http://schemas.openxmlformats.org/drawingml/2006/main">
            <a:r>
              <a:t>        "output": "질문"</a:t>
            </a:r>
          </a:p>
          <a:p xmlns:a="http://schemas.openxmlformats.org/drawingml/2006/main">
            <a:r>
              <a:t>      },</a:t>
            </a:r>
          </a:p>
          <a:p xmlns:a="http://schemas.openxmlformats.org/drawingml/2006/main">
            <a:r>
              <a:t>      {</a:t>
            </a:r>
          </a:p>
          <a:p xmlns:a="http://schemas.openxmlformats.org/drawingml/2006/main">
            <a:r>
              <a:t>        "title": "질문·범위 분류",</a:t>
            </a:r>
          </a:p>
          <a:p xmlns:a="http://schemas.openxmlformats.org/drawingml/2006/main">
            <a:r>
              <a:t>        "input": "질문",</a:t>
            </a:r>
          </a:p>
          <a:p xmlns:a="http://schemas.openxmlformats.org/drawingml/2006/main">
            <a:r>
              <a:t>        "process": "질문 처리·검색·Claude 응답의 조정",</a:t>
            </a:r>
          </a:p>
          <a:p xmlns:a="http://schemas.openxmlformats.org/drawingml/2006/main">
            <a:r>
              <a:t>        "output": "공식 문서 조각"</a:t>
            </a:r>
          </a:p>
          <a:p xmlns:a="http://schemas.openxmlformats.org/drawingml/2006/main">
            <a:r>
              <a:t>      },</a:t>
            </a:r>
          </a:p>
          <a:p xmlns:a="http://schemas.openxmlformats.org/drawingml/2006/main">
            <a:r>
              <a:t>      {</a:t>
            </a:r>
          </a:p>
          <a:p xmlns:a="http://schemas.openxmlformats.org/drawingml/2006/main">
            <a:r>
              <a:t>        "title": "RAG 응답",</a:t>
            </a:r>
          </a:p>
          <a:p xmlns:a="http://schemas.openxmlformats.org/drawingml/2006/main">
            <a:r>
              <a:t>        "input": "공식 문서 조각",</a:t>
            </a:r>
          </a:p>
          <a:p xmlns:a="http://schemas.openxmlformats.org/drawingml/2006/main">
            <a:r>
              <a:t>        "process": "의도 분류·근거·응답 품질 대조",</a:t>
            </a:r>
          </a:p>
          <a:p xmlns:a="http://schemas.openxmlformats.org/drawingml/2006/main">
            <a:r>
              <a:t>        "output": "출처 답변"</a:t>
            </a:r>
          </a:p>
          <a:p xmlns:a="http://schemas.openxmlformats.org/drawingml/2006/main">
            <a:r>
              <a:t>      },</a:t>
            </a:r>
          </a:p>
          <a:p xmlns:a="http://schemas.openxmlformats.org/drawingml/2006/main">
            <a:r>
              <a:t>      {</a:t>
            </a:r>
          </a:p>
          <a:p xmlns:a="http://schemas.openxmlformats.org/drawingml/2006/main">
            <a:r>
              <a:t>        "title": "사용자 실증",</a:t>
            </a:r>
          </a:p>
          <a:p xmlns:a="http://schemas.openxmlformats.org/drawingml/2006/main">
            <a:r>
              <a:t>        "input": "출처 답변",</a:t>
            </a:r>
          </a:p>
          <a:p xmlns:a="http://schemas.openxmlformats.org/drawingml/2006/main">
            <a:r>
              <a:t>        "process": "출처가 있는 답변과 공식 안내 페이지 제공",</a:t>
            </a:r>
          </a:p>
          <a:p xmlns:a="http://schemas.openxmlformats.org/drawingml/2006/main">
            <a:r>
              <a:t>        "output": "공식 서비스"</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"신청 방법을 질문하고 근거 안내와 해당 공식 페이지 확인",</a:t>
            </a:r>
          </a:p>
          <a:p xmlns:a="http://schemas.openxmlformats.org/drawingml/2006/main">
            <a:r>
              <a:t>      "exception": "범위 밖 질문·상충 안내·개인 업무의 실행 요청",</a:t>
            </a:r>
          </a:p>
          <a:p xmlns:a="http://schemas.openxmlformats.org/drawingml/2006/main">
            <a:r>
              <a:t>      "evidence": "정답 안내 페이지·근거 문단·응답 보류·처리시간 대조",</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"국민·GOV.UK 운영팀",</a:t>
            </a:r>
          </a:p>
          <a:p xmlns:a="http://schemas.openxmlformats.org/drawingml/2006/main">
            <a:r>
              <a:t>          "processing": "앱 질문과 이전 대화의 문맥 구성",</a:t>
            </a:r>
          </a:p>
          <a:p xmlns:a="http://schemas.openxmlformats.org/drawingml/2006/main">
            <a:r>
              <a:t>          "output": "질문"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"OpenSearch·품질 분석 기록",</a:t>
            </a:r>
          </a:p>
          <a:p xmlns:a="http://schemas.openxmlformats.org/drawingml/2006/main">
            <a:r>
              <a:t>          "processing": "공개 콘텐츠 선별·벡터화·OpenSearch 저장",</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"질문",</a:t>
            </a:r>
          </a:p>
          <a:p xmlns:a="http://schemas.openxmlformats.org/drawingml/2006/main">
            <a:r>
              <a:t>          "processing": "질문 처리·검색·Claude 응답의 조정",</a:t>
            </a:r>
          </a:p>
          <a:p xmlns:a="http://schemas.openxmlformats.org/drawingml/2006/main">
            <a:r>
              <a:t>          "output": "출처 답변"</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"출처 답변",</a:t>
            </a:r>
          </a:p>
          <a:p xmlns:a="http://schemas.openxmlformats.org/drawingml/2006/main">
            <a:r>
              <a:t>          "processing": "출처가 있는 답변과 공식 안내 페이지 제공",</a:t>
            </a:r>
          </a:p>
          <a:p xmlns:a="http://schemas.openxmlformats.org/drawingml/2006/main">
            <a:r>
              <a:t>          "output": "공식 서비스"</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"관리 도구·BigQuery 기반 품질 분석",</a:t>
            </a:r>
          </a:p>
          <a:p xmlns:a="http://schemas.openxmlformats.org/drawingml/2006/main">
            <a:r>
              <a:t>          "output": "정답 안내 페이지·근거 문단·응답 보류·처리시간 대조"</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"관리 도구·BigQuery 기반 품질 분석",</a:t>
            </a:r>
          </a:p>
          <a:p xmlns:a="http://schemas.openxmlformats.org/drawingml/2006/main">
            <a:r>
              <a:t>    "status": "공개자료 기반 추론 설계",</a:t>
            </a:r>
          </a:p>
          <a:p xmlns:a="http://schemas.openxmlformats.org/drawingml/2006/main">
            <a:r>
              <a:t>    "basis": "공개 기술 설명 + 연결 구조 추론",</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"T062·T080·P136~139 / 평가 설계",</a:t>
            </a:r>
          </a:p>
          <a:p xmlns:a="http://schemas.openxmlformats.org/drawingml/2006/main">
            <a:r>
              <a:t>        "url": "https://insidegovuk.blog.gov.uk/2026/03/16/5-things-we-learned-testing-gov-uk-chat-an-ai-assistant-for-government/"</a:t>
            </a:r>
          </a:p>
          <a:p xmlns:a="http://schemas.openxmlformats.org/drawingml/2006/main">
            <a:r>
              <a:t>      },</a:t>
            </a:r>
          </a:p>
          <a:p xmlns:a="http://schemas.openxmlformats.org/drawingml/2006/main">
            <a:r>
              <a:t>      {</a:t>
            </a:r>
          </a:p>
          <a:p xmlns:a="http://schemas.openxmlformats.org/drawingml/2006/main">
            <a:r>
              <a:t>        "title": "GOV.UK Chat 기술 공개 기록 · 2025-10-07",</a:t>
            </a:r>
          </a:p>
          <a:p xmlns:a="http://schemas.openxmlformats.org/drawingml/2006/main">
            <a:r>
              <a:t>        "url": "https://www.gov.uk/algorithmic-transparency-records/dsit-gov-dot-uk-chat"</a:t>
            </a:r>
          </a:p>
          <a:p xmlns:a="http://schemas.openxmlformats.org/drawingml/2006/main">
            <a:r>
              <a:t>      }</a:t>
            </a:r>
          </a:p>
          <a:p xmlns:a="http://schemas.openxmlformats.org/drawingml/2006/main">
            <a:r>
              <a:t>    ],</a:t>
            </a:r>
          </a:p>
          <a:p xmlns:a="http://schemas.openxmlformats.org/drawingml/2006/main">
            <a:r>
              <a:t>    "implication": "공식 서비스 목록·정확도·수행 경계의 명시",</a:t>
            </a:r>
          </a:p>
          <a:p xmlns:a="http://schemas.openxmlformats.org/drawingml/2006/main">
            <a:r>
              <a:t>    "local": "공개 지식의 출처 응답과 공식 신청 페이지를 연결하는 대민 접점",</a:t>
            </a:r>
          </a:p>
          <a:p xmlns:a="http://schemas.openxmlformats.org/drawingml/2006/main">
            <a:r>
              <a:t>    "sourceDetail": "GOV.UK 콘텐츠 기반 RAG·출처 연결, 도메인/범위 제어, 전문가+자동 평가\n사용자 실증·질문셋·답변 품질 검토로 개선",</a:t>
            </a:r>
          </a:p>
          <a:p xmlns:a="http://schemas.openxmlformats.org/drawingml/2006/main">
            <a:r>
              <a:t>    "narrative": [</a:t>
            </a:r>
          </a:p>
          <a:p xmlns:a="http://schemas.openxmlformats.org/drawingml/2006/main">
            <a:r>
              <a:t>      "정부 안내 페이지를 이용자가 직접 탐색하는 과정에 자연어 질의 접점을 추가한 사례. 질문에 대한 설명과 실제 공공서비스 신청은 별도 단계이며 원문·공식 서비스로의 이동이 중요한 완료조건.",</a:t>
            </a:r>
          </a:p>
          <a:p xmlns:a="http://schemas.openxmlformats.org/drawingml/2006/main">
            <a:r>
              <a:t>      "공개 기술기록의 Rails·Claude/Bedrock·OpenSearch·BigQuery를 기준으로 콘텐츠 준비, 질의 검색, 응답 생성, 품질 관측을 구분. 2023년 파일럿 설계와 2025년 공개 기술기록은 판본이 다른 자료로 취급.",</a:t>
            </a:r>
          </a:p>
          <a:p xmlns:a="http://schemas.openxmlformats.org/drawingml/2006/main">
            <a:r>
              <a:t>      "CCK에서는 TS 메뉴를 없애기보다 질문의 소관·지역·자격을 정리하고 검증된 메뉴에 연결하는 방식으로 현지화. 근거 없음·범위 밖 질의·느린 응답·틀린 신청 경로를 별도 과업으로 시험할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"GOV.UK 앱 질의",</a:t>
            </a:r>
          </a:p>
          <a:p xmlns:a="http://schemas.openxmlformats.org/drawingml/2006/main">
            <a:r>
              <a:t>          "layer": "이용 접점",</a:t>
            </a:r>
          </a:p>
          <a:p xmlns:a="http://schemas.openxmlformats.org/drawingml/2006/main">
            <a:r>
              <a:t>          "detail": "국민·GOV.UK 운영팀",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"질문·대화 문맥",</a:t>
            </a:r>
          </a:p>
          <a:p xmlns:a="http://schemas.openxmlformats.org/drawingml/2006/main">
            <a:r>
              <a:t>          "layer": "업무 문맥",</a:t>
            </a:r>
          </a:p>
          <a:p xmlns:a="http://schemas.openxmlformats.org/drawingml/2006/main">
            <a:r>
              <a:t>          "detail": "앱 질문과 이전 대화의 문맥 구성",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"OpenSearch 검색",</a:t>
            </a:r>
          </a:p>
          <a:p xmlns:a="http://schemas.openxmlformats.org/drawingml/2006/main">
            <a:r>
              <a:t>          "layer": "자료 조회",</a:t>
            </a:r>
          </a:p>
          <a:p xmlns:a="http://schemas.openxmlformats.org/drawingml/2006/main">
            <a:r>
              <a:t>          "detail": "질문",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"Claude / Bedrock",</a:t>
            </a:r>
          </a:p>
          <a:p xmlns:a="http://schemas.openxmlformats.org/drawingml/2006/main">
            <a:r>
              <a:t>          "layer": "핵심 처리",</a:t>
            </a:r>
          </a:p>
          <a:p xmlns:a="http://schemas.openxmlformats.org/drawingml/2006/main">
            <a:r>
              <a:t>          "detail": "질문 처리·검색·Claude 응답의 조정",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"범위·근거 검사",</a:t>
            </a:r>
          </a:p>
          <a:p xmlns:a="http://schemas.openxmlformats.org/drawingml/2006/main">
            <a:r>
              <a:t>          "layer": "결과 검증",</a:t>
            </a:r>
          </a:p>
          <a:p xmlns:a="http://schemas.openxmlformats.org/drawingml/2006/main">
            <a:r>
              <a:t>          "detail": "의도 분류·근거·응답 품질 대조",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"이용자 원문 확인",</a:t>
            </a:r>
          </a:p>
          <a:p xmlns:a="http://schemas.openxmlformats.org/drawingml/2006/main">
            <a:r>
              <a:t>          "layer": "사람 확인",</a:t>
            </a:r>
          </a:p>
          <a:p xmlns:a="http://schemas.openxmlformats.org/drawingml/2006/main">
            <a:r>
              <a:t>          "detail": "신청 방법을 질문하고 근거 안내와 해당 공식 페이지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"공식 서비스 연결",</a:t>
            </a:r>
          </a:p>
          <a:p xmlns:a="http://schemas.openxmlformats.org/drawingml/2006/main">
            <a:r>
              <a:t>          "layer": "업무 연결",</a:t>
            </a:r>
          </a:p>
          <a:p xmlns:a="http://schemas.openxmlformats.org/drawingml/2006/main">
            <a:r>
              <a:t>          "detail": "출처가 있는 답변과 공식 안내 페이지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"관리·품질 분석",</a:t>
            </a:r>
          </a:p>
          <a:p xmlns:a="http://schemas.openxmlformats.org/drawingml/2006/main">
            <a:r>
              <a:t>          "layer": "운영 관측",</a:t>
            </a:r>
          </a:p>
          <a:p xmlns:a="http://schemas.openxmlformats.org/drawingml/2006/main">
            <a:r>
              <a:t>          "detail": "관리 도구·BigQuery 기반 품질 분석",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"GOV.UK 콘텐츠",</a:t>
            </a:r>
          </a:p>
          <a:p xmlns:a="http://schemas.openxmlformats.org/drawingml/2006/main">
            <a:r>
              <a:t>          "layer": "데이터 원천",</a:t>
            </a:r>
          </a:p>
          <a:p xmlns:a="http://schemas.openxmlformats.org/drawingml/2006/main">
            <a:r>
              <a:t>          "detail": "OpenSearch·품질 분석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"선별·청킹·벡터화",</a:t>
            </a:r>
          </a:p>
          <a:p xmlns:a="http://schemas.openxmlformats.org/drawingml/2006/main">
            <a:r>
              <a:t>          "layer": "준비·갱신",</a:t>
            </a:r>
          </a:p>
          <a:p xmlns:a="http://schemas.openxmlformats.org/drawingml/2006/main">
            <a:r>
              <a:t>          "detail": "공개 콘텐츠 선별·벡터화·OpenSearch 저장",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"문서·BigQuery 기록",</a:t>
            </a:r>
          </a:p>
          <a:p xmlns:a="http://schemas.openxmlformats.org/drawingml/2006/main">
            <a:r>
              <a:t>          "layer": "상태·지식 저장",</a:t>
            </a:r>
          </a:p>
          <a:p xmlns:a="http://schemas.openxmlformats.org/drawingml/2006/main">
            <a:r>
              <a:t>          "detail": "정답 안내 페이지·근거 문단·응답 보류·처리시간 대조",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"지식 범위·안전정책",</a:t>
            </a:r>
          </a:p>
          <a:p xmlns:a="http://schemas.openxmlformats.org/drawingml/2006/main">
            <a:r>
              <a:t>          "layer": "권한·정책",</a:t>
            </a:r>
          </a:p>
          <a:p xmlns:a="http://schemas.openxmlformats.org/drawingml/2006/main">
            <a:r>
              <a:t>          "detail": "범위 밖 질문·상충 안내·개인 업무의 실행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"앱 질문과 이전 대화의 문맥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"질문",</a:t>
            </a:r>
          </a:p>
          <a:p xmlns:a="http://schemas.openxmlformats.org/drawingml/2006/main">
            <a:r>
              <a:t>          "check": "의도 분류·근거·응답 품질 대조"</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"공식 문서 조각",</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"출처 답변",</a:t>
            </a:r>
          </a:p>
          <a:p xmlns:a="http://schemas.openxmlformats.org/drawingml/2006/main">
            <a:r>
              <a:t>          "check": "범위 밖 질문·상충 안내·개인 업무의 실행 요청"</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"출처 답변",</a:t>
            </a:r>
          </a:p>
          <a:p xmlns:a="http://schemas.openxmlformats.org/drawingml/2006/main">
            <a:r>
              <a:t>          "check": "출처가 있는 답변과 공식 안내 페이지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"공식 서비스",</a:t>
            </a:r>
          </a:p>
          <a:p xmlns:a="http://schemas.openxmlformats.org/drawingml/2006/main">
            <a:r>
              <a:t>          "check": "정답 안내 페이지·근거 문단·응답 보류·처리시간 대조"</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"ATRS 2025-10-07",</a:t>
            </a:r>
          </a:p>
          <a:p xmlns:a="http://schemas.openxmlformats.org/drawingml/2006/main">
            <a:r>
              <a:t>        "extracted": "Rails·Claude/Bedrock·OpenSearch·BigQuery 공개 구성",</a:t>
            </a:r>
          </a:p>
          <a:p xmlns:a="http://schemas.openxmlformats.org/drawingml/2006/main">
            <a:r>
              <a:t>        "extension": "질문·검색·근거·원문 이동의 추적 ID 연결"</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"범위 밖 질문·상충 안내·개인 업무의 실행 요청",</a:t>
            </a:r>
          </a:p>
          <a:p xmlns:a="http://schemas.openxmlformats.org/drawingml/2006/main">
            <a:r>
              <a:t>        "hold": "의도 분류·근거·응답 품질 대조",</a:t>
            </a:r>
          </a:p>
          <a:p xmlns:a="http://schemas.openxmlformats.org/drawingml/2006/main">
            <a:r>
              <a:t>        "recovery": "관리 도구·BigQuery 기반 품질 분석",</a:t>
            </a:r>
          </a:p>
          <a:p xmlns:a="http://schemas.openxmlformats.org/drawingml/2006/main">
            <a:r>
              <a:t>        "evidence": "정답 안내 페이지·근거 문단·응답 보류·처리시간 대조"</a:t>
            </a:r>
          </a:p>
          <a:p xmlns:a="http://schemas.openxmlformats.org/drawingml/2006/main">
            <a:r>
              <a:t>      },</a:t>
            </a:r>
          </a:p>
          <a:p xmlns:a="http://schemas.openxmlformats.org/drawingml/2006/main">
            <a:r>
              <a:t>      "data": {</a:t>
            </a:r>
          </a:p>
          <a:p xmlns:a="http://schemas.openxmlformats.org/drawingml/2006/main">
            <a:r>
              <a:t>        "source": "OpenSearch·품질 분석 기록",</a:t>
            </a:r>
          </a:p>
          <a:p xmlns:a="http://schemas.openxmlformats.org/drawingml/2006/main">
            <a:r>
              <a:t>        "prepare": "공개 콘텐츠 선별·벡터화·OpenSearch 저장",</a:t>
            </a:r>
          </a:p>
          <a:p xmlns:a="http://schemas.openxmlformats.org/drawingml/2006/main">
            <a:r>
              <a:t>        "output": "질문",</a:t>
            </a:r>
          </a:p>
          <a:p xmlns:a="http://schemas.openxmlformats.org/drawingml/2006/main">
            <a:r>
              <a:t>        "refresh": "관리 도구·BigQuery 기반 품질 분석"</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"PF-A12",</a:t>
            </a:r>
          </a:p>
          <a:p xmlns:a="http://schemas.openxmlformats.org/drawingml/2006/main">
            <a:r>
              <a:t>    "success": [</a:t>
            </a:r>
          </a:p>
          <a:p xmlns:a="http://schemas.openxmlformats.org/drawingml/2006/main">
            <a:r>
              <a:t>      "공식 공개 지식에 한정한 RAG",</a:t>
            </a:r>
          </a:p>
          <a:p xmlns:a="http://schemas.openxmlformats.org/drawingml/2006/main">
            <a:r>
              <a:t>      "실제 이용자 실증 평가"</a:t>
            </a:r>
          </a:p>
          <a:p xmlns:a="http://schemas.openxmlformats.org/drawingml/2006/main">
            <a:r>
              <a:t>    ],</a:t>
            </a:r>
          </a:p>
          <a:p xmlns:a="http://schemas.openxmlformats.org/drawingml/2006/main">
            <a:r>
              <a:t>    "risks": [</a:t>
            </a:r>
          </a:p>
          <a:p xmlns:a="http://schemas.openxmlformats.org/drawingml/2006/main">
            <a:r>
              <a:t>      "지연·범위 밖 질문",</a:t>
            </a:r>
          </a:p>
          <a:p xmlns:a="http://schemas.openxmlformats.org/drawingml/2006/main">
            <a:r>
              <a:t>      "안내 서비스를 행정 처리로 확대"</a:t>
            </a:r>
          </a:p>
          <a:p xmlns:a="http://schemas.openxmlformats.org/drawingml/2006/main">
            <a:r>
              <a:t>    ],</a:t>
            </a:r>
          </a:p>
          <a:p xmlns:a="http://schemas.openxmlformats.org/drawingml/2006/main">
            <a:r>
              <a:t>    "architecture": [</a:t>
            </a:r>
          </a:p>
          <a:p xmlns:a="http://schemas.openxmlformats.org/drawingml/2006/main">
            <a:r>
              <a:t>      "GOV.UK 앱",</a:t>
            </a:r>
          </a:p>
          <a:p xmlns:a="http://schemas.openxmlformats.org/drawingml/2006/main">
            <a:r>
              <a:t>      "Rails·Claude / Bedrock",</a:t>
            </a:r>
          </a:p>
          <a:p xmlns:a="http://schemas.openxmlformats.org/drawingml/2006/main">
            <a:r>
              <a:t>      "OpenSearch·품질 분석 기록",</a:t>
            </a:r>
          </a:p>
          <a:p xmlns:a="http://schemas.openxmlformats.org/drawingml/2006/main">
            <a:r>
              <a:t>      "이용자·운영자"</a:t>
            </a:r>
          </a:p>
          <a:p xmlns:a="http://schemas.openxmlformats.org/drawingml/2006/main">
            <a:r>
              <a:t>    ],</a:t>
            </a:r>
          </a:p>
          <a:p xmlns:a="http://schemas.openxmlformats.org/drawingml/2006/main">
            <a:r>
              <a:t>    "transfers": [</a:t>
            </a:r>
          </a:p>
          <a:p xmlns:a="http://schemas.openxmlformats.org/drawingml/2006/main">
            <a:r>
              <a:t>      "질문",</a:t>
            </a:r>
          </a:p>
          <a:p xmlns:a="http://schemas.openxmlformats.org/drawingml/2006/main">
            <a:r>
              <a:t>      "공식 문서 조각",</a:t>
            </a:r>
          </a:p>
          <a:p xmlns:a="http://schemas.openxmlformats.org/drawingml/2006/main">
            <a:r>
              <a:t>      "출처 답변",</a:t>
            </a:r>
          </a:p>
          <a:p xmlns:a="http://schemas.openxmlformats.org/drawingml/2006/main">
            <a:r>
              <a:t>      "공식 서비스"</a:t>
            </a:r>
          </a:p>
          <a:p xmlns:a="http://schemas.openxmlformats.org/drawingml/2006/main">
            <a:r>
              <a:t>    ],</a:t>
            </a:r>
          </a:p>
          <a:p xmlns:a="http://schemas.openxmlformats.org/drawingml/2006/main">
            <a:r>
              <a:t>    "control": "의도 분류·근거·응답 품질 대조",</a:t>
            </a:r>
          </a:p>
          <a:p xmlns:a="http://schemas.openxmlformats.org/drawingml/2006/main">
            <a:r>
              <a:t>    "analysis": "공개 내용에 근거한 CCK 분석",</a:t>
            </a:r>
          </a:p>
          <a:p xmlns:a="http://schemas.openxmlformats.org/drawingml/2006/main">
            <a:r>
              <a:t>    "diagramBasis": "공개 기술 설명 요약",</a:t>
            </a:r>
          </a:p>
          <a:p xmlns:a="http://schemas.openxmlformats.org/drawingml/2006/main">
            <a:r>
              <a:t>    "structureSource": {</a:t>
            </a:r>
          </a:p>
          <a:p xmlns:a="http://schemas.openxmlformats.org/drawingml/2006/main">
            <a:r>
              <a:t>      "title": "GOV.UK Chat 기술 공개 기록 · 2025-10-07",</a:t>
            </a:r>
          </a:p>
          <a:p xmlns:a="http://schemas.openxmlformats.org/drawingml/2006/main">
            <a:r>
              <a:t>      "url": "https://www.gov.uk/algorithmic-transparency-records/dsit-gov-dot-uk-chat"</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T062·T080·P136~139 / 평가 설계 https://insidegovuk.blog.gov.uk/2026/03/16/5-things-we-learned-testing-gov-uk-chat-an-ai-assistant-for-government/</a:t>
            </a:r>
          </a:p>
          <a:p xmlns:a="http://schemas.openxmlformats.org/drawingml/2006/main">
            <a:r>
              <a:t>GOV.UK Chat 기술 공개 기록 · 2025-10-07 https://www.gov.uk/algorithmic-transparency-records/dsit-gov-dot-uk-chat</a:t>
            </a:r>
          </a:p>
          <a:p xmlns:a="http://schemas.openxmlformats.org/drawingml/2006/main">
            <a:r>
              <a:t>홈페이지 https://heen1987-ops.github.io/TS-business-Plan-001/index.html?view=platform-cases&amp;case=PF-A12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"PF-A12",</a:t>
            </a:r>
          </a:p>
          <a:p xmlns:a="http://schemas.openxmlformats.org/drawingml/2006/main">
            <a:r>
              <a:t>    "sourceId": "A12",</a:t>
            </a:r>
          </a:p>
          <a:p xmlns:a="http://schemas.openxmlformats.org/drawingml/2006/main">
            <a:r>
              <a:t>    "title": "GOV.UK Chat",</a:t>
            </a:r>
          </a:p>
          <a:p xmlns:a="http://schemas.openxmlformats.org/drawingml/2006/main">
            <a:r>
              <a:t>    "region": "해외",</a:t>
            </a:r>
          </a:p>
          <a:p xmlns:a="http://schemas.openxmlformats.org/drawingml/2006/main">
            <a:r>
              <a:t>    "owner": "GDS / GOV.UK Chat",</a:t>
            </a:r>
          </a:p>
          <a:p xmlns:a="http://schemas.openxmlformats.org/drawingml/2006/main">
            <a:r>
              <a:t>    "state": "웹·앱 실증 평가 공개(2026-03)",</a:t>
            </a:r>
          </a:p>
          <a:p xmlns:a="http://schemas.openxmlformats.org/drawingml/2006/main">
            <a:r>
              <a:t>    "period": "기존 원장 확인 2026.10.16",</a:t>
            </a:r>
          </a:p>
          <a:p xmlns:a="http://schemas.openxmlformats.org/drawingml/2006/main">
            <a:r>
              <a:t>    "fact": "공통 지식 기반 대민 서비스",</a:t>
            </a:r>
          </a:p>
          <a:p xmlns:a="http://schemas.openxmlformats.org/drawingml/2006/main">
            <a:r>
              <a:t>    "limit": "2026-03 시험: 모호한 질문은 추가 확인으로 개선, 개인자료 상담 연결 미지원. 범위 내 답변률88%, 평균응답10.7초. 정확도·답변률·앱 설문을 구분.",</a:t>
            </a:r>
          </a:p>
          <a:p xmlns:a="http://schemas.openxmlformats.org/drawingml/2006/main">
            <a:r>
              <a:t>    "nodes": [</a:t>
            </a:r>
          </a:p>
          <a:p xmlns:a="http://schemas.openxmlformats.org/drawingml/2006/main">
            <a:r>
              <a:t>      "공식 공개 자료",</a:t>
            </a:r>
          </a:p>
          <a:p xmlns:a="http://schemas.openxmlformats.org/drawingml/2006/main">
            <a:r>
              <a:t>      "질문·범위 분류",</a:t>
            </a:r>
          </a:p>
          <a:p xmlns:a="http://schemas.openxmlformats.org/drawingml/2006/main">
            <a:r>
              <a:t>      "RAG 응답",</a:t>
            </a:r>
          </a:p>
          <a:p xmlns:a="http://schemas.openxmlformats.org/drawingml/2006/main">
            <a:r>
              <a:t>      "사용자 실증"</a:t>
            </a:r>
          </a:p>
          <a:p xmlns:a="http://schemas.openxmlformats.org/drawingml/2006/main">
            <a:r>
              <a:t>    ],</a:t>
            </a:r>
          </a:p>
          <a:p xmlns:a="http://schemas.openxmlformats.org/drawingml/2006/main">
            <a:r>
              <a:t>    "apply": "공개 지식의 출처 응답과 공식 신청 페이지를 연결하는 대민 접점",</a:t>
            </a:r>
          </a:p>
          <a:p xmlns:a="http://schemas.openxmlformats.org/drawingml/2006/main">
            <a:r>
              <a:t>    "delta": "발화 확인·준비서류·공식 메뉴·상담 연결",</a:t>
            </a:r>
          </a:p>
          <a:p xmlns:a="http://schemas.openxmlformats.org/drawingml/2006/main">
            <a:r>
              <a:t>    "test": "서비스 도달률·포기율의 기준선·비교 평가",</a:t>
            </a:r>
          </a:p>
          <a:p xmlns:a="http://schemas.openxmlformats.org/drawingml/2006/main">
            <a:r>
              <a:t>    "url": "https://insidegovuk.blog.gov.uk/2026/03/16/5-things-we-learned-testing-gov-uk-chat-an-ai-assistant-for-government/",</a:t>
            </a:r>
          </a:p>
          <a:p xmlns:a="http://schemas.openxmlformats.org/drawingml/2006/main">
            <a:r>
              <a:t>    "urls": [</a:t>
            </a:r>
          </a:p>
          <a:p xmlns:a="http://schemas.openxmlformats.org/drawingml/2006/main">
            <a:r>
              <a:t>      "https://insidegovuk.blog.gov.uk/2026/03/16/5-things-we-learned-testing-gov-uk-chat-an-ai-assistant-for-government/",</a:t>
            </a:r>
          </a:p>
          <a:p xmlns:a="http://schemas.openxmlformats.org/drawingml/2006/main">
            <a:r>
              <a:t>      "https://insidegovuk.blog.gov.uk/2026/05/15/developing-gov-uk-chat-our-data-science-and-ai-engineering-journey/"</a:t>
            </a:r>
          </a:p>
          <a:p xmlns:a="http://schemas.openxmlformats.org/drawingml/2006/main">
            <a:r>
              <a:t>    ],</a:t>
            </a:r>
          </a:p>
          <a:p xmlns:a="http://schemas.openxmlformats.org/drawingml/2006/main">
            <a:r>
              <a:t>    "basis": "T062·T080·P136~139 / 평가 설계",</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"서비스 도달률·포기율",</a:t>
            </a:r>
          </a:p>
          <a:p xmlns:a="http://schemas.openxmlformats.org/drawingml/2006/main">
            <a:r>
              <a:t>    "group": "운영·실증",</a:t>
            </a:r>
          </a:p>
          <a:p xmlns:a="http://schemas.openxmlformats.org/drawingml/2006/main">
            <a:r>
              <a:t>    "sourceDetail": "GOV.UK 콘텐츠 기반 RAG·출처 연결, 도메인/범위 제어, 전문가+자동 평가\n사용자 실증·질문셋·답변 품질 검토로 개선",</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"PF-A12",</a:t>
            </a:r>
          </a:p>
          <a:p xmlns:a="http://schemas.openxmlformats.org/drawingml/2006/main">
            <a:r>
              <a:t>    "canonicalId": "AX06",</a:t>
            </a:r>
          </a:p>
          <a:p xmlns:a="http://schemas.openxmlformats.org/drawingml/2006/main">
            <a:r>
              <a:t>    "purpose": "공식 정부 안내를 자연어로 탐색하는 접점",</a:t>
            </a:r>
          </a:p>
          <a:p xmlns:a="http://schemas.openxmlformats.org/drawingml/2006/main">
            <a:r>
              <a:t>    "users": "국민·GOV.UK 운영팀",</a:t>
            </a:r>
          </a:p>
          <a:p xmlns:a="http://schemas.openxmlformats.org/drawingml/2006/main">
            <a:r>
              <a:t>    "scope": [</a:t>
            </a:r>
          </a:p>
          <a:p xmlns:a="http://schemas.openxmlformats.org/drawingml/2006/main">
            <a:r>
              <a:t>      "공식 지식 검색",</a:t>
            </a:r>
          </a:p>
          <a:p xmlns:a="http://schemas.openxmlformats.org/drawingml/2006/main">
            <a:r>
              <a:t>      "출처 답변",</a:t>
            </a:r>
          </a:p>
          <a:p xmlns:a="http://schemas.openxmlformats.org/drawingml/2006/main">
            <a:r>
              <a:t>      "서비스 안내"</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"GOV.UK 앱",</a:t>
            </a:r>
          </a:p>
          <a:p xmlns:a="http://schemas.openxmlformats.org/drawingml/2006/main">
            <a:r>
              <a:t>        "detail": "앱 질문과 이전 대화의 문맥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"공식 지식 검색 / 출처 답변 / 서비스 안내",</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"Rails·Claude / Bedrock",</a:t>
            </a:r>
          </a:p>
          <a:p xmlns:a="http://schemas.openxmlformats.org/drawingml/2006/main">
            <a:r>
              <a:t>        "detail": "질문 처리·검색·Claude 응답의 조정",</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"이용자·운영자",</a:t>
            </a:r>
          </a:p>
          <a:p xmlns:a="http://schemas.openxmlformats.org/drawingml/2006/main">
            <a:r>
              <a:t>        "detail": "출처가 있는 답변과 공식 안내 페이지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"OpenSearch·품질 분석 기록",</a:t>
            </a:r>
          </a:p>
          <a:p xmlns:a="http://schemas.openxmlformats.org/drawingml/2006/main">
            <a:r>
              <a:t>        "detail": "공개 콘텐츠 선별·벡터화·OpenSearch 저장",</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"관리 도구·BigQuery 기반 품질 분석",</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"공식 공개 자료",</a:t>
            </a:r>
          </a:p>
          <a:p xmlns:a="http://schemas.openxmlformats.org/drawingml/2006/main">
            <a:r>
              <a:t>        "input": "앱 질문과 이전 대화의 문맥 구성",</a:t>
            </a:r>
          </a:p>
          <a:p xmlns:a="http://schemas.openxmlformats.org/drawingml/2006/main">
            <a:r>
              <a:t>        "process": "공개 콘텐츠 선별·벡터화·OpenSearch 저장",</a:t>
            </a:r>
          </a:p>
          <a:p xmlns:a="http://schemas.openxmlformats.org/drawingml/2006/main">
            <a:r>
              <a:t>        "output": "질문"</a:t>
            </a:r>
          </a:p>
          <a:p xmlns:a="http://schemas.openxmlformats.org/drawingml/2006/main">
            <a:r>
              <a:t>      },</a:t>
            </a:r>
          </a:p>
          <a:p xmlns:a="http://schemas.openxmlformats.org/drawingml/2006/main">
            <a:r>
              <a:t>      {</a:t>
            </a:r>
          </a:p>
          <a:p xmlns:a="http://schemas.openxmlformats.org/drawingml/2006/main">
            <a:r>
              <a:t>        "title": "질문·범위 분류",</a:t>
            </a:r>
          </a:p>
          <a:p xmlns:a="http://schemas.openxmlformats.org/drawingml/2006/main">
            <a:r>
              <a:t>        "input": "질문",</a:t>
            </a:r>
          </a:p>
          <a:p xmlns:a="http://schemas.openxmlformats.org/drawingml/2006/main">
            <a:r>
              <a:t>        "process": "질문 처리·검색·Claude 응답의 조정",</a:t>
            </a:r>
          </a:p>
          <a:p xmlns:a="http://schemas.openxmlformats.org/drawingml/2006/main">
            <a:r>
              <a:t>        "output": "공식 문서 조각"</a:t>
            </a:r>
          </a:p>
          <a:p xmlns:a="http://schemas.openxmlformats.org/drawingml/2006/main">
            <a:r>
              <a:t>      },</a:t>
            </a:r>
          </a:p>
          <a:p xmlns:a="http://schemas.openxmlformats.org/drawingml/2006/main">
            <a:r>
              <a:t>      {</a:t>
            </a:r>
          </a:p>
          <a:p xmlns:a="http://schemas.openxmlformats.org/drawingml/2006/main">
            <a:r>
              <a:t>        "title": "RAG 응답",</a:t>
            </a:r>
          </a:p>
          <a:p xmlns:a="http://schemas.openxmlformats.org/drawingml/2006/main">
            <a:r>
              <a:t>        "input": "공식 문서 조각",</a:t>
            </a:r>
          </a:p>
          <a:p xmlns:a="http://schemas.openxmlformats.org/drawingml/2006/main">
            <a:r>
              <a:t>        "process": "의도 분류·근거·응답 품질 대조",</a:t>
            </a:r>
          </a:p>
          <a:p xmlns:a="http://schemas.openxmlformats.org/drawingml/2006/main">
            <a:r>
              <a:t>        "output": "출처 답변"</a:t>
            </a:r>
          </a:p>
          <a:p xmlns:a="http://schemas.openxmlformats.org/drawingml/2006/main">
            <a:r>
              <a:t>      },</a:t>
            </a:r>
          </a:p>
          <a:p xmlns:a="http://schemas.openxmlformats.org/drawingml/2006/main">
            <a:r>
              <a:t>      {</a:t>
            </a:r>
          </a:p>
          <a:p xmlns:a="http://schemas.openxmlformats.org/drawingml/2006/main">
            <a:r>
              <a:t>        "title": "사용자 실증",</a:t>
            </a:r>
          </a:p>
          <a:p xmlns:a="http://schemas.openxmlformats.org/drawingml/2006/main">
            <a:r>
              <a:t>        "input": "출처 답변",</a:t>
            </a:r>
          </a:p>
          <a:p xmlns:a="http://schemas.openxmlformats.org/drawingml/2006/main">
            <a:r>
              <a:t>        "process": "출처가 있는 답변과 공식 안내 페이지 제공",</a:t>
            </a:r>
          </a:p>
          <a:p xmlns:a="http://schemas.openxmlformats.org/drawingml/2006/main">
            <a:r>
              <a:t>        "output": "공식 서비스"</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"신청 방법을 질문하고 근거 안내와 해당 공식 페이지 확인",</a:t>
            </a:r>
          </a:p>
          <a:p xmlns:a="http://schemas.openxmlformats.org/drawingml/2006/main">
            <a:r>
              <a:t>      "exception": "범위 밖 질문·상충 안내·개인 업무의 실행 요청",</a:t>
            </a:r>
          </a:p>
          <a:p xmlns:a="http://schemas.openxmlformats.org/drawingml/2006/main">
            <a:r>
              <a:t>      "evidence": "정답 안내 페이지·근거 문단·응답 보류·처리시간 대조",</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"국민·GOV.UK 운영팀",</a:t>
            </a:r>
          </a:p>
          <a:p xmlns:a="http://schemas.openxmlformats.org/drawingml/2006/main">
            <a:r>
              <a:t>          "processing": "앱 질문과 이전 대화의 문맥 구성",</a:t>
            </a:r>
          </a:p>
          <a:p xmlns:a="http://schemas.openxmlformats.org/drawingml/2006/main">
            <a:r>
              <a:t>          "output": "질문"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"OpenSearch·품질 분석 기록",</a:t>
            </a:r>
          </a:p>
          <a:p xmlns:a="http://schemas.openxmlformats.org/drawingml/2006/main">
            <a:r>
              <a:t>          "processing": "공개 콘텐츠 선별·벡터화·OpenSearch 저장",</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"질문",</a:t>
            </a:r>
          </a:p>
          <a:p xmlns:a="http://schemas.openxmlformats.org/drawingml/2006/main">
            <a:r>
              <a:t>          "processing": "질문 처리·검색·Claude 응답의 조정",</a:t>
            </a:r>
          </a:p>
          <a:p xmlns:a="http://schemas.openxmlformats.org/drawingml/2006/main">
            <a:r>
              <a:t>          "output": "출처 답변"</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"출처 답변",</a:t>
            </a:r>
          </a:p>
          <a:p xmlns:a="http://schemas.openxmlformats.org/drawingml/2006/main">
            <a:r>
              <a:t>          "processing": "출처가 있는 답변과 공식 안내 페이지 제공",</a:t>
            </a:r>
          </a:p>
          <a:p xmlns:a="http://schemas.openxmlformats.org/drawingml/2006/main">
            <a:r>
              <a:t>          "output": "공식 서비스"</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"관리 도구·BigQuery 기반 품질 분석",</a:t>
            </a:r>
          </a:p>
          <a:p xmlns:a="http://schemas.openxmlformats.org/drawingml/2006/main">
            <a:r>
              <a:t>          "output": "정답 안내 페이지·근거 문단·응답 보류·처리시간 대조"</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"관리 도구·BigQuery 기반 품질 분석",</a:t>
            </a:r>
          </a:p>
          <a:p xmlns:a="http://schemas.openxmlformats.org/drawingml/2006/main">
            <a:r>
              <a:t>    "status": "공개자료 기반 추론 설계",</a:t>
            </a:r>
          </a:p>
          <a:p xmlns:a="http://schemas.openxmlformats.org/drawingml/2006/main">
            <a:r>
              <a:t>    "basis": "공개 기술 설명 + 연결 구조 추론",</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"T062·T080·P136~139 / 평가 설계",</a:t>
            </a:r>
          </a:p>
          <a:p xmlns:a="http://schemas.openxmlformats.org/drawingml/2006/main">
            <a:r>
              <a:t>        "url": "https://insidegovuk.blog.gov.uk/2026/03/16/5-things-we-learned-testing-gov-uk-chat-an-ai-assistant-for-government/"</a:t>
            </a:r>
          </a:p>
          <a:p xmlns:a="http://schemas.openxmlformats.org/drawingml/2006/main">
            <a:r>
              <a:t>      },</a:t>
            </a:r>
          </a:p>
          <a:p xmlns:a="http://schemas.openxmlformats.org/drawingml/2006/main">
            <a:r>
              <a:t>      {</a:t>
            </a:r>
          </a:p>
          <a:p xmlns:a="http://schemas.openxmlformats.org/drawingml/2006/main">
            <a:r>
              <a:t>        "title": "GOV.UK Chat 기술 공개 기록 · 2025-10-07",</a:t>
            </a:r>
          </a:p>
          <a:p xmlns:a="http://schemas.openxmlformats.org/drawingml/2006/main">
            <a:r>
              <a:t>        "url": "https://www.gov.uk/algorithmic-transparency-records/dsit-gov-dot-uk-chat"</a:t>
            </a:r>
          </a:p>
          <a:p xmlns:a="http://schemas.openxmlformats.org/drawingml/2006/main">
            <a:r>
              <a:t>      }</a:t>
            </a:r>
          </a:p>
          <a:p xmlns:a="http://schemas.openxmlformats.org/drawingml/2006/main">
            <a:r>
              <a:t>    ],</a:t>
            </a:r>
          </a:p>
          <a:p xmlns:a="http://schemas.openxmlformats.org/drawingml/2006/main">
            <a:r>
              <a:t>    "implication": "공식 서비스 목록·정확도·수행 경계의 명시",</a:t>
            </a:r>
          </a:p>
          <a:p xmlns:a="http://schemas.openxmlformats.org/drawingml/2006/main">
            <a:r>
              <a:t>    "local": "공개 지식의 출처 응답과 공식 신청 페이지를 연결하는 대민 접점",</a:t>
            </a:r>
          </a:p>
          <a:p xmlns:a="http://schemas.openxmlformats.org/drawingml/2006/main">
            <a:r>
              <a:t>    "sourceDetail": "GOV.UK 콘텐츠 기반 RAG·출처 연결, 도메인/범위 제어, 전문가+자동 평가\n사용자 실증·질문셋·답변 품질 검토로 개선",</a:t>
            </a:r>
          </a:p>
          <a:p xmlns:a="http://schemas.openxmlformats.org/drawingml/2006/main">
            <a:r>
              <a:t>    "narrative": [</a:t>
            </a:r>
          </a:p>
          <a:p xmlns:a="http://schemas.openxmlformats.org/drawingml/2006/main">
            <a:r>
              <a:t>      "정부 안내 페이지를 이용자가 직접 탐색하는 과정에 자연어 질의 접점을 추가한 사례. 질문에 대한 설명과 실제 공공서비스 신청은 별도 단계이며 원문·공식 서비스로의 이동이 중요한 완료조건.",</a:t>
            </a:r>
          </a:p>
          <a:p xmlns:a="http://schemas.openxmlformats.org/drawingml/2006/main">
            <a:r>
              <a:t>      "공개 기술기록의 Rails·Claude/Bedrock·OpenSearch·BigQuery를 기준으로 콘텐츠 준비, 질의 검색, 응답 생성, 품질 관측을 구분. 2023년 파일럿 설계와 2025년 공개 기술기록은 판본이 다른 자료로 취급.",</a:t>
            </a:r>
          </a:p>
          <a:p xmlns:a="http://schemas.openxmlformats.org/drawingml/2006/main">
            <a:r>
              <a:t>      "CCK에서는 TS 메뉴를 없애기보다 질문의 소관·지역·자격을 정리하고 검증된 메뉴에 연결하는 방식으로 현지화. 근거 없음·범위 밖 질의·느린 응답·틀린 신청 경로를 별도 과업으로 시험할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"GOV.UK 앱 질의",</a:t>
            </a:r>
          </a:p>
          <a:p xmlns:a="http://schemas.openxmlformats.org/drawingml/2006/main">
            <a:r>
              <a:t>          "layer": "이용 접점",</a:t>
            </a:r>
          </a:p>
          <a:p xmlns:a="http://schemas.openxmlformats.org/drawingml/2006/main">
            <a:r>
              <a:t>          "detail": "국민·GOV.UK 운영팀",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"질문·대화 문맥",</a:t>
            </a:r>
          </a:p>
          <a:p xmlns:a="http://schemas.openxmlformats.org/drawingml/2006/main">
            <a:r>
              <a:t>          "layer": "업무 문맥",</a:t>
            </a:r>
          </a:p>
          <a:p xmlns:a="http://schemas.openxmlformats.org/drawingml/2006/main">
            <a:r>
              <a:t>          "detail": "앱 질문과 이전 대화의 문맥 구성",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"OpenSearch 검색",</a:t>
            </a:r>
          </a:p>
          <a:p xmlns:a="http://schemas.openxmlformats.org/drawingml/2006/main">
            <a:r>
              <a:t>          "layer": "자료 조회",</a:t>
            </a:r>
          </a:p>
          <a:p xmlns:a="http://schemas.openxmlformats.org/drawingml/2006/main">
            <a:r>
              <a:t>          "detail": "질문",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"Claude / Bedrock",</a:t>
            </a:r>
          </a:p>
          <a:p xmlns:a="http://schemas.openxmlformats.org/drawingml/2006/main">
            <a:r>
              <a:t>          "layer": "핵심 처리",</a:t>
            </a:r>
          </a:p>
          <a:p xmlns:a="http://schemas.openxmlformats.org/drawingml/2006/main">
            <a:r>
              <a:t>          "detail": "질문 처리·검색·Claude 응답의 조정",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"범위·근거 검사",</a:t>
            </a:r>
          </a:p>
          <a:p xmlns:a="http://schemas.openxmlformats.org/drawingml/2006/main">
            <a:r>
              <a:t>          "layer": "결과 검증",</a:t>
            </a:r>
          </a:p>
          <a:p xmlns:a="http://schemas.openxmlformats.org/drawingml/2006/main">
            <a:r>
              <a:t>          "detail": "의도 분류·근거·응답 품질 대조",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"이용자 원문 확인",</a:t>
            </a:r>
          </a:p>
          <a:p xmlns:a="http://schemas.openxmlformats.org/drawingml/2006/main">
            <a:r>
              <a:t>          "layer": "사람 확인",</a:t>
            </a:r>
          </a:p>
          <a:p xmlns:a="http://schemas.openxmlformats.org/drawingml/2006/main">
            <a:r>
              <a:t>          "detail": "신청 방법을 질문하고 근거 안내와 해당 공식 페이지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"공식 서비스 연결",</a:t>
            </a:r>
          </a:p>
          <a:p xmlns:a="http://schemas.openxmlformats.org/drawingml/2006/main">
            <a:r>
              <a:t>          "layer": "업무 연결",</a:t>
            </a:r>
          </a:p>
          <a:p xmlns:a="http://schemas.openxmlformats.org/drawingml/2006/main">
            <a:r>
              <a:t>          "detail": "출처가 있는 답변과 공식 안내 페이지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"관리·품질 분석",</a:t>
            </a:r>
          </a:p>
          <a:p xmlns:a="http://schemas.openxmlformats.org/drawingml/2006/main">
            <a:r>
              <a:t>          "layer": "운영 관측",</a:t>
            </a:r>
          </a:p>
          <a:p xmlns:a="http://schemas.openxmlformats.org/drawingml/2006/main">
            <a:r>
              <a:t>          "detail": "관리 도구·BigQuery 기반 품질 분석",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"GOV.UK 콘텐츠",</a:t>
            </a:r>
          </a:p>
          <a:p xmlns:a="http://schemas.openxmlformats.org/drawingml/2006/main">
            <a:r>
              <a:t>          "layer": "데이터 원천",</a:t>
            </a:r>
          </a:p>
          <a:p xmlns:a="http://schemas.openxmlformats.org/drawingml/2006/main">
            <a:r>
              <a:t>          "detail": "OpenSearch·품질 분석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"선별·청킹·벡터화",</a:t>
            </a:r>
          </a:p>
          <a:p xmlns:a="http://schemas.openxmlformats.org/drawingml/2006/main">
            <a:r>
              <a:t>          "layer": "준비·갱신",</a:t>
            </a:r>
          </a:p>
          <a:p xmlns:a="http://schemas.openxmlformats.org/drawingml/2006/main">
            <a:r>
              <a:t>          "detail": "공개 콘텐츠 선별·벡터화·OpenSearch 저장",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"문서·BigQuery 기록",</a:t>
            </a:r>
          </a:p>
          <a:p xmlns:a="http://schemas.openxmlformats.org/drawingml/2006/main">
            <a:r>
              <a:t>          "layer": "상태·지식 저장",</a:t>
            </a:r>
          </a:p>
          <a:p xmlns:a="http://schemas.openxmlformats.org/drawingml/2006/main">
            <a:r>
              <a:t>          "detail": "정답 안내 페이지·근거 문단·응답 보류·처리시간 대조",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"지식 범위·안전정책",</a:t>
            </a:r>
          </a:p>
          <a:p xmlns:a="http://schemas.openxmlformats.org/drawingml/2006/main">
            <a:r>
              <a:t>          "layer": "권한·정책",</a:t>
            </a:r>
          </a:p>
          <a:p xmlns:a="http://schemas.openxmlformats.org/drawingml/2006/main">
            <a:r>
              <a:t>          "detail": "범위 밖 질문·상충 안내·개인 업무의 실행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"앱 질문과 이전 대화의 문맥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"질문",</a:t>
            </a:r>
          </a:p>
          <a:p xmlns:a="http://schemas.openxmlformats.org/drawingml/2006/main">
            <a:r>
              <a:t>          "check": "의도 분류·근거·응답 품질 대조"</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"공식 문서 조각",</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"출처 답변",</a:t>
            </a:r>
          </a:p>
          <a:p xmlns:a="http://schemas.openxmlformats.org/drawingml/2006/main">
            <a:r>
              <a:t>          "check": "범위 밖 질문·상충 안내·개인 업무의 실행 요청"</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"출처 답변",</a:t>
            </a:r>
          </a:p>
          <a:p xmlns:a="http://schemas.openxmlformats.org/drawingml/2006/main">
            <a:r>
              <a:t>          "check": "출처가 있는 답변과 공식 안내 페이지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"공식 서비스",</a:t>
            </a:r>
          </a:p>
          <a:p xmlns:a="http://schemas.openxmlformats.org/drawingml/2006/main">
            <a:r>
              <a:t>          "check": "정답 안내 페이지·근거 문단·응답 보류·처리시간 대조"</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"ATRS 2025-10-07",</a:t>
            </a:r>
          </a:p>
          <a:p xmlns:a="http://schemas.openxmlformats.org/drawingml/2006/main">
            <a:r>
              <a:t>        "extracted": "Rails·Claude/Bedrock·OpenSearch·BigQuery 공개 구성",</a:t>
            </a:r>
          </a:p>
          <a:p xmlns:a="http://schemas.openxmlformats.org/drawingml/2006/main">
            <a:r>
              <a:t>        "extension": "질문·검색·근거·원문 이동의 추적 ID 연결"</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"범위 밖 질문·상충 안내·개인 업무의 실행 요청",</a:t>
            </a:r>
          </a:p>
          <a:p xmlns:a="http://schemas.openxmlformats.org/drawingml/2006/main">
            <a:r>
              <a:t>        "hold": "의도 분류·근거·응답 품질 대조",</a:t>
            </a:r>
          </a:p>
          <a:p xmlns:a="http://schemas.openxmlformats.org/drawingml/2006/main">
            <a:r>
              <a:t>        "recovery": "관리 도구·BigQuery 기반 품질 분석",</a:t>
            </a:r>
          </a:p>
          <a:p xmlns:a="http://schemas.openxmlformats.org/drawingml/2006/main">
            <a:r>
              <a:t>        "evidence": "정답 안내 페이지·근거 문단·응답 보류·처리시간 대조"</a:t>
            </a:r>
          </a:p>
          <a:p xmlns:a="http://schemas.openxmlformats.org/drawingml/2006/main">
            <a:r>
              <a:t>      },</a:t>
            </a:r>
          </a:p>
          <a:p xmlns:a="http://schemas.openxmlformats.org/drawingml/2006/main">
            <a:r>
              <a:t>      "data": {</a:t>
            </a:r>
          </a:p>
          <a:p xmlns:a="http://schemas.openxmlformats.org/drawingml/2006/main">
            <a:r>
              <a:t>        "source": "OpenSearch·품질 분석 기록",</a:t>
            </a:r>
          </a:p>
          <a:p xmlns:a="http://schemas.openxmlformats.org/drawingml/2006/main">
            <a:r>
              <a:t>        "prepare": "공개 콘텐츠 선별·벡터화·OpenSearch 저장",</a:t>
            </a:r>
          </a:p>
          <a:p xmlns:a="http://schemas.openxmlformats.org/drawingml/2006/main">
            <a:r>
              <a:t>        "output": "질문",</a:t>
            </a:r>
          </a:p>
          <a:p xmlns:a="http://schemas.openxmlformats.org/drawingml/2006/main">
            <a:r>
              <a:t>        "refresh": "관리 도구·BigQuery 기반 품질 분석"</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"PF-A12",</a:t>
            </a:r>
          </a:p>
          <a:p xmlns:a="http://schemas.openxmlformats.org/drawingml/2006/main">
            <a:r>
              <a:t>    "success": [</a:t>
            </a:r>
          </a:p>
          <a:p xmlns:a="http://schemas.openxmlformats.org/drawingml/2006/main">
            <a:r>
              <a:t>      "공식 공개 지식에 한정한 RAG",</a:t>
            </a:r>
          </a:p>
          <a:p xmlns:a="http://schemas.openxmlformats.org/drawingml/2006/main">
            <a:r>
              <a:t>      "실제 이용자 실증 평가"</a:t>
            </a:r>
          </a:p>
          <a:p xmlns:a="http://schemas.openxmlformats.org/drawingml/2006/main">
            <a:r>
              <a:t>    ],</a:t>
            </a:r>
          </a:p>
          <a:p xmlns:a="http://schemas.openxmlformats.org/drawingml/2006/main">
            <a:r>
              <a:t>    "risks": [</a:t>
            </a:r>
          </a:p>
          <a:p xmlns:a="http://schemas.openxmlformats.org/drawingml/2006/main">
            <a:r>
              <a:t>      "지연·범위 밖 질문",</a:t>
            </a:r>
          </a:p>
          <a:p xmlns:a="http://schemas.openxmlformats.org/drawingml/2006/main">
            <a:r>
              <a:t>      "안내 서비스를 행정 처리로 확대"</a:t>
            </a:r>
          </a:p>
          <a:p xmlns:a="http://schemas.openxmlformats.org/drawingml/2006/main">
            <a:r>
              <a:t>    ],</a:t>
            </a:r>
          </a:p>
          <a:p xmlns:a="http://schemas.openxmlformats.org/drawingml/2006/main">
            <a:r>
              <a:t>    "architecture": [</a:t>
            </a:r>
          </a:p>
          <a:p xmlns:a="http://schemas.openxmlformats.org/drawingml/2006/main">
            <a:r>
              <a:t>      "GOV.UK 앱",</a:t>
            </a:r>
          </a:p>
          <a:p xmlns:a="http://schemas.openxmlformats.org/drawingml/2006/main">
            <a:r>
              <a:t>      "Rails·Claude / Bedrock",</a:t>
            </a:r>
          </a:p>
          <a:p xmlns:a="http://schemas.openxmlformats.org/drawingml/2006/main">
            <a:r>
              <a:t>      "OpenSearch·품질 분석 기록",</a:t>
            </a:r>
          </a:p>
          <a:p xmlns:a="http://schemas.openxmlformats.org/drawingml/2006/main">
            <a:r>
              <a:t>      "이용자·운영자"</a:t>
            </a:r>
          </a:p>
          <a:p xmlns:a="http://schemas.openxmlformats.org/drawingml/2006/main">
            <a:r>
              <a:t>    ],</a:t>
            </a:r>
          </a:p>
          <a:p xmlns:a="http://schemas.openxmlformats.org/drawingml/2006/main">
            <a:r>
              <a:t>    "transfers": [</a:t>
            </a:r>
          </a:p>
          <a:p xmlns:a="http://schemas.openxmlformats.org/drawingml/2006/main">
            <a:r>
              <a:t>      "질문",</a:t>
            </a:r>
          </a:p>
          <a:p xmlns:a="http://schemas.openxmlformats.org/drawingml/2006/main">
            <a:r>
              <a:t>      "공식 문서 조각",</a:t>
            </a:r>
          </a:p>
          <a:p xmlns:a="http://schemas.openxmlformats.org/drawingml/2006/main">
            <a:r>
              <a:t>      "출처 답변",</a:t>
            </a:r>
          </a:p>
          <a:p xmlns:a="http://schemas.openxmlformats.org/drawingml/2006/main">
            <a:r>
              <a:t>      "공식 서비스"</a:t>
            </a:r>
          </a:p>
          <a:p xmlns:a="http://schemas.openxmlformats.org/drawingml/2006/main">
            <a:r>
              <a:t>    ],</a:t>
            </a:r>
          </a:p>
          <a:p xmlns:a="http://schemas.openxmlformats.org/drawingml/2006/main">
            <a:r>
              <a:t>    "control": "의도 분류·근거·응답 품질 대조",</a:t>
            </a:r>
          </a:p>
          <a:p xmlns:a="http://schemas.openxmlformats.org/drawingml/2006/main">
            <a:r>
              <a:t>    "analysis": "공개 내용에 근거한 CCK 분석",</a:t>
            </a:r>
          </a:p>
          <a:p xmlns:a="http://schemas.openxmlformats.org/drawingml/2006/main">
            <a:r>
              <a:t>    "diagramBasis": "공개 기술 설명 요약",</a:t>
            </a:r>
          </a:p>
          <a:p xmlns:a="http://schemas.openxmlformats.org/drawingml/2006/main">
            <a:r>
              <a:t>    "structureSource": {</a:t>
            </a:r>
          </a:p>
          <a:p xmlns:a="http://schemas.openxmlformats.org/drawingml/2006/main">
            <a:r>
              <a:t>      "title": "GOV.UK Chat 기술 공개 기록 · 2025-10-07",</a:t>
            </a:r>
          </a:p>
          <a:p xmlns:a="http://schemas.openxmlformats.org/drawingml/2006/main">
            <a:r>
              <a:t>      "url": "https://www.gov.uk/algorithmic-transparency-records/dsit-gov-dot-uk-chat"</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T062·T080·P136~139 / 평가 설계 https://insidegovuk.blog.gov.uk/2026/03/16/5-things-we-learned-testing-gov-uk-chat-an-ai-assistant-for-government/</a:t>
            </a:r>
          </a:p>
          <a:p xmlns:a="http://schemas.openxmlformats.org/drawingml/2006/main">
            <a:r>
              <a:t>GOV.UK Chat 기술 공개 기록 · 2025-10-07 https://www.gov.uk/algorithmic-transparency-records/dsit-gov-dot-uk-chat</a:t>
            </a:r>
          </a:p>
          <a:p xmlns:a="http://schemas.openxmlformats.org/drawingml/2006/main">
            <a:r>
              <a:t>홈페이지 https://heen1987-ops.github.io/TS-business-Plan-001/index.html?view=platform-cases&amp;case=PF-A12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"PF-A12",</a:t>
            </a:r>
          </a:p>
          <a:p xmlns:a="http://schemas.openxmlformats.org/drawingml/2006/main">
            <a:r>
              <a:t>    "sourceId": "A12",</a:t>
            </a:r>
          </a:p>
          <a:p xmlns:a="http://schemas.openxmlformats.org/drawingml/2006/main">
            <a:r>
              <a:t>    "title": "GOV.UK Chat",</a:t>
            </a:r>
          </a:p>
          <a:p xmlns:a="http://schemas.openxmlformats.org/drawingml/2006/main">
            <a:r>
              <a:t>    "region": "해외",</a:t>
            </a:r>
          </a:p>
          <a:p xmlns:a="http://schemas.openxmlformats.org/drawingml/2006/main">
            <a:r>
              <a:t>    "owner": "GDS / GOV.UK Chat",</a:t>
            </a:r>
          </a:p>
          <a:p xmlns:a="http://schemas.openxmlformats.org/drawingml/2006/main">
            <a:r>
              <a:t>    "state": "웹·앱 실증 평가 공개(2026-03)",</a:t>
            </a:r>
          </a:p>
          <a:p xmlns:a="http://schemas.openxmlformats.org/drawingml/2006/main">
            <a:r>
              <a:t>    "period": "기존 원장 확인 2026.10.16",</a:t>
            </a:r>
          </a:p>
          <a:p xmlns:a="http://schemas.openxmlformats.org/drawingml/2006/main">
            <a:r>
              <a:t>    "fact": "공통 지식 기반 대민 서비스",</a:t>
            </a:r>
          </a:p>
          <a:p xmlns:a="http://schemas.openxmlformats.org/drawingml/2006/main">
            <a:r>
              <a:t>    "limit": "2026-03 시험: 모호한 질문은 추가 확인으로 개선, 개인자료 상담 연결 미지원. 범위 내 답변률88%, 평균응답10.7초. 정확도·답변률·앱 설문을 구분.",</a:t>
            </a:r>
          </a:p>
          <a:p xmlns:a="http://schemas.openxmlformats.org/drawingml/2006/main">
            <a:r>
              <a:t>    "nodes": [</a:t>
            </a:r>
          </a:p>
          <a:p xmlns:a="http://schemas.openxmlformats.org/drawingml/2006/main">
            <a:r>
              <a:t>      "공식 공개 자료",</a:t>
            </a:r>
          </a:p>
          <a:p xmlns:a="http://schemas.openxmlformats.org/drawingml/2006/main">
            <a:r>
              <a:t>      "질문·범위 분류",</a:t>
            </a:r>
          </a:p>
          <a:p xmlns:a="http://schemas.openxmlformats.org/drawingml/2006/main">
            <a:r>
              <a:t>      "RAG 응답",</a:t>
            </a:r>
          </a:p>
          <a:p xmlns:a="http://schemas.openxmlformats.org/drawingml/2006/main">
            <a:r>
              <a:t>      "사용자 실증"</a:t>
            </a:r>
          </a:p>
          <a:p xmlns:a="http://schemas.openxmlformats.org/drawingml/2006/main">
            <a:r>
              <a:t>    ],</a:t>
            </a:r>
          </a:p>
          <a:p xmlns:a="http://schemas.openxmlformats.org/drawingml/2006/main">
            <a:r>
              <a:t>    "apply": "공개 지식의 출처 응답과 공식 신청 페이지를 연결하는 대민 접점",</a:t>
            </a:r>
          </a:p>
          <a:p xmlns:a="http://schemas.openxmlformats.org/drawingml/2006/main">
            <a:r>
              <a:t>    "delta": "발화 확인·준비서류·공식 메뉴·상담 연결",</a:t>
            </a:r>
          </a:p>
          <a:p xmlns:a="http://schemas.openxmlformats.org/drawingml/2006/main">
            <a:r>
              <a:t>    "test": "서비스 도달률·포기율의 기준선·비교 평가",</a:t>
            </a:r>
          </a:p>
          <a:p xmlns:a="http://schemas.openxmlformats.org/drawingml/2006/main">
            <a:r>
              <a:t>    "url": "https://insidegovuk.blog.gov.uk/2026/03/16/5-things-we-learned-testing-gov-uk-chat-an-ai-assistant-for-government/",</a:t>
            </a:r>
          </a:p>
          <a:p xmlns:a="http://schemas.openxmlformats.org/drawingml/2006/main">
            <a:r>
              <a:t>    "urls": [</a:t>
            </a:r>
          </a:p>
          <a:p xmlns:a="http://schemas.openxmlformats.org/drawingml/2006/main">
            <a:r>
              <a:t>      "https://insidegovuk.blog.gov.uk/2026/03/16/5-things-we-learned-testing-gov-uk-chat-an-ai-assistant-for-government/",</a:t>
            </a:r>
          </a:p>
          <a:p xmlns:a="http://schemas.openxmlformats.org/drawingml/2006/main">
            <a:r>
              <a:t>      "https://insidegovuk.blog.gov.uk/2026/05/15/developing-gov-uk-chat-our-data-science-and-ai-engineering-journey/"</a:t>
            </a:r>
          </a:p>
          <a:p xmlns:a="http://schemas.openxmlformats.org/drawingml/2006/main">
            <a:r>
              <a:t>    ],</a:t>
            </a:r>
          </a:p>
          <a:p xmlns:a="http://schemas.openxmlformats.org/drawingml/2006/main">
            <a:r>
              <a:t>    "basis": "T062·T080·P136~139 / 평가 설계",</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"서비스 도달률·포기율",</a:t>
            </a:r>
          </a:p>
          <a:p xmlns:a="http://schemas.openxmlformats.org/drawingml/2006/main">
            <a:r>
              <a:t>    "group": "운영·실증",</a:t>
            </a:r>
          </a:p>
          <a:p xmlns:a="http://schemas.openxmlformats.org/drawingml/2006/main">
            <a:r>
              <a:t>    "sourceDetail": "GOV.UK 콘텐츠 기반 RAG·출처 연결, 도메인/범위 제어, 전문가+자동 평가\n사용자 실증·질문셋·답변 품질 검토로 개선",</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"PF-A12",</a:t>
            </a:r>
          </a:p>
          <a:p xmlns:a="http://schemas.openxmlformats.org/drawingml/2006/main">
            <a:r>
              <a:t>    "canonicalId": "AX06",</a:t>
            </a:r>
          </a:p>
          <a:p xmlns:a="http://schemas.openxmlformats.org/drawingml/2006/main">
            <a:r>
              <a:t>    "purpose": "공식 정부 안내를 자연어로 탐색하는 접점",</a:t>
            </a:r>
          </a:p>
          <a:p xmlns:a="http://schemas.openxmlformats.org/drawingml/2006/main">
            <a:r>
              <a:t>    "users": "국민·GOV.UK 운영팀",</a:t>
            </a:r>
          </a:p>
          <a:p xmlns:a="http://schemas.openxmlformats.org/drawingml/2006/main">
            <a:r>
              <a:t>    "scope": [</a:t>
            </a:r>
          </a:p>
          <a:p xmlns:a="http://schemas.openxmlformats.org/drawingml/2006/main">
            <a:r>
              <a:t>      "공식 지식 검색",</a:t>
            </a:r>
          </a:p>
          <a:p xmlns:a="http://schemas.openxmlformats.org/drawingml/2006/main">
            <a:r>
              <a:t>      "출처 답변",</a:t>
            </a:r>
          </a:p>
          <a:p xmlns:a="http://schemas.openxmlformats.org/drawingml/2006/main">
            <a:r>
              <a:t>      "서비스 안내"</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"GOV.UK 앱",</a:t>
            </a:r>
          </a:p>
          <a:p xmlns:a="http://schemas.openxmlformats.org/drawingml/2006/main">
            <a:r>
              <a:t>        "detail": "앱 질문과 이전 대화의 문맥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"공식 지식 검색 / 출처 답변 / 서비스 안내",</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"Rails·Claude / Bedrock",</a:t>
            </a:r>
          </a:p>
          <a:p xmlns:a="http://schemas.openxmlformats.org/drawingml/2006/main">
            <a:r>
              <a:t>        "detail": "질문 처리·검색·Claude 응답의 조정",</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"이용자·운영자",</a:t>
            </a:r>
          </a:p>
          <a:p xmlns:a="http://schemas.openxmlformats.org/drawingml/2006/main">
            <a:r>
              <a:t>        "detail": "출처가 있는 답변과 공식 안내 페이지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"OpenSearch·품질 분석 기록",</a:t>
            </a:r>
          </a:p>
          <a:p xmlns:a="http://schemas.openxmlformats.org/drawingml/2006/main">
            <a:r>
              <a:t>        "detail": "공개 콘텐츠 선별·벡터화·OpenSearch 저장",</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"관리 도구·BigQuery 기반 품질 분석",</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"공식 공개 자료",</a:t>
            </a:r>
          </a:p>
          <a:p xmlns:a="http://schemas.openxmlformats.org/drawingml/2006/main">
            <a:r>
              <a:t>        "input": "앱 질문과 이전 대화의 문맥 구성",</a:t>
            </a:r>
          </a:p>
          <a:p xmlns:a="http://schemas.openxmlformats.org/drawingml/2006/main">
            <a:r>
              <a:t>        "process": "공개 콘텐츠 선별·벡터화·OpenSearch 저장",</a:t>
            </a:r>
          </a:p>
          <a:p xmlns:a="http://schemas.openxmlformats.org/drawingml/2006/main">
            <a:r>
              <a:t>        "output": "질문"</a:t>
            </a:r>
          </a:p>
          <a:p xmlns:a="http://schemas.openxmlformats.org/drawingml/2006/main">
            <a:r>
              <a:t>      },</a:t>
            </a:r>
          </a:p>
          <a:p xmlns:a="http://schemas.openxmlformats.org/drawingml/2006/main">
            <a:r>
              <a:t>      {</a:t>
            </a:r>
          </a:p>
          <a:p xmlns:a="http://schemas.openxmlformats.org/drawingml/2006/main">
            <a:r>
              <a:t>        "title": "질문·범위 분류",</a:t>
            </a:r>
          </a:p>
          <a:p xmlns:a="http://schemas.openxmlformats.org/drawingml/2006/main">
            <a:r>
              <a:t>        "input": "질문",</a:t>
            </a:r>
          </a:p>
          <a:p xmlns:a="http://schemas.openxmlformats.org/drawingml/2006/main">
            <a:r>
              <a:t>        "process": "질문 처리·검색·Claude 응답의 조정",</a:t>
            </a:r>
          </a:p>
          <a:p xmlns:a="http://schemas.openxmlformats.org/drawingml/2006/main">
            <a:r>
              <a:t>        "output": "공식 문서 조각"</a:t>
            </a:r>
          </a:p>
          <a:p xmlns:a="http://schemas.openxmlformats.org/drawingml/2006/main">
            <a:r>
              <a:t>      },</a:t>
            </a:r>
          </a:p>
          <a:p xmlns:a="http://schemas.openxmlformats.org/drawingml/2006/main">
            <a:r>
              <a:t>      {</a:t>
            </a:r>
          </a:p>
          <a:p xmlns:a="http://schemas.openxmlformats.org/drawingml/2006/main">
            <a:r>
              <a:t>        "title": "RAG 응답",</a:t>
            </a:r>
          </a:p>
          <a:p xmlns:a="http://schemas.openxmlformats.org/drawingml/2006/main">
            <a:r>
              <a:t>        "input": "공식 문서 조각",</a:t>
            </a:r>
          </a:p>
          <a:p xmlns:a="http://schemas.openxmlformats.org/drawingml/2006/main">
            <a:r>
              <a:t>        "process": "의도 분류·근거·응답 품질 대조",</a:t>
            </a:r>
          </a:p>
          <a:p xmlns:a="http://schemas.openxmlformats.org/drawingml/2006/main">
            <a:r>
              <a:t>        "output": "출처 답변"</a:t>
            </a:r>
          </a:p>
          <a:p xmlns:a="http://schemas.openxmlformats.org/drawingml/2006/main">
            <a:r>
              <a:t>      },</a:t>
            </a:r>
          </a:p>
          <a:p xmlns:a="http://schemas.openxmlformats.org/drawingml/2006/main">
            <a:r>
              <a:t>      {</a:t>
            </a:r>
          </a:p>
          <a:p xmlns:a="http://schemas.openxmlformats.org/drawingml/2006/main">
            <a:r>
              <a:t>        "title": "사용자 실증",</a:t>
            </a:r>
          </a:p>
          <a:p xmlns:a="http://schemas.openxmlformats.org/drawingml/2006/main">
            <a:r>
              <a:t>        "input": "출처 답변",</a:t>
            </a:r>
          </a:p>
          <a:p xmlns:a="http://schemas.openxmlformats.org/drawingml/2006/main">
            <a:r>
              <a:t>        "process": "출처가 있는 답변과 공식 안내 페이지 제공",</a:t>
            </a:r>
          </a:p>
          <a:p xmlns:a="http://schemas.openxmlformats.org/drawingml/2006/main">
            <a:r>
              <a:t>        "output": "공식 서비스"</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"신청 방법을 질문하고 근거 안내와 해당 공식 페이지 확인",</a:t>
            </a:r>
          </a:p>
          <a:p xmlns:a="http://schemas.openxmlformats.org/drawingml/2006/main">
            <a:r>
              <a:t>      "exception": "범위 밖 질문·상충 안내·개인 업무의 실행 요청",</a:t>
            </a:r>
          </a:p>
          <a:p xmlns:a="http://schemas.openxmlformats.org/drawingml/2006/main">
            <a:r>
              <a:t>      "evidence": "정답 안내 페이지·근거 문단·응답 보류·처리시간 대조",</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"국민·GOV.UK 운영팀",</a:t>
            </a:r>
          </a:p>
          <a:p xmlns:a="http://schemas.openxmlformats.org/drawingml/2006/main">
            <a:r>
              <a:t>          "processing": "앱 질문과 이전 대화의 문맥 구성",</a:t>
            </a:r>
          </a:p>
          <a:p xmlns:a="http://schemas.openxmlformats.org/drawingml/2006/main">
            <a:r>
              <a:t>          "output": "질문"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"OpenSearch·품질 분석 기록",</a:t>
            </a:r>
          </a:p>
          <a:p xmlns:a="http://schemas.openxmlformats.org/drawingml/2006/main">
            <a:r>
              <a:t>          "processing": "공개 콘텐츠 선별·벡터화·OpenSearch 저장",</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"질문",</a:t>
            </a:r>
          </a:p>
          <a:p xmlns:a="http://schemas.openxmlformats.org/drawingml/2006/main">
            <a:r>
              <a:t>          "processing": "질문 처리·검색·Claude 응답의 조정",</a:t>
            </a:r>
          </a:p>
          <a:p xmlns:a="http://schemas.openxmlformats.org/drawingml/2006/main">
            <a:r>
              <a:t>          "output": "출처 답변"</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"출처 답변",</a:t>
            </a:r>
          </a:p>
          <a:p xmlns:a="http://schemas.openxmlformats.org/drawingml/2006/main">
            <a:r>
              <a:t>          "processing": "출처가 있는 답변과 공식 안내 페이지 제공",</a:t>
            </a:r>
          </a:p>
          <a:p xmlns:a="http://schemas.openxmlformats.org/drawingml/2006/main">
            <a:r>
              <a:t>          "output": "공식 서비스"</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"관리 도구·BigQuery 기반 품질 분석",</a:t>
            </a:r>
          </a:p>
          <a:p xmlns:a="http://schemas.openxmlformats.org/drawingml/2006/main">
            <a:r>
              <a:t>          "output": "정답 안내 페이지·근거 문단·응답 보류·처리시간 대조"</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"관리 도구·BigQuery 기반 품질 분석",</a:t>
            </a:r>
          </a:p>
          <a:p xmlns:a="http://schemas.openxmlformats.org/drawingml/2006/main">
            <a:r>
              <a:t>    "status": "공개자료 기반 추론 설계",</a:t>
            </a:r>
          </a:p>
          <a:p xmlns:a="http://schemas.openxmlformats.org/drawingml/2006/main">
            <a:r>
              <a:t>    "basis": "공개 기술 설명 + 연결 구조 추론",</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"T062·T080·P136~139 / 평가 설계",</a:t>
            </a:r>
          </a:p>
          <a:p xmlns:a="http://schemas.openxmlformats.org/drawingml/2006/main">
            <a:r>
              <a:t>        "url": "https://insidegovuk.blog.gov.uk/2026/03/16/5-things-we-learned-testing-gov-uk-chat-an-ai-assistant-for-government/"</a:t>
            </a:r>
          </a:p>
          <a:p xmlns:a="http://schemas.openxmlformats.org/drawingml/2006/main">
            <a:r>
              <a:t>      },</a:t>
            </a:r>
          </a:p>
          <a:p xmlns:a="http://schemas.openxmlformats.org/drawingml/2006/main">
            <a:r>
              <a:t>      {</a:t>
            </a:r>
          </a:p>
          <a:p xmlns:a="http://schemas.openxmlformats.org/drawingml/2006/main">
            <a:r>
              <a:t>        "title": "GOV.UK Chat 기술 공개 기록 · 2025-10-07",</a:t>
            </a:r>
          </a:p>
          <a:p xmlns:a="http://schemas.openxmlformats.org/drawingml/2006/main">
            <a:r>
              <a:t>        "url": "https://www.gov.uk/algorithmic-transparency-records/dsit-gov-dot-uk-chat"</a:t>
            </a:r>
          </a:p>
          <a:p xmlns:a="http://schemas.openxmlformats.org/drawingml/2006/main">
            <a:r>
              <a:t>      }</a:t>
            </a:r>
          </a:p>
          <a:p xmlns:a="http://schemas.openxmlformats.org/drawingml/2006/main">
            <a:r>
              <a:t>    ],</a:t>
            </a:r>
          </a:p>
          <a:p xmlns:a="http://schemas.openxmlformats.org/drawingml/2006/main">
            <a:r>
              <a:t>    "implication": "공식 서비스 목록·정확도·수행 경계의 명시",</a:t>
            </a:r>
          </a:p>
          <a:p xmlns:a="http://schemas.openxmlformats.org/drawingml/2006/main">
            <a:r>
              <a:t>    "local": "공개 지식의 출처 응답과 공식 신청 페이지를 연결하는 대민 접점",</a:t>
            </a:r>
          </a:p>
          <a:p xmlns:a="http://schemas.openxmlformats.org/drawingml/2006/main">
            <a:r>
              <a:t>    "sourceDetail": "GOV.UK 콘텐츠 기반 RAG·출처 연결, 도메인/범위 제어, 전문가+자동 평가\n사용자 실증·질문셋·답변 품질 검토로 개선",</a:t>
            </a:r>
          </a:p>
          <a:p xmlns:a="http://schemas.openxmlformats.org/drawingml/2006/main">
            <a:r>
              <a:t>    "narrative": [</a:t>
            </a:r>
          </a:p>
          <a:p xmlns:a="http://schemas.openxmlformats.org/drawingml/2006/main">
            <a:r>
              <a:t>      "정부 안내 페이지를 이용자가 직접 탐색하는 과정에 자연어 질의 접점을 추가한 사례. 질문에 대한 설명과 실제 공공서비스 신청은 별도 단계이며 원문·공식 서비스로의 이동이 중요한 완료조건.",</a:t>
            </a:r>
          </a:p>
          <a:p xmlns:a="http://schemas.openxmlformats.org/drawingml/2006/main">
            <a:r>
              <a:t>      "공개 기술기록의 Rails·Claude/Bedrock·OpenSearch·BigQuery를 기준으로 콘텐츠 준비, 질의 검색, 응답 생성, 품질 관측을 구분. 2023년 파일럿 설계와 2025년 공개 기술기록은 판본이 다른 자료로 취급.",</a:t>
            </a:r>
          </a:p>
          <a:p xmlns:a="http://schemas.openxmlformats.org/drawingml/2006/main">
            <a:r>
              <a:t>      "CCK에서는 TS 메뉴를 없애기보다 질문의 소관·지역·자격을 정리하고 검증된 메뉴에 연결하는 방식으로 현지화. 근거 없음·범위 밖 질의·느린 응답·틀린 신청 경로를 별도 과업으로 시험할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"GOV.UK 앱 질의",</a:t>
            </a:r>
          </a:p>
          <a:p xmlns:a="http://schemas.openxmlformats.org/drawingml/2006/main">
            <a:r>
              <a:t>          "layer": "이용 접점",</a:t>
            </a:r>
          </a:p>
          <a:p xmlns:a="http://schemas.openxmlformats.org/drawingml/2006/main">
            <a:r>
              <a:t>          "detail": "국민·GOV.UK 운영팀",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"질문·대화 문맥",</a:t>
            </a:r>
          </a:p>
          <a:p xmlns:a="http://schemas.openxmlformats.org/drawingml/2006/main">
            <a:r>
              <a:t>          "layer": "업무 문맥",</a:t>
            </a:r>
          </a:p>
          <a:p xmlns:a="http://schemas.openxmlformats.org/drawingml/2006/main">
            <a:r>
              <a:t>          "detail": "앱 질문과 이전 대화의 문맥 구성",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"OpenSearch 검색",</a:t>
            </a:r>
          </a:p>
          <a:p xmlns:a="http://schemas.openxmlformats.org/drawingml/2006/main">
            <a:r>
              <a:t>          "layer": "자료 조회",</a:t>
            </a:r>
          </a:p>
          <a:p xmlns:a="http://schemas.openxmlformats.org/drawingml/2006/main">
            <a:r>
              <a:t>          "detail": "질문",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"Claude / Bedrock",</a:t>
            </a:r>
          </a:p>
          <a:p xmlns:a="http://schemas.openxmlformats.org/drawingml/2006/main">
            <a:r>
              <a:t>          "layer": "핵심 처리",</a:t>
            </a:r>
          </a:p>
          <a:p xmlns:a="http://schemas.openxmlformats.org/drawingml/2006/main">
            <a:r>
              <a:t>          "detail": "질문 처리·검색·Claude 응답의 조정",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"범위·근거 검사",</a:t>
            </a:r>
          </a:p>
          <a:p xmlns:a="http://schemas.openxmlformats.org/drawingml/2006/main">
            <a:r>
              <a:t>          "layer": "결과 검증",</a:t>
            </a:r>
          </a:p>
          <a:p xmlns:a="http://schemas.openxmlformats.org/drawingml/2006/main">
            <a:r>
              <a:t>          "detail": "의도 분류·근거·응답 품질 대조",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"이용자 원문 확인",</a:t>
            </a:r>
          </a:p>
          <a:p xmlns:a="http://schemas.openxmlformats.org/drawingml/2006/main">
            <a:r>
              <a:t>          "layer": "사람 확인",</a:t>
            </a:r>
          </a:p>
          <a:p xmlns:a="http://schemas.openxmlformats.org/drawingml/2006/main">
            <a:r>
              <a:t>          "detail": "신청 방법을 질문하고 근거 안내와 해당 공식 페이지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"공식 서비스 연결",</a:t>
            </a:r>
          </a:p>
          <a:p xmlns:a="http://schemas.openxmlformats.org/drawingml/2006/main">
            <a:r>
              <a:t>          "layer": "업무 연결",</a:t>
            </a:r>
          </a:p>
          <a:p xmlns:a="http://schemas.openxmlformats.org/drawingml/2006/main">
            <a:r>
              <a:t>          "detail": "출처가 있는 답변과 공식 안내 페이지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"관리·품질 분석",</a:t>
            </a:r>
          </a:p>
          <a:p xmlns:a="http://schemas.openxmlformats.org/drawingml/2006/main">
            <a:r>
              <a:t>          "layer": "운영 관측",</a:t>
            </a:r>
          </a:p>
          <a:p xmlns:a="http://schemas.openxmlformats.org/drawingml/2006/main">
            <a:r>
              <a:t>          "detail": "관리 도구·BigQuery 기반 품질 분석",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"GOV.UK 콘텐츠",</a:t>
            </a:r>
          </a:p>
          <a:p xmlns:a="http://schemas.openxmlformats.org/drawingml/2006/main">
            <a:r>
              <a:t>          "layer": "데이터 원천",</a:t>
            </a:r>
          </a:p>
          <a:p xmlns:a="http://schemas.openxmlformats.org/drawingml/2006/main">
            <a:r>
              <a:t>          "detail": "OpenSearch·품질 분석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"선별·청킹·벡터화",</a:t>
            </a:r>
          </a:p>
          <a:p xmlns:a="http://schemas.openxmlformats.org/drawingml/2006/main">
            <a:r>
              <a:t>          "layer": "준비·갱신",</a:t>
            </a:r>
          </a:p>
          <a:p xmlns:a="http://schemas.openxmlformats.org/drawingml/2006/main">
            <a:r>
              <a:t>          "detail": "공개 콘텐츠 선별·벡터화·OpenSearch 저장",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"문서·BigQuery 기록",</a:t>
            </a:r>
          </a:p>
          <a:p xmlns:a="http://schemas.openxmlformats.org/drawingml/2006/main">
            <a:r>
              <a:t>          "layer": "상태·지식 저장",</a:t>
            </a:r>
          </a:p>
          <a:p xmlns:a="http://schemas.openxmlformats.org/drawingml/2006/main">
            <a:r>
              <a:t>          "detail": "정답 안내 페이지·근거 문단·응답 보류·처리시간 대조",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"지식 범위·안전정책",</a:t>
            </a:r>
          </a:p>
          <a:p xmlns:a="http://schemas.openxmlformats.org/drawingml/2006/main">
            <a:r>
              <a:t>          "layer": "권한·정책",</a:t>
            </a:r>
          </a:p>
          <a:p xmlns:a="http://schemas.openxmlformats.org/drawingml/2006/main">
            <a:r>
              <a:t>          "detail": "범위 밖 질문·상충 안내·개인 업무의 실행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"앱 질문과 이전 대화의 문맥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"질문",</a:t>
            </a:r>
          </a:p>
          <a:p xmlns:a="http://schemas.openxmlformats.org/drawingml/2006/main">
            <a:r>
              <a:t>          "check": "의도 분류·근거·응답 품질 대조"</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"공식 문서 조각",</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"출처 답변",</a:t>
            </a:r>
          </a:p>
          <a:p xmlns:a="http://schemas.openxmlformats.org/drawingml/2006/main">
            <a:r>
              <a:t>          "check": "범위 밖 질문·상충 안내·개인 업무의 실행 요청"</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"출처 답변",</a:t>
            </a:r>
          </a:p>
          <a:p xmlns:a="http://schemas.openxmlformats.org/drawingml/2006/main">
            <a:r>
              <a:t>          "check": "출처가 있는 답변과 공식 안내 페이지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"공식 서비스",</a:t>
            </a:r>
          </a:p>
          <a:p xmlns:a="http://schemas.openxmlformats.org/drawingml/2006/main">
            <a:r>
              <a:t>          "check": "정답 안내 페이지·근거 문단·응답 보류·처리시간 대조"</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"ATRS 2025-10-07",</a:t>
            </a:r>
          </a:p>
          <a:p xmlns:a="http://schemas.openxmlformats.org/drawingml/2006/main">
            <a:r>
              <a:t>        "extracted": "Rails·Claude/Bedrock·OpenSearch·BigQuery 공개 구성",</a:t>
            </a:r>
          </a:p>
          <a:p xmlns:a="http://schemas.openxmlformats.org/drawingml/2006/main">
            <a:r>
              <a:t>        "extension": "질문·검색·근거·원문 이동의 추적 ID 연결"</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"범위 밖 질문·상충 안내·개인 업무의 실행 요청",</a:t>
            </a:r>
          </a:p>
          <a:p xmlns:a="http://schemas.openxmlformats.org/drawingml/2006/main">
            <a:r>
              <a:t>        "hold": "의도 분류·근거·응답 품질 대조",</a:t>
            </a:r>
          </a:p>
          <a:p xmlns:a="http://schemas.openxmlformats.org/drawingml/2006/main">
            <a:r>
              <a:t>        "recovery": "관리 도구·BigQuery 기반 품질 분석",</a:t>
            </a:r>
          </a:p>
          <a:p xmlns:a="http://schemas.openxmlformats.org/drawingml/2006/main">
            <a:r>
              <a:t>        "evidence": "정답 안내 페이지·근거 문단·응답 보류·처리시간 대조"</a:t>
            </a:r>
          </a:p>
          <a:p xmlns:a="http://schemas.openxmlformats.org/drawingml/2006/main">
            <a:r>
              <a:t>      },</a:t>
            </a:r>
          </a:p>
          <a:p xmlns:a="http://schemas.openxmlformats.org/drawingml/2006/main">
            <a:r>
              <a:t>      "data": {</a:t>
            </a:r>
          </a:p>
          <a:p xmlns:a="http://schemas.openxmlformats.org/drawingml/2006/main">
            <a:r>
              <a:t>        "source": "OpenSearch·품질 분석 기록",</a:t>
            </a:r>
          </a:p>
          <a:p xmlns:a="http://schemas.openxmlformats.org/drawingml/2006/main">
            <a:r>
              <a:t>        "prepare": "공개 콘텐츠 선별·벡터화·OpenSearch 저장",</a:t>
            </a:r>
          </a:p>
          <a:p xmlns:a="http://schemas.openxmlformats.org/drawingml/2006/main">
            <a:r>
              <a:t>        "output": "질문",</a:t>
            </a:r>
          </a:p>
          <a:p xmlns:a="http://schemas.openxmlformats.org/drawingml/2006/main">
            <a:r>
              <a:t>        "refresh": "관리 도구·BigQuery 기반 품질 분석"</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"PF-A12",</a:t>
            </a:r>
          </a:p>
          <a:p xmlns:a="http://schemas.openxmlformats.org/drawingml/2006/main">
            <a:r>
              <a:t>    "success": [</a:t>
            </a:r>
          </a:p>
          <a:p xmlns:a="http://schemas.openxmlformats.org/drawingml/2006/main">
            <a:r>
              <a:t>      "공식 공개 지식에 한정한 RAG",</a:t>
            </a:r>
          </a:p>
          <a:p xmlns:a="http://schemas.openxmlformats.org/drawingml/2006/main">
            <a:r>
              <a:t>      "실제 이용자 실증 평가"</a:t>
            </a:r>
          </a:p>
          <a:p xmlns:a="http://schemas.openxmlformats.org/drawingml/2006/main">
            <a:r>
              <a:t>    ],</a:t>
            </a:r>
          </a:p>
          <a:p xmlns:a="http://schemas.openxmlformats.org/drawingml/2006/main">
            <a:r>
              <a:t>    "risks": [</a:t>
            </a:r>
          </a:p>
          <a:p xmlns:a="http://schemas.openxmlformats.org/drawingml/2006/main">
            <a:r>
              <a:t>      "지연·범위 밖 질문",</a:t>
            </a:r>
          </a:p>
          <a:p xmlns:a="http://schemas.openxmlformats.org/drawingml/2006/main">
            <a:r>
              <a:t>      "안내 서비스를 행정 처리로 확대"</a:t>
            </a:r>
          </a:p>
          <a:p xmlns:a="http://schemas.openxmlformats.org/drawingml/2006/main">
            <a:r>
              <a:t>    ],</a:t>
            </a:r>
          </a:p>
          <a:p xmlns:a="http://schemas.openxmlformats.org/drawingml/2006/main">
            <a:r>
              <a:t>    "architecture": [</a:t>
            </a:r>
          </a:p>
          <a:p xmlns:a="http://schemas.openxmlformats.org/drawingml/2006/main">
            <a:r>
              <a:t>      "GOV.UK 앱",</a:t>
            </a:r>
          </a:p>
          <a:p xmlns:a="http://schemas.openxmlformats.org/drawingml/2006/main">
            <a:r>
              <a:t>      "Rails·Claude / Bedrock",</a:t>
            </a:r>
          </a:p>
          <a:p xmlns:a="http://schemas.openxmlformats.org/drawingml/2006/main">
            <a:r>
              <a:t>      "OpenSearch·품질 분석 기록",</a:t>
            </a:r>
          </a:p>
          <a:p xmlns:a="http://schemas.openxmlformats.org/drawingml/2006/main">
            <a:r>
              <a:t>      "이용자·운영자"</a:t>
            </a:r>
          </a:p>
          <a:p xmlns:a="http://schemas.openxmlformats.org/drawingml/2006/main">
            <a:r>
              <a:t>    ],</a:t>
            </a:r>
          </a:p>
          <a:p xmlns:a="http://schemas.openxmlformats.org/drawingml/2006/main">
            <a:r>
              <a:t>    "transfers": [</a:t>
            </a:r>
          </a:p>
          <a:p xmlns:a="http://schemas.openxmlformats.org/drawingml/2006/main">
            <a:r>
              <a:t>      "질문",</a:t>
            </a:r>
          </a:p>
          <a:p xmlns:a="http://schemas.openxmlformats.org/drawingml/2006/main">
            <a:r>
              <a:t>      "공식 문서 조각",</a:t>
            </a:r>
          </a:p>
          <a:p xmlns:a="http://schemas.openxmlformats.org/drawingml/2006/main">
            <a:r>
              <a:t>      "출처 답변",</a:t>
            </a:r>
          </a:p>
          <a:p xmlns:a="http://schemas.openxmlformats.org/drawingml/2006/main">
            <a:r>
              <a:t>      "공식 서비스"</a:t>
            </a:r>
          </a:p>
          <a:p xmlns:a="http://schemas.openxmlformats.org/drawingml/2006/main">
            <a:r>
              <a:t>    ],</a:t>
            </a:r>
          </a:p>
          <a:p xmlns:a="http://schemas.openxmlformats.org/drawingml/2006/main">
            <a:r>
              <a:t>    "control": "의도 분류·근거·응답 품질 대조",</a:t>
            </a:r>
          </a:p>
          <a:p xmlns:a="http://schemas.openxmlformats.org/drawingml/2006/main">
            <a:r>
              <a:t>    "analysis": "공개 내용에 근거한 CCK 분석",</a:t>
            </a:r>
          </a:p>
          <a:p xmlns:a="http://schemas.openxmlformats.org/drawingml/2006/main">
            <a:r>
              <a:t>    "diagramBasis": "공개 기술 설명 요약",</a:t>
            </a:r>
          </a:p>
          <a:p xmlns:a="http://schemas.openxmlformats.org/drawingml/2006/main">
            <a:r>
              <a:t>    "structureSource": {</a:t>
            </a:r>
          </a:p>
          <a:p xmlns:a="http://schemas.openxmlformats.org/drawingml/2006/main">
            <a:r>
              <a:t>      "title": "GOV.UK Chat 기술 공개 기록 · 2025-10-07",</a:t>
            </a:r>
          </a:p>
          <a:p xmlns:a="http://schemas.openxmlformats.org/drawingml/2006/main">
            <a:r>
              <a:t>      "url": "https://www.gov.uk/algorithmic-transparency-records/dsit-gov-dot-uk-chat"</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T062·T080·P136~139 / 평가 설계 https://insidegovuk.blog.gov.uk/2026/03/16/5-things-we-learned-testing-gov-uk-chat-an-ai-assistant-for-government/</a:t>
            </a:r>
          </a:p>
          <a:p xmlns:a="http://schemas.openxmlformats.org/drawingml/2006/main">
            <a:r>
              <a:t>GOV.UK Chat 기술 공개 기록 · 2025-10-07 https://www.gov.uk/algorithmic-transparency-records/dsit-gov-dot-uk-chat</a:t>
            </a:r>
          </a:p>
          <a:p xmlns:a="http://schemas.openxmlformats.org/drawingml/2006/main">
            <a:r>
              <a:t>홈페이지 https://heen1987-ops.github.io/TS-business-Plan-001/index.html?view=platform-cases&amp;case=PF-A12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"PF-A13",</a:t>
            </a:r>
          </a:p>
          <a:p xmlns:a="http://schemas.openxmlformats.org/drawingml/2006/main">
            <a:r>
              <a:t>    "sourceId": "A13",</a:t>
            </a:r>
          </a:p>
          <a:p xmlns:a="http://schemas.openxmlformats.org/drawingml/2006/main">
            <a:r>
              <a:t>    "title": "영국 정부 Copilot 실험",</a:t>
            </a:r>
          </a:p>
          <a:p xmlns:a="http://schemas.openxmlformats.org/drawingml/2006/main">
            <a:r>
              <a:t>    "region": "해외",</a:t>
            </a:r>
          </a:p>
          <a:p xmlns:a="http://schemas.openxmlformats.org/drawingml/2006/main">
            <a:r>
              <a:t>    "owner": "정부 12기관 / M365 Copilot 실험(HMRC 포함)",</a:t>
            </a:r>
          </a:p>
          <a:p xmlns:a="http://schemas.openxmlformats.org/drawingml/2006/main">
            <a:r>
              <a:t>    "state": "2024-09~12 실험, 2025/2026 평가 공개",</a:t>
            </a:r>
          </a:p>
          <a:p xmlns:a="http://schemas.openxmlformats.org/drawingml/2006/main">
            <a:r>
              <a:t>    "period": "기존 원장 확인 2026.10.16",</a:t>
            </a:r>
          </a:p>
          <a:p xmlns:a="http://schemas.openxmlformats.org/drawingml/2006/main">
            <a:r>
              <a:t>    "fact": "기존 협업 플랫폼 AI 적용",</a:t>
            </a:r>
          </a:p>
          <a:p xmlns:a="http://schemas.openxmlformats.org/drawingml/2006/main">
            <a:r>
              <a:t>    "limit": "두 보고서는 모집단 중복. 자기보고 시간은 객관 실측/예산절감 아님; HMRC는 무작위 배정 포함",</a:t>
            </a:r>
          </a:p>
          <a:p xmlns:a="http://schemas.openxmlformats.org/drawingml/2006/main">
            <a:r>
              <a:t>    "nodes": [</a:t>
            </a:r>
          </a:p>
          <a:p xmlns:a="http://schemas.openxmlformats.org/drawingml/2006/main">
            <a:r>
              <a:t>      "직원·기존 권한",</a:t>
            </a:r>
          </a:p>
          <a:p xmlns:a="http://schemas.openxmlformats.org/drawingml/2006/main">
            <a:r>
              <a:t>      "M365 업무",</a:t>
            </a:r>
          </a:p>
          <a:p xmlns:a="http://schemas.openxmlformats.org/drawingml/2006/main">
            <a:r>
              <a:t>      "AI 작성·검색",</a:t>
            </a:r>
          </a:p>
          <a:p xmlns:a="http://schemas.openxmlformats.org/drawingml/2006/main">
            <a:r>
              <a:t>      "로그·설문 평가"</a:t>
            </a:r>
          </a:p>
          <a:p xmlns:a="http://schemas.openxmlformats.org/drawingml/2006/main">
            <a:r>
              <a:t>    ],</a:t>
            </a:r>
          </a:p>
          <a:p xmlns:a="http://schemas.openxmlformats.org/drawingml/2006/main">
            <a:r>
              <a:t>    "apply": "부서별 활용량과 검토·재작업을 포함한 실제 업무 성과의 별도 측정",</a:t>
            </a:r>
          </a:p>
          <a:p xmlns:a="http://schemas.openxmlformats.org/drawingml/2006/main">
            <a:r>
              <a:t>    "delta": "부서·직무·권한·변경 교차 평가",</a:t>
            </a:r>
          </a:p>
          <a:p xmlns:a="http://schemas.openxmlformats.org/drawingml/2006/main">
            <a:r>
              <a:t>    "test": "완료시간·오류·총비용의 기준선·비교 평가",</a:t>
            </a:r>
          </a:p>
          <a:p xmlns:a="http://schemas.openxmlformats.org/drawingml/2006/main">
            <a:r>
              <a:t>    "url": "https://www.gov.uk/government/publications/microsoft-365-copilot-experiment-cross-government-findings-report/microsoft-365-copilot-experiment-cross-government-findings-report-html",</a:t>
            </a:r>
          </a:p>
          <a:p xmlns:a="http://schemas.openxmlformats.org/drawingml/2006/main">
            <a:r>
              <a:t>    "urls": [</a:t>
            </a:r>
          </a:p>
          <a:p xmlns:a="http://schemas.openxmlformats.org/drawingml/2006/main">
            <a:r>
              <a:t>      "https://www.gov.uk/government/publications/microsoft-365-copilot-experiment-cross-government-findings-report/microsoft-365-copilot-experiment-cross-government-findings-report-html",</a:t>
            </a:r>
          </a:p>
          <a:p xmlns:a="http://schemas.openxmlformats.org/drawingml/2006/main">
            <a:r>
              <a:t>      "https://www.gov.uk/government/publications/evaluation-report-phase-3-trial-of-microsoft-copilot/evaluating-the-impact-of-microsoft-copilot-in-hmrc"</a:t>
            </a:r>
          </a:p>
          <a:p xmlns:a="http://schemas.openxmlformats.org/drawingml/2006/main">
            <a:r>
              <a:t>    ],</a:t>
            </a:r>
          </a:p>
          <a:p xmlns:a="http://schemas.openxmlformats.org/drawingml/2006/main">
            <a:r>
              <a:t>    "basis": "P139 / 도입효과 평가·확산",</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"완료시간·오류·총비용",</a:t>
            </a:r>
          </a:p>
          <a:p xmlns:a="http://schemas.openxmlformats.org/drawingml/2006/main">
            <a:r>
              <a:t>    "group": "운영·실증",</a:t>
            </a:r>
          </a:p>
          <a:p xmlns:a="http://schemas.openxmlformats.org/drawingml/2006/main">
            <a:r>
              <a:t>    "sourceDetail": "M365 업무 환경 내 Copilot 배포, 교육·사용 로그·설문·기관별 분석\n기관별 활용 업무와 라이선스/데이터 권한 조건 관리",</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"PF-A13",</a:t>
            </a:r>
          </a:p>
          <a:p xmlns:a="http://schemas.openxmlformats.org/drawingml/2006/main">
            <a:r>
              <a:t>    "canonicalId": "AX04",</a:t>
            </a:r>
          </a:p>
          <a:p xmlns:a="http://schemas.openxmlformats.org/drawingml/2006/main">
            <a:r>
              <a:t>    "purpose": "공무원 문서·회의 업무의 생성형 AI 지원",</a:t>
            </a:r>
          </a:p>
          <a:p xmlns:a="http://schemas.openxmlformats.org/drawingml/2006/main">
            <a:r>
              <a:t>    "users": "공무원·기관 운영자·평가팀",</a:t>
            </a:r>
          </a:p>
          <a:p xmlns:a="http://schemas.openxmlformats.org/drawingml/2006/main">
            <a:r>
              <a:t>    "scope": [</a:t>
            </a:r>
          </a:p>
          <a:p xmlns:a="http://schemas.openxmlformats.org/drawingml/2006/main">
            <a:r>
              <a:t>      "문서 초안",</a:t>
            </a:r>
          </a:p>
          <a:p xmlns:a="http://schemas.openxmlformats.org/drawingml/2006/main">
            <a:r>
              <a:t>      "회의 요약",</a:t>
            </a:r>
          </a:p>
          <a:p xmlns:a="http://schemas.openxmlformats.org/drawingml/2006/main">
            <a:r>
              <a:t>      "활용 효과 평가"</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"직원 M365",</a:t>
            </a:r>
          </a:p>
          <a:p xmlns:a="http://schemas.openxmlformats.org/drawingml/2006/main">
            <a:r>
              <a:t>        "detail": "직원 계정과 과업별 접근 문맥",</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"문서 초안 / 회의 요약 / 활용 효과 평가",</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"Copilot",</a:t>
            </a:r>
          </a:p>
          <a:p xmlns:a="http://schemas.openxmlformats.org/drawingml/2006/main">
            <a:r>
              <a:t>        "detail": "허용 자료에 근거한 검색·요약·작성",</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"직원·평가자",</a:t>
            </a:r>
          </a:p>
          <a:p xmlns:a="http://schemas.openxmlformats.org/drawingml/2006/main">
            <a:r>
              <a:t>        "detail": "직원 검토 후 공식 문서·회의 후속업무 반영",</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"업무 자료·접근권한",</a:t>
            </a:r>
          </a:p>
          <a:p xmlns:a="http://schemas.openxmlformats.org/drawingml/2006/main">
            <a:r>
              <a:t>        "detail": "M365 문서·회의 자료의 공유범위 점검",</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"검토·재작업 시간과 사용 로그의 과업별 비교",</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"직원·기존 권한",</a:t>
            </a:r>
          </a:p>
          <a:p xmlns:a="http://schemas.openxmlformats.org/drawingml/2006/main">
            <a:r>
              <a:t>        "input": "직원 계정과 과업별 접근 문맥",</a:t>
            </a:r>
          </a:p>
          <a:p xmlns:a="http://schemas.openxmlformats.org/drawingml/2006/main">
            <a:r>
              <a:t>        "process": "M365 문서·회의 자료의 공유범위 점검",</a:t>
            </a:r>
          </a:p>
          <a:p xmlns:a="http://schemas.openxmlformats.org/drawingml/2006/main">
            <a:r>
              <a:t>        "output": "요청"</a:t>
            </a:r>
          </a:p>
          <a:p xmlns:a="http://schemas.openxmlformats.org/drawingml/2006/main">
            <a:r>
              <a:t>      },</a:t>
            </a:r>
          </a:p>
          <a:p xmlns:a="http://schemas.openxmlformats.org/drawingml/2006/main">
            <a:r>
              <a:t>      {</a:t>
            </a:r>
          </a:p>
          <a:p xmlns:a="http://schemas.openxmlformats.org/drawingml/2006/main">
            <a:r>
              <a:t>        "title": "M365 업무",</a:t>
            </a:r>
          </a:p>
          <a:p xmlns:a="http://schemas.openxmlformats.org/drawingml/2006/main">
            <a:r>
              <a:t>        "input": "요청",</a:t>
            </a:r>
          </a:p>
          <a:p xmlns:a="http://schemas.openxmlformats.org/drawingml/2006/main">
            <a:r>
              <a:t>        "process": "허용 자료에 근거한 검색·요약·작성",</a:t>
            </a:r>
          </a:p>
          <a:p xmlns:a="http://schemas.openxmlformats.org/drawingml/2006/main">
            <a:r>
              <a:t>        "output": "허용 문맥"</a:t>
            </a:r>
          </a:p>
          <a:p xmlns:a="http://schemas.openxmlformats.org/drawingml/2006/main">
            <a:r>
              <a:t>      },</a:t>
            </a:r>
          </a:p>
          <a:p xmlns:a="http://schemas.openxmlformats.org/drawingml/2006/main">
            <a:r>
              <a:t>      {</a:t>
            </a:r>
          </a:p>
          <a:p xmlns:a="http://schemas.openxmlformats.org/drawingml/2006/main">
            <a:r>
              <a:t>        "title": "AI 작성·검색",</a:t>
            </a:r>
          </a:p>
          <a:p xmlns:a="http://schemas.openxmlformats.org/drawingml/2006/main">
            <a:r>
              <a:t>        "input": "허용 문맥",</a:t>
            </a:r>
          </a:p>
          <a:p xmlns:a="http://schemas.openxmlformats.org/drawingml/2006/main">
            <a:r>
              <a:t>        "process": "동일 과업의 실제 검토시간 비교",</a:t>
            </a:r>
          </a:p>
          <a:p xmlns:a="http://schemas.openxmlformats.org/drawingml/2006/main">
            <a:r>
              <a:t>        "output": "초안"</a:t>
            </a:r>
          </a:p>
          <a:p xmlns:a="http://schemas.openxmlformats.org/drawingml/2006/main">
            <a:r>
              <a:t>      },</a:t>
            </a:r>
          </a:p>
          <a:p xmlns:a="http://schemas.openxmlformats.org/drawingml/2006/main">
            <a:r>
              <a:t>      {</a:t>
            </a:r>
          </a:p>
          <a:p xmlns:a="http://schemas.openxmlformats.org/drawingml/2006/main">
            <a:r>
              <a:t>        "title": "로그·설문 평가",</a:t>
            </a:r>
          </a:p>
          <a:p xmlns:a="http://schemas.openxmlformats.org/drawingml/2006/main">
            <a:r>
              <a:t>        "input": "초안",</a:t>
            </a:r>
          </a:p>
          <a:p xmlns:a="http://schemas.openxmlformats.org/drawingml/2006/main">
            <a:r>
              <a:t>        "process": "직원 검토 후 공식 문서·회의 후속업무 반영",</a:t>
            </a:r>
          </a:p>
          <a:p xmlns:a="http://schemas.openxmlformats.org/drawingml/2006/main">
            <a:r>
              <a:t>        "output": "검토·설문"</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"같은 회의자료로 회의록 초안을 작성하고 직원이 수정·확정",</a:t>
            </a:r>
          </a:p>
          <a:p xmlns:a="http://schemas.openxmlformats.org/drawingml/2006/main">
            <a:r>
              <a:t>      "exception": "다른 부서 공유문서·누락된 발언·잘못된 할일 배정",</a:t>
            </a:r>
          </a:p>
          <a:p xmlns:a="http://schemas.openxmlformats.org/drawingml/2006/main">
            <a:r>
              <a:t>      "evidence": "권한별 결과와 검토·재작업을 포함한 과업 완료시간",</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"공무원·기관 운영자·평가팀",</a:t>
            </a:r>
          </a:p>
          <a:p xmlns:a="http://schemas.openxmlformats.org/drawingml/2006/main">
            <a:r>
              <a:t>          "processing": "직원 계정과 과업별 접근 문맥",</a:t>
            </a:r>
          </a:p>
          <a:p xmlns:a="http://schemas.openxmlformats.org/drawingml/2006/main">
            <a:r>
              <a:t>          "output": "요청"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"업무 자료·접근권한",</a:t>
            </a:r>
          </a:p>
          <a:p xmlns:a="http://schemas.openxmlformats.org/drawingml/2006/main">
            <a:r>
              <a:t>          "processing": "M365 문서·회의 자료의 공유범위 점검",</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"요청",</a:t>
            </a:r>
          </a:p>
          <a:p xmlns:a="http://schemas.openxmlformats.org/drawingml/2006/main">
            <a:r>
              <a:t>          "processing": "허용 자료에 근거한 검색·요약·작성",</a:t>
            </a:r>
          </a:p>
          <a:p xmlns:a="http://schemas.openxmlformats.org/drawingml/2006/main">
            <a:r>
              <a:t>          "output":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"초안",</a:t>
            </a:r>
          </a:p>
          <a:p xmlns:a="http://schemas.openxmlformats.org/drawingml/2006/main">
            <a:r>
              <a:t>          "processing": "직원 검토 후 공식 문서·회의 후속업무 반영",</a:t>
            </a:r>
          </a:p>
          <a:p xmlns:a="http://schemas.openxmlformats.org/drawingml/2006/main">
            <a:r>
              <a:t>          "output": "검토·설문"</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"검토·재작업 시간과 사용 로그의 과업별 비교",</a:t>
            </a:r>
          </a:p>
          <a:p xmlns:a="http://schemas.openxmlformats.org/drawingml/2006/main">
            <a:r>
              <a:t>          "output": "권한별 결과와 검토·재작업을 포함한 과업 완료시간"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"검토·재작업 시간과 사용 로그의 과업별 비교",</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"P139 / 도입효과 평가·확산",</a:t>
            </a:r>
          </a:p>
          <a:p xmlns:a="http://schemas.openxmlformats.org/drawingml/2006/main">
            <a:r>
              <a:t>        "url": "https://www.gov.uk/government/publications/microsoft-365-copilot-experiment-cross-government-findings-report/microsoft-365-copilot-experiment-cross-government-findings-report-html"</a:t>
            </a:r>
          </a:p>
          <a:p xmlns:a="http://schemas.openxmlformats.org/drawingml/2006/main">
            <a:r>
              <a:t>      }</a:t>
            </a:r>
          </a:p>
          <a:p xmlns:a="http://schemas.openxmlformats.org/drawingml/2006/main">
            <a:r>
              <a:t>    ],</a:t>
            </a:r>
          </a:p>
          <a:p xmlns:a="http://schemas.openxmlformats.org/drawingml/2006/main">
            <a:r>
              <a:t>    "implication": "사용 빈도와 실측 성과의 분리 / 기존 권한의 사전 정비",</a:t>
            </a:r>
          </a:p>
          <a:p xmlns:a="http://schemas.openxmlformats.org/drawingml/2006/main">
            <a:r>
              <a:t>    "local": "부서별 활용량과 검토·재작업을 포함한 실제 업무 성과의 별도 측정",</a:t>
            </a:r>
          </a:p>
          <a:p xmlns:a="http://schemas.openxmlformats.org/drawingml/2006/main">
            <a:r>
              <a:t>    "sourceDetail": "M365 업무 환경 내 Copilot 배포, 교육·사용 로그·설문·기관별 분석\n기관별 활용 업무와 라이선스/데이터 권한 조건 관리",</a:t>
            </a:r>
          </a:p>
          <a:p xmlns:a="http://schemas.openxmlformats.org/drawingml/2006/main">
            <a:r>
              <a:t>    "narrative": [</a:t>
            </a:r>
          </a:p>
          <a:p xmlns:a="http://schemas.openxmlformats.org/drawingml/2006/main">
            <a:r>
              <a:t>      "기존 M365 문서·회의 접점에서 공무원의 작성·검색·요약을 지원한 실험. 새 업무 시스템 구축보다 직원이 이미 접근하는 자료와 협업 도구 안에 AI를 배치한 유형.",</a:t>
            </a:r>
          </a:p>
          <a:p xmlns:a="http://schemas.openxmlformats.org/drawingml/2006/main">
            <a:r>
              <a:t>      "자료 접근권한을 전제로 요청 문맥을 만들고 검색·생성 결과를 직원이 검토하는 흐름. 조직·직무별 동일 과업을 정의한 뒤 AI 사용 전후의 초안 작성, 사실 확인, 수정 시간을 함께 기록하는 CCK 비교 설계.",</a:t>
            </a:r>
          </a:p>
          <a:p xmlns:a="http://schemas.openxmlformats.org/drawingml/2006/main">
            <a:r>
              <a:t>      "설문 자기보고 절감시간을 TS의 예상 절감률로 직접 전환하지 않는 평가. 과다공유 문서, 복잡한 질의, 숙련도 차이와 재작업을 포함해 부서별 완료시간·오류율을 산정할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"M365 업무 요청",</a:t>
            </a:r>
          </a:p>
          <a:p xmlns:a="http://schemas.openxmlformats.org/drawingml/2006/main">
            <a:r>
              <a:t>          "layer": "이용 접점",</a:t>
            </a:r>
          </a:p>
          <a:p xmlns:a="http://schemas.openxmlformats.org/drawingml/2006/main">
            <a:r>
              <a:t>          "detail": "공무원·기관 운영자·평가팀",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"직원·과업 맥락",</a:t>
            </a:r>
          </a:p>
          <a:p xmlns:a="http://schemas.openxmlformats.org/drawingml/2006/main">
            <a:r>
              <a:t>          "layer": "업무 문맥",</a:t>
            </a:r>
          </a:p>
          <a:p xmlns:a="http://schemas.openxmlformats.org/drawingml/2006/main">
            <a:r>
              <a:t>          "detail": "직원 계정과 과업별 접근 문맥",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"권한 내 자료 조회",</a:t>
            </a:r>
          </a:p>
          <a:p xmlns:a="http://schemas.openxmlformats.org/drawingml/2006/main">
            <a:r>
              <a:t>          "layer": "자료 조회",</a:t>
            </a:r>
          </a:p>
          <a:p xmlns:a="http://schemas.openxmlformats.org/drawingml/2006/main">
            <a:r>
              <a:t>          "detail":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"검색·요약·작성",</a:t>
            </a:r>
          </a:p>
          <a:p xmlns:a="http://schemas.openxmlformats.org/drawingml/2006/main">
            <a:r>
              <a:t>          "layer": "핵심 처리",</a:t>
            </a:r>
          </a:p>
          <a:p xmlns:a="http://schemas.openxmlformats.org/drawingml/2006/main">
            <a:r>
              <a:t>          "detail": "허용 자료에 근거한 검색·요약·작성",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"근거·사실 대조",</a:t>
            </a:r>
          </a:p>
          <a:p xmlns:a="http://schemas.openxmlformats.org/drawingml/2006/main">
            <a:r>
              <a:t>          "layer": "결과 검증",</a:t>
            </a:r>
          </a:p>
          <a:p xmlns:a="http://schemas.openxmlformats.org/drawingml/2006/main">
            <a:r>
              <a:t>          "detail": "동일 과업의 실제 검토시간 비교",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"직원 편집·확인",</a:t>
            </a:r>
          </a:p>
          <a:p xmlns:a="http://schemas.openxmlformats.org/drawingml/2006/main">
            <a:r>
              <a:t>          "layer": "사람 확인",</a:t>
            </a:r>
          </a:p>
          <a:p xmlns:a="http://schemas.openxmlformats.org/drawingml/2006/main">
            <a:r>
              <a:t>          "detail": "같은 회의자료로 회의록 초안을 작성하고 직원이 수정·확정",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"문서·회의 후속업무",</a:t>
            </a:r>
          </a:p>
          <a:p xmlns:a="http://schemas.openxmlformats.org/drawingml/2006/main">
            <a:r>
              <a:t>          "layer": "업무 연결",</a:t>
            </a:r>
          </a:p>
          <a:p xmlns:a="http://schemas.openxmlformats.org/drawingml/2006/main">
            <a:r>
              <a:t>          "detail": "직원 검토 후 공식 문서·회의 후속업무 반영",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"검토시간 비교",</a:t>
            </a:r>
          </a:p>
          <a:p xmlns:a="http://schemas.openxmlformats.org/drawingml/2006/main">
            <a:r>
              <a:t>          "layer": "운영 관측",</a:t>
            </a:r>
          </a:p>
          <a:p xmlns:a="http://schemas.openxmlformats.org/drawingml/2006/main">
            <a:r>
              <a:t>          "detail": "검토·재작업 시간과 사용 로그의 과업별 비교",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"문서·회의 자료",</a:t>
            </a:r>
          </a:p>
          <a:p xmlns:a="http://schemas.openxmlformats.org/drawingml/2006/main">
            <a:r>
              <a:t>          "layer": "데이터 원천",</a:t>
            </a:r>
          </a:p>
          <a:p xmlns:a="http://schemas.openxmlformats.org/drawingml/2006/main">
            <a:r>
              <a:t>          "detail": "업무 자료·접근권한",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"공유범위 점검",</a:t>
            </a:r>
          </a:p>
          <a:p xmlns:a="http://schemas.openxmlformats.org/drawingml/2006/main">
            <a:r>
              <a:t>          "layer": "준비·갱신",</a:t>
            </a:r>
          </a:p>
          <a:p xmlns:a="http://schemas.openxmlformats.org/drawingml/2006/main">
            <a:r>
              <a:t>          "detail": "M365 문서·회의 자료의 공유범위 점검",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"업무·평가 기록",</a:t>
            </a:r>
          </a:p>
          <a:p xmlns:a="http://schemas.openxmlformats.org/drawingml/2006/main">
            <a:r>
              <a:t>          "layer": "상태·지식 저장",</a:t>
            </a:r>
          </a:p>
          <a:p xmlns:a="http://schemas.openxmlformats.org/drawingml/2006/main">
            <a:r>
              <a:t>          "detail": "권한별 결과와 검토·재작업을 포함한 과업 완료시간",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"문서 접근정책",</a:t>
            </a:r>
          </a:p>
          <a:p xmlns:a="http://schemas.openxmlformats.org/drawingml/2006/main">
            <a:r>
              <a:t>          "layer": "권한·정책",</a:t>
            </a:r>
          </a:p>
          <a:p xmlns:a="http://schemas.openxmlformats.org/drawingml/2006/main">
            <a:r>
              <a:t>          "detail": "다른 부서 공유문서·누락된 발언·잘못된 할일 배정",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"직원 계정과 과업별 접근 문맥",</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"요청",</a:t>
            </a:r>
          </a:p>
          <a:p xmlns:a="http://schemas.openxmlformats.org/drawingml/2006/main">
            <a:r>
              <a:t>          "check": "동일 과업의 실제 검토시간 비교"</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"허용 문맥",</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"초안",</a:t>
            </a:r>
          </a:p>
          <a:p xmlns:a="http://schemas.openxmlformats.org/drawingml/2006/main">
            <a:r>
              <a:t>          "check": "다른 부서 공유문서·누락된 발언·잘못된 할일 배정"</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"초안",</a:t>
            </a:r>
          </a:p>
          <a:p xmlns:a="http://schemas.openxmlformats.org/drawingml/2006/main">
            <a:r>
              <a:t>          "check": "직원 검토 후 공식 문서·회의 후속업무 반영"</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"검토·설문",</a:t>
            </a:r>
          </a:p>
          <a:p xmlns:a="http://schemas.openxmlformats.org/drawingml/2006/main">
            <a:r>
              <a:t>          "check": "권한별 결과와 검토·재작업을 포함한 과업 완료시간"</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"공무원 문서·회의 업무의 생성형 AI 지원 / 문서 초안·회의 요약·활용 효과 평가",</a:t>
            </a:r>
          </a:p>
          <a:p xmlns:a="http://schemas.openxmlformats.org/drawingml/2006/main">
            <a:r>
              <a:t>        "extension": "부서별 활용량과 검토·재작업을 포함한 실제 업무 성과의 별도 측정"</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"다른 부서 공유문서·누락된 발언·잘못된 할일 배정",</a:t>
            </a:r>
          </a:p>
          <a:p xmlns:a="http://schemas.openxmlformats.org/drawingml/2006/main">
            <a:r>
              <a:t>        "hold": "동일 과업의 실제 검토시간 비교",</a:t>
            </a:r>
          </a:p>
          <a:p xmlns:a="http://schemas.openxmlformats.org/drawingml/2006/main">
            <a:r>
              <a:t>        "recovery": "검토·재작업 시간과 사용 로그의 과업별 비교",</a:t>
            </a:r>
          </a:p>
          <a:p xmlns:a="http://schemas.openxmlformats.org/drawingml/2006/main">
            <a:r>
              <a:t>        "evidence": "권한별 결과와 검토·재작업을 포함한 과업 완료시간"</a:t>
            </a:r>
          </a:p>
          <a:p xmlns:a="http://schemas.openxmlformats.org/drawingml/2006/main">
            <a:r>
              <a:t>      },</a:t>
            </a:r>
          </a:p>
          <a:p xmlns:a="http://schemas.openxmlformats.org/drawingml/2006/main">
            <a:r>
              <a:t>      "data": {</a:t>
            </a:r>
          </a:p>
          <a:p xmlns:a="http://schemas.openxmlformats.org/drawingml/2006/main">
            <a:r>
              <a:t>        "source": "업무 자료·접근권한",</a:t>
            </a:r>
          </a:p>
          <a:p xmlns:a="http://schemas.openxmlformats.org/drawingml/2006/main">
            <a:r>
              <a:t>        "prepare": "M365 문서·회의 자료의 공유범위 점검",</a:t>
            </a:r>
          </a:p>
          <a:p xmlns:a="http://schemas.openxmlformats.org/drawingml/2006/main">
            <a:r>
              <a:t>        "output": "요청",</a:t>
            </a:r>
          </a:p>
          <a:p xmlns:a="http://schemas.openxmlformats.org/drawingml/2006/main">
            <a:r>
              <a:t>        "refresh": "검토·재작업 시간과 사용 로그의 과업별 비교"</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"PF-A13",</a:t>
            </a:r>
          </a:p>
          <a:p xmlns:a="http://schemas.openxmlformats.org/drawingml/2006/main">
            <a:r>
              <a:t>    "success": [</a:t>
            </a:r>
          </a:p>
          <a:p xmlns:a="http://schemas.openxmlformats.org/drawingml/2006/main">
            <a:r>
              <a:t>      "기존 협업 도구 내 AI 지원",</a:t>
            </a:r>
          </a:p>
          <a:p xmlns:a="http://schemas.openxmlformats.org/drawingml/2006/main">
            <a:r>
              <a:t>      "교육·설문·활용 관측"</a:t>
            </a:r>
          </a:p>
          <a:p xmlns:a="http://schemas.openxmlformats.org/drawingml/2006/main">
            <a:r>
              <a:t>    ],</a:t>
            </a:r>
          </a:p>
          <a:p xmlns:a="http://schemas.openxmlformats.org/drawingml/2006/main">
            <a:r>
              <a:t>    "risks": [</a:t>
            </a:r>
          </a:p>
          <a:p xmlns:a="http://schemas.openxmlformats.org/drawingml/2006/main">
            <a:r>
              <a:t>      "과업별 성과 편차",</a:t>
            </a:r>
          </a:p>
          <a:p xmlns:a="http://schemas.openxmlformats.org/drawingml/2006/main">
            <a:r>
              <a:t>      "자기보고 절감시간의 과대 일반화"</a:t>
            </a:r>
          </a:p>
          <a:p xmlns:a="http://schemas.openxmlformats.org/drawingml/2006/main">
            <a:r>
              <a:t>    ],</a:t>
            </a:r>
          </a:p>
          <a:p xmlns:a="http://schemas.openxmlformats.org/drawingml/2006/main">
            <a:r>
              <a:t>    "architecture": [</a:t>
            </a:r>
          </a:p>
          <a:p xmlns:a="http://schemas.openxmlformats.org/drawingml/2006/main">
            <a:r>
              <a:t>      "직원 M365",</a:t>
            </a:r>
          </a:p>
          <a:p xmlns:a="http://schemas.openxmlformats.org/drawingml/2006/main">
            <a:r>
              <a:t>      "Copilot",</a:t>
            </a:r>
          </a:p>
          <a:p xmlns:a="http://schemas.openxmlformats.org/drawingml/2006/main">
            <a:r>
              <a:t>      "업무 자료·접근권한",</a:t>
            </a:r>
          </a:p>
          <a:p xmlns:a="http://schemas.openxmlformats.org/drawingml/2006/main">
            <a:r>
              <a:t>      "직원·평가자"</a:t>
            </a:r>
          </a:p>
          <a:p xmlns:a="http://schemas.openxmlformats.org/drawingml/2006/main">
            <a:r>
              <a:t>    ],</a:t>
            </a:r>
          </a:p>
          <a:p xmlns:a="http://schemas.openxmlformats.org/drawingml/2006/main">
            <a:r>
              <a:t>    "transfers": [</a:t>
            </a:r>
          </a:p>
          <a:p xmlns:a="http://schemas.openxmlformats.org/drawingml/2006/main">
            <a:r>
              <a:t>      "요청",</a:t>
            </a:r>
          </a:p>
          <a:p xmlns:a="http://schemas.openxmlformats.org/drawingml/2006/main">
            <a:r>
              <a:t>      "허용 문맥",</a:t>
            </a:r>
          </a:p>
          <a:p xmlns:a="http://schemas.openxmlformats.org/drawingml/2006/main">
            <a:r>
              <a:t>      "초안",</a:t>
            </a:r>
          </a:p>
          <a:p xmlns:a="http://schemas.openxmlformats.org/drawingml/2006/main">
            <a:r>
              <a:t>      "검토·설문"</a:t>
            </a:r>
          </a:p>
          <a:p xmlns:a="http://schemas.openxmlformats.org/drawingml/2006/main">
            <a:r>
              <a:t>    ],</a:t>
            </a:r>
          </a:p>
          <a:p xmlns:a="http://schemas.openxmlformats.org/drawingml/2006/main">
            <a:r>
              <a:t>    "control": "동일 과업의 실제 검토시간 비교",</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P139 / 도입효과 평가·확산 https://www.gov.uk/government/publications/microsoft-365-copilot-experiment-cross-government-findings-report/microsoft-365-copilot-experiment-cross-government-findings-report-html</a:t>
            </a:r>
          </a:p>
          <a:p xmlns:a="http://schemas.openxmlformats.org/drawingml/2006/main">
            <a:r>
              <a:t>홈페이지 https://heen1987-ops.github.io/TS-business-Plan-001/index.html?view=platform-cases&amp;case=PF-A13</a:t>
            </a:r>
          </a:p>
          <a:p xmlns:a="http://schemas.openxmlformats.org/drawingml/2006/main">
            <a:r>
              <a:t>한계: 두 보고서는 모집단 중복. 자기보고 시간은 객관 실측/예산절감 아님; HMRC는 무작위 배정 포함</a:t>
            </a:r>
          </a:p>
          <a:p xmlns:a="http://schemas.openxmlformats.org/drawingml/2006/main">
            <a:r>
              <a:t>실패 위험: 과업별 성과 편차 / 자기보고 절감시간의 과대 일반화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"PF-A13",</a:t>
            </a:r>
          </a:p>
          <a:p xmlns:a="http://schemas.openxmlformats.org/drawingml/2006/main">
            <a:r>
              <a:t>    "sourceId": "A13",</a:t>
            </a:r>
          </a:p>
          <a:p xmlns:a="http://schemas.openxmlformats.org/drawingml/2006/main">
            <a:r>
              <a:t>    "title": "영국 정부 Copilot 실험",</a:t>
            </a:r>
          </a:p>
          <a:p xmlns:a="http://schemas.openxmlformats.org/drawingml/2006/main">
            <a:r>
              <a:t>    "region": "해외",</a:t>
            </a:r>
          </a:p>
          <a:p xmlns:a="http://schemas.openxmlformats.org/drawingml/2006/main">
            <a:r>
              <a:t>    "owner": "정부 12기관 / M365 Copilot 실험(HMRC 포함)",</a:t>
            </a:r>
          </a:p>
          <a:p xmlns:a="http://schemas.openxmlformats.org/drawingml/2006/main">
            <a:r>
              <a:t>    "state": "2024-09~12 실험, 2025/2026 평가 공개",</a:t>
            </a:r>
          </a:p>
          <a:p xmlns:a="http://schemas.openxmlformats.org/drawingml/2006/main">
            <a:r>
              <a:t>    "period": "기존 원장 확인 2026.10.16",</a:t>
            </a:r>
          </a:p>
          <a:p xmlns:a="http://schemas.openxmlformats.org/drawingml/2006/main">
            <a:r>
              <a:t>    "fact": "기존 협업 플랫폼 AI 적용",</a:t>
            </a:r>
          </a:p>
          <a:p xmlns:a="http://schemas.openxmlformats.org/drawingml/2006/main">
            <a:r>
              <a:t>    "limit": "두 보고서는 모집단 중복. 자기보고 시간은 객관 실측/예산절감 아님; HMRC는 무작위 배정 포함",</a:t>
            </a:r>
          </a:p>
          <a:p xmlns:a="http://schemas.openxmlformats.org/drawingml/2006/main">
            <a:r>
              <a:t>    "nodes": [</a:t>
            </a:r>
          </a:p>
          <a:p xmlns:a="http://schemas.openxmlformats.org/drawingml/2006/main">
            <a:r>
              <a:t>      "직원·기존 권한",</a:t>
            </a:r>
          </a:p>
          <a:p xmlns:a="http://schemas.openxmlformats.org/drawingml/2006/main">
            <a:r>
              <a:t>      "M365 업무",</a:t>
            </a:r>
          </a:p>
          <a:p xmlns:a="http://schemas.openxmlformats.org/drawingml/2006/main">
            <a:r>
              <a:t>      "AI 작성·검색",</a:t>
            </a:r>
          </a:p>
          <a:p xmlns:a="http://schemas.openxmlformats.org/drawingml/2006/main">
            <a:r>
              <a:t>      "로그·설문 평가"</a:t>
            </a:r>
          </a:p>
          <a:p xmlns:a="http://schemas.openxmlformats.org/drawingml/2006/main">
            <a:r>
              <a:t>    ],</a:t>
            </a:r>
          </a:p>
          <a:p xmlns:a="http://schemas.openxmlformats.org/drawingml/2006/main">
            <a:r>
              <a:t>    "apply": "부서별 활용량과 검토·재작업을 포함한 실제 업무 성과의 별도 측정",</a:t>
            </a:r>
          </a:p>
          <a:p xmlns:a="http://schemas.openxmlformats.org/drawingml/2006/main">
            <a:r>
              <a:t>    "delta": "부서·직무·권한·변경 교차 평가",</a:t>
            </a:r>
          </a:p>
          <a:p xmlns:a="http://schemas.openxmlformats.org/drawingml/2006/main">
            <a:r>
              <a:t>    "test": "완료시간·오류·총비용의 기준선·비교 평가",</a:t>
            </a:r>
          </a:p>
          <a:p xmlns:a="http://schemas.openxmlformats.org/drawingml/2006/main">
            <a:r>
              <a:t>    "url": "https://www.gov.uk/government/publications/microsoft-365-copilot-experiment-cross-government-findings-report/microsoft-365-copilot-experiment-cross-government-findings-report-html",</a:t>
            </a:r>
          </a:p>
          <a:p xmlns:a="http://schemas.openxmlformats.org/drawingml/2006/main">
            <a:r>
              <a:t>    "urls": [</a:t>
            </a:r>
          </a:p>
          <a:p xmlns:a="http://schemas.openxmlformats.org/drawingml/2006/main">
            <a:r>
              <a:t>      "https://www.gov.uk/government/publications/microsoft-365-copilot-experiment-cross-government-findings-report/microsoft-365-copilot-experiment-cross-government-findings-report-html",</a:t>
            </a:r>
          </a:p>
          <a:p xmlns:a="http://schemas.openxmlformats.org/drawingml/2006/main">
            <a:r>
              <a:t>      "https://www.gov.uk/government/publications/evaluation-report-phase-3-trial-of-microsoft-copilot/evaluating-the-impact-of-microsoft-copilot-in-hmrc"</a:t>
            </a:r>
          </a:p>
          <a:p xmlns:a="http://schemas.openxmlformats.org/drawingml/2006/main">
            <a:r>
              <a:t>    ],</a:t>
            </a:r>
          </a:p>
          <a:p xmlns:a="http://schemas.openxmlformats.org/drawingml/2006/main">
            <a:r>
              <a:t>    "basis": "P139 / 도입효과 평가·확산",</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"완료시간·오류·총비용",</a:t>
            </a:r>
          </a:p>
          <a:p xmlns:a="http://schemas.openxmlformats.org/drawingml/2006/main">
            <a:r>
              <a:t>    "group": "운영·실증",</a:t>
            </a:r>
          </a:p>
          <a:p xmlns:a="http://schemas.openxmlformats.org/drawingml/2006/main">
            <a:r>
              <a:t>    "sourceDetail": "M365 업무 환경 내 Copilot 배포, 교육·사용 로그·설문·기관별 분석\n기관별 활용 업무와 라이선스/데이터 권한 조건 관리",</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"PF-A13",</a:t>
            </a:r>
          </a:p>
          <a:p xmlns:a="http://schemas.openxmlformats.org/drawingml/2006/main">
            <a:r>
              <a:t>    "canonicalId": "AX04",</a:t>
            </a:r>
          </a:p>
          <a:p xmlns:a="http://schemas.openxmlformats.org/drawingml/2006/main">
            <a:r>
              <a:t>    "purpose": "공무원 문서·회의 업무의 생성형 AI 지원",</a:t>
            </a:r>
          </a:p>
          <a:p xmlns:a="http://schemas.openxmlformats.org/drawingml/2006/main">
            <a:r>
              <a:t>    "users": "공무원·기관 운영자·평가팀",</a:t>
            </a:r>
          </a:p>
          <a:p xmlns:a="http://schemas.openxmlformats.org/drawingml/2006/main">
            <a:r>
              <a:t>    "scope": [</a:t>
            </a:r>
          </a:p>
          <a:p xmlns:a="http://schemas.openxmlformats.org/drawingml/2006/main">
            <a:r>
              <a:t>      "문서 초안",</a:t>
            </a:r>
          </a:p>
          <a:p xmlns:a="http://schemas.openxmlformats.org/drawingml/2006/main">
            <a:r>
              <a:t>      "회의 요약",</a:t>
            </a:r>
          </a:p>
          <a:p xmlns:a="http://schemas.openxmlformats.org/drawingml/2006/main">
            <a:r>
              <a:t>      "활용 효과 평가"</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"직원 M365",</a:t>
            </a:r>
          </a:p>
          <a:p xmlns:a="http://schemas.openxmlformats.org/drawingml/2006/main">
            <a:r>
              <a:t>        "detail": "직원 계정과 과업별 접근 문맥",</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"문서 초안 / 회의 요약 / 활용 효과 평가",</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"Copilot",</a:t>
            </a:r>
          </a:p>
          <a:p xmlns:a="http://schemas.openxmlformats.org/drawingml/2006/main">
            <a:r>
              <a:t>        "detail": "허용 자료에 근거한 검색·요약·작성",</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"직원·평가자",</a:t>
            </a:r>
          </a:p>
          <a:p xmlns:a="http://schemas.openxmlformats.org/drawingml/2006/main">
            <a:r>
              <a:t>        "detail": "직원 검토 후 공식 문서·회의 후속업무 반영",</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"업무 자료·접근권한",</a:t>
            </a:r>
          </a:p>
          <a:p xmlns:a="http://schemas.openxmlformats.org/drawingml/2006/main">
            <a:r>
              <a:t>        "detail": "M365 문서·회의 자료의 공유범위 점검",</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"검토·재작업 시간과 사용 로그의 과업별 비교",</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"직원·기존 권한",</a:t>
            </a:r>
          </a:p>
          <a:p xmlns:a="http://schemas.openxmlformats.org/drawingml/2006/main">
            <a:r>
              <a:t>        "input": "직원 계정과 과업별 접근 문맥",</a:t>
            </a:r>
          </a:p>
          <a:p xmlns:a="http://schemas.openxmlformats.org/drawingml/2006/main">
            <a:r>
              <a:t>        "process": "M365 문서·회의 자료의 공유범위 점검",</a:t>
            </a:r>
          </a:p>
          <a:p xmlns:a="http://schemas.openxmlformats.org/drawingml/2006/main">
            <a:r>
              <a:t>        "output": "요청"</a:t>
            </a:r>
          </a:p>
          <a:p xmlns:a="http://schemas.openxmlformats.org/drawingml/2006/main">
            <a:r>
              <a:t>      },</a:t>
            </a:r>
          </a:p>
          <a:p xmlns:a="http://schemas.openxmlformats.org/drawingml/2006/main">
            <a:r>
              <a:t>      {</a:t>
            </a:r>
          </a:p>
          <a:p xmlns:a="http://schemas.openxmlformats.org/drawingml/2006/main">
            <a:r>
              <a:t>        "title": "M365 업무",</a:t>
            </a:r>
          </a:p>
          <a:p xmlns:a="http://schemas.openxmlformats.org/drawingml/2006/main">
            <a:r>
              <a:t>        "input": "요청",</a:t>
            </a:r>
          </a:p>
          <a:p xmlns:a="http://schemas.openxmlformats.org/drawingml/2006/main">
            <a:r>
              <a:t>        "process": "허용 자료에 근거한 검색·요약·작성",</a:t>
            </a:r>
          </a:p>
          <a:p xmlns:a="http://schemas.openxmlformats.org/drawingml/2006/main">
            <a:r>
              <a:t>        "output": "허용 문맥"</a:t>
            </a:r>
          </a:p>
          <a:p xmlns:a="http://schemas.openxmlformats.org/drawingml/2006/main">
            <a:r>
              <a:t>      },</a:t>
            </a:r>
          </a:p>
          <a:p xmlns:a="http://schemas.openxmlformats.org/drawingml/2006/main">
            <a:r>
              <a:t>      {</a:t>
            </a:r>
          </a:p>
          <a:p xmlns:a="http://schemas.openxmlformats.org/drawingml/2006/main">
            <a:r>
              <a:t>        "title": "AI 작성·검색",</a:t>
            </a:r>
          </a:p>
          <a:p xmlns:a="http://schemas.openxmlformats.org/drawingml/2006/main">
            <a:r>
              <a:t>        "input": "허용 문맥",</a:t>
            </a:r>
          </a:p>
          <a:p xmlns:a="http://schemas.openxmlformats.org/drawingml/2006/main">
            <a:r>
              <a:t>        "process": "동일 과업의 실제 검토시간 비교",</a:t>
            </a:r>
          </a:p>
          <a:p xmlns:a="http://schemas.openxmlformats.org/drawingml/2006/main">
            <a:r>
              <a:t>        "output": "초안"</a:t>
            </a:r>
          </a:p>
          <a:p xmlns:a="http://schemas.openxmlformats.org/drawingml/2006/main">
            <a:r>
              <a:t>      },</a:t>
            </a:r>
          </a:p>
          <a:p xmlns:a="http://schemas.openxmlformats.org/drawingml/2006/main">
            <a:r>
              <a:t>      {</a:t>
            </a:r>
          </a:p>
          <a:p xmlns:a="http://schemas.openxmlformats.org/drawingml/2006/main">
            <a:r>
              <a:t>        "title": "로그·설문 평가",</a:t>
            </a:r>
          </a:p>
          <a:p xmlns:a="http://schemas.openxmlformats.org/drawingml/2006/main">
            <a:r>
              <a:t>        "input": "초안",</a:t>
            </a:r>
          </a:p>
          <a:p xmlns:a="http://schemas.openxmlformats.org/drawingml/2006/main">
            <a:r>
              <a:t>        "process": "직원 검토 후 공식 문서·회의 후속업무 반영",</a:t>
            </a:r>
          </a:p>
          <a:p xmlns:a="http://schemas.openxmlformats.org/drawingml/2006/main">
            <a:r>
              <a:t>        "output": "검토·설문"</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"같은 회의자료로 회의록 초안을 작성하고 직원이 수정·확정",</a:t>
            </a:r>
          </a:p>
          <a:p xmlns:a="http://schemas.openxmlformats.org/drawingml/2006/main">
            <a:r>
              <a:t>      "exception": "다른 부서 공유문서·누락된 발언·잘못된 할일 배정",</a:t>
            </a:r>
          </a:p>
          <a:p xmlns:a="http://schemas.openxmlformats.org/drawingml/2006/main">
            <a:r>
              <a:t>      "evidence": "권한별 결과와 검토·재작업을 포함한 과업 완료시간",</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"공무원·기관 운영자·평가팀",</a:t>
            </a:r>
          </a:p>
          <a:p xmlns:a="http://schemas.openxmlformats.org/drawingml/2006/main">
            <a:r>
              <a:t>          "processing": "직원 계정과 과업별 접근 문맥",</a:t>
            </a:r>
          </a:p>
          <a:p xmlns:a="http://schemas.openxmlformats.org/drawingml/2006/main">
            <a:r>
              <a:t>          "output": "요청"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"업무 자료·접근권한",</a:t>
            </a:r>
          </a:p>
          <a:p xmlns:a="http://schemas.openxmlformats.org/drawingml/2006/main">
            <a:r>
              <a:t>          "processing": "M365 문서·회의 자료의 공유범위 점검",</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"요청",</a:t>
            </a:r>
          </a:p>
          <a:p xmlns:a="http://schemas.openxmlformats.org/drawingml/2006/main">
            <a:r>
              <a:t>          "processing": "허용 자료에 근거한 검색·요약·작성",</a:t>
            </a:r>
          </a:p>
          <a:p xmlns:a="http://schemas.openxmlformats.org/drawingml/2006/main">
            <a:r>
              <a:t>          "output":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"초안",</a:t>
            </a:r>
          </a:p>
          <a:p xmlns:a="http://schemas.openxmlformats.org/drawingml/2006/main">
            <a:r>
              <a:t>          "processing": "직원 검토 후 공식 문서·회의 후속업무 반영",</a:t>
            </a:r>
          </a:p>
          <a:p xmlns:a="http://schemas.openxmlformats.org/drawingml/2006/main">
            <a:r>
              <a:t>          "output": "검토·설문"</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"검토·재작업 시간과 사용 로그의 과업별 비교",</a:t>
            </a:r>
          </a:p>
          <a:p xmlns:a="http://schemas.openxmlformats.org/drawingml/2006/main">
            <a:r>
              <a:t>          "output": "권한별 결과와 검토·재작업을 포함한 과업 완료시간"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"검토·재작업 시간과 사용 로그의 과업별 비교",</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"P139 / 도입효과 평가·확산",</a:t>
            </a:r>
          </a:p>
          <a:p xmlns:a="http://schemas.openxmlformats.org/drawingml/2006/main">
            <a:r>
              <a:t>        "url": "https://www.gov.uk/government/publications/microsoft-365-copilot-experiment-cross-government-findings-report/microsoft-365-copilot-experiment-cross-government-findings-report-html"</a:t>
            </a:r>
          </a:p>
          <a:p xmlns:a="http://schemas.openxmlformats.org/drawingml/2006/main">
            <a:r>
              <a:t>      }</a:t>
            </a:r>
          </a:p>
          <a:p xmlns:a="http://schemas.openxmlformats.org/drawingml/2006/main">
            <a:r>
              <a:t>    ],</a:t>
            </a:r>
          </a:p>
          <a:p xmlns:a="http://schemas.openxmlformats.org/drawingml/2006/main">
            <a:r>
              <a:t>    "implication": "사용 빈도와 실측 성과의 분리 / 기존 권한의 사전 정비",</a:t>
            </a:r>
          </a:p>
          <a:p xmlns:a="http://schemas.openxmlformats.org/drawingml/2006/main">
            <a:r>
              <a:t>    "local": "부서별 활용량과 검토·재작업을 포함한 실제 업무 성과의 별도 측정",</a:t>
            </a:r>
          </a:p>
          <a:p xmlns:a="http://schemas.openxmlformats.org/drawingml/2006/main">
            <a:r>
              <a:t>    "sourceDetail": "M365 업무 환경 내 Copilot 배포, 교육·사용 로그·설문·기관별 분석\n기관별 활용 업무와 라이선스/데이터 권한 조건 관리",</a:t>
            </a:r>
          </a:p>
          <a:p xmlns:a="http://schemas.openxmlformats.org/drawingml/2006/main">
            <a:r>
              <a:t>    "narrative": [</a:t>
            </a:r>
          </a:p>
          <a:p xmlns:a="http://schemas.openxmlformats.org/drawingml/2006/main">
            <a:r>
              <a:t>      "기존 M365 문서·회의 접점에서 공무원의 작성·검색·요약을 지원한 실험. 새 업무 시스템 구축보다 직원이 이미 접근하는 자료와 협업 도구 안에 AI를 배치한 유형.",</a:t>
            </a:r>
          </a:p>
          <a:p xmlns:a="http://schemas.openxmlformats.org/drawingml/2006/main">
            <a:r>
              <a:t>      "자료 접근권한을 전제로 요청 문맥을 만들고 검색·생성 결과를 직원이 검토하는 흐름. 조직·직무별 동일 과업을 정의한 뒤 AI 사용 전후의 초안 작성, 사실 확인, 수정 시간을 함께 기록하는 CCK 비교 설계.",</a:t>
            </a:r>
          </a:p>
          <a:p xmlns:a="http://schemas.openxmlformats.org/drawingml/2006/main">
            <a:r>
              <a:t>      "설문 자기보고 절감시간을 TS의 예상 절감률로 직접 전환하지 않는 평가. 과다공유 문서, 복잡한 질의, 숙련도 차이와 재작업을 포함해 부서별 완료시간·오류율을 산정할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"M365 업무 요청",</a:t>
            </a:r>
          </a:p>
          <a:p xmlns:a="http://schemas.openxmlformats.org/drawingml/2006/main">
            <a:r>
              <a:t>          "layer": "이용 접점",</a:t>
            </a:r>
          </a:p>
          <a:p xmlns:a="http://schemas.openxmlformats.org/drawingml/2006/main">
            <a:r>
              <a:t>          "detail": "공무원·기관 운영자·평가팀",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"직원·과업 맥락",</a:t>
            </a:r>
          </a:p>
          <a:p xmlns:a="http://schemas.openxmlformats.org/drawingml/2006/main">
            <a:r>
              <a:t>          "layer": "업무 문맥",</a:t>
            </a:r>
          </a:p>
          <a:p xmlns:a="http://schemas.openxmlformats.org/drawingml/2006/main">
            <a:r>
              <a:t>          "detail": "직원 계정과 과업별 접근 문맥",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"권한 내 자료 조회",</a:t>
            </a:r>
          </a:p>
          <a:p xmlns:a="http://schemas.openxmlformats.org/drawingml/2006/main">
            <a:r>
              <a:t>          "layer": "자료 조회",</a:t>
            </a:r>
          </a:p>
          <a:p xmlns:a="http://schemas.openxmlformats.org/drawingml/2006/main">
            <a:r>
              <a:t>          "detail":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"검색·요약·작성",</a:t>
            </a:r>
          </a:p>
          <a:p xmlns:a="http://schemas.openxmlformats.org/drawingml/2006/main">
            <a:r>
              <a:t>          "layer": "핵심 처리",</a:t>
            </a:r>
          </a:p>
          <a:p xmlns:a="http://schemas.openxmlformats.org/drawingml/2006/main">
            <a:r>
              <a:t>          "detail": "허용 자료에 근거한 검색·요약·작성",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"근거·사실 대조",</a:t>
            </a:r>
          </a:p>
          <a:p xmlns:a="http://schemas.openxmlformats.org/drawingml/2006/main">
            <a:r>
              <a:t>          "layer": "결과 검증",</a:t>
            </a:r>
          </a:p>
          <a:p xmlns:a="http://schemas.openxmlformats.org/drawingml/2006/main">
            <a:r>
              <a:t>          "detail": "동일 과업의 실제 검토시간 비교",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"직원 편집·확인",</a:t>
            </a:r>
          </a:p>
          <a:p xmlns:a="http://schemas.openxmlformats.org/drawingml/2006/main">
            <a:r>
              <a:t>          "layer": "사람 확인",</a:t>
            </a:r>
          </a:p>
          <a:p xmlns:a="http://schemas.openxmlformats.org/drawingml/2006/main">
            <a:r>
              <a:t>          "detail": "같은 회의자료로 회의록 초안을 작성하고 직원이 수정·확정",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"문서·회의 후속업무",</a:t>
            </a:r>
          </a:p>
          <a:p xmlns:a="http://schemas.openxmlformats.org/drawingml/2006/main">
            <a:r>
              <a:t>          "layer": "업무 연결",</a:t>
            </a:r>
          </a:p>
          <a:p xmlns:a="http://schemas.openxmlformats.org/drawingml/2006/main">
            <a:r>
              <a:t>          "detail": "직원 검토 후 공식 문서·회의 후속업무 반영",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"검토시간 비교",</a:t>
            </a:r>
          </a:p>
          <a:p xmlns:a="http://schemas.openxmlformats.org/drawingml/2006/main">
            <a:r>
              <a:t>          "layer": "운영 관측",</a:t>
            </a:r>
          </a:p>
          <a:p xmlns:a="http://schemas.openxmlformats.org/drawingml/2006/main">
            <a:r>
              <a:t>          "detail": "검토·재작업 시간과 사용 로그의 과업별 비교",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"문서·회의 자료",</a:t>
            </a:r>
          </a:p>
          <a:p xmlns:a="http://schemas.openxmlformats.org/drawingml/2006/main">
            <a:r>
              <a:t>          "layer": "데이터 원천",</a:t>
            </a:r>
          </a:p>
          <a:p xmlns:a="http://schemas.openxmlformats.org/drawingml/2006/main">
            <a:r>
              <a:t>          "detail": "업무 자료·접근권한",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"공유범위 점검",</a:t>
            </a:r>
          </a:p>
          <a:p xmlns:a="http://schemas.openxmlformats.org/drawingml/2006/main">
            <a:r>
              <a:t>          "layer": "준비·갱신",</a:t>
            </a:r>
          </a:p>
          <a:p xmlns:a="http://schemas.openxmlformats.org/drawingml/2006/main">
            <a:r>
              <a:t>          "detail": "M365 문서·회의 자료의 공유범위 점검",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"업무·평가 기록",</a:t>
            </a:r>
          </a:p>
          <a:p xmlns:a="http://schemas.openxmlformats.org/drawingml/2006/main">
            <a:r>
              <a:t>          "layer": "상태·지식 저장",</a:t>
            </a:r>
          </a:p>
          <a:p xmlns:a="http://schemas.openxmlformats.org/drawingml/2006/main">
            <a:r>
              <a:t>          "detail": "권한별 결과와 검토·재작업을 포함한 과업 완료시간",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"문서 접근정책",</a:t>
            </a:r>
          </a:p>
          <a:p xmlns:a="http://schemas.openxmlformats.org/drawingml/2006/main">
            <a:r>
              <a:t>          "layer": "권한·정책",</a:t>
            </a:r>
          </a:p>
          <a:p xmlns:a="http://schemas.openxmlformats.org/drawingml/2006/main">
            <a:r>
              <a:t>          "detail": "다른 부서 공유문서·누락된 발언·잘못된 할일 배정",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"직원 계정과 과업별 접근 문맥",</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"요청",</a:t>
            </a:r>
          </a:p>
          <a:p xmlns:a="http://schemas.openxmlformats.org/drawingml/2006/main">
            <a:r>
              <a:t>          "check": "동일 과업의 실제 검토시간 비교"</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"허용 문맥",</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"초안",</a:t>
            </a:r>
          </a:p>
          <a:p xmlns:a="http://schemas.openxmlformats.org/drawingml/2006/main">
            <a:r>
              <a:t>          "check": "다른 부서 공유문서·누락된 발언·잘못된 할일 배정"</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"초안",</a:t>
            </a:r>
          </a:p>
          <a:p xmlns:a="http://schemas.openxmlformats.org/drawingml/2006/main">
            <a:r>
              <a:t>          "check": "직원 검토 후 공식 문서·회의 후속업무 반영"</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"검토·설문",</a:t>
            </a:r>
          </a:p>
          <a:p xmlns:a="http://schemas.openxmlformats.org/drawingml/2006/main">
            <a:r>
              <a:t>          "check": "권한별 결과와 검토·재작업을 포함한 과업 완료시간"</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"공무원 문서·회의 업무의 생성형 AI 지원 / 문서 초안·회의 요약·활용 효과 평가",</a:t>
            </a:r>
          </a:p>
          <a:p xmlns:a="http://schemas.openxmlformats.org/drawingml/2006/main">
            <a:r>
              <a:t>        "extension": "부서별 활용량과 검토·재작업을 포함한 실제 업무 성과의 별도 측정"</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"다른 부서 공유문서·누락된 발언·잘못된 할일 배정",</a:t>
            </a:r>
          </a:p>
          <a:p xmlns:a="http://schemas.openxmlformats.org/drawingml/2006/main">
            <a:r>
              <a:t>        "hold": "동일 과업의 실제 검토시간 비교",</a:t>
            </a:r>
          </a:p>
          <a:p xmlns:a="http://schemas.openxmlformats.org/drawingml/2006/main">
            <a:r>
              <a:t>        "recovery": "검토·재작업 시간과 사용 로그의 과업별 비교",</a:t>
            </a:r>
          </a:p>
          <a:p xmlns:a="http://schemas.openxmlformats.org/drawingml/2006/main">
            <a:r>
              <a:t>        "evidence": "권한별 결과와 검토·재작업을 포함한 과업 완료시간"</a:t>
            </a:r>
          </a:p>
          <a:p xmlns:a="http://schemas.openxmlformats.org/drawingml/2006/main">
            <a:r>
              <a:t>      },</a:t>
            </a:r>
          </a:p>
          <a:p xmlns:a="http://schemas.openxmlformats.org/drawingml/2006/main">
            <a:r>
              <a:t>      "data": {</a:t>
            </a:r>
          </a:p>
          <a:p xmlns:a="http://schemas.openxmlformats.org/drawingml/2006/main">
            <a:r>
              <a:t>        "source": "업무 자료·접근권한",</a:t>
            </a:r>
          </a:p>
          <a:p xmlns:a="http://schemas.openxmlformats.org/drawingml/2006/main">
            <a:r>
              <a:t>        "prepare": "M365 문서·회의 자료의 공유범위 점검",</a:t>
            </a:r>
          </a:p>
          <a:p xmlns:a="http://schemas.openxmlformats.org/drawingml/2006/main">
            <a:r>
              <a:t>        "output": "요청",</a:t>
            </a:r>
          </a:p>
          <a:p xmlns:a="http://schemas.openxmlformats.org/drawingml/2006/main">
            <a:r>
              <a:t>        "refresh": "검토·재작업 시간과 사용 로그의 과업별 비교"</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"PF-A13",</a:t>
            </a:r>
          </a:p>
          <a:p xmlns:a="http://schemas.openxmlformats.org/drawingml/2006/main">
            <a:r>
              <a:t>    "success": [</a:t>
            </a:r>
          </a:p>
          <a:p xmlns:a="http://schemas.openxmlformats.org/drawingml/2006/main">
            <a:r>
              <a:t>      "기존 협업 도구 내 AI 지원",</a:t>
            </a:r>
          </a:p>
          <a:p xmlns:a="http://schemas.openxmlformats.org/drawingml/2006/main">
            <a:r>
              <a:t>      "교육·설문·활용 관측"</a:t>
            </a:r>
          </a:p>
          <a:p xmlns:a="http://schemas.openxmlformats.org/drawingml/2006/main">
            <a:r>
              <a:t>    ],</a:t>
            </a:r>
          </a:p>
          <a:p xmlns:a="http://schemas.openxmlformats.org/drawingml/2006/main">
            <a:r>
              <a:t>    "risks": [</a:t>
            </a:r>
          </a:p>
          <a:p xmlns:a="http://schemas.openxmlformats.org/drawingml/2006/main">
            <a:r>
              <a:t>      "과업별 성과 편차",</a:t>
            </a:r>
          </a:p>
          <a:p xmlns:a="http://schemas.openxmlformats.org/drawingml/2006/main">
            <a:r>
              <a:t>      "자기보고 절감시간의 과대 일반화"</a:t>
            </a:r>
          </a:p>
          <a:p xmlns:a="http://schemas.openxmlformats.org/drawingml/2006/main">
            <a:r>
              <a:t>    ],</a:t>
            </a:r>
          </a:p>
          <a:p xmlns:a="http://schemas.openxmlformats.org/drawingml/2006/main">
            <a:r>
              <a:t>    "architecture": [</a:t>
            </a:r>
          </a:p>
          <a:p xmlns:a="http://schemas.openxmlformats.org/drawingml/2006/main">
            <a:r>
              <a:t>      "직원 M365",</a:t>
            </a:r>
          </a:p>
          <a:p xmlns:a="http://schemas.openxmlformats.org/drawingml/2006/main">
            <a:r>
              <a:t>      "Copilot",</a:t>
            </a:r>
          </a:p>
          <a:p xmlns:a="http://schemas.openxmlformats.org/drawingml/2006/main">
            <a:r>
              <a:t>      "업무 자료·접근권한",</a:t>
            </a:r>
          </a:p>
          <a:p xmlns:a="http://schemas.openxmlformats.org/drawingml/2006/main">
            <a:r>
              <a:t>      "직원·평가자"</a:t>
            </a:r>
          </a:p>
          <a:p xmlns:a="http://schemas.openxmlformats.org/drawingml/2006/main">
            <a:r>
              <a:t>    ],</a:t>
            </a:r>
          </a:p>
          <a:p xmlns:a="http://schemas.openxmlformats.org/drawingml/2006/main">
            <a:r>
              <a:t>    "transfers": [</a:t>
            </a:r>
          </a:p>
          <a:p xmlns:a="http://schemas.openxmlformats.org/drawingml/2006/main">
            <a:r>
              <a:t>      "요청",</a:t>
            </a:r>
          </a:p>
          <a:p xmlns:a="http://schemas.openxmlformats.org/drawingml/2006/main">
            <a:r>
              <a:t>      "허용 문맥",</a:t>
            </a:r>
          </a:p>
          <a:p xmlns:a="http://schemas.openxmlformats.org/drawingml/2006/main">
            <a:r>
              <a:t>      "초안",</a:t>
            </a:r>
          </a:p>
          <a:p xmlns:a="http://schemas.openxmlformats.org/drawingml/2006/main">
            <a:r>
              <a:t>      "검토·설문"</a:t>
            </a:r>
          </a:p>
          <a:p xmlns:a="http://schemas.openxmlformats.org/drawingml/2006/main">
            <a:r>
              <a:t>    ],</a:t>
            </a:r>
          </a:p>
          <a:p xmlns:a="http://schemas.openxmlformats.org/drawingml/2006/main">
            <a:r>
              <a:t>    "control": "동일 과업의 실제 검토시간 비교",</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P139 / 도입효과 평가·확산 https://www.gov.uk/government/publications/microsoft-365-copilot-experiment-cross-government-findings-report/microsoft-365-copilot-experiment-cross-government-findings-report-html</a:t>
            </a:r>
          </a:p>
          <a:p xmlns:a="http://schemas.openxmlformats.org/drawingml/2006/main">
            <a:r>
              <a:t>홈페이지 https://heen1987-ops.github.io/TS-business-Plan-001/index.html?view=platform-cases&amp;case=PF-A13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"PF-A13",</a:t>
            </a:r>
          </a:p>
          <a:p xmlns:a="http://schemas.openxmlformats.org/drawingml/2006/main">
            <a:r>
              <a:t>    "sourceId": "A13",</a:t>
            </a:r>
          </a:p>
          <a:p xmlns:a="http://schemas.openxmlformats.org/drawingml/2006/main">
            <a:r>
              <a:t>    "title": "영국 정부 Copilot 실험",</a:t>
            </a:r>
          </a:p>
          <a:p xmlns:a="http://schemas.openxmlformats.org/drawingml/2006/main">
            <a:r>
              <a:t>    "region": "해외",</a:t>
            </a:r>
          </a:p>
          <a:p xmlns:a="http://schemas.openxmlformats.org/drawingml/2006/main">
            <a:r>
              <a:t>    "owner": "정부 12기관 / M365 Copilot 실험(HMRC 포함)",</a:t>
            </a:r>
          </a:p>
          <a:p xmlns:a="http://schemas.openxmlformats.org/drawingml/2006/main">
            <a:r>
              <a:t>    "state": "2024-09~12 실험, 2025/2026 평가 공개",</a:t>
            </a:r>
          </a:p>
          <a:p xmlns:a="http://schemas.openxmlformats.org/drawingml/2006/main">
            <a:r>
              <a:t>    "period": "기존 원장 확인 2026.10.16",</a:t>
            </a:r>
          </a:p>
          <a:p xmlns:a="http://schemas.openxmlformats.org/drawingml/2006/main">
            <a:r>
              <a:t>    "fact": "기존 협업 플랫폼 AI 적용",</a:t>
            </a:r>
          </a:p>
          <a:p xmlns:a="http://schemas.openxmlformats.org/drawingml/2006/main">
            <a:r>
              <a:t>    "limit": "두 보고서는 모집단 중복. 자기보고 시간은 객관 실측/예산절감 아님; HMRC는 무작위 배정 포함",</a:t>
            </a:r>
          </a:p>
          <a:p xmlns:a="http://schemas.openxmlformats.org/drawingml/2006/main">
            <a:r>
              <a:t>    "nodes": [</a:t>
            </a:r>
          </a:p>
          <a:p xmlns:a="http://schemas.openxmlformats.org/drawingml/2006/main">
            <a:r>
              <a:t>      "직원·기존 권한",</a:t>
            </a:r>
          </a:p>
          <a:p xmlns:a="http://schemas.openxmlformats.org/drawingml/2006/main">
            <a:r>
              <a:t>      "M365 업무",</a:t>
            </a:r>
          </a:p>
          <a:p xmlns:a="http://schemas.openxmlformats.org/drawingml/2006/main">
            <a:r>
              <a:t>      "AI 작성·검색",</a:t>
            </a:r>
          </a:p>
          <a:p xmlns:a="http://schemas.openxmlformats.org/drawingml/2006/main">
            <a:r>
              <a:t>      "로그·설문 평가"</a:t>
            </a:r>
          </a:p>
          <a:p xmlns:a="http://schemas.openxmlformats.org/drawingml/2006/main">
            <a:r>
              <a:t>    ],</a:t>
            </a:r>
          </a:p>
          <a:p xmlns:a="http://schemas.openxmlformats.org/drawingml/2006/main">
            <a:r>
              <a:t>    "apply": "부서별 활용량과 검토·재작업을 포함한 실제 업무 성과의 별도 측정",</a:t>
            </a:r>
          </a:p>
          <a:p xmlns:a="http://schemas.openxmlformats.org/drawingml/2006/main">
            <a:r>
              <a:t>    "delta": "부서·직무·권한·변경 교차 평가",</a:t>
            </a:r>
          </a:p>
          <a:p xmlns:a="http://schemas.openxmlformats.org/drawingml/2006/main">
            <a:r>
              <a:t>    "test": "완료시간·오류·총비용의 기준선·비교 평가",</a:t>
            </a:r>
          </a:p>
          <a:p xmlns:a="http://schemas.openxmlformats.org/drawingml/2006/main">
            <a:r>
              <a:t>    "url": "https://www.gov.uk/government/publications/microsoft-365-copilot-experiment-cross-government-findings-report/microsoft-365-copilot-experiment-cross-government-findings-report-html",</a:t>
            </a:r>
          </a:p>
          <a:p xmlns:a="http://schemas.openxmlformats.org/drawingml/2006/main">
            <a:r>
              <a:t>    "urls": [</a:t>
            </a:r>
          </a:p>
          <a:p xmlns:a="http://schemas.openxmlformats.org/drawingml/2006/main">
            <a:r>
              <a:t>      "https://www.gov.uk/government/publications/microsoft-365-copilot-experiment-cross-government-findings-report/microsoft-365-copilot-experiment-cross-government-findings-report-html",</a:t>
            </a:r>
          </a:p>
          <a:p xmlns:a="http://schemas.openxmlformats.org/drawingml/2006/main">
            <a:r>
              <a:t>      "https://www.gov.uk/government/publications/evaluation-report-phase-3-trial-of-microsoft-copilot/evaluating-the-impact-of-microsoft-copilot-in-hmrc"</a:t>
            </a:r>
          </a:p>
          <a:p xmlns:a="http://schemas.openxmlformats.org/drawingml/2006/main">
            <a:r>
              <a:t>    ],</a:t>
            </a:r>
          </a:p>
          <a:p xmlns:a="http://schemas.openxmlformats.org/drawingml/2006/main">
            <a:r>
              <a:t>    "basis": "P139 / 도입효과 평가·확산",</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"완료시간·오류·총비용",</a:t>
            </a:r>
          </a:p>
          <a:p xmlns:a="http://schemas.openxmlformats.org/drawingml/2006/main">
            <a:r>
              <a:t>    "group": "운영·실증",</a:t>
            </a:r>
          </a:p>
          <a:p xmlns:a="http://schemas.openxmlformats.org/drawingml/2006/main">
            <a:r>
              <a:t>    "sourceDetail": "M365 업무 환경 내 Copilot 배포, 교육·사용 로그·설문·기관별 분석\n기관별 활용 업무와 라이선스/데이터 권한 조건 관리",</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"PF-A13",</a:t>
            </a:r>
          </a:p>
          <a:p xmlns:a="http://schemas.openxmlformats.org/drawingml/2006/main">
            <a:r>
              <a:t>    "canonicalId": "AX04",</a:t>
            </a:r>
          </a:p>
          <a:p xmlns:a="http://schemas.openxmlformats.org/drawingml/2006/main">
            <a:r>
              <a:t>    "purpose": "공무원 문서·회의 업무의 생성형 AI 지원",</a:t>
            </a:r>
          </a:p>
          <a:p xmlns:a="http://schemas.openxmlformats.org/drawingml/2006/main">
            <a:r>
              <a:t>    "users": "공무원·기관 운영자·평가팀",</a:t>
            </a:r>
          </a:p>
          <a:p xmlns:a="http://schemas.openxmlformats.org/drawingml/2006/main">
            <a:r>
              <a:t>    "scope": [</a:t>
            </a:r>
          </a:p>
          <a:p xmlns:a="http://schemas.openxmlformats.org/drawingml/2006/main">
            <a:r>
              <a:t>      "문서 초안",</a:t>
            </a:r>
          </a:p>
          <a:p xmlns:a="http://schemas.openxmlformats.org/drawingml/2006/main">
            <a:r>
              <a:t>      "회의 요약",</a:t>
            </a:r>
          </a:p>
          <a:p xmlns:a="http://schemas.openxmlformats.org/drawingml/2006/main">
            <a:r>
              <a:t>      "활용 효과 평가"</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"직원 M365",</a:t>
            </a:r>
          </a:p>
          <a:p xmlns:a="http://schemas.openxmlformats.org/drawingml/2006/main">
            <a:r>
              <a:t>        "detail": "직원 계정과 과업별 접근 문맥",</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"문서 초안 / 회의 요약 / 활용 효과 평가",</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"Copilot",</a:t>
            </a:r>
          </a:p>
          <a:p xmlns:a="http://schemas.openxmlformats.org/drawingml/2006/main">
            <a:r>
              <a:t>        "detail": "허용 자료에 근거한 검색·요약·작성",</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"직원·평가자",</a:t>
            </a:r>
          </a:p>
          <a:p xmlns:a="http://schemas.openxmlformats.org/drawingml/2006/main">
            <a:r>
              <a:t>        "detail": "직원 검토 후 공식 문서·회의 후속업무 반영",</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"업무 자료·접근권한",</a:t>
            </a:r>
          </a:p>
          <a:p xmlns:a="http://schemas.openxmlformats.org/drawingml/2006/main">
            <a:r>
              <a:t>        "detail": "M365 문서·회의 자료의 공유범위 점검",</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"검토·재작업 시간과 사용 로그의 과업별 비교",</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"직원·기존 권한",</a:t>
            </a:r>
          </a:p>
          <a:p xmlns:a="http://schemas.openxmlformats.org/drawingml/2006/main">
            <a:r>
              <a:t>        "input": "직원 계정과 과업별 접근 문맥",</a:t>
            </a:r>
          </a:p>
          <a:p xmlns:a="http://schemas.openxmlformats.org/drawingml/2006/main">
            <a:r>
              <a:t>        "process": "M365 문서·회의 자료의 공유범위 점검",</a:t>
            </a:r>
          </a:p>
          <a:p xmlns:a="http://schemas.openxmlformats.org/drawingml/2006/main">
            <a:r>
              <a:t>        "output": "요청"</a:t>
            </a:r>
          </a:p>
          <a:p xmlns:a="http://schemas.openxmlformats.org/drawingml/2006/main">
            <a:r>
              <a:t>      },</a:t>
            </a:r>
          </a:p>
          <a:p xmlns:a="http://schemas.openxmlformats.org/drawingml/2006/main">
            <a:r>
              <a:t>      {</a:t>
            </a:r>
          </a:p>
          <a:p xmlns:a="http://schemas.openxmlformats.org/drawingml/2006/main">
            <a:r>
              <a:t>        "title": "M365 업무",</a:t>
            </a:r>
          </a:p>
          <a:p xmlns:a="http://schemas.openxmlformats.org/drawingml/2006/main">
            <a:r>
              <a:t>        "input": "요청",</a:t>
            </a:r>
          </a:p>
          <a:p xmlns:a="http://schemas.openxmlformats.org/drawingml/2006/main">
            <a:r>
              <a:t>        "process": "허용 자료에 근거한 검색·요약·작성",</a:t>
            </a:r>
          </a:p>
          <a:p xmlns:a="http://schemas.openxmlformats.org/drawingml/2006/main">
            <a:r>
              <a:t>        "output": "허용 문맥"</a:t>
            </a:r>
          </a:p>
          <a:p xmlns:a="http://schemas.openxmlformats.org/drawingml/2006/main">
            <a:r>
              <a:t>      },</a:t>
            </a:r>
          </a:p>
          <a:p xmlns:a="http://schemas.openxmlformats.org/drawingml/2006/main">
            <a:r>
              <a:t>      {</a:t>
            </a:r>
          </a:p>
          <a:p xmlns:a="http://schemas.openxmlformats.org/drawingml/2006/main">
            <a:r>
              <a:t>        "title": "AI 작성·검색",</a:t>
            </a:r>
          </a:p>
          <a:p xmlns:a="http://schemas.openxmlformats.org/drawingml/2006/main">
            <a:r>
              <a:t>        "input": "허용 문맥",</a:t>
            </a:r>
          </a:p>
          <a:p xmlns:a="http://schemas.openxmlformats.org/drawingml/2006/main">
            <a:r>
              <a:t>        "process": "동일 과업의 실제 검토시간 비교",</a:t>
            </a:r>
          </a:p>
          <a:p xmlns:a="http://schemas.openxmlformats.org/drawingml/2006/main">
            <a:r>
              <a:t>        "output": "초안"</a:t>
            </a:r>
          </a:p>
          <a:p xmlns:a="http://schemas.openxmlformats.org/drawingml/2006/main">
            <a:r>
              <a:t>      },</a:t>
            </a:r>
          </a:p>
          <a:p xmlns:a="http://schemas.openxmlformats.org/drawingml/2006/main">
            <a:r>
              <a:t>      {</a:t>
            </a:r>
          </a:p>
          <a:p xmlns:a="http://schemas.openxmlformats.org/drawingml/2006/main">
            <a:r>
              <a:t>        "title": "로그·설문 평가",</a:t>
            </a:r>
          </a:p>
          <a:p xmlns:a="http://schemas.openxmlformats.org/drawingml/2006/main">
            <a:r>
              <a:t>        "input": "초안",</a:t>
            </a:r>
          </a:p>
          <a:p xmlns:a="http://schemas.openxmlformats.org/drawingml/2006/main">
            <a:r>
              <a:t>        "process": "직원 검토 후 공식 문서·회의 후속업무 반영",</a:t>
            </a:r>
          </a:p>
          <a:p xmlns:a="http://schemas.openxmlformats.org/drawingml/2006/main">
            <a:r>
              <a:t>        "output": "검토·설문"</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"같은 회의자료로 회의록 초안을 작성하고 직원이 수정·확정",</a:t>
            </a:r>
          </a:p>
          <a:p xmlns:a="http://schemas.openxmlformats.org/drawingml/2006/main">
            <a:r>
              <a:t>      "exception": "다른 부서 공유문서·누락된 발언·잘못된 할일 배정",</a:t>
            </a:r>
          </a:p>
          <a:p xmlns:a="http://schemas.openxmlformats.org/drawingml/2006/main">
            <a:r>
              <a:t>      "evidence": "권한별 결과와 검토·재작업을 포함한 과업 완료시간",</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"공무원·기관 운영자·평가팀",</a:t>
            </a:r>
          </a:p>
          <a:p xmlns:a="http://schemas.openxmlformats.org/drawingml/2006/main">
            <a:r>
              <a:t>          "processing": "직원 계정과 과업별 접근 문맥",</a:t>
            </a:r>
          </a:p>
          <a:p xmlns:a="http://schemas.openxmlformats.org/drawingml/2006/main">
            <a:r>
              <a:t>          "output": "요청"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"업무 자료·접근권한",</a:t>
            </a:r>
          </a:p>
          <a:p xmlns:a="http://schemas.openxmlformats.org/drawingml/2006/main">
            <a:r>
              <a:t>          "processing": "M365 문서·회의 자료의 공유범위 점검",</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"요청",</a:t>
            </a:r>
          </a:p>
          <a:p xmlns:a="http://schemas.openxmlformats.org/drawingml/2006/main">
            <a:r>
              <a:t>          "processing": "허용 자료에 근거한 검색·요약·작성",</a:t>
            </a:r>
          </a:p>
          <a:p xmlns:a="http://schemas.openxmlformats.org/drawingml/2006/main">
            <a:r>
              <a:t>          "output":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"초안",</a:t>
            </a:r>
          </a:p>
          <a:p xmlns:a="http://schemas.openxmlformats.org/drawingml/2006/main">
            <a:r>
              <a:t>          "processing": "직원 검토 후 공식 문서·회의 후속업무 반영",</a:t>
            </a:r>
          </a:p>
          <a:p xmlns:a="http://schemas.openxmlformats.org/drawingml/2006/main">
            <a:r>
              <a:t>          "output": "검토·설문"</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"검토·재작업 시간과 사용 로그의 과업별 비교",</a:t>
            </a:r>
          </a:p>
          <a:p xmlns:a="http://schemas.openxmlformats.org/drawingml/2006/main">
            <a:r>
              <a:t>          "output": "권한별 결과와 검토·재작업을 포함한 과업 완료시간"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"검토·재작업 시간과 사용 로그의 과업별 비교",</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"P139 / 도입효과 평가·확산",</a:t>
            </a:r>
          </a:p>
          <a:p xmlns:a="http://schemas.openxmlformats.org/drawingml/2006/main">
            <a:r>
              <a:t>        "url": "https://www.gov.uk/government/publications/microsoft-365-copilot-experiment-cross-government-findings-report/microsoft-365-copilot-experiment-cross-government-findings-report-html"</a:t>
            </a:r>
          </a:p>
          <a:p xmlns:a="http://schemas.openxmlformats.org/drawingml/2006/main">
            <a:r>
              <a:t>      }</a:t>
            </a:r>
          </a:p>
          <a:p xmlns:a="http://schemas.openxmlformats.org/drawingml/2006/main">
            <a:r>
              <a:t>    ],</a:t>
            </a:r>
          </a:p>
          <a:p xmlns:a="http://schemas.openxmlformats.org/drawingml/2006/main">
            <a:r>
              <a:t>    "implication": "사용 빈도와 실측 성과의 분리 / 기존 권한의 사전 정비",</a:t>
            </a:r>
          </a:p>
          <a:p xmlns:a="http://schemas.openxmlformats.org/drawingml/2006/main">
            <a:r>
              <a:t>    "local": "부서별 활용량과 검토·재작업을 포함한 실제 업무 성과의 별도 측정",</a:t>
            </a:r>
          </a:p>
          <a:p xmlns:a="http://schemas.openxmlformats.org/drawingml/2006/main">
            <a:r>
              <a:t>    "sourceDetail": "M365 업무 환경 내 Copilot 배포, 교육·사용 로그·설문·기관별 분석\n기관별 활용 업무와 라이선스/데이터 권한 조건 관리",</a:t>
            </a:r>
          </a:p>
          <a:p xmlns:a="http://schemas.openxmlformats.org/drawingml/2006/main">
            <a:r>
              <a:t>    "narrative": [</a:t>
            </a:r>
          </a:p>
          <a:p xmlns:a="http://schemas.openxmlformats.org/drawingml/2006/main">
            <a:r>
              <a:t>      "기존 M365 문서·회의 접점에서 공무원의 작성·검색·요약을 지원한 실험. 새 업무 시스템 구축보다 직원이 이미 접근하는 자료와 협업 도구 안에 AI를 배치한 유형.",</a:t>
            </a:r>
          </a:p>
          <a:p xmlns:a="http://schemas.openxmlformats.org/drawingml/2006/main">
            <a:r>
              <a:t>      "자료 접근권한을 전제로 요청 문맥을 만들고 검색·생성 결과를 직원이 검토하는 흐름. 조직·직무별 동일 과업을 정의한 뒤 AI 사용 전후의 초안 작성, 사실 확인, 수정 시간을 함께 기록하는 CCK 비교 설계.",</a:t>
            </a:r>
          </a:p>
          <a:p xmlns:a="http://schemas.openxmlformats.org/drawingml/2006/main">
            <a:r>
              <a:t>      "설문 자기보고 절감시간을 TS의 예상 절감률로 직접 전환하지 않는 평가. 과다공유 문서, 복잡한 질의, 숙련도 차이와 재작업을 포함해 부서별 완료시간·오류율을 산정할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"M365 업무 요청",</a:t>
            </a:r>
          </a:p>
          <a:p xmlns:a="http://schemas.openxmlformats.org/drawingml/2006/main">
            <a:r>
              <a:t>          "layer": "이용 접점",</a:t>
            </a:r>
          </a:p>
          <a:p xmlns:a="http://schemas.openxmlformats.org/drawingml/2006/main">
            <a:r>
              <a:t>          "detail": "공무원·기관 운영자·평가팀",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"직원·과업 맥락",</a:t>
            </a:r>
          </a:p>
          <a:p xmlns:a="http://schemas.openxmlformats.org/drawingml/2006/main">
            <a:r>
              <a:t>          "layer": "업무 문맥",</a:t>
            </a:r>
          </a:p>
          <a:p xmlns:a="http://schemas.openxmlformats.org/drawingml/2006/main">
            <a:r>
              <a:t>          "detail": "직원 계정과 과업별 접근 문맥",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"권한 내 자료 조회",</a:t>
            </a:r>
          </a:p>
          <a:p xmlns:a="http://schemas.openxmlformats.org/drawingml/2006/main">
            <a:r>
              <a:t>          "layer": "자료 조회",</a:t>
            </a:r>
          </a:p>
          <a:p xmlns:a="http://schemas.openxmlformats.org/drawingml/2006/main">
            <a:r>
              <a:t>          "detail":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"검색·요약·작성",</a:t>
            </a:r>
          </a:p>
          <a:p xmlns:a="http://schemas.openxmlformats.org/drawingml/2006/main">
            <a:r>
              <a:t>          "layer": "핵심 처리",</a:t>
            </a:r>
          </a:p>
          <a:p xmlns:a="http://schemas.openxmlformats.org/drawingml/2006/main">
            <a:r>
              <a:t>          "detail": "허용 자료에 근거한 검색·요약·작성",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"근거·사실 대조",</a:t>
            </a:r>
          </a:p>
          <a:p xmlns:a="http://schemas.openxmlformats.org/drawingml/2006/main">
            <a:r>
              <a:t>          "layer": "결과 검증",</a:t>
            </a:r>
          </a:p>
          <a:p xmlns:a="http://schemas.openxmlformats.org/drawingml/2006/main">
            <a:r>
              <a:t>          "detail": "동일 과업의 실제 검토시간 비교",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"직원 편집·확인",</a:t>
            </a:r>
          </a:p>
          <a:p xmlns:a="http://schemas.openxmlformats.org/drawingml/2006/main">
            <a:r>
              <a:t>          "layer": "사람 확인",</a:t>
            </a:r>
          </a:p>
          <a:p xmlns:a="http://schemas.openxmlformats.org/drawingml/2006/main">
            <a:r>
              <a:t>          "detail": "같은 회의자료로 회의록 초안을 작성하고 직원이 수정·확정",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"문서·회의 후속업무",</a:t>
            </a:r>
          </a:p>
          <a:p xmlns:a="http://schemas.openxmlformats.org/drawingml/2006/main">
            <a:r>
              <a:t>          "layer": "업무 연결",</a:t>
            </a:r>
          </a:p>
          <a:p xmlns:a="http://schemas.openxmlformats.org/drawingml/2006/main">
            <a:r>
              <a:t>          "detail": "직원 검토 후 공식 문서·회의 후속업무 반영",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"검토시간 비교",</a:t>
            </a:r>
          </a:p>
          <a:p xmlns:a="http://schemas.openxmlformats.org/drawingml/2006/main">
            <a:r>
              <a:t>          "layer": "운영 관측",</a:t>
            </a:r>
          </a:p>
          <a:p xmlns:a="http://schemas.openxmlformats.org/drawingml/2006/main">
            <a:r>
              <a:t>          "detail": "검토·재작업 시간과 사용 로그의 과업별 비교",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"문서·회의 자료",</a:t>
            </a:r>
          </a:p>
          <a:p xmlns:a="http://schemas.openxmlformats.org/drawingml/2006/main">
            <a:r>
              <a:t>          "layer": "데이터 원천",</a:t>
            </a:r>
          </a:p>
          <a:p xmlns:a="http://schemas.openxmlformats.org/drawingml/2006/main">
            <a:r>
              <a:t>          "detail": "업무 자료·접근권한",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"공유범위 점검",</a:t>
            </a:r>
          </a:p>
          <a:p xmlns:a="http://schemas.openxmlformats.org/drawingml/2006/main">
            <a:r>
              <a:t>          "layer": "준비·갱신",</a:t>
            </a:r>
          </a:p>
          <a:p xmlns:a="http://schemas.openxmlformats.org/drawingml/2006/main">
            <a:r>
              <a:t>          "detail": "M365 문서·회의 자료의 공유범위 점검",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"업무·평가 기록",</a:t>
            </a:r>
          </a:p>
          <a:p xmlns:a="http://schemas.openxmlformats.org/drawingml/2006/main">
            <a:r>
              <a:t>          "layer": "상태·지식 저장",</a:t>
            </a:r>
          </a:p>
          <a:p xmlns:a="http://schemas.openxmlformats.org/drawingml/2006/main">
            <a:r>
              <a:t>          "detail": "권한별 결과와 검토·재작업을 포함한 과업 완료시간",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"문서 접근정책",</a:t>
            </a:r>
          </a:p>
          <a:p xmlns:a="http://schemas.openxmlformats.org/drawingml/2006/main">
            <a:r>
              <a:t>          "layer": "권한·정책",</a:t>
            </a:r>
          </a:p>
          <a:p xmlns:a="http://schemas.openxmlformats.org/drawingml/2006/main">
            <a:r>
              <a:t>          "detail": "다른 부서 공유문서·누락된 발언·잘못된 할일 배정",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"직원 계정과 과업별 접근 문맥",</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"요청",</a:t>
            </a:r>
          </a:p>
          <a:p xmlns:a="http://schemas.openxmlformats.org/drawingml/2006/main">
            <a:r>
              <a:t>          "check": "동일 과업의 실제 검토시간 비교"</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"허용 문맥",</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"초안",</a:t>
            </a:r>
          </a:p>
          <a:p xmlns:a="http://schemas.openxmlformats.org/drawingml/2006/main">
            <a:r>
              <a:t>          "check": "다른 부서 공유문서·누락된 발언·잘못된 할일 배정"</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"초안",</a:t>
            </a:r>
          </a:p>
          <a:p xmlns:a="http://schemas.openxmlformats.org/drawingml/2006/main">
            <a:r>
              <a:t>          "check": "직원 검토 후 공식 문서·회의 후속업무 반영"</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"검토·설문",</a:t>
            </a:r>
          </a:p>
          <a:p xmlns:a="http://schemas.openxmlformats.org/drawingml/2006/main">
            <a:r>
              <a:t>          "check": "권한별 결과와 검토·재작업을 포함한 과업 완료시간"</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"공무원 문서·회의 업무의 생성형 AI 지원 / 문서 초안·회의 요약·활용 효과 평가",</a:t>
            </a:r>
          </a:p>
          <a:p xmlns:a="http://schemas.openxmlformats.org/drawingml/2006/main">
            <a:r>
              <a:t>        "extension": "부서별 활용량과 검토·재작업을 포함한 실제 업무 성과의 별도 측정"</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"다른 부서 공유문서·누락된 발언·잘못된 할일 배정",</a:t>
            </a:r>
          </a:p>
          <a:p xmlns:a="http://schemas.openxmlformats.org/drawingml/2006/main">
            <a:r>
              <a:t>        "hold": "동일 과업의 실제 검토시간 비교",</a:t>
            </a:r>
          </a:p>
          <a:p xmlns:a="http://schemas.openxmlformats.org/drawingml/2006/main">
            <a:r>
              <a:t>        "recovery": "검토·재작업 시간과 사용 로그의 과업별 비교",</a:t>
            </a:r>
          </a:p>
          <a:p xmlns:a="http://schemas.openxmlformats.org/drawingml/2006/main">
            <a:r>
              <a:t>        "evidence": "권한별 결과와 검토·재작업을 포함한 과업 완료시간"</a:t>
            </a:r>
          </a:p>
          <a:p xmlns:a="http://schemas.openxmlformats.org/drawingml/2006/main">
            <a:r>
              <a:t>      },</a:t>
            </a:r>
          </a:p>
          <a:p xmlns:a="http://schemas.openxmlformats.org/drawingml/2006/main">
            <a:r>
              <a:t>      "data": {</a:t>
            </a:r>
          </a:p>
          <a:p xmlns:a="http://schemas.openxmlformats.org/drawingml/2006/main">
            <a:r>
              <a:t>        "source": "업무 자료·접근권한",</a:t>
            </a:r>
          </a:p>
          <a:p xmlns:a="http://schemas.openxmlformats.org/drawingml/2006/main">
            <a:r>
              <a:t>        "prepare": "M365 문서·회의 자료의 공유범위 점검",</a:t>
            </a:r>
          </a:p>
          <a:p xmlns:a="http://schemas.openxmlformats.org/drawingml/2006/main">
            <a:r>
              <a:t>        "output": "요청",</a:t>
            </a:r>
          </a:p>
          <a:p xmlns:a="http://schemas.openxmlformats.org/drawingml/2006/main">
            <a:r>
              <a:t>        "refresh": "검토·재작업 시간과 사용 로그의 과업별 비교"</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"PF-A13",</a:t>
            </a:r>
          </a:p>
          <a:p xmlns:a="http://schemas.openxmlformats.org/drawingml/2006/main">
            <a:r>
              <a:t>    "success": [</a:t>
            </a:r>
          </a:p>
          <a:p xmlns:a="http://schemas.openxmlformats.org/drawingml/2006/main">
            <a:r>
              <a:t>      "기존 협업 도구 내 AI 지원",</a:t>
            </a:r>
          </a:p>
          <a:p xmlns:a="http://schemas.openxmlformats.org/drawingml/2006/main">
            <a:r>
              <a:t>      "교육·설문·활용 관측"</a:t>
            </a:r>
          </a:p>
          <a:p xmlns:a="http://schemas.openxmlformats.org/drawingml/2006/main">
            <a:r>
              <a:t>    ],</a:t>
            </a:r>
          </a:p>
          <a:p xmlns:a="http://schemas.openxmlformats.org/drawingml/2006/main">
            <a:r>
              <a:t>    "risks": [</a:t>
            </a:r>
          </a:p>
          <a:p xmlns:a="http://schemas.openxmlformats.org/drawingml/2006/main">
            <a:r>
              <a:t>      "과업별 성과 편차",</a:t>
            </a:r>
          </a:p>
          <a:p xmlns:a="http://schemas.openxmlformats.org/drawingml/2006/main">
            <a:r>
              <a:t>      "자기보고 절감시간의 과대 일반화"</a:t>
            </a:r>
          </a:p>
          <a:p xmlns:a="http://schemas.openxmlformats.org/drawingml/2006/main">
            <a:r>
              <a:t>    ],</a:t>
            </a:r>
          </a:p>
          <a:p xmlns:a="http://schemas.openxmlformats.org/drawingml/2006/main">
            <a:r>
              <a:t>    "architecture": [</a:t>
            </a:r>
          </a:p>
          <a:p xmlns:a="http://schemas.openxmlformats.org/drawingml/2006/main">
            <a:r>
              <a:t>      "직원 M365",</a:t>
            </a:r>
          </a:p>
          <a:p xmlns:a="http://schemas.openxmlformats.org/drawingml/2006/main">
            <a:r>
              <a:t>      "Copilot",</a:t>
            </a:r>
          </a:p>
          <a:p xmlns:a="http://schemas.openxmlformats.org/drawingml/2006/main">
            <a:r>
              <a:t>      "업무 자료·접근권한",</a:t>
            </a:r>
          </a:p>
          <a:p xmlns:a="http://schemas.openxmlformats.org/drawingml/2006/main">
            <a:r>
              <a:t>      "직원·평가자"</a:t>
            </a:r>
          </a:p>
          <a:p xmlns:a="http://schemas.openxmlformats.org/drawingml/2006/main">
            <a:r>
              <a:t>    ],</a:t>
            </a:r>
          </a:p>
          <a:p xmlns:a="http://schemas.openxmlformats.org/drawingml/2006/main">
            <a:r>
              <a:t>    "transfers": [</a:t>
            </a:r>
          </a:p>
          <a:p xmlns:a="http://schemas.openxmlformats.org/drawingml/2006/main">
            <a:r>
              <a:t>      "요청",</a:t>
            </a:r>
          </a:p>
          <a:p xmlns:a="http://schemas.openxmlformats.org/drawingml/2006/main">
            <a:r>
              <a:t>      "허용 문맥",</a:t>
            </a:r>
          </a:p>
          <a:p xmlns:a="http://schemas.openxmlformats.org/drawingml/2006/main">
            <a:r>
              <a:t>      "초안",</a:t>
            </a:r>
          </a:p>
          <a:p xmlns:a="http://schemas.openxmlformats.org/drawingml/2006/main">
            <a:r>
              <a:t>      "검토·설문"</a:t>
            </a:r>
          </a:p>
          <a:p xmlns:a="http://schemas.openxmlformats.org/drawingml/2006/main">
            <a:r>
              <a:t>    ],</a:t>
            </a:r>
          </a:p>
          <a:p xmlns:a="http://schemas.openxmlformats.org/drawingml/2006/main">
            <a:r>
              <a:t>    "control": "동일 과업의 실제 검토시간 비교",</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P139 / 도입효과 평가·확산 https://www.gov.uk/government/publications/microsoft-365-copilot-experiment-cross-government-findings-report/microsoft-365-copilot-experiment-cross-government-findings-report-html</a:t>
            </a:r>
          </a:p>
          <a:p xmlns:a="http://schemas.openxmlformats.org/drawingml/2006/main">
            <a:r>
              <a:t>홈페이지 https://heen1987-ops.github.io/TS-business-Plan-001/index.html?view=platform-cases&amp;case=PF-A13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"PF-A13",</a:t>
            </a:r>
          </a:p>
          <a:p xmlns:a="http://schemas.openxmlformats.org/drawingml/2006/main">
            <a:r>
              <a:t>    "sourceId": "A13",</a:t>
            </a:r>
          </a:p>
          <a:p xmlns:a="http://schemas.openxmlformats.org/drawingml/2006/main">
            <a:r>
              <a:t>    "title": "영국 정부 Copilot 실험",</a:t>
            </a:r>
          </a:p>
          <a:p xmlns:a="http://schemas.openxmlformats.org/drawingml/2006/main">
            <a:r>
              <a:t>    "region": "해외",</a:t>
            </a:r>
          </a:p>
          <a:p xmlns:a="http://schemas.openxmlformats.org/drawingml/2006/main">
            <a:r>
              <a:t>    "owner": "정부 12기관 / M365 Copilot 실험(HMRC 포함)",</a:t>
            </a:r>
          </a:p>
          <a:p xmlns:a="http://schemas.openxmlformats.org/drawingml/2006/main">
            <a:r>
              <a:t>    "state": "2024-09~12 실험, 2025/2026 평가 공개",</a:t>
            </a:r>
          </a:p>
          <a:p xmlns:a="http://schemas.openxmlformats.org/drawingml/2006/main">
            <a:r>
              <a:t>    "period": "기존 원장 확인 2026.10.16",</a:t>
            </a:r>
          </a:p>
          <a:p xmlns:a="http://schemas.openxmlformats.org/drawingml/2006/main">
            <a:r>
              <a:t>    "fact": "기존 협업 플랫폼 AI 적용",</a:t>
            </a:r>
          </a:p>
          <a:p xmlns:a="http://schemas.openxmlformats.org/drawingml/2006/main">
            <a:r>
              <a:t>    "limit": "두 보고서는 모집단 중복. 자기보고 시간은 객관 실측/예산절감 아님; HMRC는 무작위 배정 포함",</a:t>
            </a:r>
          </a:p>
          <a:p xmlns:a="http://schemas.openxmlformats.org/drawingml/2006/main">
            <a:r>
              <a:t>    "nodes": [</a:t>
            </a:r>
          </a:p>
          <a:p xmlns:a="http://schemas.openxmlformats.org/drawingml/2006/main">
            <a:r>
              <a:t>      "직원·기존 권한",</a:t>
            </a:r>
          </a:p>
          <a:p xmlns:a="http://schemas.openxmlformats.org/drawingml/2006/main">
            <a:r>
              <a:t>      "M365 업무",</a:t>
            </a:r>
          </a:p>
          <a:p xmlns:a="http://schemas.openxmlformats.org/drawingml/2006/main">
            <a:r>
              <a:t>      "AI 작성·검색",</a:t>
            </a:r>
          </a:p>
          <a:p xmlns:a="http://schemas.openxmlformats.org/drawingml/2006/main">
            <a:r>
              <a:t>      "로그·설문 평가"</a:t>
            </a:r>
          </a:p>
          <a:p xmlns:a="http://schemas.openxmlformats.org/drawingml/2006/main">
            <a:r>
              <a:t>    ],</a:t>
            </a:r>
          </a:p>
          <a:p xmlns:a="http://schemas.openxmlformats.org/drawingml/2006/main">
            <a:r>
              <a:t>    "apply": "부서별 활용량과 검토·재작업을 포함한 실제 업무 성과의 별도 측정",</a:t>
            </a:r>
          </a:p>
          <a:p xmlns:a="http://schemas.openxmlformats.org/drawingml/2006/main">
            <a:r>
              <a:t>    "delta": "부서·직무·권한·변경 교차 평가",</a:t>
            </a:r>
          </a:p>
          <a:p xmlns:a="http://schemas.openxmlformats.org/drawingml/2006/main">
            <a:r>
              <a:t>    "test": "완료시간·오류·총비용의 기준선·비교 평가",</a:t>
            </a:r>
          </a:p>
          <a:p xmlns:a="http://schemas.openxmlformats.org/drawingml/2006/main">
            <a:r>
              <a:t>    "url": "https://www.gov.uk/government/publications/microsoft-365-copilot-experiment-cross-government-findings-report/microsoft-365-copilot-experiment-cross-government-findings-report-html",</a:t>
            </a:r>
          </a:p>
          <a:p xmlns:a="http://schemas.openxmlformats.org/drawingml/2006/main">
            <a:r>
              <a:t>    "urls": [</a:t>
            </a:r>
          </a:p>
          <a:p xmlns:a="http://schemas.openxmlformats.org/drawingml/2006/main">
            <a:r>
              <a:t>      "https://www.gov.uk/government/publications/microsoft-365-copilot-experiment-cross-government-findings-report/microsoft-365-copilot-experiment-cross-government-findings-report-html",</a:t>
            </a:r>
          </a:p>
          <a:p xmlns:a="http://schemas.openxmlformats.org/drawingml/2006/main">
            <a:r>
              <a:t>      "https://www.gov.uk/government/publications/evaluation-report-phase-3-trial-of-microsoft-copilot/evaluating-the-impact-of-microsoft-copilot-in-hmrc"</a:t>
            </a:r>
          </a:p>
          <a:p xmlns:a="http://schemas.openxmlformats.org/drawingml/2006/main">
            <a:r>
              <a:t>    ],</a:t>
            </a:r>
          </a:p>
          <a:p xmlns:a="http://schemas.openxmlformats.org/drawingml/2006/main">
            <a:r>
              <a:t>    "basis": "P139 / 도입효과 평가·확산",</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"완료시간·오류·총비용",</a:t>
            </a:r>
          </a:p>
          <a:p xmlns:a="http://schemas.openxmlformats.org/drawingml/2006/main">
            <a:r>
              <a:t>    "group": "운영·실증",</a:t>
            </a:r>
          </a:p>
          <a:p xmlns:a="http://schemas.openxmlformats.org/drawingml/2006/main">
            <a:r>
              <a:t>    "sourceDetail": "M365 업무 환경 내 Copilot 배포, 교육·사용 로그·설문·기관별 분석\n기관별 활용 업무와 라이선스/데이터 권한 조건 관리",</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"PF-A13",</a:t>
            </a:r>
          </a:p>
          <a:p xmlns:a="http://schemas.openxmlformats.org/drawingml/2006/main">
            <a:r>
              <a:t>    "canonicalId": "AX04",</a:t>
            </a:r>
          </a:p>
          <a:p xmlns:a="http://schemas.openxmlformats.org/drawingml/2006/main">
            <a:r>
              <a:t>    "purpose": "공무원 문서·회의 업무의 생성형 AI 지원",</a:t>
            </a:r>
          </a:p>
          <a:p xmlns:a="http://schemas.openxmlformats.org/drawingml/2006/main">
            <a:r>
              <a:t>    "users": "공무원·기관 운영자·평가팀",</a:t>
            </a:r>
          </a:p>
          <a:p xmlns:a="http://schemas.openxmlformats.org/drawingml/2006/main">
            <a:r>
              <a:t>    "scope": [</a:t>
            </a:r>
          </a:p>
          <a:p xmlns:a="http://schemas.openxmlformats.org/drawingml/2006/main">
            <a:r>
              <a:t>      "문서 초안",</a:t>
            </a:r>
          </a:p>
          <a:p xmlns:a="http://schemas.openxmlformats.org/drawingml/2006/main">
            <a:r>
              <a:t>      "회의 요약",</a:t>
            </a:r>
          </a:p>
          <a:p xmlns:a="http://schemas.openxmlformats.org/drawingml/2006/main">
            <a:r>
              <a:t>      "활용 효과 평가"</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"직원 M365",</a:t>
            </a:r>
          </a:p>
          <a:p xmlns:a="http://schemas.openxmlformats.org/drawingml/2006/main">
            <a:r>
              <a:t>        "detail": "직원 계정과 과업별 접근 문맥",</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"문서 초안 / 회의 요약 / 활용 효과 평가",</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"Copilot",</a:t>
            </a:r>
          </a:p>
          <a:p xmlns:a="http://schemas.openxmlformats.org/drawingml/2006/main">
            <a:r>
              <a:t>        "detail": "허용 자료에 근거한 검색·요약·작성",</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"직원·평가자",</a:t>
            </a:r>
          </a:p>
          <a:p xmlns:a="http://schemas.openxmlformats.org/drawingml/2006/main">
            <a:r>
              <a:t>        "detail": "직원 검토 후 공식 문서·회의 후속업무 반영",</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"업무 자료·접근권한",</a:t>
            </a:r>
          </a:p>
          <a:p xmlns:a="http://schemas.openxmlformats.org/drawingml/2006/main">
            <a:r>
              <a:t>        "detail": "M365 문서·회의 자료의 공유범위 점검",</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"검토·재작업 시간과 사용 로그의 과업별 비교",</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"직원·기존 권한",</a:t>
            </a:r>
          </a:p>
          <a:p xmlns:a="http://schemas.openxmlformats.org/drawingml/2006/main">
            <a:r>
              <a:t>        "input": "직원 계정과 과업별 접근 문맥",</a:t>
            </a:r>
          </a:p>
          <a:p xmlns:a="http://schemas.openxmlformats.org/drawingml/2006/main">
            <a:r>
              <a:t>        "process": "M365 문서·회의 자료의 공유범위 점검",</a:t>
            </a:r>
          </a:p>
          <a:p xmlns:a="http://schemas.openxmlformats.org/drawingml/2006/main">
            <a:r>
              <a:t>        "output": "요청"</a:t>
            </a:r>
          </a:p>
          <a:p xmlns:a="http://schemas.openxmlformats.org/drawingml/2006/main">
            <a:r>
              <a:t>      },</a:t>
            </a:r>
          </a:p>
          <a:p xmlns:a="http://schemas.openxmlformats.org/drawingml/2006/main">
            <a:r>
              <a:t>      {</a:t>
            </a:r>
          </a:p>
          <a:p xmlns:a="http://schemas.openxmlformats.org/drawingml/2006/main">
            <a:r>
              <a:t>        "title": "M365 업무",</a:t>
            </a:r>
          </a:p>
          <a:p xmlns:a="http://schemas.openxmlformats.org/drawingml/2006/main">
            <a:r>
              <a:t>        "input": "요청",</a:t>
            </a:r>
          </a:p>
          <a:p xmlns:a="http://schemas.openxmlformats.org/drawingml/2006/main">
            <a:r>
              <a:t>        "process": "허용 자료에 근거한 검색·요약·작성",</a:t>
            </a:r>
          </a:p>
          <a:p xmlns:a="http://schemas.openxmlformats.org/drawingml/2006/main">
            <a:r>
              <a:t>        "output": "허용 문맥"</a:t>
            </a:r>
          </a:p>
          <a:p xmlns:a="http://schemas.openxmlformats.org/drawingml/2006/main">
            <a:r>
              <a:t>      },</a:t>
            </a:r>
          </a:p>
          <a:p xmlns:a="http://schemas.openxmlformats.org/drawingml/2006/main">
            <a:r>
              <a:t>      {</a:t>
            </a:r>
          </a:p>
          <a:p xmlns:a="http://schemas.openxmlformats.org/drawingml/2006/main">
            <a:r>
              <a:t>        "title": "AI 작성·검색",</a:t>
            </a:r>
          </a:p>
          <a:p xmlns:a="http://schemas.openxmlformats.org/drawingml/2006/main">
            <a:r>
              <a:t>        "input": "허용 문맥",</a:t>
            </a:r>
          </a:p>
          <a:p xmlns:a="http://schemas.openxmlformats.org/drawingml/2006/main">
            <a:r>
              <a:t>        "process": "동일 과업의 실제 검토시간 비교",</a:t>
            </a:r>
          </a:p>
          <a:p xmlns:a="http://schemas.openxmlformats.org/drawingml/2006/main">
            <a:r>
              <a:t>        "output": "초안"</a:t>
            </a:r>
          </a:p>
          <a:p xmlns:a="http://schemas.openxmlformats.org/drawingml/2006/main">
            <a:r>
              <a:t>      },</a:t>
            </a:r>
          </a:p>
          <a:p xmlns:a="http://schemas.openxmlformats.org/drawingml/2006/main">
            <a:r>
              <a:t>      {</a:t>
            </a:r>
          </a:p>
          <a:p xmlns:a="http://schemas.openxmlformats.org/drawingml/2006/main">
            <a:r>
              <a:t>        "title": "로그·설문 평가",</a:t>
            </a:r>
          </a:p>
          <a:p xmlns:a="http://schemas.openxmlformats.org/drawingml/2006/main">
            <a:r>
              <a:t>        "input": "초안",</a:t>
            </a:r>
          </a:p>
          <a:p xmlns:a="http://schemas.openxmlformats.org/drawingml/2006/main">
            <a:r>
              <a:t>        "process": "직원 검토 후 공식 문서·회의 후속업무 반영",</a:t>
            </a:r>
          </a:p>
          <a:p xmlns:a="http://schemas.openxmlformats.org/drawingml/2006/main">
            <a:r>
              <a:t>        "output": "검토·설문"</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"같은 회의자료로 회의록 초안을 작성하고 직원이 수정·확정",</a:t>
            </a:r>
          </a:p>
          <a:p xmlns:a="http://schemas.openxmlformats.org/drawingml/2006/main">
            <a:r>
              <a:t>      "exception": "다른 부서 공유문서·누락된 발언·잘못된 할일 배정",</a:t>
            </a:r>
          </a:p>
          <a:p xmlns:a="http://schemas.openxmlformats.org/drawingml/2006/main">
            <a:r>
              <a:t>      "evidence": "권한별 결과와 검토·재작업을 포함한 과업 완료시간",</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"공무원·기관 운영자·평가팀",</a:t>
            </a:r>
          </a:p>
          <a:p xmlns:a="http://schemas.openxmlformats.org/drawingml/2006/main">
            <a:r>
              <a:t>          "processing": "직원 계정과 과업별 접근 문맥",</a:t>
            </a:r>
          </a:p>
          <a:p xmlns:a="http://schemas.openxmlformats.org/drawingml/2006/main">
            <a:r>
              <a:t>          "output": "요청"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"업무 자료·접근권한",</a:t>
            </a:r>
          </a:p>
          <a:p xmlns:a="http://schemas.openxmlformats.org/drawingml/2006/main">
            <a:r>
              <a:t>          "processing": "M365 문서·회의 자료의 공유범위 점검",</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"요청",</a:t>
            </a:r>
          </a:p>
          <a:p xmlns:a="http://schemas.openxmlformats.org/drawingml/2006/main">
            <a:r>
              <a:t>          "processing": "허용 자료에 근거한 검색·요약·작성",</a:t>
            </a:r>
          </a:p>
          <a:p xmlns:a="http://schemas.openxmlformats.org/drawingml/2006/main">
            <a:r>
              <a:t>          "output":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"초안",</a:t>
            </a:r>
          </a:p>
          <a:p xmlns:a="http://schemas.openxmlformats.org/drawingml/2006/main">
            <a:r>
              <a:t>          "processing": "직원 검토 후 공식 문서·회의 후속업무 반영",</a:t>
            </a:r>
          </a:p>
          <a:p xmlns:a="http://schemas.openxmlformats.org/drawingml/2006/main">
            <a:r>
              <a:t>          "output": "검토·설문"</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"검토·재작업 시간과 사용 로그의 과업별 비교",</a:t>
            </a:r>
          </a:p>
          <a:p xmlns:a="http://schemas.openxmlformats.org/drawingml/2006/main">
            <a:r>
              <a:t>          "output": "권한별 결과와 검토·재작업을 포함한 과업 완료시간"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"검토·재작업 시간과 사용 로그의 과업별 비교",</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"P139 / 도입효과 평가·확산",</a:t>
            </a:r>
          </a:p>
          <a:p xmlns:a="http://schemas.openxmlformats.org/drawingml/2006/main">
            <a:r>
              <a:t>        "url": "https://www.gov.uk/government/publications/microsoft-365-copilot-experiment-cross-government-findings-report/microsoft-365-copilot-experiment-cross-government-findings-report-html"</a:t>
            </a:r>
          </a:p>
          <a:p xmlns:a="http://schemas.openxmlformats.org/drawingml/2006/main">
            <a:r>
              <a:t>      }</a:t>
            </a:r>
          </a:p>
          <a:p xmlns:a="http://schemas.openxmlformats.org/drawingml/2006/main">
            <a:r>
              <a:t>    ],</a:t>
            </a:r>
          </a:p>
          <a:p xmlns:a="http://schemas.openxmlformats.org/drawingml/2006/main">
            <a:r>
              <a:t>    "implication": "사용 빈도와 실측 성과의 분리 / 기존 권한의 사전 정비",</a:t>
            </a:r>
          </a:p>
          <a:p xmlns:a="http://schemas.openxmlformats.org/drawingml/2006/main">
            <a:r>
              <a:t>    "local": "부서별 활용량과 검토·재작업을 포함한 실제 업무 성과의 별도 측정",</a:t>
            </a:r>
          </a:p>
          <a:p xmlns:a="http://schemas.openxmlformats.org/drawingml/2006/main">
            <a:r>
              <a:t>    "sourceDetail": "M365 업무 환경 내 Copilot 배포, 교육·사용 로그·설문·기관별 분석\n기관별 활용 업무와 라이선스/데이터 권한 조건 관리",</a:t>
            </a:r>
          </a:p>
          <a:p xmlns:a="http://schemas.openxmlformats.org/drawingml/2006/main">
            <a:r>
              <a:t>    "narrative": [</a:t>
            </a:r>
          </a:p>
          <a:p xmlns:a="http://schemas.openxmlformats.org/drawingml/2006/main">
            <a:r>
              <a:t>      "기존 M365 문서·회의 접점에서 공무원의 작성·검색·요약을 지원한 실험. 새 업무 시스템 구축보다 직원이 이미 접근하는 자료와 협업 도구 안에 AI를 배치한 유형.",</a:t>
            </a:r>
          </a:p>
          <a:p xmlns:a="http://schemas.openxmlformats.org/drawingml/2006/main">
            <a:r>
              <a:t>      "자료 접근권한을 전제로 요청 문맥을 만들고 검색·생성 결과를 직원이 검토하는 흐름. 조직·직무별 동일 과업을 정의한 뒤 AI 사용 전후의 초안 작성, 사실 확인, 수정 시간을 함께 기록하는 CCK 비교 설계.",</a:t>
            </a:r>
          </a:p>
          <a:p xmlns:a="http://schemas.openxmlformats.org/drawingml/2006/main">
            <a:r>
              <a:t>      "설문 자기보고 절감시간을 TS의 예상 절감률로 직접 전환하지 않는 평가. 과다공유 문서, 복잡한 질의, 숙련도 차이와 재작업을 포함해 부서별 완료시간·오류율을 산정할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"M365 업무 요청",</a:t>
            </a:r>
          </a:p>
          <a:p xmlns:a="http://schemas.openxmlformats.org/drawingml/2006/main">
            <a:r>
              <a:t>          "layer": "이용 접점",</a:t>
            </a:r>
          </a:p>
          <a:p xmlns:a="http://schemas.openxmlformats.org/drawingml/2006/main">
            <a:r>
              <a:t>          "detail": "공무원·기관 운영자·평가팀",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"직원·과업 맥락",</a:t>
            </a:r>
          </a:p>
          <a:p xmlns:a="http://schemas.openxmlformats.org/drawingml/2006/main">
            <a:r>
              <a:t>          "layer": "업무 문맥",</a:t>
            </a:r>
          </a:p>
          <a:p xmlns:a="http://schemas.openxmlformats.org/drawingml/2006/main">
            <a:r>
              <a:t>          "detail": "직원 계정과 과업별 접근 문맥",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"권한 내 자료 조회",</a:t>
            </a:r>
          </a:p>
          <a:p xmlns:a="http://schemas.openxmlformats.org/drawingml/2006/main">
            <a:r>
              <a:t>          "layer": "자료 조회",</a:t>
            </a:r>
          </a:p>
          <a:p xmlns:a="http://schemas.openxmlformats.org/drawingml/2006/main">
            <a:r>
              <a:t>          "detail":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"검색·요약·작성",</a:t>
            </a:r>
          </a:p>
          <a:p xmlns:a="http://schemas.openxmlformats.org/drawingml/2006/main">
            <a:r>
              <a:t>          "layer": "핵심 처리",</a:t>
            </a:r>
          </a:p>
          <a:p xmlns:a="http://schemas.openxmlformats.org/drawingml/2006/main">
            <a:r>
              <a:t>          "detail": "허용 자료에 근거한 검색·요약·작성",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"근거·사실 대조",</a:t>
            </a:r>
          </a:p>
          <a:p xmlns:a="http://schemas.openxmlformats.org/drawingml/2006/main">
            <a:r>
              <a:t>          "layer": "결과 검증",</a:t>
            </a:r>
          </a:p>
          <a:p xmlns:a="http://schemas.openxmlformats.org/drawingml/2006/main">
            <a:r>
              <a:t>          "detail": "동일 과업의 실제 검토시간 비교",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"직원 편집·확인",</a:t>
            </a:r>
          </a:p>
          <a:p xmlns:a="http://schemas.openxmlformats.org/drawingml/2006/main">
            <a:r>
              <a:t>          "layer": "사람 확인",</a:t>
            </a:r>
          </a:p>
          <a:p xmlns:a="http://schemas.openxmlformats.org/drawingml/2006/main">
            <a:r>
              <a:t>          "detail": "같은 회의자료로 회의록 초안을 작성하고 직원이 수정·확정",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"문서·회의 후속업무",</a:t>
            </a:r>
          </a:p>
          <a:p xmlns:a="http://schemas.openxmlformats.org/drawingml/2006/main">
            <a:r>
              <a:t>          "layer": "업무 연결",</a:t>
            </a:r>
          </a:p>
          <a:p xmlns:a="http://schemas.openxmlformats.org/drawingml/2006/main">
            <a:r>
              <a:t>          "detail": "직원 검토 후 공식 문서·회의 후속업무 반영",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"검토시간 비교",</a:t>
            </a:r>
          </a:p>
          <a:p xmlns:a="http://schemas.openxmlformats.org/drawingml/2006/main">
            <a:r>
              <a:t>          "layer": "운영 관측",</a:t>
            </a:r>
          </a:p>
          <a:p xmlns:a="http://schemas.openxmlformats.org/drawingml/2006/main">
            <a:r>
              <a:t>          "detail": "검토·재작업 시간과 사용 로그의 과업별 비교",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"문서·회의 자료",</a:t>
            </a:r>
          </a:p>
          <a:p xmlns:a="http://schemas.openxmlformats.org/drawingml/2006/main">
            <a:r>
              <a:t>          "layer": "데이터 원천",</a:t>
            </a:r>
          </a:p>
          <a:p xmlns:a="http://schemas.openxmlformats.org/drawingml/2006/main">
            <a:r>
              <a:t>          "detail": "업무 자료·접근권한",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"공유범위 점검",</a:t>
            </a:r>
          </a:p>
          <a:p xmlns:a="http://schemas.openxmlformats.org/drawingml/2006/main">
            <a:r>
              <a:t>          "layer": "준비·갱신",</a:t>
            </a:r>
          </a:p>
          <a:p xmlns:a="http://schemas.openxmlformats.org/drawingml/2006/main">
            <a:r>
              <a:t>          "detail": "M365 문서·회의 자료의 공유범위 점검",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"업무·평가 기록",</a:t>
            </a:r>
          </a:p>
          <a:p xmlns:a="http://schemas.openxmlformats.org/drawingml/2006/main">
            <a:r>
              <a:t>          "layer": "상태·지식 저장",</a:t>
            </a:r>
          </a:p>
          <a:p xmlns:a="http://schemas.openxmlformats.org/drawingml/2006/main">
            <a:r>
              <a:t>          "detail": "권한별 결과와 검토·재작업을 포함한 과업 완료시간",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"문서 접근정책",</a:t>
            </a:r>
          </a:p>
          <a:p xmlns:a="http://schemas.openxmlformats.org/drawingml/2006/main">
            <a:r>
              <a:t>          "layer": "권한·정책",</a:t>
            </a:r>
          </a:p>
          <a:p xmlns:a="http://schemas.openxmlformats.org/drawingml/2006/main">
            <a:r>
              <a:t>          "detail": "다른 부서 공유문서·누락된 발언·잘못된 할일 배정",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"직원 계정과 과업별 접근 문맥",</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"요청",</a:t>
            </a:r>
          </a:p>
          <a:p xmlns:a="http://schemas.openxmlformats.org/drawingml/2006/main">
            <a:r>
              <a:t>          "check": "동일 과업의 실제 검토시간 비교"</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"허용 문맥",</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"초안",</a:t>
            </a:r>
          </a:p>
          <a:p xmlns:a="http://schemas.openxmlformats.org/drawingml/2006/main">
            <a:r>
              <a:t>          "check": "다른 부서 공유문서·누락된 발언·잘못된 할일 배정"</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"초안",</a:t>
            </a:r>
          </a:p>
          <a:p xmlns:a="http://schemas.openxmlformats.org/drawingml/2006/main">
            <a:r>
              <a:t>          "check": "직원 검토 후 공식 문서·회의 후속업무 반영"</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"검토·설문",</a:t>
            </a:r>
          </a:p>
          <a:p xmlns:a="http://schemas.openxmlformats.org/drawingml/2006/main">
            <a:r>
              <a:t>          "check": "권한별 결과와 검토·재작업을 포함한 과업 완료시간"</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"공무원 문서·회의 업무의 생성형 AI 지원 / 문서 초안·회의 요약·활용 효과 평가",</a:t>
            </a:r>
          </a:p>
          <a:p xmlns:a="http://schemas.openxmlformats.org/drawingml/2006/main">
            <a:r>
              <a:t>        "extension": "부서별 활용량과 검토·재작업을 포함한 실제 업무 성과의 별도 측정"</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"다른 부서 공유문서·누락된 발언·잘못된 할일 배정",</a:t>
            </a:r>
          </a:p>
          <a:p xmlns:a="http://schemas.openxmlformats.org/drawingml/2006/main">
            <a:r>
              <a:t>        "hold": "동일 과업의 실제 검토시간 비교",</a:t>
            </a:r>
          </a:p>
          <a:p xmlns:a="http://schemas.openxmlformats.org/drawingml/2006/main">
            <a:r>
              <a:t>        "recovery": "검토·재작업 시간과 사용 로그의 과업별 비교",</a:t>
            </a:r>
          </a:p>
          <a:p xmlns:a="http://schemas.openxmlformats.org/drawingml/2006/main">
            <a:r>
              <a:t>        "evidence": "권한별 결과와 검토·재작업을 포함한 과업 완료시간"</a:t>
            </a:r>
          </a:p>
          <a:p xmlns:a="http://schemas.openxmlformats.org/drawingml/2006/main">
            <a:r>
              <a:t>      },</a:t>
            </a:r>
          </a:p>
          <a:p xmlns:a="http://schemas.openxmlformats.org/drawingml/2006/main">
            <a:r>
              <a:t>      "data": {</a:t>
            </a:r>
          </a:p>
          <a:p xmlns:a="http://schemas.openxmlformats.org/drawingml/2006/main">
            <a:r>
              <a:t>        "source": "업무 자료·접근권한",</a:t>
            </a:r>
          </a:p>
          <a:p xmlns:a="http://schemas.openxmlformats.org/drawingml/2006/main">
            <a:r>
              <a:t>        "prepare": "M365 문서·회의 자료의 공유범위 점검",</a:t>
            </a:r>
          </a:p>
          <a:p xmlns:a="http://schemas.openxmlformats.org/drawingml/2006/main">
            <a:r>
              <a:t>        "output": "요청",</a:t>
            </a:r>
          </a:p>
          <a:p xmlns:a="http://schemas.openxmlformats.org/drawingml/2006/main">
            <a:r>
              <a:t>        "refresh": "검토·재작업 시간과 사용 로그의 과업별 비교"</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"PF-A13",</a:t>
            </a:r>
          </a:p>
          <a:p xmlns:a="http://schemas.openxmlformats.org/drawingml/2006/main">
            <a:r>
              <a:t>    "success": [</a:t>
            </a:r>
          </a:p>
          <a:p xmlns:a="http://schemas.openxmlformats.org/drawingml/2006/main">
            <a:r>
              <a:t>      "기존 협업 도구 내 AI 지원",</a:t>
            </a:r>
          </a:p>
          <a:p xmlns:a="http://schemas.openxmlformats.org/drawingml/2006/main">
            <a:r>
              <a:t>      "교육·설문·활용 관측"</a:t>
            </a:r>
          </a:p>
          <a:p xmlns:a="http://schemas.openxmlformats.org/drawingml/2006/main">
            <a:r>
              <a:t>    ],</a:t>
            </a:r>
          </a:p>
          <a:p xmlns:a="http://schemas.openxmlformats.org/drawingml/2006/main">
            <a:r>
              <a:t>    "risks": [</a:t>
            </a:r>
          </a:p>
          <a:p xmlns:a="http://schemas.openxmlformats.org/drawingml/2006/main">
            <a:r>
              <a:t>      "과업별 성과 편차",</a:t>
            </a:r>
          </a:p>
          <a:p xmlns:a="http://schemas.openxmlformats.org/drawingml/2006/main">
            <a:r>
              <a:t>      "자기보고 절감시간의 과대 일반화"</a:t>
            </a:r>
          </a:p>
          <a:p xmlns:a="http://schemas.openxmlformats.org/drawingml/2006/main">
            <a:r>
              <a:t>    ],</a:t>
            </a:r>
          </a:p>
          <a:p xmlns:a="http://schemas.openxmlformats.org/drawingml/2006/main">
            <a:r>
              <a:t>    "architecture": [</a:t>
            </a:r>
          </a:p>
          <a:p xmlns:a="http://schemas.openxmlformats.org/drawingml/2006/main">
            <a:r>
              <a:t>      "직원 M365",</a:t>
            </a:r>
          </a:p>
          <a:p xmlns:a="http://schemas.openxmlformats.org/drawingml/2006/main">
            <a:r>
              <a:t>      "Copilot",</a:t>
            </a:r>
          </a:p>
          <a:p xmlns:a="http://schemas.openxmlformats.org/drawingml/2006/main">
            <a:r>
              <a:t>      "업무 자료·접근권한",</a:t>
            </a:r>
          </a:p>
          <a:p xmlns:a="http://schemas.openxmlformats.org/drawingml/2006/main">
            <a:r>
              <a:t>      "직원·평가자"</a:t>
            </a:r>
          </a:p>
          <a:p xmlns:a="http://schemas.openxmlformats.org/drawingml/2006/main">
            <a:r>
              <a:t>    ],</a:t>
            </a:r>
          </a:p>
          <a:p xmlns:a="http://schemas.openxmlformats.org/drawingml/2006/main">
            <a:r>
              <a:t>    "transfers": [</a:t>
            </a:r>
          </a:p>
          <a:p xmlns:a="http://schemas.openxmlformats.org/drawingml/2006/main">
            <a:r>
              <a:t>      "요청",</a:t>
            </a:r>
          </a:p>
          <a:p xmlns:a="http://schemas.openxmlformats.org/drawingml/2006/main">
            <a:r>
              <a:t>      "허용 문맥",</a:t>
            </a:r>
          </a:p>
          <a:p xmlns:a="http://schemas.openxmlformats.org/drawingml/2006/main">
            <a:r>
              <a:t>      "초안",</a:t>
            </a:r>
          </a:p>
          <a:p xmlns:a="http://schemas.openxmlformats.org/drawingml/2006/main">
            <a:r>
              <a:t>      "검토·설문"</a:t>
            </a:r>
          </a:p>
          <a:p xmlns:a="http://schemas.openxmlformats.org/drawingml/2006/main">
            <a:r>
              <a:t>    ],</a:t>
            </a:r>
          </a:p>
          <a:p xmlns:a="http://schemas.openxmlformats.org/drawingml/2006/main">
            <a:r>
              <a:t>    "control": "동일 과업의 실제 검토시간 비교",</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P139 / 도입효과 평가·확산 https://www.gov.uk/government/publications/microsoft-365-copilot-experiment-cross-government-findings-report/microsoft-365-copilot-experiment-cross-government-findings-report-html</a:t>
            </a:r>
          </a:p>
          <a:p xmlns:a="http://schemas.openxmlformats.org/drawingml/2006/main">
            <a:r>
              <a:t>홈페이지 https://heen1987-ops.github.io/TS-business-Plan-001/index.html?view=platform-cases&amp;case=PF-A13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"PF-A14",</a:t>
            </a:r>
          </a:p>
          <a:p xmlns:a="http://schemas.openxmlformats.org/drawingml/2006/main">
            <a:r>
              <a:t>    "sourceId": "A14",</a:t>
            </a:r>
          </a:p>
          <a:p xmlns:a="http://schemas.openxmlformats.org/drawingml/2006/main">
            <a:r>
              <a:t>    "title": "영국 Consult",</a:t>
            </a:r>
          </a:p>
          <a:p xmlns:a="http://schemas.openxmlformats.org/drawingml/2006/main">
            <a:r>
              <a:t>    "region": "해외",</a:t>
            </a:r>
          </a:p>
          <a:p xmlns:a="http://schemas.openxmlformats.org/drawingml/2006/main">
            <a:r>
              <a:t>    "owner": "i.AI·스코틀랜드 / Consult(Humphrey)",</a:t>
            </a:r>
          </a:p>
          <a:p xmlns:a="http://schemas.openxmlformats.org/drawingml/2006/main">
            <a:r>
              <a:t>    "state": "정책 의견수렴 분석 최초 실증(2025-05 발표)",</a:t>
            </a:r>
          </a:p>
          <a:p xmlns:a="http://schemas.openxmlformats.org/drawingml/2006/main">
            <a:r>
              <a:t>    "period": "기존 원장 확인 2026.10.16",</a:t>
            </a:r>
          </a:p>
          <a:p xmlns:a="http://schemas.openxmlformats.org/drawingml/2006/main">
            <a:r>
              <a:t>    "fact": "공통 업무 앱 실증",</a:t>
            </a:r>
          </a:p>
          <a:p xmlns:a="http://schemas.openxmlformats.org/drawingml/2006/main">
            <a:r>
              <a:t>    "limit": "F1을 정확도76%로 쓰지 않음. 연7.5만일/2천만파운드는 전정부 확산 추정, 실현절감 아님",</a:t>
            </a:r>
          </a:p>
          <a:p xmlns:a="http://schemas.openxmlformats.org/drawingml/2006/main">
            <a:r>
              <a:t>    "nodes": [</a:t>
            </a:r>
          </a:p>
          <a:p xmlns:a="http://schemas.openxmlformats.org/drawingml/2006/main">
            <a:r>
              <a:t>      "정책 의견",</a:t>
            </a:r>
          </a:p>
          <a:p xmlns:a="http://schemas.openxmlformats.org/drawingml/2006/main">
            <a:r>
              <a:t>      "주제 분류",</a:t>
            </a:r>
          </a:p>
          <a:p xmlns:a="http://schemas.openxmlformats.org/drawingml/2006/main">
            <a:r>
              <a:t>      "분석·요약",</a:t>
            </a:r>
          </a:p>
          <a:p xmlns:a="http://schemas.openxmlformats.org/drawingml/2006/main">
            <a:r>
              <a:t>      "공무원 수정"</a:t>
            </a:r>
          </a:p>
          <a:p xmlns:a="http://schemas.openxmlformats.org/drawingml/2006/main">
            <a:r>
              <a:t>    ],</a:t>
            </a:r>
          </a:p>
          <a:p xmlns:a="http://schemas.openxmlformats.org/drawingml/2006/main">
            <a:r>
              <a:t>    "apply": "빈도 높은 의견과 소수·반대 의견을 함께 추적하는 정책 검토 지원",</a:t>
            </a:r>
          </a:p>
          <a:p xmlns:a="http://schemas.openxmlformats.org/drawingml/2006/main">
            <a:r>
              <a:t>    "delta": "업무분장·관할·복수부서 배정",</a:t>
            </a:r>
          </a:p>
          <a:p xmlns:a="http://schemas.openxmlformats.org/drawingml/2006/main">
            <a:r>
              <a:t>    "test": "재배정률·최종 해결시간의 기준선·비교 평가",</a:t>
            </a:r>
          </a:p>
          <a:p xmlns:a="http://schemas.openxmlformats.org/drawingml/2006/main">
            <a:r>
              <a:t>    "url": "https://www.gov.uk/government/news/government-built-humphrey-ai-tool-reviews-responses-to-consultation-for-first-time-in-bid-to-save-millions",</a:t>
            </a:r>
          </a:p>
          <a:p xmlns:a="http://schemas.openxmlformats.org/drawingml/2006/main">
            <a:r>
              <a:t>    "urls": [</a:t>
            </a:r>
          </a:p>
          <a:p xmlns:a="http://schemas.openxmlformats.org/drawingml/2006/main">
            <a:r>
              <a:t>      "https://www.gov.uk/government/news/government-built-humphrey-ai-tool-reviews-responses-to-consultation-for-first-time-in-bid-to-save-millions"</a:t>
            </a:r>
          </a:p>
          <a:p xmlns:a="http://schemas.openxmlformats.org/drawingml/2006/main">
            <a:r>
              <a:t>    ],</a:t>
            </a:r>
          </a:p>
          <a:p xmlns:a="http://schemas.openxmlformats.org/drawingml/2006/main">
            <a:r>
              <a:t>    "basis": "T035 / 분석지원·사람 검토·성과 구분",</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"재배정률·최종 해결시간",</a:t>
            </a:r>
          </a:p>
          <a:p xmlns:a="http://schemas.openxmlformats.org/drawingml/2006/main">
            <a:r>
              <a:t>    "group": "운영·실증",</a:t>
            </a:r>
          </a:p>
          <a:p xmlns:a="http://schemas.openxmlformats.org/drawingml/2006/main">
            <a:r>
              <a:t>    "sourceDetail": "응답을 AI로 주제 분류·요약하고 공무원이 수정·검토\n최초 실증은 기존 수작업 검토를 병행, 사람 검증",</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"PF-A14",</a:t>
            </a:r>
          </a:p>
          <a:p xmlns:a="http://schemas.openxmlformats.org/drawingml/2006/main">
            <a:r>
              <a:t>    "canonicalId": "PF-A14",</a:t>
            </a:r>
          </a:p>
          <a:p xmlns:a="http://schemas.openxmlformats.org/drawingml/2006/main">
            <a:r>
              <a:t>    "purpose": "정책 의견수렴 자료의 주제별 분석",</a:t>
            </a:r>
          </a:p>
          <a:p xmlns:a="http://schemas.openxmlformats.org/drawingml/2006/main">
            <a:r>
              <a:t>    "users": "정책 담당·검토 공무원",</a:t>
            </a:r>
          </a:p>
          <a:p xmlns:a="http://schemas.openxmlformats.org/drawingml/2006/main">
            <a:r>
              <a:t>    "scope": [</a:t>
            </a:r>
          </a:p>
          <a:p xmlns:a="http://schemas.openxmlformats.org/drawingml/2006/main">
            <a:r>
              <a:t>      "의견 분류",</a:t>
            </a:r>
          </a:p>
          <a:p xmlns:a="http://schemas.openxmlformats.org/drawingml/2006/main">
            <a:r>
              <a:t>      "요약",</a:t>
            </a:r>
          </a:p>
          <a:p xmlns:a="http://schemas.openxmlformats.org/drawingml/2006/main">
            <a:r>
              <a:t>      "담당자 수정"</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"정책 의견수렴",</a:t>
            </a:r>
          </a:p>
          <a:p xmlns:a="http://schemas.openxmlformats.org/drawingml/2006/main">
            <a:r>
              <a:t>        "detail": "협의 주제·질문·응답 묶음 정의",</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"의견 분류 / 요약 / 담당자 수정",</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"Consult 분류·요약",</a:t>
            </a:r>
          </a:p>
          <a:p xmlns:a="http://schemas.openxmlformats.org/drawingml/2006/main">
            <a:r>
              <a:t>        "detail": "의견의 주제 후보와 주제별 요약 생성",</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"정책 분석 담당",</a:t>
            </a:r>
          </a:p>
          <a:p xmlns:a="http://schemas.openxmlformats.org/drawingml/2006/main">
            <a:r>
              <a:t>        "detail": "소수·반대 의견을 포함한 담당자 검토",</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"의견 원문·주제",</a:t>
            </a:r>
          </a:p>
          <a:p xmlns:a="http://schemas.openxmlformats.org/drawingml/2006/main">
            <a:r>
              <a:t>        "detail": "응답 원문·문항·분류 결과의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"수작업 결과와 대조해 분류·누락 오류 보정",</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"정책 의견",</a:t>
            </a:r>
          </a:p>
          <a:p xmlns:a="http://schemas.openxmlformats.org/drawingml/2006/main">
            <a:r>
              <a:t>        "input": "협의 주제·질문·응답 묶음 정의",</a:t>
            </a:r>
          </a:p>
          <a:p xmlns:a="http://schemas.openxmlformats.org/drawingml/2006/main">
            <a:r>
              <a:t>        "process": "응답 원문·문항·분류 결과의 연결",</a:t>
            </a:r>
          </a:p>
          <a:p xmlns:a="http://schemas.openxmlformats.org/drawingml/2006/main">
            <a:r>
              <a:t>        "output": "의견 원문"</a:t>
            </a:r>
          </a:p>
          <a:p xmlns:a="http://schemas.openxmlformats.org/drawingml/2006/main">
            <a:r>
              <a:t>      },</a:t>
            </a:r>
          </a:p>
          <a:p xmlns:a="http://schemas.openxmlformats.org/drawingml/2006/main">
            <a:r>
              <a:t>      {</a:t>
            </a:r>
          </a:p>
          <a:p xmlns:a="http://schemas.openxmlformats.org/drawingml/2006/main">
            <a:r>
              <a:t>        "title": "주제 분류",</a:t>
            </a:r>
          </a:p>
          <a:p xmlns:a="http://schemas.openxmlformats.org/drawingml/2006/main">
            <a:r>
              <a:t>        "input": "의견 원문",</a:t>
            </a:r>
          </a:p>
          <a:p xmlns:a="http://schemas.openxmlformats.org/drawingml/2006/main">
            <a:r>
              <a:t>        "process": "의견의 주제 후보와 주제별 요약 생성",</a:t>
            </a:r>
          </a:p>
          <a:p xmlns:a="http://schemas.openxmlformats.org/drawingml/2006/main">
            <a:r>
              <a:t>        "output": "주제 후보"</a:t>
            </a:r>
          </a:p>
          <a:p xmlns:a="http://schemas.openxmlformats.org/drawingml/2006/main">
            <a:r>
              <a:t>      },</a:t>
            </a:r>
          </a:p>
          <a:p xmlns:a="http://schemas.openxmlformats.org/drawingml/2006/main">
            <a:r>
              <a:t>      {</a:t>
            </a:r>
          </a:p>
          <a:p xmlns:a="http://schemas.openxmlformats.org/drawingml/2006/main">
            <a:r>
              <a:t>        "title": "분석·요약",</a:t>
            </a:r>
          </a:p>
          <a:p xmlns:a="http://schemas.openxmlformats.org/drawingml/2006/main">
            <a:r>
              <a:t>        "input": "주제 후보",</a:t>
            </a:r>
          </a:p>
          <a:p xmlns:a="http://schemas.openxmlformats.org/drawingml/2006/main">
            <a:r>
              <a:t>        "process": "소수 의견 재현·원문 역추적",</a:t>
            </a:r>
          </a:p>
          <a:p xmlns:a="http://schemas.openxmlformats.org/drawingml/2006/main">
            <a:r>
              <a:t>        "output": "주제별 요약"</a:t>
            </a:r>
          </a:p>
          <a:p xmlns:a="http://schemas.openxmlformats.org/drawingml/2006/main">
            <a:r>
              <a:t>      },</a:t>
            </a:r>
          </a:p>
          <a:p xmlns:a="http://schemas.openxmlformats.org/drawingml/2006/main">
            <a:r>
              <a:t>      {</a:t>
            </a:r>
          </a:p>
          <a:p xmlns:a="http://schemas.openxmlformats.org/drawingml/2006/main">
            <a:r>
              <a:t>        "title": "공무원 수정",</a:t>
            </a:r>
          </a:p>
          <a:p xmlns:a="http://schemas.openxmlformats.org/drawingml/2006/main">
            <a:r>
              <a:t>        "input": "주제별 요약",</a:t>
            </a:r>
          </a:p>
          <a:p xmlns:a="http://schemas.openxmlformats.org/drawingml/2006/main">
            <a:r>
              <a:t>        "process": "소수·반대 의견을 포함한 담당자 검토",</a:t>
            </a:r>
          </a:p>
          <a:p xmlns:a="http://schemas.openxmlformats.org/drawingml/2006/main">
            <a:r>
              <a:t>        "output": "담당자 검증"</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"정책 의견을 주제별 분류하고 원문을 검토",</a:t>
            </a:r>
          </a:p>
          <a:p xmlns:a="http://schemas.openxmlformats.org/drawingml/2006/main">
            <a:r>
              <a:t>      "exception": "소수 의견·반대 의견·복수 주제·중복 제출",</a:t>
            </a:r>
          </a:p>
          <a:p xmlns:a="http://schemas.openxmlformats.org/drawingml/2006/main">
            <a:r>
              <a:t>      "evidence": "주제별 원문 재현과 누락·오분류 수정 기록",</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"정책 담당·검토 공무원",</a:t>
            </a:r>
          </a:p>
          <a:p xmlns:a="http://schemas.openxmlformats.org/drawingml/2006/main">
            <a:r>
              <a:t>          "processing": "협의 주제·질문·응답 묶음 정의",</a:t>
            </a:r>
          </a:p>
          <a:p xmlns:a="http://schemas.openxmlformats.org/drawingml/2006/main">
            <a:r>
              <a:t>          "output": "의견 원문"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"의견 원문·주제",</a:t>
            </a:r>
          </a:p>
          <a:p xmlns:a="http://schemas.openxmlformats.org/drawingml/2006/main">
            <a:r>
              <a:t>          "processing": "응답 원문·문항·분류 결과의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"의견 원문",</a:t>
            </a:r>
          </a:p>
          <a:p xmlns:a="http://schemas.openxmlformats.org/drawingml/2006/main">
            <a:r>
              <a:t>          "processing": "의견의 주제 후보와 주제별 요약 생성",</a:t>
            </a:r>
          </a:p>
          <a:p xmlns:a="http://schemas.openxmlformats.org/drawingml/2006/main">
            <a:r>
              <a:t>          "output": "주제별 요약"</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"주제별 요약",</a:t>
            </a:r>
          </a:p>
          <a:p xmlns:a="http://schemas.openxmlformats.org/drawingml/2006/main">
            <a:r>
              <a:t>          "processing": "소수·반대 의견을 포함한 담당자 검토",</a:t>
            </a:r>
          </a:p>
          <a:p xmlns:a="http://schemas.openxmlformats.org/drawingml/2006/main">
            <a:r>
              <a:t>          "output": "담당자 검증"</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"수작업 결과와 대조해 분류·누락 오류 보정",</a:t>
            </a:r>
          </a:p>
          <a:p xmlns:a="http://schemas.openxmlformats.org/drawingml/2006/main">
            <a:r>
              <a:t>          "output": "주제별 원문 재현과 누락·오분류 수정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"수작업 결과와 대조해 분류·누락 오류 보정",</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"T035 / 분석지원·사람 검토·성과 구분",</a:t>
            </a:r>
          </a:p>
          <a:p xmlns:a="http://schemas.openxmlformats.org/drawingml/2006/main">
            <a:r>
              <a:t>        "url": "https://www.gov.uk/government/news/government-built-humphrey-ai-tool-reviews-responses-to-consultation-for-first-time-in-bid-to-save-millions"</a:t>
            </a:r>
          </a:p>
          <a:p xmlns:a="http://schemas.openxmlformats.org/drawingml/2006/main">
            <a:r>
              <a:t>      }</a:t>
            </a:r>
          </a:p>
          <a:p xmlns:a="http://schemas.openxmlformats.org/drawingml/2006/main">
            <a:r>
              <a:t>    ],</a:t>
            </a:r>
          </a:p>
          <a:p xmlns:a="http://schemas.openxmlformats.org/drawingml/2006/main">
            <a:r>
              <a:t>    "implication": "빈도 높은 의견과 소수·반대 의견을 함께 추적하는 정책 검토 지원",</a:t>
            </a:r>
          </a:p>
          <a:p xmlns:a="http://schemas.openxmlformats.org/drawingml/2006/main">
            <a:r>
              <a:t>    "local": "빈도 높은 의견과 소수·반대 의견을 함께 추적하는 정책 검토 지원",</a:t>
            </a:r>
          </a:p>
          <a:p xmlns:a="http://schemas.openxmlformats.org/drawingml/2006/main">
            <a:r>
              <a:t>    "sourceDetail": "응답을 AI로 주제 분류·요약하고 공무원이 수정·검토\n최초 실증은 기존 수작업 검토를 병행, 사람 검증",</a:t>
            </a:r>
          </a:p>
          <a:p xmlns:a="http://schemas.openxmlformats.org/drawingml/2006/main">
            <a:r>
              <a:t>    "narrative": [</a:t>
            </a:r>
          </a:p>
          <a:p xmlns:a="http://schemas.openxmlformats.org/drawingml/2006/main">
            <a:r>
              <a:t>      "영국 Consult의 정책 의견수렴 분석 사례. 다수의 응답을 주제별로 분류·요약해 정책 담당자의 검토를 돕는 방식이며 의견의 채택이나 정책 결정을 자동화하는 기능과 구분.",</a:t>
            </a:r>
          </a:p>
          <a:p xmlns:a="http://schemas.openxmlformats.org/drawingml/2006/main">
            <a:r>
              <a:t>      "설문 문항·응답 원문을 입력하고 주제 후보 생성, 응답별 분류, 주제별 요약, 검토자의 수정으로 이어지는 논리 흐름. 원문 응답과 요약의 연결을 유지해 소수·반대 의견이 요약에서 누락됐는지 추적하는 구성.",</a:t>
            </a:r>
          </a:p>
          <a:p xmlns:a="http://schemas.openxmlformats.org/drawingml/2006/main">
            <a:r>
              <a:t>      "CCK의 민원·의견 분석에서는 전체 빈도만으로 성과를 판단하기 어려움. 다중 주제, 소수 의견, 상반된 입장, 부정확한 인용을 포함한 정답셋과 담당자의 수정 시간을 함께 측정하는 방식의 적용."</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"정책 의견 접수",</a:t>
            </a:r>
          </a:p>
          <a:p xmlns:a="http://schemas.openxmlformats.org/drawingml/2006/main">
            <a:r>
              <a:t>          "layer": "이용 접점",</a:t>
            </a:r>
          </a:p>
          <a:p xmlns:a="http://schemas.openxmlformats.org/drawingml/2006/main">
            <a:r>
              <a:t>          "detail": "정책 담당·검토 공무원",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"협의·문항 범위",</a:t>
            </a:r>
          </a:p>
          <a:p xmlns:a="http://schemas.openxmlformats.org/drawingml/2006/main">
            <a:r>
              <a:t>          "layer": "업무 문맥",</a:t>
            </a:r>
          </a:p>
          <a:p xmlns:a="http://schemas.openxmlformats.org/drawingml/2006/main">
            <a:r>
              <a:t>          "detail": "협의 주제·질문·응답 묶음 정의",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"응답 원문 조회",</a:t>
            </a:r>
          </a:p>
          <a:p xmlns:a="http://schemas.openxmlformats.org/drawingml/2006/main">
            <a:r>
              <a:t>          "layer": "자료 조회",</a:t>
            </a:r>
          </a:p>
          <a:p xmlns:a="http://schemas.openxmlformats.org/drawingml/2006/main">
            <a:r>
              <a:t>          "detail": "의견 원문",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"주제 분류·요약",</a:t>
            </a:r>
          </a:p>
          <a:p xmlns:a="http://schemas.openxmlformats.org/drawingml/2006/main">
            <a:r>
              <a:t>          "layer": "핵심 처리",</a:t>
            </a:r>
          </a:p>
          <a:p xmlns:a="http://schemas.openxmlformats.org/drawingml/2006/main">
            <a:r>
              <a:t>          "detail": "의견의 주제 후보와 주제별 요약 생성",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"소수·반대 의견 검사",</a:t>
            </a:r>
          </a:p>
          <a:p xmlns:a="http://schemas.openxmlformats.org/drawingml/2006/main">
            <a:r>
              <a:t>          "layer": "결과 검증",</a:t>
            </a:r>
          </a:p>
          <a:p xmlns:a="http://schemas.openxmlformats.org/drawingml/2006/main">
            <a:r>
              <a:t>          "detail": "소수 의견 재현·원문 역추적",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"공무원 수정",</a:t>
            </a:r>
          </a:p>
          <a:p xmlns:a="http://schemas.openxmlformats.org/drawingml/2006/main">
            <a:r>
              <a:t>          "layer": "사람 확인",</a:t>
            </a:r>
          </a:p>
          <a:p xmlns:a="http://schemas.openxmlformats.org/drawingml/2006/main">
            <a:r>
              <a:t>          "detail": "정책 의견을 주제별 분류하고 원문을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"정책 분석 자료",</a:t>
            </a:r>
          </a:p>
          <a:p xmlns:a="http://schemas.openxmlformats.org/drawingml/2006/main">
            <a:r>
              <a:t>          "layer": "업무 연결",</a:t>
            </a:r>
          </a:p>
          <a:p xmlns:a="http://schemas.openxmlformats.org/drawingml/2006/main">
            <a:r>
              <a:t>          "detail": "소수·반대 의견을 포함한 담당자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"수작업 대조",</a:t>
            </a:r>
          </a:p>
          <a:p xmlns:a="http://schemas.openxmlformats.org/drawingml/2006/main">
            <a:r>
              <a:t>          "layer": "운영 관측",</a:t>
            </a:r>
          </a:p>
          <a:p xmlns:a="http://schemas.openxmlformats.org/drawingml/2006/main">
            <a:r>
              <a:t>          "detail": "수작업 결과와 대조해 분류·누락 오류 보정",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"응답·문항 자료",</a:t>
            </a:r>
          </a:p>
          <a:p xmlns:a="http://schemas.openxmlformats.org/drawingml/2006/main">
            <a:r>
              <a:t>          "layer": "데이터 원천",</a:t>
            </a:r>
          </a:p>
          <a:p xmlns:a="http://schemas.openxmlformats.org/drawingml/2006/main">
            <a:r>
              <a:t>          "detail": "의견 원문·주제",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"원문·분류 연결",</a:t>
            </a:r>
          </a:p>
          <a:p xmlns:a="http://schemas.openxmlformats.org/drawingml/2006/main">
            <a:r>
              <a:t>          "layer": "준비·갱신",</a:t>
            </a:r>
          </a:p>
          <a:p xmlns:a="http://schemas.openxmlformats.org/drawingml/2006/main">
            <a:r>
              <a:t>          "detail": "응답 원문·문항·분류 결과의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"주제·검토 이력",</a:t>
            </a:r>
          </a:p>
          <a:p xmlns:a="http://schemas.openxmlformats.org/drawingml/2006/main">
            <a:r>
              <a:t>          "layer": "상태·지식 저장",</a:t>
            </a:r>
          </a:p>
          <a:p xmlns:a="http://schemas.openxmlformats.org/drawingml/2006/main">
            <a:r>
              <a:t>          "detail": "주제별 원문 재현과 누락·오분류 수정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"해석·채택 책임",</a:t>
            </a:r>
          </a:p>
          <a:p xmlns:a="http://schemas.openxmlformats.org/drawingml/2006/main">
            <a:r>
              <a:t>          "layer": "권한·정책",</a:t>
            </a:r>
          </a:p>
          <a:p xmlns:a="http://schemas.openxmlformats.org/drawingml/2006/main">
            <a:r>
              <a:t>          "detail": "소수 의견·반대 의견·복수 주제·중복 제출",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"협의 주제·질문·응답 묶음 정의",</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"의견 원문",</a:t>
            </a:r>
          </a:p>
          <a:p xmlns:a="http://schemas.openxmlformats.org/drawingml/2006/main">
            <a:r>
              <a:t>          "check": "소수 의견 재현·원문 역추적"</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"주제 후보",</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"주제별 요약",</a:t>
            </a:r>
          </a:p>
          <a:p xmlns:a="http://schemas.openxmlformats.org/drawingml/2006/main">
            <a:r>
              <a:t>          "check": "소수 의견·반대 의견·복수 주제·중복 제출"</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"주제별 요약",</a:t>
            </a:r>
          </a:p>
          <a:p xmlns:a="http://schemas.openxmlformats.org/drawingml/2006/main">
            <a:r>
              <a:t>          "check": "소수·반대 의견을 포함한 담당자 검토"</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"담당자 검증",</a:t>
            </a:r>
          </a:p>
          <a:p xmlns:a="http://schemas.openxmlformats.org/drawingml/2006/main">
            <a:r>
              <a:t>          "check": "주제별 원문 재현과 누락·오분류 수정 기록"</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"정책 의견수렴 자료의 주제별 분석 / 의견 분류·요약·담당자 수정",</a:t>
            </a:r>
          </a:p>
          <a:p xmlns:a="http://schemas.openxmlformats.org/drawingml/2006/main">
            <a:r>
              <a:t>        "extension": "빈도 높은 의견과 소수·반대 의견을 함께 추적하는 정책 검토 지원"</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"소수 의견·반대 의견·복수 주제·중복 제출",</a:t>
            </a:r>
          </a:p>
          <a:p xmlns:a="http://schemas.openxmlformats.org/drawingml/2006/main">
            <a:r>
              <a:t>        "hold": "소수 의견 재현·원문 역추적",</a:t>
            </a:r>
          </a:p>
          <a:p xmlns:a="http://schemas.openxmlformats.org/drawingml/2006/main">
            <a:r>
              <a:t>        "recovery": "수작업 결과와 대조해 분류·누락 오류 보정",</a:t>
            </a:r>
          </a:p>
          <a:p xmlns:a="http://schemas.openxmlformats.org/drawingml/2006/main">
            <a:r>
              <a:t>        "evidence": "주제별 원문 재현과 누락·오분류 수정 기록"</a:t>
            </a:r>
          </a:p>
          <a:p xmlns:a="http://schemas.openxmlformats.org/drawingml/2006/main">
            <a:r>
              <a:t>      },</a:t>
            </a:r>
          </a:p>
          <a:p xmlns:a="http://schemas.openxmlformats.org/drawingml/2006/main">
            <a:r>
              <a:t>      "data": {</a:t>
            </a:r>
          </a:p>
          <a:p xmlns:a="http://schemas.openxmlformats.org/drawingml/2006/main">
            <a:r>
              <a:t>        "source": "의견 원문·주제",</a:t>
            </a:r>
          </a:p>
          <a:p xmlns:a="http://schemas.openxmlformats.org/drawingml/2006/main">
            <a:r>
              <a:t>        "prepare": "응답 원문·문항·분류 결과의 연결",</a:t>
            </a:r>
          </a:p>
          <a:p xmlns:a="http://schemas.openxmlformats.org/drawingml/2006/main">
            <a:r>
              <a:t>        "output": "의견 원문",</a:t>
            </a:r>
          </a:p>
          <a:p xmlns:a="http://schemas.openxmlformats.org/drawingml/2006/main">
            <a:r>
              <a:t>        "refresh": "수작업 결과와 대조해 분류·누락 오류 보정"</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"PF-A14",</a:t>
            </a:r>
          </a:p>
          <a:p xmlns:a="http://schemas.openxmlformats.org/drawingml/2006/main">
            <a:r>
              <a:t>    "success": [</a:t>
            </a:r>
          </a:p>
          <a:p xmlns:a="http://schemas.openxmlformats.org/drawingml/2006/main">
            <a:r>
              <a:t>      "대량 의견의 주제 분류",</a:t>
            </a:r>
          </a:p>
          <a:p xmlns:a="http://schemas.openxmlformats.org/drawingml/2006/main">
            <a:r>
              <a:t>      "공무원 수정·해석과 결합"</a:t>
            </a:r>
          </a:p>
          <a:p xmlns:a="http://schemas.openxmlformats.org/drawingml/2006/main">
            <a:r>
              <a:t>    ],</a:t>
            </a:r>
          </a:p>
          <a:p xmlns:a="http://schemas.openxmlformats.org/drawingml/2006/main">
            <a:r>
              <a:t>    "risks": [</a:t>
            </a:r>
          </a:p>
          <a:p xmlns:a="http://schemas.openxmlformats.org/drawingml/2006/main">
            <a:r>
              <a:t>      "소수 의견·반대 근거 누락",</a:t>
            </a:r>
          </a:p>
          <a:p xmlns:a="http://schemas.openxmlformats.org/drawingml/2006/main">
            <a:r>
              <a:t>      "주제 빈도와 정책 타당성 혼동"</a:t>
            </a:r>
          </a:p>
          <a:p xmlns:a="http://schemas.openxmlformats.org/drawingml/2006/main">
            <a:r>
              <a:t>    ],</a:t>
            </a:r>
          </a:p>
          <a:p xmlns:a="http://schemas.openxmlformats.org/drawingml/2006/main">
            <a:r>
              <a:t>    "architecture": [</a:t>
            </a:r>
          </a:p>
          <a:p xmlns:a="http://schemas.openxmlformats.org/drawingml/2006/main">
            <a:r>
              <a:t>      "정책 의견수렴",</a:t>
            </a:r>
          </a:p>
          <a:p xmlns:a="http://schemas.openxmlformats.org/drawingml/2006/main">
            <a:r>
              <a:t>      "Consult 분류·요약",</a:t>
            </a:r>
          </a:p>
          <a:p xmlns:a="http://schemas.openxmlformats.org/drawingml/2006/main">
            <a:r>
              <a:t>      "의견 원문·주제",</a:t>
            </a:r>
          </a:p>
          <a:p xmlns:a="http://schemas.openxmlformats.org/drawingml/2006/main">
            <a:r>
              <a:t>      "정책 분석 담당"</a:t>
            </a:r>
          </a:p>
          <a:p xmlns:a="http://schemas.openxmlformats.org/drawingml/2006/main">
            <a:r>
              <a:t>    ],</a:t>
            </a:r>
          </a:p>
          <a:p xmlns:a="http://schemas.openxmlformats.org/drawingml/2006/main">
            <a:r>
              <a:t>    "transfers": [</a:t>
            </a:r>
          </a:p>
          <a:p xmlns:a="http://schemas.openxmlformats.org/drawingml/2006/main">
            <a:r>
              <a:t>      "의견 원문",</a:t>
            </a:r>
          </a:p>
          <a:p xmlns:a="http://schemas.openxmlformats.org/drawingml/2006/main">
            <a:r>
              <a:t>      "주제 후보",</a:t>
            </a:r>
          </a:p>
          <a:p xmlns:a="http://schemas.openxmlformats.org/drawingml/2006/main">
            <a:r>
              <a:t>      "주제별 요약",</a:t>
            </a:r>
          </a:p>
          <a:p xmlns:a="http://schemas.openxmlformats.org/drawingml/2006/main">
            <a:r>
              <a:t>      "담당자 검증"</a:t>
            </a:r>
          </a:p>
          <a:p xmlns:a="http://schemas.openxmlformats.org/drawingml/2006/main">
            <a:r>
              <a:t>    ],</a:t>
            </a:r>
          </a:p>
          <a:p xmlns:a="http://schemas.openxmlformats.org/drawingml/2006/main">
            <a:r>
              <a:t>    "control": "소수 의견 재현·원문 역추적",</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T035 / 분석지원·사람 검토·성과 구분 https://www.gov.uk/government/news/government-built-humphrey-ai-tool-reviews-responses-to-consultation-for-first-time-in-bid-to-save-millions</a:t>
            </a:r>
          </a:p>
          <a:p xmlns:a="http://schemas.openxmlformats.org/drawingml/2006/main">
            <a:r>
              <a:t>홈페이지 https://heen1987-ops.github.io/TS-business-Plan-001/index.html?view=platform-cases&amp;case=PF-A14</a:t>
            </a:r>
          </a:p>
          <a:p xmlns:a="http://schemas.openxmlformats.org/drawingml/2006/main">
            <a:r>
              <a:t>한계: F1을 정확도76%로 쓰지 않음. 연7.5만일/2천만파운드는 전정부 확산 추정, 실현절감 아님</a:t>
            </a:r>
          </a:p>
          <a:p xmlns:a="http://schemas.openxmlformats.org/drawingml/2006/main">
            <a:r>
              <a:t>실패 위험: 소수 의견·반대 근거 누락 / 주제 빈도와 정책 타당성 혼동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"PF-A14",</a:t>
            </a:r>
          </a:p>
          <a:p xmlns:a="http://schemas.openxmlformats.org/drawingml/2006/main">
            <a:r>
              <a:t>    "sourceId": "A14",</a:t>
            </a:r>
          </a:p>
          <a:p xmlns:a="http://schemas.openxmlformats.org/drawingml/2006/main">
            <a:r>
              <a:t>    "title": "영국 Consult",</a:t>
            </a:r>
          </a:p>
          <a:p xmlns:a="http://schemas.openxmlformats.org/drawingml/2006/main">
            <a:r>
              <a:t>    "region": "해외",</a:t>
            </a:r>
          </a:p>
          <a:p xmlns:a="http://schemas.openxmlformats.org/drawingml/2006/main">
            <a:r>
              <a:t>    "owner": "i.AI·스코틀랜드 / Consult(Humphrey)",</a:t>
            </a:r>
          </a:p>
          <a:p xmlns:a="http://schemas.openxmlformats.org/drawingml/2006/main">
            <a:r>
              <a:t>    "state": "정책 의견수렴 분석 최초 실증(2025-05 발표)",</a:t>
            </a:r>
          </a:p>
          <a:p xmlns:a="http://schemas.openxmlformats.org/drawingml/2006/main">
            <a:r>
              <a:t>    "period": "기존 원장 확인 2026.10.16",</a:t>
            </a:r>
          </a:p>
          <a:p xmlns:a="http://schemas.openxmlformats.org/drawingml/2006/main">
            <a:r>
              <a:t>    "fact": "공통 업무 앱 실증",</a:t>
            </a:r>
          </a:p>
          <a:p xmlns:a="http://schemas.openxmlformats.org/drawingml/2006/main">
            <a:r>
              <a:t>    "limit": "F1을 정확도76%로 쓰지 않음. 연7.5만일/2천만파운드는 전정부 확산 추정, 실현절감 아님",</a:t>
            </a:r>
          </a:p>
          <a:p xmlns:a="http://schemas.openxmlformats.org/drawingml/2006/main">
            <a:r>
              <a:t>    "nodes": [</a:t>
            </a:r>
          </a:p>
          <a:p xmlns:a="http://schemas.openxmlformats.org/drawingml/2006/main">
            <a:r>
              <a:t>      "정책 의견",</a:t>
            </a:r>
          </a:p>
          <a:p xmlns:a="http://schemas.openxmlformats.org/drawingml/2006/main">
            <a:r>
              <a:t>      "주제 분류",</a:t>
            </a:r>
          </a:p>
          <a:p xmlns:a="http://schemas.openxmlformats.org/drawingml/2006/main">
            <a:r>
              <a:t>      "분석·요약",</a:t>
            </a:r>
          </a:p>
          <a:p xmlns:a="http://schemas.openxmlformats.org/drawingml/2006/main">
            <a:r>
              <a:t>      "공무원 수정"</a:t>
            </a:r>
          </a:p>
          <a:p xmlns:a="http://schemas.openxmlformats.org/drawingml/2006/main">
            <a:r>
              <a:t>    ],</a:t>
            </a:r>
          </a:p>
          <a:p xmlns:a="http://schemas.openxmlformats.org/drawingml/2006/main">
            <a:r>
              <a:t>    "apply": "빈도 높은 의견과 소수·반대 의견을 함께 추적하는 정책 검토 지원",</a:t>
            </a:r>
          </a:p>
          <a:p xmlns:a="http://schemas.openxmlformats.org/drawingml/2006/main">
            <a:r>
              <a:t>    "delta": "업무분장·관할·복수부서 배정",</a:t>
            </a:r>
          </a:p>
          <a:p xmlns:a="http://schemas.openxmlformats.org/drawingml/2006/main">
            <a:r>
              <a:t>    "test": "재배정률·최종 해결시간의 기준선·비교 평가",</a:t>
            </a:r>
          </a:p>
          <a:p xmlns:a="http://schemas.openxmlformats.org/drawingml/2006/main">
            <a:r>
              <a:t>    "url": "https://www.gov.uk/government/news/government-built-humphrey-ai-tool-reviews-responses-to-consultation-for-first-time-in-bid-to-save-millions",</a:t>
            </a:r>
          </a:p>
          <a:p xmlns:a="http://schemas.openxmlformats.org/drawingml/2006/main">
            <a:r>
              <a:t>    "urls": [</a:t>
            </a:r>
          </a:p>
          <a:p xmlns:a="http://schemas.openxmlformats.org/drawingml/2006/main">
            <a:r>
              <a:t>      "https://www.gov.uk/government/news/government-built-humphrey-ai-tool-reviews-responses-to-consultation-for-first-time-in-bid-to-save-millions"</a:t>
            </a:r>
          </a:p>
          <a:p xmlns:a="http://schemas.openxmlformats.org/drawingml/2006/main">
            <a:r>
              <a:t>    ],</a:t>
            </a:r>
          </a:p>
          <a:p xmlns:a="http://schemas.openxmlformats.org/drawingml/2006/main">
            <a:r>
              <a:t>    "basis": "T035 / 분석지원·사람 검토·성과 구분",</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"재배정률·최종 해결시간",</a:t>
            </a:r>
          </a:p>
          <a:p xmlns:a="http://schemas.openxmlformats.org/drawingml/2006/main">
            <a:r>
              <a:t>    "group": "운영·실증",</a:t>
            </a:r>
          </a:p>
          <a:p xmlns:a="http://schemas.openxmlformats.org/drawingml/2006/main">
            <a:r>
              <a:t>    "sourceDetail": "응답을 AI로 주제 분류·요약하고 공무원이 수정·검토\n최초 실증은 기존 수작업 검토를 병행, 사람 검증",</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"PF-A14",</a:t>
            </a:r>
          </a:p>
          <a:p xmlns:a="http://schemas.openxmlformats.org/drawingml/2006/main">
            <a:r>
              <a:t>    "canonicalId": "PF-A14",</a:t>
            </a:r>
          </a:p>
          <a:p xmlns:a="http://schemas.openxmlformats.org/drawingml/2006/main">
            <a:r>
              <a:t>    "purpose": "정책 의견수렴 자료의 주제별 분석",</a:t>
            </a:r>
          </a:p>
          <a:p xmlns:a="http://schemas.openxmlformats.org/drawingml/2006/main">
            <a:r>
              <a:t>    "users": "정책 담당·검토 공무원",</a:t>
            </a:r>
          </a:p>
          <a:p xmlns:a="http://schemas.openxmlformats.org/drawingml/2006/main">
            <a:r>
              <a:t>    "scope": [</a:t>
            </a:r>
          </a:p>
          <a:p xmlns:a="http://schemas.openxmlformats.org/drawingml/2006/main">
            <a:r>
              <a:t>      "의견 분류",</a:t>
            </a:r>
          </a:p>
          <a:p xmlns:a="http://schemas.openxmlformats.org/drawingml/2006/main">
            <a:r>
              <a:t>      "요약",</a:t>
            </a:r>
          </a:p>
          <a:p xmlns:a="http://schemas.openxmlformats.org/drawingml/2006/main">
            <a:r>
              <a:t>      "담당자 수정"</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"정책 의견수렴",</a:t>
            </a:r>
          </a:p>
          <a:p xmlns:a="http://schemas.openxmlformats.org/drawingml/2006/main">
            <a:r>
              <a:t>        "detail": "협의 주제·질문·응답 묶음 정의",</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"의견 분류 / 요약 / 담당자 수정",</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"Consult 분류·요약",</a:t>
            </a:r>
          </a:p>
          <a:p xmlns:a="http://schemas.openxmlformats.org/drawingml/2006/main">
            <a:r>
              <a:t>        "detail": "의견의 주제 후보와 주제별 요약 생성",</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"정책 분석 담당",</a:t>
            </a:r>
          </a:p>
          <a:p xmlns:a="http://schemas.openxmlformats.org/drawingml/2006/main">
            <a:r>
              <a:t>        "detail": "소수·반대 의견을 포함한 담당자 검토",</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"의견 원문·주제",</a:t>
            </a:r>
          </a:p>
          <a:p xmlns:a="http://schemas.openxmlformats.org/drawingml/2006/main">
            <a:r>
              <a:t>        "detail": "응답 원문·문항·분류 결과의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"수작업 결과와 대조해 분류·누락 오류 보정",</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"정책 의견",</a:t>
            </a:r>
          </a:p>
          <a:p xmlns:a="http://schemas.openxmlformats.org/drawingml/2006/main">
            <a:r>
              <a:t>        "input": "협의 주제·질문·응답 묶음 정의",</a:t>
            </a:r>
          </a:p>
          <a:p xmlns:a="http://schemas.openxmlformats.org/drawingml/2006/main">
            <a:r>
              <a:t>        "process": "응답 원문·문항·분류 결과의 연결",</a:t>
            </a:r>
          </a:p>
          <a:p xmlns:a="http://schemas.openxmlformats.org/drawingml/2006/main">
            <a:r>
              <a:t>        "output": "의견 원문"</a:t>
            </a:r>
          </a:p>
          <a:p xmlns:a="http://schemas.openxmlformats.org/drawingml/2006/main">
            <a:r>
              <a:t>      },</a:t>
            </a:r>
          </a:p>
          <a:p xmlns:a="http://schemas.openxmlformats.org/drawingml/2006/main">
            <a:r>
              <a:t>      {</a:t>
            </a:r>
          </a:p>
          <a:p xmlns:a="http://schemas.openxmlformats.org/drawingml/2006/main">
            <a:r>
              <a:t>        "title": "주제 분류",</a:t>
            </a:r>
          </a:p>
          <a:p xmlns:a="http://schemas.openxmlformats.org/drawingml/2006/main">
            <a:r>
              <a:t>        "input": "의견 원문",</a:t>
            </a:r>
          </a:p>
          <a:p xmlns:a="http://schemas.openxmlformats.org/drawingml/2006/main">
            <a:r>
              <a:t>        "process": "의견의 주제 후보와 주제별 요약 생성",</a:t>
            </a:r>
          </a:p>
          <a:p xmlns:a="http://schemas.openxmlformats.org/drawingml/2006/main">
            <a:r>
              <a:t>        "output": "주제 후보"</a:t>
            </a:r>
          </a:p>
          <a:p xmlns:a="http://schemas.openxmlformats.org/drawingml/2006/main">
            <a:r>
              <a:t>      },</a:t>
            </a:r>
          </a:p>
          <a:p xmlns:a="http://schemas.openxmlformats.org/drawingml/2006/main">
            <a:r>
              <a:t>      {</a:t>
            </a:r>
          </a:p>
          <a:p xmlns:a="http://schemas.openxmlformats.org/drawingml/2006/main">
            <a:r>
              <a:t>        "title": "분석·요약",</a:t>
            </a:r>
          </a:p>
          <a:p xmlns:a="http://schemas.openxmlformats.org/drawingml/2006/main">
            <a:r>
              <a:t>        "input": "주제 후보",</a:t>
            </a:r>
          </a:p>
          <a:p xmlns:a="http://schemas.openxmlformats.org/drawingml/2006/main">
            <a:r>
              <a:t>        "process": "소수 의견 재현·원문 역추적",</a:t>
            </a:r>
          </a:p>
          <a:p xmlns:a="http://schemas.openxmlformats.org/drawingml/2006/main">
            <a:r>
              <a:t>        "output": "주제별 요약"</a:t>
            </a:r>
          </a:p>
          <a:p xmlns:a="http://schemas.openxmlformats.org/drawingml/2006/main">
            <a:r>
              <a:t>      },</a:t>
            </a:r>
          </a:p>
          <a:p xmlns:a="http://schemas.openxmlformats.org/drawingml/2006/main">
            <a:r>
              <a:t>      {</a:t>
            </a:r>
          </a:p>
          <a:p xmlns:a="http://schemas.openxmlformats.org/drawingml/2006/main">
            <a:r>
              <a:t>        "title": "공무원 수정",</a:t>
            </a:r>
          </a:p>
          <a:p xmlns:a="http://schemas.openxmlformats.org/drawingml/2006/main">
            <a:r>
              <a:t>        "input": "주제별 요약",</a:t>
            </a:r>
          </a:p>
          <a:p xmlns:a="http://schemas.openxmlformats.org/drawingml/2006/main">
            <a:r>
              <a:t>        "process": "소수·반대 의견을 포함한 담당자 검토",</a:t>
            </a:r>
          </a:p>
          <a:p xmlns:a="http://schemas.openxmlformats.org/drawingml/2006/main">
            <a:r>
              <a:t>        "output": "담당자 검증"</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"정책 의견을 주제별 분류하고 원문을 검토",</a:t>
            </a:r>
          </a:p>
          <a:p xmlns:a="http://schemas.openxmlformats.org/drawingml/2006/main">
            <a:r>
              <a:t>      "exception": "소수 의견·반대 의견·복수 주제·중복 제출",</a:t>
            </a:r>
          </a:p>
          <a:p xmlns:a="http://schemas.openxmlformats.org/drawingml/2006/main">
            <a:r>
              <a:t>      "evidence": "주제별 원문 재현과 누락·오분류 수정 기록",</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"정책 담당·검토 공무원",</a:t>
            </a:r>
          </a:p>
          <a:p xmlns:a="http://schemas.openxmlformats.org/drawingml/2006/main">
            <a:r>
              <a:t>          "processing": "협의 주제·질문·응답 묶음 정의",</a:t>
            </a:r>
          </a:p>
          <a:p xmlns:a="http://schemas.openxmlformats.org/drawingml/2006/main">
            <a:r>
              <a:t>          "output": "의견 원문"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"의견 원문·주제",</a:t>
            </a:r>
          </a:p>
          <a:p xmlns:a="http://schemas.openxmlformats.org/drawingml/2006/main">
            <a:r>
              <a:t>          "processing": "응답 원문·문항·분류 결과의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"의견 원문",</a:t>
            </a:r>
          </a:p>
          <a:p xmlns:a="http://schemas.openxmlformats.org/drawingml/2006/main">
            <a:r>
              <a:t>          "processing": "의견의 주제 후보와 주제별 요약 생성",</a:t>
            </a:r>
          </a:p>
          <a:p xmlns:a="http://schemas.openxmlformats.org/drawingml/2006/main">
            <a:r>
              <a:t>          "output": "주제별 요약"</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"주제별 요약",</a:t>
            </a:r>
          </a:p>
          <a:p xmlns:a="http://schemas.openxmlformats.org/drawingml/2006/main">
            <a:r>
              <a:t>          "processing": "소수·반대 의견을 포함한 담당자 검토",</a:t>
            </a:r>
          </a:p>
          <a:p xmlns:a="http://schemas.openxmlformats.org/drawingml/2006/main">
            <a:r>
              <a:t>          "output": "담당자 검증"</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"수작업 결과와 대조해 분류·누락 오류 보정",</a:t>
            </a:r>
          </a:p>
          <a:p xmlns:a="http://schemas.openxmlformats.org/drawingml/2006/main">
            <a:r>
              <a:t>          "output": "주제별 원문 재현과 누락·오분류 수정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"수작업 결과와 대조해 분류·누락 오류 보정",</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"T035 / 분석지원·사람 검토·성과 구분",</a:t>
            </a:r>
          </a:p>
          <a:p xmlns:a="http://schemas.openxmlformats.org/drawingml/2006/main">
            <a:r>
              <a:t>        "url": "https://www.gov.uk/government/news/government-built-humphrey-ai-tool-reviews-responses-to-consultation-for-first-time-in-bid-to-save-millions"</a:t>
            </a:r>
          </a:p>
          <a:p xmlns:a="http://schemas.openxmlformats.org/drawingml/2006/main">
            <a:r>
              <a:t>      }</a:t>
            </a:r>
          </a:p>
          <a:p xmlns:a="http://schemas.openxmlformats.org/drawingml/2006/main">
            <a:r>
              <a:t>    ],</a:t>
            </a:r>
          </a:p>
          <a:p xmlns:a="http://schemas.openxmlformats.org/drawingml/2006/main">
            <a:r>
              <a:t>    "implication": "빈도 높은 의견과 소수·반대 의견을 함께 추적하는 정책 검토 지원",</a:t>
            </a:r>
          </a:p>
          <a:p xmlns:a="http://schemas.openxmlformats.org/drawingml/2006/main">
            <a:r>
              <a:t>    "local": "빈도 높은 의견과 소수·반대 의견을 함께 추적하는 정책 검토 지원",</a:t>
            </a:r>
          </a:p>
          <a:p xmlns:a="http://schemas.openxmlformats.org/drawingml/2006/main">
            <a:r>
              <a:t>    "sourceDetail": "응답을 AI로 주제 분류·요약하고 공무원이 수정·검토\n최초 실증은 기존 수작업 검토를 병행, 사람 검증",</a:t>
            </a:r>
          </a:p>
          <a:p xmlns:a="http://schemas.openxmlformats.org/drawingml/2006/main">
            <a:r>
              <a:t>    "narrative": [</a:t>
            </a:r>
          </a:p>
          <a:p xmlns:a="http://schemas.openxmlformats.org/drawingml/2006/main">
            <a:r>
              <a:t>      "영국 Consult의 정책 의견수렴 분석 사례. 다수의 응답을 주제별로 분류·요약해 정책 담당자의 검토를 돕는 방식이며 의견의 채택이나 정책 결정을 자동화하는 기능과 구분.",</a:t>
            </a:r>
          </a:p>
          <a:p xmlns:a="http://schemas.openxmlformats.org/drawingml/2006/main">
            <a:r>
              <a:t>      "설문 문항·응답 원문을 입력하고 주제 후보 생성, 응답별 분류, 주제별 요약, 검토자의 수정으로 이어지는 논리 흐름. 원문 응답과 요약의 연결을 유지해 소수·반대 의견이 요약에서 누락됐는지 추적하는 구성.",</a:t>
            </a:r>
          </a:p>
          <a:p xmlns:a="http://schemas.openxmlformats.org/drawingml/2006/main">
            <a:r>
              <a:t>      "CCK의 민원·의견 분석에서는 전체 빈도만으로 성과를 판단하기 어려움. 다중 주제, 소수 의견, 상반된 입장, 부정확한 인용을 포함한 정답셋과 담당자의 수정 시간을 함께 측정하는 방식의 적용."</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"정책 의견 접수",</a:t>
            </a:r>
          </a:p>
          <a:p xmlns:a="http://schemas.openxmlformats.org/drawingml/2006/main">
            <a:r>
              <a:t>          "layer": "이용 접점",</a:t>
            </a:r>
          </a:p>
          <a:p xmlns:a="http://schemas.openxmlformats.org/drawingml/2006/main">
            <a:r>
              <a:t>          "detail": "정책 담당·검토 공무원",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"협의·문항 범위",</a:t>
            </a:r>
          </a:p>
          <a:p xmlns:a="http://schemas.openxmlformats.org/drawingml/2006/main">
            <a:r>
              <a:t>          "layer": "업무 문맥",</a:t>
            </a:r>
          </a:p>
          <a:p xmlns:a="http://schemas.openxmlformats.org/drawingml/2006/main">
            <a:r>
              <a:t>          "detail": "협의 주제·질문·응답 묶음 정의",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"응답 원문 조회",</a:t>
            </a:r>
          </a:p>
          <a:p xmlns:a="http://schemas.openxmlformats.org/drawingml/2006/main">
            <a:r>
              <a:t>          "layer": "자료 조회",</a:t>
            </a:r>
          </a:p>
          <a:p xmlns:a="http://schemas.openxmlformats.org/drawingml/2006/main">
            <a:r>
              <a:t>          "detail": "의견 원문",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"주제 분류·요약",</a:t>
            </a:r>
          </a:p>
          <a:p xmlns:a="http://schemas.openxmlformats.org/drawingml/2006/main">
            <a:r>
              <a:t>          "layer": "핵심 처리",</a:t>
            </a:r>
          </a:p>
          <a:p xmlns:a="http://schemas.openxmlformats.org/drawingml/2006/main">
            <a:r>
              <a:t>          "detail": "의견의 주제 후보와 주제별 요약 생성",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"소수·반대 의견 검사",</a:t>
            </a:r>
          </a:p>
          <a:p xmlns:a="http://schemas.openxmlformats.org/drawingml/2006/main">
            <a:r>
              <a:t>          "layer": "결과 검증",</a:t>
            </a:r>
          </a:p>
          <a:p xmlns:a="http://schemas.openxmlformats.org/drawingml/2006/main">
            <a:r>
              <a:t>          "detail": "소수 의견 재현·원문 역추적",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"공무원 수정",</a:t>
            </a:r>
          </a:p>
          <a:p xmlns:a="http://schemas.openxmlformats.org/drawingml/2006/main">
            <a:r>
              <a:t>          "layer": "사람 확인",</a:t>
            </a:r>
          </a:p>
          <a:p xmlns:a="http://schemas.openxmlformats.org/drawingml/2006/main">
            <a:r>
              <a:t>          "detail": "정책 의견을 주제별 분류하고 원문을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"정책 분석 자료",</a:t>
            </a:r>
          </a:p>
          <a:p xmlns:a="http://schemas.openxmlformats.org/drawingml/2006/main">
            <a:r>
              <a:t>          "layer": "업무 연결",</a:t>
            </a:r>
          </a:p>
          <a:p xmlns:a="http://schemas.openxmlformats.org/drawingml/2006/main">
            <a:r>
              <a:t>          "detail": "소수·반대 의견을 포함한 담당자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"수작업 대조",</a:t>
            </a:r>
          </a:p>
          <a:p xmlns:a="http://schemas.openxmlformats.org/drawingml/2006/main">
            <a:r>
              <a:t>          "layer": "운영 관측",</a:t>
            </a:r>
          </a:p>
          <a:p xmlns:a="http://schemas.openxmlformats.org/drawingml/2006/main">
            <a:r>
              <a:t>          "detail": "수작업 결과와 대조해 분류·누락 오류 보정",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"응답·문항 자료",</a:t>
            </a:r>
          </a:p>
          <a:p xmlns:a="http://schemas.openxmlformats.org/drawingml/2006/main">
            <a:r>
              <a:t>          "layer": "데이터 원천",</a:t>
            </a:r>
          </a:p>
          <a:p xmlns:a="http://schemas.openxmlformats.org/drawingml/2006/main">
            <a:r>
              <a:t>          "detail": "의견 원문·주제",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"원문·분류 연결",</a:t>
            </a:r>
          </a:p>
          <a:p xmlns:a="http://schemas.openxmlformats.org/drawingml/2006/main">
            <a:r>
              <a:t>          "layer": "준비·갱신",</a:t>
            </a:r>
          </a:p>
          <a:p xmlns:a="http://schemas.openxmlformats.org/drawingml/2006/main">
            <a:r>
              <a:t>          "detail": "응답 원문·문항·분류 결과의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"주제·검토 이력",</a:t>
            </a:r>
          </a:p>
          <a:p xmlns:a="http://schemas.openxmlformats.org/drawingml/2006/main">
            <a:r>
              <a:t>          "layer": "상태·지식 저장",</a:t>
            </a:r>
          </a:p>
          <a:p xmlns:a="http://schemas.openxmlformats.org/drawingml/2006/main">
            <a:r>
              <a:t>          "detail": "주제별 원문 재현과 누락·오분류 수정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"해석·채택 책임",</a:t>
            </a:r>
          </a:p>
          <a:p xmlns:a="http://schemas.openxmlformats.org/drawingml/2006/main">
            <a:r>
              <a:t>          "layer": "권한·정책",</a:t>
            </a:r>
          </a:p>
          <a:p xmlns:a="http://schemas.openxmlformats.org/drawingml/2006/main">
            <a:r>
              <a:t>          "detail": "소수 의견·반대 의견·복수 주제·중복 제출",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"협의 주제·질문·응답 묶음 정의",</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"의견 원문",</a:t>
            </a:r>
          </a:p>
          <a:p xmlns:a="http://schemas.openxmlformats.org/drawingml/2006/main">
            <a:r>
              <a:t>          "check": "소수 의견 재현·원문 역추적"</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"주제 후보",</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"주제별 요약",</a:t>
            </a:r>
          </a:p>
          <a:p xmlns:a="http://schemas.openxmlformats.org/drawingml/2006/main">
            <a:r>
              <a:t>          "check": "소수 의견·반대 의견·복수 주제·중복 제출"</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"주제별 요약",</a:t>
            </a:r>
          </a:p>
          <a:p xmlns:a="http://schemas.openxmlformats.org/drawingml/2006/main">
            <a:r>
              <a:t>          "check": "소수·반대 의견을 포함한 담당자 검토"</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"담당자 검증",</a:t>
            </a:r>
          </a:p>
          <a:p xmlns:a="http://schemas.openxmlformats.org/drawingml/2006/main">
            <a:r>
              <a:t>          "check": "주제별 원문 재현과 누락·오분류 수정 기록"</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"정책 의견수렴 자료의 주제별 분석 / 의견 분류·요약·담당자 수정",</a:t>
            </a:r>
          </a:p>
          <a:p xmlns:a="http://schemas.openxmlformats.org/drawingml/2006/main">
            <a:r>
              <a:t>        "extension": "빈도 높은 의견과 소수·반대 의견을 함께 추적하는 정책 검토 지원"</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"소수 의견·반대 의견·복수 주제·중복 제출",</a:t>
            </a:r>
          </a:p>
          <a:p xmlns:a="http://schemas.openxmlformats.org/drawingml/2006/main">
            <a:r>
              <a:t>        "hold": "소수 의견 재현·원문 역추적",</a:t>
            </a:r>
          </a:p>
          <a:p xmlns:a="http://schemas.openxmlformats.org/drawingml/2006/main">
            <a:r>
              <a:t>        "recovery": "수작업 결과와 대조해 분류·누락 오류 보정",</a:t>
            </a:r>
          </a:p>
          <a:p xmlns:a="http://schemas.openxmlformats.org/drawingml/2006/main">
            <a:r>
              <a:t>        "evidence": "주제별 원문 재현과 누락·오분류 수정 기록"</a:t>
            </a:r>
          </a:p>
          <a:p xmlns:a="http://schemas.openxmlformats.org/drawingml/2006/main">
            <a:r>
              <a:t>      },</a:t>
            </a:r>
          </a:p>
          <a:p xmlns:a="http://schemas.openxmlformats.org/drawingml/2006/main">
            <a:r>
              <a:t>      "data": {</a:t>
            </a:r>
          </a:p>
          <a:p xmlns:a="http://schemas.openxmlformats.org/drawingml/2006/main">
            <a:r>
              <a:t>        "source": "의견 원문·주제",</a:t>
            </a:r>
          </a:p>
          <a:p xmlns:a="http://schemas.openxmlformats.org/drawingml/2006/main">
            <a:r>
              <a:t>        "prepare": "응답 원문·문항·분류 결과의 연결",</a:t>
            </a:r>
          </a:p>
          <a:p xmlns:a="http://schemas.openxmlformats.org/drawingml/2006/main">
            <a:r>
              <a:t>        "output": "의견 원문",</a:t>
            </a:r>
          </a:p>
          <a:p xmlns:a="http://schemas.openxmlformats.org/drawingml/2006/main">
            <a:r>
              <a:t>        "refresh": "수작업 결과와 대조해 분류·누락 오류 보정"</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"PF-A14",</a:t>
            </a:r>
          </a:p>
          <a:p xmlns:a="http://schemas.openxmlformats.org/drawingml/2006/main">
            <a:r>
              <a:t>    "success": [</a:t>
            </a:r>
          </a:p>
          <a:p xmlns:a="http://schemas.openxmlformats.org/drawingml/2006/main">
            <a:r>
              <a:t>      "대량 의견의 주제 분류",</a:t>
            </a:r>
          </a:p>
          <a:p xmlns:a="http://schemas.openxmlformats.org/drawingml/2006/main">
            <a:r>
              <a:t>      "공무원 수정·해석과 결합"</a:t>
            </a:r>
          </a:p>
          <a:p xmlns:a="http://schemas.openxmlformats.org/drawingml/2006/main">
            <a:r>
              <a:t>    ],</a:t>
            </a:r>
          </a:p>
          <a:p xmlns:a="http://schemas.openxmlformats.org/drawingml/2006/main">
            <a:r>
              <a:t>    "risks": [</a:t>
            </a:r>
          </a:p>
          <a:p xmlns:a="http://schemas.openxmlformats.org/drawingml/2006/main">
            <a:r>
              <a:t>      "소수 의견·반대 근거 누락",</a:t>
            </a:r>
          </a:p>
          <a:p xmlns:a="http://schemas.openxmlformats.org/drawingml/2006/main">
            <a:r>
              <a:t>      "주제 빈도와 정책 타당성 혼동"</a:t>
            </a:r>
          </a:p>
          <a:p xmlns:a="http://schemas.openxmlformats.org/drawingml/2006/main">
            <a:r>
              <a:t>    ],</a:t>
            </a:r>
          </a:p>
          <a:p xmlns:a="http://schemas.openxmlformats.org/drawingml/2006/main">
            <a:r>
              <a:t>    "architecture": [</a:t>
            </a:r>
          </a:p>
          <a:p xmlns:a="http://schemas.openxmlformats.org/drawingml/2006/main">
            <a:r>
              <a:t>      "정책 의견수렴",</a:t>
            </a:r>
          </a:p>
          <a:p xmlns:a="http://schemas.openxmlformats.org/drawingml/2006/main">
            <a:r>
              <a:t>      "Consult 분류·요약",</a:t>
            </a:r>
          </a:p>
          <a:p xmlns:a="http://schemas.openxmlformats.org/drawingml/2006/main">
            <a:r>
              <a:t>      "의견 원문·주제",</a:t>
            </a:r>
          </a:p>
          <a:p xmlns:a="http://schemas.openxmlformats.org/drawingml/2006/main">
            <a:r>
              <a:t>      "정책 분석 담당"</a:t>
            </a:r>
          </a:p>
          <a:p xmlns:a="http://schemas.openxmlformats.org/drawingml/2006/main">
            <a:r>
              <a:t>    ],</a:t>
            </a:r>
          </a:p>
          <a:p xmlns:a="http://schemas.openxmlformats.org/drawingml/2006/main">
            <a:r>
              <a:t>    "transfers": [</a:t>
            </a:r>
          </a:p>
          <a:p xmlns:a="http://schemas.openxmlformats.org/drawingml/2006/main">
            <a:r>
              <a:t>      "의견 원문",</a:t>
            </a:r>
          </a:p>
          <a:p xmlns:a="http://schemas.openxmlformats.org/drawingml/2006/main">
            <a:r>
              <a:t>      "주제 후보",</a:t>
            </a:r>
          </a:p>
          <a:p xmlns:a="http://schemas.openxmlformats.org/drawingml/2006/main">
            <a:r>
              <a:t>      "주제별 요약",</a:t>
            </a:r>
          </a:p>
          <a:p xmlns:a="http://schemas.openxmlformats.org/drawingml/2006/main">
            <a:r>
              <a:t>      "담당자 검증"</a:t>
            </a:r>
          </a:p>
          <a:p xmlns:a="http://schemas.openxmlformats.org/drawingml/2006/main">
            <a:r>
              <a:t>    ],</a:t>
            </a:r>
          </a:p>
          <a:p xmlns:a="http://schemas.openxmlformats.org/drawingml/2006/main">
            <a:r>
              <a:t>    "control": "소수 의견 재현·원문 역추적",</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T035 / 분석지원·사람 검토·성과 구분 https://www.gov.uk/government/news/government-built-humphrey-ai-tool-reviews-responses-to-consultation-for-first-time-in-bid-to-save-millions</a:t>
            </a:r>
          </a:p>
          <a:p xmlns:a="http://schemas.openxmlformats.org/drawingml/2006/main">
            <a:r>
              <a:t>홈페이지 https://heen1987-ops.github.io/TS-business-Plan-001/index.html?view=platform-cases&amp;case=PF-A14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"PF-A14",</a:t>
            </a:r>
          </a:p>
          <a:p xmlns:a="http://schemas.openxmlformats.org/drawingml/2006/main">
            <a:r>
              <a:t>    "sourceId": "A14",</a:t>
            </a:r>
          </a:p>
          <a:p xmlns:a="http://schemas.openxmlformats.org/drawingml/2006/main">
            <a:r>
              <a:t>    "title": "영국 Consult",</a:t>
            </a:r>
          </a:p>
          <a:p xmlns:a="http://schemas.openxmlformats.org/drawingml/2006/main">
            <a:r>
              <a:t>    "region": "해외",</a:t>
            </a:r>
          </a:p>
          <a:p xmlns:a="http://schemas.openxmlformats.org/drawingml/2006/main">
            <a:r>
              <a:t>    "owner": "i.AI·스코틀랜드 / Consult(Humphrey)",</a:t>
            </a:r>
          </a:p>
          <a:p xmlns:a="http://schemas.openxmlformats.org/drawingml/2006/main">
            <a:r>
              <a:t>    "state": "정책 의견수렴 분석 최초 실증(2025-05 발표)",</a:t>
            </a:r>
          </a:p>
          <a:p xmlns:a="http://schemas.openxmlformats.org/drawingml/2006/main">
            <a:r>
              <a:t>    "period": "기존 원장 확인 2026.10.16",</a:t>
            </a:r>
          </a:p>
          <a:p xmlns:a="http://schemas.openxmlformats.org/drawingml/2006/main">
            <a:r>
              <a:t>    "fact": "공통 업무 앱 실증",</a:t>
            </a:r>
          </a:p>
          <a:p xmlns:a="http://schemas.openxmlformats.org/drawingml/2006/main">
            <a:r>
              <a:t>    "limit": "F1을 정확도76%로 쓰지 않음. 연7.5만일/2천만파운드는 전정부 확산 추정, 실현절감 아님",</a:t>
            </a:r>
          </a:p>
          <a:p xmlns:a="http://schemas.openxmlformats.org/drawingml/2006/main">
            <a:r>
              <a:t>    "nodes": [</a:t>
            </a:r>
          </a:p>
          <a:p xmlns:a="http://schemas.openxmlformats.org/drawingml/2006/main">
            <a:r>
              <a:t>      "정책 의견",</a:t>
            </a:r>
          </a:p>
          <a:p xmlns:a="http://schemas.openxmlformats.org/drawingml/2006/main">
            <a:r>
              <a:t>      "주제 분류",</a:t>
            </a:r>
          </a:p>
          <a:p xmlns:a="http://schemas.openxmlformats.org/drawingml/2006/main">
            <a:r>
              <a:t>      "분석·요약",</a:t>
            </a:r>
          </a:p>
          <a:p xmlns:a="http://schemas.openxmlformats.org/drawingml/2006/main">
            <a:r>
              <a:t>      "공무원 수정"</a:t>
            </a:r>
          </a:p>
          <a:p xmlns:a="http://schemas.openxmlformats.org/drawingml/2006/main">
            <a:r>
              <a:t>    ],</a:t>
            </a:r>
          </a:p>
          <a:p xmlns:a="http://schemas.openxmlformats.org/drawingml/2006/main">
            <a:r>
              <a:t>    "apply": "빈도 높은 의견과 소수·반대 의견을 함께 추적하는 정책 검토 지원",</a:t>
            </a:r>
          </a:p>
          <a:p xmlns:a="http://schemas.openxmlformats.org/drawingml/2006/main">
            <a:r>
              <a:t>    "delta": "업무분장·관할·복수부서 배정",</a:t>
            </a:r>
          </a:p>
          <a:p xmlns:a="http://schemas.openxmlformats.org/drawingml/2006/main">
            <a:r>
              <a:t>    "test": "재배정률·최종 해결시간의 기준선·비교 평가",</a:t>
            </a:r>
          </a:p>
          <a:p xmlns:a="http://schemas.openxmlformats.org/drawingml/2006/main">
            <a:r>
              <a:t>    "url": "https://www.gov.uk/government/news/government-built-humphrey-ai-tool-reviews-responses-to-consultation-for-first-time-in-bid-to-save-millions",</a:t>
            </a:r>
          </a:p>
          <a:p xmlns:a="http://schemas.openxmlformats.org/drawingml/2006/main">
            <a:r>
              <a:t>    "urls": [</a:t>
            </a:r>
          </a:p>
          <a:p xmlns:a="http://schemas.openxmlformats.org/drawingml/2006/main">
            <a:r>
              <a:t>      "https://www.gov.uk/government/news/government-built-humphrey-ai-tool-reviews-responses-to-consultation-for-first-time-in-bid-to-save-millions"</a:t>
            </a:r>
          </a:p>
          <a:p xmlns:a="http://schemas.openxmlformats.org/drawingml/2006/main">
            <a:r>
              <a:t>    ],</a:t>
            </a:r>
          </a:p>
          <a:p xmlns:a="http://schemas.openxmlformats.org/drawingml/2006/main">
            <a:r>
              <a:t>    "basis": "T035 / 분석지원·사람 검토·성과 구분",</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"재배정률·최종 해결시간",</a:t>
            </a:r>
          </a:p>
          <a:p xmlns:a="http://schemas.openxmlformats.org/drawingml/2006/main">
            <a:r>
              <a:t>    "group": "운영·실증",</a:t>
            </a:r>
          </a:p>
          <a:p xmlns:a="http://schemas.openxmlformats.org/drawingml/2006/main">
            <a:r>
              <a:t>    "sourceDetail": "응답을 AI로 주제 분류·요약하고 공무원이 수정·검토\n최초 실증은 기존 수작업 검토를 병행, 사람 검증",</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"PF-A14",</a:t>
            </a:r>
          </a:p>
          <a:p xmlns:a="http://schemas.openxmlformats.org/drawingml/2006/main">
            <a:r>
              <a:t>    "canonicalId": "PF-A14",</a:t>
            </a:r>
          </a:p>
          <a:p xmlns:a="http://schemas.openxmlformats.org/drawingml/2006/main">
            <a:r>
              <a:t>    "purpose": "정책 의견수렴 자료의 주제별 분석",</a:t>
            </a:r>
          </a:p>
          <a:p xmlns:a="http://schemas.openxmlformats.org/drawingml/2006/main">
            <a:r>
              <a:t>    "users": "정책 담당·검토 공무원",</a:t>
            </a:r>
          </a:p>
          <a:p xmlns:a="http://schemas.openxmlformats.org/drawingml/2006/main">
            <a:r>
              <a:t>    "scope": [</a:t>
            </a:r>
          </a:p>
          <a:p xmlns:a="http://schemas.openxmlformats.org/drawingml/2006/main">
            <a:r>
              <a:t>      "의견 분류",</a:t>
            </a:r>
          </a:p>
          <a:p xmlns:a="http://schemas.openxmlformats.org/drawingml/2006/main">
            <a:r>
              <a:t>      "요약",</a:t>
            </a:r>
          </a:p>
          <a:p xmlns:a="http://schemas.openxmlformats.org/drawingml/2006/main">
            <a:r>
              <a:t>      "담당자 수정"</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"정책 의견수렴",</a:t>
            </a:r>
          </a:p>
          <a:p xmlns:a="http://schemas.openxmlformats.org/drawingml/2006/main">
            <a:r>
              <a:t>        "detail": "협의 주제·질문·응답 묶음 정의",</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"의견 분류 / 요약 / 담당자 수정",</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"Consult 분류·요약",</a:t>
            </a:r>
          </a:p>
          <a:p xmlns:a="http://schemas.openxmlformats.org/drawingml/2006/main">
            <a:r>
              <a:t>        "detail": "의견의 주제 후보와 주제별 요약 생성",</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"정책 분석 담당",</a:t>
            </a:r>
          </a:p>
          <a:p xmlns:a="http://schemas.openxmlformats.org/drawingml/2006/main">
            <a:r>
              <a:t>        "detail": "소수·반대 의견을 포함한 담당자 검토",</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"의견 원문·주제",</a:t>
            </a:r>
          </a:p>
          <a:p xmlns:a="http://schemas.openxmlformats.org/drawingml/2006/main">
            <a:r>
              <a:t>        "detail": "응답 원문·문항·분류 결과의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"수작업 결과와 대조해 분류·누락 오류 보정",</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"정책 의견",</a:t>
            </a:r>
          </a:p>
          <a:p xmlns:a="http://schemas.openxmlformats.org/drawingml/2006/main">
            <a:r>
              <a:t>        "input": "협의 주제·질문·응답 묶음 정의",</a:t>
            </a:r>
          </a:p>
          <a:p xmlns:a="http://schemas.openxmlformats.org/drawingml/2006/main">
            <a:r>
              <a:t>        "process": "응답 원문·문항·분류 결과의 연결",</a:t>
            </a:r>
          </a:p>
          <a:p xmlns:a="http://schemas.openxmlformats.org/drawingml/2006/main">
            <a:r>
              <a:t>        "output": "의견 원문"</a:t>
            </a:r>
          </a:p>
          <a:p xmlns:a="http://schemas.openxmlformats.org/drawingml/2006/main">
            <a:r>
              <a:t>      },</a:t>
            </a:r>
          </a:p>
          <a:p xmlns:a="http://schemas.openxmlformats.org/drawingml/2006/main">
            <a:r>
              <a:t>      {</a:t>
            </a:r>
          </a:p>
          <a:p xmlns:a="http://schemas.openxmlformats.org/drawingml/2006/main">
            <a:r>
              <a:t>        "title": "주제 분류",</a:t>
            </a:r>
          </a:p>
          <a:p xmlns:a="http://schemas.openxmlformats.org/drawingml/2006/main">
            <a:r>
              <a:t>        "input": "의견 원문",</a:t>
            </a:r>
          </a:p>
          <a:p xmlns:a="http://schemas.openxmlformats.org/drawingml/2006/main">
            <a:r>
              <a:t>        "process": "의견의 주제 후보와 주제별 요약 생성",</a:t>
            </a:r>
          </a:p>
          <a:p xmlns:a="http://schemas.openxmlformats.org/drawingml/2006/main">
            <a:r>
              <a:t>        "output": "주제 후보"</a:t>
            </a:r>
          </a:p>
          <a:p xmlns:a="http://schemas.openxmlformats.org/drawingml/2006/main">
            <a:r>
              <a:t>      },</a:t>
            </a:r>
          </a:p>
          <a:p xmlns:a="http://schemas.openxmlformats.org/drawingml/2006/main">
            <a:r>
              <a:t>      {</a:t>
            </a:r>
          </a:p>
          <a:p xmlns:a="http://schemas.openxmlformats.org/drawingml/2006/main">
            <a:r>
              <a:t>        "title": "분석·요약",</a:t>
            </a:r>
          </a:p>
          <a:p xmlns:a="http://schemas.openxmlformats.org/drawingml/2006/main">
            <a:r>
              <a:t>        "input": "주제 후보",</a:t>
            </a:r>
          </a:p>
          <a:p xmlns:a="http://schemas.openxmlformats.org/drawingml/2006/main">
            <a:r>
              <a:t>        "process": "소수 의견 재현·원문 역추적",</a:t>
            </a:r>
          </a:p>
          <a:p xmlns:a="http://schemas.openxmlformats.org/drawingml/2006/main">
            <a:r>
              <a:t>        "output": "주제별 요약"</a:t>
            </a:r>
          </a:p>
          <a:p xmlns:a="http://schemas.openxmlformats.org/drawingml/2006/main">
            <a:r>
              <a:t>      },</a:t>
            </a:r>
          </a:p>
          <a:p xmlns:a="http://schemas.openxmlformats.org/drawingml/2006/main">
            <a:r>
              <a:t>      {</a:t>
            </a:r>
          </a:p>
          <a:p xmlns:a="http://schemas.openxmlformats.org/drawingml/2006/main">
            <a:r>
              <a:t>        "title": "공무원 수정",</a:t>
            </a:r>
          </a:p>
          <a:p xmlns:a="http://schemas.openxmlformats.org/drawingml/2006/main">
            <a:r>
              <a:t>        "input": "주제별 요약",</a:t>
            </a:r>
          </a:p>
          <a:p xmlns:a="http://schemas.openxmlformats.org/drawingml/2006/main">
            <a:r>
              <a:t>        "process": "소수·반대 의견을 포함한 담당자 검토",</a:t>
            </a:r>
          </a:p>
          <a:p xmlns:a="http://schemas.openxmlformats.org/drawingml/2006/main">
            <a:r>
              <a:t>        "output": "담당자 검증"</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"정책 의견을 주제별 분류하고 원문을 검토",</a:t>
            </a:r>
          </a:p>
          <a:p xmlns:a="http://schemas.openxmlformats.org/drawingml/2006/main">
            <a:r>
              <a:t>      "exception": "소수 의견·반대 의견·복수 주제·중복 제출",</a:t>
            </a:r>
          </a:p>
          <a:p xmlns:a="http://schemas.openxmlformats.org/drawingml/2006/main">
            <a:r>
              <a:t>      "evidence": "주제별 원문 재현과 누락·오분류 수정 기록",</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"정책 담당·검토 공무원",</a:t>
            </a:r>
          </a:p>
          <a:p xmlns:a="http://schemas.openxmlformats.org/drawingml/2006/main">
            <a:r>
              <a:t>          "processing": "협의 주제·질문·응답 묶음 정의",</a:t>
            </a:r>
          </a:p>
          <a:p xmlns:a="http://schemas.openxmlformats.org/drawingml/2006/main">
            <a:r>
              <a:t>          "output": "의견 원문"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"의견 원문·주제",</a:t>
            </a:r>
          </a:p>
          <a:p xmlns:a="http://schemas.openxmlformats.org/drawingml/2006/main">
            <a:r>
              <a:t>          "processing": "응답 원문·문항·분류 결과의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"의견 원문",</a:t>
            </a:r>
          </a:p>
          <a:p xmlns:a="http://schemas.openxmlformats.org/drawingml/2006/main">
            <a:r>
              <a:t>          "processing": "의견의 주제 후보와 주제별 요약 생성",</a:t>
            </a:r>
          </a:p>
          <a:p xmlns:a="http://schemas.openxmlformats.org/drawingml/2006/main">
            <a:r>
              <a:t>          "output": "주제별 요약"</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"주제별 요약",</a:t>
            </a:r>
          </a:p>
          <a:p xmlns:a="http://schemas.openxmlformats.org/drawingml/2006/main">
            <a:r>
              <a:t>          "processing": "소수·반대 의견을 포함한 담당자 검토",</a:t>
            </a:r>
          </a:p>
          <a:p xmlns:a="http://schemas.openxmlformats.org/drawingml/2006/main">
            <a:r>
              <a:t>          "output": "담당자 검증"</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"수작업 결과와 대조해 분류·누락 오류 보정",</a:t>
            </a:r>
          </a:p>
          <a:p xmlns:a="http://schemas.openxmlformats.org/drawingml/2006/main">
            <a:r>
              <a:t>          "output": "주제별 원문 재현과 누락·오분류 수정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"수작업 결과와 대조해 분류·누락 오류 보정",</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"T035 / 분석지원·사람 검토·성과 구분",</a:t>
            </a:r>
          </a:p>
          <a:p xmlns:a="http://schemas.openxmlformats.org/drawingml/2006/main">
            <a:r>
              <a:t>        "url": "https://www.gov.uk/government/news/government-built-humphrey-ai-tool-reviews-responses-to-consultation-for-first-time-in-bid-to-save-millions"</a:t>
            </a:r>
          </a:p>
          <a:p xmlns:a="http://schemas.openxmlformats.org/drawingml/2006/main">
            <a:r>
              <a:t>      }</a:t>
            </a:r>
          </a:p>
          <a:p xmlns:a="http://schemas.openxmlformats.org/drawingml/2006/main">
            <a:r>
              <a:t>    ],</a:t>
            </a:r>
          </a:p>
          <a:p xmlns:a="http://schemas.openxmlformats.org/drawingml/2006/main">
            <a:r>
              <a:t>    "implication": "빈도 높은 의견과 소수·반대 의견을 함께 추적하는 정책 검토 지원",</a:t>
            </a:r>
          </a:p>
          <a:p xmlns:a="http://schemas.openxmlformats.org/drawingml/2006/main">
            <a:r>
              <a:t>    "local": "빈도 높은 의견과 소수·반대 의견을 함께 추적하는 정책 검토 지원",</a:t>
            </a:r>
          </a:p>
          <a:p xmlns:a="http://schemas.openxmlformats.org/drawingml/2006/main">
            <a:r>
              <a:t>    "sourceDetail": "응답을 AI로 주제 분류·요약하고 공무원이 수정·검토\n최초 실증은 기존 수작업 검토를 병행, 사람 검증",</a:t>
            </a:r>
          </a:p>
          <a:p xmlns:a="http://schemas.openxmlformats.org/drawingml/2006/main">
            <a:r>
              <a:t>    "narrative": [</a:t>
            </a:r>
          </a:p>
          <a:p xmlns:a="http://schemas.openxmlformats.org/drawingml/2006/main">
            <a:r>
              <a:t>      "영국 Consult의 정책 의견수렴 분석 사례. 다수의 응답을 주제별로 분류·요약해 정책 담당자의 검토를 돕는 방식이며 의견의 채택이나 정책 결정을 자동화하는 기능과 구분.",</a:t>
            </a:r>
          </a:p>
          <a:p xmlns:a="http://schemas.openxmlformats.org/drawingml/2006/main">
            <a:r>
              <a:t>      "설문 문항·응답 원문을 입력하고 주제 후보 생성, 응답별 분류, 주제별 요약, 검토자의 수정으로 이어지는 논리 흐름. 원문 응답과 요약의 연결을 유지해 소수·반대 의견이 요약에서 누락됐는지 추적하는 구성.",</a:t>
            </a:r>
          </a:p>
          <a:p xmlns:a="http://schemas.openxmlformats.org/drawingml/2006/main">
            <a:r>
              <a:t>      "CCK의 민원·의견 분석에서는 전체 빈도만으로 성과를 판단하기 어려움. 다중 주제, 소수 의견, 상반된 입장, 부정확한 인용을 포함한 정답셋과 담당자의 수정 시간을 함께 측정하는 방식의 적용."</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"정책 의견 접수",</a:t>
            </a:r>
          </a:p>
          <a:p xmlns:a="http://schemas.openxmlformats.org/drawingml/2006/main">
            <a:r>
              <a:t>          "layer": "이용 접점",</a:t>
            </a:r>
          </a:p>
          <a:p xmlns:a="http://schemas.openxmlformats.org/drawingml/2006/main">
            <a:r>
              <a:t>          "detail": "정책 담당·검토 공무원",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"협의·문항 범위",</a:t>
            </a:r>
          </a:p>
          <a:p xmlns:a="http://schemas.openxmlformats.org/drawingml/2006/main">
            <a:r>
              <a:t>          "layer": "업무 문맥",</a:t>
            </a:r>
          </a:p>
          <a:p xmlns:a="http://schemas.openxmlformats.org/drawingml/2006/main">
            <a:r>
              <a:t>          "detail": "협의 주제·질문·응답 묶음 정의",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"응답 원문 조회",</a:t>
            </a:r>
          </a:p>
          <a:p xmlns:a="http://schemas.openxmlformats.org/drawingml/2006/main">
            <a:r>
              <a:t>          "layer": "자료 조회",</a:t>
            </a:r>
          </a:p>
          <a:p xmlns:a="http://schemas.openxmlformats.org/drawingml/2006/main">
            <a:r>
              <a:t>          "detail": "의견 원문",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"주제 분류·요약",</a:t>
            </a:r>
          </a:p>
          <a:p xmlns:a="http://schemas.openxmlformats.org/drawingml/2006/main">
            <a:r>
              <a:t>          "layer": "핵심 처리",</a:t>
            </a:r>
          </a:p>
          <a:p xmlns:a="http://schemas.openxmlformats.org/drawingml/2006/main">
            <a:r>
              <a:t>          "detail": "의견의 주제 후보와 주제별 요약 생성",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"소수·반대 의견 검사",</a:t>
            </a:r>
          </a:p>
          <a:p xmlns:a="http://schemas.openxmlformats.org/drawingml/2006/main">
            <a:r>
              <a:t>          "layer": "결과 검증",</a:t>
            </a:r>
          </a:p>
          <a:p xmlns:a="http://schemas.openxmlformats.org/drawingml/2006/main">
            <a:r>
              <a:t>          "detail": "소수 의견 재현·원문 역추적",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"공무원 수정",</a:t>
            </a:r>
          </a:p>
          <a:p xmlns:a="http://schemas.openxmlformats.org/drawingml/2006/main">
            <a:r>
              <a:t>          "layer": "사람 확인",</a:t>
            </a:r>
          </a:p>
          <a:p xmlns:a="http://schemas.openxmlformats.org/drawingml/2006/main">
            <a:r>
              <a:t>          "detail": "정책 의견을 주제별 분류하고 원문을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"정책 분석 자료",</a:t>
            </a:r>
          </a:p>
          <a:p xmlns:a="http://schemas.openxmlformats.org/drawingml/2006/main">
            <a:r>
              <a:t>          "layer": "업무 연결",</a:t>
            </a:r>
          </a:p>
          <a:p xmlns:a="http://schemas.openxmlformats.org/drawingml/2006/main">
            <a:r>
              <a:t>          "detail": "소수·반대 의견을 포함한 담당자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"수작업 대조",</a:t>
            </a:r>
          </a:p>
          <a:p xmlns:a="http://schemas.openxmlformats.org/drawingml/2006/main">
            <a:r>
              <a:t>          "layer": "운영 관측",</a:t>
            </a:r>
          </a:p>
          <a:p xmlns:a="http://schemas.openxmlformats.org/drawingml/2006/main">
            <a:r>
              <a:t>          "detail": "수작업 결과와 대조해 분류·누락 오류 보정",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"응답·문항 자료",</a:t>
            </a:r>
          </a:p>
          <a:p xmlns:a="http://schemas.openxmlformats.org/drawingml/2006/main">
            <a:r>
              <a:t>          "layer": "데이터 원천",</a:t>
            </a:r>
          </a:p>
          <a:p xmlns:a="http://schemas.openxmlformats.org/drawingml/2006/main">
            <a:r>
              <a:t>          "detail": "의견 원문·주제",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"원문·분류 연결",</a:t>
            </a:r>
          </a:p>
          <a:p xmlns:a="http://schemas.openxmlformats.org/drawingml/2006/main">
            <a:r>
              <a:t>          "layer": "준비·갱신",</a:t>
            </a:r>
          </a:p>
          <a:p xmlns:a="http://schemas.openxmlformats.org/drawingml/2006/main">
            <a:r>
              <a:t>          "detail": "응답 원문·문항·분류 결과의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"주제·검토 이력",</a:t>
            </a:r>
          </a:p>
          <a:p xmlns:a="http://schemas.openxmlformats.org/drawingml/2006/main">
            <a:r>
              <a:t>          "layer": "상태·지식 저장",</a:t>
            </a:r>
          </a:p>
          <a:p xmlns:a="http://schemas.openxmlformats.org/drawingml/2006/main">
            <a:r>
              <a:t>          "detail": "주제별 원문 재현과 누락·오분류 수정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"해석·채택 책임",</a:t>
            </a:r>
          </a:p>
          <a:p xmlns:a="http://schemas.openxmlformats.org/drawingml/2006/main">
            <a:r>
              <a:t>          "layer": "권한·정책",</a:t>
            </a:r>
          </a:p>
          <a:p xmlns:a="http://schemas.openxmlformats.org/drawingml/2006/main">
            <a:r>
              <a:t>          "detail": "소수 의견·반대 의견·복수 주제·중복 제출",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"협의 주제·질문·응답 묶음 정의",</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"의견 원문",</a:t>
            </a:r>
          </a:p>
          <a:p xmlns:a="http://schemas.openxmlformats.org/drawingml/2006/main">
            <a:r>
              <a:t>          "check": "소수 의견 재현·원문 역추적"</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"주제 후보",</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"주제별 요약",</a:t>
            </a:r>
          </a:p>
          <a:p xmlns:a="http://schemas.openxmlformats.org/drawingml/2006/main">
            <a:r>
              <a:t>          "check": "소수 의견·반대 의견·복수 주제·중복 제출"</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"주제별 요약",</a:t>
            </a:r>
          </a:p>
          <a:p xmlns:a="http://schemas.openxmlformats.org/drawingml/2006/main">
            <a:r>
              <a:t>          "check": "소수·반대 의견을 포함한 담당자 검토"</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"담당자 검증",</a:t>
            </a:r>
          </a:p>
          <a:p xmlns:a="http://schemas.openxmlformats.org/drawingml/2006/main">
            <a:r>
              <a:t>          "check": "주제별 원문 재현과 누락·오분류 수정 기록"</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"정책 의견수렴 자료의 주제별 분석 / 의견 분류·요약·담당자 수정",</a:t>
            </a:r>
          </a:p>
          <a:p xmlns:a="http://schemas.openxmlformats.org/drawingml/2006/main">
            <a:r>
              <a:t>        "extension": "빈도 높은 의견과 소수·반대 의견을 함께 추적하는 정책 검토 지원"</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"소수 의견·반대 의견·복수 주제·중복 제출",</a:t>
            </a:r>
          </a:p>
          <a:p xmlns:a="http://schemas.openxmlformats.org/drawingml/2006/main">
            <a:r>
              <a:t>        "hold": "소수 의견 재현·원문 역추적",</a:t>
            </a:r>
          </a:p>
          <a:p xmlns:a="http://schemas.openxmlformats.org/drawingml/2006/main">
            <a:r>
              <a:t>        "recovery": "수작업 결과와 대조해 분류·누락 오류 보정",</a:t>
            </a:r>
          </a:p>
          <a:p xmlns:a="http://schemas.openxmlformats.org/drawingml/2006/main">
            <a:r>
              <a:t>        "evidence": "주제별 원문 재현과 누락·오분류 수정 기록"</a:t>
            </a:r>
          </a:p>
          <a:p xmlns:a="http://schemas.openxmlformats.org/drawingml/2006/main">
            <a:r>
              <a:t>      },</a:t>
            </a:r>
          </a:p>
          <a:p xmlns:a="http://schemas.openxmlformats.org/drawingml/2006/main">
            <a:r>
              <a:t>      "data": {</a:t>
            </a:r>
          </a:p>
          <a:p xmlns:a="http://schemas.openxmlformats.org/drawingml/2006/main">
            <a:r>
              <a:t>        "source": "의견 원문·주제",</a:t>
            </a:r>
          </a:p>
          <a:p xmlns:a="http://schemas.openxmlformats.org/drawingml/2006/main">
            <a:r>
              <a:t>        "prepare": "응답 원문·문항·분류 결과의 연결",</a:t>
            </a:r>
          </a:p>
          <a:p xmlns:a="http://schemas.openxmlformats.org/drawingml/2006/main">
            <a:r>
              <a:t>        "output": "의견 원문",</a:t>
            </a:r>
          </a:p>
          <a:p xmlns:a="http://schemas.openxmlformats.org/drawingml/2006/main">
            <a:r>
              <a:t>        "refresh": "수작업 결과와 대조해 분류·누락 오류 보정"</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"PF-A14",</a:t>
            </a:r>
          </a:p>
          <a:p xmlns:a="http://schemas.openxmlformats.org/drawingml/2006/main">
            <a:r>
              <a:t>    "success": [</a:t>
            </a:r>
          </a:p>
          <a:p xmlns:a="http://schemas.openxmlformats.org/drawingml/2006/main">
            <a:r>
              <a:t>      "대량 의견의 주제 분류",</a:t>
            </a:r>
          </a:p>
          <a:p xmlns:a="http://schemas.openxmlformats.org/drawingml/2006/main">
            <a:r>
              <a:t>      "공무원 수정·해석과 결합"</a:t>
            </a:r>
          </a:p>
          <a:p xmlns:a="http://schemas.openxmlformats.org/drawingml/2006/main">
            <a:r>
              <a:t>    ],</a:t>
            </a:r>
          </a:p>
          <a:p xmlns:a="http://schemas.openxmlformats.org/drawingml/2006/main">
            <a:r>
              <a:t>    "risks": [</a:t>
            </a:r>
          </a:p>
          <a:p xmlns:a="http://schemas.openxmlformats.org/drawingml/2006/main">
            <a:r>
              <a:t>      "소수 의견·반대 근거 누락",</a:t>
            </a:r>
          </a:p>
          <a:p xmlns:a="http://schemas.openxmlformats.org/drawingml/2006/main">
            <a:r>
              <a:t>      "주제 빈도와 정책 타당성 혼동"</a:t>
            </a:r>
          </a:p>
          <a:p xmlns:a="http://schemas.openxmlformats.org/drawingml/2006/main">
            <a:r>
              <a:t>    ],</a:t>
            </a:r>
          </a:p>
          <a:p xmlns:a="http://schemas.openxmlformats.org/drawingml/2006/main">
            <a:r>
              <a:t>    "architecture": [</a:t>
            </a:r>
          </a:p>
          <a:p xmlns:a="http://schemas.openxmlformats.org/drawingml/2006/main">
            <a:r>
              <a:t>      "정책 의견수렴",</a:t>
            </a:r>
          </a:p>
          <a:p xmlns:a="http://schemas.openxmlformats.org/drawingml/2006/main">
            <a:r>
              <a:t>      "Consult 분류·요약",</a:t>
            </a:r>
          </a:p>
          <a:p xmlns:a="http://schemas.openxmlformats.org/drawingml/2006/main">
            <a:r>
              <a:t>      "의견 원문·주제",</a:t>
            </a:r>
          </a:p>
          <a:p xmlns:a="http://schemas.openxmlformats.org/drawingml/2006/main">
            <a:r>
              <a:t>      "정책 분석 담당"</a:t>
            </a:r>
          </a:p>
          <a:p xmlns:a="http://schemas.openxmlformats.org/drawingml/2006/main">
            <a:r>
              <a:t>    ],</a:t>
            </a:r>
          </a:p>
          <a:p xmlns:a="http://schemas.openxmlformats.org/drawingml/2006/main">
            <a:r>
              <a:t>    "transfers": [</a:t>
            </a:r>
          </a:p>
          <a:p xmlns:a="http://schemas.openxmlformats.org/drawingml/2006/main">
            <a:r>
              <a:t>      "의견 원문",</a:t>
            </a:r>
          </a:p>
          <a:p xmlns:a="http://schemas.openxmlformats.org/drawingml/2006/main">
            <a:r>
              <a:t>      "주제 후보",</a:t>
            </a:r>
          </a:p>
          <a:p xmlns:a="http://schemas.openxmlformats.org/drawingml/2006/main">
            <a:r>
              <a:t>      "주제별 요약",</a:t>
            </a:r>
          </a:p>
          <a:p xmlns:a="http://schemas.openxmlformats.org/drawingml/2006/main">
            <a:r>
              <a:t>      "담당자 검증"</a:t>
            </a:r>
          </a:p>
          <a:p xmlns:a="http://schemas.openxmlformats.org/drawingml/2006/main">
            <a:r>
              <a:t>    ],</a:t>
            </a:r>
          </a:p>
          <a:p xmlns:a="http://schemas.openxmlformats.org/drawingml/2006/main">
            <a:r>
              <a:t>    "control": "소수 의견 재현·원문 역추적",</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T035 / 분석지원·사람 검토·성과 구분 https://www.gov.uk/government/news/government-built-humphrey-ai-tool-reviews-responses-to-consultation-for-first-time-in-bid-to-save-millions</a:t>
            </a:r>
          </a:p>
          <a:p xmlns:a="http://schemas.openxmlformats.org/drawingml/2006/main">
            <a:r>
              <a:t>홈페이지 https://heen1987-ops.github.io/TS-business-Plan-001/index.html?view=platform-cases&amp;case=PF-A14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"PF-A14",</a:t>
            </a:r>
          </a:p>
          <a:p xmlns:a="http://schemas.openxmlformats.org/drawingml/2006/main">
            <a:r>
              <a:t>    "sourceId": "A14",</a:t>
            </a:r>
          </a:p>
          <a:p xmlns:a="http://schemas.openxmlformats.org/drawingml/2006/main">
            <a:r>
              <a:t>    "title": "영국 Consult",</a:t>
            </a:r>
          </a:p>
          <a:p xmlns:a="http://schemas.openxmlformats.org/drawingml/2006/main">
            <a:r>
              <a:t>    "region": "해외",</a:t>
            </a:r>
          </a:p>
          <a:p xmlns:a="http://schemas.openxmlformats.org/drawingml/2006/main">
            <a:r>
              <a:t>    "owner": "i.AI·스코틀랜드 / Consult(Humphrey)",</a:t>
            </a:r>
          </a:p>
          <a:p xmlns:a="http://schemas.openxmlformats.org/drawingml/2006/main">
            <a:r>
              <a:t>    "state": "정책 의견수렴 분석 최초 실증(2025-05 발표)",</a:t>
            </a:r>
          </a:p>
          <a:p xmlns:a="http://schemas.openxmlformats.org/drawingml/2006/main">
            <a:r>
              <a:t>    "period": "기존 원장 확인 2026.10.16",</a:t>
            </a:r>
          </a:p>
          <a:p xmlns:a="http://schemas.openxmlformats.org/drawingml/2006/main">
            <a:r>
              <a:t>    "fact": "공통 업무 앱 실증",</a:t>
            </a:r>
          </a:p>
          <a:p xmlns:a="http://schemas.openxmlformats.org/drawingml/2006/main">
            <a:r>
              <a:t>    "limit": "F1을 정확도76%로 쓰지 않음. 연7.5만일/2천만파운드는 전정부 확산 추정, 실현절감 아님",</a:t>
            </a:r>
          </a:p>
          <a:p xmlns:a="http://schemas.openxmlformats.org/drawingml/2006/main">
            <a:r>
              <a:t>    "nodes": [</a:t>
            </a:r>
          </a:p>
          <a:p xmlns:a="http://schemas.openxmlformats.org/drawingml/2006/main">
            <a:r>
              <a:t>      "정책 의견",</a:t>
            </a:r>
          </a:p>
          <a:p xmlns:a="http://schemas.openxmlformats.org/drawingml/2006/main">
            <a:r>
              <a:t>      "주제 분류",</a:t>
            </a:r>
          </a:p>
          <a:p xmlns:a="http://schemas.openxmlformats.org/drawingml/2006/main">
            <a:r>
              <a:t>      "분석·요약",</a:t>
            </a:r>
          </a:p>
          <a:p xmlns:a="http://schemas.openxmlformats.org/drawingml/2006/main">
            <a:r>
              <a:t>      "공무원 수정"</a:t>
            </a:r>
          </a:p>
          <a:p xmlns:a="http://schemas.openxmlformats.org/drawingml/2006/main">
            <a:r>
              <a:t>    ],</a:t>
            </a:r>
          </a:p>
          <a:p xmlns:a="http://schemas.openxmlformats.org/drawingml/2006/main">
            <a:r>
              <a:t>    "apply": "빈도 높은 의견과 소수·반대 의견을 함께 추적하는 정책 검토 지원",</a:t>
            </a:r>
          </a:p>
          <a:p xmlns:a="http://schemas.openxmlformats.org/drawingml/2006/main">
            <a:r>
              <a:t>    "delta": "업무분장·관할·복수부서 배정",</a:t>
            </a:r>
          </a:p>
          <a:p xmlns:a="http://schemas.openxmlformats.org/drawingml/2006/main">
            <a:r>
              <a:t>    "test": "재배정률·최종 해결시간의 기준선·비교 평가",</a:t>
            </a:r>
          </a:p>
          <a:p xmlns:a="http://schemas.openxmlformats.org/drawingml/2006/main">
            <a:r>
              <a:t>    "url": "https://www.gov.uk/government/news/government-built-humphrey-ai-tool-reviews-responses-to-consultation-for-first-time-in-bid-to-save-millions",</a:t>
            </a:r>
          </a:p>
          <a:p xmlns:a="http://schemas.openxmlformats.org/drawingml/2006/main">
            <a:r>
              <a:t>    "urls": [</a:t>
            </a:r>
          </a:p>
          <a:p xmlns:a="http://schemas.openxmlformats.org/drawingml/2006/main">
            <a:r>
              <a:t>      "https://www.gov.uk/government/news/government-built-humphrey-ai-tool-reviews-responses-to-consultation-for-first-time-in-bid-to-save-millions"</a:t>
            </a:r>
          </a:p>
          <a:p xmlns:a="http://schemas.openxmlformats.org/drawingml/2006/main">
            <a:r>
              <a:t>    ],</a:t>
            </a:r>
          </a:p>
          <a:p xmlns:a="http://schemas.openxmlformats.org/drawingml/2006/main">
            <a:r>
              <a:t>    "basis": "T035 / 분석지원·사람 검토·성과 구분",</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"재배정률·최종 해결시간",</a:t>
            </a:r>
          </a:p>
          <a:p xmlns:a="http://schemas.openxmlformats.org/drawingml/2006/main">
            <a:r>
              <a:t>    "group": "운영·실증",</a:t>
            </a:r>
          </a:p>
          <a:p xmlns:a="http://schemas.openxmlformats.org/drawingml/2006/main">
            <a:r>
              <a:t>    "sourceDetail": "응답을 AI로 주제 분류·요약하고 공무원이 수정·검토\n최초 실증은 기존 수작업 검토를 병행, 사람 검증",</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"PF-A14",</a:t>
            </a:r>
          </a:p>
          <a:p xmlns:a="http://schemas.openxmlformats.org/drawingml/2006/main">
            <a:r>
              <a:t>    "canonicalId": "PF-A14",</a:t>
            </a:r>
          </a:p>
          <a:p xmlns:a="http://schemas.openxmlformats.org/drawingml/2006/main">
            <a:r>
              <a:t>    "purpose": "정책 의견수렴 자료의 주제별 분석",</a:t>
            </a:r>
          </a:p>
          <a:p xmlns:a="http://schemas.openxmlformats.org/drawingml/2006/main">
            <a:r>
              <a:t>    "users": "정책 담당·검토 공무원",</a:t>
            </a:r>
          </a:p>
          <a:p xmlns:a="http://schemas.openxmlformats.org/drawingml/2006/main">
            <a:r>
              <a:t>    "scope": [</a:t>
            </a:r>
          </a:p>
          <a:p xmlns:a="http://schemas.openxmlformats.org/drawingml/2006/main">
            <a:r>
              <a:t>      "의견 분류",</a:t>
            </a:r>
          </a:p>
          <a:p xmlns:a="http://schemas.openxmlformats.org/drawingml/2006/main">
            <a:r>
              <a:t>      "요약",</a:t>
            </a:r>
          </a:p>
          <a:p xmlns:a="http://schemas.openxmlformats.org/drawingml/2006/main">
            <a:r>
              <a:t>      "담당자 수정"</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"정책 의견수렴",</a:t>
            </a:r>
          </a:p>
          <a:p xmlns:a="http://schemas.openxmlformats.org/drawingml/2006/main">
            <a:r>
              <a:t>        "detail": "협의 주제·질문·응답 묶음 정의",</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"의견 분류 / 요약 / 담당자 수정",</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"Consult 분류·요약",</a:t>
            </a:r>
          </a:p>
          <a:p xmlns:a="http://schemas.openxmlformats.org/drawingml/2006/main">
            <a:r>
              <a:t>        "detail": "의견의 주제 후보와 주제별 요약 생성",</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"정책 분석 담당",</a:t>
            </a:r>
          </a:p>
          <a:p xmlns:a="http://schemas.openxmlformats.org/drawingml/2006/main">
            <a:r>
              <a:t>        "detail": "소수·반대 의견을 포함한 담당자 검토",</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"의견 원문·주제",</a:t>
            </a:r>
          </a:p>
          <a:p xmlns:a="http://schemas.openxmlformats.org/drawingml/2006/main">
            <a:r>
              <a:t>        "detail": "응답 원문·문항·분류 결과의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"수작업 결과와 대조해 분류·누락 오류 보정",</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"정책 의견",</a:t>
            </a:r>
          </a:p>
          <a:p xmlns:a="http://schemas.openxmlformats.org/drawingml/2006/main">
            <a:r>
              <a:t>        "input": "협의 주제·질문·응답 묶음 정의",</a:t>
            </a:r>
          </a:p>
          <a:p xmlns:a="http://schemas.openxmlformats.org/drawingml/2006/main">
            <a:r>
              <a:t>        "process": "응답 원문·문항·분류 결과의 연결",</a:t>
            </a:r>
          </a:p>
          <a:p xmlns:a="http://schemas.openxmlformats.org/drawingml/2006/main">
            <a:r>
              <a:t>        "output": "의견 원문"</a:t>
            </a:r>
          </a:p>
          <a:p xmlns:a="http://schemas.openxmlformats.org/drawingml/2006/main">
            <a:r>
              <a:t>      },</a:t>
            </a:r>
          </a:p>
          <a:p xmlns:a="http://schemas.openxmlformats.org/drawingml/2006/main">
            <a:r>
              <a:t>      {</a:t>
            </a:r>
          </a:p>
          <a:p xmlns:a="http://schemas.openxmlformats.org/drawingml/2006/main">
            <a:r>
              <a:t>        "title": "주제 분류",</a:t>
            </a:r>
          </a:p>
          <a:p xmlns:a="http://schemas.openxmlformats.org/drawingml/2006/main">
            <a:r>
              <a:t>        "input": "의견 원문",</a:t>
            </a:r>
          </a:p>
          <a:p xmlns:a="http://schemas.openxmlformats.org/drawingml/2006/main">
            <a:r>
              <a:t>        "process": "의견의 주제 후보와 주제별 요약 생성",</a:t>
            </a:r>
          </a:p>
          <a:p xmlns:a="http://schemas.openxmlformats.org/drawingml/2006/main">
            <a:r>
              <a:t>        "output": "주제 후보"</a:t>
            </a:r>
          </a:p>
          <a:p xmlns:a="http://schemas.openxmlformats.org/drawingml/2006/main">
            <a:r>
              <a:t>      },</a:t>
            </a:r>
          </a:p>
          <a:p xmlns:a="http://schemas.openxmlformats.org/drawingml/2006/main">
            <a:r>
              <a:t>      {</a:t>
            </a:r>
          </a:p>
          <a:p xmlns:a="http://schemas.openxmlformats.org/drawingml/2006/main">
            <a:r>
              <a:t>        "title": "분석·요약",</a:t>
            </a:r>
          </a:p>
          <a:p xmlns:a="http://schemas.openxmlformats.org/drawingml/2006/main">
            <a:r>
              <a:t>        "input": "주제 후보",</a:t>
            </a:r>
          </a:p>
          <a:p xmlns:a="http://schemas.openxmlformats.org/drawingml/2006/main">
            <a:r>
              <a:t>        "process": "소수 의견 재현·원문 역추적",</a:t>
            </a:r>
          </a:p>
          <a:p xmlns:a="http://schemas.openxmlformats.org/drawingml/2006/main">
            <a:r>
              <a:t>        "output": "주제별 요약"</a:t>
            </a:r>
          </a:p>
          <a:p xmlns:a="http://schemas.openxmlformats.org/drawingml/2006/main">
            <a:r>
              <a:t>      },</a:t>
            </a:r>
          </a:p>
          <a:p xmlns:a="http://schemas.openxmlformats.org/drawingml/2006/main">
            <a:r>
              <a:t>      {</a:t>
            </a:r>
          </a:p>
          <a:p xmlns:a="http://schemas.openxmlformats.org/drawingml/2006/main">
            <a:r>
              <a:t>        "title": "공무원 수정",</a:t>
            </a:r>
          </a:p>
          <a:p xmlns:a="http://schemas.openxmlformats.org/drawingml/2006/main">
            <a:r>
              <a:t>        "input": "주제별 요약",</a:t>
            </a:r>
          </a:p>
          <a:p xmlns:a="http://schemas.openxmlformats.org/drawingml/2006/main">
            <a:r>
              <a:t>        "process": "소수·반대 의견을 포함한 담당자 검토",</a:t>
            </a:r>
          </a:p>
          <a:p xmlns:a="http://schemas.openxmlformats.org/drawingml/2006/main">
            <a:r>
              <a:t>        "output": "담당자 검증"</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"정책 의견을 주제별 분류하고 원문을 검토",</a:t>
            </a:r>
          </a:p>
          <a:p xmlns:a="http://schemas.openxmlformats.org/drawingml/2006/main">
            <a:r>
              <a:t>      "exception": "소수 의견·반대 의견·복수 주제·중복 제출",</a:t>
            </a:r>
          </a:p>
          <a:p xmlns:a="http://schemas.openxmlformats.org/drawingml/2006/main">
            <a:r>
              <a:t>      "evidence": "주제별 원문 재현과 누락·오분류 수정 기록",</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"정책 담당·검토 공무원",</a:t>
            </a:r>
          </a:p>
          <a:p xmlns:a="http://schemas.openxmlformats.org/drawingml/2006/main">
            <a:r>
              <a:t>          "processing": "협의 주제·질문·응답 묶음 정의",</a:t>
            </a:r>
          </a:p>
          <a:p xmlns:a="http://schemas.openxmlformats.org/drawingml/2006/main">
            <a:r>
              <a:t>          "output": "의견 원문"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"의견 원문·주제",</a:t>
            </a:r>
          </a:p>
          <a:p xmlns:a="http://schemas.openxmlformats.org/drawingml/2006/main">
            <a:r>
              <a:t>          "processing": "응답 원문·문항·분류 결과의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"의견 원문",</a:t>
            </a:r>
          </a:p>
          <a:p xmlns:a="http://schemas.openxmlformats.org/drawingml/2006/main">
            <a:r>
              <a:t>          "processing": "의견의 주제 후보와 주제별 요약 생성",</a:t>
            </a:r>
          </a:p>
          <a:p xmlns:a="http://schemas.openxmlformats.org/drawingml/2006/main">
            <a:r>
              <a:t>          "output": "주제별 요약"</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"주제별 요약",</a:t>
            </a:r>
          </a:p>
          <a:p xmlns:a="http://schemas.openxmlformats.org/drawingml/2006/main">
            <a:r>
              <a:t>          "processing": "소수·반대 의견을 포함한 담당자 검토",</a:t>
            </a:r>
          </a:p>
          <a:p xmlns:a="http://schemas.openxmlformats.org/drawingml/2006/main">
            <a:r>
              <a:t>          "output": "담당자 검증"</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"수작업 결과와 대조해 분류·누락 오류 보정",</a:t>
            </a:r>
          </a:p>
          <a:p xmlns:a="http://schemas.openxmlformats.org/drawingml/2006/main">
            <a:r>
              <a:t>          "output": "주제별 원문 재현과 누락·오분류 수정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"수작업 결과와 대조해 분류·누락 오류 보정",</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"T035 / 분석지원·사람 검토·성과 구분",</a:t>
            </a:r>
          </a:p>
          <a:p xmlns:a="http://schemas.openxmlformats.org/drawingml/2006/main">
            <a:r>
              <a:t>        "url": "https://www.gov.uk/government/news/government-built-humphrey-ai-tool-reviews-responses-to-consultation-for-first-time-in-bid-to-save-millions"</a:t>
            </a:r>
          </a:p>
          <a:p xmlns:a="http://schemas.openxmlformats.org/drawingml/2006/main">
            <a:r>
              <a:t>      }</a:t>
            </a:r>
          </a:p>
          <a:p xmlns:a="http://schemas.openxmlformats.org/drawingml/2006/main">
            <a:r>
              <a:t>    ],</a:t>
            </a:r>
          </a:p>
          <a:p xmlns:a="http://schemas.openxmlformats.org/drawingml/2006/main">
            <a:r>
              <a:t>    "implication": "빈도 높은 의견과 소수·반대 의견을 함께 추적하는 정책 검토 지원",</a:t>
            </a:r>
          </a:p>
          <a:p xmlns:a="http://schemas.openxmlformats.org/drawingml/2006/main">
            <a:r>
              <a:t>    "local": "빈도 높은 의견과 소수·반대 의견을 함께 추적하는 정책 검토 지원",</a:t>
            </a:r>
          </a:p>
          <a:p xmlns:a="http://schemas.openxmlformats.org/drawingml/2006/main">
            <a:r>
              <a:t>    "sourceDetail": "응답을 AI로 주제 분류·요약하고 공무원이 수정·검토\n최초 실증은 기존 수작업 검토를 병행, 사람 검증",</a:t>
            </a:r>
          </a:p>
          <a:p xmlns:a="http://schemas.openxmlformats.org/drawingml/2006/main">
            <a:r>
              <a:t>    "narrative": [</a:t>
            </a:r>
          </a:p>
          <a:p xmlns:a="http://schemas.openxmlformats.org/drawingml/2006/main">
            <a:r>
              <a:t>      "영국 Consult의 정책 의견수렴 분석 사례. 다수의 응답을 주제별로 분류·요약해 정책 담당자의 검토를 돕는 방식이며 의견의 채택이나 정책 결정을 자동화하는 기능과 구분.",</a:t>
            </a:r>
          </a:p>
          <a:p xmlns:a="http://schemas.openxmlformats.org/drawingml/2006/main">
            <a:r>
              <a:t>      "설문 문항·응답 원문을 입력하고 주제 후보 생성, 응답별 분류, 주제별 요약, 검토자의 수정으로 이어지는 논리 흐름. 원문 응답과 요약의 연결을 유지해 소수·반대 의견이 요약에서 누락됐는지 추적하는 구성.",</a:t>
            </a:r>
          </a:p>
          <a:p xmlns:a="http://schemas.openxmlformats.org/drawingml/2006/main">
            <a:r>
              <a:t>      "CCK의 민원·의견 분석에서는 전체 빈도만으로 성과를 판단하기 어려움. 다중 주제, 소수 의견, 상반된 입장, 부정확한 인용을 포함한 정답셋과 담당자의 수정 시간을 함께 측정하는 방식의 적용."</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"정책 의견 접수",</a:t>
            </a:r>
          </a:p>
          <a:p xmlns:a="http://schemas.openxmlformats.org/drawingml/2006/main">
            <a:r>
              <a:t>          "layer": "이용 접점",</a:t>
            </a:r>
          </a:p>
          <a:p xmlns:a="http://schemas.openxmlformats.org/drawingml/2006/main">
            <a:r>
              <a:t>          "detail": "정책 담당·검토 공무원",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"협의·문항 범위",</a:t>
            </a:r>
          </a:p>
          <a:p xmlns:a="http://schemas.openxmlformats.org/drawingml/2006/main">
            <a:r>
              <a:t>          "layer": "업무 문맥",</a:t>
            </a:r>
          </a:p>
          <a:p xmlns:a="http://schemas.openxmlformats.org/drawingml/2006/main">
            <a:r>
              <a:t>          "detail": "협의 주제·질문·응답 묶음 정의",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"응답 원문 조회",</a:t>
            </a:r>
          </a:p>
          <a:p xmlns:a="http://schemas.openxmlformats.org/drawingml/2006/main">
            <a:r>
              <a:t>          "layer": "자료 조회",</a:t>
            </a:r>
          </a:p>
          <a:p xmlns:a="http://schemas.openxmlformats.org/drawingml/2006/main">
            <a:r>
              <a:t>          "detail": "의견 원문",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"주제 분류·요약",</a:t>
            </a:r>
          </a:p>
          <a:p xmlns:a="http://schemas.openxmlformats.org/drawingml/2006/main">
            <a:r>
              <a:t>          "layer": "핵심 처리",</a:t>
            </a:r>
          </a:p>
          <a:p xmlns:a="http://schemas.openxmlformats.org/drawingml/2006/main">
            <a:r>
              <a:t>          "detail": "의견의 주제 후보와 주제별 요약 생성",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"소수·반대 의견 검사",</a:t>
            </a:r>
          </a:p>
          <a:p xmlns:a="http://schemas.openxmlformats.org/drawingml/2006/main">
            <a:r>
              <a:t>          "layer": "결과 검증",</a:t>
            </a:r>
          </a:p>
          <a:p xmlns:a="http://schemas.openxmlformats.org/drawingml/2006/main">
            <a:r>
              <a:t>          "detail": "소수 의견 재현·원문 역추적",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"공무원 수정",</a:t>
            </a:r>
          </a:p>
          <a:p xmlns:a="http://schemas.openxmlformats.org/drawingml/2006/main">
            <a:r>
              <a:t>          "layer": "사람 확인",</a:t>
            </a:r>
          </a:p>
          <a:p xmlns:a="http://schemas.openxmlformats.org/drawingml/2006/main">
            <a:r>
              <a:t>          "detail": "정책 의견을 주제별 분류하고 원문을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"정책 분석 자료",</a:t>
            </a:r>
          </a:p>
          <a:p xmlns:a="http://schemas.openxmlformats.org/drawingml/2006/main">
            <a:r>
              <a:t>          "layer": "업무 연결",</a:t>
            </a:r>
          </a:p>
          <a:p xmlns:a="http://schemas.openxmlformats.org/drawingml/2006/main">
            <a:r>
              <a:t>          "detail": "소수·반대 의견을 포함한 담당자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"수작업 대조",</a:t>
            </a:r>
          </a:p>
          <a:p xmlns:a="http://schemas.openxmlformats.org/drawingml/2006/main">
            <a:r>
              <a:t>          "layer": "운영 관측",</a:t>
            </a:r>
          </a:p>
          <a:p xmlns:a="http://schemas.openxmlformats.org/drawingml/2006/main">
            <a:r>
              <a:t>          "detail": "수작업 결과와 대조해 분류·누락 오류 보정",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"응답·문항 자료",</a:t>
            </a:r>
          </a:p>
          <a:p xmlns:a="http://schemas.openxmlformats.org/drawingml/2006/main">
            <a:r>
              <a:t>          "layer": "데이터 원천",</a:t>
            </a:r>
          </a:p>
          <a:p xmlns:a="http://schemas.openxmlformats.org/drawingml/2006/main">
            <a:r>
              <a:t>          "detail": "의견 원문·주제",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"원문·분류 연결",</a:t>
            </a:r>
          </a:p>
          <a:p xmlns:a="http://schemas.openxmlformats.org/drawingml/2006/main">
            <a:r>
              <a:t>          "layer": "준비·갱신",</a:t>
            </a:r>
          </a:p>
          <a:p xmlns:a="http://schemas.openxmlformats.org/drawingml/2006/main">
            <a:r>
              <a:t>          "detail": "응답 원문·문항·분류 결과의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"주제·검토 이력",</a:t>
            </a:r>
          </a:p>
          <a:p xmlns:a="http://schemas.openxmlformats.org/drawingml/2006/main">
            <a:r>
              <a:t>          "layer": "상태·지식 저장",</a:t>
            </a:r>
          </a:p>
          <a:p xmlns:a="http://schemas.openxmlformats.org/drawingml/2006/main">
            <a:r>
              <a:t>          "detail": "주제별 원문 재현과 누락·오분류 수정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"해석·채택 책임",</a:t>
            </a:r>
          </a:p>
          <a:p xmlns:a="http://schemas.openxmlformats.org/drawingml/2006/main">
            <a:r>
              <a:t>          "layer": "권한·정책",</a:t>
            </a:r>
          </a:p>
          <a:p xmlns:a="http://schemas.openxmlformats.org/drawingml/2006/main">
            <a:r>
              <a:t>          "detail": "소수 의견·반대 의견·복수 주제·중복 제출",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"협의 주제·질문·응답 묶음 정의",</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"의견 원문",</a:t>
            </a:r>
          </a:p>
          <a:p xmlns:a="http://schemas.openxmlformats.org/drawingml/2006/main">
            <a:r>
              <a:t>          "check": "소수 의견 재현·원문 역추적"</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"주제 후보",</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"주제별 요약",</a:t>
            </a:r>
          </a:p>
          <a:p xmlns:a="http://schemas.openxmlformats.org/drawingml/2006/main">
            <a:r>
              <a:t>          "check": "소수 의견·반대 의견·복수 주제·중복 제출"</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"주제별 요약",</a:t>
            </a:r>
          </a:p>
          <a:p xmlns:a="http://schemas.openxmlformats.org/drawingml/2006/main">
            <a:r>
              <a:t>          "check": "소수·반대 의견을 포함한 담당자 검토"</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"담당자 검증",</a:t>
            </a:r>
          </a:p>
          <a:p xmlns:a="http://schemas.openxmlformats.org/drawingml/2006/main">
            <a:r>
              <a:t>          "check": "주제별 원문 재현과 누락·오분류 수정 기록"</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"정책 의견수렴 자료의 주제별 분석 / 의견 분류·요약·담당자 수정",</a:t>
            </a:r>
          </a:p>
          <a:p xmlns:a="http://schemas.openxmlformats.org/drawingml/2006/main">
            <a:r>
              <a:t>        "extension": "빈도 높은 의견과 소수·반대 의견을 함께 추적하는 정책 검토 지원"</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"소수 의견·반대 의견·복수 주제·중복 제출",</a:t>
            </a:r>
          </a:p>
          <a:p xmlns:a="http://schemas.openxmlformats.org/drawingml/2006/main">
            <a:r>
              <a:t>        "hold": "소수 의견 재현·원문 역추적",</a:t>
            </a:r>
          </a:p>
          <a:p xmlns:a="http://schemas.openxmlformats.org/drawingml/2006/main">
            <a:r>
              <a:t>        "recovery": "수작업 결과와 대조해 분류·누락 오류 보정",</a:t>
            </a:r>
          </a:p>
          <a:p xmlns:a="http://schemas.openxmlformats.org/drawingml/2006/main">
            <a:r>
              <a:t>        "evidence": "주제별 원문 재현과 누락·오분류 수정 기록"</a:t>
            </a:r>
          </a:p>
          <a:p xmlns:a="http://schemas.openxmlformats.org/drawingml/2006/main">
            <a:r>
              <a:t>      },</a:t>
            </a:r>
          </a:p>
          <a:p xmlns:a="http://schemas.openxmlformats.org/drawingml/2006/main">
            <a:r>
              <a:t>      "data": {</a:t>
            </a:r>
          </a:p>
          <a:p xmlns:a="http://schemas.openxmlformats.org/drawingml/2006/main">
            <a:r>
              <a:t>        "source": "의견 원문·주제",</a:t>
            </a:r>
          </a:p>
          <a:p xmlns:a="http://schemas.openxmlformats.org/drawingml/2006/main">
            <a:r>
              <a:t>        "prepare": "응답 원문·문항·분류 결과의 연결",</a:t>
            </a:r>
          </a:p>
          <a:p xmlns:a="http://schemas.openxmlformats.org/drawingml/2006/main">
            <a:r>
              <a:t>        "output": "의견 원문",</a:t>
            </a:r>
          </a:p>
          <a:p xmlns:a="http://schemas.openxmlformats.org/drawingml/2006/main">
            <a:r>
              <a:t>        "refresh": "수작업 결과와 대조해 분류·누락 오류 보정"</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"PF-A14",</a:t>
            </a:r>
          </a:p>
          <a:p xmlns:a="http://schemas.openxmlformats.org/drawingml/2006/main">
            <a:r>
              <a:t>    "success": [</a:t>
            </a:r>
          </a:p>
          <a:p xmlns:a="http://schemas.openxmlformats.org/drawingml/2006/main">
            <a:r>
              <a:t>      "대량 의견의 주제 분류",</a:t>
            </a:r>
          </a:p>
          <a:p xmlns:a="http://schemas.openxmlformats.org/drawingml/2006/main">
            <a:r>
              <a:t>      "공무원 수정·해석과 결합"</a:t>
            </a:r>
          </a:p>
          <a:p xmlns:a="http://schemas.openxmlformats.org/drawingml/2006/main">
            <a:r>
              <a:t>    ],</a:t>
            </a:r>
          </a:p>
          <a:p xmlns:a="http://schemas.openxmlformats.org/drawingml/2006/main">
            <a:r>
              <a:t>    "risks": [</a:t>
            </a:r>
          </a:p>
          <a:p xmlns:a="http://schemas.openxmlformats.org/drawingml/2006/main">
            <a:r>
              <a:t>      "소수 의견·반대 근거 누락",</a:t>
            </a:r>
          </a:p>
          <a:p xmlns:a="http://schemas.openxmlformats.org/drawingml/2006/main">
            <a:r>
              <a:t>      "주제 빈도와 정책 타당성 혼동"</a:t>
            </a:r>
          </a:p>
          <a:p xmlns:a="http://schemas.openxmlformats.org/drawingml/2006/main">
            <a:r>
              <a:t>    ],</a:t>
            </a:r>
          </a:p>
          <a:p xmlns:a="http://schemas.openxmlformats.org/drawingml/2006/main">
            <a:r>
              <a:t>    "architecture": [</a:t>
            </a:r>
          </a:p>
          <a:p xmlns:a="http://schemas.openxmlformats.org/drawingml/2006/main">
            <a:r>
              <a:t>      "정책 의견수렴",</a:t>
            </a:r>
          </a:p>
          <a:p xmlns:a="http://schemas.openxmlformats.org/drawingml/2006/main">
            <a:r>
              <a:t>      "Consult 분류·요약",</a:t>
            </a:r>
          </a:p>
          <a:p xmlns:a="http://schemas.openxmlformats.org/drawingml/2006/main">
            <a:r>
              <a:t>      "의견 원문·주제",</a:t>
            </a:r>
          </a:p>
          <a:p xmlns:a="http://schemas.openxmlformats.org/drawingml/2006/main">
            <a:r>
              <a:t>      "정책 분석 담당"</a:t>
            </a:r>
          </a:p>
          <a:p xmlns:a="http://schemas.openxmlformats.org/drawingml/2006/main">
            <a:r>
              <a:t>    ],</a:t>
            </a:r>
          </a:p>
          <a:p xmlns:a="http://schemas.openxmlformats.org/drawingml/2006/main">
            <a:r>
              <a:t>    "transfers": [</a:t>
            </a:r>
          </a:p>
          <a:p xmlns:a="http://schemas.openxmlformats.org/drawingml/2006/main">
            <a:r>
              <a:t>      "의견 원문",</a:t>
            </a:r>
          </a:p>
          <a:p xmlns:a="http://schemas.openxmlformats.org/drawingml/2006/main">
            <a:r>
              <a:t>      "주제 후보",</a:t>
            </a:r>
          </a:p>
          <a:p xmlns:a="http://schemas.openxmlformats.org/drawingml/2006/main">
            <a:r>
              <a:t>      "주제별 요약",</a:t>
            </a:r>
          </a:p>
          <a:p xmlns:a="http://schemas.openxmlformats.org/drawingml/2006/main">
            <a:r>
              <a:t>      "담당자 검증"</a:t>
            </a:r>
          </a:p>
          <a:p xmlns:a="http://schemas.openxmlformats.org/drawingml/2006/main">
            <a:r>
              <a:t>    ],</a:t>
            </a:r>
          </a:p>
          <a:p xmlns:a="http://schemas.openxmlformats.org/drawingml/2006/main">
            <a:r>
              <a:t>    "control": "소수 의견 재현·원문 역추적",</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T035 / 분석지원·사람 검토·성과 구분 https://www.gov.uk/government/news/government-built-humphrey-ai-tool-reviews-responses-to-consultation-for-first-time-in-bid-to-save-millions</a:t>
            </a:r>
          </a:p>
          <a:p xmlns:a="http://schemas.openxmlformats.org/drawingml/2006/main">
            <a:r>
              <a:t>홈페이지 https://heen1987-ops.github.io/TS-business-Plan-001/index.html?view=platform-cases&amp;case=PF-A14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"PF-A15",</a:t>
            </a:r>
          </a:p>
          <a:p xmlns:a="http://schemas.openxmlformats.org/drawingml/2006/main">
            <a:r>
              <a:t>    "sourceId": "A15",</a:t>
            </a:r>
          </a:p>
          <a:p xmlns:a="http://schemas.openxmlformats.org/drawingml/2006/main">
            <a:r>
              <a:t>    "title": "호주 APS Copilot 평가",</a:t>
            </a:r>
          </a:p>
          <a:p xmlns:a="http://schemas.openxmlformats.org/drawingml/2006/main">
            <a:r>
              <a:t>    "region": "해외",</a:t>
            </a:r>
          </a:p>
          <a:p xmlns:a="http://schemas.openxmlformats.org/drawingml/2006/main">
            <a:r>
              <a:t>    "owner": "DTA / APS M365 Copilot 평가",</a:t>
            </a:r>
          </a:p>
          <a:p xmlns:a="http://schemas.openxmlformats.org/drawingml/2006/main">
            <a:r>
              <a:t>    "state": "2024-01~06 정부 실험·평가",</a:t>
            </a:r>
          </a:p>
          <a:p xmlns:a="http://schemas.openxmlformats.org/drawingml/2006/main">
            <a:r>
              <a:t>    "period": "기존 원장 확인 2026.10.16",</a:t>
            </a:r>
          </a:p>
          <a:p xmlns:a="http://schemas.openxmlformats.org/drawingml/2006/main">
            <a:r>
              <a:t>    "fact": "기존 협업 플랫폼 AI 적용",</a:t>
            </a:r>
          </a:p>
          <a:p xmlns:a="http://schemas.openxmlformats.org/drawingml/2006/main">
            <a:r>
              <a:t>    "limit": "무작위 실험 아님. 일부 업무 하루1시간 체감 절감을 전직원 실측값으로 사용 금지",</a:t>
            </a:r>
          </a:p>
          <a:p xmlns:a="http://schemas.openxmlformats.org/drawingml/2006/main">
            <a:r>
              <a:t>    "nodes": [</a:t>
            </a:r>
          </a:p>
          <a:p xmlns:a="http://schemas.openxmlformats.org/drawingml/2006/main">
            <a:r>
              <a:t>      "참여 기관",</a:t>
            </a:r>
          </a:p>
          <a:p xmlns:a="http://schemas.openxmlformats.org/drawingml/2006/main">
            <a:r>
              <a:t>      "협업 AI 도구",</a:t>
            </a:r>
          </a:p>
          <a:p xmlns:a="http://schemas.openxmlformats.org/drawingml/2006/main">
            <a:r>
              <a:t>      "교육·업무 활용",</a:t>
            </a:r>
          </a:p>
          <a:p xmlns:a="http://schemas.openxmlformats.org/drawingml/2006/main">
            <a:r>
              <a:t>      "전후 설문 평가"</a:t>
            </a:r>
          </a:p>
          <a:p xmlns:a="http://schemas.openxmlformats.org/drawingml/2006/main">
            <a:r>
              <a:t>    ],</a:t>
            </a:r>
          </a:p>
          <a:p xmlns:a="http://schemas.openxmlformats.org/drawingml/2006/main">
            <a:r>
              <a:t>    "apply": "교육·숙련도·과업 차이를 반영한 부서별 AI 도입 효과 평가",</a:t>
            </a:r>
          </a:p>
          <a:p xmlns:a="http://schemas.openxmlformats.org/drawingml/2006/main">
            <a:r>
              <a:t>    "delta": "부서·직무·권한·변경 교차 평가",</a:t>
            </a:r>
          </a:p>
          <a:p xmlns:a="http://schemas.openxmlformats.org/drawingml/2006/main">
            <a:r>
              <a:t>    "test": "완료시간·오류·총비용의 기준선·비교 평가",</a:t>
            </a:r>
          </a:p>
          <a:p xmlns:a="http://schemas.openxmlformats.org/drawingml/2006/main">
            <a:r>
              <a:t>    "url": "https://www.digital.gov.au/initiatives/copilot-trial/microsoft-365-copilot-evaluation-report-full/executive-summary-glossary",</a:t>
            </a:r>
          </a:p>
          <a:p xmlns:a="http://schemas.openxmlformats.org/drawingml/2006/main">
            <a:r>
              <a:t>    "urls": [</a:t>
            </a:r>
          </a:p>
          <a:p xmlns:a="http://schemas.openxmlformats.org/drawingml/2006/main">
            <a:r>
              <a:t>      "https://www.digital.gov.au/initiatives/copilot-trial/microsoft-365-copilot-evaluation-report-full/executive-summary-glossary",</a:t>
            </a:r>
          </a:p>
          <a:p xmlns:a="http://schemas.openxmlformats.org/drawingml/2006/main">
            <a:r>
              <a:t>      "https://www.digital.gov.au/initiatives/copilot-trial/microsoft-365-copilot-evaluation-report-full/productivity"</a:t>
            </a:r>
          </a:p>
          <a:p xmlns:a="http://schemas.openxmlformats.org/drawingml/2006/main">
            <a:r>
              <a:t>    ],</a:t>
            </a:r>
          </a:p>
          <a:p xmlns:a="http://schemas.openxmlformats.org/drawingml/2006/main">
            <a:r>
              <a:t>    "basis": "P139 / 교육·도입 정착·평가 한계",</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"완료시간·오류·총비용",</a:t>
            </a:r>
          </a:p>
          <a:p xmlns:a="http://schemas.openxmlformats.org/drawingml/2006/main">
            <a:r>
              <a:t>    "group": "운영·실증",</a:t>
            </a:r>
          </a:p>
          <a:p xmlns:a="http://schemas.openxmlformats.org/drawingml/2006/main">
            <a:r>
              <a:t>    "sourceDetail": "5,765개 이상 라이선스, 기관 지명 방식 참여, 설문·기관 평가\n기관 맥락에 맞는 교육·활용 사례가 확산 요인. Nous 외부 평가 지원",</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"PF-A15",</a:t>
            </a:r>
          </a:p>
          <a:p xmlns:a="http://schemas.openxmlformats.org/drawingml/2006/main">
            <a:r>
              <a:t>    "canonicalId": "PF-A15",</a:t>
            </a:r>
          </a:p>
          <a:p xmlns:a="http://schemas.openxmlformats.org/drawingml/2006/main">
            <a:r>
              <a:t>    "purpose": "공공부문 Copilot 도입 효과의 평가",</a:t>
            </a:r>
          </a:p>
          <a:p xmlns:a="http://schemas.openxmlformats.org/drawingml/2006/main">
            <a:r>
              <a:t>    "users": "참여기관 직원·교육·평가팀",</a:t>
            </a:r>
          </a:p>
          <a:p xmlns:a="http://schemas.openxmlformats.org/drawingml/2006/main">
            <a:r>
              <a:t>    "scope": [</a:t>
            </a:r>
          </a:p>
          <a:p xmlns:a="http://schemas.openxmlformats.org/drawingml/2006/main">
            <a:r>
              <a:t>      "협업 AI",</a:t>
            </a:r>
          </a:p>
          <a:p xmlns:a="http://schemas.openxmlformats.org/drawingml/2006/main">
            <a:r>
              <a:t>      "교육",</a:t>
            </a:r>
          </a:p>
          <a:p xmlns:a="http://schemas.openxmlformats.org/drawingml/2006/main">
            <a:r>
              <a:t>      "기관별 평가"</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"APS 참여기관",</a:t>
            </a:r>
          </a:p>
          <a:p xmlns:a="http://schemas.openxmlformats.org/drawingml/2006/main">
            <a:r>
              <a:t>        "detail": "업무 유형·숙련도·기존 공유범위 구분",</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"협업 AI / 교육 / 기관별 평가",</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"M365 Copilot",</a:t>
            </a:r>
          </a:p>
          <a:p xmlns:a="http://schemas.openxmlformats.org/drawingml/2006/main">
            <a:r>
              <a:t>        "detail": "M365 문맥에서 문서·회의·정보 작업 지원",</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"직원·평가팀",</a:t>
            </a:r>
          </a:p>
          <a:p xmlns:a="http://schemas.openxmlformats.org/drawingml/2006/main">
            <a:r>
              <a:t>        "detail": "직원의 검토 후 실제 업무 활용",</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"업무 문맥·평가 기록",</a:t>
            </a:r>
          </a:p>
          <a:p xmlns:a="http://schemas.openxmlformats.org/drawingml/2006/main">
            <a:r>
              <a:t>        "detail": "업무 자료와 사용·설문·과업 평가 기록 분리",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"기관·과업별 효과와 학습 부담·실패 비용 분석",</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"참여 기관",</a:t>
            </a:r>
          </a:p>
          <a:p xmlns:a="http://schemas.openxmlformats.org/drawingml/2006/main">
            <a:r>
              <a:t>        "input": "업무 유형·숙련도·기존 공유범위 구분",</a:t>
            </a:r>
          </a:p>
          <a:p xmlns:a="http://schemas.openxmlformats.org/drawingml/2006/main">
            <a:r>
              <a:t>        "process": "업무 자료와 사용·설문·과업 평가 기록 분리",</a:t>
            </a:r>
          </a:p>
          <a:p xmlns:a="http://schemas.openxmlformats.org/drawingml/2006/main">
            <a:r>
              <a:t>        "output": "과업 요청"</a:t>
            </a:r>
          </a:p>
          <a:p xmlns:a="http://schemas.openxmlformats.org/drawingml/2006/main">
            <a:r>
              <a:t>      },</a:t>
            </a:r>
          </a:p>
          <a:p xmlns:a="http://schemas.openxmlformats.org/drawingml/2006/main">
            <a:r>
              <a:t>      {</a:t>
            </a:r>
          </a:p>
          <a:p xmlns:a="http://schemas.openxmlformats.org/drawingml/2006/main">
            <a:r>
              <a:t>        "title": "협업 AI 도구",</a:t>
            </a:r>
          </a:p>
          <a:p xmlns:a="http://schemas.openxmlformats.org/drawingml/2006/main">
            <a:r>
              <a:t>        "input": "과업 요청",</a:t>
            </a:r>
          </a:p>
          <a:p xmlns:a="http://schemas.openxmlformats.org/drawingml/2006/main">
            <a:r>
              <a:t>        "process": "M365 문맥에서 문서·회의·정보 작업 지원",</a:t>
            </a:r>
          </a:p>
          <a:p xmlns:a="http://schemas.openxmlformats.org/drawingml/2006/main">
            <a:r>
              <a:t>        "output": "지원 결과"</a:t>
            </a:r>
          </a:p>
          <a:p xmlns:a="http://schemas.openxmlformats.org/drawingml/2006/main">
            <a:r>
              <a:t>      },</a:t>
            </a:r>
          </a:p>
          <a:p xmlns:a="http://schemas.openxmlformats.org/drawingml/2006/main">
            <a:r>
              <a:t>      {</a:t>
            </a:r>
          </a:p>
          <a:p xmlns:a="http://schemas.openxmlformats.org/drawingml/2006/main">
            <a:r>
              <a:t>        "title": "교육·업무 활용",</a:t>
            </a:r>
          </a:p>
          <a:p xmlns:a="http://schemas.openxmlformats.org/drawingml/2006/main">
            <a:r>
              <a:t>        "input": "지원 결과",</a:t>
            </a:r>
          </a:p>
          <a:p xmlns:a="http://schemas.openxmlformats.org/drawingml/2006/main">
            <a:r>
              <a:t>        "process": "과업·숙련도별 비교와 실패 비용 포함",</a:t>
            </a:r>
          </a:p>
          <a:p xmlns:a="http://schemas.openxmlformats.org/drawingml/2006/main">
            <a:r>
              <a:t>        "output": "현업 활용"</a:t>
            </a:r>
          </a:p>
          <a:p xmlns:a="http://schemas.openxmlformats.org/drawingml/2006/main">
            <a:r>
              <a:t>      },</a:t>
            </a:r>
          </a:p>
          <a:p xmlns:a="http://schemas.openxmlformats.org/drawingml/2006/main">
            <a:r>
              <a:t>      {</a:t>
            </a:r>
          </a:p>
          <a:p xmlns:a="http://schemas.openxmlformats.org/drawingml/2006/main">
            <a:r>
              <a:t>        "title": "전후 설문 평가",</a:t>
            </a:r>
          </a:p>
          <a:p xmlns:a="http://schemas.openxmlformats.org/drawingml/2006/main">
            <a:r>
              <a:t>        "input": "현업 활용",</a:t>
            </a:r>
          </a:p>
          <a:p xmlns:a="http://schemas.openxmlformats.org/drawingml/2006/main">
            <a:r>
              <a:t>        "process": "직원의 검토 후 실제 업무 활용",</a:t>
            </a:r>
          </a:p>
          <a:p xmlns:a="http://schemas.openxmlformats.org/drawingml/2006/main">
            <a:r>
              <a:t>        "output": "전후 평가"</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"같은 업무를 지원 전후 수행하고 검토시간까지 측정",</a:t>
            </a:r>
          </a:p>
          <a:p xmlns:a="http://schemas.openxmlformats.org/drawingml/2006/main">
            <a:r>
              <a:t>      "exception": "숙련도 차이·미사용자 제외·어려운 과업 누락",</a:t>
            </a:r>
          </a:p>
          <a:p xmlns:a="http://schemas.openxmlformats.org/drawingml/2006/main">
            <a:r>
              <a:t>      "evidence": "기관·과업·숙련도별 비교표와 오류·재작업 기록",</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"참여기관 직원·교육·평가팀",</a:t>
            </a:r>
          </a:p>
          <a:p xmlns:a="http://schemas.openxmlformats.org/drawingml/2006/main">
            <a:r>
              <a:t>          "processing": "업무 유형·숙련도·기존 공유범위 구분",</a:t>
            </a:r>
          </a:p>
          <a:p xmlns:a="http://schemas.openxmlformats.org/drawingml/2006/main">
            <a:r>
              <a:t>          "output": "과업 요청"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"업무 문맥·평가 기록",</a:t>
            </a:r>
          </a:p>
          <a:p xmlns:a="http://schemas.openxmlformats.org/drawingml/2006/main">
            <a:r>
              <a:t>          "processing": "업무 자료와 사용·설문·과업 평가 기록 분리",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"과업 요청",</a:t>
            </a:r>
          </a:p>
          <a:p xmlns:a="http://schemas.openxmlformats.org/drawingml/2006/main">
            <a:r>
              <a:t>          "processing": "M365 문맥에서 문서·회의·정보 작업 지원",</a:t>
            </a:r>
          </a:p>
          <a:p xmlns:a="http://schemas.openxmlformats.org/drawingml/2006/main">
            <a:r>
              <a:t>          "output": "현업 활용"</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"현업 활용",</a:t>
            </a:r>
          </a:p>
          <a:p xmlns:a="http://schemas.openxmlformats.org/drawingml/2006/main">
            <a:r>
              <a:t>          "processing": "직원의 검토 후 실제 업무 활용",</a:t>
            </a:r>
          </a:p>
          <a:p xmlns:a="http://schemas.openxmlformats.org/drawingml/2006/main">
            <a:r>
              <a:t>          "output": "전후 평가"</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"기관·과업별 효과와 학습 부담·실패 비용 분석",</a:t>
            </a:r>
          </a:p>
          <a:p xmlns:a="http://schemas.openxmlformats.org/drawingml/2006/main">
            <a:r>
              <a:t>          "output": "기관·과업·숙련도별 비교표와 오류·재작업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"기관·과업별 효과와 학습 부담·실패 비용 분석",</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"P139 / 교육·도입 정착·평가 한계",</a:t>
            </a:r>
          </a:p>
          <a:p xmlns:a="http://schemas.openxmlformats.org/drawingml/2006/main">
            <a:r>
              <a:t>        "url": "https://www.digital.gov.au/initiatives/copilot-trial/microsoft-365-copilot-evaluation-report-full/executive-summary-glossary"</a:t>
            </a:r>
          </a:p>
          <a:p xmlns:a="http://schemas.openxmlformats.org/drawingml/2006/main">
            <a:r>
              <a:t>      }</a:t>
            </a:r>
          </a:p>
          <a:p xmlns:a="http://schemas.openxmlformats.org/drawingml/2006/main">
            <a:r>
              <a:t>    ],</a:t>
            </a:r>
          </a:p>
          <a:p xmlns:a="http://schemas.openxmlformats.org/drawingml/2006/main">
            <a:r>
              <a:t>    "implication": "교육·숙련도·과업 차이를 반영한 부서별 AI 도입 효과 평가",</a:t>
            </a:r>
          </a:p>
          <a:p xmlns:a="http://schemas.openxmlformats.org/drawingml/2006/main">
            <a:r>
              <a:t>    "local": "교육·숙련도·과업 차이를 반영한 부서별 AI 도입 효과 평가",</a:t>
            </a:r>
          </a:p>
          <a:p xmlns:a="http://schemas.openxmlformats.org/drawingml/2006/main">
            <a:r>
              <a:t>    "sourceDetail": "5,765개 이상 라이선스, 기관 지명 방식 참여, 설문·기관 평가\n기관 맥락에 맞는 교육·활용 사례가 확산 요인. Nous 외부 평가 지원",</a:t>
            </a:r>
          </a:p>
          <a:p xmlns:a="http://schemas.openxmlformats.org/drawingml/2006/main">
            <a:r>
              <a:t>    "narrative": [</a:t>
            </a:r>
          </a:p>
          <a:p xmlns:a="http://schemas.openxmlformats.org/drawingml/2006/main">
            <a:r>
              <a:t>      "호주 공공부문 Microsoft 365 Copilot 시험의 평가 사례. 기관 직원이 실제 업무에서 협업 AI를 사용하고 이용 경험·과업 효과·교육 부담을 비교하는 접근.",</a:t>
            </a:r>
          </a:p>
          <a:p xmlns:a="http://schemas.openxmlformats.org/drawingml/2006/main">
            <a:r>
              <a:t>      "기존 협업 도구와 문서 공유 권한 위에서 문서·회의·검색 지원을 수행하는 구조. 이용 로그·설문 응답·과업 평가를 분리해 수집하고 기관·업무·숙련도에 따른 효과 편차를 확인하는 평가 설계.",</a:t>
            </a:r>
          </a:p>
          <a:p xmlns:a="http://schemas.openxmlformats.org/drawingml/2006/main">
            <a:r>
              <a:t>      "보고된 시간 절감 수치를 TS의 기대효과로 직접 전용하지 않는 것이 핵심. 도구 이용자와 미이용자의 업무 난도, 검토시간, 오류 수정비용을 맞추어 비교하고 과도하게 공유된 기존 문서의 검색 노출도 별도 점검."</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"APS 직원 접점",</a:t>
            </a:r>
          </a:p>
          <a:p xmlns:a="http://schemas.openxmlformats.org/drawingml/2006/main">
            <a:r>
              <a:t>          "layer": "이용 접점",</a:t>
            </a:r>
          </a:p>
          <a:p xmlns:a="http://schemas.openxmlformats.org/drawingml/2006/main">
            <a:r>
              <a:t>          "detail": "참여기관 직원·교육·평가팀",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"과업·숙련도",</a:t>
            </a:r>
          </a:p>
          <a:p xmlns:a="http://schemas.openxmlformats.org/drawingml/2006/main">
            <a:r>
              <a:t>          "layer": "업무 문맥",</a:t>
            </a:r>
          </a:p>
          <a:p xmlns:a="http://schemas.openxmlformats.org/drawingml/2006/main">
            <a:r>
              <a:t>          "detail": "업무 유형·숙련도·기존 공유범위 구분",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"M365 문맥 검색",</a:t>
            </a:r>
          </a:p>
          <a:p xmlns:a="http://schemas.openxmlformats.org/drawingml/2006/main">
            <a:r>
              <a:t>          "layer": "자료 조회",</a:t>
            </a:r>
          </a:p>
          <a:p xmlns:a="http://schemas.openxmlformats.org/drawingml/2006/main">
            <a:r>
              <a:t>          "detail": "과업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"Copilot 업무 지원",</a:t>
            </a:r>
          </a:p>
          <a:p xmlns:a="http://schemas.openxmlformats.org/drawingml/2006/main">
            <a:r>
              <a:t>          "layer": "핵심 처리",</a:t>
            </a:r>
          </a:p>
          <a:p xmlns:a="http://schemas.openxmlformats.org/drawingml/2006/main">
            <a:r>
              <a:t>          "detail": "M365 문맥에서 문서·회의·정보 작업 지원",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"내용·공유 검사",</a:t>
            </a:r>
          </a:p>
          <a:p xmlns:a="http://schemas.openxmlformats.org/drawingml/2006/main">
            <a:r>
              <a:t>          "layer": "결과 검증",</a:t>
            </a:r>
          </a:p>
          <a:p xmlns:a="http://schemas.openxmlformats.org/drawingml/2006/main">
            <a:r>
              <a:t>          "detail": "과업·숙련도별 비교와 실패 비용 포함",</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"직원 검토",</a:t>
            </a:r>
          </a:p>
          <a:p xmlns:a="http://schemas.openxmlformats.org/drawingml/2006/main">
            <a:r>
              <a:t>          "layer": "사람 확인",</a:t>
            </a:r>
          </a:p>
          <a:p xmlns:a="http://schemas.openxmlformats.org/drawingml/2006/main">
            <a:r>
              <a:t>          "detail": "같은 업무를 지원 전후 수행하고 검토시간까지 측정",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"현업 결과 활용",</a:t>
            </a:r>
          </a:p>
          <a:p xmlns:a="http://schemas.openxmlformats.org/drawingml/2006/main">
            <a:r>
              <a:t>          "layer": "업무 연결",</a:t>
            </a:r>
          </a:p>
          <a:p xmlns:a="http://schemas.openxmlformats.org/drawingml/2006/main">
            <a:r>
              <a:t>          "detail": "직원의 검토 후 실제 업무 활용",</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"기관·과업 평가",</a:t>
            </a:r>
          </a:p>
          <a:p xmlns:a="http://schemas.openxmlformats.org/drawingml/2006/main">
            <a:r>
              <a:t>          "layer": "운영 관측",</a:t>
            </a:r>
          </a:p>
          <a:p xmlns:a="http://schemas.openxmlformats.org/drawingml/2006/main">
            <a:r>
              <a:t>          "detail": "기관·과업별 효과와 학습 부담·실패 비용 분석",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"업무·설문 자료",</a:t>
            </a:r>
          </a:p>
          <a:p xmlns:a="http://schemas.openxmlformats.org/drawingml/2006/main">
            <a:r>
              <a:t>          "layer": "데이터 원천",</a:t>
            </a:r>
          </a:p>
          <a:p xmlns:a="http://schemas.openxmlformats.org/drawingml/2006/main">
            <a:r>
              <a:t>          "detail": "업무 문맥·평가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"평가 표본 분리",</a:t>
            </a:r>
          </a:p>
          <a:p xmlns:a="http://schemas.openxmlformats.org/drawingml/2006/main">
            <a:r>
              <a:t>          "layer": "준비·갱신",</a:t>
            </a:r>
          </a:p>
          <a:p xmlns:a="http://schemas.openxmlformats.org/drawingml/2006/main">
            <a:r>
              <a:t>          "detail": "업무 자료와 사용·설문·과업 평가 기록 분리",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"활용·비교 기록",</a:t>
            </a:r>
          </a:p>
          <a:p xmlns:a="http://schemas.openxmlformats.org/drawingml/2006/main">
            <a:r>
              <a:t>          "layer": "상태·지식 저장",</a:t>
            </a:r>
          </a:p>
          <a:p xmlns:a="http://schemas.openxmlformats.org/drawingml/2006/main">
            <a:r>
              <a:t>          "detail": "기관·과업·숙련도별 비교표와 오류·재작업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"공유·평가 정책",</a:t>
            </a:r>
          </a:p>
          <a:p xmlns:a="http://schemas.openxmlformats.org/drawingml/2006/main">
            <a:r>
              <a:t>          "layer": "권한·정책",</a:t>
            </a:r>
          </a:p>
          <a:p xmlns:a="http://schemas.openxmlformats.org/drawingml/2006/main">
            <a:r>
              <a:t>          "detail": "숙련도 차이·미사용자 제외·어려운 과업 누락",</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"업무 유형·숙련도·기존 공유범위 구분",</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"과업 요청",</a:t>
            </a:r>
          </a:p>
          <a:p xmlns:a="http://schemas.openxmlformats.org/drawingml/2006/main">
            <a:r>
              <a:t>          "check": "과업·숙련도별 비교와 실패 비용 포함"</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"지원 결과",</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"현업 활용",</a:t>
            </a:r>
          </a:p>
          <a:p xmlns:a="http://schemas.openxmlformats.org/drawingml/2006/main">
            <a:r>
              <a:t>          "check": "숙련도 차이·미사용자 제외·어려운 과업 누락"</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"현업 활용",</a:t>
            </a:r>
          </a:p>
          <a:p xmlns:a="http://schemas.openxmlformats.org/drawingml/2006/main">
            <a:r>
              <a:t>          "check": "직원의 검토 후 실제 업무 활용"</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"전후 평가",</a:t>
            </a:r>
          </a:p>
          <a:p xmlns:a="http://schemas.openxmlformats.org/drawingml/2006/main">
            <a:r>
              <a:t>          "check": "기관·과업·숙련도별 비교표와 오류·재작업 기록"</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"공공부문 Copilot 도입 효과의 평가 / 협업 AI·교육·기관별 평가",</a:t>
            </a:r>
          </a:p>
          <a:p xmlns:a="http://schemas.openxmlformats.org/drawingml/2006/main">
            <a:r>
              <a:t>        "extension": "교육·숙련도·과업 차이를 반영한 부서별 AI 도입 효과 평가"</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"숙련도 차이·미사용자 제외·어려운 과업 누락",</a:t>
            </a:r>
          </a:p>
          <a:p xmlns:a="http://schemas.openxmlformats.org/drawingml/2006/main">
            <a:r>
              <a:t>        "hold": "과업·숙련도별 비교와 실패 비용 포함",</a:t>
            </a:r>
          </a:p>
          <a:p xmlns:a="http://schemas.openxmlformats.org/drawingml/2006/main">
            <a:r>
              <a:t>        "recovery": "기관·과업별 효과와 학습 부담·실패 비용 분석",</a:t>
            </a:r>
          </a:p>
          <a:p xmlns:a="http://schemas.openxmlformats.org/drawingml/2006/main">
            <a:r>
              <a:t>        "evidence": "기관·과업·숙련도별 비교표와 오류·재작업 기록"</a:t>
            </a:r>
          </a:p>
          <a:p xmlns:a="http://schemas.openxmlformats.org/drawingml/2006/main">
            <a:r>
              <a:t>      },</a:t>
            </a:r>
          </a:p>
          <a:p xmlns:a="http://schemas.openxmlformats.org/drawingml/2006/main">
            <a:r>
              <a:t>      "data": {</a:t>
            </a:r>
          </a:p>
          <a:p xmlns:a="http://schemas.openxmlformats.org/drawingml/2006/main">
            <a:r>
              <a:t>        "source": "업무 문맥·평가 기록",</a:t>
            </a:r>
          </a:p>
          <a:p xmlns:a="http://schemas.openxmlformats.org/drawingml/2006/main">
            <a:r>
              <a:t>        "prepare": "업무 자료와 사용·설문·과업 평가 기록 분리",</a:t>
            </a:r>
          </a:p>
          <a:p xmlns:a="http://schemas.openxmlformats.org/drawingml/2006/main">
            <a:r>
              <a:t>        "output": "과업 요청",</a:t>
            </a:r>
          </a:p>
          <a:p xmlns:a="http://schemas.openxmlformats.org/drawingml/2006/main">
            <a:r>
              <a:t>        "refresh": "기관·과업별 효과와 학습 부담·실패 비용 분석"</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"PF-A15",</a:t>
            </a:r>
          </a:p>
          <a:p xmlns:a="http://schemas.openxmlformats.org/drawingml/2006/main">
            <a:r>
              <a:t>    "success": [</a:t>
            </a:r>
          </a:p>
          <a:p xmlns:a="http://schemas.openxmlformats.org/drawingml/2006/main">
            <a:r>
              <a:t>      "기존 협업 환경과 교육 결합",</a:t>
            </a:r>
          </a:p>
          <a:p xmlns:a="http://schemas.openxmlformats.org/drawingml/2006/main">
            <a:r>
              <a:t>      "참여기관의 전후 평가"</a:t>
            </a:r>
          </a:p>
          <a:p xmlns:a="http://schemas.openxmlformats.org/drawingml/2006/main">
            <a:r>
              <a:t>    ],</a:t>
            </a:r>
          </a:p>
          <a:p xmlns:a="http://schemas.openxmlformats.org/drawingml/2006/main">
            <a:r>
              <a:t>    "risks": [</a:t>
            </a:r>
          </a:p>
          <a:p xmlns:a="http://schemas.openxmlformats.org/drawingml/2006/main">
            <a:r>
              <a:t>      "학습·조직 준비도 차이",</a:t>
            </a:r>
          </a:p>
          <a:p xmlns:a="http://schemas.openxmlformats.org/drawingml/2006/main">
            <a:r>
              <a:t>      "설문 변화의 인과효과 단정"</a:t>
            </a:r>
          </a:p>
          <a:p xmlns:a="http://schemas.openxmlformats.org/drawingml/2006/main">
            <a:r>
              <a:t>    ],</a:t>
            </a:r>
          </a:p>
          <a:p xmlns:a="http://schemas.openxmlformats.org/drawingml/2006/main">
            <a:r>
              <a:t>    "architecture": [</a:t>
            </a:r>
          </a:p>
          <a:p xmlns:a="http://schemas.openxmlformats.org/drawingml/2006/main">
            <a:r>
              <a:t>      "APS 참여기관",</a:t>
            </a:r>
          </a:p>
          <a:p xmlns:a="http://schemas.openxmlformats.org/drawingml/2006/main">
            <a:r>
              <a:t>      "M365 Copilot",</a:t>
            </a:r>
          </a:p>
          <a:p xmlns:a="http://schemas.openxmlformats.org/drawingml/2006/main">
            <a:r>
              <a:t>      "업무 문맥·평가 기록",</a:t>
            </a:r>
          </a:p>
          <a:p xmlns:a="http://schemas.openxmlformats.org/drawingml/2006/main">
            <a:r>
              <a:t>      "직원·평가팀"</a:t>
            </a:r>
          </a:p>
          <a:p xmlns:a="http://schemas.openxmlformats.org/drawingml/2006/main">
            <a:r>
              <a:t>    ],</a:t>
            </a:r>
          </a:p>
          <a:p xmlns:a="http://schemas.openxmlformats.org/drawingml/2006/main">
            <a:r>
              <a:t>    "transfers": [</a:t>
            </a:r>
          </a:p>
          <a:p xmlns:a="http://schemas.openxmlformats.org/drawingml/2006/main">
            <a:r>
              <a:t>      "과업 요청",</a:t>
            </a:r>
          </a:p>
          <a:p xmlns:a="http://schemas.openxmlformats.org/drawingml/2006/main">
            <a:r>
              <a:t>      "지원 결과",</a:t>
            </a:r>
          </a:p>
          <a:p xmlns:a="http://schemas.openxmlformats.org/drawingml/2006/main">
            <a:r>
              <a:t>      "현업 활용",</a:t>
            </a:r>
          </a:p>
          <a:p xmlns:a="http://schemas.openxmlformats.org/drawingml/2006/main">
            <a:r>
              <a:t>      "전후 평가"</a:t>
            </a:r>
          </a:p>
          <a:p xmlns:a="http://schemas.openxmlformats.org/drawingml/2006/main">
            <a:r>
              <a:t>    ],</a:t>
            </a:r>
          </a:p>
          <a:p xmlns:a="http://schemas.openxmlformats.org/drawingml/2006/main">
            <a:r>
              <a:t>    "control": "과업·숙련도별 비교와 실패 비용 포함",</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P139 / 교육·도입 정착·평가 한계 https://www.digital.gov.au/initiatives/copilot-trial/microsoft-365-copilot-evaluation-report-full/executive-summary-glossary</a:t>
            </a:r>
          </a:p>
          <a:p xmlns:a="http://schemas.openxmlformats.org/drawingml/2006/main">
            <a:r>
              <a:t>홈페이지 https://heen1987-ops.github.io/TS-business-Plan-001/index.html?view=platform-cases&amp;case=PF-A15</a:t>
            </a:r>
          </a:p>
          <a:p xmlns:a="http://schemas.openxmlformats.org/drawingml/2006/main">
            <a:r>
              <a:t>한계: 무작위 실험 아님. 일부 업무 하루1시간 체감 절감을 전직원 실측값으로 사용 금지</a:t>
            </a:r>
          </a:p>
          <a:p xmlns:a="http://schemas.openxmlformats.org/drawingml/2006/main">
            <a:r>
              <a:t>실패 위험: 학습·조직 준비도 차이 / 설문 변화의 인과효과 단정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"PF-A15",</a:t>
            </a:r>
          </a:p>
          <a:p xmlns:a="http://schemas.openxmlformats.org/drawingml/2006/main">
            <a:r>
              <a:t>    "sourceId": "A15",</a:t>
            </a:r>
          </a:p>
          <a:p xmlns:a="http://schemas.openxmlformats.org/drawingml/2006/main">
            <a:r>
              <a:t>    "title": "호주 APS Copilot 평가",</a:t>
            </a:r>
          </a:p>
          <a:p xmlns:a="http://schemas.openxmlformats.org/drawingml/2006/main">
            <a:r>
              <a:t>    "region": "해외",</a:t>
            </a:r>
          </a:p>
          <a:p xmlns:a="http://schemas.openxmlformats.org/drawingml/2006/main">
            <a:r>
              <a:t>    "owner": "DTA / APS M365 Copilot 평가",</a:t>
            </a:r>
          </a:p>
          <a:p xmlns:a="http://schemas.openxmlformats.org/drawingml/2006/main">
            <a:r>
              <a:t>    "state": "2024-01~06 정부 실험·평가",</a:t>
            </a:r>
          </a:p>
          <a:p xmlns:a="http://schemas.openxmlformats.org/drawingml/2006/main">
            <a:r>
              <a:t>    "period": "기존 원장 확인 2026.10.16",</a:t>
            </a:r>
          </a:p>
          <a:p xmlns:a="http://schemas.openxmlformats.org/drawingml/2006/main">
            <a:r>
              <a:t>    "fact": "기존 협업 플랫폼 AI 적용",</a:t>
            </a:r>
          </a:p>
          <a:p xmlns:a="http://schemas.openxmlformats.org/drawingml/2006/main">
            <a:r>
              <a:t>    "limit": "무작위 실험 아님. 일부 업무 하루1시간 체감 절감을 전직원 실측값으로 사용 금지",</a:t>
            </a:r>
          </a:p>
          <a:p xmlns:a="http://schemas.openxmlformats.org/drawingml/2006/main">
            <a:r>
              <a:t>    "nodes": [</a:t>
            </a:r>
          </a:p>
          <a:p xmlns:a="http://schemas.openxmlformats.org/drawingml/2006/main">
            <a:r>
              <a:t>      "참여 기관",</a:t>
            </a:r>
          </a:p>
          <a:p xmlns:a="http://schemas.openxmlformats.org/drawingml/2006/main">
            <a:r>
              <a:t>      "협업 AI 도구",</a:t>
            </a:r>
          </a:p>
          <a:p xmlns:a="http://schemas.openxmlformats.org/drawingml/2006/main">
            <a:r>
              <a:t>      "교육·업무 활용",</a:t>
            </a:r>
          </a:p>
          <a:p xmlns:a="http://schemas.openxmlformats.org/drawingml/2006/main">
            <a:r>
              <a:t>      "전후 설문 평가"</a:t>
            </a:r>
          </a:p>
          <a:p xmlns:a="http://schemas.openxmlformats.org/drawingml/2006/main">
            <a:r>
              <a:t>    ],</a:t>
            </a:r>
          </a:p>
          <a:p xmlns:a="http://schemas.openxmlformats.org/drawingml/2006/main">
            <a:r>
              <a:t>    "apply": "교육·숙련도·과업 차이를 반영한 부서별 AI 도입 효과 평가",</a:t>
            </a:r>
          </a:p>
          <a:p xmlns:a="http://schemas.openxmlformats.org/drawingml/2006/main">
            <a:r>
              <a:t>    "delta": "부서·직무·권한·변경 교차 평가",</a:t>
            </a:r>
          </a:p>
          <a:p xmlns:a="http://schemas.openxmlformats.org/drawingml/2006/main">
            <a:r>
              <a:t>    "test": "완료시간·오류·총비용의 기준선·비교 평가",</a:t>
            </a:r>
          </a:p>
          <a:p xmlns:a="http://schemas.openxmlformats.org/drawingml/2006/main">
            <a:r>
              <a:t>    "url": "https://www.digital.gov.au/initiatives/copilot-trial/microsoft-365-copilot-evaluation-report-full/executive-summary-glossary",</a:t>
            </a:r>
          </a:p>
          <a:p xmlns:a="http://schemas.openxmlformats.org/drawingml/2006/main">
            <a:r>
              <a:t>    "urls": [</a:t>
            </a:r>
          </a:p>
          <a:p xmlns:a="http://schemas.openxmlformats.org/drawingml/2006/main">
            <a:r>
              <a:t>      "https://www.digital.gov.au/initiatives/copilot-trial/microsoft-365-copilot-evaluation-report-full/executive-summary-glossary",</a:t>
            </a:r>
          </a:p>
          <a:p xmlns:a="http://schemas.openxmlformats.org/drawingml/2006/main">
            <a:r>
              <a:t>      "https://www.digital.gov.au/initiatives/copilot-trial/microsoft-365-copilot-evaluation-report-full/productivity"</a:t>
            </a:r>
          </a:p>
          <a:p xmlns:a="http://schemas.openxmlformats.org/drawingml/2006/main">
            <a:r>
              <a:t>    ],</a:t>
            </a:r>
          </a:p>
          <a:p xmlns:a="http://schemas.openxmlformats.org/drawingml/2006/main">
            <a:r>
              <a:t>    "basis": "P139 / 교육·도입 정착·평가 한계",</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"완료시간·오류·총비용",</a:t>
            </a:r>
          </a:p>
          <a:p xmlns:a="http://schemas.openxmlformats.org/drawingml/2006/main">
            <a:r>
              <a:t>    "group": "운영·실증",</a:t>
            </a:r>
          </a:p>
          <a:p xmlns:a="http://schemas.openxmlformats.org/drawingml/2006/main">
            <a:r>
              <a:t>    "sourceDetail": "5,765개 이상 라이선스, 기관 지명 방식 참여, 설문·기관 평가\n기관 맥락에 맞는 교육·활용 사례가 확산 요인. Nous 외부 평가 지원",</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"PF-A15",</a:t>
            </a:r>
          </a:p>
          <a:p xmlns:a="http://schemas.openxmlformats.org/drawingml/2006/main">
            <a:r>
              <a:t>    "canonicalId": "PF-A15",</a:t>
            </a:r>
          </a:p>
          <a:p xmlns:a="http://schemas.openxmlformats.org/drawingml/2006/main">
            <a:r>
              <a:t>    "purpose": "공공부문 Copilot 도입 효과의 평가",</a:t>
            </a:r>
          </a:p>
          <a:p xmlns:a="http://schemas.openxmlformats.org/drawingml/2006/main">
            <a:r>
              <a:t>    "users": "참여기관 직원·교육·평가팀",</a:t>
            </a:r>
          </a:p>
          <a:p xmlns:a="http://schemas.openxmlformats.org/drawingml/2006/main">
            <a:r>
              <a:t>    "scope": [</a:t>
            </a:r>
          </a:p>
          <a:p xmlns:a="http://schemas.openxmlformats.org/drawingml/2006/main">
            <a:r>
              <a:t>      "협업 AI",</a:t>
            </a:r>
          </a:p>
          <a:p xmlns:a="http://schemas.openxmlformats.org/drawingml/2006/main">
            <a:r>
              <a:t>      "교육",</a:t>
            </a:r>
          </a:p>
          <a:p xmlns:a="http://schemas.openxmlformats.org/drawingml/2006/main">
            <a:r>
              <a:t>      "기관별 평가"</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"APS 참여기관",</a:t>
            </a:r>
          </a:p>
          <a:p xmlns:a="http://schemas.openxmlformats.org/drawingml/2006/main">
            <a:r>
              <a:t>        "detail": "업무 유형·숙련도·기존 공유범위 구분",</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"협업 AI / 교육 / 기관별 평가",</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"M365 Copilot",</a:t>
            </a:r>
          </a:p>
          <a:p xmlns:a="http://schemas.openxmlformats.org/drawingml/2006/main">
            <a:r>
              <a:t>        "detail": "M365 문맥에서 문서·회의·정보 작업 지원",</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"직원·평가팀",</a:t>
            </a:r>
          </a:p>
          <a:p xmlns:a="http://schemas.openxmlformats.org/drawingml/2006/main">
            <a:r>
              <a:t>        "detail": "직원의 검토 후 실제 업무 활용",</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"업무 문맥·평가 기록",</a:t>
            </a:r>
          </a:p>
          <a:p xmlns:a="http://schemas.openxmlformats.org/drawingml/2006/main">
            <a:r>
              <a:t>        "detail": "업무 자료와 사용·설문·과업 평가 기록 분리",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"기관·과업별 효과와 학습 부담·실패 비용 분석",</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"참여 기관",</a:t>
            </a:r>
          </a:p>
          <a:p xmlns:a="http://schemas.openxmlformats.org/drawingml/2006/main">
            <a:r>
              <a:t>        "input": "업무 유형·숙련도·기존 공유범위 구분",</a:t>
            </a:r>
          </a:p>
          <a:p xmlns:a="http://schemas.openxmlformats.org/drawingml/2006/main">
            <a:r>
              <a:t>        "process": "업무 자료와 사용·설문·과업 평가 기록 분리",</a:t>
            </a:r>
          </a:p>
          <a:p xmlns:a="http://schemas.openxmlformats.org/drawingml/2006/main">
            <a:r>
              <a:t>        "output": "과업 요청"</a:t>
            </a:r>
          </a:p>
          <a:p xmlns:a="http://schemas.openxmlformats.org/drawingml/2006/main">
            <a:r>
              <a:t>      },</a:t>
            </a:r>
          </a:p>
          <a:p xmlns:a="http://schemas.openxmlformats.org/drawingml/2006/main">
            <a:r>
              <a:t>      {</a:t>
            </a:r>
          </a:p>
          <a:p xmlns:a="http://schemas.openxmlformats.org/drawingml/2006/main">
            <a:r>
              <a:t>        "title": "협업 AI 도구",</a:t>
            </a:r>
          </a:p>
          <a:p xmlns:a="http://schemas.openxmlformats.org/drawingml/2006/main">
            <a:r>
              <a:t>        "input": "과업 요청",</a:t>
            </a:r>
          </a:p>
          <a:p xmlns:a="http://schemas.openxmlformats.org/drawingml/2006/main">
            <a:r>
              <a:t>        "process": "M365 문맥에서 문서·회의·정보 작업 지원",</a:t>
            </a:r>
          </a:p>
          <a:p xmlns:a="http://schemas.openxmlformats.org/drawingml/2006/main">
            <a:r>
              <a:t>        "output": "지원 결과"</a:t>
            </a:r>
          </a:p>
          <a:p xmlns:a="http://schemas.openxmlformats.org/drawingml/2006/main">
            <a:r>
              <a:t>      },</a:t>
            </a:r>
          </a:p>
          <a:p xmlns:a="http://schemas.openxmlformats.org/drawingml/2006/main">
            <a:r>
              <a:t>      {</a:t>
            </a:r>
          </a:p>
          <a:p xmlns:a="http://schemas.openxmlformats.org/drawingml/2006/main">
            <a:r>
              <a:t>        "title": "교육·업무 활용",</a:t>
            </a:r>
          </a:p>
          <a:p xmlns:a="http://schemas.openxmlformats.org/drawingml/2006/main">
            <a:r>
              <a:t>        "input": "지원 결과",</a:t>
            </a:r>
          </a:p>
          <a:p xmlns:a="http://schemas.openxmlformats.org/drawingml/2006/main">
            <a:r>
              <a:t>        "process": "과업·숙련도별 비교와 실패 비용 포함",</a:t>
            </a:r>
          </a:p>
          <a:p xmlns:a="http://schemas.openxmlformats.org/drawingml/2006/main">
            <a:r>
              <a:t>        "output": "현업 활용"</a:t>
            </a:r>
          </a:p>
          <a:p xmlns:a="http://schemas.openxmlformats.org/drawingml/2006/main">
            <a:r>
              <a:t>      },</a:t>
            </a:r>
          </a:p>
          <a:p xmlns:a="http://schemas.openxmlformats.org/drawingml/2006/main">
            <a:r>
              <a:t>      {</a:t>
            </a:r>
          </a:p>
          <a:p xmlns:a="http://schemas.openxmlformats.org/drawingml/2006/main">
            <a:r>
              <a:t>        "title": "전후 설문 평가",</a:t>
            </a:r>
          </a:p>
          <a:p xmlns:a="http://schemas.openxmlformats.org/drawingml/2006/main">
            <a:r>
              <a:t>        "input": "현업 활용",</a:t>
            </a:r>
          </a:p>
          <a:p xmlns:a="http://schemas.openxmlformats.org/drawingml/2006/main">
            <a:r>
              <a:t>        "process": "직원의 검토 후 실제 업무 활용",</a:t>
            </a:r>
          </a:p>
          <a:p xmlns:a="http://schemas.openxmlformats.org/drawingml/2006/main">
            <a:r>
              <a:t>        "output": "전후 평가"</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"같은 업무를 지원 전후 수행하고 검토시간까지 측정",</a:t>
            </a:r>
          </a:p>
          <a:p xmlns:a="http://schemas.openxmlformats.org/drawingml/2006/main">
            <a:r>
              <a:t>      "exception": "숙련도 차이·미사용자 제외·어려운 과업 누락",</a:t>
            </a:r>
          </a:p>
          <a:p xmlns:a="http://schemas.openxmlformats.org/drawingml/2006/main">
            <a:r>
              <a:t>      "evidence": "기관·과업·숙련도별 비교표와 오류·재작업 기록",</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"참여기관 직원·교육·평가팀",</a:t>
            </a:r>
          </a:p>
          <a:p xmlns:a="http://schemas.openxmlformats.org/drawingml/2006/main">
            <a:r>
              <a:t>          "processing": "업무 유형·숙련도·기존 공유범위 구분",</a:t>
            </a:r>
          </a:p>
          <a:p xmlns:a="http://schemas.openxmlformats.org/drawingml/2006/main">
            <a:r>
              <a:t>          "output": "과업 요청"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"업무 문맥·평가 기록",</a:t>
            </a:r>
          </a:p>
          <a:p xmlns:a="http://schemas.openxmlformats.org/drawingml/2006/main">
            <a:r>
              <a:t>          "processing": "업무 자료와 사용·설문·과업 평가 기록 분리",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"과업 요청",</a:t>
            </a:r>
          </a:p>
          <a:p xmlns:a="http://schemas.openxmlformats.org/drawingml/2006/main">
            <a:r>
              <a:t>          "processing": "M365 문맥에서 문서·회의·정보 작업 지원",</a:t>
            </a:r>
          </a:p>
          <a:p xmlns:a="http://schemas.openxmlformats.org/drawingml/2006/main">
            <a:r>
              <a:t>          "output": "현업 활용"</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"현업 활용",</a:t>
            </a:r>
          </a:p>
          <a:p xmlns:a="http://schemas.openxmlformats.org/drawingml/2006/main">
            <a:r>
              <a:t>          "processing": "직원의 검토 후 실제 업무 활용",</a:t>
            </a:r>
          </a:p>
          <a:p xmlns:a="http://schemas.openxmlformats.org/drawingml/2006/main">
            <a:r>
              <a:t>          "output": "전후 평가"</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"기관·과업별 효과와 학습 부담·실패 비용 분석",</a:t>
            </a:r>
          </a:p>
          <a:p xmlns:a="http://schemas.openxmlformats.org/drawingml/2006/main">
            <a:r>
              <a:t>          "output": "기관·과업·숙련도별 비교표와 오류·재작업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"기관·과업별 효과와 학습 부담·실패 비용 분석",</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"P139 / 교육·도입 정착·평가 한계",</a:t>
            </a:r>
          </a:p>
          <a:p xmlns:a="http://schemas.openxmlformats.org/drawingml/2006/main">
            <a:r>
              <a:t>        "url": "https://www.digital.gov.au/initiatives/copilot-trial/microsoft-365-copilot-evaluation-report-full/executive-summary-glossary"</a:t>
            </a:r>
          </a:p>
          <a:p xmlns:a="http://schemas.openxmlformats.org/drawingml/2006/main">
            <a:r>
              <a:t>      }</a:t>
            </a:r>
          </a:p>
          <a:p xmlns:a="http://schemas.openxmlformats.org/drawingml/2006/main">
            <a:r>
              <a:t>    ],</a:t>
            </a:r>
          </a:p>
          <a:p xmlns:a="http://schemas.openxmlformats.org/drawingml/2006/main">
            <a:r>
              <a:t>    "implication": "교육·숙련도·과업 차이를 반영한 부서별 AI 도입 효과 평가",</a:t>
            </a:r>
          </a:p>
          <a:p xmlns:a="http://schemas.openxmlformats.org/drawingml/2006/main">
            <a:r>
              <a:t>    "local": "교육·숙련도·과업 차이를 반영한 부서별 AI 도입 효과 평가",</a:t>
            </a:r>
          </a:p>
          <a:p xmlns:a="http://schemas.openxmlformats.org/drawingml/2006/main">
            <a:r>
              <a:t>    "sourceDetail": "5,765개 이상 라이선스, 기관 지명 방식 참여, 설문·기관 평가\n기관 맥락에 맞는 교육·활용 사례가 확산 요인. Nous 외부 평가 지원",</a:t>
            </a:r>
          </a:p>
          <a:p xmlns:a="http://schemas.openxmlformats.org/drawingml/2006/main">
            <a:r>
              <a:t>    "narrative": [</a:t>
            </a:r>
          </a:p>
          <a:p xmlns:a="http://schemas.openxmlformats.org/drawingml/2006/main">
            <a:r>
              <a:t>      "호주 공공부문 Microsoft 365 Copilot 시험의 평가 사례. 기관 직원이 실제 업무에서 협업 AI를 사용하고 이용 경험·과업 효과·교육 부담을 비교하는 접근.",</a:t>
            </a:r>
          </a:p>
          <a:p xmlns:a="http://schemas.openxmlformats.org/drawingml/2006/main">
            <a:r>
              <a:t>      "기존 협업 도구와 문서 공유 권한 위에서 문서·회의·검색 지원을 수행하는 구조. 이용 로그·설문 응답·과업 평가를 분리해 수집하고 기관·업무·숙련도에 따른 효과 편차를 확인하는 평가 설계.",</a:t>
            </a:r>
          </a:p>
          <a:p xmlns:a="http://schemas.openxmlformats.org/drawingml/2006/main">
            <a:r>
              <a:t>      "보고된 시간 절감 수치를 TS의 기대효과로 직접 전용하지 않는 것이 핵심. 도구 이용자와 미이용자의 업무 난도, 검토시간, 오류 수정비용을 맞추어 비교하고 과도하게 공유된 기존 문서의 검색 노출도 별도 점검."</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"APS 직원 접점",</a:t>
            </a:r>
          </a:p>
          <a:p xmlns:a="http://schemas.openxmlformats.org/drawingml/2006/main">
            <a:r>
              <a:t>          "layer": "이용 접점",</a:t>
            </a:r>
          </a:p>
          <a:p xmlns:a="http://schemas.openxmlformats.org/drawingml/2006/main">
            <a:r>
              <a:t>          "detail": "참여기관 직원·교육·평가팀",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"과업·숙련도",</a:t>
            </a:r>
          </a:p>
          <a:p xmlns:a="http://schemas.openxmlformats.org/drawingml/2006/main">
            <a:r>
              <a:t>          "layer": "업무 문맥",</a:t>
            </a:r>
          </a:p>
          <a:p xmlns:a="http://schemas.openxmlformats.org/drawingml/2006/main">
            <a:r>
              <a:t>          "detail": "업무 유형·숙련도·기존 공유범위 구분",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"M365 문맥 검색",</a:t>
            </a:r>
          </a:p>
          <a:p xmlns:a="http://schemas.openxmlformats.org/drawingml/2006/main">
            <a:r>
              <a:t>          "layer": "자료 조회",</a:t>
            </a:r>
          </a:p>
          <a:p xmlns:a="http://schemas.openxmlformats.org/drawingml/2006/main">
            <a:r>
              <a:t>          "detail": "과업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"Copilot 업무 지원",</a:t>
            </a:r>
          </a:p>
          <a:p xmlns:a="http://schemas.openxmlformats.org/drawingml/2006/main">
            <a:r>
              <a:t>          "layer": "핵심 처리",</a:t>
            </a:r>
          </a:p>
          <a:p xmlns:a="http://schemas.openxmlformats.org/drawingml/2006/main">
            <a:r>
              <a:t>          "detail": "M365 문맥에서 문서·회의·정보 작업 지원",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"내용·공유 검사",</a:t>
            </a:r>
          </a:p>
          <a:p xmlns:a="http://schemas.openxmlformats.org/drawingml/2006/main">
            <a:r>
              <a:t>          "layer": "결과 검증",</a:t>
            </a:r>
          </a:p>
          <a:p xmlns:a="http://schemas.openxmlformats.org/drawingml/2006/main">
            <a:r>
              <a:t>          "detail": "과업·숙련도별 비교와 실패 비용 포함",</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"직원 검토",</a:t>
            </a:r>
          </a:p>
          <a:p xmlns:a="http://schemas.openxmlformats.org/drawingml/2006/main">
            <a:r>
              <a:t>          "layer": "사람 확인",</a:t>
            </a:r>
          </a:p>
          <a:p xmlns:a="http://schemas.openxmlformats.org/drawingml/2006/main">
            <a:r>
              <a:t>          "detail": "같은 업무를 지원 전후 수행하고 검토시간까지 측정",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"현업 결과 활용",</a:t>
            </a:r>
          </a:p>
          <a:p xmlns:a="http://schemas.openxmlformats.org/drawingml/2006/main">
            <a:r>
              <a:t>          "layer": "업무 연결",</a:t>
            </a:r>
          </a:p>
          <a:p xmlns:a="http://schemas.openxmlformats.org/drawingml/2006/main">
            <a:r>
              <a:t>          "detail": "직원의 검토 후 실제 업무 활용",</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"기관·과업 평가",</a:t>
            </a:r>
          </a:p>
          <a:p xmlns:a="http://schemas.openxmlformats.org/drawingml/2006/main">
            <a:r>
              <a:t>          "layer": "운영 관측",</a:t>
            </a:r>
          </a:p>
          <a:p xmlns:a="http://schemas.openxmlformats.org/drawingml/2006/main">
            <a:r>
              <a:t>          "detail": "기관·과업별 효과와 학습 부담·실패 비용 분석",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"업무·설문 자료",</a:t>
            </a:r>
          </a:p>
          <a:p xmlns:a="http://schemas.openxmlformats.org/drawingml/2006/main">
            <a:r>
              <a:t>          "layer": "데이터 원천",</a:t>
            </a:r>
          </a:p>
          <a:p xmlns:a="http://schemas.openxmlformats.org/drawingml/2006/main">
            <a:r>
              <a:t>          "detail": "업무 문맥·평가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"평가 표본 분리",</a:t>
            </a:r>
          </a:p>
          <a:p xmlns:a="http://schemas.openxmlformats.org/drawingml/2006/main">
            <a:r>
              <a:t>          "layer": "준비·갱신",</a:t>
            </a:r>
          </a:p>
          <a:p xmlns:a="http://schemas.openxmlformats.org/drawingml/2006/main">
            <a:r>
              <a:t>          "detail": "업무 자료와 사용·설문·과업 평가 기록 분리",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"활용·비교 기록",</a:t>
            </a:r>
          </a:p>
          <a:p xmlns:a="http://schemas.openxmlformats.org/drawingml/2006/main">
            <a:r>
              <a:t>          "layer": "상태·지식 저장",</a:t>
            </a:r>
          </a:p>
          <a:p xmlns:a="http://schemas.openxmlformats.org/drawingml/2006/main">
            <a:r>
              <a:t>          "detail": "기관·과업·숙련도별 비교표와 오류·재작업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"공유·평가 정책",</a:t>
            </a:r>
          </a:p>
          <a:p xmlns:a="http://schemas.openxmlformats.org/drawingml/2006/main">
            <a:r>
              <a:t>          "layer": "권한·정책",</a:t>
            </a:r>
          </a:p>
          <a:p xmlns:a="http://schemas.openxmlformats.org/drawingml/2006/main">
            <a:r>
              <a:t>          "detail": "숙련도 차이·미사용자 제외·어려운 과업 누락",</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"업무 유형·숙련도·기존 공유범위 구분",</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"과업 요청",</a:t>
            </a:r>
          </a:p>
          <a:p xmlns:a="http://schemas.openxmlformats.org/drawingml/2006/main">
            <a:r>
              <a:t>          "check": "과업·숙련도별 비교와 실패 비용 포함"</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"지원 결과",</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"현업 활용",</a:t>
            </a:r>
          </a:p>
          <a:p xmlns:a="http://schemas.openxmlformats.org/drawingml/2006/main">
            <a:r>
              <a:t>          "check": "숙련도 차이·미사용자 제외·어려운 과업 누락"</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"현업 활용",</a:t>
            </a:r>
          </a:p>
          <a:p xmlns:a="http://schemas.openxmlformats.org/drawingml/2006/main">
            <a:r>
              <a:t>          "check": "직원의 검토 후 실제 업무 활용"</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"전후 평가",</a:t>
            </a:r>
          </a:p>
          <a:p xmlns:a="http://schemas.openxmlformats.org/drawingml/2006/main">
            <a:r>
              <a:t>          "check": "기관·과업·숙련도별 비교표와 오류·재작업 기록"</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"공공부문 Copilot 도입 효과의 평가 / 협업 AI·교육·기관별 평가",</a:t>
            </a:r>
          </a:p>
          <a:p xmlns:a="http://schemas.openxmlformats.org/drawingml/2006/main">
            <a:r>
              <a:t>        "extension": "교육·숙련도·과업 차이를 반영한 부서별 AI 도입 효과 평가"</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"숙련도 차이·미사용자 제외·어려운 과업 누락",</a:t>
            </a:r>
          </a:p>
          <a:p xmlns:a="http://schemas.openxmlformats.org/drawingml/2006/main">
            <a:r>
              <a:t>        "hold": "과업·숙련도별 비교와 실패 비용 포함",</a:t>
            </a:r>
          </a:p>
          <a:p xmlns:a="http://schemas.openxmlformats.org/drawingml/2006/main">
            <a:r>
              <a:t>        "recovery": "기관·과업별 효과와 학습 부담·실패 비용 분석",</a:t>
            </a:r>
          </a:p>
          <a:p xmlns:a="http://schemas.openxmlformats.org/drawingml/2006/main">
            <a:r>
              <a:t>        "evidence": "기관·과업·숙련도별 비교표와 오류·재작업 기록"</a:t>
            </a:r>
          </a:p>
          <a:p xmlns:a="http://schemas.openxmlformats.org/drawingml/2006/main">
            <a:r>
              <a:t>      },</a:t>
            </a:r>
          </a:p>
          <a:p xmlns:a="http://schemas.openxmlformats.org/drawingml/2006/main">
            <a:r>
              <a:t>      "data": {</a:t>
            </a:r>
          </a:p>
          <a:p xmlns:a="http://schemas.openxmlformats.org/drawingml/2006/main">
            <a:r>
              <a:t>        "source": "업무 문맥·평가 기록",</a:t>
            </a:r>
          </a:p>
          <a:p xmlns:a="http://schemas.openxmlformats.org/drawingml/2006/main">
            <a:r>
              <a:t>        "prepare": "업무 자료와 사용·설문·과업 평가 기록 분리",</a:t>
            </a:r>
          </a:p>
          <a:p xmlns:a="http://schemas.openxmlformats.org/drawingml/2006/main">
            <a:r>
              <a:t>        "output": "과업 요청",</a:t>
            </a:r>
          </a:p>
          <a:p xmlns:a="http://schemas.openxmlformats.org/drawingml/2006/main">
            <a:r>
              <a:t>        "refresh": "기관·과업별 효과와 학습 부담·실패 비용 분석"</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"PF-A15",</a:t>
            </a:r>
          </a:p>
          <a:p xmlns:a="http://schemas.openxmlformats.org/drawingml/2006/main">
            <a:r>
              <a:t>    "success": [</a:t>
            </a:r>
          </a:p>
          <a:p xmlns:a="http://schemas.openxmlformats.org/drawingml/2006/main">
            <a:r>
              <a:t>      "기존 협업 환경과 교육 결합",</a:t>
            </a:r>
          </a:p>
          <a:p xmlns:a="http://schemas.openxmlformats.org/drawingml/2006/main">
            <a:r>
              <a:t>      "참여기관의 전후 평가"</a:t>
            </a:r>
          </a:p>
          <a:p xmlns:a="http://schemas.openxmlformats.org/drawingml/2006/main">
            <a:r>
              <a:t>    ],</a:t>
            </a:r>
          </a:p>
          <a:p xmlns:a="http://schemas.openxmlformats.org/drawingml/2006/main">
            <a:r>
              <a:t>    "risks": [</a:t>
            </a:r>
          </a:p>
          <a:p xmlns:a="http://schemas.openxmlformats.org/drawingml/2006/main">
            <a:r>
              <a:t>      "학습·조직 준비도 차이",</a:t>
            </a:r>
          </a:p>
          <a:p xmlns:a="http://schemas.openxmlformats.org/drawingml/2006/main">
            <a:r>
              <a:t>      "설문 변화의 인과효과 단정"</a:t>
            </a:r>
          </a:p>
          <a:p xmlns:a="http://schemas.openxmlformats.org/drawingml/2006/main">
            <a:r>
              <a:t>    ],</a:t>
            </a:r>
          </a:p>
          <a:p xmlns:a="http://schemas.openxmlformats.org/drawingml/2006/main">
            <a:r>
              <a:t>    "architecture": [</a:t>
            </a:r>
          </a:p>
          <a:p xmlns:a="http://schemas.openxmlformats.org/drawingml/2006/main">
            <a:r>
              <a:t>      "APS 참여기관",</a:t>
            </a:r>
          </a:p>
          <a:p xmlns:a="http://schemas.openxmlformats.org/drawingml/2006/main">
            <a:r>
              <a:t>      "M365 Copilot",</a:t>
            </a:r>
          </a:p>
          <a:p xmlns:a="http://schemas.openxmlformats.org/drawingml/2006/main">
            <a:r>
              <a:t>      "업무 문맥·평가 기록",</a:t>
            </a:r>
          </a:p>
          <a:p xmlns:a="http://schemas.openxmlformats.org/drawingml/2006/main">
            <a:r>
              <a:t>      "직원·평가팀"</a:t>
            </a:r>
          </a:p>
          <a:p xmlns:a="http://schemas.openxmlformats.org/drawingml/2006/main">
            <a:r>
              <a:t>    ],</a:t>
            </a:r>
          </a:p>
          <a:p xmlns:a="http://schemas.openxmlformats.org/drawingml/2006/main">
            <a:r>
              <a:t>    "transfers": [</a:t>
            </a:r>
          </a:p>
          <a:p xmlns:a="http://schemas.openxmlformats.org/drawingml/2006/main">
            <a:r>
              <a:t>      "과업 요청",</a:t>
            </a:r>
          </a:p>
          <a:p xmlns:a="http://schemas.openxmlformats.org/drawingml/2006/main">
            <a:r>
              <a:t>      "지원 결과",</a:t>
            </a:r>
          </a:p>
          <a:p xmlns:a="http://schemas.openxmlformats.org/drawingml/2006/main">
            <a:r>
              <a:t>      "현업 활용",</a:t>
            </a:r>
          </a:p>
          <a:p xmlns:a="http://schemas.openxmlformats.org/drawingml/2006/main">
            <a:r>
              <a:t>      "전후 평가"</a:t>
            </a:r>
          </a:p>
          <a:p xmlns:a="http://schemas.openxmlformats.org/drawingml/2006/main">
            <a:r>
              <a:t>    ],</a:t>
            </a:r>
          </a:p>
          <a:p xmlns:a="http://schemas.openxmlformats.org/drawingml/2006/main">
            <a:r>
              <a:t>    "control": "과업·숙련도별 비교와 실패 비용 포함",</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P139 / 교육·도입 정착·평가 한계 https://www.digital.gov.au/initiatives/copilot-trial/microsoft-365-copilot-evaluation-report-full/executive-summary-glossary</a:t>
            </a:r>
          </a:p>
          <a:p xmlns:a="http://schemas.openxmlformats.org/drawingml/2006/main">
            <a:r>
              <a:t>홈페이지 https://heen1987-ops.github.io/TS-business-Plan-001/index.html?view=platform-cases&amp;case=PF-A15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"PF-A15",</a:t>
            </a:r>
          </a:p>
          <a:p xmlns:a="http://schemas.openxmlformats.org/drawingml/2006/main">
            <a:r>
              <a:t>    "sourceId": "A15",</a:t>
            </a:r>
          </a:p>
          <a:p xmlns:a="http://schemas.openxmlformats.org/drawingml/2006/main">
            <a:r>
              <a:t>    "title": "호주 APS Copilot 평가",</a:t>
            </a:r>
          </a:p>
          <a:p xmlns:a="http://schemas.openxmlformats.org/drawingml/2006/main">
            <a:r>
              <a:t>    "region": "해외",</a:t>
            </a:r>
          </a:p>
          <a:p xmlns:a="http://schemas.openxmlformats.org/drawingml/2006/main">
            <a:r>
              <a:t>    "owner": "DTA / APS M365 Copilot 평가",</a:t>
            </a:r>
          </a:p>
          <a:p xmlns:a="http://schemas.openxmlformats.org/drawingml/2006/main">
            <a:r>
              <a:t>    "state": "2024-01~06 정부 실험·평가",</a:t>
            </a:r>
          </a:p>
          <a:p xmlns:a="http://schemas.openxmlformats.org/drawingml/2006/main">
            <a:r>
              <a:t>    "period": "기존 원장 확인 2026.10.16",</a:t>
            </a:r>
          </a:p>
          <a:p xmlns:a="http://schemas.openxmlformats.org/drawingml/2006/main">
            <a:r>
              <a:t>    "fact": "기존 협업 플랫폼 AI 적용",</a:t>
            </a:r>
          </a:p>
          <a:p xmlns:a="http://schemas.openxmlformats.org/drawingml/2006/main">
            <a:r>
              <a:t>    "limit": "무작위 실험 아님. 일부 업무 하루1시간 체감 절감을 전직원 실측값으로 사용 금지",</a:t>
            </a:r>
          </a:p>
          <a:p xmlns:a="http://schemas.openxmlformats.org/drawingml/2006/main">
            <a:r>
              <a:t>    "nodes": [</a:t>
            </a:r>
          </a:p>
          <a:p xmlns:a="http://schemas.openxmlformats.org/drawingml/2006/main">
            <a:r>
              <a:t>      "참여 기관",</a:t>
            </a:r>
          </a:p>
          <a:p xmlns:a="http://schemas.openxmlformats.org/drawingml/2006/main">
            <a:r>
              <a:t>      "협업 AI 도구",</a:t>
            </a:r>
          </a:p>
          <a:p xmlns:a="http://schemas.openxmlformats.org/drawingml/2006/main">
            <a:r>
              <a:t>      "교육·업무 활용",</a:t>
            </a:r>
          </a:p>
          <a:p xmlns:a="http://schemas.openxmlformats.org/drawingml/2006/main">
            <a:r>
              <a:t>      "전후 설문 평가"</a:t>
            </a:r>
          </a:p>
          <a:p xmlns:a="http://schemas.openxmlformats.org/drawingml/2006/main">
            <a:r>
              <a:t>    ],</a:t>
            </a:r>
          </a:p>
          <a:p xmlns:a="http://schemas.openxmlformats.org/drawingml/2006/main">
            <a:r>
              <a:t>    "apply": "교육·숙련도·과업 차이를 반영한 부서별 AI 도입 효과 평가",</a:t>
            </a:r>
          </a:p>
          <a:p xmlns:a="http://schemas.openxmlformats.org/drawingml/2006/main">
            <a:r>
              <a:t>    "delta": "부서·직무·권한·변경 교차 평가",</a:t>
            </a:r>
          </a:p>
          <a:p xmlns:a="http://schemas.openxmlformats.org/drawingml/2006/main">
            <a:r>
              <a:t>    "test": "완료시간·오류·총비용의 기준선·비교 평가",</a:t>
            </a:r>
          </a:p>
          <a:p xmlns:a="http://schemas.openxmlformats.org/drawingml/2006/main">
            <a:r>
              <a:t>    "url": "https://www.digital.gov.au/initiatives/copilot-trial/microsoft-365-copilot-evaluation-report-full/executive-summary-glossary",</a:t>
            </a:r>
          </a:p>
          <a:p xmlns:a="http://schemas.openxmlformats.org/drawingml/2006/main">
            <a:r>
              <a:t>    "urls": [</a:t>
            </a:r>
          </a:p>
          <a:p xmlns:a="http://schemas.openxmlformats.org/drawingml/2006/main">
            <a:r>
              <a:t>      "https://www.digital.gov.au/initiatives/copilot-trial/microsoft-365-copilot-evaluation-report-full/executive-summary-glossary",</a:t>
            </a:r>
          </a:p>
          <a:p xmlns:a="http://schemas.openxmlformats.org/drawingml/2006/main">
            <a:r>
              <a:t>      "https://www.digital.gov.au/initiatives/copilot-trial/microsoft-365-copilot-evaluation-report-full/productivity"</a:t>
            </a:r>
          </a:p>
          <a:p xmlns:a="http://schemas.openxmlformats.org/drawingml/2006/main">
            <a:r>
              <a:t>    ],</a:t>
            </a:r>
          </a:p>
          <a:p xmlns:a="http://schemas.openxmlformats.org/drawingml/2006/main">
            <a:r>
              <a:t>    "basis": "P139 / 교육·도입 정착·평가 한계",</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"완료시간·오류·총비용",</a:t>
            </a:r>
          </a:p>
          <a:p xmlns:a="http://schemas.openxmlformats.org/drawingml/2006/main">
            <a:r>
              <a:t>    "group": "운영·실증",</a:t>
            </a:r>
          </a:p>
          <a:p xmlns:a="http://schemas.openxmlformats.org/drawingml/2006/main">
            <a:r>
              <a:t>    "sourceDetail": "5,765개 이상 라이선스, 기관 지명 방식 참여, 설문·기관 평가\n기관 맥락에 맞는 교육·활용 사례가 확산 요인. Nous 외부 평가 지원",</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"PF-A15",</a:t>
            </a:r>
          </a:p>
          <a:p xmlns:a="http://schemas.openxmlformats.org/drawingml/2006/main">
            <a:r>
              <a:t>    "canonicalId": "PF-A15",</a:t>
            </a:r>
          </a:p>
          <a:p xmlns:a="http://schemas.openxmlformats.org/drawingml/2006/main">
            <a:r>
              <a:t>    "purpose": "공공부문 Copilot 도입 효과의 평가",</a:t>
            </a:r>
          </a:p>
          <a:p xmlns:a="http://schemas.openxmlformats.org/drawingml/2006/main">
            <a:r>
              <a:t>    "users": "참여기관 직원·교육·평가팀",</a:t>
            </a:r>
          </a:p>
          <a:p xmlns:a="http://schemas.openxmlformats.org/drawingml/2006/main">
            <a:r>
              <a:t>    "scope": [</a:t>
            </a:r>
          </a:p>
          <a:p xmlns:a="http://schemas.openxmlformats.org/drawingml/2006/main">
            <a:r>
              <a:t>      "협업 AI",</a:t>
            </a:r>
          </a:p>
          <a:p xmlns:a="http://schemas.openxmlformats.org/drawingml/2006/main">
            <a:r>
              <a:t>      "교육",</a:t>
            </a:r>
          </a:p>
          <a:p xmlns:a="http://schemas.openxmlformats.org/drawingml/2006/main">
            <a:r>
              <a:t>      "기관별 평가"</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"APS 참여기관",</a:t>
            </a:r>
          </a:p>
          <a:p xmlns:a="http://schemas.openxmlformats.org/drawingml/2006/main">
            <a:r>
              <a:t>        "detail": "업무 유형·숙련도·기존 공유범위 구분",</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"협업 AI / 교육 / 기관별 평가",</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"M365 Copilot",</a:t>
            </a:r>
          </a:p>
          <a:p xmlns:a="http://schemas.openxmlformats.org/drawingml/2006/main">
            <a:r>
              <a:t>        "detail": "M365 문맥에서 문서·회의·정보 작업 지원",</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"직원·평가팀",</a:t>
            </a:r>
          </a:p>
          <a:p xmlns:a="http://schemas.openxmlformats.org/drawingml/2006/main">
            <a:r>
              <a:t>        "detail": "직원의 검토 후 실제 업무 활용",</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"업무 문맥·평가 기록",</a:t>
            </a:r>
          </a:p>
          <a:p xmlns:a="http://schemas.openxmlformats.org/drawingml/2006/main">
            <a:r>
              <a:t>        "detail": "업무 자료와 사용·설문·과업 평가 기록 분리",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"기관·과업별 효과와 학습 부담·실패 비용 분석",</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"참여 기관",</a:t>
            </a:r>
          </a:p>
          <a:p xmlns:a="http://schemas.openxmlformats.org/drawingml/2006/main">
            <a:r>
              <a:t>        "input": "업무 유형·숙련도·기존 공유범위 구분",</a:t>
            </a:r>
          </a:p>
          <a:p xmlns:a="http://schemas.openxmlformats.org/drawingml/2006/main">
            <a:r>
              <a:t>        "process": "업무 자료와 사용·설문·과업 평가 기록 분리",</a:t>
            </a:r>
          </a:p>
          <a:p xmlns:a="http://schemas.openxmlformats.org/drawingml/2006/main">
            <a:r>
              <a:t>        "output": "과업 요청"</a:t>
            </a:r>
          </a:p>
          <a:p xmlns:a="http://schemas.openxmlformats.org/drawingml/2006/main">
            <a:r>
              <a:t>      },</a:t>
            </a:r>
          </a:p>
          <a:p xmlns:a="http://schemas.openxmlformats.org/drawingml/2006/main">
            <a:r>
              <a:t>      {</a:t>
            </a:r>
          </a:p>
          <a:p xmlns:a="http://schemas.openxmlformats.org/drawingml/2006/main">
            <a:r>
              <a:t>        "title": "협업 AI 도구",</a:t>
            </a:r>
          </a:p>
          <a:p xmlns:a="http://schemas.openxmlformats.org/drawingml/2006/main">
            <a:r>
              <a:t>        "input": "과업 요청",</a:t>
            </a:r>
          </a:p>
          <a:p xmlns:a="http://schemas.openxmlformats.org/drawingml/2006/main">
            <a:r>
              <a:t>        "process": "M365 문맥에서 문서·회의·정보 작업 지원",</a:t>
            </a:r>
          </a:p>
          <a:p xmlns:a="http://schemas.openxmlformats.org/drawingml/2006/main">
            <a:r>
              <a:t>        "output": "지원 결과"</a:t>
            </a:r>
          </a:p>
          <a:p xmlns:a="http://schemas.openxmlformats.org/drawingml/2006/main">
            <a:r>
              <a:t>      },</a:t>
            </a:r>
          </a:p>
          <a:p xmlns:a="http://schemas.openxmlformats.org/drawingml/2006/main">
            <a:r>
              <a:t>      {</a:t>
            </a:r>
          </a:p>
          <a:p xmlns:a="http://schemas.openxmlformats.org/drawingml/2006/main">
            <a:r>
              <a:t>        "title": "교육·업무 활용",</a:t>
            </a:r>
          </a:p>
          <a:p xmlns:a="http://schemas.openxmlformats.org/drawingml/2006/main">
            <a:r>
              <a:t>        "input": "지원 결과",</a:t>
            </a:r>
          </a:p>
          <a:p xmlns:a="http://schemas.openxmlformats.org/drawingml/2006/main">
            <a:r>
              <a:t>        "process": "과업·숙련도별 비교와 실패 비용 포함",</a:t>
            </a:r>
          </a:p>
          <a:p xmlns:a="http://schemas.openxmlformats.org/drawingml/2006/main">
            <a:r>
              <a:t>        "output": "현업 활용"</a:t>
            </a:r>
          </a:p>
          <a:p xmlns:a="http://schemas.openxmlformats.org/drawingml/2006/main">
            <a:r>
              <a:t>      },</a:t>
            </a:r>
          </a:p>
          <a:p xmlns:a="http://schemas.openxmlformats.org/drawingml/2006/main">
            <a:r>
              <a:t>      {</a:t>
            </a:r>
          </a:p>
          <a:p xmlns:a="http://schemas.openxmlformats.org/drawingml/2006/main">
            <a:r>
              <a:t>        "title": "전후 설문 평가",</a:t>
            </a:r>
          </a:p>
          <a:p xmlns:a="http://schemas.openxmlformats.org/drawingml/2006/main">
            <a:r>
              <a:t>        "input": "현업 활용",</a:t>
            </a:r>
          </a:p>
          <a:p xmlns:a="http://schemas.openxmlformats.org/drawingml/2006/main">
            <a:r>
              <a:t>        "process": "직원의 검토 후 실제 업무 활용",</a:t>
            </a:r>
          </a:p>
          <a:p xmlns:a="http://schemas.openxmlformats.org/drawingml/2006/main">
            <a:r>
              <a:t>        "output": "전후 평가"</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"같은 업무를 지원 전후 수행하고 검토시간까지 측정",</a:t>
            </a:r>
          </a:p>
          <a:p xmlns:a="http://schemas.openxmlformats.org/drawingml/2006/main">
            <a:r>
              <a:t>      "exception": "숙련도 차이·미사용자 제외·어려운 과업 누락",</a:t>
            </a:r>
          </a:p>
          <a:p xmlns:a="http://schemas.openxmlformats.org/drawingml/2006/main">
            <a:r>
              <a:t>      "evidence": "기관·과업·숙련도별 비교표와 오류·재작업 기록",</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"참여기관 직원·교육·평가팀",</a:t>
            </a:r>
          </a:p>
          <a:p xmlns:a="http://schemas.openxmlformats.org/drawingml/2006/main">
            <a:r>
              <a:t>          "processing": "업무 유형·숙련도·기존 공유범위 구분",</a:t>
            </a:r>
          </a:p>
          <a:p xmlns:a="http://schemas.openxmlformats.org/drawingml/2006/main">
            <a:r>
              <a:t>          "output": "과업 요청"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"업무 문맥·평가 기록",</a:t>
            </a:r>
          </a:p>
          <a:p xmlns:a="http://schemas.openxmlformats.org/drawingml/2006/main">
            <a:r>
              <a:t>          "processing": "업무 자료와 사용·설문·과업 평가 기록 분리",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"과업 요청",</a:t>
            </a:r>
          </a:p>
          <a:p xmlns:a="http://schemas.openxmlformats.org/drawingml/2006/main">
            <a:r>
              <a:t>          "processing": "M365 문맥에서 문서·회의·정보 작업 지원",</a:t>
            </a:r>
          </a:p>
          <a:p xmlns:a="http://schemas.openxmlformats.org/drawingml/2006/main">
            <a:r>
              <a:t>          "output": "현업 활용"</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"현업 활용",</a:t>
            </a:r>
          </a:p>
          <a:p xmlns:a="http://schemas.openxmlformats.org/drawingml/2006/main">
            <a:r>
              <a:t>          "processing": "직원의 검토 후 실제 업무 활용",</a:t>
            </a:r>
          </a:p>
          <a:p xmlns:a="http://schemas.openxmlformats.org/drawingml/2006/main">
            <a:r>
              <a:t>          "output": "전후 평가"</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"기관·과업별 효과와 학습 부담·실패 비용 분석",</a:t>
            </a:r>
          </a:p>
          <a:p xmlns:a="http://schemas.openxmlformats.org/drawingml/2006/main">
            <a:r>
              <a:t>          "output": "기관·과업·숙련도별 비교표와 오류·재작업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"기관·과업별 효과와 학습 부담·실패 비용 분석",</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"P139 / 교육·도입 정착·평가 한계",</a:t>
            </a:r>
          </a:p>
          <a:p xmlns:a="http://schemas.openxmlformats.org/drawingml/2006/main">
            <a:r>
              <a:t>        "url": "https://www.digital.gov.au/initiatives/copilot-trial/microsoft-365-copilot-evaluation-report-full/executive-summary-glossary"</a:t>
            </a:r>
          </a:p>
          <a:p xmlns:a="http://schemas.openxmlformats.org/drawingml/2006/main">
            <a:r>
              <a:t>      }</a:t>
            </a:r>
          </a:p>
          <a:p xmlns:a="http://schemas.openxmlformats.org/drawingml/2006/main">
            <a:r>
              <a:t>    ],</a:t>
            </a:r>
          </a:p>
          <a:p xmlns:a="http://schemas.openxmlformats.org/drawingml/2006/main">
            <a:r>
              <a:t>    "implication": "교육·숙련도·과업 차이를 반영한 부서별 AI 도입 효과 평가",</a:t>
            </a:r>
          </a:p>
          <a:p xmlns:a="http://schemas.openxmlformats.org/drawingml/2006/main">
            <a:r>
              <a:t>    "local": "교육·숙련도·과업 차이를 반영한 부서별 AI 도입 효과 평가",</a:t>
            </a:r>
          </a:p>
          <a:p xmlns:a="http://schemas.openxmlformats.org/drawingml/2006/main">
            <a:r>
              <a:t>    "sourceDetail": "5,765개 이상 라이선스, 기관 지명 방식 참여, 설문·기관 평가\n기관 맥락에 맞는 교육·활용 사례가 확산 요인. Nous 외부 평가 지원",</a:t>
            </a:r>
          </a:p>
          <a:p xmlns:a="http://schemas.openxmlformats.org/drawingml/2006/main">
            <a:r>
              <a:t>    "narrative": [</a:t>
            </a:r>
          </a:p>
          <a:p xmlns:a="http://schemas.openxmlformats.org/drawingml/2006/main">
            <a:r>
              <a:t>      "호주 공공부문 Microsoft 365 Copilot 시험의 평가 사례. 기관 직원이 실제 업무에서 협업 AI를 사용하고 이용 경험·과업 효과·교육 부담을 비교하는 접근.",</a:t>
            </a:r>
          </a:p>
          <a:p xmlns:a="http://schemas.openxmlformats.org/drawingml/2006/main">
            <a:r>
              <a:t>      "기존 협업 도구와 문서 공유 권한 위에서 문서·회의·검색 지원을 수행하는 구조. 이용 로그·설문 응답·과업 평가를 분리해 수집하고 기관·업무·숙련도에 따른 효과 편차를 확인하는 평가 설계.",</a:t>
            </a:r>
          </a:p>
          <a:p xmlns:a="http://schemas.openxmlformats.org/drawingml/2006/main">
            <a:r>
              <a:t>      "보고된 시간 절감 수치를 TS의 기대효과로 직접 전용하지 않는 것이 핵심. 도구 이용자와 미이용자의 업무 난도, 검토시간, 오류 수정비용을 맞추어 비교하고 과도하게 공유된 기존 문서의 검색 노출도 별도 점검."</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"APS 직원 접점",</a:t>
            </a:r>
          </a:p>
          <a:p xmlns:a="http://schemas.openxmlformats.org/drawingml/2006/main">
            <a:r>
              <a:t>          "layer": "이용 접점",</a:t>
            </a:r>
          </a:p>
          <a:p xmlns:a="http://schemas.openxmlformats.org/drawingml/2006/main">
            <a:r>
              <a:t>          "detail": "참여기관 직원·교육·평가팀",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"과업·숙련도",</a:t>
            </a:r>
          </a:p>
          <a:p xmlns:a="http://schemas.openxmlformats.org/drawingml/2006/main">
            <a:r>
              <a:t>          "layer": "업무 문맥",</a:t>
            </a:r>
          </a:p>
          <a:p xmlns:a="http://schemas.openxmlformats.org/drawingml/2006/main">
            <a:r>
              <a:t>          "detail": "업무 유형·숙련도·기존 공유범위 구분",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"M365 문맥 검색",</a:t>
            </a:r>
          </a:p>
          <a:p xmlns:a="http://schemas.openxmlformats.org/drawingml/2006/main">
            <a:r>
              <a:t>          "layer": "자료 조회",</a:t>
            </a:r>
          </a:p>
          <a:p xmlns:a="http://schemas.openxmlformats.org/drawingml/2006/main">
            <a:r>
              <a:t>          "detail": "과업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"Copilot 업무 지원",</a:t>
            </a:r>
          </a:p>
          <a:p xmlns:a="http://schemas.openxmlformats.org/drawingml/2006/main">
            <a:r>
              <a:t>          "layer": "핵심 처리",</a:t>
            </a:r>
          </a:p>
          <a:p xmlns:a="http://schemas.openxmlformats.org/drawingml/2006/main">
            <a:r>
              <a:t>          "detail": "M365 문맥에서 문서·회의·정보 작업 지원",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"내용·공유 검사",</a:t>
            </a:r>
          </a:p>
          <a:p xmlns:a="http://schemas.openxmlformats.org/drawingml/2006/main">
            <a:r>
              <a:t>          "layer": "결과 검증",</a:t>
            </a:r>
          </a:p>
          <a:p xmlns:a="http://schemas.openxmlformats.org/drawingml/2006/main">
            <a:r>
              <a:t>          "detail": "과업·숙련도별 비교와 실패 비용 포함",</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"직원 검토",</a:t>
            </a:r>
          </a:p>
          <a:p xmlns:a="http://schemas.openxmlformats.org/drawingml/2006/main">
            <a:r>
              <a:t>          "layer": "사람 확인",</a:t>
            </a:r>
          </a:p>
          <a:p xmlns:a="http://schemas.openxmlformats.org/drawingml/2006/main">
            <a:r>
              <a:t>          "detail": "같은 업무를 지원 전후 수행하고 검토시간까지 측정",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"현업 결과 활용",</a:t>
            </a:r>
          </a:p>
          <a:p xmlns:a="http://schemas.openxmlformats.org/drawingml/2006/main">
            <a:r>
              <a:t>          "layer": "업무 연결",</a:t>
            </a:r>
          </a:p>
          <a:p xmlns:a="http://schemas.openxmlformats.org/drawingml/2006/main">
            <a:r>
              <a:t>          "detail": "직원의 검토 후 실제 업무 활용",</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"기관·과업 평가",</a:t>
            </a:r>
          </a:p>
          <a:p xmlns:a="http://schemas.openxmlformats.org/drawingml/2006/main">
            <a:r>
              <a:t>          "layer": "운영 관측",</a:t>
            </a:r>
          </a:p>
          <a:p xmlns:a="http://schemas.openxmlformats.org/drawingml/2006/main">
            <a:r>
              <a:t>          "detail": "기관·과업별 효과와 학습 부담·실패 비용 분석",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"업무·설문 자료",</a:t>
            </a:r>
          </a:p>
          <a:p xmlns:a="http://schemas.openxmlformats.org/drawingml/2006/main">
            <a:r>
              <a:t>          "layer": "데이터 원천",</a:t>
            </a:r>
          </a:p>
          <a:p xmlns:a="http://schemas.openxmlformats.org/drawingml/2006/main">
            <a:r>
              <a:t>          "detail": "업무 문맥·평가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"평가 표본 분리",</a:t>
            </a:r>
          </a:p>
          <a:p xmlns:a="http://schemas.openxmlformats.org/drawingml/2006/main">
            <a:r>
              <a:t>          "layer": "준비·갱신",</a:t>
            </a:r>
          </a:p>
          <a:p xmlns:a="http://schemas.openxmlformats.org/drawingml/2006/main">
            <a:r>
              <a:t>          "detail": "업무 자료와 사용·설문·과업 평가 기록 분리",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"활용·비교 기록",</a:t>
            </a:r>
          </a:p>
          <a:p xmlns:a="http://schemas.openxmlformats.org/drawingml/2006/main">
            <a:r>
              <a:t>          "layer": "상태·지식 저장",</a:t>
            </a:r>
          </a:p>
          <a:p xmlns:a="http://schemas.openxmlformats.org/drawingml/2006/main">
            <a:r>
              <a:t>          "detail": "기관·과업·숙련도별 비교표와 오류·재작업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"공유·평가 정책",</a:t>
            </a:r>
          </a:p>
          <a:p xmlns:a="http://schemas.openxmlformats.org/drawingml/2006/main">
            <a:r>
              <a:t>          "layer": "권한·정책",</a:t>
            </a:r>
          </a:p>
          <a:p xmlns:a="http://schemas.openxmlformats.org/drawingml/2006/main">
            <a:r>
              <a:t>          "detail": "숙련도 차이·미사용자 제외·어려운 과업 누락",</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"업무 유형·숙련도·기존 공유범위 구분",</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"과업 요청",</a:t>
            </a:r>
          </a:p>
          <a:p xmlns:a="http://schemas.openxmlformats.org/drawingml/2006/main">
            <a:r>
              <a:t>          "check": "과업·숙련도별 비교와 실패 비용 포함"</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"지원 결과",</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"현업 활용",</a:t>
            </a:r>
          </a:p>
          <a:p xmlns:a="http://schemas.openxmlformats.org/drawingml/2006/main">
            <a:r>
              <a:t>          "check": "숙련도 차이·미사용자 제외·어려운 과업 누락"</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"현업 활용",</a:t>
            </a:r>
          </a:p>
          <a:p xmlns:a="http://schemas.openxmlformats.org/drawingml/2006/main">
            <a:r>
              <a:t>          "check": "직원의 검토 후 실제 업무 활용"</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"전후 평가",</a:t>
            </a:r>
          </a:p>
          <a:p xmlns:a="http://schemas.openxmlformats.org/drawingml/2006/main">
            <a:r>
              <a:t>          "check": "기관·과업·숙련도별 비교표와 오류·재작업 기록"</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"공공부문 Copilot 도입 효과의 평가 / 협업 AI·교육·기관별 평가",</a:t>
            </a:r>
          </a:p>
          <a:p xmlns:a="http://schemas.openxmlformats.org/drawingml/2006/main">
            <a:r>
              <a:t>        "extension": "교육·숙련도·과업 차이를 반영한 부서별 AI 도입 효과 평가"</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"숙련도 차이·미사용자 제외·어려운 과업 누락",</a:t>
            </a:r>
          </a:p>
          <a:p xmlns:a="http://schemas.openxmlformats.org/drawingml/2006/main">
            <a:r>
              <a:t>        "hold": "과업·숙련도별 비교와 실패 비용 포함",</a:t>
            </a:r>
          </a:p>
          <a:p xmlns:a="http://schemas.openxmlformats.org/drawingml/2006/main">
            <a:r>
              <a:t>        "recovery": "기관·과업별 효과와 학습 부담·실패 비용 분석",</a:t>
            </a:r>
          </a:p>
          <a:p xmlns:a="http://schemas.openxmlformats.org/drawingml/2006/main">
            <a:r>
              <a:t>        "evidence": "기관·과업·숙련도별 비교표와 오류·재작업 기록"</a:t>
            </a:r>
          </a:p>
          <a:p xmlns:a="http://schemas.openxmlformats.org/drawingml/2006/main">
            <a:r>
              <a:t>      },</a:t>
            </a:r>
          </a:p>
          <a:p xmlns:a="http://schemas.openxmlformats.org/drawingml/2006/main">
            <a:r>
              <a:t>      "data": {</a:t>
            </a:r>
          </a:p>
          <a:p xmlns:a="http://schemas.openxmlformats.org/drawingml/2006/main">
            <a:r>
              <a:t>        "source": "업무 문맥·평가 기록",</a:t>
            </a:r>
          </a:p>
          <a:p xmlns:a="http://schemas.openxmlformats.org/drawingml/2006/main">
            <a:r>
              <a:t>        "prepare": "업무 자료와 사용·설문·과업 평가 기록 분리",</a:t>
            </a:r>
          </a:p>
          <a:p xmlns:a="http://schemas.openxmlformats.org/drawingml/2006/main">
            <a:r>
              <a:t>        "output": "과업 요청",</a:t>
            </a:r>
          </a:p>
          <a:p xmlns:a="http://schemas.openxmlformats.org/drawingml/2006/main">
            <a:r>
              <a:t>        "refresh": "기관·과업별 효과와 학습 부담·실패 비용 분석"</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"PF-A15",</a:t>
            </a:r>
          </a:p>
          <a:p xmlns:a="http://schemas.openxmlformats.org/drawingml/2006/main">
            <a:r>
              <a:t>    "success": [</a:t>
            </a:r>
          </a:p>
          <a:p xmlns:a="http://schemas.openxmlformats.org/drawingml/2006/main">
            <a:r>
              <a:t>      "기존 협업 환경과 교육 결합",</a:t>
            </a:r>
          </a:p>
          <a:p xmlns:a="http://schemas.openxmlformats.org/drawingml/2006/main">
            <a:r>
              <a:t>      "참여기관의 전후 평가"</a:t>
            </a:r>
          </a:p>
          <a:p xmlns:a="http://schemas.openxmlformats.org/drawingml/2006/main">
            <a:r>
              <a:t>    ],</a:t>
            </a:r>
          </a:p>
          <a:p xmlns:a="http://schemas.openxmlformats.org/drawingml/2006/main">
            <a:r>
              <a:t>    "risks": [</a:t>
            </a:r>
          </a:p>
          <a:p xmlns:a="http://schemas.openxmlformats.org/drawingml/2006/main">
            <a:r>
              <a:t>      "학습·조직 준비도 차이",</a:t>
            </a:r>
          </a:p>
          <a:p xmlns:a="http://schemas.openxmlformats.org/drawingml/2006/main">
            <a:r>
              <a:t>      "설문 변화의 인과효과 단정"</a:t>
            </a:r>
          </a:p>
          <a:p xmlns:a="http://schemas.openxmlformats.org/drawingml/2006/main">
            <a:r>
              <a:t>    ],</a:t>
            </a:r>
          </a:p>
          <a:p xmlns:a="http://schemas.openxmlformats.org/drawingml/2006/main">
            <a:r>
              <a:t>    "architecture": [</a:t>
            </a:r>
          </a:p>
          <a:p xmlns:a="http://schemas.openxmlformats.org/drawingml/2006/main">
            <a:r>
              <a:t>      "APS 참여기관",</a:t>
            </a:r>
          </a:p>
          <a:p xmlns:a="http://schemas.openxmlformats.org/drawingml/2006/main">
            <a:r>
              <a:t>      "M365 Copilot",</a:t>
            </a:r>
          </a:p>
          <a:p xmlns:a="http://schemas.openxmlformats.org/drawingml/2006/main">
            <a:r>
              <a:t>      "업무 문맥·평가 기록",</a:t>
            </a:r>
          </a:p>
          <a:p xmlns:a="http://schemas.openxmlformats.org/drawingml/2006/main">
            <a:r>
              <a:t>      "직원·평가팀"</a:t>
            </a:r>
          </a:p>
          <a:p xmlns:a="http://schemas.openxmlformats.org/drawingml/2006/main">
            <a:r>
              <a:t>    ],</a:t>
            </a:r>
          </a:p>
          <a:p xmlns:a="http://schemas.openxmlformats.org/drawingml/2006/main">
            <a:r>
              <a:t>    "transfers": [</a:t>
            </a:r>
          </a:p>
          <a:p xmlns:a="http://schemas.openxmlformats.org/drawingml/2006/main">
            <a:r>
              <a:t>      "과업 요청",</a:t>
            </a:r>
          </a:p>
          <a:p xmlns:a="http://schemas.openxmlformats.org/drawingml/2006/main">
            <a:r>
              <a:t>      "지원 결과",</a:t>
            </a:r>
          </a:p>
          <a:p xmlns:a="http://schemas.openxmlformats.org/drawingml/2006/main">
            <a:r>
              <a:t>      "현업 활용",</a:t>
            </a:r>
          </a:p>
          <a:p xmlns:a="http://schemas.openxmlformats.org/drawingml/2006/main">
            <a:r>
              <a:t>      "전후 평가"</a:t>
            </a:r>
          </a:p>
          <a:p xmlns:a="http://schemas.openxmlformats.org/drawingml/2006/main">
            <a:r>
              <a:t>    ],</a:t>
            </a:r>
          </a:p>
          <a:p xmlns:a="http://schemas.openxmlformats.org/drawingml/2006/main">
            <a:r>
              <a:t>    "control": "과업·숙련도별 비교와 실패 비용 포함",</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P139 / 교육·도입 정착·평가 한계 https://www.digital.gov.au/initiatives/copilot-trial/microsoft-365-copilot-evaluation-report-full/executive-summary-glossary</a:t>
            </a:r>
          </a:p>
          <a:p xmlns:a="http://schemas.openxmlformats.org/drawingml/2006/main">
            <a:r>
              <a:t>홈페이지 https://heen1987-ops.github.io/TS-business-Plan-001/index.html?view=platform-cases&amp;case=PF-A15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"PF-A15",</a:t>
            </a:r>
          </a:p>
          <a:p xmlns:a="http://schemas.openxmlformats.org/drawingml/2006/main">
            <a:r>
              <a:t>    "sourceId": "A15",</a:t>
            </a:r>
          </a:p>
          <a:p xmlns:a="http://schemas.openxmlformats.org/drawingml/2006/main">
            <a:r>
              <a:t>    "title": "호주 APS Copilot 평가",</a:t>
            </a:r>
          </a:p>
          <a:p xmlns:a="http://schemas.openxmlformats.org/drawingml/2006/main">
            <a:r>
              <a:t>    "region": "해외",</a:t>
            </a:r>
          </a:p>
          <a:p xmlns:a="http://schemas.openxmlformats.org/drawingml/2006/main">
            <a:r>
              <a:t>    "owner": "DTA / APS M365 Copilot 평가",</a:t>
            </a:r>
          </a:p>
          <a:p xmlns:a="http://schemas.openxmlformats.org/drawingml/2006/main">
            <a:r>
              <a:t>    "state": "2024-01~06 정부 실험·평가",</a:t>
            </a:r>
          </a:p>
          <a:p xmlns:a="http://schemas.openxmlformats.org/drawingml/2006/main">
            <a:r>
              <a:t>    "period": "기존 원장 확인 2026.10.16",</a:t>
            </a:r>
          </a:p>
          <a:p xmlns:a="http://schemas.openxmlformats.org/drawingml/2006/main">
            <a:r>
              <a:t>    "fact": "기존 협업 플랫폼 AI 적용",</a:t>
            </a:r>
          </a:p>
          <a:p xmlns:a="http://schemas.openxmlformats.org/drawingml/2006/main">
            <a:r>
              <a:t>    "limit": "무작위 실험 아님. 일부 업무 하루1시간 체감 절감을 전직원 실측값으로 사용 금지",</a:t>
            </a:r>
          </a:p>
          <a:p xmlns:a="http://schemas.openxmlformats.org/drawingml/2006/main">
            <a:r>
              <a:t>    "nodes": [</a:t>
            </a:r>
          </a:p>
          <a:p xmlns:a="http://schemas.openxmlformats.org/drawingml/2006/main">
            <a:r>
              <a:t>      "참여 기관",</a:t>
            </a:r>
          </a:p>
          <a:p xmlns:a="http://schemas.openxmlformats.org/drawingml/2006/main">
            <a:r>
              <a:t>      "협업 AI 도구",</a:t>
            </a:r>
          </a:p>
          <a:p xmlns:a="http://schemas.openxmlformats.org/drawingml/2006/main">
            <a:r>
              <a:t>      "교육·업무 활용",</a:t>
            </a:r>
          </a:p>
          <a:p xmlns:a="http://schemas.openxmlformats.org/drawingml/2006/main">
            <a:r>
              <a:t>      "전후 설문 평가"</a:t>
            </a:r>
          </a:p>
          <a:p xmlns:a="http://schemas.openxmlformats.org/drawingml/2006/main">
            <a:r>
              <a:t>    ],</a:t>
            </a:r>
          </a:p>
          <a:p xmlns:a="http://schemas.openxmlformats.org/drawingml/2006/main">
            <a:r>
              <a:t>    "apply": "교육·숙련도·과업 차이를 반영한 부서별 AI 도입 효과 평가",</a:t>
            </a:r>
          </a:p>
          <a:p xmlns:a="http://schemas.openxmlformats.org/drawingml/2006/main">
            <a:r>
              <a:t>    "delta": "부서·직무·권한·변경 교차 평가",</a:t>
            </a:r>
          </a:p>
          <a:p xmlns:a="http://schemas.openxmlformats.org/drawingml/2006/main">
            <a:r>
              <a:t>    "test": "완료시간·오류·총비용의 기준선·비교 평가",</a:t>
            </a:r>
          </a:p>
          <a:p xmlns:a="http://schemas.openxmlformats.org/drawingml/2006/main">
            <a:r>
              <a:t>    "url": "https://www.digital.gov.au/initiatives/copilot-trial/microsoft-365-copilot-evaluation-report-full/executive-summary-glossary",</a:t>
            </a:r>
          </a:p>
          <a:p xmlns:a="http://schemas.openxmlformats.org/drawingml/2006/main">
            <a:r>
              <a:t>    "urls": [</a:t>
            </a:r>
          </a:p>
          <a:p xmlns:a="http://schemas.openxmlformats.org/drawingml/2006/main">
            <a:r>
              <a:t>      "https://www.digital.gov.au/initiatives/copilot-trial/microsoft-365-copilot-evaluation-report-full/executive-summary-glossary",</a:t>
            </a:r>
          </a:p>
          <a:p xmlns:a="http://schemas.openxmlformats.org/drawingml/2006/main">
            <a:r>
              <a:t>      "https://www.digital.gov.au/initiatives/copilot-trial/microsoft-365-copilot-evaluation-report-full/productivity"</a:t>
            </a:r>
          </a:p>
          <a:p xmlns:a="http://schemas.openxmlformats.org/drawingml/2006/main">
            <a:r>
              <a:t>    ],</a:t>
            </a:r>
          </a:p>
          <a:p xmlns:a="http://schemas.openxmlformats.org/drawingml/2006/main">
            <a:r>
              <a:t>    "basis": "P139 / 교육·도입 정착·평가 한계",</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"완료시간·오류·총비용",</a:t>
            </a:r>
          </a:p>
          <a:p xmlns:a="http://schemas.openxmlformats.org/drawingml/2006/main">
            <a:r>
              <a:t>    "group": "운영·실증",</a:t>
            </a:r>
          </a:p>
          <a:p xmlns:a="http://schemas.openxmlformats.org/drawingml/2006/main">
            <a:r>
              <a:t>    "sourceDetail": "5,765개 이상 라이선스, 기관 지명 방식 참여, 설문·기관 평가\n기관 맥락에 맞는 교육·활용 사례가 확산 요인. Nous 외부 평가 지원",</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"PF-A15",</a:t>
            </a:r>
          </a:p>
          <a:p xmlns:a="http://schemas.openxmlformats.org/drawingml/2006/main">
            <a:r>
              <a:t>    "canonicalId": "PF-A15",</a:t>
            </a:r>
          </a:p>
          <a:p xmlns:a="http://schemas.openxmlformats.org/drawingml/2006/main">
            <a:r>
              <a:t>    "purpose": "공공부문 Copilot 도입 효과의 평가",</a:t>
            </a:r>
          </a:p>
          <a:p xmlns:a="http://schemas.openxmlformats.org/drawingml/2006/main">
            <a:r>
              <a:t>    "users": "참여기관 직원·교육·평가팀",</a:t>
            </a:r>
          </a:p>
          <a:p xmlns:a="http://schemas.openxmlformats.org/drawingml/2006/main">
            <a:r>
              <a:t>    "scope": [</a:t>
            </a:r>
          </a:p>
          <a:p xmlns:a="http://schemas.openxmlformats.org/drawingml/2006/main">
            <a:r>
              <a:t>      "협업 AI",</a:t>
            </a:r>
          </a:p>
          <a:p xmlns:a="http://schemas.openxmlformats.org/drawingml/2006/main">
            <a:r>
              <a:t>      "교육",</a:t>
            </a:r>
          </a:p>
          <a:p xmlns:a="http://schemas.openxmlformats.org/drawingml/2006/main">
            <a:r>
              <a:t>      "기관별 평가"</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"APS 참여기관",</a:t>
            </a:r>
          </a:p>
          <a:p xmlns:a="http://schemas.openxmlformats.org/drawingml/2006/main">
            <a:r>
              <a:t>        "detail": "업무 유형·숙련도·기존 공유범위 구분",</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"협업 AI / 교육 / 기관별 평가",</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"M365 Copilot",</a:t>
            </a:r>
          </a:p>
          <a:p xmlns:a="http://schemas.openxmlformats.org/drawingml/2006/main">
            <a:r>
              <a:t>        "detail": "M365 문맥에서 문서·회의·정보 작업 지원",</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"직원·평가팀",</a:t>
            </a:r>
          </a:p>
          <a:p xmlns:a="http://schemas.openxmlformats.org/drawingml/2006/main">
            <a:r>
              <a:t>        "detail": "직원의 검토 후 실제 업무 활용",</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"업무 문맥·평가 기록",</a:t>
            </a:r>
          </a:p>
          <a:p xmlns:a="http://schemas.openxmlformats.org/drawingml/2006/main">
            <a:r>
              <a:t>        "detail": "업무 자료와 사용·설문·과업 평가 기록 분리",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"기관·과업별 효과와 학습 부담·실패 비용 분석",</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"참여 기관",</a:t>
            </a:r>
          </a:p>
          <a:p xmlns:a="http://schemas.openxmlformats.org/drawingml/2006/main">
            <a:r>
              <a:t>        "input": "업무 유형·숙련도·기존 공유범위 구분",</a:t>
            </a:r>
          </a:p>
          <a:p xmlns:a="http://schemas.openxmlformats.org/drawingml/2006/main">
            <a:r>
              <a:t>        "process": "업무 자료와 사용·설문·과업 평가 기록 분리",</a:t>
            </a:r>
          </a:p>
          <a:p xmlns:a="http://schemas.openxmlformats.org/drawingml/2006/main">
            <a:r>
              <a:t>        "output": "과업 요청"</a:t>
            </a:r>
          </a:p>
          <a:p xmlns:a="http://schemas.openxmlformats.org/drawingml/2006/main">
            <a:r>
              <a:t>      },</a:t>
            </a:r>
          </a:p>
          <a:p xmlns:a="http://schemas.openxmlformats.org/drawingml/2006/main">
            <a:r>
              <a:t>      {</a:t>
            </a:r>
          </a:p>
          <a:p xmlns:a="http://schemas.openxmlformats.org/drawingml/2006/main">
            <a:r>
              <a:t>        "title": "협업 AI 도구",</a:t>
            </a:r>
          </a:p>
          <a:p xmlns:a="http://schemas.openxmlformats.org/drawingml/2006/main">
            <a:r>
              <a:t>        "input": "과업 요청",</a:t>
            </a:r>
          </a:p>
          <a:p xmlns:a="http://schemas.openxmlformats.org/drawingml/2006/main">
            <a:r>
              <a:t>        "process": "M365 문맥에서 문서·회의·정보 작업 지원",</a:t>
            </a:r>
          </a:p>
          <a:p xmlns:a="http://schemas.openxmlformats.org/drawingml/2006/main">
            <a:r>
              <a:t>        "output": "지원 결과"</a:t>
            </a:r>
          </a:p>
          <a:p xmlns:a="http://schemas.openxmlformats.org/drawingml/2006/main">
            <a:r>
              <a:t>      },</a:t>
            </a:r>
          </a:p>
          <a:p xmlns:a="http://schemas.openxmlformats.org/drawingml/2006/main">
            <a:r>
              <a:t>      {</a:t>
            </a:r>
          </a:p>
          <a:p xmlns:a="http://schemas.openxmlformats.org/drawingml/2006/main">
            <a:r>
              <a:t>        "title": "교육·업무 활용",</a:t>
            </a:r>
          </a:p>
          <a:p xmlns:a="http://schemas.openxmlformats.org/drawingml/2006/main">
            <a:r>
              <a:t>        "input": "지원 결과",</a:t>
            </a:r>
          </a:p>
          <a:p xmlns:a="http://schemas.openxmlformats.org/drawingml/2006/main">
            <a:r>
              <a:t>        "process": "과업·숙련도별 비교와 실패 비용 포함",</a:t>
            </a:r>
          </a:p>
          <a:p xmlns:a="http://schemas.openxmlformats.org/drawingml/2006/main">
            <a:r>
              <a:t>        "output": "현업 활용"</a:t>
            </a:r>
          </a:p>
          <a:p xmlns:a="http://schemas.openxmlformats.org/drawingml/2006/main">
            <a:r>
              <a:t>      },</a:t>
            </a:r>
          </a:p>
          <a:p xmlns:a="http://schemas.openxmlformats.org/drawingml/2006/main">
            <a:r>
              <a:t>      {</a:t>
            </a:r>
          </a:p>
          <a:p xmlns:a="http://schemas.openxmlformats.org/drawingml/2006/main">
            <a:r>
              <a:t>        "title": "전후 설문 평가",</a:t>
            </a:r>
          </a:p>
          <a:p xmlns:a="http://schemas.openxmlformats.org/drawingml/2006/main">
            <a:r>
              <a:t>        "input": "현업 활용",</a:t>
            </a:r>
          </a:p>
          <a:p xmlns:a="http://schemas.openxmlformats.org/drawingml/2006/main">
            <a:r>
              <a:t>        "process": "직원의 검토 후 실제 업무 활용",</a:t>
            </a:r>
          </a:p>
          <a:p xmlns:a="http://schemas.openxmlformats.org/drawingml/2006/main">
            <a:r>
              <a:t>        "output": "전후 평가"</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"같은 업무를 지원 전후 수행하고 검토시간까지 측정",</a:t>
            </a:r>
          </a:p>
          <a:p xmlns:a="http://schemas.openxmlformats.org/drawingml/2006/main">
            <a:r>
              <a:t>      "exception": "숙련도 차이·미사용자 제외·어려운 과업 누락",</a:t>
            </a:r>
          </a:p>
          <a:p xmlns:a="http://schemas.openxmlformats.org/drawingml/2006/main">
            <a:r>
              <a:t>      "evidence": "기관·과업·숙련도별 비교표와 오류·재작업 기록",</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"참여기관 직원·교육·평가팀",</a:t>
            </a:r>
          </a:p>
          <a:p xmlns:a="http://schemas.openxmlformats.org/drawingml/2006/main">
            <a:r>
              <a:t>          "processing": "업무 유형·숙련도·기존 공유범위 구분",</a:t>
            </a:r>
          </a:p>
          <a:p xmlns:a="http://schemas.openxmlformats.org/drawingml/2006/main">
            <a:r>
              <a:t>          "output": "과업 요청"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"업무 문맥·평가 기록",</a:t>
            </a:r>
          </a:p>
          <a:p xmlns:a="http://schemas.openxmlformats.org/drawingml/2006/main">
            <a:r>
              <a:t>          "processing": "업무 자료와 사용·설문·과업 평가 기록 분리",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"과업 요청",</a:t>
            </a:r>
          </a:p>
          <a:p xmlns:a="http://schemas.openxmlformats.org/drawingml/2006/main">
            <a:r>
              <a:t>          "processing": "M365 문맥에서 문서·회의·정보 작업 지원",</a:t>
            </a:r>
          </a:p>
          <a:p xmlns:a="http://schemas.openxmlformats.org/drawingml/2006/main">
            <a:r>
              <a:t>          "output": "현업 활용"</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"현업 활용",</a:t>
            </a:r>
          </a:p>
          <a:p xmlns:a="http://schemas.openxmlformats.org/drawingml/2006/main">
            <a:r>
              <a:t>          "processing": "직원의 검토 후 실제 업무 활용",</a:t>
            </a:r>
          </a:p>
          <a:p xmlns:a="http://schemas.openxmlformats.org/drawingml/2006/main">
            <a:r>
              <a:t>          "output": "전후 평가"</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"기관·과업별 효과와 학습 부담·실패 비용 분석",</a:t>
            </a:r>
          </a:p>
          <a:p xmlns:a="http://schemas.openxmlformats.org/drawingml/2006/main">
            <a:r>
              <a:t>          "output": "기관·과업·숙련도별 비교표와 오류·재작업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"기관·과업별 효과와 학습 부담·실패 비용 분석",</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"P139 / 교육·도입 정착·평가 한계",</a:t>
            </a:r>
          </a:p>
          <a:p xmlns:a="http://schemas.openxmlformats.org/drawingml/2006/main">
            <a:r>
              <a:t>        "url": "https://www.digital.gov.au/initiatives/copilot-trial/microsoft-365-copilot-evaluation-report-full/executive-summary-glossary"</a:t>
            </a:r>
          </a:p>
          <a:p xmlns:a="http://schemas.openxmlformats.org/drawingml/2006/main">
            <a:r>
              <a:t>      }</a:t>
            </a:r>
          </a:p>
          <a:p xmlns:a="http://schemas.openxmlformats.org/drawingml/2006/main">
            <a:r>
              <a:t>    ],</a:t>
            </a:r>
          </a:p>
          <a:p xmlns:a="http://schemas.openxmlformats.org/drawingml/2006/main">
            <a:r>
              <a:t>    "implication": "교육·숙련도·과업 차이를 반영한 부서별 AI 도입 효과 평가",</a:t>
            </a:r>
          </a:p>
          <a:p xmlns:a="http://schemas.openxmlformats.org/drawingml/2006/main">
            <a:r>
              <a:t>    "local": "교육·숙련도·과업 차이를 반영한 부서별 AI 도입 효과 평가",</a:t>
            </a:r>
          </a:p>
          <a:p xmlns:a="http://schemas.openxmlformats.org/drawingml/2006/main">
            <a:r>
              <a:t>    "sourceDetail": "5,765개 이상 라이선스, 기관 지명 방식 참여, 설문·기관 평가\n기관 맥락에 맞는 교육·활용 사례가 확산 요인. Nous 외부 평가 지원",</a:t>
            </a:r>
          </a:p>
          <a:p xmlns:a="http://schemas.openxmlformats.org/drawingml/2006/main">
            <a:r>
              <a:t>    "narrative": [</a:t>
            </a:r>
          </a:p>
          <a:p xmlns:a="http://schemas.openxmlformats.org/drawingml/2006/main">
            <a:r>
              <a:t>      "호주 공공부문 Microsoft 365 Copilot 시험의 평가 사례. 기관 직원이 실제 업무에서 협업 AI를 사용하고 이용 경험·과업 효과·교육 부담을 비교하는 접근.",</a:t>
            </a:r>
          </a:p>
          <a:p xmlns:a="http://schemas.openxmlformats.org/drawingml/2006/main">
            <a:r>
              <a:t>      "기존 협업 도구와 문서 공유 권한 위에서 문서·회의·검색 지원을 수행하는 구조. 이용 로그·설문 응답·과업 평가를 분리해 수집하고 기관·업무·숙련도에 따른 효과 편차를 확인하는 평가 설계.",</a:t>
            </a:r>
          </a:p>
          <a:p xmlns:a="http://schemas.openxmlformats.org/drawingml/2006/main">
            <a:r>
              <a:t>      "보고된 시간 절감 수치를 TS의 기대효과로 직접 전용하지 않는 것이 핵심. 도구 이용자와 미이용자의 업무 난도, 검토시간, 오류 수정비용을 맞추어 비교하고 과도하게 공유된 기존 문서의 검색 노출도 별도 점검."</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"APS 직원 접점",</a:t>
            </a:r>
          </a:p>
          <a:p xmlns:a="http://schemas.openxmlformats.org/drawingml/2006/main">
            <a:r>
              <a:t>          "layer": "이용 접점",</a:t>
            </a:r>
          </a:p>
          <a:p xmlns:a="http://schemas.openxmlformats.org/drawingml/2006/main">
            <a:r>
              <a:t>          "detail": "참여기관 직원·교육·평가팀",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"과업·숙련도",</a:t>
            </a:r>
          </a:p>
          <a:p xmlns:a="http://schemas.openxmlformats.org/drawingml/2006/main">
            <a:r>
              <a:t>          "layer": "업무 문맥",</a:t>
            </a:r>
          </a:p>
          <a:p xmlns:a="http://schemas.openxmlformats.org/drawingml/2006/main">
            <a:r>
              <a:t>          "detail": "업무 유형·숙련도·기존 공유범위 구분",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"M365 문맥 검색",</a:t>
            </a:r>
          </a:p>
          <a:p xmlns:a="http://schemas.openxmlformats.org/drawingml/2006/main">
            <a:r>
              <a:t>          "layer": "자료 조회",</a:t>
            </a:r>
          </a:p>
          <a:p xmlns:a="http://schemas.openxmlformats.org/drawingml/2006/main">
            <a:r>
              <a:t>          "detail": "과업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"Copilot 업무 지원",</a:t>
            </a:r>
          </a:p>
          <a:p xmlns:a="http://schemas.openxmlformats.org/drawingml/2006/main">
            <a:r>
              <a:t>          "layer": "핵심 처리",</a:t>
            </a:r>
          </a:p>
          <a:p xmlns:a="http://schemas.openxmlformats.org/drawingml/2006/main">
            <a:r>
              <a:t>          "detail": "M365 문맥에서 문서·회의·정보 작업 지원",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"내용·공유 검사",</a:t>
            </a:r>
          </a:p>
          <a:p xmlns:a="http://schemas.openxmlformats.org/drawingml/2006/main">
            <a:r>
              <a:t>          "layer": "결과 검증",</a:t>
            </a:r>
          </a:p>
          <a:p xmlns:a="http://schemas.openxmlformats.org/drawingml/2006/main">
            <a:r>
              <a:t>          "detail": "과업·숙련도별 비교와 실패 비용 포함",</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"직원 검토",</a:t>
            </a:r>
          </a:p>
          <a:p xmlns:a="http://schemas.openxmlformats.org/drawingml/2006/main">
            <a:r>
              <a:t>          "layer": "사람 확인",</a:t>
            </a:r>
          </a:p>
          <a:p xmlns:a="http://schemas.openxmlformats.org/drawingml/2006/main">
            <a:r>
              <a:t>          "detail": "같은 업무를 지원 전후 수행하고 검토시간까지 측정",</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"현업 결과 활용",</a:t>
            </a:r>
          </a:p>
          <a:p xmlns:a="http://schemas.openxmlformats.org/drawingml/2006/main">
            <a:r>
              <a:t>          "layer": "업무 연결",</a:t>
            </a:r>
          </a:p>
          <a:p xmlns:a="http://schemas.openxmlformats.org/drawingml/2006/main">
            <a:r>
              <a:t>          "detail": "직원의 검토 후 실제 업무 활용",</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"기관·과업 평가",</a:t>
            </a:r>
          </a:p>
          <a:p xmlns:a="http://schemas.openxmlformats.org/drawingml/2006/main">
            <a:r>
              <a:t>          "layer": "운영 관측",</a:t>
            </a:r>
          </a:p>
          <a:p xmlns:a="http://schemas.openxmlformats.org/drawingml/2006/main">
            <a:r>
              <a:t>          "detail": "기관·과업별 효과와 학습 부담·실패 비용 분석",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"업무·설문 자료",</a:t>
            </a:r>
          </a:p>
          <a:p xmlns:a="http://schemas.openxmlformats.org/drawingml/2006/main">
            <a:r>
              <a:t>          "layer": "데이터 원천",</a:t>
            </a:r>
          </a:p>
          <a:p xmlns:a="http://schemas.openxmlformats.org/drawingml/2006/main">
            <a:r>
              <a:t>          "detail": "업무 문맥·평가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"평가 표본 분리",</a:t>
            </a:r>
          </a:p>
          <a:p xmlns:a="http://schemas.openxmlformats.org/drawingml/2006/main">
            <a:r>
              <a:t>          "layer": "준비·갱신",</a:t>
            </a:r>
          </a:p>
          <a:p xmlns:a="http://schemas.openxmlformats.org/drawingml/2006/main">
            <a:r>
              <a:t>          "detail": "업무 자료와 사용·설문·과업 평가 기록 분리",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"활용·비교 기록",</a:t>
            </a:r>
          </a:p>
          <a:p xmlns:a="http://schemas.openxmlformats.org/drawingml/2006/main">
            <a:r>
              <a:t>          "layer": "상태·지식 저장",</a:t>
            </a:r>
          </a:p>
          <a:p xmlns:a="http://schemas.openxmlformats.org/drawingml/2006/main">
            <a:r>
              <a:t>          "detail": "기관·과업·숙련도별 비교표와 오류·재작업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"공유·평가 정책",</a:t>
            </a:r>
          </a:p>
          <a:p xmlns:a="http://schemas.openxmlformats.org/drawingml/2006/main">
            <a:r>
              <a:t>          "layer": "권한·정책",</a:t>
            </a:r>
          </a:p>
          <a:p xmlns:a="http://schemas.openxmlformats.org/drawingml/2006/main">
            <a:r>
              <a:t>          "detail": "숙련도 차이·미사용자 제외·어려운 과업 누락",</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"업무 유형·숙련도·기존 공유범위 구분",</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"과업 요청",</a:t>
            </a:r>
          </a:p>
          <a:p xmlns:a="http://schemas.openxmlformats.org/drawingml/2006/main">
            <a:r>
              <a:t>          "check": "과업·숙련도별 비교와 실패 비용 포함"</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"지원 결과",</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"현업 활용",</a:t>
            </a:r>
          </a:p>
          <a:p xmlns:a="http://schemas.openxmlformats.org/drawingml/2006/main">
            <a:r>
              <a:t>          "check": "숙련도 차이·미사용자 제외·어려운 과업 누락"</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"현업 활용",</a:t>
            </a:r>
          </a:p>
          <a:p xmlns:a="http://schemas.openxmlformats.org/drawingml/2006/main">
            <a:r>
              <a:t>          "check": "직원의 검토 후 실제 업무 활용"</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"전후 평가",</a:t>
            </a:r>
          </a:p>
          <a:p xmlns:a="http://schemas.openxmlformats.org/drawingml/2006/main">
            <a:r>
              <a:t>          "check": "기관·과업·숙련도별 비교표와 오류·재작업 기록"</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"공공부문 Copilot 도입 효과의 평가 / 협업 AI·교육·기관별 평가",</a:t>
            </a:r>
          </a:p>
          <a:p xmlns:a="http://schemas.openxmlformats.org/drawingml/2006/main">
            <a:r>
              <a:t>        "extension": "교육·숙련도·과업 차이를 반영한 부서별 AI 도입 효과 평가"</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"숙련도 차이·미사용자 제외·어려운 과업 누락",</a:t>
            </a:r>
          </a:p>
          <a:p xmlns:a="http://schemas.openxmlformats.org/drawingml/2006/main">
            <a:r>
              <a:t>        "hold": "과업·숙련도별 비교와 실패 비용 포함",</a:t>
            </a:r>
          </a:p>
          <a:p xmlns:a="http://schemas.openxmlformats.org/drawingml/2006/main">
            <a:r>
              <a:t>        "recovery": "기관·과업별 효과와 학습 부담·실패 비용 분석",</a:t>
            </a:r>
          </a:p>
          <a:p xmlns:a="http://schemas.openxmlformats.org/drawingml/2006/main">
            <a:r>
              <a:t>        "evidence": "기관·과업·숙련도별 비교표와 오류·재작업 기록"</a:t>
            </a:r>
          </a:p>
          <a:p xmlns:a="http://schemas.openxmlformats.org/drawingml/2006/main">
            <a:r>
              <a:t>      },</a:t>
            </a:r>
          </a:p>
          <a:p xmlns:a="http://schemas.openxmlformats.org/drawingml/2006/main">
            <a:r>
              <a:t>      "data": {</a:t>
            </a:r>
          </a:p>
          <a:p xmlns:a="http://schemas.openxmlformats.org/drawingml/2006/main">
            <a:r>
              <a:t>        "source": "업무 문맥·평가 기록",</a:t>
            </a:r>
          </a:p>
          <a:p xmlns:a="http://schemas.openxmlformats.org/drawingml/2006/main">
            <a:r>
              <a:t>        "prepare": "업무 자료와 사용·설문·과업 평가 기록 분리",</a:t>
            </a:r>
          </a:p>
          <a:p xmlns:a="http://schemas.openxmlformats.org/drawingml/2006/main">
            <a:r>
              <a:t>        "output": "과업 요청",</a:t>
            </a:r>
          </a:p>
          <a:p xmlns:a="http://schemas.openxmlformats.org/drawingml/2006/main">
            <a:r>
              <a:t>        "refresh": "기관·과업별 효과와 학습 부담·실패 비용 분석"</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"PF-A15",</a:t>
            </a:r>
          </a:p>
          <a:p xmlns:a="http://schemas.openxmlformats.org/drawingml/2006/main">
            <a:r>
              <a:t>    "success": [</a:t>
            </a:r>
          </a:p>
          <a:p xmlns:a="http://schemas.openxmlformats.org/drawingml/2006/main">
            <a:r>
              <a:t>      "기존 협업 환경과 교육 결합",</a:t>
            </a:r>
          </a:p>
          <a:p xmlns:a="http://schemas.openxmlformats.org/drawingml/2006/main">
            <a:r>
              <a:t>      "참여기관의 전후 평가"</a:t>
            </a:r>
          </a:p>
          <a:p xmlns:a="http://schemas.openxmlformats.org/drawingml/2006/main">
            <a:r>
              <a:t>    ],</a:t>
            </a:r>
          </a:p>
          <a:p xmlns:a="http://schemas.openxmlformats.org/drawingml/2006/main">
            <a:r>
              <a:t>    "risks": [</a:t>
            </a:r>
          </a:p>
          <a:p xmlns:a="http://schemas.openxmlformats.org/drawingml/2006/main">
            <a:r>
              <a:t>      "학습·조직 준비도 차이",</a:t>
            </a:r>
          </a:p>
          <a:p xmlns:a="http://schemas.openxmlformats.org/drawingml/2006/main">
            <a:r>
              <a:t>      "설문 변화의 인과효과 단정"</a:t>
            </a:r>
          </a:p>
          <a:p xmlns:a="http://schemas.openxmlformats.org/drawingml/2006/main">
            <a:r>
              <a:t>    ],</a:t>
            </a:r>
          </a:p>
          <a:p xmlns:a="http://schemas.openxmlformats.org/drawingml/2006/main">
            <a:r>
              <a:t>    "architecture": [</a:t>
            </a:r>
          </a:p>
          <a:p xmlns:a="http://schemas.openxmlformats.org/drawingml/2006/main">
            <a:r>
              <a:t>      "APS 참여기관",</a:t>
            </a:r>
          </a:p>
          <a:p xmlns:a="http://schemas.openxmlformats.org/drawingml/2006/main">
            <a:r>
              <a:t>      "M365 Copilot",</a:t>
            </a:r>
          </a:p>
          <a:p xmlns:a="http://schemas.openxmlformats.org/drawingml/2006/main">
            <a:r>
              <a:t>      "업무 문맥·평가 기록",</a:t>
            </a:r>
          </a:p>
          <a:p xmlns:a="http://schemas.openxmlformats.org/drawingml/2006/main">
            <a:r>
              <a:t>      "직원·평가팀"</a:t>
            </a:r>
          </a:p>
          <a:p xmlns:a="http://schemas.openxmlformats.org/drawingml/2006/main">
            <a:r>
              <a:t>    ],</a:t>
            </a:r>
          </a:p>
          <a:p xmlns:a="http://schemas.openxmlformats.org/drawingml/2006/main">
            <a:r>
              <a:t>    "transfers": [</a:t>
            </a:r>
          </a:p>
          <a:p xmlns:a="http://schemas.openxmlformats.org/drawingml/2006/main">
            <a:r>
              <a:t>      "과업 요청",</a:t>
            </a:r>
          </a:p>
          <a:p xmlns:a="http://schemas.openxmlformats.org/drawingml/2006/main">
            <a:r>
              <a:t>      "지원 결과",</a:t>
            </a:r>
          </a:p>
          <a:p xmlns:a="http://schemas.openxmlformats.org/drawingml/2006/main">
            <a:r>
              <a:t>      "현업 활용",</a:t>
            </a:r>
          </a:p>
          <a:p xmlns:a="http://schemas.openxmlformats.org/drawingml/2006/main">
            <a:r>
              <a:t>      "전후 평가"</a:t>
            </a:r>
          </a:p>
          <a:p xmlns:a="http://schemas.openxmlformats.org/drawingml/2006/main">
            <a:r>
              <a:t>    ],</a:t>
            </a:r>
          </a:p>
          <a:p xmlns:a="http://schemas.openxmlformats.org/drawingml/2006/main">
            <a:r>
              <a:t>    "control": "과업·숙련도별 비교와 실패 비용 포함",</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P139 / 교육·도입 정착·평가 한계 https://www.digital.gov.au/initiatives/copilot-trial/microsoft-365-copilot-evaluation-report-full/executive-summary-glossary</a:t>
            </a:r>
          </a:p>
          <a:p xmlns:a="http://schemas.openxmlformats.org/drawingml/2006/main">
            <a:r>
              <a:t>홈페이지 https://heen1987-ops.github.io/TS-business-Plan-001/index.html?view=platform-cases&amp;case=PF-A15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"PF-A16",</a:t>
            </a:r>
          </a:p>
          <a:p xmlns:a="http://schemas.openxmlformats.org/drawingml/2006/main">
            <a:r>
              <a:t>    "sourceId": "A16",</a:t>
            </a:r>
          </a:p>
          <a:p xmlns:a="http://schemas.openxmlformats.org/drawingml/2006/main">
            <a:r>
              <a:t>    "title": "BBVA 기업 AI 도입",</a:t>
            </a:r>
          </a:p>
          <a:p xmlns:a="http://schemas.openxmlformats.org/drawingml/2006/main">
            <a:r>
              <a:t>    "region": "해외",</a:t>
            </a:r>
          </a:p>
          <a:p xmlns:a="http://schemas.openxmlformats.org/drawingml/2006/main">
            <a:r>
              <a:t>    "owner": "BBVA / 기업 AI 도입",</a:t>
            </a:r>
          </a:p>
          <a:p xmlns:a="http://schemas.openxmlformats.org/drawingml/2006/main">
            <a:r>
              <a:t>    "state": "초기11,000명 활용 후 전사 확대 협약(2025-12)",</a:t>
            </a:r>
          </a:p>
          <a:p xmlns:a="http://schemas.openxmlformats.org/drawingml/2006/main">
            <a:r>
              <a:t>    "period": "기존 원장 확인 2026.10.16",</a:t>
            </a:r>
          </a:p>
          <a:p xmlns:a="http://schemas.openxmlformats.org/drawingml/2006/main">
            <a:r>
              <a:t>    "fact": "전사 AX 확산·업무용 AI",</a:t>
            </a:r>
          </a:p>
          <a:p xmlns:a="http://schemas.openxmlformats.org/drawingml/2006/main">
            <a:r>
              <a:t>    "limit": "12만명 전사 확대는 발표 계획과 초기11,000명 실적을 구분. 독립 ROI 검증 아님",</a:t>
            </a:r>
          </a:p>
          <a:p xmlns:a="http://schemas.openxmlformats.org/drawingml/2006/main">
            <a:r>
              <a:t>    "nodes": [</a:t>
            </a:r>
          </a:p>
          <a:p xmlns:a="http://schemas.openxmlformats.org/drawingml/2006/main">
            <a:r>
              <a:t>      "기업 AI 환경",</a:t>
            </a:r>
          </a:p>
          <a:p xmlns:a="http://schemas.openxmlformats.org/drawingml/2006/main">
            <a:r>
              <a:t>      "업무 GPT",</a:t>
            </a:r>
          </a:p>
          <a:p xmlns:a="http://schemas.openxmlformats.org/drawingml/2006/main">
            <a:r>
              <a:t>      "현업 활용 지원",</a:t>
            </a:r>
          </a:p>
          <a:p xmlns:a="http://schemas.openxmlformats.org/drawingml/2006/main">
            <a:r>
              <a:t>      "확산·성과 관측"</a:t>
            </a:r>
          </a:p>
          <a:p xmlns:a="http://schemas.openxmlformats.org/drawingml/2006/main">
            <a:r>
              <a:t>    ],</a:t>
            </a:r>
          </a:p>
          <a:p xmlns:a="http://schemas.openxmlformats.org/drawingml/2006/main">
            <a:r>
              <a:t>    "apply": "공통 플랫폼과 현업 활용 발굴·교육·검토를 담당하는 확산 조직의 결합",</a:t>
            </a:r>
          </a:p>
          <a:p xmlns:a="http://schemas.openxmlformats.org/drawingml/2006/main">
            <a:r>
              <a:t>    "delta": "기관 설정·회귀 평가·두 번째 부서 적용",</a:t>
            </a:r>
          </a:p>
          <a:p xmlns:a="http://schemas.openxmlformats.org/drawingml/2006/main">
            <a:r>
              <a:t>    "test": "도입기간·유지비·교육 부담의 기준선·비교 평가",</a:t>
            </a:r>
          </a:p>
          <a:p xmlns:a="http://schemas.openxmlformats.org/drawingml/2006/main">
            <a:r>
              <a:t>    "url": "https://www.bbva.com/en/innovation/bbva-and-openai-seal-a-strategic-alliance-to-redefine-banking-with-artificial-intelligence/",</a:t>
            </a:r>
          </a:p>
          <a:p xmlns:a="http://schemas.openxmlformats.org/drawingml/2006/main">
            <a:r>
              <a:t>    "urls": [</a:t>
            </a:r>
          </a:p>
          <a:p xmlns:a="http://schemas.openxmlformats.org/drawingml/2006/main">
            <a:r>
              <a:t>      "https://www.bbva.com/en/innovation/bbva-and-openai-seal-a-strategic-alliance-to-redefine-banking-with-artificial-intelligence/",</a:t>
            </a:r>
          </a:p>
          <a:p xmlns:a="http://schemas.openxmlformats.org/drawingml/2006/main">
            <a:r>
              <a:t>      "https://www.bbva.com/en/innovation/alvaro-martin-bbva-ai-is-changing-the-way-we-work-and-serve-our-customers/"</a:t>
            </a:r>
          </a:p>
          <a:p xmlns:a="http://schemas.openxmlformats.org/drawingml/2006/main">
            <a:r>
              <a:t>    ],</a:t>
            </a:r>
          </a:p>
          <a:p xmlns:a="http://schemas.openxmlformats.org/drawingml/2006/main">
            <a:r>
              <a:t>    "basis": "T106·P139 / 조직 확산·업무성과",</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"도입기간·유지비·교육 부담",</a:t>
            </a:r>
          </a:p>
          <a:p xmlns:a="http://schemas.openxmlformats.org/drawingml/2006/main">
            <a:r>
              <a:t>    "group": "운영·실증",</a:t>
            </a:r>
          </a:p>
          <a:p xmlns:a="http://schemas.openxmlformats.org/drawingml/2006/main">
            <a:r>
              <a:t>    "sourceDetail": "ChatGPT Enterprise·전문화 GPT와 전사 활용 발굴, Global AI Adoption 조직\n전담 채택 조직·현업 사례 확장, 안전한 기업 이용환경",</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"PF-A16",</a:t>
            </a:r>
          </a:p>
          <a:p xmlns:a="http://schemas.openxmlformats.org/drawingml/2006/main">
            <a:r>
              <a:t>    "canonicalId": "PF-A16",</a:t>
            </a:r>
          </a:p>
          <a:p xmlns:a="http://schemas.openxmlformats.org/drawingml/2006/main">
            <a:r>
              <a:t>    "purpose": "전사 공통 AI와 현업 GPT 활용의 확산",</a:t>
            </a:r>
          </a:p>
          <a:p xmlns:a="http://schemas.openxmlformats.org/drawingml/2006/main">
            <a:r>
              <a:t>    "users": "은행 직원·AI 채택 조직",</a:t>
            </a:r>
          </a:p>
          <a:p xmlns:a="http://schemas.openxmlformats.org/drawingml/2006/main">
            <a:r>
              <a:t>    "scope": [</a:t>
            </a:r>
          </a:p>
          <a:p xmlns:a="http://schemas.openxmlformats.org/drawingml/2006/main">
            <a:r>
              <a:t>      "기업 AI",</a:t>
            </a:r>
          </a:p>
          <a:p xmlns:a="http://schemas.openxmlformats.org/drawingml/2006/main">
            <a:r>
              <a:t>      "전문화 GPT",</a:t>
            </a:r>
          </a:p>
          <a:p xmlns:a="http://schemas.openxmlformats.org/drawingml/2006/main">
            <a:r>
              <a:t>      "활용 지원"</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"은행 직원",</a:t>
            </a:r>
          </a:p>
          <a:p xmlns:a="http://schemas.openxmlformats.org/drawingml/2006/main">
            <a:r>
              <a:t>        "detail": "사용자·업무 목적·민감자료 범위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"기업 AI / 전문화 GPT / 활용 지원",</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"기업 AI·업무 GPT",</a:t>
            </a:r>
          </a:p>
          <a:p xmlns:a="http://schemas.openxmlformats.org/drawingml/2006/main">
            <a:r>
              <a:t>        "detail": "공통 AI와 전문화 GPT의 지시·자료 연결",</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"현업 검토자",</a:t>
            </a:r>
          </a:p>
          <a:p xmlns:a="http://schemas.openxmlformats.org/drawingml/2006/main">
            <a:r>
              <a:t>        "detail": "담당자가 검토한 업무 결과의 활용",</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"업무 문맥·지식",</a:t>
            </a:r>
          </a:p>
          <a:p xmlns:a="http://schemas.openxmlformats.org/drawingml/2006/main">
            <a:r>
              <a:t>        "detail": "현업 지식·프롬프트·검토 결과의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"전담 조직의 교육·활용 발굴·성과 검토",</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"기업 AI 환경",</a:t>
            </a:r>
          </a:p>
          <a:p xmlns:a="http://schemas.openxmlformats.org/drawingml/2006/main">
            <a:r>
              <a:t>        "input": "사용자·업무 목적·민감자료 범위 확인",</a:t>
            </a:r>
          </a:p>
          <a:p xmlns:a="http://schemas.openxmlformats.org/drawingml/2006/main">
            <a:r>
              <a:t>        "process": "현업 지식·프롬프트·검토 결과의 관리",</a:t>
            </a:r>
          </a:p>
          <a:p xmlns:a="http://schemas.openxmlformats.org/drawingml/2006/main">
            <a:r>
              <a:t>        "output": "업무 목적"</a:t>
            </a:r>
          </a:p>
          <a:p xmlns:a="http://schemas.openxmlformats.org/drawingml/2006/main">
            <a:r>
              <a:t>      },</a:t>
            </a:r>
          </a:p>
          <a:p xmlns:a="http://schemas.openxmlformats.org/drawingml/2006/main">
            <a:r>
              <a:t>      {</a:t>
            </a:r>
          </a:p>
          <a:p xmlns:a="http://schemas.openxmlformats.org/drawingml/2006/main">
            <a:r>
              <a:t>        "title": "업무 GPT",</a:t>
            </a:r>
          </a:p>
          <a:p xmlns:a="http://schemas.openxmlformats.org/drawingml/2006/main">
            <a:r>
              <a:t>        "input": "업무 목적",</a:t>
            </a:r>
          </a:p>
          <a:p xmlns:a="http://schemas.openxmlformats.org/drawingml/2006/main">
            <a:r>
              <a:t>        "process": "공통 AI와 전문화 GPT의 지시·자료 연결",</a:t>
            </a:r>
          </a:p>
          <a:p xmlns:a="http://schemas.openxmlformats.org/drawingml/2006/main">
            <a:r>
              <a:t>        "output": "GPT 문맥"</a:t>
            </a:r>
          </a:p>
          <a:p xmlns:a="http://schemas.openxmlformats.org/drawingml/2006/main">
            <a:r>
              <a:t>      },</a:t>
            </a:r>
          </a:p>
          <a:p xmlns:a="http://schemas.openxmlformats.org/drawingml/2006/main">
            <a:r>
              <a:t>      {</a:t>
            </a:r>
          </a:p>
          <a:p xmlns:a="http://schemas.openxmlformats.org/drawingml/2006/main">
            <a:r>
              <a:t>        "title": "현업 활용 지원",</a:t>
            </a:r>
          </a:p>
          <a:p xmlns:a="http://schemas.openxmlformats.org/drawingml/2006/main">
            <a:r>
              <a:t>        "input": "GPT 문맥",</a:t>
            </a:r>
          </a:p>
          <a:p xmlns:a="http://schemas.openxmlformats.org/drawingml/2006/main">
            <a:r>
              <a:t>        "process": "부서별 권한·완료율·재작업 평가",</a:t>
            </a:r>
          </a:p>
          <a:p xmlns:a="http://schemas.openxmlformats.org/drawingml/2006/main">
            <a:r>
              <a:t>        "output": "업무 결과"</a:t>
            </a:r>
          </a:p>
          <a:p xmlns:a="http://schemas.openxmlformats.org/drawingml/2006/main">
            <a:r>
              <a:t>      },</a:t>
            </a:r>
          </a:p>
          <a:p xmlns:a="http://schemas.openxmlformats.org/drawingml/2006/main">
            <a:r>
              <a:t>      {</a:t>
            </a:r>
          </a:p>
          <a:p xmlns:a="http://schemas.openxmlformats.org/drawingml/2006/main">
            <a:r>
              <a:t>        "title": "확산·성과 관측",</a:t>
            </a:r>
          </a:p>
          <a:p xmlns:a="http://schemas.openxmlformats.org/drawingml/2006/main">
            <a:r>
              <a:t>        "input": "업무 결과",</a:t>
            </a:r>
          </a:p>
          <a:p xmlns:a="http://schemas.openxmlformats.org/drawingml/2006/main">
            <a:r>
              <a:t>        "process": "담당자가 검토한 업무 결과의 활용",</a:t>
            </a:r>
          </a:p>
          <a:p xmlns:a="http://schemas.openxmlformats.org/drawingml/2006/main">
            <a:r>
              <a:t>        "output": "활용·평가 기록"</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"현업 GPT를 구성하고 담당 조직이 교육·활용 지원",</a:t>
            </a:r>
          </a:p>
          <a:p xmlns:a="http://schemas.openxmlformats.org/drawingml/2006/main">
            <a:r>
              <a:t>      "exception": "승인되지 않은 지식·민감 입력·성과 자기보고 편향",</a:t>
            </a:r>
          </a:p>
          <a:p xmlns:a="http://schemas.openxmlformats.org/drawingml/2006/main">
            <a:r>
              <a:t>      "evidence": "업무별 수용률·오류·완료시간·입력 통제 결과",</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"은행 직원·AI 채택 조직",</a:t>
            </a:r>
          </a:p>
          <a:p xmlns:a="http://schemas.openxmlformats.org/drawingml/2006/main">
            <a:r>
              <a:t>          "processing": "사용자·업무 목적·민감자료 범위 확인",</a:t>
            </a:r>
          </a:p>
          <a:p xmlns:a="http://schemas.openxmlformats.org/drawingml/2006/main">
            <a:r>
              <a:t>          "output": "업무 목적"</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"업무 문맥·지식",</a:t>
            </a:r>
          </a:p>
          <a:p xmlns:a="http://schemas.openxmlformats.org/drawingml/2006/main">
            <a:r>
              <a:t>          "processing": "현업 지식·프롬프트·검토 결과의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"업무 목적",</a:t>
            </a:r>
          </a:p>
          <a:p xmlns:a="http://schemas.openxmlformats.org/drawingml/2006/main">
            <a:r>
              <a:t>          "processing": "공통 AI와 전문화 GPT의 지시·자료 연결",</a:t>
            </a:r>
          </a:p>
          <a:p xmlns:a="http://schemas.openxmlformats.org/drawingml/2006/main">
            <a:r>
              <a:t>          "output": "업무 결과"</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"업무 결과",</a:t>
            </a:r>
          </a:p>
          <a:p xmlns:a="http://schemas.openxmlformats.org/drawingml/2006/main">
            <a:r>
              <a:t>          "processing": "담당자가 검토한 업무 결과의 활용",</a:t>
            </a:r>
          </a:p>
          <a:p xmlns:a="http://schemas.openxmlformats.org/drawingml/2006/main">
            <a:r>
              <a:t>          "output": "활용·평가 기록"</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"전담 조직의 교육·활용 발굴·성과 검토",</a:t>
            </a:r>
          </a:p>
          <a:p xmlns:a="http://schemas.openxmlformats.org/drawingml/2006/main">
            <a:r>
              <a:t>          "output": "업무별 수용률·오류·완료시간·입력 통제 결과"</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"전담 조직의 교육·활용 발굴·성과 검토",</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"T106·P139 / 조직 확산·업무성과",</a:t>
            </a:r>
          </a:p>
          <a:p xmlns:a="http://schemas.openxmlformats.org/drawingml/2006/main">
            <a:r>
              <a:t>        "url": "https://www.bbva.com/en/innovation/bbva-and-openai-seal-a-strategic-alliance-to-redefine-banking-with-artificial-intelligence/"</a:t>
            </a:r>
          </a:p>
          <a:p xmlns:a="http://schemas.openxmlformats.org/drawingml/2006/main">
            <a:r>
              <a:t>      }</a:t>
            </a:r>
          </a:p>
          <a:p xmlns:a="http://schemas.openxmlformats.org/drawingml/2006/main">
            <a:r>
              <a:t>    ],</a:t>
            </a:r>
          </a:p>
          <a:p xmlns:a="http://schemas.openxmlformats.org/drawingml/2006/main">
            <a:r>
              <a:t>    "implication": "공통 플랫폼과 현업 활용 발굴·교육·검토를 담당하는 확산 조직의 결합",</a:t>
            </a:r>
          </a:p>
          <a:p xmlns:a="http://schemas.openxmlformats.org/drawingml/2006/main">
            <a:r>
              <a:t>    "local": "공통 플랫폼과 현업 활용 발굴·교육·검토를 담당하는 확산 조직의 결합",</a:t>
            </a:r>
          </a:p>
          <a:p xmlns:a="http://schemas.openxmlformats.org/drawingml/2006/main">
            <a:r>
              <a:t>    "sourceDetail": "ChatGPT Enterprise·전문화 GPT와 전사 활용 발굴, Global AI Adoption 조직\n전담 채택 조직·현업 사례 확장, 안전한 기업 이용환경",</a:t>
            </a:r>
          </a:p>
          <a:p xmlns:a="http://schemas.openxmlformats.org/drawingml/2006/main">
            <a:r>
              <a:t>    "narrative": [</a:t>
            </a:r>
          </a:p>
          <a:p xmlns:a="http://schemas.openxmlformats.org/drawingml/2006/main">
            <a:r>
              <a:t>      "BBVA의 전사 AI 활용과 전문화 GPT 확산 사례. 공통 도구 도입 이후 현업 사용자가 자신의 업무에 맞는 지시·자료를 구성하고 전담 조직이 활용과 교육을 지원하는 운영 방식.",</a:t>
            </a:r>
          </a:p>
          <a:p xmlns:a="http://schemas.openxmlformats.org/drawingml/2006/main">
            <a:r>
              <a:t>      "직원 접근, 기업용 AI 환경, 업무별 GPT, 지식·프롬프트 관리, 현업 검토, 활용 피드백의 흐름으로 재구성. 실제 내부 권한 구현은 공개된 활용 설명과 구분하고 민감 자료 입력과 업무 결과 사용의 책임을 별도 설계.",</a:t>
            </a:r>
          </a:p>
          <a:p xmlns:a="http://schemas.openxmlformats.org/drawingml/2006/main">
            <a:r>
              <a:t>      "TS에서의 비교 기준은 생성한 봇 수보다 검증된 업무 단위의 정착 여부. 부서 소유자·업무 범위·근거 자료·시험 결과·중단 조건을 갖춘 서비스 목록을 운영하고 전보 이후 소유권 이전을 공통 기능으로 관리할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"직원·GPT 접점",</a:t>
            </a:r>
          </a:p>
          <a:p xmlns:a="http://schemas.openxmlformats.org/drawingml/2006/main">
            <a:r>
              <a:t>          "layer": "이용 접점",</a:t>
            </a:r>
          </a:p>
          <a:p xmlns:a="http://schemas.openxmlformats.org/drawingml/2006/main">
            <a:r>
              <a:t>          "detail": "은행 직원·AI 채택 조직",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"업무·민감범위",</a:t>
            </a:r>
          </a:p>
          <a:p xmlns:a="http://schemas.openxmlformats.org/drawingml/2006/main">
            <a:r>
              <a:t>          "layer": "업무 문맥",</a:t>
            </a:r>
          </a:p>
          <a:p xmlns:a="http://schemas.openxmlformats.org/drawingml/2006/main">
            <a:r>
              <a:t>          "detail": "사용자·업무 목적·민감자료 범위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"현업 지식 조회",</a:t>
            </a:r>
          </a:p>
          <a:p xmlns:a="http://schemas.openxmlformats.org/drawingml/2006/main">
            <a:r>
              <a:t>          "layer": "자료 조회",</a:t>
            </a:r>
          </a:p>
          <a:p xmlns:a="http://schemas.openxmlformats.org/drawingml/2006/main">
            <a:r>
              <a:t>          "detail": "업무 목적",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"기업 AI·전문화 GPT",</a:t>
            </a:r>
          </a:p>
          <a:p xmlns:a="http://schemas.openxmlformats.org/drawingml/2006/main">
            <a:r>
              <a:t>          "layer": "핵심 처리",</a:t>
            </a:r>
          </a:p>
          <a:p xmlns:a="http://schemas.openxmlformats.org/drawingml/2006/main">
            <a:r>
              <a:t>          "detail": "공통 AI와 전문화 GPT의 지시·자료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"근거·권한 검사",</a:t>
            </a:r>
          </a:p>
          <a:p xmlns:a="http://schemas.openxmlformats.org/drawingml/2006/main">
            <a:r>
              <a:t>          "layer": "결과 검증",</a:t>
            </a:r>
          </a:p>
          <a:p xmlns:a="http://schemas.openxmlformats.org/drawingml/2006/main">
            <a:r>
              <a:t>          "detail": "부서별 권한·완료율·재작업 평가",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"업무 담당 확인",</a:t>
            </a:r>
          </a:p>
          <a:p xmlns:a="http://schemas.openxmlformats.org/drawingml/2006/main">
            <a:r>
              <a:t>          "layer": "사람 확인",</a:t>
            </a:r>
          </a:p>
          <a:p xmlns:a="http://schemas.openxmlformats.org/drawingml/2006/main">
            <a:r>
              <a:t>          "detail": "현업 GPT를 구성하고 담당 조직이 교육·활용 지원",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"현업 결과 활용",</a:t>
            </a:r>
          </a:p>
          <a:p xmlns:a="http://schemas.openxmlformats.org/drawingml/2006/main">
            <a:r>
              <a:t>          "layer": "업무 연결",</a:t>
            </a:r>
          </a:p>
          <a:p xmlns:a="http://schemas.openxmlformats.org/drawingml/2006/main">
            <a:r>
              <a:t>          "detail": "담당자가 검토한 업무 결과의 활용",</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"채택 조직 평가",</a:t>
            </a:r>
          </a:p>
          <a:p xmlns:a="http://schemas.openxmlformats.org/drawingml/2006/main">
            <a:r>
              <a:t>          "layer": "운영 관측",</a:t>
            </a:r>
          </a:p>
          <a:p xmlns:a="http://schemas.openxmlformats.org/drawingml/2006/main">
            <a:r>
              <a:t>          "detail": "전담 조직의 교육·활용 발굴·성과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"현업 지식·지시",</a:t>
            </a:r>
          </a:p>
          <a:p xmlns:a="http://schemas.openxmlformats.org/drawingml/2006/main">
            <a:r>
              <a:t>          "layer": "데이터 원천",</a:t>
            </a:r>
          </a:p>
          <a:p xmlns:a="http://schemas.openxmlformats.org/drawingml/2006/main">
            <a:r>
              <a:t>          "detail": "업무 문맥·지식",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"프롬프트·판본 정리",</a:t>
            </a:r>
          </a:p>
          <a:p xmlns:a="http://schemas.openxmlformats.org/drawingml/2006/main">
            <a:r>
              <a:t>          "layer": "준비·갱신",</a:t>
            </a:r>
          </a:p>
          <a:p xmlns:a="http://schemas.openxmlformats.org/drawingml/2006/main">
            <a:r>
              <a:t>          "detail": "현업 지식·프롬프트·검토 결과의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"GPT·활용 기록",</a:t>
            </a:r>
          </a:p>
          <a:p xmlns:a="http://schemas.openxmlformats.org/drawingml/2006/main">
            <a:r>
              <a:t>          "layer": "상태·지식 저장",</a:t>
            </a:r>
          </a:p>
          <a:p xmlns:a="http://schemas.openxmlformats.org/drawingml/2006/main">
            <a:r>
              <a:t>          "detail": "업무별 수용률·오류·완료시간·입력 통제 결과",</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"부서별 이용범위",</a:t>
            </a:r>
          </a:p>
          <a:p xmlns:a="http://schemas.openxmlformats.org/drawingml/2006/main">
            <a:r>
              <a:t>          "layer": "권한·정책",</a:t>
            </a:r>
          </a:p>
          <a:p xmlns:a="http://schemas.openxmlformats.org/drawingml/2006/main">
            <a:r>
              <a:t>          "detail": "승인되지 않은 지식·민감 입력·성과 자기보고 편향",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"사용자·업무 목적·민감자료 범위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"업무 목적",</a:t>
            </a:r>
          </a:p>
          <a:p xmlns:a="http://schemas.openxmlformats.org/drawingml/2006/main">
            <a:r>
              <a:t>          "check": "부서별 권한·완료율·재작업 평가"</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"GPT 문맥",</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"업무 결과",</a:t>
            </a:r>
          </a:p>
          <a:p xmlns:a="http://schemas.openxmlformats.org/drawingml/2006/main">
            <a:r>
              <a:t>          "check": "승인되지 않은 지식·민감 입력·성과 자기보고 편향"</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"업무 결과",</a:t>
            </a:r>
          </a:p>
          <a:p xmlns:a="http://schemas.openxmlformats.org/drawingml/2006/main">
            <a:r>
              <a:t>          "check": "담당자가 검토한 업무 결과의 활용"</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"활용·평가 기록",</a:t>
            </a:r>
          </a:p>
          <a:p xmlns:a="http://schemas.openxmlformats.org/drawingml/2006/main">
            <a:r>
              <a:t>          "check": "업무별 수용률·오류·완료시간·입력 통제 결과"</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"전사 공통 AI와 현업 GPT 활용의 확산 / 기업 AI·전문화 GPT·활용 지원",</a:t>
            </a:r>
          </a:p>
          <a:p xmlns:a="http://schemas.openxmlformats.org/drawingml/2006/main">
            <a:r>
              <a:t>        "extension": "공통 플랫폼과 현업 활용 발굴·교육·검토를 담당하는 확산 조직의 결합"</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"승인되지 않은 지식·민감 입력·성과 자기보고 편향",</a:t>
            </a:r>
          </a:p>
          <a:p xmlns:a="http://schemas.openxmlformats.org/drawingml/2006/main">
            <a:r>
              <a:t>        "hold": "부서별 권한·완료율·재작업 평가",</a:t>
            </a:r>
          </a:p>
          <a:p xmlns:a="http://schemas.openxmlformats.org/drawingml/2006/main">
            <a:r>
              <a:t>        "recovery": "전담 조직의 교육·활용 발굴·성과 검토",</a:t>
            </a:r>
          </a:p>
          <a:p xmlns:a="http://schemas.openxmlformats.org/drawingml/2006/main">
            <a:r>
              <a:t>        "evidence": "업무별 수용률·오류·완료시간·입력 통제 결과"</a:t>
            </a:r>
          </a:p>
          <a:p xmlns:a="http://schemas.openxmlformats.org/drawingml/2006/main">
            <a:r>
              <a:t>      },</a:t>
            </a:r>
          </a:p>
          <a:p xmlns:a="http://schemas.openxmlformats.org/drawingml/2006/main">
            <a:r>
              <a:t>      "data": {</a:t>
            </a:r>
          </a:p>
          <a:p xmlns:a="http://schemas.openxmlformats.org/drawingml/2006/main">
            <a:r>
              <a:t>        "source": "업무 문맥·지식",</a:t>
            </a:r>
          </a:p>
          <a:p xmlns:a="http://schemas.openxmlformats.org/drawingml/2006/main">
            <a:r>
              <a:t>        "prepare": "현업 지식·프롬프트·검토 결과의 관리",</a:t>
            </a:r>
          </a:p>
          <a:p xmlns:a="http://schemas.openxmlformats.org/drawingml/2006/main">
            <a:r>
              <a:t>        "output": "업무 목적",</a:t>
            </a:r>
          </a:p>
          <a:p xmlns:a="http://schemas.openxmlformats.org/drawingml/2006/main">
            <a:r>
              <a:t>        "refresh": "전담 조직의 교육·활용 발굴·성과 검토"</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"PF-A16",</a:t>
            </a:r>
          </a:p>
          <a:p xmlns:a="http://schemas.openxmlformats.org/drawingml/2006/main">
            <a:r>
              <a:t>    "success": [</a:t>
            </a:r>
          </a:p>
          <a:p xmlns:a="http://schemas.openxmlformats.org/drawingml/2006/main">
            <a:r>
              <a:t>      "현업 업무 GPT의 구성",</a:t>
            </a:r>
          </a:p>
          <a:p xmlns:a="http://schemas.openxmlformats.org/drawingml/2006/main">
            <a:r>
              <a:t>      "교육·활용 지원과 단계적 확산"</a:t>
            </a:r>
          </a:p>
          <a:p xmlns:a="http://schemas.openxmlformats.org/drawingml/2006/main">
            <a:r>
              <a:t>    ],</a:t>
            </a:r>
          </a:p>
          <a:p xmlns:a="http://schemas.openxmlformats.org/drawingml/2006/main">
            <a:r>
              <a:t>    "risks": [</a:t>
            </a:r>
          </a:p>
          <a:p xmlns:a="http://schemas.openxmlformats.org/drawingml/2006/main">
            <a:r>
              <a:t>      "활용자 수와 업무 완결성의 차이",</a:t>
            </a:r>
          </a:p>
          <a:p xmlns:a="http://schemas.openxmlformats.org/drawingml/2006/main">
            <a:r>
              <a:t>      "규제·민감자료 통제의 확장 부담"</a:t>
            </a:r>
          </a:p>
          <a:p xmlns:a="http://schemas.openxmlformats.org/drawingml/2006/main">
            <a:r>
              <a:t>    ],</a:t>
            </a:r>
          </a:p>
          <a:p xmlns:a="http://schemas.openxmlformats.org/drawingml/2006/main">
            <a:r>
              <a:t>    "architecture": [</a:t>
            </a:r>
          </a:p>
          <a:p xmlns:a="http://schemas.openxmlformats.org/drawingml/2006/main">
            <a:r>
              <a:t>      "은행 직원",</a:t>
            </a:r>
          </a:p>
          <a:p xmlns:a="http://schemas.openxmlformats.org/drawingml/2006/main">
            <a:r>
              <a:t>      "기업 AI·업무 GPT",</a:t>
            </a:r>
          </a:p>
          <a:p xmlns:a="http://schemas.openxmlformats.org/drawingml/2006/main">
            <a:r>
              <a:t>      "업무 문맥·지식",</a:t>
            </a:r>
          </a:p>
          <a:p xmlns:a="http://schemas.openxmlformats.org/drawingml/2006/main">
            <a:r>
              <a:t>      "현업 검토자"</a:t>
            </a:r>
          </a:p>
          <a:p xmlns:a="http://schemas.openxmlformats.org/drawingml/2006/main">
            <a:r>
              <a:t>    ],</a:t>
            </a:r>
          </a:p>
          <a:p xmlns:a="http://schemas.openxmlformats.org/drawingml/2006/main">
            <a:r>
              <a:t>    "transfers": [</a:t>
            </a:r>
          </a:p>
          <a:p xmlns:a="http://schemas.openxmlformats.org/drawingml/2006/main">
            <a:r>
              <a:t>      "업무 목적",</a:t>
            </a:r>
          </a:p>
          <a:p xmlns:a="http://schemas.openxmlformats.org/drawingml/2006/main">
            <a:r>
              <a:t>      "GPT 문맥",</a:t>
            </a:r>
          </a:p>
          <a:p xmlns:a="http://schemas.openxmlformats.org/drawingml/2006/main">
            <a:r>
              <a:t>      "업무 결과",</a:t>
            </a:r>
          </a:p>
          <a:p xmlns:a="http://schemas.openxmlformats.org/drawingml/2006/main">
            <a:r>
              <a:t>      "활용·평가 기록"</a:t>
            </a:r>
          </a:p>
          <a:p xmlns:a="http://schemas.openxmlformats.org/drawingml/2006/main">
            <a:r>
              <a:t>    ],</a:t>
            </a:r>
          </a:p>
          <a:p xmlns:a="http://schemas.openxmlformats.org/drawingml/2006/main">
            <a:r>
              <a:t>    "control": "부서별 권한·완료율·재작업 평가",</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T106·P139 / 조직 확산·업무성과 https://www.bbva.com/en/innovation/bbva-and-openai-seal-a-strategic-alliance-to-redefine-banking-with-artificial-intelligence/</a:t>
            </a:r>
          </a:p>
          <a:p xmlns:a="http://schemas.openxmlformats.org/drawingml/2006/main">
            <a:r>
              <a:t>홈페이지 https://heen1987-ops.github.io/TS-business-Plan-001/index.html?view=platform-cases&amp;case=PF-A16</a:t>
            </a:r>
          </a:p>
          <a:p xmlns:a="http://schemas.openxmlformats.org/drawingml/2006/main">
            <a:r>
              <a:t>한계: 12만명 전사 확대는 발표 계획과 초기11,000명 실적을 구분. 독립 ROI 검증 아님</a:t>
            </a:r>
          </a:p>
          <a:p xmlns:a="http://schemas.openxmlformats.org/drawingml/2006/main">
            <a:r>
              <a:t>실패 위험: 활용자 수와 업무 완결성의 차이 / 규제·민감자료 통제의 확장 부담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"PF-A16",</a:t>
            </a:r>
          </a:p>
          <a:p xmlns:a="http://schemas.openxmlformats.org/drawingml/2006/main">
            <a:r>
              <a:t>    "sourceId": "A16",</a:t>
            </a:r>
          </a:p>
          <a:p xmlns:a="http://schemas.openxmlformats.org/drawingml/2006/main">
            <a:r>
              <a:t>    "title": "BBVA 기업 AI 도입",</a:t>
            </a:r>
          </a:p>
          <a:p xmlns:a="http://schemas.openxmlformats.org/drawingml/2006/main">
            <a:r>
              <a:t>    "region": "해외",</a:t>
            </a:r>
          </a:p>
          <a:p xmlns:a="http://schemas.openxmlformats.org/drawingml/2006/main">
            <a:r>
              <a:t>    "owner": "BBVA / 기업 AI 도입",</a:t>
            </a:r>
          </a:p>
          <a:p xmlns:a="http://schemas.openxmlformats.org/drawingml/2006/main">
            <a:r>
              <a:t>    "state": "초기11,000명 활용 후 전사 확대 협약(2025-12)",</a:t>
            </a:r>
          </a:p>
          <a:p xmlns:a="http://schemas.openxmlformats.org/drawingml/2006/main">
            <a:r>
              <a:t>    "period": "기존 원장 확인 2026.10.16",</a:t>
            </a:r>
          </a:p>
          <a:p xmlns:a="http://schemas.openxmlformats.org/drawingml/2006/main">
            <a:r>
              <a:t>    "fact": "전사 AX 확산·업무용 AI",</a:t>
            </a:r>
          </a:p>
          <a:p xmlns:a="http://schemas.openxmlformats.org/drawingml/2006/main">
            <a:r>
              <a:t>    "limit": "12만명 전사 확대는 발표 계획과 초기11,000명 실적을 구분. 독립 ROI 검증 아님",</a:t>
            </a:r>
          </a:p>
          <a:p xmlns:a="http://schemas.openxmlformats.org/drawingml/2006/main">
            <a:r>
              <a:t>    "nodes": [</a:t>
            </a:r>
          </a:p>
          <a:p xmlns:a="http://schemas.openxmlformats.org/drawingml/2006/main">
            <a:r>
              <a:t>      "기업 AI 환경",</a:t>
            </a:r>
          </a:p>
          <a:p xmlns:a="http://schemas.openxmlformats.org/drawingml/2006/main">
            <a:r>
              <a:t>      "업무 GPT",</a:t>
            </a:r>
          </a:p>
          <a:p xmlns:a="http://schemas.openxmlformats.org/drawingml/2006/main">
            <a:r>
              <a:t>      "현업 활용 지원",</a:t>
            </a:r>
          </a:p>
          <a:p xmlns:a="http://schemas.openxmlformats.org/drawingml/2006/main">
            <a:r>
              <a:t>      "확산·성과 관측"</a:t>
            </a:r>
          </a:p>
          <a:p xmlns:a="http://schemas.openxmlformats.org/drawingml/2006/main">
            <a:r>
              <a:t>    ],</a:t>
            </a:r>
          </a:p>
          <a:p xmlns:a="http://schemas.openxmlformats.org/drawingml/2006/main">
            <a:r>
              <a:t>    "apply": "공통 플랫폼과 현업 활용 발굴·교육·검토를 담당하는 확산 조직의 결합",</a:t>
            </a:r>
          </a:p>
          <a:p xmlns:a="http://schemas.openxmlformats.org/drawingml/2006/main">
            <a:r>
              <a:t>    "delta": "기관 설정·회귀 평가·두 번째 부서 적용",</a:t>
            </a:r>
          </a:p>
          <a:p xmlns:a="http://schemas.openxmlformats.org/drawingml/2006/main">
            <a:r>
              <a:t>    "test": "도입기간·유지비·교육 부담의 기준선·비교 평가",</a:t>
            </a:r>
          </a:p>
          <a:p xmlns:a="http://schemas.openxmlformats.org/drawingml/2006/main">
            <a:r>
              <a:t>    "url": "https://www.bbva.com/en/innovation/bbva-and-openai-seal-a-strategic-alliance-to-redefine-banking-with-artificial-intelligence/",</a:t>
            </a:r>
          </a:p>
          <a:p xmlns:a="http://schemas.openxmlformats.org/drawingml/2006/main">
            <a:r>
              <a:t>    "urls": [</a:t>
            </a:r>
          </a:p>
          <a:p xmlns:a="http://schemas.openxmlformats.org/drawingml/2006/main">
            <a:r>
              <a:t>      "https://www.bbva.com/en/innovation/bbva-and-openai-seal-a-strategic-alliance-to-redefine-banking-with-artificial-intelligence/",</a:t>
            </a:r>
          </a:p>
          <a:p xmlns:a="http://schemas.openxmlformats.org/drawingml/2006/main">
            <a:r>
              <a:t>      "https://www.bbva.com/en/innovation/alvaro-martin-bbva-ai-is-changing-the-way-we-work-and-serve-our-customers/"</a:t>
            </a:r>
          </a:p>
          <a:p xmlns:a="http://schemas.openxmlformats.org/drawingml/2006/main">
            <a:r>
              <a:t>    ],</a:t>
            </a:r>
          </a:p>
          <a:p xmlns:a="http://schemas.openxmlformats.org/drawingml/2006/main">
            <a:r>
              <a:t>    "basis": "T106·P139 / 조직 확산·업무성과",</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"도입기간·유지비·교육 부담",</a:t>
            </a:r>
          </a:p>
          <a:p xmlns:a="http://schemas.openxmlformats.org/drawingml/2006/main">
            <a:r>
              <a:t>    "group": "운영·실증",</a:t>
            </a:r>
          </a:p>
          <a:p xmlns:a="http://schemas.openxmlformats.org/drawingml/2006/main">
            <a:r>
              <a:t>    "sourceDetail": "ChatGPT Enterprise·전문화 GPT와 전사 활용 발굴, Global AI Adoption 조직\n전담 채택 조직·현업 사례 확장, 안전한 기업 이용환경",</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"PF-A16",</a:t>
            </a:r>
          </a:p>
          <a:p xmlns:a="http://schemas.openxmlformats.org/drawingml/2006/main">
            <a:r>
              <a:t>    "canonicalId": "PF-A16",</a:t>
            </a:r>
          </a:p>
          <a:p xmlns:a="http://schemas.openxmlformats.org/drawingml/2006/main">
            <a:r>
              <a:t>    "purpose": "전사 공통 AI와 현업 GPT 활용의 확산",</a:t>
            </a:r>
          </a:p>
          <a:p xmlns:a="http://schemas.openxmlformats.org/drawingml/2006/main">
            <a:r>
              <a:t>    "users": "은행 직원·AI 채택 조직",</a:t>
            </a:r>
          </a:p>
          <a:p xmlns:a="http://schemas.openxmlformats.org/drawingml/2006/main">
            <a:r>
              <a:t>    "scope": [</a:t>
            </a:r>
          </a:p>
          <a:p xmlns:a="http://schemas.openxmlformats.org/drawingml/2006/main">
            <a:r>
              <a:t>      "기업 AI",</a:t>
            </a:r>
          </a:p>
          <a:p xmlns:a="http://schemas.openxmlformats.org/drawingml/2006/main">
            <a:r>
              <a:t>      "전문화 GPT",</a:t>
            </a:r>
          </a:p>
          <a:p xmlns:a="http://schemas.openxmlformats.org/drawingml/2006/main">
            <a:r>
              <a:t>      "활용 지원"</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"은행 직원",</a:t>
            </a:r>
          </a:p>
          <a:p xmlns:a="http://schemas.openxmlformats.org/drawingml/2006/main">
            <a:r>
              <a:t>        "detail": "사용자·업무 목적·민감자료 범위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"기업 AI / 전문화 GPT / 활용 지원",</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"기업 AI·업무 GPT",</a:t>
            </a:r>
          </a:p>
          <a:p xmlns:a="http://schemas.openxmlformats.org/drawingml/2006/main">
            <a:r>
              <a:t>        "detail": "공통 AI와 전문화 GPT의 지시·자료 연결",</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"현업 검토자",</a:t>
            </a:r>
          </a:p>
          <a:p xmlns:a="http://schemas.openxmlformats.org/drawingml/2006/main">
            <a:r>
              <a:t>        "detail": "담당자가 검토한 업무 결과의 활용",</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"업무 문맥·지식",</a:t>
            </a:r>
          </a:p>
          <a:p xmlns:a="http://schemas.openxmlformats.org/drawingml/2006/main">
            <a:r>
              <a:t>        "detail": "현업 지식·프롬프트·검토 결과의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"전담 조직의 교육·활용 발굴·성과 검토",</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"기업 AI 환경",</a:t>
            </a:r>
          </a:p>
          <a:p xmlns:a="http://schemas.openxmlformats.org/drawingml/2006/main">
            <a:r>
              <a:t>        "input": "사용자·업무 목적·민감자료 범위 확인",</a:t>
            </a:r>
          </a:p>
          <a:p xmlns:a="http://schemas.openxmlformats.org/drawingml/2006/main">
            <a:r>
              <a:t>        "process": "현업 지식·프롬프트·검토 결과의 관리",</a:t>
            </a:r>
          </a:p>
          <a:p xmlns:a="http://schemas.openxmlformats.org/drawingml/2006/main">
            <a:r>
              <a:t>        "output": "업무 목적"</a:t>
            </a:r>
          </a:p>
          <a:p xmlns:a="http://schemas.openxmlformats.org/drawingml/2006/main">
            <a:r>
              <a:t>      },</a:t>
            </a:r>
          </a:p>
          <a:p xmlns:a="http://schemas.openxmlformats.org/drawingml/2006/main">
            <a:r>
              <a:t>      {</a:t>
            </a:r>
          </a:p>
          <a:p xmlns:a="http://schemas.openxmlformats.org/drawingml/2006/main">
            <a:r>
              <a:t>        "title": "업무 GPT",</a:t>
            </a:r>
          </a:p>
          <a:p xmlns:a="http://schemas.openxmlformats.org/drawingml/2006/main">
            <a:r>
              <a:t>        "input": "업무 목적",</a:t>
            </a:r>
          </a:p>
          <a:p xmlns:a="http://schemas.openxmlformats.org/drawingml/2006/main">
            <a:r>
              <a:t>        "process": "공통 AI와 전문화 GPT의 지시·자료 연결",</a:t>
            </a:r>
          </a:p>
          <a:p xmlns:a="http://schemas.openxmlformats.org/drawingml/2006/main">
            <a:r>
              <a:t>        "output": "GPT 문맥"</a:t>
            </a:r>
          </a:p>
          <a:p xmlns:a="http://schemas.openxmlformats.org/drawingml/2006/main">
            <a:r>
              <a:t>      },</a:t>
            </a:r>
          </a:p>
          <a:p xmlns:a="http://schemas.openxmlformats.org/drawingml/2006/main">
            <a:r>
              <a:t>      {</a:t>
            </a:r>
          </a:p>
          <a:p xmlns:a="http://schemas.openxmlformats.org/drawingml/2006/main">
            <a:r>
              <a:t>        "title": "현업 활용 지원",</a:t>
            </a:r>
          </a:p>
          <a:p xmlns:a="http://schemas.openxmlformats.org/drawingml/2006/main">
            <a:r>
              <a:t>        "input": "GPT 문맥",</a:t>
            </a:r>
          </a:p>
          <a:p xmlns:a="http://schemas.openxmlformats.org/drawingml/2006/main">
            <a:r>
              <a:t>        "process": "부서별 권한·완료율·재작업 평가",</a:t>
            </a:r>
          </a:p>
          <a:p xmlns:a="http://schemas.openxmlformats.org/drawingml/2006/main">
            <a:r>
              <a:t>        "output": "업무 결과"</a:t>
            </a:r>
          </a:p>
          <a:p xmlns:a="http://schemas.openxmlformats.org/drawingml/2006/main">
            <a:r>
              <a:t>      },</a:t>
            </a:r>
          </a:p>
          <a:p xmlns:a="http://schemas.openxmlformats.org/drawingml/2006/main">
            <a:r>
              <a:t>      {</a:t>
            </a:r>
          </a:p>
          <a:p xmlns:a="http://schemas.openxmlformats.org/drawingml/2006/main">
            <a:r>
              <a:t>        "title": "확산·성과 관측",</a:t>
            </a:r>
          </a:p>
          <a:p xmlns:a="http://schemas.openxmlformats.org/drawingml/2006/main">
            <a:r>
              <a:t>        "input": "업무 결과",</a:t>
            </a:r>
          </a:p>
          <a:p xmlns:a="http://schemas.openxmlformats.org/drawingml/2006/main">
            <a:r>
              <a:t>        "process": "담당자가 검토한 업무 결과의 활용",</a:t>
            </a:r>
          </a:p>
          <a:p xmlns:a="http://schemas.openxmlformats.org/drawingml/2006/main">
            <a:r>
              <a:t>        "output": "활용·평가 기록"</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"현업 GPT를 구성하고 담당 조직이 교육·활용 지원",</a:t>
            </a:r>
          </a:p>
          <a:p xmlns:a="http://schemas.openxmlformats.org/drawingml/2006/main">
            <a:r>
              <a:t>      "exception": "승인되지 않은 지식·민감 입력·성과 자기보고 편향",</a:t>
            </a:r>
          </a:p>
          <a:p xmlns:a="http://schemas.openxmlformats.org/drawingml/2006/main">
            <a:r>
              <a:t>      "evidence": "업무별 수용률·오류·완료시간·입력 통제 결과",</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"은행 직원·AI 채택 조직",</a:t>
            </a:r>
          </a:p>
          <a:p xmlns:a="http://schemas.openxmlformats.org/drawingml/2006/main">
            <a:r>
              <a:t>          "processing": "사용자·업무 목적·민감자료 범위 확인",</a:t>
            </a:r>
          </a:p>
          <a:p xmlns:a="http://schemas.openxmlformats.org/drawingml/2006/main">
            <a:r>
              <a:t>          "output": "업무 목적"</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"업무 문맥·지식",</a:t>
            </a:r>
          </a:p>
          <a:p xmlns:a="http://schemas.openxmlformats.org/drawingml/2006/main">
            <a:r>
              <a:t>          "processing": "현업 지식·프롬프트·검토 결과의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"업무 목적",</a:t>
            </a:r>
          </a:p>
          <a:p xmlns:a="http://schemas.openxmlformats.org/drawingml/2006/main">
            <a:r>
              <a:t>          "processing": "공통 AI와 전문화 GPT의 지시·자료 연결",</a:t>
            </a:r>
          </a:p>
          <a:p xmlns:a="http://schemas.openxmlformats.org/drawingml/2006/main">
            <a:r>
              <a:t>          "output": "업무 결과"</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"업무 결과",</a:t>
            </a:r>
          </a:p>
          <a:p xmlns:a="http://schemas.openxmlformats.org/drawingml/2006/main">
            <a:r>
              <a:t>          "processing": "담당자가 검토한 업무 결과의 활용",</a:t>
            </a:r>
          </a:p>
          <a:p xmlns:a="http://schemas.openxmlformats.org/drawingml/2006/main">
            <a:r>
              <a:t>          "output": "활용·평가 기록"</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"전담 조직의 교육·활용 발굴·성과 검토",</a:t>
            </a:r>
          </a:p>
          <a:p xmlns:a="http://schemas.openxmlformats.org/drawingml/2006/main">
            <a:r>
              <a:t>          "output": "업무별 수용률·오류·완료시간·입력 통제 결과"</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"전담 조직의 교육·활용 발굴·성과 검토",</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"T106·P139 / 조직 확산·업무성과",</a:t>
            </a:r>
          </a:p>
          <a:p xmlns:a="http://schemas.openxmlformats.org/drawingml/2006/main">
            <a:r>
              <a:t>        "url": "https://www.bbva.com/en/innovation/bbva-and-openai-seal-a-strategic-alliance-to-redefine-banking-with-artificial-intelligence/"</a:t>
            </a:r>
          </a:p>
          <a:p xmlns:a="http://schemas.openxmlformats.org/drawingml/2006/main">
            <a:r>
              <a:t>      }</a:t>
            </a:r>
          </a:p>
          <a:p xmlns:a="http://schemas.openxmlformats.org/drawingml/2006/main">
            <a:r>
              <a:t>    ],</a:t>
            </a:r>
          </a:p>
          <a:p xmlns:a="http://schemas.openxmlformats.org/drawingml/2006/main">
            <a:r>
              <a:t>    "implication": "공통 플랫폼과 현업 활용 발굴·교육·검토를 담당하는 확산 조직의 결합",</a:t>
            </a:r>
          </a:p>
          <a:p xmlns:a="http://schemas.openxmlformats.org/drawingml/2006/main">
            <a:r>
              <a:t>    "local": "공통 플랫폼과 현업 활용 발굴·교육·검토를 담당하는 확산 조직의 결합",</a:t>
            </a:r>
          </a:p>
          <a:p xmlns:a="http://schemas.openxmlformats.org/drawingml/2006/main">
            <a:r>
              <a:t>    "sourceDetail": "ChatGPT Enterprise·전문화 GPT와 전사 활용 발굴, Global AI Adoption 조직\n전담 채택 조직·현업 사례 확장, 안전한 기업 이용환경",</a:t>
            </a:r>
          </a:p>
          <a:p xmlns:a="http://schemas.openxmlformats.org/drawingml/2006/main">
            <a:r>
              <a:t>    "narrative": [</a:t>
            </a:r>
          </a:p>
          <a:p xmlns:a="http://schemas.openxmlformats.org/drawingml/2006/main">
            <a:r>
              <a:t>      "BBVA의 전사 AI 활용과 전문화 GPT 확산 사례. 공통 도구 도입 이후 현업 사용자가 자신의 업무에 맞는 지시·자료를 구성하고 전담 조직이 활용과 교육을 지원하는 운영 방식.",</a:t>
            </a:r>
          </a:p>
          <a:p xmlns:a="http://schemas.openxmlformats.org/drawingml/2006/main">
            <a:r>
              <a:t>      "직원 접근, 기업용 AI 환경, 업무별 GPT, 지식·프롬프트 관리, 현업 검토, 활용 피드백의 흐름으로 재구성. 실제 내부 권한 구현은 공개된 활용 설명과 구분하고 민감 자료 입력과 업무 결과 사용의 책임을 별도 설계.",</a:t>
            </a:r>
          </a:p>
          <a:p xmlns:a="http://schemas.openxmlformats.org/drawingml/2006/main">
            <a:r>
              <a:t>      "TS에서의 비교 기준은 생성한 봇 수보다 검증된 업무 단위의 정착 여부. 부서 소유자·업무 범위·근거 자료·시험 결과·중단 조건을 갖춘 서비스 목록을 운영하고 전보 이후 소유권 이전을 공통 기능으로 관리할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"직원·GPT 접점",</a:t>
            </a:r>
          </a:p>
          <a:p xmlns:a="http://schemas.openxmlformats.org/drawingml/2006/main">
            <a:r>
              <a:t>          "layer": "이용 접점",</a:t>
            </a:r>
          </a:p>
          <a:p xmlns:a="http://schemas.openxmlformats.org/drawingml/2006/main">
            <a:r>
              <a:t>          "detail": "은행 직원·AI 채택 조직",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"업무·민감범위",</a:t>
            </a:r>
          </a:p>
          <a:p xmlns:a="http://schemas.openxmlformats.org/drawingml/2006/main">
            <a:r>
              <a:t>          "layer": "업무 문맥",</a:t>
            </a:r>
          </a:p>
          <a:p xmlns:a="http://schemas.openxmlformats.org/drawingml/2006/main">
            <a:r>
              <a:t>          "detail": "사용자·업무 목적·민감자료 범위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"현업 지식 조회",</a:t>
            </a:r>
          </a:p>
          <a:p xmlns:a="http://schemas.openxmlformats.org/drawingml/2006/main">
            <a:r>
              <a:t>          "layer": "자료 조회",</a:t>
            </a:r>
          </a:p>
          <a:p xmlns:a="http://schemas.openxmlformats.org/drawingml/2006/main">
            <a:r>
              <a:t>          "detail": "업무 목적",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"기업 AI·전문화 GPT",</a:t>
            </a:r>
          </a:p>
          <a:p xmlns:a="http://schemas.openxmlformats.org/drawingml/2006/main">
            <a:r>
              <a:t>          "layer": "핵심 처리",</a:t>
            </a:r>
          </a:p>
          <a:p xmlns:a="http://schemas.openxmlformats.org/drawingml/2006/main">
            <a:r>
              <a:t>          "detail": "공통 AI와 전문화 GPT의 지시·자료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"근거·권한 검사",</a:t>
            </a:r>
          </a:p>
          <a:p xmlns:a="http://schemas.openxmlformats.org/drawingml/2006/main">
            <a:r>
              <a:t>          "layer": "결과 검증",</a:t>
            </a:r>
          </a:p>
          <a:p xmlns:a="http://schemas.openxmlformats.org/drawingml/2006/main">
            <a:r>
              <a:t>          "detail": "부서별 권한·완료율·재작업 평가",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"업무 담당 확인",</a:t>
            </a:r>
          </a:p>
          <a:p xmlns:a="http://schemas.openxmlformats.org/drawingml/2006/main">
            <a:r>
              <a:t>          "layer": "사람 확인",</a:t>
            </a:r>
          </a:p>
          <a:p xmlns:a="http://schemas.openxmlformats.org/drawingml/2006/main">
            <a:r>
              <a:t>          "detail": "현업 GPT를 구성하고 담당 조직이 교육·활용 지원",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"현업 결과 활용",</a:t>
            </a:r>
          </a:p>
          <a:p xmlns:a="http://schemas.openxmlformats.org/drawingml/2006/main">
            <a:r>
              <a:t>          "layer": "업무 연결",</a:t>
            </a:r>
          </a:p>
          <a:p xmlns:a="http://schemas.openxmlformats.org/drawingml/2006/main">
            <a:r>
              <a:t>          "detail": "담당자가 검토한 업무 결과의 활용",</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"채택 조직 평가",</a:t>
            </a:r>
          </a:p>
          <a:p xmlns:a="http://schemas.openxmlformats.org/drawingml/2006/main">
            <a:r>
              <a:t>          "layer": "운영 관측",</a:t>
            </a:r>
          </a:p>
          <a:p xmlns:a="http://schemas.openxmlformats.org/drawingml/2006/main">
            <a:r>
              <a:t>          "detail": "전담 조직의 교육·활용 발굴·성과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"현업 지식·지시",</a:t>
            </a:r>
          </a:p>
          <a:p xmlns:a="http://schemas.openxmlformats.org/drawingml/2006/main">
            <a:r>
              <a:t>          "layer": "데이터 원천",</a:t>
            </a:r>
          </a:p>
          <a:p xmlns:a="http://schemas.openxmlformats.org/drawingml/2006/main">
            <a:r>
              <a:t>          "detail": "업무 문맥·지식",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"프롬프트·판본 정리",</a:t>
            </a:r>
          </a:p>
          <a:p xmlns:a="http://schemas.openxmlformats.org/drawingml/2006/main">
            <a:r>
              <a:t>          "layer": "준비·갱신",</a:t>
            </a:r>
          </a:p>
          <a:p xmlns:a="http://schemas.openxmlformats.org/drawingml/2006/main">
            <a:r>
              <a:t>          "detail": "현업 지식·프롬프트·검토 결과의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"GPT·활용 기록",</a:t>
            </a:r>
          </a:p>
          <a:p xmlns:a="http://schemas.openxmlformats.org/drawingml/2006/main">
            <a:r>
              <a:t>          "layer": "상태·지식 저장",</a:t>
            </a:r>
          </a:p>
          <a:p xmlns:a="http://schemas.openxmlformats.org/drawingml/2006/main">
            <a:r>
              <a:t>          "detail": "업무별 수용률·오류·완료시간·입력 통제 결과",</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"부서별 이용범위",</a:t>
            </a:r>
          </a:p>
          <a:p xmlns:a="http://schemas.openxmlformats.org/drawingml/2006/main">
            <a:r>
              <a:t>          "layer": "권한·정책",</a:t>
            </a:r>
          </a:p>
          <a:p xmlns:a="http://schemas.openxmlformats.org/drawingml/2006/main">
            <a:r>
              <a:t>          "detail": "승인되지 않은 지식·민감 입력·성과 자기보고 편향",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"사용자·업무 목적·민감자료 범위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"업무 목적",</a:t>
            </a:r>
          </a:p>
          <a:p xmlns:a="http://schemas.openxmlformats.org/drawingml/2006/main">
            <a:r>
              <a:t>          "check": "부서별 권한·완료율·재작업 평가"</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"GPT 문맥",</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"업무 결과",</a:t>
            </a:r>
          </a:p>
          <a:p xmlns:a="http://schemas.openxmlformats.org/drawingml/2006/main">
            <a:r>
              <a:t>          "check": "승인되지 않은 지식·민감 입력·성과 자기보고 편향"</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"업무 결과",</a:t>
            </a:r>
          </a:p>
          <a:p xmlns:a="http://schemas.openxmlformats.org/drawingml/2006/main">
            <a:r>
              <a:t>          "check": "담당자가 검토한 업무 결과의 활용"</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"활용·평가 기록",</a:t>
            </a:r>
          </a:p>
          <a:p xmlns:a="http://schemas.openxmlformats.org/drawingml/2006/main">
            <a:r>
              <a:t>          "check": "업무별 수용률·오류·완료시간·입력 통제 결과"</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"전사 공통 AI와 현업 GPT 활용의 확산 / 기업 AI·전문화 GPT·활용 지원",</a:t>
            </a:r>
          </a:p>
          <a:p xmlns:a="http://schemas.openxmlformats.org/drawingml/2006/main">
            <a:r>
              <a:t>        "extension": "공통 플랫폼과 현업 활용 발굴·교육·검토를 담당하는 확산 조직의 결합"</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"승인되지 않은 지식·민감 입력·성과 자기보고 편향",</a:t>
            </a:r>
          </a:p>
          <a:p xmlns:a="http://schemas.openxmlformats.org/drawingml/2006/main">
            <a:r>
              <a:t>        "hold": "부서별 권한·완료율·재작업 평가",</a:t>
            </a:r>
          </a:p>
          <a:p xmlns:a="http://schemas.openxmlformats.org/drawingml/2006/main">
            <a:r>
              <a:t>        "recovery": "전담 조직의 교육·활용 발굴·성과 검토",</a:t>
            </a:r>
          </a:p>
          <a:p xmlns:a="http://schemas.openxmlformats.org/drawingml/2006/main">
            <a:r>
              <a:t>        "evidence": "업무별 수용률·오류·완료시간·입력 통제 결과"</a:t>
            </a:r>
          </a:p>
          <a:p xmlns:a="http://schemas.openxmlformats.org/drawingml/2006/main">
            <a:r>
              <a:t>      },</a:t>
            </a:r>
          </a:p>
          <a:p xmlns:a="http://schemas.openxmlformats.org/drawingml/2006/main">
            <a:r>
              <a:t>      "data": {</a:t>
            </a:r>
          </a:p>
          <a:p xmlns:a="http://schemas.openxmlformats.org/drawingml/2006/main">
            <a:r>
              <a:t>        "source": "업무 문맥·지식",</a:t>
            </a:r>
          </a:p>
          <a:p xmlns:a="http://schemas.openxmlformats.org/drawingml/2006/main">
            <a:r>
              <a:t>        "prepare": "현업 지식·프롬프트·검토 결과의 관리",</a:t>
            </a:r>
          </a:p>
          <a:p xmlns:a="http://schemas.openxmlformats.org/drawingml/2006/main">
            <a:r>
              <a:t>        "output": "업무 목적",</a:t>
            </a:r>
          </a:p>
          <a:p xmlns:a="http://schemas.openxmlformats.org/drawingml/2006/main">
            <a:r>
              <a:t>        "refresh": "전담 조직의 교육·활용 발굴·성과 검토"</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"PF-A16",</a:t>
            </a:r>
          </a:p>
          <a:p xmlns:a="http://schemas.openxmlformats.org/drawingml/2006/main">
            <a:r>
              <a:t>    "success": [</a:t>
            </a:r>
          </a:p>
          <a:p xmlns:a="http://schemas.openxmlformats.org/drawingml/2006/main">
            <a:r>
              <a:t>      "현업 업무 GPT의 구성",</a:t>
            </a:r>
          </a:p>
          <a:p xmlns:a="http://schemas.openxmlformats.org/drawingml/2006/main">
            <a:r>
              <a:t>      "교육·활용 지원과 단계적 확산"</a:t>
            </a:r>
          </a:p>
          <a:p xmlns:a="http://schemas.openxmlformats.org/drawingml/2006/main">
            <a:r>
              <a:t>    ],</a:t>
            </a:r>
          </a:p>
          <a:p xmlns:a="http://schemas.openxmlformats.org/drawingml/2006/main">
            <a:r>
              <a:t>    "risks": [</a:t>
            </a:r>
          </a:p>
          <a:p xmlns:a="http://schemas.openxmlformats.org/drawingml/2006/main">
            <a:r>
              <a:t>      "활용자 수와 업무 완결성의 차이",</a:t>
            </a:r>
          </a:p>
          <a:p xmlns:a="http://schemas.openxmlformats.org/drawingml/2006/main">
            <a:r>
              <a:t>      "규제·민감자료 통제의 확장 부담"</a:t>
            </a:r>
          </a:p>
          <a:p xmlns:a="http://schemas.openxmlformats.org/drawingml/2006/main">
            <a:r>
              <a:t>    ],</a:t>
            </a:r>
          </a:p>
          <a:p xmlns:a="http://schemas.openxmlformats.org/drawingml/2006/main">
            <a:r>
              <a:t>    "architecture": [</a:t>
            </a:r>
          </a:p>
          <a:p xmlns:a="http://schemas.openxmlformats.org/drawingml/2006/main">
            <a:r>
              <a:t>      "은행 직원",</a:t>
            </a:r>
          </a:p>
          <a:p xmlns:a="http://schemas.openxmlformats.org/drawingml/2006/main">
            <a:r>
              <a:t>      "기업 AI·업무 GPT",</a:t>
            </a:r>
          </a:p>
          <a:p xmlns:a="http://schemas.openxmlformats.org/drawingml/2006/main">
            <a:r>
              <a:t>      "업무 문맥·지식",</a:t>
            </a:r>
          </a:p>
          <a:p xmlns:a="http://schemas.openxmlformats.org/drawingml/2006/main">
            <a:r>
              <a:t>      "현업 검토자"</a:t>
            </a:r>
          </a:p>
          <a:p xmlns:a="http://schemas.openxmlformats.org/drawingml/2006/main">
            <a:r>
              <a:t>    ],</a:t>
            </a:r>
          </a:p>
          <a:p xmlns:a="http://schemas.openxmlformats.org/drawingml/2006/main">
            <a:r>
              <a:t>    "transfers": [</a:t>
            </a:r>
          </a:p>
          <a:p xmlns:a="http://schemas.openxmlformats.org/drawingml/2006/main">
            <a:r>
              <a:t>      "업무 목적",</a:t>
            </a:r>
          </a:p>
          <a:p xmlns:a="http://schemas.openxmlformats.org/drawingml/2006/main">
            <a:r>
              <a:t>      "GPT 문맥",</a:t>
            </a:r>
          </a:p>
          <a:p xmlns:a="http://schemas.openxmlformats.org/drawingml/2006/main">
            <a:r>
              <a:t>      "업무 결과",</a:t>
            </a:r>
          </a:p>
          <a:p xmlns:a="http://schemas.openxmlformats.org/drawingml/2006/main">
            <a:r>
              <a:t>      "활용·평가 기록"</a:t>
            </a:r>
          </a:p>
          <a:p xmlns:a="http://schemas.openxmlformats.org/drawingml/2006/main">
            <a:r>
              <a:t>    ],</a:t>
            </a:r>
          </a:p>
          <a:p xmlns:a="http://schemas.openxmlformats.org/drawingml/2006/main">
            <a:r>
              <a:t>    "control": "부서별 권한·완료율·재작업 평가",</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T106·P139 / 조직 확산·업무성과 https://www.bbva.com/en/innovation/bbva-and-openai-seal-a-strategic-alliance-to-redefine-banking-with-artificial-intelligence/</a:t>
            </a:r>
          </a:p>
          <a:p xmlns:a="http://schemas.openxmlformats.org/drawingml/2006/main">
            <a:r>
              <a:t>홈페이지 https://heen1987-ops.github.io/TS-business-Plan-001/index.html?view=platform-cases&amp;case=PF-A16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"PF-A16",</a:t>
            </a:r>
          </a:p>
          <a:p xmlns:a="http://schemas.openxmlformats.org/drawingml/2006/main">
            <a:r>
              <a:t>    "sourceId": "A16",</a:t>
            </a:r>
          </a:p>
          <a:p xmlns:a="http://schemas.openxmlformats.org/drawingml/2006/main">
            <a:r>
              <a:t>    "title": "BBVA 기업 AI 도입",</a:t>
            </a:r>
          </a:p>
          <a:p xmlns:a="http://schemas.openxmlformats.org/drawingml/2006/main">
            <a:r>
              <a:t>    "region": "해외",</a:t>
            </a:r>
          </a:p>
          <a:p xmlns:a="http://schemas.openxmlformats.org/drawingml/2006/main">
            <a:r>
              <a:t>    "owner": "BBVA / 기업 AI 도입",</a:t>
            </a:r>
          </a:p>
          <a:p xmlns:a="http://schemas.openxmlformats.org/drawingml/2006/main">
            <a:r>
              <a:t>    "state": "초기11,000명 활용 후 전사 확대 협약(2025-12)",</a:t>
            </a:r>
          </a:p>
          <a:p xmlns:a="http://schemas.openxmlformats.org/drawingml/2006/main">
            <a:r>
              <a:t>    "period": "기존 원장 확인 2026.10.16",</a:t>
            </a:r>
          </a:p>
          <a:p xmlns:a="http://schemas.openxmlformats.org/drawingml/2006/main">
            <a:r>
              <a:t>    "fact": "전사 AX 확산·업무용 AI",</a:t>
            </a:r>
          </a:p>
          <a:p xmlns:a="http://schemas.openxmlformats.org/drawingml/2006/main">
            <a:r>
              <a:t>    "limit": "12만명 전사 확대는 발표 계획과 초기11,000명 실적을 구분. 독립 ROI 검증 아님",</a:t>
            </a:r>
          </a:p>
          <a:p xmlns:a="http://schemas.openxmlformats.org/drawingml/2006/main">
            <a:r>
              <a:t>    "nodes": [</a:t>
            </a:r>
          </a:p>
          <a:p xmlns:a="http://schemas.openxmlformats.org/drawingml/2006/main">
            <a:r>
              <a:t>      "기업 AI 환경",</a:t>
            </a:r>
          </a:p>
          <a:p xmlns:a="http://schemas.openxmlformats.org/drawingml/2006/main">
            <a:r>
              <a:t>      "업무 GPT",</a:t>
            </a:r>
          </a:p>
          <a:p xmlns:a="http://schemas.openxmlformats.org/drawingml/2006/main">
            <a:r>
              <a:t>      "현업 활용 지원",</a:t>
            </a:r>
          </a:p>
          <a:p xmlns:a="http://schemas.openxmlformats.org/drawingml/2006/main">
            <a:r>
              <a:t>      "확산·성과 관측"</a:t>
            </a:r>
          </a:p>
          <a:p xmlns:a="http://schemas.openxmlformats.org/drawingml/2006/main">
            <a:r>
              <a:t>    ],</a:t>
            </a:r>
          </a:p>
          <a:p xmlns:a="http://schemas.openxmlformats.org/drawingml/2006/main">
            <a:r>
              <a:t>    "apply": "공통 플랫폼과 현업 활용 발굴·교육·검토를 담당하는 확산 조직의 결합",</a:t>
            </a:r>
          </a:p>
          <a:p xmlns:a="http://schemas.openxmlformats.org/drawingml/2006/main">
            <a:r>
              <a:t>    "delta": "기관 설정·회귀 평가·두 번째 부서 적용",</a:t>
            </a:r>
          </a:p>
          <a:p xmlns:a="http://schemas.openxmlformats.org/drawingml/2006/main">
            <a:r>
              <a:t>    "test": "도입기간·유지비·교육 부담의 기준선·비교 평가",</a:t>
            </a:r>
          </a:p>
          <a:p xmlns:a="http://schemas.openxmlformats.org/drawingml/2006/main">
            <a:r>
              <a:t>    "url": "https://www.bbva.com/en/innovation/bbva-and-openai-seal-a-strategic-alliance-to-redefine-banking-with-artificial-intelligence/",</a:t>
            </a:r>
          </a:p>
          <a:p xmlns:a="http://schemas.openxmlformats.org/drawingml/2006/main">
            <a:r>
              <a:t>    "urls": [</a:t>
            </a:r>
          </a:p>
          <a:p xmlns:a="http://schemas.openxmlformats.org/drawingml/2006/main">
            <a:r>
              <a:t>      "https://www.bbva.com/en/innovation/bbva-and-openai-seal-a-strategic-alliance-to-redefine-banking-with-artificial-intelligence/",</a:t>
            </a:r>
          </a:p>
          <a:p xmlns:a="http://schemas.openxmlformats.org/drawingml/2006/main">
            <a:r>
              <a:t>      "https://www.bbva.com/en/innovation/alvaro-martin-bbva-ai-is-changing-the-way-we-work-and-serve-our-customers/"</a:t>
            </a:r>
          </a:p>
          <a:p xmlns:a="http://schemas.openxmlformats.org/drawingml/2006/main">
            <a:r>
              <a:t>    ],</a:t>
            </a:r>
          </a:p>
          <a:p xmlns:a="http://schemas.openxmlformats.org/drawingml/2006/main">
            <a:r>
              <a:t>    "basis": "T106·P139 / 조직 확산·업무성과",</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"도입기간·유지비·교육 부담",</a:t>
            </a:r>
          </a:p>
          <a:p xmlns:a="http://schemas.openxmlformats.org/drawingml/2006/main">
            <a:r>
              <a:t>    "group": "운영·실증",</a:t>
            </a:r>
          </a:p>
          <a:p xmlns:a="http://schemas.openxmlformats.org/drawingml/2006/main">
            <a:r>
              <a:t>    "sourceDetail": "ChatGPT Enterprise·전문화 GPT와 전사 활용 발굴, Global AI Adoption 조직\n전담 채택 조직·현업 사례 확장, 안전한 기업 이용환경",</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"PF-A16",</a:t>
            </a:r>
          </a:p>
          <a:p xmlns:a="http://schemas.openxmlformats.org/drawingml/2006/main">
            <a:r>
              <a:t>    "canonicalId": "PF-A16",</a:t>
            </a:r>
          </a:p>
          <a:p xmlns:a="http://schemas.openxmlformats.org/drawingml/2006/main">
            <a:r>
              <a:t>    "purpose": "전사 공통 AI와 현업 GPT 활용의 확산",</a:t>
            </a:r>
          </a:p>
          <a:p xmlns:a="http://schemas.openxmlformats.org/drawingml/2006/main">
            <a:r>
              <a:t>    "users": "은행 직원·AI 채택 조직",</a:t>
            </a:r>
          </a:p>
          <a:p xmlns:a="http://schemas.openxmlformats.org/drawingml/2006/main">
            <a:r>
              <a:t>    "scope": [</a:t>
            </a:r>
          </a:p>
          <a:p xmlns:a="http://schemas.openxmlformats.org/drawingml/2006/main">
            <a:r>
              <a:t>      "기업 AI",</a:t>
            </a:r>
          </a:p>
          <a:p xmlns:a="http://schemas.openxmlformats.org/drawingml/2006/main">
            <a:r>
              <a:t>      "전문화 GPT",</a:t>
            </a:r>
          </a:p>
          <a:p xmlns:a="http://schemas.openxmlformats.org/drawingml/2006/main">
            <a:r>
              <a:t>      "활용 지원"</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"은행 직원",</a:t>
            </a:r>
          </a:p>
          <a:p xmlns:a="http://schemas.openxmlformats.org/drawingml/2006/main">
            <a:r>
              <a:t>        "detail": "사용자·업무 목적·민감자료 범위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"기업 AI / 전문화 GPT / 활용 지원",</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"기업 AI·업무 GPT",</a:t>
            </a:r>
          </a:p>
          <a:p xmlns:a="http://schemas.openxmlformats.org/drawingml/2006/main">
            <a:r>
              <a:t>        "detail": "공통 AI와 전문화 GPT의 지시·자료 연결",</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"현업 검토자",</a:t>
            </a:r>
          </a:p>
          <a:p xmlns:a="http://schemas.openxmlformats.org/drawingml/2006/main">
            <a:r>
              <a:t>        "detail": "담당자가 검토한 업무 결과의 활용",</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"업무 문맥·지식",</a:t>
            </a:r>
          </a:p>
          <a:p xmlns:a="http://schemas.openxmlformats.org/drawingml/2006/main">
            <a:r>
              <a:t>        "detail": "현업 지식·프롬프트·검토 결과의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"전담 조직의 교육·활용 발굴·성과 검토",</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"기업 AI 환경",</a:t>
            </a:r>
          </a:p>
          <a:p xmlns:a="http://schemas.openxmlformats.org/drawingml/2006/main">
            <a:r>
              <a:t>        "input": "사용자·업무 목적·민감자료 범위 확인",</a:t>
            </a:r>
          </a:p>
          <a:p xmlns:a="http://schemas.openxmlformats.org/drawingml/2006/main">
            <a:r>
              <a:t>        "process": "현업 지식·프롬프트·검토 결과의 관리",</a:t>
            </a:r>
          </a:p>
          <a:p xmlns:a="http://schemas.openxmlformats.org/drawingml/2006/main">
            <a:r>
              <a:t>        "output": "업무 목적"</a:t>
            </a:r>
          </a:p>
          <a:p xmlns:a="http://schemas.openxmlformats.org/drawingml/2006/main">
            <a:r>
              <a:t>      },</a:t>
            </a:r>
          </a:p>
          <a:p xmlns:a="http://schemas.openxmlformats.org/drawingml/2006/main">
            <a:r>
              <a:t>      {</a:t>
            </a:r>
          </a:p>
          <a:p xmlns:a="http://schemas.openxmlformats.org/drawingml/2006/main">
            <a:r>
              <a:t>        "title": "업무 GPT",</a:t>
            </a:r>
          </a:p>
          <a:p xmlns:a="http://schemas.openxmlformats.org/drawingml/2006/main">
            <a:r>
              <a:t>        "input": "업무 목적",</a:t>
            </a:r>
          </a:p>
          <a:p xmlns:a="http://schemas.openxmlformats.org/drawingml/2006/main">
            <a:r>
              <a:t>        "process": "공통 AI와 전문화 GPT의 지시·자료 연결",</a:t>
            </a:r>
          </a:p>
          <a:p xmlns:a="http://schemas.openxmlformats.org/drawingml/2006/main">
            <a:r>
              <a:t>        "output": "GPT 문맥"</a:t>
            </a:r>
          </a:p>
          <a:p xmlns:a="http://schemas.openxmlformats.org/drawingml/2006/main">
            <a:r>
              <a:t>      },</a:t>
            </a:r>
          </a:p>
          <a:p xmlns:a="http://schemas.openxmlformats.org/drawingml/2006/main">
            <a:r>
              <a:t>      {</a:t>
            </a:r>
          </a:p>
          <a:p xmlns:a="http://schemas.openxmlformats.org/drawingml/2006/main">
            <a:r>
              <a:t>        "title": "현업 활용 지원",</a:t>
            </a:r>
          </a:p>
          <a:p xmlns:a="http://schemas.openxmlformats.org/drawingml/2006/main">
            <a:r>
              <a:t>        "input": "GPT 문맥",</a:t>
            </a:r>
          </a:p>
          <a:p xmlns:a="http://schemas.openxmlformats.org/drawingml/2006/main">
            <a:r>
              <a:t>        "process": "부서별 권한·완료율·재작업 평가",</a:t>
            </a:r>
          </a:p>
          <a:p xmlns:a="http://schemas.openxmlformats.org/drawingml/2006/main">
            <a:r>
              <a:t>        "output": "업무 결과"</a:t>
            </a:r>
          </a:p>
          <a:p xmlns:a="http://schemas.openxmlformats.org/drawingml/2006/main">
            <a:r>
              <a:t>      },</a:t>
            </a:r>
          </a:p>
          <a:p xmlns:a="http://schemas.openxmlformats.org/drawingml/2006/main">
            <a:r>
              <a:t>      {</a:t>
            </a:r>
          </a:p>
          <a:p xmlns:a="http://schemas.openxmlformats.org/drawingml/2006/main">
            <a:r>
              <a:t>        "title": "확산·성과 관측",</a:t>
            </a:r>
          </a:p>
          <a:p xmlns:a="http://schemas.openxmlformats.org/drawingml/2006/main">
            <a:r>
              <a:t>        "input": "업무 결과",</a:t>
            </a:r>
          </a:p>
          <a:p xmlns:a="http://schemas.openxmlformats.org/drawingml/2006/main">
            <a:r>
              <a:t>        "process": "담당자가 검토한 업무 결과의 활용",</a:t>
            </a:r>
          </a:p>
          <a:p xmlns:a="http://schemas.openxmlformats.org/drawingml/2006/main">
            <a:r>
              <a:t>        "output": "활용·평가 기록"</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"현업 GPT를 구성하고 담당 조직이 교육·활용 지원",</a:t>
            </a:r>
          </a:p>
          <a:p xmlns:a="http://schemas.openxmlformats.org/drawingml/2006/main">
            <a:r>
              <a:t>      "exception": "승인되지 않은 지식·민감 입력·성과 자기보고 편향",</a:t>
            </a:r>
          </a:p>
          <a:p xmlns:a="http://schemas.openxmlformats.org/drawingml/2006/main">
            <a:r>
              <a:t>      "evidence": "업무별 수용률·오류·완료시간·입력 통제 결과",</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"은행 직원·AI 채택 조직",</a:t>
            </a:r>
          </a:p>
          <a:p xmlns:a="http://schemas.openxmlformats.org/drawingml/2006/main">
            <a:r>
              <a:t>          "processing": "사용자·업무 목적·민감자료 범위 확인",</a:t>
            </a:r>
          </a:p>
          <a:p xmlns:a="http://schemas.openxmlformats.org/drawingml/2006/main">
            <a:r>
              <a:t>          "output": "업무 목적"</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"업무 문맥·지식",</a:t>
            </a:r>
          </a:p>
          <a:p xmlns:a="http://schemas.openxmlformats.org/drawingml/2006/main">
            <a:r>
              <a:t>          "processing": "현업 지식·프롬프트·검토 결과의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"업무 목적",</a:t>
            </a:r>
          </a:p>
          <a:p xmlns:a="http://schemas.openxmlformats.org/drawingml/2006/main">
            <a:r>
              <a:t>          "processing": "공통 AI와 전문화 GPT의 지시·자료 연결",</a:t>
            </a:r>
          </a:p>
          <a:p xmlns:a="http://schemas.openxmlformats.org/drawingml/2006/main">
            <a:r>
              <a:t>          "output": "업무 결과"</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"업무 결과",</a:t>
            </a:r>
          </a:p>
          <a:p xmlns:a="http://schemas.openxmlformats.org/drawingml/2006/main">
            <a:r>
              <a:t>          "processing": "담당자가 검토한 업무 결과의 활용",</a:t>
            </a:r>
          </a:p>
          <a:p xmlns:a="http://schemas.openxmlformats.org/drawingml/2006/main">
            <a:r>
              <a:t>          "output": "활용·평가 기록"</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"전담 조직의 교육·활용 발굴·성과 검토",</a:t>
            </a:r>
          </a:p>
          <a:p xmlns:a="http://schemas.openxmlformats.org/drawingml/2006/main">
            <a:r>
              <a:t>          "output": "업무별 수용률·오류·완료시간·입력 통제 결과"</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"전담 조직의 교육·활용 발굴·성과 검토",</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"T106·P139 / 조직 확산·업무성과",</a:t>
            </a:r>
          </a:p>
          <a:p xmlns:a="http://schemas.openxmlformats.org/drawingml/2006/main">
            <a:r>
              <a:t>        "url": "https://www.bbva.com/en/innovation/bbva-and-openai-seal-a-strategic-alliance-to-redefine-banking-with-artificial-intelligence/"</a:t>
            </a:r>
          </a:p>
          <a:p xmlns:a="http://schemas.openxmlformats.org/drawingml/2006/main">
            <a:r>
              <a:t>      }</a:t>
            </a:r>
          </a:p>
          <a:p xmlns:a="http://schemas.openxmlformats.org/drawingml/2006/main">
            <a:r>
              <a:t>    ],</a:t>
            </a:r>
          </a:p>
          <a:p xmlns:a="http://schemas.openxmlformats.org/drawingml/2006/main">
            <a:r>
              <a:t>    "implication": "공통 플랫폼과 현업 활용 발굴·교육·검토를 담당하는 확산 조직의 결합",</a:t>
            </a:r>
          </a:p>
          <a:p xmlns:a="http://schemas.openxmlformats.org/drawingml/2006/main">
            <a:r>
              <a:t>    "local": "공통 플랫폼과 현업 활용 발굴·교육·검토를 담당하는 확산 조직의 결합",</a:t>
            </a:r>
          </a:p>
          <a:p xmlns:a="http://schemas.openxmlformats.org/drawingml/2006/main">
            <a:r>
              <a:t>    "sourceDetail": "ChatGPT Enterprise·전문화 GPT와 전사 활용 발굴, Global AI Adoption 조직\n전담 채택 조직·현업 사례 확장, 안전한 기업 이용환경",</a:t>
            </a:r>
          </a:p>
          <a:p xmlns:a="http://schemas.openxmlformats.org/drawingml/2006/main">
            <a:r>
              <a:t>    "narrative": [</a:t>
            </a:r>
          </a:p>
          <a:p xmlns:a="http://schemas.openxmlformats.org/drawingml/2006/main">
            <a:r>
              <a:t>      "BBVA의 전사 AI 활용과 전문화 GPT 확산 사례. 공통 도구 도입 이후 현업 사용자가 자신의 업무에 맞는 지시·자료를 구성하고 전담 조직이 활용과 교육을 지원하는 운영 방식.",</a:t>
            </a:r>
          </a:p>
          <a:p xmlns:a="http://schemas.openxmlformats.org/drawingml/2006/main">
            <a:r>
              <a:t>      "직원 접근, 기업용 AI 환경, 업무별 GPT, 지식·프롬프트 관리, 현업 검토, 활용 피드백의 흐름으로 재구성. 실제 내부 권한 구현은 공개된 활용 설명과 구분하고 민감 자료 입력과 업무 결과 사용의 책임을 별도 설계.",</a:t>
            </a:r>
          </a:p>
          <a:p xmlns:a="http://schemas.openxmlformats.org/drawingml/2006/main">
            <a:r>
              <a:t>      "TS에서의 비교 기준은 생성한 봇 수보다 검증된 업무 단위의 정착 여부. 부서 소유자·업무 범위·근거 자료·시험 결과·중단 조건을 갖춘 서비스 목록을 운영하고 전보 이후 소유권 이전을 공통 기능으로 관리할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"직원·GPT 접점",</a:t>
            </a:r>
          </a:p>
          <a:p xmlns:a="http://schemas.openxmlformats.org/drawingml/2006/main">
            <a:r>
              <a:t>          "layer": "이용 접점",</a:t>
            </a:r>
          </a:p>
          <a:p xmlns:a="http://schemas.openxmlformats.org/drawingml/2006/main">
            <a:r>
              <a:t>          "detail": "은행 직원·AI 채택 조직",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"업무·민감범위",</a:t>
            </a:r>
          </a:p>
          <a:p xmlns:a="http://schemas.openxmlformats.org/drawingml/2006/main">
            <a:r>
              <a:t>          "layer": "업무 문맥",</a:t>
            </a:r>
          </a:p>
          <a:p xmlns:a="http://schemas.openxmlformats.org/drawingml/2006/main">
            <a:r>
              <a:t>          "detail": "사용자·업무 목적·민감자료 범위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"현업 지식 조회",</a:t>
            </a:r>
          </a:p>
          <a:p xmlns:a="http://schemas.openxmlformats.org/drawingml/2006/main">
            <a:r>
              <a:t>          "layer": "자료 조회",</a:t>
            </a:r>
          </a:p>
          <a:p xmlns:a="http://schemas.openxmlformats.org/drawingml/2006/main">
            <a:r>
              <a:t>          "detail": "업무 목적",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"기업 AI·전문화 GPT",</a:t>
            </a:r>
          </a:p>
          <a:p xmlns:a="http://schemas.openxmlformats.org/drawingml/2006/main">
            <a:r>
              <a:t>          "layer": "핵심 처리",</a:t>
            </a:r>
          </a:p>
          <a:p xmlns:a="http://schemas.openxmlformats.org/drawingml/2006/main">
            <a:r>
              <a:t>          "detail": "공통 AI와 전문화 GPT의 지시·자료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"근거·권한 검사",</a:t>
            </a:r>
          </a:p>
          <a:p xmlns:a="http://schemas.openxmlformats.org/drawingml/2006/main">
            <a:r>
              <a:t>          "layer": "결과 검증",</a:t>
            </a:r>
          </a:p>
          <a:p xmlns:a="http://schemas.openxmlformats.org/drawingml/2006/main">
            <a:r>
              <a:t>          "detail": "부서별 권한·완료율·재작업 평가",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"업무 담당 확인",</a:t>
            </a:r>
          </a:p>
          <a:p xmlns:a="http://schemas.openxmlformats.org/drawingml/2006/main">
            <a:r>
              <a:t>          "layer": "사람 확인",</a:t>
            </a:r>
          </a:p>
          <a:p xmlns:a="http://schemas.openxmlformats.org/drawingml/2006/main">
            <a:r>
              <a:t>          "detail": "현업 GPT를 구성하고 담당 조직이 교육·활용 지원",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"현업 결과 활용",</a:t>
            </a:r>
          </a:p>
          <a:p xmlns:a="http://schemas.openxmlformats.org/drawingml/2006/main">
            <a:r>
              <a:t>          "layer": "업무 연결",</a:t>
            </a:r>
          </a:p>
          <a:p xmlns:a="http://schemas.openxmlformats.org/drawingml/2006/main">
            <a:r>
              <a:t>          "detail": "담당자가 검토한 업무 결과의 활용",</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"채택 조직 평가",</a:t>
            </a:r>
          </a:p>
          <a:p xmlns:a="http://schemas.openxmlformats.org/drawingml/2006/main">
            <a:r>
              <a:t>          "layer": "운영 관측",</a:t>
            </a:r>
          </a:p>
          <a:p xmlns:a="http://schemas.openxmlformats.org/drawingml/2006/main">
            <a:r>
              <a:t>          "detail": "전담 조직의 교육·활용 발굴·성과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"현업 지식·지시",</a:t>
            </a:r>
          </a:p>
          <a:p xmlns:a="http://schemas.openxmlformats.org/drawingml/2006/main">
            <a:r>
              <a:t>          "layer": "데이터 원천",</a:t>
            </a:r>
          </a:p>
          <a:p xmlns:a="http://schemas.openxmlformats.org/drawingml/2006/main">
            <a:r>
              <a:t>          "detail": "업무 문맥·지식",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"프롬프트·판본 정리",</a:t>
            </a:r>
          </a:p>
          <a:p xmlns:a="http://schemas.openxmlformats.org/drawingml/2006/main">
            <a:r>
              <a:t>          "layer": "준비·갱신",</a:t>
            </a:r>
          </a:p>
          <a:p xmlns:a="http://schemas.openxmlformats.org/drawingml/2006/main">
            <a:r>
              <a:t>          "detail": "현업 지식·프롬프트·검토 결과의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"GPT·활용 기록",</a:t>
            </a:r>
          </a:p>
          <a:p xmlns:a="http://schemas.openxmlformats.org/drawingml/2006/main">
            <a:r>
              <a:t>          "layer": "상태·지식 저장",</a:t>
            </a:r>
          </a:p>
          <a:p xmlns:a="http://schemas.openxmlformats.org/drawingml/2006/main">
            <a:r>
              <a:t>          "detail": "업무별 수용률·오류·완료시간·입력 통제 결과",</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"부서별 이용범위",</a:t>
            </a:r>
          </a:p>
          <a:p xmlns:a="http://schemas.openxmlformats.org/drawingml/2006/main">
            <a:r>
              <a:t>          "layer": "권한·정책",</a:t>
            </a:r>
          </a:p>
          <a:p xmlns:a="http://schemas.openxmlformats.org/drawingml/2006/main">
            <a:r>
              <a:t>          "detail": "승인되지 않은 지식·민감 입력·성과 자기보고 편향",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"사용자·업무 목적·민감자료 범위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"업무 목적",</a:t>
            </a:r>
          </a:p>
          <a:p xmlns:a="http://schemas.openxmlformats.org/drawingml/2006/main">
            <a:r>
              <a:t>          "check": "부서별 권한·완료율·재작업 평가"</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"GPT 문맥",</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"업무 결과",</a:t>
            </a:r>
          </a:p>
          <a:p xmlns:a="http://schemas.openxmlformats.org/drawingml/2006/main">
            <a:r>
              <a:t>          "check": "승인되지 않은 지식·민감 입력·성과 자기보고 편향"</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"업무 결과",</a:t>
            </a:r>
          </a:p>
          <a:p xmlns:a="http://schemas.openxmlformats.org/drawingml/2006/main">
            <a:r>
              <a:t>          "check": "담당자가 검토한 업무 결과의 활용"</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"활용·평가 기록",</a:t>
            </a:r>
          </a:p>
          <a:p xmlns:a="http://schemas.openxmlformats.org/drawingml/2006/main">
            <a:r>
              <a:t>          "check": "업무별 수용률·오류·완료시간·입력 통제 결과"</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"전사 공통 AI와 현업 GPT 활용의 확산 / 기업 AI·전문화 GPT·활용 지원",</a:t>
            </a:r>
          </a:p>
          <a:p xmlns:a="http://schemas.openxmlformats.org/drawingml/2006/main">
            <a:r>
              <a:t>        "extension": "공통 플랫폼과 현업 활용 발굴·교육·검토를 담당하는 확산 조직의 결합"</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"승인되지 않은 지식·민감 입력·성과 자기보고 편향",</a:t>
            </a:r>
          </a:p>
          <a:p xmlns:a="http://schemas.openxmlformats.org/drawingml/2006/main">
            <a:r>
              <a:t>        "hold": "부서별 권한·완료율·재작업 평가",</a:t>
            </a:r>
          </a:p>
          <a:p xmlns:a="http://schemas.openxmlformats.org/drawingml/2006/main">
            <a:r>
              <a:t>        "recovery": "전담 조직의 교육·활용 발굴·성과 검토",</a:t>
            </a:r>
          </a:p>
          <a:p xmlns:a="http://schemas.openxmlformats.org/drawingml/2006/main">
            <a:r>
              <a:t>        "evidence": "업무별 수용률·오류·완료시간·입력 통제 결과"</a:t>
            </a:r>
          </a:p>
          <a:p xmlns:a="http://schemas.openxmlformats.org/drawingml/2006/main">
            <a:r>
              <a:t>      },</a:t>
            </a:r>
          </a:p>
          <a:p xmlns:a="http://schemas.openxmlformats.org/drawingml/2006/main">
            <a:r>
              <a:t>      "data": {</a:t>
            </a:r>
          </a:p>
          <a:p xmlns:a="http://schemas.openxmlformats.org/drawingml/2006/main">
            <a:r>
              <a:t>        "source": "업무 문맥·지식",</a:t>
            </a:r>
          </a:p>
          <a:p xmlns:a="http://schemas.openxmlformats.org/drawingml/2006/main">
            <a:r>
              <a:t>        "prepare": "현업 지식·프롬프트·검토 결과의 관리",</a:t>
            </a:r>
          </a:p>
          <a:p xmlns:a="http://schemas.openxmlformats.org/drawingml/2006/main">
            <a:r>
              <a:t>        "output": "업무 목적",</a:t>
            </a:r>
          </a:p>
          <a:p xmlns:a="http://schemas.openxmlformats.org/drawingml/2006/main">
            <a:r>
              <a:t>        "refresh": "전담 조직의 교육·활용 발굴·성과 검토"</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"PF-A16",</a:t>
            </a:r>
          </a:p>
          <a:p xmlns:a="http://schemas.openxmlformats.org/drawingml/2006/main">
            <a:r>
              <a:t>    "success": [</a:t>
            </a:r>
          </a:p>
          <a:p xmlns:a="http://schemas.openxmlformats.org/drawingml/2006/main">
            <a:r>
              <a:t>      "현업 업무 GPT의 구성",</a:t>
            </a:r>
          </a:p>
          <a:p xmlns:a="http://schemas.openxmlformats.org/drawingml/2006/main">
            <a:r>
              <a:t>      "교육·활용 지원과 단계적 확산"</a:t>
            </a:r>
          </a:p>
          <a:p xmlns:a="http://schemas.openxmlformats.org/drawingml/2006/main">
            <a:r>
              <a:t>    ],</a:t>
            </a:r>
          </a:p>
          <a:p xmlns:a="http://schemas.openxmlformats.org/drawingml/2006/main">
            <a:r>
              <a:t>    "risks": [</a:t>
            </a:r>
          </a:p>
          <a:p xmlns:a="http://schemas.openxmlformats.org/drawingml/2006/main">
            <a:r>
              <a:t>      "활용자 수와 업무 완결성의 차이",</a:t>
            </a:r>
          </a:p>
          <a:p xmlns:a="http://schemas.openxmlformats.org/drawingml/2006/main">
            <a:r>
              <a:t>      "규제·민감자료 통제의 확장 부담"</a:t>
            </a:r>
          </a:p>
          <a:p xmlns:a="http://schemas.openxmlformats.org/drawingml/2006/main">
            <a:r>
              <a:t>    ],</a:t>
            </a:r>
          </a:p>
          <a:p xmlns:a="http://schemas.openxmlformats.org/drawingml/2006/main">
            <a:r>
              <a:t>    "architecture": [</a:t>
            </a:r>
          </a:p>
          <a:p xmlns:a="http://schemas.openxmlformats.org/drawingml/2006/main">
            <a:r>
              <a:t>      "은행 직원",</a:t>
            </a:r>
          </a:p>
          <a:p xmlns:a="http://schemas.openxmlformats.org/drawingml/2006/main">
            <a:r>
              <a:t>      "기업 AI·업무 GPT",</a:t>
            </a:r>
          </a:p>
          <a:p xmlns:a="http://schemas.openxmlformats.org/drawingml/2006/main">
            <a:r>
              <a:t>      "업무 문맥·지식",</a:t>
            </a:r>
          </a:p>
          <a:p xmlns:a="http://schemas.openxmlformats.org/drawingml/2006/main">
            <a:r>
              <a:t>      "현업 검토자"</a:t>
            </a:r>
          </a:p>
          <a:p xmlns:a="http://schemas.openxmlformats.org/drawingml/2006/main">
            <a:r>
              <a:t>    ],</a:t>
            </a:r>
          </a:p>
          <a:p xmlns:a="http://schemas.openxmlformats.org/drawingml/2006/main">
            <a:r>
              <a:t>    "transfers": [</a:t>
            </a:r>
          </a:p>
          <a:p xmlns:a="http://schemas.openxmlformats.org/drawingml/2006/main">
            <a:r>
              <a:t>      "업무 목적",</a:t>
            </a:r>
          </a:p>
          <a:p xmlns:a="http://schemas.openxmlformats.org/drawingml/2006/main">
            <a:r>
              <a:t>      "GPT 문맥",</a:t>
            </a:r>
          </a:p>
          <a:p xmlns:a="http://schemas.openxmlformats.org/drawingml/2006/main">
            <a:r>
              <a:t>      "업무 결과",</a:t>
            </a:r>
          </a:p>
          <a:p xmlns:a="http://schemas.openxmlformats.org/drawingml/2006/main">
            <a:r>
              <a:t>      "활용·평가 기록"</a:t>
            </a:r>
          </a:p>
          <a:p xmlns:a="http://schemas.openxmlformats.org/drawingml/2006/main">
            <a:r>
              <a:t>    ],</a:t>
            </a:r>
          </a:p>
          <a:p xmlns:a="http://schemas.openxmlformats.org/drawingml/2006/main">
            <a:r>
              <a:t>    "control": "부서별 권한·완료율·재작업 평가",</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T106·P139 / 조직 확산·업무성과 https://www.bbva.com/en/innovation/bbva-and-openai-seal-a-strategic-alliance-to-redefine-banking-with-artificial-intelligence/</a:t>
            </a:r>
          </a:p>
          <a:p xmlns:a="http://schemas.openxmlformats.org/drawingml/2006/main">
            <a:r>
              <a:t>홈페이지 https://heen1987-ops.github.io/TS-business-Plan-001/index.html?view=platform-cases&amp;case=PF-A16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"PF-A16",</a:t>
            </a:r>
          </a:p>
          <a:p xmlns:a="http://schemas.openxmlformats.org/drawingml/2006/main">
            <a:r>
              <a:t>    "sourceId": "A16",</a:t>
            </a:r>
          </a:p>
          <a:p xmlns:a="http://schemas.openxmlformats.org/drawingml/2006/main">
            <a:r>
              <a:t>    "title": "BBVA 기업 AI 도입",</a:t>
            </a:r>
          </a:p>
          <a:p xmlns:a="http://schemas.openxmlformats.org/drawingml/2006/main">
            <a:r>
              <a:t>    "region": "해외",</a:t>
            </a:r>
          </a:p>
          <a:p xmlns:a="http://schemas.openxmlformats.org/drawingml/2006/main">
            <a:r>
              <a:t>    "owner": "BBVA / 기업 AI 도입",</a:t>
            </a:r>
          </a:p>
          <a:p xmlns:a="http://schemas.openxmlformats.org/drawingml/2006/main">
            <a:r>
              <a:t>    "state": "초기11,000명 활용 후 전사 확대 협약(2025-12)",</a:t>
            </a:r>
          </a:p>
          <a:p xmlns:a="http://schemas.openxmlformats.org/drawingml/2006/main">
            <a:r>
              <a:t>    "period": "기존 원장 확인 2026.10.16",</a:t>
            </a:r>
          </a:p>
          <a:p xmlns:a="http://schemas.openxmlformats.org/drawingml/2006/main">
            <a:r>
              <a:t>    "fact": "전사 AX 확산·업무용 AI",</a:t>
            </a:r>
          </a:p>
          <a:p xmlns:a="http://schemas.openxmlformats.org/drawingml/2006/main">
            <a:r>
              <a:t>    "limit": "12만명 전사 확대는 발표 계획과 초기11,000명 실적을 구분. 독립 ROI 검증 아님",</a:t>
            </a:r>
          </a:p>
          <a:p xmlns:a="http://schemas.openxmlformats.org/drawingml/2006/main">
            <a:r>
              <a:t>    "nodes": [</a:t>
            </a:r>
          </a:p>
          <a:p xmlns:a="http://schemas.openxmlformats.org/drawingml/2006/main">
            <a:r>
              <a:t>      "기업 AI 환경",</a:t>
            </a:r>
          </a:p>
          <a:p xmlns:a="http://schemas.openxmlformats.org/drawingml/2006/main">
            <a:r>
              <a:t>      "업무 GPT",</a:t>
            </a:r>
          </a:p>
          <a:p xmlns:a="http://schemas.openxmlformats.org/drawingml/2006/main">
            <a:r>
              <a:t>      "현업 활용 지원",</a:t>
            </a:r>
          </a:p>
          <a:p xmlns:a="http://schemas.openxmlformats.org/drawingml/2006/main">
            <a:r>
              <a:t>      "확산·성과 관측"</a:t>
            </a:r>
          </a:p>
          <a:p xmlns:a="http://schemas.openxmlformats.org/drawingml/2006/main">
            <a:r>
              <a:t>    ],</a:t>
            </a:r>
          </a:p>
          <a:p xmlns:a="http://schemas.openxmlformats.org/drawingml/2006/main">
            <a:r>
              <a:t>    "apply": "공통 플랫폼과 현업 활용 발굴·교육·검토를 담당하는 확산 조직의 결합",</a:t>
            </a:r>
          </a:p>
          <a:p xmlns:a="http://schemas.openxmlformats.org/drawingml/2006/main">
            <a:r>
              <a:t>    "delta": "기관 설정·회귀 평가·두 번째 부서 적용",</a:t>
            </a:r>
          </a:p>
          <a:p xmlns:a="http://schemas.openxmlformats.org/drawingml/2006/main">
            <a:r>
              <a:t>    "test": "도입기간·유지비·교육 부담의 기준선·비교 평가",</a:t>
            </a:r>
          </a:p>
          <a:p xmlns:a="http://schemas.openxmlformats.org/drawingml/2006/main">
            <a:r>
              <a:t>    "url": "https://www.bbva.com/en/innovation/bbva-and-openai-seal-a-strategic-alliance-to-redefine-banking-with-artificial-intelligence/",</a:t>
            </a:r>
          </a:p>
          <a:p xmlns:a="http://schemas.openxmlformats.org/drawingml/2006/main">
            <a:r>
              <a:t>    "urls": [</a:t>
            </a:r>
          </a:p>
          <a:p xmlns:a="http://schemas.openxmlformats.org/drawingml/2006/main">
            <a:r>
              <a:t>      "https://www.bbva.com/en/innovation/bbva-and-openai-seal-a-strategic-alliance-to-redefine-banking-with-artificial-intelligence/",</a:t>
            </a:r>
          </a:p>
          <a:p xmlns:a="http://schemas.openxmlformats.org/drawingml/2006/main">
            <a:r>
              <a:t>      "https://www.bbva.com/en/innovation/alvaro-martin-bbva-ai-is-changing-the-way-we-work-and-serve-our-customers/"</a:t>
            </a:r>
          </a:p>
          <a:p xmlns:a="http://schemas.openxmlformats.org/drawingml/2006/main">
            <a:r>
              <a:t>    ],</a:t>
            </a:r>
          </a:p>
          <a:p xmlns:a="http://schemas.openxmlformats.org/drawingml/2006/main">
            <a:r>
              <a:t>    "basis": "T106·P139 / 조직 확산·업무성과",</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"도입기간·유지비·교육 부담",</a:t>
            </a:r>
          </a:p>
          <a:p xmlns:a="http://schemas.openxmlformats.org/drawingml/2006/main">
            <a:r>
              <a:t>    "group": "운영·실증",</a:t>
            </a:r>
          </a:p>
          <a:p xmlns:a="http://schemas.openxmlformats.org/drawingml/2006/main">
            <a:r>
              <a:t>    "sourceDetail": "ChatGPT Enterprise·전문화 GPT와 전사 활용 발굴, Global AI Adoption 조직\n전담 채택 조직·현업 사례 확장, 안전한 기업 이용환경",</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"PF-A16",</a:t>
            </a:r>
          </a:p>
          <a:p xmlns:a="http://schemas.openxmlformats.org/drawingml/2006/main">
            <a:r>
              <a:t>    "canonicalId": "PF-A16",</a:t>
            </a:r>
          </a:p>
          <a:p xmlns:a="http://schemas.openxmlformats.org/drawingml/2006/main">
            <a:r>
              <a:t>    "purpose": "전사 공통 AI와 현업 GPT 활용의 확산",</a:t>
            </a:r>
          </a:p>
          <a:p xmlns:a="http://schemas.openxmlformats.org/drawingml/2006/main">
            <a:r>
              <a:t>    "users": "은행 직원·AI 채택 조직",</a:t>
            </a:r>
          </a:p>
          <a:p xmlns:a="http://schemas.openxmlformats.org/drawingml/2006/main">
            <a:r>
              <a:t>    "scope": [</a:t>
            </a:r>
          </a:p>
          <a:p xmlns:a="http://schemas.openxmlformats.org/drawingml/2006/main">
            <a:r>
              <a:t>      "기업 AI",</a:t>
            </a:r>
          </a:p>
          <a:p xmlns:a="http://schemas.openxmlformats.org/drawingml/2006/main">
            <a:r>
              <a:t>      "전문화 GPT",</a:t>
            </a:r>
          </a:p>
          <a:p xmlns:a="http://schemas.openxmlformats.org/drawingml/2006/main">
            <a:r>
              <a:t>      "활용 지원"</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"은행 직원",</a:t>
            </a:r>
          </a:p>
          <a:p xmlns:a="http://schemas.openxmlformats.org/drawingml/2006/main">
            <a:r>
              <a:t>        "detail": "사용자·업무 목적·민감자료 범위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"기업 AI / 전문화 GPT / 활용 지원",</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"기업 AI·업무 GPT",</a:t>
            </a:r>
          </a:p>
          <a:p xmlns:a="http://schemas.openxmlformats.org/drawingml/2006/main">
            <a:r>
              <a:t>        "detail": "공통 AI와 전문화 GPT의 지시·자료 연결",</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"현업 검토자",</a:t>
            </a:r>
          </a:p>
          <a:p xmlns:a="http://schemas.openxmlformats.org/drawingml/2006/main">
            <a:r>
              <a:t>        "detail": "담당자가 검토한 업무 결과의 활용",</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"업무 문맥·지식",</a:t>
            </a:r>
          </a:p>
          <a:p xmlns:a="http://schemas.openxmlformats.org/drawingml/2006/main">
            <a:r>
              <a:t>        "detail": "현업 지식·프롬프트·검토 결과의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"전담 조직의 교육·활용 발굴·성과 검토",</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"기업 AI 환경",</a:t>
            </a:r>
          </a:p>
          <a:p xmlns:a="http://schemas.openxmlformats.org/drawingml/2006/main">
            <a:r>
              <a:t>        "input": "사용자·업무 목적·민감자료 범위 확인",</a:t>
            </a:r>
          </a:p>
          <a:p xmlns:a="http://schemas.openxmlformats.org/drawingml/2006/main">
            <a:r>
              <a:t>        "process": "현업 지식·프롬프트·검토 결과의 관리",</a:t>
            </a:r>
          </a:p>
          <a:p xmlns:a="http://schemas.openxmlformats.org/drawingml/2006/main">
            <a:r>
              <a:t>        "output": "업무 목적"</a:t>
            </a:r>
          </a:p>
          <a:p xmlns:a="http://schemas.openxmlformats.org/drawingml/2006/main">
            <a:r>
              <a:t>      },</a:t>
            </a:r>
          </a:p>
          <a:p xmlns:a="http://schemas.openxmlformats.org/drawingml/2006/main">
            <a:r>
              <a:t>      {</a:t>
            </a:r>
          </a:p>
          <a:p xmlns:a="http://schemas.openxmlformats.org/drawingml/2006/main">
            <a:r>
              <a:t>        "title": "업무 GPT",</a:t>
            </a:r>
          </a:p>
          <a:p xmlns:a="http://schemas.openxmlformats.org/drawingml/2006/main">
            <a:r>
              <a:t>        "input": "업무 목적",</a:t>
            </a:r>
          </a:p>
          <a:p xmlns:a="http://schemas.openxmlformats.org/drawingml/2006/main">
            <a:r>
              <a:t>        "process": "공통 AI와 전문화 GPT의 지시·자료 연결",</a:t>
            </a:r>
          </a:p>
          <a:p xmlns:a="http://schemas.openxmlformats.org/drawingml/2006/main">
            <a:r>
              <a:t>        "output": "GPT 문맥"</a:t>
            </a:r>
          </a:p>
          <a:p xmlns:a="http://schemas.openxmlformats.org/drawingml/2006/main">
            <a:r>
              <a:t>      },</a:t>
            </a:r>
          </a:p>
          <a:p xmlns:a="http://schemas.openxmlformats.org/drawingml/2006/main">
            <a:r>
              <a:t>      {</a:t>
            </a:r>
          </a:p>
          <a:p xmlns:a="http://schemas.openxmlformats.org/drawingml/2006/main">
            <a:r>
              <a:t>        "title": "현업 활용 지원",</a:t>
            </a:r>
          </a:p>
          <a:p xmlns:a="http://schemas.openxmlformats.org/drawingml/2006/main">
            <a:r>
              <a:t>        "input": "GPT 문맥",</a:t>
            </a:r>
          </a:p>
          <a:p xmlns:a="http://schemas.openxmlformats.org/drawingml/2006/main">
            <a:r>
              <a:t>        "process": "부서별 권한·완료율·재작업 평가",</a:t>
            </a:r>
          </a:p>
          <a:p xmlns:a="http://schemas.openxmlformats.org/drawingml/2006/main">
            <a:r>
              <a:t>        "output": "업무 결과"</a:t>
            </a:r>
          </a:p>
          <a:p xmlns:a="http://schemas.openxmlformats.org/drawingml/2006/main">
            <a:r>
              <a:t>      },</a:t>
            </a:r>
          </a:p>
          <a:p xmlns:a="http://schemas.openxmlformats.org/drawingml/2006/main">
            <a:r>
              <a:t>      {</a:t>
            </a:r>
          </a:p>
          <a:p xmlns:a="http://schemas.openxmlformats.org/drawingml/2006/main">
            <a:r>
              <a:t>        "title": "확산·성과 관측",</a:t>
            </a:r>
          </a:p>
          <a:p xmlns:a="http://schemas.openxmlformats.org/drawingml/2006/main">
            <a:r>
              <a:t>        "input": "업무 결과",</a:t>
            </a:r>
          </a:p>
          <a:p xmlns:a="http://schemas.openxmlformats.org/drawingml/2006/main">
            <a:r>
              <a:t>        "process": "담당자가 검토한 업무 결과의 활용",</a:t>
            </a:r>
          </a:p>
          <a:p xmlns:a="http://schemas.openxmlformats.org/drawingml/2006/main">
            <a:r>
              <a:t>        "output": "활용·평가 기록"</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"현업 GPT를 구성하고 담당 조직이 교육·활용 지원",</a:t>
            </a:r>
          </a:p>
          <a:p xmlns:a="http://schemas.openxmlformats.org/drawingml/2006/main">
            <a:r>
              <a:t>      "exception": "승인되지 않은 지식·민감 입력·성과 자기보고 편향",</a:t>
            </a:r>
          </a:p>
          <a:p xmlns:a="http://schemas.openxmlformats.org/drawingml/2006/main">
            <a:r>
              <a:t>      "evidence": "업무별 수용률·오류·완료시간·입력 통제 결과",</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"은행 직원·AI 채택 조직",</a:t>
            </a:r>
          </a:p>
          <a:p xmlns:a="http://schemas.openxmlformats.org/drawingml/2006/main">
            <a:r>
              <a:t>          "processing": "사용자·업무 목적·민감자료 범위 확인",</a:t>
            </a:r>
          </a:p>
          <a:p xmlns:a="http://schemas.openxmlformats.org/drawingml/2006/main">
            <a:r>
              <a:t>          "output": "업무 목적"</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"업무 문맥·지식",</a:t>
            </a:r>
          </a:p>
          <a:p xmlns:a="http://schemas.openxmlformats.org/drawingml/2006/main">
            <a:r>
              <a:t>          "processing": "현업 지식·프롬프트·검토 결과의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"업무 목적",</a:t>
            </a:r>
          </a:p>
          <a:p xmlns:a="http://schemas.openxmlformats.org/drawingml/2006/main">
            <a:r>
              <a:t>          "processing": "공통 AI와 전문화 GPT의 지시·자료 연결",</a:t>
            </a:r>
          </a:p>
          <a:p xmlns:a="http://schemas.openxmlformats.org/drawingml/2006/main">
            <a:r>
              <a:t>          "output": "업무 결과"</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"업무 결과",</a:t>
            </a:r>
          </a:p>
          <a:p xmlns:a="http://schemas.openxmlformats.org/drawingml/2006/main">
            <a:r>
              <a:t>          "processing": "담당자가 검토한 업무 결과의 활용",</a:t>
            </a:r>
          </a:p>
          <a:p xmlns:a="http://schemas.openxmlformats.org/drawingml/2006/main">
            <a:r>
              <a:t>          "output": "활용·평가 기록"</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"전담 조직의 교육·활용 발굴·성과 검토",</a:t>
            </a:r>
          </a:p>
          <a:p xmlns:a="http://schemas.openxmlformats.org/drawingml/2006/main">
            <a:r>
              <a:t>          "output": "업무별 수용률·오류·완료시간·입력 통제 결과"</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"전담 조직의 교육·활용 발굴·성과 검토",</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"T106·P139 / 조직 확산·업무성과",</a:t>
            </a:r>
          </a:p>
          <a:p xmlns:a="http://schemas.openxmlformats.org/drawingml/2006/main">
            <a:r>
              <a:t>        "url": "https://www.bbva.com/en/innovation/bbva-and-openai-seal-a-strategic-alliance-to-redefine-banking-with-artificial-intelligence/"</a:t>
            </a:r>
          </a:p>
          <a:p xmlns:a="http://schemas.openxmlformats.org/drawingml/2006/main">
            <a:r>
              <a:t>      }</a:t>
            </a:r>
          </a:p>
          <a:p xmlns:a="http://schemas.openxmlformats.org/drawingml/2006/main">
            <a:r>
              <a:t>    ],</a:t>
            </a:r>
          </a:p>
          <a:p xmlns:a="http://schemas.openxmlformats.org/drawingml/2006/main">
            <a:r>
              <a:t>    "implication": "공통 플랫폼과 현업 활용 발굴·교육·검토를 담당하는 확산 조직의 결합",</a:t>
            </a:r>
          </a:p>
          <a:p xmlns:a="http://schemas.openxmlformats.org/drawingml/2006/main">
            <a:r>
              <a:t>    "local": "공통 플랫폼과 현업 활용 발굴·교육·검토를 담당하는 확산 조직의 결합",</a:t>
            </a:r>
          </a:p>
          <a:p xmlns:a="http://schemas.openxmlformats.org/drawingml/2006/main">
            <a:r>
              <a:t>    "sourceDetail": "ChatGPT Enterprise·전문화 GPT와 전사 활용 발굴, Global AI Adoption 조직\n전담 채택 조직·현업 사례 확장, 안전한 기업 이용환경",</a:t>
            </a:r>
          </a:p>
          <a:p xmlns:a="http://schemas.openxmlformats.org/drawingml/2006/main">
            <a:r>
              <a:t>    "narrative": [</a:t>
            </a:r>
          </a:p>
          <a:p xmlns:a="http://schemas.openxmlformats.org/drawingml/2006/main">
            <a:r>
              <a:t>      "BBVA의 전사 AI 활용과 전문화 GPT 확산 사례. 공통 도구 도입 이후 현업 사용자가 자신의 업무에 맞는 지시·자료를 구성하고 전담 조직이 활용과 교육을 지원하는 운영 방식.",</a:t>
            </a:r>
          </a:p>
          <a:p xmlns:a="http://schemas.openxmlformats.org/drawingml/2006/main">
            <a:r>
              <a:t>      "직원 접근, 기업용 AI 환경, 업무별 GPT, 지식·프롬프트 관리, 현업 검토, 활용 피드백의 흐름으로 재구성. 실제 내부 권한 구현은 공개된 활용 설명과 구분하고 민감 자료 입력과 업무 결과 사용의 책임을 별도 설계.",</a:t>
            </a:r>
          </a:p>
          <a:p xmlns:a="http://schemas.openxmlformats.org/drawingml/2006/main">
            <a:r>
              <a:t>      "TS에서의 비교 기준은 생성한 봇 수보다 검증된 업무 단위의 정착 여부. 부서 소유자·업무 범위·근거 자료·시험 결과·중단 조건을 갖춘 서비스 목록을 운영하고 전보 이후 소유권 이전을 공통 기능으로 관리할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"직원·GPT 접점",</a:t>
            </a:r>
          </a:p>
          <a:p xmlns:a="http://schemas.openxmlformats.org/drawingml/2006/main">
            <a:r>
              <a:t>          "layer": "이용 접점",</a:t>
            </a:r>
          </a:p>
          <a:p xmlns:a="http://schemas.openxmlformats.org/drawingml/2006/main">
            <a:r>
              <a:t>          "detail": "은행 직원·AI 채택 조직",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"업무·민감범위",</a:t>
            </a:r>
          </a:p>
          <a:p xmlns:a="http://schemas.openxmlformats.org/drawingml/2006/main">
            <a:r>
              <a:t>          "layer": "업무 문맥",</a:t>
            </a:r>
          </a:p>
          <a:p xmlns:a="http://schemas.openxmlformats.org/drawingml/2006/main">
            <a:r>
              <a:t>          "detail": "사용자·업무 목적·민감자료 범위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"현업 지식 조회",</a:t>
            </a:r>
          </a:p>
          <a:p xmlns:a="http://schemas.openxmlformats.org/drawingml/2006/main">
            <a:r>
              <a:t>          "layer": "자료 조회",</a:t>
            </a:r>
          </a:p>
          <a:p xmlns:a="http://schemas.openxmlformats.org/drawingml/2006/main">
            <a:r>
              <a:t>          "detail": "업무 목적",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"기업 AI·전문화 GPT",</a:t>
            </a:r>
          </a:p>
          <a:p xmlns:a="http://schemas.openxmlformats.org/drawingml/2006/main">
            <a:r>
              <a:t>          "layer": "핵심 처리",</a:t>
            </a:r>
          </a:p>
          <a:p xmlns:a="http://schemas.openxmlformats.org/drawingml/2006/main">
            <a:r>
              <a:t>          "detail": "공통 AI와 전문화 GPT의 지시·자료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"근거·권한 검사",</a:t>
            </a:r>
          </a:p>
          <a:p xmlns:a="http://schemas.openxmlformats.org/drawingml/2006/main">
            <a:r>
              <a:t>          "layer": "결과 검증",</a:t>
            </a:r>
          </a:p>
          <a:p xmlns:a="http://schemas.openxmlformats.org/drawingml/2006/main">
            <a:r>
              <a:t>          "detail": "부서별 권한·완료율·재작업 평가",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"업무 담당 확인",</a:t>
            </a:r>
          </a:p>
          <a:p xmlns:a="http://schemas.openxmlformats.org/drawingml/2006/main">
            <a:r>
              <a:t>          "layer": "사람 확인",</a:t>
            </a:r>
          </a:p>
          <a:p xmlns:a="http://schemas.openxmlformats.org/drawingml/2006/main">
            <a:r>
              <a:t>          "detail": "현업 GPT를 구성하고 담당 조직이 교육·활용 지원",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"현업 결과 활용",</a:t>
            </a:r>
          </a:p>
          <a:p xmlns:a="http://schemas.openxmlformats.org/drawingml/2006/main">
            <a:r>
              <a:t>          "layer": "업무 연결",</a:t>
            </a:r>
          </a:p>
          <a:p xmlns:a="http://schemas.openxmlformats.org/drawingml/2006/main">
            <a:r>
              <a:t>          "detail": "담당자가 검토한 업무 결과의 활용",</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"채택 조직 평가",</a:t>
            </a:r>
          </a:p>
          <a:p xmlns:a="http://schemas.openxmlformats.org/drawingml/2006/main">
            <a:r>
              <a:t>          "layer": "운영 관측",</a:t>
            </a:r>
          </a:p>
          <a:p xmlns:a="http://schemas.openxmlformats.org/drawingml/2006/main">
            <a:r>
              <a:t>          "detail": "전담 조직의 교육·활용 발굴·성과 검토",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"현업 지식·지시",</a:t>
            </a:r>
          </a:p>
          <a:p xmlns:a="http://schemas.openxmlformats.org/drawingml/2006/main">
            <a:r>
              <a:t>          "layer": "데이터 원천",</a:t>
            </a:r>
          </a:p>
          <a:p xmlns:a="http://schemas.openxmlformats.org/drawingml/2006/main">
            <a:r>
              <a:t>          "detail": "업무 문맥·지식",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"프롬프트·판본 정리",</a:t>
            </a:r>
          </a:p>
          <a:p xmlns:a="http://schemas.openxmlformats.org/drawingml/2006/main">
            <a:r>
              <a:t>          "layer": "준비·갱신",</a:t>
            </a:r>
          </a:p>
          <a:p xmlns:a="http://schemas.openxmlformats.org/drawingml/2006/main">
            <a:r>
              <a:t>          "detail": "현업 지식·프롬프트·검토 결과의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"GPT·활용 기록",</a:t>
            </a:r>
          </a:p>
          <a:p xmlns:a="http://schemas.openxmlformats.org/drawingml/2006/main">
            <a:r>
              <a:t>          "layer": "상태·지식 저장",</a:t>
            </a:r>
          </a:p>
          <a:p xmlns:a="http://schemas.openxmlformats.org/drawingml/2006/main">
            <a:r>
              <a:t>          "detail": "업무별 수용률·오류·완료시간·입력 통제 결과",</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"부서별 이용범위",</a:t>
            </a:r>
          </a:p>
          <a:p xmlns:a="http://schemas.openxmlformats.org/drawingml/2006/main">
            <a:r>
              <a:t>          "layer": "권한·정책",</a:t>
            </a:r>
          </a:p>
          <a:p xmlns:a="http://schemas.openxmlformats.org/drawingml/2006/main">
            <a:r>
              <a:t>          "detail": "승인되지 않은 지식·민감 입력·성과 자기보고 편향",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"사용자·업무 목적·민감자료 범위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"업무 목적",</a:t>
            </a:r>
          </a:p>
          <a:p xmlns:a="http://schemas.openxmlformats.org/drawingml/2006/main">
            <a:r>
              <a:t>          "check": "부서별 권한·완료율·재작업 평가"</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"GPT 문맥",</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"업무 결과",</a:t>
            </a:r>
          </a:p>
          <a:p xmlns:a="http://schemas.openxmlformats.org/drawingml/2006/main">
            <a:r>
              <a:t>          "check": "승인되지 않은 지식·민감 입력·성과 자기보고 편향"</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"업무 결과",</a:t>
            </a:r>
          </a:p>
          <a:p xmlns:a="http://schemas.openxmlformats.org/drawingml/2006/main">
            <a:r>
              <a:t>          "check": "담당자가 검토한 업무 결과의 활용"</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"활용·평가 기록",</a:t>
            </a:r>
          </a:p>
          <a:p xmlns:a="http://schemas.openxmlformats.org/drawingml/2006/main">
            <a:r>
              <a:t>          "check": "업무별 수용률·오류·완료시간·입력 통제 결과"</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"전사 공통 AI와 현업 GPT 활용의 확산 / 기업 AI·전문화 GPT·활용 지원",</a:t>
            </a:r>
          </a:p>
          <a:p xmlns:a="http://schemas.openxmlformats.org/drawingml/2006/main">
            <a:r>
              <a:t>        "extension": "공통 플랫폼과 현업 활용 발굴·교육·검토를 담당하는 확산 조직의 결합"</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"승인되지 않은 지식·민감 입력·성과 자기보고 편향",</a:t>
            </a:r>
          </a:p>
          <a:p xmlns:a="http://schemas.openxmlformats.org/drawingml/2006/main">
            <a:r>
              <a:t>        "hold": "부서별 권한·완료율·재작업 평가",</a:t>
            </a:r>
          </a:p>
          <a:p xmlns:a="http://schemas.openxmlformats.org/drawingml/2006/main">
            <a:r>
              <a:t>        "recovery": "전담 조직의 교육·활용 발굴·성과 검토",</a:t>
            </a:r>
          </a:p>
          <a:p xmlns:a="http://schemas.openxmlformats.org/drawingml/2006/main">
            <a:r>
              <a:t>        "evidence": "업무별 수용률·오류·완료시간·입력 통제 결과"</a:t>
            </a:r>
          </a:p>
          <a:p xmlns:a="http://schemas.openxmlformats.org/drawingml/2006/main">
            <a:r>
              <a:t>      },</a:t>
            </a:r>
          </a:p>
          <a:p xmlns:a="http://schemas.openxmlformats.org/drawingml/2006/main">
            <a:r>
              <a:t>      "data": {</a:t>
            </a:r>
          </a:p>
          <a:p xmlns:a="http://schemas.openxmlformats.org/drawingml/2006/main">
            <a:r>
              <a:t>        "source": "업무 문맥·지식",</a:t>
            </a:r>
          </a:p>
          <a:p xmlns:a="http://schemas.openxmlformats.org/drawingml/2006/main">
            <a:r>
              <a:t>        "prepare": "현업 지식·프롬프트·검토 결과의 관리",</a:t>
            </a:r>
          </a:p>
          <a:p xmlns:a="http://schemas.openxmlformats.org/drawingml/2006/main">
            <a:r>
              <a:t>        "output": "업무 목적",</a:t>
            </a:r>
          </a:p>
          <a:p xmlns:a="http://schemas.openxmlformats.org/drawingml/2006/main">
            <a:r>
              <a:t>        "refresh": "전담 조직의 교육·활용 발굴·성과 검토"</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"PF-A16",</a:t>
            </a:r>
          </a:p>
          <a:p xmlns:a="http://schemas.openxmlformats.org/drawingml/2006/main">
            <a:r>
              <a:t>    "success": [</a:t>
            </a:r>
          </a:p>
          <a:p xmlns:a="http://schemas.openxmlformats.org/drawingml/2006/main">
            <a:r>
              <a:t>      "현업 업무 GPT의 구성",</a:t>
            </a:r>
          </a:p>
          <a:p xmlns:a="http://schemas.openxmlformats.org/drawingml/2006/main">
            <a:r>
              <a:t>      "교육·활용 지원과 단계적 확산"</a:t>
            </a:r>
          </a:p>
          <a:p xmlns:a="http://schemas.openxmlformats.org/drawingml/2006/main">
            <a:r>
              <a:t>    ],</a:t>
            </a:r>
          </a:p>
          <a:p xmlns:a="http://schemas.openxmlformats.org/drawingml/2006/main">
            <a:r>
              <a:t>    "risks": [</a:t>
            </a:r>
          </a:p>
          <a:p xmlns:a="http://schemas.openxmlformats.org/drawingml/2006/main">
            <a:r>
              <a:t>      "활용자 수와 업무 완결성의 차이",</a:t>
            </a:r>
          </a:p>
          <a:p xmlns:a="http://schemas.openxmlformats.org/drawingml/2006/main">
            <a:r>
              <a:t>      "규제·민감자료 통제의 확장 부담"</a:t>
            </a:r>
          </a:p>
          <a:p xmlns:a="http://schemas.openxmlformats.org/drawingml/2006/main">
            <a:r>
              <a:t>    ],</a:t>
            </a:r>
          </a:p>
          <a:p xmlns:a="http://schemas.openxmlformats.org/drawingml/2006/main">
            <a:r>
              <a:t>    "architecture": [</a:t>
            </a:r>
          </a:p>
          <a:p xmlns:a="http://schemas.openxmlformats.org/drawingml/2006/main">
            <a:r>
              <a:t>      "은행 직원",</a:t>
            </a:r>
          </a:p>
          <a:p xmlns:a="http://schemas.openxmlformats.org/drawingml/2006/main">
            <a:r>
              <a:t>      "기업 AI·업무 GPT",</a:t>
            </a:r>
          </a:p>
          <a:p xmlns:a="http://schemas.openxmlformats.org/drawingml/2006/main">
            <a:r>
              <a:t>      "업무 문맥·지식",</a:t>
            </a:r>
          </a:p>
          <a:p xmlns:a="http://schemas.openxmlformats.org/drawingml/2006/main">
            <a:r>
              <a:t>      "현업 검토자"</a:t>
            </a:r>
          </a:p>
          <a:p xmlns:a="http://schemas.openxmlformats.org/drawingml/2006/main">
            <a:r>
              <a:t>    ],</a:t>
            </a:r>
          </a:p>
          <a:p xmlns:a="http://schemas.openxmlformats.org/drawingml/2006/main">
            <a:r>
              <a:t>    "transfers": [</a:t>
            </a:r>
          </a:p>
          <a:p xmlns:a="http://schemas.openxmlformats.org/drawingml/2006/main">
            <a:r>
              <a:t>      "업무 목적",</a:t>
            </a:r>
          </a:p>
          <a:p xmlns:a="http://schemas.openxmlformats.org/drawingml/2006/main">
            <a:r>
              <a:t>      "GPT 문맥",</a:t>
            </a:r>
          </a:p>
          <a:p xmlns:a="http://schemas.openxmlformats.org/drawingml/2006/main">
            <a:r>
              <a:t>      "업무 결과",</a:t>
            </a:r>
          </a:p>
          <a:p xmlns:a="http://schemas.openxmlformats.org/drawingml/2006/main">
            <a:r>
              <a:t>      "활용·평가 기록"</a:t>
            </a:r>
          </a:p>
          <a:p xmlns:a="http://schemas.openxmlformats.org/drawingml/2006/main">
            <a:r>
              <a:t>    ],</a:t>
            </a:r>
          </a:p>
          <a:p xmlns:a="http://schemas.openxmlformats.org/drawingml/2006/main">
            <a:r>
              <a:t>    "control": "부서별 권한·완료율·재작업 평가",</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T106·P139 / 조직 확산·업무성과 https://www.bbva.com/en/innovation/bbva-and-openai-seal-a-strategic-alliance-to-redefine-banking-with-artificial-intelligence/</a:t>
            </a:r>
          </a:p>
          <a:p xmlns:a="http://schemas.openxmlformats.org/drawingml/2006/main">
            <a:r>
              <a:t>홈페이지 https://heen1987-ops.github.io/TS-business-Plan-001/index.html?view=platform-cases&amp;case=PF-A16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"PF08",</a:t>
            </a:r>
          </a:p>
          <a:p xmlns:a="http://schemas.openxmlformats.org/drawingml/2006/main">
            <a:r>
              <a:t>    "sourceId": "A17",</a:t>
            </a:r>
          </a:p>
          <a:p xmlns:a="http://schemas.openxmlformats.org/drawingml/2006/main">
            <a:r>
              <a:t>    "title": "Morgan Stanley Assistant·Debrief",</a:t>
            </a:r>
          </a:p>
          <a:p xmlns:a="http://schemas.openxmlformats.org/drawingml/2006/main">
            <a:r>
              <a:t>    "region": "해외",</a:t>
            </a:r>
          </a:p>
          <a:p xmlns:a="http://schemas.openxmlformats.org/drawingml/2006/main">
            <a:r>
              <a:t>    "owner": "Morgan Stanley",</a:t>
            </a:r>
          </a:p>
          <a:p xmlns:a="http://schemas.openxmlformats.org/drawingml/2006/main">
            <a:r>
              <a:t>    "state": "업무 도구 운영 · 기업 발표",</a:t>
            </a:r>
          </a:p>
          <a:p xmlns:a="http://schemas.openxmlformats.org/drawingml/2006/main">
            <a:r>
              <a:t>    "period": "2023 Assistant / 2024 Debrief",</a:t>
            </a:r>
          </a:p>
          <a:p xmlns:a="http://schemas.openxmlformats.org/drawingml/2006/main">
            <a:r>
              <a:t>    "fact": "사내 지식 검색과 동의받은 회의 요약·후속조치·CRM 기록의 업무 흐름 결합",</a:t>
            </a:r>
          </a:p>
          <a:p xmlns:a="http://schemas.openxmlformats.org/drawingml/2006/main">
            <a:r>
              <a:t>    "limit": "Assistant 채택률과 Debrief 시간절감의 구분 · 사용자 동의·편집 판단 포함",</a:t>
            </a:r>
          </a:p>
          <a:p xmlns:a="http://schemas.openxmlformats.org/drawingml/2006/main">
            <a:r>
              <a:t>    "nodes": [</a:t>
            </a:r>
          </a:p>
          <a:p xmlns:a="http://schemas.openxmlformats.org/drawingml/2006/main">
            <a:r>
              <a:t>      "동의받은 회의",</a:t>
            </a:r>
          </a:p>
          <a:p xmlns:a="http://schemas.openxmlformats.org/drawingml/2006/main">
            <a:r>
              <a:t>      "요약·후속조치 초안",</a:t>
            </a:r>
          </a:p>
          <a:p xmlns:a="http://schemas.openxmlformats.org/drawingml/2006/main">
            <a:r>
              <a:t>      "자문가 편집·확인",</a:t>
            </a:r>
          </a:p>
          <a:p xmlns:a="http://schemas.openxmlformats.org/drawingml/2006/main">
            <a:r>
              <a:t>      "CRM·이메일 업무"</a:t>
            </a:r>
          </a:p>
          <a:p xmlns:a="http://schemas.openxmlformats.org/drawingml/2006/main">
            <a:r>
              <a:t>    ],</a:t>
            </a:r>
          </a:p>
          <a:p xmlns:a="http://schemas.openxmlformats.org/drawingml/2006/main">
            <a:r>
              <a:t>    "apply": "회의 동의·요약 확인·할일 수정·업무시스템 반영의 단계별 책임 연결",</a:t>
            </a:r>
          </a:p>
          <a:p xmlns:a="http://schemas.openxmlformats.org/drawingml/2006/main">
            <a:r>
              <a:t>    "delta": "전결·발송 확인 / 원문 근거 / 진행상태·인사이동 인계",</a:t>
            </a:r>
          </a:p>
          <a:p xmlns:a="http://schemas.openxmlformats.org/drawingml/2006/main">
            <a:r>
              <a:t>    "test": "발송 전 확인·판본 변경 재승인·담당 변경 후 인계 대사",</a:t>
            </a:r>
          </a:p>
          <a:p xmlns:a="http://schemas.openxmlformats.org/drawingml/2006/main">
            <a:r>
              <a:t>    "url": "https://www.morganstanley.com/press-releases/ai-at-morgan-stanley-debrief-launch",</a:t>
            </a:r>
          </a:p>
          <a:p xmlns:a="http://schemas.openxmlformats.org/drawingml/2006/main">
            <a:r>
              <a:t>    "basis": "도입기업 공식 서비스 발표",</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"https://www.morganstanley.com/press-releases/ai-at-morgan-stanley-debrief-launch"</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"PF08",</a:t>
            </a:r>
          </a:p>
          <a:p xmlns:a="http://schemas.openxmlformats.org/drawingml/2006/main">
            <a:r>
              <a:t>    "canonicalId": "PF08",</a:t>
            </a:r>
          </a:p>
          <a:p xmlns:a="http://schemas.openxmlformats.org/drawingml/2006/main">
            <a:r>
              <a:t>    "purpose": "전문지식 검색과 회의 후속업무 연결",</a:t>
            </a:r>
          </a:p>
          <a:p xmlns:a="http://schemas.openxmlformats.org/drawingml/2006/main">
            <a:r>
              <a:t>    "users": "자문가·고객·CRM 담당",</a:t>
            </a:r>
          </a:p>
          <a:p xmlns:a="http://schemas.openxmlformats.org/drawingml/2006/main">
            <a:r>
              <a:t>    "scope": [</a:t>
            </a:r>
          </a:p>
          <a:p xmlns:a="http://schemas.openxmlformats.org/drawingml/2006/main">
            <a:r>
              <a:t>      "Assistant 검색",</a:t>
            </a:r>
          </a:p>
          <a:p xmlns:a="http://schemas.openxmlformats.org/drawingml/2006/main">
            <a:r>
              <a:t>      "회의 요약",</a:t>
            </a:r>
          </a:p>
          <a:p xmlns:a="http://schemas.openxmlformats.org/drawingml/2006/main">
            <a:r>
              <a:t>      "후속조치"</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"동의받은 회의",</a:t>
            </a:r>
          </a:p>
          <a:p xmlns:a="http://schemas.openxmlformats.org/drawingml/2006/main">
            <a:r>
              <a:t>        "detail": "지식 질의와 동의받은 회의 입력 분리",</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"Assistant 검색 / 회의 요약 / 후속조치",</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"Debrief 요약·후속조치",</a:t>
            </a:r>
          </a:p>
          <a:p xmlns:a="http://schemas.openxmlformats.org/drawingml/2006/main">
            <a:r>
              <a:t>        "detail": "검색 응답·회의 요약·할일 초안 생성",</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"자문가·CRM",</a:t>
            </a:r>
          </a:p>
          <a:p xmlns:a="http://schemas.openxmlformats.org/drawingml/2006/main">
            <a:r>
              <a:t>        "detail": "자문가 편집·확인 후 CRM·이메일 반영",</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"회의·업무 기록",</a:t>
            </a:r>
          </a:p>
          <a:p xmlns:a="http://schemas.openxmlformats.org/drawingml/2006/main">
            <a:r>
              <a:t>        "detail": "승인 지식·회의 기록·고객업무 문맥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"요약 사실·할일·수신자·후속조치 완료 확인",</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"동의받은 회의",</a:t>
            </a:r>
          </a:p>
          <a:p xmlns:a="http://schemas.openxmlformats.org/drawingml/2006/main">
            <a:r>
              <a:t>        "input": "지식 질의와 동의받은 회의 입력 분리",</a:t>
            </a:r>
          </a:p>
          <a:p xmlns:a="http://schemas.openxmlformats.org/drawingml/2006/main">
            <a:r>
              <a:t>        "process": "승인 지식·회의 기록·고객업무 문맥 연결",</a:t>
            </a:r>
          </a:p>
          <a:p xmlns:a="http://schemas.openxmlformats.org/drawingml/2006/main">
            <a:r>
              <a:t>        "output": "회의 내용"</a:t>
            </a:r>
          </a:p>
          <a:p xmlns:a="http://schemas.openxmlformats.org/drawingml/2006/main">
            <a:r>
              <a:t>      },</a:t>
            </a:r>
          </a:p>
          <a:p xmlns:a="http://schemas.openxmlformats.org/drawingml/2006/main">
            <a:r>
              <a:t>      {</a:t>
            </a:r>
          </a:p>
          <a:p xmlns:a="http://schemas.openxmlformats.org/drawingml/2006/main">
            <a:r>
              <a:t>        "title": "요약·후속조치 초안",</a:t>
            </a:r>
          </a:p>
          <a:p xmlns:a="http://schemas.openxmlformats.org/drawingml/2006/main">
            <a:r>
              <a:t>        "input": "회의 내용",</a:t>
            </a:r>
          </a:p>
          <a:p xmlns:a="http://schemas.openxmlformats.org/drawingml/2006/main">
            <a:r>
              <a:t>        "process": "검색 응답·회의 요약·할일 초안 생성",</a:t>
            </a:r>
          </a:p>
          <a:p xmlns:a="http://schemas.openxmlformats.org/drawingml/2006/main">
            <a:r>
              <a:t>        "output": "요약·할일 초안"</a:t>
            </a:r>
          </a:p>
          <a:p xmlns:a="http://schemas.openxmlformats.org/drawingml/2006/main">
            <a:r>
              <a:t>      },</a:t>
            </a:r>
          </a:p>
          <a:p xmlns:a="http://schemas.openxmlformats.org/drawingml/2006/main">
            <a:r>
              <a:t>      {</a:t>
            </a:r>
          </a:p>
          <a:p xmlns:a="http://schemas.openxmlformats.org/drawingml/2006/main">
            <a:r>
              <a:t>        "title": "자문가 편집·확인",</a:t>
            </a:r>
          </a:p>
          <a:p xmlns:a="http://schemas.openxmlformats.org/drawingml/2006/main">
            <a:r>
              <a:t>        "input": "요약·할일 초안",</a:t>
            </a:r>
          </a:p>
          <a:p xmlns:a="http://schemas.openxmlformats.org/drawingml/2006/main">
            <a:r>
              <a:t>        "process": "녹취 동의·사실·수신자·실행 확인",</a:t>
            </a:r>
          </a:p>
          <a:p xmlns:a="http://schemas.openxmlformats.org/drawingml/2006/main">
            <a:r>
              <a:t>        "output": "자문가 확인"</a:t>
            </a:r>
          </a:p>
          <a:p xmlns:a="http://schemas.openxmlformats.org/drawingml/2006/main">
            <a:r>
              <a:t>      },</a:t>
            </a:r>
          </a:p>
          <a:p xmlns:a="http://schemas.openxmlformats.org/drawingml/2006/main">
            <a:r>
              <a:t>      {</a:t>
            </a:r>
          </a:p>
          <a:p xmlns:a="http://schemas.openxmlformats.org/drawingml/2006/main">
            <a:r>
              <a:t>        "title": "CRM·이메일 업무",</a:t>
            </a:r>
          </a:p>
          <a:p xmlns:a="http://schemas.openxmlformats.org/drawingml/2006/main">
            <a:r>
              <a:t>        "input": "자문가 확인",</a:t>
            </a:r>
          </a:p>
          <a:p xmlns:a="http://schemas.openxmlformats.org/drawingml/2006/main">
            <a:r>
              <a:t>        "process": "자문가 편집·확인 후 CRM·이메일 반영",</a:t>
            </a:r>
          </a:p>
          <a:p xmlns:a="http://schemas.openxmlformats.org/drawingml/2006/main">
            <a:r>
              <a:t>        "output": "CRM·이메일 기록"</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"동의받은 회의에서 요약·할일을 만든 뒤 CRM 반영",</a:t>
            </a:r>
          </a:p>
          <a:p xmlns:a="http://schemas.openxmlformats.org/drawingml/2006/main">
            <a:r>
              <a:t>      "exception": "잘못된 수신자·발언자 혼동·삭제 요청·미확인 할일",</a:t>
            </a:r>
          </a:p>
          <a:p xmlns:a="http://schemas.openxmlformats.org/drawingml/2006/main">
            <a:r>
              <a:t>      "evidence": "동의·원 발화·수정·승인·CRM 반영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"자문가·고객·CRM 담당",</a:t>
            </a:r>
          </a:p>
          <a:p xmlns:a="http://schemas.openxmlformats.org/drawingml/2006/main">
            <a:r>
              <a:t>          "processing": "지식 질의와 동의받은 회의 입력 분리",</a:t>
            </a:r>
          </a:p>
          <a:p xmlns:a="http://schemas.openxmlformats.org/drawingml/2006/main">
            <a:r>
              <a:t>          "output": "회의 내용"</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"회의·업무 기록",</a:t>
            </a:r>
          </a:p>
          <a:p xmlns:a="http://schemas.openxmlformats.org/drawingml/2006/main">
            <a:r>
              <a:t>          "processing": "승인 지식·회의 기록·고객업무 문맥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"회의 내용",</a:t>
            </a:r>
          </a:p>
          <a:p xmlns:a="http://schemas.openxmlformats.org/drawingml/2006/main">
            <a:r>
              <a:t>          "processing": "검색 응답·회의 요약·할일 초안 생성",</a:t>
            </a:r>
          </a:p>
          <a:p xmlns:a="http://schemas.openxmlformats.org/drawingml/2006/main">
            <a:r>
              <a:t>          "output": "자문가 확인"</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"자문가 확인",</a:t>
            </a:r>
          </a:p>
          <a:p xmlns:a="http://schemas.openxmlformats.org/drawingml/2006/main">
            <a:r>
              <a:t>          "processing": "자문가 편집·확인 후 CRM·이메일 반영",</a:t>
            </a:r>
          </a:p>
          <a:p xmlns:a="http://schemas.openxmlformats.org/drawingml/2006/main">
            <a:r>
              <a:t>          "output": "CRM·이메일 기록"</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"요약 사실·할일·수신자·후속조치 완료 확인",</a:t>
            </a:r>
          </a:p>
          <a:p xmlns:a="http://schemas.openxmlformats.org/drawingml/2006/main">
            <a:r>
              <a:t>          "output": "동의·원 발화·수정·승인·CRM 반영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"요약 사실·할일·수신자·후속조치 완료 확인",</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"도입기업 공식 서비스 발표",</a:t>
            </a:r>
          </a:p>
          <a:p xmlns:a="http://schemas.openxmlformats.org/drawingml/2006/main">
            <a:r>
              <a:t>        "url": "https://www.morganstanley.com/press-releases/ai-at-morgan-stanley-debrief-launch"</a:t>
            </a:r>
          </a:p>
          <a:p xmlns:a="http://schemas.openxmlformats.org/drawingml/2006/main">
            <a:r>
              <a:t>      }</a:t>
            </a:r>
          </a:p>
          <a:p xmlns:a="http://schemas.openxmlformats.org/drawingml/2006/main">
            <a:r>
              <a:t>    ],</a:t>
            </a:r>
          </a:p>
          <a:p xmlns:a="http://schemas.openxmlformats.org/drawingml/2006/main">
            <a:r>
              <a:t>    "implication": "회의 동의·요약 확인·할일 수정·업무시스템 반영의 단계별 책임 연결",</a:t>
            </a:r>
          </a:p>
          <a:p xmlns:a="http://schemas.openxmlformats.org/drawingml/2006/main">
            <a:r>
              <a:t>    "local": "회의 동의·요약 확인·할일 수정·업무시스템 반영의 단계별 책임 연결",</a:t>
            </a:r>
          </a:p>
          <a:p xmlns:a="http://schemas.openxmlformats.org/drawingml/2006/main">
            <a:r>
              <a:t>    "sourceDetail": null,</a:t>
            </a:r>
          </a:p>
          <a:p xmlns:a="http://schemas.openxmlformats.org/drawingml/2006/main">
            <a:r>
              <a:t>    "narrative": [</a:t>
            </a:r>
          </a:p>
          <a:p xmlns:a="http://schemas.openxmlformats.org/drawingml/2006/main">
            <a:r>
              <a:t>      "Morgan Stanley의 지식 검색 Assistant와 회의 후속업무 Debrief 사례. 자문가가 승인된 지식을 찾는 업무와 고객 회의에서 요약·할일을 정리하는 업무를 서로 다른 입력 경로로 지원.",</a:t>
            </a:r>
          </a:p>
          <a:p xmlns:a="http://schemas.openxmlformats.org/drawingml/2006/main">
            <a:r>
              <a:t>      "지식 검색은 승인 문서의 검색·근거 응답으로, 회의 지원은 동의받은 기록의 요약·실행 항목 초안·자문가 검토·CRM 또는 후속 메시지 연결로 재구성. 검색 근거와 고객 대화 기록의 접근·보관 정책을 분리하는 설계.",</a:t>
            </a:r>
          </a:p>
          <a:p xmlns:a="http://schemas.openxmlformats.org/drawingml/2006/main">
            <a:r>
              <a:t>      "CCK의 상담·민원 후속 처리에서는 생성된 요약과 실제 등록·발송을 구분할 필요. 화자·수신자·기한·해야 할 일의 누락과 중복을 시험하고 담당자 확인 이후 업무 시스템에 반영된 결과까지 추적."</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"질문·회의 접점",</a:t>
            </a:r>
          </a:p>
          <a:p xmlns:a="http://schemas.openxmlformats.org/drawingml/2006/main">
            <a:r>
              <a:t>          "layer": "이용 접점",</a:t>
            </a:r>
          </a:p>
          <a:p xmlns:a="http://schemas.openxmlformats.org/drawingml/2006/main">
            <a:r>
              <a:t>          "detail": "자문가·고객·CRM 담당",</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"동의·고객 문맥",</a:t>
            </a:r>
          </a:p>
          <a:p xmlns:a="http://schemas.openxmlformats.org/drawingml/2006/main">
            <a:r>
              <a:t>          "layer": "업무 문맥",</a:t>
            </a:r>
          </a:p>
          <a:p xmlns:a="http://schemas.openxmlformats.org/drawingml/2006/main">
            <a:r>
              <a:t>          "detail": "지식 질의와 동의받은 회의 입력 분리",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"승인 지식 조회",</a:t>
            </a:r>
          </a:p>
          <a:p xmlns:a="http://schemas.openxmlformats.org/drawingml/2006/main">
            <a:r>
              <a:t>          "layer": "자료 조회",</a:t>
            </a:r>
          </a:p>
          <a:p xmlns:a="http://schemas.openxmlformats.org/drawingml/2006/main">
            <a:r>
              <a:t>          "detail": "회의 내용",</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"요약·할일 생성",</a:t>
            </a:r>
          </a:p>
          <a:p xmlns:a="http://schemas.openxmlformats.org/drawingml/2006/main">
            <a:r>
              <a:t>          "layer": "핵심 처리",</a:t>
            </a:r>
          </a:p>
          <a:p xmlns:a="http://schemas.openxmlformats.org/drawingml/2006/main">
            <a:r>
              <a:t>          "detail": "검색 응답·회의 요약·할일 초안 생성",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"사실·수신자 검사",</a:t>
            </a:r>
          </a:p>
          <a:p xmlns:a="http://schemas.openxmlformats.org/drawingml/2006/main">
            <a:r>
              <a:t>          "layer": "결과 검증",</a:t>
            </a:r>
          </a:p>
          <a:p xmlns:a="http://schemas.openxmlformats.org/drawingml/2006/main">
            <a:r>
              <a:t>          "detail": "녹취 동의·사실·수신자·실행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"자문가 편집·확인",</a:t>
            </a:r>
          </a:p>
          <a:p xmlns:a="http://schemas.openxmlformats.org/drawingml/2006/main">
            <a:r>
              <a:t>          "layer": "사람 확인",</a:t>
            </a:r>
          </a:p>
          <a:p xmlns:a="http://schemas.openxmlformats.org/drawingml/2006/main">
            <a:r>
              <a:t>          "detail": "동의받은 회의에서 요약·할일을 만든 뒤 CRM 반영",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"CRM·이메일 반영",</a:t>
            </a:r>
          </a:p>
          <a:p xmlns:a="http://schemas.openxmlformats.org/drawingml/2006/main">
            <a:r>
              <a:t>          "layer": "업무 연결",</a:t>
            </a:r>
          </a:p>
          <a:p xmlns:a="http://schemas.openxmlformats.org/drawingml/2006/main">
            <a:r>
              <a:t>          "detail": "자문가 편집·확인 후 CRM·이메일 반영",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"후속조치 추적",</a:t>
            </a:r>
          </a:p>
          <a:p xmlns:a="http://schemas.openxmlformats.org/drawingml/2006/main">
            <a:r>
              <a:t>          "layer": "운영 관측",</a:t>
            </a:r>
          </a:p>
          <a:p xmlns:a="http://schemas.openxmlformats.org/drawingml/2006/main">
            <a:r>
              <a:t>          "detail": "요약 사실·할일·수신자·후속조치 완료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"승인 지식·회의",</a:t>
            </a:r>
          </a:p>
          <a:p xmlns:a="http://schemas.openxmlformats.org/drawingml/2006/main">
            <a:r>
              <a:t>          "layer": "데이터 원천",</a:t>
            </a:r>
          </a:p>
          <a:p xmlns:a="http://schemas.openxmlformats.org/drawingml/2006/main">
            <a:r>
              <a:t>          "detail": "회의·업무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"참석자·발언 정합화",</a:t>
            </a:r>
          </a:p>
          <a:p xmlns:a="http://schemas.openxmlformats.org/drawingml/2006/main">
            <a:r>
              <a:t>          "layer": "준비·갱신",</a:t>
            </a:r>
          </a:p>
          <a:p xmlns:a="http://schemas.openxmlformats.org/drawingml/2006/main">
            <a:r>
              <a:t>          "detail": "승인 지식·회의 기록·고객업무 문맥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"요약·확인 기록",</a:t>
            </a:r>
          </a:p>
          <a:p xmlns:a="http://schemas.openxmlformats.org/drawingml/2006/main">
            <a:r>
              <a:t>          "layer": "상태·지식 저장",</a:t>
            </a:r>
          </a:p>
          <a:p xmlns:a="http://schemas.openxmlformats.org/drawingml/2006/main">
            <a:r>
              <a:t>          "detail": "동의·원 발화·수정·승인·CRM 반영 이력",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"녹취·전송 동의",</a:t>
            </a:r>
          </a:p>
          <a:p xmlns:a="http://schemas.openxmlformats.org/drawingml/2006/main">
            <a:r>
              <a:t>          "layer": "권한·정책",</a:t>
            </a:r>
          </a:p>
          <a:p xmlns:a="http://schemas.openxmlformats.org/drawingml/2006/main">
            <a:r>
              <a:t>          "detail": "잘못된 수신자·발언자 혼동·삭제 요청·미확인 할일",</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"지식 질의와 동의받은 회의 입력 분리",</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"회의 내용",</a:t>
            </a:r>
          </a:p>
          <a:p xmlns:a="http://schemas.openxmlformats.org/drawingml/2006/main">
            <a:r>
              <a:t>          "check": "녹취 동의·사실·수신자·실행 확인"</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"요약·할일 초안",</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"자문가 확인",</a:t>
            </a:r>
          </a:p>
          <a:p xmlns:a="http://schemas.openxmlformats.org/drawingml/2006/main">
            <a:r>
              <a:t>          "check": "잘못된 수신자·발언자 혼동·삭제 요청·미확인 할일"</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"자문가 확인",</a:t>
            </a:r>
          </a:p>
          <a:p xmlns:a="http://schemas.openxmlformats.org/drawingml/2006/main">
            <a:r>
              <a:t>          "check": "자문가 편집·확인 후 CRM·이메일 반영"</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"CRM·이메일 기록",</a:t>
            </a:r>
          </a:p>
          <a:p xmlns:a="http://schemas.openxmlformats.org/drawingml/2006/main">
            <a:r>
              <a:t>          "check": "동의·원 발화·수정·승인·CRM 반영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"전문지식 검색과 회의 후속업무 연결 / Assistant 검색·회의 요약·후속조치",</a:t>
            </a:r>
          </a:p>
          <a:p xmlns:a="http://schemas.openxmlformats.org/drawingml/2006/main">
            <a:r>
              <a:t>        "extension": "회의 동의·요약 확인·할일 수정·업무시스템 반영의 단계별 책임 연결"</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"잘못된 수신자·발언자 혼동·삭제 요청·미확인 할일",</a:t>
            </a:r>
          </a:p>
          <a:p xmlns:a="http://schemas.openxmlformats.org/drawingml/2006/main">
            <a:r>
              <a:t>        "hold": "녹취 동의·사실·수신자·실행 확인",</a:t>
            </a:r>
          </a:p>
          <a:p xmlns:a="http://schemas.openxmlformats.org/drawingml/2006/main">
            <a:r>
              <a:t>        "recovery": "요약 사실·할일·수신자·후속조치 완료 확인",</a:t>
            </a:r>
          </a:p>
          <a:p xmlns:a="http://schemas.openxmlformats.org/drawingml/2006/main">
            <a:r>
              <a:t>        "evidence": "동의·원 발화·수정·승인·CRM 반영 이력"</a:t>
            </a:r>
          </a:p>
          <a:p xmlns:a="http://schemas.openxmlformats.org/drawingml/2006/main">
            <a:r>
              <a:t>      },</a:t>
            </a:r>
          </a:p>
          <a:p xmlns:a="http://schemas.openxmlformats.org/drawingml/2006/main">
            <a:r>
              <a:t>      "data": {</a:t>
            </a:r>
          </a:p>
          <a:p xmlns:a="http://schemas.openxmlformats.org/drawingml/2006/main">
            <a:r>
              <a:t>        "source": "회의·업무 기록",</a:t>
            </a:r>
          </a:p>
          <a:p xmlns:a="http://schemas.openxmlformats.org/drawingml/2006/main">
            <a:r>
              <a:t>        "prepare": "승인 지식·회의 기록·고객업무 문맥 연결",</a:t>
            </a:r>
          </a:p>
          <a:p xmlns:a="http://schemas.openxmlformats.org/drawingml/2006/main">
            <a:r>
              <a:t>        "output": "회의 내용",</a:t>
            </a:r>
          </a:p>
          <a:p xmlns:a="http://schemas.openxmlformats.org/drawingml/2006/main">
            <a:r>
              <a:t>        "refresh": "요약 사실·할일·수신자·후속조치 완료 확인"</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"PF08",</a:t>
            </a:r>
          </a:p>
          <a:p xmlns:a="http://schemas.openxmlformats.org/drawingml/2006/main">
            <a:r>
              <a:t>    "success": [</a:t>
            </a:r>
          </a:p>
          <a:p xmlns:a="http://schemas.openxmlformats.org/drawingml/2006/main">
            <a:r>
              <a:t>      "회의 요약과 후속 업무의 결합",</a:t>
            </a:r>
          </a:p>
          <a:p xmlns:a="http://schemas.openxmlformats.org/drawingml/2006/main">
            <a:r>
              <a:t>      "동의와 자문가 편집·확인"</a:t>
            </a:r>
          </a:p>
          <a:p xmlns:a="http://schemas.openxmlformats.org/drawingml/2006/main">
            <a:r>
              <a:t>    ],</a:t>
            </a:r>
          </a:p>
          <a:p xmlns:a="http://schemas.openxmlformats.org/drawingml/2006/main">
            <a:r>
              <a:t>    "risks": [</a:t>
            </a:r>
          </a:p>
          <a:p xmlns:a="http://schemas.openxmlformats.org/drawingml/2006/main">
            <a:r>
              <a:t>      "대화의 잘못된 요약·할일 추출",</a:t>
            </a:r>
          </a:p>
          <a:p xmlns:a="http://schemas.openxmlformats.org/drawingml/2006/main">
            <a:r>
              <a:t>      "확인 전 CRM·이메일 반영"</a:t>
            </a:r>
          </a:p>
          <a:p xmlns:a="http://schemas.openxmlformats.org/drawingml/2006/main">
            <a:r>
              <a:t>    ],</a:t>
            </a:r>
          </a:p>
          <a:p xmlns:a="http://schemas.openxmlformats.org/drawingml/2006/main">
            <a:r>
              <a:t>    "architecture": [</a:t>
            </a:r>
          </a:p>
          <a:p xmlns:a="http://schemas.openxmlformats.org/drawingml/2006/main">
            <a:r>
              <a:t>      "동의받은 회의",</a:t>
            </a:r>
          </a:p>
          <a:p xmlns:a="http://schemas.openxmlformats.org/drawingml/2006/main">
            <a:r>
              <a:t>      "Debrief 요약·후속조치",</a:t>
            </a:r>
          </a:p>
          <a:p xmlns:a="http://schemas.openxmlformats.org/drawingml/2006/main">
            <a:r>
              <a:t>      "회의·업무 기록",</a:t>
            </a:r>
          </a:p>
          <a:p xmlns:a="http://schemas.openxmlformats.org/drawingml/2006/main">
            <a:r>
              <a:t>      "자문가·CRM"</a:t>
            </a:r>
          </a:p>
          <a:p xmlns:a="http://schemas.openxmlformats.org/drawingml/2006/main">
            <a:r>
              <a:t>    ],</a:t>
            </a:r>
          </a:p>
          <a:p xmlns:a="http://schemas.openxmlformats.org/drawingml/2006/main">
            <a:r>
              <a:t>    "transfers": [</a:t>
            </a:r>
          </a:p>
          <a:p xmlns:a="http://schemas.openxmlformats.org/drawingml/2006/main">
            <a:r>
              <a:t>      "회의 내용",</a:t>
            </a:r>
          </a:p>
          <a:p xmlns:a="http://schemas.openxmlformats.org/drawingml/2006/main">
            <a:r>
              <a:t>      "요약·할일 초안",</a:t>
            </a:r>
          </a:p>
          <a:p xmlns:a="http://schemas.openxmlformats.org/drawingml/2006/main">
            <a:r>
              <a:t>      "자문가 확인",</a:t>
            </a:r>
          </a:p>
          <a:p xmlns:a="http://schemas.openxmlformats.org/drawingml/2006/main">
            <a:r>
              <a:t>      "CRM·이메일 기록"</a:t>
            </a:r>
          </a:p>
          <a:p xmlns:a="http://schemas.openxmlformats.org/drawingml/2006/main">
            <a:r>
              <a:t>    ],</a:t>
            </a:r>
          </a:p>
          <a:p xmlns:a="http://schemas.openxmlformats.org/drawingml/2006/main">
            <a:r>
              <a:t>    "control": "녹취 동의·사실·수신자·실행 확인",</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도입기업 공식 서비스 발표 https://www.morganstanley.com/press-releases/ai-at-morgan-stanley-debrief-launch</a:t>
            </a:r>
          </a:p>
          <a:p xmlns:a="http://schemas.openxmlformats.org/drawingml/2006/main">
            <a:r>
              <a:t>홈페이지 https://heen1987-ops.github.io/TS-business-Plan-001/index.html?view=platform-cases&amp;case=PF08</a:t>
            </a:r>
          </a:p>
          <a:p xmlns:a="http://schemas.openxmlformats.org/drawingml/2006/main">
            <a:r>
              <a:t>한계: Assistant 채택률과 Debrief 시간절감의 구분 · 사용자 동의·편집 판단 포함</a:t>
            </a:r>
          </a:p>
          <a:p xmlns:a="http://schemas.openxmlformats.org/drawingml/2006/main">
            <a:r>
              <a:t>실패 위험: 대화의 잘못된 요약·할일 추출 / 확인 전 CRM·이메일 반영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"PF08",</a:t>
            </a:r>
          </a:p>
          <a:p xmlns:a="http://schemas.openxmlformats.org/drawingml/2006/main">
            <a:r>
              <a:t>    "sourceId": "A17",</a:t>
            </a:r>
          </a:p>
          <a:p xmlns:a="http://schemas.openxmlformats.org/drawingml/2006/main">
            <a:r>
              <a:t>    "title": "Morgan Stanley Assistant·Debrief",</a:t>
            </a:r>
          </a:p>
          <a:p xmlns:a="http://schemas.openxmlformats.org/drawingml/2006/main">
            <a:r>
              <a:t>    "region": "해외",</a:t>
            </a:r>
          </a:p>
          <a:p xmlns:a="http://schemas.openxmlformats.org/drawingml/2006/main">
            <a:r>
              <a:t>    "owner": "Morgan Stanley",</a:t>
            </a:r>
          </a:p>
          <a:p xmlns:a="http://schemas.openxmlformats.org/drawingml/2006/main">
            <a:r>
              <a:t>    "state": "업무 도구 운영 · 기업 발표",</a:t>
            </a:r>
          </a:p>
          <a:p xmlns:a="http://schemas.openxmlformats.org/drawingml/2006/main">
            <a:r>
              <a:t>    "period": "2023 Assistant / 2024 Debrief",</a:t>
            </a:r>
          </a:p>
          <a:p xmlns:a="http://schemas.openxmlformats.org/drawingml/2006/main">
            <a:r>
              <a:t>    "fact": "사내 지식 검색과 동의받은 회의 요약·후속조치·CRM 기록의 업무 흐름 결합",</a:t>
            </a:r>
          </a:p>
          <a:p xmlns:a="http://schemas.openxmlformats.org/drawingml/2006/main">
            <a:r>
              <a:t>    "limit": "Assistant 채택률과 Debrief 시간절감의 구분 · 사용자 동의·편집 판단 포함",</a:t>
            </a:r>
          </a:p>
          <a:p xmlns:a="http://schemas.openxmlformats.org/drawingml/2006/main">
            <a:r>
              <a:t>    "nodes": [</a:t>
            </a:r>
          </a:p>
          <a:p xmlns:a="http://schemas.openxmlformats.org/drawingml/2006/main">
            <a:r>
              <a:t>      "동의받은 회의",</a:t>
            </a:r>
          </a:p>
          <a:p xmlns:a="http://schemas.openxmlformats.org/drawingml/2006/main">
            <a:r>
              <a:t>      "요약·후속조치 초안",</a:t>
            </a:r>
          </a:p>
          <a:p xmlns:a="http://schemas.openxmlformats.org/drawingml/2006/main">
            <a:r>
              <a:t>      "자문가 편집·확인",</a:t>
            </a:r>
          </a:p>
          <a:p xmlns:a="http://schemas.openxmlformats.org/drawingml/2006/main">
            <a:r>
              <a:t>      "CRM·이메일 업무"</a:t>
            </a:r>
          </a:p>
          <a:p xmlns:a="http://schemas.openxmlformats.org/drawingml/2006/main">
            <a:r>
              <a:t>    ],</a:t>
            </a:r>
          </a:p>
          <a:p xmlns:a="http://schemas.openxmlformats.org/drawingml/2006/main">
            <a:r>
              <a:t>    "apply": "회의 동의·요약 확인·할일 수정·업무시스템 반영의 단계별 책임 연결",</a:t>
            </a:r>
          </a:p>
          <a:p xmlns:a="http://schemas.openxmlformats.org/drawingml/2006/main">
            <a:r>
              <a:t>    "delta": "전결·발송 확인 / 원문 근거 / 진행상태·인사이동 인계",</a:t>
            </a:r>
          </a:p>
          <a:p xmlns:a="http://schemas.openxmlformats.org/drawingml/2006/main">
            <a:r>
              <a:t>    "test": "발송 전 확인·판본 변경 재승인·담당 변경 후 인계 대사",</a:t>
            </a:r>
          </a:p>
          <a:p xmlns:a="http://schemas.openxmlformats.org/drawingml/2006/main">
            <a:r>
              <a:t>    "url": "https://www.morganstanley.com/press-releases/ai-at-morgan-stanley-debrief-launch",</a:t>
            </a:r>
          </a:p>
          <a:p xmlns:a="http://schemas.openxmlformats.org/drawingml/2006/main">
            <a:r>
              <a:t>    "basis": "도입기업 공식 서비스 발표",</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"https://www.morganstanley.com/press-releases/ai-at-morgan-stanley-debrief-launch"</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"PF08",</a:t>
            </a:r>
          </a:p>
          <a:p xmlns:a="http://schemas.openxmlformats.org/drawingml/2006/main">
            <a:r>
              <a:t>    "canonicalId": "PF08",</a:t>
            </a:r>
          </a:p>
          <a:p xmlns:a="http://schemas.openxmlformats.org/drawingml/2006/main">
            <a:r>
              <a:t>    "purpose": "전문지식 검색과 회의 후속업무 연결",</a:t>
            </a:r>
          </a:p>
          <a:p xmlns:a="http://schemas.openxmlformats.org/drawingml/2006/main">
            <a:r>
              <a:t>    "users": "자문가·고객·CRM 담당",</a:t>
            </a:r>
          </a:p>
          <a:p xmlns:a="http://schemas.openxmlformats.org/drawingml/2006/main">
            <a:r>
              <a:t>    "scope": [</a:t>
            </a:r>
          </a:p>
          <a:p xmlns:a="http://schemas.openxmlformats.org/drawingml/2006/main">
            <a:r>
              <a:t>      "Assistant 검색",</a:t>
            </a:r>
          </a:p>
          <a:p xmlns:a="http://schemas.openxmlformats.org/drawingml/2006/main">
            <a:r>
              <a:t>      "회의 요약",</a:t>
            </a:r>
          </a:p>
          <a:p xmlns:a="http://schemas.openxmlformats.org/drawingml/2006/main">
            <a:r>
              <a:t>      "후속조치"</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"동의받은 회의",</a:t>
            </a:r>
          </a:p>
          <a:p xmlns:a="http://schemas.openxmlformats.org/drawingml/2006/main">
            <a:r>
              <a:t>        "detail": "지식 질의와 동의받은 회의 입력 분리",</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"Assistant 검색 / 회의 요약 / 후속조치",</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"Debrief 요약·후속조치",</a:t>
            </a:r>
          </a:p>
          <a:p xmlns:a="http://schemas.openxmlformats.org/drawingml/2006/main">
            <a:r>
              <a:t>        "detail": "검색 응답·회의 요약·할일 초안 생성",</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"자문가·CRM",</a:t>
            </a:r>
          </a:p>
          <a:p xmlns:a="http://schemas.openxmlformats.org/drawingml/2006/main">
            <a:r>
              <a:t>        "detail": "자문가 편집·확인 후 CRM·이메일 반영",</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"회의·업무 기록",</a:t>
            </a:r>
          </a:p>
          <a:p xmlns:a="http://schemas.openxmlformats.org/drawingml/2006/main">
            <a:r>
              <a:t>        "detail": "승인 지식·회의 기록·고객업무 문맥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"요약 사실·할일·수신자·후속조치 완료 확인",</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"동의받은 회의",</a:t>
            </a:r>
          </a:p>
          <a:p xmlns:a="http://schemas.openxmlformats.org/drawingml/2006/main">
            <a:r>
              <a:t>        "input": "지식 질의와 동의받은 회의 입력 분리",</a:t>
            </a:r>
          </a:p>
          <a:p xmlns:a="http://schemas.openxmlformats.org/drawingml/2006/main">
            <a:r>
              <a:t>        "process": "승인 지식·회의 기록·고객업무 문맥 연결",</a:t>
            </a:r>
          </a:p>
          <a:p xmlns:a="http://schemas.openxmlformats.org/drawingml/2006/main">
            <a:r>
              <a:t>        "output": "회의 내용"</a:t>
            </a:r>
          </a:p>
          <a:p xmlns:a="http://schemas.openxmlformats.org/drawingml/2006/main">
            <a:r>
              <a:t>      },</a:t>
            </a:r>
          </a:p>
          <a:p xmlns:a="http://schemas.openxmlformats.org/drawingml/2006/main">
            <a:r>
              <a:t>      {</a:t>
            </a:r>
          </a:p>
          <a:p xmlns:a="http://schemas.openxmlformats.org/drawingml/2006/main">
            <a:r>
              <a:t>        "title": "요약·후속조치 초안",</a:t>
            </a:r>
          </a:p>
          <a:p xmlns:a="http://schemas.openxmlformats.org/drawingml/2006/main">
            <a:r>
              <a:t>        "input": "회의 내용",</a:t>
            </a:r>
          </a:p>
          <a:p xmlns:a="http://schemas.openxmlformats.org/drawingml/2006/main">
            <a:r>
              <a:t>        "process": "검색 응답·회의 요약·할일 초안 생성",</a:t>
            </a:r>
          </a:p>
          <a:p xmlns:a="http://schemas.openxmlformats.org/drawingml/2006/main">
            <a:r>
              <a:t>        "output": "요약·할일 초안"</a:t>
            </a:r>
          </a:p>
          <a:p xmlns:a="http://schemas.openxmlformats.org/drawingml/2006/main">
            <a:r>
              <a:t>      },</a:t>
            </a:r>
          </a:p>
          <a:p xmlns:a="http://schemas.openxmlformats.org/drawingml/2006/main">
            <a:r>
              <a:t>      {</a:t>
            </a:r>
          </a:p>
          <a:p xmlns:a="http://schemas.openxmlformats.org/drawingml/2006/main">
            <a:r>
              <a:t>        "title": "자문가 편집·확인",</a:t>
            </a:r>
          </a:p>
          <a:p xmlns:a="http://schemas.openxmlformats.org/drawingml/2006/main">
            <a:r>
              <a:t>        "input": "요약·할일 초안",</a:t>
            </a:r>
          </a:p>
          <a:p xmlns:a="http://schemas.openxmlformats.org/drawingml/2006/main">
            <a:r>
              <a:t>        "process": "녹취 동의·사실·수신자·실행 확인",</a:t>
            </a:r>
          </a:p>
          <a:p xmlns:a="http://schemas.openxmlformats.org/drawingml/2006/main">
            <a:r>
              <a:t>        "output": "자문가 확인"</a:t>
            </a:r>
          </a:p>
          <a:p xmlns:a="http://schemas.openxmlformats.org/drawingml/2006/main">
            <a:r>
              <a:t>      },</a:t>
            </a:r>
          </a:p>
          <a:p xmlns:a="http://schemas.openxmlformats.org/drawingml/2006/main">
            <a:r>
              <a:t>      {</a:t>
            </a:r>
          </a:p>
          <a:p xmlns:a="http://schemas.openxmlformats.org/drawingml/2006/main">
            <a:r>
              <a:t>        "title": "CRM·이메일 업무",</a:t>
            </a:r>
          </a:p>
          <a:p xmlns:a="http://schemas.openxmlformats.org/drawingml/2006/main">
            <a:r>
              <a:t>        "input": "자문가 확인",</a:t>
            </a:r>
          </a:p>
          <a:p xmlns:a="http://schemas.openxmlformats.org/drawingml/2006/main">
            <a:r>
              <a:t>        "process": "자문가 편집·확인 후 CRM·이메일 반영",</a:t>
            </a:r>
          </a:p>
          <a:p xmlns:a="http://schemas.openxmlformats.org/drawingml/2006/main">
            <a:r>
              <a:t>        "output": "CRM·이메일 기록"</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"동의받은 회의에서 요약·할일을 만든 뒤 CRM 반영",</a:t>
            </a:r>
          </a:p>
          <a:p xmlns:a="http://schemas.openxmlformats.org/drawingml/2006/main">
            <a:r>
              <a:t>      "exception": "잘못된 수신자·발언자 혼동·삭제 요청·미확인 할일",</a:t>
            </a:r>
          </a:p>
          <a:p xmlns:a="http://schemas.openxmlformats.org/drawingml/2006/main">
            <a:r>
              <a:t>      "evidence": "동의·원 발화·수정·승인·CRM 반영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"자문가·고객·CRM 담당",</a:t>
            </a:r>
          </a:p>
          <a:p xmlns:a="http://schemas.openxmlformats.org/drawingml/2006/main">
            <a:r>
              <a:t>          "processing": "지식 질의와 동의받은 회의 입력 분리",</a:t>
            </a:r>
          </a:p>
          <a:p xmlns:a="http://schemas.openxmlformats.org/drawingml/2006/main">
            <a:r>
              <a:t>          "output": "회의 내용"</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"회의·업무 기록",</a:t>
            </a:r>
          </a:p>
          <a:p xmlns:a="http://schemas.openxmlformats.org/drawingml/2006/main">
            <a:r>
              <a:t>          "processing": "승인 지식·회의 기록·고객업무 문맥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"회의 내용",</a:t>
            </a:r>
          </a:p>
          <a:p xmlns:a="http://schemas.openxmlformats.org/drawingml/2006/main">
            <a:r>
              <a:t>          "processing": "검색 응답·회의 요약·할일 초안 생성",</a:t>
            </a:r>
          </a:p>
          <a:p xmlns:a="http://schemas.openxmlformats.org/drawingml/2006/main">
            <a:r>
              <a:t>          "output": "자문가 확인"</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"자문가 확인",</a:t>
            </a:r>
          </a:p>
          <a:p xmlns:a="http://schemas.openxmlformats.org/drawingml/2006/main">
            <a:r>
              <a:t>          "processing": "자문가 편집·확인 후 CRM·이메일 반영",</a:t>
            </a:r>
          </a:p>
          <a:p xmlns:a="http://schemas.openxmlformats.org/drawingml/2006/main">
            <a:r>
              <a:t>          "output": "CRM·이메일 기록"</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"요약 사실·할일·수신자·후속조치 완료 확인",</a:t>
            </a:r>
          </a:p>
          <a:p xmlns:a="http://schemas.openxmlformats.org/drawingml/2006/main">
            <a:r>
              <a:t>          "output": "동의·원 발화·수정·승인·CRM 반영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"요약 사실·할일·수신자·후속조치 완료 확인",</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"도입기업 공식 서비스 발표",</a:t>
            </a:r>
          </a:p>
          <a:p xmlns:a="http://schemas.openxmlformats.org/drawingml/2006/main">
            <a:r>
              <a:t>        "url": "https://www.morganstanley.com/press-releases/ai-at-morgan-stanley-debrief-launch"</a:t>
            </a:r>
          </a:p>
          <a:p xmlns:a="http://schemas.openxmlformats.org/drawingml/2006/main">
            <a:r>
              <a:t>      }</a:t>
            </a:r>
          </a:p>
          <a:p xmlns:a="http://schemas.openxmlformats.org/drawingml/2006/main">
            <a:r>
              <a:t>    ],</a:t>
            </a:r>
          </a:p>
          <a:p xmlns:a="http://schemas.openxmlformats.org/drawingml/2006/main">
            <a:r>
              <a:t>    "implication": "회의 동의·요약 확인·할일 수정·업무시스템 반영의 단계별 책임 연결",</a:t>
            </a:r>
          </a:p>
          <a:p xmlns:a="http://schemas.openxmlformats.org/drawingml/2006/main">
            <a:r>
              <a:t>    "local": "회의 동의·요약 확인·할일 수정·업무시스템 반영의 단계별 책임 연결",</a:t>
            </a:r>
          </a:p>
          <a:p xmlns:a="http://schemas.openxmlformats.org/drawingml/2006/main">
            <a:r>
              <a:t>    "sourceDetail": null,</a:t>
            </a:r>
          </a:p>
          <a:p xmlns:a="http://schemas.openxmlformats.org/drawingml/2006/main">
            <a:r>
              <a:t>    "narrative": [</a:t>
            </a:r>
          </a:p>
          <a:p xmlns:a="http://schemas.openxmlformats.org/drawingml/2006/main">
            <a:r>
              <a:t>      "Morgan Stanley의 지식 검색 Assistant와 회의 후속업무 Debrief 사례. 자문가가 승인된 지식을 찾는 업무와 고객 회의에서 요약·할일을 정리하는 업무를 서로 다른 입력 경로로 지원.",</a:t>
            </a:r>
          </a:p>
          <a:p xmlns:a="http://schemas.openxmlformats.org/drawingml/2006/main">
            <a:r>
              <a:t>      "지식 검색은 승인 문서의 검색·근거 응답으로, 회의 지원은 동의받은 기록의 요약·실행 항목 초안·자문가 검토·CRM 또는 후속 메시지 연결로 재구성. 검색 근거와 고객 대화 기록의 접근·보관 정책을 분리하는 설계.",</a:t>
            </a:r>
          </a:p>
          <a:p xmlns:a="http://schemas.openxmlformats.org/drawingml/2006/main">
            <a:r>
              <a:t>      "CCK의 상담·민원 후속 처리에서는 생성된 요약과 실제 등록·발송을 구분할 필요. 화자·수신자·기한·해야 할 일의 누락과 중복을 시험하고 담당자 확인 이후 업무 시스템에 반영된 결과까지 추적."</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"질문·회의 접점",</a:t>
            </a:r>
          </a:p>
          <a:p xmlns:a="http://schemas.openxmlformats.org/drawingml/2006/main">
            <a:r>
              <a:t>          "layer": "이용 접점",</a:t>
            </a:r>
          </a:p>
          <a:p xmlns:a="http://schemas.openxmlformats.org/drawingml/2006/main">
            <a:r>
              <a:t>          "detail": "자문가·고객·CRM 담당",</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"동의·고객 문맥",</a:t>
            </a:r>
          </a:p>
          <a:p xmlns:a="http://schemas.openxmlformats.org/drawingml/2006/main">
            <a:r>
              <a:t>          "layer": "업무 문맥",</a:t>
            </a:r>
          </a:p>
          <a:p xmlns:a="http://schemas.openxmlformats.org/drawingml/2006/main">
            <a:r>
              <a:t>          "detail": "지식 질의와 동의받은 회의 입력 분리",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"승인 지식 조회",</a:t>
            </a:r>
          </a:p>
          <a:p xmlns:a="http://schemas.openxmlformats.org/drawingml/2006/main">
            <a:r>
              <a:t>          "layer": "자료 조회",</a:t>
            </a:r>
          </a:p>
          <a:p xmlns:a="http://schemas.openxmlformats.org/drawingml/2006/main">
            <a:r>
              <a:t>          "detail": "회의 내용",</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"요약·할일 생성",</a:t>
            </a:r>
          </a:p>
          <a:p xmlns:a="http://schemas.openxmlformats.org/drawingml/2006/main">
            <a:r>
              <a:t>          "layer": "핵심 처리",</a:t>
            </a:r>
          </a:p>
          <a:p xmlns:a="http://schemas.openxmlformats.org/drawingml/2006/main">
            <a:r>
              <a:t>          "detail": "검색 응답·회의 요약·할일 초안 생성",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"사실·수신자 검사",</a:t>
            </a:r>
          </a:p>
          <a:p xmlns:a="http://schemas.openxmlformats.org/drawingml/2006/main">
            <a:r>
              <a:t>          "layer": "결과 검증",</a:t>
            </a:r>
          </a:p>
          <a:p xmlns:a="http://schemas.openxmlformats.org/drawingml/2006/main">
            <a:r>
              <a:t>          "detail": "녹취 동의·사실·수신자·실행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"자문가 편집·확인",</a:t>
            </a:r>
          </a:p>
          <a:p xmlns:a="http://schemas.openxmlformats.org/drawingml/2006/main">
            <a:r>
              <a:t>          "layer": "사람 확인",</a:t>
            </a:r>
          </a:p>
          <a:p xmlns:a="http://schemas.openxmlformats.org/drawingml/2006/main">
            <a:r>
              <a:t>          "detail": "동의받은 회의에서 요약·할일을 만든 뒤 CRM 반영",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"CRM·이메일 반영",</a:t>
            </a:r>
          </a:p>
          <a:p xmlns:a="http://schemas.openxmlformats.org/drawingml/2006/main">
            <a:r>
              <a:t>          "layer": "업무 연결",</a:t>
            </a:r>
          </a:p>
          <a:p xmlns:a="http://schemas.openxmlformats.org/drawingml/2006/main">
            <a:r>
              <a:t>          "detail": "자문가 편집·확인 후 CRM·이메일 반영",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"후속조치 추적",</a:t>
            </a:r>
          </a:p>
          <a:p xmlns:a="http://schemas.openxmlformats.org/drawingml/2006/main">
            <a:r>
              <a:t>          "layer": "운영 관측",</a:t>
            </a:r>
          </a:p>
          <a:p xmlns:a="http://schemas.openxmlformats.org/drawingml/2006/main">
            <a:r>
              <a:t>          "detail": "요약 사실·할일·수신자·후속조치 완료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"승인 지식·회의",</a:t>
            </a:r>
          </a:p>
          <a:p xmlns:a="http://schemas.openxmlformats.org/drawingml/2006/main">
            <a:r>
              <a:t>          "layer": "데이터 원천",</a:t>
            </a:r>
          </a:p>
          <a:p xmlns:a="http://schemas.openxmlformats.org/drawingml/2006/main">
            <a:r>
              <a:t>          "detail": "회의·업무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"참석자·발언 정합화",</a:t>
            </a:r>
          </a:p>
          <a:p xmlns:a="http://schemas.openxmlformats.org/drawingml/2006/main">
            <a:r>
              <a:t>          "layer": "준비·갱신",</a:t>
            </a:r>
          </a:p>
          <a:p xmlns:a="http://schemas.openxmlformats.org/drawingml/2006/main">
            <a:r>
              <a:t>          "detail": "승인 지식·회의 기록·고객업무 문맥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"요약·확인 기록",</a:t>
            </a:r>
          </a:p>
          <a:p xmlns:a="http://schemas.openxmlformats.org/drawingml/2006/main">
            <a:r>
              <a:t>          "layer": "상태·지식 저장",</a:t>
            </a:r>
          </a:p>
          <a:p xmlns:a="http://schemas.openxmlformats.org/drawingml/2006/main">
            <a:r>
              <a:t>          "detail": "동의·원 발화·수정·승인·CRM 반영 이력",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"녹취·전송 동의",</a:t>
            </a:r>
          </a:p>
          <a:p xmlns:a="http://schemas.openxmlformats.org/drawingml/2006/main">
            <a:r>
              <a:t>          "layer": "권한·정책",</a:t>
            </a:r>
          </a:p>
          <a:p xmlns:a="http://schemas.openxmlformats.org/drawingml/2006/main">
            <a:r>
              <a:t>          "detail": "잘못된 수신자·발언자 혼동·삭제 요청·미확인 할일",</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"지식 질의와 동의받은 회의 입력 분리",</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"회의 내용",</a:t>
            </a:r>
          </a:p>
          <a:p xmlns:a="http://schemas.openxmlformats.org/drawingml/2006/main">
            <a:r>
              <a:t>          "check": "녹취 동의·사실·수신자·실행 확인"</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"요약·할일 초안",</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"자문가 확인",</a:t>
            </a:r>
          </a:p>
          <a:p xmlns:a="http://schemas.openxmlformats.org/drawingml/2006/main">
            <a:r>
              <a:t>          "check": "잘못된 수신자·발언자 혼동·삭제 요청·미확인 할일"</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"자문가 확인",</a:t>
            </a:r>
          </a:p>
          <a:p xmlns:a="http://schemas.openxmlformats.org/drawingml/2006/main">
            <a:r>
              <a:t>          "check": "자문가 편집·확인 후 CRM·이메일 반영"</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"CRM·이메일 기록",</a:t>
            </a:r>
          </a:p>
          <a:p xmlns:a="http://schemas.openxmlformats.org/drawingml/2006/main">
            <a:r>
              <a:t>          "check": "동의·원 발화·수정·승인·CRM 반영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"전문지식 검색과 회의 후속업무 연결 / Assistant 검색·회의 요약·후속조치",</a:t>
            </a:r>
          </a:p>
          <a:p xmlns:a="http://schemas.openxmlformats.org/drawingml/2006/main">
            <a:r>
              <a:t>        "extension": "회의 동의·요약 확인·할일 수정·업무시스템 반영의 단계별 책임 연결"</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"잘못된 수신자·발언자 혼동·삭제 요청·미확인 할일",</a:t>
            </a:r>
          </a:p>
          <a:p xmlns:a="http://schemas.openxmlformats.org/drawingml/2006/main">
            <a:r>
              <a:t>        "hold": "녹취 동의·사실·수신자·실행 확인",</a:t>
            </a:r>
          </a:p>
          <a:p xmlns:a="http://schemas.openxmlformats.org/drawingml/2006/main">
            <a:r>
              <a:t>        "recovery": "요약 사실·할일·수신자·후속조치 완료 확인",</a:t>
            </a:r>
          </a:p>
          <a:p xmlns:a="http://schemas.openxmlformats.org/drawingml/2006/main">
            <a:r>
              <a:t>        "evidence": "동의·원 발화·수정·승인·CRM 반영 이력"</a:t>
            </a:r>
          </a:p>
          <a:p xmlns:a="http://schemas.openxmlformats.org/drawingml/2006/main">
            <a:r>
              <a:t>      },</a:t>
            </a:r>
          </a:p>
          <a:p xmlns:a="http://schemas.openxmlformats.org/drawingml/2006/main">
            <a:r>
              <a:t>      "data": {</a:t>
            </a:r>
          </a:p>
          <a:p xmlns:a="http://schemas.openxmlformats.org/drawingml/2006/main">
            <a:r>
              <a:t>        "source": "회의·업무 기록",</a:t>
            </a:r>
          </a:p>
          <a:p xmlns:a="http://schemas.openxmlformats.org/drawingml/2006/main">
            <a:r>
              <a:t>        "prepare": "승인 지식·회의 기록·고객업무 문맥 연결",</a:t>
            </a:r>
          </a:p>
          <a:p xmlns:a="http://schemas.openxmlformats.org/drawingml/2006/main">
            <a:r>
              <a:t>        "output": "회의 내용",</a:t>
            </a:r>
          </a:p>
          <a:p xmlns:a="http://schemas.openxmlformats.org/drawingml/2006/main">
            <a:r>
              <a:t>        "refresh": "요약 사실·할일·수신자·후속조치 완료 확인"</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"PF08",</a:t>
            </a:r>
          </a:p>
          <a:p xmlns:a="http://schemas.openxmlformats.org/drawingml/2006/main">
            <a:r>
              <a:t>    "success": [</a:t>
            </a:r>
          </a:p>
          <a:p xmlns:a="http://schemas.openxmlformats.org/drawingml/2006/main">
            <a:r>
              <a:t>      "회의 요약과 후속 업무의 결합",</a:t>
            </a:r>
          </a:p>
          <a:p xmlns:a="http://schemas.openxmlformats.org/drawingml/2006/main">
            <a:r>
              <a:t>      "동의와 자문가 편집·확인"</a:t>
            </a:r>
          </a:p>
          <a:p xmlns:a="http://schemas.openxmlformats.org/drawingml/2006/main">
            <a:r>
              <a:t>    ],</a:t>
            </a:r>
          </a:p>
          <a:p xmlns:a="http://schemas.openxmlformats.org/drawingml/2006/main">
            <a:r>
              <a:t>    "risks": [</a:t>
            </a:r>
          </a:p>
          <a:p xmlns:a="http://schemas.openxmlformats.org/drawingml/2006/main">
            <a:r>
              <a:t>      "대화의 잘못된 요약·할일 추출",</a:t>
            </a:r>
          </a:p>
          <a:p xmlns:a="http://schemas.openxmlformats.org/drawingml/2006/main">
            <a:r>
              <a:t>      "확인 전 CRM·이메일 반영"</a:t>
            </a:r>
          </a:p>
          <a:p xmlns:a="http://schemas.openxmlformats.org/drawingml/2006/main">
            <a:r>
              <a:t>    ],</a:t>
            </a:r>
          </a:p>
          <a:p xmlns:a="http://schemas.openxmlformats.org/drawingml/2006/main">
            <a:r>
              <a:t>    "architecture": [</a:t>
            </a:r>
          </a:p>
          <a:p xmlns:a="http://schemas.openxmlformats.org/drawingml/2006/main">
            <a:r>
              <a:t>      "동의받은 회의",</a:t>
            </a:r>
          </a:p>
          <a:p xmlns:a="http://schemas.openxmlformats.org/drawingml/2006/main">
            <a:r>
              <a:t>      "Debrief 요약·후속조치",</a:t>
            </a:r>
          </a:p>
          <a:p xmlns:a="http://schemas.openxmlformats.org/drawingml/2006/main">
            <a:r>
              <a:t>      "회의·업무 기록",</a:t>
            </a:r>
          </a:p>
          <a:p xmlns:a="http://schemas.openxmlformats.org/drawingml/2006/main">
            <a:r>
              <a:t>      "자문가·CRM"</a:t>
            </a:r>
          </a:p>
          <a:p xmlns:a="http://schemas.openxmlformats.org/drawingml/2006/main">
            <a:r>
              <a:t>    ],</a:t>
            </a:r>
          </a:p>
          <a:p xmlns:a="http://schemas.openxmlformats.org/drawingml/2006/main">
            <a:r>
              <a:t>    "transfers": [</a:t>
            </a:r>
          </a:p>
          <a:p xmlns:a="http://schemas.openxmlformats.org/drawingml/2006/main">
            <a:r>
              <a:t>      "회의 내용",</a:t>
            </a:r>
          </a:p>
          <a:p xmlns:a="http://schemas.openxmlformats.org/drawingml/2006/main">
            <a:r>
              <a:t>      "요약·할일 초안",</a:t>
            </a:r>
          </a:p>
          <a:p xmlns:a="http://schemas.openxmlformats.org/drawingml/2006/main">
            <a:r>
              <a:t>      "자문가 확인",</a:t>
            </a:r>
          </a:p>
          <a:p xmlns:a="http://schemas.openxmlformats.org/drawingml/2006/main">
            <a:r>
              <a:t>      "CRM·이메일 기록"</a:t>
            </a:r>
          </a:p>
          <a:p xmlns:a="http://schemas.openxmlformats.org/drawingml/2006/main">
            <a:r>
              <a:t>    ],</a:t>
            </a:r>
          </a:p>
          <a:p xmlns:a="http://schemas.openxmlformats.org/drawingml/2006/main">
            <a:r>
              <a:t>    "control": "녹취 동의·사실·수신자·실행 확인",</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도입기업 공식 서비스 발표 https://www.morganstanley.com/press-releases/ai-at-morgan-stanley-debrief-launch</a:t>
            </a:r>
          </a:p>
          <a:p xmlns:a="http://schemas.openxmlformats.org/drawingml/2006/main">
            <a:r>
              <a:t>홈페이지 https://heen1987-ops.github.io/TS-business-Plan-001/index.html?view=platform-cases&amp;case=PF08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"PF08",</a:t>
            </a:r>
          </a:p>
          <a:p xmlns:a="http://schemas.openxmlformats.org/drawingml/2006/main">
            <a:r>
              <a:t>    "sourceId": "A17",</a:t>
            </a:r>
          </a:p>
          <a:p xmlns:a="http://schemas.openxmlformats.org/drawingml/2006/main">
            <a:r>
              <a:t>    "title": "Morgan Stanley Assistant·Debrief",</a:t>
            </a:r>
          </a:p>
          <a:p xmlns:a="http://schemas.openxmlformats.org/drawingml/2006/main">
            <a:r>
              <a:t>    "region": "해외",</a:t>
            </a:r>
          </a:p>
          <a:p xmlns:a="http://schemas.openxmlformats.org/drawingml/2006/main">
            <a:r>
              <a:t>    "owner": "Morgan Stanley",</a:t>
            </a:r>
          </a:p>
          <a:p xmlns:a="http://schemas.openxmlformats.org/drawingml/2006/main">
            <a:r>
              <a:t>    "state": "업무 도구 운영 · 기업 발표",</a:t>
            </a:r>
          </a:p>
          <a:p xmlns:a="http://schemas.openxmlformats.org/drawingml/2006/main">
            <a:r>
              <a:t>    "period": "2023 Assistant / 2024 Debrief",</a:t>
            </a:r>
          </a:p>
          <a:p xmlns:a="http://schemas.openxmlformats.org/drawingml/2006/main">
            <a:r>
              <a:t>    "fact": "사내 지식 검색과 동의받은 회의 요약·후속조치·CRM 기록의 업무 흐름 결합",</a:t>
            </a:r>
          </a:p>
          <a:p xmlns:a="http://schemas.openxmlformats.org/drawingml/2006/main">
            <a:r>
              <a:t>    "limit": "Assistant 채택률과 Debrief 시간절감의 구분 · 사용자 동의·편집 판단 포함",</a:t>
            </a:r>
          </a:p>
          <a:p xmlns:a="http://schemas.openxmlformats.org/drawingml/2006/main">
            <a:r>
              <a:t>    "nodes": [</a:t>
            </a:r>
          </a:p>
          <a:p xmlns:a="http://schemas.openxmlformats.org/drawingml/2006/main">
            <a:r>
              <a:t>      "동의받은 회의",</a:t>
            </a:r>
          </a:p>
          <a:p xmlns:a="http://schemas.openxmlformats.org/drawingml/2006/main">
            <a:r>
              <a:t>      "요약·후속조치 초안",</a:t>
            </a:r>
          </a:p>
          <a:p xmlns:a="http://schemas.openxmlformats.org/drawingml/2006/main">
            <a:r>
              <a:t>      "자문가 편집·확인",</a:t>
            </a:r>
          </a:p>
          <a:p xmlns:a="http://schemas.openxmlformats.org/drawingml/2006/main">
            <a:r>
              <a:t>      "CRM·이메일 업무"</a:t>
            </a:r>
          </a:p>
          <a:p xmlns:a="http://schemas.openxmlformats.org/drawingml/2006/main">
            <a:r>
              <a:t>    ],</a:t>
            </a:r>
          </a:p>
          <a:p xmlns:a="http://schemas.openxmlformats.org/drawingml/2006/main">
            <a:r>
              <a:t>    "apply": "회의 동의·요약 확인·할일 수정·업무시스템 반영의 단계별 책임 연결",</a:t>
            </a:r>
          </a:p>
          <a:p xmlns:a="http://schemas.openxmlformats.org/drawingml/2006/main">
            <a:r>
              <a:t>    "delta": "전결·발송 확인 / 원문 근거 / 진행상태·인사이동 인계",</a:t>
            </a:r>
          </a:p>
          <a:p xmlns:a="http://schemas.openxmlformats.org/drawingml/2006/main">
            <a:r>
              <a:t>    "test": "발송 전 확인·판본 변경 재승인·담당 변경 후 인계 대사",</a:t>
            </a:r>
          </a:p>
          <a:p xmlns:a="http://schemas.openxmlformats.org/drawingml/2006/main">
            <a:r>
              <a:t>    "url": "https://www.morganstanley.com/press-releases/ai-at-morgan-stanley-debrief-launch",</a:t>
            </a:r>
          </a:p>
          <a:p xmlns:a="http://schemas.openxmlformats.org/drawingml/2006/main">
            <a:r>
              <a:t>    "basis": "도입기업 공식 서비스 발표",</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"https://www.morganstanley.com/press-releases/ai-at-morgan-stanley-debrief-launch"</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"PF08",</a:t>
            </a:r>
          </a:p>
          <a:p xmlns:a="http://schemas.openxmlformats.org/drawingml/2006/main">
            <a:r>
              <a:t>    "canonicalId": "PF08",</a:t>
            </a:r>
          </a:p>
          <a:p xmlns:a="http://schemas.openxmlformats.org/drawingml/2006/main">
            <a:r>
              <a:t>    "purpose": "전문지식 검색과 회의 후속업무 연결",</a:t>
            </a:r>
          </a:p>
          <a:p xmlns:a="http://schemas.openxmlformats.org/drawingml/2006/main">
            <a:r>
              <a:t>    "users": "자문가·고객·CRM 담당",</a:t>
            </a:r>
          </a:p>
          <a:p xmlns:a="http://schemas.openxmlformats.org/drawingml/2006/main">
            <a:r>
              <a:t>    "scope": [</a:t>
            </a:r>
          </a:p>
          <a:p xmlns:a="http://schemas.openxmlformats.org/drawingml/2006/main">
            <a:r>
              <a:t>      "Assistant 검색",</a:t>
            </a:r>
          </a:p>
          <a:p xmlns:a="http://schemas.openxmlformats.org/drawingml/2006/main">
            <a:r>
              <a:t>      "회의 요약",</a:t>
            </a:r>
          </a:p>
          <a:p xmlns:a="http://schemas.openxmlformats.org/drawingml/2006/main">
            <a:r>
              <a:t>      "후속조치"</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"동의받은 회의",</a:t>
            </a:r>
          </a:p>
          <a:p xmlns:a="http://schemas.openxmlformats.org/drawingml/2006/main">
            <a:r>
              <a:t>        "detail": "지식 질의와 동의받은 회의 입력 분리",</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"Assistant 검색 / 회의 요약 / 후속조치",</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"Debrief 요약·후속조치",</a:t>
            </a:r>
          </a:p>
          <a:p xmlns:a="http://schemas.openxmlformats.org/drawingml/2006/main">
            <a:r>
              <a:t>        "detail": "검색 응답·회의 요약·할일 초안 생성",</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"자문가·CRM",</a:t>
            </a:r>
          </a:p>
          <a:p xmlns:a="http://schemas.openxmlformats.org/drawingml/2006/main">
            <a:r>
              <a:t>        "detail": "자문가 편집·확인 후 CRM·이메일 반영",</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"회의·업무 기록",</a:t>
            </a:r>
          </a:p>
          <a:p xmlns:a="http://schemas.openxmlformats.org/drawingml/2006/main">
            <a:r>
              <a:t>        "detail": "승인 지식·회의 기록·고객업무 문맥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"요약 사실·할일·수신자·후속조치 완료 확인",</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"동의받은 회의",</a:t>
            </a:r>
          </a:p>
          <a:p xmlns:a="http://schemas.openxmlformats.org/drawingml/2006/main">
            <a:r>
              <a:t>        "input": "지식 질의와 동의받은 회의 입력 분리",</a:t>
            </a:r>
          </a:p>
          <a:p xmlns:a="http://schemas.openxmlformats.org/drawingml/2006/main">
            <a:r>
              <a:t>        "process": "승인 지식·회의 기록·고객업무 문맥 연결",</a:t>
            </a:r>
          </a:p>
          <a:p xmlns:a="http://schemas.openxmlformats.org/drawingml/2006/main">
            <a:r>
              <a:t>        "output": "회의 내용"</a:t>
            </a:r>
          </a:p>
          <a:p xmlns:a="http://schemas.openxmlformats.org/drawingml/2006/main">
            <a:r>
              <a:t>      },</a:t>
            </a:r>
          </a:p>
          <a:p xmlns:a="http://schemas.openxmlformats.org/drawingml/2006/main">
            <a:r>
              <a:t>      {</a:t>
            </a:r>
          </a:p>
          <a:p xmlns:a="http://schemas.openxmlformats.org/drawingml/2006/main">
            <a:r>
              <a:t>        "title": "요약·후속조치 초안",</a:t>
            </a:r>
          </a:p>
          <a:p xmlns:a="http://schemas.openxmlformats.org/drawingml/2006/main">
            <a:r>
              <a:t>        "input": "회의 내용",</a:t>
            </a:r>
          </a:p>
          <a:p xmlns:a="http://schemas.openxmlformats.org/drawingml/2006/main">
            <a:r>
              <a:t>        "process": "검색 응답·회의 요약·할일 초안 생성",</a:t>
            </a:r>
          </a:p>
          <a:p xmlns:a="http://schemas.openxmlformats.org/drawingml/2006/main">
            <a:r>
              <a:t>        "output": "요약·할일 초안"</a:t>
            </a:r>
          </a:p>
          <a:p xmlns:a="http://schemas.openxmlformats.org/drawingml/2006/main">
            <a:r>
              <a:t>      },</a:t>
            </a:r>
          </a:p>
          <a:p xmlns:a="http://schemas.openxmlformats.org/drawingml/2006/main">
            <a:r>
              <a:t>      {</a:t>
            </a:r>
          </a:p>
          <a:p xmlns:a="http://schemas.openxmlformats.org/drawingml/2006/main">
            <a:r>
              <a:t>        "title": "자문가 편집·확인",</a:t>
            </a:r>
          </a:p>
          <a:p xmlns:a="http://schemas.openxmlformats.org/drawingml/2006/main">
            <a:r>
              <a:t>        "input": "요약·할일 초안",</a:t>
            </a:r>
          </a:p>
          <a:p xmlns:a="http://schemas.openxmlformats.org/drawingml/2006/main">
            <a:r>
              <a:t>        "process": "녹취 동의·사실·수신자·실행 확인",</a:t>
            </a:r>
          </a:p>
          <a:p xmlns:a="http://schemas.openxmlformats.org/drawingml/2006/main">
            <a:r>
              <a:t>        "output": "자문가 확인"</a:t>
            </a:r>
          </a:p>
          <a:p xmlns:a="http://schemas.openxmlformats.org/drawingml/2006/main">
            <a:r>
              <a:t>      },</a:t>
            </a:r>
          </a:p>
          <a:p xmlns:a="http://schemas.openxmlformats.org/drawingml/2006/main">
            <a:r>
              <a:t>      {</a:t>
            </a:r>
          </a:p>
          <a:p xmlns:a="http://schemas.openxmlformats.org/drawingml/2006/main">
            <a:r>
              <a:t>        "title": "CRM·이메일 업무",</a:t>
            </a:r>
          </a:p>
          <a:p xmlns:a="http://schemas.openxmlformats.org/drawingml/2006/main">
            <a:r>
              <a:t>        "input": "자문가 확인",</a:t>
            </a:r>
          </a:p>
          <a:p xmlns:a="http://schemas.openxmlformats.org/drawingml/2006/main">
            <a:r>
              <a:t>        "process": "자문가 편집·확인 후 CRM·이메일 반영",</a:t>
            </a:r>
          </a:p>
          <a:p xmlns:a="http://schemas.openxmlformats.org/drawingml/2006/main">
            <a:r>
              <a:t>        "output": "CRM·이메일 기록"</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"동의받은 회의에서 요약·할일을 만든 뒤 CRM 반영",</a:t>
            </a:r>
          </a:p>
          <a:p xmlns:a="http://schemas.openxmlformats.org/drawingml/2006/main">
            <a:r>
              <a:t>      "exception": "잘못된 수신자·발언자 혼동·삭제 요청·미확인 할일",</a:t>
            </a:r>
          </a:p>
          <a:p xmlns:a="http://schemas.openxmlformats.org/drawingml/2006/main">
            <a:r>
              <a:t>      "evidence": "동의·원 발화·수정·승인·CRM 반영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"자문가·고객·CRM 담당",</a:t>
            </a:r>
          </a:p>
          <a:p xmlns:a="http://schemas.openxmlformats.org/drawingml/2006/main">
            <a:r>
              <a:t>          "processing": "지식 질의와 동의받은 회의 입력 분리",</a:t>
            </a:r>
          </a:p>
          <a:p xmlns:a="http://schemas.openxmlformats.org/drawingml/2006/main">
            <a:r>
              <a:t>          "output": "회의 내용"</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"회의·업무 기록",</a:t>
            </a:r>
          </a:p>
          <a:p xmlns:a="http://schemas.openxmlformats.org/drawingml/2006/main">
            <a:r>
              <a:t>          "processing": "승인 지식·회의 기록·고객업무 문맥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"회의 내용",</a:t>
            </a:r>
          </a:p>
          <a:p xmlns:a="http://schemas.openxmlformats.org/drawingml/2006/main">
            <a:r>
              <a:t>          "processing": "검색 응답·회의 요약·할일 초안 생성",</a:t>
            </a:r>
          </a:p>
          <a:p xmlns:a="http://schemas.openxmlformats.org/drawingml/2006/main">
            <a:r>
              <a:t>          "output": "자문가 확인"</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"자문가 확인",</a:t>
            </a:r>
          </a:p>
          <a:p xmlns:a="http://schemas.openxmlformats.org/drawingml/2006/main">
            <a:r>
              <a:t>          "processing": "자문가 편집·확인 후 CRM·이메일 반영",</a:t>
            </a:r>
          </a:p>
          <a:p xmlns:a="http://schemas.openxmlformats.org/drawingml/2006/main">
            <a:r>
              <a:t>          "output": "CRM·이메일 기록"</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"요약 사실·할일·수신자·후속조치 완료 확인",</a:t>
            </a:r>
          </a:p>
          <a:p xmlns:a="http://schemas.openxmlformats.org/drawingml/2006/main">
            <a:r>
              <a:t>          "output": "동의·원 발화·수정·승인·CRM 반영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"요약 사실·할일·수신자·후속조치 완료 확인",</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"도입기업 공식 서비스 발표",</a:t>
            </a:r>
          </a:p>
          <a:p xmlns:a="http://schemas.openxmlformats.org/drawingml/2006/main">
            <a:r>
              <a:t>        "url": "https://www.morganstanley.com/press-releases/ai-at-morgan-stanley-debrief-launch"</a:t>
            </a:r>
          </a:p>
          <a:p xmlns:a="http://schemas.openxmlformats.org/drawingml/2006/main">
            <a:r>
              <a:t>      }</a:t>
            </a:r>
          </a:p>
          <a:p xmlns:a="http://schemas.openxmlformats.org/drawingml/2006/main">
            <a:r>
              <a:t>    ],</a:t>
            </a:r>
          </a:p>
          <a:p xmlns:a="http://schemas.openxmlformats.org/drawingml/2006/main">
            <a:r>
              <a:t>    "implication": "회의 동의·요약 확인·할일 수정·업무시스템 반영의 단계별 책임 연결",</a:t>
            </a:r>
          </a:p>
          <a:p xmlns:a="http://schemas.openxmlformats.org/drawingml/2006/main">
            <a:r>
              <a:t>    "local": "회의 동의·요약 확인·할일 수정·업무시스템 반영의 단계별 책임 연결",</a:t>
            </a:r>
          </a:p>
          <a:p xmlns:a="http://schemas.openxmlformats.org/drawingml/2006/main">
            <a:r>
              <a:t>    "sourceDetail": null,</a:t>
            </a:r>
          </a:p>
          <a:p xmlns:a="http://schemas.openxmlformats.org/drawingml/2006/main">
            <a:r>
              <a:t>    "narrative": [</a:t>
            </a:r>
          </a:p>
          <a:p xmlns:a="http://schemas.openxmlformats.org/drawingml/2006/main">
            <a:r>
              <a:t>      "Morgan Stanley의 지식 검색 Assistant와 회의 후속업무 Debrief 사례. 자문가가 승인된 지식을 찾는 업무와 고객 회의에서 요약·할일을 정리하는 업무를 서로 다른 입력 경로로 지원.",</a:t>
            </a:r>
          </a:p>
          <a:p xmlns:a="http://schemas.openxmlformats.org/drawingml/2006/main">
            <a:r>
              <a:t>      "지식 검색은 승인 문서의 검색·근거 응답으로, 회의 지원은 동의받은 기록의 요약·실행 항목 초안·자문가 검토·CRM 또는 후속 메시지 연결로 재구성. 검색 근거와 고객 대화 기록의 접근·보관 정책을 분리하는 설계.",</a:t>
            </a:r>
          </a:p>
          <a:p xmlns:a="http://schemas.openxmlformats.org/drawingml/2006/main">
            <a:r>
              <a:t>      "CCK의 상담·민원 후속 처리에서는 생성된 요약과 실제 등록·발송을 구분할 필요. 화자·수신자·기한·해야 할 일의 누락과 중복을 시험하고 담당자 확인 이후 업무 시스템에 반영된 결과까지 추적."</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"질문·회의 접점",</a:t>
            </a:r>
          </a:p>
          <a:p xmlns:a="http://schemas.openxmlformats.org/drawingml/2006/main">
            <a:r>
              <a:t>          "layer": "이용 접점",</a:t>
            </a:r>
          </a:p>
          <a:p xmlns:a="http://schemas.openxmlformats.org/drawingml/2006/main">
            <a:r>
              <a:t>          "detail": "자문가·고객·CRM 담당",</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"동의·고객 문맥",</a:t>
            </a:r>
          </a:p>
          <a:p xmlns:a="http://schemas.openxmlformats.org/drawingml/2006/main">
            <a:r>
              <a:t>          "layer": "업무 문맥",</a:t>
            </a:r>
          </a:p>
          <a:p xmlns:a="http://schemas.openxmlformats.org/drawingml/2006/main">
            <a:r>
              <a:t>          "detail": "지식 질의와 동의받은 회의 입력 분리",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"승인 지식 조회",</a:t>
            </a:r>
          </a:p>
          <a:p xmlns:a="http://schemas.openxmlformats.org/drawingml/2006/main">
            <a:r>
              <a:t>          "layer": "자료 조회",</a:t>
            </a:r>
          </a:p>
          <a:p xmlns:a="http://schemas.openxmlformats.org/drawingml/2006/main">
            <a:r>
              <a:t>          "detail": "회의 내용",</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"요약·할일 생성",</a:t>
            </a:r>
          </a:p>
          <a:p xmlns:a="http://schemas.openxmlformats.org/drawingml/2006/main">
            <a:r>
              <a:t>          "layer": "핵심 처리",</a:t>
            </a:r>
          </a:p>
          <a:p xmlns:a="http://schemas.openxmlformats.org/drawingml/2006/main">
            <a:r>
              <a:t>          "detail": "검색 응답·회의 요약·할일 초안 생성",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"사실·수신자 검사",</a:t>
            </a:r>
          </a:p>
          <a:p xmlns:a="http://schemas.openxmlformats.org/drawingml/2006/main">
            <a:r>
              <a:t>          "layer": "결과 검증",</a:t>
            </a:r>
          </a:p>
          <a:p xmlns:a="http://schemas.openxmlformats.org/drawingml/2006/main">
            <a:r>
              <a:t>          "detail": "녹취 동의·사실·수신자·실행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"자문가 편집·확인",</a:t>
            </a:r>
          </a:p>
          <a:p xmlns:a="http://schemas.openxmlformats.org/drawingml/2006/main">
            <a:r>
              <a:t>          "layer": "사람 확인",</a:t>
            </a:r>
          </a:p>
          <a:p xmlns:a="http://schemas.openxmlformats.org/drawingml/2006/main">
            <a:r>
              <a:t>          "detail": "동의받은 회의에서 요약·할일을 만든 뒤 CRM 반영",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"CRM·이메일 반영",</a:t>
            </a:r>
          </a:p>
          <a:p xmlns:a="http://schemas.openxmlformats.org/drawingml/2006/main">
            <a:r>
              <a:t>          "layer": "업무 연결",</a:t>
            </a:r>
          </a:p>
          <a:p xmlns:a="http://schemas.openxmlformats.org/drawingml/2006/main">
            <a:r>
              <a:t>          "detail": "자문가 편집·확인 후 CRM·이메일 반영",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"후속조치 추적",</a:t>
            </a:r>
          </a:p>
          <a:p xmlns:a="http://schemas.openxmlformats.org/drawingml/2006/main">
            <a:r>
              <a:t>          "layer": "운영 관측",</a:t>
            </a:r>
          </a:p>
          <a:p xmlns:a="http://schemas.openxmlformats.org/drawingml/2006/main">
            <a:r>
              <a:t>          "detail": "요약 사실·할일·수신자·후속조치 완료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"승인 지식·회의",</a:t>
            </a:r>
          </a:p>
          <a:p xmlns:a="http://schemas.openxmlformats.org/drawingml/2006/main">
            <a:r>
              <a:t>          "layer": "데이터 원천",</a:t>
            </a:r>
          </a:p>
          <a:p xmlns:a="http://schemas.openxmlformats.org/drawingml/2006/main">
            <a:r>
              <a:t>          "detail": "회의·업무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"참석자·발언 정합화",</a:t>
            </a:r>
          </a:p>
          <a:p xmlns:a="http://schemas.openxmlformats.org/drawingml/2006/main">
            <a:r>
              <a:t>          "layer": "준비·갱신",</a:t>
            </a:r>
          </a:p>
          <a:p xmlns:a="http://schemas.openxmlformats.org/drawingml/2006/main">
            <a:r>
              <a:t>          "detail": "승인 지식·회의 기록·고객업무 문맥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"요약·확인 기록",</a:t>
            </a:r>
          </a:p>
          <a:p xmlns:a="http://schemas.openxmlformats.org/drawingml/2006/main">
            <a:r>
              <a:t>          "layer": "상태·지식 저장",</a:t>
            </a:r>
          </a:p>
          <a:p xmlns:a="http://schemas.openxmlformats.org/drawingml/2006/main">
            <a:r>
              <a:t>          "detail": "동의·원 발화·수정·승인·CRM 반영 이력",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"녹취·전송 동의",</a:t>
            </a:r>
          </a:p>
          <a:p xmlns:a="http://schemas.openxmlformats.org/drawingml/2006/main">
            <a:r>
              <a:t>          "layer": "권한·정책",</a:t>
            </a:r>
          </a:p>
          <a:p xmlns:a="http://schemas.openxmlformats.org/drawingml/2006/main">
            <a:r>
              <a:t>          "detail": "잘못된 수신자·발언자 혼동·삭제 요청·미확인 할일",</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"지식 질의와 동의받은 회의 입력 분리",</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"회의 내용",</a:t>
            </a:r>
          </a:p>
          <a:p xmlns:a="http://schemas.openxmlformats.org/drawingml/2006/main">
            <a:r>
              <a:t>          "check": "녹취 동의·사실·수신자·실행 확인"</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"요약·할일 초안",</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"자문가 확인",</a:t>
            </a:r>
          </a:p>
          <a:p xmlns:a="http://schemas.openxmlformats.org/drawingml/2006/main">
            <a:r>
              <a:t>          "check": "잘못된 수신자·발언자 혼동·삭제 요청·미확인 할일"</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"자문가 확인",</a:t>
            </a:r>
          </a:p>
          <a:p xmlns:a="http://schemas.openxmlformats.org/drawingml/2006/main">
            <a:r>
              <a:t>          "check": "자문가 편집·확인 후 CRM·이메일 반영"</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"CRM·이메일 기록",</a:t>
            </a:r>
          </a:p>
          <a:p xmlns:a="http://schemas.openxmlformats.org/drawingml/2006/main">
            <a:r>
              <a:t>          "check": "동의·원 발화·수정·승인·CRM 반영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"전문지식 검색과 회의 후속업무 연결 / Assistant 검색·회의 요약·후속조치",</a:t>
            </a:r>
          </a:p>
          <a:p xmlns:a="http://schemas.openxmlformats.org/drawingml/2006/main">
            <a:r>
              <a:t>        "extension": "회의 동의·요약 확인·할일 수정·업무시스템 반영의 단계별 책임 연결"</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"잘못된 수신자·발언자 혼동·삭제 요청·미확인 할일",</a:t>
            </a:r>
          </a:p>
          <a:p xmlns:a="http://schemas.openxmlformats.org/drawingml/2006/main">
            <a:r>
              <a:t>        "hold": "녹취 동의·사실·수신자·실행 확인",</a:t>
            </a:r>
          </a:p>
          <a:p xmlns:a="http://schemas.openxmlformats.org/drawingml/2006/main">
            <a:r>
              <a:t>        "recovery": "요약 사실·할일·수신자·후속조치 완료 확인",</a:t>
            </a:r>
          </a:p>
          <a:p xmlns:a="http://schemas.openxmlformats.org/drawingml/2006/main">
            <a:r>
              <a:t>        "evidence": "동의·원 발화·수정·승인·CRM 반영 이력"</a:t>
            </a:r>
          </a:p>
          <a:p xmlns:a="http://schemas.openxmlformats.org/drawingml/2006/main">
            <a:r>
              <a:t>      },</a:t>
            </a:r>
          </a:p>
          <a:p xmlns:a="http://schemas.openxmlformats.org/drawingml/2006/main">
            <a:r>
              <a:t>      "data": {</a:t>
            </a:r>
          </a:p>
          <a:p xmlns:a="http://schemas.openxmlformats.org/drawingml/2006/main">
            <a:r>
              <a:t>        "source": "회의·업무 기록",</a:t>
            </a:r>
          </a:p>
          <a:p xmlns:a="http://schemas.openxmlformats.org/drawingml/2006/main">
            <a:r>
              <a:t>        "prepare": "승인 지식·회의 기록·고객업무 문맥 연결",</a:t>
            </a:r>
          </a:p>
          <a:p xmlns:a="http://schemas.openxmlformats.org/drawingml/2006/main">
            <a:r>
              <a:t>        "output": "회의 내용",</a:t>
            </a:r>
          </a:p>
          <a:p xmlns:a="http://schemas.openxmlformats.org/drawingml/2006/main">
            <a:r>
              <a:t>        "refresh": "요약 사실·할일·수신자·후속조치 완료 확인"</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"PF08",</a:t>
            </a:r>
          </a:p>
          <a:p xmlns:a="http://schemas.openxmlformats.org/drawingml/2006/main">
            <a:r>
              <a:t>    "success": [</a:t>
            </a:r>
          </a:p>
          <a:p xmlns:a="http://schemas.openxmlformats.org/drawingml/2006/main">
            <a:r>
              <a:t>      "회의 요약과 후속 업무의 결합",</a:t>
            </a:r>
          </a:p>
          <a:p xmlns:a="http://schemas.openxmlformats.org/drawingml/2006/main">
            <a:r>
              <a:t>      "동의와 자문가 편집·확인"</a:t>
            </a:r>
          </a:p>
          <a:p xmlns:a="http://schemas.openxmlformats.org/drawingml/2006/main">
            <a:r>
              <a:t>    ],</a:t>
            </a:r>
          </a:p>
          <a:p xmlns:a="http://schemas.openxmlformats.org/drawingml/2006/main">
            <a:r>
              <a:t>    "risks": [</a:t>
            </a:r>
          </a:p>
          <a:p xmlns:a="http://schemas.openxmlformats.org/drawingml/2006/main">
            <a:r>
              <a:t>      "대화의 잘못된 요약·할일 추출",</a:t>
            </a:r>
          </a:p>
          <a:p xmlns:a="http://schemas.openxmlformats.org/drawingml/2006/main">
            <a:r>
              <a:t>      "확인 전 CRM·이메일 반영"</a:t>
            </a:r>
          </a:p>
          <a:p xmlns:a="http://schemas.openxmlformats.org/drawingml/2006/main">
            <a:r>
              <a:t>    ],</a:t>
            </a:r>
          </a:p>
          <a:p xmlns:a="http://schemas.openxmlformats.org/drawingml/2006/main">
            <a:r>
              <a:t>    "architecture": [</a:t>
            </a:r>
          </a:p>
          <a:p xmlns:a="http://schemas.openxmlformats.org/drawingml/2006/main">
            <a:r>
              <a:t>      "동의받은 회의",</a:t>
            </a:r>
          </a:p>
          <a:p xmlns:a="http://schemas.openxmlformats.org/drawingml/2006/main">
            <a:r>
              <a:t>      "Debrief 요약·후속조치",</a:t>
            </a:r>
          </a:p>
          <a:p xmlns:a="http://schemas.openxmlformats.org/drawingml/2006/main">
            <a:r>
              <a:t>      "회의·업무 기록",</a:t>
            </a:r>
          </a:p>
          <a:p xmlns:a="http://schemas.openxmlformats.org/drawingml/2006/main">
            <a:r>
              <a:t>      "자문가·CRM"</a:t>
            </a:r>
          </a:p>
          <a:p xmlns:a="http://schemas.openxmlformats.org/drawingml/2006/main">
            <a:r>
              <a:t>    ],</a:t>
            </a:r>
          </a:p>
          <a:p xmlns:a="http://schemas.openxmlformats.org/drawingml/2006/main">
            <a:r>
              <a:t>    "transfers": [</a:t>
            </a:r>
          </a:p>
          <a:p xmlns:a="http://schemas.openxmlformats.org/drawingml/2006/main">
            <a:r>
              <a:t>      "회의 내용",</a:t>
            </a:r>
          </a:p>
          <a:p xmlns:a="http://schemas.openxmlformats.org/drawingml/2006/main">
            <a:r>
              <a:t>      "요약·할일 초안",</a:t>
            </a:r>
          </a:p>
          <a:p xmlns:a="http://schemas.openxmlformats.org/drawingml/2006/main">
            <a:r>
              <a:t>      "자문가 확인",</a:t>
            </a:r>
          </a:p>
          <a:p xmlns:a="http://schemas.openxmlformats.org/drawingml/2006/main">
            <a:r>
              <a:t>      "CRM·이메일 기록"</a:t>
            </a:r>
          </a:p>
          <a:p xmlns:a="http://schemas.openxmlformats.org/drawingml/2006/main">
            <a:r>
              <a:t>    ],</a:t>
            </a:r>
          </a:p>
          <a:p xmlns:a="http://schemas.openxmlformats.org/drawingml/2006/main">
            <a:r>
              <a:t>    "control": "녹취 동의·사실·수신자·실행 확인",</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도입기업 공식 서비스 발표 https://www.morganstanley.com/press-releases/ai-at-morgan-stanley-debrief-launch</a:t>
            </a:r>
          </a:p>
          <a:p xmlns:a="http://schemas.openxmlformats.org/drawingml/2006/main">
            <a:r>
              <a:t>홈페이지 https://heen1987-ops.github.io/TS-business-Plan-001/index.html?view=platform-cases&amp;case=PF08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"PF08",</a:t>
            </a:r>
          </a:p>
          <a:p xmlns:a="http://schemas.openxmlformats.org/drawingml/2006/main">
            <a:r>
              <a:t>    "sourceId": "A17",</a:t>
            </a:r>
          </a:p>
          <a:p xmlns:a="http://schemas.openxmlformats.org/drawingml/2006/main">
            <a:r>
              <a:t>    "title": "Morgan Stanley Assistant·Debrief",</a:t>
            </a:r>
          </a:p>
          <a:p xmlns:a="http://schemas.openxmlformats.org/drawingml/2006/main">
            <a:r>
              <a:t>    "region": "해외",</a:t>
            </a:r>
          </a:p>
          <a:p xmlns:a="http://schemas.openxmlformats.org/drawingml/2006/main">
            <a:r>
              <a:t>    "owner": "Morgan Stanley",</a:t>
            </a:r>
          </a:p>
          <a:p xmlns:a="http://schemas.openxmlformats.org/drawingml/2006/main">
            <a:r>
              <a:t>    "state": "업무 도구 운영 · 기업 발표",</a:t>
            </a:r>
          </a:p>
          <a:p xmlns:a="http://schemas.openxmlformats.org/drawingml/2006/main">
            <a:r>
              <a:t>    "period": "2023 Assistant / 2024 Debrief",</a:t>
            </a:r>
          </a:p>
          <a:p xmlns:a="http://schemas.openxmlformats.org/drawingml/2006/main">
            <a:r>
              <a:t>    "fact": "사내 지식 검색과 동의받은 회의 요약·후속조치·CRM 기록의 업무 흐름 결합",</a:t>
            </a:r>
          </a:p>
          <a:p xmlns:a="http://schemas.openxmlformats.org/drawingml/2006/main">
            <a:r>
              <a:t>    "limit": "Assistant 채택률과 Debrief 시간절감의 구분 · 사용자 동의·편집 판단 포함",</a:t>
            </a:r>
          </a:p>
          <a:p xmlns:a="http://schemas.openxmlformats.org/drawingml/2006/main">
            <a:r>
              <a:t>    "nodes": [</a:t>
            </a:r>
          </a:p>
          <a:p xmlns:a="http://schemas.openxmlformats.org/drawingml/2006/main">
            <a:r>
              <a:t>      "동의받은 회의",</a:t>
            </a:r>
          </a:p>
          <a:p xmlns:a="http://schemas.openxmlformats.org/drawingml/2006/main">
            <a:r>
              <a:t>      "요약·후속조치 초안",</a:t>
            </a:r>
          </a:p>
          <a:p xmlns:a="http://schemas.openxmlformats.org/drawingml/2006/main">
            <a:r>
              <a:t>      "자문가 편집·확인",</a:t>
            </a:r>
          </a:p>
          <a:p xmlns:a="http://schemas.openxmlformats.org/drawingml/2006/main">
            <a:r>
              <a:t>      "CRM·이메일 업무"</a:t>
            </a:r>
          </a:p>
          <a:p xmlns:a="http://schemas.openxmlformats.org/drawingml/2006/main">
            <a:r>
              <a:t>    ],</a:t>
            </a:r>
          </a:p>
          <a:p xmlns:a="http://schemas.openxmlformats.org/drawingml/2006/main">
            <a:r>
              <a:t>    "apply": "회의 동의·요약 확인·할일 수정·업무시스템 반영의 단계별 책임 연결",</a:t>
            </a:r>
          </a:p>
          <a:p xmlns:a="http://schemas.openxmlformats.org/drawingml/2006/main">
            <a:r>
              <a:t>    "delta": "전결·발송 확인 / 원문 근거 / 진행상태·인사이동 인계",</a:t>
            </a:r>
          </a:p>
          <a:p xmlns:a="http://schemas.openxmlformats.org/drawingml/2006/main">
            <a:r>
              <a:t>    "test": "발송 전 확인·판본 변경 재승인·담당 변경 후 인계 대사",</a:t>
            </a:r>
          </a:p>
          <a:p xmlns:a="http://schemas.openxmlformats.org/drawingml/2006/main">
            <a:r>
              <a:t>    "url": "https://www.morganstanley.com/press-releases/ai-at-morgan-stanley-debrief-launch",</a:t>
            </a:r>
          </a:p>
          <a:p xmlns:a="http://schemas.openxmlformats.org/drawingml/2006/main">
            <a:r>
              <a:t>    "basis": "도입기업 공식 서비스 발표",</a:t>
            </a:r>
          </a:p>
          <a:p xmlns:a="http://schemas.openxmlformats.org/drawingml/2006/main">
            <a:r>
              <a:t>    "checked": "2026-10-16",</a:t>
            </a:r>
          </a:p>
          <a:p xmlns:a="http://schemas.openxmlformats.org/drawingml/2006/main">
            <a:r>
              <a:t>    "diagramBasis": "공개 기능 설명 기반 서비스 흐름 재구성 · 실제 배치·비공개 인터페이스와 구분",</a:t>
            </a:r>
          </a:p>
          <a:p xmlns:a="http://schemas.openxmlformats.org/drawingml/2006/main">
            <a:r>
              <a:t>    "effect": "TS 업무 완료시간·오류·추가 구축 공수의 비교 평가",</a:t>
            </a:r>
          </a:p>
          <a:p xmlns:a="http://schemas.openxmlformats.org/drawingml/2006/main">
            <a:r>
              <a:t>    "group": "운영·실증",</a:t>
            </a:r>
          </a:p>
          <a:p xmlns:a="http://schemas.openxmlformats.org/drawingml/2006/main">
            <a:r>
              <a:t>    "urls": [</a:t>
            </a:r>
          </a:p>
          <a:p xmlns:a="http://schemas.openxmlformats.org/drawingml/2006/main">
            <a:r>
              <a:t>      "https://www.morganstanley.com/press-releases/ai-at-morgan-stanley-debrief-launch"</a:t>
            </a:r>
          </a:p>
          <a:p xmlns:a="http://schemas.openxmlformats.org/drawingml/2006/main">
            <a:r>
              <a:t>    ]</a:t>
            </a:r>
          </a:p>
          <a:p xmlns:a="http://schemas.openxmlformats.org/drawingml/2006/main">
            <a:r>
              <a:t>  },</a:t>
            </a:r>
          </a:p>
          <a:p xmlns:a="http://schemas.openxmlformats.org/drawingml/2006/main">
            <a:r>
              <a:t>  "design": {</a:t>
            </a:r>
          </a:p>
          <a:p xmlns:a="http://schemas.openxmlformats.org/drawingml/2006/main">
            <a:r>
              <a:t>    "id": "PF08",</a:t>
            </a:r>
          </a:p>
          <a:p xmlns:a="http://schemas.openxmlformats.org/drawingml/2006/main">
            <a:r>
              <a:t>    "canonicalId": "PF08",</a:t>
            </a:r>
          </a:p>
          <a:p xmlns:a="http://schemas.openxmlformats.org/drawingml/2006/main">
            <a:r>
              <a:t>    "purpose": "전문지식 검색과 회의 후속업무 연결",</a:t>
            </a:r>
          </a:p>
          <a:p xmlns:a="http://schemas.openxmlformats.org/drawingml/2006/main">
            <a:r>
              <a:t>    "users": "자문가·고객·CRM 담당",</a:t>
            </a:r>
          </a:p>
          <a:p xmlns:a="http://schemas.openxmlformats.org/drawingml/2006/main">
            <a:r>
              <a:t>    "scope": [</a:t>
            </a:r>
          </a:p>
          <a:p xmlns:a="http://schemas.openxmlformats.org/drawingml/2006/main">
            <a:r>
              <a:t>      "Assistant 검색",</a:t>
            </a:r>
          </a:p>
          <a:p xmlns:a="http://schemas.openxmlformats.org/drawingml/2006/main">
            <a:r>
              <a:t>      "회의 요약",</a:t>
            </a:r>
          </a:p>
          <a:p xmlns:a="http://schemas.openxmlformats.org/drawingml/2006/main">
            <a:r>
              <a:t>      "후속조치"</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"동의받은 회의",</a:t>
            </a:r>
          </a:p>
          <a:p xmlns:a="http://schemas.openxmlformats.org/drawingml/2006/main">
            <a:r>
              <a:t>        "detail": "지식 질의와 동의받은 회의 입력 분리",</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"Assistant 검색 / 회의 요약 / 후속조치",</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"Debrief 요약·후속조치",</a:t>
            </a:r>
          </a:p>
          <a:p xmlns:a="http://schemas.openxmlformats.org/drawingml/2006/main">
            <a:r>
              <a:t>        "detail": "검색 응답·회의 요약·할일 초안 생성",</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"자문가·CRM",</a:t>
            </a:r>
          </a:p>
          <a:p xmlns:a="http://schemas.openxmlformats.org/drawingml/2006/main">
            <a:r>
              <a:t>        "detail": "자문가 편집·확인 후 CRM·이메일 반영",</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"회의·업무 기록",</a:t>
            </a:r>
          </a:p>
          <a:p xmlns:a="http://schemas.openxmlformats.org/drawingml/2006/main">
            <a:r>
              <a:t>        "detail": "승인 지식·회의 기록·고객업무 문맥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"요약 사실·할일·수신자·후속조치 완료 확인",</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"동의받은 회의",</a:t>
            </a:r>
          </a:p>
          <a:p xmlns:a="http://schemas.openxmlformats.org/drawingml/2006/main">
            <a:r>
              <a:t>        "input": "지식 질의와 동의받은 회의 입력 분리",</a:t>
            </a:r>
          </a:p>
          <a:p xmlns:a="http://schemas.openxmlformats.org/drawingml/2006/main">
            <a:r>
              <a:t>        "process": "승인 지식·회의 기록·고객업무 문맥 연결",</a:t>
            </a:r>
          </a:p>
          <a:p xmlns:a="http://schemas.openxmlformats.org/drawingml/2006/main">
            <a:r>
              <a:t>        "output": "회의 내용"</a:t>
            </a:r>
          </a:p>
          <a:p xmlns:a="http://schemas.openxmlformats.org/drawingml/2006/main">
            <a:r>
              <a:t>      },</a:t>
            </a:r>
          </a:p>
          <a:p xmlns:a="http://schemas.openxmlformats.org/drawingml/2006/main">
            <a:r>
              <a:t>      {</a:t>
            </a:r>
          </a:p>
          <a:p xmlns:a="http://schemas.openxmlformats.org/drawingml/2006/main">
            <a:r>
              <a:t>        "title": "요약·후속조치 초안",</a:t>
            </a:r>
          </a:p>
          <a:p xmlns:a="http://schemas.openxmlformats.org/drawingml/2006/main">
            <a:r>
              <a:t>        "input": "회의 내용",</a:t>
            </a:r>
          </a:p>
          <a:p xmlns:a="http://schemas.openxmlformats.org/drawingml/2006/main">
            <a:r>
              <a:t>        "process": "검색 응답·회의 요약·할일 초안 생성",</a:t>
            </a:r>
          </a:p>
          <a:p xmlns:a="http://schemas.openxmlformats.org/drawingml/2006/main">
            <a:r>
              <a:t>        "output": "요약·할일 초안"</a:t>
            </a:r>
          </a:p>
          <a:p xmlns:a="http://schemas.openxmlformats.org/drawingml/2006/main">
            <a:r>
              <a:t>      },</a:t>
            </a:r>
          </a:p>
          <a:p xmlns:a="http://schemas.openxmlformats.org/drawingml/2006/main">
            <a:r>
              <a:t>      {</a:t>
            </a:r>
          </a:p>
          <a:p xmlns:a="http://schemas.openxmlformats.org/drawingml/2006/main">
            <a:r>
              <a:t>        "title": "자문가 편집·확인",</a:t>
            </a:r>
          </a:p>
          <a:p xmlns:a="http://schemas.openxmlformats.org/drawingml/2006/main">
            <a:r>
              <a:t>        "input": "요약·할일 초안",</a:t>
            </a:r>
          </a:p>
          <a:p xmlns:a="http://schemas.openxmlformats.org/drawingml/2006/main">
            <a:r>
              <a:t>        "process": "녹취 동의·사실·수신자·실행 확인",</a:t>
            </a:r>
          </a:p>
          <a:p xmlns:a="http://schemas.openxmlformats.org/drawingml/2006/main">
            <a:r>
              <a:t>        "output": "자문가 확인"</a:t>
            </a:r>
          </a:p>
          <a:p xmlns:a="http://schemas.openxmlformats.org/drawingml/2006/main">
            <a:r>
              <a:t>      },</a:t>
            </a:r>
          </a:p>
          <a:p xmlns:a="http://schemas.openxmlformats.org/drawingml/2006/main">
            <a:r>
              <a:t>      {</a:t>
            </a:r>
          </a:p>
          <a:p xmlns:a="http://schemas.openxmlformats.org/drawingml/2006/main">
            <a:r>
              <a:t>        "title": "CRM·이메일 업무",</a:t>
            </a:r>
          </a:p>
          <a:p xmlns:a="http://schemas.openxmlformats.org/drawingml/2006/main">
            <a:r>
              <a:t>        "input": "자문가 확인",</a:t>
            </a:r>
          </a:p>
          <a:p xmlns:a="http://schemas.openxmlformats.org/drawingml/2006/main">
            <a:r>
              <a:t>        "process": "자문가 편집·확인 후 CRM·이메일 반영",</a:t>
            </a:r>
          </a:p>
          <a:p xmlns:a="http://schemas.openxmlformats.org/drawingml/2006/main">
            <a:r>
              <a:t>        "output": "CRM·이메일 기록"</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"동의받은 회의에서 요약·할일을 만든 뒤 CRM 반영",</a:t>
            </a:r>
          </a:p>
          <a:p xmlns:a="http://schemas.openxmlformats.org/drawingml/2006/main">
            <a:r>
              <a:t>      "exception": "잘못된 수신자·발언자 혼동·삭제 요청·미확인 할일",</a:t>
            </a:r>
          </a:p>
          <a:p xmlns:a="http://schemas.openxmlformats.org/drawingml/2006/main">
            <a:r>
              <a:t>      "evidence": "동의·원 발화·수정·승인·CRM 반영 이력",</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"자문가·고객·CRM 담당",</a:t>
            </a:r>
          </a:p>
          <a:p xmlns:a="http://schemas.openxmlformats.org/drawingml/2006/main">
            <a:r>
              <a:t>          "processing": "지식 질의와 동의받은 회의 입력 분리",</a:t>
            </a:r>
          </a:p>
          <a:p xmlns:a="http://schemas.openxmlformats.org/drawingml/2006/main">
            <a:r>
              <a:t>          "output": "회의 내용"</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"회의·업무 기록",</a:t>
            </a:r>
          </a:p>
          <a:p xmlns:a="http://schemas.openxmlformats.org/drawingml/2006/main">
            <a:r>
              <a:t>          "processing": "승인 지식·회의 기록·고객업무 문맥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"회의 내용",</a:t>
            </a:r>
          </a:p>
          <a:p xmlns:a="http://schemas.openxmlformats.org/drawingml/2006/main">
            <a:r>
              <a:t>          "processing": "검색 응답·회의 요약·할일 초안 생성",</a:t>
            </a:r>
          </a:p>
          <a:p xmlns:a="http://schemas.openxmlformats.org/drawingml/2006/main">
            <a:r>
              <a:t>          "output": "자문가 확인"</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"자문가 확인",</a:t>
            </a:r>
          </a:p>
          <a:p xmlns:a="http://schemas.openxmlformats.org/drawingml/2006/main">
            <a:r>
              <a:t>          "processing": "자문가 편집·확인 후 CRM·이메일 반영",</a:t>
            </a:r>
          </a:p>
          <a:p xmlns:a="http://schemas.openxmlformats.org/drawingml/2006/main">
            <a:r>
              <a:t>          "output": "CRM·이메일 기록"</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"요약 사실·할일·수신자·후속조치 완료 확인",</a:t>
            </a:r>
          </a:p>
          <a:p xmlns:a="http://schemas.openxmlformats.org/drawingml/2006/main">
            <a:r>
              <a:t>          "output": "동의·원 발화·수정·승인·CRM 반영 이력"</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"요약 사실·할일·수신자·후속조치 완료 확인",</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"도입기업 공식 서비스 발표",</a:t>
            </a:r>
          </a:p>
          <a:p xmlns:a="http://schemas.openxmlformats.org/drawingml/2006/main">
            <a:r>
              <a:t>        "url": "https://www.morganstanley.com/press-releases/ai-at-morgan-stanley-debrief-launch"</a:t>
            </a:r>
          </a:p>
          <a:p xmlns:a="http://schemas.openxmlformats.org/drawingml/2006/main">
            <a:r>
              <a:t>      }</a:t>
            </a:r>
          </a:p>
          <a:p xmlns:a="http://schemas.openxmlformats.org/drawingml/2006/main">
            <a:r>
              <a:t>    ],</a:t>
            </a:r>
          </a:p>
          <a:p xmlns:a="http://schemas.openxmlformats.org/drawingml/2006/main">
            <a:r>
              <a:t>    "implication": "회의 동의·요약 확인·할일 수정·업무시스템 반영의 단계별 책임 연결",</a:t>
            </a:r>
          </a:p>
          <a:p xmlns:a="http://schemas.openxmlformats.org/drawingml/2006/main">
            <a:r>
              <a:t>    "local": "회의 동의·요약 확인·할일 수정·업무시스템 반영의 단계별 책임 연결",</a:t>
            </a:r>
          </a:p>
          <a:p xmlns:a="http://schemas.openxmlformats.org/drawingml/2006/main">
            <a:r>
              <a:t>    "sourceDetail": null,</a:t>
            </a:r>
          </a:p>
          <a:p xmlns:a="http://schemas.openxmlformats.org/drawingml/2006/main">
            <a:r>
              <a:t>    "narrative": [</a:t>
            </a:r>
          </a:p>
          <a:p xmlns:a="http://schemas.openxmlformats.org/drawingml/2006/main">
            <a:r>
              <a:t>      "Morgan Stanley의 지식 검색 Assistant와 회의 후속업무 Debrief 사례. 자문가가 승인된 지식을 찾는 업무와 고객 회의에서 요약·할일을 정리하는 업무를 서로 다른 입력 경로로 지원.",</a:t>
            </a:r>
          </a:p>
          <a:p xmlns:a="http://schemas.openxmlformats.org/drawingml/2006/main">
            <a:r>
              <a:t>      "지식 검색은 승인 문서의 검색·근거 응답으로, 회의 지원은 동의받은 기록의 요약·실행 항목 초안·자문가 검토·CRM 또는 후속 메시지 연결로 재구성. 검색 근거와 고객 대화 기록의 접근·보관 정책을 분리하는 설계.",</a:t>
            </a:r>
          </a:p>
          <a:p xmlns:a="http://schemas.openxmlformats.org/drawingml/2006/main">
            <a:r>
              <a:t>      "CCK의 상담·민원 후속 처리에서는 생성된 요약과 실제 등록·발송을 구분할 필요. 화자·수신자·기한·해야 할 일의 누락과 중복을 시험하고 담당자 확인 이후 업무 시스템에 반영된 결과까지 추적."</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"질문·회의 접점",</a:t>
            </a:r>
          </a:p>
          <a:p xmlns:a="http://schemas.openxmlformats.org/drawingml/2006/main">
            <a:r>
              <a:t>          "layer": "이용 접점",</a:t>
            </a:r>
          </a:p>
          <a:p xmlns:a="http://schemas.openxmlformats.org/drawingml/2006/main">
            <a:r>
              <a:t>          "detail": "자문가·고객·CRM 담당",</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"동의·고객 문맥",</a:t>
            </a:r>
          </a:p>
          <a:p xmlns:a="http://schemas.openxmlformats.org/drawingml/2006/main">
            <a:r>
              <a:t>          "layer": "업무 문맥",</a:t>
            </a:r>
          </a:p>
          <a:p xmlns:a="http://schemas.openxmlformats.org/drawingml/2006/main">
            <a:r>
              <a:t>          "detail": "지식 질의와 동의받은 회의 입력 분리",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"승인 지식 조회",</a:t>
            </a:r>
          </a:p>
          <a:p xmlns:a="http://schemas.openxmlformats.org/drawingml/2006/main">
            <a:r>
              <a:t>          "layer": "자료 조회",</a:t>
            </a:r>
          </a:p>
          <a:p xmlns:a="http://schemas.openxmlformats.org/drawingml/2006/main">
            <a:r>
              <a:t>          "detail": "회의 내용",</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"요약·할일 생성",</a:t>
            </a:r>
          </a:p>
          <a:p xmlns:a="http://schemas.openxmlformats.org/drawingml/2006/main">
            <a:r>
              <a:t>          "layer": "핵심 처리",</a:t>
            </a:r>
          </a:p>
          <a:p xmlns:a="http://schemas.openxmlformats.org/drawingml/2006/main">
            <a:r>
              <a:t>          "detail": "검색 응답·회의 요약·할일 초안 생성",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"사실·수신자 검사",</a:t>
            </a:r>
          </a:p>
          <a:p xmlns:a="http://schemas.openxmlformats.org/drawingml/2006/main">
            <a:r>
              <a:t>          "layer": "결과 검증",</a:t>
            </a:r>
          </a:p>
          <a:p xmlns:a="http://schemas.openxmlformats.org/drawingml/2006/main">
            <a:r>
              <a:t>          "detail": "녹취 동의·사실·수신자·실행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"자문가 편집·확인",</a:t>
            </a:r>
          </a:p>
          <a:p xmlns:a="http://schemas.openxmlformats.org/drawingml/2006/main">
            <a:r>
              <a:t>          "layer": "사람 확인",</a:t>
            </a:r>
          </a:p>
          <a:p xmlns:a="http://schemas.openxmlformats.org/drawingml/2006/main">
            <a:r>
              <a:t>          "detail": "동의받은 회의에서 요약·할일을 만든 뒤 CRM 반영",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"CRM·이메일 반영",</a:t>
            </a:r>
          </a:p>
          <a:p xmlns:a="http://schemas.openxmlformats.org/drawingml/2006/main">
            <a:r>
              <a:t>          "layer": "업무 연결",</a:t>
            </a:r>
          </a:p>
          <a:p xmlns:a="http://schemas.openxmlformats.org/drawingml/2006/main">
            <a:r>
              <a:t>          "detail": "자문가 편집·확인 후 CRM·이메일 반영",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"후속조치 추적",</a:t>
            </a:r>
          </a:p>
          <a:p xmlns:a="http://schemas.openxmlformats.org/drawingml/2006/main">
            <a:r>
              <a:t>          "layer": "운영 관측",</a:t>
            </a:r>
          </a:p>
          <a:p xmlns:a="http://schemas.openxmlformats.org/drawingml/2006/main">
            <a:r>
              <a:t>          "detail": "요약 사실·할일·수신자·후속조치 완료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"승인 지식·회의",</a:t>
            </a:r>
          </a:p>
          <a:p xmlns:a="http://schemas.openxmlformats.org/drawingml/2006/main">
            <a:r>
              <a:t>          "layer": "데이터 원천",</a:t>
            </a:r>
          </a:p>
          <a:p xmlns:a="http://schemas.openxmlformats.org/drawingml/2006/main">
            <a:r>
              <a:t>          "detail": "회의·업무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"참석자·발언 정합화",</a:t>
            </a:r>
          </a:p>
          <a:p xmlns:a="http://schemas.openxmlformats.org/drawingml/2006/main">
            <a:r>
              <a:t>          "layer": "준비·갱신",</a:t>
            </a:r>
          </a:p>
          <a:p xmlns:a="http://schemas.openxmlformats.org/drawingml/2006/main">
            <a:r>
              <a:t>          "detail": "승인 지식·회의 기록·고객업무 문맥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"요약·확인 기록",</a:t>
            </a:r>
          </a:p>
          <a:p xmlns:a="http://schemas.openxmlformats.org/drawingml/2006/main">
            <a:r>
              <a:t>          "layer": "상태·지식 저장",</a:t>
            </a:r>
          </a:p>
          <a:p xmlns:a="http://schemas.openxmlformats.org/drawingml/2006/main">
            <a:r>
              <a:t>          "detail": "동의·원 발화·수정·승인·CRM 반영 이력",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"녹취·전송 동의",</a:t>
            </a:r>
          </a:p>
          <a:p xmlns:a="http://schemas.openxmlformats.org/drawingml/2006/main">
            <a:r>
              <a:t>          "layer": "권한·정책",</a:t>
            </a:r>
          </a:p>
          <a:p xmlns:a="http://schemas.openxmlformats.org/drawingml/2006/main">
            <a:r>
              <a:t>          "detail": "잘못된 수신자·발언자 혼동·삭제 요청·미확인 할일",</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"지식 질의와 동의받은 회의 입력 분리",</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"회의 내용",</a:t>
            </a:r>
          </a:p>
          <a:p xmlns:a="http://schemas.openxmlformats.org/drawingml/2006/main">
            <a:r>
              <a:t>          "check": "녹취 동의·사실·수신자·실행 확인"</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"요약·할일 초안",</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"자문가 확인",</a:t>
            </a:r>
          </a:p>
          <a:p xmlns:a="http://schemas.openxmlformats.org/drawingml/2006/main">
            <a:r>
              <a:t>          "check": "잘못된 수신자·발언자 혼동·삭제 요청·미확인 할일"</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"자문가 확인",</a:t>
            </a:r>
          </a:p>
          <a:p xmlns:a="http://schemas.openxmlformats.org/drawingml/2006/main">
            <a:r>
              <a:t>          "check": "자문가 편집·확인 후 CRM·이메일 반영"</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"CRM·이메일 기록",</a:t>
            </a:r>
          </a:p>
          <a:p xmlns:a="http://schemas.openxmlformats.org/drawingml/2006/main">
            <a:r>
              <a:t>          "check": "동의·원 발화·수정·승인·CRM 반영 이력"</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"전문지식 검색과 회의 후속업무 연결 / Assistant 검색·회의 요약·후속조치",</a:t>
            </a:r>
          </a:p>
          <a:p xmlns:a="http://schemas.openxmlformats.org/drawingml/2006/main">
            <a:r>
              <a:t>        "extension": "회의 동의·요약 확인·할일 수정·업무시스템 반영의 단계별 책임 연결"</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"잘못된 수신자·발언자 혼동·삭제 요청·미확인 할일",</a:t>
            </a:r>
          </a:p>
          <a:p xmlns:a="http://schemas.openxmlformats.org/drawingml/2006/main">
            <a:r>
              <a:t>        "hold": "녹취 동의·사실·수신자·실행 확인",</a:t>
            </a:r>
          </a:p>
          <a:p xmlns:a="http://schemas.openxmlformats.org/drawingml/2006/main">
            <a:r>
              <a:t>        "recovery": "요약 사실·할일·수신자·후속조치 완료 확인",</a:t>
            </a:r>
          </a:p>
          <a:p xmlns:a="http://schemas.openxmlformats.org/drawingml/2006/main">
            <a:r>
              <a:t>        "evidence": "동의·원 발화·수정·승인·CRM 반영 이력"</a:t>
            </a:r>
          </a:p>
          <a:p xmlns:a="http://schemas.openxmlformats.org/drawingml/2006/main">
            <a:r>
              <a:t>      },</a:t>
            </a:r>
          </a:p>
          <a:p xmlns:a="http://schemas.openxmlformats.org/drawingml/2006/main">
            <a:r>
              <a:t>      "data": {</a:t>
            </a:r>
          </a:p>
          <a:p xmlns:a="http://schemas.openxmlformats.org/drawingml/2006/main">
            <a:r>
              <a:t>        "source": "회의·업무 기록",</a:t>
            </a:r>
          </a:p>
          <a:p xmlns:a="http://schemas.openxmlformats.org/drawingml/2006/main">
            <a:r>
              <a:t>        "prepare": "승인 지식·회의 기록·고객업무 문맥 연결",</a:t>
            </a:r>
          </a:p>
          <a:p xmlns:a="http://schemas.openxmlformats.org/drawingml/2006/main">
            <a:r>
              <a:t>        "output": "회의 내용",</a:t>
            </a:r>
          </a:p>
          <a:p xmlns:a="http://schemas.openxmlformats.org/drawingml/2006/main">
            <a:r>
              <a:t>        "refresh": "요약 사실·할일·수신자·후속조치 완료 확인"</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"PF08",</a:t>
            </a:r>
          </a:p>
          <a:p xmlns:a="http://schemas.openxmlformats.org/drawingml/2006/main">
            <a:r>
              <a:t>    "success": [</a:t>
            </a:r>
          </a:p>
          <a:p xmlns:a="http://schemas.openxmlformats.org/drawingml/2006/main">
            <a:r>
              <a:t>      "회의 요약과 후속 업무의 결합",</a:t>
            </a:r>
          </a:p>
          <a:p xmlns:a="http://schemas.openxmlformats.org/drawingml/2006/main">
            <a:r>
              <a:t>      "동의와 자문가 편집·확인"</a:t>
            </a:r>
          </a:p>
          <a:p xmlns:a="http://schemas.openxmlformats.org/drawingml/2006/main">
            <a:r>
              <a:t>    ],</a:t>
            </a:r>
          </a:p>
          <a:p xmlns:a="http://schemas.openxmlformats.org/drawingml/2006/main">
            <a:r>
              <a:t>    "risks": [</a:t>
            </a:r>
          </a:p>
          <a:p xmlns:a="http://schemas.openxmlformats.org/drawingml/2006/main">
            <a:r>
              <a:t>      "대화의 잘못된 요약·할일 추출",</a:t>
            </a:r>
          </a:p>
          <a:p xmlns:a="http://schemas.openxmlformats.org/drawingml/2006/main">
            <a:r>
              <a:t>      "확인 전 CRM·이메일 반영"</a:t>
            </a:r>
          </a:p>
          <a:p xmlns:a="http://schemas.openxmlformats.org/drawingml/2006/main">
            <a:r>
              <a:t>    ],</a:t>
            </a:r>
          </a:p>
          <a:p xmlns:a="http://schemas.openxmlformats.org/drawingml/2006/main">
            <a:r>
              <a:t>    "architecture": [</a:t>
            </a:r>
          </a:p>
          <a:p xmlns:a="http://schemas.openxmlformats.org/drawingml/2006/main">
            <a:r>
              <a:t>      "동의받은 회의",</a:t>
            </a:r>
          </a:p>
          <a:p xmlns:a="http://schemas.openxmlformats.org/drawingml/2006/main">
            <a:r>
              <a:t>      "Debrief 요약·후속조치",</a:t>
            </a:r>
          </a:p>
          <a:p xmlns:a="http://schemas.openxmlformats.org/drawingml/2006/main">
            <a:r>
              <a:t>      "회의·업무 기록",</a:t>
            </a:r>
          </a:p>
          <a:p xmlns:a="http://schemas.openxmlformats.org/drawingml/2006/main">
            <a:r>
              <a:t>      "자문가·CRM"</a:t>
            </a:r>
          </a:p>
          <a:p xmlns:a="http://schemas.openxmlformats.org/drawingml/2006/main">
            <a:r>
              <a:t>    ],</a:t>
            </a:r>
          </a:p>
          <a:p xmlns:a="http://schemas.openxmlformats.org/drawingml/2006/main">
            <a:r>
              <a:t>    "transfers": [</a:t>
            </a:r>
          </a:p>
          <a:p xmlns:a="http://schemas.openxmlformats.org/drawingml/2006/main">
            <a:r>
              <a:t>      "회의 내용",</a:t>
            </a:r>
          </a:p>
          <a:p xmlns:a="http://schemas.openxmlformats.org/drawingml/2006/main">
            <a:r>
              <a:t>      "요약·할일 초안",</a:t>
            </a:r>
          </a:p>
          <a:p xmlns:a="http://schemas.openxmlformats.org/drawingml/2006/main">
            <a:r>
              <a:t>      "자문가 확인",</a:t>
            </a:r>
          </a:p>
          <a:p xmlns:a="http://schemas.openxmlformats.org/drawingml/2006/main">
            <a:r>
              <a:t>      "CRM·이메일 기록"</a:t>
            </a:r>
          </a:p>
          <a:p xmlns:a="http://schemas.openxmlformats.org/drawingml/2006/main">
            <a:r>
              <a:t>    ],</a:t>
            </a:r>
          </a:p>
          <a:p xmlns:a="http://schemas.openxmlformats.org/drawingml/2006/main">
            <a:r>
              <a:t>    "control": "녹취 동의·사실·수신자·실행 확인",</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도입기업 공식 서비스 발표 https://www.morganstanley.com/press-releases/ai-at-morgan-stanley-debrief-launch</a:t>
            </a:r>
          </a:p>
          <a:p xmlns:a="http://schemas.openxmlformats.org/drawingml/2006/main">
            <a:r>
              <a:t>홈페이지 https://heen1987-ops.github.io/TS-business-Plan-001/index.html?view=platform-cases&amp;case=PF08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"PF-A18",</a:t>
            </a:r>
          </a:p>
          <a:p xmlns:a="http://schemas.openxmlformats.org/drawingml/2006/main">
            <a:r>
              <a:t>    "sourceId": "A18",</a:t>
            </a:r>
          </a:p>
          <a:p xmlns:a="http://schemas.openxmlformats.org/drawingml/2006/main">
            <a:r>
              <a:t>    "title": "JPMorganChase LLM Suite",</a:t>
            </a:r>
          </a:p>
          <a:p xmlns:a="http://schemas.openxmlformats.org/drawingml/2006/main">
            <a:r>
              <a:t>    "region": "해외",</a:t>
            </a:r>
          </a:p>
          <a:p xmlns:a="http://schemas.openxmlformats.org/drawingml/2006/main">
            <a:r>
              <a:t>    "owner": "JPMorganChase / LLM Suite",</a:t>
            </a:r>
          </a:p>
          <a:p xmlns:a="http://schemas.openxmlformats.org/drawingml/2006/main">
            <a:r>
              <a:t>    "state": "2024 출시, 2025 전사 확산·2025연차보고",</a:t>
            </a:r>
          </a:p>
          <a:p xmlns:a="http://schemas.openxmlformats.org/drawingml/2006/main">
            <a:r>
              <a:t>    "period": "기존 원장 확인 2026.10.16",</a:t>
            </a:r>
          </a:p>
          <a:p xmlns:a="http://schemas.openxmlformats.org/drawingml/2006/main">
            <a:r>
              <a:t>    "fact": "전사 공통 생성형 AI 플랫폼",</a:t>
            </a:r>
          </a:p>
          <a:p xmlns:a="http://schemas.openxmlformats.org/drawingml/2006/main">
            <a:r>
              <a:t>    "limit": "접근 가능과 활성이용 분모 다름. 거래심사 효율은 별도 AI 사례이며 LLM Suite 성과로 귀속 금지",</a:t>
            </a:r>
          </a:p>
          <a:p xmlns:a="http://schemas.openxmlformats.org/drawingml/2006/main">
            <a:r>
              <a:t>    "nodes": [</a:t>
            </a:r>
          </a:p>
          <a:p xmlns:a="http://schemas.openxmlformats.org/drawingml/2006/main">
            <a:r>
              <a:t>      "공통 데이터",</a:t>
            </a:r>
          </a:p>
          <a:p xmlns:a="http://schemas.openxmlformats.org/drawingml/2006/main">
            <a:r>
              <a:t>      "LLM Suite",</a:t>
            </a:r>
          </a:p>
          <a:p xmlns:a="http://schemas.openxmlformats.org/drawingml/2006/main">
            <a:r>
              <a:t>      "사업부 업무",</a:t>
            </a:r>
          </a:p>
          <a:p xmlns:a="http://schemas.openxmlformats.org/drawingml/2006/main">
            <a:r>
              <a:t>      "이용·운영 관리"</a:t>
            </a:r>
          </a:p>
          <a:p xmlns:a="http://schemas.openxmlformats.org/drawingml/2006/main">
            <a:r>
              <a:t>    ],</a:t>
            </a:r>
          </a:p>
          <a:p xmlns:a="http://schemas.openxmlformats.org/drawingml/2006/main">
            <a:r>
              <a:t>    "apply": "사업부별 데이터 접근과 전체 업무 절차를 기준으로 공통 AI의 적용 범위 확대",</a:t>
            </a:r>
          </a:p>
          <a:p xmlns:a="http://schemas.openxmlformats.org/drawingml/2006/main">
            <a:r>
              <a:t>    "delta": "기관 설정·회귀 평가·두 번째 부서 적용",</a:t>
            </a:r>
          </a:p>
          <a:p xmlns:a="http://schemas.openxmlformats.org/drawingml/2006/main">
            <a:r>
              <a:t>    "test": "도입기간·유지비·교육 부담의 기준선·비교 평가",</a:t>
            </a:r>
          </a:p>
          <a:p xmlns:a="http://schemas.openxmlformats.org/drawingml/2006/main">
            <a:r>
              <a:t>    "url": "https://www.jpmorganchase.com/about/technology/blog/innovation-week25",</a:t>
            </a:r>
          </a:p>
          <a:p xmlns:a="http://schemas.openxmlformats.org/drawingml/2006/main">
            <a:r>
              <a:t>    "urls": [</a:t>
            </a:r>
          </a:p>
          <a:p xmlns:a="http://schemas.openxmlformats.org/drawingml/2006/main">
            <a:r>
              <a:t>      "https://www.jpmorganchase.com/about/technology/blog/innovation-week25",</a:t>
            </a:r>
          </a:p>
          <a:p xmlns:a="http://schemas.openxmlformats.org/drawingml/2006/main">
            <a:r>
              <a:t>      "https://www.jpmorganchase.com/ir/annual-report/2025/ar-ceo-letter-petno-rohrbaugh"</a:t>
            </a:r>
          </a:p>
          <a:p xmlns:a="http://schemas.openxmlformats.org/drawingml/2006/main">
            <a:r>
              <a:t>    ],</a:t>
            </a:r>
          </a:p>
          <a:p xmlns:a="http://schemas.openxmlformats.org/drawingml/2006/main">
            <a:r>
              <a:t>    "basis": "P121~123·139 / 공통접근과 사업부 실행 분리",</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"도입기간·유지비·교육 부담",</a:t>
            </a:r>
          </a:p>
          <a:p xmlns:a="http://schemas.openxmlformats.org/drawingml/2006/main">
            <a:r>
              <a:t>    "group": "운영·실증",</a:t>
            </a:r>
          </a:p>
          <a:p xmlns:a="http://schemas.openxmlformats.org/drawingml/2006/main">
            <a:r>
              <a:t>    "sourceDetail": "자체 공통 도구 LLM Suite, 현대화된 데이터/클라우드 기반, 사업별 AI 적용\n공통 데이터 기반 위에 각 사업부 E2E 업무에 맞춘 전략",</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"PF-A18",</a:t>
            </a:r>
          </a:p>
          <a:p xmlns:a="http://schemas.openxmlformats.org/drawingml/2006/main">
            <a:r>
              <a:t>    "canonicalId": "PF-A18",</a:t>
            </a:r>
          </a:p>
          <a:p xmlns:a="http://schemas.openxmlformats.org/drawingml/2006/main">
            <a:r>
              <a:t>    "purpose": "공통 LLM 도구와 사업부 업무 확장",</a:t>
            </a:r>
          </a:p>
          <a:p xmlns:a="http://schemas.openxmlformats.org/drawingml/2006/main">
            <a:r>
              <a:t>    "users": "사업부 직원·AI·데이터 운영자",</a:t>
            </a:r>
          </a:p>
          <a:p xmlns:a="http://schemas.openxmlformats.org/drawingml/2006/main">
            <a:r>
              <a:t>    "scope": [</a:t>
            </a:r>
          </a:p>
          <a:p xmlns:a="http://schemas.openxmlformats.org/drawingml/2006/main">
            <a:r>
              <a:t>      "LLM Suite",</a:t>
            </a:r>
          </a:p>
          <a:p xmlns:a="http://schemas.openxmlformats.org/drawingml/2006/main">
            <a:r>
              <a:t>      "업무 문맥",</a:t>
            </a:r>
          </a:p>
          <a:p xmlns:a="http://schemas.openxmlformats.org/drawingml/2006/main">
            <a:r>
              <a:t>      "사업부 확산"</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"사업부 직원",</a:t>
            </a:r>
          </a:p>
          <a:p xmlns:a="http://schemas.openxmlformats.org/drawingml/2006/main">
            <a:r>
              <a:t>        "detail": "사업부·직무·자료 접근조건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"LLM Suite / 업무 문맥 / 사업부 확산",</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"LLM Suite",</a:t>
            </a:r>
          </a:p>
          <a:p xmlns:a="http://schemas.openxmlformats.org/drawingml/2006/main">
            <a:r>
              <a:t>        "detail": "공통 AI 서비스와 사업별 활용 절차 연결",</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"사업부 검토자",</a:t>
            </a:r>
          </a:p>
          <a:p xmlns:a="http://schemas.openxmlformats.org/drawingml/2006/main">
            <a:r>
              <a:t>        "detail": "직원 검토를 거친 업무 결과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"공통 데이터·업무 문맥",</a:t>
            </a:r>
          </a:p>
          <a:p xmlns:a="http://schemas.openxmlformats.org/drawingml/2006/main">
            <a:r>
              <a:t>        "detail": "전사 데이터 기반과 업무 문맥의 접근 통제",</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"사업부별 이용·정답·위험·운영 비용 평가",</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"공통 데이터",</a:t>
            </a:r>
          </a:p>
          <a:p xmlns:a="http://schemas.openxmlformats.org/drawingml/2006/main">
            <a:r>
              <a:t>        "input": "사업부·직무·자료 접근조건 구성",</a:t>
            </a:r>
          </a:p>
          <a:p xmlns:a="http://schemas.openxmlformats.org/drawingml/2006/main">
            <a:r>
              <a:t>        "process": "전사 데이터 기반과 업무 문맥의 접근 통제",</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"title": "LLM Suite",</a:t>
            </a:r>
          </a:p>
          <a:p xmlns:a="http://schemas.openxmlformats.org/drawingml/2006/main">
            <a:r>
              <a:t>        "input": "업무 요청",</a:t>
            </a:r>
          </a:p>
          <a:p xmlns:a="http://schemas.openxmlformats.org/drawingml/2006/main">
            <a:r>
              <a:t>        "process": "공통 AI 서비스와 사업별 활용 절차 연결",</a:t>
            </a:r>
          </a:p>
          <a:p xmlns:a="http://schemas.openxmlformats.org/drawingml/2006/main">
            <a:r>
              <a:t>        "output": "허용 문맥"</a:t>
            </a:r>
          </a:p>
          <a:p xmlns:a="http://schemas.openxmlformats.org/drawingml/2006/main">
            <a:r>
              <a:t>      },</a:t>
            </a:r>
          </a:p>
          <a:p xmlns:a="http://schemas.openxmlformats.org/drawingml/2006/main">
            <a:r>
              <a:t>      {</a:t>
            </a:r>
          </a:p>
          <a:p xmlns:a="http://schemas.openxmlformats.org/drawingml/2006/main">
            <a:r>
              <a:t>        "title": "사업부 업무",</a:t>
            </a:r>
          </a:p>
          <a:p xmlns:a="http://schemas.openxmlformats.org/drawingml/2006/main">
            <a:r>
              <a:t>        "input": "허용 문맥",</a:t>
            </a:r>
          </a:p>
          <a:p xmlns:a="http://schemas.openxmlformats.org/drawingml/2006/main">
            <a:r>
              <a:t>        "process": "사업부별 정답·권한·비용 평가",</a:t>
            </a:r>
          </a:p>
          <a:p xmlns:a="http://schemas.openxmlformats.org/drawingml/2006/main">
            <a:r>
              <a:t>        "output": "AI 결과"</a:t>
            </a:r>
          </a:p>
          <a:p xmlns:a="http://schemas.openxmlformats.org/drawingml/2006/main">
            <a:r>
              <a:t>      },</a:t>
            </a:r>
          </a:p>
          <a:p xmlns:a="http://schemas.openxmlformats.org/drawingml/2006/main">
            <a:r>
              <a:t>      {</a:t>
            </a:r>
          </a:p>
          <a:p xmlns:a="http://schemas.openxmlformats.org/drawingml/2006/main">
            <a:r>
              <a:t>        "title": "이용·운영 관리",</a:t>
            </a:r>
          </a:p>
          <a:p xmlns:a="http://schemas.openxmlformats.org/drawingml/2006/main">
            <a:r>
              <a:t>        "input": "AI 결과",</a:t>
            </a:r>
          </a:p>
          <a:p xmlns:a="http://schemas.openxmlformats.org/drawingml/2006/main">
            <a:r>
              <a:t>        "process": "직원 검토를 거친 업무 결과 제공",</a:t>
            </a:r>
          </a:p>
          <a:p xmlns:a="http://schemas.openxmlformats.org/drawingml/2006/main">
            <a:r>
              <a:t>        "output": "이용·운영 기록"</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"사업부 업무 문맥으로 공통 AI 지원 결과 활용",</a:t>
            </a:r>
          </a:p>
          <a:p xmlns:a="http://schemas.openxmlformats.org/drawingml/2006/main">
            <a:r>
              <a:t>      "exception": "사업부 간 지식 노출·개정 지연·비용 급증",</a:t>
            </a:r>
          </a:p>
          <a:p xmlns:a="http://schemas.openxmlformats.org/drawingml/2006/main">
            <a:r>
              <a:t>      "evidence": "부서별 권한·정답·응답비용·운영 로그",</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"사업부 직원·AI·데이터 운영자",</a:t>
            </a:r>
          </a:p>
          <a:p xmlns:a="http://schemas.openxmlformats.org/drawingml/2006/main">
            <a:r>
              <a:t>          "processing": "사업부·직무·자료 접근조건 구성",</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"공통 데이터·업무 문맥",</a:t>
            </a:r>
          </a:p>
          <a:p xmlns:a="http://schemas.openxmlformats.org/drawingml/2006/main">
            <a:r>
              <a:t>          "processing": "전사 데이터 기반과 업무 문맥의 접근 통제",</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"업무 요청",</a:t>
            </a:r>
          </a:p>
          <a:p xmlns:a="http://schemas.openxmlformats.org/drawingml/2006/main">
            <a:r>
              <a:t>          "processing": "공통 AI 서비스와 사업별 활용 절차 연결",</a:t>
            </a:r>
          </a:p>
          <a:p xmlns:a="http://schemas.openxmlformats.org/drawingml/2006/main">
            <a:r>
              <a:t>          "output": "AI 결과"</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"AI 결과",</a:t>
            </a:r>
          </a:p>
          <a:p xmlns:a="http://schemas.openxmlformats.org/drawingml/2006/main">
            <a:r>
              <a:t>          "processing": "직원 검토를 거친 업무 결과 제공",</a:t>
            </a:r>
          </a:p>
          <a:p xmlns:a="http://schemas.openxmlformats.org/drawingml/2006/main">
            <a:r>
              <a:t>          "output": "이용·운영 기록"</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"사업부별 이용·정답·위험·운영 비용 평가",</a:t>
            </a:r>
          </a:p>
          <a:p xmlns:a="http://schemas.openxmlformats.org/drawingml/2006/main">
            <a:r>
              <a:t>          "output": "부서별 권한·정답·응답비용·운영 로그"</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"사업부별 이용·정답·위험·운영 비용 평가",</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"P121~123·139 / 공통접근과 사업부 실행 분리",</a:t>
            </a:r>
          </a:p>
          <a:p xmlns:a="http://schemas.openxmlformats.org/drawingml/2006/main">
            <a:r>
              <a:t>        "url": "https://www.jpmorganchase.com/about/technology/blog/innovation-week25"</a:t>
            </a:r>
          </a:p>
          <a:p xmlns:a="http://schemas.openxmlformats.org/drawingml/2006/main">
            <a:r>
              <a:t>      }</a:t>
            </a:r>
          </a:p>
          <a:p xmlns:a="http://schemas.openxmlformats.org/drawingml/2006/main">
            <a:r>
              <a:t>    ],</a:t>
            </a:r>
          </a:p>
          <a:p xmlns:a="http://schemas.openxmlformats.org/drawingml/2006/main">
            <a:r>
              <a:t>    "implication": "사업부별 데이터 접근과 전체 업무 절차를 기준으로 공통 AI의 적용 범위 확대",</a:t>
            </a:r>
          </a:p>
          <a:p xmlns:a="http://schemas.openxmlformats.org/drawingml/2006/main">
            <a:r>
              <a:t>    "local": "사업부별 데이터 접근과 전체 업무 절차를 기준으로 공통 AI의 적용 범위 확대",</a:t>
            </a:r>
          </a:p>
          <a:p xmlns:a="http://schemas.openxmlformats.org/drawingml/2006/main">
            <a:r>
              <a:t>    "sourceDetail": "자체 공통 도구 LLM Suite, 현대화된 데이터/클라우드 기반, 사업별 AI 적용\n공통 데이터 기반 위에 각 사업부 E2E 업무에 맞춘 전략",</a:t>
            </a:r>
          </a:p>
          <a:p xmlns:a="http://schemas.openxmlformats.org/drawingml/2006/main">
            <a:r>
              <a:t>    "narrative": [</a:t>
            </a:r>
          </a:p>
          <a:p xmlns:a="http://schemas.openxmlformats.org/drawingml/2006/main">
            <a:r>
              <a:t>      "JPMorgan Chase의 공통 LLM Suite와 사업부 활용 확산 사례. 공통 도구와 전사 데이터 기반을 마련한 뒤 사업부의 업무별 적용을 확대하는 접근.",</a:t>
            </a:r>
          </a:p>
          <a:p xmlns:a="http://schemas.openxmlformats.org/drawingml/2006/main">
            <a:r>
              <a:t>      "직원·사업부 문맥, 공통 AI 호출, 허용 자료 연결, 결과 검토, 운영 관측의 계층으로 재구성. 공개 사례에서 확인한 이용 범위와 실제 내부 배치·데이터 연계·권한 구현은 분리해 해석하는 방식.",</a:t>
            </a:r>
          </a:p>
          <a:p xmlns:a="http://schemas.openxmlformats.org/drawingml/2006/main">
            <a:r>
              <a:t>      "TS 1차 구축에서는 공통 계층의 조직 매핑·권한·감사·지식 운영을 우선 인수하고 후속 부서 업무를 단계별로 추가하는 참고. 이용량 증가와 업무 완료 품질·비용·위험을 함께 관찰하는 확산 기준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"사업부 AI 접점",</a:t>
            </a:r>
          </a:p>
          <a:p xmlns:a="http://schemas.openxmlformats.org/drawingml/2006/main">
            <a:r>
              <a:t>          "layer": "이용 접점",</a:t>
            </a:r>
          </a:p>
          <a:p xmlns:a="http://schemas.openxmlformats.org/drawingml/2006/main">
            <a:r>
              <a:t>          "detail": "사업부 직원·AI·데이터 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"직무·자료 권한",</a:t>
            </a:r>
          </a:p>
          <a:p xmlns:a="http://schemas.openxmlformats.org/drawingml/2006/main">
            <a:r>
              <a:t>          "layer": "업무 문맥",</a:t>
            </a:r>
          </a:p>
          <a:p xmlns:a="http://schemas.openxmlformats.org/drawingml/2006/main">
            <a:r>
              <a:t>          "detail": "사업부·직무·자료 접근조건 구성",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"업무 문맥 조회",</a:t>
            </a:r>
          </a:p>
          <a:p xmlns:a="http://schemas.openxmlformats.org/drawingml/2006/main">
            <a:r>
              <a:t>          "layer": "자료 조회",</a:t>
            </a:r>
          </a:p>
          <a:p xmlns:a="http://schemas.openxmlformats.org/drawingml/2006/main">
            <a:r>
              <a:t>          "detail": "업무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"LLM Suite 지원",</a:t>
            </a:r>
          </a:p>
          <a:p xmlns:a="http://schemas.openxmlformats.org/drawingml/2006/main">
            <a:r>
              <a:t>          "layer": "핵심 처리",</a:t>
            </a:r>
          </a:p>
          <a:p xmlns:a="http://schemas.openxmlformats.org/drawingml/2006/main">
            <a:r>
              <a:t>          "detail": "공통 AI 서비스와 사업별 활용 절차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"근거·위험 검사",</a:t>
            </a:r>
          </a:p>
          <a:p xmlns:a="http://schemas.openxmlformats.org/drawingml/2006/main">
            <a:r>
              <a:t>          "layer": "결과 검증",</a:t>
            </a:r>
          </a:p>
          <a:p xmlns:a="http://schemas.openxmlformats.org/drawingml/2006/main">
            <a:r>
              <a:t>          "detail": "사업부별 정답·권한·비용 평가",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"사업부 직원 검토",</a:t>
            </a:r>
          </a:p>
          <a:p xmlns:a="http://schemas.openxmlformats.org/drawingml/2006/main">
            <a:r>
              <a:t>          "layer": "사람 확인",</a:t>
            </a:r>
          </a:p>
          <a:p xmlns:a="http://schemas.openxmlformats.org/drawingml/2006/main">
            <a:r>
              <a:t>          "detail": "사업부 업무 문맥으로 공통 AI 지원 결과 활용",</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"사업별 업무 활용",</a:t>
            </a:r>
          </a:p>
          <a:p xmlns:a="http://schemas.openxmlformats.org/drawingml/2006/main">
            <a:r>
              <a:t>          "layer": "업무 연결",</a:t>
            </a:r>
          </a:p>
          <a:p xmlns:a="http://schemas.openxmlformats.org/drawingml/2006/main">
            <a:r>
              <a:t>          "detail": "직원 검토를 거친 업무 결과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"비용·정답 평가",</a:t>
            </a:r>
          </a:p>
          <a:p xmlns:a="http://schemas.openxmlformats.org/drawingml/2006/main">
            <a:r>
              <a:t>          "layer": "운영 관측",</a:t>
            </a:r>
          </a:p>
          <a:p xmlns:a="http://schemas.openxmlformats.org/drawingml/2006/main">
            <a:r>
              <a:t>          "detail": "사업부별 이용·정답·위험·운영 비용 평가",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"전사·업무 자료",</a:t>
            </a:r>
          </a:p>
          <a:p xmlns:a="http://schemas.openxmlformats.org/drawingml/2006/main">
            <a:r>
              <a:t>          "layer": "데이터 원천",</a:t>
            </a:r>
          </a:p>
          <a:p xmlns:a="http://schemas.openxmlformats.org/drawingml/2006/main">
            <a:r>
              <a:t>          "detail": "공통 데이터·업무 문맥",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"접근범위 정리",</a:t>
            </a:r>
          </a:p>
          <a:p xmlns:a="http://schemas.openxmlformats.org/drawingml/2006/main">
            <a:r>
              <a:t>          "layer": "준비·갱신",</a:t>
            </a:r>
          </a:p>
          <a:p xmlns:a="http://schemas.openxmlformats.org/drawingml/2006/main">
            <a:r>
              <a:t>          "detail": "전사 데이터 기반과 업무 문맥의 접근 통제",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"문맥·평가 기록",</a:t>
            </a:r>
          </a:p>
          <a:p xmlns:a="http://schemas.openxmlformats.org/drawingml/2006/main">
            <a:r>
              <a:t>          "layer": "상태·지식 저장",</a:t>
            </a:r>
          </a:p>
          <a:p xmlns:a="http://schemas.openxmlformats.org/drawingml/2006/main">
            <a:r>
              <a:t>          "detail": "부서별 권한·정답·응답비용·운영 로그",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"사업부 실행 경계",</a:t>
            </a:r>
          </a:p>
          <a:p xmlns:a="http://schemas.openxmlformats.org/drawingml/2006/main">
            <a:r>
              <a:t>          "layer": "권한·정책",</a:t>
            </a:r>
          </a:p>
          <a:p xmlns:a="http://schemas.openxmlformats.org/drawingml/2006/main">
            <a:r>
              <a:t>          "detail": "사업부 간 지식 노출·개정 지연·비용 급증",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"사업부·직무·자료 접근조건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"업무 요청",</a:t>
            </a:r>
          </a:p>
          <a:p xmlns:a="http://schemas.openxmlformats.org/drawingml/2006/main">
            <a:r>
              <a:t>          "check": "사업부별 정답·권한·비용 평가"</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"허용 문맥",</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"AI 결과",</a:t>
            </a:r>
          </a:p>
          <a:p xmlns:a="http://schemas.openxmlformats.org/drawingml/2006/main">
            <a:r>
              <a:t>          "check": "사업부 간 지식 노출·개정 지연·비용 급증"</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"AI 결과",</a:t>
            </a:r>
          </a:p>
          <a:p xmlns:a="http://schemas.openxmlformats.org/drawingml/2006/main">
            <a:r>
              <a:t>          "check": "직원 검토를 거친 업무 결과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"이용·운영 기록",</a:t>
            </a:r>
          </a:p>
          <a:p xmlns:a="http://schemas.openxmlformats.org/drawingml/2006/main">
            <a:r>
              <a:t>          "check": "부서별 권한·정답·응답비용·운영 로그"</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"공통 LLM 도구와 사업부 업무 확장 / LLM Suite·업무 문맥·사업부 확산",</a:t>
            </a:r>
          </a:p>
          <a:p xmlns:a="http://schemas.openxmlformats.org/drawingml/2006/main">
            <a:r>
              <a:t>        "extension": "사업부별 데이터 접근과 전체 업무 절차를 기준으로 공통 AI의 적용 범위 확대"</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"사업부 간 지식 노출·개정 지연·비용 급증",</a:t>
            </a:r>
          </a:p>
          <a:p xmlns:a="http://schemas.openxmlformats.org/drawingml/2006/main">
            <a:r>
              <a:t>        "hold": "사업부별 정답·권한·비용 평가",</a:t>
            </a:r>
          </a:p>
          <a:p xmlns:a="http://schemas.openxmlformats.org/drawingml/2006/main">
            <a:r>
              <a:t>        "recovery": "사업부별 이용·정답·위험·운영 비용 평가",</a:t>
            </a:r>
          </a:p>
          <a:p xmlns:a="http://schemas.openxmlformats.org/drawingml/2006/main">
            <a:r>
              <a:t>        "evidence": "부서별 권한·정답·응답비용·운영 로그"</a:t>
            </a:r>
          </a:p>
          <a:p xmlns:a="http://schemas.openxmlformats.org/drawingml/2006/main">
            <a:r>
              <a:t>      },</a:t>
            </a:r>
          </a:p>
          <a:p xmlns:a="http://schemas.openxmlformats.org/drawingml/2006/main">
            <a:r>
              <a:t>      "data": {</a:t>
            </a:r>
          </a:p>
          <a:p xmlns:a="http://schemas.openxmlformats.org/drawingml/2006/main">
            <a:r>
              <a:t>        "source": "공통 데이터·업무 문맥",</a:t>
            </a:r>
          </a:p>
          <a:p xmlns:a="http://schemas.openxmlformats.org/drawingml/2006/main">
            <a:r>
              <a:t>        "prepare": "전사 데이터 기반과 업무 문맥의 접근 통제",</a:t>
            </a:r>
          </a:p>
          <a:p xmlns:a="http://schemas.openxmlformats.org/drawingml/2006/main">
            <a:r>
              <a:t>        "output": "업무 요청",</a:t>
            </a:r>
          </a:p>
          <a:p xmlns:a="http://schemas.openxmlformats.org/drawingml/2006/main">
            <a:r>
              <a:t>        "refresh": "사업부별 이용·정답·위험·운영 비용 평가"</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"PF-A18",</a:t>
            </a:r>
          </a:p>
          <a:p xmlns:a="http://schemas.openxmlformats.org/drawingml/2006/main">
            <a:r>
              <a:t>    "success": [</a:t>
            </a:r>
          </a:p>
          <a:p xmlns:a="http://schemas.openxmlformats.org/drawingml/2006/main">
            <a:r>
              <a:t>      "전사 공통 AI 기반",</a:t>
            </a:r>
          </a:p>
          <a:p xmlns:a="http://schemas.openxmlformats.org/drawingml/2006/main">
            <a:r>
              <a:t>      "사업부별 활용 접점의 확장"</a:t>
            </a:r>
          </a:p>
          <a:p xmlns:a="http://schemas.openxmlformats.org/drawingml/2006/main">
            <a:r>
              <a:t>    ],</a:t>
            </a:r>
          </a:p>
          <a:p xmlns:a="http://schemas.openxmlformats.org/drawingml/2006/main">
            <a:r>
              <a:t>    "risks": [</a:t>
            </a:r>
          </a:p>
          <a:p xmlns:a="http://schemas.openxmlformats.org/drawingml/2006/main">
            <a:r>
              <a:t>      "사업부별 지식·권한 차이",</a:t>
            </a:r>
          </a:p>
          <a:p xmlns:a="http://schemas.openxmlformats.org/drawingml/2006/main">
            <a:r>
              <a:t>      "전사 확산을 일률적 효과로 환산"</a:t>
            </a:r>
          </a:p>
          <a:p xmlns:a="http://schemas.openxmlformats.org/drawingml/2006/main">
            <a:r>
              <a:t>    ],</a:t>
            </a:r>
          </a:p>
          <a:p xmlns:a="http://schemas.openxmlformats.org/drawingml/2006/main">
            <a:r>
              <a:t>    "architecture": [</a:t>
            </a:r>
          </a:p>
          <a:p xmlns:a="http://schemas.openxmlformats.org/drawingml/2006/main">
            <a:r>
              <a:t>      "사업부 직원",</a:t>
            </a:r>
          </a:p>
          <a:p xmlns:a="http://schemas.openxmlformats.org/drawingml/2006/main">
            <a:r>
              <a:t>      "LLM Suite",</a:t>
            </a:r>
          </a:p>
          <a:p xmlns:a="http://schemas.openxmlformats.org/drawingml/2006/main">
            <a:r>
              <a:t>      "공통 데이터·업무 문맥",</a:t>
            </a:r>
          </a:p>
          <a:p xmlns:a="http://schemas.openxmlformats.org/drawingml/2006/main">
            <a:r>
              <a:t>      "사업부 검토자"</a:t>
            </a:r>
          </a:p>
          <a:p xmlns:a="http://schemas.openxmlformats.org/drawingml/2006/main">
            <a:r>
              <a:t>    ],</a:t>
            </a:r>
          </a:p>
          <a:p xmlns:a="http://schemas.openxmlformats.org/drawingml/2006/main">
            <a:r>
              <a:t>    "transfers": [</a:t>
            </a:r>
          </a:p>
          <a:p xmlns:a="http://schemas.openxmlformats.org/drawingml/2006/main">
            <a:r>
              <a:t>      "업무 요청",</a:t>
            </a:r>
          </a:p>
          <a:p xmlns:a="http://schemas.openxmlformats.org/drawingml/2006/main">
            <a:r>
              <a:t>      "허용 문맥",</a:t>
            </a:r>
          </a:p>
          <a:p xmlns:a="http://schemas.openxmlformats.org/drawingml/2006/main">
            <a:r>
              <a:t>      "AI 결과",</a:t>
            </a:r>
          </a:p>
          <a:p xmlns:a="http://schemas.openxmlformats.org/drawingml/2006/main">
            <a:r>
              <a:t>      "이용·운영 기록"</a:t>
            </a:r>
          </a:p>
          <a:p xmlns:a="http://schemas.openxmlformats.org/drawingml/2006/main">
            <a:r>
              <a:t>    ],</a:t>
            </a:r>
          </a:p>
          <a:p xmlns:a="http://schemas.openxmlformats.org/drawingml/2006/main">
            <a:r>
              <a:t>    "control": "사업부별 정답·권한·비용 평가",</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P121~123·139 / 공통접근과 사업부 실행 분리 https://www.jpmorganchase.com/about/technology/blog/innovation-week25</a:t>
            </a:r>
          </a:p>
          <a:p xmlns:a="http://schemas.openxmlformats.org/drawingml/2006/main">
            <a:r>
              <a:t>홈페이지 https://heen1987-ops.github.io/TS-business-Plan-001/index.html?view=platform-cases&amp;case=PF-A18</a:t>
            </a:r>
          </a:p>
          <a:p xmlns:a="http://schemas.openxmlformats.org/drawingml/2006/main">
            <a:r>
              <a:t>한계: 접근 가능과 활성이용 분모 다름. 거래심사 효율은 별도 AI 사례이며 LLM Suite 성과로 귀속 금지</a:t>
            </a:r>
          </a:p>
          <a:p xmlns:a="http://schemas.openxmlformats.org/drawingml/2006/main">
            <a:r>
              <a:t>실패 위험: 사업부별 지식·권한 차이 / 전사 확산을 일률적 효과로 환산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"PF-A18",</a:t>
            </a:r>
          </a:p>
          <a:p xmlns:a="http://schemas.openxmlformats.org/drawingml/2006/main">
            <a:r>
              <a:t>    "sourceId": "A18",</a:t>
            </a:r>
          </a:p>
          <a:p xmlns:a="http://schemas.openxmlformats.org/drawingml/2006/main">
            <a:r>
              <a:t>    "title": "JPMorganChase LLM Suite",</a:t>
            </a:r>
          </a:p>
          <a:p xmlns:a="http://schemas.openxmlformats.org/drawingml/2006/main">
            <a:r>
              <a:t>    "region": "해외",</a:t>
            </a:r>
          </a:p>
          <a:p xmlns:a="http://schemas.openxmlformats.org/drawingml/2006/main">
            <a:r>
              <a:t>    "owner": "JPMorganChase / LLM Suite",</a:t>
            </a:r>
          </a:p>
          <a:p xmlns:a="http://schemas.openxmlformats.org/drawingml/2006/main">
            <a:r>
              <a:t>    "state": "2024 출시, 2025 전사 확산·2025연차보고",</a:t>
            </a:r>
          </a:p>
          <a:p xmlns:a="http://schemas.openxmlformats.org/drawingml/2006/main">
            <a:r>
              <a:t>    "period": "기존 원장 확인 2026.10.16",</a:t>
            </a:r>
          </a:p>
          <a:p xmlns:a="http://schemas.openxmlformats.org/drawingml/2006/main">
            <a:r>
              <a:t>    "fact": "전사 공통 생성형 AI 플랫폼",</a:t>
            </a:r>
          </a:p>
          <a:p xmlns:a="http://schemas.openxmlformats.org/drawingml/2006/main">
            <a:r>
              <a:t>    "limit": "접근 가능과 활성이용 분모 다름. 거래심사 효율은 별도 AI 사례이며 LLM Suite 성과로 귀속 금지",</a:t>
            </a:r>
          </a:p>
          <a:p xmlns:a="http://schemas.openxmlformats.org/drawingml/2006/main">
            <a:r>
              <a:t>    "nodes": [</a:t>
            </a:r>
          </a:p>
          <a:p xmlns:a="http://schemas.openxmlformats.org/drawingml/2006/main">
            <a:r>
              <a:t>      "공통 데이터",</a:t>
            </a:r>
          </a:p>
          <a:p xmlns:a="http://schemas.openxmlformats.org/drawingml/2006/main">
            <a:r>
              <a:t>      "LLM Suite",</a:t>
            </a:r>
          </a:p>
          <a:p xmlns:a="http://schemas.openxmlformats.org/drawingml/2006/main">
            <a:r>
              <a:t>      "사업부 업무",</a:t>
            </a:r>
          </a:p>
          <a:p xmlns:a="http://schemas.openxmlformats.org/drawingml/2006/main">
            <a:r>
              <a:t>      "이용·운영 관리"</a:t>
            </a:r>
          </a:p>
          <a:p xmlns:a="http://schemas.openxmlformats.org/drawingml/2006/main">
            <a:r>
              <a:t>    ],</a:t>
            </a:r>
          </a:p>
          <a:p xmlns:a="http://schemas.openxmlformats.org/drawingml/2006/main">
            <a:r>
              <a:t>    "apply": "사업부별 데이터 접근과 전체 업무 절차를 기준으로 공통 AI의 적용 범위 확대",</a:t>
            </a:r>
          </a:p>
          <a:p xmlns:a="http://schemas.openxmlformats.org/drawingml/2006/main">
            <a:r>
              <a:t>    "delta": "기관 설정·회귀 평가·두 번째 부서 적용",</a:t>
            </a:r>
          </a:p>
          <a:p xmlns:a="http://schemas.openxmlformats.org/drawingml/2006/main">
            <a:r>
              <a:t>    "test": "도입기간·유지비·교육 부담의 기준선·비교 평가",</a:t>
            </a:r>
          </a:p>
          <a:p xmlns:a="http://schemas.openxmlformats.org/drawingml/2006/main">
            <a:r>
              <a:t>    "url": "https://www.jpmorganchase.com/about/technology/blog/innovation-week25",</a:t>
            </a:r>
          </a:p>
          <a:p xmlns:a="http://schemas.openxmlformats.org/drawingml/2006/main">
            <a:r>
              <a:t>    "urls": [</a:t>
            </a:r>
          </a:p>
          <a:p xmlns:a="http://schemas.openxmlformats.org/drawingml/2006/main">
            <a:r>
              <a:t>      "https://www.jpmorganchase.com/about/technology/blog/innovation-week25",</a:t>
            </a:r>
          </a:p>
          <a:p xmlns:a="http://schemas.openxmlformats.org/drawingml/2006/main">
            <a:r>
              <a:t>      "https://www.jpmorganchase.com/ir/annual-report/2025/ar-ceo-letter-petno-rohrbaugh"</a:t>
            </a:r>
          </a:p>
          <a:p xmlns:a="http://schemas.openxmlformats.org/drawingml/2006/main">
            <a:r>
              <a:t>    ],</a:t>
            </a:r>
          </a:p>
          <a:p xmlns:a="http://schemas.openxmlformats.org/drawingml/2006/main">
            <a:r>
              <a:t>    "basis": "P121~123·139 / 공통접근과 사업부 실행 분리",</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"도입기간·유지비·교육 부담",</a:t>
            </a:r>
          </a:p>
          <a:p xmlns:a="http://schemas.openxmlformats.org/drawingml/2006/main">
            <a:r>
              <a:t>    "group": "운영·실증",</a:t>
            </a:r>
          </a:p>
          <a:p xmlns:a="http://schemas.openxmlformats.org/drawingml/2006/main">
            <a:r>
              <a:t>    "sourceDetail": "자체 공통 도구 LLM Suite, 현대화된 데이터/클라우드 기반, 사업별 AI 적용\n공통 데이터 기반 위에 각 사업부 E2E 업무에 맞춘 전략",</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"PF-A18",</a:t>
            </a:r>
          </a:p>
          <a:p xmlns:a="http://schemas.openxmlformats.org/drawingml/2006/main">
            <a:r>
              <a:t>    "canonicalId": "PF-A18",</a:t>
            </a:r>
          </a:p>
          <a:p xmlns:a="http://schemas.openxmlformats.org/drawingml/2006/main">
            <a:r>
              <a:t>    "purpose": "공통 LLM 도구와 사업부 업무 확장",</a:t>
            </a:r>
          </a:p>
          <a:p xmlns:a="http://schemas.openxmlformats.org/drawingml/2006/main">
            <a:r>
              <a:t>    "users": "사업부 직원·AI·데이터 운영자",</a:t>
            </a:r>
          </a:p>
          <a:p xmlns:a="http://schemas.openxmlformats.org/drawingml/2006/main">
            <a:r>
              <a:t>    "scope": [</a:t>
            </a:r>
          </a:p>
          <a:p xmlns:a="http://schemas.openxmlformats.org/drawingml/2006/main">
            <a:r>
              <a:t>      "LLM Suite",</a:t>
            </a:r>
          </a:p>
          <a:p xmlns:a="http://schemas.openxmlformats.org/drawingml/2006/main">
            <a:r>
              <a:t>      "업무 문맥",</a:t>
            </a:r>
          </a:p>
          <a:p xmlns:a="http://schemas.openxmlformats.org/drawingml/2006/main">
            <a:r>
              <a:t>      "사업부 확산"</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"사업부 직원",</a:t>
            </a:r>
          </a:p>
          <a:p xmlns:a="http://schemas.openxmlformats.org/drawingml/2006/main">
            <a:r>
              <a:t>        "detail": "사업부·직무·자료 접근조건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"LLM Suite / 업무 문맥 / 사업부 확산",</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"LLM Suite",</a:t>
            </a:r>
          </a:p>
          <a:p xmlns:a="http://schemas.openxmlformats.org/drawingml/2006/main">
            <a:r>
              <a:t>        "detail": "공통 AI 서비스와 사업별 활용 절차 연결",</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"사업부 검토자",</a:t>
            </a:r>
          </a:p>
          <a:p xmlns:a="http://schemas.openxmlformats.org/drawingml/2006/main">
            <a:r>
              <a:t>        "detail": "직원 검토를 거친 업무 결과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"공통 데이터·업무 문맥",</a:t>
            </a:r>
          </a:p>
          <a:p xmlns:a="http://schemas.openxmlformats.org/drawingml/2006/main">
            <a:r>
              <a:t>        "detail": "전사 데이터 기반과 업무 문맥의 접근 통제",</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"사업부별 이용·정답·위험·운영 비용 평가",</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"공통 데이터",</a:t>
            </a:r>
          </a:p>
          <a:p xmlns:a="http://schemas.openxmlformats.org/drawingml/2006/main">
            <a:r>
              <a:t>        "input": "사업부·직무·자료 접근조건 구성",</a:t>
            </a:r>
          </a:p>
          <a:p xmlns:a="http://schemas.openxmlformats.org/drawingml/2006/main">
            <a:r>
              <a:t>        "process": "전사 데이터 기반과 업무 문맥의 접근 통제",</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"title": "LLM Suite",</a:t>
            </a:r>
          </a:p>
          <a:p xmlns:a="http://schemas.openxmlformats.org/drawingml/2006/main">
            <a:r>
              <a:t>        "input": "업무 요청",</a:t>
            </a:r>
          </a:p>
          <a:p xmlns:a="http://schemas.openxmlformats.org/drawingml/2006/main">
            <a:r>
              <a:t>        "process": "공통 AI 서비스와 사업별 활용 절차 연결",</a:t>
            </a:r>
          </a:p>
          <a:p xmlns:a="http://schemas.openxmlformats.org/drawingml/2006/main">
            <a:r>
              <a:t>        "output": "허용 문맥"</a:t>
            </a:r>
          </a:p>
          <a:p xmlns:a="http://schemas.openxmlformats.org/drawingml/2006/main">
            <a:r>
              <a:t>      },</a:t>
            </a:r>
          </a:p>
          <a:p xmlns:a="http://schemas.openxmlformats.org/drawingml/2006/main">
            <a:r>
              <a:t>      {</a:t>
            </a:r>
          </a:p>
          <a:p xmlns:a="http://schemas.openxmlformats.org/drawingml/2006/main">
            <a:r>
              <a:t>        "title": "사업부 업무",</a:t>
            </a:r>
          </a:p>
          <a:p xmlns:a="http://schemas.openxmlformats.org/drawingml/2006/main">
            <a:r>
              <a:t>        "input": "허용 문맥",</a:t>
            </a:r>
          </a:p>
          <a:p xmlns:a="http://schemas.openxmlformats.org/drawingml/2006/main">
            <a:r>
              <a:t>        "process": "사업부별 정답·권한·비용 평가",</a:t>
            </a:r>
          </a:p>
          <a:p xmlns:a="http://schemas.openxmlformats.org/drawingml/2006/main">
            <a:r>
              <a:t>        "output": "AI 결과"</a:t>
            </a:r>
          </a:p>
          <a:p xmlns:a="http://schemas.openxmlformats.org/drawingml/2006/main">
            <a:r>
              <a:t>      },</a:t>
            </a:r>
          </a:p>
          <a:p xmlns:a="http://schemas.openxmlformats.org/drawingml/2006/main">
            <a:r>
              <a:t>      {</a:t>
            </a:r>
          </a:p>
          <a:p xmlns:a="http://schemas.openxmlformats.org/drawingml/2006/main">
            <a:r>
              <a:t>        "title": "이용·운영 관리",</a:t>
            </a:r>
          </a:p>
          <a:p xmlns:a="http://schemas.openxmlformats.org/drawingml/2006/main">
            <a:r>
              <a:t>        "input": "AI 결과",</a:t>
            </a:r>
          </a:p>
          <a:p xmlns:a="http://schemas.openxmlformats.org/drawingml/2006/main">
            <a:r>
              <a:t>        "process": "직원 검토를 거친 업무 결과 제공",</a:t>
            </a:r>
          </a:p>
          <a:p xmlns:a="http://schemas.openxmlformats.org/drawingml/2006/main">
            <a:r>
              <a:t>        "output": "이용·운영 기록"</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"사업부 업무 문맥으로 공통 AI 지원 결과 활용",</a:t>
            </a:r>
          </a:p>
          <a:p xmlns:a="http://schemas.openxmlformats.org/drawingml/2006/main">
            <a:r>
              <a:t>      "exception": "사업부 간 지식 노출·개정 지연·비용 급증",</a:t>
            </a:r>
          </a:p>
          <a:p xmlns:a="http://schemas.openxmlformats.org/drawingml/2006/main">
            <a:r>
              <a:t>      "evidence": "부서별 권한·정답·응답비용·운영 로그",</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"사업부 직원·AI·데이터 운영자",</a:t>
            </a:r>
          </a:p>
          <a:p xmlns:a="http://schemas.openxmlformats.org/drawingml/2006/main">
            <a:r>
              <a:t>          "processing": "사업부·직무·자료 접근조건 구성",</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"공통 데이터·업무 문맥",</a:t>
            </a:r>
          </a:p>
          <a:p xmlns:a="http://schemas.openxmlformats.org/drawingml/2006/main">
            <a:r>
              <a:t>          "processing": "전사 데이터 기반과 업무 문맥의 접근 통제",</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"업무 요청",</a:t>
            </a:r>
          </a:p>
          <a:p xmlns:a="http://schemas.openxmlformats.org/drawingml/2006/main">
            <a:r>
              <a:t>          "processing": "공통 AI 서비스와 사업별 활용 절차 연결",</a:t>
            </a:r>
          </a:p>
          <a:p xmlns:a="http://schemas.openxmlformats.org/drawingml/2006/main">
            <a:r>
              <a:t>          "output": "AI 결과"</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"AI 결과",</a:t>
            </a:r>
          </a:p>
          <a:p xmlns:a="http://schemas.openxmlformats.org/drawingml/2006/main">
            <a:r>
              <a:t>          "processing": "직원 검토를 거친 업무 결과 제공",</a:t>
            </a:r>
          </a:p>
          <a:p xmlns:a="http://schemas.openxmlformats.org/drawingml/2006/main">
            <a:r>
              <a:t>          "output": "이용·운영 기록"</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"사업부별 이용·정답·위험·운영 비용 평가",</a:t>
            </a:r>
          </a:p>
          <a:p xmlns:a="http://schemas.openxmlformats.org/drawingml/2006/main">
            <a:r>
              <a:t>          "output": "부서별 권한·정답·응답비용·운영 로그"</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"사업부별 이용·정답·위험·운영 비용 평가",</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"P121~123·139 / 공통접근과 사업부 실행 분리",</a:t>
            </a:r>
          </a:p>
          <a:p xmlns:a="http://schemas.openxmlformats.org/drawingml/2006/main">
            <a:r>
              <a:t>        "url": "https://www.jpmorganchase.com/about/technology/blog/innovation-week25"</a:t>
            </a:r>
          </a:p>
          <a:p xmlns:a="http://schemas.openxmlformats.org/drawingml/2006/main">
            <a:r>
              <a:t>      }</a:t>
            </a:r>
          </a:p>
          <a:p xmlns:a="http://schemas.openxmlformats.org/drawingml/2006/main">
            <a:r>
              <a:t>    ],</a:t>
            </a:r>
          </a:p>
          <a:p xmlns:a="http://schemas.openxmlformats.org/drawingml/2006/main">
            <a:r>
              <a:t>    "implication": "사업부별 데이터 접근과 전체 업무 절차를 기준으로 공통 AI의 적용 범위 확대",</a:t>
            </a:r>
          </a:p>
          <a:p xmlns:a="http://schemas.openxmlformats.org/drawingml/2006/main">
            <a:r>
              <a:t>    "local": "사업부별 데이터 접근과 전체 업무 절차를 기준으로 공통 AI의 적용 범위 확대",</a:t>
            </a:r>
          </a:p>
          <a:p xmlns:a="http://schemas.openxmlformats.org/drawingml/2006/main">
            <a:r>
              <a:t>    "sourceDetail": "자체 공통 도구 LLM Suite, 현대화된 데이터/클라우드 기반, 사업별 AI 적용\n공통 데이터 기반 위에 각 사업부 E2E 업무에 맞춘 전략",</a:t>
            </a:r>
          </a:p>
          <a:p xmlns:a="http://schemas.openxmlformats.org/drawingml/2006/main">
            <a:r>
              <a:t>    "narrative": [</a:t>
            </a:r>
          </a:p>
          <a:p xmlns:a="http://schemas.openxmlformats.org/drawingml/2006/main">
            <a:r>
              <a:t>      "JPMorgan Chase의 공통 LLM Suite와 사업부 활용 확산 사례. 공통 도구와 전사 데이터 기반을 마련한 뒤 사업부의 업무별 적용을 확대하는 접근.",</a:t>
            </a:r>
          </a:p>
          <a:p xmlns:a="http://schemas.openxmlformats.org/drawingml/2006/main">
            <a:r>
              <a:t>      "직원·사업부 문맥, 공통 AI 호출, 허용 자료 연결, 결과 검토, 운영 관측의 계층으로 재구성. 공개 사례에서 확인한 이용 범위와 실제 내부 배치·데이터 연계·권한 구현은 분리해 해석하는 방식.",</a:t>
            </a:r>
          </a:p>
          <a:p xmlns:a="http://schemas.openxmlformats.org/drawingml/2006/main">
            <a:r>
              <a:t>      "TS 1차 구축에서는 공통 계층의 조직 매핑·권한·감사·지식 운영을 우선 인수하고 후속 부서 업무를 단계별로 추가하는 참고. 이용량 증가와 업무 완료 품질·비용·위험을 함께 관찰하는 확산 기준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"사업부 AI 접점",</a:t>
            </a:r>
          </a:p>
          <a:p xmlns:a="http://schemas.openxmlformats.org/drawingml/2006/main">
            <a:r>
              <a:t>          "layer": "이용 접점",</a:t>
            </a:r>
          </a:p>
          <a:p xmlns:a="http://schemas.openxmlformats.org/drawingml/2006/main">
            <a:r>
              <a:t>          "detail": "사업부 직원·AI·데이터 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"직무·자료 권한",</a:t>
            </a:r>
          </a:p>
          <a:p xmlns:a="http://schemas.openxmlformats.org/drawingml/2006/main">
            <a:r>
              <a:t>          "layer": "업무 문맥",</a:t>
            </a:r>
          </a:p>
          <a:p xmlns:a="http://schemas.openxmlformats.org/drawingml/2006/main">
            <a:r>
              <a:t>          "detail": "사업부·직무·자료 접근조건 구성",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"업무 문맥 조회",</a:t>
            </a:r>
          </a:p>
          <a:p xmlns:a="http://schemas.openxmlformats.org/drawingml/2006/main">
            <a:r>
              <a:t>          "layer": "자료 조회",</a:t>
            </a:r>
          </a:p>
          <a:p xmlns:a="http://schemas.openxmlformats.org/drawingml/2006/main">
            <a:r>
              <a:t>          "detail": "업무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"LLM Suite 지원",</a:t>
            </a:r>
          </a:p>
          <a:p xmlns:a="http://schemas.openxmlformats.org/drawingml/2006/main">
            <a:r>
              <a:t>          "layer": "핵심 처리",</a:t>
            </a:r>
          </a:p>
          <a:p xmlns:a="http://schemas.openxmlformats.org/drawingml/2006/main">
            <a:r>
              <a:t>          "detail": "공통 AI 서비스와 사업별 활용 절차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"근거·위험 검사",</a:t>
            </a:r>
          </a:p>
          <a:p xmlns:a="http://schemas.openxmlformats.org/drawingml/2006/main">
            <a:r>
              <a:t>          "layer": "결과 검증",</a:t>
            </a:r>
          </a:p>
          <a:p xmlns:a="http://schemas.openxmlformats.org/drawingml/2006/main">
            <a:r>
              <a:t>          "detail": "사업부별 정답·권한·비용 평가",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"사업부 직원 검토",</a:t>
            </a:r>
          </a:p>
          <a:p xmlns:a="http://schemas.openxmlformats.org/drawingml/2006/main">
            <a:r>
              <a:t>          "layer": "사람 확인",</a:t>
            </a:r>
          </a:p>
          <a:p xmlns:a="http://schemas.openxmlformats.org/drawingml/2006/main">
            <a:r>
              <a:t>          "detail": "사업부 업무 문맥으로 공통 AI 지원 결과 활용",</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"사업별 업무 활용",</a:t>
            </a:r>
          </a:p>
          <a:p xmlns:a="http://schemas.openxmlformats.org/drawingml/2006/main">
            <a:r>
              <a:t>          "layer": "업무 연결",</a:t>
            </a:r>
          </a:p>
          <a:p xmlns:a="http://schemas.openxmlformats.org/drawingml/2006/main">
            <a:r>
              <a:t>          "detail": "직원 검토를 거친 업무 결과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"비용·정답 평가",</a:t>
            </a:r>
          </a:p>
          <a:p xmlns:a="http://schemas.openxmlformats.org/drawingml/2006/main">
            <a:r>
              <a:t>          "layer": "운영 관측",</a:t>
            </a:r>
          </a:p>
          <a:p xmlns:a="http://schemas.openxmlformats.org/drawingml/2006/main">
            <a:r>
              <a:t>          "detail": "사업부별 이용·정답·위험·운영 비용 평가",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"전사·업무 자료",</a:t>
            </a:r>
          </a:p>
          <a:p xmlns:a="http://schemas.openxmlformats.org/drawingml/2006/main">
            <a:r>
              <a:t>          "layer": "데이터 원천",</a:t>
            </a:r>
          </a:p>
          <a:p xmlns:a="http://schemas.openxmlformats.org/drawingml/2006/main">
            <a:r>
              <a:t>          "detail": "공통 데이터·업무 문맥",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"접근범위 정리",</a:t>
            </a:r>
          </a:p>
          <a:p xmlns:a="http://schemas.openxmlformats.org/drawingml/2006/main">
            <a:r>
              <a:t>          "layer": "준비·갱신",</a:t>
            </a:r>
          </a:p>
          <a:p xmlns:a="http://schemas.openxmlformats.org/drawingml/2006/main">
            <a:r>
              <a:t>          "detail": "전사 데이터 기반과 업무 문맥의 접근 통제",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"문맥·평가 기록",</a:t>
            </a:r>
          </a:p>
          <a:p xmlns:a="http://schemas.openxmlformats.org/drawingml/2006/main">
            <a:r>
              <a:t>          "layer": "상태·지식 저장",</a:t>
            </a:r>
          </a:p>
          <a:p xmlns:a="http://schemas.openxmlformats.org/drawingml/2006/main">
            <a:r>
              <a:t>          "detail": "부서별 권한·정답·응답비용·운영 로그",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"사업부 실행 경계",</a:t>
            </a:r>
          </a:p>
          <a:p xmlns:a="http://schemas.openxmlformats.org/drawingml/2006/main">
            <a:r>
              <a:t>          "layer": "권한·정책",</a:t>
            </a:r>
          </a:p>
          <a:p xmlns:a="http://schemas.openxmlformats.org/drawingml/2006/main">
            <a:r>
              <a:t>          "detail": "사업부 간 지식 노출·개정 지연·비용 급증",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"사업부·직무·자료 접근조건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"업무 요청",</a:t>
            </a:r>
          </a:p>
          <a:p xmlns:a="http://schemas.openxmlformats.org/drawingml/2006/main">
            <a:r>
              <a:t>          "check": "사업부별 정답·권한·비용 평가"</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"허용 문맥",</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"AI 결과",</a:t>
            </a:r>
          </a:p>
          <a:p xmlns:a="http://schemas.openxmlformats.org/drawingml/2006/main">
            <a:r>
              <a:t>          "check": "사업부 간 지식 노출·개정 지연·비용 급증"</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"AI 결과",</a:t>
            </a:r>
          </a:p>
          <a:p xmlns:a="http://schemas.openxmlformats.org/drawingml/2006/main">
            <a:r>
              <a:t>          "check": "직원 검토를 거친 업무 결과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"이용·운영 기록",</a:t>
            </a:r>
          </a:p>
          <a:p xmlns:a="http://schemas.openxmlformats.org/drawingml/2006/main">
            <a:r>
              <a:t>          "check": "부서별 권한·정답·응답비용·운영 로그"</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"공통 LLM 도구와 사업부 업무 확장 / LLM Suite·업무 문맥·사업부 확산",</a:t>
            </a:r>
          </a:p>
          <a:p xmlns:a="http://schemas.openxmlformats.org/drawingml/2006/main">
            <a:r>
              <a:t>        "extension": "사업부별 데이터 접근과 전체 업무 절차를 기준으로 공통 AI의 적용 범위 확대"</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"사업부 간 지식 노출·개정 지연·비용 급증",</a:t>
            </a:r>
          </a:p>
          <a:p xmlns:a="http://schemas.openxmlformats.org/drawingml/2006/main">
            <a:r>
              <a:t>        "hold": "사업부별 정답·권한·비용 평가",</a:t>
            </a:r>
          </a:p>
          <a:p xmlns:a="http://schemas.openxmlformats.org/drawingml/2006/main">
            <a:r>
              <a:t>        "recovery": "사업부별 이용·정답·위험·운영 비용 평가",</a:t>
            </a:r>
          </a:p>
          <a:p xmlns:a="http://schemas.openxmlformats.org/drawingml/2006/main">
            <a:r>
              <a:t>        "evidence": "부서별 권한·정답·응답비용·운영 로그"</a:t>
            </a:r>
          </a:p>
          <a:p xmlns:a="http://schemas.openxmlformats.org/drawingml/2006/main">
            <a:r>
              <a:t>      },</a:t>
            </a:r>
          </a:p>
          <a:p xmlns:a="http://schemas.openxmlformats.org/drawingml/2006/main">
            <a:r>
              <a:t>      "data": {</a:t>
            </a:r>
          </a:p>
          <a:p xmlns:a="http://schemas.openxmlformats.org/drawingml/2006/main">
            <a:r>
              <a:t>        "source": "공통 데이터·업무 문맥",</a:t>
            </a:r>
          </a:p>
          <a:p xmlns:a="http://schemas.openxmlformats.org/drawingml/2006/main">
            <a:r>
              <a:t>        "prepare": "전사 데이터 기반과 업무 문맥의 접근 통제",</a:t>
            </a:r>
          </a:p>
          <a:p xmlns:a="http://schemas.openxmlformats.org/drawingml/2006/main">
            <a:r>
              <a:t>        "output": "업무 요청",</a:t>
            </a:r>
          </a:p>
          <a:p xmlns:a="http://schemas.openxmlformats.org/drawingml/2006/main">
            <a:r>
              <a:t>        "refresh": "사업부별 이용·정답·위험·운영 비용 평가"</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"PF-A18",</a:t>
            </a:r>
          </a:p>
          <a:p xmlns:a="http://schemas.openxmlformats.org/drawingml/2006/main">
            <a:r>
              <a:t>    "success": [</a:t>
            </a:r>
          </a:p>
          <a:p xmlns:a="http://schemas.openxmlformats.org/drawingml/2006/main">
            <a:r>
              <a:t>      "전사 공통 AI 기반",</a:t>
            </a:r>
          </a:p>
          <a:p xmlns:a="http://schemas.openxmlformats.org/drawingml/2006/main">
            <a:r>
              <a:t>      "사업부별 활용 접점의 확장"</a:t>
            </a:r>
          </a:p>
          <a:p xmlns:a="http://schemas.openxmlformats.org/drawingml/2006/main">
            <a:r>
              <a:t>    ],</a:t>
            </a:r>
          </a:p>
          <a:p xmlns:a="http://schemas.openxmlformats.org/drawingml/2006/main">
            <a:r>
              <a:t>    "risks": [</a:t>
            </a:r>
          </a:p>
          <a:p xmlns:a="http://schemas.openxmlformats.org/drawingml/2006/main">
            <a:r>
              <a:t>      "사업부별 지식·권한 차이",</a:t>
            </a:r>
          </a:p>
          <a:p xmlns:a="http://schemas.openxmlformats.org/drawingml/2006/main">
            <a:r>
              <a:t>      "전사 확산을 일률적 효과로 환산"</a:t>
            </a:r>
          </a:p>
          <a:p xmlns:a="http://schemas.openxmlformats.org/drawingml/2006/main">
            <a:r>
              <a:t>    ],</a:t>
            </a:r>
          </a:p>
          <a:p xmlns:a="http://schemas.openxmlformats.org/drawingml/2006/main">
            <a:r>
              <a:t>    "architecture": [</a:t>
            </a:r>
          </a:p>
          <a:p xmlns:a="http://schemas.openxmlformats.org/drawingml/2006/main">
            <a:r>
              <a:t>      "사업부 직원",</a:t>
            </a:r>
          </a:p>
          <a:p xmlns:a="http://schemas.openxmlformats.org/drawingml/2006/main">
            <a:r>
              <a:t>      "LLM Suite",</a:t>
            </a:r>
          </a:p>
          <a:p xmlns:a="http://schemas.openxmlformats.org/drawingml/2006/main">
            <a:r>
              <a:t>      "공통 데이터·업무 문맥",</a:t>
            </a:r>
          </a:p>
          <a:p xmlns:a="http://schemas.openxmlformats.org/drawingml/2006/main">
            <a:r>
              <a:t>      "사업부 검토자"</a:t>
            </a:r>
          </a:p>
          <a:p xmlns:a="http://schemas.openxmlformats.org/drawingml/2006/main">
            <a:r>
              <a:t>    ],</a:t>
            </a:r>
          </a:p>
          <a:p xmlns:a="http://schemas.openxmlformats.org/drawingml/2006/main">
            <a:r>
              <a:t>    "transfers": [</a:t>
            </a:r>
          </a:p>
          <a:p xmlns:a="http://schemas.openxmlformats.org/drawingml/2006/main">
            <a:r>
              <a:t>      "업무 요청",</a:t>
            </a:r>
          </a:p>
          <a:p xmlns:a="http://schemas.openxmlformats.org/drawingml/2006/main">
            <a:r>
              <a:t>      "허용 문맥",</a:t>
            </a:r>
          </a:p>
          <a:p xmlns:a="http://schemas.openxmlformats.org/drawingml/2006/main">
            <a:r>
              <a:t>      "AI 결과",</a:t>
            </a:r>
          </a:p>
          <a:p xmlns:a="http://schemas.openxmlformats.org/drawingml/2006/main">
            <a:r>
              <a:t>      "이용·운영 기록"</a:t>
            </a:r>
          </a:p>
          <a:p xmlns:a="http://schemas.openxmlformats.org/drawingml/2006/main">
            <a:r>
              <a:t>    ],</a:t>
            </a:r>
          </a:p>
          <a:p xmlns:a="http://schemas.openxmlformats.org/drawingml/2006/main">
            <a:r>
              <a:t>    "control": "사업부별 정답·권한·비용 평가",</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P121~123·139 / 공통접근과 사업부 실행 분리 https://www.jpmorganchase.com/about/technology/blog/innovation-week25</a:t>
            </a:r>
          </a:p>
          <a:p xmlns:a="http://schemas.openxmlformats.org/drawingml/2006/main">
            <a:r>
              <a:t>홈페이지 https://heen1987-ops.github.io/TS-business-Plan-001/index.html?view=platform-cases&amp;case=PF-A18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"PF-A18",</a:t>
            </a:r>
          </a:p>
          <a:p xmlns:a="http://schemas.openxmlformats.org/drawingml/2006/main">
            <a:r>
              <a:t>    "sourceId": "A18",</a:t>
            </a:r>
          </a:p>
          <a:p xmlns:a="http://schemas.openxmlformats.org/drawingml/2006/main">
            <a:r>
              <a:t>    "title": "JPMorganChase LLM Suite",</a:t>
            </a:r>
          </a:p>
          <a:p xmlns:a="http://schemas.openxmlformats.org/drawingml/2006/main">
            <a:r>
              <a:t>    "region": "해외",</a:t>
            </a:r>
          </a:p>
          <a:p xmlns:a="http://schemas.openxmlformats.org/drawingml/2006/main">
            <a:r>
              <a:t>    "owner": "JPMorganChase / LLM Suite",</a:t>
            </a:r>
          </a:p>
          <a:p xmlns:a="http://schemas.openxmlformats.org/drawingml/2006/main">
            <a:r>
              <a:t>    "state": "2024 출시, 2025 전사 확산·2025연차보고",</a:t>
            </a:r>
          </a:p>
          <a:p xmlns:a="http://schemas.openxmlformats.org/drawingml/2006/main">
            <a:r>
              <a:t>    "period": "기존 원장 확인 2026.10.16",</a:t>
            </a:r>
          </a:p>
          <a:p xmlns:a="http://schemas.openxmlformats.org/drawingml/2006/main">
            <a:r>
              <a:t>    "fact": "전사 공통 생성형 AI 플랫폼",</a:t>
            </a:r>
          </a:p>
          <a:p xmlns:a="http://schemas.openxmlformats.org/drawingml/2006/main">
            <a:r>
              <a:t>    "limit": "접근 가능과 활성이용 분모 다름. 거래심사 효율은 별도 AI 사례이며 LLM Suite 성과로 귀속 금지",</a:t>
            </a:r>
          </a:p>
          <a:p xmlns:a="http://schemas.openxmlformats.org/drawingml/2006/main">
            <a:r>
              <a:t>    "nodes": [</a:t>
            </a:r>
          </a:p>
          <a:p xmlns:a="http://schemas.openxmlformats.org/drawingml/2006/main">
            <a:r>
              <a:t>      "공통 데이터",</a:t>
            </a:r>
          </a:p>
          <a:p xmlns:a="http://schemas.openxmlformats.org/drawingml/2006/main">
            <a:r>
              <a:t>      "LLM Suite",</a:t>
            </a:r>
          </a:p>
          <a:p xmlns:a="http://schemas.openxmlformats.org/drawingml/2006/main">
            <a:r>
              <a:t>      "사업부 업무",</a:t>
            </a:r>
          </a:p>
          <a:p xmlns:a="http://schemas.openxmlformats.org/drawingml/2006/main">
            <a:r>
              <a:t>      "이용·운영 관리"</a:t>
            </a:r>
          </a:p>
          <a:p xmlns:a="http://schemas.openxmlformats.org/drawingml/2006/main">
            <a:r>
              <a:t>    ],</a:t>
            </a:r>
          </a:p>
          <a:p xmlns:a="http://schemas.openxmlformats.org/drawingml/2006/main">
            <a:r>
              <a:t>    "apply": "사업부별 데이터 접근과 전체 업무 절차를 기준으로 공통 AI의 적용 범위 확대",</a:t>
            </a:r>
          </a:p>
          <a:p xmlns:a="http://schemas.openxmlformats.org/drawingml/2006/main">
            <a:r>
              <a:t>    "delta": "기관 설정·회귀 평가·두 번째 부서 적용",</a:t>
            </a:r>
          </a:p>
          <a:p xmlns:a="http://schemas.openxmlformats.org/drawingml/2006/main">
            <a:r>
              <a:t>    "test": "도입기간·유지비·교육 부담의 기준선·비교 평가",</a:t>
            </a:r>
          </a:p>
          <a:p xmlns:a="http://schemas.openxmlformats.org/drawingml/2006/main">
            <a:r>
              <a:t>    "url": "https://www.jpmorganchase.com/about/technology/blog/innovation-week25",</a:t>
            </a:r>
          </a:p>
          <a:p xmlns:a="http://schemas.openxmlformats.org/drawingml/2006/main">
            <a:r>
              <a:t>    "urls": [</a:t>
            </a:r>
          </a:p>
          <a:p xmlns:a="http://schemas.openxmlformats.org/drawingml/2006/main">
            <a:r>
              <a:t>      "https://www.jpmorganchase.com/about/technology/blog/innovation-week25",</a:t>
            </a:r>
          </a:p>
          <a:p xmlns:a="http://schemas.openxmlformats.org/drawingml/2006/main">
            <a:r>
              <a:t>      "https://www.jpmorganchase.com/ir/annual-report/2025/ar-ceo-letter-petno-rohrbaugh"</a:t>
            </a:r>
          </a:p>
          <a:p xmlns:a="http://schemas.openxmlformats.org/drawingml/2006/main">
            <a:r>
              <a:t>    ],</a:t>
            </a:r>
          </a:p>
          <a:p xmlns:a="http://schemas.openxmlformats.org/drawingml/2006/main">
            <a:r>
              <a:t>    "basis": "P121~123·139 / 공통접근과 사업부 실행 분리",</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"도입기간·유지비·교육 부담",</a:t>
            </a:r>
          </a:p>
          <a:p xmlns:a="http://schemas.openxmlformats.org/drawingml/2006/main">
            <a:r>
              <a:t>    "group": "운영·실증",</a:t>
            </a:r>
          </a:p>
          <a:p xmlns:a="http://schemas.openxmlformats.org/drawingml/2006/main">
            <a:r>
              <a:t>    "sourceDetail": "자체 공통 도구 LLM Suite, 현대화된 데이터/클라우드 기반, 사업별 AI 적용\n공통 데이터 기반 위에 각 사업부 E2E 업무에 맞춘 전략",</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"PF-A18",</a:t>
            </a:r>
          </a:p>
          <a:p xmlns:a="http://schemas.openxmlformats.org/drawingml/2006/main">
            <a:r>
              <a:t>    "canonicalId": "PF-A18",</a:t>
            </a:r>
          </a:p>
          <a:p xmlns:a="http://schemas.openxmlformats.org/drawingml/2006/main">
            <a:r>
              <a:t>    "purpose": "공통 LLM 도구와 사업부 업무 확장",</a:t>
            </a:r>
          </a:p>
          <a:p xmlns:a="http://schemas.openxmlformats.org/drawingml/2006/main">
            <a:r>
              <a:t>    "users": "사업부 직원·AI·데이터 운영자",</a:t>
            </a:r>
          </a:p>
          <a:p xmlns:a="http://schemas.openxmlformats.org/drawingml/2006/main">
            <a:r>
              <a:t>    "scope": [</a:t>
            </a:r>
          </a:p>
          <a:p xmlns:a="http://schemas.openxmlformats.org/drawingml/2006/main">
            <a:r>
              <a:t>      "LLM Suite",</a:t>
            </a:r>
          </a:p>
          <a:p xmlns:a="http://schemas.openxmlformats.org/drawingml/2006/main">
            <a:r>
              <a:t>      "업무 문맥",</a:t>
            </a:r>
          </a:p>
          <a:p xmlns:a="http://schemas.openxmlformats.org/drawingml/2006/main">
            <a:r>
              <a:t>      "사업부 확산"</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"사업부 직원",</a:t>
            </a:r>
          </a:p>
          <a:p xmlns:a="http://schemas.openxmlformats.org/drawingml/2006/main">
            <a:r>
              <a:t>        "detail": "사업부·직무·자료 접근조건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"LLM Suite / 업무 문맥 / 사업부 확산",</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"LLM Suite",</a:t>
            </a:r>
          </a:p>
          <a:p xmlns:a="http://schemas.openxmlformats.org/drawingml/2006/main">
            <a:r>
              <a:t>        "detail": "공통 AI 서비스와 사업별 활용 절차 연결",</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"사업부 검토자",</a:t>
            </a:r>
          </a:p>
          <a:p xmlns:a="http://schemas.openxmlformats.org/drawingml/2006/main">
            <a:r>
              <a:t>        "detail": "직원 검토를 거친 업무 결과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"공통 데이터·업무 문맥",</a:t>
            </a:r>
          </a:p>
          <a:p xmlns:a="http://schemas.openxmlformats.org/drawingml/2006/main">
            <a:r>
              <a:t>        "detail": "전사 데이터 기반과 업무 문맥의 접근 통제",</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"사업부별 이용·정답·위험·운영 비용 평가",</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"공통 데이터",</a:t>
            </a:r>
          </a:p>
          <a:p xmlns:a="http://schemas.openxmlformats.org/drawingml/2006/main">
            <a:r>
              <a:t>        "input": "사업부·직무·자료 접근조건 구성",</a:t>
            </a:r>
          </a:p>
          <a:p xmlns:a="http://schemas.openxmlformats.org/drawingml/2006/main">
            <a:r>
              <a:t>        "process": "전사 데이터 기반과 업무 문맥의 접근 통제",</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"title": "LLM Suite",</a:t>
            </a:r>
          </a:p>
          <a:p xmlns:a="http://schemas.openxmlformats.org/drawingml/2006/main">
            <a:r>
              <a:t>        "input": "업무 요청",</a:t>
            </a:r>
          </a:p>
          <a:p xmlns:a="http://schemas.openxmlformats.org/drawingml/2006/main">
            <a:r>
              <a:t>        "process": "공통 AI 서비스와 사업별 활용 절차 연결",</a:t>
            </a:r>
          </a:p>
          <a:p xmlns:a="http://schemas.openxmlformats.org/drawingml/2006/main">
            <a:r>
              <a:t>        "output": "허용 문맥"</a:t>
            </a:r>
          </a:p>
          <a:p xmlns:a="http://schemas.openxmlformats.org/drawingml/2006/main">
            <a:r>
              <a:t>      },</a:t>
            </a:r>
          </a:p>
          <a:p xmlns:a="http://schemas.openxmlformats.org/drawingml/2006/main">
            <a:r>
              <a:t>      {</a:t>
            </a:r>
          </a:p>
          <a:p xmlns:a="http://schemas.openxmlformats.org/drawingml/2006/main">
            <a:r>
              <a:t>        "title": "사업부 업무",</a:t>
            </a:r>
          </a:p>
          <a:p xmlns:a="http://schemas.openxmlformats.org/drawingml/2006/main">
            <a:r>
              <a:t>        "input": "허용 문맥",</a:t>
            </a:r>
          </a:p>
          <a:p xmlns:a="http://schemas.openxmlformats.org/drawingml/2006/main">
            <a:r>
              <a:t>        "process": "사업부별 정답·권한·비용 평가",</a:t>
            </a:r>
          </a:p>
          <a:p xmlns:a="http://schemas.openxmlformats.org/drawingml/2006/main">
            <a:r>
              <a:t>        "output": "AI 결과"</a:t>
            </a:r>
          </a:p>
          <a:p xmlns:a="http://schemas.openxmlformats.org/drawingml/2006/main">
            <a:r>
              <a:t>      },</a:t>
            </a:r>
          </a:p>
          <a:p xmlns:a="http://schemas.openxmlformats.org/drawingml/2006/main">
            <a:r>
              <a:t>      {</a:t>
            </a:r>
          </a:p>
          <a:p xmlns:a="http://schemas.openxmlformats.org/drawingml/2006/main">
            <a:r>
              <a:t>        "title": "이용·운영 관리",</a:t>
            </a:r>
          </a:p>
          <a:p xmlns:a="http://schemas.openxmlformats.org/drawingml/2006/main">
            <a:r>
              <a:t>        "input": "AI 결과",</a:t>
            </a:r>
          </a:p>
          <a:p xmlns:a="http://schemas.openxmlformats.org/drawingml/2006/main">
            <a:r>
              <a:t>        "process": "직원 검토를 거친 업무 결과 제공",</a:t>
            </a:r>
          </a:p>
          <a:p xmlns:a="http://schemas.openxmlformats.org/drawingml/2006/main">
            <a:r>
              <a:t>        "output": "이용·운영 기록"</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"사업부 업무 문맥으로 공통 AI 지원 결과 활용",</a:t>
            </a:r>
          </a:p>
          <a:p xmlns:a="http://schemas.openxmlformats.org/drawingml/2006/main">
            <a:r>
              <a:t>      "exception": "사업부 간 지식 노출·개정 지연·비용 급증",</a:t>
            </a:r>
          </a:p>
          <a:p xmlns:a="http://schemas.openxmlformats.org/drawingml/2006/main">
            <a:r>
              <a:t>      "evidence": "부서별 권한·정답·응답비용·운영 로그",</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"사업부 직원·AI·데이터 운영자",</a:t>
            </a:r>
          </a:p>
          <a:p xmlns:a="http://schemas.openxmlformats.org/drawingml/2006/main">
            <a:r>
              <a:t>          "processing": "사업부·직무·자료 접근조건 구성",</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"공통 데이터·업무 문맥",</a:t>
            </a:r>
          </a:p>
          <a:p xmlns:a="http://schemas.openxmlformats.org/drawingml/2006/main">
            <a:r>
              <a:t>          "processing": "전사 데이터 기반과 업무 문맥의 접근 통제",</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"업무 요청",</a:t>
            </a:r>
          </a:p>
          <a:p xmlns:a="http://schemas.openxmlformats.org/drawingml/2006/main">
            <a:r>
              <a:t>          "processing": "공통 AI 서비스와 사업별 활용 절차 연결",</a:t>
            </a:r>
          </a:p>
          <a:p xmlns:a="http://schemas.openxmlformats.org/drawingml/2006/main">
            <a:r>
              <a:t>          "output": "AI 결과"</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"AI 결과",</a:t>
            </a:r>
          </a:p>
          <a:p xmlns:a="http://schemas.openxmlformats.org/drawingml/2006/main">
            <a:r>
              <a:t>          "processing": "직원 검토를 거친 업무 결과 제공",</a:t>
            </a:r>
          </a:p>
          <a:p xmlns:a="http://schemas.openxmlformats.org/drawingml/2006/main">
            <a:r>
              <a:t>          "output": "이용·운영 기록"</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"사업부별 이용·정답·위험·운영 비용 평가",</a:t>
            </a:r>
          </a:p>
          <a:p xmlns:a="http://schemas.openxmlformats.org/drawingml/2006/main">
            <a:r>
              <a:t>          "output": "부서별 권한·정답·응답비용·운영 로그"</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"사업부별 이용·정답·위험·운영 비용 평가",</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"P121~123·139 / 공통접근과 사업부 실행 분리",</a:t>
            </a:r>
          </a:p>
          <a:p xmlns:a="http://schemas.openxmlformats.org/drawingml/2006/main">
            <a:r>
              <a:t>        "url": "https://www.jpmorganchase.com/about/technology/blog/innovation-week25"</a:t>
            </a:r>
          </a:p>
          <a:p xmlns:a="http://schemas.openxmlformats.org/drawingml/2006/main">
            <a:r>
              <a:t>      }</a:t>
            </a:r>
          </a:p>
          <a:p xmlns:a="http://schemas.openxmlformats.org/drawingml/2006/main">
            <a:r>
              <a:t>    ],</a:t>
            </a:r>
          </a:p>
          <a:p xmlns:a="http://schemas.openxmlformats.org/drawingml/2006/main">
            <a:r>
              <a:t>    "implication": "사업부별 데이터 접근과 전체 업무 절차를 기준으로 공통 AI의 적용 범위 확대",</a:t>
            </a:r>
          </a:p>
          <a:p xmlns:a="http://schemas.openxmlformats.org/drawingml/2006/main">
            <a:r>
              <a:t>    "local": "사업부별 데이터 접근과 전체 업무 절차를 기준으로 공통 AI의 적용 범위 확대",</a:t>
            </a:r>
          </a:p>
          <a:p xmlns:a="http://schemas.openxmlformats.org/drawingml/2006/main">
            <a:r>
              <a:t>    "sourceDetail": "자체 공통 도구 LLM Suite, 현대화된 데이터/클라우드 기반, 사업별 AI 적용\n공통 데이터 기반 위에 각 사업부 E2E 업무에 맞춘 전략",</a:t>
            </a:r>
          </a:p>
          <a:p xmlns:a="http://schemas.openxmlformats.org/drawingml/2006/main">
            <a:r>
              <a:t>    "narrative": [</a:t>
            </a:r>
          </a:p>
          <a:p xmlns:a="http://schemas.openxmlformats.org/drawingml/2006/main">
            <a:r>
              <a:t>      "JPMorgan Chase의 공통 LLM Suite와 사업부 활용 확산 사례. 공통 도구와 전사 데이터 기반을 마련한 뒤 사업부의 업무별 적용을 확대하는 접근.",</a:t>
            </a:r>
          </a:p>
          <a:p xmlns:a="http://schemas.openxmlformats.org/drawingml/2006/main">
            <a:r>
              <a:t>      "직원·사업부 문맥, 공통 AI 호출, 허용 자료 연결, 결과 검토, 운영 관측의 계층으로 재구성. 공개 사례에서 확인한 이용 범위와 실제 내부 배치·데이터 연계·권한 구현은 분리해 해석하는 방식.",</a:t>
            </a:r>
          </a:p>
          <a:p xmlns:a="http://schemas.openxmlformats.org/drawingml/2006/main">
            <a:r>
              <a:t>      "TS 1차 구축에서는 공통 계층의 조직 매핑·권한·감사·지식 운영을 우선 인수하고 후속 부서 업무를 단계별로 추가하는 참고. 이용량 증가와 업무 완료 품질·비용·위험을 함께 관찰하는 확산 기준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"사업부 AI 접점",</a:t>
            </a:r>
          </a:p>
          <a:p xmlns:a="http://schemas.openxmlformats.org/drawingml/2006/main">
            <a:r>
              <a:t>          "layer": "이용 접점",</a:t>
            </a:r>
          </a:p>
          <a:p xmlns:a="http://schemas.openxmlformats.org/drawingml/2006/main">
            <a:r>
              <a:t>          "detail": "사업부 직원·AI·데이터 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"직무·자료 권한",</a:t>
            </a:r>
          </a:p>
          <a:p xmlns:a="http://schemas.openxmlformats.org/drawingml/2006/main">
            <a:r>
              <a:t>          "layer": "업무 문맥",</a:t>
            </a:r>
          </a:p>
          <a:p xmlns:a="http://schemas.openxmlformats.org/drawingml/2006/main">
            <a:r>
              <a:t>          "detail": "사업부·직무·자료 접근조건 구성",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"업무 문맥 조회",</a:t>
            </a:r>
          </a:p>
          <a:p xmlns:a="http://schemas.openxmlformats.org/drawingml/2006/main">
            <a:r>
              <a:t>          "layer": "자료 조회",</a:t>
            </a:r>
          </a:p>
          <a:p xmlns:a="http://schemas.openxmlformats.org/drawingml/2006/main">
            <a:r>
              <a:t>          "detail": "업무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"LLM Suite 지원",</a:t>
            </a:r>
          </a:p>
          <a:p xmlns:a="http://schemas.openxmlformats.org/drawingml/2006/main">
            <a:r>
              <a:t>          "layer": "핵심 처리",</a:t>
            </a:r>
          </a:p>
          <a:p xmlns:a="http://schemas.openxmlformats.org/drawingml/2006/main">
            <a:r>
              <a:t>          "detail": "공통 AI 서비스와 사업별 활용 절차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"근거·위험 검사",</a:t>
            </a:r>
          </a:p>
          <a:p xmlns:a="http://schemas.openxmlformats.org/drawingml/2006/main">
            <a:r>
              <a:t>          "layer": "결과 검증",</a:t>
            </a:r>
          </a:p>
          <a:p xmlns:a="http://schemas.openxmlformats.org/drawingml/2006/main">
            <a:r>
              <a:t>          "detail": "사업부별 정답·권한·비용 평가",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"사업부 직원 검토",</a:t>
            </a:r>
          </a:p>
          <a:p xmlns:a="http://schemas.openxmlformats.org/drawingml/2006/main">
            <a:r>
              <a:t>          "layer": "사람 확인",</a:t>
            </a:r>
          </a:p>
          <a:p xmlns:a="http://schemas.openxmlformats.org/drawingml/2006/main">
            <a:r>
              <a:t>          "detail": "사업부 업무 문맥으로 공통 AI 지원 결과 활용",</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"사업별 업무 활용",</a:t>
            </a:r>
          </a:p>
          <a:p xmlns:a="http://schemas.openxmlformats.org/drawingml/2006/main">
            <a:r>
              <a:t>          "layer": "업무 연결",</a:t>
            </a:r>
          </a:p>
          <a:p xmlns:a="http://schemas.openxmlformats.org/drawingml/2006/main">
            <a:r>
              <a:t>          "detail": "직원 검토를 거친 업무 결과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"비용·정답 평가",</a:t>
            </a:r>
          </a:p>
          <a:p xmlns:a="http://schemas.openxmlformats.org/drawingml/2006/main">
            <a:r>
              <a:t>          "layer": "운영 관측",</a:t>
            </a:r>
          </a:p>
          <a:p xmlns:a="http://schemas.openxmlformats.org/drawingml/2006/main">
            <a:r>
              <a:t>          "detail": "사업부별 이용·정답·위험·운영 비용 평가",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"전사·업무 자료",</a:t>
            </a:r>
          </a:p>
          <a:p xmlns:a="http://schemas.openxmlformats.org/drawingml/2006/main">
            <a:r>
              <a:t>          "layer": "데이터 원천",</a:t>
            </a:r>
          </a:p>
          <a:p xmlns:a="http://schemas.openxmlformats.org/drawingml/2006/main">
            <a:r>
              <a:t>          "detail": "공통 데이터·업무 문맥",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"접근범위 정리",</a:t>
            </a:r>
          </a:p>
          <a:p xmlns:a="http://schemas.openxmlformats.org/drawingml/2006/main">
            <a:r>
              <a:t>          "layer": "준비·갱신",</a:t>
            </a:r>
          </a:p>
          <a:p xmlns:a="http://schemas.openxmlformats.org/drawingml/2006/main">
            <a:r>
              <a:t>          "detail": "전사 데이터 기반과 업무 문맥의 접근 통제",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"문맥·평가 기록",</a:t>
            </a:r>
          </a:p>
          <a:p xmlns:a="http://schemas.openxmlformats.org/drawingml/2006/main">
            <a:r>
              <a:t>          "layer": "상태·지식 저장",</a:t>
            </a:r>
          </a:p>
          <a:p xmlns:a="http://schemas.openxmlformats.org/drawingml/2006/main">
            <a:r>
              <a:t>          "detail": "부서별 권한·정답·응답비용·운영 로그",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"사업부 실행 경계",</a:t>
            </a:r>
          </a:p>
          <a:p xmlns:a="http://schemas.openxmlformats.org/drawingml/2006/main">
            <a:r>
              <a:t>          "layer": "권한·정책",</a:t>
            </a:r>
          </a:p>
          <a:p xmlns:a="http://schemas.openxmlformats.org/drawingml/2006/main">
            <a:r>
              <a:t>          "detail": "사업부 간 지식 노출·개정 지연·비용 급증",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"사업부·직무·자료 접근조건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"업무 요청",</a:t>
            </a:r>
          </a:p>
          <a:p xmlns:a="http://schemas.openxmlformats.org/drawingml/2006/main">
            <a:r>
              <a:t>          "check": "사업부별 정답·권한·비용 평가"</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"허용 문맥",</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"AI 결과",</a:t>
            </a:r>
          </a:p>
          <a:p xmlns:a="http://schemas.openxmlformats.org/drawingml/2006/main">
            <a:r>
              <a:t>          "check": "사업부 간 지식 노출·개정 지연·비용 급증"</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"AI 결과",</a:t>
            </a:r>
          </a:p>
          <a:p xmlns:a="http://schemas.openxmlformats.org/drawingml/2006/main">
            <a:r>
              <a:t>          "check": "직원 검토를 거친 업무 결과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"이용·운영 기록",</a:t>
            </a:r>
          </a:p>
          <a:p xmlns:a="http://schemas.openxmlformats.org/drawingml/2006/main">
            <a:r>
              <a:t>          "check": "부서별 권한·정답·응답비용·운영 로그"</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"공통 LLM 도구와 사업부 업무 확장 / LLM Suite·업무 문맥·사업부 확산",</a:t>
            </a:r>
          </a:p>
          <a:p xmlns:a="http://schemas.openxmlformats.org/drawingml/2006/main">
            <a:r>
              <a:t>        "extension": "사업부별 데이터 접근과 전체 업무 절차를 기준으로 공통 AI의 적용 범위 확대"</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"사업부 간 지식 노출·개정 지연·비용 급증",</a:t>
            </a:r>
          </a:p>
          <a:p xmlns:a="http://schemas.openxmlformats.org/drawingml/2006/main">
            <a:r>
              <a:t>        "hold": "사업부별 정답·권한·비용 평가",</a:t>
            </a:r>
          </a:p>
          <a:p xmlns:a="http://schemas.openxmlformats.org/drawingml/2006/main">
            <a:r>
              <a:t>        "recovery": "사업부별 이용·정답·위험·운영 비용 평가",</a:t>
            </a:r>
          </a:p>
          <a:p xmlns:a="http://schemas.openxmlformats.org/drawingml/2006/main">
            <a:r>
              <a:t>        "evidence": "부서별 권한·정답·응답비용·운영 로그"</a:t>
            </a:r>
          </a:p>
          <a:p xmlns:a="http://schemas.openxmlformats.org/drawingml/2006/main">
            <a:r>
              <a:t>      },</a:t>
            </a:r>
          </a:p>
          <a:p xmlns:a="http://schemas.openxmlformats.org/drawingml/2006/main">
            <a:r>
              <a:t>      "data": {</a:t>
            </a:r>
          </a:p>
          <a:p xmlns:a="http://schemas.openxmlformats.org/drawingml/2006/main">
            <a:r>
              <a:t>        "source": "공통 데이터·업무 문맥",</a:t>
            </a:r>
          </a:p>
          <a:p xmlns:a="http://schemas.openxmlformats.org/drawingml/2006/main">
            <a:r>
              <a:t>        "prepare": "전사 데이터 기반과 업무 문맥의 접근 통제",</a:t>
            </a:r>
          </a:p>
          <a:p xmlns:a="http://schemas.openxmlformats.org/drawingml/2006/main">
            <a:r>
              <a:t>        "output": "업무 요청",</a:t>
            </a:r>
          </a:p>
          <a:p xmlns:a="http://schemas.openxmlformats.org/drawingml/2006/main">
            <a:r>
              <a:t>        "refresh": "사업부별 이용·정답·위험·운영 비용 평가"</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"PF-A18",</a:t>
            </a:r>
          </a:p>
          <a:p xmlns:a="http://schemas.openxmlformats.org/drawingml/2006/main">
            <a:r>
              <a:t>    "success": [</a:t>
            </a:r>
          </a:p>
          <a:p xmlns:a="http://schemas.openxmlformats.org/drawingml/2006/main">
            <a:r>
              <a:t>      "전사 공통 AI 기반",</a:t>
            </a:r>
          </a:p>
          <a:p xmlns:a="http://schemas.openxmlformats.org/drawingml/2006/main">
            <a:r>
              <a:t>      "사업부별 활용 접점의 확장"</a:t>
            </a:r>
          </a:p>
          <a:p xmlns:a="http://schemas.openxmlformats.org/drawingml/2006/main">
            <a:r>
              <a:t>    ],</a:t>
            </a:r>
          </a:p>
          <a:p xmlns:a="http://schemas.openxmlformats.org/drawingml/2006/main">
            <a:r>
              <a:t>    "risks": [</a:t>
            </a:r>
          </a:p>
          <a:p xmlns:a="http://schemas.openxmlformats.org/drawingml/2006/main">
            <a:r>
              <a:t>      "사업부별 지식·권한 차이",</a:t>
            </a:r>
          </a:p>
          <a:p xmlns:a="http://schemas.openxmlformats.org/drawingml/2006/main">
            <a:r>
              <a:t>      "전사 확산을 일률적 효과로 환산"</a:t>
            </a:r>
          </a:p>
          <a:p xmlns:a="http://schemas.openxmlformats.org/drawingml/2006/main">
            <a:r>
              <a:t>    ],</a:t>
            </a:r>
          </a:p>
          <a:p xmlns:a="http://schemas.openxmlformats.org/drawingml/2006/main">
            <a:r>
              <a:t>    "architecture": [</a:t>
            </a:r>
          </a:p>
          <a:p xmlns:a="http://schemas.openxmlformats.org/drawingml/2006/main">
            <a:r>
              <a:t>      "사업부 직원",</a:t>
            </a:r>
          </a:p>
          <a:p xmlns:a="http://schemas.openxmlformats.org/drawingml/2006/main">
            <a:r>
              <a:t>      "LLM Suite",</a:t>
            </a:r>
          </a:p>
          <a:p xmlns:a="http://schemas.openxmlformats.org/drawingml/2006/main">
            <a:r>
              <a:t>      "공통 데이터·업무 문맥",</a:t>
            </a:r>
          </a:p>
          <a:p xmlns:a="http://schemas.openxmlformats.org/drawingml/2006/main">
            <a:r>
              <a:t>      "사업부 검토자"</a:t>
            </a:r>
          </a:p>
          <a:p xmlns:a="http://schemas.openxmlformats.org/drawingml/2006/main">
            <a:r>
              <a:t>    ],</a:t>
            </a:r>
          </a:p>
          <a:p xmlns:a="http://schemas.openxmlformats.org/drawingml/2006/main">
            <a:r>
              <a:t>    "transfers": [</a:t>
            </a:r>
          </a:p>
          <a:p xmlns:a="http://schemas.openxmlformats.org/drawingml/2006/main">
            <a:r>
              <a:t>      "업무 요청",</a:t>
            </a:r>
          </a:p>
          <a:p xmlns:a="http://schemas.openxmlformats.org/drawingml/2006/main">
            <a:r>
              <a:t>      "허용 문맥",</a:t>
            </a:r>
          </a:p>
          <a:p xmlns:a="http://schemas.openxmlformats.org/drawingml/2006/main">
            <a:r>
              <a:t>      "AI 결과",</a:t>
            </a:r>
          </a:p>
          <a:p xmlns:a="http://schemas.openxmlformats.org/drawingml/2006/main">
            <a:r>
              <a:t>      "이용·운영 기록"</a:t>
            </a:r>
          </a:p>
          <a:p xmlns:a="http://schemas.openxmlformats.org/drawingml/2006/main">
            <a:r>
              <a:t>    ],</a:t>
            </a:r>
          </a:p>
          <a:p xmlns:a="http://schemas.openxmlformats.org/drawingml/2006/main">
            <a:r>
              <a:t>    "control": "사업부별 정답·권한·비용 평가",</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P121~123·139 / 공통접근과 사업부 실행 분리 https://www.jpmorganchase.com/about/technology/blog/innovation-week25</a:t>
            </a:r>
          </a:p>
          <a:p xmlns:a="http://schemas.openxmlformats.org/drawingml/2006/main">
            <a:r>
              <a:t>홈페이지 https://heen1987-ops.github.io/TS-business-Plan-001/index.html?view=platform-cases&amp;case=PF-A18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"PF-A18",</a:t>
            </a:r>
          </a:p>
          <a:p xmlns:a="http://schemas.openxmlformats.org/drawingml/2006/main">
            <a:r>
              <a:t>    "sourceId": "A18",</a:t>
            </a:r>
          </a:p>
          <a:p xmlns:a="http://schemas.openxmlformats.org/drawingml/2006/main">
            <a:r>
              <a:t>    "title": "JPMorganChase LLM Suite",</a:t>
            </a:r>
          </a:p>
          <a:p xmlns:a="http://schemas.openxmlformats.org/drawingml/2006/main">
            <a:r>
              <a:t>    "region": "해외",</a:t>
            </a:r>
          </a:p>
          <a:p xmlns:a="http://schemas.openxmlformats.org/drawingml/2006/main">
            <a:r>
              <a:t>    "owner": "JPMorganChase / LLM Suite",</a:t>
            </a:r>
          </a:p>
          <a:p xmlns:a="http://schemas.openxmlformats.org/drawingml/2006/main">
            <a:r>
              <a:t>    "state": "2024 출시, 2025 전사 확산·2025연차보고",</a:t>
            </a:r>
          </a:p>
          <a:p xmlns:a="http://schemas.openxmlformats.org/drawingml/2006/main">
            <a:r>
              <a:t>    "period": "기존 원장 확인 2026.10.16",</a:t>
            </a:r>
          </a:p>
          <a:p xmlns:a="http://schemas.openxmlformats.org/drawingml/2006/main">
            <a:r>
              <a:t>    "fact": "전사 공통 생성형 AI 플랫폼",</a:t>
            </a:r>
          </a:p>
          <a:p xmlns:a="http://schemas.openxmlformats.org/drawingml/2006/main">
            <a:r>
              <a:t>    "limit": "접근 가능과 활성이용 분모 다름. 거래심사 효율은 별도 AI 사례이며 LLM Suite 성과로 귀속 금지",</a:t>
            </a:r>
          </a:p>
          <a:p xmlns:a="http://schemas.openxmlformats.org/drawingml/2006/main">
            <a:r>
              <a:t>    "nodes": [</a:t>
            </a:r>
          </a:p>
          <a:p xmlns:a="http://schemas.openxmlformats.org/drawingml/2006/main">
            <a:r>
              <a:t>      "공통 데이터",</a:t>
            </a:r>
          </a:p>
          <a:p xmlns:a="http://schemas.openxmlformats.org/drawingml/2006/main">
            <a:r>
              <a:t>      "LLM Suite",</a:t>
            </a:r>
          </a:p>
          <a:p xmlns:a="http://schemas.openxmlformats.org/drawingml/2006/main">
            <a:r>
              <a:t>      "사업부 업무",</a:t>
            </a:r>
          </a:p>
          <a:p xmlns:a="http://schemas.openxmlformats.org/drawingml/2006/main">
            <a:r>
              <a:t>      "이용·운영 관리"</a:t>
            </a:r>
          </a:p>
          <a:p xmlns:a="http://schemas.openxmlformats.org/drawingml/2006/main">
            <a:r>
              <a:t>    ],</a:t>
            </a:r>
          </a:p>
          <a:p xmlns:a="http://schemas.openxmlformats.org/drawingml/2006/main">
            <a:r>
              <a:t>    "apply": "사업부별 데이터 접근과 전체 업무 절차를 기준으로 공통 AI의 적용 범위 확대",</a:t>
            </a:r>
          </a:p>
          <a:p xmlns:a="http://schemas.openxmlformats.org/drawingml/2006/main">
            <a:r>
              <a:t>    "delta": "기관 설정·회귀 평가·두 번째 부서 적용",</a:t>
            </a:r>
          </a:p>
          <a:p xmlns:a="http://schemas.openxmlformats.org/drawingml/2006/main">
            <a:r>
              <a:t>    "test": "도입기간·유지비·교육 부담의 기준선·비교 평가",</a:t>
            </a:r>
          </a:p>
          <a:p xmlns:a="http://schemas.openxmlformats.org/drawingml/2006/main">
            <a:r>
              <a:t>    "url": "https://www.jpmorganchase.com/about/technology/blog/innovation-week25",</a:t>
            </a:r>
          </a:p>
          <a:p xmlns:a="http://schemas.openxmlformats.org/drawingml/2006/main">
            <a:r>
              <a:t>    "urls": [</a:t>
            </a:r>
          </a:p>
          <a:p xmlns:a="http://schemas.openxmlformats.org/drawingml/2006/main">
            <a:r>
              <a:t>      "https://www.jpmorganchase.com/about/technology/blog/innovation-week25",</a:t>
            </a:r>
          </a:p>
          <a:p xmlns:a="http://schemas.openxmlformats.org/drawingml/2006/main">
            <a:r>
              <a:t>      "https://www.jpmorganchase.com/ir/annual-report/2025/ar-ceo-letter-petno-rohrbaugh"</a:t>
            </a:r>
          </a:p>
          <a:p xmlns:a="http://schemas.openxmlformats.org/drawingml/2006/main">
            <a:r>
              <a:t>    ],</a:t>
            </a:r>
          </a:p>
          <a:p xmlns:a="http://schemas.openxmlformats.org/drawingml/2006/main">
            <a:r>
              <a:t>    "basis": "P121~123·139 / 공통접근과 사업부 실행 분리",</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"도입기간·유지비·교육 부담",</a:t>
            </a:r>
          </a:p>
          <a:p xmlns:a="http://schemas.openxmlformats.org/drawingml/2006/main">
            <a:r>
              <a:t>    "group": "운영·실증",</a:t>
            </a:r>
          </a:p>
          <a:p xmlns:a="http://schemas.openxmlformats.org/drawingml/2006/main">
            <a:r>
              <a:t>    "sourceDetail": "자체 공통 도구 LLM Suite, 현대화된 데이터/클라우드 기반, 사업별 AI 적용\n공통 데이터 기반 위에 각 사업부 E2E 업무에 맞춘 전략",</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"PF-A18",</a:t>
            </a:r>
          </a:p>
          <a:p xmlns:a="http://schemas.openxmlformats.org/drawingml/2006/main">
            <a:r>
              <a:t>    "canonicalId": "PF-A18",</a:t>
            </a:r>
          </a:p>
          <a:p xmlns:a="http://schemas.openxmlformats.org/drawingml/2006/main">
            <a:r>
              <a:t>    "purpose": "공통 LLM 도구와 사업부 업무 확장",</a:t>
            </a:r>
          </a:p>
          <a:p xmlns:a="http://schemas.openxmlformats.org/drawingml/2006/main">
            <a:r>
              <a:t>    "users": "사업부 직원·AI·데이터 운영자",</a:t>
            </a:r>
          </a:p>
          <a:p xmlns:a="http://schemas.openxmlformats.org/drawingml/2006/main">
            <a:r>
              <a:t>    "scope": [</a:t>
            </a:r>
          </a:p>
          <a:p xmlns:a="http://schemas.openxmlformats.org/drawingml/2006/main">
            <a:r>
              <a:t>      "LLM Suite",</a:t>
            </a:r>
          </a:p>
          <a:p xmlns:a="http://schemas.openxmlformats.org/drawingml/2006/main">
            <a:r>
              <a:t>      "업무 문맥",</a:t>
            </a:r>
          </a:p>
          <a:p xmlns:a="http://schemas.openxmlformats.org/drawingml/2006/main">
            <a:r>
              <a:t>      "사업부 확산"</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"사업부 직원",</a:t>
            </a:r>
          </a:p>
          <a:p xmlns:a="http://schemas.openxmlformats.org/drawingml/2006/main">
            <a:r>
              <a:t>        "detail": "사업부·직무·자료 접근조건 구성",</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"LLM Suite / 업무 문맥 / 사업부 확산",</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"LLM Suite",</a:t>
            </a:r>
          </a:p>
          <a:p xmlns:a="http://schemas.openxmlformats.org/drawingml/2006/main">
            <a:r>
              <a:t>        "detail": "공통 AI 서비스와 사업별 활용 절차 연결",</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"사업부 검토자",</a:t>
            </a:r>
          </a:p>
          <a:p xmlns:a="http://schemas.openxmlformats.org/drawingml/2006/main">
            <a:r>
              <a:t>        "detail": "직원 검토를 거친 업무 결과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"공통 데이터·업무 문맥",</a:t>
            </a:r>
          </a:p>
          <a:p xmlns:a="http://schemas.openxmlformats.org/drawingml/2006/main">
            <a:r>
              <a:t>        "detail": "전사 데이터 기반과 업무 문맥의 접근 통제",</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"사업부별 이용·정답·위험·운영 비용 평가",</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"공통 데이터",</a:t>
            </a:r>
          </a:p>
          <a:p xmlns:a="http://schemas.openxmlformats.org/drawingml/2006/main">
            <a:r>
              <a:t>        "input": "사업부·직무·자료 접근조건 구성",</a:t>
            </a:r>
          </a:p>
          <a:p xmlns:a="http://schemas.openxmlformats.org/drawingml/2006/main">
            <a:r>
              <a:t>        "process": "전사 데이터 기반과 업무 문맥의 접근 통제",</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"title": "LLM Suite",</a:t>
            </a:r>
          </a:p>
          <a:p xmlns:a="http://schemas.openxmlformats.org/drawingml/2006/main">
            <a:r>
              <a:t>        "input": "업무 요청",</a:t>
            </a:r>
          </a:p>
          <a:p xmlns:a="http://schemas.openxmlformats.org/drawingml/2006/main">
            <a:r>
              <a:t>        "process": "공통 AI 서비스와 사업별 활용 절차 연결",</a:t>
            </a:r>
          </a:p>
          <a:p xmlns:a="http://schemas.openxmlformats.org/drawingml/2006/main">
            <a:r>
              <a:t>        "output": "허용 문맥"</a:t>
            </a:r>
          </a:p>
          <a:p xmlns:a="http://schemas.openxmlformats.org/drawingml/2006/main">
            <a:r>
              <a:t>      },</a:t>
            </a:r>
          </a:p>
          <a:p xmlns:a="http://schemas.openxmlformats.org/drawingml/2006/main">
            <a:r>
              <a:t>      {</a:t>
            </a:r>
          </a:p>
          <a:p xmlns:a="http://schemas.openxmlformats.org/drawingml/2006/main">
            <a:r>
              <a:t>        "title": "사업부 업무",</a:t>
            </a:r>
          </a:p>
          <a:p xmlns:a="http://schemas.openxmlformats.org/drawingml/2006/main">
            <a:r>
              <a:t>        "input": "허용 문맥",</a:t>
            </a:r>
          </a:p>
          <a:p xmlns:a="http://schemas.openxmlformats.org/drawingml/2006/main">
            <a:r>
              <a:t>        "process": "사업부별 정답·권한·비용 평가",</a:t>
            </a:r>
          </a:p>
          <a:p xmlns:a="http://schemas.openxmlformats.org/drawingml/2006/main">
            <a:r>
              <a:t>        "output": "AI 결과"</a:t>
            </a:r>
          </a:p>
          <a:p xmlns:a="http://schemas.openxmlformats.org/drawingml/2006/main">
            <a:r>
              <a:t>      },</a:t>
            </a:r>
          </a:p>
          <a:p xmlns:a="http://schemas.openxmlformats.org/drawingml/2006/main">
            <a:r>
              <a:t>      {</a:t>
            </a:r>
          </a:p>
          <a:p xmlns:a="http://schemas.openxmlformats.org/drawingml/2006/main">
            <a:r>
              <a:t>        "title": "이용·운영 관리",</a:t>
            </a:r>
          </a:p>
          <a:p xmlns:a="http://schemas.openxmlformats.org/drawingml/2006/main">
            <a:r>
              <a:t>        "input": "AI 결과",</a:t>
            </a:r>
          </a:p>
          <a:p xmlns:a="http://schemas.openxmlformats.org/drawingml/2006/main">
            <a:r>
              <a:t>        "process": "직원 검토를 거친 업무 결과 제공",</a:t>
            </a:r>
          </a:p>
          <a:p xmlns:a="http://schemas.openxmlformats.org/drawingml/2006/main">
            <a:r>
              <a:t>        "output": "이용·운영 기록"</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"사업부 업무 문맥으로 공통 AI 지원 결과 활용",</a:t>
            </a:r>
          </a:p>
          <a:p xmlns:a="http://schemas.openxmlformats.org/drawingml/2006/main">
            <a:r>
              <a:t>      "exception": "사업부 간 지식 노출·개정 지연·비용 급증",</a:t>
            </a:r>
          </a:p>
          <a:p xmlns:a="http://schemas.openxmlformats.org/drawingml/2006/main">
            <a:r>
              <a:t>      "evidence": "부서별 권한·정답·응답비용·운영 로그",</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"사업부 직원·AI·데이터 운영자",</a:t>
            </a:r>
          </a:p>
          <a:p xmlns:a="http://schemas.openxmlformats.org/drawingml/2006/main">
            <a:r>
              <a:t>          "processing": "사업부·직무·자료 접근조건 구성",</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"공통 데이터·업무 문맥",</a:t>
            </a:r>
          </a:p>
          <a:p xmlns:a="http://schemas.openxmlformats.org/drawingml/2006/main">
            <a:r>
              <a:t>          "processing": "전사 데이터 기반과 업무 문맥의 접근 통제",</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"업무 요청",</a:t>
            </a:r>
          </a:p>
          <a:p xmlns:a="http://schemas.openxmlformats.org/drawingml/2006/main">
            <a:r>
              <a:t>          "processing": "공통 AI 서비스와 사업별 활용 절차 연결",</a:t>
            </a:r>
          </a:p>
          <a:p xmlns:a="http://schemas.openxmlformats.org/drawingml/2006/main">
            <a:r>
              <a:t>          "output": "AI 결과"</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"AI 결과",</a:t>
            </a:r>
          </a:p>
          <a:p xmlns:a="http://schemas.openxmlformats.org/drawingml/2006/main">
            <a:r>
              <a:t>          "processing": "직원 검토를 거친 업무 결과 제공",</a:t>
            </a:r>
          </a:p>
          <a:p xmlns:a="http://schemas.openxmlformats.org/drawingml/2006/main">
            <a:r>
              <a:t>          "output": "이용·운영 기록"</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"사업부별 이용·정답·위험·운영 비용 평가",</a:t>
            </a:r>
          </a:p>
          <a:p xmlns:a="http://schemas.openxmlformats.org/drawingml/2006/main">
            <a:r>
              <a:t>          "output": "부서별 권한·정답·응답비용·운영 로그"</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"사업부별 이용·정답·위험·운영 비용 평가",</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"P121~123·139 / 공통접근과 사업부 실행 분리",</a:t>
            </a:r>
          </a:p>
          <a:p xmlns:a="http://schemas.openxmlformats.org/drawingml/2006/main">
            <a:r>
              <a:t>        "url": "https://www.jpmorganchase.com/about/technology/blog/innovation-week25"</a:t>
            </a:r>
          </a:p>
          <a:p xmlns:a="http://schemas.openxmlformats.org/drawingml/2006/main">
            <a:r>
              <a:t>      }</a:t>
            </a:r>
          </a:p>
          <a:p xmlns:a="http://schemas.openxmlformats.org/drawingml/2006/main">
            <a:r>
              <a:t>    ],</a:t>
            </a:r>
          </a:p>
          <a:p xmlns:a="http://schemas.openxmlformats.org/drawingml/2006/main">
            <a:r>
              <a:t>    "implication": "사업부별 데이터 접근과 전체 업무 절차를 기준으로 공통 AI의 적용 범위 확대",</a:t>
            </a:r>
          </a:p>
          <a:p xmlns:a="http://schemas.openxmlformats.org/drawingml/2006/main">
            <a:r>
              <a:t>    "local": "사업부별 데이터 접근과 전체 업무 절차를 기준으로 공통 AI의 적용 범위 확대",</a:t>
            </a:r>
          </a:p>
          <a:p xmlns:a="http://schemas.openxmlformats.org/drawingml/2006/main">
            <a:r>
              <a:t>    "sourceDetail": "자체 공통 도구 LLM Suite, 현대화된 데이터/클라우드 기반, 사업별 AI 적용\n공통 데이터 기반 위에 각 사업부 E2E 업무에 맞춘 전략",</a:t>
            </a:r>
          </a:p>
          <a:p xmlns:a="http://schemas.openxmlformats.org/drawingml/2006/main">
            <a:r>
              <a:t>    "narrative": [</a:t>
            </a:r>
          </a:p>
          <a:p xmlns:a="http://schemas.openxmlformats.org/drawingml/2006/main">
            <a:r>
              <a:t>      "JPMorgan Chase의 공통 LLM Suite와 사업부 활용 확산 사례. 공통 도구와 전사 데이터 기반을 마련한 뒤 사업부의 업무별 적용을 확대하는 접근.",</a:t>
            </a:r>
          </a:p>
          <a:p xmlns:a="http://schemas.openxmlformats.org/drawingml/2006/main">
            <a:r>
              <a:t>      "직원·사업부 문맥, 공통 AI 호출, 허용 자료 연결, 결과 검토, 운영 관측의 계층으로 재구성. 공개 사례에서 확인한 이용 범위와 실제 내부 배치·데이터 연계·권한 구현은 분리해 해석하는 방식.",</a:t>
            </a:r>
          </a:p>
          <a:p xmlns:a="http://schemas.openxmlformats.org/drawingml/2006/main">
            <a:r>
              <a:t>      "TS 1차 구축에서는 공통 계층의 조직 매핑·권한·감사·지식 운영을 우선 인수하고 후속 부서 업무를 단계별로 추가하는 참고. 이용량 증가와 업무 완료 품질·비용·위험을 함께 관찰하는 확산 기준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"사업부 AI 접점",</a:t>
            </a:r>
          </a:p>
          <a:p xmlns:a="http://schemas.openxmlformats.org/drawingml/2006/main">
            <a:r>
              <a:t>          "layer": "이용 접점",</a:t>
            </a:r>
          </a:p>
          <a:p xmlns:a="http://schemas.openxmlformats.org/drawingml/2006/main">
            <a:r>
              <a:t>          "detail": "사업부 직원·AI·데이터 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"직무·자료 권한",</a:t>
            </a:r>
          </a:p>
          <a:p xmlns:a="http://schemas.openxmlformats.org/drawingml/2006/main">
            <a:r>
              <a:t>          "layer": "업무 문맥",</a:t>
            </a:r>
          </a:p>
          <a:p xmlns:a="http://schemas.openxmlformats.org/drawingml/2006/main">
            <a:r>
              <a:t>          "detail": "사업부·직무·자료 접근조건 구성",</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"업무 문맥 조회",</a:t>
            </a:r>
          </a:p>
          <a:p xmlns:a="http://schemas.openxmlformats.org/drawingml/2006/main">
            <a:r>
              <a:t>          "layer": "자료 조회",</a:t>
            </a:r>
          </a:p>
          <a:p xmlns:a="http://schemas.openxmlformats.org/drawingml/2006/main">
            <a:r>
              <a:t>          "detail": "업무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"LLM Suite 지원",</a:t>
            </a:r>
          </a:p>
          <a:p xmlns:a="http://schemas.openxmlformats.org/drawingml/2006/main">
            <a:r>
              <a:t>          "layer": "핵심 처리",</a:t>
            </a:r>
          </a:p>
          <a:p xmlns:a="http://schemas.openxmlformats.org/drawingml/2006/main">
            <a:r>
              <a:t>          "detail": "공통 AI 서비스와 사업별 활용 절차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"근거·위험 검사",</a:t>
            </a:r>
          </a:p>
          <a:p xmlns:a="http://schemas.openxmlformats.org/drawingml/2006/main">
            <a:r>
              <a:t>          "layer": "결과 검증",</a:t>
            </a:r>
          </a:p>
          <a:p xmlns:a="http://schemas.openxmlformats.org/drawingml/2006/main">
            <a:r>
              <a:t>          "detail": "사업부별 정답·권한·비용 평가",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"사업부 직원 검토",</a:t>
            </a:r>
          </a:p>
          <a:p xmlns:a="http://schemas.openxmlformats.org/drawingml/2006/main">
            <a:r>
              <a:t>          "layer": "사람 확인",</a:t>
            </a:r>
          </a:p>
          <a:p xmlns:a="http://schemas.openxmlformats.org/drawingml/2006/main">
            <a:r>
              <a:t>          "detail": "사업부 업무 문맥으로 공통 AI 지원 결과 활용",</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"사업별 업무 활용",</a:t>
            </a:r>
          </a:p>
          <a:p xmlns:a="http://schemas.openxmlformats.org/drawingml/2006/main">
            <a:r>
              <a:t>          "layer": "업무 연결",</a:t>
            </a:r>
          </a:p>
          <a:p xmlns:a="http://schemas.openxmlformats.org/drawingml/2006/main">
            <a:r>
              <a:t>          "detail": "직원 검토를 거친 업무 결과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"비용·정답 평가",</a:t>
            </a:r>
          </a:p>
          <a:p xmlns:a="http://schemas.openxmlformats.org/drawingml/2006/main">
            <a:r>
              <a:t>          "layer": "운영 관측",</a:t>
            </a:r>
          </a:p>
          <a:p xmlns:a="http://schemas.openxmlformats.org/drawingml/2006/main">
            <a:r>
              <a:t>          "detail": "사업부별 이용·정답·위험·운영 비용 평가",</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"전사·업무 자료",</a:t>
            </a:r>
          </a:p>
          <a:p xmlns:a="http://schemas.openxmlformats.org/drawingml/2006/main">
            <a:r>
              <a:t>          "layer": "데이터 원천",</a:t>
            </a:r>
          </a:p>
          <a:p xmlns:a="http://schemas.openxmlformats.org/drawingml/2006/main">
            <a:r>
              <a:t>          "detail": "공통 데이터·업무 문맥",</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"접근범위 정리",</a:t>
            </a:r>
          </a:p>
          <a:p xmlns:a="http://schemas.openxmlformats.org/drawingml/2006/main">
            <a:r>
              <a:t>          "layer": "준비·갱신",</a:t>
            </a:r>
          </a:p>
          <a:p xmlns:a="http://schemas.openxmlformats.org/drawingml/2006/main">
            <a:r>
              <a:t>          "detail": "전사 데이터 기반과 업무 문맥의 접근 통제",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"문맥·평가 기록",</a:t>
            </a:r>
          </a:p>
          <a:p xmlns:a="http://schemas.openxmlformats.org/drawingml/2006/main">
            <a:r>
              <a:t>          "layer": "상태·지식 저장",</a:t>
            </a:r>
          </a:p>
          <a:p xmlns:a="http://schemas.openxmlformats.org/drawingml/2006/main">
            <a:r>
              <a:t>          "detail": "부서별 권한·정답·응답비용·운영 로그",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"사업부 실행 경계",</a:t>
            </a:r>
          </a:p>
          <a:p xmlns:a="http://schemas.openxmlformats.org/drawingml/2006/main">
            <a:r>
              <a:t>          "layer": "권한·정책",</a:t>
            </a:r>
          </a:p>
          <a:p xmlns:a="http://schemas.openxmlformats.org/drawingml/2006/main">
            <a:r>
              <a:t>          "detail": "사업부 간 지식 노출·개정 지연·비용 급증",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"사업부·직무·자료 접근조건 구성",</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"업무 요청",</a:t>
            </a:r>
          </a:p>
          <a:p xmlns:a="http://schemas.openxmlformats.org/drawingml/2006/main">
            <a:r>
              <a:t>          "check": "사업부별 정답·권한·비용 평가"</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"허용 문맥",</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"AI 결과",</a:t>
            </a:r>
          </a:p>
          <a:p xmlns:a="http://schemas.openxmlformats.org/drawingml/2006/main">
            <a:r>
              <a:t>          "check": "사업부 간 지식 노출·개정 지연·비용 급증"</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"AI 결과",</a:t>
            </a:r>
          </a:p>
          <a:p xmlns:a="http://schemas.openxmlformats.org/drawingml/2006/main">
            <a:r>
              <a:t>          "check": "직원 검토를 거친 업무 결과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"이용·운영 기록",</a:t>
            </a:r>
          </a:p>
          <a:p xmlns:a="http://schemas.openxmlformats.org/drawingml/2006/main">
            <a:r>
              <a:t>          "check": "부서별 권한·정답·응답비용·운영 로그"</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"공통 LLM 도구와 사업부 업무 확장 / LLM Suite·업무 문맥·사업부 확산",</a:t>
            </a:r>
          </a:p>
          <a:p xmlns:a="http://schemas.openxmlformats.org/drawingml/2006/main">
            <a:r>
              <a:t>        "extension": "사업부별 데이터 접근과 전체 업무 절차를 기준으로 공통 AI의 적용 범위 확대"</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"사업부 간 지식 노출·개정 지연·비용 급증",</a:t>
            </a:r>
          </a:p>
          <a:p xmlns:a="http://schemas.openxmlformats.org/drawingml/2006/main">
            <a:r>
              <a:t>        "hold": "사업부별 정답·권한·비용 평가",</a:t>
            </a:r>
          </a:p>
          <a:p xmlns:a="http://schemas.openxmlformats.org/drawingml/2006/main">
            <a:r>
              <a:t>        "recovery": "사업부별 이용·정답·위험·운영 비용 평가",</a:t>
            </a:r>
          </a:p>
          <a:p xmlns:a="http://schemas.openxmlformats.org/drawingml/2006/main">
            <a:r>
              <a:t>        "evidence": "부서별 권한·정답·응답비용·운영 로그"</a:t>
            </a:r>
          </a:p>
          <a:p xmlns:a="http://schemas.openxmlformats.org/drawingml/2006/main">
            <a:r>
              <a:t>      },</a:t>
            </a:r>
          </a:p>
          <a:p xmlns:a="http://schemas.openxmlformats.org/drawingml/2006/main">
            <a:r>
              <a:t>      "data": {</a:t>
            </a:r>
          </a:p>
          <a:p xmlns:a="http://schemas.openxmlformats.org/drawingml/2006/main">
            <a:r>
              <a:t>        "source": "공통 데이터·업무 문맥",</a:t>
            </a:r>
          </a:p>
          <a:p xmlns:a="http://schemas.openxmlformats.org/drawingml/2006/main">
            <a:r>
              <a:t>        "prepare": "전사 데이터 기반과 업무 문맥의 접근 통제",</a:t>
            </a:r>
          </a:p>
          <a:p xmlns:a="http://schemas.openxmlformats.org/drawingml/2006/main">
            <a:r>
              <a:t>        "output": "업무 요청",</a:t>
            </a:r>
          </a:p>
          <a:p xmlns:a="http://schemas.openxmlformats.org/drawingml/2006/main">
            <a:r>
              <a:t>        "refresh": "사업부별 이용·정답·위험·운영 비용 평가"</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"PF-A18",</a:t>
            </a:r>
          </a:p>
          <a:p xmlns:a="http://schemas.openxmlformats.org/drawingml/2006/main">
            <a:r>
              <a:t>    "success": [</a:t>
            </a:r>
          </a:p>
          <a:p xmlns:a="http://schemas.openxmlformats.org/drawingml/2006/main">
            <a:r>
              <a:t>      "전사 공통 AI 기반",</a:t>
            </a:r>
          </a:p>
          <a:p xmlns:a="http://schemas.openxmlformats.org/drawingml/2006/main">
            <a:r>
              <a:t>      "사업부별 활용 접점의 확장"</a:t>
            </a:r>
          </a:p>
          <a:p xmlns:a="http://schemas.openxmlformats.org/drawingml/2006/main">
            <a:r>
              <a:t>    ],</a:t>
            </a:r>
          </a:p>
          <a:p xmlns:a="http://schemas.openxmlformats.org/drawingml/2006/main">
            <a:r>
              <a:t>    "risks": [</a:t>
            </a:r>
          </a:p>
          <a:p xmlns:a="http://schemas.openxmlformats.org/drawingml/2006/main">
            <a:r>
              <a:t>      "사업부별 지식·권한 차이",</a:t>
            </a:r>
          </a:p>
          <a:p xmlns:a="http://schemas.openxmlformats.org/drawingml/2006/main">
            <a:r>
              <a:t>      "전사 확산을 일률적 효과로 환산"</a:t>
            </a:r>
          </a:p>
          <a:p xmlns:a="http://schemas.openxmlformats.org/drawingml/2006/main">
            <a:r>
              <a:t>    ],</a:t>
            </a:r>
          </a:p>
          <a:p xmlns:a="http://schemas.openxmlformats.org/drawingml/2006/main">
            <a:r>
              <a:t>    "architecture": [</a:t>
            </a:r>
          </a:p>
          <a:p xmlns:a="http://schemas.openxmlformats.org/drawingml/2006/main">
            <a:r>
              <a:t>      "사업부 직원",</a:t>
            </a:r>
          </a:p>
          <a:p xmlns:a="http://schemas.openxmlformats.org/drawingml/2006/main">
            <a:r>
              <a:t>      "LLM Suite",</a:t>
            </a:r>
          </a:p>
          <a:p xmlns:a="http://schemas.openxmlformats.org/drawingml/2006/main">
            <a:r>
              <a:t>      "공통 데이터·업무 문맥",</a:t>
            </a:r>
          </a:p>
          <a:p xmlns:a="http://schemas.openxmlformats.org/drawingml/2006/main">
            <a:r>
              <a:t>      "사업부 검토자"</a:t>
            </a:r>
          </a:p>
          <a:p xmlns:a="http://schemas.openxmlformats.org/drawingml/2006/main">
            <a:r>
              <a:t>    ],</a:t>
            </a:r>
          </a:p>
          <a:p xmlns:a="http://schemas.openxmlformats.org/drawingml/2006/main">
            <a:r>
              <a:t>    "transfers": [</a:t>
            </a:r>
          </a:p>
          <a:p xmlns:a="http://schemas.openxmlformats.org/drawingml/2006/main">
            <a:r>
              <a:t>      "업무 요청",</a:t>
            </a:r>
          </a:p>
          <a:p xmlns:a="http://schemas.openxmlformats.org/drawingml/2006/main">
            <a:r>
              <a:t>      "허용 문맥",</a:t>
            </a:r>
          </a:p>
          <a:p xmlns:a="http://schemas.openxmlformats.org/drawingml/2006/main">
            <a:r>
              <a:t>      "AI 결과",</a:t>
            </a:r>
          </a:p>
          <a:p xmlns:a="http://schemas.openxmlformats.org/drawingml/2006/main">
            <a:r>
              <a:t>      "이용·운영 기록"</a:t>
            </a:r>
          </a:p>
          <a:p xmlns:a="http://schemas.openxmlformats.org/drawingml/2006/main">
            <a:r>
              <a:t>    ],</a:t>
            </a:r>
          </a:p>
          <a:p xmlns:a="http://schemas.openxmlformats.org/drawingml/2006/main">
            <a:r>
              <a:t>    "control": "사업부별 정답·권한·비용 평가",</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P121~123·139 / 공통접근과 사업부 실행 분리 https://www.jpmorganchase.com/about/technology/blog/innovation-week25</a:t>
            </a:r>
          </a:p>
          <a:p xmlns:a="http://schemas.openxmlformats.org/drawingml/2006/main">
            <a:r>
              <a:t>홈페이지 https://heen1987-ops.github.io/TS-business-Plan-001/index.html?view=platform-cases&amp;case=PF-A18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"PF-C01",</a:t>
            </a:r>
          </a:p>
          <a:p xmlns:a="http://schemas.openxmlformats.org/drawingml/2006/main">
            <a:r>
              <a:t>    "sourceId": "C01",</a:t>
            </a:r>
          </a:p>
          <a:p xmlns:a="http://schemas.openxmlformats.org/drawingml/2006/main">
            <a:r>
              <a:t>    "title": "M365 조직 관계",</a:t>
            </a:r>
          </a:p>
          <a:p xmlns:a="http://schemas.openxmlformats.org/drawingml/2006/main">
            <a:r>
              <a:t>    "region": "해외",</a:t>
            </a:r>
          </a:p>
          <a:p xmlns:a="http://schemas.openxmlformats.org/drawingml/2006/main">
            <a:r>
              <a:t>    "owner": "Microsoft 365 Copilot / 조직 관계",</a:t>
            </a:r>
          </a:p>
          <a:p xmlns:a="http://schemas.openxmlformats.org/drawingml/2006/main">
            <a:r>
              <a:t>    "state": "2026-07-23 문서 / 2026-10-16 확인",</a:t>
            </a:r>
          </a:p>
          <a:p xmlns:a="http://schemas.openxmlformats.org/drawingml/2006/main">
            <a:r>
              <a:t>    "period": "기존 원장 확인 2026.10.16",</a:t>
            </a:r>
          </a:p>
          <a:p xmlns:a="http://schemas.openxmlformats.org/drawingml/2006/main">
            <a:r>
              <a:t>    "fact": "제품 기능 비교 / 기관 도입 성과 아님",</a:t>
            </a:r>
          </a:p>
          <a:p xmlns:a="http://schemas.openxmlformats.org/drawingml/2006/main">
            <a:r>
              <a:t>    "limit": "지원 관계·데이터 조건에 따름. TS 업무분장·권한 변경 처리 품질은 별도 시험 필요",</a:t>
            </a:r>
          </a:p>
          <a:p xmlns:a="http://schemas.openxmlformats.org/drawingml/2006/main">
            <a:r>
              <a:t>    "nodes": [</a:t>
            </a:r>
          </a:p>
          <a:p xmlns:a="http://schemas.openxmlformats.org/drawingml/2006/main">
            <a:r>
              <a:t>      "직원 정보",</a:t>
            </a:r>
          </a:p>
          <a:p xmlns:a="http://schemas.openxmlformats.org/drawingml/2006/main">
            <a:r>
              <a:t>      "관계 커넥터",</a:t>
            </a:r>
          </a:p>
          <a:p xmlns:a="http://schemas.openxmlformats.org/drawingml/2006/main">
            <a:r>
              <a:t>      "조직 관계 질의",</a:t>
            </a:r>
          </a:p>
          <a:p xmlns:a="http://schemas.openxmlformats.org/drawingml/2006/main">
            <a:r>
              <a:t>      "접근 범위 응답"</a:t>
            </a:r>
          </a:p>
          <a:p xmlns:a="http://schemas.openxmlformats.org/drawingml/2006/main">
            <a:r>
              <a:t>    ],</a:t>
            </a:r>
          </a:p>
          <a:p xmlns:a="http://schemas.openxmlformats.org/drawingml/2006/main">
            <a:r>
              <a:t>    "apply": "직원 관계 인식과 데이터 접근권한을 각각 검증하는 조직 모델",</a:t>
            </a:r>
          </a:p>
          <a:p xmlns:a="http://schemas.openxmlformats.org/drawingml/2006/main">
            <a:r>
              <a:t>    "delta": "사번·직무·별칭·겸직·책임업무 매핑",</a:t>
            </a:r>
          </a:p>
          <a:p xmlns:a="http://schemas.openxmlformats.org/drawingml/2006/main">
            <a:r>
              <a:t>    "test": "인물 식별·직무 매핑 정확도의 기준선·비교 평가",</a:t>
            </a:r>
          </a:p>
          <a:p xmlns:a="http://schemas.openxmlformats.org/drawingml/2006/main">
            <a:r>
              <a:t>    "url": "https://learn.microsoft.com/en-us/microsoft-365/admin/people-relationships-m365?view=o365-worldwide",</a:t>
            </a:r>
          </a:p>
          <a:p xmlns:a="http://schemas.openxmlformats.org/drawingml/2006/main">
            <a:r>
              <a:t>    "urls": [</a:t>
            </a:r>
          </a:p>
          <a:p xmlns:a="http://schemas.openxmlformats.org/drawingml/2006/main">
            <a:r>
              <a:t>      "https://learn.microsoft.com/en-us/microsoft-365/admin/people-relationships-m365?view=o365-worldwide"</a:t>
            </a:r>
          </a:p>
          <a:p xmlns:a="http://schemas.openxmlformats.org/drawingml/2006/main">
            <a:r>
              <a:t>    ],</a:t>
            </a:r>
          </a:p>
          <a:p xmlns:a="http://schemas.openxmlformats.org/drawingml/2006/main">
            <a:r>
              <a:t>    "basis": "People relationships in Microsoft 365",</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"인물 식별·직무 매핑 정확도",</a:t>
            </a:r>
          </a:p>
          <a:p xmlns:a="http://schemas.openxmlformats.org/drawingml/2006/main">
            <a:r>
              <a:t>    "group": "제품 비교",</a:t>
            </a:r>
          </a:p>
          <a:p xmlns:a="http://schemas.openxmlformats.org/drawingml/2006/main">
            <a:r>
              <a:t>    "sourceDetail": "상사·보좌·점선 보고·맞춤 관계를 지원 데이터 커넥터를 통해 질의응답에 활용",</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"PF-C01",</a:t>
            </a:r>
          </a:p>
          <a:p xmlns:a="http://schemas.openxmlformats.org/drawingml/2006/main">
            <a:r>
              <a:t>    "canonicalId": "PF-C01",</a:t>
            </a:r>
          </a:p>
          <a:p xmlns:a="http://schemas.openxmlformats.org/drawingml/2006/main">
            <a:r>
              <a:t>    "purpose": "공식 직원 관계를 질의 문맥으로 활용",</a:t>
            </a:r>
          </a:p>
          <a:p xmlns:a="http://schemas.openxmlformats.org/drawingml/2006/main">
            <a:r>
              <a:t>    "users": "직원·디렉터리 관리자",</a:t>
            </a:r>
          </a:p>
          <a:p xmlns:a="http://schemas.openxmlformats.org/drawingml/2006/main">
            <a:r>
              <a:t>    "scope": [</a:t>
            </a:r>
          </a:p>
          <a:p xmlns:a="http://schemas.openxmlformats.org/drawingml/2006/main">
            <a:r>
              <a:t>      "상사",</a:t>
            </a:r>
          </a:p>
          <a:p xmlns:a="http://schemas.openxmlformats.org/drawingml/2006/main">
            <a:r>
              <a:t>      "보좌·점선 보고",</a:t>
            </a:r>
          </a:p>
          <a:p xmlns:a="http://schemas.openxmlformats.org/drawingml/2006/main">
            <a:r>
              <a:t>      "맞춤 관계"</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"직원 디렉터리",</a:t>
            </a:r>
          </a:p>
          <a:p xmlns:a="http://schemas.openxmlformats.org/drawingml/2006/main">
            <a:r>
              <a:t>        "detail": "로그인 사용자와 관계 질의 대상 식별",</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"상사 / 보좌·점선 보고 / 맞춤 관계",</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"관계 커넥터",</a:t>
            </a:r>
          </a:p>
          <a:p xmlns:a="http://schemas.openxmlformats.org/drawingml/2006/main">
            <a:r>
              <a:t>        "detail": "지원 커넥터의 관계 유형과 직원 ID 매칭",</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"관계 질의 이용자",</a:t>
            </a:r>
          </a:p>
          <a:p xmlns:a="http://schemas.openxmlformats.org/drawingml/2006/main">
            <a:r>
              <a:t>        "detail": "허용된 조직 관계를 질의 응답에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"조직·직원 관계",</a:t>
            </a:r>
          </a:p>
          <a:p xmlns:a="http://schemas.openxmlformats.org/drawingml/2006/main">
            <a:r>
              <a:t>        "detail": "직원 디렉터리·관계 유형·효력일 정합화",</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"전보·겸직·관계 해제 이후 결과 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"직원 정보",</a:t>
            </a:r>
          </a:p>
          <a:p xmlns:a="http://schemas.openxmlformats.org/drawingml/2006/main">
            <a:r>
              <a:t>        "input": "로그인 사용자와 관계 질의 대상 식별",</a:t>
            </a:r>
          </a:p>
          <a:p xmlns:a="http://schemas.openxmlformats.org/drawingml/2006/main">
            <a:r>
              <a:t>        "process": "직원 디렉터리·관계 유형·효력일 정합화",</a:t>
            </a:r>
          </a:p>
          <a:p xmlns:a="http://schemas.openxmlformats.org/drawingml/2006/main">
            <a:r>
              <a:t>        "output": "직원 정보"</a:t>
            </a:r>
          </a:p>
          <a:p xmlns:a="http://schemas.openxmlformats.org/drawingml/2006/main">
            <a:r>
              <a:t>      },</a:t>
            </a:r>
          </a:p>
          <a:p xmlns:a="http://schemas.openxmlformats.org/drawingml/2006/main">
            <a:r>
              <a:t>      {</a:t>
            </a:r>
          </a:p>
          <a:p xmlns:a="http://schemas.openxmlformats.org/drawingml/2006/main">
            <a:r>
              <a:t>        "title": "관계 커넥터",</a:t>
            </a:r>
          </a:p>
          <a:p xmlns:a="http://schemas.openxmlformats.org/drawingml/2006/main">
            <a:r>
              <a:t>        "input": "직원 정보",</a:t>
            </a:r>
          </a:p>
          <a:p xmlns:a="http://schemas.openxmlformats.org/drawingml/2006/main">
            <a:r>
              <a:t>        "process": "지원 커넥터의 관계 유형과 직원 ID 매칭",</a:t>
            </a:r>
          </a:p>
          <a:p xmlns:a="http://schemas.openxmlformats.org/drawingml/2006/main">
            <a:r>
              <a:t>        "output": "관계 매핑"</a:t>
            </a:r>
          </a:p>
          <a:p xmlns:a="http://schemas.openxmlformats.org/drawingml/2006/main">
            <a:r>
              <a:t>      },</a:t>
            </a:r>
          </a:p>
          <a:p xmlns:a="http://schemas.openxmlformats.org/drawingml/2006/main">
            <a:r>
              <a:t>      {</a:t>
            </a:r>
          </a:p>
          <a:p xmlns:a="http://schemas.openxmlformats.org/drawingml/2006/main">
            <a:r>
              <a:t>        "title": "조직 관계 질의",</a:t>
            </a:r>
          </a:p>
          <a:p xmlns:a="http://schemas.openxmlformats.org/drawingml/2006/main">
            <a:r>
              <a:t>        "input": "관계 매핑",</a:t>
            </a:r>
          </a:p>
          <a:p xmlns:a="http://schemas.openxmlformats.org/drawingml/2006/main">
            <a:r>
              <a:t>        "process": "신원·효력일과 권한 원천 분리",</a:t>
            </a:r>
          </a:p>
          <a:p xmlns:a="http://schemas.openxmlformats.org/drawingml/2006/main">
            <a:r>
              <a:t>        "output": "관계 질의"</a:t>
            </a:r>
          </a:p>
          <a:p xmlns:a="http://schemas.openxmlformats.org/drawingml/2006/main">
            <a:r>
              <a:t>      },</a:t>
            </a:r>
          </a:p>
          <a:p xmlns:a="http://schemas.openxmlformats.org/drawingml/2006/main">
            <a:r>
              <a:t>      {</a:t>
            </a:r>
          </a:p>
          <a:p xmlns:a="http://schemas.openxmlformats.org/drawingml/2006/main">
            <a:r>
              <a:t>        "title": "접근 범위 응답",</a:t>
            </a:r>
          </a:p>
          <a:p xmlns:a="http://schemas.openxmlformats.org/drawingml/2006/main">
            <a:r>
              <a:t>        "input": "관계 질의",</a:t>
            </a:r>
          </a:p>
          <a:p xmlns:a="http://schemas.openxmlformats.org/drawingml/2006/main">
            <a:r>
              <a:t>        "process": "허용된 조직 관계를 질의 응답에 제공",</a:t>
            </a:r>
          </a:p>
          <a:p xmlns:a="http://schemas.openxmlformats.org/drawingml/2006/main">
            <a:r>
              <a:t>        "output": "허용 응답"</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"상사·겸직·점선 보고 관계를 대상 직원 ID로 조회",</a:t>
            </a:r>
          </a:p>
          <a:p xmlns:a="http://schemas.openxmlformats.org/drawingml/2006/main">
            <a:r>
              <a:t>      "exception": "동명이인·전보일 경계·종료된 대행관계",</a:t>
            </a:r>
          </a:p>
          <a:p xmlns:a="http://schemas.openxmlformats.org/drawingml/2006/main">
            <a:r>
              <a:t>      "evidence": "원천 관계와 응답의 ID·효력일·권한 대사",</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"직원·디렉터리 관리자",</a:t>
            </a:r>
          </a:p>
          <a:p xmlns:a="http://schemas.openxmlformats.org/drawingml/2006/main">
            <a:r>
              <a:t>          "processing": "로그인 사용자와 관계 질의 대상 식별",</a:t>
            </a:r>
          </a:p>
          <a:p xmlns:a="http://schemas.openxmlformats.org/drawingml/2006/main">
            <a:r>
              <a:t>          "output": "직원 정보"</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"조직·직원 관계",</a:t>
            </a:r>
          </a:p>
          <a:p xmlns:a="http://schemas.openxmlformats.org/drawingml/2006/main">
            <a:r>
              <a:t>          "processing": "직원 디렉터리·관계 유형·효력일 정합화",</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"직원 정보",</a:t>
            </a:r>
          </a:p>
          <a:p xmlns:a="http://schemas.openxmlformats.org/drawingml/2006/main">
            <a:r>
              <a:t>          "processing": "지원 커넥터의 관계 유형과 직원 ID 매칭",</a:t>
            </a:r>
          </a:p>
          <a:p xmlns:a="http://schemas.openxmlformats.org/drawingml/2006/main">
            <a:r>
              <a:t>          "output": "관계 질의"</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"관계 질의",</a:t>
            </a:r>
          </a:p>
          <a:p xmlns:a="http://schemas.openxmlformats.org/drawingml/2006/main">
            <a:r>
              <a:t>          "processing": "허용된 조직 관계를 질의 응답에 제공",</a:t>
            </a:r>
          </a:p>
          <a:p xmlns:a="http://schemas.openxmlformats.org/drawingml/2006/main">
            <a:r>
              <a:t>          "output": "허용 응답"</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"전보·겸직·관계 해제 이후 결과 대사",</a:t>
            </a:r>
          </a:p>
          <a:p xmlns:a="http://schemas.openxmlformats.org/drawingml/2006/main">
            <a:r>
              <a:t>          "output": "원천 관계와 응답의 ID·효력일·권한 대사"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"전보·겸직·관계 해제 이후 결과 대사",</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"People relationships in Microsoft 365",</a:t>
            </a:r>
          </a:p>
          <a:p xmlns:a="http://schemas.openxmlformats.org/drawingml/2006/main">
            <a:r>
              <a:t>        "url": "https://learn.microsoft.com/en-us/microsoft-365/admin/people-relationships-m365?view=o365-worldwide"</a:t>
            </a:r>
          </a:p>
          <a:p xmlns:a="http://schemas.openxmlformats.org/drawingml/2006/main">
            <a:r>
              <a:t>      }</a:t>
            </a:r>
          </a:p>
          <a:p xmlns:a="http://schemas.openxmlformats.org/drawingml/2006/main">
            <a:r>
              <a:t>    ],</a:t>
            </a:r>
          </a:p>
          <a:p xmlns:a="http://schemas.openxmlformats.org/drawingml/2006/main">
            <a:r>
              <a:t>    "implication": "직원 관계 인식과 데이터 접근권한을 각각 검증하는 조직 모델",</a:t>
            </a:r>
          </a:p>
          <a:p xmlns:a="http://schemas.openxmlformats.org/drawingml/2006/main">
            <a:r>
              <a:t>    "local": "직원 관계 인식과 데이터 접근권한을 각각 검증하는 조직 모델",</a:t>
            </a:r>
          </a:p>
          <a:p xmlns:a="http://schemas.openxmlformats.org/drawingml/2006/main">
            <a:r>
              <a:t>    "sourceDetail": "상사·보좌·점선 보고·맞춤 관계를 지원 데이터 커넥터를 통해 질의응답에 활용",</a:t>
            </a:r>
          </a:p>
          <a:p xmlns:a="http://schemas.openxmlformats.org/drawingml/2006/main">
            <a:r>
              <a:t>    "narrative": [</a:t>
            </a:r>
          </a:p>
          <a:p xmlns:a="http://schemas.openxmlformats.org/drawingml/2006/main">
            <a:r>
              <a:t>      "Microsoft Graph의 조직 관계 활용 기능을 조직 네이티브 AI의 구성요소 관점에서 분석한 사례. 상사·보고 관계·추가 관계를 식별해 질의 대상과 업무 문맥을 연결하는 기능 범위.",</a:t>
            </a:r>
          </a:p>
          <a:p xmlns:a="http://schemas.openxmlformats.org/drawingml/2006/main">
            <a:r>
              <a:t>      "지원되는 디렉터리·관계 유형과 직원 식별정보를 대조하고 요청자에게 허용된 관계 정보를 조회하는 흐름. 직원 이름을 단순 검색어로 사용하는 방식과 공식 ID·관계 유형·효력일을 이용하는 방식의 차이를 비교하는 설계.",</a:t>
            </a:r>
          </a:p>
          <a:p xmlns:a="http://schemas.openxmlformats.org/drawingml/2006/main">
            <a:r>
              <a:t>      "직속 상사 관계가 문서 열람·결재 권한을 자동 부여하는 근거는 아님. TS에서는 조직 관계 그래프와 업무시스템의 권한 정책을 분리하고 겸직·파견·대결·전보·동명이인 조건에서 허용된 관계와 실제 접근 권한을 함께 시험."</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"조직 관계 질의",</a:t>
            </a:r>
          </a:p>
          <a:p xmlns:a="http://schemas.openxmlformats.org/drawingml/2006/main">
            <a:r>
              <a:t>          "layer": "이용 접점",</a:t>
            </a:r>
          </a:p>
          <a:p xmlns:a="http://schemas.openxmlformats.org/drawingml/2006/main">
            <a:r>
              <a:t>          "detail": "직원·디렉터리 관리자",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"로그인·대상 ID",</a:t>
            </a:r>
          </a:p>
          <a:p xmlns:a="http://schemas.openxmlformats.org/drawingml/2006/main">
            <a:r>
              <a:t>          "layer": "업무 문맥",</a:t>
            </a:r>
          </a:p>
          <a:p xmlns:a="http://schemas.openxmlformats.org/drawingml/2006/main">
            <a:r>
              <a:t>          "detail": "로그인 사용자와 관계 질의 대상 식별",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"직원 관계 조회",</a:t>
            </a:r>
          </a:p>
          <a:p xmlns:a="http://schemas.openxmlformats.org/drawingml/2006/main">
            <a:r>
              <a:t>          "layer": "자료 조회",</a:t>
            </a:r>
          </a:p>
          <a:p xmlns:a="http://schemas.openxmlformats.org/drawingml/2006/main">
            <a:r>
              <a:t>          "detail": "직원 정보",</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"관계 유형 매칭",</a:t>
            </a:r>
          </a:p>
          <a:p xmlns:a="http://schemas.openxmlformats.org/drawingml/2006/main">
            <a:r>
              <a:t>          "layer": "핵심 처리",</a:t>
            </a:r>
          </a:p>
          <a:p xmlns:a="http://schemas.openxmlformats.org/drawingml/2006/main">
            <a:r>
              <a:t>          "detail": "지원 커넥터의 관계 유형과 직원 ID 매칭",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"효력일·동명 검사",</a:t>
            </a:r>
          </a:p>
          <a:p xmlns:a="http://schemas.openxmlformats.org/drawingml/2006/main">
            <a:r>
              <a:t>          "layer": "결과 검증",</a:t>
            </a:r>
          </a:p>
          <a:p xmlns:a="http://schemas.openxmlformats.org/drawingml/2006/main">
            <a:r>
              <a:t>          "detail": "신원·효력일과 권한 원천 분리",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"이용자 확인",</a:t>
            </a:r>
          </a:p>
          <a:p xmlns:a="http://schemas.openxmlformats.org/drawingml/2006/main">
            <a:r>
              <a:t>          "layer": "사람 확인",</a:t>
            </a:r>
          </a:p>
          <a:p xmlns:a="http://schemas.openxmlformats.org/drawingml/2006/main">
            <a:r>
              <a:t>          "detail": "상사·겸직·점선 보고 관계를 대상 직원 ID로 조회",</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"허용 관계 응답",</a:t>
            </a:r>
          </a:p>
          <a:p xmlns:a="http://schemas.openxmlformats.org/drawingml/2006/main">
            <a:r>
              <a:t>          "layer": "업무 연결",</a:t>
            </a:r>
          </a:p>
          <a:p xmlns:a="http://schemas.openxmlformats.org/drawingml/2006/main">
            <a:r>
              <a:t>          "detail": "허용된 조직 관계를 질의 응답에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"전보·해제 대사",</a:t>
            </a:r>
          </a:p>
          <a:p xmlns:a="http://schemas.openxmlformats.org/drawingml/2006/main">
            <a:r>
              <a:t>          "layer": "운영 관측",</a:t>
            </a:r>
          </a:p>
          <a:p xmlns:a="http://schemas.openxmlformats.org/drawingml/2006/main">
            <a:r>
              <a:t>          "detail": "전보·겸직·관계 해제 이후 결과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"직원 디렉터리",</a:t>
            </a:r>
          </a:p>
          <a:p xmlns:a="http://schemas.openxmlformats.org/drawingml/2006/main">
            <a:r>
              <a:t>          "layer": "데이터 원천",</a:t>
            </a:r>
          </a:p>
          <a:p xmlns:a="http://schemas.openxmlformats.org/drawingml/2006/main">
            <a:r>
              <a:t>          "detail": "조직·직원 관계",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"공식 ID·유형 정리",</a:t>
            </a:r>
          </a:p>
          <a:p xmlns:a="http://schemas.openxmlformats.org/drawingml/2006/main">
            <a:r>
              <a:t>          "layer": "준비·갱신",</a:t>
            </a:r>
          </a:p>
          <a:p xmlns:a="http://schemas.openxmlformats.org/drawingml/2006/main">
            <a:r>
              <a:t>          "detail": "직원 디렉터리·관계 유형·효력일 정합화",</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"관계·효력일 원장",</a:t>
            </a:r>
          </a:p>
          <a:p xmlns:a="http://schemas.openxmlformats.org/drawingml/2006/main">
            <a:r>
              <a:t>          "layer": "상태·지식 저장",</a:t>
            </a:r>
          </a:p>
          <a:p xmlns:a="http://schemas.openxmlformats.org/drawingml/2006/main">
            <a:r>
              <a:t>          "detail": "원천 관계와 응답의 ID·효력일·권한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"관계와 권한 분리",</a:t>
            </a:r>
          </a:p>
          <a:p xmlns:a="http://schemas.openxmlformats.org/drawingml/2006/main">
            <a:r>
              <a:t>          "layer": "권한·정책",</a:t>
            </a:r>
          </a:p>
          <a:p xmlns:a="http://schemas.openxmlformats.org/drawingml/2006/main">
            <a:r>
              <a:t>          "detail": "동명이인·전보일 경계·종료된 대행관계",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"로그인 사용자와 관계 질의 대상 식별",</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"직원 정보",</a:t>
            </a:r>
          </a:p>
          <a:p xmlns:a="http://schemas.openxmlformats.org/drawingml/2006/main">
            <a:r>
              <a:t>          "check": "신원·효력일과 권한 원천 분리"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"관계 매핑",</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"관계 질의",</a:t>
            </a:r>
          </a:p>
          <a:p xmlns:a="http://schemas.openxmlformats.org/drawingml/2006/main">
            <a:r>
              <a:t>          "check": "동명이인·전보일 경계·종료된 대행관계"</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"관계 질의",</a:t>
            </a:r>
          </a:p>
          <a:p xmlns:a="http://schemas.openxmlformats.org/drawingml/2006/main">
            <a:r>
              <a:t>          "check": "허용된 조직 관계를 질의 응답에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"허용 응답",</a:t>
            </a:r>
          </a:p>
          <a:p xmlns:a="http://schemas.openxmlformats.org/drawingml/2006/main">
            <a:r>
              <a:t>          "check": "원천 관계와 응답의 ID·효력일·권한 대사"</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"공식 직원 관계를 질의 문맥으로 활용 / 상사·보좌·점선 보고·맞춤 관계",</a:t>
            </a:r>
          </a:p>
          <a:p xmlns:a="http://schemas.openxmlformats.org/drawingml/2006/main">
            <a:r>
              <a:t>        "extension": "직원 관계 인식과 데이터 접근권한을 각각 검증하는 조직 모델"</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"동명이인·전보일 경계·종료된 대행관계",</a:t>
            </a:r>
          </a:p>
          <a:p xmlns:a="http://schemas.openxmlformats.org/drawingml/2006/main">
            <a:r>
              <a:t>        "hold": "신원·효력일과 권한 원천 분리",</a:t>
            </a:r>
          </a:p>
          <a:p xmlns:a="http://schemas.openxmlformats.org/drawingml/2006/main">
            <a:r>
              <a:t>        "recovery": "전보·겸직·관계 해제 이후 결과 대사",</a:t>
            </a:r>
          </a:p>
          <a:p xmlns:a="http://schemas.openxmlformats.org/drawingml/2006/main">
            <a:r>
              <a:t>        "evidence": "원천 관계와 응답의 ID·효력일·권한 대사"</a:t>
            </a:r>
          </a:p>
          <a:p xmlns:a="http://schemas.openxmlformats.org/drawingml/2006/main">
            <a:r>
              <a:t>      },</a:t>
            </a:r>
          </a:p>
          <a:p xmlns:a="http://schemas.openxmlformats.org/drawingml/2006/main">
            <a:r>
              <a:t>      "data": {</a:t>
            </a:r>
          </a:p>
          <a:p xmlns:a="http://schemas.openxmlformats.org/drawingml/2006/main">
            <a:r>
              <a:t>        "source": "조직·직원 관계",</a:t>
            </a:r>
          </a:p>
          <a:p xmlns:a="http://schemas.openxmlformats.org/drawingml/2006/main">
            <a:r>
              <a:t>        "prepare": "직원 디렉터리·관계 유형·효력일 정합화",</a:t>
            </a:r>
          </a:p>
          <a:p xmlns:a="http://schemas.openxmlformats.org/drawingml/2006/main">
            <a:r>
              <a:t>        "output": "직원 정보",</a:t>
            </a:r>
          </a:p>
          <a:p xmlns:a="http://schemas.openxmlformats.org/drawingml/2006/main">
            <a:r>
              <a:t>        "refresh": "전보·겸직·관계 해제 이후 결과 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"PF-C01",</a:t>
            </a:r>
          </a:p>
          <a:p xmlns:a="http://schemas.openxmlformats.org/drawingml/2006/main">
            <a:r>
              <a:t>    "success": [</a:t>
            </a:r>
          </a:p>
          <a:p xmlns:a="http://schemas.openxmlformats.org/drawingml/2006/main">
            <a:r>
              <a:t>      "공식 직원 관계의 연결",</a:t>
            </a:r>
          </a:p>
          <a:p xmlns:a="http://schemas.openxmlformats.org/drawingml/2006/main">
            <a:r>
              <a:t>      "조직 질의의 데이터 기반 구성"</a:t>
            </a:r>
          </a:p>
          <a:p xmlns:a="http://schemas.openxmlformats.org/drawingml/2006/main">
            <a:r>
              <a:t>    ],</a:t>
            </a:r>
          </a:p>
          <a:p xmlns:a="http://schemas.openxmlformats.org/drawingml/2006/main">
            <a:r>
              <a:t>    "risks": [</a:t>
            </a:r>
          </a:p>
          <a:p xmlns:a="http://schemas.openxmlformats.org/drawingml/2006/main">
            <a:r>
              <a:t>      "조직 관계를 접근권한으로 오인",</a:t>
            </a:r>
          </a:p>
          <a:p xmlns:a="http://schemas.openxmlformats.org/drawingml/2006/main">
            <a:r>
              <a:t>      "전보·겸직 정보의 지연"</a:t>
            </a:r>
          </a:p>
          <a:p xmlns:a="http://schemas.openxmlformats.org/drawingml/2006/main">
            <a:r>
              <a:t>    ],</a:t>
            </a:r>
          </a:p>
          <a:p xmlns:a="http://schemas.openxmlformats.org/drawingml/2006/main">
            <a:r>
              <a:t>    "architecture": [</a:t>
            </a:r>
          </a:p>
          <a:p xmlns:a="http://schemas.openxmlformats.org/drawingml/2006/main">
            <a:r>
              <a:t>      "직원 디렉터리",</a:t>
            </a:r>
          </a:p>
          <a:p xmlns:a="http://schemas.openxmlformats.org/drawingml/2006/main">
            <a:r>
              <a:t>      "관계 커넥터",</a:t>
            </a:r>
          </a:p>
          <a:p xmlns:a="http://schemas.openxmlformats.org/drawingml/2006/main">
            <a:r>
              <a:t>      "조직·직원 관계",</a:t>
            </a:r>
          </a:p>
          <a:p xmlns:a="http://schemas.openxmlformats.org/drawingml/2006/main">
            <a:r>
              <a:t>      "관계 질의 이용자"</a:t>
            </a:r>
          </a:p>
          <a:p xmlns:a="http://schemas.openxmlformats.org/drawingml/2006/main">
            <a:r>
              <a:t>    ],</a:t>
            </a:r>
          </a:p>
          <a:p xmlns:a="http://schemas.openxmlformats.org/drawingml/2006/main">
            <a:r>
              <a:t>    "transfers": [</a:t>
            </a:r>
          </a:p>
          <a:p xmlns:a="http://schemas.openxmlformats.org/drawingml/2006/main">
            <a:r>
              <a:t>      "직원 정보",</a:t>
            </a:r>
          </a:p>
          <a:p xmlns:a="http://schemas.openxmlformats.org/drawingml/2006/main">
            <a:r>
              <a:t>      "관계 매핑",</a:t>
            </a:r>
          </a:p>
          <a:p xmlns:a="http://schemas.openxmlformats.org/drawingml/2006/main">
            <a:r>
              <a:t>      "관계 질의",</a:t>
            </a:r>
          </a:p>
          <a:p xmlns:a="http://schemas.openxmlformats.org/drawingml/2006/main">
            <a:r>
              <a:t>      "허용 응답"</a:t>
            </a:r>
          </a:p>
          <a:p xmlns:a="http://schemas.openxmlformats.org/drawingml/2006/main">
            <a:r>
              <a:t>    ],</a:t>
            </a:r>
          </a:p>
          <a:p xmlns:a="http://schemas.openxmlformats.org/drawingml/2006/main">
            <a:r>
              <a:t>    "control": "신원·효력일과 권한 원천 분리",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People relationships in Microsoft 365 https://learn.microsoft.com/en-us/microsoft-365/admin/people-relationships-m365?view=o365-worldwide</a:t>
            </a:r>
          </a:p>
          <a:p xmlns:a="http://schemas.openxmlformats.org/drawingml/2006/main">
            <a:r>
              <a:t>홈페이지 https://heen1987-ops.github.io/TS-business-Plan-001/index.html?view=platform-cases&amp;case=PF-C01</a:t>
            </a:r>
          </a:p>
          <a:p xmlns:a="http://schemas.openxmlformats.org/drawingml/2006/main">
            <a:r>
              <a:t>한계: 지원 관계·데이터 조건에 따름. TS 업무분장·권한 변경 처리 품질은 별도 시험 필요</a:t>
            </a:r>
          </a:p>
          <a:p xmlns:a="http://schemas.openxmlformats.org/drawingml/2006/main">
            <a:r>
              <a:t>실패 위험: 조직 관계를 접근권한으로 오인 / 전보·겸직 정보의 지연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"PF-C01",</a:t>
            </a:r>
          </a:p>
          <a:p xmlns:a="http://schemas.openxmlformats.org/drawingml/2006/main">
            <a:r>
              <a:t>    "sourceId": "C01",</a:t>
            </a:r>
          </a:p>
          <a:p xmlns:a="http://schemas.openxmlformats.org/drawingml/2006/main">
            <a:r>
              <a:t>    "title": "M365 조직 관계",</a:t>
            </a:r>
          </a:p>
          <a:p xmlns:a="http://schemas.openxmlformats.org/drawingml/2006/main">
            <a:r>
              <a:t>    "region": "해외",</a:t>
            </a:r>
          </a:p>
          <a:p xmlns:a="http://schemas.openxmlformats.org/drawingml/2006/main">
            <a:r>
              <a:t>    "owner": "Microsoft 365 Copilot / 조직 관계",</a:t>
            </a:r>
          </a:p>
          <a:p xmlns:a="http://schemas.openxmlformats.org/drawingml/2006/main">
            <a:r>
              <a:t>    "state": "2026-07-23 문서 / 2026-10-16 확인",</a:t>
            </a:r>
          </a:p>
          <a:p xmlns:a="http://schemas.openxmlformats.org/drawingml/2006/main">
            <a:r>
              <a:t>    "period": "기존 원장 확인 2026.10.16",</a:t>
            </a:r>
          </a:p>
          <a:p xmlns:a="http://schemas.openxmlformats.org/drawingml/2006/main">
            <a:r>
              <a:t>    "fact": "제품 기능 비교 / 기관 도입 성과 아님",</a:t>
            </a:r>
          </a:p>
          <a:p xmlns:a="http://schemas.openxmlformats.org/drawingml/2006/main">
            <a:r>
              <a:t>    "limit": "지원 관계·데이터 조건에 따름. TS 업무분장·권한 변경 처리 품질은 별도 시험 필요",</a:t>
            </a:r>
          </a:p>
          <a:p xmlns:a="http://schemas.openxmlformats.org/drawingml/2006/main">
            <a:r>
              <a:t>    "nodes": [</a:t>
            </a:r>
          </a:p>
          <a:p xmlns:a="http://schemas.openxmlformats.org/drawingml/2006/main">
            <a:r>
              <a:t>      "직원 정보",</a:t>
            </a:r>
          </a:p>
          <a:p xmlns:a="http://schemas.openxmlformats.org/drawingml/2006/main">
            <a:r>
              <a:t>      "관계 커넥터",</a:t>
            </a:r>
          </a:p>
          <a:p xmlns:a="http://schemas.openxmlformats.org/drawingml/2006/main">
            <a:r>
              <a:t>      "조직 관계 질의",</a:t>
            </a:r>
          </a:p>
          <a:p xmlns:a="http://schemas.openxmlformats.org/drawingml/2006/main">
            <a:r>
              <a:t>      "접근 범위 응답"</a:t>
            </a:r>
          </a:p>
          <a:p xmlns:a="http://schemas.openxmlformats.org/drawingml/2006/main">
            <a:r>
              <a:t>    ],</a:t>
            </a:r>
          </a:p>
          <a:p xmlns:a="http://schemas.openxmlformats.org/drawingml/2006/main">
            <a:r>
              <a:t>    "apply": "직원 관계 인식과 데이터 접근권한을 각각 검증하는 조직 모델",</a:t>
            </a:r>
          </a:p>
          <a:p xmlns:a="http://schemas.openxmlformats.org/drawingml/2006/main">
            <a:r>
              <a:t>    "delta": "사번·직무·별칭·겸직·책임업무 매핑",</a:t>
            </a:r>
          </a:p>
          <a:p xmlns:a="http://schemas.openxmlformats.org/drawingml/2006/main">
            <a:r>
              <a:t>    "test": "인물 식별·직무 매핑 정확도의 기준선·비교 평가",</a:t>
            </a:r>
          </a:p>
          <a:p xmlns:a="http://schemas.openxmlformats.org/drawingml/2006/main">
            <a:r>
              <a:t>    "url": "https://learn.microsoft.com/en-us/microsoft-365/admin/people-relationships-m365?view=o365-worldwide",</a:t>
            </a:r>
          </a:p>
          <a:p xmlns:a="http://schemas.openxmlformats.org/drawingml/2006/main">
            <a:r>
              <a:t>    "urls": [</a:t>
            </a:r>
          </a:p>
          <a:p xmlns:a="http://schemas.openxmlformats.org/drawingml/2006/main">
            <a:r>
              <a:t>      "https://learn.microsoft.com/en-us/microsoft-365/admin/people-relationships-m365?view=o365-worldwide"</a:t>
            </a:r>
          </a:p>
          <a:p xmlns:a="http://schemas.openxmlformats.org/drawingml/2006/main">
            <a:r>
              <a:t>    ],</a:t>
            </a:r>
          </a:p>
          <a:p xmlns:a="http://schemas.openxmlformats.org/drawingml/2006/main">
            <a:r>
              <a:t>    "basis": "People relationships in Microsoft 365",</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"인물 식별·직무 매핑 정확도",</a:t>
            </a:r>
          </a:p>
          <a:p xmlns:a="http://schemas.openxmlformats.org/drawingml/2006/main">
            <a:r>
              <a:t>    "group": "제품 비교",</a:t>
            </a:r>
          </a:p>
          <a:p xmlns:a="http://schemas.openxmlformats.org/drawingml/2006/main">
            <a:r>
              <a:t>    "sourceDetail": "상사·보좌·점선 보고·맞춤 관계를 지원 데이터 커넥터를 통해 질의응답에 활용",</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"PF-C01",</a:t>
            </a:r>
          </a:p>
          <a:p xmlns:a="http://schemas.openxmlformats.org/drawingml/2006/main">
            <a:r>
              <a:t>    "canonicalId": "PF-C01",</a:t>
            </a:r>
          </a:p>
          <a:p xmlns:a="http://schemas.openxmlformats.org/drawingml/2006/main">
            <a:r>
              <a:t>    "purpose": "공식 직원 관계를 질의 문맥으로 활용",</a:t>
            </a:r>
          </a:p>
          <a:p xmlns:a="http://schemas.openxmlformats.org/drawingml/2006/main">
            <a:r>
              <a:t>    "users": "직원·디렉터리 관리자",</a:t>
            </a:r>
          </a:p>
          <a:p xmlns:a="http://schemas.openxmlformats.org/drawingml/2006/main">
            <a:r>
              <a:t>    "scope": [</a:t>
            </a:r>
          </a:p>
          <a:p xmlns:a="http://schemas.openxmlformats.org/drawingml/2006/main">
            <a:r>
              <a:t>      "상사",</a:t>
            </a:r>
          </a:p>
          <a:p xmlns:a="http://schemas.openxmlformats.org/drawingml/2006/main">
            <a:r>
              <a:t>      "보좌·점선 보고",</a:t>
            </a:r>
          </a:p>
          <a:p xmlns:a="http://schemas.openxmlformats.org/drawingml/2006/main">
            <a:r>
              <a:t>      "맞춤 관계"</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"직원 디렉터리",</a:t>
            </a:r>
          </a:p>
          <a:p xmlns:a="http://schemas.openxmlformats.org/drawingml/2006/main">
            <a:r>
              <a:t>        "detail": "로그인 사용자와 관계 질의 대상 식별",</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"상사 / 보좌·점선 보고 / 맞춤 관계",</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"관계 커넥터",</a:t>
            </a:r>
          </a:p>
          <a:p xmlns:a="http://schemas.openxmlformats.org/drawingml/2006/main">
            <a:r>
              <a:t>        "detail": "지원 커넥터의 관계 유형과 직원 ID 매칭",</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"관계 질의 이용자",</a:t>
            </a:r>
          </a:p>
          <a:p xmlns:a="http://schemas.openxmlformats.org/drawingml/2006/main">
            <a:r>
              <a:t>        "detail": "허용된 조직 관계를 질의 응답에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"조직·직원 관계",</a:t>
            </a:r>
          </a:p>
          <a:p xmlns:a="http://schemas.openxmlformats.org/drawingml/2006/main">
            <a:r>
              <a:t>        "detail": "직원 디렉터리·관계 유형·효력일 정합화",</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"전보·겸직·관계 해제 이후 결과 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"직원 정보",</a:t>
            </a:r>
          </a:p>
          <a:p xmlns:a="http://schemas.openxmlformats.org/drawingml/2006/main">
            <a:r>
              <a:t>        "input": "로그인 사용자와 관계 질의 대상 식별",</a:t>
            </a:r>
          </a:p>
          <a:p xmlns:a="http://schemas.openxmlformats.org/drawingml/2006/main">
            <a:r>
              <a:t>        "process": "직원 디렉터리·관계 유형·효력일 정합화",</a:t>
            </a:r>
          </a:p>
          <a:p xmlns:a="http://schemas.openxmlformats.org/drawingml/2006/main">
            <a:r>
              <a:t>        "output": "직원 정보"</a:t>
            </a:r>
          </a:p>
          <a:p xmlns:a="http://schemas.openxmlformats.org/drawingml/2006/main">
            <a:r>
              <a:t>      },</a:t>
            </a:r>
          </a:p>
          <a:p xmlns:a="http://schemas.openxmlformats.org/drawingml/2006/main">
            <a:r>
              <a:t>      {</a:t>
            </a:r>
          </a:p>
          <a:p xmlns:a="http://schemas.openxmlformats.org/drawingml/2006/main">
            <a:r>
              <a:t>        "title": "관계 커넥터",</a:t>
            </a:r>
          </a:p>
          <a:p xmlns:a="http://schemas.openxmlformats.org/drawingml/2006/main">
            <a:r>
              <a:t>        "input": "직원 정보",</a:t>
            </a:r>
          </a:p>
          <a:p xmlns:a="http://schemas.openxmlformats.org/drawingml/2006/main">
            <a:r>
              <a:t>        "process": "지원 커넥터의 관계 유형과 직원 ID 매칭",</a:t>
            </a:r>
          </a:p>
          <a:p xmlns:a="http://schemas.openxmlformats.org/drawingml/2006/main">
            <a:r>
              <a:t>        "output": "관계 매핑"</a:t>
            </a:r>
          </a:p>
          <a:p xmlns:a="http://schemas.openxmlformats.org/drawingml/2006/main">
            <a:r>
              <a:t>      },</a:t>
            </a:r>
          </a:p>
          <a:p xmlns:a="http://schemas.openxmlformats.org/drawingml/2006/main">
            <a:r>
              <a:t>      {</a:t>
            </a:r>
          </a:p>
          <a:p xmlns:a="http://schemas.openxmlformats.org/drawingml/2006/main">
            <a:r>
              <a:t>        "title": "조직 관계 질의",</a:t>
            </a:r>
          </a:p>
          <a:p xmlns:a="http://schemas.openxmlformats.org/drawingml/2006/main">
            <a:r>
              <a:t>        "input": "관계 매핑",</a:t>
            </a:r>
          </a:p>
          <a:p xmlns:a="http://schemas.openxmlformats.org/drawingml/2006/main">
            <a:r>
              <a:t>        "process": "신원·효력일과 권한 원천 분리",</a:t>
            </a:r>
          </a:p>
          <a:p xmlns:a="http://schemas.openxmlformats.org/drawingml/2006/main">
            <a:r>
              <a:t>        "output": "관계 질의"</a:t>
            </a:r>
          </a:p>
          <a:p xmlns:a="http://schemas.openxmlformats.org/drawingml/2006/main">
            <a:r>
              <a:t>      },</a:t>
            </a:r>
          </a:p>
          <a:p xmlns:a="http://schemas.openxmlformats.org/drawingml/2006/main">
            <a:r>
              <a:t>      {</a:t>
            </a:r>
          </a:p>
          <a:p xmlns:a="http://schemas.openxmlformats.org/drawingml/2006/main">
            <a:r>
              <a:t>        "title": "접근 범위 응답",</a:t>
            </a:r>
          </a:p>
          <a:p xmlns:a="http://schemas.openxmlformats.org/drawingml/2006/main">
            <a:r>
              <a:t>        "input": "관계 질의",</a:t>
            </a:r>
          </a:p>
          <a:p xmlns:a="http://schemas.openxmlformats.org/drawingml/2006/main">
            <a:r>
              <a:t>        "process": "허용된 조직 관계를 질의 응답에 제공",</a:t>
            </a:r>
          </a:p>
          <a:p xmlns:a="http://schemas.openxmlformats.org/drawingml/2006/main">
            <a:r>
              <a:t>        "output": "허용 응답"</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"상사·겸직·점선 보고 관계를 대상 직원 ID로 조회",</a:t>
            </a:r>
          </a:p>
          <a:p xmlns:a="http://schemas.openxmlformats.org/drawingml/2006/main">
            <a:r>
              <a:t>      "exception": "동명이인·전보일 경계·종료된 대행관계",</a:t>
            </a:r>
          </a:p>
          <a:p xmlns:a="http://schemas.openxmlformats.org/drawingml/2006/main">
            <a:r>
              <a:t>      "evidence": "원천 관계와 응답의 ID·효력일·권한 대사",</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"직원·디렉터리 관리자",</a:t>
            </a:r>
          </a:p>
          <a:p xmlns:a="http://schemas.openxmlformats.org/drawingml/2006/main">
            <a:r>
              <a:t>          "processing": "로그인 사용자와 관계 질의 대상 식별",</a:t>
            </a:r>
          </a:p>
          <a:p xmlns:a="http://schemas.openxmlformats.org/drawingml/2006/main">
            <a:r>
              <a:t>          "output": "직원 정보"</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"조직·직원 관계",</a:t>
            </a:r>
          </a:p>
          <a:p xmlns:a="http://schemas.openxmlformats.org/drawingml/2006/main">
            <a:r>
              <a:t>          "processing": "직원 디렉터리·관계 유형·효력일 정합화",</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"직원 정보",</a:t>
            </a:r>
          </a:p>
          <a:p xmlns:a="http://schemas.openxmlformats.org/drawingml/2006/main">
            <a:r>
              <a:t>          "processing": "지원 커넥터의 관계 유형과 직원 ID 매칭",</a:t>
            </a:r>
          </a:p>
          <a:p xmlns:a="http://schemas.openxmlformats.org/drawingml/2006/main">
            <a:r>
              <a:t>          "output": "관계 질의"</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"관계 질의",</a:t>
            </a:r>
          </a:p>
          <a:p xmlns:a="http://schemas.openxmlformats.org/drawingml/2006/main">
            <a:r>
              <a:t>          "processing": "허용된 조직 관계를 질의 응답에 제공",</a:t>
            </a:r>
          </a:p>
          <a:p xmlns:a="http://schemas.openxmlformats.org/drawingml/2006/main">
            <a:r>
              <a:t>          "output": "허용 응답"</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"전보·겸직·관계 해제 이후 결과 대사",</a:t>
            </a:r>
          </a:p>
          <a:p xmlns:a="http://schemas.openxmlformats.org/drawingml/2006/main">
            <a:r>
              <a:t>          "output": "원천 관계와 응답의 ID·효력일·권한 대사"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"전보·겸직·관계 해제 이후 결과 대사",</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"People relationships in Microsoft 365",</a:t>
            </a:r>
          </a:p>
          <a:p xmlns:a="http://schemas.openxmlformats.org/drawingml/2006/main">
            <a:r>
              <a:t>        "url": "https://learn.microsoft.com/en-us/microsoft-365/admin/people-relationships-m365?view=o365-worldwide"</a:t>
            </a:r>
          </a:p>
          <a:p xmlns:a="http://schemas.openxmlformats.org/drawingml/2006/main">
            <a:r>
              <a:t>      }</a:t>
            </a:r>
          </a:p>
          <a:p xmlns:a="http://schemas.openxmlformats.org/drawingml/2006/main">
            <a:r>
              <a:t>    ],</a:t>
            </a:r>
          </a:p>
          <a:p xmlns:a="http://schemas.openxmlformats.org/drawingml/2006/main">
            <a:r>
              <a:t>    "implication": "직원 관계 인식과 데이터 접근권한을 각각 검증하는 조직 모델",</a:t>
            </a:r>
          </a:p>
          <a:p xmlns:a="http://schemas.openxmlformats.org/drawingml/2006/main">
            <a:r>
              <a:t>    "local": "직원 관계 인식과 데이터 접근권한을 각각 검증하는 조직 모델",</a:t>
            </a:r>
          </a:p>
          <a:p xmlns:a="http://schemas.openxmlformats.org/drawingml/2006/main">
            <a:r>
              <a:t>    "sourceDetail": "상사·보좌·점선 보고·맞춤 관계를 지원 데이터 커넥터를 통해 질의응답에 활용",</a:t>
            </a:r>
          </a:p>
          <a:p xmlns:a="http://schemas.openxmlformats.org/drawingml/2006/main">
            <a:r>
              <a:t>    "narrative": [</a:t>
            </a:r>
          </a:p>
          <a:p xmlns:a="http://schemas.openxmlformats.org/drawingml/2006/main">
            <a:r>
              <a:t>      "Microsoft Graph의 조직 관계 활용 기능을 조직 네이티브 AI의 구성요소 관점에서 분석한 사례. 상사·보고 관계·추가 관계를 식별해 질의 대상과 업무 문맥을 연결하는 기능 범위.",</a:t>
            </a:r>
          </a:p>
          <a:p xmlns:a="http://schemas.openxmlformats.org/drawingml/2006/main">
            <a:r>
              <a:t>      "지원되는 디렉터리·관계 유형과 직원 식별정보를 대조하고 요청자에게 허용된 관계 정보를 조회하는 흐름. 직원 이름을 단순 검색어로 사용하는 방식과 공식 ID·관계 유형·효력일을 이용하는 방식의 차이를 비교하는 설계.",</a:t>
            </a:r>
          </a:p>
          <a:p xmlns:a="http://schemas.openxmlformats.org/drawingml/2006/main">
            <a:r>
              <a:t>      "직속 상사 관계가 문서 열람·결재 권한을 자동 부여하는 근거는 아님. TS에서는 조직 관계 그래프와 업무시스템의 권한 정책을 분리하고 겸직·파견·대결·전보·동명이인 조건에서 허용된 관계와 실제 접근 권한을 함께 시험."</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"조직 관계 질의",</a:t>
            </a:r>
          </a:p>
          <a:p xmlns:a="http://schemas.openxmlformats.org/drawingml/2006/main">
            <a:r>
              <a:t>          "layer": "이용 접점",</a:t>
            </a:r>
          </a:p>
          <a:p xmlns:a="http://schemas.openxmlformats.org/drawingml/2006/main">
            <a:r>
              <a:t>          "detail": "직원·디렉터리 관리자",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"로그인·대상 ID",</a:t>
            </a:r>
          </a:p>
          <a:p xmlns:a="http://schemas.openxmlformats.org/drawingml/2006/main">
            <a:r>
              <a:t>          "layer": "업무 문맥",</a:t>
            </a:r>
          </a:p>
          <a:p xmlns:a="http://schemas.openxmlformats.org/drawingml/2006/main">
            <a:r>
              <a:t>          "detail": "로그인 사용자와 관계 질의 대상 식별",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"직원 관계 조회",</a:t>
            </a:r>
          </a:p>
          <a:p xmlns:a="http://schemas.openxmlformats.org/drawingml/2006/main">
            <a:r>
              <a:t>          "layer": "자료 조회",</a:t>
            </a:r>
          </a:p>
          <a:p xmlns:a="http://schemas.openxmlformats.org/drawingml/2006/main">
            <a:r>
              <a:t>          "detail": "직원 정보",</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"관계 유형 매칭",</a:t>
            </a:r>
          </a:p>
          <a:p xmlns:a="http://schemas.openxmlformats.org/drawingml/2006/main">
            <a:r>
              <a:t>          "layer": "핵심 처리",</a:t>
            </a:r>
          </a:p>
          <a:p xmlns:a="http://schemas.openxmlformats.org/drawingml/2006/main">
            <a:r>
              <a:t>          "detail": "지원 커넥터의 관계 유형과 직원 ID 매칭",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"효력일·동명 검사",</a:t>
            </a:r>
          </a:p>
          <a:p xmlns:a="http://schemas.openxmlformats.org/drawingml/2006/main">
            <a:r>
              <a:t>          "layer": "결과 검증",</a:t>
            </a:r>
          </a:p>
          <a:p xmlns:a="http://schemas.openxmlformats.org/drawingml/2006/main">
            <a:r>
              <a:t>          "detail": "신원·효력일과 권한 원천 분리",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"이용자 확인",</a:t>
            </a:r>
          </a:p>
          <a:p xmlns:a="http://schemas.openxmlformats.org/drawingml/2006/main">
            <a:r>
              <a:t>          "layer": "사람 확인",</a:t>
            </a:r>
          </a:p>
          <a:p xmlns:a="http://schemas.openxmlformats.org/drawingml/2006/main">
            <a:r>
              <a:t>          "detail": "상사·겸직·점선 보고 관계를 대상 직원 ID로 조회",</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"허용 관계 응답",</a:t>
            </a:r>
          </a:p>
          <a:p xmlns:a="http://schemas.openxmlformats.org/drawingml/2006/main">
            <a:r>
              <a:t>          "layer": "업무 연결",</a:t>
            </a:r>
          </a:p>
          <a:p xmlns:a="http://schemas.openxmlformats.org/drawingml/2006/main">
            <a:r>
              <a:t>          "detail": "허용된 조직 관계를 질의 응답에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"전보·해제 대사",</a:t>
            </a:r>
          </a:p>
          <a:p xmlns:a="http://schemas.openxmlformats.org/drawingml/2006/main">
            <a:r>
              <a:t>          "layer": "운영 관측",</a:t>
            </a:r>
          </a:p>
          <a:p xmlns:a="http://schemas.openxmlformats.org/drawingml/2006/main">
            <a:r>
              <a:t>          "detail": "전보·겸직·관계 해제 이후 결과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"직원 디렉터리",</a:t>
            </a:r>
          </a:p>
          <a:p xmlns:a="http://schemas.openxmlformats.org/drawingml/2006/main">
            <a:r>
              <a:t>          "layer": "데이터 원천",</a:t>
            </a:r>
          </a:p>
          <a:p xmlns:a="http://schemas.openxmlformats.org/drawingml/2006/main">
            <a:r>
              <a:t>          "detail": "조직·직원 관계",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"공식 ID·유형 정리",</a:t>
            </a:r>
          </a:p>
          <a:p xmlns:a="http://schemas.openxmlformats.org/drawingml/2006/main">
            <a:r>
              <a:t>          "layer": "준비·갱신",</a:t>
            </a:r>
          </a:p>
          <a:p xmlns:a="http://schemas.openxmlformats.org/drawingml/2006/main">
            <a:r>
              <a:t>          "detail": "직원 디렉터리·관계 유형·효력일 정합화",</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"관계·효력일 원장",</a:t>
            </a:r>
          </a:p>
          <a:p xmlns:a="http://schemas.openxmlformats.org/drawingml/2006/main">
            <a:r>
              <a:t>          "layer": "상태·지식 저장",</a:t>
            </a:r>
          </a:p>
          <a:p xmlns:a="http://schemas.openxmlformats.org/drawingml/2006/main">
            <a:r>
              <a:t>          "detail": "원천 관계와 응답의 ID·효력일·권한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"관계와 권한 분리",</a:t>
            </a:r>
          </a:p>
          <a:p xmlns:a="http://schemas.openxmlformats.org/drawingml/2006/main">
            <a:r>
              <a:t>          "layer": "권한·정책",</a:t>
            </a:r>
          </a:p>
          <a:p xmlns:a="http://schemas.openxmlformats.org/drawingml/2006/main">
            <a:r>
              <a:t>          "detail": "동명이인·전보일 경계·종료된 대행관계",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"로그인 사용자와 관계 질의 대상 식별",</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"직원 정보",</a:t>
            </a:r>
          </a:p>
          <a:p xmlns:a="http://schemas.openxmlformats.org/drawingml/2006/main">
            <a:r>
              <a:t>          "check": "신원·효력일과 권한 원천 분리"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"관계 매핑",</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"관계 질의",</a:t>
            </a:r>
          </a:p>
          <a:p xmlns:a="http://schemas.openxmlformats.org/drawingml/2006/main">
            <a:r>
              <a:t>          "check": "동명이인·전보일 경계·종료된 대행관계"</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"관계 질의",</a:t>
            </a:r>
          </a:p>
          <a:p xmlns:a="http://schemas.openxmlformats.org/drawingml/2006/main">
            <a:r>
              <a:t>          "check": "허용된 조직 관계를 질의 응답에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"허용 응답",</a:t>
            </a:r>
          </a:p>
          <a:p xmlns:a="http://schemas.openxmlformats.org/drawingml/2006/main">
            <a:r>
              <a:t>          "check": "원천 관계와 응답의 ID·효력일·권한 대사"</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"공식 직원 관계를 질의 문맥으로 활용 / 상사·보좌·점선 보고·맞춤 관계",</a:t>
            </a:r>
          </a:p>
          <a:p xmlns:a="http://schemas.openxmlformats.org/drawingml/2006/main">
            <a:r>
              <a:t>        "extension": "직원 관계 인식과 데이터 접근권한을 각각 검증하는 조직 모델"</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"동명이인·전보일 경계·종료된 대행관계",</a:t>
            </a:r>
          </a:p>
          <a:p xmlns:a="http://schemas.openxmlformats.org/drawingml/2006/main">
            <a:r>
              <a:t>        "hold": "신원·효력일과 권한 원천 분리",</a:t>
            </a:r>
          </a:p>
          <a:p xmlns:a="http://schemas.openxmlformats.org/drawingml/2006/main">
            <a:r>
              <a:t>        "recovery": "전보·겸직·관계 해제 이후 결과 대사",</a:t>
            </a:r>
          </a:p>
          <a:p xmlns:a="http://schemas.openxmlformats.org/drawingml/2006/main">
            <a:r>
              <a:t>        "evidence": "원천 관계와 응답의 ID·효력일·권한 대사"</a:t>
            </a:r>
          </a:p>
          <a:p xmlns:a="http://schemas.openxmlformats.org/drawingml/2006/main">
            <a:r>
              <a:t>      },</a:t>
            </a:r>
          </a:p>
          <a:p xmlns:a="http://schemas.openxmlformats.org/drawingml/2006/main">
            <a:r>
              <a:t>      "data": {</a:t>
            </a:r>
          </a:p>
          <a:p xmlns:a="http://schemas.openxmlformats.org/drawingml/2006/main">
            <a:r>
              <a:t>        "source": "조직·직원 관계",</a:t>
            </a:r>
          </a:p>
          <a:p xmlns:a="http://schemas.openxmlformats.org/drawingml/2006/main">
            <a:r>
              <a:t>        "prepare": "직원 디렉터리·관계 유형·효력일 정합화",</a:t>
            </a:r>
          </a:p>
          <a:p xmlns:a="http://schemas.openxmlformats.org/drawingml/2006/main">
            <a:r>
              <a:t>        "output": "직원 정보",</a:t>
            </a:r>
          </a:p>
          <a:p xmlns:a="http://schemas.openxmlformats.org/drawingml/2006/main">
            <a:r>
              <a:t>        "refresh": "전보·겸직·관계 해제 이후 결과 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"PF-C01",</a:t>
            </a:r>
          </a:p>
          <a:p xmlns:a="http://schemas.openxmlformats.org/drawingml/2006/main">
            <a:r>
              <a:t>    "success": [</a:t>
            </a:r>
          </a:p>
          <a:p xmlns:a="http://schemas.openxmlformats.org/drawingml/2006/main">
            <a:r>
              <a:t>      "공식 직원 관계의 연결",</a:t>
            </a:r>
          </a:p>
          <a:p xmlns:a="http://schemas.openxmlformats.org/drawingml/2006/main">
            <a:r>
              <a:t>      "조직 질의의 데이터 기반 구성"</a:t>
            </a:r>
          </a:p>
          <a:p xmlns:a="http://schemas.openxmlformats.org/drawingml/2006/main">
            <a:r>
              <a:t>    ],</a:t>
            </a:r>
          </a:p>
          <a:p xmlns:a="http://schemas.openxmlformats.org/drawingml/2006/main">
            <a:r>
              <a:t>    "risks": [</a:t>
            </a:r>
          </a:p>
          <a:p xmlns:a="http://schemas.openxmlformats.org/drawingml/2006/main">
            <a:r>
              <a:t>      "조직 관계를 접근권한으로 오인",</a:t>
            </a:r>
          </a:p>
          <a:p xmlns:a="http://schemas.openxmlformats.org/drawingml/2006/main">
            <a:r>
              <a:t>      "전보·겸직 정보의 지연"</a:t>
            </a:r>
          </a:p>
          <a:p xmlns:a="http://schemas.openxmlformats.org/drawingml/2006/main">
            <a:r>
              <a:t>    ],</a:t>
            </a:r>
          </a:p>
          <a:p xmlns:a="http://schemas.openxmlformats.org/drawingml/2006/main">
            <a:r>
              <a:t>    "architecture": [</a:t>
            </a:r>
          </a:p>
          <a:p xmlns:a="http://schemas.openxmlformats.org/drawingml/2006/main">
            <a:r>
              <a:t>      "직원 디렉터리",</a:t>
            </a:r>
          </a:p>
          <a:p xmlns:a="http://schemas.openxmlformats.org/drawingml/2006/main">
            <a:r>
              <a:t>      "관계 커넥터",</a:t>
            </a:r>
          </a:p>
          <a:p xmlns:a="http://schemas.openxmlformats.org/drawingml/2006/main">
            <a:r>
              <a:t>      "조직·직원 관계",</a:t>
            </a:r>
          </a:p>
          <a:p xmlns:a="http://schemas.openxmlformats.org/drawingml/2006/main">
            <a:r>
              <a:t>      "관계 질의 이용자"</a:t>
            </a:r>
          </a:p>
          <a:p xmlns:a="http://schemas.openxmlformats.org/drawingml/2006/main">
            <a:r>
              <a:t>    ],</a:t>
            </a:r>
          </a:p>
          <a:p xmlns:a="http://schemas.openxmlformats.org/drawingml/2006/main">
            <a:r>
              <a:t>    "transfers": [</a:t>
            </a:r>
          </a:p>
          <a:p xmlns:a="http://schemas.openxmlformats.org/drawingml/2006/main">
            <a:r>
              <a:t>      "직원 정보",</a:t>
            </a:r>
          </a:p>
          <a:p xmlns:a="http://schemas.openxmlformats.org/drawingml/2006/main">
            <a:r>
              <a:t>      "관계 매핑",</a:t>
            </a:r>
          </a:p>
          <a:p xmlns:a="http://schemas.openxmlformats.org/drawingml/2006/main">
            <a:r>
              <a:t>      "관계 질의",</a:t>
            </a:r>
          </a:p>
          <a:p xmlns:a="http://schemas.openxmlformats.org/drawingml/2006/main">
            <a:r>
              <a:t>      "허용 응답"</a:t>
            </a:r>
          </a:p>
          <a:p xmlns:a="http://schemas.openxmlformats.org/drawingml/2006/main">
            <a:r>
              <a:t>    ],</a:t>
            </a:r>
          </a:p>
          <a:p xmlns:a="http://schemas.openxmlformats.org/drawingml/2006/main">
            <a:r>
              <a:t>    "control": "신원·효력일과 권한 원천 분리",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People relationships in Microsoft 365 https://learn.microsoft.com/en-us/microsoft-365/admin/people-relationships-m365?view=o365-worldwide</a:t>
            </a:r>
          </a:p>
          <a:p xmlns:a="http://schemas.openxmlformats.org/drawingml/2006/main">
            <a:r>
              <a:t>홈페이지 https://heen1987-ops.github.io/TS-business-Plan-001/index.html?view=platform-cases&amp;case=PF-C01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"PF-C01",</a:t>
            </a:r>
          </a:p>
          <a:p xmlns:a="http://schemas.openxmlformats.org/drawingml/2006/main">
            <a:r>
              <a:t>    "sourceId": "C01",</a:t>
            </a:r>
          </a:p>
          <a:p xmlns:a="http://schemas.openxmlformats.org/drawingml/2006/main">
            <a:r>
              <a:t>    "title": "M365 조직 관계",</a:t>
            </a:r>
          </a:p>
          <a:p xmlns:a="http://schemas.openxmlformats.org/drawingml/2006/main">
            <a:r>
              <a:t>    "region": "해외",</a:t>
            </a:r>
          </a:p>
          <a:p xmlns:a="http://schemas.openxmlformats.org/drawingml/2006/main">
            <a:r>
              <a:t>    "owner": "Microsoft 365 Copilot / 조직 관계",</a:t>
            </a:r>
          </a:p>
          <a:p xmlns:a="http://schemas.openxmlformats.org/drawingml/2006/main">
            <a:r>
              <a:t>    "state": "2026-07-23 문서 / 2026-10-16 확인",</a:t>
            </a:r>
          </a:p>
          <a:p xmlns:a="http://schemas.openxmlformats.org/drawingml/2006/main">
            <a:r>
              <a:t>    "period": "기존 원장 확인 2026.10.16",</a:t>
            </a:r>
          </a:p>
          <a:p xmlns:a="http://schemas.openxmlformats.org/drawingml/2006/main">
            <a:r>
              <a:t>    "fact": "제품 기능 비교 / 기관 도입 성과 아님",</a:t>
            </a:r>
          </a:p>
          <a:p xmlns:a="http://schemas.openxmlformats.org/drawingml/2006/main">
            <a:r>
              <a:t>    "limit": "지원 관계·데이터 조건에 따름. TS 업무분장·권한 변경 처리 품질은 별도 시험 필요",</a:t>
            </a:r>
          </a:p>
          <a:p xmlns:a="http://schemas.openxmlformats.org/drawingml/2006/main">
            <a:r>
              <a:t>    "nodes": [</a:t>
            </a:r>
          </a:p>
          <a:p xmlns:a="http://schemas.openxmlformats.org/drawingml/2006/main">
            <a:r>
              <a:t>      "직원 정보",</a:t>
            </a:r>
          </a:p>
          <a:p xmlns:a="http://schemas.openxmlformats.org/drawingml/2006/main">
            <a:r>
              <a:t>      "관계 커넥터",</a:t>
            </a:r>
          </a:p>
          <a:p xmlns:a="http://schemas.openxmlformats.org/drawingml/2006/main">
            <a:r>
              <a:t>      "조직 관계 질의",</a:t>
            </a:r>
          </a:p>
          <a:p xmlns:a="http://schemas.openxmlformats.org/drawingml/2006/main">
            <a:r>
              <a:t>      "접근 범위 응답"</a:t>
            </a:r>
          </a:p>
          <a:p xmlns:a="http://schemas.openxmlformats.org/drawingml/2006/main">
            <a:r>
              <a:t>    ],</a:t>
            </a:r>
          </a:p>
          <a:p xmlns:a="http://schemas.openxmlformats.org/drawingml/2006/main">
            <a:r>
              <a:t>    "apply": "직원 관계 인식과 데이터 접근권한을 각각 검증하는 조직 모델",</a:t>
            </a:r>
          </a:p>
          <a:p xmlns:a="http://schemas.openxmlformats.org/drawingml/2006/main">
            <a:r>
              <a:t>    "delta": "사번·직무·별칭·겸직·책임업무 매핑",</a:t>
            </a:r>
          </a:p>
          <a:p xmlns:a="http://schemas.openxmlformats.org/drawingml/2006/main">
            <a:r>
              <a:t>    "test": "인물 식별·직무 매핑 정확도의 기준선·비교 평가",</a:t>
            </a:r>
          </a:p>
          <a:p xmlns:a="http://schemas.openxmlformats.org/drawingml/2006/main">
            <a:r>
              <a:t>    "url": "https://learn.microsoft.com/en-us/microsoft-365/admin/people-relationships-m365?view=o365-worldwide",</a:t>
            </a:r>
          </a:p>
          <a:p xmlns:a="http://schemas.openxmlformats.org/drawingml/2006/main">
            <a:r>
              <a:t>    "urls": [</a:t>
            </a:r>
          </a:p>
          <a:p xmlns:a="http://schemas.openxmlformats.org/drawingml/2006/main">
            <a:r>
              <a:t>      "https://learn.microsoft.com/en-us/microsoft-365/admin/people-relationships-m365?view=o365-worldwide"</a:t>
            </a:r>
          </a:p>
          <a:p xmlns:a="http://schemas.openxmlformats.org/drawingml/2006/main">
            <a:r>
              <a:t>    ],</a:t>
            </a:r>
          </a:p>
          <a:p xmlns:a="http://schemas.openxmlformats.org/drawingml/2006/main">
            <a:r>
              <a:t>    "basis": "People relationships in Microsoft 365",</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"인물 식별·직무 매핑 정확도",</a:t>
            </a:r>
          </a:p>
          <a:p xmlns:a="http://schemas.openxmlformats.org/drawingml/2006/main">
            <a:r>
              <a:t>    "group": "제품 비교",</a:t>
            </a:r>
          </a:p>
          <a:p xmlns:a="http://schemas.openxmlformats.org/drawingml/2006/main">
            <a:r>
              <a:t>    "sourceDetail": "상사·보좌·점선 보고·맞춤 관계를 지원 데이터 커넥터를 통해 질의응답에 활용",</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"PF-C01",</a:t>
            </a:r>
          </a:p>
          <a:p xmlns:a="http://schemas.openxmlformats.org/drawingml/2006/main">
            <a:r>
              <a:t>    "canonicalId": "PF-C01",</a:t>
            </a:r>
          </a:p>
          <a:p xmlns:a="http://schemas.openxmlformats.org/drawingml/2006/main">
            <a:r>
              <a:t>    "purpose": "공식 직원 관계를 질의 문맥으로 활용",</a:t>
            </a:r>
          </a:p>
          <a:p xmlns:a="http://schemas.openxmlformats.org/drawingml/2006/main">
            <a:r>
              <a:t>    "users": "직원·디렉터리 관리자",</a:t>
            </a:r>
          </a:p>
          <a:p xmlns:a="http://schemas.openxmlformats.org/drawingml/2006/main">
            <a:r>
              <a:t>    "scope": [</a:t>
            </a:r>
          </a:p>
          <a:p xmlns:a="http://schemas.openxmlformats.org/drawingml/2006/main">
            <a:r>
              <a:t>      "상사",</a:t>
            </a:r>
          </a:p>
          <a:p xmlns:a="http://schemas.openxmlformats.org/drawingml/2006/main">
            <a:r>
              <a:t>      "보좌·점선 보고",</a:t>
            </a:r>
          </a:p>
          <a:p xmlns:a="http://schemas.openxmlformats.org/drawingml/2006/main">
            <a:r>
              <a:t>      "맞춤 관계"</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"직원 디렉터리",</a:t>
            </a:r>
          </a:p>
          <a:p xmlns:a="http://schemas.openxmlformats.org/drawingml/2006/main">
            <a:r>
              <a:t>        "detail": "로그인 사용자와 관계 질의 대상 식별",</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"상사 / 보좌·점선 보고 / 맞춤 관계",</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"관계 커넥터",</a:t>
            </a:r>
          </a:p>
          <a:p xmlns:a="http://schemas.openxmlformats.org/drawingml/2006/main">
            <a:r>
              <a:t>        "detail": "지원 커넥터의 관계 유형과 직원 ID 매칭",</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"관계 질의 이용자",</a:t>
            </a:r>
          </a:p>
          <a:p xmlns:a="http://schemas.openxmlformats.org/drawingml/2006/main">
            <a:r>
              <a:t>        "detail": "허용된 조직 관계를 질의 응답에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"조직·직원 관계",</a:t>
            </a:r>
          </a:p>
          <a:p xmlns:a="http://schemas.openxmlformats.org/drawingml/2006/main">
            <a:r>
              <a:t>        "detail": "직원 디렉터리·관계 유형·효력일 정합화",</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"전보·겸직·관계 해제 이후 결과 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"직원 정보",</a:t>
            </a:r>
          </a:p>
          <a:p xmlns:a="http://schemas.openxmlformats.org/drawingml/2006/main">
            <a:r>
              <a:t>        "input": "로그인 사용자와 관계 질의 대상 식별",</a:t>
            </a:r>
          </a:p>
          <a:p xmlns:a="http://schemas.openxmlformats.org/drawingml/2006/main">
            <a:r>
              <a:t>        "process": "직원 디렉터리·관계 유형·효력일 정합화",</a:t>
            </a:r>
          </a:p>
          <a:p xmlns:a="http://schemas.openxmlformats.org/drawingml/2006/main">
            <a:r>
              <a:t>        "output": "직원 정보"</a:t>
            </a:r>
          </a:p>
          <a:p xmlns:a="http://schemas.openxmlformats.org/drawingml/2006/main">
            <a:r>
              <a:t>      },</a:t>
            </a:r>
          </a:p>
          <a:p xmlns:a="http://schemas.openxmlformats.org/drawingml/2006/main">
            <a:r>
              <a:t>      {</a:t>
            </a:r>
          </a:p>
          <a:p xmlns:a="http://schemas.openxmlformats.org/drawingml/2006/main">
            <a:r>
              <a:t>        "title": "관계 커넥터",</a:t>
            </a:r>
          </a:p>
          <a:p xmlns:a="http://schemas.openxmlformats.org/drawingml/2006/main">
            <a:r>
              <a:t>        "input": "직원 정보",</a:t>
            </a:r>
          </a:p>
          <a:p xmlns:a="http://schemas.openxmlformats.org/drawingml/2006/main">
            <a:r>
              <a:t>        "process": "지원 커넥터의 관계 유형과 직원 ID 매칭",</a:t>
            </a:r>
          </a:p>
          <a:p xmlns:a="http://schemas.openxmlformats.org/drawingml/2006/main">
            <a:r>
              <a:t>        "output": "관계 매핑"</a:t>
            </a:r>
          </a:p>
          <a:p xmlns:a="http://schemas.openxmlformats.org/drawingml/2006/main">
            <a:r>
              <a:t>      },</a:t>
            </a:r>
          </a:p>
          <a:p xmlns:a="http://schemas.openxmlformats.org/drawingml/2006/main">
            <a:r>
              <a:t>      {</a:t>
            </a:r>
          </a:p>
          <a:p xmlns:a="http://schemas.openxmlformats.org/drawingml/2006/main">
            <a:r>
              <a:t>        "title": "조직 관계 질의",</a:t>
            </a:r>
          </a:p>
          <a:p xmlns:a="http://schemas.openxmlformats.org/drawingml/2006/main">
            <a:r>
              <a:t>        "input": "관계 매핑",</a:t>
            </a:r>
          </a:p>
          <a:p xmlns:a="http://schemas.openxmlformats.org/drawingml/2006/main">
            <a:r>
              <a:t>        "process": "신원·효력일과 권한 원천 분리",</a:t>
            </a:r>
          </a:p>
          <a:p xmlns:a="http://schemas.openxmlformats.org/drawingml/2006/main">
            <a:r>
              <a:t>        "output": "관계 질의"</a:t>
            </a:r>
          </a:p>
          <a:p xmlns:a="http://schemas.openxmlformats.org/drawingml/2006/main">
            <a:r>
              <a:t>      },</a:t>
            </a:r>
          </a:p>
          <a:p xmlns:a="http://schemas.openxmlformats.org/drawingml/2006/main">
            <a:r>
              <a:t>      {</a:t>
            </a:r>
          </a:p>
          <a:p xmlns:a="http://schemas.openxmlformats.org/drawingml/2006/main">
            <a:r>
              <a:t>        "title": "접근 범위 응답",</a:t>
            </a:r>
          </a:p>
          <a:p xmlns:a="http://schemas.openxmlformats.org/drawingml/2006/main">
            <a:r>
              <a:t>        "input": "관계 질의",</a:t>
            </a:r>
          </a:p>
          <a:p xmlns:a="http://schemas.openxmlformats.org/drawingml/2006/main">
            <a:r>
              <a:t>        "process": "허용된 조직 관계를 질의 응답에 제공",</a:t>
            </a:r>
          </a:p>
          <a:p xmlns:a="http://schemas.openxmlformats.org/drawingml/2006/main">
            <a:r>
              <a:t>        "output": "허용 응답"</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"상사·겸직·점선 보고 관계를 대상 직원 ID로 조회",</a:t>
            </a:r>
          </a:p>
          <a:p xmlns:a="http://schemas.openxmlformats.org/drawingml/2006/main">
            <a:r>
              <a:t>      "exception": "동명이인·전보일 경계·종료된 대행관계",</a:t>
            </a:r>
          </a:p>
          <a:p xmlns:a="http://schemas.openxmlformats.org/drawingml/2006/main">
            <a:r>
              <a:t>      "evidence": "원천 관계와 응답의 ID·효력일·권한 대사",</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"직원·디렉터리 관리자",</a:t>
            </a:r>
          </a:p>
          <a:p xmlns:a="http://schemas.openxmlformats.org/drawingml/2006/main">
            <a:r>
              <a:t>          "processing": "로그인 사용자와 관계 질의 대상 식별",</a:t>
            </a:r>
          </a:p>
          <a:p xmlns:a="http://schemas.openxmlformats.org/drawingml/2006/main">
            <a:r>
              <a:t>          "output": "직원 정보"</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"조직·직원 관계",</a:t>
            </a:r>
          </a:p>
          <a:p xmlns:a="http://schemas.openxmlformats.org/drawingml/2006/main">
            <a:r>
              <a:t>          "processing": "직원 디렉터리·관계 유형·효력일 정합화",</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"직원 정보",</a:t>
            </a:r>
          </a:p>
          <a:p xmlns:a="http://schemas.openxmlformats.org/drawingml/2006/main">
            <a:r>
              <a:t>          "processing": "지원 커넥터의 관계 유형과 직원 ID 매칭",</a:t>
            </a:r>
          </a:p>
          <a:p xmlns:a="http://schemas.openxmlformats.org/drawingml/2006/main">
            <a:r>
              <a:t>          "output": "관계 질의"</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"관계 질의",</a:t>
            </a:r>
          </a:p>
          <a:p xmlns:a="http://schemas.openxmlformats.org/drawingml/2006/main">
            <a:r>
              <a:t>          "processing": "허용된 조직 관계를 질의 응답에 제공",</a:t>
            </a:r>
          </a:p>
          <a:p xmlns:a="http://schemas.openxmlformats.org/drawingml/2006/main">
            <a:r>
              <a:t>          "output": "허용 응답"</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"전보·겸직·관계 해제 이후 결과 대사",</a:t>
            </a:r>
          </a:p>
          <a:p xmlns:a="http://schemas.openxmlformats.org/drawingml/2006/main">
            <a:r>
              <a:t>          "output": "원천 관계와 응답의 ID·효력일·권한 대사"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"전보·겸직·관계 해제 이후 결과 대사",</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"People relationships in Microsoft 365",</a:t>
            </a:r>
          </a:p>
          <a:p xmlns:a="http://schemas.openxmlformats.org/drawingml/2006/main">
            <a:r>
              <a:t>        "url": "https://learn.microsoft.com/en-us/microsoft-365/admin/people-relationships-m365?view=o365-worldwide"</a:t>
            </a:r>
          </a:p>
          <a:p xmlns:a="http://schemas.openxmlformats.org/drawingml/2006/main">
            <a:r>
              <a:t>      }</a:t>
            </a:r>
          </a:p>
          <a:p xmlns:a="http://schemas.openxmlformats.org/drawingml/2006/main">
            <a:r>
              <a:t>    ],</a:t>
            </a:r>
          </a:p>
          <a:p xmlns:a="http://schemas.openxmlformats.org/drawingml/2006/main">
            <a:r>
              <a:t>    "implication": "직원 관계 인식과 데이터 접근권한을 각각 검증하는 조직 모델",</a:t>
            </a:r>
          </a:p>
          <a:p xmlns:a="http://schemas.openxmlformats.org/drawingml/2006/main">
            <a:r>
              <a:t>    "local": "직원 관계 인식과 데이터 접근권한을 각각 검증하는 조직 모델",</a:t>
            </a:r>
          </a:p>
          <a:p xmlns:a="http://schemas.openxmlformats.org/drawingml/2006/main">
            <a:r>
              <a:t>    "sourceDetail": "상사·보좌·점선 보고·맞춤 관계를 지원 데이터 커넥터를 통해 질의응답에 활용",</a:t>
            </a:r>
          </a:p>
          <a:p xmlns:a="http://schemas.openxmlformats.org/drawingml/2006/main">
            <a:r>
              <a:t>    "narrative": [</a:t>
            </a:r>
          </a:p>
          <a:p xmlns:a="http://schemas.openxmlformats.org/drawingml/2006/main">
            <a:r>
              <a:t>      "Microsoft Graph의 조직 관계 활용 기능을 조직 네이티브 AI의 구성요소 관점에서 분석한 사례. 상사·보고 관계·추가 관계를 식별해 질의 대상과 업무 문맥을 연결하는 기능 범위.",</a:t>
            </a:r>
          </a:p>
          <a:p xmlns:a="http://schemas.openxmlformats.org/drawingml/2006/main">
            <a:r>
              <a:t>      "지원되는 디렉터리·관계 유형과 직원 식별정보를 대조하고 요청자에게 허용된 관계 정보를 조회하는 흐름. 직원 이름을 단순 검색어로 사용하는 방식과 공식 ID·관계 유형·효력일을 이용하는 방식의 차이를 비교하는 설계.",</a:t>
            </a:r>
          </a:p>
          <a:p xmlns:a="http://schemas.openxmlformats.org/drawingml/2006/main">
            <a:r>
              <a:t>      "직속 상사 관계가 문서 열람·결재 권한을 자동 부여하는 근거는 아님. TS에서는 조직 관계 그래프와 업무시스템의 권한 정책을 분리하고 겸직·파견·대결·전보·동명이인 조건에서 허용된 관계와 실제 접근 권한을 함께 시험."</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"조직 관계 질의",</a:t>
            </a:r>
          </a:p>
          <a:p xmlns:a="http://schemas.openxmlformats.org/drawingml/2006/main">
            <a:r>
              <a:t>          "layer": "이용 접점",</a:t>
            </a:r>
          </a:p>
          <a:p xmlns:a="http://schemas.openxmlformats.org/drawingml/2006/main">
            <a:r>
              <a:t>          "detail": "직원·디렉터리 관리자",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"로그인·대상 ID",</a:t>
            </a:r>
          </a:p>
          <a:p xmlns:a="http://schemas.openxmlformats.org/drawingml/2006/main">
            <a:r>
              <a:t>          "layer": "업무 문맥",</a:t>
            </a:r>
          </a:p>
          <a:p xmlns:a="http://schemas.openxmlformats.org/drawingml/2006/main">
            <a:r>
              <a:t>          "detail": "로그인 사용자와 관계 질의 대상 식별",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"직원 관계 조회",</a:t>
            </a:r>
          </a:p>
          <a:p xmlns:a="http://schemas.openxmlformats.org/drawingml/2006/main">
            <a:r>
              <a:t>          "layer": "자료 조회",</a:t>
            </a:r>
          </a:p>
          <a:p xmlns:a="http://schemas.openxmlformats.org/drawingml/2006/main">
            <a:r>
              <a:t>          "detail": "직원 정보",</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"관계 유형 매칭",</a:t>
            </a:r>
          </a:p>
          <a:p xmlns:a="http://schemas.openxmlformats.org/drawingml/2006/main">
            <a:r>
              <a:t>          "layer": "핵심 처리",</a:t>
            </a:r>
          </a:p>
          <a:p xmlns:a="http://schemas.openxmlformats.org/drawingml/2006/main">
            <a:r>
              <a:t>          "detail": "지원 커넥터의 관계 유형과 직원 ID 매칭",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"효력일·동명 검사",</a:t>
            </a:r>
          </a:p>
          <a:p xmlns:a="http://schemas.openxmlformats.org/drawingml/2006/main">
            <a:r>
              <a:t>          "layer": "결과 검증",</a:t>
            </a:r>
          </a:p>
          <a:p xmlns:a="http://schemas.openxmlformats.org/drawingml/2006/main">
            <a:r>
              <a:t>          "detail": "신원·효력일과 권한 원천 분리",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"이용자 확인",</a:t>
            </a:r>
          </a:p>
          <a:p xmlns:a="http://schemas.openxmlformats.org/drawingml/2006/main">
            <a:r>
              <a:t>          "layer": "사람 확인",</a:t>
            </a:r>
          </a:p>
          <a:p xmlns:a="http://schemas.openxmlformats.org/drawingml/2006/main">
            <a:r>
              <a:t>          "detail": "상사·겸직·점선 보고 관계를 대상 직원 ID로 조회",</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"허용 관계 응답",</a:t>
            </a:r>
          </a:p>
          <a:p xmlns:a="http://schemas.openxmlformats.org/drawingml/2006/main">
            <a:r>
              <a:t>          "layer": "업무 연결",</a:t>
            </a:r>
          </a:p>
          <a:p xmlns:a="http://schemas.openxmlformats.org/drawingml/2006/main">
            <a:r>
              <a:t>          "detail": "허용된 조직 관계를 질의 응답에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"전보·해제 대사",</a:t>
            </a:r>
          </a:p>
          <a:p xmlns:a="http://schemas.openxmlformats.org/drawingml/2006/main">
            <a:r>
              <a:t>          "layer": "운영 관측",</a:t>
            </a:r>
          </a:p>
          <a:p xmlns:a="http://schemas.openxmlformats.org/drawingml/2006/main">
            <a:r>
              <a:t>          "detail": "전보·겸직·관계 해제 이후 결과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"직원 디렉터리",</a:t>
            </a:r>
          </a:p>
          <a:p xmlns:a="http://schemas.openxmlformats.org/drawingml/2006/main">
            <a:r>
              <a:t>          "layer": "데이터 원천",</a:t>
            </a:r>
          </a:p>
          <a:p xmlns:a="http://schemas.openxmlformats.org/drawingml/2006/main">
            <a:r>
              <a:t>          "detail": "조직·직원 관계",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"공식 ID·유형 정리",</a:t>
            </a:r>
          </a:p>
          <a:p xmlns:a="http://schemas.openxmlformats.org/drawingml/2006/main">
            <a:r>
              <a:t>          "layer": "준비·갱신",</a:t>
            </a:r>
          </a:p>
          <a:p xmlns:a="http://schemas.openxmlformats.org/drawingml/2006/main">
            <a:r>
              <a:t>          "detail": "직원 디렉터리·관계 유형·효력일 정합화",</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"관계·효력일 원장",</a:t>
            </a:r>
          </a:p>
          <a:p xmlns:a="http://schemas.openxmlformats.org/drawingml/2006/main">
            <a:r>
              <a:t>          "layer": "상태·지식 저장",</a:t>
            </a:r>
          </a:p>
          <a:p xmlns:a="http://schemas.openxmlformats.org/drawingml/2006/main">
            <a:r>
              <a:t>          "detail": "원천 관계와 응답의 ID·효력일·권한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"관계와 권한 분리",</a:t>
            </a:r>
          </a:p>
          <a:p xmlns:a="http://schemas.openxmlformats.org/drawingml/2006/main">
            <a:r>
              <a:t>          "layer": "권한·정책",</a:t>
            </a:r>
          </a:p>
          <a:p xmlns:a="http://schemas.openxmlformats.org/drawingml/2006/main">
            <a:r>
              <a:t>          "detail": "동명이인·전보일 경계·종료된 대행관계",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"로그인 사용자와 관계 질의 대상 식별",</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"직원 정보",</a:t>
            </a:r>
          </a:p>
          <a:p xmlns:a="http://schemas.openxmlformats.org/drawingml/2006/main">
            <a:r>
              <a:t>          "check": "신원·효력일과 권한 원천 분리"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"관계 매핑",</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"관계 질의",</a:t>
            </a:r>
          </a:p>
          <a:p xmlns:a="http://schemas.openxmlformats.org/drawingml/2006/main">
            <a:r>
              <a:t>          "check": "동명이인·전보일 경계·종료된 대행관계"</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"관계 질의",</a:t>
            </a:r>
          </a:p>
          <a:p xmlns:a="http://schemas.openxmlformats.org/drawingml/2006/main">
            <a:r>
              <a:t>          "check": "허용된 조직 관계를 질의 응답에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"허용 응답",</a:t>
            </a:r>
          </a:p>
          <a:p xmlns:a="http://schemas.openxmlformats.org/drawingml/2006/main">
            <a:r>
              <a:t>          "check": "원천 관계와 응답의 ID·효력일·권한 대사"</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"공식 직원 관계를 질의 문맥으로 활용 / 상사·보좌·점선 보고·맞춤 관계",</a:t>
            </a:r>
          </a:p>
          <a:p xmlns:a="http://schemas.openxmlformats.org/drawingml/2006/main">
            <a:r>
              <a:t>        "extension": "직원 관계 인식과 데이터 접근권한을 각각 검증하는 조직 모델"</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"동명이인·전보일 경계·종료된 대행관계",</a:t>
            </a:r>
          </a:p>
          <a:p xmlns:a="http://schemas.openxmlformats.org/drawingml/2006/main">
            <a:r>
              <a:t>        "hold": "신원·효력일과 권한 원천 분리",</a:t>
            </a:r>
          </a:p>
          <a:p xmlns:a="http://schemas.openxmlformats.org/drawingml/2006/main">
            <a:r>
              <a:t>        "recovery": "전보·겸직·관계 해제 이후 결과 대사",</a:t>
            </a:r>
          </a:p>
          <a:p xmlns:a="http://schemas.openxmlformats.org/drawingml/2006/main">
            <a:r>
              <a:t>        "evidence": "원천 관계와 응답의 ID·효력일·권한 대사"</a:t>
            </a:r>
          </a:p>
          <a:p xmlns:a="http://schemas.openxmlformats.org/drawingml/2006/main">
            <a:r>
              <a:t>      },</a:t>
            </a:r>
          </a:p>
          <a:p xmlns:a="http://schemas.openxmlformats.org/drawingml/2006/main">
            <a:r>
              <a:t>      "data": {</a:t>
            </a:r>
          </a:p>
          <a:p xmlns:a="http://schemas.openxmlformats.org/drawingml/2006/main">
            <a:r>
              <a:t>        "source": "조직·직원 관계",</a:t>
            </a:r>
          </a:p>
          <a:p xmlns:a="http://schemas.openxmlformats.org/drawingml/2006/main">
            <a:r>
              <a:t>        "prepare": "직원 디렉터리·관계 유형·효력일 정합화",</a:t>
            </a:r>
          </a:p>
          <a:p xmlns:a="http://schemas.openxmlformats.org/drawingml/2006/main">
            <a:r>
              <a:t>        "output": "직원 정보",</a:t>
            </a:r>
          </a:p>
          <a:p xmlns:a="http://schemas.openxmlformats.org/drawingml/2006/main">
            <a:r>
              <a:t>        "refresh": "전보·겸직·관계 해제 이후 결과 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"PF-C01",</a:t>
            </a:r>
          </a:p>
          <a:p xmlns:a="http://schemas.openxmlformats.org/drawingml/2006/main">
            <a:r>
              <a:t>    "success": [</a:t>
            </a:r>
          </a:p>
          <a:p xmlns:a="http://schemas.openxmlformats.org/drawingml/2006/main">
            <a:r>
              <a:t>      "공식 직원 관계의 연결",</a:t>
            </a:r>
          </a:p>
          <a:p xmlns:a="http://schemas.openxmlformats.org/drawingml/2006/main">
            <a:r>
              <a:t>      "조직 질의의 데이터 기반 구성"</a:t>
            </a:r>
          </a:p>
          <a:p xmlns:a="http://schemas.openxmlformats.org/drawingml/2006/main">
            <a:r>
              <a:t>    ],</a:t>
            </a:r>
          </a:p>
          <a:p xmlns:a="http://schemas.openxmlformats.org/drawingml/2006/main">
            <a:r>
              <a:t>    "risks": [</a:t>
            </a:r>
          </a:p>
          <a:p xmlns:a="http://schemas.openxmlformats.org/drawingml/2006/main">
            <a:r>
              <a:t>      "조직 관계를 접근권한으로 오인",</a:t>
            </a:r>
          </a:p>
          <a:p xmlns:a="http://schemas.openxmlformats.org/drawingml/2006/main">
            <a:r>
              <a:t>      "전보·겸직 정보의 지연"</a:t>
            </a:r>
          </a:p>
          <a:p xmlns:a="http://schemas.openxmlformats.org/drawingml/2006/main">
            <a:r>
              <a:t>    ],</a:t>
            </a:r>
          </a:p>
          <a:p xmlns:a="http://schemas.openxmlformats.org/drawingml/2006/main">
            <a:r>
              <a:t>    "architecture": [</a:t>
            </a:r>
          </a:p>
          <a:p xmlns:a="http://schemas.openxmlformats.org/drawingml/2006/main">
            <a:r>
              <a:t>      "직원 디렉터리",</a:t>
            </a:r>
          </a:p>
          <a:p xmlns:a="http://schemas.openxmlformats.org/drawingml/2006/main">
            <a:r>
              <a:t>      "관계 커넥터",</a:t>
            </a:r>
          </a:p>
          <a:p xmlns:a="http://schemas.openxmlformats.org/drawingml/2006/main">
            <a:r>
              <a:t>      "조직·직원 관계",</a:t>
            </a:r>
          </a:p>
          <a:p xmlns:a="http://schemas.openxmlformats.org/drawingml/2006/main">
            <a:r>
              <a:t>      "관계 질의 이용자"</a:t>
            </a:r>
          </a:p>
          <a:p xmlns:a="http://schemas.openxmlformats.org/drawingml/2006/main">
            <a:r>
              <a:t>    ],</a:t>
            </a:r>
          </a:p>
          <a:p xmlns:a="http://schemas.openxmlformats.org/drawingml/2006/main">
            <a:r>
              <a:t>    "transfers": [</a:t>
            </a:r>
          </a:p>
          <a:p xmlns:a="http://schemas.openxmlformats.org/drawingml/2006/main">
            <a:r>
              <a:t>      "직원 정보",</a:t>
            </a:r>
          </a:p>
          <a:p xmlns:a="http://schemas.openxmlformats.org/drawingml/2006/main">
            <a:r>
              <a:t>      "관계 매핑",</a:t>
            </a:r>
          </a:p>
          <a:p xmlns:a="http://schemas.openxmlformats.org/drawingml/2006/main">
            <a:r>
              <a:t>      "관계 질의",</a:t>
            </a:r>
          </a:p>
          <a:p xmlns:a="http://schemas.openxmlformats.org/drawingml/2006/main">
            <a:r>
              <a:t>      "허용 응답"</a:t>
            </a:r>
          </a:p>
          <a:p xmlns:a="http://schemas.openxmlformats.org/drawingml/2006/main">
            <a:r>
              <a:t>    ],</a:t>
            </a:r>
          </a:p>
          <a:p xmlns:a="http://schemas.openxmlformats.org/drawingml/2006/main">
            <a:r>
              <a:t>    "control": "신원·효력일과 권한 원천 분리",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People relationships in Microsoft 365 https://learn.microsoft.com/en-us/microsoft-365/admin/people-relationships-m365?view=o365-worldwide</a:t>
            </a:r>
          </a:p>
          <a:p xmlns:a="http://schemas.openxmlformats.org/drawingml/2006/main">
            <a:r>
              <a:t>홈페이지 https://heen1987-ops.github.io/TS-business-Plan-001/index.html?view=platform-cases&amp;case=PF-C01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"PF-C01",</a:t>
            </a:r>
          </a:p>
          <a:p xmlns:a="http://schemas.openxmlformats.org/drawingml/2006/main">
            <a:r>
              <a:t>    "sourceId": "C01",</a:t>
            </a:r>
          </a:p>
          <a:p xmlns:a="http://schemas.openxmlformats.org/drawingml/2006/main">
            <a:r>
              <a:t>    "title": "M365 조직 관계",</a:t>
            </a:r>
          </a:p>
          <a:p xmlns:a="http://schemas.openxmlformats.org/drawingml/2006/main">
            <a:r>
              <a:t>    "region": "해외",</a:t>
            </a:r>
          </a:p>
          <a:p xmlns:a="http://schemas.openxmlformats.org/drawingml/2006/main">
            <a:r>
              <a:t>    "owner": "Microsoft 365 Copilot / 조직 관계",</a:t>
            </a:r>
          </a:p>
          <a:p xmlns:a="http://schemas.openxmlformats.org/drawingml/2006/main">
            <a:r>
              <a:t>    "state": "2026-07-23 문서 / 2026-10-16 확인",</a:t>
            </a:r>
          </a:p>
          <a:p xmlns:a="http://schemas.openxmlformats.org/drawingml/2006/main">
            <a:r>
              <a:t>    "period": "기존 원장 확인 2026.10.16",</a:t>
            </a:r>
          </a:p>
          <a:p xmlns:a="http://schemas.openxmlformats.org/drawingml/2006/main">
            <a:r>
              <a:t>    "fact": "제품 기능 비교 / 기관 도입 성과 아님",</a:t>
            </a:r>
          </a:p>
          <a:p xmlns:a="http://schemas.openxmlformats.org/drawingml/2006/main">
            <a:r>
              <a:t>    "limit": "지원 관계·데이터 조건에 따름. TS 업무분장·권한 변경 처리 품질은 별도 시험 필요",</a:t>
            </a:r>
          </a:p>
          <a:p xmlns:a="http://schemas.openxmlformats.org/drawingml/2006/main">
            <a:r>
              <a:t>    "nodes": [</a:t>
            </a:r>
          </a:p>
          <a:p xmlns:a="http://schemas.openxmlformats.org/drawingml/2006/main">
            <a:r>
              <a:t>      "직원 정보",</a:t>
            </a:r>
          </a:p>
          <a:p xmlns:a="http://schemas.openxmlformats.org/drawingml/2006/main">
            <a:r>
              <a:t>      "관계 커넥터",</a:t>
            </a:r>
          </a:p>
          <a:p xmlns:a="http://schemas.openxmlformats.org/drawingml/2006/main">
            <a:r>
              <a:t>      "조직 관계 질의",</a:t>
            </a:r>
          </a:p>
          <a:p xmlns:a="http://schemas.openxmlformats.org/drawingml/2006/main">
            <a:r>
              <a:t>      "접근 범위 응답"</a:t>
            </a:r>
          </a:p>
          <a:p xmlns:a="http://schemas.openxmlformats.org/drawingml/2006/main">
            <a:r>
              <a:t>    ],</a:t>
            </a:r>
          </a:p>
          <a:p xmlns:a="http://schemas.openxmlformats.org/drawingml/2006/main">
            <a:r>
              <a:t>    "apply": "직원 관계 인식과 데이터 접근권한을 각각 검증하는 조직 모델",</a:t>
            </a:r>
          </a:p>
          <a:p xmlns:a="http://schemas.openxmlformats.org/drawingml/2006/main">
            <a:r>
              <a:t>    "delta": "사번·직무·별칭·겸직·책임업무 매핑",</a:t>
            </a:r>
          </a:p>
          <a:p xmlns:a="http://schemas.openxmlformats.org/drawingml/2006/main">
            <a:r>
              <a:t>    "test": "인물 식별·직무 매핑 정확도의 기준선·비교 평가",</a:t>
            </a:r>
          </a:p>
          <a:p xmlns:a="http://schemas.openxmlformats.org/drawingml/2006/main">
            <a:r>
              <a:t>    "url": "https://learn.microsoft.com/en-us/microsoft-365/admin/people-relationships-m365?view=o365-worldwide",</a:t>
            </a:r>
          </a:p>
          <a:p xmlns:a="http://schemas.openxmlformats.org/drawingml/2006/main">
            <a:r>
              <a:t>    "urls": [</a:t>
            </a:r>
          </a:p>
          <a:p xmlns:a="http://schemas.openxmlformats.org/drawingml/2006/main">
            <a:r>
              <a:t>      "https://learn.microsoft.com/en-us/microsoft-365/admin/people-relationships-m365?view=o365-worldwide"</a:t>
            </a:r>
          </a:p>
          <a:p xmlns:a="http://schemas.openxmlformats.org/drawingml/2006/main">
            <a:r>
              <a:t>    ],</a:t>
            </a:r>
          </a:p>
          <a:p xmlns:a="http://schemas.openxmlformats.org/drawingml/2006/main">
            <a:r>
              <a:t>    "basis": "People relationships in Microsoft 365",</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"인물 식별·직무 매핑 정확도",</a:t>
            </a:r>
          </a:p>
          <a:p xmlns:a="http://schemas.openxmlformats.org/drawingml/2006/main">
            <a:r>
              <a:t>    "group": "제품 비교",</a:t>
            </a:r>
          </a:p>
          <a:p xmlns:a="http://schemas.openxmlformats.org/drawingml/2006/main">
            <a:r>
              <a:t>    "sourceDetail": "상사·보좌·점선 보고·맞춤 관계를 지원 데이터 커넥터를 통해 질의응답에 활용",</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"PF-C01",</a:t>
            </a:r>
          </a:p>
          <a:p xmlns:a="http://schemas.openxmlformats.org/drawingml/2006/main">
            <a:r>
              <a:t>    "canonicalId": "PF-C01",</a:t>
            </a:r>
          </a:p>
          <a:p xmlns:a="http://schemas.openxmlformats.org/drawingml/2006/main">
            <a:r>
              <a:t>    "purpose": "공식 직원 관계를 질의 문맥으로 활용",</a:t>
            </a:r>
          </a:p>
          <a:p xmlns:a="http://schemas.openxmlformats.org/drawingml/2006/main">
            <a:r>
              <a:t>    "users": "직원·디렉터리 관리자",</a:t>
            </a:r>
          </a:p>
          <a:p xmlns:a="http://schemas.openxmlformats.org/drawingml/2006/main">
            <a:r>
              <a:t>    "scope": [</a:t>
            </a:r>
          </a:p>
          <a:p xmlns:a="http://schemas.openxmlformats.org/drawingml/2006/main">
            <a:r>
              <a:t>      "상사",</a:t>
            </a:r>
          </a:p>
          <a:p xmlns:a="http://schemas.openxmlformats.org/drawingml/2006/main">
            <a:r>
              <a:t>      "보좌·점선 보고",</a:t>
            </a:r>
          </a:p>
          <a:p xmlns:a="http://schemas.openxmlformats.org/drawingml/2006/main">
            <a:r>
              <a:t>      "맞춤 관계"</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"직원 디렉터리",</a:t>
            </a:r>
          </a:p>
          <a:p xmlns:a="http://schemas.openxmlformats.org/drawingml/2006/main">
            <a:r>
              <a:t>        "detail": "로그인 사용자와 관계 질의 대상 식별",</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"상사 / 보좌·점선 보고 / 맞춤 관계",</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"관계 커넥터",</a:t>
            </a:r>
          </a:p>
          <a:p xmlns:a="http://schemas.openxmlformats.org/drawingml/2006/main">
            <a:r>
              <a:t>        "detail": "지원 커넥터의 관계 유형과 직원 ID 매칭",</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"관계 질의 이용자",</a:t>
            </a:r>
          </a:p>
          <a:p xmlns:a="http://schemas.openxmlformats.org/drawingml/2006/main">
            <a:r>
              <a:t>        "detail": "허용된 조직 관계를 질의 응답에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"조직·직원 관계",</a:t>
            </a:r>
          </a:p>
          <a:p xmlns:a="http://schemas.openxmlformats.org/drawingml/2006/main">
            <a:r>
              <a:t>        "detail": "직원 디렉터리·관계 유형·효력일 정합화",</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"전보·겸직·관계 해제 이후 결과 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"직원 정보",</a:t>
            </a:r>
          </a:p>
          <a:p xmlns:a="http://schemas.openxmlformats.org/drawingml/2006/main">
            <a:r>
              <a:t>        "input": "로그인 사용자와 관계 질의 대상 식별",</a:t>
            </a:r>
          </a:p>
          <a:p xmlns:a="http://schemas.openxmlformats.org/drawingml/2006/main">
            <a:r>
              <a:t>        "process": "직원 디렉터리·관계 유형·효력일 정합화",</a:t>
            </a:r>
          </a:p>
          <a:p xmlns:a="http://schemas.openxmlformats.org/drawingml/2006/main">
            <a:r>
              <a:t>        "output": "직원 정보"</a:t>
            </a:r>
          </a:p>
          <a:p xmlns:a="http://schemas.openxmlformats.org/drawingml/2006/main">
            <a:r>
              <a:t>      },</a:t>
            </a:r>
          </a:p>
          <a:p xmlns:a="http://schemas.openxmlformats.org/drawingml/2006/main">
            <a:r>
              <a:t>      {</a:t>
            </a:r>
          </a:p>
          <a:p xmlns:a="http://schemas.openxmlformats.org/drawingml/2006/main">
            <a:r>
              <a:t>        "title": "관계 커넥터",</a:t>
            </a:r>
          </a:p>
          <a:p xmlns:a="http://schemas.openxmlformats.org/drawingml/2006/main">
            <a:r>
              <a:t>        "input": "직원 정보",</a:t>
            </a:r>
          </a:p>
          <a:p xmlns:a="http://schemas.openxmlformats.org/drawingml/2006/main">
            <a:r>
              <a:t>        "process": "지원 커넥터의 관계 유형과 직원 ID 매칭",</a:t>
            </a:r>
          </a:p>
          <a:p xmlns:a="http://schemas.openxmlformats.org/drawingml/2006/main">
            <a:r>
              <a:t>        "output": "관계 매핑"</a:t>
            </a:r>
          </a:p>
          <a:p xmlns:a="http://schemas.openxmlformats.org/drawingml/2006/main">
            <a:r>
              <a:t>      },</a:t>
            </a:r>
          </a:p>
          <a:p xmlns:a="http://schemas.openxmlformats.org/drawingml/2006/main">
            <a:r>
              <a:t>      {</a:t>
            </a:r>
          </a:p>
          <a:p xmlns:a="http://schemas.openxmlformats.org/drawingml/2006/main">
            <a:r>
              <a:t>        "title": "조직 관계 질의",</a:t>
            </a:r>
          </a:p>
          <a:p xmlns:a="http://schemas.openxmlformats.org/drawingml/2006/main">
            <a:r>
              <a:t>        "input": "관계 매핑",</a:t>
            </a:r>
          </a:p>
          <a:p xmlns:a="http://schemas.openxmlformats.org/drawingml/2006/main">
            <a:r>
              <a:t>        "process": "신원·효력일과 권한 원천 분리",</a:t>
            </a:r>
          </a:p>
          <a:p xmlns:a="http://schemas.openxmlformats.org/drawingml/2006/main">
            <a:r>
              <a:t>        "output": "관계 질의"</a:t>
            </a:r>
          </a:p>
          <a:p xmlns:a="http://schemas.openxmlformats.org/drawingml/2006/main">
            <a:r>
              <a:t>      },</a:t>
            </a:r>
          </a:p>
          <a:p xmlns:a="http://schemas.openxmlformats.org/drawingml/2006/main">
            <a:r>
              <a:t>      {</a:t>
            </a:r>
          </a:p>
          <a:p xmlns:a="http://schemas.openxmlformats.org/drawingml/2006/main">
            <a:r>
              <a:t>        "title": "접근 범위 응답",</a:t>
            </a:r>
          </a:p>
          <a:p xmlns:a="http://schemas.openxmlformats.org/drawingml/2006/main">
            <a:r>
              <a:t>        "input": "관계 질의",</a:t>
            </a:r>
          </a:p>
          <a:p xmlns:a="http://schemas.openxmlformats.org/drawingml/2006/main">
            <a:r>
              <a:t>        "process": "허용된 조직 관계를 질의 응답에 제공",</a:t>
            </a:r>
          </a:p>
          <a:p xmlns:a="http://schemas.openxmlformats.org/drawingml/2006/main">
            <a:r>
              <a:t>        "output": "허용 응답"</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"상사·겸직·점선 보고 관계를 대상 직원 ID로 조회",</a:t>
            </a:r>
          </a:p>
          <a:p xmlns:a="http://schemas.openxmlformats.org/drawingml/2006/main">
            <a:r>
              <a:t>      "exception": "동명이인·전보일 경계·종료된 대행관계",</a:t>
            </a:r>
          </a:p>
          <a:p xmlns:a="http://schemas.openxmlformats.org/drawingml/2006/main">
            <a:r>
              <a:t>      "evidence": "원천 관계와 응답의 ID·효력일·권한 대사",</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"직원·디렉터리 관리자",</a:t>
            </a:r>
          </a:p>
          <a:p xmlns:a="http://schemas.openxmlformats.org/drawingml/2006/main">
            <a:r>
              <a:t>          "processing": "로그인 사용자와 관계 질의 대상 식별",</a:t>
            </a:r>
          </a:p>
          <a:p xmlns:a="http://schemas.openxmlformats.org/drawingml/2006/main">
            <a:r>
              <a:t>          "output": "직원 정보"</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"조직·직원 관계",</a:t>
            </a:r>
          </a:p>
          <a:p xmlns:a="http://schemas.openxmlformats.org/drawingml/2006/main">
            <a:r>
              <a:t>          "processing": "직원 디렉터리·관계 유형·효력일 정합화",</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"직원 정보",</a:t>
            </a:r>
          </a:p>
          <a:p xmlns:a="http://schemas.openxmlformats.org/drawingml/2006/main">
            <a:r>
              <a:t>          "processing": "지원 커넥터의 관계 유형과 직원 ID 매칭",</a:t>
            </a:r>
          </a:p>
          <a:p xmlns:a="http://schemas.openxmlformats.org/drawingml/2006/main">
            <a:r>
              <a:t>          "output": "관계 질의"</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"관계 질의",</a:t>
            </a:r>
          </a:p>
          <a:p xmlns:a="http://schemas.openxmlformats.org/drawingml/2006/main">
            <a:r>
              <a:t>          "processing": "허용된 조직 관계를 질의 응답에 제공",</a:t>
            </a:r>
          </a:p>
          <a:p xmlns:a="http://schemas.openxmlformats.org/drawingml/2006/main">
            <a:r>
              <a:t>          "output": "허용 응답"</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"전보·겸직·관계 해제 이후 결과 대사",</a:t>
            </a:r>
          </a:p>
          <a:p xmlns:a="http://schemas.openxmlformats.org/drawingml/2006/main">
            <a:r>
              <a:t>          "output": "원천 관계와 응답의 ID·효력일·권한 대사"</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"전보·겸직·관계 해제 이후 결과 대사",</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"People relationships in Microsoft 365",</a:t>
            </a:r>
          </a:p>
          <a:p xmlns:a="http://schemas.openxmlformats.org/drawingml/2006/main">
            <a:r>
              <a:t>        "url": "https://learn.microsoft.com/en-us/microsoft-365/admin/people-relationships-m365?view=o365-worldwide"</a:t>
            </a:r>
          </a:p>
          <a:p xmlns:a="http://schemas.openxmlformats.org/drawingml/2006/main">
            <a:r>
              <a:t>      }</a:t>
            </a:r>
          </a:p>
          <a:p xmlns:a="http://schemas.openxmlformats.org/drawingml/2006/main">
            <a:r>
              <a:t>    ],</a:t>
            </a:r>
          </a:p>
          <a:p xmlns:a="http://schemas.openxmlformats.org/drawingml/2006/main">
            <a:r>
              <a:t>    "implication": "직원 관계 인식과 데이터 접근권한을 각각 검증하는 조직 모델",</a:t>
            </a:r>
          </a:p>
          <a:p xmlns:a="http://schemas.openxmlformats.org/drawingml/2006/main">
            <a:r>
              <a:t>    "local": "직원 관계 인식과 데이터 접근권한을 각각 검증하는 조직 모델",</a:t>
            </a:r>
          </a:p>
          <a:p xmlns:a="http://schemas.openxmlformats.org/drawingml/2006/main">
            <a:r>
              <a:t>    "sourceDetail": "상사·보좌·점선 보고·맞춤 관계를 지원 데이터 커넥터를 통해 질의응답에 활용",</a:t>
            </a:r>
          </a:p>
          <a:p xmlns:a="http://schemas.openxmlformats.org/drawingml/2006/main">
            <a:r>
              <a:t>    "narrative": [</a:t>
            </a:r>
          </a:p>
          <a:p xmlns:a="http://schemas.openxmlformats.org/drawingml/2006/main">
            <a:r>
              <a:t>      "Microsoft Graph의 조직 관계 활용 기능을 조직 네이티브 AI의 구성요소 관점에서 분석한 사례. 상사·보고 관계·추가 관계를 식별해 질의 대상과 업무 문맥을 연결하는 기능 범위.",</a:t>
            </a:r>
          </a:p>
          <a:p xmlns:a="http://schemas.openxmlformats.org/drawingml/2006/main">
            <a:r>
              <a:t>      "지원되는 디렉터리·관계 유형과 직원 식별정보를 대조하고 요청자에게 허용된 관계 정보를 조회하는 흐름. 직원 이름을 단순 검색어로 사용하는 방식과 공식 ID·관계 유형·효력일을 이용하는 방식의 차이를 비교하는 설계.",</a:t>
            </a:r>
          </a:p>
          <a:p xmlns:a="http://schemas.openxmlformats.org/drawingml/2006/main">
            <a:r>
              <a:t>      "직속 상사 관계가 문서 열람·결재 권한을 자동 부여하는 근거는 아님. TS에서는 조직 관계 그래프와 업무시스템의 권한 정책을 분리하고 겸직·파견·대결·전보·동명이인 조건에서 허용된 관계와 실제 접근 권한을 함께 시험."</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"조직 관계 질의",</a:t>
            </a:r>
          </a:p>
          <a:p xmlns:a="http://schemas.openxmlformats.org/drawingml/2006/main">
            <a:r>
              <a:t>          "layer": "이용 접점",</a:t>
            </a:r>
          </a:p>
          <a:p xmlns:a="http://schemas.openxmlformats.org/drawingml/2006/main">
            <a:r>
              <a:t>          "detail": "직원·디렉터리 관리자",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"로그인·대상 ID",</a:t>
            </a:r>
          </a:p>
          <a:p xmlns:a="http://schemas.openxmlformats.org/drawingml/2006/main">
            <a:r>
              <a:t>          "layer": "업무 문맥",</a:t>
            </a:r>
          </a:p>
          <a:p xmlns:a="http://schemas.openxmlformats.org/drawingml/2006/main">
            <a:r>
              <a:t>          "detail": "로그인 사용자와 관계 질의 대상 식별",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"직원 관계 조회",</a:t>
            </a:r>
          </a:p>
          <a:p xmlns:a="http://schemas.openxmlformats.org/drawingml/2006/main">
            <a:r>
              <a:t>          "layer": "자료 조회",</a:t>
            </a:r>
          </a:p>
          <a:p xmlns:a="http://schemas.openxmlformats.org/drawingml/2006/main">
            <a:r>
              <a:t>          "detail": "직원 정보",</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"관계 유형 매칭",</a:t>
            </a:r>
          </a:p>
          <a:p xmlns:a="http://schemas.openxmlformats.org/drawingml/2006/main">
            <a:r>
              <a:t>          "layer": "핵심 처리",</a:t>
            </a:r>
          </a:p>
          <a:p xmlns:a="http://schemas.openxmlformats.org/drawingml/2006/main">
            <a:r>
              <a:t>          "detail": "지원 커넥터의 관계 유형과 직원 ID 매칭",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"효력일·동명 검사",</a:t>
            </a:r>
          </a:p>
          <a:p xmlns:a="http://schemas.openxmlformats.org/drawingml/2006/main">
            <a:r>
              <a:t>          "layer": "결과 검증",</a:t>
            </a:r>
          </a:p>
          <a:p xmlns:a="http://schemas.openxmlformats.org/drawingml/2006/main">
            <a:r>
              <a:t>          "detail": "신원·효력일과 권한 원천 분리",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"이용자 확인",</a:t>
            </a:r>
          </a:p>
          <a:p xmlns:a="http://schemas.openxmlformats.org/drawingml/2006/main">
            <a:r>
              <a:t>          "layer": "사람 확인",</a:t>
            </a:r>
          </a:p>
          <a:p xmlns:a="http://schemas.openxmlformats.org/drawingml/2006/main">
            <a:r>
              <a:t>          "detail": "상사·겸직·점선 보고 관계를 대상 직원 ID로 조회",</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"허용 관계 응답",</a:t>
            </a:r>
          </a:p>
          <a:p xmlns:a="http://schemas.openxmlformats.org/drawingml/2006/main">
            <a:r>
              <a:t>          "layer": "업무 연결",</a:t>
            </a:r>
          </a:p>
          <a:p xmlns:a="http://schemas.openxmlformats.org/drawingml/2006/main">
            <a:r>
              <a:t>          "detail": "허용된 조직 관계를 질의 응답에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"전보·해제 대사",</a:t>
            </a:r>
          </a:p>
          <a:p xmlns:a="http://schemas.openxmlformats.org/drawingml/2006/main">
            <a:r>
              <a:t>          "layer": "운영 관측",</a:t>
            </a:r>
          </a:p>
          <a:p xmlns:a="http://schemas.openxmlformats.org/drawingml/2006/main">
            <a:r>
              <a:t>          "detail": "전보·겸직·관계 해제 이후 결과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"직원 디렉터리",</a:t>
            </a:r>
          </a:p>
          <a:p xmlns:a="http://schemas.openxmlformats.org/drawingml/2006/main">
            <a:r>
              <a:t>          "layer": "데이터 원천",</a:t>
            </a:r>
          </a:p>
          <a:p xmlns:a="http://schemas.openxmlformats.org/drawingml/2006/main">
            <a:r>
              <a:t>          "detail": "조직·직원 관계",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"공식 ID·유형 정리",</a:t>
            </a:r>
          </a:p>
          <a:p xmlns:a="http://schemas.openxmlformats.org/drawingml/2006/main">
            <a:r>
              <a:t>          "layer": "준비·갱신",</a:t>
            </a:r>
          </a:p>
          <a:p xmlns:a="http://schemas.openxmlformats.org/drawingml/2006/main">
            <a:r>
              <a:t>          "detail": "직원 디렉터리·관계 유형·효력일 정합화",</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"관계·효력일 원장",</a:t>
            </a:r>
          </a:p>
          <a:p xmlns:a="http://schemas.openxmlformats.org/drawingml/2006/main">
            <a:r>
              <a:t>          "layer": "상태·지식 저장",</a:t>
            </a:r>
          </a:p>
          <a:p xmlns:a="http://schemas.openxmlformats.org/drawingml/2006/main">
            <a:r>
              <a:t>          "detail": "원천 관계와 응답의 ID·효력일·권한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"관계와 권한 분리",</a:t>
            </a:r>
          </a:p>
          <a:p xmlns:a="http://schemas.openxmlformats.org/drawingml/2006/main">
            <a:r>
              <a:t>          "layer": "권한·정책",</a:t>
            </a:r>
          </a:p>
          <a:p xmlns:a="http://schemas.openxmlformats.org/drawingml/2006/main">
            <a:r>
              <a:t>          "detail": "동명이인·전보일 경계·종료된 대행관계",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"로그인 사용자와 관계 질의 대상 식별",</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"직원 정보",</a:t>
            </a:r>
          </a:p>
          <a:p xmlns:a="http://schemas.openxmlformats.org/drawingml/2006/main">
            <a:r>
              <a:t>          "check": "신원·효력일과 권한 원천 분리"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"관계 매핑",</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"관계 질의",</a:t>
            </a:r>
          </a:p>
          <a:p xmlns:a="http://schemas.openxmlformats.org/drawingml/2006/main">
            <a:r>
              <a:t>          "check": "동명이인·전보일 경계·종료된 대행관계"</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"관계 질의",</a:t>
            </a:r>
          </a:p>
          <a:p xmlns:a="http://schemas.openxmlformats.org/drawingml/2006/main">
            <a:r>
              <a:t>          "check": "허용된 조직 관계를 질의 응답에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"허용 응답",</a:t>
            </a:r>
          </a:p>
          <a:p xmlns:a="http://schemas.openxmlformats.org/drawingml/2006/main">
            <a:r>
              <a:t>          "check": "원천 관계와 응답의 ID·효력일·권한 대사"</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"공식 직원 관계를 질의 문맥으로 활용 / 상사·보좌·점선 보고·맞춤 관계",</a:t>
            </a:r>
          </a:p>
          <a:p xmlns:a="http://schemas.openxmlformats.org/drawingml/2006/main">
            <a:r>
              <a:t>        "extension": "직원 관계 인식과 데이터 접근권한을 각각 검증하는 조직 모델"</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"동명이인·전보일 경계·종료된 대행관계",</a:t>
            </a:r>
          </a:p>
          <a:p xmlns:a="http://schemas.openxmlformats.org/drawingml/2006/main">
            <a:r>
              <a:t>        "hold": "신원·효력일과 권한 원천 분리",</a:t>
            </a:r>
          </a:p>
          <a:p xmlns:a="http://schemas.openxmlformats.org/drawingml/2006/main">
            <a:r>
              <a:t>        "recovery": "전보·겸직·관계 해제 이후 결과 대사",</a:t>
            </a:r>
          </a:p>
          <a:p xmlns:a="http://schemas.openxmlformats.org/drawingml/2006/main">
            <a:r>
              <a:t>        "evidence": "원천 관계와 응답의 ID·효력일·권한 대사"</a:t>
            </a:r>
          </a:p>
          <a:p xmlns:a="http://schemas.openxmlformats.org/drawingml/2006/main">
            <a:r>
              <a:t>      },</a:t>
            </a:r>
          </a:p>
          <a:p xmlns:a="http://schemas.openxmlformats.org/drawingml/2006/main">
            <a:r>
              <a:t>      "data": {</a:t>
            </a:r>
          </a:p>
          <a:p xmlns:a="http://schemas.openxmlformats.org/drawingml/2006/main">
            <a:r>
              <a:t>        "source": "조직·직원 관계",</a:t>
            </a:r>
          </a:p>
          <a:p xmlns:a="http://schemas.openxmlformats.org/drawingml/2006/main">
            <a:r>
              <a:t>        "prepare": "직원 디렉터리·관계 유형·효력일 정합화",</a:t>
            </a:r>
          </a:p>
          <a:p xmlns:a="http://schemas.openxmlformats.org/drawingml/2006/main">
            <a:r>
              <a:t>        "output": "직원 정보",</a:t>
            </a:r>
          </a:p>
          <a:p xmlns:a="http://schemas.openxmlformats.org/drawingml/2006/main">
            <a:r>
              <a:t>        "refresh": "전보·겸직·관계 해제 이후 결과 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"PF-C01",</a:t>
            </a:r>
          </a:p>
          <a:p xmlns:a="http://schemas.openxmlformats.org/drawingml/2006/main">
            <a:r>
              <a:t>    "success": [</a:t>
            </a:r>
          </a:p>
          <a:p xmlns:a="http://schemas.openxmlformats.org/drawingml/2006/main">
            <a:r>
              <a:t>      "공식 직원 관계의 연결",</a:t>
            </a:r>
          </a:p>
          <a:p xmlns:a="http://schemas.openxmlformats.org/drawingml/2006/main">
            <a:r>
              <a:t>      "조직 질의의 데이터 기반 구성"</a:t>
            </a:r>
          </a:p>
          <a:p xmlns:a="http://schemas.openxmlformats.org/drawingml/2006/main">
            <a:r>
              <a:t>    ],</a:t>
            </a:r>
          </a:p>
          <a:p xmlns:a="http://schemas.openxmlformats.org/drawingml/2006/main">
            <a:r>
              <a:t>    "risks": [</a:t>
            </a:r>
          </a:p>
          <a:p xmlns:a="http://schemas.openxmlformats.org/drawingml/2006/main">
            <a:r>
              <a:t>      "조직 관계를 접근권한으로 오인",</a:t>
            </a:r>
          </a:p>
          <a:p xmlns:a="http://schemas.openxmlformats.org/drawingml/2006/main">
            <a:r>
              <a:t>      "전보·겸직 정보의 지연"</a:t>
            </a:r>
          </a:p>
          <a:p xmlns:a="http://schemas.openxmlformats.org/drawingml/2006/main">
            <a:r>
              <a:t>    ],</a:t>
            </a:r>
          </a:p>
          <a:p xmlns:a="http://schemas.openxmlformats.org/drawingml/2006/main">
            <a:r>
              <a:t>    "architecture": [</a:t>
            </a:r>
          </a:p>
          <a:p xmlns:a="http://schemas.openxmlformats.org/drawingml/2006/main">
            <a:r>
              <a:t>      "직원 디렉터리",</a:t>
            </a:r>
          </a:p>
          <a:p xmlns:a="http://schemas.openxmlformats.org/drawingml/2006/main">
            <a:r>
              <a:t>      "관계 커넥터",</a:t>
            </a:r>
          </a:p>
          <a:p xmlns:a="http://schemas.openxmlformats.org/drawingml/2006/main">
            <a:r>
              <a:t>      "조직·직원 관계",</a:t>
            </a:r>
          </a:p>
          <a:p xmlns:a="http://schemas.openxmlformats.org/drawingml/2006/main">
            <a:r>
              <a:t>      "관계 질의 이용자"</a:t>
            </a:r>
          </a:p>
          <a:p xmlns:a="http://schemas.openxmlformats.org/drawingml/2006/main">
            <a:r>
              <a:t>    ],</a:t>
            </a:r>
          </a:p>
          <a:p xmlns:a="http://schemas.openxmlformats.org/drawingml/2006/main">
            <a:r>
              <a:t>    "transfers": [</a:t>
            </a:r>
          </a:p>
          <a:p xmlns:a="http://schemas.openxmlformats.org/drawingml/2006/main">
            <a:r>
              <a:t>      "직원 정보",</a:t>
            </a:r>
          </a:p>
          <a:p xmlns:a="http://schemas.openxmlformats.org/drawingml/2006/main">
            <a:r>
              <a:t>      "관계 매핑",</a:t>
            </a:r>
          </a:p>
          <a:p xmlns:a="http://schemas.openxmlformats.org/drawingml/2006/main">
            <a:r>
              <a:t>      "관계 질의",</a:t>
            </a:r>
          </a:p>
          <a:p xmlns:a="http://schemas.openxmlformats.org/drawingml/2006/main">
            <a:r>
              <a:t>      "허용 응답"</a:t>
            </a:r>
          </a:p>
          <a:p xmlns:a="http://schemas.openxmlformats.org/drawingml/2006/main">
            <a:r>
              <a:t>    ],</a:t>
            </a:r>
          </a:p>
          <a:p xmlns:a="http://schemas.openxmlformats.org/drawingml/2006/main">
            <a:r>
              <a:t>    "control": "신원·효력일과 권한 원천 분리",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People relationships in Microsoft 365 https://learn.microsoft.com/en-us/microsoft-365/admin/people-relationships-m365?view=o365-worldwide</a:t>
            </a:r>
          </a:p>
          <a:p xmlns:a="http://schemas.openxmlformats.org/drawingml/2006/main">
            <a:r>
              <a:t>홈페이지 https://heen1987-ops.github.io/TS-business-Plan-001/index.html?view=platform-cases&amp;case=PF-C01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"PF-C02",</a:t>
            </a:r>
          </a:p>
          <a:p xmlns:a="http://schemas.openxmlformats.org/drawingml/2006/main">
            <a:r>
              <a:t>    "sourceId": "C02",</a:t>
            </a:r>
          </a:p>
          <a:p xmlns:a="http://schemas.openxmlformats.org/drawingml/2006/main">
            <a:r>
              <a:t>    "title": "Glean People connector",</a:t>
            </a:r>
          </a:p>
          <a:p xmlns:a="http://schemas.openxmlformats.org/drawingml/2006/main">
            <a:r>
              <a:t>    "region": "해외",</a:t>
            </a:r>
          </a:p>
          <a:p xmlns:a="http://schemas.openxmlformats.org/drawingml/2006/main">
            <a:r>
              <a:t>    "owner": "Glean / People connector",</a:t>
            </a:r>
          </a:p>
          <a:p xmlns:a="http://schemas.openxmlformats.org/drawingml/2006/main">
            <a:r>
              <a:t>    "state": "공식 기능 문서 / 2026-10-16 확인",</a:t>
            </a:r>
          </a:p>
          <a:p xmlns:a="http://schemas.openxmlformats.org/drawingml/2006/main">
            <a:r>
              <a:t>    "period": "기존 원장 확인 2026.10.16",</a:t>
            </a:r>
          </a:p>
          <a:p xmlns:a="http://schemas.openxmlformats.org/drawingml/2006/main">
            <a:r>
              <a:t>    "fact": "제품 기능 비교 / 기관 도입 성과 아님",</a:t>
            </a:r>
          </a:p>
          <a:p xmlns:a="http://schemas.openxmlformats.org/drawingml/2006/main">
            <a:r>
              <a:t>    "limit": "CSV 방식은 인사 변경마다 재업로드 필요. 자동 커넥터도 제공. 동기화·조직 맥락 자체는 CCK 독점 기능 아님",</a:t>
            </a:r>
          </a:p>
          <a:p xmlns:a="http://schemas.openxmlformats.org/drawingml/2006/main">
            <a:r>
              <a:t>    "nodes": [</a:t>
            </a:r>
          </a:p>
          <a:p xmlns:a="http://schemas.openxmlformats.org/drawingml/2006/main">
            <a:r>
              <a:t>      "직원 디렉터리",</a:t>
            </a:r>
          </a:p>
          <a:p xmlns:a="http://schemas.openxmlformats.org/drawingml/2006/main">
            <a:r>
              <a:t>      "동기화·필드 매핑",</a:t>
            </a:r>
          </a:p>
          <a:p xmlns:a="http://schemas.openxmlformats.org/drawingml/2006/main">
            <a:r>
              <a:t>      "권한별 검색",</a:t>
            </a:r>
          </a:p>
          <a:p xmlns:a="http://schemas.openxmlformats.org/drawingml/2006/main">
            <a:r>
              <a:t>      "직원 정보 활용"</a:t>
            </a:r>
          </a:p>
          <a:p xmlns:a="http://schemas.openxmlformats.org/drawingml/2006/main">
            <a:r>
              <a:t>    ],</a:t>
            </a:r>
          </a:p>
          <a:p xmlns:a="http://schemas.openxmlformats.org/drawingml/2006/main">
            <a:r>
              <a:t>    "apply": "사번·부서·직책·상사 정보의 원천 우선순위와 변경 반영 체계",</a:t>
            </a:r>
          </a:p>
          <a:p xmlns:a="http://schemas.openxmlformats.org/drawingml/2006/main">
            <a:r>
              <a:t>    "delta": "전보·퇴직·겸직 이후 검색·인계·캐시 회수",</a:t>
            </a:r>
          </a:p>
          <a:p xmlns:a="http://schemas.openxmlformats.org/drawingml/2006/main">
            <a:r>
              <a:t>    "test": "오노출 건수·변경 반영 지연의 기준선·비교 평가",</a:t>
            </a:r>
          </a:p>
          <a:p xmlns:a="http://schemas.openxmlformats.org/drawingml/2006/main">
            <a:r>
              <a:t>    "url": "https://docs.glean.com/get-started/setup/sync-people-data",</a:t>
            </a:r>
          </a:p>
          <a:p xmlns:a="http://schemas.openxmlformats.org/drawingml/2006/main">
            <a:r>
              <a:t>    "urls": [</a:t>
            </a:r>
          </a:p>
          <a:p xmlns:a="http://schemas.openxmlformats.org/drawingml/2006/main">
            <a:r>
              <a:t>      "https://docs.glean.com/get-started/setup/sync-people-data"</a:t>
            </a:r>
          </a:p>
          <a:p xmlns:a="http://schemas.openxmlformats.org/drawingml/2006/main">
            <a:r>
              <a:t>    ],</a:t>
            </a:r>
          </a:p>
          <a:p xmlns:a="http://schemas.openxmlformats.org/drawingml/2006/main">
            <a:r>
              <a:t>    "basis": "Select people connector / Manual upload / CSV format",</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"오노출 건수·변경 반영 지연",</a:t>
            </a:r>
          </a:p>
          <a:p xmlns:a="http://schemas.openxmlformats.org/drawingml/2006/main">
            <a:r>
              <a:t>    "group": "제품 비교",</a:t>
            </a:r>
          </a:p>
          <a:p xmlns:a="http://schemas.openxmlformats.org/drawingml/2006/main">
            <a:r>
              <a:t>    "sourceDetail": "직원 디렉터리 동기화, 권한 적용·역할 기반 접근 및 검색 개인화. 부서·직책·상사 등 필드 매핑",</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"PF-C02",</a:t>
            </a:r>
          </a:p>
          <a:p xmlns:a="http://schemas.openxmlformats.org/drawingml/2006/main">
            <a:r>
              <a:t>    "canonicalId": "PF-C02",</a:t>
            </a:r>
          </a:p>
          <a:p xmlns:a="http://schemas.openxmlformats.org/drawingml/2006/main">
            <a:r>
              <a:t>    "purpose": "직원 데이터 동기화와 조직 검색 지원",</a:t>
            </a:r>
          </a:p>
          <a:p xmlns:a="http://schemas.openxmlformats.org/drawingml/2006/main">
            <a:r>
              <a:t>    "users": "직원·디렉터리 관리자",</a:t>
            </a:r>
          </a:p>
          <a:p xmlns:a="http://schemas.openxmlformats.org/drawingml/2006/main">
            <a:r>
              <a:t>    "scope": [</a:t>
            </a:r>
          </a:p>
          <a:p xmlns:a="http://schemas.openxmlformats.org/drawingml/2006/main">
            <a:r>
              <a:t>      "인물 검색",</a:t>
            </a:r>
          </a:p>
          <a:p xmlns:a="http://schemas.openxmlformats.org/drawingml/2006/main">
            <a:r>
              <a:t>      "조직 필드",</a:t>
            </a:r>
          </a:p>
          <a:p xmlns:a="http://schemas.openxmlformats.org/drawingml/2006/main">
            <a:r>
              <a:t>      "권한 적용"</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"직원 디렉터리",</a:t>
            </a:r>
          </a:p>
          <a:p xmlns:a="http://schemas.openxmlformats.org/drawingml/2006/main">
            <a:r>
              <a:t>        "detail": "사람 ID·부서·직책·관리자 필드 정의",</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"인물 검색 / 조직 필드 / 권한 적용",</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"People connector",</a:t>
            </a:r>
          </a:p>
          <a:p xmlns:a="http://schemas.openxmlformats.org/drawingml/2006/main">
            <a:r>
              <a:t>        "detail": "People connector의 필드 변환과 동기화",</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"검색 이용자",</a:t>
            </a:r>
          </a:p>
          <a:p xmlns:a="http://schemas.openxmlformats.org/drawingml/2006/main">
            <a:r>
              <a:t>        "detail": "허용된 직원 정보와 검색 문맥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"사람·조직 필드",</a:t>
            </a:r>
          </a:p>
          <a:p xmlns:a="http://schemas.openxmlformats.org/drawingml/2006/main">
            <a:r>
              <a:t>        "detail": "지정 원천·중복 직원·삭제 이벤트 정리",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"원천 변경·퇴직·삭제의 동기화 결과 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"직원 디렉터리",</a:t>
            </a:r>
          </a:p>
          <a:p xmlns:a="http://schemas.openxmlformats.org/drawingml/2006/main">
            <a:r>
              <a:t>        "input": "사람 ID·부서·직책·관리자 필드 정의",</a:t>
            </a:r>
          </a:p>
          <a:p xmlns:a="http://schemas.openxmlformats.org/drawingml/2006/main">
            <a:r>
              <a:t>        "process": "지정 원천·중복 직원·삭제 이벤트 정리",</a:t>
            </a:r>
          </a:p>
          <a:p xmlns:a="http://schemas.openxmlformats.org/drawingml/2006/main">
            <a:r>
              <a:t>        "output": "직원 필드"</a:t>
            </a:r>
          </a:p>
          <a:p xmlns:a="http://schemas.openxmlformats.org/drawingml/2006/main">
            <a:r>
              <a:t>      },</a:t>
            </a:r>
          </a:p>
          <a:p xmlns:a="http://schemas.openxmlformats.org/drawingml/2006/main">
            <a:r>
              <a:t>      {</a:t>
            </a:r>
          </a:p>
          <a:p xmlns:a="http://schemas.openxmlformats.org/drawingml/2006/main">
            <a:r>
              <a:t>        "title": "동기화·필드 매핑",</a:t>
            </a:r>
          </a:p>
          <a:p xmlns:a="http://schemas.openxmlformats.org/drawingml/2006/main">
            <a:r>
              <a:t>        "input": "직원 필드",</a:t>
            </a:r>
          </a:p>
          <a:p xmlns:a="http://schemas.openxmlformats.org/drawingml/2006/main">
            <a:r>
              <a:t>        "process": "People connector의 필드 변환과 동기화",</a:t>
            </a:r>
          </a:p>
          <a:p xmlns:a="http://schemas.openxmlformats.org/drawingml/2006/main">
            <a:r>
              <a:t>        "output": "동기화 관계"</a:t>
            </a:r>
          </a:p>
          <a:p xmlns:a="http://schemas.openxmlformats.org/drawingml/2006/main">
            <a:r>
              <a:t>      },</a:t>
            </a:r>
          </a:p>
          <a:p xmlns:a="http://schemas.openxmlformats.org/drawingml/2006/main">
            <a:r>
              <a:t>      {</a:t>
            </a:r>
          </a:p>
          <a:p xmlns:a="http://schemas.openxmlformats.org/drawingml/2006/main">
            <a:r>
              <a:t>        "title": "권한별 검색",</a:t>
            </a:r>
          </a:p>
          <a:p xmlns:a="http://schemas.openxmlformats.org/drawingml/2006/main">
            <a:r>
              <a:t>        "input": "동기화 관계",</a:t>
            </a:r>
          </a:p>
          <a:p xmlns:a="http://schemas.openxmlformats.org/drawingml/2006/main">
            <a:r>
              <a:t>        "process": "원천 우선순위·중복·변경 대사",</a:t>
            </a:r>
          </a:p>
          <a:p xmlns:a="http://schemas.openxmlformats.org/drawingml/2006/main">
            <a:r>
              <a:t>        "output": "검색 문맥"</a:t>
            </a:r>
          </a:p>
          <a:p xmlns:a="http://schemas.openxmlformats.org/drawingml/2006/main">
            <a:r>
              <a:t>      },</a:t>
            </a:r>
          </a:p>
          <a:p xmlns:a="http://schemas.openxmlformats.org/drawingml/2006/main">
            <a:r>
              <a:t>      {</a:t>
            </a:r>
          </a:p>
          <a:p xmlns:a="http://schemas.openxmlformats.org/drawingml/2006/main">
            <a:r>
              <a:t>        "title": "직원 정보 활용",</a:t>
            </a:r>
          </a:p>
          <a:p xmlns:a="http://schemas.openxmlformats.org/drawingml/2006/main">
            <a:r>
              <a:t>        "input": "검색 문맥",</a:t>
            </a:r>
          </a:p>
          <a:p xmlns:a="http://schemas.openxmlformats.org/drawingml/2006/main">
            <a:r>
              <a:t>        "process": "허용된 직원 정보와 검색 문맥 제공",</a:t>
            </a:r>
          </a:p>
          <a:p xmlns:a="http://schemas.openxmlformats.org/drawingml/2006/main">
            <a:r>
              <a:t>        "output": "직원 정보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"직원 원천의 부서·직책 변경을 검색에 반영",</a:t>
            </a:r>
          </a:p>
          <a:p xmlns:a="http://schemas.openxmlformats.org/drawingml/2006/main">
            <a:r>
              <a:t>      "exception": "중복 계정·삭제 이벤트 누락·CSV 갱신 지연",</a:t>
            </a:r>
          </a:p>
          <a:p xmlns:a="http://schemas.openxmlformats.org/drawingml/2006/main">
            <a:r>
              <a:t>      "evidence": "원천–동기화–검색 결과의 전후 스냅샷과 지연",</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"직원·디렉터리 관리자",</a:t>
            </a:r>
          </a:p>
          <a:p xmlns:a="http://schemas.openxmlformats.org/drawingml/2006/main">
            <a:r>
              <a:t>          "processing": "사람 ID·부서·직책·관리자 필드 정의",</a:t>
            </a:r>
          </a:p>
          <a:p xmlns:a="http://schemas.openxmlformats.org/drawingml/2006/main">
            <a:r>
              <a:t>          "output": "직원 필드"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"사람·조직 필드",</a:t>
            </a:r>
          </a:p>
          <a:p xmlns:a="http://schemas.openxmlformats.org/drawingml/2006/main">
            <a:r>
              <a:t>          "processing": "지정 원천·중복 직원·삭제 이벤트 정리",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"직원 필드",</a:t>
            </a:r>
          </a:p>
          <a:p xmlns:a="http://schemas.openxmlformats.org/drawingml/2006/main">
            <a:r>
              <a:t>          "processing": "People connector의 필드 변환과 동기화",</a:t>
            </a:r>
          </a:p>
          <a:p xmlns:a="http://schemas.openxmlformats.org/drawingml/2006/main">
            <a:r>
              <a:t>          "output": "검색 문맥"</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"검색 문맥",</a:t>
            </a:r>
          </a:p>
          <a:p xmlns:a="http://schemas.openxmlformats.org/drawingml/2006/main">
            <a:r>
              <a:t>          "processing": "허용된 직원 정보와 검색 문맥 제공",</a:t>
            </a:r>
          </a:p>
          <a:p xmlns:a="http://schemas.openxmlformats.org/drawingml/2006/main">
            <a:r>
              <a:t>          "output": "직원 정보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"원천 변경·퇴직·삭제의 동기화 결과 대사",</a:t>
            </a:r>
          </a:p>
          <a:p xmlns:a="http://schemas.openxmlformats.org/drawingml/2006/main">
            <a:r>
              <a:t>          "output": "원천–동기화–검색 결과의 전후 스냅샷과 지연"</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"원천 변경·퇴직·삭제의 동기화 결과 대사",</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"Select people connector / Manual upload / CSV format",</a:t>
            </a:r>
          </a:p>
          <a:p xmlns:a="http://schemas.openxmlformats.org/drawingml/2006/main">
            <a:r>
              <a:t>        "url": "https://docs.glean.com/get-started/setup/sync-people-data"</a:t>
            </a:r>
          </a:p>
          <a:p xmlns:a="http://schemas.openxmlformats.org/drawingml/2006/main">
            <a:r>
              <a:t>      }</a:t>
            </a:r>
          </a:p>
          <a:p xmlns:a="http://schemas.openxmlformats.org/drawingml/2006/main">
            <a:r>
              <a:t>    ],</a:t>
            </a:r>
          </a:p>
          <a:p xmlns:a="http://schemas.openxmlformats.org/drawingml/2006/main">
            <a:r>
              <a:t>    "implication": "사번·부서·직책·상사 정보의 원천 우선순위와 변경 반영 체계",</a:t>
            </a:r>
          </a:p>
          <a:p xmlns:a="http://schemas.openxmlformats.org/drawingml/2006/main">
            <a:r>
              <a:t>    "local": "사번·부서·직책·상사 정보의 원천 우선순위와 변경 반영 체계",</a:t>
            </a:r>
          </a:p>
          <a:p xmlns:a="http://schemas.openxmlformats.org/drawingml/2006/main">
            <a:r>
              <a:t>    "sourceDetail": "직원 디렉터리 동기화, 권한 적용·역할 기반 접근 및 검색 개인화. 부서·직책·상사 등 필드 매핑",</a:t>
            </a:r>
          </a:p>
          <a:p xmlns:a="http://schemas.openxmlformats.org/drawingml/2006/main">
            <a:r>
              <a:t>    "narrative": [</a:t>
            </a:r>
          </a:p>
          <a:p xmlns:a="http://schemas.openxmlformats.org/drawingml/2006/main">
            <a:r>
              <a:t>      "Glean People connector의 직원 정보 동기화 기능을 조직 기반 검색 관점에서 분석한 사례. 인물·부서·직책·관리자 필드를 검색 문맥과 연결하는 구성요소.",</a:t>
            </a:r>
          </a:p>
          <a:p xmlns:a="http://schemas.openxmlformats.org/drawingml/2006/main">
            <a:r>
              <a:t>      "원천 직원 데이터의 식별자·필드 매핑, 동기화, 검색 색인, 접근 통제와 삭제 반영의 흐름으로 재구성. 복수 원천의 같은 사람과 동명이인을 구분하고 변경 이벤트가 검색 결과에 반영되는 상태를 관측하는 설계.",</a:t>
            </a:r>
          </a:p>
          <a:p xmlns:a="http://schemas.openxmlformats.org/drawingml/2006/main">
            <a:r>
              <a:t>      "TS에서는 데이터 연계 성공과 조직 기반 추론 성공을 별도 검수할 필요. 사번 매칭·조직 코드 변경·퇴직 삭제의 대사와 동일 요청의 직무별 결과 비교를 나누고 오류 발생 시 원천과 색인의 어느 단계에서 지연됐는지 추적."</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"인물 검색 접점",</a:t>
            </a:r>
          </a:p>
          <a:p xmlns:a="http://schemas.openxmlformats.org/drawingml/2006/main">
            <a:r>
              <a:t>          "layer": "이용 접점",</a:t>
            </a:r>
          </a:p>
          <a:p xmlns:a="http://schemas.openxmlformats.org/drawingml/2006/main">
            <a:r>
              <a:t>          "detail": "직원·디렉터리 관리자",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"사람 ID·부서",</a:t>
            </a:r>
          </a:p>
          <a:p xmlns:a="http://schemas.openxmlformats.org/drawingml/2006/main">
            <a:r>
              <a:t>          "layer": "업무 문맥",</a:t>
            </a:r>
          </a:p>
          <a:p xmlns:a="http://schemas.openxmlformats.org/drawingml/2006/main">
            <a:r>
              <a:t>          "detail": "사람 ID·부서·직책·관리자 필드 정의",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"동기화 자료 조회",</a:t>
            </a:r>
          </a:p>
          <a:p xmlns:a="http://schemas.openxmlformats.org/drawingml/2006/main">
            <a:r>
              <a:t>          "layer": "자료 조회",</a:t>
            </a:r>
          </a:p>
          <a:p xmlns:a="http://schemas.openxmlformats.org/drawingml/2006/main">
            <a:r>
              <a:t>          "detail": "직원 필드",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"People 필드 매핑",</a:t>
            </a:r>
          </a:p>
          <a:p xmlns:a="http://schemas.openxmlformats.org/drawingml/2006/main">
            <a:r>
              <a:t>          "layer": "핵심 처리",</a:t>
            </a:r>
          </a:p>
          <a:p xmlns:a="http://schemas.openxmlformats.org/drawingml/2006/main">
            <a:r>
              <a:t>          "detail": "People connector의 필드 변환과 동기화",</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"중복·삭제 검사",</a:t>
            </a:r>
          </a:p>
          <a:p xmlns:a="http://schemas.openxmlformats.org/drawingml/2006/main">
            <a:r>
              <a:t>          "layer": "결과 검증",</a:t>
            </a:r>
          </a:p>
          <a:p xmlns:a="http://schemas.openxmlformats.org/drawingml/2006/main">
            <a:r>
              <a:t>          "detail": "원천 우선순위·중복·변경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"관리자 대사",</a:t>
            </a:r>
          </a:p>
          <a:p xmlns:a="http://schemas.openxmlformats.org/drawingml/2006/main">
            <a:r>
              <a:t>          "layer": "사람 확인",</a:t>
            </a:r>
          </a:p>
          <a:p xmlns:a="http://schemas.openxmlformats.org/drawingml/2006/main">
            <a:r>
              <a:t>          "detail": "직원 원천의 부서·직책 변경을 검색에 반영",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"검색 문맥 제공",</a:t>
            </a:r>
          </a:p>
          <a:p xmlns:a="http://schemas.openxmlformats.org/drawingml/2006/main">
            <a:r>
              <a:t>          "layer": "업무 연결",</a:t>
            </a:r>
          </a:p>
          <a:p xmlns:a="http://schemas.openxmlformats.org/drawingml/2006/main">
            <a:r>
              <a:t>          "detail": "허용된 직원 정보와 검색 문맥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"전보·퇴직 반영",</a:t>
            </a:r>
          </a:p>
          <a:p xmlns:a="http://schemas.openxmlformats.org/drawingml/2006/main">
            <a:r>
              <a:t>          "layer": "운영 관측",</a:t>
            </a:r>
          </a:p>
          <a:p xmlns:a="http://schemas.openxmlformats.org/drawingml/2006/main">
            <a:r>
              <a:t>          "detail": "원천 변경·퇴직·삭제의 동기화 결과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"지정 직원 원천",</a:t>
            </a:r>
          </a:p>
          <a:p xmlns:a="http://schemas.openxmlformats.org/drawingml/2006/main">
            <a:r>
              <a:t>          "layer": "데이터 원천",</a:t>
            </a:r>
          </a:p>
          <a:p xmlns:a="http://schemas.openxmlformats.org/drawingml/2006/main">
            <a:r>
              <a:t>          "detail": "사람·조직 필드",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"필드 변환·삭제 전파",</a:t>
            </a:r>
          </a:p>
          <a:p xmlns:a="http://schemas.openxmlformats.org/drawingml/2006/main">
            <a:r>
              <a:t>          "layer": "준비·갱신",</a:t>
            </a:r>
          </a:p>
          <a:p xmlns:a="http://schemas.openxmlformats.org/drawingml/2006/main">
            <a:r>
              <a:t>          "detail": "지정 원천·중복 직원·삭제 이벤트 정리",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"사람·조직 색인",</a:t>
            </a:r>
          </a:p>
          <a:p xmlns:a="http://schemas.openxmlformats.org/drawingml/2006/main">
            <a:r>
              <a:t>          "layer": "상태·지식 저장",</a:t>
            </a:r>
          </a:p>
          <a:p xmlns:a="http://schemas.openxmlformats.org/drawingml/2006/main">
            <a:r>
              <a:t>          "detail": "원천–동기화–검색 결과의 전후 스냅샷과 지연",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"원천 우선순위",</a:t>
            </a:r>
          </a:p>
          <a:p xmlns:a="http://schemas.openxmlformats.org/drawingml/2006/main">
            <a:r>
              <a:t>          "layer": "권한·정책",</a:t>
            </a:r>
          </a:p>
          <a:p xmlns:a="http://schemas.openxmlformats.org/drawingml/2006/main">
            <a:r>
              <a:t>          "detail": "중복 계정·삭제 이벤트 누락·CSV 갱신 지연",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"사람 ID·부서·직책·관리자 필드 정의",</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"직원 필드",</a:t>
            </a:r>
          </a:p>
          <a:p xmlns:a="http://schemas.openxmlformats.org/drawingml/2006/main">
            <a:r>
              <a:t>          "check": "원천 우선순위·중복·변경 대사"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"동기화 관계",</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"검색 문맥",</a:t>
            </a:r>
          </a:p>
          <a:p xmlns:a="http://schemas.openxmlformats.org/drawingml/2006/main">
            <a:r>
              <a:t>          "check": "중복 계정·삭제 이벤트 누락·CSV 갱신 지연"</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"검색 문맥",</a:t>
            </a:r>
          </a:p>
          <a:p xmlns:a="http://schemas.openxmlformats.org/drawingml/2006/main">
            <a:r>
              <a:t>          "check": "허용된 직원 정보와 검색 문맥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"직원 정보 결과",</a:t>
            </a:r>
          </a:p>
          <a:p xmlns:a="http://schemas.openxmlformats.org/drawingml/2006/main">
            <a:r>
              <a:t>          "check": "원천–동기화–검색 결과의 전후 스냅샷과 지연"</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"직원 데이터 동기화와 조직 검색 지원 / 인물 검색·조직 필드·권한 적용",</a:t>
            </a:r>
          </a:p>
          <a:p xmlns:a="http://schemas.openxmlformats.org/drawingml/2006/main">
            <a:r>
              <a:t>        "extension": "사번·부서·직책·상사 정보의 원천 우선순위와 변경 반영 체계"</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"중복 계정·삭제 이벤트 누락·CSV 갱신 지연",</a:t>
            </a:r>
          </a:p>
          <a:p xmlns:a="http://schemas.openxmlformats.org/drawingml/2006/main">
            <a:r>
              <a:t>        "hold": "원천 우선순위·중복·변경 대사",</a:t>
            </a:r>
          </a:p>
          <a:p xmlns:a="http://schemas.openxmlformats.org/drawingml/2006/main">
            <a:r>
              <a:t>        "recovery": "원천 변경·퇴직·삭제의 동기화 결과 대사",</a:t>
            </a:r>
          </a:p>
          <a:p xmlns:a="http://schemas.openxmlformats.org/drawingml/2006/main">
            <a:r>
              <a:t>        "evidence": "원천–동기화–검색 결과의 전후 스냅샷과 지연"</a:t>
            </a:r>
          </a:p>
          <a:p xmlns:a="http://schemas.openxmlformats.org/drawingml/2006/main">
            <a:r>
              <a:t>      },</a:t>
            </a:r>
          </a:p>
          <a:p xmlns:a="http://schemas.openxmlformats.org/drawingml/2006/main">
            <a:r>
              <a:t>      "data": {</a:t>
            </a:r>
          </a:p>
          <a:p xmlns:a="http://schemas.openxmlformats.org/drawingml/2006/main">
            <a:r>
              <a:t>        "source": "사람·조직 필드",</a:t>
            </a:r>
          </a:p>
          <a:p xmlns:a="http://schemas.openxmlformats.org/drawingml/2006/main">
            <a:r>
              <a:t>        "prepare": "지정 원천·중복 직원·삭제 이벤트 정리",</a:t>
            </a:r>
          </a:p>
          <a:p xmlns:a="http://schemas.openxmlformats.org/drawingml/2006/main">
            <a:r>
              <a:t>        "output": "직원 필드",</a:t>
            </a:r>
          </a:p>
          <a:p xmlns:a="http://schemas.openxmlformats.org/drawingml/2006/main">
            <a:r>
              <a:t>        "refresh": "원천 변경·퇴직·삭제의 동기화 결과 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"PF-C02",</a:t>
            </a:r>
          </a:p>
          <a:p xmlns:a="http://schemas.openxmlformats.org/drawingml/2006/main">
            <a:r>
              <a:t>    "success": [</a:t>
            </a:r>
          </a:p>
          <a:p xmlns:a="http://schemas.openxmlformats.org/drawingml/2006/main">
            <a:r>
              <a:t>      "사람 정보의 지정 원천 동기화",</a:t>
            </a:r>
          </a:p>
          <a:p xmlns:a="http://schemas.openxmlformats.org/drawingml/2006/main">
            <a:r>
              <a:t>      "조직 필드의 일관된 매핑"</a:t>
            </a:r>
          </a:p>
          <a:p xmlns:a="http://schemas.openxmlformats.org/drawingml/2006/main">
            <a:r>
              <a:t>    ],</a:t>
            </a:r>
          </a:p>
          <a:p xmlns:a="http://schemas.openxmlformats.org/drawingml/2006/main">
            <a:r>
              <a:t>    "risks": [</a:t>
            </a:r>
          </a:p>
          <a:p xmlns:a="http://schemas.openxmlformats.org/drawingml/2006/main">
            <a:r>
              <a:t>      "복수 원천의 직원 중복",</a:t>
            </a:r>
          </a:p>
          <a:p xmlns:a="http://schemas.openxmlformats.org/drawingml/2006/main">
            <a:r>
              <a:t>      "삭제·퇴직·부서 변경 반영 누락"</a:t>
            </a:r>
          </a:p>
          <a:p xmlns:a="http://schemas.openxmlformats.org/drawingml/2006/main">
            <a:r>
              <a:t>    ],</a:t>
            </a:r>
          </a:p>
          <a:p xmlns:a="http://schemas.openxmlformats.org/drawingml/2006/main">
            <a:r>
              <a:t>    "architecture": [</a:t>
            </a:r>
          </a:p>
          <a:p xmlns:a="http://schemas.openxmlformats.org/drawingml/2006/main">
            <a:r>
              <a:t>      "직원 디렉터리",</a:t>
            </a:r>
          </a:p>
          <a:p xmlns:a="http://schemas.openxmlformats.org/drawingml/2006/main">
            <a:r>
              <a:t>      "People connector",</a:t>
            </a:r>
          </a:p>
          <a:p xmlns:a="http://schemas.openxmlformats.org/drawingml/2006/main">
            <a:r>
              <a:t>      "사람·조직 필드",</a:t>
            </a:r>
          </a:p>
          <a:p xmlns:a="http://schemas.openxmlformats.org/drawingml/2006/main">
            <a:r>
              <a:t>      "검색 이용자"</a:t>
            </a:r>
          </a:p>
          <a:p xmlns:a="http://schemas.openxmlformats.org/drawingml/2006/main">
            <a:r>
              <a:t>    ],</a:t>
            </a:r>
          </a:p>
          <a:p xmlns:a="http://schemas.openxmlformats.org/drawingml/2006/main">
            <a:r>
              <a:t>    "transfers": [</a:t>
            </a:r>
          </a:p>
          <a:p xmlns:a="http://schemas.openxmlformats.org/drawingml/2006/main">
            <a:r>
              <a:t>      "직원 필드",</a:t>
            </a:r>
          </a:p>
          <a:p xmlns:a="http://schemas.openxmlformats.org/drawingml/2006/main">
            <a:r>
              <a:t>      "동기화 관계",</a:t>
            </a:r>
          </a:p>
          <a:p xmlns:a="http://schemas.openxmlformats.org/drawingml/2006/main">
            <a:r>
              <a:t>      "검색 문맥",</a:t>
            </a:r>
          </a:p>
          <a:p xmlns:a="http://schemas.openxmlformats.org/drawingml/2006/main">
            <a:r>
              <a:t>      "직원 정보 결과"</a:t>
            </a:r>
          </a:p>
          <a:p xmlns:a="http://schemas.openxmlformats.org/drawingml/2006/main">
            <a:r>
              <a:t>    ],</a:t>
            </a:r>
          </a:p>
          <a:p xmlns:a="http://schemas.openxmlformats.org/drawingml/2006/main">
            <a:r>
              <a:t>    "control": "원천 우선순위·중복·변경 대사",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Select people connector / Manual upload / CSV format https://docs.glean.com/get-started/setup/sync-people-data</a:t>
            </a:r>
          </a:p>
          <a:p xmlns:a="http://schemas.openxmlformats.org/drawingml/2006/main">
            <a:r>
              <a:t>홈페이지 https://heen1987-ops.github.io/TS-business-Plan-001/index.html?view=platform-cases&amp;case=PF-C02</a:t>
            </a:r>
          </a:p>
          <a:p xmlns:a="http://schemas.openxmlformats.org/drawingml/2006/main">
            <a:r>
              <a:t>한계: CSV 방식은 인사 변경마다 재업로드 필요. 자동 커넥터도 제공. 동기화·조직 맥락 자체는 CCK 독점 기능 아님</a:t>
            </a:r>
          </a:p>
          <a:p xmlns:a="http://schemas.openxmlformats.org/drawingml/2006/main">
            <a:r>
              <a:t>실패 위험: 복수 원천의 직원 중복 / 삭제·퇴직·부서 변경 반영 누락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"PF-C02",</a:t>
            </a:r>
          </a:p>
          <a:p xmlns:a="http://schemas.openxmlformats.org/drawingml/2006/main">
            <a:r>
              <a:t>    "sourceId": "C02",</a:t>
            </a:r>
          </a:p>
          <a:p xmlns:a="http://schemas.openxmlformats.org/drawingml/2006/main">
            <a:r>
              <a:t>    "title": "Glean People connector",</a:t>
            </a:r>
          </a:p>
          <a:p xmlns:a="http://schemas.openxmlformats.org/drawingml/2006/main">
            <a:r>
              <a:t>    "region": "해외",</a:t>
            </a:r>
          </a:p>
          <a:p xmlns:a="http://schemas.openxmlformats.org/drawingml/2006/main">
            <a:r>
              <a:t>    "owner": "Glean / People connector",</a:t>
            </a:r>
          </a:p>
          <a:p xmlns:a="http://schemas.openxmlformats.org/drawingml/2006/main">
            <a:r>
              <a:t>    "state": "공식 기능 문서 / 2026-10-16 확인",</a:t>
            </a:r>
          </a:p>
          <a:p xmlns:a="http://schemas.openxmlformats.org/drawingml/2006/main">
            <a:r>
              <a:t>    "period": "기존 원장 확인 2026.10.16",</a:t>
            </a:r>
          </a:p>
          <a:p xmlns:a="http://schemas.openxmlformats.org/drawingml/2006/main">
            <a:r>
              <a:t>    "fact": "제품 기능 비교 / 기관 도입 성과 아님",</a:t>
            </a:r>
          </a:p>
          <a:p xmlns:a="http://schemas.openxmlformats.org/drawingml/2006/main">
            <a:r>
              <a:t>    "limit": "CSV 방식은 인사 변경마다 재업로드 필요. 자동 커넥터도 제공. 동기화·조직 맥락 자체는 CCK 독점 기능 아님",</a:t>
            </a:r>
          </a:p>
          <a:p xmlns:a="http://schemas.openxmlformats.org/drawingml/2006/main">
            <a:r>
              <a:t>    "nodes": [</a:t>
            </a:r>
          </a:p>
          <a:p xmlns:a="http://schemas.openxmlformats.org/drawingml/2006/main">
            <a:r>
              <a:t>      "직원 디렉터리",</a:t>
            </a:r>
          </a:p>
          <a:p xmlns:a="http://schemas.openxmlformats.org/drawingml/2006/main">
            <a:r>
              <a:t>      "동기화·필드 매핑",</a:t>
            </a:r>
          </a:p>
          <a:p xmlns:a="http://schemas.openxmlformats.org/drawingml/2006/main">
            <a:r>
              <a:t>      "권한별 검색",</a:t>
            </a:r>
          </a:p>
          <a:p xmlns:a="http://schemas.openxmlformats.org/drawingml/2006/main">
            <a:r>
              <a:t>      "직원 정보 활용"</a:t>
            </a:r>
          </a:p>
          <a:p xmlns:a="http://schemas.openxmlformats.org/drawingml/2006/main">
            <a:r>
              <a:t>    ],</a:t>
            </a:r>
          </a:p>
          <a:p xmlns:a="http://schemas.openxmlformats.org/drawingml/2006/main">
            <a:r>
              <a:t>    "apply": "사번·부서·직책·상사 정보의 원천 우선순위와 변경 반영 체계",</a:t>
            </a:r>
          </a:p>
          <a:p xmlns:a="http://schemas.openxmlformats.org/drawingml/2006/main">
            <a:r>
              <a:t>    "delta": "전보·퇴직·겸직 이후 검색·인계·캐시 회수",</a:t>
            </a:r>
          </a:p>
          <a:p xmlns:a="http://schemas.openxmlformats.org/drawingml/2006/main">
            <a:r>
              <a:t>    "test": "오노출 건수·변경 반영 지연의 기준선·비교 평가",</a:t>
            </a:r>
          </a:p>
          <a:p xmlns:a="http://schemas.openxmlformats.org/drawingml/2006/main">
            <a:r>
              <a:t>    "url": "https://docs.glean.com/get-started/setup/sync-people-data",</a:t>
            </a:r>
          </a:p>
          <a:p xmlns:a="http://schemas.openxmlformats.org/drawingml/2006/main">
            <a:r>
              <a:t>    "urls": [</a:t>
            </a:r>
          </a:p>
          <a:p xmlns:a="http://schemas.openxmlformats.org/drawingml/2006/main">
            <a:r>
              <a:t>      "https://docs.glean.com/get-started/setup/sync-people-data"</a:t>
            </a:r>
          </a:p>
          <a:p xmlns:a="http://schemas.openxmlformats.org/drawingml/2006/main">
            <a:r>
              <a:t>    ],</a:t>
            </a:r>
          </a:p>
          <a:p xmlns:a="http://schemas.openxmlformats.org/drawingml/2006/main">
            <a:r>
              <a:t>    "basis": "Select people connector / Manual upload / CSV format",</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"오노출 건수·변경 반영 지연",</a:t>
            </a:r>
          </a:p>
          <a:p xmlns:a="http://schemas.openxmlformats.org/drawingml/2006/main">
            <a:r>
              <a:t>    "group": "제품 비교",</a:t>
            </a:r>
          </a:p>
          <a:p xmlns:a="http://schemas.openxmlformats.org/drawingml/2006/main">
            <a:r>
              <a:t>    "sourceDetail": "직원 디렉터리 동기화, 권한 적용·역할 기반 접근 및 검색 개인화. 부서·직책·상사 등 필드 매핑",</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"PF-C02",</a:t>
            </a:r>
          </a:p>
          <a:p xmlns:a="http://schemas.openxmlformats.org/drawingml/2006/main">
            <a:r>
              <a:t>    "canonicalId": "PF-C02",</a:t>
            </a:r>
          </a:p>
          <a:p xmlns:a="http://schemas.openxmlformats.org/drawingml/2006/main">
            <a:r>
              <a:t>    "purpose": "직원 데이터 동기화와 조직 검색 지원",</a:t>
            </a:r>
          </a:p>
          <a:p xmlns:a="http://schemas.openxmlformats.org/drawingml/2006/main">
            <a:r>
              <a:t>    "users": "직원·디렉터리 관리자",</a:t>
            </a:r>
          </a:p>
          <a:p xmlns:a="http://schemas.openxmlformats.org/drawingml/2006/main">
            <a:r>
              <a:t>    "scope": [</a:t>
            </a:r>
          </a:p>
          <a:p xmlns:a="http://schemas.openxmlformats.org/drawingml/2006/main">
            <a:r>
              <a:t>      "인물 검색",</a:t>
            </a:r>
          </a:p>
          <a:p xmlns:a="http://schemas.openxmlformats.org/drawingml/2006/main">
            <a:r>
              <a:t>      "조직 필드",</a:t>
            </a:r>
          </a:p>
          <a:p xmlns:a="http://schemas.openxmlformats.org/drawingml/2006/main">
            <a:r>
              <a:t>      "권한 적용"</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"직원 디렉터리",</a:t>
            </a:r>
          </a:p>
          <a:p xmlns:a="http://schemas.openxmlformats.org/drawingml/2006/main">
            <a:r>
              <a:t>        "detail": "사람 ID·부서·직책·관리자 필드 정의",</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"인물 검색 / 조직 필드 / 권한 적용",</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"People connector",</a:t>
            </a:r>
          </a:p>
          <a:p xmlns:a="http://schemas.openxmlformats.org/drawingml/2006/main">
            <a:r>
              <a:t>        "detail": "People connector의 필드 변환과 동기화",</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"검색 이용자",</a:t>
            </a:r>
          </a:p>
          <a:p xmlns:a="http://schemas.openxmlformats.org/drawingml/2006/main">
            <a:r>
              <a:t>        "detail": "허용된 직원 정보와 검색 문맥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"사람·조직 필드",</a:t>
            </a:r>
          </a:p>
          <a:p xmlns:a="http://schemas.openxmlformats.org/drawingml/2006/main">
            <a:r>
              <a:t>        "detail": "지정 원천·중복 직원·삭제 이벤트 정리",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"원천 변경·퇴직·삭제의 동기화 결과 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"직원 디렉터리",</a:t>
            </a:r>
          </a:p>
          <a:p xmlns:a="http://schemas.openxmlformats.org/drawingml/2006/main">
            <a:r>
              <a:t>        "input": "사람 ID·부서·직책·관리자 필드 정의",</a:t>
            </a:r>
          </a:p>
          <a:p xmlns:a="http://schemas.openxmlformats.org/drawingml/2006/main">
            <a:r>
              <a:t>        "process": "지정 원천·중복 직원·삭제 이벤트 정리",</a:t>
            </a:r>
          </a:p>
          <a:p xmlns:a="http://schemas.openxmlformats.org/drawingml/2006/main">
            <a:r>
              <a:t>        "output": "직원 필드"</a:t>
            </a:r>
          </a:p>
          <a:p xmlns:a="http://schemas.openxmlformats.org/drawingml/2006/main">
            <a:r>
              <a:t>      },</a:t>
            </a:r>
          </a:p>
          <a:p xmlns:a="http://schemas.openxmlformats.org/drawingml/2006/main">
            <a:r>
              <a:t>      {</a:t>
            </a:r>
          </a:p>
          <a:p xmlns:a="http://schemas.openxmlformats.org/drawingml/2006/main">
            <a:r>
              <a:t>        "title": "동기화·필드 매핑",</a:t>
            </a:r>
          </a:p>
          <a:p xmlns:a="http://schemas.openxmlformats.org/drawingml/2006/main">
            <a:r>
              <a:t>        "input": "직원 필드",</a:t>
            </a:r>
          </a:p>
          <a:p xmlns:a="http://schemas.openxmlformats.org/drawingml/2006/main">
            <a:r>
              <a:t>        "process": "People connector의 필드 변환과 동기화",</a:t>
            </a:r>
          </a:p>
          <a:p xmlns:a="http://schemas.openxmlformats.org/drawingml/2006/main">
            <a:r>
              <a:t>        "output": "동기화 관계"</a:t>
            </a:r>
          </a:p>
          <a:p xmlns:a="http://schemas.openxmlformats.org/drawingml/2006/main">
            <a:r>
              <a:t>      },</a:t>
            </a:r>
          </a:p>
          <a:p xmlns:a="http://schemas.openxmlformats.org/drawingml/2006/main">
            <a:r>
              <a:t>      {</a:t>
            </a:r>
          </a:p>
          <a:p xmlns:a="http://schemas.openxmlformats.org/drawingml/2006/main">
            <a:r>
              <a:t>        "title": "권한별 검색",</a:t>
            </a:r>
          </a:p>
          <a:p xmlns:a="http://schemas.openxmlformats.org/drawingml/2006/main">
            <a:r>
              <a:t>        "input": "동기화 관계",</a:t>
            </a:r>
          </a:p>
          <a:p xmlns:a="http://schemas.openxmlformats.org/drawingml/2006/main">
            <a:r>
              <a:t>        "process": "원천 우선순위·중복·변경 대사",</a:t>
            </a:r>
          </a:p>
          <a:p xmlns:a="http://schemas.openxmlformats.org/drawingml/2006/main">
            <a:r>
              <a:t>        "output": "검색 문맥"</a:t>
            </a:r>
          </a:p>
          <a:p xmlns:a="http://schemas.openxmlformats.org/drawingml/2006/main">
            <a:r>
              <a:t>      },</a:t>
            </a:r>
          </a:p>
          <a:p xmlns:a="http://schemas.openxmlformats.org/drawingml/2006/main">
            <a:r>
              <a:t>      {</a:t>
            </a:r>
          </a:p>
          <a:p xmlns:a="http://schemas.openxmlformats.org/drawingml/2006/main">
            <a:r>
              <a:t>        "title": "직원 정보 활용",</a:t>
            </a:r>
          </a:p>
          <a:p xmlns:a="http://schemas.openxmlformats.org/drawingml/2006/main">
            <a:r>
              <a:t>        "input": "검색 문맥",</a:t>
            </a:r>
          </a:p>
          <a:p xmlns:a="http://schemas.openxmlformats.org/drawingml/2006/main">
            <a:r>
              <a:t>        "process": "허용된 직원 정보와 검색 문맥 제공",</a:t>
            </a:r>
          </a:p>
          <a:p xmlns:a="http://schemas.openxmlformats.org/drawingml/2006/main">
            <a:r>
              <a:t>        "output": "직원 정보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"직원 원천의 부서·직책 변경을 검색에 반영",</a:t>
            </a:r>
          </a:p>
          <a:p xmlns:a="http://schemas.openxmlformats.org/drawingml/2006/main">
            <a:r>
              <a:t>      "exception": "중복 계정·삭제 이벤트 누락·CSV 갱신 지연",</a:t>
            </a:r>
          </a:p>
          <a:p xmlns:a="http://schemas.openxmlformats.org/drawingml/2006/main">
            <a:r>
              <a:t>      "evidence": "원천–동기화–검색 결과의 전후 스냅샷과 지연",</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"직원·디렉터리 관리자",</a:t>
            </a:r>
          </a:p>
          <a:p xmlns:a="http://schemas.openxmlformats.org/drawingml/2006/main">
            <a:r>
              <a:t>          "processing": "사람 ID·부서·직책·관리자 필드 정의",</a:t>
            </a:r>
          </a:p>
          <a:p xmlns:a="http://schemas.openxmlformats.org/drawingml/2006/main">
            <a:r>
              <a:t>          "output": "직원 필드"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"사람·조직 필드",</a:t>
            </a:r>
          </a:p>
          <a:p xmlns:a="http://schemas.openxmlformats.org/drawingml/2006/main">
            <a:r>
              <a:t>          "processing": "지정 원천·중복 직원·삭제 이벤트 정리",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"직원 필드",</a:t>
            </a:r>
          </a:p>
          <a:p xmlns:a="http://schemas.openxmlformats.org/drawingml/2006/main">
            <a:r>
              <a:t>          "processing": "People connector의 필드 변환과 동기화",</a:t>
            </a:r>
          </a:p>
          <a:p xmlns:a="http://schemas.openxmlformats.org/drawingml/2006/main">
            <a:r>
              <a:t>          "output": "검색 문맥"</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"검색 문맥",</a:t>
            </a:r>
          </a:p>
          <a:p xmlns:a="http://schemas.openxmlformats.org/drawingml/2006/main">
            <a:r>
              <a:t>          "processing": "허용된 직원 정보와 검색 문맥 제공",</a:t>
            </a:r>
          </a:p>
          <a:p xmlns:a="http://schemas.openxmlformats.org/drawingml/2006/main">
            <a:r>
              <a:t>          "output": "직원 정보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"원천 변경·퇴직·삭제의 동기화 결과 대사",</a:t>
            </a:r>
          </a:p>
          <a:p xmlns:a="http://schemas.openxmlformats.org/drawingml/2006/main">
            <a:r>
              <a:t>          "output": "원천–동기화–검색 결과의 전후 스냅샷과 지연"</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"원천 변경·퇴직·삭제의 동기화 결과 대사",</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"Select people connector / Manual upload / CSV format",</a:t>
            </a:r>
          </a:p>
          <a:p xmlns:a="http://schemas.openxmlformats.org/drawingml/2006/main">
            <a:r>
              <a:t>        "url": "https://docs.glean.com/get-started/setup/sync-people-data"</a:t>
            </a:r>
          </a:p>
          <a:p xmlns:a="http://schemas.openxmlformats.org/drawingml/2006/main">
            <a:r>
              <a:t>      }</a:t>
            </a:r>
          </a:p>
          <a:p xmlns:a="http://schemas.openxmlformats.org/drawingml/2006/main">
            <a:r>
              <a:t>    ],</a:t>
            </a:r>
          </a:p>
          <a:p xmlns:a="http://schemas.openxmlformats.org/drawingml/2006/main">
            <a:r>
              <a:t>    "implication": "사번·부서·직책·상사 정보의 원천 우선순위와 변경 반영 체계",</a:t>
            </a:r>
          </a:p>
          <a:p xmlns:a="http://schemas.openxmlformats.org/drawingml/2006/main">
            <a:r>
              <a:t>    "local": "사번·부서·직책·상사 정보의 원천 우선순위와 변경 반영 체계",</a:t>
            </a:r>
          </a:p>
          <a:p xmlns:a="http://schemas.openxmlformats.org/drawingml/2006/main">
            <a:r>
              <a:t>    "sourceDetail": "직원 디렉터리 동기화, 권한 적용·역할 기반 접근 및 검색 개인화. 부서·직책·상사 등 필드 매핑",</a:t>
            </a:r>
          </a:p>
          <a:p xmlns:a="http://schemas.openxmlformats.org/drawingml/2006/main">
            <a:r>
              <a:t>    "narrative": [</a:t>
            </a:r>
          </a:p>
          <a:p xmlns:a="http://schemas.openxmlformats.org/drawingml/2006/main">
            <a:r>
              <a:t>      "Glean People connector의 직원 정보 동기화 기능을 조직 기반 검색 관점에서 분석한 사례. 인물·부서·직책·관리자 필드를 검색 문맥과 연결하는 구성요소.",</a:t>
            </a:r>
          </a:p>
          <a:p xmlns:a="http://schemas.openxmlformats.org/drawingml/2006/main">
            <a:r>
              <a:t>      "원천 직원 데이터의 식별자·필드 매핑, 동기화, 검색 색인, 접근 통제와 삭제 반영의 흐름으로 재구성. 복수 원천의 같은 사람과 동명이인을 구분하고 변경 이벤트가 검색 결과에 반영되는 상태를 관측하는 설계.",</a:t>
            </a:r>
          </a:p>
          <a:p xmlns:a="http://schemas.openxmlformats.org/drawingml/2006/main">
            <a:r>
              <a:t>      "TS에서는 데이터 연계 성공과 조직 기반 추론 성공을 별도 검수할 필요. 사번 매칭·조직 코드 변경·퇴직 삭제의 대사와 동일 요청의 직무별 결과 비교를 나누고 오류 발생 시 원천과 색인의 어느 단계에서 지연됐는지 추적."</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"인물 검색 접점",</a:t>
            </a:r>
          </a:p>
          <a:p xmlns:a="http://schemas.openxmlformats.org/drawingml/2006/main">
            <a:r>
              <a:t>          "layer": "이용 접점",</a:t>
            </a:r>
          </a:p>
          <a:p xmlns:a="http://schemas.openxmlformats.org/drawingml/2006/main">
            <a:r>
              <a:t>          "detail": "직원·디렉터리 관리자",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"사람 ID·부서",</a:t>
            </a:r>
          </a:p>
          <a:p xmlns:a="http://schemas.openxmlformats.org/drawingml/2006/main">
            <a:r>
              <a:t>          "layer": "업무 문맥",</a:t>
            </a:r>
          </a:p>
          <a:p xmlns:a="http://schemas.openxmlformats.org/drawingml/2006/main">
            <a:r>
              <a:t>          "detail": "사람 ID·부서·직책·관리자 필드 정의",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"동기화 자료 조회",</a:t>
            </a:r>
          </a:p>
          <a:p xmlns:a="http://schemas.openxmlformats.org/drawingml/2006/main">
            <a:r>
              <a:t>          "layer": "자료 조회",</a:t>
            </a:r>
          </a:p>
          <a:p xmlns:a="http://schemas.openxmlformats.org/drawingml/2006/main">
            <a:r>
              <a:t>          "detail": "직원 필드",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"People 필드 매핑",</a:t>
            </a:r>
          </a:p>
          <a:p xmlns:a="http://schemas.openxmlformats.org/drawingml/2006/main">
            <a:r>
              <a:t>          "layer": "핵심 처리",</a:t>
            </a:r>
          </a:p>
          <a:p xmlns:a="http://schemas.openxmlformats.org/drawingml/2006/main">
            <a:r>
              <a:t>          "detail": "People connector의 필드 변환과 동기화",</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"중복·삭제 검사",</a:t>
            </a:r>
          </a:p>
          <a:p xmlns:a="http://schemas.openxmlformats.org/drawingml/2006/main">
            <a:r>
              <a:t>          "layer": "결과 검증",</a:t>
            </a:r>
          </a:p>
          <a:p xmlns:a="http://schemas.openxmlformats.org/drawingml/2006/main">
            <a:r>
              <a:t>          "detail": "원천 우선순위·중복·변경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"관리자 대사",</a:t>
            </a:r>
          </a:p>
          <a:p xmlns:a="http://schemas.openxmlformats.org/drawingml/2006/main">
            <a:r>
              <a:t>          "layer": "사람 확인",</a:t>
            </a:r>
          </a:p>
          <a:p xmlns:a="http://schemas.openxmlformats.org/drawingml/2006/main">
            <a:r>
              <a:t>          "detail": "직원 원천의 부서·직책 변경을 검색에 반영",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"검색 문맥 제공",</a:t>
            </a:r>
          </a:p>
          <a:p xmlns:a="http://schemas.openxmlformats.org/drawingml/2006/main">
            <a:r>
              <a:t>          "layer": "업무 연결",</a:t>
            </a:r>
          </a:p>
          <a:p xmlns:a="http://schemas.openxmlformats.org/drawingml/2006/main">
            <a:r>
              <a:t>          "detail": "허용된 직원 정보와 검색 문맥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"전보·퇴직 반영",</a:t>
            </a:r>
          </a:p>
          <a:p xmlns:a="http://schemas.openxmlformats.org/drawingml/2006/main">
            <a:r>
              <a:t>          "layer": "운영 관측",</a:t>
            </a:r>
          </a:p>
          <a:p xmlns:a="http://schemas.openxmlformats.org/drawingml/2006/main">
            <a:r>
              <a:t>          "detail": "원천 변경·퇴직·삭제의 동기화 결과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"지정 직원 원천",</a:t>
            </a:r>
          </a:p>
          <a:p xmlns:a="http://schemas.openxmlformats.org/drawingml/2006/main">
            <a:r>
              <a:t>          "layer": "데이터 원천",</a:t>
            </a:r>
          </a:p>
          <a:p xmlns:a="http://schemas.openxmlformats.org/drawingml/2006/main">
            <a:r>
              <a:t>          "detail": "사람·조직 필드",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"필드 변환·삭제 전파",</a:t>
            </a:r>
          </a:p>
          <a:p xmlns:a="http://schemas.openxmlformats.org/drawingml/2006/main">
            <a:r>
              <a:t>          "layer": "준비·갱신",</a:t>
            </a:r>
          </a:p>
          <a:p xmlns:a="http://schemas.openxmlformats.org/drawingml/2006/main">
            <a:r>
              <a:t>          "detail": "지정 원천·중복 직원·삭제 이벤트 정리",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"사람·조직 색인",</a:t>
            </a:r>
          </a:p>
          <a:p xmlns:a="http://schemas.openxmlformats.org/drawingml/2006/main">
            <a:r>
              <a:t>          "layer": "상태·지식 저장",</a:t>
            </a:r>
          </a:p>
          <a:p xmlns:a="http://schemas.openxmlformats.org/drawingml/2006/main">
            <a:r>
              <a:t>          "detail": "원천–동기화–검색 결과의 전후 스냅샷과 지연",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"원천 우선순위",</a:t>
            </a:r>
          </a:p>
          <a:p xmlns:a="http://schemas.openxmlformats.org/drawingml/2006/main">
            <a:r>
              <a:t>          "layer": "권한·정책",</a:t>
            </a:r>
          </a:p>
          <a:p xmlns:a="http://schemas.openxmlformats.org/drawingml/2006/main">
            <a:r>
              <a:t>          "detail": "중복 계정·삭제 이벤트 누락·CSV 갱신 지연",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"사람 ID·부서·직책·관리자 필드 정의",</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"직원 필드",</a:t>
            </a:r>
          </a:p>
          <a:p xmlns:a="http://schemas.openxmlformats.org/drawingml/2006/main">
            <a:r>
              <a:t>          "check": "원천 우선순위·중복·변경 대사"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"동기화 관계",</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"검색 문맥",</a:t>
            </a:r>
          </a:p>
          <a:p xmlns:a="http://schemas.openxmlformats.org/drawingml/2006/main">
            <a:r>
              <a:t>          "check": "중복 계정·삭제 이벤트 누락·CSV 갱신 지연"</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"검색 문맥",</a:t>
            </a:r>
          </a:p>
          <a:p xmlns:a="http://schemas.openxmlformats.org/drawingml/2006/main">
            <a:r>
              <a:t>          "check": "허용된 직원 정보와 검색 문맥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"직원 정보 결과",</a:t>
            </a:r>
          </a:p>
          <a:p xmlns:a="http://schemas.openxmlformats.org/drawingml/2006/main">
            <a:r>
              <a:t>          "check": "원천–동기화–검색 결과의 전후 스냅샷과 지연"</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"직원 데이터 동기화와 조직 검색 지원 / 인물 검색·조직 필드·권한 적용",</a:t>
            </a:r>
          </a:p>
          <a:p xmlns:a="http://schemas.openxmlformats.org/drawingml/2006/main">
            <a:r>
              <a:t>        "extension": "사번·부서·직책·상사 정보의 원천 우선순위와 변경 반영 체계"</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"중복 계정·삭제 이벤트 누락·CSV 갱신 지연",</a:t>
            </a:r>
          </a:p>
          <a:p xmlns:a="http://schemas.openxmlformats.org/drawingml/2006/main">
            <a:r>
              <a:t>        "hold": "원천 우선순위·중복·변경 대사",</a:t>
            </a:r>
          </a:p>
          <a:p xmlns:a="http://schemas.openxmlformats.org/drawingml/2006/main">
            <a:r>
              <a:t>        "recovery": "원천 변경·퇴직·삭제의 동기화 결과 대사",</a:t>
            </a:r>
          </a:p>
          <a:p xmlns:a="http://schemas.openxmlformats.org/drawingml/2006/main">
            <a:r>
              <a:t>        "evidence": "원천–동기화–검색 결과의 전후 스냅샷과 지연"</a:t>
            </a:r>
          </a:p>
          <a:p xmlns:a="http://schemas.openxmlformats.org/drawingml/2006/main">
            <a:r>
              <a:t>      },</a:t>
            </a:r>
          </a:p>
          <a:p xmlns:a="http://schemas.openxmlformats.org/drawingml/2006/main">
            <a:r>
              <a:t>      "data": {</a:t>
            </a:r>
          </a:p>
          <a:p xmlns:a="http://schemas.openxmlformats.org/drawingml/2006/main">
            <a:r>
              <a:t>        "source": "사람·조직 필드",</a:t>
            </a:r>
          </a:p>
          <a:p xmlns:a="http://schemas.openxmlformats.org/drawingml/2006/main">
            <a:r>
              <a:t>        "prepare": "지정 원천·중복 직원·삭제 이벤트 정리",</a:t>
            </a:r>
          </a:p>
          <a:p xmlns:a="http://schemas.openxmlformats.org/drawingml/2006/main">
            <a:r>
              <a:t>        "output": "직원 필드",</a:t>
            </a:r>
          </a:p>
          <a:p xmlns:a="http://schemas.openxmlformats.org/drawingml/2006/main">
            <a:r>
              <a:t>        "refresh": "원천 변경·퇴직·삭제의 동기화 결과 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"PF-C02",</a:t>
            </a:r>
          </a:p>
          <a:p xmlns:a="http://schemas.openxmlformats.org/drawingml/2006/main">
            <a:r>
              <a:t>    "success": [</a:t>
            </a:r>
          </a:p>
          <a:p xmlns:a="http://schemas.openxmlformats.org/drawingml/2006/main">
            <a:r>
              <a:t>      "사람 정보의 지정 원천 동기화",</a:t>
            </a:r>
          </a:p>
          <a:p xmlns:a="http://schemas.openxmlformats.org/drawingml/2006/main">
            <a:r>
              <a:t>      "조직 필드의 일관된 매핑"</a:t>
            </a:r>
          </a:p>
          <a:p xmlns:a="http://schemas.openxmlformats.org/drawingml/2006/main">
            <a:r>
              <a:t>    ],</a:t>
            </a:r>
          </a:p>
          <a:p xmlns:a="http://schemas.openxmlformats.org/drawingml/2006/main">
            <a:r>
              <a:t>    "risks": [</a:t>
            </a:r>
          </a:p>
          <a:p xmlns:a="http://schemas.openxmlformats.org/drawingml/2006/main">
            <a:r>
              <a:t>      "복수 원천의 직원 중복",</a:t>
            </a:r>
          </a:p>
          <a:p xmlns:a="http://schemas.openxmlformats.org/drawingml/2006/main">
            <a:r>
              <a:t>      "삭제·퇴직·부서 변경 반영 누락"</a:t>
            </a:r>
          </a:p>
          <a:p xmlns:a="http://schemas.openxmlformats.org/drawingml/2006/main">
            <a:r>
              <a:t>    ],</a:t>
            </a:r>
          </a:p>
          <a:p xmlns:a="http://schemas.openxmlformats.org/drawingml/2006/main">
            <a:r>
              <a:t>    "architecture": [</a:t>
            </a:r>
          </a:p>
          <a:p xmlns:a="http://schemas.openxmlformats.org/drawingml/2006/main">
            <a:r>
              <a:t>      "직원 디렉터리",</a:t>
            </a:r>
          </a:p>
          <a:p xmlns:a="http://schemas.openxmlformats.org/drawingml/2006/main">
            <a:r>
              <a:t>      "People connector",</a:t>
            </a:r>
          </a:p>
          <a:p xmlns:a="http://schemas.openxmlformats.org/drawingml/2006/main">
            <a:r>
              <a:t>      "사람·조직 필드",</a:t>
            </a:r>
          </a:p>
          <a:p xmlns:a="http://schemas.openxmlformats.org/drawingml/2006/main">
            <a:r>
              <a:t>      "검색 이용자"</a:t>
            </a:r>
          </a:p>
          <a:p xmlns:a="http://schemas.openxmlformats.org/drawingml/2006/main">
            <a:r>
              <a:t>    ],</a:t>
            </a:r>
          </a:p>
          <a:p xmlns:a="http://schemas.openxmlformats.org/drawingml/2006/main">
            <a:r>
              <a:t>    "transfers": [</a:t>
            </a:r>
          </a:p>
          <a:p xmlns:a="http://schemas.openxmlformats.org/drawingml/2006/main">
            <a:r>
              <a:t>      "직원 필드",</a:t>
            </a:r>
          </a:p>
          <a:p xmlns:a="http://schemas.openxmlformats.org/drawingml/2006/main">
            <a:r>
              <a:t>      "동기화 관계",</a:t>
            </a:r>
          </a:p>
          <a:p xmlns:a="http://schemas.openxmlformats.org/drawingml/2006/main">
            <a:r>
              <a:t>      "검색 문맥",</a:t>
            </a:r>
          </a:p>
          <a:p xmlns:a="http://schemas.openxmlformats.org/drawingml/2006/main">
            <a:r>
              <a:t>      "직원 정보 결과"</a:t>
            </a:r>
          </a:p>
          <a:p xmlns:a="http://schemas.openxmlformats.org/drawingml/2006/main">
            <a:r>
              <a:t>    ],</a:t>
            </a:r>
          </a:p>
          <a:p xmlns:a="http://schemas.openxmlformats.org/drawingml/2006/main">
            <a:r>
              <a:t>    "control": "원천 우선순위·중복·변경 대사",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Select people connector / Manual upload / CSV format https://docs.glean.com/get-started/setup/sync-people-data</a:t>
            </a:r>
          </a:p>
          <a:p xmlns:a="http://schemas.openxmlformats.org/drawingml/2006/main">
            <a:r>
              <a:t>홈페이지 https://heen1987-ops.github.io/TS-business-Plan-001/index.html?view=platform-cases&amp;case=PF-C02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"PF-C02",</a:t>
            </a:r>
          </a:p>
          <a:p xmlns:a="http://schemas.openxmlformats.org/drawingml/2006/main">
            <a:r>
              <a:t>    "sourceId": "C02",</a:t>
            </a:r>
          </a:p>
          <a:p xmlns:a="http://schemas.openxmlformats.org/drawingml/2006/main">
            <a:r>
              <a:t>    "title": "Glean People connector",</a:t>
            </a:r>
          </a:p>
          <a:p xmlns:a="http://schemas.openxmlformats.org/drawingml/2006/main">
            <a:r>
              <a:t>    "region": "해외",</a:t>
            </a:r>
          </a:p>
          <a:p xmlns:a="http://schemas.openxmlformats.org/drawingml/2006/main">
            <a:r>
              <a:t>    "owner": "Glean / People connector",</a:t>
            </a:r>
          </a:p>
          <a:p xmlns:a="http://schemas.openxmlformats.org/drawingml/2006/main">
            <a:r>
              <a:t>    "state": "공식 기능 문서 / 2026-10-16 확인",</a:t>
            </a:r>
          </a:p>
          <a:p xmlns:a="http://schemas.openxmlformats.org/drawingml/2006/main">
            <a:r>
              <a:t>    "period": "기존 원장 확인 2026.10.16",</a:t>
            </a:r>
          </a:p>
          <a:p xmlns:a="http://schemas.openxmlformats.org/drawingml/2006/main">
            <a:r>
              <a:t>    "fact": "제품 기능 비교 / 기관 도입 성과 아님",</a:t>
            </a:r>
          </a:p>
          <a:p xmlns:a="http://schemas.openxmlformats.org/drawingml/2006/main">
            <a:r>
              <a:t>    "limit": "CSV 방식은 인사 변경마다 재업로드 필요. 자동 커넥터도 제공. 동기화·조직 맥락 자체는 CCK 독점 기능 아님",</a:t>
            </a:r>
          </a:p>
          <a:p xmlns:a="http://schemas.openxmlformats.org/drawingml/2006/main">
            <a:r>
              <a:t>    "nodes": [</a:t>
            </a:r>
          </a:p>
          <a:p xmlns:a="http://schemas.openxmlformats.org/drawingml/2006/main">
            <a:r>
              <a:t>      "직원 디렉터리",</a:t>
            </a:r>
          </a:p>
          <a:p xmlns:a="http://schemas.openxmlformats.org/drawingml/2006/main">
            <a:r>
              <a:t>      "동기화·필드 매핑",</a:t>
            </a:r>
          </a:p>
          <a:p xmlns:a="http://schemas.openxmlformats.org/drawingml/2006/main">
            <a:r>
              <a:t>      "권한별 검색",</a:t>
            </a:r>
          </a:p>
          <a:p xmlns:a="http://schemas.openxmlformats.org/drawingml/2006/main">
            <a:r>
              <a:t>      "직원 정보 활용"</a:t>
            </a:r>
          </a:p>
          <a:p xmlns:a="http://schemas.openxmlformats.org/drawingml/2006/main">
            <a:r>
              <a:t>    ],</a:t>
            </a:r>
          </a:p>
          <a:p xmlns:a="http://schemas.openxmlformats.org/drawingml/2006/main">
            <a:r>
              <a:t>    "apply": "사번·부서·직책·상사 정보의 원천 우선순위와 변경 반영 체계",</a:t>
            </a:r>
          </a:p>
          <a:p xmlns:a="http://schemas.openxmlformats.org/drawingml/2006/main">
            <a:r>
              <a:t>    "delta": "전보·퇴직·겸직 이후 검색·인계·캐시 회수",</a:t>
            </a:r>
          </a:p>
          <a:p xmlns:a="http://schemas.openxmlformats.org/drawingml/2006/main">
            <a:r>
              <a:t>    "test": "오노출 건수·변경 반영 지연의 기준선·비교 평가",</a:t>
            </a:r>
          </a:p>
          <a:p xmlns:a="http://schemas.openxmlformats.org/drawingml/2006/main">
            <a:r>
              <a:t>    "url": "https://docs.glean.com/get-started/setup/sync-people-data",</a:t>
            </a:r>
          </a:p>
          <a:p xmlns:a="http://schemas.openxmlformats.org/drawingml/2006/main">
            <a:r>
              <a:t>    "urls": [</a:t>
            </a:r>
          </a:p>
          <a:p xmlns:a="http://schemas.openxmlformats.org/drawingml/2006/main">
            <a:r>
              <a:t>      "https://docs.glean.com/get-started/setup/sync-people-data"</a:t>
            </a:r>
          </a:p>
          <a:p xmlns:a="http://schemas.openxmlformats.org/drawingml/2006/main">
            <a:r>
              <a:t>    ],</a:t>
            </a:r>
          </a:p>
          <a:p xmlns:a="http://schemas.openxmlformats.org/drawingml/2006/main">
            <a:r>
              <a:t>    "basis": "Select people connector / Manual upload / CSV format",</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"오노출 건수·변경 반영 지연",</a:t>
            </a:r>
          </a:p>
          <a:p xmlns:a="http://schemas.openxmlformats.org/drawingml/2006/main">
            <a:r>
              <a:t>    "group": "제품 비교",</a:t>
            </a:r>
          </a:p>
          <a:p xmlns:a="http://schemas.openxmlformats.org/drawingml/2006/main">
            <a:r>
              <a:t>    "sourceDetail": "직원 디렉터리 동기화, 권한 적용·역할 기반 접근 및 검색 개인화. 부서·직책·상사 등 필드 매핑",</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"PF-C02",</a:t>
            </a:r>
          </a:p>
          <a:p xmlns:a="http://schemas.openxmlformats.org/drawingml/2006/main">
            <a:r>
              <a:t>    "canonicalId": "PF-C02",</a:t>
            </a:r>
          </a:p>
          <a:p xmlns:a="http://schemas.openxmlformats.org/drawingml/2006/main">
            <a:r>
              <a:t>    "purpose": "직원 데이터 동기화와 조직 검색 지원",</a:t>
            </a:r>
          </a:p>
          <a:p xmlns:a="http://schemas.openxmlformats.org/drawingml/2006/main">
            <a:r>
              <a:t>    "users": "직원·디렉터리 관리자",</a:t>
            </a:r>
          </a:p>
          <a:p xmlns:a="http://schemas.openxmlformats.org/drawingml/2006/main">
            <a:r>
              <a:t>    "scope": [</a:t>
            </a:r>
          </a:p>
          <a:p xmlns:a="http://schemas.openxmlformats.org/drawingml/2006/main">
            <a:r>
              <a:t>      "인물 검색",</a:t>
            </a:r>
          </a:p>
          <a:p xmlns:a="http://schemas.openxmlformats.org/drawingml/2006/main">
            <a:r>
              <a:t>      "조직 필드",</a:t>
            </a:r>
          </a:p>
          <a:p xmlns:a="http://schemas.openxmlformats.org/drawingml/2006/main">
            <a:r>
              <a:t>      "권한 적용"</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"직원 디렉터리",</a:t>
            </a:r>
          </a:p>
          <a:p xmlns:a="http://schemas.openxmlformats.org/drawingml/2006/main">
            <a:r>
              <a:t>        "detail": "사람 ID·부서·직책·관리자 필드 정의",</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"인물 검색 / 조직 필드 / 권한 적용",</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"People connector",</a:t>
            </a:r>
          </a:p>
          <a:p xmlns:a="http://schemas.openxmlformats.org/drawingml/2006/main">
            <a:r>
              <a:t>        "detail": "People connector의 필드 변환과 동기화",</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"검색 이용자",</a:t>
            </a:r>
          </a:p>
          <a:p xmlns:a="http://schemas.openxmlformats.org/drawingml/2006/main">
            <a:r>
              <a:t>        "detail": "허용된 직원 정보와 검색 문맥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"사람·조직 필드",</a:t>
            </a:r>
          </a:p>
          <a:p xmlns:a="http://schemas.openxmlformats.org/drawingml/2006/main">
            <a:r>
              <a:t>        "detail": "지정 원천·중복 직원·삭제 이벤트 정리",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"원천 변경·퇴직·삭제의 동기화 결과 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"직원 디렉터리",</a:t>
            </a:r>
          </a:p>
          <a:p xmlns:a="http://schemas.openxmlformats.org/drawingml/2006/main">
            <a:r>
              <a:t>        "input": "사람 ID·부서·직책·관리자 필드 정의",</a:t>
            </a:r>
          </a:p>
          <a:p xmlns:a="http://schemas.openxmlformats.org/drawingml/2006/main">
            <a:r>
              <a:t>        "process": "지정 원천·중복 직원·삭제 이벤트 정리",</a:t>
            </a:r>
          </a:p>
          <a:p xmlns:a="http://schemas.openxmlformats.org/drawingml/2006/main">
            <a:r>
              <a:t>        "output": "직원 필드"</a:t>
            </a:r>
          </a:p>
          <a:p xmlns:a="http://schemas.openxmlformats.org/drawingml/2006/main">
            <a:r>
              <a:t>      },</a:t>
            </a:r>
          </a:p>
          <a:p xmlns:a="http://schemas.openxmlformats.org/drawingml/2006/main">
            <a:r>
              <a:t>      {</a:t>
            </a:r>
          </a:p>
          <a:p xmlns:a="http://schemas.openxmlformats.org/drawingml/2006/main">
            <a:r>
              <a:t>        "title": "동기화·필드 매핑",</a:t>
            </a:r>
          </a:p>
          <a:p xmlns:a="http://schemas.openxmlformats.org/drawingml/2006/main">
            <a:r>
              <a:t>        "input": "직원 필드",</a:t>
            </a:r>
          </a:p>
          <a:p xmlns:a="http://schemas.openxmlformats.org/drawingml/2006/main">
            <a:r>
              <a:t>        "process": "People connector의 필드 변환과 동기화",</a:t>
            </a:r>
          </a:p>
          <a:p xmlns:a="http://schemas.openxmlformats.org/drawingml/2006/main">
            <a:r>
              <a:t>        "output": "동기화 관계"</a:t>
            </a:r>
          </a:p>
          <a:p xmlns:a="http://schemas.openxmlformats.org/drawingml/2006/main">
            <a:r>
              <a:t>      },</a:t>
            </a:r>
          </a:p>
          <a:p xmlns:a="http://schemas.openxmlformats.org/drawingml/2006/main">
            <a:r>
              <a:t>      {</a:t>
            </a:r>
          </a:p>
          <a:p xmlns:a="http://schemas.openxmlformats.org/drawingml/2006/main">
            <a:r>
              <a:t>        "title": "권한별 검색",</a:t>
            </a:r>
          </a:p>
          <a:p xmlns:a="http://schemas.openxmlformats.org/drawingml/2006/main">
            <a:r>
              <a:t>        "input": "동기화 관계",</a:t>
            </a:r>
          </a:p>
          <a:p xmlns:a="http://schemas.openxmlformats.org/drawingml/2006/main">
            <a:r>
              <a:t>        "process": "원천 우선순위·중복·변경 대사",</a:t>
            </a:r>
          </a:p>
          <a:p xmlns:a="http://schemas.openxmlformats.org/drawingml/2006/main">
            <a:r>
              <a:t>        "output": "검색 문맥"</a:t>
            </a:r>
          </a:p>
          <a:p xmlns:a="http://schemas.openxmlformats.org/drawingml/2006/main">
            <a:r>
              <a:t>      },</a:t>
            </a:r>
          </a:p>
          <a:p xmlns:a="http://schemas.openxmlformats.org/drawingml/2006/main">
            <a:r>
              <a:t>      {</a:t>
            </a:r>
          </a:p>
          <a:p xmlns:a="http://schemas.openxmlformats.org/drawingml/2006/main">
            <a:r>
              <a:t>        "title": "직원 정보 활용",</a:t>
            </a:r>
          </a:p>
          <a:p xmlns:a="http://schemas.openxmlformats.org/drawingml/2006/main">
            <a:r>
              <a:t>        "input": "검색 문맥",</a:t>
            </a:r>
          </a:p>
          <a:p xmlns:a="http://schemas.openxmlformats.org/drawingml/2006/main">
            <a:r>
              <a:t>        "process": "허용된 직원 정보와 검색 문맥 제공",</a:t>
            </a:r>
          </a:p>
          <a:p xmlns:a="http://schemas.openxmlformats.org/drawingml/2006/main">
            <a:r>
              <a:t>        "output": "직원 정보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"직원 원천의 부서·직책 변경을 검색에 반영",</a:t>
            </a:r>
          </a:p>
          <a:p xmlns:a="http://schemas.openxmlformats.org/drawingml/2006/main">
            <a:r>
              <a:t>      "exception": "중복 계정·삭제 이벤트 누락·CSV 갱신 지연",</a:t>
            </a:r>
          </a:p>
          <a:p xmlns:a="http://schemas.openxmlformats.org/drawingml/2006/main">
            <a:r>
              <a:t>      "evidence": "원천–동기화–검색 결과의 전후 스냅샷과 지연",</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"직원·디렉터리 관리자",</a:t>
            </a:r>
          </a:p>
          <a:p xmlns:a="http://schemas.openxmlformats.org/drawingml/2006/main">
            <a:r>
              <a:t>          "processing": "사람 ID·부서·직책·관리자 필드 정의",</a:t>
            </a:r>
          </a:p>
          <a:p xmlns:a="http://schemas.openxmlformats.org/drawingml/2006/main">
            <a:r>
              <a:t>          "output": "직원 필드"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"사람·조직 필드",</a:t>
            </a:r>
          </a:p>
          <a:p xmlns:a="http://schemas.openxmlformats.org/drawingml/2006/main">
            <a:r>
              <a:t>          "processing": "지정 원천·중복 직원·삭제 이벤트 정리",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"직원 필드",</a:t>
            </a:r>
          </a:p>
          <a:p xmlns:a="http://schemas.openxmlformats.org/drawingml/2006/main">
            <a:r>
              <a:t>          "processing": "People connector의 필드 변환과 동기화",</a:t>
            </a:r>
          </a:p>
          <a:p xmlns:a="http://schemas.openxmlformats.org/drawingml/2006/main">
            <a:r>
              <a:t>          "output": "검색 문맥"</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"검색 문맥",</a:t>
            </a:r>
          </a:p>
          <a:p xmlns:a="http://schemas.openxmlformats.org/drawingml/2006/main">
            <a:r>
              <a:t>          "processing": "허용된 직원 정보와 검색 문맥 제공",</a:t>
            </a:r>
          </a:p>
          <a:p xmlns:a="http://schemas.openxmlformats.org/drawingml/2006/main">
            <a:r>
              <a:t>          "output": "직원 정보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"원천 변경·퇴직·삭제의 동기화 결과 대사",</a:t>
            </a:r>
          </a:p>
          <a:p xmlns:a="http://schemas.openxmlformats.org/drawingml/2006/main">
            <a:r>
              <a:t>          "output": "원천–동기화–검색 결과의 전후 스냅샷과 지연"</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"원천 변경·퇴직·삭제의 동기화 결과 대사",</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"Select people connector / Manual upload / CSV format",</a:t>
            </a:r>
          </a:p>
          <a:p xmlns:a="http://schemas.openxmlformats.org/drawingml/2006/main">
            <a:r>
              <a:t>        "url": "https://docs.glean.com/get-started/setup/sync-people-data"</a:t>
            </a:r>
          </a:p>
          <a:p xmlns:a="http://schemas.openxmlformats.org/drawingml/2006/main">
            <a:r>
              <a:t>      }</a:t>
            </a:r>
          </a:p>
          <a:p xmlns:a="http://schemas.openxmlformats.org/drawingml/2006/main">
            <a:r>
              <a:t>    ],</a:t>
            </a:r>
          </a:p>
          <a:p xmlns:a="http://schemas.openxmlformats.org/drawingml/2006/main">
            <a:r>
              <a:t>    "implication": "사번·부서·직책·상사 정보의 원천 우선순위와 변경 반영 체계",</a:t>
            </a:r>
          </a:p>
          <a:p xmlns:a="http://schemas.openxmlformats.org/drawingml/2006/main">
            <a:r>
              <a:t>    "local": "사번·부서·직책·상사 정보의 원천 우선순위와 변경 반영 체계",</a:t>
            </a:r>
          </a:p>
          <a:p xmlns:a="http://schemas.openxmlformats.org/drawingml/2006/main">
            <a:r>
              <a:t>    "sourceDetail": "직원 디렉터리 동기화, 권한 적용·역할 기반 접근 및 검색 개인화. 부서·직책·상사 등 필드 매핑",</a:t>
            </a:r>
          </a:p>
          <a:p xmlns:a="http://schemas.openxmlformats.org/drawingml/2006/main">
            <a:r>
              <a:t>    "narrative": [</a:t>
            </a:r>
          </a:p>
          <a:p xmlns:a="http://schemas.openxmlformats.org/drawingml/2006/main">
            <a:r>
              <a:t>      "Glean People connector의 직원 정보 동기화 기능을 조직 기반 검색 관점에서 분석한 사례. 인물·부서·직책·관리자 필드를 검색 문맥과 연결하는 구성요소.",</a:t>
            </a:r>
          </a:p>
          <a:p xmlns:a="http://schemas.openxmlformats.org/drawingml/2006/main">
            <a:r>
              <a:t>      "원천 직원 데이터의 식별자·필드 매핑, 동기화, 검색 색인, 접근 통제와 삭제 반영의 흐름으로 재구성. 복수 원천의 같은 사람과 동명이인을 구분하고 변경 이벤트가 검색 결과에 반영되는 상태를 관측하는 설계.",</a:t>
            </a:r>
          </a:p>
          <a:p xmlns:a="http://schemas.openxmlformats.org/drawingml/2006/main">
            <a:r>
              <a:t>      "TS에서는 데이터 연계 성공과 조직 기반 추론 성공을 별도 검수할 필요. 사번 매칭·조직 코드 변경·퇴직 삭제의 대사와 동일 요청의 직무별 결과 비교를 나누고 오류 발생 시 원천과 색인의 어느 단계에서 지연됐는지 추적."</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"인물 검색 접점",</a:t>
            </a:r>
          </a:p>
          <a:p xmlns:a="http://schemas.openxmlformats.org/drawingml/2006/main">
            <a:r>
              <a:t>          "layer": "이용 접점",</a:t>
            </a:r>
          </a:p>
          <a:p xmlns:a="http://schemas.openxmlformats.org/drawingml/2006/main">
            <a:r>
              <a:t>          "detail": "직원·디렉터리 관리자",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"사람 ID·부서",</a:t>
            </a:r>
          </a:p>
          <a:p xmlns:a="http://schemas.openxmlformats.org/drawingml/2006/main">
            <a:r>
              <a:t>          "layer": "업무 문맥",</a:t>
            </a:r>
          </a:p>
          <a:p xmlns:a="http://schemas.openxmlformats.org/drawingml/2006/main">
            <a:r>
              <a:t>          "detail": "사람 ID·부서·직책·관리자 필드 정의",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"동기화 자료 조회",</a:t>
            </a:r>
          </a:p>
          <a:p xmlns:a="http://schemas.openxmlformats.org/drawingml/2006/main">
            <a:r>
              <a:t>          "layer": "자료 조회",</a:t>
            </a:r>
          </a:p>
          <a:p xmlns:a="http://schemas.openxmlformats.org/drawingml/2006/main">
            <a:r>
              <a:t>          "detail": "직원 필드",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"People 필드 매핑",</a:t>
            </a:r>
          </a:p>
          <a:p xmlns:a="http://schemas.openxmlformats.org/drawingml/2006/main">
            <a:r>
              <a:t>          "layer": "핵심 처리",</a:t>
            </a:r>
          </a:p>
          <a:p xmlns:a="http://schemas.openxmlformats.org/drawingml/2006/main">
            <a:r>
              <a:t>          "detail": "People connector의 필드 변환과 동기화",</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"중복·삭제 검사",</a:t>
            </a:r>
          </a:p>
          <a:p xmlns:a="http://schemas.openxmlformats.org/drawingml/2006/main">
            <a:r>
              <a:t>          "layer": "결과 검증",</a:t>
            </a:r>
          </a:p>
          <a:p xmlns:a="http://schemas.openxmlformats.org/drawingml/2006/main">
            <a:r>
              <a:t>          "detail": "원천 우선순위·중복·변경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"관리자 대사",</a:t>
            </a:r>
          </a:p>
          <a:p xmlns:a="http://schemas.openxmlformats.org/drawingml/2006/main">
            <a:r>
              <a:t>          "layer": "사람 확인",</a:t>
            </a:r>
          </a:p>
          <a:p xmlns:a="http://schemas.openxmlformats.org/drawingml/2006/main">
            <a:r>
              <a:t>          "detail": "직원 원천의 부서·직책 변경을 검색에 반영",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"검색 문맥 제공",</a:t>
            </a:r>
          </a:p>
          <a:p xmlns:a="http://schemas.openxmlformats.org/drawingml/2006/main">
            <a:r>
              <a:t>          "layer": "업무 연결",</a:t>
            </a:r>
          </a:p>
          <a:p xmlns:a="http://schemas.openxmlformats.org/drawingml/2006/main">
            <a:r>
              <a:t>          "detail": "허용된 직원 정보와 검색 문맥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"전보·퇴직 반영",</a:t>
            </a:r>
          </a:p>
          <a:p xmlns:a="http://schemas.openxmlformats.org/drawingml/2006/main">
            <a:r>
              <a:t>          "layer": "운영 관측",</a:t>
            </a:r>
          </a:p>
          <a:p xmlns:a="http://schemas.openxmlformats.org/drawingml/2006/main">
            <a:r>
              <a:t>          "detail": "원천 변경·퇴직·삭제의 동기화 결과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"지정 직원 원천",</a:t>
            </a:r>
          </a:p>
          <a:p xmlns:a="http://schemas.openxmlformats.org/drawingml/2006/main">
            <a:r>
              <a:t>          "layer": "데이터 원천",</a:t>
            </a:r>
          </a:p>
          <a:p xmlns:a="http://schemas.openxmlformats.org/drawingml/2006/main">
            <a:r>
              <a:t>          "detail": "사람·조직 필드",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"필드 변환·삭제 전파",</a:t>
            </a:r>
          </a:p>
          <a:p xmlns:a="http://schemas.openxmlformats.org/drawingml/2006/main">
            <a:r>
              <a:t>          "layer": "준비·갱신",</a:t>
            </a:r>
          </a:p>
          <a:p xmlns:a="http://schemas.openxmlformats.org/drawingml/2006/main">
            <a:r>
              <a:t>          "detail": "지정 원천·중복 직원·삭제 이벤트 정리",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"사람·조직 색인",</a:t>
            </a:r>
          </a:p>
          <a:p xmlns:a="http://schemas.openxmlformats.org/drawingml/2006/main">
            <a:r>
              <a:t>          "layer": "상태·지식 저장",</a:t>
            </a:r>
          </a:p>
          <a:p xmlns:a="http://schemas.openxmlformats.org/drawingml/2006/main">
            <a:r>
              <a:t>          "detail": "원천–동기화–검색 결과의 전후 스냅샷과 지연",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"원천 우선순위",</a:t>
            </a:r>
          </a:p>
          <a:p xmlns:a="http://schemas.openxmlformats.org/drawingml/2006/main">
            <a:r>
              <a:t>          "layer": "권한·정책",</a:t>
            </a:r>
          </a:p>
          <a:p xmlns:a="http://schemas.openxmlformats.org/drawingml/2006/main">
            <a:r>
              <a:t>          "detail": "중복 계정·삭제 이벤트 누락·CSV 갱신 지연",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"사람 ID·부서·직책·관리자 필드 정의",</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"직원 필드",</a:t>
            </a:r>
          </a:p>
          <a:p xmlns:a="http://schemas.openxmlformats.org/drawingml/2006/main">
            <a:r>
              <a:t>          "check": "원천 우선순위·중복·변경 대사"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"동기화 관계",</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"검색 문맥",</a:t>
            </a:r>
          </a:p>
          <a:p xmlns:a="http://schemas.openxmlformats.org/drawingml/2006/main">
            <a:r>
              <a:t>          "check": "중복 계정·삭제 이벤트 누락·CSV 갱신 지연"</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"검색 문맥",</a:t>
            </a:r>
          </a:p>
          <a:p xmlns:a="http://schemas.openxmlformats.org/drawingml/2006/main">
            <a:r>
              <a:t>          "check": "허용된 직원 정보와 검색 문맥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"직원 정보 결과",</a:t>
            </a:r>
          </a:p>
          <a:p xmlns:a="http://schemas.openxmlformats.org/drawingml/2006/main">
            <a:r>
              <a:t>          "check": "원천–동기화–검색 결과의 전후 스냅샷과 지연"</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"직원 데이터 동기화와 조직 검색 지원 / 인물 검색·조직 필드·권한 적용",</a:t>
            </a:r>
          </a:p>
          <a:p xmlns:a="http://schemas.openxmlformats.org/drawingml/2006/main">
            <a:r>
              <a:t>        "extension": "사번·부서·직책·상사 정보의 원천 우선순위와 변경 반영 체계"</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"중복 계정·삭제 이벤트 누락·CSV 갱신 지연",</a:t>
            </a:r>
          </a:p>
          <a:p xmlns:a="http://schemas.openxmlformats.org/drawingml/2006/main">
            <a:r>
              <a:t>        "hold": "원천 우선순위·중복·변경 대사",</a:t>
            </a:r>
          </a:p>
          <a:p xmlns:a="http://schemas.openxmlformats.org/drawingml/2006/main">
            <a:r>
              <a:t>        "recovery": "원천 변경·퇴직·삭제의 동기화 결과 대사",</a:t>
            </a:r>
          </a:p>
          <a:p xmlns:a="http://schemas.openxmlformats.org/drawingml/2006/main">
            <a:r>
              <a:t>        "evidence": "원천–동기화–검색 결과의 전후 스냅샷과 지연"</a:t>
            </a:r>
          </a:p>
          <a:p xmlns:a="http://schemas.openxmlformats.org/drawingml/2006/main">
            <a:r>
              <a:t>      },</a:t>
            </a:r>
          </a:p>
          <a:p xmlns:a="http://schemas.openxmlformats.org/drawingml/2006/main">
            <a:r>
              <a:t>      "data": {</a:t>
            </a:r>
          </a:p>
          <a:p xmlns:a="http://schemas.openxmlformats.org/drawingml/2006/main">
            <a:r>
              <a:t>        "source": "사람·조직 필드",</a:t>
            </a:r>
          </a:p>
          <a:p xmlns:a="http://schemas.openxmlformats.org/drawingml/2006/main">
            <a:r>
              <a:t>        "prepare": "지정 원천·중복 직원·삭제 이벤트 정리",</a:t>
            </a:r>
          </a:p>
          <a:p xmlns:a="http://schemas.openxmlformats.org/drawingml/2006/main">
            <a:r>
              <a:t>        "output": "직원 필드",</a:t>
            </a:r>
          </a:p>
          <a:p xmlns:a="http://schemas.openxmlformats.org/drawingml/2006/main">
            <a:r>
              <a:t>        "refresh": "원천 변경·퇴직·삭제의 동기화 결과 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"PF-C02",</a:t>
            </a:r>
          </a:p>
          <a:p xmlns:a="http://schemas.openxmlformats.org/drawingml/2006/main">
            <a:r>
              <a:t>    "success": [</a:t>
            </a:r>
          </a:p>
          <a:p xmlns:a="http://schemas.openxmlformats.org/drawingml/2006/main">
            <a:r>
              <a:t>      "사람 정보의 지정 원천 동기화",</a:t>
            </a:r>
          </a:p>
          <a:p xmlns:a="http://schemas.openxmlformats.org/drawingml/2006/main">
            <a:r>
              <a:t>      "조직 필드의 일관된 매핑"</a:t>
            </a:r>
          </a:p>
          <a:p xmlns:a="http://schemas.openxmlformats.org/drawingml/2006/main">
            <a:r>
              <a:t>    ],</a:t>
            </a:r>
          </a:p>
          <a:p xmlns:a="http://schemas.openxmlformats.org/drawingml/2006/main">
            <a:r>
              <a:t>    "risks": [</a:t>
            </a:r>
          </a:p>
          <a:p xmlns:a="http://schemas.openxmlformats.org/drawingml/2006/main">
            <a:r>
              <a:t>      "복수 원천의 직원 중복",</a:t>
            </a:r>
          </a:p>
          <a:p xmlns:a="http://schemas.openxmlformats.org/drawingml/2006/main">
            <a:r>
              <a:t>      "삭제·퇴직·부서 변경 반영 누락"</a:t>
            </a:r>
          </a:p>
          <a:p xmlns:a="http://schemas.openxmlformats.org/drawingml/2006/main">
            <a:r>
              <a:t>    ],</a:t>
            </a:r>
          </a:p>
          <a:p xmlns:a="http://schemas.openxmlformats.org/drawingml/2006/main">
            <a:r>
              <a:t>    "architecture": [</a:t>
            </a:r>
          </a:p>
          <a:p xmlns:a="http://schemas.openxmlformats.org/drawingml/2006/main">
            <a:r>
              <a:t>      "직원 디렉터리",</a:t>
            </a:r>
          </a:p>
          <a:p xmlns:a="http://schemas.openxmlformats.org/drawingml/2006/main">
            <a:r>
              <a:t>      "People connector",</a:t>
            </a:r>
          </a:p>
          <a:p xmlns:a="http://schemas.openxmlformats.org/drawingml/2006/main">
            <a:r>
              <a:t>      "사람·조직 필드",</a:t>
            </a:r>
          </a:p>
          <a:p xmlns:a="http://schemas.openxmlformats.org/drawingml/2006/main">
            <a:r>
              <a:t>      "검색 이용자"</a:t>
            </a:r>
          </a:p>
          <a:p xmlns:a="http://schemas.openxmlformats.org/drawingml/2006/main">
            <a:r>
              <a:t>    ],</a:t>
            </a:r>
          </a:p>
          <a:p xmlns:a="http://schemas.openxmlformats.org/drawingml/2006/main">
            <a:r>
              <a:t>    "transfers": [</a:t>
            </a:r>
          </a:p>
          <a:p xmlns:a="http://schemas.openxmlformats.org/drawingml/2006/main">
            <a:r>
              <a:t>      "직원 필드",</a:t>
            </a:r>
          </a:p>
          <a:p xmlns:a="http://schemas.openxmlformats.org/drawingml/2006/main">
            <a:r>
              <a:t>      "동기화 관계",</a:t>
            </a:r>
          </a:p>
          <a:p xmlns:a="http://schemas.openxmlformats.org/drawingml/2006/main">
            <a:r>
              <a:t>      "검색 문맥",</a:t>
            </a:r>
          </a:p>
          <a:p xmlns:a="http://schemas.openxmlformats.org/drawingml/2006/main">
            <a:r>
              <a:t>      "직원 정보 결과"</a:t>
            </a:r>
          </a:p>
          <a:p xmlns:a="http://schemas.openxmlformats.org/drawingml/2006/main">
            <a:r>
              <a:t>    ],</a:t>
            </a:r>
          </a:p>
          <a:p xmlns:a="http://schemas.openxmlformats.org/drawingml/2006/main">
            <a:r>
              <a:t>    "control": "원천 우선순위·중복·변경 대사",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Select people connector / Manual upload / CSV format https://docs.glean.com/get-started/setup/sync-people-data</a:t>
            </a:r>
          </a:p>
          <a:p xmlns:a="http://schemas.openxmlformats.org/drawingml/2006/main">
            <a:r>
              <a:t>홈페이지 https://heen1987-ops.github.io/TS-business-Plan-001/index.html?view=platform-cases&amp;case=PF-C02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"PF-C02",</a:t>
            </a:r>
          </a:p>
          <a:p xmlns:a="http://schemas.openxmlformats.org/drawingml/2006/main">
            <a:r>
              <a:t>    "sourceId": "C02",</a:t>
            </a:r>
          </a:p>
          <a:p xmlns:a="http://schemas.openxmlformats.org/drawingml/2006/main">
            <a:r>
              <a:t>    "title": "Glean People connector",</a:t>
            </a:r>
          </a:p>
          <a:p xmlns:a="http://schemas.openxmlformats.org/drawingml/2006/main">
            <a:r>
              <a:t>    "region": "해외",</a:t>
            </a:r>
          </a:p>
          <a:p xmlns:a="http://schemas.openxmlformats.org/drawingml/2006/main">
            <a:r>
              <a:t>    "owner": "Glean / People connector",</a:t>
            </a:r>
          </a:p>
          <a:p xmlns:a="http://schemas.openxmlformats.org/drawingml/2006/main">
            <a:r>
              <a:t>    "state": "공식 기능 문서 / 2026-10-16 확인",</a:t>
            </a:r>
          </a:p>
          <a:p xmlns:a="http://schemas.openxmlformats.org/drawingml/2006/main">
            <a:r>
              <a:t>    "period": "기존 원장 확인 2026.10.16",</a:t>
            </a:r>
          </a:p>
          <a:p xmlns:a="http://schemas.openxmlformats.org/drawingml/2006/main">
            <a:r>
              <a:t>    "fact": "제품 기능 비교 / 기관 도입 성과 아님",</a:t>
            </a:r>
          </a:p>
          <a:p xmlns:a="http://schemas.openxmlformats.org/drawingml/2006/main">
            <a:r>
              <a:t>    "limit": "CSV 방식은 인사 변경마다 재업로드 필요. 자동 커넥터도 제공. 동기화·조직 맥락 자체는 CCK 독점 기능 아님",</a:t>
            </a:r>
          </a:p>
          <a:p xmlns:a="http://schemas.openxmlformats.org/drawingml/2006/main">
            <a:r>
              <a:t>    "nodes": [</a:t>
            </a:r>
          </a:p>
          <a:p xmlns:a="http://schemas.openxmlformats.org/drawingml/2006/main">
            <a:r>
              <a:t>      "직원 디렉터리",</a:t>
            </a:r>
          </a:p>
          <a:p xmlns:a="http://schemas.openxmlformats.org/drawingml/2006/main">
            <a:r>
              <a:t>      "동기화·필드 매핑",</a:t>
            </a:r>
          </a:p>
          <a:p xmlns:a="http://schemas.openxmlformats.org/drawingml/2006/main">
            <a:r>
              <a:t>      "권한별 검색",</a:t>
            </a:r>
          </a:p>
          <a:p xmlns:a="http://schemas.openxmlformats.org/drawingml/2006/main">
            <a:r>
              <a:t>      "직원 정보 활용"</a:t>
            </a:r>
          </a:p>
          <a:p xmlns:a="http://schemas.openxmlformats.org/drawingml/2006/main">
            <a:r>
              <a:t>    ],</a:t>
            </a:r>
          </a:p>
          <a:p xmlns:a="http://schemas.openxmlformats.org/drawingml/2006/main">
            <a:r>
              <a:t>    "apply": "사번·부서·직책·상사 정보의 원천 우선순위와 변경 반영 체계",</a:t>
            </a:r>
          </a:p>
          <a:p xmlns:a="http://schemas.openxmlformats.org/drawingml/2006/main">
            <a:r>
              <a:t>    "delta": "전보·퇴직·겸직 이후 검색·인계·캐시 회수",</a:t>
            </a:r>
          </a:p>
          <a:p xmlns:a="http://schemas.openxmlformats.org/drawingml/2006/main">
            <a:r>
              <a:t>    "test": "오노출 건수·변경 반영 지연의 기준선·비교 평가",</a:t>
            </a:r>
          </a:p>
          <a:p xmlns:a="http://schemas.openxmlformats.org/drawingml/2006/main">
            <a:r>
              <a:t>    "url": "https://docs.glean.com/get-started/setup/sync-people-data",</a:t>
            </a:r>
          </a:p>
          <a:p xmlns:a="http://schemas.openxmlformats.org/drawingml/2006/main">
            <a:r>
              <a:t>    "urls": [</a:t>
            </a:r>
          </a:p>
          <a:p xmlns:a="http://schemas.openxmlformats.org/drawingml/2006/main">
            <a:r>
              <a:t>      "https://docs.glean.com/get-started/setup/sync-people-data"</a:t>
            </a:r>
          </a:p>
          <a:p xmlns:a="http://schemas.openxmlformats.org/drawingml/2006/main">
            <a:r>
              <a:t>    ],</a:t>
            </a:r>
          </a:p>
          <a:p xmlns:a="http://schemas.openxmlformats.org/drawingml/2006/main">
            <a:r>
              <a:t>    "basis": "Select people connector / Manual upload / CSV format",</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"오노출 건수·변경 반영 지연",</a:t>
            </a:r>
          </a:p>
          <a:p xmlns:a="http://schemas.openxmlformats.org/drawingml/2006/main">
            <a:r>
              <a:t>    "group": "제품 비교",</a:t>
            </a:r>
          </a:p>
          <a:p xmlns:a="http://schemas.openxmlformats.org/drawingml/2006/main">
            <a:r>
              <a:t>    "sourceDetail": "직원 디렉터리 동기화, 권한 적용·역할 기반 접근 및 검색 개인화. 부서·직책·상사 등 필드 매핑",</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"PF-C02",</a:t>
            </a:r>
          </a:p>
          <a:p xmlns:a="http://schemas.openxmlformats.org/drawingml/2006/main">
            <a:r>
              <a:t>    "canonicalId": "PF-C02",</a:t>
            </a:r>
          </a:p>
          <a:p xmlns:a="http://schemas.openxmlformats.org/drawingml/2006/main">
            <a:r>
              <a:t>    "purpose": "직원 데이터 동기화와 조직 검색 지원",</a:t>
            </a:r>
          </a:p>
          <a:p xmlns:a="http://schemas.openxmlformats.org/drawingml/2006/main">
            <a:r>
              <a:t>    "users": "직원·디렉터리 관리자",</a:t>
            </a:r>
          </a:p>
          <a:p xmlns:a="http://schemas.openxmlformats.org/drawingml/2006/main">
            <a:r>
              <a:t>    "scope": [</a:t>
            </a:r>
          </a:p>
          <a:p xmlns:a="http://schemas.openxmlformats.org/drawingml/2006/main">
            <a:r>
              <a:t>      "인물 검색",</a:t>
            </a:r>
          </a:p>
          <a:p xmlns:a="http://schemas.openxmlformats.org/drawingml/2006/main">
            <a:r>
              <a:t>      "조직 필드",</a:t>
            </a:r>
          </a:p>
          <a:p xmlns:a="http://schemas.openxmlformats.org/drawingml/2006/main">
            <a:r>
              <a:t>      "권한 적용"</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"직원 디렉터리",</a:t>
            </a:r>
          </a:p>
          <a:p xmlns:a="http://schemas.openxmlformats.org/drawingml/2006/main">
            <a:r>
              <a:t>        "detail": "사람 ID·부서·직책·관리자 필드 정의",</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"인물 검색 / 조직 필드 / 권한 적용",</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"People connector",</a:t>
            </a:r>
          </a:p>
          <a:p xmlns:a="http://schemas.openxmlformats.org/drawingml/2006/main">
            <a:r>
              <a:t>        "detail": "People connector의 필드 변환과 동기화",</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"검색 이용자",</a:t>
            </a:r>
          </a:p>
          <a:p xmlns:a="http://schemas.openxmlformats.org/drawingml/2006/main">
            <a:r>
              <a:t>        "detail": "허용된 직원 정보와 검색 문맥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"사람·조직 필드",</a:t>
            </a:r>
          </a:p>
          <a:p xmlns:a="http://schemas.openxmlformats.org/drawingml/2006/main">
            <a:r>
              <a:t>        "detail": "지정 원천·중복 직원·삭제 이벤트 정리",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"원천 변경·퇴직·삭제의 동기화 결과 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"직원 디렉터리",</a:t>
            </a:r>
          </a:p>
          <a:p xmlns:a="http://schemas.openxmlformats.org/drawingml/2006/main">
            <a:r>
              <a:t>        "input": "사람 ID·부서·직책·관리자 필드 정의",</a:t>
            </a:r>
          </a:p>
          <a:p xmlns:a="http://schemas.openxmlformats.org/drawingml/2006/main">
            <a:r>
              <a:t>        "process": "지정 원천·중복 직원·삭제 이벤트 정리",</a:t>
            </a:r>
          </a:p>
          <a:p xmlns:a="http://schemas.openxmlformats.org/drawingml/2006/main">
            <a:r>
              <a:t>        "output": "직원 필드"</a:t>
            </a:r>
          </a:p>
          <a:p xmlns:a="http://schemas.openxmlformats.org/drawingml/2006/main">
            <a:r>
              <a:t>      },</a:t>
            </a:r>
          </a:p>
          <a:p xmlns:a="http://schemas.openxmlformats.org/drawingml/2006/main">
            <a:r>
              <a:t>      {</a:t>
            </a:r>
          </a:p>
          <a:p xmlns:a="http://schemas.openxmlformats.org/drawingml/2006/main">
            <a:r>
              <a:t>        "title": "동기화·필드 매핑",</a:t>
            </a:r>
          </a:p>
          <a:p xmlns:a="http://schemas.openxmlformats.org/drawingml/2006/main">
            <a:r>
              <a:t>        "input": "직원 필드",</a:t>
            </a:r>
          </a:p>
          <a:p xmlns:a="http://schemas.openxmlformats.org/drawingml/2006/main">
            <a:r>
              <a:t>        "process": "People connector의 필드 변환과 동기화",</a:t>
            </a:r>
          </a:p>
          <a:p xmlns:a="http://schemas.openxmlformats.org/drawingml/2006/main">
            <a:r>
              <a:t>        "output": "동기화 관계"</a:t>
            </a:r>
          </a:p>
          <a:p xmlns:a="http://schemas.openxmlformats.org/drawingml/2006/main">
            <a:r>
              <a:t>      },</a:t>
            </a:r>
          </a:p>
          <a:p xmlns:a="http://schemas.openxmlformats.org/drawingml/2006/main">
            <a:r>
              <a:t>      {</a:t>
            </a:r>
          </a:p>
          <a:p xmlns:a="http://schemas.openxmlformats.org/drawingml/2006/main">
            <a:r>
              <a:t>        "title": "권한별 검색",</a:t>
            </a:r>
          </a:p>
          <a:p xmlns:a="http://schemas.openxmlformats.org/drawingml/2006/main">
            <a:r>
              <a:t>        "input": "동기화 관계",</a:t>
            </a:r>
          </a:p>
          <a:p xmlns:a="http://schemas.openxmlformats.org/drawingml/2006/main">
            <a:r>
              <a:t>        "process": "원천 우선순위·중복·변경 대사",</a:t>
            </a:r>
          </a:p>
          <a:p xmlns:a="http://schemas.openxmlformats.org/drawingml/2006/main">
            <a:r>
              <a:t>        "output": "검색 문맥"</a:t>
            </a:r>
          </a:p>
          <a:p xmlns:a="http://schemas.openxmlformats.org/drawingml/2006/main">
            <a:r>
              <a:t>      },</a:t>
            </a:r>
          </a:p>
          <a:p xmlns:a="http://schemas.openxmlformats.org/drawingml/2006/main">
            <a:r>
              <a:t>      {</a:t>
            </a:r>
          </a:p>
          <a:p xmlns:a="http://schemas.openxmlformats.org/drawingml/2006/main">
            <a:r>
              <a:t>        "title": "직원 정보 활용",</a:t>
            </a:r>
          </a:p>
          <a:p xmlns:a="http://schemas.openxmlformats.org/drawingml/2006/main">
            <a:r>
              <a:t>        "input": "검색 문맥",</a:t>
            </a:r>
          </a:p>
          <a:p xmlns:a="http://schemas.openxmlformats.org/drawingml/2006/main">
            <a:r>
              <a:t>        "process": "허용된 직원 정보와 검색 문맥 제공",</a:t>
            </a:r>
          </a:p>
          <a:p xmlns:a="http://schemas.openxmlformats.org/drawingml/2006/main">
            <a:r>
              <a:t>        "output": "직원 정보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"직원 원천의 부서·직책 변경을 검색에 반영",</a:t>
            </a:r>
          </a:p>
          <a:p xmlns:a="http://schemas.openxmlformats.org/drawingml/2006/main">
            <a:r>
              <a:t>      "exception": "중복 계정·삭제 이벤트 누락·CSV 갱신 지연",</a:t>
            </a:r>
          </a:p>
          <a:p xmlns:a="http://schemas.openxmlformats.org/drawingml/2006/main">
            <a:r>
              <a:t>      "evidence": "원천–동기화–검색 결과의 전후 스냅샷과 지연",</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"직원·디렉터리 관리자",</a:t>
            </a:r>
          </a:p>
          <a:p xmlns:a="http://schemas.openxmlformats.org/drawingml/2006/main">
            <a:r>
              <a:t>          "processing": "사람 ID·부서·직책·관리자 필드 정의",</a:t>
            </a:r>
          </a:p>
          <a:p xmlns:a="http://schemas.openxmlformats.org/drawingml/2006/main">
            <a:r>
              <a:t>          "output": "직원 필드"</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"사람·조직 필드",</a:t>
            </a:r>
          </a:p>
          <a:p xmlns:a="http://schemas.openxmlformats.org/drawingml/2006/main">
            <a:r>
              <a:t>          "processing": "지정 원천·중복 직원·삭제 이벤트 정리",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"직원 필드",</a:t>
            </a:r>
          </a:p>
          <a:p xmlns:a="http://schemas.openxmlformats.org/drawingml/2006/main">
            <a:r>
              <a:t>          "processing": "People connector의 필드 변환과 동기화",</a:t>
            </a:r>
          </a:p>
          <a:p xmlns:a="http://schemas.openxmlformats.org/drawingml/2006/main">
            <a:r>
              <a:t>          "output": "검색 문맥"</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"검색 문맥",</a:t>
            </a:r>
          </a:p>
          <a:p xmlns:a="http://schemas.openxmlformats.org/drawingml/2006/main">
            <a:r>
              <a:t>          "processing": "허용된 직원 정보와 검색 문맥 제공",</a:t>
            </a:r>
          </a:p>
          <a:p xmlns:a="http://schemas.openxmlformats.org/drawingml/2006/main">
            <a:r>
              <a:t>          "output": "직원 정보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"원천 변경·퇴직·삭제의 동기화 결과 대사",</a:t>
            </a:r>
          </a:p>
          <a:p xmlns:a="http://schemas.openxmlformats.org/drawingml/2006/main">
            <a:r>
              <a:t>          "output": "원천–동기화–검색 결과의 전후 스냅샷과 지연"</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"원천 변경·퇴직·삭제의 동기화 결과 대사",</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"Select people connector / Manual upload / CSV format",</a:t>
            </a:r>
          </a:p>
          <a:p xmlns:a="http://schemas.openxmlformats.org/drawingml/2006/main">
            <a:r>
              <a:t>        "url": "https://docs.glean.com/get-started/setup/sync-people-data"</a:t>
            </a:r>
          </a:p>
          <a:p xmlns:a="http://schemas.openxmlformats.org/drawingml/2006/main">
            <a:r>
              <a:t>      }</a:t>
            </a:r>
          </a:p>
          <a:p xmlns:a="http://schemas.openxmlformats.org/drawingml/2006/main">
            <a:r>
              <a:t>    ],</a:t>
            </a:r>
          </a:p>
          <a:p xmlns:a="http://schemas.openxmlformats.org/drawingml/2006/main">
            <a:r>
              <a:t>    "implication": "사번·부서·직책·상사 정보의 원천 우선순위와 변경 반영 체계",</a:t>
            </a:r>
          </a:p>
          <a:p xmlns:a="http://schemas.openxmlformats.org/drawingml/2006/main">
            <a:r>
              <a:t>    "local": "사번·부서·직책·상사 정보의 원천 우선순위와 변경 반영 체계",</a:t>
            </a:r>
          </a:p>
          <a:p xmlns:a="http://schemas.openxmlformats.org/drawingml/2006/main">
            <a:r>
              <a:t>    "sourceDetail": "직원 디렉터리 동기화, 권한 적용·역할 기반 접근 및 검색 개인화. 부서·직책·상사 등 필드 매핑",</a:t>
            </a:r>
          </a:p>
          <a:p xmlns:a="http://schemas.openxmlformats.org/drawingml/2006/main">
            <a:r>
              <a:t>    "narrative": [</a:t>
            </a:r>
          </a:p>
          <a:p xmlns:a="http://schemas.openxmlformats.org/drawingml/2006/main">
            <a:r>
              <a:t>      "Glean People connector의 직원 정보 동기화 기능을 조직 기반 검색 관점에서 분석한 사례. 인물·부서·직책·관리자 필드를 검색 문맥과 연결하는 구성요소.",</a:t>
            </a:r>
          </a:p>
          <a:p xmlns:a="http://schemas.openxmlformats.org/drawingml/2006/main">
            <a:r>
              <a:t>      "원천 직원 데이터의 식별자·필드 매핑, 동기화, 검색 색인, 접근 통제와 삭제 반영의 흐름으로 재구성. 복수 원천의 같은 사람과 동명이인을 구분하고 변경 이벤트가 검색 결과에 반영되는 상태를 관측하는 설계.",</a:t>
            </a:r>
          </a:p>
          <a:p xmlns:a="http://schemas.openxmlformats.org/drawingml/2006/main">
            <a:r>
              <a:t>      "TS에서는 데이터 연계 성공과 조직 기반 추론 성공을 별도 검수할 필요. 사번 매칭·조직 코드 변경·퇴직 삭제의 대사와 동일 요청의 직무별 결과 비교를 나누고 오류 발생 시 원천과 색인의 어느 단계에서 지연됐는지 추적."</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"인물 검색 접점",</a:t>
            </a:r>
          </a:p>
          <a:p xmlns:a="http://schemas.openxmlformats.org/drawingml/2006/main">
            <a:r>
              <a:t>          "layer": "이용 접점",</a:t>
            </a:r>
          </a:p>
          <a:p xmlns:a="http://schemas.openxmlformats.org/drawingml/2006/main">
            <a:r>
              <a:t>          "detail": "직원·디렉터리 관리자",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"사람 ID·부서",</a:t>
            </a:r>
          </a:p>
          <a:p xmlns:a="http://schemas.openxmlformats.org/drawingml/2006/main">
            <a:r>
              <a:t>          "layer": "업무 문맥",</a:t>
            </a:r>
          </a:p>
          <a:p xmlns:a="http://schemas.openxmlformats.org/drawingml/2006/main">
            <a:r>
              <a:t>          "detail": "사람 ID·부서·직책·관리자 필드 정의",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"동기화 자료 조회",</a:t>
            </a:r>
          </a:p>
          <a:p xmlns:a="http://schemas.openxmlformats.org/drawingml/2006/main">
            <a:r>
              <a:t>          "layer": "자료 조회",</a:t>
            </a:r>
          </a:p>
          <a:p xmlns:a="http://schemas.openxmlformats.org/drawingml/2006/main">
            <a:r>
              <a:t>          "detail": "직원 필드",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"People 필드 매핑",</a:t>
            </a:r>
          </a:p>
          <a:p xmlns:a="http://schemas.openxmlformats.org/drawingml/2006/main">
            <a:r>
              <a:t>          "layer": "핵심 처리",</a:t>
            </a:r>
          </a:p>
          <a:p xmlns:a="http://schemas.openxmlformats.org/drawingml/2006/main">
            <a:r>
              <a:t>          "detail": "People connector의 필드 변환과 동기화",</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"중복·삭제 검사",</a:t>
            </a:r>
          </a:p>
          <a:p xmlns:a="http://schemas.openxmlformats.org/drawingml/2006/main">
            <a:r>
              <a:t>          "layer": "결과 검증",</a:t>
            </a:r>
          </a:p>
          <a:p xmlns:a="http://schemas.openxmlformats.org/drawingml/2006/main">
            <a:r>
              <a:t>          "detail": "원천 우선순위·중복·변경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"관리자 대사",</a:t>
            </a:r>
          </a:p>
          <a:p xmlns:a="http://schemas.openxmlformats.org/drawingml/2006/main">
            <a:r>
              <a:t>          "layer": "사람 확인",</a:t>
            </a:r>
          </a:p>
          <a:p xmlns:a="http://schemas.openxmlformats.org/drawingml/2006/main">
            <a:r>
              <a:t>          "detail": "직원 원천의 부서·직책 변경을 검색에 반영",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"검색 문맥 제공",</a:t>
            </a:r>
          </a:p>
          <a:p xmlns:a="http://schemas.openxmlformats.org/drawingml/2006/main">
            <a:r>
              <a:t>          "layer": "업무 연결",</a:t>
            </a:r>
          </a:p>
          <a:p xmlns:a="http://schemas.openxmlformats.org/drawingml/2006/main">
            <a:r>
              <a:t>          "detail": "허용된 직원 정보와 검색 문맥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"전보·퇴직 반영",</a:t>
            </a:r>
          </a:p>
          <a:p xmlns:a="http://schemas.openxmlformats.org/drawingml/2006/main">
            <a:r>
              <a:t>          "layer": "운영 관측",</a:t>
            </a:r>
          </a:p>
          <a:p xmlns:a="http://schemas.openxmlformats.org/drawingml/2006/main">
            <a:r>
              <a:t>          "detail": "원천 변경·퇴직·삭제의 동기화 결과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"지정 직원 원천",</a:t>
            </a:r>
          </a:p>
          <a:p xmlns:a="http://schemas.openxmlformats.org/drawingml/2006/main">
            <a:r>
              <a:t>          "layer": "데이터 원천",</a:t>
            </a:r>
          </a:p>
          <a:p xmlns:a="http://schemas.openxmlformats.org/drawingml/2006/main">
            <a:r>
              <a:t>          "detail": "사람·조직 필드",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"필드 변환·삭제 전파",</a:t>
            </a:r>
          </a:p>
          <a:p xmlns:a="http://schemas.openxmlformats.org/drawingml/2006/main">
            <a:r>
              <a:t>          "layer": "준비·갱신",</a:t>
            </a:r>
          </a:p>
          <a:p xmlns:a="http://schemas.openxmlformats.org/drawingml/2006/main">
            <a:r>
              <a:t>          "detail": "지정 원천·중복 직원·삭제 이벤트 정리",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"사람·조직 색인",</a:t>
            </a:r>
          </a:p>
          <a:p xmlns:a="http://schemas.openxmlformats.org/drawingml/2006/main">
            <a:r>
              <a:t>          "layer": "상태·지식 저장",</a:t>
            </a:r>
          </a:p>
          <a:p xmlns:a="http://schemas.openxmlformats.org/drawingml/2006/main">
            <a:r>
              <a:t>          "detail": "원천–동기화–검색 결과의 전후 스냅샷과 지연",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"원천 우선순위",</a:t>
            </a:r>
          </a:p>
          <a:p xmlns:a="http://schemas.openxmlformats.org/drawingml/2006/main">
            <a:r>
              <a:t>          "layer": "권한·정책",</a:t>
            </a:r>
          </a:p>
          <a:p xmlns:a="http://schemas.openxmlformats.org/drawingml/2006/main">
            <a:r>
              <a:t>          "detail": "중복 계정·삭제 이벤트 누락·CSV 갱신 지연",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"사람 ID·부서·직책·관리자 필드 정의",</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"직원 필드",</a:t>
            </a:r>
          </a:p>
          <a:p xmlns:a="http://schemas.openxmlformats.org/drawingml/2006/main">
            <a:r>
              <a:t>          "check": "원천 우선순위·중복·변경 대사"</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"동기화 관계",</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"검색 문맥",</a:t>
            </a:r>
          </a:p>
          <a:p xmlns:a="http://schemas.openxmlformats.org/drawingml/2006/main">
            <a:r>
              <a:t>          "check": "중복 계정·삭제 이벤트 누락·CSV 갱신 지연"</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"검색 문맥",</a:t>
            </a:r>
          </a:p>
          <a:p xmlns:a="http://schemas.openxmlformats.org/drawingml/2006/main">
            <a:r>
              <a:t>          "check": "허용된 직원 정보와 검색 문맥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"직원 정보 결과",</a:t>
            </a:r>
          </a:p>
          <a:p xmlns:a="http://schemas.openxmlformats.org/drawingml/2006/main">
            <a:r>
              <a:t>          "check": "원천–동기화–검색 결과의 전후 스냅샷과 지연"</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"직원 데이터 동기화와 조직 검색 지원 / 인물 검색·조직 필드·권한 적용",</a:t>
            </a:r>
          </a:p>
          <a:p xmlns:a="http://schemas.openxmlformats.org/drawingml/2006/main">
            <a:r>
              <a:t>        "extension": "사번·부서·직책·상사 정보의 원천 우선순위와 변경 반영 체계"</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"중복 계정·삭제 이벤트 누락·CSV 갱신 지연",</a:t>
            </a:r>
          </a:p>
          <a:p xmlns:a="http://schemas.openxmlformats.org/drawingml/2006/main">
            <a:r>
              <a:t>        "hold": "원천 우선순위·중복·변경 대사",</a:t>
            </a:r>
          </a:p>
          <a:p xmlns:a="http://schemas.openxmlformats.org/drawingml/2006/main">
            <a:r>
              <a:t>        "recovery": "원천 변경·퇴직·삭제의 동기화 결과 대사",</a:t>
            </a:r>
          </a:p>
          <a:p xmlns:a="http://schemas.openxmlformats.org/drawingml/2006/main">
            <a:r>
              <a:t>        "evidence": "원천–동기화–검색 결과의 전후 스냅샷과 지연"</a:t>
            </a:r>
          </a:p>
          <a:p xmlns:a="http://schemas.openxmlformats.org/drawingml/2006/main">
            <a:r>
              <a:t>      },</a:t>
            </a:r>
          </a:p>
          <a:p xmlns:a="http://schemas.openxmlformats.org/drawingml/2006/main">
            <a:r>
              <a:t>      "data": {</a:t>
            </a:r>
          </a:p>
          <a:p xmlns:a="http://schemas.openxmlformats.org/drawingml/2006/main">
            <a:r>
              <a:t>        "source": "사람·조직 필드",</a:t>
            </a:r>
          </a:p>
          <a:p xmlns:a="http://schemas.openxmlformats.org/drawingml/2006/main">
            <a:r>
              <a:t>        "prepare": "지정 원천·중복 직원·삭제 이벤트 정리",</a:t>
            </a:r>
          </a:p>
          <a:p xmlns:a="http://schemas.openxmlformats.org/drawingml/2006/main">
            <a:r>
              <a:t>        "output": "직원 필드",</a:t>
            </a:r>
          </a:p>
          <a:p xmlns:a="http://schemas.openxmlformats.org/drawingml/2006/main">
            <a:r>
              <a:t>        "refresh": "원천 변경·퇴직·삭제의 동기화 결과 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"PF-C02",</a:t>
            </a:r>
          </a:p>
          <a:p xmlns:a="http://schemas.openxmlformats.org/drawingml/2006/main">
            <a:r>
              <a:t>    "success": [</a:t>
            </a:r>
          </a:p>
          <a:p xmlns:a="http://schemas.openxmlformats.org/drawingml/2006/main">
            <a:r>
              <a:t>      "사람 정보의 지정 원천 동기화",</a:t>
            </a:r>
          </a:p>
          <a:p xmlns:a="http://schemas.openxmlformats.org/drawingml/2006/main">
            <a:r>
              <a:t>      "조직 필드의 일관된 매핑"</a:t>
            </a:r>
          </a:p>
          <a:p xmlns:a="http://schemas.openxmlformats.org/drawingml/2006/main">
            <a:r>
              <a:t>    ],</a:t>
            </a:r>
          </a:p>
          <a:p xmlns:a="http://schemas.openxmlformats.org/drawingml/2006/main">
            <a:r>
              <a:t>    "risks": [</a:t>
            </a:r>
          </a:p>
          <a:p xmlns:a="http://schemas.openxmlformats.org/drawingml/2006/main">
            <a:r>
              <a:t>      "복수 원천의 직원 중복",</a:t>
            </a:r>
          </a:p>
          <a:p xmlns:a="http://schemas.openxmlformats.org/drawingml/2006/main">
            <a:r>
              <a:t>      "삭제·퇴직·부서 변경 반영 누락"</a:t>
            </a:r>
          </a:p>
          <a:p xmlns:a="http://schemas.openxmlformats.org/drawingml/2006/main">
            <a:r>
              <a:t>    ],</a:t>
            </a:r>
          </a:p>
          <a:p xmlns:a="http://schemas.openxmlformats.org/drawingml/2006/main">
            <a:r>
              <a:t>    "architecture": [</a:t>
            </a:r>
          </a:p>
          <a:p xmlns:a="http://schemas.openxmlformats.org/drawingml/2006/main">
            <a:r>
              <a:t>      "직원 디렉터리",</a:t>
            </a:r>
          </a:p>
          <a:p xmlns:a="http://schemas.openxmlformats.org/drawingml/2006/main">
            <a:r>
              <a:t>      "People connector",</a:t>
            </a:r>
          </a:p>
          <a:p xmlns:a="http://schemas.openxmlformats.org/drawingml/2006/main">
            <a:r>
              <a:t>      "사람·조직 필드",</a:t>
            </a:r>
          </a:p>
          <a:p xmlns:a="http://schemas.openxmlformats.org/drawingml/2006/main">
            <a:r>
              <a:t>      "검색 이용자"</a:t>
            </a:r>
          </a:p>
          <a:p xmlns:a="http://schemas.openxmlformats.org/drawingml/2006/main">
            <a:r>
              <a:t>    ],</a:t>
            </a:r>
          </a:p>
          <a:p xmlns:a="http://schemas.openxmlformats.org/drawingml/2006/main">
            <a:r>
              <a:t>    "transfers": [</a:t>
            </a:r>
          </a:p>
          <a:p xmlns:a="http://schemas.openxmlformats.org/drawingml/2006/main">
            <a:r>
              <a:t>      "직원 필드",</a:t>
            </a:r>
          </a:p>
          <a:p xmlns:a="http://schemas.openxmlformats.org/drawingml/2006/main">
            <a:r>
              <a:t>      "동기화 관계",</a:t>
            </a:r>
          </a:p>
          <a:p xmlns:a="http://schemas.openxmlformats.org/drawingml/2006/main">
            <a:r>
              <a:t>      "검색 문맥",</a:t>
            </a:r>
          </a:p>
          <a:p xmlns:a="http://schemas.openxmlformats.org/drawingml/2006/main">
            <a:r>
              <a:t>      "직원 정보 결과"</a:t>
            </a:r>
          </a:p>
          <a:p xmlns:a="http://schemas.openxmlformats.org/drawingml/2006/main">
            <a:r>
              <a:t>    ],</a:t>
            </a:r>
          </a:p>
          <a:p xmlns:a="http://schemas.openxmlformats.org/drawingml/2006/main">
            <a:r>
              <a:t>    "control": "원천 우선순위·중복·변경 대사",</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Select people connector / Manual upload / CSV format https://docs.glean.com/get-started/setup/sync-people-data</a:t>
            </a:r>
          </a:p>
          <a:p xmlns:a="http://schemas.openxmlformats.org/drawingml/2006/main">
            <a:r>
              <a:t>홈페이지 https://heen1987-ops.github.io/TS-business-Plan-001/index.html?view=platform-cases&amp;case=PF-C02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"PF-C03",</a:t>
            </a:r>
          </a:p>
          <a:p xmlns:a="http://schemas.openxmlformats.org/drawingml/2006/main">
            <a:r>
              <a:t>    "sourceId": "C03",</a:t>
            </a:r>
          </a:p>
          <a:p xmlns:a="http://schemas.openxmlformats.org/drawingml/2006/main">
            <a:r>
              <a:t>    "title": "더존 Amaranth 10 ONE AI",</a:t>
            </a:r>
          </a:p>
          <a:p xmlns:a="http://schemas.openxmlformats.org/drawingml/2006/main">
            <a:r>
              <a:t>    "region": "국내",</a:t>
            </a:r>
          </a:p>
          <a:p xmlns:a="http://schemas.openxmlformats.org/drawingml/2006/main">
            <a:r>
              <a:t>    "owner": "더존 / Amaranth 10 ONE AI",</a:t>
            </a:r>
          </a:p>
          <a:p xmlns:a="http://schemas.openxmlformats.org/drawingml/2006/main">
            <a:r>
              <a:t>    "state": "2026-02-06 제안서 및 로컬 정리 / 고객 운영 검증 아님",</a:t>
            </a:r>
          </a:p>
          <a:p xmlns:a="http://schemas.openxmlformats.org/drawingml/2006/main">
            <a:r>
              <a:t>    "period": "기존 원장 확인 2026.10.16",</a:t>
            </a:r>
          </a:p>
          <a:p xmlns:a="http://schemas.openxmlformats.org/drawingml/2006/main">
            <a:r>
              <a:t>    "fact": "제품 설명 비교 / 기관 도입 사례로 집계 안 함",</a:t>
            </a:r>
          </a:p>
          <a:p xmlns:a="http://schemas.openxmlformats.org/drawingml/2006/main">
            <a:r>
              <a:t>    "limit": "제품 기능 설명과 고객 구현·성과를 구분. 특정 ERP 의존성 및 TS 타 시스템 연계 공수는 미확인",</a:t>
            </a:r>
          </a:p>
          <a:p xmlns:a="http://schemas.openxmlformats.org/drawingml/2006/main">
            <a:r>
              <a:t>    "nodes": [</a:t>
            </a:r>
          </a:p>
          <a:p xmlns:a="http://schemas.openxmlformats.org/drawingml/2006/main">
            <a:r>
              <a:t>      "ERP·그룹웨어",</a:t>
            </a:r>
          </a:p>
          <a:p xmlns:a="http://schemas.openxmlformats.org/drawingml/2006/main">
            <a:r>
              <a:t>      "문서·업무 지식",</a:t>
            </a:r>
          </a:p>
          <a:p xmlns:a="http://schemas.openxmlformats.org/drawingml/2006/main">
            <a:r>
              <a:t>      "업무 에이전트",</a:t>
            </a:r>
          </a:p>
          <a:p xmlns:a="http://schemas.openxmlformats.org/drawingml/2006/main">
            <a:r>
              <a:t>      "근태·결재 연계"</a:t>
            </a:r>
          </a:p>
          <a:p xmlns:a="http://schemas.openxmlformats.org/drawingml/2006/main">
            <a:r>
              <a:t>    ],</a:t>
            </a:r>
          </a:p>
          <a:p xmlns:a="http://schemas.openxmlformats.org/drawingml/2006/main">
            <a:r>
              <a:t>    "apply": "직원의 ERP·결재 문맥을 활용하되 실제 도입본의 실행·승인 기능 검증",</a:t>
            </a:r>
          </a:p>
          <a:p xmlns:a="http://schemas.openxmlformats.org/drawingml/2006/main">
            <a:r>
              <a:t>    "delta": "필수 항목·담당자·승인·API 처리 연결",</a:t>
            </a:r>
          </a:p>
          <a:p xmlns:a="http://schemas.openxmlformats.org/drawingml/2006/main">
            <a:r>
              <a:t>    "test": "완료율·재작업·중복 처리의 기준선·비교 평가",</a:t>
            </a:r>
          </a:p>
          <a:p xmlns:a="http://schemas.openxmlformats.org/drawingml/2006/main">
            <a:r>
              <a:t>    "url": null,</a:t>
            </a:r>
          </a:p>
          <a:p xmlns:a="http://schemas.openxmlformats.org/drawingml/2006/main">
            <a:r>
              <a:t>    "urls": [],</a:t>
            </a:r>
          </a:p>
          <a:p xmlns:a="http://schemas.openxmlformats.org/drawingml/2006/main">
            <a:r>
              <a:t>    "basis": "ONE_AI_제안서(Amaranth10_비영리)_260206_V1.0.pdf p.8 / 동일명 md p.16·22·39 정리",</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"완료율·재작업·중복 처리",</a:t>
            </a:r>
          </a:p>
          <a:p xmlns:a="http://schemas.openxmlformats.org/drawingml/2006/main">
            <a:r>
              <a:t>    "group": "제품 비교",</a:t>
            </a:r>
          </a:p>
          <a:p xmlns:a="http://schemas.openxmlformats.org/drawingml/2006/main">
            <a:r>
              <a:t>    "sourceDetail": "ERP·그룹웨어·RAG 연계. 로컬 정리에 권한·업무 에이전트·근태 신청·전자결재 분석 설명",</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"PF-C03",</a:t>
            </a:r>
          </a:p>
          <a:p xmlns:a="http://schemas.openxmlformats.org/drawingml/2006/main">
            <a:r>
              <a:t>    "canonicalId": "PF-C03",</a:t>
            </a:r>
          </a:p>
          <a:p xmlns:a="http://schemas.openxmlformats.org/drawingml/2006/main">
            <a:r>
              <a:t>    "purpose": "ERP·그룹웨어 맥락의 업무 지원",</a:t>
            </a:r>
          </a:p>
          <a:p xmlns:a="http://schemas.openxmlformats.org/drawingml/2006/main">
            <a:r>
              <a:t>    "users": "직원·결재자·ERP 운영자",</a:t>
            </a:r>
          </a:p>
          <a:p xmlns:a="http://schemas.openxmlformats.org/drawingml/2006/main">
            <a:r>
              <a:t>    "scope": [</a:t>
            </a:r>
          </a:p>
          <a:p xmlns:a="http://schemas.openxmlformats.org/drawingml/2006/main">
            <a:r>
              <a:t>      "문서 지원",</a:t>
            </a:r>
          </a:p>
          <a:p xmlns:a="http://schemas.openxmlformats.org/drawingml/2006/main">
            <a:r>
              <a:t>      "근태",</a:t>
            </a:r>
          </a:p>
          <a:p xmlns:a="http://schemas.openxmlformats.org/drawingml/2006/main">
            <a:r>
              <a:t>      "전자결재"</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"ERP·그룹웨어",</a:t>
            </a:r>
          </a:p>
          <a:p xmlns:a="http://schemas.openxmlformats.org/drawingml/2006/main">
            <a:r>
              <a:t>        "detail": "직원·대상 업무·실행 권한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"문서 지원 / 근태 / 전자결재",</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"ONE AI 업무 지원",</a:t>
            </a:r>
          </a:p>
          <a:p xmlns:a="http://schemas.openxmlformats.org/drawingml/2006/main">
            <a:r>
              <a:t>        "detail": "문서 RAG와 업무 요청의 구조화",</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"직원·결재 담당",</a:t>
            </a:r>
          </a:p>
          <a:p xmlns:a="http://schemas.openxmlformats.org/drawingml/2006/main">
            <a:r>
              <a:t>        "detail": "초안 확인 후 업무 시스템의 처리 절차 연결",</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"문서·업무 지식",</a:t>
            </a:r>
          </a:p>
          <a:p xmlns:a="http://schemas.openxmlformats.org/drawingml/2006/main">
            <a:r>
              <a:t>        "detail": "ERP·그룹웨어 문서·인사·결재 자료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"도입본 기능·승인·실행 결과의 비교 시험",</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"ERP·그룹웨어",</a:t>
            </a:r>
          </a:p>
          <a:p xmlns:a="http://schemas.openxmlformats.org/drawingml/2006/main">
            <a:r>
              <a:t>        "input": "직원·대상 업무·실행 권한 확인",</a:t>
            </a:r>
          </a:p>
          <a:p xmlns:a="http://schemas.openxmlformats.org/drawingml/2006/main">
            <a:r>
              <a:t>        "process": "ERP·그룹웨어 문서·인사·결재 자료 연결",</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"title": "문서·업무 지식",</a:t>
            </a:r>
          </a:p>
          <a:p xmlns:a="http://schemas.openxmlformats.org/drawingml/2006/main">
            <a:r>
              <a:t>        "input": "업무 요청",</a:t>
            </a:r>
          </a:p>
          <a:p xmlns:a="http://schemas.openxmlformats.org/drawingml/2006/main">
            <a:r>
              <a:t>        "process": "문서 RAG와 업무 요청의 구조화",</a:t>
            </a:r>
          </a:p>
          <a:p xmlns:a="http://schemas.openxmlformats.org/drawingml/2006/main">
            <a:r>
              <a:t>        "output": "관련 문맥"</a:t>
            </a:r>
          </a:p>
          <a:p xmlns:a="http://schemas.openxmlformats.org/drawingml/2006/main">
            <a:r>
              <a:t>      },</a:t>
            </a:r>
          </a:p>
          <a:p xmlns:a="http://schemas.openxmlformats.org/drawingml/2006/main">
            <a:r>
              <a:t>      {</a:t>
            </a:r>
          </a:p>
          <a:p xmlns:a="http://schemas.openxmlformats.org/drawingml/2006/main">
            <a:r>
              <a:t>        "title": "업무 에이전트",</a:t>
            </a:r>
          </a:p>
          <a:p xmlns:a="http://schemas.openxmlformats.org/drawingml/2006/main">
            <a:r>
              <a:t>        "input": "관련 문맥",</a:t>
            </a:r>
          </a:p>
          <a:p xmlns:a="http://schemas.openxmlformats.org/drawingml/2006/main">
            <a:r>
              <a:t>        "process": "도입본 기능·승인·결과 확인",</a:t>
            </a:r>
          </a:p>
          <a:p xmlns:a="http://schemas.openxmlformats.org/drawingml/2006/main">
            <a:r>
              <a:t>        "output": "업무 초안"</a:t>
            </a:r>
          </a:p>
          <a:p xmlns:a="http://schemas.openxmlformats.org/drawingml/2006/main">
            <a:r>
              <a:t>      },</a:t>
            </a:r>
          </a:p>
          <a:p xmlns:a="http://schemas.openxmlformats.org/drawingml/2006/main">
            <a:r>
              <a:t>      {</a:t>
            </a:r>
          </a:p>
          <a:p xmlns:a="http://schemas.openxmlformats.org/drawingml/2006/main">
            <a:r>
              <a:t>        "title": "근태·결재 연계",</a:t>
            </a:r>
          </a:p>
          <a:p xmlns:a="http://schemas.openxmlformats.org/drawingml/2006/main">
            <a:r>
              <a:t>        "input": "업무 초안",</a:t>
            </a:r>
          </a:p>
          <a:p xmlns:a="http://schemas.openxmlformats.org/drawingml/2006/main">
            <a:r>
              <a:t>        "process": "초안 확인 후 업무 시스템의 처리 절차 연결",</a:t>
            </a:r>
          </a:p>
          <a:p xmlns:a="http://schemas.openxmlformats.org/drawingml/2006/main">
            <a:r>
              <a:t>        "output": "근태·결재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"근태 요청을 확인하고 해당 전자결재 절차로 연결",</a:t>
            </a:r>
          </a:p>
          <a:p xmlns:a="http://schemas.openxmlformats.org/drawingml/2006/main">
            <a:r>
              <a:t>      "exception": "잔여일수 부족·전결권 부재·중복 상신",</a:t>
            </a:r>
          </a:p>
          <a:p xmlns:a="http://schemas.openxmlformats.org/drawingml/2006/main">
            <a:r>
              <a:t>      "evidence": "도입본 기능 목록·사용자 확인·원천 접수 결과",</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"직원·결재자·ERP 운영자",</a:t>
            </a:r>
          </a:p>
          <a:p xmlns:a="http://schemas.openxmlformats.org/drawingml/2006/main">
            <a:r>
              <a:t>          "processing": "직원·대상 업무·실행 권한 확인",</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"문서·업무 지식",</a:t>
            </a:r>
          </a:p>
          <a:p xmlns:a="http://schemas.openxmlformats.org/drawingml/2006/main">
            <a:r>
              <a:t>          "processing": "ERP·그룹웨어 문서·인사·결재 자료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"업무 요청",</a:t>
            </a:r>
          </a:p>
          <a:p xmlns:a="http://schemas.openxmlformats.org/drawingml/2006/main">
            <a:r>
              <a:t>          "processing": "문서 RAG와 업무 요청의 구조화",</a:t>
            </a:r>
          </a:p>
          <a:p xmlns:a="http://schemas.openxmlformats.org/drawingml/2006/main">
            <a:r>
              <a:t>          "output": "업무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"업무 초안",</a:t>
            </a:r>
          </a:p>
          <a:p xmlns:a="http://schemas.openxmlformats.org/drawingml/2006/main">
            <a:r>
              <a:t>          "processing": "초안 확인 후 업무 시스템의 처리 절차 연결",</a:t>
            </a:r>
          </a:p>
          <a:p xmlns:a="http://schemas.openxmlformats.org/drawingml/2006/main">
            <a:r>
              <a:t>          "output": "근태·결재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"도입본 기능·승인·실행 결과의 비교 시험",</a:t>
            </a:r>
          </a:p>
          <a:p xmlns:a="http://schemas.openxmlformats.org/drawingml/2006/main">
            <a:r>
              <a:t>          "output": "도입본 기능 목록·사용자 확인·원천 접수 결과"</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"도입본 기능·승인·실행 결과의 비교 시험",</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"implication": "직원의 ERP·결재 문맥을 활용하되 실제 도입본의 실행·승인 기능 검증",</a:t>
            </a:r>
          </a:p>
          <a:p xmlns:a="http://schemas.openxmlformats.org/drawingml/2006/main">
            <a:r>
              <a:t>    "local": "직원의 ERP·결재 문맥을 활용하되 실제 도입본의 실행·승인 기능 검증",</a:t>
            </a:r>
          </a:p>
          <a:p xmlns:a="http://schemas.openxmlformats.org/drawingml/2006/main">
            <a:r>
              <a:t>    "sourceDetail": "ERP·그룹웨어·RAG 연계. 로컬 정리에 권한·업무 에이전트·근태 신청·전자결재 분석 설명",</a:t>
            </a:r>
          </a:p>
          <a:p xmlns:a="http://schemas.openxmlformats.org/drawingml/2006/main">
            <a:r>
              <a:t>    "narrative": [</a:t>
            </a:r>
          </a:p>
          <a:p xmlns:a="http://schemas.openxmlformats.org/drawingml/2006/main">
            <a:r>
              <a:t>      "ERP·그룹웨어의 AI 업무 지원을 문서 검색과 행정 실행의 연결 관점에서 분석한 사례. 직원이 정보를 찾는 단계에서 근태·결재 등 업무 요청을 구성하는 단계로 확장하는 기능 범위.",</a:t>
            </a:r>
          </a:p>
          <a:p xmlns:a="http://schemas.openxmlformats.org/drawingml/2006/main">
            <a:r>
              <a:t>      "로그인 직원과 업무 목적 확인, 필요한 문서·인사 정보 조회, 실행 요청 구조화, 사용자 확인, 시스템 등록·처리 결과 반환으로 재구성. 제품 소개의 기능 범위와 실제 도입 버전·연계 API 지원 여부를 구분하는 방식.",</a:t>
            </a:r>
          </a:p>
          <a:p xmlns:a="http://schemas.openxmlformats.org/drawingml/2006/main">
            <a:r>
              <a:t>      "CCK에서는 기존 ERP·그룹웨어의 권한·결재 로직을 유지하며 AI가 입력과 초안을 지원하는 접근. 실행 대상·결재선·중복 요청·부분 실패·취소 조건을 시험하고 조회용 토큰과 쓰기 권한의 분리를 추가 개발 범위로 검토."</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"ERP·그룹웨어",</a:t>
            </a:r>
          </a:p>
          <a:p xmlns:a="http://schemas.openxmlformats.org/drawingml/2006/main">
            <a:r>
              <a:t>          "layer": "이용 접점",</a:t>
            </a:r>
          </a:p>
          <a:p xmlns:a="http://schemas.openxmlformats.org/drawingml/2006/main">
            <a:r>
              <a:t>          "detail": "직원·결재자·ERP 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"직원·업무·권한",</a:t>
            </a:r>
          </a:p>
          <a:p xmlns:a="http://schemas.openxmlformats.org/drawingml/2006/main">
            <a:r>
              <a:t>          "layer": "업무 문맥",</a:t>
            </a:r>
          </a:p>
          <a:p xmlns:a="http://schemas.openxmlformats.org/drawingml/2006/main">
            <a:r>
              <a:t>          "detail": "직원·대상 업무·실행 권한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"문서·근태 조회",</a:t>
            </a:r>
          </a:p>
          <a:p xmlns:a="http://schemas.openxmlformats.org/drawingml/2006/main">
            <a:r>
              <a:t>          "layer": "자료 조회",</a:t>
            </a:r>
          </a:p>
          <a:p xmlns:a="http://schemas.openxmlformats.org/drawingml/2006/main">
            <a:r>
              <a:t>          "detail": "업무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"ONE AI 구조화",</a:t>
            </a:r>
          </a:p>
          <a:p xmlns:a="http://schemas.openxmlformats.org/drawingml/2006/main">
            <a:r>
              <a:t>          "layer": "핵심 처리",</a:t>
            </a:r>
          </a:p>
          <a:p xmlns:a="http://schemas.openxmlformats.org/drawingml/2006/main">
            <a:r>
              <a:t>          "detail": "문서 RAG와 업무 요청의 구조화",</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"필드·권한 검사",</a:t>
            </a:r>
          </a:p>
          <a:p xmlns:a="http://schemas.openxmlformats.org/drawingml/2006/main">
            <a:r>
              <a:t>          "layer": "결과 검증",</a:t>
            </a:r>
          </a:p>
          <a:p xmlns:a="http://schemas.openxmlformats.org/drawingml/2006/main">
            <a:r>
              <a:t>          "detail": "도입본 기능·승인·결과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"사용자·결재자",</a:t>
            </a:r>
          </a:p>
          <a:p xmlns:a="http://schemas.openxmlformats.org/drawingml/2006/main">
            <a:r>
              <a:t>          "layer": "사람 확인",</a:t>
            </a:r>
          </a:p>
          <a:p xmlns:a="http://schemas.openxmlformats.org/drawingml/2006/main">
            <a:r>
              <a:t>          "detail": "근태 요청을 확인하고 해당 전자결재 절차로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"근태·전자결재",</a:t>
            </a:r>
          </a:p>
          <a:p xmlns:a="http://schemas.openxmlformats.org/drawingml/2006/main">
            <a:r>
              <a:t>          "layer": "업무 연결",</a:t>
            </a:r>
          </a:p>
          <a:p xmlns:a="http://schemas.openxmlformats.org/drawingml/2006/main">
            <a:r>
              <a:t>          "detail": "초안 확인 후 업무 시스템의 처리 절차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"실행 결과 확인",</a:t>
            </a:r>
          </a:p>
          <a:p xmlns:a="http://schemas.openxmlformats.org/drawingml/2006/main">
            <a:r>
              <a:t>          "layer": "운영 관측",</a:t>
            </a:r>
          </a:p>
          <a:p xmlns:a="http://schemas.openxmlformats.org/drawingml/2006/main">
            <a:r>
              <a:t>          "detail": "도입본 기능·승인·실행 결과의 비교 시험",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"ERP·인사·문서",</a:t>
            </a:r>
          </a:p>
          <a:p xmlns:a="http://schemas.openxmlformats.org/drawingml/2006/main">
            <a:r>
              <a:t>          "layer": "데이터 원천",</a:t>
            </a:r>
          </a:p>
          <a:p xmlns:a="http://schemas.openxmlformats.org/drawingml/2006/main">
            <a:r>
              <a:t>          "detail": "문서·업무 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"업무 식별자 연결",</a:t>
            </a:r>
          </a:p>
          <a:p xmlns:a="http://schemas.openxmlformats.org/drawingml/2006/main">
            <a:r>
              <a:t>          "layer": "준비·갱신",</a:t>
            </a:r>
          </a:p>
          <a:p xmlns:a="http://schemas.openxmlformats.org/drawingml/2006/main">
            <a:r>
              <a:t>          "detail": "ERP·그룹웨어 문서·인사·결재 자료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"초안·처리 상태",</a:t>
            </a:r>
          </a:p>
          <a:p xmlns:a="http://schemas.openxmlformats.org/drawingml/2006/main">
            <a:r>
              <a:t>          "layer": "상태·지식 저장",</a:t>
            </a:r>
          </a:p>
          <a:p xmlns:a="http://schemas.openxmlformats.org/drawingml/2006/main">
            <a:r>
              <a:t>          "detail": "도입본 기능 목록·사용자 확인·원천 접수 결과",</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"실행·승인 정책",</a:t>
            </a:r>
          </a:p>
          <a:p xmlns:a="http://schemas.openxmlformats.org/drawingml/2006/main">
            <a:r>
              <a:t>          "layer": "권한·정책",</a:t>
            </a:r>
          </a:p>
          <a:p xmlns:a="http://schemas.openxmlformats.org/drawingml/2006/main">
            <a:r>
              <a:t>          "detail": "잔여일수 부족·전결권 부재·중복 상신",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"직원·대상 업무·실행 권한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"업무 요청",</a:t>
            </a:r>
          </a:p>
          <a:p xmlns:a="http://schemas.openxmlformats.org/drawingml/2006/main">
            <a:r>
              <a:t>          "check": "도입본 기능·승인·결과 확인"</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"관련 문맥",</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"업무 초안",</a:t>
            </a:r>
          </a:p>
          <a:p xmlns:a="http://schemas.openxmlformats.org/drawingml/2006/main">
            <a:r>
              <a:t>          "check": "잔여일수 부족·전결권 부재·중복 상신"</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"업무 초안",</a:t>
            </a:r>
          </a:p>
          <a:p xmlns:a="http://schemas.openxmlformats.org/drawingml/2006/main">
            <a:r>
              <a:t>          "check": "초안 확인 후 업무 시스템의 처리 절차 연결"</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"근태·결재 결과",</a:t>
            </a:r>
          </a:p>
          <a:p xmlns:a="http://schemas.openxmlformats.org/drawingml/2006/main">
            <a:r>
              <a:t>          "check": "도입본 기능 목록·사용자 확인·원천 접수 결과"</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"ERP·그룹웨어 맥락의 업무 지원 / 문서 지원·근태·전자결재",</a:t>
            </a:r>
          </a:p>
          <a:p xmlns:a="http://schemas.openxmlformats.org/drawingml/2006/main">
            <a:r>
              <a:t>        "extension": "직원의 ERP·결재 문맥을 활용하되 실제 도입본의 실행·승인 기능 검증"</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"잔여일수 부족·전결권 부재·중복 상신",</a:t>
            </a:r>
          </a:p>
          <a:p xmlns:a="http://schemas.openxmlformats.org/drawingml/2006/main">
            <a:r>
              <a:t>        "hold": "도입본 기능·승인·결과 확인",</a:t>
            </a:r>
          </a:p>
          <a:p xmlns:a="http://schemas.openxmlformats.org/drawingml/2006/main">
            <a:r>
              <a:t>        "recovery": "도입본 기능·승인·실행 결과의 비교 시험",</a:t>
            </a:r>
          </a:p>
          <a:p xmlns:a="http://schemas.openxmlformats.org/drawingml/2006/main">
            <a:r>
              <a:t>        "evidence": "도입본 기능 목록·사용자 확인·원천 접수 결과"</a:t>
            </a:r>
          </a:p>
          <a:p xmlns:a="http://schemas.openxmlformats.org/drawingml/2006/main">
            <a:r>
              <a:t>      },</a:t>
            </a:r>
          </a:p>
          <a:p xmlns:a="http://schemas.openxmlformats.org/drawingml/2006/main">
            <a:r>
              <a:t>      "data": {</a:t>
            </a:r>
          </a:p>
          <a:p xmlns:a="http://schemas.openxmlformats.org/drawingml/2006/main">
            <a:r>
              <a:t>        "source": "문서·업무 지식",</a:t>
            </a:r>
          </a:p>
          <a:p xmlns:a="http://schemas.openxmlformats.org/drawingml/2006/main">
            <a:r>
              <a:t>        "prepare": "ERP·그룹웨어 문서·인사·결재 자료 연결",</a:t>
            </a:r>
          </a:p>
          <a:p xmlns:a="http://schemas.openxmlformats.org/drawingml/2006/main">
            <a:r>
              <a:t>        "output": "업무 요청",</a:t>
            </a:r>
          </a:p>
          <a:p xmlns:a="http://schemas.openxmlformats.org/drawingml/2006/main">
            <a:r>
              <a:t>        "refresh": "도입본 기능·승인·실행 결과의 비교 시험"</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"PF-C03",</a:t>
            </a:r>
          </a:p>
          <a:p xmlns:a="http://schemas.openxmlformats.org/drawingml/2006/main">
            <a:r>
              <a:t>    "success": [</a:t>
            </a:r>
          </a:p>
          <a:p xmlns:a="http://schemas.openxmlformats.org/drawingml/2006/main">
            <a:r>
              <a:t>      "ERP·그룹웨어의 업무 문맥",</a:t>
            </a:r>
          </a:p>
          <a:p xmlns:a="http://schemas.openxmlformats.org/drawingml/2006/main">
            <a:r>
              <a:t>      "문서·근태·결재 접점 연결"</a:t>
            </a:r>
          </a:p>
          <a:p xmlns:a="http://schemas.openxmlformats.org/drawingml/2006/main">
            <a:r>
              <a:t>    ],</a:t>
            </a:r>
          </a:p>
          <a:p xmlns:a="http://schemas.openxmlformats.org/drawingml/2006/main">
            <a:r>
              <a:t>    "risks": [</a:t>
            </a:r>
          </a:p>
          <a:p xmlns:a="http://schemas.openxmlformats.org/drawingml/2006/main">
            <a:r>
              <a:t>      "제품 소개와 실제 고객 동작 차이",</a:t>
            </a:r>
          </a:p>
          <a:p xmlns:a="http://schemas.openxmlformats.org/drawingml/2006/main">
            <a:r>
              <a:t>      "업무 실행 권한의 과도한 위임"</a:t>
            </a:r>
          </a:p>
          <a:p xmlns:a="http://schemas.openxmlformats.org/drawingml/2006/main">
            <a:r>
              <a:t>    ],</a:t>
            </a:r>
          </a:p>
          <a:p xmlns:a="http://schemas.openxmlformats.org/drawingml/2006/main">
            <a:r>
              <a:t>    "architecture": [</a:t>
            </a:r>
          </a:p>
          <a:p xmlns:a="http://schemas.openxmlformats.org/drawingml/2006/main">
            <a:r>
              <a:t>      "ERP·그룹웨어",</a:t>
            </a:r>
          </a:p>
          <a:p xmlns:a="http://schemas.openxmlformats.org/drawingml/2006/main">
            <a:r>
              <a:t>      "ONE AI 업무 지원",</a:t>
            </a:r>
          </a:p>
          <a:p xmlns:a="http://schemas.openxmlformats.org/drawingml/2006/main">
            <a:r>
              <a:t>      "문서·업무 지식",</a:t>
            </a:r>
          </a:p>
          <a:p xmlns:a="http://schemas.openxmlformats.org/drawingml/2006/main">
            <a:r>
              <a:t>      "직원·결재 담당"</a:t>
            </a:r>
          </a:p>
          <a:p xmlns:a="http://schemas.openxmlformats.org/drawingml/2006/main">
            <a:r>
              <a:t>    ],</a:t>
            </a:r>
          </a:p>
          <a:p xmlns:a="http://schemas.openxmlformats.org/drawingml/2006/main">
            <a:r>
              <a:t>    "transfers": [</a:t>
            </a:r>
          </a:p>
          <a:p xmlns:a="http://schemas.openxmlformats.org/drawingml/2006/main">
            <a:r>
              <a:t>      "업무 요청",</a:t>
            </a:r>
          </a:p>
          <a:p xmlns:a="http://schemas.openxmlformats.org/drawingml/2006/main">
            <a:r>
              <a:t>      "관련 문맥",</a:t>
            </a:r>
          </a:p>
          <a:p xmlns:a="http://schemas.openxmlformats.org/drawingml/2006/main">
            <a:r>
              <a:t>      "업무 초안",</a:t>
            </a:r>
          </a:p>
          <a:p xmlns:a="http://schemas.openxmlformats.org/drawingml/2006/main">
            <a:r>
              <a:t>      "근태·결재 결과"</a:t>
            </a:r>
          </a:p>
          <a:p xmlns:a="http://schemas.openxmlformats.org/drawingml/2006/main">
            <a:r>
              <a:t>    ],</a:t>
            </a:r>
          </a:p>
          <a:p xmlns:a="http://schemas.openxmlformats.org/drawingml/2006/main">
            <a:r>
              <a:t>    "control": "도입본 기능·승인·결과 확인",</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
            </a:r>
          </a:p>
          <a:p xmlns:a="http://schemas.openxmlformats.org/drawingml/2006/main">
            <a:r>
              <a:t>홈페이지 https://heen1987-ops.github.io/TS-business-Plan-001/index.html?view=platform-cases&amp;case=PF-C03</a:t>
            </a:r>
          </a:p>
          <a:p xmlns:a="http://schemas.openxmlformats.org/drawingml/2006/main">
            <a:r>
              <a:t>한계: 제품 기능 설명과 고객 구현·성과를 구분. 특정 ERP 의존성 및 TS 타 시스템 연계 공수는 미확인</a:t>
            </a:r>
          </a:p>
          <a:p xmlns:a="http://schemas.openxmlformats.org/drawingml/2006/main">
            <a:r>
              <a:t>실패 위험: 제품 소개와 실제 고객 동작 차이 / 업무 실행 권한의 과도한 위임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"PF-C03",</a:t>
            </a:r>
          </a:p>
          <a:p xmlns:a="http://schemas.openxmlformats.org/drawingml/2006/main">
            <a:r>
              <a:t>    "sourceId": "C03",</a:t>
            </a:r>
          </a:p>
          <a:p xmlns:a="http://schemas.openxmlformats.org/drawingml/2006/main">
            <a:r>
              <a:t>    "title": "더존 Amaranth 10 ONE AI",</a:t>
            </a:r>
          </a:p>
          <a:p xmlns:a="http://schemas.openxmlformats.org/drawingml/2006/main">
            <a:r>
              <a:t>    "region": "국내",</a:t>
            </a:r>
          </a:p>
          <a:p xmlns:a="http://schemas.openxmlformats.org/drawingml/2006/main">
            <a:r>
              <a:t>    "owner": "더존 / Amaranth 10 ONE AI",</a:t>
            </a:r>
          </a:p>
          <a:p xmlns:a="http://schemas.openxmlformats.org/drawingml/2006/main">
            <a:r>
              <a:t>    "state": "2026-02-06 제안서 및 로컬 정리 / 고객 운영 검증 아님",</a:t>
            </a:r>
          </a:p>
          <a:p xmlns:a="http://schemas.openxmlformats.org/drawingml/2006/main">
            <a:r>
              <a:t>    "period": "기존 원장 확인 2026.10.16",</a:t>
            </a:r>
          </a:p>
          <a:p xmlns:a="http://schemas.openxmlformats.org/drawingml/2006/main">
            <a:r>
              <a:t>    "fact": "제품 설명 비교 / 기관 도입 사례로 집계 안 함",</a:t>
            </a:r>
          </a:p>
          <a:p xmlns:a="http://schemas.openxmlformats.org/drawingml/2006/main">
            <a:r>
              <a:t>    "limit": "제품 기능 설명과 고객 구현·성과를 구분. 특정 ERP 의존성 및 TS 타 시스템 연계 공수는 미확인",</a:t>
            </a:r>
          </a:p>
          <a:p xmlns:a="http://schemas.openxmlformats.org/drawingml/2006/main">
            <a:r>
              <a:t>    "nodes": [</a:t>
            </a:r>
          </a:p>
          <a:p xmlns:a="http://schemas.openxmlformats.org/drawingml/2006/main">
            <a:r>
              <a:t>      "ERP·그룹웨어",</a:t>
            </a:r>
          </a:p>
          <a:p xmlns:a="http://schemas.openxmlformats.org/drawingml/2006/main">
            <a:r>
              <a:t>      "문서·업무 지식",</a:t>
            </a:r>
          </a:p>
          <a:p xmlns:a="http://schemas.openxmlformats.org/drawingml/2006/main">
            <a:r>
              <a:t>      "업무 에이전트",</a:t>
            </a:r>
          </a:p>
          <a:p xmlns:a="http://schemas.openxmlformats.org/drawingml/2006/main">
            <a:r>
              <a:t>      "근태·결재 연계"</a:t>
            </a:r>
          </a:p>
          <a:p xmlns:a="http://schemas.openxmlformats.org/drawingml/2006/main">
            <a:r>
              <a:t>    ],</a:t>
            </a:r>
          </a:p>
          <a:p xmlns:a="http://schemas.openxmlformats.org/drawingml/2006/main">
            <a:r>
              <a:t>    "apply": "직원의 ERP·결재 문맥을 활용하되 실제 도입본의 실행·승인 기능 검증",</a:t>
            </a:r>
          </a:p>
          <a:p xmlns:a="http://schemas.openxmlformats.org/drawingml/2006/main">
            <a:r>
              <a:t>    "delta": "필수 항목·담당자·승인·API 처리 연결",</a:t>
            </a:r>
          </a:p>
          <a:p xmlns:a="http://schemas.openxmlformats.org/drawingml/2006/main">
            <a:r>
              <a:t>    "test": "완료율·재작업·중복 처리의 기준선·비교 평가",</a:t>
            </a:r>
          </a:p>
          <a:p xmlns:a="http://schemas.openxmlformats.org/drawingml/2006/main">
            <a:r>
              <a:t>    "url": null,</a:t>
            </a:r>
          </a:p>
          <a:p xmlns:a="http://schemas.openxmlformats.org/drawingml/2006/main">
            <a:r>
              <a:t>    "urls": [],</a:t>
            </a:r>
          </a:p>
          <a:p xmlns:a="http://schemas.openxmlformats.org/drawingml/2006/main">
            <a:r>
              <a:t>    "basis": "ONE_AI_제안서(Amaranth10_비영리)_260206_V1.0.pdf p.8 / 동일명 md p.16·22·39 정리",</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"완료율·재작업·중복 처리",</a:t>
            </a:r>
          </a:p>
          <a:p xmlns:a="http://schemas.openxmlformats.org/drawingml/2006/main">
            <a:r>
              <a:t>    "group": "제품 비교",</a:t>
            </a:r>
          </a:p>
          <a:p xmlns:a="http://schemas.openxmlformats.org/drawingml/2006/main">
            <a:r>
              <a:t>    "sourceDetail": "ERP·그룹웨어·RAG 연계. 로컬 정리에 권한·업무 에이전트·근태 신청·전자결재 분석 설명",</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"PF-C03",</a:t>
            </a:r>
          </a:p>
          <a:p xmlns:a="http://schemas.openxmlformats.org/drawingml/2006/main">
            <a:r>
              <a:t>    "canonicalId": "PF-C03",</a:t>
            </a:r>
          </a:p>
          <a:p xmlns:a="http://schemas.openxmlformats.org/drawingml/2006/main">
            <a:r>
              <a:t>    "purpose": "ERP·그룹웨어 맥락의 업무 지원",</a:t>
            </a:r>
          </a:p>
          <a:p xmlns:a="http://schemas.openxmlformats.org/drawingml/2006/main">
            <a:r>
              <a:t>    "users": "직원·결재자·ERP 운영자",</a:t>
            </a:r>
          </a:p>
          <a:p xmlns:a="http://schemas.openxmlformats.org/drawingml/2006/main">
            <a:r>
              <a:t>    "scope": [</a:t>
            </a:r>
          </a:p>
          <a:p xmlns:a="http://schemas.openxmlformats.org/drawingml/2006/main">
            <a:r>
              <a:t>      "문서 지원",</a:t>
            </a:r>
          </a:p>
          <a:p xmlns:a="http://schemas.openxmlformats.org/drawingml/2006/main">
            <a:r>
              <a:t>      "근태",</a:t>
            </a:r>
          </a:p>
          <a:p xmlns:a="http://schemas.openxmlformats.org/drawingml/2006/main">
            <a:r>
              <a:t>      "전자결재"</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"ERP·그룹웨어",</a:t>
            </a:r>
          </a:p>
          <a:p xmlns:a="http://schemas.openxmlformats.org/drawingml/2006/main">
            <a:r>
              <a:t>        "detail": "직원·대상 업무·실행 권한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"문서 지원 / 근태 / 전자결재",</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"ONE AI 업무 지원",</a:t>
            </a:r>
          </a:p>
          <a:p xmlns:a="http://schemas.openxmlformats.org/drawingml/2006/main">
            <a:r>
              <a:t>        "detail": "문서 RAG와 업무 요청의 구조화",</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"직원·결재 담당",</a:t>
            </a:r>
          </a:p>
          <a:p xmlns:a="http://schemas.openxmlformats.org/drawingml/2006/main">
            <a:r>
              <a:t>        "detail": "초안 확인 후 업무 시스템의 처리 절차 연결",</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"문서·업무 지식",</a:t>
            </a:r>
          </a:p>
          <a:p xmlns:a="http://schemas.openxmlformats.org/drawingml/2006/main">
            <a:r>
              <a:t>        "detail": "ERP·그룹웨어 문서·인사·결재 자료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"도입본 기능·승인·실행 결과의 비교 시험",</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"ERP·그룹웨어",</a:t>
            </a:r>
          </a:p>
          <a:p xmlns:a="http://schemas.openxmlformats.org/drawingml/2006/main">
            <a:r>
              <a:t>        "input": "직원·대상 업무·실행 권한 확인",</a:t>
            </a:r>
          </a:p>
          <a:p xmlns:a="http://schemas.openxmlformats.org/drawingml/2006/main">
            <a:r>
              <a:t>        "process": "ERP·그룹웨어 문서·인사·결재 자료 연결",</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"title": "문서·업무 지식",</a:t>
            </a:r>
          </a:p>
          <a:p xmlns:a="http://schemas.openxmlformats.org/drawingml/2006/main">
            <a:r>
              <a:t>        "input": "업무 요청",</a:t>
            </a:r>
          </a:p>
          <a:p xmlns:a="http://schemas.openxmlformats.org/drawingml/2006/main">
            <a:r>
              <a:t>        "process": "문서 RAG와 업무 요청의 구조화",</a:t>
            </a:r>
          </a:p>
          <a:p xmlns:a="http://schemas.openxmlformats.org/drawingml/2006/main">
            <a:r>
              <a:t>        "output": "관련 문맥"</a:t>
            </a:r>
          </a:p>
          <a:p xmlns:a="http://schemas.openxmlformats.org/drawingml/2006/main">
            <a:r>
              <a:t>      },</a:t>
            </a:r>
          </a:p>
          <a:p xmlns:a="http://schemas.openxmlformats.org/drawingml/2006/main">
            <a:r>
              <a:t>      {</a:t>
            </a:r>
          </a:p>
          <a:p xmlns:a="http://schemas.openxmlformats.org/drawingml/2006/main">
            <a:r>
              <a:t>        "title": "업무 에이전트",</a:t>
            </a:r>
          </a:p>
          <a:p xmlns:a="http://schemas.openxmlformats.org/drawingml/2006/main">
            <a:r>
              <a:t>        "input": "관련 문맥",</a:t>
            </a:r>
          </a:p>
          <a:p xmlns:a="http://schemas.openxmlformats.org/drawingml/2006/main">
            <a:r>
              <a:t>        "process": "도입본 기능·승인·결과 확인",</a:t>
            </a:r>
          </a:p>
          <a:p xmlns:a="http://schemas.openxmlformats.org/drawingml/2006/main">
            <a:r>
              <a:t>        "output": "업무 초안"</a:t>
            </a:r>
          </a:p>
          <a:p xmlns:a="http://schemas.openxmlformats.org/drawingml/2006/main">
            <a:r>
              <a:t>      },</a:t>
            </a:r>
          </a:p>
          <a:p xmlns:a="http://schemas.openxmlformats.org/drawingml/2006/main">
            <a:r>
              <a:t>      {</a:t>
            </a:r>
          </a:p>
          <a:p xmlns:a="http://schemas.openxmlformats.org/drawingml/2006/main">
            <a:r>
              <a:t>        "title": "근태·결재 연계",</a:t>
            </a:r>
          </a:p>
          <a:p xmlns:a="http://schemas.openxmlformats.org/drawingml/2006/main">
            <a:r>
              <a:t>        "input": "업무 초안",</a:t>
            </a:r>
          </a:p>
          <a:p xmlns:a="http://schemas.openxmlformats.org/drawingml/2006/main">
            <a:r>
              <a:t>        "process": "초안 확인 후 업무 시스템의 처리 절차 연결",</a:t>
            </a:r>
          </a:p>
          <a:p xmlns:a="http://schemas.openxmlformats.org/drawingml/2006/main">
            <a:r>
              <a:t>        "output": "근태·결재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"근태 요청을 확인하고 해당 전자결재 절차로 연결",</a:t>
            </a:r>
          </a:p>
          <a:p xmlns:a="http://schemas.openxmlformats.org/drawingml/2006/main">
            <a:r>
              <a:t>      "exception": "잔여일수 부족·전결권 부재·중복 상신",</a:t>
            </a:r>
          </a:p>
          <a:p xmlns:a="http://schemas.openxmlformats.org/drawingml/2006/main">
            <a:r>
              <a:t>      "evidence": "도입본 기능 목록·사용자 확인·원천 접수 결과",</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"직원·결재자·ERP 운영자",</a:t>
            </a:r>
          </a:p>
          <a:p xmlns:a="http://schemas.openxmlformats.org/drawingml/2006/main">
            <a:r>
              <a:t>          "processing": "직원·대상 업무·실행 권한 확인",</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"문서·업무 지식",</a:t>
            </a:r>
          </a:p>
          <a:p xmlns:a="http://schemas.openxmlformats.org/drawingml/2006/main">
            <a:r>
              <a:t>          "processing": "ERP·그룹웨어 문서·인사·결재 자료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"업무 요청",</a:t>
            </a:r>
          </a:p>
          <a:p xmlns:a="http://schemas.openxmlformats.org/drawingml/2006/main">
            <a:r>
              <a:t>          "processing": "문서 RAG와 업무 요청의 구조화",</a:t>
            </a:r>
          </a:p>
          <a:p xmlns:a="http://schemas.openxmlformats.org/drawingml/2006/main">
            <a:r>
              <a:t>          "output": "업무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"업무 초안",</a:t>
            </a:r>
          </a:p>
          <a:p xmlns:a="http://schemas.openxmlformats.org/drawingml/2006/main">
            <a:r>
              <a:t>          "processing": "초안 확인 후 업무 시스템의 처리 절차 연결",</a:t>
            </a:r>
          </a:p>
          <a:p xmlns:a="http://schemas.openxmlformats.org/drawingml/2006/main">
            <a:r>
              <a:t>          "output": "근태·결재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"도입본 기능·승인·실행 결과의 비교 시험",</a:t>
            </a:r>
          </a:p>
          <a:p xmlns:a="http://schemas.openxmlformats.org/drawingml/2006/main">
            <a:r>
              <a:t>          "output": "도입본 기능 목록·사용자 확인·원천 접수 결과"</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"도입본 기능·승인·실행 결과의 비교 시험",</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"implication": "직원의 ERP·결재 문맥을 활용하되 실제 도입본의 실행·승인 기능 검증",</a:t>
            </a:r>
          </a:p>
          <a:p xmlns:a="http://schemas.openxmlformats.org/drawingml/2006/main">
            <a:r>
              <a:t>    "local": "직원의 ERP·결재 문맥을 활용하되 실제 도입본의 실행·승인 기능 검증",</a:t>
            </a:r>
          </a:p>
          <a:p xmlns:a="http://schemas.openxmlformats.org/drawingml/2006/main">
            <a:r>
              <a:t>    "sourceDetail": "ERP·그룹웨어·RAG 연계. 로컬 정리에 권한·업무 에이전트·근태 신청·전자결재 분석 설명",</a:t>
            </a:r>
          </a:p>
          <a:p xmlns:a="http://schemas.openxmlformats.org/drawingml/2006/main">
            <a:r>
              <a:t>    "narrative": [</a:t>
            </a:r>
          </a:p>
          <a:p xmlns:a="http://schemas.openxmlformats.org/drawingml/2006/main">
            <a:r>
              <a:t>      "ERP·그룹웨어의 AI 업무 지원을 문서 검색과 행정 실행의 연결 관점에서 분석한 사례. 직원이 정보를 찾는 단계에서 근태·결재 등 업무 요청을 구성하는 단계로 확장하는 기능 범위.",</a:t>
            </a:r>
          </a:p>
          <a:p xmlns:a="http://schemas.openxmlformats.org/drawingml/2006/main">
            <a:r>
              <a:t>      "로그인 직원과 업무 목적 확인, 필요한 문서·인사 정보 조회, 실행 요청 구조화, 사용자 확인, 시스템 등록·처리 결과 반환으로 재구성. 제품 소개의 기능 범위와 실제 도입 버전·연계 API 지원 여부를 구분하는 방식.",</a:t>
            </a:r>
          </a:p>
          <a:p xmlns:a="http://schemas.openxmlformats.org/drawingml/2006/main">
            <a:r>
              <a:t>      "CCK에서는 기존 ERP·그룹웨어의 권한·결재 로직을 유지하며 AI가 입력과 초안을 지원하는 접근. 실행 대상·결재선·중복 요청·부분 실패·취소 조건을 시험하고 조회용 토큰과 쓰기 권한의 분리를 추가 개발 범위로 검토."</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"ERP·그룹웨어",</a:t>
            </a:r>
          </a:p>
          <a:p xmlns:a="http://schemas.openxmlformats.org/drawingml/2006/main">
            <a:r>
              <a:t>          "layer": "이용 접점",</a:t>
            </a:r>
          </a:p>
          <a:p xmlns:a="http://schemas.openxmlformats.org/drawingml/2006/main">
            <a:r>
              <a:t>          "detail": "직원·결재자·ERP 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"직원·업무·권한",</a:t>
            </a:r>
          </a:p>
          <a:p xmlns:a="http://schemas.openxmlformats.org/drawingml/2006/main">
            <a:r>
              <a:t>          "layer": "업무 문맥",</a:t>
            </a:r>
          </a:p>
          <a:p xmlns:a="http://schemas.openxmlformats.org/drawingml/2006/main">
            <a:r>
              <a:t>          "detail": "직원·대상 업무·실행 권한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"문서·근태 조회",</a:t>
            </a:r>
          </a:p>
          <a:p xmlns:a="http://schemas.openxmlformats.org/drawingml/2006/main">
            <a:r>
              <a:t>          "layer": "자료 조회",</a:t>
            </a:r>
          </a:p>
          <a:p xmlns:a="http://schemas.openxmlformats.org/drawingml/2006/main">
            <a:r>
              <a:t>          "detail": "업무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"ONE AI 구조화",</a:t>
            </a:r>
          </a:p>
          <a:p xmlns:a="http://schemas.openxmlformats.org/drawingml/2006/main">
            <a:r>
              <a:t>          "layer": "핵심 처리",</a:t>
            </a:r>
          </a:p>
          <a:p xmlns:a="http://schemas.openxmlformats.org/drawingml/2006/main">
            <a:r>
              <a:t>          "detail": "문서 RAG와 업무 요청의 구조화",</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"필드·권한 검사",</a:t>
            </a:r>
          </a:p>
          <a:p xmlns:a="http://schemas.openxmlformats.org/drawingml/2006/main">
            <a:r>
              <a:t>          "layer": "결과 검증",</a:t>
            </a:r>
          </a:p>
          <a:p xmlns:a="http://schemas.openxmlformats.org/drawingml/2006/main">
            <a:r>
              <a:t>          "detail": "도입본 기능·승인·결과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"사용자·결재자",</a:t>
            </a:r>
          </a:p>
          <a:p xmlns:a="http://schemas.openxmlformats.org/drawingml/2006/main">
            <a:r>
              <a:t>          "layer": "사람 확인",</a:t>
            </a:r>
          </a:p>
          <a:p xmlns:a="http://schemas.openxmlformats.org/drawingml/2006/main">
            <a:r>
              <a:t>          "detail": "근태 요청을 확인하고 해당 전자결재 절차로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"근태·전자결재",</a:t>
            </a:r>
          </a:p>
          <a:p xmlns:a="http://schemas.openxmlformats.org/drawingml/2006/main">
            <a:r>
              <a:t>          "layer": "업무 연결",</a:t>
            </a:r>
          </a:p>
          <a:p xmlns:a="http://schemas.openxmlformats.org/drawingml/2006/main">
            <a:r>
              <a:t>          "detail": "초안 확인 후 업무 시스템의 처리 절차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"실행 결과 확인",</a:t>
            </a:r>
          </a:p>
          <a:p xmlns:a="http://schemas.openxmlformats.org/drawingml/2006/main">
            <a:r>
              <a:t>          "layer": "운영 관측",</a:t>
            </a:r>
          </a:p>
          <a:p xmlns:a="http://schemas.openxmlformats.org/drawingml/2006/main">
            <a:r>
              <a:t>          "detail": "도입본 기능·승인·실행 결과의 비교 시험",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"ERP·인사·문서",</a:t>
            </a:r>
          </a:p>
          <a:p xmlns:a="http://schemas.openxmlformats.org/drawingml/2006/main">
            <a:r>
              <a:t>          "layer": "데이터 원천",</a:t>
            </a:r>
          </a:p>
          <a:p xmlns:a="http://schemas.openxmlformats.org/drawingml/2006/main">
            <a:r>
              <a:t>          "detail": "문서·업무 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"업무 식별자 연결",</a:t>
            </a:r>
          </a:p>
          <a:p xmlns:a="http://schemas.openxmlformats.org/drawingml/2006/main">
            <a:r>
              <a:t>          "layer": "준비·갱신",</a:t>
            </a:r>
          </a:p>
          <a:p xmlns:a="http://schemas.openxmlformats.org/drawingml/2006/main">
            <a:r>
              <a:t>          "detail": "ERP·그룹웨어 문서·인사·결재 자료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"초안·처리 상태",</a:t>
            </a:r>
          </a:p>
          <a:p xmlns:a="http://schemas.openxmlformats.org/drawingml/2006/main">
            <a:r>
              <a:t>          "layer": "상태·지식 저장",</a:t>
            </a:r>
          </a:p>
          <a:p xmlns:a="http://schemas.openxmlformats.org/drawingml/2006/main">
            <a:r>
              <a:t>          "detail": "도입본 기능 목록·사용자 확인·원천 접수 결과",</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"실행·승인 정책",</a:t>
            </a:r>
          </a:p>
          <a:p xmlns:a="http://schemas.openxmlformats.org/drawingml/2006/main">
            <a:r>
              <a:t>          "layer": "권한·정책",</a:t>
            </a:r>
          </a:p>
          <a:p xmlns:a="http://schemas.openxmlformats.org/drawingml/2006/main">
            <a:r>
              <a:t>          "detail": "잔여일수 부족·전결권 부재·중복 상신",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"직원·대상 업무·실행 권한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"업무 요청",</a:t>
            </a:r>
          </a:p>
          <a:p xmlns:a="http://schemas.openxmlformats.org/drawingml/2006/main">
            <a:r>
              <a:t>          "check": "도입본 기능·승인·결과 확인"</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"관련 문맥",</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"업무 초안",</a:t>
            </a:r>
          </a:p>
          <a:p xmlns:a="http://schemas.openxmlformats.org/drawingml/2006/main">
            <a:r>
              <a:t>          "check": "잔여일수 부족·전결권 부재·중복 상신"</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"업무 초안",</a:t>
            </a:r>
          </a:p>
          <a:p xmlns:a="http://schemas.openxmlformats.org/drawingml/2006/main">
            <a:r>
              <a:t>          "check": "초안 확인 후 업무 시스템의 처리 절차 연결"</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"근태·결재 결과",</a:t>
            </a:r>
          </a:p>
          <a:p xmlns:a="http://schemas.openxmlformats.org/drawingml/2006/main">
            <a:r>
              <a:t>          "check": "도입본 기능 목록·사용자 확인·원천 접수 결과"</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"ERP·그룹웨어 맥락의 업무 지원 / 문서 지원·근태·전자결재",</a:t>
            </a:r>
          </a:p>
          <a:p xmlns:a="http://schemas.openxmlformats.org/drawingml/2006/main">
            <a:r>
              <a:t>        "extension": "직원의 ERP·결재 문맥을 활용하되 실제 도입본의 실행·승인 기능 검증"</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"잔여일수 부족·전결권 부재·중복 상신",</a:t>
            </a:r>
          </a:p>
          <a:p xmlns:a="http://schemas.openxmlformats.org/drawingml/2006/main">
            <a:r>
              <a:t>        "hold": "도입본 기능·승인·결과 확인",</a:t>
            </a:r>
          </a:p>
          <a:p xmlns:a="http://schemas.openxmlformats.org/drawingml/2006/main">
            <a:r>
              <a:t>        "recovery": "도입본 기능·승인·실행 결과의 비교 시험",</a:t>
            </a:r>
          </a:p>
          <a:p xmlns:a="http://schemas.openxmlformats.org/drawingml/2006/main">
            <a:r>
              <a:t>        "evidence": "도입본 기능 목록·사용자 확인·원천 접수 결과"</a:t>
            </a:r>
          </a:p>
          <a:p xmlns:a="http://schemas.openxmlformats.org/drawingml/2006/main">
            <a:r>
              <a:t>      },</a:t>
            </a:r>
          </a:p>
          <a:p xmlns:a="http://schemas.openxmlformats.org/drawingml/2006/main">
            <a:r>
              <a:t>      "data": {</a:t>
            </a:r>
          </a:p>
          <a:p xmlns:a="http://schemas.openxmlformats.org/drawingml/2006/main">
            <a:r>
              <a:t>        "source": "문서·업무 지식",</a:t>
            </a:r>
          </a:p>
          <a:p xmlns:a="http://schemas.openxmlformats.org/drawingml/2006/main">
            <a:r>
              <a:t>        "prepare": "ERP·그룹웨어 문서·인사·결재 자료 연결",</a:t>
            </a:r>
          </a:p>
          <a:p xmlns:a="http://schemas.openxmlformats.org/drawingml/2006/main">
            <a:r>
              <a:t>        "output": "업무 요청",</a:t>
            </a:r>
          </a:p>
          <a:p xmlns:a="http://schemas.openxmlformats.org/drawingml/2006/main">
            <a:r>
              <a:t>        "refresh": "도입본 기능·승인·실행 결과의 비교 시험"</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"PF-C03",</a:t>
            </a:r>
          </a:p>
          <a:p xmlns:a="http://schemas.openxmlformats.org/drawingml/2006/main">
            <a:r>
              <a:t>    "success": [</a:t>
            </a:r>
          </a:p>
          <a:p xmlns:a="http://schemas.openxmlformats.org/drawingml/2006/main">
            <a:r>
              <a:t>      "ERP·그룹웨어의 업무 문맥",</a:t>
            </a:r>
          </a:p>
          <a:p xmlns:a="http://schemas.openxmlformats.org/drawingml/2006/main">
            <a:r>
              <a:t>      "문서·근태·결재 접점 연결"</a:t>
            </a:r>
          </a:p>
          <a:p xmlns:a="http://schemas.openxmlformats.org/drawingml/2006/main">
            <a:r>
              <a:t>    ],</a:t>
            </a:r>
          </a:p>
          <a:p xmlns:a="http://schemas.openxmlformats.org/drawingml/2006/main">
            <a:r>
              <a:t>    "risks": [</a:t>
            </a:r>
          </a:p>
          <a:p xmlns:a="http://schemas.openxmlformats.org/drawingml/2006/main">
            <a:r>
              <a:t>      "제품 소개와 실제 고객 동작 차이",</a:t>
            </a:r>
          </a:p>
          <a:p xmlns:a="http://schemas.openxmlformats.org/drawingml/2006/main">
            <a:r>
              <a:t>      "업무 실행 권한의 과도한 위임"</a:t>
            </a:r>
          </a:p>
          <a:p xmlns:a="http://schemas.openxmlformats.org/drawingml/2006/main">
            <a:r>
              <a:t>    ],</a:t>
            </a:r>
          </a:p>
          <a:p xmlns:a="http://schemas.openxmlformats.org/drawingml/2006/main">
            <a:r>
              <a:t>    "architecture": [</a:t>
            </a:r>
          </a:p>
          <a:p xmlns:a="http://schemas.openxmlformats.org/drawingml/2006/main">
            <a:r>
              <a:t>      "ERP·그룹웨어",</a:t>
            </a:r>
          </a:p>
          <a:p xmlns:a="http://schemas.openxmlformats.org/drawingml/2006/main">
            <a:r>
              <a:t>      "ONE AI 업무 지원",</a:t>
            </a:r>
          </a:p>
          <a:p xmlns:a="http://schemas.openxmlformats.org/drawingml/2006/main">
            <a:r>
              <a:t>      "문서·업무 지식",</a:t>
            </a:r>
          </a:p>
          <a:p xmlns:a="http://schemas.openxmlformats.org/drawingml/2006/main">
            <a:r>
              <a:t>      "직원·결재 담당"</a:t>
            </a:r>
          </a:p>
          <a:p xmlns:a="http://schemas.openxmlformats.org/drawingml/2006/main">
            <a:r>
              <a:t>    ],</a:t>
            </a:r>
          </a:p>
          <a:p xmlns:a="http://schemas.openxmlformats.org/drawingml/2006/main">
            <a:r>
              <a:t>    "transfers": [</a:t>
            </a:r>
          </a:p>
          <a:p xmlns:a="http://schemas.openxmlformats.org/drawingml/2006/main">
            <a:r>
              <a:t>      "업무 요청",</a:t>
            </a:r>
          </a:p>
          <a:p xmlns:a="http://schemas.openxmlformats.org/drawingml/2006/main">
            <a:r>
              <a:t>      "관련 문맥",</a:t>
            </a:r>
          </a:p>
          <a:p xmlns:a="http://schemas.openxmlformats.org/drawingml/2006/main">
            <a:r>
              <a:t>      "업무 초안",</a:t>
            </a:r>
          </a:p>
          <a:p xmlns:a="http://schemas.openxmlformats.org/drawingml/2006/main">
            <a:r>
              <a:t>      "근태·결재 결과"</a:t>
            </a:r>
          </a:p>
          <a:p xmlns:a="http://schemas.openxmlformats.org/drawingml/2006/main">
            <a:r>
              <a:t>    ],</a:t>
            </a:r>
          </a:p>
          <a:p xmlns:a="http://schemas.openxmlformats.org/drawingml/2006/main">
            <a:r>
              <a:t>    "control": "도입본 기능·승인·결과 확인",</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
            </a:r>
          </a:p>
          <a:p xmlns:a="http://schemas.openxmlformats.org/drawingml/2006/main">
            <a:r>
              <a:t>홈페이지 https://heen1987-ops.github.io/TS-business-Plan-001/index.html?view=platform-cases&amp;case=PF-C03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"PF-C03",</a:t>
            </a:r>
          </a:p>
          <a:p xmlns:a="http://schemas.openxmlformats.org/drawingml/2006/main">
            <a:r>
              <a:t>    "sourceId": "C03",</a:t>
            </a:r>
          </a:p>
          <a:p xmlns:a="http://schemas.openxmlformats.org/drawingml/2006/main">
            <a:r>
              <a:t>    "title": "더존 Amaranth 10 ONE AI",</a:t>
            </a:r>
          </a:p>
          <a:p xmlns:a="http://schemas.openxmlformats.org/drawingml/2006/main">
            <a:r>
              <a:t>    "region": "국내",</a:t>
            </a:r>
          </a:p>
          <a:p xmlns:a="http://schemas.openxmlformats.org/drawingml/2006/main">
            <a:r>
              <a:t>    "owner": "더존 / Amaranth 10 ONE AI",</a:t>
            </a:r>
          </a:p>
          <a:p xmlns:a="http://schemas.openxmlformats.org/drawingml/2006/main">
            <a:r>
              <a:t>    "state": "2026-02-06 제안서 및 로컬 정리 / 고객 운영 검증 아님",</a:t>
            </a:r>
          </a:p>
          <a:p xmlns:a="http://schemas.openxmlformats.org/drawingml/2006/main">
            <a:r>
              <a:t>    "period": "기존 원장 확인 2026.10.16",</a:t>
            </a:r>
          </a:p>
          <a:p xmlns:a="http://schemas.openxmlformats.org/drawingml/2006/main">
            <a:r>
              <a:t>    "fact": "제품 설명 비교 / 기관 도입 사례로 집계 안 함",</a:t>
            </a:r>
          </a:p>
          <a:p xmlns:a="http://schemas.openxmlformats.org/drawingml/2006/main">
            <a:r>
              <a:t>    "limit": "제품 기능 설명과 고객 구현·성과를 구분. 특정 ERP 의존성 및 TS 타 시스템 연계 공수는 미확인",</a:t>
            </a:r>
          </a:p>
          <a:p xmlns:a="http://schemas.openxmlformats.org/drawingml/2006/main">
            <a:r>
              <a:t>    "nodes": [</a:t>
            </a:r>
          </a:p>
          <a:p xmlns:a="http://schemas.openxmlformats.org/drawingml/2006/main">
            <a:r>
              <a:t>      "ERP·그룹웨어",</a:t>
            </a:r>
          </a:p>
          <a:p xmlns:a="http://schemas.openxmlformats.org/drawingml/2006/main">
            <a:r>
              <a:t>      "문서·업무 지식",</a:t>
            </a:r>
          </a:p>
          <a:p xmlns:a="http://schemas.openxmlformats.org/drawingml/2006/main">
            <a:r>
              <a:t>      "업무 에이전트",</a:t>
            </a:r>
          </a:p>
          <a:p xmlns:a="http://schemas.openxmlformats.org/drawingml/2006/main">
            <a:r>
              <a:t>      "근태·결재 연계"</a:t>
            </a:r>
          </a:p>
          <a:p xmlns:a="http://schemas.openxmlformats.org/drawingml/2006/main">
            <a:r>
              <a:t>    ],</a:t>
            </a:r>
          </a:p>
          <a:p xmlns:a="http://schemas.openxmlformats.org/drawingml/2006/main">
            <a:r>
              <a:t>    "apply": "직원의 ERP·결재 문맥을 활용하되 실제 도입본의 실행·승인 기능 검증",</a:t>
            </a:r>
          </a:p>
          <a:p xmlns:a="http://schemas.openxmlformats.org/drawingml/2006/main">
            <a:r>
              <a:t>    "delta": "필수 항목·담당자·승인·API 처리 연결",</a:t>
            </a:r>
          </a:p>
          <a:p xmlns:a="http://schemas.openxmlformats.org/drawingml/2006/main">
            <a:r>
              <a:t>    "test": "완료율·재작업·중복 처리의 기준선·비교 평가",</a:t>
            </a:r>
          </a:p>
          <a:p xmlns:a="http://schemas.openxmlformats.org/drawingml/2006/main">
            <a:r>
              <a:t>    "url": null,</a:t>
            </a:r>
          </a:p>
          <a:p xmlns:a="http://schemas.openxmlformats.org/drawingml/2006/main">
            <a:r>
              <a:t>    "urls": [],</a:t>
            </a:r>
          </a:p>
          <a:p xmlns:a="http://schemas.openxmlformats.org/drawingml/2006/main">
            <a:r>
              <a:t>    "basis": "ONE_AI_제안서(Amaranth10_비영리)_260206_V1.0.pdf p.8 / 동일명 md p.16·22·39 정리",</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"완료율·재작업·중복 처리",</a:t>
            </a:r>
          </a:p>
          <a:p xmlns:a="http://schemas.openxmlformats.org/drawingml/2006/main">
            <a:r>
              <a:t>    "group": "제품 비교",</a:t>
            </a:r>
          </a:p>
          <a:p xmlns:a="http://schemas.openxmlformats.org/drawingml/2006/main">
            <a:r>
              <a:t>    "sourceDetail": "ERP·그룹웨어·RAG 연계. 로컬 정리에 권한·업무 에이전트·근태 신청·전자결재 분석 설명",</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"PF-C03",</a:t>
            </a:r>
          </a:p>
          <a:p xmlns:a="http://schemas.openxmlformats.org/drawingml/2006/main">
            <a:r>
              <a:t>    "canonicalId": "PF-C03",</a:t>
            </a:r>
          </a:p>
          <a:p xmlns:a="http://schemas.openxmlformats.org/drawingml/2006/main">
            <a:r>
              <a:t>    "purpose": "ERP·그룹웨어 맥락의 업무 지원",</a:t>
            </a:r>
          </a:p>
          <a:p xmlns:a="http://schemas.openxmlformats.org/drawingml/2006/main">
            <a:r>
              <a:t>    "users": "직원·결재자·ERP 운영자",</a:t>
            </a:r>
          </a:p>
          <a:p xmlns:a="http://schemas.openxmlformats.org/drawingml/2006/main">
            <a:r>
              <a:t>    "scope": [</a:t>
            </a:r>
          </a:p>
          <a:p xmlns:a="http://schemas.openxmlformats.org/drawingml/2006/main">
            <a:r>
              <a:t>      "문서 지원",</a:t>
            </a:r>
          </a:p>
          <a:p xmlns:a="http://schemas.openxmlformats.org/drawingml/2006/main">
            <a:r>
              <a:t>      "근태",</a:t>
            </a:r>
          </a:p>
          <a:p xmlns:a="http://schemas.openxmlformats.org/drawingml/2006/main">
            <a:r>
              <a:t>      "전자결재"</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"ERP·그룹웨어",</a:t>
            </a:r>
          </a:p>
          <a:p xmlns:a="http://schemas.openxmlformats.org/drawingml/2006/main">
            <a:r>
              <a:t>        "detail": "직원·대상 업무·실행 권한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"문서 지원 / 근태 / 전자결재",</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"ONE AI 업무 지원",</a:t>
            </a:r>
          </a:p>
          <a:p xmlns:a="http://schemas.openxmlformats.org/drawingml/2006/main">
            <a:r>
              <a:t>        "detail": "문서 RAG와 업무 요청의 구조화",</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"직원·결재 담당",</a:t>
            </a:r>
          </a:p>
          <a:p xmlns:a="http://schemas.openxmlformats.org/drawingml/2006/main">
            <a:r>
              <a:t>        "detail": "초안 확인 후 업무 시스템의 처리 절차 연결",</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"문서·업무 지식",</a:t>
            </a:r>
          </a:p>
          <a:p xmlns:a="http://schemas.openxmlformats.org/drawingml/2006/main">
            <a:r>
              <a:t>        "detail": "ERP·그룹웨어 문서·인사·결재 자료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"도입본 기능·승인·실행 결과의 비교 시험",</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"ERP·그룹웨어",</a:t>
            </a:r>
          </a:p>
          <a:p xmlns:a="http://schemas.openxmlformats.org/drawingml/2006/main">
            <a:r>
              <a:t>        "input": "직원·대상 업무·실행 권한 확인",</a:t>
            </a:r>
          </a:p>
          <a:p xmlns:a="http://schemas.openxmlformats.org/drawingml/2006/main">
            <a:r>
              <a:t>        "process": "ERP·그룹웨어 문서·인사·결재 자료 연결",</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"title": "문서·업무 지식",</a:t>
            </a:r>
          </a:p>
          <a:p xmlns:a="http://schemas.openxmlformats.org/drawingml/2006/main">
            <a:r>
              <a:t>        "input": "업무 요청",</a:t>
            </a:r>
          </a:p>
          <a:p xmlns:a="http://schemas.openxmlformats.org/drawingml/2006/main">
            <a:r>
              <a:t>        "process": "문서 RAG와 업무 요청의 구조화",</a:t>
            </a:r>
          </a:p>
          <a:p xmlns:a="http://schemas.openxmlformats.org/drawingml/2006/main">
            <a:r>
              <a:t>        "output": "관련 문맥"</a:t>
            </a:r>
          </a:p>
          <a:p xmlns:a="http://schemas.openxmlformats.org/drawingml/2006/main">
            <a:r>
              <a:t>      },</a:t>
            </a:r>
          </a:p>
          <a:p xmlns:a="http://schemas.openxmlformats.org/drawingml/2006/main">
            <a:r>
              <a:t>      {</a:t>
            </a:r>
          </a:p>
          <a:p xmlns:a="http://schemas.openxmlformats.org/drawingml/2006/main">
            <a:r>
              <a:t>        "title": "업무 에이전트",</a:t>
            </a:r>
          </a:p>
          <a:p xmlns:a="http://schemas.openxmlformats.org/drawingml/2006/main">
            <a:r>
              <a:t>        "input": "관련 문맥",</a:t>
            </a:r>
          </a:p>
          <a:p xmlns:a="http://schemas.openxmlformats.org/drawingml/2006/main">
            <a:r>
              <a:t>        "process": "도입본 기능·승인·결과 확인",</a:t>
            </a:r>
          </a:p>
          <a:p xmlns:a="http://schemas.openxmlformats.org/drawingml/2006/main">
            <a:r>
              <a:t>        "output": "업무 초안"</a:t>
            </a:r>
          </a:p>
          <a:p xmlns:a="http://schemas.openxmlformats.org/drawingml/2006/main">
            <a:r>
              <a:t>      },</a:t>
            </a:r>
          </a:p>
          <a:p xmlns:a="http://schemas.openxmlformats.org/drawingml/2006/main">
            <a:r>
              <a:t>      {</a:t>
            </a:r>
          </a:p>
          <a:p xmlns:a="http://schemas.openxmlformats.org/drawingml/2006/main">
            <a:r>
              <a:t>        "title": "근태·결재 연계",</a:t>
            </a:r>
          </a:p>
          <a:p xmlns:a="http://schemas.openxmlformats.org/drawingml/2006/main">
            <a:r>
              <a:t>        "input": "업무 초안",</a:t>
            </a:r>
          </a:p>
          <a:p xmlns:a="http://schemas.openxmlformats.org/drawingml/2006/main">
            <a:r>
              <a:t>        "process": "초안 확인 후 업무 시스템의 처리 절차 연결",</a:t>
            </a:r>
          </a:p>
          <a:p xmlns:a="http://schemas.openxmlformats.org/drawingml/2006/main">
            <a:r>
              <a:t>        "output": "근태·결재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"근태 요청을 확인하고 해당 전자결재 절차로 연결",</a:t>
            </a:r>
          </a:p>
          <a:p xmlns:a="http://schemas.openxmlformats.org/drawingml/2006/main">
            <a:r>
              <a:t>      "exception": "잔여일수 부족·전결권 부재·중복 상신",</a:t>
            </a:r>
          </a:p>
          <a:p xmlns:a="http://schemas.openxmlformats.org/drawingml/2006/main">
            <a:r>
              <a:t>      "evidence": "도입본 기능 목록·사용자 확인·원천 접수 결과",</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"직원·결재자·ERP 운영자",</a:t>
            </a:r>
          </a:p>
          <a:p xmlns:a="http://schemas.openxmlformats.org/drawingml/2006/main">
            <a:r>
              <a:t>          "processing": "직원·대상 업무·실행 권한 확인",</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"문서·업무 지식",</a:t>
            </a:r>
          </a:p>
          <a:p xmlns:a="http://schemas.openxmlformats.org/drawingml/2006/main">
            <a:r>
              <a:t>          "processing": "ERP·그룹웨어 문서·인사·결재 자료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"업무 요청",</a:t>
            </a:r>
          </a:p>
          <a:p xmlns:a="http://schemas.openxmlformats.org/drawingml/2006/main">
            <a:r>
              <a:t>          "processing": "문서 RAG와 업무 요청의 구조화",</a:t>
            </a:r>
          </a:p>
          <a:p xmlns:a="http://schemas.openxmlformats.org/drawingml/2006/main">
            <a:r>
              <a:t>          "output": "업무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"업무 초안",</a:t>
            </a:r>
          </a:p>
          <a:p xmlns:a="http://schemas.openxmlformats.org/drawingml/2006/main">
            <a:r>
              <a:t>          "processing": "초안 확인 후 업무 시스템의 처리 절차 연결",</a:t>
            </a:r>
          </a:p>
          <a:p xmlns:a="http://schemas.openxmlformats.org/drawingml/2006/main">
            <a:r>
              <a:t>          "output": "근태·결재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"도입본 기능·승인·실행 결과의 비교 시험",</a:t>
            </a:r>
          </a:p>
          <a:p xmlns:a="http://schemas.openxmlformats.org/drawingml/2006/main">
            <a:r>
              <a:t>          "output": "도입본 기능 목록·사용자 확인·원천 접수 결과"</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"도입본 기능·승인·실행 결과의 비교 시험",</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"implication": "직원의 ERP·결재 문맥을 활용하되 실제 도입본의 실행·승인 기능 검증",</a:t>
            </a:r>
          </a:p>
          <a:p xmlns:a="http://schemas.openxmlformats.org/drawingml/2006/main">
            <a:r>
              <a:t>    "local": "직원의 ERP·결재 문맥을 활용하되 실제 도입본의 실행·승인 기능 검증",</a:t>
            </a:r>
          </a:p>
          <a:p xmlns:a="http://schemas.openxmlformats.org/drawingml/2006/main">
            <a:r>
              <a:t>    "sourceDetail": "ERP·그룹웨어·RAG 연계. 로컬 정리에 권한·업무 에이전트·근태 신청·전자결재 분석 설명",</a:t>
            </a:r>
          </a:p>
          <a:p xmlns:a="http://schemas.openxmlformats.org/drawingml/2006/main">
            <a:r>
              <a:t>    "narrative": [</a:t>
            </a:r>
          </a:p>
          <a:p xmlns:a="http://schemas.openxmlformats.org/drawingml/2006/main">
            <a:r>
              <a:t>      "ERP·그룹웨어의 AI 업무 지원을 문서 검색과 행정 실행의 연결 관점에서 분석한 사례. 직원이 정보를 찾는 단계에서 근태·결재 등 업무 요청을 구성하는 단계로 확장하는 기능 범위.",</a:t>
            </a:r>
          </a:p>
          <a:p xmlns:a="http://schemas.openxmlformats.org/drawingml/2006/main">
            <a:r>
              <a:t>      "로그인 직원과 업무 목적 확인, 필요한 문서·인사 정보 조회, 실행 요청 구조화, 사용자 확인, 시스템 등록·처리 결과 반환으로 재구성. 제품 소개의 기능 범위와 실제 도입 버전·연계 API 지원 여부를 구분하는 방식.",</a:t>
            </a:r>
          </a:p>
          <a:p xmlns:a="http://schemas.openxmlformats.org/drawingml/2006/main">
            <a:r>
              <a:t>      "CCK에서는 기존 ERP·그룹웨어의 권한·결재 로직을 유지하며 AI가 입력과 초안을 지원하는 접근. 실행 대상·결재선·중복 요청·부분 실패·취소 조건을 시험하고 조회용 토큰과 쓰기 권한의 분리를 추가 개발 범위로 검토."</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"ERP·그룹웨어",</a:t>
            </a:r>
          </a:p>
          <a:p xmlns:a="http://schemas.openxmlformats.org/drawingml/2006/main">
            <a:r>
              <a:t>          "layer": "이용 접점",</a:t>
            </a:r>
          </a:p>
          <a:p xmlns:a="http://schemas.openxmlformats.org/drawingml/2006/main">
            <a:r>
              <a:t>          "detail": "직원·결재자·ERP 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"직원·업무·권한",</a:t>
            </a:r>
          </a:p>
          <a:p xmlns:a="http://schemas.openxmlformats.org/drawingml/2006/main">
            <a:r>
              <a:t>          "layer": "업무 문맥",</a:t>
            </a:r>
          </a:p>
          <a:p xmlns:a="http://schemas.openxmlformats.org/drawingml/2006/main">
            <a:r>
              <a:t>          "detail": "직원·대상 업무·실행 권한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"문서·근태 조회",</a:t>
            </a:r>
          </a:p>
          <a:p xmlns:a="http://schemas.openxmlformats.org/drawingml/2006/main">
            <a:r>
              <a:t>          "layer": "자료 조회",</a:t>
            </a:r>
          </a:p>
          <a:p xmlns:a="http://schemas.openxmlformats.org/drawingml/2006/main">
            <a:r>
              <a:t>          "detail": "업무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"ONE AI 구조화",</a:t>
            </a:r>
          </a:p>
          <a:p xmlns:a="http://schemas.openxmlformats.org/drawingml/2006/main">
            <a:r>
              <a:t>          "layer": "핵심 처리",</a:t>
            </a:r>
          </a:p>
          <a:p xmlns:a="http://schemas.openxmlformats.org/drawingml/2006/main">
            <a:r>
              <a:t>          "detail": "문서 RAG와 업무 요청의 구조화",</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"필드·권한 검사",</a:t>
            </a:r>
          </a:p>
          <a:p xmlns:a="http://schemas.openxmlformats.org/drawingml/2006/main">
            <a:r>
              <a:t>          "layer": "결과 검증",</a:t>
            </a:r>
          </a:p>
          <a:p xmlns:a="http://schemas.openxmlformats.org/drawingml/2006/main">
            <a:r>
              <a:t>          "detail": "도입본 기능·승인·결과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"사용자·결재자",</a:t>
            </a:r>
          </a:p>
          <a:p xmlns:a="http://schemas.openxmlformats.org/drawingml/2006/main">
            <a:r>
              <a:t>          "layer": "사람 확인",</a:t>
            </a:r>
          </a:p>
          <a:p xmlns:a="http://schemas.openxmlformats.org/drawingml/2006/main">
            <a:r>
              <a:t>          "detail": "근태 요청을 확인하고 해당 전자결재 절차로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"근태·전자결재",</a:t>
            </a:r>
          </a:p>
          <a:p xmlns:a="http://schemas.openxmlformats.org/drawingml/2006/main">
            <a:r>
              <a:t>          "layer": "업무 연결",</a:t>
            </a:r>
          </a:p>
          <a:p xmlns:a="http://schemas.openxmlformats.org/drawingml/2006/main">
            <a:r>
              <a:t>          "detail": "초안 확인 후 업무 시스템의 처리 절차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"실행 결과 확인",</a:t>
            </a:r>
          </a:p>
          <a:p xmlns:a="http://schemas.openxmlformats.org/drawingml/2006/main">
            <a:r>
              <a:t>          "layer": "운영 관측",</a:t>
            </a:r>
          </a:p>
          <a:p xmlns:a="http://schemas.openxmlformats.org/drawingml/2006/main">
            <a:r>
              <a:t>          "detail": "도입본 기능·승인·실행 결과의 비교 시험",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"ERP·인사·문서",</a:t>
            </a:r>
          </a:p>
          <a:p xmlns:a="http://schemas.openxmlformats.org/drawingml/2006/main">
            <a:r>
              <a:t>          "layer": "데이터 원천",</a:t>
            </a:r>
          </a:p>
          <a:p xmlns:a="http://schemas.openxmlformats.org/drawingml/2006/main">
            <a:r>
              <a:t>          "detail": "문서·업무 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"업무 식별자 연결",</a:t>
            </a:r>
          </a:p>
          <a:p xmlns:a="http://schemas.openxmlformats.org/drawingml/2006/main">
            <a:r>
              <a:t>          "layer": "준비·갱신",</a:t>
            </a:r>
          </a:p>
          <a:p xmlns:a="http://schemas.openxmlformats.org/drawingml/2006/main">
            <a:r>
              <a:t>          "detail": "ERP·그룹웨어 문서·인사·결재 자료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"초안·처리 상태",</a:t>
            </a:r>
          </a:p>
          <a:p xmlns:a="http://schemas.openxmlformats.org/drawingml/2006/main">
            <a:r>
              <a:t>          "layer": "상태·지식 저장",</a:t>
            </a:r>
          </a:p>
          <a:p xmlns:a="http://schemas.openxmlformats.org/drawingml/2006/main">
            <a:r>
              <a:t>          "detail": "도입본 기능 목록·사용자 확인·원천 접수 결과",</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"실행·승인 정책",</a:t>
            </a:r>
          </a:p>
          <a:p xmlns:a="http://schemas.openxmlformats.org/drawingml/2006/main">
            <a:r>
              <a:t>          "layer": "권한·정책",</a:t>
            </a:r>
          </a:p>
          <a:p xmlns:a="http://schemas.openxmlformats.org/drawingml/2006/main">
            <a:r>
              <a:t>          "detail": "잔여일수 부족·전결권 부재·중복 상신",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"직원·대상 업무·실행 권한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"업무 요청",</a:t>
            </a:r>
          </a:p>
          <a:p xmlns:a="http://schemas.openxmlformats.org/drawingml/2006/main">
            <a:r>
              <a:t>          "check": "도입본 기능·승인·결과 확인"</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"관련 문맥",</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"업무 초안",</a:t>
            </a:r>
          </a:p>
          <a:p xmlns:a="http://schemas.openxmlformats.org/drawingml/2006/main">
            <a:r>
              <a:t>          "check": "잔여일수 부족·전결권 부재·중복 상신"</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"업무 초안",</a:t>
            </a:r>
          </a:p>
          <a:p xmlns:a="http://schemas.openxmlformats.org/drawingml/2006/main">
            <a:r>
              <a:t>          "check": "초안 확인 후 업무 시스템의 처리 절차 연결"</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"근태·결재 결과",</a:t>
            </a:r>
          </a:p>
          <a:p xmlns:a="http://schemas.openxmlformats.org/drawingml/2006/main">
            <a:r>
              <a:t>          "check": "도입본 기능 목록·사용자 확인·원천 접수 결과"</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"ERP·그룹웨어 맥락의 업무 지원 / 문서 지원·근태·전자결재",</a:t>
            </a:r>
          </a:p>
          <a:p xmlns:a="http://schemas.openxmlformats.org/drawingml/2006/main">
            <a:r>
              <a:t>        "extension": "직원의 ERP·결재 문맥을 활용하되 실제 도입본의 실행·승인 기능 검증"</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"잔여일수 부족·전결권 부재·중복 상신",</a:t>
            </a:r>
          </a:p>
          <a:p xmlns:a="http://schemas.openxmlformats.org/drawingml/2006/main">
            <a:r>
              <a:t>        "hold": "도입본 기능·승인·결과 확인",</a:t>
            </a:r>
          </a:p>
          <a:p xmlns:a="http://schemas.openxmlformats.org/drawingml/2006/main">
            <a:r>
              <a:t>        "recovery": "도입본 기능·승인·실행 결과의 비교 시험",</a:t>
            </a:r>
          </a:p>
          <a:p xmlns:a="http://schemas.openxmlformats.org/drawingml/2006/main">
            <a:r>
              <a:t>        "evidence": "도입본 기능 목록·사용자 확인·원천 접수 결과"</a:t>
            </a:r>
          </a:p>
          <a:p xmlns:a="http://schemas.openxmlformats.org/drawingml/2006/main">
            <a:r>
              <a:t>      },</a:t>
            </a:r>
          </a:p>
          <a:p xmlns:a="http://schemas.openxmlformats.org/drawingml/2006/main">
            <a:r>
              <a:t>      "data": {</a:t>
            </a:r>
          </a:p>
          <a:p xmlns:a="http://schemas.openxmlformats.org/drawingml/2006/main">
            <a:r>
              <a:t>        "source": "문서·업무 지식",</a:t>
            </a:r>
          </a:p>
          <a:p xmlns:a="http://schemas.openxmlformats.org/drawingml/2006/main">
            <a:r>
              <a:t>        "prepare": "ERP·그룹웨어 문서·인사·결재 자료 연결",</a:t>
            </a:r>
          </a:p>
          <a:p xmlns:a="http://schemas.openxmlformats.org/drawingml/2006/main">
            <a:r>
              <a:t>        "output": "업무 요청",</a:t>
            </a:r>
          </a:p>
          <a:p xmlns:a="http://schemas.openxmlformats.org/drawingml/2006/main">
            <a:r>
              <a:t>        "refresh": "도입본 기능·승인·실행 결과의 비교 시험"</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"PF-C03",</a:t>
            </a:r>
          </a:p>
          <a:p xmlns:a="http://schemas.openxmlformats.org/drawingml/2006/main">
            <a:r>
              <a:t>    "success": [</a:t>
            </a:r>
          </a:p>
          <a:p xmlns:a="http://schemas.openxmlformats.org/drawingml/2006/main">
            <a:r>
              <a:t>      "ERP·그룹웨어의 업무 문맥",</a:t>
            </a:r>
          </a:p>
          <a:p xmlns:a="http://schemas.openxmlformats.org/drawingml/2006/main">
            <a:r>
              <a:t>      "문서·근태·결재 접점 연결"</a:t>
            </a:r>
          </a:p>
          <a:p xmlns:a="http://schemas.openxmlformats.org/drawingml/2006/main">
            <a:r>
              <a:t>    ],</a:t>
            </a:r>
          </a:p>
          <a:p xmlns:a="http://schemas.openxmlformats.org/drawingml/2006/main">
            <a:r>
              <a:t>    "risks": [</a:t>
            </a:r>
          </a:p>
          <a:p xmlns:a="http://schemas.openxmlformats.org/drawingml/2006/main">
            <a:r>
              <a:t>      "제품 소개와 실제 고객 동작 차이",</a:t>
            </a:r>
          </a:p>
          <a:p xmlns:a="http://schemas.openxmlformats.org/drawingml/2006/main">
            <a:r>
              <a:t>      "업무 실행 권한의 과도한 위임"</a:t>
            </a:r>
          </a:p>
          <a:p xmlns:a="http://schemas.openxmlformats.org/drawingml/2006/main">
            <a:r>
              <a:t>    ],</a:t>
            </a:r>
          </a:p>
          <a:p xmlns:a="http://schemas.openxmlformats.org/drawingml/2006/main">
            <a:r>
              <a:t>    "architecture": [</a:t>
            </a:r>
          </a:p>
          <a:p xmlns:a="http://schemas.openxmlformats.org/drawingml/2006/main">
            <a:r>
              <a:t>      "ERP·그룹웨어",</a:t>
            </a:r>
          </a:p>
          <a:p xmlns:a="http://schemas.openxmlformats.org/drawingml/2006/main">
            <a:r>
              <a:t>      "ONE AI 업무 지원",</a:t>
            </a:r>
          </a:p>
          <a:p xmlns:a="http://schemas.openxmlformats.org/drawingml/2006/main">
            <a:r>
              <a:t>      "문서·업무 지식",</a:t>
            </a:r>
          </a:p>
          <a:p xmlns:a="http://schemas.openxmlformats.org/drawingml/2006/main">
            <a:r>
              <a:t>      "직원·결재 담당"</a:t>
            </a:r>
          </a:p>
          <a:p xmlns:a="http://schemas.openxmlformats.org/drawingml/2006/main">
            <a:r>
              <a:t>    ],</a:t>
            </a:r>
          </a:p>
          <a:p xmlns:a="http://schemas.openxmlformats.org/drawingml/2006/main">
            <a:r>
              <a:t>    "transfers": [</a:t>
            </a:r>
          </a:p>
          <a:p xmlns:a="http://schemas.openxmlformats.org/drawingml/2006/main">
            <a:r>
              <a:t>      "업무 요청",</a:t>
            </a:r>
          </a:p>
          <a:p xmlns:a="http://schemas.openxmlformats.org/drawingml/2006/main">
            <a:r>
              <a:t>      "관련 문맥",</a:t>
            </a:r>
          </a:p>
          <a:p xmlns:a="http://schemas.openxmlformats.org/drawingml/2006/main">
            <a:r>
              <a:t>      "업무 초안",</a:t>
            </a:r>
          </a:p>
          <a:p xmlns:a="http://schemas.openxmlformats.org/drawingml/2006/main">
            <a:r>
              <a:t>      "근태·결재 결과"</a:t>
            </a:r>
          </a:p>
          <a:p xmlns:a="http://schemas.openxmlformats.org/drawingml/2006/main">
            <a:r>
              <a:t>    ],</a:t>
            </a:r>
          </a:p>
          <a:p xmlns:a="http://schemas.openxmlformats.org/drawingml/2006/main">
            <a:r>
              <a:t>    "control": "도입본 기능·승인·결과 확인",</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
            </a:r>
          </a:p>
          <a:p xmlns:a="http://schemas.openxmlformats.org/drawingml/2006/main">
            <a:r>
              <a:t>홈페이지 https://heen1987-ops.github.io/TS-business-Plan-001/index.html?view=platform-cases&amp;case=PF-C03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"PF-C03",</a:t>
            </a:r>
          </a:p>
          <a:p xmlns:a="http://schemas.openxmlformats.org/drawingml/2006/main">
            <a:r>
              <a:t>    "sourceId": "C03",</a:t>
            </a:r>
          </a:p>
          <a:p xmlns:a="http://schemas.openxmlformats.org/drawingml/2006/main">
            <a:r>
              <a:t>    "title": "더존 Amaranth 10 ONE AI",</a:t>
            </a:r>
          </a:p>
          <a:p xmlns:a="http://schemas.openxmlformats.org/drawingml/2006/main">
            <a:r>
              <a:t>    "region": "국내",</a:t>
            </a:r>
          </a:p>
          <a:p xmlns:a="http://schemas.openxmlformats.org/drawingml/2006/main">
            <a:r>
              <a:t>    "owner": "더존 / Amaranth 10 ONE AI",</a:t>
            </a:r>
          </a:p>
          <a:p xmlns:a="http://schemas.openxmlformats.org/drawingml/2006/main">
            <a:r>
              <a:t>    "state": "2026-02-06 제안서 및 로컬 정리 / 고객 운영 검증 아님",</a:t>
            </a:r>
          </a:p>
          <a:p xmlns:a="http://schemas.openxmlformats.org/drawingml/2006/main">
            <a:r>
              <a:t>    "period": "기존 원장 확인 2026.10.16",</a:t>
            </a:r>
          </a:p>
          <a:p xmlns:a="http://schemas.openxmlformats.org/drawingml/2006/main">
            <a:r>
              <a:t>    "fact": "제품 설명 비교 / 기관 도입 사례로 집계 안 함",</a:t>
            </a:r>
          </a:p>
          <a:p xmlns:a="http://schemas.openxmlformats.org/drawingml/2006/main">
            <a:r>
              <a:t>    "limit": "제품 기능 설명과 고객 구현·성과를 구분. 특정 ERP 의존성 및 TS 타 시스템 연계 공수는 미확인",</a:t>
            </a:r>
          </a:p>
          <a:p xmlns:a="http://schemas.openxmlformats.org/drawingml/2006/main">
            <a:r>
              <a:t>    "nodes": [</a:t>
            </a:r>
          </a:p>
          <a:p xmlns:a="http://schemas.openxmlformats.org/drawingml/2006/main">
            <a:r>
              <a:t>      "ERP·그룹웨어",</a:t>
            </a:r>
          </a:p>
          <a:p xmlns:a="http://schemas.openxmlformats.org/drawingml/2006/main">
            <a:r>
              <a:t>      "문서·업무 지식",</a:t>
            </a:r>
          </a:p>
          <a:p xmlns:a="http://schemas.openxmlformats.org/drawingml/2006/main">
            <a:r>
              <a:t>      "업무 에이전트",</a:t>
            </a:r>
          </a:p>
          <a:p xmlns:a="http://schemas.openxmlformats.org/drawingml/2006/main">
            <a:r>
              <a:t>      "근태·결재 연계"</a:t>
            </a:r>
          </a:p>
          <a:p xmlns:a="http://schemas.openxmlformats.org/drawingml/2006/main">
            <a:r>
              <a:t>    ],</a:t>
            </a:r>
          </a:p>
          <a:p xmlns:a="http://schemas.openxmlformats.org/drawingml/2006/main">
            <a:r>
              <a:t>    "apply": "직원의 ERP·결재 문맥을 활용하되 실제 도입본의 실행·승인 기능 검증",</a:t>
            </a:r>
          </a:p>
          <a:p xmlns:a="http://schemas.openxmlformats.org/drawingml/2006/main">
            <a:r>
              <a:t>    "delta": "필수 항목·담당자·승인·API 처리 연결",</a:t>
            </a:r>
          </a:p>
          <a:p xmlns:a="http://schemas.openxmlformats.org/drawingml/2006/main">
            <a:r>
              <a:t>    "test": "완료율·재작업·중복 처리의 기준선·비교 평가",</a:t>
            </a:r>
          </a:p>
          <a:p xmlns:a="http://schemas.openxmlformats.org/drawingml/2006/main">
            <a:r>
              <a:t>    "url": null,</a:t>
            </a:r>
          </a:p>
          <a:p xmlns:a="http://schemas.openxmlformats.org/drawingml/2006/main">
            <a:r>
              <a:t>    "urls": [],</a:t>
            </a:r>
          </a:p>
          <a:p xmlns:a="http://schemas.openxmlformats.org/drawingml/2006/main">
            <a:r>
              <a:t>    "basis": "ONE_AI_제안서(Amaranth10_비영리)_260206_V1.0.pdf p.8 / 동일명 md p.16·22·39 정리",</a:t>
            </a:r>
          </a:p>
          <a:p xmlns:a="http://schemas.openxmlformats.org/drawingml/2006/main">
            <a:r>
              <a:t>    "checked": "2026-10-16",</a:t>
            </a:r>
          </a:p>
          <a:p xmlns:a="http://schemas.openxmlformats.org/drawingml/2006/main">
            <a:r>
              <a:t>    "diagramBasis": "공개 기능 설명 기반 흐름 재구성 · 실제 구현·비공개 배치와 구분",</a:t>
            </a:r>
          </a:p>
          <a:p xmlns:a="http://schemas.openxmlformats.org/drawingml/2006/main">
            <a:r>
              <a:t>    "effect": "완료율·재작업·중복 처리",</a:t>
            </a:r>
          </a:p>
          <a:p xmlns:a="http://schemas.openxmlformats.org/drawingml/2006/main">
            <a:r>
              <a:t>    "group": "제품 비교",</a:t>
            </a:r>
          </a:p>
          <a:p xmlns:a="http://schemas.openxmlformats.org/drawingml/2006/main">
            <a:r>
              <a:t>    "sourceDetail": "ERP·그룹웨어·RAG 연계. 로컬 정리에 권한·업무 에이전트·근태 신청·전자결재 분석 설명",</a:t>
            </a:r>
          </a:p>
          <a:p xmlns:a="http://schemas.openxmlformats.org/drawingml/2006/main">
            <a:r>
              <a:t>    "evidenceScope": "원장에 기록된 출처·단계 기준"</a:t>
            </a:r>
          </a:p>
          <a:p xmlns:a="http://schemas.openxmlformats.org/drawingml/2006/main">
            <a:r>
              <a:t>  },</a:t>
            </a:r>
          </a:p>
          <a:p xmlns:a="http://schemas.openxmlformats.org/drawingml/2006/main">
            <a:r>
              <a:t>  "design": {</a:t>
            </a:r>
          </a:p>
          <a:p xmlns:a="http://schemas.openxmlformats.org/drawingml/2006/main">
            <a:r>
              <a:t>    "id": "PF-C03",</a:t>
            </a:r>
          </a:p>
          <a:p xmlns:a="http://schemas.openxmlformats.org/drawingml/2006/main">
            <a:r>
              <a:t>    "canonicalId": "PF-C03",</a:t>
            </a:r>
          </a:p>
          <a:p xmlns:a="http://schemas.openxmlformats.org/drawingml/2006/main">
            <a:r>
              <a:t>    "purpose": "ERP·그룹웨어 맥락의 업무 지원",</a:t>
            </a:r>
          </a:p>
          <a:p xmlns:a="http://schemas.openxmlformats.org/drawingml/2006/main">
            <a:r>
              <a:t>    "users": "직원·결재자·ERP 운영자",</a:t>
            </a:r>
          </a:p>
          <a:p xmlns:a="http://schemas.openxmlformats.org/drawingml/2006/main">
            <a:r>
              <a:t>    "scope": [</a:t>
            </a:r>
          </a:p>
          <a:p xmlns:a="http://schemas.openxmlformats.org/drawingml/2006/main">
            <a:r>
              <a:t>      "문서 지원",</a:t>
            </a:r>
          </a:p>
          <a:p xmlns:a="http://schemas.openxmlformats.org/drawingml/2006/main">
            <a:r>
              <a:t>      "근태",</a:t>
            </a:r>
          </a:p>
          <a:p xmlns:a="http://schemas.openxmlformats.org/drawingml/2006/main">
            <a:r>
              <a:t>      "전자결재"</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"ERP·그룹웨어",</a:t>
            </a:r>
          </a:p>
          <a:p xmlns:a="http://schemas.openxmlformats.org/drawingml/2006/main">
            <a:r>
              <a:t>        "detail": "직원·대상 업무·실행 권한 확인",</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"문서 지원 / 근태 / 전자결재",</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"ONE AI 업무 지원",</a:t>
            </a:r>
          </a:p>
          <a:p xmlns:a="http://schemas.openxmlformats.org/drawingml/2006/main">
            <a:r>
              <a:t>        "detail": "문서 RAG와 업무 요청의 구조화",</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"직원·결재 담당",</a:t>
            </a:r>
          </a:p>
          <a:p xmlns:a="http://schemas.openxmlformats.org/drawingml/2006/main">
            <a:r>
              <a:t>        "detail": "초안 확인 후 업무 시스템의 처리 절차 연결",</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"문서·업무 지식",</a:t>
            </a:r>
          </a:p>
          <a:p xmlns:a="http://schemas.openxmlformats.org/drawingml/2006/main">
            <a:r>
              <a:t>        "detail": "ERP·그룹웨어 문서·인사·결재 자료 연결",</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"도입본 기능·승인·실행 결과의 비교 시험",</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"ERP·그룹웨어",</a:t>
            </a:r>
          </a:p>
          <a:p xmlns:a="http://schemas.openxmlformats.org/drawingml/2006/main">
            <a:r>
              <a:t>        "input": "직원·대상 업무·실행 권한 확인",</a:t>
            </a:r>
          </a:p>
          <a:p xmlns:a="http://schemas.openxmlformats.org/drawingml/2006/main">
            <a:r>
              <a:t>        "process": "ERP·그룹웨어 문서·인사·결재 자료 연결",</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"title": "문서·업무 지식",</a:t>
            </a:r>
          </a:p>
          <a:p xmlns:a="http://schemas.openxmlformats.org/drawingml/2006/main">
            <a:r>
              <a:t>        "input": "업무 요청",</a:t>
            </a:r>
          </a:p>
          <a:p xmlns:a="http://schemas.openxmlformats.org/drawingml/2006/main">
            <a:r>
              <a:t>        "process": "문서 RAG와 업무 요청의 구조화",</a:t>
            </a:r>
          </a:p>
          <a:p xmlns:a="http://schemas.openxmlformats.org/drawingml/2006/main">
            <a:r>
              <a:t>        "output": "관련 문맥"</a:t>
            </a:r>
          </a:p>
          <a:p xmlns:a="http://schemas.openxmlformats.org/drawingml/2006/main">
            <a:r>
              <a:t>      },</a:t>
            </a:r>
          </a:p>
          <a:p xmlns:a="http://schemas.openxmlformats.org/drawingml/2006/main">
            <a:r>
              <a:t>      {</a:t>
            </a:r>
          </a:p>
          <a:p xmlns:a="http://schemas.openxmlformats.org/drawingml/2006/main">
            <a:r>
              <a:t>        "title": "업무 에이전트",</a:t>
            </a:r>
          </a:p>
          <a:p xmlns:a="http://schemas.openxmlformats.org/drawingml/2006/main">
            <a:r>
              <a:t>        "input": "관련 문맥",</a:t>
            </a:r>
          </a:p>
          <a:p xmlns:a="http://schemas.openxmlformats.org/drawingml/2006/main">
            <a:r>
              <a:t>        "process": "도입본 기능·승인·결과 확인",</a:t>
            </a:r>
          </a:p>
          <a:p xmlns:a="http://schemas.openxmlformats.org/drawingml/2006/main">
            <a:r>
              <a:t>        "output": "업무 초안"</a:t>
            </a:r>
          </a:p>
          <a:p xmlns:a="http://schemas.openxmlformats.org/drawingml/2006/main">
            <a:r>
              <a:t>      },</a:t>
            </a:r>
          </a:p>
          <a:p xmlns:a="http://schemas.openxmlformats.org/drawingml/2006/main">
            <a:r>
              <a:t>      {</a:t>
            </a:r>
          </a:p>
          <a:p xmlns:a="http://schemas.openxmlformats.org/drawingml/2006/main">
            <a:r>
              <a:t>        "title": "근태·결재 연계",</a:t>
            </a:r>
          </a:p>
          <a:p xmlns:a="http://schemas.openxmlformats.org/drawingml/2006/main">
            <a:r>
              <a:t>        "input": "업무 초안",</a:t>
            </a:r>
          </a:p>
          <a:p xmlns:a="http://schemas.openxmlformats.org/drawingml/2006/main">
            <a:r>
              <a:t>        "process": "초안 확인 후 업무 시스템의 처리 절차 연결",</a:t>
            </a:r>
          </a:p>
          <a:p xmlns:a="http://schemas.openxmlformats.org/drawingml/2006/main">
            <a:r>
              <a:t>        "output": "근태·결재 결과"</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"근태 요청을 확인하고 해당 전자결재 절차로 연결",</a:t>
            </a:r>
          </a:p>
          <a:p xmlns:a="http://schemas.openxmlformats.org/drawingml/2006/main">
            <a:r>
              <a:t>      "exception": "잔여일수 부족·전결권 부재·중복 상신",</a:t>
            </a:r>
          </a:p>
          <a:p xmlns:a="http://schemas.openxmlformats.org/drawingml/2006/main">
            <a:r>
              <a:t>      "evidence": "도입본 기능 목록·사용자 확인·원천 접수 결과",</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"직원·결재자·ERP 운영자",</a:t>
            </a:r>
          </a:p>
          <a:p xmlns:a="http://schemas.openxmlformats.org/drawingml/2006/main">
            <a:r>
              <a:t>          "processing": "직원·대상 업무·실행 권한 확인",</a:t>
            </a:r>
          </a:p>
          <a:p xmlns:a="http://schemas.openxmlformats.org/drawingml/2006/main">
            <a:r>
              <a:t>          "output": "업무 요청"</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"문서·업무 지식",</a:t>
            </a:r>
          </a:p>
          <a:p xmlns:a="http://schemas.openxmlformats.org/drawingml/2006/main">
            <a:r>
              <a:t>          "processing": "ERP·그룹웨어 문서·인사·결재 자료 연결",</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"업무 요청",</a:t>
            </a:r>
          </a:p>
          <a:p xmlns:a="http://schemas.openxmlformats.org/drawingml/2006/main">
            <a:r>
              <a:t>          "processing": "문서 RAG와 업무 요청의 구조화",</a:t>
            </a:r>
          </a:p>
          <a:p xmlns:a="http://schemas.openxmlformats.org/drawingml/2006/main">
            <a:r>
              <a:t>          "output": "업무 초안"</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"업무 초안",</a:t>
            </a:r>
          </a:p>
          <a:p xmlns:a="http://schemas.openxmlformats.org/drawingml/2006/main">
            <a:r>
              <a:t>          "processing": "초안 확인 후 업무 시스템의 처리 절차 연결",</a:t>
            </a:r>
          </a:p>
          <a:p xmlns:a="http://schemas.openxmlformats.org/drawingml/2006/main">
            <a:r>
              <a:t>          "output": "근태·결재 결과"</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"도입본 기능·승인·실행 결과의 비교 시험",</a:t>
            </a:r>
          </a:p>
          <a:p xmlns:a="http://schemas.openxmlformats.org/drawingml/2006/main">
            <a:r>
              <a:t>          "output": "도입본 기능 목록·사용자 확인·원천 접수 결과"</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"도입본 기능·승인·실행 결과의 비교 시험",</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"implication": "직원의 ERP·결재 문맥을 활용하되 실제 도입본의 실행·승인 기능 검증",</a:t>
            </a:r>
          </a:p>
          <a:p xmlns:a="http://schemas.openxmlformats.org/drawingml/2006/main">
            <a:r>
              <a:t>    "local": "직원의 ERP·결재 문맥을 활용하되 실제 도입본의 실행·승인 기능 검증",</a:t>
            </a:r>
          </a:p>
          <a:p xmlns:a="http://schemas.openxmlformats.org/drawingml/2006/main">
            <a:r>
              <a:t>    "sourceDetail": "ERP·그룹웨어·RAG 연계. 로컬 정리에 권한·업무 에이전트·근태 신청·전자결재 분석 설명",</a:t>
            </a:r>
          </a:p>
          <a:p xmlns:a="http://schemas.openxmlformats.org/drawingml/2006/main">
            <a:r>
              <a:t>    "narrative": [</a:t>
            </a:r>
          </a:p>
          <a:p xmlns:a="http://schemas.openxmlformats.org/drawingml/2006/main">
            <a:r>
              <a:t>      "ERP·그룹웨어의 AI 업무 지원을 문서 검색과 행정 실행의 연결 관점에서 분석한 사례. 직원이 정보를 찾는 단계에서 근태·결재 등 업무 요청을 구성하는 단계로 확장하는 기능 범위.",</a:t>
            </a:r>
          </a:p>
          <a:p xmlns:a="http://schemas.openxmlformats.org/drawingml/2006/main">
            <a:r>
              <a:t>      "로그인 직원과 업무 목적 확인, 필요한 문서·인사 정보 조회, 실행 요청 구조화, 사용자 확인, 시스템 등록·처리 결과 반환으로 재구성. 제품 소개의 기능 범위와 실제 도입 버전·연계 API 지원 여부를 구분하는 방식.",</a:t>
            </a:r>
          </a:p>
          <a:p xmlns:a="http://schemas.openxmlformats.org/drawingml/2006/main">
            <a:r>
              <a:t>      "CCK에서는 기존 ERP·그룹웨어의 권한·결재 로직을 유지하며 AI가 입력과 초안을 지원하는 접근. 실행 대상·결재선·중복 요청·부분 실패·취소 조건을 시험하고 조회용 토큰과 쓰기 권한의 분리를 추가 개발 범위로 검토."</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"ERP·그룹웨어",</a:t>
            </a:r>
          </a:p>
          <a:p xmlns:a="http://schemas.openxmlformats.org/drawingml/2006/main">
            <a:r>
              <a:t>          "layer": "이용 접점",</a:t>
            </a:r>
          </a:p>
          <a:p xmlns:a="http://schemas.openxmlformats.org/drawingml/2006/main">
            <a:r>
              <a:t>          "detail": "직원·결재자·ERP 운영자",</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"직원·업무·권한",</a:t>
            </a:r>
          </a:p>
          <a:p xmlns:a="http://schemas.openxmlformats.org/drawingml/2006/main">
            <a:r>
              <a:t>          "layer": "업무 문맥",</a:t>
            </a:r>
          </a:p>
          <a:p xmlns:a="http://schemas.openxmlformats.org/drawingml/2006/main">
            <a:r>
              <a:t>          "detail": "직원·대상 업무·실행 권한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"문서·근태 조회",</a:t>
            </a:r>
          </a:p>
          <a:p xmlns:a="http://schemas.openxmlformats.org/drawingml/2006/main">
            <a:r>
              <a:t>          "layer": "자료 조회",</a:t>
            </a:r>
          </a:p>
          <a:p xmlns:a="http://schemas.openxmlformats.org/drawingml/2006/main">
            <a:r>
              <a:t>          "detail": "업무 요청",</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"ONE AI 구조화",</a:t>
            </a:r>
          </a:p>
          <a:p xmlns:a="http://schemas.openxmlformats.org/drawingml/2006/main">
            <a:r>
              <a:t>          "layer": "핵심 처리",</a:t>
            </a:r>
          </a:p>
          <a:p xmlns:a="http://schemas.openxmlformats.org/drawingml/2006/main">
            <a:r>
              <a:t>          "detail": "문서 RAG와 업무 요청의 구조화",</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"필드·권한 검사",</a:t>
            </a:r>
          </a:p>
          <a:p xmlns:a="http://schemas.openxmlformats.org/drawingml/2006/main">
            <a:r>
              <a:t>          "layer": "결과 검증",</a:t>
            </a:r>
          </a:p>
          <a:p xmlns:a="http://schemas.openxmlformats.org/drawingml/2006/main">
            <a:r>
              <a:t>          "detail": "도입본 기능·승인·결과 확인",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"사용자·결재자",</a:t>
            </a:r>
          </a:p>
          <a:p xmlns:a="http://schemas.openxmlformats.org/drawingml/2006/main">
            <a:r>
              <a:t>          "layer": "사람 확인",</a:t>
            </a:r>
          </a:p>
          <a:p xmlns:a="http://schemas.openxmlformats.org/drawingml/2006/main">
            <a:r>
              <a:t>          "detail": "근태 요청을 확인하고 해당 전자결재 절차로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"근태·전자결재",</a:t>
            </a:r>
          </a:p>
          <a:p xmlns:a="http://schemas.openxmlformats.org/drawingml/2006/main">
            <a:r>
              <a:t>          "layer": "업무 연결",</a:t>
            </a:r>
          </a:p>
          <a:p xmlns:a="http://schemas.openxmlformats.org/drawingml/2006/main">
            <a:r>
              <a:t>          "detail": "초안 확인 후 업무 시스템의 처리 절차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"실행 결과 확인",</a:t>
            </a:r>
          </a:p>
          <a:p xmlns:a="http://schemas.openxmlformats.org/drawingml/2006/main">
            <a:r>
              <a:t>          "layer": "운영 관측",</a:t>
            </a:r>
          </a:p>
          <a:p xmlns:a="http://schemas.openxmlformats.org/drawingml/2006/main">
            <a:r>
              <a:t>          "detail": "도입본 기능·승인·실행 결과의 비교 시험",</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"ERP·인사·문서",</a:t>
            </a:r>
          </a:p>
          <a:p xmlns:a="http://schemas.openxmlformats.org/drawingml/2006/main">
            <a:r>
              <a:t>          "layer": "데이터 원천",</a:t>
            </a:r>
          </a:p>
          <a:p xmlns:a="http://schemas.openxmlformats.org/drawingml/2006/main">
            <a:r>
              <a:t>          "detail": "문서·업무 지식",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"업무 식별자 연결",</a:t>
            </a:r>
          </a:p>
          <a:p xmlns:a="http://schemas.openxmlformats.org/drawingml/2006/main">
            <a:r>
              <a:t>          "layer": "준비·갱신",</a:t>
            </a:r>
          </a:p>
          <a:p xmlns:a="http://schemas.openxmlformats.org/drawingml/2006/main">
            <a:r>
              <a:t>          "detail": "ERP·그룹웨어 문서·인사·결재 자료 연결",</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"초안·처리 상태",</a:t>
            </a:r>
          </a:p>
          <a:p xmlns:a="http://schemas.openxmlformats.org/drawingml/2006/main">
            <a:r>
              <a:t>          "layer": "상태·지식 저장",</a:t>
            </a:r>
          </a:p>
          <a:p xmlns:a="http://schemas.openxmlformats.org/drawingml/2006/main">
            <a:r>
              <a:t>          "detail": "도입본 기능 목록·사용자 확인·원천 접수 결과",</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"실행·승인 정책",</a:t>
            </a:r>
          </a:p>
          <a:p xmlns:a="http://schemas.openxmlformats.org/drawingml/2006/main">
            <a:r>
              <a:t>          "layer": "권한·정책",</a:t>
            </a:r>
          </a:p>
          <a:p xmlns:a="http://schemas.openxmlformats.org/drawingml/2006/main">
            <a:r>
              <a:t>          "detail": "잔여일수 부족·전결권 부재·중복 상신",</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"직원·대상 업무·실행 권한 확인",</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"업무 요청",</a:t>
            </a:r>
          </a:p>
          <a:p xmlns:a="http://schemas.openxmlformats.org/drawingml/2006/main">
            <a:r>
              <a:t>          "check": "도입본 기능·승인·결과 확인"</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"관련 문맥",</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"업무 초안",</a:t>
            </a:r>
          </a:p>
          <a:p xmlns:a="http://schemas.openxmlformats.org/drawingml/2006/main">
            <a:r>
              <a:t>          "check": "잔여일수 부족·전결권 부재·중복 상신"</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"업무 초안",</a:t>
            </a:r>
          </a:p>
          <a:p xmlns:a="http://schemas.openxmlformats.org/drawingml/2006/main">
            <a:r>
              <a:t>          "check": "초안 확인 후 업무 시스템의 처리 절차 연결"</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"근태·결재 결과",</a:t>
            </a:r>
          </a:p>
          <a:p xmlns:a="http://schemas.openxmlformats.org/drawingml/2006/main">
            <a:r>
              <a:t>          "check": "도입본 기능 목록·사용자 확인·원천 접수 결과"</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"ERP·그룹웨어 맥락의 업무 지원 / 문서 지원·근태·전자결재",</a:t>
            </a:r>
          </a:p>
          <a:p xmlns:a="http://schemas.openxmlformats.org/drawingml/2006/main">
            <a:r>
              <a:t>        "extension": "직원의 ERP·결재 문맥을 활용하되 실제 도입본의 실행·승인 기능 검증"</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"잔여일수 부족·전결권 부재·중복 상신",</a:t>
            </a:r>
          </a:p>
          <a:p xmlns:a="http://schemas.openxmlformats.org/drawingml/2006/main">
            <a:r>
              <a:t>        "hold": "도입본 기능·승인·결과 확인",</a:t>
            </a:r>
          </a:p>
          <a:p xmlns:a="http://schemas.openxmlformats.org/drawingml/2006/main">
            <a:r>
              <a:t>        "recovery": "도입본 기능·승인·실행 결과의 비교 시험",</a:t>
            </a:r>
          </a:p>
          <a:p xmlns:a="http://schemas.openxmlformats.org/drawingml/2006/main">
            <a:r>
              <a:t>        "evidence": "도입본 기능 목록·사용자 확인·원천 접수 결과"</a:t>
            </a:r>
          </a:p>
          <a:p xmlns:a="http://schemas.openxmlformats.org/drawingml/2006/main">
            <a:r>
              <a:t>      },</a:t>
            </a:r>
          </a:p>
          <a:p xmlns:a="http://schemas.openxmlformats.org/drawingml/2006/main">
            <a:r>
              <a:t>      "data": {</a:t>
            </a:r>
          </a:p>
          <a:p xmlns:a="http://schemas.openxmlformats.org/drawingml/2006/main">
            <a:r>
              <a:t>        "source": "문서·업무 지식",</a:t>
            </a:r>
          </a:p>
          <a:p xmlns:a="http://schemas.openxmlformats.org/drawingml/2006/main">
            <a:r>
              <a:t>        "prepare": "ERP·그룹웨어 문서·인사·결재 자료 연결",</a:t>
            </a:r>
          </a:p>
          <a:p xmlns:a="http://schemas.openxmlformats.org/drawingml/2006/main">
            <a:r>
              <a:t>        "output": "업무 요청",</a:t>
            </a:r>
          </a:p>
          <a:p xmlns:a="http://schemas.openxmlformats.org/drawingml/2006/main">
            <a:r>
              <a:t>        "refresh": "도입본 기능·승인·실행 결과의 비교 시험"</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"PF-C03",</a:t>
            </a:r>
          </a:p>
          <a:p xmlns:a="http://schemas.openxmlformats.org/drawingml/2006/main">
            <a:r>
              <a:t>    "success": [</a:t>
            </a:r>
          </a:p>
          <a:p xmlns:a="http://schemas.openxmlformats.org/drawingml/2006/main">
            <a:r>
              <a:t>      "ERP·그룹웨어의 업무 문맥",</a:t>
            </a:r>
          </a:p>
          <a:p xmlns:a="http://schemas.openxmlformats.org/drawingml/2006/main">
            <a:r>
              <a:t>      "문서·근태·결재 접점 연결"</a:t>
            </a:r>
          </a:p>
          <a:p xmlns:a="http://schemas.openxmlformats.org/drawingml/2006/main">
            <a:r>
              <a:t>    ],</a:t>
            </a:r>
          </a:p>
          <a:p xmlns:a="http://schemas.openxmlformats.org/drawingml/2006/main">
            <a:r>
              <a:t>    "risks": [</a:t>
            </a:r>
          </a:p>
          <a:p xmlns:a="http://schemas.openxmlformats.org/drawingml/2006/main">
            <a:r>
              <a:t>      "제품 소개와 실제 고객 동작 차이",</a:t>
            </a:r>
          </a:p>
          <a:p xmlns:a="http://schemas.openxmlformats.org/drawingml/2006/main">
            <a:r>
              <a:t>      "업무 실행 권한의 과도한 위임"</a:t>
            </a:r>
          </a:p>
          <a:p xmlns:a="http://schemas.openxmlformats.org/drawingml/2006/main">
            <a:r>
              <a:t>    ],</a:t>
            </a:r>
          </a:p>
          <a:p xmlns:a="http://schemas.openxmlformats.org/drawingml/2006/main">
            <a:r>
              <a:t>    "architecture": [</a:t>
            </a:r>
          </a:p>
          <a:p xmlns:a="http://schemas.openxmlformats.org/drawingml/2006/main">
            <a:r>
              <a:t>      "ERP·그룹웨어",</a:t>
            </a:r>
          </a:p>
          <a:p xmlns:a="http://schemas.openxmlformats.org/drawingml/2006/main">
            <a:r>
              <a:t>      "ONE AI 업무 지원",</a:t>
            </a:r>
          </a:p>
          <a:p xmlns:a="http://schemas.openxmlformats.org/drawingml/2006/main">
            <a:r>
              <a:t>      "문서·업무 지식",</a:t>
            </a:r>
          </a:p>
          <a:p xmlns:a="http://schemas.openxmlformats.org/drawingml/2006/main">
            <a:r>
              <a:t>      "직원·결재 담당"</a:t>
            </a:r>
          </a:p>
          <a:p xmlns:a="http://schemas.openxmlformats.org/drawingml/2006/main">
            <a:r>
              <a:t>    ],</a:t>
            </a:r>
          </a:p>
          <a:p xmlns:a="http://schemas.openxmlformats.org/drawingml/2006/main">
            <a:r>
              <a:t>    "transfers": [</a:t>
            </a:r>
          </a:p>
          <a:p xmlns:a="http://schemas.openxmlformats.org/drawingml/2006/main">
            <a:r>
              <a:t>      "업무 요청",</a:t>
            </a:r>
          </a:p>
          <a:p xmlns:a="http://schemas.openxmlformats.org/drawingml/2006/main">
            <a:r>
              <a:t>      "관련 문맥",</a:t>
            </a:r>
          </a:p>
          <a:p xmlns:a="http://schemas.openxmlformats.org/drawingml/2006/main">
            <a:r>
              <a:t>      "업무 초안",</a:t>
            </a:r>
          </a:p>
          <a:p xmlns:a="http://schemas.openxmlformats.org/drawingml/2006/main">
            <a:r>
              <a:t>      "근태·결재 결과"</a:t>
            </a:r>
          </a:p>
          <a:p xmlns:a="http://schemas.openxmlformats.org/drawingml/2006/main">
            <a:r>
              <a:t>    ],</a:t>
            </a:r>
          </a:p>
          <a:p xmlns:a="http://schemas.openxmlformats.org/drawingml/2006/main">
            <a:r>
              <a:t>    "control": "도입본 기능·승인·결과 확인",</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
            </a:r>
          </a:p>
          <a:p xmlns:a="http://schemas.openxmlformats.org/drawingml/2006/main">
            <a:r>
              <a:t>홈페이지 https://heen1987-ops.github.io/TS-business-Plan-001/index.html?view=platform-cases&amp;case=PF-C03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"PF31",</a:t>
            </a:r>
          </a:p>
          <a:p xmlns:a="http://schemas.openxmlformats.org/drawingml/2006/main">
            <a:r>
              <a:t>    "sourceId": "AX13",</a:t>
            </a:r>
          </a:p>
          <a:p xmlns:a="http://schemas.openxmlformats.org/drawingml/2006/main">
            <a:r>
              <a:t>    "title": "뉴욕 MyCity 챗봇 감사",</a:t>
            </a:r>
          </a:p>
          <a:p xmlns:a="http://schemas.openxmlformats.org/drawingml/2006/main">
            <a:r>
              <a:t>    "region": "해외",</a:t>
            </a:r>
          </a:p>
          <a:p xmlns:a="http://schemas.openxmlformats.org/drawingml/2006/main">
            <a:r>
              <a:t>    "owner": "뉴욕시 / 감사기관",</a:t>
            </a:r>
          </a:p>
          <a:p xmlns:a="http://schemas.openxmlformats.org/drawingml/2006/main">
            <a:r>
              <a:t>    "state": "감사 지적·개선",</a:t>
            </a:r>
          </a:p>
          <a:p xmlns:a="http://schemas.openxmlformats.org/drawingml/2006/main">
            <a:r>
              <a:t>    "period": "2025 감사 / 2026 갱신",</a:t>
            </a:r>
          </a:p>
          <a:p xmlns:a="http://schemas.openxmlformats.org/drawingml/2006/main">
            <a:r>
              <a:t>    "fact": "부정확·비일관 답변과 사업관리·통합서비스 미비에 대한 감사 지적",</a:t>
            </a:r>
          </a:p>
          <a:p xmlns:a="http://schemas.openxmlformats.org/drawingml/2006/main">
            <a:r>
              <a:t>    "limit": "운영기관의 정확도 주장과 감사 판단의 차이 존재 · 개별 질의·평가 방식 대조 필요",</a:t>
            </a:r>
          </a:p>
          <a:p xmlns:a="http://schemas.openxmlformats.org/drawingml/2006/main">
            <a:r>
              <a:t>    "nodes": [</a:t>
            </a:r>
          </a:p>
          <a:p xmlns:a="http://schemas.openxmlformats.org/drawingml/2006/main">
            <a:r>
              <a:t>      "공공 안내 자료",</a:t>
            </a:r>
          </a:p>
          <a:p xmlns:a="http://schemas.openxmlformats.org/drawingml/2006/main">
            <a:r>
              <a:t>      "AI 챗봇",</a:t>
            </a:r>
          </a:p>
          <a:p xmlns:a="http://schemas.openxmlformats.org/drawingml/2006/main">
            <a:r>
              <a:t>      "사업자 안내",</a:t>
            </a:r>
          </a:p>
          <a:p xmlns:a="http://schemas.openxmlformats.org/drawingml/2006/main">
            <a:r>
              <a:t>      "감사·개선 요청"</a:t>
            </a:r>
          </a:p>
          <a:p xmlns:a="http://schemas.openxmlformats.org/drawingml/2006/main">
            <a:r>
              <a:t>    ],</a:t>
            </a:r>
          </a:p>
          <a:p xmlns:a="http://schemas.openxmlformats.org/drawingml/2006/main">
            <a:r>
              <a:t>    "apply": "답변 정답셋·서비스 도달·계약 산출물의 검수 체계를 사업 초기에 구성",</a:t>
            </a:r>
          </a:p>
          <a:p xmlns:a="http://schemas.openxmlformats.org/drawingml/2006/main">
            <a:r>
              <a:t>    "delta": "반례 정답셋·오안내 신고·책임부서 인계",</a:t>
            </a:r>
          </a:p>
          <a:p xmlns:a="http://schemas.openxmlformats.org/drawingml/2006/main">
            <a:r>
              <a:t>    "test": "규정과 상충하는 안내 및 미완료 신청 재현",</a:t>
            </a:r>
          </a:p>
          <a:p xmlns:a="http://schemas.openxmlformats.org/drawingml/2006/main">
            <a:r>
              <a:t>    "url": "https://comptroller.nyc.gov/reports/audit-report-on-the-new-york-city-office-of-technology-and-innovations-mycity-system/",</a:t>
            </a:r>
          </a:p>
          <a:p xmlns:a="http://schemas.openxmlformats.org/drawingml/2006/main">
            <a:r>
              <a:t>    "basis": "뉴욕시 감사 보고서",</a:t>
            </a:r>
          </a:p>
          <a:p xmlns:a="http://schemas.openxmlformats.org/drawingml/2006/main">
            <a:r>
              <a:t>    "checked": "2026-10-16",</a:t>
            </a:r>
          </a:p>
          <a:p xmlns:a="http://schemas.openxmlformats.org/drawingml/2006/main">
            <a:r>
              <a:t>    "diagramBasis": "공개 업무 흐름의 요약·재구성 / 내부 배치 구조 추정 제외",</a:t>
            </a:r>
          </a:p>
          <a:p xmlns:a="http://schemas.openxmlformats.org/drawingml/2006/main">
            <a:r>
              <a:t>    "effect": "오안내율 / 신청 완료율 / 재접촉률",</a:t>
            </a:r>
          </a:p>
          <a:p xmlns:a="http://schemas.openxmlformats.org/drawingml/2006/main">
            <a:r>
              <a:t>    "group": "감사·개선"</a:t>
            </a:r>
          </a:p>
          <a:p xmlns:a="http://schemas.openxmlformats.org/drawingml/2006/main">
            <a:r>
              <a:t>  },</a:t>
            </a:r>
          </a:p>
          <a:p xmlns:a="http://schemas.openxmlformats.org/drawingml/2006/main">
            <a:r>
              <a:t>  "design": {</a:t>
            </a:r>
          </a:p>
          <a:p xmlns:a="http://schemas.openxmlformats.org/drawingml/2006/main">
            <a:r>
              <a:t>    "id": "PF31",</a:t>
            </a:r>
          </a:p>
          <a:p xmlns:a="http://schemas.openxmlformats.org/drawingml/2006/main">
            <a:r>
              <a:t>    "canonicalId": "AX13",</a:t>
            </a:r>
          </a:p>
          <a:p xmlns:a="http://schemas.openxmlformats.org/drawingml/2006/main">
            <a:r>
              <a:t>    "purpose": "대민 챗봇의 답변 품질·사업관리 실패 분석",</a:t>
            </a:r>
          </a:p>
          <a:p xmlns:a="http://schemas.openxmlformats.org/drawingml/2006/main">
            <a:r>
              <a:t>    "users": "사업자·시민·서비스 운영부서",</a:t>
            </a:r>
          </a:p>
          <a:p xmlns:a="http://schemas.openxmlformats.org/drawingml/2006/main">
            <a:r>
              <a:t>    "scope": [</a:t>
            </a:r>
          </a:p>
          <a:p xmlns:a="http://schemas.openxmlformats.org/drawingml/2006/main">
            <a:r>
              <a:t>      "질의응답",</a:t>
            </a:r>
          </a:p>
          <a:p xmlns:a="http://schemas.openxmlformats.org/drawingml/2006/main">
            <a:r>
              <a:t>      "포털 통합",</a:t>
            </a:r>
          </a:p>
          <a:p xmlns:a="http://schemas.openxmlformats.org/drawingml/2006/main">
            <a:r>
              <a:t>      "계약·감사"</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"MyCity 이용자",</a:t>
            </a:r>
          </a:p>
          <a:p xmlns:a="http://schemas.openxmlformats.org/drawingml/2006/main">
            <a:r>
              <a:t>        "detail": "요청 업무와 공식 소관·이용조건 식별",</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"질의응답 / 포털 통합 / 계약·감사",</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"AI 챗봇·포털",</a:t>
            </a:r>
          </a:p>
          <a:p xmlns:a="http://schemas.openxmlformats.org/drawingml/2006/main">
            <a:r>
              <a:t>        "detail": "공식 정보 검색과 근거별 답변 대조 설계",</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"사업자·운영 담당",</a:t>
            </a:r>
          </a:p>
          <a:p xmlns:a="http://schemas.openxmlformats.org/drawingml/2006/main">
            <a:r>
              <a:t>        "detail": "검증된 안내와 실제 신청 경로의 분리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"안내·응답·평가 기록",</a:t>
            </a:r>
          </a:p>
          <a:p xmlns:a="http://schemas.openxmlformats.org/drawingml/2006/main">
            <a:r>
              <a:t>        "detail": "정책 원문·서비스 목록·시험 질문의 버전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"회귀시험·오답 보완·계약 산출물의 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"공공 안내 자료",</a:t>
            </a:r>
          </a:p>
          <a:p xmlns:a="http://schemas.openxmlformats.org/drawingml/2006/main">
            <a:r>
              <a:t>        "input": "요청 업무와 공식 소관·이용조건 식별",</a:t>
            </a:r>
          </a:p>
          <a:p xmlns:a="http://schemas.openxmlformats.org/drawingml/2006/main">
            <a:r>
              <a:t>        "process": "정책 원문·서비스 목록·시험 질문의 버전 관리",</a:t>
            </a:r>
          </a:p>
          <a:p xmlns:a="http://schemas.openxmlformats.org/drawingml/2006/main">
            <a:r>
              <a:t>        "output": "질문"</a:t>
            </a:r>
          </a:p>
          <a:p xmlns:a="http://schemas.openxmlformats.org/drawingml/2006/main">
            <a:r>
              <a:t>      },</a:t>
            </a:r>
          </a:p>
          <a:p xmlns:a="http://schemas.openxmlformats.org/drawingml/2006/main">
            <a:r>
              <a:t>      {</a:t>
            </a:r>
          </a:p>
          <a:p xmlns:a="http://schemas.openxmlformats.org/drawingml/2006/main">
            <a:r>
              <a:t>        "title": "AI 챗봇",</a:t>
            </a:r>
          </a:p>
          <a:p xmlns:a="http://schemas.openxmlformats.org/drawingml/2006/main">
            <a:r>
              <a:t>        "input": "질문",</a:t>
            </a:r>
          </a:p>
          <a:p xmlns:a="http://schemas.openxmlformats.org/drawingml/2006/main">
            <a:r>
              <a:t>        "process": "공식 정보 검색과 근거별 답변 대조 설계",</a:t>
            </a:r>
          </a:p>
          <a:p xmlns:a="http://schemas.openxmlformats.org/drawingml/2006/main">
            <a:r>
              <a:t>        "output": "안내 지식"</a:t>
            </a:r>
          </a:p>
          <a:p xmlns:a="http://schemas.openxmlformats.org/drawingml/2006/main">
            <a:r>
              <a:t>      },</a:t>
            </a:r>
          </a:p>
          <a:p xmlns:a="http://schemas.openxmlformats.org/drawingml/2006/main">
            <a:r>
              <a:t>      {</a:t>
            </a:r>
          </a:p>
          <a:p xmlns:a="http://schemas.openxmlformats.org/drawingml/2006/main">
            <a:r>
              <a:t>        "title": "사업자 안내",</a:t>
            </a:r>
          </a:p>
          <a:p xmlns:a="http://schemas.openxmlformats.org/drawingml/2006/main">
            <a:r>
              <a:t>        "input": "안내 지식",</a:t>
            </a:r>
          </a:p>
          <a:p xmlns:a="http://schemas.openxmlformats.org/drawingml/2006/main">
            <a:r>
              <a:t>        "process": "감사 지적과 기관 반론의 근거별 추적",</a:t>
            </a:r>
          </a:p>
          <a:p xmlns:a="http://schemas.openxmlformats.org/drawingml/2006/main">
            <a:r>
              <a:t>        "output": "챗봇 답변"</a:t>
            </a:r>
          </a:p>
          <a:p xmlns:a="http://schemas.openxmlformats.org/drawingml/2006/main">
            <a:r>
              <a:t>      },</a:t>
            </a:r>
          </a:p>
          <a:p xmlns:a="http://schemas.openxmlformats.org/drawingml/2006/main">
            <a:r>
              <a:t>      {</a:t>
            </a:r>
          </a:p>
          <a:p xmlns:a="http://schemas.openxmlformats.org/drawingml/2006/main">
            <a:r>
              <a:t>        "title": "감사·개선 요청",</a:t>
            </a:r>
          </a:p>
          <a:p xmlns:a="http://schemas.openxmlformats.org/drawingml/2006/main">
            <a:r>
              <a:t>        "input": "챗봇 답변",</a:t>
            </a:r>
          </a:p>
          <a:p xmlns:a="http://schemas.openxmlformats.org/drawingml/2006/main">
            <a:r>
              <a:t>        "process": "검증된 안내와 실제 신청 경로의 분리 제공",</a:t>
            </a:r>
          </a:p>
          <a:p xmlns:a="http://schemas.openxmlformats.org/drawingml/2006/main">
            <a:r>
              <a:t>        "output": "피드백·감사"</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"사업자가 허가 조건을 질문해 공식 안내로 이동",</a:t>
            </a:r>
          </a:p>
          <a:p xmlns:a="http://schemas.openxmlformats.org/drawingml/2006/main">
            <a:r>
              <a:t>      "exception": "동일 질문 표현 변경·상충 규정·폐지된 서비스",</a:t>
            </a:r>
          </a:p>
          <a:p xmlns:a="http://schemas.openxmlformats.org/drawingml/2006/main">
            <a:r>
              <a:t>      "evidence": "질문별 정답·변형 질의 일관성·실제 서비스 도달 기록",</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"사업자·시민·서비스 운영부서",</a:t>
            </a:r>
          </a:p>
          <a:p xmlns:a="http://schemas.openxmlformats.org/drawingml/2006/main">
            <a:r>
              <a:t>          "processing": "요청 업무와 공식 소관·이용조건 식별",</a:t>
            </a:r>
          </a:p>
          <a:p xmlns:a="http://schemas.openxmlformats.org/drawingml/2006/main">
            <a:r>
              <a:t>          "output": "질문"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"안내·응답·평가 기록",</a:t>
            </a:r>
          </a:p>
          <a:p xmlns:a="http://schemas.openxmlformats.org/drawingml/2006/main">
            <a:r>
              <a:t>          "processing": "정책 원문·서비스 목록·시험 질문의 버전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"질문",</a:t>
            </a:r>
          </a:p>
          <a:p xmlns:a="http://schemas.openxmlformats.org/drawingml/2006/main">
            <a:r>
              <a:t>          "processing": "공식 정보 검색과 근거별 답변 대조 설계",</a:t>
            </a:r>
          </a:p>
          <a:p xmlns:a="http://schemas.openxmlformats.org/drawingml/2006/main">
            <a:r>
              <a:t>          "output": "챗봇 답변"</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"챗봇 답변",</a:t>
            </a:r>
          </a:p>
          <a:p xmlns:a="http://schemas.openxmlformats.org/drawingml/2006/main">
            <a:r>
              <a:t>          "processing": "검증된 안내와 실제 신청 경로의 분리 제공",</a:t>
            </a:r>
          </a:p>
          <a:p xmlns:a="http://schemas.openxmlformats.org/drawingml/2006/main">
            <a:r>
              <a:t>          "output": "피드백·감사"</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"회귀시험·오답 보완·계약 산출물의 대사",</a:t>
            </a:r>
          </a:p>
          <a:p xmlns:a="http://schemas.openxmlformats.org/drawingml/2006/main">
            <a:r>
              <a:t>          "output": "질문별 정답·변형 질의 일관성·실제 서비스 도달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"회귀시험·오답 보완·계약 산출물의 대사",</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"뉴욕시 감사 보고서",</a:t>
            </a:r>
          </a:p>
          <a:p xmlns:a="http://schemas.openxmlformats.org/drawingml/2006/main">
            <a:r>
              <a:t>        "url": "https://comptroller.nyc.gov/reports/audit-report-on-the-new-york-city-office-of-technology-and-innovations-mycity-system/"</a:t>
            </a:r>
          </a:p>
          <a:p xmlns:a="http://schemas.openxmlformats.org/drawingml/2006/main">
            <a:r>
              <a:t>      }</a:t>
            </a:r>
          </a:p>
          <a:p xmlns:a="http://schemas.openxmlformats.org/drawingml/2006/main">
            <a:r>
              <a:t>    ],</a:t>
            </a:r>
          </a:p>
          <a:p xmlns:a="http://schemas.openxmlformats.org/drawingml/2006/main">
            <a:r>
              <a:t>    "implication": "출시 여부와 실제 민원 과업 완료의 분리 평가",</a:t>
            </a:r>
          </a:p>
          <a:p xmlns:a="http://schemas.openxmlformats.org/drawingml/2006/main">
            <a:r>
              <a:t>    "local": "답변 정답셋·서비스 도달·계약 산출물의 검수 체계를 사업 초기에 구성",</a:t>
            </a:r>
          </a:p>
          <a:p xmlns:a="http://schemas.openxmlformats.org/drawingml/2006/main">
            <a:r>
              <a:t>    "sourceDetail": null,</a:t>
            </a:r>
          </a:p>
          <a:p xmlns:a="http://schemas.openxmlformats.org/drawingml/2006/main">
            <a:r>
              <a:t>    "narrative": [</a:t>
            </a:r>
          </a:p>
          <a:p xmlns:a="http://schemas.openxmlformats.org/drawingml/2006/main">
            <a:r>
              <a:t>      "뉴욕 MyCity의 챗봇 답변 품질과 통합서비스 사업관리 문제를 다룬 감사 사례. 공식 안내의 정확성과 서비스 통합·계약 감독을 함께 봐야 하는 대민 AI 사업의 사례.",</a:t>
            </a:r>
          </a:p>
          <a:p xmlns:a="http://schemas.openxmlformats.org/drawingml/2006/main">
            <a:r>
              <a:t>      "질문별 근거 문서, 답변 결과, 공식 신청 경로, 오류 수정 이력을 연결하는 재구성. 독립 시험셋과 계약 산출물 목록을 대응시키고 감사 지적·기관 반론을 근거별로 구분해 비교하는 방식.",</a:t>
            </a:r>
          </a:p>
          <a:p xmlns:a="http://schemas.openxmlformats.org/drawingml/2006/main">
            <a:r>
              <a:t>      "TS에서는 챗봇 공개와 민원 업무 완결을 같은 성과로 보지 않는 설계에 활용. 부정확·상충 안내의 회귀시험, 완료조건 정의, 변경 요구와 인수 증빙의 연결을 CCK 사업관리 기능에 반영할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"MyCity 질의",</a:t>
            </a:r>
          </a:p>
          <a:p xmlns:a="http://schemas.openxmlformats.org/drawingml/2006/main">
            <a:r>
              <a:t>          "layer": "이용 접점",</a:t>
            </a:r>
          </a:p>
          <a:p xmlns:a="http://schemas.openxmlformats.org/drawingml/2006/main">
            <a:r>
              <a:t>          "detail": "사업자·시민·서비스 운영부서",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"소관·이용조건",</a:t>
            </a:r>
          </a:p>
          <a:p xmlns:a="http://schemas.openxmlformats.org/drawingml/2006/main">
            <a:r>
              <a:t>          "layer": "업무 문맥",</a:t>
            </a:r>
          </a:p>
          <a:p xmlns:a="http://schemas.openxmlformats.org/drawingml/2006/main">
            <a:r>
              <a:t>          "detail": "요청 업무와 공식 소관·이용조건 식별",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"공식 안내 검색",</a:t>
            </a:r>
          </a:p>
          <a:p xmlns:a="http://schemas.openxmlformats.org/drawingml/2006/main">
            <a:r>
              <a:t>          "layer": "자료 조회",</a:t>
            </a:r>
          </a:p>
          <a:p xmlns:a="http://schemas.openxmlformats.org/drawingml/2006/main">
            <a:r>
              <a:t>          "detail": "질문",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"근거형 답변 구성",</a:t>
            </a:r>
          </a:p>
          <a:p xmlns:a="http://schemas.openxmlformats.org/drawingml/2006/main">
            <a:r>
              <a:t>          "layer": "핵심 처리",</a:t>
            </a:r>
          </a:p>
          <a:p xmlns:a="http://schemas.openxmlformats.org/drawingml/2006/main">
            <a:r>
              <a:t>          "detail": "공식 정보 검색과 근거별 답변 대조 설계",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"위법·상충 안내 검사",</a:t>
            </a:r>
          </a:p>
          <a:p xmlns:a="http://schemas.openxmlformats.org/drawingml/2006/main">
            <a:r>
              <a:t>          "layer": "결과 검증",</a:t>
            </a:r>
          </a:p>
          <a:p xmlns:a="http://schemas.openxmlformats.org/drawingml/2006/main">
            <a:r>
              <a:t>          "detail": "감사 지적과 기관 반론의 근거별 추적",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"서비스 담당 검토",</a:t>
            </a:r>
          </a:p>
          <a:p xmlns:a="http://schemas.openxmlformats.org/drawingml/2006/main">
            <a:r>
              <a:t>          "layer": "사람 확인",</a:t>
            </a:r>
          </a:p>
          <a:p xmlns:a="http://schemas.openxmlformats.org/drawingml/2006/main">
            <a:r>
              <a:t>          "detail": "사업자가 허가 조건을 질문해 공식 안내로 이동",</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"신청 경로 안내",</a:t>
            </a:r>
          </a:p>
          <a:p xmlns:a="http://schemas.openxmlformats.org/drawingml/2006/main">
            <a:r>
              <a:t>          "layer": "업무 연결",</a:t>
            </a:r>
          </a:p>
          <a:p xmlns:a="http://schemas.openxmlformats.org/drawingml/2006/main">
            <a:r>
              <a:t>          "detail": "검증된 안내와 실제 신청 경로의 분리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"오답·계약 대사",</a:t>
            </a:r>
          </a:p>
          <a:p xmlns:a="http://schemas.openxmlformats.org/drawingml/2006/main">
            <a:r>
              <a:t>          "layer": "운영 관측",</a:t>
            </a:r>
          </a:p>
          <a:p xmlns:a="http://schemas.openxmlformats.org/drawingml/2006/main">
            <a:r>
              <a:t>          "detail": "회귀시험·오답 보완·계약 산출물의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"정책·서비스 목록",</a:t>
            </a:r>
          </a:p>
          <a:p xmlns:a="http://schemas.openxmlformats.org/drawingml/2006/main">
            <a:r>
              <a:t>          "layer": "데이터 원천",</a:t>
            </a:r>
          </a:p>
          <a:p xmlns:a="http://schemas.openxmlformats.org/drawingml/2006/main">
            <a:r>
              <a:t>          "detail": "안내·응답·평가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"판본·적용조건 정리",</a:t>
            </a:r>
          </a:p>
          <a:p xmlns:a="http://schemas.openxmlformats.org/drawingml/2006/main">
            <a:r>
              <a:t>          "layer": "준비·갱신",</a:t>
            </a:r>
          </a:p>
          <a:p xmlns:a="http://schemas.openxmlformats.org/drawingml/2006/main">
            <a:r>
              <a:t>          "detail": "정책 원문·서비스 목록·시험 질문의 버전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"안내·회귀시험셋",</a:t>
            </a:r>
          </a:p>
          <a:p xmlns:a="http://schemas.openxmlformats.org/drawingml/2006/main">
            <a:r>
              <a:t>          "layer": "상태·지식 저장",</a:t>
            </a:r>
          </a:p>
          <a:p xmlns:a="http://schemas.openxmlformats.org/drawingml/2006/main">
            <a:r>
              <a:t>          "detail": "질문별 정답·변형 질의 일관성·실제 서비스 도달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"업무 책임·품질기준",</a:t>
            </a:r>
          </a:p>
          <a:p xmlns:a="http://schemas.openxmlformats.org/drawingml/2006/main">
            <a:r>
              <a:t>          "layer": "권한·정책",</a:t>
            </a:r>
          </a:p>
          <a:p xmlns:a="http://schemas.openxmlformats.org/drawingml/2006/main">
            <a:r>
              <a:t>          "detail": "동일 질문 표현 변경·상충 규정·폐지된 서비스",</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"요청 업무와 공식 소관·이용조건 식별",</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"질문",</a:t>
            </a:r>
          </a:p>
          <a:p xmlns:a="http://schemas.openxmlformats.org/drawingml/2006/main">
            <a:r>
              <a:t>          "check": "감사 지적과 기관 반론의 근거별 추적"</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"안내 지식",</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"챗봇 답변",</a:t>
            </a:r>
          </a:p>
          <a:p xmlns:a="http://schemas.openxmlformats.org/drawingml/2006/main">
            <a:r>
              <a:t>          "check": "동일 질문 표현 변경·상충 규정·폐지된 서비스"</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"챗봇 답변",</a:t>
            </a:r>
          </a:p>
          <a:p xmlns:a="http://schemas.openxmlformats.org/drawingml/2006/main">
            <a:r>
              <a:t>          "check": "검증된 안내와 실제 신청 경로의 분리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"피드백·감사",</a:t>
            </a:r>
          </a:p>
          <a:p xmlns:a="http://schemas.openxmlformats.org/drawingml/2006/main">
            <a:r>
              <a:t>          "check": "질문별 정답·변형 질의 일관성·실제 서비스 도달 기록"</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"대민 챗봇의 답변 품질·사업관리 실패 분석 / 질의응답·포털 통합·계약·감사",</a:t>
            </a:r>
          </a:p>
          <a:p xmlns:a="http://schemas.openxmlformats.org/drawingml/2006/main">
            <a:r>
              <a:t>        "extension": "답변 정답셋·서비스 도달·계약 산출물의 검수 체계를 사업 초기에 구성"</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"동일 질문 표현 변경·상충 규정·폐지된 서비스",</a:t>
            </a:r>
          </a:p>
          <a:p xmlns:a="http://schemas.openxmlformats.org/drawingml/2006/main">
            <a:r>
              <a:t>        "hold": "감사 지적과 기관 반론의 근거별 추적",</a:t>
            </a:r>
          </a:p>
          <a:p xmlns:a="http://schemas.openxmlformats.org/drawingml/2006/main">
            <a:r>
              <a:t>        "recovery": "회귀시험·오답 보완·계약 산출물의 대사",</a:t>
            </a:r>
          </a:p>
          <a:p xmlns:a="http://schemas.openxmlformats.org/drawingml/2006/main">
            <a:r>
              <a:t>        "evidence": "질문별 정답·변형 질의 일관성·실제 서비스 도달 기록"</a:t>
            </a:r>
          </a:p>
          <a:p xmlns:a="http://schemas.openxmlformats.org/drawingml/2006/main">
            <a:r>
              <a:t>      },</a:t>
            </a:r>
          </a:p>
          <a:p xmlns:a="http://schemas.openxmlformats.org/drawingml/2006/main">
            <a:r>
              <a:t>      "data": {</a:t>
            </a:r>
          </a:p>
          <a:p xmlns:a="http://schemas.openxmlformats.org/drawingml/2006/main">
            <a:r>
              <a:t>        "source": "안내·응답·평가 기록",</a:t>
            </a:r>
          </a:p>
          <a:p xmlns:a="http://schemas.openxmlformats.org/drawingml/2006/main">
            <a:r>
              <a:t>        "prepare": "정책 원문·서비스 목록·시험 질문의 버전 관리",</a:t>
            </a:r>
          </a:p>
          <a:p xmlns:a="http://schemas.openxmlformats.org/drawingml/2006/main">
            <a:r>
              <a:t>        "output": "질문",</a:t>
            </a:r>
          </a:p>
          <a:p xmlns:a="http://schemas.openxmlformats.org/drawingml/2006/main">
            <a:r>
              <a:t>        "refresh": "회귀시험·오답 보완·계약 산출물의 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"PF31",</a:t>
            </a:r>
          </a:p>
          <a:p xmlns:a="http://schemas.openxmlformats.org/drawingml/2006/main">
            <a:r>
              <a:t>    "success": [</a:t>
            </a:r>
          </a:p>
          <a:p xmlns:a="http://schemas.openxmlformats.org/drawingml/2006/main">
            <a:r>
              <a:t>      "통합 서비스의 완료조건 정의",</a:t>
            </a:r>
          </a:p>
          <a:p xmlns:a="http://schemas.openxmlformats.org/drawingml/2006/main">
            <a:r>
              <a:t>      "응답 품질·계약 증빙의 독립 검토"</a:t>
            </a:r>
          </a:p>
          <a:p xmlns:a="http://schemas.openxmlformats.org/drawingml/2006/main">
            <a:r>
              <a:t>    ],</a:t>
            </a:r>
          </a:p>
          <a:p xmlns:a="http://schemas.openxmlformats.org/drawingml/2006/main">
            <a:r>
              <a:t>    "risks": [</a:t>
            </a:r>
          </a:p>
          <a:p xmlns:a="http://schemas.openxmlformats.org/drawingml/2006/main">
            <a:r>
              <a:t>      "감사에서 지적된 비일관 답변",</a:t>
            </a:r>
          </a:p>
          <a:p xmlns:a="http://schemas.openxmlformats.org/drawingml/2006/main">
            <a:r>
              <a:t>      "사업계획·계약 감독·서비스 통합의 미비"</a:t>
            </a:r>
          </a:p>
          <a:p xmlns:a="http://schemas.openxmlformats.org/drawingml/2006/main">
            <a:r>
              <a:t>    ],</a:t>
            </a:r>
          </a:p>
          <a:p xmlns:a="http://schemas.openxmlformats.org/drawingml/2006/main">
            <a:r>
              <a:t>    "architecture": [</a:t>
            </a:r>
          </a:p>
          <a:p xmlns:a="http://schemas.openxmlformats.org/drawingml/2006/main">
            <a:r>
              <a:t>      "MyCity 이용자",</a:t>
            </a:r>
          </a:p>
          <a:p xmlns:a="http://schemas.openxmlformats.org/drawingml/2006/main">
            <a:r>
              <a:t>      "AI 챗봇·포털",</a:t>
            </a:r>
          </a:p>
          <a:p xmlns:a="http://schemas.openxmlformats.org/drawingml/2006/main">
            <a:r>
              <a:t>      "안내·응답·평가 기록",</a:t>
            </a:r>
          </a:p>
          <a:p xmlns:a="http://schemas.openxmlformats.org/drawingml/2006/main">
            <a:r>
              <a:t>      "사업자·운영 담당"</a:t>
            </a:r>
          </a:p>
          <a:p xmlns:a="http://schemas.openxmlformats.org/drawingml/2006/main">
            <a:r>
              <a:t>    ],</a:t>
            </a:r>
          </a:p>
          <a:p xmlns:a="http://schemas.openxmlformats.org/drawingml/2006/main">
            <a:r>
              <a:t>    "transfers": [</a:t>
            </a:r>
          </a:p>
          <a:p xmlns:a="http://schemas.openxmlformats.org/drawingml/2006/main">
            <a:r>
              <a:t>      "질문",</a:t>
            </a:r>
          </a:p>
          <a:p xmlns:a="http://schemas.openxmlformats.org/drawingml/2006/main">
            <a:r>
              <a:t>      "안내 지식",</a:t>
            </a:r>
          </a:p>
          <a:p xmlns:a="http://schemas.openxmlformats.org/drawingml/2006/main">
            <a:r>
              <a:t>      "챗봇 답변",</a:t>
            </a:r>
          </a:p>
          <a:p xmlns:a="http://schemas.openxmlformats.org/drawingml/2006/main">
            <a:r>
              <a:t>      "피드백·감사"</a:t>
            </a:r>
          </a:p>
          <a:p xmlns:a="http://schemas.openxmlformats.org/drawingml/2006/main">
            <a:r>
              <a:t>    ],</a:t>
            </a:r>
          </a:p>
          <a:p xmlns:a="http://schemas.openxmlformats.org/drawingml/2006/main">
            <a:r>
              <a:t>    "control": "감사 지적과 기관 반론의 근거별 추적",</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뉴욕시 감사 보고서 https://comptroller.nyc.gov/reports/audit-report-on-the-new-york-city-office-of-technology-and-innovations-mycity-system/</a:t>
            </a:r>
          </a:p>
          <a:p xmlns:a="http://schemas.openxmlformats.org/drawingml/2006/main">
            <a:r>
              <a:t>홈페이지 https://heen1987-ops.github.io/TS-business-Plan-001/index.html?view=platform-cases&amp;case=PF31</a:t>
            </a:r>
          </a:p>
          <a:p xmlns:a="http://schemas.openxmlformats.org/drawingml/2006/main">
            <a:r>
              <a:t>한계: 운영기관의 정확도 주장과 감사 판단의 차이 존재 · 개별 질의·평가 방식 대조 필요</a:t>
            </a:r>
          </a:p>
          <a:p xmlns:a="http://schemas.openxmlformats.org/drawingml/2006/main">
            <a:r>
              <a:t>재발 방지 조건: 통합 서비스의 완료조건 정의 / 응답 품질·계약 증빙의 독립 검토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"PF31",</a:t>
            </a:r>
          </a:p>
          <a:p xmlns:a="http://schemas.openxmlformats.org/drawingml/2006/main">
            <a:r>
              <a:t>    "sourceId": "AX13",</a:t>
            </a:r>
          </a:p>
          <a:p xmlns:a="http://schemas.openxmlformats.org/drawingml/2006/main">
            <a:r>
              <a:t>    "title": "뉴욕 MyCity 챗봇 감사",</a:t>
            </a:r>
          </a:p>
          <a:p xmlns:a="http://schemas.openxmlformats.org/drawingml/2006/main">
            <a:r>
              <a:t>    "region": "해외",</a:t>
            </a:r>
          </a:p>
          <a:p xmlns:a="http://schemas.openxmlformats.org/drawingml/2006/main">
            <a:r>
              <a:t>    "owner": "뉴욕시 / 감사기관",</a:t>
            </a:r>
          </a:p>
          <a:p xmlns:a="http://schemas.openxmlformats.org/drawingml/2006/main">
            <a:r>
              <a:t>    "state": "감사 지적·개선",</a:t>
            </a:r>
          </a:p>
          <a:p xmlns:a="http://schemas.openxmlformats.org/drawingml/2006/main">
            <a:r>
              <a:t>    "period": "2025 감사 / 2026 갱신",</a:t>
            </a:r>
          </a:p>
          <a:p xmlns:a="http://schemas.openxmlformats.org/drawingml/2006/main">
            <a:r>
              <a:t>    "fact": "부정확·비일관 답변과 사업관리·통합서비스 미비에 대한 감사 지적",</a:t>
            </a:r>
          </a:p>
          <a:p xmlns:a="http://schemas.openxmlformats.org/drawingml/2006/main">
            <a:r>
              <a:t>    "limit": "운영기관의 정확도 주장과 감사 판단의 차이 존재 · 개별 질의·평가 방식 대조 필요",</a:t>
            </a:r>
          </a:p>
          <a:p xmlns:a="http://schemas.openxmlformats.org/drawingml/2006/main">
            <a:r>
              <a:t>    "nodes": [</a:t>
            </a:r>
          </a:p>
          <a:p xmlns:a="http://schemas.openxmlformats.org/drawingml/2006/main">
            <a:r>
              <a:t>      "공공 안내 자료",</a:t>
            </a:r>
          </a:p>
          <a:p xmlns:a="http://schemas.openxmlformats.org/drawingml/2006/main">
            <a:r>
              <a:t>      "AI 챗봇",</a:t>
            </a:r>
          </a:p>
          <a:p xmlns:a="http://schemas.openxmlformats.org/drawingml/2006/main">
            <a:r>
              <a:t>      "사업자 안내",</a:t>
            </a:r>
          </a:p>
          <a:p xmlns:a="http://schemas.openxmlformats.org/drawingml/2006/main">
            <a:r>
              <a:t>      "감사·개선 요청"</a:t>
            </a:r>
          </a:p>
          <a:p xmlns:a="http://schemas.openxmlformats.org/drawingml/2006/main">
            <a:r>
              <a:t>    ],</a:t>
            </a:r>
          </a:p>
          <a:p xmlns:a="http://schemas.openxmlformats.org/drawingml/2006/main">
            <a:r>
              <a:t>    "apply": "답변 정답셋·서비스 도달·계약 산출물의 검수 체계를 사업 초기에 구성",</a:t>
            </a:r>
          </a:p>
          <a:p xmlns:a="http://schemas.openxmlformats.org/drawingml/2006/main">
            <a:r>
              <a:t>    "delta": "반례 정답셋·오안내 신고·책임부서 인계",</a:t>
            </a:r>
          </a:p>
          <a:p xmlns:a="http://schemas.openxmlformats.org/drawingml/2006/main">
            <a:r>
              <a:t>    "test": "규정과 상충하는 안내 및 미완료 신청 재현",</a:t>
            </a:r>
          </a:p>
          <a:p xmlns:a="http://schemas.openxmlformats.org/drawingml/2006/main">
            <a:r>
              <a:t>    "url": "https://comptroller.nyc.gov/reports/audit-report-on-the-new-york-city-office-of-technology-and-innovations-mycity-system/",</a:t>
            </a:r>
          </a:p>
          <a:p xmlns:a="http://schemas.openxmlformats.org/drawingml/2006/main">
            <a:r>
              <a:t>    "basis": "뉴욕시 감사 보고서",</a:t>
            </a:r>
          </a:p>
          <a:p xmlns:a="http://schemas.openxmlformats.org/drawingml/2006/main">
            <a:r>
              <a:t>    "checked": "2026-10-16",</a:t>
            </a:r>
          </a:p>
          <a:p xmlns:a="http://schemas.openxmlformats.org/drawingml/2006/main">
            <a:r>
              <a:t>    "diagramBasis": "공개 업무 흐름의 요약·재구성 / 내부 배치 구조 추정 제외",</a:t>
            </a:r>
          </a:p>
          <a:p xmlns:a="http://schemas.openxmlformats.org/drawingml/2006/main">
            <a:r>
              <a:t>    "effect": "오안내율 / 신청 완료율 / 재접촉률",</a:t>
            </a:r>
          </a:p>
          <a:p xmlns:a="http://schemas.openxmlformats.org/drawingml/2006/main">
            <a:r>
              <a:t>    "group": "감사·개선"</a:t>
            </a:r>
          </a:p>
          <a:p xmlns:a="http://schemas.openxmlformats.org/drawingml/2006/main">
            <a:r>
              <a:t>  },</a:t>
            </a:r>
          </a:p>
          <a:p xmlns:a="http://schemas.openxmlformats.org/drawingml/2006/main">
            <a:r>
              <a:t>  "design": {</a:t>
            </a:r>
          </a:p>
          <a:p xmlns:a="http://schemas.openxmlformats.org/drawingml/2006/main">
            <a:r>
              <a:t>    "id": "PF31",</a:t>
            </a:r>
          </a:p>
          <a:p xmlns:a="http://schemas.openxmlformats.org/drawingml/2006/main">
            <a:r>
              <a:t>    "canonicalId": "AX13",</a:t>
            </a:r>
          </a:p>
          <a:p xmlns:a="http://schemas.openxmlformats.org/drawingml/2006/main">
            <a:r>
              <a:t>    "purpose": "대민 챗봇의 답변 품질·사업관리 실패 분석",</a:t>
            </a:r>
          </a:p>
          <a:p xmlns:a="http://schemas.openxmlformats.org/drawingml/2006/main">
            <a:r>
              <a:t>    "users": "사업자·시민·서비스 운영부서",</a:t>
            </a:r>
          </a:p>
          <a:p xmlns:a="http://schemas.openxmlformats.org/drawingml/2006/main">
            <a:r>
              <a:t>    "scope": [</a:t>
            </a:r>
          </a:p>
          <a:p xmlns:a="http://schemas.openxmlformats.org/drawingml/2006/main">
            <a:r>
              <a:t>      "질의응답",</a:t>
            </a:r>
          </a:p>
          <a:p xmlns:a="http://schemas.openxmlformats.org/drawingml/2006/main">
            <a:r>
              <a:t>      "포털 통합",</a:t>
            </a:r>
          </a:p>
          <a:p xmlns:a="http://schemas.openxmlformats.org/drawingml/2006/main">
            <a:r>
              <a:t>      "계약·감사"</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"MyCity 이용자",</a:t>
            </a:r>
          </a:p>
          <a:p xmlns:a="http://schemas.openxmlformats.org/drawingml/2006/main">
            <a:r>
              <a:t>        "detail": "요청 업무와 공식 소관·이용조건 식별",</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"질의응답 / 포털 통합 / 계약·감사",</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"AI 챗봇·포털",</a:t>
            </a:r>
          </a:p>
          <a:p xmlns:a="http://schemas.openxmlformats.org/drawingml/2006/main">
            <a:r>
              <a:t>        "detail": "공식 정보 검색과 근거별 답변 대조 설계",</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"사업자·운영 담당",</a:t>
            </a:r>
          </a:p>
          <a:p xmlns:a="http://schemas.openxmlformats.org/drawingml/2006/main">
            <a:r>
              <a:t>        "detail": "검증된 안내와 실제 신청 경로의 분리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"안내·응답·평가 기록",</a:t>
            </a:r>
          </a:p>
          <a:p xmlns:a="http://schemas.openxmlformats.org/drawingml/2006/main">
            <a:r>
              <a:t>        "detail": "정책 원문·서비스 목록·시험 질문의 버전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"회귀시험·오답 보완·계약 산출물의 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"공공 안내 자료",</a:t>
            </a:r>
          </a:p>
          <a:p xmlns:a="http://schemas.openxmlformats.org/drawingml/2006/main">
            <a:r>
              <a:t>        "input": "요청 업무와 공식 소관·이용조건 식별",</a:t>
            </a:r>
          </a:p>
          <a:p xmlns:a="http://schemas.openxmlformats.org/drawingml/2006/main">
            <a:r>
              <a:t>        "process": "정책 원문·서비스 목록·시험 질문의 버전 관리",</a:t>
            </a:r>
          </a:p>
          <a:p xmlns:a="http://schemas.openxmlformats.org/drawingml/2006/main">
            <a:r>
              <a:t>        "output": "질문"</a:t>
            </a:r>
          </a:p>
          <a:p xmlns:a="http://schemas.openxmlformats.org/drawingml/2006/main">
            <a:r>
              <a:t>      },</a:t>
            </a:r>
          </a:p>
          <a:p xmlns:a="http://schemas.openxmlformats.org/drawingml/2006/main">
            <a:r>
              <a:t>      {</a:t>
            </a:r>
          </a:p>
          <a:p xmlns:a="http://schemas.openxmlformats.org/drawingml/2006/main">
            <a:r>
              <a:t>        "title": "AI 챗봇",</a:t>
            </a:r>
          </a:p>
          <a:p xmlns:a="http://schemas.openxmlformats.org/drawingml/2006/main">
            <a:r>
              <a:t>        "input": "질문",</a:t>
            </a:r>
          </a:p>
          <a:p xmlns:a="http://schemas.openxmlformats.org/drawingml/2006/main">
            <a:r>
              <a:t>        "process": "공식 정보 검색과 근거별 답변 대조 설계",</a:t>
            </a:r>
          </a:p>
          <a:p xmlns:a="http://schemas.openxmlformats.org/drawingml/2006/main">
            <a:r>
              <a:t>        "output": "안내 지식"</a:t>
            </a:r>
          </a:p>
          <a:p xmlns:a="http://schemas.openxmlformats.org/drawingml/2006/main">
            <a:r>
              <a:t>      },</a:t>
            </a:r>
          </a:p>
          <a:p xmlns:a="http://schemas.openxmlformats.org/drawingml/2006/main">
            <a:r>
              <a:t>      {</a:t>
            </a:r>
          </a:p>
          <a:p xmlns:a="http://schemas.openxmlformats.org/drawingml/2006/main">
            <a:r>
              <a:t>        "title": "사업자 안내",</a:t>
            </a:r>
          </a:p>
          <a:p xmlns:a="http://schemas.openxmlformats.org/drawingml/2006/main">
            <a:r>
              <a:t>        "input": "안내 지식",</a:t>
            </a:r>
          </a:p>
          <a:p xmlns:a="http://schemas.openxmlformats.org/drawingml/2006/main">
            <a:r>
              <a:t>        "process": "감사 지적과 기관 반론의 근거별 추적",</a:t>
            </a:r>
          </a:p>
          <a:p xmlns:a="http://schemas.openxmlformats.org/drawingml/2006/main">
            <a:r>
              <a:t>        "output": "챗봇 답변"</a:t>
            </a:r>
          </a:p>
          <a:p xmlns:a="http://schemas.openxmlformats.org/drawingml/2006/main">
            <a:r>
              <a:t>      },</a:t>
            </a:r>
          </a:p>
          <a:p xmlns:a="http://schemas.openxmlformats.org/drawingml/2006/main">
            <a:r>
              <a:t>      {</a:t>
            </a:r>
          </a:p>
          <a:p xmlns:a="http://schemas.openxmlformats.org/drawingml/2006/main">
            <a:r>
              <a:t>        "title": "감사·개선 요청",</a:t>
            </a:r>
          </a:p>
          <a:p xmlns:a="http://schemas.openxmlformats.org/drawingml/2006/main">
            <a:r>
              <a:t>        "input": "챗봇 답변",</a:t>
            </a:r>
          </a:p>
          <a:p xmlns:a="http://schemas.openxmlformats.org/drawingml/2006/main">
            <a:r>
              <a:t>        "process": "검증된 안내와 실제 신청 경로의 분리 제공",</a:t>
            </a:r>
          </a:p>
          <a:p xmlns:a="http://schemas.openxmlformats.org/drawingml/2006/main">
            <a:r>
              <a:t>        "output": "피드백·감사"</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"사업자가 허가 조건을 질문해 공식 안내로 이동",</a:t>
            </a:r>
          </a:p>
          <a:p xmlns:a="http://schemas.openxmlformats.org/drawingml/2006/main">
            <a:r>
              <a:t>      "exception": "동일 질문 표현 변경·상충 규정·폐지된 서비스",</a:t>
            </a:r>
          </a:p>
          <a:p xmlns:a="http://schemas.openxmlformats.org/drawingml/2006/main">
            <a:r>
              <a:t>      "evidence": "질문별 정답·변형 질의 일관성·실제 서비스 도달 기록",</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"사업자·시민·서비스 운영부서",</a:t>
            </a:r>
          </a:p>
          <a:p xmlns:a="http://schemas.openxmlformats.org/drawingml/2006/main">
            <a:r>
              <a:t>          "processing": "요청 업무와 공식 소관·이용조건 식별",</a:t>
            </a:r>
          </a:p>
          <a:p xmlns:a="http://schemas.openxmlformats.org/drawingml/2006/main">
            <a:r>
              <a:t>          "output": "질문"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"안내·응답·평가 기록",</a:t>
            </a:r>
          </a:p>
          <a:p xmlns:a="http://schemas.openxmlformats.org/drawingml/2006/main">
            <a:r>
              <a:t>          "processing": "정책 원문·서비스 목록·시험 질문의 버전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"질문",</a:t>
            </a:r>
          </a:p>
          <a:p xmlns:a="http://schemas.openxmlformats.org/drawingml/2006/main">
            <a:r>
              <a:t>          "processing": "공식 정보 검색과 근거별 답변 대조 설계",</a:t>
            </a:r>
          </a:p>
          <a:p xmlns:a="http://schemas.openxmlformats.org/drawingml/2006/main">
            <a:r>
              <a:t>          "output": "챗봇 답변"</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"챗봇 답변",</a:t>
            </a:r>
          </a:p>
          <a:p xmlns:a="http://schemas.openxmlformats.org/drawingml/2006/main">
            <a:r>
              <a:t>          "processing": "검증된 안내와 실제 신청 경로의 분리 제공",</a:t>
            </a:r>
          </a:p>
          <a:p xmlns:a="http://schemas.openxmlformats.org/drawingml/2006/main">
            <a:r>
              <a:t>          "output": "피드백·감사"</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"회귀시험·오답 보완·계약 산출물의 대사",</a:t>
            </a:r>
          </a:p>
          <a:p xmlns:a="http://schemas.openxmlformats.org/drawingml/2006/main">
            <a:r>
              <a:t>          "output": "질문별 정답·변형 질의 일관성·실제 서비스 도달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"회귀시험·오답 보완·계약 산출물의 대사",</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"뉴욕시 감사 보고서",</a:t>
            </a:r>
          </a:p>
          <a:p xmlns:a="http://schemas.openxmlformats.org/drawingml/2006/main">
            <a:r>
              <a:t>        "url": "https://comptroller.nyc.gov/reports/audit-report-on-the-new-york-city-office-of-technology-and-innovations-mycity-system/"</a:t>
            </a:r>
          </a:p>
          <a:p xmlns:a="http://schemas.openxmlformats.org/drawingml/2006/main">
            <a:r>
              <a:t>      }</a:t>
            </a:r>
          </a:p>
          <a:p xmlns:a="http://schemas.openxmlformats.org/drawingml/2006/main">
            <a:r>
              <a:t>    ],</a:t>
            </a:r>
          </a:p>
          <a:p xmlns:a="http://schemas.openxmlformats.org/drawingml/2006/main">
            <a:r>
              <a:t>    "implication": "출시 여부와 실제 민원 과업 완료의 분리 평가",</a:t>
            </a:r>
          </a:p>
          <a:p xmlns:a="http://schemas.openxmlformats.org/drawingml/2006/main">
            <a:r>
              <a:t>    "local": "답변 정답셋·서비스 도달·계약 산출물의 검수 체계를 사업 초기에 구성",</a:t>
            </a:r>
          </a:p>
          <a:p xmlns:a="http://schemas.openxmlformats.org/drawingml/2006/main">
            <a:r>
              <a:t>    "sourceDetail": null,</a:t>
            </a:r>
          </a:p>
          <a:p xmlns:a="http://schemas.openxmlformats.org/drawingml/2006/main">
            <a:r>
              <a:t>    "narrative": [</a:t>
            </a:r>
          </a:p>
          <a:p xmlns:a="http://schemas.openxmlformats.org/drawingml/2006/main">
            <a:r>
              <a:t>      "뉴욕 MyCity의 챗봇 답변 품질과 통합서비스 사업관리 문제를 다룬 감사 사례. 공식 안내의 정확성과 서비스 통합·계약 감독을 함께 봐야 하는 대민 AI 사업의 사례.",</a:t>
            </a:r>
          </a:p>
          <a:p xmlns:a="http://schemas.openxmlformats.org/drawingml/2006/main">
            <a:r>
              <a:t>      "질문별 근거 문서, 답변 결과, 공식 신청 경로, 오류 수정 이력을 연결하는 재구성. 독립 시험셋과 계약 산출물 목록을 대응시키고 감사 지적·기관 반론을 근거별로 구분해 비교하는 방식.",</a:t>
            </a:r>
          </a:p>
          <a:p xmlns:a="http://schemas.openxmlformats.org/drawingml/2006/main">
            <a:r>
              <a:t>      "TS에서는 챗봇 공개와 민원 업무 완결을 같은 성과로 보지 않는 설계에 활용. 부정확·상충 안내의 회귀시험, 완료조건 정의, 변경 요구와 인수 증빙의 연결을 CCK 사업관리 기능에 반영할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"MyCity 질의",</a:t>
            </a:r>
          </a:p>
          <a:p xmlns:a="http://schemas.openxmlformats.org/drawingml/2006/main">
            <a:r>
              <a:t>          "layer": "이용 접점",</a:t>
            </a:r>
          </a:p>
          <a:p xmlns:a="http://schemas.openxmlformats.org/drawingml/2006/main">
            <a:r>
              <a:t>          "detail": "사업자·시민·서비스 운영부서",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"소관·이용조건",</a:t>
            </a:r>
          </a:p>
          <a:p xmlns:a="http://schemas.openxmlformats.org/drawingml/2006/main">
            <a:r>
              <a:t>          "layer": "업무 문맥",</a:t>
            </a:r>
          </a:p>
          <a:p xmlns:a="http://schemas.openxmlformats.org/drawingml/2006/main">
            <a:r>
              <a:t>          "detail": "요청 업무와 공식 소관·이용조건 식별",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"공식 안내 검색",</a:t>
            </a:r>
          </a:p>
          <a:p xmlns:a="http://schemas.openxmlformats.org/drawingml/2006/main">
            <a:r>
              <a:t>          "layer": "자료 조회",</a:t>
            </a:r>
          </a:p>
          <a:p xmlns:a="http://schemas.openxmlformats.org/drawingml/2006/main">
            <a:r>
              <a:t>          "detail": "질문",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"근거형 답변 구성",</a:t>
            </a:r>
          </a:p>
          <a:p xmlns:a="http://schemas.openxmlformats.org/drawingml/2006/main">
            <a:r>
              <a:t>          "layer": "핵심 처리",</a:t>
            </a:r>
          </a:p>
          <a:p xmlns:a="http://schemas.openxmlformats.org/drawingml/2006/main">
            <a:r>
              <a:t>          "detail": "공식 정보 검색과 근거별 답변 대조 설계",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"위법·상충 안내 검사",</a:t>
            </a:r>
          </a:p>
          <a:p xmlns:a="http://schemas.openxmlformats.org/drawingml/2006/main">
            <a:r>
              <a:t>          "layer": "결과 검증",</a:t>
            </a:r>
          </a:p>
          <a:p xmlns:a="http://schemas.openxmlformats.org/drawingml/2006/main">
            <a:r>
              <a:t>          "detail": "감사 지적과 기관 반론의 근거별 추적",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"서비스 담당 검토",</a:t>
            </a:r>
          </a:p>
          <a:p xmlns:a="http://schemas.openxmlformats.org/drawingml/2006/main">
            <a:r>
              <a:t>          "layer": "사람 확인",</a:t>
            </a:r>
          </a:p>
          <a:p xmlns:a="http://schemas.openxmlformats.org/drawingml/2006/main">
            <a:r>
              <a:t>          "detail": "사업자가 허가 조건을 질문해 공식 안내로 이동",</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"신청 경로 안내",</a:t>
            </a:r>
          </a:p>
          <a:p xmlns:a="http://schemas.openxmlformats.org/drawingml/2006/main">
            <a:r>
              <a:t>          "layer": "업무 연결",</a:t>
            </a:r>
          </a:p>
          <a:p xmlns:a="http://schemas.openxmlformats.org/drawingml/2006/main">
            <a:r>
              <a:t>          "detail": "검증된 안내와 실제 신청 경로의 분리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"오답·계약 대사",</a:t>
            </a:r>
          </a:p>
          <a:p xmlns:a="http://schemas.openxmlformats.org/drawingml/2006/main">
            <a:r>
              <a:t>          "layer": "운영 관측",</a:t>
            </a:r>
          </a:p>
          <a:p xmlns:a="http://schemas.openxmlformats.org/drawingml/2006/main">
            <a:r>
              <a:t>          "detail": "회귀시험·오답 보완·계약 산출물의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"정책·서비스 목록",</a:t>
            </a:r>
          </a:p>
          <a:p xmlns:a="http://schemas.openxmlformats.org/drawingml/2006/main">
            <a:r>
              <a:t>          "layer": "데이터 원천",</a:t>
            </a:r>
          </a:p>
          <a:p xmlns:a="http://schemas.openxmlformats.org/drawingml/2006/main">
            <a:r>
              <a:t>          "detail": "안내·응답·평가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"판본·적용조건 정리",</a:t>
            </a:r>
          </a:p>
          <a:p xmlns:a="http://schemas.openxmlformats.org/drawingml/2006/main">
            <a:r>
              <a:t>          "layer": "준비·갱신",</a:t>
            </a:r>
          </a:p>
          <a:p xmlns:a="http://schemas.openxmlformats.org/drawingml/2006/main">
            <a:r>
              <a:t>          "detail": "정책 원문·서비스 목록·시험 질문의 버전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"안내·회귀시험셋",</a:t>
            </a:r>
          </a:p>
          <a:p xmlns:a="http://schemas.openxmlformats.org/drawingml/2006/main">
            <a:r>
              <a:t>          "layer": "상태·지식 저장",</a:t>
            </a:r>
          </a:p>
          <a:p xmlns:a="http://schemas.openxmlformats.org/drawingml/2006/main">
            <a:r>
              <a:t>          "detail": "질문별 정답·변형 질의 일관성·실제 서비스 도달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"업무 책임·품질기준",</a:t>
            </a:r>
          </a:p>
          <a:p xmlns:a="http://schemas.openxmlformats.org/drawingml/2006/main">
            <a:r>
              <a:t>          "layer": "권한·정책",</a:t>
            </a:r>
          </a:p>
          <a:p xmlns:a="http://schemas.openxmlformats.org/drawingml/2006/main">
            <a:r>
              <a:t>          "detail": "동일 질문 표현 변경·상충 규정·폐지된 서비스",</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"요청 업무와 공식 소관·이용조건 식별",</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"질문",</a:t>
            </a:r>
          </a:p>
          <a:p xmlns:a="http://schemas.openxmlformats.org/drawingml/2006/main">
            <a:r>
              <a:t>          "check": "감사 지적과 기관 반론의 근거별 추적"</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"안내 지식",</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"챗봇 답변",</a:t>
            </a:r>
          </a:p>
          <a:p xmlns:a="http://schemas.openxmlformats.org/drawingml/2006/main">
            <a:r>
              <a:t>          "check": "동일 질문 표현 변경·상충 규정·폐지된 서비스"</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"챗봇 답변",</a:t>
            </a:r>
          </a:p>
          <a:p xmlns:a="http://schemas.openxmlformats.org/drawingml/2006/main">
            <a:r>
              <a:t>          "check": "검증된 안내와 실제 신청 경로의 분리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"피드백·감사",</a:t>
            </a:r>
          </a:p>
          <a:p xmlns:a="http://schemas.openxmlformats.org/drawingml/2006/main">
            <a:r>
              <a:t>          "check": "질문별 정답·변형 질의 일관성·실제 서비스 도달 기록"</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"대민 챗봇의 답변 품질·사업관리 실패 분석 / 질의응답·포털 통합·계약·감사",</a:t>
            </a:r>
          </a:p>
          <a:p xmlns:a="http://schemas.openxmlformats.org/drawingml/2006/main">
            <a:r>
              <a:t>        "extension": "답변 정답셋·서비스 도달·계약 산출물의 검수 체계를 사업 초기에 구성"</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"동일 질문 표현 변경·상충 규정·폐지된 서비스",</a:t>
            </a:r>
          </a:p>
          <a:p xmlns:a="http://schemas.openxmlformats.org/drawingml/2006/main">
            <a:r>
              <a:t>        "hold": "감사 지적과 기관 반론의 근거별 추적",</a:t>
            </a:r>
          </a:p>
          <a:p xmlns:a="http://schemas.openxmlformats.org/drawingml/2006/main">
            <a:r>
              <a:t>        "recovery": "회귀시험·오답 보완·계약 산출물의 대사",</a:t>
            </a:r>
          </a:p>
          <a:p xmlns:a="http://schemas.openxmlformats.org/drawingml/2006/main">
            <a:r>
              <a:t>        "evidence": "질문별 정답·변형 질의 일관성·실제 서비스 도달 기록"</a:t>
            </a:r>
          </a:p>
          <a:p xmlns:a="http://schemas.openxmlformats.org/drawingml/2006/main">
            <a:r>
              <a:t>      },</a:t>
            </a:r>
          </a:p>
          <a:p xmlns:a="http://schemas.openxmlformats.org/drawingml/2006/main">
            <a:r>
              <a:t>      "data": {</a:t>
            </a:r>
          </a:p>
          <a:p xmlns:a="http://schemas.openxmlformats.org/drawingml/2006/main">
            <a:r>
              <a:t>        "source": "안내·응답·평가 기록",</a:t>
            </a:r>
          </a:p>
          <a:p xmlns:a="http://schemas.openxmlformats.org/drawingml/2006/main">
            <a:r>
              <a:t>        "prepare": "정책 원문·서비스 목록·시험 질문의 버전 관리",</a:t>
            </a:r>
          </a:p>
          <a:p xmlns:a="http://schemas.openxmlformats.org/drawingml/2006/main">
            <a:r>
              <a:t>        "output": "질문",</a:t>
            </a:r>
          </a:p>
          <a:p xmlns:a="http://schemas.openxmlformats.org/drawingml/2006/main">
            <a:r>
              <a:t>        "refresh": "회귀시험·오답 보완·계약 산출물의 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"PF31",</a:t>
            </a:r>
          </a:p>
          <a:p xmlns:a="http://schemas.openxmlformats.org/drawingml/2006/main">
            <a:r>
              <a:t>    "success": [</a:t>
            </a:r>
          </a:p>
          <a:p xmlns:a="http://schemas.openxmlformats.org/drawingml/2006/main">
            <a:r>
              <a:t>      "통합 서비스의 완료조건 정의",</a:t>
            </a:r>
          </a:p>
          <a:p xmlns:a="http://schemas.openxmlformats.org/drawingml/2006/main">
            <a:r>
              <a:t>      "응답 품질·계약 증빙의 독립 검토"</a:t>
            </a:r>
          </a:p>
          <a:p xmlns:a="http://schemas.openxmlformats.org/drawingml/2006/main">
            <a:r>
              <a:t>    ],</a:t>
            </a:r>
          </a:p>
          <a:p xmlns:a="http://schemas.openxmlformats.org/drawingml/2006/main">
            <a:r>
              <a:t>    "risks": [</a:t>
            </a:r>
          </a:p>
          <a:p xmlns:a="http://schemas.openxmlformats.org/drawingml/2006/main">
            <a:r>
              <a:t>      "감사에서 지적된 비일관 답변",</a:t>
            </a:r>
          </a:p>
          <a:p xmlns:a="http://schemas.openxmlformats.org/drawingml/2006/main">
            <a:r>
              <a:t>      "사업계획·계약 감독·서비스 통합의 미비"</a:t>
            </a:r>
          </a:p>
          <a:p xmlns:a="http://schemas.openxmlformats.org/drawingml/2006/main">
            <a:r>
              <a:t>    ],</a:t>
            </a:r>
          </a:p>
          <a:p xmlns:a="http://schemas.openxmlformats.org/drawingml/2006/main">
            <a:r>
              <a:t>    "architecture": [</a:t>
            </a:r>
          </a:p>
          <a:p xmlns:a="http://schemas.openxmlformats.org/drawingml/2006/main">
            <a:r>
              <a:t>      "MyCity 이용자",</a:t>
            </a:r>
          </a:p>
          <a:p xmlns:a="http://schemas.openxmlformats.org/drawingml/2006/main">
            <a:r>
              <a:t>      "AI 챗봇·포털",</a:t>
            </a:r>
          </a:p>
          <a:p xmlns:a="http://schemas.openxmlformats.org/drawingml/2006/main">
            <a:r>
              <a:t>      "안내·응답·평가 기록",</a:t>
            </a:r>
          </a:p>
          <a:p xmlns:a="http://schemas.openxmlformats.org/drawingml/2006/main">
            <a:r>
              <a:t>      "사업자·운영 담당"</a:t>
            </a:r>
          </a:p>
          <a:p xmlns:a="http://schemas.openxmlformats.org/drawingml/2006/main">
            <a:r>
              <a:t>    ],</a:t>
            </a:r>
          </a:p>
          <a:p xmlns:a="http://schemas.openxmlformats.org/drawingml/2006/main">
            <a:r>
              <a:t>    "transfers": [</a:t>
            </a:r>
          </a:p>
          <a:p xmlns:a="http://schemas.openxmlformats.org/drawingml/2006/main">
            <a:r>
              <a:t>      "질문",</a:t>
            </a:r>
          </a:p>
          <a:p xmlns:a="http://schemas.openxmlformats.org/drawingml/2006/main">
            <a:r>
              <a:t>      "안내 지식",</a:t>
            </a:r>
          </a:p>
          <a:p xmlns:a="http://schemas.openxmlformats.org/drawingml/2006/main">
            <a:r>
              <a:t>      "챗봇 답변",</a:t>
            </a:r>
          </a:p>
          <a:p xmlns:a="http://schemas.openxmlformats.org/drawingml/2006/main">
            <a:r>
              <a:t>      "피드백·감사"</a:t>
            </a:r>
          </a:p>
          <a:p xmlns:a="http://schemas.openxmlformats.org/drawingml/2006/main">
            <a:r>
              <a:t>    ],</a:t>
            </a:r>
          </a:p>
          <a:p xmlns:a="http://schemas.openxmlformats.org/drawingml/2006/main">
            <a:r>
              <a:t>    "control": "감사 지적과 기관 반론의 근거별 추적",</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뉴욕시 감사 보고서 https://comptroller.nyc.gov/reports/audit-report-on-the-new-york-city-office-of-technology-and-innovations-mycity-system/</a:t>
            </a:r>
          </a:p>
          <a:p xmlns:a="http://schemas.openxmlformats.org/drawingml/2006/main">
            <a:r>
              <a:t>홈페이지 https://heen1987-ops.github.io/TS-business-Plan-001/index.html?view=platform-cases&amp;case=PF31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"PF31",</a:t>
            </a:r>
          </a:p>
          <a:p xmlns:a="http://schemas.openxmlformats.org/drawingml/2006/main">
            <a:r>
              <a:t>    "sourceId": "AX13",</a:t>
            </a:r>
          </a:p>
          <a:p xmlns:a="http://schemas.openxmlformats.org/drawingml/2006/main">
            <a:r>
              <a:t>    "title": "뉴욕 MyCity 챗봇 감사",</a:t>
            </a:r>
          </a:p>
          <a:p xmlns:a="http://schemas.openxmlformats.org/drawingml/2006/main">
            <a:r>
              <a:t>    "region": "해외",</a:t>
            </a:r>
          </a:p>
          <a:p xmlns:a="http://schemas.openxmlformats.org/drawingml/2006/main">
            <a:r>
              <a:t>    "owner": "뉴욕시 / 감사기관",</a:t>
            </a:r>
          </a:p>
          <a:p xmlns:a="http://schemas.openxmlformats.org/drawingml/2006/main">
            <a:r>
              <a:t>    "state": "감사 지적·개선",</a:t>
            </a:r>
          </a:p>
          <a:p xmlns:a="http://schemas.openxmlformats.org/drawingml/2006/main">
            <a:r>
              <a:t>    "period": "2025 감사 / 2026 갱신",</a:t>
            </a:r>
          </a:p>
          <a:p xmlns:a="http://schemas.openxmlformats.org/drawingml/2006/main">
            <a:r>
              <a:t>    "fact": "부정확·비일관 답변과 사업관리·통합서비스 미비에 대한 감사 지적",</a:t>
            </a:r>
          </a:p>
          <a:p xmlns:a="http://schemas.openxmlformats.org/drawingml/2006/main">
            <a:r>
              <a:t>    "limit": "운영기관의 정확도 주장과 감사 판단의 차이 존재 · 개별 질의·평가 방식 대조 필요",</a:t>
            </a:r>
          </a:p>
          <a:p xmlns:a="http://schemas.openxmlformats.org/drawingml/2006/main">
            <a:r>
              <a:t>    "nodes": [</a:t>
            </a:r>
          </a:p>
          <a:p xmlns:a="http://schemas.openxmlformats.org/drawingml/2006/main">
            <a:r>
              <a:t>      "공공 안내 자료",</a:t>
            </a:r>
          </a:p>
          <a:p xmlns:a="http://schemas.openxmlformats.org/drawingml/2006/main">
            <a:r>
              <a:t>      "AI 챗봇",</a:t>
            </a:r>
          </a:p>
          <a:p xmlns:a="http://schemas.openxmlformats.org/drawingml/2006/main">
            <a:r>
              <a:t>      "사업자 안내",</a:t>
            </a:r>
          </a:p>
          <a:p xmlns:a="http://schemas.openxmlformats.org/drawingml/2006/main">
            <a:r>
              <a:t>      "감사·개선 요청"</a:t>
            </a:r>
          </a:p>
          <a:p xmlns:a="http://schemas.openxmlformats.org/drawingml/2006/main">
            <a:r>
              <a:t>    ],</a:t>
            </a:r>
          </a:p>
          <a:p xmlns:a="http://schemas.openxmlformats.org/drawingml/2006/main">
            <a:r>
              <a:t>    "apply": "답변 정답셋·서비스 도달·계약 산출물의 검수 체계를 사업 초기에 구성",</a:t>
            </a:r>
          </a:p>
          <a:p xmlns:a="http://schemas.openxmlformats.org/drawingml/2006/main">
            <a:r>
              <a:t>    "delta": "반례 정답셋·오안내 신고·책임부서 인계",</a:t>
            </a:r>
          </a:p>
          <a:p xmlns:a="http://schemas.openxmlformats.org/drawingml/2006/main">
            <a:r>
              <a:t>    "test": "규정과 상충하는 안내 및 미완료 신청 재현",</a:t>
            </a:r>
          </a:p>
          <a:p xmlns:a="http://schemas.openxmlformats.org/drawingml/2006/main">
            <a:r>
              <a:t>    "url": "https://comptroller.nyc.gov/reports/audit-report-on-the-new-york-city-office-of-technology-and-innovations-mycity-system/",</a:t>
            </a:r>
          </a:p>
          <a:p xmlns:a="http://schemas.openxmlformats.org/drawingml/2006/main">
            <a:r>
              <a:t>    "basis": "뉴욕시 감사 보고서",</a:t>
            </a:r>
          </a:p>
          <a:p xmlns:a="http://schemas.openxmlformats.org/drawingml/2006/main">
            <a:r>
              <a:t>    "checked": "2026-10-16",</a:t>
            </a:r>
          </a:p>
          <a:p xmlns:a="http://schemas.openxmlformats.org/drawingml/2006/main">
            <a:r>
              <a:t>    "diagramBasis": "공개 업무 흐름의 요약·재구성 / 내부 배치 구조 추정 제외",</a:t>
            </a:r>
          </a:p>
          <a:p xmlns:a="http://schemas.openxmlformats.org/drawingml/2006/main">
            <a:r>
              <a:t>    "effect": "오안내율 / 신청 완료율 / 재접촉률",</a:t>
            </a:r>
          </a:p>
          <a:p xmlns:a="http://schemas.openxmlformats.org/drawingml/2006/main">
            <a:r>
              <a:t>    "group": "감사·개선"</a:t>
            </a:r>
          </a:p>
          <a:p xmlns:a="http://schemas.openxmlformats.org/drawingml/2006/main">
            <a:r>
              <a:t>  },</a:t>
            </a:r>
          </a:p>
          <a:p xmlns:a="http://schemas.openxmlformats.org/drawingml/2006/main">
            <a:r>
              <a:t>  "design": {</a:t>
            </a:r>
          </a:p>
          <a:p xmlns:a="http://schemas.openxmlformats.org/drawingml/2006/main">
            <a:r>
              <a:t>    "id": "PF31",</a:t>
            </a:r>
          </a:p>
          <a:p xmlns:a="http://schemas.openxmlformats.org/drawingml/2006/main">
            <a:r>
              <a:t>    "canonicalId": "AX13",</a:t>
            </a:r>
          </a:p>
          <a:p xmlns:a="http://schemas.openxmlformats.org/drawingml/2006/main">
            <a:r>
              <a:t>    "purpose": "대민 챗봇의 답변 품질·사업관리 실패 분석",</a:t>
            </a:r>
          </a:p>
          <a:p xmlns:a="http://schemas.openxmlformats.org/drawingml/2006/main">
            <a:r>
              <a:t>    "users": "사업자·시민·서비스 운영부서",</a:t>
            </a:r>
          </a:p>
          <a:p xmlns:a="http://schemas.openxmlformats.org/drawingml/2006/main">
            <a:r>
              <a:t>    "scope": [</a:t>
            </a:r>
          </a:p>
          <a:p xmlns:a="http://schemas.openxmlformats.org/drawingml/2006/main">
            <a:r>
              <a:t>      "질의응답",</a:t>
            </a:r>
          </a:p>
          <a:p xmlns:a="http://schemas.openxmlformats.org/drawingml/2006/main">
            <a:r>
              <a:t>      "포털 통합",</a:t>
            </a:r>
          </a:p>
          <a:p xmlns:a="http://schemas.openxmlformats.org/drawingml/2006/main">
            <a:r>
              <a:t>      "계약·감사"</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"MyCity 이용자",</a:t>
            </a:r>
          </a:p>
          <a:p xmlns:a="http://schemas.openxmlformats.org/drawingml/2006/main">
            <a:r>
              <a:t>        "detail": "요청 업무와 공식 소관·이용조건 식별",</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"질의응답 / 포털 통합 / 계약·감사",</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"AI 챗봇·포털",</a:t>
            </a:r>
          </a:p>
          <a:p xmlns:a="http://schemas.openxmlformats.org/drawingml/2006/main">
            <a:r>
              <a:t>        "detail": "공식 정보 검색과 근거별 답변 대조 설계",</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"사업자·운영 담당",</a:t>
            </a:r>
          </a:p>
          <a:p xmlns:a="http://schemas.openxmlformats.org/drawingml/2006/main">
            <a:r>
              <a:t>        "detail": "검증된 안내와 실제 신청 경로의 분리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"안내·응답·평가 기록",</a:t>
            </a:r>
          </a:p>
          <a:p xmlns:a="http://schemas.openxmlformats.org/drawingml/2006/main">
            <a:r>
              <a:t>        "detail": "정책 원문·서비스 목록·시험 질문의 버전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"회귀시험·오답 보완·계약 산출물의 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"공공 안내 자료",</a:t>
            </a:r>
          </a:p>
          <a:p xmlns:a="http://schemas.openxmlformats.org/drawingml/2006/main">
            <a:r>
              <a:t>        "input": "요청 업무와 공식 소관·이용조건 식별",</a:t>
            </a:r>
          </a:p>
          <a:p xmlns:a="http://schemas.openxmlformats.org/drawingml/2006/main">
            <a:r>
              <a:t>        "process": "정책 원문·서비스 목록·시험 질문의 버전 관리",</a:t>
            </a:r>
          </a:p>
          <a:p xmlns:a="http://schemas.openxmlformats.org/drawingml/2006/main">
            <a:r>
              <a:t>        "output": "질문"</a:t>
            </a:r>
          </a:p>
          <a:p xmlns:a="http://schemas.openxmlformats.org/drawingml/2006/main">
            <a:r>
              <a:t>      },</a:t>
            </a:r>
          </a:p>
          <a:p xmlns:a="http://schemas.openxmlformats.org/drawingml/2006/main">
            <a:r>
              <a:t>      {</a:t>
            </a:r>
          </a:p>
          <a:p xmlns:a="http://schemas.openxmlformats.org/drawingml/2006/main">
            <a:r>
              <a:t>        "title": "AI 챗봇",</a:t>
            </a:r>
          </a:p>
          <a:p xmlns:a="http://schemas.openxmlformats.org/drawingml/2006/main">
            <a:r>
              <a:t>        "input": "질문",</a:t>
            </a:r>
          </a:p>
          <a:p xmlns:a="http://schemas.openxmlformats.org/drawingml/2006/main">
            <a:r>
              <a:t>        "process": "공식 정보 검색과 근거별 답변 대조 설계",</a:t>
            </a:r>
          </a:p>
          <a:p xmlns:a="http://schemas.openxmlformats.org/drawingml/2006/main">
            <a:r>
              <a:t>        "output": "안내 지식"</a:t>
            </a:r>
          </a:p>
          <a:p xmlns:a="http://schemas.openxmlformats.org/drawingml/2006/main">
            <a:r>
              <a:t>      },</a:t>
            </a:r>
          </a:p>
          <a:p xmlns:a="http://schemas.openxmlformats.org/drawingml/2006/main">
            <a:r>
              <a:t>      {</a:t>
            </a:r>
          </a:p>
          <a:p xmlns:a="http://schemas.openxmlformats.org/drawingml/2006/main">
            <a:r>
              <a:t>        "title": "사업자 안내",</a:t>
            </a:r>
          </a:p>
          <a:p xmlns:a="http://schemas.openxmlformats.org/drawingml/2006/main">
            <a:r>
              <a:t>        "input": "안내 지식",</a:t>
            </a:r>
          </a:p>
          <a:p xmlns:a="http://schemas.openxmlformats.org/drawingml/2006/main">
            <a:r>
              <a:t>        "process": "감사 지적과 기관 반론의 근거별 추적",</a:t>
            </a:r>
          </a:p>
          <a:p xmlns:a="http://schemas.openxmlformats.org/drawingml/2006/main">
            <a:r>
              <a:t>        "output": "챗봇 답변"</a:t>
            </a:r>
          </a:p>
          <a:p xmlns:a="http://schemas.openxmlformats.org/drawingml/2006/main">
            <a:r>
              <a:t>      },</a:t>
            </a:r>
          </a:p>
          <a:p xmlns:a="http://schemas.openxmlformats.org/drawingml/2006/main">
            <a:r>
              <a:t>      {</a:t>
            </a:r>
          </a:p>
          <a:p xmlns:a="http://schemas.openxmlformats.org/drawingml/2006/main">
            <a:r>
              <a:t>        "title": "감사·개선 요청",</a:t>
            </a:r>
          </a:p>
          <a:p xmlns:a="http://schemas.openxmlformats.org/drawingml/2006/main">
            <a:r>
              <a:t>        "input": "챗봇 답변",</a:t>
            </a:r>
          </a:p>
          <a:p xmlns:a="http://schemas.openxmlformats.org/drawingml/2006/main">
            <a:r>
              <a:t>        "process": "검증된 안내와 실제 신청 경로의 분리 제공",</a:t>
            </a:r>
          </a:p>
          <a:p xmlns:a="http://schemas.openxmlformats.org/drawingml/2006/main">
            <a:r>
              <a:t>        "output": "피드백·감사"</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"사업자가 허가 조건을 질문해 공식 안내로 이동",</a:t>
            </a:r>
          </a:p>
          <a:p xmlns:a="http://schemas.openxmlformats.org/drawingml/2006/main">
            <a:r>
              <a:t>      "exception": "동일 질문 표현 변경·상충 규정·폐지된 서비스",</a:t>
            </a:r>
          </a:p>
          <a:p xmlns:a="http://schemas.openxmlformats.org/drawingml/2006/main">
            <a:r>
              <a:t>      "evidence": "질문별 정답·변형 질의 일관성·실제 서비스 도달 기록",</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"사업자·시민·서비스 운영부서",</a:t>
            </a:r>
          </a:p>
          <a:p xmlns:a="http://schemas.openxmlformats.org/drawingml/2006/main">
            <a:r>
              <a:t>          "processing": "요청 업무와 공식 소관·이용조건 식별",</a:t>
            </a:r>
          </a:p>
          <a:p xmlns:a="http://schemas.openxmlformats.org/drawingml/2006/main">
            <a:r>
              <a:t>          "output": "질문"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"안내·응답·평가 기록",</a:t>
            </a:r>
          </a:p>
          <a:p xmlns:a="http://schemas.openxmlformats.org/drawingml/2006/main">
            <a:r>
              <a:t>          "processing": "정책 원문·서비스 목록·시험 질문의 버전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"질문",</a:t>
            </a:r>
          </a:p>
          <a:p xmlns:a="http://schemas.openxmlformats.org/drawingml/2006/main">
            <a:r>
              <a:t>          "processing": "공식 정보 검색과 근거별 답변 대조 설계",</a:t>
            </a:r>
          </a:p>
          <a:p xmlns:a="http://schemas.openxmlformats.org/drawingml/2006/main">
            <a:r>
              <a:t>          "output": "챗봇 답변"</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"챗봇 답변",</a:t>
            </a:r>
          </a:p>
          <a:p xmlns:a="http://schemas.openxmlformats.org/drawingml/2006/main">
            <a:r>
              <a:t>          "processing": "검증된 안내와 실제 신청 경로의 분리 제공",</a:t>
            </a:r>
          </a:p>
          <a:p xmlns:a="http://schemas.openxmlformats.org/drawingml/2006/main">
            <a:r>
              <a:t>          "output": "피드백·감사"</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"회귀시험·오답 보완·계약 산출물의 대사",</a:t>
            </a:r>
          </a:p>
          <a:p xmlns:a="http://schemas.openxmlformats.org/drawingml/2006/main">
            <a:r>
              <a:t>          "output": "질문별 정답·변형 질의 일관성·실제 서비스 도달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"회귀시험·오답 보완·계약 산출물의 대사",</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"뉴욕시 감사 보고서",</a:t>
            </a:r>
          </a:p>
          <a:p xmlns:a="http://schemas.openxmlformats.org/drawingml/2006/main">
            <a:r>
              <a:t>        "url": "https://comptroller.nyc.gov/reports/audit-report-on-the-new-york-city-office-of-technology-and-innovations-mycity-system/"</a:t>
            </a:r>
          </a:p>
          <a:p xmlns:a="http://schemas.openxmlformats.org/drawingml/2006/main">
            <a:r>
              <a:t>      }</a:t>
            </a:r>
          </a:p>
          <a:p xmlns:a="http://schemas.openxmlformats.org/drawingml/2006/main">
            <a:r>
              <a:t>    ],</a:t>
            </a:r>
          </a:p>
          <a:p xmlns:a="http://schemas.openxmlformats.org/drawingml/2006/main">
            <a:r>
              <a:t>    "implication": "출시 여부와 실제 민원 과업 완료의 분리 평가",</a:t>
            </a:r>
          </a:p>
          <a:p xmlns:a="http://schemas.openxmlformats.org/drawingml/2006/main">
            <a:r>
              <a:t>    "local": "답변 정답셋·서비스 도달·계약 산출물의 검수 체계를 사업 초기에 구성",</a:t>
            </a:r>
          </a:p>
          <a:p xmlns:a="http://schemas.openxmlformats.org/drawingml/2006/main">
            <a:r>
              <a:t>    "sourceDetail": null,</a:t>
            </a:r>
          </a:p>
          <a:p xmlns:a="http://schemas.openxmlformats.org/drawingml/2006/main">
            <a:r>
              <a:t>    "narrative": [</a:t>
            </a:r>
          </a:p>
          <a:p xmlns:a="http://schemas.openxmlformats.org/drawingml/2006/main">
            <a:r>
              <a:t>      "뉴욕 MyCity의 챗봇 답변 품질과 통합서비스 사업관리 문제를 다룬 감사 사례. 공식 안내의 정확성과 서비스 통합·계약 감독을 함께 봐야 하는 대민 AI 사업의 사례.",</a:t>
            </a:r>
          </a:p>
          <a:p xmlns:a="http://schemas.openxmlformats.org/drawingml/2006/main">
            <a:r>
              <a:t>      "질문별 근거 문서, 답변 결과, 공식 신청 경로, 오류 수정 이력을 연결하는 재구성. 독립 시험셋과 계약 산출물 목록을 대응시키고 감사 지적·기관 반론을 근거별로 구분해 비교하는 방식.",</a:t>
            </a:r>
          </a:p>
          <a:p xmlns:a="http://schemas.openxmlformats.org/drawingml/2006/main">
            <a:r>
              <a:t>      "TS에서는 챗봇 공개와 민원 업무 완결을 같은 성과로 보지 않는 설계에 활용. 부정확·상충 안내의 회귀시험, 완료조건 정의, 변경 요구와 인수 증빙의 연결을 CCK 사업관리 기능에 반영할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"MyCity 질의",</a:t>
            </a:r>
          </a:p>
          <a:p xmlns:a="http://schemas.openxmlformats.org/drawingml/2006/main">
            <a:r>
              <a:t>          "layer": "이용 접점",</a:t>
            </a:r>
          </a:p>
          <a:p xmlns:a="http://schemas.openxmlformats.org/drawingml/2006/main">
            <a:r>
              <a:t>          "detail": "사업자·시민·서비스 운영부서",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"소관·이용조건",</a:t>
            </a:r>
          </a:p>
          <a:p xmlns:a="http://schemas.openxmlformats.org/drawingml/2006/main">
            <a:r>
              <a:t>          "layer": "업무 문맥",</a:t>
            </a:r>
          </a:p>
          <a:p xmlns:a="http://schemas.openxmlformats.org/drawingml/2006/main">
            <a:r>
              <a:t>          "detail": "요청 업무와 공식 소관·이용조건 식별",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"공식 안내 검색",</a:t>
            </a:r>
          </a:p>
          <a:p xmlns:a="http://schemas.openxmlformats.org/drawingml/2006/main">
            <a:r>
              <a:t>          "layer": "자료 조회",</a:t>
            </a:r>
          </a:p>
          <a:p xmlns:a="http://schemas.openxmlformats.org/drawingml/2006/main">
            <a:r>
              <a:t>          "detail": "질문",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"근거형 답변 구성",</a:t>
            </a:r>
          </a:p>
          <a:p xmlns:a="http://schemas.openxmlformats.org/drawingml/2006/main">
            <a:r>
              <a:t>          "layer": "핵심 처리",</a:t>
            </a:r>
          </a:p>
          <a:p xmlns:a="http://schemas.openxmlformats.org/drawingml/2006/main">
            <a:r>
              <a:t>          "detail": "공식 정보 검색과 근거별 답변 대조 설계",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"위법·상충 안내 검사",</a:t>
            </a:r>
          </a:p>
          <a:p xmlns:a="http://schemas.openxmlformats.org/drawingml/2006/main">
            <a:r>
              <a:t>          "layer": "결과 검증",</a:t>
            </a:r>
          </a:p>
          <a:p xmlns:a="http://schemas.openxmlformats.org/drawingml/2006/main">
            <a:r>
              <a:t>          "detail": "감사 지적과 기관 반론의 근거별 추적",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"서비스 담당 검토",</a:t>
            </a:r>
          </a:p>
          <a:p xmlns:a="http://schemas.openxmlformats.org/drawingml/2006/main">
            <a:r>
              <a:t>          "layer": "사람 확인",</a:t>
            </a:r>
          </a:p>
          <a:p xmlns:a="http://schemas.openxmlformats.org/drawingml/2006/main">
            <a:r>
              <a:t>          "detail": "사업자가 허가 조건을 질문해 공식 안내로 이동",</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"신청 경로 안내",</a:t>
            </a:r>
          </a:p>
          <a:p xmlns:a="http://schemas.openxmlformats.org/drawingml/2006/main">
            <a:r>
              <a:t>          "layer": "업무 연결",</a:t>
            </a:r>
          </a:p>
          <a:p xmlns:a="http://schemas.openxmlformats.org/drawingml/2006/main">
            <a:r>
              <a:t>          "detail": "검증된 안내와 실제 신청 경로의 분리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"오답·계약 대사",</a:t>
            </a:r>
          </a:p>
          <a:p xmlns:a="http://schemas.openxmlformats.org/drawingml/2006/main">
            <a:r>
              <a:t>          "layer": "운영 관측",</a:t>
            </a:r>
          </a:p>
          <a:p xmlns:a="http://schemas.openxmlformats.org/drawingml/2006/main">
            <a:r>
              <a:t>          "detail": "회귀시험·오답 보완·계약 산출물의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"정책·서비스 목록",</a:t>
            </a:r>
          </a:p>
          <a:p xmlns:a="http://schemas.openxmlformats.org/drawingml/2006/main">
            <a:r>
              <a:t>          "layer": "데이터 원천",</a:t>
            </a:r>
          </a:p>
          <a:p xmlns:a="http://schemas.openxmlformats.org/drawingml/2006/main">
            <a:r>
              <a:t>          "detail": "안내·응답·평가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"판본·적용조건 정리",</a:t>
            </a:r>
          </a:p>
          <a:p xmlns:a="http://schemas.openxmlformats.org/drawingml/2006/main">
            <a:r>
              <a:t>          "layer": "준비·갱신",</a:t>
            </a:r>
          </a:p>
          <a:p xmlns:a="http://schemas.openxmlformats.org/drawingml/2006/main">
            <a:r>
              <a:t>          "detail": "정책 원문·서비스 목록·시험 질문의 버전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"안내·회귀시험셋",</a:t>
            </a:r>
          </a:p>
          <a:p xmlns:a="http://schemas.openxmlformats.org/drawingml/2006/main">
            <a:r>
              <a:t>          "layer": "상태·지식 저장",</a:t>
            </a:r>
          </a:p>
          <a:p xmlns:a="http://schemas.openxmlformats.org/drawingml/2006/main">
            <a:r>
              <a:t>          "detail": "질문별 정답·변형 질의 일관성·실제 서비스 도달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"업무 책임·품질기준",</a:t>
            </a:r>
          </a:p>
          <a:p xmlns:a="http://schemas.openxmlformats.org/drawingml/2006/main">
            <a:r>
              <a:t>          "layer": "권한·정책",</a:t>
            </a:r>
          </a:p>
          <a:p xmlns:a="http://schemas.openxmlformats.org/drawingml/2006/main">
            <a:r>
              <a:t>          "detail": "동일 질문 표현 변경·상충 규정·폐지된 서비스",</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"요청 업무와 공식 소관·이용조건 식별",</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"질문",</a:t>
            </a:r>
          </a:p>
          <a:p xmlns:a="http://schemas.openxmlformats.org/drawingml/2006/main">
            <a:r>
              <a:t>          "check": "감사 지적과 기관 반론의 근거별 추적"</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"안내 지식",</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"챗봇 답변",</a:t>
            </a:r>
          </a:p>
          <a:p xmlns:a="http://schemas.openxmlformats.org/drawingml/2006/main">
            <a:r>
              <a:t>          "check": "동일 질문 표현 변경·상충 규정·폐지된 서비스"</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"챗봇 답변",</a:t>
            </a:r>
          </a:p>
          <a:p xmlns:a="http://schemas.openxmlformats.org/drawingml/2006/main">
            <a:r>
              <a:t>          "check": "검증된 안내와 실제 신청 경로의 분리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"피드백·감사",</a:t>
            </a:r>
          </a:p>
          <a:p xmlns:a="http://schemas.openxmlformats.org/drawingml/2006/main">
            <a:r>
              <a:t>          "check": "질문별 정답·변형 질의 일관성·실제 서비스 도달 기록"</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"대민 챗봇의 답변 품질·사업관리 실패 분석 / 질의응답·포털 통합·계약·감사",</a:t>
            </a:r>
          </a:p>
          <a:p xmlns:a="http://schemas.openxmlformats.org/drawingml/2006/main">
            <a:r>
              <a:t>        "extension": "답변 정답셋·서비스 도달·계약 산출물의 검수 체계를 사업 초기에 구성"</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"동일 질문 표현 변경·상충 규정·폐지된 서비스",</a:t>
            </a:r>
          </a:p>
          <a:p xmlns:a="http://schemas.openxmlformats.org/drawingml/2006/main">
            <a:r>
              <a:t>        "hold": "감사 지적과 기관 반론의 근거별 추적",</a:t>
            </a:r>
          </a:p>
          <a:p xmlns:a="http://schemas.openxmlformats.org/drawingml/2006/main">
            <a:r>
              <a:t>        "recovery": "회귀시험·오답 보완·계약 산출물의 대사",</a:t>
            </a:r>
          </a:p>
          <a:p xmlns:a="http://schemas.openxmlformats.org/drawingml/2006/main">
            <a:r>
              <a:t>        "evidence": "질문별 정답·변형 질의 일관성·실제 서비스 도달 기록"</a:t>
            </a:r>
          </a:p>
          <a:p xmlns:a="http://schemas.openxmlformats.org/drawingml/2006/main">
            <a:r>
              <a:t>      },</a:t>
            </a:r>
          </a:p>
          <a:p xmlns:a="http://schemas.openxmlformats.org/drawingml/2006/main">
            <a:r>
              <a:t>      "data": {</a:t>
            </a:r>
          </a:p>
          <a:p xmlns:a="http://schemas.openxmlformats.org/drawingml/2006/main">
            <a:r>
              <a:t>        "source": "안내·응답·평가 기록",</a:t>
            </a:r>
          </a:p>
          <a:p xmlns:a="http://schemas.openxmlformats.org/drawingml/2006/main">
            <a:r>
              <a:t>        "prepare": "정책 원문·서비스 목록·시험 질문의 버전 관리",</a:t>
            </a:r>
          </a:p>
          <a:p xmlns:a="http://schemas.openxmlformats.org/drawingml/2006/main">
            <a:r>
              <a:t>        "output": "질문",</a:t>
            </a:r>
          </a:p>
          <a:p xmlns:a="http://schemas.openxmlformats.org/drawingml/2006/main">
            <a:r>
              <a:t>        "refresh": "회귀시험·오답 보완·계약 산출물의 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"PF31",</a:t>
            </a:r>
          </a:p>
          <a:p xmlns:a="http://schemas.openxmlformats.org/drawingml/2006/main">
            <a:r>
              <a:t>    "success": [</a:t>
            </a:r>
          </a:p>
          <a:p xmlns:a="http://schemas.openxmlformats.org/drawingml/2006/main">
            <a:r>
              <a:t>      "통합 서비스의 완료조건 정의",</a:t>
            </a:r>
          </a:p>
          <a:p xmlns:a="http://schemas.openxmlformats.org/drawingml/2006/main">
            <a:r>
              <a:t>      "응답 품질·계약 증빙의 독립 검토"</a:t>
            </a:r>
          </a:p>
          <a:p xmlns:a="http://schemas.openxmlformats.org/drawingml/2006/main">
            <a:r>
              <a:t>    ],</a:t>
            </a:r>
          </a:p>
          <a:p xmlns:a="http://schemas.openxmlformats.org/drawingml/2006/main">
            <a:r>
              <a:t>    "risks": [</a:t>
            </a:r>
          </a:p>
          <a:p xmlns:a="http://schemas.openxmlformats.org/drawingml/2006/main">
            <a:r>
              <a:t>      "감사에서 지적된 비일관 답변",</a:t>
            </a:r>
          </a:p>
          <a:p xmlns:a="http://schemas.openxmlformats.org/drawingml/2006/main">
            <a:r>
              <a:t>      "사업계획·계약 감독·서비스 통합의 미비"</a:t>
            </a:r>
          </a:p>
          <a:p xmlns:a="http://schemas.openxmlformats.org/drawingml/2006/main">
            <a:r>
              <a:t>    ],</a:t>
            </a:r>
          </a:p>
          <a:p xmlns:a="http://schemas.openxmlformats.org/drawingml/2006/main">
            <a:r>
              <a:t>    "architecture": [</a:t>
            </a:r>
          </a:p>
          <a:p xmlns:a="http://schemas.openxmlformats.org/drawingml/2006/main">
            <a:r>
              <a:t>      "MyCity 이용자",</a:t>
            </a:r>
          </a:p>
          <a:p xmlns:a="http://schemas.openxmlformats.org/drawingml/2006/main">
            <a:r>
              <a:t>      "AI 챗봇·포털",</a:t>
            </a:r>
          </a:p>
          <a:p xmlns:a="http://schemas.openxmlformats.org/drawingml/2006/main">
            <a:r>
              <a:t>      "안내·응답·평가 기록",</a:t>
            </a:r>
          </a:p>
          <a:p xmlns:a="http://schemas.openxmlformats.org/drawingml/2006/main">
            <a:r>
              <a:t>      "사업자·운영 담당"</a:t>
            </a:r>
          </a:p>
          <a:p xmlns:a="http://schemas.openxmlformats.org/drawingml/2006/main">
            <a:r>
              <a:t>    ],</a:t>
            </a:r>
          </a:p>
          <a:p xmlns:a="http://schemas.openxmlformats.org/drawingml/2006/main">
            <a:r>
              <a:t>    "transfers": [</a:t>
            </a:r>
          </a:p>
          <a:p xmlns:a="http://schemas.openxmlformats.org/drawingml/2006/main">
            <a:r>
              <a:t>      "질문",</a:t>
            </a:r>
          </a:p>
          <a:p xmlns:a="http://schemas.openxmlformats.org/drawingml/2006/main">
            <a:r>
              <a:t>      "안내 지식",</a:t>
            </a:r>
          </a:p>
          <a:p xmlns:a="http://schemas.openxmlformats.org/drawingml/2006/main">
            <a:r>
              <a:t>      "챗봇 답변",</a:t>
            </a:r>
          </a:p>
          <a:p xmlns:a="http://schemas.openxmlformats.org/drawingml/2006/main">
            <a:r>
              <a:t>      "피드백·감사"</a:t>
            </a:r>
          </a:p>
          <a:p xmlns:a="http://schemas.openxmlformats.org/drawingml/2006/main">
            <a:r>
              <a:t>    ],</a:t>
            </a:r>
          </a:p>
          <a:p xmlns:a="http://schemas.openxmlformats.org/drawingml/2006/main">
            <a:r>
              <a:t>    "control": "감사 지적과 기관 반론의 근거별 추적",</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뉴욕시 감사 보고서 https://comptroller.nyc.gov/reports/audit-report-on-the-new-york-city-office-of-technology-and-innovations-mycity-system/</a:t>
            </a:r>
          </a:p>
          <a:p xmlns:a="http://schemas.openxmlformats.org/drawingml/2006/main">
            <a:r>
              <a:t>홈페이지 https://heen1987-ops.github.io/TS-business-Plan-001/index.html?view=platform-cases&amp;case=PF31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"case": {</a:t>
            </a:r>
          </a:p>
          <a:p xmlns:a="http://schemas.openxmlformats.org/drawingml/2006/main">
            <a:r>
              <a:t>    "id": "PF31",</a:t>
            </a:r>
          </a:p>
          <a:p xmlns:a="http://schemas.openxmlformats.org/drawingml/2006/main">
            <a:r>
              <a:t>    "sourceId": "AX13",</a:t>
            </a:r>
          </a:p>
          <a:p xmlns:a="http://schemas.openxmlformats.org/drawingml/2006/main">
            <a:r>
              <a:t>    "title": "뉴욕 MyCity 챗봇 감사",</a:t>
            </a:r>
          </a:p>
          <a:p xmlns:a="http://schemas.openxmlformats.org/drawingml/2006/main">
            <a:r>
              <a:t>    "region": "해외",</a:t>
            </a:r>
          </a:p>
          <a:p xmlns:a="http://schemas.openxmlformats.org/drawingml/2006/main">
            <a:r>
              <a:t>    "owner": "뉴욕시 / 감사기관",</a:t>
            </a:r>
          </a:p>
          <a:p xmlns:a="http://schemas.openxmlformats.org/drawingml/2006/main">
            <a:r>
              <a:t>    "state": "감사 지적·개선",</a:t>
            </a:r>
          </a:p>
          <a:p xmlns:a="http://schemas.openxmlformats.org/drawingml/2006/main">
            <a:r>
              <a:t>    "period": "2025 감사 / 2026 갱신",</a:t>
            </a:r>
          </a:p>
          <a:p xmlns:a="http://schemas.openxmlformats.org/drawingml/2006/main">
            <a:r>
              <a:t>    "fact": "부정확·비일관 답변과 사업관리·통합서비스 미비에 대한 감사 지적",</a:t>
            </a:r>
          </a:p>
          <a:p xmlns:a="http://schemas.openxmlformats.org/drawingml/2006/main">
            <a:r>
              <a:t>    "limit": "운영기관의 정확도 주장과 감사 판단의 차이 존재 · 개별 질의·평가 방식 대조 필요",</a:t>
            </a:r>
          </a:p>
          <a:p xmlns:a="http://schemas.openxmlformats.org/drawingml/2006/main">
            <a:r>
              <a:t>    "nodes": [</a:t>
            </a:r>
          </a:p>
          <a:p xmlns:a="http://schemas.openxmlformats.org/drawingml/2006/main">
            <a:r>
              <a:t>      "공공 안내 자료",</a:t>
            </a:r>
          </a:p>
          <a:p xmlns:a="http://schemas.openxmlformats.org/drawingml/2006/main">
            <a:r>
              <a:t>      "AI 챗봇",</a:t>
            </a:r>
          </a:p>
          <a:p xmlns:a="http://schemas.openxmlformats.org/drawingml/2006/main">
            <a:r>
              <a:t>      "사업자 안내",</a:t>
            </a:r>
          </a:p>
          <a:p xmlns:a="http://schemas.openxmlformats.org/drawingml/2006/main">
            <a:r>
              <a:t>      "감사·개선 요청"</a:t>
            </a:r>
          </a:p>
          <a:p xmlns:a="http://schemas.openxmlformats.org/drawingml/2006/main">
            <a:r>
              <a:t>    ],</a:t>
            </a:r>
          </a:p>
          <a:p xmlns:a="http://schemas.openxmlformats.org/drawingml/2006/main">
            <a:r>
              <a:t>    "apply": "답변 정답셋·서비스 도달·계약 산출물의 검수 체계를 사업 초기에 구성",</a:t>
            </a:r>
          </a:p>
          <a:p xmlns:a="http://schemas.openxmlformats.org/drawingml/2006/main">
            <a:r>
              <a:t>    "delta": "반례 정답셋·오안내 신고·책임부서 인계",</a:t>
            </a:r>
          </a:p>
          <a:p xmlns:a="http://schemas.openxmlformats.org/drawingml/2006/main">
            <a:r>
              <a:t>    "test": "규정과 상충하는 안내 및 미완료 신청 재현",</a:t>
            </a:r>
          </a:p>
          <a:p xmlns:a="http://schemas.openxmlformats.org/drawingml/2006/main">
            <a:r>
              <a:t>    "url": "https://comptroller.nyc.gov/reports/audit-report-on-the-new-york-city-office-of-technology-and-innovations-mycity-system/",</a:t>
            </a:r>
          </a:p>
          <a:p xmlns:a="http://schemas.openxmlformats.org/drawingml/2006/main">
            <a:r>
              <a:t>    "basis": "뉴욕시 감사 보고서",</a:t>
            </a:r>
          </a:p>
          <a:p xmlns:a="http://schemas.openxmlformats.org/drawingml/2006/main">
            <a:r>
              <a:t>    "checked": "2026-10-16",</a:t>
            </a:r>
          </a:p>
          <a:p xmlns:a="http://schemas.openxmlformats.org/drawingml/2006/main">
            <a:r>
              <a:t>    "diagramBasis": "공개 업무 흐름의 요약·재구성 / 내부 배치 구조 추정 제외",</a:t>
            </a:r>
          </a:p>
          <a:p xmlns:a="http://schemas.openxmlformats.org/drawingml/2006/main">
            <a:r>
              <a:t>    "effect": "오안내율 / 신청 완료율 / 재접촉률",</a:t>
            </a:r>
          </a:p>
          <a:p xmlns:a="http://schemas.openxmlformats.org/drawingml/2006/main">
            <a:r>
              <a:t>    "group": "감사·개선"</a:t>
            </a:r>
          </a:p>
          <a:p xmlns:a="http://schemas.openxmlformats.org/drawingml/2006/main">
            <a:r>
              <a:t>  },</a:t>
            </a:r>
          </a:p>
          <a:p xmlns:a="http://schemas.openxmlformats.org/drawingml/2006/main">
            <a:r>
              <a:t>  "design": {</a:t>
            </a:r>
          </a:p>
          <a:p xmlns:a="http://schemas.openxmlformats.org/drawingml/2006/main">
            <a:r>
              <a:t>    "id": "PF31",</a:t>
            </a:r>
          </a:p>
          <a:p xmlns:a="http://schemas.openxmlformats.org/drawingml/2006/main">
            <a:r>
              <a:t>    "canonicalId": "AX13",</a:t>
            </a:r>
          </a:p>
          <a:p xmlns:a="http://schemas.openxmlformats.org/drawingml/2006/main">
            <a:r>
              <a:t>    "purpose": "대민 챗봇의 답변 품질·사업관리 실패 분석",</a:t>
            </a:r>
          </a:p>
          <a:p xmlns:a="http://schemas.openxmlformats.org/drawingml/2006/main">
            <a:r>
              <a:t>    "users": "사업자·시민·서비스 운영부서",</a:t>
            </a:r>
          </a:p>
          <a:p xmlns:a="http://schemas.openxmlformats.org/drawingml/2006/main">
            <a:r>
              <a:t>    "scope": [</a:t>
            </a:r>
          </a:p>
          <a:p xmlns:a="http://schemas.openxmlformats.org/drawingml/2006/main">
            <a:r>
              <a:t>      "질의응답",</a:t>
            </a:r>
          </a:p>
          <a:p xmlns:a="http://schemas.openxmlformats.org/drawingml/2006/main">
            <a:r>
              <a:t>      "포털 통합",</a:t>
            </a:r>
          </a:p>
          <a:p xmlns:a="http://schemas.openxmlformats.org/drawingml/2006/main">
            <a:r>
              <a:t>      "계약·감사"</a:t>
            </a:r>
          </a:p>
          <a:p xmlns:a="http://schemas.openxmlformats.org/drawingml/2006/main">
            <a:r>
              <a:t>    ],</a:t>
            </a:r>
          </a:p>
          <a:p xmlns:a="http://schemas.openxmlformats.org/drawingml/2006/main">
            <a:r>
              <a:t>    "nodes": [</a:t>
            </a:r>
          </a:p>
          <a:p xmlns:a="http://schemas.openxmlformats.org/drawingml/2006/main">
            <a:r>
              <a:t>      {</a:t>
            </a:r>
          </a:p>
          <a:p xmlns:a="http://schemas.openxmlformats.org/drawingml/2006/main">
            <a:r>
              <a:t>        "id": "entry",</a:t>
            </a:r>
          </a:p>
          <a:p xmlns:a="http://schemas.openxmlformats.org/drawingml/2006/main">
            <a:r>
              <a:t>        "title": "MyCity 이용자",</a:t>
            </a:r>
          </a:p>
          <a:p xmlns:a="http://schemas.openxmlformats.org/drawingml/2006/main">
            <a:r>
              <a:t>        "detail": "요청 업무와 공식 소관·이용조건 식별",</a:t>
            </a:r>
          </a:p>
          <a:p xmlns:a="http://schemas.openxmlformats.org/drawingml/2006/main">
            <a:r>
              <a:t>        "layer": "이용 접점"</a:t>
            </a:r>
          </a:p>
          <a:p xmlns:a="http://schemas.openxmlformats.org/drawingml/2006/main">
            <a:r>
              <a:t>      },</a:t>
            </a:r>
          </a:p>
          <a:p xmlns:a="http://schemas.openxmlformats.org/drawingml/2006/main">
            <a:r>
              <a:t>      {</a:t>
            </a:r>
          </a:p>
          <a:p xmlns:a="http://schemas.openxmlformats.org/drawingml/2006/main">
            <a:r>
              <a:t>        "id": "route",</a:t>
            </a:r>
          </a:p>
          <a:p xmlns:a="http://schemas.openxmlformats.org/drawingml/2006/main">
            <a:r>
              <a:t>        "title": "문맥·처리 경로",</a:t>
            </a:r>
          </a:p>
          <a:p xmlns:a="http://schemas.openxmlformats.org/drawingml/2006/main">
            <a:r>
              <a:t>        "detail": "질의응답 / 포털 통합 / 계약·감사",</a:t>
            </a:r>
          </a:p>
          <a:p xmlns:a="http://schemas.openxmlformats.org/drawingml/2006/main">
            <a:r>
              <a:t>        "layer": "서비스 조정"</a:t>
            </a:r>
          </a:p>
          <a:p xmlns:a="http://schemas.openxmlformats.org/drawingml/2006/main">
            <a:r>
              <a:t>      },</a:t>
            </a:r>
          </a:p>
          <a:p xmlns:a="http://schemas.openxmlformats.org/drawingml/2006/main">
            <a:r>
              <a:t>      {</a:t>
            </a:r>
          </a:p>
          <a:p xmlns:a="http://schemas.openxmlformats.org/drawingml/2006/main">
            <a:r>
              <a:t>        "id": "engine",</a:t>
            </a:r>
          </a:p>
          <a:p xmlns:a="http://schemas.openxmlformats.org/drawingml/2006/main">
            <a:r>
              <a:t>        "title": "AI 챗봇·포털",</a:t>
            </a:r>
          </a:p>
          <a:p xmlns:a="http://schemas.openxmlformats.org/drawingml/2006/main">
            <a:r>
              <a:t>        "detail": "공식 정보 검색과 근거별 답변 대조 설계",</a:t>
            </a:r>
          </a:p>
          <a:p xmlns:a="http://schemas.openxmlformats.org/drawingml/2006/main">
            <a:r>
              <a:t>        "layer": "분석·AI 처리"</a:t>
            </a:r>
          </a:p>
          <a:p xmlns:a="http://schemas.openxmlformats.org/drawingml/2006/main">
            <a:r>
              <a:t>      },</a:t>
            </a:r>
          </a:p>
          <a:p xmlns:a="http://schemas.openxmlformats.org/drawingml/2006/main">
            <a:r>
              <a:t>      {</a:t>
            </a:r>
          </a:p>
          <a:p xmlns:a="http://schemas.openxmlformats.org/drawingml/2006/main">
            <a:r>
              <a:t>        "id": "result",</a:t>
            </a:r>
          </a:p>
          <a:p xmlns:a="http://schemas.openxmlformats.org/drawingml/2006/main">
            <a:r>
              <a:t>        "title": "사업자·운영 담당",</a:t>
            </a:r>
          </a:p>
          <a:p xmlns:a="http://schemas.openxmlformats.org/drawingml/2006/main">
            <a:r>
              <a:t>        "detail": "검증된 안내와 실제 신청 경로의 분리 제공",</a:t>
            </a:r>
          </a:p>
          <a:p xmlns:a="http://schemas.openxmlformats.org/drawingml/2006/main">
            <a:r>
              <a:t>        "layer": "검토·업무 연결"</a:t>
            </a:r>
          </a:p>
          <a:p xmlns:a="http://schemas.openxmlformats.org/drawingml/2006/main">
            <a:r>
              <a:t>      },</a:t>
            </a:r>
          </a:p>
          <a:p xmlns:a="http://schemas.openxmlformats.org/drawingml/2006/main">
            <a:r>
              <a:t>      {</a:t>
            </a:r>
          </a:p>
          <a:p xmlns:a="http://schemas.openxmlformats.org/drawingml/2006/main">
            <a:r>
              <a:t>        "id": "data",</a:t>
            </a:r>
          </a:p>
          <a:p xmlns:a="http://schemas.openxmlformats.org/drawingml/2006/main">
            <a:r>
              <a:t>        "title": "안내·응답·평가 기록",</a:t>
            </a:r>
          </a:p>
          <a:p xmlns:a="http://schemas.openxmlformats.org/drawingml/2006/main">
            <a:r>
              <a:t>        "detail": "정책 원문·서비스 목록·시험 질문의 버전 관리",</a:t>
            </a:r>
          </a:p>
          <a:p xmlns:a="http://schemas.openxmlformats.org/drawingml/2006/main">
            <a:r>
              <a:t>        "layer": "데이터 기반"</a:t>
            </a:r>
          </a:p>
          <a:p xmlns:a="http://schemas.openxmlformats.org/drawingml/2006/main">
            <a:r>
              <a:t>      },</a:t>
            </a:r>
          </a:p>
          <a:p xmlns:a="http://schemas.openxmlformats.org/drawingml/2006/main">
            <a:r>
              <a:t>      {</a:t>
            </a:r>
          </a:p>
          <a:p xmlns:a="http://schemas.openxmlformats.org/drawingml/2006/main">
            <a:r>
              <a:t>        "id": "ops",</a:t>
            </a:r>
          </a:p>
          <a:p xmlns:a="http://schemas.openxmlformats.org/drawingml/2006/main">
            <a:r>
              <a:t>        "title": "품질·운영 관리",</a:t>
            </a:r>
          </a:p>
          <a:p xmlns:a="http://schemas.openxmlformats.org/drawingml/2006/main">
            <a:r>
              <a:t>        "detail": "회귀시험·오답 보완·계약 산출물의 대사",</a:t>
            </a:r>
          </a:p>
          <a:p xmlns:a="http://schemas.openxmlformats.org/drawingml/2006/main">
            <a:r>
              <a:t>        "layer": "운영 환류"</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"entry",</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"route",</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"engine",</a:t>
            </a:r>
          </a:p>
          <a:p xmlns:a="http://schemas.openxmlformats.org/drawingml/2006/main">
            <a:r>
              <a:t>        "result"</a:t>
            </a:r>
          </a:p>
          <a:p xmlns:a="http://schemas.openxmlformats.org/drawingml/2006/main">
            <a:r>
              <a:t>      ],</a:t>
            </a:r>
          </a:p>
          <a:p xmlns:a="http://schemas.openxmlformats.org/drawingml/2006/main">
            <a:r>
              <a:t>      [</a:t>
            </a:r>
          </a:p>
          <a:p xmlns:a="http://schemas.openxmlformats.org/drawingml/2006/main">
            <a:r>
              <a:t>        "data",</a:t>
            </a:r>
          </a:p>
          <a:p xmlns:a="http://schemas.openxmlformats.org/drawingml/2006/main">
            <a:r>
              <a:t>        "engine"</a:t>
            </a:r>
          </a:p>
          <a:p xmlns:a="http://schemas.openxmlformats.org/drawingml/2006/main">
            <a:r>
              <a:t>      ],</a:t>
            </a:r>
          </a:p>
          <a:p xmlns:a="http://schemas.openxmlformats.org/drawingml/2006/main">
            <a:r>
              <a:t>      [</a:t>
            </a:r>
          </a:p>
          <a:p xmlns:a="http://schemas.openxmlformats.org/drawingml/2006/main">
            <a:r>
              <a:t>        "result",</a:t>
            </a:r>
          </a:p>
          <a:p xmlns:a="http://schemas.openxmlformats.org/drawingml/2006/main">
            <a:r>
              <a:t>        "ops"</a:t>
            </a:r>
          </a:p>
          <a:p xmlns:a="http://schemas.openxmlformats.org/drawingml/2006/main">
            <a:r>
              <a:t>      ],</a:t>
            </a:r>
          </a:p>
          <a:p xmlns:a="http://schemas.openxmlformats.org/drawingml/2006/main">
            <a:r>
              <a:t>      [</a:t>
            </a:r>
          </a:p>
          <a:p xmlns:a="http://schemas.openxmlformats.org/drawingml/2006/main">
            <a:r>
              <a:t>        "ops",</a:t>
            </a:r>
          </a:p>
          <a:p xmlns:a="http://schemas.openxmlformats.org/drawingml/2006/main">
            <a:r>
              <a:t>        "route"</a:t>
            </a:r>
          </a:p>
          <a:p xmlns:a="http://schemas.openxmlformats.org/drawingml/2006/main">
            <a:r>
              <a:t>      ]</a:t>
            </a:r>
          </a:p>
          <a:p xmlns:a="http://schemas.openxmlformats.org/drawingml/2006/main">
            <a:r>
              <a:t>    ],</a:t>
            </a:r>
          </a:p>
          <a:p xmlns:a="http://schemas.openxmlformats.org/drawingml/2006/main">
            <a:r>
              <a:t>    "sequence": [</a:t>
            </a:r>
          </a:p>
          <a:p xmlns:a="http://schemas.openxmlformats.org/drawingml/2006/main">
            <a:r>
              <a:t>      {</a:t>
            </a:r>
          </a:p>
          <a:p xmlns:a="http://schemas.openxmlformats.org/drawingml/2006/main">
            <a:r>
              <a:t>        "title": "공공 안내 자료",</a:t>
            </a:r>
          </a:p>
          <a:p xmlns:a="http://schemas.openxmlformats.org/drawingml/2006/main">
            <a:r>
              <a:t>        "input": "요청 업무와 공식 소관·이용조건 식별",</a:t>
            </a:r>
          </a:p>
          <a:p xmlns:a="http://schemas.openxmlformats.org/drawingml/2006/main">
            <a:r>
              <a:t>        "process": "정책 원문·서비스 목록·시험 질문의 버전 관리",</a:t>
            </a:r>
          </a:p>
          <a:p xmlns:a="http://schemas.openxmlformats.org/drawingml/2006/main">
            <a:r>
              <a:t>        "output": "질문"</a:t>
            </a:r>
          </a:p>
          <a:p xmlns:a="http://schemas.openxmlformats.org/drawingml/2006/main">
            <a:r>
              <a:t>      },</a:t>
            </a:r>
          </a:p>
          <a:p xmlns:a="http://schemas.openxmlformats.org/drawingml/2006/main">
            <a:r>
              <a:t>      {</a:t>
            </a:r>
          </a:p>
          <a:p xmlns:a="http://schemas.openxmlformats.org/drawingml/2006/main">
            <a:r>
              <a:t>        "title": "AI 챗봇",</a:t>
            </a:r>
          </a:p>
          <a:p xmlns:a="http://schemas.openxmlformats.org/drawingml/2006/main">
            <a:r>
              <a:t>        "input": "질문",</a:t>
            </a:r>
          </a:p>
          <a:p xmlns:a="http://schemas.openxmlformats.org/drawingml/2006/main">
            <a:r>
              <a:t>        "process": "공식 정보 검색과 근거별 답변 대조 설계",</a:t>
            </a:r>
          </a:p>
          <a:p xmlns:a="http://schemas.openxmlformats.org/drawingml/2006/main">
            <a:r>
              <a:t>        "output": "안내 지식"</a:t>
            </a:r>
          </a:p>
          <a:p xmlns:a="http://schemas.openxmlformats.org/drawingml/2006/main">
            <a:r>
              <a:t>      },</a:t>
            </a:r>
          </a:p>
          <a:p xmlns:a="http://schemas.openxmlformats.org/drawingml/2006/main">
            <a:r>
              <a:t>      {</a:t>
            </a:r>
          </a:p>
          <a:p xmlns:a="http://schemas.openxmlformats.org/drawingml/2006/main">
            <a:r>
              <a:t>        "title": "사업자 안내",</a:t>
            </a:r>
          </a:p>
          <a:p xmlns:a="http://schemas.openxmlformats.org/drawingml/2006/main">
            <a:r>
              <a:t>        "input": "안내 지식",</a:t>
            </a:r>
          </a:p>
          <a:p xmlns:a="http://schemas.openxmlformats.org/drawingml/2006/main">
            <a:r>
              <a:t>        "process": "감사 지적과 기관 반론의 근거별 추적",</a:t>
            </a:r>
          </a:p>
          <a:p xmlns:a="http://schemas.openxmlformats.org/drawingml/2006/main">
            <a:r>
              <a:t>        "output": "챗봇 답변"</a:t>
            </a:r>
          </a:p>
          <a:p xmlns:a="http://schemas.openxmlformats.org/drawingml/2006/main">
            <a:r>
              <a:t>      },</a:t>
            </a:r>
          </a:p>
          <a:p xmlns:a="http://schemas.openxmlformats.org/drawingml/2006/main">
            <a:r>
              <a:t>      {</a:t>
            </a:r>
          </a:p>
          <a:p xmlns:a="http://schemas.openxmlformats.org/drawingml/2006/main">
            <a:r>
              <a:t>        "title": "감사·개선 요청",</a:t>
            </a:r>
          </a:p>
          <a:p xmlns:a="http://schemas.openxmlformats.org/drawingml/2006/main">
            <a:r>
              <a:t>        "input": "챗봇 답변",</a:t>
            </a:r>
          </a:p>
          <a:p xmlns:a="http://schemas.openxmlformats.org/drawingml/2006/main">
            <a:r>
              <a:t>        "process": "검증된 안내와 실제 신청 경로의 분리 제공",</a:t>
            </a:r>
          </a:p>
          <a:p xmlns:a="http://schemas.openxmlformats.org/drawingml/2006/main">
            <a:r>
              <a:t>        "output": "피드백·감사"</a:t>
            </a:r>
          </a:p>
          <a:p xmlns:a="http://schemas.openxmlformats.org/drawingml/2006/main">
            <a:r>
              <a:t>      }</a:t>
            </a:r>
          </a:p>
          <a:p xmlns:a="http://schemas.openxmlformats.org/drawingml/2006/main">
            <a:r>
              <a:t>    ],</a:t>
            </a:r>
          </a:p>
          <a:p xmlns:a="http://schemas.openxmlformats.org/drawingml/2006/main">
            <a:r>
              <a:t>    "benchmark": {</a:t>
            </a:r>
          </a:p>
          <a:p xmlns:a="http://schemas.openxmlformats.org/drawingml/2006/main">
            <a:r>
              <a:t>      "normal": "사업자가 허가 조건을 질문해 공식 안내로 이동",</a:t>
            </a:r>
          </a:p>
          <a:p xmlns:a="http://schemas.openxmlformats.org/drawingml/2006/main">
            <a:r>
              <a:t>      "exception": "동일 질문 표현 변경·상충 규정·폐지된 서비스",</a:t>
            </a:r>
          </a:p>
          <a:p xmlns:a="http://schemas.openxmlformats.org/drawingml/2006/main">
            <a:r>
              <a:t>      "evidence": "질문별 정답·변형 질의 일관성·실제 서비스 도달 기록",</a:t>
            </a:r>
          </a:p>
          <a:p xmlns:a="http://schemas.openxmlformats.org/drawingml/2006/main">
            <a:r>
              <a:t>      "label": "CCK 비교·재현 시험 설계",</a:t>
            </a:r>
          </a:p>
          <a:p xmlns:a="http://schemas.openxmlformats.org/drawingml/2006/main">
            <a:r>
              <a:t>      "functions": [</a:t>
            </a:r>
          </a:p>
          <a:p xmlns:a="http://schemas.openxmlformats.org/drawingml/2006/main">
            <a:r>
              <a:t>        {</a:t>
            </a:r>
          </a:p>
          <a:p xmlns:a="http://schemas.openxmlformats.org/drawingml/2006/main">
            <a:r>
              <a:t>          "name": "요청·업무 문맥",</a:t>
            </a:r>
          </a:p>
          <a:p xmlns:a="http://schemas.openxmlformats.org/drawingml/2006/main">
            <a:r>
              <a:t>          "input": "사업자·시민·서비스 운영부서",</a:t>
            </a:r>
          </a:p>
          <a:p xmlns:a="http://schemas.openxmlformats.org/drawingml/2006/main">
            <a:r>
              <a:t>          "processing": "요청 업무와 공식 소관·이용조건 식별",</a:t>
            </a:r>
          </a:p>
          <a:p xmlns:a="http://schemas.openxmlformats.org/drawingml/2006/main">
            <a:r>
              <a:t>          "output": "질문"</a:t>
            </a:r>
          </a:p>
          <a:p xmlns:a="http://schemas.openxmlformats.org/drawingml/2006/main">
            <a:r>
              <a:t>        },</a:t>
            </a:r>
          </a:p>
          <a:p xmlns:a="http://schemas.openxmlformats.org/drawingml/2006/main">
            <a:r>
              <a:t>        {</a:t>
            </a:r>
          </a:p>
          <a:p xmlns:a="http://schemas.openxmlformats.org/drawingml/2006/main">
            <a:r>
              <a:t>          "name": "데이터 준비·연결",</a:t>
            </a:r>
          </a:p>
          <a:p xmlns:a="http://schemas.openxmlformats.org/drawingml/2006/main">
            <a:r>
              <a:t>          "input": "안내·응답·평가 기록",</a:t>
            </a:r>
          </a:p>
          <a:p xmlns:a="http://schemas.openxmlformats.org/drawingml/2006/main">
            <a:r>
              <a:t>          "processing": "정책 원문·서비스 목록·시험 질문의 버전 관리",</a:t>
            </a:r>
          </a:p>
          <a:p xmlns:a="http://schemas.openxmlformats.org/drawingml/2006/main">
            <a:r>
              <a:t>          "output": "처리에 사용할 자료·출처·문맥"</a:t>
            </a:r>
          </a:p>
          <a:p xmlns:a="http://schemas.openxmlformats.org/drawingml/2006/main">
            <a:r>
              <a:t>        },</a:t>
            </a:r>
          </a:p>
          <a:p xmlns:a="http://schemas.openxmlformats.org/drawingml/2006/main">
            <a:r>
              <a:t>        {</a:t>
            </a:r>
          </a:p>
          <a:p xmlns:a="http://schemas.openxmlformats.org/drawingml/2006/main">
            <a:r>
              <a:t>          "name": "분석·결과 생성",</a:t>
            </a:r>
          </a:p>
          <a:p xmlns:a="http://schemas.openxmlformats.org/drawingml/2006/main">
            <a:r>
              <a:t>          "input": "질문",</a:t>
            </a:r>
          </a:p>
          <a:p xmlns:a="http://schemas.openxmlformats.org/drawingml/2006/main">
            <a:r>
              <a:t>          "processing": "공식 정보 검색과 근거별 답변 대조 설계",</a:t>
            </a:r>
          </a:p>
          <a:p xmlns:a="http://schemas.openxmlformats.org/drawingml/2006/main">
            <a:r>
              <a:t>          "output": "챗봇 답변"</a:t>
            </a:r>
          </a:p>
          <a:p xmlns:a="http://schemas.openxmlformats.org/drawingml/2006/main">
            <a:r>
              <a:t>        },</a:t>
            </a:r>
          </a:p>
          <a:p xmlns:a="http://schemas.openxmlformats.org/drawingml/2006/main">
            <a:r>
              <a:t>        {</a:t>
            </a:r>
          </a:p>
          <a:p xmlns:a="http://schemas.openxmlformats.org/drawingml/2006/main">
            <a:r>
              <a:t>          "name": "검토·업무 인계",</a:t>
            </a:r>
          </a:p>
          <a:p xmlns:a="http://schemas.openxmlformats.org/drawingml/2006/main">
            <a:r>
              <a:t>          "input": "챗봇 답변",</a:t>
            </a:r>
          </a:p>
          <a:p xmlns:a="http://schemas.openxmlformats.org/drawingml/2006/main">
            <a:r>
              <a:t>          "processing": "검증된 안내와 실제 신청 경로의 분리 제공",</a:t>
            </a:r>
          </a:p>
          <a:p xmlns:a="http://schemas.openxmlformats.org/drawingml/2006/main">
            <a:r>
              <a:t>          "output": "피드백·감사"</a:t>
            </a:r>
          </a:p>
          <a:p xmlns:a="http://schemas.openxmlformats.org/drawingml/2006/main">
            <a:r>
              <a:t>        },</a:t>
            </a:r>
          </a:p>
          <a:p xmlns:a="http://schemas.openxmlformats.org/drawingml/2006/main">
            <a:r>
              <a:t>        {</a:t>
            </a:r>
          </a:p>
          <a:p xmlns:a="http://schemas.openxmlformats.org/drawingml/2006/main">
            <a:r>
              <a:t>          "name": "오류·운영 환류",</a:t>
            </a:r>
          </a:p>
          <a:p xmlns:a="http://schemas.openxmlformats.org/drawingml/2006/main">
            <a:r>
              <a:t>          "input": "오류·수정·업무 처리 기록",</a:t>
            </a:r>
          </a:p>
          <a:p xmlns:a="http://schemas.openxmlformats.org/drawingml/2006/main">
            <a:r>
              <a:t>          "processing": "회귀시험·오답 보완·계약 산출물의 대사",</a:t>
            </a:r>
          </a:p>
          <a:p xmlns:a="http://schemas.openxmlformats.org/drawingml/2006/main">
            <a:r>
              <a:t>          "output": "질문별 정답·변형 질의 일관성·실제 서비스 도달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"operations": "회귀시험·오답 보완·계약 산출물의 대사",</a:t>
            </a:r>
          </a:p>
          <a:p xmlns:a="http://schemas.openxmlformats.org/drawingml/2006/main">
            <a:r>
              <a:t>    "status": "공개자료 기반 추론 설계",</a:t>
            </a:r>
          </a:p>
          <a:p xmlns:a="http://schemas.openxmlformats.org/drawingml/2006/main">
            <a:r>
              <a:t>    "basis": "운영기관·공급사·감사 자료의 업무 설명",</a:t>
            </a:r>
          </a:p>
          <a:p xmlns:a="http://schemas.openxmlformats.org/drawingml/2006/main">
            <a:r>
              <a:t>    "rfp": false,</a:t>
            </a:r>
          </a:p>
          <a:p xmlns:a="http://schemas.openxmlformats.org/drawingml/2006/main">
            <a:r>
              <a:t>    "sources": [</a:t>
            </a:r>
          </a:p>
          <a:p xmlns:a="http://schemas.openxmlformats.org/drawingml/2006/main">
            <a:r>
              <a:t>      {</a:t>
            </a:r>
          </a:p>
          <a:p xmlns:a="http://schemas.openxmlformats.org/drawingml/2006/main">
            <a:r>
              <a:t>        "title": "뉴욕시 감사 보고서",</a:t>
            </a:r>
          </a:p>
          <a:p xmlns:a="http://schemas.openxmlformats.org/drawingml/2006/main">
            <a:r>
              <a:t>        "url": "https://comptroller.nyc.gov/reports/audit-report-on-the-new-york-city-office-of-technology-and-innovations-mycity-system/"</a:t>
            </a:r>
          </a:p>
          <a:p xmlns:a="http://schemas.openxmlformats.org/drawingml/2006/main">
            <a:r>
              <a:t>      }</a:t>
            </a:r>
          </a:p>
          <a:p xmlns:a="http://schemas.openxmlformats.org/drawingml/2006/main">
            <a:r>
              <a:t>    ],</a:t>
            </a:r>
          </a:p>
          <a:p xmlns:a="http://schemas.openxmlformats.org/drawingml/2006/main">
            <a:r>
              <a:t>    "implication": "출시 여부와 실제 민원 과업 완료의 분리 평가",</a:t>
            </a:r>
          </a:p>
          <a:p xmlns:a="http://schemas.openxmlformats.org/drawingml/2006/main">
            <a:r>
              <a:t>    "local": "답변 정답셋·서비스 도달·계약 산출물의 검수 체계를 사업 초기에 구성",</a:t>
            </a:r>
          </a:p>
          <a:p xmlns:a="http://schemas.openxmlformats.org/drawingml/2006/main">
            <a:r>
              <a:t>    "sourceDetail": null,</a:t>
            </a:r>
          </a:p>
          <a:p xmlns:a="http://schemas.openxmlformats.org/drawingml/2006/main">
            <a:r>
              <a:t>    "narrative": [</a:t>
            </a:r>
          </a:p>
          <a:p xmlns:a="http://schemas.openxmlformats.org/drawingml/2006/main">
            <a:r>
              <a:t>      "뉴욕 MyCity의 챗봇 답변 품질과 통합서비스 사업관리 문제를 다룬 감사 사례. 공식 안내의 정확성과 서비스 통합·계약 감독을 함께 봐야 하는 대민 AI 사업의 사례.",</a:t>
            </a:r>
          </a:p>
          <a:p xmlns:a="http://schemas.openxmlformats.org/drawingml/2006/main">
            <a:r>
              <a:t>      "질문별 근거 문서, 답변 결과, 공식 신청 경로, 오류 수정 이력을 연결하는 재구성. 독립 시험셋과 계약 산출물 목록을 대응시키고 감사 지적·기관 반론을 근거별로 구분해 비교하는 방식.",</a:t>
            </a:r>
          </a:p>
          <a:p xmlns:a="http://schemas.openxmlformats.org/drawingml/2006/main">
            <a:r>
              <a:t>      "TS에서는 챗봇 공개와 민원 업무 완결을 같은 성과로 보지 않는 설계에 활용. 부정확·상충 안내의 회귀시험, 완료조건 정의, 변경 요구와 인수 증빙의 연결을 CCK 사업관리 기능에 반영할 필요."</a:t>
            </a:r>
          </a:p>
          <a:p xmlns:a="http://schemas.openxmlformats.org/drawingml/2006/main">
            <a:r>
              <a:t>    ],</a:t>
            </a:r>
          </a:p>
          <a:p xmlns:a="http://schemas.openxmlformats.org/drawingml/2006/main">
            <a:r>
              <a:t>    "requirements": [],</a:t>
            </a:r>
          </a:p>
          <a:p xmlns:a="http://schemas.openxmlformats.org/drawingml/2006/main">
            <a:r>
              <a:t>    "service": {</a:t>
            </a:r>
          </a:p>
          <a:p xmlns:a="http://schemas.openxmlformats.org/drawingml/2006/main">
            <a:r>
              <a:t>      "status": "CCK 세부 재구성 · 논리 서비스 설계",</a:t>
            </a:r>
          </a:p>
          <a:p xmlns:a="http://schemas.openxmlformats.org/drawingml/2006/main">
            <a:r>
              <a:t>      "components": [</a:t>
            </a:r>
          </a:p>
          <a:p xmlns:a="http://schemas.openxmlformats.org/drawingml/2006/main">
            <a:r>
              <a:t>        {</a:t>
            </a:r>
          </a:p>
          <a:p xmlns:a="http://schemas.openxmlformats.org/drawingml/2006/main">
            <a:r>
              <a:t>          "id": "C01",</a:t>
            </a:r>
          </a:p>
          <a:p xmlns:a="http://schemas.openxmlformats.org/drawingml/2006/main">
            <a:r>
              <a:t>          "title": "MyCity 질의",</a:t>
            </a:r>
          </a:p>
          <a:p xmlns:a="http://schemas.openxmlformats.org/drawingml/2006/main">
            <a:r>
              <a:t>          "layer": "이용 접점",</a:t>
            </a:r>
          </a:p>
          <a:p xmlns:a="http://schemas.openxmlformats.org/drawingml/2006/main">
            <a:r>
              <a:t>          "detail": "사업자·시민·서비스 운영부서",</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"C02",</a:t>
            </a:r>
          </a:p>
          <a:p xmlns:a="http://schemas.openxmlformats.org/drawingml/2006/main">
            <a:r>
              <a:t>          "title": "소관·이용조건",</a:t>
            </a:r>
          </a:p>
          <a:p xmlns:a="http://schemas.openxmlformats.org/drawingml/2006/main">
            <a:r>
              <a:t>          "layer": "업무 문맥",</a:t>
            </a:r>
          </a:p>
          <a:p xmlns:a="http://schemas.openxmlformats.org/drawingml/2006/main">
            <a:r>
              <a:t>          "detail": "요청 업무와 공식 소관·이용조건 식별",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"C03",</a:t>
            </a:r>
          </a:p>
          <a:p xmlns:a="http://schemas.openxmlformats.org/drawingml/2006/main">
            <a:r>
              <a:t>          "title": "공식 안내 검색",</a:t>
            </a:r>
          </a:p>
          <a:p xmlns:a="http://schemas.openxmlformats.org/drawingml/2006/main">
            <a:r>
              <a:t>          "layer": "자료 조회",</a:t>
            </a:r>
          </a:p>
          <a:p xmlns:a="http://schemas.openxmlformats.org/drawingml/2006/main">
            <a:r>
              <a:t>          "detail": "질문",</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"C04",</a:t>
            </a:r>
          </a:p>
          <a:p xmlns:a="http://schemas.openxmlformats.org/drawingml/2006/main">
            <a:r>
              <a:t>          "title": "근거형 답변 구성",</a:t>
            </a:r>
          </a:p>
          <a:p xmlns:a="http://schemas.openxmlformats.org/drawingml/2006/main">
            <a:r>
              <a:t>          "layer": "핵심 처리",</a:t>
            </a:r>
          </a:p>
          <a:p xmlns:a="http://schemas.openxmlformats.org/drawingml/2006/main">
            <a:r>
              <a:t>          "detail": "공식 정보 검색과 근거별 답변 대조 설계",</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"C05",</a:t>
            </a:r>
          </a:p>
          <a:p xmlns:a="http://schemas.openxmlformats.org/drawingml/2006/main">
            <a:r>
              <a:t>          "title": "위법·상충 안내 검사",</a:t>
            </a:r>
          </a:p>
          <a:p xmlns:a="http://schemas.openxmlformats.org/drawingml/2006/main">
            <a:r>
              <a:t>          "layer": "결과 검증",</a:t>
            </a:r>
          </a:p>
          <a:p xmlns:a="http://schemas.openxmlformats.org/drawingml/2006/main">
            <a:r>
              <a:t>          "detail": "감사 지적과 기관 반론의 근거별 추적",</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"C06",</a:t>
            </a:r>
          </a:p>
          <a:p xmlns:a="http://schemas.openxmlformats.org/drawingml/2006/main">
            <a:r>
              <a:t>          "title": "서비스 담당 검토",</a:t>
            </a:r>
          </a:p>
          <a:p xmlns:a="http://schemas.openxmlformats.org/drawingml/2006/main">
            <a:r>
              <a:t>          "layer": "사람 확인",</a:t>
            </a:r>
          </a:p>
          <a:p xmlns:a="http://schemas.openxmlformats.org/drawingml/2006/main">
            <a:r>
              <a:t>          "detail": "사업자가 허가 조건을 질문해 공식 안내로 이동",</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"C07",</a:t>
            </a:r>
          </a:p>
          <a:p xmlns:a="http://schemas.openxmlformats.org/drawingml/2006/main">
            <a:r>
              <a:t>          "title": "신청 경로 안내",</a:t>
            </a:r>
          </a:p>
          <a:p xmlns:a="http://schemas.openxmlformats.org/drawingml/2006/main">
            <a:r>
              <a:t>          "layer": "업무 연결",</a:t>
            </a:r>
          </a:p>
          <a:p xmlns:a="http://schemas.openxmlformats.org/drawingml/2006/main">
            <a:r>
              <a:t>          "detail": "검증된 안내와 실제 신청 경로의 분리 제공",</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"C08",</a:t>
            </a:r>
          </a:p>
          <a:p xmlns:a="http://schemas.openxmlformats.org/drawingml/2006/main">
            <a:r>
              <a:t>          "title": "오답·계약 대사",</a:t>
            </a:r>
          </a:p>
          <a:p xmlns:a="http://schemas.openxmlformats.org/drawingml/2006/main">
            <a:r>
              <a:t>          "layer": "운영 관측",</a:t>
            </a:r>
          </a:p>
          <a:p xmlns:a="http://schemas.openxmlformats.org/drawingml/2006/main">
            <a:r>
              <a:t>          "detail": "회귀시험·오답 보완·계약 산출물의 대사",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"C09",</a:t>
            </a:r>
          </a:p>
          <a:p xmlns:a="http://schemas.openxmlformats.org/drawingml/2006/main">
            <a:r>
              <a:t>          "title": "정책·서비스 목록",</a:t>
            </a:r>
          </a:p>
          <a:p xmlns:a="http://schemas.openxmlformats.org/drawingml/2006/main">
            <a:r>
              <a:t>          "layer": "데이터 원천",</a:t>
            </a:r>
          </a:p>
          <a:p xmlns:a="http://schemas.openxmlformats.org/drawingml/2006/main">
            <a:r>
              <a:t>          "detail": "안내·응답·평가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"C10",</a:t>
            </a:r>
          </a:p>
          <a:p xmlns:a="http://schemas.openxmlformats.org/drawingml/2006/main">
            <a:r>
              <a:t>          "title": "판본·적용조건 정리",</a:t>
            </a:r>
          </a:p>
          <a:p xmlns:a="http://schemas.openxmlformats.org/drawingml/2006/main">
            <a:r>
              <a:t>          "layer": "준비·갱신",</a:t>
            </a:r>
          </a:p>
          <a:p xmlns:a="http://schemas.openxmlformats.org/drawingml/2006/main">
            <a:r>
              <a:t>          "detail": "정책 원문·서비스 목록·시험 질문의 버전 관리",</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"C11",</a:t>
            </a:r>
          </a:p>
          <a:p xmlns:a="http://schemas.openxmlformats.org/drawingml/2006/main">
            <a:r>
              <a:t>          "title": "안내·회귀시험셋",</a:t>
            </a:r>
          </a:p>
          <a:p xmlns:a="http://schemas.openxmlformats.org/drawingml/2006/main">
            <a:r>
              <a:t>          "layer": "상태·지식 저장",</a:t>
            </a:r>
          </a:p>
          <a:p xmlns:a="http://schemas.openxmlformats.org/drawingml/2006/main">
            <a:r>
              <a:t>          "detail": "질문별 정답·변형 질의 일관성·실제 서비스 도달 기록",</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"id": "C12",</a:t>
            </a:r>
          </a:p>
          <a:p xmlns:a="http://schemas.openxmlformats.org/drawingml/2006/main">
            <a:r>
              <a:t>          "title": "업무 책임·품질기준",</a:t>
            </a:r>
          </a:p>
          <a:p xmlns:a="http://schemas.openxmlformats.org/drawingml/2006/main">
            <a:r>
              <a:t>          "layer": "권한·정책",</a:t>
            </a:r>
          </a:p>
          <a:p xmlns:a="http://schemas.openxmlformats.org/drawingml/2006/main">
            <a:r>
              <a:t>          "detail": "동일 질문 표현 변경·상충 규정·폐지된 서비스",</a:t>
            </a:r>
          </a:p>
          <a:p xmlns:a="http://schemas.openxmlformats.org/drawingml/2006/main">
            <a:r>
              <a:t>          "requirements": []</a:t>
            </a:r>
          </a:p>
          <a:p xmlns:a="http://schemas.openxmlformats.org/drawingml/2006/main">
            <a:r>
              <a:t>        }</a:t>
            </a:r>
          </a:p>
          <a:p xmlns:a="http://schemas.openxmlformats.org/drawingml/2006/main">
            <a:r>
              <a:t>      ],</a:t>
            </a:r>
          </a:p>
          <a:p xmlns:a="http://schemas.openxmlformats.org/drawingml/2006/main">
            <a:r>
              <a:t>      "interfaces": [</a:t>
            </a:r>
          </a:p>
          <a:p xmlns:a="http://schemas.openxmlformats.org/drawingml/2006/main">
            <a:r>
              <a:t>        {</a:t>
            </a:r>
          </a:p>
          <a:p xmlns:a="http://schemas.openxmlformats.org/drawingml/2006/main">
            <a:r>
              <a:t>          "id": "IF-01",</a:t>
            </a:r>
          </a:p>
          <a:p xmlns:a="http://schemas.openxmlformats.org/drawingml/2006/main">
            <a:r>
              <a:t>          "from": "C01",</a:t>
            </a:r>
          </a:p>
          <a:p xmlns:a="http://schemas.openxmlformats.org/drawingml/2006/main">
            <a:r>
              <a:t>          "to": "C02",</a:t>
            </a:r>
          </a:p>
          <a:p xmlns:a="http://schemas.openxmlformats.org/drawingml/2006/main">
            <a:r>
              <a:t>          "mode": "요청",</a:t>
            </a:r>
          </a:p>
          <a:p xmlns:a="http://schemas.openxmlformats.org/drawingml/2006/main">
            <a:r>
              <a:t>          "payload": "요청 업무와 공식 소관·이용조건 식별",</a:t>
            </a:r>
          </a:p>
          <a:p xmlns:a="http://schemas.openxmlformats.org/drawingml/2006/main">
            <a:r>
              <a:t>          "check": "대상·기간·업무 목적 식별"</a:t>
            </a:r>
          </a:p>
          <a:p xmlns:a="http://schemas.openxmlformats.org/drawingml/2006/main">
            <a:r>
              <a:t>        },</a:t>
            </a:r>
          </a:p>
          <a:p xmlns:a="http://schemas.openxmlformats.org/drawingml/2006/main">
            <a:r>
              <a:t>        {</a:t>
            </a:r>
          </a:p>
          <a:p xmlns:a="http://schemas.openxmlformats.org/drawingml/2006/main">
            <a:r>
              <a:t>          "id": "IF-02",</a:t>
            </a:r>
          </a:p>
          <a:p xmlns:a="http://schemas.openxmlformats.org/drawingml/2006/main">
            <a:r>
              <a:t>          "from": "C02",</a:t>
            </a:r>
          </a:p>
          <a:p xmlns:a="http://schemas.openxmlformats.org/drawingml/2006/main">
            <a:r>
              <a:t>          "to": "C03",</a:t>
            </a:r>
          </a:p>
          <a:p xmlns:a="http://schemas.openxmlformats.org/drawingml/2006/main">
            <a:r>
              <a:t>          "mode": "조회",</a:t>
            </a:r>
          </a:p>
          <a:p xmlns:a="http://schemas.openxmlformats.org/drawingml/2006/main">
            <a:r>
              <a:t>          "payload": "질문",</a:t>
            </a:r>
          </a:p>
          <a:p xmlns:a="http://schemas.openxmlformats.org/drawingml/2006/main">
            <a:r>
              <a:t>          "check": "감사 지적과 기관 반론의 근거별 추적"</a:t>
            </a:r>
          </a:p>
          <a:p xmlns:a="http://schemas.openxmlformats.org/drawingml/2006/main">
            <a:r>
              <a:t>        },</a:t>
            </a:r>
          </a:p>
          <a:p xmlns:a="http://schemas.openxmlformats.org/drawingml/2006/main">
            <a:r>
              <a:t>        {</a:t>
            </a:r>
          </a:p>
          <a:p xmlns:a="http://schemas.openxmlformats.org/drawingml/2006/main">
            <a:r>
              <a:t>          "id": "IF-03",</a:t>
            </a:r>
          </a:p>
          <a:p xmlns:a="http://schemas.openxmlformats.org/drawingml/2006/main">
            <a:r>
              <a:t>          "from": "C03",</a:t>
            </a:r>
          </a:p>
          <a:p xmlns:a="http://schemas.openxmlformats.org/drawingml/2006/main">
            <a:r>
              <a:t>          "to": "C04",</a:t>
            </a:r>
          </a:p>
          <a:p xmlns:a="http://schemas.openxmlformats.org/drawingml/2006/main">
            <a:r>
              <a:t>          "mode": "처리",</a:t>
            </a:r>
          </a:p>
          <a:p xmlns:a="http://schemas.openxmlformats.org/drawingml/2006/main">
            <a:r>
              <a:t>          "payload": "안내 지식",</a:t>
            </a:r>
          </a:p>
          <a:p xmlns:a="http://schemas.openxmlformats.org/drawingml/2006/main">
            <a:r>
              <a:t>          "check": "출처·시점·조회 범위 보존"</a:t>
            </a:r>
          </a:p>
          <a:p xmlns:a="http://schemas.openxmlformats.org/drawingml/2006/main">
            <a:r>
              <a:t>        },</a:t>
            </a:r>
          </a:p>
          <a:p xmlns:a="http://schemas.openxmlformats.org/drawingml/2006/main">
            <a:r>
              <a:t>        {</a:t>
            </a:r>
          </a:p>
          <a:p xmlns:a="http://schemas.openxmlformats.org/drawingml/2006/main">
            <a:r>
              <a:t>          "id": "IF-04",</a:t>
            </a:r>
          </a:p>
          <a:p xmlns:a="http://schemas.openxmlformats.org/drawingml/2006/main">
            <a:r>
              <a:t>          "from": "C04",</a:t>
            </a:r>
          </a:p>
          <a:p xmlns:a="http://schemas.openxmlformats.org/drawingml/2006/main">
            <a:r>
              <a:t>          "to": "C05",</a:t>
            </a:r>
          </a:p>
          <a:p xmlns:a="http://schemas.openxmlformats.org/drawingml/2006/main">
            <a:r>
              <a:t>          "mode": "검증",</a:t>
            </a:r>
          </a:p>
          <a:p xmlns:a="http://schemas.openxmlformats.org/drawingml/2006/main">
            <a:r>
              <a:t>          "payload": "챗봇 답변",</a:t>
            </a:r>
          </a:p>
          <a:p xmlns:a="http://schemas.openxmlformats.org/drawingml/2006/main">
            <a:r>
              <a:t>          "check": "동일 질문 표현 변경·상충 규정·폐지된 서비스"</a:t>
            </a:r>
          </a:p>
          <a:p xmlns:a="http://schemas.openxmlformats.org/drawingml/2006/main">
            <a:r>
              <a:t>        },</a:t>
            </a:r>
          </a:p>
          <a:p xmlns:a="http://schemas.openxmlformats.org/drawingml/2006/main">
            <a:r>
              <a:t>        {</a:t>
            </a:r>
          </a:p>
          <a:p xmlns:a="http://schemas.openxmlformats.org/drawingml/2006/main">
            <a:r>
              <a:t>          "id": "IF-05",</a:t>
            </a:r>
          </a:p>
          <a:p xmlns:a="http://schemas.openxmlformats.org/drawingml/2006/main">
            <a:r>
              <a:t>          "from": "C06",</a:t>
            </a:r>
          </a:p>
          <a:p xmlns:a="http://schemas.openxmlformats.org/drawingml/2006/main">
            <a:r>
              <a:t>          "to": "C07",</a:t>
            </a:r>
          </a:p>
          <a:p xmlns:a="http://schemas.openxmlformats.org/drawingml/2006/main">
            <a:r>
              <a:t>          "mode": "검토·인계",</a:t>
            </a:r>
          </a:p>
          <a:p xmlns:a="http://schemas.openxmlformats.org/drawingml/2006/main">
            <a:r>
              <a:t>          "payload": "챗봇 답변",</a:t>
            </a:r>
          </a:p>
          <a:p xmlns:a="http://schemas.openxmlformats.org/drawingml/2006/main">
            <a:r>
              <a:t>          "check": "검증된 안내와 실제 신청 경로의 분리 제공"</a:t>
            </a:r>
          </a:p>
          <a:p xmlns:a="http://schemas.openxmlformats.org/drawingml/2006/main">
            <a:r>
              <a:t>        },</a:t>
            </a:r>
          </a:p>
          <a:p xmlns:a="http://schemas.openxmlformats.org/drawingml/2006/main">
            <a:r>
              <a:t>        {</a:t>
            </a:r>
          </a:p>
          <a:p xmlns:a="http://schemas.openxmlformats.org/drawingml/2006/main">
            <a:r>
              <a:t>          "id": "IF-06",</a:t>
            </a:r>
          </a:p>
          <a:p xmlns:a="http://schemas.openxmlformats.org/drawingml/2006/main">
            <a:r>
              <a:t>          "from": "C07",</a:t>
            </a:r>
          </a:p>
          <a:p xmlns:a="http://schemas.openxmlformats.org/drawingml/2006/main">
            <a:r>
              <a:t>          "to": "C08",</a:t>
            </a:r>
          </a:p>
          <a:p xmlns:a="http://schemas.openxmlformats.org/drawingml/2006/main">
            <a:r>
              <a:t>          "mode": "결과·환류",</a:t>
            </a:r>
          </a:p>
          <a:p xmlns:a="http://schemas.openxmlformats.org/drawingml/2006/main">
            <a:r>
              <a:t>          "payload": "피드백·감사",</a:t>
            </a:r>
          </a:p>
          <a:p xmlns:a="http://schemas.openxmlformats.org/drawingml/2006/main">
            <a:r>
              <a:t>          "check": "질문별 정답·변형 질의 일관성·실제 서비스 도달 기록"</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4,</a:t>
            </a:r>
          </a:p>
          <a:p xmlns:a="http://schemas.openxmlformats.org/drawingml/2006/main">
            <a:r>
              <a:t>          5</a:t>
            </a:r>
          </a:p>
          <a:p xmlns:a="http://schemas.openxmlformats.org/drawingml/2006/main">
            <a:r>
              <a:t>        ],</a:t>
            </a:r>
          </a:p>
          <a:p xmlns:a="http://schemas.openxmlformats.org/drawingml/2006/main">
            <a:r>
              <a:t>        [</a:t>
            </a:r>
          </a:p>
          <a:p xmlns:a="http://schemas.openxmlformats.org/drawingml/2006/main">
            <a:r>
              <a:t>          5,</a:t>
            </a:r>
          </a:p>
          <a:p xmlns:a="http://schemas.openxmlformats.org/drawingml/2006/main">
            <a:r>
              <a:t>          6</a:t>
            </a:r>
          </a:p>
          <a:p xmlns:a="http://schemas.openxmlformats.org/drawingml/2006/main">
            <a:r>
              <a:t>        ],</a:t>
            </a:r>
          </a:p>
          <a:p xmlns:a="http://schemas.openxmlformats.org/drawingml/2006/main">
            <a:r>
              <a:t>        [</a:t>
            </a:r>
          </a:p>
          <a:p xmlns:a="http://schemas.openxmlformats.org/drawingml/2006/main">
            <a:r>
              <a:t>          6,</a:t>
            </a:r>
          </a:p>
          <a:p xmlns:a="http://schemas.openxmlformats.org/drawingml/2006/main">
            <a:r>
              <a:t>          7</a:t>
            </a:r>
          </a:p>
          <a:p xmlns:a="http://schemas.openxmlformats.org/drawingml/2006/main">
            <a:r>
              <a:t>        ],</a:t>
            </a:r>
          </a:p>
          <a:p xmlns:a="http://schemas.openxmlformats.org/drawingml/2006/main">
            <a:r>
              <a:t>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t>
            </a:r>
          </a:p>
          <a:p xmlns:a="http://schemas.openxmlformats.org/drawingml/2006/main">
            <a:r>
              <a:t>          10,</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11,</a:t>
            </a:r>
          </a:p>
          <a:p xmlns:a="http://schemas.openxmlformats.org/drawingml/2006/main">
            <a:r>
              <a:t>          4</a:t>
            </a:r>
          </a:p>
          <a:p xmlns:a="http://schemas.openxmlformats.org/drawingml/2006/main">
            <a:r>
              <a:t>        ]</a:t>
            </a:r>
          </a:p>
          <a:p xmlns:a="http://schemas.openxmlformats.org/drawingml/2006/main">
            <a:r>
              <a:t>      ],</a:t>
            </a:r>
          </a:p>
          <a:p xmlns:a="http://schemas.openxmlformats.org/drawingml/2006/main">
            <a:r>
              <a:t>      "facts": {</a:t>
            </a:r>
          </a:p>
          <a:p xmlns:a="http://schemas.openxmlformats.org/drawingml/2006/main">
            <a:r>
              <a:t>        "locator": "운영기관·공급사·감사 자료의 업무 설명",</a:t>
            </a:r>
          </a:p>
          <a:p xmlns:a="http://schemas.openxmlformats.org/drawingml/2006/main">
            <a:r>
              <a:t>        "extracted": "대민 챗봇의 답변 품질·사업관리 실패 분석 / 질의응답·포털 통합·계약·감사",</a:t>
            </a:r>
          </a:p>
          <a:p xmlns:a="http://schemas.openxmlformats.org/drawingml/2006/main">
            <a:r>
              <a:t>        "extension": "답변 정답셋·서비스 도달·계약 산출물의 검수 체계를 사업 초기에 구성"</a:t>
            </a:r>
          </a:p>
          <a:p xmlns:a="http://schemas.openxmlformats.org/drawingml/2006/main">
            <a:r>
              <a:t>      },</a:t>
            </a:r>
          </a:p>
          <a:p xmlns:a="http://schemas.openxmlformats.org/drawingml/2006/main">
            <a:r>
              <a:t>      "figures": [],</a:t>
            </a:r>
          </a:p>
          <a:p xmlns:a="http://schemas.openxmlformats.org/drawingml/2006/main">
            <a:r>
              <a:t>      "source": null,</a:t>
            </a:r>
          </a:p>
          <a:p xmlns:a="http://schemas.openxmlformats.org/drawingml/2006/main">
            <a:r>
              <a:t>      "exception": {</a:t>
            </a:r>
          </a:p>
          <a:p xmlns:a="http://schemas.openxmlformats.org/drawingml/2006/main">
            <a:r>
              <a:t>        "input": "동일 질문 표현 변경·상충 규정·폐지된 서비스",</a:t>
            </a:r>
          </a:p>
          <a:p xmlns:a="http://schemas.openxmlformats.org/drawingml/2006/main">
            <a:r>
              <a:t>        "hold": "감사 지적과 기관 반론의 근거별 추적",</a:t>
            </a:r>
          </a:p>
          <a:p xmlns:a="http://schemas.openxmlformats.org/drawingml/2006/main">
            <a:r>
              <a:t>        "recovery": "회귀시험·오답 보완·계약 산출물의 대사",</a:t>
            </a:r>
          </a:p>
          <a:p xmlns:a="http://schemas.openxmlformats.org/drawingml/2006/main">
            <a:r>
              <a:t>        "evidence": "질문별 정답·변형 질의 일관성·실제 서비스 도달 기록"</a:t>
            </a:r>
          </a:p>
          <a:p xmlns:a="http://schemas.openxmlformats.org/drawingml/2006/main">
            <a:r>
              <a:t>      },</a:t>
            </a:r>
          </a:p>
          <a:p xmlns:a="http://schemas.openxmlformats.org/drawingml/2006/main">
            <a:r>
              <a:t>      "data": {</a:t>
            </a:r>
          </a:p>
          <a:p xmlns:a="http://schemas.openxmlformats.org/drawingml/2006/main">
            <a:r>
              <a:t>        "source": "안내·응답·평가 기록",</a:t>
            </a:r>
          </a:p>
          <a:p xmlns:a="http://schemas.openxmlformats.org/drawingml/2006/main">
            <a:r>
              <a:t>        "prepare": "정책 원문·서비스 목록·시험 질문의 버전 관리",</a:t>
            </a:r>
          </a:p>
          <a:p xmlns:a="http://schemas.openxmlformats.org/drawingml/2006/main">
            <a:r>
              <a:t>        "output": "질문",</a:t>
            </a:r>
          </a:p>
          <a:p xmlns:a="http://schemas.openxmlformats.org/drawingml/2006/main">
            <a:r>
              <a:t>        "refresh": "회귀시험·오답 보완·계약 산출물의 대사"</a:t>
            </a:r>
          </a:p>
          <a:p xmlns:a="http://schemas.openxmlformats.org/drawingml/2006/main">
            <a:r>
              <a:t>      },</a:t>
            </a:r>
          </a:p>
          <a:p xmlns:a="http://schemas.openxmlformats.org/drawingml/2006/main">
            <a:r>
              <a:t>      "boundary": "구성요소·연계·실패 복구는 CCK 분석 설계. 원문 도면의 예시·기존 현황·목표 구분은 각 캡션 기준."</a:t>
            </a:r>
          </a:p>
          <a:p xmlns:a="http://schemas.openxmlformats.org/drawingml/2006/main">
            <a:r>
              <a:t>    }</a:t>
            </a:r>
          </a:p>
          <a:p xmlns:a="http://schemas.openxmlformats.org/drawingml/2006/main">
            <a:r>
              <a:t>  },</a:t>
            </a:r>
          </a:p>
          <a:p xmlns:a="http://schemas.openxmlformats.org/drawingml/2006/main">
            <a:r>
              <a:t>  "factors": {</a:t>
            </a:r>
          </a:p>
          <a:p xmlns:a="http://schemas.openxmlformats.org/drawingml/2006/main">
            <a:r>
              <a:t>    "id": "PF31",</a:t>
            </a:r>
          </a:p>
          <a:p xmlns:a="http://schemas.openxmlformats.org/drawingml/2006/main">
            <a:r>
              <a:t>    "success": [</a:t>
            </a:r>
          </a:p>
          <a:p xmlns:a="http://schemas.openxmlformats.org/drawingml/2006/main">
            <a:r>
              <a:t>      "통합 서비스의 완료조건 정의",</a:t>
            </a:r>
          </a:p>
          <a:p xmlns:a="http://schemas.openxmlformats.org/drawingml/2006/main">
            <a:r>
              <a:t>      "응답 품질·계약 증빙의 독립 검토"</a:t>
            </a:r>
          </a:p>
          <a:p xmlns:a="http://schemas.openxmlformats.org/drawingml/2006/main">
            <a:r>
              <a:t>    ],</a:t>
            </a:r>
          </a:p>
          <a:p xmlns:a="http://schemas.openxmlformats.org/drawingml/2006/main">
            <a:r>
              <a:t>    "risks": [</a:t>
            </a:r>
          </a:p>
          <a:p xmlns:a="http://schemas.openxmlformats.org/drawingml/2006/main">
            <a:r>
              <a:t>      "감사에서 지적된 비일관 답변",</a:t>
            </a:r>
          </a:p>
          <a:p xmlns:a="http://schemas.openxmlformats.org/drawingml/2006/main">
            <a:r>
              <a:t>      "사업계획·계약 감독·서비스 통합의 미비"</a:t>
            </a:r>
          </a:p>
          <a:p xmlns:a="http://schemas.openxmlformats.org/drawingml/2006/main">
            <a:r>
              <a:t>    ],</a:t>
            </a:r>
          </a:p>
          <a:p xmlns:a="http://schemas.openxmlformats.org/drawingml/2006/main">
            <a:r>
              <a:t>    "architecture": [</a:t>
            </a:r>
          </a:p>
          <a:p xmlns:a="http://schemas.openxmlformats.org/drawingml/2006/main">
            <a:r>
              <a:t>      "MyCity 이용자",</a:t>
            </a:r>
          </a:p>
          <a:p xmlns:a="http://schemas.openxmlformats.org/drawingml/2006/main">
            <a:r>
              <a:t>      "AI 챗봇·포털",</a:t>
            </a:r>
          </a:p>
          <a:p xmlns:a="http://schemas.openxmlformats.org/drawingml/2006/main">
            <a:r>
              <a:t>      "안내·응답·평가 기록",</a:t>
            </a:r>
          </a:p>
          <a:p xmlns:a="http://schemas.openxmlformats.org/drawingml/2006/main">
            <a:r>
              <a:t>      "사업자·운영 담당"</a:t>
            </a:r>
          </a:p>
          <a:p xmlns:a="http://schemas.openxmlformats.org/drawingml/2006/main">
            <a:r>
              <a:t>    ],</a:t>
            </a:r>
          </a:p>
          <a:p xmlns:a="http://schemas.openxmlformats.org/drawingml/2006/main">
            <a:r>
              <a:t>    "transfers": [</a:t>
            </a:r>
          </a:p>
          <a:p xmlns:a="http://schemas.openxmlformats.org/drawingml/2006/main">
            <a:r>
              <a:t>      "질문",</a:t>
            </a:r>
          </a:p>
          <a:p xmlns:a="http://schemas.openxmlformats.org/drawingml/2006/main">
            <a:r>
              <a:t>      "안내 지식",</a:t>
            </a:r>
          </a:p>
          <a:p xmlns:a="http://schemas.openxmlformats.org/drawingml/2006/main">
            <a:r>
              <a:t>      "챗봇 답변",</a:t>
            </a:r>
          </a:p>
          <a:p xmlns:a="http://schemas.openxmlformats.org/drawingml/2006/main">
            <a:r>
              <a:t>      "피드백·감사"</a:t>
            </a:r>
          </a:p>
          <a:p xmlns:a="http://schemas.openxmlformats.org/drawingml/2006/main">
            <a:r>
              <a:t>    ],</a:t>
            </a:r>
          </a:p>
          <a:p xmlns:a="http://schemas.openxmlformats.org/drawingml/2006/main">
            <a:r>
              <a:t>    "control": "감사 지적과 기관 반론의 근거별 추적",</a:t>
            </a:r>
          </a:p>
          <a:p xmlns:a="http://schemas.openxmlformats.org/drawingml/2006/main">
            <a:r>
              <a:t>    "analysis": "공개 내용에 근거한 CCK 분석",</a:t>
            </a:r>
          </a:p>
          <a:p xmlns:a="http://schemas.openxmlformats.org/drawingml/2006/main">
            <a:r>
              <a:t>    "diagramBasis": "공개 업무 설명 기반 논리구조 재구성"</a:t>
            </a:r>
          </a:p>
          <a:p xmlns:a="http://schemas.openxmlformats.org/drawingml/2006/main">
            <a:r>
              <a:t>  }</a:t>
            </a:r>
          </a:p>
          <a:p xmlns:a="http://schemas.openxmlformats.org/drawingml/2006/main">
            <a:r>
              <a:t>}</a:t>
            </a:r>
          </a:p>
          <a:p xmlns:a="http://schemas.openxmlformats.org/drawingml/2006/main">
            <a:r>
              <a:t/>
            </a:r>
          </a:p>
          <a:p xmlns:a="http://schemas.openxmlformats.org/drawingml/2006/main">
            <a:r>
              <a:t>출처</a:t>
            </a:r>
          </a:p>
          <a:p xmlns:a="http://schemas.openxmlformats.org/drawingml/2006/main">
            <a:r>
              <a:t>뉴욕시 감사 보고서 https://comptroller.nyc.gov/reports/audit-report-on-the-new-york-city-office-of-technology-and-innovations-mycity-system/</a:t>
            </a:r>
          </a:p>
          <a:p xmlns:a="http://schemas.openxmlformats.org/drawingml/2006/main">
            <a:r>
              <a:t>홈페이지 https://heen1987-ops.github.io/TS-business-Plan-001/index.html?view=platform-cases&amp;case=PF31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"id": "ST-04",</a:t>
            </a:r>
          </a:p>
          <a:p xmlns:a="http://schemas.openxmlformats.org/drawingml/2006/main">
            <a:r>
              <a:t>  "number": 4,</a:t>
            </a:r>
          </a:p>
          <a:p xmlns:a="http://schemas.openxmlformats.org/drawingml/2006/main">
            <a:r>
              <a:t>  "direction": "지능형 미래 모빌리티 혁신",</a:t>
            </a:r>
          </a:p>
          <a:p xmlns:a="http://schemas.openxmlformats.org/drawingml/2006/main">
            <a:r>
              <a:t>  "strategy": "교통안전체계 인공지능 대전환",</a:t>
            </a:r>
          </a:p>
          <a:p xmlns:a="http://schemas.openxmlformats.org/drawingml/2006/main">
            <a:r>
              <a:t>  "solution": "TS 조직 네이티브 AI 공통플랫폼",</a:t>
            </a:r>
          </a:p>
          <a:p xmlns:a="http://schemas.openxmlformats.org/drawingml/2006/main">
            <a:r>
              <a:t>  "lawIds": [],</a:t>
            </a:r>
          </a:p>
          <a:p xmlns:a="http://schemas.openxmlformats.org/drawingml/2006/main">
            <a:r>
              <a:t>  "codes": [</a:t>
            </a:r>
          </a:p>
          <a:p xmlns:a="http://schemas.openxmlformats.org/drawingml/2006/main">
            <a:r>
              <a:t>    "1010100",</a:t>
            </a:r>
          </a:p>
          <a:p xmlns:a="http://schemas.openxmlformats.org/drawingml/2006/main">
            <a:r>
              <a:t>    "1019600",</a:t>
            </a:r>
          </a:p>
          <a:p xmlns:a="http://schemas.openxmlformats.org/drawingml/2006/main">
            <a:r>
              <a:t>    "1019700",</a:t>
            </a:r>
          </a:p>
          <a:p xmlns:a="http://schemas.openxmlformats.org/drawingml/2006/main">
            <a:r>
              <a:t>    "1016050",</a:t>
            </a:r>
          </a:p>
          <a:p xmlns:a="http://schemas.openxmlformats.org/drawingml/2006/main">
            <a:r>
              <a:t>    "1018037",</a:t>
            </a:r>
          </a:p>
          <a:p xmlns:a="http://schemas.openxmlformats.org/drawingml/2006/main">
            <a:r>
              <a:t>    "1019300",</a:t>
            </a:r>
          </a:p>
          <a:p xmlns:a="http://schemas.openxmlformats.org/drawingml/2006/main">
            <a:r>
              <a:t>    "1019500"</a:t>
            </a:r>
          </a:p>
          <a:p xmlns:a="http://schemas.openxmlformats.org/drawingml/2006/main">
            <a:r>
              <a:t>  ],</a:t>
            </a:r>
          </a:p>
          <a:p xmlns:a="http://schemas.openxmlformats.org/drawingml/2006/main">
            <a:r>
              <a:t>  "work": "공식 조직·직무·역할 기반의 사용자 인식 및 업무 맥락 분류",</a:t>
            </a:r>
          </a:p>
          <a:p xmlns:a="http://schemas.openxmlformats.org/drawingml/2006/main">
            <a:r>
              <a:t>  "features": [</a:t>
            </a:r>
          </a:p>
          <a:p xmlns:a="http://schemas.openxmlformats.org/drawingml/2006/main">
            <a:r>
              <a:t>    "로그인 ID·조직·담당업무·효력일 매핑",</a:t>
            </a:r>
          </a:p>
          <a:p xmlns:a="http://schemas.openxmlformats.org/drawingml/2006/main">
            <a:r>
              <a:t>    "업무별 지식·절차·서식 선택과 접근정책 집행"</a:t>
            </a:r>
          </a:p>
          <a:p xmlns:a="http://schemas.openxmlformats.org/drawingml/2006/main">
            <a:r>
              <a:t>  ],</a:t>
            </a:r>
          </a:p>
          <a:p xmlns:a="http://schemas.openxmlformats.org/drawingml/2006/main">
            <a:r>
              <a:t>  "output": "조직·업무 사전·정책표·기관 인수본",</a:t>
            </a:r>
          </a:p>
          <a:p xmlns:a="http://schemas.openxmlformats.org/drawingml/2006/main">
            <a:r>
              <a:t>  "acceptance": "GAI-R01~R12와 GAI-T01~T12의 독립 인수 기준 적용",</a:t>
            </a:r>
          </a:p>
          <a:p xmlns:a="http://schemas.openxmlformats.org/drawingml/2006/main">
            <a:r>
              <a:t>  "phase": "1차 공통 기반",</a:t>
            </a:r>
          </a:p>
          <a:p xmlns:a="http://schemas.openxmlformats.org/drawingml/2006/main">
            <a:r>
              <a:t>  "packages": [</a:t>
            </a:r>
          </a:p>
          <a:p xmlns:a="http://schemas.openxmlformats.org/drawingml/2006/main">
            <a:r>
              <a:t>    "ON-W01",</a:t>
            </a:r>
          </a:p>
          <a:p xmlns:a="http://schemas.openxmlformats.org/drawingml/2006/main">
            <a:r>
              <a:t>    "ON-W02",</a:t>
            </a:r>
          </a:p>
          <a:p xmlns:a="http://schemas.openxmlformats.org/drawingml/2006/main">
            <a:r>
              <a:t>    "ON-W03",</a:t>
            </a:r>
          </a:p>
          <a:p xmlns:a="http://schemas.openxmlformats.org/drawingml/2006/main">
            <a:r>
              <a:t>    "ON-W04",</a:t>
            </a:r>
          </a:p>
          <a:p xmlns:a="http://schemas.openxmlformats.org/drawingml/2006/main">
            <a:r>
              <a:t>    "ON-W05",</a:t>
            </a:r>
          </a:p>
          <a:p xmlns:a="http://schemas.openxmlformats.org/drawingml/2006/main">
            <a:r>
              <a:t>    "ON-W06"</a:t>
            </a:r>
          </a:p>
          <a:p xmlns:a="http://schemas.openxmlformats.org/drawingml/2006/main">
            <a:r>
              <a:t>  ],</a:t>
            </a:r>
          </a:p>
          <a:p xmlns:a="http://schemas.openxmlformats.org/drawingml/2006/main">
            <a:r>
              <a:t>  "tests": [</a:t>
            </a:r>
          </a:p>
          <a:p xmlns:a="http://schemas.openxmlformats.org/drawingml/2006/main">
            <a:r>
              <a:t>    "GAI-T01",</a:t>
            </a:r>
          </a:p>
          <a:p xmlns:a="http://schemas.openxmlformats.org/drawingml/2006/main">
            <a:r>
              <a:t>    "GAI-T02",</a:t>
            </a:r>
          </a:p>
          <a:p xmlns:a="http://schemas.openxmlformats.org/drawingml/2006/main">
            <a:r>
              <a:t>    "GAI-T03",</a:t>
            </a:r>
          </a:p>
          <a:p xmlns:a="http://schemas.openxmlformats.org/drawingml/2006/main">
            <a:r>
              <a:t>    "GAI-T04",</a:t>
            </a:r>
          </a:p>
          <a:p xmlns:a="http://schemas.openxmlformats.org/drawingml/2006/main">
            <a:r>
              <a:t>    "GAI-T05",</a:t>
            </a:r>
          </a:p>
          <a:p xmlns:a="http://schemas.openxmlformats.org/drawingml/2006/main">
            <a:r>
              <a:t>    "GAI-T06",</a:t>
            </a:r>
          </a:p>
          <a:p xmlns:a="http://schemas.openxmlformats.org/drawingml/2006/main">
            <a:r>
              <a:t>    "GAI-T07",</a:t>
            </a:r>
          </a:p>
          <a:p xmlns:a="http://schemas.openxmlformats.org/drawingml/2006/main">
            <a:r>
              <a:t>    "GAI-T08",</a:t>
            </a:r>
          </a:p>
          <a:p xmlns:a="http://schemas.openxmlformats.org/drawingml/2006/main">
            <a:r>
              <a:t>    "GAI-T09",</a:t>
            </a:r>
          </a:p>
          <a:p xmlns:a="http://schemas.openxmlformats.org/drawingml/2006/main">
            <a:r>
              <a:t>    "GAI-T10",</a:t>
            </a:r>
          </a:p>
          <a:p xmlns:a="http://schemas.openxmlformats.org/drawingml/2006/main">
            <a:r>
              <a:t>    "GAI-T11",</a:t>
            </a:r>
          </a:p>
          <a:p xmlns:a="http://schemas.openxmlformats.org/drawingml/2006/main">
            <a:r>
              <a:t>    "GAI-T12"</a:t>
            </a:r>
          </a:p>
          <a:p xmlns:a="http://schemas.openxmlformats.org/drawingml/2006/main">
            <a:r>
              <a:t>  ],</a:t>
            </a:r>
          </a:p>
          <a:p xmlns:a="http://schemas.openxmlformats.org/drawingml/2006/main">
            <a:r>
              <a:t>  "status": "솔루션·조직·범위 연결안",</a:t>
            </a:r>
          </a:p>
          <a:p xmlns:a="http://schemas.openxmlformats.org/drawingml/2006/main">
            <a:r>
              <a:t>  "basis": "설립법·직제시행세칙 기반 경영지원 업무",</a:t>
            </a:r>
          </a:p>
          <a:p xmlns:a="http://schemas.openxmlformats.org/drawingml/2006/main">
            <a:r>
              <a:t>  "foundation": "ON27-BASE / C27-COM",</a:t>
            </a:r>
          </a:p>
          <a:p xmlns:a="http://schemas.openxmlformats.org/drawingml/2006/main">
            <a:r>
              <a:t>  "dutyBindings": [</a:t>
            </a:r>
          </a:p>
          <a:p xmlns:a="http://schemas.openxmlformats.org/drawingml/2006/main">
            <a:r>
              <a:t>    {</a:t>
            </a:r>
          </a:p>
          <a:p xmlns:a="http://schemas.openxmlformats.org/drawingml/2006/main">
            <a:r>
              <a:t>      "code": "1010100",</a:t>
            </a:r>
          </a:p>
          <a:p xmlns:a="http://schemas.openxmlformats.org/drawingml/2006/main">
            <a:r>
              <a:t>      "name": "AI미래전략실",</a:t>
            </a:r>
          </a:p>
          <a:p xmlns:a="http://schemas.openxmlformats.org/drawingml/2006/main">
            <a:r>
              <a:t>      "job": "AI 전략·윤리",</a:t>
            </a:r>
          </a:p>
          <a:p xmlns:a="http://schemas.openxmlformats.org/drawingml/2006/main">
            <a:r>
              <a:t>      "indices": [</a:t>
            </a:r>
          </a:p>
          <a:p xmlns:a="http://schemas.openxmlformats.org/drawingml/2006/main">
            <a:r>
              <a:t>        3,</a:t>
            </a:r>
          </a:p>
          <a:p xmlns:a="http://schemas.openxmlformats.org/drawingml/2006/main">
            <a:r>
              <a:t>        5</a:t>
            </a:r>
          </a:p>
          <a:p xmlns:a="http://schemas.openxmlformats.org/drawingml/2006/main">
            <a:r>
              <a:t>      ],</a:t>
            </a:r>
          </a:p>
          <a:p xmlns:a="http://schemas.openxmlformats.org/drawingml/2006/main">
            <a:r>
              <a:t>      "duties": [</a:t>
            </a:r>
          </a:p>
          <a:p xmlns:a="http://schemas.openxmlformats.org/drawingml/2006/main">
            <a:r>
              <a:t>        "4. 인공지능(AI) 전환 전략 수립․조정",</a:t>
            </a:r>
          </a:p>
          <a:p xmlns:a="http://schemas.openxmlformats.org/drawingml/2006/main">
            <a:r>
              <a:t>        "6. 인공지능(AI) 제도 및 지침, 윤리기준 관리"</a:t>
            </a:r>
          </a:p>
          <a:p xmlns:a="http://schemas.openxmlformats.org/drawingml/2006/main">
            <a:r>
              <a:t>      ],</a:t>
            </a:r>
          </a:p>
          <a:p xmlns:a="http://schemas.openxmlformats.org/drawingml/2006/main">
            <a:r>
              <a:t>      "locator": "별표4 · T34 · 2행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a:t>
            </a:r>
          </a:p>
          <a:p xmlns:a="http://schemas.openxmlformats.org/drawingml/2006/main">
            <a:r>
              <a:t>    {</a:t>
            </a:r>
          </a:p>
          <a:p xmlns:a="http://schemas.openxmlformats.org/drawingml/2006/main">
            <a:r>
              <a:t>      "code": "1019600",</a:t>
            </a:r>
          </a:p>
          <a:p xmlns:a="http://schemas.openxmlformats.org/drawingml/2006/main">
            <a:r>
              <a:t>      "name": "AI혁신처",</a:t>
            </a:r>
          </a:p>
          <a:p xmlns:a="http://schemas.openxmlformats.org/drawingml/2006/main">
            <a:r>
              <a:t>      "job": "AI 사업 조정·데이터 표준",</a:t>
            </a:r>
          </a:p>
          <a:p xmlns:a="http://schemas.openxmlformats.org/drawingml/2006/main">
            <a:r>
              <a:t>      "indices": [</a:t>
            </a:r>
          </a:p>
          <a:p xmlns:a="http://schemas.openxmlformats.org/drawingml/2006/main">
            <a:r>
              <a:t>        0,</a:t>
            </a:r>
          </a:p>
          <a:p xmlns:a="http://schemas.openxmlformats.org/drawingml/2006/main">
            <a:r>
              <a:t>        2</a:t>
            </a:r>
          </a:p>
          <a:p xmlns:a="http://schemas.openxmlformats.org/drawingml/2006/main">
            <a:r>
              <a:t>      ],</a:t>
            </a:r>
          </a:p>
          <a:p xmlns:a="http://schemas.openxmlformats.org/drawingml/2006/main">
            <a:r>
              <a:t>      "duties": [</a:t>
            </a:r>
          </a:p>
          <a:p xmlns:a="http://schemas.openxmlformats.org/drawingml/2006/main">
            <a:r>
              <a:t>        "1. 인공지능(AI) 활용 서비스 구축 지원 및 성과관리",</a:t>
            </a:r>
          </a:p>
          <a:p xmlns:a="http://schemas.openxmlformats.org/drawingml/2006/main">
            <a:r>
              <a:t>        "3. 인공지능(AI) 데이터 표준화 및 데이터 스페이스 구축"</a:t>
            </a:r>
          </a:p>
          <a:p xmlns:a="http://schemas.openxmlformats.org/drawingml/2006/main">
            <a:r>
              <a:t>      ],</a:t>
            </a:r>
          </a:p>
          <a:p xmlns:a="http://schemas.openxmlformats.org/drawingml/2006/main">
            <a:r>
              <a:t>      "locator": "별표4 · T37 · 3행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a:t>
            </a:r>
          </a:p>
          <a:p xmlns:a="http://schemas.openxmlformats.org/drawingml/2006/main">
            <a:r>
              <a:t>    {</a:t>
            </a:r>
          </a:p>
          <a:p xmlns:a="http://schemas.openxmlformats.org/drawingml/2006/main">
            <a:r>
              <a:t>      "code": "1019700",</a:t>
            </a:r>
          </a:p>
          <a:p xmlns:a="http://schemas.openxmlformats.org/drawingml/2006/main">
            <a:r>
              <a:t>      "name": "AI서비스개발팀",</a:t>
            </a:r>
          </a:p>
          <a:p xmlns:a="http://schemas.openxmlformats.org/drawingml/2006/main">
            <a:r>
              <a:t>      "job": "공통플랫폼·모델 품질",</a:t>
            </a:r>
          </a:p>
          <a:p xmlns:a="http://schemas.openxmlformats.org/drawingml/2006/main">
            <a:r>
              <a:t>      "indices":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"duties": [</a:t>
            </a:r>
          </a:p>
          <a:p xmlns:a="http://schemas.openxmlformats.org/drawingml/2006/main">
            <a:r>
              <a:t>        "1. 인공지능(AI) 공통플랫폼 구축․운영 인공지능(AI) 모델 고도화․품질관리",</a:t>
            </a:r>
          </a:p>
          <a:p xmlns:a="http://schemas.openxmlformats.org/drawingml/2006/main">
            <a:r>
              <a:t>        "2. 인공지능(AI) 시범 서비스(PoC) 추진"</a:t>
            </a:r>
          </a:p>
          <a:p xmlns:a="http://schemas.openxmlformats.org/drawingml/2006/main">
            <a:r>
              <a:t>      ],</a:t>
            </a:r>
          </a:p>
          <a:p xmlns:a="http://schemas.openxmlformats.org/drawingml/2006/main">
            <a:r>
              <a:t>      "locator": "별표4 · T37 · 4행 · 업무분장 열",</a:t>
            </a:r>
          </a:p>
          <a:p xmlns:a="http://schemas.openxmlformats.org/drawingml/2006/main">
            <a:r>
              <a:t>      "restriction": "부칙 제1·2조: 팀장 최초 인사발령일부터 시행 · 발령일 미확인 · 시행 전 AI혁신처 관련 업무·정원 담당",</a:t>
            </a:r>
          </a:p>
          <a:p xmlns:a="http://schemas.openxmlformats.org/drawingml/2006/main">
            <a:r>
              <a:t>      "status": "제공 세칙 원문 연결"</a:t>
            </a:r>
          </a:p>
          <a:p xmlns:a="http://schemas.openxmlformats.org/drawingml/2006/main">
            <a:r>
              <a:t>    },</a:t>
            </a:r>
          </a:p>
          <a:p xmlns:a="http://schemas.openxmlformats.org/drawingml/2006/main">
            <a:r>
              <a:t>    {</a:t>
            </a:r>
          </a:p>
          <a:p xmlns:a="http://schemas.openxmlformats.org/drawingml/2006/main">
            <a:r>
              <a:t>      "code": "1016050",</a:t>
            </a:r>
          </a:p>
          <a:p xmlns:a="http://schemas.openxmlformats.org/drawingml/2006/main">
            <a:r>
              <a:t>      "name": "예산처",</a:t>
            </a:r>
          </a:p>
          <a:p xmlns:a="http://schemas.openxmlformats.org/drawingml/2006/main">
            <a:r>
              <a:t>      "job": "조직·분장·전결 관리",</a:t>
            </a:r>
          </a:p>
          <a:p xmlns:a="http://schemas.openxmlformats.org/drawingml/2006/main">
            <a:r>
              <a:t>      "indices": [</a:t>
            </a:r>
          </a:p>
          <a:p xmlns:a="http://schemas.openxmlformats.org/drawingml/2006/main">
            <a:r>
              <a:t>        7,</a:t>
            </a:r>
          </a:p>
          <a:p xmlns:a="http://schemas.openxmlformats.org/drawingml/2006/main">
            <a:r>
              <a:t>        10,</a:t>
            </a:r>
          </a:p>
          <a:p xmlns:a="http://schemas.openxmlformats.org/drawingml/2006/main">
            <a:r>
              <a:t>        11</a:t>
            </a:r>
          </a:p>
          <a:p xmlns:a="http://schemas.openxmlformats.org/drawingml/2006/main">
            <a:r>
              <a:t>      ],</a:t>
            </a:r>
          </a:p>
          <a:p xmlns:a="http://schemas.openxmlformats.org/drawingml/2006/main">
            <a:r>
              <a:t>      "duties": [</a:t>
            </a:r>
          </a:p>
          <a:p xmlns:a="http://schemas.openxmlformats.org/drawingml/2006/main">
            <a:r>
              <a:t>        "8. 조직 및 정원관리 총괄",</a:t>
            </a:r>
          </a:p>
          <a:p xmlns:a="http://schemas.openxmlformats.org/drawingml/2006/main">
            <a:r>
              <a:t>        "9. 위임전결에 관한 사항",</a:t>
            </a:r>
          </a:p>
          <a:p xmlns:a="http://schemas.openxmlformats.org/drawingml/2006/main">
            <a:r>
              <a:t>        "10. 업무분장 조정‧관리"</a:t>
            </a:r>
          </a:p>
          <a:p xmlns:a="http://schemas.openxmlformats.org/drawingml/2006/main">
            <a:r>
              <a:t>      ],</a:t>
            </a:r>
          </a:p>
          <a:p xmlns:a="http://schemas.openxmlformats.org/drawingml/2006/main">
            <a:r>
              <a:t>      "locator": "별표4 · T36 · 4행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a:t>
            </a:r>
          </a:p>
          <a:p xmlns:a="http://schemas.openxmlformats.org/drawingml/2006/main">
            <a:r>
              <a:t>    {</a:t>
            </a:r>
          </a:p>
          <a:p xmlns:a="http://schemas.openxmlformats.org/drawingml/2006/main">
            <a:r>
              <a:t>      "code": "1018037",</a:t>
            </a:r>
          </a:p>
          <a:p xmlns:a="http://schemas.openxmlformats.org/drawingml/2006/main">
            <a:r>
              <a:t>      "name": "인재개발처",</a:t>
            </a:r>
          </a:p>
          <a:p xmlns:a="http://schemas.openxmlformats.org/drawingml/2006/main">
            <a:r>
              <a:t>      "job": "발령·인사정보 관리",</a:t>
            </a:r>
          </a:p>
          <a:p xmlns:a="http://schemas.openxmlformats.org/drawingml/2006/main">
            <a:r>
              <a:t>      "indices": [</a:t>
            </a:r>
          </a:p>
          <a:p xmlns:a="http://schemas.openxmlformats.org/drawingml/2006/main">
            <a:r>
              <a:t>        2,</a:t>
            </a:r>
          </a:p>
          <a:p xmlns:a="http://schemas.openxmlformats.org/drawingml/2006/main">
            <a:r>
              <a:t>        5</a:t>
            </a:r>
          </a:p>
          <a:p xmlns:a="http://schemas.openxmlformats.org/drawingml/2006/main">
            <a:r>
              <a:t>      ],</a:t>
            </a:r>
          </a:p>
          <a:p xmlns:a="http://schemas.openxmlformats.org/drawingml/2006/main">
            <a:r>
              <a:t>      "duties": [</a:t>
            </a:r>
          </a:p>
          <a:p xmlns:a="http://schemas.openxmlformats.org/drawingml/2006/main">
            <a:r>
              <a:t>        "3. 직원의 채용, 승진, 전보 등 임용 및 보직에 관한 업무",</a:t>
            </a:r>
          </a:p>
          <a:p xmlns:a="http://schemas.openxmlformats.org/drawingml/2006/main">
            <a:r>
              <a:t>        "6. 인사통계자료․인사정보 관리 및 인사 관련 제증명 발급"</a:t>
            </a:r>
          </a:p>
          <a:p xmlns:a="http://schemas.openxmlformats.org/drawingml/2006/main">
            <a:r>
              <a:t>      ],</a:t>
            </a:r>
          </a:p>
          <a:p xmlns:a="http://schemas.openxmlformats.org/drawingml/2006/main">
            <a:r>
              <a:t>      "locator": "별표4 · T38 · 3행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a:t>
            </a:r>
          </a:p>
          <a:p xmlns:a="http://schemas.openxmlformats.org/drawingml/2006/main">
            <a:r>
              <a:t>    {</a:t>
            </a:r>
          </a:p>
          <a:p xmlns:a="http://schemas.openxmlformats.org/drawingml/2006/main">
            <a:r>
              <a:t>      "code": "1019300",</a:t>
            </a:r>
          </a:p>
          <a:p xmlns:a="http://schemas.openxmlformats.org/drawingml/2006/main">
            <a:r>
              <a:t>      "name": "디지털기획처",</a:t>
            </a:r>
          </a:p>
          <a:p xmlns:a="http://schemas.openxmlformats.org/drawingml/2006/main">
            <a:r>
              <a:t>      "job": "정보화·데이터 품질",</a:t>
            </a:r>
          </a:p>
          <a:p xmlns:a="http://schemas.openxmlformats.org/drawingml/2006/main">
            <a:r>
              <a:t>      "indices": [</a:t>
            </a:r>
          </a:p>
          <a:p xmlns:a="http://schemas.openxmlformats.org/drawingml/2006/main">
            <a:r>
              <a:t>        12,</a:t>
            </a:r>
          </a:p>
          <a:p xmlns:a="http://schemas.openxmlformats.org/drawingml/2006/main">
            <a:r>
              <a:t>        19</a:t>
            </a:r>
          </a:p>
          <a:p xmlns:a="http://schemas.openxmlformats.org/drawingml/2006/main">
            <a:r>
              <a:t>      ],</a:t>
            </a:r>
          </a:p>
          <a:p xmlns:a="http://schemas.openxmlformats.org/drawingml/2006/main">
            <a:r>
              <a:t>      "duties": [</a:t>
            </a:r>
          </a:p>
          <a:p xmlns:a="http://schemas.openxmlformats.org/drawingml/2006/main">
            <a:r>
              <a:t>        "13. 정보화사업 사전검토(과업지시서 등) 및 시스템 구축 지원(기술분야)",</a:t>
            </a:r>
          </a:p>
          <a:p xmlns:a="http://schemas.openxmlformats.org/drawingml/2006/main">
            <a:r>
              <a:t>        "20. 데이터 품질관리"</a:t>
            </a:r>
          </a:p>
          <a:p xmlns:a="http://schemas.openxmlformats.org/drawingml/2006/main">
            <a:r>
              <a:t>      ],</a:t>
            </a:r>
          </a:p>
          <a:p xmlns:a="http://schemas.openxmlformats.org/drawingml/2006/main">
            <a:r>
              <a:t>      "locator": "별표4 · T37 · 2행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a:t>
            </a:r>
          </a:p>
          <a:p xmlns:a="http://schemas.openxmlformats.org/drawingml/2006/main">
            <a:r>
              <a:t>    {</a:t>
            </a:r>
          </a:p>
          <a:p xmlns:a="http://schemas.openxmlformats.org/drawingml/2006/main">
            <a:r>
              <a:t>      "code": "1019500",</a:t>
            </a:r>
          </a:p>
          <a:p xmlns:a="http://schemas.openxmlformats.org/drawingml/2006/main">
            <a:r>
              <a:t>      "name": "정보보안처",</a:t>
            </a:r>
          </a:p>
          <a:p xmlns:a="http://schemas.openxmlformats.org/drawingml/2006/main">
            <a:r>
              <a:t>      "job": "보안·개인정보 관리",</a:t>
            </a:r>
          </a:p>
          <a:p xmlns:a="http://schemas.openxmlformats.org/drawingml/2006/main">
            <a:r>
              <a:t>      "indices": [</a:t>
            </a:r>
          </a:p>
          <a:p xmlns:a="http://schemas.openxmlformats.org/drawingml/2006/main">
            <a:r>
              <a:t>        0,</a:t>
            </a:r>
          </a:p>
          <a:p xmlns:a="http://schemas.openxmlformats.org/drawingml/2006/main">
            <a:r>
              <a:t>        9</a:t>
            </a:r>
          </a:p>
          <a:p xmlns:a="http://schemas.openxmlformats.org/drawingml/2006/main">
            <a:r>
              <a:t>      ],</a:t>
            </a:r>
          </a:p>
          <a:p xmlns:a="http://schemas.openxmlformats.org/drawingml/2006/main">
            <a:r>
              <a:t>      "duties": [</a:t>
            </a:r>
          </a:p>
          <a:p xmlns:a="http://schemas.openxmlformats.org/drawingml/2006/main">
            <a:r>
              <a:t>        "1. 정보보안 업무총괄 관리",</a:t>
            </a:r>
          </a:p>
          <a:p xmlns:a="http://schemas.openxmlformats.org/drawingml/2006/main">
            <a:r>
              <a:t>        "10. 개인정보보호 업무총괄 관리"</a:t>
            </a:r>
          </a:p>
          <a:p xmlns:a="http://schemas.openxmlformats.org/drawingml/2006/main">
            <a:r>
              <a:t>      ],</a:t>
            </a:r>
          </a:p>
          <a:p xmlns:a="http://schemas.openxmlformats.org/drawingml/2006/main">
            <a:r>
              <a:t>      "locator": "별표4 · T37 · 5행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a:t>
            </a:r>
          </a:p>
          <a:p xmlns:a="http://schemas.openxmlformats.org/drawingml/2006/main">
            <a:r>
              <a:t>  ],</a:t>
            </a:r>
          </a:p>
          <a:p xmlns:a="http://schemas.openxmlformats.org/drawingml/2006/main">
            <a:r>
              <a:t>  "basisNote": "설립법·별표4 내부 업무분장 / 인사·재무·계약·전결 등 업무별 규정의 별도 확인",</a:t>
            </a:r>
          </a:p>
          <a:p xmlns:a="http://schemas.openxmlformats.org/drawingml/2006/main">
            <a:r>
              <a:t>  "caseRefs": [</a:t>
            </a:r>
          </a:p>
          <a:p xmlns:a="http://schemas.openxmlformats.org/drawingml/2006/main">
            <a:r>
              <a:t>    {</a:t>
            </a:r>
          </a:p>
          <a:p xmlns:a="http://schemas.openxmlformats.org/drawingml/2006/main">
            <a:r>
              <a:t>      "caseId": "AX04",</a:t>
            </a:r>
          </a:p>
          <a:p xmlns:a="http://schemas.openxmlformats.org/drawingml/2006/main">
            <a:r>
              <a:t>      "type": "직접 업무 유사"</a:t>
            </a:r>
          </a:p>
          <a:p xmlns:a="http://schemas.openxmlformats.org/drawingml/2006/main">
            <a:r>
              <a:t>    },</a:t>
            </a:r>
          </a:p>
          <a:p xmlns:a="http://schemas.openxmlformats.org/drawingml/2006/main">
            <a:r>
              <a:t>    {</a:t>
            </a:r>
          </a:p>
          <a:p xmlns:a="http://schemas.openxmlformats.org/drawingml/2006/main">
            <a:r>
              <a:t>      "caseId": "AX09",</a:t>
            </a:r>
          </a:p>
          <a:p xmlns:a="http://schemas.openxmlformats.org/drawingml/2006/main">
            <a:r>
              <a:t>      "type": "방법론 참조"</a:t>
            </a:r>
          </a:p>
          <a:p xmlns:a="http://schemas.openxmlformats.org/drawingml/2006/main">
            <a:r>
              <a:t>    },</a:t>
            </a:r>
          </a:p>
          <a:p xmlns:a="http://schemas.openxmlformats.org/drawingml/2006/main">
            <a:r>
              <a:t>    {</a:t>
            </a:r>
          </a:p>
          <a:p xmlns:a="http://schemas.openxmlformats.org/drawingml/2006/main">
            <a:r>
              <a:t>      "caseId": "AX03",</a:t>
            </a:r>
          </a:p>
          <a:p xmlns:a="http://schemas.openxmlformats.org/drawingml/2006/main">
            <a:r>
              <a:t>      "type": "실패 통제 참조"</a:t>
            </a:r>
          </a:p>
          <a:p xmlns:a="http://schemas.openxmlformats.org/drawingml/2006/main">
            <a:r>
              <a:t>    },</a:t>
            </a:r>
          </a:p>
          <a:p xmlns:a="http://schemas.openxmlformats.org/drawingml/2006/main">
            <a:r>
              <a:t>    {</a:t>
            </a:r>
          </a:p>
          <a:p xmlns:a="http://schemas.openxmlformats.org/drawingml/2006/main">
            <a:r>
              <a:t>      "caseId": "AX13",</a:t>
            </a:r>
          </a:p>
          <a:p xmlns:a="http://schemas.openxmlformats.org/drawingml/2006/main">
            <a:r>
              <a:t>      "type": "실패 통제 참조"</a:t>
            </a:r>
          </a:p>
          <a:p xmlns:a="http://schemas.openxmlformats.org/drawingml/2006/main">
            <a:r>
              <a:t>    },</a:t>
            </a:r>
          </a:p>
          <a:p xmlns:a="http://schemas.openxmlformats.org/drawingml/2006/main">
            <a:r>
              <a:t>    {</a:t>
            </a:r>
          </a:p>
          <a:p xmlns:a="http://schemas.openxmlformats.org/drawingml/2006/main">
            <a:r>
              <a:t>      "caseId": "AX22",</a:t>
            </a:r>
          </a:p>
          <a:p xmlns:a="http://schemas.openxmlformats.org/drawingml/2006/main">
            <a:r>
              <a:t>      "type": "직접 업무 유사"</a:t>
            </a:r>
          </a:p>
          <a:p xmlns:a="http://schemas.openxmlformats.org/drawingml/2006/main">
            <a:r>
              <a:t>    },</a:t>
            </a:r>
          </a:p>
          <a:p xmlns:a="http://schemas.openxmlformats.org/drawingml/2006/main">
            <a:r>
              <a:t>    {</a:t>
            </a:r>
          </a:p>
          <a:p xmlns:a="http://schemas.openxmlformats.org/drawingml/2006/main">
            <a:r>
              <a:t>      "caseId": "AX25",</a:t>
            </a:r>
          </a:p>
          <a:p xmlns:a="http://schemas.openxmlformats.org/drawingml/2006/main">
            <a:r>
              <a:t>      "type": "방법론 참조"</a:t>
            </a:r>
          </a:p>
          <a:p xmlns:a="http://schemas.openxmlformats.org/drawingml/2006/main">
            <a:r>
              <a:t>    },</a:t>
            </a:r>
          </a:p>
          <a:p xmlns:a="http://schemas.openxmlformats.org/drawingml/2006/main">
            <a:r>
              <a:t>    {</a:t>
            </a:r>
          </a:p>
          <a:p xmlns:a="http://schemas.openxmlformats.org/drawingml/2006/main">
            <a:r>
              <a:t>      "caseId": "AX26",</a:t>
            </a:r>
          </a:p>
          <a:p xmlns:a="http://schemas.openxmlformats.org/drawingml/2006/main">
            <a:r>
              <a:t>      "type": "방법론 참조"</a:t>
            </a:r>
          </a:p>
          <a:p xmlns:a="http://schemas.openxmlformats.org/drawingml/2006/main">
            <a:r>
              <a:t>    }</a:t>
            </a:r>
          </a:p>
          <a:p xmlns:a="http://schemas.openxmlformats.org/drawingml/2006/main">
            <a:r>
              <a:t>  ],</a:t>
            </a:r>
          </a:p>
          <a:p xmlns:a="http://schemas.openxmlformats.org/drawingml/2006/main">
            <a:r>
              <a:t>  "plan": "조직 네이티브 공통 기반",</a:t>
            </a:r>
          </a:p>
          <a:p xmlns:a="http://schemas.openxmlformats.org/drawingml/2006/main">
            <a:r>
              <a:t>  "delta": "공식 ID·효력일·역할·업무 분류·권한 집행",</a:t>
            </a:r>
          </a:p>
          <a:p xmlns:a="http://schemas.openxmlformats.org/drawingml/2006/main">
            <a:r>
              <a:t>  "kpi": "직무 분류 정확도 / 비인가 노출 건수",</a:t>
            </a:r>
          </a:p>
          <a:p xmlns:a="http://schemas.openxmlformats.org/drawingml/2006/main">
            <a:r>
              <a:t>  "validation": "인사이동·동명이인·권한 회수·동일 요청 교차 시험",</a:t>
            </a:r>
          </a:p>
          <a:p xmlns:a="http://schemas.openxmlformats.org/drawingml/2006/main">
            <a:r>
              <a:t>  "requirement": "BM-ST-04-R01",</a:t>
            </a:r>
          </a:p>
          <a:p xmlns:a="http://schemas.openxmlformats.org/drawingml/2006/main">
            <a:r>
              <a:t>  "test": "BM-ST-04-T01",</a:t>
            </a:r>
          </a:p>
          <a:p xmlns:a="http://schemas.openxmlformats.org/drawingml/2006/main">
            <a:r>
              <a:t>  "effectStatus": "기대 방향 · TS 실측 전",</a:t>
            </a:r>
          </a:p>
          <a:p xmlns:a="http://schemas.openxmlformats.org/drawingml/2006/main">
            <a:r>
              <a:t>  "effect": "반복 맥락 입력·부서 간 오인계 감소",</a:t>
            </a:r>
          </a:p>
          <a:p xmlns:a="http://schemas.openxmlformats.org/drawingml/2006/main">
            <a:r>
              <a:t>  "reuse": "ON27-BASE / C27-COM + CCK 재사용 판정 기능",</a:t>
            </a:r>
          </a:p>
          <a:p xmlns:a="http://schemas.openxmlformats.org/drawingml/2006/main">
            <a:r>
              <a:t>  "input": "공식 직원 ID, 조직도·업무분장, 효력일, 원천 접근정책",</a:t>
            </a:r>
          </a:p>
          <a:p xmlns:a="http://schemas.openxmlformats.org/drawingml/2006/main">
            <a:r>
              <a:t>  "steps": [</a:t>
            </a:r>
          </a:p>
          <a:p xmlns:a="http://schemas.openxmlformats.org/drawingml/2006/main">
            <a:r>
              <a:t>    "로그인 ID–조직 연결",</a:t>
            </a:r>
          </a:p>
          <a:p xmlns:a="http://schemas.openxmlformats.org/drawingml/2006/main">
            <a:r>
              <a:t>    "인물·부서·직무 관계 식별",</a:t>
            </a:r>
          </a:p>
          <a:p xmlns:a="http://schemas.openxmlformats.org/drawingml/2006/main">
            <a:r>
              <a:t>    "업무 맥락·지식·서식 선택",</a:t>
            </a:r>
          </a:p>
          <a:p xmlns:a="http://schemas.openxmlformats.org/drawingml/2006/main">
            <a:r>
              <a:t>    "권한 재검증·결과 근거 기록"</a:t>
            </a:r>
          </a:p>
          <a:p xmlns:a="http://schemas.openxmlformats.org/drawingml/2006/main">
            <a:r>
              <a:t>  ],</a:t>
            </a:r>
          </a:p>
          <a:p xmlns:a="http://schemas.openxmlformats.org/drawingml/2006/main">
            <a:r>
              <a:t>  "departments": [</a:t>
            </a:r>
          </a:p>
          <a:p xmlns:a="http://schemas.openxmlformats.org/drawingml/2006/main">
            <a:r>
              <a:t>    {</a:t>
            </a:r>
          </a:p>
          <a:p xmlns:a="http://schemas.openxmlformats.org/drawingml/2006/main">
            <a:r>
              <a:t>      "code": "1010100",</a:t>
            </a:r>
          </a:p>
          <a:p xmlns:a="http://schemas.openxmlformats.org/drawingml/2006/main">
            <a:r>
              <a:t>      "name": "AI미래전략실",</a:t>
            </a:r>
          </a:p>
          <a:p xmlns:a="http://schemas.openxmlformats.org/drawingml/2006/main">
            <a:r>
              <a:t>      "job": "AI 전략·윤리",</a:t>
            </a:r>
          </a:p>
          <a:p xmlns:a="http://schemas.openxmlformats.org/drawingml/2006/main">
            <a:r>
              <a:t>      "indices": [</a:t>
            </a:r>
          </a:p>
          <a:p xmlns:a="http://schemas.openxmlformats.org/drawingml/2006/main">
            <a:r>
              <a:t>        3,</a:t>
            </a:r>
          </a:p>
          <a:p xmlns:a="http://schemas.openxmlformats.org/drawingml/2006/main">
            <a:r>
              <a:t>        5</a:t>
            </a:r>
          </a:p>
          <a:p xmlns:a="http://schemas.openxmlformats.org/drawingml/2006/main">
            <a:r>
              <a:t>      ],</a:t>
            </a:r>
          </a:p>
          <a:p xmlns:a="http://schemas.openxmlformats.org/drawingml/2006/main">
            <a:r>
              <a:t>      "duties": [</a:t>
            </a:r>
          </a:p>
          <a:p xmlns:a="http://schemas.openxmlformats.org/drawingml/2006/main">
            <a:r>
              <a:t>        "4. 인공지능(AI) 전환 전략 수립․조정",</a:t>
            </a:r>
          </a:p>
          <a:p xmlns:a="http://schemas.openxmlformats.org/drawingml/2006/main">
            <a:r>
              <a:t>        "6. 인공지능(AI) 제도 및 지침, 윤리기준 관리"</a:t>
            </a:r>
          </a:p>
          <a:p xmlns:a="http://schemas.openxmlformats.org/drawingml/2006/main">
            <a:r>
              <a:t>      ],</a:t>
            </a:r>
          </a:p>
          <a:p xmlns:a="http://schemas.openxmlformats.org/drawingml/2006/main">
            <a:r>
              <a:t>      "locator": "별표4 · T34 · 2행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"workItems": [</a:t>
            </a:r>
          </a:p>
          <a:p xmlns:a="http://schemas.openxmlformats.org/drawingml/2006/main">
            <a:r>
              <a:t>        {</a:t>
            </a:r>
          </a:p>
          <a:p xmlns:a="http://schemas.openxmlformats.org/drawingml/2006/main">
            <a:r>
              <a:t>          "id": "RULEWORK-1010100-4",</a:t>
            </a:r>
          </a:p>
          <a:p xmlns:a="http://schemas.openxmlformats.org/drawingml/2006/main">
            <a:r>
              <a:t>          "text": "4. 인공지능(AI) 전환 전략 수립․조정",</a:t>
            </a:r>
          </a:p>
          <a:p xmlns:a="http://schemas.openxmlformats.org/drawingml/2006/main">
            <a:r>
              <a:t>          "locator": "별표4 · T34 · 2행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"RULEWORK-1010100-4-R01",</a:t>
            </a:r>
          </a:p>
          <a:p xmlns:a="http://schemas.openxmlformats.org/drawingml/2006/main">
            <a:r>
              <a:t>              "title": "업무 맥락·전용 지식 구성",</a:t>
            </a:r>
          </a:p>
          <a:p xmlns:a="http://schemas.openxmlformats.org/drawingml/2006/main">
            <a:r>
              <a:t>              "development": "직무·업무건 기반 검색·응답 구성",</a:t>
            </a:r>
          </a:p>
          <a:p xmlns:a="http://schemas.openxmlformats.org/drawingml/2006/main">
            <a:r>
              <a:t>              "output": "부서별 구성·평가·배포 명세",</a:t>
            </a:r>
          </a:p>
          <a:p xmlns:a="http://schemas.openxmlformats.org/drawingml/2006/main">
            <a:r>
              <a:t>              "testId": "RULEWORK-1010100-4-T01",</a:t>
            </a:r>
          </a:p>
          <a:p xmlns:a="http://schemas.openxmlformats.org/drawingml/2006/main">
            <a:r>
              <a:t>              "criterion": "동일 요청의 부서·역할별 결과·근거 대조"</a:t>
            </a:r>
          </a:p>
          <a:p xmlns:a="http://schemas.openxmlformats.org/drawingml/2006/main">
            <a:r>
              <a:t>            },</a:t>
            </a:r>
          </a:p>
          <a:p xmlns:a="http://schemas.openxmlformats.org/drawingml/2006/main">
            <a:r>
              <a:t>            {</a:t>
            </a:r>
          </a:p>
          <a:p xmlns:a="http://schemas.openxmlformats.org/drawingml/2006/main">
            <a:r>
              <a:t>              "id": "RULEWORK-1010100-4-R02",</a:t>
            </a:r>
          </a:p>
          <a:p xmlns:a="http://schemas.openxmlformats.org/drawingml/2006/main">
            <a:r>
              <a:t>              "title": "업무건·역할·시스템 연결",</a:t>
            </a:r>
          </a:p>
          <a:p xmlns:a="http://schemas.openxmlformats.org/drawingml/2006/main">
            <a:r>
              <a:t>              "development": "모델·정책·지식 판본별 운영·복구 연계",</a:t>
            </a:r>
          </a:p>
          <a:p xmlns:a="http://schemas.openxmlformats.org/drawingml/2006/main">
            <a:r>
              <a:t>              "output": "업무건·원천·역할·변경 연결 명세",</a:t>
            </a:r>
          </a:p>
          <a:p xmlns:a="http://schemas.openxmlformats.org/drawingml/2006/main">
            <a:r>
              <a:t>              "testId": "RULEWORK-1010100-4-T02",</a:t>
            </a:r>
          </a:p>
          <a:p xmlns:a="http://schemas.openxmlformats.org/drawingml/2006/main">
            <a:r>
              <a:t>              "criterion": "배포 판본 변경·롤백·필수 거부 시험"</a:t>
            </a:r>
          </a:p>
          <a:p xmlns:a="http://schemas.openxmlformats.org/drawingml/2006/main">
            <a:r>
              <a:t>            },</a:t>
            </a:r>
          </a:p>
          <a:p xmlns:a="http://schemas.openxmlformats.org/drawingml/2006/main">
            <a:r>
              <a:t>            {</a:t>
            </a:r>
          </a:p>
          <a:p xmlns:a="http://schemas.openxmlformats.org/drawingml/2006/main">
            <a:r>
              <a:t>              "id": "RULEWORK-1010100-4-R03",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"RULEWORK-1010100-4-T03",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"RULEWORK-1010100-6",</a:t>
            </a:r>
          </a:p>
          <a:p xmlns:a="http://schemas.openxmlformats.org/drawingml/2006/main">
            <a:r>
              <a:t>          "text": "6. 인공지능(AI) 제도 및 지침, 윤리기준 관리",</a:t>
            </a:r>
          </a:p>
          <a:p xmlns:a="http://schemas.openxmlformats.org/drawingml/2006/main">
            <a:r>
              <a:t>          "locator": "별표4 · T34 · 2행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"RULEWORK-1010100-6-R01",</a:t>
            </a:r>
          </a:p>
          <a:p xmlns:a="http://schemas.openxmlformats.org/drawingml/2006/main">
            <a:r>
              <a:t>              "title": "업무 맥락·전용 지식 구성",</a:t>
            </a:r>
          </a:p>
          <a:p xmlns:a="http://schemas.openxmlformats.org/drawingml/2006/main">
            <a:r>
              <a:t>              "development": "직무·업무건 기반 검색·응답 구성",</a:t>
            </a:r>
          </a:p>
          <a:p xmlns:a="http://schemas.openxmlformats.org/drawingml/2006/main">
            <a:r>
              <a:t>              "output": "부서별 구성·평가·배포 명세",</a:t>
            </a:r>
          </a:p>
          <a:p xmlns:a="http://schemas.openxmlformats.org/drawingml/2006/main">
            <a:r>
              <a:t>              "testId": "RULEWORK-1010100-6-T01",</a:t>
            </a:r>
          </a:p>
          <a:p xmlns:a="http://schemas.openxmlformats.org/drawingml/2006/main">
            <a:r>
              <a:t>              "criterion": "동일 요청의 부서·역할별 결과·근거 대조"</a:t>
            </a:r>
          </a:p>
          <a:p xmlns:a="http://schemas.openxmlformats.org/drawingml/2006/main">
            <a:r>
              <a:t>            },</a:t>
            </a:r>
          </a:p>
          <a:p xmlns:a="http://schemas.openxmlformats.org/drawingml/2006/main">
            <a:r>
              <a:t>            {</a:t>
            </a:r>
          </a:p>
          <a:p xmlns:a="http://schemas.openxmlformats.org/drawingml/2006/main">
            <a:r>
              <a:t>              "id": "RULEWORK-1010100-6-R02",</a:t>
            </a:r>
          </a:p>
          <a:p xmlns:a="http://schemas.openxmlformats.org/drawingml/2006/main">
            <a:r>
              <a:t>              "title": "업무건·역할·시스템 연결",</a:t>
            </a:r>
          </a:p>
          <a:p xmlns:a="http://schemas.openxmlformats.org/drawingml/2006/main">
            <a:r>
              <a:t>              "development": "모델·정책·지식 판본별 운영·복구 연계",</a:t>
            </a:r>
          </a:p>
          <a:p xmlns:a="http://schemas.openxmlformats.org/drawingml/2006/main">
            <a:r>
              <a:t>              "output": "업무건·원천·역할·변경 연결 명세",</a:t>
            </a:r>
          </a:p>
          <a:p xmlns:a="http://schemas.openxmlformats.org/drawingml/2006/main">
            <a:r>
              <a:t>              "testId": "RULEWORK-1010100-6-T02",</a:t>
            </a:r>
          </a:p>
          <a:p xmlns:a="http://schemas.openxmlformats.org/drawingml/2006/main">
            <a:r>
              <a:t>              "criterion": "배포 판본 변경·롤백·필수 거부 시험"</a:t>
            </a:r>
          </a:p>
          <a:p xmlns:a="http://schemas.openxmlformats.org/drawingml/2006/main">
            <a:r>
              <a:t>            },</a:t>
            </a:r>
          </a:p>
          <a:p xmlns:a="http://schemas.openxmlformats.org/drawingml/2006/main">
            <a:r>
              <a:t>            {</a:t>
            </a:r>
          </a:p>
          <a:p xmlns:a="http://schemas.openxmlformats.org/drawingml/2006/main">
            <a:r>
              <a:t>              "id": "RULEWORK-1010100-6-R03",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"RULEWORK-1010100-6-T03",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"code": "1019600",</a:t>
            </a:r>
          </a:p>
          <a:p xmlns:a="http://schemas.openxmlformats.org/drawingml/2006/main">
            <a:r>
              <a:t>      "name": "AI혁신처",</a:t>
            </a:r>
          </a:p>
          <a:p xmlns:a="http://schemas.openxmlformats.org/drawingml/2006/main">
            <a:r>
              <a:t>      "job": "AI 사업 조정·데이터 표준",</a:t>
            </a:r>
          </a:p>
          <a:p xmlns:a="http://schemas.openxmlformats.org/drawingml/2006/main">
            <a:r>
              <a:t>      "indices": [</a:t>
            </a:r>
          </a:p>
          <a:p xmlns:a="http://schemas.openxmlformats.org/drawingml/2006/main">
            <a:r>
              <a:t>        0,</a:t>
            </a:r>
          </a:p>
          <a:p xmlns:a="http://schemas.openxmlformats.org/drawingml/2006/main">
            <a:r>
              <a:t>        2</a:t>
            </a:r>
          </a:p>
          <a:p xmlns:a="http://schemas.openxmlformats.org/drawingml/2006/main">
            <a:r>
              <a:t>      ],</a:t>
            </a:r>
          </a:p>
          <a:p xmlns:a="http://schemas.openxmlformats.org/drawingml/2006/main">
            <a:r>
              <a:t>      "duties": [</a:t>
            </a:r>
          </a:p>
          <a:p xmlns:a="http://schemas.openxmlformats.org/drawingml/2006/main">
            <a:r>
              <a:t>        "1. 인공지능(AI) 활용 서비스 구축 지원 및 성과관리",</a:t>
            </a:r>
          </a:p>
          <a:p xmlns:a="http://schemas.openxmlformats.org/drawingml/2006/main">
            <a:r>
              <a:t>        "3. 인공지능(AI) 데이터 표준화 및 데이터 스페이스 구축"</a:t>
            </a:r>
          </a:p>
          <a:p xmlns:a="http://schemas.openxmlformats.org/drawingml/2006/main">
            <a:r>
              <a:t>      ],</a:t>
            </a:r>
          </a:p>
          <a:p xmlns:a="http://schemas.openxmlformats.org/drawingml/2006/main">
            <a:r>
              <a:t>      "locator": "별표4 · T37 · 3행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"workItems": [</a:t>
            </a:r>
          </a:p>
          <a:p xmlns:a="http://schemas.openxmlformats.org/drawingml/2006/main">
            <a:r>
              <a:t>        {</a:t>
            </a:r>
          </a:p>
          <a:p xmlns:a="http://schemas.openxmlformats.org/drawingml/2006/main">
            <a:r>
              <a:t>          "id": "RULEWORK-1019600-1",</a:t>
            </a:r>
          </a:p>
          <a:p xmlns:a="http://schemas.openxmlformats.org/drawingml/2006/main">
            <a:r>
              <a:t>          "text": "1. 인공지능(AI) 활용 서비스 구축 지원 및 성과관리",</a:t>
            </a:r>
          </a:p>
          <a:p xmlns:a="http://schemas.openxmlformats.org/drawingml/2006/main">
            <a:r>
              <a:t>          "locator": "별표4 · T37 · 3행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"RULEWORK-1019600-1-R01",</a:t>
            </a:r>
          </a:p>
          <a:p xmlns:a="http://schemas.openxmlformats.org/drawingml/2006/main">
            <a:r>
              <a:t>              "title": "업무 맥락·전용 지식 구성",</a:t>
            </a:r>
          </a:p>
          <a:p xmlns:a="http://schemas.openxmlformats.org/drawingml/2006/main">
            <a:r>
              <a:t>              "development": "직무·업무건 기반 검색·응답 구성",</a:t>
            </a:r>
          </a:p>
          <a:p xmlns:a="http://schemas.openxmlformats.org/drawingml/2006/main">
            <a:r>
              <a:t>              "output": "부서별 구성·평가·배포 명세",</a:t>
            </a:r>
          </a:p>
          <a:p xmlns:a="http://schemas.openxmlformats.org/drawingml/2006/main">
            <a:r>
              <a:t>              "testId": "RULEWORK-1019600-1-T01",</a:t>
            </a:r>
          </a:p>
          <a:p xmlns:a="http://schemas.openxmlformats.org/drawingml/2006/main">
            <a:r>
              <a:t>              "criterion": "동일 요청의 부서·역할별 결과·근거 대조"</a:t>
            </a:r>
          </a:p>
          <a:p xmlns:a="http://schemas.openxmlformats.org/drawingml/2006/main">
            <a:r>
              <a:t>            },</a:t>
            </a:r>
          </a:p>
          <a:p xmlns:a="http://schemas.openxmlformats.org/drawingml/2006/main">
            <a:r>
              <a:t>            {</a:t>
            </a:r>
          </a:p>
          <a:p xmlns:a="http://schemas.openxmlformats.org/drawingml/2006/main">
            <a:r>
              <a:t>              "id": "RULEWORK-1019600-1-R02",</a:t>
            </a:r>
          </a:p>
          <a:p xmlns:a="http://schemas.openxmlformats.org/drawingml/2006/main">
            <a:r>
              <a:t>              "title": "업무건·역할·시스템 연결",</a:t>
            </a:r>
          </a:p>
          <a:p xmlns:a="http://schemas.openxmlformats.org/drawingml/2006/main">
            <a:r>
              <a:t>              "development": "모델·정책·지식 판본별 운영·복구 연계",</a:t>
            </a:r>
          </a:p>
          <a:p xmlns:a="http://schemas.openxmlformats.org/drawingml/2006/main">
            <a:r>
              <a:t>              "output": "업무건·원천·역할·변경 연결 명세",</a:t>
            </a:r>
          </a:p>
          <a:p xmlns:a="http://schemas.openxmlformats.org/drawingml/2006/main">
            <a:r>
              <a:t>              "testId": "RULEWORK-1019600-1-T02",</a:t>
            </a:r>
          </a:p>
          <a:p xmlns:a="http://schemas.openxmlformats.org/drawingml/2006/main">
            <a:r>
              <a:t>              "criterion": "배포 판본 변경·롤백·필수 거부 시험"</a:t>
            </a:r>
          </a:p>
          <a:p xmlns:a="http://schemas.openxmlformats.org/drawingml/2006/main">
            <a:r>
              <a:t>            },</a:t>
            </a:r>
          </a:p>
          <a:p xmlns:a="http://schemas.openxmlformats.org/drawingml/2006/main">
            <a:r>
              <a:t>            {</a:t>
            </a:r>
          </a:p>
          <a:p xmlns:a="http://schemas.openxmlformats.org/drawingml/2006/main">
            <a:r>
              <a:t>              "id": "RULEWORK-1019600-1-R03",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"RULEWORK-1019600-1-T03",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"RULEWORK-1019600-3",</a:t>
            </a:r>
          </a:p>
          <a:p xmlns:a="http://schemas.openxmlformats.org/drawingml/2006/main">
            <a:r>
              <a:t>          "text": "3. 인공지능(AI) 데이터 표준화 및 데이터 스페이스 구축",</a:t>
            </a:r>
          </a:p>
          <a:p xmlns:a="http://schemas.openxmlformats.org/drawingml/2006/main">
            <a:r>
              <a:t>          "locator": "별표4 · T37 · 3행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"RULEWORK-1019600-3-R01",</a:t>
            </a:r>
          </a:p>
          <a:p xmlns:a="http://schemas.openxmlformats.org/drawingml/2006/main">
            <a:r>
              <a:t>              "title": "업무 맥락·전용 지식 구성",</a:t>
            </a:r>
          </a:p>
          <a:p xmlns:a="http://schemas.openxmlformats.org/drawingml/2006/main">
            <a:r>
              <a:t>              "development": "공식 키·별칭·승계 관계 매핑",</a:t>
            </a:r>
          </a:p>
          <a:p xmlns:a="http://schemas.openxmlformats.org/drawingml/2006/main">
            <a:r>
              <a:t>              "output": "조직·직무·역할·유효기간표",</a:t>
            </a:r>
          </a:p>
          <a:p xmlns:a="http://schemas.openxmlformats.org/drawingml/2006/main">
            <a:r>
              <a:t>              "testId": "RULEWORK-1019600-3-T01",</a:t>
            </a:r>
          </a:p>
          <a:p xmlns:a="http://schemas.openxmlformats.org/drawingml/2006/main">
            <a:r>
              <a:t>              "criterion": "동명이인·효력일 전후·겸직·종료 정답셋 대조"</a:t>
            </a:r>
          </a:p>
          <a:p xmlns:a="http://schemas.openxmlformats.org/drawingml/2006/main">
            <a:r>
              <a:t>            },</a:t>
            </a:r>
          </a:p>
          <a:p xmlns:a="http://schemas.openxmlformats.org/drawingml/2006/main">
            <a:r>
              <a:t>            {</a:t>
            </a:r>
          </a:p>
          <a:p xmlns:a="http://schemas.openxmlformats.org/drawingml/2006/main">
            <a:r>
              <a:t>              "id": "RULEWORK-1019600-3-R02",</a:t>
            </a:r>
          </a:p>
          <a:p xmlns:a="http://schemas.openxmlformats.org/drawingml/2006/main">
            <a:r>
              <a:t>              "title": "업무건·역할·시스템 연결",</a:t>
            </a:r>
          </a:p>
          <a:p xmlns:a="http://schemas.openxmlformats.org/drawingml/2006/main">
            <a:r>
              <a:t>              "development": "이동·겸직·종료에 따른 권한·캐시 재검증",</a:t>
            </a:r>
          </a:p>
          <a:p xmlns:a="http://schemas.openxmlformats.org/drawingml/2006/main">
            <a:r>
              <a:t>              "output": "업무건·원천·역할·변경 연결 명세",</a:t>
            </a:r>
          </a:p>
          <a:p xmlns:a="http://schemas.openxmlformats.org/drawingml/2006/main">
            <a:r>
              <a:t>              "testId": "RULEWORK-1019600-3-T02",</a:t>
            </a:r>
          </a:p>
          <a:p xmlns:a="http://schemas.openxmlformats.org/drawingml/2006/main">
            <a:r>
              <a:t>              "criterion": "종료된 소속·권한의 재사용 차단"</a:t>
            </a:r>
          </a:p>
          <a:p xmlns:a="http://schemas.openxmlformats.org/drawingml/2006/main">
            <a:r>
              <a:t>            },</a:t>
            </a:r>
          </a:p>
          <a:p xmlns:a="http://schemas.openxmlformats.org/drawingml/2006/main">
            <a:r>
              <a:t>            {</a:t>
            </a:r>
          </a:p>
          <a:p xmlns:a="http://schemas.openxmlformats.org/drawingml/2006/main">
            <a:r>
              <a:t>              "id": "RULEWORK-1019600-3-R03",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"RULEWORK-1019600-3-T03",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"code": "1019700",</a:t>
            </a:r>
          </a:p>
          <a:p xmlns:a="http://schemas.openxmlformats.org/drawingml/2006/main">
            <a:r>
              <a:t>      "name": "AI서비스개발팀",</a:t>
            </a:r>
          </a:p>
          <a:p xmlns:a="http://schemas.openxmlformats.org/drawingml/2006/main">
            <a:r>
              <a:t>      "job": "공통플랫폼·모델 품질",</a:t>
            </a:r>
          </a:p>
          <a:p xmlns:a="http://schemas.openxmlformats.org/drawingml/2006/main">
            <a:r>
              <a:t>      "indices":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"duties": [</a:t>
            </a:r>
          </a:p>
          <a:p xmlns:a="http://schemas.openxmlformats.org/drawingml/2006/main">
            <a:r>
              <a:t>        "1. 인공지능(AI) 공통플랫폼 구축․운영 인공지능(AI) 모델 고도화․품질관리",</a:t>
            </a:r>
          </a:p>
          <a:p xmlns:a="http://schemas.openxmlformats.org/drawingml/2006/main">
            <a:r>
              <a:t>        "2. 인공지능(AI) 시범 서비스(PoC) 추진"</a:t>
            </a:r>
          </a:p>
          <a:p xmlns:a="http://schemas.openxmlformats.org/drawingml/2006/main">
            <a:r>
              <a:t>      ],</a:t>
            </a:r>
          </a:p>
          <a:p xmlns:a="http://schemas.openxmlformats.org/drawingml/2006/main">
            <a:r>
              <a:t>      "locator": "별표4 · T37 · 4행 · 업무분장 열",</a:t>
            </a:r>
          </a:p>
          <a:p xmlns:a="http://schemas.openxmlformats.org/drawingml/2006/main">
            <a:r>
              <a:t>      "restriction": "부칙 제1·2조: 팀장 최초 인사발령일부터 시행 · 발령일 미확인 · 시행 전 AI혁신처 관련 업무·정원 담당",</a:t>
            </a:r>
          </a:p>
          <a:p xmlns:a="http://schemas.openxmlformats.org/drawingml/2006/main">
            <a:r>
              <a:t>      "status": "제공 세칙 원문 연결",</a:t>
            </a:r>
          </a:p>
          <a:p xmlns:a="http://schemas.openxmlformats.org/drawingml/2006/main">
            <a:r>
              <a:t>      "workItems": [</a:t>
            </a:r>
          </a:p>
          <a:p xmlns:a="http://schemas.openxmlformats.org/drawingml/2006/main">
            <a:r>
              <a:t>        {</a:t>
            </a:r>
          </a:p>
          <a:p xmlns:a="http://schemas.openxmlformats.org/drawingml/2006/main">
            <a:r>
              <a:t>          "id": "RULEWORK-1019700-1",</a:t>
            </a:r>
          </a:p>
          <a:p xmlns:a="http://schemas.openxmlformats.org/drawingml/2006/main">
            <a:r>
              <a:t>          "text": "1. 인공지능(AI) 공통플랫폼 구축․운영 인공지능(AI) 모델 고도화․품질관리",</a:t>
            </a:r>
          </a:p>
          <a:p xmlns:a="http://schemas.openxmlformats.org/drawingml/2006/main">
            <a:r>
              <a:t>          "locator": "별표4 · T37 · 4행 · 업무분장 열",</a:t>
            </a:r>
          </a:p>
          <a:p xmlns:a="http://schemas.openxmlformats.org/drawingml/2006/main">
            <a:r>
              <a:t>          "restriction": "부칙 제1·2조: 팀장 최초 인사발령일부터 시행 · 발령일 미확인 · 시행 전 AI혁신처 관련 업무·정원 담당",</a:t>
            </a:r>
          </a:p>
          <a:p xmlns:a="http://schemas.openxmlformats.org/drawingml/2006/main">
            <a:r>
              <a:t>          "requirements": [</a:t>
            </a:r>
          </a:p>
          <a:p xmlns:a="http://schemas.openxmlformats.org/drawingml/2006/main">
            <a:r>
              <a:t>            {</a:t>
            </a:r>
          </a:p>
          <a:p xmlns:a="http://schemas.openxmlformats.org/drawingml/2006/main">
            <a:r>
              <a:t>              "id": "RULEWORK-1019700-1-R01",</a:t>
            </a:r>
          </a:p>
          <a:p xmlns:a="http://schemas.openxmlformats.org/drawingml/2006/main">
            <a:r>
              <a:t>              "title": "업무 맥락·전용 지식 구성",</a:t>
            </a:r>
          </a:p>
          <a:p xmlns:a="http://schemas.openxmlformats.org/drawingml/2006/main">
            <a:r>
              <a:t>              "development": "직무·업무건 기반 검색·응답 구성",</a:t>
            </a:r>
          </a:p>
          <a:p xmlns:a="http://schemas.openxmlformats.org/drawingml/2006/main">
            <a:r>
              <a:t>              "output": "부서별 구성·평가·배포 명세",</a:t>
            </a:r>
          </a:p>
          <a:p xmlns:a="http://schemas.openxmlformats.org/drawingml/2006/main">
            <a:r>
              <a:t>              "testId": "RULEWORK-1019700-1-T01",</a:t>
            </a:r>
          </a:p>
          <a:p xmlns:a="http://schemas.openxmlformats.org/drawingml/2006/main">
            <a:r>
              <a:t>              "criterion": "동일 요청의 부서·역할별 결과·근거 대조"</a:t>
            </a:r>
          </a:p>
          <a:p xmlns:a="http://schemas.openxmlformats.org/drawingml/2006/main">
            <a:r>
              <a:t>            },</a:t>
            </a:r>
          </a:p>
          <a:p xmlns:a="http://schemas.openxmlformats.org/drawingml/2006/main">
            <a:r>
              <a:t>            {</a:t>
            </a:r>
          </a:p>
          <a:p xmlns:a="http://schemas.openxmlformats.org/drawingml/2006/main">
            <a:r>
              <a:t>              "id": "RULEWORK-1019700-1-R02",</a:t>
            </a:r>
          </a:p>
          <a:p xmlns:a="http://schemas.openxmlformats.org/drawingml/2006/main">
            <a:r>
              <a:t>              "title": "업무건·역할·시스템 연결",</a:t>
            </a:r>
          </a:p>
          <a:p xmlns:a="http://schemas.openxmlformats.org/drawingml/2006/main">
            <a:r>
              <a:t>              "development": "모델·정책·지식 판본별 운영·복구 연계",</a:t>
            </a:r>
          </a:p>
          <a:p xmlns:a="http://schemas.openxmlformats.org/drawingml/2006/main">
            <a:r>
              <a:t>              "output": "업무건·원천·역할·변경 연결 명세",</a:t>
            </a:r>
          </a:p>
          <a:p xmlns:a="http://schemas.openxmlformats.org/drawingml/2006/main">
            <a:r>
              <a:t>              "testId": "RULEWORK-1019700-1-T02",</a:t>
            </a:r>
          </a:p>
          <a:p xmlns:a="http://schemas.openxmlformats.org/drawingml/2006/main">
            <a:r>
              <a:t>              "criterion": "배포 판본 변경·롤백·필수 거부 시험"</a:t>
            </a:r>
          </a:p>
          <a:p xmlns:a="http://schemas.openxmlformats.org/drawingml/2006/main">
            <a:r>
              <a:t>            },</a:t>
            </a:r>
          </a:p>
          <a:p xmlns:a="http://schemas.openxmlformats.org/drawingml/2006/main">
            <a:r>
              <a:t>            {</a:t>
            </a:r>
          </a:p>
          <a:p xmlns:a="http://schemas.openxmlformats.org/drawingml/2006/main">
            <a:r>
              <a:t>              "id": "RULEWORK-1019700-1-R03",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"RULEWORK-1019700-1-T03",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"RULEWORK-1019700-2",</a:t>
            </a:r>
          </a:p>
          <a:p xmlns:a="http://schemas.openxmlformats.org/drawingml/2006/main">
            <a:r>
              <a:t>          "text": "2. 인공지능(AI) 시범 서비스(PoC) 추진",</a:t>
            </a:r>
          </a:p>
          <a:p xmlns:a="http://schemas.openxmlformats.org/drawingml/2006/main">
            <a:r>
              <a:t>          "locator": "별표4 · T37 · 4행 · 업무분장 열",</a:t>
            </a:r>
          </a:p>
          <a:p xmlns:a="http://schemas.openxmlformats.org/drawingml/2006/main">
            <a:r>
              <a:t>          "restriction": "부칙 제1·2조: 팀장 최초 인사발령일부터 시행 · 발령일 미확인 · 시행 전 AI혁신처 관련 업무·정원 담당",</a:t>
            </a:r>
          </a:p>
          <a:p xmlns:a="http://schemas.openxmlformats.org/drawingml/2006/main">
            <a:r>
              <a:t>          "requirements": [</a:t>
            </a:r>
          </a:p>
          <a:p xmlns:a="http://schemas.openxmlformats.org/drawingml/2006/main">
            <a:r>
              <a:t>            {</a:t>
            </a:r>
          </a:p>
          <a:p xmlns:a="http://schemas.openxmlformats.org/drawingml/2006/main">
            <a:r>
              <a:t>              "id": "RULEWORK-1019700-2-R01",</a:t>
            </a:r>
          </a:p>
          <a:p xmlns:a="http://schemas.openxmlformats.org/drawingml/2006/main">
            <a:r>
              <a:t>              "title": "업무 맥락·전용 지식 구성",</a:t>
            </a:r>
          </a:p>
          <a:p xmlns:a="http://schemas.openxmlformats.org/drawingml/2006/main">
            <a:r>
              <a:t>              "development": "직무·업무건 기반 검색·응답 구성",</a:t>
            </a:r>
          </a:p>
          <a:p xmlns:a="http://schemas.openxmlformats.org/drawingml/2006/main">
            <a:r>
              <a:t>              "output": "부서별 구성·평가·배포 명세",</a:t>
            </a:r>
          </a:p>
          <a:p xmlns:a="http://schemas.openxmlformats.org/drawingml/2006/main">
            <a:r>
              <a:t>              "testId": "RULEWORK-1019700-2-T01",</a:t>
            </a:r>
          </a:p>
          <a:p xmlns:a="http://schemas.openxmlformats.org/drawingml/2006/main">
            <a:r>
              <a:t>              "criterion": "동일 요청의 부서·역할별 결과·근거 대조"</a:t>
            </a:r>
          </a:p>
          <a:p xmlns:a="http://schemas.openxmlformats.org/drawingml/2006/main">
            <a:r>
              <a:t>            },</a:t>
            </a:r>
          </a:p>
          <a:p xmlns:a="http://schemas.openxmlformats.org/drawingml/2006/main">
            <a:r>
              <a:t>            {</a:t>
            </a:r>
          </a:p>
          <a:p xmlns:a="http://schemas.openxmlformats.org/drawingml/2006/main">
            <a:r>
              <a:t>              "id": "RULEWORK-1019700-2-R02",</a:t>
            </a:r>
          </a:p>
          <a:p xmlns:a="http://schemas.openxmlformats.org/drawingml/2006/main">
            <a:r>
              <a:t>              "title": "업무건·역할·시스템 연결",</a:t>
            </a:r>
          </a:p>
          <a:p xmlns:a="http://schemas.openxmlformats.org/drawingml/2006/main">
            <a:r>
              <a:t>              "development": "모델·정책·지식 판본별 운영·복구 연계",</a:t>
            </a:r>
          </a:p>
          <a:p xmlns:a="http://schemas.openxmlformats.org/drawingml/2006/main">
            <a:r>
              <a:t>              "output": "업무건·원천·역할·변경 연결 명세",</a:t>
            </a:r>
          </a:p>
          <a:p xmlns:a="http://schemas.openxmlformats.org/drawingml/2006/main">
            <a:r>
              <a:t>              "testId": "RULEWORK-1019700-2-T02",</a:t>
            </a:r>
          </a:p>
          <a:p xmlns:a="http://schemas.openxmlformats.org/drawingml/2006/main">
            <a:r>
              <a:t>              "criterion": "배포 판본 변경·롤백·필수 거부 시험"</a:t>
            </a:r>
          </a:p>
          <a:p xmlns:a="http://schemas.openxmlformats.org/drawingml/2006/main">
            <a:r>
              <a:t>            },</a:t>
            </a:r>
          </a:p>
          <a:p xmlns:a="http://schemas.openxmlformats.org/drawingml/2006/main">
            <a:r>
              <a:t>            {</a:t>
            </a:r>
          </a:p>
          <a:p xmlns:a="http://schemas.openxmlformats.org/drawingml/2006/main">
            <a:r>
              <a:t>              "id": "RULEWORK-1019700-2-R03",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"RULEWORK-1019700-2-T03",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"code": "1016050",</a:t>
            </a:r>
          </a:p>
          <a:p xmlns:a="http://schemas.openxmlformats.org/drawingml/2006/main">
            <a:r>
              <a:t>      "name": "예산처",</a:t>
            </a:r>
          </a:p>
          <a:p xmlns:a="http://schemas.openxmlformats.org/drawingml/2006/main">
            <a:r>
              <a:t>      "job": "조직·분장·전결 관리",</a:t>
            </a:r>
          </a:p>
          <a:p xmlns:a="http://schemas.openxmlformats.org/drawingml/2006/main">
            <a:r>
              <a:t>      "indices": [</a:t>
            </a:r>
          </a:p>
          <a:p xmlns:a="http://schemas.openxmlformats.org/drawingml/2006/main">
            <a:r>
              <a:t>        7,</a:t>
            </a:r>
          </a:p>
          <a:p xmlns:a="http://schemas.openxmlformats.org/drawingml/2006/main">
            <a:r>
              <a:t>        10,</a:t>
            </a:r>
          </a:p>
          <a:p xmlns:a="http://schemas.openxmlformats.org/drawingml/2006/main">
            <a:r>
              <a:t>        11</a:t>
            </a:r>
          </a:p>
          <a:p xmlns:a="http://schemas.openxmlformats.org/drawingml/2006/main">
            <a:r>
              <a:t>      ],</a:t>
            </a:r>
          </a:p>
          <a:p xmlns:a="http://schemas.openxmlformats.org/drawingml/2006/main">
            <a:r>
              <a:t>      "duties": [</a:t>
            </a:r>
          </a:p>
          <a:p xmlns:a="http://schemas.openxmlformats.org/drawingml/2006/main">
            <a:r>
              <a:t>        "8. 조직 및 정원관리 총괄",</a:t>
            </a:r>
          </a:p>
          <a:p xmlns:a="http://schemas.openxmlformats.org/drawingml/2006/main">
            <a:r>
              <a:t>        "9. 위임전결에 관한 사항",</a:t>
            </a:r>
          </a:p>
          <a:p xmlns:a="http://schemas.openxmlformats.org/drawingml/2006/main">
            <a:r>
              <a:t>        "10. 업무분장 조정‧관리"</a:t>
            </a:r>
          </a:p>
          <a:p xmlns:a="http://schemas.openxmlformats.org/drawingml/2006/main">
            <a:r>
              <a:t>      ],</a:t>
            </a:r>
          </a:p>
          <a:p xmlns:a="http://schemas.openxmlformats.org/drawingml/2006/main">
            <a:r>
              <a:t>      "locator": "별표4 · T36 · 4행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"workItems": [</a:t>
            </a:r>
          </a:p>
          <a:p xmlns:a="http://schemas.openxmlformats.org/drawingml/2006/main">
            <a:r>
              <a:t>        {</a:t>
            </a:r>
          </a:p>
          <a:p xmlns:a="http://schemas.openxmlformats.org/drawingml/2006/main">
            <a:r>
              <a:t>          "id": "RULEWORK-1016050-8",</a:t>
            </a:r>
          </a:p>
          <a:p xmlns:a="http://schemas.openxmlformats.org/drawingml/2006/main">
            <a:r>
              <a:t>          "text": "8. 조직 및 정원관리 총괄",</a:t>
            </a:r>
          </a:p>
          <a:p xmlns:a="http://schemas.openxmlformats.org/drawingml/2006/main">
            <a:r>
              <a:t>          "locator": "별표4 · T36 · 4행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"RULEWORK-1016050-8-R01",</a:t>
            </a:r>
          </a:p>
          <a:p xmlns:a="http://schemas.openxmlformats.org/drawingml/2006/main">
            <a:r>
              <a:t>              "title": "업무 맥락·전용 지식 구성",</a:t>
            </a:r>
          </a:p>
          <a:p xmlns:a="http://schemas.openxmlformats.org/drawingml/2006/main">
            <a:r>
              <a:t>              "development": "공식 키·별칭·승계 관계 매핑",</a:t>
            </a:r>
          </a:p>
          <a:p xmlns:a="http://schemas.openxmlformats.org/drawingml/2006/main">
            <a:r>
              <a:t>              "output": "조직·직무·역할·유효기간표",</a:t>
            </a:r>
          </a:p>
          <a:p xmlns:a="http://schemas.openxmlformats.org/drawingml/2006/main">
            <a:r>
              <a:t>              "testId": "RULEWORK-1016050-8-T01",</a:t>
            </a:r>
          </a:p>
          <a:p xmlns:a="http://schemas.openxmlformats.org/drawingml/2006/main">
            <a:r>
              <a:t>              "criterion": "동명이인·효력일 전후·겸직·종료 정답셋 대조"</a:t>
            </a:r>
          </a:p>
          <a:p xmlns:a="http://schemas.openxmlformats.org/drawingml/2006/main">
            <a:r>
              <a:t>            },</a:t>
            </a:r>
          </a:p>
          <a:p xmlns:a="http://schemas.openxmlformats.org/drawingml/2006/main">
            <a:r>
              <a:t>            {</a:t>
            </a:r>
          </a:p>
          <a:p xmlns:a="http://schemas.openxmlformats.org/drawingml/2006/main">
            <a:r>
              <a:t>              "id": "RULEWORK-1016050-8-R02",</a:t>
            </a:r>
          </a:p>
          <a:p xmlns:a="http://schemas.openxmlformats.org/drawingml/2006/main">
            <a:r>
              <a:t>              "title": "업무건·역할·시스템 연결",</a:t>
            </a:r>
          </a:p>
          <a:p xmlns:a="http://schemas.openxmlformats.org/drawingml/2006/main">
            <a:r>
              <a:t>              "development": "이동·겸직·종료에 따른 권한·캐시 재검증",</a:t>
            </a:r>
          </a:p>
          <a:p xmlns:a="http://schemas.openxmlformats.org/drawingml/2006/main">
            <a:r>
              <a:t>              "output": "업무건·원천·역할·변경 연결 명세",</a:t>
            </a:r>
          </a:p>
          <a:p xmlns:a="http://schemas.openxmlformats.org/drawingml/2006/main">
            <a:r>
              <a:t>              "testId": "RULEWORK-1016050-8-T02",</a:t>
            </a:r>
          </a:p>
          <a:p xmlns:a="http://schemas.openxmlformats.org/drawingml/2006/main">
            <a:r>
              <a:t>              "criterion": "종료된 소속·권한의 재사용 차단"</a:t>
            </a:r>
          </a:p>
          <a:p xmlns:a="http://schemas.openxmlformats.org/drawingml/2006/main">
            <a:r>
              <a:t>            },</a:t>
            </a:r>
          </a:p>
          <a:p xmlns:a="http://schemas.openxmlformats.org/drawingml/2006/main">
            <a:r>
              <a:t>            {</a:t>
            </a:r>
          </a:p>
          <a:p xmlns:a="http://schemas.openxmlformats.org/drawingml/2006/main">
            <a:r>
              <a:t>              "id": "RULEWORK-1016050-8-R03",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"RULEWORK-1016050-8-T03",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"RULEWORK-1016050-11",</a:t>
            </a:r>
          </a:p>
          <a:p xmlns:a="http://schemas.openxmlformats.org/drawingml/2006/main">
            <a:r>
              <a:t>          "text": "9. 위임전결에 관한 사항",</a:t>
            </a:r>
          </a:p>
          <a:p xmlns:a="http://schemas.openxmlformats.org/drawingml/2006/main">
            <a:r>
              <a:t>          "locator": "별표4 · T36 · 4행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"RULEWORK-1016050-11-R01",</a:t>
            </a:r>
          </a:p>
          <a:p xmlns:a="http://schemas.openxmlformats.org/drawingml/2006/main">
            <a:r>
              <a:t>              "title": "업무 맥락·전용 지식 구성",</a:t>
            </a:r>
          </a:p>
          <a:p xmlns:a="http://schemas.openxmlformats.org/drawingml/2006/main">
            <a:r>
              <a:t>              "development": "공식 키·별칭·승계 관계 매핑",</a:t>
            </a:r>
          </a:p>
          <a:p xmlns:a="http://schemas.openxmlformats.org/drawingml/2006/main">
            <a:r>
              <a:t>              "output": "조직·직무·역할·유효기간표",</a:t>
            </a:r>
          </a:p>
          <a:p xmlns:a="http://schemas.openxmlformats.org/drawingml/2006/main">
            <a:r>
              <a:t>              "testId": "RULEWORK-1016050-11-T01",</a:t>
            </a:r>
          </a:p>
          <a:p xmlns:a="http://schemas.openxmlformats.org/drawingml/2006/main">
            <a:r>
              <a:t>              "criterion": "동명이인·효력일 전후·겸직·종료 정답셋 대조"</a:t>
            </a:r>
          </a:p>
          <a:p xmlns:a="http://schemas.openxmlformats.org/drawingml/2006/main">
            <a:r>
              <a:t>            },</a:t>
            </a:r>
          </a:p>
          <a:p xmlns:a="http://schemas.openxmlformats.org/drawingml/2006/main">
            <a:r>
              <a:t>            {</a:t>
            </a:r>
          </a:p>
          <a:p xmlns:a="http://schemas.openxmlformats.org/drawingml/2006/main">
            <a:r>
              <a:t>              "id": "RULEWORK-1016050-11-R02",</a:t>
            </a:r>
          </a:p>
          <a:p xmlns:a="http://schemas.openxmlformats.org/drawingml/2006/main">
            <a:r>
              <a:t>              "title": "업무건·역할·시스템 연결",</a:t>
            </a:r>
          </a:p>
          <a:p xmlns:a="http://schemas.openxmlformats.org/drawingml/2006/main">
            <a:r>
              <a:t>              "development": "이동·겸직·종료에 따른 권한·캐시 재검증",</a:t>
            </a:r>
          </a:p>
          <a:p xmlns:a="http://schemas.openxmlformats.org/drawingml/2006/main">
            <a:r>
              <a:t>              "output": "업무건·원천·역할·변경 연결 명세",</a:t>
            </a:r>
          </a:p>
          <a:p xmlns:a="http://schemas.openxmlformats.org/drawingml/2006/main">
            <a:r>
              <a:t>              "testId": "RULEWORK-1016050-11-T02",</a:t>
            </a:r>
          </a:p>
          <a:p xmlns:a="http://schemas.openxmlformats.org/drawingml/2006/main">
            <a:r>
              <a:t>              "criterion": "종료된 소속·권한의 재사용 차단"</a:t>
            </a:r>
          </a:p>
          <a:p xmlns:a="http://schemas.openxmlformats.org/drawingml/2006/main">
            <a:r>
              <a:t>            },</a:t>
            </a:r>
          </a:p>
          <a:p xmlns:a="http://schemas.openxmlformats.org/drawingml/2006/main">
            <a:r>
              <a:t>            {</a:t>
            </a:r>
          </a:p>
          <a:p xmlns:a="http://schemas.openxmlformats.org/drawingml/2006/main">
            <a:r>
              <a:t>              "id": "RULEWORK-1016050-11-R03",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"RULEWORK-1016050-11-T03",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"RULEWORK-1016050-12",</a:t>
            </a:r>
          </a:p>
          <a:p xmlns:a="http://schemas.openxmlformats.org/drawingml/2006/main">
            <a:r>
              <a:t>          "text": "10. 업무분장 조정‧관리",</a:t>
            </a:r>
          </a:p>
          <a:p xmlns:a="http://schemas.openxmlformats.org/drawingml/2006/main">
            <a:r>
              <a:t>          "locator": "별표4 · T36 · 4행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"RULEWORK-1016050-12-R01",</a:t>
            </a:r>
          </a:p>
          <a:p xmlns:a="http://schemas.openxmlformats.org/drawingml/2006/main">
            <a:r>
              <a:t>              "title": "업무 맥락·전용 지식 구성",</a:t>
            </a:r>
          </a:p>
          <a:p xmlns:a="http://schemas.openxmlformats.org/drawingml/2006/main">
            <a:r>
              <a:t>              "development": "공식 키·별칭·승계 관계 매핑",</a:t>
            </a:r>
          </a:p>
          <a:p xmlns:a="http://schemas.openxmlformats.org/drawingml/2006/main">
            <a:r>
              <a:t>              "output": "조직·직무·역할·유효기간표",</a:t>
            </a:r>
          </a:p>
          <a:p xmlns:a="http://schemas.openxmlformats.org/drawingml/2006/main">
            <a:r>
              <a:t>              "testId": "RULEWORK-1016050-12-T01",</a:t>
            </a:r>
          </a:p>
          <a:p xmlns:a="http://schemas.openxmlformats.org/drawingml/2006/main">
            <a:r>
              <a:t>              "criterion": "동명이인·효력일 전후·겸직·종료 정답셋 대조"</a:t>
            </a:r>
          </a:p>
          <a:p xmlns:a="http://schemas.openxmlformats.org/drawingml/2006/main">
            <a:r>
              <a:t>            },</a:t>
            </a:r>
          </a:p>
          <a:p xmlns:a="http://schemas.openxmlformats.org/drawingml/2006/main">
            <a:r>
              <a:t>            {</a:t>
            </a:r>
          </a:p>
          <a:p xmlns:a="http://schemas.openxmlformats.org/drawingml/2006/main">
            <a:r>
              <a:t>              "id": "RULEWORK-1016050-12-R02",</a:t>
            </a:r>
          </a:p>
          <a:p xmlns:a="http://schemas.openxmlformats.org/drawingml/2006/main">
            <a:r>
              <a:t>              "title": "업무건·역할·시스템 연결",</a:t>
            </a:r>
          </a:p>
          <a:p xmlns:a="http://schemas.openxmlformats.org/drawingml/2006/main">
            <a:r>
              <a:t>              "development": "이동·겸직·종료에 따른 권한·캐시 재검증",</a:t>
            </a:r>
          </a:p>
          <a:p xmlns:a="http://schemas.openxmlformats.org/drawingml/2006/main">
            <a:r>
              <a:t>              "output": "업무건·원천·역할·변경 연결 명세",</a:t>
            </a:r>
          </a:p>
          <a:p xmlns:a="http://schemas.openxmlformats.org/drawingml/2006/main">
            <a:r>
              <a:t>              "testId": "RULEWORK-1016050-12-T02",</a:t>
            </a:r>
          </a:p>
          <a:p xmlns:a="http://schemas.openxmlformats.org/drawingml/2006/main">
            <a:r>
              <a:t>              "criterion": "종료된 소속·권한의 재사용 차단"</a:t>
            </a:r>
          </a:p>
          <a:p xmlns:a="http://schemas.openxmlformats.org/drawingml/2006/main">
            <a:r>
              <a:t>            },</a:t>
            </a:r>
          </a:p>
          <a:p xmlns:a="http://schemas.openxmlformats.org/drawingml/2006/main">
            <a:r>
              <a:t>            {</a:t>
            </a:r>
          </a:p>
          <a:p xmlns:a="http://schemas.openxmlformats.org/drawingml/2006/main">
            <a:r>
              <a:t>              "id": "RULEWORK-1016050-12-R03",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"RULEWORK-1016050-12-T03",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"code": "1018037",</a:t>
            </a:r>
          </a:p>
          <a:p xmlns:a="http://schemas.openxmlformats.org/drawingml/2006/main">
            <a:r>
              <a:t>      "name": "인재개발처",</a:t>
            </a:r>
          </a:p>
          <a:p xmlns:a="http://schemas.openxmlformats.org/drawingml/2006/main">
            <a:r>
              <a:t>      "job": "발령·인사정보 관리",</a:t>
            </a:r>
          </a:p>
          <a:p xmlns:a="http://schemas.openxmlformats.org/drawingml/2006/main">
            <a:r>
              <a:t>      "indices": [</a:t>
            </a:r>
          </a:p>
          <a:p xmlns:a="http://schemas.openxmlformats.org/drawingml/2006/main">
            <a:r>
              <a:t>        2,</a:t>
            </a:r>
          </a:p>
          <a:p xmlns:a="http://schemas.openxmlformats.org/drawingml/2006/main">
            <a:r>
              <a:t>        5</a:t>
            </a:r>
          </a:p>
          <a:p xmlns:a="http://schemas.openxmlformats.org/drawingml/2006/main">
            <a:r>
              <a:t>      ],</a:t>
            </a:r>
          </a:p>
          <a:p xmlns:a="http://schemas.openxmlformats.org/drawingml/2006/main">
            <a:r>
              <a:t>      "duties": [</a:t>
            </a:r>
          </a:p>
          <a:p xmlns:a="http://schemas.openxmlformats.org/drawingml/2006/main">
            <a:r>
              <a:t>        "3. 직원의 채용, 승진, 전보 등 임용 및 보직에 관한 업무",</a:t>
            </a:r>
          </a:p>
          <a:p xmlns:a="http://schemas.openxmlformats.org/drawingml/2006/main">
            <a:r>
              <a:t>        "6. 인사통계자료․인사정보 관리 및 인사 관련 제증명 발급"</a:t>
            </a:r>
          </a:p>
          <a:p xmlns:a="http://schemas.openxmlformats.org/drawingml/2006/main">
            <a:r>
              <a:t>      ],</a:t>
            </a:r>
          </a:p>
          <a:p xmlns:a="http://schemas.openxmlformats.org/drawingml/2006/main">
            <a:r>
              <a:t>      "locator": "별표4 · T38 · 3행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"workItems": [</a:t>
            </a:r>
          </a:p>
          <a:p xmlns:a="http://schemas.openxmlformats.org/drawingml/2006/main">
            <a:r>
              <a:t>        {</a:t>
            </a:r>
          </a:p>
          <a:p xmlns:a="http://schemas.openxmlformats.org/drawingml/2006/main">
            <a:r>
              <a:t>          "id": "RULEWORK-1018037-3",</a:t>
            </a:r>
          </a:p>
          <a:p xmlns:a="http://schemas.openxmlformats.org/drawingml/2006/main">
            <a:r>
              <a:t>          "text": "3. 직원의 채용, 승진, 전보 등 임용 및 보직에 관한 업무",</a:t>
            </a:r>
          </a:p>
          <a:p xmlns:a="http://schemas.openxmlformats.org/drawingml/2006/main">
            <a:r>
              <a:t>          "locator": "별표4 · T38 · 3행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"RULEWORK-1018037-3-R01",</a:t>
            </a:r>
          </a:p>
          <a:p xmlns:a="http://schemas.openxmlformats.org/drawingml/2006/main">
            <a:r>
              <a:t>              "title": "업무 맥락·전용 지식 구성",</a:t>
            </a:r>
          </a:p>
          <a:p xmlns:a="http://schemas.openxmlformats.org/drawingml/2006/main">
            <a:r>
              <a:t>              "development": "공식 키·별칭·승계 관계 매핑",</a:t>
            </a:r>
          </a:p>
          <a:p xmlns:a="http://schemas.openxmlformats.org/drawingml/2006/main">
            <a:r>
              <a:t>              "output": "조직·직무·역할·유효기간표",</a:t>
            </a:r>
          </a:p>
          <a:p xmlns:a="http://schemas.openxmlformats.org/drawingml/2006/main">
            <a:r>
              <a:t>              "testId": "RULEWORK-1018037-3-T01",</a:t>
            </a:r>
          </a:p>
          <a:p xmlns:a="http://schemas.openxmlformats.org/drawingml/2006/main">
            <a:r>
              <a:t>              "criterion": "동명이인·효력일 전후·겸직·종료 정답셋 대조"</a:t>
            </a:r>
          </a:p>
          <a:p xmlns:a="http://schemas.openxmlformats.org/drawingml/2006/main">
            <a:r>
              <a:t>            },</a:t>
            </a:r>
          </a:p>
          <a:p xmlns:a="http://schemas.openxmlformats.org/drawingml/2006/main">
            <a:r>
              <a:t>            {</a:t>
            </a:r>
          </a:p>
          <a:p xmlns:a="http://schemas.openxmlformats.org/drawingml/2006/main">
            <a:r>
              <a:t>              "id": "RULEWORK-1018037-3-R02",</a:t>
            </a:r>
          </a:p>
          <a:p xmlns:a="http://schemas.openxmlformats.org/drawingml/2006/main">
            <a:r>
              <a:t>              "title": "업무건·역할·시스템 연결",</a:t>
            </a:r>
          </a:p>
          <a:p xmlns:a="http://schemas.openxmlformats.org/drawingml/2006/main">
            <a:r>
              <a:t>              "development": "이동·겸직·종료에 따른 권한·캐시 재검증",</a:t>
            </a:r>
          </a:p>
          <a:p xmlns:a="http://schemas.openxmlformats.org/drawingml/2006/main">
            <a:r>
              <a:t>              "output": "업무건·원천·역할·변경 연결 명세",</a:t>
            </a:r>
          </a:p>
          <a:p xmlns:a="http://schemas.openxmlformats.org/drawingml/2006/main">
            <a:r>
              <a:t>              "testId": "RULEWORK-1018037-3-T02",</a:t>
            </a:r>
          </a:p>
          <a:p xmlns:a="http://schemas.openxmlformats.org/drawingml/2006/main">
            <a:r>
              <a:t>              "criterion": "종료된 소속·권한의 재사용 차단"</a:t>
            </a:r>
          </a:p>
          <a:p xmlns:a="http://schemas.openxmlformats.org/drawingml/2006/main">
            <a:r>
              <a:t>            },</a:t>
            </a:r>
          </a:p>
          <a:p xmlns:a="http://schemas.openxmlformats.org/drawingml/2006/main">
            <a:r>
              <a:t>            {</a:t>
            </a:r>
          </a:p>
          <a:p xmlns:a="http://schemas.openxmlformats.org/drawingml/2006/main">
            <a:r>
              <a:t>              "id": "RULEWORK-1018037-3-R03",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"RULEWORK-1018037-3-T03",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"RULEWORK-1018037-6",</a:t>
            </a:r>
          </a:p>
          <a:p xmlns:a="http://schemas.openxmlformats.org/drawingml/2006/main">
            <a:r>
              <a:t>          "text": "6. 인사통계자료․인사정보 관리 및 인사 관련 제증명 발급",</a:t>
            </a:r>
          </a:p>
          <a:p xmlns:a="http://schemas.openxmlformats.org/drawingml/2006/main">
            <a:r>
              <a:t>          "locator": "별표4 · T38 · 3행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"RULEWORK-1018037-6-R01",</a:t>
            </a:r>
          </a:p>
          <a:p xmlns:a="http://schemas.openxmlformats.org/drawingml/2006/main">
            <a:r>
              <a:t>              "title": "업무 맥락·전용 지식 구성",</a:t>
            </a:r>
          </a:p>
          <a:p xmlns:a="http://schemas.openxmlformats.org/drawingml/2006/main">
            <a:r>
              <a:t>              "development": "공식 키·별칭·승계 관계 매핑",</a:t>
            </a:r>
          </a:p>
          <a:p xmlns:a="http://schemas.openxmlformats.org/drawingml/2006/main">
            <a:r>
              <a:t>              "output": "조직·직무·역할·유효기간표",</a:t>
            </a:r>
          </a:p>
          <a:p xmlns:a="http://schemas.openxmlformats.org/drawingml/2006/main">
            <a:r>
              <a:t>              "testId": "RULEWORK-1018037-6-T01",</a:t>
            </a:r>
          </a:p>
          <a:p xmlns:a="http://schemas.openxmlformats.org/drawingml/2006/main">
            <a:r>
              <a:t>              "criterion": "동명이인·효력일 전후·겸직·종료 정답셋 대조"</a:t>
            </a:r>
          </a:p>
          <a:p xmlns:a="http://schemas.openxmlformats.org/drawingml/2006/main">
            <a:r>
              <a:t>            },</a:t>
            </a:r>
          </a:p>
          <a:p xmlns:a="http://schemas.openxmlformats.org/drawingml/2006/main">
            <a:r>
              <a:t>            {</a:t>
            </a:r>
          </a:p>
          <a:p xmlns:a="http://schemas.openxmlformats.org/drawingml/2006/main">
            <a:r>
              <a:t>              "id": "RULEWORK-1018037-6-R02",</a:t>
            </a:r>
          </a:p>
          <a:p xmlns:a="http://schemas.openxmlformats.org/drawingml/2006/main">
            <a:r>
              <a:t>              "title": "업무건·역할·시스템 연결",</a:t>
            </a:r>
          </a:p>
          <a:p xmlns:a="http://schemas.openxmlformats.org/drawingml/2006/main">
            <a:r>
              <a:t>              "development": "이동·겸직·종료에 따른 권한·캐시 재검증",</a:t>
            </a:r>
          </a:p>
          <a:p xmlns:a="http://schemas.openxmlformats.org/drawingml/2006/main">
            <a:r>
              <a:t>              "output": "업무건·원천·역할·변경 연결 명세",</a:t>
            </a:r>
          </a:p>
          <a:p xmlns:a="http://schemas.openxmlformats.org/drawingml/2006/main">
            <a:r>
              <a:t>              "testId": "RULEWORK-1018037-6-T02",</a:t>
            </a:r>
          </a:p>
          <a:p xmlns:a="http://schemas.openxmlformats.org/drawingml/2006/main">
            <a:r>
              <a:t>              "criterion": "종료된 소속·권한의 재사용 차단"</a:t>
            </a:r>
          </a:p>
          <a:p xmlns:a="http://schemas.openxmlformats.org/drawingml/2006/main">
            <a:r>
              <a:t>            },</a:t>
            </a:r>
          </a:p>
          <a:p xmlns:a="http://schemas.openxmlformats.org/drawingml/2006/main">
            <a:r>
              <a:t>            {</a:t>
            </a:r>
          </a:p>
          <a:p xmlns:a="http://schemas.openxmlformats.org/drawingml/2006/main">
            <a:r>
              <a:t>              "id": "RULEWORK-1018037-6-R03",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"RULEWORK-1018037-6-T03",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"code": "1019300",</a:t>
            </a:r>
          </a:p>
          <a:p xmlns:a="http://schemas.openxmlformats.org/drawingml/2006/main">
            <a:r>
              <a:t>      "name": "디지털기획처",</a:t>
            </a:r>
          </a:p>
          <a:p xmlns:a="http://schemas.openxmlformats.org/drawingml/2006/main">
            <a:r>
              <a:t>      "job": "정보화·데이터 품질",</a:t>
            </a:r>
          </a:p>
          <a:p xmlns:a="http://schemas.openxmlformats.org/drawingml/2006/main">
            <a:r>
              <a:t>      "indices": [</a:t>
            </a:r>
          </a:p>
          <a:p xmlns:a="http://schemas.openxmlformats.org/drawingml/2006/main">
            <a:r>
              <a:t>        12,</a:t>
            </a:r>
          </a:p>
          <a:p xmlns:a="http://schemas.openxmlformats.org/drawingml/2006/main">
            <a:r>
              <a:t>        19</a:t>
            </a:r>
          </a:p>
          <a:p xmlns:a="http://schemas.openxmlformats.org/drawingml/2006/main">
            <a:r>
              <a:t>      ],</a:t>
            </a:r>
          </a:p>
          <a:p xmlns:a="http://schemas.openxmlformats.org/drawingml/2006/main">
            <a:r>
              <a:t>      "duties": [</a:t>
            </a:r>
          </a:p>
          <a:p xmlns:a="http://schemas.openxmlformats.org/drawingml/2006/main">
            <a:r>
              <a:t>        "13. 정보화사업 사전검토(과업지시서 등) 및 시스템 구축 지원(기술분야)",</a:t>
            </a:r>
          </a:p>
          <a:p xmlns:a="http://schemas.openxmlformats.org/drawingml/2006/main">
            <a:r>
              <a:t>        "20. 데이터 품질관리"</a:t>
            </a:r>
          </a:p>
          <a:p xmlns:a="http://schemas.openxmlformats.org/drawingml/2006/main">
            <a:r>
              <a:t>      ],</a:t>
            </a:r>
          </a:p>
          <a:p xmlns:a="http://schemas.openxmlformats.org/drawingml/2006/main">
            <a:r>
              <a:t>      "locator": "별표4 · T37 · 2행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"workItems": [</a:t>
            </a:r>
          </a:p>
          <a:p xmlns:a="http://schemas.openxmlformats.org/drawingml/2006/main">
            <a:r>
              <a:t>        {</a:t>
            </a:r>
          </a:p>
          <a:p xmlns:a="http://schemas.openxmlformats.org/drawingml/2006/main">
            <a:r>
              <a:t>          "id": "RULEWORK-1019300-13",</a:t>
            </a:r>
          </a:p>
          <a:p xmlns:a="http://schemas.openxmlformats.org/drawingml/2006/main">
            <a:r>
              <a:t>          "text": "13. 정보화사업 사전검토(과업지시서 등) 및 시스템 구축 지원(기술분야)",</a:t>
            </a:r>
          </a:p>
          <a:p xmlns:a="http://schemas.openxmlformats.org/drawingml/2006/main">
            <a:r>
              <a:t>          "locator": "별표4 · T37 · 2행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"RULEWORK-1019300-13-R01",</a:t>
            </a:r>
          </a:p>
          <a:p xmlns:a="http://schemas.openxmlformats.org/drawingml/2006/main">
            <a:r>
              <a:t>              "title": "업무 맥락·전용 지식 구성",</a:t>
            </a:r>
          </a:p>
          <a:p xmlns:a="http://schemas.openxmlformats.org/drawingml/2006/main">
            <a:r>
              <a:t>              "development": "용어·필드·판본·품질 규칙 대응",</a:t>
            </a:r>
          </a:p>
          <a:p xmlns:a="http://schemas.openxmlformats.org/drawingml/2006/main">
            <a:r>
              <a:t>              "output": "품질 점검표·제공 명세·변경 이력",</a:t>
            </a:r>
          </a:p>
          <a:p xmlns:a="http://schemas.openxmlformats.org/drawingml/2006/main">
            <a:r>
              <a:t>              "testId": "RULEWORK-1019300-13-T01",</a:t>
            </a:r>
          </a:p>
          <a:p xmlns:a="http://schemas.openxmlformats.org/drawingml/2006/main">
            <a:r>
              <a:t>              "criterion": "누락·중복·단위·기간·정의의 원천 대조"</a:t>
            </a:r>
          </a:p>
          <a:p xmlns:a="http://schemas.openxmlformats.org/drawingml/2006/main">
            <a:r>
              <a:t>            },</a:t>
            </a:r>
          </a:p>
          <a:p xmlns:a="http://schemas.openxmlformats.org/drawingml/2006/main">
            <a:r>
              <a:t>            {</a:t>
            </a:r>
          </a:p>
          <a:p xmlns:a="http://schemas.openxmlformats.org/drawingml/2006/main">
            <a:r>
              <a:t>              "id": "RULEWORK-1019300-13-R02",</a:t>
            </a:r>
          </a:p>
          <a:p xmlns:a="http://schemas.openxmlformats.org/drawingml/2006/main">
            <a:r>
              <a:t>              "title": "업무건·역할·시스템 연결",</a:t>
            </a:r>
          </a:p>
          <a:p xmlns:a="http://schemas.openxmlformats.org/drawingml/2006/main">
            <a:r>
              <a:t>              "development": "소유부서 승인·제공 이력·접근정책 연계",</a:t>
            </a:r>
          </a:p>
          <a:p xmlns:a="http://schemas.openxmlformats.org/drawingml/2006/main">
            <a:r>
              <a:t>              "output": "업무건·원천·역할·변경 연결 명세",</a:t>
            </a:r>
          </a:p>
          <a:p xmlns:a="http://schemas.openxmlformats.org/drawingml/2006/main">
            <a:r>
              <a:t>              "testId": "RULEWORK-1019300-13-T02",</a:t>
            </a:r>
          </a:p>
          <a:p xmlns:a="http://schemas.openxmlformats.org/drawingml/2006/main">
            <a:r>
              <a:t>              "criterion": "공개 제한 필드·만료된 제공 승인 차단"</a:t>
            </a:r>
          </a:p>
          <a:p xmlns:a="http://schemas.openxmlformats.org/drawingml/2006/main">
            <a:r>
              <a:t>            },</a:t>
            </a:r>
          </a:p>
          <a:p xmlns:a="http://schemas.openxmlformats.org/drawingml/2006/main">
            <a:r>
              <a:t>            {</a:t>
            </a:r>
          </a:p>
          <a:p xmlns:a="http://schemas.openxmlformats.org/drawingml/2006/main">
            <a:r>
              <a:t>              "id": "RULEWORK-1019300-13-R03",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"RULEWORK-1019300-13-T03",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"RULEWORK-1019300-20",</a:t>
            </a:r>
          </a:p>
          <a:p xmlns:a="http://schemas.openxmlformats.org/drawingml/2006/main">
            <a:r>
              <a:t>          "text": "20. 데이터 품질관리",</a:t>
            </a:r>
          </a:p>
          <a:p xmlns:a="http://schemas.openxmlformats.org/drawingml/2006/main">
            <a:r>
              <a:t>          "locator": "별표4 · T37 · 2행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"RULEWORK-1019300-20-R01",</a:t>
            </a:r>
          </a:p>
          <a:p xmlns:a="http://schemas.openxmlformats.org/drawingml/2006/main">
            <a:r>
              <a:t>              "title": "업무 맥락·전용 지식 구성",</a:t>
            </a:r>
          </a:p>
          <a:p xmlns:a="http://schemas.openxmlformats.org/drawingml/2006/main">
            <a:r>
              <a:t>              "development": "시스템·변경·업무건 관계 추적",</a:t>
            </a:r>
          </a:p>
          <a:p xmlns:a="http://schemas.openxmlformats.org/drawingml/2006/main">
            <a:r>
              <a:t>              "output": "영향분석·조치·복구·대사 기록",</a:t>
            </a:r>
          </a:p>
          <a:p xmlns:a="http://schemas.openxmlformats.org/drawingml/2006/main">
            <a:r>
              <a:t>              "testId": "RULEWORK-1019300-20-T01",</a:t>
            </a:r>
          </a:p>
          <a:p xmlns:a="http://schemas.openxmlformats.org/drawingml/2006/main">
            <a:r>
              <a:t>              "criterion": "중복·누락·순서 역전·장애 사례의 결과 대조"</a:t>
            </a:r>
          </a:p>
          <a:p xmlns:a="http://schemas.openxmlformats.org/drawingml/2006/main">
            <a:r>
              <a:t>            },</a:t>
            </a:r>
          </a:p>
          <a:p xmlns:a="http://schemas.openxmlformats.org/drawingml/2006/main">
            <a:r>
              <a:t>            {</a:t>
            </a:r>
          </a:p>
          <a:p xmlns:a="http://schemas.openxmlformats.org/drawingml/2006/main">
            <a:r>
              <a:t>              "id": "RULEWORK-1019300-20-R02",</a:t>
            </a:r>
          </a:p>
          <a:p xmlns:a="http://schemas.openxmlformats.org/drawingml/2006/main">
            <a:r>
              <a:t>              "title": "업무건·역할·시스템 연결",</a:t>
            </a:r>
          </a:p>
          <a:p xmlns:a="http://schemas.openxmlformats.org/drawingml/2006/main">
            <a:r>
              <a:t>              "development": "멱등 요청·오류 재처리·승인된 연계 어댑터",</a:t>
            </a:r>
          </a:p>
          <a:p xmlns:a="http://schemas.openxmlformats.org/drawingml/2006/main">
            <a:r>
              <a:t>              "output": "업무건·원천·역할·변경 연결 명세",</a:t>
            </a:r>
          </a:p>
          <a:p xmlns:a="http://schemas.openxmlformats.org/drawingml/2006/main">
            <a:r>
              <a:t>              "testId": "RULEWORK-1019300-20-T02",</a:t>
            </a:r>
          </a:p>
          <a:p xmlns:a="http://schemas.openxmlformats.org/drawingml/2006/main">
            <a:r>
              <a:t>              "criterion": "무승인 변경·중복 실행 차단 및 복구 검증"</a:t>
            </a:r>
          </a:p>
          <a:p xmlns:a="http://schemas.openxmlformats.org/drawingml/2006/main">
            <a:r>
              <a:t>            },</a:t>
            </a:r>
          </a:p>
          <a:p xmlns:a="http://schemas.openxmlformats.org/drawingml/2006/main">
            <a:r>
              <a:t>            {</a:t>
            </a:r>
          </a:p>
          <a:p xmlns:a="http://schemas.openxmlformats.org/drawingml/2006/main">
            <a:r>
              <a:t>              "id": "RULEWORK-1019300-20-R03",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"RULEWORK-1019300-20-T03",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"code": "1019500",</a:t>
            </a:r>
          </a:p>
          <a:p xmlns:a="http://schemas.openxmlformats.org/drawingml/2006/main">
            <a:r>
              <a:t>      "name": "정보보안처",</a:t>
            </a:r>
          </a:p>
          <a:p xmlns:a="http://schemas.openxmlformats.org/drawingml/2006/main">
            <a:r>
              <a:t>      "job": "보안·개인정보 관리",</a:t>
            </a:r>
          </a:p>
          <a:p xmlns:a="http://schemas.openxmlformats.org/drawingml/2006/main">
            <a:r>
              <a:t>      "indices": [</a:t>
            </a:r>
          </a:p>
          <a:p xmlns:a="http://schemas.openxmlformats.org/drawingml/2006/main">
            <a:r>
              <a:t>        0,</a:t>
            </a:r>
          </a:p>
          <a:p xmlns:a="http://schemas.openxmlformats.org/drawingml/2006/main">
            <a:r>
              <a:t>        9</a:t>
            </a:r>
          </a:p>
          <a:p xmlns:a="http://schemas.openxmlformats.org/drawingml/2006/main">
            <a:r>
              <a:t>      ],</a:t>
            </a:r>
          </a:p>
          <a:p xmlns:a="http://schemas.openxmlformats.org/drawingml/2006/main">
            <a:r>
              <a:t>      "duties": [</a:t>
            </a:r>
          </a:p>
          <a:p xmlns:a="http://schemas.openxmlformats.org/drawingml/2006/main">
            <a:r>
              <a:t>        "1. 정보보안 업무총괄 관리",</a:t>
            </a:r>
          </a:p>
          <a:p xmlns:a="http://schemas.openxmlformats.org/drawingml/2006/main">
            <a:r>
              <a:t>        "10. 개인정보보호 업무총괄 관리"</a:t>
            </a:r>
          </a:p>
          <a:p xmlns:a="http://schemas.openxmlformats.org/drawingml/2006/main">
            <a:r>
              <a:t>      ],</a:t>
            </a:r>
          </a:p>
          <a:p xmlns:a="http://schemas.openxmlformats.org/drawingml/2006/main">
            <a:r>
              <a:t>      "locator": "별표4 · T37 · 5행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"workItems": [</a:t>
            </a:r>
          </a:p>
          <a:p xmlns:a="http://schemas.openxmlformats.org/drawingml/2006/main">
            <a:r>
              <a:t>        {</a:t>
            </a:r>
          </a:p>
          <a:p xmlns:a="http://schemas.openxmlformats.org/drawingml/2006/main">
            <a:r>
              <a:t>          "id": "RULEWORK-1019500-1",</a:t>
            </a:r>
          </a:p>
          <a:p xmlns:a="http://schemas.openxmlformats.org/drawingml/2006/main">
            <a:r>
              <a:t>          "text": "1. 정보보안 업무총괄 관리",</a:t>
            </a:r>
          </a:p>
          <a:p xmlns:a="http://schemas.openxmlformats.org/drawingml/2006/main">
            <a:r>
              <a:t>          "locator": "별표4 · T37 · 5행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"RULEWORK-1019500-1-R01",</a:t>
            </a:r>
          </a:p>
          <a:p xmlns:a="http://schemas.openxmlformats.org/drawingml/2006/main">
            <a:r>
              <a:t>              "title": "업무 맥락·전용 지식 구성",</a:t>
            </a:r>
          </a:p>
          <a:p xmlns:a="http://schemas.openxmlformats.org/drawingml/2006/main">
            <a:r>
              <a:t>              "development": "문서·필드·행위별 제한 분류",</a:t>
            </a:r>
          </a:p>
          <a:p xmlns:a="http://schemas.openxmlformats.org/drawingml/2006/main">
            <a:r>
              <a:t>              "output": "통제항목·허용·거부·보완 대장",</a:t>
            </a:r>
          </a:p>
          <a:p xmlns:a="http://schemas.openxmlformats.org/drawingml/2006/main">
            <a:r>
              <a:t>              "testId": "RULEWORK-1019500-1-T01",</a:t>
            </a:r>
          </a:p>
          <a:p xmlns:a="http://schemas.openxmlformats.org/drawingml/2006/main">
            <a:r>
              <a:t>              "criterion": "민감 필드 누락·과잉 마스킹·근거 위치 대조"</a:t>
            </a:r>
          </a:p>
          <a:p xmlns:a="http://schemas.openxmlformats.org/drawingml/2006/main">
            <a:r>
              <a:t>            },</a:t>
            </a:r>
          </a:p>
          <a:p xmlns:a="http://schemas.openxmlformats.org/drawingml/2006/main">
            <a:r>
              <a:t>            {</a:t>
            </a:r>
          </a:p>
          <a:p xmlns:a="http://schemas.openxmlformats.org/drawingml/2006/main">
            <a:r>
              <a:t>              "id": "RULEWORK-1019500-1-R02",</a:t>
            </a:r>
          </a:p>
          <a:p xmlns:a="http://schemas.openxmlformats.org/drawingml/2006/main">
            <a:r>
              <a:t>              "title": "업무건·역할·시스템 연결",</a:t>
            </a:r>
          </a:p>
          <a:p xmlns:a="http://schemas.openxmlformats.org/drawingml/2006/main">
            <a:r>
              <a:t>              "development": "검색·생성·반출·대기 작업의 정책 재검증",</a:t>
            </a:r>
          </a:p>
          <a:p xmlns:a="http://schemas.openxmlformats.org/drawingml/2006/main">
            <a:r>
              <a:t>              "output": "업무건·원천·역할·변경 연결 명세",</a:t>
            </a:r>
          </a:p>
          <a:p xmlns:a="http://schemas.openxmlformats.org/drawingml/2006/main">
            <a:r>
              <a:t>              "testId": "RULEWORK-1019500-1-T02",</a:t>
            </a:r>
          </a:p>
          <a:p xmlns:a="http://schemas.openxmlformats.org/drawingml/2006/main">
            <a:r>
              <a:t>              "criterion": "비인가 노출·실행 0건 및 회수 후 재접근 차단"</a:t>
            </a:r>
          </a:p>
          <a:p xmlns:a="http://schemas.openxmlformats.org/drawingml/2006/main">
            <a:r>
              <a:t>            },</a:t>
            </a:r>
          </a:p>
          <a:p xmlns:a="http://schemas.openxmlformats.org/drawingml/2006/main">
            <a:r>
              <a:t>            {</a:t>
            </a:r>
          </a:p>
          <a:p xmlns:a="http://schemas.openxmlformats.org/drawingml/2006/main">
            <a:r>
              <a:t>              "id": "RULEWORK-1019500-1-R03",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"RULEWORK-1019500-1-T03",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"RULEWORK-1019500-10",</a:t>
            </a:r>
          </a:p>
          <a:p xmlns:a="http://schemas.openxmlformats.org/drawingml/2006/main">
            <a:r>
              <a:t>          "text": "10. 개인정보보호 업무총괄 관리",</a:t>
            </a:r>
          </a:p>
          <a:p xmlns:a="http://schemas.openxmlformats.org/drawingml/2006/main">
            <a:r>
              <a:t>          "locator": "별표4 · T37 · 5행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"RULEWORK-1019500-10-R01",</a:t>
            </a:r>
          </a:p>
          <a:p xmlns:a="http://schemas.openxmlformats.org/drawingml/2006/main">
            <a:r>
              <a:t>              "title": "업무 맥락·전용 지식 구성",</a:t>
            </a:r>
          </a:p>
          <a:p xmlns:a="http://schemas.openxmlformats.org/drawingml/2006/main">
            <a:r>
              <a:t>              "development": "문서·필드·행위별 제한 분류",</a:t>
            </a:r>
          </a:p>
          <a:p xmlns:a="http://schemas.openxmlformats.org/drawingml/2006/main">
            <a:r>
              <a:t>              "output": "통제항목·허용·거부·보완 대장",</a:t>
            </a:r>
          </a:p>
          <a:p xmlns:a="http://schemas.openxmlformats.org/drawingml/2006/main">
            <a:r>
              <a:t>              "testId": "RULEWORK-1019500-10-T01",</a:t>
            </a:r>
          </a:p>
          <a:p xmlns:a="http://schemas.openxmlformats.org/drawingml/2006/main">
            <a:r>
              <a:t>              "criterion": "민감 필드 누락·과잉 마스킹·근거 위치 대조"</a:t>
            </a:r>
          </a:p>
          <a:p xmlns:a="http://schemas.openxmlformats.org/drawingml/2006/main">
            <a:r>
              <a:t>            },</a:t>
            </a:r>
          </a:p>
          <a:p xmlns:a="http://schemas.openxmlformats.org/drawingml/2006/main">
            <a:r>
              <a:t>            {</a:t>
            </a:r>
          </a:p>
          <a:p xmlns:a="http://schemas.openxmlformats.org/drawingml/2006/main">
            <a:r>
              <a:t>              "id": "RULEWORK-1019500-10-R02",</a:t>
            </a:r>
          </a:p>
          <a:p xmlns:a="http://schemas.openxmlformats.org/drawingml/2006/main">
            <a:r>
              <a:t>              "title": "업무건·역할·시스템 연결",</a:t>
            </a:r>
          </a:p>
          <a:p xmlns:a="http://schemas.openxmlformats.org/drawingml/2006/main">
            <a:r>
              <a:t>              "development": "검색·생성·반출·대기 작업의 정책 재검증",</a:t>
            </a:r>
          </a:p>
          <a:p xmlns:a="http://schemas.openxmlformats.org/drawingml/2006/main">
            <a:r>
              <a:t>              "output": "업무건·원천·역할·변경 연결 명세",</a:t>
            </a:r>
          </a:p>
          <a:p xmlns:a="http://schemas.openxmlformats.org/drawingml/2006/main">
            <a:r>
              <a:t>              "testId": "RULEWORK-1019500-10-T02",</a:t>
            </a:r>
          </a:p>
          <a:p xmlns:a="http://schemas.openxmlformats.org/drawingml/2006/main">
            <a:r>
              <a:t>              "criterion": "비인가 노출·실행 0건 및 회수 후 재접근 차단"</a:t>
            </a:r>
          </a:p>
          <a:p xmlns:a="http://schemas.openxmlformats.org/drawingml/2006/main">
            <a:r>
              <a:t>            },</a:t>
            </a:r>
          </a:p>
          <a:p xmlns:a="http://schemas.openxmlformats.org/drawingml/2006/main">
            <a:r>
              <a:t>            {</a:t>
            </a:r>
          </a:p>
          <a:p xmlns:a="http://schemas.openxmlformats.org/drawingml/2006/main">
            <a:r>
              <a:t>              "id": "RULEWORK-1019500-10-R03",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"RULEWORK-1019500-10-T03",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"reuseItems": [</a:t>
            </a:r>
          </a:p>
          <a:p xmlns:a="http://schemas.openxmlformats.org/drawingml/2006/main">
            <a:r>
              <a:t>    {</a:t>
            </a:r>
          </a:p>
          <a:p xmlns:a="http://schemas.openxmlformats.org/drawingml/2006/main">
            <a:r>
              <a:t>      "assetId": "CCK-01",</a:t>
            </a:r>
          </a:p>
          <a:p xmlns:a="http://schemas.openxmlformats.org/drawingml/2006/main">
            <a:r>
              <a:t>      "use": "NOA의 대화·검색·서식·스킬"</a:t>
            </a:r>
          </a:p>
          <a:p xmlns:a="http://schemas.openxmlformats.org/drawingml/2006/main">
            <a:r>
              <a:t>    },</a:t>
            </a:r>
          </a:p>
          <a:p xmlns:a="http://schemas.openxmlformats.org/drawingml/2006/main">
            <a:r>
              <a:t>    {</a:t>
            </a:r>
          </a:p>
          <a:p xmlns:a="http://schemas.openxmlformats.org/drawingml/2006/main">
            <a:r>
              <a:t>      "assetId": "CCK-03",</a:t>
            </a:r>
          </a:p>
          <a:p xmlns:a="http://schemas.openxmlformats.org/drawingml/2006/main">
            <a:r>
              <a:t>      "use": "Connor 명세의 실행·로그 경계"</a:t>
            </a:r>
          </a:p>
          <a:p xmlns:a="http://schemas.openxmlformats.org/drawingml/2006/main">
            <a:r>
              <a:t>    }</a:t>
            </a:r>
          </a:p>
          <a:p xmlns:a="http://schemas.openxmlformats.org/drawingml/2006/main">
            <a:r>
              <a:t>  ],</a:t>
            </a:r>
          </a:p>
          <a:p xmlns:a="http://schemas.openxmlformats.org/drawingml/2006/main">
            <a:r>
              <a:t>  "deliverables": [</a:t>
            </a:r>
          </a:p>
          <a:p xmlns:a="http://schemas.openxmlformats.org/drawingml/2006/main">
            <a:r>
              <a:t>    "사람–조직–직무–업무 관계·효력일 모델",</a:t>
            </a:r>
          </a:p>
          <a:p xmlns:a="http://schemas.openxmlformats.org/drawingml/2006/main">
            <a:r>
              <a:t>    "업무 분류기·검색 전 정책 집행 연결"</a:t>
            </a:r>
          </a:p>
          <a:p xmlns:a="http://schemas.openxmlformats.org/drawingml/2006/main">
            <a:r>
              <a:t>  ],</a:t>
            </a:r>
          </a:p>
          <a:p xmlns:a="http://schemas.openxmlformats.org/drawingml/2006/main">
            <a:r>
              <a:t>  "acceptancePlan": {</a:t>
            </a:r>
          </a:p>
          <a:p xmlns:a="http://schemas.openxmlformats.org/drawingml/2006/main">
            <a:r>
              <a:t>    "sample": "동명이인·겸직·전보·회수 전후 동일 요청",</a:t>
            </a:r>
          </a:p>
          <a:p xmlns:a="http://schemas.openxmlformats.org/drawingml/2006/main">
            <a:r>
              <a:t>    "criterion": "정답 조직·업무·서식 일치, 모호한 식별 보류, 비인가 노출·실행 0건 기준안",</a:t>
            </a:r>
          </a:p>
          <a:p xmlns:a="http://schemas.openxmlformats.org/drawingml/2006/main">
            <a:r>
              <a:t>    "evidence": "신원 매핑 정답셋·교차권한 결과·변경 전파·복구 기록",</a:t>
            </a:r>
          </a:p>
          <a:p xmlns:a="http://schemas.openxmlformats.org/drawingml/2006/main">
            <a:r>
              <a:t>    "execution": "미실행"</a:t>
            </a:r>
          </a:p>
          <a:p xmlns:a="http://schemas.openxmlformats.org/drawingml/2006/main">
            <a:r>
              <a:t>  },</a:t>
            </a:r>
          </a:p>
          <a:p xmlns:a="http://schemas.openxmlformats.org/drawingml/2006/main">
            <a:r>
              <a:t>  "formula": "직무·업무 분류 정답 건수 ÷ 평가 건수 / 변경 전파 지연 / 비인가 노출 건수",</a:t>
            </a:r>
          </a:p>
          <a:p xmlns:a="http://schemas.openxmlformats.org/drawingml/2006/main">
            <a:r>
              <a:t>  "comparison": "동일 난도·동일 기간의 기존 방식 대비 평가 / 검토·재작업 포함 / 목표·표본 수의 착수 단계 합의",</a:t>
            </a:r>
          </a:p>
          <a:p xmlns:a="http://schemas.openxmlformats.org/drawingml/2006/main">
            <a:r>
              <a:t>  "platformCases": [</a:t>
            </a:r>
          </a:p>
          <a:p xmlns:a="http://schemas.openxmlformats.org/drawingml/2006/main">
            <a:r>
              <a:t>    "PF-R03",</a:t>
            </a:r>
          </a:p>
          <a:p xmlns:a="http://schemas.openxmlformats.org/drawingml/2006/main">
            <a:r>
              <a:t>    "PF-R04",</a:t>
            </a:r>
          </a:p>
          <a:p xmlns:a="http://schemas.openxmlformats.org/drawingml/2006/main">
            <a:r>
              <a:t>    "PF-R09",</a:t>
            </a:r>
          </a:p>
          <a:p xmlns:a="http://schemas.openxmlformats.org/drawingml/2006/main">
            <a:r>
              <a:t>    "PF01",</a:t>
            </a:r>
          </a:p>
          <a:p xmlns:a="http://schemas.openxmlformats.org/drawingml/2006/main">
            <a:r>
              <a:t>    "PF-A03",</a:t>
            </a:r>
          </a:p>
          <a:p xmlns:a="http://schemas.openxmlformats.org/drawingml/2006/main">
            <a:r>
              <a:t>    "PF04",</a:t>
            </a:r>
          </a:p>
          <a:p xmlns:a="http://schemas.openxmlformats.org/drawingml/2006/main">
            <a:r>
              <a:t>    "PF-A06",</a:t>
            </a:r>
          </a:p>
          <a:p xmlns:a="http://schemas.openxmlformats.org/drawingml/2006/main">
            <a:r>
              <a:t>    "PF05",</a:t>
            </a:r>
          </a:p>
          <a:p xmlns:a="http://schemas.openxmlformats.org/drawingml/2006/main">
            <a:r>
              <a:t>    "PF-A08",</a:t>
            </a:r>
          </a:p>
          <a:p xmlns:a="http://schemas.openxmlformats.org/drawingml/2006/main">
            <a:r>
              <a:t>    "PF06",</a:t>
            </a:r>
          </a:p>
          <a:p xmlns:a="http://schemas.openxmlformats.org/drawingml/2006/main">
            <a:r>
              <a:t>    "PF-A16",</a:t>
            </a:r>
          </a:p>
          <a:p xmlns:a="http://schemas.openxmlformats.org/drawingml/2006/main">
            <a:r>
              <a:t>    "PF-A18",</a:t>
            </a:r>
          </a:p>
          <a:p xmlns:a="http://schemas.openxmlformats.org/drawingml/2006/main">
            <a:r>
              <a:t>    "PF-C01",</a:t>
            </a:r>
          </a:p>
          <a:p xmlns:a="http://schemas.openxmlformats.org/drawingml/2006/main">
            <a:r>
              <a:t>    "PF-C02",</a:t>
            </a:r>
          </a:p>
          <a:p xmlns:a="http://schemas.openxmlformats.org/drawingml/2006/main">
            <a:r>
              <a:t>    "PF31"</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"id": "ST-04",</a:t>
            </a:r>
          </a:p>
          <a:p xmlns:a="http://schemas.openxmlformats.org/drawingml/2006/main">
            <a:r>
              <a:t>  "number": 4,</a:t>
            </a:r>
          </a:p>
          <a:p xmlns:a="http://schemas.openxmlformats.org/drawingml/2006/main">
            <a:r>
              <a:t>  "direction": "지능형 미래 모빌리티 혁신",</a:t>
            </a:r>
          </a:p>
          <a:p xmlns:a="http://schemas.openxmlformats.org/drawingml/2006/main">
            <a:r>
              <a:t>  "strategy": "교통안전체계 인공지능 대전환",</a:t>
            </a:r>
          </a:p>
          <a:p xmlns:a="http://schemas.openxmlformats.org/drawingml/2006/main">
            <a:r>
              <a:t>  "solution": "TS 조직 네이티브 AI 공통플랫폼",</a:t>
            </a:r>
          </a:p>
          <a:p xmlns:a="http://schemas.openxmlformats.org/drawingml/2006/main">
            <a:r>
              <a:t>  "lawIds": [],</a:t>
            </a:r>
          </a:p>
          <a:p xmlns:a="http://schemas.openxmlformats.org/drawingml/2006/main">
            <a:r>
              <a:t>  "codes": [</a:t>
            </a:r>
          </a:p>
          <a:p xmlns:a="http://schemas.openxmlformats.org/drawingml/2006/main">
            <a:r>
              <a:t>    "1010100",</a:t>
            </a:r>
          </a:p>
          <a:p xmlns:a="http://schemas.openxmlformats.org/drawingml/2006/main">
            <a:r>
              <a:t>    "1019600",</a:t>
            </a:r>
          </a:p>
          <a:p xmlns:a="http://schemas.openxmlformats.org/drawingml/2006/main">
            <a:r>
              <a:t>    "1019700",</a:t>
            </a:r>
          </a:p>
          <a:p xmlns:a="http://schemas.openxmlformats.org/drawingml/2006/main">
            <a:r>
              <a:t>    "1016050",</a:t>
            </a:r>
          </a:p>
          <a:p xmlns:a="http://schemas.openxmlformats.org/drawingml/2006/main">
            <a:r>
              <a:t>    "1018037",</a:t>
            </a:r>
          </a:p>
          <a:p xmlns:a="http://schemas.openxmlformats.org/drawingml/2006/main">
            <a:r>
              <a:t>    "1019300",</a:t>
            </a:r>
          </a:p>
          <a:p xmlns:a="http://schemas.openxmlformats.org/drawingml/2006/main">
            <a:r>
              <a:t>    "1019500"</a:t>
            </a:r>
          </a:p>
          <a:p xmlns:a="http://schemas.openxmlformats.org/drawingml/2006/main">
            <a:r>
              <a:t>  ],</a:t>
            </a:r>
          </a:p>
          <a:p xmlns:a="http://schemas.openxmlformats.org/drawingml/2006/main">
            <a:r>
              <a:t>  "work": "공식 조직·직무·역할 기반의 사용자 인식 및 업무 맥락 분류",</a:t>
            </a:r>
          </a:p>
          <a:p xmlns:a="http://schemas.openxmlformats.org/drawingml/2006/main">
            <a:r>
              <a:t>  "features": [</a:t>
            </a:r>
          </a:p>
          <a:p xmlns:a="http://schemas.openxmlformats.org/drawingml/2006/main">
            <a:r>
              <a:t>    "로그인 ID·조직·담당업무·효력일 매핑",</a:t>
            </a:r>
          </a:p>
          <a:p xmlns:a="http://schemas.openxmlformats.org/drawingml/2006/main">
            <a:r>
              <a:t>    "업무별 지식·절차·서식 선택과 접근정책 집행"</a:t>
            </a:r>
          </a:p>
          <a:p xmlns:a="http://schemas.openxmlformats.org/drawingml/2006/main">
            <a:r>
              <a:t>  ],</a:t>
            </a:r>
          </a:p>
          <a:p xmlns:a="http://schemas.openxmlformats.org/drawingml/2006/main">
            <a:r>
              <a:t>  "output": "조직·업무 사전·정책표·기관 인수본",</a:t>
            </a:r>
          </a:p>
          <a:p xmlns:a="http://schemas.openxmlformats.org/drawingml/2006/main">
            <a:r>
              <a:t>  "acceptance": "GAI-R01~R12와 GAI-T01~T12의 독립 인수 기준 적용",</a:t>
            </a:r>
          </a:p>
          <a:p xmlns:a="http://schemas.openxmlformats.org/drawingml/2006/main">
            <a:r>
              <a:t>  "phase": "1차 공통 기반",</a:t>
            </a:r>
          </a:p>
          <a:p xmlns:a="http://schemas.openxmlformats.org/drawingml/2006/main">
            <a:r>
              <a:t>  "packages": [</a:t>
            </a:r>
          </a:p>
          <a:p xmlns:a="http://schemas.openxmlformats.org/drawingml/2006/main">
            <a:r>
              <a:t>    "ON-W01",</a:t>
            </a:r>
          </a:p>
          <a:p xmlns:a="http://schemas.openxmlformats.org/drawingml/2006/main">
            <a:r>
              <a:t>    "ON-W02",</a:t>
            </a:r>
          </a:p>
          <a:p xmlns:a="http://schemas.openxmlformats.org/drawingml/2006/main">
            <a:r>
              <a:t>    "ON-W03",</a:t>
            </a:r>
          </a:p>
          <a:p xmlns:a="http://schemas.openxmlformats.org/drawingml/2006/main">
            <a:r>
              <a:t>    "ON-W04",</a:t>
            </a:r>
          </a:p>
          <a:p xmlns:a="http://schemas.openxmlformats.org/drawingml/2006/main">
            <a:r>
              <a:t>    "ON-W05",</a:t>
            </a:r>
          </a:p>
          <a:p xmlns:a="http://schemas.openxmlformats.org/drawingml/2006/main">
            <a:r>
              <a:t>    "ON-W06"</a:t>
            </a:r>
          </a:p>
          <a:p xmlns:a="http://schemas.openxmlformats.org/drawingml/2006/main">
            <a:r>
              <a:t>  ],</a:t>
            </a:r>
          </a:p>
          <a:p xmlns:a="http://schemas.openxmlformats.org/drawingml/2006/main">
            <a:r>
              <a:t>  "tests": [</a:t>
            </a:r>
          </a:p>
          <a:p xmlns:a="http://schemas.openxmlformats.org/drawingml/2006/main">
            <a:r>
              <a:t>    "GAI-T01",</a:t>
            </a:r>
          </a:p>
          <a:p xmlns:a="http://schemas.openxmlformats.org/drawingml/2006/main">
            <a:r>
              <a:t>    "GAI-T02",</a:t>
            </a:r>
          </a:p>
          <a:p xmlns:a="http://schemas.openxmlformats.org/drawingml/2006/main">
            <a:r>
              <a:t>    "GAI-T03",</a:t>
            </a:r>
          </a:p>
          <a:p xmlns:a="http://schemas.openxmlformats.org/drawingml/2006/main">
            <a:r>
              <a:t>    "GAI-T04",</a:t>
            </a:r>
          </a:p>
          <a:p xmlns:a="http://schemas.openxmlformats.org/drawingml/2006/main">
            <a:r>
              <a:t>    "GAI-T05",</a:t>
            </a:r>
          </a:p>
          <a:p xmlns:a="http://schemas.openxmlformats.org/drawingml/2006/main">
            <a:r>
              <a:t>    "GAI-T06",</a:t>
            </a:r>
          </a:p>
          <a:p xmlns:a="http://schemas.openxmlformats.org/drawingml/2006/main">
            <a:r>
              <a:t>    "GAI-T07",</a:t>
            </a:r>
          </a:p>
          <a:p xmlns:a="http://schemas.openxmlformats.org/drawingml/2006/main">
            <a:r>
              <a:t>    "GAI-T08",</a:t>
            </a:r>
          </a:p>
          <a:p xmlns:a="http://schemas.openxmlformats.org/drawingml/2006/main">
            <a:r>
              <a:t>    "GAI-T09",</a:t>
            </a:r>
          </a:p>
          <a:p xmlns:a="http://schemas.openxmlformats.org/drawingml/2006/main">
            <a:r>
              <a:t>    "GAI-T10",</a:t>
            </a:r>
          </a:p>
          <a:p xmlns:a="http://schemas.openxmlformats.org/drawingml/2006/main">
            <a:r>
              <a:t>    "GAI-T11",</a:t>
            </a:r>
          </a:p>
          <a:p xmlns:a="http://schemas.openxmlformats.org/drawingml/2006/main">
            <a:r>
              <a:t>    "GAI-T12"</a:t>
            </a:r>
          </a:p>
          <a:p xmlns:a="http://schemas.openxmlformats.org/drawingml/2006/main">
            <a:r>
              <a:t>  ],</a:t>
            </a:r>
          </a:p>
          <a:p xmlns:a="http://schemas.openxmlformats.org/drawingml/2006/main">
            <a:r>
              <a:t>  "status": "솔루션·조직·범위 연결안",</a:t>
            </a:r>
          </a:p>
          <a:p xmlns:a="http://schemas.openxmlformats.org/drawingml/2006/main">
            <a:r>
              <a:t>  "basis": "설립법·직제시행세칙 기반 경영지원 업무",</a:t>
            </a:r>
          </a:p>
          <a:p xmlns:a="http://schemas.openxmlformats.org/drawingml/2006/main">
            <a:r>
              <a:t>  "foundation": "ON27-BASE / C27-COM",</a:t>
            </a:r>
          </a:p>
          <a:p xmlns:a="http://schemas.openxmlformats.org/drawingml/2006/main">
            <a:r>
              <a:t>  "dutyBindings": [</a:t>
            </a:r>
          </a:p>
          <a:p xmlns:a="http://schemas.openxmlformats.org/drawingml/2006/main">
            <a:r>
              <a:t>    {</a:t>
            </a:r>
          </a:p>
          <a:p xmlns:a="http://schemas.openxmlformats.org/drawingml/2006/main">
            <a:r>
              <a:t>      "code": "1010100",</a:t>
            </a:r>
          </a:p>
          <a:p xmlns:a="http://schemas.openxmlformats.org/drawingml/2006/main">
            <a:r>
              <a:t>      "name": "AI미래전략실",</a:t>
            </a:r>
          </a:p>
          <a:p xmlns:a="http://schemas.openxmlformats.org/drawingml/2006/main">
            <a:r>
              <a:t>      "job": "AI 전략·윤리",</a:t>
            </a:r>
          </a:p>
          <a:p xmlns:a="http://schemas.openxmlformats.org/drawingml/2006/main">
            <a:r>
              <a:t>      "indices": [</a:t>
            </a:r>
          </a:p>
          <a:p xmlns:a="http://schemas.openxmlformats.org/drawingml/2006/main">
            <a:r>
              <a:t>        3,</a:t>
            </a:r>
          </a:p>
          <a:p xmlns:a="http://schemas.openxmlformats.org/drawingml/2006/main">
            <a:r>
              <a:t>        5</a:t>
            </a:r>
          </a:p>
          <a:p xmlns:a="http://schemas.openxmlformats.org/drawingml/2006/main">
            <a:r>
              <a:t>      ],</a:t>
            </a:r>
          </a:p>
          <a:p xmlns:a="http://schemas.openxmlformats.org/drawingml/2006/main">
            <a:r>
              <a:t>      "duties": [</a:t>
            </a:r>
          </a:p>
          <a:p xmlns:a="http://schemas.openxmlformats.org/drawingml/2006/main">
            <a:r>
              <a:t>        "4. 인공지능(AI) 전환 전략 수립․조정",</a:t>
            </a:r>
          </a:p>
          <a:p xmlns:a="http://schemas.openxmlformats.org/drawingml/2006/main">
            <a:r>
              <a:t>        "6. 인공지능(AI) 제도 및 지침, 윤리기준 관리"</a:t>
            </a:r>
          </a:p>
          <a:p xmlns:a="http://schemas.openxmlformats.org/drawingml/2006/main">
            <a:r>
              <a:t>      ],</a:t>
            </a:r>
          </a:p>
          <a:p xmlns:a="http://schemas.openxmlformats.org/drawingml/2006/main">
            <a:r>
              <a:t>      "locator": "별표4 · T34 · 2행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a:t>
            </a:r>
          </a:p>
          <a:p xmlns:a="http://schemas.openxmlformats.org/drawingml/2006/main">
            <a:r>
              <a:t>    {</a:t>
            </a:r>
          </a:p>
          <a:p xmlns:a="http://schemas.openxmlformats.org/drawingml/2006/main">
            <a:r>
              <a:t>      "code": "1019600",</a:t>
            </a:r>
          </a:p>
          <a:p xmlns:a="http://schemas.openxmlformats.org/drawingml/2006/main">
            <a:r>
              <a:t>      "name": "AI혁신처",</a:t>
            </a:r>
          </a:p>
          <a:p xmlns:a="http://schemas.openxmlformats.org/drawingml/2006/main">
            <a:r>
              <a:t>      "job": "AI 사업 조정·데이터 표준",</a:t>
            </a:r>
          </a:p>
          <a:p xmlns:a="http://schemas.openxmlformats.org/drawingml/2006/main">
            <a:r>
              <a:t>      "indices": [</a:t>
            </a:r>
          </a:p>
          <a:p xmlns:a="http://schemas.openxmlformats.org/drawingml/2006/main">
            <a:r>
              <a:t>        0,</a:t>
            </a:r>
          </a:p>
          <a:p xmlns:a="http://schemas.openxmlformats.org/drawingml/2006/main">
            <a:r>
              <a:t>        2</a:t>
            </a:r>
          </a:p>
          <a:p xmlns:a="http://schemas.openxmlformats.org/drawingml/2006/main">
            <a:r>
              <a:t>      ],</a:t>
            </a:r>
          </a:p>
          <a:p xmlns:a="http://schemas.openxmlformats.org/drawingml/2006/main">
            <a:r>
              <a:t>      "duties": [</a:t>
            </a:r>
          </a:p>
          <a:p xmlns:a="http://schemas.openxmlformats.org/drawingml/2006/main">
            <a:r>
              <a:t>        "1. 인공지능(AI) 활용 서비스 구축 지원 및 성과관리",</a:t>
            </a:r>
          </a:p>
          <a:p xmlns:a="http://schemas.openxmlformats.org/drawingml/2006/main">
            <a:r>
              <a:t>        "3. 인공지능(AI) 데이터 표준화 및 데이터 스페이스 구축"</a:t>
            </a:r>
          </a:p>
          <a:p xmlns:a="http://schemas.openxmlformats.org/drawingml/2006/main">
            <a:r>
              <a:t>      ],</a:t>
            </a:r>
          </a:p>
          <a:p xmlns:a="http://schemas.openxmlformats.org/drawingml/2006/main">
            <a:r>
              <a:t>      "locator": "별표4 · T37 · 3행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a:t>
            </a:r>
          </a:p>
          <a:p xmlns:a="http://schemas.openxmlformats.org/drawingml/2006/main">
            <a:r>
              <a:t>    {</a:t>
            </a:r>
          </a:p>
          <a:p xmlns:a="http://schemas.openxmlformats.org/drawingml/2006/main">
            <a:r>
              <a:t>      "code": "1019700",</a:t>
            </a:r>
          </a:p>
          <a:p xmlns:a="http://schemas.openxmlformats.org/drawingml/2006/main">
            <a:r>
              <a:t>      "name": "AI서비스개발팀",</a:t>
            </a:r>
          </a:p>
          <a:p xmlns:a="http://schemas.openxmlformats.org/drawingml/2006/main">
            <a:r>
              <a:t>      "job": "공통플랫폼·모델 품질",</a:t>
            </a:r>
          </a:p>
          <a:p xmlns:a="http://schemas.openxmlformats.org/drawingml/2006/main">
            <a:r>
              <a:t>      "indices":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"duties": [</a:t>
            </a:r>
          </a:p>
          <a:p xmlns:a="http://schemas.openxmlformats.org/drawingml/2006/main">
            <a:r>
              <a:t>        "1. 인공지능(AI) 공통플랫폼 구축․운영 인공지능(AI) 모델 고도화․품질관리",</a:t>
            </a:r>
          </a:p>
          <a:p xmlns:a="http://schemas.openxmlformats.org/drawingml/2006/main">
            <a:r>
              <a:t>        "2. 인공지능(AI) 시범 서비스(PoC) 추진"</a:t>
            </a:r>
          </a:p>
          <a:p xmlns:a="http://schemas.openxmlformats.org/drawingml/2006/main">
            <a:r>
              <a:t>      ],</a:t>
            </a:r>
          </a:p>
          <a:p xmlns:a="http://schemas.openxmlformats.org/drawingml/2006/main">
            <a:r>
              <a:t>      "locator": "별표4 · T37 · 4행 · 업무분장 열",</a:t>
            </a:r>
          </a:p>
          <a:p xmlns:a="http://schemas.openxmlformats.org/drawingml/2006/main">
            <a:r>
              <a:t>      "restriction": "부칙 제1·2조: 팀장 최초 인사발령일부터 시행 · 발령일 미확인 · 시행 전 AI혁신처 관련 업무·정원 담당",</a:t>
            </a:r>
          </a:p>
          <a:p xmlns:a="http://schemas.openxmlformats.org/drawingml/2006/main">
            <a:r>
              <a:t>      "status": "제공 세칙 원문 연결"</a:t>
            </a:r>
          </a:p>
          <a:p xmlns:a="http://schemas.openxmlformats.org/drawingml/2006/main">
            <a:r>
              <a:t>    },</a:t>
            </a:r>
          </a:p>
          <a:p xmlns:a="http://schemas.openxmlformats.org/drawingml/2006/main">
            <a:r>
              <a:t>    {</a:t>
            </a:r>
          </a:p>
          <a:p xmlns:a="http://schemas.openxmlformats.org/drawingml/2006/main">
            <a:r>
              <a:t>      "code": "1016050",</a:t>
            </a:r>
          </a:p>
          <a:p xmlns:a="http://schemas.openxmlformats.org/drawingml/2006/main">
            <a:r>
              <a:t>      "name": "예산처",</a:t>
            </a:r>
          </a:p>
          <a:p xmlns:a="http://schemas.openxmlformats.org/drawingml/2006/main">
            <a:r>
              <a:t>      "job": "조직·분장·전결 관리",</a:t>
            </a:r>
          </a:p>
          <a:p xmlns:a="http://schemas.openxmlformats.org/drawingml/2006/main">
            <a:r>
              <a:t>      "indices": [</a:t>
            </a:r>
          </a:p>
          <a:p xmlns:a="http://schemas.openxmlformats.org/drawingml/2006/main">
            <a:r>
              <a:t>        7,</a:t>
            </a:r>
          </a:p>
          <a:p xmlns:a="http://schemas.openxmlformats.org/drawingml/2006/main">
            <a:r>
              <a:t>        10,</a:t>
            </a:r>
          </a:p>
          <a:p xmlns:a="http://schemas.openxmlformats.org/drawingml/2006/main">
            <a:r>
              <a:t>        11</a:t>
            </a:r>
          </a:p>
          <a:p xmlns:a="http://schemas.openxmlformats.org/drawingml/2006/main">
            <a:r>
              <a:t>      ],</a:t>
            </a:r>
          </a:p>
          <a:p xmlns:a="http://schemas.openxmlformats.org/drawingml/2006/main">
            <a:r>
              <a:t>      "duties": [</a:t>
            </a:r>
          </a:p>
          <a:p xmlns:a="http://schemas.openxmlformats.org/drawingml/2006/main">
            <a:r>
              <a:t>        "8. 조직 및 정원관리 총괄",</a:t>
            </a:r>
          </a:p>
          <a:p xmlns:a="http://schemas.openxmlformats.org/drawingml/2006/main">
            <a:r>
              <a:t>        "9. 위임전결에 관한 사항",</a:t>
            </a:r>
          </a:p>
          <a:p xmlns:a="http://schemas.openxmlformats.org/drawingml/2006/main">
            <a:r>
              <a:t>        "10. 업무분장 조정‧관리"</a:t>
            </a:r>
          </a:p>
          <a:p xmlns:a="http://schemas.openxmlformats.org/drawingml/2006/main">
            <a:r>
              <a:t>      ],</a:t>
            </a:r>
          </a:p>
          <a:p xmlns:a="http://schemas.openxmlformats.org/drawingml/2006/main">
            <a:r>
              <a:t>      "locator": "별표4 · T36 · 4행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a:t>
            </a:r>
          </a:p>
          <a:p xmlns:a="http://schemas.openxmlformats.org/drawingml/2006/main">
            <a:r>
              <a:t>    {</a:t>
            </a:r>
          </a:p>
          <a:p xmlns:a="http://schemas.openxmlformats.org/drawingml/2006/main">
            <a:r>
              <a:t>      "code": "1018037",</a:t>
            </a:r>
          </a:p>
          <a:p xmlns:a="http://schemas.openxmlformats.org/drawingml/2006/main">
            <a:r>
              <a:t>      "name": "인재개발처",</a:t>
            </a:r>
          </a:p>
          <a:p xmlns:a="http://schemas.openxmlformats.org/drawingml/2006/main">
            <a:r>
              <a:t>      "job": "발령·인사정보 관리",</a:t>
            </a:r>
          </a:p>
          <a:p xmlns:a="http://schemas.openxmlformats.org/drawingml/2006/main">
            <a:r>
              <a:t>      "indices": [</a:t>
            </a:r>
          </a:p>
          <a:p xmlns:a="http://schemas.openxmlformats.org/drawingml/2006/main">
            <a:r>
              <a:t>        2,</a:t>
            </a:r>
          </a:p>
          <a:p xmlns:a="http://schemas.openxmlformats.org/drawingml/2006/main">
            <a:r>
              <a:t>        5</a:t>
            </a:r>
          </a:p>
          <a:p xmlns:a="http://schemas.openxmlformats.org/drawingml/2006/main">
            <a:r>
              <a:t>      ],</a:t>
            </a:r>
          </a:p>
          <a:p xmlns:a="http://schemas.openxmlformats.org/drawingml/2006/main">
            <a:r>
              <a:t>      "duties": [</a:t>
            </a:r>
          </a:p>
          <a:p xmlns:a="http://schemas.openxmlformats.org/drawingml/2006/main">
            <a:r>
              <a:t>        "3. 직원의 채용, 승진, 전보 등 임용 및 보직에 관한 업무",</a:t>
            </a:r>
          </a:p>
          <a:p xmlns:a="http://schemas.openxmlformats.org/drawingml/2006/main">
            <a:r>
              <a:t>        "6. 인사통계자료․인사정보 관리 및 인사 관련 제증명 발급"</a:t>
            </a:r>
          </a:p>
          <a:p xmlns:a="http://schemas.openxmlformats.org/drawingml/2006/main">
            <a:r>
              <a:t>      ],</a:t>
            </a:r>
          </a:p>
          <a:p xmlns:a="http://schemas.openxmlformats.org/drawingml/2006/main">
            <a:r>
              <a:t>      "locator": "별표4 · T38 · 3행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a:t>
            </a:r>
          </a:p>
          <a:p xmlns:a="http://schemas.openxmlformats.org/drawingml/2006/main">
            <a:r>
              <a:t>    {</a:t>
            </a:r>
          </a:p>
          <a:p xmlns:a="http://schemas.openxmlformats.org/drawingml/2006/main">
            <a:r>
              <a:t>      "code": "1019300",</a:t>
            </a:r>
          </a:p>
          <a:p xmlns:a="http://schemas.openxmlformats.org/drawingml/2006/main">
            <a:r>
              <a:t>      "name": "디지털기획처",</a:t>
            </a:r>
          </a:p>
          <a:p xmlns:a="http://schemas.openxmlformats.org/drawingml/2006/main">
            <a:r>
              <a:t>      "job": "정보화·데이터 품질",</a:t>
            </a:r>
          </a:p>
          <a:p xmlns:a="http://schemas.openxmlformats.org/drawingml/2006/main">
            <a:r>
              <a:t>      "indices": [</a:t>
            </a:r>
          </a:p>
          <a:p xmlns:a="http://schemas.openxmlformats.org/drawingml/2006/main">
            <a:r>
              <a:t>        12,</a:t>
            </a:r>
          </a:p>
          <a:p xmlns:a="http://schemas.openxmlformats.org/drawingml/2006/main">
            <a:r>
              <a:t>        19</a:t>
            </a:r>
          </a:p>
          <a:p xmlns:a="http://schemas.openxmlformats.org/drawingml/2006/main">
            <a:r>
              <a:t>      ],</a:t>
            </a:r>
          </a:p>
          <a:p xmlns:a="http://schemas.openxmlformats.org/drawingml/2006/main">
            <a:r>
              <a:t>      "duties": [</a:t>
            </a:r>
          </a:p>
          <a:p xmlns:a="http://schemas.openxmlformats.org/drawingml/2006/main">
            <a:r>
              <a:t>        "13. 정보화사업 사전검토(과업지시서 등) 및 시스템 구축 지원(기술분야)",</a:t>
            </a:r>
          </a:p>
          <a:p xmlns:a="http://schemas.openxmlformats.org/drawingml/2006/main">
            <a:r>
              <a:t>        "20. 데이터 품질관리"</a:t>
            </a:r>
          </a:p>
          <a:p xmlns:a="http://schemas.openxmlformats.org/drawingml/2006/main">
            <a:r>
              <a:t>      ],</a:t>
            </a:r>
          </a:p>
          <a:p xmlns:a="http://schemas.openxmlformats.org/drawingml/2006/main">
            <a:r>
              <a:t>      "locator": "별표4 · T37 · 2행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a:t>
            </a:r>
          </a:p>
          <a:p xmlns:a="http://schemas.openxmlformats.org/drawingml/2006/main">
            <a:r>
              <a:t>    {</a:t>
            </a:r>
          </a:p>
          <a:p xmlns:a="http://schemas.openxmlformats.org/drawingml/2006/main">
            <a:r>
              <a:t>      "code": "1019500",</a:t>
            </a:r>
          </a:p>
          <a:p xmlns:a="http://schemas.openxmlformats.org/drawingml/2006/main">
            <a:r>
              <a:t>      "name": "정보보안처",</a:t>
            </a:r>
          </a:p>
          <a:p xmlns:a="http://schemas.openxmlformats.org/drawingml/2006/main">
            <a:r>
              <a:t>      "job": "보안·개인정보 관리",</a:t>
            </a:r>
          </a:p>
          <a:p xmlns:a="http://schemas.openxmlformats.org/drawingml/2006/main">
            <a:r>
              <a:t>      "indices": [</a:t>
            </a:r>
          </a:p>
          <a:p xmlns:a="http://schemas.openxmlformats.org/drawingml/2006/main">
            <a:r>
              <a:t>        0,</a:t>
            </a:r>
          </a:p>
          <a:p xmlns:a="http://schemas.openxmlformats.org/drawingml/2006/main">
            <a:r>
              <a:t>        9</a:t>
            </a:r>
          </a:p>
          <a:p xmlns:a="http://schemas.openxmlformats.org/drawingml/2006/main">
            <a:r>
              <a:t>      ],</a:t>
            </a:r>
          </a:p>
          <a:p xmlns:a="http://schemas.openxmlformats.org/drawingml/2006/main">
            <a:r>
              <a:t>      "duties": [</a:t>
            </a:r>
          </a:p>
          <a:p xmlns:a="http://schemas.openxmlformats.org/drawingml/2006/main">
            <a:r>
              <a:t>        "1. 정보보안 업무총괄 관리",</a:t>
            </a:r>
          </a:p>
          <a:p xmlns:a="http://schemas.openxmlformats.org/drawingml/2006/main">
            <a:r>
              <a:t>        "10. 개인정보보호 업무총괄 관리"</a:t>
            </a:r>
          </a:p>
          <a:p xmlns:a="http://schemas.openxmlformats.org/drawingml/2006/main">
            <a:r>
              <a:t>      ],</a:t>
            </a:r>
          </a:p>
          <a:p xmlns:a="http://schemas.openxmlformats.org/drawingml/2006/main">
            <a:r>
              <a:t>      "locator": "별표4 · T37 · 5행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a:t>
            </a:r>
          </a:p>
          <a:p xmlns:a="http://schemas.openxmlformats.org/drawingml/2006/main">
            <a:r>
              <a:t>  ],</a:t>
            </a:r>
          </a:p>
          <a:p xmlns:a="http://schemas.openxmlformats.org/drawingml/2006/main">
            <a:r>
              <a:t>  "basisNote": "설립법·별표4 내부 업무분장 / 인사·재무·계약·전결 등 업무별 규정의 별도 확인",</a:t>
            </a:r>
          </a:p>
          <a:p xmlns:a="http://schemas.openxmlformats.org/drawingml/2006/main">
            <a:r>
              <a:t>  "caseRefs": [</a:t>
            </a:r>
          </a:p>
          <a:p xmlns:a="http://schemas.openxmlformats.org/drawingml/2006/main">
            <a:r>
              <a:t>    {</a:t>
            </a:r>
          </a:p>
          <a:p xmlns:a="http://schemas.openxmlformats.org/drawingml/2006/main">
            <a:r>
              <a:t>      "caseId": "AX04",</a:t>
            </a:r>
          </a:p>
          <a:p xmlns:a="http://schemas.openxmlformats.org/drawingml/2006/main">
            <a:r>
              <a:t>      "type": "직접 업무 유사"</a:t>
            </a:r>
          </a:p>
          <a:p xmlns:a="http://schemas.openxmlformats.org/drawingml/2006/main">
            <a:r>
              <a:t>    },</a:t>
            </a:r>
          </a:p>
          <a:p xmlns:a="http://schemas.openxmlformats.org/drawingml/2006/main">
            <a:r>
              <a:t>    {</a:t>
            </a:r>
          </a:p>
          <a:p xmlns:a="http://schemas.openxmlformats.org/drawingml/2006/main">
            <a:r>
              <a:t>      "caseId": "AX09",</a:t>
            </a:r>
          </a:p>
          <a:p xmlns:a="http://schemas.openxmlformats.org/drawingml/2006/main">
            <a:r>
              <a:t>      "type": "방법론 참조"</a:t>
            </a:r>
          </a:p>
          <a:p xmlns:a="http://schemas.openxmlformats.org/drawingml/2006/main">
            <a:r>
              <a:t>    },</a:t>
            </a:r>
          </a:p>
          <a:p xmlns:a="http://schemas.openxmlformats.org/drawingml/2006/main">
            <a:r>
              <a:t>    {</a:t>
            </a:r>
          </a:p>
          <a:p xmlns:a="http://schemas.openxmlformats.org/drawingml/2006/main">
            <a:r>
              <a:t>      "caseId": "AX03",</a:t>
            </a:r>
          </a:p>
          <a:p xmlns:a="http://schemas.openxmlformats.org/drawingml/2006/main">
            <a:r>
              <a:t>      "type": "실패 통제 참조"</a:t>
            </a:r>
          </a:p>
          <a:p xmlns:a="http://schemas.openxmlformats.org/drawingml/2006/main">
            <a:r>
              <a:t>    },</a:t>
            </a:r>
          </a:p>
          <a:p xmlns:a="http://schemas.openxmlformats.org/drawingml/2006/main">
            <a:r>
              <a:t>    {</a:t>
            </a:r>
          </a:p>
          <a:p xmlns:a="http://schemas.openxmlformats.org/drawingml/2006/main">
            <a:r>
              <a:t>      "caseId": "AX13",</a:t>
            </a:r>
          </a:p>
          <a:p xmlns:a="http://schemas.openxmlformats.org/drawingml/2006/main">
            <a:r>
              <a:t>      "type": "실패 통제 참조"</a:t>
            </a:r>
          </a:p>
          <a:p xmlns:a="http://schemas.openxmlformats.org/drawingml/2006/main">
            <a:r>
              <a:t>    },</a:t>
            </a:r>
          </a:p>
          <a:p xmlns:a="http://schemas.openxmlformats.org/drawingml/2006/main">
            <a:r>
              <a:t>    {</a:t>
            </a:r>
          </a:p>
          <a:p xmlns:a="http://schemas.openxmlformats.org/drawingml/2006/main">
            <a:r>
              <a:t>      "caseId": "AX22",</a:t>
            </a:r>
          </a:p>
          <a:p xmlns:a="http://schemas.openxmlformats.org/drawingml/2006/main">
            <a:r>
              <a:t>      "type": "직접 업무 유사"</a:t>
            </a:r>
          </a:p>
          <a:p xmlns:a="http://schemas.openxmlformats.org/drawingml/2006/main">
            <a:r>
              <a:t>    },</a:t>
            </a:r>
          </a:p>
          <a:p xmlns:a="http://schemas.openxmlformats.org/drawingml/2006/main">
            <a:r>
              <a:t>    {</a:t>
            </a:r>
          </a:p>
          <a:p xmlns:a="http://schemas.openxmlformats.org/drawingml/2006/main">
            <a:r>
              <a:t>      "caseId": "AX25",</a:t>
            </a:r>
          </a:p>
          <a:p xmlns:a="http://schemas.openxmlformats.org/drawingml/2006/main">
            <a:r>
              <a:t>      "type": "방법론 참조"</a:t>
            </a:r>
          </a:p>
          <a:p xmlns:a="http://schemas.openxmlformats.org/drawingml/2006/main">
            <a:r>
              <a:t>    },</a:t>
            </a:r>
          </a:p>
          <a:p xmlns:a="http://schemas.openxmlformats.org/drawingml/2006/main">
            <a:r>
              <a:t>    {</a:t>
            </a:r>
          </a:p>
          <a:p xmlns:a="http://schemas.openxmlformats.org/drawingml/2006/main">
            <a:r>
              <a:t>      "caseId": "AX26",</a:t>
            </a:r>
          </a:p>
          <a:p xmlns:a="http://schemas.openxmlformats.org/drawingml/2006/main">
            <a:r>
              <a:t>      "type": "방법론 참조"</a:t>
            </a:r>
          </a:p>
          <a:p xmlns:a="http://schemas.openxmlformats.org/drawingml/2006/main">
            <a:r>
              <a:t>    }</a:t>
            </a:r>
          </a:p>
          <a:p xmlns:a="http://schemas.openxmlformats.org/drawingml/2006/main">
            <a:r>
              <a:t>  ],</a:t>
            </a:r>
          </a:p>
          <a:p xmlns:a="http://schemas.openxmlformats.org/drawingml/2006/main">
            <a:r>
              <a:t>  "plan": "조직 네이티브 공통 기반",</a:t>
            </a:r>
          </a:p>
          <a:p xmlns:a="http://schemas.openxmlformats.org/drawingml/2006/main">
            <a:r>
              <a:t>  "delta": "공식 ID·효력일·역할·업무 분류·권한 집행",</a:t>
            </a:r>
          </a:p>
          <a:p xmlns:a="http://schemas.openxmlformats.org/drawingml/2006/main">
            <a:r>
              <a:t>  "kpi": "직무 분류 정확도 / 비인가 노출 건수",</a:t>
            </a:r>
          </a:p>
          <a:p xmlns:a="http://schemas.openxmlformats.org/drawingml/2006/main">
            <a:r>
              <a:t>  "validation": "인사이동·동명이인·권한 회수·동일 요청 교차 시험",</a:t>
            </a:r>
          </a:p>
          <a:p xmlns:a="http://schemas.openxmlformats.org/drawingml/2006/main">
            <a:r>
              <a:t>  "requirement": "BM-ST-04-R01",</a:t>
            </a:r>
          </a:p>
          <a:p xmlns:a="http://schemas.openxmlformats.org/drawingml/2006/main">
            <a:r>
              <a:t>  "test": "BM-ST-04-T01",</a:t>
            </a:r>
          </a:p>
          <a:p xmlns:a="http://schemas.openxmlformats.org/drawingml/2006/main">
            <a:r>
              <a:t>  "effectStatus": "기대 방향 · TS 실측 전",</a:t>
            </a:r>
          </a:p>
          <a:p xmlns:a="http://schemas.openxmlformats.org/drawingml/2006/main">
            <a:r>
              <a:t>  "effect": "반복 맥락 입력·부서 간 오인계 감소",</a:t>
            </a:r>
          </a:p>
          <a:p xmlns:a="http://schemas.openxmlformats.org/drawingml/2006/main">
            <a:r>
              <a:t>  "reuse": "ON27-BASE / C27-COM + CCK 재사용 판정 기능",</a:t>
            </a:r>
          </a:p>
          <a:p xmlns:a="http://schemas.openxmlformats.org/drawingml/2006/main">
            <a:r>
              <a:t>  "input": "공식 직원 ID, 조직도·업무분장, 효력일, 원천 접근정책",</a:t>
            </a:r>
          </a:p>
          <a:p xmlns:a="http://schemas.openxmlformats.org/drawingml/2006/main">
            <a:r>
              <a:t>  "steps": [</a:t>
            </a:r>
          </a:p>
          <a:p xmlns:a="http://schemas.openxmlformats.org/drawingml/2006/main">
            <a:r>
              <a:t>    "로그인 ID–조직 연결",</a:t>
            </a:r>
          </a:p>
          <a:p xmlns:a="http://schemas.openxmlformats.org/drawingml/2006/main">
            <a:r>
              <a:t>    "인물·부서·직무 관계 식별",</a:t>
            </a:r>
          </a:p>
          <a:p xmlns:a="http://schemas.openxmlformats.org/drawingml/2006/main">
            <a:r>
              <a:t>    "업무 맥락·지식·서식 선택",</a:t>
            </a:r>
          </a:p>
          <a:p xmlns:a="http://schemas.openxmlformats.org/drawingml/2006/main">
            <a:r>
              <a:t>    "권한 재검증·결과 근거 기록"</a:t>
            </a:r>
          </a:p>
          <a:p xmlns:a="http://schemas.openxmlformats.org/drawingml/2006/main">
            <a:r>
              <a:t>  ],</a:t>
            </a:r>
          </a:p>
          <a:p xmlns:a="http://schemas.openxmlformats.org/drawingml/2006/main">
            <a:r>
              <a:t>  "departments": [</a:t>
            </a:r>
          </a:p>
          <a:p xmlns:a="http://schemas.openxmlformats.org/drawingml/2006/main">
            <a:r>
              <a:t>    {</a:t>
            </a:r>
          </a:p>
          <a:p xmlns:a="http://schemas.openxmlformats.org/drawingml/2006/main">
            <a:r>
              <a:t>      "code": "1010100",</a:t>
            </a:r>
          </a:p>
          <a:p xmlns:a="http://schemas.openxmlformats.org/drawingml/2006/main">
            <a:r>
              <a:t>      "name": "AI미래전략실",</a:t>
            </a:r>
          </a:p>
          <a:p xmlns:a="http://schemas.openxmlformats.org/drawingml/2006/main">
            <a:r>
              <a:t>      "job": "AI 전략·윤리",</a:t>
            </a:r>
          </a:p>
          <a:p xmlns:a="http://schemas.openxmlformats.org/drawingml/2006/main">
            <a:r>
              <a:t>      "indices": [</a:t>
            </a:r>
          </a:p>
          <a:p xmlns:a="http://schemas.openxmlformats.org/drawingml/2006/main">
            <a:r>
              <a:t>        3,</a:t>
            </a:r>
          </a:p>
          <a:p xmlns:a="http://schemas.openxmlformats.org/drawingml/2006/main">
            <a:r>
              <a:t>        5</a:t>
            </a:r>
          </a:p>
          <a:p xmlns:a="http://schemas.openxmlformats.org/drawingml/2006/main">
            <a:r>
              <a:t>      ],</a:t>
            </a:r>
          </a:p>
          <a:p xmlns:a="http://schemas.openxmlformats.org/drawingml/2006/main">
            <a:r>
              <a:t>      "duties": [</a:t>
            </a:r>
          </a:p>
          <a:p xmlns:a="http://schemas.openxmlformats.org/drawingml/2006/main">
            <a:r>
              <a:t>        "4. 인공지능(AI) 전환 전략 수립․조정",</a:t>
            </a:r>
          </a:p>
          <a:p xmlns:a="http://schemas.openxmlformats.org/drawingml/2006/main">
            <a:r>
              <a:t>        "6. 인공지능(AI) 제도 및 지침, 윤리기준 관리"</a:t>
            </a:r>
          </a:p>
          <a:p xmlns:a="http://schemas.openxmlformats.org/drawingml/2006/main">
            <a:r>
              <a:t>      ],</a:t>
            </a:r>
          </a:p>
          <a:p xmlns:a="http://schemas.openxmlformats.org/drawingml/2006/main">
            <a:r>
              <a:t>      "locator": "별표4 · T34 · 2행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"workItems": [</a:t>
            </a:r>
          </a:p>
          <a:p xmlns:a="http://schemas.openxmlformats.org/drawingml/2006/main">
            <a:r>
              <a:t>        {</a:t>
            </a:r>
          </a:p>
          <a:p xmlns:a="http://schemas.openxmlformats.org/drawingml/2006/main">
            <a:r>
              <a:t>          "id": "RULEWORK-1010100-4",</a:t>
            </a:r>
          </a:p>
          <a:p xmlns:a="http://schemas.openxmlformats.org/drawingml/2006/main">
            <a:r>
              <a:t>          "text": "4. 인공지능(AI) 전환 전략 수립․조정",</a:t>
            </a:r>
          </a:p>
          <a:p xmlns:a="http://schemas.openxmlformats.org/drawingml/2006/main">
            <a:r>
              <a:t>          "locator": "별표4 · T34 · 2행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"RULEWORK-1010100-4-R01",</a:t>
            </a:r>
          </a:p>
          <a:p xmlns:a="http://schemas.openxmlformats.org/drawingml/2006/main">
            <a:r>
              <a:t>              "title": "업무 맥락·전용 지식 구성",</a:t>
            </a:r>
          </a:p>
          <a:p xmlns:a="http://schemas.openxmlformats.org/drawingml/2006/main">
            <a:r>
              <a:t>              "development": "직무·업무건 기반 검색·응답 구성",</a:t>
            </a:r>
          </a:p>
          <a:p xmlns:a="http://schemas.openxmlformats.org/drawingml/2006/main">
            <a:r>
              <a:t>              "output": "부서별 구성·평가·배포 명세",</a:t>
            </a:r>
          </a:p>
          <a:p xmlns:a="http://schemas.openxmlformats.org/drawingml/2006/main">
            <a:r>
              <a:t>              "testId": "RULEWORK-1010100-4-T01",</a:t>
            </a:r>
          </a:p>
          <a:p xmlns:a="http://schemas.openxmlformats.org/drawingml/2006/main">
            <a:r>
              <a:t>              "criterion": "동일 요청의 부서·역할별 결과·근거 대조"</a:t>
            </a:r>
          </a:p>
          <a:p xmlns:a="http://schemas.openxmlformats.org/drawingml/2006/main">
            <a:r>
              <a:t>            },</a:t>
            </a:r>
          </a:p>
          <a:p xmlns:a="http://schemas.openxmlformats.org/drawingml/2006/main">
            <a:r>
              <a:t>            {</a:t>
            </a:r>
          </a:p>
          <a:p xmlns:a="http://schemas.openxmlformats.org/drawingml/2006/main">
            <a:r>
              <a:t>              "id": "RULEWORK-1010100-4-R02",</a:t>
            </a:r>
          </a:p>
          <a:p xmlns:a="http://schemas.openxmlformats.org/drawingml/2006/main">
            <a:r>
              <a:t>              "title": "업무건·역할·시스템 연결",</a:t>
            </a:r>
          </a:p>
          <a:p xmlns:a="http://schemas.openxmlformats.org/drawingml/2006/main">
            <a:r>
              <a:t>              "development": "모델·정책·지식 판본별 운영·복구 연계",</a:t>
            </a:r>
          </a:p>
          <a:p xmlns:a="http://schemas.openxmlformats.org/drawingml/2006/main">
            <a:r>
              <a:t>              "output": "업무건·원천·역할·변경 연결 명세",</a:t>
            </a:r>
          </a:p>
          <a:p xmlns:a="http://schemas.openxmlformats.org/drawingml/2006/main">
            <a:r>
              <a:t>              "testId": "RULEWORK-1010100-4-T02",</a:t>
            </a:r>
          </a:p>
          <a:p xmlns:a="http://schemas.openxmlformats.org/drawingml/2006/main">
            <a:r>
              <a:t>              "criterion": "배포 판본 변경·롤백·필수 거부 시험"</a:t>
            </a:r>
          </a:p>
          <a:p xmlns:a="http://schemas.openxmlformats.org/drawingml/2006/main">
            <a:r>
              <a:t>            },</a:t>
            </a:r>
          </a:p>
          <a:p xmlns:a="http://schemas.openxmlformats.org/drawingml/2006/main">
            <a:r>
              <a:t>            {</a:t>
            </a:r>
          </a:p>
          <a:p xmlns:a="http://schemas.openxmlformats.org/drawingml/2006/main">
            <a:r>
              <a:t>              "id": "RULEWORK-1010100-4-R03",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"RULEWORK-1010100-4-T03",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"RULEWORK-1010100-6",</a:t>
            </a:r>
          </a:p>
          <a:p xmlns:a="http://schemas.openxmlformats.org/drawingml/2006/main">
            <a:r>
              <a:t>          "text": "6. 인공지능(AI) 제도 및 지침, 윤리기준 관리",</a:t>
            </a:r>
          </a:p>
          <a:p xmlns:a="http://schemas.openxmlformats.org/drawingml/2006/main">
            <a:r>
              <a:t>          "locator": "별표4 · T34 · 2행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"RULEWORK-1010100-6-R01",</a:t>
            </a:r>
          </a:p>
          <a:p xmlns:a="http://schemas.openxmlformats.org/drawingml/2006/main">
            <a:r>
              <a:t>              "title": "업무 맥락·전용 지식 구성",</a:t>
            </a:r>
          </a:p>
          <a:p xmlns:a="http://schemas.openxmlformats.org/drawingml/2006/main">
            <a:r>
              <a:t>              "development": "직무·업무건 기반 검색·응답 구성",</a:t>
            </a:r>
          </a:p>
          <a:p xmlns:a="http://schemas.openxmlformats.org/drawingml/2006/main">
            <a:r>
              <a:t>              "output": "부서별 구성·평가·배포 명세",</a:t>
            </a:r>
          </a:p>
          <a:p xmlns:a="http://schemas.openxmlformats.org/drawingml/2006/main">
            <a:r>
              <a:t>              "testId": "RULEWORK-1010100-6-T01",</a:t>
            </a:r>
          </a:p>
          <a:p xmlns:a="http://schemas.openxmlformats.org/drawingml/2006/main">
            <a:r>
              <a:t>              "criterion": "동일 요청의 부서·역할별 결과·근거 대조"</a:t>
            </a:r>
          </a:p>
          <a:p xmlns:a="http://schemas.openxmlformats.org/drawingml/2006/main">
            <a:r>
              <a:t>            },</a:t>
            </a:r>
          </a:p>
          <a:p xmlns:a="http://schemas.openxmlformats.org/drawingml/2006/main">
            <a:r>
              <a:t>            {</a:t>
            </a:r>
          </a:p>
          <a:p xmlns:a="http://schemas.openxmlformats.org/drawingml/2006/main">
            <a:r>
              <a:t>              "id": "RULEWORK-1010100-6-R02",</a:t>
            </a:r>
          </a:p>
          <a:p xmlns:a="http://schemas.openxmlformats.org/drawingml/2006/main">
            <a:r>
              <a:t>              "title": "업무건·역할·시스템 연결",</a:t>
            </a:r>
          </a:p>
          <a:p xmlns:a="http://schemas.openxmlformats.org/drawingml/2006/main">
            <a:r>
              <a:t>              "development": "모델·정책·지식 판본별 운영·복구 연계",</a:t>
            </a:r>
          </a:p>
          <a:p xmlns:a="http://schemas.openxmlformats.org/drawingml/2006/main">
            <a:r>
              <a:t>              "output": "업무건·원천·역할·변경 연결 명세",</a:t>
            </a:r>
          </a:p>
          <a:p xmlns:a="http://schemas.openxmlformats.org/drawingml/2006/main">
            <a:r>
              <a:t>              "testId": "RULEWORK-1010100-6-T02",</a:t>
            </a:r>
          </a:p>
          <a:p xmlns:a="http://schemas.openxmlformats.org/drawingml/2006/main">
            <a:r>
              <a:t>              "criterion": "배포 판본 변경·롤백·필수 거부 시험"</a:t>
            </a:r>
          </a:p>
          <a:p xmlns:a="http://schemas.openxmlformats.org/drawingml/2006/main">
            <a:r>
              <a:t>            },</a:t>
            </a:r>
          </a:p>
          <a:p xmlns:a="http://schemas.openxmlformats.org/drawingml/2006/main">
            <a:r>
              <a:t>            {</a:t>
            </a:r>
          </a:p>
          <a:p xmlns:a="http://schemas.openxmlformats.org/drawingml/2006/main">
            <a:r>
              <a:t>              "id": "RULEWORK-1010100-6-R03",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"RULEWORK-1010100-6-T03",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"code": "1019600",</a:t>
            </a:r>
          </a:p>
          <a:p xmlns:a="http://schemas.openxmlformats.org/drawingml/2006/main">
            <a:r>
              <a:t>      "name": "AI혁신처",</a:t>
            </a:r>
          </a:p>
          <a:p xmlns:a="http://schemas.openxmlformats.org/drawingml/2006/main">
            <a:r>
              <a:t>      "job": "AI 사업 조정·데이터 표준",</a:t>
            </a:r>
          </a:p>
          <a:p xmlns:a="http://schemas.openxmlformats.org/drawingml/2006/main">
            <a:r>
              <a:t>      "indices": [</a:t>
            </a:r>
          </a:p>
          <a:p xmlns:a="http://schemas.openxmlformats.org/drawingml/2006/main">
            <a:r>
              <a:t>        0,</a:t>
            </a:r>
          </a:p>
          <a:p xmlns:a="http://schemas.openxmlformats.org/drawingml/2006/main">
            <a:r>
              <a:t>        2</a:t>
            </a:r>
          </a:p>
          <a:p xmlns:a="http://schemas.openxmlformats.org/drawingml/2006/main">
            <a:r>
              <a:t>      ],</a:t>
            </a:r>
          </a:p>
          <a:p xmlns:a="http://schemas.openxmlformats.org/drawingml/2006/main">
            <a:r>
              <a:t>      "duties": [</a:t>
            </a:r>
          </a:p>
          <a:p xmlns:a="http://schemas.openxmlformats.org/drawingml/2006/main">
            <a:r>
              <a:t>        "1. 인공지능(AI) 활용 서비스 구축 지원 및 성과관리",</a:t>
            </a:r>
          </a:p>
          <a:p xmlns:a="http://schemas.openxmlformats.org/drawingml/2006/main">
            <a:r>
              <a:t>        "3. 인공지능(AI) 데이터 표준화 및 데이터 스페이스 구축"</a:t>
            </a:r>
          </a:p>
          <a:p xmlns:a="http://schemas.openxmlformats.org/drawingml/2006/main">
            <a:r>
              <a:t>      ],</a:t>
            </a:r>
          </a:p>
          <a:p xmlns:a="http://schemas.openxmlformats.org/drawingml/2006/main">
            <a:r>
              <a:t>      "locator": "별표4 · T37 · 3행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"workItems": [</a:t>
            </a:r>
          </a:p>
          <a:p xmlns:a="http://schemas.openxmlformats.org/drawingml/2006/main">
            <a:r>
              <a:t>        {</a:t>
            </a:r>
          </a:p>
          <a:p xmlns:a="http://schemas.openxmlformats.org/drawingml/2006/main">
            <a:r>
              <a:t>          "id": "RULEWORK-1019600-1",</a:t>
            </a:r>
          </a:p>
          <a:p xmlns:a="http://schemas.openxmlformats.org/drawingml/2006/main">
            <a:r>
              <a:t>          "text": "1. 인공지능(AI) 활용 서비스 구축 지원 및 성과관리",</a:t>
            </a:r>
          </a:p>
          <a:p xmlns:a="http://schemas.openxmlformats.org/drawingml/2006/main">
            <a:r>
              <a:t>          "locator": "별표4 · T37 · 3행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"RULEWORK-1019600-1-R01",</a:t>
            </a:r>
          </a:p>
          <a:p xmlns:a="http://schemas.openxmlformats.org/drawingml/2006/main">
            <a:r>
              <a:t>              "title": "업무 맥락·전용 지식 구성",</a:t>
            </a:r>
          </a:p>
          <a:p xmlns:a="http://schemas.openxmlformats.org/drawingml/2006/main">
            <a:r>
              <a:t>              "development": "직무·업무건 기반 검색·응답 구성",</a:t>
            </a:r>
          </a:p>
          <a:p xmlns:a="http://schemas.openxmlformats.org/drawingml/2006/main">
            <a:r>
              <a:t>              "output": "부서별 구성·평가·배포 명세",</a:t>
            </a:r>
          </a:p>
          <a:p xmlns:a="http://schemas.openxmlformats.org/drawingml/2006/main">
            <a:r>
              <a:t>              "testId": "RULEWORK-1019600-1-T01",</a:t>
            </a:r>
          </a:p>
          <a:p xmlns:a="http://schemas.openxmlformats.org/drawingml/2006/main">
            <a:r>
              <a:t>              "criterion": "동일 요청의 부서·역할별 결과·근거 대조"</a:t>
            </a:r>
          </a:p>
          <a:p xmlns:a="http://schemas.openxmlformats.org/drawingml/2006/main">
            <a:r>
              <a:t>            },</a:t>
            </a:r>
          </a:p>
          <a:p xmlns:a="http://schemas.openxmlformats.org/drawingml/2006/main">
            <a:r>
              <a:t>            {</a:t>
            </a:r>
          </a:p>
          <a:p xmlns:a="http://schemas.openxmlformats.org/drawingml/2006/main">
            <a:r>
              <a:t>              "id": "RULEWORK-1019600-1-R02",</a:t>
            </a:r>
          </a:p>
          <a:p xmlns:a="http://schemas.openxmlformats.org/drawingml/2006/main">
            <a:r>
              <a:t>              "title": "업무건·역할·시스템 연결",</a:t>
            </a:r>
          </a:p>
          <a:p xmlns:a="http://schemas.openxmlformats.org/drawingml/2006/main">
            <a:r>
              <a:t>              "development": "모델·정책·지식 판본별 운영·복구 연계",</a:t>
            </a:r>
          </a:p>
          <a:p xmlns:a="http://schemas.openxmlformats.org/drawingml/2006/main">
            <a:r>
              <a:t>              "output": "업무건·원천·역할·변경 연결 명세",</a:t>
            </a:r>
          </a:p>
          <a:p xmlns:a="http://schemas.openxmlformats.org/drawingml/2006/main">
            <a:r>
              <a:t>              "testId": "RULEWORK-1019600-1-T02",</a:t>
            </a:r>
          </a:p>
          <a:p xmlns:a="http://schemas.openxmlformats.org/drawingml/2006/main">
            <a:r>
              <a:t>              "criterion": "배포 판본 변경·롤백·필수 거부 시험"</a:t>
            </a:r>
          </a:p>
          <a:p xmlns:a="http://schemas.openxmlformats.org/drawingml/2006/main">
            <a:r>
              <a:t>            },</a:t>
            </a:r>
          </a:p>
          <a:p xmlns:a="http://schemas.openxmlformats.org/drawingml/2006/main">
            <a:r>
              <a:t>            {</a:t>
            </a:r>
          </a:p>
          <a:p xmlns:a="http://schemas.openxmlformats.org/drawingml/2006/main">
            <a:r>
              <a:t>              "id": "RULEWORK-1019600-1-R03",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"RULEWORK-1019600-1-T03",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"RULEWORK-1019600-3",</a:t>
            </a:r>
          </a:p>
          <a:p xmlns:a="http://schemas.openxmlformats.org/drawingml/2006/main">
            <a:r>
              <a:t>          "text": "3. 인공지능(AI) 데이터 표준화 및 데이터 스페이스 구축",</a:t>
            </a:r>
          </a:p>
          <a:p xmlns:a="http://schemas.openxmlformats.org/drawingml/2006/main">
            <a:r>
              <a:t>          "locator": "별표4 · T37 · 3행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"RULEWORK-1019600-3-R01",</a:t>
            </a:r>
          </a:p>
          <a:p xmlns:a="http://schemas.openxmlformats.org/drawingml/2006/main">
            <a:r>
              <a:t>              "title": "업무 맥락·전용 지식 구성",</a:t>
            </a:r>
          </a:p>
          <a:p xmlns:a="http://schemas.openxmlformats.org/drawingml/2006/main">
            <a:r>
              <a:t>              "development": "공식 키·별칭·승계 관계 매핑",</a:t>
            </a:r>
          </a:p>
          <a:p xmlns:a="http://schemas.openxmlformats.org/drawingml/2006/main">
            <a:r>
              <a:t>              "output": "조직·직무·역할·유효기간표",</a:t>
            </a:r>
          </a:p>
          <a:p xmlns:a="http://schemas.openxmlformats.org/drawingml/2006/main">
            <a:r>
              <a:t>              "testId": "RULEWORK-1019600-3-T01",</a:t>
            </a:r>
          </a:p>
          <a:p xmlns:a="http://schemas.openxmlformats.org/drawingml/2006/main">
            <a:r>
              <a:t>              "criterion": "동명이인·효력일 전후·겸직·종료 정답셋 대조"</a:t>
            </a:r>
          </a:p>
          <a:p xmlns:a="http://schemas.openxmlformats.org/drawingml/2006/main">
            <a:r>
              <a:t>            },</a:t>
            </a:r>
          </a:p>
          <a:p xmlns:a="http://schemas.openxmlformats.org/drawingml/2006/main">
            <a:r>
              <a:t>            {</a:t>
            </a:r>
          </a:p>
          <a:p xmlns:a="http://schemas.openxmlformats.org/drawingml/2006/main">
            <a:r>
              <a:t>              "id": "RULEWORK-1019600-3-R02",</a:t>
            </a:r>
          </a:p>
          <a:p xmlns:a="http://schemas.openxmlformats.org/drawingml/2006/main">
            <a:r>
              <a:t>              "title": "업무건·역할·시스템 연결",</a:t>
            </a:r>
          </a:p>
          <a:p xmlns:a="http://schemas.openxmlformats.org/drawingml/2006/main">
            <a:r>
              <a:t>              "development": "이동·겸직·종료에 따른 권한·캐시 재검증",</a:t>
            </a:r>
          </a:p>
          <a:p xmlns:a="http://schemas.openxmlformats.org/drawingml/2006/main">
            <a:r>
              <a:t>              "output": "업무건·원천·역할·변경 연결 명세",</a:t>
            </a:r>
          </a:p>
          <a:p xmlns:a="http://schemas.openxmlformats.org/drawingml/2006/main">
            <a:r>
              <a:t>              "testId": "RULEWORK-1019600-3-T02",</a:t>
            </a:r>
          </a:p>
          <a:p xmlns:a="http://schemas.openxmlformats.org/drawingml/2006/main">
            <a:r>
              <a:t>              "criterion": "종료된 소속·권한의 재사용 차단"</a:t>
            </a:r>
          </a:p>
          <a:p xmlns:a="http://schemas.openxmlformats.org/drawingml/2006/main">
            <a:r>
              <a:t>            },</a:t>
            </a:r>
          </a:p>
          <a:p xmlns:a="http://schemas.openxmlformats.org/drawingml/2006/main">
            <a:r>
              <a:t>            {</a:t>
            </a:r>
          </a:p>
          <a:p xmlns:a="http://schemas.openxmlformats.org/drawingml/2006/main">
            <a:r>
              <a:t>              "id": "RULEWORK-1019600-3-R03",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"RULEWORK-1019600-3-T03",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"code": "1019700",</a:t>
            </a:r>
          </a:p>
          <a:p xmlns:a="http://schemas.openxmlformats.org/drawingml/2006/main">
            <a:r>
              <a:t>      "name": "AI서비스개발팀",</a:t>
            </a:r>
          </a:p>
          <a:p xmlns:a="http://schemas.openxmlformats.org/drawingml/2006/main">
            <a:r>
              <a:t>      "job": "공통플랫폼·모델 품질",</a:t>
            </a:r>
          </a:p>
          <a:p xmlns:a="http://schemas.openxmlformats.org/drawingml/2006/main">
            <a:r>
              <a:t>      "indices":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"duties": [</a:t>
            </a:r>
          </a:p>
          <a:p xmlns:a="http://schemas.openxmlformats.org/drawingml/2006/main">
            <a:r>
              <a:t>        "1. 인공지능(AI) 공통플랫폼 구축․운영 인공지능(AI) 모델 고도화․품질관리",</a:t>
            </a:r>
          </a:p>
          <a:p xmlns:a="http://schemas.openxmlformats.org/drawingml/2006/main">
            <a:r>
              <a:t>        "2. 인공지능(AI) 시범 서비스(PoC) 추진"</a:t>
            </a:r>
          </a:p>
          <a:p xmlns:a="http://schemas.openxmlformats.org/drawingml/2006/main">
            <a:r>
              <a:t>      ],</a:t>
            </a:r>
          </a:p>
          <a:p xmlns:a="http://schemas.openxmlformats.org/drawingml/2006/main">
            <a:r>
              <a:t>      "locator": "별표4 · T37 · 4행 · 업무분장 열",</a:t>
            </a:r>
          </a:p>
          <a:p xmlns:a="http://schemas.openxmlformats.org/drawingml/2006/main">
            <a:r>
              <a:t>      "restriction": "부칙 제1·2조: 팀장 최초 인사발령일부터 시행 · 발령일 미확인 · 시행 전 AI혁신처 관련 업무·정원 담당",</a:t>
            </a:r>
          </a:p>
          <a:p xmlns:a="http://schemas.openxmlformats.org/drawingml/2006/main">
            <a:r>
              <a:t>      "status": "제공 세칙 원문 연결",</a:t>
            </a:r>
          </a:p>
          <a:p xmlns:a="http://schemas.openxmlformats.org/drawingml/2006/main">
            <a:r>
              <a:t>      "workItems": [</a:t>
            </a:r>
          </a:p>
          <a:p xmlns:a="http://schemas.openxmlformats.org/drawingml/2006/main">
            <a:r>
              <a:t>        {</a:t>
            </a:r>
          </a:p>
          <a:p xmlns:a="http://schemas.openxmlformats.org/drawingml/2006/main">
            <a:r>
              <a:t>          "id": "RULEWORK-1019700-1",</a:t>
            </a:r>
          </a:p>
          <a:p xmlns:a="http://schemas.openxmlformats.org/drawingml/2006/main">
            <a:r>
              <a:t>          "text": "1. 인공지능(AI) 공통플랫폼 구축․운영 인공지능(AI) 모델 고도화․품질관리",</a:t>
            </a:r>
          </a:p>
          <a:p xmlns:a="http://schemas.openxmlformats.org/drawingml/2006/main">
            <a:r>
              <a:t>          "locator": "별표4 · T37 · 4행 · 업무분장 열",</a:t>
            </a:r>
          </a:p>
          <a:p xmlns:a="http://schemas.openxmlformats.org/drawingml/2006/main">
            <a:r>
              <a:t>          "restriction": "부칙 제1·2조: 팀장 최초 인사발령일부터 시행 · 발령일 미확인 · 시행 전 AI혁신처 관련 업무·정원 담당",</a:t>
            </a:r>
          </a:p>
          <a:p xmlns:a="http://schemas.openxmlformats.org/drawingml/2006/main">
            <a:r>
              <a:t>          "requirements": [</a:t>
            </a:r>
          </a:p>
          <a:p xmlns:a="http://schemas.openxmlformats.org/drawingml/2006/main">
            <a:r>
              <a:t>            {</a:t>
            </a:r>
          </a:p>
          <a:p xmlns:a="http://schemas.openxmlformats.org/drawingml/2006/main">
            <a:r>
              <a:t>              "id": "RULEWORK-1019700-1-R01",</a:t>
            </a:r>
          </a:p>
          <a:p xmlns:a="http://schemas.openxmlformats.org/drawingml/2006/main">
            <a:r>
              <a:t>              "title": "업무 맥락·전용 지식 구성",</a:t>
            </a:r>
          </a:p>
          <a:p xmlns:a="http://schemas.openxmlformats.org/drawingml/2006/main">
            <a:r>
              <a:t>              "development": "직무·업무건 기반 검색·응답 구성",</a:t>
            </a:r>
          </a:p>
          <a:p xmlns:a="http://schemas.openxmlformats.org/drawingml/2006/main">
            <a:r>
              <a:t>              "output": "부서별 구성·평가·배포 명세",</a:t>
            </a:r>
          </a:p>
          <a:p xmlns:a="http://schemas.openxmlformats.org/drawingml/2006/main">
            <a:r>
              <a:t>              "testId": "RULEWORK-1019700-1-T01",</a:t>
            </a:r>
          </a:p>
          <a:p xmlns:a="http://schemas.openxmlformats.org/drawingml/2006/main">
            <a:r>
              <a:t>              "criterion": "동일 요청의 부서·역할별 결과·근거 대조"</a:t>
            </a:r>
          </a:p>
          <a:p xmlns:a="http://schemas.openxmlformats.org/drawingml/2006/main">
            <a:r>
              <a:t>            },</a:t>
            </a:r>
          </a:p>
          <a:p xmlns:a="http://schemas.openxmlformats.org/drawingml/2006/main">
            <a:r>
              <a:t>            {</a:t>
            </a:r>
          </a:p>
          <a:p xmlns:a="http://schemas.openxmlformats.org/drawingml/2006/main">
            <a:r>
              <a:t>              "id": "RULEWORK-1019700-1-R02",</a:t>
            </a:r>
          </a:p>
          <a:p xmlns:a="http://schemas.openxmlformats.org/drawingml/2006/main">
            <a:r>
              <a:t>              "title": "업무건·역할·시스템 연결",</a:t>
            </a:r>
          </a:p>
          <a:p xmlns:a="http://schemas.openxmlformats.org/drawingml/2006/main">
            <a:r>
              <a:t>              "development": "모델·정책·지식 판본별 운영·복구 연계",</a:t>
            </a:r>
          </a:p>
          <a:p xmlns:a="http://schemas.openxmlformats.org/drawingml/2006/main">
            <a:r>
              <a:t>              "output": "업무건·원천·역할·변경 연결 명세",</a:t>
            </a:r>
          </a:p>
          <a:p xmlns:a="http://schemas.openxmlformats.org/drawingml/2006/main">
            <a:r>
              <a:t>              "testId": "RULEWORK-1019700-1-T02",</a:t>
            </a:r>
          </a:p>
          <a:p xmlns:a="http://schemas.openxmlformats.org/drawingml/2006/main">
            <a:r>
              <a:t>              "criterion": "배포 판본 변경·롤백·필수 거부 시험"</a:t>
            </a:r>
          </a:p>
          <a:p xmlns:a="http://schemas.openxmlformats.org/drawingml/2006/main">
            <a:r>
              <a:t>            },</a:t>
            </a:r>
          </a:p>
          <a:p xmlns:a="http://schemas.openxmlformats.org/drawingml/2006/main">
            <a:r>
              <a:t>            {</a:t>
            </a:r>
          </a:p>
          <a:p xmlns:a="http://schemas.openxmlformats.org/drawingml/2006/main">
            <a:r>
              <a:t>              "id": "RULEWORK-1019700-1-R03",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"RULEWORK-1019700-1-T03",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"RULEWORK-1019700-2",</a:t>
            </a:r>
          </a:p>
          <a:p xmlns:a="http://schemas.openxmlformats.org/drawingml/2006/main">
            <a:r>
              <a:t>          "text": "2. 인공지능(AI) 시범 서비스(PoC) 추진",</a:t>
            </a:r>
          </a:p>
          <a:p xmlns:a="http://schemas.openxmlformats.org/drawingml/2006/main">
            <a:r>
              <a:t>          "locator": "별표4 · T37 · 4행 · 업무분장 열",</a:t>
            </a:r>
          </a:p>
          <a:p xmlns:a="http://schemas.openxmlformats.org/drawingml/2006/main">
            <a:r>
              <a:t>          "restriction": "부칙 제1·2조: 팀장 최초 인사발령일부터 시행 · 발령일 미확인 · 시행 전 AI혁신처 관련 업무·정원 담당",</a:t>
            </a:r>
          </a:p>
          <a:p xmlns:a="http://schemas.openxmlformats.org/drawingml/2006/main">
            <a:r>
              <a:t>          "requirements": [</a:t>
            </a:r>
          </a:p>
          <a:p xmlns:a="http://schemas.openxmlformats.org/drawingml/2006/main">
            <a:r>
              <a:t>            {</a:t>
            </a:r>
          </a:p>
          <a:p xmlns:a="http://schemas.openxmlformats.org/drawingml/2006/main">
            <a:r>
              <a:t>              "id": "RULEWORK-1019700-2-R01",</a:t>
            </a:r>
          </a:p>
          <a:p xmlns:a="http://schemas.openxmlformats.org/drawingml/2006/main">
            <a:r>
              <a:t>              "title": "업무 맥락·전용 지식 구성",</a:t>
            </a:r>
          </a:p>
          <a:p xmlns:a="http://schemas.openxmlformats.org/drawingml/2006/main">
            <a:r>
              <a:t>              "development": "직무·업무건 기반 검색·응답 구성",</a:t>
            </a:r>
          </a:p>
          <a:p xmlns:a="http://schemas.openxmlformats.org/drawingml/2006/main">
            <a:r>
              <a:t>              "output": "부서별 구성·평가·배포 명세",</a:t>
            </a:r>
          </a:p>
          <a:p xmlns:a="http://schemas.openxmlformats.org/drawingml/2006/main">
            <a:r>
              <a:t>              "testId": "RULEWORK-1019700-2-T01",</a:t>
            </a:r>
          </a:p>
          <a:p xmlns:a="http://schemas.openxmlformats.org/drawingml/2006/main">
            <a:r>
              <a:t>              "criterion": "동일 요청의 부서·역할별 결과·근거 대조"</a:t>
            </a:r>
          </a:p>
          <a:p xmlns:a="http://schemas.openxmlformats.org/drawingml/2006/main">
            <a:r>
              <a:t>            },</a:t>
            </a:r>
          </a:p>
          <a:p xmlns:a="http://schemas.openxmlformats.org/drawingml/2006/main">
            <a:r>
              <a:t>            {</a:t>
            </a:r>
          </a:p>
          <a:p xmlns:a="http://schemas.openxmlformats.org/drawingml/2006/main">
            <a:r>
              <a:t>              "id": "RULEWORK-1019700-2-R02",</a:t>
            </a:r>
          </a:p>
          <a:p xmlns:a="http://schemas.openxmlformats.org/drawingml/2006/main">
            <a:r>
              <a:t>              "title": "업무건·역할·시스템 연결",</a:t>
            </a:r>
          </a:p>
          <a:p xmlns:a="http://schemas.openxmlformats.org/drawingml/2006/main">
            <a:r>
              <a:t>              "development": "모델·정책·지식 판본별 운영·복구 연계",</a:t>
            </a:r>
          </a:p>
          <a:p xmlns:a="http://schemas.openxmlformats.org/drawingml/2006/main">
            <a:r>
              <a:t>              "output": "업무건·원천·역할·변경 연결 명세",</a:t>
            </a:r>
          </a:p>
          <a:p xmlns:a="http://schemas.openxmlformats.org/drawingml/2006/main">
            <a:r>
              <a:t>              "testId": "RULEWORK-1019700-2-T02",</a:t>
            </a:r>
          </a:p>
          <a:p xmlns:a="http://schemas.openxmlformats.org/drawingml/2006/main">
            <a:r>
              <a:t>              "criterion": "배포 판본 변경·롤백·필수 거부 시험"</a:t>
            </a:r>
          </a:p>
          <a:p xmlns:a="http://schemas.openxmlformats.org/drawingml/2006/main">
            <a:r>
              <a:t>            },</a:t>
            </a:r>
          </a:p>
          <a:p xmlns:a="http://schemas.openxmlformats.org/drawingml/2006/main">
            <a:r>
              <a:t>            {</a:t>
            </a:r>
          </a:p>
          <a:p xmlns:a="http://schemas.openxmlformats.org/drawingml/2006/main">
            <a:r>
              <a:t>              "id": "RULEWORK-1019700-2-R03",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"RULEWORK-1019700-2-T03",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"code": "1016050",</a:t>
            </a:r>
          </a:p>
          <a:p xmlns:a="http://schemas.openxmlformats.org/drawingml/2006/main">
            <a:r>
              <a:t>      "name": "예산처",</a:t>
            </a:r>
          </a:p>
          <a:p xmlns:a="http://schemas.openxmlformats.org/drawingml/2006/main">
            <a:r>
              <a:t>      "job": "조직·분장·전결 관리",</a:t>
            </a:r>
          </a:p>
          <a:p xmlns:a="http://schemas.openxmlformats.org/drawingml/2006/main">
            <a:r>
              <a:t>      "indices": [</a:t>
            </a:r>
          </a:p>
          <a:p xmlns:a="http://schemas.openxmlformats.org/drawingml/2006/main">
            <a:r>
              <a:t>        7,</a:t>
            </a:r>
          </a:p>
          <a:p xmlns:a="http://schemas.openxmlformats.org/drawingml/2006/main">
            <a:r>
              <a:t>        10,</a:t>
            </a:r>
          </a:p>
          <a:p xmlns:a="http://schemas.openxmlformats.org/drawingml/2006/main">
            <a:r>
              <a:t>        11</a:t>
            </a:r>
          </a:p>
          <a:p xmlns:a="http://schemas.openxmlformats.org/drawingml/2006/main">
            <a:r>
              <a:t>      ],</a:t>
            </a:r>
          </a:p>
          <a:p xmlns:a="http://schemas.openxmlformats.org/drawingml/2006/main">
            <a:r>
              <a:t>      "duties": [</a:t>
            </a:r>
          </a:p>
          <a:p xmlns:a="http://schemas.openxmlformats.org/drawingml/2006/main">
            <a:r>
              <a:t>        "8. 조직 및 정원관리 총괄",</a:t>
            </a:r>
          </a:p>
          <a:p xmlns:a="http://schemas.openxmlformats.org/drawingml/2006/main">
            <a:r>
              <a:t>        "9. 위임전결에 관한 사항",</a:t>
            </a:r>
          </a:p>
          <a:p xmlns:a="http://schemas.openxmlformats.org/drawingml/2006/main">
            <a:r>
              <a:t>        "10. 업무분장 조정‧관리"</a:t>
            </a:r>
          </a:p>
          <a:p xmlns:a="http://schemas.openxmlformats.org/drawingml/2006/main">
            <a:r>
              <a:t>      ],</a:t>
            </a:r>
          </a:p>
          <a:p xmlns:a="http://schemas.openxmlformats.org/drawingml/2006/main">
            <a:r>
              <a:t>      "locator": "별표4 · T36 · 4행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"workItems": [</a:t>
            </a:r>
          </a:p>
          <a:p xmlns:a="http://schemas.openxmlformats.org/drawingml/2006/main">
            <a:r>
              <a:t>        {</a:t>
            </a:r>
          </a:p>
          <a:p xmlns:a="http://schemas.openxmlformats.org/drawingml/2006/main">
            <a:r>
              <a:t>          "id": "RULEWORK-1016050-8",</a:t>
            </a:r>
          </a:p>
          <a:p xmlns:a="http://schemas.openxmlformats.org/drawingml/2006/main">
            <a:r>
              <a:t>          "text": "8. 조직 및 정원관리 총괄",</a:t>
            </a:r>
          </a:p>
          <a:p xmlns:a="http://schemas.openxmlformats.org/drawingml/2006/main">
            <a:r>
              <a:t>          "locator": "별표4 · T36 · 4행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"RULEWORK-1016050-8-R01",</a:t>
            </a:r>
          </a:p>
          <a:p xmlns:a="http://schemas.openxmlformats.org/drawingml/2006/main">
            <a:r>
              <a:t>              "title": "업무 맥락·전용 지식 구성",</a:t>
            </a:r>
          </a:p>
          <a:p xmlns:a="http://schemas.openxmlformats.org/drawingml/2006/main">
            <a:r>
              <a:t>              "development": "공식 키·별칭·승계 관계 매핑",</a:t>
            </a:r>
          </a:p>
          <a:p xmlns:a="http://schemas.openxmlformats.org/drawingml/2006/main">
            <a:r>
              <a:t>              "output": "조직·직무·역할·유효기간표",</a:t>
            </a:r>
          </a:p>
          <a:p xmlns:a="http://schemas.openxmlformats.org/drawingml/2006/main">
            <a:r>
              <a:t>              "testId": "RULEWORK-1016050-8-T01",</a:t>
            </a:r>
          </a:p>
          <a:p xmlns:a="http://schemas.openxmlformats.org/drawingml/2006/main">
            <a:r>
              <a:t>              "criterion": "동명이인·효력일 전후·겸직·종료 정답셋 대조"</a:t>
            </a:r>
          </a:p>
          <a:p xmlns:a="http://schemas.openxmlformats.org/drawingml/2006/main">
            <a:r>
              <a:t>            },</a:t>
            </a:r>
          </a:p>
          <a:p xmlns:a="http://schemas.openxmlformats.org/drawingml/2006/main">
            <a:r>
              <a:t>            {</a:t>
            </a:r>
          </a:p>
          <a:p xmlns:a="http://schemas.openxmlformats.org/drawingml/2006/main">
            <a:r>
              <a:t>              "id": "RULEWORK-1016050-8-R02",</a:t>
            </a:r>
          </a:p>
          <a:p xmlns:a="http://schemas.openxmlformats.org/drawingml/2006/main">
            <a:r>
              <a:t>              "title": "업무건·역할·시스템 연결",</a:t>
            </a:r>
          </a:p>
          <a:p xmlns:a="http://schemas.openxmlformats.org/drawingml/2006/main">
            <a:r>
              <a:t>              "development": "이동·겸직·종료에 따른 권한·캐시 재검증",</a:t>
            </a:r>
          </a:p>
          <a:p xmlns:a="http://schemas.openxmlformats.org/drawingml/2006/main">
            <a:r>
              <a:t>              "output": "업무건·원천·역할·변경 연결 명세",</a:t>
            </a:r>
          </a:p>
          <a:p xmlns:a="http://schemas.openxmlformats.org/drawingml/2006/main">
            <a:r>
              <a:t>              "testId": "RULEWORK-1016050-8-T02",</a:t>
            </a:r>
          </a:p>
          <a:p xmlns:a="http://schemas.openxmlformats.org/drawingml/2006/main">
            <a:r>
              <a:t>              "criterion": "종료된 소속·권한의 재사용 차단"</a:t>
            </a:r>
          </a:p>
          <a:p xmlns:a="http://schemas.openxmlformats.org/drawingml/2006/main">
            <a:r>
              <a:t>            },</a:t>
            </a:r>
          </a:p>
          <a:p xmlns:a="http://schemas.openxmlformats.org/drawingml/2006/main">
            <a:r>
              <a:t>            {</a:t>
            </a:r>
          </a:p>
          <a:p xmlns:a="http://schemas.openxmlformats.org/drawingml/2006/main">
            <a:r>
              <a:t>              "id": "RULEWORK-1016050-8-R03",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"RULEWORK-1016050-8-T03",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"RULEWORK-1016050-11",</a:t>
            </a:r>
          </a:p>
          <a:p xmlns:a="http://schemas.openxmlformats.org/drawingml/2006/main">
            <a:r>
              <a:t>          "text": "9. 위임전결에 관한 사항",</a:t>
            </a:r>
          </a:p>
          <a:p xmlns:a="http://schemas.openxmlformats.org/drawingml/2006/main">
            <a:r>
              <a:t>          "locator": "별표4 · T36 · 4행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"RULEWORK-1016050-11-R01",</a:t>
            </a:r>
          </a:p>
          <a:p xmlns:a="http://schemas.openxmlformats.org/drawingml/2006/main">
            <a:r>
              <a:t>              "title": "업무 맥락·전용 지식 구성",</a:t>
            </a:r>
          </a:p>
          <a:p xmlns:a="http://schemas.openxmlformats.org/drawingml/2006/main">
            <a:r>
              <a:t>              "development": "공식 키·별칭·승계 관계 매핑",</a:t>
            </a:r>
          </a:p>
          <a:p xmlns:a="http://schemas.openxmlformats.org/drawingml/2006/main">
            <a:r>
              <a:t>              "output": "조직·직무·역할·유효기간표",</a:t>
            </a:r>
          </a:p>
          <a:p xmlns:a="http://schemas.openxmlformats.org/drawingml/2006/main">
            <a:r>
              <a:t>              "testId": "RULEWORK-1016050-11-T01",</a:t>
            </a:r>
          </a:p>
          <a:p xmlns:a="http://schemas.openxmlformats.org/drawingml/2006/main">
            <a:r>
              <a:t>              "criterion": "동명이인·효력일 전후·겸직·종료 정답셋 대조"</a:t>
            </a:r>
          </a:p>
          <a:p xmlns:a="http://schemas.openxmlformats.org/drawingml/2006/main">
            <a:r>
              <a:t>            },</a:t>
            </a:r>
          </a:p>
          <a:p xmlns:a="http://schemas.openxmlformats.org/drawingml/2006/main">
            <a:r>
              <a:t>            {</a:t>
            </a:r>
          </a:p>
          <a:p xmlns:a="http://schemas.openxmlformats.org/drawingml/2006/main">
            <a:r>
              <a:t>              "id": "RULEWORK-1016050-11-R02",</a:t>
            </a:r>
          </a:p>
          <a:p xmlns:a="http://schemas.openxmlformats.org/drawingml/2006/main">
            <a:r>
              <a:t>              "title": "업무건·역할·시스템 연결",</a:t>
            </a:r>
          </a:p>
          <a:p xmlns:a="http://schemas.openxmlformats.org/drawingml/2006/main">
            <a:r>
              <a:t>              "development": "이동·겸직·종료에 따른 권한·캐시 재검증",</a:t>
            </a:r>
          </a:p>
          <a:p xmlns:a="http://schemas.openxmlformats.org/drawingml/2006/main">
            <a:r>
              <a:t>              "output": "업무건·원천·역할·변경 연결 명세",</a:t>
            </a:r>
          </a:p>
          <a:p xmlns:a="http://schemas.openxmlformats.org/drawingml/2006/main">
            <a:r>
              <a:t>              "testId": "RULEWORK-1016050-11-T02",</a:t>
            </a:r>
          </a:p>
          <a:p xmlns:a="http://schemas.openxmlformats.org/drawingml/2006/main">
            <a:r>
              <a:t>              "criterion": "종료된 소속·권한의 재사용 차단"</a:t>
            </a:r>
          </a:p>
          <a:p xmlns:a="http://schemas.openxmlformats.org/drawingml/2006/main">
            <a:r>
              <a:t>            },</a:t>
            </a:r>
          </a:p>
          <a:p xmlns:a="http://schemas.openxmlformats.org/drawingml/2006/main">
            <a:r>
              <a:t>            {</a:t>
            </a:r>
          </a:p>
          <a:p xmlns:a="http://schemas.openxmlformats.org/drawingml/2006/main">
            <a:r>
              <a:t>              "id": "RULEWORK-1016050-11-R03",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"RULEWORK-1016050-11-T03",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"RULEWORK-1016050-12",</a:t>
            </a:r>
          </a:p>
          <a:p xmlns:a="http://schemas.openxmlformats.org/drawingml/2006/main">
            <a:r>
              <a:t>          "text": "10. 업무분장 조정‧관리",</a:t>
            </a:r>
          </a:p>
          <a:p xmlns:a="http://schemas.openxmlformats.org/drawingml/2006/main">
            <a:r>
              <a:t>          "locator": "별표4 · T36 · 4행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"RULEWORK-1016050-12-R01",</a:t>
            </a:r>
          </a:p>
          <a:p xmlns:a="http://schemas.openxmlformats.org/drawingml/2006/main">
            <a:r>
              <a:t>              "title": "업무 맥락·전용 지식 구성",</a:t>
            </a:r>
          </a:p>
          <a:p xmlns:a="http://schemas.openxmlformats.org/drawingml/2006/main">
            <a:r>
              <a:t>              "development": "공식 키·별칭·승계 관계 매핑",</a:t>
            </a:r>
          </a:p>
          <a:p xmlns:a="http://schemas.openxmlformats.org/drawingml/2006/main">
            <a:r>
              <a:t>              "output": "조직·직무·역할·유효기간표",</a:t>
            </a:r>
          </a:p>
          <a:p xmlns:a="http://schemas.openxmlformats.org/drawingml/2006/main">
            <a:r>
              <a:t>              "testId": "RULEWORK-1016050-12-T01",</a:t>
            </a:r>
          </a:p>
          <a:p xmlns:a="http://schemas.openxmlformats.org/drawingml/2006/main">
            <a:r>
              <a:t>              "criterion": "동명이인·효력일 전후·겸직·종료 정답셋 대조"</a:t>
            </a:r>
          </a:p>
          <a:p xmlns:a="http://schemas.openxmlformats.org/drawingml/2006/main">
            <a:r>
              <a:t>            },</a:t>
            </a:r>
          </a:p>
          <a:p xmlns:a="http://schemas.openxmlformats.org/drawingml/2006/main">
            <a:r>
              <a:t>            {</a:t>
            </a:r>
          </a:p>
          <a:p xmlns:a="http://schemas.openxmlformats.org/drawingml/2006/main">
            <a:r>
              <a:t>              "id": "RULEWORK-1016050-12-R02",</a:t>
            </a:r>
          </a:p>
          <a:p xmlns:a="http://schemas.openxmlformats.org/drawingml/2006/main">
            <a:r>
              <a:t>              "title": "업무건·역할·시스템 연결",</a:t>
            </a:r>
          </a:p>
          <a:p xmlns:a="http://schemas.openxmlformats.org/drawingml/2006/main">
            <a:r>
              <a:t>              "development": "이동·겸직·종료에 따른 권한·캐시 재검증",</a:t>
            </a:r>
          </a:p>
          <a:p xmlns:a="http://schemas.openxmlformats.org/drawingml/2006/main">
            <a:r>
              <a:t>              "output": "업무건·원천·역할·변경 연결 명세",</a:t>
            </a:r>
          </a:p>
          <a:p xmlns:a="http://schemas.openxmlformats.org/drawingml/2006/main">
            <a:r>
              <a:t>              "testId": "RULEWORK-1016050-12-T02",</a:t>
            </a:r>
          </a:p>
          <a:p xmlns:a="http://schemas.openxmlformats.org/drawingml/2006/main">
            <a:r>
              <a:t>              "criterion": "종료된 소속·권한의 재사용 차단"</a:t>
            </a:r>
          </a:p>
          <a:p xmlns:a="http://schemas.openxmlformats.org/drawingml/2006/main">
            <a:r>
              <a:t>            },</a:t>
            </a:r>
          </a:p>
          <a:p xmlns:a="http://schemas.openxmlformats.org/drawingml/2006/main">
            <a:r>
              <a:t>            {</a:t>
            </a:r>
          </a:p>
          <a:p xmlns:a="http://schemas.openxmlformats.org/drawingml/2006/main">
            <a:r>
              <a:t>              "id": "RULEWORK-1016050-12-R03",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"RULEWORK-1016050-12-T03",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"code": "1018037",</a:t>
            </a:r>
          </a:p>
          <a:p xmlns:a="http://schemas.openxmlformats.org/drawingml/2006/main">
            <a:r>
              <a:t>      "name": "인재개발처",</a:t>
            </a:r>
          </a:p>
          <a:p xmlns:a="http://schemas.openxmlformats.org/drawingml/2006/main">
            <a:r>
              <a:t>      "job": "발령·인사정보 관리",</a:t>
            </a:r>
          </a:p>
          <a:p xmlns:a="http://schemas.openxmlformats.org/drawingml/2006/main">
            <a:r>
              <a:t>      "indices": [</a:t>
            </a:r>
          </a:p>
          <a:p xmlns:a="http://schemas.openxmlformats.org/drawingml/2006/main">
            <a:r>
              <a:t>        2,</a:t>
            </a:r>
          </a:p>
          <a:p xmlns:a="http://schemas.openxmlformats.org/drawingml/2006/main">
            <a:r>
              <a:t>        5</a:t>
            </a:r>
          </a:p>
          <a:p xmlns:a="http://schemas.openxmlformats.org/drawingml/2006/main">
            <a:r>
              <a:t>      ],</a:t>
            </a:r>
          </a:p>
          <a:p xmlns:a="http://schemas.openxmlformats.org/drawingml/2006/main">
            <a:r>
              <a:t>      "duties": [</a:t>
            </a:r>
          </a:p>
          <a:p xmlns:a="http://schemas.openxmlformats.org/drawingml/2006/main">
            <a:r>
              <a:t>        "3. 직원의 채용, 승진, 전보 등 임용 및 보직에 관한 업무",</a:t>
            </a:r>
          </a:p>
          <a:p xmlns:a="http://schemas.openxmlformats.org/drawingml/2006/main">
            <a:r>
              <a:t>        "6. 인사통계자료․인사정보 관리 및 인사 관련 제증명 발급"</a:t>
            </a:r>
          </a:p>
          <a:p xmlns:a="http://schemas.openxmlformats.org/drawingml/2006/main">
            <a:r>
              <a:t>      ],</a:t>
            </a:r>
          </a:p>
          <a:p xmlns:a="http://schemas.openxmlformats.org/drawingml/2006/main">
            <a:r>
              <a:t>      "locator": "별표4 · T38 · 3행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"workItems": [</a:t>
            </a:r>
          </a:p>
          <a:p xmlns:a="http://schemas.openxmlformats.org/drawingml/2006/main">
            <a:r>
              <a:t>        {</a:t>
            </a:r>
          </a:p>
          <a:p xmlns:a="http://schemas.openxmlformats.org/drawingml/2006/main">
            <a:r>
              <a:t>          "id": "RULEWORK-1018037-3",</a:t>
            </a:r>
          </a:p>
          <a:p xmlns:a="http://schemas.openxmlformats.org/drawingml/2006/main">
            <a:r>
              <a:t>          "text": "3. 직원의 채용, 승진, 전보 등 임용 및 보직에 관한 업무",</a:t>
            </a:r>
          </a:p>
          <a:p xmlns:a="http://schemas.openxmlformats.org/drawingml/2006/main">
            <a:r>
              <a:t>          "locator": "별표4 · T38 · 3행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"RULEWORK-1018037-3-R01",</a:t>
            </a:r>
          </a:p>
          <a:p xmlns:a="http://schemas.openxmlformats.org/drawingml/2006/main">
            <a:r>
              <a:t>              "title": "업무 맥락·전용 지식 구성",</a:t>
            </a:r>
          </a:p>
          <a:p xmlns:a="http://schemas.openxmlformats.org/drawingml/2006/main">
            <a:r>
              <a:t>              "development": "공식 키·별칭·승계 관계 매핑",</a:t>
            </a:r>
          </a:p>
          <a:p xmlns:a="http://schemas.openxmlformats.org/drawingml/2006/main">
            <a:r>
              <a:t>              "output": "조직·직무·역할·유효기간표",</a:t>
            </a:r>
          </a:p>
          <a:p xmlns:a="http://schemas.openxmlformats.org/drawingml/2006/main">
            <a:r>
              <a:t>              "testId": "RULEWORK-1018037-3-T01",</a:t>
            </a:r>
          </a:p>
          <a:p xmlns:a="http://schemas.openxmlformats.org/drawingml/2006/main">
            <a:r>
              <a:t>              "criterion": "동명이인·효력일 전후·겸직·종료 정답셋 대조"</a:t>
            </a:r>
          </a:p>
          <a:p xmlns:a="http://schemas.openxmlformats.org/drawingml/2006/main">
            <a:r>
              <a:t>            },</a:t>
            </a:r>
          </a:p>
          <a:p xmlns:a="http://schemas.openxmlformats.org/drawingml/2006/main">
            <a:r>
              <a:t>            {</a:t>
            </a:r>
          </a:p>
          <a:p xmlns:a="http://schemas.openxmlformats.org/drawingml/2006/main">
            <a:r>
              <a:t>              "id": "RULEWORK-1018037-3-R02",</a:t>
            </a:r>
          </a:p>
          <a:p xmlns:a="http://schemas.openxmlformats.org/drawingml/2006/main">
            <a:r>
              <a:t>              "title": "업무건·역할·시스템 연결",</a:t>
            </a:r>
          </a:p>
          <a:p xmlns:a="http://schemas.openxmlformats.org/drawingml/2006/main">
            <a:r>
              <a:t>              "development": "이동·겸직·종료에 따른 권한·캐시 재검증",</a:t>
            </a:r>
          </a:p>
          <a:p xmlns:a="http://schemas.openxmlformats.org/drawingml/2006/main">
            <a:r>
              <a:t>              "output": "업무건·원천·역할·변경 연결 명세",</a:t>
            </a:r>
          </a:p>
          <a:p xmlns:a="http://schemas.openxmlformats.org/drawingml/2006/main">
            <a:r>
              <a:t>              "testId": "RULEWORK-1018037-3-T02",</a:t>
            </a:r>
          </a:p>
          <a:p xmlns:a="http://schemas.openxmlformats.org/drawingml/2006/main">
            <a:r>
              <a:t>              "criterion": "종료된 소속·권한의 재사용 차단"</a:t>
            </a:r>
          </a:p>
          <a:p xmlns:a="http://schemas.openxmlformats.org/drawingml/2006/main">
            <a:r>
              <a:t>            },</a:t>
            </a:r>
          </a:p>
          <a:p xmlns:a="http://schemas.openxmlformats.org/drawingml/2006/main">
            <a:r>
              <a:t>            {</a:t>
            </a:r>
          </a:p>
          <a:p xmlns:a="http://schemas.openxmlformats.org/drawingml/2006/main">
            <a:r>
              <a:t>              "id": "RULEWORK-1018037-3-R03",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"RULEWORK-1018037-3-T03",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"RULEWORK-1018037-6",</a:t>
            </a:r>
          </a:p>
          <a:p xmlns:a="http://schemas.openxmlformats.org/drawingml/2006/main">
            <a:r>
              <a:t>          "text": "6. 인사통계자료․인사정보 관리 및 인사 관련 제증명 발급",</a:t>
            </a:r>
          </a:p>
          <a:p xmlns:a="http://schemas.openxmlformats.org/drawingml/2006/main">
            <a:r>
              <a:t>          "locator": "별표4 · T38 · 3행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"RULEWORK-1018037-6-R01",</a:t>
            </a:r>
          </a:p>
          <a:p xmlns:a="http://schemas.openxmlformats.org/drawingml/2006/main">
            <a:r>
              <a:t>              "title": "업무 맥락·전용 지식 구성",</a:t>
            </a:r>
          </a:p>
          <a:p xmlns:a="http://schemas.openxmlformats.org/drawingml/2006/main">
            <a:r>
              <a:t>              "development": "공식 키·별칭·승계 관계 매핑",</a:t>
            </a:r>
          </a:p>
          <a:p xmlns:a="http://schemas.openxmlformats.org/drawingml/2006/main">
            <a:r>
              <a:t>              "output": "조직·직무·역할·유효기간표",</a:t>
            </a:r>
          </a:p>
          <a:p xmlns:a="http://schemas.openxmlformats.org/drawingml/2006/main">
            <a:r>
              <a:t>              "testId": "RULEWORK-1018037-6-T01",</a:t>
            </a:r>
          </a:p>
          <a:p xmlns:a="http://schemas.openxmlformats.org/drawingml/2006/main">
            <a:r>
              <a:t>              "criterion": "동명이인·효력일 전후·겸직·종료 정답셋 대조"</a:t>
            </a:r>
          </a:p>
          <a:p xmlns:a="http://schemas.openxmlformats.org/drawingml/2006/main">
            <a:r>
              <a:t>            },</a:t>
            </a:r>
          </a:p>
          <a:p xmlns:a="http://schemas.openxmlformats.org/drawingml/2006/main">
            <a:r>
              <a:t>            {</a:t>
            </a:r>
          </a:p>
          <a:p xmlns:a="http://schemas.openxmlformats.org/drawingml/2006/main">
            <a:r>
              <a:t>              "id": "RULEWORK-1018037-6-R02",</a:t>
            </a:r>
          </a:p>
          <a:p xmlns:a="http://schemas.openxmlformats.org/drawingml/2006/main">
            <a:r>
              <a:t>              "title": "업무건·역할·시스템 연결",</a:t>
            </a:r>
          </a:p>
          <a:p xmlns:a="http://schemas.openxmlformats.org/drawingml/2006/main">
            <a:r>
              <a:t>              "development": "이동·겸직·종료에 따른 권한·캐시 재검증",</a:t>
            </a:r>
          </a:p>
          <a:p xmlns:a="http://schemas.openxmlformats.org/drawingml/2006/main">
            <a:r>
              <a:t>              "output": "업무건·원천·역할·변경 연결 명세",</a:t>
            </a:r>
          </a:p>
          <a:p xmlns:a="http://schemas.openxmlformats.org/drawingml/2006/main">
            <a:r>
              <a:t>              "testId": "RULEWORK-1018037-6-T02",</a:t>
            </a:r>
          </a:p>
          <a:p xmlns:a="http://schemas.openxmlformats.org/drawingml/2006/main">
            <a:r>
              <a:t>              "criterion": "종료된 소속·권한의 재사용 차단"</a:t>
            </a:r>
          </a:p>
          <a:p xmlns:a="http://schemas.openxmlformats.org/drawingml/2006/main">
            <a:r>
              <a:t>            },</a:t>
            </a:r>
          </a:p>
          <a:p xmlns:a="http://schemas.openxmlformats.org/drawingml/2006/main">
            <a:r>
              <a:t>            {</a:t>
            </a:r>
          </a:p>
          <a:p xmlns:a="http://schemas.openxmlformats.org/drawingml/2006/main">
            <a:r>
              <a:t>              "id": "RULEWORK-1018037-6-R03",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"RULEWORK-1018037-6-T03",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"code": "1019300",</a:t>
            </a:r>
          </a:p>
          <a:p xmlns:a="http://schemas.openxmlformats.org/drawingml/2006/main">
            <a:r>
              <a:t>      "name": "디지털기획처",</a:t>
            </a:r>
          </a:p>
          <a:p xmlns:a="http://schemas.openxmlformats.org/drawingml/2006/main">
            <a:r>
              <a:t>      "job": "정보화·데이터 품질",</a:t>
            </a:r>
          </a:p>
          <a:p xmlns:a="http://schemas.openxmlformats.org/drawingml/2006/main">
            <a:r>
              <a:t>      "indices": [</a:t>
            </a:r>
          </a:p>
          <a:p xmlns:a="http://schemas.openxmlformats.org/drawingml/2006/main">
            <a:r>
              <a:t>        12,</a:t>
            </a:r>
          </a:p>
          <a:p xmlns:a="http://schemas.openxmlformats.org/drawingml/2006/main">
            <a:r>
              <a:t>        19</a:t>
            </a:r>
          </a:p>
          <a:p xmlns:a="http://schemas.openxmlformats.org/drawingml/2006/main">
            <a:r>
              <a:t>      ],</a:t>
            </a:r>
          </a:p>
          <a:p xmlns:a="http://schemas.openxmlformats.org/drawingml/2006/main">
            <a:r>
              <a:t>      "duties": [</a:t>
            </a:r>
          </a:p>
          <a:p xmlns:a="http://schemas.openxmlformats.org/drawingml/2006/main">
            <a:r>
              <a:t>        "13. 정보화사업 사전검토(과업지시서 등) 및 시스템 구축 지원(기술분야)",</a:t>
            </a:r>
          </a:p>
          <a:p xmlns:a="http://schemas.openxmlformats.org/drawingml/2006/main">
            <a:r>
              <a:t>        "20. 데이터 품질관리"</a:t>
            </a:r>
          </a:p>
          <a:p xmlns:a="http://schemas.openxmlformats.org/drawingml/2006/main">
            <a:r>
              <a:t>      ],</a:t>
            </a:r>
          </a:p>
          <a:p xmlns:a="http://schemas.openxmlformats.org/drawingml/2006/main">
            <a:r>
              <a:t>      "locator": "별표4 · T37 · 2행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"workItems": [</a:t>
            </a:r>
          </a:p>
          <a:p xmlns:a="http://schemas.openxmlformats.org/drawingml/2006/main">
            <a:r>
              <a:t>        {</a:t>
            </a:r>
          </a:p>
          <a:p xmlns:a="http://schemas.openxmlformats.org/drawingml/2006/main">
            <a:r>
              <a:t>          "id": "RULEWORK-1019300-13",</a:t>
            </a:r>
          </a:p>
          <a:p xmlns:a="http://schemas.openxmlformats.org/drawingml/2006/main">
            <a:r>
              <a:t>          "text": "13. 정보화사업 사전검토(과업지시서 등) 및 시스템 구축 지원(기술분야)",</a:t>
            </a:r>
          </a:p>
          <a:p xmlns:a="http://schemas.openxmlformats.org/drawingml/2006/main">
            <a:r>
              <a:t>          "locator": "별표4 · T37 · 2행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"RULEWORK-1019300-13-R01",</a:t>
            </a:r>
          </a:p>
          <a:p xmlns:a="http://schemas.openxmlformats.org/drawingml/2006/main">
            <a:r>
              <a:t>              "title": "업무 맥락·전용 지식 구성",</a:t>
            </a:r>
          </a:p>
          <a:p xmlns:a="http://schemas.openxmlformats.org/drawingml/2006/main">
            <a:r>
              <a:t>              "development": "용어·필드·판본·품질 규칙 대응",</a:t>
            </a:r>
          </a:p>
          <a:p xmlns:a="http://schemas.openxmlformats.org/drawingml/2006/main">
            <a:r>
              <a:t>              "output": "품질 점검표·제공 명세·변경 이력",</a:t>
            </a:r>
          </a:p>
          <a:p xmlns:a="http://schemas.openxmlformats.org/drawingml/2006/main">
            <a:r>
              <a:t>              "testId": "RULEWORK-1019300-13-T01",</a:t>
            </a:r>
          </a:p>
          <a:p xmlns:a="http://schemas.openxmlformats.org/drawingml/2006/main">
            <a:r>
              <a:t>              "criterion": "누락·중복·단위·기간·정의의 원천 대조"</a:t>
            </a:r>
          </a:p>
          <a:p xmlns:a="http://schemas.openxmlformats.org/drawingml/2006/main">
            <a:r>
              <a:t>            },</a:t>
            </a:r>
          </a:p>
          <a:p xmlns:a="http://schemas.openxmlformats.org/drawingml/2006/main">
            <a:r>
              <a:t>            {</a:t>
            </a:r>
          </a:p>
          <a:p xmlns:a="http://schemas.openxmlformats.org/drawingml/2006/main">
            <a:r>
              <a:t>              "id": "RULEWORK-1019300-13-R02",</a:t>
            </a:r>
          </a:p>
          <a:p xmlns:a="http://schemas.openxmlformats.org/drawingml/2006/main">
            <a:r>
              <a:t>              "title": "업무건·역할·시스템 연결",</a:t>
            </a:r>
          </a:p>
          <a:p xmlns:a="http://schemas.openxmlformats.org/drawingml/2006/main">
            <a:r>
              <a:t>              "development": "소유부서 승인·제공 이력·접근정책 연계",</a:t>
            </a:r>
          </a:p>
          <a:p xmlns:a="http://schemas.openxmlformats.org/drawingml/2006/main">
            <a:r>
              <a:t>              "output": "업무건·원천·역할·변경 연결 명세",</a:t>
            </a:r>
          </a:p>
          <a:p xmlns:a="http://schemas.openxmlformats.org/drawingml/2006/main">
            <a:r>
              <a:t>              "testId": "RULEWORK-1019300-13-T02",</a:t>
            </a:r>
          </a:p>
          <a:p xmlns:a="http://schemas.openxmlformats.org/drawingml/2006/main">
            <a:r>
              <a:t>              "criterion": "공개 제한 필드·만료된 제공 승인 차단"</a:t>
            </a:r>
          </a:p>
          <a:p xmlns:a="http://schemas.openxmlformats.org/drawingml/2006/main">
            <a:r>
              <a:t>            },</a:t>
            </a:r>
          </a:p>
          <a:p xmlns:a="http://schemas.openxmlformats.org/drawingml/2006/main">
            <a:r>
              <a:t>            {</a:t>
            </a:r>
          </a:p>
          <a:p xmlns:a="http://schemas.openxmlformats.org/drawingml/2006/main">
            <a:r>
              <a:t>              "id": "RULEWORK-1019300-13-R03",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"RULEWORK-1019300-13-T03",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"RULEWORK-1019300-20",</a:t>
            </a:r>
          </a:p>
          <a:p xmlns:a="http://schemas.openxmlformats.org/drawingml/2006/main">
            <a:r>
              <a:t>          "text": "20. 데이터 품질관리",</a:t>
            </a:r>
          </a:p>
          <a:p xmlns:a="http://schemas.openxmlformats.org/drawingml/2006/main">
            <a:r>
              <a:t>          "locator": "별표4 · T37 · 2행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"RULEWORK-1019300-20-R01",</a:t>
            </a:r>
          </a:p>
          <a:p xmlns:a="http://schemas.openxmlformats.org/drawingml/2006/main">
            <a:r>
              <a:t>              "title": "업무 맥락·전용 지식 구성",</a:t>
            </a:r>
          </a:p>
          <a:p xmlns:a="http://schemas.openxmlformats.org/drawingml/2006/main">
            <a:r>
              <a:t>              "development": "시스템·변경·업무건 관계 추적",</a:t>
            </a:r>
          </a:p>
          <a:p xmlns:a="http://schemas.openxmlformats.org/drawingml/2006/main">
            <a:r>
              <a:t>              "output": "영향분석·조치·복구·대사 기록",</a:t>
            </a:r>
          </a:p>
          <a:p xmlns:a="http://schemas.openxmlformats.org/drawingml/2006/main">
            <a:r>
              <a:t>              "testId": "RULEWORK-1019300-20-T01",</a:t>
            </a:r>
          </a:p>
          <a:p xmlns:a="http://schemas.openxmlformats.org/drawingml/2006/main">
            <a:r>
              <a:t>              "criterion": "중복·누락·순서 역전·장애 사례의 결과 대조"</a:t>
            </a:r>
          </a:p>
          <a:p xmlns:a="http://schemas.openxmlformats.org/drawingml/2006/main">
            <a:r>
              <a:t>            },</a:t>
            </a:r>
          </a:p>
          <a:p xmlns:a="http://schemas.openxmlformats.org/drawingml/2006/main">
            <a:r>
              <a:t>            {</a:t>
            </a:r>
          </a:p>
          <a:p xmlns:a="http://schemas.openxmlformats.org/drawingml/2006/main">
            <a:r>
              <a:t>              "id": "RULEWORK-1019300-20-R02",</a:t>
            </a:r>
          </a:p>
          <a:p xmlns:a="http://schemas.openxmlformats.org/drawingml/2006/main">
            <a:r>
              <a:t>              "title": "업무건·역할·시스템 연결",</a:t>
            </a:r>
          </a:p>
          <a:p xmlns:a="http://schemas.openxmlformats.org/drawingml/2006/main">
            <a:r>
              <a:t>              "development": "멱등 요청·오류 재처리·승인된 연계 어댑터",</a:t>
            </a:r>
          </a:p>
          <a:p xmlns:a="http://schemas.openxmlformats.org/drawingml/2006/main">
            <a:r>
              <a:t>              "output": "업무건·원천·역할·변경 연결 명세",</a:t>
            </a:r>
          </a:p>
          <a:p xmlns:a="http://schemas.openxmlformats.org/drawingml/2006/main">
            <a:r>
              <a:t>              "testId": "RULEWORK-1019300-20-T02",</a:t>
            </a:r>
          </a:p>
          <a:p xmlns:a="http://schemas.openxmlformats.org/drawingml/2006/main">
            <a:r>
              <a:t>              "criterion": "무승인 변경·중복 실행 차단 및 복구 검증"</a:t>
            </a:r>
          </a:p>
          <a:p xmlns:a="http://schemas.openxmlformats.org/drawingml/2006/main">
            <a:r>
              <a:t>            },</a:t>
            </a:r>
          </a:p>
          <a:p xmlns:a="http://schemas.openxmlformats.org/drawingml/2006/main">
            <a:r>
              <a:t>            {</a:t>
            </a:r>
          </a:p>
          <a:p xmlns:a="http://schemas.openxmlformats.org/drawingml/2006/main">
            <a:r>
              <a:t>              "id": "RULEWORK-1019300-20-R03",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"RULEWORK-1019300-20-T03",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"code": "1019500",</a:t>
            </a:r>
          </a:p>
          <a:p xmlns:a="http://schemas.openxmlformats.org/drawingml/2006/main">
            <a:r>
              <a:t>      "name": "정보보안처",</a:t>
            </a:r>
          </a:p>
          <a:p xmlns:a="http://schemas.openxmlformats.org/drawingml/2006/main">
            <a:r>
              <a:t>      "job": "보안·개인정보 관리",</a:t>
            </a:r>
          </a:p>
          <a:p xmlns:a="http://schemas.openxmlformats.org/drawingml/2006/main">
            <a:r>
              <a:t>      "indices": [</a:t>
            </a:r>
          </a:p>
          <a:p xmlns:a="http://schemas.openxmlformats.org/drawingml/2006/main">
            <a:r>
              <a:t>        0,</a:t>
            </a:r>
          </a:p>
          <a:p xmlns:a="http://schemas.openxmlformats.org/drawingml/2006/main">
            <a:r>
              <a:t>        9</a:t>
            </a:r>
          </a:p>
          <a:p xmlns:a="http://schemas.openxmlformats.org/drawingml/2006/main">
            <a:r>
              <a:t>      ],</a:t>
            </a:r>
          </a:p>
          <a:p xmlns:a="http://schemas.openxmlformats.org/drawingml/2006/main">
            <a:r>
              <a:t>      "duties": [</a:t>
            </a:r>
          </a:p>
          <a:p xmlns:a="http://schemas.openxmlformats.org/drawingml/2006/main">
            <a:r>
              <a:t>        "1. 정보보안 업무총괄 관리",</a:t>
            </a:r>
          </a:p>
          <a:p xmlns:a="http://schemas.openxmlformats.org/drawingml/2006/main">
            <a:r>
              <a:t>        "10. 개인정보보호 업무총괄 관리"</a:t>
            </a:r>
          </a:p>
          <a:p xmlns:a="http://schemas.openxmlformats.org/drawingml/2006/main">
            <a:r>
              <a:t>      ],</a:t>
            </a:r>
          </a:p>
          <a:p xmlns:a="http://schemas.openxmlformats.org/drawingml/2006/main">
            <a:r>
              <a:t>      "locator": "별표4 · T37 · 5행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"workItems": [</a:t>
            </a:r>
          </a:p>
          <a:p xmlns:a="http://schemas.openxmlformats.org/drawingml/2006/main">
            <a:r>
              <a:t>        {</a:t>
            </a:r>
          </a:p>
          <a:p xmlns:a="http://schemas.openxmlformats.org/drawingml/2006/main">
            <a:r>
              <a:t>          "id": "RULEWORK-1019500-1",</a:t>
            </a:r>
          </a:p>
          <a:p xmlns:a="http://schemas.openxmlformats.org/drawingml/2006/main">
            <a:r>
              <a:t>          "text": "1. 정보보안 업무총괄 관리",</a:t>
            </a:r>
          </a:p>
          <a:p xmlns:a="http://schemas.openxmlformats.org/drawingml/2006/main">
            <a:r>
              <a:t>          "locator": "별표4 · T37 · 5행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"RULEWORK-1019500-1-R01",</a:t>
            </a:r>
          </a:p>
          <a:p xmlns:a="http://schemas.openxmlformats.org/drawingml/2006/main">
            <a:r>
              <a:t>              "title": "업무 맥락·전용 지식 구성",</a:t>
            </a:r>
          </a:p>
          <a:p xmlns:a="http://schemas.openxmlformats.org/drawingml/2006/main">
            <a:r>
              <a:t>              "development": "문서·필드·행위별 제한 분류",</a:t>
            </a:r>
          </a:p>
          <a:p xmlns:a="http://schemas.openxmlformats.org/drawingml/2006/main">
            <a:r>
              <a:t>              "output": "통제항목·허용·거부·보완 대장",</a:t>
            </a:r>
          </a:p>
          <a:p xmlns:a="http://schemas.openxmlformats.org/drawingml/2006/main">
            <a:r>
              <a:t>              "testId": "RULEWORK-1019500-1-T01",</a:t>
            </a:r>
          </a:p>
          <a:p xmlns:a="http://schemas.openxmlformats.org/drawingml/2006/main">
            <a:r>
              <a:t>              "criterion": "민감 필드 누락·과잉 마스킹·근거 위치 대조"</a:t>
            </a:r>
          </a:p>
          <a:p xmlns:a="http://schemas.openxmlformats.org/drawingml/2006/main">
            <a:r>
              <a:t>            },</a:t>
            </a:r>
          </a:p>
          <a:p xmlns:a="http://schemas.openxmlformats.org/drawingml/2006/main">
            <a:r>
              <a:t>            {</a:t>
            </a:r>
          </a:p>
          <a:p xmlns:a="http://schemas.openxmlformats.org/drawingml/2006/main">
            <a:r>
              <a:t>              "id": "RULEWORK-1019500-1-R02",</a:t>
            </a:r>
          </a:p>
          <a:p xmlns:a="http://schemas.openxmlformats.org/drawingml/2006/main">
            <a:r>
              <a:t>              "title": "업무건·역할·시스템 연결",</a:t>
            </a:r>
          </a:p>
          <a:p xmlns:a="http://schemas.openxmlformats.org/drawingml/2006/main">
            <a:r>
              <a:t>              "development": "검색·생성·반출·대기 작업의 정책 재검증",</a:t>
            </a:r>
          </a:p>
          <a:p xmlns:a="http://schemas.openxmlformats.org/drawingml/2006/main">
            <a:r>
              <a:t>              "output": "업무건·원천·역할·변경 연결 명세",</a:t>
            </a:r>
          </a:p>
          <a:p xmlns:a="http://schemas.openxmlformats.org/drawingml/2006/main">
            <a:r>
              <a:t>              "testId": "RULEWORK-1019500-1-T02",</a:t>
            </a:r>
          </a:p>
          <a:p xmlns:a="http://schemas.openxmlformats.org/drawingml/2006/main">
            <a:r>
              <a:t>              "criterion": "비인가 노출·실행 0건 및 회수 후 재접근 차단"</a:t>
            </a:r>
          </a:p>
          <a:p xmlns:a="http://schemas.openxmlformats.org/drawingml/2006/main">
            <a:r>
              <a:t>            },</a:t>
            </a:r>
          </a:p>
          <a:p xmlns:a="http://schemas.openxmlformats.org/drawingml/2006/main">
            <a:r>
              <a:t>            {</a:t>
            </a:r>
          </a:p>
          <a:p xmlns:a="http://schemas.openxmlformats.org/drawingml/2006/main">
            <a:r>
              <a:t>              "id": "RULEWORK-1019500-1-R03",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"RULEWORK-1019500-1-T03",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"RULEWORK-1019500-10",</a:t>
            </a:r>
          </a:p>
          <a:p xmlns:a="http://schemas.openxmlformats.org/drawingml/2006/main">
            <a:r>
              <a:t>          "text": "10. 개인정보보호 업무총괄 관리",</a:t>
            </a:r>
          </a:p>
          <a:p xmlns:a="http://schemas.openxmlformats.org/drawingml/2006/main">
            <a:r>
              <a:t>          "locator": "별표4 · T37 · 5행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"RULEWORK-1019500-10-R01",</a:t>
            </a:r>
          </a:p>
          <a:p xmlns:a="http://schemas.openxmlformats.org/drawingml/2006/main">
            <a:r>
              <a:t>              "title": "업무 맥락·전용 지식 구성",</a:t>
            </a:r>
          </a:p>
          <a:p xmlns:a="http://schemas.openxmlformats.org/drawingml/2006/main">
            <a:r>
              <a:t>              "development": "문서·필드·행위별 제한 분류",</a:t>
            </a:r>
          </a:p>
          <a:p xmlns:a="http://schemas.openxmlformats.org/drawingml/2006/main">
            <a:r>
              <a:t>              "output": "통제항목·허용·거부·보완 대장",</a:t>
            </a:r>
          </a:p>
          <a:p xmlns:a="http://schemas.openxmlformats.org/drawingml/2006/main">
            <a:r>
              <a:t>              "testId": "RULEWORK-1019500-10-T01",</a:t>
            </a:r>
          </a:p>
          <a:p xmlns:a="http://schemas.openxmlformats.org/drawingml/2006/main">
            <a:r>
              <a:t>              "criterion": "민감 필드 누락·과잉 마스킹·근거 위치 대조"</a:t>
            </a:r>
          </a:p>
          <a:p xmlns:a="http://schemas.openxmlformats.org/drawingml/2006/main">
            <a:r>
              <a:t>            },</a:t>
            </a:r>
          </a:p>
          <a:p xmlns:a="http://schemas.openxmlformats.org/drawingml/2006/main">
            <a:r>
              <a:t>            {</a:t>
            </a:r>
          </a:p>
          <a:p xmlns:a="http://schemas.openxmlformats.org/drawingml/2006/main">
            <a:r>
              <a:t>              "id": "RULEWORK-1019500-10-R02",</a:t>
            </a:r>
          </a:p>
          <a:p xmlns:a="http://schemas.openxmlformats.org/drawingml/2006/main">
            <a:r>
              <a:t>              "title": "업무건·역할·시스템 연결",</a:t>
            </a:r>
          </a:p>
          <a:p xmlns:a="http://schemas.openxmlformats.org/drawingml/2006/main">
            <a:r>
              <a:t>              "development": "검색·생성·반출·대기 작업의 정책 재검증",</a:t>
            </a:r>
          </a:p>
          <a:p xmlns:a="http://schemas.openxmlformats.org/drawingml/2006/main">
            <a:r>
              <a:t>              "output": "업무건·원천·역할·변경 연결 명세",</a:t>
            </a:r>
          </a:p>
          <a:p xmlns:a="http://schemas.openxmlformats.org/drawingml/2006/main">
            <a:r>
              <a:t>              "testId": "RULEWORK-1019500-10-T02",</a:t>
            </a:r>
          </a:p>
          <a:p xmlns:a="http://schemas.openxmlformats.org/drawingml/2006/main">
            <a:r>
              <a:t>              "criterion": "비인가 노출·실행 0건 및 회수 후 재접근 차단"</a:t>
            </a:r>
          </a:p>
          <a:p xmlns:a="http://schemas.openxmlformats.org/drawingml/2006/main">
            <a:r>
              <a:t>            },</a:t>
            </a:r>
          </a:p>
          <a:p xmlns:a="http://schemas.openxmlformats.org/drawingml/2006/main">
            <a:r>
              <a:t>            {</a:t>
            </a:r>
          </a:p>
          <a:p xmlns:a="http://schemas.openxmlformats.org/drawingml/2006/main">
            <a:r>
              <a:t>              "id": "RULEWORK-1019500-10-R03",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"RULEWORK-1019500-10-T03",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"reuseItems": [</a:t>
            </a:r>
          </a:p>
          <a:p xmlns:a="http://schemas.openxmlformats.org/drawingml/2006/main">
            <a:r>
              <a:t>    {</a:t>
            </a:r>
          </a:p>
          <a:p xmlns:a="http://schemas.openxmlformats.org/drawingml/2006/main">
            <a:r>
              <a:t>      "assetId": "CCK-01",</a:t>
            </a:r>
          </a:p>
          <a:p xmlns:a="http://schemas.openxmlformats.org/drawingml/2006/main">
            <a:r>
              <a:t>      "use": "NOA의 대화·검색·서식·스킬"</a:t>
            </a:r>
          </a:p>
          <a:p xmlns:a="http://schemas.openxmlformats.org/drawingml/2006/main">
            <a:r>
              <a:t>    },</a:t>
            </a:r>
          </a:p>
          <a:p xmlns:a="http://schemas.openxmlformats.org/drawingml/2006/main">
            <a:r>
              <a:t>    {</a:t>
            </a:r>
          </a:p>
          <a:p xmlns:a="http://schemas.openxmlformats.org/drawingml/2006/main">
            <a:r>
              <a:t>      "assetId": "CCK-03",</a:t>
            </a:r>
          </a:p>
          <a:p xmlns:a="http://schemas.openxmlformats.org/drawingml/2006/main">
            <a:r>
              <a:t>      "use": "Connor 명세의 실행·로그 경계"</a:t>
            </a:r>
          </a:p>
          <a:p xmlns:a="http://schemas.openxmlformats.org/drawingml/2006/main">
            <a:r>
              <a:t>    }</a:t>
            </a:r>
          </a:p>
          <a:p xmlns:a="http://schemas.openxmlformats.org/drawingml/2006/main">
            <a:r>
              <a:t>  ],</a:t>
            </a:r>
          </a:p>
          <a:p xmlns:a="http://schemas.openxmlformats.org/drawingml/2006/main">
            <a:r>
              <a:t>  "deliverables": [</a:t>
            </a:r>
          </a:p>
          <a:p xmlns:a="http://schemas.openxmlformats.org/drawingml/2006/main">
            <a:r>
              <a:t>    "사람–조직–직무–업무 관계·효력일 모델",</a:t>
            </a:r>
          </a:p>
          <a:p xmlns:a="http://schemas.openxmlformats.org/drawingml/2006/main">
            <a:r>
              <a:t>    "업무 분류기·검색 전 정책 집행 연결"</a:t>
            </a:r>
          </a:p>
          <a:p xmlns:a="http://schemas.openxmlformats.org/drawingml/2006/main">
            <a:r>
              <a:t>  ],</a:t>
            </a:r>
          </a:p>
          <a:p xmlns:a="http://schemas.openxmlformats.org/drawingml/2006/main">
            <a:r>
              <a:t>  "acceptancePlan": {</a:t>
            </a:r>
          </a:p>
          <a:p xmlns:a="http://schemas.openxmlformats.org/drawingml/2006/main">
            <a:r>
              <a:t>    "sample": "동명이인·겸직·전보·회수 전후 동일 요청",</a:t>
            </a:r>
          </a:p>
          <a:p xmlns:a="http://schemas.openxmlformats.org/drawingml/2006/main">
            <a:r>
              <a:t>    "criterion": "정답 조직·업무·서식 일치, 모호한 식별 보류, 비인가 노출·실행 0건 기준안",</a:t>
            </a:r>
          </a:p>
          <a:p xmlns:a="http://schemas.openxmlformats.org/drawingml/2006/main">
            <a:r>
              <a:t>    "evidence": "신원 매핑 정답셋·교차권한 결과·변경 전파·복구 기록",</a:t>
            </a:r>
          </a:p>
          <a:p xmlns:a="http://schemas.openxmlformats.org/drawingml/2006/main">
            <a:r>
              <a:t>    "execution": "미실행"</a:t>
            </a:r>
          </a:p>
          <a:p xmlns:a="http://schemas.openxmlformats.org/drawingml/2006/main">
            <a:r>
              <a:t>  },</a:t>
            </a:r>
          </a:p>
          <a:p xmlns:a="http://schemas.openxmlformats.org/drawingml/2006/main">
            <a:r>
              <a:t>  "formula": "직무·업무 분류 정답 건수 ÷ 평가 건수 / 변경 전파 지연 / 비인가 노출 건수",</a:t>
            </a:r>
          </a:p>
          <a:p xmlns:a="http://schemas.openxmlformats.org/drawingml/2006/main">
            <a:r>
              <a:t>  "comparison": "동일 난도·동일 기간의 기존 방식 대비 평가 / 검토·재작업 포함 / 목표·표본 수의 착수 단계 합의",</a:t>
            </a:r>
          </a:p>
          <a:p xmlns:a="http://schemas.openxmlformats.org/drawingml/2006/main">
            <a:r>
              <a:t>  "platformCases": [</a:t>
            </a:r>
          </a:p>
          <a:p xmlns:a="http://schemas.openxmlformats.org/drawingml/2006/main">
            <a:r>
              <a:t>    "PF-R03",</a:t>
            </a:r>
          </a:p>
          <a:p xmlns:a="http://schemas.openxmlformats.org/drawingml/2006/main">
            <a:r>
              <a:t>    "PF-R04",</a:t>
            </a:r>
          </a:p>
          <a:p xmlns:a="http://schemas.openxmlformats.org/drawingml/2006/main">
            <a:r>
              <a:t>    "PF-R09",</a:t>
            </a:r>
          </a:p>
          <a:p xmlns:a="http://schemas.openxmlformats.org/drawingml/2006/main">
            <a:r>
              <a:t>    "PF01",</a:t>
            </a:r>
          </a:p>
          <a:p xmlns:a="http://schemas.openxmlformats.org/drawingml/2006/main">
            <a:r>
              <a:t>    "PF-A03",</a:t>
            </a:r>
          </a:p>
          <a:p xmlns:a="http://schemas.openxmlformats.org/drawingml/2006/main">
            <a:r>
              <a:t>    "PF04",</a:t>
            </a:r>
          </a:p>
          <a:p xmlns:a="http://schemas.openxmlformats.org/drawingml/2006/main">
            <a:r>
              <a:t>    "PF-A06",</a:t>
            </a:r>
          </a:p>
          <a:p xmlns:a="http://schemas.openxmlformats.org/drawingml/2006/main">
            <a:r>
              <a:t>    "PF05",</a:t>
            </a:r>
          </a:p>
          <a:p xmlns:a="http://schemas.openxmlformats.org/drawingml/2006/main">
            <a:r>
              <a:t>    "PF-A08",</a:t>
            </a:r>
          </a:p>
          <a:p xmlns:a="http://schemas.openxmlformats.org/drawingml/2006/main">
            <a:r>
              <a:t>    "PF06",</a:t>
            </a:r>
          </a:p>
          <a:p xmlns:a="http://schemas.openxmlformats.org/drawingml/2006/main">
            <a:r>
              <a:t>    "PF-A16",</a:t>
            </a:r>
          </a:p>
          <a:p xmlns:a="http://schemas.openxmlformats.org/drawingml/2006/main">
            <a:r>
              <a:t>    "PF-A18",</a:t>
            </a:r>
          </a:p>
          <a:p xmlns:a="http://schemas.openxmlformats.org/drawingml/2006/main">
            <a:r>
              <a:t>    "PF-C01",</a:t>
            </a:r>
          </a:p>
          <a:p xmlns:a="http://schemas.openxmlformats.org/drawingml/2006/main">
            <a:r>
              <a:t>    "PF-C02",</a:t>
            </a:r>
          </a:p>
          <a:p xmlns:a="http://schemas.openxmlformats.org/drawingml/2006/main">
            <a:r>
              <a:t>    "PF31"</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"id": "ST-04",</a:t>
            </a:r>
          </a:p>
          <a:p xmlns:a="http://schemas.openxmlformats.org/drawingml/2006/main">
            <a:r>
              <a:t>  "number": 4,</a:t>
            </a:r>
          </a:p>
          <a:p xmlns:a="http://schemas.openxmlformats.org/drawingml/2006/main">
            <a:r>
              <a:t>  "direction": "지능형 미래 모빌리티 혁신",</a:t>
            </a:r>
          </a:p>
          <a:p xmlns:a="http://schemas.openxmlformats.org/drawingml/2006/main">
            <a:r>
              <a:t>  "strategy": "교통안전체계 인공지능 대전환",</a:t>
            </a:r>
          </a:p>
          <a:p xmlns:a="http://schemas.openxmlformats.org/drawingml/2006/main">
            <a:r>
              <a:t>  "solution": "TS 조직 네이티브 AI 공통플랫폼",</a:t>
            </a:r>
          </a:p>
          <a:p xmlns:a="http://schemas.openxmlformats.org/drawingml/2006/main">
            <a:r>
              <a:t>  "lawIds": [],</a:t>
            </a:r>
          </a:p>
          <a:p xmlns:a="http://schemas.openxmlformats.org/drawingml/2006/main">
            <a:r>
              <a:t>  "codes": [</a:t>
            </a:r>
          </a:p>
          <a:p xmlns:a="http://schemas.openxmlformats.org/drawingml/2006/main">
            <a:r>
              <a:t>    "1010100",</a:t>
            </a:r>
          </a:p>
          <a:p xmlns:a="http://schemas.openxmlformats.org/drawingml/2006/main">
            <a:r>
              <a:t>    "1019600",</a:t>
            </a:r>
          </a:p>
          <a:p xmlns:a="http://schemas.openxmlformats.org/drawingml/2006/main">
            <a:r>
              <a:t>    "1019700",</a:t>
            </a:r>
          </a:p>
          <a:p xmlns:a="http://schemas.openxmlformats.org/drawingml/2006/main">
            <a:r>
              <a:t>    "1016050",</a:t>
            </a:r>
          </a:p>
          <a:p xmlns:a="http://schemas.openxmlformats.org/drawingml/2006/main">
            <a:r>
              <a:t>    "1018037",</a:t>
            </a:r>
          </a:p>
          <a:p xmlns:a="http://schemas.openxmlformats.org/drawingml/2006/main">
            <a:r>
              <a:t>    "1019300",</a:t>
            </a:r>
          </a:p>
          <a:p xmlns:a="http://schemas.openxmlformats.org/drawingml/2006/main">
            <a:r>
              <a:t>    "1019500"</a:t>
            </a:r>
          </a:p>
          <a:p xmlns:a="http://schemas.openxmlformats.org/drawingml/2006/main">
            <a:r>
              <a:t>  ],</a:t>
            </a:r>
          </a:p>
          <a:p xmlns:a="http://schemas.openxmlformats.org/drawingml/2006/main">
            <a:r>
              <a:t>  "work": "공식 조직·직무·역할 기반의 사용자 인식 및 업무 맥락 분류",</a:t>
            </a:r>
          </a:p>
          <a:p xmlns:a="http://schemas.openxmlformats.org/drawingml/2006/main">
            <a:r>
              <a:t>  "features": [</a:t>
            </a:r>
          </a:p>
          <a:p xmlns:a="http://schemas.openxmlformats.org/drawingml/2006/main">
            <a:r>
              <a:t>    "로그인 ID·조직·담당업무·효력일 매핑",</a:t>
            </a:r>
          </a:p>
          <a:p xmlns:a="http://schemas.openxmlformats.org/drawingml/2006/main">
            <a:r>
              <a:t>    "업무별 지식·절차·서식 선택과 접근정책 집행"</a:t>
            </a:r>
          </a:p>
          <a:p xmlns:a="http://schemas.openxmlformats.org/drawingml/2006/main">
            <a:r>
              <a:t>  ],</a:t>
            </a:r>
          </a:p>
          <a:p xmlns:a="http://schemas.openxmlformats.org/drawingml/2006/main">
            <a:r>
              <a:t>  "output": "조직·업무 사전·정책표·기관 인수본",</a:t>
            </a:r>
          </a:p>
          <a:p xmlns:a="http://schemas.openxmlformats.org/drawingml/2006/main">
            <a:r>
              <a:t>  "acceptance": "GAI-R01~R12와 GAI-T01~T12의 독립 인수 기준 적용",</a:t>
            </a:r>
          </a:p>
          <a:p xmlns:a="http://schemas.openxmlformats.org/drawingml/2006/main">
            <a:r>
              <a:t>  "phase": "1차 공통 기반",</a:t>
            </a:r>
          </a:p>
          <a:p xmlns:a="http://schemas.openxmlformats.org/drawingml/2006/main">
            <a:r>
              <a:t>  "packages": [</a:t>
            </a:r>
          </a:p>
          <a:p xmlns:a="http://schemas.openxmlformats.org/drawingml/2006/main">
            <a:r>
              <a:t>    "ON-W01",</a:t>
            </a:r>
          </a:p>
          <a:p xmlns:a="http://schemas.openxmlformats.org/drawingml/2006/main">
            <a:r>
              <a:t>    "ON-W02",</a:t>
            </a:r>
          </a:p>
          <a:p xmlns:a="http://schemas.openxmlformats.org/drawingml/2006/main">
            <a:r>
              <a:t>    "ON-W03",</a:t>
            </a:r>
          </a:p>
          <a:p xmlns:a="http://schemas.openxmlformats.org/drawingml/2006/main">
            <a:r>
              <a:t>    "ON-W04",</a:t>
            </a:r>
          </a:p>
          <a:p xmlns:a="http://schemas.openxmlformats.org/drawingml/2006/main">
            <a:r>
              <a:t>    "ON-W05",</a:t>
            </a:r>
          </a:p>
          <a:p xmlns:a="http://schemas.openxmlformats.org/drawingml/2006/main">
            <a:r>
              <a:t>    "ON-W06"</a:t>
            </a:r>
          </a:p>
          <a:p xmlns:a="http://schemas.openxmlformats.org/drawingml/2006/main">
            <a:r>
              <a:t>  ],</a:t>
            </a:r>
          </a:p>
          <a:p xmlns:a="http://schemas.openxmlformats.org/drawingml/2006/main">
            <a:r>
              <a:t>  "tests": [</a:t>
            </a:r>
          </a:p>
          <a:p xmlns:a="http://schemas.openxmlformats.org/drawingml/2006/main">
            <a:r>
              <a:t>    "GAI-T01",</a:t>
            </a:r>
          </a:p>
          <a:p xmlns:a="http://schemas.openxmlformats.org/drawingml/2006/main">
            <a:r>
              <a:t>    "GAI-T02",</a:t>
            </a:r>
          </a:p>
          <a:p xmlns:a="http://schemas.openxmlformats.org/drawingml/2006/main">
            <a:r>
              <a:t>    "GAI-T03",</a:t>
            </a:r>
          </a:p>
          <a:p xmlns:a="http://schemas.openxmlformats.org/drawingml/2006/main">
            <a:r>
              <a:t>    "GAI-T04",</a:t>
            </a:r>
          </a:p>
          <a:p xmlns:a="http://schemas.openxmlformats.org/drawingml/2006/main">
            <a:r>
              <a:t>    "GAI-T05",</a:t>
            </a:r>
          </a:p>
          <a:p xmlns:a="http://schemas.openxmlformats.org/drawingml/2006/main">
            <a:r>
              <a:t>    "GAI-T06",</a:t>
            </a:r>
          </a:p>
          <a:p xmlns:a="http://schemas.openxmlformats.org/drawingml/2006/main">
            <a:r>
              <a:t>    "GAI-T07",</a:t>
            </a:r>
          </a:p>
          <a:p xmlns:a="http://schemas.openxmlformats.org/drawingml/2006/main">
            <a:r>
              <a:t>    "GAI-T08",</a:t>
            </a:r>
          </a:p>
          <a:p xmlns:a="http://schemas.openxmlformats.org/drawingml/2006/main">
            <a:r>
              <a:t>    "GAI-T09",</a:t>
            </a:r>
          </a:p>
          <a:p xmlns:a="http://schemas.openxmlformats.org/drawingml/2006/main">
            <a:r>
              <a:t>    "GAI-T10",</a:t>
            </a:r>
          </a:p>
          <a:p xmlns:a="http://schemas.openxmlformats.org/drawingml/2006/main">
            <a:r>
              <a:t>    "GAI-T11",</a:t>
            </a:r>
          </a:p>
          <a:p xmlns:a="http://schemas.openxmlformats.org/drawingml/2006/main">
            <a:r>
              <a:t>    "GAI-T12"</a:t>
            </a:r>
          </a:p>
          <a:p xmlns:a="http://schemas.openxmlformats.org/drawingml/2006/main">
            <a:r>
              <a:t>  ],</a:t>
            </a:r>
          </a:p>
          <a:p xmlns:a="http://schemas.openxmlformats.org/drawingml/2006/main">
            <a:r>
              <a:t>  "status": "솔루션·조직·범위 연결안",</a:t>
            </a:r>
          </a:p>
          <a:p xmlns:a="http://schemas.openxmlformats.org/drawingml/2006/main">
            <a:r>
              <a:t>  "basis": "설립법·직제시행세칙 기반 경영지원 업무",</a:t>
            </a:r>
          </a:p>
          <a:p xmlns:a="http://schemas.openxmlformats.org/drawingml/2006/main">
            <a:r>
              <a:t>  "foundation": "ON27-BASE / C27-COM",</a:t>
            </a:r>
          </a:p>
          <a:p xmlns:a="http://schemas.openxmlformats.org/drawingml/2006/main">
            <a:r>
              <a:t>  "dutyBindings": [</a:t>
            </a:r>
          </a:p>
          <a:p xmlns:a="http://schemas.openxmlformats.org/drawingml/2006/main">
            <a:r>
              <a:t>    {</a:t>
            </a:r>
          </a:p>
          <a:p xmlns:a="http://schemas.openxmlformats.org/drawingml/2006/main">
            <a:r>
              <a:t>      "code": "1010100",</a:t>
            </a:r>
          </a:p>
          <a:p xmlns:a="http://schemas.openxmlformats.org/drawingml/2006/main">
            <a:r>
              <a:t>      "name": "AI미래전략실",</a:t>
            </a:r>
          </a:p>
          <a:p xmlns:a="http://schemas.openxmlformats.org/drawingml/2006/main">
            <a:r>
              <a:t>      "job": "AI 전략·윤리",</a:t>
            </a:r>
          </a:p>
          <a:p xmlns:a="http://schemas.openxmlformats.org/drawingml/2006/main">
            <a:r>
              <a:t>      "indices": [</a:t>
            </a:r>
          </a:p>
          <a:p xmlns:a="http://schemas.openxmlformats.org/drawingml/2006/main">
            <a:r>
              <a:t>        3,</a:t>
            </a:r>
          </a:p>
          <a:p xmlns:a="http://schemas.openxmlformats.org/drawingml/2006/main">
            <a:r>
              <a:t>        5</a:t>
            </a:r>
          </a:p>
          <a:p xmlns:a="http://schemas.openxmlformats.org/drawingml/2006/main">
            <a:r>
              <a:t>      ],</a:t>
            </a:r>
          </a:p>
          <a:p xmlns:a="http://schemas.openxmlformats.org/drawingml/2006/main">
            <a:r>
              <a:t>      "duties": [</a:t>
            </a:r>
          </a:p>
          <a:p xmlns:a="http://schemas.openxmlformats.org/drawingml/2006/main">
            <a:r>
              <a:t>        "4. 인공지능(AI) 전환 전략 수립․조정",</a:t>
            </a:r>
          </a:p>
          <a:p xmlns:a="http://schemas.openxmlformats.org/drawingml/2006/main">
            <a:r>
              <a:t>        "6. 인공지능(AI) 제도 및 지침, 윤리기준 관리"</a:t>
            </a:r>
          </a:p>
          <a:p xmlns:a="http://schemas.openxmlformats.org/drawingml/2006/main">
            <a:r>
              <a:t>      ],</a:t>
            </a:r>
          </a:p>
          <a:p xmlns:a="http://schemas.openxmlformats.org/drawingml/2006/main">
            <a:r>
              <a:t>      "locator": "별표4 · T34 · 2행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a:t>
            </a:r>
          </a:p>
          <a:p xmlns:a="http://schemas.openxmlformats.org/drawingml/2006/main">
            <a:r>
              <a:t>    {</a:t>
            </a:r>
          </a:p>
          <a:p xmlns:a="http://schemas.openxmlformats.org/drawingml/2006/main">
            <a:r>
              <a:t>      "code": "1019600",</a:t>
            </a:r>
          </a:p>
          <a:p xmlns:a="http://schemas.openxmlformats.org/drawingml/2006/main">
            <a:r>
              <a:t>      "name": "AI혁신처",</a:t>
            </a:r>
          </a:p>
          <a:p xmlns:a="http://schemas.openxmlformats.org/drawingml/2006/main">
            <a:r>
              <a:t>      "job": "AI 사업 조정·데이터 표준",</a:t>
            </a:r>
          </a:p>
          <a:p xmlns:a="http://schemas.openxmlformats.org/drawingml/2006/main">
            <a:r>
              <a:t>      "indices": [</a:t>
            </a:r>
          </a:p>
          <a:p xmlns:a="http://schemas.openxmlformats.org/drawingml/2006/main">
            <a:r>
              <a:t>        0,</a:t>
            </a:r>
          </a:p>
          <a:p xmlns:a="http://schemas.openxmlformats.org/drawingml/2006/main">
            <a:r>
              <a:t>        2</a:t>
            </a:r>
          </a:p>
          <a:p xmlns:a="http://schemas.openxmlformats.org/drawingml/2006/main">
            <a:r>
              <a:t>      ],</a:t>
            </a:r>
          </a:p>
          <a:p xmlns:a="http://schemas.openxmlformats.org/drawingml/2006/main">
            <a:r>
              <a:t>      "duties": [</a:t>
            </a:r>
          </a:p>
          <a:p xmlns:a="http://schemas.openxmlformats.org/drawingml/2006/main">
            <a:r>
              <a:t>        "1. 인공지능(AI) 활용 서비스 구축 지원 및 성과관리",</a:t>
            </a:r>
          </a:p>
          <a:p xmlns:a="http://schemas.openxmlformats.org/drawingml/2006/main">
            <a:r>
              <a:t>        "3. 인공지능(AI) 데이터 표준화 및 데이터 스페이스 구축"</a:t>
            </a:r>
          </a:p>
          <a:p xmlns:a="http://schemas.openxmlformats.org/drawingml/2006/main">
            <a:r>
              <a:t>      ],</a:t>
            </a:r>
          </a:p>
          <a:p xmlns:a="http://schemas.openxmlformats.org/drawingml/2006/main">
            <a:r>
              <a:t>      "locator": "별표4 · T37 · 3행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a:t>
            </a:r>
          </a:p>
          <a:p xmlns:a="http://schemas.openxmlformats.org/drawingml/2006/main">
            <a:r>
              <a:t>    {</a:t>
            </a:r>
          </a:p>
          <a:p xmlns:a="http://schemas.openxmlformats.org/drawingml/2006/main">
            <a:r>
              <a:t>      "code": "1019700",</a:t>
            </a:r>
          </a:p>
          <a:p xmlns:a="http://schemas.openxmlformats.org/drawingml/2006/main">
            <a:r>
              <a:t>      "name": "AI서비스개발팀",</a:t>
            </a:r>
          </a:p>
          <a:p xmlns:a="http://schemas.openxmlformats.org/drawingml/2006/main">
            <a:r>
              <a:t>      "job": "공통플랫폼·모델 품질",</a:t>
            </a:r>
          </a:p>
          <a:p xmlns:a="http://schemas.openxmlformats.org/drawingml/2006/main">
            <a:r>
              <a:t>      "indices":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"duties": [</a:t>
            </a:r>
          </a:p>
          <a:p xmlns:a="http://schemas.openxmlformats.org/drawingml/2006/main">
            <a:r>
              <a:t>        "1. 인공지능(AI) 공통플랫폼 구축․운영 인공지능(AI) 모델 고도화․품질관리",</a:t>
            </a:r>
          </a:p>
          <a:p xmlns:a="http://schemas.openxmlformats.org/drawingml/2006/main">
            <a:r>
              <a:t>        "2. 인공지능(AI) 시범 서비스(PoC) 추진"</a:t>
            </a:r>
          </a:p>
          <a:p xmlns:a="http://schemas.openxmlformats.org/drawingml/2006/main">
            <a:r>
              <a:t>      ],</a:t>
            </a:r>
          </a:p>
          <a:p xmlns:a="http://schemas.openxmlformats.org/drawingml/2006/main">
            <a:r>
              <a:t>      "locator": "별표4 · T37 · 4행 · 업무분장 열",</a:t>
            </a:r>
          </a:p>
          <a:p xmlns:a="http://schemas.openxmlformats.org/drawingml/2006/main">
            <a:r>
              <a:t>      "restriction": "부칙 제1·2조: 팀장 최초 인사발령일부터 시행 · 발령일 미확인 · 시행 전 AI혁신처 관련 업무·정원 담당",</a:t>
            </a:r>
          </a:p>
          <a:p xmlns:a="http://schemas.openxmlformats.org/drawingml/2006/main">
            <a:r>
              <a:t>      "status": "제공 세칙 원문 연결"</a:t>
            </a:r>
          </a:p>
          <a:p xmlns:a="http://schemas.openxmlformats.org/drawingml/2006/main">
            <a:r>
              <a:t>    },</a:t>
            </a:r>
          </a:p>
          <a:p xmlns:a="http://schemas.openxmlformats.org/drawingml/2006/main">
            <a:r>
              <a:t>    {</a:t>
            </a:r>
          </a:p>
          <a:p xmlns:a="http://schemas.openxmlformats.org/drawingml/2006/main">
            <a:r>
              <a:t>      "code": "1016050",</a:t>
            </a:r>
          </a:p>
          <a:p xmlns:a="http://schemas.openxmlformats.org/drawingml/2006/main">
            <a:r>
              <a:t>      "name": "예산처",</a:t>
            </a:r>
          </a:p>
          <a:p xmlns:a="http://schemas.openxmlformats.org/drawingml/2006/main">
            <a:r>
              <a:t>      "job": "조직·분장·전결 관리",</a:t>
            </a:r>
          </a:p>
          <a:p xmlns:a="http://schemas.openxmlformats.org/drawingml/2006/main">
            <a:r>
              <a:t>      "indices": [</a:t>
            </a:r>
          </a:p>
          <a:p xmlns:a="http://schemas.openxmlformats.org/drawingml/2006/main">
            <a:r>
              <a:t>        7,</a:t>
            </a:r>
          </a:p>
          <a:p xmlns:a="http://schemas.openxmlformats.org/drawingml/2006/main">
            <a:r>
              <a:t>        10,</a:t>
            </a:r>
          </a:p>
          <a:p xmlns:a="http://schemas.openxmlformats.org/drawingml/2006/main">
            <a:r>
              <a:t>        11</a:t>
            </a:r>
          </a:p>
          <a:p xmlns:a="http://schemas.openxmlformats.org/drawingml/2006/main">
            <a:r>
              <a:t>      ],</a:t>
            </a:r>
          </a:p>
          <a:p xmlns:a="http://schemas.openxmlformats.org/drawingml/2006/main">
            <a:r>
              <a:t>      "duties": [</a:t>
            </a:r>
          </a:p>
          <a:p xmlns:a="http://schemas.openxmlformats.org/drawingml/2006/main">
            <a:r>
              <a:t>        "8. 조직 및 정원관리 총괄",</a:t>
            </a:r>
          </a:p>
          <a:p xmlns:a="http://schemas.openxmlformats.org/drawingml/2006/main">
            <a:r>
              <a:t>        "9. 위임전결에 관한 사항",</a:t>
            </a:r>
          </a:p>
          <a:p xmlns:a="http://schemas.openxmlformats.org/drawingml/2006/main">
            <a:r>
              <a:t>        "10. 업무분장 조정‧관리"</a:t>
            </a:r>
          </a:p>
          <a:p xmlns:a="http://schemas.openxmlformats.org/drawingml/2006/main">
            <a:r>
              <a:t>      ],</a:t>
            </a:r>
          </a:p>
          <a:p xmlns:a="http://schemas.openxmlformats.org/drawingml/2006/main">
            <a:r>
              <a:t>      "locator": "별표4 · T36 · 4행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a:t>
            </a:r>
          </a:p>
          <a:p xmlns:a="http://schemas.openxmlformats.org/drawingml/2006/main">
            <a:r>
              <a:t>    {</a:t>
            </a:r>
          </a:p>
          <a:p xmlns:a="http://schemas.openxmlformats.org/drawingml/2006/main">
            <a:r>
              <a:t>      "code": "1018037",</a:t>
            </a:r>
          </a:p>
          <a:p xmlns:a="http://schemas.openxmlformats.org/drawingml/2006/main">
            <a:r>
              <a:t>      "name": "인재개발처",</a:t>
            </a:r>
          </a:p>
          <a:p xmlns:a="http://schemas.openxmlformats.org/drawingml/2006/main">
            <a:r>
              <a:t>      "job": "발령·인사정보 관리",</a:t>
            </a:r>
          </a:p>
          <a:p xmlns:a="http://schemas.openxmlformats.org/drawingml/2006/main">
            <a:r>
              <a:t>      "indices": [</a:t>
            </a:r>
          </a:p>
          <a:p xmlns:a="http://schemas.openxmlformats.org/drawingml/2006/main">
            <a:r>
              <a:t>        2,</a:t>
            </a:r>
          </a:p>
          <a:p xmlns:a="http://schemas.openxmlformats.org/drawingml/2006/main">
            <a:r>
              <a:t>        5</a:t>
            </a:r>
          </a:p>
          <a:p xmlns:a="http://schemas.openxmlformats.org/drawingml/2006/main">
            <a:r>
              <a:t>      ],</a:t>
            </a:r>
          </a:p>
          <a:p xmlns:a="http://schemas.openxmlformats.org/drawingml/2006/main">
            <a:r>
              <a:t>      "duties": [</a:t>
            </a:r>
          </a:p>
          <a:p xmlns:a="http://schemas.openxmlformats.org/drawingml/2006/main">
            <a:r>
              <a:t>        "3. 직원의 채용, 승진, 전보 등 임용 및 보직에 관한 업무",</a:t>
            </a:r>
          </a:p>
          <a:p xmlns:a="http://schemas.openxmlformats.org/drawingml/2006/main">
            <a:r>
              <a:t>        "6. 인사통계자료․인사정보 관리 및 인사 관련 제증명 발급"</a:t>
            </a:r>
          </a:p>
          <a:p xmlns:a="http://schemas.openxmlformats.org/drawingml/2006/main">
            <a:r>
              <a:t>      ],</a:t>
            </a:r>
          </a:p>
          <a:p xmlns:a="http://schemas.openxmlformats.org/drawingml/2006/main">
            <a:r>
              <a:t>      "locator": "별표4 · T38 · 3행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a:t>
            </a:r>
          </a:p>
          <a:p xmlns:a="http://schemas.openxmlformats.org/drawingml/2006/main">
            <a:r>
              <a:t>    {</a:t>
            </a:r>
          </a:p>
          <a:p xmlns:a="http://schemas.openxmlformats.org/drawingml/2006/main">
            <a:r>
              <a:t>      "code": "1019300",</a:t>
            </a:r>
          </a:p>
          <a:p xmlns:a="http://schemas.openxmlformats.org/drawingml/2006/main">
            <a:r>
              <a:t>      "name": "디지털기획처",</a:t>
            </a:r>
          </a:p>
          <a:p xmlns:a="http://schemas.openxmlformats.org/drawingml/2006/main">
            <a:r>
              <a:t>      "job": "정보화·데이터 품질",</a:t>
            </a:r>
          </a:p>
          <a:p xmlns:a="http://schemas.openxmlformats.org/drawingml/2006/main">
            <a:r>
              <a:t>      "indices": [</a:t>
            </a:r>
          </a:p>
          <a:p xmlns:a="http://schemas.openxmlformats.org/drawingml/2006/main">
            <a:r>
              <a:t>        12,</a:t>
            </a:r>
          </a:p>
          <a:p xmlns:a="http://schemas.openxmlformats.org/drawingml/2006/main">
            <a:r>
              <a:t>        19</a:t>
            </a:r>
          </a:p>
          <a:p xmlns:a="http://schemas.openxmlformats.org/drawingml/2006/main">
            <a:r>
              <a:t>      ],</a:t>
            </a:r>
          </a:p>
          <a:p xmlns:a="http://schemas.openxmlformats.org/drawingml/2006/main">
            <a:r>
              <a:t>      "duties": [</a:t>
            </a:r>
          </a:p>
          <a:p xmlns:a="http://schemas.openxmlformats.org/drawingml/2006/main">
            <a:r>
              <a:t>        "13. 정보화사업 사전검토(과업지시서 등) 및 시스템 구축 지원(기술분야)",</a:t>
            </a:r>
          </a:p>
          <a:p xmlns:a="http://schemas.openxmlformats.org/drawingml/2006/main">
            <a:r>
              <a:t>        "20. 데이터 품질관리"</a:t>
            </a:r>
          </a:p>
          <a:p xmlns:a="http://schemas.openxmlformats.org/drawingml/2006/main">
            <a:r>
              <a:t>      ],</a:t>
            </a:r>
          </a:p>
          <a:p xmlns:a="http://schemas.openxmlformats.org/drawingml/2006/main">
            <a:r>
              <a:t>      "locator": "별표4 · T37 · 2행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a:t>
            </a:r>
          </a:p>
          <a:p xmlns:a="http://schemas.openxmlformats.org/drawingml/2006/main">
            <a:r>
              <a:t>    {</a:t>
            </a:r>
          </a:p>
          <a:p xmlns:a="http://schemas.openxmlformats.org/drawingml/2006/main">
            <a:r>
              <a:t>      "code": "1019500",</a:t>
            </a:r>
          </a:p>
          <a:p xmlns:a="http://schemas.openxmlformats.org/drawingml/2006/main">
            <a:r>
              <a:t>      "name": "정보보안처",</a:t>
            </a:r>
          </a:p>
          <a:p xmlns:a="http://schemas.openxmlformats.org/drawingml/2006/main">
            <a:r>
              <a:t>      "job": "보안·개인정보 관리",</a:t>
            </a:r>
          </a:p>
          <a:p xmlns:a="http://schemas.openxmlformats.org/drawingml/2006/main">
            <a:r>
              <a:t>      "indices": [</a:t>
            </a:r>
          </a:p>
          <a:p xmlns:a="http://schemas.openxmlformats.org/drawingml/2006/main">
            <a:r>
              <a:t>        0,</a:t>
            </a:r>
          </a:p>
          <a:p xmlns:a="http://schemas.openxmlformats.org/drawingml/2006/main">
            <a:r>
              <a:t>        9</a:t>
            </a:r>
          </a:p>
          <a:p xmlns:a="http://schemas.openxmlformats.org/drawingml/2006/main">
            <a:r>
              <a:t>      ],</a:t>
            </a:r>
          </a:p>
          <a:p xmlns:a="http://schemas.openxmlformats.org/drawingml/2006/main">
            <a:r>
              <a:t>      "duties": [</a:t>
            </a:r>
          </a:p>
          <a:p xmlns:a="http://schemas.openxmlformats.org/drawingml/2006/main">
            <a:r>
              <a:t>        "1. 정보보안 업무총괄 관리",</a:t>
            </a:r>
          </a:p>
          <a:p xmlns:a="http://schemas.openxmlformats.org/drawingml/2006/main">
            <a:r>
              <a:t>        "10. 개인정보보호 업무총괄 관리"</a:t>
            </a:r>
          </a:p>
          <a:p xmlns:a="http://schemas.openxmlformats.org/drawingml/2006/main">
            <a:r>
              <a:t>      ],</a:t>
            </a:r>
          </a:p>
          <a:p xmlns:a="http://schemas.openxmlformats.org/drawingml/2006/main">
            <a:r>
              <a:t>      "locator": "별표4 · T37 · 5행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a:t>
            </a:r>
          </a:p>
          <a:p xmlns:a="http://schemas.openxmlformats.org/drawingml/2006/main">
            <a:r>
              <a:t>  ],</a:t>
            </a:r>
          </a:p>
          <a:p xmlns:a="http://schemas.openxmlformats.org/drawingml/2006/main">
            <a:r>
              <a:t>  "basisNote": "설립법·별표4 내부 업무분장 / 인사·재무·계약·전결 등 업무별 규정의 별도 확인",</a:t>
            </a:r>
          </a:p>
          <a:p xmlns:a="http://schemas.openxmlformats.org/drawingml/2006/main">
            <a:r>
              <a:t>  "caseRefs": [</a:t>
            </a:r>
          </a:p>
          <a:p xmlns:a="http://schemas.openxmlformats.org/drawingml/2006/main">
            <a:r>
              <a:t>    {</a:t>
            </a:r>
          </a:p>
          <a:p xmlns:a="http://schemas.openxmlformats.org/drawingml/2006/main">
            <a:r>
              <a:t>      "caseId": "AX04",</a:t>
            </a:r>
          </a:p>
          <a:p xmlns:a="http://schemas.openxmlformats.org/drawingml/2006/main">
            <a:r>
              <a:t>      "type": "직접 업무 유사"</a:t>
            </a:r>
          </a:p>
          <a:p xmlns:a="http://schemas.openxmlformats.org/drawingml/2006/main">
            <a:r>
              <a:t>    },</a:t>
            </a:r>
          </a:p>
          <a:p xmlns:a="http://schemas.openxmlformats.org/drawingml/2006/main">
            <a:r>
              <a:t>    {</a:t>
            </a:r>
          </a:p>
          <a:p xmlns:a="http://schemas.openxmlformats.org/drawingml/2006/main">
            <a:r>
              <a:t>      "caseId": "AX09",</a:t>
            </a:r>
          </a:p>
          <a:p xmlns:a="http://schemas.openxmlformats.org/drawingml/2006/main">
            <a:r>
              <a:t>      "type": "방법론 참조"</a:t>
            </a:r>
          </a:p>
          <a:p xmlns:a="http://schemas.openxmlformats.org/drawingml/2006/main">
            <a:r>
              <a:t>    },</a:t>
            </a:r>
          </a:p>
          <a:p xmlns:a="http://schemas.openxmlformats.org/drawingml/2006/main">
            <a:r>
              <a:t>    {</a:t>
            </a:r>
          </a:p>
          <a:p xmlns:a="http://schemas.openxmlformats.org/drawingml/2006/main">
            <a:r>
              <a:t>      "caseId": "AX03",</a:t>
            </a:r>
          </a:p>
          <a:p xmlns:a="http://schemas.openxmlformats.org/drawingml/2006/main">
            <a:r>
              <a:t>      "type": "실패 통제 참조"</a:t>
            </a:r>
          </a:p>
          <a:p xmlns:a="http://schemas.openxmlformats.org/drawingml/2006/main">
            <a:r>
              <a:t>    },</a:t>
            </a:r>
          </a:p>
          <a:p xmlns:a="http://schemas.openxmlformats.org/drawingml/2006/main">
            <a:r>
              <a:t>    {</a:t>
            </a:r>
          </a:p>
          <a:p xmlns:a="http://schemas.openxmlformats.org/drawingml/2006/main">
            <a:r>
              <a:t>      "caseId": "AX13",</a:t>
            </a:r>
          </a:p>
          <a:p xmlns:a="http://schemas.openxmlformats.org/drawingml/2006/main">
            <a:r>
              <a:t>      "type": "실패 통제 참조"</a:t>
            </a:r>
          </a:p>
          <a:p xmlns:a="http://schemas.openxmlformats.org/drawingml/2006/main">
            <a:r>
              <a:t>    },</a:t>
            </a:r>
          </a:p>
          <a:p xmlns:a="http://schemas.openxmlformats.org/drawingml/2006/main">
            <a:r>
              <a:t>    {</a:t>
            </a:r>
          </a:p>
          <a:p xmlns:a="http://schemas.openxmlformats.org/drawingml/2006/main">
            <a:r>
              <a:t>      "caseId": "AX22",</a:t>
            </a:r>
          </a:p>
          <a:p xmlns:a="http://schemas.openxmlformats.org/drawingml/2006/main">
            <a:r>
              <a:t>      "type": "직접 업무 유사"</a:t>
            </a:r>
          </a:p>
          <a:p xmlns:a="http://schemas.openxmlformats.org/drawingml/2006/main">
            <a:r>
              <a:t>    },</a:t>
            </a:r>
          </a:p>
          <a:p xmlns:a="http://schemas.openxmlformats.org/drawingml/2006/main">
            <a:r>
              <a:t>    {</a:t>
            </a:r>
          </a:p>
          <a:p xmlns:a="http://schemas.openxmlformats.org/drawingml/2006/main">
            <a:r>
              <a:t>      "caseId": "AX25",</a:t>
            </a:r>
          </a:p>
          <a:p xmlns:a="http://schemas.openxmlformats.org/drawingml/2006/main">
            <a:r>
              <a:t>      "type": "방법론 참조"</a:t>
            </a:r>
          </a:p>
          <a:p xmlns:a="http://schemas.openxmlformats.org/drawingml/2006/main">
            <a:r>
              <a:t>    },</a:t>
            </a:r>
          </a:p>
          <a:p xmlns:a="http://schemas.openxmlformats.org/drawingml/2006/main">
            <a:r>
              <a:t>    {</a:t>
            </a:r>
          </a:p>
          <a:p xmlns:a="http://schemas.openxmlformats.org/drawingml/2006/main">
            <a:r>
              <a:t>      "caseId": "AX26",</a:t>
            </a:r>
          </a:p>
          <a:p xmlns:a="http://schemas.openxmlformats.org/drawingml/2006/main">
            <a:r>
              <a:t>      "type": "방법론 참조"</a:t>
            </a:r>
          </a:p>
          <a:p xmlns:a="http://schemas.openxmlformats.org/drawingml/2006/main">
            <a:r>
              <a:t>    }</a:t>
            </a:r>
          </a:p>
          <a:p xmlns:a="http://schemas.openxmlformats.org/drawingml/2006/main">
            <a:r>
              <a:t>  ],</a:t>
            </a:r>
          </a:p>
          <a:p xmlns:a="http://schemas.openxmlformats.org/drawingml/2006/main">
            <a:r>
              <a:t>  "plan": "조직 네이티브 공통 기반",</a:t>
            </a:r>
          </a:p>
          <a:p xmlns:a="http://schemas.openxmlformats.org/drawingml/2006/main">
            <a:r>
              <a:t>  "delta": "공식 ID·효력일·역할·업무 분류·권한 집행",</a:t>
            </a:r>
          </a:p>
          <a:p xmlns:a="http://schemas.openxmlformats.org/drawingml/2006/main">
            <a:r>
              <a:t>  "kpi": "직무 분류 정확도 / 비인가 노출 건수",</a:t>
            </a:r>
          </a:p>
          <a:p xmlns:a="http://schemas.openxmlformats.org/drawingml/2006/main">
            <a:r>
              <a:t>  "validation": "인사이동·동명이인·권한 회수·동일 요청 교차 시험",</a:t>
            </a:r>
          </a:p>
          <a:p xmlns:a="http://schemas.openxmlformats.org/drawingml/2006/main">
            <a:r>
              <a:t>  "requirement": "BM-ST-04-R01",</a:t>
            </a:r>
          </a:p>
          <a:p xmlns:a="http://schemas.openxmlformats.org/drawingml/2006/main">
            <a:r>
              <a:t>  "test": "BM-ST-04-T01",</a:t>
            </a:r>
          </a:p>
          <a:p xmlns:a="http://schemas.openxmlformats.org/drawingml/2006/main">
            <a:r>
              <a:t>  "effectStatus": "기대 방향 · TS 실측 전",</a:t>
            </a:r>
          </a:p>
          <a:p xmlns:a="http://schemas.openxmlformats.org/drawingml/2006/main">
            <a:r>
              <a:t>  "effect": "반복 맥락 입력·부서 간 오인계 감소",</a:t>
            </a:r>
          </a:p>
          <a:p xmlns:a="http://schemas.openxmlformats.org/drawingml/2006/main">
            <a:r>
              <a:t>  "reuse": "ON27-BASE / C27-COM + CCK 재사용 판정 기능",</a:t>
            </a:r>
          </a:p>
          <a:p xmlns:a="http://schemas.openxmlformats.org/drawingml/2006/main">
            <a:r>
              <a:t>  "input": "공식 직원 ID, 조직도·업무분장, 효력일, 원천 접근정책",</a:t>
            </a:r>
          </a:p>
          <a:p xmlns:a="http://schemas.openxmlformats.org/drawingml/2006/main">
            <a:r>
              <a:t>  "steps": [</a:t>
            </a:r>
          </a:p>
          <a:p xmlns:a="http://schemas.openxmlformats.org/drawingml/2006/main">
            <a:r>
              <a:t>    "로그인 ID–조직 연결",</a:t>
            </a:r>
          </a:p>
          <a:p xmlns:a="http://schemas.openxmlformats.org/drawingml/2006/main">
            <a:r>
              <a:t>    "인물·부서·직무 관계 식별",</a:t>
            </a:r>
          </a:p>
          <a:p xmlns:a="http://schemas.openxmlformats.org/drawingml/2006/main">
            <a:r>
              <a:t>    "업무 맥락·지식·서식 선택",</a:t>
            </a:r>
          </a:p>
          <a:p xmlns:a="http://schemas.openxmlformats.org/drawingml/2006/main">
            <a:r>
              <a:t>    "권한 재검증·결과 근거 기록"</a:t>
            </a:r>
          </a:p>
          <a:p xmlns:a="http://schemas.openxmlformats.org/drawingml/2006/main">
            <a:r>
              <a:t>  ],</a:t>
            </a:r>
          </a:p>
          <a:p xmlns:a="http://schemas.openxmlformats.org/drawingml/2006/main">
            <a:r>
              <a:t>  "departments": [</a:t>
            </a:r>
          </a:p>
          <a:p xmlns:a="http://schemas.openxmlformats.org/drawingml/2006/main">
            <a:r>
              <a:t>    {</a:t>
            </a:r>
          </a:p>
          <a:p xmlns:a="http://schemas.openxmlformats.org/drawingml/2006/main">
            <a:r>
              <a:t>      "code": "1010100",</a:t>
            </a:r>
          </a:p>
          <a:p xmlns:a="http://schemas.openxmlformats.org/drawingml/2006/main">
            <a:r>
              <a:t>      "name": "AI미래전략실",</a:t>
            </a:r>
          </a:p>
          <a:p xmlns:a="http://schemas.openxmlformats.org/drawingml/2006/main">
            <a:r>
              <a:t>      "job": "AI 전략·윤리",</a:t>
            </a:r>
          </a:p>
          <a:p xmlns:a="http://schemas.openxmlformats.org/drawingml/2006/main">
            <a:r>
              <a:t>      "indices": [</a:t>
            </a:r>
          </a:p>
          <a:p xmlns:a="http://schemas.openxmlformats.org/drawingml/2006/main">
            <a:r>
              <a:t>        3,</a:t>
            </a:r>
          </a:p>
          <a:p xmlns:a="http://schemas.openxmlformats.org/drawingml/2006/main">
            <a:r>
              <a:t>        5</a:t>
            </a:r>
          </a:p>
          <a:p xmlns:a="http://schemas.openxmlformats.org/drawingml/2006/main">
            <a:r>
              <a:t>      ],</a:t>
            </a:r>
          </a:p>
          <a:p xmlns:a="http://schemas.openxmlformats.org/drawingml/2006/main">
            <a:r>
              <a:t>      "duties": [</a:t>
            </a:r>
          </a:p>
          <a:p xmlns:a="http://schemas.openxmlformats.org/drawingml/2006/main">
            <a:r>
              <a:t>        "4. 인공지능(AI) 전환 전략 수립․조정",</a:t>
            </a:r>
          </a:p>
          <a:p xmlns:a="http://schemas.openxmlformats.org/drawingml/2006/main">
            <a:r>
              <a:t>        "6. 인공지능(AI) 제도 및 지침, 윤리기준 관리"</a:t>
            </a:r>
          </a:p>
          <a:p xmlns:a="http://schemas.openxmlformats.org/drawingml/2006/main">
            <a:r>
              <a:t>      ],</a:t>
            </a:r>
          </a:p>
          <a:p xmlns:a="http://schemas.openxmlformats.org/drawingml/2006/main">
            <a:r>
              <a:t>      "locator": "별표4 · T34 · 2행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"workItems": [</a:t>
            </a:r>
          </a:p>
          <a:p xmlns:a="http://schemas.openxmlformats.org/drawingml/2006/main">
            <a:r>
              <a:t>        {</a:t>
            </a:r>
          </a:p>
          <a:p xmlns:a="http://schemas.openxmlformats.org/drawingml/2006/main">
            <a:r>
              <a:t>          "id": "RULEWORK-1010100-4",</a:t>
            </a:r>
          </a:p>
          <a:p xmlns:a="http://schemas.openxmlformats.org/drawingml/2006/main">
            <a:r>
              <a:t>          "text": "4. 인공지능(AI) 전환 전략 수립․조정",</a:t>
            </a:r>
          </a:p>
          <a:p xmlns:a="http://schemas.openxmlformats.org/drawingml/2006/main">
            <a:r>
              <a:t>          "locator": "별표4 · T34 · 2행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"RULEWORK-1010100-4-R01",</a:t>
            </a:r>
          </a:p>
          <a:p xmlns:a="http://schemas.openxmlformats.org/drawingml/2006/main">
            <a:r>
              <a:t>              "title": "업무 맥락·전용 지식 구성",</a:t>
            </a:r>
          </a:p>
          <a:p xmlns:a="http://schemas.openxmlformats.org/drawingml/2006/main">
            <a:r>
              <a:t>              "development": "직무·업무건 기반 검색·응답 구성",</a:t>
            </a:r>
          </a:p>
          <a:p xmlns:a="http://schemas.openxmlformats.org/drawingml/2006/main">
            <a:r>
              <a:t>              "output": "부서별 구성·평가·배포 명세",</a:t>
            </a:r>
          </a:p>
          <a:p xmlns:a="http://schemas.openxmlformats.org/drawingml/2006/main">
            <a:r>
              <a:t>              "testId": "RULEWORK-1010100-4-T01",</a:t>
            </a:r>
          </a:p>
          <a:p xmlns:a="http://schemas.openxmlformats.org/drawingml/2006/main">
            <a:r>
              <a:t>              "criterion": "동일 요청의 부서·역할별 결과·근거 대조"</a:t>
            </a:r>
          </a:p>
          <a:p xmlns:a="http://schemas.openxmlformats.org/drawingml/2006/main">
            <a:r>
              <a:t>            },</a:t>
            </a:r>
          </a:p>
          <a:p xmlns:a="http://schemas.openxmlformats.org/drawingml/2006/main">
            <a:r>
              <a:t>            {</a:t>
            </a:r>
          </a:p>
          <a:p xmlns:a="http://schemas.openxmlformats.org/drawingml/2006/main">
            <a:r>
              <a:t>              "id": "RULEWORK-1010100-4-R02",</a:t>
            </a:r>
          </a:p>
          <a:p xmlns:a="http://schemas.openxmlformats.org/drawingml/2006/main">
            <a:r>
              <a:t>              "title": "업무건·역할·시스템 연결",</a:t>
            </a:r>
          </a:p>
          <a:p xmlns:a="http://schemas.openxmlformats.org/drawingml/2006/main">
            <a:r>
              <a:t>              "development": "모델·정책·지식 판본별 운영·복구 연계",</a:t>
            </a:r>
          </a:p>
          <a:p xmlns:a="http://schemas.openxmlformats.org/drawingml/2006/main">
            <a:r>
              <a:t>              "output": "업무건·원천·역할·변경 연결 명세",</a:t>
            </a:r>
          </a:p>
          <a:p xmlns:a="http://schemas.openxmlformats.org/drawingml/2006/main">
            <a:r>
              <a:t>              "testId": "RULEWORK-1010100-4-T02",</a:t>
            </a:r>
          </a:p>
          <a:p xmlns:a="http://schemas.openxmlformats.org/drawingml/2006/main">
            <a:r>
              <a:t>              "criterion": "배포 판본 변경·롤백·필수 거부 시험"</a:t>
            </a:r>
          </a:p>
          <a:p xmlns:a="http://schemas.openxmlformats.org/drawingml/2006/main">
            <a:r>
              <a:t>            },</a:t>
            </a:r>
          </a:p>
          <a:p xmlns:a="http://schemas.openxmlformats.org/drawingml/2006/main">
            <a:r>
              <a:t>            {</a:t>
            </a:r>
          </a:p>
          <a:p xmlns:a="http://schemas.openxmlformats.org/drawingml/2006/main">
            <a:r>
              <a:t>              "id": "RULEWORK-1010100-4-R03",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"RULEWORK-1010100-4-T03",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"RULEWORK-1010100-6",</a:t>
            </a:r>
          </a:p>
          <a:p xmlns:a="http://schemas.openxmlformats.org/drawingml/2006/main">
            <a:r>
              <a:t>          "text": "6. 인공지능(AI) 제도 및 지침, 윤리기준 관리",</a:t>
            </a:r>
          </a:p>
          <a:p xmlns:a="http://schemas.openxmlformats.org/drawingml/2006/main">
            <a:r>
              <a:t>          "locator": "별표4 · T34 · 2행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"RULEWORK-1010100-6-R01",</a:t>
            </a:r>
          </a:p>
          <a:p xmlns:a="http://schemas.openxmlformats.org/drawingml/2006/main">
            <a:r>
              <a:t>              "title": "업무 맥락·전용 지식 구성",</a:t>
            </a:r>
          </a:p>
          <a:p xmlns:a="http://schemas.openxmlformats.org/drawingml/2006/main">
            <a:r>
              <a:t>              "development": "직무·업무건 기반 검색·응답 구성",</a:t>
            </a:r>
          </a:p>
          <a:p xmlns:a="http://schemas.openxmlformats.org/drawingml/2006/main">
            <a:r>
              <a:t>              "output": "부서별 구성·평가·배포 명세",</a:t>
            </a:r>
          </a:p>
          <a:p xmlns:a="http://schemas.openxmlformats.org/drawingml/2006/main">
            <a:r>
              <a:t>              "testId": "RULEWORK-1010100-6-T01",</a:t>
            </a:r>
          </a:p>
          <a:p xmlns:a="http://schemas.openxmlformats.org/drawingml/2006/main">
            <a:r>
              <a:t>              "criterion": "동일 요청의 부서·역할별 결과·근거 대조"</a:t>
            </a:r>
          </a:p>
          <a:p xmlns:a="http://schemas.openxmlformats.org/drawingml/2006/main">
            <a:r>
              <a:t>            },</a:t>
            </a:r>
          </a:p>
          <a:p xmlns:a="http://schemas.openxmlformats.org/drawingml/2006/main">
            <a:r>
              <a:t>            {</a:t>
            </a:r>
          </a:p>
          <a:p xmlns:a="http://schemas.openxmlformats.org/drawingml/2006/main">
            <a:r>
              <a:t>              "id": "RULEWORK-1010100-6-R02",</a:t>
            </a:r>
          </a:p>
          <a:p xmlns:a="http://schemas.openxmlformats.org/drawingml/2006/main">
            <a:r>
              <a:t>              "title": "업무건·역할·시스템 연결",</a:t>
            </a:r>
          </a:p>
          <a:p xmlns:a="http://schemas.openxmlformats.org/drawingml/2006/main">
            <a:r>
              <a:t>              "development": "모델·정책·지식 판본별 운영·복구 연계",</a:t>
            </a:r>
          </a:p>
          <a:p xmlns:a="http://schemas.openxmlformats.org/drawingml/2006/main">
            <a:r>
              <a:t>              "output": "업무건·원천·역할·변경 연결 명세",</a:t>
            </a:r>
          </a:p>
          <a:p xmlns:a="http://schemas.openxmlformats.org/drawingml/2006/main">
            <a:r>
              <a:t>              "testId": "RULEWORK-1010100-6-T02",</a:t>
            </a:r>
          </a:p>
          <a:p xmlns:a="http://schemas.openxmlformats.org/drawingml/2006/main">
            <a:r>
              <a:t>              "criterion": "배포 판본 변경·롤백·필수 거부 시험"</a:t>
            </a:r>
          </a:p>
          <a:p xmlns:a="http://schemas.openxmlformats.org/drawingml/2006/main">
            <a:r>
              <a:t>            },</a:t>
            </a:r>
          </a:p>
          <a:p xmlns:a="http://schemas.openxmlformats.org/drawingml/2006/main">
            <a:r>
              <a:t>            {</a:t>
            </a:r>
          </a:p>
          <a:p xmlns:a="http://schemas.openxmlformats.org/drawingml/2006/main">
            <a:r>
              <a:t>              "id": "RULEWORK-1010100-6-R03",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"RULEWORK-1010100-6-T03",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"code": "1019600",</a:t>
            </a:r>
          </a:p>
          <a:p xmlns:a="http://schemas.openxmlformats.org/drawingml/2006/main">
            <a:r>
              <a:t>      "name": "AI혁신처",</a:t>
            </a:r>
          </a:p>
          <a:p xmlns:a="http://schemas.openxmlformats.org/drawingml/2006/main">
            <a:r>
              <a:t>      "job": "AI 사업 조정·데이터 표준",</a:t>
            </a:r>
          </a:p>
          <a:p xmlns:a="http://schemas.openxmlformats.org/drawingml/2006/main">
            <a:r>
              <a:t>      "indices": [</a:t>
            </a:r>
          </a:p>
          <a:p xmlns:a="http://schemas.openxmlformats.org/drawingml/2006/main">
            <a:r>
              <a:t>        0,</a:t>
            </a:r>
          </a:p>
          <a:p xmlns:a="http://schemas.openxmlformats.org/drawingml/2006/main">
            <a:r>
              <a:t>        2</a:t>
            </a:r>
          </a:p>
          <a:p xmlns:a="http://schemas.openxmlformats.org/drawingml/2006/main">
            <a:r>
              <a:t>      ],</a:t>
            </a:r>
          </a:p>
          <a:p xmlns:a="http://schemas.openxmlformats.org/drawingml/2006/main">
            <a:r>
              <a:t>      "duties": [</a:t>
            </a:r>
          </a:p>
          <a:p xmlns:a="http://schemas.openxmlformats.org/drawingml/2006/main">
            <a:r>
              <a:t>        "1. 인공지능(AI) 활용 서비스 구축 지원 및 성과관리",</a:t>
            </a:r>
          </a:p>
          <a:p xmlns:a="http://schemas.openxmlformats.org/drawingml/2006/main">
            <a:r>
              <a:t>        "3. 인공지능(AI) 데이터 표준화 및 데이터 스페이스 구축"</a:t>
            </a:r>
          </a:p>
          <a:p xmlns:a="http://schemas.openxmlformats.org/drawingml/2006/main">
            <a:r>
              <a:t>      ],</a:t>
            </a:r>
          </a:p>
          <a:p xmlns:a="http://schemas.openxmlformats.org/drawingml/2006/main">
            <a:r>
              <a:t>      "locator": "별표4 · T37 · 3행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"workItems": [</a:t>
            </a:r>
          </a:p>
          <a:p xmlns:a="http://schemas.openxmlformats.org/drawingml/2006/main">
            <a:r>
              <a:t>        {</a:t>
            </a:r>
          </a:p>
          <a:p xmlns:a="http://schemas.openxmlformats.org/drawingml/2006/main">
            <a:r>
              <a:t>          "id": "RULEWORK-1019600-1",</a:t>
            </a:r>
          </a:p>
          <a:p xmlns:a="http://schemas.openxmlformats.org/drawingml/2006/main">
            <a:r>
              <a:t>          "text": "1. 인공지능(AI) 활용 서비스 구축 지원 및 성과관리",</a:t>
            </a:r>
          </a:p>
          <a:p xmlns:a="http://schemas.openxmlformats.org/drawingml/2006/main">
            <a:r>
              <a:t>          "locator": "별표4 · T37 · 3행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"RULEWORK-1019600-1-R01",</a:t>
            </a:r>
          </a:p>
          <a:p xmlns:a="http://schemas.openxmlformats.org/drawingml/2006/main">
            <a:r>
              <a:t>              "title": "업무 맥락·전용 지식 구성",</a:t>
            </a:r>
          </a:p>
          <a:p xmlns:a="http://schemas.openxmlformats.org/drawingml/2006/main">
            <a:r>
              <a:t>              "development": "직무·업무건 기반 검색·응답 구성",</a:t>
            </a:r>
          </a:p>
          <a:p xmlns:a="http://schemas.openxmlformats.org/drawingml/2006/main">
            <a:r>
              <a:t>              "output": "부서별 구성·평가·배포 명세",</a:t>
            </a:r>
          </a:p>
          <a:p xmlns:a="http://schemas.openxmlformats.org/drawingml/2006/main">
            <a:r>
              <a:t>              "testId": "RULEWORK-1019600-1-T01",</a:t>
            </a:r>
          </a:p>
          <a:p xmlns:a="http://schemas.openxmlformats.org/drawingml/2006/main">
            <a:r>
              <a:t>              "criterion": "동일 요청의 부서·역할별 결과·근거 대조"</a:t>
            </a:r>
          </a:p>
          <a:p xmlns:a="http://schemas.openxmlformats.org/drawingml/2006/main">
            <a:r>
              <a:t>            },</a:t>
            </a:r>
          </a:p>
          <a:p xmlns:a="http://schemas.openxmlformats.org/drawingml/2006/main">
            <a:r>
              <a:t>            {</a:t>
            </a:r>
          </a:p>
          <a:p xmlns:a="http://schemas.openxmlformats.org/drawingml/2006/main">
            <a:r>
              <a:t>              "id": "RULEWORK-1019600-1-R02",</a:t>
            </a:r>
          </a:p>
          <a:p xmlns:a="http://schemas.openxmlformats.org/drawingml/2006/main">
            <a:r>
              <a:t>              "title": "업무건·역할·시스템 연결",</a:t>
            </a:r>
          </a:p>
          <a:p xmlns:a="http://schemas.openxmlformats.org/drawingml/2006/main">
            <a:r>
              <a:t>              "development": "모델·정책·지식 판본별 운영·복구 연계",</a:t>
            </a:r>
          </a:p>
          <a:p xmlns:a="http://schemas.openxmlformats.org/drawingml/2006/main">
            <a:r>
              <a:t>              "output": "업무건·원천·역할·변경 연결 명세",</a:t>
            </a:r>
          </a:p>
          <a:p xmlns:a="http://schemas.openxmlformats.org/drawingml/2006/main">
            <a:r>
              <a:t>              "testId": "RULEWORK-1019600-1-T02",</a:t>
            </a:r>
          </a:p>
          <a:p xmlns:a="http://schemas.openxmlformats.org/drawingml/2006/main">
            <a:r>
              <a:t>              "criterion": "배포 판본 변경·롤백·필수 거부 시험"</a:t>
            </a:r>
          </a:p>
          <a:p xmlns:a="http://schemas.openxmlformats.org/drawingml/2006/main">
            <a:r>
              <a:t>            },</a:t>
            </a:r>
          </a:p>
          <a:p xmlns:a="http://schemas.openxmlformats.org/drawingml/2006/main">
            <a:r>
              <a:t>            {</a:t>
            </a:r>
          </a:p>
          <a:p xmlns:a="http://schemas.openxmlformats.org/drawingml/2006/main">
            <a:r>
              <a:t>              "id": "RULEWORK-1019600-1-R03",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"RULEWORK-1019600-1-T03",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"RULEWORK-1019600-3",</a:t>
            </a:r>
          </a:p>
          <a:p xmlns:a="http://schemas.openxmlformats.org/drawingml/2006/main">
            <a:r>
              <a:t>          "text": "3. 인공지능(AI) 데이터 표준화 및 데이터 스페이스 구축",</a:t>
            </a:r>
          </a:p>
          <a:p xmlns:a="http://schemas.openxmlformats.org/drawingml/2006/main">
            <a:r>
              <a:t>          "locator": "별표4 · T37 · 3행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"RULEWORK-1019600-3-R01",</a:t>
            </a:r>
          </a:p>
          <a:p xmlns:a="http://schemas.openxmlformats.org/drawingml/2006/main">
            <a:r>
              <a:t>              "title": "업무 맥락·전용 지식 구성",</a:t>
            </a:r>
          </a:p>
          <a:p xmlns:a="http://schemas.openxmlformats.org/drawingml/2006/main">
            <a:r>
              <a:t>              "development": "공식 키·별칭·승계 관계 매핑",</a:t>
            </a:r>
          </a:p>
          <a:p xmlns:a="http://schemas.openxmlformats.org/drawingml/2006/main">
            <a:r>
              <a:t>              "output": "조직·직무·역할·유효기간표",</a:t>
            </a:r>
          </a:p>
          <a:p xmlns:a="http://schemas.openxmlformats.org/drawingml/2006/main">
            <a:r>
              <a:t>              "testId": "RULEWORK-1019600-3-T01",</a:t>
            </a:r>
          </a:p>
          <a:p xmlns:a="http://schemas.openxmlformats.org/drawingml/2006/main">
            <a:r>
              <a:t>              "criterion": "동명이인·효력일 전후·겸직·종료 정답셋 대조"</a:t>
            </a:r>
          </a:p>
          <a:p xmlns:a="http://schemas.openxmlformats.org/drawingml/2006/main">
            <a:r>
              <a:t>            },</a:t>
            </a:r>
          </a:p>
          <a:p xmlns:a="http://schemas.openxmlformats.org/drawingml/2006/main">
            <a:r>
              <a:t>            {</a:t>
            </a:r>
          </a:p>
          <a:p xmlns:a="http://schemas.openxmlformats.org/drawingml/2006/main">
            <a:r>
              <a:t>              "id": "RULEWORK-1019600-3-R02",</a:t>
            </a:r>
          </a:p>
          <a:p xmlns:a="http://schemas.openxmlformats.org/drawingml/2006/main">
            <a:r>
              <a:t>              "title": "업무건·역할·시스템 연결",</a:t>
            </a:r>
          </a:p>
          <a:p xmlns:a="http://schemas.openxmlformats.org/drawingml/2006/main">
            <a:r>
              <a:t>              "development": "이동·겸직·종료에 따른 권한·캐시 재검증",</a:t>
            </a:r>
          </a:p>
          <a:p xmlns:a="http://schemas.openxmlformats.org/drawingml/2006/main">
            <a:r>
              <a:t>              "output": "업무건·원천·역할·변경 연결 명세",</a:t>
            </a:r>
          </a:p>
          <a:p xmlns:a="http://schemas.openxmlformats.org/drawingml/2006/main">
            <a:r>
              <a:t>              "testId": "RULEWORK-1019600-3-T02",</a:t>
            </a:r>
          </a:p>
          <a:p xmlns:a="http://schemas.openxmlformats.org/drawingml/2006/main">
            <a:r>
              <a:t>              "criterion": "종료된 소속·권한의 재사용 차단"</a:t>
            </a:r>
          </a:p>
          <a:p xmlns:a="http://schemas.openxmlformats.org/drawingml/2006/main">
            <a:r>
              <a:t>            },</a:t>
            </a:r>
          </a:p>
          <a:p xmlns:a="http://schemas.openxmlformats.org/drawingml/2006/main">
            <a:r>
              <a:t>            {</a:t>
            </a:r>
          </a:p>
          <a:p xmlns:a="http://schemas.openxmlformats.org/drawingml/2006/main">
            <a:r>
              <a:t>              "id": "RULEWORK-1019600-3-R03",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"RULEWORK-1019600-3-T03",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"code": "1019700",</a:t>
            </a:r>
          </a:p>
          <a:p xmlns:a="http://schemas.openxmlformats.org/drawingml/2006/main">
            <a:r>
              <a:t>      "name": "AI서비스개발팀",</a:t>
            </a:r>
          </a:p>
          <a:p xmlns:a="http://schemas.openxmlformats.org/drawingml/2006/main">
            <a:r>
              <a:t>      "job": "공통플랫폼·모델 품질",</a:t>
            </a:r>
          </a:p>
          <a:p xmlns:a="http://schemas.openxmlformats.org/drawingml/2006/main">
            <a:r>
              <a:t>      "indices": [</a:t>
            </a:r>
          </a:p>
          <a:p xmlns:a="http://schemas.openxmlformats.org/drawingml/2006/main">
            <a:r>
              <a:t>        0,</a:t>
            </a:r>
          </a:p>
          <a:p xmlns:a="http://schemas.openxmlformats.org/drawingml/2006/main">
            <a:r>
              <a:t>        1</a:t>
            </a:r>
          </a:p>
          <a:p xmlns:a="http://schemas.openxmlformats.org/drawingml/2006/main">
            <a:r>
              <a:t>      ],</a:t>
            </a:r>
          </a:p>
          <a:p xmlns:a="http://schemas.openxmlformats.org/drawingml/2006/main">
            <a:r>
              <a:t>      "duties": [</a:t>
            </a:r>
          </a:p>
          <a:p xmlns:a="http://schemas.openxmlformats.org/drawingml/2006/main">
            <a:r>
              <a:t>        "1. 인공지능(AI) 공통플랫폼 구축․운영 인공지능(AI) 모델 고도화․품질관리",</a:t>
            </a:r>
          </a:p>
          <a:p xmlns:a="http://schemas.openxmlformats.org/drawingml/2006/main">
            <a:r>
              <a:t>        "2. 인공지능(AI) 시범 서비스(PoC) 추진"</a:t>
            </a:r>
          </a:p>
          <a:p xmlns:a="http://schemas.openxmlformats.org/drawingml/2006/main">
            <a:r>
              <a:t>      ],</a:t>
            </a:r>
          </a:p>
          <a:p xmlns:a="http://schemas.openxmlformats.org/drawingml/2006/main">
            <a:r>
              <a:t>      "locator": "별표4 · T37 · 4행 · 업무분장 열",</a:t>
            </a:r>
          </a:p>
          <a:p xmlns:a="http://schemas.openxmlformats.org/drawingml/2006/main">
            <a:r>
              <a:t>      "restriction": "부칙 제1·2조: 팀장 최초 인사발령일부터 시행 · 발령일 미확인 · 시행 전 AI혁신처 관련 업무·정원 담당",</a:t>
            </a:r>
          </a:p>
          <a:p xmlns:a="http://schemas.openxmlformats.org/drawingml/2006/main">
            <a:r>
              <a:t>      "status": "제공 세칙 원문 연결",</a:t>
            </a:r>
          </a:p>
          <a:p xmlns:a="http://schemas.openxmlformats.org/drawingml/2006/main">
            <a:r>
              <a:t>      "workItems": [</a:t>
            </a:r>
          </a:p>
          <a:p xmlns:a="http://schemas.openxmlformats.org/drawingml/2006/main">
            <a:r>
              <a:t>        {</a:t>
            </a:r>
          </a:p>
          <a:p xmlns:a="http://schemas.openxmlformats.org/drawingml/2006/main">
            <a:r>
              <a:t>          "id": "RULEWORK-1019700-1",</a:t>
            </a:r>
          </a:p>
          <a:p xmlns:a="http://schemas.openxmlformats.org/drawingml/2006/main">
            <a:r>
              <a:t>          "text": "1. 인공지능(AI) 공통플랫폼 구축․운영 인공지능(AI) 모델 고도화․품질관리",</a:t>
            </a:r>
          </a:p>
          <a:p xmlns:a="http://schemas.openxmlformats.org/drawingml/2006/main">
            <a:r>
              <a:t>          "locator": "별표4 · T37 · 4행 · 업무분장 열",</a:t>
            </a:r>
          </a:p>
          <a:p xmlns:a="http://schemas.openxmlformats.org/drawingml/2006/main">
            <a:r>
              <a:t>          "restriction": "부칙 제1·2조: 팀장 최초 인사발령일부터 시행 · 발령일 미확인 · 시행 전 AI혁신처 관련 업무·정원 담당",</a:t>
            </a:r>
          </a:p>
          <a:p xmlns:a="http://schemas.openxmlformats.org/drawingml/2006/main">
            <a:r>
              <a:t>          "requirements": [</a:t>
            </a:r>
          </a:p>
          <a:p xmlns:a="http://schemas.openxmlformats.org/drawingml/2006/main">
            <a:r>
              <a:t>            {</a:t>
            </a:r>
          </a:p>
          <a:p xmlns:a="http://schemas.openxmlformats.org/drawingml/2006/main">
            <a:r>
              <a:t>              "id": "RULEWORK-1019700-1-R01",</a:t>
            </a:r>
          </a:p>
          <a:p xmlns:a="http://schemas.openxmlformats.org/drawingml/2006/main">
            <a:r>
              <a:t>              "title": "업무 맥락·전용 지식 구성",</a:t>
            </a:r>
          </a:p>
          <a:p xmlns:a="http://schemas.openxmlformats.org/drawingml/2006/main">
            <a:r>
              <a:t>              "development": "직무·업무건 기반 검색·응답 구성",</a:t>
            </a:r>
          </a:p>
          <a:p xmlns:a="http://schemas.openxmlformats.org/drawingml/2006/main">
            <a:r>
              <a:t>              "output": "부서별 구성·평가·배포 명세",</a:t>
            </a:r>
          </a:p>
          <a:p xmlns:a="http://schemas.openxmlformats.org/drawingml/2006/main">
            <a:r>
              <a:t>              "testId": "RULEWORK-1019700-1-T01",</a:t>
            </a:r>
          </a:p>
          <a:p xmlns:a="http://schemas.openxmlformats.org/drawingml/2006/main">
            <a:r>
              <a:t>              "criterion": "동일 요청의 부서·역할별 결과·근거 대조"</a:t>
            </a:r>
          </a:p>
          <a:p xmlns:a="http://schemas.openxmlformats.org/drawingml/2006/main">
            <a:r>
              <a:t>            },</a:t>
            </a:r>
          </a:p>
          <a:p xmlns:a="http://schemas.openxmlformats.org/drawingml/2006/main">
            <a:r>
              <a:t>            {</a:t>
            </a:r>
          </a:p>
          <a:p xmlns:a="http://schemas.openxmlformats.org/drawingml/2006/main">
            <a:r>
              <a:t>              "id": "RULEWORK-1019700-1-R02",</a:t>
            </a:r>
          </a:p>
          <a:p xmlns:a="http://schemas.openxmlformats.org/drawingml/2006/main">
            <a:r>
              <a:t>              "title": "업무건·역할·시스템 연결",</a:t>
            </a:r>
          </a:p>
          <a:p xmlns:a="http://schemas.openxmlformats.org/drawingml/2006/main">
            <a:r>
              <a:t>              "development": "모델·정책·지식 판본별 운영·복구 연계",</a:t>
            </a:r>
          </a:p>
          <a:p xmlns:a="http://schemas.openxmlformats.org/drawingml/2006/main">
            <a:r>
              <a:t>              "output": "업무건·원천·역할·변경 연결 명세",</a:t>
            </a:r>
          </a:p>
          <a:p xmlns:a="http://schemas.openxmlformats.org/drawingml/2006/main">
            <a:r>
              <a:t>              "testId": "RULEWORK-1019700-1-T02",</a:t>
            </a:r>
          </a:p>
          <a:p xmlns:a="http://schemas.openxmlformats.org/drawingml/2006/main">
            <a:r>
              <a:t>              "criterion": "배포 판본 변경·롤백·필수 거부 시험"</a:t>
            </a:r>
          </a:p>
          <a:p xmlns:a="http://schemas.openxmlformats.org/drawingml/2006/main">
            <a:r>
              <a:t>            },</a:t>
            </a:r>
          </a:p>
          <a:p xmlns:a="http://schemas.openxmlformats.org/drawingml/2006/main">
            <a:r>
              <a:t>            {</a:t>
            </a:r>
          </a:p>
          <a:p xmlns:a="http://schemas.openxmlformats.org/drawingml/2006/main">
            <a:r>
              <a:t>              "id": "RULEWORK-1019700-1-R03",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"RULEWORK-1019700-1-T03",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"RULEWORK-1019700-2",</a:t>
            </a:r>
          </a:p>
          <a:p xmlns:a="http://schemas.openxmlformats.org/drawingml/2006/main">
            <a:r>
              <a:t>          "text": "2. 인공지능(AI) 시범 서비스(PoC) 추진",</a:t>
            </a:r>
          </a:p>
          <a:p xmlns:a="http://schemas.openxmlformats.org/drawingml/2006/main">
            <a:r>
              <a:t>          "locator": "별표4 · T37 · 4행 · 업무분장 열",</a:t>
            </a:r>
          </a:p>
          <a:p xmlns:a="http://schemas.openxmlformats.org/drawingml/2006/main">
            <a:r>
              <a:t>          "restriction": "부칙 제1·2조: 팀장 최초 인사발령일부터 시행 · 발령일 미확인 · 시행 전 AI혁신처 관련 업무·정원 담당",</a:t>
            </a:r>
          </a:p>
          <a:p xmlns:a="http://schemas.openxmlformats.org/drawingml/2006/main">
            <a:r>
              <a:t>          "requirements": [</a:t>
            </a:r>
          </a:p>
          <a:p xmlns:a="http://schemas.openxmlformats.org/drawingml/2006/main">
            <a:r>
              <a:t>            {</a:t>
            </a:r>
          </a:p>
          <a:p xmlns:a="http://schemas.openxmlformats.org/drawingml/2006/main">
            <a:r>
              <a:t>              "id": "RULEWORK-1019700-2-R01",</a:t>
            </a:r>
          </a:p>
          <a:p xmlns:a="http://schemas.openxmlformats.org/drawingml/2006/main">
            <a:r>
              <a:t>              "title": "업무 맥락·전용 지식 구성",</a:t>
            </a:r>
          </a:p>
          <a:p xmlns:a="http://schemas.openxmlformats.org/drawingml/2006/main">
            <a:r>
              <a:t>              "development": "직무·업무건 기반 검색·응답 구성",</a:t>
            </a:r>
          </a:p>
          <a:p xmlns:a="http://schemas.openxmlformats.org/drawingml/2006/main">
            <a:r>
              <a:t>              "output": "부서별 구성·평가·배포 명세",</a:t>
            </a:r>
          </a:p>
          <a:p xmlns:a="http://schemas.openxmlformats.org/drawingml/2006/main">
            <a:r>
              <a:t>              "testId": "RULEWORK-1019700-2-T01",</a:t>
            </a:r>
          </a:p>
          <a:p xmlns:a="http://schemas.openxmlformats.org/drawingml/2006/main">
            <a:r>
              <a:t>              "criterion": "동일 요청의 부서·역할별 결과·근거 대조"</a:t>
            </a:r>
          </a:p>
          <a:p xmlns:a="http://schemas.openxmlformats.org/drawingml/2006/main">
            <a:r>
              <a:t>            },</a:t>
            </a:r>
          </a:p>
          <a:p xmlns:a="http://schemas.openxmlformats.org/drawingml/2006/main">
            <a:r>
              <a:t>            {</a:t>
            </a:r>
          </a:p>
          <a:p xmlns:a="http://schemas.openxmlformats.org/drawingml/2006/main">
            <a:r>
              <a:t>              "id": "RULEWORK-1019700-2-R02",</a:t>
            </a:r>
          </a:p>
          <a:p xmlns:a="http://schemas.openxmlformats.org/drawingml/2006/main">
            <a:r>
              <a:t>              "title": "업무건·역할·시스템 연결",</a:t>
            </a:r>
          </a:p>
          <a:p xmlns:a="http://schemas.openxmlformats.org/drawingml/2006/main">
            <a:r>
              <a:t>              "development": "모델·정책·지식 판본별 운영·복구 연계",</a:t>
            </a:r>
          </a:p>
          <a:p xmlns:a="http://schemas.openxmlformats.org/drawingml/2006/main">
            <a:r>
              <a:t>              "output": "업무건·원천·역할·변경 연결 명세",</a:t>
            </a:r>
          </a:p>
          <a:p xmlns:a="http://schemas.openxmlformats.org/drawingml/2006/main">
            <a:r>
              <a:t>              "testId": "RULEWORK-1019700-2-T02",</a:t>
            </a:r>
          </a:p>
          <a:p xmlns:a="http://schemas.openxmlformats.org/drawingml/2006/main">
            <a:r>
              <a:t>              "criterion": "배포 판본 변경·롤백·필수 거부 시험"</a:t>
            </a:r>
          </a:p>
          <a:p xmlns:a="http://schemas.openxmlformats.org/drawingml/2006/main">
            <a:r>
              <a:t>            },</a:t>
            </a:r>
          </a:p>
          <a:p xmlns:a="http://schemas.openxmlformats.org/drawingml/2006/main">
            <a:r>
              <a:t>            {</a:t>
            </a:r>
          </a:p>
          <a:p xmlns:a="http://schemas.openxmlformats.org/drawingml/2006/main">
            <a:r>
              <a:t>              "id": "RULEWORK-1019700-2-R03",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"RULEWORK-1019700-2-T03",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"code": "1016050",</a:t>
            </a:r>
          </a:p>
          <a:p xmlns:a="http://schemas.openxmlformats.org/drawingml/2006/main">
            <a:r>
              <a:t>      "name": "예산처",</a:t>
            </a:r>
          </a:p>
          <a:p xmlns:a="http://schemas.openxmlformats.org/drawingml/2006/main">
            <a:r>
              <a:t>      "job": "조직·분장·전결 관리",</a:t>
            </a:r>
          </a:p>
          <a:p xmlns:a="http://schemas.openxmlformats.org/drawingml/2006/main">
            <a:r>
              <a:t>      "indices": [</a:t>
            </a:r>
          </a:p>
          <a:p xmlns:a="http://schemas.openxmlformats.org/drawingml/2006/main">
            <a:r>
              <a:t>        7,</a:t>
            </a:r>
          </a:p>
          <a:p xmlns:a="http://schemas.openxmlformats.org/drawingml/2006/main">
            <a:r>
              <a:t>        10,</a:t>
            </a:r>
          </a:p>
          <a:p xmlns:a="http://schemas.openxmlformats.org/drawingml/2006/main">
            <a:r>
              <a:t>        11</a:t>
            </a:r>
          </a:p>
          <a:p xmlns:a="http://schemas.openxmlformats.org/drawingml/2006/main">
            <a:r>
              <a:t>      ],</a:t>
            </a:r>
          </a:p>
          <a:p xmlns:a="http://schemas.openxmlformats.org/drawingml/2006/main">
            <a:r>
              <a:t>      "duties": [</a:t>
            </a:r>
          </a:p>
          <a:p xmlns:a="http://schemas.openxmlformats.org/drawingml/2006/main">
            <a:r>
              <a:t>        "8. 조직 및 정원관리 총괄",</a:t>
            </a:r>
          </a:p>
          <a:p xmlns:a="http://schemas.openxmlformats.org/drawingml/2006/main">
            <a:r>
              <a:t>        "9. 위임전결에 관한 사항",</a:t>
            </a:r>
          </a:p>
          <a:p xmlns:a="http://schemas.openxmlformats.org/drawingml/2006/main">
            <a:r>
              <a:t>        "10. 업무분장 조정‧관리"</a:t>
            </a:r>
          </a:p>
          <a:p xmlns:a="http://schemas.openxmlformats.org/drawingml/2006/main">
            <a:r>
              <a:t>      ],</a:t>
            </a:r>
          </a:p>
          <a:p xmlns:a="http://schemas.openxmlformats.org/drawingml/2006/main">
            <a:r>
              <a:t>      "locator": "별표4 · T36 · 4행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"workItems": [</a:t>
            </a:r>
          </a:p>
          <a:p xmlns:a="http://schemas.openxmlformats.org/drawingml/2006/main">
            <a:r>
              <a:t>        {</a:t>
            </a:r>
          </a:p>
          <a:p xmlns:a="http://schemas.openxmlformats.org/drawingml/2006/main">
            <a:r>
              <a:t>          "id": "RULEWORK-1016050-8",</a:t>
            </a:r>
          </a:p>
          <a:p xmlns:a="http://schemas.openxmlformats.org/drawingml/2006/main">
            <a:r>
              <a:t>          "text": "8. 조직 및 정원관리 총괄",</a:t>
            </a:r>
          </a:p>
          <a:p xmlns:a="http://schemas.openxmlformats.org/drawingml/2006/main">
            <a:r>
              <a:t>          "locator": "별표4 · T36 · 4행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"RULEWORK-1016050-8-R01",</a:t>
            </a:r>
          </a:p>
          <a:p xmlns:a="http://schemas.openxmlformats.org/drawingml/2006/main">
            <a:r>
              <a:t>              "title": "업무 맥락·전용 지식 구성",</a:t>
            </a:r>
          </a:p>
          <a:p xmlns:a="http://schemas.openxmlformats.org/drawingml/2006/main">
            <a:r>
              <a:t>              "development": "공식 키·별칭·승계 관계 매핑",</a:t>
            </a:r>
          </a:p>
          <a:p xmlns:a="http://schemas.openxmlformats.org/drawingml/2006/main">
            <a:r>
              <a:t>              "output": "조직·직무·역할·유효기간표",</a:t>
            </a:r>
          </a:p>
          <a:p xmlns:a="http://schemas.openxmlformats.org/drawingml/2006/main">
            <a:r>
              <a:t>              "testId": "RULEWORK-1016050-8-T01",</a:t>
            </a:r>
          </a:p>
          <a:p xmlns:a="http://schemas.openxmlformats.org/drawingml/2006/main">
            <a:r>
              <a:t>              "criterion": "동명이인·효력일 전후·겸직·종료 정답셋 대조"</a:t>
            </a:r>
          </a:p>
          <a:p xmlns:a="http://schemas.openxmlformats.org/drawingml/2006/main">
            <a:r>
              <a:t>            },</a:t>
            </a:r>
          </a:p>
          <a:p xmlns:a="http://schemas.openxmlformats.org/drawingml/2006/main">
            <a:r>
              <a:t>            {</a:t>
            </a:r>
          </a:p>
          <a:p xmlns:a="http://schemas.openxmlformats.org/drawingml/2006/main">
            <a:r>
              <a:t>              "id": "RULEWORK-1016050-8-R02",</a:t>
            </a:r>
          </a:p>
          <a:p xmlns:a="http://schemas.openxmlformats.org/drawingml/2006/main">
            <a:r>
              <a:t>              "title": "업무건·역할·시스템 연결",</a:t>
            </a:r>
          </a:p>
          <a:p xmlns:a="http://schemas.openxmlformats.org/drawingml/2006/main">
            <a:r>
              <a:t>              "development": "이동·겸직·종료에 따른 권한·캐시 재검증",</a:t>
            </a:r>
          </a:p>
          <a:p xmlns:a="http://schemas.openxmlformats.org/drawingml/2006/main">
            <a:r>
              <a:t>              "output": "업무건·원천·역할·변경 연결 명세",</a:t>
            </a:r>
          </a:p>
          <a:p xmlns:a="http://schemas.openxmlformats.org/drawingml/2006/main">
            <a:r>
              <a:t>              "testId": "RULEWORK-1016050-8-T02",</a:t>
            </a:r>
          </a:p>
          <a:p xmlns:a="http://schemas.openxmlformats.org/drawingml/2006/main">
            <a:r>
              <a:t>              "criterion": "종료된 소속·권한의 재사용 차단"</a:t>
            </a:r>
          </a:p>
          <a:p xmlns:a="http://schemas.openxmlformats.org/drawingml/2006/main">
            <a:r>
              <a:t>            },</a:t>
            </a:r>
          </a:p>
          <a:p xmlns:a="http://schemas.openxmlformats.org/drawingml/2006/main">
            <a:r>
              <a:t>            {</a:t>
            </a:r>
          </a:p>
          <a:p xmlns:a="http://schemas.openxmlformats.org/drawingml/2006/main">
            <a:r>
              <a:t>              "id": "RULEWORK-1016050-8-R03",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"RULEWORK-1016050-8-T03",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"RULEWORK-1016050-11",</a:t>
            </a:r>
          </a:p>
          <a:p xmlns:a="http://schemas.openxmlformats.org/drawingml/2006/main">
            <a:r>
              <a:t>          "text": "9. 위임전결에 관한 사항",</a:t>
            </a:r>
          </a:p>
          <a:p xmlns:a="http://schemas.openxmlformats.org/drawingml/2006/main">
            <a:r>
              <a:t>          "locator": "별표4 · T36 · 4행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"RULEWORK-1016050-11-R01",</a:t>
            </a:r>
          </a:p>
          <a:p xmlns:a="http://schemas.openxmlformats.org/drawingml/2006/main">
            <a:r>
              <a:t>              "title": "업무 맥락·전용 지식 구성",</a:t>
            </a:r>
          </a:p>
          <a:p xmlns:a="http://schemas.openxmlformats.org/drawingml/2006/main">
            <a:r>
              <a:t>              "development": "공식 키·별칭·승계 관계 매핑",</a:t>
            </a:r>
          </a:p>
          <a:p xmlns:a="http://schemas.openxmlformats.org/drawingml/2006/main">
            <a:r>
              <a:t>              "output": "조직·직무·역할·유효기간표",</a:t>
            </a:r>
          </a:p>
          <a:p xmlns:a="http://schemas.openxmlformats.org/drawingml/2006/main">
            <a:r>
              <a:t>              "testId": "RULEWORK-1016050-11-T01",</a:t>
            </a:r>
          </a:p>
          <a:p xmlns:a="http://schemas.openxmlformats.org/drawingml/2006/main">
            <a:r>
              <a:t>              "criterion": "동명이인·효력일 전후·겸직·종료 정답셋 대조"</a:t>
            </a:r>
          </a:p>
          <a:p xmlns:a="http://schemas.openxmlformats.org/drawingml/2006/main">
            <a:r>
              <a:t>            },</a:t>
            </a:r>
          </a:p>
          <a:p xmlns:a="http://schemas.openxmlformats.org/drawingml/2006/main">
            <a:r>
              <a:t>            {</a:t>
            </a:r>
          </a:p>
          <a:p xmlns:a="http://schemas.openxmlformats.org/drawingml/2006/main">
            <a:r>
              <a:t>              "id": "RULEWORK-1016050-11-R02",</a:t>
            </a:r>
          </a:p>
          <a:p xmlns:a="http://schemas.openxmlformats.org/drawingml/2006/main">
            <a:r>
              <a:t>              "title": "업무건·역할·시스템 연결",</a:t>
            </a:r>
          </a:p>
          <a:p xmlns:a="http://schemas.openxmlformats.org/drawingml/2006/main">
            <a:r>
              <a:t>              "development": "이동·겸직·종료에 따른 권한·캐시 재검증",</a:t>
            </a:r>
          </a:p>
          <a:p xmlns:a="http://schemas.openxmlformats.org/drawingml/2006/main">
            <a:r>
              <a:t>              "output": "업무건·원천·역할·변경 연결 명세",</a:t>
            </a:r>
          </a:p>
          <a:p xmlns:a="http://schemas.openxmlformats.org/drawingml/2006/main">
            <a:r>
              <a:t>              "testId": "RULEWORK-1016050-11-T02",</a:t>
            </a:r>
          </a:p>
          <a:p xmlns:a="http://schemas.openxmlformats.org/drawingml/2006/main">
            <a:r>
              <a:t>              "criterion": "종료된 소속·권한의 재사용 차단"</a:t>
            </a:r>
          </a:p>
          <a:p xmlns:a="http://schemas.openxmlformats.org/drawingml/2006/main">
            <a:r>
              <a:t>            },</a:t>
            </a:r>
          </a:p>
          <a:p xmlns:a="http://schemas.openxmlformats.org/drawingml/2006/main">
            <a:r>
              <a:t>            {</a:t>
            </a:r>
          </a:p>
          <a:p xmlns:a="http://schemas.openxmlformats.org/drawingml/2006/main">
            <a:r>
              <a:t>              "id": "RULEWORK-1016050-11-R03",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"RULEWORK-1016050-11-T03",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"RULEWORK-1016050-12",</a:t>
            </a:r>
          </a:p>
          <a:p xmlns:a="http://schemas.openxmlformats.org/drawingml/2006/main">
            <a:r>
              <a:t>          "text": "10. 업무분장 조정‧관리",</a:t>
            </a:r>
          </a:p>
          <a:p xmlns:a="http://schemas.openxmlformats.org/drawingml/2006/main">
            <a:r>
              <a:t>          "locator": "별표4 · T36 · 4행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"RULEWORK-1016050-12-R01",</a:t>
            </a:r>
          </a:p>
          <a:p xmlns:a="http://schemas.openxmlformats.org/drawingml/2006/main">
            <a:r>
              <a:t>              "title": "업무 맥락·전용 지식 구성",</a:t>
            </a:r>
          </a:p>
          <a:p xmlns:a="http://schemas.openxmlformats.org/drawingml/2006/main">
            <a:r>
              <a:t>              "development": "공식 키·별칭·승계 관계 매핑",</a:t>
            </a:r>
          </a:p>
          <a:p xmlns:a="http://schemas.openxmlformats.org/drawingml/2006/main">
            <a:r>
              <a:t>              "output": "조직·직무·역할·유효기간표",</a:t>
            </a:r>
          </a:p>
          <a:p xmlns:a="http://schemas.openxmlformats.org/drawingml/2006/main">
            <a:r>
              <a:t>              "testId": "RULEWORK-1016050-12-T01",</a:t>
            </a:r>
          </a:p>
          <a:p xmlns:a="http://schemas.openxmlformats.org/drawingml/2006/main">
            <a:r>
              <a:t>              "criterion": "동명이인·효력일 전후·겸직·종료 정답셋 대조"</a:t>
            </a:r>
          </a:p>
          <a:p xmlns:a="http://schemas.openxmlformats.org/drawingml/2006/main">
            <a:r>
              <a:t>            },</a:t>
            </a:r>
          </a:p>
          <a:p xmlns:a="http://schemas.openxmlformats.org/drawingml/2006/main">
            <a:r>
              <a:t>            {</a:t>
            </a:r>
          </a:p>
          <a:p xmlns:a="http://schemas.openxmlformats.org/drawingml/2006/main">
            <a:r>
              <a:t>              "id": "RULEWORK-1016050-12-R02",</a:t>
            </a:r>
          </a:p>
          <a:p xmlns:a="http://schemas.openxmlformats.org/drawingml/2006/main">
            <a:r>
              <a:t>              "title": "업무건·역할·시스템 연결",</a:t>
            </a:r>
          </a:p>
          <a:p xmlns:a="http://schemas.openxmlformats.org/drawingml/2006/main">
            <a:r>
              <a:t>              "development": "이동·겸직·종료에 따른 권한·캐시 재검증",</a:t>
            </a:r>
          </a:p>
          <a:p xmlns:a="http://schemas.openxmlformats.org/drawingml/2006/main">
            <a:r>
              <a:t>              "output": "업무건·원천·역할·변경 연결 명세",</a:t>
            </a:r>
          </a:p>
          <a:p xmlns:a="http://schemas.openxmlformats.org/drawingml/2006/main">
            <a:r>
              <a:t>              "testId": "RULEWORK-1016050-12-T02",</a:t>
            </a:r>
          </a:p>
          <a:p xmlns:a="http://schemas.openxmlformats.org/drawingml/2006/main">
            <a:r>
              <a:t>              "criterion": "종료된 소속·권한의 재사용 차단"</a:t>
            </a:r>
          </a:p>
          <a:p xmlns:a="http://schemas.openxmlformats.org/drawingml/2006/main">
            <a:r>
              <a:t>            },</a:t>
            </a:r>
          </a:p>
          <a:p xmlns:a="http://schemas.openxmlformats.org/drawingml/2006/main">
            <a:r>
              <a:t>            {</a:t>
            </a:r>
          </a:p>
          <a:p xmlns:a="http://schemas.openxmlformats.org/drawingml/2006/main">
            <a:r>
              <a:t>              "id": "RULEWORK-1016050-12-R03",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"RULEWORK-1016050-12-T03",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"code": "1018037",</a:t>
            </a:r>
          </a:p>
          <a:p xmlns:a="http://schemas.openxmlformats.org/drawingml/2006/main">
            <a:r>
              <a:t>      "name": "인재개발처",</a:t>
            </a:r>
          </a:p>
          <a:p xmlns:a="http://schemas.openxmlformats.org/drawingml/2006/main">
            <a:r>
              <a:t>      "job": "발령·인사정보 관리",</a:t>
            </a:r>
          </a:p>
          <a:p xmlns:a="http://schemas.openxmlformats.org/drawingml/2006/main">
            <a:r>
              <a:t>      "indices": [</a:t>
            </a:r>
          </a:p>
          <a:p xmlns:a="http://schemas.openxmlformats.org/drawingml/2006/main">
            <a:r>
              <a:t>        2,</a:t>
            </a:r>
          </a:p>
          <a:p xmlns:a="http://schemas.openxmlformats.org/drawingml/2006/main">
            <a:r>
              <a:t>        5</a:t>
            </a:r>
          </a:p>
          <a:p xmlns:a="http://schemas.openxmlformats.org/drawingml/2006/main">
            <a:r>
              <a:t>      ],</a:t>
            </a:r>
          </a:p>
          <a:p xmlns:a="http://schemas.openxmlformats.org/drawingml/2006/main">
            <a:r>
              <a:t>      "duties": [</a:t>
            </a:r>
          </a:p>
          <a:p xmlns:a="http://schemas.openxmlformats.org/drawingml/2006/main">
            <a:r>
              <a:t>        "3. 직원의 채용, 승진, 전보 등 임용 및 보직에 관한 업무",</a:t>
            </a:r>
          </a:p>
          <a:p xmlns:a="http://schemas.openxmlformats.org/drawingml/2006/main">
            <a:r>
              <a:t>        "6. 인사통계자료․인사정보 관리 및 인사 관련 제증명 발급"</a:t>
            </a:r>
          </a:p>
          <a:p xmlns:a="http://schemas.openxmlformats.org/drawingml/2006/main">
            <a:r>
              <a:t>      ],</a:t>
            </a:r>
          </a:p>
          <a:p xmlns:a="http://schemas.openxmlformats.org/drawingml/2006/main">
            <a:r>
              <a:t>      "locator": "별표4 · T38 · 3행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"workItems": [</a:t>
            </a:r>
          </a:p>
          <a:p xmlns:a="http://schemas.openxmlformats.org/drawingml/2006/main">
            <a:r>
              <a:t>        {</a:t>
            </a:r>
          </a:p>
          <a:p xmlns:a="http://schemas.openxmlformats.org/drawingml/2006/main">
            <a:r>
              <a:t>          "id": "RULEWORK-1018037-3",</a:t>
            </a:r>
          </a:p>
          <a:p xmlns:a="http://schemas.openxmlformats.org/drawingml/2006/main">
            <a:r>
              <a:t>          "text": "3. 직원의 채용, 승진, 전보 등 임용 및 보직에 관한 업무",</a:t>
            </a:r>
          </a:p>
          <a:p xmlns:a="http://schemas.openxmlformats.org/drawingml/2006/main">
            <a:r>
              <a:t>          "locator": "별표4 · T38 · 3행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"RULEWORK-1018037-3-R01",</a:t>
            </a:r>
          </a:p>
          <a:p xmlns:a="http://schemas.openxmlformats.org/drawingml/2006/main">
            <a:r>
              <a:t>              "title": "업무 맥락·전용 지식 구성",</a:t>
            </a:r>
          </a:p>
          <a:p xmlns:a="http://schemas.openxmlformats.org/drawingml/2006/main">
            <a:r>
              <a:t>              "development": "공식 키·별칭·승계 관계 매핑",</a:t>
            </a:r>
          </a:p>
          <a:p xmlns:a="http://schemas.openxmlformats.org/drawingml/2006/main">
            <a:r>
              <a:t>              "output": "조직·직무·역할·유효기간표",</a:t>
            </a:r>
          </a:p>
          <a:p xmlns:a="http://schemas.openxmlformats.org/drawingml/2006/main">
            <a:r>
              <a:t>              "testId": "RULEWORK-1018037-3-T01",</a:t>
            </a:r>
          </a:p>
          <a:p xmlns:a="http://schemas.openxmlformats.org/drawingml/2006/main">
            <a:r>
              <a:t>              "criterion": "동명이인·효력일 전후·겸직·종료 정답셋 대조"</a:t>
            </a:r>
          </a:p>
          <a:p xmlns:a="http://schemas.openxmlformats.org/drawingml/2006/main">
            <a:r>
              <a:t>            },</a:t>
            </a:r>
          </a:p>
          <a:p xmlns:a="http://schemas.openxmlformats.org/drawingml/2006/main">
            <a:r>
              <a:t>            {</a:t>
            </a:r>
          </a:p>
          <a:p xmlns:a="http://schemas.openxmlformats.org/drawingml/2006/main">
            <a:r>
              <a:t>              "id": "RULEWORK-1018037-3-R02",</a:t>
            </a:r>
          </a:p>
          <a:p xmlns:a="http://schemas.openxmlformats.org/drawingml/2006/main">
            <a:r>
              <a:t>              "title": "업무건·역할·시스템 연결",</a:t>
            </a:r>
          </a:p>
          <a:p xmlns:a="http://schemas.openxmlformats.org/drawingml/2006/main">
            <a:r>
              <a:t>              "development": "이동·겸직·종료에 따른 권한·캐시 재검증",</a:t>
            </a:r>
          </a:p>
          <a:p xmlns:a="http://schemas.openxmlformats.org/drawingml/2006/main">
            <a:r>
              <a:t>              "output": "업무건·원천·역할·변경 연결 명세",</a:t>
            </a:r>
          </a:p>
          <a:p xmlns:a="http://schemas.openxmlformats.org/drawingml/2006/main">
            <a:r>
              <a:t>              "testId": "RULEWORK-1018037-3-T02",</a:t>
            </a:r>
          </a:p>
          <a:p xmlns:a="http://schemas.openxmlformats.org/drawingml/2006/main">
            <a:r>
              <a:t>              "criterion": "종료된 소속·권한의 재사용 차단"</a:t>
            </a:r>
          </a:p>
          <a:p xmlns:a="http://schemas.openxmlformats.org/drawingml/2006/main">
            <a:r>
              <a:t>            },</a:t>
            </a:r>
          </a:p>
          <a:p xmlns:a="http://schemas.openxmlformats.org/drawingml/2006/main">
            <a:r>
              <a:t>            {</a:t>
            </a:r>
          </a:p>
          <a:p xmlns:a="http://schemas.openxmlformats.org/drawingml/2006/main">
            <a:r>
              <a:t>              "id": "RULEWORK-1018037-3-R03",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"RULEWORK-1018037-3-T03",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"RULEWORK-1018037-6",</a:t>
            </a:r>
          </a:p>
          <a:p xmlns:a="http://schemas.openxmlformats.org/drawingml/2006/main">
            <a:r>
              <a:t>          "text": "6. 인사통계자료․인사정보 관리 및 인사 관련 제증명 발급",</a:t>
            </a:r>
          </a:p>
          <a:p xmlns:a="http://schemas.openxmlformats.org/drawingml/2006/main">
            <a:r>
              <a:t>          "locator": "별표4 · T38 · 3행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"RULEWORK-1018037-6-R01",</a:t>
            </a:r>
          </a:p>
          <a:p xmlns:a="http://schemas.openxmlformats.org/drawingml/2006/main">
            <a:r>
              <a:t>              "title": "업무 맥락·전용 지식 구성",</a:t>
            </a:r>
          </a:p>
          <a:p xmlns:a="http://schemas.openxmlformats.org/drawingml/2006/main">
            <a:r>
              <a:t>              "development": "공식 키·별칭·승계 관계 매핑",</a:t>
            </a:r>
          </a:p>
          <a:p xmlns:a="http://schemas.openxmlformats.org/drawingml/2006/main">
            <a:r>
              <a:t>              "output": "조직·직무·역할·유효기간표",</a:t>
            </a:r>
          </a:p>
          <a:p xmlns:a="http://schemas.openxmlformats.org/drawingml/2006/main">
            <a:r>
              <a:t>              "testId": "RULEWORK-1018037-6-T01",</a:t>
            </a:r>
          </a:p>
          <a:p xmlns:a="http://schemas.openxmlformats.org/drawingml/2006/main">
            <a:r>
              <a:t>              "criterion": "동명이인·효력일 전후·겸직·종료 정답셋 대조"</a:t>
            </a:r>
          </a:p>
          <a:p xmlns:a="http://schemas.openxmlformats.org/drawingml/2006/main">
            <a:r>
              <a:t>            },</a:t>
            </a:r>
          </a:p>
          <a:p xmlns:a="http://schemas.openxmlformats.org/drawingml/2006/main">
            <a:r>
              <a:t>            {</a:t>
            </a:r>
          </a:p>
          <a:p xmlns:a="http://schemas.openxmlformats.org/drawingml/2006/main">
            <a:r>
              <a:t>              "id": "RULEWORK-1018037-6-R02",</a:t>
            </a:r>
          </a:p>
          <a:p xmlns:a="http://schemas.openxmlformats.org/drawingml/2006/main">
            <a:r>
              <a:t>              "title": "업무건·역할·시스템 연결",</a:t>
            </a:r>
          </a:p>
          <a:p xmlns:a="http://schemas.openxmlformats.org/drawingml/2006/main">
            <a:r>
              <a:t>              "development": "이동·겸직·종료에 따른 권한·캐시 재검증",</a:t>
            </a:r>
          </a:p>
          <a:p xmlns:a="http://schemas.openxmlformats.org/drawingml/2006/main">
            <a:r>
              <a:t>              "output": "업무건·원천·역할·변경 연결 명세",</a:t>
            </a:r>
          </a:p>
          <a:p xmlns:a="http://schemas.openxmlformats.org/drawingml/2006/main">
            <a:r>
              <a:t>              "testId": "RULEWORK-1018037-6-T02",</a:t>
            </a:r>
          </a:p>
          <a:p xmlns:a="http://schemas.openxmlformats.org/drawingml/2006/main">
            <a:r>
              <a:t>              "criterion": "종료된 소속·권한의 재사용 차단"</a:t>
            </a:r>
          </a:p>
          <a:p xmlns:a="http://schemas.openxmlformats.org/drawingml/2006/main">
            <a:r>
              <a:t>            },</a:t>
            </a:r>
          </a:p>
          <a:p xmlns:a="http://schemas.openxmlformats.org/drawingml/2006/main">
            <a:r>
              <a:t>            {</a:t>
            </a:r>
          </a:p>
          <a:p xmlns:a="http://schemas.openxmlformats.org/drawingml/2006/main">
            <a:r>
              <a:t>              "id": "RULEWORK-1018037-6-R03",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"RULEWORK-1018037-6-T03",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"code": "1019300",</a:t>
            </a:r>
          </a:p>
          <a:p xmlns:a="http://schemas.openxmlformats.org/drawingml/2006/main">
            <a:r>
              <a:t>      "name": "디지털기획처",</a:t>
            </a:r>
          </a:p>
          <a:p xmlns:a="http://schemas.openxmlformats.org/drawingml/2006/main">
            <a:r>
              <a:t>      "job": "정보화·데이터 품질",</a:t>
            </a:r>
          </a:p>
          <a:p xmlns:a="http://schemas.openxmlformats.org/drawingml/2006/main">
            <a:r>
              <a:t>      "indices": [</a:t>
            </a:r>
          </a:p>
          <a:p xmlns:a="http://schemas.openxmlformats.org/drawingml/2006/main">
            <a:r>
              <a:t>        12,</a:t>
            </a:r>
          </a:p>
          <a:p xmlns:a="http://schemas.openxmlformats.org/drawingml/2006/main">
            <a:r>
              <a:t>        19</a:t>
            </a:r>
          </a:p>
          <a:p xmlns:a="http://schemas.openxmlformats.org/drawingml/2006/main">
            <a:r>
              <a:t>      ],</a:t>
            </a:r>
          </a:p>
          <a:p xmlns:a="http://schemas.openxmlformats.org/drawingml/2006/main">
            <a:r>
              <a:t>      "duties": [</a:t>
            </a:r>
          </a:p>
          <a:p xmlns:a="http://schemas.openxmlformats.org/drawingml/2006/main">
            <a:r>
              <a:t>        "13. 정보화사업 사전검토(과업지시서 등) 및 시스템 구축 지원(기술분야)",</a:t>
            </a:r>
          </a:p>
          <a:p xmlns:a="http://schemas.openxmlformats.org/drawingml/2006/main">
            <a:r>
              <a:t>        "20. 데이터 품질관리"</a:t>
            </a:r>
          </a:p>
          <a:p xmlns:a="http://schemas.openxmlformats.org/drawingml/2006/main">
            <a:r>
              <a:t>      ],</a:t>
            </a:r>
          </a:p>
          <a:p xmlns:a="http://schemas.openxmlformats.org/drawingml/2006/main">
            <a:r>
              <a:t>      "locator": "별표4 · T37 · 2행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"workItems": [</a:t>
            </a:r>
          </a:p>
          <a:p xmlns:a="http://schemas.openxmlformats.org/drawingml/2006/main">
            <a:r>
              <a:t>        {</a:t>
            </a:r>
          </a:p>
          <a:p xmlns:a="http://schemas.openxmlformats.org/drawingml/2006/main">
            <a:r>
              <a:t>          "id": "RULEWORK-1019300-13",</a:t>
            </a:r>
          </a:p>
          <a:p xmlns:a="http://schemas.openxmlformats.org/drawingml/2006/main">
            <a:r>
              <a:t>          "text": "13. 정보화사업 사전검토(과업지시서 등) 및 시스템 구축 지원(기술분야)",</a:t>
            </a:r>
          </a:p>
          <a:p xmlns:a="http://schemas.openxmlformats.org/drawingml/2006/main">
            <a:r>
              <a:t>          "locator": "별표4 · T37 · 2행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"RULEWORK-1019300-13-R01",</a:t>
            </a:r>
          </a:p>
          <a:p xmlns:a="http://schemas.openxmlformats.org/drawingml/2006/main">
            <a:r>
              <a:t>              "title": "업무 맥락·전용 지식 구성",</a:t>
            </a:r>
          </a:p>
          <a:p xmlns:a="http://schemas.openxmlformats.org/drawingml/2006/main">
            <a:r>
              <a:t>              "development": "용어·필드·판본·품질 규칙 대응",</a:t>
            </a:r>
          </a:p>
          <a:p xmlns:a="http://schemas.openxmlformats.org/drawingml/2006/main">
            <a:r>
              <a:t>              "output": "품질 점검표·제공 명세·변경 이력",</a:t>
            </a:r>
          </a:p>
          <a:p xmlns:a="http://schemas.openxmlformats.org/drawingml/2006/main">
            <a:r>
              <a:t>              "testId": "RULEWORK-1019300-13-T01",</a:t>
            </a:r>
          </a:p>
          <a:p xmlns:a="http://schemas.openxmlformats.org/drawingml/2006/main">
            <a:r>
              <a:t>              "criterion": "누락·중복·단위·기간·정의의 원천 대조"</a:t>
            </a:r>
          </a:p>
          <a:p xmlns:a="http://schemas.openxmlformats.org/drawingml/2006/main">
            <a:r>
              <a:t>            },</a:t>
            </a:r>
          </a:p>
          <a:p xmlns:a="http://schemas.openxmlformats.org/drawingml/2006/main">
            <a:r>
              <a:t>            {</a:t>
            </a:r>
          </a:p>
          <a:p xmlns:a="http://schemas.openxmlformats.org/drawingml/2006/main">
            <a:r>
              <a:t>              "id": "RULEWORK-1019300-13-R02",</a:t>
            </a:r>
          </a:p>
          <a:p xmlns:a="http://schemas.openxmlformats.org/drawingml/2006/main">
            <a:r>
              <a:t>              "title": "업무건·역할·시스템 연결",</a:t>
            </a:r>
          </a:p>
          <a:p xmlns:a="http://schemas.openxmlformats.org/drawingml/2006/main">
            <a:r>
              <a:t>              "development": "소유부서 승인·제공 이력·접근정책 연계",</a:t>
            </a:r>
          </a:p>
          <a:p xmlns:a="http://schemas.openxmlformats.org/drawingml/2006/main">
            <a:r>
              <a:t>              "output": "업무건·원천·역할·변경 연결 명세",</a:t>
            </a:r>
          </a:p>
          <a:p xmlns:a="http://schemas.openxmlformats.org/drawingml/2006/main">
            <a:r>
              <a:t>              "testId": "RULEWORK-1019300-13-T02",</a:t>
            </a:r>
          </a:p>
          <a:p xmlns:a="http://schemas.openxmlformats.org/drawingml/2006/main">
            <a:r>
              <a:t>              "criterion": "공개 제한 필드·만료된 제공 승인 차단"</a:t>
            </a:r>
          </a:p>
          <a:p xmlns:a="http://schemas.openxmlformats.org/drawingml/2006/main">
            <a:r>
              <a:t>            },</a:t>
            </a:r>
          </a:p>
          <a:p xmlns:a="http://schemas.openxmlformats.org/drawingml/2006/main">
            <a:r>
              <a:t>            {</a:t>
            </a:r>
          </a:p>
          <a:p xmlns:a="http://schemas.openxmlformats.org/drawingml/2006/main">
            <a:r>
              <a:t>              "id": "RULEWORK-1019300-13-R03",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"RULEWORK-1019300-13-T03",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"RULEWORK-1019300-20",</a:t>
            </a:r>
          </a:p>
          <a:p xmlns:a="http://schemas.openxmlformats.org/drawingml/2006/main">
            <a:r>
              <a:t>          "text": "20. 데이터 품질관리",</a:t>
            </a:r>
          </a:p>
          <a:p xmlns:a="http://schemas.openxmlformats.org/drawingml/2006/main">
            <a:r>
              <a:t>          "locator": "별표4 · T37 · 2행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"RULEWORK-1019300-20-R01",</a:t>
            </a:r>
          </a:p>
          <a:p xmlns:a="http://schemas.openxmlformats.org/drawingml/2006/main">
            <a:r>
              <a:t>              "title": "업무 맥락·전용 지식 구성",</a:t>
            </a:r>
          </a:p>
          <a:p xmlns:a="http://schemas.openxmlformats.org/drawingml/2006/main">
            <a:r>
              <a:t>              "development": "시스템·변경·업무건 관계 추적",</a:t>
            </a:r>
          </a:p>
          <a:p xmlns:a="http://schemas.openxmlformats.org/drawingml/2006/main">
            <a:r>
              <a:t>              "output": "영향분석·조치·복구·대사 기록",</a:t>
            </a:r>
          </a:p>
          <a:p xmlns:a="http://schemas.openxmlformats.org/drawingml/2006/main">
            <a:r>
              <a:t>              "testId": "RULEWORK-1019300-20-T01",</a:t>
            </a:r>
          </a:p>
          <a:p xmlns:a="http://schemas.openxmlformats.org/drawingml/2006/main">
            <a:r>
              <a:t>              "criterion": "중복·누락·순서 역전·장애 사례의 결과 대조"</a:t>
            </a:r>
          </a:p>
          <a:p xmlns:a="http://schemas.openxmlformats.org/drawingml/2006/main">
            <a:r>
              <a:t>            },</a:t>
            </a:r>
          </a:p>
          <a:p xmlns:a="http://schemas.openxmlformats.org/drawingml/2006/main">
            <a:r>
              <a:t>            {</a:t>
            </a:r>
          </a:p>
          <a:p xmlns:a="http://schemas.openxmlformats.org/drawingml/2006/main">
            <a:r>
              <a:t>              "id": "RULEWORK-1019300-20-R02",</a:t>
            </a:r>
          </a:p>
          <a:p xmlns:a="http://schemas.openxmlformats.org/drawingml/2006/main">
            <a:r>
              <a:t>              "title": "업무건·역할·시스템 연결",</a:t>
            </a:r>
          </a:p>
          <a:p xmlns:a="http://schemas.openxmlformats.org/drawingml/2006/main">
            <a:r>
              <a:t>              "development": "멱등 요청·오류 재처리·승인된 연계 어댑터",</a:t>
            </a:r>
          </a:p>
          <a:p xmlns:a="http://schemas.openxmlformats.org/drawingml/2006/main">
            <a:r>
              <a:t>              "output": "업무건·원천·역할·변경 연결 명세",</a:t>
            </a:r>
          </a:p>
          <a:p xmlns:a="http://schemas.openxmlformats.org/drawingml/2006/main">
            <a:r>
              <a:t>              "testId": "RULEWORK-1019300-20-T02",</a:t>
            </a:r>
          </a:p>
          <a:p xmlns:a="http://schemas.openxmlformats.org/drawingml/2006/main">
            <a:r>
              <a:t>              "criterion": "무승인 변경·중복 실행 차단 및 복구 검증"</a:t>
            </a:r>
          </a:p>
          <a:p xmlns:a="http://schemas.openxmlformats.org/drawingml/2006/main">
            <a:r>
              <a:t>            },</a:t>
            </a:r>
          </a:p>
          <a:p xmlns:a="http://schemas.openxmlformats.org/drawingml/2006/main">
            <a:r>
              <a:t>            {</a:t>
            </a:r>
          </a:p>
          <a:p xmlns:a="http://schemas.openxmlformats.org/drawingml/2006/main">
            <a:r>
              <a:t>              "id": "RULEWORK-1019300-20-R03",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"RULEWORK-1019300-20-T03",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"code": "1019500",</a:t>
            </a:r>
          </a:p>
          <a:p xmlns:a="http://schemas.openxmlformats.org/drawingml/2006/main">
            <a:r>
              <a:t>      "name": "정보보안처",</a:t>
            </a:r>
          </a:p>
          <a:p xmlns:a="http://schemas.openxmlformats.org/drawingml/2006/main">
            <a:r>
              <a:t>      "job": "보안·개인정보 관리",</a:t>
            </a:r>
          </a:p>
          <a:p xmlns:a="http://schemas.openxmlformats.org/drawingml/2006/main">
            <a:r>
              <a:t>      "indices": [</a:t>
            </a:r>
          </a:p>
          <a:p xmlns:a="http://schemas.openxmlformats.org/drawingml/2006/main">
            <a:r>
              <a:t>        0,</a:t>
            </a:r>
          </a:p>
          <a:p xmlns:a="http://schemas.openxmlformats.org/drawingml/2006/main">
            <a:r>
              <a:t>        9</a:t>
            </a:r>
          </a:p>
          <a:p xmlns:a="http://schemas.openxmlformats.org/drawingml/2006/main">
            <a:r>
              <a:t>      ],</a:t>
            </a:r>
          </a:p>
          <a:p xmlns:a="http://schemas.openxmlformats.org/drawingml/2006/main">
            <a:r>
              <a:t>      "duties": [</a:t>
            </a:r>
          </a:p>
          <a:p xmlns:a="http://schemas.openxmlformats.org/drawingml/2006/main">
            <a:r>
              <a:t>        "1. 정보보안 업무총괄 관리",</a:t>
            </a:r>
          </a:p>
          <a:p xmlns:a="http://schemas.openxmlformats.org/drawingml/2006/main">
            <a:r>
              <a:t>        "10. 개인정보보호 업무총괄 관리"</a:t>
            </a:r>
          </a:p>
          <a:p xmlns:a="http://schemas.openxmlformats.org/drawingml/2006/main">
            <a:r>
              <a:t>      ],</a:t>
            </a:r>
          </a:p>
          <a:p xmlns:a="http://schemas.openxmlformats.org/drawingml/2006/main">
            <a:r>
              <a:t>      "locator": "별표4 · T37 · 5행 · 업무분장 열",</a:t>
            </a:r>
          </a:p>
          <a:p xmlns:a="http://schemas.openxmlformats.org/drawingml/2006/main">
            <a:r>
              <a:t>      "restriction": null,</a:t>
            </a:r>
          </a:p>
          <a:p xmlns:a="http://schemas.openxmlformats.org/drawingml/2006/main">
            <a:r>
              <a:t>      "status": "제공 세칙 원문 연결",</a:t>
            </a:r>
          </a:p>
          <a:p xmlns:a="http://schemas.openxmlformats.org/drawingml/2006/main">
            <a:r>
              <a:t>      "workItems": [</a:t>
            </a:r>
          </a:p>
          <a:p xmlns:a="http://schemas.openxmlformats.org/drawingml/2006/main">
            <a:r>
              <a:t>        {</a:t>
            </a:r>
          </a:p>
          <a:p xmlns:a="http://schemas.openxmlformats.org/drawingml/2006/main">
            <a:r>
              <a:t>          "id": "RULEWORK-1019500-1",</a:t>
            </a:r>
          </a:p>
          <a:p xmlns:a="http://schemas.openxmlformats.org/drawingml/2006/main">
            <a:r>
              <a:t>          "text": "1. 정보보안 업무총괄 관리",</a:t>
            </a:r>
          </a:p>
          <a:p xmlns:a="http://schemas.openxmlformats.org/drawingml/2006/main">
            <a:r>
              <a:t>          "locator": "별표4 · T37 · 5행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"RULEWORK-1019500-1-R01",</a:t>
            </a:r>
          </a:p>
          <a:p xmlns:a="http://schemas.openxmlformats.org/drawingml/2006/main">
            <a:r>
              <a:t>              "title": "업무 맥락·전용 지식 구성",</a:t>
            </a:r>
          </a:p>
          <a:p xmlns:a="http://schemas.openxmlformats.org/drawingml/2006/main">
            <a:r>
              <a:t>              "development": "문서·필드·행위별 제한 분류",</a:t>
            </a:r>
          </a:p>
          <a:p xmlns:a="http://schemas.openxmlformats.org/drawingml/2006/main">
            <a:r>
              <a:t>              "output": "통제항목·허용·거부·보완 대장",</a:t>
            </a:r>
          </a:p>
          <a:p xmlns:a="http://schemas.openxmlformats.org/drawingml/2006/main">
            <a:r>
              <a:t>              "testId": "RULEWORK-1019500-1-T01",</a:t>
            </a:r>
          </a:p>
          <a:p xmlns:a="http://schemas.openxmlformats.org/drawingml/2006/main">
            <a:r>
              <a:t>              "criterion": "민감 필드 누락·과잉 마스킹·근거 위치 대조"</a:t>
            </a:r>
          </a:p>
          <a:p xmlns:a="http://schemas.openxmlformats.org/drawingml/2006/main">
            <a:r>
              <a:t>            },</a:t>
            </a:r>
          </a:p>
          <a:p xmlns:a="http://schemas.openxmlformats.org/drawingml/2006/main">
            <a:r>
              <a:t>            {</a:t>
            </a:r>
          </a:p>
          <a:p xmlns:a="http://schemas.openxmlformats.org/drawingml/2006/main">
            <a:r>
              <a:t>              "id": "RULEWORK-1019500-1-R02",</a:t>
            </a:r>
          </a:p>
          <a:p xmlns:a="http://schemas.openxmlformats.org/drawingml/2006/main">
            <a:r>
              <a:t>              "title": "업무건·역할·시스템 연결",</a:t>
            </a:r>
          </a:p>
          <a:p xmlns:a="http://schemas.openxmlformats.org/drawingml/2006/main">
            <a:r>
              <a:t>              "development": "검색·생성·반출·대기 작업의 정책 재검증",</a:t>
            </a:r>
          </a:p>
          <a:p xmlns:a="http://schemas.openxmlformats.org/drawingml/2006/main">
            <a:r>
              <a:t>              "output": "업무건·원천·역할·변경 연결 명세",</a:t>
            </a:r>
          </a:p>
          <a:p xmlns:a="http://schemas.openxmlformats.org/drawingml/2006/main">
            <a:r>
              <a:t>              "testId": "RULEWORK-1019500-1-T02",</a:t>
            </a:r>
          </a:p>
          <a:p xmlns:a="http://schemas.openxmlformats.org/drawingml/2006/main">
            <a:r>
              <a:t>              "criterion": "비인가 노출·실행 0건 및 회수 후 재접근 차단"</a:t>
            </a:r>
          </a:p>
          <a:p xmlns:a="http://schemas.openxmlformats.org/drawingml/2006/main">
            <a:r>
              <a:t>            },</a:t>
            </a:r>
          </a:p>
          <a:p xmlns:a="http://schemas.openxmlformats.org/drawingml/2006/main">
            <a:r>
              <a:t>            {</a:t>
            </a:r>
          </a:p>
          <a:p xmlns:a="http://schemas.openxmlformats.org/drawingml/2006/main">
            <a:r>
              <a:t>              "id": "RULEWORK-1019500-1-R03",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"RULEWORK-1019500-1-T03",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"RULEWORK-1019500-10",</a:t>
            </a:r>
          </a:p>
          <a:p xmlns:a="http://schemas.openxmlformats.org/drawingml/2006/main">
            <a:r>
              <a:t>          "text": "10. 개인정보보호 업무총괄 관리",</a:t>
            </a:r>
          </a:p>
          <a:p xmlns:a="http://schemas.openxmlformats.org/drawingml/2006/main">
            <a:r>
              <a:t>          "locator": "별표4 · T37 · 5행 · 업무분장 열",</a:t>
            </a:r>
          </a:p>
          <a:p xmlns:a="http://schemas.openxmlformats.org/drawingml/2006/main">
            <a:r>
              <a:t>          "restriction": "",</a:t>
            </a:r>
          </a:p>
          <a:p xmlns:a="http://schemas.openxmlformats.org/drawingml/2006/main">
            <a:r>
              <a:t>          "requirements": [</a:t>
            </a:r>
          </a:p>
          <a:p xmlns:a="http://schemas.openxmlformats.org/drawingml/2006/main">
            <a:r>
              <a:t>            {</a:t>
            </a:r>
          </a:p>
          <a:p xmlns:a="http://schemas.openxmlformats.org/drawingml/2006/main">
            <a:r>
              <a:t>              "id": "RULEWORK-1019500-10-R01",</a:t>
            </a:r>
          </a:p>
          <a:p xmlns:a="http://schemas.openxmlformats.org/drawingml/2006/main">
            <a:r>
              <a:t>              "title": "업무 맥락·전용 지식 구성",</a:t>
            </a:r>
          </a:p>
          <a:p xmlns:a="http://schemas.openxmlformats.org/drawingml/2006/main">
            <a:r>
              <a:t>              "development": "문서·필드·행위별 제한 분류",</a:t>
            </a:r>
          </a:p>
          <a:p xmlns:a="http://schemas.openxmlformats.org/drawingml/2006/main">
            <a:r>
              <a:t>              "output": "통제항목·허용·거부·보완 대장",</a:t>
            </a:r>
          </a:p>
          <a:p xmlns:a="http://schemas.openxmlformats.org/drawingml/2006/main">
            <a:r>
              <a:t>              "testId": "RULEWORK-1019500-10-T01",</a:t>
            </a:r>
          </a:p>
          <a:p xmlns:a="http://schemas.openxmlformats.org/drawingml/2006/main">
            <a:r>
              <a:t>              "criterion": "민감 필드 누락·과잉 마스킹·근거 위치 대조"</a:t>
            </a:r>
          </a:p>
          <a:p xmlns:a="http://schemas.openxmlformats.org/drawingml/2006/main">
            <a:r>
              <a:t>            },</a:t>
            </a:r>
          </a:p>
          <a:p xmlns:a="http://schemas.openxmlformats.org/drawingml/2006/main">
            <a:r>
              <a:t>            {</a:t>
            </a:r>
          </a:p>
          <a:p xmlns:a="http://schemas.openxmlformats.org/drawingml/2006/main">
            <a:r>
              <a:t>              "id": "RULEWORK-1019500-10-R02",</a:t>
            </a:r>
          </a:p>
          <a:p xmlns:a="http://schemas.openxmlformats.org/drawingml/2006/main">
            <a:r>
              <a:t>              "title": "업무건·역할·시스템 연결",</a:t>
            </a:r>
          </a:p>
          <a:p xmlns:a="http://schemas.openxmlformats.org/drawingml/2006/main">
            <a:r>
              <a:t>              "development": "검색·생성·반출·대기 작업의 정책 재검증",</a:t>
            </a:r>
          </a:p>
          <a:p xmlns:a="http://schemas.openxmlformats.org/drawingml/2006/main">
            <a:r>
              <a:t>              "output": "업무건·원천·역할·변경 연결 명세",</a:t>
            </a:r>
          </a:p>
          <a:p xmlns:a="http://schemas.openxmlformats.org/drawingml/2006/main">
            <a:r>
              <a:t>              "testId": "RULEWORK-1019500-10-T02",</a:t>
            </a:r>
          </a:p>
          <a:p xmlns:a="http://schemas.openxmlformats.org/drawingml/2006/main">
            <a:r>
              <a:t>              "criterion": "비인가 노출·실행 0건 및 회수 후 재접근 차단"</a:t>
            </a:r>
          </a:p>
          <a:p xmlns:a="http://schemas.openxmlformats.org/drawingml/2006/main">
            <a:r>
              <a:t>            },</a:t>
            </a:r>
          </a:p>
          <a:p xmlns:a="http://schemas.openxmlformats.org/drawingml/2006/main">
            <a:r>
              <a:t>            {</a:t>
            </a:r>
          </a:p>
          <a:p xmlns:a="http://schemas.openxmlformats.org/drawingml/2006/main">
            <a:r>
              <a:t>              "id": "RULEWORK-1019500-10-R03",</a:t>
            </a:r>
          </a:p>
          <a:p xmlns:a="http://schemas.openxmlformats.org/drawingml/2006/main">
            <a:r>
              <a:t>              "title": "현업 평가셋·운영 인수",</a:t>
            </a:r>
          </a:p>
          <a:p xmlns:a="http://schemas.openxmlformats.org/drawingml/2006/main">
            <a:r>
              <a:t>              "development": "해당 업무의 정상·예외·거부 사례와 판정 근거 구성",</a:t>
            </a:r>
          </a:p>
          <a:p xmlns:a="http://schemas.openxmlformats.org/drawingml/2006/main">
            <a:r>
              <a:t>              "output": "업무별 정답셋·결과·결함·재검증 기록",</a:t>
            </a:r>
          </a:p>
          <a:p xmlns:a="http://schemas.openxmlformats.org/drawingml/2006/main">
            <a:r>
              <a:t>              "testId": "RULEWORK-1019500-10-T03",</a:t>
            </a:r>
          </a:p>
          <a:p xmlns:a="http://schemas.openxmlformats.org/drawingml/2006/main">
            <a:r>
              <a:t>              "criterion": "평가셋·분모·목표의 착수 분석 단계 합의, 필수 거부셋 비인가 노출·실행 0건, 중대 결함 해소"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"reuseItems": [</a:t>
            </a:r>
          </a:p>
          <a:p xmlns:a="http://schemas.openxmlformats.org/drawingml/2006/main">
            <a:r>
              <a:t>    {</a:t>
            </a:r>
          </a:p>
          <a:p xmlns:a="http://schemas.openxmlformats.org/drawingml/2006/main">
            <a:r>
              <a:t>      "assetId": "CCK-01",</a:t>
            </a:r>
          </a:p>
          <a:p xmlns:a="http://schemas.openxmlformats.org/drawingml/2006/main">
            <a:r>
              <a:t>      "use": "NOA의 대화·검색·서식·스킬"</a:t>
            </a:r>
          </a:p>
          <a:p xmlns:a="http://schemas.openxmlformats.org/drawingml/2006/main">
            <a:r>
              <a:t>    },</a:t>
            </a:r>
          </a:p>
          <a:p xmlns:a="http://schemas.openxmlformats.org/drawingml/2006/main">
            <a:r>
              <a:t>    {</a:t>
            </a:r>
          </a:p>
          <a:p xmlns:a="http://schemas.openxmlformats.org/drawingml/2006/main">
            <a:r>
              <a:t>      "assetId": "CCK-03",</a:t>
            </a:r>
          </a:p>
          <a:p xmlns:a="http://schemas.openxmlformats.org/drawingml/2006/main">
            <a:r>
              <a:t>      "use": "Connor 명세의 실행·로그 경계"</a:t>
            </a:r>
          </a:p>
          <a:p xmlns:a="http://schemas.openxmlformats.org/drawingml/2006/main">
            <a:r>
              <a:t>    }</a:t>
            </a:r>
          </a:p>
          <a:p xmlns:a="http://schemas.openxmlformats.org/drawingml/2006/main">
            <a:r>
              <a:t>  ],</a:t>
            </a:r>
          </a:p>
          <a:p xmlns:a="http://schemas.openxmlformats.org/drawingml/2006/main">
            <a:r>
              <a:t>  "deliverables": [</a:t>
            </a:r>
          </a:p>
          <a:p xmlns:a="http://schemas.openxmlformats.org/drawingml/2006/main">
            <a:r>
              <a:t>    "사람–조직–직무–업무 관계·효력일 모델",</a:t>
            </a:r>
          </a:p>
          <a:p xmlns:a="http://schemas.openxmlformats.org/drawingml/2006/main">
            <a:r>
              <a:t>    "업무 분류기·검색 전 정책 집행 연결"</a:t>
            </a:r>
          </a:p>
          <a:p xmlns:a="http://schemas.openxmlformats.org/drawingml/2006/main">
            <a:r>
              <a:t>  ],</a:t>
            </a:r>
          </a:p>
          <a:p xmlns:a="http://schemas.openxmlformats.org/drawingml/2006/main">
            <a:r>
              <a:t>  "acceptancePlan": {</a:t>
            </a:r>
          </a:p>
          <a:p xmlns:a="http://schemas.openxmlformats.org/drawingml/2006/main">
            <a:r>
              <a:t>    "sample": "동명이인·겸직·전보·회수 전후 동일 요청",</a:t>
            </a:r>
          </a:p>
          <a:p xmlns:a="http://schemas.openxmlformats.org/drawingml/2006/main">
            <a:r>
              <a:t>    "criterion": "정답 조직·업무·서식 일치, 모호한 식별 보류, 비인가 노출·실행 0건 기준안",</a:t>
            </a:r>
          </a:p>
          <a:p xmlns:a="http://schemas.openxmlformats.org/drawingml/2006/main">
            <a:r>
              <a:t>    "evidence": "신원 매핑 정답셋·교차권한 결과·변경 전파·복구 기록",</a:t>
            </a:r>
          </a:p>
          <a:p xmlns:a="http://schemas.openxmlformats.org/drawingml/2006/main">
            <a:r>
              <a:t>    "execution": "미실행"</a:t>
            </a:r>
          </a:p>
          <a:p xmlns:a="http://schemas.openxmlformats.org/drawingml/2006/main">
            <a:r>
              <a:t>  },</a:t>
            </a:r>
          </a:p>
          <a:p xmlns:a="http://schemas.openxmlformats.org/drawingml/2006/main">
            <a:r>
              <a:t>  "formula": "직무·업무 분류 정답 건수 ÷ 평가 건수 / 변경 전파 지연 / 비인가 노출 건수",</a:t>
            </a:r>
          </a:p>
          <a:p xmlns:a="http://schemas.openxmlformats.org/drawingml/2006/main">
            <a:r>
              <a:t>  "comparison": "동일 난도·동일 기간의 기존 방식 대비 평가 / 검토·재작업 포함 / 목표·표본 수의 착수 단계 합의",</a:t>
            </a:r>
          </a:p>
          <a:p xmlns:a="http://schemas.openxmlformats.org/drawingml/2006/main">
            <a:r>
              <a:t>  "platformCases": [</a:t>
            </a:r>
          </a:p>
          <a:p xmlns:a="http://schemas.openxmlformats.org/drawingml/2006/main">
            <a:r>
              <a:t>    "PF-R03",</a:t>
            </a:r>
          </a:p>
          <a:p xmlns:a="http://schemas.openxmlformats.org/drawingml/2006/main">
            <a:r>
              <a:t>    "PF-R04",</a:t>
            </a:r>
          </a:p>
          <a:p xmlns:a="http://schemas.openxmlformats.org/drawingml/2006/main">
            <a:r>
              <a:t>    "PF-R09",</a:t>
            </a:r>
          </a:p>
          <a:p xmlns:a="http://schemas.openxmlformats.org/drawingml/2006/main">
            <a:r>
              <a:t>    "PF01",</a:t>
            </a:r>
          </a:p>
          <a:p xmlns:a="http://schemas.openxmlformats.org/drawingml/2006/main">
            <a:r>
              <a:t>    "PF-A03",</a:t>
            </a:r>
          </a:p>
          <a:p xmlns:a="http://schemas.openxmlformats.org/drawingml/2006/main">
            <a:r>
              <a:t>    "PF04",</a:t>
            </a:r>
          </a:p>
          <a:p xmlns:a="http://schemas.openxmlformats.org/drawingml/2006/main">
            <a:r>
              <a:t>    "PF-A06",</a:t>
            </a:r>
          </a:p>
          <a:p xmlns:a="http://schemas.openxmlformats.org/drawingml/2006/main">
            <a:r>
              <a:t>    "PF05",</a:t>
            </a:r>
          </a:p>
          <a:p xmlns:a="http://schemas.openxmlformats.org/drawingml/2006/main">
            <a:r>
              <a:t>    "PF-A08",</a:t>
            </a:r>
          </a:p>
          <a:p xmlns:a="http://schemas.openxmlformats.org/drawingml/2006/main">
            <a:r>
              <a:t>    "PF06",</a:t>
            </a:r>
          </a:p>
          <a:p xmlns:a="http://schemas.openxmlformats.org/drawingml/2006/main">
            <a:r>
              <a:t>    "PF-A16",</a:t>
            </a:r>
          </a:p>
          <a:p xmlns:a="http://schemas.openxmlformats.org/drawingml/2006/main">
            <a:r>
              <a:t>    "PF-A18",</a:t>
            </a:r>
          </a:p>
          <a:p xmlns:a="http://schemas.openxmlformats.org/drawingml/2006/main">
            <a:r>
              <a:t>    "PF-C01",</a:t>
            </a:r>
          </a:p>
          <a:p xmlns:a="http://schemas.openxmlformats.org/drawingml/2006/main">
            <a:r>
              <a:t>    "PF-C02",</a:t>
            </a:r>
          </a:p>
          <a:p xmlns:a="http://schemas.openxmlformats.org/drawingml/2006/main">
            <a:r>
              <a:t>    "PF31"</a:t>
            </a:r>
          </a:p>
          <a:p xmlns:a="http://schemas.openxmlformats.org/drawingml/2006/main">
            <a:r>
              <a:t>  ]</a:t>
            </a:r>
          </a:p>
          <a:p xmlns:a="http://schemas.openxmlformats.org/drawingml/2006/main">
            <a:r>
              <a:t>}</a:t>
            </a:r>
          </a:p>
          <a:p xmlns:a="http://schemas.openxmlformats.org/drawingml/2006/main">
            <a:r>
              <a:t>CCK-01: NOA 사용자 가이드 확인. 설치본 기능시험 필요.</a:t>
            </a:r>
          </a:p>
          <a:p xmlns:a="http://schemas.openxmlformats.org/drawingml/2006/main">
            <a:r>
              <a:t>CCK-02/03: 명세 기반 재사용 후보. 실물 기능검증 필요.</a:t>
            </a:r>
          </a:p>
          <a:p xmlns:a="http://schemas.openxmlformats.org/drawingml/2006/main">
            <a:r>
              <a:t>기존 SSO·RAG·권한·로그·연계 범위 대조 후 추가분 산정.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후속계획 https://heen1987-ops.github.io/TS-business-Plan-001/index.html?view=casebook&amp;tab=strategy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75be39e202498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43b14468f8a4d0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a04c774cfb24e0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f5f0c8eb92b408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5883ea1c08f429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ed1768d76c24bb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562370-E86A-47D2-B951-E4BD5A3C11D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C8E7467-C333-4D94-B69D-CBB6A0A88AE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6BD1020-5D36-418E-9957-D67154F05A5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C13EDD-C015-45ED-8ABA-5DCABD6790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3C0523F-03EB-41CF-8EC4-3F302CC6EFD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C917625-C234-431D-B191-B5D469AE2C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2F35097-753C-4555-81EB-C116DD6956F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B4EA657-7D76-44BC-B630-C0577BE0B75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EF0A58-DD3B-4CC2-A5BA-9FD09462AC1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0B1B14C-5896-4BF4-9017-3F3701ED3A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1979514379461f" /><Relationship Type="http://schemas.openxmlformats.org/officeDocument/2006/relationships/slideLayout" Target="/ppt/slideLayouts/slideLayout1.xml" Id="Rf7cffc12d51243f1" /><Relationship Type="http://schemas.openxmlformats.org/officeDocument/2006/relationships/slideLayout" Target="/ppt/slideLayouts/slideLayout2.xml" Id="Rfafc1de11d964b22" /><Relationship Type="http://schemas.openxmlformats.org/officeDocument/2006/relationships/slideLayout" Target="/ppt/slideLayouts/slideLayout3.xml" Id="Ra2979c9b7342427d" /><Relationship Type="http://schemas.openxmlformats.org/officeDocument/2006/relationships/slideLayout" Target="/ppt/slideLayouts/slideLayout4.xml" Id="R36585887a9d14779" /><Relationship Type="http://schemas.openxmlformats.org/officeDocument/2006/relationships/slideLayout" Target="/ppt/slideLayouts/slideLayout5.xml" Id="Rcd2bae3461084ebe" /><Relationship Type="http://schemas.openxmlformats.org/officeDocument/2006/relationships/slideLayout" Target="/ppt/slideLayouts/slideLayout6.xml" Id="R8072936a8b98475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cffc12d51243f1"/>
    <p:sldLayoutId xmlns:r="http://schemas.openxmlformats.org/officeDocument/2006/relationships" id="2147483650" r:id="Rfafc1de11d964b22"/>
    <p:sldLayoutId xmlns:r="http://schemas.openxmlformats.org/officeDocument/2006/relationships" id="2147483651" r:id="Ra2979c9b7342427d"/>
    <p:sldLayoutId xmlns:r="http://schemas.openxmlformats.org/officeDocument/2006/relationships" id="2147483652" r:id="R36585887a9d14779"/>
    <p:sldLayoutId xmlns:r="http://schemas.openxmlformats.org/officeDocument/2006/relationships" id="2147483653" r:id="Rcd2bae3461084ebe"/>
    <p:sldLayoutId xmlns:r="http://schemas.openxmlformats.org/officeDocument/2006/relationships" id="2147483654" r:id="R8072936a8b98475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Pretendard"/>
        <a:ea typeface=""/>
        <a:cs typeface=""/>
      </a:majorFont>
      <a:minorFont>
        <a:latin typeface="Pretendard"/>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b8867933c0b4821" /><Relationship Type="http://schemas.openxmlformats.org/officeDocument/2006/relationships/notesSlide" Target="/ppt/notesSlides/notesSlide1.xml" Id="Racbe56a602b9460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d977efa13c44ba4" /><Relationship Type="http://schemas.openxmlformats.org/officeDocument/2006/relationships/notesSlide" Target="/ppt/notesSlides/notesSlide2.xml" Id="R9cb6cc3383184e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cb0db06be8e4051" /><Relationship Type="http://schemas.openxmlformats.org/officeDocument/2006/relationships/notesSlide" Target="/ppt/notesSlides/notesSlide3.xml" Id="Rf03845582b2e45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016b19ffa2a4423" /><Relationship Type="http://schemas.openxmlformats.org/officeDocument/2006/relationships/image" Target="/ppt/media/image.png" Id="R26b29f5b80f14643" /><Relationship Type="http://schemas.openxmlformats.org/officeDocument/2006/relationships/notesSlide" Target="/ppt/notesSlides/notesSlide4.xml" Id="R83224fc72f8848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09b43285ad24ec8" /><Relationship Type="http://schemas.openxmlformats.org/officeDocument/2006/relationships/notesSlide" Target="/ppt/notesSlides/notesSlide5.xml" Id="R86f816b740fd412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84123334a3d4584" /><Relationship Type="http://schemas.openxmlformats.org/officeDocument/2006/relationships/notesSlide" Target="/ppt/notesSlides/notesSlide6.xml" Id="Rc95817afeb614c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9e1eedd2ecc4719" /><Relationship Type="http://schemas.openxmlformats.org/officeDocument/2006/relationships/notesSlide" Target="/ppt/notesSlides/notesSlide7.xml" Id="R1501bd96c1794d4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67739fcc02b446d" /><Relationship Type="http://schemas.openxmlformats.org/officeDocument/2006/relationships/notesSlide" Target="/ppt/notesSlides/notesSlide8.xml" Id="R297879b1abf34ab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97f2e1c7ffa48ce" /><Relationship Type="http://schemas.openxmlformats.org/officeDocument/2006/relationships/notesSlide" Target="/ppt/notesSlides/notesSlide9.xml" Id="R05761737065544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b2d699b57f14936" /><Relationship Type="http://schemas.openxmlformats.org/officeDocument/2006/relationships/notesSlide" Target="/ppt/notesSlides/notesSlide10.xml" Id="R98cfc5d239ea402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ea95135d2ff4048" /><Relationship Type="http://schemas.openxmlformats.org/officeDocument/2006/relationships/notesSlide" Target="/ppt/notesSlides/notesSlide11.xml" Id="R25ae8733024142c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554fda93ff14b5f" /><Relationship Type="http://schemas.openxmlformats.org/officeDocument/2006/relationships/image" Target="/ppt/media/image2.png" Id="Rf9a78a71ce6145fb" /><Relationship Type="http://schemas.openxmlformats.org/officeDocument/2006/relationships/notesSlide" Target="/ppt/notesSlides/notesSlide12.xml" Id="R052917e4b8dc427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28a6ee30b4b43a4" /><Relationship Type="http://schemas.openxmlformats.org/officeDocument/2006/relationships/image" Target="/ppt/media/image3.png" Id="R1034a1a8ea844a78" /><Relationship Type="http://schemas.openxmlformats.org/officeDocument/2006/relationships/notesSlide" Target="/ppt/notesSlides/notesSlide13.xml" Id="R79b4b7fd77284ab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9bee2c6a8334b52" /><Relationship Type="http://schemas.openxmlformats.org/officeDocument/2006/relationships/image" Target="/ppt/media/image4.png" Id="Rd4e139b3c7844b31" /><Relationship Type="http://schemas.openxmlformats.org/officeDocument/2006/relationships/notesSlide" Target="/ppt/notesSlides/notesSlide14.xml" Id="R5204dfbf31b9417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d1e1a9413d34515" /><Relationship Type="http://schemas.openxmlformats.org/officeDocument/2006/relationships/image" Target="/ppt/media/image5.png" Id="Rca566a1a502846bd" /><Relationship Type="http://schemas.openxmlformats.org/officeDocument/2006/relationships/notesSlide" Target="/ppt/notesSlides/notesSlide15.xml" Id="R891f9b495e0141b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f8c1fde0fe948f0" /><Relationship Type="http://schemas.openxmlformats.org/officeDocument/2006/relationships/notesSlide" Target="/ppt/notesSlides/notesSlide16.xml" Id="R634dddfbc987448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55be2a678424f12" /><Relationship Type="http://schemas.openxmlformats.org/officeDocument/2006/relationships/notesSlide" Target="/ppt/notesSlides/notesSlide17.xml" Id="R870d25391fae490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76028ebaaeb4434" /><Relationship Type="http://schemas.openxmlformats.org/officeDocument/2006/relationships/notesSlide" Target="/ppt/notesSlides/notesSlide18.xml" Id="R8bcd6a5f13e84fa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184e136d14a4f58" /><Relationship Type="http://schemas.openxmlformats.org/officeDocument/2006/relationships/notesSlide" Target="/ppt/notesSlides/notesSlide19.xml" Id="R3a5068d431204e3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2808973e51240f6" /><Relationship Type="http://schemas.openxmlformats.org/officeDocument/2006/relationships/notesSlide" Target="/ppt/notesSlides/notesSlide20.xml" Id="R6dd2edf95cf8453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d450c2269ad4fcd" /><Relationship Type="http://schemas.openxmlformats.org/officeDocument/2006/relationships/notesSlide" Target="/ppt/notesSlides/notesSlide21.xml" Id="R841f7d5c018c426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a945e9bf0a040da" /><Relationship Type="http://schemas.openxmlformats.org/officeDocument/2006/relationships/notesSlide" Target="/ppt/notesSlides/notesSlide22.xml" Id="R6bd83172945f4b3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fc30636a2114e2f" /><Relationship Type="http://schemas.openxmlformats.org/officeDocument/2006/relationships/image" Target="/ppt/media/image6.png" Id="R07a7550270c641cc" /><Relationship Type="http://schemas.openxmlformats.org/officeDocument/2006/relationships/notesSlide" Target="/ppt/notesSlides/notesSlide23.xml" Id="R83a667337e844f0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a1cd943e4734922" /><Relationship Type="http://schemas.openxmlformats.org/officeDocument/2006/relationships/notesSlide" Target="/ppt/notesSlides/notesSlide24.xml" Id="R8499a1b1d1cd459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203a75e3544043cd" /><Relationship Type="http://schemas.openxmlformats.org/officeDocument/2006/relationships/notesSlide" Target="/ppt/notesSlides/notesSlide25.xml" Id="Rafc4167c5e75474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28a7c2902ce40cd" /><Relationship Type="http://schemas.openxmlformats.org/officeDocument/2006/relationships/notesSlide" Target="/ppt/notesSlides/notesSlide26.xml" Id="R8645920af00d422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5645cd9ddb974dc6" /><Relationship Type="http://schemas.openxmlformats.org/officeDocument/2006/relationships/notesSlide" Target="/ppt/notesSlides/notesSlide27.xml" Id="R0420ed66ea304e6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ee319bcfe804956" /><Relationship Type="http://schemas.openxmlformats.org/officeDocument/2006/relationships/notesSlide" Target="/ppt/notesSlides/notesSlide28.xml" Id="Rc57e2cbef4554d3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e52e877f12a645b1" /><Relationship Type="http://schemas.openxmlformats.org/officeDocument/2006/relationships/notesSlide" Target="/ppt/notesSlides/notesSlide29.xml" Id="Rdceea89a8d44458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fdf9f8a12ed54bb0" /><Relationship Type="http://schemas.openxmlformats.org/officeDocument/2006/relationships/image" Target="/ppt/media/image7.png" Id="R9ac58d92f52b4259" /><Relationship Type="http://schemas.openxmlformats.org/officeDocument/2006/relationships/notesSlide" Target="/ppt/notesSlides/notesSlide30.xml" Id="R1f9429027e64417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6701971132c54614" /><Relationship Type="http://schemas.openxmlformats.org/officeDocument/2006/relationships/image" Target="/ppt/media/image8.png" Id="Rec4ff940791e4926" /><Relationship Type="http://schemas.openxmlformats.org/officeDocument/2006/relationships/notesSlide" Target="/ppt/notesSlides/notesSlide31.xml" Id="R1f01634f3e864af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0ce4e592cbc405d" /><Relationship Type="http://schemas.openxmlformats.org/officeDocument/2006/relationships/notesSlide" Target="/ppt/notesSlides/notesSlide32.xml" Id="R086d215d6d3741c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5426598e48e494c" /><Relationship Type="http://schemas.openxmlformats.org/officeDocument/2006/relationships/notesSlide" Target="/ppt/notesSlides/notesSlide33.xml" Id="R3719683018e5452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e29adde4bf204e12" /><Relationship Type="http://schemas.openxmlformats.org/officeDocument/2006/relationships/notesSlide" Target="/ppt/notesSlides/notesSlide34.xml" Id="R4e9f40183c8c4f5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939bab579b2247b3" /><Relationship Type="http://schemas.openxmlformats.org/officeDocument/2006/relationships/notesSlide" Target="/ppt/notesSlides/notesSlide35.xml" Id="R2f5b8bc962e841a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4db34ab3cb1148f8" /><Relationship Type="http://schemas.openxmlformats.org/officeDocument/2006/relationships/notesSlide" Target="/ppt/notesSlides/notesSlide36.xml" Id="R8aae07dc0fe041d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b38a0ffdba0344c5" /><Relationship Type="http://schemas.openxmlformats.org/officeDocument/2006/relationships/notesSlide" Target="/ppt/notesSlides/notesSlide37.xml" Id="R22e2bbef564448b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58964e7a023346cb" /><Relationship Type="http://schemas.openxmlformats.org/officeDocument/2006/relationships/image" Target="/ppt/media/image9.png" Id="Rfaecc5a87fc34143" /><Relationship Type="http://schemas.openxmlformats.org/officeDocument/2006/relationships/notesSlide" Target="/ppt/notesSlides/notesSlide38.xml" Id="R69e1e138105b4d3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a8e6029959a845a5" /><Relationship Type="http://schemas.openxmlformats.org/officeDocument/2006/relationships/image" Target="/ppt/media/image10.png" Id="Rac40e68ed58c4f7b" /><Relationship Type="http://schemas.openxmlformats.org/officeDocument/2006/relationships/notesSlide" Target="/ppt/notesSlides/notesSlide39.xml" Id="R95f2c8be581c49c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21d0194eec7f438c" /><Relationship Type="http://schemas.openxmlformats.org/officeDocument/2006/relationships/notesSlide" Target="/ppt/notesSlides/notesSlide40.xml" Id="R849ae40fd170425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74ea8f6d39a24dc4" /><Relationship Type="http://schemas.openxmlformats.org/officeDocument/2006/relationships/notesSlide" Target="/ppt/notesSlides/notesSlide41.xml" Id="R114cbcbbbdbd4d4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c7cf5ab9dbc34af3" /><Relationship Type="http://schemas.openxmlformats.org/officeDocument/2006/relationships/notesSlide" Target="/ppt/notesSlides/notesSlide42.xml" Id="R3f39717e31d44f9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d6b72596a9134584" /><Relationship Type="http://schemas.openxmlformats.org/officeDocument/2006/relationships/notesSlide" Target="/ppt/notesSlides/notesSlide43.xml" Id="R5a96583e664b440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979081bf488046c2" /><Relationship Type="http://schemas.openxmlformats.org/officeDocument/2006/relationships/notesSlide" Target="/ppt/notesSlides/notesSlide44.xml" Id="R556cae976353482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bfe4209e608842f1" /><Relationship Type="http://schemas.openxmlformats.org/officeDocument/2006/relationships/notesSlide" Target="/ppt/notesSlides/notesSlide45.xml" Id="R03dcd7eb6cbf4620"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1cea8294d24b4795" /><Relationship Type="http://schemas.openxmlformats.org/officeDocument/2006/relationships/image" Target="/ppt/media/image11.png" Id="R2713062617fb4d30" /><Relationship Type="http://schemas.openxmlformats.org/officeDocument/2006/relationships/notesSlide" Target="/ppt/notesSlides/notesSlide46.xml" Id="R027907923de54dd2"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d243b8c8e9fe4ae7" /><Relationship Type="http://schemas.openxmlformats.org/officeDocument/2006/relationships/notesSlide" Target="/ppt/notesSlides/notesSlide47.xml" Id="R9a8a5a024ba74840"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a305771380044124" /><Relationship Type="http://schemas.openxmlformats.org/officeDocument/2006/relationships/notesSlide" Target="/ppt/notesSlides/notesSlide48.xml" Id="R9339018dd3644821"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858d56b613ab46a8" /><Relationship Type="http://schemas.openxmlformats.org/officeDocument/2006/relationships/notesSlide" Target="/ppt/notesSlides/notesSlide49.xml" Id="Re8a90300c5ee488e"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74d0b59acf0d4b74" /><Relationship Type="http://schemas.openxmlformats.org/officeDocument/2006/relationships/notesSlide" Target="/ppt/notesSlides/notesSlide50.xml" Id="R9e5c7153150448fd"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42ee6c2452094032" /><Relationship Type="http://schemas.openxmlformats.org/officeDocument/2006/relationships/notesSlide" Target="/ppt/notesSlides/notesSlide51.xml" Id="R1e2a3879c84d4836"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7a0f8fba96b34abc" /><Relationship Type="http://schemas.openxmlformats.org/officeDocument/2006/relationships/notesSlide" Target="/ppt/notesSlides/notesSlide52.xml" Id="R99c33e2e6dcd4024"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fc16d06e62044613" /><Relationship Type="http://schemas.openxmlformats.org/officeDocument/2006/relationships/notesSlide" Target="/ppt/notesSlides/notesSlide53.xml" Id="R14ba5a3151504eb5"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1a3f35b5f98f4792" /><Relationship Type="http://schemas.openxmlformats.org/officeDocument/2006/relationships/notesSlide" Target="/ppt/notesSlides/notesSlide54.xml" Id="R025ff07407d14077"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989dccd3ca40413b" /><Relationship Type="http://schemas.openxmlformats.org/officeDocument/2006/relationships/notesSlide" Target="/ppt/notesSlides/notesSlide55.xml" Id="Ref00bde618fb4886"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eede3b7833c0475a" /><Relationship Type="http://schemas.openxmlformats.org/officeDocument/2006/relationships/notesSlide" Target="/ppt/notesSlides/notesSlide56.xml" Id="R7bd99305fb1c4de0"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5b0a253c49d44063" /><Relationship Type="http://schemas.openxmlformats.org/officeDocument/2006/relationships/notesSlide" Target="/ppt/notesSlides/notesSlide57.xml" Id="Rfedf26b6f69d4865"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b88b9904c4b347f0" /><Relationship Type="http://schemas.openxmlformats.org/officeDocument/2006/relationships/notesSlide" Target="/ppt/notesSlides/notesSlide58.xml" Id="R43c62d009b194a95"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7657d5ecfc7445db" /><Relationship Type="http://schemas.openxmlformats.org/officeDocument/2006/relationships/notesSlide" Target="/ppt/notesSlides/notesSlide59.xml" Id="R375fb4141db4492e"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6fd65a69f1b24206" /><Relationship Type="http://schemas.openxmlformats.org/officeDocument/2006/relationships/notesSlide" Target="/ppt/notesSlides/notesSlide60.xml" Id="R3763940deb9c4cbd"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91438a98117c4701" /><Relationship Type="http://schemas.openxmlformats.org/officeDocument/2006/relationships/image" Target="/ppt/media/image12.png" Id="R469953228762425c" /><Relationship Type="http://schemas.openxmlformats.org/officeDocument/2006/relationships/notesSlide" Target="/ppt/notesSlides/notesSlide61.xml" Id="R41fb17db4ea145a9"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cd32d7bc0aec4f57" /><Relationship Type="http://schemas.openxmlformats.org/officeDocument/2006/relationships/image" Target="/ppt/media/image13.png" Id="Rfe2c6da4bdc441ca" /><Relationship Type="http://schemas.openxmlformats.org/officeDocument/2006/relationships/notesSlide" Target="/ppt/notesSlides/notesSlide62.xml" Id="R2503d5c5c28b4d39"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8b0f02afb7564dc6" /><Relationship Type="http://schemas.openxmlformats.org/officeDocument/2006/relationships/notesSlide" Target="/ppt/notesSlides/notesSlide63.xml" Id="R73c206ba89fa4127"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6e983c2e67494ef5" /><Relationship Type="http://schemas.openxmlformats.org/officeDocument/2006/relationships/notesSlide" Target="/ppt/notesSlides/notesSlide64.xml" Id="R722b267ae01a4cd1"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a88b0cfaaa934624" /><Relationship Type="http://schemas.openxmlformats.org/officeDocument/2006/relationships/notesSlide" Target="/ppt/notesSlides/notesSlide65.xml" Id="R5c35e6a7ab2c4d59"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8b529c403f504a2b" /><Relationship Type="http://schemas.openxmlformats.org/officeDocument/2006/relationships/notesSlide" Target="/ppt/notesSlides/notesSlide66.xml" Id="Rdb7ddf6cc9504daf"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4290fc63f2fa4a42" /><Relationship Type="http://schemas.openxmlformats.org/officeDocument/2006/relationships/notesSlide" Target="/ppt/notesSlides/notesSlide67.xml" Id="Rfda6801e365b4d79"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da9f238ca8864699" /><Relationship Type="http://schemas.openxmlformats.org/officeDocument/2006/relationships/notesSlide" Target="/ppt/notesSlides/notesSlide68.xml" Id="R16cbc7d45bb247a0"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ff0d14e28fc446ab" /><Relationship Type="http://schemas.openxmlformats.org/officeDocument/2006/relationships/notesSlide" Target="/ppt/notesSlides/notesSlide69.xml" Id="Rb575d51ddf2b4db1"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2638c29dd8bb4d1c" /><Relationship Type="http://schemas.openxmlformats.org/officeDocument/2006/relationships/notesSlide" Target="/ppt/notesSlides/notesSlide70.xml" Id="R4f4a0a2c06f64b9a"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d4abf88e82fc4bec" /><Relationship Type="http://schemas.openxmlformats.org/officeDocument/2006/relationships/notesSlide" Target="/ppt/notesSlides/notesSlide71.xml" Id="Rbd82e01c62c84918"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6b1f5793a798491b" /><Relationship Type="http://schemas.openxmlformats.org/officeDocument/2006/relationships/notesSlide" Target="/ppt/notesSlides/notesSlide72.xml" Id="R731f4ed5c6824072"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230081ecede74ab4" /><Relationship Type="http://schemas.openxmlformats.org/officeDocument/2006/relationships/notesSlide" Target="/ppt/notesSlides/notesSlide73.xml" Id="Rd86fe408deae438e"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29cff9e733d8406c" /><Relationship Type="http://schemas.openxmlformats.org/officeDocument/2006/relationships/notesSlide" Target="/ppt/notesSlides/notesSlide74.xml" Id="R89f5ed0e0e9342b6"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efcee419a6374d09" /><Relationship Type="http://schemas.openxmlformats.org/officeDocument/2006/relationships/notesSlide" Target="/ppt/notesSlides/notesSlide75.xml" Id="Rc73e0cb9f45b4d76"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ee69d6e861174cbc" /><Relationship Type="http://schemas.openxmlformats.org/officeDocument/2006/relationships/notesSlide" Target="/ppt/notesSlides/notesSlide76.xml" Id="Rdbee789a61fb4276"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94be70cae0204089" /><Relationship Type="http://schemas.openxmlformats.org/officeDocument/2006/relationships/notesSlide" Target="/ppt/notesSlides/notesSlide77.xml" Id="R887980eea1c249a8"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606053dfb76e4bf5" /><Relationship Type="http://schemas.openxmlformats.org/officeDocument/2006/relationships/notesSlide" Target="/ppt/notesSlides/notesSlide78.xml" Id="Rd1b489af1dac45a2"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47806e4960494ff4" /><Relationship Type="http://schemas.openxmlformats.org/officeDocument/2006/relationships/notesSlide" Target="/ppt/notesSlides/notesSlide79.xml" Id="R43e3e988ab1b43af"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60897b9fe8304d2e" /><Relationship Type="http://schemas.openxmlformats.org/officeDocument/2006/relationships/notesSlide" Target="/ppt/notesSlides/notesSlide80.xml" Id="R924180ff8ffe42fb"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a4f498e296a84039" /><Relationship Type="http://schemas.openxmlformats.org/officeDocument/2006/relationships/notesSlide" Target="/ppt/notesSlides/notesSlide81.xml" Id="Rf87ae3631188466a"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9f690f7e65a247ae" /><Relationship Type="http://schemas.openxmlformats.org/officeDocument/2006/relationships/notesSlide" Target="/ppt/notesSlides/notesSlide82.xml" Id="Rd1eb5dfd79024aa4"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01fb2bb9ca0f4d33" /><Relationship Type="http://schemas.openxmlformats.org/officeDocument/2006/relationships/notesSlide" Target="/ppt/notesSlides/notesSlide83.xml" Id="R1a8fd5719c5e4b26"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0d55b737826e4326" /><Relationship Type="http://schemas.openxmlformats.org/officeDocument/2006/relationships/notesSlide" Target="/ppt/notesSlides/notesSlide84.xml" Id="R303a73abadc24917"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f7a6f5a655ff479c" /><Relationship Type="http://schemas.openxmlformats.org/officeDocument/2006/relationships/notesSlide" Target="/ppt/notesSlides/notesSlide85.xml" Id="R89f5d414b6d04dbf"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0dff98b7334f47bd" /><Relationship Type="http://schemas.openxmlformats.org/officeDocument/2006/relationships/notesSlide" Target="/ppt/notesSlides/notesSlide86.xml" Id="R9dcf8823fab14fc2"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e6ff32cd2b5d43f7" /><Relationship Type="http://schemas.openxmlformats.org/officeDocument/2006/relationships/notesSlide" Target="/ppt/notesSlides/notesSlide87.xml" Id="R1bf547e4aab743b1"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d67a0ec43b964b70" /><Relationship Type="http://schemas.openxmlformats.org/officeDocument/2006/relationships/notesSlide" Target="/ppt/notesSlides/notesSlide88.xml" Id="R42c0e72070dd4f00"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99550ce4fc454aea" /><Relationship Type="http://schemas.openxmlformats.org/officeDocument/2006/relationships/notesSlide" Target="/ppt/notesSlides/notesSlide89.xml" Id="Ref54d5e02bf9415c" /></Relationships>
</file>

<file path=ppt/slides/_rels/slide90.xml.rels>&#65279;<?xml version="1.0" encoding="utf-8"?><Relationships xmlns="http://schemas.openxmlformats.org/package/2006/relationships"><Relationship Type="http://schemas.openxmlformats.org/officeDocument/2006/relationships/slideLayout" Target="/ppt/slideLayouts/slideLayout6.xml" Id="R85196a3f16ea46cb" /><Relationship Type="http://schemas.openxmlformats.org/officeDocument/2006/relationships/notesSlide" Target="/ppt/notesSlides/notesSlide90.xml" Id="R0c6d339b3e0e4cfe" /></Relationships>
</file>

<file path=ppt/slides/_rels/slide91.xml.rels>&#65279;<?xml version="1.0" encoding="utf-8"?><Relationships xmlns="http://schemas.openxmlformats.org/package/2006/relationships"><Relationship Type="http://schemas.openxmlformats.org/officeDocument/2006/relationships/slideLayout" Target="/ppt/slideLayouts/slideLayout6.xml" Id="Rc6eb3ca454ad4a9c" /><Relationship Type="http://schemas.openxmlformats.org/officeDocument/2006/relationships/notesSlide" Target="/ppt/notesSlides/notesSlide91.xml" Id="R3f76d21c5eaa4293" /></Relationships>
</file>

<file path=ppt/slides/_rels/slide92.xml.rels>&#65279;<?xml version="1.0" encoding="utf-8"?><Relationships xmlns="http://schemas.openxmlformats.org/package/2006/relationships"><Relationship Type="http://schemas.openxmlformats.org/officeDocument/2006/relationships/slideLayout" Target="/ppt/slideLayouts/slideLayout6.xml" Id="Rd25fe8d166ef4f67" /><Relationship Type="http://schemas.openxmlformats.org/officeDocument/2006/relationships/notesSlide" Target="/ppt/notesSlides/notesSlide92.xml" Id="Raf5951c6f91c4ca0" /></Relationships>
</file>

<file path=ppt/slides/_rels/slide93.xml.rels>&#65279;<?xml version="1.0" encoding="utf-8"?><Relationships xmlns="http://schemas.openxmlformats.org/package/2006/relationships"><Relationship Type="http://schemas.openxmlformats.org/officeDocument/2006/relationships/slideLayout" Target="/ppt/slideLayouts/slideLayout6.xml" Id="R11ed97f479c44055" /><Relationship Type="http://schemas.openxmlformats.org/officeDocument/2006/relationships/notesSlide" Target="/ppt/notesSlides/notesSlide93.xml" Id="Recdf4647110c4dcd" /></Relationships>
</file>

<file path=ppt/slides/_rels/slide94.xml.rels>&#65279;<?xml version="1.0" encoding="utf-8"?><Relationships xmlns="http://schemas.openxmlformats.org/package/2006/relationships"><Relationship Type="http://schemas.openxmlformats.org/officeDocument/2006/relationships/slideLayout" Target="/ppt/slideLayouts/slideLayout6.xml" Id="R7fad7a30dd6e4380" /><Relationship Type="http://schemas.openxmlformats.org/officeDocument/2006/relationships/notesSlide" Target="/ppt/notesSlides/notesSlide94.xml" Id="R60f32beaa080495a" /></Relationships>
</file>

<file path=ppt/slides/_rels/slide95.xml.rels>&#65279;<?xml version="1.0" encoding="utf-8"?><Relationships xmlns="http://schemas.openxmlformats.org/package/2006/relationships"><Relationship Type="http://schemas.openxmlformats.org/officeDocument/2006/relationships/slideLayout" Target="/ppt/slideLayouts/slideLayout6.xml" Id="R2d9f794377e247cc" /><Relationship Type="http://schemas.openxmlformats.org/officeDocument/2006/relationships/notesSlide" Target="/ppt/notesSlides/notesSlide95.xml" Id="R2f468430634a405e" /></Relationships>
</file>

<file path=ppt/slides/_rels/slide96.xml.rels>&#65279;<?xml version="1.0" encoding="utf-8"?><Relationships xmlns="http://schemas.openxmlformats.org/package/2006/relationships"><Relationship Type="http://schemas.openxmlformats.org/officeDocument/2006/relationships/slideLayout" Target="/ppt/slideLayouts/slideLayout6.xml" Id="Rc7bcec1f40e44192" /><Relationship Type="http://schemas.openxmlformats.org/officeDocument/2006/relationships/notesSlide" Target="/ppt/notesSlides/notesSlide96.xml" Id="R136468e92b134b84" /></Relationships>
</file>

<file path=ppt/slides/_rels/slide97.xml.rels>&#65279;<?xml version="1.0" encoding="utf-8"?><Relationships xmlns="http://schemas.openxmlformats.org/package/2006/relationships"><Relationship Type="http://schemas.openxmlformats.org/officeDocument/2006/relationships/slideLayout" Target="/ppt/slideLayouts/slideLayout6.xml" Id="R82d00d821dcb4d07" /><Relationship Type="http://schemas.openxmlformats.org/officeDocument/2006/relationships/notesSlide" Target="/ppt/notesSlides/notesSlide97.xml" Id="R49c1c610ae4f4e36" /></Relationships>
</file>

<file path=ppt/slides/_rels/slide98.xml.rels>&#65279;<?xml version="1.0" encoding="utf-8"?><Relationships xmlns="http://schemas.openxmlformats.org/package/2006/relationships"><Relationship Type="http://schemas.openxmlformats.org/officeDocument/2006/relationships/slideLayout" Target="/ppt/slideLayouts/slideLayout6.xml" Id="R87367a3bdb92479d" /><Relationship Type="http://schemas.openxmlformats.org/officeDocument/2006/relationships/notesSlide" Target="/ppt/notesSlides/notesSlide98.xml" Id="Rb339a85a7d324762" /></Relationships>
</file>

<file path=ppt/slides/_rels/slide99.xml.rels>&#65279;<?xml version="1.0" encoding="utf-8"?><Relationships xmlns="http://schemas.openxmlformats.org/package/2006/relationships"><Relationship Type="http://schemas.openxmlformats.org/officeDocument/2006/relationships/slideLayout" Target="/ppt/slideLayouts/slideLayout6.xml" Id="R2d8786e7976d4176" /><Relationship Type="http://schemas.openxmlformats.org/officeDocument/2006/relationships/notesSlide" Target="/ppt/notesSlides/notesSlide99.xml" Id="R1536e6fb4505435f"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6.xml" Id="R5f608c77eb474f47" /><Relationship Type="http://schemas.openxmlformats.org/officeDocument/2006/relationships/notesSlide" Target="/ppt/notesSlides/notesSlide100.xml" Id="R3f9532359af94cae"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6.xml" Id="Rea12ada180f44008" /><Relationship Type="http://schemas.openxmlformats.org/officeDocument/2006/relationships/notesSlide" Target="/ppt/notesSlides/notesSlide101.xml" Id="Rd8a258275ae047d3"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6.xml" Id="R22e3117b8d3a4062" /><Relationship Type="http://schemas.openxmlformats.org/officeDocument/2006/relationships/notesSlide" Target="/ppt/notesSlides/notesSlide102.xml" Id="R0ef61bd7e57a4ec0"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6.xml" Id="R8a4b870aa62a48d0" /><Relationship Type="http://schemas.openxmlformats.org/officeDocument/2006/relationships/notesSlide" Target="/ppt/notesSlides/notesSlide103.xml" Id="Ref86fcd5b9214698"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6.xml" Id="Rcc1ac028207d42f8" /><Relationship Type="http://schemas.openxmlformats.org/officeDocument/2006/relationships/notesSlide" Target="/ppt/notesSlides/notesSlide104.xml" Id="Rc8b9d3811f8c4354"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6.xml" Id="Ra004f8e8aa71419f" /><Relationship Type="http://schemas.openxmlformats.org/officeDocument/2006/relationships/notesSlide" Target="/ppt/notesSlides/notesSlide105.xml" Id="R41d8c432ea0743e4"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6.xml" Id="R390d9f6b40534f89" /><Relationship Type="http://schemas.openxmlformats.org/officeDocument/2006/relationships/notesSlide" Target="/ppt/notesSlides/notesSlide106.xml" Id="R38447a0c8ebd45a2"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6.xml" Id="R5cd7da8dc8544126" /><Relationship Type="http://schemas.openxmlformats.org/officeDocument/2006/relationships/notesSlide" Target="/ppt/notesSlides/notesSlide107.xml" Id="R30226ff216dc4f99"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6.xml" Id="R9c8a31a0046f4b66" /><Relationship Type="http://schemas.openxmlformats.org/officeDocument/2006/relationships/notesSlide" Target="/ppt/notesSlides/notesSlide108.xml" Id="Rad4a5b878a174768"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6.xml" Id="R4879b73264f345f0" /><Relationship Type="http://schemas.openxmlformats.org/officeDocument/2006/relationships/notesSlide" Target="/ppt/notesSlides/notesSlide109.xml" Id="R5e9ded178d1e43c6"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6.xml" Id="R32d55ecec2754c3f" /><Relationship Type="http://schemas.openxmlformats.org/officeDocument/2006/relationships/notesSlide" Target="/ppt/notesSlides/notesSlide110.xml" Id="R14c41c4013844ab0"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6.xml" Id="R619cc55333284448" /><Relationship Type="http://schemas.openxmlformats.org/officeDocument/2006/relationships/notesSlide" Target="/ppt/notesSlides/notesSlide111.xml" Id="R900137a620cb4a65"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6.xml" Id="R716eb405bcd74f66" /><Relationship Type="http://schemas.openxmlformats.org/officeDocument/2006/relationships/notesSlide" Target="/ppt/notesSlides/notesSlide112.xml" Id="R5fb366cafcea4163"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6.xml" Id="R02cdd3fe2e5f4f00" /><Relationship Type="http://schemas.openxmlformats.org/officeDocument/2006/relationships/notesSlide" Target="/ppt/notesSlides/notesSlide113.xml" Id="R5e4f0074057d4331"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6.xml" Id="R01ef0577a6dc4d8e" /><Relationship Type="http://schemas.openxmlformats.org/officeDocument/2006/relationships/notesSlide" Target="/ppt/notesSlides/notesSlide114.xml" Id="Rd1311f929bc147eb"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6.xml" Id="Rb2711f66ae444057" /><Relationship Type="http://schemas.openxmlformats.org/officeDocument/2006/relationships/notesSlide" Target="/ppt/notesSlides/notesSlide115.xml" Id="R3113d4151a22449b"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6.xml" Id="Rbc690912d94d49b1" /><Relationship Type="http://schemas.openxmlformats.org/officeDocument/2006/relationships/notesSlide" Target="/ppt/notesSlides/notesSlide116.xml" Id="Re542e2517f824c52"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6.xml" Id="R49295d9e7c03448d" /><Relationship Type="http://schemas.openxmlformats.org/officeDocument/2006/relationships/notesSlide" Target="/ppt/notesSlides/notesSlide117.xml" Id="R7ee3719d1f364d2d"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6.xml" Id="Rb5e3e2ea567f4914" /><Relationship Type="http://schemas.openxmlformats.org/officeDocument/2006/relationships/notesSlide" Target="/ppt/notesSlides/notesSlide118.xml" Id="R1c7a448f939f4965"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6.xml" Id="Rded9dedcae824db1" /><Relationship Type="http://schemas.openxmlformats.org/officeDocument/2006/relationships/notesSlide" Target="/ppt/notesSlides/notesSlide119.xml" Id="Rc716189f9e8c493c"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6.xml" Id="Rea117a52d1bb4ef9" /><Relationship Type="http://schemas.openxmlformats.org/officeDocument/2006/relationships/notesSlide" Target="/ppt/notesSlides/notesSlide120.xml" Id="Rc33d6f41409b4779"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6.xml" Id="R439c4ef4a4154cb9" /><Relationship Type="http://schemas.openxmlformats.org/officeDocument/2006/relationships/notesSlide" Target="/ppt/notesSlides/notesSlide121.xml" Id="R06919e5cdf094355"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6.xml" Id="R340d2e9916f04606" /><Relationship Type="http://schemas.openxmlformats.org/officeDocument/2006/relationships/notesSlide" Target="/ppt/notesSlides/notesSlide122.xml" Id="R83d22f95056a44bc"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6.xml" Id="R674eb69b1ae34ba4" /><Relationship Type="http://schemas.openxmlformats.org/officeDocument/2006/relationships/notesSlide" Target="/ppt/notesSlides/notesSlide123.xml" Id="R95b155d09ff84525"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6.xml" Id="Rd38489ec014a432e" /><Relationship Type="http://schemas.openxmlformats.org/officeDocument/2006/relationships/notesSlide" Target="/ppt/notesSlides/notesSlide124.xml" Id="Rbc9087587cbb478d"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6.xml" Id="R22852088bf50468e" /><Relationship Type="http://schemas.openxmlformats.org/officeDocument/2006/relationships/notesSlide" Target="/ppt/notesSlides/notesSlide125.xml" Id="Rfb0fea6bd0b24da9"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6.xml" Id="R5543b20ca73d407a" /><Relationship Type="http://schemas.openxmlformats.org/officeDocument/2006/relationships/notesSlide" Target="/ppt/notesSlides/notesSlide126.xml" Id="R0511152d656943b7"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6.xml" Id="R53ef07a7f7c247a5" /><Relationship Type="http://schemas.openxmlformats.org/officeDocument/2006/relationships/notesSlide" Target="/ppt/notesSlides/notesSlide127.xml" Id="R7f4f4a7d38134e72"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6.xml" Id="R7bc24c48052f4dbc" /><Relationship Type="http://schemas.openxmlformats.org/officeDocument/2006/relationships/notesSlide" Target="/ppt/notesSlides/notesSlide128.xml" Id="R4282d4fd108c4579"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6.xml" Id="R755687935ac847b0" /><Relationship Type="http://schemas.openxmlformats.org/officeDocument/2006/relationships/notesSlide" Target="/ppt/notesSlides/notesSlide129.xml" Id="Rc0a5c50684c34822"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6.xml" Id="R8ce414100d1b44bf" /><Relationship Type="http://schemas.openxmlformats.org/officeDocument/2006/relationships/notesSlide" Target="/ppt/notesSlides/notesSlide130.xml" Id="R976b5e3ff779400b"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6.xml" Id="R211c16fef56749a9" /><Relationship Type="http://schemas.openxmlformats.org/officeDocument/2006/relationships/notesSlide" Target="/ppt/notesSlides/notesSlide131.xml" Id="Rb23f985770014945"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6.xml" Id="R92ede31823364dbf" /><Relationship Type="http://schemas.openxmlformats.org/officeDocument/2006/relationships/notesSlide" Target="/ppt/notesSlides/notesSlide132.xml" Id="R4dfe18d0f9d7463a"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6.xml" Id="R2aa44257fee24052" /><Relationship Type="http://schemas.openxmlformats.org/officeDocument/2006/relationships/notesSlide" Target="/ppt/notesSlides/notesSlide133.xml" Id="R0e68901f917c443e"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6.xml" Id="Rf93f0c2d33514541" /><Relationship Type="http://schemas.openxmlformats.org/officeDocument/2006/relationships/notesSlide" Target="/ppt/notesSlides/notesSlide134.xml" Id="R9d70556edf8545a1"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6.xml" Id="Rd9e61d2d67d5418a" /><Relationship Type="http://schemas.openxmlformats.org/officeDocument/2006/relationships/notesSlide" Target="/ppt/notesSlides/notesSlide135.xml" Id="Rd2dd720d22b947bb"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6.xml" Id="R0b1f44e651614d1b" /><Relationship Type="http://schemas.openxmlformats.org/officeDocument/2006/relationships/notesSlide" Target="/ppt/notesSlides/notesSlide136.xml" Id="Rfb1e7a2ee7714645"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6.xml" Id="R5eb8d16861204a26" /><Relationship Type="http://schemas.openxmlformats.org/officeDocument/2006/relationships/notesSlide" Target="/ppt/notesSlides/notesSlide137.xml" Id="R72ff7cbefdb5409b"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6.xml" Id="Rcc1599dce9344a28" /><Relationship Type="http://schemas.openxmlformats.org/officeDocument/2006/relationships/notesSlide" Target="/ppt/notesSlides/notesSlide138.xml" Id="Rccf22bd54e1046c2"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6.xml" Id="R6c96995290764496" /><Relationship Type="http://schemas.openxmlformats.org/officeDocument/2006/relationships/notesSlide" Target="/ppt/notesSlides/notesSlide139.xml" Id="Rd5388d02e3d144bb"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6.xml" Id="Rfa85d1c121e944ad" /><Relationship Type="http://schemas.openxmlformats.org/officeDocument/2006/relationships/notesSlide" Target="/ppt/notesSlides/notesSlide140.xml" Id="R9fd524cf5f4544b1" /></Relationships>
</file>

<file path=ppt/slides/_rels/slide141.xml.rels>&#65279;<?xml version="1.0" encoding="utf-8"?><Relationships xmlns="http://schemas.openxmlformats.org/package/2006/relationships"><Relationship Type="http://schemas.openxmlformats.org/officeDocument/2006/relationships/slideLayout" Target="/ppt/slideLayouts/slideLayout6.xml" Id="R02ea2d8f156e492a" /><Relationship Type="http://schemas.openxmlformats.org/officeDocument/2006/relationships/notesSlide" Target="/ppt/notesSlides/notesSlide141.xml" Id="R1c6f1a59f9854e5b" /></Relationships>
</file>

<file path=ppt/slides/_rels/slide142.xml.rels>&#65279;<?xml version="1.0" encoding="utf-8"?><Relationships xmlns="http://schemas.openxmlformats.org/package/2006/relationships"><Relationship Type="http://schemas.openxmlformats.org/officeDocument/2006/relationships/slideLayout" Target="/ppt/slideLayouts/slideLayout6.xml" Id="Rfa36272c80bb47ce" /><Relationship Type="http://schemas.openxmlformats.org/officeDocument/2006/relationships/notesSlide" Target="/ppt/notesSlides/notesSlide142.xml" Id="Ra21ee509b74d46a6" /></Relationships>
</file>

<file path=ppt/slides/_rels/slide143.xml.rels>&#65279;<?xml version="1.0" encoding="utf-8"?><Relationships xmlns="http://schemas.openxmlformats.org/package/2006/relationships"><Relationship Type="http://schemas.openxmlformats.org/officeDocument/2006/relationships/slideLayout" Target="/ppt/slideLayouts/slideLayout6.xml" Id="R436a907b1d104ae8" /><Relationship Type="http://schemas.openxmlformats.org/officeDocument/2006/relationships/notesSlide" Target="/ppt/notesSlides/notesSlide143.xml" Id="R146d372cefee41a5" /></Relationships>
</file>

<file path=ppt/slides/_rels/slide144.xml.rels>&#65279;<?xml version="1.0" encoding="utf-8"?><Relationships xmlns="http://schemas.openxmlformats.org/package/2006/relationships"><Relationship Type="http://schemas.openxmlformats.org/officeDocument/2006/relationships/slideLayout" Target="/ppt/slideLayouts/slideLayout6.xml" Id="R26c9568b3bf1462f" /><Relationship Type="http://schemas.openxmlformats.org/officeDocument/2006/relationships/notesSlide" Target="/ppt/notesSlides/notesSlide144.xml" Id="R9a57684ce2854756" /></Relationships>
</file>

<file path=ppt/slides/_rels/slide145.xml.rels>&#65279;<?xml version="1.0" encoding="utf-8"?><Relationships xmlns="http://schemas.openxmlformats.org/package/2006/relationships"><Relationship Type="http://schemas.openxmlformats.org/officeDocument/2006/relationships/slideLayout" Target="/ppt/slideLayouts/slideLayout6.xml" Id="R2171b0ee41ee4f05" /><Relationship Type="http://schemas.openxmlformats.org/officeDocument/2006/relationships/notesSlide" Target="/ppt/notesSlides/notesSlide145.xml" Id="Rd1e9d4555f3f486d" /></Relationships>
</file>

<file path=ppt/slides/_rels/slide146.xml.rels>&#65279;<?xml version="1.0" encoding="utf-8"?><Relationships xmlns="http://schemas.openxmlformats.org/package/2006/relationships"><Relationship Type="http://schemas.openxmlformats.org/officeDocument/2006/relationships/slideLayout" Target="/ppt/slideLayouts/slideLayout6.xml" Id="R88733acc14794d2a" /><Relationship Type="http://schemas.openxmlformats.org/officeDocument/2006/relationships/notesSlide" Target="/ppt/notesSlides/notesSlide146.xml" Id="Ra20539ba834c4aa7" /></Relationships>
</file>

<file path=ppt/slides/_rels/slide147.xml.rels>&#65279;<?xml version="1.0" encoding="utf-8"?><Relationships xmlns="http://schemas.openxmlformats.org/package/2006/relationships"><Relationship Type="http://schemas.openxmlformats.org/officeDocument/2006/relationships/slideLayout" Target="/ppt/slideLayouts/slideLayout6.xml" Id="R12c127590d8a451e" /><Relationship Type="http://schemas.openxmlformats.org/officeDocument/2006/relationships/notesSlide" Target="/ppt/notesSlides/notesSlide147.xml" Id="R59ffcffd3ba84957" /></Relationships>
</file>

<file path=ppt/slides/_rels/slide148.xml.rels>&#65279;<?xml version="1.0" encoding="utf-8"?><Relationships xmlns="http://schemas.openxmlformats.org/package/2006/relationships"><Relationship Type="http://schemas.openxmlformats.org/officeDocument/2006/relationships/slideLayout" Target="/ppt/slideLayouts/slideLayout6.xml" Id="R3be5a2d88ad34948" /><Relationship Type="http://schemas.openxmlformats.org/officeDocument/2006/relationships/notesSlide" Target="/ppt/notesSlides/notesSlide148.xml" Id="Rcb1dab0af6d34bdd" /></Relationships>
</file>

<file path=ppt/slides/_rels/slide149.xml.rels>&#65279;<?xml version="1.0" encoding="utf-8"?><Relationships xmlns="http://schemas.openxmlformats.org/package/2006/relationships"><Relationship Type="http://schemas.openxmlformats.org/officeDocument/2006/relationships/slideLayout" Target="/ppt/slideLayouts/slideLayout6.xml" Id="Rbce2c92fa3f4444d" /><Relationship Type="http://schemas.openxmlformats.org/officeDocument/2006/relationships/notesSlide" Target="/ppt/notesSlides/notesSlide149.xml" Id="Rf5c81f35309f471e" /></Relationships>
</file>

<file path=ppt/slides/_rels/slide150.xml.rels>&#65279;<?xml version="1.0" encoding="utf-8"?><Relationships xmlns="http://schemas.openxmlformats.org/package/2006/relationships"><Relationship Type="http://schemas.openxmlformats.org/officeDocument/2006/relationships/slideLayout" Target="/ppt/slideLayouts/slideLayout6.xml" Id="Rbd61a89ca96a4e24" /><Relationship Type="http://schemas.openxmlformats.org/officeDocument/2006/relationships/notesSlide" Target="/ppt/notesSlides/notesSlide150.xml" Id="R745b7b3ab6dc4705" /></Relationships>
</file>

<file path=ppt/slides/_rels/slide151.xml.rels>&#65279;<?xml version="1.0" encoding="utf-8"?><Relationships xmlns="http://schemas.openxmlformats.org/package/2006/relationships"><Relationship Type="http://schemas.openxmlformats.org/officeDocument/2006/relationships/slideLayout" Target="/ppt/slideLayouts/slideLayout6.xml" Id="R2ab5c7b8e3f54bdf" /><Relationship Type="http://schemas.openxmlformats.org/officeDocument/2006/relationships/notesSlide" Target="/ppt/notesSlides/notesSlide151.xml" Id="R61efa3cac4ec4900" /></Relationships>
</file>

<file path=ppt/slides/_rels/slide152.xml.rels>&#65279;<?xml version="1.0" encoding="utf-8"?><Relationships xmlns="http://schemas.openxmlformats.org/package/2006/relationships"><Relationship Type="http://schemas.openxmlformats.org/officeDocument/2006/relationships/slideLayout" Target="/ppt/slideLayouts/slideLayout6.xml" Id="Rbc81c20b9f804be6" /><Relationship Type="http://schemas.openxmlformats.org/officeDocument/2006/relationships/notesSlide" Target="/ppt/notesSlides/notesSlide152.xml" Id="Rcc3cbd7ce7c34af1" /></Relationships>
</file>

<file path=ppt/slides/_rels/slide153.xml.rels>&#65279;<?xml version="1.0" encoding="utf-8"?><Relationships xmlns="http://schemas.openxmlformats.org/package/2006/relationships"><Relationship Type="http://schemas.openxmlformats.org/officeDocument/2006/relationships/slideLayout" Target="/ppt/slideLayouts/slideLayout6.xml" Id="Rd5133c31619d4af3" /><Relationship Type="http://schemas.openxmlformats.org/officeDocument/2006/relationships/notesSlide" Target="/ppt/notesSlides/notesSlide153.xml" Id="R49851cae0f4e431a" /></Relationships>
</file>

<file path=ppt/slides/_rels/slide154.xml.rels>&#65279;<?xml version="1.0" encoding="utf-8"?><Relationships xmlns="http://schemas.openxmlformats.org/package/2006/relationships"><Relationship Type="http://schemas.openxmlformats.org/officeDocument/2006/relationships/slideLayout" Target="/ppt/slideLayouts/slideLayout6.xml" Id="R20d31362f1a141a9" /><Relationship Type="http://schemas.openxmlformats.org/officeDocument/2006/relationships/notesSlide" Target="/ppt/notesSlides/notesSlide154.xml" Id="R361ac501f56f4054" /></Relationships>
</file>

<file path=ppt/slides/_rels/slide155.xml.rels>&#65279;<?xml version="1.0" encoding="utf-8"?><Relationships xmlns="http://schemas.openxmlformats.org/package/2006/relationships"><Relationship Type="http://schemas.openxmlformats.org/officeDocument/2006/relationships/slideLayout" Target="/ppt/slideLayouts/slideLayout6.xml" Id="R419710eb203244c4" /><Relationship Type="http://schemas.openxmlformats.org/officeDocument/2006/relationships/notesSlide" Target="/ppt/notesSlides/notesSlide155.xml" Id="R370321e901cc48fe" /></Relationships>
</file>

<file path=ppt/slides/_rels/slide156.xml.rels>&#65279;<?xml version="1.0" encoding="utf-8"?><Relationships xmlns="http://schemas.openxmlformats.org/package/2006/relationships"><Relationship Type="http://schemas.openxmlformats.org/officeDocument/2006/relationships/slideLayout" Target="/ppt/slideLayouts/slideLayout6.xml" Id="R5055423e9261435f" /><Relationship Type="http://schemas.openxmlformats.org/officeDocument/2006/relationships/notesSlide" Target="/ppt/notesSlides/notesSlide156.xml" Id="Rf05942192c964068" /></Relationships>
</file>

<file path=ppt/slides/_rels/slide157.xml.rels>&#65279;<?xml version="1.0" encoding="utf-8"?><Relationships xmlns="http://schemas.openxmlformats.org/package/2006/relationships"><Relationship Type="http://schemas.openxmlformats.org/officeDocument/2006/relationships/slideLayout" Target="/ppt/slideLayouts/slideLayout6.xml" Id="Rf59094ab6f6f4ac2" /><Relationship Type="http://schemas.openxmlformats.org/officeDocument/2006/relationships/notesSlide" Target="/ppt/notesSlides/notesSlide157.xml" Id="Rc98402ee4d3e41a4" /></Relationships>
</file>

<file path=ppt/slides/_rels/slide158.xml.rels>&#65279;<?xml version="1.0" encoding="utf-8"?><Relationships xmlns="http://schemas.openxmlformats.org/package/2006/relationships"><Relationship Type="http://schemas.openxmlformats.org/officeDocument/2006/relationships/slideLayout" Target="/ppt/slideLayouts/slideLayout6.xml" Id="R0f2f42a2933f4c33" /><Relationship Type="http://schemas.openxmlformats.org/officeDocument/2006/relationships/notesSlide" Target="/ppt/notesSlides/notesSlide158.xml" Id="Rcb63004849ca440f" /></Relationships>
</file>

<file path=ppt/slides/_rels/slide159.xml.rels>&#65279;<?xml version="1.0" encoding="utf-8"?><Relationships xmlns="http://schemas.openxmlformats.org/package/2006/relationships"><Relationship Type="http://schemas.openxmlformats.org/officeDocument/2006/relationships/slideLayout" Target="/ppt/slideLayouts/slideLayout6.xml" Id="Rfc314c12d6274584" /><Relationship Type="http://schemas.openxmlformats.org/officeDocument/2006/relationships/notesSlide" Target="/ppt/notesSlides/notesSlide159.xml" Id="Ra5a4baf8a9d64708" /></Relationships>
</file>

<file path=ppt/slides/_rels/slide160.xml.rels>&#65279;<?xml version="1.0" encoding="utf-8"?><Relationships xmlns="http://schemas.openxmlformats.org/package/2006/relationships"><Relationship Type="http://schemas.openxmlformats.org/officeDocument/2006/relationships/slideLayout" Target="/ppt/slideLayouts/slideLayout6.xml" Id="Rc591b2716fff4bd2" /><Relationship Type="http://schemas.openxmlformats.org/officeDocument/2006/relationships/notesSlide" Target="/ppt/notesSlides/notesSlide160.xml" Id="Rfdc85dbf73e949cf" /></Relationships>
</file>

<file path=ppt/slides/_rels/slide161.xml.rels>&#65279;<?xml version="1.0" encoding="utf-8"?><Relationships xmlns="http://schemas.openxmlformats.org/package/2006/relationships"><Relationship Type="http://schemas.openxmlformats.org/officeDocument/2006/relationships/slideLayout" Target="/ppt/slideLayouts/slideLayout6.xml" Id="R6e36b35c79fd4f21" /><Relationship Type="http://schemas.openxmlformats.org/officeDocument/2006/relationships/notesSlide" Target="/ppt/notesSlides/notesSlide161.xml" Id="R16be2f0a701944e2" /></Relationships>
</file>

<file path=ppt/slides/_rels/slide162.xml.rels>&#65279;<?xml version="1.0" encoding="utf-8"?><Relationships xmlns="http://schemas.openxmlformats.org/package/2006/relationships"><Relationship Type="http://schemas.openxmlformats.org/officeDocument/2006/relationships/slideLayout" Target="/ppt/slideLayouts/slideLayout6.xml" Id="Rd92f0e15cd1148f8" /><Relationship Type="http://schemas.openxmlformats.org/officeDocument/2006/relationships/notesSlide" Target="/ppt/notesSlides/notesSlide162.xml" Id="Rc0ae6aa76fe9472a" /></Relationships>
</file>

<file path=ppt/slides/_rels/slide163.xml.rels>&#65279;<?xml version="1.0" encoding="utf-8"?><Relationships xmlns="http://schemas.openxmlformats.org/package/2006/relationships"><Relationship Type="http://schemas.openxmlformats.org/officeDocument/2006/relationships/slideLayout" Target="/ppt/slideLayouts/slideLayout6.xml" Id="R3b71314398854fdf" /><Relationship Type="http://schemas.openxmlformats.org/officeDocument/2006/relationships/notesSlide" Target="/ppt/notesSlides/notesSlide163.xml" Id="Re824d3a1229f455c" /></Relationships>
</file>

<file path=ppt/slides/_rels/slide164.xml.rels>&#65279;<?xml version="1.0" encoding="utf-8"?><Relationships xmlns="http://schemas.openxmlformats.org/package/2006/relationships"><Relationship Type="http://schemas.openxmlformats.org/officeDocument/2006/relationships/slideLayout" Target="/ppt/slideLayouts/slideLayout6.xml" Id="R10ec4e0248424559" /><Relationship Type="http://schemas.openxmlformats.org/officeDocument/2006/relationships/notesSlide" Target="/ppt/notesSlides/notesSlide164.xml" Id="R79fa940b4b9e47e7" /></Relationships>
</file>

<file path=ppt/slides/_rels/slide165.xml.rels>&#65279;<?xml version="1.0" encoding="utf-8"?><Relationships xmlns="http://schemas.openxmlformats.org/package/2006/relationships"><Relationship Type="http://schemas.openxmlformats.org/officeDocument/2006/relationships/slideLayout" Target="/ppt/slideLayouts/slideLayout6.xml" Id="Re4671b324b694d76" /><Relationship Type="http://schemas.openxmlformats.org/officeDocument/2006/relationships/notesSlide" Target="/ppt/notesSlides/notesSlide165.xml" Id="R0114c5fd1377476e" /></Relationships>
</file>

<file path=ppt/slides/_rels/slide166.xml.rels>&#65279;<?xml version="1.0" encoding="utf-8"?><Relationships xmlns="http://schemas.openxmlformats.org/package/2006/relationships"><Relationship Type="http://schemas.openxmlformats.org/officeDocument/2006/relationships/slideLayout" Target="/ppt/slideLayouts/slideLayout6.xml" Id="R115ace3e8f1b4c4b" /><Relationship Type="http://schemas.openxmlformats.org/officeDocument/2006/relationships/notesSlide" Target="/ppt/notesSlides/notesSlide166.xml" Id="R651bf0dc275c4792" /></Relationships>
</file>

<file path=ppt/slides/slide1.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C73F716-3908-4062-A91B-9B192D50A608}"/>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GROWTH AI / TS ORGANIZATION-NATIVE AI</a:t>
            </a:r>
          </a:p>
        </p:txBody>
      </p:sp>
      <p:sp>
        <p:nvSpPr>
          <p:cNvPr id="2" name="">
            <a:extLst xmlns:a="http://schemas.openxmlformats.org/drawingml/2006/main">
              <a:ext uri="{FF2B5EF4-FFF2-40B4-BE49-F238E27FC236}">
                <a16:creationId xmlns:a16="http://schemas.microsoft.com/office/drawing/2014/main" id="{E899BF76-B23E-465D-AD58-7BB98AAA75C2}"/>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AI 플랫폼 구축 사례집</a:t>
            </a:r>
          </a:p>
        </p:txBody>
      </p:sp>
      <p:sp>
        <p:nvSpPr>
          <p:cNvPr id="3" name="">
            <a:extLst xmlns:a="http://schemas.openxmlformats.org/drawingml/2006/main">
              <a:ext uri="{FF2B5EF4-FFF2-40B4-BE49-F238E27FC236}">
                <a16:creationId xmlns:a16="http://schemas.microsoft.com/office/drawing/2014/main" id="{7B2D00A7-A368-45DE-8286-E4843568C12B}"/>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D23987B-AE6A-4A18-A7BB-6D3EBB104454}"/>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73AA8DA3-AD98-40B2-B4EE-169C939228D6}"/>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01</a:t>
            </a:r>
          </a:p>
        </p:txBody>
      </p:sp>
      <p:sp>
        <p:nvSpPr>
          <p:cNvPr id="6" name="">
            <a:extLst xmlns:a="http://schemas.openxmlformats.org/drawingml/2006/main">
              <a:ext uri="{FF2B5EF4-FFF2-40B4-BE49-F238E27FC236}">
                <a16:creationId xmlns:a16="http://schemas.microsoft.com/office/drawing/2014/main" id="{68AC7FD7-2E5F-4C1D-9634-58D804819B02}"/>
              </a:ext>
            </a:extLst>
          </p:cNvPr>
          <p:cNvSpPr>
            <a:spLocks xmlns:a="http://schemas.openxmlformats.org/drawingml/2006/main" noGrp="1"/>
          </p:cNvSpPr>
          <p:nvPr/>
        </p:nvSpPr>
        <p:spPr>
          <a:xfrm xmlns:a="http://schemas.openxmlformats.org/drawingml/2006/main">
            <a:off x="571500" y="24765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42634B"/>
                </a:solidFill>
                <a:latin typeface="Pretendard"/>
                <a:ea typeface="Pretendard"/>
                <a:cs typeface="Pretendard"/>
              </a:defRPr>
            </a:defPPr>
          </a:lstStyle>
          <a:p xmlns:a="http://schemas.openxmlformats.org/drawingml/2006/main">
            <a:pPr>
              <a:defRPr sz="3000" b="1">
                <a:solidFill>
                  <a:srgbClr val="42634B"/>
                </a:solidFill>
                <a:latin typeface="Pretendard"/>
                <a:ea typeface="Pretendard"/>
                <a:cs typeface="Pretendard"/>
              </a:defRPr>
            </a:pPr>
            <a:r>
              <a:rPr sz="3000" b="1">
                <a:solidFill>
                  <a:srgbClr val="42634B"/>
                </a:solidFill>
                <a:latin typeface="Pretendard"/>
                <a:ea typeface="Pretendard"/>
                <a:cs typeface="Pretendard"/>
              </a:rPr>
              <a:t>조직 기반과 업무 서비스의 구성</a:t>
            </a:r>
          </a:p>
        </p:txBody>
      </p:sp>
      <p:sp>
        <p:nvSpPr>
          <p:cNvPr id="7" name="">
            <a:extLst xmlns:a="http://schemas.openxmlformats.org/drawingml/2006/main">
              <a:ext uri="{FF2B5EF4-FFF2-40B4-BE49-F238E27FC236}">
                <a16:creationId xmlns:a16="http://schemas.microsoft.com/office/drawing/2014/main" id="{86A4322D-25A1-4666-A3AB-53F96C37EF58}"/>
              </a:ext>
            </a:extLst>
          </p:cNvPr>
          <p:cNvSpPr>
            <a:spLocks xmlns:a="http://schemas.openxmlformats.org/drawingml/2006/main" noGrp="1"/>
          </p:cNvSpPr>
          <p:nvPr/>
        </p:nvSpPr>
        <p:spPr>
          <a:xfrm xmlns:a="http://schemas.openxmlformats.org/drawingml/2006/main">
            <a:off x="571500" y="40005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8352B"/>
                </a:solidFill>
                <a:latin typeface="Pretendard"/>
                <a:ea typeface="Pretendard"/>
                <a:cs typeface="Pretendard"/>
              </a:defRPr>
            </a:defPPr>
          </a:lstStyle>
          <a:p xmlns:a="http://schemas.openxmlformats.org/drawingml/2006/main">
            <a:pPr>
              <a:defRPr sz="2025" b="0">
                <a:solidFill>
                  <a:srgbClr val="28352B"/>
                </a:solidFill>
                <a:latin typeface="Pretendard"/>
                <a:ea typeface="Pretendard"/>
                <a:cs typeface="Pretendard"/>
              </a:defRPr>
            </a:pPr>
            <a:r>
              <a:rPr sz="2025" b="0">
                <a:solidFill>
                  <a:srgbClr val="28352B"/>
                </a:solidFill>
                <a:latin typeface="Pretendard"/>
                <a:ea typeface="Pretendard"/>
                <a:cs typeface="Pretendard"/>
              </a:rPr>
              <a:t>31개 상세 사례 / RFP 확보 10개</a:t>
            </a:r>
          </a:p>
          <a:p xmlns:a="http://schemas.openxmlformats.org/drawingml/2006/main">
            <a:pPr>
              <a:defRPr sz="2025" b="0">
                <a:solidFill>
                  <a:srgbClr val="28352B"/>
                </a:solidFill>
                <a:latin typeface="Pretendard"/>
                <a:ea typeface="Pretendard"/>
                <a:cs typeface="Pretendard"/>
              </a:defRPr>
            </a:pPr>
            <a:r>
              <a:rPr sz="2025" b="0">
                <a:solidFill>
                  <a:srgbClr val="28352B"/>
                </a:solidFill>
                <a:latin typeface="Pretendard"/>
                <a:ea typeface="Pretendard"/>
                <a:cs typeface="Pretendard"/>
              </a:rPr>
              <a:t>원문 도면 13개 / 세부 서비스·데이터·예외 흐름</a:t>
            </a:r>
          </a:p>
        </p:txBody>
      </p:sp>
      <p:sp>
        <p:nvSpPr>
          <p:cNvPr id="8" name="">
            <a:extLst xmlns:a="http://schemas.openxmlformats.org/drawingml/2006/main">
              <a:ext uri="{FF2B5EF4-FFF2-40B4-BE49-F238E27FC236}">
                <a16:creationId xmlns:a16="http://schemas.microsoft.com/office/drawing/2014/main" id="{46DFA661-8A5E-48B1-B283-B72561BFDDD7}"/>
              </a:ext>
            </a:extLst>
          </p:cNvPr>
          <p:cNvSpPr>
            <a:spLocks xmlns:a="http://schemas.openxmlformats.org/drawingml/2006/main" noGrp="1"/>
          </p:cNvSpPr>
          <p:nvPr/>
        </p:nvSpPr>
        <p:spPr>
          <a:xfrm xmlns:a="http://schemas.openxmlformats.org/drawingml/2006/main">
            <a:off x="571500" y="55626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87369"/>
                </a:solidFill>
                <a:latin typeface="Pretendard"/>
                <a:ea typeface="Pretendard"/>
                <a:cs typeface="Pretendard"/>
              </a:defRPr>
            </a:defPPr>
          </a:lstStyle>
          <a:p xmlns:a="http://schemas.openxmlformats.org/drawingml/2006/main">
            <a:pPr>
              <a:defRPr sz="1575" b="0">
                <a:solidFill>
                  <a:srgbClr val="687369"/>
                </a:solidFill>
                <a:latin typeface="Pretendard"/>
                <a:ea typeface="Pretendard"/>
                <a:cs typeface="Pretendard"/>
              </a:defRPr>
            </a:pPr>
            <a:r>
              <a:rPr sz="1575" b="0">
                <a:solidFill>
                  <a:srgbClr val="687369"/>
                </a:solidFill>
                <a:latin typeface="Pretendard"/>
                <a:ea typeface="Pretendard"/>
                <a:cs typeface="Pretendard"/>
              </a:rPr>
              <a:t>공개자료·RFP 기반 CCK 분석 및 적용 설계</a:t>
            </a:r>
          </a:p>
        </p:txBody>
      </p:sp>
    </p:spTree>
    <p:extLst>
      <p:ext uri="{BB962C8B-B14F-4D97-AF65-F5344CB8AC3E}">
        <p14:creationId xmlns:p14="http://schemas.microsoft.com/office/powerpoint/2010/main" val="1744441100"/>
      </p:ext>
    </p:extLst>
  </p:cSld>
</p:sld>
</file>

<file path=ppt/slides/slide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1AA6A17-E97D-4055-AE5C-315A0AE583E7}"/>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PF-R01 / RFP 확인 / 실제 운영·검수 미확인 / 국내</a:t>
            </a:r>
          </a:p>
        </p:txBody>
      </p:sp>
      <p:sp>
        <p:nvSpPr>
          <p:cNvPr id="2" name="">
            <a:extLst xmlns:a="http://schemas.openxmlformats.org/drawingml/2006/main">
              <a:ext uri="{FF2B5EF4-FFF2-40B4-BE49-F238E27FC236}">
                <a16:creationId xmlns:a16="http://schemas.microsoft.com/office/drawing/2014/main" id="{86EA69C0-A8AE-4267-81BC-F53970ED2390}"/>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HUG 문서·민원 AI</a:t>
            </a:r>
          </a:p>
        </p:txBody>
      </p:sp>
      <p:sp>
        <p:nvSpPr>
          <p:cNvPr id="3" name="">
            <a:extLst xmlns:a="http://schemas.openxmlformats.org/drawingml/2006/main">
              <a:ext uri="{FF2B5EF4-FFF2-40B4-BE49-F238E27FC236}">
                <a16:creationId xmlns:a16="http://schemas.microsoft.com/office/drawing/2014/main" id="{0A4107A2-703B-4A08-A7A1-E2D2B121B12F}"/>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95DFC50-1AF1-4EF2-8807-A273545C6834}"/>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EDE1640D-678F-484E-A896-A462304F7C5D}"/>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02</a:t>
            </a:r>
          </a:p>
        </p:txBody>
      </p:sp>
      <p:sp>
        <p:nvSpPr>
          <p:cNvPr id="6" name="">
            <a:extLst xmlns:a="http://schemas.openxmlformats.org/drawingml/2006/main">
              <a:ext uri="{FF2B5EF4-FFF2-40B4-BE49-F238E27FC236}">
                <a16:creationId xmlns:a16="http://schemas.microsoft.com/office/drawing/2014/main" id="{C2A4CF42-2C8D-4DAD-9EC1-AB68131963C0}"/>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04D29A08-BA31-4810-BA5A-328C9EB24949}"/>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규정 검색, 전세보증 이행서류 심사, 민원 처리의 세 업</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무를 공통 AI 기반 위에 구성하는 사업. 심사자가 여러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서류의 주소·계약·보증정보를 맞춰 보는 과정과 민원 담</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당자가 관련 규정·과거 답변을 찾는 과정을 각각 지원하</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는 범위.</a:t>
            </a:r>
          </a:p>
        </p:txBody>
      </p:sp>
      <p:sp>
        <p:nvSpPr>
          <p:cNvPr id="8" name="">
            <a:extLst xmlns:a="http://schemas.openxmlformats.org/drawingml/2006/main">
              <a:ext uri="{FF2B5EF4-FFF2-40B4-BE49-F238E27FC236}">
                <a16:creationId xmlns:a16="http://schemas.microsoft.com/office/drawing/2014/main" id="{0C1F20AF-A5ED-4901-81A8-9769A6E05D70}"/>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F9AA6FFF-B153-4EF3-910C-FFF010930F9D}"/>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SFR-007의 핵심은 OCR 도입을 넘어 업무 건별 서류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묶음, 원본 위치와 추출값의 연결, 서류 간 비교, 심사자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수정·승인, 승인값의 후속 전달까지 이어지는 처리 구조.</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검색용 청크와 심사용 구조화 항목을 별도 데이터로 관</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리하는 설계 필요.</a:t>
            </a:r>
          </a:p>
        </p:txBody>
      </p:sp>
      <p:sp>
        <p:nvSpPr>
          <p:cNvPr id="10" name="">
            <a:extLst xmlns:a="http://schemas.openxmlformats.org/drawingml/2006/main">
              <a:ext uri="{FF2B5EF4-FFF2-40B4-BE49-F238E27FC236}">
                <a16:creationId xmlns:a16="http://schemas.microsoft.com/office/drawing/2014/main" id="{6851D8A6-0050-42A8-B919-33DE778B6243}"/>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F8270DB7-3A80-47AB-8726-793F5E2A045C}"/>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원문 인식률만으로 심사 지원 품질을 평가하기 어려운 구조.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문서 종류별 항목 추출, 다른 서류 간 정합성 판정, 누락 탐지</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 사람 확인 후 전달을 단계별로 분리해 비교할 대상. TS 검</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사·인증 서류에도 사건 ID와 원본 좌표를 유지하는 방식의 적</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용 가능성.</a:t>
            </a:r>
          </a:p>
        </p:txBody>
      </p:sp>
      <p:sp>
        <p:nvSpPr>
          <p:cNvPr id="12" name="">
            <a:extLst xmlns:a="http://schemas.openxmlformats.org/drawingml/2006/main">
              <a:ext uri="{FF2B5EF4-FFF2-40B4-BE49-F238E27FC236}">
                <a16:creationId xmlns:a16="http://schemas.microsoft.com/office/drawing/2014/main" id="{5F7B26F2-F9C5-41C6-B358-D72FBF1C6FC2}"/>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03E1E1AC-BCB0-4F61-BD81-69596D4FC7D1}"/>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28352B"/>
                </a:solidFill>
                <a:latin typeface="Pretendard"/>
                <a:ea typeface="Pretendard"/>
                <a:cs typeface="Pretendard"/>
              </a:defRPr>
            </a:defPPr>
          </a:lstStyle>
          <a:p xmlns:a="http://schemas.openxmlformats.org/drawingml/2006/main">
            <a:pPr>
              <a:defRPr sz="1425" b="0">
                <a:solidFill>
                  <a:srgbClr val="28352B"/>
                </a:solidFill>
                <a:latin typeface="Pretendard"/>
                <a:ea typeface="Pretendard"/>
                <a:cs typeface="Pretendard"/>
              </a:defRPr>
            </a:pPr>
            <a:r>
              <a:rPr sz="1425" b="0">
                <a:solidFill>
                  <a:srgbClr val="28352B"/>
                </a:solidFill>
                <a:latin typeface="Pretendard"/>
                <a:ea typeface="Pretendard"/>
                <a:cs typeface="Pretendard"/>
              </a:rPr>
              <a:t>서류 종류·필수항목 사전 / 추출값–원본 좌표 / 사건별 비교 규</a:t>
            </a:r>
          </a:p>
          <a:p xmlns:a="http://schemas.openxmlformats.org/drawingml/2006/main">
            <a:pPr>
              <a:defRPr sz="1425" b="0">
                <a:solidFill>
                  <a:srgbClr val="28352B"/>
                </a:solidFill>
                <a:latin typeface="Pretendard"/>
                <a:ea typeface="Pretendard"/>
                <a:cs typeface="Pretendard"/>
              </a:defRPr>
            </a:pPr>
            <a:r>
              <a:rPr sz="1425" b="0">
                <a:solidFill>
                  <a:srgbClr val="28352B"/>
                </a:solidFill>
                <a:latin typeface="Pretendard"/>
                <a:ea typeface="Pretendard"/>
                <a:cs typeface="Pretendard"/>
              </a:rPr>
              <a:t>칙</a:t>
            </a:r>
          </a:p>
        </p:txBody>
      </p:sp>
      <p:sp>
        <p:nvSpPr>
          <p:cNvPr id="14" name="">
            <a:extLst xmlns:a="http://schemas.openxmlformats.org/drawingml/2006/main">
              <a:ext uri="{FF2B5EF4-FFF2-40B4-BE49-F238E27FC236}">
                <a16:creationId xmlns:a16="http://schemas.microsoft.com/office/drawing/2014/main" id="{7DAF72DC-33EA-49A1-B2B5-AF7B924EFB60}"/>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42FE9582-C8AC-4253-831F-657C49CBC92F}"/>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저화질·누락·다른 사건 서류 주입 후 원본 대조·판정 보류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확인</a:t>
            </a:r>
          </a:p>
        </p:txBody>
      </p:sp>
      <p:sp>
        <p:nvSpPr>
          <p:cNvPr id="16" name="">
            <a:extLst xmlns:a="http://schemas.openxmlformats.org/drawingml/2006/main">
              <a:ext uri="{FF2B5EF4-FFF2-40B4-BE49-F238E27FC236}">
                <a16:creationId xmlns:a16="http://schemas.microsoft.com/office/drawing/2014/main" id="{4E589178-8644-4C87-AD7C-83BABC670E49}"/>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3BFFCE21-D180-4FD4-9285-46E92B29C58D}"/>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심사 검토시간 / 필수 항목 누락률 / 재보완 횟수</a:t>
            </a:r>
          </a:p>
        </p:txBody>
      </p:sp>
      <p:sp>
        <p:nvSpPr>
          <p:cNvPr id="18" name="">
            <a:extLst xmlns:a="http://schemas.openxmlformats.org/drawingml/2006/main">
              <a:ext uri="{FF2B5EF4-FFF2-40B4-BE49-F238E27FC236}">
                <a16:creationId xmlns:a16="http://schemas.microsoft.com/office/drawing/2014/main" id="{E7416505-9F86-45EA-90F2-28EF2A4F313D}"/>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전세보증과 TS 전세버스는 업무 기준이 다름. 공통 기능만 이식 가능</a:t>
            </a:r>
          </a:p>
        </p:txBody>
      </p:sp>
    </p:spTree>
    <p:extLst>
      <p:ext uri="{BB962C8B-B14F-4D97-AF65-F5344CB8AC3E}">
        <p14:creationId xmlns:p14="http://schemas.microsoft.com/office/powerpoint/2010/main" val="934314037"/>
      </p:ext>
    </p:extLst>
  </p:cSld>
</p:sld>
</file>

<file path=ppt/slides/slide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4DD7D37-CA8C-4435-A00D-64A4ECB15AE5}"/>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PF-R01 / 본공고 RFP · SFR-006~008 / 1–3</a:t>
            </a:r>
          </a:p>
        </p:txBody>
      </p:sp>
      <p:sp>
        <p:nvSpPr>
          <p:cNvPr id="2" name="">
            <a:extLst xmlns:a="http://schemas.openxmlformats.org/drawingml/2006/main">
              <a:ext uri="{FF2B5EF4-FFF2-40B4-BE49-F238E27FC236}">
                <a16:creationId xmlns:a16="http://schemas.microsoft.com/office/drawing/2014/main" id="{C71BB871-1789-4E12-8E2B-0611105C4BEA}"/>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HUG 문서·민원 AI · RFP 요구사항</a:t>
            </a:r>
          </a:p>
        </p:txBody>
      </p:sp>
      <p:sp>
        <p:nvSpPr>
          <p:cNvPr id="3" name="">
            <a:extLst xmlns:a="http://schemas.openxmlformats.org/drawingml/2006/main">
              <a:ext uri="{FF2B5EF4-FFF2-40B4-BE49-F238E27FC236}">
                <a16:creationId xmlns:a16="http://schemas.microsoft.com/office/drawing/2014/main" id="{E20120CB-0B54-4CB1-874E-3D63BCE5A347}"/>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EB84693-5CD2-4ECA-87D3-B27CD3D5CFE4}"/>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E97F7818-FF08-402A-91B2-A8253912EFCD}"/>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03</a:t>
            </a:r>
          </a:p>
        </p:txBody>
      </p:sp>
      <p:sp>
        <p:nvSpPr>
          <p:cNvPr id="6" name="">
            <a:extLst xmlns:a="http://schemas.openxmlformats.org/drawingml/2006/main">
              <a:ext uri="{FF2B5EF4-FFF2-40B4-BE49-F238E27FC236}">
                <a16:creationId xmlns:a16="http://schemas.microsoft.com/office/drawing/2014/main" id="{CFDF5B01-68D4-4B65-9B3D-38DCFAC1BA6B}"/>
              </a:ext>
            </a:extLst>
          </p:cNvPr>
          <p:cNvSpPr>
            <a:spLocks xmlns:a="http://schemas.openxmlformats.org/drawingml/2006/main" noGrp="1"/>
          </p:cNvSpPr>
          <p:nvPr/>
        </p:nvSpPr>
        <p:spPr>
          <a:xfrm xmlns:a="http://schemas.openxmlformats.org/drawingml/2006/main">
            <a:off x="571500" y="167640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19855A2-9F9E-4A3E-A7E2-85638BC63065}"/>
              </a:ext>
            </a:extLst>
          </p:cNvPr>
          <p:cNvSpPr>
            <a:spLocks xmlns:a="http://schemas.openxmlformats.org/drawingml/2006/main" noGrp="1"/>
          </p:cNvSpPr>
          <p:nvPr/>
        </p:nvSpPr>
        <p:spPr>
          <a:xfrm xmlns:a="http://schemas.openxmlformats.org/drawingml/2006/main">
            <a:off x="571500" y="1752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SFR-006 AI 서비스_직원용 지식검색</a:t>
            </a:r>
          </a:p>
        </p:txBody>
      </p:sp>
      <p:sp>
        <p:nvSpPr>
          <p:cNvPr id="8" name="">
            <a:extLst xmlns:a="http://schemas.openxmlformats.org/drawingml/2006/main">
              <a:ext uri="{FF2B5EF4-FFF2-40B4-BE49-F238E27FC236}">
                <a16:creationId xmlns:a16="http://schemas.microsoft.com/office/drawing/2014/main" id="{6228CE2B-4EE3-4615-8BE3-08C44F325EEB}"/>
              </a:ext>
            </a:extLst>
          </p:cNvPr>
          <p:cNvSpPr>
            <a:spLocks xmlns:a="http://schemas.openxmlformats.org/drawingml/2006/main" noGrp="1"/>
          </p:cNvSpPr>
          <p:nvPr/>
        </p:nvSpPr>
        <p:spPr>
          <a:xfrm xmlns:a="http://schemas.openxmlformats.org/drawingml/2006/main">
            <a:off x="571500" y="21336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규정·매뉴얼·판례의 구조를 추출하고 키워드·문맥 검색을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결합하는 직원용 지식검색. 승인 문서의 판본·개정일·보안</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등급 관리와 근거 조항·페이지 제공.</a:t>
            </a:r>
          </a:p>
        </p:txBody>
      </p:sp>
      <p:sp>
        <p:nvSpPr>
          <p:cNvPr id="9" name="">
            <a:extLst xmlns:a="http://schemas.openxmlformats.org/drawingml/2006/main">
              <a:ext uri="{FF2B5EF4-FFF2-40B4-BE49-F238E27FC236}">
                <a16:creationId xmlns:a16="http://schemas.microsoft.com/office/drawing/2014/main" id="{4B3F31EF-30B7-4DF7-889E-9144E2E3C62C}"/>
              </a:ext>
            </a:extLst>
          </p:cNvPr>
          <p:cNvSpPr>
            <a:spLocks xmlns:a="http://schemas.openxmlformats.org/drawingml/2006/main" noGrp="1"/>
          </p:cNvSpPr>
          <p:nvPr/>
        </p:nvSpPr>
        <p:spPr>
          <a:xfrm xmlns:a="http://schemas.openxmlformats.org/drawingml/2006/main">
            <a:off x="6334125" y="213360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C03 · C09 · C10 · C11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표·각주 포함 문서, 개정·삭제 문서, 다른 보안등급 문서를 투</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입해 인용 위치·최신성·검색 제외 여부 대사</a:t>
            </a:r>
          </a:p>
        </p:txBody>
      </p:sp>
      <p:sp>
        <p:nvSpPr>
          <p:cNvPr id="10" name="">
            <a:extLst xmlns:a="http://schemas.openxmlformats.org/drawingml/2006/main">
              <a:ext uri="{FF2B5EF4-FFF2-40B4-BE49-F238E27FC236}">
                <a16:creationId xmlns:a16="http://schemas.microsoft.com/office/drawing/2014/main" id="{8A5310EE-CFE3-4FC0-A831-87084212028B}"/>
              </a:ext>
            </a:extLst>
          </p:cNvPr>
          <p:cNvSpPr>
            <a:spLocks xmlns:a="http://schemas.openxmlformats.org/drawingml/2006/main" noGrp="1"/>
          </p:cNvSpPr>
          <p:nvPr/>
        </p:nvSpPr>
        <p:spPr>
          <a:xfrm xmlns:a="http://schemas.openxmlformats.org/drawingml/2006/main">
            <a:off x="571500" y="3133725"/>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13D16BB-B368-43DD-8B71-D989FDA121B0}"/>
              </a:ext>
            </a:extLst>
          </p:cNvPr>
          <p:cNvSpPr>
            <a:spLocks xmlns:a="http://schemas.openxmlformats.org/drawingml/2006/main" noGrp="1"/>
          </p:cNvSpPr>
          <p:nvPr/>
        </p:nvSpPr>
        <p:spPr>
          <a:xfrm xmlns:a="http://schemas.openxmlformats.org/drawingml/2006/main">
            <a:off x="571500" y="32099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SFR-007 AI 서비스_전세이행 업무지원</a:t>
            </a:r>
          </a:p>
        </p:txBody>
      </p:sp>
      <p:sp>
        <p:nvSpPr>
          <p:cNvPr id="12" name="">
            <a:extLst xmlns:a="http://schemas.openxmlformats.org/drawingml/2006/main">
              <a:ext uri="{FF2B5EF4-FFF2-40B4-BE49-F238E27FC236}">
                <a16:creationId xmlns:a16="http://schemas.microsoft.com/office/drawing/2014/main" id="{77FF73B7-F85C-4C16-87C5-CDB77D4041AB}"/>
              </a:ext>
            </a:extLst>
          </p:cNvPr>
          <p:cNvSpPr>
            <a:spLocks xmlns:a="http://schemas.openxmlformats.org/drawingml/2006/main" noGrp="1"/>
          </p:cNvSpPr>
          <p:nvPr/>
        </p:nvSpPr>
        <p:spPr>
          <a:xfrm xmlns:a="http://schemas.openxmlformats.org/drawingml/2006/main">
            <a:off x="571500" y="35909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업무 건별 제출서류 묶음과 OCR/VLM 추출값 관리. 원본</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 좌표 표시, 필드 수정, 유효기간·누락·서류 간 일치 검사,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심사표 생성, 승인값의 후속 전달.</a:t>
            </a:r>
          </a:p>
        </p:txBody>
      </p:sp>
      <p:sp>
        <p:nvSpPr>
          <p:cNvPr id="13" name="">
            <a:extLst xmlns:a="http://schemas.openxmlformats.org/drawingml/2006/main">
              <a:ext uri="{FF2B5EF4-FFF2-40B4-BE49-F238E27FC236}">
                <a16:creationId xmlns:a16="http://schemas.microsoft.com/office/drawing/2014/main" id="{18ACB32E-EEFA-46E7-A923-FD25DC694C52}"/>
              </a:ext>
            </a:extLst>
          </p:cNvPr>
          <p:cNvSpPr>
            <a:spLocks xmlns:a="http://schemas.openxmlformats.org/drawingml/2006/main" noGrp="1"/>
          </p:cNvSpPr>
          <p:nvPr/>
        </p:nvSpPr>
        <p:spPr>
          <a:xfrm xmlns:a="http://schemas.openxmlformats.org/drawingml/2006/main">
            <a:off x="6334125" y="359092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C04 · C05 · C06 · C07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흐린 스캔·다른 주소·누락 서류를 투입해 경고와 원본 위치 확</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인, 미승인 값의 전달 차단 확인</a:t>
            </a:r>
          </a:p>
        </p:txBody>
      </p:sp>
      <p:sp>
        <p:nvSpPr>
          <p:cNvPr id="14" name="">
            <a:extLst xmlns:a="http://schemas.openxmlformats.org/drawingml/2006/main">
              <a:ext uri="{FF2B5EF4-FFF2-40B4-BE49-F238E27FC236}">
                <a16:creationId xmlns:a16="http://schemas.microsoft.com/office/drawing/2014/main" id="{AFC15274-E616-414F-908B-E37D226CDD47}"/>
              </a:ext>
            </a:extLst>
          </p:cNvPr>
          <p:cNvSpPr>
            <a:spLocks xmlns:a="http://schemas.openxmlformats.org/drawingml/2006/main" noGrp="1"/>
          </p:cNvSpPr>
          <p:nvPr/>
        </p:nvSpPr>
        <p:spPr>
          <a:xfrm xmlns:a="http://schemas.openxmlformats.org/drawingml/2006/main">
            <a:off x="571500" y="45910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A540530-FFB8-4F6B-AD16-E6AA924BD1FE}"/>
              </a:ext>
            </a:extLst>
          </p:cNvPr>
          <p:cNvSpPr>
            <a:spLocks xmlns:a="http://schemas.openxmlformats.org/drawingml/2006/main" noGrp="1"/>
          </p:cNvSpPr>
          <p:nvPr/>
        </p:nvSpPr>
        <p:spPr>
          <a:xfrm xmlns:a="http://schemas.openxmlformats.org/drawingml/2006/main">
            <a:off x="571500" y="46672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SFR-008 AI 서비스_지능형 민원처리 시스템</a:t>
            </a:r>
          </a:p>
        </p:txBody>
      </p:sp>
      <p:sp>
        <p:nvSpPr>
          <p:cNvPr id="16" name="">
            <a:extLst xmlns:a="http://schemas.openxmlformats.org/drawingml/2006/main">
              <a:ext uri="{FF2B5EF4-FFF2-40B4-BE49-F238E27FC236}">
                <a16:creationId xmlns:a16="http://schemas.microsoft.com/office/drawing/2014/main" id="{6A1DC6A7-8B59-4ED1-99A9-C76C5498FFCE}"/>
              </a:ext>
            </a:extLst>
          </p:cNvPr>
          <p:cNvSpPr>
            <a:spLocks xmlns:a="http://schemas.openxmlformats.org/drawingml/2006/main" noGrp="1"/>
          </p:cNvSpPr>
          <p:nvPr/>
        </p:nvSpPr>
        <p:spPr>
          <a:xfrm xmlns:a="http://schemas.openxmlformats.org/drawingml/2006/main">
            <a:off x="571500" y="504825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민원 부서 후보 추천, 유사민원 검색, 답변 초안·요약 제공</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 사용자의 부서 선택·답변 확정과 담당 부서의 FAQ 후보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승인.</a:t>
            </a:r>
          </a:p>
        </p:txBody>
      </p:sp>
      <p:sp>
        <p:nvSpPr>
          <p:cNvPr id="17" name="">
            <a:extLst xmlns:a="http://schemas.openxmlformats.org/drawingml/2006/main">
              <a:ext uri="{FF2B5EF4-FFF2-40B4-BE49-F238E27FC236}">
                <a16:creationId xmlns:a16="http://schemas.microsoft.com/office/drawing/2014/main" id="{53F72208-A152-47D2-A52B-11B0A26CC9EE}"/>
              </a:ext>
            </a:extLst>
          </p:cNvPr>
          <p:cNvSpPr>
            <a:spLocks xmlns:a="http://schemas.openxmlformats.org/drawingml/2006/main" noGrp="1"/>
          </p:cNvSpPr>
          <p:nvPr/>
        </p:nvSpPr>
        <p:spPr>
          <a:xfrm xmlns:a="http://schemas.openxmlformats.org/drawingml/2006/main">
            <a:off x="6334125" y="504825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C02 · C03 · C04 · C06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다부서 민원·유사사례 없음·FAQ 중복 입력 시 후보와 규정 대</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체 근거, 확정 전후 변경 이력 대사</a:t>
            </a:r>
          </a:p>
        </p:txBody>
      </p:sp>
    </p:spTree>
    <p:extLst>
      <p:ext uri="{BB962C8B-B14F-4D97-AF65-F5344CB8AC3E}">
        <p14:creationId xmlns:p14="http://schemas.microsoft.com/office/powerpoint/2010/main" val="1483415055"/>
      </p:ext>
    </p:extLst>
  </p:cSld>
</p:sld>
</file>

<file path=ppt/slides/slide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8080E70-7413-4AF6-9951-A937D0676134}"/>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PF-R01 / RFP 목표 구성도 / 원문 삽입도 추출</a:t>
            </a:r>
          </a:p>
        </p:txBody>
      </p:sp>
      <p:sp>
        <p:nvSpPr>
          <p:cNvPr id="2" name="">
            <a:extLst xmlns:a="http://schemas.openxmlformats.org/drawingml/2006/main">
              <a:ext uri="{FF2B5EF4-FFF2-40B4-BE49-F238E27FC236}">
                <a16:creationId xmlns:a16="http://schemas.microsoft.com/office/drawing/2014/main" id="{7BD5FCDA-EB59-4FF8-8FF4-EF2334DA7614}"/>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HUG AI 인프라·업무시스템 연계</a:t>
            </a:r>
          </a:p>
        </p:txBody>
      </p:sp>
      <p:sp>
        <p:nvSpPr>
          <p:cNvPr id="3" name="">
            <a:extLst xmlns:a="http://schemas.openxmlformats.org/drawingml/2006/main">
              <a:ext uri="{FF2B5EF4-FFF2-40B4-BE49-F238E27FC236}">
                <a16:creationId xmlns:a16="http://schemas.microsoft.com/office/drawing/2014/main" id="{AB9B6A8C-802E-465A-9C10-956E74C3DC21}"/>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F33C286-FB99-4BB6-A142-D4AA8B79C62A}"/>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A51E7879-4521-48A8-BC87-9FB05A0A380E}"/>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04</a:t>
            </a:r>
          </a:p>
        </p:txBody>
      </p:sp>
      <p:pic>
        <p:nvPicPr>
          <p:cNvPr id="6" name="">
            <a:extLst xmlns:a="http://schemas.openxmlformats.org/drawingml/2006/main">
              <a:ext uri="{FF2B5EF4-FFF2-40B4-BE49-F238E27FC236}">
                <a16:creationId xmlns:a16="http://schemas.microsoft.com/office/drawing/2014/main" id="{DAA0A704-E747-4B4D-8C6E-85FFB6CCB2EE}"/>
              </a:ext>
            </a:extLst>
          </p:cNvPr>
          <p:cNvPicPr>
            <a:picLocks xmlns:a="http://schemas.openxmlformats.org/drawingml/2006/main" noChangeAspect="1"/>
          </p:cNvPicPr>
          <p:nvPr/>
        </p:nvPicPr>
        <p:blipFill>
          <a:blip xmlns:r="http://schemas.openxmlformats.org/officeDocument/2006/relationships" xmlns:a="http://schemas.openxmlformats.org/drawingml/2006/main" r:embed="R26b29f5b80f14643"/>
          <a:stretch xmlns:a="http://schemas.openxmlformats.org/drawingml/2006/main"/>
        </p:blipFill>
        <p:spPr>
          <a:xfrm xmlns:a="http://schemas.openxmlformats.org/drawingml/2006/main">
            <a:off x="3296920" y="1657350"/>
            <a:ext cx="5598160"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788B285-AA49-4BBB-8085-70117ADEC2F1}"/>
              </a:ext>
            </a:extLst>
          </p:cNvPr>
          <p:cNvSpPr>
            <a:spLocks xmlns:a="http://schemas.openxmlformats.org/drawingml/2006/main" noGrp="1"/>
          </p:cNvSpPr>
          <p:nvPr/>
        </p:nvSpPr>
        <p:spPr>
          <a:xfrm xmlns:a="http://schemas.openxmlformats.org/drawingml/2006/main">
            <a:off x="571500" y="5915025"/>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통합 클라우드·GPU Kubernetes·AI 웹서비스·그룹웨어 연계</a:t>
            </a:r>
          </a:p>
        </p:txBody>
      </p:sp>
    </p:spTree>
    <p:extLst>
      <p:ext uri="{BB962C8B-B14F-4D97-AF65-F5344CB8AC3E}">
        <p14:creationId xmlns:p14="http://schemas.microsoft.com/office/powerpoint/2010/main" val="250680514"/>
      </p:ext>
    </p:extLst>
  </p:cSld>
</p:sld>
</file>

<file path=ppt/slides/slide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9EF5A260-56E6-48C4-A784-D35149C441CB}"/>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7167A539-97A0-4B6F-BC73-2F11E93B9C9F}"/>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E1E3CB53-DD06-475E-A5A2-AE8BF6CFD736}"/>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993C4B3C-2FCA-4A6A-BBF0-8234A074F207}"/>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3E9F1FC4-1982-4047-8B89-500B99D9FCF7}"/>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97DC820B-DF3A-43A0-90AB-3743A884BE09}"/>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BEA821E4-85C7-4E17-81B0-E0921B678FB5}"/>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BC2323E9-C16E-4B0B-94B5-991859EF1F80}"/>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16A75522-76B5-419E-86C5-0E56D78A3A40}"/>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4878CAC1-7CC3-4845-9D49-230DAA1D0893}"/>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PF-R01 / CCK 세부 재구성 · 논리 서비스 설계</a:t>
            </a:r>
          </a:p>
        </p:txBody>
      </p:sp>
      <p:sp>
        <p:nvSpPr>
          <p:cNvPr id="2" name="">
            <a:extLst xmlns:a="http://schemas.openxmlformats.org/drawingml/2006/main">
              <a:ext uri="{FF2B5EF4-FFF2-40B4-BE49-F238E27FC236}">
                <a16:creationId xmlns:a16="http://schemas.microsoft.com/office/drawing/2014/main" id="{53A743AD-AB02-42AE-8883-63B6B3A82FF8}"/>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HUG 문서·민원 AI · 세부 서비스 구조</a:t>
            </a:r>
          </a:p>
        </p:txBody>
      </p:sp>
      <p:sp>
        <p:nvSpPr>
          <p:cNvPr id="3" name="">
            <a:extLst xmlns:a="http://schemas.openxmlformats.org/drawingml/2006/main">
              <a:ext uri="{FF2B5EF4-FFF2-40B4-BE49-F238E27FC236}">
                <a16:creationId xmlns:a16="http://schemas.microsoft.com/office/drawing/2014/main" id="{DA8B5F94-3AD0-44A9-A349-354AD3F8950A}"/>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C150DF6-FDFF-4942-85B9-9FDDE3052239}"/>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53515944-F82B-4270-BCE7-0885745E1886}"/>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05</a:t>
            </a:r>
          </a:p>
        </p:txBody>
      </p:sp>
      <p:sp>
        <p:nvSpPr>
          <p:cNvPr id="6" name="">
            <a:extLst xmlns:a="http://schemas.openxmlformats.org/drawingml/2006/main">
              <a:ext uri="{FF2B5EF4-FFF2-40B4-BE49-F238E27FC236}">
                <a16:creationId xmlns:a16="http://schemas.microsoft.com/office/drawing/2014/main" id="{BE92AF00-F61D-47F3-86F9-176B2ECFEB08}"/>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SFR-006~008</a:t>
            </a:r>
          </a:p>
        </p:txBody>
      </p:sp>
      <p:sp>
        <p:nvSpPr>
          <p:cNvPr id="7" name="">
            <a:extLst xmlns:a="http://schemas.openxmlformats.org/drawingml/2006/main">
              <a:ext uri="{FF2B5EF4-FFF2-40B4-BE49-F238E27FC236}">
                <a16:creationId xmlns:a16="http://schemas.microsoft.com/office/drawing/2014/main" id="{FDDAEFE8-50CA-427C-B85E-01E0D39BD1F1}"/>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1D593DFD-ABE3-4D30-A3ED-34877890451B}"/>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58EB4401-EED4-49E1-880E-F7A70210FC69}"/>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직원·문서 접점</a:t>
            </a:r>
          </a:p>
        </p:txBody>
      </p:sp>
      <p:sp>
        <p:nvSpPr>
          <p:cNvPr id="10" name="">
            <a:extLst xmlns:a="http://schemas.openxmlformats.org/drawingml/2006/main">
              <a:ext uri="{FF2B5EF4-FFF2-40B4-BE49-F238E27FC236}">
                <a16:creationId xmlns:a16="http://schemas.microsoft.com/office/drawing/2014/main" id="{2C636D72-1571-4EF0-B51A-23D0690E85D6}"/>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7CCD4DC1-0C0B-4EFF-8A7E-65F8F9C42B81}"/>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FB4C22E4-6C17-480B-A44A-DADA5F6F9026}"/>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SSO·사건·권한</a:t>
            </a:r>
          </a:p>
        </p:txBody>
      </p:sp>
      <p:sp>
        <p:nvSpPr>
          <p:cNvPr id="13" name="">
            <a:extLst xmlns:a="http://schemas.openxmlformats.org/drawingml/2006/main">
              <a:ext uri="{FF2B5EF4-FFF2-40B4-BE49-F238E27FC236}">
                <a16:creationId xmlns:a16="http://schemas.microsoft.com/office/drawing/2014/main" id="{902490BF-AB08-4D40-B0EF-365C90270C75}"/>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434ADF10-0700-44C4-B145-3A5459F7B8E2}"/>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7A1340A7-7B75-498B-B182-31185ADD0F63}"/>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문서·규정 조회</a:t>
            </a:r>
          </a:p>
        </p:txBody>
      </p:sp>
      <p:sp>
        <p:nvSpPr>
          <p:cNvPr id="16" name="">
            <a:extLst xmlns:a="http://schemas.openxmlformats.org/drawingml/2006/main">
              <a:ext uri="{FF2B5EF4-FFF2-40B4-BE49-F238E27FC236}">
                <a16:creationId xmlns:a16="http://schemas.microsoft.com/office/drawing/2014/main" id="{DC13DE12-E07A-4013-B450-B6283FF4E3AE}"/>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9808F6AF-D58E-4E47-A947-A929C55968F2}"/>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5CDC8E1B-E2DE-4C01-B9D0-12D494E7783C}"/>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OCR·VLM 추출</a:t>
            </a:r>
          </a:p>
        </p:txBody>
      </p:sp>
      <p:sp>
        <p:nvSpPr>
          <p:cNvPr id="19" name="">
            <a:extLst xmlns:a="http://schemas.openxmlformats.org/drawingml/2006/main">
              <a:ext uri="{FF2B5EF4-FFF2-40B4-BE49-F238E27FC236}">
                <a16:creationId xmlns:a16="http://schemas.microsoft.com/office/drawing/2014/main" id="{267FBFFC-9973-4F06-8992-0CB0F78686D8}"/>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BD3C7127-7D23-4A5D-8729-2CE869821C0F}"/>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A7F7402F-AA90-49C4-9EEF-9BB58F367CAC}"/>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누락·정합성 비교</a:t>
            </a:r>
          </a:p>
        </p:txBody>
      </p:sp>
      <p:sp>
        <p:nvSpPr>
          <p:cNvPr id="22" name="">
            <a:extLst xmlns:a="http://schemas.openxmlformats.org/drawingml/2006/main">
              <a:ext uri="{FF2B5EF4-FFF2-40B4-BE49-F238E27FC236}">
                <a16:creationId xmlns:a16="http://schemas.microsoft.com/office/drawing/2014/main" id="{7330AB07-311F-4D6C-80DD-FADD421AABCE}"/>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74622929-737D-4976-86B2-DD8E49553A51}"/>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FEC1943E-012A-4B8B-A2FE-E5F7F70E9741}"/>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원본·값 사람 확인</a:t>
            </a:r>
          </a:p>
        </p:txBody>
      </p:sp>
      <p:sp>
        <p:nvSpPr>
          <p:cNvPr id="25" name="">
            <a:extLst xmlns:a="http://schemas.openxmlformats.org/drawingml/2006/main">
              <a:ext uri="{FF2B5EF4-FFF2-40B4-BE49-F238E27FC236}">
                <a16:creationId xmlns:a16="http://schemas.microsoft.com/office/drawing/2014/main" id="{AA2A78EE-A599-4D53-BCE2-4BD16E706688}"/>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C818365D-08F3-42B9-BF62-436DF6A2EA8A}"/>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A24B9CB6-A858-4A59-8FAA-EBCBA895358E}"/>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심사·민원 초안</a:t>
            </a:r>
          </a:p>
        </p:txBody>
      </p:sp>
      <p:sp>
        <p:nvSpPr>
          <p:cNvPr id="28" name="">
            <a:extLst xmlns:a="http://schemas.openxmlformats.org/drawingml/2006/main">
              <a:ext uri="{FF2B5EF4-FFF2-40B4-BE49-F238E27FC236}">
                <a16:creationId xmlns:a16="http://schemas.microsoft.com/office/drawing/2014/main" id="{0C4D6C67-B146-4C90-B8C6-E98B78FC2756}"/>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ED24BB4F-544B-4FB7-AC6F-BAFC16E6DA28}"/>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E833DDFC-1E08-40A2-8931-C5617EBD57A5}"/>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항목별 오류 평가</a:t>
            </a:r>
          </a:p>
        </p:txBody>
      </p:sp>
      <p:sp>
        <p:nvSpPr>
          <p:cNvPr id="31" name="">
            <a:extLst xmlns:a="http://schemas.openxmlformats.org/drawingml/2006/main">
              <a:ext uri="{FF2B5EF4-FFF2-40B4-BE49-F238E27FC236}">
                <a16:creationId xmlns:a16="http://schemas.microsoft.com/office/drawing/2014/main" id="{D94080E7-316C-443A-9497-256F3462F396}"/>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A3C50C73-B297-43C8-BC3F-0C1476DA584F}"/>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692F5ECA-0F0C-44CC-8B4A-FCA9F9760C72}"/>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이행서류·규정</a:t>
            </a:r>
          </a:p>
        </p:txBody>
      </p:sp>
      <p:sp>
        <p:nvSpPr>
          <p:cNvPr id="34" name="">
            <a:extLst xmlns:a="http://schemas.openxmlformats.org/drawingml/2006/main">
              <a:ext uri="{FF2B5EF4-FFF2-40B4-BE49-F238E27FC236}">
                <a16:creationId xmlns:a16="http://schemas.microsoft.com/office/drawing/2014/main" id="{BEA63C34-632C-490B-88E3-13F0E267F49C}"/>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96C9C4DE-90A3-4B1C-8ED8-3A4C1429907E}"/>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032963BF-1AD2-4D3B-B672-7C8EF502E9AB}"/>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좌표·판본·승인태그</a:t>
            </a:r>
          </a:p>
        </p:txBody>
      </p:sp>
      <p:sp>
        <p:nvSpPr>
          <p:cNvPr id="37" name="">
            <a:extLst xmlns:a="http://schemas.openxmlformats.org/drawingml/2006/main">
              <a:ext uri="{FF2B5EF4-FFF2-40B4-BE49-F238E27FC236}">
                <a16:creationId xmlns:a16="http://schemas.microsoft.com/office/drawing/2014/main" id="{CF4871E5-7495-41C9-B420-B7833C24DC24}"/>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4C54043B-F0CC-46B8-9A82-54A8F80A4C9C}"/>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1253009E-A850-4D08-BDC7-61739466E071}"/>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원본·추출값·색인</a:t>
            </a:r>
          </a:p>
        </p:txBody>
      </p:sp>
      <p:sp>
        <p:nvSpPr>
          <p:cNvPr id="40" name="">
            <a:extLst xmlns:a="http://schemas.openxmlformats.org/drawingml/2006/main">
              <a:ext uri="{FF2B5EF4-FFF2-40B4-BE49-F238E27FC236}">
                <a16:creationId xmlns:a16="http://schemas.microsoft.com/office/drawing/2014/main" id="{3A4479FD-E455-4C98-99E3-6E54FC55E8D9}"/>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FBE6FEF8-4B09-44EE-98E5-550FBF29F224}"/>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8213BE12-0B74-40A7-85D5-9E95DD0432EE}"/>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문서별 접근정책</a:t>
            </a:r>
          </a:p>
        </p:txBody>
      </p:sp>
      <p:sp>
        <p:nvSpPr>
          <p:cNvPr id="52" name="">
            <a:extLst xmlns:a="http://schemas.openxmlformats.org/drawingml/2006/main">
              <a:ext uri="{FF2B5EF4-FFF2-40B4-BE49-F238E27FC236}">
                <a16:creationId xmlns:a16="http://schemas.microsoft.com/office/drawing/2014/main" id="{76730DCF-94B4-4121-8E8E-E6BB801EB004}"/>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1302437941"/>
      </p:ext>
    </p:extLst>
  </p:cSld>
</p:sld>
</file>

<file path=ppt/slides/slide6.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C1F516AC-CAB8-4B90-818E-6897D812B99F}"/>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PF-R01 / 논리 인터페이스·복구 설계</a:t>
            </a:r>
          </a:p>
        </p:txBody>
      </p:sp>
      <p:sp>
        <p:nvSpPr>
          <p:cNvPr id="2" name="">
            <a:extLst xmlns:a="http://schemas.openxmlformats.org/drawingml/2006/main">
              <a:ext uri="{FF2B5EF4-FFF2-40B4-BE49-F238E27FC236}">
                <a16:creationId xmlns:a16="http://schemas.microsoft.com/office/drawing/2014/main" id="{7A222FDD-1D73-4CE2-A9F5-DBD1F5D75676}"/>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HUG 문서·민원 AI · 데이터와 예외 처리</a:t>
            </a:r>
          </a:p>
        </p:txBody>
      </p:sp>
      <p:sp>
        <p:nvSpPr>
          <p:cNvPr id="3" name="">
            <a:extLst xmlns:a="http://schemas.openxmlformats.org/drawingml/2006/main">
              <a:ext uri="{FF2B5EF4-FFF2-40B4-BE49-F238E27FC236}">
                <a16:creationId xmlns:a16="http://schemas.microsoft.com/office/drawing/2014/main" id="{A6C1511F-9397-4598-860A-419D5DFBC685}"/>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03A6009-9533-42C8-A526-D30BCFAF01FF}"/>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35CA2D50-E8CC-4E87-BC83-B5DF05FEAB54}"/>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06</a:t>
            </a:r>
          </a:p>
        </p:txBody>
      </p:sp>
      <p:sp>
        <p:nvSpPr>
          <p:cNvPr id="6" name="">
            <a:extLst xmlns:a="http://schemas.openxmlformats.org/drawingml/2006/main">
              <a:ext uri="{FF2B5EF4-FFF2-40B4-BE49-F238E27FC236}">
                <a16:creationId xmlns:a16="http://schemas.microsoft.com/office/drawing/2014/main" id="{BB170D4D-E881-4F06-9585-2EFB315090FA}"/>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C7DAF6FA-8E6A-4388-9B6A-5A20D76390F9}"/>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EC7C514E-2C8D-4E82-BE06-7572B3AE3A79}"/>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B0699697-B69A-47D4-BD06-BF2CA8C1E0E2}"/>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SSO·문서 접근권한·사건별 서류 묶음</a:t>
            </a:r>
          </a:p>
        </p:txBody>
      </p:sp>
      <p:sp>
        <p:nvSpPr>
          <p:cNvPr id="10" name="">
            <a:extLst xmlns:a="http://schemas.openxmlformats.org/drawingml/2006/main">
              <a:ext uri="{FF2B5EF4-FFF2-40B4-BE49-F238E27FC236}">
                <a16:creationId xmlns:a16="http://schemas.microsoft.com/office/drawing/2014/main" id="{5778ABD4-B01D-4EE3-ADDD-6FBE082DD9AF}"/>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136CE3C-5628-4959-9876-9D6B17D30E8F}"/>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A5A00887-924C-4BEF-BF62-7A5731EF787E}"/>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보증 원문</a:t>
            </a:r>
          </a:p>
        </p:txBody>
      </p:sp>
      <p:sp>
        <p:nvSpPr>
          <p:cNvPr id="13" name="">
            <a:extLst xmlns:a="http://schemas.openxmlformats.org/drawingml/2006/main">
              <a:ext uri="{FF2B5EF4-FFF2-40B4-BE49-F238E27FC236}">
                <a16:creationId xmlns:a16="http://schemas.microsoft.com/office/drawing/2014/main" id="{A80A9DF5-F767-4242-A7C5-495F9BBEA094}"/>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281AFC2-F4F1-4BB0-B8BB-B4FFDD19E65F}"/>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A24A1066-E2AD-451B-8F8D-0BFD70DDACF5}"/>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추출 항목</a:t>
            </a:r>
          </a:p>
        </p:txBody>
      </p:sp>
      <p:sp>
        <p:nvSpPr>
          <p:cNvPr id="16" name="">
            <a:extLst xmlns:a="http://schemas.openxmlformats.org/drawingml/2006/main">
              <a:ext uri="{FF2B5EF4-FFF2-40B4-BE49-F238E27FC236}">
                <a16:creationId xmlns:a16="http://schemas.microsoft.com/office/drawing/2014/main" id="{132758C7-143B-4BC4-887F-584AC7773A92}"/>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6827F55-7483-4B1F-BC46-0FA36DFA48B8}"/>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B5E85997-FC14-4B2D-933F-6273EB1F32D8}"/>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원문 좌표·추출 항목·인식 신뢰도</a:t>
            </a:r>
          </a:p>
        </p:txBody>
      </p:sp>
      <p:sp>
        <p:nvSpPr>
          <p:cNvPr id="19" name="">
            <a:extLst xmlns:a="http://schemas.openxmlformats.org/drawingml/2006/main">
              <a:ext uri="{FF2B5EF4-FFF2-40B4-BE49-F238E27FC236}">
                <a16:creationId xmlns:a16="http://schemas.microsoft.com/office/drawing/2014/main" id="{3F53D7D1-19B5-4F01-8D9C-D3DFE34A3E28}"/>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EE000A1-7778-40FF-84F6-E60A7A242372}"/>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C7C1966D-077F-4022-826E-1C133DF5216C}"/>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누락·불일치</a:t>
            </a:r>
          </a:p>
        </p:txBody>
      </p:sp>
      <p:sp>
        <p:nvSpPr>
          <p:cNvPr id="22" name="">
            <a:extLst xmlns:a="http://schemas.openxmlformats.org/drawingml/2006/main">
              <a:ext uri="{FF2B5EF4-FFF2-40B4-BE49-F238E27FC236}">
                <a16:creationId xmlns:a16="http://schemas.microsoft.com/office/drawing/2014/main" id="{27495B50-3ACD-463C-B914-B21B84945B45}"/>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4D4EC86-BA4E-42B3-B6DF-0F858D71281F}"/>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EF0D8370-EA5A-4EF6-B6D2-54B5C5EF757D}"/>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검토 결과</a:t>
            </a:r>
          </a:p>
        </p:txBody>
      </p:sp>
      <p:sp>
        <p:nvSpPr>
          <p:cNvPr id="25" name="">
            <a:extLst xmlns:a="http://schemas.openxmlformats.org/drawingml/2006/main">
              <a:ext uri="{FF2B5EF4-FFF2-40B4-BE49-F238E27FC236}">
                <a16:creationId xmlns:a16="http://schemas.microsoft.com/office/drawing/2014/main" id="{CC24BC1A-6CFA-4290-B679-E68A36F4A5C0}"/>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7CA5ADE5-09A4-4EBF-A144-C85E61AD0048}"/>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스캔 저화질·서명 누락·주소 불일치·다른 사건 서류</a:t>
            </a:r>
          </a:p>
        </p:txBody>
      </p:sp>
      <p:sp>
        <p:nvSpPr>
          <p:cNvPr id="27" name="">
            <a:extLst xmlns:a="http://schemas.openxmlformats.org/drawingml/2006/main">
              <a:ext uri="{FF2B5EF4-FFF2-40B4-BE49-F238E27FC236}">
                <a16:creationId xmlns:a16="http://schemas.microsoft.com/office/drawing/2014/main" id="{B3817F91-6198-48EA-8DAC-F960AFA59B75}"/>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622A2689-0767-4D05-9CAA-6CA5C64FCE35}"/>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원본·추출값 대조와 자동 확정 제한</a:t>
            </a:r>
          </a:p>
        </p:txBody>
      </p:sp>
      <p:sp>
        <p:nvSpPr>
          <p:cNvPr id="29" name="">
            <a:extLst xmlns:a="http://schemas.openxmlformats.org/drawingml/2006/main">
              <a:ext uri="{FF2B5EF4-FFF2-40B4-BE49-F238E27FC236}">
                <a16:creationId xmlns:a16="http://schemas.microsoft.com/office/drawing/2014/main" id="{BF2A7ABB-84BA-48BB-A121-DBA94969256E}"/>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21B9E9FC-68BD-4A77-AB57-496163E862E0}"/>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사람 확정값과 인식 오류를 품질 개선에 반영</a:t>
            </a:r>
          </a:p>
        </p:txBody>
      </p:sp>
      <p:sp>
        <p:nvSpPr>
          <p:cNvPr id="31" name="">
            <a:extLst xmlns:a="http://schemas.openxmlformats.org/drawingml/2006/main">
              <a:ext uri="{FF2B5EF4-FFF2-40B4-BE49-F238E27FC236}">
                <a16:creationId xmlns:a16="http://schemas.microsoft.com/office/drawing/2014/main" id="{D962E75E-455B-4242-AA30-2E2ACB4F3945}"/>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780752FC-7057-4B12-8408-5122329117DE}"/>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추출값–원본 좌표–불일치 판정–심사자 확정 추적표</a:t>
            </a:r>
          </a:p>
        </p:txBody>
      </p:sp>
    </p:spTree>
    <p:extLst>
      <p:ext uri="{BB962C8B-B14F-4D97-AF65-F5344CB8AC3E}">
        <p14:creationId xmlns:p14="http://schemas.microsoft.com/office/powerpoint/2010/main" val="1556639294"/>
      </p:ext>
    </p:extLst>
  </p:cSld>
</p:sld>
</file>

<file path=ppt/slides/slide7.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A481A5B-2A7A-4CD8-B80B-527695BA9152}"/>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PF-R01 / CCK 비교·재현 시험 설계</a:t>
            </a:r>
          </a:p>
        </p:txBody>
      </p:sp>
      <p:sp>
        <p:nvSpPr>
          <p:cNvPr id="2" name="">
            <a:extLst xmlns:a="http://schemas.openxmlformats.org/drawingml/2006/main">
              <a:ext uri="{FF2B5EF4-FFF2-40B4-BE49-F238E27FC236}">
                <a16:creationId xmlns:a16="http://schemas.microsoft.com/office/drawing/2014/main" id="{CBC12896-AEF1-4287-9AD2-605A00BD2293}"/>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HUG 문서·민원 AI · 벤치마킹</a:t>
            </a:r>
          </a:p>
        </p:txBody>
      </p:sp>
      <p:sp>
        <p:nvSpPr>
          <p:cNvPr id="3" name="">
            <a:extLst xmlns:a="http://schemas.openxmlformats.org/drawingml/2006/main">
              <a:ext uri="{FF2B5EF4-FFF2-40B4-BE49-F238E27FC236}">
                <a16:creationId xmlns:a16="http://schemas.microsoft.com/office/drawing/2014/main" id="{0815C973-255A-4579-8DED-6902DF312F6F}"/>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837C540-0681-47C4-9D25-BB42B3A8ACF7}"/>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A3D82F3B-CCA7-416B-B4CC-71D5710FAD28}"/>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07</a:t>
            </a:r>
          </a:p>
        </p:txBody>
      </p:sp>
      <p:sp>
        <p:nvSpPr>
          <p:cNvPr id="6" name="">
            <a:extLst xmlns:a="http://schemas.openxmlformats.org/drawingml/2006/main">
              <a:ext uri="{FF2B5EF4-FFF2-40B4-BE49-F238E27FC236}">
                <a16:creationId xmlns:a16="http://schemas.microsoft.com/office/drawing/2014/main" id="{3CEFC7EC-0CE4-4BF1-8A59-94C4CB2F780F}"/>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FC3ACBCC-0B47-4D38-92E6-B9FF4B5EB2F0}"/>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보증서류와 검토 규칙의 연결</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검색·민원 지원의 공통 기반 활용</a:t>
            </a:r>
          </a:p>
        </p:txBody>
      </p:sp>
      <p:sp>
        <p:nvSpPr>
          <p:cNvPr id="8" name="">
            <a:extLst xmlns:a="http://schemas.openxmlformats.org/drawingml/2006/main">
              <a:ext uri="{FF2B5EF4-FFF2-40B4-BE49-F238E27FC236}">
                <a16:creationId xmlns:a16="http://schemas.microsoft.com/office/drawing/2014/main" id="{E7AB3D7C-2BE9-4DC5-BDA2-55B4EDD5B468}"/>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3C8EA4FC-41C1-424E-BB9D-B80CF80D0545}"/>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OCR 오독에 따른 누락 판단</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요구 명세와 운영 효과의 혼동</a:t>
            </a:r>
          </a:p>
        </p:txBody>
      </p:sp>
      <p:sp>
        <p:nvSpPr>
          <p:cNvPr id="10" name="">
            <a:extLst xmlns:a="http://schemas.openxmlformats.org/drawingml/2006/main">
              <a:ext uri="{FF2B5EF4-FFF2-40B4-BE49-F238E27FC236}">
                <a16:creationId xmlns:a16="http://schemas.microsoft.com/office/drawing/2014/main" id="{026EE387-F8DC-426D-906B-7EA56115E930}"/>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C9873BBC-8F8B-4A33-9BFB-F90911C6400A}"/>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원본·추출값 대조와 자동 확정 제한</a:t>
            </a:r>
          </a:p>
        </p:txBody>
      </p:sp>
      <p:sp>
        <p:nvSpPr>
          <p:cNvPr id="12" name="">
            <a:extLst xmlns:a="http://schemas.openxmlformats.org/drawingml/2006/main">
              <a:ext uri="{FF2B5EF4-FFF2-40B4-BE49-F238E27FC236}">
                <a16:creationId xmlns:a16="http://schemas.microsoft.com/office/drawing/2014/main" id="{347EFBD0-0FC0-49AC-9CDD-5554C5F77F44}"/>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B9AB2F78-7DE4-4001-AC12-3D8FEB8C0DCA}"/>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한 사건의 신청 서류에서 필수 항목과 문서 간 일치</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 여부 확인</a:t>
            </a:r>
          </a:p>
        </p:txBody>
      </p:sp>
      <p:sp>
        <p:nvSpPr>
          <p:cNvPr id="14" name="">
            <a:extLst xmlns:a="http://schemas.openxmlformats.org/drawingml/2006/main">
              <a:ext uri="{FF2B5EF4-FFF2-40B4-BE49-F238E27FC236}">
                <a16:creationId xmlns:a16="http://schemas.microsoft.com/office/drawing/2014/main" id="{D5891C24-534A-40F5-8AC5-F99A2CD0CD61}"/>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FB1A50AC-2B0C-46C2-BCDF-576553CF5DC1}"/>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스캔 저화질·서명 누락·주소 불일치·다른 사건 서류</a:t>
            </a:r>
          </a:p>
        </p:txBody>
      </p:sp>
      <p:sp>
        <p:nvSpPr>
          <p:cNvPr id="16" name="">
            <a:extLst xmlns:a="http://schemas.openxmlformats.org/drawingml/2006/main">
              <a:ext uri="{FF2B5EF4-FFF2-40B4-BE49-F238E27FC236}">
                <a16:creationId xmlns:a16="http://schemas.microsoft.com/office/drawing/2014/main" id="{B00292A3-FCC4-406B-9099-587F8240671D}"/>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92103EFB-1F7F-4F9D-BD40-ECE02C29D4D1}"/>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추출값–원본 좌표–불일치 판정–심사자 확정 추적</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표</a:t>
            </a:r>
          </a:p>
        </p:txBody>
      </p:sp>
    </p:spTree>
    <p:extLst>
      <p:ext uri="{BB962C8B-B14F-4D97-AF65-F5344CB8AC3E}">
        <p14:creationId xmlns:p14="http://schemas.microsoft.com/office/powerpoint/2010/main" val="408427282"/>
      </p:ext>
    </p:extLst>
  </p:cSld>
</p:sld>
</file>

<file path=ppt/slides/slide8.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5B48189-6896-4410-8F11-3CD8C7BBC28A}"/>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PF-R02 / 공식 서비스 개시 확인(2026-02-05) / 국내</a:t>
            </a:r>
          </a:p>
        </p:txBody>
      </p:sp>
      <p:sp>
        <p:nvSpPr>
          <p:cNvPr id="2" name="">
            <a:extLst xmlns:a="http://schemas.openxmlformats.org/drawingml/2006/main">
              <a:ext uri="{FF2B5EF4-FFF2-40B4-BE49-F238E27FC236}">
                <a16:creationId xmlns:a16="http://schemas.microsoft.com/office/drawing/2014/main" id="{C7F7B028-8859-4A54-BCD7-C87C29945B0B}"/>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국민권익위 민원 AI</a:t>
            </a:r>
          </a:p>
        </p:txBody>
      </p:sp>
      <p:sp>
        <p:nvSpPr>
          <p:cNvPr id="3" name="">
            <a:extLst xmlns:a="http://schemas.openxmlformats.org/drawingml/2006/main">
              <a:ext uri="{FF2B5EF4-FFF2-40B4-BE49-F238E27FC236}">
                <a16:creationId xmlns:a16="http://schemas.microsoft.com/office/drawing/2014/main" id="{EAE66CF4-173F-496B-BEE1-FEB584B616E4}"/>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4AC9B7F-167A-4C38-8F7A-1D4A00D1B366}"/>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F8CAFB81-3714-4C12-93BF-214DCDEA7DB2}"/>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08</a:t>
            </a:r>
          </a:p>
        </p:txBody>
      </p:sp>
      <p:sp>
        <p:nvSpPr>
          <p:cNvPr id="6" name="">
            <a:extLst xmlns:a="http://schemas.openxmlformats.org/drawingml/2006/main">
              <a:ext uri="{FF2B5EF4-FFF2-40B4-BE49-F238E27FC236}">
                <a16:creationId xmlns:a16="http://schemas.microsoft.com/office/drawing/2014/main" id="{34B6964C-B8D5-4D31-90BE-904ECB39111C}"/>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99CA9F7A-7239-4453-A2F8-B7D79900EBFF}"/>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국민신문고의 접수·처리와 민원정보분석 업무를 연결하</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는 AI 고도화. 담당자의 답변 초안 작성과 유사민원 식별</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정책 분석자의 의미 기반 이슈 탐색을 서로 다른 업무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결과로 구분하는 사업.</a:t>
            </a:r>
          </a:p>
        </p:txBody>
      </p:sp>
      <p:sp>
        <p:nvSpPr>
          <p:cNvPr id="8" name="">
            <a:extLst xmlns:a="http://schemas.openxmlformats.org/drawingml/2006/main">
              <a:ext uri="{FF2B5EF4-FFF2-40B4-BE49-F238E27FC236}">
                <a16:creationId xmlns:a16="http://schemas.microsoft.com/office/drawing/2014/main" id="{BC905CE3-3BE2-465B-A511-5489B1222F7D}"/>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933301A9-39A9-4051-A3E1-C8907AAF11C7}"/>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원문 목표 구성도는 기존 포털·DB, API Gateway, 답변</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·분석·중복 검색 모듈, 데이터 처리 계층, 운영 관리 계층</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으로 구성. OCR·메타정보 추출 후 키워드·벡터 검색을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병렬 수행하고, 재정렬된 근거를 업무 모듈에 전달하는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구조. 서비스 화면과 모델 운영의 별도 책임 분리가 핵심</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a:t>
            </a:r>
          </a:p>
        </p:txBody>
      </p:sp>
      <p:sp>
        <p:nvSpPr>
          <p:cNvPr id="10" name="">
            <a:extLst xmlns:a="http://schemas.openxmlformats.org/drawingml/2006/main">
              <a:ext uri="{FF2B5EF4-FFF2-40B4-BE49-F238E27FC236}">
                <a16:creationId xmlns:a16="http://schemas.microsoft.com/office/drawing/2014/main" id="{21AC2110-36B0-4971-97ED-E2BB75197C68}"/>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C596E52B-A15D-4238-B4FD-1828F595EE06}"/>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표현이 비슷하다는 이유만으로 같은 사건으로 병합하면 이의</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·반대 민원의 취지 소실 가능성. CCK 비교시험에서는 문장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유사도 외에 사건·기관·지역·처리 단계의 일치 여부와 담당자</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의 수정·채택 이력을 함께 평가할 필요. 답변 추천시간과 최</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종 회신시간의 별도 계측.</a:t>
            </a:r>
          </a:p>
        </p:txBody>
      </p:sp>
      <p:sp>
        <p:nvSpPr>
          <p:cNvPr id="12" name="">
            <a:extLst xmlns:a="http://schemas.openxmlformats.org/drawingml/2006/main">
              <a:ext uri="{FF2B5EF4-FFF2-40B4-BE49-F238E27FC236}">
                <a16:creationId xmlns:a16="http://schemas.microsoft.com/office/drawing/2014/main" id="{3EC6276D-8509-48B8-B3BD-D5670A10FA51}"/>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517D7B38-A900-4F8F-B8BA-88BCB985FA55}"/>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민원 사건·기관·업무 분류 / 유사군 검토 UI / 현업 수정 이력</a:t>
            </a:r>
          </a:p>
        </p:txBody>
      </p:sp>
      <p:sp>
        <p:nvSpPr>
          <p:cNvPr id="14" name="">
            <a:extLst xmlns:a="http://schemas.openxmlformats.org/drawingml/2006/main">
              <a:ext uri="{FF2B5EF4-FFF2-40B4-BE49-F238E27FC236}">
                <a16:creationId xmlns:a16="http://schemas.microsoft.com/office/drawing/2014/main" id="{304FE27D-AE8A-495F-9B4E-E6CA97154D53}"/>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8616AADE-CA6A-4070-AA3D-6FB3E35E5391}"/>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같은 표현의 다른 사건·반대 취지 민원에 대한 오병합·답</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변 오류 측정</a:t>
            </a:r>
          </a:p>
        </p:txBody>
      </p:sp>
      <p:sp>
        <p:nvSpPr>
          <p:cNvPr id="16" name="">
            <a:extLst xmlns:a="http://schemas.openxmlformats.org/drawingml/2006/main">
              <a:ext uri="{FF2B5EF4-FFF2-40B4-BE49-F238E27FC236}">
                <a16:creationId xmlns:a16="http://schemas.microsoft.com/office/drawing/2014/main" id="{2CE7940E-2B34-4406-95A6-ABA2B9D9DC92}"/>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F7789C5D-95D4-4CE3-8F78-E5811F18E80B}"/>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민원 분류 정확도 / 오병합률 / 최종 답변 작성시간</a:t>
            </a:r>
          </a:p>
        </p:txBody>
      </p:sp>
      <p:sp>
        <p:nvSpPr>
          <p:cNvPr id="18" name="">
            <a:extLst xmlns:a="http://schemas.openxmlformats.org/drawingml/2006/main">
              <a:ext uri="{FF2B5EF4-FFF2-40B4-BE49-F238E27FC236}">
                <a16:creationId xmlns:a16="http://schemas.microsoft.com/office/drawing/2014/main" id="{98FD3334-C2AB-4017-883B-1733E7495D15}"/>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추천답변 도출시간·배정 처리시간·최종 답변 처리시간의 정의와 분모를 구분해야 함</a:t>
            </a:r>
          </a:p>
        </p:txBody>
      </p:sp>
    </p:spTree>
    <p:extLst>
      <p:ext uri="{BB962C8B-B14F-4D97-AF65-F5344CB8AC3E}">
        <p14:creationId xmlns:p14="http://schemas.microsoft.com/office/powerpoint/2010/main" val="1302096401"/>
      </p:ext>
    </p:extLst>
  </p:cSld>
</p:sld>
</file>

<file path=ppt/slides/slide9.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A843709-AEB5-43A9-8189-318BF7253B74}"/>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PF-R02 / 본공고 RFP · 사업계획·민원답변 작성지원·빈발중복민원 / 1–3</a:t>
            </a:r>
          </a:p>
        </p:txBody>
      </p:sp>
      <p:sp>
        <p:nvSpPr>
          <p:cNvPr id="2" name="">
            <a:extLst xmlns:a="http://schemas.openxmlformats.org/drawingml/2006/main">
              <a:ext uri="{FF2B5EF4-FFF2-40B4-BE49-F238E27FC236}">
                <a16:creationId xmlns:a16="http://schemas.microsoft.com/office/drawing/2014/main" id="{A1A120E7-8330-4A7F-9F51-C071B20A6A2F}"/>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국민권익위 민원 AI · RFP 요구사항</a:t>
            </a:r>
          </a:p>
        </p:txBody>
      </p:sp>
      <p:sp>
        <p:nvSpPr>
          <p:cNvPr id="3" name="">
            <a:extLst xmlns:a="http://schemas.openxmlformats.org/drawingml/2006/main">
              <a:ext uri="{FF2B5EF4-FFF2-40B4-BE49-F238E27FC236}">
                <a16:creationId xmlns:a16="http://schemas.microsoft.com/office/drawing/2014/main" id="{EC1DB466-7BFA-40EE-8CCC-CD324643EE89}"/>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DD3B037-C9BB-4307-AC74-CB03FF73165F}"/>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22CACAD2-4FC8-4D34-9B90-031BBBB8F5FD}"/>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09</a:t>
            </a:r>
          </a:p>
        </p:txBody>
      </p:sp>
      <p:sp>
        <p:nvSpPr>
          <p:cNvPr id="6" name="">
            <a:extLst xmlns:a="http://schemas.openxmlformats.org/drawingml/2006/main">
              <a:ext uri="{FF2B5EF4-FFF2-40B4-BE49-F238E27FC236}">
                <a16:creationId xmlns:a16="http://schemas.microsoft.com/office/drawing/2014/main" id="{586D41B2-8B52-469C-B0DC-39E72B4BE2A7}"/>
              </a:ext>
            </a:extLst>
          </p:cNvPr>
          <p:cNvSpPr>
            <a:spLocks xmlns:a="http://schemas.openxmlformats.org/drawingml/2006/main" noGrp="1"/>
          </p:cNvSpPr>
          <p:nvPr/>
        </p:nvSpPr>
        <p:spPr>
          <a:xfrm xmlns:a="http://schemas.openxmlformats.org/drawingml/2006/main">
            <a:off x="571500" y="167640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C2B5C80-333E-4F53-89CC-708C425DC046}"/>
              </a:ext>
            </a:extLst>
          </p:cNvPr>
          <p:cNvSpPr>
            <a:spLocks xmlns:a="http://schemas.openxmlformats.org/drawingml/2006/main" noGrp="1"/>
          </p:cNvSpPr>
          <p:nvPr/>
        </p:nvSpPr>
        <p:spPr>
          <a:xfrm xmlns:a="http://schemas.openxmlformats.org/drawingml/2006/main">
            <a:off x="571500" y="1752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SFR-004 민원 종류 분류</a:t>
            </a:r>
          </a:p>
        </p:txBody>
      </p:sp>
      <p:sp>
        <p:nvSpPr>
          <p:cNvPr id="8" name="">
            <a:extLst xmlns:a="http://schemas.openxmlformats.org/drawingml/2006/main">
              <a:ext uri="{FF2B5EF4-FFF2-40B4-BE49-F238E27FC236}">
                <a16:creationId xmlns:a16="http://schemas.microsoft.com/office/drawing/2014/main" id="{3FA535B3-AFA3-4DFC-BC62-6B12CA0B59D4}"/>
              </a:ext>
            </a:extLst>
          </p:cNvPr>
          <p:cNvSpPr>
            <a:spLocks xmlns:a="http://schemas.openxmlformats.org/drawingml/2006/main" noGrp="1"/>
          </p:cNvSpPr>
          <p:nvPr/>
        </p:nvSpPr>
        <p:spPr>
          <a:xfrm xmlns:a="http://schemas.openxmlformats.org/drawingml/2006/main">
            <a:off x="571500" y="21336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민원 본문을 민원 종류로 분류해 담당 업무의 처리 경로를</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 지원하는 기능.</a:t>
            </a:r>
          </a:p>
        </p:txBody>
      </p:sp>
      <p:sp>
        <p:nvSpPr>
          <p:cNvPr id="9" name="">
            <a:extLst xmlns:a="http://schemas.openxmlformats.org/drawingml/2006/main">
              <a:ext uri="{FF2B5EF4-FFF2-40B4-BE49-F238E27FC236}">
                <a16:creationId xmlns:a16="http://schemas.microsoft.com/office/drawing/2014/main" id="{3E3F4039-88F9-4BC7-9CC3-B40361344686}"/>
              </a:ext>
            </a:extLst>
          </p:cNvPr>
          <p:cNvSpPr>
            <a:spLocks xmlns:a="http://schemas.openxmlformats.org/drawingml/2006/main" noGrp="1"/>
          </p:cNvSpPr>
          <p:nvPr/>
        </p:nvSpPr>
        <p:spPr>
          <a:xfrm xmlns:a="http://schemas.openxmlformats.org/drawingml/2006/main">
            <a:off x="6334125" y="213360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C02 · C04 · C06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복합 주제·짧은 문장·오탈자 민원의 오분류와 담당자 수정 결</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과 비교</a:t>
            </a:r>
          </a:p>
        </p:txBody>
      </p:sp>
      <p:sp>
        <p:nvSpPr>
          <p:cNvPr id="10" name="">
            <a:extLst xmlns:a="http://schemas.openxmlformats.org/drawingml/2006/main">
              <a:ext uri="{FF2B5EF4-FFF2-40B4-BE49-F238E27FC236}">
                <a16:creationId xmlns:a16="http://schemas.microsoft.com/office/drawing/2014/main" id="{184F2E2E-24EE-4159-ADAE-DD1EAF6DB819}"/>
              </a:ext>
            </a:extLst>
          </p:cNvPr>
          <p:cNvSpPr>
            <a:spLocks xmlns:a="http://schemas.openxmlformats.org/drawingml/2006/main" noGrp="1"/>
          </p:cNvSpPr>
          <p:nvPr/>
        </p:nvSpPr>
        <p:spPr>
          <a:xfrm xmlns:a="http://schemas.openxmlformats.org/drawingml/2006/main">
            <a:off x="571500" y="3133725"/>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5D67452-0664-4F15-9CF2-E54AC5BF29AC}"/>
              </a:ext>
            </a:extLst>
          </p:cNvPr>
          <p:cNvSpPr>
            <a:spLocks xmlns:a="http://schemas.openxmlformats.org/drawingml/2006/main" noGrp="1"/>
          </p:cNvSpPr>
          <p:nvPr/>
        </p:nvSpPr>
        <p:spPr>
          <a:xfrm xmlns:a="http://schemas.openxmlformats.org/drawingml/2006/main">
            <a:off x="571500" y="32099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SFR-005 민원 처리내용 초안 제공</a:t>
            </a:r>
          </a:p>
        </p:txBody>
      </p:sp>
      <p:sp>
        <p:nvSpPr>
          <p:cNvPr id="12" name="">
            <a:extLst xmlns:a="http://schemas.openxmlformats.org/drawingml/2006/main">
              <a:ext uri="{FF2B5EF4-FFF2-40B4-BE49-F238E27FC236}">
                <a16:creationId xmlns:a16="http://schemas.microsoft.com/office/drawing/2014/main" id="{6822BCB4-34D0-454F-A8AF-C625E8F5E3AE}"/>
              </a:ext>
            </a:extLst>
          </p:cNvPr>
          <p:cNvSpPr>
            <a:spLocks xmlns:a="http://schemas.openxmlformats.org/drawingml/2006/main" noGrp="1"/>
          </p:cNvSpPr>
          <p:nvPr/>
        </p:nvSpPr>
        <p:spPr>
          <a:xfrm xmlns:a="http://schemas.openxmlformats.org/drawingml/2006/main">
            <a:off x="571500" y="35909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관련 규정과 기존 처리내용을 참조한 민원답변 초안 지원.</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 초안과 최종 답변의 담당자 확인 경로 구성.</a:t>
            </a:r>
          </a:p>
        </p:txBody>
      </p:sp>
      <p:sp>
        <p:nvSpPr>
          <p:cNvPr id="13" name="">
            <a:extLst xmlns:a="http://schemas.openxmlformats.org/drawingml/2006/main">
              <a:ext uri="{FF2B5EF4-FFF2-40B4-BE49-F238E27FC236}">
                <a16:creationId xmlns:a16="http://schemas.microsoft.com/office/drawing/2014/main" id="{ED1B52DF-03B3-450F-92B7-D77A781078B6}"/>
              </a:ext>
            </a:extLst>
          </p:cNvPr>
          <p:cNvSpPr>
            <a:spLocks xmlns:a="http://schemas.openxmlformats.org/drawingml/2006/main" noGrp="1"/>
          </p:cNvSpPr>
          <p:nvPr/>
        </p:nvSpPr>
        <p:spPr>
          <a:xfrm xmlns:a="http://schemas.openxmlformats.org/drawingml/2006/main">
            <a:off x="6334125" y="359092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C03 · C04 · C06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과거 규정과 현행 규정이 충돌하는 사례의 근거 판본 및 담당</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자 수정 흔적 확인</a:t>
            </a:r>
          </a:p>
        </p:txBody>
      </p:sp>
      <p:sp>
        <p:nvSpPr>
          <p:cNvPr id="14" name="">
            <a:extLst xmlns:a="http://schemas.openxmlformats.org/drawingml/2006/main">
              <a:ext uri="{FF2B5EF4-FFF2-40B4-BE49-F238E27FC236}">
                <a16:creationId xmlns:a16="http://schemas.microsoft.com/office/drawing/2014/main" id="{DC254EB9-32FB-4795-8A60-94002ECA144F}"/>
              </a:ext>
            </a:extLst>
          </p:cNvPr>
          <p:cNvSpPr>
            <a:spLocks xmlns:a="http://schemas.openxmlformats.org/drawingml/2006/main" noGrp="1"/>
          </p:cNvSpPr>
          <p:nvPr/>
        </p:nvSpPr>
        <p:spPr>
          <a:xfrm xmlns:a="http://schemas.openxmlformats.org/drawingml/2006/main">
            <a:off x="571500" y="45910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2738994-432C-4918-B842-2422E1A08E89}"/>
              </a:ext>
            </a:extLst>
          </p:cNvPr>
          <p:cNvSpPr>
            <a:spLocks xmlns:a="http://schemas.openxmlformats.org/drawingml/2006/main" noGrp="1"/>
          </p:cNvSpPr>
          <p:nvPr/>
        </p:nvSpPr>
        <p:spPr>
          <a:xfrm xmlns:a="http://schemas.openxmlformats.org/drawingml/2006/main">
            <a:off x="571500" y="46672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SFR-006 유사민원 식별 기능 제공</a:t>
            </a:r>
          </a:p>
        </p:txBody>
      </p:sp>
      <p:sp>
        <p:nvSpPr>
          <p:cNvPr id="16" name="">
            <a:extLst xmlns:a="http://schemas.openxmlformats.org/drawingml/2006/main">
              <a:ext uri="{FF2B5EF4-FFF2-40B4-BE49-F238E27FC236}">
                <a16:creationId xmlns:a16="http://schemas.microsoft.com/office/drawing/2014/main" id="{19F4F954-B99C-427E-A2A9-F63AFA6534E9}"/>
              </a:ext>
            </a:extLst>
          </p:cNvPr>
          <p:cNvSpPr>
            <a:spLocks xmlns:a="http://schemas.openxmlformats.org/drawingml/2006/main" noGrp="1"/>
          </p:cNvSpPr>
          <p:nvPr/>
        </p:nvSpPr>
        <p:spPr>
          <a:xfrm xmlns:a="http://schemas.openxmlformats.org/drawingml/2006/main">
            <a:off x="571500" y="504825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같거나 유사한 민원을 식별해 반복 업무를 지원하는 기능.</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 검색 후보와 실제 병합 판단의 구분.</a:t>
            </a:r>
          </a:p>
        </p:txBody>
      </p:sp>
      <p:sp>
        <p:nvSpPr>
          <p:cNvPr id="17" name="">
            <a:extLst xmlns:a="http://schemas.openxmlformats.org/drawingml/2006/main">
              <a:ext uri="{FF2B5EF4-FFF2-40B4-BE49-F238E27FC236}">
                <a16:creationId xmlns:a16="http://schemas.microsoft.com/office/drawing/2014/main" id="{F173660A-EFE0-4CDD-9021-546A2CF159FA}"/>
              </a:ext>
            </a:extLst>
          </p:cNvPr>
          <p:cNvSpPr>
            <a:spLocks xmlns:a="http://schemas.openxmlformats.org/drawingml/2006/main" noGrp="1"/>
          </p:cNvSpPr>
          <p:nvPr/>
        </p:nvSpPr>
        <p:spPr>
          <a:xfrm xmlns:a="http://schemas.openxmlformats.org/drawingml/2006/main">
            <a:off x="6334125" y="504825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C03 · C04 · C05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문장은 같지만 사건·지역·신청인이 다른 사례로 오병합 여부</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와 원문 복원 가능성 확인</a:t>
            </a:r>
          </a:p>
        </p:txBody>
      </p:sp>
    </p:spTree>
    <p:extLst>
      <p:ext uri="{BB962C8B-B14F-4D97-AF65-F5344CB8AC3E}">
        <p14:creationId xmlns:p14="http://schemas.microsoft.com/office/powerpoint/2010/main" val="1318644278"/>
      </p:ext>
    </p:extLst>
  </p:cSld>
</p:sld>
</file>

<file path=ppt/slides/slide10.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EA23706-EB86-4138-95F4-7BCEAA0309BE}"/>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PF-R02 / 본공고 RFP · 사업계획·민원답변 작성지원·빈발중복민원 / 4–6</a:t>
            </a:r>
          </a:p>
        </p:txBody>
      </p:sp>
      <p:sp>
        <p:nvSpPr>
          <p:cNvPr id="2" name="">
            <a:extLst xmlns:a="http://schemas.openxmlformats.org/drawingml/2006/main">
              <a:ext uri="{FF2B5EF4-FFF2-40B4-BE49-F238E27FC236}">
                <a16:creationId xmlns:a16="http://schemas.microsoft.com/office/drawing/2014/main" id="{0942B0D2-3370-4EE5-95AD-48916867CBB9}"/>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국민권익위 민원 AI · RFP 요구사항</a:t>
            </a:r>
          </a:p>
        </p:txBody>
      </p:sp>
      <p:sp>
        <p:nvSpPr>
          <p:cNvPr id="3" name="">
            <a:extLst xmlns:a="http://schemas.openxmlformats.org/drawingml/2006/main">
              <a:ext uri="{FF2B5EF4-FFF2-40B4-BE49-F238E27FC236}">
                <a16:creationId xmlns:a16="http://schemas.microsoft.com/office/drawing/2014/main" id="{8EBC2A26-7ADB-4DFD-81BF-B61F0C7A62F7}"/>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DC2B603-6583-4379-9B6A-8FD99F351746}"/>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CAF5CF8C-B770-4047-94A0-D23A3BFBAA4A}"/>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10</a:t>
            </a:r>
          </a:p>
        </p:txBody>
      </p:sp>
      <p:sp>
        <p:nvSpPr>
          <p:cNvPr id="6" name="">
            <a:extLst xmlns:a="http://schemas.openxmlformats.org/drawingml/2006/main">
              <a:ext uri="{FF2B5EF4-FFF2-40B4-BE49-F238E27FC236}">
                <a16:creationId xmlns:a16="http://schemas.microsoft.com/office/drawing/2014/main" id="{CD7DE7B1-8854-42B0-88DB-CEEACD0D7734}"/>
              </a:ext>
            </a:extLst>
          </p:cNvPr>
          <p:cNvSpPr>
            <a:spLocks xmlns:a="http://schemas.openxmlformats.org/drawingml/2006/main" noGrp="1"/>
          </p:cNvSpPr>
          <p:nvPr/>
        </p:nvSpPr>
        <p:spPr>
          <a:xfrm xmlns:a="http://schemas.openxmlformats.org/drawingml/2006/main">
            <a:off x="571500" y="167640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30E503A-D8A6-4218-8424-67480E3657B2}"/>
              </a:ext>
            </a:extLst>
          </p:cNvPr>
          <p:cNvSpPr>
            <a:spLocks xmlns:a="http://schemas.openxmlformats.org/drawingml/2006/main" noGrp="1"/>
          </p:cNvSpPr>
          <p:nvPr/>
        </p:nvSpPr>
        <p:spPr>
          <a:xfrm xmlns:a="http://schemas.openxmlformats.org/drawingml/2006/main">
            <a:off x="571500" y="1752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SFR-010 민원업무 고도화 서비스 관리기능</a:t>
            </a:r>
          </a:p>
        </p:txBody>
      </p:sp>
      <p:sp>
        <p:nvSpPr>
          <p:cNvPr id="8" name="">
            <a:extLst xmlns:a="http://schemas.openxmlformats.org/drawingml/2006/main">
              <a:ext uri="{FF2B5EF4-FFF2-40B4-BE49-F238E27FC236}">
                <a16:creationId xmlns:a16="http://schemas.microsoft.com/office/drawing/2014/main" id="{A3CAB2A5-09A5-47B0-ABDD-7079EB01D83D}"/>
              </a:ext>
            </a:extLst>
          </p:cNvPr>
          <p:cNvSpPr>
            <a:spLocks xmlns:a="http://schemas.openxmlformats.org/drawingml/2006/main" noGrp="1"/>
          </p:cNvSpPr>
          <p:nvPr/>
        </p:nvSpPr>
        <p:spPr>
          <a:xfrm xmlns:a="http://schemas.openxmlformats.org/drawingml/2006/main">
            <a:off x="571500" y="21336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민원업무 고도화 서비스의 이용·관리 기능 구성. 운영자가</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 업무별 서비스 상태와 관리 대상을 확인하는 경로.</a:t>
            </a:r>
          </a:p>
        </p:txBody>
      </p:sp>
      <p:sp>
        <p:nvSpPr>
          <p:cNvPr id="9" name="">
            <a:extLst xmlns:a="http://schemas.openxmlformats.org/drawingml/2006/main">
              <a:ext uri="{FF2B5EF4-FFF2-40B4-BE49-F238E27FC236}">
                <a16:creationId xmlns:a16="http://schemas.microsoft.com/office/drawing/2014/main" id="{FE7BD7EF-32E8-4B81-8051-8F76B1541E02}"/>
              </a:ext>
            </a:extLst>
          </p:cNvPr>
          <p:cNvSpPr>
            <a:spLocks xmlns:a="http://schemas.openxmlformats.org/drawingml/2006/main" noGrp="1"/>
          </p:cNvSpPr>
          <p:nvPr/>
        </p:nvSpPr>
        <p:spPr>
          <a:xfrm xmlns:a="http://schemas.openxmlformats.org/drawingml/2006/main">
            <a:off x="6334125" y="213360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C06 · C08 · C12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관리 역할별 허용 작업과 변경 이력, 설정 변경 후 서비스 반</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영 결과 비교</a:t>
            </a:r>
          </a:p>
        </p:txBody>
      </p:sp>
      <p:sp>
        <p:nvSpPr>
          <p:cNvPr id="10" name="">
            <a:extLst xmlns:a="http://schemas.openxmlformats.org/drawingml/2006/main">
              <a:ext uri="{FF2B5EF4-FFF2-40B4-BE49-F238E27FC236}">
                <a16:creationId xmlns:a16="http://schemas.microsoft.com/office/drawing/2014/main" id="{5457D709-839D-43FD-8067-1E3C77D44622}"/>
              </a:ext>
            </a:extLst>
          </p:cNvPr>
          <p:cNvSpPr>
            <a:spLocks xmlns:a="http://schemas.openxmlformats.org/drawingml/2006/main" noGrp="1"/>
          </p:cNvSpPr>
          <p:nvPr/>
        </p:nvSpPr>
        <p:spPr>
          <a:xfrm xmlns:a="http://schemas.openxmlformats.org/drawingml/2006/main">
            <a:off x="571500" y="3133725"/>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5AC883B-0253-463B-BDD9-FEDFE1AFBBDA}"/>
              </a:ext>
            </a:extLst>
          </p:cNvPr>
          <p:cNvSpPr>
            <a:spLocks xmlns:a="http://schemas.openxmlformats.org/drawingml/2006/main" noGrp="1"/>
          </p:cNvSpPr>
          <p:nvPr/>
        </p:nvSpPr>
        <p:spPr>
          <a:xfrm xmlns:a="http://schemas.openxmlformats.org/drawingml/2006/main">
            <a:off x="571500" y="32099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SFR-011 의미 기반 검색과 분석</a:t>
            </a:r>
          </a:p>
        </p:txBody>
      </p:sp>
      <p:sp>
        <p:nvSpPr>
          <p:cNvPr id="12" name="">
            <a:extLst xmlns:a="http://schemas.openxmlformats.org/drawingml/2006/main">
              <a:ext uri="{FF2B5EF4-FFF2-40B4-BE49-F238E27FC236}">
                <a16:creationId xmlns:a16="http://schemas.microsoft.com/office/drawing/2014/main" id="{3ABC68DA-8935-4BBD-8528-DA1603581C76}"/>
              </a:ext>
            </a:extLst>
          </p:cNvPr>
          <p:cNvSpPr>
            <a:spLocks xmlns:a="http://schemas.openxmlformats.org/drawingml/2006/main" noGrp="1"/>
          </p:cNvSpPr>
          <p:nvPr/>
        </p:nvSpPr>
        <p:spPr>
          <a:xfrm xmlns:a="http://schemas.openxmlformats.org/drawingml/2006/main">
            <a:off x="571500" y="35909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단순 키워드 일치를 넘어 민원 의미를 이용한 검색·분석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지원.</a:t>
            </a:r>
          </a:p>
        </p:txBody>
      </p:sp>
      <p:sp>
        <p:nvSpPr>
          <p:cNvPr id="13" name="">
            <a:extLst xmlns:a="http://schemas.openxmlformats.org/drawingml/2006/main">
              <a:ext uri="{FF2B5EF4-FFF2-40B4-BE49-F238E27FC236}">
                <a16:creationId xmlns:a16="http://schemas.microsoft.com/office/drawing/2014/main" id="{55EBF8CE-F5C8-4B8F-BF6C-DCF5022AC5BC}"/>
              </a:ext>
            </a:extLst>
          </p:cNvPr>
          <p:cNvSpPr>
            <a:spLocks xmlns:a="http://schemas.openxmlformats.org/drawingml/2006/main" noGrp="1"/>
          </p:cNvSpPr>
          <p:nvPr/>
        </p:nvSpPr>
        <p:spPr>
          <a:xfrm xmlns:a="http://schemas.openxmlformats.org/drawingml/2006/main">
            <a:off x="6334125" y="359092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C03 · C04 · C11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다른 표현의 같은 의도와 같은 단어의 다른 의도를 구분한 검</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색 정답셋 비교</a:t>
            </a:r>
          </a:p>
        </p:txBody>
      </p:sp>
      <p:sp>
        <p:nvSpPr>
          <p:cNvPr id="14" name="">
            <a:extLst xmlns:a="http://schemas.openxmlformats.org/drawingml/2006/main">
              <a:ext uri="{FF2B5EF4-FFF2-40B4-BE49-F238E27FC236}">
                <a16:creationId xmlns:a16="http://schemas.microsoft.com/office/drawing/2014/main" id="{6041416F-6A02-4B26-AE8B-B6021396D4BD}"/>
              </a:ext>
            </a:extLst>
          </p:cNvPr>
          <p:cNvSpPr>
            <a:spLocks xmlns:a="http://schemas.openxmlformats.org/drawingml/2006/main" noGrp="1"/>
          </p:cNvSpPr>
          <p:nvPr/>
        </p:nvSpPr>
        <p:spPr>
          <a:xfrm xmlns:a="http://schemas.openxmlformats.org/drawingml/2006/main">
            <a:off x="571500" y="45910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6B376D8-3EF4-48F3-9506-4D0290A5E345}"/>
              </a:ext>
            </a:extLst>
          </p:cNvPr>
          <p:cNvSpPr>
            <a:spLocks xmlns:a="http://schemas.openxmlformats.org/drawingml/2006/main" noGrp="1"/>
          </p:cNvSpPr>
          <p:nvPr/>
        </p:nvSpPr>
        <p:spPr>
          <a:xfrm xmlns:a="http://schemas.openxmlformats.org/drawingml/2006/main">
            <a:off x="571500" y="46672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SFR-015 실시간 데이터 수집 및 검증</a:t>
            </a:r>
          </a:p>
        </p:txBody>
      </p:sp>
      <p:sp>
        <p:nvSpPr>
          <p:cNvPr id="16" name="">
            <a:extLst xmlns:a="http://schemas.openxmlformats.org/drawingml/2006/main">
              <a:ext uri="{FF2B5EF4-FFF2-40B4-BE49-F238E27FC236}">
                <a16:creationId xmlns:a16="http://schemas.microsoft.com/office/drawing/2014/main" id="{064C081B-D4EE-42A9-8684-2BB7737F5012}"/>
              </a:ext>
            </a:extLst>
          </p:cNvPr>
          <p:cNvSpPr>
            <a:spLocks xmlns:a="http://schemas.openxmlformats.org/drawingml/2006/main" noGrp="1"/>
          </p:cNvSpPr>
          <p:nvPr/>
        </p:nvSpPr>
        <p:spPr>
          <a:xfrm xmlns:a="http://schemas.openxmlformats.org/drawingml/2006/main">
            <a:off x="571500" y="504825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OGG 기반 원천 변경 수집과 데이터 검증을 통한 실시간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연계. 수집 이후 정합성 확인이 필요한 데이터 흐름.</a:t>
            </a:r>
          </a:p>
        </p:txBody>
      </p:sp>
      <p:sp>
        <p:nvSpPr>
          <p:cNvPr id="17" name="">
            <a:extLst xmlns:a="http://schemas.openxmlformats.org/drawingml/2006/main">
              <a:ext uri="{FF2B5EF4-FFF2-40B4-BE49-F238E27FC236}">
                <a16:creationId xmlns:a16="http://schemas.microsoft.com/office/drawing/2014/main" id="{4003EC0A-3355-4771-8E3A-C09093C0BFCC}"/>
              </a:ext>
            </a:extLst>
          </p:cNvPr>
          <p:cNvSpPr>
            <a:spLocks xmlns:a="http://schemas.openxmlformats.org/drawingml/2006/main" noGrp="1"/>
          </p:cNvSpPr>
          <p:nvPr/>
        </p:nvSpPr>
        <p:spPr>
          <a:xfrm xmlns:a="http://schemas.openxmlformats.org/drawingml/2006/main">
            <a:off x="6334125" y="504825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C09 · C10 · C11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삽입·수정·삭제·중단 후 재개 시 건수·키·시점 대사와 중복 적</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재 여부 확인</a:t>
            </a:r>
          </a:p>
        </p:txBody>
      </p:sp>
    </p:spTree>
    <p:extLst>
      <p:ext uri="{BB962C8B-B14F-4D97-AF65-F5344CB8AC3E}">
        <p14:creationId xmlns:p14="http://schemas.microsoft.com/office/powerpoint/2010/main" val="155991316"/>
      </p:ext>
    </p:extLst>
  </p:cSld>
</p:sld>
</file>

<file path=ppt/slides/slide11.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1900FD9-5EC7-4DEA-B766-CBFFD5007814}"/>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PF-R02 / 본공고 RFP · 사업계획·민원답변 작성지원·빈발중복민원 / 7–9</a:t>
            </a:r>
          </a:p>
        </p:txBody>
      </p:sp>
      <p:sp>
        <p:nvSpPr>
          <p:cNvPr id="2" name="">
            <a:extLst xmlns:a="http://schemas.openxmlformats.org/drawingml/2006/main">
              <a:ext uri="{FF2B5EF4-FFF2-40B4-BE49-F238E27FC236}">
                <a16:creationId xmlns:a16="http://schemas.microsoft.com/office/drawing/2014/main" id="{39EC7D37-C635-42A6-AFC9-17ADEFEE019D}"/>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국민권익위 민원 AI · RFP 요구사항</a:t>
            </a:r>
          </a:p>
        </p:txBody>
      </p:sp>
      <p:sp>
        <p:nvSpPr>
          <p:cNvPr id="3" name="">
            <a:extLst xmlns:a="http://schemas.openxmlformats.org/drawingml/2006/main">
              <a:ext uri="{FF2B5EF4-FFF2-40B4-BE49-F238E27FC236}">
                <a16:creationId xmlns:a16="http://schemas.microsoft.com/office/drawing/2014/main" id="{E1BA6B1A-9828-4845-B23F-EECFE6074A28}"/>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031ADA7-09F6-4478-BC00-B350F40DD5BB}"/>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2CA65911-4977-4B79-90F9-3C00DA6F45C1}"/>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11</a:t>
            </a:r>
          </a:p>
        </p:txBody>
      </p:sp>
      <p:sp>
        <p:nvSpPr>
          <p:cNvPr id="6" name="">
            <a:extLst xmlns:a="http://schemas.openxmlformats.org/drawingml/2006/main">
              <a:ext uri="{FF2B5EF4-FFF2-40B4-BE49-F238E27FC236}">
                <a16:creationId xmlns:a16="http://schemas.microsoft.com/office/drawing/2014/main" id="{A9D9C144-48E7-4484-A34A-E8CF8844EFD0}"/>
              </a:ext>
            </a:extLst>
          </p:cNvPr>
          <p:cNvSpPr>
            <a:spLocks xmlns:a="http://schemas.openxmlformats.org/drawingml/2006/main" noGrp="1"/>
          </p:cNvSpPr>
          <p:nvPr/>
        </p:nvSpPr>
        <p:spPr>
          <a:xfrm xmlns:a="http://schemas.openxmlformats.org/drawingml/2006/main">
            <a:off x="571500" y="167640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0E3F084-9220-4364-A166-448FE0695FB5}"/>
              </a:ext>
            </a:extLst>
          </p:cNvPr>
          <p:cNvSpPr>
            <a:spLocks xmlns:a="http://schemas.openxmlformats.org/drawingml/2006/main" noGrp="1"/>
          </p:cNvSpPr>
          <p:nvPr/>
        </p:nvSpPr>
        <p:spPr>
          <a:xfrm xmlns:a="http://schemas.openxmlformats.org/drawingml/2006/main">
            <a:off x="571500" y="1752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SFR-018 AI 기반 민원 자동 처리</a:t>
            </a:r>
          </a:p>
        </p:txBody>
      </p:sp>
      <p:sp>
        <p:nvSpPr>
          <p:cNvPr id="8" name="">
            <a:extLst xmlns:a="http://schemas.openxmlformats.org/drawingml/2006/main">
              <a:ext uri="{FF2B5EF4-FFF2-40B4-BE49-F238E27FC236}">
                <a16:creationId xmlns:a16="http://schemas.microsoft.com/office/drawing/2014/main" id="{E01F21DB-F84B-4729-8CE7-9DE546930FBE}"/>
              </a:ext>
            </a:extLst>
          </p:cNvPr>
          <p:cNvSpPr>
            <a:spLocks xmlns:a="http://schemas.openxmlformats.org/drawingml/2006/main" noGrp="1"/>
          </p:cNvSpPr>
          <p:nvPr/>
        </p:nvSpPr>
        <p:spPr>
          <a:xfrm xmlns:a="http://schemas.openxmlformats.org/drawingml/2006/main">
            <a:off x="571500" y="21336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AI 기반 민원 처리 지원에 담당자 검토·채택 결과를 연결</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하고 운영 개선에 활용하는 흐름.</a:t>
            </a:r>
          </a:p>
        </p:txBody>
      </p:sp>
      <p:sp>
        <p:nvSpPr>
          <p:cNvPr id="9" name="">
            <a:extLst xmlns:a="http://schemas.openxmlformats.org/drawingml/2006/main">
              <a:ext uri="{FF2B5EF4-FFF2-40B4-BE49-F238E27FC236}">
                <a16:creationId xmlns:a16="http://schemas.microsoft.com/office/drawing/2014/main" id="{7FEED3D0-0E30-4061-9CFC-A47BFF7B7AAB}"/>
              </a:ext>
            </a:extLst>
          </p:cNvPr>
          <p:cNvSpPr>
            <a:spLocks xmlns:a="http://schemas.openxmlformats.org/drawingml/2006/main" noGrp="1"/>
          </p:cNvSpPr>
          <p:nvPr/>
        </p:nvSpPr>
        <p:spPr>
          <a:xfrm xmlns:a="http://schemas.openxmlformats.org/drawingml/2006/main">
            <a:off x="6334125" y="213360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C04 · C06 · C08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추천과 확정 상태를 구분하고 수정·반려가 다음 처리 기록에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누락 없이 남는지 확인</a:t>
            </a:r>
          </a:p>
        </p:txBody>
      </p:sp>
      <p:sp>
        <p:nvSpPr>
          <p:cNvPr id="10" name="">
            <a:extLst xmlns:a="http://schemas.openxmlformats.org/drawingml/2006/main">
              <a:ext uri="{FF2B5EF4-FFF2-40B4-BE49-F238E27FC236}">
                <a16:creationId xmlns:a16="http://schemas.microsoft.com/office/drawing/2014/main" id="{BC943916-EAAD-4AD2-951C-F1172D02ED34}"/>
              </a:ext>
            </a:extLst>
          </p:cNvPr>
          <p:cNvSpPr>
            <a:spLocks xmlns:a="http://schemas.openxmlformats.org/drawingml/2006/main" noGrp="1"/>
          </p:cNvSpPr>
          <p:nvPr/>
        </p:nvSpPr>
        <p:spPr>
          <a:xfrm xmlns:a="http://schemas.openxmlformats.org/drawingml/2006/main">
            <a:off x="571500" y="3133725"/>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25CC803-E3C0-4302-A7C4-0CDF7305B217}"/>
              </a:ext>
            </a:extLst>
          </p:cNvPr>
          <p:cNvSpPr>
            <a:spLocks xmlns:a="http://schemas.openxmlformats.org/drawingml/2006/main" noGrp="1"/>
          </p:cNvSpPr>
          <p:nvPr/>
        </p:nvSpPr>
        <p:spPr>
          <a:xfrm xmlns:a="http://schemas.openxmlformats.org/drawingml/2006/main">
            <a:off x="571500" y="32099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SFR-019 API 통합 관리 및 성능 모니터링</a:t>
            </a:r>
          </a:p>
        </p:txBody>
      </p:sp>
      <p:sp>
        <p:nvSpPr>
          <p:cNvPr id="12" name="">
            <a:extLst xmlns:a="http://schemas.openxmlformats.org/drawingml/2006/main">
              <a:ext uri="{FF2B5EF4-FFF2-40B4-BE49-F238E27FC236}">
                <a16:creationId xmlns:a16="http://schemas.microsoft.com/office/drawing/2014/main" id="{5C26B21D-CF0B-480D-BCEA-5D9C48535566}"/>
              </a:ext>
            </a:extLst>
          </p:cNvPr>
          <p:cNvSpPr>
            <a:spLocks xmlns:a="http://schemas.openxmlformats.org/drawingml/2006/main" noGrp="1"/>
          </p:cNvSpPr>
          <p:nvPr/>
        </p:nvSpPr>
        <p:spPr>
          <a:xfrm xmlns:a="http://schemas.openxmlformats.org/drawingml/2006/main">
            <a:off x="571500" y="35909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API 통합 관리와 성능 모니터링을 통한 업무 모듈·기간계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연결 관리.</a:t>
            </a:r>
          </a:p>
        </p:txBody>
      </p:sp>
      <p:sp>
        <p:nvSpPr>
          <p:cNvPr id="13" name="">
            <a:extLst xmlns:a="http://schemas.openxmlformats.org/drawingml/2006/main">
              <a:ext uri="{FF2B5EF4-FFF2-40B4-BE49-F238E27FC236}">
                <a16:creationId xmlns:a16="http://schemas.microsoft.com/office/drawing/2014/main" id="{22CCA6FD-9338-4136-8C82-C7FAC799B916}"/>
              </a:ext>
            </a:extLst>
          </p:cNvPr>
          <p:cNvSpPr>
            <a:spLocks xmlns:a="http://schemas.openxmlformats.org/drawingml/2006/main" noGrp="1"/>
          </p:cNvSpPr>
          <p:nvPr/>
        </p:nvSpPr>
        <p:spPr>
          <a:xfrm xmlns:a="http://schemas.openxmlformats.org/drawingml/2006/main">
            <a:off x="6334125" y="359092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C02 · C07 · C08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호출 실패·시간초과·중복 요청을 주입하고 호출 경로별 원인</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과 처리 상태 추적</a:t>
            </a:r>
          </a:p>
        </p:txBody>
      </p:sp>
      <p:sp>
        <p:nvSpPr>
          <p:cNvPr id="14" name="">
            <a:extLst xmlns:a="http://schemas.openxmlformats.org/drawingml/2006/main">
              <a:ext uri="{FF2B5EF4-FFF2-40B4-BE49-F238E27FC236}">
                <a16:creationId xmlns:a16="http://schemas.microsoft.com/office/drawing/2014/main" id="{E7F9789D-AE2A-4F6B-B231-C529BD832967}"/>
              </a:ext>
            </a:extLst>
          </p:cNvPr>
          <p:cNvSpPr>
            <a:spLocks xmlns:a="http://schemas.openxmlformats.org/drawingml/2006/main" noGrp="1"/>
          </p:cNvSpPr>
          <p:nvPr/>
        </p:nvSpPr>
        <p:spPr>
          <a:xfrm xmlns:a="http://schemas.openxmlformats.org/drawingml/2006/main">
            <a:off x="571500" y="45910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2E5417D-1C31-4D41-BCD2-9A76D85418B7}"/>
              </a:ext>
            </a:extLst>
          </p:cNvPr>
          <p:cNvSpPr>
            <a:spLocks xmlns:a="http://schemas.openxmlformats.org/drawingml/2006/main" noGrp="1"/>
          </p:cNvSpPr>
          <p:nvPr/>
        </p:nvSpPr>
        <p:spPr>
          <a:xfrm xmlns:a="http://schemas.openxmlformats.org/drawingml/2006/main">
            <a:off x="571500" y="46672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SFR-020 시스템 설정 및 운영 모니터링 통합 관리</a:t>
            </a:r>
          </a:p>
        </p:txBody>
      </p:sp>
      <p:sp>
        <p:nvSpPr>
          <p:cNvPr id="16" name="">
            <a:extLst xmlns:a="http://schemas.openxmlformats.org/drawingml/2006/main">
              <a:ext uri="{FF2B5EF4-FFF2-40B4-BE49-F238E27FC236}">
                <a16:creationId xmlns:a16="http://schemas.microsoft.com/office/drawing/2014/main" id="{7D6196EA-7B26-48E2-856E-791A7DB424C1}"/>
              </a:ext>
            </a:extLst>
          </p:cNvPr>
          <p:cNvSpPr>
            <a:spLocks xmlns:a="http://schemas.openxmlformats.org/drawingml/2006/main" noGrp="1"/>
          </p:cNvSpPr>
          <p:nvPr/>
        </p:nvSpPr>
        <p:spPr>
          <a:xfrm xmlns:a="http://schemas.openxmlformats.org/drawingml/2006/main">
            <a:off x="571500" y="504825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시스템 설정과 운영 모니터링의 통합 관리. 업무 기능과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운영 정책의 일관된 상태 확인.</a:t>
            </a:r>
          </a:p>
        </p:txBody>
      </p:sp>
      <p:sp>
        <p:nvSpPr>
          <p:cNvPr id="17" name="">
            <a:extLst xmlns:a="http://schemas.openxmlformats.org/drawingml/2006/main">
              <a:ext uri="{FF2B5EF4-FFF2-40B4-BE49-F238E27FC236}">
                <a16:creationId xmlns:a16="http://schemas.microsoft.com/office/drawing/2014/main" id="{3663A5B8-1F8D-4C73-AA28-1155870EEDC4}"/>
              </a:ext>
            </a:extLst>
          </p:cNvPr>
          <p:cNvSpPr>
            <a:spLocks xmlns:a="http://schemas.openxmlformats.org/drawingml/2006/main" noGrp="1"/>
          </p:cNvSpPr>
          <p:nvPr/>
        </p:nvSpPr>
        <p:spPr>
          <a:xfrm xmlns:a="http://schemas.openxmlformats.org/drawingml/2006/main">
            <a:off x="6334125" y="504825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C08 · C12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설정 변경 권한, 변경 전후 상태, 장애 탐지·복구 기록의 연결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확인</a:t>
            </a:r>
          </a:p>
        </p:txBody>
      </p:sp>
    </p:spTree>
    <p:extLst>
      <p:ext uri="{BB962C8B-B14F-4D97-AF65-F5344CB8AC3E}">
        <p14:creationId xmlns:p14="http://schemas.microsoft.com/office/powerpoint/2010/main" val="10235022"/>
      </p:ext>
    </p:extLst>
  </p:cSld>
</p:sld>
</file>

<file path=ppt/slides/slide1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00C7848-2404-4CAC-A9B3-5FAF71A23F31}"/>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PF-R02 / RFP 목표시스템 개념도 / 원문 삽입도 추출</a:t>
            </a:r>
          </a:p>
        </p:txBody>
      </p:sp>
      <p:sp>
        <p:nvSpPr>
          <p:cNvPr id="2" name="">
            <a:extLst xmlns:a="http://schemas.openxmlformats.org/drawingml/2006/main">
              <a:ext uri="{FF2B5EF4-FFF2-40B4-BE49-F238E27FC236}">
                <a16:creationId xmlns:a16="http://schemas.microsoft.com/office/drawing/2014/main" id="{6CCACDB5-4CB9-4B88-83A4-4E35A234B79E}"/>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국민소통 플랫폼 목표시스템</a:t>
            </a:r>
          </a:p>
        </p:txBody>
      </p:sp>
      <p:sp>
        <p:nvSpPr>
          <p:cNvPr id="3" name="">
            <a:extLst xmlns:a="http://schemas.openxmlformats.org/drawingml/2006/main">
              <a:ext uri="{FF2B5EF4-FFF2-40B4-BE49-F238E27FC236}">
                <a16:creationId xmlns:a16="http://schemas.microsoft.com/office/drawing/2014/main" id="{72D99670-CE61-4810-A1C9-CE1C885123D7}"/>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971E2F0-7823-4571-A0F2-66FA4ADF2494}"/>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F18F2F9B-7029-46EF-8427-C256AB990A64}"/>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12</a:t>
            </a:r>
          </a:p>
        </p:txBody>
      </p:sp>
      <p:pic>
        <p:nvPicPr>
          <p:cNvPr id="6" name="">
            <a:extLst xmlns:a="http://schemas.openxmlformats.org/drawingml/2006/main">
              <a:ext uri="{FF2B5EF4-FFF2-40B4-BE49-F238E27FC236}">
                <a16:creationId xmlns:a16="http://schemas.microsoft.com/office/drawing/2014/main" id="{8B269388-229B-4083-9ADA-EFC3DFB0175C}"/>
              </a:ext>
            </a:extLst>
          </p:cNvPr>
          <p:cNvPicPr>
            <a:picLocks xmlns:a="http://schemas.openxmlformats.org/drawingml/2006/main" noChangeAspect="1"/>
          </p:cNvPicPr>
          <p:nvPr/>
        </p:nvPicPr>
        <p:blipFill>
          <a:blip xmlns:r="http://schemas.openxmlformats.org/officeDocument/2006/relationships" xmlns:a="http://schemas.openxmlformats.org/drawingml/2006/main" r:embed="Rf9a78a71ce6145fb"/>
          <a:stretch xmlns:a="http://schemas.openxmlformats.org/drawingml/2006/main"/>
        </p:blipFill>
        <p:spPr>
          <a:xfrm xmlns:a="http://schemas.openxmlformats.org/drawingml/2006/main">
            <a:off x="2067652" y="1657350"/>
            <a:ext cx="8056696"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13C1E8E-B9DF-4DDB-90BA-36FD984DA34A}"/>
              </a:ext>
            </a:extLst>
          </p:cNvPr>
          <p:cNvSpPr>
            <a:spLocks xmlns:a="http://schemas.openxmlformats.org/drawingml/2006/main" noGrp="1"/>
          </p:cNvSpPr>
          <p:nvPr/>
        </p:nvSpPr>
        <p:spPr>
          <a:xfrm xmlns:a="http://schemas.openxmlformats.org/drawingml/2006/main">
            <a:off x="571500" y="5915025"/>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접점·API Gateway·업무 모듈·데이터 처리·운영 관리</a:t>
            </a:r>
          </a:p>
        </p:txBody>
      </p:sp>
    </p:spTree>
    <p:extLst>
      <p:ext uri="{BB962C8B-B14F-4D97-AF65-F5344CB8AC3E}">
        <p14:creationId xmlns:p14="http://schemas.microsoft.com/office/powerpoint/2010/main" val="1327753357"/>
      </p:ext>
    </p:extLst>
  </p:cSld>
</p:sld>
</file>

<file path=ppt/slides/slide1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03212C6-84AF-44D4-95E9-194F4D4E602D}"/>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PF-R02 / RFP RAG 구성 예시 / 원문 삽입도 추출</a:t>
            </a:r>
          </a:p>
        </p:txBody>
      </p:sp>
      <p:sp>
        <p:nvSpPr>
          <p:cNvPr id="2" name="">
            <a:extLst xmlns:a="http://schemas.openxmlformats.org/drawingml/2006/main">
              <a:ext uri="{FF2B5EF4-FFF2-40B4-BE49-F238E27FC236}">
                <a16:creationId xmlns:a16="http://schemas.microsoft.com/office/drawing/2014/main" id="{502D5B23-511F-44D6-A70C-5E5F25BDD5B3}"/>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키워드·벡터 검색과 Reranker</a:t>
            </a:r>
          </a:p>
        </p:txBody>
      </p:sp>
      <p:sp>
        <p:nvSpPr>
          <p:cNvPr id="3" name="">
            <a:extLst xmlns:a="http://schemas.openxmlformats.org/drawingml/2006/main">
              <a:ext uri="{FF2B5EF4-FFF2-40B4-BE49-F238E27FC236}">
                <a16:creationId xmlns:a16="http://schemas.microsoft.com/office/drawing/2014/main" id="{8D668447-ED93-4D20-8A8C-83A09DFA9736}"/>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D7510C1-B2A0-41B6-BAFE-41A721F210F9}"/>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BA75C3DC-A2B4-4F8C-9D7E-FC3B8EB98BC4}"/>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13</a:t>
            </a:r>
          </a:p>
        </p:txBody>
      </p:sp>
      <p:pic>
        <p:nvPicPr>
          <p:cNvPr id="6" name="">
            <a:extLst xmlns:a="http://schemas.openxmlformats.org/drawingml/2006/main">
              <a:ext uri="{FF2B5EF4-FFF2-40B4-BE49-F238E27FC236}">
                <a16:creationId xmlns:a16="http://schemas.microsoft.com/office/drawing/2014/main" id="{BF415876-91DD-4D1E-BC16-652D2C4321EF}"/>
              </a:ext>
            </a:extLst>
          </p:cNvPr>
          <p:cNvPicPr>
            <a:picLocks xmlns:a="http://schemas.openxmlformats.org/drawingml/2006/main" noChangeAspect="1"/>
          </p:cNvPicPr>
          <p:nvPr/>
        </p:nvPicPr>
        <p:blipFill>
          <a:blip xmlns:r="http://schemas.openxmlformats.org/officeDocument/2006/relationships" xmlns:a="http://schemas.openxmlformats.org/drawingml/2006/main" r:embed="R1034a1a8ea844a78"/>
          <a:stretch xmlns:a="http://schemas.openxmlformats.org/drawingml/2006/main"/>
        </p:blipFill>
        <p:spPr>
          <a:xfrm xmlns:a="http://schemas.openxmlformats.org/drawingml/2006/main">
            <a:off x="1704611" y="1657350"/>
            <a:ext cx="8782779"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FA04ABC-2E95-43A6-92FC-0B8CF9E59CD6}"/>
              </a:ext>
            </a:extLst>
          </p:cNvPr>
          <p:cNvSpPr>
            <a:spLocks xmlns:a="http://schemas.openxmlformats.org/drawingml/2006/main" noGrp="1"/>
          </p:cNvSpPr>
          <p:nvPr/>
        </p:nvSpPr>
        <p:spPr>
          <a:xfrm xmlns:a="http://schemas.openxmlformats.org/drawingml/2006/main">
            <a:off x="571500" y="5915025"/>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키워드/벡터 검색 병렬 처리 → 재정렬 → 근거 응답</a:t>
            </a:r>
          </a:p>
        </p:txBody>
      </p:sp>
    </p:spTree>
    <p:extLst>
      <p:ext uri="{BB962C8B-B14F-4D97-AF65-F5344CB8AC3E}">
        <p14:creationId xmlns:p14="http://schemas.microsoft.com/office/powerpoint/2010/main" val="344049846"/>
      </p:ext>
    </p:extLst>
  </p:cSld>
</p:sld>
</file>

<file path=ppt/slides/slide1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C72F7A0-3A1E-4843-99F5-5AD785DC7D4B}"/>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PF-R02 / RFP 데이터 흐름도 / 원문 삽입도 추출</a:t>
            </a:r>
          </a:p>
        </p:txBody>
      </p:sp>
      <p:sp>
        <p:nvSpPr>
          <p:cNvPr id="2" name="">
            <a:extLst xmlns:a="http://schemas.openxmlformats.org/drawingml/2006/main">
              <a:ext uri="{FF2B5EF4-FFF2-40B4-BE49-F238E27FC236}">
                <a16:creationId xmlns:a16="http://schemas.microsoft.com/office/drawing/2014/main" id="{7992DBD8-15CF-4A4F-AC3D-2702A712A9D7}"/>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민원 AI 입출력 데이터</a:t>
            </a:r>
          </a:p>
        </p:txBody>
      </p:sp>
      <p:sp>
        <p:nvSpPr>
          <p:cNvPr id="3" name="">
            <a:extLst xmlns:a="http://schemas.openxmlformats.org/drawingml/2006/main">
              <a:ext uri="{FF2B5EF4-FFF2-40B4-BE49-F238E27FC236}">
                <a16:creationId xmlns:a16="http://schemas.microsoft.com/office/drawing/2014/main" id="{8AAAC610-7A1E-4F0C-9341-BE1278F3ED0A}"/>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42DE8BA-C600-407D-9E4E-0D17321AEB72}"/>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C9FF235C-0FAF-4E52-AA12-188A9E197B6E}"/>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14</a:t>
            </a:r>
          </a:p>
        </p:txBody>
      </p:sp>
      <p:pic>
        <p:nvPicPr>
          <p:cNvPr id="6" name="">
            <a:extLst xmlns:a="http://schemas.openxmlformats.org/drawingml/2006/main">
              <a:ext uri="{FF2B5EF4-FFF2-40B4-BE49-F238E27FC236}">
                <a16:creationId xmlns:a16="http://schemas.microsoft.com/office/drawing/2014/main" id="{F30909B0-5CC2-4B99-ABB1-0742F4F9582C}"/>
              </a:ext>
            </a:extLst>
          </p:cNvPr>
          <p:cNvPicPr>
            <a:picLocks xmlns:a="http://schemas.openxmlformats.org/drawingml/2006/main" noChangeAspect="1"/>
          </p:cNvPicPr>
          <p:nvPr/>
        </p:nvPicPr>
        <p:blipFill>
          <a:blip xmlns:r="http://schemas.openxmlformats.org/officeDocument/2006/relationships" xmlns:a="http://schemas.openxmlformats.org/drawingml/2006/main" r:embed="Rd4e139b3c7844b31"/>
          <a:stretch xmlns:a="http://schemas.openxmlformats.org/drawingml/2006/main"/>
        </p:blipFill>
        <p:spPr>
          <a:xfrm xmlns:a="http://schemas.openxmlformats.org/drawingml/2006/main">
            <a:off x="1033420" y="1657350"/>
            <a:ext cx="10125159"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D4F0022-F3DA-441C-B847-1F5F514B9B11}"/>
              </a:ext>
            </a:extLst>
          </p:cNvPr>
          <p:cNvSpPr>
            <a:spLocks xmlns:a="http://schemas.openxmlformats.org/drawingml/2006/main" noGrp="1"/>
          </p:cNvSpPr>
          <p:nvPr/>
        </p:nvSpPr>
        <p:spPr>
          <a:xfrm xmlns:a="http://schemas.openxmlformats.org/drawingml/2006/main">
            <a:off x="571500" y="5915025"/>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국민신문고·시범기관 매뉴얼 → 전처리·RAG → 답변·유사도</a:t>
            </a:r>
          </a:p>
        </p:txBody>
      </p:sp>
    </p:spTree>
    <p:extLst>
      <p:ext uri="{BB962C8B-B14F-4D97-AF65-F5344CB8AC3E}">
        <p14:creationId xmlns:p14="http://schemas.microsoft.com/office/powerpoint/2010/main" val="331520400"/>
      </p:ext>
    </p:extLst>
  </p:cSld>
</p:sld>
</file>

<file path=ppt/slides/slide1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0C1670F-133A-4D02-8E59-051990D1B056}"/>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PF-R02 / RFP 데이터 처리 구조 / 원문 삽입도 추출</a:t>
            </a:r>
          </a:p>
        </p:txBody>
      </p:sp>
      <p:sp>
        <p:nvSpPr>
          <p:cNvPr id="2" name="">
            <a:extLst xmlns:a="http://schemas.openxmlformats.org/drawingml/2006/main">
              <a:ext uri="{FF2B5EF4-FFF2-40B4-BE49-F238E27FC236}">
                <a16:creationId xmlns:a16="http://schemas.microsoft.com/office/drawing/2014/main" id="{C0840595-83E0-4AEC-9B8F-D6074DA86835}"/>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데이터 구축·학습·운영 흐름</a:t>
            </a:r>
          </a:p>
        </p:txBody>
      </p:sp>
      <p:sp>
        <p:nvSpPr>
          <p:cNvPr id="3" name="">
            <a:extLst xmlns:a="http://schemas.openxmlformats.org/drawingml/2006/main">
              <a:ext uri="{FF2B5EF4-FFF2-40B4-BE49-F238E27FC236}">
                <a16:creationId xmlns:a16="http://schemas.microsoft.com/office/drawing/2014/main" id="{BFC38D22-1ECE-4229-BB8F-841204F28FA0}"/>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9B986B5-4D81-4B27-AC4F-ECB7E4C537BF}"/>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AAF638CC-6E22-49B1-AAE0-DA81F980F840}"/>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15</a:t>
            </a:r>
          </a:p>
        </p:txBody>
      </p:sp>
      <p:pic>
        <p:nvPicPr>
          <p:cNvPr id="6" name="">
            <a:extLst xmlns:a="http://schemas.openxmlformats.org/drawingml/2006/main">
              <a:ext uri="{FF2B5EF4-FFF2-40B4-BE49-F238E27FC236}">
                <a16:creationId xmlns:a16="http://schemas.microsoft.com/office/drawing/2014/main" id="{698CF7E0-E3D2-40D7-8AE2-9281CA27E2AA}"/>
              </a:ext>
            </a:extLst>
          </p:cNvPr>
          <p:cNvPicPr>
            <a:picLocks xmlns:a="http://schemas.openxmlformats.org/drawingml/2006/main" noChangeAspect="1"/>
          </p:cNvPicPr>
          <p:nvPr/>
        </p:nvPicPr>
        <p:blipFill>
          <a:blip xmlns:r="http://schemas.openxmlformats.org/officeDocument/2006/relationships" xmlns:a="http://schemas.openxmlformats.org/drawingml/2006/main" r:embed="Rca566a1a502846bd"/>
          <a:stretch xmlns:a="http://schemas.openxmlformats.org/drawingml/2006/main"/>
        </p:blipFill>
        <p:spPr>
          <a:xfrm xmlns:a="http://schemas.openxmlformats.org/drawingml/2006/main">
            <a:off x="1406071" y="1657350"/>
            <a:ext cx="9379857"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4059376-A456-4AD7-B857-A2C9AA781796}"/>
              </a:ext>
            </a:extLst>
          </p:cNvPr>
          <p:cNvSpPr>
            <a:spLocks xmlns:a="http://schemas.openxmlformats.org/drawingml/2006/main" noGrp="1"/>
          </p:cNvSpPr>
          <p:nvPr/>
        </p:nvSpPr>
        <p:spPr>
          <a:xfrm xmlns:a="http://schemas.openxmlformats.org/drawingml/2006/main">
            <a:off x="571500" y="5915025"/>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수집·정제·가공·학습·운영의 환류</a:t>
            </a:r>
          </a:p>
        </p:txBody>
      </p:sp>
    </p:spTree>
    <p:extLst>
      <p:ext uri="{BB962C8B-B14F-4D97-AF65-F5344CB8AC3E}">
        <p14:creationId xmlns:p14="http://schemas.microsoft.com/office/powerpoint/2010/main" val="537509454"/>
      </p:ext>
    </p:extLst>
  </p:cSld>
</p:sld>
</file>

<file path=ppt/slides/slide16.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88C81694-E685-4452-8A8C-A4813FBEFD79}"/>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076DA5BB-F956-4CCD-8573-45F8D369A41F}"/>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F7D77870-CCC6-4ACC-A4DE-3E1DDA55FC79}"/>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27F62FA0-2500-44C1-8C5E-5FC3D42F9E02}"/>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7E503461-AB0A-4964-9513-FF6726CA782A}"/>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68267F23-C7E3-4034-BA8D-C6B8DF18957A}"/>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6901E9BC-7C42-4872-9E14-8E032EDF408F}"/>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209B2833-2157-4F8C-91F1-288667B5CADD}"/>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C8D85E22-5AB8-44C3-A0C8-65D4E489E4A1}"/>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2D50E6AC-B735-4AF2-81EE-120F1DC87E51}"/>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PF-R02 / CCK 세부 재구성 · 논리 서비스 설계</a:t>
            </a:r>
          </a:p>
        </p:txBody>
      </p:sp>
      <p:sp>
        <p:nvSpPr>
          <p:cNvPr id="2" name="">
            <a:extLst xmlns:a="http://schemas.openxmlformats.org/drawingml/2006/main">
              <a:ext uri="{FF2B5EF4-FFF2-40B4-BE49-F238E27FC236}">
                <a16:creationId xmlns:a16="http://schemas.microsoft.com/office/drawing/2014/main" id="{91960FD5-DC61-4775-B53D-A959EB0714B6}"/>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국민권익위 민원 AI · 세부 서비스 구조</a:t>
            </a:r>
          </a:p>
        </p:txBody>
      </p:sp>
      <p:sp>
        <p:nvSpPr>
          <p:cNvPr id="3" name="">
            <a:extLst xmlns:a="http://schemas.openxmlformats.org/drawingml/2006/main">
              <a:ext uri="{FF2B5EF4-FFF2-40B4-BE49-F238E27FC236}">
                <a16:creationId xmlns:a16="http://schemas.microsoft.com/office/drawing/2014/main" id="{956A7A75-C59D-4821-B97A-D2B845B5DD34}"/>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E3E8BFF-44BF-44AC-900A-1CE4BAA59021}"/>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8864131F-479F-400E-ABF8-99A8CE5B1A5D}"/>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16</a:t>
            </a:r>
          </a:p>
        </p:txBody>
      </p:sp>
      <p:sp>
        <p:nvSpPr>
          <p:cNvPr id="6" name="">
            <a:extLst xmlns:a="http://schemas.openxmlformats.org/drawingml/2006/main">
              <a:ext uri="{FF2B5EF4-FFF2-40B4-BE49-F238E27FC236}">
                <a16:creationId xmlns:a16="http://schemas.microsoft.com/office/drawing/2014/main" id="{CC155366-27B4-4823-8DD6-BF313974B766}"/>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목표시스템 개념도·RAG 구성 예시</a:t>
            </a:r>
          </a:p>
        </p:txBody>
      </p:sp>
      <p:sp>
        <p:nvSpPr>
          <p:cNvPr id="7" name="">
            <a:extLst xmlns:a="http://schemas.openxmlformats.org/drawingml/2006/main">
              <a:ext uri="{FF2B5EF4-FFF2-40B4-BE49-F238E27FC236}">
                <a16:creationId xmlns:a16="http://schemas.microsoft.com/office/drawing/2014/main" id="{734E9BFD-53CA-4372-BF2F-8B5C49DEF1A2}"/>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1C6BACDF-6B6D-49B9-9251-7A7485C499C8}"/>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38619019-46D5-45DC-8B63-768299F66E93}"/>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국민신문고 접점</a:t>
            </a:r>
          </a:p>
        </p:txBody>
      </p:sp>
      <p:sp>
        <p:nvSpPr>
          <p:cNvPr id="10" name="">
            <a:extLst xmlns:a="http://schemas.openxmlformats.org/drawingml/2006/main">
              <a:ext uri="{FF2B5EF4-FFF2-40B4-BE49-F238E27FC236}">
                <a16:creationId xmlns:a16="http://schemas.microsoft.com/office/drawing/2014/main" id="{462E6726-F8B9-4622-BADB-1E6CF31E02FC}"/>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055B4F54-434D-4C38-BB3A-2494022CC2E9}"/>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E5B03C27-3E4B-403C-B16C-7BB3C15E51EA}"/>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요지·기관·유형</a:t>
            </a:r>
          </a:p>
        </p:txBody>
      </p:sp>
      <p:sp>
        <p:nvSpPr>
          <p:cNvPr id="13" name="">
            <a:extLst xmlns:a="http://schemas.openxmlformats.org/drawingml/2006/main">
              <a:ext uri="{FF2B5EF4-FFF2-40B4-BE49-F238E27FC236}">
                <a16:creationId xmlns:a16="http://schemas.microsoft.com/office/drawing/2014/main" id="{A1203EDE-4459-4FE3-9FA5-0AFC3DFDD144}"/>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934DC421-795E-4E39-8B56-1D4CFD29E748}"/>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6AABEBE7-C64A-480E-94EE-455C8302A1AE}"/>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키워드·벡터 검색</a:t>
            </a:r>
          </a:p>
        </p:txBody>
      </p:sp>
      <p:sp>
        <p:nvSpPr>
          <p:cNvPr id="16" name="">
            <a:extLst xmlns:a="http://schemas.openxmlformats.org/drawingml/2006/main">
              <a:ext uri="{FF2B5EF4-FFF2-40B4-BE49-F238E27FC236}">
                <a16:creationId xmlns:a16="http://schemas.microsoft.com/office/drawing/2014/main" id="{599CD207-95C2-4443-9108-C9F6BD319AE7}"/>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E2A8831C-4763-44A4-85F0-5BC64970F811}"/>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03780D26-82A7-4D3A-B2C2-AB4E3A5E04CC}"/>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재정렬·답변·군집</a:t>
            </a:r>
          </a:p>
        </p:txBody>
      </p:sp>
      <p:sp>
        <p:nvSpPr>
          <p:cNvPr id="19" name="">
            <a:extLst xmlns:a="http://schemas.openxmlformats.org/drawingml/2006/main">
              <a:ext uri="{FF2B5EF4-FFF2-40B4-BE49-F238E27FC236}">
                <a16:creationId xmlns:a16="http://schemas.microsoft.com/office/drawing/2014/main" id="{3A623CE5-E02B-4DA5-8914-1942CBF95EBC}"/>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0010EEAF-2B4D-42EE-867F-6FA5481243B5}"/>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88C272BD-8F85-48D8-918A-CC96050737B8}"/>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동일 사건 대조</a:t>
            </a:r>
          </a:p>
        </p:txBody>
      </p:sp>
      <p:sp>
        <p:nvSpPr>
          <p:cNvPr id="22" name="">
            <a:extLst xmlns:a="http://schemas.openxmlformats.org/drawingml/2006/main">
              <a:ext uri="{FF2B5EF4-FFF2-40B4-BE49-F238E27FC236}">
                <a16:creationId xmlns:a16="http://schemas.microsoft.com/office/drawing/2014/main" id="{8CDEF39B-ED5C-46AA-8659-9157948AEA6A}"/>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20421925-4625-4811-A028-17BD617120F9}"/>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09477704-9C3B-4DCE-B503-736EDCA041C9}"/>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담당자 수정</a:t>
            </a:r>
          </a:p>
        </p:txBody>
      </p:sp>
      <p:sp>
        <p:nvSpPr>
          <p:cNvPr id="25" name="">
            <a:extLst xmlns:a="http://schemas.openxmlformats.org/drawingml/2006/main">
              <a:ext uri="{FF2B5EF4-FFF2-40B4-BE49-F238E27FC236}">
                <a16:creationId xmlns:a16="http://schemas.microsoft.com/office/drawing/2014/main" id="{95B26F7D-9A44-4323-BE57-49790276FD19}"/>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97357881-D3F0-4FA6-B102-143771917400}"/>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836A5AC2-232D-4E2F-AC60-3FC77DEA64BD}"/>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민원 처리·분석</a:t>
            </a:r>
          </a:p>
        </p:txBody>
      </p:sp>
      <p:sp>
        <p:nvSpPr>
          <p:cNvPr id="28" name="">
            <a:extLst xmlns:a="http://schemas.openxmlformats.org/drawingml/2006/main">
              <a:ext uri="{FF2B5EF4-FFF2-40B4-BE49-F238E27FC236}">
                <a16:creationId xmlns:a16="http://schemas.microsoft.com/office/drawing/2014/main" id="{45848F4C-5DAB-41F7-B7E9-2C7DAD3250DC}"/>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D45E754A-E291-4906-A0AA-C72709C583BA}"/>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72D2997B-B10A-484D-8F70-9FC5B304A79B}"/>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오답·병합 오류</a:t>
            </a:r>
          </a:p>
        </p:txBody>
      </p:sp>
      <p:sp>
        <p:nvSpPr>
          <p:cNvPr id="31" name="">
            <a:extLst xmlns:a="http://schemas.openxmlformats.org/drawingml/2006/main">
              <a:ext uri="{FF2B5EF4-FFF2-40B4-BE49-F238E27FC236}">
                <a16:creationId xmlns:a16="http://schemas.microsoft.com/office/drawing/2014/main" id="{E9F63EAD-464B-4BC2-BDE9-BEDEC59F9A5A}"/>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A325ABBC-F64E-4B18-86F0-45CE8BB3BF1D}"/>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8A711930-5773-4C15-8051-508C2C5F50D9}"/>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민원·답변·지침</a:t>
            </a:r>
          </a:p>
        </p:txBody>
      </p:sp>
      <p:sp>
        <p:nvSpPr>
          <p:cNvPr id="34" name="">
            <a:extLst xmlns:a="http://schemas.openxmlformats.org/drawingml/2006/main">
              <a:ext uri="{FF2B5EF4-FFF2-40B4-BE49-F238E27FC236}">
                <a16:creationId xmlns:a16="http://schemas.microsoft.com/office/drawing/2014/main" id="{1E03ED06-A49C-42C6-B869-621D6246562D}"/>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281DF81F-7E11-479D-BFFF-C70AA94E2EBA}"/>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BE808CAB-CD2A-46FF-80A0-D16DC98256FC}"/>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OCR·메타정보 추출</a:t>
            </a:r>
          </a:p>
        </p:txBody>
      </p:sp>
      <p:sp>
        <p:nvSpPr>
          <p:cNvPr id="37" name="">
            <a:extLst xmlns:a="http://schemas.openxmlformats.org/drawingml/2006/main">
              <a:ext uri="{FF2B5EF4-FFF2-40B4-BE49-F238E27FC236}">
                <a16:creationId xmlns:a16="http://schemas.microsoft.com/office/drawing/2014/main" id="{FEB7E672-0A13-457D-991B-B66C0EE02596}"/>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C12E5EB0-DFA3-448B-8D2B-AF2066F10B3C}"/>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6B559595-2C9E-4FD8-BA5A-569905C4DFC3}"/>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지식 DB·색인</a:t>
            </a:r>
          </a:p>
        </p:txBody>
      </p:sp>
      <p:sp>
        <p:nvSpPr>
          <p:cNvPr id="40" name="">
            <a:extLst xmlns:a="http://schemas.openxmlformats.org/drawingml/2006/main">
              <a:ext uri="{FF2B5EF4-FFF2-40B4-BE49-F238E27FC236}">
                <a16:creationId xmlns:a16="http://schemas.microsoft.com/office/drawing/2014/main" id="{70A28776-9BAA-400D-834A-E9786364F57A}"/>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3D20963B-8853-49DA-8FD3-060D2F6B8E86}"/>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0CECF0CD-A60D-4B76-9CE5-32B6E6F7A54E}"/>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모델·프롬프트 관리</a:t>
            </a:r>
          </a:p>
        </p:txBody>
      </p:sp>
      <p:sp>
        <p:nvSpPr>
          <p:cNvPr id="52" name="">
            <a:extLst xmlns:a="http://schemas.openxmlformats.org/drawingml/2006/main">
              <a:ext uri="{FF2B5EF4-FFF2-40B4-BE49-F238E27FC236}">
                <a16:creationId xmlns:a16="http://schemas.microsoft.com/office/drawing/2014/main" id="{100F5A8C-89A2-4F69-BF1B-0652BAE009BF}"/>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457898056"/>
      </p:ext>
    </p:extLst>
  </p:cSld>
</p:sld>
</file>

<file path=ppt/slides/slide17.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56346BBE-5DC0-4915-AE81-DFC53517F746}"/>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PF-R02 / 논리 인터페이스·복구 설계</a:t>
            </a:r>
          </a:p>
        </p:txBody>
      </p:sp>
      <p:sp>
        <p:nvSpPr>
          <p:cNvPr id="2" name="">
            <a:extLst xmlns:a="http://schemas.openxmlformats.org/drawingml/2006/main">
              <a:ext uri="{FF2B5EF4-FFF2-40B4-BE49-F238E27FC236}">
                <a16:creationId xmlns:a16="http://schemas.microsoft.com/office/drawing/2014/main" id="{D9C8087A-C122-4A1B-A9CE-7FCD56846F1B}"/>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국민권익위 민원 AI · 데이터와 예외 처리</a:t>
            </a:r>
          </a:p>
        </p:txBody>
      </p:sp>
      <p:sp>
        <p:nvSpPr>
          <p:cNvPr id="3" name="">
            <a:extLst xmlns:a="http://schemas.openxmlformats.org/drawingml/2006/main">
              <a:ext uri="{FF2B5EF4-FFF2-40B4-BE49-F238E27FC236}">
                <a16:creationId xmlns:a16="http://schemas.microsoft.com/office/drawing/2014/main" id="{75F575B0-9A6A-4C59-A390-BB60321A7AB7}"/>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DCCF4E6-2D5C-4393-AF3E-EE949B3392F0}"/>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77990C43-2CE6-42FB-AF1C-36A581ABEC01}"/>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17</a:t>
            </a:r>
          </a:p>
        </p:txBody>
      </p:sp>
      <p:sp>
        <p:nvSpPr>
          <p:cNvPr id="6" name="">
            <a:extLst xmlns:a="http://schemas.openxmlformats.org/drawingml/2006/main">
              <a:ext uri="{FF2B5EF4-FFF2-40B4-BE49-F238E27FC236}">
                <a16:creationId xmlns:a16="http://schemas.microsoft.com/office/drawing/2014/main" id="{AF08D4B6-8A0E-4E3D-A30A-89FC6F4C5C7D}"/>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8B59E4AF-D936-406E-A6CA-DDA7131B5271}"/>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C2DA7FFC-592D-4FBA-8E86-796E86E0F0D7}"/>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48669C2C-C58B-46C2-A116-CA52D904E092}"/>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민원요지·유형·처리기관 문맥 구성</a:t>
            </a:r>
          </a:p>
        </p:txBody>
      </p:sp>
      <p:sp>
        <p:nvSpPr>
          <p:cNvPr id="10" name="">
            <a:extLst xmlns:a="http://schemas.openxmlformats.org/drawingml/2006/main">
              <a:ext uri="{FF2B5EF4-FFF2-40B4-BE49-F238E27FC236}">
                <a16:creationId xmlns:a16="http://schemas.microsoft.com/office/drawing/2014/main" id="{20427820-C81A-4CDC-8722-EF40DF3EC5C4}"/>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CCC46B4-FC62-4E79-9C32-D3438FFEEF0D}"/>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1CD4C0C7-C5F8-422C-8B77-0DB406725E63}"/>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민원 본문</a:t>
            </a:r>
          </a:p>
        </p:txBody>
      </p:sp>
      <p:sp>
        <p:nvSpPr>
          <p:cNvPr id="13" name="">
            <a:extLst xmlns:a="http://schemas.openxmlformats.org/drawingml/2006/main">
              <a:ext uri="{FF2B5EF4-FFF2-40B4-BE49-F238E27FC236}">
                <a16:creationId xmlns:a16="http://schemas.microsoft.com/office/drawing/2014/main" id="{DF154813-6CEE-482E-BAC8-926475C29358}"/>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79314B4-E0E0-40F7-BC6B-CEFD90A7A170}"/>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5AF82AF0-1278-45CC-A075-4630BB90B93F}"/>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유사 사건</a:t>
            </a:r>
          </a:p>
        </p:txBody>
      </p:sp>
      <p:sp>
        <p:nvSpPr>
          <p:cNvPr id="16" name="">
            <a:extLst xmlns:a="http://schemas.openxmlformats.org/drawingml/2006/main">
              <a:ext uri="{FF2B5EF4-FFF2-40B4-BE49-F238E27FC236}">
                <a16:creationId xmlns:a16="http://schemas.microsoft.com/office/drawing/2014/main" id="{AD3DE29F-EBC7-4D51-98FC-0AE710B62B1F}"/>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3AA7BCA-3D31-43D7-BA43-FE873BA25664}"/>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D567D5B4-4170-4EE8-8081-9E3CE2941706}"/>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답변 초안·유사군 후보·근거 문서</a:t>
            </a:r>
          </a:p>
        </p:txBody>
      </p:sp>
      <p:sp>
        <p:nvSpPr>
          <p:cNvPr id="19" name="">
            <a:extLst xmlns:a="http://schemas.openxmlformats.org/drawingml/2006/main">
              <a:ext uri="{FF2B5EF4-FFF2-40B4-BE49-F238E27FC236}">
                <a16:creationId xmlns:a16="http://schemas.microsoft.com/office/drawing/2014/main" id="{88A91378-27D1-46EB-94C2-787F84715103}"/>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72CD06E-B7CF-4833-9BC9-BF9FCD8DD9F8}"/>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555F5378-1E86-479F-9797-3CD3B4442590}"/>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추천 답변</a:t>
            </a:r>
          </a:p>
        </p:txBody>
      </p:sp>
      <p:sp>
        <p:nvSpPr>
          <p:cNvPr id="22" name="">
            <a:extLst xmlns:a="http://schemas.openxmlformats.org/drawingml/2006/main">
              <a:ext uri="{FF2B5EF4-FFF2-40B4-BE49-F238E27FC236}">
                <a16:creationId xmlns:a16="http://schemas.microsoft.com/office/drawing/2014/main" id="{04F63EA2-E198-4A89-B2B9-14DD5AACCC7B}"/>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BB987AD-B30D-4959-AD0E-5CB029F74DDC}"/>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0768CD76-BBCB-4DCC-9308-41FB6FB91361}"/>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수정·회신</a:t>
            </a:r>
          </a:p>
        </p:txBody>
      </p:sp>
      <p:sp>
        <p:nvSpPr>
          <p:cNvPr id="25" name="">
            <a:extLst xmlns:a="http://schemas.openxmlformats.org/drawingml/2006/main">
              <a:ext uri="{FF2B5EF4-FFF2-40B4-BE49-F238E27FC236}">
                <a16:creationId xmlns:a16="http://schemas.microsoft.com/office/drawing/2014/main" id="{2D4A397F-82D7-4B7B-B65E-948DA9F327A8}"/>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AF77F6AA-681C-4DFF-ADE4-81A198219261}"/>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표현이 같은 다른 사건·소관기관 차이·반대 취지</a:t>
            </a:r>
          </a:p>
        </p:txBody>
      </p:sp>
      <p:sp>
        <p:nvSpPr>
          <p:cNvPr id="27" name="">
            <a:extLst xmlns:a="http://schemas.openxmlformats.org/drawingml/2006/main">
              <a:ext uri="{FF2B5EF4-FFF2-40B4-BE49-F238E27FC236}">
                <a16:creationId xmlns:a16="http://schemas.microsoft.com/office/drawing/2014/main" id="{7568C095-6429-4525-89D4-17D001DB24A3}"/>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BD4CA698-61D6-42AD-BE74-1FAA514491F4}"/>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동일 사건 여부·개인정보 범위 검토</a:t>
            </a:r>
          </a:p>
        </p:txBody>
      </p:sp>
      <p:sp>
        <p:nvSpPr>
          <p:cNvPr id="29" name="">
            <a:extLst xmlns:a="http://schemas.openxmlformats.org/drawingml/2006/main">
              <a:ext uri="{FF2B5EF4-FFF2-40B4-BE49-F238E27FC236}">
                <a16:creationId xmlns:a16="http://schemas.microsoft.com/office/drawing/2014/main" id="{1E20888C-E1C6-4375-96EC-B341C4A58566}"/>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E69F1057-4C11-4712-9E93-FF10C9B41372}"/>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기관별 답변 적합성과 병합 오류 분석</a:t>
            </a:r>
          </a:p>
        </p:txBody>
      </p:sp>
      <p:sp>
        <p:nvSpPr>
          <p:cNvPr id="31" name="">
            <a:extLst xmlns:a="http://schemas.openxmlformats.org/drawingml/2006/main">
              <a:ext uri="{FF2B5EF4-FFF2-40B4-BE49-F238E27FC236}">
                <a16:creationId xmlns:a16="http://schemas.microsoft.com/office/drawing/2014/main" id="{DCCEBB4D-1EF2-482F-9206-C7DCFE716ED0}"/>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99C5CC33-837C-437F-AD3D-C7A464166712}"/>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군집 정답표·잘못된 병합 건·담당자 수정 이력</a:t>
            </a:r>
          </a:p>
        </p:txBody>
      </p:sp>
    </p:spTree>
    <p:extLst>
      <p:ext uri="{BB962C8B-B14F-4D97-AF65-F5344CB8AC3E}">
        <p14:creationId xmlns:p14="http://schemas.microsoft.com/office/powerpoint/2010/main" val="824216111"/>
      </p:ext>
    </p:extLst>
  </p:cSld>
</p:sld>
</file>

<file path=ppt/slides/slide18.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449E9AE-1EA1-4789-B9A9-D834AC9FF12E}"/>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PF-R02 / CCK 비교·재현 시험 설계</a:t>
            </a:r>
          </a:p>
        </p:txBody>
      </p:sp>
      <p:sp>
        <p:nvSpPr>
          <p:cNvPr id="2" name="">
            <a:extLst xmlns:a="http://schemas.openxmlformats.org/drawingml/2006/main">
              <a:ext uri="{FF2B5EF4-FFF2-40B4-BE49-F238E27FC236}">
                <a16:creationId xmlns:a16="http://schemas.microsoft.com/office/drawing/2014/main" id="{A5DE3B5A-DFF8-4DAA-A412-07BA7ADF1C85}"/>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국민권익위 민원 AI · 벤치마킹</a:t>
            </a:r>
          </a:p>
        </p:txBody>
      </p:sp>
      <p:sp>
        <p:nvSpPr>
          <p:cNvPr id="3" name="">
            <a:extLst xmlns:a="http://schemas.openxmlformats.org/drawingml/2006/main">
              <a:ext uri="{FF2B5EF4-FFF2-40B4-BE49-F238E27FC236}">
                <a16:creationId xmlns:a16="http://schemas.microsoft.com/office/drawing/2014/main" id="{04667F03-CCF5-40F7-8F73-7CDC06F2D68E}"/>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FA23926-C0C6-40CE-976B-42447E74D41D}"/>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B604959E-40E8-42B3-9255-58DBEFEFAACE}"/>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18</a:t>
            </a:r>
          </a:p>
        </p:txBody>
      </p:sp>
      <p:sp>
        <p:nvSpPr>
          <p:cNvPr id="6" name="">
            <a:extLst xmlns:a="http://schemas.openxmlformats.org/drawingml/2006/main">
              <a:ext uri="{FF2B5EF4-FFF2-40B4-BE49-F238E27FC236}">
                <a16:creationId xmlns:a16="http://schemas.microsoft.com/office/drawing/2014/main" id="{3612B54D-8DB9-4A4D-8C69-9EC00352C5CC}"/>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CAC1E4F5-E209-4DA3-8430-DB23352664C6}"/>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유사민원과 답변 추천 결합</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현업 수정을 반영한 활용</a:t>
            </a:r>
          </a:p>
        </p:txBody>
      </p:sp>
      <p:sp>
        <p:nvSpPr>
          <p:cNvPr id="8" name="">
            <a:extLst xmlns:a="http://schemas.openxmlformats.org/drawingml/2006/main">
              <a:ext uri="{FF2B5EF4-FFF2-40B4-BE49-F238E27FC236}">
                <a16:creationId xmlns:a16="http://schemas.microsoft.com/office/drawing/2014/main" id="{BE7A99DF-831D-4490-84A7-6223DE4257BB}"/>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51A3E3A1-F9DF-4C27-B987-B4C8AC20E608}"/>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다른 사건의 무리한 병합</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답변 추천을 공식 회신으로 오인</a:t>
            </a:r>
          </a:p>
        </p:txBody>
      </p:sp>
      <p:sp>
        <p:nvSpPr>
          <p:cNvPr id="10" name="">
            <a:extLst xmlns:a="http://schemas.openxmlformats.org/drawingml/2006/main">
              <a:ext uri="{FF2B5EF4-FFF2-40B4-BE49-F238E27FC236}">
                <a16:creationId xmlns:a16="http://schemas.microsoft.com/office/drawing/2014/main" id="{A0D92906-F01F-472C-A68B-A726B6727566}"/>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11539ACA-DEFE-4F89-A121-E268B6DE48D9}"/>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동일 사건 여부·개인정보 범위 검토</a:t>
            </a:r>
          </a:p>
        </p:txBody>
      </p:sp>
      <p:sp>
        <p:nvSpPr>
          <p:cNvPr id="12" name="">
            <a:extLst xmlns:a="http://schemas.openxmlformats.org/drawingml/2006/main">
              <a:ext uri="{FF2B5EF4-FFF2-40B4-BE49-F238E27FC236}">
                <a16:creationId xmlns:a16="http://schemas.microsoft.com/office/drawing/2014/main" id="{0B05892F-E1EC-4462-A332-7A2B388100CB}"/>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21C76874-1736-455B-97DB-D92E927C2A66}"/>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같은 사안의 반복 민원을 묶고 기관별 답변 초안 제</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시</a:t>
            </a:r>
          </a:p>
        </p:txBody>
      </p:sp>
      <p:sp>
        <p:nvSpPr>
          <p:cNvPr id="14" name="">
            <a:extLst xmlns:a="http://schemas.openxmlformats.org/drawingml/2006/main">
              <a:ext uri="{FF2B5EF4-FFF2-40B4-BE49-F238E27FC236}">
                <a16:creationId xmlns:a16="http://schemas.microsoft.com/office/drawing/2014/main" id="{E24EF377-CB29-4532-A14C-717550DB521E}"/>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997A4C01-2DC9-4B54-B247-DAF94E87EB7D}"/>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표현이 같은 다른 사건·소관기관 차이·반대 취지</a:t>
            </a:r>
          </a:p>
        </p:txBody>
      </p:sp>
      <p:sp>
        <p:nvSpPr>
          <p:cNvPr id="16" name="">
            <a:extLst xmlns:a="http://schemas.openxmlformats.org/drawingml/2006/main">
              <a:ext uri="{FF2B5EF4-FFF2-40B4-BE49-F238E27FC236}">
                <a16:creationId xmlns:a16="http://schemas.microsoft.com/office/drawing/2014/main" id="{FE34DB40-5ED5-4C44-A82D-E1967D13CDA5}"/>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177955D4-B64A-464D-8C1C-3D3F1CF6B136}"/>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군집 정답표·잘못된 병합 건·담당자 수정 이력</a:t>
            </a:r>
          </a:p>
        </p:txBody>
      </p:sp>
    </p:spTree>
    <p:extLst>
      <p:ext uri="{BB962C8B-B14F-4D97-AF65-F5344CB8AC3E}">
        <p14:creationId xmlns:p14="http://schemas.microsoft.com/office/powerpoint/2010/main" val="786331913"/>
      </p:ext>
    </p:extLst>
  </p:cSld>
</p:sld>
</file>

<file path=ppt/slides/slide19.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058CB29-BFC7-4086-9040-40C330887E18}"/>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PF-R03 / 후속 공고 RFP 확인 / 계약·운영 미확인 / 국내</a:t>
            </a:r>
          </a:p>
        </p:txBody>
      </p:sp>
      <p:sp>
        <p:nvSpPr>
          <p:cNvPr id="2" name="">
            <a:extLst xmlns:a="http://schemas.openxmlformats.org/drawingml/2006/main">
              <a:ext uri="{FF2B5EF4-FFF2-40B4-BE49-F238E27FC236}">
                <a16:creationId xmlns:a16="http://schemas.microsoft.com/office/drawing/2014/main" id="{D50741BB-5C40-4CBD-B76E-31E6AF02D3AB}"/>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생산기술연구원 AI 고도화</a:t>
            </a:r>
          </a:p>
        </p:txBody>
      </p:sp>
      <p:sp>
        <p:nvSpPr>
          <p:cNvPr id="3" name="">
            <a:extLst xmlns:a="http://schemas.openxmlformats.org/drawingml/2006/main">
              <a:ext uri="{FF2B5EF4-FFF2-40B4-BE49-F238E27FC236}">
                <a16:creationId xmlns:a16="http://schemas.microsoft.com/office/drawing/2014/main" id="{466E9E71-B304-4D4D-84AC-C0209A8EF713}"/>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B146F57-CA3D-4A5C-B85E-BF77F2F6EF82}"/>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1DF7F499-2196-49EE-8066-ADF62AEACDED}"/>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19</a:t>
            </a:r>
          </a:p>
        </p:txBody>
      </p:sp>
      <p:sp>
        <p:nvSpPr>
          <p:cNvPr id="6" name="">
            <a:extLst xmlns:a="http://schemas.openxmlformats.org/drawingml/2006/main">
              <a:ext uri="{FF2B5EF4-FFF2-40B4-BE49-F238E27FC236}">
                <a16:creationId xmlns:a16="http://schemas.microsoft.com/office/drawing/2014/main" id="{B6C649B9-B012-469D-B38A-CEA9AA27E995}"/>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86038B3E-061B-4E65-BADC-F71632855107}"/>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생산기술연구원의 기존 연구행정 검색·AI 환경에 직무별</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검색, 에이전트 처리, 문서 생성, 운영 관리 기능을 추가</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하는 고도화. 연구직과 행정직의 관심 자료가 다른 상황</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에서 동일 질의의 결과 순서를 다르게 구성하는 요구가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핵심.</a:t>
            </a:r>
          </a:p>
        </p:txBody>
      </p:sp>
      <p:sp>
        <p:nvSpPr>
          <p:cNvPr id="8" name="">
            <a:extLst xmlns:a="http://schemas.openxmlformats.org/drawingml/2006/main">
              <a:ext uri="{FF2B5EF4-FFF2-40B4-BE49-F238E27FC236}">
                <a16:creationId xmlns:a16="http://schemas.microsoft.com/office/drawing/2014/main" id="{A99B3B56-307D-4197-A6C4-93D92C0F6B78}"/>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949204EA-FD6A-4F4D-A799-AF984AC06498}"/>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SFR-007은 부서·직무·검색 이력·진행 업무를 이용한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검색 최적화, SFR-009는 복합 질문의 태스크 분해와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도메인 에이전트 호출, SFR-010은 문서 양식·필수 항목</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·내부 과제정보의 결합을 요구. 인사 연동과 역할별 접근</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제어를 검색 추천보다 먼저 연결하는 설계.</a:t>
            </a:r>
          </a:p>
        </p:txBody>
      </p:sp>
      <p:sp>
        <p:nvSpPr>
          <p:cNvPr id="10" name="">
            <a:extLst xmlns:a="http://schemas.openxmlformats.org/drawingml/2006/main">
              <a:ext uri="{FF2B5EF4-FFF2-40B4-BE49-F238E27FC236}">
                <a16:creationId xmlns:a16="http://schemas.microsoft.com/office/drawing/2014/main" id="{145ADA59-A297-4251-BE78-A1AA3081D408}"/>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4759A079-40DC-4D0A-8057-ED820B1DDB26}"/>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TS 조직 네이티브 AI와 직접 비교할 지점은 공식 소속·직무</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를 검색 문맥으로 사용하는 방식. 추천 순위 개선과 접근권한</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 확대를 분리하고, 전보 전후 동일 질의의 검색 범위·서식·근</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거 차이를 검수할 필요. 기존 검색·LLM의 재사용과 조직 매</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핑 추가분의 구분.</a:t>
            </a:r>
          </a:p>
        </p:txBody>
      </p:sp>
      <p:sp>
        <p:nvSpPr>
          <p:cNvPr id="12" name="">
            <a:extLst xmlns:a="http://schemas.openxmlformats.org/drawingml/2006/main">
              <a:ext uri="{FF2B5EF4-FFF2-40B4-BE49-F238E27FC236}">
                <a16:creationId xmlns:a16="http://schemas.microsoft.com/office/drawing/2014/main" id="{D4889186-14F2-49ED-B600-95145F494455}"/>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09253472-D7FC-419D-BA61-94B86F655DB2}"/>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사번–부서–직무–업무 연결 / 검색 재정렬 / 직무별 문서 양식</a:t>
            </a:r>
          </a:p>
        </p:txBody>
      </p:sp>
      <p:sp>
        <p:nvSpPr>
          <p:cNvPr id="14" name="">
            <a:extLst xmlns:a="http://schemas.openxmlformats.org/drawingml/2006/main">
              <a:ext uri="{FF2B5EF4-FFF2-40B4-BE49-F238E27FC236}">
                <a16:creationId xmlns:a16="http://schemas.microsoft.com/office/drawing/2014/main" id="{EA6C8A3C-410C-4569-AEC1-9ADF97D4CF2D}"/>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012B4272-B2CE-4758-95A2-A3D9BC5BB642}"/>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동일 질의의 직무별 정답·문서 순위·서식 비교 및 전보 후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권한 시험</a:t>
            </a:r>
          </a:p>
        </p:txBody>
      </p:sp>
      <p:sp>
        <p:nvSpPr>
          <p:cNvPr id="16" name="">
            <a:extLst xmlns:a="http://schemas.openxmlformats.org/drawingml/2006/main">
              <a:ext uri="{FF2B5EF4-FFF2-40B4-BE49-F238E27FC236}">
                <a16:creationId xmlns:a16="http://schemas.microsoft.com/office/drawing/2014/main" id="{C796387A-3079-4DC7-92D0-3E55EC35DD04}"/>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15A5889F-C28C-4D70-AD55-20A2717FA878}"/>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직무별 과업 성공률 / 검색·문서 작성시간 / 요청당 비용</a:t>
            </a:r>
          </a:p>
        </p:txBody>
      </p:sp>
      <p:sp>
        <p:nvSpPr>
          <p:cNvPr id="18" name="">
            <a:extLst xmlns:a="http://schemas.openxmlformats.org/drawingml/2006/main">
              <a:ext uri="{FF2B5EF4-FFF2-40B4-BE49-F238E27FC236}">
                <a16:creationId xmlns:a16="http://schemas.microsoft.com/office/drawing/2014/main" id="{C289B426-6193-4EC4-9B63-61B45959187A}"/>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연구원 외부 TechGPT 성과와 본 내부사업을 혼동하지 않음</a:t>
            </a:r>
          </a:p>
        </p:txBody>
      </p:sp>
    </p:spTree>
    <p:extLst>
      <p:ext uri="{BB962C8B-B14F-4D97-AF65-F5344CB8AC3E}">
        <p14:creationId xmlns:p14="http://schemas.microsoft.com/office/powerpoint/2010/main" val="491158533"/>
      </p:ext>
    </p:extLst>
  </p:cSld>
</p:sld>
</file>

<file path=ppt/slides/slide20.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7457438-A10D-405D-AE27-98555A8108FB}"/>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PF-R03 / RFP 2026.05 · SFR-007~012 / 1–3</a:t>
            </a:r>
          </a:p>
        </p:txBody>
      </p:sp>
      <p:sp>
        <p:nvSpPr>
          <p:cNvPr id="2" name="">
            <a:extLst xmlns:a="http://schemas.openxmlformats.org/drawingml/2006/main">
              <a:ext uri="{FF2B5EF4-FFF2-40B4-BE49-F238E27FC236}">
                <a16:creationId xmlns:a16="http://schemas.microsoft.com/office/drawing/2014/main" id="{1FC262A6-97CD-458B-9775-A632A661BFD3}"/>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생산기술연구원 AI 고도화 · RFP 요구사항</a:t>
            </a:r>
          </a:p>
        </p:txBody>
      </p:sp>
      <p:sp>
        <p:nvSpPr>
          <p:cNvPr id="3" name="">
            <a:extLst xmlns:a="http://schemas.openxmlformats.org/drawingml/2006/main">
              <a:ext uri="{FF2B5EF4-FFF2-40B4-BE49-F238E27FC236}">
                <a16:creationId xmlns:a16="http://schemas.microsoft.com/office/drawing/2014/main" id="{B1E6BE8F-C214-46CF-A07D-C5A185A93141}"/>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ABFFABF-6429-430F-9A72-1D23B2D49D56}"/>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86981268-C144-4B4A-AF2B-ED50B6281152}"/>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20</a:t>
            </a:r>
          </a:p>
        </p:txBody>
      </p:sp>
      <p:sp>
        <p:nvSpPr>
          <p:cNvPr id="6" name="">
            <a:extLst xmlns:a="http://schemas.openxmlformats.org/drawingml/2006/main">
              <a:ext uri="{FF2B5EF4-FFF2-40B4-BE49-F238E27FC236}">
                <a16:creationId xmlns:a16="http://schemas.microsoft.com/office/drawing/2014/main" id="{EE6CE10D-2A87-465C-BF5B-5C42C464F7D0}"/>
              </a:ext>
            </a:extLst>
          </p:cNvPr>
          <p:cNvSpPr>
            <a:spLocks xmlns:a="http://schemas.openxmlformats.org/drawingml/2006/main" noGrp="1"/>
          </p:cNvSpPr>
          <p:nvPr/>
        </p:nvSpPr>
        <p:spPr>
          <a:xfrm xmlns:a="http://schemas.openxmlformats.org/drawingml/2006/main">
            <a:off x="571500" y="167640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15E8910-9692-4855-804A-96FE59C14FEA}"/>
              </a:ext>
            </a:extLst>
          </p:cNvPr>
          <p:cNvSpPr>
            <a:spLocks xmlns:a="http://schemas.openxmlformats.org/drawingml/2006/main" noGrp="1"/>
          </p:cNvSpPr>
          <p:nvPr/>
        </p:nvSpPr>
        <p:spPr>
          <a:xfrm xmlns:a="http://schemas.openxmlformats.org/drawingml/2006/main">
            <a:off x="571500" y="1752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SFR-002 Agent 일반 사항</a:t>
            </a:r>
          </a:p>
        </p:txBody>
      </p:sp>
      <p:sp>
        <p:nvSpPr>
          <p:cNvPr id="8" name="">
            <a:extLst xmlns:a="http://schemas.openxmlformats.org/drawingml/2006/main">
              <a:ext uri="{FF2B5EF4-FFF2-40B4-BE49-F238E27FC236}">
                <a16:creationId xmlns:a16="http://schemas.microsoft.com/office/drawing/2014/main" id="{59DC8743-F938-4BBE-8605-12B3487942D5}"/>
              </a:ext>
            </a:extLst>
          </p:cNvPr>
          <p:cNvSpPr>
            <a:spLocks xmlns:a="http://schemas.openxmlformats.org/drawingml/2006/main" noGrp="1"/>
          </p:cNvSpPr>
          <p:nvPr/>
        </p:nvSpPr>
        <p:spPr>
          <a:xfrm xmlns:a="http://schemas.openxmlformats.org/drawingml/2006/main">
            <a:off x="571500" y="21336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MCP 도구 등을 이용한 에이전트 실행의 공통 기능 구성.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업무 요청과 도구 호출의 연결 관리.</a:t>
            </a:r>
          </a:p>
        </p:txBody>
      </p:sp>
      <p:sp>
        <p:nvSpPr>
          <p:cNvPr id="9" name="">
            <a:extLst xmlns:a="http://schemas.openxmlformats.org/drawingml/2006/main">
              <a:ext uri="{FF2B5EF4-FFF2-40B4-BE49-F238E27FC236}">
                <a16:creationId xmlns:a16="http://schemas.microsoft.com/office/drawing/2014/main" id="{E593FFE4-20F7-4610-AC98-1DFBFBAD94F4}"/>
              </a:ext>
            </a:extLst>
          </p:cNvPr>
          <p:cNvSpPr>
            <a:spLocks xmlns:a="http://schemas.openxmlformats.org/drawingml/2006/main" noGrp="1"/>
          </p:cNvSpPr>
          <p:nvPr/>
        </p:nvSpPr>
        <p:spPr>
          <a:xfrm xmlns:a="http://schemas.openxmlformats.org/drawingml/2006/main">
            <a:off x="6334125" y="213360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C02 · C04 · C07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미등록 도구·잘못된 인자·호출 실패 상황의 실행 보류와 오류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반환 확인</a:t>
            </a:r>
          </a:p>
        </p:txBody>
      </p:sp>
      <p:sp>
        <p:nvSpPr>
          <p:cNvPr id="10" name="">
            <a:extLst xmlns:a="http://schemas.openxmlformats.org/drawingml/2006/main">
              <a:ext uri="{FF2B5EF4-FFF2-40B4-BE49-F238E27FC236}">
                <a16:creationId xmlns:a16="http://schemas.microsoft.com/office/drawing/2014/main" id="{BFAD74D2-2228-4990-B4D9-467A24567B10}"/>
              </a:ext>
            </a:extLst>
          </p:cNvPr>
          <p:cNvSpPr>
            <a:spLocks xmlns:a="http://schemas.openxmlformats.org/drawingml/2006/main" noGrp="1"/>
          </p:cNvSpPr>
          <p:nvPr/>
        </p:nvSpPr>
        <p:spPr>
          <a:xfrm xmlns:a="http://schemas.openxmlformats.org/drawingml/2006/main">
            <a:off x="571500" y="3133725"/>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159FCBC-7C9B-41FE-93BB-A0666E046E6A}"/>
              </a:ext>
            </a:extLst>
          </p:cNvPr>
          <p:cNvSpPr>
            <a:spLocks xmlns:a="http://schemas.openxmlformats.org/drawingml/2006/main" noGrp="1"/>
          </p:cNvSpPr>
          <p:nvPr/>
        </p:nvSpPr>
        <p:spPr>
          <a:xfrm xmlns:a="http://schemas.openxmlformats.org/drawingml/2006/main">
            <a:off x="571500" y="32099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SFR-003 접근 및 권한관리</a:t>
            </a:r>
          </a:p>
        </p:txBody>
      </p:sp>
      <p:sp>
        <p:nvSpPr>
          <p:cNvPr id="12" name="">
            <a:extLst xmlns:a="http://schemas.openxmlformats.org/drawingml/2006/main">
              <a:ext uri="{FF2B5EF4-FFF2-40B4-BE49-F238E27FC236}">
                <a16:creationId xmlns:a16="http://schemas.microsoft.com/office/drawing/2014/main" id="{5B464BD5-229B-4B55-9BE6-E84D840AC06D}"/>
              </a:ext>
            </a:extLst>
          </p:cNvPr>
          <p:cNvSpPr>
            <a:spLocks xmlns:a="http://schemas.openxmlformats.org/drawingml/2006/main" noGrp="1"/>
          </p:cNvSpPr>
          <p:nvPr/>
        </p:nvSpPr>
        <p:spPr>
          <a:xfrm xmlns:a="http://schemas.openxmlformats.org/drawingml/2006/main">
            <a:off x="571500" y="35909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인사·조직 정보를 반영한 접근 및 권한 관리. 사용자 역할</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에 맞는 데이터·기능 범위 적용.</a:t>
            </a:r>
          </a:p>
        </p:txBody>
      </p:sp>
      <p:sp>
        <p:nvSpPr>
          <p:cNvPr id="13" name="">
            <a:extLst xmlns:a="http://schemas.openxmlformats.org/drawingml/2006/main">
              <a:ext uri="{FF2B5EF4-FFF2-40B4-BE49-F238E27FC236}">
                <a16:creationId xmlns:a16="http://schemas.microsoft.com/office/drawing/2014/main" id="{038637ED-A9EC-41B4-9083-3BE7CB59A1B9}"/>
              </a:ext>
            </a:extLst>
          </p:cNvPr>
          <p:cNvSpPr>
            <a:spLocks xmlns:a="http://schemas.openxmlformats.org/drawingml/2006/main" noGrp="1"/>
          </p:cNvSpPr>
          <p:nvPr/>
        </p:nvSpPr>
        <p:spPr>
          <a:xfrm xmlns:a="http://schemas.openxmlformats.org/drawingml/2006/main">
            <a:off x="6334125" y="359092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C02 · C12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전보·겸직·퇴직·권한 해제 시 검색과 실행 양쪽의 접근 결과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비교</a:t>
            </a:r>
          </a:p>
        </p:txBody>
      </p:sp>
      <p:sp>
        <p:nvSpPr>
          <p:cNvPr id="14" name="">
            <a:extLst xmlns:a="http://schemas.openxmlformats.org/drawingml/2006/main">
              <a:ext uri="{FF2B5EF4-FFF2-40B4-BE49-F238E27FC236}">
                <a16:creationId xmlns:a16="http://schemas.microsoft.com/office/drawing/2014/main" id="{005BD14D-3FB6-4E70-A8D1-8373CDAB7E81}"/>
              </a:ext>
            </a:extLst>
          </p:cNvPr>
          <p:cNvSpPr>
            <a:spLocks xmlns:a="http://schemas.openxmlformats.org/drawingml/2006/main" noGrp="1"/>
          </p:cNvSpPr>
          <p:nvPr/>
        </p:nvSpPr>
        <p:spPr>
          <a:xfrm xmlns:a="http://schemas.openxmlformats.org/drawingml/2006/main">
            <a:off x="571500" y="45910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CE47C6C-8C94-4C99-95CD-CB9C827D2240}"/>
              </a:ext>
            </a:extLst>
          </p:cNvPr>
          <p:cNvSpPr>
            <a:spLocks xmlns:a="http://schemas.openxmlformats.org/drawingml/2006/main" noGrp="1"/>
          </p:cNvSpPr>
          <p:nvPr/>
        </p:nvSpPr>
        <p:spPr>
          <a:xfrm xmlns:a="http://schemas.openxmlformats.org/drawingml/2006/main">
            <a:off x="571500" y="46672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SFR-004 데이터 통합 파이프라인 구축</a:t>
            </a:r>
          </a:p>
        </p:txBody>
      </p:sp>
      <p:sp>
        <p:nvSpPr>
          <p:cNvPr id="16" name="">
            <a:extLst xmlns:a="http://schemas.openxmlformats.org/drawingml/2006/main">
              <a:ext uri="{FF2B5EF4-FFF2-40B4-BE49-F238E27FC236}">
                <a16:creationId xmlns:a16="http://schemas.microsoft.com/office/drawing/2014/main" id="{13471034-B659-43A3-81C4-FE1111407BA4}"/>
              </a:ext>
            </a:extLst>
          </p:cNvPr>
          <p:cNvSpPr>
            <a:spLocks xmlns:a="http://schemas.openxmlformats.org/drawingml/2006/main" noGrp="1"/>
          </p:cNvSpPr>
          <p:nvPr/>
        </p:nvSpPr>
        <p:spPr>
          <a:xfrm xmlns:a="http://schemas.openxmlformats.org/drawingml/2006/main">
            <a:off x="571500" y="504825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분산 데이터를 수집·정제·연계하는 통합 파이프라인 구축.</a:t>
            </a:r>
          </a:p>
        </p:txBody>
      </p:sp>
      <p:sp>
        <p:nvSpPr>
          <p:cNvPr id="17" name="">
            <a:extLst xmlns:a="http://schemas.openxmlformats.org/drawingml/2006/main">
              <a:ext uri="{FF2B5EF4-FFF2-40B4-BE49-F238E27FC236}">
                <a16:creationId xmlns:a16="http://schemas.microsoft.com/office/drawing/2014/main" id="{BCE04603-F00E-4B68-BDB0-AC82ABB5173A}"/>
              </a:ext>
            </a:extLst>
          </p:cNvPr>
          <p:cNvSpPr>
            <a:spLocks xmlns:a="http://schemas.openxmlformats.org/drawingml/2006/main" noGrp="1"/>
          </p:cNvSpPr>
          <p:nvPr/>
        </p:nvSpPr>
        <p:spPr>
          <a:xfrm xmlns:a="http://schemas.openxmlformats.org/drawingml/2006/main">
            <a:off x="6334125" y="504825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C09 · C10 · C11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파일 형식 오류·중복·갱신·삭제 자료의 재처리와 원천-색인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건수 대사</a:t>
            </a:r>
          </a:p>
        </p:txBody>
      </p:sp>
    </p:spTree>
    <p:extLst>
      <p:ext uri="{BB962C8B-B14F-4D97-AF65-F5344CB8AC3E}">
        <p14:creationId xmlns:p14="http://schemas.microsoft.com/office/powerpoint/2010/main" val="954866710"/>
      </p:ext>
    </p:extLst>
  </p:cSld>
</p:sld>
</file>

<file path=ppt/slides/slide21.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E3B972B-B297-4916-B72E-1BCDC98A586C}"/>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PF-R03 / RFP 2026.05 · SFR-007~012 / 4–6</a:t>
            </a:r>
          </a:p>
        </p:txBody>
      </p:sp>
      <p:sp>
        <p:nvSpPr>
          <p:cNvPr id="2" name="">
            <a:extLst xmlns:a="http://schemas.openxmlformats.org/drawingml/2006/main">
              <a:ext uri="{FF2B5EF4-FFF2-40B4-BE49-F238E27FC236}">
                <a16:creationId xmlns:a16="http://schemas.microsoft.com/office/drawing/2014/main" id="{A0F50A39-1C24-4EA1-91BA-1ADD624D7C2F}"/>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생산기술연구원 AI 고도화 · RFP 요구사항</a:t>
            </a:r>
          </a:p>
        </p:txBody>
      </p:sp>
      <p:sp>
        <p:nvSpPr>
          <p:cNvPr id="3" name="">
            <a:extLst xmlns:a="http://schemas.openxmlformats.org/drawingml/2006/main">
              <a:ext uri="{FF2B5EF4-FFF2-40B4-BE49-F238E27FC236}">
                <a16:creationId xmlns:a16="http://schemas.microsoft.com/office/drawing/2014/main" id="{14382D9E-B3FB-4956-8E5B-E4A14CD3E15E}"/>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347510D-55F6-4AB7-90A7-10B833BF5178}"/>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5722E9E8-3C3C-4CF5-8DE3-29089D92F53E}"/>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21</a:t>
            </a:r>
          </a:p>
        </p:txBody>
      </p:sp>
      <p:sp>
        <p:nvSpPr>
          <p:cNvPr id="6" name="">
            <a:extLst xmlns:a="http://schemas.openxmlformats.org/drawingml/2006/main">
              <a:ext uri="{FF2B5EF4-FFF2-40B4-BE49-F238E27FC236}">
                <a16:creationId xmlns:a16="http://schemas.microsoft.com/office/drawing/2014/main" id="{E7A1BC89-0EED-4576-94BE-376DD975E3C2}"/>
              </a:ext>
            </a:extLst>
          </p:cNvPr>
          <p:cNvSpPr>
            <a:spLocks xmlns:a="http://schemas.openxmlformats.org/drawingml/2006/main" noGrp="1"/>
          </p:cNvSpPr>
          <p:nvPr/>
        </p:nvSpPr>
        <p:spPr>
          <a:xfrm xmlns:a="http://schemas.openxmlformats.org/drawingml/2006/main">
            <a:off x="571500" y="167640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33F3713-6144-4FC7-BF64-B6C95B7BD901}"/>
              </a:ext>
            </a:extLst>
          </p:cNvPr>
          <p:cNvSpPr>
            <a:spLocks xmlns:a="http://schemas.openxmlformats.org/drawingml/2006/main" noGrp="1"/>
          </p:cNvSpPr>
          <p:nvPr/>
        </p:nvSpPr>
        <p:spPr>
          <a:xfrm xmlns:a="http://schemas.openxmlformats.org/drawingml/2006/main">
            <a:off x="571500" y="1752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SFR-007 AI 기반 지능형 검색 서비스</a:t>
            </a:r>
          </a:p>
        </p:txBody>
      </p:sp>
      <p:sp>
        <p:nvSpPr>
          <p:cNvPr id="8" name="">
            <a:extLst xmlns:a="http://schemas.openxmlformats.org/drawingml/2006/main">
              <a:ext uri="{FF2B5EF4-FFF2-40B4-BE49-F238E27FC236}">
                <a16:creationId xmlns:a16="http://schemas.microsoft.com/office/drawing/2014/main" id="{226EEFD6-9A27-4BBE-8B5C-413B436FD2E3}"/>
              </a:ext>
            </a:extLst>
          </p:cNvPr>
          <p:cNvSpPr>
            <a:spLocks xmlns:a="http://schemas.openxmlformats.org/drawingml/2006/main" noGrp="1"/>
          </p:cNvSpPr>
          <p:nvPr/>
        </p:nvSpPr>
        <p:spPr>
          <a:xfrm xmlns:a="http://schemas.openxmlformats.org/drawingml/2006/main">
            <a:off x="571500" y="21336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부서·직무·사용 이력 등을 반영한 AI 검색과 결과 재정렬.</a:t>
            </a:r>
          </a:p>
        </p:txBody>
      </p:sp>
      <p:sp>
        <p:nvSpPr>
          <p:cNvPr id="9" name="">
            <a:extLst xmlns:a="http://schemas.openxmlformats.org/drawingml/2006/main">
              <a:ext uri="{FF2B5EF4-FFF2-40B4-BE49-F238E27FC236}">
                <a16:creationId xmlns:a16="http://schemas.microsoft.com/office/drawing/2014/main" id="{0ACD9E66-8849-477F-9734-9532A65E56E4}"/>
              </a:ext>
            </a:extLst>
          </p:cNvPr>
          <p:cNvSpPr>
            <a:spLocks xmlns:a="http://schemas.openxmlformats.org/drawingml/2006/main" noGrp="1"/>
          </p:cNvSpPr>
          <p:nvPr/>
        </p:nvSpPr>
        <p:spPr>
          <a:xfrm xmlns:a="http://schemas.openxmlformats.org/drawingml/2006/main">
            <a:off x="6334125" y="213360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C02 · C03 · C11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연구직·행정직의 동일 질의에서 관련성 변화와 권한 밖 결과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제외를 함께 평가</a:t>
            </a:r>
          </a:p>
        </p:txBody>
      </p:sp>
      <p:sp>
        <p:nvSpPr>
          <p:cNvPr id="10" name="">
            <a:extLst xmlns:a="http://schemas.openxmlformats.org/drawingml/2006/main">
              <a:ext uri="{FF2B5EF4-FFF2-40B4-BE49-F238E27FC236}">
                <a16:creationId xmlns:a16="http://schemas.microsoft.com/office/drawing/2014/main" id="{4B992EA7-77D3-49F8-A1BC-74B7DCA372CD}"/>
              </a:ext>
            </a:extLst>
          </p:cNvPr>
          <p:cNvSpPr>
            <a:spLocks xmlns:a="http://schemas.openxmlformats.org/drawingml/2006/main" noGrp="1"/>
          </p:cNvSpPr>
          <p:nvPr/>
        </p:nvSpPr>
        <p:spPr>
          <a:xfrm xmlns:a="http://schemas.openxmlformats.org/drawingml/2006/main">
            <a:off x="571500" y="3133725"/>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69E4570-A309-4DFC-A642-1B8EFA4A253B}"/>
              </a:ext>
            </a:extLst>
          </p:cNvPr>
          <p:cNvSpPr>
            <a:spLocks xmlns:a="http://schemas.openxmlformats.org/drawingml/2006/main" noGrp="1"/>
          </p:cNvSpPr>
          <p:nvPr/>
        </p:nvSpPr>
        <p:spPr>
          <a:xfrm xmlns:a="http://schemas.openxmlformats.org/drawingml/2006/main">
            <a:off x="571500" y="32099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SFR-008 멀티 모델 적용</a:t>
            </a:r>
          </a:p>
        </p:txBody>
      </p:sp>
      <p:sp>
        <p:nvSpPr>
          <p:cNvPr id="12" name="">
            <a:extLst xmlns:a="http://schemas.openxmlformats.org/drawingml/2006/main">
              <a:ext uri="{FF2B5EF4-FFF2-40B4-BE49-F238E27FC236}">
                <a16:creationId xmlns:a16="http://schemas.microsoft.com/office/drawing/2014/main" id="{2BF6436C-3345-4502-BA78-0564DE8921C8}"/>
              </a:ext>
            </a:extLst>
          </p:cNvPr>
          <p:cNvSpPr>
            <a:spLocks xmlns:a="http://schemas.openxmlformats.org/drawingml/2006/main" noGrp="1"/>
          </p:cNvSpPr>
          <p:nvPr/>
        </p:nvSpPr>
        <p:spPr>
          <a:xfrm xmlns:a="http://schemas.openxmlformats.org/drawingml/2006/main">
            <a:off x="571500" y="35909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복수 모델의 적용·선택·비교를 지원하는 멀티모델 구조.</a:t>
            </a:r>
          </a:p>
        </p:txBody>
      </p:sp>
      <p:sp>
        <p:nvSpPr>
          <p:cNvPr id="13" name="">
            <a:extLst xmlns:a="http://schemas.openxmlformats.org/drawingml/2006/main">
              <a:ext uri="{FF2B5EF4-FFF2-40B4-BE49-F238E27FC236}">
                <a16:creationId xmlns:a16="http://schemas.microsoft.com/office/drawing/2014/main" id="{9FB6C64E-CC83-43FA-897D-08F02FC86C8D}"/>
              </a:ext>
            </a:extLst>
          </p:cNvPr>
          <p:cNvSpPr>
            <a:spLocks xmlns:a="http://schemas.openxmlformats.org/drawingml/2006/main" noGrp="1"/>
          </p:cNvSpPr>
          <p:nvPr/>
        </p:nvSpPr>
        <p:spPr>
          <a:xfrm xmlns:a="http://schemas.openxmlformats.org/drawingml/2006/main">
            <a:off x="6334125" y="359092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C04 · C08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같은 입력의 모델별 정확성·시간·비용과 오류 발생 시 처리 경</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로 비교</a:t>
            </a:r>
          </a:p>
        </p:txBody>
      </p:sp>
      <p:sp>
        <p:nvSpPr>
          <p:cNvPr id="14" name="">
            <a:extLst xmlns:a="http://schemas.openxmlformats.org/drawingml/2006/main">
              <a:ext uri="{FF2B5EF4-FFF2-40B4-BE49-F238E27FC236}">
                <a16:creationId xmlns:a16="http://schemas.microsoft.com/office/drawing/2014/main" id="{8D130353-0CCF-4D2C-BD8D-5C930EAC59E0}"/>
              </a:ext>
            </a:extLst>
          </p:cNvPr>
          <p:cNvSpPr>
            <a:spLocks xmlns:a="http://schemas.openxmlformats.org/drawingml/2006/main" noGrp="1"/>
          </p:cNvSpPr>
          <p:nvPr/>
        </p:nvSpPr>
        <p:spPr>
          <a:xfrm xmlns:a="http://schemas.openxmlformats.org/drawingml/2006/main">
            <a:off x="571500" y="45910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478046D-7EF9-4CD8-8CB6-27AB4A223829}"/>
              </a:ext>
            </a:extLst>
          </p:cNvPr>
          <p:cNvSpPr>
            <a:spLocks xmlns:a="http://schemas.openxmlformats.org/drawingml/2006/main" noGrp="1"/>
          </p:cNvSpPr>
          <p:nvPr/>
        </p:nvSpPr>
        <p:spPr>
          <a:xfrm xmlns:a="http://schemas.openxmlformats.org/drawingml/2006/main">
            <a:off x="571500" y="46672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SFR-009 지능형 질의응답 고도화 체계 구축</a:t>
            </a:r>
          </a:p>
        </p:txBody>
      </p:sp>
      <p:sp>
        <p:nvSpPr>
          <p:cNvPr id="16" name="">
            <a:extLst xmlns:a="http://schemas.openxmlformats.org/drawingml/2006/main">
              <a:ext uri="{FF2B5EF4-FFF2-40B4-BE49-F238E27FC236}">
                <a16:creationId xmlns:a16="http://schemas.microsoft.com/office/drawing/2014/main" id="{9CC70E14-F676-4638-804E-A8DED28CA108}"/>
              </a:ext>
            </a:extLst>
          </p:cNvPr>
          <p:cNvSpPr>
            <a:spLocks xmlns:a="http://schemas.openxmlformats.org/drawingml/2006/main" noGrp="1"/>
          </p:cNvSpPr>
          <p:nvPr/>
        </p:nvSpPr>
        <p:spPr>
          <a:xfrm xmlns:a="http://schemas.openxmlformats.org/drawingml/2006/main">
            <a:off x="571500" y="504825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질의의 업무 계획 수립과 도메인 에이전트 연결을 통한 질</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의응답 고도화.</a:t>
            </a:r>
          </a:p>
        </p:txBody>
      </p:sp>
      <p:sp>
        <p:nvSpPr>
          <p:cNvPr id="17" name="">
            <a:extLst xmlns:a="http://schemas.openxmlformats.org/drawingml/2006/main">
              <a:ext uri="{FF2B5EF4-FFF2-40B4-BE49-F238E27FC236}">
                <a16:creationId xmlns:a16="http://schemas.microsoft.com/office/drawing/2014/main" id="{7D16D21F-04AF-4033-82B0-D1219FF4F3E0}"/>
              </a:ext>
            </a:extLst>
          </p:cNvPr>
          <p:cNvSpPr>
            <a:spLocks xmlns:a="http://schemas.openxmlformats.org/drawingml/2006/main" noGrp="1"/>
          </p:cNvSpPr>
          <p:nvPr/>
        </p:nvSpPr>
        <p:spPr>
          <a:xfrm xmlns:a="http://schemas.openxmlformats.org/drawingml/2006/main">
            <a:off x="6334125" y="504825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C02 · C04 · C07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계획 일부 실패·불필요한 도구 호출·담당 영역 혼동 시 중단·</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재계획 경로 확인</a:t>
            </a:r>
          </a:p>
        </p:txBody>
      </p:sp>
    </p:spTree>
    <p:extLst>
      <p:ext uri="{BB962C8B-B14F-4D97-AF65-F5344CB8AC3E}">
        <p14:creationId xmlns:p14="http://schemas.microsoft.com/office/powerpoint/2010/main" val="1888142249"/>
      </p:ext>
    </p:extLst>
  </p:cSld>
</p:sld>
</file>

<file path=ppt/slides/slide2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92CEDA7-CA13-42D6-AB3C-73AC8F14618E}"/>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PF-R03 / RFP 2026.05 · SFR-007~012 / 7–8</a:t>
            </a:r>
          </a:p>
        </p:txBody>
      </p:sp>
      <p:sp>
        <p:nvSpPr>
          <p:cNvPr id="2" name="">
            <a:extLst xmlns:a="http://schemas.openxmlformats.org/drawingml/2006/main">
              <a:ext uri="{FF2B5EF4-FFF2-40B4-BE49-F238E27FC236}">
                <a16:creationId xmlns:a16="http://schemas.microsoft.com/office/drawing/2014/main" id="{5C4A85B7-113B-48E3-8737-E07C637DF2D2}"/>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생산기술연구원 AI 고도화 · RFP 요구사항</a:t>
            </a:r>
          </a:p>
        </p:txBody>
      </p:sp>
      <p:sp>
        <p:nvSpPr>
          <p:cNvPr id="3" name="">
            <a:extLst xmlns:a="http://schemas.openxmlformats.org/drawingml/2006/main">
              <a:ext uri="{FF2B5EF4-FFF2-40B4-BE49-F238E27FC236}">
                <a16:creationId xmlns:a16="http://schemas.microsoft.com/office/drawing/2014/main" id="{A2CB8F9A-6B8F-4927-893D-9FBDEC1612D8}"/>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78C14D3-D9E9-4DE8-BE9E-75FCBCD2D478}"/>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451FDA37-66BC-42D8-8F47-43B0503B24BE}"/>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22</a:t>
            </a:r>
          </a:p>
        </p:txBody>
      </p:sp>
      <p:sp>
        <p:nvSpPr>
          <p:cNvPr id="6" name="">
            <a:extLst xmlns:a="http://schemas.openxmlformats.org/drawingml/2006/main">
              <a:ext uri="{FF2B5EF4-FFF2-40B4-BE49-F238E27FC236}">
                <a16:creationId xmlns:a16="http://schemas.microsoft.com/office/drawing/2014/main" id="{4DE4168D-CBA7-441D-A5A7-E444E4AA4162}"/>
              </a:ext>
            </a:extLst>
          </p:cNvPr>
          <p:cNvSpPr>
            <a:spLocks xmlns:a="http://schemas.openxmlformats.org/drawingml/2006/main" noGrp="1"/>
          </p:cNvSpPr>
          <p:nvPr/>
        </p:nvSpPr>
        <p:spPr>
          <a:xfrm xmlns:a="http://schemas.openxmlformats.org/drawingml/2006/main">
            <a:off x="571500" y="167640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485A8B8-1D85-4679-8489-0727A3C09784}"/>
              </a:ext>
            </a:extLst>
          </p:cNvPr>
          <p:cNvSpPr>
            <a:spLocks xmlns:a="http://schemas.openxmlformats.org/drawingml/2006/main" noGrp="1"/>
          </p:cNvSpPr>
          <p:nvPr/>
        </p:nvSpPr>
        <p:spPr>
          <a:xfrm xmlns:a="http://schemas.openxmlformats.org/drawingml/2006/main">
            <a:off x="571500" y="1752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SFR-010 문서 자동 생성 지원</a:t>
            </a:r>
          </a:p>
        </p:txBody>
      </p:sp>
      <p:sp>
        <p:nvSpPr>
          <p:cNvPr id="8" name="">
            <a:extLst xmlns:a="http://schemas.openxmlformats.org/drawingml/2006/main">
              <a:ext uri="{FF2B5EF4-FFF2-40B4-BE49-F238E27FC236}">
                <a16:creationId xmlns:a16="http://schemas.microsoft.com/office/drawing/2014/main" id="{19FF995D-B606-4EEB-ABFF-B3ECFFB6F91F}"/>
              </a:ext>
            </a:extLst>
          </p:cNvPr>
          <p:cNvSpPr>
            <a:spLocks xmlns:a="http://schemas.openxmlformats.org/drawingml/2006/main" noGrp="1"/>
          </p:cNvSpPr>
          <p:nvPr/>
        </p:nvSpPr>
        <p:spPr>
          <a:xfrm xmlns:a="http://schemas.openxmlformats.org/drawingml/2006/main">
            <a:off x="571500" y="21336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템플릿·메타데이터·내부 자료를 활용한 정형 문서 생성 지</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원.</a:t>
            </a:r>
          </a:p>
        </p:txBody>
      </p:sp>
      <p:sp>
        <p:nvSpPr>
          <p:cNvPr id="9" name="">
            <a:extLst xmlns:a="http://schemas.openxmlformats.org/drawingml/2006/main">
              <a:ext uri="{FF2B5EF4-FFF2-40B4-BE49-F238E27FC236}">
                <a16:creationId xmlns:a16="http://schemas.microsoft.com/office/drawing/2014/main" id="{7FA25DA7-0C1A-4FC7-B052-FD56D7555155}"/>
              </a:ext>
            </a:extLst>
          </p:cNvPr>
          <p:cNvSpPr>
            <a:spLocks xmlns:a="http://schemas.openxmlformats.org/drawingml/2006/main" noGrp="1"/>
          </p:cNvSpPr>
          <p:nvPr/>
        </p:nvSpPr>
        <p:spPr>
          <a:xfrm xmlns:a="http://schemas.openxmlformats.org/drawingml/2006/main">
            <a:off x="6334125" y="213360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C04 · C05 · C06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필수 항목 누락·다른 양식 판본·숫자 인용 오류의 검출과 사용</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자 수정 확인</a:t>
            </a:r>
          </a:p>
        </p:txBody>
      </p:sp>
      <p:sp>
        <p:nvSpPr>
          <p:cNvPr id="10" name="">
            <a:extLst xmlns:a="http://schemas.openxmlformats.org/drawingml/2006/main">
              <a:ext uri="{FF2B5EF4-FFF2-40B4-BE49-F238E27FC236}">
                <a16:creationId xmlns:a16="http://schemas.microsoft.com/office/drawing/2014/main" id="{CF412E8A-9BAD-4EEF-8AA1-27970874B304}"/>
              </a:ext>
            </a:extLst>
          </p:cNvPr>
          <p:cNvSpPr>
            <a:spLocks xmlns:a="http://schemas.openxmlformats.org/drawingml/2006/main" noGrp="1"/>
          </p:cNvSpPr>
          <p:nvPr/>
        </p:nvSpPr>
        <p:spPr>
          <a:xfrm xmlns:a="http://schemas.openxmlformats.org/drawingml/2006/main">
            <a:off x="571500" y="3133725"/>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A562999-D707-47AC-88C9-6BC4D305B8D6}"/>
              </a:ext>
            </a:extLst>
          </p:cNvPr>
          <p:cNvSpPr>
            <a:spLocks xmlns:a="http://schemas.openxmlformats.org/drawingml/2006/main" noGrp="1"/>
          </p:cNvSpPr>
          <p:nvPr/>
        </p:nvSpPr>
        <p:spPr>
          <a:xfrm xmlns:a="http://schemas.openxmlformats.org/drawingml/2006/main">
            <a:off x="571500" y="32099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SFR-012 AI 서비스 운영 모니터링 체계구축</a:t>
            </a:r>
          </a:p>
        </p:txBody>
      </p:sp>
      <p:sp>
        <p:nvSpPr>
          <p:cNvPr id="12" name="">
            <a:extLst xmlns:a="http://schemas.openxmlformats.org/drawingml/2006/main">
              <a:ext uri="{FF2B5EF4-FFF2-40B4-BE49-F238E27FC236}">
                <a16:creationId xmlns:a16="http://schemas.microsoft.com/office/drawing/2014/main" id="{F632C1AD-477B-47BC-A7E5-BCB14D9781A3}"/>
              </a:ext>
            </a:extLst>
          </p:cNvPr>
          <p:cNvSpPr>
            <a:spLocks xmlns:a="http://schemas.openxmlformats.org/drawingml/2006/main" noGrp="1"/>
          </p:cNvSpPr>
          <p:nvPr/>
        </p:nvSpPr>
        <p:spPr>
          <a:xfrm xmlns:a="http://schemas.openxmlformats.org/drawingml/2006/main">
            <a:off x="571500" y="35909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AI 서비스의 처리·이용·품질 상태를 확인하는 운영 모니터</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링 체계.</a:t>
            </a:r>
          </a:p>
        </p:txBody>
      </p:sp>
      <p:sp>
        <p:nvSpPr>
          <p:cNvPr id="13" name="">
            <a:extLst xmlns:a="http://schemas.openxmlformats.org/drawingml/2006/main">
              <a:ext uri="{FF2B5EF4-FFF2-40B4-BE49-F238E27FC236}">
                <a16:creationId xmlns:a16="http://schemas.microsoft.com/office/drawing/2014/main" id="{A50F9BC2-5B89-4257-95DA-BA985BF28C75}"/>
              </a:ext>
            </a:extLst>
          </p:cNvPr>
          <p:cNvSpPr>
            <a:spLocks xmlns:a="http://schemas.openxmlformats.org/drawingml/2006/main" noGrp="1"/>
          </p:cNvSpPr>
          <p:nvPr/>
        </p:nvSpPr>
        <p:spPr>
          <a:xfrm xmlns:a="http://schemas.openxmlformats.org/drawingml/2006/main">
            <a:off x="6334125" y="359092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C08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한 요청의 검색·모델·도구 단계를 연결해 실패 지점과 지연 원</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인 추적</a:t>
            </a:r>
          </a:p>
        </p:txBody>
      </p:sp>
    </p:spTree>
    <p:extLst>
      <p:ext uri="{BB962C8B-B14F-4D97-AF65-F5344CB8AC3E}">
        <p14:creationId xmlns:p14="http://schemas.microsoft.com/office/powerpoint/2010/main" val="2084632167"/>
      </p:ext>
    </p:extLst>
  </p:cSld>
</p:sld>
</file>

<file path=ppt/slides/slide2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820B58-3B89-4784-9783-49A61D577744}"/>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PF-R03 / RFP 수록 기존 정보시스템 현황 / 원문 삽입도 추출</a:t>
            </a:r>
          </a:p>
        </p:txBody>
      </p:sp>
      <p:sp>
        <p:nvSpPr>
          <p:cNvPr id="2" name="">
            <a:extLst xmlns:a="http://schemas.openxmlformats.org/drawingml/2006/main">
              <a:ext uri="{FF2B5EF4-FFF2-40B4-BE49-F238E27FC236}">
                <a16:creationId xmlns:a16="http://schemas.microsoft.com/office/drawing/2014/main" id="{25E28175-5753-4968-995E-EBAD5430305F}"/>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생산기술연구원 정보시스템 연계</a:t>
            </a:r>
          </a:p>
        </p:txBody>
      </p:sp>
      <p:sp>
        <p:nvSpPr>
          <p:cNvPr id="3" name="">
            <a:extLst xmlns:a="http://schemas.openxmlformats.org/drawingml/2006/main">
              <a:ext uri="{FF2B5EF4-FFF2-40B4-BE49-F238E27FC236}">
                <a16:creationId xmlns:a16="http://schemas.microsoft.com/office/drawing/2014/main" id="{F2C6B8CD-D480-46C7-BC57-8A610F326248}"/>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D9DCA1B-82AD-4E9E-AF6C-90D644DBF3AD}"/>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5B3B5511-A9B4-4A57-8AB6-1A38EE097711}"/>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23</a:t>
            </a:r>
          </a:p>
        </p:txBody>
      </p:sp>
      <p:pic>
        <p:nvPicPr>
          <p:cNvPr id="6" name="">
            <a:extLst xmlns:a="http://schemas.openxmlformats.org/drawingml/2006/main">
              <a:ext uri="{FF2B5EF4-FFF2-40B4-BE49-F238E27FC236}">
                <a16:creationId xmlns:a16="http://schemas.microsoft.com/office/drawing/2014/main" id="{C610FB79-2756-4E0D-8F79-D601D377A317}"/>
              </a:ext>
            </a:extLst>
          </p:cNvPr>
          <p:cNvPicPr>
            <a:picLocks xmlns:a="http://schemas.openxmlformats.org/drawingml/2006/main" noChangeAspect="1"/>
          </p:cNvPicPr>
          <p:nvPr/>
        </p:nvPicPr>
        <p:blipFill>
          <a:blip xmlns:r="http://schemas.openxmlformats.org/officeDocument/2006/relationships" xmlns:a="http://schemas.openxmlformats.org/drawingml/2006/main" r:embed="R07a7550270c641cc"/>
          <a:stretch xmlns:a="http://schemas.openxmlformats.org/drawingml/2006/main"/>
        </p:blipFill>
        <p:spPr>
          <a:xfrm xmlns:a="http://schemas.openxmlformats.org/drawingml/2006/main">
            <a:off x="2273908" y="1657350"/>
            <a:ext cx="7644183"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5263F95-1CA1-458C-A339-65359672774E}"/>
              </a:ext>
            </a:extLst>
          </p:cNvPr>
          <p:cNvSpPr>
            <a:spLocks xmlns:a="http://schemas.openxmlformats.org/drawingml/2006/main" noGrp="1"/>
          </p:cNvSpPr>
          <p:nvPr/>
        </p:nvSpPr>
        <p:spPr>
          <a:xfrm xmlns:a="http://schemas.openxmlformats.org/drawingml/2006/main">
            <a:off x="571500" y="5915025"/>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연구행정·경영정보·업무지원·지능형 포털 간 연계</a:t>
            </a:r>
          </a:p>
        </p:txBody>
      </p:sp>
    </p:spTree>
    <p:extLst>
      <p:ext uri="{BB962C8B-B14F-4D97-AF65-F5344CB8AC3E}">
        <p14:creationId xmlns:p14="http://schemas.microsoft.com/office/powerpoint/2010/main" val="2053750764"/>
      </p:ext>
    </p:extLst>
  </p:cSld>
</p:sld>
</file>

<file path=ppt/slides/slide2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360E6ED7-A9AB-4C63-B294-C80AAAAA6C54}"/>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5C28E425-DCB0-497E-9E82-DBB97A8CC165}"/>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F55FA53B-C12E-49BD-ACDC-8B1D72C3E0A9}"/>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2C00E0D5-E1C3-410F-84E9-FD3C885C3EF5}"/>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E3C95F5F-43CD-4D17-BB3D-64080628B2C5}"/>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6DD35EB0-9E64-4F9C-B59A-40E394A69A90}"/>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10892C07-F316-4E1B-AD74-1399C231F06D}"/>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9741CAC3-1C67-4DCB-97A1-28E9523C7762}"/>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453BD329-632D-40B3-BA88-10DBB536BAE9}"/>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D889F087-4AEA-4376-88C2-9A09FF3753AB}"/>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PF-R03 / CCK 세부 재구성 · 논리 서비스 설계</a:t>
            </a:r>
          </a:p>
        </p:txBody>
      </p:sp>
      <p:sp>
        <p:nvSpPr>
          <p:cNvPr id="2" name="">
            <a:extLst xmlns:a="http://schemas.openxmlformats.org/drawingml/2006/main">
              <a:ext uri="{FF2B5EF4-FFF2-40B4-BE49-F238E27FC236}">
                <a16:creationId xmlns:a16="http://schemas.microsoft.com/office/drawing/2014/main" id="{14E423EA-3A06-4A37-867B-6675E14B5603}"/>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생산기술연구원 AI 고도화 · 세부 서비스 구조</a:t>
            </a:r>
          </a:p>
        </p:txBody>
      </p:sp>
      <p:sp>
        <p:nvSpPr>
          <p:cNvPr id="3" name="">
            <a:extLst xmlns:a="http://schemas.openxmlformats.org/drawingml/2006/main">
              <a:ext uri="{FF2B5EF4-FFF2-40B4-BE49-F238E27FC236}">
                <a16:creationId xmlns:a16="http://schemas.microsoft.com/office/drawing/2014/main" id="{1548444D-4EEE-44A3-8E42-1EA1DC8BB15E}"/>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0E4DB6B-CBE5-4144-970F-1E9467E89348}"/>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B1B43D8F-1BF7-409B-8C89-92FD12877B65}"/>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24</a:t>
            </a:r>
          </a:p>
        </p:txBody>
      </p:sp>
      <p:sp>
        <p:nvSpPr>
          <p:cNvPr id="6" name="">
            <a:extLst xmlns:a="http://schemas.openxmlformats.org/drawingml/2006/main">
              <a:ext uri="{FF2B5EF4-FFF2-40B4-BE49-F238E27FC236}">
                <a16:creationId xmlns:a16="http://schemas.microsoft.com/office/drawing/2014/main" id="{DDEE381E-45FD-4A06-B0CE-9EB703677C52}"/>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SFR-007~012</a:t>
            </a:r>
          </a:p>
        </p:txBody>
      </p:sp>
      <p:sp>
        <p:nvSpPr>
          <p:cNvPr id="7" name="">
            <a:extLst xmlns:a="http://schemas.openxmlformats.org/drawingml/2006/main">
              <a:ext uri="{FF2B5EF4-FFF2-40B4-BE49-F238E27FC236}">
                <a16:creationId xmlns:a16="http://schemas.microsoft.com/office/drawing/2014/main" id="{EA92A8E7-8CB9-476D-8B06-67439F894653}"/>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42380A06-FAF3-4CB6-8763-9CDA585204A7}"/>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4B36F2D4-4F9B-4B4B-8679-1E18E12291F8}"/>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연구행정 접점</a:t>
            </a:r>
          </a:p>
        </p:txBody>
      </p:sp>
      <p:sp>
        <p:nvSpPr>
          <p:cNvPr id="10" name="">
            <a:extLst xmlns:a="http://schemas.openxmlformats.org/drawingml/2006/main">
              <a:ext uri="{FF2B5EF4-FFF2-40B4-BE49-F238E27FC236}">
                <a16:creationId xmlns:a16="http://schemas.microsoft.com/office/drawing/2014/main" id="{9CBB78E4-5E8B-4635-BC24-F0F612DA1CC1}"/>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90998196-4BC2-4C7E-9078-B9BA10A33B47}"/>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637B202D-2176-41FE-A78B-F57FB90AAD18}"/>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소속·직무·이력</a:t>
            </a:r>
          </a:p>
        </p:txBody>
      </p:sp>
      <p:sp>
        <p:nvSpPr>
          <p:cNvPr id="13" name="">
            <a:extLst xmlns:a="http://schemas.openxmlformats.org/drawingml/2006/main">
              <a:ext uri="{FF2B5EF4-FFF2-40B4-BE49-F238E27FC236}">
                <a16:creationId xmlns:a16="http://schemas.microsoft.com/office/drawing/2014/main" id="{60B6C645-61A5-4648-A56A-4DDE14E871F8}"/>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A2AFE6B4-A2A9-466E-910B-C8E1356F51F1}"/>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9F432800-DC9C-4E4B-A235-E9D791C910A3}"/>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업무 검색 재정렬</a:t>
            </a:r>
          </a:p>
        </p:txBody>
      </p:sp>
      <p:sp>
        <p:nvSpPr>
          <p:cNvPr id="16" name="">
            <a:extLst xmlns:a="http://schemas.openxmlformats.org/drawingml/2006/main">
              <a:ext uri="{FF2B5EF4-FFF2-40B4-BE49-F238E27FC236}">
                <a16:creationId xmlns:a16="http://schemas.microsoft.com/office/drawing/2014/main" id="{3FD4CDC6-3A8B-4599-9AE8-CD2CC47F2FF3}"/>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E3F48F3F-3C67-4840-B87F-56FF96EE2205}"/>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BB430D02-7534-45AA-96DA-77BB30293137}"/>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에이전트·정형 생성</a:t>
            </a:r>
          </a:p>
        </p:txBody>
      </p:sp>
      <p:sp>
        <p:nvSpPr>
          <p:cNvPr id="19" name="">
            <a:extLst xmlns:a="http://schemas.openxmlformats.org/drawingml/2006/main">
              <a:ext uri="{FF2B5EF4-FFF2-40B4-BE49-F238E27FC236}">
                <a16:creationId xmlns:a16="http://schemas.microsoft.com/office/drawing/2014/main" id="{030109A0-E3C4-40AA-9482-0ACEE1691079}"/>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A01B6FF1-708B-43AB-9661-AA1812500350}"/>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277DCD2B-4459-47FB-BBAC-8A78B2512BC2}"/>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양식·근거 검사</a:t>
            </a:r>
          </a:p>
        </p:txBody>
      </p:sp>
      <p:sp>
        <p:nvSpPr>
          <p:cNvPr id="22" name="">
            <a:extLst xmlns:a="http://schemas.openxmlformats.org/drawingml/2006/main">
              <a:ext uri="{FF2B5EF4-FFF2-40B4-BE49-F238E27FC236}">
                <a16:creationId xmlns:a16="http://schemas.microsoft.com/office/drawing/2014/main" id="{6037527F-DB15-4D40-B556-C2C980CCA0AB}"/>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DEE0C89F-3D21-4CCB-8FCF-1A6126CB6961}"/>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5F3144B3-783D-4B7E-9A72-01DEB89CAE92}"/>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작성 담당 확인</a:t>
            </a:r>
          </a:p>
        </p:txBody>
      </p:sp>
      <p:sp>
        <p:nvSpPr>
          <p:cNvPr id="25" name="">
            <a:extLst xmlns:a="http://schemas.openxmlformats.org/drawingml/2006/main">
              <a:ext uri="{FF2B5EF4-FFF2-40B4-BE49-F238E27FC236}">
                <a16:creationId xmlns:a16="http://schemas.microsoft.com/office/drawing/2014/main" id="{DBD9DB0F-1729-47A4-B129-747DF32DAD11}"/>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6428A44A-56DE-449A-B2FE-F377742C83F9}"/>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7E665F54-5ED8-446F-9B1F-FF6AD8851373}"/>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문서 업무 연결</a:t>
            </a:r>
          </a:p>
        </p:txBody>
      </p:sp>
      <p:sp>
        <p:nvSpPr>
          <p:cNvPr id="28" name="">
            <a:extLst xmlns:a="http://schemas.openxmlformats.org/drawingml/2006/main">
              <a:ext uri="{FF2B5EF4-FFF2-40B4-BE49-F238E27FC236}">
                <a16:creationId xmlns:a16="http://schemas.microsoft.com/office/drawing/2014/main" id="{98F98C39-2C7B-4C0D-8DC2-6F67C78D8661}"/>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4821542F-E515-4E77-B010-888F904341A4}"/>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A25D49CD-2AB6-4AD5-99EA-958E5EE40FE9}"/>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토큰·회귀 평가</a:t>
            </a:r>
          </a:p>
        </p:txBody>
      </p:sp>
      <p:sp>
        <p:nvSpPr>
          <p:cNvPr id="31" name="">
            <a:extLst xmlns:a="http://schemas.openxmlformats.org/drawingml/2006/main">
              <a:ext uri="{FF2B5EF4-FFF2-40B4-BE49-F238E27FC236}">
                <a16:creationId xmlns:a16="http://schemas.microsoft.com/office/drawing/2014/main" id="{B4479040-F38D-49D1-BBCB-99097FD38996}"/>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F2F0CB73-71E2-4B7F-9B4A-729E8C2F8C1C}"/>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36683E55-0143-4B2F-8DC8-B5BDD4A45FE9}"/>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연구행정 자료</a:t>
            </a:r>
          </a:p>
        </p:txBody>
      </p:sp>
      <p:sp>
        <p:nvSpPr>
          <p:cNvPr id="34" name="">
            <a:extLst xmlns:a="http://schemas.openxmlformats.org/drawingml/2006/main">
              <a:ext uri="{FF2B5EF4-FFF2-40B4-BE49-F238E27FC236}">
                <a16:creationId xmlns:a16="http://schemas.microsoft.com/office/drawing/2014/main" id="{E6CFA513-DA38-4427-A341-A41ED2CE2E5F}"/>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0184D33F-5F1E-42DD-A94D-A4511F62F5CB}"/>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FD66AF2E-0711-4EC3-9C88-A13672B64C52}"/>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목차·문서 구조화</a:t>
            </a:r>
          </a:p>
        </p:txBody>
      </p:sp>
      <p:sp>
        <p:nvSpPr>
          <p:cNvPr id="37" name="">
            <a:extLst xmlns:a="http://schemas.openxmlformats.org/drawingml/2006/main">
              <a:ext uri="{FF2B5EF4-FFF2-40B4-BE49-F238E27FC236}">
                <a16:creationId xmlns:a16="http://schemas.microsoft.com/office/drawing/2014/main" id="{196FA7F9-77AD-4DE9-AA4F-03C7BB76F497}"/>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18236DF6-EE70-4ED9-AA4B-89DDCE176A0A}"/>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57B4C4B9-7C18-46EE-85FA-DB738CC3228C}"/>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허용 지식·색인</a:t>
            </a:r>
          </a:p>
        </p:txBody>
      </p:sp>
      <p:sp>
        <p:nvSpPr>
          <p:cNvPr id="40" name="">
            <a:extLst xmlns:a="http://schemas.openxmlformats.org/drawingml/2006/main">
              <a:ext uri="{FF2B5EF4-FFF2-40B4-BE49-F238E27FC236}">
                <a16:creationId xmlns:a16="http://schemas.microsoft.com/office/drawing/2014/main" id="{F5D1D4D4-DF7E-494E-BAB5-CD5AC9C3BAFF}"/>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8481FFAC-B70D-4C78-A0F0-80CB3C3AB776}"/>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5258CF0D-AC05-427C-B569-49B69CFD7CF7}"/>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모델·롤백 정책</a:t>
            </a:r>
          </a:p>
        </p:txBody>
      </p:sp>
      <p:sp>
        <p:nvSpPr>
          <p:cNvPr id="52" name="">
            <a:extLst xmlns:a="http://schemas.openxmlformats.org/drawingml/2006/main">
              <a:ext uri="{FF2B5EF4-FFF2-40B4-BE49-F238E27FC236}">
                <a16:creationId xmlns:a16="http://schemas.microsoft.com/office/drawing/2014/main" id="{F60C59E9-98E7-483B-A472-4DDC5F341316}"/>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245276433"/>
      </p:ext>
    </p:extLst>
  </p:cSld>
</p:sld>
</file>

<file path=ppt/slides/slide2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DA0440BD-EF23-44D6-8056-2A5610B95C39}"/>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PF-R03 / 논리 인터페이스·복구 설계</a:t>
            </a:r>
          </a:p>
        </p:txBody>
      </p:sp>
      <p:sp>
        <p:nvSpPr>
          <p:cNvPr id="2" name="">
            <a:extLst xmlns:a="http://schemas.openxmlformats.org/drawingml/2006/main">
              <a:ext uri="{FF2B5EF4-FFF2-40B4-BE49-F238E27FC236}">
                <a16:creationId xmlns:a16="http://schemas.microsoft.com/office/drawing/2014/main" id="{FCCE95EF-0AA0-491A-B62E-ED95F0ED86EC}"/>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생산기술연구원 AI 고도화 · 데이터와 예외 처리</a:t>
            </a:r>
          </a:p>
        </p:txBody>
      </p:sp>
      <p:sp>
        <p:nvSpPr>
          <p:cNvPr id="3" name="">
            <a:extLst xmlns:a="http://schemas.openxmlformats.org/drawingml/2006/main">
              <a:ext uri="{FF2B5EF4-FFF2-40B4-BE49-F238E27FC236}">
                <a16:creationId xmlns:a16="http://schemas.microsoft.com/office/drawing/2014/main" id="{225AE960-0D2C-4927-AE43-63EFF7EEB58F}"/>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3A6C843-E901-43ED-B5CC-C4DF3B5ADE53}"/>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B221C46C-5403-42D1-872B-6356128452AD}"/>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25</a:t>
            </a:r>
          </a:p>
        </p:txBody>
      </p:sp>
      <p:sp>
        <p:nvSpPr>
          <p:cNvPr id="6" name="">
            <a:extLst xmlns:a="http://schemas.openxmlformats.org/drawingml/2006/main">
              <a:ext uri="{FF2B5EF4-FFF2-40B4-BE49-F238E27FC236}">
                <a16:creationId xmlns:a16="http://schemas.microsoft.com/office/drawing/2014/main" id="{6BD9B7AA-418A-425B-A58F-12004762D0BF}"/>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D3516B4E-D71F-4FBF-8C0B-AA48DFDB8814}"/>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F811721C-07D0-4F3A-AC9F-7FE8F3FF4B9B}"/>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AEDBCB8B-8EB7-42B3-960D-17C2DE2B295F}"/>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소속·직무·검색 이력·진행업무 연결</a:t>
            </a:r>
          </a:p>
        </p:txBody>
      </p:sp>
      <p:sp>
        <p:nvSpPr>
          <p:cNvPr id="10" name="">
            <a:extLst xmlns:a="http://schemas.openxmlformats.org/drawingml/2006/main">
              <a:ext uri="{FF2B5EF4-FFF2-40B4-BE49-F238E27FC236}">
                <a16:creationId xmlns:a16="http://schemas.microsoft.com/office/drawing/2014/main" id="{2465FCB3-3A57-41B8-8383-065461738623}"/>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524DB3F-720C-4E27-A7D7-5BBDE1F0BE8A}"/>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A08D5002-CF6E-4AC1-8D47-B158015FB288}"/>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직무·질문</a:t>
            </a:r>
          </a:p>
        </p:txBody>
      </p:sp>
      <p:sp>
        <p:nvSpPr>
          <p:cNvPr id="13" name="">
            <a:extLst xmlns:a="http://schemas.openxmlformats.org/drawingml/2006/main">
              <a:ext uri="{FF2B5EF4-FFF2-40B4-BE49-F238E27FC236}">
                <a16:creationId xmlns:a16="http://schemas.microsoft.com/office/drawing/2014/main" id="{C77DC1CC-0B9F-4ED6-9213-A1E6D0795219}"/>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994AB9F-7125-4C0E-9A61-99F5D655552D}"/>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38184449-646C-46E3-94F9-D71B656AC02D}"/>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재정렬 근거</a:t>
            </a:r>
          </a:p>
        </p:txBody>
      </p:sp>
      <p:sp>
        <p:nvSpPr>
          <p:cNvPr id="16" name="">
            <a:extLst xmlns:a="http://schemas.openxmlformats.org/drawingml/2006/main">
              <a:ext uri="{FF2B5EF4-FFF2-40B4-BE49-F238E27FC236}">
                <a16:creationId xmlns:a16="http://schemas.microsoft.com/office/drawing/2014/main" id="{3ECFDDCA-EBFA-4414-8C62-DD57E22C1B8C}"/>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2552E89-28C2-444C-86FB-7148BD2364EF}"/>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180035DC-CF92-4D74-B254-65B34F3CC0F5}"/>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정형 초안</a:t>
            </a:r>
          </a:p>
        </p:txBody>
      </p:sp>
      <p:sp>
        <p:nvSpPr>
          <p:cNvPr id="19" name="">
            <a:extLst xmlns:a="http://schemas.openxmlformats.org/drawingml/2006/main">
              <a:ext uri="{FF2B5EF4-FFF2-40B4-BE49-F238E27FC236}">
                <a16:creationId xmlns:a16="http://schemas.microsoft.com/office/drawing/2014/main" id="{4087B98F-7A07-46BD-AAE5-C2DB27968EBA}"/>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1DAD01E-FA39-488F-B419-57EEF2E69134}"/>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254EA787-BA3D-4AFF-A526-8852C86FD7D1}"/>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정형 초안</a:t>
            </a:r>
          </a:p>
        </p:txBody>
      </p:sp>
      <p:sp>
        <p:nvSpPr>
          <p:cNvPr id="22" name="">
            <a:extLst xmlns:a="http://schemas.openxmlformats.org/drawingml/2006/main">
              <a:ext uri="{FF2B5EF4-FFF2-40B4-BE49-F238E27FC236}">
                <a16:creationId xmlns:a16="http://schemas.microsoft.com/office/drawing/2014/main" id="{164B6103-5A21-4A95-B53D-DBDA73DA311B}"/>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5813D02-E8F7-44A7-BEAF-729E5872C10D}"/>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89461429-0A3C-4467-BD62-3DF56177B93C}"/>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검토 문서</a:t>
            </a:r>
          </a:p>
        </p:txBody>
      </p:sp>
      <p:sp>
        <p:nvSpPr>
          <p:cNvPr id="25" name="">
            <a:extLst xmlns:a="http://schemas.openxmlformats.org/drawingml/2006/main">
              <a:ext uri="{FF2B5EF4-FFF2-40B4-BE49-F238E27FC236}">
                <a16:creationId xmlns:a16="http://schemas.microsoft.com/office/drawing/2014/main" id="{BE0A96E1-2F6E-4F1F-8D78-BD0D34480D48}"/>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1156E63C-3045-4AA9-8F19-6B362116A7FD}"/>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전보 전 캐시·권한 없는 연구자료·모델 장애</a:t>
            </a:r>
          </a:p>
        </p:txBody>
      </p:sp>
      <p:sp>
        <p:nvSpPr>
          <p:cNvPr id="27" name="">
            <a:extLst xmlns:a="http://schemas.openxmlformats.org/drawingml/2006/main">
              <a:ext uri="{FF2B5EF4-FFF2-40B4-BE49-F238E27FC236}">
                <a16:creationId xmlns:a16="http://schemas.microsoft.com/office/drawing/2014/main" id="{10859549-8695-4B96-BED8-24BE96B299A3}"/>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9F673B18-767C-4BDC-B233-12A42993271A}"/>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기존 검색 대비 근거·완료시간 평가</a:t>
            </a:r>
          </a:p>
        </p:txBody>
      </p:sp>
      <p:sp>
        <p:nvSpPr>
          <p:cNvPr id="29" name="">
            <a:extLst xmlns:a="http://schemas.openxmlformats.org/drawingml/2006/main">
              <a:ext uri="{FF2B5EF4-FFF2-40B4-BE49-F238E27FC236}">
                <a16:creationId xmlns:a16="http://schemas.microsoft.com/office/drawing/2014/main" id="{339012E7-915E-49F2-A82F-15BD13AE560A}"/>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CFF4FC35-6796-400F-8651-6057A708B45F}"/>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GPU 이중화·모델 롤백·부서별 토큰 계측</a:t>
            </a:r>
          </a:p>
        </p:txBody>
      </p:sp>
      <p:sp>
        <p:nvSpPr>
          <p:cNvPr id="31" name="">
            <a:extLst xmlns:a="http://schemas.openxmlformats.org/drawingml/2006/main">
              <a:ext uri="{FF2B5EF4-FFF2-40B4-BE49-F238E27FC236}">
                <a16:creationId xmlns:a16="http://schemas.microsoft.com/office/drawing/2014/main" id="{47CEA791-2974-4E50-9C6C-726E61399947}"/>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896B7F62-A883-4378-89D1-E3AF56221FEF}"/>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직무별 순위·근거·서식과 모델 전환·복구 결과</a:t>
            </a:r>
          </a:p>
        </p:txBody>
      </p:sp>
    </p:spTree>
    <p:extLst>
      <p:ext uri="{BB962C8B-B14F-4D97-AF65-F5344CB8AC3E}">
        <p14:creationId xmlns:p14="http://schemas.microsoft.com/office/powerpoint/2010/main" val="572527021"/>
      </p:ext>
    </p:extLst>
  </p:cSld>
</p:sld>
</file>

<file path=ppt/slides/slide26.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A2B7E99-FC22-410B-B0D1-45DC0B26BF69}"/>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PF-R03 / CCK 비교·재현 시험 설계</a:t>
            </a:r>
          </a:p>
        </p:txBody>
      </p:sp>
      <p:sp>
        <p:nvSpPr>
          <p:cNvPr id="2" name="">
            <a:extLst xmlns:a="http://schemas.openxmlformats.org/drawingml/2006/main">
              <a:ext uri="{FF2B5EF4-FFF2-40B4-BE49-F238E27FC236}">
                <a16:creationId xmlns:a16="http://schemas.microsoft.com/office/drawing/2014/main" id="{0B7663C9-CF17-468D-A2AF-27DCDE7D3EF4}"/>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생산기술연구원 AI 고도화 · 벤치마킹</a:t>
            </a:r>
          </a:p>
        </p:txBody>
      </p:sp>
      <p:sp>
        <p:nvSpPr>
          <p:cNvPr id="3" name="">
            <a:extLst xmlns:a="http://schemas.openxmlformats.org/drawingml/2006/main">
              <a:ext uri="{FF2B5EF4-FFF2-40B4-BE49-F238E27FC236}">
                <a16:creationId xmlns:a16="http://schemas.microsoft.com/office/drawing/2014/main" id="{B5C9315F-8C18-4ECF-838B-D5E3C3FF3BBD}"/>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B92F59B-BDEF-4B7F-897D-0AC21D583B6C}"/>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D24D943E-7035-4A92-897D-263DD0AFEDA0}"/>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26</a:t>
            </a:r>
          </a:p>
        </p:txBody>
      </p:sp>
      <p:sp>
        <p:nvSpPr>
          <p:cNvPr id="6" name="">
            <a:extLst xmlns:a="http://schemas.openxmlformats.org/drawingml/2006/main">
              <a:ext uri="{FF2B5EF4-FFF2-40B4-BE49-F238E27FC236}">
                <a16:creationId xmlns:a16="http://schemas.microsoft.com/office/drawing/2014/main" id="{283AA919-9590-4AA3-8D1D-C5C7BC48E30C}"/>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EF0796CD-473B-4FE0-BDFA-5AB9D15ADDA8}"/>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기존 연구행정 검색의 고도화</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업무별 에이전트·정형 출력 구성</a:t>
            </a:r>
          </a:p>
        </p:txBody>
      </p:sp>
      <p:sp>
        <p:nvSpPr>
          <p:cNvPr id="8" name="">
            <a:extLst xmlns:a="http://schemas.openxmlformats.org/drawingml/2006/main">
              <a:ext uri="{FF2B5EF4-FFF2-40B4-BE49-F238E27FC236}">
                <a16:creationId xmlns:a16="http://schemas.microsoft.com/office/drawing/2014/main" id="{80374AA8-8388-45BE-BE21-B4116D7D6632}"/>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A1BD28A2-072B-4991-8873-16E665978373}"/>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검색 재정렬의 근거 누락</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후속 공고와 도입 완료의 혼동</a:t>
            </a:r>
          </a:p>
        </p:txBody>
      </p:sp>
      <p:sp>
        <p:nvSpPr>
          <p:cNvPr id="10" name="">
            <a:extLst xmlns:a="http://schemas.openxmlformats.org/drawingml/2006/main">
              <a:ext uri="{FF2B5EF4-FFF2-40B4-BE49-F238E27FC236}">
                <a16:creationId xmlns:a16="http://schemas.microsoft.com/office/drawing/2014/main" id="{1CF0021C-DABD-4174-B9F1-6822EFA0EB98}"/>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C11CC58E-161C-4E73-957D-A9B89A5AF7E2}"/>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기존 검색 대비 근거·완료시간 평가</a:t>
            </a:r>
          </a:p>
        </p:txBody>
      </p:sp>
      <p:sp>
        <p:nvSpPr>
          <p:cNvPr id="12" name="">
            <a:extLst xmlns:a="http://schemas.openxmlformats.org/drawingml/2006/main">
              <a:ext uri="{FF2B5EF4-FFF2-40B4-BE49-F238E27FC236}">
                <a16:creationId xmlns:a16="http://schemas.microsoft.com/office/drawing/2014/main" id="{BCD63710-6C84-4D2D-9AE5-B666679A3E9D}"/>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E0B1045F-E391-4F77-A4D6-6A3444BB5A5F}"/>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동일 질의를 연구직·행정직 계정으로 실행해 검색·</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서식 비교</a:t>
            </a:r>
          </a:p>
        </p:txBody>
      </p:sp>
      <p:sp>
        <p:nvSpPr>
          <p:cNvPr id="14" name="">
            <a:extLst xmlns:a="http://schemas.openxmlformats.org/drawingml/2006/main">
              <a:ext uri="{FF2B5EF4-FFF2-40B4-BE49-F238E27FC236}">
                <a16:creationId xmlns:a16="http://schemas.microsoft.com/office/drawing/2014/main" id="{7EAD37F1-BF5D-437F-A470-229EB50F07AB}"/>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D4176F3E-43FB-457E-9B9E-43BBE8354F35}"/>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전보 전 캐시·권한 없는 연구자료·모델 장애</a:t>
            </a:r>
          </a:p>
        </p:txBody>
      </p:sp>
      <p:sp>
        <p:nvSpPr>
          <p:cNvPr id="16" name="">
            <a:extLst xmlns:a="http://schemas.openxmlformats.org/drawingml/2006/main">
              <a:ext uri="{FF2B5EF4-FFF2-40B4-BE49-F238E27FC236}">
                <a16:creationId xmlns:a16="http://schemas.microsoft.com/office/drawing/2014/main" id="{6747D2D2-C87D-459A-B589-3B632061EEEF}"/>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B0F844D6-4782-49D1-999C-7D2578B9169B}"/>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직무별 순위·근거·서식과 모델 전환·복구 결과</a:t>
            </a:r>
          </a:p>
        </p:txBody>
      </p:sp>
    </p:spTree>
    <p:extLst>
      <p:ext uri="{BB962C8B-B14F-4D97-AF65-F5344CB8AC3E}">
        <p14:creationId xmlns:p14="http://schemas.microsoft.com/office/powerpoint/2010/main" val="2023947943"/>
      </p:ext>
    </p:extLst>
  </p:cSld>
</p:sld>
</file>

<file path=ppt/slides/slide27.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4A35137-740F-4559-98B6-B8DC08744018}"/>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PF-R04 / 공식 RFP·과업내용서 + 공급사 계약 발표 확인 / 국내</a:t>
            </a:r>
          </a:p>
        </p:txBody>
      </p:sp>
      <p:sp>
        <p:nvSpPr>
          <p:cNvPr id="2" name="">
            <a:extLst xmlns:a="http://schemas.openxmlformats.org/drawingml/2006/main">
              <a:ext uri="{FF2B5EF4-FFF2-40B4-BE49-F238E27FC236}">
                <a16:creationId xmlns:a16="http://schemas.microsoft.com/office/drawing/2014/main" id="{BDC27A49-B855-4CDE-BC20-661DA43F3BC6}"/>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지역난방공사 안전 LLM</a:t>
            </a:r>
          </a:p>
        </p:txBody>
      </p:sp>
      <p:sp>
        <p:nvSpPr>
          <p:cNvPr id="3" name="">
            <a:extLst xmlns:a="http://schemas.openxmlformats.org/drawingml/2006/main">
              <a:ext uri="{FF2B5EF4-FFF2-40B4-BE49-F238E27FC236}">
                <a16:creationId xmlns:a16="http://schemas.microsoft.com/office/drawing/2014/main" id="{4CA579F4-C067-4B52-81F4-71E9CF444EF1}"/>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0110DDC-30E1-474E-9B12-C75E8A056476}"/>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2BCFC027-0D17-41D5-88E6-9FCAD3697C3F}"/>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27</a:t>
            </a:r>
          </a:p>
        </p:txBody>
      </p:sp>
      <p:sp>
        <p:nvSpPr>
          <p:cNvPr id="6" name="">
            <a:extLst xmlns:a="http://schemas.openxmlformats.org/drawingml/2006/main">
              <a:ext uri="{FF2B5EF4-FFF2-40B4-BE49-F238E27FC236}">
                <a16:creationId xmlns:a16="http://schemas.microsoft.com/office/drawing/2014/main" id="{4EF728BF-40F1-41E8-AD14-06E81A0A592C}"/>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53532091-D9AF-481F-912F-CA46821EAE55}"/>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내부 안전 규정·작업절차를 활용하는 안전 AI와 외부 상</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용 LLM을 이용하는 AI 서치를 구분한 시범구축. 범용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문서 작성뿐 아니라 제출 문서를 규정과 대조하고, 개인·</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부서 지식공간을 구성하는 업무 범위.</a:t>
            </a:r>
          </a:p>
        </p:txBody>
      </p:sp>
      <p:sp>
        <p:nvSpPr>
          <p:cNvPr id="8" name="">
            <a:extLst xmlns:a="http://schemas.openxmlformats.org/drawingml/2006/main">
              <a:ext uri="{FF2B5EF4-FFF2-40B4-BE49-F238E27FC236}">
                <a16:creationId xmlns:a16="http://schemas.microsoft.com/office/drawing/2014/main" id="{DC412FAD-9DC2-436B-B06E-95D77018B406}"/>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D21A33DE-87A6-466D-BB60-9839A5C97083}"/>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원문 예시 도면에서는 통합 UI 아래 DMZ의 AI 서치와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내부 안전 AI·RAG·LLM·DB를 분리. 과업내용서는 문서</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자동 최신화, 부서별 접근권한, 청크·임베딩 품질 확인,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실패 문서 재처리까지 요구. 업로드 성공과 검색 가능한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지식 등록 완료의 별도 상태 관리.</a:t>
            </a:r>
          </a:p>
        </p:txBody>
      </p:sp>
      <p:sp>
        <p:nvSpPr>
          <p:cNvPr id="10" name="">
            <a:extLst xmlns:a="http://schemas.openxmlformats.org/drawingml/2006/main">
              <a:ext uri="{FF2B5EF4-FFF2-40B4-BE49-F238E27FC236}">
                <a16:creationId xmlns:a16="http://schemas.microsoft.com/office/drawing/2014/main" id="{5E66CD71-6CFA-485D-8DBE-6958284F9ED3}"/>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1ACF455A-B5AB-4E90-82E7-12E272A197FF}"/>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CCK에서는 안전 답변의 문장 품질과 규정 판본·접근권한의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정확성을 별도 시험할 필요. 상충하는 두 규정이 검색될 때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한쪽을 감추기보다 근거와 적용 시점을 함께 제시하는 구조.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외부 모델과 내부 자료의 전달 경계를 TS 보안 환경에 맞춰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재설계할 대상.</a:t>
            </a:r>
          </a:p>
        </p:txBody>
      </p:sp>
      <p:sp>
        <p:nvSpPr>
          <p:cNvPr id="12" name="">
            <a:extLst xmlns:a="http://schemas.openxmlformats.org/drawingml/2006/main">
              <a:ext uri="{FF2B5EF4-FFF2-40B4-BE49-F238E27FC236}">
                <a16:creationId xmlns:a16="http://schemas.microsoft.com/office/drawing/2014/main" id="{BACF301F-3287-4995-A252-3D14A1128827}"/>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3C468337-3234-452C-B5D2-EB0D6655C6A2}"/>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안전 규정 효력일·소유부서 / 자동 갱신 / 상충 근거 표시</a:t>
            </a:r>
          </a:p>
        </p:txBody>
      </p:sp>
      <p:sp>
        <p:nvSpPr>
          <p:cNvPr id="14" name="">
            <a:extLst xmlns:a="http://schemas.openxmlformats.org/drawingml/2006/main">
              <a:ext uri="{FF2B5EF4-FFF2-40B4-BE49-F238E27FC236}">
                <a16:creationId xmlns:a16="http://schemas.microsoft.com/office/drawing/2014/main" id="{029D0B5B-9A8B-4147-8623-3A7B18831606}"/>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B7892117-6B09-4B63-959D-D826DA8305BC}"/>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개정·폐지·권한 제한·상충 문서의 검색 및 검토 결과 대조</a:t>
            </a:r>
          </a:p>
        </p:txBody>
      </p:sp>
      <p:sp>
        <p:nvSpPr>
          <p:cNvPr id="16" name="">
            <a:extLst xmlns:a="http://schemas.openxmlformats.org/drawingml/2006/main">
              <a:ext uri="{FF2B5EF4-FFF2-40B4-BE49-F238E27FC236}">
                <a16:creationId xmlns:a16="http://schemas.microsoft.com/office/drawing/2014/main" id="{89662C77-CFF8-43EF-974C-B9591D3BFD19}"/>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3CFE1D25-8165-4C61-80FA-2E950FFA7785}"/>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구버전 인용률 / 개정 반영 지연 / 검토 누락률</a:t>
            </a:r>
          </a:p>
        </p:txBody>
      </p:sp>
      <p:sp>
        <p:nvSpPr>
          <p:cNvPr id="18" name="">
            <a:extLst xmlns:a="http://schemas.openxmlformats.org/drawingml/2006/main">
              <a:ext uri="{FF2B5EF4-FFF2-40B4-BE49-F238E27FC236}">
                <a16:creationId xmlns:a16="http://schemas.microsoft.com/office/drawing/2014/main" id="{7915E1AE-B715-470F-A63A-6FEEFD16B26C}"/>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Temperature를 상세도와 동일시한 원문 표현은 구현 검증 필요</a:t>
            </a:r>
          </a:p>
        </p:txBody>
      </p:sp>
    </p:spTree>
    <p:extLst>
      <p:ext uri="{BB962C8B-B14F-4D97-AF65-F5344CB8AC3E}">
        <p14:creationId xmlns:p14="http://schemas.microsoft.com/office/powerpoint/2010/main" val="1942963793"/>
      </p:ext>
    </p:extLst>
  </p:cSld>
</p:sld>
</file>

<file path=ppt/slides/slide28.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A9ECC1E-CE0D-4E03-BD74-49ECD403FAC9}"/>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PF-R04 / 과업내용서 2025.03 · SFR-005~008 / 1–3</a:t>
            </a:r>
          </a:p>
        </p:txBody>
      </p:sp>
      <p:sp>
        <p:nvSpPr>
          <p:cNvPr id="2" name="">
            <a:extLst xmlns:a="http://schemas.openxmlformats.org/drawingml/2006/main">
              <a:ext uri="{FF2B5EF4-FFF2-40B4-BE49-F238E27FC236}">
                <a16:creationId xmlns:a16="http://schemas.microsoft.com/office/drawing/2014/main" id="{47DEAF2F-4FFF-455B-BAFD-6E30202ACD0C}"/>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지역난방공사 안전 LLM · RFP 요구사항</a:t>
            </a:r>
          </a:p>
        </p:txBody>
      </p:sp>
      <p:sp>
        <p:nvSpPr>
          <p:cNvPr id="3" name="">
            <a:extLst xmlns:a="http://schemas.openxmlformats.org/drawingml/2006/main">
              <a:ext uri="{FF2B5EF4-FFF2-40B4-BE49-F238E27FC236}">
                <a16:creationId xmlns:a16="http://schemas.microsoft.com/office/drawing/2014/main" id="{63614A20-6F33-420E-BC5B-014918BE6FFC}"/>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DA69D0F-7295-48D3-BD4A-6EF5985F381B}"/>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C73D991D-5D21-41C8-831E-B82EEA0794A3}"/>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28</a:t>
            </a:r>
          </a:p>
        </p:txBody>
      </p:sp>
      <p:sp>
        <p:nvSpPr>
          <p:cNvPr id="6" name="">
            <a:extLst xmlns:a="http://schemas.openxmlformats.org/drawingml/2006/main">
              <a:ext uri="{FF2B5EF4-FFF2-40B4-BE49-F238E27FC236}">
                <a16:creationId xmlns:a16="http://schemas.microsoft.com/office/drawing/2014/main" id="{7038BA14-7605-4710-A9F1-8BCC322A1346}"/>
              </a:ext>
            </a:extLst>
          </p:cNvPr>
          <p:cNvSpPr>
            <a:spLocks xmlns:a="http://schemas.openxmlformats.org/drawingml/2006/main" noGrp="1"/>
          </p:cNvSpPr>
          <p:nvPr/>
        </p:nvSpPr>
        <p:spPr>
          <a:xfrm xmlns:a="http://schemas.openxmlformats.org/drawingml/2006/main">
            <a:off x="571500" y="167640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A1D0CCD-768A-4551-8C80-C25DFFB54DDD}"/>
              </a:ext>
            </a:extLst>
          </p:cNvPr>
          <p:cNvSpPr>
            <a:spLocks xmlns:a="http://schemas.openxmlformats.org/drawingml/2006/main" noGrp="1"/>
          </p:cNvSpPr>
          <p:nvPr/>
        </p:nvSpPr>
        <p:spPr>
          <a:xfrm xmlns:a="http://schemas.openxmlformats.org/drawingml/2006/main">
            <a:off x="571500" y="1752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SFR-005 생성형 AI 활용 서비스 개발(1/2)</a:t>
            </a:r>
          </a:p>
        </p:txBody>
      </p:sp>
      <p:sp>
        <p:nvSpPr>
          <p:cNvPr id="8" name="">
            <a:extLst xmlns:a="http://schemas.openxmlformats.org/drawingml/2006/main">
              <a:ext uri="{FF2B5EF4-FFF2-40B4-BE49-F238E27FC236}">
                <a16:creationId xmlns:a16="http://schemas.microsoft.com/office/drawing/2014/main" id="{D293E8EA-DA8A-48D4-A280-BF614606F5B6}"/>
              </a:ext>
            </a:extLst>
          </p:cNvPr>
          <p:cNvSpPr>
            <a:spLocks xmlns:a="http://schemas.openxmlformats.org/drawingml/2006/main" noGrp="1"/>
          </p:cNvSpPr>
          <p:nvPr/>
        </p:nvSpPr>
        <p:spPr>
          <a:xfrm xmlns:a="http://schemas.openxmlformats.org/drawingml/2006/main">
            <a:off x="571500" y="21336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안전 지식 검색, 근거 링크, 최신 문서 활용, 문서·규칙 검</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토와 번역 등 생성형 AI 서비스.</a:t>
            </a:r>
          </a:p>
        </p:txBody>
      </p:sp>
      <p:sp>
        <p:nvSpPr>
          <p:cNvPr id="9" name="">
            <a:extLst xmlns:a="http://schemas.openxmlformats.org/drawingml/2006/main">
              <a:ext uri="{FF2B5EF4-FFF2-40B4-BE49-F238E27FC236}">
                <a16:creationId xmlns:a16="http://schemas.microsoft.com/office/drawing/2014/main" id="{67DC4C75-81E5-49CB-A449-7CDAA5F8A4B5}"/>
              </a:ext>
            </a:extLst>
          </p:cNvPr>
          <p:cNvSpPr>
            <a:spLocks xmlns:a="http://schemas.openxmlformats.org/drawingml/2006/main" noGrp="1"/>
          </p:cNvSpPr>
          <p:nvPr/>
        </p:nvSpPr>
        <p:spPr>
          <a:xfrm xmlns:a="http://schemas.openxmlformats.org/drawingml/2006/main">
            <a:off x="6334125" y="213360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C03 · C04 · C06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폐기 기준과 현행 기준의 충돌, 문서 인용 오류, 번역의 수치·</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단위 보존 확인</a:t>
            </a:r>
          </a:p>
        </p:txBody>
      </p:sp>
      <p:sp>
        <p:nvSpPr>
          <p:cNvPr id="10" name="">
            <a:extLst xmlns:a="http://schemas.openxmlformats.org/drawingml/2006/main">
              <a:ext uri="{FF2B5EF4-FFF2-40B4-BE49-F238E27FC236}">
                <a16:creationId xmlns:a16="http://schemas.microsoft.com/office/drawing/2014/main" id="{FCEB6445-7C18-4254-A3E3-3EB78E664C61}"/>
              </a:ext>
            </a:extLst>
          </p:cNvPr>
          <p:cNvSpPr>
            <a:spLocks xmlns:a="http://schemas.openxmlformats.org/drawingml/2006/main" noGrp="1"/>
          </p:cNvSpPr>
          <p:nvPr/>
        </p:nvSpPr>
        <p:spPr>
          <a:xfrm xmlns:a="http://schemas.openxmlformats.org/drawingml/2006/main">
            <a:off x="571500" y="3133725"/>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F14E174-C9C4-4E99-B286-D21376118718}"/>
              </a:ext>
            </a:extLst>
          </p:cNvPr>
          <p:cNvSpPr>
            <a:spLocks xmlns:a="http://schemas.openxmlformats.org/drawingml/2006/main" noGrp="1"/>
          </p:cNvSpPr>
          <p:nvPr/>
        </p:nvSpPr>
        <p:spPr>
          <a:xfrm xmlns:a="http://schemas.openxmlformats.org/drawingml/2006/main">
            <a:off x="571500" y="32099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SFR-006 생성형 AI 활용 서비스 개발(2/2)</a:t>
            </a:r>
          </a:p>
        </p:txBody>
      </p:sp>
      <p:sp>
        <p:nvSpPr>
          <p:cNvPr id="12" name="">
            <a:extLst xmlns:a="http://schemas.openxmlformats.org/drawingml/2006/main">
              <a:ext uri="{FF2B5EF4-FFF2-40B4-BE49-F238E27FC236}">
                <a16:creationId xmlns:a16="http://schemas.microsoft.com/office/drawing/2014/main" id="{9C72CFA7-03FE-4DCC-87FA-041B278B2B43}"/>
              </a:ext>
            </a:extLst>
          </p:cNvPr>
          <p:cNvSpPr>
            <a:spLocks xmlns:a="http://schemas.openxmlformats.org/drawingml/2006/main" noGrp="1"/>
          </p:cNvSpPr>
          <p:nvPr/>
        </p:nvSpPr>
        <p:spPr>
          <a:xfrm xmlns:a="http://schemas.openxmlformats.org/drawingml/2006/main">
            <a:off x="571500" y="35909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개인·부서 지식공간, 접근 이력, 답변 품질 피드백을 포함</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한 서비스 운영.</a:t>
            </a:r>
          </a:p>
        </p:txBody>
      </p:sp>
      <p:sp>
        <p:nvSpPr>
          <p:cNvPr id="13" name="">
            <a:extLst xmlns:a="http://schemas.openxmlformats.org/drawingml/2006/main">
              <a:ext uri="{FF2B5EF4-FFF2-40B4-BE49-F238E27FC236}">
                <a16:creationId xmlns:a16="http://schemas.microsoft.com/office/drawing/2014/main" id="{6CE6AA17-322E-4161-9AC6-BF6D6C294773}"/>
              </a:ext>
            </a:extLst>
          </p:cNvPr>
          <p:cNvSpPr>
            <a:spLocks xmlns:a="http://schemas.openxmlformats.org/drawingml/2006/main" noGrp="1"/>
          </p:cNvSpPr>
          <p:nvPr/>
        </p:nvSpPr>
        <p:spPr>
          <a:xfrm xmlns:a="http://schemas.openxmlformats.org/drawingml/2006/main">
            <a:off x="6334125" y="359092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C02 · C05 · C08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부서 간 공유 해제·소유자 변경·상충 문서 입력 후 접근·경고·</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피드백 반영 확인</a:t>
            </a:r>
          </a:p>
        </p:txBody>
      </p:sp>
      <p:sp>
        <p:nvSpPr>
          <p:cNvPr id="14" name="">
            <a:extLst xmlns:a="http://schemas.openxmlformats.org/drawingml/2006/main">
              <a:ext uri="{FF2B5EF4-FFF2-40B4-BE49-F238E27FC236}">
                <a16:creationId xmlns:a16="http://schemas.microsoft.com/office/drawing/2014/main" id="{AFDEDC70-6815-4B98-8488-9AED8BE7F1FE}"/>
              </a:ext>
            </a:extLst>
          </p:cNvPr>
          <p:cNvSpPr>
            <a:spLocks xmlns:a="http://schemas.openxmlformats.org/drawingml/2006/main" noGrp="1"/>
          </p:cNvSpPr>
          <p:nvPr/>
        </p:nvSpPr>
        <p:spPr>
          <a:xfrm xmlns:a="http://schemas.openxmlformats.org/drawingml/2006/main">
            <a:off x="571500" y="45910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FC3BB5B-C6B0-4F83-B749-091E608505BA}"/>
              </a:ext>
            </a:extLst>
          </p:cNvPr>
          <p:cNvSpPr>
            <a:spLocks xmlns:a="http://schemas.openxmlformats.org/drawingml/2006/main" noGrp="1"/>
          </p:cNvSpPr>
          <p:nvPr/>
        </p:nvSpPr>
        <p:spPr>
          <a:xfrm xmlns:a="http://schemas.openxmlformats.org/drawingml/2006/main">
            <a:off x="571500" y="46672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SFR-007 RAG 파이프라인 기본 기능</a:t>
            </a:r>
          </a:p>
        </p:txBody>
      </p:sp>
      <p:sp>
        <p:nvSpPr>
          <p:cNvPr id="16" name="">
            <a:extLst xmlns:a="http://schemas.openxmlformats.org/drawingml/2006/main">
              <a:ext uri="{FF2B5EF4-FFF2-40B4-BE49-F238E27FC236}">
                <a16:creationId xmlns:a16="http://schemas.microsoft.com/office/drawing/2014/main" id="{885F6416-115F-4E05-A036-677304C03DDA}"/>
              </a:ext>
            </a:extLst>
          </p:cNvPr>
          <p:cNvSpPr>
            <a:spLocks xmlns:a="http://schemas.openxmlformats.org/drawingml/2006/main" noGrp="1"/>
          </p:cNvSpPr>
          <p:nvPr/>
        </p:nvSpPr>
        <p:spPr>
          <a:xfrm xmlns:a="http://schemas.openxmlformats.org/drawingml/2006/main">
            <a:off x="571500" y="504825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문서 메타데이터·최신성·권한을 반영하는 RAG 파이프라</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인과 검색 결과 재정렬.</a:t>
            </a:r>
          </a:p>
        </p:txBody>
      </p:sp>
      <p:sp>
        <p:nvSpPr>
          <p:cNvPr id="17" name="">
            <a:extLst xmlns:a="http://schemas.openxmlformats.org/drawingml/2006/main">
              <a:ext uri="{FF2B5EF4-FFF2-40B4-BE49-F238E27FC236}">
                <a16:creationId xmlns:a16="http://schemas.microsoft.com/office/drawing/2014/main" id="{04BE06CE-94B6-4D94-B1D8-1CCBBC48F1B8}"/>
              </a:ext>
            </a:extLst>
          </p:cNvPr>
          <p:cNvSpPr>
            <a:spLocks xmlns:a="http://schemas.openxmlformats.org/drawingml/2006/main" noGrp="1"/>
          </p:cNvSpPr>
          <p:nvPr/>
        </p:nvSpPr>
        <p:spPr>
          <a:xfrm xmlns:a="http://schemas.openxmlformats.org/drawingml/2006/main">
            <a:off x="6334125" y="504825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C03 · C10 · C11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동일 문서 개정·삭제와 권한 변경 후 검색 결과·인용 판본의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일치 확인</a:t>
            </a:r>
          </a:p>
        </p:txBody>
      </p:sp>
    </p:spTree>
    <p:extLst>
      <p:ext uri="{BB962C8B-B14F-4D97-AF65-F5344CB8AC3E}">
        <p14:creationId xmlns:p14="http://schemas.microsoft.com/office/powerpoint/2010/main" val="1919435761"/>
      </p:ext>
    </p:extLst>
  </p:cSld>
</p:sld>
</file>

<file path=ppt/slides/slide29.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BE1F88A-B820-4AAD-9957-1A80D4FE49AC}"/>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PF-R04 / 과업내용서 2025.03 · SFR-005~008 / 4–4</a:t>
            </a:r>
          </a:p>
        </p:txBody>
      </p:sp>
      <p:sp>
        <p:nvSpPr>
          <p:cNvPr id="2" name="">
            <a:extLst xmlns:a="http://schemas.openxmlformats.org/drawingml/2006/main">
              <a:ext uri="{FF2B5EF4-FFF2-40B4-BE49-F238E27FC236}">
                <a16:creationId xmlns:a16="http://schemas.microsoft.com/office/drawing/2014/main" id="{A95069E6-E654-4E77-85EC-F9F9F062BA4F}"/>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지역난방공사 안전 LLM · RFP 요구사항</a:t>
            </a:r>
          </a:p>
        </p:txBody>
      </p:sp>
      <p:sp>
        <p:nvSpPr>
          <p:cNvPr id="3" name="">
            <a:extLst xmlns:a="http://schemas.openxmlformats.org/drawingml/2006/main">
              <a:ext uri="{FF2B5EF4-FFF2-40B4-BE49-F238E27FC236}">
                <a16:creationId xmlns:a16="http://schemas.microsoft.com/office/drawing/2014/main" id="{F557D208-3CB3-44BB-8629-B008A8763E34}"/>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F1C0624-03EE-47FD-BAEF-D7DE2C25629B}"/>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1B68929F-B0F0-4AE1-836E-B51DDE2D264A}"/>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29</a:t>
            </a:r>
          </a:p>
        </p:txBody>
      </p:sp>
      <p:sp>
        <p:nvSpPr>
          <p:cNvPr id="6" name="">
            <a:extLst xmlns:a="http://schemas.openxmlformats.org/drawingml/2006/main">
              <a:ext uri="{FF2B5EF4-FFF2-40B4-BE49-F238E27FC236}">
                <a16:creationId xmlns:a16="http://schemas.microsoft.com/office/drawing/2014/main" id="{E5E32C09-135C-41F1-8139-94AE43160ABE}"/>
              </a:ext>
            </a:extLst>
          </p:cNvPr>
          <p:cNvSpPr>
            <a:spLocks xmlns:a="http://schemas.openxmlformats.org/drawingml/2006/main" noGrp="1"/>
          </p:cNvSpPr>
          <p:nvPr/>
        </p:nvSpPr>
        <p:spPr>
          <a:xfrm xmlns:a="http://schemas.openxmlformats.org/drawingml/2006/main">
            <a:off x="571500" y="167640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65971A5-A6B0-45C7-968A-ABF58A08D67B}"/>
              </a:ext>
            </a:extLst>
          </p:cNvPr>
          <p:cNvSpPr>
            <a:spLocks xmlns:a="http://schemas.openxmlformats.org/drawingml/2006/main" noGrp="1"/>
          </p:cNvSpPr>
          <p:nvPr/>
        </p:nvSpPr>
        <p:spPr>
          <a:xfrm xmlns:a="http://schemas.openxmlformats.org/drawingml/2006/main">
            <a:off x="571500" y="1752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SFR-008 RAG 파이프라인 품질 관리 도구</a:t>
            </a:r>
          </a:p>
        </p:txBody>
      </p:sp>
      <p:sp>
        <p:nvSpPr>
          <p:cNvPr id="8" name="">
            <a:extLst xmlns:a="http://schemas.openxmlformats.org/drawingml/2006/main">
              <a:ext uri="{FF2B5EF4-FFF2-40B4-BE49-F238E27FC236}">
                <a16:creationId xmlns:a16="http://schemas.microsoft.com/office/drawing/2014/main" id="{7A93C58E-3894-46DB-8FC7-81EB9CD2F4C1}"/>
              </a:ext>
            </a:extLst>
          </p:cNvPr>
          <p:cNvSpPr>
            <a:spLocks xmlns:a="http://schemas.openxmlformats.org/drawingml/2006/main" noGrp="1"/>
          </p:cNvSpPr>
          <p:nvPr/>
        </p:nvSpPr>
        <p:spPr>
          <a:xfrm xmlns:a="http://schemas.openxmlformats.org/drawingml/2006/main">
            <a:off x="571500" y="21336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청크 품질 확인, 미리보기, 임베딩 실패와 재처리 대기열</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을 관리하는 RAG 품질 도구.</a:t>
            </a:r>
          </a:p>
        </p:txBody>
      </p:sp>
      <p:sp>
        <p:nvSpPr>
          <p:cNvPr id="9" name="">
            <a:extLst xmlns:a="http://schemas.openxmlformats.org/drawingml/2006/main">
              <a:ext uri="{FF2B5EF4-FFF2-40B4-BE49-F238E27FC236}">
                <a16:creationId xmlns:a16="http://schemas.microsoft.com/office/drawing/2014/main" id="{B63A26BD-C633-40E0-BE78-54C514B0EF9C}"/>
              </a:ext>
            </a:extLst>
          </p:cNvPr>
          <p:cNvSpPr>
            <a:spLocks xmlns:a="http://schemas.openxmlformats.org/drawingml/2006/main" noGrp="1"/>
          </p:cNvSpPr>
          <p:nvPr/>
        </p:nvSpPr>
        <p:spPr>
          <a:xfrm xmlns:a="http://schemas.openxmlformats.org/drawingml/2006/main">
            <a:off x="6334125" y="213360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C08 · C10 · C11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표 분절·빈 청크·임베딩 실패를 주입해 탐지·재처리·색인 반영</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까지 추적</a:t>
            </a:r>
          </a:p>
        </p:txBody>
      </p:sp>
    </p:spTree>
    <p:extLst>
      <p:ext uri="{BB962C8B-B14F-4D97-AF65-F5344CB8AC3E}">
        <p14:creationId xmlns:p14="http://schemas.microsoft.com/office/powerpoint/2010/main" val="757681240"/>
      </p:ext>
    </p:extLst>
  </p:cSld>
</p:sld>
</file>

<file path=ppt/slides/slide30.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F32B4EF-DF99-4456-A84E-14C686C7D92D}"/>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PF-R04 / 과업내용서 H/W 구성도 예시 / 원문 삽입도 추출</a:t>
            </a:r>
          </a:p>
        </p:txBody>
      </p:sp>
      <p:sp>
        <p:nvSpPr>
          <p:cNvPr id="2" name="">
            <a:extLst xmlns:a="http://schemas.openxmlformats.org/drawingml/2006/main">
              <a:ext uri="{FF2B5EF4-FFF2-40B4-BE49-F238E27FC236}">
                <a16:creationId xmlns:a16="http://schemas.microsoft.com/office/drawing/2014/main" id="{C76B1984-8A44-4CA8-A037-5F76B344303D}"/>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안전 AI H/W 구성</a:t>
            </a:r>
          </a:p>
        </p:txBody>
      </p:sp>
      <p:sp>
        <p:nvSpPr>
          <p:cNvPr id="3" name="">
            <a:extLst xmlns:a="http://schemas.openxmlformats.org/drawingml/2006/main">
              <a:ext uri="{FF2B5EF4-FFF2-40B4-BE49-F238E27FC236}">
                <a16:creationId xmlns:a16="http://schemas.microsoft.com/office/drawing/2014/main" id="{B9D628FA-2525-43CD-BA3E-5D0A24CD6CBD}"/>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5CB4CF0-5B16-44F9-9D50-136F330E507F}"/>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8C807658-914E-4CA2-8D5D-AEAAA53C461D}"/>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30</a:t>
            </a:r>
          </a:p>
        </p:txBody>
      </p:sp>
      <p:pic>
        <p:nvPicPr>
          <p:cNvPr id="6" name="">
            <a:extLst xmlns:a="http://schemas.openxmlformats.org/drawingml/2006/main">
              <a:ext uri="{FF2B5EF4-FFF2-40B4-BE49-F238E27FC236}">
                <a16:creationId xmlns:a16="http://schemas.microsoft.com/office/drawing/2014/main" id="{9822F66C-4E90-47D3-88BF-C597C2183350}"/>
              </a:ext>
            </a:extLst>
          </p:cNvPr>
          <p:cNvPicPr>
            <a:picLocks xmlns:a="http://schemas.openxmlformats.org/drawingml/2006/main" noChangeAspect="1"/>
          </p:cNvPicPr>
          <p:nvPr/>
        </p:nvPicPr>
        <p:blipFill>
          <a:blip xmlns:r="http://schemas.openxmlformats.org/officeDocument/2006/relationships" xmlns:a="http://schemas.openxmlformats.org/drawingml/2006/main" r:embed="R9ac58d92f52b4259"/>
          <a:stretch xmlns:a="http://schemas.openxmlformats.org/drawingml/2006/main"/>
        </p:blipFill>
        <p:spPr>
          <a:xfrm xmlns:a="http://schemas.openxmlformats.org/drawingml/2006/main">
            <a:off x="2067287" y="1657350"/>
            <a:ext cx="8057425"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6D3DF4E-1302-42CB-B99B-68D552FF5686}"/>
              </a:ext>
            </a:extLst>
          </p:cNvPr>
          <p:cNvSpPr>
            <a:spLocks xmlns:a="http://schemas.openxmlformats.org/drawingml/2006/main" noGrp="1"/>
          </p:cNvSpPr>
          <p:nvPr/>
        </p:nvSpPr>
        <p:spPr>
          <a:xfrm xmlns:a="http://schemas.openxmlformats.org/drawingml/2006/main">
            <a:off x="571500" y="5915025"/>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DMZ AI 서치와 내부 안전 AI·RAG·LLM·DB 구성</a:t>
            </a:r>
          </a:p>
        </p:txBody>
      </p:sp>
    </p:spTree>
    <p:extLst>
      <p:ext uri="{BB962C8B-B14F-4D97-AF65-F5344CB8AC3E}">
        <p14:creationId xmlns:p14="http://schemas.microsoft.com/office/powerpoint/2010/main" val="1226391084"/>
      </p:ext>
    </p:extLst>
  </p:cSld>
</p:sld>
</file>

<file path=ppt/slides/slide31.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D686FB7-C331-40CE-B696-A39402CEE1CA}"/>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PF-R04 / 과업내용서 S/W 구성도 예시 / 원문 삽입도 추출</a:t>
            </a:r>
          </a:p>
        </p:txBody>
      </p:sp>
      <p:sp>
        <p:nvSpPr>
          <p:cNvPr id="2" name="">
            <a:extLst xmlns:a="http://schemas.openxmlformats.org/drawingml/2006/main">
              <a:ext uri="{FF2B5EF4-FFF2-40B4-BE49-F238E27FC236}">
                <a16:creationId xmlns:a16="http://schemas.microsoft.com/office/drawing/2014/main" id="{A64F0422-7825-4274-A0FE-97105CACECC0}"/>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안전 AI S/W 구성</a:t>
            </a:r>
          </a:p>
        </p:txBody>
      </p:sp>
      <p:sp>
        <p:nvSpPr>
          <p:cNvPr id="3" name="">
            <a:extLst xmlns:a="http://schemas.openxmlformats.org/drawingml/2006/main">
              <a:ext uri="{FF2B5EF4-FFF2-40B4-BE49-F238E27FC236}">
                <a16:creationId xmlns:a16="http://schemas.microsoft.com/office/drawing/2014/main" id="{8018EF66-B0D1-404F-8DD1-DFCA2B4F967D}"/>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9A70109-83A4-44FD-83DC-CEFFB1E5A685}"/>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E54F7E2D-24A8-4AEC-BCCB-006ED481847E}"/>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31</a:t>
            </a:r>
          </a:p>
        </p:txBody>
      </p:sp>
      <p:pic>
        <p:nvPicPr>
          <p:cNvPr id="6" name="">
            <a:extLst xmlns:a="http://schemas.openxmlformats.org/drawingml/2006/main">
              <a:ext uri="{FF2B5EF4-FFF2-40B4-BE49-F238E27FC236}">
                <a16:creationId xmlns:a16="http://schemas.microsoft.com/office/drawing/2014/main" id="{46D07A1E-835E-4D01-9DAB-D9187B76CD9E}"/>
              </a:ext>
            </a:extLst>
          </p:cNvPr>
          <p:cNvPicPr>
            <a:picLocks xmlns:a="http://schemas.openxmlformats.org/drawingml/2006/main" noChangeAspect="1"/>
          </p:cNvPicPr>
          <p:nvPr/>
        </p:nvPicPr>
        <p:blipFill>
          <a:blip xmlns:r="http://schemas.openxmlformats.org/officeDocument/2006/relationships" xmlns:a="http://schemas.openxmlformats.org/drawingml/2006/main" r:embed="Rec4ff940791e4926"/>
          <a:stretch xmlns:a="http://schemas.openxmlformats.org/drawingml/2006/main"/>
        </p:blipFill>
        <p:spPr>
          <a:xfrm xmlns:a="http://schemas.openxmlformats.org/drawingml/2006/main">
            <a:off x="2370667" y="1657350"/>
            <a:ext cx="7450667"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7FBB673-4D39-4E38-88F8-073B09E31681}"/>
              </a:ext>
            </a:extLst>
          </p:cNvPr>
          <p:cNvSpPr>
            <a:spLocks xmlns:a="http://schemas.openxmlformats.org/drawingml/2006/main" noGrp="1"/>
          </p:cNvSpPr>
          <p:nvPr/>
        </p:nvSpPr>
        <p:spPr>
          <a:xfrm xmlns:a="http://schemas.openxmlformats.org/drawingml/2006/main">
            <a:off x="571500" y="5915025"/>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안전 지식·RAG와 외부 LLM API 업무 지원의 구분</a:t>
            </a:r>
          </a:p>
        </p:txBody>
      </p:sp>
    </p:spTree>
    <p:extLst>
      <p:ext uri="{BB962C8B-B14F-4D97-AF65-F5344CB8AC3E}">
        <p14:creationId xmlns:p14="http://schemas.microsoft.com/office/powerpoint/2010/main" val="1295060817"/>
      </p:ext>
    </p:extLst>
  </p:cSld>
</p:sld>
</file>

<file path=ppt/slides/slide3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F2D190C2-26A7-49D7-984E-DB1B498C3156}"/>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8000B789-A09D-4843-9AFD-1C1DB255FCD3}"/>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BE4A96E5-36B5-47E3-B7D1-D0384D4E21E6}"/>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1E51E7D6-2999-4807-A4A6-227700DD9276}"/>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AB71C085-ADAA-4897-9D1C-15225C99D61A}"/>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9411240B-B943-4329-B39C-EC9B9A69D765}"/>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E76FAF76-A857-4BF8-AC5F-895BBA9FC153}"/>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6FBAD95E-F3C8-4E73-9D5F-16D2A0F526E5}"/>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E25DE4A2-DE61-4AB3-851B-8E2811C49E43}"/>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BCDB876B-8E3F-47A0-9C87-C4BC2383E19C}"/>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PF-R04 / CCK 세부 재구성 · 논리 서비스 설계</a:t>
            </a:r>
          </a:p>
        </p:txBody>
      </p:sp>
      <p:sp>
        <p:nvSpPr>
          <p:cNvPr id="2" name="">
            <a:extLst xmlns:a="http://schemas.openxmlformats.org/drawingml/2006/main">
              <a:ext uri="{FF2B5EF4-FFF2-40B4-BE49-F238E27FC236}">
                <a16:creationId xmlns:a16="http://schemas.microsoft.com/office/drawing/2014/main" id="{C6C76926-D1E4-4E26-973B-89ECE4FD7CFF}"/>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지역난방공사 안전 LLM · 세부 서비스 구조</a:t>
            </a:r>
          </a:p>
        </p:txBody>
      </p:sp>
      <p:sp>
        <p:nvSpPr>
          <p:cNvPr id="3" name="">
            <a:extLst xmlns:a="http://schemas.openxmlformats.org/drawingml/2006/main">
              <a:ext uri="{FF2B5EF4-FFF2-40B4-BE49-F238E27FC236}">
                <a16:creationId xmlns:a16="http://schemas.microsoft.com/office/drawing/2014/main" id="{75BEC787-C17E-43E0-BC2C-9D25F7045A20}"/>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81F9C2D-33A6-4EC0-A103-F88DD3B5E8E2}"/>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477B04A8-AE07-41E5-84B7-1E3ABDBF8647}"/>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32</a:t>
            </a:r>
          </a:p>
        </p:txBody>
      </p:sp>
      <p:sp>
        <p:nvSpPr>
          <p:cNvPr id="6" name="">
            <a:extLst xmlns:a="http://schemas.openxmlformats.org/drawingml/2006/main">
              <a:ext uri="{FF2B5EF4-FFF2-40B4-BE49-F238E27FC236}">
                <a16:creationId xmlns:a16="http://schemas.microsoft.com/office/drawing/2014/main" id="{47C7C1A9-E1D1-4726-AD3F-66FD6219CF4B}"/>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HW·SW 구성도(예시), SFR-005~008</a:t>
            </a:r>
          </a:p>
        </p:txBody>
      </p:sp>
      <p:sp>
        <p:nvSpPr>
          <p:cNvPr id="7" name="">
            <a:extLst xmlns:a="http://schemas.openxmlformats.org/drawingml/2006/main">
              <a:ext uri="{FF2B5EF4-FFF2-40B4-BE49-F238E27FC236}">
                <a16:creationId xmlns:a16="http://schemas.microsoft.com/office/drawing/2014/main" id="{74A398B6-3AD6-4371-A42B-EB0B574B1178}"/>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8239F860-6197-4E6B-A758-D43110A37BEE}"/>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7842E1C3-0E69-4EE2-B7AF-1375F8CFF3D5}"/>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안전 현업 접점</a:t>
            </a:r>
          </a:p>
        </p:txBody>
      </p:sp>
      <p:sp>
        <p:nvSpPr>
          <p:cNvPr id="10" name="">
            <a:extLst xmlns:a="http://schemas.openxmlformats.org/drawingml/2006/main">
              <a:ext uri="{FF2B5EF4-FFF2-40B4-BE49-F238E27FC236}">
                <a16:creationId xmlns:a16="http://schemas.microsoft.com/office/drawing/2014/main" id="{194B5BDD-E251-4617-9449-EC4FF550B5CE}"/>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35CCBF69-AFEE-4F29-98B7-769FE9852A40}"/>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D876F1C9-3EB1-48E4-9188-5267E6C4A363}"/>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직원·폴더 권한</a:t>
            </a:r>
          </a:p>
        </p:txBody>
      </p:sp>
      <p:sp>
        <p:nvSpPr>
          <p:cNvPr id="13" name="">
            <a:extLst xmlns:a="http://schemas.openxmlformats.org/drawingml/2006/main">
              <a:ext uri="{FF2B5EF4-FFF2-40B4-BE49-F238E27FC236}">
                <a16:creationId xmlns:a16="http://schemas.microsoft.com/office/drawing/2014/main" id="{3F339911-9C15-4671-9ED1-BAAEFA372D04}"/>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F7674E4F-5087-48EA-86BD-91C9600775E7}"/>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813C4CD9-B91E-4912-B890-49F506F2864E}"/>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안전 지식 검색</a:t>
            </a:r>
          </a:p>
        </p:txBody>
      </p:sp>
      <p:sp>
        <p:nvSpPr>
          <p:cNvPr id="16" name="">
            <a:extLst xmlns:a="http://schemas.openxmlformats.org/drawingml/2006/main">
              <a:ext uri="{FF2B5EF4-FFF2-40B4-BE49-F238E27FC236}">
                <a16:creationId xmlns:a16="http://schemas.microsoft.com/office/drawing/2014/main" id="{5D683EBB-5ECC-4443-9722-D7CD98F3263F}"/>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BA488450-5266-4696-88D8-267AECAA3C70}"/>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FD86F8FF-1F2D-413B-A55E-717480286ED4}"/>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문서·규정 대조</a:t>
            </a:r>
          </a:p>
        </p:txBody>
      </p:sp>
      <p:sp>
        <p:nvSpPr>
          <p:cNvPr id="19" name="">
            <a:extLst xmlns:a="http://schemas.openxmlformats.org/drawingml/2006/main">
              <a:ext uri="{FF2B5EF4-FFF2-40B4-BE49-F238E27FC236}">
                <a16:creationId xmlns:a16="http://schemas.microsoft.com/office/drawing/2014/main" id="{427E0B4A-5B31-4215-88B6-41062D68C0DD}"/>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4E8A3B1D-AC18-4D9F-BA40-62371519D4B6}"/>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F30923F7-F409-465D-A1E5-F4431694C52F}"/>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상충·구판 검사</a:t>
            </a:r>
          </a:p>
        </p:txBody>
      </p:sp>
      <p:sp>
        <p:nvSpPr>
          <p:cNvPr id="22" name="">
            <a:extLst xmlns:a="http://schemas.openxmlformats.org/drawingml/2006/main">
              <a:ext uri="{FF2B5EF4-FFF2-40B4-BE49-F238E27FC236}">
                <a16:creationId xmlns:a16="http://schemas.microsoft.com/office/drawing/2014/main" id="{CA56BB3E-C964-4E59-9220-759E6710BEEF}"/>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16B47281-D330-43EB-84B9-F7584B197202}"/>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C746363F-E1E9-47B3-8258-CA3D5F4A0FA2}"/>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안전 담당 검토</a:t>
            </a:r>
          </a:p>
        </p:txBody>
      </p:sp>
      <p:sp>
        <p:nvSpPr>
          <p:cNvPr id="25" name="">
            <a:extLst xmlns:a="http://schemas.openxmlformats.org/drawingml/2006/main">
              <a:ext uri="{FF2B5EF4-FFF2-40B4-BE49-F238E27FC236}">
                <a16:creationId xmlns:a16="http://schemas.microsoft.com/office/drawing/2014/main" id="{93DBF885-7D85-47FF-A28D-03F594AA56AB}"/>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0FCD42E3-A279-4C6D-AC3B-9F41C964F321}"/>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2B321D2D-3183-45AD-8B26-73B1822C4560}"/>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업무 검토 의견</a:t>
            </a:r>
          </a:p>
        </p:txBody>
      </p:sp>
      <p:sp>
        <p:nvSpPr>
          <p:cNvPr id="28" name="">
            <a:extLst xmlns:a="http://schemas.openxmlformats.org/drawingml/2006/main">
              <a:ext uri="{FF2B5EF4-FFF2-40B4-BE49-F238E27FC236}">
                <a16:creationId xmlns:a16="http://schemas.microsoft.com/office/drawing/2014/main" id="{4FA5535D-71CB-4296-BDA3-AE1FF08417B9}"/>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8E8DF102-C712-4B17-A234-D62AA374EBA8}"/>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CCAE6CD2-9CF5-4742-B680-5E40B5BD374A}"/>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피드백·권한 시험</a:t>
            </a:r>
          </a:p>
        </p:txBody>
      </p:sp>
      <p:sp>
        <p:nvSpPr>
          <p:cNvPr id="31" name="">
            <a:extLst xmlns:a="http://schemas.openxmlformats.org/drawingml/2006/main">
              <a:ext uri="{FF2B5EF4-FFF2-40B4-BE49-F238E27FC236}">
                <a16:creationId xmlns:a16="http://schemas.microsoft.com/office/drawing/2014/main" id="{2184C89F-9D8B-4D73-9F7C-C71F1824451E}"/>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ED196E73-8705-45ED-8BDF-EF8AAC2DC96C}"/>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B6F00403-0B4B-4F48-A80A-61C8185C0293}"/>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안전규정·부서문서</a:t>
            </a:r>
          </a:p>
        </p:txBody>
      </p:sp>
      <p:sp>
        <p:nvSpPr>
          <p:cNvPr id="34" name="">
            <a:extLst xmlns:a="http://schemas.openxmlformats.org/drawingml/2006/main">
              <a:ext uri="{FF2B5EF4-FFF2-40B4-BE49-F238E27FC236}">
                <a16:creationId xmlns:a16="http://schemas.microsoft.com/office/drawing/2014/main" id="{628785D4-55D6-44F8-BA4E-C11A65A4436B}"/>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5F9E9F77-8975-47E6-9B34-AB8FA51177E1}"/>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9FD9D617-1CC6-40E7-9FE6-61A3E291A098}"/>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자동 문서 최신화</a:t>
            </a:r>
          </a:p>
        </p:txBody>
      </p:sp>
      <p:sp>
        <p:nvSpPr>
          <p:cNvPr id="37" name="">
            <a:extLst xmlns:a="http://schemas.openxmlformats.org/drawingml/2006/main">
              <a:ext uri="{FF2B5EF4-FFF2-40B4-BE49-F238E27FC236}">
                <a16:creationId xmlns:a16="http://schemas.microsoft.com/office/drawing/2014/main" id="{221F6F1B-82F8-4FC3-9C9B-7F73DD185DEB}"/>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1D98CA65-D509-44D3-A1DE-157EF235ABF4}"/>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F25FADE9-96DA-4E2D-BE1A-F2585C99A34B}"/>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폴더·RAG 색인</a:t>
            </a:r>
          </a:p>
        </p:txBody>
      </p:sp>
      <p:sp>
        <p:nvSpPr>
          <p:cNvPr id="40" name="">
            <a:extLst xmlns:a="http://schemas.openxmlformats.org/drawingml/2006/main">
              <a:ext uri="{FF2B5EF4-FFF2-40B4-BE49-F238E27FC236}">
                <a16:creationId xmlns:a16="http://schemas.microsoft.com/office/drawing/2014/main" id="{EB758037-82B1-44A2-A4EB-5045B6F4DF82}"/>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94A1D499-E9F4-4845-BF86-42A2E6AB8D83}"/>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CD10983B-0DE1-42BA-B06D-A37050BE2BBB}"/>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지식공간 접근정책</a:t>
            </a:r>
          </a:p>
        </p:txBody>
      </p:sp>
      <p:sp>
        <p:nvSpPr>
          <p:cNvPr id="52" name="">
            <a:extLst xmlns:a="http://schemas.openxmlformats.org/drawingml/2006/main">
              <a:ext uri="{FF2B5EF4-FFF2-40B4-BE49-F238E27FC236}">
                <a16:creationId xmlns:a16="http://schemas.microsoft.com/office/drawing/2014/main" id="{3A93582F-990D-4939-AAD2-31BFB77748A3}"/>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1909112298"/>
      </p:ext>
    </p:extLst>
  </p:cSld>
</p:sld>
</file>

<file path=ppt/slides/slide3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05C37F80-1AC6-499A-849A-6CCCE6CAD049}"/>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PF-R04 / 논리 인터페이스·복구 설계</a:t>
            </a:r>
          </a:p>
        </p:txBody>
      </p:sp>
      <p:sp>
        <p:nvSpPr>
          <p:cNvPr id="2" name="">
            <a:extLst xmlns:a="http://schemas.openxmlformats.org/drawingml/2006/main">
              <a:ext uri="{FF2B5EF4-FFF2-40B4-BE49-F238E27FC236}">
                <a16:creationId xmlns:a16="http://schemas.microsoft.com/office/drawing/2014/main" id="{4296E54F-EB7C-43B2-A022-BF3CB38CDD67}"/>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지역난방공사 안전 LLM · 데이터와 예외 처리</a:t>
            </a:r>
          </a:p>
        </p:txBody>
      </p:sp>
      <p:sp>
        <p:nvSpPr>
          <p:cNvPr id="3" name="">
            <a:extLst xmlns:a="http://schemas.openxmlformats.org/drawingml/2006/main">
              <a:ext uri="{FF2B5EF4-FFF2-40B4-BE49-F238E27FC236}">
                <a16:creationId xmlns:a16="http://schemas.microsoft.com/office/drawing/2014/main" id="{07BA8534-5B3D-4F97-81DE-264BF208176D}"/>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3C217BD-A113-43B8-A336-0BC19F8BB2D1}"/>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8C5CDBE8-0E8B-4DBD-9427-9E6570810747}"/>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33</a:t>
            </a:r>
          </a:p>
        </p:txBody>
      </p:sp>
      <p:sp>
        <p:nvSpPr>
          <p:cNvPr id="6" name="">
            <a:extLst xmlns:a="http://schemas.openxmlformats.org/drawingml/2006/main">
              <a:ext uri="{FF2B5EF4-FFF2-40B4-BE49-F238E27FC236}">
                <a16:creationId xmlns:a16="http://schemas.microsoft.com/office/drawing/2014/main" id="{AADE5FC3-0955-4BA2-A1FC-B9A3AD4B6873}"/>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40885C92-8F2D-4744-8614-F07BEAAAE787}"/>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0974CB88-5718-4841-9622-0A69D0A64C09}"/>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1B175725-D866-40E3-8415-9F09248E2353}"/>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사용자 권한·문서 공간·검토 목적 확인</a:t>
            </a:r>
          </a:p>
        </p:txBody>
      </p:sp>
      <p:sp>
        <p:nvSpPr>
          <p:cNvPr id="10" name="">
            <a:extLst xmlns:a="http://schemas.openxmlformats.org/drawingml/2006/main">
              <a:ext uri="{FF2B5EF4-FFF2-40B4-BE49-F238E27FC236}">
                <a16:creationId xmlns:a16="http://schemas.microsoft.com/office/drawing/2014/main" id="{A0A062B9-9FB2-4B2B-8EC5-DCF84EE721FA}"/>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78755B7-2D96-4170-AE65-042BA39AF3E6}"/>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DFCD3FE4-281C-4205-B31E-3F6C2872C978}"/>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안전 문서</a:t>
            </a:r>
          </a:p>
        </p:txBody>
      </p:sp>
      <p:sp>
        <p:nvSpPr>
          <p:cNvPr id="13" name="">
            <a:extLst xmlns:a="http://schemas.openxmlformats.org/drawingml/2006/main">
              <a:ext uri="{FF2B5EF4-FFF2-40B4-BE49-F238E27FC236}">
                <a16:creationId xmlns:a16="http://schemas.microsoft.com/office/drawing/2014/main" id="{5069B15A-D9D6-4365-87DB-D94BB987ABC6}"/>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F357CB1-3537-4C72-9DD4-8206A7AD3070}"/>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2ECD9500-BEA6-4325-941F-290FC83CCA98}"/>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허용 지식</a:t>
            </a:r>
          </a:p>
        </p:txBody>
      </p:sp>
      <p:sp>
        <p:nvSpPr>
          <p:cNvPr id="16" name="">
            <a:extLst xmlns:a="http://schemas.openxmlformats.org/drawingml/2006/main">
              <a:ext uri="{FF2B5EF4-FFF2-40B4-BE49-F238E27FC236}">
                <a16:creationId xmlns:a16="http://schemas.microsoft.com/office/drawing/2014/main" id="{6BB96650-78DF-4D10-8D89-7575EAD62428}"/>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B789834-0271-4926-9CAE-314479DF1387}"/>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9684E227-5500-4327-BC61-DDF82E3DFE66}"/>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검토 초안</a:t>
            </a:r>
          </a:p>
        </p:txBody>
      </p:sp>
      <p:sp>
        <p:nvSpPr>
          <p:cNvPr id="19" name="">
            <a:extLst xmlns:a="http://schemas.openxmlformats.org/drawingml/2006/main">
              <a:ext uri="{FF2B5EF4-FFF2-40B4-BE49-F238E27FC236}">
                <a16:creationId xmlns:a16="http://schemas.microsoft.com/office/drawing/2014/main" id="{86AC62C5-3537-425C-B134-DE9D90AACEDB}"/>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4D19C4F-2738-4A6F-A1B1-7287B53908D9}"/>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A7F59049-A14E-41F8-8D15-83208C254479}"/>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검토 초안</a:t>
            </a:r>
          </a:p>
        </p:txBody>
      </p:sp>
      <p:sp>
        <p:nvSpPr>
          <p:cNvPr id="22" name="">
            <a:extLst xmlns:a="http://schemas.openxmlformats.org/drawingml/2006/main">
              <a:ext uri="{FF2B5EF4-FFF2-40B4-BE49-F238E27FC236}">
                <a16:creationId xmlns:a16="http://schemas.microsoft.com/office/drawing/2014/main" id="{D45403C2-9FE8-44C9-A360-B1790B9E7156}"/>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AAAD5FF-3A86-498B-9171-AEF9DE3AF67D}"/>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5A0F1B76-3245-463E-A7AD-5256547B94FE}"/>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피드백</a:t>
            </a:r>
          </a:p>
        </p:txBody>
      </p:sp>
      <p:sp>
        <p:nvSpPr>
          <p:cNvPr id="25" name="">
            <a:extLst xmlns:a="http://schemas.openxmlformats.org/drawingml/2006/main">
              <a:ext uri="{FF2B5EF4-FFF2-40B4-BE49-F238E27FC236}">
                <a16:creationId xmlns:a16="http://schemas.microsoft.com/office/drawing/2014/main" id="{FB5B9606-ECA2-435D-860E-3EB05AFD22C9}"/>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78189D76-37A5-4B29-A26C-EE621A8B09E7}"/>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폐지 규정·부서 제한 문서·서로 상충하는 출처</a:t>
            </a:r>
          </a:p>
        </p:txBody>
      </p:sp>
      <p:sp>
        <p:nvSpPr>
          <p:cNvPr id="27" name="">
            <a:extLst xmlns:a="http://schemas.openxmlformats.org/drawingml/2006/main">
              <a:ext uri="{FF2B5EF4-FFF2-40B4-BE49-F238E27FC236}">
                <a16:creationId xmlns:a16="http://schemas.microsoft.com/office/drawing/2014/main" id="{8D9A62A1-5202-4351-B9A2-BD8786F63B6E}"/>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3B02612B-5D53-4663-9026-B61F6E15635A}"/>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권한·판본별 안전 질의 정답 대조</a:t>
            </a:r>
          </a:p>
        </p:txBody>
      </p:sp>
      <p:sp>
        <p:nvSpPr>
          <p:cNvPr id="29" name="">
            <a:extLst xmlns:a="http://schemas.openxmlformats.org/drawingml/2006/main">
              <a:ext uri="{FF2B5EF4-FFF2-40B4-BE49-F238E27FC236}">
                <a16:creationId xmlns:a16="http://schemas.microsoft.com/office/drawing/2014/main" id="{D3A7F6E3-4B94-4ED5-B797-EA27447ABC5D}"/>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AA553DF2-D727-48ED-9A3A-DC4976FCCF61}"/>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피드백·개정 반영·권한별 검색 결과 검사</a:t>
            </a:r>
          </a:p>
        </p:txBody>
      </p:sp>
      <p:sp>
        <p:nvSpPr>
          <p:cNvPr id="31" name="">
            <a:extLst xmlns:a="http://schemas.openxmlformats.org/drawingml/2006/main">
              <a:ext uri="{FF2B5EF4-FFF2-40B4-BE49-F238E27FC236}">
                <a16:creationId xmlns:a16="http://schemas.microsoft.com/office/drawing/2014/main" id="{7389C3B7-7690-45DA-8757-D2E78F3B8BBA}"/>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5E1E253A-BEAA-468D-8988-EBC89D1159C4}"/>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판본·권한별 응답과 상충 근거 표시·수정 이력</a:t>
            </a:r>
          </a:p>
        </p:txBody>
      </p:sp>
    </p:spTree>
    <p:extLst>
      <p:ext uri="{BB962C8B-B14F-4D97-AF65-F5344CB8AC3E}">
        <p14:creationId xmlns:p14="http://schemas.microsoft.com/office/powerpoint/2010/main" val="1575701697"/>
      </p:ext>
    </p:extLst>
  </p:cSld>
</p:sld>
</file>

<file path=ppt/slides/slide3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8AF1995-4B44-41C4-A608-49D9B36EE09D}"/>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PF-R04 / CCK 비교·재현 시험 설계</a:t>
            </a:r>
          </a:p>
        </p:txBody>
      </p:sp>
      <p:sp>
        <p:nvSpPr>
          <p:cNvPr id="2" name="">
            <a:extLst xmlns:a="http://schemas.openxmlformats.org/drawingml/2006/main">
              <a:ext uri="{FF2B5EF4-FFF2-40B4-BE49-F238E27FC236}">
                <a16:creationId xmlns:a16="http://schemas.microsoft.com/office/drawing/2014/main" id="{49065AB0-B377-4259-B43F-8617C2BF2C1B}"/>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지역난방공사 안전 LLM · 벤치마킹</a:t>
            </a:r>
          </a:p>
        </p:txBody>
      </p:sp>
      <p:sp>
        <p:nvSpPr>
          <p:cNvPr id="3" name="">
            <a:extLst xmlns:a="http://schemas.openxmlformats.org/drawingml/2006/main">
              <a:ext uri="{FF2B5EF4-FFF2-40B4-BE49-F238E27FC236}">
                <a16:creationId xmlns:a16="http://schemas.microsoft.com/office/drawing/2014/main" id="{CFFBD1D4-A8AB-446A-B9AB-C3FB531F74A2}"/>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AAC85F3-E592-476D-9CBB-B2E08A07C077}"/>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383C5CFF-59A3-474A-B7F1-D5EE0490FBD4}"/>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34</a:t>
            </a:r>
          </a:p>
        </p:txBody>
      </p:sp>
      <p:sp>
        <p:nvSpPr>
          <p:cNvPr id="6" name="">
            <a:extLst xmlns:a="http://schemas.openxmlformats.org/drawingml/2006/main">
              <a:ext uri="{FF2B5EF4-FFF2-40B4-BE49-F238E27FC236}">
                <a16:creationId xmlns:a16="http://schemas.microsoft.com/office/drawing/2014/main" id="{7ED9CC2F-7EDE-425F-A24D-56082371ABD0}"/>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16D478F3-1927-4795-9B4A-9F56C32B3CD8}"/>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안전 도메인 지식 집중</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개인·부서 지식공간의 구분</a:t>
            </a:r>
          </a:p>
        </p:txBody>
      </p:sp>
      <p:sp>
        <p:nvSpPr>
          <p:cNvPr id="8" name="">
            <a:extLst xmlns:a="http://schemas.openxmlformats.org/drawingml/2006/main">
              <a:ext uri="{FF2B5EF4-FFF2-40B4-BE49-F238E27FC236}">
                <a16:creationId xmlns:a16="http://schemas.microsoft.com/office/drawing/2014/main" id="{88BAE218-E5D5-4F76-B82D-6D2E7084B758}"/>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A06AE9E0-34FC-4E52-B007-14A009E7EA75}"/>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부서 자료의 권한 혼입</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계약 발표를 안전 품질 검수로 간주</a:t>
            </a:r>
          </a:p>
        </p:txBody>
      </p:sp>
      <p:sp>
        <p:nvSpPr>
          <p:cNvPr id="10" name="">
            <a:extLst xmlns:a="http://schemas.openxmlformats.org/drawingml/2006/main">
              <a:ext uri="{FF2B5EF4-FFF2-40B4-BE49-F238E27FC236}">
                <a16:creationId xmlns:a16="http://schemas.microsoft.com/office/drawing/2014/main" id="{B44DF518-508F-42DA-B984-10B0BB3FB853}"/>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57FDEBCD-8D25-47C2-9BF4-01B657BDA87E}"/>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권한·판본별 안전 질의 정답 대조</a:t>
            </a:r>
          </a:p>
        </p:txBody>
      </p:sp>
      <p:sp>
        <p:nvSpPr>
          <p:cNvPr id="12" name="">
            <a:extLst xmlns:a="http://schemas.openxmlformats.org/drawingml/2006/main">
              <a:ext uri="{FF2B5EF4-FFF2-40B4-BE49-F238E27FC236}">
                <a16:creationId xmlns:a16="http://schemas.microsoft.com/office/drawing/2014/main" id="{C4E2B980-0522-4601-86BC-7C4BA5DC1461}"/>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CC0E090A-C406-4C86-AADC-FEBDAF643EBF}"/>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안전 문서를 최신 규정과 대조하고 부서 공간에서 </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검토</a:t>
            </a:r>
          </a:p>
        </p:txBody>
      </p:sp>
      <p:sp>
        <p:nvSpPr>
          <p:cNvPr id="14" name="">
            <a:extLst xmlns:a="http://schemas.openxmlformats.org/drawingml/2006/main">
              <a:ext uri="{FF2B5EF4-FFF2-40B4-BE49-F238E27FC236}">
                <a16:creationId xmlns:a16="http://schemas.microsoft.com/office/drawing/2014/main" id="{027A3AF3-E4C9-4708-8601-95F339D464A0}"/>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BC10A52D-8CF7-419E-BCB0-5A7A2F21ED60}"/>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폐지 규정·부서 제한 문서·서로 상충하는 출처</a:t>
            </a:r>
          </a:p>
        </p:txBody>
      </p:sp>
      <p:sp>
        <p:nvSpPr>
          <p:cNvPr id="16" name="">
            <a:extLst xmlns:a="http://schemas.openxmlformats.org/drawingml/2006/main">
              <a:ext uri="{FF2B5EF4-FFF2-40B4-BE49-F238E27FC236}">
                <a16:creationId xmlns:a16="http://schemas.microsoft.com/office/drawing/2014/main" id="{B0E514DE-B78C-494D-9C9C-E11AFDCF912E}"/>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DE860FB3-B891-4FE8-87FD-D98389F78F5A}"/>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판본·권한별 응답과 상충 근거 표시·수정 이력</a:t>
            </a:r>
          </a:p>
        </p:txBody>
      </p:sp>
    </p:spTree>
    <p:extLst>
      <p:ext uri="{BB962C8B-B14F-4D97-AF65-F5344CB8AC3E}">
        <p14:creationId xmlns:p14="http://schemas.microsoft.com/office/powerpoint/2010/main" val="2125884324"/>
      </p:ext>
    </p:extLst>
  </p:cSld>
</p:sld>
</file>

<file path=ppt/slides/slide3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3F51F7C-DE5A-43A0-B0DF-02BE59B237E5}"/>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PF-R05 / 공식 RFP·착수 발표 확인 / 정식 운영 성과 미확인 / 국내</a:t>
            </a:r>
          </a:p>
        </p:txBody>
      </p:sp>
      <p:sp>
        <p:nvSpPr>
          <p:cNvPr id="2" name="">
            <a:extLst xmlns:a="http://schemas.openxmlformats.org/drawingml/2006/main">
              <a:ext uri="{FF2B5EF4-FFF2-40B4-BE49-F238E27FC236}">
                <a16:creationId xmlns:a16="http://schemas.microsoft.com/office/drawing/2014/main" id="{3E47533D-B363-498B-ACB2-C92AE956DAC9}"/>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경기도 대화형 정보 탐색</a:t>
            </a:r>
          </a:p>
        </p:txBody>
      </p:sp>
      <p:sp>
        <p:nvSpPr>
          <p:cNvPr id="3" name="">
            <a:extLst xmlns:a="http://schemas.openxmlformats.org/drawingml/2006/main">
              <a:ext uri="{FF2B5EF4-FFF2-40B4-BE49-F238E27FC236}">
                <a16:creationId xmlns:a16="http://schemas.microsoft.com/office/drawing/2014/main" id="{97D896A2-3473-4BDA-A26E-383E4739BE40}"/>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2C0612F-F660-4209-82FC-3B48CF81DB96}"/>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9AB6F8DC-E2BF-40AD-A2F0-519D64613520}"/>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35</a:t>
            </a:r>
          </a:p>
        </p:txBody>
      </p:sp>
      <p:sp>
        <p:nvSpPr>
          <p:cNvPr id="6" name="">
            <a:extLst xmlns:a="http://schemas.openxmlformats.org/drawingml/2006/main">
              <a:ext uri="{FF2B5EF4-FFF2-40B4-BE49-F238E27FC236}">
                <a16:creationId xmlns:a16="http://schemas.microsoft.com/office/drawing/2014/main" id="{F5589DA2-0611-44E7-9E7D-8161B7D7EE57}"/>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19080108-4EBF-4F2F-BF45-A8AC2F4025B2}"/>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경기도 홈페이지에 축적된 정책·복지·공고 정보를 자연</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어로 찾도록 하는 검색 접점 고도화. 국민의 요청을 신청</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자격·지역·기간 등의 조건으로 정리하고, 맞는 공고와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기존 신청 화면으로 연결하는 업무.</a:t>
            </a:r>
          </a:p>
        </p:txBody>
      </p:sp>
      <p:sp>
        <p:nvSpPr>
          <p:cNvPr id="8" name="">
            <a:extLst xmlns:a="http://schemas.openxmlformats.org/drawingml/2006/main">
              <a:ext uri="{FF2B5EF4-FFF2-40B4-BE49-F238E27FC236}">
                <a16:creationId xmlns:a16="http://schemas.microsoft.com/office/drawing/2014/main" id="{D4B9B0CF-F381-47E6-A990-2527C99DEE55}"/>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9F7E8268-8906-4413-BB34-1A8A8FAA5221}"/>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원문 서비스 도면은 홈페이지 RDB의 대상 자료를 공공</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클라우드 RAG 영역에 수집·임베딩하고, 질의와 검색 근</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거를 외부 LLM에 전달한 뒤 홈페이지 채팅 UI로 답변하</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는 구성. 기능도에는 데이터·프롬프트·이력·모델·통계를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별도 관리 영역으로 명시.</a:t>
            </a:r>
          </a:p>
        </p:txBody>
      </p:sp>
      <p:sp>
        <p:nvSpPr>
          <p:cNvPr id="10" name="">
            <a:extLst xmlns:a="http://schemas.openxmlformats.org/drawingml/2006/main">
              <a:ext uri="{FF2B5EF4-FFF2-40B4-BE49-F238E27FC236}">
                <a16:creationId xmlns:a16="http://schemas.microsoft.com/office/drawing/2014/main" id="{96057515-AA26-49B7-9693-0DD3B955A120}"/>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0681C24E-46EA-4245-AD70-37BCE37B757A}"/>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챗봇이 답한 것과 국민이 원하는 서비스를 찾은 것을 구분해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평가할 사례. 마감 공고·지역 불일치·자격 예외를 포함한 질</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문으로 원문 링크 도달과 다음 절차 안내를 검증할 필요. TS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대국민 접점에서는 기존 메뉴·신청 시스템을 유지하면서 자</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연어·음성 진입을 추가하는 방향.</a:t>
            </a:r>
          </a:p>
        </p:txBody>
      </p:sp>
      <p:sp>
        <p:nvSpPr>
          <p:cNvPr id="12" name="">
            <a:extLst xmlns:a="http://schemas.openxmlformats.org/drawingml/2006/main">
              <a:ext uri="{FF2B5EF4-FFF2-40B4-BE49-F238E27FC236}">
                <a16:creationId xmlns:a16="http://schemas.microsoft.com/office/drawing/2014/main" id="{A1D4A89F-3054-4FB6-850F-AB28F95A6BCC}"/>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33F352BC-6115-459D-9401-19544EB9DD9B}"/>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28352B"/>
                </a:solidFill>
                <a:latin typeface="Pretendard"/>
                <a:ea typeface="Pretendard"/>
                <a:cs typeface="Pretendard"/>
              </a:defRPr>
            </a:defPPr>
          </a:lstStyle>
          <a:p xmlns:a="http://schemas.openxmlformats.org/drawingml/2006/main">
            <a:pPr>
              <a:defRPr sz="1425" b="0">
                <a:solidFill>
                  <a:srgbClr val="28352B"/>
                </a:solidFill>
                <a:latin typeface="Pretendard"/>
                <a:ea typeface="Pretendard"/>
                <a:cs typeface="Pretendard"/>
              </a:defRPr>
            </a:pPr>
            <a:r>
              <a:rPr sz="1425" b="0">
                <a:solidFill>
                  <a:srgbClr val="28352B"/>
                </a:solidFill>
                <a:latin typeface="Pretendard"/>
                <a:ea typeface="Pretendard"/>
                <a:cs typeface="Pretendard"/>
              </a:rPr>
              <a:t>서비스·조건·기한 사전 / 유사 공고 비교 / 원문·신청 경로 연결</a:t>
            </a:r>
          </a:p>
        </p:txBody>
      </p:sp>
      <p:sp>
        <p:nvSpPr>
          <p:cNvPr id="14" name="">
            <a:extLst xmlns:a="http://schemas.openxmlformats.org/drawingml/2006/main">
              <a:ext uri="{FF2B5EF4-FFF2-40B4-BE49-F238E27FC236}">
                <a16:creationId xmlns:a16="http://schemas.microsoft.com/office/drawing/2014/main" id="{F4931CE3-9084-480C-8CD9-34010F86793E}"/>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972A80A6-2C8A-4269-B4C1-19FEA07EB883}"/>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마감·유사 공고·갱신 지연 질의의 조건 일치와 서비스 도</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달 확인</a:t>
            </a:r>
          </a:p>
        </p:txBody>
      </p:sp>
      <p:sp>
        <p:nvSpPr>
          <p:cNvPr id="16" name="">
            <a:extLst xmlns:a="http://schemas.openxmlformats.org/drawingml/2006/main">
              <a:ext uri="{FF2B5EF4-FFF2-40B4-BE49-F238E27FC236}">
                <a16:creationId xmlns:a16="http://schemas.microsoft.com/office/drawing/2014/main" id="{81722A98-ABE0-48ED-B99D-39FABAFEC7EB}"/>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5DF93425-06D5-43D1-9383-5529A4E4B55C}"/>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정확한 공고 도달률 / 탐색시간 / 이용 포기율</a:t>
            </a:r>
          </a:p>
        </p:txBody>
      </p:sp>
      <p:sp>
        <p:nvSpPr>
          <p:cNvPr id="18" name="">
            <a:extLst xmlns:a="http://schemas.openxmlformats.org/drawingml/2006/main">
              <a:ext uri="{FF2B5EF4-FFF2-40B4-BE49-F238E27FC236}">
                <a16:creationId xmlns:a16="http://schemas.microsoft.com/office/drawing/2014/main" id="{C50430C7-2407-4B6E-8AB8-C97F9F3E5F8F}"/>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착수자료의 2025년 11월 예정과 실제 개시·정량 성과를 구분</a:t>
            </a:r>
          </a:p>
        </p:txBody>
      </p:sp>
    </p:spTree>
    <p:extLst>
      <p:ext uri="{BB962C8B-B14F-4D97-AF65-F5344CB8AC3E}">
        <p14:creationId xmlns:p14="http://schemas.microsoft.com/office/powerpoint/2010/main" val="2107032252"/>
      </p:ext>
    </p:extLst>
  </p:cSld>
</p:sld>
</file>

<file path=ppt/slides/slide36.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3A7520A-2BE5-4055-934B-D43E17C32596}"/>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PF-R05 / RFP · SFR-003~006 / 1–3</a:t>
            </a:r>
          </a:p>
        </p:txBody>
      </p:sp>
      <p:sp>
        <p:nvSpPr>
          <p:cNvPr id="2" name="">
            <a:extLst xmlns:a="http://schemas.openxmlformats.org/drawingml/2006/main">
              <a:ext uri="{FF2B5EF4-FFF2-40B4-BE49-F238E27FC236}">
                <a16:creationId xmlns:a16="http://schemas.microsoft.com/office/drawing/2014/main" id="{06FA8ABA-661E-4DC6-ACFC-5B63F0DE24A9}"/>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경기도 대화형 정보 탐색 · RFP 요구사항</a:t>
            </a:r>
          </a:p>
        </p:txBody>
      </p:sp>
      <p:sp>
        <p:nvSpPr>
          <p:cNvPr id="3" name="">
            <a:extLst xmlns:a="http://schemas.openxmlformats.org/drawingml/2006/main">
              <a:ext uri="{FF2B5EF4-FFF2-40B4-BE49-F238E27FC236}">
                <a16:creationId xmlns:a16="http://schemas.microsoft.com/office/drawing/2014/main" id="{914B2516-753E-4ADE-9516-EC33E58E704B}"/>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AC8E3B5-A299-4348-8273-A5C55B0F98B8}"/>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D9C9D17C-1570-497D-A731-47DBE049EA2C}"/>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36</a:t>
            </a:r>
          </a:p>
        </p:txBody>
      </p:sp>
      <p:sp>
        <p:nvSpPr>
          <p:cNvPr id="6" name="">
            <a:extLst xmlns:a="http://schemas.openxmlformats.org/drawingml/2006/main">
              <a:ext uri="{FF2B5EF4-FFF2-40B4-BE49-F238E27FC236}">
                <a16:creationId xmlns:a16="http://schemas.microsoft.com/office/drawing/2014/main" id="{608EA3E3-8CFF-49C4-A15F-8FB0F2D19729}"/>
              </a:ext>
            </a:extLst>
          </p:cNvPr>
          <p:cNvSpPr>
            <a:spLocks xmlns:a="http://schemas.openxmlformats.org/drawingml/2006/main" noGrp="1"/>
          </p:cNvSpPr>
          <p:nvPr/>
        </p:nvSpPr>
        <p:spPr>
          <a:xfrm xmlns:a="http://schemas.openxmlformats.org/drawingml/2006/main">
            <a:off x="571500" y="167640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94C2590-D36A-4FFB-A488-F2DCD540CE79}"/>
              </a:ext>
            </a:extLst>
          </p:cNvPr>
          <p:cNvSpPr>
            <a:spLocks xmlns:a="http://schemas.openxmlformats.org/drawingml/2006/main" noGrp="1"/>
          </p:cNvSpPr>
          <p:nvPr/>
        </p:nvSpPr>
        <p:spPr>
          <a:xfrm xmlns:a="http://schemas.openxmlformats.org/drawingml/2006/main">
            <a:off x="571500" y="1752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SFR-003 생성형 AI 챗봇 검색 서비스 대상 데이터 수집·정제·전처리</a:t>
            </a:r>
          </a:p>
        </p:txBody>
      </p:sp>
      <p:sp>
        <p:nvSpPr>
          <p:cNvPr id="8" name="">
            <a:extLst xmlns:a="http://schemas.openxmlformats.org/drawingml/2006/main">
              <a:ext uri="{FF2B5EF4-FFF2-40B4-BE49-F238E27FC236}">
                <a16:creationId xmlns:a16="http://schemas.microsoft.com/office/drawing/2014/main" id="{57FDF023-3473-4A3D-89A7-9F725B5A1608}"/>
              </a:ext>
            </a:extLst>
          </p:cNvPr>
          <p:cNvSpPr>
            <a:spLocks xmlns:a="http://schemas.openxmlformats.org/drawingml/2006/main" noGrp="1"/>
          </p:cNvSpPr>
          <p:nvPr/>
        </p:nvSpPr>
        <p:spPr>
          <a:xfrm xmlns:a="http://schemas.openxmlformats.org/drawingml/2006/main">
            <a:off x="571500" y="21336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정책·복지·공고 등 대상 데이터를 수집하고 정제·전처리하</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는 기능.</a:t>
            </a:r>
          </a:p>
        </p:txBody>
      </p:sp>
      <p:sp>
        <p:nvSpPr>
          <p:cNvPr id="9" name="">
            <a:extLst xmlns:a="http://schemas.openxmlformats.org/drawingml/2006/main">
              <a:ext uri="{FF2B5EF4-FFF2-40B4-BE49-F238E27FC236}">
                <a16:creationId xmlns:a16="http://schemas.microsoft.com/office/drawing/2014/main" id="{013B148D-5D70-4D95-BC3D-4E6AB45FD153}"/>
              </a:ext>
            </a:extLst>
          </p:cNvPr>
          <p:cNvSpPr>
            <a:spLocks xmlns:a="http://schemas.openxmlformats.org/drawingml/2006/main" noGrp="1"/>
          </p:cNvSpPr>
          <p:nvPr/>
        </p:nvSpPr>
        <p:spPr>
          <a:xfrm xmlns:a="http://schemas.openxmlformats.org/drawingml/2006/main">
            <a:off x="6334125" y="213360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C09 · C10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첨부·표·중복 URL·깨진 링크 입력의 수집 범위와 정제 결과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확인</a:t>
            </a:r>
          </a:p>
        </p:txBody>
      </p:sp>
      <p:sp>
        <p:nvSpPr>
          <p:cNvPr id="10" name="">
            <a:extLst xmlns:a="http://schemas.openxmlformats.org/drawingml/2006/main">
              <a:ext uri="{FF2B5EF4-FFF2-40B4-BE49-F238E27FC236}">
                <a16:creationId xmlns:a16="http://schemas.microsoft.com/office/drawing/2014/main" id="{33F8259D-DA26-45FA-9DF5-C1103647BA46}"/>
              </a:ext>
            </a:extLst>
          </p:cNvPr>
          <p:cNvSpPr>
            <a:spLocks xmlns:a="http://schemas.openxmlformats.org/drawingml/2006/main" noGrp="1"/>
          </p:cNvSpPr>
          <p:nvPr/>
        </p:nvSpPr>
        <p:spPr>
          <a:xfrm xmlns:a="http://schemas.openxmlformats.org/drawingml/2006/main">
            <a:off x="571500" y="3133725"/>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E05D5AE-1859-4AFC-AC7B-DEB8FFB85CDD}"/>
              </a:ext>
            </a:extLst>
          </p:cNvPr>
          <p:cNvSpPr>
            <a:spLocks xmlns:a="http://schemas.openxmlformats.org/drawingml/2006/main" noGrp="1"/>
          </p:cNvSpPr>
          <p:nvPr/>
        </p:nvSpPr>
        <p:spPr>
          <a:xfrm xmlns:a="http://schemas.openxmlformats.org/drawingml/2006/main">
            <a:off x="571500" y="32099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SFR-004 실시간 데이터 파이프라인 자동화 구축</a:t>
            </a:r>
          </a:p>
        </p:txBody>
      </p:sp>
      <p:sp>
        <p:nvSpPr>
          <p:cNvPr id="12" name="">
            <a:extLst xmlns:a="http://schemas.openxmlformats.org/drawingml/2006/main">
              <a:ext uri="{FF2B5EF4-FFF2-40B4-BE49-F238E27FC236}">
                <a16:creationId xmlns:a16="http://schemas.microsoft.com/office/drawing/2014/main" id="{1BDB057B-E4E6-4CDA-8169-F1721B2814D3}"/>
              </a:ext>
            </a:extLst>
          </p:cNvPr>
          <p:cNvSpPr>
            <a:spLocks xmlns:a="http://schemas.openxmlformats.org/drawingml/2006/main" noGrp="1"/>
          </p:cNvSpPr>
          <p:nvPr/>
        </p:nvSpPr>
        <p:spPr>
          <a:xfrm xmlns:a="http://schemas.openxmlformats.org/drawingml/2006/main">
            <a:off x="571500" y="35909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신규·변경 정보를 반영하는 데이터 파이프라인 자동화.</a:t>
            </a:r>
          </a:p>
        </p:txBody>
      </p:sp>
      <p:sp>
        <p:nvSpPr>
          <p:cNvPr id="13" name="">
            <a:extLst xmlns:a="http://schemas.openxmlformats.org/drawingml/2006/main">
              <a:ext uri="{FF2B5EF4-FFF2-40B4-BE49-F238E27FC236}">
                <a16:creationId xmlns:a16="http://schemas.microsoft.com/office/drawing/2014/main" id="{79F1B045-780C-46C8-9C01-126D87600D88}"/>
              </a:ext>
            </a:extLst>
          </p:cNvPr>
          <p:cNvSpPr>
            <a:spLocks xmlns:a="http://schemas.openxmlformats.org/drawingml/2006/main" noGrp="1"/>
          </p:cNvSpPr>
          <p:nvPr/>
        </p:nvSpPr>
        <p:spPr>
          <a:xfrm xmlns:a="http://schemas.openxmlformats.org/drawingml/2006/main">
            <a:off x="6334125" y="359092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C09 · C10 · C11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공고 수정·종료·삭제 후 색인 갱신과 수집 실패 후 재개 결과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대사</a:t>
            </a:r>
          </a:p>
        </p:txBody>
      </p:sp>
      <p:sp>
        <p:nvSpPr>
          <p:cNvPr id="14" name="">
            <a:extLst xmlns:a="http://schemas.openxmlformats.org/drawingml/2006/main">
              <a:ext uri="{FF2B5EF4-FFF2-40B4-BE49-F238E27FC236}">
                <a16:creationId xmlns:a16="http://schemas.microsoft.com/office/drawing/2014/main" id="{B39DA650-0C48-44CE-AE19-F8B195132D70}"/>
              </a:ext>
            </a:extLst>
          </p:cNvPr>
          <p:cNvSpPr>
            <a:spLocks xmlns:a="http://schemas.openxmlformats.org/drawingml/2006/main" noGrp="1"/>
          </p:cNvSpPr>
          <p:nvPr/>
        </p:nvSpPr>
        <p:spPr>
          <a:xfrm xmlns:a="http://schemas.openxmlformats.org/drawingml/2006/main">
            <a:off x="571500" y="45910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3FF9E40-6575-45F6-8CCF-585D1D9981F7}"/>
              </a:ext>
            </a:extLst>
          </p:cNvPr>
          <p:cNvSpPr>
            <a:spLocks xmlns:a="http://schemas.openxmlformats.org/drawingml/2006/main" noGrp="1"/>
          </p:cNvSpPr>
          <p:nvPr/>
        </p:nvSpPr>
        <p:spPr>
          <a:xfrm xmlns:a="http://schemas.openxmlformats.org/drawingml/2006/main">
            <a:off x="571500" y="46672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SFR-005 RAG(Retrieval Augmented Generation) 구축</a:t>
            </a:r>
          </a:p>
        </p:txBody>
      </p:sp>
      <p:sp>
        <p:nvSpPr>
          <p:cNvPr id="16" name="">
            <a:extLst xmlns:a="http://schemas.openxmlformats.org/drawingml/2006/main">
              <a:ext uri="{FF2B5EF4-FFF2-40B4-BE49-F238E27FC236}">
                <a16:creationId xmlns:a16="http://schemas.microsoft.com/office/drawing/2014/main" id="{487CA51E-F828-41FD-8BE5-8E41C8D4EF8F}"/>
              </a:ext>
            </a:extLst>
          </p:cNvPr>
          <p:cNvSpPr>
            <a:spLocks xmlns:a="http://schemas.openxmlformats.org/drawingml/2006/main" noGrp="1"/>
          </p:cNvSpPr>
          <p:nvPr/>
        </p:nvSpPr>
        <p:spPr>
          <a:xfrm xmlns:a="http://schemas.openxmlformats.org/drawingml/2006/main">
            <a:off x="571500" y="504825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정제 자료를 검색 근거로 제공하는 RAG 기반 구성.</a:t>
            </a:r>
          </a:p>
        </p:txBody>
      </p:sp>
      <p:sp>
        <p:nvSpPr>
          <p:cNvPr id="17" name="">
            <a:extLst xmlns:a="http://schemas.openxmlformats.org/drawingml/2006/main">
              <a:ext uri="{FF2B5EF4-FFF2-40B4-BE49-F238E27FC236}">
                <a16:creationId xmlns:a16="http://schemas.microsoft.com/office/drawing/2014/main" id="{6734D3B9-99DC-4D9C-969B-4E8D332DE28C}"/>
              </a:ext>
            </a:extLst>
          </p:cNvPr>
          <p:cNvSpPr>
            <a:spLocks xmlns:a="http://schemas.openxmlformats.org/drawingml/2006/main" noGrp="1"/>
          </p:cNvSpPr>
          <p:nvPr/>
        </p:nvSpPr>
        <p:spPr>
          <a:xfrm xmlns:a="http://schemas.openxmlformats.org/drawingml/2006/main">
            <a:off x="6334125" y="504825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C03 · C04 · C11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기간·지역·대상 조건이 다른 유사 정책의 구분과 근거 페이지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정확성 평가</a:t>
            </a:r>
          </a:p>
        </p:txBody>
      </p:sp>
    </p:spTree>
    <p:extLst>
      <p:ext uri="{BB962C8B-B14F-4D97-AF65-F5344CB8AC3E}">
        <p14:creationId xmlns:p14="http://schemas.microsoft.com/office/powerpoint/2010/main" val="1651158465"/>
      </p:ext>
    </p:extLst>
  </p:cSld>
</p:sld>
</file>

<file path=ppt/slides/slide37.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7DADCF0-98A6-4A16-9CE5-070395B5B0C6}"/>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PF-R05 / RFP · SFR-003~006 / 4–4</a:t>
            </a:r>
          </a:p>
        </p:txBody>
      </p:sp>
      <p:sp>
        <p:nvSpPr>
          <p:cNvPr id="2" name="">
            <a:extLst xmlns:a="http://schemas.openxmlformats.org/drawingml/2006/main">
              <a:ext uri="{FF2B5EF4-FFF2-40B4-BE49-F238E27FC236}">
                <a16:creationId xmlns:a16="http://schemas.microsoft.com/office/drawing/2014/main" id="{4CB822ED-EAB8-4FA3-AB46-37B1461673EA}"/>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경기도 대화형 정보 탐색 · RFP 요구사항</a:t>
            </a:r>
          </a:p>
        </p:txBody>
      </p:sp>
      <p:sp>
        <p:nvSpPr>
          <p:cNvPr id="3" name="">
            <a:extLst xmlns:a="http://schemas.openxmlformats.org/drawingml/2006/main">
              <a:ext uri="{FF2B5EF4-FFF2-40B4-BE49-F238E27FC236}">
                <a16:creationId xmlns:a16="http://schemas.microsoft.com/office/drawing/2014/main" id="{D48AE742-C171-4FAD-8FDA-527BC49D3BAC}"/>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7577F87-A3E5-4667-A397-8172B968C28B}"/>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F5DF975E-70C0-44D4-B387-716FECD63642}"/>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37</a:t>
            </a:r>
          </a:p>
        </p:txBody>
      </p:sp>
      <p:sp>
        <p:nvSpPr>
          <p:cNvPr id="6" name="">
            <a:extLst xmlns:a="http://schemas.openxmlformats.org/drawingml/2006/main">
              <a:ext uri="{FF2B5EF4-FFF2-40B4-BE49-F238E27FC236}">
                <a16:creationId xmlns:a16="http://schemas.microsoft.com/office/drawing/2014/main" id="{958C5435-9986-4325-9DEF-A4835A8A1530}"/>
              </a:ext>
            </a:extLst>
          </p:cNvPr>
          <p:cNvSpPr>
            <a:spLocks xmlns:a="http://schemas.openxmlformats.org/drawingml/2006/main" noGrp="1"/>
          </p:cNvSpPr>
          <p:nvPr/>
        </p:nvSpPr>
        <p:spPr>
          <a:xfrm xmlns:a="http://schemas.openxmlformats.org/drawingml/2006/main">
            <a:off x="571500" y="167640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31116E2-B9C3-40DF-AE91-3719D0ED939C}"/>
              </a:ext>
            </a:extLst>
          </p:cNvPr>
          <p:cNvSpPr>
            <a:spLocks xmlns:a="http://schemas.openxmlformats.org/drawingml/2006/main" noGrp="1"/>
          </p:cNvSpPr>
          <p:nvPr/>
        </p:nvSpPr>
        <p:spPr>
          <a:xfrm xmlns:a="http://schemas.openxmlformats.org/drawingml/2006/main">
            <a:off x="571500" y="1752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SFR-006 생성형 AI 챗봇 검색 서비스 개발</a:t>
            </a:r>
          </a:p>
        </p:txBody>
      </p:sp>
      <p:sp>
        <p:nvSpPr>
          <p:cNvPr id="8" name="">
            <a:extLst xmlns:a="http://schemas.openxmlformats.org/drawingml/2006/main">
              <a:ext uri="{FF2B5EF4-FFF2-40B4-BE49-F238E27FC236}">
                <a16:creationId xmlns:a16="http://schemas.microsoft.com/office/drawing/2014/main" id="{0D0EBA62-5618-4ED7-8F5B-989DB40EBBA6}"/>
              </a:ext>
            </a:extLst>
          </p:cNvPr>
          <p:cNvSpPr>
            <a:spLocks xmlns:a="http://schemas.openxmlformats.org/drawingml/2006/main" noGrp="1"/>
          </p:cNvSpPr>
          <p:nvPr/>
        </p:nvSpPr>
        <p:spPr>
          <a:xfrm xmlns:a="http://schemas.openxmlformats.org/drawingml/2006/main">
            <a:off x="571500" y="21336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도민의 대화형 정보 탐색을 위한 챗봇·검색 서비스 구현.</a:t>
            </a:r>
          </a:p>
        </p:txBody>
      </p:sp>
      <p:sp>
        <p:nvSpPr>
          <p:cNvPr id="9" name="">
            <a:extLst xmlns:a="http://schemas.openxmlformats.org/drawingml/2006/main">
              <a:ext uri="{FF2B5EF4-FFF2-40B4-BE49-F238E27FC236}">
                <a16:creationId xmlns:a16="http://schemas.microsoft.com/office/drawing/2014/main" id="{58602430-7C52-4EF4-95DD-C20E6B715072}"/>
              </a:ext>
            </a:extLst>
          </p:cNvPr>
          <p:cNvSpPr>
            <a:spLocks xmlns:a="http://schemas.openxmlformats.org/drawingml/2006/main" noGrp="1"/>
          </p:cNvSpPr>
          <p:nvPr/>
        </p:nvSpPr>
        <p:spPr>
          <a:xfrm xmlns:a="http://schemas.openxmlformats.org/drawingml/2006/main">
            <a:off x="6334125" y="213360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C01 · C02 · C06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모호한 문의의 추가 질문, 잘못된 서비스 링크, 응답 실패 시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기존 탐색 경로 확인</a:t>
            </a:r>
          </a:p>
        </p:txBody>
      </p:sp>
    </p:spTree>
    <p:extLst>
      <p:ext uri="{BB962C8B-B14F-4D97-AF65-F5344CB8AC3E}">
        <p14:creationId xmlns:p14="http://schemas.microsoft.com/office/powerpoint/2010/main" val="628646516"/>
      </p:ext>
    </p:extLst>
  </p:cSld>
</p:sld>
</file>

<file path=ppt/slides/slide38.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5FA9202-A25A-4871-B565-5AAE33137629}"/>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PF-R05 / RFP 목표기능 구성도 / 원문 삽입도 추출</a:t>
            </a:r>
          </a:p>
        </p:txBody>
      </p:sp>
      <p:sp>
        <p:nvSpPr>
          <p:cNvPr id="2" name="">
            <a:extLst xmlns:a="http://schemas.openxmlformats.org/drawingml/2006/main">
              <a:ext uri="{FF2B5EF4-FFF2-40B4-BE49-F238E27FC236}">
                <a16:creationId xmlns:a16="http://schemas.microsoft.com/office/drawing/2014/main" id="{9DFF28A3-CE4F-4312-84E2-E448C82FBE6D}"/>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홈페이지 AI 목표기능</a:t>
            </a:r>
          </a:p>
        </p:txBody>
      </p:sp>
      <p:sp>
        <p:nvSpPr>
          <p:cNvPr id="3" name="">
            <a:extLst xmlns:a="http://schemas.openxmlformats.org/drawingml/2006/main">
              <a:ext uri="{FF2B5EF4-FFF2-40B4-BE49-F238E27FC236}">
                <a16:creationId xmlns:a16="http://schemas.microsoft.com/office/drawing/2014/main" id="{3B5C0468-54B3-47DA-9301-010F6E36019F}"/>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21F6A80-D159-4B3E-AF39-B056CAC0392D}"/>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2036DCEC-21A2-4268-8206-AC5EA02833B3}"/>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38</a:t>
            </a:r>
          </a:p>
        </p:txBody>
      </p:sp>
      <p:pic>
        <p:nvPicPr>
          <p:cNvPr id="6" name="">
            <a:extLst xmlns:a="http://schemas.openxmlformats.org/drawingml/2006/main">
              <a:ext uri="{FF2B5EF4-FFF2-40B4-BE49-F238E27FC236}">
                <a16:creationId xmlns:a16="http://schemas.microsoft.com/office/drawing/2014/main" id="{4CF3773B-F7E2-4B57-BEF5-0CFE191375B1}"/>
              </a:ext>
            </a:extLst>
          </p:cNvPr>
          <p:cNvPicPr>
            <a:picLocks xmlns:a="http://schemas.openxmlformats.org/drawingml/2006/main" noChangeAspect="1"/>
          </p:cNvPicPr>
          <p:nvPr/>
        </p:nvPicPr>
        <p:blipFill>
          <a:blip xmlns:r="http://schemas.openxmlformats.org/officeDocument/2006/relationships" xmlns:a="http://schemas.openxmlformats.org/drawingml/2006/main" r:embed="Rfaecc5a87fc34143"/>
          <a:stretch xmlns:a="http://schemas.openxmlformats.org/drawingml/2006/main"/>
        </p:blipFill>
        <p:spPr>
          <a:xfrm xmlns:a="http://schemas.openxmlformats.org/drawingml/2006/main">
            <a:off x="2692765" y="1657350"/>
            <a:ext cx="6806470"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70BACD7-31C3-4CB2-92F8-304CE9DFF2FE}"/>
              </a:ext>
            </a:extLst>
          </p:cNvPr>
          <p:cNvSpPr>
            <a:spLocks xmlns:a="http://schemas.openxmlformats.org/drawingml/2006/main" noGrp="1"/>
          </p:cNvSpPr>
          <p:nvPr/>
        </p:nvSpPr>
        <p:spPr>
          <a:xfrm xmlns:a="http://schemas.openxmlformats.org/drawingml/2006/main">
            <a:off x="571500" y="5915025"/>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챗봇·RAG·데이터 파이프라인·모델 관리의 분리</a:t>
            </a:r>
          </a:p>
        </p:txBody>
      </p:sp>
    </p:spTree>
    <p:extLst>
      <p:ext uri="{BB962C8B-B14F-4D97-AF65-F5344CB8AC3E}">
        <p14:creationId xmlns:p14="http://schemas.microsoft.com/office/powerpoint/2010/main" val="1372056109"/>
      </p:ext>
    </p:extLst>
  </p:cSld>
</p:sld>
</file>

<file path=ppt/slides/slide39.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AE0DE4-31AD-4F2A-90CE-FA4C3A5B065C}"/>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PF-R05 / RFP 서비스 아키텍처 구성도 / 원문 삽입도 추출</a:t>
            </a:r>
          </a:p>
        </p:txBody>
      </p:sp>
      <p:sp>
        <p:nvSpPr>
          <p:cNvPr id="2" name="">
            <a:extLst xmlns:a="http://schemas.openxmlformats.org/drawingml/2006/main">
              <a:ext uri="{FF2B5EF4-FFF2-40B4-BE49-F238E27FC236}">
                <a16:creationId xmlns:a16="http://schemas.microsoft.com/office/drawing/2014/main" id="{539DF555-970E-490A-BC0D-4D47FFBDB3F4}"/>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홈페이지–RAG–외부 LLM</a:t>
            </a:r>
          </a:p>
        </p:txBody>
      </p:sp>
      <p:sp>
        <p:nvSpPr>
          <p:cNvPr id="3" name="">
            <a:extLst xmlns:a="http://schemas.openxmlformats.org/drawingml/2006/main">
              <a:ext uri="{FF2B5EF4-FFF2-40B4-BE49-F238E27FC236}">
                <a16:creationId xmlns:a16="http://schemas.microsoft.com/office/drawing/2014/main" id="{282D17CF-2EC5-480B-B32F-0B09EFF17615}"/>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4478432-8E52-4892-BB88-BEE93B3CAF60}"/>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F0F50C71-63B4-406C-A6F7-A1A07B8E8DB2}"/>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39</a:t>
            </a:r>
          </a:p>
        </p:txBody>
      </p:sp>
      <p:pic>
        <p:nvPicPr>
          <p:cNvPr id="6" name="">
            <a:extLst xmlns:a="http://schemas.openxmlformats.org/drawingml/2006/main">
              <a:ext uri="{FF2B5EF4-FFF2-40B4-BE49-F238E27FC236}">
                <a16:creationId xmlns:a16="http://schemas.microsoft.com/office/drawing/2014/main" id="{22B46F0B-B98B-4AB9-909D-055577E7E37E}"/>
              </a:ext>
            </a:extLst>
          </p:cNvPr>
          <p:cNvPicPr>
            <a:picLocks xmlns:a="http://schemas.openxmlformats.org/drawingml/2006/main" noChangeAspect="1"/>
          </p:cNvPicPr>
          <p:nvPr/>
        </p:nvPicPr>
        <p:blipFill>
          <a:blip xmlns:r="http://schemas.openxmlformats.org/officeDocument/2006/relationships" xmlns:a="http://schemas.openxmlformats.org/drawingml/2006/main" r:embed="Rac40e68ed58c4f7b"/>
          <a:stretch xmlns:a="http://schemas.openxmlformats.org/drawingml/2006/main"/>
        </p:blipFill>
        <p:spPr>
          <a:xfrm xmlns:a="http://schemas.openxmlformats.org/drawingml/2006/main">
            <a:off x="2939707" y="1657350"/>
            <a:ext cx="6312585"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D858D7E-CA07-4A7E-8204-4E32A0D4548C}"/>
              </a:ext>
            </a:extLst>
          </p:cNvPr>
          <p:cNvSpPr>
            <a:spLocks xmlns:a="http://schemas.openxmlformats.org/drawingml/2006/main" noGrp="1"/>
          </p:cNvSpPr>
          <p:nvPr/>
        </p:nvSpPr>
        <p:spPr>
          <a:xfrm xmlns:a="http://schemas.openxmlformats.org/drawingml/2006/main">
            <a:off x="571500" y="5915025"/>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홈페이지 RDB → 공공클라우드 Vector DB → 외부 LLM</a:t>
            </a:r>
          </a:p>
        </p:txBody>
      </p:sp>
    </p:spTree>
    <p:extLst>
      <p:ext uri="{BB962C8B-B14F-4D97-AF65-F5344CB8AC3E}">
        <p14:creationId xmlns:p14="http://schemas.microsoft.com/office/powerpoint/2010/main" val="1172352866"/>
      </p:ext>
    </p:extLst>
  </p:cSld>
</p:sld>
</file>

<file path=ppt/slides/slide40.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035B7CC4-6FD0-4350-BEA4-89C0240963F4}"/>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6D5F6D94-6971-4078-9B83-8E318B554EDA}"/>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A34ABF75-FA89-44BA-83F7-259A6931C5AE}"/>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DAE34065-31E8-46E2-BCC5-BED9FE065F42}"/>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D32AFE50-452E-47D0-B766-5003BC28E54E}"/>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3B4ECE8D-B4FB-4C2B-B1AE-7A37FCBC3AA0}"/>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A01E6C28-B66D-435C-861F-F296497F2581}"/>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27B9DCEC-F5CA-4D4C-86E9-A267A52C96B6}"/>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32B4E709-4C03-4AFE-A3C5-D41695A4EECF}"/>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B5FD5424-0CD9-4071-AFF5-696019F30D72}"/>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PF-R05 / CCK 세부 재구성 · 논리 서비스 설계</a:t>
            </a:r>
          </a:p>
        </p:txBody>
      </p:sp>
      <p:sp>
        <p:nvSpPr>
          <p:cNvPr id="2" name="">
            <a:extLst xmlns:a="http://schemas.openxmlformats.org/drawingml/2006/main">
              <a:ext uri="{FF2B5EF4-FFF2-40B4-BE49-F238E27FC236}">
                <a16:creationId xmlns:a16="http://schemas.microsoft.com/office/drawing/2014/main" id="{E764D124-B54A-4172-99CB-806A1B2B16DF}"/>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경기도 대화형 정보 탐색 · 세부 서비스 구조</a:t>
            </a:r>
          </a:p>
        </p:txBody>
      </p:sp>
      <p:sp>
        <p:nvSpPr>
          <p:cNvPr id="3" name="">
            <a:extLst xmlns:a="http://schemas.openxmlformats.org/drawingml/2006/main">
              <a:ext uri="{FF2B5EF4-FFF2-40B4-BE49-F238E27FC236}">
                <a16:creationId xmlns:a16="http://schemas.microsoft.com/office/drawing/2014/main" id="{AD5B09E8-538A-46D6-B506-706E17466889}"/>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2AF7443-5FEF-49AC-9AF2-5A7A7388D6B8}"/>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0A2FEDC2-DE83-4885-948C-B1BB403CE54E}"/>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40</a:t>
            </a:r>
          </a:p>
        </p:txBody>
      </p:sp>
      <p:sp>
        <p:nvSpPr>
          <p:cNvPr id="6" name="">
            <a:extLst xmlns:a="http://schemas.openxmlformats.org/drawingml/2006/main">
              <a:ext uri="{FF2B5EF4-FFF2-40B4-BE49-F238E27FC236}">
                <a16:creationId xmlns:a16="http://schemas.microsoft.com/office/drawing/2014/main" id="{24924509-54E5-4151-8FE7-C5A7B09DE0A3}"/>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생성형 AI 서비스 아키텍처 구성도, SFR-003~006</a:t>
            </a:r>
          </a:p>
        </p:txBody>
      </p:sp>
      <p:sp>
        <p:nvSpPr>
          <p:cNvPr id="7" name="">
            <a:extLst xmlns:a="http://schemas.openxmlformats.org/drawingml/2006/main">
              <a:ext uri="{FF2B5EF4-FFF2-40B4-BE49-F238E27FC236}">
                <a16:creationId xmlns:a16="http://schemas.microsoft.com/office/drawing/2014/main" id="{8D7FE140-7398-4686-B907-840627BFBCA1}"/>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6A1C02D8-75A4-4DC1-AC32-349AD3ADA3DE}"/>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519EB852-7B1E-4B4C-9AF4-D4FCF9664ADE}"/>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홈페이지 챗봇</a:t>
            </a:r>
          </a:p>
        </p:txBody>
      </p:sp>
      <p:sp>
        <p:nvSpPr>
          <p:cNvPr id="10" name="">
            <a:extLst xmlns:a="http://schemas.openxmlformats.org/drawingml/2006/main">
              <a:ext uri="{FF2B5EF4-FFF2-40B4-BE49-F238E27FC236}">
                <a16:creationId xmlns:a16="http://schemas.microsoft.com/office/drawing/2014/main" id="{AE664678-A6A9-450C-AD8E-EBF253301ABE}"/>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9EFE1E27-3A57-4EA3-8F82-8FF601BCEDE5}"/>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1C0161FE-4DAF-4D3C-9F23-C489B8D9172D}"/>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지역·대상·기간</a:t>
            </a:r>
          </a:p>
        </p:txBody>
      </p:sp>
      <p:sp>
        <p:nvSpPr>
          <p:cNvPr id="13" name="">
            <a:extLst xmlns:a="http://schemas.openxmlformats.org/drawingml/2006/main">
              <a:ext uri="{FF2B5EF4-FFF2-40B4-BE49-F238E27FC236}">
                <a16:creationId xmlns:a16="http://schemas.microsoft.com/office/drawing/2014/main" id="{56B370C4-5469-49EE-A657-2BCE9B94AB15}"/>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8ED15309-576A-444B-88D0-C6AE6C2B5E1E}"/>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84E538A3-2269-4D4C-979A-A01B67502BD1}"/>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유효 공고 검색</a:t>
            </a:r>
          </a:p>
        </p:txBody>
      </p:sp>
      <p:sp>
        <p:nvSpPr>
          <p:cNvPr id="16" name="">
            <a:extLst xmlns:a="http://schemas.openxmlformats.org/drawingml/2006/main">
              <a:ext uri="{FF2B5EF4-FFF2-40B4-BE49-F238E27FC236}">
                <a16:creationId xmlns:a16="http://schemas.microsoft.com/office/drawing/2014/main" id="{80BA031F-5728-4C93-89D6-750DB0017FDF}"/>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394D2F11-AF6D-431F-82B0-B5B2D466F05E}"/>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8DCEBF65-FCD1-448C-9668-5B0129011143}"/>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의도·조건 비교</a:t>
            </a:r>
          </a:p>
        </p:txBody>
      </p:sp>
      <p:sp>
        <p:nvSpPr>
          <p:cNvPr id="19" name="">
            <a:extLst xmlns:a="http://schemas.openxmlformats.org/drawingml/2006/main">
              <a:ext uri="{FF2B5EF4-FFF2-40B4-BE49-F238E27FC236}">
                <a16:creationId xmlns:a16="http://schemas.microsoft.com/office/drawing/2014/main" id="{62E50BE9-5E8E-4EA3-80B4-2467A64826F1}"/>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0A21D295-DC3C-40A5-A927-52768EEFDCF8}"/>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6C69A312-70B6-43DD-9278-2EEDDAAAC6FD}"/>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마감·자격 검사</a:t>
            </a:r>
          </a:p>
        </p:txBody>
      </p:sp>
      <p:sp>
        <p:nvSpPr>
          <p:cNvPr id="22" name="">
            <a:extLst xmlns:a="http://schemas.openxmlformats.org/drawingml/2006/main">
              <a:ext uri="{FF2B5EF4-FFF2-40B4-BE49-F238E27FC236}">
                <a16:creationId xmlns:a16="http://schemas.microsoft.com/office/drawing/2014/main" id="{1FB7F195-58FA-4911-A67C-7DD65384C7A2}"/>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8E1F6EA9-DDCC-4330-B4C1-F6C1765D6E16}"/>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C840A06F-B3EE-4030-8331-259EBCD1D529}"/>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이용자 조건 확인</a:t>
            </a:r>
          </a:p>
        </p:txBody>
      </p:sp>
      <p:sp>
        <p:nvSpPr>
          <p:cNvPr id="25" name="">
            <a:extLst xmlns:a="http://schemas.openxmlformats.org/drawingml/2006/main">
              <a:ext uri="{FF2B5EF4-FFF2-40B4-BE49-F238E27FC236}">
                <a16:creationId xmlns:a16="http://schemas.microsoft.com/office/drawing/2014/main" id="{7637DE54-6AB2-4E1A-AF09-1AACD98EECC8}"/>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13736CDC-4CE3-4B5F-80E9-F199C60B5FC0}"/>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F97E3FAF-7E9D-4E08-A243-158ADA67D04B}"/>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공식 신청 안내</a:t>
            </a:r>
          </a:p>
        </p:txBody>
      </p:sp>
      <p:sp>
        <p:nvSpPr>
          <p:cNvPr id="28" name="">
            <a:extLst xmlns:a="http://schemas.openxmlformats.org/drawingml/2006/main">
              <a:ext uri="{FF2B5EF4-FFF2-40B4-BE49-F238E27FC236}">
                <a16:creationId xmlns:a16="http://schemas.microsoft.com/office/drawing/2014/main" id="{C09176D5-40B8-48DF-80B2-8577A7037D3D}"/>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DD96701E-849E-4BBD-9696-6C9CBEE6E79C}"/>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683F3222-0A63-4C75-8423-78263BD88487}"/>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오류·만족도 분석</a:t>
            </a:r>
          </a:p>
        </p:txBody>
      </p:sp>
      <p:sp>
        <p:nvSpPr>
          <p:cNvPr id="31" name="">
            <a:extLst xmlns:a="http://schemas.openxmlformats.org/drawingml/2006/main">
              <a:ext uri="{FF2B5EF4-FFF2-40B4-BE49-F238E27FC236}">
                <a16:creationId xmlns:a16="http://schemas.microsoft.com/office/drawing/2014/main" id="{6FC430C1-6A84-4BDA-A544-FE62F930E8D6}"/>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45E521A6-21FC-4793-A416-2F6035593FBD}"/>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B196706E-EC79-4F23-B6C4-A4D208BA6608}"/>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홈페이지·공고 DB</a:t>
            </a:r>
          </a:p>
        </p:txBody>
      </p:sp>
      <p:sp>
        <p:nvSpPr>
          <p:cNvPr id="34" name="">
            <a:extLst xmlns:a="http://schemas.openxmlformats.org/drawingml/2006/main">
              <a:ext uri="{FF2B5EF4-FFF2-40B4-BE49-F238E27FC236}">
                <a16:creationId xmlns:a16="http://schemas.microsoft.com/office/drawing/2014/main" id="{B4D57181-2A98-46C6-A639-A6E9633B1D4D}"/>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14C3E247-8276-4622-8CEB-96820FD405B5}"/>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BFD30A14-8757-4007-A47A-2005FDAE597E}"/>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수집·갱신·벡터화</a:t>
            </a:r>
          </a:p>
        </p:txBody>
      </p:sp>
      <p:sp>
        <p:nvSpPr>
          <p:cNvPr id="37" name="">
            <a:extLst xmlns:a="http://schemas.openxmlformats.org/drawingml/2006/main">
              <a:ext uri="{FF2B5EF4-FFF2-40B4-BE49-F238E27FC236}">
                <a16:creationId xmlns:a16="http://schemas.microsoft.com/office/drawing/2014/main" id="{11F869BD-606A-483A-B69B-870555A6ED81}"/>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0EFBACB1-5A62-4F18-A851-4BA95AB411E0}"/>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9A7A8C2B-3769-476E-9A49-C96F0AC4B2F7}"/>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공공클라우드 RAG</a:t>
            </a:r>
          </a:p>
        </p:txBody>
      </p:sp>
      <p:sp>
        <p:nvSpPr>
          <p:cNvPr id="40" name="">
            <a:extLst xmlns:a="http://schemas.openxmlformats.org/drawingml/2006/main">
              <a:ext uri="{FF2B5EF4-FFF2-40B4-BE49-F238E27FC236}">
                <a16:creationId xmlns:a16="http://schemas.microsoft.com/office/drawing/2014/main" id="{9370C29F-469B-4B88-9C09-3226E9B7204B}"/>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16E1BDA6-3BAB-40A8-932F-9F8731732EFC}"/>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EC84A393-A557-4134-962A-E1BC92F1E538}"/>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외부 LLM 연결경계</a:t>
            </a:r>
          </a:p>
        </p:txBody>
      </p:sp>
      <p:sp>
        <p:nvSpPr>
          <p:cNvPr id="52" name="">
            <a:extLst xmlns:a="http://schemas.openxmlformats.org/drawingml/2006/main">
              <a:ext uri="{FF2B5EF4-FFF2-40B4-BE49-F238E27FC236}">
                <a16:creationId xmlns:a16="http://schemas.microsoft.com/office/drawing/2014/main" id="{C37B18BA-CF62-4EF1-B8F3-FFC6653E108D}"/>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1212904120"/>
      </p:ext>
    </p:extLst>
  </p:cSld>
</p:sld>
</file>

<file path=ppt/slides/slide41.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3B960978-FD14-4FBB-88E6-E2E96AEFBE8F}"/>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PF-R05 / 논리 인터페이스·복구 설계</a:t>
            </a:r>
          </a:p>
        </p:txBody>
      </p:sp>
      <p:sp>
        <p:nvSpPr>
          <p:cNvPr id="2" name="">
            <a:extLst xmlns:a="http://schemas.openxmlformats.org/drawingml/2006/main">
              <a:ext uri="{FF2B5EF4-FFF2-40B4-BE49-F238E27FC236}">
                <a16:creationId xmlns:a16="http://schemas.microsoft.com/office/drawing/2014/main" id="{B5F46C74-24C2-4C96-9D22-782637B77B2D}"/>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경기도 대화형 정보 탐색 · 데이터와 예외 처리</a:t>
            </a:r>
          </a:p>
        </p:txBody>
      </p:sp>
      <p:sp>
        <p:nvSpPr>
          <p:cNvPr id="3" name="">
            <a:extLst xmlns:a="http://schemas.openxmlformats.org/drawingml/2006/main">
              <a:ext uri="{FF2B5EF4-FFF2-40B4-BE49-F238E27FC236}">
                <a16:creationId xmlns:a16="http://schemas.microsoft.com/office/drawing/2014/main" id="{787DB4BD-E36C-4CF8-ADBB-AEF1AED85B4E}"/>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6D6B2B9-10D4-4EAF-BA1F-74FC8BE0E85E}"/>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DE32D402-8445-48E3-BEFF-B5AADF676F6D}"/>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41</a:t>
            </a:r>
          </a:p>
        </p:txBody>
      </p:sp>
      <p:sp>
        <p:nvSpPr>
          <p:cNvPr id="6" name="">
            <a:extLst xmlns:a="http://schemas.openxmlformats.org/drawingml/2006/main">
              <a:ext uri="{FF2B5EF4-FFF2-40B4-BE49-F238E27FC236}">
                <a16:creationId xmlns:a16="http://schemas.microsoft.com/office/drawing/2014/main" id="{B66BA06F-DCB9-4B22-B04C-31827968A835}"/>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8E03134E-819A-47F7-973E-485E4058DD82}"/>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1359265A-0D21-4304-9745-D0EDB2FFB41E}"/>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218A59DF-E626-440C-959B-92E2240E8B66}"/>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요청 목적·대상 조건·대화 이력 구성</a:t>
            </a:r>
          </a:p>
        </p:txBody>
      </p:sp>
      <p:sp>
        <p:nvSpPr>
          <p:cNvPr id="10" name="">
            <a:extLst xmlns:a="http://schemas.openxmlformats.org/drawingml/2006/main">
              <a:ext uri="{FF2B5EF4-FFF2-40B4-BE49-F238E27FC236}">
                <a16:creationId xmlns:a16="http://schemas.microsoft.com/office/drawing/2014/main" id="{2464B99C-86A0-44F5-9CFC-D3517A3D5A7F}"/>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B01ADD6-8F04-493B-A286-F1A30DF92F6F}"/>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EDF9CCCE-ACA1-45B9-887E-C9249372810A}"/>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질문·지역</a:t>
            </a:r>
          </a:p>
        </p:txBody>
      </p:sp>
      <p:sp>
        <p:nvSpPr>
          <p:cNvPr id="13" name="">
            <a:extLst xmlns:a="http://schemas.openxmlformats.org/drawingml/2006/main">
              <a:ext uri="{FF2B5EF4-FFF2-40B4-BE49-F238E27FC236}">
                <a16:creationId xmlns:a16="http://schemas.microsoft.com/office/drawing/2014/main" id="{7F4E8324-2483-4B97-8B2C-4C6E9DB4D999}"/>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3E87BEA-C455-42AE-AF1E-E3AE134EA85E}"/>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4D02058E-3F60-4B7B-8BB0-E67C7D9E66A7}"/>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유효 공고</a:t>
            </a:r>
          </a:p>
        </p:txBody>
      </p:sp>
      <p:sp>
        <p:nvSpPr>
          <p:cNvPr id="16" name="">
            <a:extLst xmlns:a="http://schemas.openxmlformats.org/drawingml/2006/main">
              <a:ext uri="{FF2B5EF4-FFF2-40B4-BE49-F238E27FC236}">
                <a16:creationId xmlns:a16="http://schemas.microsoft.com/office/drawing/2014/main" id="{9C84AA52-B1F8-4EB2-883A-E389603A5902}"/>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E7A47B2-BF61-4365-8F8E-C7A0F792165C}"/>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F8E3FF24-E303-4A14-9A64-67180573A30D}"/>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조건 비교</a:t>
            </a:r>
          </a:p>
        </p:txBody>
      </p:sp>
      <p:sp>
        <p:nvSpPr>
          <p:cNvPr id="19" name="">
            <a:extLst xmlns:a="http://schemas.openxmlformats.org/drawingml/2006/main">
              <a:ext uri="{FF2B5EF4-FFF2-40B4-BE49-F238E27FC236}">
                <a16:creationId xmlns:a16="http://schemas.microsoft.com/office/drawing/2014/main" id="{890F36EB-9868-4DA5-9C0A-A391C7A9FC60}"/>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8EA0416-CBD0-4E27-B7C5-42464F8CD408}"/>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F6A3C921-6615-42E0-B0CB-BE1D6DC8C5AD}"/>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조건 비교</a:t>
            </a:r>
          </a:p>
        </p:txBody>
      </p:sp>
      <p:sp>
        <p:nvSpPr>
          <p:cNvPr id="22" name="">
            <a:extLst xmlns:a="http://schemas.openxmlformats.org/drawingml/2006/main">
              <a:ext uri="{FF2B5EF4-FFF2-40B4-BE49-F238E27FC236}">
                <a16:creationId xmlns:a16="http://schemas.microsoft.com/office/drawing/2014/main" id="{232081FB-5320-48C5-95F1-1CF50AB7C903}"/>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D3E25ED-5674-4613-B7FC-EC538FEE5EFF}"/>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C325E225-E38D-44B4-A7C6-BDF902AB3B17}"/>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공식 페이지</a:t>
            </a:r>
          </a:p>
        </p:txBody>
      </p:sp>
      <p:sp>
        <p:nvSpPr>
          <p:cNvPr id="25" name="">
            <a:extLst xmlns:a="http://schemas.openxmlformats.org/drawingml/2006/main">
              <a:ext uri="{FF2B5EF4-FFF2-40B4-BE49-F238E27FC236}">
                <a16:creationId xmlns:a16="http://schemas.microsoft.com/office/drawing/2014/main" id="{8165E93D-C02D-4584-A285-01CD09EB554B}"/>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935996F1-92B3-4D7A-B757-386FF7D38626}"/>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마감 공고·유사한 다른 제도·갱신 전 색인</a:t>
            </a:r>
          </a:p>
        </p:txBody>
      </p:sp>
      <p:sp>
        <p:nvSpPr>
          <p:cNvPr id="27" name="">
            <a:extLst xmlns:a="http://schemas.openxmlformats.org/drawingml/2006/main">
              <a:ext uri="{FF2B5EF4-FFF2-40B4-BE49-F238E27FC236}">
                <a16:creationId xmlns:a16="http://schemas.microsoft.com/office/drawing/2014/main" id="{CBAEC9E1-EA16-4187-BEF2-6A3FF256F675}"/>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4C304A76-72D7-418C-87C0-76FC8FE60CE2}"/>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유효기간·대상조건·링크 점검</a:t>
            </a:r>
          </a:p>
        </p:txBody>
      </p:sp>
      <p:sp>
        <p:nvSpPr>
          <p:cNvPr id="29" name="">
            <a:extLst xmlns:a="http://schemas.openxmlformats.org/drawingml/2006/main">
              <a:ext uri="{FF2B5EF4-FFF2-40B4-BE49-F238E27FC236}">
                <a16:creationId xmlns:a16="http://schemas.microsoft.com/office/drawing/2014/main" id="{9953FD21-F5D7-4835-85AF-B0A1646354B6}"/>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9B3D5FFA-E983-41F0-B4AB-177B482A2F26}"/>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예외 질문·오류·만족도 기반 지식 보완</a:t>
            </a:r>
          </a:p>
        </p:txBody>
      </p:sp>
      <p:sp>
        <p:nvSpPr>
          <p:cNvPr id="31" name="">
            <a:extLst xmlns:a="http://schemas.openxmlformats.org/drawingml/2006/main">
              <a:ext uri="{FF2B5EF4-FFF2-40B4-BE49-F238E27FC236}">
                <a16:creationId xmlns:a16="http://schemas.microsoft.com/office/drawing/2014/main" id="{70218A61-11DD-4534-BBF7-6FCB1000657E}"/>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0B6284F8-E77D-4372-8A64-283A5E5DC4E0}"/>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조건·기한별 정답 공고와 원문 링크·변경 반영 시각</a:t>
            </a:r>
          </a:p>
        </p:txBody>
      </p:sp>
    </p:spTree>
    <p:extLst>
      <p:ext uri="{BB962C8B-B14F-4D97-AF65-F5344CB8AC3E}">
        <p14:creationId xmlns:p14="http://schemas.microsoft.com/office/powerpoint/2010/main" val="1503343271"/>
      </p:ext>
    </p:extLst>
  </p:cSld>
</p:sld>
</file>

<file path=ppt/slides/slide4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0E99E09-87F2-44B1-9D87-6A31039CECAA}"/>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PF-R05 / CCK 비교·재현 시험 설계</a:t>
            </a:r>
          </a:p>
        </p:txBody>
      </p:sp>
      <p:sp>
        <p:nvSpPr>
          <p:cNvPr id="2" name="">
            <a:extLst xmlns:a="http://schemas.openxmlformats.org/drawingml/2006/main">
              <a:ext uri="{FF2B5EF4-FFF2-40B4-BE49-F238E27FC236}">
                <a16:creationId xmlns:a16="http://schemas.microsoft.com/office/drawing/2014/main" id="{6F49114C-F47B-47A9-862D-0B2586395AC4}"/>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경기도 대화형 정보 탐색 · 벤치마킹</a:t>
            </a:r>
          </a:p>
        </p:txBody>
      </p:sp>
      <p:sp>
        <p:nvSpPr>
          <p:cNvPr id="3" name="">
            <a:extLst xmlns:a="http://schemas.openxmlformats.org/drawingml/2006/main">
              <a:ext uri="{FF2B5EF4-FFF2-40B4-BE49-F238E27FC236}">
                <a16:creationId xmlns:a16="http://schemas.microsoft.com/office/drawing/2014/main" id="{F65D2067-BDB3-43D7-9CE2-46DBED194F79}"/>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114E9C5-5068-4372-9327-311ADE924B1C}"/>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C86985A1-62A0-4ECB-BC0B-2F700E72F254}"/>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42</a:t>
            </a:r>
          </a:p>
        </p:txBody>
      </p:sp>
      <p:sp>
        <p:nvSpPr>
          <p:cNvPr id="6" name="">
            <a:extLst xmlns:a="http://schemas.openxmlformats.org/drawingml/2006/main">
              <a:ext uri="{FF2B5EF4-FFF2-40B4-BE49-F238E27FC236}">
                <a16:creationId xmlns:a16="http://schemas.microsoft.com/office/drawing/2014/main" id="{A4226036-FD0A-42A4-8A15-E7534D541B3C}"/>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55035580-3DFD-4ED1-8387-1FEDEC58ACFE}"/>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정책·복지·공고의 통합 탐색</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원문을 통한 후속 절차 연결</a:t>
            </a:r>
          </a:p>
        </p:txBody>
      </p:sp>
      <p:sp>
        <p:nvSpPr>
          <p:cNvPr id="8" name="">
            <a:extLst xmlns:a="http://schemas.openxmlformats.org/drawingml/2006/main">
              <a:ext uri="{FF2B5EF4-FFF2-40B4-BE49-F238E27FC236}">
                <a16:creationId xmlns:a16="http://schemas.microsoft.com/office/drawing/2014/main" id="{F0D7B4C2-947C-4304-9C2C-2917B38DB04A}"/>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B055F836-6662-4939-9FBA-17DDF1324A29}"/>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마감·지역·자격조건 오안내</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착수와 정식 운영 성과의 차이</a:t>
            </a:r>
          </a:p>
        </p:txBody>
      </p:sp>
      <p:sp>
        <p:nvSpPr>
          <p:cNvPr id="10" name="">
            <a:extLst xmlns:a="http://schemas.openxmlformats.org/drawingml/2006/main">
              <a:ext uri="{FF2B5EF4-FFF2-40B4-BE49-F238E27FC236}">
                <a16:creationId xmlns:a16="http://schemas.microsoft.com/office/drawing/2014/main" id="{EFEF3710-7BD2-4D99-A7E7-F30D7B907EC0}"/>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9499D577-E786-45F5-A16A-E26C533054D9}"/>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유효기간·대상조건·링크 점검</a:t>
            </a:r>
          </a:p>
        </p:txBody>
      </p:sp>
      <p:sp>
        <p:nvSpPr>
          <p:cNvPr id="12" name="">
            <a:extLst xmlns:a="http://schemas.openxmlformats.org/drawingml/2006/main">
              <a:ext uri="{FF2B5EF4-FFF2-40B4-BE49-F238E27FC236}">
                <a16:creationId xmlns:a16="http://schemas.microsoft.com/office/drawing/2014/main" id="{04F48734-D04A-441B-8B60-7E1BCA6589E2}"/>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538C757D-467D-449B-9419-299A2BDCB03D}"/>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자격조건을 설명하고 관련 공고와 신청 페이지 비</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교</a:t>
            </a:r>
          </a:p>
        </p:txBody>
      </p:sp>
      <p:sp>
        <p:nvSpPr>
          <p:cNvPr id="14" name="">
            <a:extLst xmlns:a="http://schemas.openxmlformats.org/drawingml/2006/main">
              <a:ext uri="{FF2B5EF4-FFF2-40B4-BE49-F238E27FC236}">
                <a16:creationId xmlns:a16="http://schemas.microsoft.com/office/drawing/2014/main" id="{D40B624E-8626-42B4-BBD5-27A869CBBED4}"/>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89077587-72F9-42A1-80B0-2CAE8C75A07F}"/>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마감 공고·유사한 다른 제도·갱신 전 색인</a:t>
            </a:r>
          </a:p>
        </p:txBody>
      </p:sp>
      <p:sp>
        <p:nvSpPr>
          <p:cNvPr id="16" name="">
            <a:extLst xmlns:a="http://schemas.openxmlformats.org/drawingml/2006/main">
              <a:ext uri="{FF2B5EF4-FFF2-40B4-BE49-F238E27FC236}">
                <a16:creationId xmlns:a16="http://schemas.microsoft.com/office/drawing/2014/main" id="{8E170490-9500-44AC-B82F-0DD3C2EAFAE5}"/>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C0186AA9-BB2F-41B3-9922-B8CCDD937179}"/>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조건·기한별 정답 공고와 원문 링크·변경 반영 시각</a:t>
            </a:r>
          </a:p>
        </p:txBody>
      </p:sp>
    </p:spTree>
    <p:extLst>
      <p:ext uri="{BB962C8B-B14F-4D97-AF65-F5344CB8AC3E}">
        <p14:creationId xmlns:p14="http://schemas.microsoft.com/office/powerpoint/2010/main" val="859578693"/>
      </p:ext>
    </p:extLst>
  </p:cSld>
</p:sld>
</file>

<file path=ppt/slides/slide4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3E0599D-A1AF-445B-B8BE-833FFDE9410D}"/>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PF-R06 / 공식 RFP 확인 / 운영·효과 미확인 / 국내</a:t>
            </a:r>
          </a:p>
        </p:txBody>
      </p:sp>
      <p:sp>
        <p:nvSpPr>
          <p:cNvPr id="2" name="">
            <a:extLst xmlns:a="http://schemas.openxmlformats.org/drawingml/2006/main">
              <a:ext uri="{FF2B5EF4-FFF2-40B4-BE49-F238E27FC236}">
                <a16:creationId xmlns:a16="http://schemas.microsoft.com/office/drawing/2014/main" id="{F73E4F5E-8AF2-47D9-9303-A13C53576ADD}"/>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철도기술연구원 행정 AI</a:t>
            </a:r>
          </a:p>
        </p:txBody>
      </p:sp>
      <p:sp>
        <p:nvSpPr>
          <p:cNvPr id="3" name="">
            <a:extLst xmlns:a="http://schemas.openxmlformats.org/drawingml/2006/main">
              <a:ext uri="{FF2B5EF4-FFF2-40B4-BE49-F238E27FC236}">
                <a16:creationId xmlns:a16="http://schemas.microsoft.com/office/drawing/2014/main" id="{F7B1AC2B-1948-468A-BC7E-250CD2E864FD}"/>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D140504-A758-4445-90F9-92F0EBA0AB04}"/>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3A002071-5ACC-456A-A94E-07BAC4CFAD2A}"/>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43</a:t>
            </a:r>
          </a:p>
        </p:txBody>
      </p:sp>
      <p:sp>
        <p:nvSpPr>
          <p:cNvPr id="6" name="">
            <a:extLst xmlns:a="http://schemas.openxmlformats.org/drawingml/2006/main">
              <a:ext uri="{FF2B5EF4-FFF2-40B4-BE49-F238E27FC236}">
                <a16:creationId xmlns:a16="http://schemas.microsoft.com/office/drawing/2014/main" id="{3BFBE065-55CF-48E8-8F88-E047AA8977D5}"/>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140F4C7E-CCB8-4CE9-A472-BF796F2DA1CE}"/>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휴가·출장 등 행정업무를 음성·텍스트 요청에서 시작해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MIS와 전자결재까지 연결하는 사업. 기존 서식·데이터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생성 로직이 MIS에 있고 AI·모바일 호출용 API가 없다</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는 연계 제약을 RFP에 명시.</a:t>
            </a:r>
          </a:p>
        </p:txBody>
      </p:sp>
      <p:sp>
        <p:nvSpPr>
          <p:cNvPr id="8" name="">
            <a:extLst xmlns:a="http://schemas.openxmlformats.org/drawingml/2006/main">
              <a:ext uri="{FF2B5EF4-FFF2-40B4-BE49-F238E27FC236}">
                <a16:creationId xmlns:a16="http://schemas.microsoft.com/office/drawing/2014/main" id="{18B2E836-6CE8-4512-AEF2-EF0DE62599D4}"/>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107EE06A-EC19-4BCA-98F3-02E03457CC19}"/>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발화의 STT 변환, NLU 의도·개체 추출, 필수 항목 검증</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사용자 확인, MIS 서식 생성, 결재선 추천, 상신·상태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조회를 구분하는 처리 구조. FUR-009의 신규 API는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서식 메타데이터, 잔여연차·근태 조회, 업무규칙 검증,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전자결재 상신을 포함하는 범위.</a:t>
            </a:r>
          </a:p>
        </p:txBody>
      </p:sp>
      <p:sp>
        <p:nvSpPr>
          <p:cNvPr id="10" name="">
            <a:extLst xmlns:a="http://schemas.openxmlformats.org/drawingml/2006/main">
              <a:ext uri="{FF2B5EF4-FFF2-40B4-BE49-F238E27FC236}">
                <a16:creationId xmlns:a16="http://schemas.microsoft.com/office/drawing/2014/main" id="{B84D75FB-9E7E-4298-AB2C-44180CDB7608}"/>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FB9E99BC-54C6-4776-AE49-8A627C41CE65}"/>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AI 모델 정확도 외에 실제 업무 시스템의 접수 상태까지 확인</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해야 하는 사례. 같은 요청의 재시도, 날짜 수정, 결재선 변경</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 상신 후 취소를 검수 시나리오로 분리할 필요. CCK 재사용</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 도구와 별개로 TS 기간계 API 개발·멱등성·상태 대사를 추</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가 범위로 산정.</a:t>
            </a:r>
          </a:p>
        </p:txBody>
      </p:sp>
      <p:sp>
        <p:nvSpPr>
          <p:cNvPr id="12" name="">
            <a:extLst xmlns:a="http://schemas.openxmlformats.org/drawingml/2006/main">
              <a:ext uri="{FF2B5EF4-FFF2-40B4-BE49-F238E27FC236}">
                <a16:creationId xmlns:a16="http://schemas.microsoft.com/office/drawing/2014/main" id="{9BA01E09-5BD7-4718-9FB4-AB5688CCF933}"/>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40CEB803-DA77-41A6-B2E7-B0FB33FABEA4}"/>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28352B"/>
                </a:solidFill>
                <a:latin typeface="Pretendard"/>
                <a:ea typeface="Pretendard"/>
                <a:cs typeface="Pretendard"/>
              </a:defRPr>
            </a:defPPr>
          </a:lstStyle>
          <a:p xmlns:a="http://schemas.openxmlformats.org/drawingml/2006/main">
            <a:pPr>
              <a:defRPr sz="1425" b="0">
                <a:solidFill>
                  <a:srgbClr val="28352B"/>
                </a:solidFill>
                <a:latin typeface="Pretendard"/>
                <a:ea typeface="Pretendard"/>
                <a:cs typeface="Pretendard"/>
              </a:defRPr>
            </a:pPr>
            <a:r>
              <a:rPr sz="1425" b="0">
                <a:solidFill>
                  <a:srgbClr val="28352B"/>
                </a:solidFill>
                <a:latin typeface="Pretendard"/>
                <a:ea typeface="Pretendard"/>
                <a:cs typeface="Pretendard"/>
              </a:rPr>
              <a:t>발화 필드·확인 화면 / TS 기간계 API 차분 / 전결·취소·재시도 </a:t>
            </a:r>
          </a:p>
          <a:p xmlns:a="http://schemas.openxmlformats.org/drawingml/2006/main">
            <a:pPr>
              <a:defRPr sz="1425" b="0">
                <a:solidFill>
                  <a:srgbClr val="28352B"/>
                </a:solidFill>
                <a:latin typeface="Pretendard"/>
                <a:ea typeface="Pretendard"/>
                <a:cs typeface="Pretendard"/>
              </a:defRPr>
            </a:pPr>
            <a:r>
              <a:rPr sz="1425" b="0">
                <a:solidFill>
                  <a:srgbClr val="28352B"/>
                </a:solidFill>
                <a:latin typeface="Pretendard"/>
                <a:ea typeface="Pretendard"/>
                <a:cs typeface="Pretendard"/>
              </a:rPr>
              <a:t>연결</a:t>
            </a:r>
          </a:p>
        </p:txBody>
      </p:sp>
      <p:sp>
        <p:nvSpPr>
          <p:cNvPr id="14" name="">
            <a:extLst xmlns:a="http://schemas.openxmlformats.org/drawingml/2006/main">
              <a:ext uri="{FF2B5EF4-FFF2-40B4-BE49-F238E27FC236}">
                <a16:creationId xmlns:a16="http://schemas.microsoft.com/office/drawing/2014/main" id="{788406C6-C546-4ABD-9176-884966120B30}"/>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766A0347-381F-4685-A1BD-19D0478A24B7}"/>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날짜 오류·중복 전송·취소 시 승인 전 차단·멱등성·원천 상</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태 대사</a:t>
            </a:r>
          </a:p>
        </p:txBody>
      </p:sp>
      <p:sp>
        <p:nvSpPr>
          <p:cNvPr id="16" name="">
            <a:extLst xmlns:a="http://schemas.openxmlformats.org/drawingml/2006/main">
              <a:ext uri="{FF2B5EF4-FFF2-40B4-BE49-F238E27FC236}">
                <a16:creationId xmlns:a16="http://schemas.microsoft.com/office/drawing/2014/main" id="{42747FD2-CD39-411C-A14F-3DB7D690FFA2}"/>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8F4F7239-04BD-4D71-A9F4-E2633EBD2A91}"/>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신청 완료시간 / 재입력률 / 중복·미접수 건수</a:t>
            </a:r>
          </a:p>
        </p:txBody>
      </p:sp>
      <p:sp>
        <p:nvSpPr>
          <p:cNvPr id="18" name="">
            <a:extLst xmlns:a="http://schemas.openxmlformats.org/drawingml/2006/main">
              <a:ext uri="{FF2B5EF4-FFF2-40B4-BE49-F238E27FC236}">
                <a16:creationId xmlns:a16="http://schemas.microsoft.com/office/drawing/2014/main" id="{00EF9405-E6BA-4E4B-8A24-68B13AE36749}"/>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RFP 요구 범위 · MIS API 계층 신규 개발 포함 · 운영 성과와 구분</a:t>
            </a:r>
          </a:p>
        </p:txBody>
      </p:sp>
    </p:spTree>
    <p:extLst>
      <p:ext uri="{BB962C8B-B14F-4D97-AF65-F5344CB8AC3E}">
        <p14:creationId xmlns:p14="http://schemas.microsoft.com/office/powerpoint/2010/main" val="1951379004"/>
      </p:ext>
    </p:extLst>
  </p:cSld>
</p:sld>
</file>

<file path=ppt/slides/slide4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2ED886C-B359-4E54-99C3-53BEB433A93F}"/>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PF-R06 / RFP · FUR-001~009·TER-005 / 1–3</a:t>
            </a:r>
          </a:p>
        </p:txBody>
      </p:sp>
      <p:sp>
        <p:nvSpPr>
          <p:cNvPr id="2" name="">
            <a:extLst xmlns:a="http://schemas.openxmlformats.org/drawingml/2006/main">
              <a:ext uri="{FF2B5EF4-FFF2-40B4-BE49-F238E27FC236}">
                <a16:creationId xmlns:a16="http://schemas.microsoft.com/office/drawing/2014/main" id="{EFFD7DF3-D1BA-4922-BA75-1B74BBA37BE5}"/>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철도기술연구원 행정 AI · RFP 요구사항</a:t>
            </a:r>
          </a:p>
        </p:txBody>
      </p:sp>
      <p:sp>
        <p:nvSpPr>
          <p:cNvPr id="3" name="">
            <a:extLst xmlns:a="http://schemas.openxmlformats.org/drawingml/2006/main">
              <a:ext uri="{FF2B5EF4-FFF2-40B4-BE49-F238E27FC236}">
                <a16:creationId xmlns:a16="http://schemas.microsoft.com/office/drawing/2014/main" id="{2AEC04AD-1AC2-4D32-B35B-B7D2B8C51B29}"/>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6079F04-8C7F-418B-B93F-B321C7DC76D6}"/>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7674AAD5-25FB-4155-AA67-253B6A29F970}"/>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44</a:t>
            </a:r>
          </a:p>
        </p:txBody>
      </p:sp>
      <p:sp>
        <p:nvSpPr>
          <p:cNvPr id="6" name="">
            <a:extLst xmlns:a="http://schemas.openxmlformats.org/drawingml/2006/main">
              <a:ext uri="{FF2B5EF4-FFF2-40B4-BE49-F238E27FC236}">
                <a16:creationId xmlns:a16="http://schemas.microsoft.com/office/drawing/2014/main" id="{735763F2-2419-4FF5-97A5-67BCDD06B937}"/>
              </a:ext>
            </a:extLst>
          </p:cNvPr>
          <p:cNvSpPr>
            <a:spLocks xmlns:a="http://schemas.openxmlformats.org/drawingml/2006/main" noGrp="1"/>
          </p:cNvSpPr>
          <p:nvPr/>
        </p:nvSpPr>
        <p:spPr>
          <a:xfrm xmlns:a="http://schemas.openxmlformats.org/drawingml/2006/main">
            <a:off x="571500" y="167640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C0B8F64-2F77-460D-AE0F-D86C3B9FD18E}"/>
              </a:ext>
            </a:extLst>
          </p:cNvPr>
          <p:cNvSpPr>
            <a:spLocks xmlns:a="http://schemas.openxmlformats.org/drawingml/2006/main" noGrp="1"/>
          </p:cNvSpPr>
          <p:nvPr/>
        </p:nvSpPr>
        <p:spPr>
          <a:xfrm xmlns:a="http://schemas.openxmlformats.org/drawingml/2006/main">
            <a:off x="571500" y="1752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FUR-001 음성 인식(STT) 기반 입력 처리</a:t>
            </a:r>
          </a:p>
        </p:txBody>
      </p:sp>
      <p:sp>
        <p:nvSpPr>
          <p:cNvPr id="8" name="">
            <a:extLst xmlns:a="http://schemas.openxmlformats.org/drawingml/2006/main">
              <a:ext uri="{FF2B5EF4-FFF2-40B4-BE49-F238E27FC236}">
                <a16:creationId xmlns:a16="http://schemas.microsoft.com/office/drawing/2014/main" id="{4BB68644-79EB-441C-A476-4647A4952819}"/>
              </a:ext>
            </a:extLst>
          </p:cNvPr>
          <p:cNvSpPr>
            <a:spLocks xmlns:a="http://schemas.openxmlformats.org/drawingml/2006/main" noGrp="1"/>
          </p:cNvSpPr>
          <p:nvPr/>
        </p:nvSpPr>
        <p:spPr>
          <a:xfrm xmlns:a="http://schemas.openxmlformats.org/drawingml/2006/main">
            <a:off x="571500" y="21336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음성 발화를 행정 요청의 텍스트 입력으로 변환하는 STT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기능.</a:t>
            </a:r>
          </a:p>
        </p:txBody>
      </p:sp>
      <p:sp>
        <p:nvSpPr>
          <p:cNvPr id="9" name="">
            <a:extLst xmlns:a="http://schemas.openxmlformats.org/drawingml/2006/main">
              <a:ext uri="{FF2B5EF4-FFF2-40B4-BE49-F238E27FC236}">
                <a16:creationId xmlns:a16="http://schemas.microsoft.com/office/drawing/2014/main" id="{E21DBD24-6098-496C-A0E7-FFD0787DC7FA}"/>
              </a:ext>
            </a:extLst>
          </p:cNvPr>
          <p:cNvSpPr>
            <a:spLocks xmlns:a="http://schemas.openxmlformats.org/drawingml/2006/main" noGrp="1"/>
          </p:cNvSpPr>
          <p:nvPr/>
        </p:nvSpPr>
        <p:spPr>
          <a:xfrm xmlns:a="http://schemas.openxmlformats.org/drawingml/2006/main">
            <a:off x="6334125" y="213360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C01 · C04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잡음·기관 고유어·날짜·숫자·수정 발화의 전사 결과를 정답과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대사</a:t>
            </a:r>
          </a:p>
        </p:txBody>
      </p:sp>
      <p:sp>
        <p:nvSpPr>
          <p:cNvPr id="10" name="">
            <a:extLst xmlns:a="http://schemas.openxmlformats.org/drawingml/2006/main">
              <a:ext uri="{FF2B5EF4-FFF2-40B4-BE49-F238E27FC236}">
                <a16:creationId xmlns:a16="http://schemas.microsoft.com/office/drawing/2014/main" id="{6895282F-D7E0-4FB7-B98F-054D4BA2B9C4}"/>
              </a:ext>
            </a:extLst>
          </p:cNvPr>
          <p:cNvSpPr>
            <a:spLocks xmlns:a="http://schemas.openxmlformats.org/drawingml/2006/main" noGrp="1"/>
          </p:cNvSpPr>
          <p:nvPr/>
        </p:nvSpPr>
        <p:spPr>
          <a:xfrm xmlns:a="http://schemas.openxmlformats.org/drawingml/2006/main">
            <a:off x="571500" y="3133725"/>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02EA8C3-0999-40EC-8136-918B5952FC16}"/>
              </a:ext>
            </a:extLst>
          </p:cNvPr>
          <p:cNvSpPr>
            <a:spLocks xmlns:a="http://schemas.openxmlformats.org/drawingml/2006/main" noGrp="1"/>
          </p:cNvSpPr>
          <p:nvPr/>
        </p:nvSpPr>
        <p:spPr>
          <a:xfrm xmlns:a="http://schemas.openxmlformats.org/drawingml/2006/main">
            <a:off x="571500" y="32099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FUR-002 자연어 이해(NLU) 및 사용자 의도 분석</a:t>
            </a:r>
          </a:p>
        </p:txBody>
      </p:sp>
      <p:sp>
        <p:nvSpPr>
          <p:cNvPr id="12" name="">
            <a:extLst xmlns:a="http://schemas.openxmlformats.org/drawingml/2006/main">
              <a:ext uri="{FF2B5EF4-FFF2-40B4-BE49-F238E27FC236}">
                <a16:creationId xmlns:a16="http://schemas.microsoft.com/office/drawing/2014/main" id="{DD0B6646-4A79-47BA-A6FB-D34DB8A68DDE}"/>
              </a:ext>
            </a:extLst>
          </p:cNvPr>
          <p:cNvSpPr>
            <a:spLocks xmlns:a="http://schemas.openxmlformats.org/drawingml/2006/main" noGrp="1"/>
          </p:cNvSpPr>
          <p:nvPr/>
        </p:nvSpPr>
        <p:spPr>
          <a:xfrm xmlns:a="http://schemas.openxmlformats.org/drawingml/2006/main">
            <a:off x="571500" y="35909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전사·텍스트에서 사용자의 의도와 업무에 필요한 항목을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식별하는 NLU 기능.</a:t>
            </a:r>
          </a:p>
        </p:txBody>
      </p:sp>
      <p:sp>
        <p:nvSpPr>
          <p:cNvPr id="13" name="">
            <a:extLst xmlns:a="http://schemas.openxmlformats.org/drawingml/2006/main">
              <a:ext uri="{FF2B5EF4-FFF2-40B4-BE49-F238E27FC236}">
                <a16:creationId xmlns:a16="http://schemas.microsoft.com/office/drawing/2014/main" id="{DF9D3E48-3043-40CE-9F4D-95A16148C0D3}"/>
              </a:ext>
            </a:extLst>
          </p:cNvPr>
          <p:cNvSpPr>
            <a:spLocks xmlns:a="http://schemas.openxmlformats.org/drawingml/2006/main" noGrp="1"/>
          </p:cNvSpPr>
          <p:nvPr/>
        </p:nvSpPr>
        <p:spPr>
          <a:xfrm xmlns:a="http://schemas.openxmlformats.org/drawingml/2006/main">
            <a:off x="6334125" y="359092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C02 · C04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휴가·출장·복명 의도 혼동, 날짜 누락, 정정 발화 처리의 슬롯</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별 평가</a:t>
            </a:r>
          </a:p>
        </p:txBody>
      </p:sp>
      <p:sp>
        <p:nvSpPr>
          <p:cNvPr id="14" name="">
            <a:extLst xmlns:a="http://schemas.openxmlformats.org/drawingml/2006/main">
              <a:ext uri="{FF2B5EF4-FFF2-40B4-BE49-F238E27FC236}">
                <a16:creationId xmlns:a16="http://schemas.microsoft.com/office/drawing/2014/main" id="{B8309628-4450-48A3-B23A-503F604F3987}"/>
              </a:ext>
            </a:extLst>
          </p:cNvPr>
          <p:cNvSpPr>
            <a:spLocks xmlns:a="http://schemas.openxmlformats.org/drawingml/2006/main" noGrp="1"/>
          </p:cNvSpPr>
          <p:nvPr/>
        </p:nvSpPr>
        <p:spPr>
          <a:xfrm xmlns:a="http://schemas.openxmlformats.org/drawingml/2006/main">
            <a:off x="571500" y="45910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24D3D5F-8BDD-4359-9F95-C5548B1DEE5D}"/>
              </a:ext>
            </a:extLst>
          </p:cNvPr>
          <p:cNvSpPr>
            <a:spLocks xmlns:a="http://schemas.openxmlformats.org/drawingml/2006/main" noGrp="1"/>
          </p:cNvSpPr>
          <p:nvPr/>
        </p:nvSpPr>
        <p:spPr>
          <a:xfrm xmlns:a="http://schemas.openxmlformats.org/drawingml/2006/main">
            <a:off x="571500" y="46672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FUR-003 지능형 업무 자동화 엔진</a:t>
            </a:r>
          </a:p>
        </p:txBody>
      </p:sp>
      <p:sp>
        <p:nvSpPr>
          <p:cNvPr id="16" name="">
            <a:extLst xmlns:a="http://schemas.openxmlformats.org/drawingml/2006/main">
              <a:ext uri="{FF2B5EF4-FFF2-40B4-BE49-F238E27FC236}">
                <a16:creationId xmlns:a16="http://schemas.microsoft.com/office/drawing/2014/main" id="{69C9F794-73F8-42E6-B253-C2FC0B4BEA0F}"/>
              </a:ext>
            </a:extLst>
          </p:cNvPr>
          <p:cNvSpPr>
            <a:spLocks xmlns:a="http://schemas.openxmlformats.org/drawingml/2006/main" noGrp="1"/>
          </p:cNvSpPr>
          <p:nvPr/>
        </p:nvSpPr>
        <p:spPr>
          <a:xfrm xmlns:a="http://schemas.openxmlformats.org/drawingml/2006/main">
            <a:off x="571500" y="504825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식별한 의도를 업무자동화 절차로 연결하는 실행 엔진.</a:t>
            </a:r>
          </a:p>
        </p:txBody>
      </p:sp>
      <p:sp>
        <p:nvSpPr>
          <p:cNvPr id="17" name="">
            <a:extLst xmlns:a="http://schemas.openxmlformats.org/drawingml/2006/main">
              <a:ext uri="{FF2B5EF4-FFF2-40B4-BE49-F238E27FC236}">
                <a16:creationId xmlns:a16="http://schemas.microsoft.com/office/drawing/2014/main" id="{B41BD8D0-2430-4056-ABD5-B0C1CDC48DBE}"/>
              </a:ext>
            </a:extLst>
          </p:cNvPr>
          <p:cNvSpPr>
            <a:spLocks xmlns:a="http://schemas.openxmlformats.org/drawingml/2006/main" noGrp="1"/>
          </p:cNvSpPr>
          <p:nvPr/>
        </p:nvSpPr>
        <p:spPr>
          <a:xfrm xmlns:a="http://schemas.openxmlformats.org/drawingml/2006/main">
            <a:off x="6334125" y="504825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C04 · C05 · C07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필수값 누락·비허용 업무·중간 실패 조건의 실행 보류와 재개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확인</a:t>
            </a:r>
          </a:p>
        </p:txBody>
      </p:sp>
    </p:spTree>
    <p:extLst>
      <p:ext uri="{BB962C8B-B14F-4D97-AF65-F5344CB8AC3E}">
        <p14:creationId xmlns:p14="http://schemas.microsoft.com/office/powerpoint/2010/main" val="1095479051"/>
      </p:ext>
    </p:extLst>
  </p:cSld>
</p:sld>
</file>

<file path=ppt/slides/slide4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0E7D4B8-0C72-4C53-98B6-8A53C32E95AB}"/>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PF-R06 / RFP · FUR-001~009·TER-005 / 4–6</a:t>
            </a:r>
          </a:p>
        </p:txBody>
      </p:sp>
      <p:sp>
        <p:nvSpPr>
          <p:cNvPr id="2" name="">
            <a:extLst xmlns:a="http://schemas.openxmlformats.org/drawingml/2006/main">
              <a:ext uri="{FF2B5EF4-FFF2-40B4-BE49-F238E27FC236}">
                <a16:creationId xmlns:a16="http://schemas.microsoft.com/office/drawing/2014/main" id="{85604CCB-0EBA-4DED-A011-492CC4DE580D}"/>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철도기술연구원 행정 AI · RFP 요구사항</a:t>
            </a:r>
          </a:p>
        </p:txBody>
      </p:sp>
      <p:sp>
        <p:nvSpPr>
          <p:cNvPr id="3" name="">
            <a:extLst xmlns:a="http://schemas.openxmlformats.org/drawingml/2006/main">
              <a:ext uri="{FF2B5EF4-FFF2-40B4-BE49-F238E27FC236}">
                <a16:creationId xmlns:a16="http://schemas.microsoft.com/office/drawing/2014/main" id="{3647732E-5F4F-4957-9BA6-B0300A96B7D7}"/>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DEA23F6-42FA-4658-B64C-93FC5F24EC77}"/>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95A00846-6881-427D-BD31-EC94B3EF6AA9}"/>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45</a:t>
            </a:r>
          </a:p>
        </p:txBody>
      </p:sp>
      <p:sp>
        <p:nvSpPr>
          <p:cNvPr id="6" name="">
            <a:extLst xmlns:a="http://schemas.openxmlformats.org/drawingml/2006/main">
              <a:ext uri="{FF2B5EF4-FFF2-40B4-BE49-F238E27FC236}">
                <a16:creationId xmlns:a16="http://schemas.microsoft.com/office/drawing/2014/main" id="{3A57A997-4802-4CC2-91DD-7ACDCA74CAAF}"/>
              </a:ext>
            </a:extLst>
          </p:cNvPr>
          <p:cNvSpPr>
            <a:spLocks xmlns:a="http://schemas.openxmlformats.org/drawingml/2006/main" noGrp="1"/>
          </p:cNvSpPr>
          <p:nvPr/>
        </p:nvSpPr>
        <p:spPr>
          <a:xfrm xmlns:a="http://schemas.openxmlformats.org/drawingml/2006/main">
            <a:off x="571500" y="167640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22F99CF-BED1-46F1-B02C-E17134EC1015}"/>
              </a:ext>
            </a:extLst>
          </p:cNvPr>
          <p:cNvSpPr>
            <a:spLocks xmlns:a="http://schemas.openxmlformats.org/drawingml/2006/main" noGrp="1"/>
          </p:cNvSpPr>
          <p:nvPr/>
        </p:nvSpPr>
        <p:spPr>
          <a:xfrm xmlns:a="http://schemas.openxmlformats.org/drawingml/2006/main">
            <a:off x="571500" y="1752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FUR-004 행정서식 생성(MIS)·전자결재 연동 및 결재선 자동 추천</a:t>
            </a:r>
          </a:p>
        </p:txBody>
      </p:sp>
      <p:sp>
        <p:nvSpPr>
          <p:cNvPr id="8" name="">
            <a:extLst xmlns:a="http://schemas.openxmlformats.org/drawingml/2006/main">
              <a:ext uri="{FF2B5EF4-FFF2-40B4-BE49-F238E27FC236}">
                <a16:creationId xmlns:a16="http://schemas.microsoft.com/office/drawing/2014/main" id="{DB064CA9-CBFD-4987-A312-0F7A0E6C4A4A}"/>
              </a:ext>
            </a:extLst>
          </p:cNvPr>
          <p:cNvSpPr>
            <a:spLocks xmlns:a="http://schemas.openxmlformats.org/drawingml/2006/main" noGrp="1"/>
          </p:cNvSpPr>
          <p:nvPr/>
        </p:nvSpPr>
        <p:spPr>
          <a:xfrm xmlns:a="http://schemas.openxmlformats.org/drawingml/2006/main">
            <a:off x="571500" y="21336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MIS 행정서식 생성과 전자결재·결재선 연계.</a:t>
            </a:r>
          </a:p>
        </p:txBody>
      </p:sp>
      <p:sp>
        <p:nvSpPr>
          <p:cNvPr id="9" name="">
            <a:extLst xmlns:a="http://schemas.openxmlformats.org/drawingml/2006/main">
              <a:ext uri="{FF2B5EF4-FFF2-40B4-BE49-F238E27FC236}">
                <a16:creationId xmlns:a16="http://schemas.microsoft.com/office/drawing/2014/main" id="{CC117583-7320-4F2C-85CA-6FEE28991FBC}"/>
              </a:ext>
            </a:extLst>
          </p:cNvPr>
          <p:cNvSpPr>
            <a:spLocks xmlns:a="http://schemas.openxmlformats.org/drawingml/2006/main" noGrp="1"/>
          </p:cNvSpPr>
          <p:nvPr/>
        </p:nvSpPr>
        <p:spPr>
          <a:xfrm xmlns:a="http://schemas.openxmlformats.org/drawingml/2006/main">
            <a:off x="6334125" y="213360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C04 · C06 · C07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다른 직원의 결재선, 수정 전 날짜, 중복 신청을 포함해 확인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화면과 최종 등록값 대사</a:t>
            </a:r>
          </a:p>
        </p:txBody>
      </p:sp>
      <p:sp>
        <p:nvSpPr>
          <p:cNvPr id="10" name="">
            <a:extLst xmlns:a="http://schemas.openxmlformats.org/drawingml/2006/main">
              <a:ext uri="{FF2B5EF4-FFF2-40B4-BE49-F238E27FC236}">
                <a16:creationId xmlns:a16="http://schemas.microsoft.com/office/drawing/2014/main" id="{4EAE55AB-E086-4ABB-9C5E-BBED566FAB64}"/>
              </a:ext>
            </a:extLst>
          </p:cNvPr>
          <p:cNvSpPr>
            <a:spLocks xmlns:a="http://schemas.openxmlformats.org/drawingml/2006/main" noGrp="1"/>
          </p:cNvSpPr>
          <p:nvPr/>
        </p:nvSpPr>
        <p:spPr>
          <a:xfrm xmlns:a="http://schemas.openxmlformats.org/drawingml/2006/main">
            <a:off x="571500" y="3133725"/>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77F70E1-38C9-4C54-B81F-B226415755F8}"/>
              </a:ext>
            </a:extLst>
          </p:cNvPr>
          <p:cNvSpPr>
            <a:spLocks xmlns:a="http://schemas.openxmlformats.org/drawingml/2006/main" noGrp="1"/>
          </p:cNvSpPr>
          <p:nvPr/>
        </p:nvSpPr>
        <p:spPr>
          <a:xfrm xmlns:a="http://schemas.openxmlformats.org/drawingml/2006/main">
            <a:off x="571500" y="32099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FUR-007 그룹웨어·기간계 시스템 연계</a:t>
            </a:r>
          </a:p>
        </p:txBody>
      </p:sp>
      <p:sp>
        <p:nvSpPr>
          <p:cNvPr id="12" name="">
            <a:extLst xmlns:a="http://schemas.openxmlformats.org/drawingml/2006/main">
              <a:ext uri="{FF2B5EF4-FFF2-40B4-BE49-F238E27FC236}">
                <a16:creationId xmlns:a16="http://schemas.microsoft.com/office/drawing/2014/main" id="{7AE72537-506F-49B1-8FBC-D0E879E64A17}"/>
              </a:ext>
            </a:extLst>
          </p:cNvPr>
          <p:cNvSpPr>
            <a:spLocks xmlns:a="http://schemas.openxmlformats.org/drawingml/2006/main" noGrp="1"/>
          </p:cNvSpPr>
          <p:nvPr/>
        </p:nvSpPr>
        <p:spPr>
          <a:xfrm xmlns:a="http://schemas.openxmlformats.org/drawingml/2006/main">
            <a:off x="571500" y="35909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그룹웨어·기간계와 연계해 요청 및 처리 결과를 교환하는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기능.</a:t>
            </a:r>
          </a:p>
        </p:txBody>
      </p:sp>
      <p:sp>
        <p:nvSpPr>
          <p:cNvPr id="13" name="">
            <a:extLst xmlns:a="http://schemas.openxmlformats.org/drawingml/2006/main">
              <a:ext uri="{FF2B5EF4-FFF2-40B4-BE49-F238E27FC236}">
                <a16:creationId xmlns:a16="http://schemas.microsoft.com/office/drawing/2014/main" id="{8FE4A952-6D4D-4CD3-B511-62092D834147}"/>
              </a:ext>
            </a:extLst>
          </p:cNvPr>
          <p:cNvSpPr>
            <a:spLocks xmlns:a="http://schemas.openxmlformats.org/drawingml/2006/main" noGrp="1"/>
          </p:cNvSpPr>
          <p:nvPr/>
        </p:nvSpPr>
        <p:spPr>
          <a:xfrm xmlns:a="http://schemas.openxmlformats.org/drawingml/2006/main">
            <a:off x="6334125" y="359092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C02 · C07 · C08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인증 만료·연계 장애·응답 지연 시 실제 등록 상태와 사용자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안내의 일치 확인</a:t>
            </a:r>
          </a:p>
        </p:txBody>
      </p:sp>
      <p:sp>
        <p:nvSpPr>
          <p:cNvPr id="14" name="">
            <a:extLst xmlns:a="http://schemas.openxmlformats.org/drawingml/2006/main">
              <a:ext uri="{FF2B5EF4-FFF2-40B4-BE49-F238E27FC236}">
                <a16:creationId xmlns:a16="http://schemas.microsoft.com/office/drawing/2014/main" id="{A68E7AF2-71C9-436A-AED9-01FA160A897B}"/>
              </a:ext>
            </a:extLst>
          </p:cNvPr>
          <p:cNvSpPr>
            <a:spLocks xmlns:a="http://schemas.openxmlformats.org/drawingml/2006/main" noGrp="1"/>
          </p:cNvSpPr>
          <p:nvPr/>
        </p:nvSpPr>
        <p:spPr>
          <a:xfrm xmlns:a="http://schemas.openxmlformats.org/drawingml/2006/main">
            <a:off x="571500" y="45910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DA3AAED-5C7F-400C-8FA5-67A517BBC492}"/>
              </a:ext>
            </a:extLst>
          </p:cNvPr>
          <p:cNvSpPr>
            <a:spLocks xmlns:a="http://schemas.openxmlformats.org/drawingml/2006/main" noGrp="1"/>
          </p:cNvSpPr>
          <p:nvPr/>
        </p:nvSpPr>
        <p:spPr>
          <a:xfrm xmlns:a="http://schemas.openxmlformats.org/drawingml/2006/main">
            <a:off x="571500" y="46672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FUR-009 통합경영정보시스템(MIS) 행정업무 API 개발</a:t>
            </a:r>
          </a:p>
        </p:txBody>
      </p:sp>
      <p:sp>
        <p:nvSpPr>
          <p:cNvPr id="16" name="">
            <a:extLst xmlns:a="http://schemas.openxmlformats.org/drawingml/2006/main">
              <a:ext uri="{FF2B5EF4-FFF2-40B4-BE49-F238E27FC236}">
                <a16:creationId xmlns:a16="http://schemas.microsoft.com/office/drawing/2014/main" id="{59889604-0676-421F-BE4A-998FDC675314}"/>
              </a:ext>
            </a:extLst>
          </p:cNvPr>
          <p:cNvSpPr>
            <a:spLocks xmlns:a="http://schemas.openxmlformats.org/drawingml/2006/main" noGrp="1"/>
          </p:cNvSpPr>
          <p:nvPr/>
        </p:nvSpPr>
        <p:spPr>
          <a:xfrm xmlns:a="http://schemas.openxmlformats.org/drawingml/2006/main">
            <a:off x="571500" y="504825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자연어 행정 서비스에 필요한 MIS 업무 API의 신규 개발.</a:t>
            </a:r>
          </a:p>
        </p:txBody>
      </p:sp>
      <p:sp>
        <p:nvSpPr>
          <p:cNvPr id="17" name="">
            <a:extLst xmlns:a="http://schemas.openxmlformats.org/drawingml/2006/main">
              <a:ext uri="{FF2B5EF4-FFF2-40B4-BE49-F238E27FC236}">
                <a16:creationId xmlns:a16="http://schemas.microsoft.com/office/drawing/2014/main" id="{951B8EBA-13FC-4D45-BD1A-EF2780F7671B}"/>
              </a:ext>
            </a:extLst>
          </p:cNvPr>
          <p:cNvSpPr>
            <a:spLocks xmlns:a="http://schemas.openxmlformats.org/drawingml/2006/main" noGrp="1"/>
          </p:cNvSpPr>
          <p:nvPr/>
        </p:nvSpPr>
        <p:spPr>
          <a:xfrm xmlns:a="http://schemas.openxmlformats.org/drawingml/2006/main">
            <a:off x="6334125" y="504825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C07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필수 인자·권한·중복 요청·취소 가능 상태를 API 계약 및 실제</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 데이터와 대조</a:t>
            </a:r>
          </a:p>
        </p:txBody>
      </p:sp>
    </p:spTree>
    <p:extLst>
      <p:ext uri="{BB962C8B-B14F-4D97-AF65-F5344CB8AC3E}">
        <p14:creationId xmlns:p14="http://schemas.microsoft.com/office/powerpoint/2010/main" val="1144884705"/>
      </p:ext>
    </p:extLst>
  </p:cSld>
</p:sld>
</file>

<file path=ppt/slides/slide46.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4264195-A886-49E1-B484-CB5A79C1A890}"/>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PF-R06 / RFP 수록 기존 시스템 구성 / 원문 삽입도 추출</a:t>
            </a:r>
          </a:p>
        </p:txBody>
      </p:sp>
      <p:sp>
        <p:nvSpPr>
          <p:cNvPr id="2" name="">
            <a:extLst xmlns:a="http://schemas.openxmlformats.org/drawingml/2006/main">
              <a:ext uri="{FF2B5EF4-FFF2-40B4-BE49-F238E27FC236}">
                <a16:creationId xmlns:a16="http://schemas.microsoft.com/office/drawing/2014/main" id="{7B2C72D3-F5F2-4115-97B6-93E661725149}"/>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철도기술연구원 업무시스템</a:t>
            </a:r>
          </a:p>
        </p:txBody>
      </p:sp>
      <p:sp>
        <p:nvSpPr>
          <p:cNvPr id="3" name="">
            <a:extLst xmlns:a="http://schemas.openxmlformats.org/drawingml/2006/main">
              <a:ext uri="{FF2B5EF4-FFF2-40B4-BE49-F238E27FC236}">
                <a16:creationId xmlns:a16="http://schemas.microsoft.com/office/drawing/2014/main" id="{109619F6-AD11-403B-B11F-731ADF2EE1EF}"/>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4D33345-99D1-472A-9FE2-7C2C3C5BB198}"/>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32303BE3-FE51-42B3-B271-F015068AC1D6}"/>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46</a:t>
            </a:r>
          </a:p>
        </p:txBody>
      </p:sp>
      <p:pic>
        <p:nvPicPr>
          <p:cNvPr id="6" name="">
            <a:extLst xmlns:a="http://schemas.openxmlformats.org/drawingml/2006/main">
              <a:ext uri="{FF2B5EF4-FFF2-40B4-BE49-F238E27FC236}">
                <a16:creationId xmlns:a16="http://schemas.microsoft.com/office/drawing/2014/main" id="{0784C03E-1B84-4C31-AE8B-6EBCD17A5A00}"/>
              </a:ext>
            </a:extLst>
          </p:cNvPr>
          <p:cNvPicPr>
            <a:picLocks xmlns:a="http://schemas.openxmlformats.org/drawingml/2006/main" noChangeAspect="1"/>
          </p:cNvPicPr>
          <p:nvPr/>
        </p:nvPicPr>
        <p:blipFill>
          <a:blip xmlns:r="http://schemas.openxmlformats.org/officeDocument/2006/relationships" xmlns:a="http://schemas.openxmlformats.org/drawingml/2006/main" r:embed="R2713062617fb4d30"/>
          <a:stretch xmlns:a="http://schemas.openxmlformats.org/drawingml/2006/main"/>
        </p:blipFill>
        <p:spPr>
          <a:xfrm xmlns:a="http://schemas.openxmlformats.org/drawingml/2006/main">
            <a:off x="2003569" y="1657350"/>
            <a:ext cx="8184862"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509E3E0-08C5-472C-93AD-CCBBE63597CE}"/>
              </a:ext>
            </a:extLst>
          </p:cNvPr>
          <p:cNvSpPr>
            <a:spLocks xmlns:a="http://schemas.openxmlformats.org/drawingml/2006/main" noGrp="1"/>
          </p:cNvSpPr>
          <p:nvPr/>
        </p:nvSpPr>
        <p:spPr>
          <a:xfrm xmlns:a="http://schemas.openxmlformats.org/drawingml/2006/main">
            <a:off x="571500" y="5915025"/>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협업 포털·통합경영정보·전자결재·외부 연계 현황</a:t>
            </a:r>
          </a:p>
        </p:txBody>
      </p:sp>
    </p:spTree>
    <p:extLst>
      <p:ext uri="{BB962C8B-B14F-4D97-AF65-F5344CB8AC3E}">
        <p14:creationId xmlns:p14="http://schemas.microsoft.com/office/powerpoint/2010/main" val="843765102"/>
      </p:ext>
    </p:extLst>
  </p:cSld>
</p:sld>
</file>

<file path=ppt/slides/slide47.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FAFE20AB-FF6A-456A-8ABB-7B749400823A}"/>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275D9FBE-A8E6-49F4-AB1F-E0FD6971E678}"/>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F0B4F78F-7CD5-420D-A5E0-A3F61A7DC220}"/>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0683457E-51FF-4402-9F9D-C3C16571790B}"/>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4ABF35B4-611F-4F1A-AFCC-28C11B8C3D3C}"/>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7B31FA9B-6BAC-4E08-B436-A33536451EB3}"/>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2E93E712-9493-43C6-A7DB-7EBBE0B373E0}"/>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0D083D57-B355-47C4-AF08-71375A1A575B}"/>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8D6D160D-ECD2-4EB5-B132-EB5D8D6077C8}"/>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DAD441AE-8B75-4BD6-9F79-9A081BBC4B78}"/>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PF-R06 / CCK 세부 재구성 · 논리 서비스 설계</a:t>
            </a:r>
          </a:p>
        </p:txBody>
      </p:sp>
      <p:sp>
        <p:nvSpPr>
          <p:cNvPr id="2" name="">
            <a:extLst xmlns:a="http://schemas.openxmlformats.org/drawingml/2006/main">
              <a:ext uri="{FF2B5EF4-FFF2-40B4-BE49-F238E27FC236}">
                <a16:creationId xmlns:a16="http://schemas.microsoft.com/office/drawing/2014/main" id="{7730C544-89AA-4D01-B57D-03AFC7162878}"/>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철도기술연구원 행정 AI · 세부 서비스 구조</a:t>
            </a:r>
          </a:p>
        </p:txBody>
      </p:sp>
      <p:sp>
        <p:nvSpPr>
          <p:cNvPr id="3" name="">
            <a:extLst xmlns:a="http://schemas.openxmlformats.org/drawingml/2006/main">
              <a:ext uri="{FF2B5EF4-FFF2-40B4-BE49-F238E27FC236}">
                <a16:creationId xmlns:a16="http://schemas.microsoft.com/office/drawing/2014/main" id="{F094EF97-47E3-4506-B8BF-D7BFCC6CB80C}"/>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B28F13B-A5E7-441F-AB2F-D49E5C7AF387}"/>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CC04C8A3-19A5-471D-AE0E-DC722F5FC6B2}"/>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47</a:t>
            </a:r>
          </a:p>
        </p:txBody>
      </p:sp>
      <p:sp>
        <p:nvSpPr>
          <p:cNvPr id="6" name="">
            <a:extLst xmlns:a="http://schemas.openxmlformats.org/drawingml/2006/main">
              <a:ext uri="{FF2B5EF4-FFF2-40B4-BE49-F238E27FC236}">
                <a16:creationId xmlns:a16="http://schemas.microsoft.com/office/drawing/2014/main" id="{492FE3E5-27E0-4B33-8419-F960C92EB8D1}"/>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FUR-001~009·TER-005</a:t>
            </a:r>
          </a:p>
        </p:txBody>
      </p:sp>
      <p:sp>
        <p:nvSpPr>
          <p:cNvPr id="7" name="">
            <a:extLst xmlns:a="http://schemas.openxmlformats.org/drawingml/2006/main">
              <a:ext uri="{FF2B5EF4-FFF2-40B4-BE49-F238E27FC236}">
                <a16:creationId xmlns:a16="http://schemas.microsoft.com/office/drawing/2014/main" id="{B97173E0-2AD7-4F3B-BB26-F0DFAF68B77B}"/>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213B3731-1DE3-4DDB-B3FB-EE1E82B3CCF1}"/>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55DB0543-FFE9-4D05-8D55-0429113218A3}"/>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음성·텍스트 입력</a:t>
            </a:r>
          </a:p>
        </p:txBody>
      </p:sp>
      <p:sp>
        <p:nvSpPr>
          <p:cNvPr id="10" name="">
            <a:extLst xmlns:a="http://schemas.openxmlformats.org/drawingml/2006/main">
              <a:ext uri="{FF2B5EF4-FFF2-40B4-BE49-F238E27FC236}">
                <a16:creationId xmlns:a16="http://schemas.microsoft.com/office/drawing/2014/main" id="{1CD24E62-BB8A-46C2-85CD-189A5255F849}"/>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62B9A4B4-7201-4413-9194-15882841047E}"/>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90100A47-53D5-42C3-9A90-C08F53AEB5E4}"/>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직원·조직·직무</a:t>
            </a:r>
          </a:p>
        </p:txBody>
      </p:sp>
      <p:sp>
        <p:nvSpPr>
          <p:cNvPr id="13" name="">
            <a:extLst xmlns:a="http://schemas.openxmlformats.org/drawingml/2006/main">
              <a:ext uri="{FF2B5EF4-FFF2-40B4-BE49-F238E27FC236}">
                <a16:creationId xmlns:a16="http://schemas.microsoft.com/office/drawing/2014/main" id="{A3A138E4-D02F-48D3-9A84-937A8F156204}"/>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84E362F7-4CC6-47D1-BB30-42AB4E83A734}"/>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E2AD886E-DA32-493C-93E3-18E19DDB1B12}"/>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근태·서식 조회</a:t>
            </a:r>
          </a:p>
        </p:txBody>
      </p:sp>
      <p:sp>
        <p:nvSpPr>
          <p:cNvPr id="16" name="">
            <a:extLst xmlns:a="http://schemas.openxmlformats.org/drawingml/2006/main">
              <a:ext uri="{FF2B5EF4-FFF2-40B4-BE49-F238E27FC236}">
                <a16:creationId xmlns:a16="http://schemas.microsoft.com/office/drawing/2014/main" id="{28AE899C-6DB4-4AAC-9AC5-F755A158D7C4}"/>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E09F54DD-30C0-4BC7-9A2D-9EAF58685537}"/>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A14171CB-4EAE-4EAC-8DFF-887628DCED84}"/>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STT·의도·필드 추출</a:t>
            </a:r>
          </a:p>
        </p:txBody>
      </p:sp>
      <p:sp>
        <p:nvSpPr>
          <p:cNvPr id="19" name="">
            <a:extLst xmlns:a="http://schemas.openxmlformats.org/drawingml/2006/main">
              <a:ext uri="{FF2B5EF4-FFF2-40B4-BE49-F238E27FC236}">
                <a16:creationId xmlns:a16="http://schemas.microsoft.com/office/drawing/2014/main" id="{185DB2B2-41F4-406E-80BD-58D35B663E09}"/>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E5EC199E-E17C-4706-8468-B6B24B20689C}"/>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02D858AF-2717-4371-9826-8B8F764C812F}"/>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날짜·필수값 검사</a:t>
            </a:r>
          </a:p>
        </p:txBody>
      </p:sp>
      <p:sp>
        <p:nvSpPr>
          <p:cNvPr id="22" name="">
            <a:extLst xmlns:a="http://schemas.openxmlformats.org/drawingml/2006/main">
              <a:ext uri="{FF2B5EF4-FFF2-40B4-BE49-F238E27FC236}">
                <a16:creationId xmlns:a16="http://schemas.microsoft.com/office/drawing/2014/main" id="{8FDDE01B-C5D9-42E7-964D-68889F990643}"/>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6F263341-31D9-4DFD-8668-40EEDE3A1262}"/>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DEE5E23F-58B0-42A8-90F3-FE7EAF117822}"/>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사용자 최종 확인</a:t>
            </a:r>
          </a:p>
        </p:txBody>
      </p:sp>
      <p:sp>
        <p:nvSpPr>
          <p:cNvPr id="25" name="">
            <a:extLst xmlns:a="http://schemas.openxmlformats.org/drawingml/2006/main">
              <a:ext uri="{FF2B5EF4-FFF2-40B4-BE49-F238E27FC236}">
                <a16:creationId xmlns:a16="http://schemas.microsoft.com/office/drawing/2014/main" id="{7D7BB1A3-D4D2-4C72-94A1-1777FDD6EAC7}"/>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41527B76-B8F4-400E-B0C2-DB1A2762A93C}"/>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D6AC42B6-6FB2-4028-A69C-9D580612CD73}"/>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신규 MIS API·상신</a:t>
            </a:r>
          </a:p>
        </p:txBody>
      </p:sp>
      <p:sp>
        <p:nvSpPr>
          <p:cNvPr id="28" name="">
            <a:extLst xmlns:a="http://schemas.openxmlformats.org/drawingml/2006/main">
              <a:ext uri="{FF2B5EF4-FFF2-40B4-BE49-F238E27FC236}">
                <a16:creationId xmlns:a16="http://schemas.microsoft.com/office/drawing/2014/main" id="{224F5CBB-D325-419F-B2CF-05583C53FB27}"/>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F1C8E3CF-3A73-4F84-A665-35ECE524F7F6}"/>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D470517A-7E99-4BA9-AF02-98874F26E27C}"/>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취소·중복 대사</a:t>
            </a:r>
          </a:p>
        </p:txBody>
      </p:sp>
      <p:sp>
        <p:nvSpPr>
          <p:cNvPr id="31" name="">
            <a:extLst xmlns:a="http://schemas.openxmlformats.org/drawingml/2006/main">
              <a:ext uri="{FF2B5EF4-FFF2-40B4-BE49-F238E27FC236}">
                <a16:creationId xmlns:a16="http://schemas.microsoft.com/office/drawing/2014/main" id="{B20FD4CE-40F7-416D-896E-F0B554FAFAAA}"/>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ADF0074C-03F2-4446-A36B-9DB7FE0B0DDE}"/>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18D71755-9796-4EF7-85BC-EB6552529F61}"/>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인사·근태·결재선</a:t>
            </a:r>
          </a:p>
        </p:txBody>
      </p:sp>
      <p:sp>
        <p:nvSpPr>
          <p:cNvPr id="34" name="">
            <a:extLst xmlns:a="http://schemas.openxmlformats.org/drawingml/2006/main">
              <a:ext uri="{FF2B5EF4-FFF2-40B4-BE49-F238E27FC236}">
                <a16:creationId xmlns:a16="http://schemas.microsoft.com/office/drawing/2014/main" id="{993EB405-D82E-4445-B3CB-28A7B26186BE}"/>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E228C767-C857-4EFF-A6FC-24C2386196DE}"/>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193FCFE0-FFE5-423C-8E08-B1F48329B63C}"/>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필드·서식 정합화</a:t>
            </a:r>
          </a:p>
        </p:txBody>
      </p:sp>
      <p:sp>
        <p:nvSpPr>
          <p:cNvPr id="37" name="">
            <a:extLst xmlns:a="http://schemas.openxmlformats.org/drawingml/2006/main">
              <a:ext uri="{FF2B5EF4-FFF2-40B4-BE49-F238E27FC236}">
                <a16:creationId xmlns:a16="http://schemas.microsoft.com/office/drawing/2014/main" id="{A8E10AEC-0B60-44DC-B8FB-2E798977B26C}"/>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D0A6636E-8AC7-4BE0-8770-045376BCBD39}"/>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8493E9E4-EA90-4003-BF5D-B45BE51EFAC8}"/>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신청 초안·접수 상태</a:t>
            </a:r>
          </a:p>
        </p:txBody>
      </p:sp>
      <p:sp>
        <p:nvSpPr>
          <p:cNvPr id="40" name="">
            <a:extLst xmlns:a="http://schemas.openxmlformats.org/drawingml/2006/main">
              <a:ext uri="{FF2B5EF4-FFF2-40B4-BE49-F238E27FC236}">
                <a16:creationId xmlns:a16="http://schemas.microsoft.com/office/drawing/2014/main" id="{EA9CA756-C826-4D96-A50A-DF1084C6BE6F}"/>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43083C15-8A07-4F7C-965D-110B05D036D0}"/>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436ED777-7FE0-4667-95E7-B19FF2ECCF6A}"/>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업무·실행 권한</a:t>
            </a:r>
          </a:p>
        </p:txBody>
      </p:sp>
      <p:sp>
        <p:nvSpPr>
          <p:cNvPr id="52" name="">
            <a:extLst xmlns:a="http://schemas.openxmlformats.org/drawingml/2006/main">
              <a:ext uri="{FF2B5EF4-FFF2-40B4-BE49-F238E27FC236}">
                <a16:creationId xmlns:a16="http://schemas.microsoft.com/office/drawing/2014/main" id="{5414292B-ADCD-4EDF-BC8C-637E94387287}"/>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767931575"/>
      </p:ext>
    </p:extLst>
  </p:cSld>
</p:sld>
</file>

<file path=ppt/slides/slide48.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1C4F2782-865A-4D8A-8912-84CED241A7FF}"/>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PF-R06 / 논리 인터페이스·복구 설계</a:t>
            </a:r>
          </a:p>
        </p:txBody>
      </p:sp>
      <p:sp>
        <p:nvSpPr>
          <p:cNvPr id="2" name="">
            <a:extLst xmlns:a="http://schemas.openxmlformats.org/drawingml/2006/main">
              <a:ext uri="{FF2B5EF4-FFF2-40B4-BE49-F238E27FC236}">
                <a16:creationId xmlns:a16="http://schemas.microsoft.com/office/drawing/2014/main" id="{BFD1831F-5C87-480D-BD50-616272D5B613}"/>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철도기술연구원 행정 AI · 데이터와 예외 처리</a:t>
            </a:r>
          </a:p>
        </p:txBody>
      </p:sp>
      <p:sp>
        <p:nvSpPr>
          <p:cNvPr id="3" name="">
            <a:extLst xmlns:a="http://schemas.openxmlformats.org/drawingml/2006/main">
              <a:ext uri="{FF2B5EF4-FFF2-40B4-BE49-F238E27FC236}">
                <a16:creationId xmlns:a16="http://schemas.microsoft.com/office/drawing/2014/main" id="{8A1F5F4D-9D03-48CD-8509-2802B685DD18}"/>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774F6E2-0EB6-4041-8DC9-C46D74D10574}"/>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CDADC95C-9A47-4D51-9C08-E66131CA73DD}"/>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48</a:t>
            </a:r>
          </a:p>
        </p:txBody>
      </p:sp>
      <p:sp>
        <p:nvSpPr>
          <p:cNvPr id="6" name="">
            <a:extLst xmlns:a="http://schemas.openxmlformats.org/drawingml/2006/main">
              <a:ext uri="{FF2B5EF4-FFF2-40B4-BE49-F238E27FC236}">
                <a16:creationId xmlns:a16="http://schemas.microsoft.com/office/drawing/2014/main" id="{D2F80517-732A-46F5-B9D5-B2296C483E0E}"/>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12E9B6F0-2B30-44AB-958C-1661247CB079}"/>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8F357D61-2B77-4803-843A-E4E291E20F9F}"/>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64358882-FF6D-4E24-892F-646912F2246F}"/>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음성/텍스트 입력과 조직·직무·권한 확인</a:t>
            </a:r>
          </a:p>
        </p:txBody>
      </p:sp>
      <p:sp>
        <p:nvSpPr>
          <p:cNvPr id="10" name="">
            <a:extLst xmlns:a="http://schemas.openxmlformats.org/drawingml/2006/main">
              <a:ext uri="{FF2B5EF4-FFF2-40B4-BE49-F238E27FC236}">
                <a16:creationId xmlns:a16="http://schemas.microsoft.com/office/drawing/2014/main" id="{097451D9-8D87-430F-A94F-A14DD28DEB36}"/>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99EA027-A7DA-490D-B1AD-CACE0ABCFD05}"/>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E00BD9BC-E548-41B5-BBB6-CECF6D7FD5BF}"/>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원 발화</a:t>
            </a:r>
          </a:p>
        </p:txBody>
      </p:sp>
      <p:sp>
        <p:nvSpPr>
          <p:cNvPr id="13" name="">
            <a:extLst xmlns:a="http://schemas.openxmlformats.org/drawingml/2006/main">
              <a:ext uri="{FF2B5EF4-FFF2-40B4-BE49-F238E27FC236}">
                <a16:creationId xmlns:a16="http://schemas.microsoft.com/office/drawing/2014/main" id="{CFE92F18-6D7C-4118-9CDA-53F5AD70C6D0}"/>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79DDC3B-3669-4621-B055-B5ACA599CB79}"/>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F34F1636-B198-4B9B-A1A1-1F6F74B94E0A}"/>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신청 필드</a:t>
            </a:r>
          </a:p>
        </p:txBody>
      </p:sp>
      <p:sp>
        <p:nvSpPr>
          <p:cNvPr id="16" name="">
            <a:extLst xmlns:a="http://schemas.openxmlformats.org/drawingml/2006/main">
              <a:ext uri="{FF2B5EF4-FFF2-40B4-BE49-F238E27FC236}">
                <a16:creationId xmlns:a16="http://schemas.microsoft.com/office/drawing/2014/main" id="{A8EDFFC2-659A-4E27-BDF1-B4227D9FEC1A}"/>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0F780FE-B180-4956-868C-97C3C747B297}"/>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C6753E5C-27D8-4595-A900-FE83C62AF687}"/>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확인된 초안</a:t>
            </a:r>
          </a:p>
        </p:txBody>
      </p:sp>
      <p:sp>
        <p:nvSpPr>
          <p:cNvPr id="19" name="">
            <a:extLst xmlns:a="http://schemas.openxmlformats.org/drawingml/2006/main">
              <a:ext uri="{FF2B5EF4-FFF2-40B4-BE49-F238E27FC236}">
                <a16:creationId xmlns:a16="http://schemas.microsoft.com/office/drawing/2014/main" id="{8768B9C1-720B-4E2C-B97E-7BBDF4DE01BD}"/>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41C3DCF-953C-4223-977B-3606F62B5FF0}"/>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EA680B48-2B61-47A0-A2FF-8E7C01343342}"/>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확인된 초안</a:t>
            </a:r>
          </a:p>
        </p:txBody>
      </p:sp>
      <p:sp>
        <p:nvSpPr>
          <p:cNvPr id="22" name="">
            <a:extLst xmlns:a="http://schemas.openxmlformats.org/drawingml/2006/main">
              <a:ext uri="{FF2B5EF4-FFF2-40B4-BE49-F238E27FC236}">
                <a16:creationId xmlns:a16="http://schemas.microsoft.com/office/drawing/2014/main" id="{5EB428FF-3194-4258-A92E-665A9E7A9905}"/>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A40820B-8BC4-4030-98BB-B23745032853}"/>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48336C5C-65D4-4CA1-A8F2-B5760D57A6E2}"/>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접수 결과</a:t>
            </a:r>
          </a:p>
        </p:txBody>
      </p:sp>
      <p:sp>
        <p:nvSpPr>
          <p:cNvPr id="25" name="">
            <a:extLst xmlns:a="http://schemas.openxmlformats.org/drawingml/2006/main">
              <a:ext uri="{FF2B5EF4-FFF2-40B4-BE49-F238E27FC236}">
                <a16:creationId xmlns:a16="http://schemas.microsoft.com/office/drawing/2014/main" id="{DB266EFB-CCF1-47C2-9320-A088C0C3C590}"/>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93183969-6E7B-4CF4-A010-86CC72FB9F9F}"/>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날짜 오인식·필수 항목 누락·API 재시도·취소</a:t>
            </a:r>
          </a:p>
        </p:txBody>
      </p:sp>
      <p:sp>
        <p:nvSpPr>
          <p:cNvPr id="27" name="">
            <a:extLst xmlns:a="http://schemas.openxmlformats.org/drawingml/2006/main">
              <a:ext uri="{FF2B5EF4-FFF2-40B4-BE49-F238E27FC236}">
                <a16:creationId xmlns:a16="http://schemas.microsoft.com/office/drawing/2014/main" id="{A7F5CC76-7E58-48B7-8719-2877C6206628}"/>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3CD86A0E-44B1-4363-99D0-9B7B270BFE1C}"/>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필수 필드 재확인·멱등성·상태 대사</a:t>
            </a:r>
          </a:p>
        </p:txBody>
      </p:sp>
      <p:sp>
        <p:nvSpPr>
          <p:cNvPr id="29" name="">
            <a:extLst xmlns:a="http://schemas.openxmlformats.org/drawingml/2006/main">
              <a:ext uri="{FF2B5EF4-FFF2-40B4-BE49-F238E27FC236}">
                <a16:creationId xmlns:a16="http://schemas.microsoft.com/office/drawing/2014/main" id="{CFB10CD6-5D0B-46A9-AC5A-34C7501439DB}"/>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C793B5FB-5BEF-4CA7-9D6E-E16581296BD4}"/>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수정·취소·재시도 상태의 원천 대사</a:t>
            </a:r>
          </a:p>
        </p:txBody>
      </p:sp>
      <p:sp>
        <p:nvSpPr>
          <p:cNvPr id="31" name="">
            <a:extLst xmlns:a="http://schemas.openxmlformats.org/drawingml/2006/main">
              <a:ext uri="{FF2B5EF4-FFF2-40B4-BE49-F238E27FC236}">
                <a16:creationId xmlns:a16="http://schemas.microsoft.com/office/drawing/2014/main" id="{00D68168-06BA-4445-B702-D422E2E8DE34}"/>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A05B645F-B03E-40C0-B826-677A22807D48}"/>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확인 전 실행 차단·중복 방지·MIS 접수 상태 대사</a:t>
            </a:r>
          </a:p>
        </p:txBody>
      </p:sp>
    </p:spTree>
    <p:extLst>
      <p:ext uri="{BB962C8B-B14F-4D97-AF65-F5344CB8AC3E}">
        <p14:creationId xmlns:p14="http://schemas.microsoft.com/office/powerpoint/2010/main" val="1984208850"/>
      </p:ext>
    </p:extLst>
  </p:cSld>
</p:sld>
</file>

<file path=ppt/slides/slide49.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BF86794-0B15-4906-9E39-64E30A360EAA}"/>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PF-R06 / CCK 비교·재현 시험 설계</a:t>
            </a:r>
          </a:p>
        </p:txBody>
      </p:sp>
      <p:sp>
        <p:nvSpPr>
          <p:cNvPr id="2" name="">
            <a:extLst xmlns:a="http://schemas.openxmlformats.org/drawingml/2006/main">
              <a:ext uri="{FF2B5EF4-FFF2-40B4-BE49-F238E27FC236}">
                <a16:creationId xmlns:a16="http://schemas.microsoft.com/office/drawing/2014/main" id="{9973315E-124E-4B92-8638-E44E674CA7DC}"/>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철도기술연구원 행정 AI · 벤치마킹</a:t>
            </a:r>
          </a:p>
        </p:txBody>
      </p:sp>
      <p:sp>
        <p:nvSpPr>
          <p:cNvPr id="3" name="">
            <a:extLst xmlns:a="http://schemas.openxmlformats.org/drawingml/2006/main">
              <a:ext uri="{FF2B5EF4-FFF2-40B4-BE49-F238E27FC236}">
                <a16:creationId xmlns:a16="http://schemas.microsoft.com/office/drawing/2014/main" id="{A4554F60-556B-4184-95B7-825EEC2B270E}"/>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E17188F-C251-4C9E-B848-235486E14D72}"/>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346A0D41-2238-441A-9B40-3300DD27936D}"/>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49</a:t>
            </a:r>
          </a:p>
        </p:txBody>
      </p:sp>
      <p:sp>
        <p:nvSpPr>
          <p:cNvPr id="6" name="">
            <a:extLst xmlns:a="http://schemas.openxmlformats.org/drawingml/2006/main">
              <a:ext uri="{FF2B5EF4-FFF2-40B4-BE49-F238E27FC236}">
                <a16:creationId xmlns:a16="http://schemas.microsoft.com/office/drawing/2014/main" id="{2CEBFD66-D0A5-4E54-A667-E817ED12E225}"/>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27A375ED-6A85-4DF9-B4DA-5490D667FC16}"/>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발화 구조화와 기존 MIS 연결</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실행 전 사용자 확인</a:t>
            </a:r>
          </a:p>
        </p:txBody>
      </p:sp>
      <p:sp>
        <p:nvSpPr>
          <p:cNvPr id="8" name="">
            <a:extLst xmlns:a="http://schemas.openxmlformats.org/drawingml/2006/main">
              <a:ext uri="{FF2B5EF4-FFF2-40B4-BE49-F238E27FC236}">
                <a16:creationId xmlns:a16="http://schemas.microsoft.com/office/drawing/2014/main" id="{AFFEB6AE-BD79-4A0C-959E-7E610FFC7B76}"/>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8605336A-AED9-42C4-8E47-C388658610A5}"/>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잘못된 날짜·출장 항목 추출</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재시도에 따른 중복 신청</a:t>
            </a:r>
          </a:p>
        </p:txBody>
      </p:sp>
      <p:sp>
        <p:nvSpPr>
          <p:cNvPr id="10" name="">
            <a:extLst xmlns:a="http://schemas.openxmlformats.org/drawingml/2006/main">
              <a:ext uri="{FF2B5EF4-FFF2-40B4-BE49-F238E27FC236}">
                <a16:creationId xmlns:a16="http://schemas.microsoft.com/office/drawing/2014/main" id="{9B99F6CA-8898-4DEA-A7D2-D3513E649BBA}"/>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58EDF9A7-D76E-4535-A009-1EC2ACF7D442}"/>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필수 필드 재확인·멱등성·상태 대사</a:t>
            </a:r>
          </a:p>
        </p:txBody>
      </p:sp>
      <p:sp>
        <p:nvSpPr>
          <p:cNvPr id="12" name="">
            <a:extLst xmlns:a="http://schemas.openxmlformats.org/drawingml/2006/main">
              <a:ext uri="{FF2B5EF4-FFF2-40B4-BE49-F238E27FC236}">
                <a16:creationId xmlns:a16="http://schemas.microsoft.com/office/drawing/2014/main" id="{19076959-7E73-4788-9840-AE315F692341}"/>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57C7E1C2-39D4-4C29-880B-DB294933C3C4}"/>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출장 목적·기간·장소를 말하고 확인 후 기안·상신</a:t>
            </a:r>
          </a:p>
        </p:txBody>
      </p:sp>
      <p:sp>
        <p:nvSpPr>
          <p:cNvPr id="14" name="">
            <a:extLst xmlns:a="http://schemas.openxmlformats.org/drawingml/2006/main">
              <a:ext uri="{FF2B5EF4-FFF2-40B4-BE49-F238E27FC236}">
                <a16:creationId xmlns:a16="http://schemas.microsoft.com/office/drawing/2014/main" id="{2A5CC45E-006B-46E7-825C-069FB3B6F570}"/>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9E26BE1E-5222-4A96-97DB-D3048E94FC1D}"/>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날짜 오인식·필수 항목 누락·API 재시도·취소</a:t>
            </a:r>
          </a:p>
        </p:txBody>
      </p:sp>
      <p:sp>
        <p:nvSpPr>
          <p:cNvPr id="16" name="">
            <a:extLst xmlns:a="http://schemas.openxmlformats.org/drawingml/2006/main">
              <a:ext uri="{FF2B5EF4-FFF2-40B4-BE49-F238E27FC236}">
                <a16:creationId xmlns:a16="http://schemas.microsoft.com/office/drawing/2014/main" id="{E931DFE6-23DD-4DB4-8BE9-CF852E3B0C52}"/>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D579710E-3E78-4C6C-B118-83FE761A84E5}"/>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확인 전 실행 차단·중복 방지·MIS 접수 상태 대사</a:t>
            </a:r>
          </a:p>
        </p:txBody>
      </p:sp>
    </p:spTree>
    <p:extLst>
      <p:ext uri="{BB962C8B-B14F-4D97-AF65-F5344CB8AC3E}">
        <p14:creationId xmlns:p14="http://schemas.microsoft.com/office/powerpoint/2010/main" val="592338417"/>
      </p:ext>
    </p:extLst>
  </p:cSld>
</p:sld>
</file>

<file path=ppt/slides/slide50.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628A767-F8EC-4E96-8136-7379CC7CF998}"/>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PF-R07 / 2026-10-14 본공고·최종 첨부 확인 / 입찰 진행 / 국내</a:t>
            </a:r>
          </a:p>
        </p:txBody>
      </p:sp>
      <p:sp>
        <p:nvSpPr>
          <p:cNvPr id="2" name="">
            <a:extLst xmlns:a="http://schemas.openxmlformats.org/drawingml/2006/main">
              <a:ext uri="{FF2B5EF4-FFF2-40B4-BE49-F238E27FC236}">
                <a16:creationId xmlns:a16="http://schemas.microsoft.com/office/drawing/2014/main" id="{86264D67-B6E0-41A1-BD39-AB1D89E2EDD9}"/>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KISA 스팸 민원 AI</a:t>
            </a:r>
          </a:p>
        </p:txBody>
      </p:sp>
      <p:sp>
        <p:nvSpPr>
          <p:cNvPr id="3" name="">
            <a:extLst xmlns:a="http://schemas.openxmlformats.org/drawingml/2006/main">
              <a:ext uri="{FF2B5EF4-FFF2-40B4-BE49-F238E27FC236}">
                <a16:creationId xmlns:a16="http://schemas.microsoft.com/office/drawing/2014/main" id="{6B5ABF5A-6F9F-4448-8C32-8E14D268FBFD}"/>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B5FC403-BC5E-4010-B9E3-0AB513CAF0AC}"/>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0442797A-60B9-4011-8866-91225A8F7018}"/>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50</a:t>
            </a:r>
          </a:p>
        </p:txBody>
      </p:sp>
      <p:sp>
        <p:nvSpPr>
          <p:cNvPr id="6" name="">
            <a:extLst xmlns:a="http://schemas.openxmlformats.org/drawingml/2006/main">
              <a:ext uri="{FF2B5EF4-FFF2-40B4-BE49-F238E27FC236}">
                <a16:creationId xmlns:a16="http://schemas.microsoft.com/office/drawing/2014/main" id="{EEC8727E-EE77-46CE-85F9-A88CE30BDC96}"/>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3CC49C1B-5C6A-47FC-A793-3EF5E8983298}"/>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스팸 관련 법령·가이드·체크리스트를 국민의 질문에 연</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결하는 대민 AI 상담 구축. 홈페이지·앱 접점과 지식베이</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스·외부 생성형 AI API·관리자·운영 기능을 함께 요구하</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는 사업.</a:t>
            </a:r>
          </a:p>
        </p:txBody>
      </p:sp>
      <p:sp>
        <p:nvSpPr>
          <p:cNvPr id="8" name="">
            <a:extLst xmlns:a="http://schemas.openxmlformats.org/drawingml/2006/main">
              <a:ext uri="{FF2B5EF4-FFF2-40B4-BE49-F238E27FC236}">
                <a16:creationId xmlns:a16="http://schemas.microsoft.com/office/drawing/2014/main" id="{EA90E0B9-7204-4C47-92CD-1D609BDADA36}"/>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9260BA17-54C1-4A60-8ACC-193EAA8844EB}"/>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질의 입력 점검 후 최신 법령 근거를 검색하고 외부 AI A</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PI로 답변을 생성하는 구조. 검색·답변 단계에서 출처와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답변불가 처리를 분리하고, 자동 평가와 전문가 검토를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운영 과정에 결합하는 설계. 최종 RFP 판본의 성능·품질</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요구를 기준으로 비교.</a:t>
            </a:r>
          </a:p>
        </p:txBody>
      </p:sp>
      <p:sp>
        <p:nvSpPr>
          <p:cNvPr id="10" name="">
            <a:extLst xmlns:a="http://schemas.openxmlformats.org/drawingml/2006/main">
              <a:ext uri="{FF2B5EF4-FFF2-40B4-BE49-F238E27FC236}">
                <a16:creationId xmlns:a16="http://schemas.microsoft.com/office/drawing/2014/main" id="{BCDD7428-67D9-4333-A834-AFF8BA582501}"/>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5214C5E1-1573-40AC-85E9-AEF791CC3BBC}"/>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규정 검색 성공이 적절한 민원 안내를 보장하지 않는 점을 검</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수에 반영할 필요. 법령 개정, 유사 조문, 근거 없는 질문, 공</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격성 입력을 구분한 시험셋과 전문가 판정의 연결. TS 안내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서비스에 적용할 경우 법정 판단·신청 처리는 해당 업무 시스</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템과 담당자의 책임으로 연결.</a:t>
            </a:r>
          </a:p>
        </p:txBody>
      </p:sp>
      <p:sp>
        <p:nvSpPr>
          <p:cNvPr id="12" name="">
            <a:extLst xmlns:a="http://schemas.openxmlformats.org/drawingml/2006/main">
              <a:ext uri="{FF2B5EF4-FFF2-40B4-BE49-F238E27FC236}">
                <a16:creationId xmlns:a16="http://schemas.microsoft.com/office/drawing/2014/main" id="{E3E2DE8E-EEBB-4E16-AFCD-5D4E30E4C115}"/>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F55B70F3-EA8E-4DA2-8B3E-D709106D1A69}"/>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법령·체크리스트 판본 / 응답 보류 / 전문가 정답셋·부하 시험</a:t>
            </a:r>
          </a:p>
        </p:txBody>
      </p:sp>
      <p:sp>
        <p:nvSpPr>
          <p:cNvPr id="14" name="">
            <a:extLst xmlns:a="http://schemas.openxmlformats.org/drawingml/2006/main">
              <a:ext uri="{FF2B5EF4-FFF2-40B4-BE49-F238E27FC236}">
                <a16:creationId xmlns:a16="http://schemas.microsoft.com/office/drawing/2014/main" id="{1CCD6529-10CE-4700-A8CA-A82973A17B88}"/>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CA37BB9D-869C-43F6-865E-8FCBB01484B8}"/>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개정 조문·근거 부재·공격 입력·동시 요청의 품질·성능 대</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조</a:t>
            </a:r>
          </a:p>
        </p:txBody>
      </p:sp>
      <p:sp>
        <p:nvSpPr>
          <p:cNvPr id="16" name="">
            <a:extLst xmlns:a="http://schemas.openxmlformats.org/drawingml/2006/main">
              <a:ext uri="{FF2B5EF4-FFF2-40B4-BE49-F238E27FC236}">
                <a16:creationId xmlns:a16="http://schemas.microsoft.com/office/drawing/2014/main" id="{95EE4004-2AA3-464C-83D4-A6B96E55F176}"/>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1095179A-05A3-423B-ACD1-26D1A7429A9A}"/>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근거 정답률 / 보류 적정률 / 응답시간·오류율</a:t>
            </a:r>
          </a:p>
        </p:txBody>
      </p:sp>
      <p:sp>
        <p:nvSpPr>
          <p:cNvPr id="18" name="">
            <a:extLst xmlns:a="http://schemas.openxmlformats.org/drawingml/2006/main">
              <a:ext uri="{FF2B5EF4-FFF2-40B4-BE49-F238E27FC236}">
                <a16:creationId xmlns:a16="http://schemas.microsoft.com/office/drawing/2014/main" id="{61C786EE-BB14-44DA-94DC-C3B25541B21F}"/>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사전본 동시300명→본공고100명. 오픈소스 모델/라이브러리 문구→외부 생성형AI API+RAG 방식</a:t>
            </a:r>
          </a:p>
        </p:txBody>
      </p:sp>
    </p:spTree>
    <p:extLst>
      <p:ext uri="{BB962C8B-B14F-4D97-AF65-F5344CB8AC3E}">
        <p14:creationId xmlns:p14="http://schemas.microsoft.com/office/powerpoint/2010/main" val="1863271027"/>
      </p:ext>
    </p:extLst>
  </p:cSld>
</p:sld>
</file>

<file path=ppt/slides/slide51.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C76AC0A-A983-4497-BDF7-5C93E937D787}"/>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PF-R07 / 최종 RFP 2026.10.14 · SFR-001~006·PER-001·004·QUR-001 / 1–3</a:t>
            </a:r>
          </a:p>
        </p:txBody>
      </p:sp>
      <p:sp>
        <p:nvSpPr>
          <p:cNvPr id="2" name="">
            <a:extLst xmlns:a="http://schemas.openxmlformats.org/drawingml/2006/main">
              <a:ext uri="{FF2B5EF4-FFF2-40B4-BE49-F238E27FC236}">
                <a16:creationId xmlns:a16="http://schemas.microsoft.com/office/drawing/2014/main" id="{F03162EA-2F9C-40A4-A4E0-61B883ADB9A9}"/>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KISA 스팸 민원 AI · RFP 요구사항</a:t>
            </a:r>
          </a:p>
        </p:txBody>
      </p:sp>
      <p:sp>
        <p:nvSpPr>
          <p:cNvPr id="3" name="">
            <a:extLst xmlns:a="http://schemas.openxmlformats.org/drawingml/2006/main">
              <a:ext uri="{FF2B5EF4-FFF2-40B4-BE49-F238E27FC236}">
                <a16:creationId xmlns:a16="http://schemas.microsoft.com/office/drawing/2014/main" id="{6450498D-1747-429F-AAAF-9E4B95410917}"/>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F08B3C0-F60B-4FEA-8EC3-C165BD9FC2BF}"/>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1C0AD166-A03F-491B-BC68-E74D18BABB4E}"/>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51</a:t>
            </a:r>
          </a:p>
        </p:txBody>
      </p:sp>
      <p:sp>
        <p:nvSpPr>
          <p:cNvPr id="6" name="">
            <a:extLst xmlns:a="http://schemas.openxmlformats.org/drawingml/2006/main">
              <a:ext uri="{FF2B5EF4-FFF2-40B4-BE49-F238E27FC236}">
                <a16:creationId xmlns:a16="http://schemas.microsoft.com/office/drawing/2014/main" id="{4C8349A6-77B9-4DCA-AD7C-7B7EE119FF44}"/>
              </a:ext>
            </a:extLst>
          </p:cNvPr>
          <p:cNvSpPr>
            <a:spLocks xmlns:a="http://schemas.openxmlformats.org/drawingml/2006/main" noGrp="1"/>
          </p:cNvSpPr>
          <p:nvPr/>
        </p:nvSpPr>
        <p:spPr>
          <a:xfrm xmlns:a="http://schemas.openxmlformats.org/drawingml/2006/main">
            <a:off x="571500" y="167640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302E22A-E029-4B05-BEAD-5FD22B745E55}"/>
              </a:ext>
            </a:extLst>
          </p:cNvPr>
          <p:cNvSpPr>
            <a:spLocks xmlns:a="http://schemas.openxmlformats.org/drawingml/2006/main" noGrp="1"/>
          </p:cNvSpPr>
          <p:nvPr/>
        </p:nvSpPr>
        <p:spPr>
          <a:xfrm xmlns:a="http://schemas.openxmlformats.org/drawingml/2006/main">
            <a:off x="571500" y="1752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SFR-001 AI 스팸 챗봇 서비스 구축</a:t>
            </a:r>
          </a:p>
        </p:txBody>
      </p:sp>
      <p:sp>
        <p:nvSpPr>
          <p:cNvPr id="8" name="">
            <a:extLst xmlns:a="http://schemas.openxmlformats.org/drawingml/2006/main">
              <a:ext uri="{FF2B5EF4-FFF2-40B4-BE49-F238E27FC236}">
                <a16:creationId xmlns:a16="http://schemas.microsoft.com/office/drawing/2014/main" id="{B04F664D-B163-4DC3-A436-5FC3BD5D980C}"/>
              </a:ext>
            </a:extLst>
          </p:cNvPr>
          <p:cNvSpPr>
            <a:spLocks xmlns:a="http://schemas.openxmlformats.org/drawingml/2006/main" noGrp="1"/>
          </p:cNvSpPr>
          <p:nvPr/>
        </p:nvSpPr>
        <p:spPr>
          <a:xfrm xmlns:a="http://schemas.openxmlformats.org/drawingml/2006/main">
            <a:off x="571500" y="21336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스팸 관련 법령·업무 문의에 대응하는 AI 챗봇 구축.</a:t>
            </a:r>
          </a:p>
        </p:txBody>
      </p:sp>
      <p:sp>
        <p:nvSpPr>
          <p:cNvPr id="9" name="">
            <a:extLst xmlns:a="http://schemas.openxmlformats.org/drawingml/2006/main">
              <a:ext uri="{FF2B5EF4-FFF2-40B4-BE49-F238E27FC236}">
                <a16:creationId xmlns:a16="http://schemas.microsoft.com/office/drawing/2014/main" id="{C2A882DA-1A3C-47B9-8006-5C1FFEB9482A}"/>
              </a:ext>
            </a:extLst>
          </p:cNvPr>
          <p:cNvSpPr>
            <a:spLocks xmlns:a="http://schemas.openxmlformats.org/drawingml/2006/main" noGrp="1"/>
          </p:cNvSpPr>
          <p:nvPr/>
        </p:nvSpPr>
        <p:spPr>
          <a:xfrm xmlns:a="http://schemas.openxmlformats.org/drawingml/2006/main">
            <a:off x="6334125" y="213360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C01 · C02 · C04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법령 설명·신고 절차·예외 사유 질문을 구분해 올바른 안내 경</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로 확인</a:t>
            </a:r>
          </a:p>
        </p:txBody>
      </p:sp>
      <p:sp>
        <p:nvSpPr>
          <p:cNvPr id="10" name="">
            <a:extLst xmlns:a="http://schemas.openxmlformats.org/drawingml/2006/main">
              <a:ext uri="{FF2B5EF4-FFF2-40B4-BE49-F238E27FC236}">
                <a16:creationId xmlns:a16="http://schemas.microsoft.com/office/drawing/2014/main" id="{839CCD43-816C-4078-83E7-C147AA1F713A}"/>
              </a:ext>
            </a:extLst>
          </p:cNvPr>
          <p:cNvSpPr>
            <a:spLocks xmlns:a="http://schemas.openxmlformats.org/drawingml/2006/main" noGrp="1"/>
          </p:cNvSpPr>
          <p:nvPr/>
        </p:nvSpPr>
        <p:spPr>
          <a:xfrm xmlns:a="http://schemas.openxmlformats.org/drawingml/2006/main">
            <a:off x="571500" y="3133725"/>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A304CBB-7126-48F2-8C1B-477B5D53B84B}"/>
              </a:ext>
            </a:extLst>
          </p:cNvPr>
          <p:cNvSpPr>
            <a:spLocks xmlns:a="http://schemas.openxmlformats.org/drawingml/2006/main" noGrp="1"/>
          </p:cNvSpPr>
          <p:nvPr/>
        </p:nvSpPr>
        <p:spPr>
          <a:xfrm xmlns:a="http://schemas.openxmlformats.org/drawingml/2006/main">
            <a:off x="571500" y="32099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SFR-002 AI 스팸 챗봇 서비스 지식베이스 관리</a:t>
            </a:r>
          </a:p>
        </p:txBody>
      </p:sp>
      <p:sp>
        <p:nvSpPr>
          <p:cNvPr id="12" name="">
            <a:extLst xmlns:a="http://schemas.openxmlformats.org/drawingml/2006/main">
              <a:ext uri="{FF2B5EF4-FFF2-40B4-BE49-F238E27FC236}">
                <a16:creationId xmlns:a16="http://schemas.microsoft.com/office/drawing/2014/main" id="{9B375E91-F48A-4ED2-A33A-AA2D09C6E632}"/>
              </a:ext>
            </a:extLst>
          </p:cNvPr>
          <p:cNvSpPr>
            <a:spLocks xmlns:a="http://schemas.openxmlformats.org/drawingml/2006/main" noGrp="1"/>
          </p:cNvSpPr>
          <p:nvPr/>
        </p:nvSpPr>
        <p:spPr>
          <a:xfrm xmlns:a="http://schemas.openxmlformats.org/drawingml/2006/main">
            <a:off x="571500" y="35909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스팸 관련 지식자료를 등록·정비·활용하는 지식베이스 구</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성.</a:t>
            </a:r>
          </a:p>
        </p:txBody>
      </p:sp>
      <p:sp>
        <p:nvSpPr>
          <p:cNvPr id="13" name="">
            <a:extLst xmlns:a="http://schemas.openxmlformats.org/drawingml/2006/main">
              <a:ext uri="{FF2B5EF4-FFF2-40B4-BE49-F238E27FC236}">
                <a16:creationId xmlns:a16="http://schemas.microsoft.com/office/drawing/2014/main" id="{8BE32193-C699-4957-8032-A068F1ECF11F}"/>
              </a:ext>
            </a:extLst>
          </p:cNvPr>
          <p:cNvSpPr>
            <a:spLocks xmlns:a="http://schemas.openxmlformats.org/drawingml/2006/main" noGrp="1"/>
          </p:cNvSpPr>
          <p:nvPr/>
        </p:nvSpPr>
        <p:spPr>
          <a:xfrm xmlns:a="http://schemas.openxmlformats.org/drawingml/2006/main">
            <a:off x="6334125" y="359092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C09 · C10 · C11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개정 자료·폐기 자료·상충 FAQ의 승인·갱신 및 검색 제외 결</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과 확인</a:t>
            </a:r>
          </a:p>
        </p:txBody>
      </p:sp>
      <p:sp>
        <p:nvSpPr>
          <p:cNvPr id="14" name="">
            <a:extLst xmlns:a="http://schemas.openxmlformats.org/drawingml/2006/main">
              <a:ext uri="{FF2B5EF4-FFF2-40B4-BE49-F238E27FC236}">
                <a16:creationId xmlns:a16="http://schemas.microsoft.com/office/drawing/2014/main" id="{AB8ADB35-3BEC-46EC-8A7D-CC54C11E3B8D}"/>
              </a:ext>
            </a:extLst>
          </p:cNvPr>
          <p:cNvSpPr>
            <a:spLocks xmlns:a="http://schemas.openxmlformats.org/drawingml/2006/main" noGrp="1"/>
          </p:cNvSpPr>
          <p:nvPr/>
        </p:nvSpPr>
        <p:spPr>
          <a:xfrm xmlns:a="http://schemas.openxmlformats.org/drawingml/2006/main">
            <a:off x="571500" y="45910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E1D0033-0A45-4291-9616-8A3F0362D1D0}"/>
              </a:ext>
            </a:extLst>
          </p:cNvPr>
          <p:cNvSpPr>
            <a:spLocks xmlns:a="http://schemas.openxmlformats.org/drawingml/2006/main" noGrp="1"/>
          </p:cNvSpPr>
          <p:nvPr/>
        </p:nvSpPr>
        <p:spPr>
          <a:xfrm xmlns:a="http://schemas.openxmlformats.org/drawingml/2006/main">
            <a:off x="571500" y="46672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SFR-003 AI 스팸 챗봇 서비스 모델</a:t>
            </a:r>
          </a:p>
        </p:txBody>
      </p:sp>
      <p:sp>
        <p:nvSpPr>
          <p:cNvPr id="16" name="">
            <a:extLst xmlns:a="http://schemas.openxmlformats.org/drawingml/2006/main">
              <a:ext uri="{FF2B5EF4-FFF2-40B4-BE49-F238E27FC236}">
                <a16:creationId xmlns:a16="http://schemas.microsoft.com/office/drawing/2014/main" id="{F26F8A01-51E7-413D-AEC9-B0EB252F796E}"/>
              </a:ext>
            </a:extLst>
          </p:cNvPr>
          <p:cNvSpPr>
            <a:spLocks xmlns:a="http://schemas.openxmlformats.org/drawingml/2006/main" noGrp="1"/>
          </p:cNvSpPr>
          <p:nvPr/>
        </p:nvSpPr>
        <p:spPr>
          <a:xfrm xmlns:a="http://schemas.openxmlformats.org/drawingml/2006/main">
            <a:off x="571500" y="504825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스팸 업무 질의응답을 위한 AI 모델 구성·적용.</a:t>
            </a:r>
          </a:p>
        </p:txBody>
      </p:sp>
      <p:sp>
        <p:nvSpPr>
          <p:cNvPr id="17" name="">
            <a:extLst xmlns:a="http://schemas.openxmlformats.org/drawingml/2006/main">
              <a:ext uri="{FF2B5EF4-FFF2-40B4-BE49-F238E27FC236}">
                <a16:creationId xmlns:a16="http://schemas.microsoft.com/office/drawing/2014/main" id="{F088D2B0-0EE2-4358-B580-7CEA130807BE}"/>
              </a:ext>
            </a:extLst>
          </p:cNvPr>
          <p:cNvSpPr>
            <a:spLocks xmlns:a="http://schemas.openxmlformats.org/drawingml/2006/main" noGrp="1"/>
          </p:cNvSpPr>
          <p:nvPr/>
        </p:nvSpPr>
        <p:spPr>
          <a:xfrm xmlns:a="http://schemas.openxmlformats.org/drawingml/2006/main">
            <a:off x="6334125" y="504825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C03 · C04 · C05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근거 없는 법적 단정, 문맥 누락, 질의와 무관한 응답을 업무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정답셋으로 평가</a:t>
            </a:r>
          </a:p>
        </p:txBody>
      </p:sp>
    </p:spTree>
    <p:extLst>
      <p:ext uri="{BB962C8B-B14F-4D97-AF65-F5344CB8AC3E}">
        <p14:creationId xmlns:p14="http://schemas.microsoft.com/office/powerpoint/2010/main" val="617926608"/>
      </p:ext>
    </p:extLst>
  </p:cSld>
</p:sld>
</file>

<file path=ppt/slides/slide5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4467C4F-2F64-46D1-BAD3-E632E8CF050B}"/>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PF-R07 / 최종 RFP 2026.10.14 · SFR-001~006·PER-001·004·QUR-001 / 4–6</a:t>
            </a:r>
          </a:p>
        </p:txBody>
      </p:sp>
      <p:sp>
        <p:nvSpPr>
          <p:cNvPr id="2" name="">
            <a:extLst xmlns:a="http://schemas.openxmlformats.org/drawingml/2006/main">
              <a:ext uri="{FF2B5EF4-FFF2-40B4-BE49-F238E27FC236}">
                <a16:creationId xmlns:a16="http://schemas.microsoft.com/office/drawing/2014/main" id="{70EB0BF4-2CD7-4E1F-A06F-9E28BFC6E60D}"/>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KISA 스팸 민원 AI · RFP 요구사항</a:t>
            </a:r>
          </a:p>
        </p:txBody>
      </p:sp>
      <p:sp>
        <p:nvSpPr>
          <p:cNvPr id="3" name="">
            <a:extLst xmlns:a="http://schemas.openxmlformats.org/drawingml/2006/main">
              <a:ext uri="{FF2B5EF4-FFF2-40B4-BE49-F238E27FC236}">
                <a16:creationId xmlns:a16="http://schemas.microsoft.com/office/drawing/2014/main" id="{68D21AFB-7193-46BA-9591-8067F71B0AB3}"/>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3DAFE6A-0959-40A2-BEF4-AF0519A2C556}"/>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F5FF510B-1E63-4924-9079-9B1445E97FC7}"/>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52</a:t>
            </a:r>
          </a:p>
        </p:txBody>
      </p:sp>
      <p:sp>
        <p:nvSpPr>
          <p:cNvPr id="6" name="">
            <a:extLst xmlns:a="http://schemas.openxmlformats.org/drawingml/2006/main">
              <a:ext uri="{FF2B5EF4-FFF2-40B4-BE49-F238E27FC236}">
                <a16:creationId xmlns:a16="http://schemas.microsoft.com/office/drawing/2014/main" id="{DDAF0535-CFB7-4B79-B1FB-C20B200C59C0}"/>
              </a:ext>
            </a:extLst>
          </p:cNvPr>
          <p:cNvSpPr>
            <a:spLocks xmlns:a="http://schemas.openxmlformats.org/drawingml/2006/main" noGrp="1"/>
          </p:cNvSpPr>
          <p:nvPr/>
        </p:nvSpPr>
        <p:spPr>
          <a:xfrm xmlns:a="http://schemas.openxmlformats.org/drawingml/2006/main">
            <a:off x="571500" y="167640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1AF3F52-6829-4FFF-AA7A-650D7C0A4959}"/>
              </a:ext>
            </a:extLst>
          </p:cNvPr>
          <p:cNvSpPr>
            <a:spLocks xmlns:a="http://schemas.openxmlformats.org/drawingml/2006/main" noGrp="1"/>
          </p:cNvSpPr>
          <p:nvPr/>
        </p:nvSpPr>
        <p:spPr>
          <a:xfrm xmlns:a="http://schemas.openxmlformats.org/drawingml/2006/main">
            <a:off x="571500" y="1752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SFR-004 AI 스팸 챗봇 서비스 관리자 기능</a:t>
            </a:r>
          </a:p>
        </p:txBody>
      </p:sp>
      <p:sp>
        <p:nvSpPr>
          <p:cNvPr id="8" name="">
            <a:extLst xmlns:a="http://schemas.openxmlformats.org/drawingml/2006/main">
              <a:ext uri="{FF2B5EF4-FFF2-40B4-BE49-F238E27FC236}">
                <a16:creationId xmlns:a16="http://schemas.microsoft.com/office/drawing/2014/main" id="{ECF76AE9-0376-4A93-B67E-18954548FEDD}"/>
              </a:ext>
            </a:extLst>
          </p:cNvPr>
          <p:cNvSpPr>
            <a:spLocks xmlns:a="http://schemas.openxmlformats.org/drawingml/2006/main" noGrp="1"/>
          </p:cNvSpPr>
          <p:nvPr/>
        </p:nvSpPr>
        <p:spPr>
          <a:xfrm xmlns:a="http://schemas.openxmlformats.org/drawingml/2006/main">
            <a:off x="571500" y="21336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관리자의 지식·서비스 관리 기능 제공.</a:t>
            </a:r>
          </a:p>
        </p:txBody>
      </p:sp>
      <p:sp>
        <p:nvSpPr>
          <p:cNvPr id="9" name="">
            <a:extLst xmlns:a="http://schemas.openxmlformats.org/drawingml/2006/main">
              <a:ext uri="{FF2B5EF4-FFF2-40B4-BE49-F238E27FC236}">
                <a16:creationId xmlns:a16="http://schemas.microsoft.com/office/drawing/2014/main" id="{887A029F-9E53-4ABD-81B3-62B26DE1CD41}"/>
              </a:ext>
            </a:extLst>
          </p:cNvPr>
          <p:cNvSpPr>
            <a:spLocks xmlns:a="http://schemas.openxmlformats.org/drawingml/2006/main" noGrp="1"/>
          </p:cNvSpPr>
          <p:nvPr/>
        </p:nvSpPr>
        <p:spPr>
          <a:xfrm xmlns:a="http://schemas.openxmlformats.org/drawingml/2006/main">
            <a:off x="6334125" y="213360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C06 · C08 · C12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지식 수정·게시·삭제의 역할별 허용 범위와 변경 이력 확인</a:t>
            </a:r>
          </a:p>
        </p:txBody>
      </p:sp>
      <p:sp>
        <p:nvSpPr>
          <p:cNvPr id="10" name="">
            <a:extLst xmlns:a="http://schemas.openxmlformats.org/drawingml/2006/main">
              <a:ext uri="{FF2B5EF4-FFF2-40B4-BE49-F238E27FC236}">
                <a16:creationId xmlns:a16="http://schemas.microsoft.com/office/drawing/2014/main" id="{7DB05EB4-3339-4E8E-91D6-74FEA3084515}"/>
              </a:ext>
            </a:extLst>
          </p:cNvPr>
          <p:cNvSpPr>
            <a:spLocks xmlns:a="http://schemas.openxmlformats.org/drawingml/2006/main" noGrp="1"/>
          </p:cNvSpPr>
          <p:nvPr/>
        </p:nvSpPr>
        <p:spPr>
          <a:xfrm xmlns:a="http://schemas.openxmlformats.org/drawingml/2006/main">
            <a:off x="571500" y="3133725"/>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7484C22-B989-4A17-BFDE-95C19B753CBE}"/>
              </a:ext>
            </a:extLst>
          </p:cNvPr>
          <p:cNvSpPr>
            <a:spLocks xmlns:a="http://schemas.openxmlformats.org/drawingml/2006/main" noGrp="1"/>
          </p:cNvSpPr>
          <p:nvPr/>
        </p:nvSpPr>
        <p:spPr>
          <a:xfrm xmlns:a="http://schemas.openxmlformats.org/drawingml/2006/main">
            <a:off x="571500" y="32099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SFR-005 AI 스팸 챗봇 서비스 시스템 연계</a:t>
            </a:r>
          </a:p>
        </p:txBody>
      </p:sp>
      <p:sp>
        <p:nvSpPr>
          <p:cNvPr id="12" name="">
            <a:extLst xmlns:a="http://schemas.openxmlformats.org/drawingml/2006/main">
              <a:ext uri="{FF2B5EF4-FFF2-40B4-BE49-F238E27FC236}">
                <a16:creationId xmlns:a16="http://schemas.microsoft.com/office/drawing/2014/main" id="{52435464-3015-46C5-975A-E08DDB649A9A}"/>
              </a:ext>
            </a:extLst>
          </p:cNvPr>
          <p:cNvSpPr>
            <a:spLocks xmlns:a="http://schemas.openxmlformats.org/drawingml/2006/main" noGrp="1"/>
          </p:cNvSpPr>
          <p:nvPr/>
        </p:nvSpPr>
        <p:spPr>
          <a:xfrm xmlns:a="http://schemas.openxmlformats.org/drawingml/2006/main">
            <a:off x="571500" y="35909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기존 업무시스템과 AI 챗봇의 연계 기능.</a:t>
            </a:r>
          </a:p>
        </p:txBody>
      </p:sp>
      <p:sp>
        <p:nvSpPr>
          <p:cNvPr id="13" name="">
            <a:extLst xmlns:a="http://schemas.openxmlformats.org/drawingml/2006/main">
              <a:ext uri="{FF2B5EF4-FFF2-40B4-BE49-F238E27FC236}">
                <a16:creationId xmlns:a16="http://schemas.microsoft.com/office/drawing/2014/main" id="{AB810BF6-033B-4233-B320-A8F1B6685C43}"/>
              </a:ext>
            </a:extLst>
          </p:cNvPr>
          <p:cNvSpPr>
            <a:spLocks xmlns:a="http://schemas.openxmlformats.org/drawingml/2006/main" noGrp="1"/>
          </p:cNvSpPr>
          <p:nvPr/>
        </p:nvSpPr>
        <p:spPr>
          <a:xfrm xmlns:a="http://schemas.openxmlformats.org/drawingml/2006/main">
            <a:off x="6334125" y="359092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C07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인증 오류·미존재 데이터·연계 실패 시 비정상 결과의 차단과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안내 확인</a:t>
            </a:r>
          </a:p>
        </p:txBody>
      </p:sp>
      <p:sp>
        <p:nvSpPr>
          <p:cNvPr id="14" name="">
            <a:extLst xmlns:a="http://schemas.openxmlformats.org/drawingml/2006/main">
              <a:ext uri="{FF2B5EF4-FFF2-40B4-BE49-F238E27FC236}">
                <a16:creationId xmlns:a16="http://schemas.microsoft.com/office/drawing/2014/main" id="{DB3C76DE-6E24-4C70-A892-E0557EF58CD6}"/>
              </a:ext>
            </a:extLst>
          </p:cNvPr>
          <p:cNvSpPr>
            <a:spLocks xmlns:a="http://schemas.openxmlformats.org/drawingml/2006/main" noGrp="1"/>
          </p:cNvSpPr>
          <p:nvPr/>
        </p:nvSpPr>
        <p:spPr>
          <a:xfrm xmlns:a="http://schemas.openxmlformats.org/drawingml/2006/main">
            <a:off x="571500" y="45910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88B1C61-0FE3-4B9C-B7EA-871B89557EE4}"/>
              </a:ext>
            </a:extLst>
          </p:cNvPr>
          <p:cNvSpPr>
            <a:spLocks xmlns:a="http://schemas.openxmlformats.org/drawingml/2006/main" noGrp="1"/>
          </p:cNvSpPr>
          <p:nvPr/>
        </p:nvSpPr>
        <p:spPr>
          <a:xfrm xmlns:a="http://schemas.openxmlformats.org/drawingml/2006/main">
            <a:off x="571500" y="46672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SFR-006 AI 스팸 챗봇 서비스 운영 관리</a:t>
            </a:r>
          </a:p>
        </p:txBody>
      </p:sp>
      <p:sp>
        <p:nvSpPr>
          <p:cNvPr id="16" name="">
            <a:extLst xmlns:a="http://schemas.openxmlformats.org/drawingml/2006/main">
              <a:ext uri="{FF2B5EF4-FFF2-40B4-BE49-F238E27FC236}">
                <a16:creationId xmlns:a16="http://schemas.microsoft.com/office/drawing/2014/main" id="{6F7B3863-C5ED-44D5-B6F4-F62956DC7356}"/>
              </a:ext>
            </a:extLst>
          </p:cNvPr>
          <p:cNvSpPr>
            <a:spLocks xmlns:a="http://schemas.openxmlformats.org/drawingml/2006/main" noGrp="1"/>
          </p:cNvSpPr>
          <p:nvPr/>
        </p:nvSpPr>
        <p:spPr>
          <a:xfrm xmlns:a="http://schemas.openxmlformats.org/drawingml/2006/main">
            <a:off x="571500" y="504825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AI 서비스의 운영 상태와 처리 이력을 관리하는 기능.</a:t>
            </a:r>
          </a:p>
        </p:txBody>
      </p:sp>
      <p:sp>
        <p:nvSpPr>
          <p:cNvPr id="17" name="">
            <a:extLst xmlns:a="http://schemas.openxmlformats.org/drawingml/2006/main">
              <a:ext uri="{FF2B5EF4-FFF2-40B4-BE49-F238E27FC236}">
                <a16:creationId xmlns:a16="http://schemas.microsoft.com/office/drawing/2014/main" id="{1D8237B2-8165-4F3B-A6BD-01D391762B6E}"/>
              </a:ext>
            </a:extLst>
          </p:cNvPr>
          <p:cNvSpPr>
            <a:spLocks xmlns:a="http://schemas.openxmlformats.org/drawingml/2006/main" noGrp="1"/>
          </p:cNvSpPr>
          <p:nvPr/>
        </p:nvSpPr>
        <p:spPr>
          <a:xfrm xmlns:a="http://schemas.openxmlformats.org/drawingml/2006/main">
            <a:off x="6334125" y="504825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C08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장애·오답 접수부터 보정·재시험까지의 처리 상태 추적</a:t>
            </a:r>
          </a:p>
        </p:txBody>
      </p:sp>
    </p:spTree>
    <p:extLst>
      <p:ext uri="{BB962C8B-B14F-4D97-AF65-F5344CB8AC3E}">
        <p14:creationId xmlns:p14="http://schemas.microsoft.com/office/powerpoint/2010/main" val="1950285182"/>
      </p:ext>
    </p:extLst>
  </p:cSld>
</p:sld>
</file>

<file path=ppt/slides/slide5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F1371C4-DDD3-4AF7-BDE8-2D23239748BE}"/>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PF-R07 / 최종 RFP 2026.10.14 · SFR-001~006·PER-001·004·QUR-001 / 7–7</a:t>
            </a:r>
          </a:p>
        </p:txBody>
      </p:sp>
      <p:sp>
        <p:nvSpPr>
          <p:cNvPr id="2" name="">
            <a:extLst xmlns:a="http://schemas.openxmlformats.org/drawingml/2006/main">
              <a:ext uri="{FF2B5EF4-FFF2-40B4-BE49-F238E27FC236}">
                <a16:creationId xmlns:a16="http://schemas.microsoft.com/office/drawing/2014/main" id="{7A4E57E0-0AD0-4BB0-964A-0B27AAF16A7C}"/>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KISA 스팸 민원 AI · RFP 요구사항</a:t>
            </a:r>
          </a:p>
        </p:txBody>
      </p:sp>
      <p:sp>
        <p:nvSpPr>
          <p:cNvPr id="3" name="">
            <a:extLst xmlns:a="http://schemas.openxmlformats.org/drawingml/2006/main">
              <a:ext uri="{FF2B5EF4-FFF2-40B4-BE49-F238E27FC236}">
                <a16:creationId xmlns:a16="http://schemas.microsoft.com/office/drawing/2014/main" id="{F80A0FB1-668E-4434-9E93-C137A92D6ECB}"/>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3EFF6C6-1BDD-4DFD-BE8C-16899336A92D}"/>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3A9A8F2D-B6B5-4496-9203-AF9AB7C76A2A}"/>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53</a:t>
            </a:r>
          </a:p>
        </p:txBody>
      </p:sp>
      <p:sp>
        <p:nvSpPr>
          <p:cNvPr id="6" name="">
            <a:extLst xmlns:a="http://schemas.openxmlformats.org/drawingml/2006/main">
              <a:ext uri="{FF2B5EF4-FFF2-40B4-BE49-F238E27FC236}">
                <a16:creationId xmlns:a16="http://schemas.microsoft.com/office/drawing/2014/main" id="{0E8DC4B2-A6D1-4735-9016-7E1E3D484BD1}"/>
              </a:ext>
            </a:extLst>
          </p:cNvPr>
          <p:cNvSpPr>
            <a:spLocks xmlns:a="http://schemas.openxmlformats.org/drawingml/2006/main" noGrp="1"/>
          </p:cNvSpPr>
          <p:nvPr/>
        </p:nvSpPr>
        <p:spPr>
          <a:xfrm xmlns:a="http://schemas.openxmlformats.org/drawingml/2006/main">
            <a:off x="571500" y="167640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04100F7-ECF3-48BC-AA7B-5D35E1368FCE}"/>
              </a:ext>
            </a:extLst>
          </p:cNvPr>
          <p:cNvSpPr>
            <a:spLocks xmlns:a="http://schemas.openxmlformats.org/drawingml/2006/main" noGrp="1"/>
          </p:cNvSpPr>
          <p:nvPr/>
        </p:nvSpPr>
        <p:spPr>
          <a:xfrm xmlns:a="http://schemas.openxmlformats.org/drawingml/2006/main">
            <a:off x="571500" y="1752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QUR-001 AI 스팸 챗봇 서비스 답변 품질</a:t>
            </a:r>
          </a:p>
        </p:txBody>
      </p:sp>
      <p:sp>
        <p:nvSpPr>
          <p:cNvPr id="8" name="">
            <a:extLst xmlns:a="http://schemas.openxmlformats.org/drawingml/2006/main">
              <a:ext uri="{FF2B5EF4-FFF2-40B4-BE49-F238E27FC236}">
                <a16:creationId xmlns:a16="http://schemas.microsoft.com/office/drawing/2014/main" id="{DFBC6D06-8C49-4337-A34D-6434D9D7144B}"/>
              </a:ext>
            </a:extLst>
          </p:cNvPr>
          <p:cNvSpPr>
            <a:spLocks xmlns:a="http://schemas.openxmlformats.org/drawingml/2006/main" noGrp="1"/>
          </p:cNvSpPr>
          <p:nvPr/>
        </p:nvSpPr>
        <p:spPr>
          <a:xfrm xmlns:a="http://schemas.openxmlformats.org/drawingml/2006/main">
            <a:off x="571500" y="21336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답변 품질을 점검하고 개선하는 품질 요구.</a:t>
            </a:r>
          </a:p>
        </p:txBody>
      </p:sp>
      <p:sp>
        <p:nvSpPr>
          <p:cNvPr id="9" name="">
            <a:extLst xmlns:a="http://schemas.openxmlformats.org/drawingml/2006/main">
              <a:ext uri="{FF2B5EF4-FFF2-40B4-BE49-F238E27FC236}">
                <a16:creationId xmlns:a16="http://schemas.microsoft.com/office/drawing/2014/main" id="{A06409A5-3890-445E-B23C-9C39296844A1}"/>
              </a:ext>
            </a:extLst>
          </p:cNvPr>
          <p:cNvSpPr>
            <a:spLocks xmlns:a="http://schemas.openxmlformats.org/drawingml/2006/main" noGrp="1"/>
          </p:cNvSpPr>
          <p:nvPr/>
        </p:nvSpPr>
        <p:spPr>
          <a:xfrm xmlns:a="http://schemas.openxmlformats.org/drawingml/2006/main">
            <a:off x="6334125" y="213360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C05 · C08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업무 질문별 근거 정확성·완전성·일관성 평가와 보정 전후 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교 증빙</a:t>
            </a:r>
          </a:p>
        </p:txBody>
      </p:sp>
    </p:spTree>
    <p:extLst>
      <p:ext uri="{BB962C8B-B14F-4D97-AF65-F5344CB8AC3E}">
        <p14:creationId xmlns:p14="http://schemas.microsoft.com/office/powerpoint/2010/main" val="283195263"/>
      </p:ext>
    </p:extLst>
  </p:cSld>
</p:sld>
</file>

<file path=ppt/slides/slide5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B9EFD2E9-9F0C-4800-B0FD-6E14D678068E}"/>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B6D92765-2F45-46E7-B2E2-7ECC03749367}"/>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85FD7897-8EB4-4A8B-8230-3071FA18BCD2}"/>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2C2BA394-6639-4EC2-9F64-0C9878466F2F}"/>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9B18BF03-05FB-4C8B-96D6-791A47837B38}"/>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7D5C457B-67DC-452D-9750-C8469ECD7BA4}"/>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0D90DA39-9C54-48BE-8825-24EF8E010B02}"/>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3A29ABF2-2574-462C-9C89-B096A26BC720}"/>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CA79C6A6-D4FF-4F02-9A4A-2247296E8EC6}"/>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37D3623F-EF35-4DDC-9500-47C4A9968B17}"/>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PF-R07 / CCK 세부 재구성 · 논리 서비스 설계</a:t>
            </a:r>
          </a:p>
        </p:txBody>
      </p:sp>
      <p:sp>
        <p:nvSpPr>
          <p:cNvPr id="2" name="">
            <a:extLst xmlns:a="http://schemas.openxmlformats.org/drawingml/2006/main">
              <a:ext uri="{FF2B5EF4-FFF2-40B4-BE49-F238E27FC236}">
                <a16:creationId xmlns:a16="http://schemas.microsoft.com/office/drawing/2014/main" id="{177E1565-BEE8-4A84-A6A8-73FB4C1224E3}"/>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KISA 스팸 민원 AI · 세부 서비스 구조</a:t>
            </a:r>
          </a:p>
        </p:txBody>
      </p:sp>
      <p:sp>
        <p:nvSpPr>
          <p:cNvPr id="3" name="">
            <a:extLst xmlns:a="http://schemas.openxmlformats.org/drawingml/2006/main">
              <a:ext uri="{FF2B5EF4-FFF2-40B4-BE49-F238E27FC236}">
                <a16:creationId xmlns:a16="http://schemas.microsoft.com/office/drawing/2014/main" id="{6C8F103A-6D4A-4A85-A0C1-0491CC12BF50}"/>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8263C99-249A-4516-BDA0-9C005974FC25}"/>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3F4A01C7-AF35-409F-A015-33AA26A802CD}"/>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54</a:t>
            </a:r>
          </a:p>
        </p:txBody>
      </p:sp>
      <p:sp>
        <p:nvSpPr>
          <p:cNvPr id="6" name="">
            <a:extLst xmlns:a="http://schemas.openxmlformats.org/drawingml/2006/main">
              <a:ext uri="{FF2B5EF4-FFF2-40B4-BE49-F238E27FC236}">
                <a16:creationId xmlns:a16="http://schemas.microsoft.com/office/drawing/2014/main" id="{D4C03326-889C-4D29-BF1B-B179355C270F}"/>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최종 RFP SFR-001~006·QUR-001</a:t>
            </a:r>
          </a:p>
        </p:txBody>
      </p:sp>
      <p:sp>
        <p:nvSpPr>
          <p:cNvPr id="7" name="">
            <a:extLst xmlns:a="http://schemas.openxmlformats.org/drawingml/2006/main">
              <a:ext uri="{FF2B5EF4-FFF2-40B4-BE49-F238E27FC236}">
                <a16:creationId xmlns:a16="http://schemas.microsoft.com/office/drawing/2014/main" id="{ACDF2992-EB18-4151-BC98-BE5035198366}"/>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F2CAF6F9-3047-4B35-81E2-56B3518F28AF}"/>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A61937F6-5048-4129-90E6-680921EF0E82}"/>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홈페이지·앱 질의</a:t>
            </a:r>
          </a:p>
        </p:txBody>
      </p:sp>
      <p:sp>
        <p:nvSpPr>
          <p:cNvPr id="10" name="">
            <a:extLst xmlns:a="http://schemas.openxmlformats.org/drawingml/2006/main">
              <a:ext uri="{FF2B5EF4-FFF2-40B4-BE49-F238E27FC236}">
                <a16:creationId xmlns:a16="http://schemas.microsoft.com/office/drawing/2014/main" id="{F21340BE-309C-484A-A965-45F667EE92A9}"/>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6453C5D5-C6C9-41AC-901E-5BF24B0E6187}"/>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B7D60274-3ABE-4144-BDB6-7A6C4BB159C1}"/>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문의·민감정보</a:t>
            </a:r>
          </a:p>
        </p:txBody>
      </p:sp>
      <p:sp>
        <p:nvSpPr>
          <p:cNvPr id="13" name="">
            <a:extLst xmlns:a="http://schemas.openxmlformats.org/drawingml/2006/main">
              <a:ext uri="{FF2B5EF4-FFF2-40B4-BE49-F238E27FC236}">
                <a16:creationId xmlns:a16="http://schemas.microsoft.com/office/drawing/2014/main" id="{6BFCABD5-4DC8-4B72-8C1A-D3A044C460C6}"/>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5D6D01CC-0DB3-4746-9BD3-F32F60C9709E}"/>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8BA4F90A-E479-4A28-BCEA-6B78428CD00D}"/>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법령 RAG 검색</a:t>
            </a:r>
          </a:p>
        </p:txBody>
      </p:sp>
      <p:sp>
        <p:nvSpPr>
          <p:cNvPr id="16" name="">
            <a:extLst xmlns:a="http://schemas.openxmlformats.org/drawingml/2006/main">
              <a:ext uri="{FF2B5EF4-FFF2-40B4-BE49-F238E27FC236}">
                <a16:creationId xmlns:a16="http://schemas.microsoft.com/office/drawing/2014/main" id="{BA93AD25-7ECE-4100-A56C-F8B24176A78A}"/>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388903C2-311B-4D20-B360-96C57AB7DCA2}"/>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661FE995-3CCE-4EEB-A866-EFB2A5BC1AA2}"/>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외부 생성 AI API</a:t>
            </a:r>
          </a:p>
        </p:txBody>
      </p:sp>
      <p:sp>
        <p:nvSpPr>
          <p:cNvPr id="19" name="">
            <a:extLst xmlns:a="http://schemas.openxmlformats.org/drawingml/2006/main">
              <a:ext uri="{FF2B5EF4-FFF2-40B4-BE49-F238E27FC236}">
                <a16:creationId xmlns:a16="http://schemas.microsoft.com/office/drawing/2014/main" id="{44C3DBA8-E9EE-4891-A9B8-3780FE445E2C}"/>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AD578D6F-030B-43B6-B3B8-439FB6C2F9A1}"/>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7933354C-0C7D-42D9-8789-F242C048DBDA}"/>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출처·답변불가 판정</a:t>
            </a:r>
          </a:p>
        </p:txBody>
      </p:sp>
      <p:sp>
        <p:nvSpPr>
          <p:cNvPr id="22" name="">
            <a:extLst xmlns:a="http://schemas.openxmlformats.org/drawingml/2006/main">
              <a:ext uri="{FF2B5EF4-FFF2-40B4-BE49-F238E27FC236}">
                <a16:creationId xmlns:a16="http://schemas.microsoft.com/office/drawing/2014/main" id="{33585091-6BA4-41E7-81A4-54AF4E1EC6E5}"/>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827C32B0-A3C0-4B1C-A8EE-DC96BFAC4CB6}"/>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B6117DA2-D5FF-4984-9E0A-E967E36D1C57}"/>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민원인·전문가</a:t>
            </a:r>
          </a:p>
        </p:txBody>
      </p:sp>
      <p:sp>
        <p:nvSpPr>
          <p:cNvPr id="25" name="">
            <a:extLst xmlns:a="http://schemas.openxmlformats.org/drawingml/2006/main">
              <a:ext uri="{FF2B5EF4-FFF2-40B4-BE49-F238E27FC236}">
                <a16:creationId xmlns:a16="http://schemas.microsoft.com/office/drawing/2014/main" id="{EF1D8A4C-9A0D-4DDD-B69A-3319A9A89096}"/>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8A492555-3DE3-4D87-8028-5402F160F685}"/>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7C2A6C1F-023F-412F-8A18-0B09CE278148}"/>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답변·후속 안내</a:t>
            </a:r>
          </a:p>
        </p:txBody>
      </p:sp>
      <p:sp>
        <p:nvSpPr>
          <p:cNvPr id="28" name="">
            <a:extLst xmlns:a="http://schemas.openxmlformats.org/drawingml/2006/main">
              <a:ext uri="{FF2B5EF4-FFF2-40B4-BE49-F238E27FC236}">
                <a16:creationId xmlns:a16="http://schemas.microsoft.com/office/drawing/2014/main" id="{C7D453DB-4640-4175-BBB5-F74741F82B27}"/>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A4119A8C-9A49-43AE-91D8-E819ACB506CC}"/>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BE56BED4-ADEA-498E-B7C0-84CBA68AA64E}"/>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자동·전문가 평가</a:t>
            </a:r>
          </a:p>
        </p:txBody>
      </p:sp>
      <p:sp>
        <p:nvSpPr>
          <p:cNvPr id="31" name="">
            <a:extLst xmlns:a="http://schemas.openxmlformats.org/drawingml/2006/main">
              <a:ext uri="{FF2B5EF4-FFF2-40B4-BE49-F238E27FC236}">
                <a16:creationId xmlns:a16="http://schemas.microsoft.com/office/drawing/2014/main" id="{811408C8-24C5-46DE-B7B7-B8C78C0DA834}"/>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9E8B25D1-D738-4C3A-9731-130301E8F9A5}"/>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73C42C17-5BF2-4611-8748-DF45AC0B2C67}"/>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스팸법령·가이드</a:t>
            </a:r>
          </a:p>
        </p:txBody>
      </p:sp>
      <p:sp>
        <p:nvSpPr>
          <p:cNvPr id="34" name="">
            <a:extLst xmlns:a="http://schemas.openxmlformats.org/drawingml/2006/main">
              <a:ext uri="{FF2B5EF4-FFF2-40B4-BE49-F238E27FC236}">
                <a16:creationId xmlns:a16="http://schemas.microsoft.com/office/drawing/2014/main" id="{EB5E19B1-EFE4-4DD9-B95F-6A201510AE5A}"/>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4AD72D63-7E44-4299-96DD-33492F5F6DE2}"/>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778FA01B-AD64-43CA-8CA2-31A05B112AB3}"/>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조문·판본 정비</a:t>
            </a:r>
          </a:p>
        </p:txBody>
      </p:sp>
      <p:sp>
        <p:nvSpPr>
          <p:cNvPr id="37" name="">
            <a:extLst xmlns:a="http://schemas.openxmlformats.org/drawingml/2006/main">
              <a:ext uri="{FF2B5EF4-FFF2-40B4-BE49-F238E27FC236}">
                <a16:creationId xmlns:a16="http://schemas.microsoft.com/office/drawing/2014/main" id="{20D7C48B-112F-4295-BED4-6898EE4E9ACE}"/>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69400055-F0D4-462F-9633-FE72DF4282C7}"/>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C2E2F02F-5154-4A33-9AF8-34624D7A5FD5}"/>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지식·평가셋</a:t>
            </a:r>
          </a:p>
        </p:txBody>
      </p:sp>
      <p:sp>
        <p:nvSpPr>
          <p:cNvPr id="40" name="">
            <a:extLst xmlns:a="http://schemas.openxmlformats.org/drawingml/2006/main">
              <a:ext uri="{FF2B5EF4-FFF2-40B4-BE49-F238E27FC236}">
                <a16:creationId xmlns:a16="http://schemas.microsoft.com/office/drawing/2014/main" id="{271A3A2E-C8B0-470B-B7E4-5ACD990257DB}"/>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FF2810F1-168D-402E-ADC8-F3D61F31F831}"/>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7094D1EB-14AC-4AEA-98C6-405A18D2AFF8}"/>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입력·호출·지연 정책</a:t>
            </a:r>
          </a:p>
        </p:txBody>
      </p:sp>
      <p:sp>
        <p:nvSpPr>
          <p:cNvPr id="52" name="">
            <a:extLst xmlns:a="http://schemas.openxmlformats.org/drawingml/2006/main">
              <a:ext uri="{FF2B5EF4-FFF2-40B4-BE49-F238E27FC236}">
                <a16:creationId xmlns:a16="http://schemas.microsoft.com/office/drawing/2014/main" id="{719B0A30-62B7-4F70-87FD-3625695A6AEB}"/>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1773363994"/>
      </p:ext>
    </p:extLst>
  </p:cSld>
</p:sld>
</file>

<file path=ppt/slides/slide5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E2D0210A-B8F9-451E-BEDF-A6C08E481DB9}"/>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PF-R07 / 논리 인터페이스·복구 설계</a:t>
            </a:r>
          </a:p>
        </p:txBody>
      </p:sp>
      <p:sp>
        <p:nvSpPr>
          <p:cNvPr id="2" name="">
            <a:extLst xmlns:a="http://schemas.openxmlformats.org/drawingml/2006/main">
              <a:ext uri="{FF2B5EF4-FFF2-40B4-BE49-F238E27FC236}">
                <a16:creationId xmlns:a16="http://schemas.microsoft.com/office/drawing/2014/main" id="{A16C2C25-27BF-4FDE-9E16-D288626284D8}"/>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KISA 스팸 민원 AI · 데이터와 예외 처리</a:t>
            </a:r>
          </a:p>
        </p:txBody>
      </p:sp>
      <p:sp>
        <p:nvSpPr>
          <p:cNvPr id="3" name="">
            <a:extLst xmlns:a="http://schemas.openxmlformats.org/drawingml/2006/main">
              <a:ext uri="{FF2B5EF4-FFF2-40B4-BE49-F238E27FC236}">
                <a16:creationId xmlns:a16="http://schemas.microsoft.com/office/drawing/2014/main" id="{D086727C-7B45-4EDD-8567-806A667151A6}"/>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A635928-2805-4FB1-B02E-304AB081ABB2}"/>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4B3BD3F7-AEF3-4C36-935D-24A4DC8F925F}"/>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55</a:t>
            </a:r>
          </a:p>
        </p:txBody>
      </p:sp>
      <p:sp>
        <p:nvSpPr>
          <p:cNvPr id="6" name="">
            <a:extLst xmlns:a="http://schemas.openxmlformats.org/drawingml/2006/main">
              <a:ext uri="{FF2B5EF4-FFF2-40B4-BE49-F238E27FC236}">
                <a16:creationId xmlns:a16="http://schemas.microsoft.com/office/drawing/2014/main" id="{0E230D0A-0097-4AE0-B713-A101E948F986}"/>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D115FDA4-AD2D-488E-BC6E-DD9A0E6EEDA7}"/>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ACEF499A-3C32-4D32-A338-48C869744B13}"/>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064221F3-7CD9-4CC0-BA6A-F68DA66B70CA}"/>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질의 길이·민감정보·공격 입력 점검</a:t>
            </a:r>
          </a:p>
        </p:txBody>
      </p:sp>
      <p:sp>
        <p:nvSpPr>
          <p:cNvPr id="10" name="">
            <a:extLst xmlns:a="http://schemas.openxmlformats.org/drawingml/2006/main">
              <a:ext uri="{FF2B5EF4-FFF2-40B4-BE49-F238E27FC236}">
                <a16:creationId xmlns:a16="http://schemas.microsoft.com/office/drawing/2014/main" id="{471CAF93-581F-438A-BF43-ADEF3D4B428F}"/>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244851A-2FB5-4177-9776-B973E612B1B7}"/>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BBE7F051-ED3D-4A29-B8C5-B9EC0C36415C}"/>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질의</a:t>
            </a:r>
          </a:p>
        </p:txBody>
      </p:sp>
      <p:sp>
        <p:nvSpPr>
          <p:cNvPr id="13" name="">
            <a:extLst xmlns:a="http://schemas.openxmlformats.org/drawingml/2006/main">
              <a:ext uri="{FF2B5EF4-FFF2-40B4-BE49-F238E27FC236}">
                <a16:creationId xmlns:a16="http://schemas.microsoft.com/office/drawing/2014/main" id="{30125639-9AA4-414E-BD11-D14C6B189DB4}"/>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94A0146-291D-4744-AA06-9629C567BF97}"/>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CFBF1D32-C005-424E-9A7F-3F312B32C4EC}"/>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법령 근거</a:t>
            </a:r>
          </a:p>
        </p:txBody>
      </p:sp>
      <p:sp>
        <p:nvSpPr>
          <p:cNvPr id="16" name="">
            <a:extLst xmlns:a="http://schemas.openxmlformats.org/drawingml/2006/main">
              <a:ext uri="{FF2B5EF4-FFF2-40B4-BE49-F238E27FC236}">
                <a16:creationId xmlns:a16="http://schemas.microsoft.com/office/drawing/2014/main" id="{137972F9-E7CF-4585-AF5B-6660D6528880}"/>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F67F380-4290-4F8E-9872-9888B4557545}"/>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18FF291F-D95F-456A-9C84-CAF73B219768}"/>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답변·보류</a:t>
            </a:r>
          </a:p>
        </p:txBody>
      </p:sp>
      <p:sp>
        <p:nvSpPr>
          <p:cNvPr id="19" name="">
            <a:extLst xmlns:a="http://schemas.openxmlformats.org/drawingml/2006/main">
              <a:ext uri="{FF2B5EF4-FFF2-40B4-BE49-F238E27FC236}">
                <a16:creationId xmlns:a16="http://schemas.microsoft.com/office/drawing/2014/main" id="{61736539-A6BA-49BA-8855-793EB726A7F8}"/>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17F18E5-875B-44AB-9861-AF7B59D40AC2}"/>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DE43316B-E7AD-4C4D-8F6C-FD0915D69017}"/>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답변·보류</a:t>
            </a:r>
          </a:p>
        </p:txBody>
      </p:sp>
      <p:sp>
        <p:nvSpPr>
          <p:cNvPr id="22" name="">
            <a:extLst xmlns:a="http://schemas.openxmlformats.org/drawingml/2006/main">
              <a:ext uri="{FF2B5EF4-FFF2-40B4-BE49-F238E27FC236}">
                <a16:creationId xmlns:a16="http://schemas.microsoft.com/office/drawing/2014/main" id="{4528F660-FE75-4FFD-8A7E-45A0AECB3F44}"/>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8B7FD5D-60B2-4002-A3DE-216F0D71A787}"/>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B4AE2484-BDD1-47BC-BD56-EBAA86EFADF8}"/>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전문가 판정</a:t>
            </a:r>
          </a:p>
        </p:txBody>
      </p:sp>
      <p:sp>
        <p:nvSpPr>
          <p:cNvPr id="25" name="">
            <a:extLst xmlns:a="http://schemas.openxmlformats.org/drawingml/2006/main">
              <a:ext uri="{FF2B5EF4-FFF2-40B4-BE49-F238E27FC236}">
                <a16:creationId xmlns:a16="http://schemas.microsoft.com/office/drawing/2014/main" id="{9F4578AE-527F-4D96-AB6C-725DD8AAF27B}"/>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C4ED6E98-D154-459F-9655-3938837D5BAF}"/>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개정 전 조문·근거 없는 질의·공격 입력·부하 증가</a:t>
            </a:r>
          </a:p>
        </p:txBody>
      </p:sp>
      <p:sp>
        <p:nvSpPr>
          <p:cNvPr id="27" name="">
            <a:extLst xmlns:a="http://schemas.openxmlformats.org/drawingml/2006/main">
              <a:ext uri="{FF2B5EF4-FFF2-40B4-BE49-F238E27FC236}">
                <a16:creationId xmlns:a16="http://schemas.microsoft.com/office/drawing/2014/main" id="{B8818F5F-0086-46B8-8E2F-4639E2BBF0E4}"/>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609E6B35-318A-40E9-A44E-CCD244B81CD4}"/>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조문별 정답·근거 없음 거부셋</a:t>
            </a:r>
          </a:p>
        </p:txBody>
      </p:sp>
      <p:sp>
        <p:nvSpPr>
          <p:cNvPr id="29" name="">
            <a:extLst xmlns:a="http://schemas.openxmlformats.org/drawingml/2006/main">
              <a:ext uri="{FF2B5EF4-FFF2-40B4-BE49-F238E27FC236}">
                <a16:creationId xmlns:a16="http://schemas.microsoft.com/office/drawing/2014/main" id="{BF61927A-4C71-41A7-B3B3-C4FDDF14EB95}"/>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5587BB59-C9A2-425E-B86D-DCAB20166886}"/>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자동 평가·전문가 판정·호출량·지연 관리</a:t>
            </a:r>
          </a:p>
        </p:txBody>
      </p:sp>
      <p:sp>
        <p:nvSpPr>
          <p:cNvPr id="31" name="">
            <a:extLst xmlns:a="http://schemas.openxmlformats.org/drawingml/2006/main">
              <a:ext uri="{FF2B5EF4-FFF2-40B4-BE49-F238E27FC236}">
                <a16:creationId xmlns:a16="http://schemas.microsoft.com/office/drawing/2014/main" id="{B6777750-EE06-493D-91D6-BE9CAC2A9BEB}"/>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852DF5F2-0F04-4D0D-ABF2-45DBCBCD71D8}"/>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전문가 정답표·거부셋·최종 RFP 성능조건별 측정</a:t>
            </a:r>
          </a:p>
        </p:txBody>
      </p:sp>
    </p:spTree>
    <p:extLst>
      <p:ext uri="{BB962C8B-B14F-4D97-AF65-F5344CB8AC3E}">
        <p14:creationId xmlns:p14="http://schemas.microsoft.com/office/powerpoint/2010/main" val="182065382"/>
      </p:ext>
    </p:extLst>
  </p:cSld>
</p:sld>
</file>

<file path=ppt/slides/slide56.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3D62912-D08A-476E-BCB1-3EA99B72ABA6}"/>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PF-R07 / CCK 비교·재현 시험 설계</a:t>
            </a:r>
          </a:p>
        </p:txBody>
      </p:sp>
      <p:sp>
        <p:nvSpPr>
          <p:cNvPr id="2" name="">
            <a:extLst xmlns:a="http://schemas.openxmlformats.org/drawingml/2006/main">
              <a:ext uri="{FF2B5EF4-FFF2-40B4-BE49-F238E27FC236}">
                <a16:creationId xmlns:a16="http://schemas.microsoft.com/office/drawing/2014/main" id="{BEFE6286-9CB8-4123-8C58-6F3BBCCF387C}"/>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KISA 스팸 민원 AI · 벤치마킹</a:t>
            </a:r>
          </a:p>
        </p:txBody>
      </p:sp>
      <p:sp>
        <p:nvSpPr>
          <p:cNvPr id="3" name="">
            <a:extLst xmlns:a="http://schemas.openxmlformats.org/drawingml/2006/main">
              <a:ext uri="{FF2B5EF4-FFF2-40B4-BE49-F238E27FC236}">
                <a16:creationId xmlns:a16="http://schemas.microsoft.com/office/drawing/2014/main" id="{F8C481EF-684D-41CC-A124-150BB9218BDD}"/>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B8E4BDA-C340-44F5-8BA3-02C1EF35B68C}"/>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9DCB5D27-B187-4F5D-8A9F-834F3EC8EF84}"/>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56</a:t>
            </a:r>
          </a:p>
        </p:txBody>
      </p:sp>
      <p:sp>
        <p:nvSpPr>
          <p:cNvPr id="6" name="">
            <a:extLst xmlns:a="http://schemas.openxmlformats.org/drawingml/2006/main">
              <a:ext uri="{FF2B5EF4-FFF2-40B4-BE49-F238E27FC236}">
                <a16:creationId xmlns:a16="http://schemas.microsoft.com/office/drawing/2014/main" id="{2B715465-1F59-4D4E-807F-DCFE37B89636}"/>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FEEDF188-6AD4-4383-A7E7-DCBE963CB7F5}"/>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법령·체크리스트의 RAG 연결</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출처·보류·전문가 평가 요구</a:t>
            </a:r>
          </a:p>
        </p:txBody>
      </p:sp>
      <p:sp>
        <p:nvSpPr>
          <p:cNvPr id="8" name="">
            <a:extLst xmlns:a="http://schemas.openxmlformats.org/drawingml/2006/main">
              <a:ext uri="{FF2B5EF4-FFF2-40B4-BE49-F238E27FC236}">
                <a16:creationId xmlns:a16="http://schemas.microsoft.com/office/drawing/2014/main" id="{555A1E10-D469-42F8-96CD-6D2BD3B34728}"/>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2A6A698C-8A51-48B0-AA43-F44882AB16AB}"/>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구버전 법령·상충 답변</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입찰 요구를 구현 기능으로 인식</a:t>
            </a:r>
          </a:p>
        </p:txBody>
      </p:sp>
      <p:sp>
        <p:nvSpPr>
          <p:cNvPr id="10" name="">
            <a:extLst xmlns:a="http://schemas.openxmlformats.org/drawingml/2006/main">
              <a:ext uri="{FF2B5EF4-FFF2-40B4-BE49-F238E27FC236}">
                <a16:creationId xmlns:a16="http://schemas.microsoft.com/office/drawing/2014/main" id="{F817C732-62EE-46CE-A8FC-388EA4FAAF6F}"/>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67783B3E-0383-455C-8EF6-CA8FCF0ACEF4}"/>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조문별 정답·근거 없음 거부셋</a:t>
            </a:r>
          </a:p>
        </p:txBody>
      </p:sp>
      <p:sp>
        <p:nvSpPr>
          <p:cNvPr id="12" name="">
            <a:extLst xmlns:a="http://schemas.openxmlformats.org/drawingml/2006/main">
              <a:ext uri="{FF2B5EF4-FFF2-40B4-BE49-F238E27FC236}">
                <a16:creationId xmlns:a16="http://schemas.microsoft.com/office/drawing/2014/main" id="{5BECF6D0-07F0-439F-B1D6-3011703081A6}"/>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2235FC08-E296-4D7A-A46A-24037AE40461}"/>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스팸 전송 상황을 질문하고 관련 법령·체크리스트 </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안내</a:t>
            </a:r>
          </a:p>
        </p:txBody>
      </p:sp>
      <p:sp>
        <p:nvSpPr>
          <p:cNvPr id="14" name="">
            <a:extLst xmlns:a="http://schemas.openxmlformats.org/drawingml/2006/main">
              <a:ext uri="{FF2B5EF4-FFF2-40B4-BE49-F238E27FC236}">
                <a16:creationId xmlns:a16="http://schemas.microsoft.com/office/drawing/2014/main" id="{9632A1FC-89F0-4128-B4CC-68628574E153}"/>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2467DFBF-5F66-4F15-A1F9-B31A82425DB8}"/>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개정 전 조문·근거 없는 질의·공격 입력·부하 증가</a:t>
            </a:r>
          </a:p>
        </p:txBody>
      </p:sp>
      <p:sp>
        <p:nvSpPr>
          <p:cNvPr id="16" name="">
            <a:extLst xmlns:a="http://schemas.openxmlformats.org/drawingml/2006/main">
              <a:ext uri="{FF2B5EF4-FFF2-40B4-BE49-F238E27FC236}">
                <a16:creationId xmlns:a16="http://schemas.microsoft.com/office/drawing/2014/main" id="{9D7A7F61-1848-4682-9738-661345ED9369}"/>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961E79B4-423F-4717-9FE7-8235049FE9D9}"/>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전문가 정답표·거부셋·최종 RFP 성능조건별 측정</a:t>
            </a:r>
          </a:p>
        </p:txBody>
      </p:sp>
    </p:spTree>
    <p:extLst>
      <p:ext uri="{BB962C8B-B14F-4D97-AF65-F5344CB8AC3E}">
        <p14:creationId xmlns:p14="http://schemas.microsoft.com/office/powerpoint/2010/main" val="328765665"/>
      </p:ext>
    </p:extLst>
  </p:cSld>
</p:sld>
</file>

<file path=ppt/slides/slide57.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1449022-D399-45F9-AF19-107D214D6A8F}"/>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PF-R08 / 사전규격 RFP + 공급사 계약 발표 확인 / 최종본·준공 미확인 / 국내</a:t>
            </a:r>
          </a:p>
        </p:txBody>
      </p:sp>
      <p:sp>
        <p:nvSpPr>
          <p:cNvPr id="2" name="">
            <a:extLst xmlns:a="http://schemas.openxmlformats.org/drawingml/2006/main">
              <a:ext uri="{FF2B5EF4-FFF2-40B4-BE49-F238E27FC236}">
                <a16:creationId xmlns:a16="http://schemas.microsoft.com/office/drawing/2014/main" id="{DC960F78-F7FF-408D-8AD3-7B13DF03A16E}"/>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예금보험공사 생성형 AI</a:t>
            </a:r>
          </a:p>
        </p:txBody>
      </p:sp>
      <p:sp>
        <p:nvSpPr>
          <p:cNvPr id="3" name="">
            <a:extLst xmlns:a="http://schemas.openxmlformats.org/drawingml/2006/main">
              <a:ext uri="{FF2B5EF4-FFF2-40B4-BE49-F238E27FC236}">
                <a16:creationId xmlns:a16="http://schemas.microsoft.com/office/drawing/2014/main" id="{3695FD1E-866B-4ABF-AC51-F0E841D17F87}"/>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697BBF6-D7B8-4225-888B-E9609D19CDBA}"/>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5D9EA858-8463-486D-9A00-EBE0C259CCB4}"/>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57</a:t>
            </a:r>
          </a:p>
        </p:txBody>
      </p:sp>
      <p:sp>
        <p:nvSpPr>
          <p:cNvPr id="6" name="">
            <a:extLst xmlns:a="http://schemas.openxmlformats.org/drawingml/2006/main">
              <a:ext uri="{FF2B5EF4-FFF2-40B4-BE49-F238E27FC236}">
                <a16:creationId xmlns:a16="http://schemas.microsoft.com/office/drawing/2014/main" id="{37291AC7-E30E-4AF2-82CF-9CB4B49B99EA}"/>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CDA08D1E-33A9-4E3A-8F40-D7B179F25E05}"/>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대국민 챗봇, 임직원 지식 활용, 안건 검색·요약과 데이</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터 카탈로그를 함께 다루는 생성형 AI 플랫폼 계획. 대외</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공개 지식과 내부 업무 자료를 같은 검색 범위로 취급하</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지 않는 것이 구성의 출발점.</a:t>
            </a:r>
          </a:p>
        </p:txBody>
      </p:sp>
      <p:sp>
        <p:nvSpPr>
          <p:cNvPr id="8" name="">
            <a:extLst xmlns:a="http://schemas.openxmlformats.org/drawingml/2006/main">
              <a:ext uri="{FF2B5EF4-FFF2-40B4-BE49-F238E27FC236}">
                <a16:creationId xmlns:a16="http://schemas.microsoft.com/office/drawing/2014/main" id="{91BFBBBD-0D6B-47EB-8963-D3D7D56CD97D}"/>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E68CAB11-BE13-42BD-B9FB-54ADAF1006D9}"/>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사전공개 RFP 도면은 대민·임직원 서비스를 나누고 각</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각 보안·서비스·데이터·관리 서브넷을 배치. 내부 영역은</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SSO/EAM·ECM·업무 시스템과 연결하고, 별도 데이터</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카탈로그는 업무분류체계·담당부서·메타데이터·사용승</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인을 연결하는 구조.</a:t>
            </a:r>
          </a:p>
        </p:txBody>
      </p:sp>
      <p:sp>
        <p:nvSpPr>
          <p:cNvPr id="10" name="">
            <a:extLst xmlns:a="http://schemas.openxmlformats.org/drawingml/2006/main">
              <a:ext uri="{FF2B5EF4-FFF2-40B4-BE49-F238E27FC236}">
                <a16:creationId xmlns:a16="http://schemas.microsoft.com/office/drawing/2014/main" id="{8AC6FEAF-4D9C-4BBD-8838-6C9AC0249813}"/>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3CAE65F0-F91C-47B2-9DA2-298F9DE310B6}"/>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TS 조직 기반 플랫폼에서는 직원이 누구인지뿐 아니라 특정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데이터의 업무 소관·활용 목적·승인 조건을 함께 관리하는 참</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고 사례. CCK 추가 개발은 조직·업무 사전과 카탈로그의 연</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결, DRM·권한 전파, 안건 범위검색, 산식 검증의 업무별 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리. 사전공개 요구와 실제 운영 성과는 별도 증빙으로 평가.</a:t>
            </a:r>
          </a:p>
        </p:txBody>
      </p:sp>
      <p:sp>
        <p:nvSpPr>
          <p:cNvPr id="12" name="">
            <a:extLst xmlns:a="http://schemas.openxmlformats.org/drawingml/2006/main">
              <a:ext uri="{FF2B5EF4-FFF2-40B4-BE49-F238E27FC236}">
                <a16:creationId xmlns:a16="http://schemas.microsoft.com/office/drawing/2014/main" id="{B48E5EB0-04A0-4AB3-BDED-39C19B5B665A}"/>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C6DE48C3-52A0-4294-9265-DE4874A7CED4}"/>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28352B"/>
                </a:solidFill>
                <a:latin typeface="Pretendard"/>
                <a:ea typeface="Pretendard"/>
                <a:cs typeface="Pretendard"/>
              </a:defRPr>
            </a:defPPr>
          </a:lstStyle>
          <a:p xmlns:a="http://schemas.openxmlformats.org/drawingml/2006/main">
            <a:pPr>
              <a:defRPr sz="1425" b="0">
                <a:solidFill>
                  <a:srgbClr val="28352B"/>
                </a:solidFill>
                <a:latin typeface="Pretendard"/>
                <a:ea typeface="Pretendard"/>
                <a:cs typeface="Pretendard"/>
              </a:defRPr>
            </a:pPr>
            <a:r>
              <a:rPr sz="1425" b="0">
                <a:solidFill>
                  <a:srgbClr val="28352B"/>
                </a:solidFill>
                <a:latin typeface="Pretendard"/>
                <a:ea typeface="Pretendard"/>
                <a:cs typeface="Pretendard"/>
              </a:rPr>
              <a:t>내외부 지식·망 분리 / 문서 DRM·권한 / 안건·산식·데이터 카탈</a:t>
            </a:r>
          </a:p>
          <a:p xmlns:a="http://schemas.openxmlformats.org/drawingml/2006/main">
            <a:pPr>
              <a:defRPr sz="1425" b="0">
                <a:solidFill>
                  <a:srgbClr val="28352B"/>
                </a:solidFill>
                <a:latin typeface="Pretendard"/>
                <a:ea typeface="Pretendard"/>
                <a:cs typeface="Pretendard"/>
              </a:defRPr>
            </a:pPr>
            <a:r>
              <a:rPr sz="1425" b="0">
                <a:solidFill>
                  <a:srgbClr val="28352B"/>
                </a:solidFill>
                <a:latin typeface="Pretendard"/>
                <a:ea typeface="Pretendard"/>
                <a:cs typeface="Pretendard"/>
              </a:rPr>
              <a:t>로그</a:t>
            </a:r>
          </a:p>
        </p:txBody>
      </p:sp>
      <p:sp>
        <p:nvSpPr>
          <p:cNvPr id="14" name="">
            <a:extLst xmlns:a="http://schemas.openxmlformats.org/drawingml/2006/main">
              <a:ext uri="{FF2B5EF4-FFF2-40B4-BE49-F238E27FC236}">
                <a16:creationId xmlns:a16="http://schemas.microsoft.com/office/drawing/2014/main" id="{B2438167-0FCD-4C87-9373-29BDD16F03F4}"/>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8952D7CA-7F75-4CAA-B32D-3DDFC074C9A5}"/>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외부 계정의 내부자료 요청·DRM·산식 오류에 대한 독립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검증</a:t>
            </a:r>
          </a:p>
        </p:txBody>
      </p:sp>
      <p:sp>
        <p:nvSpPr>
          <p:cNvPr id="16" name="">
            <a:extLst xmlns:a="http://schemas.openxmlformats.org/drawingml/2006/main">
              <a:ext uri="{FF2B5EF4-FFF2-40B4-BE49-F238E27FC236}">
                <a16:creationId xmlns:a16="http://schemas.microsoft.com/office/drawing/2014/main" id="{A48EC4AF-7DD2-43C1-A8D1-32E84B9E4775}"/>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EA05F1E5-21E0-45E0-932A-56D0EE47CF90}"/>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비인가 노출 건수 / 원천 추적률 / 안건 검토시간</a:t>
            </a:r>
          </a:p>
        </p:txBody>
      </p:sp>
      <p:sp>
        <p:nvSpPr>
          <p:cNvPr id="18" name="">
            <a:extLst xmlns:a="http://schemas.openxmlformats.org/drawingml/2006/main">
              <a:ext uri="{FF2B5EF4-FFF2-40B4-BE49-F238E27FC236}">
                <a16:creationId xmlns:a16="http://schemas.microsoft.com/office/drawing/2014/main" id="{FA6F09AA-6108-402F-BB71-4F4F7E63C9EF}"/>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학습용 FAQ500건과 서비스별 검증셋500건은 별도 요구. 계획상 수치를 운영 실적으로 사용하지 않음</a:t>
            </a:r>
          </a:p>
        </p:txBody>
      </p:sp>
    </p:spTree>
    <p:extLst>
      <p:ext uri="{BB962C8B-B14F-4D97-AF65-F5344CB8AC3E}">
        <p14:creationId xmlns:p14="http://schemas.microsoft.com/office/powerpoint/2010/main" val="508318733"/>
      </p:ext>
    </p:extLst>
  </p:cSld>
</p:sld>
</file>

<file path=ppt/slides/slide58.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5AA43A2-AC77-41CB-A2EF-CEAE36AB5E13}"/>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PF-R08 / 사전공개 RFP 2026.04 · SFR-001~014·DAR·CNR / 1–3</a:t>
            </a:r>
          </a:p>
        </p:txBody>
      </p:sp>
      <p:sp>
        <p:nvSpPr>
          <p:cNvPr id="2" name="">
            <a:extLst xmlns:a="http://schemas.openxmlformats.org/drawingml/2006/main">
              <a:ext uri="{FF2B5EF4-FFF2-40B4-BE49-F238E27FC236}">
                <a16:creationId xmlns:a16="http://schemas.microsoft.com/office/drawing/2014/main" id="{1896ED6F-F31A-4C50-ADC4-A9FCE7F17ECA}"/>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예금보험공사 생성형 AI · RFP 요구사항</a:t>
            </a:r>
          </a:p>
        </p:txBody>
      </p:sp>
      <p:sp>
        <p:nvSpPr>
          <p:cNvPr id="3" name="">
            <a:extLst xmlns:a="http://schemas.openxmlformats.org/drawingml/2006/main">
              <a:ext uri="{FF2B5EF4-FFF2-40B4-BE49-F238E27FC236}">
                <a16:creationId xmlns:a16="http://schemas.microsoft.com/office/drawing/2014/main" id="{2C76F12D-C711-40D1-8698-CAF5F685BC8E}"/>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0956DAA-DA11-40F1-B2FA-435632F16A4D}"/>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C6A00CFE-D589-4C04-8F25-D84C5094ACB0}"/>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58</a:t>
            </a:r>
          </a:p>
        </p:txBody>
      </p:sp>
      <p:sp>
        <p:nvSpPr>
          <p:cNvPr id="6" name="">
            <a:extLst xmlns:a="http://schemas.openxmlformats.org/drawingml/2006/main">
              <a:ext uri="{FF2B5EF4-FFF2-40B4-BE49-F238E27FC236}">
                <a16:creationId xmlns:a16="http://schemas.microsoft.com/office/drawing/2014/main" id="{915D9A0A-9268-4B71-A3D2-41570BE17ED4}"/>
              </a:ext>
            </a:extLst>
          </p:cNvPr>
          <p:cNvSpPr>
            <a:spLocks xmlns:a="http://schemas.openxmlformats.org/drawingml/2006/main" noGrp="1"/>
          </p:cNvSpPr>
          <p:nvPr/>
        </p:nvSpPr>
        <p:spPr>
          <a:xfrm xmlns:a="http://schemas.openxmlformats.org/drawingml/2006/main">
            <a:off x="571500" y="167640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57BF330-FC71-4047-B690-623EFAA18997}"/>
              </a:ext>
            </a:extLst>
          </p:cNvPr>
          <p:cNvSpPr>
            <a:spLocks xmlns:a="http://schemas.openxmlformats.org/drawingml/2006/main" noGrp="1"/>
          </p:cNvSpPr>
          <p:nvPr/>
        </p:nvSpPr>
        <p:spPr>
          <a:xfrm xmlns:a="http://schemas.openxmlformats.org/drawingml/2006/main">
            <a:off x="571500" y="1752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SFR-003 AI 서비스 에이전트 관리 기능</a:t>
            </a:r>
          </a:p>
        </p:txBody>
      </p:sp>
      <p:sp>
        <p:nvSpPr>
          <p:cNvPr id="8" name="">
            <a:extLst xmlns:a="http://schemas.openxmlformats.org/drawingml/2006/main">
              <a:ext uri="{FF2B5EF4-FFF2-40B4-BE49-F238E27FC236}">
                <a16:creationId xmlns:a16="http://schemas.microsoft.com/office/drawing/2014/main" id="{D205F0B3-B7B5-4BC2-9602-6B5140F31824}"/>
              </a:ext>
            </a:extLst>
          </p:cNvPr>
          <p:cNvSpPr>
            <a:spLocks xmlns:a="http://schemas.openxmlformats.org/drawingml/2006/main" noGrp="1"/>
          </p:cNvSpPr>
          <p:nvPr/>
        </p:nvSpPr>
        <p:spPr>
          <a:xfrm xmlns:a="http://schemas.openxmlformats.org/drawingml/2006/main">
            <a:off x="571500" y="21336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AI 에이전트의 구성·운영 관리 기능.</a:t>
            </a:r>
          </a:p>
        </p:txBody>
      </p:sp>
      <p:sp>
        <p:nvSpPr>
          <p:cNvPr id="9" name="">
            <a:extLst xmlns:a="http://schemas.openxmlformats.org/drawingml/2006/main">
              <a:ext uri="{FF2B5EF4-FFF2-40B4-BE49-F238E27FC236}">
                <a16:creationId xmlns:a16="http://schemas.microsoft.com/office/drawing/2014/main" id="{1FF6779F-3E5F-4678-8BC6-90A5D8C4EB0B}"/>
              </a:ext>
            </a:extLst>
          </p:cNvPr>
          <p:cNvSpPr>
            <a:spLocks xmlns:a="http://schemas.openxmlformats.org/drawingml/2006/main" noGrp="1"/>
          </p:cNvSpPr>
          <p:nvPr/>
        </p:nvSpPr>
        <p:spPr>
          <a:xfrm xmlns:a="http://schemas.openxmlformats.org/drawingml/2006/main">
            <a:off x="6334125" y="213360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C02 · C04 · C08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잘못된 도구 권한과 구성 변경 시 실행 차단·판본 추적 확인</a:t>
            </a:r>
          </a:p>
        </p:txBody>
      </p:sp>
      <p:sp>
        <p:nvSpPr>
          <p:cNvPr id="10" name="">
            <a:extLst xmlns:a="http://schemas.openxmlformats.org/drawingml/2006/main">
              <a:ext uri="{FF2B5EF4-FFF2-40B4-BE49-F238E27FC236}">
                <a16:creationId xmlns:a16="http://schemas.microsoft.com/office/drawing/2014/main" id="{3F17904F-6924-4AD9-A90C-DC48D4E75D58}"/>
              </a:ext>
            </a:extLst>
          </p:cNvPr>
          <p:cNvSpPr>
            <a:spLocks xmlns:a="http://schemas.openxmlformats.org/drawingml/2006/main" noGrp="1"/>
          </p:cNvSpPr>
          <p:nvPr/>
        </p:nvSpPr>
        <p:spPr>
          <a:xfrm xmlns:a="http://schemas.openxmlformats.org/drawingml/2006/main">
            <a:off x="571500" y="3133725"/>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874370D-2552-4C56-B705-BD7E8375B2D6}"/>
              </a:ext>
            </a:extLst>
          </p:cNvPr>
          <p:cNvSpPr>
            <a:spLocks xmlns:a="http://schemas.openxmlformats.org/drawingml/2006/main" noGrp="1"/>
          </p:cNvSpPr>
          <p:nvPr/>
        </p:nvSpPr>
        <p:spPr>
          <a:xfrm xmlns:a="http://schemas.openxmlformats.org/drawingml/2006/main">
            <a:off x="571500" y="32099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SFR-004 AI 서비스 RAG 기능</a:t>
            </a:r>
          </a:p>
        </p:txBody>
      </p:sp>
      <p:sp>
        <p:nvSpPr>
          <p:cNvPr id="12" name="">
            <a:extLst xmlns:a="http://schemas.openxmlformats.org/drawingml/2006/main">
              <a:ext uri="{FF2B5EF4-FFF2-40B4-BE49-F238E27FC236}">
                <a16:creationId xmlns:a16="http://schemas.microsoft.com/office/drawing/2014/main" id="{23AED606-FB2E-493D-A553-CE43D959D77D}"/>
              </a:ext>
            </a:extLst>
          </p:cNvPr>
          <p:cNvSpPr>
            <a:spLocks xmlns:a="http://schemas.openxmlformats.org/drawingml/2006/main" noGrp="1"/>
          </p:cNvSpPr>
          <p:nvPr/>
        </p:nvSpPr>
        <p:spPr>
          <a:xfrm xmlns:a="http://schemas.openxmlformats.org/drawingml/2006/main">
            <a:off x="571500" y="35909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업무 지식을 검색해 생성 응답에 연결하는 RAG 기능.</a:t>
            </a:r>
          </a:p>
        </p:txBody>
      </p:sp>
      <p:sp>
        <p:nvSpPr>
          <p:cNvPr id="13" name="">
            <a:extLst xmlns:a="http://schemas.openxmlformats.org/drawingml/2006/main">
              <a:ext uri="{FF2B5EF4-FFF2-40B4-BE49-F238E27FC236}">
                <a16:creationId xmlns:a16="http://schemas.microsoft.com/office/drawing/2014/main" id="{2E64731F-0AF7-4B74-B1C3-B37DE70D44FA}"/>
              </a:ext>
            </a:extLst>
          </p:cNvPr>
          <p:cNvSpPr>
            <a:spLocks xmlns:a="http://schemas.openxmlformats.org/drawingml/2006/main" noGrp="1"/>
          </p:cNvSpPr>
          <p:nvPr/>
        </p:nvSpPr>
        <p:spPr>
          <a:xfrm xmlns:a="http://schemas.openxmlformats.org/drawingml/2006/main">
            <a:off x="6334125" y="359092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C03 · C04 · C11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사내·대국민 문서 혼재 시 검색 범위 분리와 출처 정확성 대사</a:t>
            </a:r>
          </a:p>
        </p:txBody>
      </p:sp>
      <p:sp>
        <p:nvSpPr>
          <p:cNvPr id="14" name="">
            <a:extLst xmlns:a="http://schemas.openxmlformats.org/drawingml/2006/main">
              <a:ext uri="{FF2B5EF4-FFF2-40B4-BE49-F238E27FC236}">
                <a16:creationId xmlns:a16="http://schemas.microsoft.com/office/drawing/2014/main" id="{B5C38AFF-13A4-4BA4-8662-24800A99B216}"/>
              </a:ext>
            </a:extLst>
          </p:cNvPr>
          <p:cNvSpPr>
            <a:spLocks xmlns:a="http://schemas.openxmlformats.org/drawingml/2006/main" noGrp="1"/>
          </p:cNvSpPr>
          <p:nvPr/>
        </p:nvSpPr>
        <p:spPr>
          <a:xfrm xmlns:a="http://schemas.openxmlformats.org/drawingml/2006/main">
            <a:off x="571500" y="45910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F094C73-4CC4-48E3-8F8E-F0B12787AEA1}"/>
              </a:ext>
            </a:extLst>
          </p:cNvPr>
          <p:cNvSpPr>
            <a:spLocks xmlns:a="http://schemas.openxmlformats.org/drawingml/2006/main" noGrp="1"/>
          </p:cNvSpPr>
          <p:nvPr/>
        </p:nvSpPr>
        <p:spPr>
          <a:xfrm xmlns:a="http://schemas.openxmlformats.org/drawingml/2006/main">
            <a:off x="571500" y="46672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SFR-005 AI 서비스 데이터 파이프라인 자동화 기능</a:t>
            </a:r>
          </a:p>
        </p:txBody>
      </p:sp>
      <p:sp>
        <p:nvSpPr>
          <p:cNvPr id="16" name="">
            <a:extLst xmlns:a="http://schemas.openxmlformats.org/drawingml/2006/main">
              <a:ext uri="{FF2B5EF4-FFF2-40B4-BE49-F238E27FC236}">
                <a16:creationId xmlns:a16="http://schemas.microsoft.com/office/drawing/2014/main" id="{C0D3D427-4209-498E-9B6B-9CAF2D5B2E5A}"/>
              </a:ext>
            </a:extLst>
          </p:cNvPr>
          <p:cNvSpPr>
            <a:spLocks xmlns:a="http://schemas.openxmlformats.org/drawingml/2006/main" noGrp="1"/>
          </p:cNvSpPr>
          <p:nvPr/>
        </p:nvSpPr>
        <p:spPr>
          <a:xfrm xmlns:a="http://schemas.openxmlformats.org/drawingml/2006/main">
            <a:off x="571500" y="504825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원천 자료의 수집·전처리·검색 반영 데이터 파이프라인.</a:t>
            </a:r>
          </a:p>
        </p:txBody>
      </p:sp>
      <p:sp>
        <p:nvSpPr>
          <p:cNvPr id="17" name="">
            <a:extLst xmlns:a="http://schemas.openxmlformats.org/drawingml/2006/main">
              <a:ext uri="{FF2B5EF4-FFF2-40B4-BE49-F238E27FC236}">
                <a16:creationId xmlns:a16="http://schemas.microsoft.com/office/drawing/2014/main" id="{F8B7AC97-5CBE-41BE-B05D-169C69F0111F}"/>
              </a:ext>
            </a:extLst>
          </p:cNvPr>
          <p:cNvSpPr>
            <a:spLocks xmlns:a="http://schemas.openxmlformats.org/drawingml/2006/main" noGrp="1"/>
          </p:cNvSpPr>
          <p:nvPr/>
        </p:nvSpPr>
        <p:spPr>
          <a:xfrm xmlns:a="http://schemas.openxmlformats.org/drawingml/2006/main">
            <a:off x="6334125" y="504825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C09 · C10 · C11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등록·개정·삭제·정제 실패의 처리 결과와 원천 변경 대사</a:t>
            </a:r>
          </a:p>
        </p:txBody>
      </p:sp>
    </p:spTree>
    <p:extLst>
      <p:ext uri="{BB962C8B-B14F-4D97-AF65-F5344CB8AC3E}">
        <p14:creationId xmlns:p14="http://schemas.microsoft.com/office/powerpoint/2010/main" val="235577863"/>
      </p:ext>
    </p:extLst>
  </p:cSld>
</p:sld>
</file>

<file path=ppt/slides/slide59.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C7F31E6-B448-4B30-B35B-1DD9D08DDDDD}"/>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PF-R08 / 사전공개 RFP 2026.04 · SFR-001~014·DAR·CNR / 4–6</a:t>
            </a:r>
          </a:p>
        </p:txBody>
      </p:sp>
      <p:sp>
        <p:nvSpPr>
          <p:cNvPr id="2" name="">
            <a:extLst xmlns:a="http://schemas.openxmlformats.org/drawingml/2006/main">
              <a:ext uri="{FF2B5EF4-FFF2-40B4-BE49-F238E27FC236}">
                <a16:creationId xmlns:a16="http://schemas.microsoft.com/office/drawing/2014/main" id="{4D0662F0-F383-4951-983D-8F30CA5C0069}"/>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예금보험공사 생성형 AI · RFP 요구사항</a:t>
            </a:r>
          </a:p>
        </p:txBody>
      </p:sp>
      <p:sp>
        <p:nvSpPr>
          <p:cNvPr id="3" name="">
            <a:extLst xmlns:a="http://schemas.openxmlformats.org/drawingml/2006/main">
              <a:ext uri="{FF2B5EF4-FFF2-40B4-BE49-F238E27FC236}">
                <a16:creationId xmlns:a16="http://schemas.microsoft.com/office/drawing/2014/main" id="{B92F69E8-033C-4D12-AAEE-5DB0D50C7033}"/>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2085A6D-A890-4468-8D83-1F31B7C53C42}"/>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D09B2404-3A0F-4C6B-AA49-665A4D59E86F}"/>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59</a:t>
            </a:r>
          </a:p>
        </p:txBody>
      </p:sp>
      <p:sp>
        <p:nvSpPr>
          <p:cNvPr id="6" name="">
            <a:extLst xmlns:a="http://schemas.openxmlformats.org/drawingml/2006/main">
              <a:ext uri="{FF2B5EF4-FFF2-40B4-BE49-F238E27FC236}">
                <a16:creationId xmlns:a16="http://schemas.microsoft.com/office/drawing/2014/main" id="{92168331-5537-4067-95EE-153A57DB6C55}"/>
              </a:ext>
            </a:extLst>
          </p:cNvPr>
          <p:cNvSpPr>
            <a:spLocks xmlns:a="http://schemas.openxmlformats.org/drawingml/2006/main" noGrp="1"/>
          </p:cNvSpPr>
          <p:nvPr/>
        </p:nvSpPr>
        <p:spPr>
          <a:xfrm xmlns:a="http://schemas.openxmlformats.org/drawingml/2006/main">
            <a:off x="571500" y="167640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F0D9509-AD60-4638-A416-8319E853B8CF}"/>
              </a:ext>
            </a:extLst>
          </p:cNvPr>
          <p:cNvSpPr>
            <a:spLocks xmlns:a="http://schemas.openxmlformats.org/drawingml/2006/main" noGrp="1"/>
          </p:cNvSpPr>
          <p:nvPr/>
        </p:nvSpPr>
        <p:spPr>
          <a:xfrm xmlns:a="http://schemas.openxmlformats.org/drawingml/2006/main">
            <a:off x="571500" y="1752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SFR-009 AI 서비스(사내 AI 챗봇 서비스) 구축</a:t>
            </a:r>
          </a:p>
        </p:txBody>
      </p:sp>
      <p:sp>
        <p:nvSpPr>
          <p:cNvPr id="8" name="">
            <a:extLst xmlns:a="http://schemas.openxmlformats.org/drawingml/2006/main">
              <a:ext uri="{FF2B5EF4-FFF2-40B4-BE49-F238E27FC236}">
                <a16:creationId xmlns:a16="http://schemas.microsoft.com/office/drawing/2014/main" id="{37D6E828-AE52-4B18-8FCC-3E36689283AF}"/>
              </a:ext>
            </a:extLst>
          </p:cNvPr>
          <p:cNvSpPr>
            <a:spLocks xmlns:a="http://schemas.openxmlformats.org/drawingml/2006/main" noGrp="1"/>
          </p:cNvSpPr>
          <p:nvPr/>
        </p:nvSpPr>
        <p:spPr>
          <a:xfrm xmlns:a="http://schemas.openxmlformats.org/drawingml/2006/main">
            <a:off x="571500" y="21336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사내 직원용 업무 지식 챗봇 기능.</a:t>
            </a:r>
          </a:p>
        </p:txBody>
      </p:sp>
      <p:sp>
        <p:nvSpPr>
          <p:cNvPr id="9" name="">
            <a:extLst xmlns:a="http://schemas.openxmlformats.org/drawingml/2006/main">
              <a:ext uri="{FF2B5EF4-FFF2-40B4-BE49-F238E27FC236}">
                <a16:creationId xmlns:a16="http://schemas.microsoft.com/office/drawing/2014/main" id="{6BD34826-3908-4B31-8DE1-9D2E0971A2AE}"/>
              </a:ext>
            </a:extLst>
          </p:cNvPr>
          <p:cNvSpPr>
            <a:spLocks xmlns:a="http://schemas.openxmlformats.org/drawingml/2006/main" noGrp="1"/>
          </p:cNvSpPr>
          <p:nvPr/>
        </p:nvSpPr>
        <p:spPr>
          <a:xfrm xmlns:a="http://schemas.openxmlformats.org/drawingml/2006/main">
            <a:off x="6334125" y="213360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C01 · C03 · C06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동일 질의의 직무별 관련성, 비공개 자료 접근, 최신 규정 인</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용 확인</a:t>
            </a:r>
          </a:p>
        </p:txBody>
      </p:sp>
      <p:sp>
        <p:nvSpPr>
          <p:cNvPr id="10" name="">
            <a:extLst xmlns:a="http://schemas.openxmlformats.org/drawingml/2006/main">
              <a:ext uri="{FF2B5EF4-FFF2-40B4-BE49-F238E27FC236}">
                <a16:creationId xmlns:a16="http://schemas.microsoft.com/office/drawing/2014/main" id="{7E5DF613-2F85-418F-9578-57A970DE9624}"/>
              </a:ext>
            </a:extLst>
          </p:cNvPr>
          <p:cNvSpPr>
            <a:spLocks xmlns:a="http://schemas.openxmlformats.org/drawingml/2006/main" noGrp="1"/>
          </p:cNvSpPr>
          <p:nvPr/>
        </p:nvSpPr>
        <p:spPr>
          <a:xfrm xmlns:a="http://schemas.openxmlformats.org/drawingml/2006/main">
            <a:off x="571500" y="3133725"/>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DC2C1BC-0881-45AE-A7CC-99FDAC3A4C23}"/>
              </a:ext>
            </a:extLst>
          </p:cNvPr>
          <p:cNvSpPr>
            <a:spLocks xmlns:a="http://schemas.openxmlformats.org/drawingml/2006/main" noGrp="1"/>
          </p:cNvSpPr>
          <p:nvPr/>
        </p:nvSpPr>
        <p:spPr>
          <a:xfrm xmlns:a="http://schemas.openxmlformats.org/drawingml/2006/main">
            <a:off x="571500" y="32099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SFR-012 데이터 카탈로그 일반 사항</a:t>
            </a:r>
          </a:p>
        </p:txBody>
      </p:sp>
      <p:sp>
        <p:nvSpPr>
          <p:cNvPr id="12" name="">
            <a:extLst xmlns:a="http://schemas.openxmlformats.org/drawingml/2006/main">
              <a:ext uri="{FF2B5EF4-FFF2-40B4-BE49-F238E27FC236}">
                <a16:creationId xmlns:a16="http://schemas.microsoft.com/office/drawing/2014/main" id="{C171302A-8D76-453A-B767-BDA9ECDCE064}"/>
              </a:ext>
            </a:extLst>
          </p:cNvPr>
          <p:cNvSpPr>
            <a:spLocks xmlns:a="http://schemas.openxmlformats.org/drawingml/2006/main" noGrp="1"/>
          </p:cNvSpPr>
          <p:nvPr/>
        </p:nvSpPr>
        <p:spPr>
          <a:xfrm xmlns:a="http://schemas.openxmlformats.org/drawingml/2006/main">
            <a:off x="571500" y="35909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전사 데이터 카탈로그의 공통 기능 구성.</a:t>
            </a:r>
          </a:p>
        </p:txBody>
      </p:sp>
      <p:sp>
        <p:nvSpPr>
          <p:cNvPr id="13" name="">
            <a:extLst xmlns:a="http://schemas.openxmlformats.org/drawingml/2006/main">
              <a:ext uri="{FF2B5EF4-FFF2-40B4-BE49-F238E27FC236}">
                <a16:creationId xmlns:a16="http://schemas.microsoft.com/office/drawing/2014/main" id="{C4852A13-CC2A-47D5-85E7-26AB814A0AB5}"/>
              </a:ext>
            </a:extLst>
          </p:cNvPr>
          <p:cNvSpPr>
            <a:spLocks xmlns:a="http://schemas.openxmlformats.org/drawingml/2006/main" noGrp="1"/>
          </p:cNvSpPr>
          <p:nvPr/>
        </p:nvSpPr>
        <p:spPr>
          <a:xfrm xmlns:a="http://schemas.openxmlformats.org/drawingml/2006/main">
            <a:off x="6334125" y="359092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C09 · C11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자산 식별자·담당자·설명의 원천 일치와 누락 항목 확인</a:t>
            </a:r>
          </a:p>
        </p:txBody>
      </p:sp>
      <p:sp>
        <p:nvSpPr>
          <p:cNvPr id="14" name="">
            <a:extLst xmlns:a="http://schemas.openxmlformats.org/drawingml/2006/main">
              <a:ext uri="{FF2B5EF4-FFF2-40B4-BE49-F238E27FC236}">
                <a16:creationId xmlns:a16="http://schemas.microsoft.com/office/drawing/2014/main" id="{66E8DF76-3162-46FB-8C51-78BD21058FBC}"/>
              </a:ext>
            </a:extLst>
          </p:cNvPr>
          <p:cNvSpPr>
            <a:spLocks xmlns:a="http://schemas.openxmlformats.org/drawingml/2006/main" noGrp="1"/>
          </p:cNvSpPr>
          <p:nvPr/>
        </p:nvSpPr>
        <p:spPr>
          <a:xfrm xmlns:a="http://schemas.openxmlformats.org/drawingml/2006/main">
            <a:off x="571500" y="45910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630B25C-6125-4F92-BB93-8C73EA62DAB8}"/>
              </a:ext>
            </a:extLst>
          </p:cNvPr>
          <p:cNvSpPr>
            <a:spLocks xmlns:a="http://schemas.openxmlformats.org/drawingml/2006/main" noGrp="1"/>
          </p:cNvSpPr>
          <p:nvPr/>
        </p:nvSpPr>
        <p:spPr>
          <a:xfrm xmlns:a="http://schemas.openxmlformats.org/drawingml/2006/main">
            <a:off x="571500" y="46672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SFR-013 데이터 카탈로그 공사 맞춤 개발</a:t>
            </a:r>
          </a:p>
        </p:txBody>
      </p:sp>
      <p:sp>
        <p:nvSpPr>
          <p:cNvPr id="16" name="">
            <a:extLst xmlns:a="http://schemas.openxmlformats.org/drawingml/2006/main">
              <a:ext uri="{FF2B5EF4-FFF2-40B4-BE49-F238E27FC236}">
                <a16:creationId xmlns:a16="http://schemas.microsoft.com/office/drawing/2014/main" id="{41A6E126-59B3-4F06-8A07-E2601EA160EE}"/>
              </a:ext>
            </a:extLst>
          </p:cNvPr>
          <p:cNvSpPr>
            <a:spLocks xmlns:a="http://schemas.openxmlformats.org/drawingml/2006/main" noGrp="1"/>
          </p:cNvSpPr>
          <p:nvPr/>
        </p:nvSpPr>
        <p:spPr>
          <a:xfrm xmlns:a="http://schemas.openxmlformats.org/drawingml/2006/main">
            <a:off x="571500" y="504825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기관 업무에 맞춘 데이터 카탈로그 구성과 활용.</a:t>
            </a:r>
          </a:p>
        </p:txBody>
      </p:sp>
      <p:sp>
        <p:nvSpPr>
          <p:cNvPr id="17" name="">
            <a:extLst xmlns:a="http://schemas.openxmlformats.org/drawingml/2006/main">
              <a:ext uri="{FF2B5EF4-FFF2-40B4-BE49-F238E27FC236}">
                <a16:creationId xmlns:a16="http://schemas.microsoft.com/office/drawing/2014/main" id="{567DB5BA-80F1-4316-9CB5-319CF6311214}"/>
              </a:ext>
            </a:extLst>
          </p:cNvPr>
          <p:cNvSpPr>
            <a:spLocks xmlns:a="http://schemas.openxmlformats.org/drawingml/2006/main" noGrp="1"/>
          </p:cNvSpPr>
          <p:nvPr/>
        </p:nvSpPr>
        <p:spPr>
          <a:xfrm xmlns:a="http://schemas.openxmlformats.org/drawingml/2006/main">
            <a:off x="6334125" y="504825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C02 · C11 · C12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부서·업무 분류 변경과 사용자 권한에 따른 자산 정보 표시 대</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사</a:t>
            </a:r>
          </a:p>
        </p:txBody>
      </p:sp>
    </p:spTree>
    <p:extLst>
      <p:ext uri="{BB962C8B-B14F-4D97-AF65-F5344CB8AC3E}">
        <p14:creationId xmlns:p14="http://schemas.microsoft.com/office/powerpoint/2010/main" val="1534447765"/>
      </p:ext>
    </p:extLst>
  </p:cSld>
</p:sld>
</file>

<file path=ppt/slides/slide60.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18C7843-4296-4FDB-B97E-E2E80B8DC0BB}"/>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PF-R08 / 사전공개 RFP 2026.04 · SFR-001~014·DAR·CNR / 7–7</a:t>
            </a:r>
          </a:p>
        </p:txBody>
      </p:sp>
      <p:sp>
        <p:nvSpPr>
          <p:cNvPr id="2" name="">
            <a:extLst xmlns:a="http://schemas.openxmlformats.org/drawingml/2006/main">
              <a:ext uri="{FF2B5EF4-FFF2-40B4-BE49-F238E27FC236}">
                <a16:creationId xmlns:a16="http://schemas.microsoft.com/office/drawing/2014/main" id="{B7AD6E44-40C9-4A25-B755-8F6D1E402EB9}"/>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예금보험공사 생성형 AI · RFP 요구사항</a:t>
            </a:r>
          </a:p>
        </p:txBody>
      </p:sp>
      <p:sp>
        <p:nvSpPr>
          <p:cNvPr id="3" name="">
            <a:extLst xmlns:a="http://schemas.openxmlformats.org/drawingml/2006/main">
              <a:ext uri="{FF2B5EF4-FFF2-40B4-BE49-F238E27FC236}">
                <a16:creationId xmlns:a16="http://schemas.microsoft.com/office/drawing/2014/main" id="{270E5CB6-DB68-4C53-AA7E-E097AA7E17FA}"/>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CCEF9C3-7A8D-4E6C-B6EF-57476745BB67}"/>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CCBA74E2-A46A-4D4A-8DFC-50D4CE16455D}"/>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60</a:t>
            </a:r>
          </a:p>
        </p:txBody>
      </p:sp>
      <p:sp>
        <p:nvSpPr>
          <p:cNvPr id="6" name="">
            <a:extLst xmlns:a="http://schemas.openxmlformats.org/drawingml/2006/main">
              <a:ext uri="{FF2B5EF4-FFF2-40B4-BE49-F238E27FC236}">
                <a16:creationId xmlns:a16="http://schemas.microsoft.com/office/drawing/2014/main" id="{D01405A0-6946-4CA0-88C6-130CBF495179}"/>
              </a:ext>
            </a:extLst>
          </p:cNvPr>
          <p:cNvSpPr>
            <a:spLocks xmlns:a="http://schemas.openxmlformats.org/drawingml/2006/main" noGrp="1"/>
          </p:cNvSpPr>
          <p:nvPr/>
        </p:nvSpPr>
        <p:spPr>
          <a:xfrm xmlns:a="http://schemas.openxmlformats.org/drawingml/2006/main">
            <a:off x="571500" y="167640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129E8EA-B73A-469C-865F-8A781256B6A8}"/>
              </a:ext>
            </a:extLst>
          </p:cNvPr>
          <p:cNvSpPr>
            <a:spLocks xmlns:a="http://schemas.openxmlformats.org/drawingml/2006/main" noGrp="1"/>
          </p:cNvSpPr>
          <p:nvPr/>
        </p:nvSpPr>
        <p:spPr>
          <a:xfrm xmlns:a="http://schemas.openxmlformats.org/drawingml/2006/main">
            <a:off x="571500" y="1752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SFR-014 데이터 카탈로그 검색 기능</a:t>
            </a:r>
          </a:p>
        </p:txBody>
      </p:sp>
      <p:sp>
        <p:nvSpPr>
          <p:cNvPr id="8" name="">
            <a:extLst xmlns:a="http://schemas.openxmlformats.org/drawingml/2006/main">
              <a:ext uri="{FF2B5EF4-FFF2-40B4-BE49-F238E27FC236}">
                <a16:creationId xmlns:a16="http://schemas.microsoft.com/office/drawing/2014/main" id="{C6E19168-9AEC-4FD4-9240-0CB586E3395D}"/>
              </a:ext>
            </a:extLst>
          </p:cNvPr>
          <p:cNvSpPr>
            <a:spLocks xmlns:a="http://schemas.openxmlformats.org/drawingml/2006/main" noGrp="1"/>
          </p:cNvSpPr>
          <p:nvPr/>
        </p:nvSpPr>
        <p:spPr>
          <a:xfrm xmlns:a="http://schemas.openxmlformats.org/drawingml/2006/main">
            <a:off x="571500" y="21336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카탈로그의 데이터 자산 검색 기능.</a:t>
            </a:r>
          </a:p>
        </p:txBody>
      </p:sp>
      <p:sp>
        <p:nvSpPr>
          <p:cNvPr id="9" name="">
            <a:extLst xmlns:a="http://schemas.openxmlformats.org/drawingml/2006/main">
              <a:ext uri="{FF2B5EF4-FFF2-40B4-BE49-F238E27FC236}">
                <a16:creationId xmlns:a16="http://schemas.microsoft.com/office/drawing/2014/main" id="{7BBF2678-F2F2-4CE2-B703-26EF8FEE329F}"/>
              </a:ext>
            </a:extLst>
          </p:cNvPr>
          <p:cNvSpPr>
            <a:spLocks xmlns:a="http://schemas.openxmlformats.org/drawingml/2006/main" noGrp="1"/>
          </p:cNvSpPr>
          <p:nvPr/>
        </p:nvSpPr>
        <p:spPr>
          <a:xfrm xmlns:a="http://schemas.openxmlformats.org/drawingml/2006/main">
            <a:off x="6334125" y="213360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C03 · C11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다른 업무 용어로 같은 자산 탐색, 동명이자산 구분, 검색 결</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과 권한 확인</a:t>
            </a:r>
          </a:p>
        </p:txBody>
      </p:sp>
    </p:spTree>
    <p:extLst>
      <p:ext uri="{BB962C8B-B14F-4D97-AF65-F5344CB8AC3E}">
        <p14:creationId xmlns:p14="http://schemas.microsoft.com/office/powerpoint/2010/main" val="142033593"/>
      </p:ext>
    </p:extLst>
  </p:cSld>
</p:sld>
</file>

<file path=ppt/slides/slide61.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8994218-AFBB-456D-A97B-4E9E838F622B}"/>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PF-R08 / 사전공개 RFP 목표 구성도 / 원문 삽입도 추출</a:t>
            </a:r>
          </a:p>
        </p:txBody>
      </p:sp>
      <p:sp>
        <p:nvSpPr>
          <p:cNvPr id="2" name="">
            <a:extLst xmlns:a="http://schemas.openxmlformats.org/drawingml/2006/main">
              <a:ext uri="{FF2B5EF4-FFF2-40B4-BE49-F238E27FC236}">
                <a16:creationId xmlns:a16="http://schemas.microsoft.com/office/drawing/2014/main" id="{CC948D59-71F7-4BCE-BAC5-2BB6A24CA39E}"/>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대민·임직원 AI 서비스 분리</a:t>
            </a:r>
          </a:p>
        </p:txBody>
      </p:sp>
      <p:sp>
        <p:nvSpPr>
          <p:cNvPr id="3" name="">
            <a:extLst xmlns:a="http://schemas.openxmlformats.org/drawingml/2006/main">
              <a:ext uri="{FF2B5EF4-FFF2-40B4-BE49-F238E27FC236}">
                <a16:creationId xmlns:a16="http://schemas.microsoft.com/office/drawing/2014/main" id="{D20E003F-E1D7-463D-8C66-3033E7B1E9DB}"/>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3D4E534-F7CB-4B87-ADF3-E4D130C74CF5}"/>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6A4ADCE2-A028-4E3A-B61F-1FE2181D98D3}"/>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61</a:t>
            </a:r>
          </a:p>
        </p:txBody>
      </p:sp>
      <p:pic>
        <p:nvPicPr>
          <p:cNvPr id="6" name="">
            <a:extLst xmlns:a="http://schemas.openxmlformats.org/drawingml/2006/main">
              <a:ext uri="{FF2B5EF4-FFF2-40B4-BE49-F238E27FC236}">
                <a16:creationId xmlns:a16="http://schemas.microsoft.com/office/drawing/2014/main" id="{A0CD4261-853E-49FC-8E8E-C33F2409AEB8}"/>
              </a:ext>
            </a:extLst>
          </p:cNvPr>
          <p:cNvPicPr>
            <a:picLocks xmlns:a="http://schemas.openxmlformats.org/drawingml/2006/main" noChangeAspect="1"/>
          </p:cNvPicPr>
          <p:nvPr/>
        </p:nvPicPr>
        <p:blipFill>
          <a:blip xmlns:r="http://schemas.openxmlformats.org/officeDocument/2006/relationships" xmlns:a="http://schemas.openxmlformats.org/drawingml/2006/main" r:embed="R469953228762425c"/>
          <a:stretch xmlns:a="http://schemas.openxmlformats.org/drawingml/2006/main"/>
        </p:blipFill>
        <p:spPr>
          <a:xfrm xmlns:a="http://schemas.openxmlformats.org/drawingml/2006/main">
            <a:off x="2342322" y="1657350"/>
            <a:ext cx="7507357"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B9281C9-78AF-4C03-BC96-AE79A4970AAD}"/>
              </a:ext>
            </a:extLst>
          </p:cNvPr>
          <p:cNvSpPr>
            <a:spLocks xmlns:a="http://schemas.openxmlformats.org/drawingml/2006/main" noGrp="1"/>
          </p:cNvSpPr>
          <p:nvPr/>
        </p:nvSpPr>
        <p:spPr>
          <a:xfrm xmlns:a="http://schemas.openxmlformats.org/drawingml/2006/main">
            <a:off x="571500" y="5915025"/>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보안·서비스·데이터·관리 서브넷과 SSO·업무 데이터 경계</a:t>
            </a:r>
          </a:p>
        </p:txBody>
      </p:sp>
    </p:spTree>
    <p:extLst>
      <p:ext uri="{BB962C8B-B14F-4D97-AF65-F5344CB8AC3E}">
        <p14:creationId xmlns:p14="http://schemas.microsoft.com/office/powerpoint/2010/main" val="1463143431"/>
      </p:ext>
    </p:extLst>
  </p:cSld>
</p:sld>
</file>

<file path=ppt/slides/slide6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BCEA46C-6D07-4F93-9811-A647AD368DD4}"/>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PF-R08 / 사전공개 RFP 데이터 구성도 / 원문 삽입도 추출</a:t>
            </a:r>
          </a:p>
        </p:txBody>
      </p:sp>
      <p:sp>
        <p:nvSpPr>
          <p:cNvPr id="2" name="">
            <a:extLst xmlns:a="http://schemas.openxmlformats.org/drawingml/2006/main">
              <a:ext uri="{FF2B5EF4-FFF2-40B4-BE49-F238E27FC236}">
                <a16:creationId xmlns:a16="http://schemas.microsoft.com/office/drawing/2014/main" id="{3A775E13-6372-477B-8AEB-1C64EAFA8F62}"/>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데이터 카탈로그·업무 매핑</a:t>
            </a:r>
          </a:p>
        </p:txBody>
      </p:sp>
      <p:sp>
        <p:nvSpPr>
          <p:cNvPr id="3" name="">
            <a:extLst xmlns:a="http://schemas.openxmlformats.org/drawingml/2006/main">
              <a:ext uri="{FF2B5EF4-FFF2-40B4-BE49-F238E27FC236}">
                <a16:creationId xmlns:a16="http://schemas.microsoft.com/office/drawing/2014/main" id="{13955186-2411-420B-A126-E3A6C3B2EBFF}"/>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ACCD346-C0EB-43C2-8F52-3BEDB4BF4074}"/>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3968CE9F-0A33-4552-BADF-D1A166E4986F}"/>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62</a:t>
            </a:r>
          </a:p>
        </p:txBody>
      </p:sp>
      <p:pic>
        <p:nvPicPr>
          <p:cNvPr id="6" name="">
            <a:extLst xmlns:a="http://schemas.openxmlformats.org/drawingml/2006/main">
              <a:ext uri="{FF2B5EF4-FFF2-40B4-BE49-F238E27FC236}">
                <a16:creationId xmlns:a16="http://schemas.microsoft.com/office/drawing/2014/main" id="{EC883C44-0857-4D4F-B0E5-721A270E8B8D}"/>
              </a:ext>
            </a:extLst>
          </p:cNvPr>
          <p:cNvPicPr>
            <a:picLocks xmlns:a="http://schemas.openxmlformats.org/drawingml/2006/main" noChangeAspect="1"/>
          </p:cNvPicPr>
          <p:nvPr/>
        </p:nvPicPr>
        <p:blipFill>
          <a:blip xmlns:r="http://schemas.openxmlformats.org/officeDocument/2006/relationships" xmlns:a="http://schemas.openxmlformats.org/drawingml/2006/main" r:embed="Rfe2c6da4bdc441ca"/>
          <a:stretch xmlns:a="http://schemas.openxmlformats.org/drawingml/2006/main"/>
        </p:blipFill>
        <p:spPr>
          <a:xfrm xmlns:a="http://schemas.openxmlformats.org/drawingml/2006/main">
            <a:off x="1935307" y="1657350"/>
            <a:ext cx="8321386"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8F6D186-CAD3-4FC1-93F2-8A839DE3FAA0}"/>
              </a:ext>
            </a:extLst>
          </p:cNvPr>
          <p:cNvSpPr>
            <a:spLocks xmlns:a="http://schemas.openxmlformats.org/drawingml/2006/main" noGrp="1"/>
          </p:cNvSpPr>
          <p:nvPr/>
        </p:nvSpPr>
        <p:spPr>
          <a:xfrm xmlns:a="http://schemas.openxmlformats.org/drawingml/2006/main">
            <a:off x="571500" y="5915025"/>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대시보드·통합검색·데이터등록·표준·품질과 업무 매핑</a:t>
            </a:r>
          </a:p>
        </p:txBody>
      </p:sp>
    </p:spTree>
    <p:extLst>
      <p:ext uri="{BB962C8B-B14F-4D97-AF65-F5344CB8AC3E}">
        <p14:creationId xmlns:p14="http://schemas.microsoft.com/office/powerpoint/2010/main" val="1377907738"/>
      </p:ext>
    </p:extLst>
  </p:cSld>
</p:sld>
</file>

<file path=ppt/slides/slide6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EB00FE0E-9EF8-4024-88B5-BB190FDE6A09}"/>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A4235CD8-185A-418A-8E8D-9EED88AA532D}"/>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1B873BDE-8C72-4ABB-ACCF-A07641EDF0F8}"/>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61845A06-B383-4431-9C79-B29D629E6BE3}"/>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F78CCFE5-6261-4540-AEA0-AFDF41738C22}"/>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C26D5924-450E-4447-A192-3C35952A735D}"/>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F9499B61-28B3-4AC9-9109-2F3AA3565B7E}"/>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E1BB4C4C-4A95-4F37-B512-570AA2CEB80A}"/>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7A27CCE8-7CFB-4B50-AD7E-89DBC31E1B24}"/>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65FBD99C-0811-4E71-94ED-813A53D8DAB3}"/>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PF-R08 / CCK 세부 재구성 · 논리 서비스 설계</a:t>
            </a:r>
          </a:p>
        </p:txBody>
      </p:sp>
      <p:sp>
        <p:nvSpPr>
          <p:cNvPr id="2" name="">
            <a:extLst xmlns:a="http://schemas.openxmlformats.org/drawingml/2006/main">
              <a:ext uri="{FF2B5EF4-FFF2-40B4-BE49-F238E27FC236}">
                <a16:creationId xmlns:a16="http://schemas.microsoft.com/office/drawing/2014/main" id="{B6331262-AAAA-4116-A780-40EEB348AD4B}"/>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예금보험공사 생성형 AI · 세부 서비스 구조</a:t>
            </a:r>
          </a:p>
        </p:txBody>
      </p:sp>
      <p:sp>
        <p:nvSpPr>
          <p:cNvPr id="3" name="">
            <a:extLst xmlns:a="http://schemas.openxmlformats.org/drawingml/2006/main">
              <a:ext uri="{FF2B5EF4-FFF2-40B4-BE49-F238E27FC236}">
                <a16:creationId xmlns:a16="http://schemas.microsoft.com/office/drawing/2014/main" id="{2A5A64DD-6E7E-4487-BD55-04543942C35A}"/>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C14E7ED-C33E-406B-BEE4-C7B012F63E25}"/>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8CFBCEB2-0FBD-4BEC-AEC7-66163C0EDD57}"/>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63</a:t>
            </a:r>
          </a:p>
        </p:txBody>
      </p:sp>
      <p:sp>
        <p:nvSpPr>
          <p:cNvPr id="6" name="">
            <a:extLst xmlns:a="http://schemas.openxmlformats.org/drawingml/2006/main">
              <a:ext uri="{FF2B5EF4-FFF2-40B4-BE49-F238E27FC236}">
                <a16:creationId xmlns:a16="http://schemas.microsoft.com/office/drawing/2014/main" id="{FAE86A7F-7B6E-4056-804A-536F3AE63D49}"/>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사전공개 RFP 구성도·SFR-001~014</a:t>
            </a:r>
          </a:p>
        </p:txBody>
      </p:sp>
      <p:sp>
        <p:nvSpPr>
          <p:cNvPr id="7" name="">
            <a:extLst xmlns:a="http://schemas.openxmlformats.org/drawingml/2006/main">
              <a:ext uri="{FF2B5EF4-FFF2-40B4-BE49-F238E27FC236}">
                <a16:creationId xmlns:a16="http://schemas.microsoft.com/office/drawing/2014/main" id="{1CCEA463-2FDD-4A2C-B958-4E581E1D0724}"/>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6573BBAB-DB25-4227-817E-AC95E48AB916}"/>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30F15EDE-B61E-4841-9830-41A1A0EF59A5}"/>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국민·사내 접점</a:t>
            </a:r>
          </a:p>
        </p:txBody>
      </p:sp>
      <p:sp>
        <p:nvSpPr>
          <p:cNvPr id="10" name="">
            <a:extLst xmlns:a="http://schemas.openxmlformats.org/drawingml/2006/main">
              <a:ext uri="{FF2B5EF4-FFF2-40B4-BE49-F238E27FC236}">
                <a16:creationId xmlns:a16="http://schemas.microsoft.com/office/drawing/2014/main" id="{856181EC-6379-49F8-94C4-D66BB104F9A9}"/>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1D7C6B60-ED3B-48C7-8EB0-24A12C1D6036}"/>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83869373-B122-46B3-AA59-039C2FCEADA7}"/>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SSO·DRM·망 구분</a:t>
            </a:r>
          </a:p>
        </p:txBody>
      </p:sp>
      <p:sp>
        <p:nvSpPr>
          <p:cNvPr id="13" name="">
            <a:extLst xmlns:a="http://schemas.openxmlformats.org/drawingml/2006/main">
              <a:ext uri="{FF2B5EF4-FFF2-40B4-BE49-F238E27FC236}">
                <a16:creationId xmlns:a16="http://schemas.microsoft.com/office/drawing/2014/main" id="{435AAD80-EF95-4925-935E-4BCD9F1FE3DB}"/>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50868A98-4E52-4B42-8DA3-B9643FFDBC80}"/>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56CF6ACF-E5BD-450A-B105-6C9CF2DE7C2D}"/>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안건·허용자료 검색</a:t>
            </a:r>
          </a:p>
        </p:txBody>
      </p:sp>
      <p:sp>
        <p:nvSpPr>
          <p:cNvPr id="16" name="">
            <a:extLst xmlns:a="http://schemas.openxmlformats.org/drawingml/2006/main">
              <a:ext uri="{FF2B5EF4-FFF2-40B4-BE49-F238E27FC236}">
                <a16:creationId xmlns:a16="http://schemas.microsoft.com/office/drawing/2014/main" id="{EDC29AEA-A3C4-4AD6-8C7F-A9C8C7391C98}"/>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70939BFE-F1F8-4FDE-B44B-067F7499E3C5}"/>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595106EF-3EE6-424D-8139-9A2F9D31BED7}"/>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모델·요약·산식</a:t>
            </a:r>
          </a:p>
        </p:txBody>
      </p:sp>
      <p:sp>
        <p:nvSpPr>
          <p:cNvPr id="19" name="">
            <a:extLst xmlns:a="http://schemas.openxmlformats.org/drawingml/2006/main">
              <a:ext uri="{FF2B5EF4-FFF2-40B4-BE49-F238E27FC236}">
                <a16:creationId xmlns:a16="http://schemas.microsoft.com/office/drawing/2014/main" id="{1B6CC48E-D775-4746-BF8F-388C509F6723}"/>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71AC78A8-E511-44A3-9C6F-4CC72AF45C58}"/>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0832891F-236F-4D44-996D-5770AD41B6C8}"/>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산식·단위 대조</a:t>
            </a:r>
          </a:p>
        </p:txBody>
      </p:sp>
      <p:sp>
        <p:nvSpPr>
          <p:cNvPr id="22" name="">
            <a:extLst xmlns:a="http://schemas.openxmlformats.org/drawingml/2006/main">
              <a:ext uri="{FF2B5EF4-FFF2-40B4-BE49-F238E27FC236}">
                <a16:creationId xmlns:a16="http://schemas.microsoft.com/office/drawing/2014/main" id="{1E9C4FBC-7FBE-4AA2-BA9E-FDECD4D8D742}"/>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62B0C0EA-993C-4B83-8CE6-367C71CB9642}"/>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D6FF5E3C-DAF7-4EB7-8790-7641D92205CE}"/>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업무 담당 검토</a:t>
            </a:r>
          </a:p>
        </p:txBody>
      </p:sp>
      <p:sp>
        <p:nvSpPr>
          <p:cNvPr id="25" name="">
            <a:extLst xmlns:a="http://schemas.openxmlformats.org/drawingml/2006/main">
              <a:ext uri="{FF2B5EF4-FFF2-40B4-BE49-F238E27FC236}">
                <a16:creationId xmlns:a16="http://schemas.microsoft.com/office/drawing/2014/main" id="{4706D267-2D31-4BCA-B264-1F9D8461CB5C}"/>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7F360BD5-C136-4813-AAA4-6B6FBB19B1C0}"/>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969F56B9-0B29-4331-8B55-4688EFE1DE52}"/>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근거 요약·계산</a:t>
            </a:r>
          </a:p>
        </p:txBody>
      </p:sp>
      <p:sp>
        <p:nvSpPr>
          <p:cNvPr id="28" name="">
            <a:extLst xmlns:a="http://schemas.openxmlformats.org/drawingml/2006/main">
              <a:ext uri="{FF2B5EF4-FFF2-40B4-BE49-F238E27FC236}">
                <a16:creationId xmlns:a16="http://schemas.microsoft.com/office/drawing/2014/main" id="{B3216FE5-A345-4DCD-AEAE-6AD93C7EC374}"/>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552D23F2-9BD9-4C1D-9AB2-BCC94EF96C01}"/>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65E81E52-64C0-4B02-922C-490ECB1F4513}"/>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품질·민감정보 점검</a:t>
            </a:r>
          </a:p>
        </p:txBody>
      </p:sp>
      <p:sp>
        <p:nvSpPr>
          <p:cNvPr id="31" name="">
            <a:extLst xmlns:a="http://schemas.openxmlformats.org/drawingml/2006/main">
              <a:ext uri="{FF2B5EF4-FFF2-40B4-BE49-F238E27FC236}">
                <a16:creationId xmlns:a16="http://schemas.microsoft.com/office/drawing/2014/main" id="{C251E75A-04F4-4E87-9CF6-694653527DF1}"/>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910123BB-68F1-4E1B-9C98-0591D4A73A0A}"/>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189FD30D-EFBE-4ADD-86E8-623DB9A44442}"/>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ECM·안건·공개자료</a:t>
            </a:r>
          </a:p>
        </p:txBody>
      </p:sp>
      <p:sp>
        <p:nvSpPr>
          <p:cNvPr id="34" name="">
            <a:extLst xmlns:a="http://schemas.openxmlformats.org/drawingml/2006/main">
              <a:ext uri="{FF2B5EF4-FFF2-40B4-BE49-F238E27FC236}">
                <a16:creationId xmlns:a16="http://schemas.microsoft.com/office/drawing/2014/main" id="{83814DC9-A98F-49C6-A37F-3E792A1EAB29}"/>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56359FE8-40A8-434A-B69F-206FCD77D318}"/>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98CB56A5-0144-4E75-938F-D00F2DBD57D6}"/>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메타정보·카탈로그</a:t>
            </a:r>
          </a:p>
        </p:txBody>
      </p:sp>
      <p:sp>
        <p:nvSpPr>
          <p:cNvPr id="37" name="">
            <a:extLst xmlns:a="http://schemas.openxmlformats.org/drawingml/2006/main">
              <a:ext uri="{FF2B5EF4-FFF2-40B4-BE49-F238E27FC236}">
                <a16:creationId xmlns:a16="http://schemas.microsoft.com/office/drawing/2014/main" id="{BCF4E17C-CDC8-421D-873A-9106319281E2}"/>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36421FCF-57A2-4879-B550-D687D9F5A77D}"/>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8EF1735C-9834-4D22-9894-B537A82F5032}"/>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대민·사내 DB 분리</a:t>
            </a:r>
          </a:p>
        </p:txBody>
      </p:sp>
      <p:sp>
        <p:nvSpPr>
          <p:cNvPr id="40" name="">
            <a:extLst xmlns:a="http://schemas.openxmlformats.org/drawingml/2006/main">
              <a:ext uri="{FF2B5EF4-FFF2-40B4-BE49-F238E27FC236}">
                <a16:creationId xmlns:a16="http://schemas.microsoft.com/office/drawing/2014/main" id="{27C27A1C-9868-483A-9F29-7A34747F8A65}"/>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F465CDAF-3377-465D-A63A-0C09B94AC5B1}"/>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5A5F6EF3-FA40-4606-B67E-5442CEFDACC0}"/>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권한·망·모델 관리</a:t>
            </a:r>
          </a:p>
        </p:txBody>
      </p:sp>
      <p:sp>
        <p:nvSpPr>
          <p:cNvPr id="52" name="">
            <a:extLst xmlns:a="http://schemas.openxmlformats.org/drawingml/2006/main">
              <a:ext uri="{FF2B5EF4-FFF2-40B4-BE49-F238E27FC236}">
                <a16:creationId xmlns:a16="http://schemas.microsoft.com/office/drawing/2014/main" id="{C66B0F87-67D4-4383-8C7D-C23F96A89031}"/>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1420918178"/>
      </p:ext>
    </p:extLst>
  </p:cSld>
</p:sld>
</file>

<file path=ppt/slides/slide6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228B7F59-27D2-4931-B8AC-6CA297C260C0}"/>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PF-R08 / 논리 인터페이스·복구 설계</a:t>
            </a:r>
          </a:p>
        </p:txBody>
      </p:sp>
      <p:sp>
        <p:nvSpPr>
          <p:cNvPr id="2" name="">
            <a:extLst xmlns:a="http://schemas.openxmlformats.org/drawingml/2006/main">
              <a:ext uri="{FF2B5EF4-FFF2-40B4-BE49-F238E27FC236}">
                <a16:creationId xmlns:a16="http://schemas.microsoft.com/office/drawing/2014/main" id="{08CDC018-8B3F-4524-8C69-1ED2B72D1E99}"/>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예금보험공사 생성형 AI · 데이터와 예외 처리</a:t>
            </a:r>
          </a:p>
        </p:txBody>
      </p:sp>
      <p:sp>
        <p:nvSpPr>
          <p:cNvPr id="3" name="">
            <a:extLst xmlns:a="http://schemas.openxmlformats.org/drawingml/2006/main">
              <a:ext uri="{FF2B5EF4-FFF2-40B4-BE49-F238E27FC236}">
                <a16:creationId xmlns:a16="http://schemas.microsoft.com/office/drawing/2014/main" id="{155D0C68-4DC7-4494-AA2F-905B3B374017}"/>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D75CFFC-2896-45B2-92AC-49A89BF7A67D}"/>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27727A3A-9F85-4031-93A6-30F75A380F2A}"/>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64</a:t>
            </a:r>
          </a:p>
        </p:txBody>
      </p:sp>
      <p:sp>
        <p:nvSpPr>
          <p:cNvPr id="6" name="">
            <a:extLst xmlns:a="http://schemas.openxmlformats.org/drawingml/2006/main">
              <a:ext uri="{FF2B5EF4-FFF2-40B4-BE49-F238E27FC236}">
                <a16:creationId xmlns:a16="http://schemas.microsoft.com/office/drawing/2014/main" id="{7BD9B8D3-4C2C-4852-98C1-925DB5050A33}"/>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D59EF25A-5DD5-4146-9F7B-607AE061108A}"/>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9169437F-0B8E-47FE-903B-D3CF094542CD}"/>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27FF7122-AE04-4087-91F7-76E2EE8D526A}"/>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외부·내부 접점과 망·계정·DRM 경계 분리</a:t>
            </a:r>
          </a:p>
        </p:txBody>
      </p:sp>
      <p:sp>
        <p:nvSpPr>
          <p:cNvPr id="10" name="">
            <a:extLst xmlns:a="http://schemas.openxmlformats.org/drawingml/2006/main">
              <a:ext uri="{FF2B5EF4-FFF2-40B4-BE49-F238E27FC236}">
                <a16:creationId xmlns:a16="http://schemas.microsoft.com/office/drawing/2014/main" id="{B3E05970-9662-45A5-B992-C52A9EF2C03C}"/>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217ED67-245E-4EB4-B0F7-C18B7F8E175F}"/>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D0BA43AA-D772-441F-B47D-9DED92666637}"/>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질의·권한</a:t>
            </a:r>
          </a:p>
        </p:txBody>
      </p:sp>
      <p:sp>
        <p:nvSpPr>
          <p:cNvPr id="13" name="">
            <a:extLst xmlns:a="http://schemas.openxmlformats.org/drawingml/2006/main">
              <a:ext uri="{FF2B5EF4-FFF2-40B4-BE49-F238E27FC236}">
                <a16:creationId xmlns:a16="http://schemas.microsoft.com/office/drawing/2014/main" id="{558A05D5-A72D-4C8A-961F-940649D6D4F9}"/>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CAD6CFD-FA8D-42ED-9989-5C33415CA6CB}"/>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648EBDDD-F77F-4E0B-AE49-6FD41B461A4B}"/>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허용 근거</a:t>
            </a:r>
          </a:p>
        </p:txBody>
      </p:sp>
      <p:sp>
        <p:nvSpPr>
          <p:cNvPr id="16" name="">
            <a:extLst xmlns:a="http://schemas.openxmlformats.org/drawingml/2006/main">
              <a:ext uri="{FF2B5EF4-FFF2-40B4-BE49-F238E27FC236}">
                <a16:creationId xmlns:a16="http://schemas.microsoft.com/office/drawing/2014/main" id="{40C96084-98E1-43CB-970A-44D044427784}"/>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11D5BAA-8422-4EF5-97CD-3F8055492C2E}"/>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67CB7AB4-788C-4F84-9F24-F4473D7853BD}"/>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요약·계산</a:t>
            </a:r>
          </a:p>
        </p:txBody>
      </p:sp>
      <p:sp>
        <p:nvSpPr>
          <p:cNvPr id="19" name="">
            <a:extLst xmlns:a="http://schemas.openxmlformats.org/drawingml/2006/main">
              <a:ext uri="{FF2B5EF4-FFF2-40B4-BE49-F238E27FC236}">
                <a16:creationId xmlns:a16="http://schemas.microsoft.com/office/drawing/2014/main" id="{9415A055-342E-4FE4-B8D4-441BB5D67A91}"/>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5399411-65CF-4786-AEF6-8BAEE594033E}"/>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CE81FB62-68DC-4B20-B5D9-D9E167BA60A7}"/>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요약·계산</a:t>
            </a:r>
          </a:p>
        </p:txBody>
      </p:sp>
      <p:sp>
        <p:nvSpPr>
          <p:cNvPr id="22" name="">
            <a:extLst xmlns:a="http://schemas.openxmlformats.org/drawingml/2006/main">
              <a:ext uri="{FF2B5EF4-FFF2-40B4-BE49-F238E27FC236}">
                <a16:creationId xmlns:a16="http://schemas.microsoft.com/office/drawing/2014/main" id="{E3AA0A00-DCFB-416D-B932-5C5011865925}"/>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2E105C2-B65A-4A5D-9FC8-08EE7C9F8A3D}"/>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B91F081B-0F65-4B20-B9EE-6AE3D0CA2345}"/>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검토 결과</a:t>
            </a:r>
          </a:p>
        </p:txBody>
      </p:sp>
      <p:sp>
        <p:nvSpPr>
          <p:cNvPr id="25" name="">
            <a:extLst xmlns:a="http://schemas.openxmlformats.org/drawingml/2006/main">
              <a:ext uri="{FF2B5EF4-FFF2-40B4-BE49-F238E27FC236}">
                <a16:creationId xmlns:a16="http://schemas.microsoft.com/office/drawing/2014/main" id="{B350DF1A-77AB-43F4-8071-C562FBFF4563}"/>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6DB51D2E-AF72-4699-9D06-6607804CECD5}"/>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외부 계정의 내부 안건 요청·DRM 제한·단위 오류</a:t>
            </a:r>
          </a:p>
        </p:txBody>
      </p:sp>
      <p:sp>
        <p:nvSpPr>
          <p:cNvPr id="27" name="">
            <a:extLst xmlns:a="http://schemas.openxmlformats.org/drawingml/2006/main">
              <a:ext uri="{FF2B5EF4-FFF2-40B4-BE49-F238E27FC236}">
                <a16:creationId xmlns:a16="http://schemas.microsoft.com/office/drawing/2014/main" id="{F6A894D5-8762-4A55-868C-A3B9F9441894}"/>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E8B4EB04-E928-4D9B-BC90-B7DF7EE642CD}"/>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망·권한·산식별 독립 검증</a:t>
            </a:r>
          </a:p>
        </p:txBody>
      </p:sp>
      <p:sp>
        <p:nvSpPr>
          <p:cNvPr id="29" name="">
            <a:extLst xmlns:a="http://schemas.openxmlformats.org/drawingml/2006/main">
              <a:ext uri="{FF2B5EF4-FFF2-40B4-BE49-F238E27FC236}">
                <a16:creationId xmlns:a16="http://schemas.microsoft.com/office/drawing/2014/main" id="{7FD4477A-F56C-4277-A685-33CD40505176}"/>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35413C53-AA6F-4FED-AF02-30730DBAF02F}"/>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데이터 품질·민감정보·답변 품질 모니터링</a:t>
            </a:r>
          </a:p>
        </p:txBody>
      </p:sp>
      <p:sp>
        <p:nvSpPr>
          <p:cNvPr id="31" name="">
            <a:extLst xmlns:a="http://schemas.openxmlformats.org/drawingml/2006/main">
              <a:ext uri="{FF2B5EF4-FFF2-40B4-BE49-F238E27FC236}">
                <a16:creationId xmlns:a16="http://schemas.microsoft.com/office/drawing/2014/main" id="{9DE1661E-1792-46BD-983C-F759DDF4A51C}"/>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FC9E2743-B4C6-4EF0-AC76-D6522D4CCEDF}"/>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망·권한별 노출 결과와 원문·계산·카탈로그 대사</a:t>
            </a:r>
          </a:p>
        </p:txBody>
      </p:sp>
    </p:spTree>
    <p:extLst>
      <p:ext uri="{BB962C8B-B14F-4D97-AF65-F5344CB8AC3E}">
        <p14:creationId xmlns:p14="http://schemas.microsoft.com/office/powerpoint/2010/main" val="668905026"/>
      </p:ext>
    </p:extLst>
  </p:cSld>
</p:sld>
</file>

<file path=ppt/slides/slide6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4A7D231-8BA4-417C-96F2-FFD973CFDB68}"/>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PF-R08 / CCK 비교·재현 시험 설계</a:t>
            </a:r>
          </a:p>
        </p:txBody>
      </p:sp>
      <p:sp>
        <p:nvSpPr>
          <p:cNvPr id="2" name="">
            <a:extLst xmlns:a="http://schemas.openxmlformats.org/drawingml/2006/main">
              <a:ext uri="{FF2B5EF4-FFF2-40B4-BE49-F238E27FC236}">
                <a16:creationId xmlns:a16="http://schemas.microsoft.com/office/drawing/2014/main" id="{8B1A4D86-014F-4F49-A3D3-9577B7EAF969}"/>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예금보험공사 생성형 AI · 벤치마킹</a:t>
            </a:r>
          </a:p>
        </p:txBody>
      </p:sp>
      <p:sp>
        <p:nvSpPr>
          <p:cNvPr id="3" name="">
            <a:extLst xmlns:a="http://schemas.openxmlformats.org/drawingml/2006/main">
              <a:ext uri="{FF2B5EF4-FFF2-40B4-BE49-F238E27FC236}">
                <a16:creationId xmlns:a16="http://schemas.microsoft.com/office/drawing/2014/main" id="{AEA40282-5681-4FD5-9681-81F27CDF8514}"/>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4C5B219-E01D-44B2-BBAE-A7F5B4F02F73}"/>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2C256BC0-EFA4-401F-AD82-5E5D407A774A}"/>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65</a:t>
            </a:r>
          </a:p>
        </p:txBody>
      </p:sp>
      <p:sp>
        <p:nvSpPr>
          <p:cNvPr id="6" name="">
            <a:extLst xmlns:a="http://schemas.openxmlformats.org/drawingml/2006/main">
              <a:ext uri="{FF2B5EF4-FFF2-40B4-BE49-F238E27FC236}">
                <a16:creationId xmlns:a16="http://schemas.microsoft.com/office/drawing/2014/main" id="{72331435-1DDF-4A1E-B216-DB0FC5A41911}"/>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56BA9B60-17D9-46E0-B2E8-AC4A236EF830}"/>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대국민·사내 지식 경계 분리</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카탈로그와 데이터 통제 결합</a:t>
            </a:r>
          </a:p>
        </p:txBody>
      </p:sp>
      <p:sp>
        <p:nvSpPr>
          <p:cNvPr id="8" name="">
            <a:extLst xmlns:a="http://schemas.openxmlformats.org/drawingml/2006/main">
              <a:ext uri="{FF2B5EF4-FFF2-40B4-BE49-F238E27FC236}">
                <a16:creationId xmlns:a16="http://schemas.microsoft.com/office/drawing/2014/main" id="{61666770-3475-44A0-AF40-CED5AFD0F211}"/>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94DE537A-0298-42B4-B5C9-F7799385E9F9}"/>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DRM·접근권한 전파 누락</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금융 산식·단위 오류</a:t>
            </a:r>
          </a:p>
        </p:txBody>
      </p:sp>
      <p:sp>
        <p:nvSpPr>
          <p:cNvPr id="10" name="">
            <a:extLst xmlns:a="http://schemas.openxmlformats.org/drawingml/2006/main">
              <a:ext uri="{FF2B5EF4-FFF2-40B4-BE49-F238E27FC236}">
                <a16:creationId xmlns:a16="http://schemas.microsoft.com/office/drawing/2014/main" id="{2A5F1D17-A6F9-4440-8793-8520BE8C731A}"/>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28F5D054-B524-4BFB-B649-8C6F0EF4F664}"/>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망·권한·산식별 독립 검증</a:t>
            </a:r>
          </a:p>
        </p:txBody>
      </p:sp>
      <p:sp>
        <p:nvSpPr>
          <p:cNvPr id="12" name="">
            <a:extLst xmlns:a="http://schemas.openxmlformats.org/drawingml/2006/main">
              <a:ext uri="{FF2B5EF4-FFF2-40B4-BE49-F238E27FC236}">
                <a16:creationId xmlns:a16="http://schemas.microsoft.com/office/drawing/2014/main" id="{F5F5D048-CECA-442A-AA9F-84989B963EBF}"/>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F06AED0D-C81C-42CD-8942-516E09A2E179}"/>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허용된 안건만 검색·요약하고 규정 산식을 독립 확</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인</a:t>
            </a:r>
          </a:p>
        </p:txBody>
      </p:sp>
      <p:sp>
        <p:nvSpPr>
          <p:cNvPr id="14" name="">
            <a:extLst xmlns:a="http://schemas.openxmlformats.org/drawingml/2006/main">
              <a:ext uri="{FF2B5EF4-FFF2-40B4-BE49-F238E27FC236}">
                <a16:creationId xmlns:a16="http://schemas.microsoft.com/office/drawing/2014/main" id="{04199B74-28FF-4CAB-AEB0-E9ABE78201F6}"/>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B8744894-E4A4-45BD-A4CF-A31ED6DFF5ED}"/>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외부 계정의 내부 안건 요청·DRM 제한·단위 오류</a:t>
            </a:r>
          </a:p>
        </p:txBody>
      </p:sp>
      <p:sp>
        <p:nvSpPr>
          <p:cNvPr id="16" name="">
            <a:extLst xmlns:a="http://schemas.openxmlformats.org/drawingml/2006/main">
              <a:ext uri="{FF2B5EF4-FFF2-40B4-BE49-F238E27FC236}">
                <a16:creationId xmlns:a16="http://schemas.microsoft.com/office/drawing/2014/main" id="{EB857595-F791-4E2F-9FED-3FA8E3E2DA92}"/>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FF0BD7DD-4F52-4D3B-9EB1-3767D7B9EE15}"/>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망·권한별 노출 결과와 원문·계산·카탈로그 대사</a:t>
            </a:r>
          </a:p>
        </p:txBody>
      </p:sp>
    </p:spTree>
    <p:extLst>
      <p:ext uri="{BB962C8B-B14F-4D97-AF65-F5344CB8AC3E}">
        <p14:creationId xmlns:p14="http://schemas.microsoft.com/office/powerpoint/2010/main" val="111406059"/>
      </p:ext>
    </p:extLst>
  </p:cSld>
</p:sld>
</file>

<file path=ppt/slides/slide66.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BFB2828-98FE-4DE9-B9FB-70DFDA2C8D38}"/>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PF-R09 / 정정 RFP 확인 / 구축·운영 성과 미확인 / 국내</a:t>
            </a:r>
          </a:p>
        </p:txBody>
      </p:sp>
      <p:sp>
        <p:nvSpPr>
          <p:cNvPr id="2" name="">
            <a:extLst xmlns:a="http://schemas.openxmlformats.org/drawingml/2006/main">
              <a:ext uri="{FF2B5EF4-FFF2-40B4-BE49-F238E27FC236}">
                <a16:creationId xmlns:a16="http://schemas.microsoft.com/office/drawing/2014/main" id="{C59A1B79-13E3-4441-93D0-EC957860590C}"/>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석유공사 업무 AI</a:t>
            </a:r>
          </a:p>
        </p:txBody>
      </p:sp>
      <p:sp>
        <p:nvSpPr>
          <p:cNvPr id="3" name="">
            <a:extLst xmlns:a="http://schemas.openxmlformats.org/drawingml/2006/main">
              <a:ext uri="{FF2B5EF4-FFF2-40B4-BE49-F238E27FC236}">
                <a16:creationId xmlns:a16="http://schemas.microsoft.com/office/drawing/2014/main" id="{328FC9BA-1C44-4F7E-9FDD-E8466CB1702A}"/>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D6AD5C5-A7EF-479B-ADEB-B7A8DEF0752F}"/>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D5CBBE33-54CA-4C99-9C7D-3DD2079CB738}"/>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66</a:t>
            </a:r>
          </a:p>
        </p:txBody>
      </p:sp>
      <p:sp>
        <p:nvSpPr>
          <p:cNvPr id="6" name="">
            <a:extLst xmlns:a="http://schemas.openxmlformats.org/drawingml/2006/main">
              <a:ext uri="{FF2B5EF4-FFF2-40B4-BE49-F238E27FC236}">
                <a16:creationId xmlns:a16="http://schemas.microsoft.com/office/drawing/2014/main" id="{2A94DDBD-71D8-4B76-9ECA-5C21260AF064}"/>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73E994DA-91EF-44A9-A110-5920F9C2DF20}"/>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공통 AI 대화·전용 업무 화면 위에 인사복지, 안전관리,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시추, 지질, 비축설비, 석유시장 보고서의 6개 업무를 구</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성하는 사업. 전사 공통 기반과 도메인별 지식·산출물의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경계를 비교하기 적합한 사례.</a:t>
            </a:r>
          </a:p>
        </p:txBody>
      </p:sp>
      <p:sp>
        <p:nvSpPr>
          <p:cNvPr id="8" name="">
            <a:extLst xmlns:a="http://schemas.openxmlformats.org/drawingml/2006/main">
              <a:ext uri="{FF2B5EF4-FFF2-40B4-BE49-F238E27FC236}">
                <a16:creationId xmlns:a16="http://schemas.microsoft.com/office/drawing/2014/main" id="{07A2D250-78B2-4AB7-8EE1-A4D6B443D35E}"/>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DE80A808-7213-4413-8735-2EA097637FB8}"/>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SER 요구는 공통 접점·업무 범위·권한과 응용 서비스를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정의하고, FUR-001~006은 업무별 자료와 출력 기능</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을 분리. 직원 사번·소속·직급·업무분장, 문서 접근조건,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정형 데이터·ERP 연계를 각 업무 처리의 문맥으로 사용</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하는 구조.</a:t>
            </a:r>
          </a:p>
        </p:txBody>
      </p:sp>
      <p:sp>
        <p:nvSpPr>
          <p:cNvPr id="10" name="">
            <a:extLst xmlns:a="http://schemas.openxmlformats.org/drawingml/2006/main">
              <a:ext uri="{FF2B5EF4-FFF2-40B4-BE49-F238E27FC236}">
                <a16:creationId xmlns:a16="http://schemas.microsoft.com/office/drawing/2014/main" id="{CCA40527-D73C-4081-8D27-A878A0D18FBD}"/>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1F8E4960-0CC4-4442-8376-B1684E89CF54}"/>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TS의 1차 조직·권한·업무 분류 기반을 만든 뒤 부서별 특화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서비스를 붙이는 순서에 활용할 대상. 공통 챗봇 설치와 6개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업무의 인수 완료를 같은 실적으로 보지 않고, 업무별 데이터</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 원천·전문가 정답셋·실행 승인·결과 대사를 따로 관리할 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요.</a:t>
            </a:r>
          </a:p>
        </p:txBody>
      </p:sp>
      <p:sp>
        <p:nvSpPr>
          <p:cNvPr id="12" name="">
            <a:extLst xmlns:a="http://schemas.openxmlformats.org/drawingml/2006/main">
              <a:ext uri="{FF2B5EF4-FFF2-40B4-BE49-F238E27FC236}">
                <a16:creationId xmlns:a16="http://schemas.microsoft.com/office/drawing/2014/main" id="{6E523DF7-A4C5-4702-A6D5-2373AA8EC996}"/>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0623DF8C-2CEA-4F7F-86A5-41466481F683}"/>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28352B"/>
                </a:solidFill>
                <a:latin typeface="Pretendard"/>
                <a:ea typeface="Pretendard"/>
                <a:cs typeface="Pretendard"/>
              </a:defRPr>
            </a:defPPr>
          </a:lstStyle>
          <a:p xmlns:a="http://schemas.openxmlformats.org/drawingml/2006/main">
            <a:pPr>
              <a:defRPr sz="1425" b="0">
                <a:solidFill>
                  <a:srgbClr val="28352B"/>
                </a:solidFill>
                <a:latin typeface="Pretendard"/>
                <a:ea typeface="Pretendard"/>
                <a:cs typeface="Pretendard"/>
              </a:defRPr>
            </a:pPr>
            <a:r>
              <a:rPr sz="1425" b="0">
                <a:solidFill>
                  <a:srgbClr val="28352B"/>
                </a:solidFill>
                <a:latin typeface="Pretendard"/>
                <a:ea typeface="Pretendard"/>
                <a:cs typeface="Pretendard"/>
              </a:rPr>
              <a:t>TS 업무 도메인 라우터 / 사용자 역할·효력일 / 업무별 검색·원</a:t>
            </a:r>
          </a:p>
          <a:p xmlns:a="http://schemas.openxmlformats.org/drawingml/2006/main">
            <a:pPr>
              <a:defRPr sz="1425" b="0">
                <a:solidFill>
                  <a:srgbClr val="28352B"/>
                </a:solidFill>
                <a:latin typeface="Pretendard"/>
                <a:ea typeface="Pretendard"/>
                <a:cs typeface="Pretendard"/>
              </a:defRPr>
            </a:pPr>
            <a:r>
              <a:rPr sz="1425" b="0">
                <a:solidFill>
                  <a:srgbClr val="28352B"/>
                </a:solidFill>
                <a:latin typeface="Pretendard"/>
                <a:ea typeface="Pretendard"/>
                <a:cs typeface="Pretendard"/>
              </a:rPr>
              <a:t>천 연계</a:t>
            </a:r>
          </a:p>
        </p:txBody>
      </p:sp>
      <p:sp>
        <p:nvSpPr>
          <p:cNvPr id="14" name="">
            <a:extLst xmlns:a="http://schemas.openxmlformats.org/drawingml/2006/main">
              <a:ext uri="{FF2B5EF4-FFF2-40B4-BE49-F238E27FC236}">
                <a16:creationId xmlns:a16="http://schemas.microsoft.com/office/drawing/2014/main" id="{A8F44E01-EE26-4BF5-A817-6E234DE5F05E}"/>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B4E359AF-28FF-4B78-A5DE-0034FEC08097}"/>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전보·겸직·다른 도메인 질의의 라우팅·근거·접근 허용 여</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부 대조</a:t>
            </a:r>
          </a:p>
        </p:txBody>
      </p:sp>
      <p:sp>
        <p:nvSpPr>
          <p:cNvPr id="16" name="">
            <a:extLst xmlns:a="http://schemas.openxmlformats.org/drawingml/2006/main">
              <a:ext uri="{FF2B5EF4-FFF2-40B4-BE49-F238E27FC236}">
                <a16:creationId xmlns:a16="http://schemas.microsoft.com/office/drawing/2014/main" id="{44C42666-1E18-4CDE-9D0A-09D04383CC41}"/>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EEB42784-4E0E-4151-AB19-2A86A6C65970}"/>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업무 분류 정확도 / 근거 적합률 / 도메인 추가 구축 공수</a:t>
            </a:r>
          </a:p>
        </p:txBody>
      </p:sp>
      <p:sp>
        <p:nvSpPr>
          <p:cNvPr id="18" name="">
            <a:extLst xmlns:a="http://schemas.openxmlformats.org/drawingml/2006/main">
              <a:ext uri="{FF2B5EF4-FFF2-40B4-BE49-F238E27FC236}">
                <a16:creationId xmlns:a16="http://schemas.microsoft.com/office/drawing/2014/main" id="{F1D2CA3D-C29C-4803-9355-FC431B893F3B}"/>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별도 과제(오피넷 AICC·적정유가 등)를 이번 개발로 합산하지 않음</a:t>
            </a:r>
          </a:p>
        </p:txBody>
      </p:sp>
    </p:spTree>
    <p:extLst>
      <p:ext uri="{BB962C8B-B14F-4D97-AF65-F5344CB8AC3E}">
        <p14:creationId xmlns:p14="http://schemas.microsoft.com/office/powerpoint/2010/main" val="1561995512"/>
      </p:ext>
    </p:extLst>
  </p:cSld>
</p:sld>
</file>

<file path=ppt/slides/slide67.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E39116C-EC25-4AB8-B575-851315507DBA}"/>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PF-R09 / RFP 2026.09 · SER-001~004·FUR-001~006 / 1–3</a:t>
            </a:r>
          </a:p>
        </p:txBody>
      </p:sp>
      <p:sp>
        <p:nvSpPr>
          <p:cNvPr id="2" name="">
            <a:extLst xmlns:a="http://schemas.openxmlformats.org/drawingml/2006/main">
              <a:ext uri="{FF2B5EF4-FFF2-40B4-BE49-F238E27FC236}">
                <a16:creationId xmlns:a16="http://schemas.microsoft.com/office/drawing/2014/main" id="{5200B011-36EC-4DEE-8ADD-08F89635EEFC}"/>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석유공사 업무 AI · RFP 요구사항</a:t>
            </a:r>
          </a:p>
        </p:txBody>
      </p:sp>
      <p:sp>
        <p:nvSpPr>
          <p:cNvPr id="3" name="">
            <a:extLst xmlns:a="http://schemas.openxmlformats.org/drawingml/2006/main">
              <a:ext uri="{FF2B5EF4-FFF2-40B4-BE49-F238E27FC236}">
                <a16:creationId xmlns:a16="http://schemas.microsoft.com/office/drawing/2014/main" id="{2D20761D-CFEA-43D5-BBF5-DF4EEB6D174B}"/>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3DF7175-1C1F-4323-9742-A6E7194C38E6}"/>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54ABF0BB-369C-4457-9006-1AA388A8717E}"/>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67</a:t>
            </a:r>
          </a:p>
        </p:txBody>
      </p:sp>
      <p:sp>
        <p:nvSpPr>
          <p:cNvPr id="6" name="">
            <a:extLst xmlns:a="http://schemas.openxmlformats.org/drawingml/2006/main">
              <a:ext uri="{FF2B5EF4-FFF2-40B4-BE49-F238E27FC236}">
                <a16:creationId xmlns:a16="http://schemas.microsoft.com/office/drawing/2014/main" id="{9DE04684-E44D-4AB9-802D-30BCB6F6F7B0}"/>
              </a:ext>
            </a:extLst>
          </p:cNvPr>
          <p:cNvSpPr>
            <a:spLocks xmlns:a="http://schemas.openxmlformats.org/drawingml/2006/main" noGrp="1"/>
          </p:cNvSpPr>
          <p:nvPr/>
        </p:nvSpPr>
        <p:spPr>
          <a:xfrm xmlns:a="http://schemas.openxmlformats.org/drawingml/2006/main">
            <a:off x="571500" y="167640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B88E5E6-9965-4F7D-9291-7CF29F4A2AEE}"/>
              </a:ext>
            </a:extLst>
          </p:cNvPr>
          <p:cNvSpPr>
            <a:spLocks xmlns:a="http://schemas.openxmlformats.org/drawingml/2006/main" noGrp="1"/>
          </p:cNvSpPr>
          <p:nvPr/>
        </p:nvSpPr>
        <p:spPr>
          <a:xfrm xmlns:a="http://schemas.openxmlformats.org/drawingml/2006/main">
            <a:off x="571500" y="1752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SER-001 AI 대화형 서비스</a:t>
            </a:r>
          </a:p>
        </p:txBody>
      </p:sp>
      <p:sp>
        <p:nvSpPr>
          <p:cNvPr id="8" name="">
            <a:extLst xmlns:a="http://schemas.openxmlformats.org/drawingml/2006/main">
              <a:ext uri="{FF2B5EF4-FFF2-40B4-BE49-F238E27FC236}">
                <a16:creationId xmlns:a16="http://schemas.microsoft.com/office/drawing/2014/main" id="{DF172B06-F559-40D6-AA4D-FEB9186FD831}"/>
              </a:ext>
            </a:extLst>
          </p:cNvPr>
          <p:cNvSpPr>
            <a:spLocks xmlns:a="http://schemas.openxmlformats.org/drawingml/2006/main" noGrp="1"/>
          </p:cNvSpPr>
          <p:nvPr/>
        </p:nvSpPr>
        <p:spPr>
          <a:xfrm xmlns:a="http://schemas.openxmlformats.org/drawingml/2006/main">
            <a:off x="571500" y="21336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공통 AI 대화형 서비스 제공.</a:t>
            </a:r>
          </a:p>
        </p:txBody>
      </p:sp>
      <p:sp>
        <p:nvSpPr>
          <p:cNvPr id="9" name="">
            <a:extLst xmlns:a="http://schemas.openxmlformats.org/drawingml/2006/main">
              <a:ext uri="{FF2B5EF4-FFF2-40B4-BE49-F238E27FC236}">
                <a16:creationId xmlns:a16="http://schemas.microsoft.com/office/drawing/2014/main" id="{0B1EEEE3-A975-406D-A515-9A8E9E7B9A6A}"/>
              </a:ext>
            </a:extLst>
          </p:cNvPr>
          <p:cNvSpPr>
            <a:spLocks xmlns:a="http://schemas.openxmlformats.org/drawingml/2006/main" noGrp="1"/>
          </p:cNvSpPr>
          <p:nvPr/>
        </p:nvSpPr>
        <p:spPr>
          <a:xfrm xmlns:a="http://schemas.openxmlformats.org/drawingml/2006/main">
            <a:off x="6334125" y="213360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C01 · C03 · C04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문맥 유지·출처 확인·입력 범위·오류 안내의 대화 시나리오 평</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가</a:t>
            </a:r>
          </a:p>
        </p:txBody>
      </p:sp>
      <p:sp>
        <p:nvSpPr>
          <p:cNvPr id="10" name="">
            <a:extLst xmlns:a="http://schemas.openxmlformats.org/drawingml/2006/main">
              <a:ext uri="{FF2B5EF4-FFF2-40B4-BE49-F238E27FC236}">
                <a16:creationId xmlns:a16="http://schemas.microsoft.com/office/drawing/2014/main" id="{4EECD1A8-1E3E-45DE-B121-4996E90CFCE9}"/>
              </a:ext>
            </a:extLst>
          </p:cNvPr>
          <p:cNvSpPr>
            <a:spLocks xmlns:a="http://schemas.openxmlformats.org/drawingml/2006/main" noGrp="1"/>
          </p:cNvSpPr>
          <p:nvPr/>
        </p:nvSpPr>
        <p:spPr>
          <a:xfrm xmlns:a="http://schemas.openxmlformats.org/drawingml/2006/main">
            <a:off x="571500" y="3133725"/>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4AF3375-9CEB-4059-B09E-CA1A74EECC64}"/>
              </a:ext>
            </a:extLst>
          </p:cNvPr>
          <p:cNvSpPr>
            <a:spLocks xmlns:a="http://schemas.openxmlformats.org/drawingml/2006/main" noGrp="1"/>
          </p:cNvSpPr>
          <p:nvPr/>
        </p:nvSpPr>
        <p:spPr>
          <a:xfrm xmlns:a="http://schemas.openxmlformats.org/drawingml/2006/main">
            <a:off x="571500" y="32099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SER-002 업무 특화 화면 서비스</a:t>
            </a:r>
          </a:p>
        </p:txBody>
      </p:sp>
      <p:sp>
        <p:nvSpPr>
          <p:cNvPr id="12" name="">
            <a:extLst xmlns:a="http://schemas.openxmlformats.org/drawingml/2006/main">
              <a:ext uri="{FF2B5EF4-FFF2-40B4-BE49-F238E27FC236}">
                <a16:creationId xmlns:a16="http://schemas.microsoft.com/office/drawing/2014/main" id="{A7A319BA-A43D-4232-B6FD-E390FA65EDEF}"/>
              </a:ext>
            </a:extLst>
          </p:cNvPr>
          <p:cNvSpPr>
            <a:spLocks xmlns:a="http://schemas.openxmlformats.org/drawingml/2006/main" noGrp="1"/>
          </p:cNvSpPr>
          <p:nvPr/>
        </p:nvSpPr>
        <p:spPr>
          <a:xfrm xmlns:a="http://schemas.openxmlformats.org/drawingml/2006/main">
            <a:off x="571500" y="35909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업무 특화 화면에서 필요한 입력과 결과를 제공.</a:t>
            </a:r>
          </a:p>
        </p:txBody>
      </p:sp>
      <p:sp>
        <p:nvSpPr>
          <p:cNvPr id="13" name="">
            <a:extLst xmlns:a="http://schemas.openxmlformats.org/drawingml/2006/main">
              <a:ext uri="{FF2B5EF4-FFF2-40B4-BE49-F238E27FC236}">
                <a16:creationId xmlns:a16="http://schemas.microsoft.com/office/drawing/2014/main" id="{0C1C8108-4E40-4B5D-9506-D0CF1A4CD8B0}"/>
              </a:ext>
            </a:extLst>
          </p:cNvPr>
          <p:cNvSpPr>
            <a:spLocks xmlns:a="http://schemas.openxmlformats.org/drawingml/2006/main" noGrp="1"/>
          </p:cNvSpPr>
          <p:nvPr/>
        </p:nvSpPr>
        <p:spPr>
          <a:xfrm xmlns:a="http://schemas.openxmlformats.org/drawingml/2006/main">
            <a:off x="6334125" y="359092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C01 · C02 · C06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업무별 필수 항목 누락·정정·결과 편집의 화면 동작 확인</a:t>
            </a:r>
          </a:p>
        </p:txBody>
      </p:sp>
      <p:sp>
        <p:nvSpPr>
          <p:cNvPr id="14" name="">
            <a:extLst xmlns:a="http://schemas.openxmlformats.org/drawingml/2006/main">
              <a:ext uri="{FF2B5EF4-FFF2-40B4-BE49-F238E27FC236}">
                <a16:creationId xmlns:a16="http://schemas.microsoft.com/office/drawing/2014/main" id="{E5BDEC78-78D5-4D06-89A7-9160532DCB65}"/>
              </a:ext>
            </a:extLst>
          </p:cNvPr>
          <p:cNvSpPr>
            <a:spLocks xmlns:a="http://schemas.openxmlformats.org/drawingml/2006/main" noGrp="1"/>
          </p:cNvSpPr>
          <p:nvPr/>
        </p:nvSpPr>
        <p:spPr>
          <a:xfrm xmlns:a="http://schemas.openxmlformats.org/drawingml/2006/main">
            <a:off x="571500" y="45910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CC5AAEF-E8D0-4C07-8300-0BEAF0F8CE6E}"/>
              </a:ext>
            </a:extLst>
          </p:cNvPr>
          <p:cNvSpPr>
            <a:spLocks xmlns:a="http://schemas.openxmlformats.org/drawingml/2006/main" noGrp="1"/>
          </p:cNvSpPr>
          <p:nvPr/>
        </p:nvSpPr>
        <p:spPr>
          <a:xfrm xmlns:a="http://schemas.openxmlformats.org/drawingml/2006/main">
            <a:off x="571500" y="46672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SER-003 AI 응용 서비스 대상 업무</a:t>
            </a:r>
          </a:p>
        </p:txBody>
      </p:sp>
      <p:sp>
        <p:nvSpPr>
          <p:cNvPr id="16" name="">
            <a:extLst xmlns:a="http://schemas.openxmlformats.org/drawingml/2006/main">
              <a:ext uri="{FF2B5EF4-FFF2-40B4-BE49-F238E27FC236}">
                <a16:creationId xmlns:a16="http://schemas.microsoft.com/office/drawing/2014/main" id="{20123A8A-959A-4A21-8EF3-4F81744D2C9A}"/>
              </a:ext>
            </a:extLst>
          </p:cNvPr>
          <p:cNvSpPr>
            <a:spLocks xmlns:a="http://schemas.openxmlformats.org/drawingml/2006/main" noGrp="1"/>
          </p:cNvSpPr>
          <p:nvPr/>
        </p:nvSpPr>
        <p:spPr>
          <a:xfrm xmlns:a="http://schemas.openxmlformats.org/drawingml/2006/main">
            <a:off x="571500" y="504825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AI 응용서비스 대상 업무의 범위 구성.</a:t>
            </a:r>
          </a:p>
        </p:txBody>
      </p:sp>
      <p:sp>
        <p:nvSpPr>
          <p:cNvPr id="17" name="">
            <a:extLst xmlns:a="http://schemas.openxmlformats.org/drawingml/2006/main">
              <a:ext uri="{FF2B5EF4-FFF2-40B4-BE49-F238E27FC236}">
                <a16:creationId xmlns:a16="http://schemas.microsoft.com/office/drawing/2014/main" id="{88412A65-9AB0-42F4-A80B-433DBD17B6A4}"/>
              </a:ext>
            </a:extLst>
          </p:cNvPr>
          <p:cNvSpPr>
            <a:spLocks xmlns:a="http://schemas.openxmlformats.org/drawingml/2006/main" noGrp="1"/>
          </p:cNvSpPr>
          <p:nvPr/>
        </p:nvSpPr>
        <p:spPr>
          <a:xfrm xmlns:a="http://schemas.openxmlformats.org/drawingml/2006/main">
            <a:off x="6334125" y="504825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C02 · C04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인사·안전·시추·지질·설비·시장 업무의 잘못된 라우팅과 복합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요청 확인</a:t>
            </a:r>
          </a:p>
        </p:txBody>
      </p:sp>
    </p:spTree>
    <p:extLst>
      <p:ext uri="{BB962C8B-B14F-4D97-AF65-F5344CB8AC3E}">
        <p14:creationId xmlns:p14="http://schemas.microsoft.com/office/powerpoint/2010/main" val="166183332"/>
      </p:ext>
    </p:extLst>
  </p:cSld>
</p:sld>
</file>

<file path=ppt/slides/slide68.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2639735-5753-4BE6-88C5-448DB7A05005}"/>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PF-R09 / RFP 2026.09 · SER-001~004·FUR-001~006 / 4–6</a:t>
            </a:r>
          </a:p>
        </p:txBody>
      </p:sp>
      <p:sp>
        <p:nvSpPr>
          <p:cNvPr id="2" name="">
            <a:extLst xmlns:a="http://schemas.openxmlformats.org/drawingml/2006/main">
              <a:ext uri="{FF2B5EF4-FFF2-40B4-BE49-F238E27FC236}">
                <a16:creationId xmlns:a16="http://schemas.microsoft.com/office/drawing/2014/main" id="{5FBF34AB-E9E7-43D3-8111-EC17599DD269}"/>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석유공사 업무 AI · RFP 요구사항</a:t>
            </a:r>
          </a:p>
        </p:txBody>
      </p:sp>
      <p:sp>
        <p:nvSpPr>
          <p:cNvPr id="3" name="">
            <a:extLst xmlns:a="http://schemas.openxmlformats.org/drawingml/2006/main">
              <a:ext uri="{FF2B5EF4-FFF2-40B4-BE49-F238E27FC236}">
                <a16:creationId xmlns:a16="http://schemas.microsoft.com/office/drawing/2014/main" id="{4BF17638-3878-40B9-9A17-DC75C4D5E643}"/>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C4E35AB-9337-4825-82C2-E4E247D2953F}"/>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5DA78ACA-984E-4AC8-823F-AA210633EBBD}"/>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68</a:t>
            </a:r>
          </a:p>
        </p:txBody>
      </p:sp>
      <p:sp>
        <p:nvSpPr>
          <p:cNvPr id="6" name="">
            <a:extLst xmlns:a="http://schemas.openxmlformats.org/drawingml/2006/main">
              <a:ext uri="{FF2B5EF4-FFF2-40B4-BE49-F238E27FC236}">
                <a16:creationId xmlns:a16="http://schemas.microsoft.com/office/drawing/2014/main" id="{B3717EEA-FF9D-40B8-A739-DFB8B2DE8187}"/>
              </a:ext>
            </a:extLst>
          </p:cNvPr>
          <p:cNvSpPr>
            <a:spLocks xmlns:a="http://schemas.openxmlformats.org/drawingml/2006/main" noGrp="1"/>
          </p:cNvSpPr>
          <p:nvPr/>
        </p:nvSpPr>
        <p:spPr>
          <a:xfrm xmlns:a="http://schemas.openxmlformats.org/drawingml/2006/main">
            <a:off x="571500" y="167640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9840320-C0CC-429D-8D04-A107FA643EAB}"/>
              </a:ext>
            </a:extLst>
          </p:cNvPr>
          <p:cNvSpPr>
            <a:spLocks xmlns:a="http://schemas.openxmlformats.org/drawingml/2006/main" noGrp="1"/>
          </p:cNvSpPr>
          <p:nvPr/>
        </p:nvSpPr>
        <p:spPr>
          <a:xfrm xmlns:a="http://schemas.openxmlformats.org/drawingml/2006/main">
            <a:off x="571500" y="1752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SER-004 응용 서비스 공통</a:t>
            </a:r>
          </a:p>
        </p:txBody>
      </p:sp>
      <p:sp>
        <p:nvSpPr>
          <p:cNvPr id="8" name="">
            <a:extLst xmlns:a="http://schemas.openxmlformats.org/drawingml/2006/main">
              <a:ext uri="{FF2B5EF4-FFF2-40B4-BE49-F238E27FC236}">
                <a16:creationId xmlns:a16="http://schemas.microsoft.com/office/drawing/2014/main" id="{944FF1D7-316A-4C26-A517-54EB50EFA0BD}"/>
              </a:ext>
            </a:extLst>
          </p:cNvPr>
          <p:cNvSpPr>
            <a:spLocks xmlns:a="http://schemas.openxmlformats.org/drawingml/2006/main" noGrp="1"/>
          </p:cNvSpPr>
          <p:nvPr/>
        </p:nvSpPr>
        <p:spPr>
          <a:xfrm xmlns:a="http://schemas.openxmlformats.org/drawingml/2006/main">
            <a:off x="571500" y="21336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업무 응용서비스에 공통 적용할 기능과 운영 기준 구성.</a:t>
            </a:r>
          </a:p>
        </p:txBody>
      </p:sp>
      <p:sp>
        <p:nvSpPr>
          <p:cNvPr id="9" name="">
            <a:extLst xmlns:a="http://schemas.openxmlformats.org/drawingml/2006/main">
              <a:ext uri="{FF2B5EF4-FFF2-40B4-BE49-F238E27FC236}">
                <a16:creationId xmlns:a16="http://schemas.microsoft.com/office/drawing/2014/main" id="{966BB003-022A-4417-9A82-CA99D80AA830}"/>
              </a:ext>
            </a:extLst>
          </p:cNvPr>
          <p:cNvSpPr>
            <a:spLocks xmlns:a="http://schemas.openxmlformats.org/drawingml/2006/main" noGrp="1"/>
          </p:cNvSpPr>
          <p:nvPr/>
        </p:nvSpPr>
        <p:spPr>
          <a:xfrm xmlns:a="http://schemas.openxmlformats.org/drawingml/2006/main">
            <a:off x="6334125" y="213360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C05 · C08 · C12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개별 서비스 추가 시 공통 인증·통제·운영 기록 적용의 누락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점검</a:t>
            </a:r>
          </a:p>
        </p:txBody>
      </p:sp>
      <p:sp>
        <p:nvSpPr>
          <p:cNvPr id="10" name="">
            <a:extLst xmlns:a="http://schemas.openxmlformats.org/drawingml/2006/main">
              <a:ext uri="{FF2B5EF4-FFF2-40B4-BE49-F238E27FC236}">
                <a16:creationId xmlns:a16="http://schemas.microsoft.com/office/drawing/2014/main" id="{E5AA02CD-AD33-4DAC-AABA-76D0CAAC0155}"/>
              </a:ext>
            </a:extLst>
          </p:cNvPr>
          <p:cNvSpPr>
            <a:spLocks xmlns:a="http://schemas.openxmlformats.org/drawingml/2006/main" noGrp="1"/>
          </p:cNvSpPr>
          <p:nvPr/>
        </p:nvSpPr>
        <p:spPr>
          <a:xfrm xmlns:a="http://schemas.openxmlformats.org/drawingml/2006/main">
            <a:off x="571500" y="3133725"/>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77F8962-A906-49FA-9F76-9461F4B36617}"/>
              </a:ext>
            </a:extLst>
          </p:cNvPr>
          <p:cNvSpPr>
            <a:spLocks xmlns:a="http://schemas.openxmlformats.org/drawingml/2006/main" noGrp="1"/>
          </p:cNvSpPr>
          <p:nvPr/>
        </p:nvSpPr>
        <p:spPr>
          <a:xfrm xmlns:a="http://schemas.openxmlformats.org/drawingml/2006/main">
            <a:off x="571500" y="32099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FUR-001 [일반행정] 인사·복지 AI 서비스</a:t>
            </a:r>
          </a:p>
        </p:txBody>
      </p:sp>
      <p:sp>
        <p:nvSpPr>
          <p:cNvPr id="12" name="">
            <a:extLst xmlns:a="http://schemas.openxmlformats.org/drawingml/2006/main">
              <a:ext uri="{FF2B5EF4-FFF2-40B4-BE49-F238E27FC236}">
                <a16:creationId xmlns:a16="http://schemas.microsoft.com/office/drawing/2014/main" id="{584DE61A-DF3E-4093-AEA3-7FFC6151A39C}"/>
              </a:ext>
            </a:extLst>
          </p:cNvPr>
          <p:cNvSpPr>
            <a:spLocks xmlns:a="http://schemas.openxmlformats.org/drawingml/2006/main" noGrp="1"/>
          </p:cNvSpPr>
          <p:nvPr/>
        </p:nvSpPr>
        <p:spPr>
          <a:xfrm xmlns:a="http://schemas.openxmlformats.org/drawingml/2006/main">
            <a:off x="571500" y="35909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인사·복지 규정과 업무 지식을 활용한 직원 지원.</a:t>
            </a:r>
          </a:p>
        </p:txBody>
      </p:sp>
      <p:sp>
        <p:nvSpPr>
          <p:cNvPr id="13" name="">
            <a:extLst xmlns:a="http://schemas.openxmlformats.org/drawingml/2006/main">
              <a:ext uri="{FF2B5EF4-FFF2-40B4-BE49-F238E27FC236}">
                <a16:creationId xmlns:a16="http://schemas.microsoft.com/office/drawing/2014/main" id="{AD5DBBFF-C19E-4213-AED5-A580232B2353}"/>
              </a:ext>
            </a:extLst>
          </p:cNvPr>
          <p:cNvSpPr>
            <a:spLocks xmlns:a="http://schemas.openxmlformats.org/drawingml/2006/main" noGrp="1"/>
          </p:cNvSpPr>
          <p:nvPr/>
        </p:nvSpPr>
        <p:spPr>
          <a:xfrm xmlns:a="http://schemas.openxmlformats.org/drawingml/2006/main">
            <a:off x="6334125" y="359092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C02 · C03 · C06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근무 조건·시행일·예외 조항이 다른 질문의 근거 선택 비교</a:t>
            </a:r>
          </a:p>
        </p:txBody>
      </p:sp>
      <p:sp>
        <p:nvSpPr>
          <p:cNvPr id="14" name="">
            <a:extLst xmlns:a="http://schemas.openxmlformats.org/drawingml/2006/main">
              <a:ext uri="{FF2B5EF4-FFF2-40B4-BE49-F238E27FC236}">
                <a16:creationId xmlns:a16="http://schemas.microsoft.com/office/drawing/2014/main" id="{955C0D57-666E-4123-AD19-497AFAFD9634}"/>
              </a:ext>
            </a:extLst>
          </p:cNvPr>
          <p:cNvSpPr>
            <a:spLocks xmlns:a="http://schemas.openxmlformats.org/drawingml/2006/main" noGrp="1"/>
          </p:cNvSpPr>
          <p:nvPr/>
        </p:nvSpPr>
        <p:spPr>
          <a:xfrm xmlns:a="http://schemas.openxmlformats.org/drawingml/2006/main">
            <a:off x="571500" y="45910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FAEB351-C2E0-4E4A-8706-4C56534397A5}"/>
              </a:ext>
            </a:extLst>
          </p:cNvPr>
          <p:cNvSpPr>
            <a:spLocks xmlns:a="http://schemas.openxmlformats.org/drawingml/2006/main" noGrp="1"/>
          </p:cNvSpPr>
          <p:nvPr/>
        </p:nvSpPr>
        <p:spPr>
          <a:xfrm xmlns:a="http://schemas.openxmlformats.org/drawingml/2006/main">
            <a:off x="571500" y="46672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FUR-002 [안전관리] 안전관리 AI 서비스</a:t>
            </a:r>
          </a:p>
        </p:txBody>
      </p:sp>
      <p:sp>
        <p:nvSpPr>
          <p:cNvPr id="16" name="">
            <a:extLst xmlns:a="http://schemas.openxmlformats.org/drawingml/2006/main">
              <a:ext uri="{FF2B5EF4-FFF2-40B4-BE49-F238E27FC236}">
                <a16:creationId xmlns:a16="http://schemas.microsoft.com/office/drawing/2014/main" id="{50ED415D-D2F7-4EA0-9027-A03A1A7F8A91}"/>
              </a:ext>
            </a:extLst>
          </p:cNvPr>
          <p:cNvSpPr>
            <a:spLocks xmlns:a="http://schemas.openxmlformats.org/drawingml/2006/main" noGrp="1"/>
          </p:cNvSpPr>
          <p:nvPr/>
        </p:nvSpPr>
        <p:spPr>
          <a:xfrm xmlns:a="http://schemas.openxmlformats.org/drawingml/2006/main">
            <a:off x="571500" y="504825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안전 분야 자료를 활용한 업무 지원.</a:t>
            </a:r>
          </a:p>
        </p:txBody>
      </p:sp>
      <p:sp>
        <p:nvSpPr>
          <p:cNvPr id="17" name="">
            <a:extLst xmlns:a="http://schemas.openxmlformats.org/drawingml/2006/main">
              <a:ext uri="{FF2B5EF4-FFF2-40B4-BE49-F238E27FC236}">
                <a16:creationId xmlns:a16="http://schemas.microsoft.com/office/drawing/2014/main" id="{EF05F10A-34F5-4B28-B133-6AFACE551CC3}"/>
              </a:ext>
            </a:extLst>
          </p:cNvPr>
          <p:cNvSpPr>
            <a:spLocks xmlns:a="http://schemas.openxmlformats.org/drawingml/2006/main" noGrp="1"/>
          </p:cNvSpPr>
          <p:nvPr/>
        </p:nvSpPr>
        <p:spPr>
          <a:xfrm xmlns:a="http://schemas.openxmlformats.org/drawingml/2006/main">
            <a:off x="6334125" y="504825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C03 · C04 · C05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현장 조건과 적용 기준의 불일치·필수 조치 누락을 포함한 검</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토 평가</a:t>
            </a:r>
          </a:p>
        </p:txBody>
      </p:sp>
    </p:spTree>
    <p:extLst>
      <p:ext uri="{BB962C8B-B14F-4D97-AF65-F5344CB8AC3E}">
        <p14:creationId xmlns:p14="http://schemas.microsoft.com/office/powerpoint/2010/main" val="181584316"/>
      </p:ext>
    </p:extLst>
  </p:cSld>
</p:sld>
</file>

<file path=ppt/slides/slide69.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6CC7D51-1E49-4708-A280-FAB0834A67FD}"/>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PF-R09 / RFP 2026.09 · SER-001~004·FUR-001~006 / 7–9</a:t>
            </a:r>
          </a:p>
        </p:txBody>
      </p:sp>
      <p:sp>
        <p:nvSpPr>
          <p:cNvPr id="2" name="">
            <a:extLst xmlns:a="http://schemas.openxmlformats.org/drawingml/2006/main">
              <a:ext uri="{FF2B5EF4-FFF2-40B4-BE49-F238E27FC236}">
                <a16:creationId xmlns:a16="http://schemas.microsoft.com/office/drawing/2014/main" id="{A71CFA07-0991-4DDD-941F-5BCA41639318}"/>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석유공사 업무 AI · RFP 요구사항</a:t>
            </a:r>
          </a:p>
        </p:txBody>
      </p:sp>
      <p:sp>
        <p:nvSpPr>
          <p:cNvPr id="3" name="">
            <a:extLst xmlns:a="http://schemas.openxmlformats.org/drawingml/2006/main">
              <a:ext uri="{FF2B5EF4-FFF2-40B4-BE49-F238E27FC236}">
                <a16:creationId xmlns:a16="http://schemas.microsoft.com/office/drawing/2014/main" id="{476BFDA6-D735-48A5-8DBF-8612DDD25904}"/>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1D7A9AE-4809-407E-B38E-6C68AF59A761}"/>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AF70F20E-44C3-4064-843B-09292BECEC50}"/>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69</a:t>
            </a:r>
          </a:p>
        </p:txBody>
      </p:sp>
      <p:sp>
        <p:nvSpPr>
          <p:cNvPr id="6" name="">
            <a:extLst xmlns:a="http://schemas.openxmlformats.org/drawingml/2006/main">
              <a:ext uri="{FF2B5EF4-FFF2-40B4-BE49-F238E27FC236}">
                <a16:creationId xmlns:a16="http://schemas.microsoft.com/office/drawing/2014/main" id="{B2945598-494F-4D3D-86DA-00011E286F3B}"/>
              </a:ext>
            </a:extLst>
          </p:cNvPr>
          <p:cNvSpPr>
            <a:spLocks xmlns:a="http://schemas.openxmlformats.org/drawingml/2006/main" noGrp="1"/>
          </p:cNvSpPr>
          <p:nvPr/>
        </p:nvSpPr>
        <p:spPr>
          <a:xfrm xmlns:a="http://schemas.openxmlformats.org/drawingml/2006/main">
            <a:off x="571500" y="167640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2A84A0B-43F1-4B0F-84A3-63351BE4638D}"/>
              </a:ext>
            </a:extLst>
          </p:cNvPr>
          <p:cNvSpPr>
            <a:spLocks xmlns:a="http://schemas.openxmlformats.org/drawingml/2006/main" noGrp="1"/>
          </p:cNvSpPr>
          <p:nvPr/>
        </p:nvSpPr>
        <p:spPr>
          <a:xfrm xmlns:a="http://schemas.openxmlformats.org/drawingml/2006/main">
            <a:off x="571500" y="1752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FUR-003 [석유개발] 석유 시추 정보 AI 서비스</a:t>
            </a:r>
          </a:p>
        </p:txBody>
      </p:sp>
      <p:sp>
        <p:nvSpPr>
          <p:cNvPr id="8" name="">
            <a:extLst xmlns:a="http://schemas.openxmlformats.org/drawingml/2006/main">
              <a:ext uri="{FF2B5EF4-FFF2-40B4-BE49-F238E27FC236}">
                <a16:creationId xmlns:a16="http://schemas.microsoft.com/office/drawing/2014/main" id="{E35BA6FE-9722-4324-92D5-DA7695A4B320}"/>
              </a:ext>
            </a:extLst>
          </p:cNvPr>
          <p:cNvSpPr>
            <a:spLocks xmlns:a="http://schemas.openxmlformats.org/drawingml/2006/main" noGrp="1"/>
          </p:cNvSpPr>
          <p:nvPr/>
        </p:nvSpPr>
        <p:spPr>
          <a:xfrm xmlns:a="http://schemas.openxmlformats.org/drawingml/2006/main">
            <a:off x="571500" y="21336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시추 분야 자료와 전문 지식의 업무 활용.</a:t>
            </a:r>
          </a:p>
        </p:txBody>
      </p:sp>
      <p:sp>
        <p:nvSpPr>
          <p:cNvPr id="9" name="">
            <a:extLst xmlns:a="http://schemas.openxmlformats.org/drawingml/2006/main">
              <a:ext uri="{FF2B5EF4-FFF2-40B4-BE49-F238E27FC236}">
                <a16:creationId xmlns:a16="http://schemas.microsoft.com/office/drawing/2014/main" id="{5C12DCFD-F682-4E4B-9DBC-1F408A538453}"/>
              </a:ext>
            </a:extLst>
          </p:cNvPr>
          <p:cNvSpPr>
            <a:spLocks xmlns:a="http://schemas.openxmlformats.org/drawingml/2006/main" noGrp="1"/>
          </p:cNvSpPr>
          <p:nvPr/>
        </p:nvSpPr>
        <p:spPr>
          <a:xfrm xmlns:a="http://schemas.openxmlformats.org/drawingml/2006/main">
            <a:off x="6334125" y="213360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C03 · C04 · C06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전문 용어·설비 조건·단위 오류와 출처 없는 추론의 구분 평가</a:t>
            </a:r>
          </a:p>
        </p:txBody>
      </p:sp>
      <p:sp>
        <p:nvSpPr>
          <p:cNvPr id="10" name="">
            <a:extLst xmlns:a="http://schemas.openxmlformats.org/drawingml/2006/main">
              <a:ext uri="{FF2B5EF4-FFF2-40B4-BE49-F238E27FC236}">
                <a16:creationId xmlns:a16="http://schemas.microsoft.com/office/drawing/2014/main" id="{D6C6ADB4-DF8B-4CCB-ACB0-351597435ABE}"/>
              </a:ext>
            </a:extLst>
          </p:cNvPr>
          <p:cNvSpPr>
            <a:spLocks xmlns:a="http://schemas.openxmlformats.org/drawingml/2006/main" noGrp="1"/>
          </p:cNvSpPr>
          <p:nvPr/>
        </p:nvSpPr>
        <p:spPr>
          <a:xfrm xmlns:a="http://schemas.openxmlformats.org/drawingml/2006/main">
            <a:off x="571500" y="3133725"/>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9A680A6-E4A9-4872-865F-CD5CDA406AE3}"/>
              </a:ext>
            </a:extLst>
          </p:cNvPr>
          <p:cNvSpPr>
            <a:spLocks xmlns:a="http://schemas.openxmlformats.org/drawingml/2006/main" noGrp="1"/>
          </p:cNvSpPr>
          <p:nvPr/>
        </p:nvSpPr>
        <p:spPr>
          <a:xfrm xmlns:a="http://schemas.openxmlformats.org/drawingml/2006/main">
            <a:off x="571500" y="32099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FUR-004 [석유개발] 석유 지질 정보 AI 서비스</a:t>
            </a:r>
          </a:p>
        </p:txBody>
      </p:sp>
      <p:sp>
        <p:nvSpPr>
          <p:cNvPr id="12" name="">
            <a:extLst xmlns:a="http://schemas.openxmlformats.org/drawingml/2006/main">
              <a:ext uri="{FF2B5EF4-FFF2-40B4-BE49-F238E27FC236}">
                <a16:creationId xmlns:a16="http://schemas.microsoft.com/office/drawing/2014/main" id="{A012AE34-6EBF-4D16-B81D-4F28A46CA624}"/>
              </a:ext>
            </a:extLst>
          </p:cNvPr>
          <p:cNvSpPr>
            <a:spLocks xmlns:a="http://schemas.openxmlformats.org/drawingml/2006/main" noGrp="1"/>
          </p:cNvSpPr>
          <p:nvPr/>
        </p:nvSpPr>
        <p:spPr>
          <a:xfrm xmlns:a="http://schemas.openxmlformats.org/drawingml/2006/main">
            <a:off x="571500" y="35909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지질 자료와 분석 업무의 AI 지원.</a:t>
            </a:r>
          </a:p>
        </p:txBody>
      </p:sp>
      <p:sp>
        <p:nvSpPr>
          <p:cNvPr id="13" name="">
            <a:extLst xmlns:a="http://schemas.openxmlformats.org/drawingml/2006/main">
              <a:ext uri="{FF2B5EF4-FFF2-40B4-BE49-F238E27FC236}">
                <a16:creationId xmlns:a16="http://schemas.microsoft.com/office/drawing/2014/main" id="{607495AB-72C7-4319-A21E-55F7C9DA7EDD}"/>
              </a:ext>
            </a:extLst>
          </p:cNvPr>
          <p:cNvSpPr>
            <a:spLocks xmlns:a="http://schemas.openxmlformats.org/drawingml/2006/main" noGrp="1"/>
          </p:cNvSpPr>
          <p:nvPr/>
        </p:nvSpPr>
        <p:spPr>
          <a:xfrm xmlns:a="http://schemas.openxmlformats.org/drawingml/2006/main">
            <a:off x="6334125" y="359092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C03 · C04 · C06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서로 다른 지역·시기 자료의 혼용과 전문 수치·그림 근거 연결</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 확인</a:t>
            </a:r>
          </a:p>
        </p:txBody>
      </p:sp>
      <p:sp>
        <p:nvSpPr>
          <p:cNvPr id="14" name="">
            <a:extLst xmlns:a="http://schemas.openxmlformats.org/drawingml/2006/main">
              <a:ext uri="{FF2B5EF4-FFF2-40B4-BE49-F238E27FC236}">
                <a16:creationId xmlns:a16="http://schemas.microsoft.com/office/drawing/2014/main" id="{1B919EC0-574A-42FA-B72B-6C22776792E3}"/>
              </a:ext>
            </a:extLst>
          </p:cNvPr>
          <p:cNvSpPr>
            <a:spLocks xmlns:a="http://schemas.openxmlformats.org/drawingml/2006/main" noGrp="1"/>
          </p:cNvSpPr>
          <p:nvPr/>
        </p:nvSpPr>
        <p:spPr>
          <a:xfrm xmlns:a="http://schemas.openxmlformats.org/drawingml/2006/main">
            <a:off x="571500" y="45910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347EB96-B6A7-49A4-BEA4-7C7E7CC03CC7}"/>
              </a:ext>
            </a:extLst>
          </p:cNvPr>
          <p:cNvSpPr>
            <a:spLocks xmlns:a="http://schemas.openxmlformats.org/drawingml/2006/main" noGrp="1"/>
          </p:cNvSpPr>
          <p:nvPr/>
        </p:nvSpPr>
        <p:spPr>
          <a:xfrm xmlns:a="http://schemas.openxmlformats.org/drawingml/2006/main">
            <a:off x="571500" y="46672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FUR-005 [석유비축] 비축설비 정비·운영 AI 서비스</a:t>
            </a:r>
          </a:p>
        </p:txBody>
      </p:sp>
      <p:sp>
        <p:nvSpPr>
          <p:cNvPr id="16" name="">
            <a:extLst xmlns:a="http://schemas.openxmlformats.org/drawingml/2006/main">
              <a:ext uri="{FF2B5EF4-FFF2-40B4-BE49-F238E27FC236}">
                <a16:creationId xmlns:a16="http://schemas.microsoft.com/office/drawing/2014/main" id="{2B1FB0A8-1722-481E-BEBF-3FEEA644EC31}"/>
              </a:ext>
            </a:extLst>
          </p:cNvPr>
          <p:cNvSpPr>
            <a:spLocks xmlns:a="http://schemas.openxmlformats.org/drawingml/2006/main" noGrp="1"/>
          </p:cNvSpPr>
          <p:nvPr/>
        </p:nvSpPr>
        <p:spPr>
          <a:xfrm xmlns:a="http://schemas.openxmlformats.org/drawingml/2006/main">
            <a:off x="571500" y="504825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비축설비 관련 자료의 검색·업무 지원.</a:t>
            </a:r>
          </a:p>
        </p:txBody>
      </p:sp>
      <p:sp>
        <p:nvSpPr>
          <p:cNvPr id="17" name="">
            <a:extLst xmlns:a="http://schemas.openxmlformats.org/drawingml/2006/main">
              <a:ext uri="{FF2B5EF4-FFF2-40B4-BE49-F238E27FC236}">
                <a16:creationId xmlns:a16="http://schemas.microsoft.com/office/drawing/2014/main" id="{8FF3BEEA-836D-458C-A8CF-4B152E64A803}"/>
              </a:ext>
            </a:extLst>
          </p:cNvPr>
          <p:cNvSpPr>
            <a:spLocks xmlns:a="http://schemas.openxmlformats.org/drawingml/2006/main" noGrp="1"/>
          </p:cNvSpPr>
          <p:nvPr/>
        </p:nvSpPr>
        <p:spPr>
          <a:xfrm xmlns:a="http://schemas.openxmlformats.org/drawingml/2006/main">
            <a:off x="6334125" y="504825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C03 · C04 · C06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설비 번호·점검 시점·부품 조건이 다른 자료의 구분과 최신 이</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력 확인</a:t>
            </a:r>
          </a:p>
        </p:txBody>
      </p:sp>
    </p:spTree>
    <p:extLst>
      <p:ext uri="{BB962C8B-B14F-4D97-AF65-F5344CB8AC3E}">
        <p14:creationId xmlns:p14="http://schemas.microsoft.com/office/powerpoint/2010/main" val="841569377"/>
      </p:ext>
    </p:extLst>
  </p:cSld>
</p:sld>
</file>

<file path=ppt/slides/slide70.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C0FD67A-5179-4A9A-9159-2C64DFA518C3}"/>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PF-R09 / RFP 2026.09 · SER-001~004·FUR-001~006 / 10–10</a:t>
            </a:r>
          </a:p>
        </p:txBody>
      </p:sp>
      <p:sp>
        <p:nvSpPr>
          <p:cNvPr id="2" name="">
            <a:extLst xmlns:a="http://schemas.openxmlformats.org/drawingml/2006/main">
              <a:ext uri="{FF2B5EF4-FFF2-40B4-BE49-F238E27FC236}">
                <a16:creationId xmlns:a16="http://schemas.microsoft.com/office/drawing/2014/main" id="{626B586B-731E-4509-8147-974512E372E6}"/>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석유공사 업무 AI · RFP 요구사항</a:t>
            </a:r>
          </a:p>
        </p:txBody>
      </p:sp>
      <p:sp>
        <p:nvSpPr>
          <p:cNvPr id="3" name="">
            <a:extLst xmlns:a="http://schemas.openxmlformats.org/drawingml/2006/main">
              <a:ext uri="{FF2B5EF4-FFF2-40B4-BE49-F238E27FC236}">
                <a16:creationId xmlns:a16="http://schemas.microsoft.com/office/drawing/2014/main" id="{11C9AFF8-E6B0-4DCE-AA3D-B7E95A20166C}"/>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66C45AF-7AE7-4BAD-BA64-AB3F4536A983}"/>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10CDCAD8-4203-460F-BA9C-9064AC704300}"/>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70</a:t>
            </a:r>
          </a:p>
        </p:txBody>
      </p:sp>
      <p:sp>
        <p:nvSpPr>
          <p:cNvPr id="6" name="">
            <a:extLst xmlns:a="http://schemas.openxmlformats.org/drawingml/2006/main">
              <a:ext uri="{FF2B5EF4-FFF2-40B4-BE49-F238E27FC236}">
                <a16:creationId xmlns:a16="http://schemas.microsoft.com/office/drawing/2014/main" id="{85AF6EF2-8E2A-4208-ABF5-F79F56695243}"/>
              </a:ext>
            </a:extLst>
          </p:cNvPr>
          <p:cNvSpPr>
            <a:spLocks xmlns:a="http://schemas.openxmlformats.org/drawingml/2006/main" noGrp="1"/>
          </p:cNvSpPr>
          <p:nvPr/>
        </p:nvSpPr>
        <p:spPr>
          <a:xfrm xmlns:a="http://schemas.openxmlformats.org/drawingml/2006/main">
            <a:off x="571500" y="167640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7E1BF2C-964B-4F99-8CFD-793724203255}"/>
              </a:ext>
            </a:extLst>
          </p:cNvPr>
          <p:cNvSpPr>
            <a:spLocks xmlns:a="http://schemas.openxmlformats.org/drawingml/2006/main" noGrp="1"/>
          </p:cNvSpPr>
          <p:nvPr/>
        </p:nvSpPr>
        <p:spPr>
          <a:xfrm xmlns:a="http://schemas.openxmlformats.org/drawingml/2006/main">
            <a:off x="571500" y="1752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FUR-006 [석유정보] 석유시장 보고서 작성 AI 서비스</a:t>
            </a:r>
          </a:p>
        </p:txBody>
      </p:sp>
      <p:sp>
        <p:nvSpPr>
          <p:cNvPr id="8" name="">
            <a:extLst xmlns:a="http://schemas.openxmlformats.org/drawingml/2006/main">
              <a:ext uri="{FF2B5EF4-FFF2-40B4-BE49-F238E27FC236}">
                <a16:creationId xmlns:a16="http://schemas.microsoft.com/office/drawing/2014/main" id="{CA94E6D7-E412-472D-8601-4A318478A163}"/>
              </a:ext>
            </a:extLst>
          </p:cNvPr>
          <p:cNvSpPr>
            <a:spLocks xmlns:a="http://schemas.openxmlformats.org/drawingml/2006/main" noGrp="1"/>
          </p:cNvSpPr>
          <p:nvPr/>
        </p:nvSpPr>
        <p:spPr>
          <a:xfrm xmlns:a="http://schemas.openxmlformats.org/drawingml/2006/main">
            <a:off x="571500" y="21336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시장 자료를 활용한 보고서 작성 지원.</a:t>
            </a:r>
          </a:p>
        </p:txBody>
      </p:sp>
      <p:sp>
        <p:nvSpPr>
          <p:cNvPr id="9" name="">
            <a:extLst xmlns:a="http://schemas.openxmlformats.org/drawingml/2006/main">
              <a:ext uri="{FF2B5EF4-FFF2-40B4-BE49-F238E27FC236}">
                <a16:creationId xmlns:a16="http://schemas.microsoft.com/office/drawing/2014/main" id="{86623A60-9F63-4A1F-BA57-B8D7209801D1}"/>
              </a:ext>
            </a:extLst>
          </p:cNvPr>
          <p:cNvSpPr>
            <a:spLocks xmlns:a="http://schemas.openxmlformats.org/drawingml/2006/main" noGrp="1"/>
          </p:cNvSpPr>
          <p:nvPr/>
        </p:nvSpPr>
        <p:spPr>
          <a:xfrm xmlns:a="http://schemas.openxmlformats.org/drawingml/2006/main">
            <a:off x="6334125" y="213360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C03 · C04 · C06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기준일·통화·단위 혼용, 숫자 인용, 최신 자료 누락의 항목별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점검</a:t>
            </a:r>
          </a:p>
        </p:txBody>
      </p:sp>
    </p:spTree>
    <p:extLst>
      <p:ext uri="{BB962C8B-B14F-4D97-AF65-F5344CB8AC3E}">
        <p14:creationId xmlns:p14="http://schemas.microsoft.com/office/powerpoint/2010/main" val="1935982486"/>
      </p:ext>
    </p:extLst>
  </p:cSld>
</p:sld>
</file>

<file path=ppt/slides/slide71.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E0A7B9A4-1F79-4ECC-AA42-3EAEF9919D0A}"/>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F028450C-78A6-48BB-90B4-45184ED6A142}"/>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F938A0F5-99F9-4E47-B541-EDD6F3C827E6}"/>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77BFE0C9-A46F-4DE6-BDF0-0AD467697380}"/>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A1F6F954-CB9C-4589-8341-FBDD0A60948E}"/>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21F411A9-C5E5-4903-B33C-054712A37A6D}"/>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46A01C95-577D-43BC-B443-9A5263CAA612}"/>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38AA1059-369C-4A1E-954C-5902CBFDDBAB}"/>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335CECE9-7124-44E7-A937-E6D1F9E59110}"/>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5CF82C2F-C380-4C0A-A2E2-BA5CAA466B2F}"/>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PF-R09 / CCK 세부 재구성 · 논리 서비스 설계</a:t>
            </a:r>
          </a:p>
        </p:txBody>
      </p:sp>
      <p:sp>
        <p:nvSpPr>
          <p:cNvPr id="2" name="">
            <a:extLst xmlns:a="http://schemas.openxmlformats.org/drawingml/2006/main">
              <a:ext uri="{FF2B5EF4-FFF2-40B4-BE49-F238E27FC236}">
                <a16:creationId xmlns:a16="http://schemas.microsoft.com/office/drawing/2014/main" id="{DD8B74A3-668D-4756-A5C8-995F666A1899}"/>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석유공사 업무 AI · 세부 서비스 구조</a:t>
            </a:r>
          </a:p>
        </p:txBody>
      </p:sp>
      <p:sp>
        <p:nvSpPr>
          <p:cNvPr id="3" name="">
            <a:extLst xmlns:a="http://schemas.openxmlformats.org/drawingml/2006/main">
              <a:ext uri="{FF2B5EF4-FFF2-40B4-BE49-F238E27FC236}">
                <a16:creationId xmlns:a16="http://schemas.microsoft.com/office/drawing/2014/main" id="{F5C8D67F-1F88-47B2-83B4-83D2C63E06F4}"/>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9D55C2E-8F7D-40D6-BD5E-2EF14A042063}"/>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14D56ADA-2CFC-45FB-9FAE-6BADC8EAA085}"/>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71</a:t>
            </a:r>
          </a:p>
        </p:txBody>
      </p:sp>
      <p:sp>
        <p:nvSpPr>
          <p:cNvPr id="6" name="">
            <a:extLst xmlns:a="http://schemas.openxmlformats.org/drawingml/2006/main">
              <a:ext uri="{FF2B5EF4-FFF2-40B4-BE49-F238E27FC236}">
                <a16:creationId xmlns:a16="http://schemas.microsoft.com/office/drawing/2014/main" id="{69109970-08ED-45F1-B82B-2FBA7810AC4A}"/>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SER-001~004·FUR-001~006</a:t>
            </a:r>
          </a:p>
        </p:txBody>
      </p:sp>
      <p:sp>
        <p:nvSpPr>
          <p:cNvPr id="7" name="">
            <a:extLst xmlns:a="http://schemas.openxmlformats.org/drawingml/2006/main">
              <a:ext uri="{FF2B5EF4-FFF2-40B4-BE49-F238E27FC236}">
                <a16:creationId xmlns:a16="http://schemas.microsoft.com/office/drawing/2014/main" id="{B2B06E1B-4A70-4913-8E55-165CE45B48C7}"/>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71683C58-9F5D-4D97-A4DB-05BDF196ECF9}"/>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0840665D-5C95-4D5A-9738-DB47FB1AD781}"/>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직원·업무 앱</a:t>
            </a:r>
          </a:p>
        </p:txBody>
      </p:sp>
      <p:sp>
        <p:nvSpPr>
          <p:cNvPr id="10" name="">
            <a:extLst xmlns:a="http://schemas.openxmlformats.org/drawingml/2006/main">
              <a:ext uri="{FF2B5EF4-FFF2-40B4-BE49-F238E27FC236}">
                <a16:creationId xmlns:a16="http://schemas.microsoft.com/office/drawing/2014/main" id="{66A0BD22-330A-41E9-949C-4FB490B58B23}"/>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F58D53B0-86DA-4B9C-90E5-1745B88A82A7}"/>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037C1D03-747A-4B6C-945A-BDE5A157D183}"/>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사번·소속·업무</a:t>
            </a:r>
          </a:p>
        </p:txBody>
      </p:sp>
      <p:sp>
        <p:nvSpPr>
          <p:cNvPr id="13" name="">
            <a:extLst xmlns:a="http://schemas.openxmlformats.org/drawingml/2006/main">
              <a:ext uri="{FF2B5EF4-FFF2-40B4-BE49-F238E27FC236}">
                <a16:creationId xmlns:a16="http://schemas.microsoft.com/office/drawing/2014/main" id="{0D5A7396-E8C8-42CE-B21A-7D3B9E3F9394}"/>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A6E6C172-F228-4B8F-BEDF-AA585134A796}"/>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25CE30DC-5E63-4A21-8994-90D74B0D6B46}"/>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도메인 지식 조회</a:t>
            </a:r>
          </a:p>
        </p:txBody>
      </p:sp>
      <p:sp>
        <p:nvSpPr>
          <p:cNvPr id="16" name="">
            <a:extLst xmlns:a="http://schemas.openxmlformats.org/drawingml/2006/main">
              <a:ext uri="{FF2B5EF4-FFF2-40B4-BE49-F238E27FC236}">
                <a16:creationId xmlns:a16="http://schemas.microsoft.com/office/drawing/2014/main" id="{E680B3EE-9AE6-4D7B-AECA-635B82A9A364}"/>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16D0DF63-A347-41EC-9C6E-1CCDA4415871}"/>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1002C139-0FEE-4B2D-902D-87258332F47F}"/>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6개 특화 AI 처리</a:t>
            </a:r>
          </a:p>
        </p:txBody>
      </p:sp>
      <p:sp>
        <p:nvSpPr>
          <p:cNvPr id="19" name="">
            <a:extLst xmlns:a="http://schemas.openxmlformats.org/drawingml/2006/main">
              <a:ext uri="{FF2B5EF4-FFF2-40B4-BE49-F238E27FC236}">
                <a16:creationId xmlns:a16="http://schemas.microsoft.com/office/drawing/2014/main" id="{397A807F-E395-4ABE-A6C8-53989B337353}"/>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8569E464-0F83-4D62-AEAA-3A9B2C0BE379}"/>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1458FA60-110D-4BDE-BF7B-46D4AEC015A5}"/>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권한·근거 대조</a:t>
            </a:r>
          </a:p>
        </p:txBody>
      </p:sp>
      <p:sp>
        <p:nvSpPr>
          <p:cNvPr id="22" name="">
            <a:extLst xmlns:a="http://schemas.openxmlformats.org/drawingml/2006/main">
              <a:ext uri="{FF2B5EF4-FFF2-40B4-BE49-F238E27FC236}">
                <a16:creationId xmlns:a16="http://schemas.microsoft.com/office/drawing/2014/main" id="{B88FCE53-8008-4550-92A9-992E5158FBFE}"/>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5E790ADF-6A1E-4E9E-BD35-DCA438694915}"/>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23A7D1EA-7F90-462C-95E9-89AB429B968D}"/>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현업 승인</a:t>
            </a:r>
          </a:p>
        </p:txBody>
      </p:sp>
      <p:sp>
        <p:nvSpPr>
          <p:cNvPr id="25" name="">
            <a:extLst xmlns:a="http://schemas.openxmlformats.org/drawingml/2006/main">
              <a:ext uri="{FF2B5EF4-FFF2-40B4-BE49-F238E27FC236}">
                <a16:creationId xmlns:a16="http://schemas.microsoft.com/office/drawing/2014/main" id="{B0FADD37-E2C7-4BC8-8679-56A7AEEDBDD9}"/>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3DA28644-D723-4298-8283-0B0F802F7E01}"/>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981C242D-09E0-4BC7-88B7-A664B4139479}"/>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ERP·보고서 연계</a:t>
            </a:r>
          </a:p>
        </p:txBody>
      </p:sp>
      <p:sp>
        <p:nvSpPr>
          <p:cNvPr id="28" name="">
            <a:extLst xmlns:a="http://schemas.openxmlformats.org/drawingml/2006/main">
              <a:ext uri="{FF2B5EF4-FFF2-40B4-BE49-F238E27FC236}">
                <a16:creationId xmlns:a16="http://schemas.microsoft.com/office/drawing/2014/main" id="{D1569764-2DCA-42A5-9374-A87854C8E102}"/>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ADF4516F-6404-4119-9081-FAFE6370D137}"/>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F1B98039-95F6-4659-ABA9-F91BBC9DAA2E}"/>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도메인별 평가</a:t>
            </a:r>
          </a:p>
        </p:txBody>
      </p:sp>
      <p:sp>
        <p:nvSpPr>
          <p:cNvPr id="31" name="">
            <a:extLst xmlns:a="http://schemas.openxmlformats.org/drawingml/2006/main">
              <a:ext uri="{FF2B5EF4-FFF2-40B4-BE49-F238E27FC236}">
                <a16:creationId xmlns:a16="http://schemas.microsoft.com/office/drawing/2014/main" id="{553579D4-749E-4598-B0FF-BBBE38561347}"/>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E6470704-D34E-4B90-8935-91DA8A159880}"/>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15B6224E-F7D3-4339-88D8-1D623BE72B02}"/>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시추·설비·규정</a:t>
            </a:r>
          </a:p>
        </p:txBody>
      </p:sp>
      <p:sp>
        <p:nvSpPr>
          <p:cNvPr id="34" name="">
            <a:extLst xmlns:a="http://schemas.openxmlformats.org/drawingml/2006/main">
              <a:ext uri="{FF2B5EF4-FFF2-40B4-BE49-F238E27FC236}">
                <a16:creationId xmlns:a16="http://schemas.microsoft.com/office/drawing/2014/main" id="{44E0EE0F-90DA-4A78-839E-2A6E720D7736}"/>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BD2E4143-4FBD-464E-A089-2448D06EBD8C}"/>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15C0EE27-BEDD-4AEB-8965-2B250234FF27}"/>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업무별 자료 정합화</a:t>
            </a:r>
          </a:p>
        </p:txBody>
      </p:sp>
      <p:sp>
        <p:nvSpPr>
          <p:cNvPr id="37" name="">
            <a:extLst xmlns:a="http://schemas.openxmlformats.org/drawingml/2006/main">
              <a:ext uri="{FF2B5EF4-FFF2-40B4-BE49-F238E27FC236}">
                <a16:creationId xmlns:a16="http://schemas.microsoft.com/office/drawing/2014/main" id="{085306EA-634A-42E0-8018-DA9C0CC12B9C}"/>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D11010FB-B5DB-401B-83B7-3EEBD3961CCE}"/>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8769B785-1AB8-4F44-9947-1267182359CA}"/>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도메인 RAG 색인</a:t>
            </a:r>
          </a:p>
        </p:txBody>
      </p:sp>
      <p:sp>
        <p:nvSpPr>
          <p:cNvPr id="40" name="">
            <a:extLst xmlns:a="http://schemas.openxmlformats.org/drawingml/2006/main">
              <a:ext uri="{FF2B5EF4-FFF2-40B4-BE49-F238E27FC236}">
                <a16:creationId xmlns:a16="http://schemas.microsoft.com/office/drawing/2014/main" id="{E0179176-5A1C-4AD2-BD02-309CA73EEACE}"/>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D5B966E6-01E9-4D9A-B27E-BB6FEA58D30D}"/>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C62E5E1F-B44F-4304-8A12-BDDC08862335}"/>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문서·ERP 권한</a:t>
            </a:r>
          </a:p>
        </p:txBody>
      </p:sp>
      <p:sp>
        <p:nvSpPr>
          <p:cNvPr id="52" name="">
            <a:extLst xmlns:a="http://schemas.openxmlformats.org/drawingml/2006/main">
              <a:ext uri="{FF2B5EF4-FFF2-40B4-BE49-F238E27FC236}">
                <a16:creationId xmlns:a16="http://schemas.microsoft.com/office/drawing/2014/main" id="{0B7C8824-718C-4D44-BE16-1025B43EE6FD}"/>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362187945"/>
      </p:ext>
    </p:extLst>
  </p:cSld>
</p:sld>
</file>

<file path=ppt/slides/slide7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8A9ACCC7-6514-4E67-A04D-F959B34784AE}"/>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PF-R09 / 논리 인터페이스·복구 설계</a:t>
            </a:r>
          </a:p>
        </p:txBody>
      </p:sp>
      <p:sp>
        <p:nvSpPr>
          <p:cNvPr id="2" name="">
            <a:extLst xmlns:a="http://schemas.openxmlformats.org/drawingml/2006/main">
              <a:ext uri="{FF2B5EF4-FFF2-40B4-BE49-F238E27FC236}">
                <a16:creationId xmlns:a16="http://schemas.microsoft.com/office/drawing/2014/main" id="{85DAD588-FF40-4109-9AD2-B9907981EC68}"/>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석유공사 업무 AI · 데이터와 예외 처리</a:t>
            </a:r>
          </a:p>
        </p:txBody>
      </p:sp>
      <p:sp>
        <p:nvSpPr>
          <p:cNvPr id="3" name="">
            <a:extLst xmlns:a="http://schemas.openxmlformats.org/drawingml/2006/main">
              <a:ext uri="{FF2B5EF4-FFF2-40B4-BE49-F238E27FC236}">
                <a16:creationId xmlns:a16="http://schemas.microsoft.com/office/drawing/2014/main" id="{F1DDC290-9295-4AD8-B889-6C8FD250F5CB}"/>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174D65B-E121-44DD-A502-8D9D8684BB5C}"/>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5121AE1C-E8FF-4F31-9CE8-1A4550D23214}"/>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72</a:t>
            </a:r>
          </a:p>
        </p:txBody>
      </p:sp>
      <p:sp>
        <p:nvSpPr>
          <p:cNvPr id="6" name="">
            <a:extLst xmlns:a="http://schemas.openxmlformats.org/drawingml/2006/main">
              <a:ext uri="{FF2B5EF4-FFF2-40B4-BE49-F238E27FC236}">
                <a16:creationId xmlns:a16="http://schemas.microsoft.com/office/drawing/2014/main" id="{2E71A7D7-8A15-4F84-9915-F185FFEB8974}"/>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B0D9891F-9E66-4162-A9AB-98851EDEE126}"/>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02F491E5-1E21-4E0D-9458-B0533ACFF1E1}"/>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DF7E112F-3E61-49C9-99B0-50E2829D8607}"/>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사번·소속·직급·업무분장 기반 접근 판정</a:t>
            </a:r>
          </a:p>
        </p:txBody>
      </p:sp>
      <p:sp>
        <p:nvSpPr>
          <p:cNvPr id="10" name="">
            <a:extLst xmlns:a="http://schemas.openxmlformats.org/drawingml/2006/main">
              <a:ext uri="{FF2B5EF4-FFF2-40B4-BE49-F238E27FC236}">
                <a16:creationId xmlns:a16="http://schemas.microsoft.com/office/drawing/2014/main" id="{1FB90C76-6BD8-4BDE-B9CF-72CB876C0AD0}"/>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1B1C435-D790-417B-ABAF-8976FAEDBFC1}"/>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0FBB9E41-CCF3-4A9B-B4E0-0112E607BF3D}"/>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업무 목적</a:t>
            </a:r>
          </a:p>
        </p:txBody>
      </p:sp>
      <p:sp>
        <p:nvSpPr>
          <p:cNvPr id="13" name="">
            <a:extLst xmlns:a="http://schemas.openxmlformats.org/drawingml/2006/main">
              <a:ext uri="{FF2B5EF4-FFF2-40B4-BE49-F238E27FC236}">
                <a16:creationId xmlns:a16="http://schemas.microsoft.com/office/drawing/2014/main" id="{D4CDAF6E-3466-4A6A-A1E0-EE220C275AA6}"/>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AC3D131-224C-4300-86E0-6D8E651A89D3}"/>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063ABFBD-ACFE-40A3-BB25-3CC4FBB58026}"/>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도메인 근거</a:t>
            </a:r>
          </a:p>
        </p:txBody>
      </p:sp>
      <p:sp>
        <p:nvSpPr>
          <p:cNvPr id="16" name="">
            <a:extLst xmlns:a="http://schemas.openxmlformats.org/drawingml/2006/main">
              <a:ext uri="{FF2B5EF4-FFF2-40B4-BE49-F238E27FC236}">
                <a16:creationId xmlns:a16="http://schemas.microsoft.com/office/drawing/2014/main" id="{820A796F-AD53-4C98-84FC-F9E9E7F04FFD}"/>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792393E-1E11-415D-BE92-6F4457B004B3}"/>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682A1F89-8F4A-49CE-95AB-7AF72FB258E4}"/>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검토 초안</a:t>
            </a:r>
          </a:p>
        </p:txBody>
      </p:sp>
      <p:sp>
        <p:nvSpPr>
          <p:cNvPr id="19" name="">
            <a:extLst xmlns:a="http://schemas.openxmlformats.org/drawingml/2006/main">
              <a:ext uri="{FF2B5EF4-FFF2-40B4-BE49-F238E27FC236}">
                <a16:creationId xmlns:a16="http://schemas.microsoft.com/office/drawing/2014/main" id="{403F06C0-ED68-4F55-890D-37C54CEBA159}"/>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01D77B9-C05B-4167-B874-08C6AA9E57C4}"/>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0CF5096A-C4B6-4F80-A606-B038DD3D0017}"/>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검토 초안</a:t>
            </a:r>
          </a:p>
        </p:txBody>
      </p:sp>
      <p:sp>
        <p:nvSpPr>
          <p:cNvPr id="22" name="">
            <a:extLst xmlns:a="http://schemas.openxmlformats.org/drawingml/2006/main">
              <a:ext uri="{FF2B5EF4-FFF2-40B4-BE49-F238E27FC236}">
                <a16:creationId xmlns:a16="http://schemas.microsoft.com/office/drawing/2014/main" id="{7ACD54F1-A35C-453F-A7D5-0375D4882AA2}"/>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BD7155F-1FB0-4FE4-A069-6FB1A3993513}"/>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5D25EFFC-FD41-4DE5-82C4-DB78AB127CE2}"/>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공식 업무 처리</a:t>
            </a:r>
          </a:p>
        </p:txBody>
      </p:sp>
      <p:sp>
        <p:nvSpPr>
          <p:cNvPr id="25" name="">
            <a:extLst xmlns:a="http://schemas.openxmlformats.org/drawingml/2006/main">
              <a:ext uri="{FF2B5EF4-FFF2-40B4-BE49-F238E27FC236}">
                <a16:creationId xmlns:a16="http://schemas.microsoft.com/office/drawing/2014/main" id="{EA5F0CA5-8267-4655-853E-56991FFC5D52}"/>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205F1D43-6651-48B3-8277-FA3A0E8DF523}"/>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직급·근속 변경·다른 도메인 자료·시추 원문 누락</a:t>
            </a:r>
          </a:p>
        </p:txBody>
      </p:sp>
      <p:sp>
        <p:nvSpPr>
          <p:cNvPr id="27" name="">
            <a:extLst xmlns:a="http://schemas.openxmlformats.org/drawingml/2006/main">
              <a:ext uri="{FF2B5EF4-FFF2-40B4-BE49-F238E27FC236}">
                <a16:creationId xmlns:a16="http://schemas.microsoft.com/office/drawing/2014/main" id="{4D68E1A3-2198-4FC6-8695-021FCE884EC4}"/>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AB066032-5FA4-456F-9920-2B7978248D72}"/>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도메인 경계·현업 승인·결과 대사</a:t>
            </a:r>
          </a:p>
        </p:txBody>
      </p:sp>
      <p:sp>
        <p:nvSpPr>
          <p:cNvPr id="29" name="">
            <a:extLst xmlns:a="http://schemas.openxmlformats.org/drawingml/2006/main">
              <a:ext uri="{FF2B5EF4-FFF2-40B4-BE49-F238E27FC236}">
                <a16:creationId xmlns:a16="http://schemas.microsoft.com/office/drawing/2014/main" id="{31EF9117-FBDE-4A34-A42B-1A4756BE23D6}"/>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B68CEB12-E17A-49FC-B89E-46BBBC65D541}"/>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권한 변경 이력·도메인 평가·업무별 운영 관리</a:t>
            </a:r>
          </a:p>
        </p:txBody>
      </p:sp>
      <p:sp>
        <p:nvSpPr>
          <p:cNvPr id="31" name="">
            <a:extLst xmlns:a="http://schemas.openxmlformats.org/drawingml/2006/main">
              <a:ext uri="{FF2B5EF4-FFF2-40B4-BE49-F238E27FC236}">
                <a16:creationId xmlns:a16="http://schemas.microsoft.com/office/drawing/2014/main" id="{B1045B55-CFB9-4DA2-921A-07D507610BAB}"/>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462A8274-10BB-4DCA-B9D4-047E77585A43}"/>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업무별 라우팅·접근 결과와 원천 인용·변경 이력</a:t>
            </a:r>
          </a:p>
        </p:txBody>
      </p:sp>
    </p:spTree>
    <p:extLst>
      <p:ext uri="{BB962C8B-B14F-4D97-AF65-F5344CB8AC3E}">
        <p14:creationId xmlns:p14="http://schemas.microsoft.com/office/powerpoint/2010/main" val="1073655985"/>
      </p:ext>
    </p:extLst>
  </p:cSld>
</p:sld>
</file>

<file path=ppt/slides/slide7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621FD0B-E039-443A-932F-8F4E2188F918}"/>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PF-R09 / CCK 비교·재현 시험 설계</a:t>
            </a:r>
          </a:p>
        </p:txBody>
      </p:sp>
      <p:sp>
        <p:nvSpPr>
          <p:cNvPr id="2" name="">
            <a:extLst xmlns:a="http://schemas.openxmlformats.org/drawingml/2006/main">
              <a:ext uri="{FF2B5EF4-FFF2-40B4-BE49-F238E27FC236}">
                <a16:creationId xmlns:a16="http://schemas.microsoft.com/office/drawing/2014/main" id="{5800647C-BC51-465C-A067-61030BE4A084}"/>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석유공사 업무 AI · 벤치마킹</a:t>
            </a:r>
          </a:p>
        </p:txBody>
      </p:sp>
      <p:sp>
        <p:nvSpPr>
          <p:cNvPr id="3" name="">
            <a:extLst xmlns:a="http://schemas.openxmlformats.org/drawingml/2006/main">
              <a:ext uri="{FF2B5EF4-FFF2-40B4-BE49-F238E27FC236}">
                <a16:creationId xmlns:a16="http://schemas.microsoft.com/office/drawing/2014/main" id="{786CBDEF-27F4-4714-83ED-6017D6F499DE}"/>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F563C8F-DE31-4FEB-A0E9-237A2E76D4B8}"/>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73A1973C-492A-49C4-B549-B7411EB325DA}"/>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73</a:t>
            </a:r>
          </a:p>
        </p:txBody>
      </p:sp>
      <p:sp>
        <p:nvSpPr>
          <p:cNvPr id="6" name="">
            <a:extLst xmlns:a="http://schemas.openxmlformats.org/drawingml/2006/main">
              <a:ext uri="{FF2B5EF4-FFF2-40B4-BE49-F238E27FC236}">
                <a16:creationId xmlns:a16="http://schemas.microsoft.com/office/drawing/2014/main" id="{755FA355-5E52-4829-8CDE-C577E8D9056C}"/>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BE00BB0B-1EF1-489D-ACEE-75A2B9FAB901}"/>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공통 챗봇과 6개 도메인 분리</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업무 지식·ERP 경로의 결합</a:t>
            </a:r>
          </a:p>
        </p:txBody>
      </p:sp>
      <p:sp>
        <p:nvSpPr>
          <p:cNvPr id="8" name="">
            <a:extLst xmlns:a="http://schemas.openxmlformats.org/drawingml/2006/main">
              <a:ext uri="{FF2B5EF4-FFF2-40B4-BE49-F238E27FC236}">
                <a16:creationId xmlns:a16="http://schemas.microsoft.com/office/drawing/2014/main" id="{90BCC8B8-4B45-406B-A48F-51E21C6C60D7}"/>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90FF89D2-6250-44C2-AD1C-1B2B76EA3372}"/>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도메인 지식의 혼합</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안전·시추 권고를 자동 실행</a:t>
            </a:r>
          </a:p>
        </p:txBody>
      </p:sp>
      <p:sp>
        <p:nvSpPr>
          <p:cNvPr id="10" name="">
            <a:extLst xmlns:a="http://schemas.openxmlformats.org/drawingml/2006/main">
              <a:ext uri="{FF2B5EF4-FFF2-40B4-BE49-F238E27FC236}">
                <a16:creationId xmlns:a16="http://schemas.microsoft.com/office/drawing/2014/main" id="{5647CC1E-98AB-4814-B82C-A019EC808DB6}"/>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89757964-3A1F-43E3-88D0-04FFCFB773DE}"/>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도메인 경계·현업 승인·결과 대사</a:t>
            </a:r>
          </a:p>
        </p:txBody>
      </p:sp>
      <p:sp>
        <p:nvSpPr>
          <p:cNvPr id="12" name="">
            <a:extLst xmlns:a="http://schemas.openxmlformats.org/drawingml/2006/main">
              <a:ext uri="{FF2B5EF4-FFF2-40B4-BE49-F238E27FC236}">
                <a16:creationId xmlns:a16="http://schemas.microsoft.com/office/drawing/2014/main" id="{99352102-C5C6-47EB-88F5-19739BACDD3A}"/>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65CC9B9C-B6AC-49F1-8B00-2D3A2021A398}"/>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직원의 업무 목적을 6개 도메인 중 해당 앱으로 연</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결</a:t>
            </a:r>
          </a:p>
        </p:txBody>
      </p:sp>
      <p:sp>
        <p:nvSpPr>
          <p:cNvPr id="14" name="">
            <a:extLst xmlns:a="http://schemas.openxmlformats.org/drawingml/2006/main">
              <a:ext uri="{FF2B5EF4-FFF2-40B4-BE49-F238E27FC236}">
                <a16:creationId xmlns:a16="http://schemas.microsoft.com/office/drawing/2014/main" id="{B7D87D7F-E690-4876-A0C0-EFAB9D78FB1E}"/>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B279053E-886C-48C0-97A3-679FEC8A54CF}"/>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직급·근속 변경·다른 도메인 자료·시추 원문 누락</a:t>
            </a:r>
          </a:p>
        </p:txBody>
      </p:sp>
      <p:sp>
        <p:nvSpPr>
          <p:cNvPr id="16" name="">
            <a:extLst xmlns:a="http://schemas.openxmlformats.org/drawingml/2006/main">
              <a:ext uri="{FF2B5EF4-FFF2-40B4-BE49-F238E27FC236}">
                <a16:creationId xmlns:a16="http://schemas.microsoft.com/office/drawing/2014/main" id="{72EACDEB-CC40-4ABD-A263-436408B4AA89}"/>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A3732CEF-144E-4400-A5C9-F4197708FDF8}"/>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업무별 라우팅·접근 결과와 원천 인용·변경 이력</a:t>
            </a:r>
          </a:p>
        </p:txBody>
      </p:sp>
    </p:spTree>
    <p:extLst>
      <p:ext uri="{BB962C8B-B14F-4D97-AF65-F5344CB8AC3E}">
        <p14:creationId xmlns:p14="http://schemas.microsoft.com/office/powerpoint/2010/main" val="852353072"/>
      </p:ext>
    </p:extLst>
  </p:cSld>
</p:sld>
</file>

<file path=ppt/slides/slide7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08503FB-85FE-44C8-8D93-2B1C51692DB3}"/>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PF01 / 공통기반 운영 / 업무 앱 시범 / 국내</a:t>
            </a:r>
          </a:p>
        </p:txBody>
      </p:sp>
      <p:sp>
        <p:nvSpPr>
          <p:cNvPr id="2" name="">
            <a:extLst xmlns:a="http://schemas.openxmlformats.org/drawingml/2006/main">
              <a:ext uri="{FF2B5EF4-FFF2-40B4-BE49-F238E27FC236}">
                <a16:creationId xmlns:a16="http://schemas.microsoft.com/office/drawing/2014/main" id="{B1CB0873-1540-4CDE-A1AA-1BAC396C7404}"/>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범정부 AI 공통기반·법령비서</a:t>
            </a:r>
          </a:p>
        </p:txBody>
      </p:sp>
      <p:sp>
        <p:nvSpPr>
          <p:cNvPr id="3" name="">
            <a:extLst xmlns:a="http://schemas.openxmlformats.org/drawingml/2006/main">
              <a:ext uri="{FF2B5EF4-FFF2-40B4-BE49-F238E27FC236}">
                <a16:creationId xmlns:a16="http://schemas.microsoft.com/office/drawing/2014/main" id="{C1D774C8-FF87-4614-A463-5D84B109BC7D}"/>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2848FC6-D692-47D5-9255-5E781E7FF3C6}"/>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C5FF94D2-1F2E-4B1A-A17F-29C31A273798}"/>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74</a:t>
            </a:r>
          </a:p>
        </p:txBody>
      </p:sp>
      <p:sp>
        <p:nvSpPr>
          <p:cNvPr id="6" name="">
            <a:extLst xmlns:a="http://schemas.openxmlformats.org/drawingml/2006/main">
              <a:ext uri="{FF2B5EF4-FFF2-40B4-BE49-F238E27FC236}">
                <a16:creationId xmlns:a16="http://schemas.microsoft.com/office/drawing/2014/main" id="{2C82C4B8-C3F2-46EE-A48C-B98AB675B78D}"/>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2CAAFC84-6343-4C9A-AA4A-4D0C01E1FE1C}"/>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범정부 AI 공통기반과 법령비서의 시범 서비스 사례. 공</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통 AI 이용 환경에 법령·판례 자료를 결합해 직원의 규정</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탐색과 근거 확인을 지원하는 구조.</a:t>
            </a:r>
          </a:p>
        </p:txBody>
      </p:sp>
      <p:sp>
        <p:nvSpPr>
          <p:cNvPr id="8" name="">
            <a:extLst xmlns:a="http://schemas.openxmlformats.org/drawingml/2006/main">
              <a:ext uri="{FF2B5EF4-FFF2-40B4-BE49-F238E27FC236}">
                <a16:creationId xmlns:a16="http://schemas.microsoft.com/office/drawing/2014/main" id="{7708836A-7CD5-466E-B9B4-F55D643F5B42}"/>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4D826AF8-7FBE-4431-8B6F-8A642C592705}"/>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공개된 서비스 범위에 따라 로그인·질의 문맥·법령 검색·</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근거 응답·사용자 검토로 재구성. 적용 시점과 법령·판례</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의 관계를 검색 메타데이터로 유지하고 생성 답변에서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해당 원문으로 돌아가는 확인 경로의 구성.</a:t>
            </a:r>
          </a:p>
        </p:txBody>
      </p:sp>
      <p:sp>
        <p:nvSpPr>
          <p:cNvPr id="10" name="">
            <a:extLst xmlns:a="http://schemas.openxmlformats.org/drawingml/2006/main">
              <a:ext uri="{FF2B5EF4-FFF2-40B4-BE49-F238E27FC236}">
                <a16:creationId xmlns:a16="http://schemas.microsoft.com/office/drawing/2014/main" id="{CE54E0A0-63D5-4CCE-86F3-695A15339F19}"/>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CA77DB9A-9540-42F4-B29E-D8F607AEBAE7}"/>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TS에서는 법령 지식의 공통 이용과 부서별 업무 책임의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연결을 구분해 추가 개발할 필요. 같은 질문의 담당 직무·</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시행일별 적용 기준, 폐지·개정 조문 혼용, 근거 없는 단정</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 응답을 검수 대상으로 설정.</a:t>
            </a:r>
          </a:p>
        </p:txBody>
      </p:sp>
      <p:sp>
        <p:nvSpPr>
          <p:cNvPr id="12" name="">
            <a:extLst xmlns:a="http://schemas.openxmlformats.org/drawingml/2006/main">
              <a:ext uri="{FF2B5EF4-FFF2-40B4-BE49-F238E27FC236}">
                <a16:creationId xmlns:a16="http://schemas.microsoft.com/office/drawing/2014/main" id="{D9120A1D-BB38-4317-9344-0925023E620C}"/>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B851A026-D3A0-49C0-9642-D98D3EA0C044}"/>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소관·직무·규정 판본 연결 및 부서별 정답셋</a:t>
            </a:r>
          </a:p>
        </p:txBody>
      </p:sp>
      <p:sp>
        <p:nvSpPr>
          <p:cNvPr id="14" name="">
            <a:extLst xmlns:a="http://schemas.openxmlformats.org/drawingml/2006/main">
              <a:ext uri="{FF2B5EF4-FFF2-40B4-BE49-F238E27FC236}">
                <a16:creationId xmlns:a16="http://schemas.microsoft.com/office/drawing/2014/main" id="{A1901687-2307-4AB3-970D-B8421FC9BE15}"/>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F1994001-DF39-45F6-80A8-CB9264BDB107}"/>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동일 규정 질의의 판본·출처·소관 일치 검증</a:t>
            </a:r>
          </a:p>
        </p:txBody>
      </p:sp>
      <p:sp>
        <p:nvSpPr>
          <p:cNvPr id="16" name="">
            <a:extLst xmlns:a="http://schemas.openxmlformats.org/drawingml/2006/main">
              <a:ext uri="{FF2B5EF4-FFF2-40B4-BE49-F238E27FC236}">
                <a16:creationId xmlns:a16="http://schemas.microsoft.com/office/drawing/2014/main" id="{E192E87B-B0B9-481A-B5AB-41A1119D96BC}"/>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503C091E-3B52-49C9-8639-4B5348001A4A}"/>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TS 업무 완료시간·오류·추가 구축 공수의 비교 평가</a:t>
            </a:r>
          </a:p>
        </p:txBody>
      </p:sp>
      <p:sp>
        <p:nvSpPr>
          <p:cNvPr id="18" name="">
            <a:extLst xmlns:a="http://schemas.openxmlformats.org/drawingml/2006/main">
              <a:ext uri="{FF2B5EF4-FFF2-40B4-BE49-F238E27FC236}">
                <a16:creationId xmlns:a16="http://schemas.microsoft.com/office/drawing/2014/main" id="{395BC8A6-D5C7-48CA-AC24-658BDF463654}"/>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시범 개시와 범정부 확산 계획의 구분 · 업무시간 절감 실측 별도</a:t>
            </a:r>
          </a:p>
        </p:txBody>
      </p:sp>
    </p:spTree>
    <p:extLst>
      <p:ext uri="{BB962C8B-B14F-4D97-AF65-F5344CB8AC3E}">
        <p14:creationId xmlns:p14="http://schemas.microsoft.com/office/powerpoint/2010/main" val="1018107490"/>
      </p:ext>
    </p:extLst>
  </p:cSld>
</p:sld>
</file>

<file path=ppt/slides/slide7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038CC842-982C-4869-B264-86FF9F0DE611}"/>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B46DE7FD-6B49-4232-8709-55C922A66D16}"/>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1088F270-A096-49D3-9F0A-E2B17DE08177}"/>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08D200A6-F96B-476F-9CAD-B4EDE41B9C7E}"/>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1AF9AFA9-3F7E-4B2B-BD9B-89B25A7C694F}"/>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6735DE1E-49C4-44BE-BFA8-4C5553AFC4C3}"/>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9A690EA4-CFA0-467F-8431-42FDA57960FD}"/>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BDEE9029-9712-4B01-8270-E665AD79F77B}"/>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4BF3EA66-0DBA-490D-A98E-B894779B533A}"/>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956B0DAF-DD15-4FE4-9943-EA492165A22B}"/>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PF01 / CCK 세부 재구성 · 논리 서비스 설계</a:t>
            </a:r>
          </a:p>
        </p:txBody>
      </p:sp>
      <p:sp>
        <p:nvSpPr>
          <p:cNvPr id="2" name="">
            <a:extLst xmlns:a="http://schemas.openxmlformats.org/drawingml/2006/main">
              <a:ext uri="{FF2B5EF4-FFF2-40B4-BE49-F238E27FC236}">
                <a16:creationId xmlns:a16="http://schemas.microsoft.com/office/drawing/2014/main" id="{E30DF55E-CA12-4280-BFB4-8C1BA0D3D744}"/>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범정부 AI 공통기반·법령비서 · 세부 서비스 구조</a:t>
            </a:r>
          </a:p>
        </p:txBody>
      </p:sp>
      <p:sp>
        <p:nvSpPr>
          <p:cNvPr id="3" name="">
            <a:extLst xmlns:a="http://schemas.openxmlformats.org/drawingml/2006/main">
              <a:ext uri="{FF2B5EF4-FFF2-40B4-BE49-F238E27FC236}">
                <a16:creationId xmlns:a16="http://schemas.microsoft.com/office/drawing/2014/main" id="{AF652E8E-BD1C-450F-8CEE-6B5AECAFF88F}"/>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C8E200C-0280-41C8-9CE3-93095E112F0D}"/>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AD406315-8955-4ED2-9C63-22A7F22A0F98}"/>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75</a:t>
            </a:r>
          </a:p>
        </p:txBody>
      </p:sp>
      <p:sp>
        <p:nvSpPr>
          <p:cNvPr id="6" name="">
            <a:extLst xmlns:a="http://schemas.openxmlformats.org/drawingml/2006/main">
              <a:ext uri="{FF2B5EF4-FFF2-40B4-BE49-F238E27FC236}">
                <a16:creationId xmlns:a16="http://schemas.microsoft.com/office/drawing/2014/main" id="{43979F08-64D5-4520-AB93-539F1AD53DBE}"/>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운영기관·공급사·감사 자료의 업무 설명</a:t>
            </a:r>
          </a:p>
        </p:txBody>
      </p:sp>
      <p:sp>
        <p:nvSpPr>
          <p:cNvPr id="7" name="">
            <a:extLst xmlns:a="http://schemas.openxmlformats.org/drawingml/2006/main">
              <a:ext uri="{FF2B5EF4-FFF2-40B4-BE49-F238E27FC236}">
                <a16:creationId xmlns:a16="http://schemas.microsoft.com/office/drawing/2014/main" id="{DC3A0A2F-E77B-4F6D-9D40-694FBA7CB9EB}"/>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E78EC2C8-B8A2-49B6-8DEA-F47FBC32C55F}"/>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49B87771-5DAB-4541-A793-ACC07BA68B87}"/>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정부 직원 접점</a:t>
            </a:r>
          </a:p>
        </p:txBody>
      </p:sp>
      <p:sp>
        <p:nvSpPr>
          <p:cNvPr id="10" name="">
            <a:extLst xmlns:a="http://schemas.openxmlformats.org/drawingml/2006/main">
              <a:ext uri="{FF2B5EF4-FFF2-40B4-BE49-F238E27FC236}">
                <a16:creationId xmlns:a16="http://schemas.microsoft.com/office/drawing/2014/main" id="{B2A89AA0-5BB6-4D2E-8F8C-FCA1AA830587}"/>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5ACB76D3-4C2F-4CBD-85CF-4D6EBAAFBA84}"/>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FC2FACF8-C8C2-44A5-AD31-9CF11E2AB6C4}"/>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질의·적용시점</a:t>
            </a:r>
          </a:p>
        </p:txBody>
      </p:sp>
      <p:sp>
        <p:nvSpPr>
          <p:cNvPr id="13" name="">
            <a:extLst xmlns:a="http://schemas.openxmlformats.org/drawingml/2006/main">
              <a:ext uri="{FF2B5EF4-FFF2-40B4-BE49-F238E27FC236}">
                <a16:creationId xmlns:a16="http://schemas.microsoft.com/office/drawing/2014/main" id="{259DFBAC-70E2-4576-A77D-CF6E30C25B05}"/>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554297F2-A330-45B1-8A27-ED6F59A25A78}"/>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62D797D0-4F15-4E92-B152-3169BBBCC015}"/>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법령·판례 검색</a:t>
            </a:r>
          </a:p>
        </p:txBody>
      </p:sp>
      <p:sp>
        <p:nvSpPr>
          <p:cNvPr id="16" name="">
            <a:extLst xmlns:a="http://schemas.openxmlformats.org/drawingml/2006/main">
              <a:ext uri="{FF2B5EF4-FFF2-40B4-BE49-F238E27FC236}">
                <a16:creationId xmlns:a16="http://schemas.microsoft.com/office/drawing/2014/main" id="{8BD0123E-9EB9-422E-A440-3900966A86A3}"/>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DC0B7DA3-B840-4E69-B74C-E36A275BD1EE}"/>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074C8815-14BB-44EA-AFF0-04D9522A31B0}"/>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공통 AI·법령비서</a:t>
            </a:r>
          </a:p>
        </p:txBody>
      </p:sp>
      <p:sp>
        <p:nvSpPr>
          <p:cNvPr id="19" name="">
            <a:extLst xmlns:a="http://schemas.openxmlformats.org/drawingml/2006/main">
              <a:ext uri="{FF2B5EF4-FFF2-40B4-BE49-F238E27FC236}">
                <a16:creationId xmlns:a16="http://schemas.microsoft.com/office/drawing/2014/main" id="{C574776D-6F9D-4066-9045-39EF75C72E4E}"/>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A2D90247-B375-44CD-810C-2E4F5A10A14C}"/>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1B70BF76-72A8-4A28-A8F5-F4E92FB20D3E}"/>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조문·시점 대조</a:t>
            </a:r>
          </a:p>
        </p:txBody>
      </p:sp>
      <p:sp>
        <p:nvSpPr>
          <p:cNvPr id="22" name="">
            <a:extLst xmlns:a="http://schemas.openxmlformats.org/drawingml/2006/main">
              <a:ext uri="{FF2B5EF4-FFF2-40B4-BE49-F238E27FC236}">
                <a16:creationId xmlns:a16="http://schemas.microsoft.com/office/drawing/2014/main" id="{656071D3-9CB2-498C-9433-3E654AD8FDF4}"/>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247765C9-D441-40AD-8F94-001292DA93DD}"/>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DABC6864-CDA1-4A38-B961-38160BC5022F}"/>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법제 담당 검토</a:t>
            </a:r>
          </a:p>
        </p:txBody>
      </p:sp>
      <p:sp>
        <p:nvSpPr>
          <p:cNvPr id="25" name="">
            <a:extLst xmlns:a="http://schemas.openxmlformats.org/drawingml/2006/main">
              <a:ext uri="{FF2B5EF4-FFF2-40B4-BE49-F238E27FC236}">
                <a16:creationId xmlns:a16="http://schemas.microsoft.com/office/drawing/2014/main" id="{342ED5E2-0C74-4BD4-8D67-CC2653AD75B1}"/>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72E51C9A-CF06-4563-80AE-7D29D67047AC}"/>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B2BE15DF-8B80-4792-BB10-1286ECEF164D}"/>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업무 문서 참고</a:t>
            </a:r>
          </a:p>
        </p:txBody>
      </p:sp>
      <p:sp>
        <p:nvSpPr>
          <p:cNvPr id="28" name="">
            <a:extLst xmlns:a="http://schemas.openxmlformats.org/drawingml/2006/main">
              <a:ext uri="{FF2B5EF4-FFF2-40B4-BE49-F238E27FC236}">
                <a16:creationId xmlns:a16="http://schemas.microsoft.com/office/drawing/2014/main" id="{4F1C9C71-4892-4E0D-817C-665777C8DA78}"/>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01413876-933D-409E-BEF7-DFC39647343B}"/>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95F1488A-6061-41FF-83D5-D203654FB835}"/>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시범 질의 평가</a:t>
            </a:r>
          </a:p>
        </p:txBody>
      </p:sp>
      <p:sp>
        <p:nvSpPr>
          <p:cNvPr id="31" name="">
            <a:extLst xmlns:a="http://schemas.openxmlformats.org/drawingml/2006/main">
              <a:ext uri="{FF2B5EF4-FFF2-40B4-BE49-F238E27FC236}">
                <a16:creationId xmlns:a16="http://schemas.microsoft.com/office/drawing/2014/main" id="{AE31576A-3BDB-4740-AF80-C88CB865C411}"/>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D0843D38-A65C-48D2-B091-0BB0A380314F}"/>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4A1B0DD5-B87B-4084-81D8-CC4B8050F7D9}"/>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공식 법령·문서</a:t>
            </a:r>
          </a:p>
        </p:txBody>
      </p:sp>
      <p:sp>
        <p:nvSpPr>
          <p:cNvPr id="34" name="">
            <a:extLst xmlns:a="http://schemas.openxmlformats.org/drawingml/2006/main">
              <a:ext uri="{FF2B5EF4-FFF2-40B4-BE49-F238E27FC236}">
                <a16:creationId xmlns:a16="http://schemas.microsoft.com/office/drawing/2014/main" id="{B8E0F9EA-614F-4737-A678-B6412B0CBE77}"/>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EED54CB8-1B77-477F-8495-56378B159D86}"/>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ECEA973A-3D93-4516-923C-6C21D942CA01}"/>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기준일·근거 정리</a:t>
            </a:r>
          </a:p>
        </p:txBody>
      </p:sp>
      <p:sp>
        <p:nvSpPr>
          <p:cNvPr id="37" name="">
            <a:extLst xmlns:a="http://schemas.openxmlformats.org/drawingml/2006/main">
              <a:ext uri="{FF2B5EF4-FFF2-40B4-BE49-F238E27FC236}">
                <a16:creationId xmlns:a16="http://schemas.microsoft.com/office/drawing/2014/main" id="{94A5450D-A934-48D8-8197-06CA8FF2E2B2}"/>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79B34625-61F7-4898-BAAB-77B3719B42FA}"/>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4ADAF3CF-59C2-4011-B9E9-E799B1334B68}"/>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지식·평가 자료</a:t>
            </a:r>
          </a:p>
        </p:txBody>
      </p:sp>
      <p:sp>
        <p:nvSpPr>
          <p:cNvPr id="40" name="">
            <a:extLst xmlns:a="http://schemas.openxmlformats.org/drawingml/2006/main">
              <a:ext uri="{FF2B5EF4-FFF2-40B4-BE49-F238E27FC236}">
                <a16:creationId xmlns:a16="http://schemas.microsoft.com/office/drawing/2014/main" id="{F945079D-A41D-43A3-915A-654638363F3F}"/>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F442D49F-6573-4231-BCE1-0DB8875A45A5}"/>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CAC7402E-0A46-4A5C-A1D8-36D04D9C6B3D}"/>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기관·업무 경계</a:t>
            </a:r>
          </a:p>
        </p:txBody>
      </p:sp>
      <p:sp>
        <p:nvSpPr>
          <p:cNvPr id="52" name="">
            <a:extLst xmlns:a="http://schemas.openxmlformats.org/drawingml/2006/main">
              <a:ext uri="{FF2B5EF4-FFF2-40B4-BE49-F238E27FC236}">
                <a16:creationId xmlns:a16="http://schemas.microsoft.com/office/drawing/2014/main" id="{566C589A-C9E4-414B-8A82-45F29EF620AC}"/>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1752416715"/>
      </p:ext>
    </p:extLst>
  </p:cSld>
</p:sld>
</file>

<file path=ppt/slides/slide76.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394849F6-0BBF-46D8-8EE7-A29846004CAE}"/>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PF01 / 논리 인터페이스·복구 설계</a:t>
            </a:r>
          </a:p>
        </p:txBody>
      </p:sp>
      <p:sp>
        <p:nvSpPr>
          <p:cNvPr id="2" name="">
            <a:extLst xmlns:a="http://schemas.openxmlformats.org/drawingml/2006/main">
              <a:ext uri="{FF2B5EF4-FFF2-40B4-BE49-F238E27FC236}">
                <a16:creationId xmlns:a16="http://schemas.microsoft.com/office/drawing/2014/main" id="{412723A6-2336-4878-A7D3-84856FEA501F}"/>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범정부 AI 공통기반·법령비서 · 데이터와 예외 처리</a:t>
            </a:r>
          </a:p>
        </p:txBody>
      </p:sp>
      <p:sp>
        <p:nvSpPr>
          <p:cNvPr id="3" name="">
            <a:extLst xmlns:a="http://schemas.openxmlformats.org/drawingml/2006/main">
              <a:ext uri="{FF2B5EF4-FFF2-40B4-BE49-F238E27FC236}">
                <a16:creationId xmlns:a16="http://schemas.microsoft.com/office/drawing/2014/main" id="{1050B3E2-D896-4675-B78D-0B207D3E4C8E}"/>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A1B8408-8286-4A33-94B8-D8CC4AF838EC}"/>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7E250627-976B-48B8-A6EB-11B603CF6CAA}"/>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76</a:t>
            </a:r>
          </a:p>
        </p:txBody>
      </p:sp>
      <p:sp>
        <p:nvSpPr>
          <p:cNvPr id="6" name="">
            <a:extLst xmlns:a="http://schemas.openxmlformats.org/drawingml/2006/main">
              <a:ext uri="{FF2B5EF4-FFF2-40B4-BE49-F238E27FC236}">
                <a16:creationId xmlns:a16="http://schemas.microsoft.com/office/drawing/2014/main" id="{8C31BF5C-D483-4849-8D0E-4DE02115B7E6}"/>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E2355524-96B0-4AB4-BF9B-F9610BEC9F29}"/>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A3501286-C526-41BC-B277-F61572294A92}"/>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A4AA9835-9BB7-4BE7-B856-737646E84599}"/>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계정·업무 질의·적용 시점 구성</a:t>
            </a:r>
          </a:p>
        </p:txBody>
      </p:sp>
      <p:sp>
        <p:nvSpPr>
          <p:cNvPr id="10" name="">
            <a:extLst xmlns:a="http://schemas.openxmlformats.org/drawingml/2006/main">
              <a:ext uri="{FF2B5EF4-FFF2-40B4-BE49-F238E27FC236}">
                <a16:creationId xmlns:a16="http://schemas.microsoft.com/office/drawing/2014/main" id="{FC2CDC94-ACDD-4815-846F-E0395D38AA06}"/>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D17A239-A9B9-40D6-9797-17F1BE7A6D02}"/>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2EA868AC-093B-4C52-BA5F-AC88AFC451D3}"/>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법률 질문</a:t>
            </a:r>
          </a:p>
        </p:txBody>
      </p:sp>
      <p:sp>
        <p:nvSpPr>
          <p:cNvPr id="13" name="">
            <a:extLst xmlns:a="http://schemas.openxmlformats.org/drawingml/2006/main">
              <a:ext uri="{FF2B5EF4-FFF2-40B4-BE49-F238E27FC236}">
                <a16:creationId xmlns:a16="http://schemas.microsoft.com/office/drawing/2014/main" id="{1B034A7B-2E28-45CA-B000-0830C6B0F9B8}"/>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62CC9EA-DF4F-48D7-808F-CB63C7418067}"/>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417B8CDD-8A6E-4087-8573-4B1A39427C94}"/>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관련 근거</a:t>
            </a:r>
          </a:p>
        </p:txBody>
      </p:sp>
      <p:sp>
        <p:nvSpPr>
          <p:cNvPr id="16" name="">
            <a:extLst xmlns:a="http://schemas.openxmlformats.org/drawingml/2006/main">
              <a:ext uri="{FF2B5EF4-FFF2-40B4-BE49-F238E27FC236}">
                <a16:creationId xmlns:a16="http://schemas.microsoft.com/office/drawing/2014/main" id="{3A970F8B-7217-4B27-9EA0-F8B6DC4515BF}"/>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B8F5B65-E26C-49C3-9BB7-CC397432CF2C}"/>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438D8870-3548-4519-9AA8-3FAF65D68A63}"/>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업무 답변</a:t>
            </a:r>
          </a:p>
        </p:txBody>
      </p:sp>
      <p:sp>
        <p:nvSpPr>
          <p:cNvPr id="19" name="">
            <a:extLst xmlns:a="http://schemas.openxmlformats.org/drawingml/2006/main">
              <a:ext uri="{FF2B5EF4-FFF2-40B4-BE49-F238E27FC236}">
                <a16:creationId xmlns:a16="http://schemas.microsoft.com/office/drawing/2014/main" id="{133DA762-6178-4A0D-A9F4-943283E2B600}"/>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25E8D6B-09C7-4523-A2AE-F14831333DB0}"/>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F90923AD-A578-4B94-8163-1BC18AF2C214}"/>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업무 답변</a:t>
            </a:r>
          </a:p>
        </p:txBody>
      </p:sp>
      <p:sp>
        <p:nvSpPr>
          <p:cNvPr id="22" name="">
            <a:extLst xmlns:a="http://schemas.openxmlformats.org/drawingml/2006/main">
              <a:ext uri="{FF2B5EF4-FFF2-40B4-BE49-F238E27FC236}">
                <a16:creationId xmlns:a16="http://schemas.microsoft.com/office/drawing/2014/main" id="{226D975E-3B28-4815-9BF0-7C8A542173C1}"/>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F8A2CF5-78CA-456A-9941-C7214FE44BDE}"/>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98183B90-F292-421D-B793-3A5BDAED8681}"/>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직원 확인</a:t>
            </a:r>
          </a:p>
        </p:txBody>
      </p:sp>
      <p:sp>
        <p:nvSpPr>
          <p:cNvPr id="25" name="">
            <a:extLst xmlns:a="http://schemas.openxmlformats.org/drawingml/2006/main">
              <a:ext uri="{FF2B5EF4-FFF2-40B4-BE49-F238E27FC236}">
                <a16:creationId xmlns:a16="http://schemas.microsoft.com/office/drawing/2014/main" id="{477C0799-70CE-40AA-90FB-D8B8F90B8B72}"/>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2C8DCB7F-D3EC-4866-8E07-92FFDEB6D9F4}"/>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폐지 조문·유사 명칭 법률·소관 차이</a:t>
            </a:r>
          </a:p>
        </p:txBody>
      </p:sp>
      <p:sp>
        <p:nvSpPr>
          <p:cNvPr id="27" name="">
            <a:extLst xmlns:a="http://schemas.openxmlformats.org/drawingml/2006/main">
              <a:ext uri="{FF2B5EF4-FFF2-40B4-BE49-F238E27FC236}">
                <a16:creationId xmlns:a16="http://schemas.microsoft.com/office/drawing/2014/main" id="{6E3DBCF5-E3EE-46F0-8A67-92BA0482DF63}"/>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EC062A32-EB46-480C-988A-6865268158B5}"/>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적용 시점·소관·근거 일치</a:t>
            </a:r>
          </a:p>
        </p:txBody>
      </p:sp>
      <p:sp>
        <p:nvSpPr>
          <p:cNvPr id="29" name="">
            <a:extLst xmlns:a="http://schemas.openxmlformats.org/drawingml/2006/main">
              <a:ext uri="{FF2B5EF4-FFF2-40B4-BE49-F238E27FC236}">
                <a16:creationId xmlns:a16="http://schemas.microsoft.com/office/drawing/2014/main" id="{7BEFE53F-DD87-433E-A29C-68298C4B6E16}"/>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C5928C28-C3CD-4EF1-BD5E-6930C799EE8B}"/>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시범 질의의 정답·근거·사용성 평가</a:t>
            </a:r>
          </a:p>
        </p:txBody>
      </p:sp>
      <p:sp>
        <p:nvSpPr>
          <p:cNvPr id="31" name="">
            <a:extLst xmlns:a="http://schemas.openxmlformats.org/drawingml/2006/main">
              <a:ext uri="{FF2B5EF4-FFF2-40B4-BE49-F238E27FC236}">
                <a16:creationId xmlns:a16="http://schemas.microsoft.com/office/drawing/2014/main" id="{48363FBD-3052-44FE-B37A-EA5CA9DF1A78}"/>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DD453159-5AFD-49FB-9918-5ECBCBD46DA3}"/>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조문·시점·소관 정답셋과 검토자 판정</a:t>
            </a:r>
          </a:p>
        </p:txBody>
      </p:sp>
    </p:spTree>
    <p:extLst>
      <p:ext uri="{BB962C8B-B14F-4D97-AF65-F5344CB8AC3E}">
        <p14:creationId xmlns:p14="http://schemas.microsoft.com/office/powerpoint/2010/main" val="537207785"/>
      </p:ext>
    </p:extLst>
  </p:cSld>
</p:sld>
</file>

<file path=ppt/slides/slide77.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574AD71-B539-4705-9CF2-E261CC019700}"/>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PF01 / CCK 비교·재현 시험 설계</a:t>
            </a:r>
          </a:p>
        </p:txBody>
      </p:sp>
      <p:sp>
        <p:nvSpPr>
          <p:cNvPr id="2" name="">
            <a:extLst xmlns:a="http://schemas.openxmlformats.org/drawingml/2006/main">
              <a:ext uri="{FF2B5EF4-FFF2-40B4-BE49-F238E27FC236}">
                <a16:creationId xmlns:a16="http://schemas.microsoft.com/office/drawing/2014/main" id="{9677F57D-0174-442A-9826-68042456A2E5}"/>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범정부 AI 공통기반·법령비서 · 벤치마킹</a:t>
            </a:r>
          </a:p>
        </p:txBody>
      </p:sp>
      <p:sp>
        <p:nvSpPr>
          <p:cNvPr id="3" name="">
            <a:extLst xmlns:a="http://schemas.openxmlformats.org/drawingml/2006/main">
              <a:ext uri="{FF2B5EF4-FFF2-40B4-BE49-F238E27FC236}">
                <a16:creationId xmlns:a16="http://schemas.microsoft.com/office/drawing/2014/main" id="{49095ECE-D077-4834-B38E-482365D26C73}"/>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A0BC0BF-2666-40D0-8341-B23EADC3D901}"/>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53A02499-DBB4-4300-83CF-A1D2FB436F72}"/>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77</a:t>
            </a:r>
          </a:p>
        </p:txBody>
      </p:sp>
      <p:sp>
        <p:nvSpPr>
          <p:cNvPr id="6" name="">
            <a:extLst xmlns:a="http://schemas.openxmlformats.org/drawingml/2006/main">
              <a:ext uri="{FF2B5EF4-FFF2-40B4-BE49-F238E27FC236}">
                <a16:creationId xmlns:a16="http://schemas.microsoft.com/office/drawing/2014/main" id="{4B8DBDE5-449E-4859-8B8E-2494FD8ECDCB}"/>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153C75AF-281A-4867-A29E-9284421F83DB}"/>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공통 이용환경의 공동 활용</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법령비서 등 업무 앱 결합</a:t>
            </a:r>
          </a:p>
        </p:txBody>
      </p:sp>
      <p:sp>
        <p:nvSpPr>
          <p:cNvPr id="8" name="">
            <a:extLst xmlns:a="http://schemas.openxmlformats.org/drawingml/2006/main">
              <a:ext uri="{FF2B5EF4-FFF2-40B4-BE49-F238E27FC236}">
                <a16:creationId xmlns:a16="http://schemas.microsoft.com/office/drawing/2014/main" id="{1F90741D-2D47-4BE0-8825-9986EA59D5DF}"/>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6FA4F365-6306-441B-8245-CFB18E1C5306}"/>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범용 답변과 적용 조문 판단의 차이</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시범 서비스의 성과 일반화</a:t>
            </a:r>
          </a:p>
        </p:txBody>
      </p:sp>
      <p:sp>
        <p:nvSpPr>
          <p:cNvPr id="10" name="">
            <a:extLst xmlns:a="http://schemas.openxmlformats.org/drawingml/2006/main">
              <a:ext uri="{FF2B5EF4-FFF2-40B4-BE49-F238E27FC236}">
                <a16:creationId xmlns:a16="http://schemas.microsoft.com/office/drawing/2014/main" id="{BBEFE595-98B6-4368-844D-39C4045E9536}"/>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8EDC0955-0323-4D02-BC4F-F854FD4866FC}"/>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적용 시점·소관·근거 일치</a:t>
            </a:r>
          </a:p>
        </p:txBody>
      </p:sp>
      <p:sp>
        <p:nvSpPr>
          <p:cNvPr id="12" name="">
            <a:extLst xmlns:a="http://schemas.openxmlformats.org/drawingml/2006/main">
              <a:ext uri="{FF2B5EF4-FFF2-40B4-BE49-F238E27FC236}">
                <a16:creationId xmlns:a16="http://schemas.microsoft.com/office/drawing/2014/main" id="{64C907B3-F203-4735-A283-2276918DD0C0}"/>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79C97416-48A7-40BD-8979-3A75A4A54EC1}"/>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적용 업무와 시점에 맞는 법령·판례 근거 검토</a:t>
            </a:r>
          </a:p>
        </p:txBody>
      </p:sp>
      <p:sp>
        <p:nvSpPr>
          <p:cNvPr id="14" name="">
            <a:extLst xmlns:a="http://schemas.openxmlformats.org/drawingml/2006/main">
              <a:ext uri="{FF2B5EF4-FFF2-40B4-BE49-F238E27FC236}">
                <a16:creationId xmlns:a16="http://schemas.microsoft.com/office/drawing/2014/main" id="{CDFB223D-8A63-4597-B595-148DFFF28B13}"/>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EBE64C44-A352-4828-A1EB-89E6198475F3}"/>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폐지 조문·유사 명칭 법률·소관 차이</a:t>
            </a:r>
          </a:p>
        </p:txBody>
      </p:sp>
      <p:sp>
        <p:nvSpPr>
          <p:cNvPr id="16" name="">
            <a:extLst xmlns:a="http://schemas.openxmlformats.org/drawingml/2006/main">
              <a:ext uri="{FF2B5EF4-FFF2-40B4-BE49-F238E27FC236}">
                <a16:creationId xmlns:a16="http://schemas.microsoft.com/office/drawing/2014/main" id="{052C2194-B0BA-496E-ACA3-8D6EB1B92AF9}"/>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BDD0C204-A83B-4A59-95C7-539B300F4265}"/>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조문·시점·소관 정답셋과 검토자 판정</a:t>
            </a:r>
          </a:p>
        </p:txBody>
      </p:sp>
    </p:spTree>
    <p:extLst>
      <p:ext uri="{BB962C8B-B14F-4D97-AF65-F5344CB8AC3E}">
        <p14:creationId xmlns:p14="http://schemas.microsoft.com/office/powerpoint/2010/main" val="1786988869"/>
      </p:ext>
    </p:extLst>
  </p:cSld>
</p:sld>
</file>

<file path=ppt/slides/slide78.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F5EBD66-3889-467F-A8AA-B060114A55AE}"/>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PF02 / 정식 운영 · 기관 발표 / 국내</a:t>
            </a:r>
          </a:p>
        </p:txBody>
      </p:sp>
      <p:sp>
        <p:nvSpPr>
          <p:cNvPr id="2" name="">
            <a:extLst xmlns:a="http://schemas.openxmlformats.org/drawingml/2006/main">
              <a:ext uri="{FF2B5EF4-FFF2-40B4-BE49-F238E27FC236}">
                <a16:creationId xmlns:a16="http://schemas.microsoft.com/office/drawing/2014/main" id="{5E4044E3-6974-463D-914F-BE3CE82D89E1}"/>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한전 사내표준 AI 플랫폼</a:t>
            </a:r>
          </a:p>
        </p:txBody>
      </p:sp>
      <p:sp>
        <p:nvSpPr>
          <p:cNvPr id="3" name="">
            <a:extLst xmlns:a="http://schemas.openxmlformats.org/drawingml/2006/main">
              <a:ext uri="{FF2B5EF4-FFF2-40B4-BE49-F238E27FC236}">
                <a16:creationId xmlns:a16="http://schemas.microsoft.com/office/drawing/2014/main" id="{A8081972-15EA-40C2-AFA3-EF710B0A5609}"/>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70BADC3-6934-43EF-A4DC-8F9D020B664F}"/>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92F1B424-FE2B-4B1F-9A2A-84E97E176637}"/>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78</a:t>
            </a:r>
          </a:p>
        </p:txBody>
      </p:sp>
      <p:sp>
        <p:nvSpPr>
          <p:cNvPr id="6" name="">
            <a:extLst xmlns:a="http://schemas.openxmlformats.org/drawingml/2006/main">
              <a:ext uri="{FF2B5EF4-FFF2-40B4-BE49-F238E27FC236}">
                <a16:creationId xmlns:a16="http://schemas.microsoft.com/office/drawing/2014/main" id="{A20957EB-25E3-4C17-A2FA-C9B7A6CB69EC}"/>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E6EDC662-8C3B-482E-9272-859C0CEEE13B}"/>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한국전력의 사내표준 AI 플랫폼 사례. 직원의 표준 질의</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에 근거 조문을 연결하고 표준 개정 검토와 전자결재까</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지 이어지는 업무 지원 구조.</a:t>
            </a:r>
          </a:p>
        </p:txBody>
      </p:sp>
      <p:sp>
        <p:nvSpPr>
          <p:cNvPr id="8" name="">
            <a:extLst xmlns:a="http://schemas.openxmlformats.org/drawingml/2006/main">
              <a:ext uri="{FF2B5EF4-FFF2-40B4-BE49-F238E27FC236}">
                <a16:creationId xmlns:a16="http://schemas.microsoft.com/office/drawing/2014/main" id="{D35433B7-66AD-4DE3-9FDC-BDFB6CCE98AB}"/>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B2ADEEAD-A009-4EA2-B57F-751230C63E3C}"/>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표준 문서의 조문·판본을 검색 단위로 구성하고 질의 응</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답에 근거를 제시하는 흐름. 개정 검토에서는 변경 대상</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과 관련 조문을 비교하고 검토자가 확인한 내용을 결재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과정으로 연결하는 논리 설계.</a:t>
            </a:r>
          </a:p>
        </p:txBody>
      </p:sp>
      <p:sp>
        <p:nvSpPr>
          <p:cNvPr id="10" name="">
            <a:extLst xmlns:a="http://schemas.openxmlformats.org/drawingml/2006/main">
              <a:ext uri="{FF2B5EF4-FFF2-40B4-BE49-F238E27FC236}">
                <a16:creationId xmlns:a16="http://schemas.microsoft.com/office/drawing/2014/main" id="{F7BC2BA7-090C-45DD-8F8C-7CECDB338706}"/>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A5D353C4-5656-429C-9B73-F20C4067EFA6}"/>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CCK에서 참고할 지점은 검색 결과가 규정 개정·결재 업</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무로 이어지는 연결. TS 지침의 시행일·관련 조항·개정 책</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임 부서를 함께 관리하고 최신 조문 검색, 개정 영향 누락,</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 승인 전 반영을 각각 시험할 필요.</a:t>
            </a:r>
          </a:p>
        </p:txBody>
      </p:sp>
      <p:sp>
        <p:nvSpPr>
          <p:cNvPr id="12" name="">
            <a:extLst xmlns:a="http://schemas.openxmlformats.org/drawingml/2006/main">
              <a:ext uri="{FF2B5EF4-FFF2-40B4-BE49-F238E27FC236}">
                <a16:creationId xmlns:a16="http://schemas.microsoft.com/office/drawing/2014/main" id="{C80398A6-42C7-492A-A56E-9AF28040C905}"/>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0E0ABA9D-7694-408B-AC67-CC9FFBD7A6FD}"/>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규정 개정 영향 업무 탐색 / 폐지 지식 차단 / 승인판본 배포</a:t>
            </a:r>
          </a:p>
        </p:txBody>
      </p:sp>
      <p:sp>
        <p:nvSpPr>
          <p:cNvPr id="14" name="">
            <a:extLst xmlns:a="http://schemas.openxmlformats.org/drawingml/2006/main">
              <a:ext uri="{FF2B5EF4-FFF2-40B4-BE49-F238E27FC236}">
                <a16:creationId xmlns:a16="http://schemas.microsoft.com/office/drawing/2014/main" id="{E902E614-28C4-41DE-862C-7F4BC42DE80A}"/>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8129FAA2-6AC9-4F3B-A54F-47980BE86B0F}"/>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개정 전후 질문의 판본 일치 및 영향 업무 재평가</a:t>
            </a:r>
          </a:p>
        </p:txBody>
      </p:sp>
      <p:sp>
        <p:nvSpPr>
          <p:cNvPr id="16" name="">
            <a:extLst xmlns:a="http://schemas.openxmlformats.org/drawingml/2006/main">
              <a:ext uri="{FF2B5EF4-FFF2-40B4-BE49-F238E27FC236}">
                <a16:creationId xmlns:a16="http://schemas.microsoft.com/office/drawing/2014/main" id="{700AEEC4-9B1A-498F-814B-5740429BF0A3}"/>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AAFA6E75-0BC4-4A4B-88B6-426523A6D944}"/>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TS 업무 완료시간·오류·추가 구축 공수의 비교 평가</a:t>
            </a:r>
          </a:p>
        </p:txBody>
      </p:sp>
      <p:sp>
        <p:nvSpPr>
          <p:cNvPr id="18" name="">
            <a:extLst xmlns:a="http://schemas.openxmlformats.org/drawingml/2006/main">
              <a:ext uri="{FF2B5EF4-FFF2-40B4-BE49-F238E27FC236}">
                <a16:creationId xmlns:a16="http://schemas.microsoft.com/office/drawing/2014/main" id="{172752B1-B48F-44CC-87AA-4E326049E751}"/>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문서번호·답변 근거의 정비 부담 공개 · 제시된 절감 기대와 실측 성과의 구분</a:t>
            </a:r>
          </a:p>
        </p:txBody>
      </p:sp>
    </p:spTree>
    <p:extLst>
      <p:ext uri="{BB962C8B-B14F-4D97-AF65-F5344CB8AC3E}">
        <p14:creationId xmlns:p14="http://schemas.microsoft.com/office/powerpoint/2010/main" val="791644874"/>
      </p:ext>
    </p:extLst>
  </p:cSld>
</p:sld>
</file>

<file path=ppt/slides/slide79.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7AEFCF00-1284-42E5-AC30-98B6ABAFFEA6}"/>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425642C1-5A5F-45B2-8A0C-E7EE9A237C81}"/>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7CBBB2EB-B944-4EFD-A58B-125392FE8652}"/>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EE03880C-F8F1-4B31-81C5-3938634A7EB4}"/>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B20A630F-4E4A-48F5-A33B-7771749C3AF9}"/>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A92C78EF-4F48-4917-944C-7A93669F2FE4}"/>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CD0081E9-08F4-4055-A966-7AFF9DA1B54F}"/>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3FBF7006-D1FC-4CE6-B415-3929C39E031E}"/>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2718A092-5AD8-4B4F-926D-F8F91B36E71C}"/>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BE7F1194-AE01-4856-AF57-13928D668A9D}"/>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PF02 / CCK 세부 재구성 · 논리 서비스 설계</a:t>
            </a:r>
          </a:p>
        </p:txBody>
      </p:sp>
      <p:sp>
        <p:nvSpPr>
          <p:cNvPr id="2" name="">
            <a:extLst xmlns:a="http://schemas.openxmlformats.org/drawingml/2006/main">
              <a:ext uri="{FF2B5EF4-FFF2-40B4-BE49-F238E27FC236}">
                <a16:creationId xmlns:a16="http://schemas.microsoft.com/office/drawing/2014/main" id="{5BFAA397-D8F7-4E18-9FC7-2AAF8DF2992D}"/>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한전 사내표준 AI 플랫폼 · 세부 서비스 구조</a:t>
            </a:r>
          </a:p>
        </p:txBody>
      </p:sp>
      <p:sp>
        <p:nvSpPr>
          <p:cNvPr id="3" name="">
            <a:extLst xmlns:a="http://schemas.openxmlformats.org/drawingml/2006/main">
              <a:ext uri="{FF2B5EF4-FFF2-40B4-BE49-F238E27FC236}">
                <a16:creationId xmlns:a16="http://schemas.microsoft.com/office/drawing/2014/main" id="{28C83528-3BBD-465D-BA3B-BEEA72FCBAC2}"/>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6D47010-4D0C-4046-994E-B1A947B6D21E}"/>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25ECBC08-4E65-41A0-AE84-5A2577B92B21}"/>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79</a:t>
            </a:r>
          </a:p>
        </p:txBody>
      </p:sp>
      <p:sp>
        <p:nvSpPr>
          <p:cNvPr id="6" name="">
            <a:extLst xmlns:a="http://schemas.openxmlformats.org/drawingml/2006/main">
              <a:ext uri="{FF2B5EF4-FFF2-40B4-BE49-F238E27FC236}">
                <a16:creationId xmlns:a16="http://schemas.microsoft.com/office/drawing/2014/main" id="{F5D80C02-5B1D-4E39-886F-EA9BFC34C682}"/>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운영기관·공급사·감사 자료의 업무 설명</a:t>
            </a:r>
          </a:p>
        </p:txBody>
      </p:sp>
      <p:sp>
        <p:nvSpPr>
          <p:cNvPr id="7" name="">
            <a:extLst xmlns:a="http://schemas.openxmlformats.org/drawingml/2006/main">
              <a:ext uri="{FF2B5EF4-FFF2-40B4-BE49-F238E27FC236}">
                <a16:creationId xmlns:a16="http://schemas.microsoft.com/office/drawing/2014/main" id="{D38D5260-BE25-4F76-9425-B9AD3B1A2C20}"/>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C9A8A004-5631-47BA-8F09-59C4667E073A}"/>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830308D9-DBE6-4870-913C-EE7E42B2609E}"/>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사내표준 질의</a:t>
            </a:r>
          </a:p>
        </p:txBody>
      </p:sp>
      <p:sp>
        <p:nvSpPr>
          <p:cNvPr id="10" name="">
            <a:extLst xmlns:a="http://schemas.openxmlformats.org/drawingml/2006/main">
              <a:ext uri="{FF2B5EF4-FFF2-40B4-BE49-F238E27FC236}">
                <a16:creationId xmlns:a16="http://schemas.microsoft.com/office/drawing/2014/main" id="{688D5CAC-075F-436C-A733-D686A8D211B2}"/>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15A89862-A585-4D2A-9549-E37A3EF64A69}"/>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57543688-CF79-4620-966E-91BDC5CA9081}"/>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문서번호·개정사유</a:t>
            </a:r>
          </a:p>
        </p:txBody>
      </p:sp>
      <p:sp>
        <p:nvSpPr>
          <p:cNvPr id="13" name="">
            <a:extLst xmlns:a="http://schemas.openxmlformats.org/drawingml/2006/main">
              <a:ext uri="{FF2B5EF4-FFF2-40B4-BE49-F238E27FC236}">
                <a16:creationId xmlns:a16="http://schemas.microsoft.com/office/drawing/2014/main" id="{129E3A33-D209-42BD-884A-31CBEB4EA9E7}"/>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AA7A2A52-73B5-40C0-A11D-58F7287953EE}"/>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90FCB338-7F8C-450A-80D6-86EDDBF4D704}"/>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유효 표준 검색</a:t>
            </a:r>
          </a:p>
        </p:txBody>
      </p:sp>
      <p:sp>
        <p:nvSpPr>
          <p:cNvPr id="16" name="">
            <a:extLst xmlns:a="http://schemas.openxmlformats.org/drawingml/2006/main">
              <a:ext uri="{FF2B5EF4-FFF2-40B4-BE49-F238E27FC236}">
                <a16:creationId xmlns:a16="http://schemas.microsoft.com/office/drawing/2014/main" id="{1D172834-29F3-4DD5-AB40-9FC9398A0A5C}"/>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FE402BAF-377C-4DFD-9DEF-5F3B1F7281EB}"/>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C0165C66-D1E9-4A9D-9EA3-C6A9B8C80345}"/>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조문 대조·초안</a:t>
            </a:r>
          </a:p>
        </p:txBody>
      </p:sp>
      <p:sp>
        <p:nvSpPr>
          <p:cNvPr id="19" name="">
            <a:extLst xmlns:a="http://schemas.openxmlformats.org/drawingml/2006/main">
              <a:ext uri="{FF2B5EF4-FFF2-40B4-BE49-F238E27FC236}">
                <a16:creationId xmlns:a16="http://schemas.microsoft.com/office/drawing/2014/main" id="{35305749-6255-4AFE-8B96-D625443AC546}"/>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3C8815AC-7946-4F82-9ABC-88A69D268F2D}"/>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EB2DCADB-00DD-42CB-87F4-B07ED0F06EA7}"/>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영향·판본 검사</a:t>
            </a:r>
          </a:p>
        </p:txBody>
      </p:sp>
      <p:sp>
        <p:nvSpPr>
          <p:cNvPr id="22" name="">
            <a:extLst xmlns:a="http://schemas.openxmlformats.org/drawingml/2006/main">
              <a:ext uri="{FF2B5EF4-FFF2-40B4-BE49-F238E27FC236}">
                <a16:creationId xmlns:a16="http://schemas.microsoft.com/office/drawing/2014/main" id="{D8F6B4BA-0380-4CBF-93DB-8AAE91FA040A}"/>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91EF3C81-22DA-4F4C-BEA5-6D477CC17FE2}"/>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246CD8AD-286D-46B9-9D06-BCD5D92BE163}"/>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소관부서 검토</a:t>
            </a:r>
          </a:p>
        </p:txBody>
      </p:sp>
      <p:sp>
        <p:nvSpPr>
          <p:cNvPr id="25" name="">
            <a:extLst xmlns:a="http://schemas.openxmlformats.org/drawingml/2006/main">
              <a:ext uri="{FF2B5EF4-FFF2-40B4-BE49-F238E27FC236}">
                <a16:creationId xmlns:a16="http://schemas.microsoft.com/office/drawing/2014/main" id="{61CD0A27-1001-4C93-97AC-54CDDB346157}"/>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7F38DBD9-D8C4-4E4B-9A11-95128E9F9305}"/>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7C8D6CA1-DE44-47AB-AA11-B0688A0ABF92}"/>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전자결재 연결</a:t>
            </a:r>
          </a:p>
        </p:txBody>
      </p:sp>
      <p:sp>
        <p:nvSpPr>
          <p:cNvPr id="28" name="">
            <a:extLst xmlns:a="http://schemas.openxmlformats.org/drawingml/2006/main">
              <a:ext uri="{FF2B5EF4-FFF2-40B4-BE49-F238E27FC236}">
                <a16:creationId xmlns:a16="http://schemas.microsoft.com/office/drawing/2014/main" id="{477F992B-65C0-472E-B357-5AF794A51033}"/>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A2C674AD-861B-4E6D-931C-5F08689BCF57}"/>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B5BA755A-8BE0-45AB-BA7A-3AD13CC131AB}"/>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승인본 갱신</a:t>
            </a:r>
          </a:p>
        </p:txBody>
      </p:sp>
      <p:sp>
        <p:nvSpPr>
          <p:cNvPr id="31" name="">
            <a:extLst xmlns:a="http://schemas.openxmlformats.org/drawingml/2006/main">
              <a:ext uri="{FF2B5EF4-FFF2-40B4-BE49-F238E27FC236}">
                <a16:creationId xmlns:a16="http://schemas.microsoft.com/office/drawing/2014/main" id="{CFF9575F-A632-4567-9095-E5BE6136BDE5}"/>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B49185D6-0CA2-4673-93BA-9E234853EC29}"/>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AC5EB5EA-80E7-4634-803F-06E724F388A1}"/>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사내표준·개정이력</a:t>
            </a:r>
          </a:p>
        </p:txBody>
      </p:sp>
      <p:sp>
        <p:nvSpPr>
          <p:cNvPr id="34" name="">
            <a:extLst xmlns:a="http://schemas.openxmlformats.org/drawingml/2006/main">
              <a:ext uri="{FF2B5EF4-FFF2-40B4-BE49-F238E27FC236}">
                <a16:creationId xmlns:a16="http://schemas.microsoft.com/office/drawing/2014/main" id="{10123199-2340-48C7-B38F-A39A3ABB5DCD}"/>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EC56425B-6BAB-40F1-9FA7-FFCB8D488CD2}"/>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748CFC0E-53AE-457F-BBEF-651A81D7E2D1}"/>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조문·효력일 정합화</a:t>
            </a:r>
          </a:p>
        </p:txBody>
      </p:sp>
      <p:sp>
        <p:nvSpPr>
          <p:cNvPr id="37" name="">
            <a:extLst xmlns:a="http://schemas.openxmlformats.org/drawingml/2006/main">
              <a:ext uri="{FF2B5EF4-FFF2-40B4-BE49-F238E27FC236}">
                <a16:creationId xmlns:a16="http://schemas.microsoft.com/office/drawing/2014/main" id="{8549091C-E340-4CEA-A61D-B77A2623556F}"/>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33EFEA90-DFC2-4E8A-B879-A9A1C78E8D87}"/>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2CC38D01-224C-40D0-A321-A75E7E14883A}"/>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표준·개정 후보</a:t>
            </a:r>
          </a:p>
        </p:txBody>
      </p:sp>
      <p:sp>
        <p:nvSpPr>
          <p:cNvPr id="40" name="">
            <a:extLst xmlns:a="http://schemas.openxmlformats.org/drawingml/2006/main">
              <a:ext uri="{FF2B5EF4-FFF2-40B4-BE49-F238E27FC236}">
                <a16:creationId xmlns:a16="http://schemas.microsoft.com/office/drawing/2014/main" id="{5C5E2143-1020-401F-8958-ED25E1BB8D4F}"/>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3B5A455C-F748-4818-9CA5-788394622C17}"/>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1039C078-5E41-484B-BAF1-B7A423A6474A}"/>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승인·배포 권한</a:t>
            </a:r>
          </a:p>
        </p:txBody>
      </p:sp>
      <p:sp>
        <p:nvSpPr>
          <p:cNvPr id="52" name="">
            <a:extLst xmlns:a="http://schemas.openxmlformats.org/drawingml/2006/main">
              <a:ext uri="{FF2B5EF4-FFF2-40B4-BE49-F238E27FC236}">
                <a16:creationId xmlns:a16="http://schemas.microsoft.com/office/drawing/2014/main" id="{141093BE-7844-4CE8-A9F8-713A24D23C2C}"/>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371822246"/>
      </p:ext>
    </p:extLst>
  </p:cSld>
</p:sld>
</file>

<file path=ppt/slides/slide80.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6E721E82-62F7-4823-92CD-DF7421C3CFDD}"/>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PF02 / 논리 인터페이스·복구 설계</a:t>
            </a:r>
          </a:p>
        </p:txBody>
      </p:sp>
      <p:sp>
        <p:nvSpPr>
          <p:cNvPr id="2" name="">
            <a:extLst xmlns:a="http://schemas.openxmlformats.org/drawingml/2006/main">
              <a:ext uri="{FF2B5EF4-FFF2-40B4-BE49-F238E27FC236}">
                <a16:creationId xmlns:a16="http://schemas.microsoft.com/office/drawing/2014/main" id="{915405F7-8A24-4A10-943F-3AB8E1EA932A}"/>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한전 사내표준 AI 플랫폼 · 데이터와 예외 처리</a:t>
            </a:r>
          </a:p>
        </p:txBody>
      </p:sp>
      <p:sp>
        <p:nvSpPr>
          <p:cNvPr id="3" name="">
            <a:extLst xmlns:a="http://schemas.openxmlformats.org/drawingml/2006/main">
              <a:ext uri="{FF2B5EF4-FFF2-40B4-BE49-F238E27FC236}">
                <a16:creationId xmlns:a16="http://schemas.microsoft.com/office/drawing/2014/main" id="{FE76A933-2372-4EE6-8381-1C64A7D44AB6}"/>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B49E043-4129-49BF-A370-7F293A2E8367}"/>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7B7E43B9-1C86-466E-A1E6-F98D7A0D37AC}"/>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80</a:t>
            </a:r>
          </a:p>
        </p:txBody>
      </p:sp>
      <p:sp>
        <p:nvSpPr>
          <p:cNvPr id="6" name="">
            <a:extLst xmlns:a="http://schemas.openxmlformats.org/drawingml/2006/main">
              <a:ext uri="{FF2B5EF4-FFF2-40B4-BE49-F238E27FC236}">
                <a16:creationId xmlns:a16="http://schemas.microsoft.com/office/drawing/2014/main" id="{C908D618-58F6-4CBF-98F1-08258A5B6B3C}"/>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EE19E6AA-4C84-4165-877A-AA3CF8164A5B}"/>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77473016-6752-4EDD-A175-484F0CC6D87A}"/>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A506ED7B-582F-4FED-AD93-F35075692FE6}"/>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문서번호·적용 업무·검토 사유 식별</a:t>
            </a:r>
          </a:p>
        </p:txBody>
      </p:sp>
      <p:sp>
        <p:nvSpPr>
          <p:cNvPr id="10" name="">
            <a:extLst xmlns:a="http://schemas.openxmlformats.org/drawingml/2006/main">
              <a:ext uri="{FF2B5EF4-FFF2-40B4-BE49-F238E27FC236}">
                <a16:creationId xmlns:a16="http://schemas.microsoft.com/office/drawing/2014/main" id="{AA6ED12A-4784-49F1-81CD-C9C4E25208B3}"/>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4E78857-812B-42A6-8D4A-9B114FBDD768}"/>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479DCFFD-02CE-4A11-BC5F-FBF75D27FD8B}"/>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사내표준</a:t>
            </a:r>
          </a:p>
        </p:txBody>
      </p:sp>
      <p:sp>
        <p:nvSpPr>
          <p:cNvPr id="13" name="">
            <a:extLst xmlns:a="http://schemas.openxmlformats.org/drawingml/2006/main">
              <a:ext uri="{FF2B5EF4-FFF2-40B4-BE49-F238E27FC236}">
                <a16:creationId xmlns:a16="http://schemas.microsoft.com/office/drawing/2014/main" id="{66B098DC-8F19-4156-B02E-FDD646AB8CB2}"/>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175F053-7A82-40FF-9642-4BC1701BB069}"/>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E2E00468-BA85-4859-92C3-82F753D7A170}"/>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관련 조문</a:t>
            </a:r>
          </a:p>
        </p:txBody>
      </p:sp>
      <p:sp>
        <p:nvSpPr>
          <p:cNvPr id="16" name="">
            <a:extLst xmlns:a="http://schemas.openxmlformats.org/drawingml/2006/main">
              <a:ext uri="{FF2B5EF4-FFF2-40B4-BE49-F238E27FC236}">
                <a16:creationId xmlns:a16="http://schemas.microsoft.com/office/drawing/2014/main" id="{3C1933C8-9B93-4D6A-B546-D69617EAE3AF}"/>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6BEAE59-7DC3-4804-9740-661C28FC6B07}"/>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A7D1106E-4007-42E0-99BC-3C9CD7C9B9D8}"/>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개정·오류 후보</a:t>
            </a:r>
          </a:p>
        </p:txBody>
      </p:sp>
      <p:sp>
        <p:nvSpPr>
          <p:cNvPr id="19" name="">
            <a:extLst xmlns:a="http://schemas.openxmlformats.org/drawingml/2006/main">
              <a:ext uri="{FF2B5EF4-FFF2-40B4-BE49-F238E27FC236}">
                <a16:creationId xmlns:a16="http://schemas.microsoft.com/office/drawing/2014/main" id="{5A9FFD4A-E27B-4F44-B2BC-3BD4361563D2}"/>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E0198DF-2D2F-4079-BD60-F6E467914EBD}"/>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BC0DBB79-F8D3-4D24-8F02-3D438BBC13B8}"/>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개정·오류 후보</a:t>
            </a:r>
          </a:p>
        </p:txBody>
      </p:sp>
      <p:sp>
        <p:nvSpPr>
          <p:cNvPr id="22" name="">
            <a:extLst xmlns:a="http://schemas.openxmlformats.org/drawingml/2006/main">
              <a:ext uri="{FF2B5EF4-FFF2-40B4-BE49-F238E27FC236}">
                <a16:creationId xmlns:a16="http://schemas.microsoft.com/office/drawing/2014/main" id="{520AF395-0F30-440A-B177-90069B576858}"/>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14B3A37-A698-4373-A658-2BFF4AA1CEE7}"/>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4B13DA84-FE73-4980-8254-C9CE020D5029}"/>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결재 검토</a:t>
            </a:r>
          </a:p>
        </p:txBody>
      </p:sp>
      <p:sp>
        <p:nvSpPr>
          <p:cNvPr id="25" name="">
            <a:extLst xmlns:a="http://schemas.openxmlformats.org/drawingml/2006/main">
              <a:ext uri="{FF2B5EF4-FFF2-40B4-BE49-F238E27FC236}">
                <a16:creationId xmlns:a16="http://schemas.microsoft.com/office/drawing/2014/main" id="{5D065BC7-7302-4153-A94F-E8047DEF9448}"/>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D5EF0D6F-36D4-4101-ACC8-20E76034BBDC}"/>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미승인 개정안·참조 조문 삭제·구판 재인용</a:t>
            </a:r>
          </a:p>
        </p:txBody>
      </p:sp>
      <p:sp>
        <p:nvSpPr>
          <p:cNvPr id="27" name="">
            <a:extLst xmlns:a="http://schemas.openxmlformats.org/drawingml/2006/main">
              <a:ext uri="{FF2B5EF4-FFF2-40B4-BE49-F238E27FC236}">
                <a16:creationId xmlns:a16="http://schemas.microsoft.com/office/drawing/2014/main" id="{6328A242-C1EB-4171-A059-A95A238342CC}"/>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1778A632-D866-4F72-9C56-AE0E445417F1}"/>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승인 판본·효력일·영향 조문 대사</a:t>
            </a:r>
          </a:p>
        </p:txBody>
      </p:sp>
      <p:sp>
        <p:nvSpPr>
          <p:cNvPr id="29" name="">
            <a:extLst xmlns:a="http://schemas.openxmlformats.org/drawingml/2006/main">
              <a:ext uri="{FF2B5EF4-FFF2-40B4-BE49-F238E27FC236}">
                <a16:creationId xmlns:a16="http://schemas.microsoft.com/office/drawing/2014/main" id="{902E2D6C-A4C2-42EB-B156-70368E9EBD60}"/>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30338233-6F9F-4BF1-A419-2602456183CC}"/>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승인본 반영·구판 회수·개정 영향 점검</a:t>
            </a:r>
          </a:p>
        </p:txBody>
      </p:sp>
      <p:sp>
        <p:nvSpPr>
          <p:cNvPr id="31" name="">
            <a:extLst xmlns:a="http://schemas.openxmlformats.org/drawingml/2006/main">
              <a:ext uri="{FF2B5EF4-FFF2-40B4-BE49-F238E27FC236}">
                <a16:creationId xmlns:a16="http://schemas.microsoft.com/office/drawing/2014/main" id="{84D4FB1F-6ECD-435C-AFAD-8EEF5D291F91}"/>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50EFFCC5-F446-4B36-AA15-8AC2736151A8}"/>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판본별 변경·영향·결재·색인 반영 연결표</a:t>
            </a:r>
          </a:p>
        </p:txBody>
      </p:sp>
    </p:spTree>
    <p:extLst>
      <p:ext uri="{BB962C8B-B14F-4D97-AF65-F5344CB8AC3E}">
        <p14:creationId xmlns:p14="http://schemas.microsoft.com/office/powerpoint/2010/main" val="94479713"/>
      </p:ext>
    </p:extLst>
  </p:cSld>
</p:sld>
</file>

<file path=ppt/slides/slide81.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DDFE775-0F75-48AE-9AF9-0B3216D225DC}"/>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PF02 / CCK 비교·재현 시험 설계</a:t>
            </a:r>
          </a:p>
        </p:txBody>
      </p:sp>
      <p:sp>
        <p:nvSpPr>
          <p:cNvPr id="2" name="">
            <a:extLst xmlns:a="http://schemas.openxmlformats.org/drawingml/2006/main">
              <a:ext uri="{FF2B5EF4-FFF2-40B4-BE49-F238E27FC236}">
                <a16:creationId xmlns:a16="http://schemas.microsoft.com/office/drawing/2014/main" id="{B1DE5018-EAAE-42C0-9220-32E805ACF760}"/>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한전 사내표준 AI 플랫폼 · 벤치마킹</a:t>
            </a:r>
          </a:p>
        </p:txBody>
      </p:sp>
      <p:sp>
        <p:nvSpPr>
          <p:cNvPr id="3" name="">
            <a:extLst xmlns:a="http://schemas.openxmlformats.org/drawingml/2006/main">
              <a:ext uri="{FF2B5EF4-FFF2-40B4-BE49-F238E27FC236}">
                <a16:creationId xmlns:a16="http://schemas.microsoft.com/office/drawing/2014/main" id="{CB3C12FE-CF6B-45F1-B853-8797BEE09244}"/>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9B3BAE1-2BA6-4860-AAAE-30AEB77C1072}"/>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D7630FBA-8E0F-4FDD-B4A8-F70C661FF7A3}"/>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81</a:t>
            </a:r>
          </a:p>
        </p:txBody>
      </p:sp>
      <p:sp>
        <p:nvSpPr>
          <p:cNvPr id="6" name="">
            <a:extLst xmlns:a="http://schemas.openxmlformats.org/drawingml/2006/main">
              <a:ext uri="{FF2B5EF4-FFF2-40B4-BE49-F238E27FC236}">
                <a16:creationId xmlns:a16="http://schemas.microsoft.com/office/drawing/2014/main" id="{651887A3-BFFB-4057-948C-1C0FB29DFC4B}"/>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1293F554-03EF-4ECC-9223-3689A8CD65FD}"/>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사내표준 검색과 개정 검토 연결</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전자결재 흐름에서의 활용</a:t>
            </a:r>
          </a:p>
        </p:txBody>
      </p:sp>
      <p:sp>
        <p:nvSpPr>
          <p:cNvPr id="8" name="">
            <a:extLst xmlns:a="http://schemas.openxmlformats.org/drawingml/2006/main">
              <a:ext uri="{FF2B5EF4-FFF2-40B4-BE49-F238E27FC236}">
                <a16:creationId xmlns:a16="http://schemas.microsoft.com/office/drawing/2014/main" id="{70FB1590-D775-49D0-93F0-B35B88ED0ED7}"/>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C18F9095-FB05-45FD-8B11-7EDAE78ACBA8}"/>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규정 판본·효력일 불일치</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개정 초안의 무승인 배포</a:t>
            </a:r>
          </a:p>
        </p:txBody>
      </p:sp>
      <p:sp>
        <p:nvSpPr>
          <p:cNvPr id="10" name="">
            <a:extLst xmlns:a="http://schemas.openxmlformats.org/drawingml/2006/main">
              <a:ext uri="{FF2B5EF4-FFF2-40B4-BE49-F238E27FC236}">
                <a16:creationId xmlns:a16="http://schemas.microsoft.com/office/drawing/2014/main" id="{5EC9CA92-203A-4BE3-A24C-9A2FF0072588}"/>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C0D9DB1F-8C8B-4FE7-BFE9-511702357149}"/>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승인 판본·효력일·영향 조문 대사</a:t>
            </a:r>
          </a:p>
        </p:txBody>
      </p:sp>
      <p:sp>
        <p:nvSpPr>
          <p:cNvPr id="12" name="">
            <a:extLst xmlns:a="http://schemas.openxmlformats.org/drawingml/2006/main">
              <a:ext uri="{FF2B5EF4-FFF2-40B4-BE49-F238E27FC236}">
                <a16:creationId xmlns:a16="http://schemas.microsoft.com/office/drawing/2014/main" id="{89FEFD40-5826-43FF-8FA4-7F725AFCE9A9}"/>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4FC6908A-B8DB-4D1B-9D25-8268FC16B162}"/>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특정 사내표준을 개정하고 영향 조문을 검토해 결</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재</a:t>
            </a:r>
          </a:p>
        </p:txBody>
      </p:sp>
      <p:sp>
        <p:nvSpPr>
          <p:cNvPr id="14" name="">
            <a:extLst xmlns:a="http://schemas.openxmlformats.org/drawingml/2006/main">
              <a:ext uri="{FF2B5EF4-FFF2-40B4-BE49-F238E27FC236}">
                <a16:creationId xmlns:a16="http://schemas.microsoft.com/office/drawing/2014/main" id="{C83B30D1-03A4-4A20-94C6-AB46FC27A8EF}"/>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9E9AC8F2-92AC-4BB5-A496-E7D7AD292938}"/>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미승인 개정안·참조 조문 삭제·구판 재인용</a:t>
            </a:r>
          </a:p>
        </p:txBody>
      </p:sp>
      <p:sp>
        <p:nvSpPr>
          <p:cNvPr id="16" name="">
            <a:extLst xmlns:a="http://schemas.openxmlformats.org/drawingml/2006/main">
              <a:ext uri="{FF2B5EF4-FFF2-40B4-BE49-F238E27FC236}">
                <a16:creationId xmlns:a16="http://schemas.microsoft.com/office/drawing/2014/main" id="{D664084B-BE89-446D-9129-80E6305DF739}"/>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85B7AE82-3491-41E4-BB5E-46AA06261B57}"/>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판본별 변경·영향·결재·색인 반영 연결표</a:t>
            </a:r>
          </a:p>
        </p:txBody>
      </p:sp>
    </p:spTree>
    <p:extLst>
      <p:ext uri="{BB962C8B-B14F-4D97-AF65-F5344CB8AC3E}">
        <p14:creationId xmlns:p14="http://schemas.microsoft.com/office/powerpoint/2010/main" val="2017732986"/>
      </p:ext>
    </p:extLst>
  </p:cSld>
</p:sld>
</file>

<file path=ppt/slides/slide8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1222CF1-81C0-4D82-A5BA-4F3F6D3668E2}"/>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PF-A03 / 공식 RFP 확보 / 운영 성과 미확인 / 국내</a:t>
            </a:r>
          </a:p>
        </p:txBody>
      </p:sp>
      <p:sp>
        <p:nvSpPr>
          <p:cNvPr id="2" name="">
            <a:extLst xmlns:a="http://schemas.openxmlformats.org/drawingml/2006/main">
              <a:ext uri="{FF2B5EF4-FFF2-40B4-BE49-F238E27FC236}">
                <a16:creationId xmlns:a16="http://schemas.microsoft.com/office/drawing/2014/main" id="{E3828370-5019-4A68-A44D-A0A8916E3C4C}"/>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KIND 생성형 AI</a:t>
            </a:r>
          </a:p>
        </p:txBody>
      </p:sp>
      <p:sp>
        <p:nvSpPr>
          <p:cNvPr id="3" name="">
            <a:extLst xmlns:a="http://schemas.openxmlformats.org/drawingml/2006/main">
              <a:ext uri="{FF2B5EF4-FFF2-40B4-BE49-F238E27FC236}">
                <a16:creationId xmlns:a16="http://schemas.microsoft.com/office/drawing/2014/main" id="{0597492A-F30E-41E3-8CC3-AC07CA3E69B8}"/>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CAD565C-7AB8-47D3-9C76-3A40228E7FA4}"/>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5D7F79A9-273B-44EC-82B0-A886AE442630}"/>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82</a:t>
            </a:r>
          </a:p>
        </p:txBody>
      </p:sp>
      <p:sp>
        <p:nvSpPr>
          <p:cNvPr id="6" name="">
            <a:extLst xmlns:a="http://schemas.openxmlformats.org/drawingml/2006/main">
              <a:ext uri="{FF2B5EF4-FFF2-40B4-BE49-F238E27FC236}">
                <a16:creationId xmlns:a16="http://schemas.microsoft.com/office/drawing/2014/main" id="{312C79AC-33F7-4EAD-AC95-D8D661FEF797}"/>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A08D3490-AA28-47B0-9A2B-4C53BAA4778E}"/>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해외 인프라 사업 산출물의 검색과 업무별 에이전트 활</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용을 기관 공통 서비스로 구성하는 요구. 사업·부서마다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보유 문서와 접근조건이 달라 문서 수집 단계부터 소유·</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권한·업무 문맥을 연결해야 하는 유형.</a:t>
            </a:r>
          </a:p>
        </p:txBody>
      </p:sp>
      <p:sp>
        <p:nvSpPr>
          <p:cNvPr id="8" name="">
            <a:extLst xmlns:a="http://schemas.openxmlformats.org/drawingml/2006/main">
              <a:ext uri="{FF2B5EF4-FFF2-40B4-BE49-F238E27FC236}">
                <a16:creationId xmlns:a16="http://schemas.microsoft.com/office/drawing/2014/main" id="{0C3EFCF6-6748-4A7C-8AEE-1EF253662094}"/>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B7F3201B-026C-4D7D-BC5B-708B2C7E7A83}"/>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RFP 사업범위의 핵심은 문서 메타데이터 자동 부착, 청</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킹, 하이브리드 검색의 동적 권한 필터, API 기반 업무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에이전트. 검색 결과를 나중에 가리는 방식보다 검색 후</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보를 구성할 때 허용 자료만 전달하는 설계가 주요 비교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지점.</a:t>
            </a:r>
          </a:p>
        </p:txBody>
      </p:sp>
      <p:sp>
        <p:nvSpPr>
          <p:cNvPr id="10" name="">
            <a:extLst xmlns:a="http://schemas.openxmlformats.org/drawingml/2006/main">
              <a:ext uri="{FF2B5EF4-FFF2-40B4-BE49-F238E27FC236}">
                <a16:creationId xmlns:a16="http://schemas.microsoft.com/office/drawing/2014/main" id="{4BF2AC8B-092D-45A1-8972-FE810B2C8B67}"/>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50C32C14-8EFE-48B6-9E04-2C8A4022ABD1}"/>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CCK에서는 기관 공통 RAG를 재사용하면서 공식 조직·</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사업 ID와 문서 권한을 추가 연결하는 범위로 구체화. 전</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보·겸직·사업 종료·문서 회수에 따른 색인과 캐시의 갱신,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API 도구별 실행권한을 별도 검수할 필요.</a:t>
            </a:r>
          </a:p>
        </p:txBody>
      </p:sp>
      <p:sp>
        <p:nvSpPr>
          <p:cNvPr id="12" name="">
            <a:extLst xmlns:a="http://schemas.openxmlformats.org/drawingml/2006/main">
              <a:ext uri="{FF2B5EF4-FFF2-40B4-BE49-F238E27FC236}">
                <a16:creationId xmlns:a16="http://schemas.microsoft.com/office/drawing/2014/main" id="{B718A342-4C65-40E8-AB14-15EEAA787DCB}"/>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66E33A2F-DA4D-493A-BDBC-A8BD4ECF9C6E}"/>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28352B"/>
                </a:solidFill>
                <a:latin typeface="Pretendard"/>
                <a:ea typeface="Pretendard"/>
                <a:cs typeface="Pretendard"/>
              </a:defRPr>
            </a:defPPr>
          </a:lstStyle>
          <a:p xmlns:a="http://schemas.openxmlformats.org/drawingml/2006/main">
            <a:pPr>
              <a:defRPr sz="1425" b="0">
                <a:solidFill>
                  <a:srgbClr val="28352B"/>
                </a:solidFill>
                <a:latin typeface="Pretendard"/>
                <a:ea typeface="Pretendard"/>
                <a:cs typeface="Pretendard"/>
              </a:defRPr>
            </a:pPr>
            <a:r>
              <a:rPr sz="1425" b="0">
                <a:solidFill>
                  <a:srgbClr val="28352B"/>
                </a:solidFill>
                <a:latin typeface="Pretendard"/>
                <a:ea typeface="Pretendard"/>
                <a:cs typeface="Pretendard"/>
              </a:rPr>
              <a:t>사업·문서·청크 메타데이터 / 동적 권한 필터 / 부서별 API 어댑</a:t>
            </a:r>
          </a:p>
          <a:p xmlns:a="http://schemas.openxmlformats.org/drawingml/2006/main">
            <a:pPr>
              <a:defRPr sz="1425" b="0">
                <a:solidFill>
                  <a:srgbClr val="28352B"/>
                </a:solidFill>
                <a:latin typeface="Pretendard"/>
                <a:ea typeface="Pretendard"/>
                <a:cs typeface="Pretendard"/>
              </a:defRPr>
            </a:pPr>
            <a:r>
              <a:rPr sz="1425" b="0">
                <a:solidFill>
                  <a:srgbClr val="28352B"/>
                </a:solidFill>
                <a:latin typeface="Pretendard"/>
                <a:ea typeface="Pretendard"/>
                <a:cs typeface="Pretendard"/>
              </a:rPr>
              <a:t>터</a:t>
            </a:r>
          </a:p>
        </p:txBody>
      </p:sp>
      <p:sp>
        <p:nvSpPr>
          <p:cNvPr id="14" name="">
            <a:extLst xmlns:a="http://schemas.openxmlformats.org/drawingml/2006/main">
              <a:ext uri="{FF2B5EF4-FFF2-40B4-BE49-F238E27FC236}">
                <a16:creationId xmlns:a16="http://schemas.microsoft.com/office/drawing/2014/main" id="{7064C0AA-E7A3-45F4-B985-AF9FBFE26A39}"/>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E916C80A-60ED-4B72-B398-48FF4E9A5B2C}"/>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암호문서·권한 회수·메타데이터 누락 상태에서 검색 결과</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와 원천 대사</a:t>
            </a:r>
          </a:p>
        </p:txBody>
      </p:sp>
      <p:sp>
        <p:nvSpPr>
          <p:cNvPr id="16" name="">
            <a:extLst xmlns:a="http://schemas.openxmlformats.org/drawingml/2006/main">
              <a:ext uri="{FF2B5EF4-FFF2-40B4-BE49-F238E27FC236}">
                <a16:creationId xmlns:a16="http://schemas.microsoft.com/office/drawing/2014/main" id="{ED2D6D66-DBBA-4875-A46E-C758B0830848}"/>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E1F895F6-85FA-449A-8EEB-7AAB9137F377}"/>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권한 오노출 / 근거 일치율 / 지식 갱신 지연</a:t>
            </a:r>
          </a:p>
        </p:txBody>
      </p:sp>
      <p:sp>
        <p:nvSpPr>
          <p:cNvPr id="18" name="">
            <a:extLst xmlns:a="http://schemas.openxmlformats.org/drawingml/2006/main">
              <a:ext uri="{FF2B5EF4-FFF2-40B4-BE49-F238E27FC236}">
                <a16:creationId xmlns:a16="http://schemas.microsoft.com/office/drawing/2014/main" id="{2708B315-C838-4F42-8DD2-D87C7F3FAC0D}"/>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로컬 PUBLIC 원본 재사용 사례. 최신 계약·검수·운영 상황은 별도 확인 필요</a:t>
            </a:r>
          </a:p>
        </p:txBody>
      </p:sp>
    </p:spTree>
    <p:extLst>
      <p:ext uri="{BB962C8B-B14F-4D97-AF65-F5344CB8AC3E}">
        <p14:creationId xmlns:p14="http://schemas.microsoft.com/office/powerpoint/2010/main" val="757690017"/>
      </p:ext>
    </p:extLst>
  </p:cSld>
</p:sld>
</file>

<file path=ppt/slides/slide8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E380377-4BCF-4F07-815B-8100BFCF0811}"/>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PF-A03 / 대내 생성형 AI 서비스 구축 RFP · Ⅰ.3 사업범위·메타데이터 및 동적 권한 필터 / 1–3</a:t>
            </a:r>
          </a:p>
        </p:txBody>
      </p:sp>
      <p:sp>
        <p:nvSpPr>
          <p:cNvPr id="2" name="">
            <a:extLst xmlns:a="http://schemas.openxmlformats.org/drawingml/2006/main">
              <a:ext uri="{FF2B5EF4-FFF2-40B4-BE49-F238E27FC236}">
                <a16:creationId xmlns:a16="http://schemas.microsoft.com/office/drawing/2014/main" id="{B3A2F273-44C4-4C48-9682-3CB2270AABD9}"/>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KIND 생성형 AI · RFP 요구사항</a:t>
            </a:r>
          </a:p>
        </p:txBody>
      </p:sp>
      <p:sp>
        <p:nvSpPr>
          <p:cNvPr id="3" name="">
            <a:extLst xmlns:a="http://schemas.openxmlformats.org/drawingml/2006/main">
              <a:ext uri="{FF2B5EF4-FFF2-40B4-BE49-F238E27FC236}">
                <a16:creationId xmlns:a16="http://schemas.microsoft.com/office/drawing/2014/main" id="{EF2682E8-AB03-4F13-A3DE-3B1378665D4F}"/>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95CE8B9-E6B1-4119-A365-BA4A84DDD024}"/>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2214EF29-1751-4FAE-B051-5A629303CFB0}"/>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83</a:t>
            </a:r>
          </a:p>
        </p:txBody>
      </p:sp>
      <p:sp>
        <p:nvSpPr>
          <p:cNvPr id="6" name="">
            <a:extLst xmlns:a="http://schemas.openxmlformats.org/drawingml/2006/main">
              <a:ext uri="{FF2B5EF4-FFF2-40B4-BE49-F238E27FC236}">
                <a16:creationId xmlns:a16="http://schemas.microsoft.com/office/drawing/2014/main" id="{01FA336F-BC94-426B-991E-A07C20F41896}"/>
              </a:ext>
            </a:extLst>
          </p:cNvPr>
          <p:cNvSpPr>
            <a:spLocks xmlns:a="http://schemas.openxmlformats.org/drawingml/2006/main" noGrp="1"/>
          </p:cNvSpPr>
          <p:nvPr/>
        </p:nvSpPr>
        <p:spPr>
          <a:xfrm xmlns:a="http://schemas.openxmlformats.org/drawingml/2006/main">
            <a:off x="571500" y="167640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813EDDD-DCE1-45E1-AC1F-B05D594C8AFE}"/>
              </a:ext>
            </a:extLst>
          </p:cNvPr>
          <p:cNvSpPr>
            <a:spLocks xmlns:a="http://schemas.openxmlformats.org/drawingml/2006/main" noGrp="1"/>
          </p:cNvSpPr>
          <p:nvPr/>
        </p:nvSpPr>
        <p:spPr>
          <a:xfrm xmlns:a="http://schemas.openxmlformats.org/drawingml/2006/main">
            <a:off x="571500" y="1752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Ⅰ.3 / 지식검색 사내 산출물 기반 RAG</a:t>
            </a:r>
          </a:p>
        </p:txBody>
      </p:sp>
      <p:sp>
        <p:nvSpPr>
          <p:cNvPr id="8" name="">
            <a:extLst xmlns:a="http://schemas.openxmlformats.org/drawingml/2006/main">
              <a:ext uri="{FF2B5EF4-FFF2-40B4-BE49-F238E27FC236}">
                <a16:creationId xmlns:a16="http://schemas.microsoft.com/office/drawing/2014/main" id="{093D961F-5B80-4506-9B6D-EC2736B1911C}"/>
              </a:ext>
            </a:extLst>
          </p:cNvPr>
          <p:cNvSpPr>
            <a:spLocks xmlns:a="http://schemas.openxmlformats.org/drawingml/2006/main" noGrp="1"/>
          </p:cNvSpPr>
          <p:nvPr/>
        </p:nvSpPr>
        <p:spPr>
          <a:xfrm xmlns:a="http://schemas.openxmlformats.org/drawingml/2006/main">
            <a:off x="571500" y="21336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내부 산출물의 수집·정제·메타데이터와 검색 증강 기반 질</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의응답 구성.</a:t>
            </a:r>
          </a:p>
        </p:txBody>
      </p:sp>
      <p:sp>
        <p:nvSpPr>
          <p:cNvPr id="9" name="">
            <a:extLst xmlns:a="http://schemas.openxmlformats.org/drawingml/2006/main">
              <a:ext uri="{FF2B5EF4-FFF2-40B4-BE49-F238E27FC236}">
                <a16:creationId xmlns:a16="http://schemas.microsoft.com/office/drawing/2014/main" id="{397DFF7A-01EF-4891-A562-2608694AFE58}"/>
              </a:ext>
            </a:extLst>
          </p:cNvPr>
          <p:cNvSpPr>
            <a:spLocks xmlns:a="http://schemas.openxmlformats.org/drawingml/2006/main" noGrp="1"/>
          </p:cNvSpPr>
          <p:nvPr/>
        </p:nvSpPr>
        <p:spPr>
          <a:xfrm xmlns:a="http://schemas.openxmlformats.org/drawingml/2006/main">
            <a:off x="6334125" y="213360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C03 · C09 · C10 · C11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문서 개정·삭제·다른 업무 자료 혼재 시 원문·판본·인용 위치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대사</a:t>
            </a:r>
          </a:p>
        </p:txBody>
      </p:sp>
      <p:sp>
        <p:nvSpPr>
          <p:cNvPr id="10" name="">
            <a:extLst xmlns:a="http://schemas.openxmlformats.org/drawingml/2006/main">
              <a:ext uri="{FF2B5EF4-FFF2-40B4-BE49-F238E27FC236}">
                <a16:creationId xmlns:a16="http://schemas.microsoft.com/office/drawing/2014/main" id="{C0474A22-1A86-46E0-AA4B-7FF544FCC4D4}"/>
              </a:ext>
            </a:extLst>
          </p:cNvPr>
          <p:cNvSpPr>
            <a:spLocks xmlns:a="http://schemas.openxmlformats.org/drawingml/2006/main" noGrp="1"/>
          </p:cNvSpPr>
          <p:nvPr/>
        </p:nvSpPr>
        <p:spPr>
          <a:xfrm xmlns:a="http://schemas.openxmlformats.org/drawingml/2006/main">
            <a:off x="571500" y="3133725"/>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DE447C2-5EFC-40F2-BE5A-38CB34C888AB}"/>
              </a:ext>
            </a:extLst>
          </p:cNvPr>
          <p:cNvSpPr>
            <a:spLocks xmlns:a="http://schemas.openxmlformats.org/drawingml/2006/main" noGrp="1"/>
          </p:cNvSpPr>
          <p:nvPr/>
        </p:nvSpPr>
        <p:spPr>
          <a:xfrm xmlns:a="http://schemas.openxmlformats.org/drawingml/2006/main">
            <a:off x="571500" y="32099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Ⅰ.3 / 권한 메타데이터·동적 권한 필터</a:t>
            </a:r>
          </a:p>
        </p:txBody>
      </p:sp>
      <p:sp>
        <p:nvSpPr>
          <p:cNvPr id="12" name="">
            <a:extLst xmlns:a="http://schemas.openxmlformats.org/drawingml/2006/main">
              <a:ext uri="{FF2B5EF4-FFF2-40B4-BE49-F238E27FC236}">
                <a16:creationId xmlns:a16="http://schemas.microsoft.com/office/drawing/2014/main" id="{DF50BEB5-F8E8-4DC2-9AA5-4C67CC803156}"/>
              </a:ext>
            </a:extLst>
          </p:cNvPr>
          <p:cNvSpPr>
            <a:spLocks xmlns:a="http://schemas.openxmlformats.org/drawingml/2006/main" noGrp="1"/>
          </p:cNvSpPr>
          <p:nvPr/>
        </p:nvSpPr>
        <p:spPr>
          <a:xfrm xmlns:a="http://schemas.openxmlformats.org/drawingml/2006/main">
            <a:off x="571500" y="35909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문서 메타데이터와 사용자 권한을 이용해 검색·응답 대상</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을 제한하는 요구.</a:t>
            </a:r>
          </a:p>
        </p:txBody>
      </p:sp>
      <p:sp>
        <p:nvSpPr>
          <p:cNvPr id="13" name="">
            <a:extLst xmlns:a="http://schemas.openxmlformats.org/drawingml/2006/main">
              <a:ext uri="{FF2B5EF4-FFF2-40B4-BE49-F238E27FC236}">
                <a16:creationId xmlns:a16="http://schemas.microsoft.com/office/drawing/2014/main" id="{6670B40F-C7BA-45DA-A301-442C21C20D33}"/>
              </a:ext>
            </a:extLst>
          </p:cNvPr>
          <p:cNvSpPr>
            <a:spLocks xmlns:a="http://schemas.openxmlformats.org/drawingml/2006/main" noGrp="1"/>
          </p:cNvSpPr>
          <p:nvPr/>
        </p:nvSpPr>
        <p:spPr>
          <a:xfrm xmlns:a="http://schemas.openxmlformats.org/drawingml/2006/main">
            <a:off x="6334125" y="359092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C02 · C03 · C12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전보·공유 해제·권한 회수 직후 검색 후보와 답변 인용에서 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허용 자료 제외 확인</a:t>
            </a:r>
          </a:p>
        </p:txBody>
      </p:sp>
      <p:sp>
        <p:nvSpPr>
          <p:cNvPr id="14" name="">
            <a:extLst xmlns:a="http://schemas.openxmlformats.org/drawingml/2006/main">
              <a:ext uri="{FF2B5EF4-FFF2-40B4-BE49-F238E27FC236}">
                <a16:creationId xmlns:a16="http://schemas.microsoft.com/office/drawing/2014/main" id="{5A8CABF2-E793-4245-846D-F7BFDAE86B45}"/>
              </a:ext>
            </a:extLst>
          </p:cNvPr>
          <p:cNvSpPr>
            <a:spLocks xmlns:a="http://schemas.openxmlformats.org/drawingml/2006/main" noGrp="1"/>
          </p:cNvSpPr>
          <p:nvPr/>
        </p:nvSpPr>
        <p:spPr>
          <a:xfrm xmlns:a="http://schemas.openxmlformats.org/drawingml/2006/main">
            <a:off x="571500" y="45910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B51589D-8908-46F9-9239-7D321963F94E}"/>
              </a:ext>
            </a:extLst>
          </p:cNvPr>
          <p:cNvSpPr>
            <a:spLocks xmlns:a="http://schemas.openxmlformats.org/drawingml/2006/main" noGrp="1"/>
          </p:cNvSpPr>
          <p:nvPr/>
        </p:nvSpPr>
        <p:spPr>
          <a:xfrm xmlns:a="http://schemas.openxmlformats.org/drawingml/2006/main">
            <a:off x="571500" y="46672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Ⅰ.3 / 업무연계 내부 API 기반 업무 에이전트</a:t>
            </a:r>
          </a:p>
        </p:txBody>
      </p:sp>
      <p:sp>
        <p:nvSpPr>
          <p:cNvPr id="16" name="">
            <a:extLst xmlns:a="http://schemas.openxmlformats.org/drawingml/2006/main">
              <a:ext uri="{FF2B5EF4-FFF2-40B4-BE49-F238E27FC236}">
                <a16:creationId xmlns:a16="http://schemas.microsoft.com/office/drawing/2014/main" id="{3C2BB861-0B7B-472A-84D8-AB35BC13281B}"/>
              </a:ext>
            </a:extLst>
          </p:cNvPr>
          <p:cNvSpPr>
            <a:spLocks xmlns:a="http://schemas.openxmlformats.org/drawingml/2006/main" noGrp="1"/>
          </p:cNvSpPr>
          <p:nvPr/>
        </p:nvSpPr>
        <p:spPr>
          <a:xfrm xmlns:a="http://schemas.openxmlformats.org/drawingml/2006/main">
            <a:off x="571500" y="504825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내부 업무시스템의 API를 활용해 요청을 처리하는 업무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에이전트 구성.</a:t>
            </a:r>
          </a:p>
        </p:txBody>
      </p:sp>
      <p:sp>
        <p:nvSpPr>
          <p:cNvPr id="17" name="">
            <a:extLst xmlns:a="http://schemas.openxmlformats.org/drawingml/2006/main">
              <a:ext uri="{FF2B5EF4-FFF2-40B4-BE49-F238E27FC236}">
                <a16:creationId xmlns:a16="http://schemas.microsoft.com/office/drawing/2014/main" id="{AFD52DC9-B001-4D16-9F5B-C796CF8F9DD3}"/>
              </a:ext>
            </a:extLst>
          </p:cNvPr>
          <p:cNvSpPr>
            <a:spLocks xmlns:a="http://schemas.openxmlformats.org/drawingml/2006/main" noGrp="1"/>
          </p:cNvSpPr>
          <p:nvPr/>
        </p:nvSpPr>
        <p:spPr>
          <a:xfrm xmlns:a="http://schemas.openxmlformats.org/drawingml/2006/main">
            <a:off x="6334125" y="5048250"/>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C04 · C06 · C07 / 검수 설계</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권한 없는 실행·필수값 누락·중복 호출·부분 실패의 보류 및 </a:t>
            </a:r>
          </a:p>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처리 결과 대사</a:t>
            </a:r>
          </a:p>
        </p:txBody>
      </p:sp>
    </p:spTree>
    <p:extLst>
      <p:ext uri="{BB962C8B-B14F-4D97-AF65-F5344CB8AC3E}">
        <p14:creationId xmlns:p14="http://schemas.microsoft.com/office/powerpoint/2010/main" val="1134264877"/>
      </p:ext>
    </p:extLst>
  </p:cSld>
</p:sld>
</file>

<file path=ppt/slides/slide8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3AE33348-4A12-42D5-9BBB-6B2EDF391366}"/>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E823AA95-67D9-47E8-93B4-084287C442CB}"/>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E3A76AEB-7713-46FB-997D-76A313E0CC1F}"/>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A9C2F1DA-6DCE-4A10-AC2E-1F26D8E713C3}"/>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178DC27B-A133-40EC-8437-57FC36887811}"/>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5B2338AC-7083-4312-B97F-2C11FC9712D6}"/>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FC695B7B-D6CD-4EA7-A17D-8F14C784AB45}"/>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2A15EB39-9F93-4ECA-88E9-9C0B661BEBD7}"/>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9CDDB669-7EDC-43EE-A39B-93E10918D433}"/>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D5735304-17FD-467C-9EA0-7023C0FC068A}"/>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PF-A03 / CCK 세부 재구성 · 논리 서비스 설계</a:t>
            </a:r>
          </a:p>
        </p:txBody>
      </p:sp>
      <p:sp>
        <p:nvSpPr>
          <p:cNvPr id="2" name="">
            <a:extLst xmlns:a="http://schemas.openxmlformats.org/drawingml/2006/main">
              <a:ext uri="{FF2B5EF4-FFF2-40B4-BE49-F238E27FC236}">
                <a16:creationId xmlns:a16="http://schemas.microsoft.com/office/drawing/2014/main" id="{5450C13A-08A3-4433-853C-65297DA97268}"/>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KIND 생성형 AI · 세부 서비스 구조</a:t>
            </a:r>
          </a:p>
        </p:txBody>
      </p:sp>
      <p:sp>
        <p:nvSpPr>
          <p:cNvPr id="3" name="">
            <a:extLst xmlns:a="http://schemas.openxmlformats.org/drawingml/2006/main">
              <a:ext uri="{FF2B5EF4-FFF2-40B4-BE49-F238E27FC236}">
                <a16:creationId xmlns:a16="http://schemas.microsoft.com/office/drawing/2014/main" id="{CE855721-9816-4FC2-A0F8-99C8CF06C99E}"/>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816D9C4-FD60-4F6D-B2AC-52F675E7653E}"/>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8410FB8F-8A76-445B-A291-839770E8418F}"/>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84</a:t>
            </a:r>
          </a:p>
        </p:txBody>
      </p:sp>
      <p:sp>
        <p:nvSpPr>
          <p:cNvPr id="6" name="">
            <a:extLst xmlns:a="http://schemas.openxmlformats.org/drawingml/2006/main">
              <a:ext uri="{FF2B5EF4-FFF2-40B4-BE49-F238E27FC236}">
                <a16:creationId xmlns:a16="http://schemas.microsoft.com/office/drawing/2014/main" id="{2C50B294-9467-44BD-AD11-1E09542CAE61}"/>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RFP Ⅰ.3 사업범위</a:t>
            </a:r>
          </a:p>
        </p:txBody>
      </p:sp>
      <p:sp>
        <p:nvSpPr>
          <p:cNvPr id="7" name="">
            <a:extLst xmlns:a="http://schemas.openxmlformats.org/drawingml/2006/main">
              <a:ext uri="{FF2B5EF4-FFF2-40B4-BE49-F238E27FC236}">
                <a16:creationId xmlns:a16="http://schemas.microsoft.com/office/drawing/2014/main" id="{E4377B7A-70EE-418F-BEE0-D05EA6BE34B8}"/>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AD666440-A2E7-4750-BE4D-AA601379637A}"/>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948C33EE-2089-4970-A263-451BA86856FB}"/>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기관 사용자 접점</a:t>
            </a:r>
          </a:p>
        </p:txBody>
      </p:sp>
      <p:sp>
        <p:nvSpPr>
          <p:cNvPr id="10" name="">
            <a:extLst xmlns:a="http://schemas.openxmlformats.org/drawingml/2006/main">
              <a:ext uri="{FF2B5EF4-FFF2-40B4-BE49-F238E27FC236}">
                <a16:creationId xmlns:a16="http://schemas.microsoft.com/office/drawing/2014/main" id="{DE03A7C5-1BD3-4B3C-A6B8-1BCA1585F3B9}"/>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911977C9-14B1-43F6-A2C8-0C325259BF1A}"/>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DBEC392E-9FFB-488F-967E-D237975507A1}"/>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SSO·부서·문서</a:t>
            </a:r>
          </a:p>
        </p:txBody>
      </p:sp>
      <p:sp>
        <p:nvSpPr>
          <p:cNvPr id="13" name="">
            <a:extLst xmlns:a="http://schemas.openxmlformats.org/drawingml/2006/main">
              <a:ext uri="{FF2B5EF4-FFF2-40B4-BE49-F238E27FC236}">
                <a16:creationId xmlns:a16="http://schemas.microsoft.com/office/drawing/2014/main" id="{614EB7E5-50DB-4CAB-836E-73E83B476B90}"/>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6519BFCC-D1FD-438D-974B-359CDB427627}"/>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C6B41D66-7A79-4DCF-AC09-991E824754F5}"/>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동적 권한 검색</a:t>
            </a:r>
          </a:p>
        </p:txBody>
      </p:sp>
      <p:sp>
        <p:nvSpPr>
          <p:cNvPr id="16" name="">
            <a:extLst xmlns:a="http://schemas.openxmlformats.org/drawingml/2006/main">
              <a:ext uri="{FF2B5EF4-FFF2-40B4-BE49-F238E27FC236}">
                <a16:creationId xmlns:a16="http://schemas.microsoft.com/office/drawing/2014/main" id="{B3CDC1A5-8960-409A-8E33-F203D861CAA7}"/>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93382E3E-9B32-4053-8311-0950C095AFEA}"/>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8C5B8B07-2F70-4462-969B-39B27BE93B55}"/>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RAG·API 에이전트</a:t>
            </a:r>
          </a:p>
        </p:txBody>
      </p:sp>
      <p:sp>
        <p:nvSpPr>
          <p:cNvPr id="19" name="">
            <a:extLst xmlns:a="http://schemas.openxmlformats.org/drawingml/2006/main">
              <a:ext uri="{FF2B5EF4-FFF2-40B4-BE49-F238E27FC236}">
                <a16:creationId xmlns:a16="http://schemas.microsoft.com/office/drawing/2014/main" id="{AC9B1D8F-1190-4CC5-B906-BEEAF2A25312}"/>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BB8E591F-76DC-4C2B-839C-8D889065CE60}"/>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04B79D42-A8BF-4C12-A2AB-9EE69233FCEA}"/>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원문·도구 결과 대조</a:t>
            </a:r>
          </a:p>
        </p:txBody>
      </p:sp>
      <p:sp>
        <p:nvSpPr>
          <p:cNvPr id="22" name="">
            <a:extLst xmlns:a="http://schemas.openxmlformats.org/drawingml/2006/main">
              <a:ext uri="{FF2B5EF4-FFF2-40B4-BE49-F238E27FC236}">
                <a16:creationId xmlns:a16="http://schemas.microsoft.com/office/drawing/2014/main" id="{D20BEDFF-F9E8-41D5-8D75-69D1E384F208}"/>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6564B88A-D2AF-4A0A-B093-8D14FBC214C6}"/>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27176EA3-0367-4698-B036-3B299D837E1C}"/>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사업부서 검토</a:t>
            </a:r>
          </a:p>
        </p:txBody>
      </p:sp>
      <p:sp>
        <p:nvSpPr>
          <p:cNvPr id="25" name="">
            <a:extLst xmlns:a="http://schemas.openxmlformats.org/drawingml/2006/main">
              <a:ext uri="{FF2B5EF4-FFF2-40B4-BE49-F238E27FC236}">
                <a16:creationId xmlns:a16="http://schemas.microsoft.com/office/drawing/2014/main" id="{85A47AF9-D412-4B40-8F20-F3115ADB89A4}"/>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DD60AEA6-8185-4C66-BBEF-10085297E972}"/>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CB367AAD-883A-4703-AB14-09572F98A0AE}"/>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해외사업 업무 초안</a:t>
            </a:r>
          </a:p>
        </p:txBody>
      </p:sp>
      <p:sp>
        <p:nvSpPr>
          <p:cNvPr id="28" name="">
            <a:extLst xmlns:a="http://schemas.openxmlformats.org/drawingml/2006/main">
              <a:ext uri="{FF2B5EF4-FFF2-40B4-BE49-F238E27FC236}">
                <a16:creationId xmlns:a16="http://schemas.microsoft.com/office/drawing/2014/main" id="{926AD771-5C38-49E9-AC37-345A81E8BA9D}"/>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0A7ED19E-7B2C-4365-8B5D-AA1613787BDB}"/>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A86069C8-F4E5-4097-AE9E-1722FE813F0B}"/>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지식·품질 갱신</a:t>
            </a:r>
          </a:p>
        </p:txBody>
      </p:sp>
      <p:sp>
        <p:nvSpPr>
          <p:cNvPr id="31" name="">
            <a:extLst xmlns:a="http://schemas.openxmlformats.org/drawingml/2006/main">
              <a:ext uri="{FF2B5EF4-FFF2-40B4-BE49-F238E27FC236}">
                <a16:creationId xmlns:a16="http://schemas.microsoft.com/office/drawing/2014/main" id="{57636C11-11FB-44A7-AC2B-6010881DC1D0}"/>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B6143A00-C1DB-4BE0-91CE-F6E28C0139C2}"/>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14C1332A-875E-489D-A06B-589CBA90C788}"/>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사내 사업 산출물</a:t>
            </a:r>
          </a:p>
        </p:txBody>
      </p:sp>
      <p:sp>
        <p:nvSpPr>
          <p:cNvPr id="34" name="">
            <a:extLst xmlns:a="http://schemas.openxmlformats.org/drawingml/2006/main">
              <a:ext uri="{FF2B5EF4-FFF2-40B4-BE49-F238E27FC236}">
                <a16:creationId xmlns:a16="http://schemas.microsoft.com/office/drawing/2014/main" id="{C411C03E-C9CA-47A8-90F4-8552E2FA5728}"/>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AAF2F264-8719-470B-B7D1-123B5FB9016A}"/>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3EFEAD6C-6CC2-4D92-BFD3-9489A9EA8F9C}"/>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청킹·메타데이터</a:t>
            </a:r>
          </a:p>
        </p:txBody>
      </p:sp>
      <p:sp>
        <p:nvSpPr>
          <p:cNvPr id="37" name="">
            <a:extLst xmlns:a="http://schemas.openxmlformats.org/drawingml/2006/main">
              <a:ext uri="{FF2B5EF4-FFF2-40B4-BE49-F238E27FC236}">
                <a16:creationId xmlns:a16="http://schemas.microsoft.com/office/drawing/2014/main" id="{441F5108-4707-4042-B33A-C71295BBDFDE}"/>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FDCEEEBA-F27D-45B3-B3F6-22FA43D3B725}"/>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C387EA9A-85E3-475B-93EC-F7D397E1A88A}"/>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하이브리드 색인</a:t>
            </a:r>
          </a:p>
        </p:txBody>
      </p:sp>
      <p:sp>
        <p:nvSpPr>
          <p:cNvPr id="40" name="">
            <a:extLst xmlns:a="http://schemas.openxmlformats.org/drawingml/2006/main">
              <a:ext uri="{FF2B5EF4-FFF2-40B4-BE49-F238E27FC236}">
                <a16:creationId xmlns:a16="http://schemas.microsoft.com/office/drawing/2014/main" id="{3A47FB21-C195-4D4F-A7C7-17473FAC5E54}"/>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A255A29B-BA6F-4FF7-96ED-3E508F667918}"/>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43150BE9-73D9-4D68-B4D4-0025380789E0}"/>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암호문서·접근정책</a:t>
            </a:r>
          </a:p>
        </p:txBody>
      </p:sp>
      <p:sp>
        <p:nvSpPr>
          <p:cNvPr id="52" name="">
            <a:extLst xmlns:a="http://schemas.openxmlformats.org/drawingml/2006/main">
              <a:ext uri="{FF2B5EF4-FFF2-40B4-BE49-F238E27FC236}">
                <a16:creationId xmlns:a16="http://schemas.microsoft.com/office/drawing/2014/main" id="{30DFBF18-5545-4D9F-A87F-BF67A9E8E97F}"/>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531409377"/>
      </p:ext>
    </p:extLst>
  </p:cSld>
</p:sld>
</file>

<file path=ppt/slides/slide8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C1C0C691-5640-4226-8697-149CF0426F76}"/>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PF-A03 / 논리 인터페이스·복구 설계</a:t>
            </a:r>
          </a:p>
        </p:txBody>
      </p:sp>
      <p:sp>
        <p:nvSpPr>
          <p:cNvPr id="2" name="">
            <a:extLst xmlns:a="http://schemas.openxmlformats.org/drawingml/2006/main">
              <a:ext uri="{FF2B5EF4-FFF2-40B4-BE49-F238E27FC236}">
                <a16:creationId xmlns:a16="http://schemas.microsoft.com/office/drawing/2014/main" id="{F0F1729E-34FA-4F60-8DBF-843BC786C3A9}"/>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KIND 생성형 AI · 데이터와 예외 처리</a:t>
            </a:r>
          </a:p>
        </p:txBody>
      </p:sp>
      <p:sp>
        <p:nvSpPr>
          <p:cNvPr id="3" name="">
            <a:extLst xmlns:a="http://schemas.openxmlformats.org/drawingml/2006/main">
              <a:ext uri="{FF2B5EF4-FFF2-40B4-BE49-F238E27FC236}">
                <a16:creationId xmlns:a16="http://schemas.microsoft.com/office/drawing/2014/main" id="{BA20F633-7EB2-4DE4-85CD-EF1D6AFF9084}"/>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604927B-0726-4AF7-8729-F25941763CE9}"/>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F6AE7CA5-5B08-498A-BD84-93989FA0F773}"/>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85</a:t>
            </a:r>
          </a:p>
        </p:txBody>
      </p:sp>
      <p:sp>
        <p:nvSpPr>
          <p:cNvPr id="6" name="">
            <a:extLst xmlns:a="http://schemas.openxmlformats.org/drawingml/2006/main">
              <a:ext uri="{FF2B5EF4-FFF2-40B4-BE49-F238E27FC236}">
                <a16:creationId xmlns:a16="http://schemas.microsoft.com/office/drawing/2014/main" id="{7262A3FC-9B96-42A2-8E39-BEC4D0ED1CA1}"/>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A5107791-5AF7-41BA-B901-6655518719F6}"/>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1D5E2070-9F68-4B76-BA43-1D8E2390F9C0}"/>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6FAAB184-1757-4E1A-859D-21FF159565AE}"/>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SSO와 부서·암호문서 접근조건 연결</a:t>
            </a:r>
          </a:p>
        </p:txBody>
      </p:sp>
      <p:sp>
        <p:nvSpPr>
          <p:cNvPr id="10" name="">
            <a:extLst xmlns:a="http://schemas.openxmlformats.org/drawingml/2006/main">
              <a:ext uri="{FF2B5EF4-FFF2-40B4-BE49-F238E27FC236}">
                <a16:creationId xmlns:a16="http://schemas.microsoft.com/office/drawing/2014/main" id="{3663FC8E-B70E-4103-8F8C-B184B013ACCF}"/>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DA3B76D-0E1D-41B4-AB66-87D6EC94876D}"/>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BCDC5FCE-5D65-4AA2-9F0E-D02D413AA7D6}"/>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자료·권한</a:t>
            </a:r>
          </a:p>
        </p:txBody>
      </p:sp>
      <p:sp>
        <p:nvSpPr>
          <p:cNvPr id="13" name="">
            <a:extLst xmlns:a="http://schemas.openxmlformats.org/drawingml/2006/main">
              <a:ext uri="{FF2B5EF4-FFF2-40B4-BE49-F238E27FC236}">
                <a16:creationId xmlns:a16="http://schemas.microsoft.com/office/drawing/2014/main" id="{40FEC2DA-A0FB-42B2-AEAC-2268E95D54AA}"/>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72E2F26-CE90-4580-9C0B-37FEA4DC3F52}"/>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1775957C-2E2F-4C6C-B47B-E10AF0FB5C0B}"/>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검색 근거</a:t>
            </a:r>
          </a:p>
        </p:txBody>
      </p:sp>
      <p:sp>
        <p:nvSpPr>
          <p:cNvPr id="16" name="">
            <a:extLst xmlns:a="http://schemas.openxmlformats.org/drawingml/2006/main">
              <a:ext uri="{FF2B5EF4-FFF2-40B4-BE49-F238E27FC236}">
                <a16:creationId xmlns:a16="http://schemas.microsoft.com/office/drawing/2014/main" id="{24D6CD3A-633D-4460-9FDE-E99134FF5F58}"/>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6E58D8D-963E-46CB-BDEB-ED4F1AAD7853}"/>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841EF5F3-2222-441F-B0AA-F4AA614DE323}"/>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업무 초안</a:t>
            </a:r>
          </a:p>
        </p:txBody>
      </p:sp>
      <p:sp>
        <p:nvSpPr>
          <p:cNvPr id="19" name="">
            <a:extLst xmlns:a="http://schemas.openxmlformats.org/drawingml/2006/main">
              <a:ext uri="{FF2B5EF4-FFF2-40B4-BE49-F238E27FC236}">
                <a16:creationId xmlns:a16="http://schemas.microsoft.com/office/drawing/2014/main" id="{531A4E99-8689-460E-ADF0-E5401855682E}"/>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29E859E-421A-4164-A908-E95018D30D72}"/>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9FD484AB-0FC6-47E4-8C94-08572697D658}"/>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업무 초안</a:t>
            </a:r>
          </a:p>
        </p:txBody>
      </p:sp>
      <p:sp>
        <p:nvSpPr>
          <p:cNvPr id="22" name="">
            <a:extLst xmlns:a="http://schemas.openxmlformats.org/drawingml/2006/main">
              <a:ext uri="{FF2B5EF4-FFF2-40B4-BE49-F238E27FC236}">
                <a16:creationId xmlns:a16="http://schemas.microsoft.com/office/drawing/2014/main" id="{586C5072-5346-4746-941B-C61F0696ACFA}"/>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B8F3F60-BDC5-46CC-93AC-38E1B624B9AC}"/>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A0AAC488-26A1-4F02-92E7-1FDC96A356F8}"/>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검토 결과</a:t>
            </a:r>
          </a:p>
        </p:txBody>
      </p:sp>
      <p:sp>
        <p:nvSpPr>
          <p:cNvPr id="25" name="">
            <a:extLst xmlns:a="http://schemas.openxmlformats.org/drawingml/2006/main">
              <a:ext uri="{FF2B5EF4-FFF2-40B4-BE49-F238E27FC236}">
                <a16:creationId xmlns:a16="http://schemas.microsoft.com/office/drawing/2014/main" id="{F7465B35-C7CC-485E-982C-DA3A84E8146C}"/>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FF9D2FFF-AA11-407E-BD00-995A09992531}"/>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암호문서·다른 부서 자료·메타데이터 누락</a:t>
            </a:r>
          </a:p>
        </p:txBody>
      </p:sp>
      <p:sp>
        <p:nvSpPr>
          <p:cNvPr id="27" name="">
            <a:extLst xmlns:a="http://schemas.openxmlformats.org/drawingml/2006/main">
              <a:ext uri="{FF2B5EF4-FFF2-40B4-BE49-F238E27FC236}">
                <a16:creationId xmlns:a16="http://schemas.microsoft.com/office/drawing/2014/main" id="{3237625E-A06F-49A4-BEC8-87049C3EF2F9}"/>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D296E1B8-8405-4DFE-ACF4-7645B375AE0D}"/>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사업·문서별 권한과 최신 판본 검증</a:t>
            </a:r>
          </a:p>
        </p:txBody>
      </p:sp>
      <p:sp>
        <p:nvSpPr>
          <p:cNvPr id="29" name="">
            <a:extLst xmlns:a="http://schemas.openxmlformats.org/drawingml/2006/main">
              <a:ext uri="{FF2B5EF4-FFF2-40B4-BE49-F238E27FC236}">
                <a16:creationId xmlns:a16="http://schemas.microsoft.com/office/drawing/2014/main" id="{E7DBDC3A-B0A5-4029-B13C-F0D5900220B5}"/>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E4228ACF-690F-4941-B454-73636FCAA338}"/>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지식 갱신·응답 정확도·질의 유형의 지속 관측</a:t>
            </a:r>
          </a:p>
        </p:txBody>
      </p:sp>
      <p:sp>
        <p:nvSpPr>
          <p:cNvPr id="31" name="">
            <a:extLst xmlns:a="http://schemas.openxmlformats.org/drawingml/2006/main">
              <a:ext uri="{FF2B5EF4-FFF2-40B4-BE49-F238E27FC236}">
                <a16:creationId xmlns:a16="http://schemas.microsoft.com/office/drawing/2014/main" id="{BF19F498-2233-4586-8D75-89A5895C83C9}"/>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3BF84BA9-BA0E-4257-91FF-064695AE6834}"/>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문서·청크별 접근시험과 근거·갱신 이력</a:t>
            </a:r>
          </a:p>
        </p:txBody>
      </p:sp>
    </p:spTree>
    <p:extLst>
      <p:ext uri="{BB962C8B-B14F-4D97-AF65-F5344CB8AC3E}">
        <p14:creationId xmlns:p14="http://schemas.microsoft.com/office/powerpoint/2010/main" val="1785354603"/>
      </p:ext>
    </p:extLst>
  </p:cSld>
</p:sld>
</file>

<file path=ppt/slides/slide86.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A5CA990-AC3B-426E-AAE7-C8234B4ED512}"/>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PF-A03 / CCK 비교·재현 시험 설계</a:t>
            </a:r>
          </a:p>
        </p:txBody>
      </p:sp>
      <p:sp>
        <p:nvSpPr>
          <p:cNvPr id="2" name="">
            <a:extLst xmlns:a="http://schemas.openxmlformats.org/drawingml/2006/main">
              <a:ext uri="{FF2B5EF4-FFF2-40B4-BE49-F238E27FC236}">
                <a16:creationId xmlns:a16="http://schemas.microsoft.com/office/drawing/2014/main" id="{6A0F0502-E82E-4FFD-9425-0DECDA3FBD86}"/>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KIND 생성형 AI · 벤치마킹</a:t>
            </a:r>
          </a:p>
        </p:txBody>
      </p:sp>
      <p:sp>
        <p:nvSpPr>
          <p:cNvPr id="3" name="">
            <a:extLst xmlns:a="http://schemas.openxmlformats.org/drawingml/2006/main">
              <a:ext uri="{FF2B5EF4-FFF2-40B4-BE49-F238E27FC236}">
                <a16:creationId xmlns:a16="http://schemas.microsoft.com/office/drawing/2014/main" id="{D4920B82-68D0-4B2C-B4AE-B171405EEB16}"/>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9AC4912-BC14-4B4D-B1F1-0E4776A5A4C6}"/>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BB1904CF-9C80-497B-8152-ABF779C96249}"/>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86</a:t>
            </a:r>
          </a:p>
        </p:txBody>
      </p:sp>
      <p:sp>
        <p:nvSpPr>
          <p:cNvPr id="6" name="">
            <a:extLst xmlns:a="http://schemas.openxmlformats.org/drawingml/2006/main">
              <a:ext uri="{FF2B5EF4-FFF2-40B4-BE49-F238E27FC236}">
                <a16:creationId xmlns:a16="http://schemas.microsoft.com/office/drawing/2014/main" id="{5AD83650-1F17-4571-A253-7024CD20A0DB}"/>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4A916178-3140-4CD8-8609-14A52A366899}"/>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권한별 자료와 공통 검색 구성</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업무 에이전트의 현업 검토</a:t>
            </a:r>
          </a:p>
        </p:txBody>
      </p:sp>
      <p:sp>
        <p:nvSpPr>
          <p:cNvPr id="8" name="">
            <a:extLst xmlns:a="http://schemas.openxmlformats.org/drawingml/2006/main">
              <a:ext uri="{FF2B5EF4-FFF2-40B4-BE49-F238E27FC236}">
                <a16:creationId xmlns:a16="http://schemas.microsoft.com/office/drawing/2014/main" id="{0DD0F309-CF35-4A01-9DB7-1011EA6D467B}"/>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FAF0C61B-868A-4C94-B32A-E2F1A337BFE5}"/>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해외사업 문서별 접근 차이</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RFP와 운영 완료의 혼동</a:t>
            </a:r>
          </a:p>
        </p:txBody>
      </p:sp>
      <p:sp>
        <p:nvSpPr>
          <p:cNvPr id="10" name="">
            <a:extLst xmlns:a="http://schemas.openxmlformats.org/drawingml/2006/main">
              <a:ext uri="{FF2B5EF4-FFF2-40B4-BE49-F238E27FC236}">
                <a16:creationId xmlns:a16="http://schemas.microsoft.com/office/drawing/2014/main" id="{D34034A9-324C-43E1-A081-4006E505F2AA}"/>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924348B8-AB11-48DC-A249-896C6E634E21}"/>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사업·문서별 권한과 최신 판본 검증</a:t>
            </a:r>
          </a:p>
        </p:txBody>
      </p:sp>
      <p:sp>
        <p:nvSpPr>
          <p:cNvPr id="12" name="">
            <a:extLst xmlns:a="http://schemas.openxmlformats.org/drawingml/2006/main">
              <a:ext uri="{FF2B5EF4-FFF2-40B4-BE49-F238E27FC236}">
                <a16:creationId xmlns:a16="http://schemas.microsoft.com/office/drawing/2014/main" id="{ECCDFBF3-15CD-4914-9BF7-217E030D03AC}"/>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C5B977CD-000E-42A9-8247-6FF00D9C1EA0}"/>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사업 문서 질의에서 권한 내 근거를 찾고 업무 초안</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 생성</a:t>
            </a:r>
          </a:p>
        </p:txBody>
      </p:sp>
      <p:sp>
        <p:nvSpPr>
          <p:cNvPr id="14" name="">
            <a:extLst xmlns:a="http://schemas.openxmlformats.org/drawingml/2006/main">
              <a:ext uri="{FF2B5EF4-FFF2-40B4-BE49-F238E27FC236}">
                <a16:creationId xmlns:a16="http://schemas.microsoft.com/office/drawing/2014/main" id="{59CD4FE1-857E-4D05-861C-FBFF3DF041B7}"/>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AE246F40-4277-4EAD-A2DD-FBED4E86F60D}"/>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암호문서·다른 부서 자료·메타데이터 누락</a:t>
            </a:r>
          </a:p>
        </p:txBody>
      </p:sp>
      <p:sp>
        <p:nvSpPr>
          <p:cNvPr id="16" name="">
            <a:extLst xmlns:a="http://schemas.openxmlformats.org/drawingml/2006/main">
              <a:ext uri="{FF2B5EF4-FFF2-40B4-BE49-F238E27FC236}">
                <a16:creationId xmlns:a16="http://schemas.microsoft.com/office/drawing/2014/main" id="{CF2ADBC2-359B-4458-9D62-7878F4D56E4E}"/>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39A9ADDD-C089-4EEB-88D6-065A1D094FE8}"/>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문서·청크별 접근시험과 근거·갱신 이력</a:t>
            </a:r>
          </a:p>
        </p:txBody>
      </p:sp>
    </p:spTree>
    <p:extLst>
      <p:ext uri="{BB962C8B-B14F-4D97-AF65-F5344CB8AC3E}">
        <p14:creationId xmlns:p14="http://schemas.microsoft.com/office/powerpoint/2010/main" val="2079289883"/>
      </p:ext>
    </p:extLst>
  </p:cSld>
</p:sld>
</file>

<file path=ppt/slides/slide87.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BD56A66-1B91-4566-A02A-D3169B8D256B}"/>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PF03 / 공개 데이터 연계 서비스 / 국내</a:t>
            </a:r>
          </a:p>
        </p:txBody>
      </p:sp>
      <p:sp>
        <p:nvSpPr>
          <p:cNvPr id="2" name="">
            <a:extLst xmlns:a="http://schemas.openxmlformats.org/drawingml/2006/main">
              <a:ext uri="{FF2B5EF4-FFF2-40B4-BE49-F238E27FC236}">
                <a16:creationId xmlns:a16="http://schemas.microsoft.com/office/drawing/2014/main" id="{07357C35-0183-47A2-A33D-D6456F847C8F}"/>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HRDKorea MCP</a:t>
            </a:r>
          </a:p>
        </p:txBody>
      </p:sp>
      <p:sp>
        <p:nvSpPr>
          <p:cNvPr id="3" name="">
            <a:extLst xmlns:a="http://schemas.openxmlformats.org/drawingml/2006/main">
              <a:ext uri="{FF2B5EF4-FFF2-40B4-BE49-F238E27FC236}">
                <a16:creationId xmlns:a16="http://schemas.microsoft.com/office/drawing/2014/main" id="{AAFDF3D7-DED5-4489-89FD-B93F010FAE81}"/>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9C34F22-7A0E-4238-B6AA-56337D78771B}"/>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4F7EC87E-61D0-41BA-B964-EB2AF78E5B7F}"/>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87</a:t>
            </a:r>
          </a:p>
        </p:txBody>
      </p:sp>
      <p:sp>
        <p:nvSpPr>
          <p:cNvPr id="6" name="">
            <a:extLst xmlns:a="http://schemas.openxmlformats.org/drawingml/2006/main">
              <a:ext uri="{FF2B5EF4-FFF2-40B4-BE49-F238E27FC236}">
                <a16:creationId xmlns:a16="http://schemas.microsoft.com/office/drawing/2014/main" id="{0503727F-2C2A-4A75-970E-0D3C7EA2C4BA}"/>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739ED8F4-19F1-4561-97E7-1F545B56DF48}"/>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한국산업인력공단의 공공 API를 MCP 도구로 제공하는</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사례. 외부 AI가 추정한 답을 생성하기 전에 기관의 공</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식 데이터를 조회할 수 있도록 접근 수단을 제공하는 방</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식.</a:t>
            </a:r>
          </a:p>
        </p:txBody>
      </p:sp>
      <p:sp>
        <p:nvSpPr>
          <p:cNvPr id="8" name="">
            <a:extLst xmlns:a="http://schemas.openxmlformats.org/drawingml/2006/main">
              <a:ext uri="{FF2B5EF4-FFF2-40B4-BE49-F238E27FC236}">
                <a16:creationId xmlns:a16="http://schemas.microsoft.com/office/drawing/2014/main" id="{66ECE2F3-3975-4F8D-9433-6E5B11FA5E40}"/>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146D5A98-2EA5-4AF5-B7EB-BDE50F56F511}"/>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AI 클라이언트의 도구 요청을 MCP 서버에서 공식 API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호출로 변환하고 결과를 구조화해 반환하는 흐름. 도구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이름·입력 스키마·오류 형식·데이터 시점을 명확히 정의</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하는 것이 서비스 연결의 핵심.</a:t>
            </a:r>
          </a:p>
        </p:txBody>
      </p:sp>
      <p:sp>
        <p:nvSpPr>
          <p:cNvPr id="10" name="">
            <a:extLst xmlns:a="http://schemas.openxmlformats.org/drawingml/2006/main">
              <a:ext uri="{FF2B5EF4-FFF2-40B4-BE49-F238E27FC236}">
                <a16:creationId xmlns:a16="http://schemas.microsoft.com/office/drawing/2014/main" id="{82BA4917-394F-4915-BCC2-4252D04B0871}"/>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F1FA1D48-C37D-4EE7-97D2-E32C70E65687}"/>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TS 공공데이터·자격·검사 안내에서도 공식 조회와 자연어</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 설명을 분리하는 참고. 잘못된 인자, 결과 없음, API 장애</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 오래된 데이터의 처리와 읽기 전용 권한을 검수하고 외</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부 AI의 최종 설명에서 출처를 확인할 수 있도록 제공.</a:t>
            </a:r>
          </a:p>
        </p:txBody>
      </p:sp>
      <p:sp>
        <p:nvSpPr>
          <p:cNvPr id="12" name="">
            <a:extLst xmlns:a="http://schemas.openxmlformats.org/drawingml/2006/main">
              <a:ext uri="{FF2B5EF4-FFF2-40B4-BE49-F238E27FC236}">
                <a16:creationId xmlns:a16="http://schemas.microsoft.com/office/drawing/2014/main" id="{A5F901C8-CF30-4A46-A520-BE83F45A6ECC}"/>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17C79B07-AE54-46AA-BFA4-28553CBEAA12}"/>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기관·직무별 도구 권한 / 요청키 / 오류·중복 처리</a:t>
            </a:r>
          </a:p>
        </p:txBody>
      </p:sp>
      <p:sp>
        <p:nvSpPr>
          <p:cNvPr id="14" name="">
            <a:extLst xmlns:a="http://schemas.openxmlformats.org/drawingml/2006/main">
              <a:ext uri="{FF2B5EF4-FFF2-40B4-BE49-F238E27FC236}">
                <a16:creationId xmlns:a16="http://schemas.microsoft.com/office/drawing/2014/main" id="{54F176E7-795D-4E97-8767-5956B1932D87}"/>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0D30F2E2-B08D-4E83-B915-26C38128F9EC}"/>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도구별 입력·응답·인증·오류 처리 계약 및 쓰기 요청 차단</a:t>
            </a:r>
          </a:p>
        </p:txBody>
      </p:sp>
      <p:sp>
        <p:nvSpPr>
          <p:cNvPr id="16" name="">
            <a:extLst xmlns:a="http://schemas.openxmlformats.org/drawingml/2006/main">
              <a:ext uri="{FF2B5EF4-FFF2-40B4-BE49-F238E27FC236}">
                <a16:creationId xmlns:a16="http://schemas.microsoft.com/office/drawing/2014/main" id="{81239326-09CF-4703-9A1E-192F836B66F8}"/>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0B883FEC-007D-45EA-BEA2-3D13CB64EF79}"/>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TS 업무 완료시간·오류·추가 구축 공수의 비교 평가</a:t>
            </a:r>
          </a:p>
        </p:txBody>
      </p:sp>
      <p:sp>
        <p:nvSpPr>
          <p:cNvPr id="18" name="">
            <a:extLst xmlns:a="http://schemas.openxmlformats.org/drawingml/2006/main">
              <a:ext uri="{FF2B5EF4-FFF2-40B4-BE49-F238E27FC236}">
                <a16:creationId xmlns:a16="http://schemas.microsoft.com/office/drawing/2014/main" id="{26AD8C98-DC23-4A24-A3BE-D3F2E3AF8F94}"/>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공개 조회의 구축 사례 · 내부 결재·수정 실행의 검증과 별개</a:t>
            </a:r>
          </a:p>
        </p:txBody>
      </p:sp>
    </p:spTree>
    <p:extLst>
      <p:ext uri="{BB962C8B-B14F-4D97-AF65-F5344CB8AC3E}">
        <p14:creationId xmlns:p14="http://schemas.microsoft.com/office/powerpoint/2010/main" val="476963355"/>
      </p:ext>
    </p:extLst>
  </p:cSld>
</p:sld>
</file>

<file path=ppt/slides/slide88.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5447395C-FB07-4E43-BD21-540B9BBC2687}"/>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C48047A5-5C15-451C-9DF3-25F6C62DF81D}"/>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2D859C83-8686-4878-AA98-9A2FBC06FBC8}"/>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847B6C2F-FCEC-4779-8876-B5F934481A10}"/>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99B63BBB-03D2-4469-9B47-E4C598D7DE35}"/>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3F3E09BD-4C61-4EC0-9C64-5FC7A570EF3E}"/>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BDF9C0AC-2DD9-4AA4-B192-C5485FF895D2}"/>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957B8141-4216-447B-8A9B-1F3A0F228A24}"/>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D049877B-7905-4126-8781-04F11472E11B}"/>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F513E2FD-EFD5-4E3F-BC52-2C96CD14426A}"/>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PF03 / CCK 세부 재구성 · 논리 서비스 설계</a:t>
            </a:r>
          </a:p>
        </p:txBody>
      </p:sp>
      <p:sp>
        <p:nvSpPr>
          <p:cNvPr id="2" name="">
            <a:extLst xmlns:a="http://schemas.openxmlformats.org/drawingml/2006/main">
              <a:ext uri="{FF2B5EF4-FFF2-40B4-BE49-F238E27FC236}">
                <a16:creationId xmlns:a16="http://schemas.microsoft.com/office/drawing/2014/main" id="{8DC6C946-4E6C-47D4-BFC7-FEF0A34E9A50}"/>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HRDKorea MCP · 세부 서비스 구조</a:t>
            </a:r>
          </a:p>
        </p:txBody>
      </p:sp>
      <p:sp>
        <p:nvSpPr>
          <p:cNvPr id="3" name="">
            <a:extLst xmlns:a="http://schemas.openxmlformats.org/drawingml/2006/main">
              <a:ext uri="{FF2B5EF4-FFF2-40B4-BE49-F238E27FC236}">
                <a16:creationId xmlns:a16="http://schemas.microsoft.com/office/drawing/2014/main" id="{335DA433-EE4D-434F-B591-C15719FEF9BB}"/>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D5E5B0-38D2-47F4-AEA0-54B7B562811E}"/>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1A01C639-B7E6-4860-A4CA-E9238BDC6753}"/>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88</a:t>
            </a:r>
          </a:p>
        </p:txBody>
      </p:sp>
      <p:sp>
        <p:nvSpPr>
          <p:cNvPr id="6" name="">
            <a:extLst xmlns:a="http://schemas.openxmlformats.org/drawingml/2006/main">
              <a:ext uri="{FF2B5EF4-FFF2-40B4-BE49-F238E27FC236}">
                <a16:creationId xmlns:a16="http://schemas.microsoft.com/office/drawing/2014/main" id="{21586032-133D-4A69-B2C4-2034C413DC9D}"/>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운영기관·공급사·감사 자료의 업무 설명</a:t>
            </a:r>
          </a:p>
        </p:txBody>
      </p:sp>
      <p:sp>
        <p:nvSpPr>
          <p:cNvPr id="7" name="">
            <a:extLst xmlns:a="http://schemas.openxmlformats.org/drawingml/2006/main">
              <a:ext uri="{FF2B5EF4-FFF2-40B4-BE49-F238E27FC236}">
                <a16:creationId xmlns:a16="http://schemas.microsoft.com/office/drawing/2014/main" id="{48802D8C-487A-47C0-9D5F-8CAFFED0156D}"/>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E4DFED0C-5A10-43F2-9B21-86BCA18CDC7A}"/>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72BC4781-E6DA-4217-ADB5-8EC3F33C65A4}"/>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외부 AI 질의</a:t>
            </a:r>
          </a:p>
        </p:txBody>
      </p:sp>
      <p:sp>
        <p:nvSpPr>
          <p:cNvPr id="10" name="">
            <a:extLst xmlns:a="http://schemas.openxmlformats.org/drawingml/2006/main">
              <a:ext uri="{FF2B5EF4-FFF2-40B4-BE49-F238E27FC236}">
                <a16:creationId xmlns:a16="http://schemas.microsoft.com/office/drawing/2014/main" id="{1A7AB2D7-DD1B-48A7-B3FC-325BBABD9322}"/>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10BE701E-47B6-41E1-8F43-73606AF5B05E}"/>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C5D9FAB8-B571-43C9-8DCE-9DA585B250CD}"/>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도구·인자 정의</a:t>
            </a:r>
          </a:p>
        </p:txBody>
      </p:sp>
      <p:sp>
        <p:nvSpPr>
          <p:cNvPr id="13" name="">
            <a:extLst xmlns:a="http://schemas.openxmlformats.org/drawingml/2006/main">
              <a:ext uri="{FF2B5EF4-FFF2-40B4-BE49-F238E27FC236}">
                <a16:creationId xmlns:a16="http://schemas.microsoft.com/office/drawing/2014/main" id="{4760357F-1EBC-4336-800D-29CACADE9624}"/>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277CC8AE-1754-4F02-9A07-4E61EF41F894}"/>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313B8264-97F7-415C-842B-4F1415B48B23}"/>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공식 API 선택</a:t>
            </a:r>
          </a:p>
        </p:txBody>
      </p:sp>
      <p:sp>
        <p:nvSpPr>
          <p:cNvPr id="16" name="">
            <a:extLst xmlns:a="http://schemas.openxmlformats.org/drawingml/2006/main">
              <a:ext uri="{FF2B5EF4-FFF2-40B4-BE49-F238E27FC236}">
                <a16:creationId xmlns:a16="http://schemas.microsoft.com/office/drawing/2014/main" id="{16C47CAB-94E4-489D-BC0F-A805D5957242}"/>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13380785-01D3-4C42-816E-2CE385329B44}"/>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41588F62-CA6C-4DE2-A267-40649A116FCC}"/>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MCP 호출 조정</a:t>
            </a:r>
          </a:p>
        </p:txBody>
      </p:sp>
      <p:sp>
        <p:nvSpPr>
          <p:cNvPr id="19" name="">
            <a:extLst xmlns:a="http://schemas.openxmlformats.org/drawingml/2006/main">
              <a:ext uri="{FF2B5EF4-FFF2-40B4-BE49-F238E27FC236}">
                <a16:creationId xmlns:a16="http://schemas.microsoft.com/office/drawing/2014/main" id="{D6CB9BD1-0480-4B5E-998D-DCE21A473D42}"/>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EEBF3276-6560-44EA-A3CC-73A4B72897E3}"/>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F7CC7E32-68E8-4785-81BD-A4BF73F20108}"/>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스키마·상태 검사</a:t>
            </a:r>
          </a:p>
        </p:txBody>
      </p:sp>
      <p:sp>
        <p:nvSpPr>
          <p:cNvPr id="22" name="">
            <a:extLst xmlns:a="http://schemas.openxmlformats.org/drawingml/2006/main">
              <a:ext uri="{FF2B5EF4-FFF2-40B4-BE49-F238E27FC236}">
                <a16:creationId xmlns:a16="http://schemas.microsoft.com/office/drawing/2014/main" id="{DFF451D2-F98C-407F-8CB1-E152B949951B}"/>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930E67AF-E904-4B80-B55F-86FF310F6034}"/>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A73B613B-AC54-46ED-BB6F-3513DAAA3B54}"/>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이용자 확인</a:t>
            </a:r>
          </a:p>
        </p:txBody>
      </p:sp>
      <p:sp>
        <p:nvSpPr>
          <p:cNvPr id="25" name="">
            <a:extLst xmlns:a="http://schemas.openxmlformats.org/drawingml/2006/main">
              <a:ext uri="{FF2B5EF4-FFF2-40B4-BE49-F238E27FC236}">
                <a16:creationId xmlns:a16="http://schemas.microsoft.com/office/drawing/2014/main" id="{BA5C9C90-5F52-4365-89F1-5EECDAF80855}"/>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1194CF01-F0E1-43DC-838F-6B5136E41EB7}"/>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E2AEAA7E-CEA2-43A5-8FD6-D009BA2D3771}"/>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출처 조회 결과</a:t>
            </a:r>
          </a:p>
        </p:txBody>
      </p:sp>
      <p:sp>
        <p:nvSpPr>
          <p:cNvPr id="28" name="">
            <a:extLst xmlns:a="http://schemas.openxmlformats.org/drawingml/2006/main">
              <a:ext uri="{FF2B5EF4-FFF2-40B4-BE49-F238E27FC236}">
                <a16:creationId xmlns:a16="http://schemas.microsoft.com/office/drawing/2014/main" id="{B6E1DABA-0D42-4964-AD73-2940B4FF424C}"/>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6A12FD18-E06C-44D9-878B-E109B0C2D199}"/>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FEFEAD52-684C-4DC0-B328-7695E41C3C07}"/>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호출·변경 검사</a:t>
            </a:r>
          </a:p>
        </p:txBody>
      </p:sp>
      <p:sp>
        <p:nvSpPr>
          <p:cNvPr id="31" name="">
            <a:extLst xmlns:a="http://schemas.openxmlformats.org/drawingml/2006/main">
              <a:ext uri="{FF2B5EF4-FFF2-40B4-BE49-F238E27FC236}">
                <a16:creationId xmlns:a16="http://schemas.microsoft.com/office/drawing/2014/main" id="{268BCB58-21D7-4C5D-A0E4-AF1AF00757DC}"/>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A6867C0F-89F9-4BA8-A731-E8F688E2882A}"/>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D654ADB7-4FB5-4B2B-A242-25AD97DF9CCA}"/>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공공 API·코드</a:t>
            </a:r>
          </a:p>
        </p:txBody>
      </p:sp>
      <p:sp>
        <p:nvSpPr>
          <p:cNvPr id="34" name="">
            <a:extLst xmlns:a="http://schemas.openxmlformats.org/drawingml/2006/main">
              <a:ext uri="{FF2B5EF4-FFF2-40B4-BE49-F238E27FC236}">
                <a16:creationId xmlns:a16="http://schemas.microsoft.com/office/drawing/2014/main" id="{DAB55E61-02FC-4A88-A362-23648C6DA975}"/>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E17D604C-F843-496C-A6BA-CCBFCA1B8526}"/>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295CB9AA-C33C-4E43-8F12-641FF6468A3C}"/>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스키마·갱신일 정리</a:t>
            </a:r>
          </a:p>
        </p:txBody>
      </p:sp>
      <p:sp>
        <p:nvSpPr>
          <p:cNvPr id="37" name="">
            <a:extLst xmlns:a="http://schemas.openxmlformats.org/drawingml/2006/main">
              <a:ext uri="{FF2B5EF4-FFF2-40B4-BE49-F238E27FC236}">
                <a16:creationId xmlns:a16="http://schemas.microsoft.com/office/drawing/2014/main" id="{BC56E0A8-D8CC-4A3E-8554-65EFF28F074F}"/>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C5E67020-1E85-4F05-BBAD-194EFF2D65D8}"/>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5979952F-E9D6-4663-AADC-38F54D9C177E}"/>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도구·호출 기록</a:t>
            </a:r>
          </a:p>
        </p:txBody>
      </p:sp>
      <p:sp>
        <p:nvSpPr>
          <p:cNvPr id="40" name="">
            <a:extLst xmlns:a="http://schemas.openxmlformats.org/drawingml/2006/main">
              <a:ext uri="{FF2B5EF4-FFF2-40B4-BE49-F238E27FC236}">
                <a16:creationId xmlns:a16="http://schemas.microsoft.com/office/drawing/2014/main" id="{0336FD4C-690D-4F58-A671-0529E72C2FD2}"/>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3F481F07-EAB0-4142-AC43-4047EB9A2580}"/>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6C8E0830-080B-4938-9B50-1B876FC56B62}"/>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호출 권한·한도</a:t>
            </a:r>
          </a:p>
        </p:txBody>
      </p:sp>
      <p:sp>
        <p:nvSpPr>
          <p:cNvPr id="52" name="">
            <a:extLst xmlns:a="http://schemas.openxmlformats.org/drawingml/2006/main">
              <a:ext uri="{FF2B5EF4-FFF2-40B4-BE49-F238E27FC236}">
                <a16:creationId xmlns:a16="http://schemas.microsoft.com/office/drawing/2014/main" id="{CB319F4B-6C02-4374-9201-4EDA8FA0A2A6}"/>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1911199275"/>
      </p:ext>
    </p:extLst>
  </p:cSld>
</p:sld>
</file>

<file path=ppt/slides/slide89.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88BC685B-9775-49D5-BF08-E89884473CA7}"/>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PF03 / 논리 인터페이스·복구 설계</a:t>
            </a:r>
          </a:p>
        </p:txBody>
      </p:sp>
      <p:sp>
        <p:nvSpPr>
          <p:cNvPr id="2" name="">
            <a:extLst xmlns:a="http://schemas.openxmlformats.org/drawingml/2006/main">
              <a:ext uri="{FF2B5EF4-FFF2-40B4-BE49-F238E27FC236}">
                <a16:creationId xmlns:a16="http://schemas.microsoft.com/office/drawing/2014/main" id="{C860EFD5-84F1-4DEC-9B10-32F962603F50}"/>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HRDKorea MCP · 데이터와 예외 처리</a:t>
            </a:r>
          </a:p>
        </p:txBody>
      </p:sp>
      <p:sp>
        <p:nvSpPr>
          <p:cNvPr id="3" name="">
            <a:extLst xmlns:a="http://schemas.openxmlformats.org/drawingml/2006/main">
              <a:ext uri="{FF2B5EF4-FFF2-40B4-BE49-F238E27FC236}">
                <a16:creationId xmlns:a16="http://schemas.microsoft.com/office/drawing/2014/main" id="{D9814D4A-159A-4F4A-8860-E81E71FC89D4}"/>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493EC3C-5BC1-43E6-931F-5535FB0C2A0A}"/>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68E71CB9-23C9-41EB-B79E-D42EDC2489B8}"/>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89</a:t>
            </a:r>
          </a:p>
        </p:txBody>
      </p:sp>
      <p:sp>
        <p:nvSpPr>
          <p:cNvPr id="6" name="">
            <a:extLst xmlns:a="http://schemas.openxmlformats.org/drawingml/2006/main">
              <a:ext uri="{FF2B5EF4-FFF2-40B4-BE49-F238E27FC236}">
                <a16:creationId xmlns:a16="http://schemas.microsoft.com/office/drawing/2014/main" id="{D94D412C-74A7-433E-B526-1F5572C5BE62}"/>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00F25B79-546A-4777-BE85-67B00372AA5A}"/>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2AE740CF-FE21-4E5F-922F-79A63E7D50B2}"/>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6D97E793-B0A4-4EAE-8733-A6D111D828E9}"/>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자연어 질의를 조회 도구와 인자로 변환</a:t>
            </a:r>
          </a:p>
        </p:txBody>
      </p:sp>
      <p:sp>
        <p:nvSpPr>
          <p:cNvPr id="10" name="">
            <a:extLst xmlns:a="http://schemas.openxmlformats.org/drawingml/2006/main">
              <a:ext uri="{FF2B5EF4-FFF2-40B4-BE49-F238E27FC236}">
                <a16:creationId xmlns:a16="http://schemas.microsoft.com/office/drawing/2014/main" id="{36FC6E34-65A3-4750-8FEC-F0FB464F3A17}"/>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6D0CD2F-6304-41D0-9479-0F449ED6E1EF}"/>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E8448331-B081-4C32-9066-7D1B5A238F10}"/>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조회 의도</a:t>
            </a:r>
          </a:p>
        </p:txBody>
      </p:sp>
      <p:sp>
        <p:nvSpPr>
          <p:cNvPr id="13" name="">
            <a:extLst xmlns:a="http://schemas.openxmlformats.org/drawingml/2006/main">
              <a:ext uri="{FF2B5EF4-FFF2-40B4-BE49-F238E27FC236}">
                <a16:creationId xmlns:a16="http://schemas.microsoft.com/office/drawing/2014/main" id="{6306D3DB-8384-4499-99F0-5561A377C1CD}"/>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A74913D-CCA8-432D-8F2D-BF65729D275D}"/>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6A086A4E-A37F-42C7-8939-6A40CFEA9C81}"/>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도구 인자</a:t>
            </a:r>
          </a:p>
        </p:txBody>
      </p:sp>
      <p:sp>
        <p:nvSpPr>
          <p:cNvPr id="16" name="">
            <a:extLst xmlns:a="http://schemas.openxmlformats.org/drawingml/2006/main">
              <a:ext uri="{FF2B5EF4-FFF2-40B4-BE49-F238E27FC236}">
                <a16:creationId xmlns:a16="http://schemas.microsoft.com/office/drawing/2014/main" id="{37E49B45-0F1A-47B1-B0F3-23FECC582753}"/>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5A62CB8-F239-4DDC-9F7B-FA525CEDEC8B}"/>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61858DC0-C693-4EBF-B8FB-33EEDF61A50D}"/>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공식 API 결과</a:t>
            </a:r>
          </a:p>
        </p:txBody>
      </p:sp>
      <p:sp>
        <p:nvSpPr>
          <p:cNvPr id="19" name="">
            <a:extLst xmlns:a="http://schemas.openxmlformats.org/drawingml/2006/main">
              <a:ext uri="{FF2B5EF4-FFF2-40B4-BE49-F238E27FC236}">
                <a16:creationId xmlns:a16="http://schemas.microsoft.com/office/drawing/2014/main" id="{4388B7B8-3B8A-4ED9-AE51-D9F3B9A28F15}"/>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E727A83-69A8-4BE3-903A-7A5A11F7F287}"/>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D8EEC4FB-EFC3-4128-A0E5-78B044EA07D4}"/>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공식 API 결과</a:t>
            </a:r>
          </a:p>
        </p:txBody>
      </p:sp>
      <p:sp>
        <p:nvSpPr>
          <p:cNvPr id="22" name="">
            <a:extLst xmlns:a="http://schemas.openxmlformats.org/drawingml/2006/main">
              <a:ext uri="{FF2B5EF4-FFF2-40B4-BE49-F238E27FC236}">
                <a16:creationId xmlns:a16="http://schemas.microsoft.com/office/drawing/2014/main" id="{67019CC0-8305-4E1B-858A-EAED078AE9DF}"/>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D3024DA-230E-40E5-A371-61F7CE9B5BE1}"/>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8E32B876-A382-4E2F-B1F8-54C38B2BA1D8}"/>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출처 안내</a:t>
            </a:r>
          </a:p>
        </p:txBody>
      </p:sp>
      <p:sp>
        <p:nvSpPr>
          <p:cNvPr id="25" name="">
            <a:extLst xmlns:a="http://schemas.openxmlformats.org/drawingml/2006/main">
              <a:ext uri="{FF2B5EF4-FFF2-40B4-BE49-F238E27FC236}">
                <a16:creationId xmlns:a16="http://schemas.microsoft.com/office/drawing/2014/main" id="{BDAF593F-6629-46EC-BD32-2882A988D01F}"/>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101C21F0-3AC5-48D2-BC2E-60F164C19698}"/>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필수 인자 누락·스키마 변경·API 지연·빈 결과</a:t>
            </a:r>
          </a:p>
        </p:txBody>
      </p:sp>
      <p:sp>
        <p:nvSpPr>
          <p:cNvPr id="27" name="">
            <a:extLst xmlns:a="http://schemas.openxmlformats.org/drawingml/2006/main">
              <a:ext uri="{FF2B5EF4-FFF2-40B4-BE49-F238E27FC236}">
                <a16:creationId xmlns:a16="http://schemas.microsoft.com/office/drawing/2014/main" id="{F7D33F0E-889B-4AFB-B239-4B55E50DB64C}"/>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FEE4DAA6-1FFB-48EC-A20F-5F295BCF8AF7}"/>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인자·스키마·오류·최신성 대사</a:t>
            </a:r>
          </a:p>
        </p:txBody>
      </p:sp>
      <p:sp>
        <p:nvSpPr>
          <p:cNvPr id="29" name="">
            <a:extLst xmlns:a="http://schemas.openxmlformats.org/drawingml/2006/main">
              <a:ext uri="{FF2B5EF4-FFF2-40B4-BE49-F238E27FC236}">
                <a16:creationId xmlns:a16="http://schemas.microsoft.com/office/drawing/2014/main" id="{8F698134-0A60-46DF-895E-6DDB6C64A5D0}"/>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AFBAF380-99A1-4E7B-9AED-33C1979A43C3}"/>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실패 응답·스키마 변경·호출량의 검사</a:t>
            </a:r>
          </a:p>
        </p:txBody>
      </p:sp>
      <p:sp>
        <p:nvSpPr>
          <p:cNvPr id="31" name="">
            <a:extLst xmlns:a="http://schemas.openxmlformats.org/drawingml/2006/main">
              <a:ext uri="{FF2B5EF4-FFF2-40B4-BE49-F238E27FC236}">
                <a16:creationId xmlns:a16="http://schemas.microsoft.com/office/drawing/2014/main" id="{63B18C00-08E6-4471-887F-B9D2B2443936}"/>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6E549704-6E07-4C2E-A647-6A87814157CB}"/>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도구 인자·원천 응답·사용자 안내의 일치 기록</a:t>
            </a:r>
          </a:p>
        </p:txBody>
      </p:sp>
    </p:spTree>
    <p:extLst>
      <p:ext uri="{BB962C8B-B14F-4D97-AF65-F5344CB8AC3E}">
        <p14:creationId xmlns:p14="http://schemas.microsoft.com/office/powerpoint/2010/main" val="1296391744"/>
      </p:ext>
    </p:extLst>
  </p:cSld>
</p:sld>
</file>

<file path=ppt/slides/slide90.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1FC2750-0F8B-4CD4-A9CA-200E559D9067}"/>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PF03 / CCK 비교·재현 시험 설계</a:t>
            </a:r>
          </a:p>
        </p:txBody>
      </p:sp>
      <p:sp>
        <p:nvSpPr>
          <p:cNvPr id="2" name="">
            <a:extLst xmlns:a="http://schemas.openxmlformats.org/drawingml/2006/main">
              <a:ext uri="{FF2B5EF4-FFF2-40B4-BE49-F238E27FC236}">
                <a16:creationId xmlns:a16="http://schemas.microsoft.com/office/drawing/2014/main" id="{35459C46-E5A8-4888-BF4C-9252B956ECC0}"/>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HRDKorea MCP · 벤치마킹</a:t>
            </a:r>
          </a:p>
        </p:txBody>
      </p:sp>
      <p:sp>
        <p:nvSpPr>
          <p:cNvPr id="3" name="">
            <a:extLst xmlns:a="http://schemas.openxmlformats.org/drawingml/2006/main">
              <a:ext uri="{FF2B5EF4-FFF2-40B4-BE49-F238E27FC236}">
                <a16:creationId xmlns:a16="http://schemas.microsoft.com/office/drawing/2014/main" id="{3B49301C-CF1B-4E85-ACC9-A5427DD7EDEA}"/>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E6FCE1E-1D0F-4AF8-9F73-40CC44A996BC}"/>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0A04BB1C-CD5A-4DC9-B0AE-3A710E9F1F3D}"/>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90</a:t>
            </a:r>
          </a:p>
        </p:txBody>
      </p:sp>
      <p:sp>
        <p:nvSpPr>
          <p:cNvPr id="6" name="">
            <a:extLst xmlns:a="http://schemas.openxmlformats.org/drawingml/2006/main">
              <a:ext uri="{FF2B5EF4-FFF2-40B4-BE49-F238E27FC236}">
                <a16:creationId xmlns:a16="http://schemas.microsoft.com/office/drawing/2014/main" id="{47EDA094-C2D7-46C2-872C-FC26EBA7CA6E}"/>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E5348A98-0D39-4771-8908-E66B4CB01791}"/>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기존 공식 API의 재사용</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AI 도구의 공식 데이터 조회 연결</a:t>
            </a:r>
          </a:p>
        </p:txBody>
      </p:sp>
      <p:sp>
        <p:nvSpPr>
          <p:cNvPr id="8" name="">
            <a:extLst xmlns:a="http://schemas.openxmlformats.org/drawingml/2006/main">
              <a:ext uri="{FF2B5EF4-FFF2-40B4-BE49-F238E27FC236}">
                <a16:creationId xmlns:a16="http://schemas.microsoft.com/office/drawing/2014/main" id="{603B7F82-85C5-45A0-AB24-FE69836F6BB7}"/>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BA8B0F7A-E66C-491B-9015-CAFA10F9F490}"/>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도구 응답 지연·스키마 변경</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조회 성공을 신청 완료로 오인</a:t>
            </a:r>
          </a:p>
        </p:txBody>
      </p:sp>
      <p:sp>
        <p:nvSpPr>
          <p:cNvPr id="10" name="">
            <a:extLst xmlns:a="http://schemas.openxmlformats.org/drawingml/2006/main">
              <a:ext uri="{FF2B5EF4-FFF2-40B4-BE49-F238E27FC236}">
                <a16:creationId xmlns:a16="http://schemas.microsoft.com/office/drawing/2014/main" id="{03CF5831-CC47-4E68-BB56-AC7C1DFF78D6}"/>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BF6D8CD1-8853-4FF4-ACB8-1156D4A9AC5B}"/>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인자·스키마·오류·최신성 대사</a:t>
            </a:r>
          </a:p>
        </p:txBody>
      </p:sp>
      <p:sp>
        <p:nvSpPr>
          <p:cNvPr id="12" name="">
            <a:extLst xmlns:a="http://schemas.openxmlformats.org/drawingml/2006/main">
              <a:ext uri="{FF2B5EF4-FFF2-40B4-BE49-F238E27FC236}">
                <a16:creationId xmlns:a16="http://schemas.microsoft.com/office/drawing/2014/main" id="{B1377626-6A26-4E60-BB39-7A4E853749E5}"/>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69D92CD1-67F2-47FD-99CD-CBFB8009E88C}"/>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자연어 요청을 공식 API 인자로 변환해 조회</a:t>
            </a:r>
          </a:p>
        </p:txBody>
      </p:sp>
      <p:sp>
        <p:nvSpPr>
          <p:cNvPr id="14" name="">
            <a:extLst xmlns:a="http://schemas.openxmlformats.org/drawingml/2006/main">
              <a:ext uri="{FF2B5EF4-FFF2-40B4-BE49-F238E27FC236}">
                <a16:creationId xmlns:a16="http://schemas.microsoft.com/office/drawing/2014/main" id="{13391489-1BFE-4FAB-9456-9CF9FC2AD202}"/>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E7359727-FFC5-4F38-9754-15118815C08C}"/>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필수 인자 누락·스키마 변경·API 지연·빈 결과</a:t>
            </a:r>
          </a:p>
        </p:txBody>
      </p:sp>
      <p:sp>
        <p:nvSpPr>
          <p:cNvPr id="16" name="">
            <a:extLst xmlns:a="http://schemas.openxmlformats.org/drawingml/2006/main">
              <a:ext uri="{FF2B5EF4-FFF2-40B4-BE49-F238E27FC236}">
                <a16:creationId xmlns:a16="http://schemas.microsoft.com/office/drawing/2014/main" id="{D39E67AD-59D8-46ED-924A-0FC26D99EB92}"/>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BD459F58-AFF0-498A-B123-519DA28C0F05}"/>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도구 인자·원천 응답·사용자 안내의 일치 기록</a:t>
            </a:r>
          </a:p>
        </p:txBody>
      </p:sp>
    </p:spTree>
    <p:extLst>
      <p:ext uri="{BB962C8B-B14F-4D97-AF65-F5344CB8AC3E}">
        <p14:creationId xmlns:p14="http://schemas.microsoft.com/office/powerpoint/2010/main" val="1403109085"/>
      </p:ext>
    </p:extLst>
  </p:cSld>
</p:sld>
</file>

<file path=ppt/slides/slide91.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FBAC28E-ABA1-4EF9-B66A-B103D389126C}"/>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PF04 / 사내 운영 · 자사 발표 / 국내</a:t>
            </a:r>
          </a:p>
        </p:txBody>
      </p:sp>
      <p:sp>
        <p:nvSpPr>
          <p:cNvPr id="2" name="">
            <a:extLst xmlns:a="http://schemas.openxmlformats.org/drawingml/2006/main">
              <a:ext uri="{FF2B5EF4-FFF2-40B4-BE49-F238E27FC236}">
                <a16:creationId xmlns:a16="http://schemas.microsoft.com/office/drawing/2014/main" id="{2008697E-DA4F-4F51-9F21-8E4887B8248A}"/>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삼성SDS FabriX 업무 플랫폼</a:t>
            </a:r>
          </a:p>
        </p:txBody>
      </p:sp>
      <p:sp>
        <p:nvSpPr>
          <p:cNvPr id="3" name="">
            <a:extLst xmlns:a="http://schemas.openxmlformats.org/drawingml/2006/main">
              <a:ext uri="{FF2B5EF4-FFF2-40B4-BE49-F238E27FC236}">
                <a16:creationId xmlns:a16="http://schemas.microsoft.com/office/drawing/2014/main" id="{51FE38BB-307F-4E79-9391-2F9C38CDD166}"/>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BC10BA5-06C0-4242-ADAD-A27A47A5427A}"/>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E3BCB9CD-91EC-4A95-B6F6-CDC8129D4EA5}"/>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91</a:t>
            </a:r>
          </a:p>
        </p:txBody>
      </p:sp>
      <p:sp>
        <p:nvSpPr>
          <p:cNvPr id="6" name="">
            <a:extLst xmlns:a="http://schemas.openxmlformats.org/drawingml/2006/main">
              <a:ext uri="{FF2B5EF4-FFF2-40B4-BE49-F238E27FC236}">
                <a16:creationId xmlns:a16="http://schemas.microsoft.com/office/drawing/2014/main" id="{B58E8FD6-FC66-4ED3-815B-7EC9A4B7C895}"/>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299C0B16-8447-4CA2-8FC4-A3CF41AC7B7B}"/>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삼성SDS의 FabriX 공통 AI와 사내 시스템·협업·개발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도구의 연계 사례. 공통 대화 접점에서 API 기반 업무 적</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용, 협업 도구, 개발 플러그인으로 활용 경로를 확대하는</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접근.</a:t>
            </a:r>
          </a:p>
        </p:txBody>
      </p:sp>
      <p:sp>
        <p:nvSpPr>
          <p:cNvPr id="8" name="">
            <a:extLst xmlns:a="http://schemas.openxmlformats.org/drawingml/2006/main">
              <a:ext uri="{FF2B5EF4-FFF2-40B4-BE49-F238E27FC236}">
                <a16:creationId xmlns:a16="http://schemas.microsoft.com/office/drawing/2014/main" id="{CBC2199E-01E9-459D-87BE-B8F248590401}"/>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66503B8A-544E-4C86-94F9-0B2CD34F8045}"/>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공개 도입 설명은 업무 문서 정비와 공통 플랫폼 제공,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기존 시스템 API 연계, 현장 담당자·전담 조직의 운영을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함께 제시. MCP·권한 연계는 후속 고도화 방향으로 설</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명된 범위이며 모든 단계의 완료 성과로 묶지 않는 해석.</a:t>
            </a:r>
          </a:p>
        </p:txBody>
      </p:sp>
      <p:sp>
        <p:nvSpPr>
          <p:cNvPr id="10" name="">
            <a:extLst xmlns:a="http://schemas.openxmlformats.org/drawingml/2006/main">
              <a:ext uri="{FF2B5EF4-FFF2-40B4-BE49-F238E27FC236}">
                <a16:creationId xmlns:a16="http://schemas.microsoft.com/office/drawing/2014/main" id="{1D1902D9-620F-4129-87AC-BFC8332343B5}"/>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F13CFD58-7761-447B-8AA7-E6DDDDD0BD88}"/>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CCK에서는 데이터 표준·업무 소유자·운영 책임을 플랫폼</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과 함께 구축하는 참고. AI혁신처의 공통 기반과 부서별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업무 API·검수 책임을 분리해 확장비용과 업무 완료 품질</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을 비교할 필요.</a:t>
            </a:r>
          </a:p>
        </p:txBody>
      </p:sp>
      <p:sp>
        <p:nvSpPr>
          <p:cNvPr id="12" name="">
            <a:extLst xmlns:a="http://schemas.openxmlformats.org/drawingml/2006/main">
              <a:ext uri="{FF2B5EF4-FFF2-40B4-BE49-F238E27FC236}">
                <a16:creationId xmlns:a16="http://schemas.microsoft.com/office/drawing/2014/main" id="{82B4F934-C42F-456C-8B68-61CA48442498}"/>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5485A5CE-6619-4B64-AE67-769072C44185}"/>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업무단위 연계 모듈 / 현업 교육 / 품질·비용 관측</a:t>
            </a:r>
          </a:p>
        </p:txBody>
      </p:sp>
      <p:sp>
        <p:nvSpPr>
          <p:cNvPr id="14" name="">
            <a:extLst xmlns:a="http://schemas.openxmlformats.org/drawingml/2006/main">
              <a:ext uri="{FF2B5EF4-FFF2-40B4-BE49-F238E27FC236}">
                <a16:creationId xmlns:a16="http://schemas.microsoft.com/office/drawing/2014/main" id="{B78C7F13-FF29-466C-95A5-2E1F61726C32}"/>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65B6E4E5-9093-46F5-8B6C-77CA96F568E5}"/>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업무 완료율·오실행·재작업·총소요시간 동시 평가</a:t>
            </a:r>
          </a:p>
        </p:txBody>
      </p:sp>
      <p:sp>
        <p:nvSpPr>
          <p:cNvPr id="16" name="">
            <a:extLst xmlns:a="http://schemas.openxmlformats.org/drawingml/2006/main">
              <a:ext uri="{FF2B5EF4-FFF2-40B4-BE49-F238E27FC236}">
                <a16:creationId xmlns:a16="http://schemas.microsoft.com/office/drawing/2014/main" id="{F6D82855-D755-45E3-8E3E-3B03CF74B756}"/>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F7723915-E779-4A9A-80C0-139D6C8A995A}"/>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TS 업무 완료시간·오류·추가 구축 공수의 비교 평가</a:t>
            </a:r>
          </a:p>
        </p:txBody>
      </p:sp>
      <p:sp>
        <p:nvSpPr>
          <p:cNvPr id="18" name="">
            <a:extLst xmlns:a="http://schemas.openxmlformats.org/drawingml/2006/main">
              <a:ext uri="{FF2B5EF4-FFF2-40B4-BE49-F238E27FC236}">
                <a16:creationId xmlns:a16="http://schemas.microsoft.com/office/drawing/2014/main" id="{5D4B3369-A71A-4397-8CB7-017D93B8AA1E}"/>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자사 발표 · 특정 직무 성과를 전사 생산성으로 일반화 불가</a:t>
            </a:r>
          </a:p>
        </p:txBody>
      </p:sp>
    </p:spTree>
    <p:extLst>
      <p:ext uri="{BB962C8B-B14F-4D97-AF65-F5344CB8AC3E}">
        <p14:creationId xmlns:p14="http://schemas.microsoft.com/office/powerpoint/2010/main" val="4166205"/>
      </p:ext>
    </p:extLst>
  </p:cSld>
</p:sld>
</file>

<file path=ppt/slides/slide9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7A0259CB-3DE0-420E-986A-72B641FE859B}"/>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88526EB2-B272-4F66-8B10-C69D6304E887}"/>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BCAB75F3-FB1E-4374-8811-5FA313047BA7}"/>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F16B500A-5594-4DC4-AF15-C8C6E19E4F14}"/>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22C2B54C-58CF-4AD3-BED4-BA44E3A9362F}"/>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39CE13B4-9333-4BCE-B729-8942C9AFFB9D}"/>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A4BC0FE7-94C5-4664-A754-AFBAA09DB5B5}"/>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B37E4697-8BCD-414C-8822-0A126770B69C}"/>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C29CE761-D8AF-4963-A73D-55EFF3B0664E}"/>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9D07DCF1-9AB6-4F6A-A340-09030F645408}"/>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PF04 / CCK 세부 재구성 · 논리 서비스 설계</a:t>
            </a:r>
          </a:p>
        </p:txBody>
      </p:sp>
      <p:sp>
        <p:nvSpPr>
          <p:cNvPr id="2" name="">
            <a:extLst xmlns:a="http://schemas.openxmlformats.org/drawingml/2006/main">
              <a:ext uri="{FF2B5EF4-FFF2-40B4-BE49-F238E27FC236}">
                <a16:creationId xmlns:a16="http://schemas.microsoft.com/office/drawing/2014/main" id="{9A6AF11B-4046-4289-9967-F9F36E72764C}"/>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삼성SDS FabriX 업무 플랫폼 · 세부 서비스 구조</a:t>
            </a:r>
          </a:p>
        </p:txBody>
      </p:sp>
      <p:sp>
        <p:nvSpPr>
          <p:cNvPr id="3" name="">
            <a:extLst xmlns:a="http://schemas.openxmlformats.org/drawingml/2006/main">
              <a:ext uri="{FF2B5EF4-FFF2-40B4-BE49-F238E27FC236}">
                <a16:creationId xmlns:a16="http://schemas.microsoft.com/office/drawing/2014/main" id="{CE21A4D7-2473-48EA-BF21-13146C613119}"/>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AFB187E-DF4C-406E-A8E7-238BECA2834E}"/>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77C8982E-56A9-4753-964B-2794BBD108E1}"/>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92</a:t>
            </a:r>
          </a:p>
        </p:txBody>
      </p:sp>
      <p:sp>
        <p:nvSpPr>
          <p:cNvPr id="6" name="">
            <a:extLst xmlns:a="http://schemas.openxmlformats.org/drawingml/2006/main">
              <a:ext uri="{FF2B5EF4-FFF2-40B4-BE49-F238E27FC236}">
                <a16:creationId xmlns:a16="http://schemas.microsoft.com/office/drawing/2014/main" id="{9C144F54-E4E0-4189-9C28-3D39CCFBAC85}"/>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운영기관·공급사·감사 자료의 업무 설명</a:t>
            </a:r>
          </a:p>
        </p:txBody>
      </p:sp>
      <p:sp>
        <p:nvSpPr>
          <p:cNvPr id="7" name="">
            <a:extLst xmlns:a="http://schemas.openxmlformats.org/drawingml/2006/main">
              <a:ext uri="{FF2B5EF4-FFF2-40B4-BE49-F238E27FC236}">
                <a16:creationId xmlns:a16="http://schemas.microsoft.com/office/drawing/2014/main" id="{1C725591-FE14-4989-9311-34C3B4A5E688}"/>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7859F816-1B1A-4903-9837-84A85F42104A}"/>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BB77BCC9-4ADB-44AD-93C7-D3E7C4B77049}"/>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직무용 AI 접점</a:t>
            </a:r>
          </a:p>
        </p:txBody>
      </p:sp>
      <p:sp>
        <p:nvSpPr>
          <p:cNvPr id="10" name="">
            <a:extLst xmlns:a="http://schemas.openxmlformats.org/drawingml/2006/main">
              <a:ext uri="{FF2B5EF4-FFF2-40B4-BE49-F238E27FC236}">
                <a16:creationId xmlns:a16="http://schemas.microsoft.com/office/drawing/2014/main" id="{48298E99-410E-4794-95BA-1FBFB702CEC0}"/>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D265DD58-9E65-4DA8-B6FE-5DD794F6D2EB}"/>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FC26231E-E15F-45DF-A05A-3A1F3856BC11}"/>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직원·목적·도구</a:t>
            </a:r>
          </a:p>
        </p:txBody>
      </p:sp>
      <p:sp>
        <p:nvSpPr>
          <p:cNvPr id="13" name="">
            <a:extLst xmlns:a="http://schemas.openxmlformats.org/drawingml/2006/main">
              <a:ext uri="{FF2B5EF4-FFF2-40B4-BE49-F238E27FC236}">
                <a16:creationId xmlns:a16="http://schemas.microsoft.com/office/drawing/2014/main" id="{B070B905-D6B2-42CF-A2B5-8D8B5A5CDC21}"/>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7E65BD0D-7D1A-4CAE-B231-BB142DD94A03}"/>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6E213051-0EB2-4535-A9B2-D256BC9780CA}"/>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사내 지식 검색</a:t>
            </a:r>
          </a:p>
        </p:txBody>
      </p:sp>
      <p:sp>
        <p:nvSpPr>
          <p:cNvPr id="16" name="">
            <a:extLst xmlns:a="http://schemas.openxmlformats.org/drawingml/2006/main">
              <a:ext uri="{FF2B5EF4-FFF2-40B4-BE49-F238E27FC236}">
                <a16:creationId xmlns:a16="http://schemas.microsoft.com/office/drawing/2014/main" id="{21B96430-B54C-4F1E-96C0-BA482971B5BE}"/>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659585DA-27D1-4400-88D8-151542AB90D6}"/>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9727C868-50D7-47D4-95C7-645CD1F5676E}"/>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FabriX·API 조정</a:t>
            </a:r>
          </a:p>
        </p:txBody>
      </p:sp>
      <p:sp>
        <p:nvSpPr>
          <p:cNvPr id="19" name="">
            <a:extLst xmlns:a="http://schemas.openxmlformats.org/drawingml/2006/main">
              <a:ext uri="{FF2B5EF4-FFF2-40B4-BE49-F238E27FC236}">
                <a16:creationId xmlns:a16="http://schemas.microsoft.com/office/drawing/2014/main" id="{221B8DAE-8E17-474D-8B7E-86A7CCF55C24}"/>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E1ECEC84-B617-4F28-9054-B8C11ADFAD4B}"/>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FE0966F0-272E-4996-929E-089C6D589D67}"/>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실행·결과 검사</a:t>
            </a:r>
          </a:p>
        </p:txBody>
      </p:sp>
      <p:sp>
        <p:nvSpPr>
          <p:cNvPr id="22" name="">
            <a:extLst xmlns:a="http://schemas.openxmlformats.org/drawingml/2006/main">
              <a:ext uri="{FF2B5EF4-FFF2-40B4-BE49-F238E27FC236}">
                <a16:creationId xmlns:a16="http://schemas.microsoft.com/office/drawing/2014/main" id="{FB721624-5551-4B7E-9433-1B0A3F5C9395}"/>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5E378288-AE30-4707-A057-D14E1973F67C}"/>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888A4687-CC14-4555-9028-C0DF72E5035A}"/>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현업 확인</a:t>
            </a:r>
          </a:p>
        </p:txBody>
      </p:sp>
      <p:sp>
        <p:nvSpPr>
          <p:cNvPr id="25" name="">
            <a:extLst xmlns:a="http://schemas.openxmlformats.org/drawingml/2006/main">
              <a:ext uri="{FF2B5EF4-FFF2-40B4-BE49-F238E27FC236}">
                <a16:creationId xmlns:a16="http://schemas.microsoft.com/office/drawing/2014/main" id="{5B8232D5-A980-4634-9772-1B2E51E2B3FD}"/>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6E772ED5-23F5-42BF-A2F7-11FE6E2CDA27}"/>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967E43C7-6A97-4DE9-958A-68DD74D9AB18}"/>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직무 시스템 연결</a:t>
            </a:r>
          </a:p>
        </p:txBody>
      </p:sp>
      <p:sp>
        <p:nvSpPr>
          <p:cNvPr id="28" name="">
            <a:extLst xmlns:a="http://schemas.openxmlformats.org/drawingml/2006/main">
              <a:ext uri="{FF2B5EF4-FFF2-40B4-BE49-F238E27FC236}">
                <a16:creationId xmlns:a16="http://schemas.microsoft.com/office/drawing/2014/main" id="{869D504D-F4D2-4765-B9DF-983DF89C8318}"/>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72DFF00F-F928-4A8D-8DFD-D68EA3A462A0}"/>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EED4FD10-F446-45FF-B3D9-2A02B5EEFED1}"/>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실패·피드백 분석</a:t>
            </a:r>
          </a:p>
        </p:txBody>
      </p:sp>
      <p:sp>
        <p:nvSpPr>
          <p:cNvPr id="31" name="">
            <a:extLst xmlns:a="http://schemas.openxmlformats.org/drawingml/2006/main">
              <a:ext uri="{FF2B5EF4-FFF2-40B4-BE49-F238E27FC236}">
                <a16:creationId xmlns:a16="http://schemas.microsoft.com/office/drawing/2014/main" id="{965F1BCB-1895-4D03-A718-6B4E17137989}"/>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EFC6D07C-2B6A-4187-A610-126B8013439B}"/>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2413F8F2-E297-4040-ACD6-A13399CE9D2A}"/>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사내 지식·API</a:t>
            </a:r>
          </a:p>
        </p:txBody>
      </p:sp>
      <p:sp>
        <p:nvSpPr>
          <p:cNvPr id="34" name="">
            <a:extLst xmlns:a="http://schemas.openxmlformats.org/drawingml/2006/main">
              <a:ext uri="{FF2B5EF4-FFF2-40B4-BE49-F238E27FC236}">
                <a16:creationId xmlns:a16="http://schemas.microsoft.com/office/drawing/2014/main" id="{8298E831-994E-45BD-89B1-4F8F42572542}"/>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623086B5-DAD5-41D4-96AD-C56603CFD885}"/>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9D4485DE-58C0-48DB-A2E4-E70355E678A5}"/>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인터페이스 정리</a:t>
            </a:r>
          </a:p>
        </p:txBody>
      </p:sp>
      <p:sp>
        <p:nvSpPr>
          <p:cNvPr id="37" name="">
            <a:extLst xmlns:a="http://schemas.openxmlformats.org/drawingml/2006/main">
              <a:ext uri="{FF2B5EF4-FFF2-40B4-BE49-F238E27FC236}">
                <a16:creationId xmlns:a16="http://schemas.microsoft.com/office/drawing/2014/main" id="{DFE9CF6C-6FCF-4AA9-BC51-2277C64D7A78}"/>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886A5758-19C6-40E9-A6CA-66881302434D}"/>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853732C7-2B62-4258-A902-D41CCD917A36}"/>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지식·처리 상태</a:t>
            </a:r>
          </a:p>
        </p:txBody>
      </p:sp>
      <p:sp>
        <p:nvSpPr>
          <p:cNvPr id="40" name="">
            <a:extLst xmlns:a="http://schemas.openxmlformats.org/drawingml/2006/main">
              <a:ext uri="{FF2B5EF4-FFF2-40B4-BE49-F238E27FC236}">
                <a16:creationId xmlns:a16="http://schemas.microsoft.com/office/drawing/2014/main" id="{ACD1329A-58F9-4F2B-9A81-726F052DA2C5}"/>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522DF4A1-1884-4193-B446-7693BEB6DC5C}"/>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2BBBCA3C-7619-4B4E-A101-8A9A7B36BDAC}"/>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도구별 실행 권한</a:t>
            </a:r>
          </a:p>
        </p:txBody>
      </p:sp>
      <p:sp>
        <p:nvSpPr>
          <p:cNvPr id="52" name="">
            <a:extLst xmlns:a="http://schemas.openxmlformats.org/drawingml/2006/main">
              <a:ext uri="{FF2B5EF4-FFF2-40B4-BE49-F238E27FC236}">
                <a16:creationId xmlns:a16="http://schemas.microsoft.com/office/drawing/2014/main" id="{13734E8C-2B21-48E3-9F29-9A43B0F5C412}"/>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1801218416"/>
      </p:ext>
    </p:extLst>
  </p:cSld>
</p:sld>
</file>

<file path=ppt/slides/slide9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E845D21B-17FA-46C8-86E6-F1699648C808}"/>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PF04 / 논리 인터페이스·복구 설계</a:t>
            </a:r>
          </a:p>
        </p:txBody>
      </p:sp>
      <p:sp>
        <p:nvSpPr>
          <p:cNvPr id="2" name="">
            <a:extLst xmlns:a="http://schemas.openxmlformats.org/drawingml/2006/main">
              <a:ext uri="{FF2B5EF4-FFF2-40B4-BE49-F238E27FC236}">
                <a16:creationId xmlns:a16="http://schemas.microsoft.com/office/drawing/2014/main" id="{9F2667D2-7640-42FB-A0A5-5E9EABC3D739}"/>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삼성SDS FabriX 업무 플랫폼 · 데이터와 예외 처리</a:t>
            </a:r>
          </a:p>
        </p:txBody>
      </p:sp>
      <p:sp>
        <p:nvSpPr>
          <p:cNvPr id="3" name="">
            <a:extLst xmlns:a="http://schemas.openxmlformats.org/drawingml/2006/main">
              <a:ext uri="{FF2B5EF4-FFF2-40B4-BE49-F238E27FC236}">
                <a16:creationId xmlns:a16="http://schemas.microsoft.com/office/drawing/2014/main" id="{9311D3CD-455D-4649-AE01-B6527AC55A56}"/>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12C1D05-9D0D-4059-9739-A5EF532AF086}"/>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8606F4AF-10A4-4725-B423-DD2F3CE7A12F}"/>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93</a:t>
            </a:r>
          </a:p>
        </p:txBody>
      </p:sp>
      <p:sp>
        <p:nvSpPr>
          <p:cNvPr id="6" name="">
            <a:extLst xmlns:a="http://schemas.openxmlformats.org/drawingml/2006/main">
              <a:ext uri="{FF2B5EF4-FFF2-40B4-BE49-F238E27FC236}">
                <a16:creationId xmlns:a16="http://schemas.microsoft.com/office/drawing/2014/main" id="{E8912A2F-5E08-40E9-9E54-D5D34A934DB0}"/>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368D5569-92E5-4504-B676-9CB6F8442733}"/>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60036A1D-C5E9-47C0-9D1E-CEB0498D9AB0}"/>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5221FE98-C9A6-45E6-8BC7-B078553E687F}"/>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직원 계정·업무 목적·도구 권한 확인</a:t>
            </a:r>
          </a:p>
        </p:txBody>
      </p:sp>
      <p:sp>
        <p:nvSpPr>
          <p:cNvPr id="10" name="">
            <a:extLst xmlns:a="http://schemas.openxmlformats.org/drawingml/2006/main">
              <a:ext uri="{FF2B5EF4-FFF2-40B4-BE49-F238E27FC236}">
                <a16:creationId xmlns:a16="http://schemas.microsoft.com/office/drawing/2014/main" id="{6A0D22EB-69E1-4785-8557-A2DEDB9CA5B6}"/>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2FA181E-0F09-4368-8675-53A72E204137}"/>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22759BC4-5986-42F2-AAC3-14AA1EDA31D3}"/>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업무 요청</a:t>
            </a:r>
          </a:p>
        </p:txBody>
      </p:sp>
      <p:sp>
        <p:nvSpPr>
          <p:cNvPr id="13" name="">
            <a:extLst xmlns:a="http://schemas.openxmlformats.org/drawingml/2006/main">
              <a:ext uri="{FF2B5EF4-FFF2-40B4-BE49-F238E27FC236}">
                <a16:creationId xmlns:a16="http://schemas.microsoft.com/office/drawing/2014/main" id="{D5342498-3258-4810-AD86-18D8CE50B286}"/>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5F0C211-80E9-48DC-BF74-BB3D81D3C73F}"/>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74A8017B-185C-4AA5-A9D1-8CE1B052AEA0}"/>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검색·도구 인자</a:t>
            </a:r>
          </a:p>
        </p:txBody>
      </p:sp>
      <p:sp>
        <p:nvSpPr>
          <p:cNvPr id="16" name="">
            <a:extLst xmlns:a="http://schemas.openxmlformats.org/drawingml/2006/main">
              <a:ext uri="{FF2B5EF4-FFF2-40B4-BE49-F238E27FC236}">
                <a16:creationId xmlns:a16="http://schemas.microsoft.com/office/drawing/2014/main" id="{7424DE4D-E7C2-437B-8050-079F7029CC67}"/>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F10479C-FD6C-4E1B-AED5-2CBF78C4AAE8}"/>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88EE31B2-41BB-4D98-B01F-0551A0830154}"/>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시스템 결과</a:t>
            </a:r>
          </a:p>
        </p:txBody>
      </p:sp>
      <p:sp>
        <p:nvSpPr>
          <p:cNvPr id="19" name="">
            <a:extLst xmlns:a="http://schemas.openxmlformats.org/drawingml/2006/main">
              <a:ext uri="{FF2B5EF4-FFF2-40B4-BE49-F238E27FC236}">
                <a16:creationId xmlns:a16="http://schemas.microsoft.com/office/drawing/2014/main" id="{6441883A-F44E-4BB0-8F3E-3D4966D2DABE}"/>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1316D1A-A6E5-41CB-95C1-28BA953156F6}"/>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08EC1D75-EDBC-4712-BEA5-3AFC1CF279CD}"/>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시스템 결과</a:t>
            </a:r>
          </a:p>
        </p:txBody>
      </p:sp>
      <p:sp>
        <p:nvSpPr>
          <p:cNvPr id="22" name="">
            <a:extLst xmlns:a="http://schemas.openxmlformats.org/drawingml/2006/main">
              <a:ext uri="{FF2B5EF4-FFF2-40B4-BE49-F238E27FC236}">
                <a16:creationId xmlns:a16="http://schemas.microsoft.com/office/drawing/2014/main" id="{2DE07830-E58B-4D4B-82FA-E0C56099CE17}"/>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B2C7EE4-A347-4BD9-BF05-B27E3FD62A0B}"/>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1E1F1970-CDC2-44D7-8364-4A3DE6B16044}"/>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검토·후속조치</a:t>
            </a:r>
          </a:p>
        </p:txBody>
      </p:sp>
      <p:sp>
        <p:nvSpPr>
          <p:cNvPr id="25" name="">
            <a:extLst xmlns:a="http://schemas.openxmlformats.org/drawingml/2006/main">
              <a:ext uri="{FF2B5EF4-FFF2-40B4-BE49-F238E27FC236}">
                <a16:creationId xmlns:a16="http://schemas.microsoft.com/office/drawing/2014/main" id="{52C7BBB5-15DB-4395-806C-F6BB31CA09C2}"/>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8B45C95F-5035-4309-AF40-87F150770DA9}"/>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권한 부족·API 부분 실패·같은 요청 재전송</a:t>
            </a:r>
          </a:p>
        </p:txBody>
      </p:sp>
      <p:sp>
        <p:nvSpPr>
          <p:cNvPr id="27" name="">
            <a:extLst xmlns:a="http://schemas.openxmlformats.org/drawingml/2006/main">
              <a:ext uri="{FF2B5EF4-FFF2-40B4-BE49-F238E27FC236}">
                <a16:creationId xmlns:a16="http://schemas.microsoft.com/office/drawing/2014/main" id="{B3796249-917E-4EBF-8F59-524165F6F952}"/>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521F575F-ABD8-4F54-B3AE-6AA8122E85B6}"/>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실행 권한·중복 호출·실패 복구</a:t>
            </a:r>
          </a:p>
        </p:txBody>
      </p:sp>
      <p:sp>
        <p:nvSpPr>
          <p:cNvPr id="29" name="">
            <a:extLst xmlns:a="http://schemas.openxmlformats.org/drawingml/2006/main">
              <a:ext uri="{FF2B5EF4-FFF2-40B4-BE49-F238E27FC236}">
                <a16:creationId xmlns:a16="http://schemas.microsoft.com/office/drawing/2014/main" id="{C99739CA-FADA-42AB-BC70-87D531F111A4}"/>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4F7871B5-F302-412F-95DE-7DA1CEA5E95A}"/>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사용자 피드백·업무별 품질·실행 오류 분석</a:t>
            </a:r>
          </a:p>
        </p:txBody>
      </p:sp>
      <p:sp>
        <p:nvSpPr>
          <p:cNvPr id="31" name="">
            <a:extLst xmlns:a="http://schemas.openxmlformats.org/drawingml/2006/main">
              <a:ext uri="{FF2B5EF4-FFF2-40B4-BE49-F238E27FC236}">
                <a16:creationId xmlns:a16="http://schemas.microsoft.com/office/drawing/2014/main" id="{5934789F-E398-4302-8082-AEEFAE3D5A9F}"/>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3D200646-5D61-41D7-8F43-C68503AE7184}"/>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업무별 도구 선택·실행 결과·복구 로그</a:t>
            </a:r>
          </a:p>
        </p:txBody>
      </p:sp>
    </p:spTree>
    <p:extLst>
      <p:ext uri="{BB962C8B-B14F-4D97-AF65-F5344CB8AC3E}">
        <p14:creationId xmlns:p14="http://schemas.microsoft.com/office/powerpoint/2010/main" val="595258255"/>
      </p:ext>
    </p:extLst>
  </p:cSld>
</p:sld>
</file>

<file path=ppt/slides/slide9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31445B1-FF2D-475E-A03C-D9DDACADD906}"/>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PF04 / CCK 비교·재현 시험 설계</a:t>
            </a:r>
          </a:p>
        </p:txBody>
      </p:sp>
      <p:sp>
        <p:nvSpPr>
          <p:cNvPr id="2" name="">
            <a:extLst xmlns:a="http://schemas.openxmlformats.org/drawingml/2006/main">
              <a:ext uri="{FF2B5EF4-FFF2-40B4-BE49-F238E27FC236}">
                <a16:creationId xmlns:a16="http://schemas.microsoft.com/office/drawing/2014/main" id="{CEC557BB-6FC0-438A-9910-CA4A1B6F224C}"/>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삼성SDS FabriX 업무 플랫폼 · 벤치마킹</a:t>
            </a:r>
          </a:p>
        </p:txBody>
      </p:sp>
      <p:sp>
        <p:nvSpPr>
          <p:cNvPr id="3" name="">
            <a:extLst xmlns:a="http://schemas.openxmlformats.org/drawingml/2006/main">
              <a:ext uri="{FF2B5EF4-FFF2-40B4-BE49-F238E27FC236}">
                <a16:creationId xmlns:a16="http://schemas.microsoft.com/office/drawing/2014/main" id="{53FA468B-A654-46A5-B497-4B42EB16A058}"/>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D993133-FA3A-414E-9D5E-BD0B6D713CC6}"/>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AFF72C25-5256-47F9-B1BB-7B7680B6C95F}"/>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94</a:t>
            </a:r>
          </a:p>
        </p:txBody>
      </p:sp>
      <p:sp>
        <p:nvSpPr>
          <p:cNvPr id="6" name="">
            <a:extLst xmlns:a="http://schemas.openxmlformats.org/drawingml/2006/main">
              <a:ext uri="{FF2B5EF4-FFF2-40B4-BE49-F238E27FC236}">
                <a16:creationId xmlns:a16="http://schemas.microsoft.com/office/drawing/2014/main" id="{A65C1260-EDEE-436D-B448-DD2C0DBD932D}"/>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10FCE816-1E7D-42DD-A51D-2322260A0F64}"/>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공통 AI와 사내 시스템 연결</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직무 도구·피드백을 통한 확산</a:t>
            </a:r>
          </a:p>
        </p:txBody>
      </p:sp>
      <p:sp>
        <p:nvSpPr>
          <p:cNvPr id="8" name="">
            <a:extLst xmlns:a="http://schemas.openxmlformats.org/drawingml/2006/main">
              <a:ext uri="{FF2B5EF4-FFF2-40B4-BE49-F238E27FC236}">
                <a16:creationId xmlns:a16="http://schemas.microsoft.com/office/drawing/2014/main" id="{7B3B2088-B946-449D-A807-69A4C3787D73}"/>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CB112C44-499F-4299-A9FE-1D6460C82A79}"/>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API별 권한·실패 상태 차이</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전사 도입과 모든 업무의 효과 혼동</a:t>
            </a:r>
          </a:p>
        </p:txBody>
      </p:sp>
      <p:sp>
        <p:nvSpPr>
          <p:cNvPr id="10" name="">
            <a:extLst xmlns:a="http://schemas.openxmlformats.org/drawingml/2006/main">
              <a:ext uri="{FF2B5EF4-FFF2-40B4-BE49-F238E27FC236}">
                <a16:creationId xmlns:a16="http://schemas.microsoft.com/office/drawing/2014/main" id="{73F910AB-DE27-4EAD-9C4A-C4742A79B816}"/>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E8370D6F-EC9C-44D0-826E-21CDBB4D3CBD}"/>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실행 권한·중복 호출·실패 복구</a:t>
            </a:r>
          </a:p>
        </p:txBody>
      </p:sp>
      <p:sp>
        <p:nvSpPr>
          <p:cNvPr id="12" name="">
            <a:extLst xmlns:a="http://schemas.openxmlformats.org/drawingml/2006/main">
              <a:ext uri="{FF2B5EF4-FFF2-40B4-BE49-F238E27FC236}">
                <a16:creationId xmlns:a16="http://schemas.microsoft.com/office/drawing/2014/main" id="{EC312AC4-3F13-470B-9284-2CBC3F034A7F}"/>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5CFAA3AC-9F2E-4061-8B28-2EB8ED3B7D02}"/>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사내 업무 목적을 검색·도구 호출에 연결</a:t>
            </a:r>
          </a:p>
        </p:txBody>
      </p:sp>
      <p:sp>
        <p:nvSpPr>
          <p:cNvPr id="14" name="">
            <a:extLst xmlns:a="http://schemas.openxmlformats.org/drawingml/2006/main">
              <a:ext uri="{FF2B5EF4-FFF2-40B4-BE49-F238E27FC236}">
                <a16:creationId xmlns:a16="http://schemas.microsoft.com/office/drawing/2014/main" id="{0BBAF41B-3D50-4058-A0D3-B6C88CF4C1D4}"/>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318B1563-E560-4186-8968-F77C45F02658}"/>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권한 부족·API 부분 실패·같은 요청 재전송</a:t>
            </a:r>
          </a:p>
        </p:txBody>
      </p:sp>
      <p:sp>
        <p:nvSpPr>
          <p:cNvPr id="16" name="">
            <a:extLst xmlns:a="http://schemas.openxmlformats.org/drawingml/2006/main">
              <a:ext uri="{FF2B5EF4-FFF2-40B4-BE49-F238E27FC236}">
                <a16:creationId xmlns:a16="http://schemas.microsoft.com/office/drawing/2014/main" id="{1FA90590-C1F9-4591-BF55-90A424FE910A}"/>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C78D26DC-37EF-4B05-B347-5A67561F56C6}"/>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업무별 도구 선택·실행 결과·복구 로그</a:t>
            </a:r>
          </a:p>
        </p:txBody>
      </p:sp>
    </p:spTree>
    <p:extLst>
      <p:ext uri="{BB962C8B-B14F-4D97-AF65-F5344CB8AC3E}">
        <p14:creationId xmlns:p14="http://schemas.microsoft.com/office/powerpoint/2010/main" val="1583041580"/>
      </p:ext>
    </p:extLst>
  </p:cSld>
</p:sld>
</file>

<file path=ppt/slides/slide9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C97AE5E-13FB-4147-920C-470ED30ECC46}"/>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PF-A06 / 사내 운영(2024-11 발표) / 국내</a:t>
            </a:r>
          </a:p>
        </p:txBody>
      </p:sp>
      <p:sp>
        <p:nvSpPr>
          <p:cNvPr id="2" name="">
            <a:extLst xmlns:a="http://schemas.openxmlformats.org/drawingml/2006/main">
              <a:ext uri="{FF2B5EF4-FFF2-40B4-BE49-F238E27FC236}">
                <a16:creationId xmlns:a16="http://schemas.microsoft.com/office/drawing/2014/main" id="{E17EE46D-0B62-4B8E-BD1B-FDB48D697BD1}"/>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삼성 Gauss Portal·code.i</a:t>
            </a:r>
          </a:p>
        </p:txBody>
      </p:sp>
      <p:sp>
        <p:nvSpPr>
          <p:cNvPr id="3" name="">
            <a:extLst xmlns:a="http://schemas.openxmlformats.org/drawingml/2006/main">
              <a:ext uri="{FF2B5EF4-FFF2-40B4-BE49-F238E27FC236}">
                <a16:creationId xmlns:a16="http://schemas.microsoft.com/office/drawing/2014/main" id="{7919EECD-DF50-4696-A527-1A67CAB14B78}"/>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C4805B4-7287-4B18-89D7-7EB86068E916}"/>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45F5B02B-5377-40D2-B1AC-4C8D26181F39}"/>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95</a:t>
            </a:r>
          </a:p>
        </p:txBody>
      </p:sp>
      <p:sp>
        <p:nvSpPr>
          <p:cNvPr id="6" name="">
            <a:extLst xmlns:a="http://schemas.openxmlformats.org/drawingml/2006/main">
              <a:ext uri="{FF2B5EF4-FFF2-40B4-BE49-F238E27FC236}">
                <a16:creationId xmlns:a16="http://schemas.microsoft.com/office/drawing/2014/main" id="{2969A159-B1A5-4367-9E0A-04FAA1FAC389}"/>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02B6855E-C29F-4257-A8EF-25E6C4CC11AD}"/>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삼성 Gauss Portal과 code.i의 기업 공통 AI·개발 지원</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사례. 전 직원의 문서 업무와 개발자의 코드 작업을 다</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른 접점으로 지원하는 도입 방식.</a:t>
            </a:r>
          </a:p>
        </p:txBody>
      </p:sp>
      <p:sp>
        <p:nvSpPr>
          <p:cNvPr id="8" name="">
            <a:extLst xmlns:a="http://schemas.openxmlformats.org/drawingml/2006/main">
              <a:ext uri="{FF2B5EF4-FFF2-40B4-BE49-F238E27FC236}">
                <a16:creationId xmlns:a16="http://schemas.microsoft.com/office/drawing/2014/main" id="{3D0F5CC0-5309-4A06-B8BB-F173866653BA}"/>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A1D39CA9-F400-4941-B9F8-3DC734134362}"/>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공개 제품 발표의 업무 지원 범위를 기준으로 직원 포털,</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개발 도구 접점, AI 처리, 업무 자료·코드 문맥, 결과 검</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토 계층으로 재구성. 문서 작성과 코드 생성은 입력 데이</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터와 오류 판정 기준이 다른 서비스로 설계.</a:t>
            </a:r>
          </a:p>
        </p:txBody>
      </p:sp>
      <p:sp>
        <p:nvSpPr>
          <p:cNvPr id="10" name="">
            <a:extLst xmlns:a="http://schemas.openxmlformats.org/drawingml/2006/main">
              <a:ext uri="{FF2B5EF4-FFF2-40B4-BE49-F238E27FC236}">
                <a16:creationId xmlns:a16="http://schemas.microsoft.com/office/drawing/2014/main" id="{AB54B61B-C586-4F6A-83F5-CD49461DCC62}"/>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907FB25C-4F1F-4523-B279-19AF3F6EF07B}"/>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CCK에서는 동일 모델의 이용률보다 직무별 결과물의 검</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증 가능성을 비교할 필요. 문서의 근거·서식 점검과 코드</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의 빌드·시험·보안 검토를 각각 수행하고 데이터 반출·소</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스코드 접근 범위를 공통 정책과 연결.</a:t>
            </a:r>
          </a:p>
        </p:txBody>
      </p:sp>
      <p:sp>
        <p:nvSpPr>
          <p:cNvPr id="12" name="">
            <a:extLst xmlns:a="http://schemas.openxmlformats.org/drawingml/2006/main">
              <a:ext uri="{FF2B5EF4-FFF2-40B4-BE49-F238E27FC236}">
                <a16:creationId xmlns:a16="http://schemas.microsoft.com/office/drawing/2014/main" id="{8C7D42CE-893E-4CA8-9296-1C0C7C7C4ADC}"/>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7FE98B4C-5728-47F3-9AD9-1A9F35B7E4C2}"/>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기관 설정·회귀 평가·두 번째 부서 적용</a:t>
            </a:r>
          </a:p>
        </p:txBody>
      </p:sp>
      <p:sp>
        <p:nvSpPr>
          <p:cNvPr id="14" name="">
            <a:extLst xmlns:a="http://schemas.openxmlformats.org/drawingml/2006/main">
              <a:ext uri="{FF2B5EF4-FFF2-40B4-BE49-F238E27FC236}">
                <a16:creationId xmlns:a16="http://schemas.microsoft.com/office/drawing/2014/main" id="{D765093B-5939-497E-9831-DE35D4206E41}"/>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A1B666DA-36CB-4A0E-98CA-864E81B9F38B}"/>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도입기간·유지비·교육 부담의 기준선·비교 평가</a:t>
            </a:r>
          </a:p>
        </p:txBody>
      </p:sp>
      <p:sp>
        <p:nvSpPr>
          <p:cNvPr id="16" name="">
            <a:extLst xmlns:a="http://schemas.openxmlformats.org/drawingml/2006/main">
              <a:ext uri="{FF2B5EF4-FFF2-40B4-BE49-F238E27FC236}">
                <a16:creationId xmlns:a16="http://schemas.microsoft.com/office/drawing/2014/main" id="{2BB6FBF3-665A-423A-87D7-4A172619B917}"/>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3AC91320-2508-47EF-9A22-BB0CB168A247}"/>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도입기간·유지비·교육 부담</a:t>
            </a:r>
          </a:p>
        </p:txBody>
      </p:sp>
      <p:sp>
        <p:nvSpPr>
          <p:cNvPr id="18" name="">
            <a:extLst xmlns:a="http://schemas.openxmlformats.org/drawingml/2006/main">
              <a:ext uri="{FF2B5EF4-FFF2-40B4-BE49-F238E27FC236}">
                <a16:creationId xmlns:a16="http://schemas.microsoft.com/office/drawing/2014/main" id="{02E5C9F4-C639-4831-8640-3346D57B81E4}"/>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사용량은 시간·비용 절감이 아님. 2026 현재 사용률로 제시하지 않음</a:t>
            </a:r>
          </a:p>
        </p:txBody>
      </p:sp>
    </p:spTree>
    <p:extLst>
      <p:ext uri="{BB962C8B-B14F-4D97-AF65-F5344CB8AC3E}">
        <p14:creationId xmlns:p14="http://schemas.microsoft.com/office/powerpoint/2010/main" val="10859003"/>
      </p:ext>
    </p:extLst>
  </p:cSld>
</p:sld>
</file>

<file path=ppt/slides/slide96.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84EEAC0A-79BD-4A88-963A-4367AFCB8126}"/>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CD82A806-6667-4F66-BF66-B0B631A8510C}"/>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1525273D-791A-4306-A3F3-EE2C57F85464}"/>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DC6D8217-2364-4304-8EF1-3C61B30A7CB3}"/>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26E8718E-4B63-4800-811E-12B08D5F6DDA}"/>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3124E70D-7B6A-4F3F-81A7-FCCAFC4A92BE}"/>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99C7BA89-8ED3-4400-9FDA-9EC73C25B217}"/>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846290E2-2858-41E0-BAB6-4E399951150B}"/>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84F16455-4F20-4E01-8F36-B6D55A8B8371}"/>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8539D23B-A035-49E7-9921-BFAC49BCCB69}"/>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PF-A06 / CCK 세부 재구성 · 논리 서비스 설계</a:t>
            </a:r>
          </a:p>
        </p:txBody>
      </p:sp>
      <p:sp>
        <p:nvSpPr>
          <p:cNvPr id="2" name="">
            <a:extLst xmlns:a="http://schemas.openxmlformats.org/drawingml/2006/main">
              <a:ext uri="{FF2B5EF4-FFF2-40B4-BE49-F238E27FC236}">
                <a16:creationId xmlns:a16="http://schemas.microsoft.com/office/drawing/2014/main" id="{5278FE10-AD60-4D2B-86F3-49C1B5FD30DD}"/>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삼성 Gauss Portal·code.i · 세부 서비스 구조</a:t>
            </a:r>
          </a:p>
        </p:txBody>
      </p:sp>
      <p:sp>
        <p:nvSpPr>
          <p:cNvPr id="3" name="">
            <a:extLst xmlns:a="http://schemas.openxmlformats.org/drawingml/2006/main">
              <a:ext uri="{FF2B5EF4-FFF2-40B4-BE49-F238E27FC236}">
                <a16:creationId xmlns:a16="http://schemas.microsoft.com/office/drawing/2014/main" id="{D3C2A36E-F9BC-4F98-A197-30C56FB616FE}"/>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9A7C88D-0285-4604-BF9B-A2B13EBDD786}"/>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219C9BF2-BA1B-432B-8A2C-2224994276D5}"/>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96</a:t>
            </a:r>
          </a:p>
        </p:txBody>
      </p:sp>
      <p:sp>
        <p:nvSpPr>
          <p:cNvPr id="6" name="">
            <a:extLst xmlns:a="http://schemas.openxmlformats.org/drawingml/2006/main">
              <a:ext uri="{FF2B5EF4-FFF2-40B4-BE49-F238E27FC236}">
                <a16:creationId xmlns:a16="http://schemas.microsoft.com/office/drawing/2014/main" id="{D003F9B0-B04E-4086-A785-C98E5ACA7876}"/>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운영기관·공급사·감사 자료의 업무 설명</a:t>
            </a:r>
          </a:p>
        </p:txBody>
      </p:sp>
      <p:sp>
        <p:nvSpPr>
          <p:cNvPr id="7" name="">
            <a:extLst xmlns:a="http://schemas.openxmlformats.org/drawingml/2006/main">
              <a:ext uri="{FF2B5EF4-FFF2-40B4-BE49-F238E27FC236}">
                <a16:creationId xmlns:a16="http://schemas.microsoft.com/office/drawing/2014/main" id="{054461F4-9275-4938-882A-EE2C8AA1F07E}"/>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CCB2940D-89E0-4059-BD70-0D891CE8478C}"/>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1BCBDAB1-8337-4CFC-8993-45C14662AB66}"/>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포털·개발 도구</a:t>
            </a:r>
          </a:p>
        </p:txBody>
      </p:sp>
      <p:sp>
        <p:nvSpPr>
          <p:cNvPr id="10" name="">
            <a:extLst xmlns:a="http://schemas.openxmlformats.org/drawingml/2006/main">
              <a:ext uri="{FF2B5EF4-FFF2-40B4-BE49-F238E27FC236}">
                <a16:creationId xmlns:a16="http://schemas.microsoft.com/office/drawing/2014/main" id="{9645C563-CAE2-4140-85F3-C71AB2F11542}"/>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11F7727D-062E-4707-8678-BD6F220AC8E8}"/>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85E12B78-B8A7-4C01-9ACC-8906BFDB053B}"/>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문서·코드 문맥</a:t>
            </a:r>
          </a:p>
        </p:txBody>
      </p:sp>
      <p:sp>
        <p:nvSpPr>
          <p:cNvPr id="13" name="">
            <a:extLst xmlns:a="http://schemas.openxmlformats.org/drawingml/2006/main">
              <a:ext uri="{FF2B5EF4-FFF2-40B4-BE49-F238E27FC236}">
                <a16:creationId xmlns:a16="http://schemas.microsoft.com/office/drawing/2014/main" id="{C1258EA8-77D0-46AE-BF20-C06EBD0AE179}"/>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6686417A-4431-4E27-9B41-12D1CFB7E406}"/>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459F0246-265E-4A8B-B916-1CF480BFD552}"/>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허용 문맥 구성</a:t>
            </a:r>
          </a:p>
        </p:txBody>
      </p:sp>
      <p:sp>
        <p:nvSpPr>
          <p:cNvPr id="16" name="">
            <a:extLst xmlns:a="http://schemas.openxmlformats.org/drawingml/2006/main">
              <a:ext uri="{FF2B5EF4-FFF2-40B4-BE49-F238E27FC236}">
                <a16:creationId xmlns:a16="http://schemas.microsoft.com/office/drawing/2014/main" id="{4E8E5BA5-7124-4B4F-A6CD-86C6BFD953BE}"/>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9BB83064-07AF-4D22-8242-4CFB1EC4975C}"/>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49D59563-C29D-4BDD-BAA1-5CF8D67F0CDE}"/>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Gauss 모델군</a:t>
            </a:r>
          </a:p>
        </p:txBody>
      </p:sp>
      <p:sp>
        <p:nvSpPr>
          <p:cNvPr id="19" name="">
            <a:extLst xmlns:a="http://schemas.openxmlformats.org/drawingml/2006/main">
              <a:ext uri="{FF2B5EF4-FFF2-40B4-BE49-F238E27FC236}">
                <a16:creationId xmlns:a16="http://schemas.microsoft.com/office/drawing/2014/main" id="{F52D12F0-4A63-44D1-8CD5-E3FE9E1C3FB6}"/>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EC60FA1B-5D88-4388-A680-FF0C49C34104}"/>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B0D4F1D5-88C7-4DEE-8957-F7C912D0E7CD}"/>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코드·보안 검사</a:t>
            </a:r>
          </a:p>
        </p:txBody>
      </p:sp>
      <p:sp>
        <p:nvSpPr>
          <p:cNvPr id="22" name="">
            <a:extLst xmlns:a="http://schemas.openxmlformats.org/drawingml/2006/main">
              <a:ext uri="{FF2B5EF4-FFF2-40B4-BE49-F238E27FC236}">
                <a16:creationId xmlns:a16="http://schemas.microsoft.com/office/drawing/2014/main" id="{D56DF5EF-8B39-40AA-8470-DD2701F625F6}"/>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EC5D4822-CE3E-41BF-AB96-36F62C22AE2A}"/>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1965F799-EBB9-4193-9C34-003B092F7BD6}"/>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직원·개발자 검토</a:t>
            </a:r>
          </a:p>
        </p:txBody>
      </p:sp>
      <p:sp>
        <p:nvSpPr>
          <p:cNvPr id="25" name="">
            <a:extLst xmlns:a="http://schemas.openxmlformats.org/drawingml/2006/main">
              <a:ext uri="{FF2B5EF4-FFF2-40B4-BE49-F238E27FC236}">
                <a16:creationId xmlns:a16="http://schemas.microsoft.com/office/drawing/2014/main" id="{D0B8C2CF-575F-4041-805F-225177747ED0}"/>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9166B63D-B3D3-4D28-90AE-59CE7310A0E9}"/>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A7137496-4405-416E-A8BD-59343F00174D}"/>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업무·코드 초안</a:t>
            </a:r>
          </a:p>
        </p:txBody>
      </p:sp>
      <p:sp>
        <p:nvSpPr>
          <p:cNvPr id="28" name="">
            <a:extLst xmlns:a="http://schemas.openxmlformats.org/drawingml/2006/main">
              <a:ext uri="{FF2B5EF4-FFF2-40B4-BE49-F238E27FC236}">
                <a16:creationId xmlns:a16="http://schemas.microsoft.com/office/drawing/2014/main" id="{45FD092B-247B-4118-8616-1F5115660B44}"/>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899FC144-DA31-4D61-8B0E-57DF4539A65F}"/>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9787E702-1CB1-42B6-B20B-9BC00C6B2267}"/>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회귀시험 환류</a:t>
            </a:r>
          </a:p>
        </p:txBody>
      </p:sp>
      <p:sp>
        <p:nvSpPr>
          <p:cNvPr id="31" name="">
            <a:extLst xmlns:a="http://schemas.openxmlformats.org/drawingml/2006/main">
              <a:ext uri="{FF2B5EF4-FFF2-40B4-BE49-F238E27FC236}">
                <a16:creationId xmlns:a16="http://schemas.microsoft.com/office/drawing/2014/main" id="{40C13559-16D0-4F8A-96CA-A26098B87087}"/>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F42D572C-870A-4B9B-8B9D-1A77D1EB573A}"/>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300C176D-68C0-4788-9992-A1BBB16A4FF7}"/>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업무문서·코드</a:t>
            </a:r>
          </a:p>
        </p:txBody>
      </p:sp>
      <p:sp>
        <p:nvSpPr>
          <p:cNvPr id="34" name="">
            <a:extLst xmlns:a="http://schemas.openxmlformats.org/drawingml/2006/main">
              <a:ext uri="{FF2B5EF4-FFF2-40B4-BE49-F238E27FC236}">
                <a16:creationId xmlns:a16="http://schemas.microsoft.com/office/drawing/2014/main" id="{28A03090-2C6D-4F82-A5B0-1168F48D1845}"/>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EBC12AC2-7258-4C2E-8354-F3461D6815D8}"/>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06A49225-38E9-4BC5-B255-6DD5347BE330}"/>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입력 범위 정리</a:t>
            </a:r>
          </a:p>
        </p:txBody>
      </p:sp>
      <p:sp>
        <p:nvSpPr>
          <p:cNvPr id="37" name="">
            <a:extLst xmlns:a="http://schemas.openxmlformats.org/drawingml/2006/main">
              <a:ext uri="{FF2B5EF4-FFF2-40B4-BE49-F238E27FC236}">
                <a16:creationId xmlns:a16="http://schemas.microsoft.com/office/drawing/2014/main" id="{6A50AF26-BDC9-4F45-8BCB-C1DBD3845BE6}"/>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E53CC006-CBEE-46BA-878A-93162068711F}"/>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8C6F97BF-2151-48DC-BDE4-19193ECB3C98}"/>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초안·시험 기록</a:t>
            </a:r>
          </a:p>
        </p:txBody>
      </p:sp>
      <p:sp>
        <p:nvSpPr>
          <p:cNvPr id="40" name="">
            <a:extLst xmlns:a="http://schemas.openxmlformats.org/drawingml/2006/main">
              <a:ext uri="{FF2B5EF4-FFF2-40B4-BE49-F238E27FC236}">
                <a16:creationId xmlns:a16="http://schemas.microsoft.com/office/drawing/2014/main" id="{18C08F7D-DCB1-447D-98D2-B749DE374299}"/>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6AD1C271-D2D4-4C51-8E35-9C508B599E82}"/>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F2E13C3A-0602-4651-A7AB-A61C0655283D}"/>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업무별 이용정책</a:t>
            </a:r>
          </a:p>
        </p:txBody>
      </p:sp>
      <p:sp>
        <p:nvSpPr>
          <p:cNvPr id="52" name="">
            <a:extLst xmlns:a="http://schemas.openxmlformats.org/drawingml/2006/main">
              <a:ext uri="{FF2B5EF4-FFF2-40B4-BE49-F238E27FC236}">
                <a16:creationId xmlns:a16="http://schemas.microsoft.com/office/drawing/2014/main" id="{5BD7F81A-1A8D-4CE6-9E3A-771A596978AC}"/>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139300013"/>
      </p:ext>
    </p:extLst>
  </p:cSld>
</p:sld>
</file>

<file path=ppt/slides/slide97.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D27659A4-F4A1-41BF-AE8C-B4CE3C7A7077}"/>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PF-A06 / 논리 인터페이스·복구 설계</a:t>
            </a:r>
          </a:p>
        </p:txBody>
      </p:sp>
      <p:sp>
        <p:nvSpPr>
          <p:cNvPr id="2" name="">
            <a:extLst xmlns:a="http://schemas.openxmlformats.org/drawingml/2006/main">
              <a:ext uri="{FF2B5EF4-FFF2-40B4-BE49-F238E27FC236}">
                <a16:creationId xmlns:a16="http://schemas.microsoft.com/office/drawing/2014/main" id="{380C4FC7-A39B-4C20-9FCA-F0A415D7F600}"/>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삼성 Gauss Portal·code.i · 데이터와 예외 처리</a:t>
            </a:r>
          </a:p>
        </p:txBody>
      </p:sp>
      <p:sp>
        <p:nvSpPr>
          <p:cNvPr id="3" name="">
            <a:extLst xmlns:a="http://schemas.openxmlformats.org/drawingml/2006/main">
              <a:ext uri="{FF2B5EF4-FFF2-40B4-BE49-F238E27FC236}">
                <a16:creationId xmlns:a16="http://schemas.microsoft.com/office/drawing/2014/main" id="{FDB02278-41BD-4CCF-A483-DD726B86526D}"/>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309BF15-686C-4AF1-ACB8-A09AB8D1100F}"/>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FE6FA7AA-BBEB-4115-8BA5-A08C1A7EB54F}"/>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97</a:t>
            </a:r>
          </a:p>
        </p:txBody>
      </p:sp>
      <p:sp>
        <p:nvSpPr>
          <p:cNvPr id="6" name="">
            <a:extLst xmlns:a="http://schemas.openxmlformats.org/drawingml/2006/main">
              <a:ext uri="{FF2B5EF4-FFF2-40B4-BE49-F238E27FC236}">
                <a16:creationId xmlns:a16="http://schemas.microsoft.com/office/drawing/2014/main" id="{0EEF1114-1192-4A79-B6D6-2719AB60ED1A}"/>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CE95D2D8-D904-45F7-B7A1-EAC847086C36}"/>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0C1BB29E-E7F7-4573-BED8-90A8EFB6CFF5}"/>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50DDBC66-2969-406B-9A73-74DAB1F0B7C3}"/>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포털 요청 또는 개발 도구의 코드 문맥</a:t>
            </a:r>
          </a:p>
        </p:txBody>
      </p:sp>
      <p:sp>
        <p:nvSpPr>
          <p:cNvPr id="10" name="">
            <a:extLst xmlns:a="http://schemas.openxmlformats.org/drawingml/2006/main">
              <a:ext uri="{FF2B5EF4-FFF2-40B4-BE49-F238E27FC236}">
                <a16:creationId xmlns:a16="http://schemas.microsoft.com/office/drawing/2014/main" id="{84E8F473-6D49-4040-8015-6EC91882A7FE}"/>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DFAEBB8-BDE4-416F-A9A6-818530601A0A}"/>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DDE51CF3-BD98-49DF-A3AC-DBF88DF8793C}"/>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요청·코드 문맥</a:t>
            </a:r>
          </a:p>
        </p:txBody>
      </p:sp>
      <p:sp>
        <p:nvSpPr>
          <p:cNvPr id="13" name="">
            <a:extLst xmlns:a="http://schemas.openxmlformats.org/drawingml/2006/main">
              <a:ext uri="{FF2B5EF4-FFF2-40B4-BE49-F238E27FC236}">
                <a16:creationId xmlns:a16="http://schemas.microsoft.com/office/drawing/2014/main" id="{FFAEB1D6-AAEE-4187-BD16-FE0AEB6A8716}"/>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7283AB1-7935-4728-B928-753C562177F5}"/>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1759BB26-524D-4D2C-80E2-F9BA129E54C7}"/>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모델 입력</a:t>
            </a:r>
          </a:p>
        </p:txBody>
      </p:sp>
      <p:sp>
        <p:nvSpPr>
          <p:cNvPr id="16" name="">
            <a:extLst xmlns:a="http://schemas.openxmlformats.org/drawingml/2006/main">
              <a:ext uri="{FF2B5EF4-FFF2-40B4-BE49-F238E27FC236}">
                <a16:creationId xmlns:a16="http://schemas.microsoft.com/office/drawing/2014/main" id="{5A5E4756-0484-47CA-B5EB-5D21BF6B1DD9}"/>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C46453A-41CF-4852-A026-84449C833F6D}"/>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BD905806-5BAC-49B9-9F64-DB70E729344B}"/>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생성 결과</a:t>
            </a:r>
          </a:p>
        </p:txBody>
      </p:sp>
      <p:sp>
        <p:nvSpPr>
          <p:cNvPr id="19" name="">
            <a:extLst xmlns:a="http://schemas.openxmlformats.org/drawingml/2006/main">
              <a:ext uri="{FF2B5EF4-FFF2-40B4-BE49-F238E27FC236}">
                <a16:creationId xmlns:a16="http://schemas.microsoft.com/office/drawing/2014/main" id="{39897E92-9E78-4EDE-AAEA-CC3706EBACE8}"/>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5ACB12C-AFA5-4B88-95B6-45AC9A5B0AF1}"/>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C9815214-7790-4A4C-A2DC-50F8C36D33A1}"/>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생성 결과</a:t>
            </a:r>
          </a:p>
        </p:txBody>
      </p:sp>
      <p:sp>
        <p:nvSpPr>
          <p:cNvPr id="22" name="">
            <a:extLst xmlns:a="http://schemas.openxmlformats.org/drawingml/2006/main">
              <a:ext uri="{FF2B5EF4-FFF2-40B4-BE49-F238E27FC236}">
                <a16:creationId xmlns:a16="http://schemas.microsoft.com/office/drawing/2014/main" id="{CA9D45B2-57E7-42DE-BA01-3F188F6E7939}"/>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C055702-7202-4BA8-AEA4-1C94C2E1DEA2}"/>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58447ABC-E42E-4DB5-AE83-07BD798438CC}"/>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검토·시험</a:t>
            </a:r>
          </a:p>
        </p:txBody>
      </p:sp>
      <p:sp>
        <p:nvSpPr>
          <p:cNvPr id="25" name="">
            <a:extLst xmlns:a="http://schemas.openxmlformats.org/drawingml/2006/main">
              <a:ext uri="{FF2B5EF4-FFF2-40B4-BE49-F238E27FC236}">
                <a16:creationId xmlns:a16="http://schemas.microsoft.com/office/drawing/2014/main" id="{96BB2984-9044-4055-90CB-323B60829C60}"/>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4480B60E-0470-46F6-8075-40E8722F7639}"/>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민감 코드 입력·취약 코드 생성·시험 실패</a:t>
            </a:r>
          </a:p>
        </p:txBody>
      </p:sp>
      <p:sp>
        <p:nvSpPr>
          <p:cNvPr id="27" name="">
            <a:extLst xmlns:a="http://schemas.openxmlformats.org/drawingml/2006/main">
              <a:ext uri="{FF2B5EF4-FFF2-40B4-BE49-F238E27FC236}">
                <a16:creationId xmlns:a16="http://schemas.microsoft.com/office/drawing/2014/main" id="{DC679B33-D952-4AD0-B905-C7B68BB0562F}"/>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5726955B-23C7-4353-A527-39B1F70A79DD}"/>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보안 검사·회귀 시험·현업 검토</a:t>
            </a:r>
          </a:p>
        </p:txBody>
      </p:sp>
      <p:sp>
        <p:nvSpPr>
          <p:cNvPr id="29" name="">
            <a:extLst xmlns:a="http://schemas.openxmlformats.org/drawingml/2006/main">
              <a:ext uri="{FF2B5EF4-FFF2-40B4-BE49-F238E27FC236}">
                <a16:creationId xmlns:a16="http://schemas.microsoft.com/office/drawing/2014/main" id="{AD48E59F-FBA8-4949-98A7-36BAA531884F}"/>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CB9AEB4E-6115-4463-8AB8-5CB2A8C191DC}"/>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생성 코드 검토·보안·회귀시험 결과 환류</a:t>
            </a:r>
          </a:p>
        </p:txBody>
      </p:sp>
      <p:sp>
        <p:nvSpPr>
          <p:cNvPr id="31" name="">
            <a:extLst xmlns:a="http://schemas.openxmlformats.org/drawingml/2006/main">
              <a:ext uri="{FF2B5EF4-FFF2-40B4-BE49-F238E27FC236}">
                <a16:creationId xmlns:a16="http://schemas.microsoft.com/office/drawing/2014/main" id="{AC15FA17-EAA8-4275-9FA7-116769BB92B7}"/>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9D8EC3A0-BB10-47CE-81EE-D3FBC7AA49D1}"/>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입력 경계·코드 검토·보안·회귀시험 결과</a:t>
            </a:r>
          </a:p>
        </p:txBody>
      </p:sp>
    </p:spTree>
    <p:extLst>
      <p:ext uri="{BB962C8B-B14F-4D97-AF65-F5344CB8AC3E}">
        <p14:creationId xmlns:p14="http://schemas.microsoft.com/office/powerpoint/2010/main" val="1015699048"/>
      </p:ext>
    </p:extLst>
  </p:cSld>
</p:sld>
</file>

<file path=ppt/slides/slide98.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2BD43BD-AB6A-41FA-B05C-62ABC5271E18}"/>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PF-A06 / CCK 비교·재현 시험 설계</a:t>
            </a:r>
          </a:p>
        </p:txBody>
      </p:sp>
      <p:sp>
        <p:nvSpPr>
          <p:cNvPr id="2" name="">
            <a:extLst xmlns:a="http://schemas.openxmlformats.org/drawingml/2006/main">
              <a:ext uri="{FF2B5EF4-FFF2-40B4-BE49-F238E27FC236}">
                <a16:creationId xmlns:a16="http://schemas.microsoft.com/office/drawing/2014/main" id="{ECD5FA67-EEFE-4C34-B7C7-AE2161E9BF7C}"/>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삼성 Gauss Portal·code.i · 벤치마킹</a:t>
            </a:r>
          </a:p>
        </p:txBody>
      </p:sp>
      <p:sp>
        <p:nvSpPr>
          <p:cNvPr id="3" name="">
            <a:extLst xmlns:a="http://schemas.openxmlformats.org/drawingml/2006/main">
              <a:ext uri="{FF2B5EF4-FFF2-40B4-BE49-F238E27FC236}">
                <a16:creationId xmlns:a16="http://schemas.microsoft.com/office/drawing/2014/main" id="{EB384E0A-73C7-4B4C-8689-2CA469EB86D2}"/>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6E7E38C-4D49-4FE9-9B2C-136E4122A69A}"/>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119548D1-C06B-43C0-86F9-0C3FEB21825C}"/>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98</a:t>
            </a:r>
          </a:p>
        </p:txBody>
      </p:sp>
      <p:sp>
        <p:nvSpPr>
          <p:cNvPr id="6" name="">
            <a:extLst xmlns:a="http://schemas.openxmlformats.org/drawingml/2006/main">
              <a:ext uri="{FF2B5EF4-FFF2-40B4-BE49-F238E27FC236}">
                <a16:creationId xmlns:a16="http://schemas.microsoft.com/office/drawing/2014/main" id="{FE94D785-DD25-4717-B7EC-F7F6D9DBE5AD}"/>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5B0C3F25-551D-44BD-9DD2-090B02C92B36}"/>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범용 지원과 개발 지원의 구분</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공통 모델군의 업무 도구 적용</a:t>
            </a:r>
          </a:p>
        </p:txBody>
      </p:sp>
      <p:sp>
        <p:nvSpPr>
          <p:cNvPr id="8" name="">
            <a:extLst xmlns:a="http://schemas.openxmlformats.org/drawingml/2006/main">
              <a:ext uri="{FF2B5EF4-FFF2-40B4-BE49-F238E27FC236}">
                <a16:creationId xmlns:a16="http://schemas.microsoft.com/office/drawing/2014/main" id="{B0CFBADF-79A4-40D0-A9F2-8CACBEFD67E3}"/>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D483920F-C57C-48DA-BA5B-89515C799B5C}"/>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코드 보안·품질 편차</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생성 코드의 무검토 반영</a:t>
            </a:r>
          </a:p>
        </p:txBody>
      </p:sp>
      <p:sp>
        <p:nvSpPr>
          <p:cNvPr id="10" name="">
            <a:extLst xmlns:a="http://schemas.openxmlformats.org/drawingml/2006/main">
              <a:ext uri="{FF2B5EF4-FFF2-40B4-BE49-F238E27FC236}">
                <a16:creationId xmlns:a16="http://schemas.microsoft.com/office/drawing/2014/main" id="{E21B614A-83EC-47F5-8667-C31C212BC33B}"/>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B405E7B4-AD52-46CD-BAEE-A1060257C65C}"/>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보안 검사·회귀 시험·현업 검토</a:t>
            </a:r>
          </a:p>
        </p:txBody>
      </p:sp>
      <p:sp>
        <p:nvSpPr>
          <p:cNvPr id="12" name="">
            <a:extLst xmlns:a="http://schemas.openxmlformats.org/drawingml/2006/main">
              <a:ext uri="{FF2B5EF4-FFF2-40B4-BE49-F238E27FC236}">
                <a16:creationId xmlns:a16="http://schemas.microsoft.com/office/drawing/2014/main" id="{00F30DA9-1C82-40A0-ABDD-55B8DD483A83}"/>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59FE69F1-186E-4F1B-99B0-DF73004BFB0B}"/>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일반 문서와 개발 코드를 각 업무 도구에서 작성</a:t>
            </a:r>
          </a:p>
        </p:txBody>
      </p:sp>
      <p:sp>
        <p:nvSpPr>
          <p:cNvPr id="14" name="">
            <a:extLst xmlns:a="http://schemas.openxmlformats.org/drawingml/2006/main">
              <a:ext uri="{FF2B5EF4-FFF2-40B4-BE49-F238E27FC236}">
                <a16:creationId xmlns:a16="http://schemas.microsoft.com/office/drawing/2014/main" id="{E7489074-267A-4E6B-B6BA-85BD0C74C733}"/>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ECBFA258-B10E-482E-B586-2830EFAAEEE9}"/>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민감 코드 입력·취약 코드 생성·시험 실패</a:t>
            </a:r>
          </a:p>
        </p:txBody>
      </p:sp>
      <p:sp>
        <p:nvSpPr>
          <p:cNvPr id="16" name="">
            <a:extLst xmlns:a="http://schemas.openxmlformats.org/drawingml/2006/main">
              <a:ext uri="{FF2B5EF4-FFF2-40B4-BE49-F238E27FC236}">
                <a16:creationId xmlns:a16="http://schemas.microsoft.com/office/drawing/2014/main" id="{FFB8B663-4BA5-46ED-8D97-874B0A5DBBE3}"/>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A720647D-FC90-4395-ACF0-3202FE1222CF}"/>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입력 경계·코드 검토·보안·회귀시험 결과</a:t>
            </a:r>
          </a:p>
        </p:txBody>
      </p:sp>
    </p:spTree>
    <p:extLst>
      <p:ext uri="{BB962C8B-B14F-4D97-AF65-F5344CB8AC3E}">
        <p14:creationId xmlns:p14="http://schemas.microsoft.com/office/powerpoint/2010/main" val="207081841"/>
      </p:ext>
    </p:extLst>
  </p:cSld>
</p:sld>
</file>

<file path=ppt/slides/slide99.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CD775FB-0A0B-47DE-9108-F80F0C9C22DA}"/>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PF05 / 청내 운영 / 범정부 실증 / 해외</a:t>
            </a:r>
          </a:p>
        </p:txBody>
      </p:sp>
      <p:sp>
        <p:nvSpPr>
          <p:cNvPr id="2" name="">
            <a:extLst xmlns:a="http://schemas.openxmlformats.org/drawingml/2006/main">
              <a:ext uri="{FF2B5EF4-FFF2-40B4-BE49-F238E27FC236}">
                <a16:creationId xmlns:a16="http://schemas.microsoft.com/office/drawing/2014/main" id="{1D63BF7A-EA7E-4CF7-A352-30A5F5AC7E88}"/>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일본 정부 AI 源内</a:t>
            </a:r>
          </a:p>
        </p:txBody>
      </p:sp>
      <p:sp>
        <p:nvSpPr>
          <p:cNvPr id="3" name="">
            <a:extLst xmlns:a="http://schemas.openxmlformats.org/drawingml/2006/main">
              <a:ext uri="{FF2B5EF4-FFF2-40B4-BE49-F238E27FC236}">
                <a16:creationId xmlns:a16="http://schemas.microsoft.com/office/drawing/2014/main" id="{7D606C7E-572D-41B2-A0C7-2B0FA9473FB3}"/>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0288E4A-F5A8-4FAC-9D65-C22A968E0B1E}"/>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9F337E8C-087C-4F77-A582-DCFC94E4D00B}"/>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99</a:t>
            </a:r>
          </a:p>
        </p:txBody>
      </p:sp>
      <p:sp>
        <p:nvSpPr>
          <p:cNvPr id="6" name="">
            <a:extLst xmlns:a="http://schemas.openxmlformats.org/drawingml/2006/main">
              <a:ext uri="{FF2B5EF4-FFF2-40B4-BE49-F238E27FC236}">
                <a16:creationId xmlns:a16="http://schemas.microsoft.com/office/drawing/2014/main" id="{4A76E4A7-985C-40B4-A577-0495E7B1B55D}"/>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B3CD03A6-E6D2-48DC-AA1E-0776D5E6DCA6}"/>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일본 정부 AI 源内의 공통 AI 도구와 업무 앱 확산 사례.</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범용 도구 제공과 특정 업무를 수행하는 앱 개발을 함께</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운영해 직원의 활용 진입점과 기관별 확장 경로를 마련</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하는 접근.</a:t>
            </a:r>
          </a:p>
        </p:txBody>
      </p:sp>
      <p:sp>
        <p:nvSpPr>
          <p:cNvPr id="8" name="">
            <a:extLst xmlns:a="http://schemas.openxmlformats.org/drawingml/2006/main">
              <a:ext uri="{FF2B5EF4-FFF2-40B4-BE49-F238E27FC236}">
                <a16:creationId xmlns:a16="http://schemas.microsoft.com/office/drawing/2014/main" id="{E2563C2F-DC74-4455-87FC-7328C57E1605}"/>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6FBEB758-23C4-45B5-ADAA-E66FD0634AB2}"/>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공통 계정·모델 접근 계층 위에 업무 앱·지식·템플릿을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연결하는 논리 구성. 앱별 소유자, 사용 가능한 자료, 입</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력 형식, 출력 검토 절차를 정의하고 공통 운영에서 이용</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·오류·비용을 관찰하는 구조.</a:t>
            </a:r>
          </a:p>
        </p:txBody>
      </p:sp>
      <p:sp>
        <p:nvSpPr>
          <p:cNvPr id="10" name="">
            <a:extLst xmlns:a="http://schemas.openxmlformats.org/drawingml/2006/main">
              <a:ext uri="{FF2B5EF4-FFF2-40B4-BE49-F238E27FC236}">
                <a16:creationId xmlns:a16="http://schemas.microsoft.com/office/drawing/2014/main" id="{E43E9241-7A3A-4A4F-9BF0-CD5A35E08901}"/>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0A0B8E59-6F2F-4ED9-BA97-259438AEFBDB}"/>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TS의 AI혁신처는 공통 접속·권한·관측 기반을 담당하고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각 부서는 업무 지식과 결과물의 책임을 담당하는 운영 참</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고. 공통 기반 검수와 업무 앱 검수를 분리해 부서 확장 때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반복 구축을 줄이는 방식의 적용.</a:t>
            </a:r>
          </a:p>
        </p:txBody>
      </p:sp>
      <p:sp>
        <p:nvSpPr>
          <p:cNvPr id="12" name="">
            <a:extLst xmlns:a="http://schemas.openxmlformats.org/drawingml/2006/main">
              <a:ext uri="{FF2B5EF4-FFF2-40B4-BE49-F238E27FC236}">
                <a16:creationId xmlns:a16="http://schemas.microsoft.com/office/drawing/2014/main" id="{43A66358-7FD2-4D57-B1CE-6ED220A47D97}"/>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B1227EF8-13E5-42B2-8520-3968BA2C59E9}"/>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기관 설정·조직 사전·업무 스킬·배포판본 관리</a:t>
            </a:r>
          </a:p>
        </p:txBody>
      </p:sp>
      <p:sp>
        <p:nvSpPr>
          <p:cNvPr id="14" name="">
            <a:extLst xmlns:a="http://schemas.openxmlformats.org/drawingml/2006/main">
              <a:ext uri="{FF2B5EF4-FFF2-40B4-BE49-F238E27FC236}">
                <a16:creationId xmlns:a16="http://schemas.microsoft.com/office/drawing/2014/main" id="{115BF1F6-CA85-460C-9E46-02DFB5297507}"/>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5B7C7E00-A124-4E6E-995D-B28BA6B17292}"/>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두 번째 부서 적용의 수정 범위·추가 공수·격리 평가</a:t>
            </a:r>
          </a:p>
        </p:txBody>
      </p:sp>
      <p:sp>
        <p:nvSpPr>
          <p:cNvPr id="16" name="">
            <a:extLst xmlns:a="http://schemas.openxmlformats.org/drawingml/2006/main">
              <a:ext uri="{FF2B5EF4-FFF2-40B4-BE49-F238E27FC236}">
                <a16:creationId xmlns:a16="http://schemas.microsoft.com/office/drawing/2014/main" id="{62D4D2D1-4934-425F-9621-40FABD93592C}"/>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F36EBB5D-634E-40BF-9A70-9F1A891A240E}"/>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TS 업무 완료시간·오류·추가 구축 공수의 비교 평가</a:t>
            </a:r>
          </a:p>
        </p:txBody>
      </p:sp>
      <p:sp>
        <p:nvSpPr>
          <p:cNvPr id="18" name="">
            <a:extLst xmlns:a="http://schemas.openxmlformats.org/drawingml/2006/main">
              <a:ext uri="{FF2B5EF4-FFF2-40B4-BE49-F238E27FC236}">
                <a16:creationId xmlns:a16="http://schemas.microsoft.com/office/drawing/2014/main" id="{21E80E77-49F9-4125-845D-2623895F3DE3}"/>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청내 운영 실적과 범정부 실증 대상 규모의 분리 · 도입 인원과 생산성 구분</a:t>
            </a:r>
          </a:p>
        </p:txBody>
      </p:sp>
    </p:spTree>
    <p:extLst>
      <p:ext uri="{BB962C8B-B14F-4D97-AF65-F5344CB8AC3E}">
        <p14:creationId xmlns:p14="http://schemas.microsoft.com/office/powerpoint/2010/main" val="1383335620"/>
      </p:ext>
    </p:extLst>
  </p:cSld>
</p:sld>
</file>

<file path=ppt/slides/slide100.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25F43545-F4C9-43A5-A837-6ED5D7200E19}"/>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3B34185A-C2D2-4C55-9B43-8B1C0B7075FD}"/>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0807DC12-4DB1-43EE-B189-133DDAC1F3F5}"/>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F5DB54E3-9FC5-4D6A-A662-7C467B29C44D}"/>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D42CD0D6-8308-4BAB-B9C5-1DFB93429795}"/>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782F6AC9-329B-47BF-8984-6002454A0F06}"/>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3E6CC34E-DFFD-4418-B7A9-80DF7E0095E4}"/>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96822C9F-EB63-45CA-9BA0-922FFDEC3D99}"/>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1125CE3E-601F-451A-9B34-CEE0CAD9D125}"/>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D76C6496-0CFD-474B-B599-B0BAEBDE7CCF}"/>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PF05 / CCK 세부 재구성 · 논리 서비스 설계</a:t>
            </a:r>
          </a:p>
        </p:txBody>
      </p:sp>
      <p:sp>
        <p:nvSpPr>
          <p:cNvPr id="2" name="">
            <a:extLst xmlns:a="http://schemas.openxmlformats.org/drawingml/2006/main">
              <a:ext uri="{FF2B5EF4-FFF2-40B4-BE49-F238E27FC236}">
                <a16:creationId xmlns:a16="http://schemas.microsoft.com/office/drawing/2014/main" id="{6C7AB3DB-1A7F-40E8-891B-A506983E8127}"/>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일본 정부 AI 源内 · 세부 서비스 구조</a:t>
            </a:r>
          </a:p>
        </p:txBody>
      </p:sp>
      <p:sp>
        <p:nvSpPr>
          <p:cNvPr id="3" name="">
            <a:extLst xmlns:a="http://schemas.openxmlformats.org/drawingml/2006/main">
              <a:ext uri="{FF2B5EF4-FFF2-40B4-BE49-F238E27FC236}">
                <a16:creationId xmlns:a16="http://schemas.microsoft.com/office/drawing/2014/main" id="{EF9A49BB-405F-4322-8F10-F1303428EDF8}"/>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584DDCD-5755-4F9E-830D-848C1968806D}"/>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FB4D994D-3213-4BCB-9907-E735F165EB72}"/>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100</a:t>
            </a:r>
          </a:p>
        </p:txBody>
      </p:sp>
      <p:sp>
        <p:nvSpPr>
          <p:cNvPr id="6" name="">
            <a:extLst xmlns:a="http://schemas.openxmlformats.org/drawingml/2006/main">
              <a:ext uri="{FF2B5EF4-FFF2-40B4-BE49-F238E27FC236}">
                <a16:creationId xmlns:a16="http://schemas.microsoft.com/office/drawing/2014/main" id="{92776CC2-1740-48DF-94A8-C0CC1D8A5C1B}"/>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운영기관·공급사·감사 자료의 업무 설명</a:t>
            </a:r>
          </a:p>
        </p:txBody>
      </p:sp>
      <p:sp>
        <p:nvSpPr>
          <p:cNvPr id="7" name="">
            <a:extLst xmlns:a="http://schemas.openxmlformats.org/drawingml/2006/main">
              <a:ext uri="{FF2B5EF4-FFF2-40B4-BE49-F238E27FC236}">
                <a16:creationId xmlns:a16="http://schemas.microsoft.com/office/drawing/2014/main" id="{5F8A9B5F-C199-42D5-9A3E-B529B001DDDD}"/>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6ECED5DD-DC9A-4407-AED5-3E9B7C640F48}"/>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AEED364F-0D8A-477F-BF2B-D134DCD1AB3E}"/>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정부 업무 접점</a:t>
            </a:r>
          </a:p>
        </p:txBody>
      </p:sp>
      <p:sp>
        <p:nvSpPr>
          <p:cNvPr id="10" name="">
            <a:extLst xmlns:a="http://schemas.openxmlformats.org/drawingml/2006/main">
              <a:ext uri="{FF2B5EF4-FFF2-40B4-BE49-F238E27FC236}">
                <a16:creationId xmlns:a16="http://schemas.microsoft.com/office/drawing/2014/main" id="{C77DA007-9913-40C3-93EE-098A61C7D82C}"/>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CFFC4312-959A-4C16-B5B2-6EAD6D213B14}"/>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850A98E0-225E-4337-908E-A661949A1FE5}"/>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앱·업무 목적</a:t>
            </a:r>
          </a:p>
        </p:txBody>
      </p:sp>
      <p:sp>
        <p:nvSpPr>
          <p:cNvPr id="13" name="">
            <a:extLst xmlns:a="http://schemas.openxmlformats.org/drawingml/2006/main">
              <a:ext uri="{FF2B5EF4-FFF2-40B4-BE49-F238E27FC236}">
                <a16:creationId xmlns:a16="http://schemas.microsoft.com/office/drawing/2014/main" id="{6F8F6046-07D9-4CBA-A94E-E48A992F05BC}"/>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6558B694-2FA5-4732-A168-A19D16E830B0}"/>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7BB30D28-92E2-4755-94A9-B188167A0CA6}"/>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앱 지식 검색</a:t>
            </a:r>
          </a:p>
        </p:txBody>
      </p:sp>
      <p:sp>
        <p:nvSpPr>
          <p:cNvPr id="16" name="">
            <a:extLst xmlns:a="http://schemas.openxmlformats.org/drawingml/2006/main">
              <a:ext uri="{FF2B5EF4-FFF2-40B4-BE49-F238E27FC236}">
                <a16:creationId xmlns:a16="http://schemas.microsoft.com/office/drawing/2014/main" id="{95AF0F11-FDA4-4180-9A23-A5312F285E00}"/>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7840D71F-2B71-4C2B-A7B3-1EDDACFA726F}"/>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B4159014-FB7D-49B3-A53D-DFBB7625C030}"/>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源内 공통 AI</a:t>
            </a:r>
          </a:p>
        </p:txBody>
      </p:sp>
      <p:sp>
        <p:nvSpPr>
          <p:cNvPr id="19" name="">
            <a:extLst xmlns:a="http://schemas.openxmlformats.org/drawingml/2006/main">
              <a:ext uri="{FF2B5EF4-FFF2-40B4-BE49-F238E27FC236}">
                <a16:creationId xmlns:a16="http://schemas.microsoft.com/office/drawing/2014/main" id="{F6A9BB8D-75B0-49B0-81E0-9292E5CC5AEB}"/>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0C581C83-D6D1-491C-87EF-C91E77458C70}"/>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84ABCCA9-A8A6-4576-90A4-B83531F7200B}"/>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근거·용도 검사</a:t>
            </a:r>
          </a:p>
        </p:txBody>
      </p:sp>
      <p:sp>
        <p:nvSpPr>
          <p:cNvPr id="22" name="">
            <a:extLst xmlns:a="http://schemas.openxmlformats.org/drawingml/2006/main">
              <a:ext uri="{FF2B5EF4-FFF2-40B4-BE49-F238E27FC236}">
                <a16:creationId xmlns:a16="http://schemas.microsoft.com/office/drawing/2014/main" id="{49B25555-6658-4CB9-A674-533B78A0D5FF}"/>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2FC0BCB7-6D50-4516-9517-5823E10DE4EE}"/>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2A9FF721-BE82-4841-B7F4-76FBE0BBBD31}"/>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공무원 확인</a:t>
            </a:r>
          </a:p>
        </p:txBody>
      </p:sp>
      <p:sp>
        <p:nvSpPr>
          <p:cNvPr id="25" name="">
            <a:extLst xmlns:a="http://schemas.openxmlformats.org/drawingml/2006/main">
              <a:ext uri="{FF2B5EF4-FFF2-40B4-BE49-F238E27FC236}">
                <a16:creationId xmlns:a16="http://schemas.microsoft.com/office/drawing/2014/main" id="{0B3A2846-39A9-4650-87DD-1A1DF8691C46}"/>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6273EC89-6E5B-4D07-8925-A85BF336C683}"/>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79ACE347-7C42-47DD-8D93-FD25EC28BA7B}"/>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업무 앱 결과</a:t>
            </a:r>
          </a:p>
        </p:txBody>
      </p:sp>
      <p:sp>
        <p:nvSpPr>
          <p:cNvPr id="28" name="">
            <a:extLst xmlns:a="http://schemas.openxmlformats.org/drawingml/2006/main">
              <a:ext uri="{FF2B5EF4-FFF2-40B4-BE49-F238E27FC236}">
                <a16:creationId xmlns:a16="http://schemas.microsoft.com/office/drawing/2014/main" id="{759978D4-6BA5-4161-8B9C-8AD6A99A62DC}"/>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78ACC275-5523-4F0B-B392-1D33A304B845}"/>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2897B695-986C-4989-9ABD-8AAD45E8A26F}"/>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앱별 품질 관측</a:t>
            </a:r>
          </a:p>
        </p:txBody>
      </p:sp>
      <p:sp>
        <p:nvSpPr>
          <p:cNvPr id="31" name="">
            <a:extLst xmlns:a="http://schemas.openxmlformats.org/drawingml/2006/main">
              <a:ext uri="{FF2B5EF4-FFF2-40B4-BE49-F238E27FC236}">
                <a16:creationId xmlns:a16="http://schemas.microsoft.com/office/drawing/2014/main" id="{A65E3588-AD3A-4137-944F-4A26DF2EB9A7}"/>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87FD046C-F5A3-4261-9879-955B371E0478}"/>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47EAAB9D-7350-4595-822E-BDFC2F613A71}"/>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문서·템플릿</a:t>
            </a:r>
          </a:p>
        </p:txBody>
      </p:sp>
      <p:sp>
        <p:nvSpPr>
          <p:cNvPr id="34" name="">
            <a:extLst xmlns:a="http://schemas.openxmlformats.org/drawingml/2006/main">
              <a:ext uri="{FF2B5EF4-FFF2-40B4-BE49-F238E27FC236}">
                <a16:creationId xmlns:a16="http://schemas.microsoft.com/office/drawing/2014/main" id="{59F02710-87E0-47C2-9C54-341404D24602}"/>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FE09C80C-25DA-47DB-82F7-23D32886873E}"/>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A93DA121-0AA8-49B5-94F6-C91237C7ABF8}"/>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판본·소유부서 정리</a:t>
            </a:r>
          </a:p>
        </p:txBody>
      </p:sp>
      <p:sp>
        <p:nvSpPr>
          <p:cNvPr id="37" name="">
            <a:extLst xmlns:a="http://schemas.openxmlformats.org/drawingml/2006/main">
              <a:ext uri="{FF2B5EF4-FFF2-40B4-BE49-F238E27FC236}">
                <a16:creationId xmlns:a16="http://schemas.microsoft.com/office/drawing/2014/main" id="{8B67AAB0-7C21-42F3-A00F-4087D2DC7FF2}"/>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903629AA-87B8-4A8D-AE7A-EBE0858D16E3}"/>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641732F1-F8E4-4DC4-AA8D-9FB7C9953E31}"/>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앱별 지식</a:t>
            </a:r>
          </a:p>
        </p:txBody>
      </p:sp>
      <p:sp>
        <p:nvSpPr>
          <p:cNvPr id="40" name="">
            <a:extLst xmlns:a="http://schemas.openxmlformats.org/drawingml/2006/main">
              <a:ext uri="{FF2B5EF4-FFF2-40B4-BE49-F238E27FC236}">
                <a16:creationId xmlns:a16="http://schemas.microsoft.com/office/drawing/2014/main" id="{D94E7E07-1CEF-4400-855D-DA2A15FF1C0C}"/>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6AF48B56-0CA3-4717-A134-9B694A2E5DBD}"/>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8BCBEDE0-9459-41A8-99E4-3C0026C10DB8}"/>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기관별 이용정책</a:t>
            </a:r>
          </a:p>
        </p:txBody>
      </p:sp>
      <p:sp>
        <p:nvSpPr>
          <p:cNvPr id="52" name="">
            <a:extLst xmlns:a="http://schemas.openxmlformats.org/drawingml/2006/main">
              <a:ext uri="{FF2B5EF4-FFF2-40B4-BE49-F238E27FC236}">
                <a16:creationId xmlns:a16="http://schemas.microsoft.com/office/drawing/2014/main" id="{97E219D7-5CDA-4EDB-AC18-4141F24CC5E8}"/>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2082495555"/>
      </p:ext>
    </p:extLst>
  </p:cSld>
</p:sld>
</file>

<file path=ppt/slides/slide101.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00C62B99-D32F-40DB-81F2-92E993F1D56C}"/>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PF05 / 논리 인터페이스·복구 설계</a:t>
            </a:r>
          </a:p>
        </p:txBody>
      </p:sp>
      <p:sp>
        <p:nvSpPr>
          <p:cNvPr id="2" name="">
            <a:extLst xmlns:a="http://schemas.openxmlformats.org/drawingml/2006/main">
              <a:ext uri="{FF2B5EF4-FFF2-40B4-BE49-F238E27FC236}">
                <a16:creationId xmlns:a16="http://schemas.microsoft.com/office/drawing/2014/main" id="{802ADA40-B5AC-47CB-871A-5A8A03AE4E5E}"/>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일본 정부 AI 源内 · 데이터와 예외 처리</a:t>
            </a:r>
          </a:p>
        </p:txBody>
      </p:sp>
      <p:sp>
        <p:nvSpPr>
          <p:cNvPr id="3" name="">
            <a:extLst xmlns:a="http://schemas.openxmlformats.org/drawingml/2006/main">
              <a:ext uri="{FF2B5EF4-FFF2-40B4-BE49-F238E27FC236}">
                <a16:creationId xmlns:a16="http://schemas.microsoft.com/office/drawing/2014/main" id="{FAA3FE30-06DE-451F-A68E-5FEF52A60995}"/>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F6557E4-8D12-4B61-BCA7-8BE1E7250014}"/>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129E7C6E-A94D-44D4-A3FB-5543316D0B12}"/>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101</a:t>
            </a:r>
          </a:p>
        </p:txBody>
      </p:sp>
      <p:sp>
        <p:nvSpPr>
          <p:cNvPr id="6" name="">
            <a:extLst xmlns:a="http://schemas.openxmlformats.org/drawingml/2006/main">
              <a:ext uri="{FF2B5EF4-FFF2-40B4-BE49-F238E27FC236}">
                <a16:creationId xmlns:a16="http://schemas.microsoft.com/office/drawing/2014/main" id="{80FA3B72-5EA5-4651-9783-E50AC2FBB7B9}"/>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3FEA57D6-0B32-4DF9-96F8-7781A4FF8ED7}"/>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E8408F50-64C5-4600-92BA-A4F1D537E932}"/>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D9AFB963-25C9-4934-99CE-F138BE89E2A4}"/>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이용자·앱·업무 목적의 문맥 구성</a:t>
            </a:r>
          </a:p>
        </p:txBody>
      </p:sp>
      <p:sp>
        <p:nvSpPr>
          <p:cNvPr id="10" name="">
            <a:extLst xmlns:a="http://schemas.openxmlformats.org/drawingml/2006/main">
              <a:ext uri="{FF2B5EF4-FFF2-40B4-BE49-F238E27FC236}">
                <a16:creationId xmlns:a16="http://schemas.microsoft.com/office/drawing/2014/main" id="{A87268FF-4481-41BE-8025-5C61636103F3}"/>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D66C60D-2EFC-4CB8-B94B-BC769AB57C01}"/>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1A5267C7-F43E-47C9-8520-70F3EA0779E9}"/>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질문·업무 선택</a:t>
            </a:r>
          </a:p>
        </p:txBody>
      </p:sp>
      <p:sp>
        <p:nvSpPr>
          <p:cNvPr id="13" name="">
            <a:extLst xmlns:a="http://schemas.openxmlformats.org/drawingml/2006/main">
              <a:ext uri="{FF2B5EF4-FFF2-40B4-BE49-F238E27FC236}">
                <a16:creationId xmlns:a16="http://schemas.microsoft.com/office/drawing/2014/main" id="{ADF36C51-B25D-465F-A5AF-D482FBA03B07}"/>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63BD262-53B5-4AE1-9490-398D2474ADA9}"/>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AC57CD2C-1D68-4372-BD0C-BD56F353B92A}"/>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앱별 맥락</a:t>
            </a:r>
          </a:p>
        </p:txBody>
      </p:sp>
      <p:sp>
        <p:nvSpPr>
          <p:cNvPr id="16" name="">
            <a:extLst xmlns:a="http://schemas.openxmlformats.org/drawingml/2006/main">
              <a:ext uri="{FF2B5EF4-FFF2-40B4-BE49-F238E27FC236}">
                <a16:creationId xmlns:a16="http://schemas.microsoft.com/office/drawing/2014/main" id="{BDF1C3D8-76CC-4276-B91E-A02D6C034DFD}"/>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B371C47-9050-4CEC-875C-876555724755}"/>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CBFE5506-C329-473C-B412-923A6BC911AB}"/>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답변·초안</a:t>
            </a:r>
          </a:p>
        </p:txBody>
      </p:sp>
      <p:sp>
        <p:nvSpPr>
          <p:cNvPr id="19" name="">
            <a:extLst xmlns:a="http://schemas.openxmlformats.org/drawingml/2006/main">
              <a:ext uri="{FF2B5EF4-FFF2-40B4-BE49-F238E27FC236}">
                <a16:creationId xmlns:a16="http://schemas.microsoft.com/office/drawing/2014/main" id="{A48B678F-92FF-4064-B3FE-FCC2FEE42D11}"/>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FBAAFC8-6B7D-4780-B4A2-F27DCD4EEC11}"/>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32A10080-F6D9-4DA4-9FFB-85224D8E7FAE}"/>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답변·초안</a:t>
            </a:r>
          </a:p>
        </p:txBody>
      </p:sp>
      <p:sp>
        <p:nvSpPr>
          <p:cNvPr id="22" name="">
            <a:extLst xmlns:a="http://schemas.openxmlformats.org/drawingml/2006/main">
              <a:ext uri="{FF2B5EF4-FFF2-40B4-BE49-F238E27FC236}">
                <a16:creationId xmlns:a16="http://schemas.microsoft.com/office/drawing/2014/main" id="{B48AF75A-82A7-4A50-8C72-B7B745D2072A}"/>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9655FD7-915F-4673-A624-E00A42756233}"/>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4520F1C2-B1DA-4860-8FD3-8FFFB6DCE4A1}"/>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이용·품질 기록</a:t>
            </a:r>
          </a:p>
        </p:txBody>
      </p:sp>
      <p:sp>
        <p:nvSpPr>
          <p:cNvPr id="25" name="">
            <a:extLst xmlns:a="http://schemas.openxmlformats.org/drawingml/2006/main">
              <a:ext uri="{FF2B5EF4-FFF2-40B4-BE49-F238E27FC236}">
                <a16:creationId xmlns:a16="http://schemas.microsoft.com/office/drawing/2014/main" id="{394A5E74-5E7B-45D9-BADA-047D00E50877}"/>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2576DE01-816E-4282-9188-CB96A22BFF61}"/>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앱 간 문서 혼입·구판 템플릿·담당자 변경</a:t>
            </a:r>
          </a:p>
        </p:txBody>
      </p:sp>
      <p:sp>
        <p:nvSpPr>
          <p:cNvPr id="27" name="">
            <a:extLst xmlns:a="http://schemas.openxmlformats.org/drawingml/2006/main">
              <a:ext uri="{FF2B5EF4-FFF2-40B4-BE49-F238E27FC236}">
                <a16:creationId xmlns:a16="http://schemas.microsoft.com/office/drawing/2014/main" id="{B5989B57-E3EF-4BDF-99DD-68B0D0700326}"/>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0F67483E-4A89-407F-91F4-07D535BC5B41}"/>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업무별 평가·기관별 데이터 경계</a:t>
            </a:r>
          </a:p>
        </p:txBody>
      </p:sp>
      <p:sp>
        <p:nvSpPr>
          <p:cNvPr id="29" name="">
            <a:extLst xmlns:a="http://schemas.openxmlformats.org/drawingml/2006/main">
              <a:ext uri="{FF2B5EF4-FFF2-40B4-BE49-F238E27FC236}">
                <a16:creationId xmlns:a16="http://schemas.microsoft.com/office/drawing/2014/main" id="{59CD8DC6-3519-4D35-A25D-67133468154F}"/>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25536186-AF7E-4CA4-83CA-0B3660BC36EB}"/>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앱 이용·품질·개선 요청의 공통 운영</a:t>
            </a:r>
          </a:p>
        </p:txBody>
      </p:sp>
      <p:sp>
        <p:nvSpPr>
          <p:cNvPr id="31" name="">
            <a:extLst xmlns:a="http://schemas.openxmlformats.org/drawingml/2006/main">
              <a:ext uri="{FF2B5EF4-FFF2-40B4-BE49-F238E27FC236}">
                <a16:creationId xmlns:a16="http://schemas.microsoft.com/office/drawing/2014/main" id="{23EA159B-2A21-4527-BE10-147B98427BF8}"/>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EA1BE3FE-7EA6-4607-9AF8-9418F06A0356}"/>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앱·판본·소관별 결과와 갱신·승인 기록</a:t>
            </a:r>
          </a:p>
        </p:txBody>
      </p:sp>
    </p:spTree>
    <p:extLst>
      <p:ext uri="{BB962C8B-B14F-4D97-AF65-F5344CB8AC3E}">
        <p14:creationId xmlns:p14="http://schemas.microsoft.com/office/powerpoint/2010/main" val="490985061"/>
      </p:ext>
    </p:extLst>
  </p:cSld>
</p:sld>
</file>

<file path=ppt/slides/slide10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6FE5E15-887A-4051-B955-ADAA77B63A03}"/>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PF05 / CCK 비교·재현 시험 설계</a:t>
            </a:r>
          </a:p>
        </p:txBody>
      </p:sp>
      <p:sp>
        <p:nvSpPr>
          <p:cNvPr id="2" name="">
            <a:extLst xmlns:a="http://schemas.openxmlformats.org/drawingml/2006/main">
              <a:ext uri="{FF2B5EF4-FFF2-40B4-BE49-F238E27FC236}">
                <a16:creationId xmlns:a16="http://schemas.microsoft.com/office/drawing/2014/main" id="{C47E0DE7-EA64-4F4C-AA5A-F58C81D9289C}"/>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일본 정부 AI 源内 · 벤치마킹</a:t>
            </a:r>
          </a:p>
        </p:txBody>
      </p:sp>
      <p:sp>
        <p:nvSpPr>
          <p:cNvPr id="3" name="">
            <a:extLst xmlns:a="http://schemas.openxmlformats.org/drawingml/2006/main">
              <a:ext uri="{FF2B5EF4-FFF2-40B4-BE49-F238E27FC236}">
                <a16:creationId xmlns:a16="http://schemas.microsoft.com/office/drawing/2014/main" id="{E0833F62-F35C-4EFD-84FC-8E5C8A86EC10}"/>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8CDAF61-6E80-4088-9AEB-4F6F838305E7}"/>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7C53CC19-4AAF-4AE8-B4AA-4F3FF2C5993E}"/>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102</a:t>
            </a:r>
          </a:p>
        </p:txBody>
      </p:sp>
      <p:sp>
        <p:nvSpPr>
          <p:cNvPr id="6" name="">
            <a:extLst xmlns:a="http://schemas.openxmlformats.org/drawingml/2006/main">
              <a:ext uri="{FF2B5EF4-FFF2-40B4-BE49-F238E27FC236}">
                <a16:creationId xmlns:a16="http://schemas.microsoft.com/office/drawing/2014/main" id="{A4A66386-1BBD-4E40-A7E6-63670C52F6BC}"/>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944C71F2-C360-4EDF-A0AC-4ED65CC856E0}"/>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정부 공통 환경과 업무 앱의 결합</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템플릿·이용 관측을 통한 개선</a:t>
            </a:r>
          </a:p>
        </p:txBody>
      </p:sp>
      <p:sp>
        <p:nvSpPr>
          <p:cNvPr id="8" name="">
            <a:extLst xmlns:a="http://schemas.openxmlformats.org/drawingml/2006/main">
              <a:ext uri="{FF2B5EF4-FFF2-40B4-BE49-F238E27FC236}">
                <a16:creationId xmlns:a16="http://schemas.microsoft.com/office/drawing/2014/main" id="{DC20502B-4A3F-4B73-8772-0E8AB110A085}"/>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D2994FEE-A604-4724-861A-3216E7BDA402}"/>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기관별 규정·문서 경계 차이</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청내 운영 결과의 범정부 일반화</a:t>
            </a:r>
          </a:p>
        </p:txBody>
      </p:sp>
      <p:sp>
        <p:nvSpPr>
          <p:cNvPr id="10" name="">
            <a:extLst xmlns:a="http://schemas.openxmlformats.org/drawingml/2006/main">
              <a:ext uri="{FF2B5EF4-FFF2-40B4-BE49-F238E27FC236}">
                <a16:creationId xmlns:a16="http://schemas.microsoft.com/office/drawing/2014/main" id="{3632CE8D-B87E-463E-B84A-9AFDAE1B2219}"/>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DDAC7CD0-9D83-4614-962A-59427C94AA8E}"/>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업무별 평가·기관별 데이터 경계</a:t>
            </a:r>
          </a:p>
        </p:txBody>
      </p:sp>
      <p:sp>
        <p:nvSpPr>
          <p:cNvPr id="12" name="">
            <a:extLst xmlns:a="http://schemas.openxmlformats.org/drawingml/2006/main">
              <a:ext uri="{FF2B5EF4-FFF2-40B4-BE49-F238E27FC236}">
                <a16:creationId xmlns:a16="http://schemas.microsoft.com/office/drawing/2014/main" id="{2E2296B0-148F-4613-A8A9-CE4DE2DE146C}"/>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EB852F41-DBB1-4F30-B466-95F3CF9C0267}"/>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현업 앱에서 승인된 지식과 템플릿으로 초안 작성</a:t>
            </a:r>
          </a:p>
        </p:txBody>
      </p:sp>
      <p:sp>
        <p:nvSpPr>
          <p:cNvPr id="14" name="">
            <a:extLst xmlns:a="http://schemas.openxmlformats.org/drawingml/2006/main">
              <a:ext uri="{FF2B5EF4-FFF2-40B4-BE49-F238E27FC236}">
                <a16:creationId xmlns:a16="http://schemas.microsoft.com/office/drawing/2014/main" id="{3256090C-8759-4CEF-891B-E68C3FF0748D}"/>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4121E4AA-0458-4373-8338-3549E05DC733}"/>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앱 간 문서 혼입·구판 템플릿·담당자 변경</a:t>
            </a:r>
          </a:p>
        </p:txBody>
      </p:sp>
      <p:sp>
        <p:nvSpPr>
          <p:cNvPr id="16" name="">
            <a:extLst xmlns:a="http://schemas.openxmlformats.org/drawingml/2006/main">
              <a:ext uri="{FF2B5EF4-FFF2-40B4-BE49-F238E27FC236}">
                <a16:creationId xmlns:a16="http://schemas.microsoft.com/office/drawing/2014/main" id="{1E387F44-1622-4F32-A126-EE10EBF35FE9}"/>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DAF9274D-7096-4484-ABD9-2C484BD95B53}"/>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앱·판본·소관별 결과와 갱신·승인 기록</a:t>
            </a:r>
          </a:p>
        </p:txBody>
      </p:sp>
    </p:spTree>
    <p:extLst>
      <p:ext uri="{BB962C8B-B14F-4D97-AF65-F5344CB8AC3E}">
        <p14:creationId xmlns:p14="http://schemas.microsoft.com/office/powerpoint/2010/main" val="1246485077"/>
      </p:ext>
    </p:extLst>
  </p:cSld>
</p:sld>
</file>

<file path=ppt/slides/slide10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95C6EEF-F554-40E7-BE06-896222BB6C97}"/>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PF-A08 / AIBots 사용 실적 / 현재 카탈로그 Desk 통합·POV / 해외</a:t>
            </a:r>
          </a:p>
        </p:txBody>
      </p:sp>
      <p:sp>
        <p:nvSpPr>
          <p:cNvPr id="2" name="">
            <a:extLst xmlns:a="http://schemas.openxmlformats.org/drawingml/2006/main">
              <a:ext uri="{FF2B5EF4-FFF2-40B4-BE49-F238E27FC236}">
                <a16:creationId xmlns:a16="http://schemas.microsoft.com/office/drawing/2014/main" id="{FD08A00B-E756-44A3-8694-6CA05671A1F5}"/>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싱가포르 AIBots·Desk</a:t>
            </a:r>
          </a:p>
        </p:txBody>
      </p:sp>
      <p:sp>
        <p:nvSpPr>
          <p:cNvPr id="3" name="">
            <a:extLst xmlns:a="http://schemas.openxmlformats.org/drawingml/2006/main">
              <a:ext uri="{FF2B5EF4-FFF2-40B4-BE49-F238E27FC236}">
                <a16:creationId xmlns:a16="http://schemas.microsoft.com/office/drawing/2014/main" id="{BC76E58E-E289-4464-9AFF-9C91B412585B}"/>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A7E6545-6AF0-4061-9BD8-B29D00401018}"/>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9D2682B2-C1C8-4593-9B0B-140B0EDFC41F}"/>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103</a:t>
            </a:r>
          </a:p>
        </p:txBody>
      </p:sp>
      <p:sp>
        <p:nvSpPr>
          <p:cNvPr id="6" name="">
            <a:extLst xmlns:a="http://schemas.openxmlformats.org/drawingml/2006/main">
              <a:ext uri="{FF2B5EF4-FFF2-40B4-BE49-F238E27FC236}">
                <a16:creationId xmlns:a16="http://schemas.microsoft.com/office/drawing/2014/main" id="{BE8E51B3-D5C1-4FFA-967A-31897D4D4848}"/>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AE05A88C-8E2E-4DC7-8D91-C63FB6FC677C}"/>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싱가포르 AIBots의 문서 기반 봇 제작·공유 사례. 전문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개발자 외의 직원이 지시와 문서를 설정해 팀의 반복 질</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문에 대응하는 봇을 구성하는 접근.</a:t>
            </a:r>
          </a:p>
        </p:txBody>
      </p:sp>
      <p:sp>
        <p:nvSpPr>
          <p:cNvPr id="8" name="">
            <a:extLst xmlns:a="http://schemas.openxmlformats.org/drawingml/2006/main">
              <a:ext uri="{FF2B5EF4-FFF2-40B4-BE49-F238E27FC236}">
                <a16:creationId xmlns:a16="http://schemas.microsoft.com/office/drawing/2014/main" id="{E4CA528E-FD29-4E51-87EA-B934E5B2CA16}"/>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C69C76FA-A4AA-4C01-B0CE-0B795C06E73F}"/>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문서 업로드·색인, 봇 지시 설정, 팀 공유, 질의 검색, 근</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거 응답의 흐름으로 재구성. 봇 소유자와 문서 소유자가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다를 수 있으므로 공유 권한 변경과 문서 삭제를 검색 결</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과에 함께 반영하는 통제 설계.</a:t>
            </a:r>
          </a:p>
        </p:txBody>
      </p:sp>
      <p:sp>
        <p:nvSpPr>
          <p:cNvPr id="10" name="">
            <a:extLst xmlns:a="http://schemas.openxmlformats.org/drawingml/2006/main">
              <a:ext uri="{FF2B5EF4-FFF2-40B4-BE49-F238E27FC236}">
                <a16:creationId xmlns:a16="http://schemas.microsoft.com/office/drawing/2014/main" id="{45469417-71ED-4017-9E12-A1AB3E19EEAD}"/>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963C72F5-824A-4816-8499-59F2B7D24510}"/>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CCK에서는 부서 봇을 개인 계정의 지식 저장소로 방치하</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지 않는 운영이 중요. 소유자 전보·퇴직, 공유 해제, 규정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개정 이후 검색 결과를 비교하고 봇의 인수인계와 자료 폐</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기 이력을 공통 관리 대상으로 설정.</a:t>
            </a:r>
          </a:p>
        </p:txBody>
      </p:sp>
      <p:sp>
        <p:nvSpPr>
          <p:cNvPr id="12" name="">
            <a:extLst xmlns:a="http://schemas.openxmlformats.org/drawingml/2006/main">
              <a:ext uri="{FF2B5EF4-FFF2-40B4-BE49-F238E27FC236}">
                <a16:creationId xmlns:a16="http://schemas.microsoft.com/office/drawing/2014/main" id="{590DA7BB-F127-469B-BC6C-0934BC620BC8}"/>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3CCCF2C7-2263-455A-90B9-C64B6B3D248B}"/>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담당·승인판본·배포·폐기 조건</a:t>
            </a:r>
          </a:p>
        </p:txBody>
      </p:sp>
      <p:sp>
        <p:nvSpPr>
          <p:cNvPr id="14" name="">
            <a:extLst xmlns:a="http://schemas.openxmlformats.org/drawingml/2006/main">
              <a:ext uri="{FF2B5EF4-FFF2-40B4-BE49-F238E27FC236}">
                <a16:creationId xmlns:a16="http://schemas.microsoft.com/office/drawing/2014/main" id="{B13D495F-C901-4013-A26C-389D5EA8DA63}"/>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408EB028-C4CB-42AC-ABF3-EA675B541B0A}"/>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중복 도구·갱신 공수의 기준선·비교 평가</a:t>
            </a:r>
          </a:p>
        </p:txBody>
      </p:sp>
      <p:sp>
        <p:nvSpPr>
          <p:cNvPr id="16" name="">
            <a:extLst xmlns:a="http://schemas.openxmlformats.org/drawingml/2006/main">
              <a:ext uri="{FF2B5EF4-FFF2-40B4-BE49-F238E27FC236}">
                <a16:creationId xmlns:a16="http://schemas.microsoft.com/office/drawing/2014/main" id="{CB9A8758-227A-44D7-A5EA-42EC88C0A558}"/>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1B9D424B-5B50-4334-954C-A5223F2C4F9F}"/>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중복 도구·갱신 공수</a:t>
            </a:r>
          </a:p>
        </p:txBody>
      </p:sp>
      <p:sp>
        <p:nvSpPr>
          <p:cNvPr id="18" name="">
            <a:extLst xmlns:a="http://schemas.openxmlformats.org/drawingml/2006/main">
              <a:ext uri="{FF2B5EF4-FFF2-40B4-BE49-F238E27FC236}">
                <a16:creationId xmlns:a16="http://schemas.microsoft.com/office/drawing/2014/main" id="{FEC52D39-7669-4E75-A43F-8BD8CF06FF5C}"/>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봇 개수·사용량이 업무성과는 아님. 2025 AIBots와 2026 Desk를 독립 실적으로 합산하지 않음</a:t>
            </a:r>
          </a:p>
        </p:txBody>
      </p:sp>
    </p:spTree>
    <p:extLst>
      <p:ext uri="{BB962C8B-B14F-4D97-AF65-F5344CB8AC3E}">
        <p14:creationId xmlns:p14="http://schemas.microsoft.com/office/powerpoint/2010/main" val="1989701186"/>
      </p:ext>
    </p:extLst>
  </p:cSld>
</p:sld>
</file>

<file path=ppt/slides/slide10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72DC66CE-070E-4913-8277-EED83B2A1307}"/>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914789BB-6691-4F72-B251-30C04014F18D}"/>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6E26BECC-B68E-4E74-BF6D-3F8D026FD339}"/>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20E6CA50-AE58-48DB-AAED-374A7D2FAC22}"/>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A77AEA93-B2DB-4D24-81B3-66435BB923A2}"/>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CF79FBA6-1067-425F-9C19-21A913B3ABE7}"/>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3E0B9D20-61A8-40E7-A4A0-610B227BB5F8}"/>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A4C58261-28CE-4F1A-9AC0-07665EB00B59}"/>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A132119A-DDA5-4B42-BCC6-4B478217DE86}"/>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95F0164F-0C65-4F5C-9CFE-D2C68AE9851F}"/>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PF-A08 / CCK 세부 재구성 · 논리 서비스 설계</a:t>
            </a:r>
          </a:p>
        </p:txBody>
      </p:sp>
      <p:sp>
        <p:nvSpPr>
          <p:cNvPr id="2" name="">
            <a:extLst xmlns:a="http://schemas.openxmlformats.org/drawingml/2006/main">
              <a:ext uri="{FF2B5EF4-FFF2-40B4-BE49-F238E27FC236}">
                <a16:creationId xmlns:a16="http://schemas.microsoft.com/office/drawing/2014/main" id="{5225BB79-8964-4F10-9143-6B86C4A5738E}"/>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싱가포르 AIBots·Desk · 세부 서비스 구조</a:t>
            </a:r>
          </a:p>
        </p:txBody>
      </p:sp>
      <p:sp>
        <p:nvSpPr>
          <p:cNvPr id="3" name="">
            <a:extLst xmlns:a="http://schemas.openxmlformats.org/drawingml/2006/main">
              <a:ext uri="{FF2B5EF4-FFF2-40B4-BE49-F238E27FC236}">
                <a16:creationId xmlns:a16="http://schemas.microsoft.com/office/drawing/2014/main" id="{3CC30A14-F43F-4DA7-9B5E-5C0F66FABA59}"/>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8B56665-8DD4-4801-8616-888885766B4E}"/>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7E85760F-FCE6-4472-9029-2A5E880751F3}"/>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104</a:t>
            </a:r>
          </a:p>
        </p:txBody>
      </p:sp>
      <p:sp>
        <p:nvSpPr>
          <p:cNvPr id="6" name="">
            <a:extLst xmlns:a="http://schemas.openxmlformats.org/drawingml/2006/main">
              <a:ext uri="{FF2B5EF4-FFF2-40B4-BE49-F238E27FC236}">
                <a16:creationId xmlns:a16="http://schemas.microsoft.com/office/drawing/2014/main" id="{59B8F004-680E-4874-825C-13E1407EA066}"/>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운영기관·공급사·감사 자료의 업무 설명</a:t>
            </a:r>
          </a:p>
        </p:txBody>
      </p:sp>
      <p:sp>
        <p:nvSpPr>
          <p:cNvPr id="7" name="">
            <a:extLst xmlns:a="http://schemas.openxmlformats.org/drawingml/2006/main">
              <a:ext uri="{FF2B5EF4-FFF2-40B4-BE49-F238E27FC236}">
                <a16:creationId xmlns:a16="http://schemas.microsoft.com/office/drawing/2014/main" id="{62A7EEBC-0D16-4D5D-A6DA-3FD32296476B}"/>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5E2B2D44-49E8-4CBD-ADAB-2B76398B78CE}"/>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5611AE6B-E090-4ACF-880C-89F20F795A91}"/>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봇 제작·대화</a:t>
            </a:r>
          </a:p>
        </p:txBody>
      </p:sp>
      <p:sp>
        <p:nvSpPr>
          <p:cNvPr id="10" name="">
            <a:extLst xmlns:a="http://schemas.openxmlformats.org/drawingml/2006/main">
              <a:ext uri="{FF2B5EF4-FFF2-40B4-BE49-F238E27FC236}">
                <a16:creationId xmlns:a16="http://schemas.microsoft.com/office/drawing/2014/main" id="{CBCB08F0-DC42-4EAF-9FFA-C8CC7D6E631E}"/>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A2B80D1F-0194-44B9-880B-99DB3D16D37A}"/>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03CCFC8C-A9DA-4710-AB9E-93BE966B403B}"/>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계정·봇·공유범위</a:t>
            </a:r>
          </a:p>
        </p:txBody>
      </p:sp>
      <p:sp>
        <p:nvSpPr>
          <p:cNvPr id="13" name="">
            <a:extLst xmlns:a="http://schemas.openxmlformats.org/drawingml/2006/main">
              <a:ext uri="{FF2B5EF4-FFF2-40B4-BE49-F238E27FC236}">
                <a16:creationId xmlns:a16="http://schemas.microsoft.com/office/drawing/2014/main" id="{C6A87896-CA94-4816-8C6D-49B04402ABA9}"/>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6468BC02-9BF4-48F1-ADEA-6DC38E71D82A}"/>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C2956911-1042-478A-9805-D088497C8201}"/>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봇 문서 검색</a:t>
            </a:r>
          </a:p>
        </p:txBody>
      </p:sp>
      <p:sp>
        <p:nvSpPr>
          <p:cNvPr id="16" name="">
            <a:extLst xmlns:a="http://schemas.openxmlformats.org/drawingml/2006/main">
              <a:ext uri="{FF2B5EF4-FFF2-40B4-BE49-F238E27FC236}">
                <a16:creationId xmlns:a16="http://schemas.microsoft.com/office/drawing/2014/main" id="{7D4A951E-DB52-413D-9424-59F8E22432D3}"/>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EEA6385B-BB99-43C7-AF14-81C5F0C83453}"/>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23F7D0BC-66A1-459E-90A0-0D1D06FE6EBE}"/>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AIBots 지시 처리</a:t>
            </a:r>
          </a:p>
        </p:txBody>
      </p:sp>
      <p:sp>
        <p:nvSpPr>
          <p:cNvPr id="19" name="">
            <a:extLst xmlns:a="http://schemas.openxmlformats.org/drawingml/2006/main">
              <a:ext uri="{FF2B5EF4-FFF2-40B4-BE49-F238E27FC236}">
                <a16:creationId xmlns:a16="http://schemas.microsoft.com/office/drawing/2014/main" id="{8573648C-102E-442B-8236-32DF393655F7}"/>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0D401E61-3BD0-4A6A-B316-881CE8A240FD}"/>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4AB94019-D2E0-4A24-8105-FE18716EA416}"/>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출처·정보등급 검사</a:t>
            </a:r>
          </a:p>
        </p:txBody>
      </p:sp>
      <p:sp>
        <p:nvSpPr>
          <p:cNvPr id="22" name="">
            <a:extLst xmlns:a="http://schemas.openxmlformats.org/drawingml/2006/main">
              <a:ext uri="{FF2B5EF4-FFF2-40B4-BE49-F238E27FC236}">
                <a16:creationId xmlns:a16="http://schemas.microsoft.com/office/drawing/2014/main" id="{BC876531-6249-4430-8114-339C4D7D7007}"/>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66FD7FCB-9F3A-4BC8-8403-F284E3E1CDA0}"/>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EB4F8279-97CB-4382-A6E4-35AD466F52DF}"/>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팀 검토</a:t>
            </a:r>
          </a:p>
        </p:txBody>
      </p:sp>
      <p:sp>
        <p:nvSpPr>
          <p:cNvPr id="25" name="">
            <a:extLst xmlns:a="http://schemas.openxmlformats.org/drawingml/2006/main">
              <a:ext uri="{FF2B5EF4-FFF2-40B4-BE49-F238E27FC236}">
                <a16:creationId xmlns:a16="http://schemas.microsoft.com/office/drawing/2014/main" id="{573261F4-1DFF-436D-8FFB-CAC52844A250}"/>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802456FB-2E59-41D8-9F13-C232B1DBB532}"/>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C5176F6E-7BF6-4DFF-BA65-4602D99BD63B}"/>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봇 공유·응답</a:t>
            </a:r>
          </a:p>
        </p:txBody>
      </p:sp>
      <p:sp>
        <p:nvSpPr>
          <p:cNvPr id="28" name="">
            <a:extLst xmlns:a="http://schemas.openxmlformats.org/drawingml/2006/main">
              <a:ext uri="{FF2B5EF4-FFF2-40B4-BE49-F238E27FC236}">
                <a16:creationId xmlns:a16="http://schemas.microsoft.com/office/drawing/2014/main" id="{B277BFE3-093B-4568-8C87-865DA5B2A3F6}"/>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F4D0C955-C11D-4758-A642-88BFDC60BBF5}"/>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1A069779-720C-4154-81D4-1E1A97CB7A55}"/>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오답·갱신 관리</a:t>
            </a:r>
          </a:p>
        </p:txBody>
      </p:sp>
      <p:sp>
        <p:nvSpPr>
          <p:cNvPr id="31" name="">
            <a:extLst xmlns:a="http://schemas.openxmlformats.org/drawingml/2006/main">
              <a:ext uri="{FF2B5EF4-FFF2-40B4-BE49-F238E27FC236}">
                <a16:creationId xmlns:a16="http://schemas.microsoft.com/office/drawing/2014/main" id="{4DB9E4FD-0036-4BA6-AA32-CA5AB33CCD86}"/>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9DFACE1E-76C4-420A-A2DA-B3213BA39BB5}"/>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CC3B4B9F-23F4-4180-BD2A-FBDD1BF50C7F}"/>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업로드 문서</a:t>
            </a:r>
          </a:p>
        </p:txBody>
      </p:sp>
      <p:sp>
        <p:nvSpPr>
          <p:cNvPr id="34" name="">
            <a:extLst xmlns:a="http://schemas.openxmlformats.org/drawingml/2006/main">
              <a:ext uri="{FF2B5EF4-FFF2-40B4-BE49-F238E27FC236}">
                <a16:creationId xmlns:a16="http://schemas.microsoft.com/office/drawing/2014/main" id="{53AAC65D-430A-49B7-B126-C5F34708B5AE}"/>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5131C204-B601-40FC-9E29-C377C8CBD2BA}"/>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8E19E887-E921-4B6D-8939-810B7BFC14C4}"/>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청킹·소유팀 매핑</a:t>
            </a:r>
          </a:p>
        </p:txBody>
      </p:sp>
      <p:sp>
        <p:nvSpPr>
          <p:cNvPr id="37" name="">
            <a:extLst xmlns:a="http://schemas.openxmlformats.org/drawingml/2006/main">
              <a:ext uri="{FF2B5EF4-FFF2-40B4-BE49-F238E27FC236}">
                <a16:creationId xmlns:a16="http://schemas.microsoft.com/office/drawing/2014/main" id="{BFA531FA-2487-4DAE-AB3C-893FBA432DFE}"/>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0790B508-286B-4C8A-B711-FB4AB1D4404B}"/>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7FB4EDAD-A7C7-4680-B9A7-8186FF20E95D}"/>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봇 지식·설정</a:t>
            </a:r>
          </a:p>
        </p:txBody>
      </p:sp>
      <p:sp>
        <p:nvSpPr>
          <p:cNvPr id="40" name="">
            <a:extLst xmlns:a="http://schemas.openxmlformats.org/drawingml/2006/main">
              <a:ext uri="{FF2B5EF4-FFF2-40B4-BE49-F238E27FC236}">
                <a16:creationId xmlns:a16="http://schemas.microsoft.com/office/drawing/2014/main" id="{16FFE55A-C9C5-4452-BC4D-FDF26F240143}"/>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E737F881-65B1-4244-BDBA-C22F951D62E0}"/>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95E3097F-C179-4A2C-8CF4-7B28982F508C}"/>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공유·회수 정책</a:t>
            </a:r>
          </a:p>
        </p:txBody>
      </p:sp>
      <p:sp>
        <p:nvSpPr>
          <p:cNvPr id="52" name="">
            <a:extLst xmlns:a="http://schemas.openxmlformats.org/drawingml/2006/main">
              <a:ext uri="{FF2B5EF4-FFF2-40B4-BE49-F238E27FC236}">
                <a16:creationId xmlns:a16="http://schemas.microsoft.com/office/drawing/2014/main" id="{D9CC6B63-1B9A-4AFD-BC6F-06D7DC43114C}"/>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1536857805"/>
      </p:ext>
    </p:extLst>
  </p:cSld>
</p:sld>
</file>

<file path=ppt/slides/slide10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7A9B2A58-F557-4B36-8BB9-A18ABAF7C77A}"/>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PF-A08 / 논리 인터페이스·복구 설계</a:t>
            </a:r>
          </a:p>
        </p:txBody>
      </p:sp>
      <p:sp>
        <p:nvSpPr>
          <p:cNvPr id="2" name="">
            <a:extLst xmlns:a="http://schemas.openxmlformats.org/drawingml/2006/main">
              <a:ext uri="{FF2B5EF4-FFF2-40B4-BE49-F238E27FC236}">
                <a16:creationId xmlns:a16="http://schemas.microsoft.com/office/drawing/2014/main" id="{7BAFFDBC-D0D8-46E1-B740-3C330957DE6D}"/>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싱가포르 AIBots·Desk · 데이터와 예외 처리</a:t>
            </a:r>
          </a:p>
        </p:txBody>
      </p:sp>
      <p:sp>
        <p:nvSpPr>
          <p:cNvPr id="3" name="">
            <a:extLst xmlns:a="http://schemas.openxmlformats.org/drawingml/2006/main">
              <a:ext uri="{FF2B5EF4-FFF2-40B4-BE49-F238E27FC236}">
                <a16:creationId xmlns:a16="http://schemas.microsoft.com/office/drawing/2014/main" id="{BAC7458C-B08F-43AA-8C77-03B0C5F5664C}"/>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1157529-574B-4E4C-A0B6-EF6A125D5CF6}"/>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096DFAA0-9D05-4111-8290-FE47B393D7DC}"/>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105</a:t>
            </a:r>
          </a:p>
        </p:txBody>
      </p:sp>
      <p:sp>
        <p:nvSpPr>
          <p:cNvPr id="6" name="">
            <a:extLst xmlns:a="http://schemas.openxmlformats.org/drawingml/2006/main">
              <a:ext uri="{FF2B5EF4-FFF2-40B4-BE49-F238E27FC236}">
                <a16:creationId xmlns:a16="http://schemas.microsoft.com/office/drawing/2014/main" id="{52EAD23D-AFB6-4A4D-8067-BFBB8038DBD6}"/>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53CF633A-D904-4A0C-898A-6385C4EA1666}"/>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A0DCE6E8-633C-48F3-9A79-B6C33485D8AB}"/>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440F3DA7-6880-429B-868F-51F7F2E488BB}"/>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계정·봇 접근범위·입력정보 등급 확인</a:t>
            </a:r>
          </a:p>
        </p:txBody>
      </p:sp>
      <p:sp>
        <p:nvSpPr>
          <p:cNvPr id="10" name="">
            <a:extLst xmlns:a="http://schemas.openxmlformats.org/drawingml/2006/main">
              <a:ext uri="{FF2B5EF4-FFF2-40B4-BE49-F238E27FC236}">
                <a16:creationId xmlns:a16="http://schemas.microsoft.com/office/drawing/2014/main" id="{2CDEA68E-4E33-4136-9389-914175904AA0}"/>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3053F93-D613-4AE0-9FAC-9BC434963FBD}"/>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E2FA2812-732E-4F41-A72B-7C7DC960A760}"/>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등록 문서</a:t>
            </a:r>
          </a:p>
        </p:txBody>
      </p:sp>
      <p:sp>
        <p:nvSpPr>
          <p:cNvPr id="13" name="">
            <a:extLst xmlns:a="http://schemas.openxmlformats.org/drawingml/2006/main">
              <a:ext uri="{FF2B5EF4-FFF2-40B4-BE49-F238E27FC236}">
                <a16:creationId xmlns:a16="http://schemas.microsoft.com/office/drawing/2014/main" id="{DFD20CA4-D9BA-4A81-9973-FBE1E77BD1B9}"/>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7AE719B-4153-4C25-A463-DC3D74F6498D}"/>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51D226B6-87D4-462C-9CB5-39C7344B577E}"/>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검색 지식</a:t>
            </a:r>
          </a:p>
        </p:txBody>
      </p:sp>
      <p:sp>
        <p:nvSpPr>
          <p:cNvPr id="16" name="">
            <a:extLst xmlns:a="http://schemas.openxmlformats.org/drawingml/2006/main">
              <a:ext uri="{FF2B5EF4-FFF2-40B4-BE49-F238E27FC236}">
                <a16:creationId xmlns:a16="http://schemas.microsoft.com/office/drawing/2014/main" id="{C7B26447-12BF-4830-96D1-DFC4E1E715F7}"/>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574AEE9-DCDE-4EC7-B20D-13D555CEB56F}"/>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272C1024-0071-49D2-AA14-53ABF9B729BF}"/>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업무 봇 응답</a:t>
            </a:r>
          </a:p>
        </p:txBody>
      </p:sp>
      <p:sp>
        <p:nvSpPr>
          <p:cNvPr id="19" name="">
            <a:extLst xmlns:a="http://schemas.openxmlformats.org/drawingml/2006/main">
              <a:ext uri="{FF2B5EF4-FFF2-40B4-BE49-F238E27FC236}">
                <a16:creationId xmlns:a16="http://schemas.microsoft.com/office/drawing/2014/main" id="{D5A51302-6793-4EB4-B554-31C21E3D3CA0}"/>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8D90736-5080-4A86-9B70-60987813A51D}"/>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A487CE6A-A8BA-481A-A1B9-3CA6B2913EFA}"/>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업무 봇 응답</a:t>
            </a:r>
          </a:p>
        </p:txBody>
      </p:sp>
      <p:sp>
        <p:nvSpPr>
          <p:cNvPr id="22" name="">
            <a:extLst xmlns:a="http://schemas.openxmlformats.org/drawingml/2006/main">
              <a:ext uri="{FF2B5EF4-FFF2-40B4-BE49-F238E27FC236}">
                <a16:creationId xmlns:a16="http://schemas.microsoft.com/office/drawing/2014/main" id="{9EA52C60-7D1E-4BA5-A9E9-035AD1577479}"/>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C732F67-8BB6-41B2-8AEE-8A82E0064D7B}"/>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CB1B04B4-B486-42D4-ABFB-0B1142BEB2C0}"/>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이용 피드백</a:t>
            </a:r>
          </a:p>
        </p:txBody>
      </p:sp>
      <p:sp>
        <p:nvSpPr>
          <p:cNvPr id="25" name="">
            <a:extLst xmlns:a="http://schemas.openxmlformats.org/drawingml/2006/main">
              <a:ext uri="{FF2B5EF4-FFF2-40B4-BE49-F238E27FC236}">
                <a16:creationId xmlns:a16="http://schemas.microsoft.com/office/drawing/2014/main" id="{A7FB9D4B-4598-4824-8783-B2B7B5041884}"/>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88FD61E9-2DD6-4910-A762-63163BE1EDBE}"/>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허용 등급 초과·공유 대상 오류·고위험 용도</a:t>
            </a:r>
          </a:p>
        </p:txBody>
      </p:sp>
      <p:sp>
        <p:nvSpPr>
          <p:cNvPr id="27" name="">
            <a:extLst xmlns:a="http://schemas.openxmlformats.org/drawingml/2006/main">
              <a:ext uri="{FF2B5EF4-FFF2-40B4-BE49-F238E27FC236}">
                <a16:creationId xmlns:a16="http://schemas.microsoft.com/office/drawing/2014/main" id="{260BCFFA-F85B-4042-917C-0EAA3DFABC21}"/>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88AAA34E-05BE-4A0D-9F2B-C976EBCA5619}"/>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자료 회수·봇 공유 범위 검증</a:t>
            </a:r>
          </a:p>
        </p:txBody>
      </p:sp>
      <p:sp>
        <p:nvSpPr>
          <p:cNvPr id="29" name="">
            <a:extLst xmlns:a="http://schemas.openxmlformats.org/drawingml/2006/main">
              <a:ext uri="{FF2B5EF4-FFF2-40B4-BE49-F238E27FC236}">
                <a16:creationId xmlns:a16="http://schemas.microsoft.com/office/drawing/2014/main" id="{50D6B058-4345-4A20-9BFB-0B495A37718C}"/>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B6667698-C173-496A-B7F3-DB8EFA23FA0A}"/>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봇 갱신·공유 범위·오답 피드백 관리</a:t>
            </a:r>
          </a:p>
        </p:txBody>
      </p:sp>
      <p:sp>
        <p:nvSpPr>
          <p:cNvPr id="31" name="">
            <a:extLst xmlns:a="http://schemas.openxmlformats.org/drawingml/2006/main">
              <a:ext uri="{FF2B5EF4-FFF2-40B4-BE49-F238E27FC236}">
                <a16:creationId xmlns:a16="http://schemas.microsoft.com/office/drawing/2014/main" id="{4B62CE8A-0076-492A-894C-0D330D90BE22}"/>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51D10459-367C-4D4E-B833-31D0900BF230}"/>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문서 등급·봇 권한·심사·답변 출처 확인표</a:t>
            </a:r>
          </a:p>
        </p:txBody>
      </p:sp>
    </p:spTree>
    <p:extLst>
      <p:ext uri="{BB962C8B-B14F-4D97-AF65-F5344CB8AC3E}">
        <p14:creationId xmlns:p14="http://schemas.microsoft.com/office/powerpoint/2010/main" val="766873345"/>
      </p:ext>
    </p:extLst>
  </p:cSld>
</p:sld>
</file>

<file path=ppt/slides/slide106.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B2766AE-BA74-4628-A32C-697DCC4B9A50}"/>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PF-A08 / CCK 비교·재현 시험 설계</a:t>
            </a:r>
          </a:p>
        </p:txBody>
      </p:sp>
      <p:sp>
        <p:nvSpPr>
          <p:cNvPr id="2" name="">
            <a:extLst xmlns:a="http://schemas.openxmlformats.org/drawingml/2006/main">
              <a:ext uri="{FF2B5EF4-FFF2-40B4-BE49-F238E27FC236}">
                <a16:creationId xmlns:a16="http://schemas.microsoft.com/office/drawing/2014/main" id="{FF427B81-95C7-4EBB-B384-5A27ED6D1A6D}"/>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싱가포르 AIBots·Desk · 벤치마킹</a:t>
            </a:r>
          </a:p>
        </p:txBody>
      </p:sp>
      <p:sp>
        <p:nvSpPr>
          <p:cNvPr id="3" name="">
            <a:extLst xmlns:a="http://schemas.openxmlformats.org/drawingml/2006/main">
              <a:ext uri="{FF2B5EF4-FFF2-40B4-BE49-F238E27FC236}">
                <a16:creationId xmlns:a16="http://schemas.microsoft.com/office/drawing/2014/main" id="{80944C83-74EC-491D-A352-DD4AE5F92ED1}"/>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B076354-3887-4904-A719-CEFBFB8D0D40}"/>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5770F6D7-4D2F-4D7A-BC19-40ED555269AE}"/>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106</a:t>
            </a:r>
          </a:p>
        </p:txBody>
      </p:sp>
      <p:sp>
        <p:nvSpPr>
          <p:cNvPr id="6" name="">
            <a:extLst xmlns:a="http://schemas.openxmlformats.org/drawingml/2006/main">
              <a:ext uri="{FF2B5EF4-FFF2-40B4-BE49-F238E27FC236}">
                <a16:creationId xmlns:a16="http://schemas.microsoft.com/office/drawing/2014/main" id="{7A789EF8-F1F8-4486-B6AD-85551BBB2897}"/>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AC007780-39A2-495E-8601-537E04630FE7}"/>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부서 문서로 업무 봇 구성</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공유·이용 범위의 관리</a:t>
            </a:r>
          </a:p>
        </p:txBody>
      </p:sp>
      <p:sp>
        <p:nvSpPr>
          <p:cNvPr id="8" name="">
            <a:extLst xmlns:a="http://schemas.openxmlformats.org/drawingml/2006/main">
              <a:ext uri="{FF2B5EF4-FFF2-40B4-BE49-F238E27FC236}">
                <a16:creationId xmlns:a16="http://schemas.microsoft.com/office/drawing/2014/main" id="{5E64F5B5-884E-4BE0-8155-30FD1AF8A1B4}"/>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A8E713AE-3D1F-4546-BB94-14C7737886FD}"/>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출처 문서 갱신 누락</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봇 공유 시 권한 확대</a:t>
            </a:r>
          </a:p>
        </p:txBody>
      </p:sp>
      <p:sp>
        <p:nvSpPr>
          <p:cNvPr id="10" name="">
            <a:extLst xmlns:a="http://schemas.openxmlformats.org/drawingml/2006/main">
              <a:ext uri="{FF2B5EF4-FFF2-40B4-BE49-F238E27FC236}">
                <a16:creationId xmlns:a16="http://schemas.microsoft.com/office/drawing/2014/main" id="{2370FFA8-DDD3-473A-8B31-F2C2123889B7}"/>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5FAA6CC0-CDA8-4806-873C-6D9D7E3A8CF2}"/>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자료 회수·봇 공유 범위 검증</a:t>
            </a:r>
          </a:p>
        </p:txBody>
      </p:sp>
      <p:sp>
        <p:nvSpPr>
          <p:cNvPr id="12" name="">
            <a:extLst xmlns:a="http://schemas.openxmlformats.org/drawingml/2006/main">
              <a:ext uri="{FF2B5EF4-FFF2-40B4-BE49-F238E27FC236}">
                <a16:creationId xmlns:a16="http://schemas.microsoft.com/office/drawing/2014/main" id="{98A86336-653F-4FEC-B75B-2D8F12009F93}"/>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B52F6FBE-ADD9-4784-8762-8698B34EF160}"/>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팀이 지식 봇을 만들고 팀원에게 공유</a:t>
            </a:r>
          </a:p>
        </p:txBody>
      </p:sp>
      <p:sp>
        <p:nvSpPr>
          <p:cNvPr id="14" name="">
            <a:extLst xmlns:a="http://schemas.openxmlformats.org/drawingml/2006/main">
              <a:ext uri="{FF2B5EF4-FFF2-40B4-BE49-F238E27FC236}">
                <a16:creationId xmlns:a16="http://schemas.microsoft.com/office/drawing/2014/main" id="{FD65CBF0-D31C-4DA6-A067-6720571C8977}"/>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5112333F-71C4-4421-82D1-24F355096B71}"/>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허용 등급 초과·공유 대상 오류·고위험 용도</a:t>
            </a:r>
          </a:p>
        </p:txBody>
      </p:sp>
      <p:sp>
        <p:nvSpPr>
          <p:cNvPr id="16" name="">
            <a:extLst xmlns:a="http://schemas.openxmlformats.org/drawingml/2006/main">
              <a:ext uri="{FF2B5EF4-FFF2-40B4-BE49-F238E27FC236}">
                <a16:creationId xmlns:a16="http://schemas.microsoft.com/office/drawing/2014/main" id="{B27F8BA9-3E49-4C38-90F2-0E033A70377F}"/>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F58DCB96-D939-494F-8E7A-805E87C4625A}"/>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문서 등급·봇 권한·심사·답변 출처 확인표</a:t>
            </a:r>
          </a:p>
        </p:txBody>
      </p:sp>
    </p:spTree>
    <p:extLst>
      <p:ext uri="{BB962C8B-B14F-4D97-AF65-F5344CB8AC3E}">
        <p14:creationId xmlns:p14="http://schemas.microsoft.com/office/powerpoint/2010/main" val="1438775879"/>
      </p:ext>
    </p:extLst>
  </p:cSld>
</p:sld>
</file>

<file path=ppt/slides/slide107.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79EA2DA-D710-4583-BF08-A4FABDDF1899}"/>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PF-A09 / 2023년 이후 운영 / 공식 제품 목록 Active / 해외</a:t>
            </a:r>
          </a:p>
        </p:txBody>
      </p:sp>
      <p:sp>
        <p:nvSpPr>
          <p:cNvPr id="2" name="">
            <a:extLst xmlns:a="http://schemas.openxmlformats.org/drawingml/2006/main">
              <a:ext uri="{FF2B5EF4-FFF2-40B4-BE49-F238E27FC236}">
                <a16:creationId xmlns:a16="http://schemas.microsoft.com/office/drawing/2014/main" id="{36FE739D-D18E-47F2-96DE-B518230232CD}"/>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싱가포르 Pair</a:t>
            </a:r>
          </a:p>
        </p:txBody>
      </p:sp>
      <p:sp>
        <p:nvSpPr>
          <p:cNvPr id="3" name="">
            <a:extLst xmlns:a="http://schemas.openxmlformats.org/drawingml/2006/main">
              <a:ext uri="{FF2B5EF4-FFF2-40B4-BE49-F238E27FC236}">
                <a16:creationId xmlns:a16="http://schemas.microsoft.com/office/drawing/2014/main" id="{98529904-1078-4671-9F1C-8CC1FD7662CF}"/>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5D871B3-4C19-455D-9FB2-F5606FE4E9A6}"/>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E07AF9E2-1A3F-4BBE-8E67-02BC0DC9D2E7}"/>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107</a:t>
            </a:r>
          </a:p>
        </p:txBody>
      </p:sp>
      <p:sp>
        <p:nvSpPr>
          <p:cNvPr id="6" name="">
            <a:extLst xmlns:a="http://schemas.openxmlformats.org/drawingml/2006/main">
              <a:ext uri="{FF2B5EF4-FFF2-40B4-BE49-F238E27FC236}">
                <a16:creationId xmlns:a16="http://schemas.microsoft.com/office/drawing/2014/main" id="{EE0D575B-667F-4186-B01F-A94D35B0B783}"/>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2A39359E-C5AE-4C18-91C1-4FD33F19ABBA}"/>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싱가포르 Pair의 공공부문 업무 지원 사례. 직원의 조사·</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작성·분석을 지원하면서 정부 사용 조건과 업무 자료 취</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급 기준을 적용하는 도입 방식.</a:t>
            </a:r>
          </a:p>
        </p:txBody>
      </p:sp>
      <p:sp>
        <p:nvSpPr>
          <p:cNvPr id="8" name="">
            <a:extLst xmlns:a="http://schemas.openxmlformats.org/drawingml/2006/main">
              <a:ext uri="{FF2B5EF4-FFF2-40B4-BE49-F238E27FC236}">
                <a16:creationId xmlns:a16="http://schemas.microsoft.com/office/drawing/2014/main" id="{541967E7-8A52-4C28-BA70-E92087728761}"/>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A88CFC09-F296-457B-AFFC-E529E3827174}"/>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정부 사용자 접근, 허용된 업무 입력, 모델 처리, 결과 검</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토·활용으로 재구성. 공급사의 일반 제품 기능과 정부 도</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입 조건, 실제 이용 범위를 구분하고 기관 내부 시스템과</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의 자동 연계 여부를 별도 확인하는 구조.</a:t>
            </a:r>
          </a:p>
        </p:txBody>
      </p:sp>
      <p:sp>
        <p:nvSpPr>
          <p:cNvPr id="10" name="">
            <a:extLst xmlns:a="http://schemas.openxmlformats.org/drawingml/2006/main">
              <a:ext uri="{FF2B5EF4-FFF2-40B4-BE49-F238E27FC236}">
                <a16:creationId xmlns:a16="http://schemas.microsoft.com/office/drawing/2014/main" id="{83F5CAB7-837E-49E6-9C7B-42A774D1C504}"/>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80EF07E8-73FC-402A-B4C2-55BA4BAAFB53}"/>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TS에서는 서비스 구매 자체를 조직 네이티브 기능 구현으</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로 보지 않는 것이 비교의 출발점. 공식 직원 ID·부서·업무</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 책임·자료 권한과 모델의 이용 문맥을 연결하는 추가 개</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발·운영 책임의 별도 정의.</a:t>
            </a:r>
          </a:p>
        </p:txBody>
      </p:sp>
      <p:sp>
        <p:nvSpPr>
          <p:cNvPr id="12" name="">
            <a:extLst xmlns:a="http://schemas.openxmlformats.org/drawingml/2006/main">
              <a:ext uri="{FF2B5EF4-FFF2-40B4-BE49-F238E27FC236}">
                <a16:creationId xmlns:a16="http://schemas.microsoft.com/office/drawing/2014/main" id="{2149F954-3D6E-4EBD-A50D-A4130166795E}"/>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540682F9-F03D-48BD-B140-2922BF9EF2EF}"/>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기관·직무별 설정과 품질 기준</a:t>
            </a:r>
          </a:p>
        </p:txBody>
      </p:sp>
      <p:sp>
        <p:nvSpPr>
          <p:cNvPr id="14" name="">
            <a:extLst xmlns:a="http://schemas.openxmlformats.org/drawingml/2006/main">
              <a:ext uri="{FF2B5EF4-FFF2-40B4-BE49-F238E27FC236}">
                <a16:creationId xmlns:a16="http://schemas.microsoft.com/office/drawing/2014/main" id="{DD696F1B-45C3-477F-BC5E-52AD334AD855}"/>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0C4EED96-1C43-4859-8591-010CB6B7EF49}"/>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신규 연결 공수·요청당 비용의 기준선·비교 평가</a:t>
            </a:r>
          </a:p>
        </p:txBody>
      </p:sp>
      <p:sp>
        <p:nvSpPr>
          <p:cNvPr id="16" name="">
            <a:extLst xmlns:a="http://schemas.openxmlformats.org/drawingml/2006/main">
              <a:ext uri="{FF2B5EF4-FFF2-40B4-BE49-F238E27FC236}">
                <a16:creationId xmlns:a16="http://schemas.microsoft.com/office/drawing/2014/main" id="{100A0252-B167-438D-9B5D-AFD55E318AD6}"/>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B35DD78E-7346-4FA0-AE9A-74FC822CC0EB}"/>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신규 연결 공수·요청당 비용</a:t>
            </a:r>
          </a:p>
        </p:txBody>
      </p:sp>
      <p:sp>
        <p:nvSpPr>
          <p:cNvPr id="18" name="">
            <a:extLst xmlns:a="http://schemas.openxmlformats.org/drawingml/2006/main">
              <a:ext uri="{FF2B5EF4-FFF2-40B4-BE49-F238E27FC236}">
                <a16:creationId xmlns:a16="http://schemas.microsoft.com/office/drawing/2014/main" id="{82CEB3AC-9E56-4C84-B236-A8E35EC1CCDA}"/>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오래된 소개 지표로 현재 규모를 추정하지 않음. 독립 정량 업무효과 미확인</a:t>
            </a:r>
          </a:p>
        </p:txBody>
      </p:sp>
    </p:spTree>
    <p:extLst>
      <p:ext uri="{BB962C8B-B14F-4D97-AF65-F5344CB8AC3E}">
        <p14:creationId xmlns:p14="http://schemas.microsoft.com/office/powerpoint/2010/main" val="331691479"/>
      </p:ext>
    </p:extLst>
  </p:cSld>
</p:sld>
</file>

<file path=ppt/slides/slide108.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84A099C0-9695-43BC-A1A3-C45CB79B61E9}"/>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FA8B00B3-90C2-4844-92D3-02AB7ED35B07}"/>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75C556CD-E913-491D-AF98-F222410EBA14}"/>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0A194994-3995-491D-9EC4-30313B9206F6}"/>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CDBAF9D5-C1E1-4879-AA52-879F9F25B8D0}"/>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4B6F4351-018E-43DF-A065-11FD8CC7F221}"/>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28352F2D-0624-417C-9C0D-E01E96C91F80}"/>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8FFCE535-6593-4B02-BCB8-7208B069DE9F}"/>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91541B56-2639-45BB-AD99-622717EBE6D6}"/>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0D7DD398-2D83-4498-9F68-A371B1BE80E1}"/>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PF-A09 / CCK 세부 재구성 · 논리 서비스 설계</a:t>
            </a:r>
          </a:p>
        </p:txBody>
      </p:sp>
      <p:sp>
        <p:nvSpPr>
          <p:cNvPr id="2" name="">
            <a:extLst xmlns:a="http://schemas.openxmlformats.org/drawingml/2006/main">
              <a:ext uri="{FF2B5EF4-FFF2-40B4-BE49-F238E27FC236}">
                <a16:creationId xmlns:a16="http://schemas.microsoft.com/office/drawing/2014/main" id="{FAD5674A-F587-4537-8FC2-D6CC8FEAAB30}"/>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싱가포르 Pair · 세부 서비스 구조</a:t>
            </a:r>
          </a:p>
        </p:txBody>
      </p:sp>
      <p:sp>
        <p:nvSpPr>
          <p:cNvPr id="3" name="">
            <a:extLst xmlns:a="http://schemas.openxmlformats.org/drawingml/2006/main">
              <a:ext uri="{FF2B5EF4-FFF2-40B4-BE49-F238E27FC236}">
                <a16:creationId xmlns:a16="http://schemas.microsoft.com/office/drawing/2014/main" id="{6E9D3E59-66BA-4A51-ABD5-2AD3CA34EB6F}"/>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6786504-070D-4DC8-B994-D15CB1CA6DA3}"/>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97D5DE0C-086A-47AC-AD36-9CD1CC4A1F4F}"/>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108</a:t>
            </a:r>
          </a:p>
        </p:txBody>
      </p:sp>
      <p:sp>
        <p:nvSpPr>
          <p:cNvPr id="6" name="">
            <a:extLst xmlns:a="http://schemas.openxmlformats.org/drawingml/2006/main">
              <a:ext uri="{FF2B5EF4-FFF2-40B4-BE49-F238E27FC236}">
                <a16:creationId xmlns:a16="http://schemas.microsoft.com/office/drawing/2014/main" id="{A13E9AFA-A840-4C69-B778-367D8E1EEACF}"/>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운영기관·공급사·감사 자료의 업무 설명</a:t>
            </a:r>
          </a:p>
        </p:txBody>
      </p:sp>
      <p:sp>
        <p:nvSpPr>
          <p:cNvPr id="7" name="">
            <a:extLst xmlns:a="http://schemas.openxmlformats.org/drawingml/2006/main">
              <a:ext uri="{FF2B5EF4-FFF2-40B4-BE49-F238E27FC236}">
                <a16:creationId xmlns:a16="http://schemas.microsoft.com/office/drawing/2014/main" id="{0D2C12C1-F44B-4D29-A6E1-A84678123543}"/>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E3A41CC7-01C8-42F3-ADAA-697A9A59E32A}"/>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DB77EA90-0354-4AF8-A539-BBCD351F5527}"/>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정부 직원 접점</a:t>
            </a:r>
          </a:p>
        </p:txBody>
      </p:sp>
      <p:sp>
        <p:nvSpPr>
          <p:cNvPr id="10" name="">
            <a:extLst xmlns:a="http://schemas.openxmlformats.org/drawingml/2006/main">
              <a:ext uri="{FF2B5EF4-FFF2-40B4-BE49-F238E27FC236}">
                <a16:creationId xmlns:a16="http://schemas.microsoft.com/office/drawing/2014/main" id="{7509BA40-47B4-4088-AA39-F749A1CD7C78}"/>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E6CDA8DE-DC7A-455E-B6C8-06CAB8DB4B73}"/>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E5B8AFE9-FED8-4102-A319-6B12F09BCD63}"/>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업무·입력등급</a:t>
            </a:r>
          </a:p>
        </p:txBody>
      </p:sp>
      <p:sp>
        <p:nvSpPr>
          <p:cNvPr id="13" name="">
            <a:extLst xmlns:a="http://schemas.openxmlformats.org/drawingml/2006/main">
              <a:ext uri="{FF2B5EF4-FFF2-40B4-BE49-F238E27FC236}">
                <a16:creationId xmlns:a16="http://schemas.microsoft.com/office/drawing/2014/main" id="{4B6D8E9A-378C-4CFA-839A-C10D889E49F0}"/>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CA146944-36F4-43EE-96B3-5AB8D40CE39D}"/>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B980835B-C2B1-42FB-A258-7AC9F961CB49}"/>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업무 문맥 구성</a:t>
            </a:r>
          </a:p>
        </p:txBody>
      </p:sp>
      <p:sp>
        <p:nvSpPr>
          <p:cNvPr id="16" name="">
            <a:extLst xmlns:a="http://schemas.openxmlformats.org/drawingml/2006/main">
              <a:ext uri="{FF2B5EF4-FFF2-40B4-BE49-F238E27FC236}">
                <a16:creationId xmlns:a16="http://schemas.microsoft.com/office/drawing/2014/main" id="{08B45D5F-9B5A-44ED-825B-4D0833F538E0}"/>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C0CBD083-3F4B-411E-9CD2-592CE308E6D3}"/>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87FE7C9C-E7B0-4DD6-BE81-98A9DE30F812}"/>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Pair 공통 LLM</a:t>
            </a:r>
          </a:p>
        </p:txBody>
      </p:sp>
      <p:sp>
        <p:nvSpPr>
          <p:cNvPr id="19" name="">
            <a:extLst xmlns:a="http://schemas.openxmlformats.org/drawingml/2006/main">
              <a:ext uri="{FF2B5EF4-FFF2-40B4-BE49-F238E27FC236}">
                <a16:creationId xmlns:a16="http://schemas.microsoft.com/office/drawing/2014/main" id="{14FF0ABF-30DC-4F1A-A8A8-478A6FA9DFD0}"/>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35E21AD9-1E9E-4345-90C8-73DBD4B03808}"/>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22F93EBE-9A43-49DE-8076-410A9A04AEB2}"/>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근거·민감정보 검사</a:t>
            </a:r>
          </a:p>
        </p:txBody>
      </p:sp>
      <p:sp>
        <p:nvSpPr>
          <p:cNvPr id="22" name="">
            <a:extLst xmlns:a="http://schemas.openxmlformats.org/drawingml/2006/main">
              <a:ext uri="{FF2B5EF4-FFF2-40B4-BE49-F238E27FC236}">
                <a16:creationId xmlns:a16="http://schemas.microsoft.com/office/drawing/2014/main" id="{14857CBE-431A-47F8-B301-88B9D0509ECB}"/>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72F788DD-1C17-4134-814D-C9AACEB88848}"/>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67666003-F7E3-4A71-8F3A-81932F812FDC}"/>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직원 검토</a:t>
            </a:r>
          </a:p>
        </p:txBody>
      </p:sp>
      <p:sp>
        <p:nvSpPr>
          <p:cNvPr id="25" name="">
            <a:extLst xmlns:a="http://schemas.openxmlformats.org/drawingml/2006/main">
              <a:ext uri="{FF2B5EF4-FFF2-40B4-BE49-F238E27FC236}">
                <a16:creationId xmlns:a16="http://schemas.microsoft.com/office/drawing/2014/main" id="{ED2FBD96-655B-4810-9CB6-10F45BDA3D17}"/>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018CD5BA-F500-4C33-88DE-E484C12363A6}"/>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31EBE09B-FE16-442B-8BF5-749E4AE6327D}"/>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작성·조사 초안</a:t>
            </a:r>
          </a:p>
        </p:txBody>
      </p:sp>
      <p:sp>
        <p:nvSpPr>
          <p:cNvPr id="28" name="">
            <a:extLst xmlns:a="http://schemas.openxmlformats.org/drawingml/2006/main">
              <a:ext uri="{FF2B5EF4-FFF2-40B4-BE49-F238E27FC236}">
                <a16:creationId xmlns:a16="http://schemas.microsoft.com/office/drawing/2014/main" id="{3CB555F8-335E-43A9-AEE1-0A325EB8CFF5}"/>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46444613-8F38-42A9-AB02-626418915DAB}"/>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BF3ABE75-B669-43A3-A27D-EADC624ED236}"/>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오류·사용성 점검</a:t>
            </a:r>
          </a:p>
        </p:txBody>
      </p:sp>
      <p:sp>
        <p:nvSpPr>
          <p:cNvPr id="31" name="">
            <a:extLst xmlns:a="http://schemas.openxmlformats.org/drawingml/2006/main">
              <a:ext uri="{FF2B5EF4-FFF2-40B4-BE49-F238E27FC236}">
                <a16:creationId xmlns:a16="http://schemas.microsoft.com/office/drawing/2014/main" id="{7CD412D5-E215-46FB-BC1A-F158AF7DBC93}"/>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E02F52D3-10A1-4E28-995B-ED7EB40DCCD5}"/>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C4E601C2-CB83-4EF9-B3DF-6DEAFEE44496}"/>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허용 업무 입력</a:t>
            </a:r>
          </a:p>
        </p:txBody>
      </p:sp>
      <p:sp>
        <p:nvSpPr>
          <p:cNvPr id="34" name="">
            <a:extLst xmlns:a="http://schemas.openxmlformats.org/drawingml/2006/main">
              <a:ext uri="{FF2B5EF4-FFF2-40B4-BE49-F238E27FC236}">
                <a16:creationId xmlns:a16="http://schemas.microsoft.com/office/drawing/2014/main" id="{5E90421F-A8B6-424B-83C6-4095C03B353F}"/>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2C759942-11C7-4E21-A3F2-D868BFD46FB4}"/>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ED63FCCF-824D-4CF0-8979-E42A052EEC49}"/>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보관조건 정리</a:t>
            </a:r>
          </a:p>
        </p:txBody>
      </p:sp>
      <p:sp>
        <p:nvSpPr>
          <p:cNvPr id="37" name="">
            <a:extLst xmlns:a="http://schemas.openxmlformats.org/drawingml/2006/main">
              <a:ext uri="{FF2B5EF4-FFF2-40B4-BE49-F238E27FC236}">
                <a16:creationId xmlns:a16="http://schemas.microsoft.com/office/drawing/2014/main" id="{D4EDEC92-AE0C-4CE5-AD01-0DAE306798D6}"/>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FFD24288-BAB0-4BB0-85E8-B891161BB289}"/>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4FA5E360-6183-460C-92CC-B10272AB795E}"/>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과업·평가 기록</a:t>
            </a:r>
          </a:p>
        </p:txBody>
      </p:sp>
      <p:sp>
        <p:nvSpPr>
          <p:cNvPr id="40" name="">
            <a:extLst xmlns:a="http://schemas.openxmlformats.org/drawingml/2006/main">
              <a:ext uri="{FF2B5EF4-FFF2-40B4-BE49-F238E27FC236}">
                <a16:creationId xmlns:a16="http://schemas.microsoft.com/office/drawing/2014/main" id="{C4A821DA-BD41-46FA-8426-A774EACA9339}"/>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91841B4E-B51D-40C7-AA97-77B71F485E2B}"/>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D1787042-6702-437D-92F4-82DFB2D3E102}"/>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정부 이용정책</a:t>
            </a:r>
          </a:p>
        </p:txBody>
      </p:sp>
      <p:sp>
        <p:nvSpPr>
          <p:cNvPr id="52" name="">
            <a:extLst xmlns:a="http://schemas.openxmlformats.org/drawingml/2006/main">
              <a:ext uri="{FF2B5EF4-FFF2-40B4-BE49-F238E27FC236}">
                <a16:creationId xmlns:a16="http://schemas.microsoft.com/office/drawing/2014/main" id="{A968B7F4-8639-48AF-BAE5-B6764A86B470}"/>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38472584"/>
      </p:ext>
    </p:extLst>
  </p:cSld>
</p:sld>
</file>

<file path=ppt/slides/slide109.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43D393B-C321-415B-9AD7-9663C4280CF5}"/>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PF-A09 / 논리 인터페이스·복구 설계</a:t>
            </a:r>
          </a:p>
        </p:txBody>
      </p:sp>
      <p:sp>
        <p:nvSpPr>
          <p:cNvPr id="2" name="">
            <a:extLst xmlns:a="http://schemas.openxmlformats.org/drawingml/2006/main">
              <a:ext uri="{FF2B5EF4-FFF2-40B4-BE49-F238E27FC236}">
                <a16:creationId xmlns:a16="http://schemas.microsoft.com/office/drawing/2014/main" id="{A7DB87D2-C48D-436B-81BD-F32AD5ACF302}"/>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싱가포르 Pair · 데이터와 예외 처리</a:t>
            </a:r>
          </a:p>
        </p:txBody>
      </p:sp>
      <p:sp>
        <p:nvSpPr>
          <p:cNvPr id="3" name="">
            <a:extLst xmlns:a="http://schemas.openxmlformats.org/drawingml/2006/main">
              <a:ext uri="{FF2B5EF4-FFF2-40B4-BE49-F238E27FC236}">
                <a16:creationId xmlns:a16="http://schemas.microsoft.com/office/drawing/2014/main" id="{A9C05F57-E46B-4323-8E49-D33A64DF7B4D}"/>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176B44B-0D52-4571-A4B3-9A2E336FC36D}"/>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42A16726-DD17-4018-86BC-9C5A14CFDF74}"/>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109</a:t>
            </a:r>
          </a:p>
        </p:txBody>
      </p:sp>
      <p:sp>
        <p:nvSpPr>
          <p:cNvPr id="6" name="">
            <a:extLst xmlns:a="http://schemas.openxmlformats.org/drawingml/2006/main">
              <a:ext uri="{FF2B5EF4-FFF2-40B4-BE49-F238E27FC236}">
                <a16:creationId xmlns:a16="http://schemas.microsoft.com/office/drawing/2014/main" id="{252B0AC5-81B3-4DA0-BC4D-CE4A03F337A2}"/>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8E60BD8A-ED05-4786-A2D3-29E5A58983F7}"/>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979A83BC-C72F-4CC0-A81F-9DA1D2F25830}"/>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678A840C-E329-4D9E-8D16-34FF5E345F9E}"/>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정부 기기·사용자 문맥·업무 입력 구분</a:t>
            </a:r>
          </a:p>
        </p:txBody>
      </p:sp>
      <p:sp>
        <p:nvSpPr>
          <p:cNvPr id="10" name="">
            <a:extLst xmlns:a="http://schemas.openxmlformats.org/drawingml/2006/main">
              <a:ext uri="{FF2B5EF4-FFF2-40B4-BE49-F238E27FC236}">
                <a16:creationId xmlns:a16="http://schemas.microsoft.com/office/drawing/2014/main" id="{181B9370-EDB6-4E1B-ADFF-0B0298472BCA}"/>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6E1A6BB-FA57-4121-A42B-88700060881E}"/>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00CDDFEC-6920-4006-BBBB-0458D09BD510}"/>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업무 요청</a:t>
            </a:r>
          </a:p>
        </p:txBody>
      </p:sp>
      <p:sp>
        <p:nvSpPr>
          <p:cNvPr id="13" name="">
            <a:extLst xmlns:a="http://schemas.openxmlformats.org/drawingml/2006/main">
              <a:ext uri="{FF2B5EF4-FFF2-40B4-BE49-F238E27FC236}">
                <a16:creationId xmlns:a16="http://schemas.microsoft.com/office/drawing/2014/main" id="{50889B5B-C7E3-46DC-B265-AA9C42AD3681}"/>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F680CA5-D13A-4532-8E4C-13F069131667}"/>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A82CFA2C-B697-4EFF-AF2A-B88D8F6272EC}"/>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도구 입력</a:t>
            </a:r>
          </a:p>
        </p:txBody>
      </p:sp>
      <p:sp>
        <p:nvSpPr>
          <p:cNvPr id="16" name="">
            <a:extLst xmlns:a="http://schemas.openxmlformats.org/drawingml/2006/main">
              <a:ext uri="{FF2B5EF4-FFF2-40B4-BE49-F238E27FC236}">
                <a16:creationId xmlns:a16="http://schemas.microsoft.com/office/drawing/2014/main" id="{0A30B4CD-D9C8-4F55-BB69-615855F72302}"/>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F3DBBE2-A851-4FA9-818E-4981C4C6539F}"/>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C365096C-B54E-46A4-A678-503EC78294E6}"/>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작성·조사 초안</a:t>
            </a:r>
          </a:p>
        </p:txBody>
      </p:sp>
      <p:sp>
        <p:nvSpPr>
          <p:cNvPr id="19" name="">
            <a:extLst xmlns:a="http://schemas.openxmlformats.org/drawingml/2006/main">
              <a:ext uri="{FF2B5EF4-FFF2-40B4-BE49-F238E27FC236}">
                <a16:creationId xmlns:a16="http://schemas.microsoft.com/office/drawing/2014/main" id="{A685751D-60F1-4C53-993A-C5FB73FFCDA5}"/>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9EC020D-B165-4FB9-B5FE-A4C66E61E49C}"/>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1025FB3F-CB41-4575-9E09-21554E86B7B8}"/>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작성·조사 초안</a:t>
            </a:r>
          </a:p>
        </p:txBody>
      </p:sp>
      <p:sp>
        <p:nvSpPr>
          <p:cNvPr id="22" name="">
            <a:extLst xmlns:a="http://schemas.openxmlformats.org/drawingml/2006/main">
              <a:ext uri="{FF2B5EF4-FFF2-40B4-BE49-F238E27FC236}">
                <a16:creationId xmlns:a16="http://schemas.microsoft.com/office/drawing/2014/main" id="{5EF7ED5B-5C52-48B2-A8AA-557EA5E45099}"/>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A85A6AA-1F56-434A-84E1-935673452ACE}"/>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7227F942-B972-403C-8506-CA1876369697}"/>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확인된 결과</a:t>
            </a:r>
          </a:p>
        </p:txBody>
      </p:sp>
      <p:sp>
        <p:nvSpPr>
          <p:cNvPr id="25" name="">
            <a:extLst xmlns:a="http://schemas.openxmlformats.org/drawingml/2006/main">
              <a:ext uri="{FF2B5EF4-FFF2-40B4-BE49-F238E27FC236}">
                <a16:creationId xmlns:a16="http://schemas.microsoft.com/office/drawing/2014/main" id="{10C8F8D4-BF3A-4A1C-86E1-C9267DE118B2}"/>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A2AFAC5E-07E7-46C1-B1F1-98D7F7C0DD3D}"/>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금지 입력·근거 없는 질문·장시간 응답</a:t>
            </a:r>
          </a:p>
        </p:txBody>
      </p:sp>
      <p:sp>
        <p:nvSpPr>
          <p:cNvPr id="27" name="">
            <a:extLst xmlns:a="http://schemas.openxmlformats.org/drawingml/2006/main">
              <a:ext uri="{FF2B5EF4-FFF2-40B4-BE49-F238E27FC236}">
                <a16:creationId xmlns:a16="http://schemas.microsoft.com/office/drawing/2014/main" id="{162057F9-F8F8-4C3B-B5BB-EBCCD5BC9C5E}"/>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53345454-19E0-4BFF-AB56-ADDCF314CD85}"/>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공개 범위·근거·내용 대조</a:t>
            </a:r>
          </a:p>
        </p:txBody>
      </p:sp>
      <p:sp>
        <p:nvSpPr>
          <p:cNvPr id="29" name="">
            <a:extLst xmlns:a="http://schemas.openxmlformats.org/drawingml/2006/main">
              <a:ext uri="{FF2B5EF4-FFF2-40B4-BE49-F238E27FC236}">
                <a16:creationId xmlns:a16="http://schemas.microsoft.com/office/drawing/2014/main" id="{A69572E5-B88F-480D-AA07-679A22DF6B0A}"/>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476902A6-09B6-4D13-908D-88A6B64B9FC0}"/>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오류·사용성·정책 준수의 운영 점검</a:t>
            </a:r>
          </a:p>
        </p:txBody>
      </p:sp>
      <p:sp>
        <p:nvSpPr>
          <p:cNvPr id="31" name="">
            <a:extLst xmlns:a="http://schemas.openxmlformats.org/drawingml/2006/main">
              <a:ext uri="{FF2B5EF4-FFF2-40B4-BE49-F238E27FC236}">
                <a16:creationId xmlns:a16="http://schemas.microsoft.com/office/drawing/2014/main" id="{54BD0A05-3A0E-42E2-9E40-DB5D843A7319}"/>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661BE22F-6A34-409C-8D3C-6EC32D3B8CDB}"/>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입력 정책·답변 품질·서비스 실패 대응 기록</a:t>
            </a:r>
          </a:p>
        </p:txBody>
      </p:sp>
    </p:spTree>
    <p:extLst>
      <p:ext uri="{BB962C8B-B14F-4D97-AF65-F5344CB8AC3E}">
        <p14:creationId xmlns:p14="http://schemas.microsoft.com/office/powerpoint/2010/main" val="1002162771"/>
      </p:ext>
    </p:extLst>
  </p:cSld>
</p:sld>
</file>

<file path=ppt/slides/slide110.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ACEF464-CCAF-49FA-B52B-211C90D9913F}"/>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PF-A09 / CCK 비교·재현 시험 설계</a:t>
            </a:r>
          </a:p>
        </p:txBody>
      </p:sp>
      <p:sp>
        <p:nvSpPr>
          <p:cNvPr id="2" name="">
            <a:extLst xmlns:a="http://schemas.openxmlformats.org/drawingml/2006/main">
              <a:ext uri="{FF2B5EF4-FFF2-40B4-BE49-F238E27FC236}">
                <a16:creationId xmlns:a16="http://schemas.microsoft.com/office/drawing/2014/main" id="{F61B7542-AC62-4104-944F-FEE339318427}"/>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싱가포르 Pair · 벤치마킹</a:t>
            </a:r>
          </a:p>
        </p:txBody>
      </p:sp>
      <p:sp>
        <p:nvSpPr>
          <p:cNvPr id="3" name="">
            <a:extLst xmlns:a="http://schemas.openxmlformats.org/drawingml/2006/main">
              <a:ext uri="{FF2B5EF4-FFF2-40B4-BE49-F238E27FC236}">
                <a16:creationId xmlns:a16="http://schemas.microsoft.com/office/drawing/2014/main" id="{1D4ABB51-527D-4D33-AD0A-7FB99D7A1B1A}"/>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B140A80-14D8-4671-9867-425F54EEFC4C}"/>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8C9F4656-007B-4FE1-AC44-F4764DDECEA3}"/>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110</a:t>
            </a:r>
          </a:p>
        </p:txBody>
      </p:sp>
      <p:sp>
        <p:nvSpPr>
          <p:cNvPr id="6" name="">
            <a:extLst xmlns:a="http://schemas.openxmlformats.org/drawingml/2006/main">
              <a:ext uri="{FF2B5EF4-FFF2-40B4-BE49-F238E27FC236}">
                <a16:creationId xmlns:a16="http://schemas.microsoft.com/office/drawing/2014/main" id="{24C46C91-180F-4734-8E8F-4E8FC376659A}"/>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BD5AB0C6-3161-43F2-B7E7-3C7A8180D706}"/>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공통 작성·조사 도구 접근</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공무원의 결과 검토</a:t>
            </a:r>
          </a:p>
        </p:txBody>
      </p:sp>
      <p:sp>
        <p:nvSpPr>
          <p:cNvPr id="8" name="">
            <a:extLst xmlns:a="http://schemas.openxmlformats.org/drawingml/2006/main">
              <a:ext uri="{FF2B5EF4-FFF2-40B4-BE49-F238E27FC236}">
                <a16:creationId xmlns:a16="http://schemas.microsoft.com/office/drawing/2014/main" id="{B5AE276F-4D30-47E9-8F27-9E063B8C0300}"/>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4750150E-F35D-47E5-AFF6-42186D55AB4E}"/>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범용 도구의 전문 규정 한계</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민감 정보 입력·검증 없는 재사용</a:t>
            </a:r>
          </a:p>
        </p:txBody>
      </p:sp>
      <p:sp>
        <p:nvSpPr>
          <p:cNvPr id="10" name="">
            <a:extLst xmlns:a="http://schemas.openxmlformats.org/drawingml/2006/main">
              <a:ext uri="{FF2B5EF4-FFF2-40B4-BE49-F238E27FC236}">
                <a16:creationId xmlns:a16="http://schemas.microsoft.com/office/drawing/2014/main" id="{4407EA75-DA4A-493C-9BD2-F72A3E975EF7}"/>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8A504006-2611-4839-91D8-C92A3DF461F3}"/>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공개 범위·근거·내용 대조</a:t>
            </a:r>
          </a:p>
        </p:txBody>
      </p:sp>
      <p:sp>
        <p:nvSpPr>
          <p:cNvPr id="12" name="">
            <a:extLst xmlns:a="http://schemas.openxmlformats.org/drawingml/2006/main">
              <a:ext uri="{FF2B5EF4-FFF2-40B4-BE49-F238E27FC236}">
                <a16:creationId xmlns:a16="http://schemas.microsoft.com/office/drawing/2014/main" id="{83AD7403-2AB8-40EF-84B8-51A140CC5F0D}"/>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FC425B46-D4A5-41D6-89DD-85E0FF977910}"/>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정부 업무자료를 허용 범위에서 요약·작성</a:t>
            </a:r>
          </a:p>
        </p:txBody>
      </p:sp>
      <p:sp>
        <p:nvSpPr>
          <p:cNvPr id="14" name="">
            <a:extLst xmlns:a="http://schemas.openxmlformats.org/drawingml/2006/main">
              <a:ext uri="{FF2B5EF4-FFF2-40B4-BE49-F238E27FC236}">
                <a16:creationId xmlns:a16="http://schemas.microsoft.com/office/drawing/2014/main" id="{313941CC-9B8F-4093-AE74-C9E416E70D50}"/>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CD3B0222-2C6E-4031-B4A3-6B43F7554365}"/>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금지 입력·근거 없는 질문·장시간 응답</a:t>
            </a:r>
          </a:p>
        </p:txBody>
      </p:sp>
      <p:sp>
        <p:nvSpPr>
          <p:cNvPr id="16" name="">
            <a:extLst xmlns:a="http://schemas.openxmlformats.org/drawingml/2006/main">
              <a:ext uri="{FF2B5EF4-FFF2-40B4-BE49-F238E27FC236}">
                <a16:creationId xmlns:a16="http://schemas.microsoft.com/office/drawing/2014/main" id="{1F8B9DC6-5D39-414D-8EEB-859B98533004}"/>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A20FC1D8-69E1-47F0-A31C-D7C92FE6EC59}"/>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입력 정책·답변 품질·서비스 실패 대응 기록</a:t>
            </a:r>
          </a:p>
        </p:txBody>
      </p:sp>
    </p:spTree>
    <p:extLst>
      <p:ext uri="{BB962C8B-B14F-4D97-AF65-F5344CB8AC3E}">
        <p14:creationId xmlns:p14="http://schemas.microsoft.com/office/powerpoint/2010/main" val="777663790"/>
      </p:ext>
    </p:extLst>
  </p:cSld>
</p:sld>
</file>

<file path=ppt/slides/slide111.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DFA37A0-2DB3-4A6B-B653-B334D048D2FB}"/>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PF06 / 공통 API 운영 / 해외</a:t>
            </a:r>
          </a:p>
        </p:txBody>
      </p:sp>
      <p:sp>
        <p:nvSpPr>
          <p:cNvPr id="2" name="">
            <a:extLst xmlns:a="http://schemas.openxmlformats.org/drawingml/2006/main">
              <a:ext uri="{FF2B5EF4-FFF2-40B4-BE49-F238E27FC236}">
                <a16:creationId xmlns:a16="http://schemas.microsoft.com/office/drawing/2014/main" id="{FBA83D00-3EE5-487D-A42D-6B615B3493FE}"/>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프랑스 Albert API</a:t>
            </a:r>
          </a:p>
        </p:txBody>
      </p:sp>
      <p:sp>
        <p:nvSpPr>
          <p:cNvPr id="3" name="">
            <a:extLst xmlns:a="http://schemas.openxmlformats.org/drawingml/2006/main">
              <a:ext uri="{FF2B5EF4-FFF2-40B4-BE49-F238E27FC236}">
                <a16:creationId xmlns:a16="http://schemas.microsoft.com/office/drawing/2014/main" id="{5F549E47-140A-4F2D-80E8-22F1F06BBFEA}"/>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3221421-EFAD-45D0-A722-7978CEB5678D}"/>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97F2E19B-CC58-4942-A78B-8E348C7F535A}"/>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111</a:t>
            </a:r>
          </a:p>
        </p:txBody>
      </p:sp>
      <p:sp>
        <p:nvSpPr>
          <p:cNvPr id="6" name="">
            <a:extLst xmlns:a="http://schemas.openxmlformats.org/drawingml/2006/main">
              <a:ext uri="{FF2B5EF4-FFF2-40B4-BE49-F238E27FC236}">
                <a16:creationId xmlns:a16="http://schemas.microsoft.com/office/drawing/2014/main" id="{8BE4972C-8EE1-4066-A31C-B06D9B0D5057}"/>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D39E9027-3BE6-477B-A973-7956548FB344}"/>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프랑스 Albert API는 공공기관이 자체 업무 서비스에 A</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I 기능을 붙일 수 있도록 공통 API를 제공하는 사례. 완</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성형 챗봇뿐 아니라 문서·음성 처리와 모델 기능을 업무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앱에서 선택해 활용하는 구조.</a:t>
            </a:r>
          </a:p>
        </p:txBody>
      </p:sp>
      <p:sp>
        <p:nvSpPr>
          <p:cNvPr id="8" name="">
            <a:extLst xmlns:a="http://schemas.openxmlformats.org/drawingml/2006/main">
              <a:ext uri="{FF2B5EF4-FFF2-40B4-BE49-F238E27FC236}">
                <a16:creationId xmlns:a16="http://schemas.microsoft.com/office/drawing/2014/main" id="{EC52CFF5-8C82-46DA-B294-5A04BFD9FD8F}"/>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F3049142-7435-451B-A76C-AA855D28AE23}"/>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공개 API 명세의 Bearer 인증, 모델 조회, OCR, 음성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전사, 사용량 관측 기능을 기준으로 요청·변환·추론·결과</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반환 계층을 구성. 업무 서비스는 인증·입력 제약·오류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처리·출력 활용을 담당하고 공통 API는 호출 가능한 기</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능을 제공하는 책임 분리.</a:t>
            </a:r>
          </a:p>
        </p:txBody>
      </p:sp>
      <p:sp>
        <p:nvSpPr>
          <p:cNvPr id="10" name="">
            <a:extLst xmlns:a="http://schemas.openxmlformats.org/drawingml/2006/main">
              <a:ext uri="{FF2B5EF4-FFF2-40B4-BE49-F238E27FC236}">
                <a16:creationId xmlns:a16="http://schemas.microsoft.com/office/drawing/2014/main" id="{957B07C1-FA32-4009-BB4D-B9994C43DE16}"/>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BA1C2916-C2FE-43AB-8E44-596F6CE89DF5}"/>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CCK 기능 재사용 단위를 화면보다 API 계약으로 정의하</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는 참고. 요청 크기·형식 오류·인증 실패·타임아웃·재시도·</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중복 호출에 대한 시험과 부서별 호출 이력·비용·개인정보</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 처리 기준의 연결 필요.</a:t>
            </a:r>
          </a:p>
        </p:txBody>
      </p:sp>
      <p:sp>
        <p:nvSpPr>
          <p:cNvPr id="12" name="">
            <a:extLst xmlns:a="http://schemas.openxmlformats.org/drawingml/2006/main">
              <a:ext uri="{FF2B5EF4-FFF2-40B4-BE49-F238E27FC236}">
                <a16:creationId xmlns:a16="http://schemas.microsoft.com/office/drawing/2014/main" id="{4AC18849-022A-452C-A86C-D19A80B0858C}"/>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AB3E5C21-9C8C-4214-8FBF-81D8AA9ED37F}"/>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API 계약·사용 정책·부서별 사용량·장애 격리</a:t>
            </a:r>
          </a:p>
        </p:txBody>
      </p:sp>
      <p:sp>
        <p:nvSpPr>
          <p:cNvPr id="14" name="">
            <a:extLst xmlns:a="http://schemas.openxmlformats.org/drawingml/2006/main">
              <a:ext uri="{FF2B5EF4-FFF2-40B4-BE49-F238E27FC236}">
                <a16:creationId xmlns:a16="http://schemas.microsoft.com/office/drawing/2014/main" id="{344CE433-A7E6-41E7-B436-1CE7F43A84C3}"/>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CBC28A75-50EB-45E9-98D5-0B958EC0DA1A}"/>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공통 기능 계약 시험 / 지연·실패·비용의 업무별 분리</a:t>
            </a:r>
          </a:p>
        </p:txBody>
      </p:sp>
      <p:sp>
        <p:nvSpPr>
          <p:cNvPr id="16" name="">
            <a:extLst xmlns:a="http://schemas.openxmlformats.org/drawingml/2006/main">
              <a:ext uri="{FF2B5EF4-FFF2-40B4-BE49-F238E27FC236}">
                <a16:creationId xmlns:a16="http://schemas.microsoft.com/office/drawing/2014/main" id="{4B03C6A9-B7AC-463D-B177-972313F6B70F}"/>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B7AB029B-5E19-46E4-A32D-82983192FA78}"/>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TS 업무 완료시간·오류·추가 구축 공수의 비교 평가</a:t>
            </a:r>
          </a:p>
        </p:txBody>
      </p:sp>
      <p:sp>
        <p:nvSpPr>
          <p:cNvPr id="18" name="">
            <a:extLst xmlns:a="http://schemas.openxmlformats.org/drawingml/2006/main">
              <a:ext uri="{FF2B5EF4-FFF2-40B4-BE49-F238E27FC236}">
                <a16:creationId xmlns:a16="http://schemas.microsoft.com/office/drawing/2014/main" id="{CA950C6E-AE3A-4D1D-9642-646D773A239B}"/>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서비스 기능 확인 · 공개 이용 통계와 업무성과의 별도 평가</a:t>
            </a:r>
          </a:p>
        </p:txBody>
      </p:sp>
    </p:spTree>
    <p:extLst>
      <p:ext uri="{BB962C8B-B14F-4D97-AF65-F5344CB8AC3E}">
        <p14:creationId xmlns:p14="http://schemas.microsoft.com/office/powerpoint/2010/main" val="1777231863"/>
      </p:ext>
    </p:extLst>
  </p:cSld>
</p:sld>
</file>

<file path=ppt/slides/slide11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713CE3E6-A943-496C-801B-C3BCEB02A292}"/>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4FE2CEE8-8001-4B08-9354-DCEC953D0A11}"/>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438754F5-E98E-4106-AF13-42E17FD8FC7C}"/>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5E41CBB3-8B99-4683-A946-7BCE23509A90}"/>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3F352B38-440A-4FE5-9D6E-25F891155AE3}"/>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D97180D1-5AE5-4E44-A361-5F97A29780E3}"/>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E1C08C9E-4A2E-44A2-9591-8ADA50906869}"/>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00A2E26F-17D2-4A15-B2C8-28F443025660}"/>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05543F5B-B87E-447B-942B-4A68840E2D91}"/>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841364B4-7943-4CE3-A76C-24864C5F2DA5}"/>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PF06 / CCK 세부 재구성 · 논리 서비스 설계</a:t>
            </a:r>
          </a:p>
        </p:txBody>
      </p:sp>
      <p:sp>
        <p:nvSpPr>
          <p:cNvPr id="2" name="">
            <a:extLst xmlns:a="http://schemas.openxmlformats.org/drawingml/2006/main">
              <a:ext uri="{FF2B5EF4-FFF2-40B4-BE49-F238E27FC236}">
                <a16:creationId xmlns:a16="http://schemas.microsoft.com/office/drawing/2014/main" id="{AAA3D571-854C-46A9-AA5A-8B2F9D7A1E11}"/>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프랑스 Albert API · 세부 서비스 구조</a:t>
            </a:r>
          </a:p>
        </p:txBody>
      </p:sp>
      <p:sp>
        <p:nvSpPr>
          <p:cNvPr id="3" name="">
            <a:extLst xmlns:a="http://schemas.openxmlformats.org/drawingml/2006/main">
              <a:ext uri="{FF2B5EF4-FFF2-40B4-BE49-F238E27FC236}">
                <a16:creationId xmlns:a16="http://schemas.microsoft.com/office/drawing/2014/main" id="{A372F8A3-1F8E-418C-8C2B-77A4DD75CF25}"/>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B04B5BC-EF55-40B7-93B1-039772913C0D}"/>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FC603726-D889-495F-9533-57A542F7E0D9}"/>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112</a:t>
            </a:r>
          </a:p>
        </p:txBody>
      </p:sp>
      <p:sp>
        <p:nvSpPr>
          <p:cNvPr id="6" name="">
            <a:extLst xmlns:a="http://schemas.openxmlformats.org/drawingml/2006/main">
              <a:ext uri="{FF2B5EF4-FFF2-40B4-BE49-F238E27FC236}">
                <a16:creationId xmlns:a16="http://schemas.microsoft.com/office/drawing/2014/main" id="{095FD8A5-B6DF-43E6-9CC2-E7A27AF5048C}"/>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Albert API 공식 OpenAPI 문서</a:t>
            </a:r>
          </a:p>
        </p:txBody>
      </p:sp>
      <p:sp>
        <p:nvSpPr>
          <p:cNvPr id="7" name="">
            <a:extLst xmlns:a="http://schemas.openxmlformats.org/drawingml/2006/main">
              <a:ext uri="{FF2B5EF4-FFF2-40B4-BE49-F238E27FC236}">
                <a16:creationId xmlns:a16="http://schemas.microsoft.com/office/drawing/2014/main" id="{82A4392A-60A3-43E2-AB5D-8686A2F31ED3}"/>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7261592B-46BC-42B4-AC8F-E5C622F5A32B}"/>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D50E1164-745D-48D4-BCAF-FC7E5DE6A60E}"/>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기관 앱 API</a:t>
            </a:r>
          </a:p>
        </p:txBody>
      </p:sp>
      <p:sp>
        <p:nvSpPr>
          <p:cNvPr id="10" name="">
            <a:extLst xmlns:a="http://schemas.openxmlformats.org/drawingml/2006/main">
              <a:ext uri="{FF2B5EF4-FFF2-40B4-BE49-F238E27FC236}">
                <a16:creationId xmlns:a16="http://schemas.microsoft.com/office/drawing/2014/main" id="{092C1963-4474-4F84-A5B1-BB984E6C4502}"/>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2C33449C-0805-4ECB-8CB4-DDA2C47CC0F7}"/>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0A61EB35-0E7A-4B02-909F-99938D77D534}"/>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Bearer 인증</a:t>
            </a:r>
          </a:p>
        </p:txBody>
      </p:sp>
      <p:sp>
        <p:nvSpPr>
          <p:cNvPr id="13" name="">
            <a:extLst xmlns:a="http://schemas.openxmlformats.org/drawingml/2006/main">
              <a:ext uri="{FF2B5EF4-FFF2-40B4-BE49-F238E27FC236}">
                <a16:creationId xmlns:a16="http://schemas.microsoft.com/office/drawing/2014/main" id="{78E4A2C0-F47E-4C1F-8822-1E9F8AF83A21}"/>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6AD2757E-C588-4B5E-907E-FC952AE721D0}"/>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C912431B-BC62-40BA-BFC0-0E795BE9698F}"/>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모델·기능 선택</a:t>
            </a:r>
          </a:p>
        </p:txBody>
      </p:sp>
      <p:sp>
        <p:nvSpPr>
          <p:cNvPr id="16" name="">
            <a:extLst xmlns:a="http://schemas.openxmlformats.org/drawingml/2006/main">
              <a:ext uri="{FF2B5EF4-FFF2-40B4-BE49-F238E27FC236}">
                <a16:creationId xmlns:a16="http://schemas.microsoft.com/office/drawing/2014/main" id="{F5AF10EF-F21E-42A6-BF34-BFC7F58F996E}"/>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92ADDBB0-7323-4502-9D48-2EB099718AB0}"/>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2E89F640-DF42-4459-9150-3B23EE459DCF}"/>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검색·OCR·전사</a:t>
            </a:r>
          </a:p>
        </p:txBody>
      </p:sp>
      <p:sp>
        <p:nvSpPr>
          <p:cNvPr id="19" name="">
            <a:extLst xmlns:a="http://schemas.openxmlformats.org/drawingml/2006/main">
              <a:ext uri="{FF2B5EF4-FFF2-40B4-BE49-F238E27FC236}">
                <a16:creationId xmlns:a16="http://schemas.microsoft.com/office/drawing/2014/main" id="{B0704840-5770-4783-A567-A2F593692CCE}"/>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793EA6E0-99B4-4191-9D73-A05C960086FE}"/>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7960785B-AC0A-4AB9-B604-B7DAF1480EB4}"/>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응답·오류 검사</a:t>
            </a:r>
          </a:p>
        </p:txBody>
      </p:sp>
      <p:sp>
        <p:nvSpPr>
          <p:cNvPr id="22" name="">
            <a:extLst xmlns:a="http://schemas.openxmlformats.org/drawingml/2006/main">
              <a:ext uri="{FF2B5EF4-FFF2-40B4-BE49-F238E27FC236}">
                <a16:creationId xmlns:a16="http://schemas.microsoft.com/office/drawing/2014/main" id="{35969557-351E-490F-A014-F47B5E13AED8}"/>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5472D18E-8873-44B3-9369-CB0A5B541A3D}"/>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B91BABC7-69BA-4407-9F19-47BC09FBF37C}"/>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앱 후처리</a:t>
            </a:r>
          </a:p>
        </p:txBody>
      </p:sp>
      <p:sp>
        <p:nvSpPr>
          <p:cNvPr id="25" name="">
            <a:extLst xmlns:a="http://schemas.openxmlformats.org/drawingml/2006/main">
              <a:ext uri="{FF2B5EF4-FFF2-40B4-BE49-F238E27FC236}">
                <a16:creationId xmlns:a16="http://schemas.microsoft.com/office/drawing/2014/main" id="{09D599DA-6C4B-4EC4-ACBF-00BD01353762}"/>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4B4D1A0A-631B-4E99-858F-F948F7A32858}"/>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C3F358C9-1A8D-4E35-88FB-1FE3BC69B977}"/>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구조화 API 결과</a:t>
            </a:r>
          </a:p>
        </p:txBody>
      </p:sp>
      <p:sp>
        <p:nvSpPr>
          <p:cNvPr id="28" name="">
            <a:extLst xmlns:a="http://schemas.openxmlformats.org/drawingml/2006/main">
              <a:ext uri="{FF2B5EF4-FFF2-40B4-BE49-F238E27FC236}">
                <a16:creationId xmlns:a16="http://schemas.microsoft.com/office/drawing/2014/main" id="{9A32EECD-E8CD-4ADA-B0A8-4A06146C0A79}"/>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6625FD7A-D776-421C-9C9D-332BD2817537}"/>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097859E7-A2F7-42C4-B39B-B3CF427C6EF1}"/>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상태·지표 수집</a:t>
            </a:r>
          </a:p>
        </p:txBody>
      </p:sp>
      <p:sp>
        <p:nvSpPr>
          <p:cNvPr id="31" name="">
            <a:extLst xmlns:a="http://schemas.openxmlformats.org/drawingml/2006/main">
              <a:ext uri="{FF2B5EF4-FFF2-40B4-BE49-F238E27FC236}">
                <a16:creationId xmlns:a16="http://schemas.microsoft.com/office/drawing/2014/main" id="{7C5EC973-933E-42D9-9395-BE7F677B7A4E}"/>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71731CC0-AF52-470F-A723-BD9BE074C1C5}"/>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FCF969CF-B2FA-422D-B5F8-3BF1AB776350}"/>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문서·음성·질의</a:t>
            </a:r>
          </a:p>
        </p:txBody>
      </p:sp>
      <p:sp>
        <p:nvSpPr>
          <p:cNvPr id="34" name="">
            <a:extLst xmlns:a="http://schemas.openxmlformats.org/drawingml/2006/main">
              <a:ext uri="{FF2B5EF4-FFF2-40B4-BE49-F238E27FC236}">
                <a16:creationId xmlns:a16="http://schemas.microsoft.com/office/drawing/2014/main" id="{0824A76C-335C-4212-90FA-6F4D84EE27EF}"/>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CD6AC95A-A084-433A-B9C0-82D11E654C0C}"/>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C38BEF79-8936-43CD-976C-9B5C7B2BA85E}"/>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파일·인자 정리</a:t>
            </a:r>
          </a:p>
        </p:txBody>
      </p:sp>
      <p:sp>
        <p:nvSpPr>
          <p:cNvPr id="37" name="">
            <a:extLst xmlns:a="http://schemas.openxmlformats.org/drawingml/2006/main">
              <a:ext uri="{FF2B5EF4-FFF2-40B4-BE49-F238E27FC236}">
                <a16:creationId xmlns:a16="http://schemas.microsoft.com/office/drawing/2014/main" id="{5E8BCC09-0036-4268-B5D2-74A07891C9D5}"/>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2624ACAB-2F57-44C2-9C8D-3DE035EF6E95}"/>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EFCC9170-7AB4-46C5-B8AB-AD5638B68CDC}"/>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처리·사용 기록</a:t>
            </a:r>
          </a:p>
        </p:txBody>
      </p:sp>
      <p:sp>
        <p:nvSpPr>
          <p:cNvPr id="40" name="">
            <a:extLst xmlns:a="http://schemas.openxmlformats.org/drawingml/2006/main">
              <a:ext uri="{FF2B5EF4-FFF2-40B4-BE49-F238E27FC236}">
                <a16:creationId xmlns:a16="http://schemas.microsoft.com/office/drawing/2014/main" id="{4EF1A24A-7D42-4A9F-A94D-2DB3102CE5C3}"/>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100D849A-F012-484E-8737-672B42A8A47A}"/>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217E0CDC-B8E6-4E2B-8481-EFEE7B5B416E}"/>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API 계약·한도</a:t>
            </a:r>
          </a:p>
        </p:txBody>
      </p:sp>
      <p:sp>
        <p:nvSpPr>
          <p:cNvPr id="52" name="">
            <a:extLst xmlns:a="http://schemas.openxmlformats.org/drawingml/2006/main">
              <a:ext uri="{FF2B5EF4-FFF2-40B4-BE49-F238E27FC236}">
                <a16:creationId xmlns:a16="http://schemas.microsoft.com/office/drawing/2014/main" id="{4A1AB4CD-8E89-4720-BDCE-2AE1E47E4BC7}"/>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1815855702"/>
      </p:ext>
    </p:extLst>
  </p:cSld>
</p:sld>
</file>

<file path=ppt/slides/slide11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75CE4980-F864-4649-ABFC-36D981C8B7A2}"/>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PF06 / 논리 인터페이스·복구 설계</a:t>
            </a:r>
          </a:p>
        </p:txBody>
      </p:sp>
      <p:sp>
        <p:nvSpPr>
          <p:cNvPr id="2" name="">
            <a:extLst xmlns:a="http://schemas.openxmlformats.org/drawingml/2006/main">
              <a:ext uri="{FF2B5EF4-FFF2-40B4-BE49-F238E27FC236}">
                <a16:creationId xmlns:a16="http://schemas.microsoft.com/office/drawing/2014/main" id="{4B201314-F61D-449A-9E22-E6FD268B9EF0}"/>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프랑스 Albert API · 데이터와 예외 처리</a:t>
            </a:r>
          </a:p>
        </p:txBody>
      </p:sp>
      <p:sp>
        <p:nvSpPr>
          <p:cNvPr id="3" name="">
            <a:extLst xmlns:a="http://schemas.openxmlformats.org/drawingml/2006/main">
              <a:ext uri="{FF2B5EF4-FFF2-40B4-BE49-F238E27FC236}">
                <a16:creationId xmlns:a16="http://schemas.microsoft.com/office/drawing/2014/main" id="{FDF2F49A-594A-4BC3-A850-994056772916}"/>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82F0A30-1B86-49EB-8CA1-26341FDEE0B1}"/>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0A47253A-CD7B-46D0-9C3B-6659EF5434D5}"/>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113</a:t>
            </a:r>
          </a:p>
        </p:txBody>
      </p:sp>
      <p:sp>
        <p:nvSpPr>
          <p:cNvPr id="6" name="">
            <a:extLst xmlns:a="http://schemas.openxmlformats.org/drawingml/2006/main">
              <a:ext uri="{FF2B5EF4-FFF2-40B4-BE49-F238E27FC236}">
                <a16:creationId xmlns:a16="http://schemas.microsoft.com/office/drawing/2014/main" id="{790D5C10-572D-4CD4-A85C-68F2A538BBF8}"/>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DB1A6116-1CD3-4C7A-98E6-B75A9FAB1BBA}"/>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54E04041-47A1-4464-9CDC-0F73D65442A2}"/>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FC486CE4-E7AE-40A2-8FF8-10ADF97FE00B}"/>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앱별 인증과 요청 종류·용량 확인</a:t>
            </a:r>
          </a:p>
        </p:txBody>
      </p:sp>
      <p:sp>
        <p:nvSpPr>
          <p:cNvPr id="10" name="">
            <a:extLst xmlns:a="http://schemas.openxmlformats.org/drawingml/2006/main">
              <a:ext uri="{FF2B5EF4-FFF2-40B4-BE49-F238E27FC236}">
                <a16:creationId xmlns:a16="http://schemas.microsoft.com/office/drawing/2014/main" id="{C111D654-F3CC-4980-BD9C-0E9C30ED071D}"/>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3D4110B-DA03-4A59-A849-3F8B043EB0E7}"/>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C9DAA4F7-B7CF-404F-A74B-D49DF05E1504}"/>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API 요청</a:t>
            </a:r>
          </a:p>
        </p:txBody>
      </p:sp>
      <p:sp>
        <p:nvSpPr>
          <p:cNvPr id="13" name="">
            <a:extLst xmlns:a="http://schemas.openxmlformats.org/drawingml/2006/main">
              <a:ext uri="{FF2B5EF4-FFF2-40B4-BE49-F238E27FC236}">
                <a16:creationId xmlns:a16="http://schemas.microsoft.com/office/drawing/2014/main" id="{363AFB23-DDD4-48E9-BE50-F59E1869E911}"/>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3996128-5EA8-4930-919A-02D5324C67E8}"/>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CB64E3EA-FFF5-4AA9-BFE2-92D049F976A9}"/>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인증·호출 인자</a:t>
            </a:r>
          </a:p>
        </p:txBody>
      </p:sp>
      <p:sp>
        <p:nvSpPr>
          <p:cNvPr id="16" name="">
            <a:extLst xmlns:a="http://schemas.openxmlformats.org/drawingml/2006/main">
              <a:ext uri="{FF2B5EF4-FFF2-40B4-BE49-F238E27FC236}">
                <a16:creationId xmlns:a16="http://schemas.microsoft.com/office/drawing/2014/main" id="{2A954711-3F5B-4B88-9C36-5A9D314AC77F}"/>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68711C8-E882-4BCD-BF1A-78E365720499}"/>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F0B8E76A-0530-4555-A84F-4434912303C0}"/>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공통 처리 결과</a:t>
            </a:r>
          </a:p>
        </p:txBody>
      </p:sp>
      <p:sp>
        <p:nvSpPr>
          <p:cNvPr id="19" name="">
            <a:extLst xmlns:a="http://schemas.openxmlformats.org/drawingml/2006/main">
              <a:ext uri="{FF2B5EF4-FFF2-40B4-BE49-F238E27FC236}">
                <a16:creationId xmlns:a16="http://schemas.microsoft.com/office/drawing/2014/main" id="{3FD8E34F-A1B6-4573-91B2-AE8C6730751B}"/>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C8D2F4C-E388-474A-9C87-1B9F8316AC49}"/>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1C84F9B6-131D-45C2-B272-53A8F2394529}"/>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공통 처리 결과</a:t>
            </a:r>
          </a:p>
        </p:txBody>
      </p:sp>
      <p:sp>
        <p:nvSpPr>
          <p:cNvPr id="22" name="">
            <a:extLst xmlns:a="http://schemas.openxmlformats.org/drawingml/2006/main">
              <a:ext uri="{FF2B5EF4-FFF2-40B4-BE49-F238E27FC236}">
                <a16:creationId xmlns:a16="http://schemas.microsoft.com/office/drawing/2014/main" id="{13D5A203-8248-43F4-85D1-4D568BFB7FC4}"/>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0F23605-A8A0-4293-B256-6C760D87BD38}"/>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039FA711-9966-48EC-A627-21154D7ADFE1}"/>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사용량·업무 결과</a:t>
            </a:r>
          </a:p>
        </p:txBody>
      </p:sp>
      <p:sp>
        <p:nvSpPr>
          <p:cNvPr id="25" name="">
            <a:extLst xmlns:a="http://schemas.openxmlformats.org/drawingml/2006/main">
              <a:ext uri="{FF2B5EF4-FFF2-40B4-BE49-F238E27FC236}">
                <a16:creationId xmlns:a16="http://schemas.microsoft.com/office/drawing/2014/main" id="{3FD96F41-E5BB-413A-A575-D16BF2238554}"/>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C28CCE92-5E20-4C62-A1A4-F375BC983BB2}"/>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잘못된 파일·과도한 요청·일부 단계 실패</a:t>
            </a:r>
          </a:p>
        </p:txBody>
      </p:sp>
      <p:sp>
        <p:nvSpPr>
          <p:cNvPr id="27" name="">
            <a:extLst xmlns:a="http://schemas.openxmlformats.org/drawingml/2006/main">
              <a:ext uri="{FF2B5EF4-FFF2-40B4-BE49-F238E27FC236}">
                <a16:creationId xmlns:a16="http://schemas.microsoft.com/office/drawing/2014/main" id="{4082E009-F675-48BC-89D7-F280BEDEC34F}"/>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1F02B3F5-375F-4DBB-80DB-1E95238A4862}"/>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호출 계약·오류·단가·대체 경로</a:t>
            </a:r>
          </a:p>
        </p:txBody>
      </p:sp>
      <p:sp>
        <p:nvSpPr>
          <p:cNvPr id="29" name="">
            <a:extLst xmlns:a="http://schemas.openxmlformats.org/drawingml/2006/main">
              <a:ext uri="{FF2B5EF4-FFF2-40B4-BE49-F238E27FC236}">
                <a16:creationId xmlns:a16="http://schemas.microsoft.com/office/drawing/2014/main" id="{320095DC-08B2-4FCD-9380-00B4EDA0B72D}"/>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729ED22A-D042-4562-A828-1915F0EE3841}"/>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호출 실패·처리시간·사용량·품질 관측</a:t>
            </a:r>
          </a:p>
        </p:txBody>
      </p:sp>
      <p:sp>
        <p:nvSpPr>
          <p:cNvPr id="31" name="">
            <a:extLst xmlns:a="http://schemas.openxmlformats.org/drawingml/2006/main">
              <a:ext uri="{FF2B5EF4-FFF2-40B4-BE49-F238E27FC236}">
                <a16:creationId xmlns:a16="http://schemas.microsoft.com/office/drawing/2014/main" id="{65088464-0C08-415E-889C-7A21CA32F391}"/>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CE8FB8F2-63EB-4985-A83D-95F12586412D}"/>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요청 ID별 API 입력·결과·오류·재시도 대사</a:t>
            </a:r>
          </a:p>
        </p:txBody>
      </p:sp>
    </p:spTree>
    <p:extLst>
      <p:ext uri="{BB962C8B-B14F-4D97-AF65-F5344CB8AC3E}">
        <p14:creationId xmlns:p14="http://schemas.microsoft.com/office/powerpoint/2010/main" val="1212451226"/>
      </p:ext>
    </p:extLst>
  </p:cSld>
</p:sld>
</file>

<file path=ppt/slides/slide11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A09BBF7-6980-44E4-932F-A813274BEE9F}"/>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PF06 / CCK 비교·재현 시험 설계</a:t>
            </a:r>
          </a:p>
        </p:txBody>
      </p:sp>
      <p:sp>
        <p:nvSpPr>
          <p:cNvPr id="2" name="">
            <a:extLst xmlns:a="http://schemas.openxmlformats.org/drawingml/2006/main">
              <a:ext uri="{FF2B5EF4-FFF2-40B4-BE49-F238E27FC236}">
                <a16:creationId xmlns:a16="http://schemas.microsoft.com/office/drawing/2014/main" id="{C1EF52F3-8BEF-4610-8832-CBB37A80CF30}"/>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프랑스 Albert API · 벤치마킹</a:t>
            </a:r>
          </a:p>
        </p:txBody>
      </p:sp>
      <p:sp>
        <p:nvSpPr>
          <p:cNvPr id="3" name="">
            <a:extLst xmlns:a="http://schemas.openxmlformats.org/drawingml/2006/main">
              <a:ext uri="{FF2B5EF4-FFF2-40B4-BE49-F238E27FC236}">
                <a16:creationId xmlns:a16="http://schemas.microsoft.com/office/drawing/2014/main" id="{7A7AF797-AC7B-4277-B7AA-74092559D69E}"/>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DCEA498-4959-433D-9DAF-65BF18E259B5}"/>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D2978AD1-B693-4B8A-A030-B620A6828674}"/>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114</a:t>
            </a:r>
          </a:p>
        </p:txBody>
      </p:sp>
      <p:sp>
        <p:nvSpPr>
          <p:cNvPr id="6" name="">
            <a:extLst xmlns:a="http://schemas.openxmlformats.org/drawingml/2006/main">
              <a:ext uri="{FF2B5EF4-FFF2-40B4-BE49-F238E27FC236}">
                <a16:creationId xmlns:a16="http://schemas.microsoft.com/office/drawing/2014/main" id="{58181DFE-651D-4BA8-9B7B-F9A42EA5C872}"/>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FC248C04-EBB1-4F91-899C-5575EE0D2D2E}"/>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모델·검색·문서·음성 기능의 API화</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프로젝트별 사용량 관리</a:t>
            </a:r>
          </a:p>
        </p:txBody>
      </p:sp>
      <p:sp>
        <p:nvSpPr>
          <p:cNvPr id="8" name="">
            <a:extLst xmlns:a="http://schemas.openxmlformats.org/drawingml/2006/main">
              <a:ext uri="{FF2B5EF4-FFF2-40B4-BE49-F238E27FC236}">
                <a16:creationId xmlns:a16="http://schemas.microsoft.com/office/drawing/2014/main" id="{9F06093C-4838-4B2D-AA74-E01E86630D9A}"/>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48D29913-7E71-4586-8CD5-5BF819C09826}"/>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공통 API 의존·장애 영향</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기관별 정책을 공통 기능으로 대체</a:t>
            </a:r>
          </a:p>
        </p:txBody>
      </p:sp>
      <p:sp>
        <p:nvSpPr>
          <p:cNvPr id="10" name="">
            <a:extLst xmlns:a="http://schemas.openxmlformats.org/drawingml/2006/main">
              <a:ext uri="{FF2B5EF4-FFF2-40B4-BE49-F238E27FC236}">
                <a16:creationId xmlns:a16="http://schemas.microsoft.com/office/drawing/2014/main" id="{7824C59A-6859-4C7C-8ADC-B216C250CB84}"/>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A75836F4-CFE8-4596-A783-D0D4299C5103}"/>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호출 계약·오류·단가·대체 경로</a:t>
            </a:r>
          </a:p>
        </p:txBody>
      </p:sp>
      <p:sp>
        <p:nvSpPr>
          <p:cNvPr id="12" name="">
            <a:extLst xmlns:a="http://schemas.openxmlformats.org/drawingml/2006/main">
              <a:ext uri="{FF2B5EF4-FFF2-40B4-BE49-F238E27FC236}">
                <a16:creationId xmlns:a16="http://schemas.microsoft.com/office/drawing/2014/main" id="{1C253E14-11C1-4F1C-8DF2-F970512BDDC8}"/>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B6FC9BD2-7376-4B01-95CC-9CCD0A6B0EC2}"/>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기관 앱이 문서 OCR 후 검색·요약 API를 호출</a:t>
            </a:r>
          </a:p>
        </p:txBody>
      </p:sp>
      <p:sp>
        <p:nvSpPr>
          <p:cNvPr id="14" name="">
            <a:extLst xmlns:a="http://schemas.openxmlformats.org/drawingml/2006/main">
              <a:ext uri="{FF2B5EF4-FFF2-40B4-BE49-F238E27FC236}">
                <a16:creationId xmlns:a16="http://schemas.microsoft.com/office/drawing/2014/main" id="{D1111DEB-434C-494A-B6CE-FBE71F137D1E}"/>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F27407C6-1DA1-4A45-9E4C-BECABB1E8B46}"/>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잘못된 파일·과도한 요청·일부 단계 실패</a:t>
            </a:r>
          </a:p>
        </p:txBody>
      </p:sp>
      <p:sp>
        <p:nvSpPr>
          <p:cNvPr id="16" name="">
            <a:extLst xmlns:a="http://schemas.openxmlformats.org/drawingml/2006/main">
              <a:ext uri="{FF2B5EF4-FFF2-40B4-BE49-F238E27FC236}">
                <a16:creationId xmlns:a16="http://schemas.microsoft.com/office/drawing/2014/main" id="{A5F9B4BE-480A-4CF6-AF19-293FE984850B}"/>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CE953395-C779-460F-9BD2-A68CB1808188}"/>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요청 ID별 API 입력·결과·오류·재시도 대사</a:t>
            </a:r>
          </a:p>
        </p:txBody>
      </p:sp>
    </p:spTree>
    <p:extLst>
      <p:ext uri="{BB962C8B-B14F-4D97-AF65-F5344CB8AC3E}">
        <p14:creationId xmlns:p14="http://schemas.microsoft.com/office/powerpoint/2010/main" val="1071959350"/>
      </p:ext>
    </p:extLst>
  </p:cSld>
</p:sld>
</file>

<file path=ppt/slides/slide11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962F9EE-7DAA-4FD3-B0CF-8496CE67F27B}"/>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PF07 / 다기관 안내 운영 / 해외</a:t>
            </a:r>
          </a:p>
        </p:txBody>
      </p:sp>
      <p:sp>
        <p:nvSpPr>
          <p:cNvPr id="2" name="">
            <a:extLst xmlns:a="http://schemas.openxmlformats.org/drawingml/2006/main">
              <a:ext uri="{FF2B5EF4-FFF2-40B4-BE49-F238E27FC236}">
                <a16:creationId xmlns:a16="http://schemas.microsoft.com/office/drawing/2014/main" id="{BE3A96BB-BE9D-43E9-9A26-27BD27EA0424}"/>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에스토니아 Bürokratt</a:t>
            </a:r>
          </a:p>
        </p:txBody>
      </p:sp>
      <p:sp>
        <p:nvSpPr>
          <p:cNvPr id="3" name="">
            <a:extLst xmlns:a="http://schemas.openxmlformats.org/drawingml/2006/main">
              <a:ext uri="{FF2B5EF4-FFF2-40B4-BE49-F238E27FC236}">
                <a16:creationId xmlns:a16="http://schemas.microsoft.com/office/drawing/2014/main" id="{2B69421A-432B-4EA3-93E1-92CD2D92EB5D}"/>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77E75C0-76EB-4F06-9D50-E5E4A85CA9FB}"/>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9B343340-2F85-4932-BBCB-E598535B147C}"/>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115</a:t>
            </a:r>
          </a:p>
        </p:txBody>
      </p:sp>
      <p:sp>
        <p:nvSpPr>
          <p:cNvPr id="6" name="">
            <a:extLst xmlns:a="http://schemas.openxmlformats.org/drawingml/2006/main">
              <a:ext uri="{FF2B5EF4-FFF2-40B4-BE49-F238E27FC236}">
                <a16:creationId xmlns:a16="http://schemas.microsoft.com/office/drawing/2014/main" id="{D1B6AC71-2FA7-461C-9C6A-2B3E0500FC28}"/>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BE08F732-60CB-42D5-ABAE-78610B200C52}"/>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에스토니아 Bürokratt의 기관 간 대화형 안내·상담 연</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계 사례. 질문이 한 기관 안에서 해결되지 않는 경우 소</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관 기관과 상담 경로를 연결하는 서비스 목표.</a:t>
            </a:r>
          </a:p>
        </p:txBody>
      </p:sp>
      <p:sp>
        <p:nvSpPr>
          <p:cNvPr id="8" name="">
            <a:extLst xmlns:a="http://schemas.openxmlformats.org/drawingml/2006/main">
              <a:ext uri="{FF2B5EF4-FFF2-40B4-BE49-F238E27FC236}">
                <a16:creationId xmlns:a16="http://schemas.microsoft.com/office/drawing/2014/main" id="{E7DCF4FD-77E8-4F71-9C83-6EEBF9B6BC67}"/>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E1CB7DD6-C69E-4061-9785-A562473DB010}"/>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공개 Common Knowledge 구성은 수집·정제·파일 처</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리·스케줄러·내보내기와 Ruuter·Resql·저장소로 구성</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된 지식 기반 영역. 수집 설정에서 원시 자료·메타데이터</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저장, 텍스트 정제와 처리 상태 관리로 이어지는 흐름이</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며 전체 상담 엔진과는 별도 범위.</a:t>
            </a:r>
          </a:p>
        </p:txBody>
      </p:sp>
      <p:sp>
        <p:nvSpPr>
          <p:cNvPr id="10" name="">
            <a:extLst xmlns:a="http://schemas.openxmlformats.org/drawingml/2006/main">
              <a:ext uri="{FF2B5EF4-FFF2-40B4-BE49-F238E27FC236}">
                <a16:creationId xmlns:a16="http://schemas.microsoft.com/office/drawing/2014/main" id="{1AA4E153-B980-44BD-AE5A-049F075C156C}"/>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4DD1EE09-01EE-43F6-AF6A-D3868C45236D}"/>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TS 대국민 업무에서는 답변 생성보다 관할 부서 인계와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접수 완료까지의 책임 연결이 중요. 기관 지식 갱신 주기</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와 상담 수신 여부를 관리하고 이관 실패·담당 부서 변경·</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중복 접수의 복구 경로를 검수 대상으로 설정.</a:t>
            </a:r>
          </a:p>
        </p:txBody>
      </p:sp>
      <p:sp>
        <p:nvSpPr>
          <p:cNvPr id="12" name="">
            <a:extLst xmlns:a="http://schemas.openxmlformats.org/drawingml/2006/main">
              <a:ext uri="{FF2B5EF4-FFF2-40B4-BE49-F238E27FC236}">
                <a16:creationId xmlns:a16="http://schemas.microsoft.com/office/drawing/2014/main" id="{6BEFF741-DE2C-4D64-BBBA-829CE8A37111}"/>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08AE52E7-9C2A-4A6D-927D-F8774E8A753B}"/>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관할·복수부서·개인정보 경계 및 인계 수락 상태</a:t>
            </a:r>
          </a:p>
        </p:txBody>
      </p:sp>
      <p:sp>
        <p:nvSpPr>
          <p:cNvPr id="14" name="">
            <a:extLst xmlns:a="http://schemas.openxmlformats.org/drawingml/2006/main">
              <a:ext uri="{FF2B5EF4-FFF2-40B4-BE49-F238E27FC236}">
                <a16:creationId xmlns:a16="http://schemas.microsoft.com/office/drawing/2014/main" id="{3CDCD827-064A-46A0-BBC3-4090551EF1BC}"/>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E17A7CDE-6B54-4E45-BD52-8C1466E45714}"/>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미해결·관할외·복수부서 문의의 상담 전환 완료 검증</a:t>
            </a:r>
          </a:p>
        </p:txBody>
      </p:sp>
      <p:sp>
        <p:nvSpPr>
          <p:cNvPr id="16" name="">
            <a:extLst xmlns:a="http://schemas.openxmlformats.org/drawingml/2006/main">
              <a:ext uri="{FF2B5EF4-FFF2-40B4-BE49-F238E27FC236}">
                <a16:creationId xmlns:a16="http://schemas.microsoft.com/office/drawing/2014/main" id="{DBAA93E3-0235-4CC4-8C62-6339E10A2EA3}"/>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DD6F9AC9-B2A0-42C9-B3DA-D7D138BA88DB}"/>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TS 업무 완료시간·오류·추가 구축 공수의 비교 평가</a:t>
            </a:r>
          </a:p>
        </p:txBody>
      </p:sp>
      <p:sp>
        <p:nvSpPr>
          <p:cNvPr id="18" name="">
            <a:extLst xmlns:a="http://schemas.openxmlformats.org/drawingml/2006/main">
              <a:ext uri="{FF2B5EF4-FFF2-40B4-BE49-F238E27FC236}">
                <a16:creationId xmlns:a16="http://schemas.microsoft.com/office/drawing/2014/main" id="{74FA01E1-4790-4220-A0DF-DD4637965338}"/>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운영기관 목록 확인 · 자율 행정 처리나 최신 LLM 스택의 근거와 구분</a:t>
            </a:r>
          </a:p>
        </p:txBody>
      </p:sp>
    </p:spTree>
    <p:extLst>
      <p:ext uri="{BB962C8B-B14F-4D97-AF65-F5344CB8AC3E}">
        <p14:creationId xmlns:p14="http://schemas.microsoft.com/office/powerpoint/2010/main" val="1860263985"/>
      </p:ext>
    </p:extLst>
  </p:cSld>
</p:sld>
</file>

<file path=ppt/slides/slide116.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2ADD95CA-ECDB-47B3-B903-DFFB4B59B606}"/>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A42703F0-A136-407C-B111-782A077EF3C7}"/>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4A966884-BFD8-479E-AB2E-A4A4A8984D33}"/>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6B621F84-8319-4667-816A-A0F436F22821}"/>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FED89AAE-06B9-46F1-9E58-A285A13BF6EB}"/>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6210FAF8-E56C-49C9-9D1C-BAEA03FF016A}"/>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C900F8D0-5CED-4698-9642-9A13CF11BF4D}"/>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8E013E1A-6945-4EE4-9DE1-F0C16911EEBC}"/>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61BE7837-3F58-4F18-A55D-20E70F4AD516}"/>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57B6C6BE-672C-45D0-8541-697ACC679A49}"/>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PF07 / CCK 세부 재구성 · 논리 서비스 설계</a:t>
            </a:r>
          </a:p>
        </p:txBody>
      </p:sp>
      <p:sp>
        <p:nvSpPr>
          <p:cNvPr id="2" name="">
            <a:extLst xmlns:a="http://schemas.openxmlformats.org/drawingml/2006/main">
              <a:ext uri="{FF2B5EF4-FFF2-40B4-BE49-F238E27FC236}">
                <a16:creationId xmlns:a16="http://schemas.microsoft.com/office/drawing/2014/main" id="{887933B8-B0B5-4F06-8536-BCB084CA39DA}"/>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에스토니아 Bürokratt · 세부 서비스 구조</a:t>
            </a:r>
          </a:p>
        </p:txBody>
      </p:sp>
      <p:sp>
        <p:nvSpPr>
          <p:cNvPr id="3" name="">
            <a:extLst xmlns:a="http://schemas.openxmlformats.org/drawingml/2006/main">
              <a:ext uri="{FF2B5EF4-FFF2-40B4-BE49-F238E27FC236}">
                <a16:creationId xmlns:a16="http://schemas.microsoft.com/office/drawing/2014/main" id="{892B214E-2770-45E1-9B4F-1F65786AAFF0}"/>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CA5FC8F-630E-45F0-B7A1-92EFD3E9D0B2}"/>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5A598536-24BD-456F-A2C3-31A15CAA3444}"/>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116</a:t>
            </a:r>
          </a:p>
        </p:txBody>
      </p:sp>
      <p:sp>
        <p:nvSpPr>
          <p:cNvPr id="6" name="">
            <a:extLst xmlns:a="http://schemas.openxmlformats.org/drawingml/2006/main">
              <a:ext uri="{FF2B5EF4-FFF2-40B4-BE49-F238E27FC236}">
                <a16:creationId xmlns:a16="http://schemas.microsoft.com/office/drawing/2014/main" id="{687F7EFD-3F77-4315-9819-4FEE5CD46FE1}"/>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Common-Knowledge ARCHITECTURE.md</a:t>
            </a:r>
          </a:p>
        </p:txBody>
      </p:sp>
      <p:sp>
        <p:nvSpPr>
          <p:cNvPr id="7" name="">
            <a:extLst xmlns:a="http://schemas.openxmlformats.org/drawingml/2006/main">
              <a:ext uri="{FF2B5EF4-FFF2-40B4-BE49-F238E27FC236}">
                <a16:creationId xmlns:a16="http://schemas.microsoft.com/office/drawing/2014/main" id="{DCDF2B9B-B104-4FC2-8A5D-6A224F35076D}"/>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E4D6D991-9F29-4A9E-8A99-CCD6CF2F0CD7}"/>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0D6D3462-B444-4207-AA9F-6F1D4A9DB6B8}"/>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국민 대화 접점</a:t>
            </a:r>
          </a:p>
        </p:txBody>
      </p:sp>
      <p:sp>
        <p:nvSpPr>
          <p:cNvPr id="10" name="">
            <a:extLst xmlns:a="http://schemas.openxmlformats.org/drawingml/2006/main">
              <a:ext uri="{FF2B5EF4-FFF2-40B4-BE49-F238E27FC236}">
                <a16:creationId xmlns:a16="http://schemas.microsoft.com/office/drawing/2014/main" id="{339B80B4-FF7F-49ED-97F9-5212AE84F062}"/>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0152D84E-B188-4D4D-8DE1-6901AD2F1139}"/>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D122D4CF-C382-44B9-9D72-61E08F15E305}"/>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의도·소관기관</a:t>
            </a:r>
          </a:p>
        </p:txBody>
      </p:sp>
      <p:sp>
        <p:nvSpPr>
          <p:cNvPr id="13" name="">
            <a:extLst xmlns:a="http://schemas.openxmlformats.org/drawingml/2006/main">
              <a:ext uri="{FF2B5EF4-FFF2-40B4-BE49-F238E27FC236}">
                <a16:creationId xmlns:a16="http://schemas.microsoft.com/office/drawing/2014/main" id="{6AE144C0-E9D0-4E0E-AE76-B1E826E44E35}"/>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524B5432-0DD8-4C8C-8641-48B91C6BB842}"/>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91C6D97B-1E78-48D1-8975-8CBB7B91025D}"/>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기관 지식 조회</a:t>
            </a:r>
          </a:p>
        </p:txBody>
      </p:sp>
      <p:sp>
        <p:nvSpPr>
          <p:cNvPr id="16" name="">
            <a:extLst xmlns:a="http://schemas.openxmlformats.org/drawingml/2006/main">
              <a:ext uri="{FF2B5EF4-FFF2-40B4-BE49-F238E27FC236}">
                <a16:creationId xmlns:a16="http://schemas.microsoft.com/office/drawing/2014/main" id="{41D4D0FC-4C71-4C6B-88FC-37CCCD7FEF89}"/>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71D0397E-41E3-4399-B8EB-5A9037B7205F}"/>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4873B0C8-CB18-40E4-9952-0CEA8DD8FD05}"/>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공동 대화 처리</a:t>
            </a:r>
          </a:p>
        </p:txBody>
      </p:sp>
      <p:sp>
        <p:nvSpPr>
          <p:cNvPr id="19" name="">
            <a:extLst xmlns:a="http://schemas.openxmlformats.org/drawingml/2006/main">
              <a:ext uri="{FF2B5EF4-FFF2-40B4-BE49-F238E27FC236}">
                <a16:creationId xmlns:a16="http://schemas.microsoft.com/office/drawing/2014/main" id="{08718406-947C-47E4-A972-BBCB9166255E}"/>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40773CC3-97E3-4D97-BD14-D00599EDAAEB}"/>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BDC09AD4-E556-48B6-A5E4-393B50C4575E}"/>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미해결·소관 검사</a:t>
            </a:r>
          </a:p>
        </p:txBody>
      </p:sp>
      <p:sp>
        <p:nvSpPr>
          <p:cNvPr id="22" name="">
            <a:extLst xmlns:a="http://schemas.openxmlformats.org/drawingml/2006/main">
              <a:ext uri="{FF2B5EF4-FFF2-40B4-BE49-F238E27FC236}">
                <a16:creationId xmlns:a16="http://schemas.microsoft.com/office/drawing/2014/main" id="{4A8CF0BB-9C6C-44F5-A20A-C280600C4ECA}"/>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A52EE6CD-97FF-4923-B408-CEA2661B9BA8}"/>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AE5BED58-C6E7-4040-9169-AB00593C19B9}"/>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상담원 확인</a:t>
            </a:r>
          </a:p>
        </p:txBody>
      </p:sp>
      <p:sp>
        <p:nvSpPr>
          <p:cNvPr id="25" name="">
            <a:extLst xmlns:a="http://schemas.openxmlformats.org/drawingml/2006/main">
              <a:ext uri="{FF2B5EF4-FFF2-40B4-BE49-F238E27FC236}">
                <a16:creationId xmlns:a16="http://schemas.microsoft.com/office/drawing/2014/main" id="{BE50084C-E6EB-4040-9944-BF091FD01952}"/>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CFC04656-02B4-48D4-94C9-58D7053E97AE}"/>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3E953092-6E0F-4471-BCD6-80D9E711CD5D}"/>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맥락 포함 인계</a:t>
            </a:r>
          </a:p>
        </p:txBody>
      </p:sp>
      <p:sp>
        <p:nvSpPr>
          <p:cNvPr id="28" name="">
            <a:extLst xmlns:a="http://schemas.openxmlformats.org/drawingml/2006/main">
              <a:ext uri="{FF2B5EF4-FFF2-40B4-BE49-F238E27FC236}">
                <a16:creationId xmlns:a16="http://schemas.microsoft.com/office/drawing/2014/main" id="{E075087F-0076-42C1-8316-DCE7E877C8F3}"/>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865A70EB-93FA-4FCF-992A-86BC09821470}"/>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E631575A-9D9D-4E48-95E7-54B65C9C3DD1}"/>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수신·해결 추적</a:t>
            </a:r>
          </a:p>
        </p:txBody>
      </p:sp>
      <p:sp>
        <p:nvSpPr>
          <p:cNvPr id="31" name="">
            <a:extLst xmlns:a="http://schemas.openxmlformats.org/drawingml/2006/main">
              <a:ext uri="{FF2B5EF4-FFF2-40B4-BE49-F238E27FC236}">
                <a16:creationId xmlns:a16="http://schemas.microsoft.com/office/drawing/2014/main" id="{F79D1859-9E65-42AF-A5B1-0E371BEE5101}"/>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CFFDB459-EE51-46F0-897C-B179243F44B6}"/>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7BEF9E58-31E7-4647-9D9E-B404D016A87B}"/>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공식 웹·API</a:t>
            </a:r>
          </a:p>
        </p:txBody>
      </p:sp>
      <p:sp>
        <p:nvSpPr>
          <p:cNvPr id="34" name="">
            <a:extLst xmlns:a="http://schemas.openxmlformats.org/drawingml/2006/main">
              <a:ext uri="{FF2B5EF4-FFF2-40B4-BE49-F238E27FC236}">
                <a16:creationId xmlns:a16="http://schemas.microsoft.com/office/drawing/2014/main" id="{1EB5141A-BF18-4A90-8648-A28754B1F510}"/>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B29063FA-4E32-4446-A324-5E3D4DA35579}"/>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79EE6189-01BF-4746-A18D-48C10E211E01}"/>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수집·정제·갱신</a:t>
            </a:r>
          </a:p>
        </p:txBody>
      </p:sp>
      <p:sp>
        <p:nvSpPr>
          <p:cNvPr id="37" name="">
            <a:extLst xmlns:a="http://schemas.openxmlformats.org/drawingml/2006/main">
              <a:ext uri="{FF2B5EF4-FFF2-40B4-BE49-F238E27FC236}">
                <a16:creationId xmlns:a16="http://schemas.microsoft.com/office/drawing/2014/main" id="{4477B396-E27C-4722-8589-F4B3A320783F}"/>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A2C2AF9C-C098-420E-A2C8-A039A837885E}"/>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B98A2EBC-CFB4-47D8-9EB8-4394B898E15C}"/>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공동 지식·메타DB</a:t>
            </a:r>
          </a:p>
        </p:txBody>
      </p:sp>
      <p:sp>
        <p:nvSpPr>
          <p:cNvPr id="40" name="">
            <a:extLst xmlns:a="http://schemas.openxmlformats.org/drawingml/2006/main">
              <a:ext uri="{FF2B5EF4-FFF2-40B4-BE49-F238E27FC236}">
                <a16:creationId xmlns:a16="http://schemas.microsoft.com/office/drawing/2014/main" id="{BDBD18AC-B283-448D-928F-FEC25EB7B932}"/>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7CDD11F6-654C-4F55-9CB7-03CB36C37808}"/>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29FA593C-3D7F-4E13-9C89-097F31A0094F}"/>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기관·상담 권한</a:t>
            </a:r>
          </a:p>
        </p:txBody>
      </p:sp>
      <p:sp>
        <p:nvSpPr>
          <p:cNvPr id="52" name="">
            <a:extLst xmlns:a="http://schemas.openxmlformats.org/drawingml/2006/main">
              <a:ext uri="{FF2B5EF4-FFF2-40B4-BE49-F238E27FC236}">
                <a16:creationId xmlns:a16="http://schemas.microsoft.com/office/drawing/2014/main" id="{B25DD292-D725-496E-9E06-89FE8BBBC66B}"/>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1313424701"/>
      </p:ext>
    </p:extLst>
  </p:cSld>
</p:sld>
</file>

<file path=ppt/slides/slide117.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A8F51220-FB9B-48F0-A701-47E98F853698}"/>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PF07 / 논리 인터페이스·복구 설계</a:t>
            </a:r>
          </a:p>
        </p:txBody>
      </p:sp>
      <p:sp>
        <p:nvSpPr>
          <p:cNvPr id="2" name="">
            <a:extLst xmlns:a="http://schemas.openxmlformats.org/drawingml/2006/main">
              <a:ext uri="{FF2B5EF4-FFF2-40B4-BE49-F238E27FC236}">
                <a16:creationId xmlns:a16="http://schemas.microsoft.com/office/drawing/2014/main" id="{88CAC67F-7B9C-4E24-9FD6-5740C508BE3C}"/>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에스토니아 Bürokratt · 데이터와 예외 처리</a:t>
            </a:r>
          </a:p>
        </p:txBody>
      </p:sp>
      <p:sp>
        <p:nvSpPr>
          <p:cNvPr id="3" name="">
            <a:extLst xmlns:a="http://schemas.openxmlformats.org/drawingml/2006/main">
              <a:ext uri="{FF2B5EF4-FFF2-40B4-BE49-F238E27FC236}">
                <a16:creationId xmlns:a16="http://schemas.microsoft.com/office/drawing/2014/main" id="{EF203BA4-140F-4663-AFB4-8C62E085796F}"/>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620BB9D-B36B-4C6C-8901-7E482610E93C}"/>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E1B21690-15E4-4DE3-90DF-364C5FD02D15}"/>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117</a:t>
            </a:r>
          </a:p>
        </p:txBody>
      </p:sp>
      <p:sp>
        <p:nvSpPr>
          <p:cNvPr id="6" name="">
            <a:extLst xmlns:a="http://schemas.openxmlformats.org/drawingml/2006/main">
              <a:ext uri="{FF2B5EF4-FFF2-40B4-BE49-F238E27FC236}">
                <a16:creationId xmlns:a16="http://schemas.microsoft.com/office/drawing/2014/main" id="{D56689D5-9B3C-4858-BC27-0FC178A966B0}"/>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D52D0B65-9B5D-4749-9A6E-82C186012A1B}"/>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1CF3F5EE-636A-4DFC-A0FF-388D0A88CA0B}"/>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9CFDBA04-1D76-44A0-A57D-8AC5CC40C99A}"/>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문의 의도·소관기관·대화 맥락 확인</a:t>
            </a:r>
          </a:p>
        </p:txBody>
      </p:sp>
      <p:sp>
        <p:nvSpPr>
          <p:cNvPr id="10" name="">
            <a:extLst xmlns:a="http://schemas.openxmlformats.org/drawingml/2006/main">
              <a:ext uri="{FF2B5EF4-FFF2-40B4-BE49-F238E27FC236}">
                <a16:creationId xmlns:a16="http://schemas.microsoft.com/office/drawing/2014/main" id="{1CE58ED1-0F37-4317-92FA-A6F77D3CDE5F}"/>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E8E7CF6-31A1-4754-9A05-D55A1C3229E5}"/>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46C19066-D34D-4F1B-BCE3-3C2211763684}"/>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자연어 질문</a:t>
            </a:r>
          </a:p>
        </p:txBody>
      </p:sp>
      <p:sp>
        <p:nvSpPr>
          <p:cNvPr id="13" name="">
            <a:extLst xmlns:a="http://schemas.openxmlformats.org/drawingml/2006/main">
              <a:ext uri="{FF2B5EF4-FFF2-40B4-BE49-F238E27FC236}">
                <a16:creationId xmlns:a16="http://schemas.microsoft.com/office/drawing/2014/main" id="{615D57E1-F5A1-48BC-9058-C512AC7BF332}"/>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1FCAF3B-0560-49FF-89E2-8E4B4CBA87AB}"/>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50D5EE50-847D-4194-99FE-C0901EDF8015}"/>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소관·안내 근거</a:t>
            </a:r>
          </a:p>
        </p:txBody>
      </p:sp>
      <p:sp>
        <p:nvSpPr>
          <p:cNvPr id="16" name="">
            <a:extLst xmlns:a="http://schemas.openxmlformats.org/drawingml/2006/main">
              <a:ext uri="{FF2B5EF4-FFF2-40B4-BE49-F238E27FC236}">
                <a16:creationId xmlns:a16="http://schemas.microsoft.com/office/drawing/2014/main" id="{A9D31ED8-5269-45CD-890C-C7A5359F524E}"/>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D492CB7-D916-4AB8-A37E-708087B5EA05}"/>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000214B2-A85F-45E5-8601-70CE44EF84C7}"/>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대화 응답</a:t>
            </a:r>
          </a:p>
        </p:txBody>
      </p:sp>
      <p:sp>
        <p:nvSpPr>
          <p:cNvPr id="19" name="">
            <a:extLst xmlns:a="http://schemas.openxmlformats.org/drawingml/2006/main">
              <a:ext uri="{FF2B5EF4-FFF2-40B4-BE49-F238E27FC236}">
                <a16:creationId xmlns:a16="http://schemas.microsoft.com/office/drawing/2014/main" id="{FDA3FDFE-E135-4D8C-B205-240AF36D9EC8}"/>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6876689-FC71-445C-A9CE-80749B4A5D2D}"/>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8CCCEBC1-03BB-4D08-BC2B-5292B73AD125}"/>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대화 응답</a:t>
            </a:r>
          </a:p>
        </p:txBody>
      </p:sp>
      <p:sp>
        <p:nvSpPr>
          <p:cNvPr id="22" name="">
            <a:extLst xmlns:a="http://schemas.openxmlformats.org/drawingml/2006/main">
              <a:ext uri="{FF2B5EF4-FFF2-40B4-BE49-F238E27FC236}">
                <a16:creationId xmlns:a16="http://schemas.microsoft.com/office/drawing/2014/main" id="{9E733B71-A2DF-4727-BE4E-A72B74CB948B}"/>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B51E70B-D926-47E3-BB5E-E44806FAB8E5}"/>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93739ABA-C596-4D0F-A7F6-4DEDF7E1F75E}"/>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상담 인계</a:t>
            </a:r>
          </a:p>
        </p:txBody>
      </p:sp>
      <p:sp>
        <p:nvSpPr>
          <p:cNvPr id="25" name="">
            <a:extLst xmlns:a="http://schemas.openxmlformats.org/drawingml/2006/main">
              <a:ext uri="{FF2B5EF4-FFF2-40B4-BE49-F238E27FC236}">
                <a16:creationId xmlns:a16="http://schemas.microsoft.com/office/drawing/2014/main" id="{5837A826-C984-4002-9D68-F7EDF6E1DAEB}"/>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713EBE90-47E6-42F8-9B55-2E680E71FCD4}"/>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소관 불명확·상담원 부재·대화 맥락 누락</a:t>
            </a:r>
          </a:p>
        </p:txBody>
      </p:sp>
      <p:sp>
        <p:nvSpPr>
          <p:cNvPr id="27" name="">
            <a:extLst xmlns:a="http://schemas.openxmlformats.org/drawingml/2006/main">
              <a:ext uri="{FF2B5EF4-FFF2-40B4-BE49-F238E27FC236}">
                <a16:creationId xmlns:a16="http://schemas.microsoft.com/office/drawing/2014/main" id="{D19F2FFC-60DC-4966-A3DB-AE69607B5123}"/>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0FECA4DF-7A73-4F56-9D7B-EA7E1C9A73E6}"/>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인계 대상·대화 맥락·수신 확인</a:t>
            </a:r>
          </a:p>
        </p:txBody>
      </p:sp>
      <p:sp>
        <p:nvSpPr>
          <p:cNvPr id="29" name="">
            <a:extLst xmlns:a="http://schemas.openxmlformats.org/drawingml/2006/main">
              <a:ext uri="{FF2B5EF4-FFF2-40B4-BE49-F238E27FC236}">
                <a16:creationId xmlns:a16="http://schemas.microsoft.com/office/drawing/2014/main" id="{152F397C-91DF-455E-B37D-2B8958B61610}"/>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100E0C1B-EB71-488F-BBD0-78F59308F6C9}"/>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이관 수신·미해결 질의·지식 갱신 확인</a:t>
            </a:r>
          </a:p>
        </p:txBody>
      </p:sp>
      <p:sp>
        <p:nvSpPr>
          <p:cNvPr id="31" name="">
            <a:extLst xmlns:a="http://schemas.openxmlformats.org/drawingml/2006/main">
              <a:ext uri="{FF2B5EF4-FFF2-40B4-BE49-F238E27FC236}">
                <a16:creationId xmlns:a16="http://schemas.microsoft.com/office/drawing/2014/main" id="{ED243267-3E3C-4F77-93D8-A6EC22E03BBF}"/>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4763F43B-F473-4D8C-9FA4-2E110D54D41F}"/>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기관 선택·인계 내용·수신·해결 여부 기록</a:t>
            </a:r>
          </a:p>
        </p:txBody>
      </p:sp>
    </p:spTree>
    <p:extLst>
      <p:ext uri="{BB962C8B-B14F-4D97-AF65-F5344CB8AC3E}">
        <p14:creationId xmlns:p14="http://schemas.microsoft.com/office/powerpoint/2010/main" val="1432522986"/>
      </p:ext>
    </p:extLst>
  </p:cSld>
</p:sld>
</file>

<file path=ppt/slides/slide118.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3E54F18-DE43-43AF-9B49-3BF3681DD005}"/>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PF07 / CCK 비교·재현 시험 설계</a:t>
            </a:r>
          </a:p>
        </p:txBody>
      </p:sp>
      <p:sp>
        <p:nvSpPr>
          <p:cNvPr id="2" name="">
            <a:extLst xmlns:a="http://schemas.openxmlformats.org/drawingml/2006/main">
              <a:ext uri="{FF2B5EF4-FFF2-40B4-BE49-F238E27FC236}">
                <a16:creationId xmlns:a16="http://schemas.microsoft.com/office/drawing/2014/main" id="{E165D8A1-FD60-4FF3-8613-B975AEDD1E66}"/>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에스토니아 Bürokratt · 벤치마킹</a:t>
            </a:r>
          </a:p>
        </p:txBody>
      </p:sp>
      <p:sp>
        <p:nvSpPr>
          <p:cNvPr id="3" name="">
            <a:extLst xmlns:a="http://schemas.openxmlformats.org/drawingml/2006/main">
              <a:ext uri="{FF2B5EF4-FFF2-40B4-BE49-F238E27FC236}">
                <a16:creationId xmlns:a16="http://schemas.microsoft.com/office/drawing/2014/main" id="{285165DA-9DC4-46AC-9C61-52A24446D92A}"/>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47114F2-644A-407D-B55E-39E5548DBD2A}"/>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FEC8F0AA-CA6B-4D95-B21E-43483E70032E}"/>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118</a:t>
            </a:r>
          </a:p>
        </p:txBody>
      </p:sp>
      <p:sp>
        <p:nvSpPr>
          <p:cNvPr id="6" name="">
            <a:extLst xmlns:a="http://schemas.openxmlformats.org/drawingml/2006/main">
              <a:ext uri="{FF2B5EF4-FFF2-40B4-BE49-F238E27FC236}">
                <a16:creationId xmlns:a16="http://schemas.microsoft.com/office/drawing/2014/main" id="{88DC9FEA-B22F-4D76-8E1B-E6EA0735A8D2}"/>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09B0626F-52F4-4817-BCA1-921E0C874F3D}"/>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기관 안내 지식의 공동 기반</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해결 불가 시 상담원 연결</a:t>
            </a:r>
          </a:p>
        </p:txBody>
      </p:sp>
      <p:sp>
        <p:nvSpPr>
          <p:cNvPr id="8" name="">
            <a:extLst xmlns:a="http://schemas.openxmlformats.org/drawingml/2006/main">
              <a:ext uri="{FF2B5EF4-FFF2-40B4-BE49-F238E27FC236}">
                <a16:creationId xmlns:a16="http://schemas.microsoft.com/office/drawing/2014/main" id="{18DBC0C7-8882-4563-9936-B5717F97297D}"/>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6B922A12-242D-4E44-AC74-1014889A29C4}"/>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기관 간 지식·소관 불일치</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안내와 접수·처리 완료의 혼동</a:t>
            </a:r>
          </a:p>
        </p:txBody>
      </p:sp>
      <p:sp>
        <p:nvSpPr>
          <p:cNvPr id="10" name="">
            <a:extLst xmlns:a="http://schemas.openxmlformats.org/drawingml/2006/main">
              <a:ext uri="{FF2B5EF4-FFF2-40B4-BE49-F238E27FC236}">
                <a16:creationId xmlns:a16="http://schemas.microsoft.com/office/drawing/2014/main" id="{7FA55630-B9D4-424E-B489-93975F508B00}"/>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FC2B693B-D8AA-4CD4-95B8-B74E99DE4721}"/>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인계 대상·대화 맥락·수신 확인</a:t>
            </a:r>
          </a:p>
        </p:txBody>
      </p:sp>
      <p:sp>
        <p:nvSpPr>
          <p:cNvPr id="12" name="">
            <a:extLst xmlns:a="http://schemas.openxmlformats.org/drawingml/2006/main">
              <a:ext uri="{FF2B5EF4-FFF2-40B4-BE49-F238E27FC236}">
                <a16:creationId xmlns:a16="http://schemas.microsoft.com/office/drawing/2014/main" id="{DFE10A8F-5F8F-45CD-A2B4-FA1DF8F960AD}"/>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15475B89-F06B-4EA7-9FA0-CF2CFBF9BB51}"/>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기관 안내 후 해결이 어려운 문의를 상담원에게 인</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계</a:t>
            </a:r>
          </a:p>
        </p:txBody>
      </p:sp>
      <p:sp>
        <p:nvSpPr>
          <p:cNvPr id="14" name="">
            <a:extLst xmlns:a="http://schemas.openxmlformats.org/drawingml/2006/main">
              <a:ext uri="{FF2B5EF4-FFF2-40B4-BE49-F238E27FC236}">
                <a16:creationId xmlns:a16="http://schemas.microsoft.com/office/drawing/2014/main" id="{77A53A50-A377-4690-9E19-37A62A48AE1C}"/>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9FDC452C-545C-425A-BDA2-F86C8744C6A3}"/>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소관 불명확·상담원 부재·대화 맥락 누락</a:t>
            </a:r>
          </a:p>
        </p:txBody>
      </p:sp>
      <p:sp>
        <p:nvSpPr>
          <p:cNvPr id="16" name="">
            <a:extLst xmlns:a="http://schemas.openxmlformats.org/drawingml/2006/main">
              <a:ext uri="{FF2B5EF4-FFF2-40B4-BE49-F238E27FC236}">
                <a16:creationId xmlns:a16="http://schemas.microsoft.com/office/drawing/2014/main" id="{1DAD451B-994D-4274-93DF-59A537228347}"/>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E33A6925-8D79-4659-BD8F-A964E90E35D1}"/>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기관 선택·인계 내용·수신·해결 여부 기록</a:t>
            </a:r>
          </a:p>
        </p:txBody>
      </p:sp>
    </p:spTree>
    <p:extLst>
      <p:ext uri="{BB962C8B-B14F-4D97-AF65-F5344CB8AC3E}">
        <p14:creationId xmlns:p14="http://schemas.microsoft.com/office/powerpoint/2010/main" val="158218788"/>
      </p:ext>
    </p:extLst>
  </p:cSld>
</p:sld>
</file>

<file path=ppt/slides/slide119.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12299BA-71FE-4D70-8695-692DEADED02D}"/>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PF-A12 / 웹·앱 실증 평가 공개(2026-03) / 해외</a:t>
            </a:r>
          </a:p>
        </p:txBody>
      </p:sp>
      <p:sp>
        <p:nvSpPr>
          <p:cNvPr id="2" name="">
            <a:extLst xmlns:a="http://schemas.openxmlformats.org/drawingml/2006/main">
              <a:ext uri="{FF2B5EF4-FFF2-40B4-BE49-F238E27FC236}">
                <a16:creationId xmlns:a16="http://schemas.microsoft.com/office/drawing/2014/main" id="{4E10A15D-BCFC-49D8-8836-5229C6D421DD}"/>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GOV.UK Chat</a:t>
            </a:r>
          </a:p>
        </p:txBody>
      </p:sp>
      <p:sp>
        <p:nvSpPr>
          <p:cNvPr id="3" name="">
            <a:extLst xmlns:a="http://schemas.openxmlformats.org/drawingml/2006/main">
              <a:ext uri="{FF2B5EF4-FFF2-40B4-BE49-F238E27FC236}">
                <a16:creationId xmlns:a16="http://schemas.microsoft.com/office/drawing/2014/main" id="{AB00C075-B73A-4F62-B9AF-4198F3818AC5}"/>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F5094C7-D6C5-49A1-8937-F516DFBFE48F}"/>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EC25A9EA-1D14-4368-B5B1-7796C7D9D3A9}"/>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119</a:t>
            </a:r>
          </a:p>
        </p:txBody>
      </p:sp>
      <p:sp>
        <p:nvSpPr>
          <p:cNvPr id="6" name="">
            <a:extLst xmlns:a="http://schemas.openxmlformats.org/drawingml/2006/main">
              <a:ext uri="{FF2B5EF4-FFF2-40B4-BE49-F238E27FC236}">
                <a16:creationId xmlns:a16="http://schemas.microsoft.com/office/drawing/2014/main" id="{C195B34C-CC81-4F43-8F3F-97D143B7612D}"/>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FD5A7AD6-749B-4766-B9E1-A03A73292622}"/>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정부 안내 페이지를 이용자가 직접 탐색하는 과정에 자</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연어 질의 접점을 추가한 사례. 질문에 대한 설명과 실제</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공공서비스 신청은 별도 단계이며 원문·공식 서비스로</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의 이동이 중요한 완료조건.</a:t>
            </a:r>
          </a:p>
        </p:txBody>
      </p:sp>
      <p:sp>
        <p:nvSpPr>
          <p:cNvPr id="8" name="">
            <a:extLst xmlns:a="http://schemas.openxmlformats.org/drawingml/2006/main">
              <a:ext uri="{FF2B5EF4-FFF2-40B4-BE49-F238E27FC236}">
                <a16:creationId xmlns:a16="http://schemas.microsoft.com/office/drawing/2014/main" id="{0391BC8B-F4E9-4A18-90E5-A4A4FAEB5097}"/>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FC639B70-6205-4B45-AD24-E2D781757E80}"/>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공개 기술기록의 Rails·Claude/Bedrock·OpenSearc</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h·BigQuery를 기준으로 콘텐츠 준비, 질의 검색, 응답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생성, 품질 관측을 구분. 2023년 파일럿 설계와 2025</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년 공개 기술기록은 판본이 다른 자료로 취급.</a:t>
            </a:r>
          </a:p>
        </p:txBody>
      </p:sp>
      <p:sp>
        <p:nvSpPr>
          <p:cNvPr id="10" name="">
            <a:extLst xmlns:a="http://schemas.openxmlformats.org/drawingml/2006/main">
              <a:ext uri="{FF2B5EF4-FFF2-40B4-BE49-F238E27FC236}">
                <a16:creationId xmlns:a16="http://schemas.microsoft.com/office/drawing/2014/main" id="{E25F7E43-A843-428C-A847-BB1EC4A6C8DB}"/>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10A89EE9-BE09-4187-AC88-0ECDF4CA8DF8}"/>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CCK에서는 TS 메뉴를 없애기보다 질문의 소관·지역·자</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격을 정리하고 검증된 메뉴에 연결하는 방식으로 현지화.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근거 없음·범위 밖 질의·느린 응답·틀린 신청 경로를 별도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과업으로 시험할 필요.</a:t>
            </a:r>
          </a:p>
        </p:txBody>
      </p:sp>
      <p:sp>
        <p:nvSpPr>
          <p:cNvPr id="12" name="">
            <a:extLst xmlns:a="http://schemas.openxmlformats.org/drawingml/2006/main">
              <a:ext uri="{FF2B5EF4-FFF2-40B4-BE49-F238E27FC236}">
                <a16:creationId xmlns:a16="http://schemas.microsoft.com/office/drawing/2014/main" id="{DD373844-6E1B-4C8C-9F3A-46EDE63EF103}"/>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A6ED2B4C-B3CB-464E-908A-704B1A7F42FE}"/>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발화 확인·준비서류·공식 메뉴·상담 연결</a:t>
            </a:r>
          </a:p>
        </p:txBody>
      </p:sp>
      <p:sp>
        <p:nvSpPr>
          <p:cNvPr id="14" name="">
            <a:extLst xmlns:a="http://schemas.openxmlformats.org/drawingml/2006/main">
              <a:ext uri="{FF2B5EF4-FFF2-40B4-BE49-F238E27FC236}">
                <a16:creationId xmlns:a16="http://schemas.microsoft.com/office/drawing/2014/main" id="{4C8A55A2-E26E-4E0F-A3D1-0B436402BC24}"/>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436368FA-1D35-44AB-A1A3-693AC162ED00}"/>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서비스 도달률·포기율의 기준선·비교 평가</a:t>
            </a:r>
          </a:p>
        </p:txBody>
      </p:sp>
      <p:sp>
        <p:nvSpPr>
          <p:cNvPr id="16" name="">
            <a:extLst xmlns:a="http://schemas.openxmlformats.org/drawingml/2006/main">
              <a:ext uri="{FF2B5EF4-FFF2-40B4-BE49-F238E27FC236}">
                <a16:creationId xmlns:a16="http://schemas.microsoft.com/office/drawing/2014/main" id="{0C521194-41DB-41E9-909D-D8975EF71033}"/>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FCC7E8ED-A1BB-4B53-B487-BECC6AA9F4ED}"/>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서비스 도달률·포기율</a:t>
            </a:r>
          </a:p>
        </p:txBody>
      </p:sp>
      <p:sp>
        <p:nvSpPr>
          <p:cNvPr id="18" name="">
            <a:extLst xmlns:a="http://schemas.openxmlformats.org/drawingml/2006/main">
              <a:ext uri="{FF2B5EF4-FFF2-40B4-BE49-F238E27FC236}">
                <a16:creationId xmlns:a16="http://schemas.microsoft.com/office/drawing/2014/main" id="{53C11CBE-3DBA-443B-947A-434100928E2D}"/>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2026-03 시험: 모호한 질문은 추가 확인으로 개선, 개인자료 상담 연결 미지원. 범위 내 답변률88%, 평균응답10.7초. 정확도·답변률·앱 설문을 구분.</a:t>
            </a:r>
          </a:p>
        </p:txBody>
      </p:sp>
    </p:spTree>
    <p:extLst>
      <p:ext uri="{BB962C8B-B14F-4D97-AF65-F5344CB8AC3E}">
        <p14:creationId xmlns:p14="http://schemas.microsoft.com/office/powerpoint/2010/main" val="330421919"/>
      </p:ext>
    </p:extLst>
  </p:cSld>
</p:sld>
</file>

<file path=ppt/slides/slide120.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5DC58286-2A34-44DB-B77C-514D22A38536}"/>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22FFC804-5066-43F5-83C2-D54278D58278}"/>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B4393F8D-2850-4ADB-A065-755EA275FF98}"/>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53523910-1B49-4370-8A3C-69BF4EC8F142}"/>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8051E7B1-3E55-44AF-96EB-112609D1A758}"/>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B8025410-36B5-43B8-86B2-A68B916894E0}"/>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E3BF4BFC-6791-4B5E-AAC1-49F397CFACC1}"/>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D3C7A001-8D8C-40F4-8BC8-CB43E9A8A22D}"/>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5593A1E1-EBE7-4AF7-B92D-4603B592DCFE}"/>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EFEE6915-3707-4BDB-B4EF-622069C947CB}"/>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PF-A12 / CCK 세부 재구성 · 논리 서비스 설계</a:t>
            </a:r>
          </a:p>
        </p:txBody>
      </p:sp>
      <p:sp>
        <p:nvSpPr>
          <p:cNvPr id="2" name="">
            <a:extLst xmlns:a="http://schemas.openxmlformats.org/drawingml/2006/main">
              <a:ext uri="{FF2B5EF4-FFF2-40B4-BE49-F238E27FC236}">
                <a16:creationId xmlns:a16="http://schemas.microsoft.com/office/drawing/2014/main" id="{9BF1779D-2F0F-46D1-A4D5-E3F8185DBB22}"/>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GOV.UK Chat · 세부 서비스 구조</a:t>
            </a:r>
          </a:p>
        </p:txBody>
      </p:sp>
      <p:sp>
        <p:nvSpPr>
          <p:cNvPr id="3" name="">
            <a:extLst xmlns:a="http://schemas.openxmlformats.org/drawingml/2006/main">
              <a:ext uri="{FF2B5EF4-FFF2-40B4-BE49-F238E27FC236}">
                <a16:creationId xmlns:a16="http://schemas.microsoft.com/office/drawing/2014/main" id="{73C2A6CF-F243-4EA6-A5B2-4CF7FAE40979}"/>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E0EFB6B-235A-4D61-9762-A474BAC8622B}"/>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2F599D1A-A573-4A93-B735-B91DC63C5E65}"/>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120</a:t>
            </a:r>
          </a:p>
        </p:txBody>
      </p:sp>
      <p:sp>
        <p:nvSpPr>
          <p:cNvPr id="6" name="">
            <a:extLst xmlns:a="http://schemas.openxmlformats.org/drawingml/2006/main">
              <a:ext uri="{FF2B5EF4-FFF2-40B4-BE49-F238E27FC236}">
                <a16:creationId xmlns:a16="http://schemas.microsoft.com/office/drawing/2014/main" id="{9747FA1E-388B-4C26-B86D-3671C38142E0}"/>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ATRS 2025-10-07</a:t>
            </a:r>
          </a:p>
        </p:txBody>
      </p:sp>
      <p:sp>
        <p:nvSpPr>
          <p:cNvPr id="7" name="">
            <a:extLst xmlns:a="http://schemas.openxmlformats.org/drawingml/2006/main">
              <a:ext uri="{FF2B5EF4-FFF2-40B4-BE49-F238E27FC236}">
                <a16:creationId xmlns:a16="http://schemas.microsoft.com/office/drawing/2014/main" id="{2BEAE7A9-EBB9-4E3F-87C4-D54F65EAC345}"/>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E72699C5-E834-4F3F-9FBD-6E57F27F4B63}"/>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4B9B0946-D32F-4D64-BEFF-AA217546C38A}"/>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GOV.UK 앱 질의</a:t>
            </a:r>
          </a:p>
        </p:txBody>
      </p:sp>
      <p:sp>
        <p:nvSpPr>
          <p:cNvPr id="10" name="">
            <a:extLst xmlns:a="http://schemas.openxmlformats.org/drawingml/2006/main">
              <a:ext uri="{FF2B5EF4-FFF2-40B4-BE49-F238E27FC236}">
                <a16:creationId xmlns:a16="http://schemas.microsoft.com/office/drawing/2014/main" id="{4F595786-4A9F-4EE7-8A10-94418BE174CE}"/>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8C913C0B-068C-4C5B-BA98-21B01100C0CA}"/>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1F1FF8C4-E381-4007-AE44-63DE78BA539F}"/>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질문·대화 문맥</a:t>
            </a:r>
          </a:p>
        </p:txBody>
      </p:sp>
      <p:sp>
        <p:nvSpPr>
          <p:cNvPr id="13" name="">
            <a:extLst xmlns:a="http://schemas.openxmlformats.org/drawingml/2006/main">
              <a:ext uri="{FF2B5EF4-FFF2-40B4-BE49-F238E27FC236}">
                <a16:creationId xmlns:a16="http://schemas.microsoft.com/office/drawing/2014/main" id="{6D7ECD9D-4923-42AA-8ECF-C3013B4C0BD6}"/>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48BF87A2-4E48-4B5E-BD20-A31E12669F30}"/>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A4D32683-17BC-4F15-ABBF-3668B5CB27A8}"/>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OpenSearch 검색</a:t>
            </a:r>
          </a:p>
        </p:txBody>
      </p:sp>
      <p:sp>
        <p:nvSpPr>
          <p:cNvPr id="16" name="">
            <a:extLst xmlns:a="http://schemas.openxmlformats.org/drawingml/2006/main">
              <a:ext uri="{FF2B5EF4-FFF2-40B4-BE49-F238E27FC236}">
                <a16:creationId xmlns:a16="http://schemas.microsoft.com/office/drawing/2014/main" id="{FBCCF8A5-ADA7-4A37-99E5-13B6A8693216}"/>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81BA283D-E3E3-4E7B-8970-6C2ABD1E12C8}"/>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2563E580-BE91-4A19-9C54-6BA7E98E0D16}"/>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Claude / Bedrock</a:t>
            </a:r>
          </a:p>
        </p:txBody>
      </p:sp>
      <p:sp>
        <p:nvSpPr>
          <p:cNvPr id="19" name="">
            <a:extLst xmlns:a="http://schemas.openxmlformats.org/drawingml/2006/main">
              <a:ext uri="{FF2B5EF4-FFF2-40B4-BE49-F238E27FC236}">
                <a16:creationId xmlns:a16="http://schemas.microsoft.com/office/drawing/2014/main" id="{E171653D-1191-40ED-AD09-A6D876D38BB6}"/>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D827F538-112C-469B-A68B-9A955C0AA39E}"/>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4927ACA8-16D8-4F2A-B88B-D7541D70F8CE}"/>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범위·근거 검사</a:t>
            </a:r>
          </a:p>
        </p:txBody>
      </p:sp>
      <p:sp>
        <p:nvSpPr>
          <p:cNvPr id="22" name="">
            <a:extLst xmlns:a="http://schemas.openxmlformats.org/drawingml/2006/main">
              <a:ext uri="{FF2B5EF4-FFF2-40B4-BE49-F238E27FC236}">
                <a16:creationId xmlns:a16="http://schemas.microsoft.com/office/drawing/2014/main" id="{1664D3D4-9F36-409F-A8E0-AF67BEE51364}"/>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1AF9F037-B42E-4AD6-B272-B4C74399BA33}"/>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3B7FEE43-4C08-445C-9029-D364E2C85257}"/>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이용자 원문 확인</a:t>
            </a:r>
          </a:p>
        </p:txBody>
      </p:sp>
      <p:sp>
        <p:nvSpPr>
          <p:cNvPr id="25" name="">
            <a:extLst xmlns:a="http://schemas.openxmlformats.org/drawingml/2006/main">
              <a:ext uri="{FF2B5EF4-FFF2-40B4-BE49-F238E27FC236}">
                <a16:creationId xmlns:a16="http://schemas.microsoft.com/office/drawing/2014/main" id="{D300B06E-25D5-41D1-B1CB-50BDFDDF1172}"/>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ACE0AE32-63BB-404F-B513-008840096ABF}"/>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2271FD5F-9E27-4BC2-B4FA-C6841F0A7476}"/>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공식 서비스 연결</a:t>
            </a:r>
          </a:p>
        </p:txBody>
      </p:sp>
      <p:sp>
        <p:nvSpPr>
          <p:cNvPr id="28" name="">
            <a:extLst xmlns:a="http://schemas.openxmlformats.org/drawingml/2006/main">
              <a:ext uri="{FF2B5EF4-FFF2-40B4-BE49-F238E27FC236}">
                <a16:creationId xmlns:a16="http://schemas.microsoft.com/office/drawing/2014/main" id="{A7D11888-6513-472D-B202-5C83268999A3}"/>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17C4E8AF-8BA0-4ED7-BD8C-83FCB21F61B7}"/>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3A0A9FC7-092A-453C-92EC-71E06FDB5619}"/>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관리·품질 분석</a:t>
            </a:r>
          </a:p>
        </p:txBody>
      </p:sp>
      <p:sp>
        <p:nvSpPr>
          <p:cNvPr id="31" name="">
            <a:extLst xmlns:a="http://schemas.openxmlformats.org/drawingml/2006/main">
              <a:ext uri="{FF2B5EF4-FFF2-40B4-BE49-F238E27FC236}">
                <a16:creationId xmlns:a16="http://schemas.microsoft.com/office/drawing/2014/main" id="{E776CFE8-FAA6-4227-B54D-93CBBE1CA588}"/>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65E9C614-35D6-4A9F-892B-4471CC49C157}"/>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586A8EB9-0509-455C-8C42-3110E8EA084F}"/>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GOV.UK 콘텐츠</a:t>
            </a:r>
          </a:p>
        </p:txBody>
      </p:sp>
      <p:sp>
        <p:nvSpPr>
          <p:cNvPr id="34" name="">
            <a:extLst xmlns:a="http://schemas.openxmlformats.org/drawingml/2006/main">
              <a:ext uri="{FF2B5EF4-FFF2-40B4-BE49-F238E27FC236}">
                <a16:creationId xmlns:a16="http://schemas.microsoft.com/office/drawing/2014/main" id="{44011EA6-EE48-47FF-852E-20F9F1524747}"/>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223B1829-4FC7-407F-8D87-2967F06E8FB0}"/>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8D1219DD-5AC2-43FB-A2B7-E3BDB6A663B2}"/>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선별·청킹·벡터화</a:t>
            </a:r>
          </a:p>
        </p:txBody>
      </p:sp>
      <p:sp>
        <p:nvSpPr>
          <p:cNvPr id="37" name="">
            <a:extLst xmlns:a="http://schemas.openxmlformats.org/drawingml/2006/main">
              <a:ext uri="{FF2B5EF4-FFF2-40B4-BE49-F238E27FC236}">
                <a16:creationId xmlns:a16="http://schemas.microsoft.com/office/drawing/2014/main" id="{3A2EF7DA-8FEB-4812-B5A6-A36548654CE7}"/>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BD9AEF5B-D411-4D35-8410-804EF084A70B}"/>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97DA7CB8-D17F-4952-B39C-4759DD47EBD6}"/>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문서·BigQuery 기록</a:t>
            </a:r>
          </a:p>
        </p:txBody>
      </p:sp>
      <p:sp>
        <p:nvSpPr>
          <p:cNvPr id="40" name="">
            <a:extLst xmlns:a="http://schemas.openxmlformats.org/drawingml/2006/main">
              <a:ext uri="{FF2B5EF4-FFF2-40B4-BE49-F238E27FC236}">
                <a16:creationId xmlns:a16="http://schemas.microsoft.com/office/drawing/2014/main" id="{93B38DF1-78D6-4D5A-9FDF-E9E4728A9B6A}"/>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40CC25A8-6707-47CB-83E5-B3C5DCA732DA}"/>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DACA2ECD-C7D1-4A02-BC06-90EF5A7AD4FD}"/>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지식 범위·안전정책</a:t>
            </a:r>
          </a:p>
        </p:txBody>
      </p:sp>
      <p:sp>
        <p:nvSpPr>
          <p:cNvPr id="52" name="">
            <a:extLst xmlns:a="http://schemas.openxmlformats.org/drawingml/2006/main">
              <a:ext uri="{FF2B5EF4-FFF2-40B4-BE49-F238E27FC236}">
                <a16:creationId xmlns:a16="http://schemas.microsoft.com/office/drawing/2014/main" id="{832ADE95-6118-48CC-98B8-589381A4D69E}"/>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340147997"/>
      </p:ext>
    </p:extLst>
  </p:cSld>
</p:sld>
</file>

<file path=ppt/slides/slide121.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873C3EF5-7D81-407E-B315-897306DA58C1}"/>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PF-A12 / 논리 인터페이스·복구 설계</a:t>
            </a:r>
          </a:p>
        </p:txBody>
      </p:sp>
      <p:sp>
        <p:nvSpPr>
          <p:cNvPr id="2" name="">
            <a:extLst xmlns:a="http://schemas.openxmlformats.org/drawingml/2006/main">
              <a:ext uri="{FF2B5EF4-FFF2-40B4-BE49-F238E27FC236}">
                <a16:creationId xmlns:a16="http://schemas.microsoft.com/office/drawing/2014/main" id="{A8916A41-88E8-4921-AD90-A53E48EC68AC}"/>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GOV.UK Chat · 데이터와 예외 처리</a:t>
            </a:r>
          </a:p>
        </p:txBody>
      </p:sp>
      <p:sp>
        <p:nvSpPr>
          <p:cNvPr id="3" name="">
            <a:extLst xmlns:a="http://schemas.openxmlformats.org/drawingml/2006/main">
              <a:ext uri="{FF2B5EF4-FFF2-40B4-BE49-F238E27FC236}">
                <a16:creationId xmlns:a16="http://schemas.microsoft.com/office/drawing/2014/main" id="{BB92CB3B-E1C4-4359-830E-C1604EC5B917}"/>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776A70E-609D-4A98-87E2-4C027664FC8B}"/>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2F2E685C-1643-4BD5-91A4-3C5A38E83CB2}"/>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121</a:t>
            </a:r>
          </a:p>
        </p:txBody>
      </p:sp>
      <p:sp>
        <p:nvSpPr>
          <p:cNvPr id="6" name="">
            <a:extLst xmlns:a="http://schemas.openxmlformats.org/drawingml/2006/main">
              <a:ext uri="{FF2B5EF4-FFF2-40B4-BE49-F238E27FC236}">
                <a16:creationId xmlns:a16="http://schemas.microsoft.com/office/drawing/2014/main" id="{7AE71273-CA09-49F6-99B0-D1FD601A7C21}"/>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AECE47A2-3A74-4EEE-A21A-CE641642A8E2}"/>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F27AE73E-B4B8-478A-B026-79683DCD0073}"/>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F73B84CA-8A50-4F07-9913-A5DAD273DA6E}"/>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앱 질문과 이전 대화의 문맥 구성</a:t>
            </a:r>
          </a:p>
        </p:txBody>
      </p:sp>
      <p:sp>
        <p:nvSpPr>
          <p:cNvPr id="10" name="">
            <a:extLst xmlns:a="http://schemas.openxmlformats.org/drawingml/2006/main">
              <a:ext uri="{FF2B5EF4-FFF2-40B4-BE49-F238E27FC236}">
                <a16:creationId xmlns:a16="http://schemas.microsoft.com/office/drawing/2014/main" id="{6E4B3CDD-D3AF-455D-AED0-DA2AF72766A4}"/>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168A47A-9366-4E4A-AB91-B31846EE0578}"/>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8FC8E32B-1147-4D3E-B84B-01C7FAA835D3}"/>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질문</a:t>
            </a:r>
          </a:p>
        </p:txBody>
      </p:sp>
      <p:sp>
        <p:nvSpPr>
          <p:cNvPr id="13" name="">
            <a:extLst xmlns:a="http://schemas.openxmlformats.org/drawingml/2006/main">
              <a:ext uri="{FF2B5EF4-FFF2-40B4-BE49-F238E27FC236}">
                <a16:creationId xmlns:a16="http://schemas.microsoft.com/office/drawing/2014/main" id="{8B8A560C-76CD-4547-87E2-06F485CFA678}"/>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2912272-5F33-4299-A3E2-CA8B96D4DA3E}"/>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FAEF099A-E0A7-4000-AFA4-E8F080A66FA7}"/>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공식 문서 조각</a:t>
            </a:r>
          </a:p>
        </p:txBody>
      </p:sp>
      <p:sp>
        <p:nvSpPr>
          <p:cNvPr id="16" name="">
            <a:extLst xmlns:a="http://schemas.openxmlformats.org/drawingml/2006/main">
              <a:ext uri="{FF2B5EF4-FFF2-40B4-BE49-F238E27FC236}">
                <a16:creationId xmlns:a16="http://schemas.microsoft.com/office/drawing/2014/main" id="{C0D3DD50-68F6-4D0A-8D14-E12426284E66}"/>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C5A4182-3FFE-4E61-A4A1-98481B3EBB59}"/>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D9CB8907-9EFA-41C3-A92A-AA2B6B86D750}"/>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출처 답변</a:t>
            </a:r>
          </a:p>
        </p:txBody>
      </p:sp>
      <p:sp>
        <p:nvSpPr>
          <p:cNvPr id="19" name="">
            <a:extLst xmlns:a="http://schemas.openxmlformats.org/drawingml/2006/main">
              <a:ext uri="{FF2B5EF4-FFF2-40B4-BE49-F238E27FC236}">
                <a16:creationId xmlns:a16="http://schemas.microsoft.com/office/drawing/2014/main" id="{713BF0C2-6A05-44E6-8F61-612530489E08}"/>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DC037B1-3F7D-43C3-95B4-294769B1D5BA}"/>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AFA1000A-503E-4731-9583-A053A1FD5F97}"/>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출처 답변</a:t>
            </a:r>
          </a:p>
        </p:txBody>
      </p:sp>
      <p:sp>
        <p:nvSpPr>
          <p:cNvPr id="22" name="">
            <a:extLst xmlns:a="http://schemas.openxmlformats.org/drawingml/2006/main">
              <a:ext uri="{FF2B5EF4-FFF2-40B4-BE49-F238E27FC236}">
                <a16:creationId xmlns:a16="http://schemas.microsoft.com/office/drawing/2014/main" id="{922BC675-EE2D-452C-B4F3-2D86128453F5}"/>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DDEE517-E2D9-4EFB-974F-C5812CC3E1D3}"/>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80369FB6-8E13-46A7-B632-7828A5ADB26E}"/>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공식 서비스</a:t>
            </a:r>
          </a:p>
        </p:txBody>
      </p:sp>
      <p:sp>
        <p:nvSpPr>
          <p:cNvPr id="25" name="">
            <a:extLst xmlns:a="http://schemas.openxmlformats.org/drawingml/2006/main">
              <a:ext uri="{FF2B5EF4-FFF2-40B4-BE49-F238E27FC236}">
                <a16:creationId xmlns:a16="http://schemas.microsoft.com/office/drawing/2014/main" id="{7CE19387-A5B5-4501-8D0C-68C69AF5C1BC}"/>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4741B91B-1F1B-4AE1-ADAC-686D68EB1435}"/>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범위 밖 질문·상충 안내·개인 업무의 실행 요청</a:t>
            </a:r>
          </a:p>
        </p:txBody>
      </p:sp>
      <p:sp>
        <p:nvSpPr>
          <p:cNvPr id="27" name="">
            <a:extLst xmlns:a="http://schemas.openxmlformats.org/drawingml/2006/main">
              <a:ext uri="{FF2B5EF4-FFF2-40B4-BE49-F238E27FC236}">
                <a16:creationId xmlns:a16="http://schemas.microsoft.com/office/drawing/2014/main" id="{0F513722-8CC3-4CC6-83A4-929A606E58A9}"/>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D5332C16-BCE0-46DB-A0FB-FCEC77498DD2}"/>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의도 분류·근거·응답 품질 대조</a:t>
            </a:r>
          </a:p>
        </p:txBody>
      </p:sp>
      <p:sp>
        <p:nvSpPr>
          <p:cNvPr id="29" name="">
            <a:extLst xmlns:a="http://schemas.openxmlformats.org/drawingml/2006/main">
              <a:ext uri="{FF2B5EF4-FFF2-40B4-BE49-F238E27FC236}">
                <a16:creationId xmlns:a16="http://schemas.microsoft.com/office/drawing/2014/main" id="{DB1C9F29-FDDA-4C93-B8CD-13D68CC4C70E}"/>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794B0F50-E51F-4D97-84AB-445E26A11371}"/>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관리 도구·BigQuery 기반 품질 분석</a:t>
            </a:r>
          </a:p>
        </p:txBody>
      </p:sp>
      <p:sp>
        <p:nvSpPr>
          <p:cNvPr id="31" name="">
            <a:extLst xmlns:a="http://schemas.openxmlformats.org/drawingml/2006/main">
              <a:ext uri="{FF2B5EF4-FFF2-40B4-BE49-F238E27FC236}">
                <a16:creationId xmlns:a16="http://schemas.microsoft.com/office/drawing/2014/main" id="{8EDBC1B4-380B-4F85-BF35-3A33E09C3765}"/>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1D25614E-8ADC-4E1E-8326-A0CB20947208}"/>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정답 안내 페이지·근거 문단·응답 보류·처리시간 대조</a:t>
            </a:r>
          </a:p>
        </p:txBody>
      </p:sp>
    </p:spTree>
    <p:extLst>
      <p:ext uri="{BB962C8B-B14F-4D97-AF65-F5344CB8AC3E}">
        <p14:creationId xmlns:p14="http://schemas.microsoft.com/office/powerpoint/2010/main" val="286711341"/>
      </p:ext>
    </p:extLst>
  </p:cSld>
</p:sld>
</file>

<file path=ppt/slides/slide12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980E353-341A-4CC1-9B5A-CE75E4934F7C}"/>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PF-A12 / CCK 비교·재현 시험 설계</a:t>
            </a:r>
          </a:p>
        </p:txBody>
      </p:sp>
      <p:sp>
        <p:nvSpPr>
          <p:cNvPr id="2" name="">
            <a:extLst xmlns:a="http://schemas.openxmlformats.org/drawingml/2006/main">
              <a:ext uri="{FF2B5EF4-FFF2-40B4-BE49-F238E27FC236}">
                <a16:creationId xmlns:a16="http://schemas.microsoft.com/office/drawing/2014/main" id="{4C52A088-B72C-4D4E-B51B-F637C758A40B}"/>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GOV.UK Chat · 벤치마킹</a:t>
            </a:r>
          </a:p>
        </p:txBody>
      </p:sp>
      <p:sp>
        <p:nvSpPr>
          <p:cNvPr id="3" name="">
            <a:extLst xmlns:a="http://schemas.openxmlformats.org/drawingml/2006/main">
              <a:ext uri="{FF2B5EF4-FFF2-40B4-BE49-F238E27FC236}">
                <a16:creationId xmlns:a16="http://schemas.microsoft.com/office/drawing/2014/main" id="{C11F3322-FD38-4C7E-B47E-5B754360E2D2}"/>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1B75881-3611-4B40-BCB3-342D944BF866}"/>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F927B49A-FBF6-4795-B91A-533B1211F900}"/>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122</a:t>
            </a:r>
          </a:p>
        </p:txBody>
      </p:sp>
      <p:sp>
        <p:nvSpPr>
          <p:cNvPr id="6" name="">
            <a:extLst xmlns:a="http://schemas.openxmlformats.org/drawingml/2006/main">
              <a:ext uri="{FF2B5EF4-FFF2-40B4-BE49-F238E27FC236}">
                <a16:creationId xmlns:a16="http://schemas.microsoft.com/office/drawing/2014/main" id="{6C65BC23-EA97-4E98-A7D4-48153264016B}"/>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0C165B2B-0BFB-48E7-AB37-FE11D39E75E4}"/>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공식 공개 지식에 한정한 RAG</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실제 이용자 실증 평가</a:t>
            </a:r>
          </a:p>
        </p:txBody>
      </p:sp>
      <p:sp>
        <p:nvSpPr>
          <p:cNvPr id="8" name="">
            <a:extLst xmlns:a="http://schemas.openxmlformats.org/drawingml/2006/main">
              <a:ext uri="{FF2B5EF4-FFF2-40B4-BE49-F238E27FC236}">
                <a16:creationId xmlns:a16="http://schemas.microsoft.com/office/drawing/2014/main" id="{FE59203E-0477-4FBC-A64D-4D2B9CA0E681}"/>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2D3E7D6A-B6C1-4747-8053-4716827FFE25}"/>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지연·범위 밖 질문</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안내 서비스를 행정 처리로 확대</a:t>
            </a:r>
          </a:p>
        </p:txBody>
      </p:sp>
      <p:sp>
        <p:nvSpPr>
          <p:cNvPr id="10" name="">
            <a:extLst xmlns:a="http://schemas.openxmlformats.org/drawingml/2006/main">
              <a:ext uri="{FF2B5EF4-FFF2-40B4-BE49-F238E27FC236}">
                <a16:creationId xmlns:a16="http://schemas.microsoft.com/office/drawing/2014/main" id="{7E2E7BCC-09EF-4E10-AA1E-CE3F645E751C}"/>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19AB9ED9-5AD5-4150-899A-B38A4D3B6A1F}"/>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의도 분류·근거·응답 품질 대조</a:t>
            </a:r>
          </a:p>
        </p:txBody>
      </p:sp>
      <p:sp>
        <p:nvSpPr>
          <p:cNvPr id="12" name="">
            <a:extLst xmlns:a="http://schemas.openxmlformats.org/drawingml/2006/main">
              <a:ext uri="{FF2B5EF4-FFF2-40B4-BE49-F238E27FC236}">
                <a16:creationId xmlns:a16="http://schemas.microsoft.com/office/drawing/2014/main" id="{44C1C836-C1B7-444B-A2E8-904369972662}"/>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0E6D9DCC-2694-4BFF-9542-48AAEC6DD971}"/>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신청 방법을 질문하고 근거 안내와 해당 공식 페이</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지 확인</a:t>
            </a:r>
          </a:p>
        </p:txBody>
      </p:sp>
      <p:sp>
        <p:nvSpPr>
          <p:cNvPr id="14" name="">
            <a:extLst xmlns:a="http://schemas.openxmlformats.org/drawingml/2006/main">
              <a:ext uri="{FF2B5EF4-FFF2-40B4-BE49-F238E27FC236}">
                <a16:creationId xmlns:a16="http://schemas.microsoft.com/office/drawing/2014/main" id="{A1509253-7B4D-4546-898C-389E146DB6E1}"/>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512C943B-1531-410D-AE0C-4BA59DD14289}"/>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범위 밖 질문·상충 안내·개인 업무의 실행 요청</a:t>
            </a:r>
          </a:p>
        </p:txBody>
      </p:sp>
      <p:sp>
        <p:nvSpPr>
          <p:cNvPr id="16" name="">
            <a:extLst xmlns:a="http://schemas.openxmlformats.org/drawingml/2006/main">
              <a:ext uri="{FF2B5EF4-FFF2-40B4-BE49-F238E27FC236}">
                <a16:creationId xmlns:a16="http://schemas.microsoft.com/office/drawing/2014/main" id="{A9D792B4-BCB5-416D-8E3F-3A2CB3A18BB2}"/>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9CD9A04D-2FA1-4EC2-B857-13F104052EB0}"/>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정답 안내 페이지·근거 문단·응답 보류·처리시간 대</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조</a:t>
            </a:r>
          </a:p>
        </p:txBody>
      </p:sp>
    </p:spTree>
    <p:extLst>
      <p:ext uri="{BB962C8B-B14F-4D97-AF65-F5344CB8AC3E}">
        <p14:creationId xmlns:p14="http://schemas.microsoft.com/office/powerpoint/2010/main" val="2130925043"/>
      </p:ext>
    </p:extLst>
  </p:cSld>
</p:sld>
</file>

<file path=ppt/slides/slide12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FEC1C14-FFC1-4291-BEF0-CE937BF84415}"/>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PF-A13 / 2024-09~12 실험, 2025/2026 평가 공개 / 해외</a:t>
            </a:r>
          </a:p>
        </p:txBody>
      </p:sp>
      <p:sp>
        <p:nvSpPr>
          <p:cNvPr id="2" name="">
            <a:extLst xmlns:a="http://schemas.openxmlformats.org/drawingml/2006/main">
              <a:ext uri="{FF2B5EF4-FFF2-40B4-BE49-F238E27FC236}">
                <a16:creationId xmlns:a16="http://schemas.microsoft.com/office/drawing/2014/main" id="{5D9585BD-0A3D-489A-A06E-8C38EB040629}"/>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영국 정부 Copilot 실험</a:t>
            </a:r>
          </a:p>
        </p:txBody>
      </p:sp>
      <p:sp>
        <p:nvSpPr>
          <p:cNvPr id="3" name="">
            <a:extLst xmlns:a="http://schemas.openxmlformats.org/drawingml/2006/main">
              <a:ext uri="{FF2B5EF4-FFF2-40B4-BE49-F238E27FC236}">
                <a16:creationId xmlns:a16="http://schemas.microsoft.com/office/drawing/2014/main" id="{DB0AED46-FB69-4590-8A54-6D153BC3A829}"/>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FB1D79F-74B3-42A5-9B0C-7B7FCBBD6159}"/>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1362C3E7-EA31-4075-BD04-CBFB443DB98A}"/>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123</a:t>
            </a:r>
          </a:p>
        </p:txBody>
      </p:sp>
      <p:sp>
        <p:nvSpPr>
          <p:cNvPr id="6" name="">
            <a:extLst xmlns:a="http://schemas.openxmlformats.org/drawingml/2006/main">
              <a:ext uri="{FF2B5EF4-FFF2-40B4-BE49-F238E27FC236}">
                <a16:creationId xmlns:a16="http://schemas.microsoft.com/office/drawing/2014/main" id="{D64E8BA5-C2A4-44E3-A76B-C4661958804E}"/>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BED2E433-0DC9-4B90-9A1C-9839A30B6A62}"/>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기존 M365 문서·회의 접점에서 공무원의 작성·검색·요</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약을 지원한 실험. 새 업무 시스템 구축보다 직원이 이미</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접근하는 자료와 협업 도구 안에 AI를 배치한 유형.</a:t>
            </a:r>
          </a:p>
        </p:txBody>
      </p:sp>
      <p:sp>
        <p:nvSpPr>
          <p:cNvPr id="8" name="">
            <a:extLst xmlns:a="http://schemas.openxmlformats.org/drawingml/2006/main">
              <a:ext uri="{FF2B5EF4-FFF2-40B4-BE49-F238E27FC236}">
                <a16:creationId xmlns:a16="http://schemas.microsoft.com/office/drawing/2014/main" id="{0F2B3CB2-7D2A-482B-B0E1-A09102CFDDA5}"/>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FAA95D8A-5C22-4078-9BAB-6F91B07712F8}"/>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자료 접근권한을 전제로 요청 문맥을 만들고 검색·생성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결과를 직원이 검토하는 흐름. 조직·직무별 동일 과업을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정의한 뒤 AI 사용 전후의 초안 작성, 사실 확인, 수정 시</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간을 함께 기록하는 CCK 비교 설계.</a:t>
            </a:r>
          </a:p>
        </p:txBody>
      </p:sp>
      <p:sp>
        <p:nvSpPr>
          <p:cNvPr id="10" name="">
            <a:extLst xmlns:a="http://schemas.openxmlformats.org/drawingml/2006/main">
              <a:ext uri="{FF2B5EF4-FFF2-40B4-BE49-F238E27FC236}">
                <a16:creationId xmlns:a16="http://schemas.microsoft.com/office/drawing/2014/main" id="{25DABBDF-F704-49D5-8B77-D77215F7FC58}"/>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94421355-D592-4942-9FE9-453E1D810342}"/>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설문 자기보고 절감시간을 TS의 예상 절감률로 직접 전환</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하지 않는 평가. 과다공유 문서, 복잡한 질의, 숙련도 차이</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와 재작업을 포함해 부서별 완료시간·오류율을 산정할 필</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요.</a:t>
            </a:r>
          </a:p>
        </p:txBody>
      </p:sp>
      <p:sp>
        <p:nvSpPr>
          <p:cNvPr id="12" name="">
            <a:extLst xmlns:a="http://schemas.openxmlformats.org/drawingml/2006/main">
              <a:ext uri="{FF2B5EF4-FFF2-40B4-BE49-F238E27FC236}">
                <a16:creationId xmlns:a16="http://schemas.microsoft.com/office/drawing/2014/main" id="{C8BD4842-86A7-4355-A66D-DA53814B346E}"/>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EB6A0A81-41DF-4541-BE4B-A845CAED2C4A}"/>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부서·직무·권한·변경 교차 평가</a:t>
            </a:r>
          </a:p>
        </p:txBody>
      </p:sp>
      <p:sp>
        <p:nvSpPr>
          <p:cNvPr id="14" name="">
            <a:extLst xmlns:a="http://schemas.openxmlformats.org/drawingml/2006/main">
              <a:ext uri="{FF2B5EF4-FFF2-40B4-BE49-F238E27FC236}">
                <a16:creationId xmlns:a16="http://schemas.microsoft.com/office/drawing/2014/main" id="{A73C3341-B27E-4FF2-8CB8-22ADB7C5DDE7}"/>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FF8D93F5-5AE6-4F06-87BB-D5D369DB5169}"/>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완료시간·오류·총비용의 기준선·비교 평가</a:t>
            </a:r>
          </a:p>
        </p:txBody>
      </p:sp>
      <p:sp>
        <p:nvSpPr>
          <p:cNvPr id="16" name="">
            <a:extLst xmlns:a="http://schemas.openxmlformats.org/drawingml/2006/main">
              <a:ext uri="{FF2B5EF4-FFF2-40B4-BE49-F238E27FC236}">
                <a16:creationId xmlns:a16="http://schemas.microsoft.com/office/drawing/2014/main" id="{B1EEA646-C612-4448-817E-6A9BF6A8DBD1}"/>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7A1C3BEE-5631-4557-B029-E5832CDD41AC}"/>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완료시간·오류·총비용</a:t>
            </a:r>
          </a:p>
        </p:txBody>
      </p:sp>
      <p:sp>
        <p:nvSpPr>
          <p:cNvPr id="18" name="">
            <a:extLst xmlns:a="http://schemas.openxmlformats.org/drawingml/2006/main">
              <a:ext uri="{FF2B5EF4-FFF2-40B4-BE49-F238E27FC236}">
                <a16:creationId xmlns:a16="http://schemas.microsoft.com/office/drawing/2014/main" id="{B9C80FD7-46B7-4542-8DF6-656BCDC9EC25}"/>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두 보고서는 모집단 중복. 자기보고 시간은 객관 실측/예산절감 아님; HMRC는 무작위 배정 포함</a:t>
            </a:r>
          </a:p>
        </p:txBody>
      </p:sp>
    </p:spTree>
    <p:extLst>
      <p:ext uri="{BB962C8B-B14F-4D97-AF65-F5344CB8AC3E}">
        <p14:creationId xmlns:p14="http://schemas.microsoft.com/office/powerpoint/2010/main" val="1150445396"/>
      </p:ext>
    </p:extLst>
  </p:cSld>
</p:sld>
</file>

<file path=ppt/slides/slide12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B6772AD7-A0A7-4D00-8BFC-0093F400B8AB}"/>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BC919970-4E09-4103-9A76-1406A3A545B7}"/>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19298939-492B-408D-BE69-A25C5B293DF0}"/>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278C769C-856C-4187-B136-0572BF6BA4ED}"/>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A83CA113-793F-4327-8DB4-18D3367E61BE}"/>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1EEF18A4-B118-4847-BC00-F5930562916C}"/>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3665C9F9-D37B-4E74-8DFE-2E15882A38B2}"/>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C987B94E-D018-4022-893B-EBF1258A2F2F}"/>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0CE0D043-DEBD-4636-AB5A-623FAAEAA125}"/>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B5910C09-4709-416E-9BF2-81D9F60FCEE8}"/>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PF-A13 / CCK 세부 재구성 · 논리 서비스 설계</a:t>
            </a:r>
          </a:p>
        </p:txBody>
      </p:sp>
      <p:sp>
        <p:nvSpPr>
          <p:cNvPr id="2" name="">
            <a:extLst xmlns:a="http://schemas.openxmlformats.org/drawingml/2006/main">
              <a:ext uri="{FF2B5EF4-FFF2-40B4-BE49-F238E27FC236}">
                <a16:creationId xmlns:a16="http://schemas.microsoft.com/office/drawing/2014/main" id="{A73672DE-7104-4E0B-9AD0-539B343EDDBC}"/>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영국 정부 Copilot 실험 · 세부 서비스 구조</a:t>
            </a:r>
          </a:p>
        </p:txBody>
      </p:sp>
      <p:sp>
        <p:nvSpPr>
          <p:cNvPr id="3" name="">
            <a:extLst xmlns:a="http://schemas.openxmlformats.org/drawingml/2006/main">
              <a:ext uri="{FF2B5EF4-FFF2-40B4-BE49-F238E27FC236}">
                <a16:creationId xmlns:a16="http://schemas.microsoft.com/office/drawing/2014/main" id="{94685A7E-EB56-456D-A168-56767AFE4FCC}"/>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ED0AB5E-CE64-4403-9500-3C4BF93A91E6}"/>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DBAE099E-79FA-49F7-9F6F-8F5D1B100275}"/>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124</a:t>
            </a:r>
          </a:p>
        </p:txBody>
      </p:sp>
      <p:sp>
        <p:nvSpPr>
          <p:cNvPr id="6" name="">
            <a:extLst xmlns:a="http://schemas.openxmlformats.org/drawingml/2006/main">
              <a:ext uri="{FF2B5EF4-FFF2-40B4-BE49-F238E27FC236}">
                <a16:creationId xmlns:a16="http://schemas.microsoft.com/office/drawing/2014/main" id="{CE47B124-A3C1-432A-9895-412B552C78D5}"/>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운영기관·공급사·감사 자료의 업무 설명</a:t>
            </a:r>
          </a:p>
        </p:txBody>
      </p:sp>
      <p:sp>
        <p:nvSpPr>
          <p:cNvPr id="7" name="">
            <a:extLst xmlns:a="http://schemas.openxmlformats.org/drawingml/2006/main">
              <a:ext uri="{FF2B5EF4-FFF2-40B4-BE49-F238E27FC236}">
                <a16:creationId xmlns:a16="http://schemas.microsoft.com/office/drawing/2014/main" id="{4855B106-C234-4AEB-84ED-F3BA9264AE4C}"/>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D239E7E3-BB6E-4C00-9779-BAAB2BCC7DCD}"/>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EB5C1F25-BB55-4644-8578-455B74CC6A7B}"/>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M365 업무 요청</a:t>
            </a:r>
          </a:p>
        </p:txBody>
      </p:sp>
      <p:sp>
        <p:nvSpPr>
          <p:cNvPr id="10" name="">
            <a:extLst xmlns:a="http://schemas.openxmlformats.org/drawingml/2006/main">
              <a:ext uri="{FF2B5EF4-FFF2-40B4-BE49-F238E27FC236}">
                <a16:creationId xmlns:a16="http://schemas.microsoft.com/office/drawing/2014/main" id="{3F67964B-0DB3-41CF-BD2A-F84160C44934}"/>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C2EA54C3-3DE7-407A-9CAA-50DA2047CEBD}"/>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26553752-3C26-40F0-A258-FD6C723A7CB9}"/>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직원·과업 맥락</a:t>
            </a:r>
          </a:p>
        </p:txBody>
      </p:sp>
      <p:sp>
        <p:nvSpPr>
          <p:cNvPr id="13" name="">
            <a:extLst xmlns:a="http://schemas.openxmlformats.org/drawingml/2006/main">
              <a:ext uri="{FF2B5EF4-FFF2-40B4-BE49-F238E27FC236}">
                <a16:creationId xmlns:a16="http://schemas.microsoft.com/office/drawing/2014/main" id="{B9A36B1D-7565-4C7E-82D9-1403F15A726C}"/>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6F5F62FF-D846-471F-9867-9322A81E1ECE}"/>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865401B1-54EE-4CDA-9A5D-FD9899EF2AE9}"/>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권한 내 자료 조회</a:t>
            </a:r>
          </a:p>
        </p:txBody>
      </p:sp>
      <p:sp>
        <p:nvSpPr>
          <p:cNvPr id="16" name="">
            <a:extLst xmlns:a="http://schemas.openxmlformats.org/drawingml/2006/main">
              <a:ext uri="{FF2B5EF4-FFF2-40B4-BE49-F238E27FC236}">
                <a16:creationId xmlns:a16="http://schemas.microsoft.com/office/drawing/2014/main" id="{4D63C245-8705-4FF9-A88F-24F0EDF0F5FA}"/>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3EA9F632-C5E5-498A-A385-B3DB059B0C5B}"/>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2F142233-96CB-4CA2-8D62-F101CC4DCBAF}"/>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검색·요약·작성</a:t>
            </a:r>
          </a:p>
        </p:txBody>
      </p:sp>
      <p:sp>
        <p:nvSpPr>
          <p:cNvPr id="19" name="">
            <a:extLst xmlns:a="http://schemas.openxmlformats.org/drawingml/2006/main">
              <a:ext uri="{FF2B5EF4-FFF2-40B4-BE49-F238E27FC236}">
                <a16:creationId xmlns:a16="http://schemas.microsoft.com/office/drawing/2014/main" id="{E97A73AF-BC3A-47B8-BF3E-B978C3FA3655}"/>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B847E1A1-38EF-443F-B5EA-7CFC112BBED9}"/>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479D9A3B-267C-483E-912D-5845E5A0A71C}"/>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근거·사실 대조</a:t>
            </a:r>
          </a:p>
        </p:txBody>
      </p:sp>
      <p:sp>
        <p:nvSpPr>
          <p:cNvPr id="22" name="">
            <a:extLst xmlns:a="http://schemas.openxmlformats.org/drawingml/2006/main">
              <a:ext uri="{FF2B5EF4-FFF2-40B4-BE49-F238E27FC236}">
                <a16:creationId xmlns:a16="http://schemas.microsoft.com/office/drawing/2014/main" id="{CBDE6584-FEB6-4633-B5C8-4942D65F11CE}"/>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4FF44874-0117-417E-B196-D3DC2437ECCA}"/>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743E57FF-A9E6-4BA6-94D7-F1B4491C5DBD}"/>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직원 편집·확인</a:t>
            </a:r>
          </a:p>
        </p:txBody>
      </p:sp>
      <p:sp>
        <p:nvSpPr>
          <p:cNvPr id="25" name="">
            <a:extLst xmlns:a="http://schemas.openxmlformats.org/drawingml/2006/main">
              <a:ext uri="{FF2B5EF4-FFF2-40B4-BE49-F238E27FC236}">
                <a16:creationId xmlns:a16="http://schemas.microsoft.com/office/drawing/2014/main" id="{87A54C3B-118F-4A84-BD74-F5E7B7EE5EE4}"/>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871DFE89-112C-4EDC-81A2-C0A6A93A66EF}"/>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D4DEF4BC-4AB4-4B5F-AAFB-900BFB5A02BE}"/>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문서·회의 후속업무</a:t>
            </a:r>
          </a:p>
        </p:txBody>
      </p:sp>
      <p:sp>
        <p:nvSpPr>
          <p:cNvPr id="28" name="">
            <a:extLst xmlns:a="http://schemas.openxmlformats.org/drawingml/2006/main">
              <a:ext uri="{FF2B5EF4-FFF2-40B4-BE49-F238E27FC236}">
                <a16:creationId xmlns:a16="http://schemas.microsoft.com/office/drawing/2014/main" id="{19BBA754-B479-40DE-8F82-CA0FF0C31F8E}"/>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0403F60C-3BC4-4AC6-8EB3-D04A8391FE82}"/>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6D59D949-7B8F-49C9-80C4-F8CE333816E4}"/>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검토시간 비교</a:t>
            </a:r>
          </a:p>
        </p:txBody>
      </p:sp>
      <p:sp>
        <p:nvSpPr>
          <p:cNvPr id="31" name="">
            <a:extLst xmlns:a="http://schemas.openxmlformats.org/drawingml/2006/main">
              <a:ext uri="{FF2B5EF4-FFF2-40B4-BE49-F238E27FC236}">
                <a16:creationId xmlns:a16="http://schemas.microsoft.com/office/drawing/2014/main" id="{64481F03-CCDD-4E1A-96DB-3348CA2E0C21}"/>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697139D9-8DB6-408D-95CE-AAE4282F91FF}"/>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0B02D8C1-BB08-43AA-8D33-5690B46BB57A}"/>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문서·회의 자료</a:t>
            </a:r>
          </a:p>
        </p:txBody>
      </p:sp>
      <p:sp>
        <p:nvSpPr>
          <p:cNvPr id="34" name="">
            <a:extLst xmlns:a="http://schemas.openxmlformats.org/drawingml/2006/main">
              <a:ext uri="{FF2B5EF4-FFF2-40B4-BE49-F238E27FC236}">
                <a16:creationId xmlns:a16="http://schemas.microsoft.com/office/drawing/2014/main" id="{5E3A5CC7-C22C-4B6E-8203-B375EE82F40F}"/>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66129464-CBF4-4D38-B2FD-B1FE68C23CC2}"/>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03828E75-3F16-44A4-8E26-7831231E65DB}"/>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공유범위 점검</a:t>
            </a:r>
          </a:p>
        </p:txBody>
      </p:sp>
      <p:sp>
        <p:nvSpPr>
          <p:cNvPr id="37" name="">
            <a:extLst xmlns:a="http://schemas.openxmlformats.org/drawingml/2006/main">
              <a:ext uri="{FF2B5EF4-FFF2-40B4-BE49-F238E27FC236}">
                <a16:creationId xmlns:a16="http://schemas.microsoft.com/office/drawing/2014/main" id="{A72C0481-9235-4870-86A6-E37AA5B906DD}"/>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D7E45B42-5F46-4835-9D76-D4FF2DAC9930}"/>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1A6CD7C7-7DBF-4E88-946F-9E12836D190F}"/>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업무·평가 기록</a:t>
            </a:r>
          </a:p>
        </p:txBody>
      </p:sp>
      <p:sp>
        <p:nvSpPr>
          <p:cNvPr id="40" name="">
            <a:extLst xmlns:a="http://schemas.openxmlformats.org/drawingml/2006/main">
              <a:ext uri="{FF2B5EF4-FFF2-40B4-BE49-F238E27FC236}">
                <a16:creationId xmlns:a16="http://schemas.microsoft.com/office/drawing/2014/main" id="{51AE4A8A-B20C-4E99-81A9-3AFE11286C89}"/>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9C054210-7A37-4330-90FF-8259752C8DBD}"/>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F3316C6F-186E-40AE-B294-0AEC7F47424E}"/>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문서 접근정책</a:t>
            </a:r>
          </a:p>
        </p:txBody>
      </p:sp>
      <p:sp>
        <p:nvSpPr>
          <p:cNvPr id="52" name="">
            <a:extLst xmlns:a="http://schemas.openxmlformats.org/drawingml/2006/main">
              <a:ext uri="{FF2B5EF4-FFF2-40B4-BE49-F238E27FC236}">
                <a16:creationId xmlns:a16="http://schemas.microsoft.com/office/drawing/2014/main" id="{AFB10F6C-1066-4DF5-A64A-FB6B1155B497}"/>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154701925"/>
      </p:ext>
    </p:extLst>
  </p:cSld>
</p:sld>
</file>

<file path=ppt/slides/slide12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F3BE592A-8E51-48C4-977D-7935FFBBE312}"/>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PF-A13 / 논리 인터페이스·복구 설계</a:t>
            </a:r>
          </a:p>
        </p:txBody>
      </p:sp>
      <p:sp>
        <p:nvSpPr>
          <p:cNvPr id="2" name="">
            <a:extLst xmlns:a="http://schemas.openxmlformats.org/drawingml/2006/main">
              <a:ext uri="{FF2B5EF4-FFF2-40B4-BE49-F238E27FC236}">
                <a16:creationId xmlns:a16="http://schemas.microsoft.com/office/drawing/2014/main" id="{7A0CDB37-5F99-4A21-83B6-8F41521B3D3F}"/>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영국 정부 Copilot 실험 · 데이터와 예외 처리</a:t>
            </a:r>
          </a:p>
        </p:txBody>
      </p:sp>
      <p:sp>
        <p:nvSpPr>
          <p:cNvPr id="3" name="">
            <a:extLst xmlns:a="http://schemas.openxmlformats.org/drawingml/2006/main">
              <a:ext uri="{FF2B5EF4-FFF2-40B4-BE49-F238E27FC236}">
                <a16:creationId xmlns:a16="http://schemas.microsoft.com/office/drawing/2014/main" id="{306D9FD1-5A07-4B3A-A38E-26040B8C912A}"/>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CE350BA-9456-4845-A2E1-E3F4D177C67C}"/>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184D396B-03AE-461B-A20D-55A10CE5CF07}"/>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125</a:t>
            </a:r>
          </a:p>
        </p:txBody>
      </p:sp>
      <p:sp>
        <p:nvSpPr>
          <p:cNvPr id="6" name="">
            <a:extLst xmlns:a="http://schemas.openxmlformats.org/drawingml/2006/main">
              <a:ext uri="{FF2B5EF4-FFF2-40B4-BE49-F238E27FC236}">
                <a16:creationId xmlns:a16="http://schemas.microsoft.com/office/drawing/2014/main" id="{9F446A8F-9131-4033-A3AF-887BA763396A}"/>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332DFAC5-AEBC-403E-AD3F-401537BCA13F}"/>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12815E08-BDA9-44DA-99D2-FF5EE311194C}"/>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D682CD7B-F378-4BDA-8444-E3B95A4C0CAF}"/>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직원 계정과 과업별 접근 문맥</a:t>
            </a:r>
          </a:p>
        </p:txBody>
      </p:sp>
      <p:sp>
        <p:nvSpPr>
          <p:cNvPr id="10" name="">
            <a:extLst xmlns:a="http://schemas.openxmlformats.org/drawingml/2006/main">
              <a:ext uri="{FF2B5EF4-FFF2-40B4-BE49-F238E27FC236}">
                <a16:creationId xmlns:a16="http://schemas.microsoft.com/office/drawing/2014/main" id="{C7F6028C-52C4-4DB2-90D5-06BB2B0E39E8}"/>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14F2720-77E1-4F7E-8846-C12000338373}"/>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D32A8D7B-2E83-4CAE-A83E-0433D8018748}"/>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요청</a:t>
            </a:r>
          </a:p>
        </p:txBody>
      </p:sp>
      <p:sp>
        <p:nvSpPr>
          <p:cNvPr id="13" name="">
            <a:extLst xmlns:a="http://schemas.openxmlformats.org/drawingml/2006/main">
              <a:ext uri="{FF2B5EF4-FFF2-40B4-BE49-F238E27FC236}">
                <a16:creationId xmlns:a16="http://schemas.microsoft.com/office/drawing/2014/main" id="{3D696877-EB93-49E8-A2F2-18B9234DA67E}"/>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9175389-DE06-4793-A9FA-8EB52FE4248F}"/>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D82812D0-9424-4A1D-981C-6407FBF51EC4}"/>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허용 문맥</a:t>
            </a:r>
          </a:p>
        </p:txBody>
      </p:sp>
      <p:sp>
        <p:nvSpPr>
          <p:cNvPr id="16" name="">
            <a:extLst xmlns:a="http://schemas.openxmlformats.org/drawingml/2006/main">
              <a:ext uri="{FF2B5EF4-FFF2-40B4-BE49-F238E27FC236}">
                <a16:creationId xmlns:a16="http://schemas.microsoft.com/office/drawing/2014/main" id="{2DB9B1BF-853D-409B-AAA0-54C492042C96}"/>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A6F3124-5661-41B3-B29D-D5FFCF8EA634}"/>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B07EA2E7-1B20-40CD-B57A-D5151D0E0B47}"/>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초안</a:t>
            </a:r>
          </a:p>
        </p:txBody>
      </p:sp>
      <p:sp>
        <p:nvSpPr>
          <p:cNvPr id="19" name="">
            <a:extLst xmlns:a="http://schemas.openxmlformats.org/drawingml/2006/main">
              <a:ext uri="{FF2B5EF4-FFF2-40B4-BE49-F238E27FC236}">
                <a16:creationId xmlns:a16="http://schemas.microsoft.com/office/drawing/2014/main" id="{D81E223A-2EFC-4303-A766-69626BACE1FE}"/>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13A1D5B-21C4-435F-9F80-9FEA74192943}"/>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B0BA5B59-8EFA-43C2-9985-6E02BBC34D1F}"/>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초안</a:t>
            </a:r>
          </a:p>
        </p:txBody>
      </p:sp>
      <p:sp>
        <p:nvSpPr>
          <p:cNvPr id="22" name="">
            <a:extLst xmlns:a="http://schemas.openxmlformats.org/drawingml/2006/main">
              <a:ext uri="{FF2B5EF4-FFF2-40B4-BE49-F238E27FC236}">
                <a16:creationId xmlns:a16="http://schemas.microsoft.com/office/drawing/2014/main" id="{51A673B7-F621-4323-968C-344AB8235E4C}"/>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1E586C6-170F-48EE-88B0-9A9D5A880C3F}"/>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EA9E64DF-78B5-4F63-B529-8B0813C7C11D}"/>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검토·설문</a:t>
            </a:r>
          </a:p>
        </p:txBody>
      </p:sp>
      <p:sp>
        <p:nvSpPr>
          <p:cNvPr id="25" name="">
            <a:extLst xmlns:a="http://schemas.openxmlformats.org/drawingml/2006/main">
              <a:ext uri="{FF2B5EF4-FFF2-40B4-BE49-F238E27FC236}">
                <a16:creationId xmlns:a16="http://schemas.microsoft.com/office/drawing/2014/main" id="{BF03A633-4F27-48A1-8B7E-D43E15BD69F7}"/>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521EC6E0-CCF7-4660-BDE4-4B35D903453F}"/>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다른 부서 공유문서·누락된 발언·잘못된 할일 배정</a:t>
            </a:r>
          </a:p>
        </p:txBody>
      </p:sp>
      <p:sp>
        <p:nvSpPr>
          <p:cNvPr id="27" name="">
            <a:extLst xmlns:a="http://schemas.openxmlformats.org/drawingml/2006/main">
              <a:ext uri="{FF2B5EF4-FFF2-40B4-BE49-F238E27FC236}">
                <a16:creationId xmlns:a16="http://schemas.microsoft.com/office/drawing/2014/main" id="{440F5630-DD2E-4D11-9452-B0A8489274F8}"/>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CB8E74A2-137C-437C-8A4B-23A0BA6FEAF9}"/>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동일 과업의 실제 검토시간 비교</a:t>
            </a:r>
          </a:p>
        </p:txBody>
      </p:sp>
      <p:sp>
        <p:nvSpPr>
          <p:cNvPr id="29" name="">
            <a:extLst xmlns:a="http://schemas.openxmlformats.org/drawingml/2006/main">
              <a:ext uri="{FF2B5EF4-FFF2-40B4-BE49-F238E27FC236}">
                <a16:creationId xmlns:a16="http://schemas.microsoft.com/office/drawing/2014/main" id="{BCD57488-DF78-4675-B127-AB1B81DA4314}"/>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7ADB99DE-512C-41DF-920A-5BA5C5C386DD}"/>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검토·재작업 시간과 사용 로그의 과업별 비교</a:t>
            </a:r>
          </a:p>
        </p:txBody>
      </p:sp>
      <p:sp>
        <p:nvSpPr>
          <p:cNvPr id="31" name="">
            <a:extLst xmlns:a="http://schemas.openxmlformats.org/drawingml/2006/main">
              <a:ext uri="{FF2B5EF4-FFF2-40B4-BE49-F238E27FC236}">
                <a16:creationId xmlns:a16="http://schemas.microsoft.com/office/drawing/2014/main" id="{306944A0-F4EF-4596-9678-2582953AA606}"/>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2C083CC6-20FB-4332-80F2-AD8018DECA26}"/>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권한별 결과와 검토·재작업을 포함한 과업 완료시간</a:t>
            </a:r>
          </a:p>
        </p:txBody>
      </p:sp>
    </p:spTree>
    <p:extLst>
      <p:ext uri="{BB962C8B-B14F-4D97-AF65-F5344CB8AC3E}">
        <p14:creationId xmlns:p14="http://schemas.microsoft.com/office/powerpoint/2010/main" val="354385585"/>
      </p:ext>
    </p:extLst>
  </p:cSld>
</p:sld>
</file>

<file path=ppt/slides/slide126.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D7F85D3-3DA3-4ECD-A5F8-DBC0E7E53CBD}"/>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PF-A13 / CCK 비교·재현 시험 설계</a:t>
            </a:r>
          </a:p>
        </p:txBody>
      </p:sp>
      <p:sp>
        <p:nvSpPr>
          <p:cNvPr id="2" name="">
            <a:extLst xmlns:a="http://schemas.openxmlformats.org/drawingml/2006/main">
              <a:ext uri="{FF2B5EF4-FFF2-40B4-BE49-F238E27FC236}">
                <a16:creationId xmlns:a16="http://schemas.microsoft.com/office/drawing/2014/main" id="{A3777590-D16D-4C2F-B1C9-3E781831AAF4}"/>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영국 정부 Copilot 실험 · 벤치마킹</a:t>
            </a:r>
          </a:p>
        </p:txBody>
      </p:sp>
      <p:sp>
        <p:nvSpPr>
          <p:cNvPr id="3" name="">
            <a:extLst xmlns:a="http://schemas.openxmlformats.org/drawingml/2006/main">
              <a:ext uri="{FF2B5EF4-FFF2-40B4-BE49-F238E27FC236}">
                <a16:creationId xmlns:a16="http://schemas.microsoft.com/office/drawing/2014/main" id="{2F8304EB-7A54-4905-98D5-E0BCC431012E}"/>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B86A0AC-534D-46DD-8191-318216AEA114}"/>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EE98F9C0-F56C-4346-BD2F-08B884654655}"/>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126</a:t>
            </a:r>
          </a:p>
        </p:txBody>
      </p:sp>
      <p:sp>
        <p:nvSpPr>
          <p:cNvPr id="6" name="">
            <a:extLst xmlns:a="http://schemas.openxmlformats.org/drawingml/2006/main">
              <a:ext uri="{FF2B5EF4-FFF2-40B4-BE49-F238E27FC236}">
                <a16:creationId xmlns:a16="http://schemas.microsoft.com/office/drawing/2014/main" id="{9F73972C-E0DE-475F-892B-BEE58A3F0D92}"/>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77EBD56E-98AC-49DC-A7B3-21902F5653A2}"/>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기존 협업 도구 내 AI 지원</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교육·설문·활용 관측</a:t>
            </a:r>
          </a:p>
        </p:txBody>
      </p:sp>
      <p:sp>
        <p:nvSpPr>
          <p:cNvPr id="8" name="">
            <a:extLst xmlns:a="http://schemas.openxmlformats.org/drawingml/2006/main">
              <a:ext uri="{FF2B5EF4-FFF2-40B4-BE49-F238E27FC236}">
                <a16:creationId xmlns:a16="http://schemas.microsoft.com/office/drawing/2014/main" id="{B5256A8F-FE7D-448A-A56F-997CBE82BD1A}"/>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F336DCC4-9718-46EF-98CC-886FA1F185F6}"/>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과업별 성과 편차</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자기보고 절감시간의 과대 일반화</a:t>
            </a:r>
          </a:p>
        </p:txBody>
      </p:sp>
      <p:sp>
        <p:nvSpPr>
          <p:cNvPr id="10" name="">
            <a:extLst xmlns:a="http://schemas.openxmlformats.org/drawingml/2006/main">
              <a:ext uri="{FF2B5EF4-FFF2-40B4-BE49-F238E27FC236}">
                <a16:creationId xmlns:a16="http://schemas.microsoft.com/office/drawing/2014/main" id="{0C1E93E4-A3B4-42B4-8863-B58B21BA1BD5}"/>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BC77C565-4EB2-4BC4-9DCB-18858DF6D42F}"/>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동일 과업의 실제 검토시간 비교</a:t>
            </a:r>
          </a:p>
        </p:txBody>
      </p:sp>
      <p:sp>
        <p:nvSpPr>
          <p:cNvPr id="12" name="">
            <a:extLst xmlns:a="http://schemas.openxmlformats.org/drawingml/2006/main">
              <a:ext uri="{FF2B5EF4-FFF2-40B4-BE49-F238E27FC236}">
                <a16:creationId xmlns:a16="http://schemas.microsoft.com/office/drawing/2014/main" id="{F4FC942C-49E3-4284-89B8-78314068F86A}"/>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6C6E9151-B105-4A5F-B06B-CCBF9304294E}"/>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같은 회의자료로 회의록 초안을 작성하고 직원이 </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수정·확정</a:t>
            </a:r>
          </a:p>
        </p:txBody>
      </p:sp>
      <p:sp>
        <p:nvSpPr>
          <p:cNvPr id="14" name="">
            <a:extLst xmlns:a="http://schemas.openxmlformats.org/drawingml/2006/main">
              <a:ext uri="{FF2B5EF4-FFF2-40B4-BE49-F238E27FC236}">
                <a16:creationId xmlns:a16="http://schemas.microsoft.com/office/drawing/2014/main" id="{2EE7A584-5BC5-4245-B58B-4998F4935734}"/>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32B84C46-22AF-4673-AFA4-04C120A857B7}"/>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다른 부서 공유문서·누락된 발언·잘못된 할일 배정</a:t>
            </a:r>
          </a:p>
        </p:txBody>
      </p:sp>
      <p:sp>
        <p:nvSpPr>
          <p:cNvPr id="16" name="">
            <a:extLst xmlns:a="http://schemas.openxmlformats.org/drawingml/2006/main">
              <a:ext uri="{FF2B5EF4-FFF2-40B4-BE49-F238E27FC236}">
                <a16:creationId xmlns:a16="http://schemas.microsoft.com/office/drawing/2014/main" id="{541772E7-5FC8-4038-ADCC-B700EE099485}"/>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989EBCFB-ECEE-4F4A-BF4E-61CF80928A64}"/>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권한별 결과와 검토·재작업을 포함한 과업 완료시</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간</a:t>
            </a:r>
          </a:p>
        </p:txBody>
      </p:sp>
    </p:spTree>
    <p:extLst>
      <p:ext uri="{BB962C8B-B14F-4D97-AF65-F5344CB8AC3E}">
        <p14:creationId xmlns:p14="http://schemas.microsoft.com/office/powerpoint/2010/main" val="1646899195"/>
      </p:ext>
    </p:extLst>
  </p:cSld>
</p:sld>
</file>

<file path=ppt/slides/slide127.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C3CB914-AB75-4644-B312-E990D88A61CD}"/>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PF-A14 / 정책 의견수렴 분석 최초 실증(2025-05 발표) / 해외</a:t>
            </a:r>
          </a:p>
        </p:txBody>
      </p:sp>
      <p:sp>
        <p:nvSpPr>
          <p:cNvPr id="2" name="">
            <a:extLst xmlns:a="http://schemas.openxmlformats.org/drawingml/2006/main">
              <a:ext uri="{FF2B5EF4-FFF2-40B4-BE49-F238E27FC236}">
                <a16:creationId xmlns:a16="http://schemas.microsoft.com/office/drawing/2014/main" id="{83B27330-05FA-4324-8F9D-21A43298302C}"/>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영국 Consult</a:t>
            </a:r>
          </a:p>
        </p:txBody>
      </p:sp>
      <p:sp>
        <p:nvSpPr>
          <p:cNvPr id="3" name="">
            <a:extLst xmlns:a="http://schemas.openxmlformats.org/drawingml/2006/main">
              <a:ext uri="{FF2B5EF4-FFF2-40B4-BE49-F238E27FC236}">
                <a16:creationId xmlns:a16="http://schemas.microsoft.com/office/drawing/2014/main" id="{2274D2AB-B1AF-475C-AD5F-C7049E5DA3DF}"/>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CD932DA-9A2E-4AB1-8A25-215724553B40}"/>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E711AA78-9155-4B42-AC22-0EF5BC6204D6}"/>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127</a:t>
            </a:r>
          </a:p>
        </p:txBody>
      </p:sp>
      <p:sp>
        <p:nvSpPr>
          <p:cNvPr id="6" name="">
            <a:extLst xmlns:a="http://schemas.openxmlformats.org/drawingml/2006/main">
              <a:ext uri="{FF2B5EF4-FFF2-40B4-BE49-F238E27FC236}">
                <a16:creationId xmlns:a16="http://schemas.microsoft.com/office/drawing/2014/main" id="{53EDB7DE-58D5-4E2B-8441-D4445B98553C}"/>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A42EF6C0-EB4F-4EC2-939F-A8E26B20F5FF}"/>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영국 Consult의 정책 의견수렴 분석 사례. 다수의 응답</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을 주제별로 분류·요약해 정책 담당자의 검토를 돕는 방</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식이며 의견의 채택이나 정책 결정을 자동화하는 기능과</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구분.</a:t>
            </a:r>
          </a:p>
        </p:txBody>
      </p:sp>
      <p:sp>
        <p:nvSpPr>
          <p:cNvPr id="8" name="">
            <a:extLst xmlns:a="http://schemas.openxmlformats.org/drawingml/2006/main">
              <a:ext uri="{FF2B5EF4-FFF2-40B4-BE49-F238E27FC236}">
                <a16:creationId xmlns:a16="http://schemas.microsoft.com/office/drawing/2014/main" id="{193991B2-DA06-4B0D-A1C8-19EFA22A0584}"/>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9A90B5A7-A376-4DC5-8D38-4ACFE7BEC32A}"/>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설문 문항·응답 원문을 입력하고 주제 후보 생성, 응답별</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분류, 주제별 요약, 검토자의 수정으로 이어지는 논리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흐름. 원문 응답과 요약의 연결을 유지해 소수·반대 의견</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이 요약에서 누락됐는지 추적하는 구성.</a:t>
            </a:r>
          </a:p>
        </p:txBody>
      </p:sp>
      <p:sp>
        <p:nvSpPr>
          <p:cNvPr id="10" name="">
            <a:extLst xmlns:a="http://schemas.openxmlformats.org/drawingml/2006/main">
              <a:ext uri="{FF2B5EF4-FFF2-40B4-BE49-F238E27FC236}">
                <a16:creationId xmlns:a16="http://schemas.microsoft.com/office/drawing/2014/main" id="{E0B63731-F39E-468C-AA38-257DF2190DF4}"/>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9B32539F-A950-4554-AD9C-4E62A37C321B}"/>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CCK의 민원·의견 분석에서는 전체 빈도만으로 성과를 판</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단하기 어려움. 다중 주제, 소수 의견, 상반된 입장, 부정</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확한 인용을 포함한 정답셋과 담당자의 수정 시간을 함께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측정하는 방식의 적용.</a:t>
            </a:r>
          </a:p>
        </p:txBody>
      </p:sp>
      <p:sp>
        <p:nvSpPr>
          <p:cNvPr id="12" name="">
            <a:extLst xmlns:a="http://schemas.openxmlformats.org/drawingml/2006/main">
              <a:ext uri="{FF2B5EF4-FFF2-40B4-BE49-F238E27FC236}">
                <a16:creationId xmlns:a16="http://schemas.microsoft.com/office/drawing/2014/main" id="{F683D080-D614-4627-9E7C-4DDD652C6CBE}"/>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17B2CE12-670F-4997-8CBA-7D1521ADA880}"/>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업무분장·관할·복수부서 배정</a:t>
            </a:r>
          </a:p>
        </p:txBody>
      </p:sp>
      <p:sp>
        <p:nvSpPr>
          <p:cNvPr id="14" name="">
            <a:extLst xmlns:a="http://schemas.openxmlformats.org/drawingml/2006/main">
              <a:ext uri="{FF2B5EF4-FFF2-40B4-BE49-F238E27FC236}">
                <a16:creationId xmlns:a16="http://schemas.microsoft.com/office/drawing/2014/main" id="{FC9E43C9-3127-4BA6-9F30-C2BF02C42C45}"/>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C20DD081-C76D-4A9C-A997-540D78AB9807}"/>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재배정률·최종 해결시간의 기준선·비교 평가</a:t>
            </a:r>
          </a:p>
        </p:txBody>
      </p:sp>
      <p:sp>
        <p:nvSpPr>
          <p:cNvPr id="16" name="">
            <a:extLst xmlns:a="http://schemas.openxmlformats.org/drawingml/2006/main">
              <a:ext uri="{FF2B5EF4-FFF2-40B4-BE49-F238E27FC236}">
                <a16:creationId xmlns:a16="http://schemas.microsoft.com/office/drawing/2014/main" id="{C8959916-82E2-4180-9D60-41881E508B66}"/>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1EDEC2D1-C76E-4FB2-ACF6-F5BE0668BF23}"/>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재배정률·최종 해결시간</a:t>
            </a:r>
          </a:p>
        </p:txBody>
      </p:sp>
      <p:sp>
        <p:nvSpPr>
          <p:cNvPr id="18" name="">
            <a:extLst xmlns:a="http://schemas.openxmlformats.org/drawingml/2006/main">
              <a:ext uri="{FF2B5EF4-FFF2-40B4-BE49-F238E27FC236}">
                <a16:creationId xmlns:a16="http://schemas.microsoft.com/office/drawing/2014/main" id="{F4F285BA-9F82-4A1B-B00E-C32F582DEE2C}"/>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F1을 정확도76%로 쓰지 않음. 연7.5만일/2천만파운드는 전정부 확산 추정, 실현절감 아님</a:t>
            </a:r>
          </a:p>
        </p:txBody>
      </p:sp>
    </p:spTree>
    <p:extLst>
      <p:ext uri="{BB962C8B-B14F-4D97-AF65-F5344CB8AC3E}">
        <p14:creationId xmlns:p14="http://schemas.microsoft.com/office/powerpoint/2010/main" val="183233787"/>
      </p:ext>
    </p:extLst>
  </p:cSld>
</p:sld>
</file>

<file path=ppt/slides/slide128.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E7A7FBD8-E3A0-4BF3-B26B-0153E784F200}"/>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A05F1E86-5342-4757-913C-99F7B85BBCFC}"/>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59593F5A-819B-43A3-A05A-E9E22E332473}"/>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9FF0B6C2-7603-4E43-BE56-6EE6863FA7D1}"/>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6D01427A-E80C-4B3D-80CB-82B61C27BE6A}"/>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9CDC6BE5-601B-4B98-BFEF-4A46124F5E5F}"/>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1DEAFE46-A048-4F80-B3C2-B2D9EB3E209F}"/>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AD8014AB-CAD7-4BE7-8A0D-F29E74989B83}"/>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123566C0-A598-4EAD-BCD1-01E3F31C8BAD}"/>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06D0561A-D99A-403F-A3B0-D511C80EF2A1}"/>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PF-A14 / CCK 세부 재구성 · 논리 서비스 설계</a:t>
            </a:r>
          </a:p>
        </p:txBody>
      </p:sp>
      <p:sp>
        <p:nvSpPr>
          <p:cNvPr id="2" name="">
            <a:extLst xmlns:a="http://schemas.openxmlformats.org/drawingml/2006/main">
              <a:ext uri="{FF2B5EF4-FFF2-40B4-BE49-F238E27FC236}">
                <a16:creationId xmlns:a16="http://schemas.microsoft.com/office/drawing/2014/main" id="{E33F8830-B21E-4B34-BBD6-72208B39241A}"/>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영국 Consult · 세부 서비스 구조</a:t>
            </a:r>
          </a:p>
        </p:txBody>
      </p:sp>
      <p:sp>
        <p:nvSpPr>
          <p:cNvPr id="3" name="">
            <a:extLst xmlns:a="http://schemas.openxmlformats.org/drawingml/2006/main">
              <a:ext uri="{FF2B5EF4-FFF2-40B4-BE49-F238E27FC236}">
                <a16:creationId xmlns:a16="http://schemas.microsoft.com/office/drawing/2014/main" id="{04C47A53-27BD-4608-990E-E7E1C2B72C0E}"/>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D6D64B7-B549-4728-ACF5-3B9D589758AD}"/>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2F0F1E94-3161-4AB3-9F5F-18699277B198}"/>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128</a:t>
            </a:r>
          </a:p>
        </p:txBody>
      </p:sp>
      <p:sp>
        <p:nvSpPr>
          <p:cNvPr id="6" name="">
            <a:extLst xmlns:a="http://schemas.openxmlformats.org/drawingml/2006/main">
              <a:ext uri="{FF2B5EF4-FFF2-40B4-BE49-F238E27FC236}">
                <a16:creationId xmlns:a16="http://schemas.microsoft.com/office/drawing/2014/main" id="{C32F6ACD-5871-45D7-A326-0C26959AB0E3}"/>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운영기관·공급사·감사 자료의 업무 설명</a:t>
            </a:r>
          </a:p>
        </p:txBody>
      </p:sp>
      <p:sp>
        <p:nvSpPr>
          <p:cNvPr id="7" name="">
            <a:extLst xmlns:a="http://schemas.openxmlformats.org/drawingml/2006/main">
              <a:ext uri="{FF2B5EF4-FFF2-40B4-BE49-F238E27FC236}">
                <a16:creationId xmlns:a16="http://schemas.microsoft.com/office/drawing/2014/main" id="{8361EC68-986A-41DA-B076-1BDFCD23AD7C}"/>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57C7059E-1094-4F73-9647-0A3C46BBFC2F}"/>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C1CE0751-857C-4A78-9B9B-34CBB10066E8}"/>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정책 의견 접수</a:t>
            </a:r>
          </a:p>
        </p:txBody>
      </p:sp>
      <p:sp>
        <p:nvSpPr>
          <p:cNvPr id="10" name="">
            <a:extLst xmlns:a="http://schemas.openxmlformats.org/drawingml/2006/main">
              <a:ext uri="{FF2B5EF4-FFF2-40B4-BE49-F238E27FC236}">
                <a16:creationId xmlns:a16="http://schemas.microsoft.com/office/drawing/2014/main" id="{C727C121-8D5D-48FF-87D7-944D170AB2CD}"/>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8E26BF31-E07C-412A-B7AA-87B9158264C8}"/>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7F38FA60-DDFF-4657-9787-3E59F55B1F09}"/>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협의·문항 범위</a:t>
            </a:r>
          </a:p>
        </p:txBody>
      </p:sp>
      <p:sp>
        <p:nvSpPr>
          <p:cNvPr id="13" name="">
            <a:extLst xmlns:a="http://schemas.openxmlformats.org/drawingml/2006/main">
              <a:ext uri="{FF2B5EF4-FFF2-40B4-BE49-F238E27FC236}">
                <a16:creationId xmlns:a16="http://schemas.microsoft.com/office/drawing/2014/main" id="{9DF7373F-D1ED-422A-8F28-4880B5591D13}"/>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482AC9DC-768B-4AB6-A2D5-CB93FA1C3301}"/>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D64063F6-E4ED-4DCA-AA12-69B967D8DD48}"/>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응답 원문 조회</a:t>
            </a:r>
          </a:p>
        </p:txBody>
      </p:sp>
      <p:sp>
        <p:nvSpPr>
          <p:cNvPr id="16" name="">
            <a:extLst xmlns:a="http://schemas.openxmlformats.org/drawingml/2006/main">
              <a:ext uri="{FF2B5EF4-FFF2-40B4-BE49-F238E27FC236}">
                <a16:creationId xmlns:a16="http://schemas.microsoft.com/office/drawing/2014/main" id="{7EE053AF-A4EF-4A75-AE88-E14166D88E62}"/>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F421AB2B-FB47-45EC-816D-A1721FC497A3}"/>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88B0D90B-00EE-4DDC-ADAB-D9E23BE86909}"/>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주제 분류·요약</a:t>
            </a:r>
          </a:p>
        </p:txBody>
      </p:sp>
      <p:sp>
        <p:nvSpPr>
          <p:cNvPr id="19" name="">
            <a:extLst xmlns:a="http://schemas.openxmlformats.org/drawingml/2006/main">
              <a:ext uri="{FF2B5EF4-FFF2-40B4-BE49-F238E27FC236}">
                <a16:creationId xmlns:a16="http://schemas.microsoft.com/office/drawing/2014/main" id="{2B6CFD1D-2D0F-4620-A9DE-1A49FDC05B16}"/>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61D01547-86D2-45DA-8106-DF42BA36BD51}"/>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166FC13E-E2F3-4A75-8A00-74011B9D2074}"/>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소수·반대 의견 검사</a:t>
            </a:r>
          </a:p>
        </p:txBody>
      </p:sp>
      <p:sp>
        <p:nvSpPr>
          <p:cNvPr id="22" name="">
            <a:extLst xmlns:a="http://schemas.openxmlformats.org/drawingml/2006/main">
              <a:ext uri="{FF2B5EF4-FFF2-40B4-BE49-F238E27FC236}">
                <a16:creationId xmlns:a16="http://schemas.microsoft.com/office/drawing/2014/main" id="{A4F09638-4660-4C67-8D34-EA9343D888FE}"/>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2AF7C0D1-A34F-4C75-9209-03EA8E13F24F}"/>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F9BEEE6F-A377-4594-AAB8-90DEDB4AD35D}"/>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공무원 수정</a:t>
            </a:r>
          </a:p>
        </p:txBody>
      </p:sp>
      <p:sp>
        <p:nvSpPr>
          <p:cNvPr id="25" name="">
            <a:extLst xmlns:a="http://schemas.openxmlformats.org/drawingml/2006/main">
              <a:ext uri="{FF2B5EF4-FFF2-40B4-BE49-F238E27FC236}">
                <a16:creationId xmlns:a16="http://schemas.microsoft.com/office/drawing/2014/main" id="{163B9C99-5C1B-44EC-9886-612D9CE73D12}"/>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00222DF8-00F6-4032-B31A-363EF952D45F}"/>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6FE4FE67-E6E9-4F4B-A819-0434125983D0}"/>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정책 분석 자료</a:t>
            </a:r>
          </a:p>
        </p:txBody>
      </p:sp>
      <p:sp>
        <p:nvSpPr>
          <p:cNvPr id="28" name="">
            <a:extLst xmlns:a="http://schemas.openxmlformats.org/drawingml/2006/main">
              <a:ext uri="{FF2B5EF4-FFF2-40B4-BE49-F238E27FC236}">
                <a16:creationId xmlns:a16="http://schemas.microsoft.com/office/drawing/2014/main" id="{A17F3FFB-FD91-4B77-84F7-8AC28DF45468}"/>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CA5E36E2-5E54-4E37-90F3-BC2C94066D79}"/>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72517A20-DDAE-490A-8426-2407D07D70FC}"/>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수작업 대조</a:t>
            </a:r>
          </a:p>
        </p:txBody>
      </p:sp>
      <p:sp>
        <p:nvSpPr>
          <p:cNvPr id="31" name="">
            <a:extLst xmlns:a="http://schemas.openxmlformats.org/drawingml/2006/main">
              <a:ext uri="{FF2B5EF4-FFF2-40B4-BE49-F238E27FC236}">
                <a16:creationId xmlns:a16="http://schemas.microsoft.com/office/drawing/2014/main" id="{9C4D4A37-B85C-4F3A-B7B7-72F184D9F2D5}"/>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46254959-4925-4286-A2F3-ED3EB9BB72E0}"/>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DBE82979-5484-47A1-98CD-27CB665D9347}"/>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응답·문항 자료</a:t>
            </a:r>
          </a:p>
        </p:txBody>
      </p:sp>
      <p:sp>
        <p:nvSpPr>
          <p:cNvPr id="34" name="">
            <a:extLst xmlns:a="http://schemas.openxmlformats.org/drawingml/2006/main">
              <a:ext uri="{FF2B5EF4-FFF2-40B4-BE49-F238E27FC236}">
                <a16:creationId xmlns:a16="http://schemas.microsoft.com/office/drawing/2014/main" id="{E34B73C2-38C8-490C-B2F5-F36B64F665F8}"/>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225308E6-0FA5-470E-B96D-10A1D9911D55}"/>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90D75629-39CC-4D2C-86C8-5BD32742B987}"/>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원문·분류 연결</a:t>
            </a:r>
          </a:p>
        </p:txBody>
      </p:sp>
      <p:sp>
        <p:nvSpPr>
          <p:cNvPr id="37" name="">
            <a:extLst xmlns:a="http://schemas.openxmlformats.org/drawingml/2006/main">
              <a:ext uri="{FF2B5EF4-FFF2-40B4-BE49-F238E27FC236}">
                <a16:creationId xmlns:a16="http://schemas.microsoft.com/office/drawing/2014/main" id="{F641F799-835E-4C2D-B8D2-4F31899D93B8}"/>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47C3BABD-6C2E-4297-9165-D306B83EEB1C}"/>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A0B86203-A368-464B-8B5F-5B3B1CEC7C88}"/>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주제·검토 이력</a:t>
            </a:r>
          </a:p>
        </p:txBody>
      </p:sp>
      <p:sp>
        <p:nvSpPr>
          <p:cNvPr id="40" name="">
            <a:extLst xmlns:a="http://schemas.openxmlformats.org/drawingml/2006/main">
              <a:ext uri="{FF2B5EF4-FFF2-40B4-BE49-F238E27FC236}">
                <a16:creationId xmlns:a16="http://schemas.microsoft.com/office/drawing/2014/main" id="{E899B794-A70A-47F6-9451-CF029123F64B}"/>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88DC21CF-64C0-45E3-8532-F78E0F54D3D0}"/>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25ED288B-04AB-4004-87F4-50057D396B34}"/>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해석·채택 책임</a:t>
            </a:r>
          </a:p>
        </p:txBody>
      </p:sp>
      <p:sp>
        <p:nvSpPr>
          <p:cNvPr id="52" name="">
            <a:extLst xmlns:a="http://schemas.openxmlformats.org/drawingml/2006/main">
              <a:ext uri="{FF2B5EF4-FFF2-40B4-BE49-F238E27FC236}">
                <a16:creationId xmlns:a16="http://schemas.microsoft.com/office/drawing/2014/main" id="{6185892A-0ECE-4BAE-8AC1-27E6B33A42EF}"/>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339852024"/>
      </p:ext>
    </p:extLst>
  </p:cSld>
</p:sld>
</file>

<file path=ppt/slides/slide129.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06DDE42D-8928-43B1-8A3A-7272172D6F7A}"/>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PF-A14 / 논리 인터페이스·복구 설계</a:t>
            </a:r>
          </a:p>
        </p:txBody>
      </p:sp>
      <p:sp>
        <p:nvSpPr>
          <p:cNvPr id="2" name="">
            <a:extLst xmlns:a="http://schemas.openxmlformats.org/drawingml/2006/main">
              <a:ext uri="{FF2B5EF4-FFF2-40B4-BE49-F238E27FC236}">
                <a16:creationId xmlns:a16="http://schemas.microsoft.com/office/drawing/2014/main" id="{3B18E1D3-E9B7-49D2-A689-CE7CD4C0DA56}"/>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영국 Consult · 데이터와 예외 처리</a:t>
            </a:r>
          </a:p>
        </p:txBody>
      </p:sp>
      <p:sp>
        <p:nvSpPr>
          <p:cNvPr id="3" name="">
            <a:extLst xmlns:a="http://schemas.openxmlformats.org/drawingml/2006/main">
              <a:ext uri="{FF2B5EF4-FFF2-40B4-BE49-F238E27FC236}">
                <a16:creationId xmlns:a16="http://schemas.microsoft.com/office/drawing/2014/main" id="{9B309AF9-2202-4F08-A0C2-1794972732E5}"/>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C64A0EB-D841-4595-BD56-6F27B0724560}"/>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332655FF-0A2F-4694-823F-81581682FD92}"/>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129</a:t>
            </a:r>
          </a:p>
        </p:txBody>
      </p:sp>
      <p:sp>
        <p:nvSpPr>
          <p:cNvPr id="6" name="">
            <a:extLst xmlns:a="http://schemas.openxmlformats.org/drawingml/2006/main">
              <a:ext uri="{FF2B5EF4-FFF2-40B4-BE49-F238E27FC236}">
                <a16:creationId xmlns:a16="http://schemas.microsoft.com/office/drawing/2014/main" id="{F5370ACD-83E7-41D0-85AB-D777D3F7FB79}"/>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3BB1B6A2-CCB4-461E-8F97-753D5A51CC11}"/>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F2478847-31EB-4CFA-9484-C5554DFF2183}"/>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60CD38EA-17C2-43D4-A2CE-8125697B5870}"/>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협의 주제·질문·응답 묶음 정의</a:t>
            </a:r>
          </a:p>
        </p:txBody>
      </p:sp>
      <p:sp>
        <p:nvSpPr>
          <p:cNvPr id="10" name="">
            <a:extLst xmlns:a="http://schemas.openxmlformats.org/drawingml/2006/main">
              <a:ext uri="{FF2B5EF4-FFF2-40B4-BE49-F238E27FC236}">
                <a16:creationId xmlns:a16="http://schemas.microsoft.com/office/drawing/2014/main" id="{71174A25-6D07-4AE4-B3DD-53CC06F04EC4}"/>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5F70300-4D6D-4640-9EF9-94D7E3922E09}"/>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4F4E8F2F-C437-4E94-905C-7372E73FF5CE}"/>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의견 원문</a:t>
            </a:r>
          </a:p>
        </p:txBody>
      </p:sp>
      <p:sp>
        <p:nvSpPr>
          <p:cNvPr id="13" name="">
            <a:extLst xmlns:a="http://schemas.openxmlformats.org/drawingml/2006/main">
              <a:ext uri="{FF2B5EF4-FFF2-40B4-BE49-F238E27FC236}">
                <a16:creationId xmlns:a16="http://schemas.microsoft.com/office/drawing/2014/main" id="{1DF30F3B-25B2-49C9-A28D-E37852CBFB74}"/>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6CD1D2D-2BB3-47C2-B9AF-A18D5DDF5441}"/>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FA7A2AE0-FF15-497C-B9C8-D774DB6BA2E2}"/>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주제 후보</a:t>
            </a:r>
          </a:p>
        </p:txBody>
      </p:sp>
      <p:sp>
        <p:nvSpPr>
          <p:cNvPr id="16" name="">
            <a:extLst xmlns:a="http://schemas.openxmlformats.org/drawingml/2006/main">
              <a:ext uri="{FF2B5EF4-FFF2-40B4-BE49-F238E27FC236}">
                <a16:creationId xmlns:a16="http://schemas.microsoft.com/office/drawing/2014/main" id="{B4EB7127-62BD-43DC-8EBC-D44E25507E62}"/>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9F378F1-73FF-4688-83AA-62D0F4578754}"/>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9FF5B771-030C-49C4-B54C-3360E2AF5893}"/>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주제별 요약</a:t>
            </a:r>
          </a:p>
        </p:txBody>
      </p:sp>
      <p:sp>
        <p:nvSpPr>
          <p:cNvPr id="19" name="">
            <a:extLst xmlns:a="http://schemas.openxmlformats.org/drawingml/2006/main">
              <a:ext uri="{FF2B5EF4-FFF2-40B4-BE49-F238E27FC236}">
                <a16:creationId xmlns:a16="http://schemas.microsoft.com/office/drawing/2014/main" id="{FFB14681-2E4D-4861-9A2A-316C8C7E7B9A}"/>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77B72E5-0E52-466C-A304-8B10172F3B53}"/>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D3F8431B-C100-4DD4-BAD3-85511C57FDDF}"/>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주제별 요약</a:t>
            </a:r>
          </a:p>
        </p:txBody>
      </p:sp>
      <p:sp>
        <p:nvSpPr>
          <p:cNvPr id="22" name="">
            <a:extLst xmlns:a="http://schemas.openxmlformats.org/drawingml/2006/main">
              <a:ext uri="{FF2B5EF4-FFF2-40B4-BE49-F238E27FC236}">
                <a16:creationId xmlns:a16="http://schemas.microsoft.com/office/drawing/2014/main" id="{A01CF781-B1C1-4CDC-A51E-B7F908CB7AD8}"/>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78F0368-22D4-4ECD-86C3-3C8B6B3C5619}"/>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427EA758-3993-4D54-90E8-2B0405E3C44B}"/>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담당자 검증</a:t>
            </a:r>
          </a:p>
        </p:txBody>
      </p:sp>
      <p:sp>
        <p:nvSpPr>
          <p:cNvPr id="25" name="">
            <a:extLst xmlns:a="http://schemas.openxmlformats.org/drawingml/2006/main">
              <a:ext uri="{FF2B5EF4-FFF2-40B4-BE49-F238E27FC236}">
                <a16:creationId xmlns:a16="http://schemas.microsoft.com/office/drawing/2014/main" id="{CDEB5BEA-0613-41EA-B32B-7001F32106B8}"/>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15784A78-A68E-4600-A12C-E4FB172F1E46}"/>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소수 의견·반대 의견·복수 주제·중복 제출</a:t>
            </a:r>
          </a:p>
        </p:txBody>
      </p:sp>
      <p:sp>
        <p:nvSpPr>
          <p:cNvPr id="27" name="">
            <a:extLst xmlns:a="http://schemas.openxmlformats.org/drawingml/2006/main">
              <a:ext uri="{FF2B5EF4-FFF2-40B4-BE49-F238E27FC236}">
                <a16:creationId xmlns:a16="http://schemas.microsoft.com/office/drawing/2014/main" id="{D04C462B-375D-476A-BF68-F037BE7B3B7B}"/>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53D95AFD-C3F7-4D45-8EE7-F244B9D10234}"/>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소수 의견 재현·원문 역추적</a:t>
            </a:r>
          </a:p>
        </p:txBody>
      </p:sp>
      <p:sp>
        <p:nvSpPr>
          <p:cNvPr id="29" name="">
            <a:extLst xmlns:a="http://schemas.openxmlformats.org/drawingml/2006/main">
              <a:ext uri="{FF2B5EF4-FFF2-40B4-BE49-F238E27FC236}">
                <a16:creationId xmlns:a16="http://schemas.microsoft.com/office/drawing/2014/main" id="{0796BA68-A7FD-46D6-A221-80B52E53CE52}"/>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D4873146-69E9-4C13-9BF6-CD5C97374A24}"/>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수작업 결과와 대조해 분류·누락 오류 보정</a:t>
            </a:r>
          </a:p>
        </p:txBody>
      </p:sp>
      <p:sp>
        <p:nvSpPr>
          <p:cNvPr id="31" name="">
            <a:extLst xmlns:a="http://schemas.openxmlformats.org/drawingml/2006/main">
              <a:ext uri="{FF2B5EF4-FFF2-40B4-BE49-F238E27FC236}">
                <a16:creationId xmlns:a16="http://schemas.microsoft.com/office/drawing/2014/main" id="{611A08F6-8297-4798-9283-A9D688E39ED9}"/>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A5F19DFD-365E-4757-B0B2-7531BA2467B1}"/>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주제별 원문 재현과 누락·오분류 수정 기록</a:t>
            </a:r>
          </a:p>
        </p:txBody>
      </p:sp>
    </p:spTree>
    <p:extLst>
      <p:ext uri="{BB962C8B-B14F-4D97-AF65-F5344CB8AC3E}">
        <p14:creationId xmlns:p14="http://schemas.microsoft.com/office/powerpoint/2010/main" val="475648261"/>
      </p:ext>
    </p:extLst>
  </p:cSld>
</p:sld>
</file>

<file path=ppt/slides/slide130.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C90B64A-9934-403F-953E-44286175B1A9}"/>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PF-A14 / CCK 비교·재현 시험 설계</a:t>
            </a:r>
          </a:p>
        </p:txBody>
      </p:sp>
      <p:sp>
        <p:nvSpPr>
          <p:cNvPr id="2" name="">
            <a:extLst xmlns:a="http://schemas.openxmlformats.org/drawingml/2006/main">
              <a:ext uri="{FF2B5EF4-FFF2-40B4-BE49-F238E27FC236}">
                <a16:creationId xmlns:a16="http://schemas.microsoft.com/office/drawing/2014/main" id="{25FCB6B5-2962-49E7-A64E-8A4A29142EB6}"/>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영국 Consult · 벤치마킹</a:t>
            </a:r>
          </a:p>
        </p:txBody>
      </p:sp>
      <p:sp>
        <p:nvSpPr>
          <p:cNvPr id="3" name="">
            <a:extLst xmlns:a="http://schemas.openxmlformats.org/drawingml/2006/main">
              <a:ext uri="{FF2B5EF4-FFF2-40B4-BE49-F238E27FC236}">
                <a16:creationId xmlns:a16="http://schemas.microsoft.com/office/drawing/2014/main" id="{607E0001-BC42-4159-8840-E1503430A6A7}"/>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72E3902-648C-4291-98AD-04AE5DCB605A}"/>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EA5E93B0-3B8E-4443-9F65-FD49A6FD5DC8}"/>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130</a:t>
            </a:r>
          </a:p>
        </p:txBody>
      </p:sp>
      <p:sp>
        <p:nvSpPr>
          <p:cNvPr id="6" name="">
            <a:extLst xmlns:a="http://schemas.openxmlformats.org/drawingml/2006/main">
              <a:ext uri="{FF2B5EF4-FFF2-40B4-BE49-F238E27FC236}">
                <a16:creationId xmlns:a16="http://schemas.microsoft.com/office/drawing/2014/main" id="{EDF038B7-FAFA-47A2-A956-8223BC23C00C}"/>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86B33E50-E4ED-4E69-9A8B-F398224AD241}"/>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대량 의견의 주제 분류</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공무원 수정·해석과 결합</a:t>
            </a:r>
          </a:p>
        </p:txBody>
      </p:sp>
      <p:sp>
        <p:nvSpPr>
          <p:cNvPr id="8" name="">
            <a:extLst xmlns:a="http://schemas.openxmlformats.org/drawingml/2006/main">
              <a:ext uri="{FF2B5EF4-FFF2-40B4-BE49-F238E27FC236}">
                <a16:creationId xmlns:a16="http://schemas.microsoft.com/office/drawing/2014/main" id="{463A21A0-7F1A-4274-BDC6-34825004897A}"/>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3281AF3C-BFE6-4582-87E7-F7D11CA5FE8E}"/>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소수 의견·반대 근거 누락</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주제 빈도와 정책 타당성 혼동</a:t>
            </a:r>
          </a:p>
        </p:txBody>
      </p:sp>
      <p:sp>
        <p:nvSpPr>
          <p:cNvPr id="10" name="">
            <a:extLst xmlns:a="http://schemas.openxmlformats.org/drawingml/2006/main">
              <a:ext uri="{FF2B5EF4-FFF2-40B4-BE49-F238E27FC236}">
                <a16:creationId xmlns:a16="http://schemas.microsoft.com/office/drawing/2014/main" id="{01AFF5E2-5AD3-422C-8244-D8AD5EFC9F52}"/>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F62EE28C-C2FF-40F8-85DB-1B9E675941BE}"/>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소수 의견 재현·원문 역추적</a:t>
            </a:r>
          </a:p>
        </p:txBody>
      </p:sp>
      <p:sp>
        <p:nvSpPr>
          <p:cNvPr id="12" name="">
            <a:extLst xmlns:a="http://schemas.openxmlformats.org/drawingml/2006/main">
              <a:ext uri="{FF2B5EF4-FFF2-40B4-BE49-F238E27FC236}">
                <a16:creationId xmlns:a16="http://schemas.microsoft.com/office/drawing/2014/main" id="{E34E9217-1E13-439D-9102-441184ECBD0F}"/>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C669F663-6DB5-44F0-954B-01D7E1BA9630}"/>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정책 의견을 주제별 분류하고 원문을 검토</a:t>
            </a:r>
          </a:p>
        </p:txBody>
      </p:sp>
      <p:sp>
        <p:nvSpPr>
          <p:cNvPr id="14" name="">
            <a:extLst xmlns:a="http://schemas.openxmlformats.org/drawingml/2006/main">
              <a:ext uri="{FF2B5EF4-FFF2-40B4-BE49-F238E27FC236}">
                <a16:creationId xmlns:a16="http://schemas.microsoft.com/office/drawing/2014/main" id="{366B8172-57E1-422A-B0D2-FF3FC27F858F}"/>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9E008134-4D27-4C99-A87B-7A628722DA55}"/>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소수 의견·반대 의견·복수 주제·중복 제출</a:t>
            </a:r>
          </a:p>
        </p:txBody>
      </p:sp>
      <p:sp>
        <p:nvSpPr>
          <p:cNvPr id="16" name="">
            <a:extLst xmlns:a="http://schemas.openxmlformats.org/drawingml/2006/main">
              <a:ext uri="{FF2B5EF4-FFF2-40B4-BE49-F238E27FC236}">
                <a16:creationId xmlns:a16="http://schemas.microsoft.com/office/drawing/2014/main" id="{48F62A14-A8A3-4CC8-A253-78EC95D4E749}"/>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8202E3C2-C871-4402-A7D9-6CCAEBFAF0F1}"/>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주제별 원문 재현과 누락·오분류 수정 기록</a:t>
            </a:r>
          </a:p>
        </p:txBody>
      </p:sp>
    </p:spTree>
    <p:extLst>
      <p:ext uri="{BB962C8B-B14F-4D97-AF65-F5344CB8AC3E}">
        <p14:creationId xmlns:p14="http://schemas.microsoft.com/office/powerpoint/2010/main" val="2124746220"/>
      </p:ext>
    </p:extLst>
  </p:cSld>
</p:sld>
</file>

<file path=ppt/slides/slide131.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E0421CC-A32C-4BBC-83E9-5DB961898DAD}"/>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PF-A15 / 2024-01~06 정부 실험·평가 / 해외</a:t>
            </a:r>
          </a:p>
        </p:txBody>
      </p:sp>
      <p:sp>
        <p:nvSpPr>
          <p:cNvPr id="2" name="">
            <a:extLst xmlns:a="http://schemas.openxmlformats.org/drawingml/2006/main">
              <a:ext uri="{FF2B5EF4-FFF2-40B4-BE49-F238E27FC236}">
                <a16:creationId xmlns:a16="http://schemas.microsoft.com/office/drawing/2014/main" id="{94F42627-987F-4DCB-8679-552B16F78CE6}"/>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호주 APS Copilot 평가</a:t>
            </a:r>
          </a:p>
        </p:txBody>
      </p:sp>
      <p:sp>
        <p:nvSpPr>
          <p:cNvPr id="3" name="">
            <a:extLst xmlns:a="http://schemas.openxmlformats.org/drawingml/2006/main">
              <a:ext uri="{FF2B5EF4-FFF2-40B4-BE49-F238E27FC236}">
                <a16:creationId xmlns:a16="http://schemas.microsoft.com/office/drawing/2014/main" id="{D7F3F795-716B-487B-80C9-67BF11B2620B}"/>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54AB3B9-95D1-4364-8A1C-7D8AA4F85896}"/>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3C68ED1F-EAB6-4F65-841D-BF6374315643}"/>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131</a:t>
            </a:r>
          </a:p>
        </p:txBody>
      </p:sp>
      <p:sp>
        <p:nvSpPr>
          <p:cNvPr id="6" name="">
            <a:extLst xmlns:a="http://schemas.openxmlformats.org/drawingml/2006/main">
              <a:ext uri="{FF2B5EF4-FFF2-40B4-BE49-F238E27FC236}">
                <a16:creationId xmlns:a16="http://schemas.microsoft.com/office/drawing/2014/main" id="{81ECDB12-27F8-4D48-8327-EC00D406E877}"/>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3B520612-4261-4F0E-88D2-0D9D6500B87F}"/>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호주 공공부문 Microsoft 365 Copilot 시험의 평가 사</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례. 기관 직원이 실제 업무에서 협업 AI를 사용하고 이용</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경험·과업 효과·교육 부담을 비교하는 접근.</a:t>
            </a:r>
          </a:p>
        </p:txBody>
      </p:sp>
      <p:sp>
        <p:nvSpPr>
          <p:cNvPr id="8" name="">
            <a:extLst xmlns:a="http://schemas.openxmlformats.org/drawingml/2006/main">
              <a:ext uri="{FF2B5EF4-FFF2-40B4-BE49-F238E27FC236}">
                <a16:creationId xmlns:a16="http://schemas.microsoft.com/office/drawing/2014/main" id="{AAA34874-E792-44C6-B501-DF209B8DFCE3}"/>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D04B4877-0E06-493E-AEE3-942CEAB51FF3}"/>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기존 협업 도구와 문서 공유 권한 위에서 문서·회의·검색</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지원을 수행하는 구조. 이용 로그·설문 응답·과업 평가</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를 분리해 수집하고 기관·업무·숙련도에 따른 효과 편차</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를 확인하는 평가 설계.</a:t>
            </a:r>
          </a:p>
        </p:txBody>
      </p:sp>
      <p:sp>
        <p:nvSpPr>
          <p:cNvPr id="10" name="">
            <a:extLst xmlns:a="http://schemas.openxmlformats.org/drawingml/2006/main">
              <a:ext uri="{FF2B5EF4-FFF2-40B4-BE49-F238E27FC236}">
                <a16:creationId xmlns:a16="http://schemas.microsoft.com/office/drawing/2014/main" id="{7C8685C6-B743-4494-A2A7-96F183658F9E}"/>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C8B4CDE7-8FB2-427C-8A70-3CC6032E2FFA}"/>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보고된 시간 절감 수치를 TS의 기대효과로 직접 전용하지</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 않는 것이 핵심. 도구 이용자와 미이용자의 업무 난도, 검</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토시간, 오류 수정비용을 맞추어 비교하고 과도하게 공유</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된 기존 문서의 검색 노출도 별도 점검.</a:t>
            </a:r>
          </a:p>
        </p:txBody>
      </p:sp>
      <p:sp>
        <p:nvSpPr>
          <p:cNvPr id="12" name="">
            <a:extLst xmlns:a="http://schemas.openxmlformats.org/drawingml/2006/main">
              <a:ext uri="{FF2B5EF4-FFF2-40B4-BE49-F238E27FC236}">
                <a16:creationId xmlns:a16="http://schemas.microsoft.com/office/drawing/2014/main" id="{E7195D39-2C3A-4D5A-9DB5-045923BDEBB9}"/>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25FB7383-A256-469C-BE85-7E50CF1B5D05}"/>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부서·직무·권한·변경 교차 평가</a:t>
            </a:r>
          </a:p>
        </p:txBody>
      </p:sp>
      <p:sp>
        <p:nvSpPr>
          <p:cNvPr id="14" name="">
            <a:extLst xmlns:a="http://schemas.openxmlformats.org/drawingml/2006/main">
              <a:ext uri="{FF2B5EF4-FFF2-40B4-BE49-F238E27FC236}">
                <a16:creationId xmlns:a16="http://schemas.microsoft.com/office/drawing/2014/main" id="{3674F699-F96C-462C-B77A-A508D56BDB26}"/>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FD0BC992-B007-4E55-86D9-C6FB6EEC9D72}"/>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완료시간·오류·총비용의 기준선·비교 평가</a:t>
            </a:r>
          </a:p>
        </p:txBody>
      </p:sp>
      <p:sp>
        <p:nvSpPr>
          <p:cNvPr id="16" name="">
            <a:extLst xmlns:a="http://schemas.openxmlformats.org/drawingml/2006/main">
              <a:ext uri="{FF2B5EF4-FFF2-40B4-BE49-F238E27FC236}">
                <a16:creationId xmlns:a16="http://schemas.microsoft.com/office/drawing/2014/main" id="{4E74EE15-512E-4CC8-B09B-2BACAA6FE634}"/>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3D5E5546-BB08-4614-B050-917DB77EF8CB}"/>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완료시간·오류·총비용</a:t>
            </a:r>
          </a:p>
        </p:txBody>
      </p:sp>
      <p:sp>
        <p:nvSpPr>
          <p:cNvPr id="18" name="">
            <a:extLst xmlns:a="http://schemas.openxmlformats.org/drawingml/2006/main">
              <a:ext uri="{FF2B5EF4-FFF2-40B4-BE49-F238E27FC236}">
                <a16:creationId xmlns:a16="http://schemas.microsoft.com/office/drawing/2014/main" id="{7294F8D5-2A62-4695-B8F8-530C5488453A}"/>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무작위 실험 아님. 일부 업무 하루1시간 체감 절감을 전직원 실측값으로 사용 금지</a:t>
            </a:r>
          </a:p>
        </p:txBody>
      </p:sp>
    </p:spTree>
    <p:extLst>
      <p:ext uri="{BB962C8B-B14F-4D97-AF65-F5344CB8AC3E}">
        <p14:creationId xmlns:p14="http://schemas.microsoft.com/office/powerpoint/2010/main" val="1982776360"/>
      </p:ext>
    </p:extLst>
  </p:cSld>
</p:sld>
</file>

<file path=ppt/slides/slide13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7175549D-35E2-47E6-A3AC-69D122ABDA8B}"/>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075D5C11-0761-4AB7-8884-C491E48AED55}"/>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CA749C8B-28AB-44C9-B55A-A36800C6040E}"/>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1B92A7A6-60F2-4DC5-8F4C-638D532522C6}"/>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AC224FAE-7935-433C-91C9-4B4480E8812F}"/>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CBDB9828-B8D7-40D6-8D3A-82E381585EF6}"/>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B93FB0FF-95BE-4FED-97D0-C1A3AFE5C19E}"/>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A8379F11-E6D5-4317-AA41-BB2CB4E18FD2}"/>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6CA7504D-EDFA-44BB-9666-14AE787B2713}"/>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A3986B6F-532A-4852-BE4F-D57F325FCC21}"/>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PF-A15 / CCK 세부 재구성 · 논리 서비스 설계</a:t>
            </a:r>
          </a:p>
        </p:txBody>
      </p:sp>
      <p:sp>
        <p:nvSpPr>
          <p:cNvPr id="2" name="">
            <a:extLst xmlns:a="http://schemas.openxmlformats.org/drawingml/2006/main">
              <a:ext uri="{FF2B5EF4-FFF2-40B4-BE49-F238E27FC236}">
                <a16:creationId xmlns:a16="http://schemas.microsoft.com/office/drawing/2014/main" id="{F3B4836D-2E9F-4779-9D48-AC5D887B2F33}"/>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호주 APS Copilot 평가 · 세부 서비스 구조</a:t>
            </a:r>
          </a:p>
        </p:txBody>
      </p:sp>
      <p:sp>
        <p:nvSpPr>
          <p:cNvPr id="3" name="">
            <a:extLst xmlns:a="http://schemas.openxmlformats.org/drawingml/2006/main">
              <a:ext uri="{FF2B5EF4-FFF2-40B4-BE49-F238E27FC236}">
                <a16:creationId xmlns:a16="http://schemas.microsoft.com/office/drawing/2014/main" id="{BEEA41A9-E264-45AA-9E74-F1AA3FCB1658}"/>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E09FF35-F2CA-4E97-81EE-743D82E40DCA}"/>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42075C9A-F053-4F63-9332-6DFD58D04FC3}"/>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132</a:t>
            </a:r>
          </a:p>
        </p:txBody>
      </p:sp>
      <p:sp>
        <p:nvSpPr>
          <p:cNvPr id="6" name="">
            <a:extLst xmlns:a="http://schemas.openxmlformats.org/drawingml/2006/main">
              <a:ext uri="{FF2B5EF4-FFF2-40B4-BE49-F238E27FC236}">
                <a16:creationId xmlns:a16="http://schemas.microsoft.com/office/drawing/2014/main" id="{BC2DA548-124B-4E9E-9465-7CBB79BC667C}"/>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운영기관·공급사·감사 자료의 업무 설명</a:t>
            </a:r>
          </a:p>
        </p:txBody>
      </p:sp>
      <p:sp>
        <p:nvSpPr>
          <p:cNvPr id="7" name="">
            <a:extLst xmlns:a="http://schemas.openxmlformats.org/drawingml/2006/main">
              <a:ext uri="{FF2B5EF4-FFF2-40B4-BE49-F238E27FC236}">
                <a16:creationId xmlns:a16="http://schemas.microsoft.com/office/drawing/2014/main" id="{41A16182-FF04-40EC-9BA2-303CB7833563}"/>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7EAAE384-76A4-43C8-AD83-DFB1AA3C6359}"/>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84755773-6D9F-4254-8561-5C9476829F8D}"/>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APS 직원 접점</a:t>
            </a:r>
          </a:p>
        </p:txBody>
      </p:sp>
      <p:sp>
        <p:nvSpPr>
          <p:cNvPr id="10" name="">
            <a:extLst xmlns:a="http://schemas.openxmlformats.org/drawingml/2006/main">
              <a:ext uri="{FF2B5EF4-FFF2-40B4-BE49-F238E27FC236}">
                <a16:creationId xmlns:a16="http://schemas.microsoft.com/office/drawing/2014/main" id="{FEC6243E-E550-48A9-8E4E-3D0B66B40C1D}"/>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335AAD6F-EFE9-4FA4-A62B-3C537BED7BBD}"/>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1457FE9D-BCE5-412A-A1F6-DE466D34FB3F}"/>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과업·숙련도</a:t>
            </a:r>
          </a:p>
        </p:txBody>
      </p:sp>
      <p:sp>
        <p:nvSpPr>
          <p:cNvPr id="13" name="">
            <a:extLst xmlns:a="http://schemas.openxmlformats.org/drawingml/2006/main">
              <a:ext uri="{FF2B5EF4-FFF2-40B4-BE49-F238E27FC236}">
                <a16:creationId xmlns:a16="http://schemas.microsoft.com/office/drawing/2014/main" id="{51E4D156-9EFB-4EC1-9431-63D91EF0A933}"/>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A6E34E91-3634-4F33-95ED-6F01667175A3}"/>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94E0F6EB-2B1C-40DB-B913-92B57AEB0E89}"/>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M365 문맥 검색</a:t>
            </a:r>
          </a:p>
        </p:txBody>
      </p:sp>
      <p:sp>
        <p:nvSpPr>
          <p:cNvPr id="16" name="">
            <a:extLst xmlns:a="http://schemas.openxmlformats.org/drawingml/2006/main">
              <a:ext uri="{FF2B5EF4-FFF2-40B4-BE49-F238E27FC236}">
                <a16:creationId xmlns:a16="http://schemas.microsoft.com/office/drawing/2014/main" id="{69ACCC0B-F755-4A9E-B311-E97B085E12DD}"/>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890DC30C-9D05-4224-BC5B-51761DD87BBB}"/>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B9691E0B-F87C-45E7-AE2B-19D395EEBDFE}"/>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Copilot 업무 지원</a:t>
            </a:r>
          </a:p>
        </p:txBody>
      </p:sp>
      <p:sp>
        <p:nvSpPr>
          <p:cNvPr id="19" name="">
            <a:extLst xmlns:a="http://schemas.openxmlformats.org/drawingml/2006/main">
              <a:ext uri="{FF2B5EF4-FFF2-40B4-BE49-F238E27FC236}">
                <a16:creationId xmlns:a16="http://schemas.microsoft.com/office/drawing/2014/main" id="{94EAB1BB-21FE-4B23-B226-DA0093BF0D3B}"/>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F4157CDF-68E1-4263-B33E-C50548247EFC}"/>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F2AFA945-7E17-4E08-A0A5-C45537A110E8}"/>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내용·공유 검사</a:t>
            </a:r>
          </a:p>
        </p:txBody>
      </p:sp>
      <p:sp>
        <p:nvSpPr>
          <p:cNvPr id="22" name="">
            <a:extLst xmlns:a="http://schemas.openxmlformats.org/drawingml/2006/main">
              <a:ext uri="{FF2B5EF4-FFF2-40B4-BE49-F238E27FC236}">
                <a16:creationId xmlns:a16="http://schemas.microsoft.com/office/drawing/2014/main" id="{CB3DC86E-4863-4217-9607-447FE6C51331}"/>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32ED4702-F14B-41A3-8C33-B47F54C4C373}"/>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FD87DBCB-2187-4549-BFD5-450C3270045E}"/>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직원 검토</a:t>
            </a:r>
          </a:p>
        </p:txBody>
      </p:sp>
      <p:sp>
        <p:nvSpPr>
          <p:cNvPr id="25" name="">
            <a:extLst xmlns:a="http://schemas.openxmlformats.org/drawingml/2006/main">
              <a:ext uri="{FF2B5EF4-FFF2-40B4-BE49-F238E27FC236}">
                <a16:creationId xmlns:a16="http://schemas.microsoft.com/office/drawing/2014/main" id="{6B2BE0F8-1433-44A4-A7CE-7AFDD3BF2999}"/>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8755A926-D0E2-460E-9980-D5AEF46CEDFB}"/>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58CFD1F3-447D-43EC-BFDF-FD630A643704}"/>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현업 결과 활용</a:t>
            </a:r>
          </a:p>
        </p:txBody>
      </p:sp>
      <p:sp>
        <p:nvSpPr>
          <p:cNvPr id="28" name="">
            <a:extLst xmlns:a="http://schemas.openxmlformats.org/drawingml/2006/main">
              <a:ext uri="{FF2B5EF4-FFF2-40B4-BE49-F238E27FC236}">
                <a16:creationId xmlns:a16="http://schemas.microsoft.com/office/drawing/2014/main" id="{E595EDEA-3B9B-4B7F-AFBA-3D9AAAAED318}"/>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20DBBD07-3E42-4899-BEC9-76CBC489826E}"/>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6CCCA295-F19A-46BD-AEB8-C98930319E99}"/>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기관·과업 평가</a:t>
            </a:r>
          </a:p>
        </p:txBody>
      </p:sp>
      <p:sp>
        <p:nvSpPr>
          <p:cNvPr id="31" name="">
            <a:extLst xmlns:a="http://schemas.openxmlformats.org/drawingml/2006/main">
              <a:ext uri="{FF2B5EF4-FFF2-40B4-BE49-F238E27FC236}">
                <a16:creationId xmlns:a16="http://schemas.microsoft.com/office/drawing/2014/main" id="{E9727370-C692-4DED-A1C5-65AC1A10F0C9}"/>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792981C1-C761-4561-82CA-A64540B3FBF3}"/>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57281D9B-7914-45E0-BBCF-DE64E8EE68B9}"/>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업무·설문 자료</a:t>
            </a:r>
          </a:p>
        </p:txBody>
      </p:sp>
      <p:sp>
        <p:nvSpPr>
          <p:cNvPr id="34" name="">
            <a:extLst xmlns:a="http://schemas.openxmlformats.org/drawingml/2006/main">
              <a:ext uri="{FF2B5EF4-FFF2-40B4-BE49-F238E27FC236}">
                <a16:creationId xmlns:a16="http://schemas.microsoft.com/office/drawing/2014/main" id="{5BC6E0F5-561D-45DD-BCE8-4C8861FBEDF5}"/>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A68895EB-2A3B-497E-9F75-70D93C51E1E4}"/>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B04D91B3-DC40-4274-9D95-0A0076765DEA}"/>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평가 표본 분리</a:t>
            </a:r>
          </a:p>
        </p:txBody>
      </p:sp>
      <p:sp>
        <p:nvSpPr>
          <p:cNvPr id="37" name="">
            <a:extLst xmlns:a="http://schemas.openxmlformats.org/drawingml/2006/main">
              <a:ext uri="{FF2B5EF4-FFF2-40B4-BE49-F238E27FC236}">
                <a16:creationId xmlns:a16="http://schemas.microsoft.com/office/drawing/2014/main" id="{F00E6E25-3F1D-4EC4-BA87-8355BCBAC527}"/>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3545AB04-D707-4340-B815-51326ED0D484}"/>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C0001278-49DB-471F-B2A9-BF0B5ABDF5FB}"/>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활용·비교 기록</a:t>
            </a:r>
          </a:p>
        </p:txBody>
      </p:sp>
      <p:sp>
        <p:nvSpPr>
          <p:cNvPr id="40" name="">
            <a:extLst xmlns:a="http://schemas.openxmlformats.org/drawingml/2006/main">
              <a:ext uri="{FF2B5EF4-FFF2-40B4-BE49-F238E27FC236}">
                <a16:creationId xmlns:a16="http://schemas.microsoft.com/office/drawing/2014/main" id="{0B6C6443-5DF9-462B-A177-A605D3E76B0E}"/>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372191F4-A90D-470F-9232-C4B7C783BB14}"/>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D79E2288-3363-446A-992C-7084ACD989DB}"/>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공유·평가 정책</a:t>
            </a:r>
          </a:p>
        </p:txBody>
      </p:sp>
      <p:sp>
        <p:nvSpPr>
          <p:cNvPr id="52" name="">
            <a:extLst xmlns:a="http://schemas.openxmlformats.org/drawingml/2006/main">
              <a:ext uri="{FF2B5EF4-FFF2-40B4-BE49-F238E27FC236}">
                <a16:creationId xmlns:a16="http://schemas.microsoft.com/office/drawing/2014/main" id="{E2901753-DBC9-4352-AA54-60E357374048}"/>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1327208846"/>
      </p:ext>
    </p:extLst>
  </p:cSld>
</p:sld>
</file>

<file path=ppt/slides/slide13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BD64A138-8F55-4074-8D5D-F6AC460595B0}"/>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PF-A15 / 논리 인터페이스·복구 설계</a:t>
            </a:r>
          </a:p>
        </p:txBody>
      </p:sp>
      <p:sp>
        <p:nvSpPr>
          <p:cNvPr id="2" name="">
            <a:extLst xmlns:a="http://schemas.openxmlformats.org/drawingml/2006/main">
              <a:ext uri="{FF2B5EF4-FFF2-40B4-BE49-F238E27FC236}">
                <a16:creationId xmlns:a16="http://schemas.microsoft.com/office/drawing/2014/main" id="{CEAA7741-3AE5-4FED-BE10-9B029B632419}"/>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호주 APS Copilot 평가 · 데이터와 예외 처리</a:t>
            </a:r>
          </a:p>
        </p:txBody>
      </p:sp>
      <p:sp>
        <p:nvSpPr>
          <p:cNvPr id="3" name="">
            <a:extLst xmlns:a="http://schemas.openxmlformats.org/drawingml/2006/main">
              <a:ext uri="{FF2B5EF4-FFF2-40B4-BE49-F238E27FC236}">
                <a16:creationId xmlns:a16="http://schemas.microsoft.com/office/drawing/2014/main" id="{4C0CC055-4DFA-490C-9EBD-C9B48BED7BF0}"/>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FE04287-0C57-4EF5-831A-E704096A6CC9}"/>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32AA7944-3607-4F58-9107-FB3BAEA029BB}"/>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133</a:t>
            </a:r>
          </a:p>
        </p:txBody>
      </p:sp>
      <p:sp>
        <p:nvSpPr>
          <p:cNvPr id="6" name="">
            <a:extLst xmlns:a="http://schemas.openxmlformats.org/drawingml/2006/main">
              <a:ext uri="{FF2B5EF4-FFF2-40B4-BE49-F238E27FC236}">
                <a16:creationId xmlns:a16="http://schemas.microsoft.com/office/drawing/2014/main" id="{698DCD25-08B2-4770-9720-2D8BF36770B0}"/>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7A2ACDEF-8588-4A1D-B485-14B40F808B41}"/>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6C3181A6-C471-4801-8E36-1AB56EBC6DC1}"/>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5FA66399-4E26-4478-B272-7C88AC4513D1}"/>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업무 유형·숙련도·기존 공유범위 구분</a:t>
            </a:r>
          </a:p>
        </p:txBody>
      </p:sp>
      <p:sp>
        <p:nvSpPr>
          <p:cNvPr id="10" name="">
            <a:extLst xmlns:a="http://schemas.openxmlformats.org/drawingml/2006/main">
              <a:ext uri="{FF2B5EF4-FFF2-40B4-BE49-F238E27FC236}">
                <a16:creationId xmlns:a16="http://schemas.microsoft.com/office/drawing/2014/main" id="{760CF90F-0E8F-4001-8BAA-4D1DAC88ABAF}"/>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78C14C2-3637-4936-BFEC-885CEFBAC8B5}"/>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E7898DDE-06CB-4342-AB71-B0DDE5CF3557}"/>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과업 요청</a:t>
            </a:r>
          </a:p>
        </p:txBody>
      </p:sp>
      <p:sp>
        <p:nvSpPr>
          <p:cNvPr id="13" name="">
            <a:extLst xmlns:a="http://schemas.openxmlformats.org/drawingml/2006/main">
              <a:ext uri="{FF2B5EF4-FFF2-40B4-BE49-F238E27FC236}">
                <a16:creationId xmlns:a16="http://schemas.microsoft.com/office/drawing/2014/main" id="{30F3BA56-AC96-4B32-89FF-ED78004B45E9}"/>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F7DA5B0-E8AF-480A-A8CC-B5A8442D8129}"/>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49909910-A7D0-4F46-B4EC-6872D0AEC86C}"/>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지원 결과</a:t>
            </a:r>
          </a:p>
        </p:txBody>
      </p:sp>
      <p:sp>
        <p:nvSpPr>
          <p:cNvPr id="16" name="">
            <a:extLst xmlns:a="http://schemas.openxmlformats.org/drawingml/2006/main">
              <a:ext uri="{FF2B5EF4-FFF2-40B4-BE49-F238E27FC236}">
                <a16:creationId xmlns:a16="http://schemas.microsoft.com/office/drawing/2014/main" id="{D949BC38-B021-4BDD-9068-A9D452B73C27}"/>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20D41D8-33A3-4F68-8A72-906C0D199B4E}"/>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0B4C3F5D-C6BD-45D3-809F-40D06DBF9F16}"/>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현업 활용</a:t>
            </a:r>
          </a:p>
        </p:txBody>
      </p:sp>
      <p:sp>
        <p:nvSpPr>
          <p:cNvPr id="19" name="">
            <a:extLst xmlns:a="http://schemas.openxmlformats.org/drawingml/2006/main">
              <a:ext uri="{FF2B5EF4-FFF2-40B4-BE49-F238E27FC236}">
                <a16:creationId xmlns:a16="http://schemas.microsoft.com/office/drawing/2014/main" id="{FC196EFC-14E7-47BD-946A-BAE2DB51EB30}"/>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8E29065-1024-4B85-9130-71F601F5C80E}"/>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F6BA137A-A9FD-4E49-A6F4-20D85D4C3038}"/>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현업 활용</a:t>
            </a:r>
          </a:p>
        </p:txBody>
      </p:sp>
      <p:sp>
        <p:nvSpPr>
          <p:cNvPr id="22" name="">
            <a:extLst xmlns:a="http://schemas.openxmlformats.org/drawingml/2006/main">
              <a:ext uri="{FF2B5EF4-FFF2-40B4-BE49-F238E27FC236}">
                <a16:creationId xmlns:a16="http://schemas.microsoft.com/office/drawing/2014/main" id="{DEC9C356-CFD8-4E87-B6A0-5845B3C0E2DE}"/>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11DDA17-3504-4ADB-A3D6-C000D6EEF6E1}"/>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AA4FDC63-D843-4A57-9637-F5446E4C2EFC}"/>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전후 평가</a:t>
            </a:r>
          </a:p>
        </p:txBody>
      </p:sp>
      <p:sp>
        <p:nvSpPr>
          <p:cNvPr id="25" name="">
            <a:extLst xmlns:a="http://schemas.openxmlformats.org/drawingml/2006/main">
              <a:ext uri="{FF2B5EF4-FFF2-40B4-BE49-F238E27FC236}">
                <a16:creationId xmlns:a16="http://schemas.microsoft.com/office/drawing/2014/main" id="{2139FCE1-557F-4CDF-86B5-A58B08D6AA95}"/>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128EF428-4994-4C32-9571-0B643007CA31}"/>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숙련도 차이·미사용자 제외·어려운 과업 누락</a:t>
            </a:r>
          </a:p>
        </p:txBody>
      </p:sp>
      <p:sp>
        <p:nvSpPr>
          <p:cNvPr id="27" name="">
            <a:extLst xmlns:a="http://schemas.openxmlformats.org/drawingml/2006/main">
              <a:ext uri="{FF2B5EF4-FFF2-40B4-BE49-F238E27FC236}">
                <a16:creationId xmlns:a16="http://schemas.microsoft.com/office/drawing/2014/main" id="{C63CCD73-03CD-4590-B7DD-526793007BE7}"/>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BB5D5DEA-44F7-4711-A8FD-0F045DB554FE}"/>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과업·숙련도별 비교와 실패 비용 포함</a:t>
            </a:r>
          </a:p>
        </p:txBody>
      </p:sp>
      <p:sp>
        <p:nvSpPr>
          <p:cNvPr id="29" name="">
            <a:extLst xmlns:a="http://schemas.openxmlformats.org/drawingml/2006/main">
              <a:ext uri="{FF2B5EF4-FFF2-40B4-BE49-F238E27FC236}">
                <a16:creationId xmlns:a16="http://schemas.microsoft.com/office/drawing/2014/main" id="{9D01FAB5-A1A9-41FD-8AA4-9C4B0396B5C7}"/>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16B08B6D-6F28-4153-91EC-4C54D6F51D50}"/>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기관·과업별 효과와 학습 부담·실패 비용 분석</a:t>
            </a:r>
          </a:p>
        </p:txBody>
      </p:sp>
      <p:sp>
        <p:nvSpPr>
          <p:cNvPr id="31" name="">
            <a:extLst xmlns:a="http://schemas.openxmlformats.org/drawingml/2006/main">
              <a:ext uri="{FF2B5EF4-FFF2-40B4-BE49-F238E27FC236}">
                <a16:creationId xmlns:a16="http://schemas.microsoft.com/office/drawing/2014/main" id="{F1AEE94C-1470-4181-9497-59418B92746A}"/>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B24DDC09-4BEE-440E-8563-723293C3AB37}"/>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기관·과업·숙련도별 비교표와 오류·재작업 기록</a:t>
            </a:r>
          </a:p>
        </p:txBody>
      </p:sp>
    </p:spTree>
    <p:extLst>
      <p:ext uri="{BB962C8B-B14F-4D97-AF65-F5344CB8AC3E}">
        <p14:creationId xmlns:p14="http://schemas.microsoft.com/office/powerpoint/2010/main" val="333309013"/>
      </p:ext>
    </p:extLst>
  </p:cSld>
</p:sld>
</file>

<file path=ppt/slides/slide13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AD87E4A-67A5-4BBC-8FD0-A619F0C03C54}"/>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PF-A15 / CCK 비교·재현 시험 설계</a:t>
            </a:r>
          </a:p>
        </p:txBody>
      </p:sp>
      <p:sp>
        <p:nvSpPr>
          <p:cNvPr id="2" name="">
            <a:extLst xmlns:a="http://schemas.openxmlformats.org/drawingml/2006/main">
              <a:ext uri="{FF2B5EF4-FFF2-40B4-BE49-F238E27FC236}">
                <a16:creationId xmlns:a16="http://schemas.microsoft.com/office/drawing/2014/main" id="{6705E06F-AAD0-4EAB-BFED-F5FB2107D3A2}"/>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호주 APS Copilot 평가 · 벤치마킹</a:t>
            </a:r>
          </a:p>
        </p:txBody>
      </p:sp>
      <p:sp>
        <p:nvSpPr>
          <p:cNvPr id="3" name="">
            <a:extLst xmlns:a="http://schemas.openxmlformats.org/drawingml/2006/main">
              <a:ext uri="{FF2B5EF4-FFF2-40B4-BE49-F238E27FC236}">
                <a16:creationId xmlns:a16="http://schemas.microsoft.com/office/drawing/2014/main" id="{EF59806A-B730-443A-83A0-EB85E1D03F5C}"/>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A5F4E80-7E2C-428C-B575-B19C02A87D29}"/>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06F5ADC4-3ADA-4462-87C5-458474DA916E}"/>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134</a:t>
            </a:r>
          </a:p>
        </p:txBody>
      </p:sp>
      <p:sp>
        <p:nvSpPr>
          <p:cNvPr id="6" name="">
            <a:extLst xmlns:a="http://schemas.openxmlformats.org/drawingml/2006/main">
              <a:ext uri="{FF2B5EF4-FFF2-40B4-BE49-F238E27FC236}">
                <a16:creationId xmlns:a16="http://schemas.microsoft.com/office/drawing/2014/main" id="{1DB56B9C-5820-4682-BB7B-A08623B302A8}"/>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9F2BCFE4-4206-4468-8793-F85A669C0CEC}"/>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기존 협업 환경과 교육 결합</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참여기관의 전후 평가</a:t>
            </a:r>
          </a:p>
        </p:txBody>
      </p:sp>
      <p:sp>
        <p:nvSpPr>
          <p:cNvPr id="8" name="">
            <a:extLst xmlns:a="http://schemas.openxmlformats.org/drawingml/2006/main">
              <a:ext uri="{FF2B5EF4-FFF2-40B4-BE49-F238E27FC236}">
                <a16:creationId xmlns:a16="http://schemas.microsoft.com/office/drawing/2014/main" id="{8D1674D2-01BD-420C-B2CB-47DED43B5F5C}"/>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016970EB-E9EB-4257-AA00-A6FD9DBF02D3}"/>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학습·조직 준비도 차이</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설문 변화의 인과효과 단정</a:t>
            </a:r>
          </a:p>
        </p:txBody>
      </p:sp>
      <p:sp>
        <p:nvSpPr>
          <p:cNvPr id="10" name="">
            <a:extLst xmlns:a="http://schemas.openxmlformats.org/drawingml/2006/main">
              <a:ext uri="{FF2B5EF4-FFF2-40B4-BE49-F238E27FC236}">
                <a16:creationId xmlns:a16="http://schemas.microsoft.com/office/drawing/2014/main" id="{CDBAE845-233B-40F6-9456-E1BCD63D94CA}"/>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A8CC4DC4-E39C-4130-AEFB-FDE80F75BB5C}"/>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과업·숙련도별 비교와 실패 비용 포함</a:t>
            </a:r>
          </a:p>
        </p:txBody>
      </p:sp>
      <p:sp>
        <p:nvSpPr>
          <p:cNvPr id="12" name="">
            <a:extLst xmlns:a="http://schemas.openxmlformats.org/drawingml/2006/main">
              <a:ext uri="{FF2B5EF4-FFF2-40B4-BE49-F238E27FC236}">
                <a16:creationId xmlns:a16="http://schemas.microsoft.com/office/drawing/2014/main" id="{24B2DD0E-0DEE-45BF-B0A2-EE09A7C79B27}"/>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E349FF46-4572-4CBB-9CF2-3C80CA5177D5}"/>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같은 업무를 지원 전후 수행하고 검토시간까지 측</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정</a:t>
            </a:r>
          </a:p>
        </p:txBody>
      </p:sp>
      <p:sp>
        <p:nvSpPr>
          <p:cNvPr id="14" name="">
            <a:extLst xmlns:a="http://schemas.openxmlformats.org/drawingml/2006/main">
              <a:ext uri="{FF2B5EF4-FFF2-40B4-BE49-F238E27FC236}">
                <a16:creationId xmlns:a16="http://schemas.microsoft.com/office/drawing/2014/main" id="{AC5A3AA7-4829-4EBB-8A81-20A94C7FD7DD}"/>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71D2A683-49C9-4AD3-804C-ECA31D61D9ED}"/>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숙련도 차이·미사용자 제외·어려운 과업 누락</a:t>
            </a:r>
          </a:p>
        </p:txBody>
      </p:sp>
      <p:sp>
        <p:nvSpPr>
          <p:cNvPr id="16" name="">
            <a:extLst xmlns:a="http://schemas.openxmlformats.org/drawingml/2006/main">
              <a:ext uri="{FF2B5EF4-FFF2-40B4-BE49-F238E27FC236}">
                <a16:creationId xmlns:a16="http://schemas.microsoft.com/office/drawing/2014/main" id="{868F8B6B-B693-4F50-B1C8-567E30FB120B}"/>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932EF071-96BA-4F5B-824E-EA622B3D1B05}"/>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기관·과업·숙련도별 비교표와 오류·재작업 기록</a:t>
            </a:r>
          </a:p>
        </p:txBody>
      </p:sp>
    </p:spTree>
    <p:extLst>
      <p:ext uri="{BB962C8B-B14F-4D97-AF65-F5344CB8AC3E}">
        <p14:creationId xmlns:p14="http://schemas.microsoft.com/office/powerpoint/2010/main" val="1446252821"/>
      </p:ext>
    </p:extLst>
  </p:cSld>
</p:sld>
</file>

<file path=ppt/slides/slide13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70A44F1-8EFD-4612-BF8D-CCE44ABB4059}"/>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PF-A16 / 초기11,000명 활용 후 전사 확대 협약(2025-12) / 해외</a:t>
            </a:r>
          </a:p>
        </p:txBody>
      </p:sp>
      <p:sp>
        <p:nvSpPr>
          <p:cNvPr id="2" name="">
            <a:extLst xmlns:a="http://schemas.openxmlformats.org/drawingml/2006/main">
              <a:ext uri="{FF2B5EF4-FFF2-40B4-BE49-F238E27FC236}">
                <a16:creationId xmlns:a16="http://schemas.microsoft.com/office/drawing/2014/main" id="{342CABAB-22A7-401E-9A4C-0660F8C85CC8}"/>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BBVA 기업 AI 도입</a:t>
            </a:r>
          </a:p>
        </p:txBody>
      </p:sp>
      <p:sp>
        <p:nvSpPr>
          <p:cNvPr id="3" name="">
            <a:extLst xmlns:a="http://schemas.openxmlformats.org/drawingml/2006/main">
              <a:ext uri="{FF2B5EF4-FFF2-40B4-BE49-F238E27FC236}">
                <a16:creationId xmlns:a16="http://schemas.microsoft.com/office/drawing/2014/main" id="{4940837F-B2B6-485D-A944-FA8F72EF7879}"/>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B66E96B-FB6E-42F3-9ECA-D473245A0E1E}"/>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84C5EEC8-7E19-4131-872B-A784942AFEB3}"/>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135</a:t>
            </a:r>
          </a:p>
        </p:txBody>
      </p:sp>
      <p:sp>
        <p:nvSpPr>
          <p:cNvPr id="6" name="">
            <a:extLst xmlns:a="http://schemas.openxmlformats.org/drawingml/2006/main">
              <a:ext uri="{FF2B5EF4-FFF2-40B4-BE49-F238E27FC236}">
                <a16:creationId xmlns:a16="http://schemas.microsoft.com/office/drawing/2014/main" id="{A659A229-37C5-475A-8719-E8C4FC96880F}"/>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434503C3-D141-49BE-A26D-A832F2456A63}"/>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BBVA의 전사 AI 활용과 전문화 GPT 확산 사례. 공통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도구 도입 이후 현업 사용자가 자신의 업무에 맞는 지시·</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자료를 구성하고 전담 조직이 활용과 교육을 지원하는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운영 방식.</a:t>
            </a:r>
          </a:p>
        </p:txBody>
      </p:sp>
      <p:sp>
        <p:nvSpPr>
          <p:cNvPr id="8" name="">
            <a:extLst xmlns:a="http://schemas.openxmlformats.org/drawingml/2006/main">
              <a:ext uri="{FF2B5EF4-FFF2-40B4-BE49-F238E27FC236}">
                <a16:creationId xmlns:a16="http://schemas.microsoft.com/office/drawing/2014/main" id="{44C6CB87-1485-489A-912A-EEC0129507C8}"/>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EC5507A7-904C-4F3B-A595-C7AFEBC81797}"/>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직원 접근, 기업용 AI 환경, 업무별 GPT, 지식·프롬프트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관리, 현업 검토, 활용 피드백의 흐름으로 재구성. 실제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내부 권한 구현은 공개된 활용 설명과 구분하고 민감 자</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료 입력과 업무 결과 사용의 책임을 별도 설계.</a:t>
            </a:r>
          </a:p>
        </p:txBody>
      </p:sp>
      <p:sp>
        <p:nvSpPr>
          <p:cNvPr id="10" name="">
            <a:extLst xmlns:a="http://schemas.openxmlformats.org/drawingml/2006/main">
              <a:ext uri="{FF2B5EF4-FFF2-40B4-BE49-F238E27FC236}">
                <a16:creationId xmlns:a16="http://schemas.microsoft.com/office/drawing/2014/main" id="{54058AB5-958B-4D3D-A29C-791DB2E27699}"/>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9AE16AA9-B10F-42D1-9B89-02E410542F0B}"/>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TS에서의 비교 기준은 생성한 봇 수보다 검증된 업무 단</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위의 정착 여부. 부서 소유자·업무 범위·근거 자료·시험 결</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과·중단 조건을 갖춘 서비스 목록을 운영하고 전보 이후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소유권 이전을 공통 기능으로 관리할 필요.</a:t>
            </a:r>
          </a:p>
        </p:txBody>
      </p:sp>
      <p:sp>
        <p:nvSpPr>
          <p:cNvPr id="12" name="">
            <a:extLst xmlns:a="http://schemas.openxmlformats.org/drawingml/2006/main">
              <a:ext uri="{FF2B5EF4-FFF2-40B4-BE49-F238E27FC236}">
                <a16:creationId xmlns:a16="http://schemas.microsoft.com/office/drawing/2014/main" id="{0B4EF9FA-6099-46B3-95E0-10176353371D}"/>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52DC828D-2FBE-42FC-A190-492231340413}"/>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기관 설정·회귀 평가·두 번째 부서 적용</a:t>
            </a:r>
          </a:p>
        </p:txBody>
      </p:sp>
      <p:sp>
        <p:nvSpPr>
          <p:cNvPr id="14" name="">
            <a:extLst xmlns:a="http://schemas.openxmlformats.org/drawingml/2006/main">
              <a:ext uri="{FF2B5EF4-FFF2-40B4-BE49-F238E27FC236}">
                <a16:creationId xmlns:a16="http://schemas.microsoft.com/office/drawing/2014/main" id="{C3394EE0-21A2-4EC5-96EE-D4E1A5FCA1ED}"/>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95FED0A2-75E5-48EC-83E3-EBDE6AC263A9}"/>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도입기간·유지비·교육 부담의 기준선·비교 평가</a:t>
            </a:r>
          </a:p>
        </p:txBody>
      </p:sp>
      <p:sp>
        <p:nvSpPr>
          <p:cNvPr id="16" name="">
            <a:extLst xmlns:a="http://schemas.openxmlformats.org/drawingml/2006/main">
              <a:ext uri="{FF2B5EF4-FFF2-40B4-BE49-F238E27FC236}">
                <a16:creationId xmlns:a16="http://schemas.microsoft.com/office/drawing/2014/main" id="{106EA5C8-9992-4C5B-B212-BED2AD0FD3E8}"/>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F421DDFF-544F-4B04-A27D-892F8716E4B7}"/>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도입기간·유지비·교육 부담</a:t>
            </a:r>
          </a:p>
        </p:txBody>
      </p:sp>
      <p:sp>
        <p:nvSpPr>
          <p:cNvPr id="18" name="">
            <a:extLst xmlns:a="http://schemas.openxmlformats.org/drawingml/2006/main">
              <a:ext uri="{FF2B5EF4-FFF2-40B4-BE49-F238E27FC236}">
                <a16:creationId xmlns:a16="http://schemas.microsoft.com/office/drawing/2014/main" id="{FAC7BE48-E170-438C-9F15-0F45C9C4EF16}"/>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12만명 전사 확대는 발표 계획과 초기11,000명 실적을 구분. 독립 ROI 검증 아님</a:t>
            </a:r>
          </a:p>
        </p:txBody>
      </p:sp>
    </p:spTree>
    <p:extLst>
      <p:ext uri="{BB962C8B-B14F-4D97-AF65-F5344CB8AC3E}">
        <p14:creationId xmlns:p14="http://schemas.microsoft.com/office/powerpoint/2010/main" val="1191279109"/>
      </p:ext>
    </p:extLst>
  </p:cSld>
</p:sld>
</file>

<file path=ppt/slides/slide136.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63F9AEB2-AAA1-4C9C-B15F-496A0599AACE}"/>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8B45A1DC-56B5-4D74-903E-D56D7FB1A329}"/>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E90D6080-229F-459B-89EE-AF2C6291EC54}"/>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572A0676-5368-4FC9-B6FB-2948E4E93829}"/>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7A4BB373-6896-43DE-BBDF-B23BF0D92379}"/>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7E71758B-008F-4C9E-9C7B-749E8C538309}"/>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9198168B-12A4-4A0E-84A4-DB363F949F28}"/>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8C5282EC-18C7-49BD-AACD-5C57C0D29510}"/>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F3140477-53AD-4DFE-BE1F-E207C0AC70AB}"/>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F7DFDE8C-18D0-4B76-A63B-8C5F3875B7C2}"/>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PF-A16 / CCK 세부 재구성 · 논리 서비스 설계</a:t>
            </a:r>
          </a:p>
        </p:txBody>
      </p:sp>
      <p:sp>
        <p:nvSpPr>
          <p:cNvPr id="2" name="">
            <a:extLst xmlns:a="http://schemas.openxmlformats.org/drawingml/2006/main">
              <a:ext uri="{FF2B5EF4-FFF2-40B4-BE49-F238E27FC236}">
                <a16:creationId xmlns:a16="http://schemas.microsoft.com/office/drawing/2014/main" id="{0B4CAABD-2075-48FE-88F8-67F96A56D99F}"/>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BBVA 기업 AI 도입 · 세부 서비스 구조</a:t>
            </a:r>
          </a:p>
        </p:txBody>
      </p:sp>
      <p:sp>
        <p:nvSpPr>
          <p:cNvPr id="3" name="">
            <a:extLst xmlns:a="http://schemas.openxmlformats.org/drawingml/2006/main">
              <a:ext uri="{FF2B5EF4-FFF2-40B4-BE49-F238E27FC236}">
                <a16:creationId xmlns:a16="http://schemas.microsoft.com/office/drawing/2014/main" id="{401872C9-44B8-4EB0-933D-8E4F267B80B8}"/>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DD28CA6-3AE2-4FBE-AB7C-BEEE4F69755A}"/>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44F8A138-C912-49D0-B8FE-933426AE7AFE}"/>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136</a:t>
            </a:r>
          </a:p>
        </p:txBody>
      </p:sp>
      <p:sp>
        <p:nvSpPr>
          <p:cNvPr id="6" name="">
            <a:extLst xmlns:a="http://schemas.openxmlformats.org/drawingml/2006/main">
              <a:ext uri="{FF2B5EF4-FFF2-40B4-BE49-F238E27FC236}">
                <a16:creationId xmlns:a16="http://schemas.microsoft.com/office/drawing/2014/main" id="{03D038CE-379D-4F80-B6EE-795BF118A181}"/>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운영기관·공급사·감사 자료의 업무 설명</a:t>
            </a:r>
          </a:p>
        </p:txBody>
      </p:sp>
      <p:sp>
        <p:nvSpPr>
          <p:cNvPr id="7" name="">
            <a:extLst xmlns:a="http://schemas.openxmlformats.org/drawingml/2006/main">
              <a:ext uri="{FF2B5EF4-FFF2-40B4-BE49-F238E27FC236}">
                <a16:creationId xmlns:a16="http://schemas.microsoft.com/office/drawing/2014/main" id="{5652514E-DFF3-4DDE-B5B9-5C8677E3161A}"/>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9C79A2A2-C883-40C1-BDAB-AB2D750FD303}"/>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CB50BFD9-6235-4E2C-8F0A-536D1A23ECFB}"/>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직원·GPT 접점</a:t>
            </a:r>
          </a:p>
        </p:txBody>
      </p:sp>
      <p:sp>
        <p:nvSpPr>
          <p:cNvPr id="10" name="">
            <a:extLst xmlns:a="http://schemas.openxmlformats.org/drawingml/2006/main">
              <a:ext uri="{FF2B5EF4-FFF2-40B4-BE49-F238E27FC236}">
                <a16:creationId xmlns:a16="http://schemas.microsoft.com/office/drawing/2014/main" id="{91965323-3CA7-4CEC-8A45-6795FCB87ABE}"/>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FCED9711-FC80-43DD-BB42-0E3A63AF6A1C}"/>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D2927D38-C508-4963-A022-6156F089454B}"/>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업무·민감범위</a:t>
            </a:r>
          </a:p>
        </p:txBody>
      </p:sp>
      <p:sp>
        <p:nvSpPr>
          <p:cNvPr id="13" name="">
            <a:extLst xmlns:a="http://schemas.openxmlformats.org/drawingml/2006/main">
              <a:ext uri="{FF2B5EF4-FFF2-40B4-BE49-F238E27FC236}">
                <a16:creationId xmlns:a16="http://schemas.microsoft.com/office/drawing/2014/main" id="{7477975B-649E-42F6-9EA7-A4886A4E2557}"/>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E72B208A-833A-4D67-9594-FB3B65ABBE6A}"/>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91538FEA-D787-42A0-9916-3A8A7337A999}"/>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현업 지식 조회</a:t>
            </a:r>
          </a:p>
        </p:txBody>
      </p:sp>
      <p:sp>
        <p:nvSpPr>
          <p:cNvPr id="16" name="">
            <a:extLst xmlns:a="http://schemas.openxmlformats.org/drawingml/2006/main">
              <a:ext uri="{FF2B5EF4-FFF2-40B4-BE49-F238E27FC236}">
                <a16:creationId xmlns:a16="http://schemas.microsoft.com/office/drawing/2014/main" id="{CEF0870D-5DC7-4E81-B45E-07A15330CDDE}"/>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3B549BEE-DD89-4626-B0BF-F9EFE32351D0}"/>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9972BE29-0F09-4382-8CB6-4F192B5F3855}"/>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기업 AI·전문화 GPT</a:t>
            </a:r>
          </a:p>
        </p:txBody>
      </p:sp>
      <p:sp>
        <p:nvSpPr>
          <p:cNvPr id="19" name="">
            <a:extLst xmlns:a="http://schemas.openxmlformats.org/drawingml/2006/main">
              <a:ext uri="{FF2B5EF4-FFF2-40B4-BE49-F238E27FC236}">
                <a16:creationId xmlns:a16="http://schemas.microsoft.com/office/drawing/2014/main" id="{C3F26876-97ED-441A-8F64-D43CE3198017}"/>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E9679362-216C-4C18-9F52-D41FEEF34CB3}"/>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2DD0C117-3D95-4A17-81FA-B1D17EB4C1FF}"/>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근거·권한 검사</a:t>
            </a:r>
          </a:p>
        </p:txBody>
      </p:sp>
      <p:sp>
        <p:nvSpPr>
          <p:cNvPr id="22" name="">
            <a:extLst xmlns:a="http://schemas.openxmlformats.org/drawingml/2006/main">
              <a:ext uri="{FF2B5EF4-FFF2-40B4-BE49-F238E27FC236}">
                <a16:creationId xmlns:a16="http://schemas.microsoft.com/office/drawing/2014/main" id="{90863D15-46C3-4F51-AD25-6A9EBB11AD0E}"/>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DA3DEA04-2AE3-4123-A7AE-E0E722678A7C}"/>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AF9BC602-CD68-4FA2-9CD6-A72E3F98EAD2}"/>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업무 담당 확인</a:t>
            </a:r>
          </a:p>
        </p:txBody>
      </p:sp>
      <p:sp>
        <p:nvSpPr>
          <p:cNvPr id="25" name="">
            <a:extLst xmlns:a="http://schemas.openxmlformats.org/drawingml/2006/main">
              <a:ext uri="{FF2B5EF4-FFF2-40B4-BE49-F238E27FC236}">
                <a16:creationId xmlns:a16="http://schemas.microsoft.com/office/drawing/2014/main" id="{F33AC340-7F4E-4F7C-9214-6D5AB50119B7}"/>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84E10C1E-CBD9-42A8-B471-BFC75D3ABFD1}"/>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D67D8B59-5A49-4B9D-880D-8C81A9C31851}"/>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현업 결과 활용</a:t>
            </a:r>
          </a:p>
        </p:txBody>
      </p:sp>
      <p:sp>
        <p:nvSpPr>
          <p:cNvPr id="28" name="">
            <a:extLst xmlns:a="http://schemas.openxmlformats.org/drawingml/2006/main">
              <a:ext uri="{FF2B5EF4-FFF2-40B4-BE49-F238E27FC236}">
                <a16:creationId xmlns:a16="http://schemas.microsoft.com/office/drawing/2014/main" id="{F48E36B8-F0E8-4B80-B603-90F01546F592}"/>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9A7D54A4-AAFF-4E19-83C2-A558CB1EC7D6}"/>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A967D175-81C5-41D5-B0EA-6680480A25A8}"/>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채택 조직 평가</a:t>
            </a:r>
          </a:p>
        </p:txBody>
      </p:sp>
      <p:sp>
        <p:nvSpPr>
          <p:cNvPr id="31" name="">
            <a:extLst xmlns:a="http://schemas.openxmlformats.org/drawingml/2006/main">
              <a:ext uri="{FF2B5EF4-FFF2-40B4-BE49-F238E27FC236}">
                <a16:creationId xmlns:a16="http://schemas.microsoft.com/office/drawing/2014/main" id="{6E5FAA7C-6E22-48BA-94BE-F22F80B17D95}"/>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3B4B48F7-4506-4C0C-AE44-DFCCAA58E3CA}"/>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8DD36BCA-8C8C-4B60-90EE-8F7E977ACD4E}"/>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현업 지식·지시</a:t>
            </a:r>
          </a:p>
        </p:txBody>
      </p:sp>
      <p:sp>
        <p:nvSpPr>
          <p:cNvPr id="34" name="">
            <a:extLst xmlns:a="http://schemas.openxmlformats.org/drawingml/2006/main">
              <a:ext uri="{FF2B5EF4-FFF2-40B4-BE49-F238E27FC236}">
                <a16:creationId xmlns:a16="http://schemas.microsoft.com/office/drawing/2014/main" id="{DFECCFE2-A5EC-4091-8CCC-C7EB91B8257B}"/>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753CFEB7-0B7D-4D9F-AC4C-C77E54379C2E}"/>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928DCACE-59F2-4800-BC10-523E1FAEAC38}"/>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프롬프트·판본 정리</a:t>
            </a:r>
          </a:p>
        </p:txBody>
      </p:sp>
      <p:sp>
        <p:nvSpPr>
          <p:cNvPr id="37" name="">
            <a:extLst xmlns:a="http://schemas.openxmlformats.org/drawingml/2006/main">
              <a:ext uri="{FF2B5EF4-FFF2-40B4-BE49-F238E27FC236}">
                <a16:creationId xmlns:a16="http://schemas.microsoft.com/office/drawing/2014/main" id="{0FEFCAD6-98DD-4EBB-8A93-8E3B566B17F5}"/>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2944B958-EF16-43D3-9F7A-545DBEC0AB16}"/>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6EF8D084-CCA1-4B0B-B43C-73FA80F1BA53}"/>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GPT·활용 기록</a:t>
            </a:r>
          </a:p>
        </p:txBody>
      </p:sp>
      <p:sp>
        <p:nvSpPr>
          <p:cNvPr id="40" name="">
            <a:extLst xmlns:a="http://schemas.openxmlformats.org/drawingml/2006/main">
              <a:ext uri="{FF2B5EF4-FFF2-40B4-BE49-F238E27FC236}">
                <a16:creationId xmlns:a16="http://schemas.microsoft.com/office/drawing/2014/main" id="{286B59E8-FA4E-43FE-8267-A8A06E175AB4}"/>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3BF6836E-1AB6-4D24-BC08-E791F3E5CBAF}"/>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49B22650-07E1-4154-BC45-D4E808E76A13}"/>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부서별 이용범위</a:t>
            </a:r>
          </a:p>
        </p:txBody>
      </p:sp>
      <p:sp>
        <p:nvSpPr>
          <p:cNvPr id="52" name="">
            <a:extLst xmlns:a="http://schemas.openxmlformats.org/drawingml/2006/main">
              <a:ext uri="{FF2B5EF4-FFF2-40B4-BE49-F238E27FC236}">
                <a16:creationId xmlns:a16="http://schemas.microsoft.com/office/drawing/2014/main" id="{10E29A6E-CD01-451F-B64E-556CF18078D8}"/>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308749574"/>
      </p:ext>
    </p:extLst>
  </p:cSld>
</p:sld>
</file>

<file path=ppt/slides/slide137.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8535227-FC78-4632-95E8-D6C51847F177}"/>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PF-A16 / 논리 인터페이스·복구 설계</a:t>
            </a:r>
          </a:p>
        </p:txBody>
      </p:sp>
      <p:sp>
        <p:nvSpPr>
          <p:cNvPr id="2" name="">
            <a:extLst xmlns:a="http://schemas.openxmlformats.org/drawingml/2006/main">
              <a:ext uri="{FF2B5EF4-FFF2-40B4-BE49-F238E27FC236}">
                <a16:creationId xmlns:a16="http://schemas.microsoft.com/office/drawing/2014/main" id="{0EDCE690-07BB-4DB1-AE01-98BC3D08E4AF}"/>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BBVA 기업 AI 도입 · 데이터와 예외 처리</a:t>
            </a:r>
          </a:p>
        </p:txBody>
      </p:sp>
      <p:sp>
        <p:nvSpPr>
          <p:cNvPr id="3" name="">
            <a:extLst xmlns:a="http://schemas.openxmlformats.org/drawingml/2006/main">
              <a:ext uri="{FF2B5EF4-FFF2-40B4-BE49-F238E27FC236}">
                <a16:creationId xmlns:a16="http://schemas.microsoft.com/office/drawing/2014/main" id="{519DF652-D617-4DBC-9611-CF7AA9E81D94}"/>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B0517B2-952A-4ECA-AFB7-0CCEB74B5514}"/>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946ABE28-AD7E-4AD7-A887-15090D8E5401}"/>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137</a:t>
            </a:r>
          </a:p>
        </p:txBody>
      </p:sp>
      <p:sp>
        <p:nvSpPr>
          <p:cNvPr id="6" name="">
            <a:extLst xmlns:a="http://schemas.openxmlformats.org/drawingml/2006/main">
              <a:ext uri="{FF2B5EF4-FFF2-40B4-BE49-F238E27FC236}">
                <a16:creationId xmlns:a16="http://schemas.microsoft.com/office/drawing/2014/main" id="{399A4AD1-49FD-49EF-9CEE-90DF2B35B550}"/>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D96D5E90-90B0-4306-AD52-CDA1678AE0A0}"/>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20506B42-3589-4F95-83B2-6973911082AE}"/>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4F598CD3-7A14-4676-A89A-C09F3C0F78D3}"/>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사용자·업무 목적·민감자료 범위 확인</a:t>
            </a:r>
          </a:p>
        </p:txBody>
      </p:sp>
      <p:sp>
        <p:nvSpPr>
          <p:cNvPr id="10" name="">
            <a:extLst xmlns:a="http://schemas.openxmlformats.org/drawingml/2006/main">
              <a:ext uri="{FF2B5EF4-FFF2-40B4-BE49-F238E27FC236}">
                <a16:creationId xmlns:a16="http://schemas.microsoft.com/office/drawing/2014/main" id="{DF1F564F-420F-4CEB-96B8-FEC6D65D05B5}"/>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07002FD-BEE1-4DB2-B8AF-F8835E390315}"/>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8D0B1B4A-603B-4568-B010-2DF3646C6CC1}"/>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업무 목적</a:t>
            </a:r>
          </a:p>
        </p:txBody>
      </p:sp>
      <p:sp>
        <p:nvSpPr>
          <p:cNvPr id="13" name="">
            <a:extLst xmlns:a="http://schemas.openxmlformats.org/drawingml/2006/main">
              <a:ext uri="{FF2B5EF4-FFF2-40B4-BE49-F238E27FC236}">
                <a16:creationId xmlns:a16="http://schemas.microsoft.com/office/drawing/2014/main" id="{CD03BBA4-8EE3-419C-8FA0-44A8F94D51B8}"/>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99F6AAF-60DA-4B15-8736-76624D7497B0}"/>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91B52444-53FD-492B-8F8A-F294917F77E8}"/>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GPT 문맥</a:t>
            </a:r>
          </a:p>
        </p:txBody>
      </p:sp>
      <p:sp>
        <p:nvSpPr>
          <p:cNvPr id="16" name="">
            <a:extLst xmlns:a="http://schemas.openxmlformats.org/drawingml/2006/main">
              <a:ext uri="{FF2B5EF4-FFF2-40B4-BE49-F238E27FC236}">
                <a16:creationId xmlns:a16="http://schemas.microsoft.com/office/drawing/2014/main" id="{FD925A2B-7B6E-49B9-98D1-DA2AE97F2D44}"/>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19EC96B-A7F3-4831-9C15-22D42802C525}"/>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19B2649B-3A43-486D-9384-FCA4EF4CFD15}"/>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업무 결과</a:t>
            </a:r>
          </a:p>
        </p:txBody>
      </p:sp>
      <p:sp>
        <p:nvSpPr>
          <p:cNvPr id="19" name="">
            <a:extLst xmlns:a="http://schemas.openxmlformats.org/drawingml/2006/main">
              <a:ext uri="{FF2B5EF4-FFF2-40B4-BE49-F238E27FC236}">
                <a16:creationId xmlns:a16="http://schemas.microsoft.com/office/drawing/2014/main" id="{A249E2A2-729B-4139-8C57-C6375997D1B2}"/>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1CC08E8-78FA-443D-A755-3B6D1CCADA4E}"/>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F0EB2512-7CCF-4AD0-8207-E03F51284F22}"/>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업무 결과</a:t>
            </a:r>
          </a:p>
        </p:txBody>
      </p:sp>
      <p:sp>
        <p:nvSpPr>
          <p:cNvPr id="22" name="">
            <a:extLst xmlns:a="http://schemas.openxmlformats.org/drawingml/2006/main">
              <a:ext uri="{FF2B5EF4-FFF2-40B4-BE49-F238E27FC236}">
                <a16:creationId xmlns:a16="http://schemas.microsoft.com/office/drawing/2014/main" id="{D188AA2F-BB4C-4762-B3F6-06EA655C7562}"/>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940DE5A-B8E0-48D3-9D46-45D8B4144667}"/>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F249592D-71F4-4E15-89C5-699C7CC92EC1}"/>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활용·평가 기록</a:t>
            </a:r>
          </a:p>
        </p:txBody>
      </p:sp>
      <p:sp>
        <p:nvSpPr>
          <p:cNvPr id="25" name="">
            <a:extLst xmlns:a="http://schemas.openxmlformats.org/drawingml/2006/main">
              <a:ext uri="{FF2B5EF4-FFF2-40B4-BE49-F238E27FC236}">
                <a16:creationId xmlns:a16="http://schemas.microsoft.com/office/drawing/2014/main" id="{4879334A-60E7-45FA-BCDD-CB4486B95C42}"/>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012BEECF-B297-4732-91F4-CA04DECCAE92}"/>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승인되지 않은 지식·민감 입력·성과 자기보고 편향</a:t>
            </a:r>
          </a:p>
        </p:txBody>
      </p:sp>
      <p:sp>
        <p:nvSpPr>
          <p:cNvPr id="27" name="">
            <a:extLst xmlns:a="http://schemas.openxmlformats.org/drawingml/2006/main">
              <a:ext uri="{FF2B5EF4-FFF2-40B4-BE49-F238E27FC236}">
                <a16:creationId xmlns:a16="http://schemas.microsoft.com/office/drawing/2014/main" id="{27F27395-0407-47EA-A28E-2A8F23ED1982}"/>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C421683B-1250-4DB0-91ED-46D5CEBD77CD}"/>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부서별 권한·완료율·재작업 평가</a:t>
            </a:r>
          </a:p>
        </p:txBody>
      </p:sp>
      <p:sp>
        <p:nvSpPr>
          <p:cNvPr id="29" name="">
            <a:extLst xmlns:a="http://schemas.openxmlformats.org/drawingml/2006/main">
              <a:ext uri="{FF2B5EF4-FFF2-40B4-BE49-F238E27FC236}">
                <a16:creationId xmlns:a16="http://schemas.microsoft.com/office/drawing/2014/main" id="{5811A09D-F957-47B9-8BA1-BB72CDA5F683}"/>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E93EF7ED-C60C-43E5-B660-53F6D99A76E7}"/>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전담 조직의 교육·활용 발굴·성과 검토</a:t>
            </a:r>
          </a:p>
        </p:txBody>
      </p:sp>
      <p:sp>
        <p:nvSpPr>
          <p:cNvPr id="31" name="">
            <a:extLst xmlns:a="http://schemas.openxmlformats.org/drawingml/2006/main">
              <a:ext uri="{FF2B5EF4-FFF2-40B4-BE49-F238E27FC236}">
                <a16:creationId xmlns:a16="http://schemas.microsoft.com/office/drawing/2014/main" id="{78F67A29-6E66-4FE8-A0FF-E0588C4CD3EE}"/>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ACA12C15-7FC4-41E5-96F6-D21FFCC1C397}"/>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업무별 수용률·오류·완료시간·입력 통제 결과</a:t>
            </a:r>
          </a:p>
        </p:txBody>
      </p:sp>
    </p:spTree>
    <p:extLst>
      <p:ext uri="{BB962C8B-B14F-4D97-AF65-F5344CB8AC3E}">
        <p14:creationId xmlns:p14="http://schemas.microsoft.com/office/powerpoint/2010/main" val="1494136600"/>
      </p:ext>
    </p:extLst>
  </p:cSld>
</p:sld>
</file>

<file path=ppt/slides/slide138.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8656903-90D9-4C69-A227-5C0EB697C5AD}"/>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PF-A16 / CCK 비교·재현 시험 설계</a:t>
            </a:r>
          </a:p>
        </p:txBody>
      </p:sp>
      <p:sp>
        <p:nvSpPr>
          <p:cNvPr id="2" name="">
            <a:extLst xmlns:a="http://schemas.openxmlformats.org/drawingml/2006/main">
              <a:ext uri="{FF2B5EF4-FFF2-40B4-BE49-F238E27FC236}">
                <a16:creationId xmlns:a16="http://schemas.microsoft.com/office/drawing/2014/main" id="{C8222794-5633-4185-9AB7-5D8E5BCC84C7}"/>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BBVA 기업 AI 도입 · 벤치마킹</a:t>
            </a:r>
          </a:p>
        </p:txBody>
      </p:sp>
      <p:sp>
        <p:nvSpPr>
          <p:cNvPr id="3" name="">
            <a:extLst xmlns:a="http://schemas.openxmlformats.org/drawingml/2006/main">
              <a:ext uri="{FF2B5EF4-FFF2-40B4-BE49-F238E27FC236}">
                <a16:creationId xmlns:a16="http://schemas.microsoft.com/office/drawing/2014/main" id="{868D7493-7D42-49EE-B46A-B29106BBF3BF}"/>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D3197A3-88B7-4232-82D9-C4D0E4A0A12D}"/>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A0DCF4E9-5DED-485E-B127-7230AAC85F3E}"/>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138</a:t>
            </a:r>
          </a:p>
        </p:txBody>
      </p:sp>
      <p:sp>
        <p:nvSpPr>
          <p:cNvPr id="6" name="">
            <a:extLst xmlns:a="http://schemas.openxmlformats.org/drawingml/2006/main">
              <a:ext uri="{FF2B5EF4-FFF2-40B4-BE49-F238E27FC236}">
                <a16:creationId xmlns:a16="http://schemas.microsoft.com/office/drawing/2014/main" id="{12E9AE4C-3759-4B32-8341-FD47CB446798}"/>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6A1DD1FB-2A10-4311-B76E-BC95ED35EEEC}"/>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현업 업무 GPT의 구성</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교육·활용 지원과 단계적 확산</a:t>
            </a:r>
          </a:p>
        </p:txBody>
      </p:sp>
      <p:sp>
        <p:nvSpPr>
          <p:cNvPr id="8" name="">
            <a:extLst xmlns:a="http://schemas.openxmlformats.org/drawingml/2006/main">
              <a:ext uri="{FF2B5EF4-FFF2-40B4-BE49-F238E27FC236}">
                <a16:creationId xmlns:a16="http://schemas.microsoft.com/office/drawing/2014/main" id="{74695F7A-2C5E-45CF-A84F-8C85CD10A359}"/>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D509C283-CEFA-4EA2-A0A1-3CEE4E7F6B2E}"/>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활용자 수와 업무 완결성의 차이</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규제·민감자료 통제의 확장 부담</a:t>
            </a:r>
          </a:p>
        </p:txBody>
      </p:sp>
      <p:sp>
        <p:nvSpPr>
          <p:cNvPr id="10" name="">
            <a:extLst xmlns:a="http://schemas.openxmlformats.org/drawingml/2006/main">
              <a:ext uri="{FF2B5EF4-FFF2-40B4-BE49-F238E27FC236}">
                <a16:creationId xmlns:a16="http://schemas.microsoft.com/office/drawing/2014/main" id="{80F6100F-7313-4933-8FEB-500FF50373FC}"/>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AB03B86C-80A4-45E3-A2CD-C115F968A750}"/>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부서별 권한·완료율·재작업 평가</a:t>
            </a:r>
          </a:p>
        </p:txBody>
      </p:sp>
      <p:sp>
        <p:nvSpPr>
          <p:cNvPr id="12" name="">
            <a:extLst xmlns:a="http://schemas.openxmlformats.org/drawingml/2006/main">
              <a:ext uri="{FF2B5EF4-FFF2-40B4-BE49-F238E27FC236}">
                <a16:creationId xmlns:a16="http://schemas.microsoft.com/office/drawing/2014/main" id="{EE43C17F-FF97-4098-8654-A3A7941CAAB6}"/>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342C672F-ED9F-4AAA-BABE-ECCD61F08FD0}"/>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현업 GPT를 구성하고 담당 조직이 교육·활용 지원</a:t>
            </a:r>
          </a:p>
        </p:txBody>
      </p:sp>
      <p:sp>
        <p:nvSpPr>
          <p:cNvPr id="14" name="">
            <a:extLst xmlns:a="http://schemas.openxmlformats.org/drawingml/2006/main">
              <a:ext uri="{FF2B5EF4-FFF2-40B4-BE49-F238E27FC236}">
                <a16:creationId xmlns:a16="http://schemas.microsoft.com/office/drawing/2014/main" id="{5FFF80C1-0727-4BD0-879C-FB4EE5F06947}"/>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C7CB9B49-1B8B-41F1-8E62-7A7B5AEEA357}"/>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승인되지 않은 지식·민감 입력·성과 자기보고 편향</a:t>
            </a:r>
          </a:p>
        </p:txBody>
      </p:sp>
      <p:sp>
        <p:nvSpPr>
          <p:cNvPr id="16" name="">
            <a:extLst xmlns:a="http://schemas.openxmlformats.org/drawingml/2006/main">
              <a:ext uri="{FF2B5EF4-FFF2-40B4-BE49-F238E27FC236}">
                <a16:creationId xmlns:a16="http://schemas.microsoft.com/office/drawing/2014/main" id="{4DABC8D2-77CB-4974-847B-53AF174F4AC5}"/>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853D43FB-12EA-477F-A485-5DFA3CDE6E98}"/>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업무별 수용률·오류·완료시간·입력 통제 결과</a:t>
            </a:r>
          </a:p>
        </p:txBody>
      </p:sp>
    </p:spTree>
    <p:extLst>
      <p:ext uri="{BB962C8B-B14F-4D97-AF65-F5344CB8AC3E}">
        <p14:creationId xmlns:p14="http://schemas.microsoft.com/office/powerpoint/2010/main" val="1640933972"/>
      </p:ext>
    </p:extLst>
  </p:cSld>
</p:sld>
</file>

<file path=ppt/slides/slide139.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4CBB14D-8A3E-479E-8CD9-61151DF267D0}"/>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PF08 / 업무 도구 운영 · 기업 발표 / 해외</a:t>
            </a:r>
          </a:p>
        </p:txBody>
      </p:sp>
      <p:sp>
        <p:nvSpPr>
          <p:cNvPr id="2" name="">
            <a:extLst xmlns:a="http://schemas.openxmlformats.org/drawingml/2006/main">
              <a:ext uri="{FF2B5EF4-FFF2-40B4-BE49-F238E27FC236}">
                <a16:creationId xmlns:a16="http://schemas.microsoft.com/office/drawing/2014/main" id="{667DC684-B1F2-45DC-90BF-A5637CD79931}"/>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Morgan Stanley Assistant·Debrief</a:t>
            </a:r>
          </a:p>
        </p:txBody>
      </p:sp>
      <p:sp>
        <p:nvSpPr>
          <p:cNvPr id="3" name="">
            <a:extLst xmlns:a="http://schemas.openxmlformats.org/drawingml/2006/main">
              <a:ext uri="{FF2B5EF4-FFF2-40B4-BE49-F238E27FC236}">
                <a16:creationId xmlns:a16="http://schemas.microsoft.com/office/drawing/2014/main" id="{2F320A72-F7C9-4681-BDDE-85A72E95A01C}"/>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72EFFB6-61D4-47C3-8D1E-002340D1CDA2}"/>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30DB48DE-C43D-4B9B-9C4F-458E77E33048}"/>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139</a:t>
            </a:r>
          </a:p>
        </p:txBody>
      </p:sp>
      <p:sp>
        <p:nvSpPr>
          <p:cNvPr id="6" name="">
            <a:extLst xmlns:a="http://schemas.openxmlformats.org/drawingml/2006/main">
              <a:ext uri="{FF2B5EF4-FFF2-40B4-BE49-F238E27FC236}">
                <a16:creationId xmlns:a16="http://schemas.microsoft.com/office/drawing/2014/main" id="{E48A090F-F964-48A0-A101-76427F2DFAB5}"/>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AB292C16-4315-4B47-A5A7-8BAFAB8BA8E0}"/>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Morgan Stanley의 지식 검색 Assistant와 회의 후속</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업무 Debrief 사례. 자문가가 승인된 지식을 찾는 업무</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와 고객 회의에서 요약·할일을 정리하는 업무를 서로 다</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른 입력 경로로 지원.</a:t>
            </a:r>
          </a:p>
        </p:txBody>
      </p:sp>
      <p:sp>
        <p:nvSpPr>
          <p:cNvPr id="8" name="">
            <a:extLst xmlns:a="http://schemas.openxmlformats.org/drawingml/2006/main">
              <a:ext uri="{FF2B5EF4-FFF2-40B4-BE49-F238E27FC236}">
                <a16:creationId xmlns:a16="http://schemas.microsoft.com/office/drawing/2014/main" id="{635F048F-85C8-4800-A67E-B50AEBAA6A8C}"/>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B97422DB-D8EE-4336-9B39-3A992FDD5431}"/>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지식 검색은 승인 문서의 검색·근거 응답으로, 회의 지원</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은 동의받은 기록의 요약·실행 항목 초안·자문가 검토·C</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RM 또는 후속 메시지 연결로 재구성. 검색 근거와 고객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대화 기록의 접근·보관 정책을 분리하는 설계.</a:t>
            </a:r>
          </a:p>
        </p:txBody>
      </p:sp>
      <p:sp>
        <p:nvSpPr>
          <p:cNvPr id="10" name="">
            <a:extLst xmlns:a="http://schemas.openxmlformats.org/drawingml/2006/main">
              <a:ext uri="{FF2B5EF4-FFF2-40B4-BE49-F238E27FC236}">
                <a16:creationId xmlns:a16="http://schemas.microsoft.com/office/drawing/2014/main" id="{AC0C3A33-92F8-4890-83ED-735B8D69D8CB}"/>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C42E042D-FE46-4A29-999A-83D7066BE232}"/>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CCK의 상담·민원 후속 처리에서는 생성된 요약과 실제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등록·발송을 구분할 필요. 화자·수신자·기한·해야 할 일의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누락과 중복을 시험하고 담당자 확인 이후 업무 시스템에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반영된 결과까지 추적.</a:t>
            </a:r>
          </a:p>
        </p:txBody>
      </p:sp>
      <p:sp>
        <p:nvSpPr>
          <p:cNvPr id="12" name="">
            <a:extLst xmlns:a="http://schemas.openxmlformats.org/drawingml/2006/main">
              <a:ext uri="{FF2B5EF4-FFF2-40B4-BE49-F238E27FC236}">
                <a16:creationId xmlns:a16="http://schemas.microsoft.com/office/drawing/2014/main" id="{FEC4EECF-334E-4457-8897-B2048FA70195}"/>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C856FD0A-7318-48F4-914B-64D8DC6496FA}"/>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전결·발송 확인 / 원문 근거 / 진행상태·인사이동 인계</a:t>
            </a:r>
          </a:p>
        </p:txBody>
      </p:sp>
      <p:sp>
        <p:nvSpPr>
          <p:cNvPr id="14" name="">
            <a:extLst xmlns:a="http://schemas.openxmlformats.org/drawingml/2006/main">
              <a:ext uri="{FF2B5EF4-FFF2-40B4-BE49-F238E27FC236}">
                <a16:creationId xmlns:a16="http://schemas.microsoft.com/office/drawing/2014/main" id="{788FAEC7-E4E2-4704-8573-216E975EE919}"/>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05E2290E-C405-466C-9F1D-371D15ED9DE4}"/>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발송 전 확인·판본 변경 재승인·담당 변경 후 인계 대사</a:t>
            </a:r>
          </a:p>
        </p:txBody>
      </p:sp>
      <p:sp>
        <p:nvSpPr>
          <p:cNvPr id="16" name="">
            <a:extLst xmlns:a="http://schemas.openxmlformats.org/drawingml/2006/main">
              <a:ext uri="{FF2B5EF4-FFF2-40B4-BE49-F238E27FC236}">
                <a16:creationId xmlns:a16="http://schemas.microsoft.com/office/drawing/2014/main" id="{2DDDCA36-F2EB-4D68-8110-EFDAAEE08BF8}"/>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A72ACC69-BEF2-4E57-ADCD-4EEA386D15F0}"/>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TS 업무 완료시간·오류·추가 구축 공수의 비교 평가</a:t>
            </a:r>
          </a:p>
        </p:txBody>
      </p:sp>
      <p:sp>
        <p:nvSpPr>
          <p:cNvPr id="18" name="">
            <a:extLst xmlns:a="http://schemas.openxmlformats.org/drawingml/2006/main">
              <a:ext uri="{FF2B5EF4-FFF2-40B4-BE49-F238E27FC236}">
                <a16:creationId xmlns:a16="http://schemas.microsoft.com/office/drawing/2014/main" id="{B2D2C88D-7284-4833-9EBC-56F1EB399D40}"/>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Assistant 채택률과 Debrief 시간절감의 구분 · 사용자 동의·편집 판단 포함</a:t>
            </a:r>
          </a:p>
        </p:txBody>
      </p:sp>
    </p:spTree>
    <p:extLst>
      <p:ext uri="{BB962C8B-B14F-4D97-AF65-F5344CB8AC3E}">
        <p14:creationId xmlns:p14="http://schemas.microsoft.com/office/powerpoint/2010/main" val="404842049"/>
      </p:ext>
    </p:extLst>
  </p:cSld>
</p:sld>
</file>

<file path=ppt/slides/slide140.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2B56F17A-D6BD-4A7C-9AE4-E3F1985132B8}"/>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DB861FF5-1405-456D-BF5B-221F1270085B}"/>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C0C7C8E4-D2AD-43BC-9087-127BD1A3007B}"/>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DC282FA7-CEAC-4949-B783-84C67D7450B9}"/>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24D345D8-D034-4C7E-A238-19F28A6AF8E1}"/>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C98CC4F7-B9AA-40AE-9976-6E853FDC68D6}"/>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CC6A81FF-1723-47EF-92A9-13AF8C172A0A}"/>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848819D6-DA54-4AE3-9899-E170D0578061}"/>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FEF541FA-3E3A-4ACF-8644-6A11FC3CC1EE}"/>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51C5DDEC-4A28-4811-A5E6-F01FBE00F2A2}"/>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PF08 / CCK 세부 재구성 · 논리 서비스 설계</a:t>
            </a:r>
          </a:p>
        </p:txBody>
      </p:sp>
      <p:sp>
        <p:nvSpPr>
          <p:cNvPr id="2" name="">
            <a:extLst xmlns:a="http://schemas.openxmlformats.org/drawingml/2006/main">
              <a:ext uri="{FF2B5EF4-FFF2-40B4-BE49-F238E27FC236}">
                <a16:creationId xmlns:a16="http://schemas.microsoft.com/office/drawing/2014/main" id="{02687E1D-F95C-4B58-98D0-9586BCBFF5BE}"/>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Morgan Stanley Assistant·Debrief · 세부 서비스 구조</a:t>
            </a:r>
          </a:p>
        </p:txBody>
      </p:sp>
      <p:sp>
        <p:nvSpPr>
          <p:cNvPr id="3" name="">
            <a:extLst xmlns:a="http://schemas.openxmlformats.org/drawingml/2006/main">
              <a:ext uri="{FF2B5EF4-FFF2-40B4-BE49-F238E27FC236}">
                <a16:creationId xmlns:a16="http://schemas.microsoft.com/office/drawing/2014/main" id="{035E2C33-529D-4A3B-A640-B4914100057A}"/>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8054D76-8953-4AEE-91E1-59D5349D7D6C}"/>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9E901A32-BC84-4D33-82DA-5772E7DD106C}"/>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140</a:t>
            </a:r>
          </a:p>
        </p:txBody>
      </p:sp>
      <p:sp>
        <p:nvSpPr>
          <p:cNvPr id="6" name="">
            <a:extLst xmlns:a="http://schemas.openxmlformats.org/drawingml/2006/main">
              <a:ext uri="{FF2B5EF4-FFF2-40B4-BE49-F238E27FC236}">
                <a16:creationId xmlns:a16="http://schemas.microsoft.com/office/drawing/2014/main" id="{44481E46-9612-42D6-8C23-282A97EB354C}"/>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운영기관·공급사·감사 자료의 업무 설명</a:t>
            </a:r>
          </a:p>
        </p:txBody>
      </p:sp>
      <p:sp>
        <p:nvSpPr>
          <p:cNvPr id="7" name="">
            <a:extLst xmlns:a="http://schemas.openxmlformats.org/drawingml/2006/main">
              <a:ext uri="{FF2B5EF4-FFF2-40B4-BE49-F238E27FC236}">
                <a16:creationId xmlns:a16="http://schemas.microsoft.com/office/drawing/2014/main" id="{666294AC-2415-4D0E-976A-22F42F57D1AC}"/>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4F33F6ED-EA5B-4F60-9F95-49428FFAB6C6}"/>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5E4419EB-4CAA-4418-9E4A-B6122E713154}"/>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질문·회의 접점</a:t>
            </a:r>
          </a:p>
        </p:txBody>
      </p:sp>
      <p:sp>
        <p:nvSpPr>
          <p:cNvPr id="10" name="">
            <a:extLst xmlns:a="http://schemas.openxmlformats.org/drawingml/2006/main">
              <a:ext uri="{FF2B5EF4-FFF2-40B4-BE49-F238E27FC236}">
                <a16:creationId xmlns:a16="http://schemas.microsoft.com/office/drawing/2014/main" id="{62D9337A-0CD6-4F7E-A962-ACB8C7F5B943}"/>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D1E102A9-E1B3-40CA-AE7D-6CEDC7CB3333}"/>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E77CB9B7-A44E-4E24-8C50-302093F20D07}"/>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동의·고객 문맥</a:t>
            </a:r>
          </a:p>
        </p:txBody>
      </p:sp>
      <p:sp>
        <p:nvSpPr>
          <p:cNvPr id="13" name="">
            <a:extLst xmlns:a="http://schemas.openxmlformats.org/drawingml/2006/main">
              <a:ext uri="{FF2B5EF4-FFF2-40B4-BE49-F238E27FC236}">
                <a16:creationId xmlns:a16="http://schemas.microsoft.com/office/drawing/2014/main" id="{B328092D-AFCA-4369-8074-3DB8C771D6E5}"/>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F5C31729-8DEF-4DEA-BCA8-BBE5DA74D31E}"/>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8194CEC5-8DB8-4673-8458-5A36DDCAA42A}"/>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승인 지식 조회</a:t>
            </a:r>
          </a:p>
        </p:txBody>
      </p:sp>
      <p:sp>
        <p:nvSpPr>
          <p:cNvPr id="16" name="">
            <a:extLst xmlns:a="http://schemas.openxmlformats.org/drawingml/2006/main">
              <a:ext uri="{FF2B5EF4-FFF2-40B4-BE49-F238E27FC236}">
                <a16:creationId xmlns:a16="http://schemas.microsoft.com/office/drawing/2014/main" id="{983BA58C-9081-4526-8F74-D9FB3717C2B5}"/>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6474B6C7-1B82-43D6-BF42-383121A2E2A9}"/>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3056E1E6-75FF-4E70-97FF-188959EE860C}"/>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요약·할일 생성</a:t>
            </a:r>
          </a:p>
        </p:txBody>
      </p:sp>
      <p:sp>
        <p:nvSpPr>
          <p:cNvPr id="19" name="">
            <a:extLst xmlns:a="http://schemas.openxmlformats.org/drawingml/2006/main">
              <a:ext uri="{FF2B5EF4-FFF2-40B4-BE49-F238E27FC236}">
                <a16:creationId xmlns:a16="http://schemas.microsoft.com/office/drawing/2014/main" id="{C56502B5-8DB9-4988-8A88-E30D0430338A}"/>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1C51EAAF-E442-41C8-A522-CD5FC3DA65C8}"/>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1CC71D71-4BBE-4907-A728-CBE1D085F0AC}"/>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사실·수신자 검사</a:t>
            </a:r>
          </a:p>
        </p:txBody>
      </p:sp>
      <p:sp>
        <p:nvSpPr>
          <p:cNvPr id="22" name="">
            <a:extLst xmlns:a="http://schemas.openxmlformats.org/drawingml/2006/main">
              <a:ext uri="{FF2B5EF4-FFF2-40B4-BE49-F238E27FC236}">
                <a16:creationId xmlns:a16="http://schemas.microsoft.com/office/drawing/2014/main" id="{3AE5E237-847C-43C4-8B1D-B2D40D553B95}"/>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58C4DA2E-88E9-4956-AF95-B77E29F27049}"/>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4184234C-7943-4D64-9C64-1781CAF14DF7}"/>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자문가 편집·확인</a:t>
            </a:r>
          </a:p>
        </p:txBody>
      </p:sp>
      <p:sp>
        <p:nvSpPr>
          <p:cNvPr id="25" name="">
            <a:extLst xmlns:a="http://schemas.openxmlformats.org/drawingml/2006/main">
              <a:ext uri="{FF2B5EF4-FFF2-40B4-BE49-F238E27FC236}">
                <a16:creationId xmlns:a16="http://schemas.microsoft.com/office/drawing/2014/main" id="{48E32B8C-62A5-45F5-9278-E4B2F127482B}"/>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8E0C0B32-D84E-4F17-9F7D-EF339862B8B7}"/>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A1A573B4-637F-4C91-A43A-D07B07805150}"/>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CRM·이메일 반영</a:t>
            </a:r>
          </a:p>
        </p:txBody>
      </p:sp>
      <p:sp>
        <p:nvSpPr>
          <p:cNvPr id="28" name="">
            <a:extLst xmlns:a="http://schemas.openxmlformats.org/drawingml/2006/main">
              <a:ext uri="{FF2B5EF4-FFF2-40B4-BE49-F238E27FC236}">
                <a16:creationId xmlns:a16="http://schemas.microsoft.com/office/drawing/2014/main" id="{3F72FDDE-168F-47BE-9A94-0FE53D6AD648}"/>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144B97A8-8427-4964-B14B-6799ABC56488}"/>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DAEE201F-B608-4D05-8C96-E46CA9728236}"/>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후속조치 추적</a:t>
            </a:r>
          </a:p>
        </p:txBody>
      </p:sp>
      <p:sp>
        <p:nvSpPr>
          <p:cNvPr id="31" name="">
            <a:extLst xmlns:a="http://schemas.openxmlformats.org/drawingml/2006/main">
              <a:ext uri="{FF2B5EF4-FFF2-40B4-BE49-F238E27FC236}">
                <a16:creationId xmlns:a16="http://schemas.microsoft.com/office/drawing/2014/main" id="{DCA182FB-3974-4B1F-A6B0-AFDAA1AABC7A}"/>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2B14B564-9FF4-4531-AC1C-1CBE6AEFCCF2}"/>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74B886AC-EF29-4A90-B94F-7332ACC96A70}"/>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승인 지식·회의</a:t>
            </a:r>
          </a:p>
        </p:txBody>
      </p:sp>
      <p:sp>
        <p:nvSpPr>
          <p:cNvPr id="34" name="">
            <a:extLst xmlns:a="http://schemas.openxmlformats.org/drawingml/2006/main">
              <a:ext uri="{FF2B5EF4-FFF2-40B4-BE49-F238E27FC236}">
                <a16:creationId xmlns:a16="http://schemas.microsoft.com/office/drawing/2014/main" id="{004D89A7-0152-43A9-BC4C-6C2BFB38A84C}"/>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C580576B-3D4D-430A-A602-1F88122157B2}"/>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8A04805A-26E3-40C8-AD70-CE18074C0D67}"/>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참석자·발언 정합화</a:t>
            </a:r>
          </a:p>
        </p:txBody>
      </p:sp>
      <p:sp>
        <p:nvSpPr>
          <p:cNvPr id="37" name="">
            <a:extLst xmlns:a="http://schemas.openxmlformats.org/drawingml/2006/main">
              <a:ext uri="{FF2B5EF4-FFF2-40B4-BE49-F238E27FC236}">
                <a16:creationId xmlns:a16="http://schemas.microsoft.com/office/drawing/2014/main" id="{E775607D-1D58-4593-9A58-F3AC001F15F4}"/>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78310B13-B0BC-4FA6-933C-F64A380BA781}"/>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A893B850-2962-43F1-92E4-968DBB81FDE9}"/>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요약·확인 기록</a:t>
            </a:r>
          </a:p>
        </p:txBody>
      </p:sp>
      <p:sp>
        <p:nvSpPr>
          <p:cNvPr id="40" name="">
            <a:extLst xmlns:a="http://schemas.openxmlformats.org/drawingml/2006/main">
              <a:ext uri="{FF2B5EF4-FFF2-40B4-BE49-F238E27FC236}">
                <a16:creationId xmlns:a16="http://schemas.microsoft.com/office/drawing/2014/main" id="{B483D335-CA70-4E00-AD11-577CF4111B63}"/>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2F49C7E5-41AB-40CF-975F-C07B27A441DF}"/>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80CFA276-235F-48C0-9678-3836959B7C07}"/>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녹취·전송 동의</a:t>
            </a:r>
          </a:p>
        </p:txBody>
      </p:sp>
      <p:sp>
        <p:nvSpPr>
          <p:cNvPr id="52" name="">
            <a:extLst xmlns:a="http://schemas.openxmlformats.org/drawingml/2006/main">
              <a:ext uri="{FF2B5EF4-FFF2-40B4-BE49-F238E27FC236}">
                <a16:creationId xmlns:a16="http://schemas.microsoft.com/office/drawing/2014/main" id="{B26A69D0-E330-498A-B5BA-1FC6D95C6BD0}"/>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235995119"/>
      </p:ext>
    </p:extLst>
  </p:cSld>
</p:sld>
</file>

<file path=ppt/slides/slide141.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B872DF18-312E-42C7-B63A-F63839605E15}"/>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PF08 / 논리 인터페이스·복구 설계</a:t>
            </a:r>
          </a:p>
        </p:txBody>
      </p:sp>
      <p:sp>
        <p:nvSpPr>
          <p:cNvPr id="2" name="">
            <a:extLst xmlns:a="http://schemas.openxmlformats.org/drawingml/2006/main">
              <a:ext uri="{FF2B5EF4-FFF2-40B4-BE49-F238E27FC236}">
                <a16:creationId xmlns:a16="http://schemas.microsoft.com/office/drawing/2014/main" id="{B5DCD32E-A83D-42F0-88D0-6E9B8133C00A}"/>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Morgan Stanley Assistant·Debrief · 데이터와 예외 처리</a:t>
            </a:r>
          </a:p>
        </p:txBody>
      </p:sp>
      <p:sp>
        <p:nvSpPr>
          <p:cNvPr id="3" name="">
            <a:extLst xmlns:a="http://schemas.openxmlformats.org/drawingml/2006/main">
              <a:ext uri="{FF2B5EF4-FFF2-40B4-BE49-F238E27FC236}">
                <a16:creationId xmlns:a16="http://schemas.microsoft.com/office/drawing/2014/main" id="{76BE214F-3D38-4D0E-88A3-64A1C3BF9FF8}"/>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A3B36E0-72AC-4975-8C44-C587B8812288}"/>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41C51F18-62E3-4A8D-BBE2-12028FFED0E4}"/>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141</a:t>
            </a:r>
          </a:p>
        </p:txBody>
      </p:sp>
      <p:sp>
        <p:nvSpPr>
          <p:cNvPr id="6" name="">
            <a:extLst xmlns:a="http://schemas.openxmlformats.org/drawingml/2006/main">
              <a:ext uri="{FF2B5EF4-FFF2-40B4-BE49-F238E27FC236}">
                <a16:creationId xmlns:a16="http://schemas.microsoft.com/office/drawing/2014/main" id="{2E83DAC2-4AD5-4FFA-BFB1-BB791147A737}"/>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D2C2CB2A-9F64-48B0-8117-72357C588F22}"/>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45257051-CC90-4FDB-9744-A40C24C8A4ED}"/>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6C2A2840-36F8-4DA6-9BF1-22098362A9EF}"/>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지식 질의와 동의받은 회의 입력 분리</a:t>
            </a:r>
          </a:p>
        </p:txBody>
      </p:sp>
      <p:sp>
        <p:nvSpPr>
          <p:cNvPr id="10" name="">
            <a:extLst xmlns:a="http://schemas.openxmlformats.org/drawingml/2006/main">
              <a:ext uri="{FF2B5EF4-FFF2-40B4-BE49-F238E27FC236}">
                <a16:creationId xmlns:a16="http://schemas.microsoft.com/office/drawing/2014/main" id="{0E1F43A8-4B1D-4360-9884-182D660E5051}"/>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D0673E1-0C6B-45C0-8A07-00574CEFCFEC}"/>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6D081695-9833-477B-85E2-FFF04D2DA430}"/>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회의 내용</a:t>
            </a:r>
          </a:p>
        </p:txBody>
      </p:sp>
      <p:sp>
        <p:nvSpPr>
          <p:cNvPr id="13" name="">
            <a:extLst xmlns:a="http://schemas.openxmlformats.org/drawingml/2006/main">
              <a:ext uri="{FF2B5EF4-FFF2-40B4-BE49-F238E27FC236}">
                <a16:creationId xmlns:a16="http://schemas.microsoft.com/office/drawing/2014/main" id="{908B0BF5-D4D2-4D38-A312-E10C3D3C9071}"/>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E0A8904-8923-43F1-8F90-06BE31BFF8DD}"/>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119704F1-EBD2-4994-B344-1B1DA54A2935}"/>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요약·할일 초안</a:t>
            </a:r>
          </a:p>
        </p:txBody>
      </p:sp>
      <p:sp>
        <p:nvSpPr>
          <p:cNvPr id="16" name="">
            <a:extLst xmlns:a="http://schemas.openxmlformats.org/drawingml/2006/main">
              <a:ext uri="{FF2B5EF4-FFF2-40B4-BE49-F238E27FC236}">
                <a16:creationId xmlns:a16="http://schemas.microsoft.com/office/drawing/2014/main" id="{9F038ED1-2ECB-49B6-B6C6-67A17F0322A5}"/>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CA64370-B3A7-48A2-A515-2879B30813E8}"/>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44909FC8-5B7A-41A7-9A0A-41EA7C0C2C46}"/>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자문가 확인</a:t>
            </a:r>
          </a:p>
        </p:txBody>
      </p:sp>
      <p:sp>
        <p:nvSpPr>
          <p:cNvPr id="19" name="">
            <a:extLst xmlns:a="http://schemas.openxmlformats.org/drawingml/2006/main">
              <a:ext uri="{FF2B5EF4-FFF2-40B4-BE49-F238E27FC236}">
                <a16:creationId xmlns:a16="http://schemas.microsoft.com/office/drawing/2014/main" id="{A5BDBCE1-521B-4594-BBA9-62DDB461D841}"/>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D9C3B3B-826A-4DD1-B7C7-A26EABF1DC5A}"/>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082DF8BE-3972-4BB8-B7DB-61DA14B2BDA2}"/>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자문가 확인</a:t>
            </a:r>
          </a:p>
        </p:txBody>
      </p:sp>
      <p:sp>
        <p:nvSpPr>
          <p:cNvPr id="22" name="">
            <a:extLst xmlns:a="http://schemas.openxmlformats.org/drawingml/2006/main">
              <a:ext uri="{FF2B5EF4-FFF2-40B4-BE49-F238E27FC236}">
                <a16:creationId xmlns:a16="http://schemas.microsoft.com/office/drawing/2014/main" id="{704AE11F-027F-4161-AB8C-9819CC295978}"/>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DD63AD6-FFE6-4047-B5FD-BD583C477692}"/>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031214F3-9574-43C2-948D-15CF0BF27574}"/>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CRM·이메일 기록</a:t>
            </a:r>
          </a:p>
        </p:txBody>
      </p:sp>
      <p:sp>
        <p:nvSpPr>
          <p:cNvPr id="25" name="">
            <a:extLst xmlns:a="http://schemas.openxmlformats.org/drawingml/2006/main">
              <a:ext uri="{FF2B5EF4-FFF2-40B4-BE49-F238E27FC236}">
                <a16:creationId xmlns:a16="http://schemas.microsoft.com/office/drawing/2014/main" id="{C3DDECF2-B273-4D4B-90D2-494316F7FA02}"/>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51574EE6-2FCB-4CD0-BA95-03F9B8ED0326}"/>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잘못된 수신자·발언자 혼동·삭제 요청·미확인 할일</a:t>
            </a:r>
          </a:p>
        </p:txBody>
      </p:sp>
      <p:sp>
        <p:nvSpPr>
          <p:cNvPr id="27" name="">
            <a:extLst xmlns:a="http://schemas.openxmlformats.org/drawingml/2006/main">
              <a:ext uri="{FF2B5EF4-FFF2-40B4-BE49-F238E27FC236}">
                <a16:creationId xmlns:a16="http://schemas.microsoft.com/office/drawing/2014/main" id="{3882B010-D1D6-4619-9A06-28B39EFC0755}"/>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4A497BB9-9369-4005-98FC-C54989CE7FCC}"/>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녹취 동의·사실·수신자·실행 확인</a:t>
            </a:r>
          </a:p>
        </p:txBody>
      </p:sp>
      <p:sp>
        <p:nvSpPr>
          <p:cNvPr id="29" name="">
            <a:extLst xmlns:a="http://schemas.openxmlformats.org/drawingml/2006/main">
              <a:ext uri="{FF2B5EF4-FFF2-40B4-BE49-F238E27FC236}">
                <a16:creationId xmlns:a16="http://schemas.microsoft.com/office/drawing/2014/main" id="{F9DD7BA4-94BE-4D1D-B0C2-152480E4216F}"/>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AED5536A-9B7B-4323-B929-DBC4AE468800}"/>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요약 사실·할일·수신자·후속조치 완료 확인</a:t>
            </a:r>
          </a:p>
        </p:txBody>
      </p:sp>
      <p:sp>
        <p:nvSpPr>
          <p:cNvPr id="31" name="">
            <a:extLst xmlns:a="http://schemas.openxmlformats.org/drawingml/2006/main">
              <a:ext uri="{FF2B5EF4-FFF2-40B4-BE49-F238E27FC236}">
                <a16:creationId xmlns:a16="http://schemas.microsoft.com/office/drawing/2014/main" id="{8E342D3C-F1A0-4D8B-90E3-F7CAD5266818}"/>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FA5DEFDC-AA8A-4334-B87E-B2A0CF302FD3}"/>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동의·원 발화·수정·승인·CRM 반영 이력</a:t>
            </a:r>
          </a:p>
        </p:txBody>
      </p:sp>
    </p:spTree>
    <p:extLst>
      <p:ext uri="{BB962C8B-B14F-4D97-AF65-F5344CB8AC3E}">
        <p14:creationId xmlns:p14="http://schemas.microsoft.com/office/powerpoint/2010/main" val="588662890"/>
      </p:ext>
    </p:extLst>
  </p:cSld>
</p:sld>
</file>

<file path=ppt/slides/slide14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B204A69-915E-4392-AB18-09BC6FB6A5C2}"/>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PF08 / CCK 비교·재현 시험 설계</a:t>
            </a:r>
          </a:p>
        </p:txBody>
      </p:sp>
      <p:sp>
        <p:nvSpPr>
          <p:cNvPr id="2" name="">
            <a:extLst xmlns:a="http://schemas.openxmlformats.org/drawingml/2006/main">
              <a:ext uri="{FF2B5EF4-FFF2-40B4-BE49-F238E27FC236}">
                <a16:creationId xmlns:a16="http://schemas.microsoft.com/office/drawing/2014/main" id="{95616E47-3891-4AFE-9D36-980F8C1E2F79}"/>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Morgan Stanley Assistant·Debrief · 벤치마킹</a:t>
            </a:r>
          </a:p>
        </p:txBody>
      </p:sp>
      <p:sp>
        <p:nvSpPr>
          <p:cNvPr id="3" name="">
            <a:extLst xmlns:a="http://schemas.openxmlformats.org/drawingml/2006/main">
              <a:ext uri="{FF2B5EF4-FFF2-40B4-BE49-F238E27FC236}">
                <a16:creationId xmlns:a16="http://schemas.microsoft.com/office/drawing/2014/main" id="{6BE79AC6-ACC5-4053-AC41-10A7885AD654}"/>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17F6622-4F16-437C-AD66-61A78DD5589B}"/>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FF93B60D-D3A6-4B5C-809F-342440297768}"/>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142</a:t>
            </a:r>
          </a:p>
        </p:txBody>
      </p:sp>
      <p:sp>
        <p:nvSpPr>
          <p:cNvPr id="6" name="">
            <a:extLst xmlns:a="http://schemas.openxmlformats.org/drawingml/2006/main">
              <a:ext uri="{FF2B5EF4-FFF2-40B4-BE49-F238E27FC236}">
                <a16:creationId xmlns:a16="http://schemas.microsoft.com/office/drawing/2014/main" id="{C944481B-CAFD-4C5F-BB8C-1F1BD61B981A}"/>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48609BE4-2F09-4CC9-8D95-DC5F37B62BCA}"/>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회의 요약과 후속 업무의 결합</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동의와 자문가 편집·확인</a:t>
            </a:r>
          </a:p>
        </p:txBody>
      </p:sp>
      <p:sp>
        <p:nvSpPr>
          <p:cNvPr id="8" name="">
            <a:extLst xmlns:a="http://schemas.openxmlformats.org/drawingml/2006/main">
              <a:ext uri="{FF2B5EF4-FFF2-40B4-BE49-F238E27FC236}">
                <a16:creationId xmlns:a16="http://schemas.microsoft.com/office/drawing/2014/main" id="{358959FB-FE69-496E-B579-94631A398868}"/>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3F6DB309-1FC8-4CDC-94D9-86FA4D6ACA6C}"/>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대화의 잘못된 요약·할일 추출</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확인 전 CRM·이메일 반영</a:t>
            </a:r>
          </a:p>
        </p:txBody>
      </p:sp>
      <p:sp>
        <p:nvSpPr>
          <p:cNvPr id="10" name="">
            <a:extLst xmlns:a="http://schemas.openxmlformats.org/drawingml/2006/main">
              <a:ext uri="{FF2B5EF4-FFF2-40B4-BE49-F238E27FC236}">
                <a16:creationId xmlns:a16="http://schemas.microsoft.com/office/drawing/2014/main" id="{B6560E43-668C-4343-B611-BB207ED2D549}"/>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451F6A44-DD3A-418D-9B28-33C174734F9A}"/>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녹취 동의·사실·수신자·실행 확인</a:t>
            </a:r>
          </a:p>
        </p:txBody>
      </p:sp>
      <p:sp>
        <p:nvSpPr>
          <p:cNvPr id="12" name="">
            <a:extLst xmlns:a="http://schemas.openxmlformats.org/drawingml/2006/main">
              <a:ext uri="{FF2B5EF4-FFF2-40B4-BE49-F238E27FC236}">
                <a16:creationId xmlns:a16="http://schemas.microsoft.com/office/drawing/2014/main" id="{4EE73771-2213-420F-87BD-EE18C9D014BD}"/>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90E0D17D-7266-40B2-BDCF-8248749A02F1}"/>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동의받은 회의에서 요약·할일을 만든 뒤 CRM 반</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영</a:t>
            </a:r>
          </a:p>
        </p:txBody>
      </p:sp>
      <p:sp>
        <p:nvSpPr>
          <p:cNvPr id="14" name="">
            <a:extLst xmlns:a="http://schemas.openxmlformats.org/drawingml/2006/main">
              <a:ext uri="{FF2B5EF4-FFF2-40B4-BE49-F238E27FC236}">
                <a16:creationId xmlns:a16="http://schemas.microsoft.com/office/drawing/2014/main" id="{F9059E8C-3A9A-4ED8-AA84-9648E91DD4DE}"/>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8B6D4063-DFE0-4779-9193-305907404E29}"/>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잘못된 수신자·발언자 혼동·삭제 요청·미확인 할일</a:t>
            </a:r>
          </a:p>
        </p:txBody>
      </p:sp>
      <p:sp>
        <p:nvSpPr>
          <p:cNvPr id="16" name="">
            <a:extLst xmlns:a="http://schemas.openxmlformats.org/drawingml/2006/main">
              <a:ext uri="{FF2B5EF4-FFF2-40B4-BE49-F238E27FC236}">
                <a16:creationId xmlns:a16="http://schemas.microsoft.com/office/drawing/2014/main" id="{4805E912-ECCA-4FEA-BFCF-63526BFCFA4B}"/>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80621AF3-9B70-4CEE-9CDA-C87C17BF1DCE}"/>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동의·원 발화·수정·승인·CRM 반영 이력</a:t>
            </a:r>
          </a:p>
        </p:txBody>
      </p:sp>
    </p:spTree>
    <p:extLst>
      <p:ext uri="{BB962C8B-B14F-4D97-AF65-F5344CB8AC3E}">
        <p14:creationId xmlns:p14="http://schemas.microsoft.com/office/powerpoint/2010/main" val="49921631"/>
      </p:ext>
    </p:extLst>
  </p:cSld>
</p:sld>
</file>

<file path=ppt/slides/slide14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4E35B5F-181B-4B25-83D2-B75B3FAE1DD8}"/>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PF-A18 / 2024 출시, 2025 전사 확산·2025연차보고 / 해외</a:t>
            </a:r>
          </a:p>
        </p:txBody>
      </p:sp>
      <p:sp>
        <p:nvSpPr>
          <p:cNvPr id="2" name="">
            <a:extLst xmlns:a="http://schemas.openxmlformats.org/drawingml/2006/main">
              <a:ext uri="{FF2B5EF4-FFF2-40B4-BE49-F238E27FC236}">
                <a16:creationId xmlns:a16="http://schemas.microsoft.com/office/drawing/2014/main" id="{0F7AAF86-F320-4A33-A5E8-86911ED9279E}"/>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JPMorganChase LLM Suite</a:t>
            </a:r>
          </a:p>
        </p:txBody>
      </p:sp>
      <p:sp>
        <p:nvSpPr>
          <p:cNvPr id="3" name="">
            <a:extLst xmlns:a="http://schemas.openxmlformats.org/drawingml/2006/main">
              <a:ext uri="{FF2B5EF4-FFF2-40B4-BE49-F238E27FC236}">
                <a16:creationId xmlns:a16="http://schemas.microsoft.com/office/drawing/2014/main" id="{D5BCDE4E-99AF-45A9-88F1-C77095753381}"/>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760F808-C619-44FD-A19A-57705E742168}"/>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5784C317-29D4-4E26-B085-0B4D63BDE642}"/>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143</a:t>
            </a:r>
          </a:p>
        </p:txBody>
      </p:sp>
      <p:sp>
        <p:nvSpPr>
          <p:cNvPr id="6" name="">
            <a:extLst xmlns:a="http://schemas.openxmlformats.org/drawingml/2006/main">
              <a:ext uri="{FF2B5EF4-FFF2-40B4-BE49-F238E27FC236}">
                <a16:creationId xmlns:a16="http://schemas.microsoft.com/office/drawing/2014/main" id="{2B4A5426-C89A-4F37-966C-AF95825473BA}"/>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BB54BF6F-92F5-4EB7-8279-F5D76699465E}"/>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JPMorgan Chase의 공통 LLM Suite와 사업부 활용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확산 사례. 공통 도구와 전사 데이터 기반을 마련한 뒤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사업부의 업무별 적용을 확대하는 접근.</a:t>
            </a:r>
          </a:p>
        </p:txBody>
      </p:sp>
      <p:sp>
        <p:nvSpPr>
          <p:cNvPr id="8" name="">
            <a:extLst xmlns:a="http://schemas.openxmlformats.org/drawingml/2006/main">
              <a:ext uri="{FF2B5EF4-FFF2-40B4-BE49-F238E27FC236}">
                <a16:creationId xmlns:a16="http://schemas.microsoft.com/office/drawing/2014/main" id="{01E0F66E-C08A-401C-A519-807196FEDDE7}"/>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71F16D8B-0767-4B18-9778-FABD71E51E16}"/>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직원·사업부 문맥, 공통 AI 호출, 허용 자료 연결, 결과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검토, 운영 관측의 계층으로 재구성. 공개 사례에서 확인</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한 이용 범위와 실제 내부 배치·데이터 연계·권한 구현은</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분리해 해석하는 방식.</a:t>
            </a:r>
          </a:p>
        </p:txBody>
      </p:sp>
      <p:sp>
        <p:nvSpPr>
          <p:cNvPr id="10" name="">
            <a:extLst xmlns:a="http://schemas.openxmlformats.org/drawingml/2006/main">
              <a:ext uri="{FF2B5EF4-FFF2-40B4-BE49-F238E27FC236}">
                <a16:creationId xmlns:a16="http://schemas.microsoft.com/office/drawing/2014/main" id="{D8C7FC6A-F32D-4397-A6B4-E5410A871996}"/>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B14B2F53-D96A-4A3A-9434-839B164A67B4}"/>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TS 1차 구축에서는 공통 계층의 조직 매핑·권한·감사·지</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식 운영을 우선 인수하고 후속 부서 업무를 단계별로 추가</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하는 참고. 이용량 증가와 업무 완료 품질·비용·위험을 함</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께 관찰하는 확산 기준 필요.</a:t>
            </a:r>
          </a:p>
        </p:txBody>
      </p:sp>
      <p:sp>
        <p:nvSpPr>
          <p:cNvPr id="12" name="">
            <a:extLst xmlns:a="http://schemas.openxmlformats.org/drawingml/2006/main">
              <a:ext uri="{FF2B5EF4-FFF2-40B4-BE49-F238E27FC236}">
                <a16:creationId xmlns:a16="http://schemas.microsoft.com/office/drawing/2014/main" id="{CF6EEE44-FCB3-4510-98BA-2643348C04F6}"/>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EC64081A-C1EE-458C-AE42-FC776138305A}"/>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기관 설정·회귀 평가·두 번째 부서 적용</a:t>
            </a:r>
          </a:p>
        </p:txBody>
      </p:sp>
      <p:sp>
        <p:nvSpPr>
          <p:cNvPr id="14" name="">
            <a:extLst xmlns:a="http://schemas.openxmlformats.org/drawingml/2006/main">
              <a:ext uri="{FF2B5EF4-FFF2-40B4-BE49-F238E27FC236}">
                <a16:creationId xmlns:a16="http://schemas.microsoft.com/office/drawing/2014/main" id="{00889D1B-7E51-46DB-9922-84B799FA872E}"/>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2DD21E79-9FD7-46A4-A6A2-F611ACC6EF94}"/>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도입기간·유지비·교육 부담의 기준선·비교 평가</a:t>
            </a:r>
          </a:p>
        </p:txBody>
      </p:sp>
      <p:sp>
        <p:nvSpPr>
          <p:cNvPr id="16" name="">
            <a:extLst xmlns:a="http://schemas.openxmlformats.org/drawingml/2006/main">
              <a:ext uri="{FF2B5EF4-FFF2-40B4-BE49-F238E27FC236}">
                <a16:creationId xmlns:a16="http://schemas.microsoft.com/office/drawing/2014/main" id="{7A19A31F-1B7E-4733-A4BC-701D4F2AA042}"/>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A703F718-F0CD-4002-8487-F06C76749EE5}"/>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도입기간·유지비·교육 부담</a:t>
            </a:r>
          </a:p>
        </p:txBody>
      </p:sp>
      <p:sp>
        <p:nvSpPr>
          <p:cNvPr id="18" name="">
            <a:extLst xmlns:a="http://schemas.openxmlformats.org/drawingml/2006/main">
              <a:ext uri="{FF2B5EF4-FFF2-40B4-BE49-F238E27FC236}">
                <a16:creationId xmlns:a16="http://schemas.microsoft.com/office/drawing/2014/main" id="{C915404D-2239-49D3-9567-E5FD007793D3}"/>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접근 가능과 활성이용 분모 다름. 거래심사 효율은 별도 AI 사례이며 LLM Suite 성과로 귀속 금지</a:t>
            </a:r>
          </a:p>
        </p:txBody>
      </p:sp>
    </p:spTree>
    <p:extLst>
      <p:ext uri="{BB962C8B-B14F-4D97-AF65-F5344CB8AC3E}">
        <p14:creationId xmlns:p14="http://schemas.microsoft.com/office/powerpoint/2010/main" val="1032627256"/>
      </p:ext>
    </p:extLst>
  </p:cSld>
</p:sld>
</file>

<file path=ppt/slides/slide14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BECE369E-F258-4C3F-93EF-F19FE6C14B25}"/>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D185E297-DD46-4660-B15A-18803297B236}"/>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16EAF3E1-24A5-4256-83A8-6270A65DE55D}"/>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7FE2F1FC-DD2C-4DAE-B4DA-F014586AD23A}"/>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61EF8083-A932-444D-87A6-235BE5252CE4}"/>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279D90A7-E523-4283-B32A-D366CE680466}"/>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74728A5B-7713-48E7-96D8-18A4E9488EA1}"/>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D93608D2-A661-498C-A5CF-9ED730E24263}"/>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A287C1B3-3D95-4109-AFFF-C4867F06D82B}"/>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E1767053-D976-47B6-8BB9-3B048D205666}"/>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PF-A18 / CCK 세부 재구성 · 논리 서비스 설계</a:t>
            </a:r>
          </a:p>
        </p:txBody>
      </p:sp>
      <p:sp>
        <p:nvSpPr>
          <p:cNvPr id="2" name="">
            <a:extLst xmlns:a="http://schemas.openxmlformats.org/drawingml/2006/main">
              <a:ext uri="{FF2B5EF4-FFF2-40B4-BE49-F238E27FC236}">
                <a16:creationId xmlns:a16="http://schemas.microsoft.com/office/drawing/2014/main" id="{B11A0069-2873-49AA-AF9F-7887CE1733A2}"/>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JPMorganChase LLM Suite · 세부 서비스 구조</a:t>
            </a:r>
          </a:p>
        </p:txBody>
      </p:sp>
      <p:sp>
        <p:nvSpPr>
          <p:cNvPr id="3" name="">
            <a:extLst xmlns:a="http://schemas.openxmlformats.org/drawingml/2006/main">
              <a:ext uri="{FF2B5EF4-FFF2-40B4-BE49-F238E27FC236}">
                <a16:creationId xmlns:a16="http://schemas.microsoft.com/office/drawing/2014/main" id="{4A642039-5ABB-43E9-AC17-D6310D242D32}"/>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4CBF824-317D-4D77-95D8-06A5BA9E51A8}"/>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19709B7B-DF20-4592-B4F0-FA381AF75788}"/>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144</a:t>
            </a:r>
          </a:p>
        </p:txBody>
      </p:sp>
      <p:sp>
        <p:nvSpPr>
          <p:cNvPr id="6" name="">
            <a:extLst xmlns:a="http://schemas.openxmlformats.org/drawingml/2006/main">
              <a:ext uri="{FF2B5EF4-FFF2-40B4-BE49-F238E27FC236}">
                <a16:creationId xmlns:a16="http://schemas.microsoft.com/office/drawing/2014/main" id="{E1540C62-2769-4DB8-B3CD-18547EF9B87E}"/>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운영기관·공급사·감사 자료의 업무 설명</a:t>
            </a:r>
          </a:p>
        </p:txBody>
      </p:sp>
      <p:sp>
        <p:nvSpPr>
          <p:cNvPr id="7" name="">
            <a:extLst xmlns:a="http://schemas.openxmlformats.org/drawingml/2006/main">
              <a:ext uri="{FF2B5EF4-FFF2-40B4-BE49-F238E27FC236}">
                <a16:creationId xmlns:a16="http://schemas.microsoft.com/office/drawing/2014/main" id="{6B01DD6B-E3D9-45DB-9F10-0F299C8777D5}"/>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34B3E000-B707-43CA-9DD8-17AB97680C80}"/>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C538AC8A-09B7-4763-ACC3-AADABB007649}"/>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사업부 AI 접점</a:t>
            </a:r>
          </a:p>
        </p:txBody>
      </p:sp>
      <p:sp>
        <p:nvSpPr>
          <p:cNvPr id="10" name="">
            <a:extLst xmlns:a="http://schemas.openxmlformats.org/drawingml/2006/main">
              <a:ext uri="{FF2B5EF4-FFF2-40B4-BE49-F238E27FC236}">
                <a16:creationId xmlns:a16="http://schemas.microsoft.com/office/drawing/2014/main" id="{DE19DABA-FF79-4283-AD2F-B846ED7E17CD}"/>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D25B1E6D-CF70-4353-B2C5-3AD6468B7813}"/>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B049A1D6-F8E1-44E5-AD02-C77417227A26}"/>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직무·자료 권한</a:t>
            </a:r>
          </a:p>
        </p:txBody>
      </p:sp>
      <p:sp>
        <p:nvSpPr>
          <p:cNvPr id="13" name="">
            <a:extLst xmlns:a="http://schemas.openxmlformats.org/drawingml/2006/main">
              <a:ext uri="{FF2B5EF4-FFF2-40B4-BE49-F238E27FC236}">
                <a16:creationId xmlns:a16="http://schemas.microsoft.com/office/drawing/2014/main" id="{DD72E223-B0E5-4055-9EEB-0A728DBFECC2}"/>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A9B4AE37-5E01-452F-BA9A-AFC374E43C1D}"/>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E08C7AF0-4DC6-40C1-A815-7E47D175F091}"/>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업무 문맥 조회</a:t>
            </a:r>
          </a:p>
        </p:txBody>
      </p:sp>
      <p:sp>
        <p:nvSpPr>
          <p:cNvPr id="16" name="">
            <a:extLst xmlns:a="http://schemas.openxmlformats.org/drawingml/2006/main">
              <a:ext uri="{FF2B5EF4-FFF2-40B4-BE49-F238E27FC236}">
                <a16:creationId xmlns:a16="http://schemas.microsoft.com/office/drawing/2014/main" id="{13BF8113-7984-4811-9F87-E106A81650F5}"/>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DC2B5DF0-D3E5-4850-BE68-D7737113BEC5}"/>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81E361C9-4857-40E2-B8B0-AE3EFAB98C59}"/>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LLM Suite 지원</a:t>
            </a:r>
          </a:p>
        </p:txBody>
      </p:sp>
      <p:sp>
        <p:nvSpPr>
          <p:cNvPr id="19" name="">
            <a:extLst xmlns:a="http://schemas.openxmlformats.org/drawingml/2006/main">
              <a:ext uri="{FF2B5EF4-FFF2-40B4-BE49-F238E27FC236}">
                <a16:creationId xmlns:a16="http://schemas.microsoft.com/office/drawing/2014/main" id="{5F082718-BAF6-4E62-B89F-C9F1D8633B9C}"/>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5EF48304-18D5-4C12-B41B-B90C3E48E1C2}"/>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6ADF4CBA-626F-47C1-BB83-66968B69A2EA}"/>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근거·위험 검사</a:t>
            </a:r>
          </a:p>
        </p:txBody>
      </p:sp>
      <p:sp>
        <p:nvSpPr>
          <p:cNvPr id="22" name="">
            <a:extLst xmlns:a="http://schemas.openxmlformats.org/drawingml/2006/main">
              <a:ext uri="{FF2B5EF4-FFF2-40B4-BE49-F238E27FC236}">
                <a16:creationId xmlns:a16="http://schemas.microsoft.com/office/drawing/2014/main" id="{E7345EEA-7925-44E8-96FB-EBBC8C0CE839}"/>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BAF2B007-7C61-4940-B2FD-93EB80C9BA43}"/>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44A19570-A7A1-432E-A15C-7E147A8771BD}"/>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사업부 직원 검토</a:t>
            </a:r>
          </a:p>
        </p:txBody>
      </p:sp>
      <p:sp>
        <p:nvSpPr>
          <p:cNvPr id="25" name="">
            <a:extLst xmlns:a="http://schemas.openxmlformats.org/drawingml/2006/main">
              <a:ext uri="{FF2B5EF4-FFF2-40B4-BE49-F238E27FC236}">
                <a16:creationId xmlns:a16="http://schemas.microsoft.com/office/drawing/2014/main" id="{E04A41C0-0D70-4664-A1E0-A796FA33CCB4}"/>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15A0407C-16C8-48A9-93B5-076A006A20B0}"/>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FF09944F-B259-4595-AA76-E425DB233B43}"/>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사업별 업무 활용</a:t>
            </a:r>
          </a:p>
        </p:txBody>
      </p:sp>
      <p:sp>
        <p:nvSpPr>
          <p:cNvPr id="28" name="">
            <a:extLst xmlns:a="http://schemas.openxmlformats.org/drawingml/2006/main">
              <a:ext uri="{FF2B5EF4-FFF2-40B4-BE49-F238E27FC236}">
                <a16:creationId xmlns:a16="http://schemas.microsoft.com/office/drawing/2014/main" id="{93A89BF5-B694-42DF-8E36-A9C9BE4D66B2}"/>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08C2A8CF-AF22-4986-A78D-5706FAC95451}"/>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796BADF9-9064-4AF6-9F32-38AD7A8C394D}"/>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비용·정답 평가</a:t>
            </a:r>
          </a:p>
        </p:txBody>
      </p:sp>
      <p:sp>
        <p:nvSpPr>
          <p:cNvPr id="31" name="">
            <a:extLst xmlns:a="http://schemas.openxmlformats.org/drawingml/2006/main">
              <a:ext uri="{FF2B5EF4-FFF2-40B4-BE49-F238E27FC236}">
                <a16:creationId xmlns:a16="http://schemas.microsoft.com/office/drawing/2014/main" id="{7873ACF8-BD7F-47DC-9682-8C9361E1402B}"/>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D481A56F-949E-4062-B571-3D3ED10A7232}"/>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E6C02065-6C4F-4919-AD94-BAF176765826}"/>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전사·업무 자료</a:t>
            </a:r>
          </a:p>
        </p:txBody>
      </p:sp>
      <p:sp>
        <p:nvSpPr>
          <p:cNvPr id="34" name="">
            <a:extLst xmlns:a="http://schemas.openxmlformats.org/drawingml/2006/main">
              <a:ext uri="{FF2B5EF4-FFF2-40B4-BE49-F238E27FC236}">
                <a16:creationId xmlns:a16="http://schemas.microsoft.com/office/drawing/2014/main" id="{0EB985B9-03C4-4C47-A869-11636FC8EB02}"/>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0C8778F2-A8C6-427D-8B3A-8565A6FD7BDE}"/>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38354844-69F3-4F26-9891-B4C30E71C9D2}"/>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접근범위 정리</a:t>
            </a:r>
          </a:p>
        </p:txBody>
      </p:sp>
      <p:sp>
        <p:nvSpPr>
          <p:cNvPr id="37" name="">
            <a:extLst xmlns:a="http://schemas.openxmlformats.org/drawingml/2006/main">
              <a:ext uri="{FF2B5EF4-FFF2-40B4-BE49-F238E27FC236}">
                <a16:creationId xmlns:a16="http://schemas.microsoft.com/office/drawing/2014/main" id="{3D94A1D8-6BA0-4709-9C4D-8800FEE05F4D}"/>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CDDD4703-9E6C-4199-AE30-BE6425209770}"/>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DC90BF9B-77F5-4AB9-AC90-A8C7A8056F01}"/>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문맥·평가 기록</a:t>
            </a:r>
          </a:p>
        </p:txBody>
      </p:sp>
      <p:sp>
        <p:nvSpPr>
          <p:cNvPr id="40" name="">
            <a:extLst xmlns:a="http://schemas.openxmlformats.org/drawingml/2006/main">
              <a:ext uri="{FF2B5EF4-FFF2-40B4-BE49-F238E27FC236}">
                <a16:creationId xmlns:a16="http://schemas.microsoft.com/office/drawing/2014/main" id="{B8CFD43B-D11E-410A-82F4-C44959665AE0}"/>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D495E350-4782-4A98-9214-C070A05DFEB8}"/>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2CBBBA3C-F4D0-4552-9ECF-DB5126E38DB6}"/>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사업부 실행 경계</a:t>
            </a:r>
          </a:p>
        </p:txBody>
      </p:sp>
      <p:sp>
        <p:nvSpPr>
          <p:cNvPr id="52" name="">
            <a:extLst xmlns:a="http://schemas.openxmlformats.org/drawingml/2006/main">
              <a:ext uri="{FF2B5EF4-FFF2-40B4-BE49-F238E27FC236}">
                <a16:creationId xmlns:a16="http://schemas.microsoft.com/office/drawing/2014/main" id="{E4D3632A-8C1E-4C97-92CF-18F876A75687}"/>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982658526"/>
      </p:ext>
    </p:extLst>
  </p:cSld>
</p:sld>
</file>

<file path=ppt/slides/slide14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0393C7E0-5501-4E73-9CDC-5BBD97FCE59E}"/>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PF-A18 / 논리 인터페이스·복구 설계</a:t>
            </a:r>
          </a:p>
        </p:txBody>
      </p:sp>
      <p:sp>
        <p:nvSpPr>
          <p:cNvPr id="2" name="">
            <a:extLst xmlns:a="http://schemas.openxmlformats.org/drawingml/2006/main">
              <a:ext uri="{FF2B5EF4-FFF2-40B4-BE49-F238E27FC236}">
                <a16:creationId xmlns:a16="http://schemas.microsoft.com/office/drawing/2014/main" id="{BFA504B4-D437-4C59-B8A8-860E60B1BB8D}"/>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JPMorganChase LLM Suite · 데이터와 예외 처리</a:t>
            </a:r>
          </a:p>
        </p:txBody>
      </p:sp>
      <p:sp>
        <p:nvSpPr>
          <p:cNvPr id="3" name="">
            <a:extLst xmlns:a="http://schemas.openxmlformats.org/drawingml/2006/main">
              <a:ext uri="{FF2B5EF4-FFF2-40B4-BE49-F238E27FC236}">
                <a16:creationId xmlns:a16="http://schemas.microsoft.com/office/drawing/2014/main" id="{A326CE97-2E55-45EE-9C97-D2478A1C68F1}"/>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673DF01-6543-4989-B5AB-996EB29F45E2}"/>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8D1DE7E0-583C-4BEC-A7AF-A0414A6A1783}"/>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145</a:t>
            </a:r>
          </a:p>
        </p:txBody>
      </p:sp>
      <p:sp>
        <p:nvSpPr>
          <p:cNvPr id="6" name="">
            <a:extLst xmlns:a="http://schemas.openxmlformats.org/drawingml/2006/main">
              <a:ext uri="{FF2B5EF4-FFF2-40B4-BE49-F238E27FC236}">
                <a16:creationId xmlns:a16="http://schemas.microsoft.com/office/drawing/2014/main" id="{1E212226-60BB-475B-85DC-B1AECDFBC8F9}"/>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BDCA2F8B-BB5A-49B8-9ECF-ED8C405500B2}"/>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982DA85C-1317-479D-B6C9-57C7ABA394BE}"/>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733AA6B4-1E27-46ED-A4F6-BF931109B3DF}"/>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사업부·직무·자료 접근조건 구성</a:t>
            </a:r>
          </a:p>
        </p:txBody>
      </p:sp>
      <p:sp>
        <p:nvSpPr>
          <p:cNvPr id="10" name="">
            <a:extLst xmlns:a="http://schemas.openxmlformats.org/drawingml/2006/main">
              <a:ext uri="{FF2B5EF4-FFF2-40B4-BE49-F238E27FC236}">
                <a16:creationId xmlns:a16="http://schemas.microsoft.com/office/drawing/2014/main" id="{E449B096-3E99-4E30-B99D-9C9D0C6F792B}"/>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A763698-5D35-459E-B802-AF1505A26909}"/>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160CA9E0-1E37-4668-A642-392ABCF9FBB3}"/>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업무 요청</a:t>
            </a:r>
          </a:p>
        </p:txBody>
      </p:sp>
      <p:sp>
        <p:nvSpPr>
          <p:cNvPr id="13" name="">
            <a:extLst xmlns:a="http://schemas.openxmlformats.org/drawingml/2006/main">
              <a:ext uri="{FF2B5EF4-FFF2-40B4-BE49-F238E27FC236}">
                <a16:creationId xmlns:a16="http://schemas.microsoft.com/office/drawing/2014/main" id="{19AF5C1C-1BCF-4E2D-9EBA-7153555E831E}"/>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5A032B0-F330-4587-99D6-FE896074DFB4}"/>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A33C78E9-761E-402B-AD49-54DC3D59E1EF}"/>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허용 문맥</a:t>
            </a:r>
          </a:p>
        </p:txBody>
      </p:sp>
      <p:sp>
        <p:nvSpPr>
          <p:cNvPr id="16" name="">
            <a:extLst xmlns:a="http://schemas.openxmlformats.org/drawingml/2006/main">
              <a:ext uri="{FF2B5EF4-FFF2-40B4-BE49-F238E27FC236}">
                <a16:creationId xmlns:a16="http://schemas.microsoft.com/office/drawing/2014/main" id="{F074D7BA-1B4C-4FCF-85F5-FF7BEF081D48}"/>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7BDB099-D764-46E6-AC38-963328FA2AB6}"/>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52B4428A-04B5-481A-8B59-C88034D5FBF2}"/>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AI 결과</a:t>
            </a:r>
          </a:p>
        </p:txBody>
      </p:sp>
      <p:sp>
        <p:nvSpPr>
          <p:cNvPr id="19" name="">
            <a:extLst xmlns:a="http://schemas.openxmlformats.org/drawingml/2006/main">
              <a:ext uri="{FF2B5EF4-FFF2-40B4-BE49-F238E27FC236}">
                <a16:creationId xmlns:a16="http://schemas.microsoft.com/office/drawing/2014/main" id="{166FD37C-5557-4283-8716-19C85BE8344E}"/>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E06715E-A5FA-4A05-8189-F145AA8AE3A6}"/>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75C1EF74-50C6-4398-89DC-BD6DEB4AA852}"/>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AI 결과</a:t>
            </a:r>
          </a:p>
        </p:txBody>
      </p:sp>
      <p:sp>
        <p:nvSpPr>
          <p:cNvPr id="22" name="">
            <a:extLst xmlns:a="http://schemas.openxmlformats.org/drawingml/2006/main">
              <a:ext uri="{FF2B5EF4-FFF2-40B4-BE49-F238E27FC236}">
                <a16:creationId xmlns:a16="http://schemas.microsoft.com/office/drawing/2014/main" id="{FD4CAA60-AAC6-4CB5-A6A4-0FEB91B52540}"/>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9C5D48E-3CC7-4F3F-A9C8-84E1CB5863CC}"/>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EAB15BA5-8CED-4422-91C9-C34175E8453E}"/>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이용·운영 기록</a:t>
            </a:r>
          </a:p>
        </p:txBody>
      </p:sp>
      <p:sp>
        <p:nvSpPr>
          <p:cNvPr id="25" name="">
            <a:extLst xmlns:a="http://schemas.openxmlformats.org/drawingml/2006/main">
              <a:ext uri="{FF2B5EF4-FFF2-40B4-BE49-F238E27FC236}">
                <a16:creationId xmlns:a16="http://schemas.microsoft.com/office/drawing/2014/main" id="{4AC4410E-D810-478D-BEC0-ED0532C00D2B}"/>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F60987BC-2D23-40EB-892A-6910DCCB4F9D}"/>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사업부 간 지식 노출·개정 지연·비용 급증</a:t>
            </a:r>
          </a:p>
        </p:txBody>
      </p:sp>
      <p:sp>
        <p:nvSpPr>
          <p:cNvPr id="27" name="">
            <a:extLst xmlns:a="http://schemas.openxmlformats.org/drawingml/2006/main">
              <a:ext uri="{FF2B5EF4-FFF2-40B4-BE49-F238E27FC236}">
                <a16:creationId xmlns:a16="http://schemas.microsoft.com/office/drawing/2014/main" id="{98AF8B5D-33FD-4C04-91F9-BE2C1362CF17}"/>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909F134D-8398-4971-9012-2C311551DF8F}"/>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사업부별 정답·권한·비용 평가</a:t>
            </a:r>
          </a:p>
        </p:txBody>
      </p:sp>
      <p:sp>
        <p:nvSpPr>
          <p:cNvPr id="29" name="">
            <a:extLst xmlns:a="http://schemas.openxmlformats.org/drawingml/2006/main">
              <a:ext uri="{FF2B5EF4-FFF2-40B4-BE49-F238E27FC236}">
                <a16:creationId xmlns:a16="http://schemas.microsoft.com/office/drawing/2014/main" id="{DB1247BD-33B9-4569-A3DE-4CDE83832A0D}"/>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904BFFBE-7191-4296-B3EC-5D1809D45E0F}"/>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사업부별 이용·정답·위험·운영 비용 평가</a:t>
            </a:r>
          </a:p>
        </p:txBody>
      </p:sp>
      <p:sp>
        <p:nvSpPr>
          <p:cNvPr id="31" name="">
            <a:extLst xmlns:a="http://schemas.openxmlformats.org/drawingml/2006/main">
              <a:ext uri="{FF2B5EF4-FFF2-40B4-BE49-F238E27FC236}">
                <a16:creationId xmlns:a16="http://schemas.microsoft.com/office/drawing/2014/main" id="{81CF507C-496D-4791-B380-21C94B021397}"/>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CF39BA63-4ADA-45DE-ABE2-23143BE5C685}"/>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부서별 권한·정답·응답비용·운영 로그</a:t>
            </a:r>
          </a:p>
        </p:txBody>
      </p:sp>
    </p:spTree>
    <p:extLst>
      <p:ext uri="{BB962C8B-B14F-4D97-AF65-F5344CB8AC3E}">
        <p14:creationId xmlns:p14="http://schemas.microsoft.com/office/powerpoint/2010/main" val="2036417040"/>
      </p:ext>
    </p:extLst>
  </p:cSld>
</p:sld>
</file>

<file path=ppt/slides/slide146.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12CEF39-514A-4FEC-BEF9-D80D3B0729EA}"/>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PF-A18 / CCK 비교·재현 시험 설계</a:t>
            </a:r>
          </a:p>
        </p:txBody>
      </p:sp>
      <p:sp>
        <p:nvSpPr>
          <p:cNvPr id="2" name="">
            <a:extLst xmlns:a="http://schemas.openxmlformats.org/drawingml/2006/main">
              <a:ext uri="{FF2B5EF4-FFF2-40B4-BE49-F238E27FC236}">
                <a16:creationId xmlns:a16="http://schemas.microsoft.com/office/drawing/2014/main" id="{FD9EB65A-2808-4D36-92E7-ECEFF6B54BAA}"/>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JPMorganChase LLM Suite · 벤치마킹</a:t>
            </a:r>
          </a:p>
        </p:txBody>
      </p:sp>
      <p:sp>
        <p:nvSpPr>
          <p:cNvPr id="3" name="">
            <a:extLst xmlns:a="http://schemas.openxmlformats.org/drawingml/2006/main">
              <a:ext uri="{FF2B5EF4-FFF2-40B4-BE49-F238E27FC236}">
                <a16:creationId xmlns:a16="http://schemas.microsoft.com/office/drawing/2014/main" id="{A05DAFE2-2465-4062-A4CC-16F221C4A9D6}"/>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B820FAD-B5AE-42AC-8B68-8A333DD81758}"/>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609D4B66-DDB2-4511-A7BE-AB5AF488FE83}"/>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146</a:t>
            </a:r>
          </a:p>
        </p:txBody>
      </p:sp>
      <p:sp>
        <p:nvSpPr>
          <p:cNvPr id="6" name="">
            <a:extLst xmlns:a="http://schemas.openxmlformats.org/drawingml/2006/main">
              <a:ext uri="{FF2B5EF4-FFF2-40B4-BE49-F238E27FC236}">
                <a16:creationId xmlns:a16="http://schemas.microsoft.com/office/drawing/2014/main" id="{8552BE53-9444-463E-A8AD-B9908AA13B40}"/>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C5D0A81E-C681-42AA-9D2D-E91A7807B796}"/>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전사 공통 AI 기반</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사업부별 활용 접점의 확장</a:t>
            </a:r>
          </a:p>
        </p:txBody>
      </p:sp>
      <p:sp>
        <p:nvSpPr>
          <p:cNvPr id="8" name="">
            <a:extLst xmlns:a="http://schemas.openxmlformats.org/drawingml/2006/main">
              <a:ext uri="{FF2B5EF4-FFF2-40B4-BE49-F238E27FC236}">
                <a16:creationId xmlns:a16="http://schemas.microsoft.com/office/drawing/2014/main" id="{BC3C2280-6AE2-463E-8B2D-0EE580D1858B}"/>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7D452998-CC40-4441-A42C-9C966638DEAE}"/>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사업부별 지식·권한 차이</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전사 확산을 일률적 효과로 환산</a:t>
            </a:r>
          </a:p>
        </p:txBody>
      </p:sp>
      <p:sp>
        <p:nvSpPr>
          <p:cNvPr id="10" name="">
            <a:extLst xmlns:a="http://schemas.openxmlformats.org/drawingml/2006/main">
              <a:ext uri="{FF2B5EF4-FFF2-40B4-BE49-F238E27FC236}">
                <a16:creationId xmlns:a16="http://schemas.microsoft.com/office/drawing/2014/main" id="{877FCAE0-C8E6-4180-B652-11AD6111CE53}"/>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20674747-B297-4937-8E14-DF1423A8EC4C}"/>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사업부별 정답·권한·비용 평가</a:t>
            </a:r>
          </a:p>
        </p:txBody>
      </p:sp>
      <p:sp>
        <p:nvSpPr>
          <p:cNvPr id="12" name="">
            <a:extLst xmlns:a="http://schemas.openxmlformats.org/drawingml/2006/main">
              <a:ext uri="{FF2B5EF4-FFF2-40B4-BE49-F238E27FC236}">
                <a16:creationId xmlns:a16="http://schemas.microsoft.com/office/drawing/2014/main" id="{4632D846-F0A6-43AA-A6EE-F905DB1E8C13}"/>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64EC15DB-A4B2-415A-8F6B-706495DA00A1}"/>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사업부 업무 문맥으로 공통 AI 지원 결과 활용</a:t>
            </a:r>
          </a:p>
        </p:txBody>
      </p:sp>
      <p:sp>
        <p:nvSpPr>
          <p:cNvPr id="14" name="">
            <a:extLst xmlns:a="http://schemas.openxmlformats.org/drawingml/2006/main">
              <a:ext uri="{FF2B5EF4-FFF2-40B4-BE49-F238E27FC236}">
                <a16:creationId xmlns:a16="http://schemas.microsoft.com/office/drawing/2014/main" id="{BE16536C-25B3-4BD6-98C2-A5C00644DFC0}"/>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5AABCF7B-006F-48C5-9EED-B52C26C09BCC}"/>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사업부 간 지식 노출·개정 지연·비용 급증</a:t>
            </a:r>
          </a:p>
        </p:txBody>
      </p:sp>
      <p:sp>
        <p:nvSpPr>
          <p:cNvPr id="16" name="">
            <a:extLst xmlns:a="http://schemas.openxmlformats.org/drawingml/2006/main">
              <a:ext uri="{FF2B5EF4-FFF2-40B4-BE49-F238E27FC236}">
                <a16:creationId xmlns:a16="http://schemas.microsoft.com/office/drawing/2014/main" id="{133E445A-213D-4F12-91D1-3D71BF901550}"/>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C4917DA3-7429-46D4-917A-7B1AAD80BEEF}"/>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부서별 권한·정답·응답비용·운영 로그</a:t>
            </a:r>
          </a:p>
        </p:txBody>
      </p:sp>
    </p:spTree>
    <p:extLst>
      <p:ext uri="{BB962C8B-B14F-4D97-AF65-F5344CB8AC3E}">
        <p14:creationId xmlns:p14="http://schemas.microsoft.com/office/powerpoint/2010/main" val="2120999546"/>
      </p:ext>
    </p:extLst>
  </p:cSld>
</p:sld>
</file>

<file path=ppt/slides/slide147.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ED2732E-263E-4A6E-BE51-2EB24758AF77}"/>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PF-C01 / 2026-07-23 문서 / 2026-10-16 확인 / 해외</a:t>
            </a:r>
          </a:p>
        </p:txBody>
      </p:sp>
      <p:sp>
        <p:nvSpPr>
          <p:cNvPr id="2" name="">
            <a:extLst xmlns:a="http://schemas.openxmlformats.org/drawingml/2006/main">
              <a:ext uri="{FF2B5EF4-FFF2-40B4-BE49-F238E27FC236}">
                <a16:creationId xmlns:a16="http://schemas.microsoft.com/office/drawing/2014/main" id="{0CA0D50D-C2FD-4AEA-A1DE-9E1D3FE07B94}"/>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M365 조직 관계</a:t>
            </a:r>
          </a:p>
        </p:txBody>
      </p:sp>
      <p:sp>
        <p:nvSpPr>
          <p:cNvPr id="3" name="">
            <a:extLst xmlns:a="http://schemas.openxmlformats.org/drawingml/2006/main">
              <a:ext uri="{FF2B5EF4-FFF2-40B4-BE49-F238E27FC236}">
                <a16:creationId xmlns:a16="http://schemas.microsoft.com/office/drawing/2014/main" id="{E07AF1CB-53EB-4AE2-945F-5CFEF872AED1}"/>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8F22739-E047-4444-9CAF-DE7AB7021CEF}"/>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8609D8EA-3F1C-42A0-9F00-19597C5C1F21}"/>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147</a:t>
            </a:r>
          </a:p>
        </p:txBody>
      </p:sp>
      <p:sp>
        <p:nvSpPr>
          <p:cNvPr id="6" name="">
            <a:extLst xmlns:a="http://schemas.openxmlformats.org/drawingml/2006/main">
              <a:ext uri="{FF2B5EF4-FFF2-40B4-BE49-F238E27FC236}">
                <a16:creationId xmlns:a16="http://schemas.microsoft.com/office/drawing/2014/main" id="{C63BEB4B-CB32-4A51-B97B-33230B43A3B1}"/>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DD196759-DD9F-4EA1-912C-3DA26758183E}"/>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Microsoft Graph의 조직 관계 활용 기능을 조직 네이</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티브 AI의 구성요소 관점에서 분석한 사례. 상사·보고 관</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계·추가 관계를 식별해 질의 대상과 업무 문맥을 연결하</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는 기능 범위.</a:t>
            </a:r>
          </a:p>
        </p:txBody>
      </p:sp>
      <p:sp>
        <p:nvSpPr>
          <p:cNvPr id="8" name="">
            <a:extLst xmlns:a="http://schemas.openxmlformats.org/drawingml/2006/main">
              <a:ext uri="{FF2B5EF4-FFF2-40B4-BE49-F238E27FC236}">
                <a16:creationId xmlns:a16="http://schemas.microsoft.com/office/drawing/2014/main" id="{688D50AB-DCDD-4395-B988-21C22E1DF840}"/>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12075316-F30C-469F-AFCD-B597D264C538}"/>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지원되는 디렉터리·관계 유형과 직원 식별정보를 대조하</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고 요청자에게 허용된 관계 정보를 조회하는 흐름. 직원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이름을 단순 검색어로 사용하는 방식과 공식 ID·관계 유</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형·효력일을 이용하는 방식의 차이를 비교하는 설계.</a:t>
            </a:r>
          </a:p>
        </p:txBody>
      </p:sp>
      <p:sp>
        <p:nvSpPr>
          <p:cNvPr id="10" name="">
            <a:extLst xmlns:a="http://schemas.openxmlformats.org/drawingml/2006/main">
              <a:ext uri="{FF2B5EF4-FFF2-40B4-BE49-F238E27FC236}">
                <a16:creationId xmlns:a16="http://schemas.microsoft.com/office/drawing/2014/main" id="{C98FA3DB-A494-445C-BAF3-08E0615F82C4}"/>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3E3B4952-6AF5-49F9-8F1D-A3267B4334C8}"/>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직속 상사 관계가 문서 열람·결재 권한을 자동 부여하는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근거는 아님. TS에서는 조직 관계 그래프와 업무시스템의</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 권한 정책을 분리하고 겸직·파견·대결·전보·동명이인 조</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건에서 허용된 관계와 실제 접근 권한을 함께 시험.</a:t>
            </a:r>
          </a:p>
        </p:txBody>
      </p:sp>
      <p:sp>
        <p:nvSpPr>
          <p:cNvPr id="12" name="">
            <a:extLst xmlns:a="http://schemas.openxmlformats.org/drawingml/2006/main">
              <a:ext uri="{FF2B5EF4-FFF2-40B4-BE49-F238E27FC236}">
                <a16:creationId xmlns:a16="http://schemas.microsoft.com/office/drawing/2014/main" id="{B32C1628-4A79-4421-83E1-361B28CF8F42}"/>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4D65DE39-2D09-4012-939A-1457570FBACC}"/>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사번·직무·별칭·겸직·책임업무 매핑</a:t>
            </a:r>
          </a:p>
        </p:txBody>
      </p:sp>
      <p:sp>
        <p:nvSpPr>
          <p:cNvPr id="14" name="">
            <a:extLst xmlns:a="http://schemas.openxmlformats.org/drawingml/2006/main">
              <a:ext uri="{FF2B5EF4-FFF2-40B4-BE49-F238E27FC236}">
                <a16:creationId xmlns:a16="http://schemas.microsoft.com/office/drawing/2014/main" id="{21323C13-CD08-43C8-85D5-51166AE74DA6}"/>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2B63F338-0C6A-402D-8F21-3D197BA8B717}"/>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인물 식별·직무 매핑 정확도의 기준선·비교 평가</a:t>
            </a:r>
          </a:p>
        </p:txBody>
      </p:sp>
      <p:sp>
        <p:nvSpPr>
          <p:cNvPr id="16" name="">
            <a:extLst xmlns:a="http://schemas.openxmlformats.org/drawingml/2006/main">
              <a:ext uri="{FF2B5EF4-FFF2-40B4-BE49-F238E27FC236}">
                <a16:creationId xmlns:a16="http://schemas.microsoft.com/office/drawing/2014/main" id="{FFC486CC-04F8-473A-BEE4-659C87783DC7}"/>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2C573AD8-BC55-4721-B41B-9F41A24D1221}"/>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인물 식별·직무 매핑 정확도</a:t>
            </a:r>
          </a:p>
        </p:txBody>
      </p:sp>
      <p:sp>
        <p:nvSpPr>
          <p:cNvPr id="18" name="">
            <a:extLst xmlns:a="http://schemas.openxmlformats.org/drawingml/2006/main">
              <a:ext uri="{FF2B5EF4-FFF2-40B4-BE49-F238E27FC236}">
                <a16:creationId xmlns:a16="http://schemas.microsoft.com/office/drawing/2014/main" id="{0035F4A0-58DB-4ECE-8D90-AADC9846C33F}"/>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지원 관계·데이터 조건에 따름. TS 업무분장·권한 변경 처리 품질은 별도 시험 필요</a:t>
            </a:r>
          </a:p>
        </p:txBody>
      </p:sp>
    </p:spTree>
    <p:extLst>
      <p:ext uri="{BB962C8B-B14F-4D97-AF65-F5344CB8AC3E}">
        <p14:creationId xmlns:p14="http://schemas.microsoft.com/office/powerpoint/2010/main" val="2028388350"/>
      </p:ext>
    </p:extLst>
  </p:cSld>
</p:sld>
</file>

<file path=ppt/slides/slide148.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F2BAFD77-C31D-4555-850D-3F642DF750B4}"/>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71A5D3F4-59B6-45F4-A31D-6537651650DD}"/>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A21622A0-7105-4A15-8A10-52CBA817E5C3}"/>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BD5CD2D3-F406-4E77-BA83-FB5DFF989891}"/>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E19F6BA5-6121-428E-A574-9F130FB789B0}"/>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3D81C511-A5CF-4029-BAF7-A19C829565BD}"/>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4908C29C-D536-4F46-9F74-15E23DC739F3}"/>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0F9B1EBC-36E8-4E81-B84C-9F1F6029739D}"/>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C9E61085-D401-4EC7-AC51-15BF4E34E3DD}"/>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F7B083BA-DD51-44B0-BDFE-A9170B0E38CA}"/>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PF-C01 / CCK 세부 재구성 · 논리 서비스 설계</a:t>
            </a:r>
          </a:p>
        </p:txBody>
      </p:sp>
      <p:sp>
        <p:nvSpPr>
          <p:cNvPr id="2" name="">
            <a:extLst xmlns:a="http://schemas.openxmlformats.org/drawingml/2006/main">
              <a:ext uri="{FF2B5EF4-FFF2-40B4-BE49-F238E27FC236}">
                <a16:creationId xmlns:a16="http://schemas.microsoft.com/office/drawing/2014/main" id="{62C3E7FB-2471-44C1-A190-FBBDDAC957A7}"/>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M365 조직 관계 · 세부 서비스 구조</a:t>
            </a:r>
          </a:p>
        </p:txBody>
      </p:sp>
      <p:sp>
        <p:nvSpPr>
          <p:cNvPr id="3" name="">
            <a:extLst xmlns:a="http://schemas.openxmlformats.org/drawingml/2006/main">
              <a:ext uri="{FF2B5EF4-FFF2-40B4-BE49-F238E27FC236}">
                <a16:creationId xmlns:a16="http://schemas.microsoft.com/office/drawing/2014/main" id="{E7C8E7A9-1412-49D9-9CD3-767603D2C6FA}"/>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97A2FFD-63DA-4DEE-9920-09E0017DB90C}"/>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4B76E88B-0F18-4866-9786-B1FE713946C8}"/>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148</a:t>
            </a:r>
          </a:p>
        </p:txBody>
      </p:sp>
      <p:sp>
        <p:nvSpPr>
          <p:cNvPr id="6" name="">
            <a:extLst xmlns:a="http://schemas.openxmlformats.org/drawingml/2006/main">
              <a:ext uri="{FF2B5EF4-FFF2-40B4-BE49-F238E27FC236}">
                <a16:creationId xmlns:a16="http://schemas.microsoft.com/office/drawing/2014/main" id="{8EC02CE0-CFEB-4116-829D-128D59BB2258}"/>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운영기관·공급사·감사 자료의 업무 설명</a:t>
            </a:r>
          </a:p>
        </p:txBody>
      </p:sp>
      <p:sp>
        <p:nvSpPr>
          <p:cNvPr id="7" name="">
            <a:extLst xmlns:a="http://schemas.openxmlformats.org/drawingml/2006/main">
              <a:ext uri="{FF2B5EF4-FFF2-40B4-BE49-F238E27FC236}">
                <a16:creationId xmlns:a16="http://schemas.microsoft.com/office/drawing/2014/main" id="{8FB82E66-76A9-4BA9-B5F2-037EF4FDAF62}"/>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DEB37CD5-4D8C-4265-B9C2-6082C7856C18}"/>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87E0B33C-0175-4B91-9074-B25876E86442}"/>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조직 관계 질의</a:t>
            </a:r>
          </a:p>
        </p:txBody>
      </p:sp>
      <p:sp>
        <p:nvSpPr>
          <p:cNvPr id="10" name="">
            <a:extLst xmlns:a="http://schemas.openxmlformats.org/drawingml/2006/main">
              <a:ext uri="{FF2B5EF4-FFF2-40B4-BE49-F238E27FC236}">
                <a16:creationId xmlns:a16="http://schemas.microsoft.com/office/drawing/2014/main" id="{578B47B9-542F-40C5-8BD7-04096C12B8E6}"/>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314B31FB-0C13-468F-B876-78013B475550}"/>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3F032C76-0E4B-4D4F-B0C1-6C901CEA436A}"/>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로그인·대상 ID</a:t>
            </a:r>
          </a:p>
        </p:txBody>
      </p:sp>
      <p:sp>
        <p:nvSpPr>
          <p:cNvPr id="13" name="">
            <a:extLst xmlns:a="http://schemas.openxmlformats.org/drawingml/2006/main">
              <a:ext uri="{FF2B5EF4-FFF2-40B4-BE49-F238E27FC236}">
                <a16:creationId xmlns:a16="http://schemas.microsoft.com/office/drawing/2014/main" id="{550BE38C-1788-445A-BCB0-9AE29B928665}"/>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5C4A02FC-4E56-4D58-AEF7-268FDA3DB734}"/>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36C760E2-4941-47CE-B434-B080A1BC66F6}"/>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직원 관계 조회</a:t>
            </a:r>
          </a:p>
        </p:txBody>
      </p:sp>
      <p:sp>
        <p:nvSpPr>
          <p:cNvPr id="16" name="">
            <a:extLst xmlns:a="http://schemas.openxmlformats.org/drawingml/2006/main">
              <a:ext uri="{FF2B5EF4-FFF2-40B4-BE49-F238E27FC236}">
                <a16:creationId xmlns:a16="http://schemas.microsoft.com/office/drawing/2014/main" id="{E05569DA-EE2F-4803-BB65-91A81094F880}"/>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A4903561-EA8C-496F-96C7-3744BC308E3C}"/>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B58500DF-9BE1-4301-B936-F694A9CB8E85}"/>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관계 유형 매칭</a:t>
            </a:r>
          </a:p>
        </p:txBody>
      </p:sp>
      <p:sp>
        <p:nvSpPr>
          <p:cNvPr id="19" name="">
            <a:extLst xmlns:a="http://schemas.openxmlformats.org/drawingml/2006/main">
              <a:ext uri="{FF2B5EF4-FFF2-40B4-BE49-F238E27FC236}">
                <a16:creationId xmlns:a16="http://schemas.microsoft.com/office/drawing/2014/main" id="{9AA6FC1B-24D3-4C2D-B526-89B7CC744AC5}"/>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B30C19F4-90E3-4A8C-B35D-B25EEE64F8B8}"/>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E572914E-B008-42F5-8822-833ADDE0510A}"/>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효력일·동명 검사</a:t>
            </a:r>
          </a:p>
        </p:txBody>
      </p:sp>
      <p:sp>
        <p:nvSpPr>
          <p:cNvPr id="22" name="">
            <a:extLst xmlns:a="http://schemas.openxmlformats.org/drawingml/2006/main">
              <a:ext uri="{FF2B5EF4-FFF2-40B4-BE49-F238E27FC236}">
                <a16:creationId xmlns:a16="http://schemas.microsoft.com/office/drawing/2014/main" id="{30B3A1EB-46B0-4664-9510-8415062CB9E7}"/>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0180A47B-5A2A-4EBE-800C-0D0B1E697A3D}"/>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5E24A629-9882-474F-9731-24957D5308A8}"/>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이용자 확인</a:t>
            </a:r>
          </a:p>
        </p:txBody>
      </p:sp>
      <p:sp>
        <p:nvSpPr>
          <p:cNvPr id="25" name="">
            <a:extLst xmlns:a="http://schemas.openxmlformats.org/drawingml/2006/main">
              <a:ext uri="{FF2B5EF4-FFF2-40B4-BE49-F238E27FC236}">
                <a16:creationId xmlns:a16="http://schemas.microsoft.com/office/drawing/2014/main" id="{D7F84C71-4440-4971-8019-519F4D1F54D2}"/>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AEB163CD-9909-4A02-A0EC-F16E629B4709}"/>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DDAF9643-C179-4159-8943-671018611AAB}"/>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허용 관계 응답</a:t>
            </a:r>
          </a:p>
        </p:txBody>
      </p:sp>
      <p:sp>
        <p:nvSpPr>
          <p:cNvPr id="28" name="">
            <a:extLst xmlns:a="http://schemas.openxmlformats.org/drawingml/2006/main">
              <a:ext uri="{FF2B5EF4-FFF2-40B4-BE49-F238E27FC236}">
                <a16:creationId xmlns:a16="http://schemas.microsoft.com/office/drawing/2014/main" id="{AB4701AC-C50D-40FC-B345-CACA1FE91D1A}"/>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36709979-6659-48EB-8A98-67C43226C120}"/>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4ABD410E-48E2-4AD7-8E3F-AE04B03A5352}"/>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전보·해제 대사</a:t>
            </a:r>
          </a:p>
        </p:txBody>
      </p:sp>
      <p:sp>
        <p:nvSpPr>
          <p:cNvPr id="31" name="">
            <a:extLst xmlns:a="http://schemas.openxmlformats.org/drawingml/2006/main">
              <a:ext uri="{FF2B5EF4-FFF2-40B4-BE49-F238E27FC236}">
                <a16:creationId xmlns:a16="http://schemas.microsoft.com/office/drawing/2014/main" id="{11EFF452-EC1C-46DC-BE6D-762BB5C74BE6}"/>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B0B89F79-234A-4543-AC90-9D3AA126C73D}"/>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BCCD81E9-A5AE-4AC8-BB1B-F735052EE72C}"/>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직원 디렉터리</a:t>
            </a:r>
          </a:p>
        </p:txBody>
      </p:sp>
      <p:sp>
        <p:nvSpPr>
          <p:cNvPr id="34" name="">
            <a:extLst xmlns:a="http://schemas.openxmlformats.org/drawingml/2006/main">
              <a:ext uri="{FF2B5EF4-FFF2-40B4-BE49-F238E27FC236}">
                <a16:creationId xmlns:a16="http://schemas.microsoft.com/office/drawing/2014/main" id="{8BB084AE-AAC4-4CB4-82FE-E16E2B0BB66C}"/>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080E6F44-4036-4D29-B9A0-A46F92D0D012}"/>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73F19F92-F1E0-41B9-8003-04E240BB7E75}"/>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공식 ID·유형 정리</a:t>
            </a:r>
          </a:p>
        </p:txBody>
      </p:sp>
      <p:sp>
        <p:nvSpPr>
          <p:cNvPr id="37" name="">
            <a:extLst xmlns:a="http://schemas.openxmlformats.org/drawingml/2006/main">
              <a:ext uri="{FF2B5EF4-FFF2-40B4-BE49-F238E27FC236}">
                <a16:creationId xmlns:a16="http://schemas.microsoft.com/office/drawing/2014/main" id="{B7F0D6F6-0046-4640-99C0-4163F22A404A}"/>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D72D685A-ACE1-4C47-B1DD-5EA7CA7101FD}"/>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B40A6980-2C1E-4DD3-88BA-E1968451FDF0}"/>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관계·효력일 원장</a:t>
            </a:r>
          </a:p>
        </p:txBody>
      </p:sp>
      <p:sp>
        <p:nvSpPr>
          <p:cNvPr id="40" name="">
            <a:extLst xmlns:a="http://schemas.openxmlformats.org/drawingml/2006/main">
              <a:ext uri="{FF2B5EF4-FFF2-40B4-BE49-F238E27FC236}">
                <a16:creationId xmlns:a16="http://schemas.microsoft.com/office/drawing/2014/main" id="{107CA3A4-7869-4633-B1C5-3DE470D6680E}"/>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DED88C07-DCE4-4847-8476-66636352EF31}"/>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63915B4E-6677-4B75-94A1-419FD8A5387C}"/>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관계와 권한 분리</a:t>
            </a:r>
          </a:p>
        </p:txBody>
      </p:sp>
      <p:sp>
        <p:nvSpPr>
          <p:cNvPr id="52" name="">
            <a:extLst xmlns:a="http://schemas.openxmlformats.org/drawingml/2006/main">
              <a:ext uri="{FF2B5EF4-FFF2-40B4-BE49-F238E27FC236}">
                <a16:creationId xmlns:a16="http://schemas.microsoft.com/office/drawing/2014/main" id="{89A702D9-A1DD-4FB6-9AB4-6C1C516CD6DA}"/>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915353183"/>
      </p:ext>
    </p:extLst>
  </p:cSld>
</p:sld>
</file>

<file path=ppt/slides/slide149.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DC2DB633-3688-4E4E-92EB-7B281A081464}"/>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PF-C01 / 논리 인터페이스·복구 설계</a:t>
            </a:r>
          </a:p>
        </p:txBody>
      </p:sp>
      <p:sp>
        <p:nvSpPr>
          <p:cNvPr id="2" name="">
            <a:extLst xmlns:a="http://schemas.openxmlformats.org/drawingml/2006/main">
              <a:ext uri="{FF2B5EF4-FFF2-40B4-BE49-F238E27FC236}">
                <a16:creationId xmlns:a16="http://schemas.microsoft.com/office/drawing/2014/main" id="{7EB52B36-523F-4FE5-80C8-37D47AB5141D}"/>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M365 조직 관계 · 데이터와 예외 처리</a:t>
            </a:r>
          </a:p>
        </p:txBody>
      </p:sp>
      <p:sp>
        <p:nvSpPr>
          <p:cNvPr id="3" name="">
            <a:extLst xmlns:a="http://schemas.openxmlformats.org/drawingml/2006/main">
              <a:ext uri="{FF2B5EF4-FFF2-40B4-BE49-F238E27FC236}">
                <a16:creationId xmlns:a16="http://schemas.microsoft.com/office/drawing/2014/main" id="{1133FF01-30EC-4591-A0E0-6152365F4841}"/>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68A4F51-8BCE-42B8-8EE8-EF7B9DE2F293}"/>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FBA9995A-24D1-4270-92BC-E77F50D3BCDB}"/>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149</a:t>
            </a:r>
          </a:p>
        </p:txBody>
      </p:sp>
      <p:sp>
        <p:nvSpPr>
          <p:cNvPr id="6" name="">
            <a:extLst xmlns:a="http://schemas.openxmlformats.org/drawingml/2006/main">
              <a:ext uri="{FF2B5EF4-FFF2-40B4-BE49-F238E27FC236}">
                <a16:creationId xmlns:a16="http://schemas.microsoft.com/office/drawing/2014/main" id="{DE485389-A9BF-47E8-8315-C6F793F75AD3}"/>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AF871A51-7A0D-4C20-A44C-F388BFB1C614}"/>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FFBD35F2-2DE8-4B13-954F-4A30DD606C63}"/>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F770EF95-FC59-4DA1-9F62-86A762D6741E}"/>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로그인 사용자와 관계 질의 대상 식별</a:t>
            </a:r>
          </a:p>
        </p:txBody>
      </p:sp>
      <p:sp>
        <p:nvSpPr>
          <p:cNvPr id="10" name="">
            <a:extLst xmlns:a="http://schemas.openxmlformats.org/drawingml/2006/main">
              <a:ext uri="{FF2B5EF4-FFF2-40B4-BE49-F238E27FC236}">
                <a16:creationId xmlns:a16="http://schemas.microsoft.com/office/drawing/2014/main" id="{F03EB545-55C4-4FD1-8614-F64BC4C57C46}"/>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78D72CA-9E71-433D-B947-3A2343745473}"/>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E593842A-2753-4F21-81C0-60929CC268FF}"/>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직원 정보</a:t>
            </a:r>
          </a:p>
        </p:txBody>
      </p:sp>
      <p:sp>
        <p:nvSpPr>
          <p:cNvPr id="13" name="">
            <a:extLst xmlns:a="http://schemas.openxmlformats.org/drawingml/2006/main">
              <a:ext uri="{FF2B5EF4-FFF2-40B4-BE49-F238E27FC236}">
                <a16:creationId xmlns:a16="http://schemas.microsoft.com/office/drawing/2014/main" id="{AE778E01-24D7-4139-A99F-BECC7906823C}"/>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E9D6197-AD43-488B-A969-19F5EC428C60}"/>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2A7B74B2-D843-4ED2-83F4-96535A3FBEA7}"/>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관계 매핑</a:t>
            </a:r>
          </a:p>
        </p:txBody>
      </p:sp>
      <p:sp>
        <p:nvSpPr>
          <p:cNvPr id="16" name="">
            <a:extLst xmlns:a="http://schemas.openxmlformats.org/drawingml/2006/main">
              <a:ext uri="{FF2B5EF4-FFF2-40B4-BE49-F238E27FC236}">
                <a16:creationId xmlns:a16="http://schemas.microsoft.com/office/drawing/2014/main" id="{F846E0D9-BC5C-4762-9CF4-3B3968204CCE}"/>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D50EA71-C2B7-4B83-A897-94E16F642512}"/>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6625C198-D7B6-4D5A-A04D-1CA6BE094008}"/>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관계 질의</a:t>
            </a:r>
          </a:p>
        </p:txBody>
      </p:sp>
      <p:sp>
        <p:nvSpPr>
          <p:cNvPr id="19" name="">
            <a:extLst xmlns:a="http://schemas.openxmlformats.org/drawingml/2006/main">
              <a:ext uri="{FF2B5EF4-FFF2-40B4-BE49-F238E27FC236}">
                <a16:creationId xmlns:a16="http://schemas.microsoft.com/office/drawing/2014/main" id="{FF1C13D4-71C0-49A2-86B9-CC61A974600B}"/>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D31C255-7B2E-4ECE-BDF5-B4D5B51A9B33}"/>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DE4EB135-5424-4A91-B4A0-87081A8BBD32}"/>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관계 질의</a:t>
            </a:r>
          </a:p>
        </p:txBody>
      </p:sp>
      <p:sp>
        <p:nvSpPr>
          <p:cNvPr id="22" name="">
            <a:extLst xmlns:a="http://schemas.openxmlformats.org/drawingml/2006/main">
              <a:ext uri="{FF2B5EF4-FFF2-40B4-BE49-F238E27FC236}">
                <a16:creationId xmlns:a16="http://schemas.microsoft.com/office/drawing/2014/main" id="{413C00D4-8E90-4CAB-B049-0DFE9C345946}"/>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5FFD763-7DA1-44FC-8C76-A192DEBAC6B6}"/>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D566A71C-0EE2-4089-BB5E-BB59BB39CD02}"/>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허용 응답</a:t>
            </a:r>
          </a:p>
        </p:txBody>
      </p:sp>
      <p:sp>
        <p:nvSpPr>
          <p:cNvPr id="25" name="">
            <a:extLst xmlns:a="http://schemas.openxmlformats.org/drawingml/2006/main">
              <a:ext uri="{FF2B5EF4-FFF2-40B4-BE49-F238E27FC236}">
                <a16:creationId xmlns:a16="http://schemas.microsoft.com/office/drawing/2014/main" id="{986991C5-4ED1-483D-B767-57BAA15A791B}"/>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3195A73D-B1D0-4BF5-A5F5-A8FB653765AB}"/>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동명이인·전보일 경계·종료된 대행관계</a:t>
            </a:r>
          </a:p>
        </p:txBody>
      </p:sp>
      <p:sp>
        <p:nvSpPr>
          <p:cNvPr id="27" name="">
            <a:extLst xmlns:a="http://schemas.openxmlformats.org/drawingml/2006/main">
              <a:ext uri="{FF2B5EF4-FFF2-40B4-BE49-F238E27FC236}">
                <a16:creationId xmlns:a16="http://schemas.microsoft.com/office/drawing/2014/main" id="{9689D670-948E-4294-B514-EB2DB732C39A}"/>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1BDB6725-3FBD-4A62-98BA-C52297E67F13}"/>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신원·효력일과 권한 원천 분리</a:t>
            </a:r>
          </a:p>
        </p:txBody>
      </p:sp>
      <p:sp>
        <p:nvSpPr>
          <p:cNvPr id="29" name="">
            <a:extLst xmlns:a="http://schemas.openxmlformats.org/drawingml/2006/main">
              <a:ext uri="{FF2B5EF4-FFF2-40B4-BE49-F238E27FC236}">
                <a16:creationId xmlns:a16="http://schemas.microsoft.com/office/drawing/2014/main" id="{EAA43EE0-6F67-4FA3-8F41-08632714886C}"/>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548480F0-6115-4FA4-BD06-7A962360CA8F}"/>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전보·겸직·관계 해제 이후 결과 대사</a:t>
            </a:r>
          </a:p>
        </p:txBody>
      </p:sp>
      <p:sp>
        <p:nvSpPr>
          <p:cNvPr id="31" name="">
            <a:extLst xmlns:a="http://schemas.openxmlformats.org/drawingml/2006/main">
              <a:ext uri="{FF2B5EF4-FFF2-40B4-BE49-F238E27FC236}">
                <a16:creationId xmlns:a16="http://schemas.microsoft.com/office/drawing/2014/main" id="{22A3133C-C3E6-49A3-A77E-0E4D85AD2586}"/>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FE3A38BD-4068-4451-A49B-93A5D266BEAA}"/>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원천 관계와 응답의 ID·효력일·권한 대사</a:t>
            </a:r>
          </a:p>
        </p:txBody>
      </p:sp>
    </p:spTree>
    <p:extLst>
      <p:ext uri="{BB962C8B-B14F-4D97-AF65-F5344CB8AC3E}">
        <p14:creationId xmlns:p14="http://schemas.microsoft.com/office/powerpoint/2010/main" val="1983608431"/>
      </p:ext>
    </p:extLst>
  </p:cSld>
</p:sld>
</file>

<file path=ppt/slides/slide150.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D624525-3EAE-4DA7-9C3D-8C3513DBDB61}"/>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PF-C01 / CCK 비교·재현 시험 설계</a:t>
            </a:r>
          </a:p>
        </p:txBody>
      </p:sp>
      <p:sp>
        <p:nvSpPr>
          <p:cNvPr id="2" name="">
            <a:extLst xmlns:a="http://schemas.openxmlformats.org/drawingml/2006/main">
              <a:ext uri="{FF2B5EF4-FFF2-40B4-BE49-F238E27FC236}">
                <a16:creationId xmlns:a16="http://schemas.microsoft.com/office/drawing/2014/main" id="{BE380ABF-155A-480E-989A-4004AD71A1AE}"/>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M365 조직 관계 · 벤치마킹</a:t>
            </a:r>
          </a:p>
        </p:txBody>
      </p:sp>
      <p:sp>
        <p:nvSpPr>
          <p:cNvPr id="3" name="">
            <a:extLst xmlns:a="http://schemas.openxmlformats.org/drawingml/2006/main">
              <a:ext uri="{FF2B5EF4-FFF2-40B4-BE49-F238E27FC236}">
                <a16:creationId xmlns:a16="http://schemas.microsoft.com/office/drawing/2014/main" id="{B9C99946-60D7-4BB0-B556-7284ACD738BD}"/>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AD178FB-AF04-409D-91B4-E53CBD9E970E}"/>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786BB609-A3F2-47FD-9AD8-0CC45E55FFF1}"/>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150</a:t>
            </a:r>
          </a:p>
        </p:txBody>
      </p:sp>
      <p:sp>
        <p:nvSpPr>
          <p:cNvPr id="6" name="">
            <a:extLst xmlns:a="http://schemas.openxmlformats.org/drawingml/2006/main">
              <a:ext uri="{FF2B5EF4-FFF2-40B4-BE49-F238E27FC236}">
                <a16:creationId xmlns:a16="http://schemas.microsoft.com/office/drawing/2014/main" id="{0E313EBC-DCFA-4F5A-80C5-5BC3F1C3FB9F}"/>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F9FCEB4F-40CB-483F-BCFE-B12A553B8CBA}"/>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공식 직원 관계의 연결</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조직 질의의 데이터 기반 구성</a:t>
            </a:r>
          </a:p>
        </p:txBody>
      </p:sp>
      <p:sp>
        <p:nvSpPr>
          <p:cNvPr id="8" name="">
            <a:extLst xmlns:a="http://schemas.openxmlformats.org/drawingml/2006/main">
              <a:ext uri="{FF2B5EF4-FFF2-40B4-BE49-F238E27FC236}">
                <a16:creationId xmlns:a16="http://schemas.microsoft.com/office/drawing/2014/main" id="{288B897E-86EC-4D98-BF53-7DF8254DE56E}"/>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E2ACE8E2-54F4-4F76-B460-10E93C58D135}"/>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조직 관계를 접근권한으로 오인</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전보·겸직 정보의 지연</a:t>
            </a:r>
          </a:p>
        </p:txBody>
      </p:sp>
      <p:sp>
        <p:nvSpPr>
          <p:cNvPr id="10" name="">
            <a:extLst xmlns:a="http://schemas.openxmlformats.org/drawingml/2006/main">
              <a:ext uri="{FF2B5EF4-FFF2-40B4-BE49-F238E27FC236}">
                <a16:creationId xmlns:a16="http://schemas.microsoft.com/office/drawing/2014/main" id="{C9363978-406C-4F8A-A547-788B72064C7C}"/>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257ECE09-806E-4EAB-BA2E-B8FB1D6F38DF}"/>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신원·효력일과 권한 원천 분리</a:t>
            </a:r>
          </a:p>
        </p:txBody>
      </p:sp>
      <p:sp>
        <p:nvSpPr>
          <p:cNvPr id="12" name="">
            <a:extLst xmlns:a="http://schemas.openxmlformats.org/drawingml/2006/main">
              <a:ext uri="{FF2B5EF4-FFF2-40B4-BE49-F238E27FC236}">
                <a16:creationId xmlns:a16="http://schemas.microsoft.com/office/drawing/2014/main" id="{407C457D-18FE-496B-9817-26A5C78DADA4}"/>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0CAAB3AC-3497-46E3-90F3-7420088CF91A}"/>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상사·겸직·점선 보고 관계를 대상 직원 ID로 조회</a:t>
            </a:r>
          </a:p>
        </p:txBody>
      </p:sp>
      <p:sp>
        <p:nvSpPr>
          <p:cNvPr id="14" name="">
            <a:extLst xmlns:a="http://schemas.openxmlformats.org/drawingml/2006/main">
              <a:ext uri="{FF2B5EF4-FFF2-40B4-BE49-F238E27FC236}">
                <a16:creationId xmlns:a16="http://schemas.microsoft.com/office/drawing/2014/main" id="{2597862C-8518-48C5-9642-7B22FBB44CF4}"/>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DDF175DB-726B-4639-9BCA-F938D1C96AF4}"/>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동명이인·전보일 경계·종료된 대행관계</a:t>
            </a:r>
          </a:p>
        </p:txBody>
      </p:sp>
      <p:sp>
        <p:nvSpPr>
          <p:cNvPr id="16" name="">
            <a:extLst xmlns:a="http://schemas.openxmlformats.org/drawingml/2006/main">
              <a:ext uri="{FF2B5EF4-FFF2-40B4-BE49-F238E27FC236}">
                <a16:creationId xmlns:a16="http://schemas.microsoft.com/office/drawing/2014/main" id="{461AD809-569A-4A43-84B0-4A4E9497E279}"/>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B910C251-012E-4E2F-ABAB-B57DF24AA0B6}"/>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원천 관계와 응답의 ID·효력일·권한 대사</a:t>
            </a:r>
          </a:p>
        </p:txBody>
      </p:sp>
    </p:spTree>
    <p:extLst>
      <p:ext uri="{BB962C8B-B14F-4D97-AF65-F5344CB8AC3E}">
        <p14:creationId xmlns:p14="http://schemas.microsoft.com/office/powerpoint/2010/main" val="1534620470"/>
      </p:ext>
    </p:extLst>
  </p:cSld>
</p:sld>
</file>

<file path=ppt/slides/slide151.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BC07C62-821F-48F8-9FCA-E348960B21C0}"/>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PF-C02 / 공식 기능 문서 / 2026-10-16 확인 / 해외</a:t>
            </a:r>
          </a:p>
        </p:txBody>
      </p:sp>
      <p:sp>
        <p:nvSpPr>
          <p:cNvPr id="2" name="">
            <a:extLst xmlns:a="http://schemas.openxmlformats.org/drawingml/2006/main">
              <a:ext uri="{FF2B5EF4-FFF2-40B4-BE49-F238E27FC236}">
                <a16:creationId xmlns:a16="http://schemas.microsoft.com/office/drawing/2014/main" id="{0AF423B4-8472-4709-A698-FF29020B709E}"/>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Glean People connector</a:t>
            </a:r>
          </a:p>
        </p:txBody>
      </p:sp>
      <p:sp>
        <p:nvSpPr>
          <p:cNvPr id="3" name="">
            <a:extLst xmlns:a="http://schemas.openxmlformats.org/drawingml/2006/main">
              <a:ext uri="{FF2B5EF4-FFF2-40B4-BE49-F238E27FC236}">
                <a16:creationId xmlns:a16="http://schemas.microsoft.com/office/drawing/2014/main" id="{9667D440-B3B4-4819-94E7-CF9B936944EF}"/>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D08D71F-8D10-483D-90C8-5AD32ADD5499}"/>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F87D4C54-52EF-47B4-BF20-AB7CB3D295C2}"/>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151</a:t>
            </a:r>
          </a:p>
        </p:txBody>
      </p:sp>
      <p:sp>
        <p:nvSpPr>
          <p:cNvPr id="6" name="">
            <a:extLst xmlns:a="http://schemas.openxmlformats.org/drawingml/2006/main">
              <a:ext uri="{FF2B5EF4-FFF2-40B4-BE49-F238E27FC236}">
                <a16:creationId xmlns:a16="http://schemas.microsoft.com/office/drawing/2014/main" id="{FFD78832-EE2F-4A20-8FB3-37B03ABDDECC}"/>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2D39FA8F-8668-4EF6-9CB4-2A2D4F984660}"/>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Glean People connector의 직원 정보 동기화 기능을</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조직 기반 검색 관점에서 분석한 사례. 인물·부서·직책·</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관리자 필드를 검색 문맥과 연결하는 구성요소.</a:t>
            </a:r>
          </a:p>
        </p:txBody>
      </p:sp>
      <p:sp>
        <p:nvSpPr>
          <p:cNvPr id="8" name="">
            <a:extLst xmlns:a="http://schemas.openxmlformats.org/drawingml/2006/main">
              <a:ext uri="{FF2B5EF4-FFF2-40B4-BE49-F238E27FC236}">
                <a16:creationId xmlns:a16="http://schemas.microsoft.com/office/drawing/2014/main" id="{40248C09-63EA-47FB-947C-0BC2C85A7202}"/>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CC87204D-EA83-4533-8D4F-29EFEE863B10}"/>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원천 직원 데이터의 식별자·필드 매핑, 동기화, 검색 색</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인, 접근 통제와 삭제 반영의 흐름으로 재구성. 복수 원</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천의 같은 사람과 동명이인을 구분하고 변경 이벤트가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검색 결과에 반영되는 상태를 관측하는 설계.</a:t>
            </a:r>
          </a:p>
        </p:txBody>
      </p:sp>
      <p:sp>
        <p:nvSpPr>
          <p:cNvPr id="10" name="">
            <a:extLst xmlns:a="http://schemas.openxmlformats.org/drawingml/2006/main">
              <a:ext uri="{FF2B5EF4-FFF2-40B4-BE49-F238E27FC236}">
                <a16:creationId xmlns:a16="http://schemas.microsoft.com/office/drawing/2014/main" id="{7DADAF29-6D92-4D1F-A1EE-65D70C0D6659}"/>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CB5619D6-1960-48A3-9419-E655690898F3}"/>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TS에서는 데이터 연계 성공과 조직 기반 추론 성공을 별</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도 검수할 필요. 사번 매칭·조직 코드 변경·퇴직 삭제의 대</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사와 동일 요청의 직무별 결과 비교를 나누고 오류 발생 </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시 원천과 색인의 어느 단계에서 지연됐는지 추적.</a:t>
            </a:r>
          </a:p>
        </p:txBody>
      </p:sp>
      <p:sp>
        <p:nvSpPr>
          <p:cNvPr id="12" name="">
            <a:extLst xmlns:a="http://schemas.openxmlformats.org/drawingml/2006/main">
              <a:ext uri="{FF2B5EF4-FFF2-40B4-BE49-F238E27FC236}">
                <a16:creationId xmlns:a16="http://schemas.microsoft.com/office/drawing/2014/main" id="{DB7CC837-E95D-4432-87AA-A13E70E1204D}"/>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E2D0EC0D-23CB-4290-8B91-0465ED34CF50}"/>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전보·퇴직·겸직 이후 검색·인계·캐시 회수</a:t>
            </a:r>
          </a:p>
        </p:txBody>
      </p:sp>
      <p:sp>
        <p:nvSpPr>
          <p:cNvPr id="14" name="">
            <a:extLst xmlns:a="http://schemas.openxmlformats.org/drawingml/2006/main">
              <a:ext uri="{FF2B5EF4-FFF2-40B4-BE49-F238E27FC236}">
                <a16:creationId xmlns:a16="http://schemas.microsoft.com/office/drawing/2014/main" id="{17888A76-47F2-470E-9156-9B25160B0265}"/>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A705D250-FE13-4209-BB16-3F55DC1134A1}"/>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오노출 건수·변경 반영 지연의 기준선·비교 평가</a:t>
            </a:r>
          </a:p>
        </p:txBody>
      </p:sp>
      <p:sp>
        <p:nvSpPr>
          <p:cNvPr id="16" name="">
            <a:extLst xmlns:a="http://schemas.openxmlformats.org/drawingml/2006/main">
              <a:ext uri="{FF2B5EF4-FFF2-40B4-BE49-F238E27FC236}">
                <a16:creationId xmlns:a16="http://schemas.microsoft.com/office/drawing/2014/main" id="{5F37A013-3009-4C16-BFD2-06D967483AFE}"/>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5E996936-FBF8-4B57-9C16-A2887BD45827}"/>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오노출 건수·변경 반영 지연</a:t>
            </a:r>
          </a:p>
        </p:txBody>
      </p:sp>
      <p:sp>
        <p:nvSpPr>
          <p:cNvPr id="18" name="">
            <a:extLst xmlns:a="http://schemas.openxmlformats.org/drawingml/2006/main">
              <a:ext uri="{FF2B5EF4-FFF2-40B4-BE49-F238E27FC236}">
                <a16:creationId xmlns:a16="http://schemas.microsoft.com/office/drawing/2014/main" id="{E71ECEC0-CB24-45CD-B877-6BA257FEE614}"/>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CSV 방식은 인사 변경마다 재업로드 필요. 자동 커넥터도 제공. 동기화·조직 맥락 자체는 CCK 독점 기능 아님</a:t>
            </a:r>
          </a:p>
        </p:txBody>
      </p:sp>
    </p:spTree>
    <p:extLst>
      <p:ext uri="{BB962C8B-B14F-4D97-AF65-F5344CB8AC3E}">
        <p14:creationId xmlns:p14="http://schemas.microsoft.com/office/powerpoint/2010/main" val="805628474"/>
      </p:ext>
    </p:extLst>
  </p:cSld>
</p:sld>
</file>

<file path=ppt/slides/slide15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F9C114BC-6FB2-489B-BDE4-43A7000A64C5}"/>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9FB40BEE-63D4-472A-979C-B7F9D6920ECD}"/>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4D4ED952-5EB6-43AE-A0D7-268E22DD080A}"/>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AD570596-5557-4202-8585-C0D872F67319}"/>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A1B407BA-D3F3-4A7C-BF21-FC3FE47929B5}"/>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5EF49933-8348-47D0-8775-12756DCFE35C}"/>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2FBF7F89-CE94-45D4-819F-3147F2297B76}"/>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02BCF87D-B763-4B44-8911-CF15BB882841}"/>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36FF29FF-D141-4DF9-A3C6-8C9BDB4CAA60}"/>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5CFEAFB5-7FEF-48A9-BC71-35709DE68897}"/>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PF-C02 / CCK 세부 재구성 · 논리 서비스 설계</a:t>
            </a:r>
          </a:p>
        </p:txBody>
      </p:sp>
      <p:sp>
        <p:nvSpPr>
          <p:cNvPr id="2" name="">
            <a:extLst xmlns:a="http://schemas.openxmlformats.org/drawingml/2006/main">
              <a:ext uri="{FF2B5EF4-FFF2-40B4-BE49-F238E27FC236}">
                <a16:creationId xmlns:a16="http://schemas.microsoft.com/office/drawing/2014/main" id="{8693457B-A28C-4D45-9093-254D2A276E4E}"/>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Glean People connector · 세부 서비스 구조</a:t>
            </a:r>
          </a:p>
        </p:txBody>
      </p:sp>
      <p:sp>
        <p:nvSpPr>
          <p:cNvPr id="3" name="">
            <a:extLst xmlns:a="http://schemas.openxmlformats.org/drawingml/2006/main">
              <a:ext uri="{FF2B5EF4-FFF2-40B4-BE49-F238E27FC236}">
                <a16:creationId xmlns:a16="http://schemas.microsoft.com/office/drawing/2014/main" id="{5880DD24-40A9-47FA-9F8D-107EDCD38793}"/>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6343F86-D6F1-495A-A040-4A3FC4F5054D}"/>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F5B61C90-A990-44F6-ACE1-338ACCF1B222}"/>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152</a:t>
            </a:r>
          </a:p>
        </p:txBody>
      </p:sp>
      <p:sp>
        <p:nvSpPr>
          <p:cNvPr id="6" name="">
            <a:extLst xmlns:a="http://schemas.openxmlformats.org/drawingml/2006/main">
              <a:ext uri="{FF2B5EF4-FFF2-40B4-BE49-F238E27FC236}">
                <a16:creationId xmlns:a16="http://schemas.microsoft.com/office/drawing/2014/main" id="{FFD7C8E8-38D3-47A9-8CAE-A39EAF1759B9}"/>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운영기관·공급사·감사 자료의 업무 설명</a:t>
            </a:r>
          </a:p>
        </p:txBody>
      </p:sp>
      <p:sp>
        <p:nvSpPr>
          <p:cNvPr id="7" name="">
            <a:extLst xmlns:a="http://schemas.openxmlformats.org/drawingml/2006/main">
              <a:ext uri="{FF2B5EF4-FFF2-40B4-BE49-F238E27FC236}">
                <a16:creationId xmlns:a16="http://schemas.microsoft.com/office/drawing/2014/main" id="{BDCBE137-D184-4E19-B179-93B6E930B53C}"/>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64B33C50-7689-4370-8882-3FEAFB0414B3}"/>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6A6B9B84-0F2C-418F-AA91-6700E41B45C0}"/>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인물 검색 접점</a:t>
            </a:r>
          </a:p>
        </p:txBody>
      </p:sp>
      <p:sp>
        <p:nvSpPr>
          <p:cNvPr id="10" name="">
            <a:extLst xmlns:a="http://schemas.openxmlformats.org/drawingml/2006/main">
              <a:ext uri="{FF2B5EF4-FFF2-40B4-BE49-F238E27FC236}">
                <a16:creationId xmlns:a16="http://schemas.microsoft.com/office/drawing/2014/main" id="{E693D2EE-A4D1-4274-AED3-5F5C792B18D1}"/>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19FFAFB4-72D1-4E8C-A9B9-46CC41393CBC}"/>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ABF9797A-41EB-4CA9-AED8-1D2BE563B4EE}"/>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사람 ID·부서</a:t>
            </a:r>
          </a:p>
        </p:txBody>
      </p:sp>
      <p:sp>
        <p:nvSpPr>
          <p:cNvPr id="13" name="">
            <a:extLst xmlns:a="http://schemas.openxmlformats.org/drawingml/2006/main">
              <a:ext uri="{FF2B5EF4-FFF2-40B4-BE49-F238E27FC236}">
                <a16:creationId xmlns:a16="http://schemas.microsoft.com/office/drawing/2014/main" id="{62C58B67-261C-4AED-B174-EA2835B71B8A}"/>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B2761F61-EBF9-4E25-A7B0-134AA149D04F}"/>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E7AF1CE4-CA2E-47F6-AD0F-07F3A616C880}"/>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동기화 자료 조회</a:t>
            </a:r>
          </a:p>
        </p:txBody>
      </p:sp>
      <p:sp>
        <p:nvSpPr>
          <p:cNvPr id="16" name="">
            <a:extLst xmlns:a="http://schemas.openxmlformats.org/drawingml/2006/main">
              <a:ext uri="{FF2B5EF4-FFF2-40B4-BE49-F238E27FC236}">
                <a16:creationId xmlns:a16="http://schemas.microsoft.com/office/drawing/2014/main" id="{C48363D3-C6A7-4661-A209-FEC78C7B033C}"/>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F2919C37-47F2-4AA4-9EAD-B3F6B7D19840}"/>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24E5EA7C-69E0-42A5-AA44-9857244EE6E9}"/>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People 필드 매핑</a:t>
            </a:r>
          </a:p>
        </p:txBody>
      </p:sp>
      <p:sp>
        <p:nvSpPr>
          <p:cNvPr id="19" name="">
            <a:extLst xmlns:a="http://schemas.openxmlformats.org/drawingml/2006/main">
              <a:ext uri="{FF2B5EF4-FFF2-40B4-BE49-F238E27FC236}">
                <a16:creationId xmlns:a16="http://schemas.microsoft.com/office/drawing/2014/main" id="{033CCC7B-8A13-4811-B739-86577F50F45E}"/>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0D79123C-933D-4175-BDA2-F85B2659A753}"/>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43E6FC85-AB56-4C1C-A13E-63F7864FB966}"/>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중복·삭제 검사</a:t>
            </a:r>
          </a:p>
        </p:txBody>
      </p:sp>
      <p:sp>
        <p:nvSpPr>
          <p:cNvPr id="22" name="">
            <a:extLst xmlns:a="http://schemas.openxmlformats.org/drawingml/2006/main">
              <a:ext uri="{FF2B5EF4-FFF2-40B4-BE49-F238E27FC236}">
                <a16:creationId xmlns:a16="http://schemas.microsoft.com/office/drawing/2014/main" id="{8AEA5089-95C7-4EAC-BD51-B8F2AB082F20}"/>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37A9E2B6-E07F-4697-AEAB-192B26A356F4}"/>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DB26226F-8ED3-4F8C-B4DB-66E25A2AFF46}"/>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관리자 대사</a:t>
            </a:r>
          </a:p>
        </p:txBody>
      </p:sp>
      <p:sp>
        <p:nvSpPr>
          <p:cNvPr id="25" name="">
            <a:extLst xmlns:a="http://schemas.openxmlformats.org/drawingml/2006/main">
              <a:ext uri="{FF2B5EF4-FFF2-40B4-BE49-F238E27FC236}">
                <a16:creationId xmlns:a16="http://schemas.microsoft.com/office/drawing/2014/main" id="{2AE97D9A-EEC3-4840-B5B4-3910FB960872}"/>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F4581D01-F31F-4A5E-B723-59980E1C7A40}"/>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18855C2D-0CEF-4A07-B8F1-86177D374106}"/>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검색 문맥 제공</a:t>
            </a:r>
          </a:p>
        </p:txBody>
      </p:sp>
      <p:sp>
        <p:nvSpPr>
          <p:cNvPr id="28" name="">
            <a:extLst xmlns:a="http://schemas.openxmlformats.org/drawingml/2006/main">
              <a:ext uri="{FF2B5EF4-FFF2-40B4-BE49-F238E27FC236}">
                <a16:creationId xmlns:a16="http://schemas.microsoft.com/office/drawing/2014/main" id="{C061036E-DA0F-4AB3-BDC0-3BE5642BCB32}"/>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B4FD23CD-74DB-43CD-B8CD-3C3BA785C832}"/>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59DB0D36-E29C-485E-9EAD-9EDF6B7E47EB}"/>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전보·퇴직 반영</a:t>
            </a:r>
          </a:p>
        </p:txBody>
      </p:sp>
      <p:sp>
        <p:nvSpPr>
          <p:cNvPr id="31" name="">
            <a:extLst xmlns:a="http://schemas.openxmlformats.org/drawingml/2006/main">
              <a:ext uri="{FF2B5EF4-FFF2-40B4-BE49-F238E27FC236}">
                <a16:creationId xmlns:a16="http://schemas.microsoft.com/office/drawing/2014/main" id="{971D33C4-B5BE-49CD-914D-A324EFE9F283}"/>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E26EB50D-414D-4E8F-8FAF-D22A7CE79AF4}"/>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6540F5FA-90DB-470B-9C12-010B090F1B72}"/>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지정 직원 원천</a:t>
            </a:r>
          </a:p>
        </p:txBody>
      </p:sp>
      <p:sp>
        <p:nvSpPr>
          <p:cNvPr id="34" name="">
            <a:extLst xmlns:a="http://schemas.openxmlformats.org/drawingml/2006/main">
              <a:ext uri="{FF2B5EF4-FFF2-40B4-BE49-F238E27FC236}">
                <a16:creationId xmlns:a16="http://schemas.microsoft.com/office/drawing/2014/main" id="{7A968EA2-C4F4-49A9-9513-74FE1D0A9D8A}"/>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BA8A372C-82A4-4242-86FF-E6653E4D8AB5}"/>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EC1F995E-286D-490B-9C14-C5CEDE7EBD80}"/>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필드 변환·삭제 전파</a:t>
            </a:r>
          </a:p>
        </p:txBody>
      </p:sp>
      <p:sp>
        <p:nvSpPr>
          <p:cNvPr id="37" name="">
            <a:extLst xmlns:a="http://schemas.openxmlformats.org/drawingml/2006/main">
              <a:ext uri="{FF2B5EF4-FFF2-40B4-BE49-F238E27FC236}">
                <a16:creationId xmlns:a16="http://schemas.microsoft.com/office/drawing/2014/main" id="{4B5EB1E0-7B60-4B97-B16C-A32A7BA7E080}"/>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537E67DF-C550-4B94-9F0B-696BD632478A}"/>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C39A748C-0C97-455C-9312-83ABE11BAE56}"/>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사람·조직 색인</a:t>
            </a:r>
          </a:p>
        </p:txBody>
      </p:sp>
      <p:sp>
        <p:nvSpPr>
          <p:cNvPr id="40" name="">
            <a:extLst xmlns:a="http://schemas.openxmlformats.org/drawingml/2006/main">
              <a:ext uri="{FF2B5EF4-FFF2-40B4-BE49-F238E27FC236}">
                <a16:creationId xmlns:a16="http://schemas.microsoft.com/office/drawing/2014/main" id="{B7415796-7060-48CE-99F0-F7105964DE0A}"/>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DE5AD7F4-28BD-441D-A9A9-E7998B7C3550}"/>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48702688-DE3C-4F83-999E-6378547E4B9C}"/>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원천 우선순위</a:t>
            </a:r>
          </a:p>
        </p:txBody>
      </p:sp>
      <p:sp>
        <p:nvSpPr>
          <p:cNvPr id="52" name="">
            <a:extLst xmlns:a="http://schemas.openxmlformats.org/drawingml/2006/main">
              <a:ext uri="{FF2B5EF4-FFF2-40B4-BE49-F238E27FC236}">
                <a16:creationId xmlns:a16="http://schemas.microsoft.com/office/drawing/2014/main" id="{058BE7B6-1258-42FC-946D-5ACB8F27DE9C}"/>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710085762"/>
      </p:ext>
    </p:extLst>
  </p:cSld>
</p:sld>
</file>

<file path=ppt/slides/slide15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2DB0F554-49CE-464D-96AE-5689C94B3E08}"/>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PF-C02 / 논리 인터페이스·복구 설계</a:t>
            </a:r>
          </a:p>
        </p:txBody>
      </p:sp>
      <p:sp>
        <p:nvSpPr>
          <p:cNvPr id="2" name="">
            <a:extLst xmlns:a="http://schemas.openxmlformats.org/drawingml/2006/main">
              <a:ext uri="{FF2B5EF4-FFF2-40B4-BE49-F238E27FC236}">
                <a16:creationId xmlns:a16="http://schemas.microsoft.com/office/drawing/2014/main" id="{DF3B18CD-1C47-4479-BB15-CE48BCA5592F}"/>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Glean People connector · 데이터와 예외 처리</a:t>
            </a:r>
          </a:p>
        </p:txBody>
      </p:sp>
      <p:sp>
        <p:nvSpPr>
          <p:cNvPr id="3" name="">
            <a:extLst xmlns:a="http://schemas.openxmlformats.org/drawingml/2006/main">
              <a:ext uri="{FF2B5EF4-FFF2-40B4-BE49-F238E27FC236}">
                <a16:creationId xmlns:a16="http://schemas.microsoft.com/office/drawing/2014/main" id="{BEC3F87D-CB02-4C82-9E50-100626D2A002}"/>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E631F62-230B-4A56-B68A-C52B0DB8D1C2}"/>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1D545C30-94F3-4560-8A44-8DC8F7C6E9FB}"/>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153</a:t>
            </a:r>
          </a:p>
        </p:txBody>
      </p:sp>
      <p:sp>
        <p:nvSpPr>
          <p:cNvPr id="6" name="">
            <a:extLst xmlns:a="http://schemas.openxmlformats.org/drawingml/2006/main">
              <a:ext uri="{FF2B5EF4-FFF2-40B4-BE49-F238E27FC236}">
                <a16:creationId xmlns:a16="http://schemas.microsoft.com/office/drawing/2014/main" id="{F64BA5E6-8451-4796-9F0E-CCD42F554632}"/>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228E1B62-A9AC-4A20-920F-EEEB7372F2F3}"/>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EB0CC92B-59B4-4CF3-A844-E8DC082EF9FE}"/>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984462F2-2B0A-47B5-ACCB-2766C568BDED}"/>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사람 ID·부서·직책·관리자 필드 정의</a:t>
            </a:r>
          </a:p>
        </p:txBody>
      </p:sp>
      <p:sp>
        <p:nvSpPr>
          <p:cNvPr id="10" name="">
            <a:extLst xmlns:a="http://schemas.openxmlformats.org/drawingml/2006/main">
              <a:ext uri="{FF2B5EF4-FFF2-40B4-BE49-F238E27FC236}">
                <a16:creationId xmlns:a16="http://schemas.microsoft.com/office/drawing/2014/main" id="{EB6CCE85-6372-48D3-A3DC-893B33CF8AA2}"/>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5E2FD0B-B1D3-4FEC-A24F-A64330BD559F}"/>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F5FBCBEA-D828-44F3-8A01-00E218BC60BF}"/>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직원 필드</a:t>
            </a:r>
          </a:p>
        </p:txBody>
      </p:sp>
      <p:sp>
        <p:nvSpPr>
          <p:cNvPr id="13" name="">
            <a:extLst xmlns:a="http://schemas.openxmlformats.org/drawingml/2006/main">
              <a:ext uri="{FF2B5EF4-FFF2-40B4-BE49-F238E27FC236}">
                <a16:creationId xmlns:a16="http://schemas.microsoft.com/office/drawing/2014/main" id="{1E4E46E4-1EDF-4172-B9B4-B88C855FC11C}"/>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55EAABC-3253-4816-A7A4-4EDE6F02FC82}"/>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86B9D2C0-98FD-43AA-856C-9C16D3EBECDC}"/>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동기화 관계</a:t>
            </a:r>
          </a:p>
        </p:txBody>
      </p:sp>
      <p:sp>
        <p:nvSpPr>
          <p:cNvPr id="16" name="">
            <a:extLst xmlns:a="http://schemas.openxmlformats.org/drawingml/2006/main">
              <a:ext uri="{FF2B5EF4-FFF2-40B4-BE49-F238E27FC236}">
                <a16:creationId xmlns:a16="http://schemas.microsoft.com/office/drawing/2014/main" id="{F64FB923-17DF-4C1E-A365-3336E2EE05CF}"/>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69F3F4C-14D5-4C30-ADE1-E166F8BBC7E2}"/>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94604AB4-017C-4110-B660-26CA0B284730}"/>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검색 문맥</a:t>
            </a:r>
          </a:p>
        </p:txBody>
      </p:sp>
      <p:sp>
        <p:nvSpPr>
          <p:cNvPr id="19" name="">
            <a:extLst xmlns:a="http://schemas.openxmlformats.org/drawingml/2006/main">
              <a:ext uri="{FF2B5EF4-FFF2-40B4-BE49-F238E27FC236}">
                <a16:creationId xmlns:a16="http://schemas.microsoft.com/office/drawing/2014/main" id="{3197687B-A065-4DC6-9450-B107C2E33B05}"/>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B32BAE4-9D9F-4292-BCF6-67D0FD6BBC0D}"/>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64EA480D-B228-4EC2-B800-BD059817BA1E}"/>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검색 문맥</a:t>
            </a:r>
          </a:p>
        </p:txBody>
      </p:sp>
      <p:sp>
        <p:nvSpPr>
          <p:cNvPr id="22" name="">
            <a:extLst xmlns:a="http://schemas.openxmlformats.org/drawingml/2006/main">
              <a:ext uri="{FF2B5EF4-FFF2-40B4-BE49-F238E27FC236}">
                <a16:creationId xmlns:a16="http://schemas.microsoft.com/office/drawing/2014/main" id="{1533BC6C-C55B-4A52-85AF-397EA7CB903F}"/>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AA25629-2000-4A9F-A8E6-A4A2EFBC5F05}"/>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9C4E1292-E324-4B42-A3B6-E9E8A5781A14}"/>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직원 정보 결과</a:t>
            </a:r>
          </a:p>
        </p:txBody>
      </p:sp>
      <p:sp>
        <p:nvSpPr>
          <p:cNvPr id="25" name="">
            <a:extLst xmlns:a="http://schemas.openxmlformats.org/drawingml/2006/main">
              <a:ext uri="{FF2B5EF4-FFF2-40B4-BE49-F238E27FC236}">
                <a16:creationId xmlns:a16="http://schemas.microsoft.com/office/drawing/2014/main" id="{348F158A-E6BC-4F96-906D-F00B10154B26}"/>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644C78F5-B200-42BA-860D-8BC543049114}"/>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중복 계정·삭제 이벤트 누락·CSV 갱신 지연</a:t>
            </a:r>
          </a:p>
        </p:txBody>
      </p:sp>
      <p:sp>
        <p:nvSpPr>
          <p:cNvPr id="27" name="">
            <a:extLst xmlns:a="http://schemas.openxmlformats.org/drawingml/2006/main">
              <a:ext uri="{FF2B5EF4-FFF2-40B4-BE49-F238E27FC236}">
                <a16:creationId xmlns:a16="http://schemas.microsoft.com/office/drawing/2014/main" id="{ACC995CF-EB6C-446D-AA0E-5B61918D9AC6}"/>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60836120-12B8-4762-921F-DB0B80FAAAFB}"/>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원천 우선순위·중복·변경 대사</a:t>
            </a:r>
          </a:p>
        </p:txBody>
      </p:sp>
      <p:sp>
        <p:nvSpPr>
          <p:cNvPr id="29" name="">
            <a:extLst xmlns:a="http://schemas.openxmlformats.org/drawingml/2006/main">
              <a:ext uri="{FF2B5EF4-FFF2-40B4-BE49-F238E27FC236}">
                <a16:creationId xmlns:a16="http://schemas.microsoft.com/office/drawing/2014/main" id="{736F0504-8531-428F-BE07-8A630E1AF74C}"/>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BA53F346-B0E7-4440-95AC-FB607D3E9866}"/>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원천 변경·퇴직·삭제의 동기화 결과 대사</a:t>
            </a:r>
          </a:p>
        </p:txBody>
      </p:sp>
      <p:sp>
        <p:nvSpPr>
          <p:cNvPr id="31" name="">
            <a:extLst xmlns:a="http://schemas.openxmlformats.org/drawingml/2006/main">
              <a:ext uri="{FF2B5EF4-FFF2-40B4-BE49-F238E27FC236}">
                <a16:creationId xmlns:a16="http://schemas.microsoft.com/office/drawing/2014/main" id="{180AB89E-8710-4888-8935-9D2BACC8771E}"/>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1288D72F-A132-425F-BBBD-106E83015B13}"/>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원천–동기화–검색 결과의 전후 스냅샷과 지연</a:t>
            </a:r>
          </a:p>
        </p:txBody>
      </p:sp>
    </p:spTree>
    <p:extLst>
      <p:ext uri="{BB962C8B-B14F-4D97-AF65-F5344CB8AC3E}">
        <p14:creationId xmlns:p14="http://schemas.microsoft.com/office/powerpoint/2010/main" val="1398830481"/>
      </p:ext>
    </p:extLst>
  </p:cSld>
</p:sld>
</file>

<file path=ppt/slides/slide15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AF74ABA-A253-4DFE-BC67-1380F6AB2956}"/>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PF-C02 / CCK 비교·재현 시험 설계</a:t>
            </a:r>
          </a:p>
        </p:txBody>
      </p:sp>
      <p:sp>
        <p:nvSpPr>
          <p:cNvPr id="2" name="">
            <a:extLst xmlns:a="http://schemas.openxmlformats.org/drawingml/2006/main">
              <a:ext uri="{FF2B5EF4-FFF2-40B4-BE49-F238E27FC236}">
                <a16:creationId xmlns:a16="http://schemas.microsoft.com/office/drawing/2014/main" id="{81DD3D3C-F2F8-4413-A875-A0B56B83B321}"/>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Glean People connector · 벤치마킹</a:t>
            </a:r>
          </a:p>
        </p:txBody>
      </p:sp>
      <p:sp>
        <p:nvSpPr>
          <p:cNvPr id="3" name="">
            <a:extLst xmlns:a="http://schemas.openxmlformats.org/drawingml/2006/main">
              <a:ext uri="{FF2B5EF4-FFF2-40B4-BE49-F238E27FC236}">
                <a16:creationId xmlns:a16="http://schemas.microsoft.com/office/drawing/2014/main" id="{2635C5EC-A184-4158-B11E-C151D8AC740C}"/>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121CC0C-341A-4CD9-84F9-3813B576964F}"/>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C6339B13-DF14-4476-B76A-86184C653D62}"/>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154</a:t>
            </a:r>
          </a:p>
        </p:txBody>
      </p:sp>
      <p:sp>
        <p:nvSpPr>
          <p:cNvPr id="6" name="">
            <a:extLst xmlns:a="http://schemas.openxmlformats.org/drawingml/2006/main">
              <a:ext uri="{FF2B5EF4-FFF2-40B4-BE49-F238E27FC236}">
                <a16:creationId xmlns:a16="http://schemas.microsoft.com/office/drawing/2014/main" id="{AF786F0B-DDCE-4C92-8436-08390275418D}"/>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8D978481-EEE1-49D0-9C75-26EB3D49A608}"/>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사람 정보의 지정 원천 동기화</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조직 필드의 일관된 매핑</a:t>
            </a:r>
          </a:p>
        </p:txBody>
      </p:sp>
      <p:sp>
        <p:nvSpPr>
          <p:cNvPr id="8" name="">
            <a:extLst xmlns:a="http://schemas.openxmlformats.org/drawingml/2006/main">
              <a:ext uri="{FF2B5EF4-FFF2-40B4-BE49-F238E27FC236}">
                <a16:creationId xmlns:a16="http://schemas.microsoft.com/office/drawing/2014/main" id="{6829EB91-6B81-4FF9-A713-C954B8648C80}"/>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A271526E-A918-4BFE-823D-15B01AD060F7}"/>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복수 원천의 직원 중복</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삭제·퇴직·부서 변경 반영 누락</a:t>
            </a:r>
          </a:p>
        </p:txBody>
      </p:sp>
      <p:sp>
        <p:nvSpPr>
          <p:cNvPr id="10" name="">
            <a:extLst xmlns:a="http://schemas.openxmlformats.org/drawingml/2006/main">
              <a:ext uri="{FF2B5EF4-FFF2-40B4-BE49-F238E27FC236}">
                <a16:creationId xmlns:a16="http://schemas.microsoft.com/office/drawing/2014/main" id="{EB37E277-C402-446F-9984-DC3298EC8B8C}"/>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41B4E826-A67D-49A5-BCA8-1A34AA63E59A}"/>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원천 우선순위·중복·변경 대사</a:t>
            </a:r>
          </a:p>
        </p:txBody>
      </p:sp>
      <p:sp>
        <p:nvSpPr>
          <p:cNvPr id="12" name="">
            <a:extLst xmlns:a="http://schemas.openxmlformats.org/drawingml/2006/main">
              <a:ext uri="{FF2B5EF4-FFF2-40B4-BE49-F238E27FC236}">
                <a16:creationId xmlns:a16="http://schemas.microsoft.com/office/drawing/2014/main" id="{C57CF92A-59AF-4AA6-897D-4645DDBE0C1D}"/>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2E481BD8-30FB-4920-A5DA-4DC744F7B375}"/>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직원 원천의 부서·직책 변경을 검색에 반영</a:t>
            </a:r>
          </a:p>
        </p:txBody>
      </p:sp>
      <p:sp>
        <p:nvSpPr>
          <p:cNvPr id="14" name="">
            <a:extLst xmlns:a="http://schemas.openxmlformats.org/drawingml/2006/main">
              <a:ext uri="{FF2B5EF4-FFF2-40B4-BE49-F238E27FC236}">
                <a16:creationId xmlns:a16="http://schemas.microsoft.com/office/drawing/2014/main" id="{6961FF2A-5362-4A02-8231-4976353D2B34}"/>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0659F994-477B-4914-8EE0-A207A1E954CA}"/>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중복 계정·삭제 이벤트 누락·CSV 갱신 지연</a:t>
            </a:r>
          </a:p>
        </p:txBody>
      </p:sp>
      <p:sp>
        <p:nvSpPr>
          <p:cNvPr id="16" name="">
            <a:extLst xmlns:a="http://schemas.openxmlformats.org/drawingml/2006/main">
              <a:ext uri="{FF2B5EF4-FFF2-40B4-BE49-F238E27FC236}">
                <a16:creationId xmlns:a16="http://schemas.microsoft.com/office/drawing/2014/main" id="{C6186A0C-97EA-4C3B-8631-AA4E2C77ED29}"/>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9AEEE3A4-5BD8-40EA-B0C3-A87935D0031B}"/>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원천–동기화–검색 결과의 전후 스냅샷과 지연</a:t>
            </a:r>
          </a:p>
        </p:txBody>
      </p:sp>
    </p:spTree>
    <p:extLst>
      <p:ext uri="{BB962C8B-B14F-4D97-AF65-F5344CB8AC3E}">
        <p14:creationId xmlns:p14="http://schemas.microsoft.com/office/powerpoint/2010/main" val="1552265802"/>
      </p:ext>
    </p:extLst>
  </p:cSld>
</p:sld>
</file>

<file path=ppt/slides/slide15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DCA20BB-0828-4112-9E49-37E5E4CEED3A}"/>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PF-C03 / 2026-02-06 제안서 및 로컬 정리 / 고객 운영 검증 아님 / 국내</a:t>
            </a:r>
          </a:p>
        </p:txBody>
      </p:sp>
      <p:sp>
        <p:nvSpPr>
          <p:cNvPr id="2" name="">
            <a:extLst xmlns:a="http://schemas.openxmlformats.org/drawingml/2006/main">
              <a:ext uri="{FF2B5EF4-FFF2-40B4-BE49-F238E27FC236}">
                <a16:creationId xmlns:a16="http://schemas.microsoft.com/office/drawing/2014/main" id="{DB58C2BB-D16C-490D-A539-189A6168E5C2}"/>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더존 Amaranth 10 ONE AI</a:t>
            </a:r>
          </a:p>
        </p:txBody>
      </p:sp>
      <p:sp>
        <p:nvSpPr>
          <p:cNvPr id="3" name="">
            <a:extLst xmlns:a="http://schemas.openxmlformats.org/drawingml/2006/main">
              <a:ext uri="{FF2B5EF4-FFF2-40B4-BE49-F238E27FC236}">
                <a16:creationId xmlns:a16="http://schemas.microsoft.com/office/drawing/2014/main" id="{E745FF5C-7552-496C-972F-55846DB1D70B}"/>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32EC602-E941-4B05-886F-AE5AD38F3EC0}"/>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E8C85DE7-D1CF-4FB6-B5AE-E090BF3A7332}"/>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155</a:t>
            </a:r>
          </a:p>
        </p:txBody>
      </p:sp>
      <p:sp>
        <p:nvSpPr>
          <p:cNvPr id="6" name="">
            <a:extLst xmlns:a="http://schemas.openxmlformats.org/drawingml/2006/main">
              <a:ext uri="{FF2B5EF4-FFF2-40B4-BE49-F238E27FC236}">
                <a16:creationId xmlns:a16="http://schemas.microsoft.com/office/drawing/2014/main" id="{215526CA-2AFE-4C8F-81A0-5070A7213ACB}"/>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E8A33632-D7E5-49BC-9425-C4BF0EC16639}"/>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ERP·그룹웨어의 AI 업무 지원을 문서 검색과 행정 실행</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의 연결 관점에서 분석한 사례. 직원이 정보를 찾는 단계</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에서 근태·결재 등 업무 요청을 구성하는 단계로 확장하</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는 기능 범위.</a:t>
            </a:r>
          </a:p>
        </p:txBody>
      </p:sp>
      <p:sp>
        <p:nvSpPr>
          <p:cNvPr id="8" name="">
            <a:extLst xmlns:a="http://schemas.openxmlformats.org/drawingml/2006/main">
              <a:ext uri="{FF2B5EF4-FFF2-40B4-BE49-F238E27FC236}">
                <a16:creationId xmlns:a16="http://schemas.microsoft.com/office/drawing/2014/main" id="{3DD78017-032F-4D28-9CE9-D03580FB7995}"/>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F2DBE60F-759B-4F0F-8AA6-F8970035E8D6}"/>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로그인 직원과 업무 목적 확인, 필요한 문서·인사 정보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조회, 실행 요청 구조화, 사용자 확인, 시스템 등록·처리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결과 반환으로 재구성. 제품 소개의 기능 범위와 실제 도</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입 버전·연계 API 지원 여부를 구분하는 방식.</a:t>
            </a:r>
          </a:p>
        </p:txBody>
      </p:sp>
      <p:sp>
        <p:nvSpPr>
          <p:cNvPr id="10" name="">
            <a:extLst xmlns:a="http://schemas.openxmlformats.org/drawingml/2006/main">
              <a:ext uri="{FF2B5EF4-FFF2-40B4-BE49-F238E27FC236}">
                <a16:creationId xmlns:a16="http://schemas.microsoft.com/office/drawing/2014/main" id="{6C265C58-629C-4883-8253-2B6C95902D88}"/>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39DB19FD-CD13-459C-B55B-A911FB83242D}"/>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CCK에서는 기존 ERP·그룹웨어의 권한·결재 로직을 유지</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하며 AI가 입력과 초안을 지원하는 접근. 실행 대상·결재</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선·중복 요청·부분 실패·취소 조건을 시험하고 조회용 토</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큰과 쓰기 권한의 분리를 추가 개발 범위로 검토.</a:t>
            </a:r>
          </a:p>
        </p:txBody>
      </p:sp>
      <p:sp>
        <p:nvSpPr>
          <p:cNvPr id="12" name="">
            <a:extLst xmlns:a="http://schemas.openxmlformats.org/drawingml/2006/main">
              <a:ext uri="{FF2B5EF4-FFF2-40B4-BE49-F238E27FC236}">
                <a16:creationId xmlns:a16="http://schemas.microsoft.com/office/drawing/2014/main" id="{C225D6AA-6E32-4E03-BA59-CBC80B1BA2CC}"/>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FC66C619-5FCA-40E9-A7C6-563547623BD0}"/>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필수 항목·담당자·승인·API 처리 연결</a:t>
            </a:r>
          </a:p>
        </p:txBody>
      </p:sp>
      <p:sp>
        <p:nvSpPr>
          <p:cNvPr id="14" name="">
            <a:extLst xmlns:a="http://schemas.openxmlformats.org/drawingml/2006/main">
              <a:ext uri="{FF2B5EF4-FFF2-40B4-BE49-F238E27FC236}">
                <a16:creationId xmlns:a16="http://schemas.microsoft.com/office/drawing/2014/main" id="{37C3E833-A92E-4FC9-826E-A8E464357204}"/>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36A9EF03-E469-4DE4-BEFD-80D5D7BCA0D5}"/>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완료율·재작업·중복 처리의 기준선·비교 평가</a:t>
            </a:r>
          </a:p>
        </p:txBody>
      </p:sp>
      <p:sp>
        <p:nvSpPr>
          <p:cNvPr id="16" name="">
            <a:extLst xmlns:a="http://schemas.openxmlformats.org/drawingml/2006/main">
              <a:ext uri="{FF2B5EF4-FFF2-40B4-BE49-F238E27FC236}">
                <a16:creationId xmlns:a16="http://schemas.microsoft.com/office/drawing/2014/main" id="{ECD55641-B8C5-4CFD-A8C2-AA393B11DA49}"/>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6ABA1530-90A1-4DA8-9BF7-2B7100EA57D3}"/>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완료율·재작업·중복 처리</a:t>
            </a:r>
          </a:p>
        </p:txBody>
      </p:sp>
      <p:sp>
        <p:nvSpPr>
          <p:cNvPr id="18" name="">
            <a:extLst xmlns:a="http://schemas.openxmlformats.org/drawingml/2006/main">
              <a:ext uri="{FF2B5EF4-FFF2-40B4-BE49-F238E27FC236}">
                <a16:creationId xmlns:a16="http://schemas.microsoft.com/office/drawing/2014/main" id="{9206B048-565E-4917-88C0-C61A372ED23A}"/>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제품 기능 설명과 고객 구현·성과를 구분. 특정 ERP 의존성 및 TS 타 시스템 연계 공수는 미확인</a:t>
            </a:r>
          </a:p>
        </p:txBody>
      </p:sp>
    </p:spTree>
    <p:extLst>
      <p:ext uri="{BB962C8B-B14F-4D97-AF65-F5344CB8AC3E}">
        <p14:creationId xmlns:p14="http://schemas.microsoft.com/office/powerpoint/2010/main" val="1136267416"/>
      </p:ext>
    </p:extLst>
  </p:cSld>
</p:sld>
</file>

<file path=ppt/slides/slide156.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BD4D4C69-C163-4009-8E08-2A220343ADE1}"/>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05C5323A-9243-4295-A15C-7107711B1655}"/>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BCB1D654-6118-490B-8B03-C6EC03C6E31B}"/>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B3450843-32DA-4A18-A14C-E4099092A7FC}"/>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72539633-D12A-4549-89FE-28090824168B}"/>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40DA46F4-E72F-4C49-83ED-48D03BCBEE1D}"/>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34A63F97-7EAF-4B88-8FFA-83AB284B82E9}"/>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589ACBF0-5D53-46CE-B3F9-ACE14145C5DC}"/>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ED39CB9F-6996-40F9-96C1-4B5C2AB973B5}"/>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74F9DD69-9F87-46A8-AF72-055C04C6E89D}"/>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PF-C03 / CCK 세부 재구성 · 논리 서비스 설계</a:t>
            </a:r>
          </a:p>
        </p:txBody>
      </p:sp>
      <p:sp>
        <p:nvSpPr>
          <p:cNvPr id="2" name="">
            <a:extLst xmlns:a="http://schemas.openxmlformats.org/drawingml/2006/main">
              <a:ext uri="{FF2B5EF4-FFF2-40B4-BE49-F238E27FC236}">
                <a16:creationId xmlns:a16="http://schemas.microsoft.com/office/drawing/2014/main" id="{14D3E521-CAB6-4EEB-8A05-57108D8CA5F8}"/>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더존 Amaranth 10 ONE AI · 세부 서비스 구조</a:t>
            </a:r>
          </a:p>
        </p:txBody>
      </p:sp>
      <p:sp>
        <p:nvSpPr>
          <p:cNvPr id="3" name="">
            <a:extLst xmlns:a="http://schemas.openxmlformats.org/drawingml/2006/main">
              <a:ext uri="{FF2B5EF4-FFF2-40B4-BE49-F238E27FC236}">
                <a16:creationId xmlns:a16="http://schemas.microsoft.com/office/drawing/2014/main" id="{199A7E48-B977-4ABF-8682-C6BBA2F3CA4F}"/>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7B3FAF8-E44B-454A-9664-E3ADCD1AE8EE}"/>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D98DB3A6-122E-4F13-8A37-8879FDDD4BE9}"/>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156</a:t>
            </a:r>
          </a:p>
        </p:txBody>
      </p:sp>
      <p:sp>
        <p:nvSpPr>
          <p:cNvPr id="6" name="">
            <a:extLst xmlns:a="http://schemas.openxmlformats.org/drawingml/2006/main">
              <a:ext uri="{FF2B5EF4-FFF2-40B4-BE49-F238E27FC236}">
                <a16:creationId xmlns:a16="http://schemas.microsoft.com/office/drawing/2014/main" id="{E28E7A08-0E42-48FB-B013-280D0271BB7E}"/>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운영기관·공급사·감사 자료의 업무 설명</a:t>
            </a:r>
          </a:p>
        </p:txBody>
      </p:sp>
      <p:sp>
        <p:nvSpPr>
          <p:cNvPr id="7" name="">
            <a:extLst xmlns:a="http://schemas.openxmlformats.org/drawingml/2006/main">
              <a:ext uri="{FF2B5EF4-FFF2-40B4-BE49-F238E27FC236}">
                <a16:creationId xmlns:a16="http://schemas.microsoft.com/office/drawing/2014/main" id="{4E05C9DC-EFE0-4F57-B4D0-3684C3E3155D}"/>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69A83151-DA5F-403B-8979-EFB5D405CE53}"/>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76EF900C-25BC-46EA-A5BE-334A68DE3F7F}"/>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ERP·그룹웨어</a:t>
            </a:r>
          </a:p>
        </p:txBody>
      </p:sp>
      <p:sp>
        <p:nvSpPr>
          <p:cNvPr id="10" name="">
            <a:extLst xmlns:a="http://schemas.openxmlformats.org/drawingml/2006/main">
              <a:ext uri="{FF2B5EF4-FFF2-40B4-BE49-F238E27FC236}">
                <a16:creationId xmlns:a16="http://schemas.microsoft.com/office/drawing/2014/main" id="{5096780F-8D5F-4A56-9A29-AEB8991DE175}"/>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F09BABBB-60B3-4446-A0A2-22F1588F15A4}"/>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51E52246-49B4-40C8-8631-5D9F87171855}"/>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직원·업무·권한</a:t>
            </a:r>
          </a:p>
        </p:txBody>
      </p:sp>
      <p:sp>
        <p:nvSpPr>
          <p:cNvPr id="13" name="">
            <a:extLst xmlns:a="http://schemas.openxmlformats.org/drawingml/2006/main">
              <a:ext uri="{FF2B5EF4-FFF2-40B4-BE49-F238E27FC236}">
                <a16:creationId xmlns:a16="http://schemas.microsoft.com/office/drawing/2014/main" id="{65D2B509-9D5D-4B67-B3CE-11B1670DA63B}"/>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22C09272-0E48-4EB4-9B39-E2BC91C89022}"/>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E30ED398-6F09-483E-AD41-2B1137716ADB}"/>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문서·근태 조회</a:t>
            </a:r>
          </a:p>
        </p:txBody>
      </p:sp>
      <p:sp>
        <p:nvSpPr>
          <p:cNvPr id="16" name="">
            <a:extLst xmlns:a="http://schemas.openxmlformats.org/drawingml/2006/main">
              <a:ext uri="{FF2B5EF4-FFF2-40B4-BE49-F238E27FC236}">
                <a16:creationId xmlns:a16="http://schemas.microsoft.com/office/drawing/2014/main" id="{20AB0616-044A-4A67-853D-09D122E58B5F}"/>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7F0D9C01-464A-4780-9CFA-3ACFE0B55640}"/>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EA5403F6-0CE2-48C5-902D-FB24A401DD19}"/>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ONE AI 구조화</a:t>
            </a:r>
          </a:p>
        </p:txBody>
      </p:sp>
      <p:sp>
        <p:nvSpPr>
          <p:cNvPr id="19" name="">
            <a:extLst xmlns:a="http://schemas.openxmlformats.org/drawingml/2006/main">
              <a:ext uri="{FF2B5EF4-FFF2-40B4-BE49-F238E27FC236}">
                <a16:creationId xmlns:a16="http://schemas.microsoft.com/office/drawing/2014/main" id="{55CF6DA6-8EF1-4C0E-873C-D181DA1BAC44}"/>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1E011A93-F100-4A58-8757-5E5D2DA297E0}"/>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6D08D32B-2B85-4F3A-977A-05B8F0D3B230}"/>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필드·권한 검사</a:t>
            </a:r>
          </a:p>
        </p:txBody>
      </p:sp>
      <p:sp>
        <p:nvSpPr>
          <p:cNvPr id="22" name="">
            <a:extLst xmlns:a="http://schemas.openxmlformats.org/drawingml/2006/main">
              <a:ext uri="{FF2B5EF4-FFF2-40B4-BE49-F238E27FC236}">
                <a16:creationId xmlns:a16="http://schemas.microsoft.com/office/drawing/2014/main" id="{78E4F62D-3F5F-4323-BC37-4331AFEC4ACE}"/>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CBD27A85-6470-498B-861E-6FF882B8D16B}"/>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B68A6D43-AB1C-45CC-8138-8C0B8BA9413D}"/>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사용자·결재자</a:t>
            </a:r>
          </a:p>
        </p:txBody>
      </p:sp>
      <p:sp>
        <p:nvSpPr>
          <p:cNvPr id="25" name="">
            <a:extLst xmlns:a="http://schemas.openxmlformats.org/drawingml/2006/main">
              <a:ext uri="{FF2B5EF4-FFF2-40B4-BE49-F238E27FC236}">
                <a16:creationId xmlns:a16="http://schemas.microsoft.com/office/drawing/2014/main" id="{0111E3D5-15DB-40C7-9CCC-7A6C2D42F0DA}"/>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E3661D17-A35E-4927-BEE3-4B51CFE2AF99}"/>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4F698505-A370-4D4D-93FA-E12A1AA2990A}"/>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근태·전자결재</a:t>
            </a:r>
          </a:p>
        </p:txBody>
      </p:sp>
      <p:sp>
        <p:nvSpPr>
          <p:cNvPr id="28" name="">
            <a:extLst xmlns:a="http://schemas.openxmlformats.org/drawingml/2006/main">
              <a:ext uri="{FF2B5EF4-FFF2-40B4-BE49-F238E27FC236}">
                <a16:creationId xmlns:a16="http://schemas.microsoft.com/office/drawing/2014/main" id="{E99D75D2-0955-43F1-9DCF-AAB36668A4DD}"/>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269F5A18-F04F-4D9B-9DD6-FA30DB5B42C4}"/>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0124DFD8-3627-4300-A849-A4393183FF3C}"/>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실행 결과 확인</a:t>
            </a:r>
          </a:p>
        </p:txBody>
      </p:sp>
      <p:sp>
        <p:nvSpPr>
          <p:cNvPr id="31" name="">
            <a:extLst xmlns:a="http://schemas.openxmlformats.org/drawingml/2006/main">
              <a:ext uri="{FF2B5EF4-FFF2-40B4-BE49-F238E27FC236}">
                <a16:creationId xmlns:a16="http://schemas.microsoft.com/office/drawing/2014/main" id="{AEF0CD46-36F2-4274-AD3F-D999C9AF4372}"/>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6BE93560-F41F-42A8-B830-47D34F5F1E3B}"/>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D676A049-3435-4B7B-A89E-985C8D0AAA0C}"/>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ERP·인사·문서</a:t>
            </a:r>
          </a:p>
        </p:txBody>
      </p:sp>
      <p:sp>
        <p:nvSpPr>
          <p:cNvPr id="34" name="">
            <a:extLst xmlns:a="http://schemas.openxmlformats.org/drawingml/2006/main">
              <a:ext uri="{FF2B5EF4-FFF2-40B4-BE49-F238E27FC236}">
                <a16:creationId xmlns:a16="http://schemas.microsoft.com/office/drawing/2014/main" id="{3FDFD04A-3497-45D2-9D56-04DDADB0DC05}"/>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78F8FB6E-6020-4FCD-A068-02EF3260DF1F}"/>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BAEBC2AF-1AC6-4C29-9DED-37A42FD58CE9}"/>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업무 식별자 연결</a:t>
            </a:r>
          </a:p>
        </p:txBody>
      </p:sp>
      <p:sp>
        <p:nvSpPr>
          <p:cNvPr id="37" name="">
            <a:extLst xmlns:a="http://schemas.openxmlformats.org/drawingml/2006/main">
              <a:ext uri="{FF2B5EF4-FFF2-40B4-BE49-F238E27FC236}">
                <a16:creationId xmlns:a16="http://schemas.microsoft.com/office/drawing/2014/main" id="{8FB88AD1-D648-4988-A17E-B84B9A44C6A5}"/>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EC9AE55C-37D4-4CF0-855C-D1941965B1F5}"/>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5D92BD02-E1D7-4CF2-A9BE-9B2494AD34A7}"/>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초안·처리 상태</a:t>
            </a:r>
          </a:p>
        </p:txBody>
      </p:sp>
      <p:sp>
        <p:nvSpPr>
          <p:cNvPr id="40" name="">
            <a:extLst xmlns:a="http://schemas.openxmlformats.org/drawingml/2006/main">
              <a:ext uri="{FF2B5EF4-FFF2-40B4-BE49-F238E27FC236}">
                <a16:creationId xmlns:a16="http://schemas.microsoft.com/office/drawing/2014/main" id="{3DE0BB61-FFED-4EF4-ACDB-89199BA099AD}"/>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DBA32B19-5EE0-431E-A320-806FBAE0BBA4}"/>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768ADCC1-ED94-4C3B-BE42-0C5A77EDCCC0}"/>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실행·승인 정책</a:t>
            </a:r>
          </a:p>
        </p:txBody>
      </p:sp>
      <p:sp>
        <p:nvSpPr>
          <p:cNvPr id="52" name="">
            <a:extLst xmlns:a="http://schemas.openxmlformats.org/drawingml/2006/main">
              <a:ext uri="{FF2B5EF4-FFF2-40B4-BE49-F238E27FC236}">
                <a16:creationId xmlns:a16="http://schemas.microsoft.com/office/drawing/2014/main" id="{F00E46EB-A8CB-4E7A-85D0-82F4520CB01A}"/>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480272135"/>
      </p:ext>
    </p:extLst>
  </p:cSld>
</p:sld>
</file>

<file path=ppt/slides/slide157.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9FDA3A5A-E9DE-40B5-8A89-826E3F59BFAB}"/>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PF-C03 / 논리 인터페이스·복구 설계</a:t>
            </a:r>
          </a:p>
        </p:txBody>
      </p:sp>
      <p:sp>
        <p:nvSpPr>
          <p:cNvPr id="2" name="">
            <a:extLst xmlns:a="http://schemas.openxmlformats.org/drawingml/2006/main">
              <a:ext uri="{FF2B5EF4-FFF2-40B4-BE49-F238E27FC236}">
                <a16:creationId xmlns:a16="http://schemas.microsoft.com/office/drawing/2014/main" id="{C3BE8990-35C1-4053-AE03-4F45344E69D7}"/>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더존 Amaranth 10 ONE AI · 데이터와 예외 처리</a:t>
            </a:r>
          </a:p>
        </p:txBody>
      </p:sp>
      <p:sp>
        <p:nvSpPr>
          <p:cNvPr id="3" name="">
            <a:extLst xmlns:a="http://schemas.openxmlformats.org/drawingml/2006/main">
              <a:ext uri="{FF2B5EF4-FFF2-40B4-BE49-F238E27FC236}">
                <a16:creationId xmlns:a16="http://schemas.microsoft.com/office/drawing/2014/main" id="{82954E09-4845-4282-BEE9-EF8B87DC89B7}"/>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540054E-CFC5-4AB4-81EE-514A90A4E22D}"/>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7C472A23-A38F-46E4-9AA3-3B49B4C91200}"/>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157</a:t>
            </a:r>
          </a:p>
        </p:txBody>
      </p:sp>
      <p:sp>
        <p:nvSpPr>
          <p:cNvPr id="6" name="">
            <a:extLst xmlns:a="http://schemas.openxmlformats.org/drawingml/2006/main">
              <a:ext uri="{FF2B5EF4-FFF2-40B4-BE49-F238E27FC236}">
                <a16:creationId xmlns:a16="http://schemas.microsoft.com/office/drawing/2014/main" id="{1E08FC15-A5B9-40A3-A52B-49ECB3AF3F4F}"/>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2A9BCFB2-0D62-4207-A590-5B0369D811C3}"/>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2EAEA5A8-E0F0-47FE-86F8-2C73CDA90088}"/>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CC876B82-2CE4-4F0A-BAC0-D8A3FF6D336E}"/>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직원·대상 업무·실행 권한 확인</a:t>
            </a:r>
          </a:p>
        </p:txBody>
      </p:sp>
      <p:sp>
        <p:nvSpPr>
          <p:cNvPr id="10" name="">
            <a:extLst xmlns:a="http://schemas.openxmlformats.org/drawingml/2006/main">
              <a:ext uri="{FF2B5EF4-FFF2-40B4-BE49-F238E27FC236}">
                <a16:creationId xmlns:a16="http://schemas.microsoft.com/office/drawing/2014/main" id="{31BF8ECE-2973-4E3F-8A43-B2E6A5BB619E}"/>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6D7A7DB-0C67-42FC-8CB6-2F6C6100714F}"/>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6AE3C313-2BB5-42A7-8FCD-46C92BB2E8A5}"/>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업무 요청</a:t>
            </a:r>
          </a:p>
        </p:txBody>
      </p:sp>
      <p:sp>
        <p:nvSpPr>
          <p:cNvPr id="13" name="">
            <a:extLst xmlns:a="http://schemas.openxmlformats.org/drawingml/2006/main">
              <a:ext uri="{FF2B5EF4-FFF2-40B4-BE49-F238E27FC236}">
                <a16:creationId xmlns:a16="http://schemas.microsoft.com/office/drawing/2014/main" id="{22DC1905-DB24-4009-895E-27D5B15CC472}"/>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2683B2E-EF79-446A-A894-73873C32AA50}"/>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A19862ED-16A3-4039-81AB-F1EDEC4142A7}"/>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관련 문맥</a:t>
            </a:r>
          </a:p>
        </p:txBody>
      </p:sp>
      <p:sp>
        <p:nvSpPr>
          <p:cNvPr id="16" name="">
            <a:extLst xmlns:a="http://schemas.openxmlformats.org/drawingml/2006/main">
              <a:ext uri="{FF2B5EF4-FFF2-40B4-BE49-F238E27FC236}">
                <a16:creationId xmlns:a16="http://schemas.microsoft.com/office/drawing/2014/main" id="{00A0E6B2-74E7-41B5-BFBB-A6D299C27979}"/>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0502CA7-9237-467F-A64D-65B90B568F42}"/>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2C41D6E0-7BB5-4322-94A7-7F8B37522B4C}"/>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업무 초안</a:t>
            </a:r>
          </a:p>
        </p:txBody>
      </p:sp>
      <p:sp>
        <p:nvSpPr>
          <p:cNvPr id="19" name="">
            <a:extLst xmlns:a="http://schemas.openxmlformats.org/drawingml/2006/main">
              <a:ext uri="{FF2B5EF4-FFF2-40B4-BE49-F238E27FC236}">
                <a16:creationId xmlns:a16="http://schemas.microsoft.com/office/drawing/2014/main" id="{BAA39F19-6E9A-4A5C-86F6-6454C4C55CC7}"/>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F07B731-AD94-47A6-A748-72BAB9557CA6}"/>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6F16C68D-B792-4264-B938-0D8DB6C071C9}"/>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업무 초안</a:t>
            </a:r>
          </a:p>
        </p:txBody>
      </p:sp>
      <p:sp>
        <p:nvSpPr>
          <p:cNvPr id="22" name="">
            <a:extLst xmlns:a="http://schemas.openxmlformats.org/drawingml/2006/main">
              <a:ext uri="{FF2B5EF4-FFF2-40B4-BE49-F238E27FC236}">
                <a16:creationId xmlns:a16="http://schemas.microsoft.com/office/drawing/2014/main" id="{1F84D5B7-5B4E-48D8-8CA1-457889DCACCB}"/>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791D3DA-484C-426C-A13D-188ADD6718A3}"/>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760D7AB4-E463-4DA3-910C-D254AF8DF554}"/>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근태·결재 결과</a:t>
            </a:r>
          </a:p>
        </p:txBody>
      </p:sp>
      <p:sp>
        <p:nvSpPr>
          <p:cNvPr id="25" name="">
            <a:extLst xmlns:a="http://schemas.openxmlformats.org/drawingml/2006/main">
              <a:ext uri="{FF2B5EF4-FFF2-40B4-BE49-F238E27FC236}">
                <a16:creationId xmlns:a16="http://schemas.microsoft.com/office/drawing/2014/main" id="{73EE2FA3-94F4-4EC2-9808-9B1364BA75DE}"/>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5B450ECF-F1C6-4251-9FCD-983880A3A82B}"/>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잔여일수 부족·전결권 부재·중복 상신</a:t>
            </a:r>
          </a:p>
        </p:txBody>
      </p:sp>
      <p:sp>
        <p:nvSpPr>
          <p:cNvPr id="27" name="">
            <a:extLst xmlns:a="http://schemas.openxmlformats.org/drawingml/2006/main">
              <a:ext uri="{FF2B5EF4-FFF2-40B4-BE49-F238E27FC236}">
                <a16:creationId xmlns:a16="http://schemas.microsoft.com/office/drawing/2014/main" id="{74EE41CC-CD4F-47FE-8530-4F7FD063AD62}"/>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889457C4-9AAF-4F2B-9A5E-0EC0A5F1C0DD}"/>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도입본 기능·승인·결과 확인</a:t>
            </a:r>
          </a:p>
        </p:txBody>
      </p:sp>
      <p:sp>
        <p:nvSpPr>
          <p:cNvPr id="29" name="">
            <a:extLst xmlns:a="http://schemas.openxmlformats.org/drawingml/2006/main">
              <a:ext uri="{FF2B5EF4-FFF2-40B4-BE49-F238E27FC236}">
                <a16:creationId xmlns:a16="http://schemas.microsoft.com/office/drawing/2014/main" id="{BCF5ABFB-9329-4A92-BC5F-A172F0BC23FD}"/>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D4DD8465-73E7-423B-B881-B083AACA95B4}"/>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도입본 기능·승인·실행 결과의 비교 시험</a:t>
            </a:r>
          </a:p>
        </p:txBody>
      </p:sp>
      <p:sp>
        <p:nvSpPr>
          <p:cNvPr id="31" name="">
            <a:extLst xmlns:a="http://schemas.openxmlformats.org/drawingml/2006/main">
              <a:ext uri="{FF2B5EF4-FFF2-40B4-BE49-F238E27FC236}">
                <a16:creationId xmlns:a16="http://schemas.microsoft.com/office/drawing/2014/main" id="{5851ABC2-1AC1-4D3D-867E-1D9592A5CF4F}"/>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1E8E6E7B-86E5-4485-BD64-E52EF6B3981F}"/>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도입본 기능 목록·사용자 확인·원천 접수 결과</a:t>
            </a:r>
          </a:p>
        </p:txBody>
      </p:sp>
    </p:spTree>
    <p:extLst>
      <p:ext uri="{BB962C8B-B14F-4D97-AF65-F5344CB8AC3E}">
        <p14:creationId xmlns:p14="http://schemas.microsoft.com/office/powerpoint/2010/main" val="1769630827"/>
      </p:ext>
    </p:extLst>
  </p:cSld>
</p:sld>
</file>

<file path=ppt/slides/slide158.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206345A-D559-4F5D-A2E3-7870C0B7F81B}"/>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PF-C03 / CCK 비교·재현 시험 설계</a:t>
            </a:r>
          </a:p>
        </p:txBody>
      </p:sp>
      <p:sp>
        <p:nvSpPr>
          <p:cNvPr id="2" name="">
            <a:extLst xmlns:a="http://schemas.openxmlformats.org/drawingml/2006/main">
              <a:ext uri="{FF2B5EF4-FFF2-40B4-BE49-F238E27FC236}">
                <a16:creationId xmlns:a16="http://schemas.microsoft.com/office/drawing/2014/main" id="{F235A4F2-19D8-4E91-BFF2-66EEBF781EE1}"/>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더존 Amaranth 10 ONE AI · 벤치마킹</a:t>
            </a:r>
          </a:p>
        </p:txBody>
      </p:sp>
      <p:sp>
        <p:nvSpPr>
          <p:cNvPr id="3" name="">
            <a:extLst xmlns:a="http://schemas.openxmlformats.org/drawingml/2006/main">
              <a:ext uri="{FF2B5EF4-FFF2-40B4-BE49-F238E27FC236}">
                <a16:creationId xmlns:a16="http://schemas.microsoft.com/office/drawing/2014/main" id="{A2AD277B-A057-4ECB-813E-3D7FB44F2F24}"/>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C2695F7-28D8-468C-9AD5-836A935268A5}"/>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84A39B5E-DE25-4481-81B7-CCF09DC14A98}"/>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158</a:t>
            </a:r>
          </a:p>
        </p:txBody>
      </p:sp>
      <p:sp>
        <p:nvSpPr>
          <p:cNvPr id="6" name="">
            <a:extLst xmlns:a="http://schemas.openxmlformats.org/drawingml/2006/main">
              <a:ext uri="{FF2B5EF4-FFF2-40B4-BE49-F238E27FC236}">
                <a16:creationId xmlns:a16="http://schemas.microsoft.com/office/drawing/2014/main" id="{B724EC39-8060-40B7-98F8-AC4E406A75C7}"/>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성공·성립 조건</a:t>
            </a:r>
          </a:p>
        </p:txBody>
      </p:sp>
      <p:sp>
        <p:nvSpPr>
          <p:cNvPr id="7" name="">
            <a:extLst xmlns:a="http://schemas.openxmlformats.org/drawingml/2006/main">
              <a:ext uri="{FF2B5EF4-FFF2-40B4-BE49-F238E27FC236}">
                <a16:creationId xmlns:a16="http://schemas.microsoft.com/office/drawing/2014/main" id="{6393B7A0-9CA2-43A9-8675-7A86FFBAE23C}"/>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ERP·그룹웨어의 업무 문맥</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문서·근태·결재 접점 연결</a:t>
            </a:r>
          </a:p>
        </p:txBody>
      </p:sp>
      <p:sp>
        <p:nvSpPr>
          <p:cNvPr id="8" name="">
            <a:extLst xmlns:a="http://schemas.openxmlformats.org/drawingml/2006/main">
              <a:ext uri="{FF2B5EF4-FFF2-40B4-BE49-F238E27FC236}">
                <a16:creationId xmlns:a16="http://schemas.microsoft.com/office/drawing/2014/main" id="{2EBB2520-5CC1-4E42-B825-F956E0B72358}"/>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위험·한계</a:t>
            </a:r>
          </a:p>
        </p:txBody>
      </p:sp>
      <p:sp>
        <p:nvSpPr>
          <p:cNvPr id="9" name="">
            <a:extLst xmlns:a="http://schemas.openxmlformats.org/drawingml/2006/main">
              <a:ext uri="{FF2B5EF4-FFF2-40B4-BE49-F238E27FC236}">
                <a16:creationId xmlns:a16="http://schemas.microsoft.com/office/drawing/2014/main" id="{9F7637D2-A58B-4941-96B2-B0A537B77C7D}"/>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제품 소개와 실제 고객 동작 차이</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업무 실행 권한의 과도한 위임</a:t>
            </a:r>
          </a:p>
        </p:txBody>
      </p:sp>
      <p:sp>
        <p:nvSpPr>
          <p:cNvPr id="10" name="">
            <a:extLst xmlns:a="http://schemas.openxmlformats.org/drawingml/2006/main">
              <a:ext uri="{FF2B5EF4-FFF2-40B4-BE49-F238E27FC236}">
                <a16:creationId xmlns:a16="http://schemas.microsoft.com/office/drawing/2014/main" id="{FD9BC494-6E23-4C1D-B0FF-50255BB57812}"/>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36CED9ED-2F83-48A3-A816-CA1AE69107B4}"/>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도입본 기능·승인·결과 확인</a:t>
            </a:r>
          </a:p>
        </p:txBody>
      </p:sp>
      <p:sp>
        <p:nvSpPr>
          <p:cNvPr id="12" name="">
            <a:extLst xmlns:a="http://schemas.openxmlformats.org/drawingml/2006/main">
              <a:ext uri="{FF2B5EF4-FFF2-40B4-BE49-F238E27FC236}">
                <a16:creationId xmlns:a16="http://schemas.microsoft.com/office/drawing/2014/main" id="{BAC45F3A-55FC-478C-9F7C-C5A8CEB3AA7B}"/>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C94232E4-A51B-4D1C-9A1A-6E8D8E2360D3}"/>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근태 요청을 확인하고 해당 전자결재 절차로 연결</a:t>
            </a:r>
          </a:p>
        </p:txBody>
      </p:sp>
      <p:sp>
        <p:nvSpPr>
          <p:cNvPr id="14" name="">
            <a:extLst xmlns:a="http://schemas.openxmlformats.org/drawingml/2006/main">
              <a:ext uri="{FF2B5EF4-FFF2-40B4-BE49-F238E27FC236}">
                <a16:creationId xmlns:a16="http://schemas.microsoft.com/office/drawing/2014/main" id="{0A423765-24C7-43F7-82FB-58B51C40E4B1}"/>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A51AB81E-A747-44EE-8199-149991F974B1}"/>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잔여일수 부족·전결권 부재·중복 상신</a:t>
            </a:r>
          </a:p>
        </p:txBody>
      </p:sp>
      <p:sp>
        <p:nvSpPr>
          <p:cNvPr id="16" name="">
            <a:extLst xmlns:a="http://schemas.openxmlformats.org/drawingml/2006/main">
              <a:ext uri="{FF2B5EF4-FFF2-40B4-BE49-F238E27FC236}">
                <a16:creationId xmlns:a16="http://schemas.microsoft.com/office/drawing/2014/main" id="{6683C04C-0F79-4082-8EC1-0E10FFE19D68}"/>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51F45FB2-1A68-44F0-9F21-8566D56CD805}"/>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도입본 기능 목록·사용자 확인·원천 접수 결과</a:t>
            </a:r>
          </a:p>
        </p:txBody>
      </p:sp>
    </p:spTree>
    <p:extLst>
      <p:ext uri="{BB962C8B-B14F-4D97-AF65-F5344CB8AC3E}">
        <p14:creationId xmlns:p14="http://schemas.microsoft.com/office/powerpoint/2010/main" val="2025266457"/>
      </p:ext>
    </p:extLst>
  </p:cSld>
</p:sld>
</file>

<file path=ppt/slides/slide159.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C5ED018-0D81-4DA5-B7A5-FAA4216BEE49}"/>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PF31 / 감사 지적·개선 / 해외</a:t>
            </a:r>
          </a:p>
        </p:txBody>
      </p:sp>
      <p:sp>
        <p:nvSpPr>
          <p:cNvPr id="2" name="">
            <a:extLst xmlns:a="http://schemas.openxmlformats.org/drawingml/2006/main">
              <a:ext uri="{FF2B5EF4-FFF2-40B4-BE49-F238E27FC236}">
                <a16:creationId xmlns:a16="http://schemas.microsoft.com/office/drawing/2014/main" id="{E9408EB9-7C0D-444E-929A-9168911EE122}"/>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뉴욕 MyCity 챗봇 감사</a:t>
            </a:r>
          </a:p>
        </p:txBody>
      </p:sp>
      <p:sp>
        <p:nvSpPr>
          <p:cNvPr id="3" name="">
            <a:extLst xmlns:a="http://schemas.openxmlformats.org/drawingml/2006/main">
              <a:ext uri="{FF2B5EF4-FFF2-40B4-BE49-F238E27FC236}">
                <a16:creationId xmlns:a16="http://schemas.microsoft.com/office/drawing/2014/main" id="{5513BB8C-2BAD-4320-9A35-81D162B75CC6}"/>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6DE545C-7965-4636-8088-3A20DA0EF290}"/>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B1B844CF-9F3F-4C21-A740-F6AE5EAF181C}"/>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159</a:t>
            </a:r>
          </a:p>
        </p:txBody>
      </p:sp>
      <p:sp>
        <p:nvSpPr>
          <p:cNvPr id="6" name="">
            <a:extLst xmlns:a="http://schemas.openxmlformats.org/drawingml/2006/main">
              <a:ext uri="{FF2B5EF4-FFF2-40B4-BE49-F238E27FC236}">
                <a16:creationId xmlns:a16="http://schemas.microsoft.com/office/drawing/2014/main" id="{9D04FB08-AD6A-4DAF-9AE7-6183565760CA}"/>
              </a:ext>
            </a:extLst>
          </p:cNvPr>
          <p:cNvSpPr>
            <a:spLocks xmlns:a="http://schemas.openxmlformats.org/drawingml/2006/main" noGrp="1"/>
          </p:cNvSpPr>
          <p:nvPr/>
        </p:nvSpPr>
        <p:spPr>
          <a:xfrm xmlns:a="http://schemas.openxmlformats.org/drawingml/2006/main">
            <a:off x="571500" y="17145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추진 배경·대상 업무</a:t>
            </a:r>
          </a:p>
        </p:txBody>
      </p:sp>
      <p:sp>
        <p:nvSpPr>
          <p:cNvPr id="7" name="">
            <a:extLst xmlns:a="http://schemas.openxmlformats.org/drawingml/2006/main">
              <a:ext uri="{FF2B5EF4-FFF2-40B4-BE49-F238E27FC236}">
                <a16:creationId xmlns:a16="http://schemas.microsoft.com/office/drawing/2014/main" id="{50953C3B-5F2E-411F-86B3-206DB54B0C6E}"/>
              </a:ext>
            </a:extLst>
          </p:cNvPr>
          <p:cNvSpPr>
            <a:spLocks xmlns:a="http://schemas.openxmlformats.org/drawingml/2006/main" noGrp="1"/>
          </p:cNvSpPr>
          <p:nvPr/>
        </p:nvSpPr>
        <p:spPr>
          <a:xfrm xmlns:a="http://schemas.openxmlformats.org/drawingml/2006/main">
            <a:off x="571500" y="2066925"/>
            <a:ext cx="5334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뉴욕 MyCity의 챗봇 답변 품질과 통합서비스 사업관리 </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문제를 다룬 감사 사례. 공식 안내의 정확성과 서비스 통</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합·계약 감독을 함께 봐야 하는 대민 AI 사업의 사례.</a:t>
            </a:r>
          </a:p>
        </p:txBody>
      </p:sp>
      <p:sp>
        <p:nvSpPr>
          <p:cNvPr id="8" name="">
            <a:extLst xmlns:a="http://schemas.openxmlformats.org/drawingml/2006/main">
              <a:ext uri="{FF2B5EF4-FFF2-40B4-BE49-F238E27FC236}">
                <a16:creationId xmlns:a16="http://schemas.microsoft.com/office/drawing/2014/main" id="{99306335-FBC8-4121-A573-F10738D7325E}"/>
              </a:ext>
            </a:extLst>
          </p:cNvPr>
          <p:cNvSpPr>
            <a:spLocks xmlns:a="http://schemas.openxmlformats.org/drawingml/2006/main" noGrp="1"/>
          </p:cNvSpPr>
          <p:nvPr/>
        </p:nvSpPr>
        <p:spPr>
          <a:xfrm xmlns:a="http://schemas.openxmlformats.org/drawingml/2006/main">
            <a:off x="571500" y="38290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구현 방식·업무 변화</a:t>
            </a:r>
          </a:p>
        </p:txBody>
      </p:sp>
      <p:sp>
        <p:nvSpPr>
          <p:cNvPr id="9" name="">
            <a:extLst xmlns:a="http://schemas.openxmlformats.org/drawingml/2006/main">
              <a:ext uri="{FF2B5EF4-FFF2-40B4-BE49-F238E27FC236}">
                <a16:creationId xmlns:a16="http://schemas.microsoft.com/office/drawing/2014/main" id="{EE6F3CAD-BC65-4F5E-A75E-BDD904CEF546}"/>
              </a:ext>
            </a:extLst>
          </p:cNvPr>
          <p:cNvSpPr>
            <a:spLocks xmlns:a="http://schemas.openxmlformats.org/drawingml/2006/main" noGrp="1"/>
          </p:cNvSpPr>
          <p:nvPr/>
        </p:nvSpPr>
        <p:spPr>
          <a:xfrm xmlns:a="http://schemas.openxmlformats.org/drawingml/2006/main">
            <a:off x="571500" y="4181475"/>
            <a:ext cx="5334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질문별 근거 문서, 답변 결과, 공식 신청 경로, 오류 수정</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이력을 연결하는 재구성. 독립 시험셋과 계약 산출물 목</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록을 대응시키고 감사 지적·기관 반론을 근거별로 구분</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해 비교하는 방식.</a:t>
            </a:r>
          </a:p>
        </p:txBody>
      </p:sp>
      <p:sp>
        <p:nvSpPr>
          <p:cNvPr id="10" name="">
            <a:extLst xmlns:a="http://schemas.openxmlformats.org/drawingml/2006/main">
              <a:ext uri="{FF2B5EF4-FFF2-40B4-BE49-F238E27FC236}">
                <a16:creationId xmlns:a16="http://schemas.microsoft.com/office/drawing/2014/main" id="{4AEAE9B4-D06D-45F8-9B84-DDD55D052D6E}"/>
              </a:ext>
            </a:extLst>
          </p:cNvPr>
          <p:cNvSpPr>
            <a:spLocks xmlns:a="http://schemas.openxmlformats.org/drawingml/2006/main" noGrp="1"/>
          </p:cNvSpPr>
          <p:nvPr/>
        </p:nvSpPr>
        <p:spPr>
          <a:xfrm xmlns:a="http://schemas.openxmlformats.org/drawingml/2006/main">
            <a:off x="6381750"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관점의 시사점</a:t>
            </a:r>
          </a:p>
        </p:txBody>
      </p:sp>
      <p:sp>
        <p:nvSpPr>
          <p:cNvPr id="11" name="">
            <a:extLst xmlns:a="http://schemas.openxmlformats.org/drawingml/2006/main">
              <a:ext uri="{FF2B5EF4-FFF2-40B4-BE49-F238E27FC236}">
                <a16:creationId xmlns:a16="http://schemas.microsoft.com/office/drawing/2014/main" id="{FA65A7BF-4AB2-4F2E-BCB5-FC4CABA1FFD7}"/>
              </a:ext>
            </a:extLst>
          </p:cNvPr>
          <p:cNvSpPr>
            <a:spLocks xmlns:a="http://schemas.openxmlformats.org/drawingml/2006/main" noGrp="1"/>
          </p:cNvSpPr>
          <p:nvPr/>
        </p:nvSpPr>
        <p:spPr>
          <a:xfrm xmlns:a="http://schemas.openxmlformats.org/drawingml/2006/main">
            <a:off x="6381750" y="20669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TS에서는 챗봇 공개와 민원 업무 완결을 같은 성과로 보</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지 않는 설계에 활용. 부정확·상충 안내의 회귀시험, 완료</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조건 정의, 변경 요구와 인수 증빙의 연결을 CCK 사업관</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리 기능에 반영할 필요.</a:t>
            </a:r>
          </a:p>
        </p:txBody>
      </p:sp>
      <p:sp>
        <p:nvSpPr>
          <p:cNvPr id="12" name="">
            <a:extLst xmlns:a="http://schemas.openxmlformats.org/drawingml/2006/main">
              <a:ext uri="{FF2B5EF4-FFF2-40B4-BE49-F238E27FC236}">
                <a16:creationId xmlns:a16="http://schemas.microsoft.com/office/drawing/2014/main" id="{3D140367-BDF4-4845-8929-321920849CF5}"/>
              </a:ext>
            </a:extLst>
          </p:cNvPr>
          <p:cNvSpPr>
            <a:spLocks xmlns:a="http://schemas.openxmlformats.org/drawingml/2006/main" noGrp="1"/>
          </p:cNvSpPr>
          <p:nvPr/>
        </p:nvSpPr>
        <p:spPr>
          <a:xfrm xmlns:a="http://schemas.openxmlformats.org/drawingml/2006/main">
            <a:off x="6381750" y="33909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13" name="">
            <a:extLst xmlns:a="http://schemas.openxmlformats.org/drawingml/2006/main">
              <a:ext uri="{FF2B5EF4-FFF2-40B4-BE49-F238E27FC236}">
                <a16:creationId xmlns:a16="http://schemas.microsoft.com/office/drawing/2014/main" id="{399F242C-1031-4711-8DFC-552885A4B427}"/>
              </a:ext>
            </a:extLst>
          </p:cNvPr>
          <p:cNvSpPr>
            <a:spLocks xmlns:a="http://schemas.openxmlformats.org/drawingml/2006/main" noGrp="1"/>
          </p:cNvSpPr>
          <p:nvPr/>
        </p:nvSpPr>
        <p:spPr>
          <a:xfrm xmlns:a="http://schemas.openxmlformats.org/drawingml/2006/main">
            <a:off x="6381750" y="37433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반례 정답셋·오안내 신고·책임부서 인계</a:t>
            </a:r>
          </a:p>
        </p:txBody>
      </p:sp>
      <p:sp>
        <p:nvSpPr>
          <p:cNvPr id="14" name="">
            <a:extLst xmlns:a="http://schemas.openxmlformats.org/drawingml/2006/main">
              <a:ext uri="{FF2B5EF4-FFF2-40B4-BE49-F238E27FC236}">
                <a16:creationId xmlns:a16="http://schemas.microsoft.com/office/drawing/2014/main" id="{281915CF-5095-4EF4-9DB8-C15C6F2DEFAA}"/>
              </a:ext>
            </a:extLst>
          </p:cNvPr>
          <p:cNvSpPr>
            <a:spLocks xmlns:a="http://schemas.openxmlformats.org/drawingml/2006/main" noGrp="1"/>
          </p:cNvSpPr>
          <p:nvPr/>
        </p:nvSpPr>
        <p:spPr>
          <a:xfrm xmlns:a="http://schemas.openxmlformats.org/drawingml/2006/main">
            <a:off x="6381750" y="4295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반영</a:t>
            </a:r>
          </a:p>
        </p:txBody>
      </p:sp>
      <p:sp>
        <p:nvSpPr>
          <p:cNvPr id="15" name="">
            <a:extLst xmlns:a="http://schemas.openxmlformats.org/drawingml/2006/main">
              <a:ext uri="{FF2B5EF4-FFF2-40B4-BE49-F238E27FC236}">
                <a16:creationId xmlns:a16="http://schemas.microsoft.com/office/drawing/2014/main" id="{3E02BC44-256B-4FA5-BB9C-A9D6A467F9E2}"/>
              </a:ext>
            </a:extLst>
          </p:cNvPr>
          <p:cNvSpPr>
            <a:spLocks xmlns:a="http://schemas.openxmlformats.org/drawingml/2006/main" noGrp="1"/>
          </p:cNvSpPr>
          <p:nvPr/>
        </p:nvSpPr>
        <p:spPr>
          <a:xfrm xmlns:a="http://schemas.openxmlformats.org/drawingml/2006/main">
            <a:off x="6381750" y="46482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규정과 상충하는 안내 및 미완료 신청 재현</a:t>
            </a:r>
          </a:p>
        </p:txBody>
      </p:sp>
      <p:sp>
        <p:nvSpPr>
          <p:cNvPr id="16" name="">
            <a:extLst xmlns:a="http://schemas.openxmlformats.org/drawingml/2006/main">
              <a:ext uri="{FF2B5EF4-FFF2-40B4-BE49-F238E27FC236}">
                <a16:creationId xmlns:a16="http://schemas.microsoft.com/office/drawing/2014/main" id="{885D2045-F14A-44C6-9F84-CFE1194DE4C2}"/>
              </a:ext>
            </a:extLst>
          </p:cNvPr>
          <p:cNvSpPr>
            <a:spLocks xmlns:a="http://schemas.openxmlformats.org/drawingml/2006/main" noGrp="1"/>
          </p:cNvSpPr>
          <p:nvPr/>
        </p:nvSpPr>
        <p:spPr>
          <a:xfrm xmlns:a="http://schemas.openxmlformats.org/drawingml/2006/main">
            <a:off x="6381750" y="5257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 지표</a:t>
            </a:r>
          </a:p>
        </p:txBody>
      </p:sp>
      <p:sp>
        <p:nvSpPr>
          <p:cNvPr id="17" name="">
            <a:extLst xmlns:a="http://schemas.openxmlformats.org/drawingml/2006/main">
              <a:ext uri="{FF2B5EF4-FFF2-40B4-BE49-F238E27FC236}">
                <a16:creationId xmlns:a16="http://schemas.microsoft.com/office/drawing/2014/main" id="{4B13D839-84A2-48E5-8051-DF87C7ABA0A3}"/>
              </a:ext>
            </a:extLst>
          </p:cNvPr>
          <p:cNvSpPr>
            <a:spLocks xmlns:a="http://schemas.openxmlformats.org/drawingml/2006/main" noGrp="1"/>
          </p:cNvSpPr>
          <p:nvPr/>
        </p:nvSpPr>
        <p:spPr>
          <a:xfrm xmlns:a="http://schemas.openxmlformats.org/drawingml/2006/main">
            <a:off x="6381750" y="56102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오안내율 / 신청 완료율 / 재접촉률</a:t>
            </a:r>
          </a:p>
        </p:txBody>
      </p:sp>
      <p:sp>
        <p:nvSpPr>
          <p:cNvPr id="18" name="">
            <a:extLst xmlns:a="http://schemas.openxmlformats.org/drawingml/2006/main">
              <a:ext uri="{FF2B5EF4-FFF2-40B4-BE49-F238E27FC236}">
                <a16:creationId xmlns:a16="http://schemas.microsoft.com/office/drawing/2014/main" id="{48C93B17-B215-4776-8467-2EDAAAD01795}"/>
              </a:ext>
            </a:extLst>
          </p:cNvPr>
          <p:cNvSpPr>
            <a:spLocks xmlns:a="http://schemas.openxmlformats.org/drawingml/2006/main" noGrp="1"/>
          </p:cNvSpPr>
          <p:nvPr/>
        </p:nvSpPr>
        <p:spPr>
          <a:xfrm xmlns:a="http://schemas.openxmlformats.org/drawingml/2006/main">
            <a:off x="571500" y="13620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87369"/>
                </a:solidFill>
                <a:latin typeface="Pretendard"/>
                <a:ea typeface="Pretendard"/>
                <a:cs typeface="Pretendard"/>
              </a:defRPr>
            </a:defPPr>
          </a:lstStyle>
          <a:p xmlns:a="http://schemas.openxmlformats.org/drawingml/2006/main">
            <a:pPr>
              <a:defRPr sz="1050" b="0">
                <a:solidFill>
                  <a:srgbClr val="687369"/>
                </a:solidFill>
                <a:latin typeface="Pretendard"/>
                <a:ea typeface="Pretendard"/>
                <a:cs typeface="Pretendard"/>
              </a:defRPr>
            </a:pPr>
            <a:r>
              <a:rPr sz="1050" b="0">
                <a:solidFill>
                  <a:srgbClr val="687369"/>
                </a:solidFill>
                <a:latin typeface="Pretendard"/>
                <a:ea typeface="Pretendard"/>
                <a:cs typeface="Pretendard"/>
              </a:rPr>
              <a:t>운영기관의 정확도 주장과 감사 판단의 차이 존재 · 개별 질의·평가 방식 대조 필요</a:t>
            </a:r>
          </a:p>
        </p:txBody>
      </p:sp>
    </p:spTree>
    <p:extLst>
      <p:ext uri="{BB962C8B-B14F-4D97-AF65-F5344CB8AC3E}">
        <p14:creationId xmlns:p14="http://schemas.microsoft.com/office/powerpoint/2010/main" val="701530479"/>
      </p:ext>
    </p:extLst>
  </p:cSld>
</p:sld>
</file>

<file path=ppt/slides/slide160.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B54AE75A-D318-429D-8855-0505770071AD}"/>
              </a:ext>
            </a:extLst>
          </p:cNvPr>
          <p:cNvCxnSpPr>
            <a:stCxn xmlns:a="http://schemas.openxmlformats.org/drawingml/2006/main" id="34" idx="3"/>
            <a:endCxn xmlns:a="http://schemas.openxmlformats.org/drawingml/2006/main" id="37" idx="1"/>
          </p:cNvCxnSpPr>
          <p:nvPr/>
        </p:nvCxnSpPr>
        <p:spPr>
          <a:xfrm xmlns:a="http://schemas.openxmlformats.org/drawingml/2006/main">
            <a:off x="59817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50" name="">
            <a:extLst xmlns:a="http://schemas.openxmlformats.org/drawingml/2006/main">
              <a:ext uri="{FF2B5EF4-FFF2-40B4-BE49-F238E27FC236}">
                <a16:creationId xmlns:a16="http://schemas.microsoft.com/office/drawing/2014/main" id="{5F7D5B38-47E5-4B6A-9640-8AE7B8EF60FC}"/>
              </a:ext>
            </a:extLst>
          </p:cNvPr>
          <p:cNvCxnSpPr>
            <a:stCxn xmlns:a="http://schemas.openxmlformats.org/drawingml/2006/main" id="31" idx="3"/>
            <a:endCxn xmlns:a="http://schemas.openxmlformats.org/drawingml/2006/main" id="34" idx="1"/>
          </p:cNvCxnSpPr>
          <p:nvPr/>
        </p:nvCxnSpPr>
        <p:spPr>
          <a:xfrm xmlns:a="http://schemas.openxmlformats.org/drawingml/2006/main">
            <a:off x="3162300" y="5257800"/>
            <a:ext cx="228600" cy="0"/>
          </a:xfrm>
          <a:prstGeom xmlns:a="http://schemas.openxmlformats.org/drawingml/2006/main" prst="straightConnector1">
            <a:avLst/>
          </a:prstGeom>
          <a:ln xmlns:a="http://schemas.openxmlformats.org/drawingml/2006/main" w="9525">
            <a:solidFill>
              <a:srgbClr val="9A8A65"/>
            </a:solidFill>
            <a:tailEnd type="arrow" w="med" len="med"/>
          </a:ln>
        </p:spPr>
      </p:cxnSp>
      <p:cxnSp>
        <p:nvCxnSpPr>
          <p:cNvPr id="49" name="">
            <a:extLst xmlns:a="http://schemas.openxmlformats.org/drawingml/2006/main">
              <a:ext uri="{FF2B5EF4-FFF2-40B4-BE49-F238E27FC236}">
                <a16:creationId xmlns:a16="http://schemas.microsoft.com/office/drawing/2014/main" id="{0AD6F83E-7FCA-493D-8A54-4D1465458A91}"/>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623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8" name="">
            <a:extLst xmlns:a="http://schemas.openxmlformats.org/drawingml/2006/main">
              <a:ext uri="{FF2B5EF4-FFF2-40B4-BE49-F238E27FC236}">
                <a16:creationId xmlns:a16="http://schemas.microsoft.com/office/drawing/2014/main" id="{AFD741BA-44C5-4ABF-A5C6-42E4D1B3CF71}"/>
              </a:ext>
            </a:extLst>
          </p:cNvPr>
          <p:cNvCxnSpPr>
            <a:stCxn xmlns:a="http://schemas.openxmlformats.org/drawingml/2006/main" id="22" idx="1"/>
            <a:endCxn xmlns:a="http://schemas.openxmlformats.org/drawingml/2006/main" id="25" idx="3"/>
          </p:cNvCxnSpPr>
          <p:nvPr/>
        </p:nvCxnSpPr>
        <p:spPr>
          <a:xfrm xmlns:a="http://schemas.openxmlformats.org/drawingml/2006/main" flipH="1">
            <a:off x="59817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7" name="">
            <a:extLst xmlns:a="http://schemas.openxmlformats.org/drawingml/2006/main">
              <a:ext uri="{FF2B5EF4-FFF2-40B4-BE49-F238E27FC236}">
                <a16:creationId xmlns:a16="http://schemas.microsoft.com/office/drawing/2014/main" id="{60987E03-6042-4B05-9174-DE969DF75F3D}"/>
              </a:ext>
            </a:extLst>
          </p:cNvPr>
          <p:cNvCxnSpPr>
            <a:stCxn xmlns:a="http://schemas.openxmlformats.org/drawingml/2006/main" id="19" idx="1"/>
            <a:endCxn xmlns:a="http://schemas.openxmlformats.org/drawingml/2006/main" id="22" idx="3"/>
          </p:cNvCxnSpPr>
          <p:nvPr/>
        </p:nvCxnSpPr>
        <p:spPr>
          <a:xfrm xmlns:a="http://schemas.openxmlformats.org/drawingml/2006/main" flipH="1">
            <a:off x="8801100" y="3819525"/>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6" name="">
            <a:extLst xmlns:a="http://schemas.openxmlformats.org/drawingml/2006/main">
              <a:ext uri="{FF2B5EF4-FFF2-40B4-BE49-F238E27FC236}">
                <a16:creationId xmlns:a16="http://schemas.microsoft.com/office/drawing/2014/main" id="{D3526C84-01C4-441F-97C4-C32C80B69297}"/>
              </a:ext>
            </a:extLst>
          </p:cNvPr>
          <p:cNvCxnSpPr>
            <a:stCxn xmlns:a="http://schemas.openxmlformats.org/drawingml/2006/main" id="16" idx="2"/>
            <a:endCxn xmlns:a="http://schemas.openxmlformats.org/drawingml/2006/main" id="19" idx="0"/>
          </p:cNvCxnSpPr>
          <p:nvPr/>
        </p:nvCxnSpPr>
        <p:spPr>
          <a:xfrm xmlns:a="http://schemas.openxmlformats.org/drawingml/2006/main">
            <a:off x="10325100" y="2914650"/>
            <a:ext cx="0" cy="371475"/>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5" name="">
            <a:extLst xmlns:a="http://schemas.openxmlformats.org/drawingml/2006/main">
              <a:ext uri="{FF2B5EF4-FFF2-40B4-BE49-F238E27FC236}">
                <a16:creationId xmlns:a16="http://schemas.microsoft.com/office/drawing/2014/main" id="{9A298CAC-8C16-4B03-B19E-8F33B2AE14A0}"/>
              </a:ext>
            </a:extLst>
          </p:cNvPr>
          <p:cNvCxnSpPr>
            <a:stCxn xmlns:a="http://schemas.openxmlformats.org/drawingml/2006/main" id="13" idx="3"/>
            <a:endCxn xmlns:a="http://schemas.openxmlformats.org/drawingml/2006/main" id="16" idx="1"/>
          </p:cNvCxnSpPr>
          <p:nvPr/>
        </p:nvCxnSpPr>
        <p:spPr>
          <a:xfrm xmlns:a="http://schemas.openxmlformats.org/drawingml/2006/main">
            <a:off x="88011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4" name="">
            <a:extLst xmlns:a="http://schemas.openxmlformats.org/drawingml/2006/main">
              <a:ext uri="{FF2B5EF4-FFF2-40B4-BE49-F238E27FC236}">
                <a16:creationId xmlns:a16="http://schemas.microsoft.com/office/drawing/2014/main" id="{561C0456-DCEA-49CD-B089-8C9A32DFAE4B}"/>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cxnSp>
        <p:nvCxnSpPr>
          <p:cNvPr id="43" name="">
            <a:extLst xmlns:a="http://schemas.openxmlformats.org/drawingml/2006/main">
              <a:ext uri="{FF2B5EF4-FFF2-40B4-BE49-F238E27FC236}">
                <a16:creationId xmlns:a16="http://schemas.microsoft.com/office/drawing/2014/main" id="{60CDDE0B-08F9-4FC1-8C24-531CEF7281E1}"/>
              </a:ext>
            </a:extLst>
          </p:cNvPr>
          <p:cNvCxnSpPr>
            <a:stCxn xmlns:a="http://schemas.openxmlformats.org/drawingml/2006/main" id="7" idx="3"/>
            <a:endCxn xmlns:a="http://schemas.openxmlformats.org/drawingml/2006/main" id="10" idx="1"/>
          </p:cNvCxnSpPr>
          <p:nvPr/>
        </p:nvCxnSpPr>
        <p:spPr>
          <a:xfrm xmlns:a="http://schemas.openxmlformats.org/drawingml/2006/main">
            <a:off x="3162300" y="2381250"/>
            <a:ext cx="228600" cy="0"/>
          </a:xfrm>
          <a:prstGeom xmlns:a="http://schemas.openxmlformats.org/drawingml/2006/main" prst="straightConnector1">
            <a:avLst/>
          </a:prstGeom>
          <a:ln xmlns:a="http://schemas.openxmlformats.org/drawingml/2006/main" w="19050">
            <a:solidFill>
              <a:srgbClr val="42634B"/>
            </a:solidFill>
            <a:tailEnd type="arrow" w="med" len="med"/>
          </a:ln>
        </p:spPr>
      </p:cxnSp>
      <p:sp>
        <p:nvSpPr>
          <p:cNvPr id="53" name="">
            <a:extLst xmlns:a="http://schemas.openxmlformats.org/drawingml/2006/main">
              <a:ext uri="{FF2B5EF4-FFF2-40B4-BE49-F238E27FC236}">
                <a16:creationId xmlns:a16="http://schemas.microsoft.com/office/drawing/2014/main" id="{9CB5C155-12EE-488A-8FBE-278DE099ECAC}"/>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PF31 / CCK 세부 재구성 · 논리 서비스 설계</a:t>
            </a:r>
          </a:p>
        </p:txBody>
      </p:sp>
      <p:sp>
        <p:nvSpPr>
          <p:cNvPr id="2" name="">
            <a:extLst xmlns:a="http://schemas.openxmlformats.org/drawingml/2006/main">
              <a:ext uri="{FF2B5EF4-FFF2-40B4-BE49-F238E27FC236}">
                <a16:creationId xmlns:a16="http://schemas.microsoft.com/office/drawing/2014/main" id="{EFEB8DAB-D19A-4705-ADE2-3FCF64855D3F}"/>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뉴욕 MyCity 챗봇 감사 · 세부 서비스 구조</a:t>
            </a:r>
          </a:p>
        </p:txBody>
      </p:sp>
      <p:sp>
        <p:nvSpPr>
          <p:cNvPr id="3" name="">
            <a:extLst xmlns:a="http://schemas.openxmlformats.org/drawingml/2006/main">
              <a:ext uri="{FF2B5EF4-FFF2-40B4-BE49-F238E27FC236}">
                <a16:creationId xmlns:a16="http://schemas.microsoft.com/office/drawing/2014/main" id="{01CB73C8-8DB0-47F0-AB7F-525CC0C5467D}"/>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B3D027D-FC06-42F9-9E26-F1FC79ACB0C5}"/>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17AFB345-207C-4EF7-99C5-E721C090B536}"/>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160</a:t>
            </a:r>
          </a:p>
        </p:txBody>
      </p:sp>
      <p:sp>
        <p:nvSpPr>
          <p:cNvPr id="6" name="">
            <a:extLst xmlns:a="http://schemas.openxmlformats.org/drawingml/2006/main">
              <a:ext uri="{FF2B5EF4-FFF2-40B4-BE49-F238E27FC236}">
                <a16:creationId xmlns:a16="http://schemas.microsoft.com/office/drawing/2014/main" id="{FCF16C00-8F38-4E29-8084-F987D781E95A}"/>
              </a:ext>
            </a:extLst>
          </p:cNvPr>
          <p:cNvSpPr>
            <a:spLocks xmlns:a="http://schemas.openxmlformats.org/drawingml/2006/main" noGrp="1"/>
          </p:cNvSpPr>
          <p:nvPr/>
        </p:nvSpPr>
        <p:spPr>
          <a:xfrm xmlns:a="http://schemas.openxmlformats.org/drawingml/2006/main">
            <a:off x="571500" y="1438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운영기관·공급사·감사 자료의 업무 설명</a:t>
            </a:r>
          </a:p>
        </p:txBody>
      </p:sp>
      <p:sp>
        <p:nvSpPr>
          <p:cNvPr id="7" name="">
            <a:extLst xmlns:a="http://schemas.openxmlformats.org/drawingml/2006/main">
              <a:ext uri="{FF2B5EF4-FFF2-40B4-BE49-F238E27FC236}">
                <a16:creationId xmlns:a16="http://schemas.microsoft.com/office/drawing/2014/main" id="{C0D053E7-35A7-4555-963F-60B165DDB243}"/>
              </a:ext>
            </a:extLst>
          </p:cNvPr>
          <p:cNvSpPr>
            <a:spLocks xmlns:a="http://schemas.openxmlformats.org/drawingml/2006/main" noGrp="1"/>
          </p:cNvSpPr>
          <p:nvPr/>
        </p:nvSpPr>
        <p:spPr>
          <a:xfrm xmlns:a="http://schemas.openxmlformats.org/drawingml/2006/main">
            <a:off x="5715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8" name="">
            <a:extLst xmlns:a="http://schemas.openxmlformats.org/drawingml/2006/main">
              <a:ext uri="{FF2B5EF4-FFF2-40B4-BE49-F238E27FC236}">
                <a16:creationId xmlns:a16="http://schemas.microsoft.com/office/drawing/2014/main" id="{AA82EB06-19DE-4AD2-8670-1581CB7A39C8}"/>
              </a:ext>
            </a:extLst>
          </p:cNvPr>
          <p:cNvSpPr>
            <a:spLocks xmlns:a="http://schemas.openxmlformats.org/drawingml/2006/main" noGrp="1"/>
          </p:cNvSpPr>
          <p:nvPr/>
        </p:nvSpPr>
        <p:spPr>
          <a:xfrm xmlns:a="http://schemas.openxmlformats.org/drawingml/2006/main">
            <a:off x="7048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C01 / 이용 접점</a:t>
            </a:r>
          </a:p>
        </p:txBody>
      </p:sp>
      <p:sp>
        <p:nvSpPr>
          <p:cNvPr id="9" name="">
            <a:extLst xmlns:a="http://schemas.openxmlformats.org/drawingml/2006/main">
              <a:ext uri="{FF2B5EF4-FFF2-40B4-BE49-F238E27FC236}">
                <a16:creationId xmlns:a16="http://schemas.microsoft.com/office/drawing/2014/main" id="{AEFC4149-AB2C-4F9E-A941-A7F48693D9C4}"/>
              </a:ext>
            </a:extLst>
          </p:cNvPr>
          <p:cNvSpPr>
            <a:spLocks xmlns:a="http://schemas.openxmlformats.org/drawingml/2006/main" noGrp="1"/>
          </p:cNvSpPr>
          <p:nvPr/>
        </p:nvSpPr>
        <p:spPr>
          <a:xfrm xmlns:a="http://schemas.openxmlformats.org/drawingml/2006/main">
            <a:off x="7048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MyCity 질의</a:t>
            </a:r>
          </a:p>
        </p:txBody>
      </p:sp>
      <p:sp>
        <p:nvSpPr>
          <p:cNvPr id="10" name="">
            <a:extLst xmlns:a="http://schemas.openxmlformats.org/drawingml/2006/main">
              <a:ext uri="{FF2B5EF4-FFF2-40B4-BE49-F238E27FC236}">
                <a16:creationId xmlns:a16="http://schemas.microsoft.com/office/drawing/2014/main" id="{2E01C9A6-47A5-49EB-8AE4-41B64CAC0B08}"/>
              </a:ext>
            </a:extLst>
          </p:cNvPr>
          <p:cNvSpPr>
            <a:spLocks xmlns:a="http://schemas.openxmlformats.org/drawingml/2006/main" noGrp="1"/>
          </p:cNvSpPr>
          <p:nvPr/>
        </p:nvSpPr>
        <p:spPr>
          <a:xfrm xmlns:a="http://schemas.openxmlformats.org/drawingml/2006/main">
            <a:off x="33909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1" name="">
            <a:extLst xmlns:a="http://schemas.openxmlformats.org/drawingml/2006/main">
              <a:ext uri="{FF2B5EF4-FFF2-40B4-BE49-F238E27FC236}">
                <a16:creationId xmlns:a16="http://schemas.microsoft.com/office/drawing/2014/main" id="{936E9004-1C10-4F3F-9028-36BBCCBADFA0}"/>
              </a:ext>
            </a:extLst>
          </p:cNvPr>
          <p:cNvSpPr>
            <a:spLocks xmlns:a="http://schemas.openxmlformats.org/drawingml/2006/main" noGrp="1"/>
          </p:cNvSpPr>
          <p:nvPr/>
        </p:nvSpPr>
        <p:spPr>
          <a:xfrm xmlns:a="http://schemas.openxmlformats.org/drawingml/2006/main">
            <a:off x="35242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C02 / 업무 문맥</a:t>
            </a:r>
          </a:p>
        </p:txBody>
      </p:sp>
      <p:sp>
        <p:nvSpPr>
          <p:cNvPr id="12" name="">
            <a:extLst xmlns:a="http://schemas.openxmlformats.org/drawingml/2006/main">
              <a:ext uri="{FF2B5EF4-FFF2-40B4-BE49-F238E27FC236}">
                <a16:creationId xmlns:a16="http://schemas.microsoft.com/office/drawing/2014/main" id="{10373B06-348D-4C95-8D41-2DE28621FF2C}"/>
              </a:ext>
            </a:extLst>
          </p:cNvPr>
          <p:cNvSpPr>
            <a:spLocks xmlns:a="http://schemas.openxmlformats.org/drawingml/2006/main" noGrp="1"/>
          </p:cNvSpPr>
          <p:nvPr/>
        </p:nvSpPr>
        <p:spPr>
          <a:xfrm xmlns:a="http://schemas.openxmlformats.org/drawingml/2006/main">
            <a:off x="35242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소관·이용조건</a:t>
            </a:r>
          </a:p>
        </p:txBody>
      </p:sp>
      <p:sp>
        <p:nvSpPr>
          <p:cNvPr id="13" name="">
            <a:extLst xmlns:a="http://schemas.openxmlformats.org/drawingml/2006/main">
              <a:ext uri="{FF2B5EF4-FFF2-40B4-BE49-F238E27FC236}">
                <a16:creationId xmlns:a16="http://schemas.microsoft.com/office/drawing/2014/main" id="{95870669-CEB7-422F-B68F-5E7C4C640E29}"/>
              </a:ext>
            </a:extLst>
          </p:cNvPr>
          <p:cNvSpPr>
            <a:spLocks xmlns:a="http://schemas.openxmlformats.org/drawingml/2006/main" noGrp="1"/>
          </p:cNvSpPr>
          <p:nvPr/>
        </p:nvSpPr>
        <p:spPr>
          <a:xfrm xmlns:a="http://schemas.openxmlformats.org/drawingml/2006/main">
            <a:off x="62103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4" name="">
            <a:extLst xmlns:a="http://schemas.openxmlformats.org/drawingml/2006/main">
              <a:ext uri="{FF2B5EF4-FFF2-40B4-BE49-F238E27FC236}">
                <a16:creationId xmlns:a16="http://schemas.microsoft.com/office/drawing/2014/main" id="{4A606C76-CE93-4B7F-9D07-A213B0235E23}"/>
              </a:ext>
            </a:extLst>
          </p:cNvPr>
          <p:cNvSpPr>
            <a:spLocks xmlns:a="http://schemas.openxmlformats.org/drawingml/2006/main" noGrp="1"/>
          </p:cNvSpPr>
          <p:nvPr/>
        </p:nvSpPr>
        <p:spPr>
          <a:xfrm xmlns:a="http://schemas.openxmlformats.org/drawingml/2006/main">
            <a:off x="63436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C03 / 자료 조회</a:t>
            </a:r>
          </a:p>
        </p:txBody>
      </p:sp>
      <p:sp>
        <p:nvSpPr>
          <p:cNvPr id="15" name="">
            <a:extLst xmlns:a="http://schemas.openxmlformats.org/drawingml/2006/main">
              <a:ext uri="{FF2B5EF4-FFF2-40B4-BE49-F238E27FC236}">
                <a16:creationId xmlns:a16="http://schemas.microsoft.com/office/drawing/2014/main" id="{2C8806DF-4FE2-40D8-9E57-1C23EF7FFB4E}"/>
              </a:ext>
            </a:extLst>
          </p:cNvPr>
          <p:cNvSpPr>
            <a:spLocks xmlns:a="http://schemas.openxmlformats.org/drawingml/2006/main" noGrp="1"/>
          </p:cNvSpPr>
          <p:nvPr/>
        </p:nvSpPr>
        <p:spPr>
          <a:xfrm xmlns:a="http://schemas.openxmlformats.org/drawingml/2006/main">
            <a:off x="63436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공식 안내 검색</a:t>
            </a:r>
          </a:p>
        </p:txBody>
      </p:sp>
      <p:sp>
        <p:nvSpPr>
          <p:cNvPr id="16" name="">
            <a:extLst xmlns:a="http://schemas.openxmlformats.org/drawingml/2006/main">
              <a:ext uri="{FF2B5EF4-FFF2-40B4-BE49-F238E27FC236}">
                <a16:creationId xmlns:a16="http://schemas.microsoft.com/office/drawing/2014/main" id="{187A0F5A-20E7-4F29-B090-0EAF74CD10CF}"/>
              </a:ext>
            </a:extLst>
          </p:cNvPr>
          <p:cNvSpPr>
            <a:spLocks xmlns:a="http://schemas.openxmlformats.org/drawingml/2006/main" noGrp="1"/>
          </p:cNvSpPr>
          <p:nvPr/>
        </p:nvSpPr>
        <p:spPr>
          <a:xfrm xmlns:a="http://schemas.openxmlformats.org/drawingml/2006/main">
            <a:off x="9029700" y="1847850"/>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17" name="">
            <a:extLst xmlns:a="http://schemas.openxmlformats.org/drawingml/2006/main">
              <a:ext uri="{FF2B5EF4-FFF2-40B4-BE49-F238E27FC236}">
                <a16:creationId xmlns:a16="http://schemas.microsoft.com/office/drawing/2014/main" id="{380CAFF2-2251-4362-9468-E019DFF39372}"/>
              </a:ext>
            </a:extLst>
          </p:cNvPr>
          <p:cNvSpPr>
            <a:spLocks xmlns:a="http://schemas.openxmlformats.org/drawingml/2006/main" noGrp="1"/>
          </p:cNvSpPr>
          <p:nvPr/>
        </p:nvSpPr>
        <p:spPr>
          <a:xfrm xmlns:a="http://schemas.openxmlformats.org/drawingml/2006/main">
            <a:off x="9163050" y="196215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C04 / 핵심 처리</a:t>
            </a:r>
          </a:p>
        </p:txBody>
      </p:sp>
      <p:sp>
        <p:nvSpPr>
          <p:cNvPr id="18" name="">
            <a:extLst xmlns:a="http://schemas.openxmlformats.org/drawingml/2006/main">
              <a:ext uri="{FF2B5EF4-FFF2-40B4-BE49-F238E27FC236}">
                <a16:creationId xmlns:a16="http://schemas.microsoft.com/office/drawing/2014/main" id="{D187B1F5-4F4D-4443-A9B1-C1738F023C6C}"/>
              </a:ext>
            </a:extLst>
          </p:cNvPr>
          <p:cNvSpPr>
            <a:spLocks xmlns:a="http://schemas.openxmlformats.org/drawingml/2006/main" noGrp="1"/>
          </p:cNvSpPr>
          <p:nvPr/>
        </p:nvSpPr>
        <p:spPr>
          <a:xfrm xmlns:a="http://schemas.openxmlformats.org/drawingml/2006/main">
            <a:off x="9163050" y="231457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근거형 답변 구성</a:t>
            </a:r>
          </a:p>
        </p:txBody>
      </p:sp>
      <p:sp>
        <p:nvSpPr>
          <p:cNvPr id="19" name="">
            <a:extLst xmlns:a="http://schemas.openxmlformats.org/drawingml/2006/main">
              <a:ext uri="{FF2B5EF4-FFF2-40B4-BE49-F238E27FC236}">
                <a16:creationId xmlns:a16="http://schemas.microsoft.com/office/drawing/2014/main" id="{DAFBD61C-BA2D-4FE0-95C2-1FC0F31CE917}"/>
              </a:ext>
            </a:extLst>
          </p:cNvPr>
          <p:cNvSpPr>
            <a:spLocks xmlns:a="http://schemas.openxmlformats.org/drawingml/2006/main" noGrp="1"/>
          </p:cNvSpPr>
          <p:nvPr/>
        </p:nvSpPr>
        <p:spPr>
          <a:xfrm xmlns:a="http://schemas.openxmlformats.org/drawingml/2006/main">
            <a:off x="90297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0" name="">
            <a:extLst xmlns:a="http://schemas.openxmlformats.org/drawingml/2006/main">
              <a:ext uri="{FF2B5EF4-FFF2-40B4-BE49-F238E27FC236}">
                <a16:creationId xmlns:a16="http://schemas.microsoft.com/office/drawing/2014/main" id="{91AF466D-D9CB-4091-9189-B391EE101A7D}"/>
              </a:ext>
            </a:extLst>
          </p:cNvPr>
          <p:cNvSpPr>
            <a:spLocks xmlns:a="http://schemas.openxmlformats.org/drawingml/2006/main" noGrp="1"/>
          </p:cNvSpPr>
          <p:nvPr/>
        </p:nvSpPr>
        <p:spPr>
          <a:xfrm xmlns:a="http://schemas.openxmlformats.org/drawingml/2006/main">
            <a:off x="91630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C05 / 결과 검증</a:t>
            </a:r>
          </a:p>
        </p:txBody>
      </p:sp>
      <p:sp>
        <p:nvSpPr>
          <p:cNvPr id="21" name="">
            <a:extLst xmlns:a="http://schemas.openxmlformats.org/drawingml/2006/main">
              <a:ext uri="{FF2B5EF4-FFF2-40B4-BE49-F238E27FC236}">
                <a16:creationId xmlns:a16="http://schemas.microsoft.com/office/drawing/2014/main" id="{909EC7BC-B71E-4E31-9A47-56C19349AC30}"/>
              </a:ext>
            </a:extLst>
          </p:cNvPr>
          <p:cNvSpPr>
            <a:spLocks xmlns:a="http://schemas.openxmlformats.org/drawingml/2006/main" noGrp="1"/>
          </p:cNvSpPr>
          <p:nvPr/>
        </p:nvSpPr>
        <p:spPr>
          <a:xfrm xmlns:a="http://schemas.openxmlformats.org/drawingml/2006/main">
            <a:off x="91630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위법·상충 안내 검사</a:t>
            </a:r>
          </a:p>
        </p:txBody>
      </p:sp>
      <p:sp>
        <p:nvSpPr>
          <p:cNvPr id="22" name="">
            <a:extLst xmlns:a="http://schemas.openxmlformats.org/drawingml/2006/main">
              <a:ext uri="{FF2B5EF4-FFF2-40B4-BE49-F238E27FC236}">
                <a16:creationId xmlns:a16="http://schemas.microsoft.com/office/drawing/2014/main" id="{D6CD2CD9-6630-472D-9A17-1A02C0D64A56}"/>
              </a:ext>
            </a:extLst>
          </p:cNvPr>
          <p:cNvSpPr>
            <a:spLocks xmlns:a="http://schemas.openxmlformats.org/drawingml/2006/main" noGrp="1"/>
          </p:cNvSpPr>
          <p:nvPr/>
        </p:nvSpPr>
        <p:spPr>
          <a:xfrm xmlns:a="http://schemas.openxmlformats.org/drawingml/2006/main">
            <a:off x="62103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3" name="">
            <a:extLst xmlns:a="http://schemas.openxmlformats.org/drawingml/2006/main">
              <a:ext uri="{FF2B5EF4-FFF2-40B4-BE49-F238E27FC236}">
                <a16:creationId xmlns:a16="http://schemas.microsoft.com/office/drawing/2014/main" id="{3042513D-3538-486F-8DE7-568D8315A5A9}"/>
              </a:ext>
            </a:extLst>
          </p:cNvPr>
          <p:cNvSpPr>
            <a:spLocks xmlns:a="http://schemas.openxmlformats.org/drawingml/2006/main" noGrp="1"/>
          </p:cNvSpPr>
          <p:nvPr/>
        </p:nvSpPr>
        <p:spPr>
          <a:xfrm xmlns:a="http://schemas.openxmlformats.org/drawingml/2006/main">
            <a:off x="63436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C06 / 사람 확인</a:t>
            </a:r>
          </a:p>
        </p:txBody>
      </p:sp>
      <p:sp>
        <p:nvSpPr>
          <p:cNvPr id="24" name="">
            <a:extLst xmlns:a="http://schemas.openxmlformats.org/drawingml/2006/main">
              <a:ext uri="{FF2B5EF4-FFF2-40B4-BE49-F238E27FC236}">
                <a16:creationId xmlns:a16="http://schemas.microsoft.com/office/drawing/2014/main" id="{8C4B408E-DBF7-4C91-B550-D50305F01BE0}"/>
              </a:ext>
            </a:extLst>
          </p:cNvPr>
          <p:cNvSpPr>
            <a:spLocks xmlns:a="http://schemas.openxmlformats.org/drawingml/2006/main" noGrp="1"/>
          </p:cNvSpPr>
          <p:nvPr/>
        </p:nvSpPr>
        <p:spPr>
          <a:xfrm xmlns:a="http://schemas.openxmlformats.org/drawingml/2006/main">
            <a:off x="63436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서비스 담당 검토</a:t>
            </a:r>
          </a:p>
        </p:txBody>
      </p:sp>
      <p:sp>
        <p:nvSpPr>
          <p:cNvPr id="25" name="">
            <a:extLst xmlns:a="http://schemas.openxmlformats.org/drawingml/2006/main">
              <a:ext uri="{FF2B5EF4-FFF2-40B4-BE49-F238E27FC236}">
                <a16:creationId xmlns:a16="http://schemas.microsoft.com/office/drawing/2014/main" id="{A926A61B-1C2E-4A8C-83BF-3C2FE9B60588}"/>
              </a:ext>
            </a:extLst>
          </p:cNvPr>
          <p:cNvSpPr>
            <a:spLocks xmlns:a="http://schemas.openxmlformats.org/drawingml/2006/main" noGrp="1"/>
          </p:cNvSpPr>
          <p:nvPr/>
        </p:nvSpPr>
        <p:spPr>
          <a:xfrm xmlns:a="http://schemas.openxmlformats.org/drawingml/2006/main">
            <a:off x="33909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6" name="">
            <a:extLst xmlns:a="http://schemas.openxmlformats.org/drawingml/2006/main">
              <a:ext uri="{FF2B5EF4-FFF2-40B4-BE49-F238E27FC236}">
                <a16:creationId xmlns:a16="http://schemas.microsoft.com/office/drawing/2014/main" id="{5FF32308-D855-4FC8-85E7-230B5B6E0A2C}"/>
              </a:ext>
            </a:extLst>
          </p:cNvPr>
          <p:cNvSpPr>
            <a:spLocks xmlns:a="http://schemas.openxmlformats.org/drawingml/2006/main" noGrp="1"/>
          </p:cNvSpPr>
          <p:nvPr/>
        </p:nvSpPr>
        <p:spPr>
          <a:xfrm xmlns:a="http://schemas.openxmlformats.org/drawingml/2006/main">
            <a:off x="35242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C07 / 업무 연결</a:t>
            </a:r>
          </a:p>
        </p:txBody>
      </p:sp>
      <p:sp>
        <p:nvSpPr>
          <p:cNvPr id="27" name="">
            <a:extLst xmlns:a="http://schemas.openxmlformats.org/drawingml/2006/main">
              <a:ext uri="{FF2B5EF4-FFF2-40B4-BE49-F238E27FC236}">
                <a16:creationId xmlns:a16="http://schemas.microsoft.com/office/drawing/2014/main" id="{D2783D15-FA63-4F81-9AAA-6C25FD245D58}"/>
              </a:ext>
            </a:extLst>
          </p:cNvPr>
          <p:cNvSpPr>
            <a:spLocks xmlns:a="http://schemas.openxmlformats.org/drawingml/2006/main" noGrp="1"/>
          </p:cNvSpPr>
          <p:nvPr/>
        </p:nvSpPr>
        <p:spPr>
          <a:xfrm xmlns:a="http://schemas.openxmlformats.org/drawingml/2006/main">
            <a:off x="35242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신청 경로 안내</a:t>
            </a:r>
          </a:p>
        </p:txBody>
      </p:sp>
      <p:sp>
        <p:nvSpPr>
          <p:cNvPr id="28" name="">
            <a:extLst xmlns:a="http://schemas.openxmlformats.org/drawingml/2006/main">
              <a:ext uri="{FF2B5EF4-FFF2-40B4-BE49-F238E27FC236}">
                <a16:creationId xmlns:a16="http://schemas.microsoft.com/office/drawing/2014/main" id="{3BD5728B-2748-4158-A646-E9FFE24C3B9A}"/>
              </a:ext>
            </a:extLst>
          </p:cNvPr>
          <p:cNvSpPr>
            <a:spLocks xmlns:a="http://schemas.openxmlformats.org/drawingml/2006/main" noGrp="1"/>
          </p:cNvSpPr>
          <p:nvPr/>
        </p:nvSpPr>
        <p:spPr>
          <a:xfrm xmlns:a="http://schemas.openxmlformats.org/drawingml/2006/main">
            <a:off x="571500" y="3286125"/>
            <a:ext cx="2590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4DDD5"/>
            </a:solidFill>
          </a:ln>
        </p:spPr>
      </p:sp>
      <p:sp>
        <p:nvSpPr>
          <p:cNvPr id="29" name="">
            <a:extLst xmlns:a="http://schemas.openxmlformats.org/drawingml/2006/main">
              <a:ext uri="{FF2B5EF4-FFF2-40B4-BE49-F238E27FC236}">
                <a16:creationId xmlns:a16="http://schemas.microsoft.com/office/drawing/2014/main" id="{86E397D0-A972-46FD-82A9-0160A4DC4E07}"/>
              </a:ext>
            </a:extLst>
          </p:cNvPr>
          <p:cNvSpPr>
            <a:spLocks xmlns:a="http://schemas.openxmlformats.org/drawingml/2006/main" noGrp="1"/>
          </p:cNvSpPr>
          <p:nvPr/>
        </p:nvSpPr>
        <p:spPr>
          <a:xfrm xmlns:a="http://schemas.openxmlformats.org/drawingml/2006/main">
            <a:off x="704850" y="340042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C08 / 운영 관측</a:t>
            </a:r>
          </a:p>
        </p:txBody>
      </p:sp>
      <p:sp>
        <p:nvSpPr>
          <p:cNvPr id="30" name="">
            <a:extLst xmlns:a="http://schemas.openxmlformats.org/drawingml/2006/main">
              <a:ext uri="{FF2B5EF4-FFF2-40B4-BE49-F238E27FC236}">
                <a16:creationId xmlns:a16="http://schemas.microsoft.com/office/drawing/2014/main" id="{F44683AC-80BE-4232-BB2E-76D33FD08A1E}"/>
              </a:ext>
            </a:extLst>
          </p:cNvPr>
          <p:cNvSpPr>
            <a:spLocks xmlns:a="http://schemas.openxmlformats.org/drawingml/2006/main" noGrp="1"/>
          </p:cNvSpPr>
          <p:nvPr/>
        </p:nvSpPr>
        <p:spPr>
          <a:xfrm xmlns:a="http://schemas.openxmlformats.org/drawingml/2006/main">
            <a:off x="704850" y="375285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오답·계약 대사</a:t>
            </a:r>
          </a:p>
        </p:txBody>
      </p:sp>
      <p:sp>
        <p:nvSpPr>
          <p:cNvPr id="31" name="">
            <a:extLst xmlns:a="http://schemas.openxmlformats.org/drawingml/2006/main">
              <a:ext uri="{FF2B5EF4-FFF2-40B4-BE49-F238E27FC236}">
                <a16:creationId xmlns:a16="http://schemas.microsoft.com/office/drawing/2014/main" id="{907494E6-2A28-4E08-9FEB-879680BD0249}"/>
              </a:ext>
            </a:extLst>
          </p:cNvPr>
          <p:cNvSpPr>
            <a:spLocks xmlns:a="http://schemas.openxmlformats.org/drawingml/2006/main" noGrp="1"/>
          </p:cNvSpPr>
          <p:nvPr/>
        </p:nvSpPr>
        <p:spPr>
          <a:xfrm xmlns:a="http://schemas.openxmlformats.org/drawingml/2006/main">
            <a:off x="5715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2" name="">
            <a:extLst xmlns:a="http://schemas.openxmlformats.org/drawingml/2006/main">
              <a:ext uri="{FF2B5EF4-FFF2-40B4-BE49-F238E27FC236}">
                <a16:creationId xmlns:a16="http://schemas.microsoft.com/office/drawing/2014/main" id="{2421CC72-88EC-4E90-80EF-169CB26324C1}"/>
              </a:ext>
            </a:extLst>
          </p:cNvPr>
          <p:cNvSpPr>
            <a:spLocks xmlns:a="http://schemas.openxmlformats.org/drawingml/2006/main" noGrp="1"/>
          </p:cNvSpPr>
          <p:nvPr/>
        </p:nvSpPr>
        <p:spPr>
          <a:xfrm xmlns:a="http://schemas.openxmlformats.org/drawingml/2006/main">
            <a:off x="7048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C09 / 데이터 원천</a:t>
            </a:r>
          </a:p>
        </p:txBody>
      </p:sp>
      <p:sp>
        <p:nvSpPr>
          <p:cNvPr id="33" name="">
            <a:extLst xmlns:a="http://schemas.openxmlformats.org/drawingml/2006/main">
              <a:ext uri="{FF2B5EF4-FFF2-40B4-BE49-F238E27FC236}">
                <a16:creationId xmlns:a16="http://schemas.microsoft.com/office/drawing/2014/main" id="{408DD718-8C34-4338-995E-A09ADCF00980}"/>
              </a:ext>
            </a:extLst>
          </p:cNvPr>
          <p:cNvSpPr>
            <a:spLocks xmlns:a="http://schemas.openxmlformats.org/drawingml/2006/main" noGrp="1"/>
          </p:cNvSpPr>
          <p:nvPr/>
        </p:nvSpPr>
        <p:spPr>
          <a:xfrm xmlns:a="http://schemas.openxmlformats.org/drawingml/2006/main">
            <a:off x="7048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정책·서비스 목록</a:t>
            </a:r>
          </a:p>
        </p:txBody>
      </p:sp>
      <p:sp>
        <p:nvSpPr>
          <p:cNvPr id="34" name="">
            <a:extLst xmlns:a="http://schemas.openxmlformats.org/drawingml/2006/main">
              <a:ext uri="{FF2B5EF4-FFF2-40B4-BE49-F238E27FC236}">
                <a16:creationId xmlns:a16="http://schemas.microsoft.com/office/drawing/2014/main" id="{D2656954-207B-4AE2-B3FA-CBE2E2951478}"/>
              </a:ext>
            </a:extLst>
          </p:cNvPr>
          <p:cNvSpPr>
            <a:spLocks xmlns:a="http://schemas.openxmlformats.org/drawingml/2006/main" noGrp="1"/>
          </p:cNvSpPr>
          <p:nvPr/>
        </p:nvSpPr>
        <p:spPr>
          <a:xfrm xmlns:a="http://schemas.openxmlformats.org/drawingml/2006/main">
            <a:off x="33909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5" name="">
            <a:extLst xmlns:a="http://schemas.openxmlformats.org/drawingml/2006/main">
              <a:ext uri="{FF2B5EF4-FFF2-40B4-BE49-F238E27FC236}">
                <a16:creationId xmlns:a16="http://schemas.microsoft.com/office/drawing/2014/main" id="{1B88EA66-44F2-4523-B88E-353BDAE19EA3}"/>
              </a:ext>
            </a:extLst>
          </p:cNvPr>
          <p:cNvSpPr>
            <a:spLocks xmlns:a="http://schemas.openxmlformats.org/drawingml/2006/main" noGrp="1"/>
          </p:cNvSpPr>
          <p:nvPr/>
        </p:nvSpPr>
        <p:spPr>
          <a:xfrm xmlns:a="http://schemas.openxmlformats.org/drawingml/2006/main">
            <a:off x="35242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C10 / 준비·갱신</a:t>
            </a:r>
          </a:p>
        </p:txBody>
      </p:sp>
      <p:sp>
        <p:nvSpPr>
          <p:cNvPr id="36" name="">
            <a:extLst xmlns:a="http://schemas.openxmlformats.org/drawingml/2006/main">
              <a:ext uri="{FF2B5EF4-FFF2-40B4-BE49-F238E27FC236}">
                <a16:creationId xmlns:a16="http://schemas.microsoft.com/office/drawing/2014/main" id="{25DAA734-2EA3-4424-82E5-48418243C77B}"/>
              </a:ext>
            </a:extLst>
          </p:cNvPr>
          <p:cNvSpPr>
            <a:spLocks xmlns:a="http://schemas.openxmlformats.org/drawingml/2006/main" noGrp="1"/>
          </p:cNvSpPr>
          <p:nvPr/>
        </p:nvSpPr>
        <p:spPr>
          <a:xfrm xmlns:a="http://schemas.openxmlformats.org/drawingml/2006/main">
            <a:off x="35242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판본·적용조건 정리</a:t>
            </a:r>
          </a:p>
        </p:txBody>
      </p:sp>
      <p:sp>
        <p:nvSpPr>
          <p:cNvPr id="37" name="">
            <a:extLst xmlns:a="http://schemas.openxmlformats.org/drawingml/2006/main">
              <a:ext uri="{FF2B5EF4-FFF2-40B4-BE49-F238E27FC236}">
                <a16:creationId xmlns:a16="http://schemas.microsoft.com/office/drawing/2014/main" id="{C6E34938-4C3F-4849-9863-561DC5B4347F}"/>
              </a:ext>
            </a:extLst>
          </p:cNvPr>
          <p:cNvSpPr>
            <a:spLocks xmlns:a="http://schemas.openxmlformats.org/drawingml/2006/main" noGrp="1"/>
          </p:cNvSpPr>
          <p:nvPr/>
        </p:nvSpPr>
        <p:spPr>
          <a:xfrm xmlns:a="http://schemas.openxmlformats.org/drawingml/2006/main">
            <a:off x="62103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38" name="">
            <a:extLst xmlns:a="http://schemas.openxmlformats.org/drawingml/2006/main">
              <a:ext uri="{FF2B5EF4-FFF2-40B4-BE49-F238E27FC236}">
                <a16:creationId xmlns:a16="http://schemas.microsoft.com/office/drawing/2014/main" id="{B9DE6656-99A4-464F-BB9F-A0F1BFBD23C3}"/>
              </a:ext>
            </a:extLst>
          </p:cNvPr>
          <p:cNvSpPr>
            <a:spLocks xmlns:a="http://schemas.openxmlformats.org/drawingml/2006/main" noGrp="1"/>
          </p:cNvSpPr>
          <p:nvPr/>
        </p:nvSpPr>
        <p:spPr>
          <a:xfrm xmlns:a="http://schemas.openxmlformats.org/drawingml/2006/main">
            <a:off x="63436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C11 / 상태·지식 저장</a:t>
            </a:r>
          </a:p>
        </p:txBody>
      </p:sp>
      <p:sp>
        <p:nvSpPr>
          <p:cNvPr id="39" name="">
            <a:extLst xmlns:a="http://schemas.openxmlformats.org/drawingml/2006/main">
              <a:ext uri="{FF2B5EF4-FFF2-40B4-BE49-F238E27FC236}">
                <a16:creationId xmlns:a16="http://schemas.microsoft.com/office/drawing/2014/main" id="{153AB803-663A-44EF-B608-873B1658F07E}"/>
              </a:ext>
            </a:extLst>
          </p:cNvPr>
          <p:cNvSpPr>
            <a:spLocks xmlns:a="http://schemas.openxmlformats.org/drawingml/2006/main" noGrp="1"/>
          </p:cNvSpPr>
          <p:nvPr/>
        </p:nvSpPr>
        <p:spPr>
          <a:xfrm xmlns:a="http://schemas.openxmlformats.org/drawingml/2006/main">
            <a:off x="63436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안내·회귀시험셋</a:t>
            </a:r>
          </a:p>
        </p:txBody>
      </p:sp>
      <p:sp>
        <p:nvSpPr>
          <p:cNvPr id="40" name="">
            <a:extLst xmlns:a="http://schemas.openxmlformats.org/drawingml/2006/main">
              <a:ext uri="{FF2B5EF4-FFF2-40B4-BE49-F238E27FC236}">
                <a16:creationId xmlns:a16="http://schemas.microsoft.com/office/drawing/2014/main" id="{15E3B273-6D17-4613-850A-521FF399DDD0}"/>
              </a:ext>
            </a:extLst>
          </p:cNvPr>
          <p:cNvSpPr>
            <a:spLocks xmlns:a="http://schemas.openxmlformats.org/drawingml/2006/main" noGrp="1"/>
          </p:cNvSpPr>
          <p:nvPr/>
        </p:nvSpPr>
        <p:spPr>
          <a:xfrm xmlns:a="http://schemas.openxmlformats.org/drawingml/2006/main">
            <a:off x="9029700" y="4724400"/>
            <a:ext cx="2590800" cy="1066800"/>
          </a:xfrm>
          <a:prstGeom xmlns:a="http://schemas.openxmlformats.org/drawingml/2006/main" prst="rect">
            <a:avLst/>
          </a:prstGeom>
          <a:solidFill xmlns:a="http://schemas.openxmlformats.org/drawingml/2006/main">
            <a:srgbClr val="F1F4ED"/>
          </a:solidFill>
          <a:ln xmlns:a="http://schemas.openxmlformats.org/drawingml/2006/main" w="9525">
            <a:solidFill>
              <a:srgbClr val="D4DDD5"/>
            </a:solidFill>
          </a:ln>
        </p:spPr>
      </p:sp>
      <p:sp>
        <p:nvSpPr>
          <p:cNvPr id="41" name="">
            <a:extLst xmlns:a="http://schemas.openxmlformats.org/drawingml/2006/main">
              <a:ext uri="{FF2B5EF4-FFF2-40B4-BE49-F238E27FC236}">
                <a16:creationId xmlns:a16="http://schemas.microsoft.com/office/drawing/2014/main" id="{DE5FC17A-DC13-478C-A241-E38FD7BFDAAB}"/>
              </a:ext>
            </a:extLst>
          </p:cNvPr>
          <p:cNvSpPr>
            <a:spLocks xmlns:a="http://schemas.openxmlformats.org/drawingml/2006/main" noGrp="1"/>
          </p:cNvSpPr>
          <p:nvPr/>
        </p:nvSpPr>
        <p:spPr>
          <a:xfrm xmlns:a="http://schemas.openxmlformats.org/drawingml/2006/main">
            <a:off x="9163050" y="4838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C12 / 권한·정책</a:t>
            </a:r>
          </a:p>
        </p:txBody>
      </p:sp>
      <p:sp>
        <p:nvSpPr>
          <p:cNvPr id="42" name="">
            <a:extLst xmlns:a="http://schemas.openxmlformats.org/drawingml/2006/main">
              <a:ext uri="{FF2B5EF4-FFF2-40B4-BE49-F238E27FC236}">
                <a16:creationId xmlns:a16="http://schemas.microsoft.com/office/drawing/2014/main" id="{FA095463-0C89-42A5-8AF7-C3DC91B676D6}"/>
              </a:ext>
            </a:extLst>
          </p:cNvPr>
          <p:cNvSpPr>
            <a:spLocks xmlns:a="http://schemas.openxmlformats.org/drawingml/2006/main" noGrp="1"/>
          </p:cNvSpPr>
          <p:nvPr/>
        </p:nvSpPr>
        <p:spPr>
          <a:xfrm xmlns:a="http://schemas.openxmlformats.org/drawingml/2006/main">
            <a:off x="9163050" y="5191125"/>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업무 책임·품질기준</a:t>
            </a:r>
          </a:p>
        </p:txBody>
      </p:sp>
      <p:sp>
        <p:nvSpPr>
          <p:cNvPr id="52" name="">
            <a:extLst xmlns:a="http://schemas.openxmlformats.org/drawingml/2006/main">
              <a:ext uri="{FF2B5EF4-FFF2-40B4-BE49-F238E27FC236}">
                <a16:creationId xmlns:a16="http://schemas.microsoft.com/office/drawing/2014/main" id="{9AA0F339-2C03-43E4-A29E-A7366C1040A4}"/>
              </a:ext>
            </a:extLst>
          </p:cNvPr>
          <p:cNvSpPr>
            <a:spLocks xmlns:a="http://schemas.openxmlformats.org/drawingml/2006/main" noGrp="1"/>
          </p:cNvSpPr>
          <p:nvPr/>
        </p:nvSpPr>
        <p:spPr>
          <a:xfrm xmlns:a="http://schemas.openxmlformats.org/drawingml/2006/main">
            <a:off x="571500" y="59245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데이터 C11 → 조회 C03 / 정책 C12 → 문맥 C02·검증 C05 / 결과 C08 → 운영 환류</a:t>
            </a:r>
          </a:p>
        </p:txBody>
      </p:sp>
    </p:spTree>
    <p:extLst>
      <p:ext uri="{BB962C8B-B14F-4D97-AF65-F5344CB8AC3E}">
        <p14:creationId xmlns:p14="http://schemas.microsoft.com/office/powerpoint/2010/main" val="2052480085"/>
      </p:ext>
    </p:extLst>
  </p:cSld>
</p:sld>
</file>

<file path=ppt/slides/slide161.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2F0EAD51-537D-4E98-8F01-54FAF1A6D483}"/>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PF31 / 논리 인터페이스·복구 설계</a:t>
            </a:r>
          </a:p>
        </p:txBody>
      </p:sp>
      <p:sp>
        <p:nvSpPr>
          <p:cNvPr id="2" name="">
            <a:extLst xmlns:a="http://schemas.openxmlformats.org/drawingml/2006/main">
              <a:ext uri="{FF2B5EF4-FFF2-40B4-BE49-F238E27FC236}">
                <a16:creationId xmlns:a16="http://schemas.microsoft.com/office/drawing/2014/main" id="{B4999979-7DD9-427A-8DF2-2059EA624263}"/>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뉴욕 MyCity 챗봇 감사 · 데이터와 예외 처리</a:t>
            </a:r>
          </a:p>
        </p:txBody>
      </p:sp>
      <p:sp>
        <p:nvSpPr>
          <p:cNvPr id="3" name="">
            <a:extLst xmlns:a="http://schemas.openxmlformats.org/drawingml/2006/main">
              <a:ext uri="{FF2B5EF4-FFF2-40B4-BE49-F238E27FC236}">
                <a16:creationId xmlns:a16="http://schemas.microsoft.com/office/drawing/2014/main" id="{EF3B0A6B-266A-4EA5-B622-8E4AD8750BCA}"/>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11FEB63-B57B-48E0-8E0D-E1E51B17118E}"/>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765C4BA8-3EC4-44C5-B84B-C3F9166DC5CA}"/>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161</a:t>
            </a:r>
          </a:p>
        </p:txBody>
      </p:sp>
      <p:sp>
        <p:nvSpPr>
          <p:cNvPr id="6" name="">
            <a:extLst xmlns:a="http://schemas.openxmlformats.org/drawingml/2006/main">
              <a:ext uri="{FF2B5EF4-FFF2-40B4-BE49-F238E27FC236}">
                <a16:creationId xmlns:a16="http://schemas.microsoft.com/office/drawing/2014/main" id="{8E7B0A4E-832C-4207-BCDA-5903F2CEE94F}"/>
              </a:ext>
            </a:extLst>
          </p:cNvPr>
          <p:cNvSpPr>
            <a:spLocks xmlns:a="http://schemas.openxmlformats.org/drawingml/2006/main" noGrp="1"/>
          </p:cNvSpPr>
          <p:nvPr/>
        </p:nvSpPr>
        <p:spPr>
          <a:xfrm xmlns:a="http://schemas.openxmlformats.org/drawingml/2006/main">
            <a:off x="571500" y="16764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요청·처리·결과의 전달</a:t>
            </a:r>
          </a:p>
        </p:txBody>
      </p:sp>
      <p:sp>
        <p:nvSpPr>
          <p:cNvPr id="7" name="">
            <a:extLst xmlns:a="http://schemas.openxmlformats.org/drawingml/2006/main">
              <a:ext uri="{FF2B5EF4-FFF2-40B4-BE49-F238E27FC236}">
                <a16:creationId xmlns:a16="http://schemas.microsoft.com/office/drawing/2014/main" id="{2F2B5969-EEC0-460B-AD3D-B325828F9514}"/>
              </a:ext>
            </a:extLst>
          </p:cNvPr>
          <p:cNvSpPr>
            <a:spLocks xmlns:a="http://schemas.openxmlformats.org/drawingml/2006/main" noGrp="1"/>
          </p:cNvSpPr>
          <p:nvPr/>
        </p:nvSpPr>
        <p:spPr>
          <a:xfrm xmlns:a="http://schemas.openxmlformats.org/drawingml/2006/main">
            <a:off x="6334125"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42634B"/>
                </a:solidFill>
                <a:latin typeface="Pretendard"/>
                <a:ea typeface="Pretendard"/>
                <a:cs typeface="Pretendard"/>
              </a:defRPr>
            </a:defPPr>
          </a:lstStyle>
          <a:p xmlns:a="http://schemas.openxmlformats.org/drawingml/2006/main">
            <a:pPr>
              <a:defRPr sz="1650" b="1">
                <a:solidFill>
                  <a:srgbClr val="42634B"/>
                </a:solidFill>
                <a:latin typeface="Pretendard"/>
                <a:ea typeface="Pretendard"/>
                <a:cs typeface="Pretendard"/>
              </a:defRPr>
            </a:pPr>
            <a:r>
              <a:rPr sz="1650" b="1">
                <a:solidFill>
                  <a:srgbClr val="42634B"/>
                </a:solidFill>
                <a:latin typeface="Pretendard"/>
                <a:ea typeface="Pretendard"/>
                <a:cs typeface="Pretendard"/>
              </a:rPr>
              <a:t>예외·복구 경로</a:t>
            </a:r>
          </a:p>
        </p:txBody>
      </p:sp>
      <p:sp>
        <p:nvSpPr>
          <p:cNvPr id="8" name="">
            <a:extLst xmlns:a="http://schemas.openxmlformats.org/drawingml/2006/main">
              <a:ext uri="{FF2B5EF4-FFF2-40B4-BE49-F238E27FC236}">
                <a16:creationId xmlns:a16="http://schemas.microsoft.com/office/drawing/2014/main" id="{FB322EB5-B73F-4D43-9E96-486B6C336364}"/>
              </a:ext>
            </a:extLst>
          </p:cNvPr>
          <p:cNvSpPr>
            <a:spLocks xmlns:a="http://schemas.openxmlformats.org/drawingml/2006/main" noGrp="1"/>
          </p:cNvSpPr>
          <p:nvPr/>
        </p:nvSpPr>
        <p:spPr>
          <a:xfrm xmlns:a="http://schemas.openxmlformats.org/drawingml/2006/main">
            <a:off x="571500" y="21145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IF-01 요청</a:t>
            </a:r>
          </a:p>
        </p:txBody>
      </p:sp>
      <p:sp>
        <p:nvSpPr>
          <p:cNvPr id="9" name="">
            <a:extLst xmlns:a="http://schemas.openxmlformats.org/drawingml/2006/main">
              <a:ext uri="{FF2B5EF4-FFF2-40B4-BE49-F238E27FC236}">
                <a16:creationId xmlns:a16="http://schemas.microsoft.com/office/drawing/2014/main" id="{2EEC925C-18E8-400C-ADB1-6A971B84999F}"/>
              </a:ext>
            </a:extLst>
          </p:cNvPr>
          <p:cNvSpPr>
            <a:spLocks xmlns:a="http://schemas.openxmlformats.org/drawingml/2006/main" noGrp="1"/>
          </p:cNvSpPr>
          <p:nvPr/>
        </p:nvSpPr>
        <p:spPr>
          <a:xfrm xmlns:a="http://schemas.openxmlformats.org/drawingml/2006/main">
            <a:off x="2190750" y="2114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요청 업무와 공식 소관·이용조건 식별</a:t>
            </a:r>
          </a:p>
        </p:txBody>
      </p:sp>
      <p:sp>
        <p:nvSpPr>
          <p:cNvPr id="10" name="">
            <a:extLst xmlns:a="http://schemas.openxmlformats.org/drawingml/2006/main">
              <a:ext uri="{FF2B5EF4-FFF2-40B4-BE49-F238E27FC236}">
                <a16:creationId xmlns:a16="http://schemas.microsoft.com/office/drawing/2014/main" id="{BF6ACEAA-911D-4C1C-B59E-34E63E59A583}"/>
              </a:ext>
            </a:extLst>
          </p:cNvPr>
          <p:cNvSpPr>
            <a:spLocks xmlns:a="http://schemas.openxmlformats.org/drawingml/2006/main" noGrp="1"/>
          </p:cNvSpPr>
          <p:nvPr/>
        </p:nvSpPr>
        <p:spPr>
          <a:xfrm xmlns:a="http://schemas.openxmlformats.org/drawingml/2006/main">
            <a:off x="571500" y="26765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AF46155-CD8A-46AF-AEBD-BA04A68A6F81}"/>
              </a:ext>
            </a:extLst>
          </p:cNvPr>
          <p:cNvSpPr>
            <a:spLocks xmlns:a="http://schemas.openxmlformats.org/drawingml/2006/main" noGrp="1"/>
          </p:cNvSpPr>
          <p:nvPr/>
        </p:nvSpPr>
        <p:spPr>
          <a:xfrm xmlns:a="http://schemas.openxmlformats.org/drawingml/2006/main">
            <a:off x="571500" y="27432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IF-02 조회</a:t>
            </a:r>
          </a:p>
        </p:txBody>
      </p:sp>
      <p:sp>
        <p:nvSpPr>
          <p:cNvPr id="12" name="">
            <a:extLst xmlns:a="http://schemas.openxmlformats.org/drawingml/2006/main">
              <a:ext uri="{FF2B5EF4-FFF2-40B4-BE49-F238E27FC236}">
                <a16:creationId xmlns:a16="http://schemas.microsoft.com/office/drawing/2014/main" id="{9114B225-F8A9-45CF-9988-7008F8BA5087}"/>
              </a:ext>
            </a:extLst>
          </p:cNvPr>
          <p:cNvSpPr>
            <a:spLocks xmlns:a="http://schemas.openxmlformats.org/drawingml/2006/main" noGrp="1"/>
          </p:cNvSpPr>
          <p:nvPr/>
        </p:nvSpPr>
        <p:spPr>
          <a:xfrm xmlns:a="http://schemas.openxmlformats.org/drawingml/2006/main">
            <a:off x="2190750" y="27432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질문</a:t>
            </a:r>
          </a:p>
        </p:txBody>
      </p:sp>
      <p:sp>
        <p:nvSpPr>
          <p:cNvPr id="13" name="">
            <a:extLst xmlns:a="http://schemas.openxmlformats.org/drawingml/2006/main">
              <a:ext uri="{FF2B5EF4-FFF2-40B4-BE49-F238E27FC236}">
                <a16:creationId xmlns:a16="http://schemas.microsoft.com/office/drawing/2014/main" id="{70BFFBF7-BD20-4EBD-97E1-0C3A94E42E51}"/>
              </a:ext>
            </a:extLst>
          </p:cNvPr>
          <p:cNvSpPr>
            <a:spLocks xmlns:a="http://schemas.openxmlformats.org/drawingml/2006/main" noGrp="1"/>
          </p:cNvSpPr>
          <p:nvPr/>
        </p:nvSpPr>
        <p:spPr>
          <a:xfrm xmlns:a="http://schemas.openxmlformats.org/drawingml/2006/main">
            <a:off x="571500" y="33051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410C99B-E405-4E37-9BA8-EFAD733078FD}"/>
              </a:ext>
            </a:extLst>
          </p:cNvPr>
          <p:cNvSpPr>
            <a:spLocks xmlns:a="http://schemas.openxmlformats.org/drawingml/2006/main" noGrp="1"/>
          </p:cNvSpPr>
          <p:nvPr/>
        </p:nvSpPr>
        <p:spPr>
          <a:xfrm xmlns:a="http://schemas.openxmlformats.org/drawingml/2006/main">
            <a:off x="571500" y="33718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IF-03 처리</a:t>
            </a:r>
          </a:p>
        </p:txBody>
      </p:sp>
      <p:sp>
        <p:nvSpPr>
          <p:cNvPr id="15" name="">
            <a:extLst xmlns:a="http://schemas.openxmlformats.org/drawingml/2006/main">
              <a:ext uri="{FF2B5EF4-FFF2-40B4-BE49-F238E27FC236}">
                <a16:creationId xmlns:a16="http://schemas.microsoft.com/office/drawing/2014/main" id="{EDA0B401-10B0-4F61-9672-2B913DD97B44}"/>
              </a:ext>
            </a:extLst>
          </p:cNvPr>
          <p:cNvSpPr>
            <a:spLocks xmlns:a="http://schemas.openxmlformats.org/drawingml/2006/main" noGrp="1"/>
          </p:cNvSpPr>
          <p:nvPr/>
        </p:nvSpPr>
        <p:spPr>
          <a:xfrm xmlns:a="http://schemas.openxmlformats.org/drawingml/2006/main">
            <a:off x="2190750" y="33718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안내 지식</a:t>
            </a:r>
          </a:p>
        </p:txBody>
      </p:sp>
      <p:sp>
        <p:nvSpPr>
          <p:cNvPr id="16" name="">
            <a:extLst xmlns:a="http://schemas.openxmlformats.org/drawingml/2006/main">
              <a:ext uri="{FF2B5EF4-FFF2-40B4-BE49-F238E27FC236}">
                <a16:creationId xmlns:a16="http://schemas.microsoft.com/office/drawing/2014/main" id="{4E084B1A-4AC9-48CB-ABE8-77CEB44B6C72}"/>
              </a:ext>
            </a:extLst>
          </p:cNvPr>
          <p:cNvSpPr>
            <a:spLocks xmlns:a="http://schemas.openxmlformats.org/drawingml/2006/main" noGrp="1"/>
          </p:cNvSpPr>
          <p:nvPr/>
        </p:nvSpPr>
        <p:spPr>
          <a:xfrm xmlns:a="http://schemas.openxmlformats.org/drawingml/2006/main">
            <a:off x="571500" y="39338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421C1EF-65D8-41DF-AA86-BC1A8BE0C1B6}"/>
              </a:ext>
            </a:extLst>
          </p:cNvPr>
          <p:cNvSpPr>
            <a:spLocks xmlns:a="http://schemas.openxmlformats.org/drawingml/2006/main" noGrp="1"/>
          </p:cNvSpPr>
          <p:nvPr/>
        </p:nvSpPr>
        <p:spPr>
          <a:xfrm xmlns:a="http://schemas.openxmlformats.org/drawingml/2006/main">
            <a:off x="571500" y="40005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IF-04 검증</a:t>
            </a:r>
          </a:p>
        </p:txBody>
      </p:sp>
      <p:sp>
        <p:nvSpPr>
          <p:cNvPr id="18" name="">
            <a:extLst xmlns:a="http://schemas.openxmlformats.org/drawingml/2006/main">
              <a:ext uri="{FF2B5EF4-FFF2-40B4-BE49-F238E27FC236}">
                <a16:creationId xmlns:a16="http://schemas.microsoft.com/office/drawing/2014/main" id="{667A3AFB-E3EF-4F6F-8015-DFF7822385CE}"/>
              </a:ext>
            </a:extLst>
          </p:cNvPr>
          <p:cNvSpPr>
            <a:spLocks xmlns:a="http://schemas.openxmlformats.org/drawingml/2006/main" noGrp="1"/>
          </p:cNvSpPr>
          <p:nvPr/>
        </p:nvSpPr>
        <p:spPr>
          <a:xfrm xmlns:a="http://schemas.openxmlformats.org/drawingml/2006/main">
            <a:off x="2190750" y="40005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챗봇 답변</a:t>
            </a:r>
          </a:p>
        </p:txBody>
      </p:sp>
      <p:sp>
        <p:nvSpPr>
          <p:cNvPr id="19" name="">
            <a:extLst xmlns:a="http://schemas.openxmlformats.org/drawingml/2006/main">
              <a:ext uri="{FF2B5EF4-FFF2-40B4-BE49-F238E27FC236}">
                <a16:creationId xmlns:a16="http://schemas.microsoft.com/office/drawing/2014/main" id="{B26C2FCE-C979-4E68-8F56-C33CE293D130}"/>
              </a:ext>
            </a:extLst>
          </p:cNvPr>
          <p:cNvSpPr>
            <a:spLocks xmlns:a="http://schemas.openxmlformats.org/drawingml/2006/main" noGrp="1"/>
          </p:cNvSpPr>
          <p:nvPr/>
        </p:nvSpPr>
        <p:spPr>
          <a:xfrm xmlns:a="http://schemas.openxmlformats.org/drawingml/2006/main">
            <a:off x="571500" y="456247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26EF9C5-1D50-413E-A6EC-8D8D3F311AB9}"/>
              </a:ext>
            </a:extLst>
          </p:cNvPr>
          <p:cNvSpPr>
            <a:spLocks xmlns:a="http://schemas.openxmlformats.org/drawingml/2006/main" noGrp="1"/>
          </p:cNvSpPr>
          <p:nvPr/>
        </p:nvSpPr>
        <p:spPr>
          <a:xfrm xmlns:a="http://schemas.openxmlformats.org/drawingml/2006/main">
            <a:off x="571500" y="462915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IF-05 검토·인계</a:t>
            </a:r>
          </a:p>
        </p:txBody>
      </p:sp>
      <p:sp>
        <p:nvSpPr>
          <p:cNvPr id="21" name="">
            <a:extLst xmlns:a="http://schemas.openxmlformats.org/drawingml/2006/main">
              <a:ext uri="{FF2B5EF4-FFF2-40B4-BE49-F238E27FC236}">
                <a16:creationId xmlns:a16="http://schemas.microsoft.com/office/drawing/2014/main" id="{8C5B67BB-D8C3-4E22-9991-2E37A77AA71A}"/>
              </a:ext>
            </a:extLst>
          </p:cNvPr>
          <p:cNvSpPr>
            <a:spLocks xmlns:a="http://schemas.openxmlformats.org/drawingml/2006/main" noGrp="1"/>
          </p:cNvSpPr>
          <p:nvPr/>
        </p:nvSpPr>
        <p:spPr>
          <a:xfrm xmlns:a="http://schemas.openxmlformats.org/drawingml/2006/main">
            <a:off x="2190750" y="4629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챗봇 답변</a:t>
            </a:r>
          </a:p>
        </p:txBody>
      </p:sp>
      <p:sp>
        <p:nvSpPr>
          <p:cNvPr id="22" name="">
            <a:extLst xmlns:a="http://schemas.openxmlformats.org/drawingml/2006/main">
              <a:ext uri="{FF2B5EF4-FFF2-40B4-BE49-F238E27FC236}">
                <a16:creationId xmlns:a16="http://schemas.microsoft.com/office/drawing/2014/main" id="{799E0522-30CC-4CF7-A80A-467D0F284E11}"/>
              </a:ext>
            </a:extLst>
          </p:cNvPr>
          <p:cNvSpPr>
            <a:spLocks xmlns:a="http://schemas.openxmlformats.org/drawingml/2006/main" noGrp="1"/>
          </p:cNvSpPr>
          <p:nvPr/>
        </p:nvSpPr>
        <p:spPr>
          <a:xfrm xmlns:a="http://schemas.openxmlformats.org/drawingml/2006/main">
            <a:off x="571500" y="5191125"/>
            <a:ext cx="5334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7AA4A3A-2844-42BF-8218-4BA2EDD4AE01}"/>
              </a:ext>
            </a:extLst>
          </p:cNvPr>
          <p:cNvSpPr>
            <a:spLocks xmlns:a="http://schemas.openxmlformats.org/drawingml/2006/main" noGrp="1"/>
          </p:cNvSpPr>
          <p:nvPr/>
        </p:nvSpPr>
        <p:spPr>
          <a:xfrm xmlns:a="http://schemas.openxmlformats.org/drawingml/2006/main">
            <a:off x="571500" y="5257800"/>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IF-06 결과·환류</a:t>
            </a:r>
          </a:p>
        </p:txBody>
      </p:sp>
      <p:sp>
        <p:nvSpPr>
          <p:cNvPr id="24" name="">
            <a:extLst xmlns:a="http://schemas.openxmlformats.org/drawingml/2006/main">
              <a:ext uri="{FF2B5EF4-FFF2-40B4-BE49-F238E27FC236}">
                <a16:creationId xmlns:a16="http://schemas.microsoft.com/office/drawing/2014/main" id="{1C660EA0-C638-42E8-87E6-3093C4DC8FB8}"/>
              </a:ext>
            </a:extLst>
          </p:cNvPr>
          <p:cNvSpPr>
            <a:spLocks xmlns:a="http://schemas.openxmlformats.org/drawingml/2006/main" noGrp="1"/>
          </p:cNvSpPr>
          <p:nvPr/>
        </p:nvSpPr>
        <p:spPr>
          <a:xfrm xmlns:a="http://schemas.openxmlformats.org/drawingml/2006/main">
            <a:off x="2190750" y="52578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8352B"/>
                </a:solidFill>
                <a:latin typeface="Pretendard"/>
                <a:ea typeface="Pretendard"/>
                <a:cs typeface="Pretendard"/>
              </a:defRPr>
            </a:defPPr>
          </a:lstStyle>
          <a:p xmlns:a="http://schemas.openxmlformats.org/drawingml/2006/main">
            <a:pPr>
              <a:defRPr sz="1500" b="0">
                <a:solidFill>
                  <a:srgbClr val="28352B"/>
                </a:solidFill>
                <a:latin typeface="Pretendard"/>
                <a:ea typeface="Pretendard"/>
                <a:cs typeface="Pretendard"/>
              </a:defRPr>
            </a:pPr>
            <a:r>
              <a:rPr sz="1500" b="0">
                <a:solidFill>
                  <a:srgbClr val="28352B"/>
                </a:solidFill>
                <a:latin typeface="Pretendard"/>
                <a:ea typeface="Pretendard"/>
                <a:cs typeface="Pretendard"/>
              </a:rPr>
              <a:t>피드백·감사</a:t>
            </a:r>
          </a:p>
        </p:txBody>
      </p:sp>
      <p:sp>
        <p:nvSpPr>
          <p:cNvPr id="25" name="">
            <a:extLst xmlns:a="http://schemas.openxmlformats.org/drawingml/2006/main">
              <a:ext uri="{FF2B5EF4-FFF2-40B4-BE49-F238E27FC236}">
                <a16:creationId xmlns:a16="http://schemas.microsoft.com/office/drawing/2014/main" id="{FA91F401-B486-41C1-A6B6-173F921F9502}"/>
              </a:ext>
            </a:extLst>
          </p:cNvPr>
          <p:cNvSpPr>
            <a:spLocks xmlns:a="http://schemas.openxmlformats.org/drawingml/2006/main" noGrp="1"/>
          </p:cNvSpPr>
          <p:nvPr/>
        </p:nvSpPr>
        <p:spPr>
          <a:xfrm xmlns:a="http://schemas.openxmlformats.org/drawingml/2006/main">
            <a:off x="6334125" y="21145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감지</a:t>
            </a:r>
          </a:p>
        </p:txBody>
      </p:sp>
      <p:sp>
        <p:nvSpPr>
          <p:cNvPr id="26" name="">
            <a:extLst xmlns:a="http://schemas.openxmlformats.org/drawingml/2006/main">
              <a:ext uri="{FF2B5EF4-FFF2-40B4-BE49-F238E27FC236}">
                <a16:creationId xmlns:a16="http://schemas.microsoft.com/office/drawing/2014/main" id="{F363CF54-2092-49F4-A083-4F11EC78ACA3}"/>
              </a:ext>
            </a:extLst>
          </p:cNvPr>
          <p:cNvSpPr>
            <a:spLocks xmlns:a="http://schemas.openxmlformats.org/drawingml/2006/main" noGrp="1"/>
          </p:cNvSpPr>
          <p:nvPr/>
        </p:nvSpPr>
        <p:spPr>
          <a:xfrm xmlns:a="http://schemas.openxmlformats.org/drawingml/2006/main">
            <a:off x="6334125" y="246697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동일 질문 표현 변경·상충 규정·폐지된 서비스</a:t>
            </a:r>
          </a:p>
        </p:txBody>
      </p:sp>
      <p:sp>
        <p:nvSpPr>
          <p:cNvPr id="27" name="">
            <a:extLst xmlns:a="http://schemas.openxmlformats.org/drawingml/2006/main">
              <a:ext uri="{FF2B5EF4-FFF2-40B4-BE49-F238E27FC236}">
                <a16:creationId xmlns:a16="http://schemas.microsoft.com/office/drawing/2014/main" id="{C1E2D403-9166-425D-A898-BC1E08C73F90}"/>
              </a:ext>
            </a:extLst>
          </p:cNvPr>
          <p:cNvSpPr>
            <a:spLocks xmlns:a="http://schemas.openxmlformats.org/drawingml/2006/main" noGrp="1"/>
          </p:cNvSpPr>
          <p:nvPr/>
        </p:nvSpPr>
        <p:spPr>
          <a:xfrm xmlns:a="http://schemas.openxmlformats.org/drawingml/2006/main">
            <a:off x="6334125" y="30765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보류·확인</a:t>
            </a:r>
          </a:p>
        </p:txBody>
      </p:sp>
      <p:sp>
        <p:nvSpPr>
          <p:cNvPr id="28" name="">
            <a:extLst xmlns:a="http://schemas.openxmlformats.org/drawingml/2006/main">
              <a:ext uri="{FF2B5EF4-FFF2-40B4-BE49-F238E27FC236}">
                <a16:creationId xmlns:a16="http://schemas.microsoft.com/office/drawing/2014/main" id="{354B98F1-F9DA-45D5-A9CC-3EA75F99F9EE}"/>
              </a:ext>
            </a:extLst>
          </p:cNvPr>
          <p:cNvSpPr>
            <a:spLocks xmlns:a="http://schemas.openxmlformats.org/drawingml/2006/main" noGrp="1"/>
          </p:cNvSpPr>
          <p:nvPr/>
        </p:nvSpPr>
        <p:spPr>
          <a:xfrm xmlns:a="http://schemas.openxmlformats.org/drawingml/2006/main">
            <a:off x="6334125" y="3429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감사 지적과 기관 반론의 근거별 추적</a:t>
            </a:r>
          </a:p>
        </p:txBody>
      </p:sp>
      <p:sp>
        <p:nvSpPr>
          <p:cNvPr id="29" name="">
            <a:extLst xmlns:a="http://schemas.openxmlformats.org/drawingml/2006/main">
              <a:ext uri="{FF2B5EF4-FFF2-40B4-BE49-F238E27FC236}">
                <a16:creationId xmlns:a16="http://schemas.microsoft.com/office/drawing/2014/main" id="{60F2128A-FE4E-4BE8-ADAE-7C38CBF52347}"/>
              </a:ext>
            </a:extLst>
          </p:cNvPr>
          <p:cNvSpPr>
            <a:spLocks xmlns:a="http://schemas.openxmlformats.org/drawingml/2006/main" noGrp="1"/>
          </p:cNvSpPr>
          <p:nvPr/>
        </p:nvSpPr>
        <p:spPr>
          <a:xfrm xmlns:a="http://schemas.openxmlformats.org/drawingml/2006/main">
            <a:off x="6334125" y="4038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보정·재검증</a:t>
            </a:r>
          </a:p>
        </p:txBody>
      </p:sp>
      <p:sp>
        <p:nvSpPr>
          <p:cNvPr id="30" name="">
            <a:extLst xmlns:a="http://schemas.openxmlformats.org/drawingml/2006/main">
              <a:ext uri="{FF2B5EF4-FFF2-40B4-BE49-F238E27FC236}">
                <a16:creationId xmlns:a16="http://schemas.microsoft.com/office/drawing/2014/main" id="{A55D45E2-AB27-4449-887C-4EFEF380E560}"/>
              </a:ext>
            </a:extLst>
          </p:cNvPr>
          <p:cNvSpPr>
            <a:spLocks xmlns:a="http://schemas.openxmlformats.org/drawingml/2006/main" noGrp="1"/>
          </p:cNvSpPr>
          <p:nvPr/>
        </p:nvSpPr>
        <p:spPr>
          <a:xfrm xmlns:a="http://schemas.openxmlformats.org/drawingml/2006/main">
            <a:off x="6334125" y="43910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회귀시험·오답 보완·계약 산출물의 대사</a:t>
            </a:r>
          </a:p>
        </p:txBody>
      </p:sp>
      <p:sp>
        <p:nvSpPr>
          <p:cNvPr id="31" name="">
            <a:extLst xmlns:a="http://schemas.openxmlformats.org/drawingml/2006/main">
              <a:ext uri="{FF2B5EF4-FFF2-40B4-BE49-F238E27FC236}">
                <a16:creationId xmlns:a16="http://schemas.microsoft.com/office/drawing/2014/main" id="{9A54257B-12DA-409A-8C86-73A1E206F7BE}"/>
              </a:ext>
            </a:extLst>
          </p:cNvPr>
          <p:cNvSpPr>
            <a:spLocks xmlns:a="http://schemas.openxmlformats.org/drawingml/2006/main" noGrp="1"/>
          </p:cNvSpPr>
          <p:nvPr/>
        </p:nvSpPr>
        <p:spPr>
          <a:xfrm xmlns:a="http://schemas.openxmlformats.org/drawingml/2006/main">
            <a:off x="6334125" y="5000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종료 증빙</a:t>
            </a:r>
          </a:p>
        </p:txBody>
      </p:sp>
      <p:sp>
        <p:nvSpPr>
          <p:cNvPr id="32" name="">
            <a:extLst xmlns:a="http://schemas.openxmlformats.org/drawingml/2006/main">
              <a:ext uri="{FF2B5EF4-FFF2-40B4-BE49-F238E27FC236}">
                <a16:creationId xmlns:a16="http://schemas.microsoft.com/office/drawing/2014/main" id="{568EF114-5805-499D-98AE-07786BEFA2F2}"/>
              </a:ext>
            </a:extLst>
          </p:cNvPr>
          <p:cNvSpPr>
            <a:spLocks xmlns:a="http://schemas.openxmlformats.org/drawingml/2006/main" noGrp="1"/>
          </p:cNvSpPr>
          <p:nvPr/>
        </p:nvSpPr>
        <p:spPr>
          <a:xfrm xmlns:a="http://schemas.openxmlformats.org/drawingml/2006/main">
            <a:off x="6334125" y="535305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질문별 정답·변형 질의 일관성·실제 서비스 도달 기록</a:t>
            </a:r>
          </a:p>
        </p:txBody>
      </p:sp>
    </p:spTree>
    <p:extLst>
      <p:ext uri="{BB962C8B-B14F-4D97-AF65-F5344CB8AC3E}">
        <p14:creationId xmlns:p14="http://schemas.microsoft.com/office/powerpoint/2010/main" val="537670118"/>
      </p:ext>
    </p:extLst>
  </p:cSld>
</p:sld>
</file>

<file path=ppt/slides/slide16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CD09CD4-62D2-48A8-B2B8-AAEABC36B87E}"/>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PF31 / CCK 비교·재현 시험 설계</a:t>
            </a:r>
          </a:p>
        </p:txBody>
      </p:sp>
      <p:sp>
        <p:nvSpPr>
          <p:cNvPr id="2" name="">
            <a:extLst xmlns:a="http://schemas.openxmlformats.org/drawingml/2006/main">
              <a:ext uri="{FF2B5EF4-FFF2-40B4-BE49-F238E27FC236}">
                <a16:creationId xmlns:a16="http://schemas.microsoft.com/office/drawing/2014/main" id="{D86731FA-A3BD-4D31-B9DA-80478E1FA284}"/>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뉴욕 MyCity 챗봇 감사 · 벤치마킹</a:t>
            </a:r>
          </a:p>
        </p:txBody>
      </p:sp>
      <p:sp>
        <p:nvSpPr>
          <p:cNvPr id="3" name="">
            <a:extLst xmlns:a="http://schemas.openxmlformats.org/drawingml/2006/main">
              <a:ext uri="{FF2B5EF4-FFF2-40B4-BE49-F238E27FC236}">
                <a16:creationId xmlns:a16="http://schemas.microsoft.com/office/drawing/2014/main" id="{28B20AE6-AA59-40BE-9DD0-C773EAD9E7EA}"/>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A480E57-BA12-4F47-9E8D-A2C51CEFAF22}"/>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6E348EB7-DA7B-4D80-A934-85B6133A5985}"/>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162</a:t>
            </a:r>
          </a:p>
        </p:txBody>
      </p:sp>
      <p:sp>
        <p:nvSpPr>
          <p:cNvPr id="6" name="">
            <a:extLst xmlns:a="http://schemas.openxmlformats.org/drawingml/2006/main">
              <a:ext uri="{FF2B5EF4-FFF2-40B4-BE49-F238E27FC236}">
                <a16:creationId xmlns:a16="http://schemas.microsoft.com/office/drawing/2014/main" id="{22F373DF-08DC-4B24-9317-403246794158}"/>
              </a:ext>
            </a:extLst>
          </p:cNvPr>
          <p:cNvSpPr>
            <a:spLocks xmlns:a="http://schemas.openxmlformats.org/drawingml/2006/main" noGrp="1"/>
          </p:cNvSpPr>
          <p:nvPr/>
        </p:nvSpPr>
        <p:spPr>
          <a:xfrm xmlns:a="http://schemas.openxmlformats.org/drawingml/2006/main">
            <a:off x="571500" y="1809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재발 방지 조건</a:t>
            </a:r>
          </a:p>
        </p:txBody>
      </p:sp>
      <p:sp>
        <p:nvSpPr>
          <p:cNvPr id="7" name="">
            <a:extLst xmlns:a="http://schemas.openxmlformats.org/drawingml/2006/main">
              <a:ext uri="{FF2B5EF4-FFF2-40B4-BE49-F238E27FC236}">
                <a16:creationId xmlns:a16="http://schemas.microsoft.com/office/drawing/2014/main" id="{88F30106-F66A-4F76-9879-52EDFD45F549}"/>
              </a:ext>
            </a:extLst>
          </p:cNvPr>
          <p:cNvSpPr>
            <a:spLocks xmlns:a="http://schemas.openxmlformats.org/drawingml/2006/main" noGrp="1"/>
          </p:cNvSpPr>
          <p:nvPr/>
        </p:nvSpPr>
        <p:spPr>
          <a:xfrm xmlns:a="http://schemas.openxmlformats.org/drawingml/2006/main">
            <a:off x="571500" y="2162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통합 서비스의 완료조건 정의</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응답 품질·계약 증빙의 독립 검토</a:t>
            </a:r>
          </a:p>
        </p:txBody>
      </p:sp>
      <p:sp>
        <p:nvSpPr>
          <p:cNvPr id="8" name="">
            <a:extLst xmlns:a="http://schemas.openxmlformats.org/drawingml/2006/main">
              <a:ext uri="{FF2B5EF4-FFF2-40B4-BE49-F238E27FC236}">
                <a16:creationId xmlns:a16="http://schemas.microsoft.com/office/drawing/2014/main" id="{C73A4E6F-4598-48D9-A864-61582B88BC7A}"/>
              </a:ext>
            </a:extLst>
          </p:cNvPr>
          <p:cNvSpPr>
            <a:spLocks xmlns:a="http://schemas.openxmlformats.org/drawingml/2006/main" noGrp="1"/>
          </p:cNvSpPr>
          <p:nvPr/>
        </p:nvSpPr>
        <p:spPr>
          <a:xfrm xmlns:a="http://schemas.openxmlformats.org/drawingml/2006/main">
            <a:off x="571500" y="3429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실패 요인·시정 쟁점</a:t>
            </a:r>
          </a:p>
        </p:txBody>
      </p:sp>
      <p:sp>
        <p:nvSpPr>
          <p:cNvPr id="9" name="">
            <a:extLst xmlns:a="http://schemas.openxmlformats.org/drawingml/2006/main">
              <a:ext uri="{FF2B5EF4-FFF2-40B4-BE49-F238E27FC236}">
                <a16:creationId xmlns:a16="http://schemas.microsoft.com/office/drawing/2014/main" id="{AA73D657-1241-4DC7-8F96-3D8A3B8DE3EC}"/>
              </a:ext>
            </a:extLst>
          </p:cNvPr>
          <p:cNvSpPr>
            <a:spLocks xmlns:a="http://schemas.openxmlformats.org/drawingml/2006/main" noGrp="1"/>
          </p:cNvSpPr>
          <p:nvPr/>
        </p:nvSpPr>
        <p:spPr>
          <a:xfrm xmlns:a="http://schemas.openxmlformats.org/drawingml/2006/main">
            <a:off x="571500" y="37814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감사에서 지적된 비일관 답변</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사업계획·계약 감독·서비스 통합의 미비</a:t>
            </a:r>
          </a:p>
        </p:txBody>
      </p:sp>
      <p:sp>
        <p:nvSpPr>
          <p:cNvPr id="10" name="">
            <a:extLst xmlns:a="http://schemas.openxmlformats.org/drawingml/2006/main">
              <a:ext uri="{FF2B5EF4-FFF2-40B4-BE49-F238E27FC236}">
                <a16:creationId xmlns:a16="http://schemas.microsoft.com/office/drawing/2014/main" id="{57ED915D-FB28-4453-83EF-FE1F424F56B7}"/>
              </a:ext>
            </a:extLst>
          </p:cNvPr>
          <p:cNvSpPr>
            <a:spLocks xmlns:a="http://schemas.openxmlformats.org/drawingml/2006/main" noGrp="1"/>
          </p:cNvSpPr>
          <p:nvPr/>
        </p:nvSpPr>
        <p:spPr>
          <a:xfrm xmlns:a="http://schemas.openxmlformats.org/drawingml/2006/main">
            <a:off x="571500" y="5048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통제 지점</a:t>
            </a:r>
          </a:p>
        </p:txBody>
      </p:sp>
      <p:sp>
        <p:nvSpPr>
          <p:cNvPr id="11" name="">
            <a:extLst xmlns:a="http://schemas.openxmlformats.org/drawingml/2006/main">
              <a:ext uri="{FF2B5EF4-FFF2-40B4-BE49-F238E27FC236}">
                <a16:creationId xmlns:a16="http://schemas.microsoft.com/office/drawing/2014/main" id="{687E3761-B045-49D0-B55C-43A4A334BB81}"/>
              </a:ext>
            </a:extLst>
          </p:cNvPr>
          <p:cNvSpPr>
            <a:spLocks xmlns:a="http://schemas.openxmlformats.org/drawingml/2006/main" noGrp="1"/>
          </p:cNvSpPr>
          <p:nvPr/>
        </p:nvSpPr>
        <p:spPr>
          <a:xfrm xmlns:a="http://schemas.openxmlformats.org/drawingml/2006/main">
            <a:off x="571500" y="54006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감사 지적과 기관 반론의 근거별 추적</a:t>
            </a:r>
          </a:p>
        </p:txBody>
      </p:sp>
      <p:sp>
        <p:nvSpPr>
          <p:cNvPr id="12" name="">
            <a:extLst xmlns:a="http://schemas.openxmlformats.org/drawingml/2006/main">
              <a:ext uri="{FF2B5EF4-FFF2-40B4-BE49-F238E27FC236}">
                <a16:creationId xmlns:a16="http://schemas.microsoft.com/office/drawing/2014/main" id="{2C8C4731-E5BD-4D67-A79F-B839FA53496F}"/>
              </a:ext>
            </a:extLst>
          </p:cNvPr>
          <p:cNvSpPr>
            <a:spLocks xmlns:a="http://schemas.openxmlformats.org/drawingml/2006/main" noGrp="1"/>
          </p:cNvSpPr>
          <p:nvPr/>
        </p:nvSpPr>
        <p:spPr>
          <a:xfrm xmlns:a="http://schemas.openxmlformats.org/drawingml/2006/main">
            <a:off x="6334125" y="18097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정상 과업</a:t>
            </a:r>
          </a:p>
        </p:txBody>
      </p:sp>
      <p:sp>
        <p:nvSpPr>
          <p:cNvPr id="13" name="">
            <a:extLst xmlns:a="http://schemas.openxmlformats.org/drawingml/2006/main">
              <a:ext uri="{FF2B5EF4-FFF2-40B4-BE49-F238E27FC236}">
                <a16:creationId xmlns:a16="http://schemas.microsoft.com/office/drawing/2014/main" id="{7B942981-938C-4C4D-A03D-20669F05905F}"/>
              </a:ext>
            </a:extLst>
          </p:cNvPr>
          <p:cNvSpPr>
            <a:spLocks xmlns:a="http://schemas.openxmlformats.org/drawingml/2006/main" noGrp="1"/>
          </p:cNvSpPr>
          <p:nvPr/>
        </p:nvSpPr>
        <p:spPr>
          <a:xfrm xmlns:a="http://schemas.openxmlformats.org/drawingml/2006/main">
            <a:off x="6334125" y="21621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사업자가 허가 조건을 질문해 공식 안내로 이동</a:t>
            </a:r>
          </a:p>
        </p:txBody>
      </p:sp>
      <p:sp>
        <p:nvSpPr>
          <p:cNvPr id="14" name="">
            <a:extLst xmlns:a="http://schemas.openxmlformats.org/drawingml/2006/main">
              <a:ext uri="{FF2B5EF4-FFF2-40B4-BE49-F238E27FC236}">
                <a16:creationId xmlns:a16="http://schemas.microsoft.com/office/drawing/2014/main" id="{E1B8A3EF-0CDA-4093-ADFA-1B718792C8D0}"/>
              </a:ext>
            </a:extLst>
          </p:cNvPr>
          <p:cNvSpPr>
            <a:spLocks xmlns:a="http://schemas.openxmlformats.org/drawingml/2006/main" noGrp="1"/>
          </p:cNvSpPr>
          <p:nvPr/>
        </p:nvSpPr>
        <p:spPr>
          <a:xfrm xmlns:a="http://schemas.openxmlformats.org/drawingml/2006/main">
            <a:off x="6334125" y="32861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예외 입력</a:t>
            </a:r>
          </a:p>
        </p:txBody>
      </p:sp>
      <p:sp>
        <p:nvSpPr>
          <p:cNvPr id="15" name="">
            <a:extLst xmlns:a="http://schemas.openxmlformats.org/drawingml/2006/main">
              <a:ext uri="{FF2B5EF4-FFF2-40B4-BE49-F238E27FC236}">
                <a16:creationId xmlns:a16="http://schemas.microsoft.com/office/drawing/2014/main" id="{B71458D8-B8E9-4DBD-A029-BB10C49159AC}"/>
              </a:ext>
            </a:extLst>
          </p:cNvPr>
          <p:cNvSpPr>
            <a:spLocks xmlns:a="http://schemas.openxmlformats.org/drawingml/2006/main" noGrp="1"/>
          </p:cNvSpPr>
          <p:nvPr/>
        </p:nvSpPr>
        <p:spPr>
          <a:xfrm xmlns:a="http://schemas.openxmlformats.org/drawingml/2006/main">
            <a:off x="6334125" y="3638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동일 질문 표현 변경·상충 규정·폐지된 서비스</a:t>
            </a:r>
          </a:p>
        </p:txBody>
      </p:sp>
      <p:sp>
        <p:nvSpPr>
          <p:cNvPr id="16" name="">
            <a:extLst xmlns:a="http://schemas.openxmlformats.org/drawingml/2006/main">
              <a:ext uri="{FF2B5EF4-FFF2-40B4-BE49-F238E27FC236}">
                <a16:creationId xmlns:a16="http://schemas.microsoft.com/office/drawing/2014/main" id="{BA77B1A3-F69D-445E-A143-580A1984D8F8}"/>
              </a:ext>
            </a:extLst>
          </p:cNvPr>
          <p:cNvSpPr>
            <a:spLocks xmlns:a="http://schemas.openxmlformats.org/drawingml/2006/main" noGrp="1"/>
          </p:cNvSpPr>
          <p:nvPr/>
        </p:nvSpPr>
        <p:spPr>
          <a:xfrm xmlns:a="http://schemas.openxmlformats.org/drawingml/2006/main">
            <a:off x="6334125" y="46672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판정·증빙</a:t>
            </a:r>
          </a:p>
        </p:txBody>
      </p:sp>
      <p:sp>
        <p:nvSpPr>
          <p:cNvPr id="17" name="">
            <a:extLst xmlns:a="http://schemas.openxmlformats.org/drawingml/2006/main">
              <a:ext uri="{FF2B5EF4-FFF2-40B4-BE49-F238E27FC236}">
                <a16:creationId xmlns:a16="http://schemas.microsoft.com/office/drawing/2014/main" id="{1347BAE5-23A3-4FDE-8519-555B9B273FAE}"/>
              </a:ext>
            </a:extLst>
          </p:cNvPr>
          <p:cNvSpPr>
            <a:spLocks xmlns:a="http://schemas.openxmlformats.org/drawingml/2006/main" noGrp="1"/>
          </p:cNvSpPr>
          <p:nvPr/>
        </p:nvSpPr>
        <p:spPr>
          <a:xfrm xmlns:a="http://schemas.openxmlformats.org/drawingml/2006/main">
            <a:off x="6334125" y="501967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8352B"/>
                </a:solidFill>
                <a:latin typeface="Pretendard"/>
                <a:ea typeface="Pretendard"/>
                <a:cs typeface="Pretendard"/>
              </a:defRPr>
            </a:defPPr>
          </a:lstStyle>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질문별 정답·변형 질의 일관성·실제 서비스 도달 기</a:t>
            </a:r>
          </a:p>
          <a:p xmlns:a="http://schemas.openxmlformats.org/drawingml/2006/main">
            <a:pPr>
              <a:defRPr sz="1800" b="0">
                <a:solidFill>
                  <a:srgbClr val="28352B"/>
                </a:solidFill>
                <a:latin typeface="Pretendard"/>
                <a:ea typeface="Pretendard"/>
                <a:cs typeface="Pretendard"/>
              </a:defRPr>
            </a:pPr>
            <a:r>
              <a:rPr sz="1800" b="0">
                <a:solidFill>
                  <a:srgbClr val="28352B"/>
                </a:solidFill>
                <a:latin typeface="Pretendard"/>
                <a:ea typeface="Pretendard"/>
                <a:cs typeface="Pretendard"/>
              </a:rPr>
              <a:t>록</a:t>
            </a:r>
          </a:p>
        </p:txBody>
      </p:sp>
    </p:spTree>
    <p:extLst>
      <p:ext uri="{BB962C8B-B14F-4D97-AF65-F5344CB8AC3E}">
        <p14:creationId xmlns:p14="http://schemas.microsoft.com/office/powerpoint/2010/main" val="1214590499"/>
      </p:ext>
    </p:extLst>
  </p:cSld>
</p:sld>
</file>

<file path=ppt/slides/slide16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44AB528-2B3C-4FBD-A0F3-7DBFE2BA192F}"/>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ST-04 / TS 담당 부서·실제 업무 / 1차 공통 기반</a:t>
            </a:r>
          </a:p>
        </p:txBody>
      </p:sp>
      <p:sp>
        <p:nvSpPr>
          <p:cNvPr id="2" name="">
            <a:extLst xmlns:a="http://schemas.openxmlformats.org/drawingml/2006/main">
              <a:ext uri="{FF2B5EF4-FFF2-40B4-BE49-F238E27FC236}">
                <a16:creationId xmlns:a16="http://schemas.microsoft.com/office/drawing/2014/main" id="{1448DCCD-E1F0-40EB-88A5-565A43B61DF4}"/>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조직 네이티브 공통 기반</a:t>
            </a:r>
          </a:p>
        </p:txBody>
      </p:sp>
      <p:sp>
        <p:nvSpPr>
          <p:cNvPr id="3" name="">
            <a:extLst xmlns:a="http://schemas.openxmlformats.org/drawingml/2006/main">
              <a:ext uri="{FF2B5EF4-FFF2-40B4-BE49-F238E27FC236}">
                <a16:creationId xmlns:a16="http://schemas.microsoft.com/office/drawing/2014/main" id="{7BF548E6-C3CB-4878-92BD-18E831AB41A7}"/>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8A2002A-ED63-4628-B510-F2CEABC83FAE}"/>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47637C36-1CA4-4175-B941-1BD64D44ABDB}"/>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163</a:t>
            </a:r>
          </a:p>
        </p:txBody>
      </p:sp>
      <p:sp>
        <p:nvSpPr>
          <p:cNvPr id="6" name="">
            <a:extLst xmlns:a="http://schemas.openxmlformats.org/drawingml/2006/main">
              <a:ext uri="{FF2B5EF4-FFF2-40B4-BE49-F238E27FC236}">
                <a16:creationId xmlns:a16="http://schemas.microsoft.com/office/drawing/2014/main" id="{68D8AB08-66D1-42DF-BE49-9C45EB15C99B}"/>
              </a:ext>
            </a:extLst>
          </p:cNvPr>
          <p:cNvSpPr>
            <a:spLocks xmlns:a="http://schemas.openxmlformats.org/drawingml/2006/main" noGrp="1"/>
          </p:cNvSpPr>
          <p:nvPr/>
        </p:nvSpPr>
        <p:spPr>
          <a:xfrm xmlns:a="http://schemas.openxmlformats.org/drawingml/2006/main">
            <a:off x="571500" y="15144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42634B"/>
                </a:solidFill>
                <a:latin typeface="Pretendard"/>
                <a:ea typeface="Pretendard"/>
                <a:cs typeface="Pretendard"/>
              </a:defRPr>
            </a:defPPr>
          </a:lstStyle>
          <a:p xmlns:a="http://schemas.openxmlformats.org/drawingml/2006/main">
            <a:pPr>
              <a:defRPr sz="1575" b="0">
                <a:solidFill>
                  <a:srgbClr val="42634B"/>
                </a:solidFill>
                <a:latin typeface="Pretendard"/>
                <a:ea typeface="Pretendard"/>
                <a:cs typeface="Pretendard"/>
              </a:defRPr>
            </a:pPr>
            <a:r>
              <a:rPr sz="1575" b="0">
                <a:solidFill>
                  <a:srgbClr val="42634B"/>
                </a:solidFill>
                <a:latin typeface="Pretendard"/>
                <a:ea typeface="Pretendard"/>
                <a:cs typeface="Pretendard"/>
              </a:rPr>
              <a:t>교통안전체계 인공지능 대전환</a:t>
            </a:r>
          </a:p>
        </p:txBody>
      </p:sp>
      <p:sp>
        <p:nvSpPr>
          <p:cNvPr id="7" name="">
            <a:extLst xmlns:a="http://schemas.openxmlformats.org/drawingml/2006/main">
              <a:ext uri="{FF2B5EF4-FFF2-40B4-BE49-F238E27FC236}">
                <a16:creationId xmlns:a16="http://schemas.microsoft.com/office/drawing/2014/main" id="{9270F915-D482-48F0-AAA6-B6374BCF6DC7}"/>
              </a:ext>
            </a:extLst>
          </p:cNvPr>
          <p:cNvSpPr>
            <a:spLocks xmlns:a="http://schemas.openxmlformats.org/drawingml/2006/main" noGrp="1"/>
          </p:cNvSpPr>
          <p:nvPr/>
        </p:nvSpPr>
        <p:spPr>
          <a:xfrm xmlns:a="http://schemas.openxmlformats.org/drawingml/2006/main">
            <a:off x="571500" y="190500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D366686-20B4-4F54-8F3E-7B9195FDC70F}"/>
              </a:ext>
            </a:extLst>
          </p:cNvPr>
          <p:cNvSpPr>
            <a:spLocks xmlns:a="http://schemas.openxmlformats.org/drawingml/2006/main" noGrp="1"/>
          </p:cNvSpPr>
          <p:nvPr/>
        </p:nvSpPr>
        <p:spPr>
          <a:xfrm xmlns:a="http://schemas.openxmlformats.org/drawingml/2006/main">
            <a:off x="571500" y="2000250"/>
            <a:ext cx="2238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42634B"/>
                </a:solidFill>
                <a:latin typeface="Pretendard"/>
                <a:ea typeface="Pretendard"/>
                <a:cs typeface="Pretendard"/>
              </a:defRPr>
            </a:defPPr>
          </a:lstStyle>
          <a:p xmlns:a="http://schemas.openxmlformats.org/drawingml/2006/main">
            <a:pPr>
              <a:defRPr sz="1725" b="1">
                <a:solidFill>
                  <a:srgbClr val="42634B"/>
                </a:solidFill>
                <a:latin typeface="Pretendard"/>
                <a:ea typeface="Pretendard"/>
                <a:cs typeface="Pretendard"/>
              </a:defRPr>
            </a:pPr>
            <a:r>
              <a:rPr sz="1725" b="1">
                <a:solidFill>
                  <a:srgbClr val="42634B"/>
                </a:solidFill>
                <a:latin typeface="Pretendard"/>
                <a:ea typeface="Pretendard"/>
                <a:cs typeface="Pretendard"/>
              </a:rPr>
              <a:t>AI미래전략실</a:t>
            </a:r>
          </a:p>
        </p:txBody>
      </p:sp>
      <p:sp>
        <p:nvSpPr>
          <p:cNvPr id="9" name="">
            <a:extLst xmlns:a="http://schemas.openxmlformats.org/drawingml/2006/main">
              <a:ext uri="{FF2B5EF4-FFF2-40B4-BE49-F238E27FC236}">
                <a16:creationId xmlns:a16="http://schemas.microsoft.com/office/drawing/2014/main" id="{53E8B27A-7D1F-4099-A764-F779248A788B}"/>
              </a:ext>
            </a:extLst>
          </p:cNvPr>
          <p:cNvSpPr>
            <a:spLocks xmlns:a="http://schemas.openxmlformats.org/drawingml/2006/main" noGrp="1"/>
          </p:cNvSpPr>
          <p:nvPr/>
        </p:nvSpPr>
        <p:spPr>
          <a:xfrm xmlns:a="http://schemas.openxmlformats.org/drawingml/2006/main">
            <a:off x="571500" y="2371725"/>
            <a:ext cx="223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28352B"/>
                </a:solidFill>
                <a:latin typeface="Pretendard"/>
                <a:ea typeface="Pretendard"/>
                <a:cs typeface="Pretendard"/>
              </a:defRPr>
            </a:defPPr>
          </a:lstStyle>
          <a:p xmlns:a="http://schemas.openxmlformats.org/drawingml/2006/main">
            <a:pPr>
              <a:defRPr sz="1350" b="0">
                <a:solidFill>
                  <a:srgbClr val="28352B"/>
                </a:solidFill>
                <a:latin typeface="Pretendard"/>
                <a:ea typeface="Pretendard"/>
                <a:cs typeface="Pretendard"/>
              </a:defRPr>
            </a:pPr>
            <a:r>
              <a:rPr sz="1350" b="0">
                <a:solidFill>
                  <a:srgbClr val="28352B"/>
                </a:solidFill>
                <a:latin typeface="Pretendard"/>
                <a:ea typeface="Pretendard"/>
                <a:cs typeface="Pretendard"/>
              </a:rPr>
              <a:t>AI 전략·윤리</a:t>
            </a:r>
          </a:p>
        </p:txBody>
      </p:sp>
      <p:sp>
        <p:nvSpPr>
          <p:cNvPr id="10" name="">
            <a:extLst xmlns:a="http://schemas.openxmlformats.org/drawingml/2006/main">
              <a:ext uri="{FF2B5EF4-FFF2-40B4-BE49-F238E27FC236}">
                <a16:creationId xmlns:a16="http://schemas.microsoft.com/office/drawing/2014/main" id="{665D2AD0-CAE4-4F42-B68B-C13A5E6E7894}"/>
              </a:ext>
            </a:extLst>
          </p:cNvPr>
          <p:cNvSpPr>
            <a:spLocks xmlns:a="http://schemas.openxmlformats.org/drawingml/2006/main" noGrp="1"/>
          </p:cNvSpPr>
          <p:nvPr/>
        </p:nvSpPr>
        <p:spPr>
          <a:xfrm xmlns:a="http://schemas.openxmlformats.org/drawingml/2006/main">
            <a:off x="3143250" y="2000250"/>
            <a:ext cx="847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4. 인공지능(AI) 전환 전략 수립․조정</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6. 인공지능(AI) 제도 및 지침, 윤리기준 관리</a:t>
            </a:r>
          </a:p>
        </p:txBody>
      </p:sp>
      <p:sp>
        <p:nvSpPr>
          <p:cNvPr id="11" name="">
            <a:extLst xmlns:a="http://schemas.openxmlformats.org/drawingml/2006/main">
              <a:ext uri="{FF2B5EF4-FFF2-40B4-BE49-F238E27FC236}">
                <a16:creationId xmlns:a16="http://schemas.microsoft.com/office/drawing/2014/main" id="{E9B44151-4298-46BD-ACD0-705A349E732F}"/>
              </a:ext>
            </a:extLst>
          </p:cNvPr>
          <p:cNvSpPr>
            <a:spLocks xmlns:a="http://schemas.openxmlformats.org/drawingml/2006/main" noGrp="1"/>
          </p:cNvSpPr>
          <p:nvPr/>
        </p:nvSpPr>
        <p:spPr>
          <a:xfrm xmlns:a="http://schemas.openxmlformats.org/drawingml/2006/main">
            <a:off x="571500" y="2905125"/>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B4F0226-F6D8-4553-9DA4-18E3F21AAA3D}"/>
              </a:ext>
            </a:extLst>
          </p:cNvPr>
          <p:cNvSpPr>
            <a:spLocks xmlns:a="http://schemas.openxmlformats.org/drawingml/2006/main" noGrp="1"/>
          </p:cNvSpPr>
          <p:nvPr/>
        </p:nvSpPr>
        <p:spPr>
          <a:xfrm xmlns:a="http://schemas.openxmlformats.org/drawingml/2006/main">
            <a:off x="571500" y="3000375"/>
            <a:ext cx="2238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42634B"/>
                </a:solidFill>
                <a:latin typeface="Pretendard"/>
                <a:ea typeface="Pretendard"/>
                <a:cs typeface="Pretendard"/>
              </a:defRPr>
            </a:defPPr>
          </a:lstStyle>
          <a:p xmlns:a="http://schemas.openxmlformats.org/drawingml/2006/main">
            <a:pPr>
              <a:defRPr sz="1725" b="1">
                <a:solidFill>
                  <a:srgbClr val="42634B"/>
                </a:solidFill>
                <a:latin typeface="Pretendard"/>
                <a:ea typeface="Pretendard"/>
                <a:cs typeface="Pretendard"/>
              </a:defRPr>
            </a:pPr>
            <a:r>
              <a:rPr sz="1725" b="1">
                <a:solidFill>
                  <a:srgbClr val="42634B"/>
                </a:solidFill>
                <a:latin typeface="Pretendard"/>
                <a:ea typeface="Pretendard"/>
                <a:cs typeface="Pretendard"/>
              </a:rPr>
              <a:t>AI혁신처</a:t>
            </a:r>
          </a:p>
        </p:txBody>
      </p:sp>
      <p:sp>
        <p:nvSpPr>
          <p:cNvPr id="13" name="">
            <a:extLst xmlns:a="http://schemas.openxmlformats.org/drawingml/2006/main">
              <a:ext uri="{FF2B5EF4-FFF2-40B4-BE49-F238E27FC236}">
                <a16:creationId xmlns:a16="http://schemas.microsoft.com/office/drawing/2014/main" id="{0BD1090D-9D99-48E3-B64F-BBBE81761010}"/>
              </a:ext>
            </a:extLst>
          </p:cNvPr>
          <p:cNvSpPr>
            <a:spLocks xmlns:a="http://schemas.openxmlformats.org/drawingml/2006/main" noGrp="1"/>
          </p:cNvSpPr>
          <p:nvPr/>
        </p:nvSpPr>
        <p:spPr>
          <a:xfrm xmlns:a="http://schemas.openxmlformats.org/drawingml/2006/main">
            <a:off x="571500" y="3371850"/>
            <a:ext cx="223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28352B"/>
                </a:solidFill>
                <a:latin typeface="Pretendard"/>
                <a:ea typeface="Pretendard"/>
                <a:cs typeface="Pretendard"/>
              </a:defRPr>
            </a:defPPr>
          </a:lstStyle>
          <a:p xmlns:a="http://schemas.openxmlformats.org/drawingml/2006/main">
            <a:pPr>
              <a:defRPr sz="1350" b="0">
                <a:solidFill>
                  <a:srgbClr val="28352B"/>
                </a:solidFill>
                <a:latin typeface="Pretendard"/>
                <a:ea typeface="Pretendard"/>
                <a:cs typeface="Pretendard"/>
              </a:defRPr>
            </a:pPr>
            <a:r>
              <a:rPr sz="1350" b="0">
                <a:solidFill>
                  <a:srgbClr val="28352B"/>
                </a:solidFill>
                <a:latin typeface="Pretendard"/>
                <a:ea typeface="Pretendard"/>
                <a:cs typeface="Pretendard"/>
              </a:rPr>
              <a:t>AI 사업 조정·데이터 표준</a:t>
            </a:r>
          </a:p>
        </p:txBody>
      </p:sp>
      <p:sp>
        <p:nvSpPr>
          <p:cNvPr id="14" name="">
            <a:extLst xmlns:a="http://schemas.openxmlformats.org/drawingml/2006/main">
              <a:ext uri="{FF2B5EF4-FFF2-40B4-BE49-F238E27FC236}">
                <a16:creationId xmlns:a16="http://schemas.microsoft.com/office/drawing/2014/main" id="{CDF8458A-A565-4F52-9762-41C5D291342C}"/>
              </a:ext>
            </a:extLst>
          </p:cNvPr>
          <p:cNvSpPr>
            <a:spLocks xmlns:a="http://schemas.openxmlformats.org/drawingml/2006/main" noGrp="1"/>
          </p:cNvSpPr>
          <p:nvPr/>
        </p:nvSpPr>
        <p:spPr>
          <a:xfrm xmlns:a="http://schemas.openxmlformats.org/drawingml/2006/main">
            <a:off x="3143250" y="3000375"/>
            <a:ext cx="847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1. 인공지능(AI) 활용 서비스 구축 지원 및 성과관리</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3. 인공지능(AI) 데이터 표준화 및 데이터 스페이스 구축</a:t>
            </a:r>
          </a:p>
        </p:txBody>
      </p:sp>
      <p:sp>
        <p:nvSpPr>
          <p:cNvPr id="15" name="">
            <a:extLst xmlns:a="http://schemas.openxmlformats.org/drawingml/2006/main">
              <a:ext uri="{FF2B5EF4-FFF2-40B4-BE49-F238E27FC236}">
                <a16:creationId xmlns:a16="http://schemas.microsoft.com/office/drawing/2014/main" id="{717CC6BD-A86C-40DC-A081-A68EB78916BF}"/>
              </a:ext>
            </a:extLst>
          </p:cNvPr>
          <p:cNvSpPr>
            <a:spLocks xmlns:a="http://schemas.openxmlformats.org/drawingml/2006/main" noGrp="1"/>
          </p:cNvSpPr>
          <p:nvPr/>
        </p:nvSpPr>
        <p:spPr>
          <a:xfrm xmlns:a="http://schemas.openxmlformats.org/drawingml/2006/main">
            <a:off x="571500" y="3905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D85FE0D-BBD2-4FDE-8E47-96B9EE9550F9}"/>
              </a:ext>
            </a:extLst>
          </p:cNvPr>
          <p:cNvSpPr>
            <a:spLocks xmlns:a="http://schemas.openxmlformats.org/drawingml/2006/main" noGrp="1"/>
          </p:cNvSpPr>
          <p:nvPr/>
        </p:nvSpPr>
        <p:spPr>
          <a:xfrm xmlns:a="http://schemas.openxmlformats.org/drawingml/2006/main">
            <a:off x="571500" y="4000500"/>
            <a:ext cx="2238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42634B"/>
                </a:solidFill>
                <a:latin typeface="Pretendard"/>
                <a:ea typeface="Pretendard"/>
                <a:cs typeface="Pretendard"/>
              </a:defRPr>
            </a:defPPr>
          </a:lstStyle>
          <a:p xmlns:a="http://schemas.openxmlformats.org/drawingml/2006/main">
            <a:pPr>
              <a:defRPr sz="1725" b="1">
                <a:solidFill>
                  <a:srgbClr val="42634B"/>
                </a:solidFill>
                <a:latin typeface="Pretendard"/>
                <a:ea typeface="Pretendard"/>
                <a:cs typeface="Pretendard"/>
              </a:defRPr>
            </a:pPr>
            <a:r>
              <a:rPr sz="1725" b="1">
                <a:solidFill>
                  <a:srgbClr val="42634B"/>
                </a:solidFill>
                <a:latin typeface="Pretendard"/>
                <a:ea typeface="Pretendard"/>
                <a:cs typeface="Pretendard"/>
              </a:rPr>
              <a:t>AI서비스개발팀</a:t>
            </a:r>
          </a:p>
        </p:txBody>
      </p:sp>
      <p:sp>
        <p:nvSpPr>
          <p:cNvPr id="17" name="">
            <a:extLst xmlns:a="http://schemas.openxmlformats.org/drawingml/2006/main">
              <a:ext uri="{FF2B5EF4-FFF2-40B4-BE49-F238E27FC236}">
                <a16:creationId xmlns:a16="http://schemas.microsoft.com/office/drawing/2014/main" id="{720623D7-9C73-417D-AC7C-6BC19ECB9960}"/>
              </a:ext>
            </a:extLst>
          </p:cNvPr>
          <p:cNvSpPr>
            <a:spLocks xmlns:a="http://schemas.openxmlformats.org/drawingml/2006/main" noGrp="1"/>
          </p:cNvSpPr>
          <p:nvPr/>
        </p:nvSpPr>
        <p:spPr>
          <a:xfrm xmlns:a="http://schemas.openxmlformats.org/drawingml/2006/main">
            <a:off x="571500" y="4371975"/>
            <a:ext cx="223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28352B"/>
                </a:solidFill>
                <a:latin typeface="Pretendard"/>
                <a:ea typeface="Pretendard"/>
                <a:cs typeface="Pretendard"/>
              </a:defRPr>
            </a:defPPr>
          </a:lstStyle>
          <a:p xmlns:a="http://schemas.openxmlformats.org/drawingml/2006/main">
            <a:pPr>
              <a:defRPr sz="1350" b="0">
                <a:solidFill>
                  <a:srgbClr val="28352B"/>
                </a:solidFill>
                <a:latin typeface="Pretendard"/>
                <a:ea typeface="Pretendard"/>
                <a:cs typeface="Pretendard"/>
              </a:defRPr>
            </a:pPr>
            <a:r>
              <a:rPr sz="1350" b="0">
                <a:solidFill>
                  <a:srgbClr val="28352B"/>
                </a:solidFill>
                <a:latin typeface="Pretendard"/>
                <a:ea typeface="Pretendard"/>
                <a:cs typeface="Pretendard"/>
              </a:rPr>
              <a:t>공통플랫폼·모델 품질</a:t>
            </a:r>
          </a:p>
        </p:txBody>
      </p:sp>
      <p:sp>
        <p:nvSpPr>
          <p:cNvPr id="18" name="">
            <a:extLst xmlns:a="http://schemas.openxmlformats.org/drawingml/2006/main">
              <a:ext uri="{FF2B5EF4-FFF2-40B4-BE49-F238E27FC236}">
                <a16:creationId xmlns:a16="http://schemas.microsoft.com/office/drawing/2014/main" id="{C4B4944C-3BEF-4C0A-9567-AA4FB092C71E}"/>
              </a:ext>
            </a:extLst>
          </p:cNvPr>
          <p:cNvSpPr>
            <a:spLocks xmlns:a="http://schemas.openxmlformats.org/drawingml/2006/main" noGrp="1"/>
          </p:cNvSpPr>
          <p:nvPr/>
        </p:nvSpPr>
        <p:spPr>
          <a:xfrm xmlns:a="http://schemas.openxmlformats.org/drawingml/2006/main">
            <a:off x="3143250" y="4000500"/>
            <a:ext cx="847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1. 인공지능(AI) 공통플랫폼 구축․운영 인공지능(AI) 모델 고도화․품질관리</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2. 인공지능(AI) 시범 서비스(PoC) 추진</a:t>
            </a:r>
          </a:p>
        </p:txBody>
      </p:sp>
      <p:sp>
        <p:nvSpPr>
          <p:cNvPr id="19" name="">
            <a:extLst xmlns:a="http://schemas.openxmlformats.org/drawingml/2006/main">
              <a:ext uri="{FF2B5EF4-FFF2-40B4-BE49-F238E27FC236}">
                <a16:creationId xmlns:a16="http://schemas.microsoft.com/office/drawing/2014/main" id="{D686ABBC-6D90-49F3-A9D9-CDE6FB925ED5}"/>
              </a:ext>
            </a:extLst>
          </p:cNvPr>
          <p:cNvSpPr>
            <a:spLocks xmlns:a="http://schemas.openxmlformats.org/drawingml/2006/main" noGrp="1"/>
          </p:cNvSpPr>
          <p:nvPr/>
        </p:nvSpPr>
        <p:spPr>
          <a:xfrm xmlns:a="http://schemas.openxmlformats.org/drawingml/2006/main">
            <a:off x="571500" y="4905375"/>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F38B86D-C2FC-4672-8751-C964CCBA361B}"/>
              </a:ext>
            </a:extLst>
          </p:cNvPr>
          <p:cNvSpPr>
            <a:spLocks xmlns:a="http://schemas.openxmlformats.org/drawingml/2006/main" noGrp="1"/>
          </p:cNvSpPr>
          <p:nvPr/>
        </p:nvSpPr>
        <p:spPr>
          <a:xfrm xmlns:a="http://schemas.openxmlformats.org/drawingml/2006/main">
            <a:off x="571500" y="5000625"/>
            <a:ext cx="2238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42634B"/>
                </a:solidFill>
                <a:latin typeface="Pretendard"/>
                <a:ea typeface="Pretendard"/>
                <a:cs typeface="Pretendard"/>
              </a:defRPr>
            </a:defPPr>
          </a:lstStyle>
          <a:p xmlns:a="http://schemas.openxmlformats.org/drawingml/2006/main">
            <a:pPr>
              <a:defRPr sz="1725" b="1">
                <a:solidFill>
                  <a:srgbClr val="42634B"/>
                </a:solidFill>
                <a:latin typeface="Pretendard"/>
                <a:ea typeface="Pretendard"/>
                <a:cs typeface="Pretendard"/>
              </a:defRPr>
            </a:pPr>
            <a:r>
              <a:rPr sz="1725" b="1">
                <a:solidFill>
                  <a:srgbClr val="42634B"/>
                </a:solidFill>
                <a:latin typeface="Pretendard"/>
                <a:ea typeface="Pretendard"/>
                <a:cs typeface="Pretendard"/>
              </a:rPr>
              <a:t>예산처</a:t>
            </a:r>
          </a:p>
        </p:txBody>
      </p:sp>
      <p:sp>
        <p:nvSpPr>
          <p:cNvPr id="21" name="">
            <a:extLst xmlns:a="http://schemas.openxmlformats.org/drawingml/2006/main">
              <a:ext uri="{FF2B5EF4-FFF2-40B4-BE49-F238E27FC236}">
                <a16:creationId xmlns:a16="http://schemas.microsoft.com/office/drawing/2014/main" id="{4D5C3C98-9847-425F-A690-F9F5F45AA2C5}"/>
              </a:ext>
            </a:extLst>
          </p:cNvPr>
          <p:cNvSpPr>
            <a:spLocks xmlns:a="http://schemas.openxmlformats.org/drawingml/2006/main" noGrp="1"/>
          </p:cNvSpPr>
          <p:nvPr/>
        </p:nvSpPr>
        <p:spPr>
          <a:xfrm xmlns:a="http://schemas.openxmlformats.org/drawingml/2006/main">
            <a:off x="571500" y="5372100"/>
            <a:ext cx="223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28352B"/>
                </a:solidFill>
                <a:latin typeface="Pretendard"/>
                <a:ea typeface="Pretendard"/>
                <a:cs typeface="Pretendard"/>
              </a:defRPr>
            </a:defPPr>
          </a:lstStyle>
          <a:p xmlns:a="http://schemas.openxmlformats.org/drawingml/2006/main">
            <a:pPr>
              <a:defRPr sz="1350" b="0">
                <a:solidFill>
                  <a:srgbClr val="28352B"/>
                </a:solidFill>
                <a:latin typeface="Pretendard"/>
                <a:ea typeface="Pretendard"/>
                <a:cs typeface="Pretendard"/>
              </a:defRPr>
            </a:pPr>
            <a:r>
              <a:rPr sz="1350" b="0">
                <a:solidFill>
                  <a:srgbClr val="28352B"/>
                </a:solidFill>
                <a:latin typeface="Pretendard"/>
                <a:ea typeface="Pretendard"/>
                <a:cs typeface="Pretendard"/>
              </a:rPr>
              <a:t>조직·분장·전결 관리</a:t>
            </a:r>
          </a:p>
        </p:txBody>
      </p:sp>
      <p:sp>
        <p:nvSpPr>
          <p:cNvPr id="22" name="">
            <a:extLst xmlns:a="http://schemas.openxmlformats.org/drawingml/2006/main">
              <a:ext uri="{FF2B5EF4-FFF2-40B4-BE49-F238E27FC236}">
                <a16:creationId xmlns:a16="http://schemas.microsoft.com/office/drawing/2014/main" id="{10C5D487-F6D8-44AF-A68B-DA250A7C8F4B}"/>
              </a:ext>
            </a:extLst>
          </p:cNvPr>
          <p:cNvSpPr>
            <a:spLocks xmlns:a="http://schemas.openxmlformats.org/drawingml/2006/main" noGrp="1"/>
          </p:cNvSpPr>
          <p:nvPr/>
        </p:nvSpPr>
        <p:spPr>
          <a:xfrm xmlns:a="http://schemas.openxmlformats.org/drawingml/2006/main">
            <a:off x="3143250" y="5000625"/>
            <a:ext cx="847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8. 조직 및 정원관리 총괄</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9. 위임전결에 관한 사항</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10. 업무분장 조정‧관리</a:t>
            </a:r>
          </a:p>
        </p:txBody>
      </p:sp>
      <p:sp>
        <p:nvSpPr>
          <p:cNvPr id="23" name="">
            <a:extLst xmlns:a="http://schemas.openxmlformats.org/drawingml/2006/main">
              <a:ext uri="{FF2B5EF4-FFF2-40B4-BE49-F238E27FC236}">
                <a16:creationId xmlns:a16="http://schemas.microsoft.com/office/drawing/2014/main" id="{D2027CC3-9320-4B04-80B8-7A797E8D1E2D}"/>
              </a:ext>
            </a:extLst>
          </p:cNvPr>
          <p:cNvSpPr>
            <a:spLocks xmlns:a="http://schemas.openxmlformats.org/drawingml/2006/main" noGrp="1"/>
          </p:cNvSpPr>
          <p:nvPr/>
        </p:nvSpPr>
        <p:spPr>
          <a:xfrm xmlns:a="http://schemas.openxmlformats.org/drawingml/2006/main">
            <a:off x="571500" y="5962650"/>
            <a:ext cx="1104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직제시행세칙 2026.06.30 / 참여·협업 역할은 적용 설계</a:t>
            </a:r>
          </a:p>
        </p:txBody>
      </p:sp>
    </p:spTree>
    <p:extLst>
      <p:ext uri="{BB962C8B-B14F-4D97-AF65-F5344CB8AC3E}">
        <p14:creationId xmlns:p14="http://schemas.microsoft.com/office/powerpoint/2010/main" val="308559091"/>
      </p:ext>
    </p:extLst>
  </p:cSld>
</p:sld>
</file>

<file path=ppt/slides/slide16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9747410-19A5-4471-BDB1-E140FC869F4A}"/>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ST-04 / TS 담당 부서·실제 업무 / 1차 공통 기반</a:t>
            </a:r>
          </a:p>
        </p:txBody>
      </p:sp>
      <p:sp>
        <p:nvSpPr>
          <p:cNvPr id="2" name="">
            <a:extLst xmlns:a="http://schemas.openxmlformats.org/drawingml/2006/main">
              <a:ext uri="{FF2B5EF4-FFF2-40B4-BE49-F238E27FC236}">
                <a16:creationId xmlns:a16="http://schemas.microsoft.com/office/drawing/2014/main" id="{B1AD1A01-86C9-46DD-B4AC-C7A9D27AB4E7}"/>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조직 네이티브 공통 기반</a:t>
            </a:r>
          </a:p>
        </p:txBody>
      </p:sp>
      <p:sp>
        <p:nvSpPr>
          <p:cNvPr id="3" name="">
            <a:extLst xmlns:a="http://schemas.openxmlformats.org/drawingml/2006/main">
              <a:ext uri="{FF2B5EF4-FFF2-40B4-BE49-F238E27FC236}">
                <a16:creationId xmlns:a16="http://schemas.microsoft.com/office/drawing/2014/main" id="{B4809A9A-D00A-41F6-956A-111C29D375F9}"/>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C71595C-6228-4415-B887-B386013AD824}"/>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62B92E5B-5286-48C8-B9DF-C41B53B772FA}"/>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164</a:t>
            </a:r>
          </a:p>
        </p:txBody>
      </p:sp>
      <p:sp>
        <p:nvSpPr>
          <p:cNvPr id="6" name="">
            <a:extLst xmlns:a="http://schemas.openxmlformats.org/drawingml/2006/main">
              <a:ext uri="{FF2B5EF4-FFF2-40B4-BE49-F238E27FC236}">
                <a16:creationId xmlns:a16="http://schemas.microsoft.com/office/drawing/2014/main" id="{69FCEBC2-54BB-4236-B98F-B484C93EEE37}"/>
              </a:ext>
            </a:extLst>
          </p:cNvPr>
          <p:cNvSpPr>
            <a:spLocks xmlns:a="http://schemas.openxmlformats.org/drawingml/2006/main" noGrp="1"/>
          </p:cNvSpPr>
          <p:nvPr/>
        </p:nvSpPr>
        <p:spPr>
          <a:xfrm xmlns:a="http://schemas.openxmlformats.org/drawingml/2006/main">
            <a:off x="571500" y="15144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42634B"/>
                </a:solidFill>
                <a:latin typeface="Pretendard"/>
                <a:ea typeface="Pretendard"/>
                <a:cs typeface="Pretendard"/>
              </a:defRPr>
            </a:defPPr>
          </a:lstStyle>
          <a:p xmlns:a="http://schemas.openxmlformats.org/drawingml/2006/main">
            <a:pPr>
              <a:defRPr sz="1575" b="0">
                <a:solidFill>
                  <a:srgbClr val="42634B"/>
                </a:solidFill>
                <a:latin typeface="Pretendard"/>
                <a:ea typeface="Pretendard"/>
                <a:cs typeface="Pretendard"/>
              </a:defRPr>
            </a:pPr>
            <a:r>
              <a:rPr sz="1575" b="0">
                <a:solidFill>
                  <a:srgbClr val="42634B"/>
                </a:solidFill>
                <a:latin typeface="Pretendard"/>
                <a:ea typeface="Pretendard"/>
                <a:cs typeface="Pretendard"/>
              </a:rPr>
              <a:t>교통안전체계 인공지능 대전환</a:t>
            </a:r>
          </a:p>
        </p:txBody>
      </p:sp>
      <p:sp>
        <p:nvSpPr>
          <p:cNvPr id="7" name="">
            <a:extLst xmlns:a="http://schemas.openxmlformats.org/drawingml/2006/main">
              <a:ext uri="{FF2B5EF4-FFF2-40B4-BE49-F238E27FC236}">
                <a16:creationId xmlns:a16="http://schemas.microsoft.com/office/drawing/2014/main" id="{EAAF365A-8372-455A-AAD9-F6684C2E4E79}"/>
              </a:ext>
            </a:extLst>
          </p:cNvPr>
          <p:cNvSpPr>
            <a:spLocks xmlns:a="http://schemas.openxmlformats.org/drawingml/2006/main" noGrp="1"/>
          </p:cNvSpPr>
          <p:nvPr/>
        </p:nvSpPr>
        <p:spPr>
          <a:xfrm xmlns:a="http://schemas.openxmlformats.org/drawingml/2006/main">
            <a:off x="571500" y="190500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51BFA42-128E-4E92-8343-ECEE21B81F9A}"/>
              </a:ext>
            </a:extLst>
          </p:cNvPr>
          <p:cNvSpPr>
            <a:spLocks xmlns:a="http://schemas.openxmlformats.org/drawingml/2006/main" noGrp="1"/>
          </p:cNvSpPr>
          <p:nvPr/>
        </p:nvSpPr>
        <p:spPr>
          <a:xfrm xmlns:a="http://schemas.openxmlformats.org/drawingml/2006/main">
            <a:off x="571500" y="2000250"/>
            <a:ext cx="2238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42634B"/>
                </a:solidFill>
                <a:latin typeface="Pretendard"/>
                <a:ea typeface="Pretendard"/>
                <a:cs typeface="Pretendard"/>
              </a:defRPr>
            </a:defPPr>
          </a:lstStyle>
          <a:p xmlns:a="http://schemas.openxmlformats.org/drawingml/2006/main">
            <a:pPr>
              <a:defRPr sz="1725" b="1">
                <a:solidFill>
                  <a:srgbClr val="42634B"/>
                </a:solidFill>
                <a:latin typeface="Pretendard"/>
                <a:ea typeface="Pretendard"/>
                <a:cs typeface="Pretendard"/>
              </a:defRPr>
            </a:pPr>
            <a:r>
              <a:rPr sz="1725" b="1">
                <a:solidFill>
                  <a:srgbClr val="42634B"/>
                </a:solidFill>
                <a:latin typeface="Pretendard"/>
                <a:ea typeface="Pretendard"/>
                <a:cs typeface="Pretendard"/>
              </a:rPr>
              <a:t>인재개발처</a:t>
            </a:r>
          </a:p>
        </p:txBody>
      </p:sp>
      <p:sp>
        <p:nvSpPr>
          <p:cNvPr id="9" name="">
            <a:extLst xmlns:a="http://schemas.openxmlformats.org/drawingml/2006/main">
              <a:ext uri="{FF2B5EF4-FFF2-40B4-BE49-F238E27FC236}">
                <a16:creationId xmlns:a16="http://schemas.microsoft.com/office/drawing/2014/main" id="{B674226E-E3A6-427E-9F3B-5709FE8FF12A}"/>
              </a:ext>
            </a:extLst>
          </p:cNvPr>
          <p:cNvSpPr>
            <a:spLocks xmlns:a="http://schemas.openxmlformats.org/drawingml/2006/main" noGrp="1"/>
          </p:cNvSpPr>
          <p:nvPr/>
        </p:nvSpPr>
        <p:spPr>
          <a:xfrm xmlns:a="http://schemas.openxmlformats.org/drawingml/2006/main">
            <a:off x="571500" y="2371725"/>
            <a:ext cx="223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28352B"/>
                </a:solidFill>
                <a:latin typeface="Pretendard"/>
                <a:ea typeface="Pretendard"/>
                <a:cs typeface="Pretendard"/>
              </a:defRPr>
            </a:defPPr>
          </a:lstStyle>
          <a:p xmlns:a="http://schemas.openxmlformats.org/drawingml/2006/main">
            <a:pPr>
              <a:defRPr sz="1350" b="0">
                <a:solidFill>
                  <a:srgbClr val="28352B"/>
                </a:solidFill>
                <a:latin typeface="Pretendard"/>
                <a:ea typeface="Pretendard"/>
                <a:cs typeface="Pretendard"/>
              </a:defRPr>
            </a:pPr>
            <a:r>
              <a:rPr sz="1350" b="0">
                <a:solidFill>
                  <a:srgbClr val="28352B"/>
                </a:solidFill>
                <a:latin typeface="Pretendard"/>
                <a:ea typeface="Pretendard"/>
                <a:cs typeface="Pretendard"/>
              </a:rPr>
              <a:t>발령·인사정보 관리</a:t>
            </a:r>
          </a:p>
        </p:txBody>
      </p:sp>
      <p:sp>
        <p:nvSpPr>
          <p:cNvPr id="10" name="">
            <a:extLst xmlns:a="http://schemas.openxmlformats.org/drawingml/2006/main">
              <a:ext uri="{FF2B5EF4-FFF2-40B4-BE49-F238E27FC236}">
                <a16:creationId xmlns:a16="http://schemas.microsoft.com/office/drawing/2014/main" id="{7E019687-DAB4-4734-82BA-AC35A05220E9}"/>
              </a:ext>
            </a:extLst>
          </p:cNvPr>
          <p:cNvSpPr>
            <a:spLocks xmlns:a="http://schemas.openxmlformats.org/drawingml/2006/main" noGrp="1"/>
          </p:cNvSpPr>
          <p:nvPr/>
        </p:nvSpPr>
        <p:spPr>
          <a:xfrm xmlns:a="http://schemas.openxmlformats.org/drawingml/2006/main">
            <a:off x="3143250" y="2000250"/>
            <a:ext cx="847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3. 직원의 채용, 승진, 전보 등 임용 및 보직에 관한 업무</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6. 인사통계자료․인사정보 관리 및 인사 관련 제증명 발급</a:t>
            </a:r>
          </a:p>
        </p:txBody>
      </p:sp>
      <p:sp>
        <p:nvSpPr>
          <p:cNvPr id="11" name="">
            <a:extLst xmlns:a="http://schemas.openxmlformats.org/drawingml/2006/main">
              <a:ext uri="{FF2B5EF4-FFF2-40B4-BE49-F238E27FC236}">
                <a16:creationId xmlns:a16="http://schemas.microsoft.com/office/drawing/2014/main" id="{17360D83-11DB-4C2C-A982-E7BF2A4C4B54}"/>
              </a:ext>
            </a:extLst>
          </p:cNvPr>
          <p:cNvSpPr>
            <a:spLocks xmlns:a="http://schemas.openxmlformats.org/drawingml/2006/main" noGrp="1"/>
          </p:cNvSpPr>
          <p:nvPr/>
        </p:nvSpPr>
        <p:spPr>
          <a:xfrm xmlns:a="http://schemas.openxmlformats.org/drawingml/2006/main">
            <a:off x="571500" y="2905125"/>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ED2BB53-9838-4FD0-94BD-CC35167F2315}"/>
              </a:ext>
            </a:extLst>
          </p:cNvPr>
          <p:cNvSpPr>
            <a:spLocks xmlns:a="http://schemas.openxmlformats.org/drawingml/2006/main" noGrp="1"/>
          </p:cNvSpPr>
          <p:nvPr/>
        </p:nvSpPr>
        <p:spPr>
          <a:xfrm xmlns:a="http://schemas.openxmlformats.org/drawingml/2006/main">
            <a:off x="571500" y="3000375"/>
            <a:ext cx="2238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42634B"/>
                </a:solidFill>
                <a:latin typeface="Pretendard"/>
                <a:ea typeface="Pretendard"/>
                <a:cs typeface="Pretendard"/>
              </a:defRPr>
            </a:defPPr>
          </a:lstStyle>
          <a:p xmlns:a="http://schemas.openxmlformats.org/drawingml/2006/main">
            <a:pPr>
              <a:defRPr sz="1725" b="1">
                <a:solidFill>
                  <a:srgbClr val="42634B"/>
                </a:solidFill>
                <a:latin typeface="Pretendard"/>
                <a:ea typeface="Pretendard"/>
                <a:cs typeface="Pretendard"/>
              </a:defRPr>
            </a:pPr>
            <a:r>
              <a:rPr sz="1725" b="1">
                <a:solidFill>
                  <a:srgbClr val="42634B"/>
                </a:solidFill>
                <a:latin typeface="Pretendard"/>
                <a:ea typeface="Pretendard"/>
                <a:cs typeface="Pretendard"/>
              </a:rPr>
              <a:t>디지털기획처</a:t>
            </a:r>
          </a:p>
        </p:txBody>
      </p:sp>
      <p:sp>
        <p:nvSpPr>
          <p:cNvPr id="13" name="">
            <a:extLst xmlns:a="http://schemas.openxmlformats.org/drawingml/2006/main">
              <a:ext uri="{FF2B5EF4-FFF2-40B4-BE49-F238E27FC236}">
                <a16:creationId xmlns:a16="http://schemas.microsoft.com/office/drawing/2014/main" id="{19FDF610-71CD-4DB9-BA31-E364EDE0A0EE}"/>
              </a:ext>
            </a:extLst>
          </p:cNvPr>
          <p:cNvSpPr>
            <a:spLocks xmlns:a="http://schemas.openxmlformats.org/drawingml/2006/main" noGrp="1"/>
          </p:cNvSpPr>
          <p:nvPr/>
        </p:nvSpPr>
        <p:spPr>
          <a:xfrm xmlns:a="http://schemas.openxmlformats.org/drawingml/2006/main">
            <a:off x="571500" y="3371850"/>
            <a:ext cx="223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28352B"/>
                </a:solidFill>
                <a:latin typeface="Pretendard"/>
                <a:ea typeface="Pretendard"/>
                <a:cs typeface="Pretendard"/>
              </a:defRPr>
            </a:defPPr>
          </a:lstStyle>
          <a:p xmlns:a="http://schemas.openxmlformats.org/drawingml/2006/main">
            <a:pPr>
              <a:defRPr sz="1350" b="0">
                <a:solidFill>
                  <a:srgbClr val="28352B"/>
                </a:solidFill>
                <a:latin typeface="Pretendard"/>
                <a:ea typeface="Pretendard"/>
                <a:cs typeface="Pretendard"/>
              </a:defRPr>
            </a:pPr>
            <a:r>
              <a:rPr sz="1350" b="0">
                <a:solidFill>
                  <a:srgbClr val="28352B"/>
                </a:solidFill>
                <a:latin typeface="Pretendard"/>
                <a:ea typeface="Pretendard"/>
                <a:cs typeface="Pretendard"/>
              </a:rPr>
              <a:t>정보화·데이터 품질</a:t>
            </a:r>
          </a:p>
        </p:txBody>
      </p:sp>
      <p:sp>
        <p:nvSpPr>
          <p:cNvPr id="14" name="">
            <a:extLst xmlns:a="http://schemas.openxmlformats.org/drawingml/2006/main">
              <a:ext uri="{FF2B5EF4-FFF2-40B4-BE49-F238E27FC236}">
                <a16:creationId xmlns:a16="http://schemas.microsoft.com/office/drawing/2014/main" id="{2DA2C48E-9261-407F-AE45-2CD8D554A0E5}"/>
              </a:ext>
            </a:extLst>
          </p:cNvPr>
          <p:cNvSpPr>
            <a:spLocks xmlns:a="http://schemas.openxmlformats.org/drawingml/2006/main" noGrp="1"/>
          </p:cNvSpPr>
          <p:nvPr/>
        </p:nvSpPr>
        <p:spPr>
          <a:xfrm xmlns:a="http://schemas.openxmlformats.org/drawingml/2006/main">
            <a:off x="3143250" y="3000375"/>
            <a:ext cx="847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13. 정보화사업 사전검토(과업지시서 등) 및 시스템 구축 지원(기술분야)</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20. 데이터 품질관리</a:t>
            </a:r>
          </a:p>
        </p:txBody>
      </p:sp>
      <p:sp>
        <p:nvSpPr>
          <p:cNvPr id="15" name="">
            <a:extLst xmlns:a="http://schemas.openxmlformats.org/drawingml/2006/main">
              <a:ext uri="{FF2B5EF4-FFF2-40B4-BE49-F238E27FC236}">
                <a16:creationId xmlns:a16="http://schemas.microsoft.com/office/drawing/2014/main" id="{6E940659-47D5-413B-941A-3591B203B550}"/>
              </a:ext>
            </a:extLst>
          </p:cNvPr>
          <p:cNvSpPr>
            <a:spLocks xmlns:a="http://schemas.openxmlformats.org/drawingml/2006/main" noGrp="1"/>
          </p:cNvSpPr>
          <p:nvPr/>
        </p:nvSpPr>
        <p:spPr>
          <a:xfrm xmlns:a="http://schemas.openxmlformats.org/drawingml/2006/main">
            <a:off x="571500" y="3905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09E2517-F4B7-4147-9946-7A0E96857880}"/>
              </a:ext>
            </a:extLst>
          </p:cNvPr>
          <p:cNvSpPr>
            <a:spLocks xmlns:a="http://schemas.openxmlformats.org/drawingml/2006/main" noGrp="1"/>
          </p:cNvSpPr>
          <p:nvPr/>
        </p:nvSpPr>
        <p:spPr>
          <a:xfrm xmlns:a="http://schemas.openxmlformats.org/drawingml/2006/main">
            <a:off x="571500" y="4000500"/>
            <a:ext cx="2238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42634B"/>
                </a:solidFill>
                <a:latin typeface="Pretendard"/>
                <a:ea typeface="Pretendard"/>
                <a:cs typeface="Pretendard"/>
              </a:defRPr>
            </a:defPPr>
          </a:lstStyle>
          <a:p xmlns:a="http://schemas.openxmlformats.org/drawingml/2006/main">
            <a:pPr>
              <a:defRPr sz="1725" b="1">
                <a:solidFill>
                  <a:srgbClr val="42634B"/>
                </a:solidFill>
                <a:latin typeface="Pretendard"/>
                <a:ea typeface="Pretendard"/>
                <a:cs typeface="Pretendard"/>
              </a:defRPr>
            </a:pPr>
            <a:r>
              <a:rPr sz="1725" b="1">
                <a:solidFill>
                  <a:srgbClr val="42634B"/>
                </a:solidFill>
                <a:latin typeface="Pretendard"/>
                <a:ea typeface="Pretendard"/>
                <a:cs typeface="Pretendard"/>
              </a:rPr>
              <a:t>정보보안처</a:t>
            </a:r>
          </a:p>
        </p:txBody>
      </p:sp>
      <p:sp>
        <p:nvSpPr>
          <p:cNvPr id="17" name="">
            <a:extLst xmlns:a="http://schemas.openxmlformats.org/drawingml/2006/main">
              <a:ext uri="{FF2B5EF4-FFF2-40B4-BE49-F238E27FC236}">
                <a16:creationId xmlns:a16="http://schemas.microsoft.com/office/drawing/2014/main" id="{04A4C85E-C06E-467C-8F27-1D77B4D68921}"/>
              </a:ext>
            </a:extLst>
          </p:cNvPr>
          <p:cNvSpPr>
            <a:spLocks xmlns:a="http://schemas.openxmlformats.org/drawingml/2006/main" noGrp="1"/>
          </p:cNvSpPr>
          <p:nvPr/>
        </p:nvSpPr>
        <p:spPr>
          <a:xfrm xmlns:a="http://schemas.openxmlformats.org/drawingml/2006/main">
            <a:off x="571500" y="4371975"/>
            <a:ext cx="223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28352B"/>
                </a:solidFill>
                <a:latin typeface="Pretendard"/>
                <a:ea typeface="Pretendard"/>
                <a:cs typeface="Pretendard"/>
              </a:defRPr>
            </a:defPPr>
          </a:lstStyle>
          <a:p xmlns:a="http://schemas.openxmlformats.org/drawingml/2006/main">
            <a:pPr>
              <a:defRPr sz="1350" b="0">
                <a:solidFill>
                  <a:srgbClr val="28352B"/>
                </a:solidFill>
                <a:latin typeface="Pretendard"/>
                <a:ea typeface="Pretendard"/>
                <a:cs typeface="Pretendard"/>
              </a:defRPr>
            </a:pPr>
            <a:r>
              <a:rPr sz="1350" b="0">
                <a:solidFill>
                  <a:srgbClr val="28352B"/>
                </a:solidFill>
                <a:latin typeface="Pretendard"/>
                <a:ea typeface="Pretendard"/>
                <a:cs typeface="Pretendard"/>
              </a:rPr>
              <a:t>보안·개인정보 관리</a:t>
            </a:r>
          </a:p>
        </p:txBody>
      </p:sp>
      <p:sp>
        <p:nvSpPr>
          <p:cNvPr id="18" name="">
            <a:extLst xmlns:a="http://schemas.openxmlformats.org/drawingml/2006/main">
              <a:ext uri="{FF2B5EF4-FFF2-40B4-BE49-F238E27FC236}">
                <a16:creationId xmlns:a16="http://schemas.microsoft.com/office/drawing/2014/main" id="{2781A39D-82F5-4DA2-A91B-73C99319680E}"/>
              </a:ext>
            </a:extLst>
          </p:cNvPr>
          <p:cNvSpPr>
            <a:spLocks xmlns:a="http://schemas.openxmlformats.org/drawingml/2006/main" noGrp="1"/>
          </p:cNvSpPr>
          <p:nvPr/>
        </p:nvSpPr>
        <p:spPr>
          <a:xfrm xmlns:a="http://schemas.openxmlformats.org/drawingml/2006/main">
            <a:off x="3143250" y="4000500"/>
            <a:ext cx="847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8352B"/>
                </a:solidFill>
                <a:latin typeface="Pretendard"/>
                <a:ea typeface="Pretendard"/>
                <a:cs typeface="Pretendard"/>
              </a:defRPr>
            </a:defPPr>
          </a:lstStyle>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1. 정보보안 업무총괄 관리</a:t>
            </a:r>
          </a:p>
          <a:p xmlns:a="http://schemas.openxmlformats.org/drawingml/2006/main">
            <a:pPr>
              <a:defRPr sz="1575" b="0">
                <a:solidFill>
                  <a:srgbClr val="28352B"/>
                </a:solidFill>
                <a:latin typeface="Pretendard"/>
                <a:ea typeface="Pretendard"/>
                <a:cs typeface="Pretendard"/>
              </a:defRPr>
            </a:pPr>
            <a:r>
              <a:rPr sz="1575" b="0">
                <a:solidFill>
                  <a:srgbClr val="28352B"/>
                </a:solidFill>
                <a:latin typeface="Pretendard"/>
                <a:ea typeface="Pretendard"/>
                <a:cs typeface="Pretendard"/>
              </a:rPr>
              <a:t>10. 개인정보보호 업무총괄 관리</a:t>
            </a:r>
          </a:p>
        </p:txBody>
      </p:sp>
      <p:sp>
        <p:nvSpPr>
          <p:cNvPr id="19" name="">
            <a:extLst xmlns:a="http://schemas.openxmlformats.org/drawingml/2006/main">
              <a:ext uri="{FF2B5EF4-FFF2-40B4-BE49-F238E27FC236}">
                <a16:creationId xmlns:a16="http://schemas.microsoft.com/office/drawing/2014/main" id="{8956BEE5-2191-4351-B6C7-E9A44694AF47}"/>
              </a:ext>
            </a:extLst>
          </p:cNvPr>
          <p:cNvSpPr>
            <a:spLocks xmlns:a="http://schemas.openxmlformats.org/drawingml/2006/main" noGrp="1"/>
          </p:cNvSpPr>
          <p:nvPr/>
        </p:nvSpPr>
        <p:spPr>
          <a:xfrm xmlns:a="http://schemas.openxmlformats.org/drawingml/2006/main">
            <a:off x="571500" y="5962650"/>
            <a:ext cx="1104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직제시행세칙 2026.06.30 / 참여·협업 역할은 적용 설계</a:t>
            </a:r>
          </a:p>
        </p:txBody>
      </p:sp>
    </p:spTree>
    <p:extLst>
      <p:ext uri="{BB962C8B-B14F-4D97-AF65-F5344CB8AC3E}">
        <p14:creationId xmlns:p14="http://schemas.microsoft.com/office/powerpoint/2010/main" val="601380083"/>
      </p:ext>
    </p:extLst>
  </p:cSld>
</p:sld>
</file>

<file path=ppt/slides/slide16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0C1465B-9AAE-4BEA-B2E9-032B33313798}"/>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ST-04 / CCK 재사용·추가 개발·검수·기대효과</a:t>
            </a:r>
          </a:p>
        </p:txBody>
      </p:sp>
      <p:sp>
        <p:nvSpPr>
          <p:cNvPr id="2" name="">
            <a:extLst xmlns:a="http://schemas.openxmlformats.org/drawingml/2006/main">
              <a:ext uri="{FF2B5EF4-FFF2-40B4-BE49-F238E27FC236}">
                <a16:creationId xmlns:a16="http://schemas.microsoft.com/office/drawing/2014/main" id="{3443B5B2-06D3-452E-9398-D189BD07E477}"/>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조직 네이티브 공통 기반</a:t>
            </a:r>
          </a:p>
        </p:txBody>
      </p:sp>
      <p:sp>
        <p:nvSpPr>
          <p:cNvPr id="3" name="">
            <a:extLst xmlns:a="http://schemas.openxmlformats.org/drawingml/2006/main">
              <a:ext uri="{FF2B5EF4-FFF2-40B4-BE49-F238E27FC236}">
                <a16:creationId xmlns:a16="http://schemas.microsoft.com/office/drawing/2014/main" id="{63078D90-74B9-4F5D-9119-21191BF19909}"/>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867BD52-81BE-407B-8B41-FC27216DF660}"/>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9CB225EC-CE67-4825-9787-1BF182B21001}"/>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165</a:t>
            </a:r>
          </a:p>
        </p:txBody>
      </p:sp>
      <p:sp>
        <p:nvSpPr>
          <p:cNvPr id="6" name="">
            <a:extLst xmlns:a="http://schemas.openxmlformats.org/drawingml/2006/main">
              <a:ext uri="{FF2B5EF4-FFF2-40B4-BE49-F238E27FC236}">
                <a16:creationId xmlns:a16="http://schemas.microsoft.com/office/drawing/2014/main" id="{19F1C2CE-6D02-4490-B1FA-380C17A083A0}"/>
              </a:ext>
            </a:extLst>
          </p:cNvPr>
          <p:cNvSpPr>
            <a:spLocks xmlns:a="http://schemas.openxmlformats.org/drawingml/2006/main" noGrp="1"/>
          </p:cNvSpPr>
          <p:nvPr/>
        </p:nvSpPr>
        <p:spPr>
          <a:xfrm xmlns:a="http://schemas.openxmlformats.org/drawingml/2006/main">
            <a:off x="571500" y="17526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CCK 재사용 후보</a:t>
            </a:r>
          </a:p>
        </p:txBody>
      </p:sp>
      <p:sp>
        <p:nvSpPr>
          <p:cNvPr id="7" name="">
            <a:extLst xmlns:a="http://schemas.openxmlformats.org/drawingml/2006/main">
              <a:ext uri="{FF2B5EF4-FFF2-40B4-BE49-F238E27FC236}">
                <a16:creationId xmlns:a16="http://schemas.microsoft.com/office/drawing/2014/main" id="{5346F898-CB44-4EA5-A577-ABA78CA01783}"/>
              </a:ext>
            </a:extLst>
          </p:cNvPr>
          <p:cNvSpPr>
            <a:spLocks xmlns:a="http://schemas.openxmlformats.org/drawingml/2006/main" noGrp="1"/>
          </p:cNvSpPr>
          <p:nvPr/>
        </p:nvSpPr>
        <p:spPr>
          <a:xfrm xmlns:a="http://schemas.openxmlformats.org/drawingml/2006/main">
            <a:off x="571500" y="21050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28352B"/>
                </a:solidFill>
                <a:latin typeface="Pretendard"/>
                <a:ea typeface="Pretendard"/>
                <a:cs typeface="Pretendard"/>
              </a:defRPr>
            </a:defPPr>
          </a:lstStyle>
          <a:p xmlns:a="http://schemas.openxmlformats.org/drawingml/2006/main">
            <a:pPr>
              <a:defRPr sz="1725" b="0">
                <a:solidFill>
                  <a:srgbClr val="28352B"/>
                </a:solidFill>
                <a:latin typeface="Pretendard"/>
                <a:ea typeface="Pretendard"/>
                <a:cs typeface="Pretendard"/>
              </a:defRPr>
            </a:pPr>
            <a:r>
              <a:rPr sz="1725" b="0">
                <a:solidFill>
                  <a:srgbClr val="28352B"/>
                </a:solidFill>
                <a:latin typeface="Pretendard"/>
                <a:ea typeface="Pretendard"/>
                <a:cs typeface="Pretendard"/>
              </a:rPr>
              <a:t>NOA의 대화·검색·서식·스킬</a:t>
            </a:r>
          </a:p>
          <a:p xmlns:a="http://schemas.openxmlformats.org/drawingml/2006/main">
            <a:pPr>
              <a:defRPr sz="1725" b="0">
                <a:solidFill>
                  <a:srgbClr val="28352B"/>
                </a:solidFill>
                <a:latin typeface="Pretendard"/>
                <a:ea typeface="Pretendard"/>
                <a:cs typeface="Pretendard"/>
              </a:defRPr>
            </a:pPr>
            <a:r>
              <a:rPr sz="1725" b="0">
                <a:solidFill>
                  <a:srgbClr val="28352B"/>
                </a:solidFill>
                <a:latin typeface="Pretendard"/>
                <a:ea typeface="Pretendard"/>
                <a:cs typeface="Pretendard"/>
              </a:rPr>
              <a:t>Connor 명세의 실행·로그 경계</a:t>
            </a:r>
          </a:p>
        </p:txBody>
      </p:sp>
      <p:sp>
        <p:nvSpPr>
          <p:cNvPr id="8" name="">
            <a:extLst xmlns:a="http://schemas.openxmlformats.org/drawingml/2006/main">
              <a:ext uri="{FF2B5EF4-FFF2-40B4-BE49-F238E27FC236}">
                <a16:creationId xmlns:a16="http://schemas.microsoft.com/office/drawing/2014/main" id="{0073D101-102D-4AA1-8005-7DD8FDEAF24A}"/>
              </a:ext>
            </a:extLst>
          </p:cNvPr>
          <p:cNvSpPr>
            <a:spLocks xmlns:a="http://schemas.openxmlformats.org/drawingml/2006/main" noGrp="1"/>
          </p:cNvSpPr>
          <p:nvPr/>
        </p:nvSpPr>
        <p:spPr>
          <a:xfrm xmlns:a="http://schemas.openxmlformats.org/drawingml/2006/main">
            <a:off x="571500" y="320992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추가 개발</a:t>
            </a:r>
          </a:p>
        </p:txBody>
      </p:sp>
      <p:sp>
        <p:nvSpPr>
          <p:cNvPr id="9" name="">
            <a:extLst xmlns:a="http://schemas.openxmlformats.org/drawingml/2006/main">
              <a:ext uri="{FF2B5EF4-FFF2-40B4-BE49-F238E27FC236}">
                <a16:creationId xmlns:a16="http://schemas.microsoft.com/office/drawing/2014/main" id="{1F19D6C6-76C7-4385-8657-5A750CE467D8}"/>
              </a:ext>
            </a:extLst>
          </p:cNvPr>
          <p:cNvSpPr>
            <a:spLocks xmlns:a="http://schemas.openxmlformats.org/drawingml/2006/main" noGrp="1"/>
          </p:cNvSpPr>
          <p:nvPr/>
        </p:nvSpPr>
        <p:spPr>
          <a:xfrm xmlns:a="http://schemas.openxmlformats.org/drawingml/2006/main">
            <a:off x="571500" y="3562350"/>
            <a:ext cx="5238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28352B"/>
                </a:solidFill>
                <a:latin typeface="Pretendard"/>
                <a:ea typeface="Pretendard"/>
                <a:cs typeface="Pretendard"/>
              </a:defRPr>
            </a:defPPr>
          </a:lstStyle>
          <a:p xmlns:a="http://schemas.openxmlformats.org/drawingml/2006/main">
            <a:pPr>
              <a:defRPr sz="1725" b="0">
                <a:solidFill>
                  <a:srgbClr val="28352B"/>
                </a:solidFill>
                <a:latin typeface="Pretendard"/>
                <a:ea typeface="Pretendard"/>
                <a:cs typeface="Pretendard"/>
              </a:defRPr>
            </a:pPr>
            <a:r>
              <a:rPr sz="1725" b="0">
                <a:solidFill>
                  <a:srgbClr val="28352B"/>
                </a:solidFill>
                <a:latin typeface="Pretendard"/>
                <a:ea typeface="Pretendard"/>
                <a:cs typeface="Pretendard"/>
              </a:rPr>
              <a:t>사람–조직–직무–업무 관계·효력일 모델</a:t>
            </a:r>
          </a:p>
          <a:p xmlns:a="http://schemas.openxmlformats.org/drawingml/2006/main">
            <a:pPr>
              <a:defRPr sz="1725" b="0">
                <a:solidFill>
                  <a:srgbClr val="28352B"/>
                </a:solidFill>
                <a:latin typeface="Pretendard"/>
                <a:ea typeface="Pretendard"/>
                <a:cs typeface="Pretendard"/>
              </a:defRPr>
            </a:pPr>
            <a:r>
              <a:rPr sz="1725" b="0">
                <a:solidFill>
                  <a:srgbClr val="28352B"/>
                </a:solidFill>
                <a:latin typeface="Pretendard"/>
                <a:ea typeface="Pretendard"/>
                <a:cs typeface="Pretendard"/>
              </a:rPr>
              <a:t>업무 분류기·검색 전 정책 집행 연결</a:t>
            </a:r>
          </a:p>
        </p:txBody>
      </p:sp>
      <p:sp>
        <p:nvSpPr>
          <p:cNvPr id="10" name="">
            <a:extLst xmlns:a="http://schemas.openxmlformats.org/drawingml/2006/main">
              <a:ext uri="{FF2B5EF4-FFF2-40B4-BE49-F238E27FC236}">
                <a16:creationId xmlns:a16="http://schemas.microsoft.com/office/drawing/2014/main" id="{EAAE9EC6-633C-4576-B061-9C1CD7392121}"/>
              </a:ext>
            </a:extLst>
          </p:cNvPr>
          <p:cNvSpPr>
            <a:spLocks xmlns:a="http://schemas.openxmlformats.org/drawingml/2006/main" noGrp="1"/>
          </p:cNvSpPr>
          <p:nvPr/>
        </p:nvSpPr>
        <p:spPr>
          <a:xfrm xmlns:a="http://schemas.openxmlformats.org/drawingml/2006/main">
            <a:off x="571500" y="4572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기대효과</a:t>
            </a:r>
          </a:p>
        </p:txBody>
      </p:sp>
      <p:sp>
        <p:nvSpPr>
          <p:cNvPr id="11" name="">
            <a:extLst xmlns:a="http://schemas.openxmlformats.org/drawingml/2006/main">
              <a:ext uri="{FF2B5EF4-FFF2-40B4-BE49-F238E27FC236}">
                <a16:creationId xmlns:a16="http://schemas.microsoft.com/office/drawing/2014/main" id="{178F7EE4-E216-4958-875D-C8C6065296A2}"/>
              </a:ext>
            </a:extLst>
          </p:cNvPr>
          <p:cNvSpPr>
            <a:spLocks xmlns:a="http://schemas.openxmlformats.org/drawingml/2006/main" noGrp="1"/>
          </p:cNvSpPr>
          <p:nvPr/>
        </p:nvSpPr>
        <p:spPr>
          <a:xfrm xmlns:a="http://schemas.openxmlformats.org/drawingml/2006/main">
            <a:off x="571500" y="4924425"/>
            <a:ext cx="5238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반복 맥락 입력·부서 간 오인계 감소</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직무·업무 분류 정답 건수 ÷ 평가 건수 / 변경 전파 지연</a:t>
            </a:r>
          </a:p>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 / 비인가 노출 건수</a:t>
            </a:r>
          </a:p>
        </p:txBody>
      </p:sp>
      <p:sp>
        <p:nvSpPr>
          <p:cNvPr id="12" name="">
            <a:extLst xmlns:a="http://schemas.openxmlformats.org/drawingml/2006/main">
              <a:ext uri="{FF2B5EF4-FFF2-40B4-BE49-F238E27FC236}">
                <a16:creationId xmlns:a16="http://schemas.microsoft.com/office/drawing/2014/main" id="{94CADED6-528B-4A79-86AE-DE8D31AC3649}"/>
              </a:ext>
            </a:extLst>
          </p:cNvPr>
          <p:cNvSpPr>
            <a:spLocks xmlns:a="http://schemas.openxmlformats.org/drawingml/2006/main" noGrp="1"/>
          </p:cNvSpPr>
          <p:nvPr/>
        </p:nvSpPr>
        <p:spPr>
          <a:xfrm xmlns:a="http://schemas.openxmlformats.org/drawingml/2006/main">
            <a:off x="6334125" y="17526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검수 입력</a:t>
            </a:r>
          </a:p>
        </p:txBody>
      </p:sp>
      <p:sp>
        <p:nvSpPr>
          <p:cNvPr id="13" name="">
            <a:extLst xmlns:a="http://schemas.openxmlformats.org/drawingml/2006/main">
              <a:ext uri="{FF2B5EF4-FFF2-40B4-BE49-F238E27FC236}">
                <a16:creationId xmlns:a16="http://schemas.microsoft.com/office/drawing/2014/main" id="{FE9FD8A5-4D7C-4037-BC6E-92C8563B92F7}"/>
              </a:ext>
            </a:extLst>
          </p:cNvPr>
          <p:cNvSpPr>
            <a:spLocks xmlns:a="http://schemas.openxmlformats.org/drawingml/2006/main" noGrp="1"/>
          </p:cNvSpPr>
          <p:nvPr/>
        </p:nvSpPr>
        <p:spPr>
          <a:xfrm xmlns:a="http://schemas.openxmlformats.org/drawingml/2006/main">
            <a:off x="6334125" y="2105025"/>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28352B"/>
                </a:solidFill>
                <a:latin typeface="Pretendard"/>
                <a:ea typeface="Pretendard"/>
                <a:cs typeface="Pretendard"/>
              </a:defRPr>
            </a:defPPr>
          </a:lstStyle>
          <a:p xmlns:a="http://schemas.openxmlformats.org/drawingml/2006/main">
            <a:pPr>
              <a:defRPr sz="1725" b="0">
                <a:solidFill>
                  <a:srgbClr val="28352B"/>
                </a:solidFill>
                <a:latin typeface="Pretendard"/>
                <a:ea typeface="Pretendard"/>
                <a:cs typeface="Pretendard"/>
              </a:defRPr>
            </a:pPr>
            <a:r>
              <a:rPr sz="1725" b="0">
                <a:solidFill>
                  <a:srgbClr val="28352B"/>
                </a:solidFill>
                <a:latin typeface="Pretendard"/>
                <a:ea typeface="Pretendard"/>
                <a:cs typeface="Pretendard"/>
              </a:rPr>
              <a:t>동명이인·겸직·전보·회수 전후 동일 요청</a:t>
            </a:r>
          </a:p>
        </p:txBody>
      </p:sp>
      <p:sp>
        <p:nvSpPr>
          <p:cNvPr id="14" name="">
            <a:extLst xmlns:a="http://schemas.openxmlformats.org/drawingml/2006/main">
              <a:ext uri="{FF2B5EF4-FFF2-40B4-BE49-F238E27FC236}">
                <a16:creationId xmlns:a16="http://schemas.microsoft.com/office/drawing/2014/main" id="{3829F365-B0E5-42BA-862A-23F6CE9527DD}"/>
              </a:ext>
            </a:extLst>
          </p:cNvPr>
          <p:cNvSpPr>
            <a:spLocks xmlns:a="http://schemas.openxmlformats.org/drawingml/2006/main" noGrp="1"/>
          </p:cNvSpPr>
          <p:nvPr/>
        </p:nvSpPr>
        <p:spPr>
          <a:xfrm xmlns:a="http://schemas.openxmlformats.org/drawingml/2006/main">
            <a:off x="6334125" y="29241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판정 기준</a:t>
            </a:r>
          </a:p>
        </p:txBody>
      </p:sp>
      <p:sp>
        <p:nvSpPr>
          <p:cNvPr id="15" name="">
            <a:extLst xmlns:a="http://schemas.openxmlformats.org/drawingml/2006/main">
              <a:ext uri="{FF2B5EF4-FFF2-40B4-BE49-F238E27FC236}">
                <a16:creationId xmlns:a16="http://schemas.microsoft.com/office/drawing/2014/main" id="{2EA1C281-4A33-4E71-A8EF-55A28551008C}"/>
              </a:ext>
            </a:extLst>
          </p:cNvPr>
          <p:cNvSpPr>
            <a:spLocks xmlns:a="http://schemas.openxmlformats.org/drawingml/2006/main" noGrp="1"/>
          </p:cNvSpPr>
          <p:nvPr/>
        </p:nvSpPr>
        <p:spPr>
          <a:xfrm xmlns:a="http://schemas.openxmlformats.org/drawingml/2006/main">
            <a:off x="6334125" y="3276600"/>
            <a:ext cx="5286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28352B"/>
                </a:solidFill>
                <a:latin typeface="Pretendard"/>
                <a:ea typeface="Pretendard"/>
                <a:cs typeface="Pretendard"/>
              </a:defRPr>
            </a:defPPr>
          </a:lstStyle>
          <a:p xmlns:a="http://schemas.openxmlformats.org/drawingml/2006/main">
            <a:pPr>
              <a:defRPr sz="1725" b="0">
                <a:solidFill>
                  <a:srgbClr val="28352B"/>
                </a:solidFill>
                <a:latin typeface="Pretendard"/>
                <a:ea typeface="Pretendard"/>
                <a:cs typeface="Pretendard"/>
              </a:defRPr>
            </a:pPr>
            <a:r>
              <a:rPr sz="1725" b="0">
                <a:solidFill>
                  <a:srgbClr val="28352B"/>
                </a:solidFill>
                <a:latin typeface="Pretendard"/>
                <a:ea typeface="Pretendard"/>
                <a:cs typeface="Pretendard"/>
              </a:rPr>
              <a:t>정답 조직·업무·서식 일치, 모호한 식별 보류, 비인가 </a:t>
            </a:r>
          </a:p>
          <a:p xmlns:a="http://schemas.openxmlformats.org/drawingml/2006/main">
            <a:pPr>
              <a:defRPr sz="1725" b="0">
                <a:solidFill>
                  <a:srgbClr val="28352B"/>
                </a:solidFill>
                <a:latin typeface="Pretendard"/>
                <a:ea typeface="Pretendard"/>
                <a:cs typeface="Pretendard"/>
              </a:defRPr>
            </a:pPr>
            <a:r>
              <a:rPr sz="1725" b="0">
                <a:solidFill>
                  <a:srgbClr val="28352B"/>
                </a:solidFill>
                <a:latin typeface="Pretendard"/>
                <a:ea typeface="Pretendard"/>
                <a:cs typeface="Pretendard"/>
              </a:rPr>
              <a:t>노출·실행 0건 기준안</a:t>
            </a:r>
          </a:p>
        </p:txBody>
      </p:sp>
      <p:sp>
        <p:nvSpPr>
          <p:cNvPr id="16" name="">
            <a:extLst xmlns:a="http://schemas.openxmlformats.org/drawingml/2006/main">
              <a:ext uri="{FF2B5EF4-FFF2-40B4-BE49-F238E27FC236}">
                <a16:creationId xmlns:a16="http://schemas.microsoft.com/office/drawing/2014/main" id="{081E2166-8FCD-4161-978B-299D62665D7B}"/>
              </a:ext>
            </a:extLst>
          </p:cNvPr>
          <p:cNvSpPr>
            <a:spLocks xmlns:a="http://schemas.openxmlformats.org/drawingml/2006/main" noGrp="1"/>
          </p:cNvSpPr>
          <p:nvPr/>
        </p:nvSpPr>
        <p:spPr>
          <a:xfrm xmlns:a="http://schemas.openxmlformats.org/drawingml/2006/main">
            <a:off x="6334125" y="42481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42634B"/>
                </a:solidFill>
                <a:latin typeface="Pretendard"/>
                <a:ea typeface="Pretendard"/>
                <a:cs typeface="Pretendard"/>
              </a:defRPr>
            </a:defPPr>
          </a:lstStyle>
          <a:p xmlns:a="http://schemas.openxmlformats.org/drawingml/2006/main">
            <a:pPr>
              <a:defRPr sz="1575" b="1">
                <a:solidFill>
                  <a:srgbClr val="42634B"/>
                </a:solidFill>
                <a:latin typeface="Pretendard"/>
                <a:ea typeface="Pretendard"/>
                <a:cs typeface="Pretendard"/>
              </a:defRPr>
            </a:pPr>
            <a:r>
              <a:rPr sz="1575" b="1">
                <a:solidFill>
                  <a:srgbClr val="42634B"/>
                </a:solidFill>
                <a:latin typeface="Pretendard"/>
                <a:ea typeface="Pretendard"/>
                <a:cs typeface="Pretendard"/>
              </a:rPr>
              <a:t>제출 증빙</a:t>
            </a:r>
          </a:p>
        </p:txBody>
      </p:sp>
      <p:sp>
        <p:nvSpPr>
          <p:cNvPr id="17" name="">
            <a:extLst xmlns:a="http://schemas.openxmlformats.org/drawingml/2006/main">
              <a:ext uri="{FF2B5EF4-FFF2-40B4-BE49-F238E27FC236}">
                <a16:creationId xmlns:a16="http://schemas.microsoft.com/office/drawing/2014/main" id="{F1A4420C-ADD0-47B2-A48E-C7BE6940A723}"/>
              </a:ext>
            </a:extLst>
          </p:cNvPr>
          <p:cNvSpPr>
            <a:spLocks xmlns:a="http://schemas.openxmlformats.org/drawingml/2006/main" noGrp="1"/>
          </p:cNvSpPr>
          <p:nvPr/>
        </p:nvSpPr>
        <p:spPr>
          <a:xfrm xmlns:a="http://schemas.openxmlformats.org/drawingml/2006/main">
            <a:off x="6334125" y="4600575"/>
            <a:ext cx="5286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8352B"/>
                </a:solidFill>
                <a:latin typeface="Pretendard"/>
                <a:ea typeface="Pretendard"/>
                <a:cs typeface="Pretendard"/>
              </a:defRPr>
            </a:defPPr>
          </a:lstStyle>
          <a:p xmlns:a="http://schemas.openxmlformats.org/drawingml/2006/main">
            <a:pPr>
              <a:defRPr sz="1650" b="0">
                <a:solidFill>
                  <a:srgbClr val="28352B"/>
                </a:solidFill>
                <a:latin typeface="Pretendard"/>
                <a:ea typeface="Pretendard"/>
                <a:cs typeface="Pretendard"/>
              </a:defRPr>
            </a:pPr>
            <a:r>
              <a:rPr sz="1650" b="0">
                <a:solidFill>
                  <a:srgbClr val="28352B"/>
                </a:solidFill>
                <a:latin typeface="Pretendard"/>
                <a:ea typeface="Pretendard"/>
                <a:cs typeface="Pretendard"/>
              </a:rPr>
              <a:t>신원 매핑 정답셋·교차권한 결과·변경 전파·복구 기록</a:t>
            </a:r>
          </a:p>
        </p:txBody>
      </p:sp>
      <p:sp>
        <p:nvSpPr>
          <p:cNvPr id="18" name="">
            <a:extLst xmlns:a="http://schemas.openxmlformats.org/drawingml/2006/main">
              <a:ext uri="{FF2B5EF4-FFF2-40B4-BE49-F238E27FC236}">
                <a16:creationId xmlns:a16="http://schemas.microsoft.com/office/drawing/2014/main" id="{C5B35C09-4158-4053-81CA-1CEADAD1B78F}"/>
              </a:ext>
            </a:extLst>
          </p:cNvPr>
          <p:cNvSpPr>
            <a:spLocks xmlns:a="http://schemas.openxmlformats.org/drawingml/2006/main" noGrp="1"/>
          </p:cNvSpPr>
          <p:nvPr/>
        </p:nvSpPr>
        <p:spPr>
          <a:xfrm xmlns:a="http://schemas.openxmlformats.org/drawingml/2006/main">
            <a:off x="6334125" y="54483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42634B"/>
                </a:solidFill>
                <a:latin typeface="Pretendard"/>
                <a:ea typeface="Pretendard"/>
                <a:cs typeface="Pretendard"/>
              </a:defRPr>
            </a:defPPr>
          </a:lstStyle>
          <a:p xmlns:a="http://schemas.openxmlformats.org/drawingml/2006/main">
            <a:pPr>
              <a:defRPr sz="1425" b="1">
                <a:solidFill>
                  <a:srgbClr val="42634B"/>
                </a:solidFill>
                <a:latin typeface="Pretendard"/>
                <a:ea typeface="Pretendard"/>
                <a:cs typeface="Pretendard"/>
              </a:defRPr>
            </a:pPr>
            <a:r>
              <a:rPr sz="1425" b="1">
                <a:solidFill>
                  <a:srgbClr val="42634B"/>
                </a:solidFill>
                <a:latin typeface="Pretendard"/>
                <a:ea typeface="Pretendard"/>
                <a:cs typeface="Pretendard"/>
              </a:rPr>
              <a:t>BM-ST-04-R01 / BM-ST-04-T01</a:t>
            </a:r>
          </a:p>
        </p:txBody>
      </p:sp>
      <p:sp>
        <p:nvSpPr>
          <p:cNvPr id="19" name="">
            <a:extLst xmlns:a="http://schemas.openxmlformats.org/drawingml/2006/main">
              <a:ext uri="{FF2B5EF4-FFF2-40B4-BE49-F238E27FC236}">
                <a16:creationId xmlns:a16="http://schemas.microsoft.com/office/drawing/2014/main" id="{57894B62-1316-4514-B8DA-F59EB64F2B5C}"/>
              </a:ext>
            </a:extLst>
          </p:cNvPr>
          <p:cNvSpPr>
            <a:spLocks xmlns:a="http://schemas.openxmlformats.org/drawingml/2006/main" noGrp="1"/>
          </p:cNvSpPr>
          <p:nvPr/>
        </p:nvSpPr>
        <p:spPr>
          <a:xfrm xmlns:a="http://schemas.openxmlformats.org/drawingml/2006/main">
            <a:off x="6334125" y="5810250"/>
            <a:ext cx="5286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87369"/>
                </a:solidFill>
                <a:latin typeface="Pretendard"/>
                <a:ea typeface="Pretendard"/>
                <a:cs typeface="Pretendard"/>
              </a:defRPr>
            </a:defPPr>
          </a:lstStyle>
          <a:p xmlns:a="http://schemas.openxmlformats.org/drawingml/2006/main">
            <a:pPr>
              <a:defRPr sz="1200" b="0">
                <a:solidFill>
                  <a:srgbClr val="687369"/>
                </a:solidFill>
                <a:latin typeface="Pretendard"/>
                <a:ea typeface="Pretendard"/>
                <a:cs typeface="Pretendard"/>
              </a:defRPr>
            </a:pPr>
            <a:r>
              <a:rPr sz="1200" b="0">
                <a:solidFill>
                  <a:srgbClr val="687369"/>
                </a:solidFill>
                <a:latin typeface="Pretendard"/>
                <a:ea typeface="Pretendard"/>
                <a:cs typeface="Pretendard"/>
              </a:rPr>
              <a:t>검수 설계안·미실행 / 기대효과 TS 실측 전</a:t>
            </a:r>
          </a:p>
        </p:txBody>
      </p:sp>
    </p:spTree>
    <p:extLst>
      <p:ext uri="{BB962C8B-B14F-4D97-AF65-F5344CB8AC3E}">
        <p14:creationId xmlns:p14="http://schemas.microsoft.com/office/powerpoint/2010/main" val="569520672"/>
      </p:ext>
    </p:extLst>
  </p:cSld>
</p:sld>
</file>

<file path=ppt/slides/slide166.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85CEF68-87F9-46D7-9F83-A17BD7E58636}"/>
              </a:ext>
            </a:extLst>
          </p:cNvPr>
          <p:cNvSpPr>
            <a:spLocks xmlns:a="http://schemas.openxmlformats.org/drawingml/2006/main" noGrp="1"/>
          </p:cNvSpPr>
          <p:nvPr/>
        </p:nvSpPr>
        <p:spPr>
          <a:xfrm xmlns:a="http://schemas.openxmlformats.org/drawingml/2006/main">
            <a:off x="571500" y="285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87369"/>
                </a:solidFill>
                <a:latin typeface="Pretendard"/>
                <a:ea typeface="Pretendard"/>
                <a:cs typeface="Pretendard"/>
              </a:defRPr>
            </a:defPPr>
          </a:lstStyle>
          <a:p xmlns:a="http://schemas.openxmlformats.org/drawingml/2006/main">
            <a:pPr>
              <a:defRPr sz="1275" b="0">
                <a:solidFill>
                  <a:srgbClr val="687369"/>
                </a:solidFill>
                <a:latin typeface="Pretendard"/>
                <a:ea typeface="Pretendard"/>
                <a:cs typeface="Pretendard"/>
              </a:defRPr>
            </a:pPr>
            <a:r>
              <a:rPr sz="1275" b="0">
                <a:solidFill>
                  <a:srgbClr val="687369"/>
                </a:solidFill>
                <a:latin typeface="Pretendard"/>
                <a:ea typeface="Pretendard"/>
                <a:cs typeface="Pretendard"/>
              </a:rPr>
              <a:t>12대 전략 / 공통 기반 인수 후 업무 특화</a:t>
            </a:r>
          </a:p>
        </p:txBody>
      </p:sp>
      <p:sp>
        <p:nvSpPr>
          <p:cNvPr id="2" name="">
            <a:extLst xmlns:a="http://schemas.openxmlformats.org/drawingml/2006/main">
              <a:ext uri="{FF2B5EF4-FFF2-40B4-BE49-F238E27FC236}">
                <a16:creationId xmlns:a16="http://schemas.microsoft.com/office/drawing/2014/main" id="{F1A3A75A-A333-476D-BE8A-E1A5651E2ED1}"/>
              </a:ext>
            </a:extLst>
          </p:cNvPr>
          <p:cNvSpPr>
            <a:spLocks xmlns:a="http://schemas.openxmlformats.org/drawingml/2006/main" noGrp="1"/>
          </p:cNvSpPr>
          <p:nvPr/>
        </p:nvSpPr>
        <p:spPr>
          <a:xfrm xmlns:a="http://schemas.openxmlformats.org/drawingml/2006/main">
            <a:off x="571500" y="7334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8352B"/>
                </a:solidFill>
                <a:latin typeface="Pretendard"/>
                <a:ea typeface="Pretendard"/>
                <a:cs typeface="Pretendard"/>
              </a:defRPr>
            </a:defPPr>
          </a:lstStyle>
          <a:p xmlns:a="http://schemas.openxmlformats.org/drawingml/2006/main">
            <a:pPr>
              <a:defRPr sz="2700" b="1">
                <a:solidFill>
                  <a:srgbClr val="28352B"/>
                </a:solidFill>
                <a:latin typeface="Pretendard"/>
                <a:ea typeface="Pretendard"/>
                <a:cs typeface="Pretendard"/>
              </a:defRPr>
            </a:pPr>
            <a:r>
              <a:rPr sz="2700" b="1">
                <a:solidFill>
                  <a:srgbClr val="28352B"/>
                </a:solidFill>
                <a:latin typeface="Pretendard"/>
                <a:ea typeface="Pretendard"/>
                <a:cs typeface="Pretendard"/>
              </a:rPr>
              <a:t>부서별 후속 적용의 연결</a:t>
            </a:r>
          </a:p>
        </p:txBody>
      </p:sp>
      <p:sp>
        <p:nvSpPr>
          <p:cNvPr id="3" name="">
            <a:extLst xmlns:a="http://schemas.openxmlformats.org/drawingml/2006/main">
              <a:ext uri="{FF2B5EF4-FFF2-40B4-BE49-F238E27FC236}">
                <a16:creationId xmlns:a16="http://schemas.microsoft.com/office/drawing/2014/main" id="{3C8AC26B-DAD5-4983-A476-AA639D201E6C}"/>
              </a:ext>
            </a:extLst>
          </p:cNvPr>
          <p:cNvSpPr>
            <a:spLocks xmlns:a="http://schemas.openxmlformats.org/drawingml/2006/main" noGrp="1"/>
          </p:cNvSpPr>
          <p:nvPr/>
        </p:nvSpPr>
        <p:spPr>
          <a:xfrm xmlns:a="http://schemas.openxmlformats.org/drawingml/2006/main">
            <a:off x="571500" y="6191250"/>
            <a:ext cx="11049000" cy="9525"/>
          </a:xfrm>
          <a:prstGeom xmlns:a="http://schemas.openxmlformats.org/drawingml/2006/main" prst="rect">
            <a:avLst/>
          </a:prstGeom>
          <a:solidFill xmlns:a="http://schemas.openxmlformats.org/drawingml/2006/main">
            <a:srgbClr val="D4D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F928BB7-D719-435D-A903-1F31A8832664}"/>
              </a:ext>
            </a:extLst>
          </p:cNvPr>
          <p:cNvSpPr>
            <a:spLocks xmlns:a="http://schemas.openxmlformats.org/drawingml/2006/main" noGrp="1"/>
          </p:cNvSpPr>
          <p:nvPr/>
        </p:nvSpPr>
        <p:spPr>
          <a:xfrm xmlns:a="http://schemas.openxmlformats.org/drawingml/2006/main">
            <a:off x="571500" y="6362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CCK / TS 2027  / 2026.10.16</a:t>
            </a:r>
          </a:p>
        </p:txBody>
      </p:sp>
      <p:sp>
        <p:nvSpPr>
          <p:cNvPr id="5" name="">
            <a:extLst xmlns:a="http://schemas.openxmlformats.org/drawingml/2006/main">
              <a:ext uri="{FF2B5EF4-FFF2-40B4-BE49-F238E27FC236}">
                <a16:creationId xmlns:a16="http://schemas.microsoft.com/office/drawing/2014/main" id="{1A0585AA-F06A-4739-9F56-42F0A547D420}"/>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87369"/>
                </a:solidFill>
                <a:latin typeface="Pretendard"/>
                <a:ea typeface="Pretendard"/>
                <a:cs typeface="Pretendard"/>
              </a:defRPr>
            </a:defPPr>
          </a:lstStyle>
          <a:p xmlns:a="http://schemas.openxmlformats.org/drawingml/2006/main">
            <a:pPr>
              <a:defRPr sz="1125" b="0">
                <a:solidFill>
                  <a:srgbClr val="687369"/>
                </a:solidFill>
                <a:latin typeface="Pretendard"/>
                <a:ea typeface="Pretendard"/>
                <a:cs typeface="Pretendard"/>
              </a:defRPr>
            </a:pPr>
            <a:r>
              <a:rPr sz="1125" b="0">
                <a:solidFill>
                  <a:srgbClr val="687369"/>
                </a:solidFill>
                <a:latin typeface="Pretendard"/>
                <a:ea typeface="Pretendard"/>
                <a:cs typeface="Pretendard"/>
              </a:rPr>
              <a:t>166</a:t>
            </a:r>
          </a:p>
        </p:txBody>
      </p:sp>
      <p:sp>
        <p:nvSpPr>
          <p:cNvPr id="6" name="">
            <a:extLst xmlns:a="http://schemas.openxmlformats.org/drawingml/2006/main">
              <a:ext uri="{FF2B5EF4-FFF2-40B4-BE49-F238E27FC236}">
                <a16:creationId xmlns:a16="http://schemas.microsoft.com/office/drawing/2014/main" id="{EAEA1E0D-1CE6-4C71-A67E-DC91EC1104BF}"/>
              </a:ext>
            </a:extLst>
          </p:cNvPr>
          <p:cNvSpPr>
            <a:spLocks xmlns:a="http://schemas.openxmlformats.org/drawingml/2006/main" noGrp="1"/>
          </p:cNvSpPr>
          <p:nvPr/>
        </p:nvSpPr>
        <p:spPr>
          <a:xfrm xmlns:a="http://schemas.openxmlformats.org/drawingml/2006/main">
            <a:off x="571500" y="1857375"/>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28352B"/>
                </a:solidFill>
                <a:latin typeface="Pretendard"/>
                <a:ea typeface="Pretendard"/>
                <a:cs typeface="Pretendard"/>
              </a:defRPr>
            </a:defPPr>
          </a:lstStyle>
          <a:p xmlns:a="http://schemas.openxmlformats.org/drawingml/2006/main">
            <a:pPr>
              <a:defRPr sz="1725" b="0">
                <a:solidFill>
                  <a:srgbClr val="28352B"/>
                </a:solidFill>
                <a:latin typeface="Pretendard"/>
                <a:ea typeface="Pretendard"/>
                <a:cs typeface="Pretendard"/>
              </a:defRPr>
            </a:pPr>
            <a:r>
              <a:rPr sz="1725" b="0">
                <a:solidFill>
                  <a:srgbClr val="28352B"/>
                </a:solidFill>
                <a:latin typeface="Pretendard"/>
                <a:ea typeface="Pretendard"/>
                <a:cs typeface="Pretendard"/>
              </a:rPr>
              <a:t>ST-01 지역·취약계층 안전조치 근거 지원</a:t>
            </a:r>
          </a:p>
        </p:txBody>
      </p:sp>
      <p:sp>
        <p:nvSpPr>
          <p:cNvPr id="7" name="">
            <a:extLst xmlns:a="http://schemas.openxmlformats.org/drawingml/2006/main">
              <a:ext uri="{FF2B5EF4-FFF2-40B4-BE49-F238E27FC236}">
                <a16:creationId xmlns:a16="http://schemas.microsoft.com/office/drawing/2014/main" id="{67F569B1-AE19-4CB0-B9BE-B72BA79F0818}"/>
              </a:ext>
            </a:extLst>
          </p:cNvPr>
          <p:cNvSpPr>
            <a:spLocks xmlns:a="http://schemas.openxmlformats.org/drawingml/2006/main" noGrp="1"/>
          </p:cNvSpPr>
          <p:nvPr/>
        </p:nvSpPr>
        <p:spPr>
          <a:xfrm xmlns:a="http://schemas.openxmlformats.org/drawingml/2006/main">
            <a:off x="571500" y="2524125"/>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28352B"/>
                </a:solidFill>
                <a:latin typeface="Pretendard"/>
                <a:ea typeface="Pretendard"/>
                <a:cs typeface="Pretendard"/>
              </a:defRPr>
            </a:defPPr>
          </a:lstStyle>
          <a:p xmlns:a="http://schemas.openxmlformats.org/drawingml/2006/main">
            <a:pPr>
              <a:defRPr sz="1725" b="0">
                <a:solidFill>
                  <a:srgbClr val="28352B"/>
                </a:solidFill>
                <a:latin typeface="Pretendard"/>
                <a:ea typeface="Pretendard"/>
                <a:cs typeface="Pretendard"/>
              </a:defRPr>
            </a:pPr>
            <a:r>
              <a:rPr sz="1725" b="0">
                <a:solidFill>
                  <a:srgbClr val="28352B"/>
                </a:solidFill>
                <a:latin typeface="Pretendard"/>
                <a:ea typeface="Pretendard"/>
                <a:cs typeface="Pretendard"/>
              </a:rPr>
              <a:t>ST-02 검사·소비자 권익 검토 지원</a:t>
            </a:r>
          </a:p>
        </p:txBody>
      </p:sp>
      <p:sp>
        <p:nvSpPr>
          <p:cNvPr id="8" name="">
            <a:extLst xmlns:a="http://schemas.openxmlformats.org/drawingml/2006/main">
              <a:ext uri="{FF2B5EF4-FFF2-40B4-BE49-F238E27FC236}">
                <a16:creationId xmlns:a16="http://schemas.microsoft.com/office/drawing/2014/main" id="{3E4ED0F2-3FBD-496F-A828-1AA43DA5DBC3}"/>
              </a:ext>
            </a:extLst>
          </p:cNvPr>
          <p:cNvSpPr>
            <a:spLocks xmlns:a="http://schemas.openxmlformats.org/drawingml/2006/main" noGrp="1"/>
          </p:cNvSpPr>
          <p:nvPr/>
        </p:nvSpPr>
        <p:spPr>
          <a:xfrm xmlns:a="http://schemas.openxmlformats.org/drawingml/2006/main">
            <a:off x="571500" y="3190875"/>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28352B"/>
                </a:solidFill>
                <a:latin typeface="Pretendard"/>
                <a:ea typeface="Pretendard"/>
                <a:cs typeface="Pretendard"/>
              </a:defRPr>
            </a:defPPr>
          </a:lstStyle>
          <a:p xmlns:a="http://schemas.openxmlformats.org/drawingml/2006/main">
            <a:pPr>
              <a:defRPr sz="1725" b="0">
                <a:solidFill>
                  <a:srgbClr val="28352B"/>
                </a:solidFill>
                <a:latin typeface="Pretendard"/>
                <a:ea typeface="Pretendard"/>
                <a:cs typeface="Pretendard"/>
              </a:defRPr>
            </a:pPr>
            <a:r>
              <a:rPr sz="1725" b="0">
                <a:solidFill>
                  <a:srgbClr val="28352B"/>
                </a:solidFill>
                <a:latin typeface="Pretendard"/>
                <a:ea typeface="Pretendard"/>
                <a:cs typeface="Pretendard"/>
              </a:rPr>
              <a:t>ST-03 중대사고 예방·보고 완전성</a:t>
            </a:r>
          </a:p>
        </p:txBody>
      </p:sp>
      <p:sp>
        <p:nvSpPr>
          <p:cNvPr id="9" name="">
            <a:extLst xmlns:a="http://schemas.openxmlformats.org/drawingml/2006/main">
              <a:ext uri="{FF2B5EF4-FFF2-40B4-BE49-F238E27FC236}">
                <a16:creationId xmlns:a16="http://schemas.microsoft.com/office/drawing/2014/main" id="{54C91069-8CB9-41DF-A9E7-4EF0ABDC4347}"/>
              </a:ext>
            </a:extLst>
          </p:cNvPr>
          <p:cNvSpPr>
            <a:spLocks xmlns:a="http://schemas.openxmlformats.org/drawingml/2006/main" noGrp="1"/>
          </p:cNvSpPr>
          <p:nvPr/>
        </p:nvSpPr>
        <p:spPr>
          <a:xfrm xmlns:a="http://schemas.openxmlformats.org/drawingml/2006/main">
            <a:off x="571500" y="3857625"/>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28352B"/>
                </a:solidFill>
                <a:latin typeface="Pretendard"/>
                <a:ea typeface="Pretendard"/>
                <a:cs typeface="Pretendard"/>
              </a:defRPr>
            </a:defPPr>
          </a:lstStyle>
          <a:p xmlns:a="http://schemas.openxmlformats.org/drawingml/2006/main">
            <a:pPr>
              <a:defRPr sz="1725" b="0">
                <a:solidFill>
                  <a:srgbClr val="28352B"/>
                </a:solidFill>
                <a:latin typeface="Pretendard"/>
                <a:ea typeface="Pretendard"/>
                <a:cs typeface="Pretendard"/>
              </a:defRPr>
            </a:pPr>
            <a:r>
              <a:rPr sz="1725" b="0">
                <a:solidFill>
                  <a:srgbClr val="28352B"/>
                </a:solidFill>
                <a:latin typeface="Pretendard"/>
                <a:ea typeface="Pretendard"/>
                <a:cs typeface="Pretendard"/>
              </a:rPr>
              <a:t>ST-04 조직 네이티브 공통 기반</a:t>
            </a:r>
          </a:p>
        </p:txBody>
      </p:sp>
      <p:sp>
        <p:nvSpPr>
          <p:cNvPr id="10" name="">
            <a:extLst xmlns:a="http://schemas.openxmlformats.org/drawingml/2006/main">
              <a:ext uri="{FF2B5EF4-FFF2-40B4-BE49-F238E27FC236}">
                <a16:creationId xmlns:a16="http://schemas.microsoft.com/office/drawing/2014/main" id="{3DB7AE68-EBEF-4CB2-B5E5-69CA78EF7F23}"/>
              </a:ext>
            </a:extLst>
          </p:cNvPr>
          <p:cNvSpPr>
            <a:spLocks xmlns:a="http://schemas.openxmlformats.org/drawingml/2006/main" noGrp="1"/>
          </p:cNvSpPr>
          <p:nvPr/>
        </p:nvSpPr>
        <p:spPr>
          <a:xfrm xmlns:a="http://schemas.openxmlformats.org/drawingml/2006/main">
            <a:off x="571500" y="4524375"/>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28352B"/>
                </a:solidFill>
                <a:latin typeface="Pretendard"/>
                <a:ea typeface="Pretendard"/>
                <a:cs typeface="Pretendard"/>
              </a:defRPr>
            </a:defPPr>
          </a:lstStyle>
          <a:p xmlns:a="http://schemas.openxmlformats.org/drawingml/2006/main">
            <a:pPr>
              <a:defRPr sz="1725" b="0">
                <a:solidFill>
                  <a:srgbClr val="28352B"/>
                </a:solidFill>
                <a:latin typeface="Pretendard"/>
                <a:ea typeface="Pretendard"/>
                <a:cs typeface="Pretendard"/>
              </a:defRPr>
            </a:pPr>
            <a:r>
              <a:rPr sz="1725" b="0">
                <a:solidFill>
                  <a:srgbClr val="28352B"/>
                </a:solidFill>
                <a:latin typeface="Pretendard"/>
                <a:ea typeface="Pretendard"/>
                <a:cs typeface="Pretendard"/>
              </a:rPr>
              <a:t>ST-05 모빌리티 실증 증거·안전 검증</a:t>
            </a:r>
          </a:p>
        </p:txBody>
      </p:sp>
      <p:sp>
        <p:nvSpPr>
          <p:cNvPr id="11" name="">
            <a:extLst xmlns:a="http://schemas.openxmlformats.org/drawingml/2006/main">
              <a:ext uri="{FF2B5EF4-FFF2-40B4-BE49-F238E27FC236}">
                <a16:creationId xmlns:a16="http://schemas.microsoft.com/office/drawing/2014/main" id="{6D80E126-63EB-4213-9117-2187CA8166D8}"/>
              </a:ext>
            </a:extLst>
          </p:cNvPr>
          <p:cNvSpPr>
            <a:spLocks xmlns:a="http://schemas.openxmlformats.org/drawingml/2006/main" noGrp="1"/>
          </p:cNvSpPr>
          <p:nvPr/>
        </p:nvSpPr>
        <p:spPr>
          <a:xfrm xmlns:a="http://schemas.openxmlformats.org/drawingml/2006/main">
            <a:off x="571500" y="5191125"/>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28352B"/>
                </a:solidFill>
                <a:latin typeface="Pretendard"/>
                <a:ea typeface="Pretendard"/>
                <a:cs typeface="Pretendard"/>
              </a:defRPr>
            </a:defPPr>
          </a:lstStyle>
          <a:p xmlns:a="http://schemas.openxmlformats.org/drawingml/2006/main">
            <a:pPr>
              <a:defRPr sz="1725" b="0">
                <a:solidFill>
                  <a:srgbClr val="28352B"/>
                </a:solidFill>
                <a:latin typeface="Pretendard"/>
                <a:ea typeface="Pretendard"/>
                <a:cs typeface="Pretendard"/>
              </a:defRPr>
            </a:pPr>
            <a:r>
              <a:rPr sz="1725" b="0">
                <a:solidFill>
                  <a:srgbClr val="28352B"/>
                </a:solidFill>
                <a:latin typeface="Pretendard"/>
                <a:ea typeface="Pretendard"/>
                <a:cs typeface="Pretendard"/>
              </a:rPr>
              <a:t>ST-06 친환경 운행·탄소 검증 지원</a:t>
            </a:r>
          </a:p>
        </p:txBody>
      </p:sp>
      <p:sp>
        <p:nvSpPr>
          <p:cNvPr id="12" name="">
            <a:extLst xmlns:a="http://schemas.openxmlformats.org/drawingml/2006/main">
              <a:ext uri="{FF2B5EF4-FFF2-40B4-BE49-F238E27FC236}">
                <a16:creationId xmlns:a16="http://schemas.microsoft.com/office/drawing/2014/main" id="{B53E83D3-F781-4839-A25D-3BCF8656FE84}"/>
              </a:ext>
            </a:extLst>
          </p:cNvPr>
          <p:cNvSpPr>
            <a:spLocks xmlns:a="http://schemas.openxmlformats.org/drawingml/2006/main" noGrp="1"/>
          </p:cNvSpPr>
          <p:nvPr/>
        </p:nvSpPr>
        <p:spPr>
          <a:xfrm xmlns:a="http://schemas.openxmlformats.org/drawingml/2006/main">
            <a:off x="6286500" y="1857375"/>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28352B"/>
                </a:solidFill>
                <a:latin typeface="Pretendard"/>
                <a:ea typeface="Pretendard"/>
                <a:cs typeface="Pretendard"/>
              </a:defRPr>
            </a:defPPr>
          </a:lstStyle>
          <a:p xmlns:a="http://schemas.openxmlformats.org/drawingml/2006/main">
            <a:pPr>
              <a:defRPr sz="1725" b="0">
                <a:solidFill>
                  <a:srgbClr val="28352B"/>
                </a:solidFill>
                <a:latin typeface="Pretendard"/>
                <a:ea typeface="Pretendard"/>
                <a:cs typeface="Pretendard"/>
              </a:defRPr>
            </a:pPr>
            <a:r>
              <a:rPr sz="1725" b="0">
                <a:solidFill>
                  <a:srgbClr val="28352B"/>
                </a:solidFill>
                <a:latin typeface="Pretendard"/>
                <a:ea typeface="Pretendard"/>
                <a:cs typeface="Pretendard"/>
              </a:rPr>
              <a:t>ST-07 교통데이터 제공·연계 지원</a:t>
            </a:r>
          </a:p>
        </p:txBody>
      </p:sp>
      <p:sp>
        <p:nvSpPr>
          <p:cNvPr id="13" name="">
            <a:extLst xmlns:a="http://schemas.openxmlformats.org/drawingml/2006/main">
              <a:ext uri="{FF2B5EF4-FFF2-40B4-BE49-F238E27FC236}">
                <a16:creationId xmlns:a16="http://schemas.microsoft.com/office/drawing/2014/main" id="{13EC350C-E0C9-49A1-B650-9ACEE28229BC}"/>
              </a:ext>
            </a:extLst>
          </p:cNvPr>
          <p:cNvSpPr>
            <a:spLocks xmlns:a="http://schemas.openxmlformats.org/drawingml/2006/main" noGrp="1"/>
          </p:cNvSpPr>
          <p:nvPr/>
        </p:nvSpPr>
        <p:spPr>
          <a:xfrm xmlns:a="http://schemas.openxmlformats.org/drawingml/2006/main">
            <a:off x="6286500" y="2524125"/>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28352B"/>
                </a:solidFill>
                <a:latin typeface="Pretendard"/>
                <a:ea typeface="Pretendard"/>
                <a:cs typeface="Pretendard"/>
              </a:defRPr>
            </a:defPPr>
          </a:lstStyle>
          <a:p xmlns:a="http://schemas.openxmlformats.org/drawingml/2006/main">
            <a:pPr>
              <a:defRPr sz="1725" b="0">
                <a:solidFill>
                  <a:srgbClr val="28352B"/>
                </a:solidFill>
                <a:latin typeface="Pretendard"/>
                <a:ea typeface="Pretendard"/>
                <a:cs typeface="Pretendard"/>
              </a:defRPr>
            </a:pPr>
            <a:r>
              <a:rPr sz="1725" b="0">
                <a:solidFill>
                  <a:srgbClr val="28352B"/>
                </a:solidFill>
                <a:latin typeface="Pretendard"/>
                <a:ea typeface="Pretendard"/>
                <a:cs typeface="Pretendard"/>
              </a:rPr>
              <a:t>ST-08 자연어·음성 이동 서비스 접점</a:t>
            </a:r>
          </a:p>
        </p:txBody>
      </p:sp>
      <p:sp>
        <p:nvSpPr>
          <p:cNvPr id="14" name="">
            <a:extLst xmlns:a="http://schemas.openxmlformats.org/drawingml/2006/main">
              <a:ext uri="{FF2B5EF4-FFF2-40B4-BE49-F238E27FC236}">
                <a16:creationId xmlns:a16="http://schemas.microsoft.com/office/drawing/2014/main" id="{50CA09E6-1C12-4162-9E8E-906A3BF5077C}"/>
              </a:ext>
            </a:extLst>
          </p:cNvPr>
          <p:cNvSpPr>
            <a:spLocks xmlns:a="http://schemas.openxmlformats.org/drawingml/2006/main" noGrp="1"/>
          </p:cNvSpPr>
          <p:nvPr/>
        </p:nvSpPr>
        <p:spPr>
          <a:xfrm xmlns:a="http://schemas.openxmlformats.org/drawingml/2006/main">
            <a:off x="6286500" y="3190875"/>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28352B"/>
                </a:solidFill>
                <a:latin typeface="Pretendard"/>
                <a:ea typeface="Pretendard"/>
                <a:cs typeface="Pretendard"/>
              </a:defRPr>
            </a:defPPr>
          </a:lstStyle>
          <a:p xmlns:a="http://schemas.openxmlformats.org/drawingml/2006/main">
            <a:pPr>
              <a:defRPr sz="1725" b="0">
                <a:solidFill>
                  <a:srgbClr val="28352B"/>
                </a:solidFill>
                <a:latin typeface="Pretendard"/>
                <a:ea typeface="Pretendard"/>
                <a:cs typeface="Pretendard"/>
              </a:defRPr>
            </a:pPr>
            <a:r>
              <a:rPr sz="1725" b="0">
                <a:solidFill>
                  <a:srgbClr val="28352B"/>
                </a:solidFill>
                <a:latin typeface="Pretendard"/>
                <a:ea typeface="Pretendard"/>
                <a:cs typeface="Pretendard"/>
              </a:rPr>
              <a:t>ST-09 지역·산업 지원 검토 근거</a:t>
            </a:r>
          </a:p>
        </p:txBody>
      </p:sp>
      <p:sp>
        <p:nvSpPr>
          <p:cNvPr id="15" name="">
            <a:extLst xmlns:a="http://schemas.openxmlformats.org/drawingml/2006/main">
              <a:ext uri="{FF2B5EF4-FFF2-40B4-BE49-F238E27FC236}">
                <a16:creationId xmlns:a16="http://schemas.microsoft.com/office/drawing/2014/main" id="{C73D96F2-BF83-4666-B3A1-A1AC6603231C}"/>
              </a:ext>
            </a:extLst>
          </p:cNvPr>
          <p:cNvSpPr>
            <a:spLocks xmlns:a="http://schemas.openxmlformats.org/drawingml/2006/main" noGrp="1"/>
          </p:cNvSpPr>
          <p:nvPr/>
        </p:nvSpPr>
        <p:spPr>
          <a:xfrm xmlns:a="http://schemas.openxmlformats.org/drawingml/2006/main">
            <a:off x="6286500" y="3857625"/>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28352B"/>
                </a:solidFill>
                <a:latin typeface="Pretendard"/>
                <a:ea typeface="Pretendard"/>
                <a:cs typeface="Pretendard"/>
              </a:defRPr>
            </a:defPPr>
          </a:lstStyle>
          <a:p xmlns:a="http://schemas.openxmlformats.org/drawingml/2006/main">
            <a:pPr>
              <a:defRPr sz="1725" b="0">
                <a:solidFill>
                  <a:srgbClr val="28352B"/>
                </a:solidFill>
                <a:latin typeface="Pretendard"/>
                <a:ea typeface="Pretendard"/>
                <a:cs typeface="Pretendard"/>
              </a:defRPr>
            </a:pPr>
            <a:r>
              <a:rPr sz="1725" b="0">
                <a:solidFill>
                  <a:srgbClr val="28352B"/>
                </a:solidFill>
                <a:latin typeface="Pretendard"/>
                <a:ea typeface="Pretendard"/>
                <a:cs typeface="Pretendard"/>
              </a:rPr>
              <a:t>ST-10 성과·경영 문서 검토 지원</a:t>
            </a:r>
          </a:p>
        </p:txBody>
      </p:sp>
      <p:sp>
        <p:nvSpPr>
          <p:cNvPr id="16" name="">
            <a:extLst xmlns:a="http://schemas.openxmlformats.org/drawingml/2006/main">
              <a:ext uri="{FF2B5EF4-FFF2-40B4-BE49-F238E27FC236}">
                <a16:creationId xmlns:a16="http://schemas.microsoft.com/office/drawing/2014/main" id="{152E9D8A-A356-487F-82E1-7E701D29EEF2}"/>
              </a:ext>
            </a:extLst>
          </p:cNvPr>
          <p:cNvSpPr>
            <a:spLocks xmlns:a="http://schemas.openxmlformats.org/drawingml/2006/main" noGrp="1"/>
          </p:cNvSpPr>
          <p:nvPr/>
        </p:nvSpPr>
        <p:spPr>
          <a:xfrm xmlns:a="http://schemas.openxmlformats.org/drawingml/2006/main">
            <a:off x="6286500" y="4524375"/>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28352B"/>
                </a:solidFill>
                <a:latin typeface="Pretendard"/>
                <a:ea typeface="Pretendard"/>
                <a:cs typeface="Pretendard"/>
              </a:defRPr>
            </a:defPPr>
          </a:lstStyle>
          <a:p xmlns:a="http://schemas.openxmlformats.org/drawingml/2006/main">
            <a:pPr>
              <a:defRPr sz="1725" b="0">
                <a:solidFill>
                  <a:srgbClr val="28352B"/>
                </a:solidFill>
                <a:latin typeface="Pretendard"/>
                <a:ea typeface="Pretendard"/>
                <a:cs typeface="Pretendard"/>
              </a:defRPr>
            </a:pPr>
            <a:r>
              <a:rPr sz="1725" b="0">
                <a:solidFill>
                  <a:srgbClr val="28352B"/>
                </a:solidFill>
                <a:latin typeface="Pretendard"/>
                <a:ea typeface="Pretendard"/>
                <a:cs typeface="Pretendard"/>
              </a:rPr>
              <a:t>ST-11 ESG 증빙·공시 검토 지원</a:t>
            </a:r>
          </a:p>
        </p:txBody>
      </p:sp>
      <p:sp>
        <p:nvSpPr>
          <p:cNvPr id="17" name="">
            <a:extLst xmlns:a="http://schemas.openxmlformats.org/drawingml/2006/main">
              <a:ext uri="{FF2B5EF4-FFF2-40B4-BE49-F238E27FC236}">
                <a16:creationId xmlns:a16="http://schemas.microsoft.com/office/drawing/2014/main" id="{2C2B1B8A-6EE5-40CC-8FC3-E24222A34C0D}"/>
              </a:ext>
            </a:extLst>
          </p:cNvPr>
          <p:cNvSpPr>
            <a:spLocks xmlns:a="http://schemas.openxmlformats.org/drawingml/2006/main" noGrp="1"/>
          </p:cNvSpPr>
          <p:nvPr/>
        </p:nvSpPr>
        <p:spPr>
          <a:xfrm xmlns:a="http://schemas.openxmlformats.org/drawingml/2006/main">
            <a:off x="6286500" y="5191125"/>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28352B"/>
                </a:solidFill>
                <a:latin typeface="Pretendard"/>
                <a:ea typeface="Pretendard"/>
                <a:cs typeface="Pretendard"/>
              </a:defRPr>
            </a:defPPr>
          </a:lstStyle>
          <a:p xmlns:a="http://schemas.openxmlformats.org/drawingml/2006/main">
            <a:pPr>
              <a:defRPr sz="1725" b="0">
                <a:solidFill>
                  <a:srgbClr val="28352B"/>
                </a:solidFill>
                <a:latin typeface="Pretendard"/>
                <a:ea typeface="Pretendard"/>
                <a:cs typeface="Pretendard"/>
              </a:defRPr>
            </a:pPr>
            <a:r>
              <a:rPr sz="1725" b="0">
                <a:solidFill>
                  <a:srgbClr val="28352B"/>
                </a:solidFill>
                <a:latin typeface="Pretendard"/>
                <a:ea typeface="Pretendard"/>
                <a:cs typeface="Pretendard"/>
              </a:rPr>
              <a:t>ST-12 조직 협업·참여·공정성 지원</a:t>
            </a:r>
          </a:p>
        </p:txBody>
      </p:sp>
    </p:spTree>
    <p:extLst>
      <p:ext uri="{BB962C8B-B14F-4D97-AF65-F5344CB8AC3E}">
        <p14:creationId xmlns:p14="http://schemas.microsoft.com/office/powerpoint/2010/main" val="16127989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Pretendard"/>
        <a:ea typeface=""/>
        <a:cs typeface=""/>
      </a:majorFont>
      <a:minorFont>
        <a:latin typeface="Pretendard"/>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2026-10-16T07:59:11.1670000Z</dcterms:created>
  <dcterms:modified xsi:type="dcterms:W3CDTF">2026-10-16T07:59:11.1670000Z</dcterms:modified>
</coreProperties>
</file>