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Override PartName="/ppt/slides/slide201.xml" ContentType="application/vnd.openxmlformats-officedocument.presentationml.slide+xml"/>
  <Override PartName="/ppt/notesSlides/notesSlide201.xml" ContentType="application/vnd.openxmlformats-officedocument.presentationml.notesSlide+xml"/>
  <Override PartName="/ppt/slides/slide202.xml" ContentType="application/vnd.openxmlformats-officedocument.presentationml.slide+xml"/>
  <Override PartName="/ppt/notesSlides/notesSlide202.xml" ContentType="application/vnd.openxmlformats-officedocument.presentationml.notesSlide+xml"/>
  <Override PartName="/ppt/slides/slide203.xml" ContentType="application/vnd.openxmlformats-officedocument.presentationml.slide+xml"/>
  <Override PartName="/ppt/notesSlides/notesSlide203.xml" ContentType="application/vnd.openxmlformats-officedocument.presentationml.notesSlide+xml"/>
  <Override PartName="/ppt/slides/slide204.xml" ContentType="application/vnd.openxmlformats-officedocument.presentationml.slide+xml"/>
  <Override PartName="/ppt/notesSlides/notesSlide204.xml" ContentType="application/vnd.openxmlformats-officedocument.presentationml.notesSlide+xml"/>
  <Override PartName="/ppt/slides/slide205.xml" ContentType="application/vnd.openxmlformats-officedocument.presentationml.slide+xml"/>
  <Override PartName="/ppt/notesSlides/notesSlide205.xml" ContentType="application/vnd.openxmlformats-officedocument.presentationml.notesSlide+xml"/>
  <Override PartName="/ppt/slides/slide206.xml" ContentType="application/vnd.openxmlformats-officedocument.presentationml.slide+xml"/>
  <Override PartName="/ppt/notesSlides/notesSlide20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cc10754d084428" /><Relationship Type="http://schemas.openxmlformats.org/officeDocument/2006/relationships/extended-properties" Target="/docProps/app.xml" Id="Rbb1e352c4cb74fdf" /><Relationship Type="http://schemas.openxmlformats.org/officeDocument/2006/relationships/officeDocument" Target="/ppt/presentation.xml" Id="R10ba7e1e19f54c55" /></Relationships>
</file>

<file path=ppt/presentation.xml><?xml version="1.0" encoding="utf-8"?>
<p:presentation xmlns:p="http://schemas.openxmlformats.org/presentationml/2006/main">
  <p:sldMasterIdLst>
    <p:sldMasterId xmlns:r="http://schemas.openxmlformats.org/officeDocument/2006/relationships" id="2147483648" r:id="R8e71026f12d04f58"/>
  </p:sldMasterIdLst>
  <p:notesMasterIdLst>
    <p:notesMasterId xmlns:r="http://schemas.openxmlformats.org/officeDocument/2006/relationships" r:id="R2bb1c0192652404b"/>
  </p:notesMasterIdLst>
  <p:sldIdLst>
    <p:sldId xmlns:r="http://schemas.openxmlformats.org/officeDocument/2006/relationships" id="256" r:id="R0e74be8a220a4366"/>
    <p:sldId xmlns:r="http://schemas.openxmlformats.org/officeDocument/2006/relationships" id="257" r:id="Rc089c6e837bd4b68"/>
    <p:sldId xmlns:r="http://schemas.openxmlformats.org/officeDocument/2006/relationships" id="258" r:id="R8a53b90b7e364316"/>
    <p:sldId xmlns:r="http://schemas.openxmlformats.org/officeDocument/2006/relationships" id="259" r:id="Ra4b7809b47564d67"/>
    <p:sldId xmlns:r="http://schemas.openxmlformats.org/officeDocument/2006/relationships" id="260" r:id="Rb14cb3551e4a4e44"/>
    <p:sldId xmlns:r="http://schemas.openxmlformats.org/officeDocument/2006/relationships" id="261" r:id="R1d4839f940cc49a9"/>
    <p:sldId xmlns:r="http://schemas.openxmlformats.org/officeDocument/2006/relationships" id="262" r:id="R80191977e6f441e9"/>
    <p:sldId xmlns:r="http://schemas.openxmlformats.org/officeDocument/2006/relationships" id="263" r:id="R9a241830aab145fa"/>
    <p:sldId xmlns:r="http://schemas.openxmlformats.org/officeDocument/2006/relationships" id="264" r:id="R0d3eaedbc14b4d92"/>
    <p:sldId xmlns:r="http://schemas.openxmlformats.org/officeDocument/2006/relationships" id="265" r:id="R859c79ec56ae4d62"/>
    <p:sldId xmlns:r="http://schemas.openxmlformats.org/officeDocument/2006/relationships" id="266" r:id="R4227758383e1430a"/>
    <p:sldId xmlns:r="http://schemas.openxmlformats.org/officeDocument/2006/relationships" id="267" r:id="Rcda051cd12fe464a"/>
    <p:sldId xmlns:r="http://schemas.openxmlformats.org/officeDocument/2006/relationships" id="268" r:id="R781dfbc5f4bd4e54"/>
    <p:sldId xmlns:r="http://schemas.openxmlformats.org/officeDocument/2006/relationships" id="269" r:id="R44ce0b7e3a304ab6"/>
    <p:sldId xmlns:r="http://schemas.openxmlformats.org/officeDocument/2006/relationships" id="270" r:id="Rda02e12f8dca41b4"/>
    <p:sldId xmlns:r="http://schemas.openxmlformats.org/officeDocument/2006/relationships" id="271" r:id="R7a81b6a4f17b45bd"/>
    <p:sldId xmlns:r="http://schemas.openxmlformats.org/officeDocument/2006/relationships" id="272" r:id="R97d67b9751da406b"/>
    <p:sldId xmlns:r="http://schemas.openxmlformats.org/officeDocument/2006/relationships" id="273" r:id="Rbc991e38872f4707"/>
    <p:sldId xmlns:r="http://schemas.openxmlformats.org/officeDocument/2006/relationships" id="274" r:id="R0ea38b9b0dcb402b"/>
    <p:sldId xmlns:r="http://schemas.openxmlformats.org/officeDocument/2006/relationships" id="275" r:id="R8afde16a87b14f24"/>
    <p:sldId xmlns:r="http://schemas.openxmlformats.org/officeDocument/2006/relationships" id="276" r:id="R3072759b6a524b03"/>
    <p:sldId xmlns:r="http://schemas.openxmlformats.org/officeDocument/2006/relationships" id="277" r:id="Rb4c8e4fb5bae4a34"/>
    <p:sldId xmlns:r="http://schemas.openxmlformats.org/officeDocument/2006/relationships" id="278" r:id="R6895841c1130481d"/>
    <p:sldId xmlns:r="http://schemas.openxmlformats.org/officeDocument/2006/relationships" id="279" r:id="R4123dd20fd8f469d"/>
    <p:sldId xmlns:r="http://schemas.openxmlformats.org/officeDocument/2006/relationships" id="280" r:id="Rde06ff5c92e7424b"/>
    <p:sldId xmlns:r="http://schemas.openxmlformats.org/officeDocument/2006/relationships" id="281" r:id="R44a757af8c34447b"/>
    <p:sldId xmlns:r="http://schemas.openxmlformats.org/officeDocument/2006/relationships" id="282" r:id="R6e134e45ad7e470a"/>
    <p:sldId xmlns:r="http://schemas.openxmlformats.org/officeDocument/2006/relationships" id="283" r:id="R310cb63d712943c4"/>
    <p:sldId xmlns:r="http://schemas.openxmlformats.org/officeDocument/2006/relationships" id="284" r:id="Rf163fb94102d462b"/>
    <p:sldId xmlns:r="http://schemas.openxmlformats.org/officeDocument/2006/relationships" id="285" r:id="R6b459496070a43b4"/>
    <p:sldId xmlns:r="http://schemas.openxmlformats.org/officeDocument/2006/relationships" id="286" r:id="R01d36123b06a476d"/>
    <p:sldId xmlns:r="http://schemas.openxmlformats.org/officeDocument/2006/relationships" id="287" r:id="Ree2ee2b37b71482d"/>
    <p:sldId xmlns:r="http://schemas.openxmlformats.org/officeDocument/2006/relationships" id="288" r:id="Rf50b1318f09c4df9"/>
    <p:sldId xmlns:r="http://schemas.openxmlformats.org/officeDocument/2006/relationships" id="289" r:id="Rd761da9de20141de"/>
    <p:sldId xmlns:r="http://schemas.openxmlformats.org/officeDocument/2006/relationships" id="290" r:id="R8a76064a9afd4e71"/>
    <p:sldId xmlns:r="http://schemas.openxmlformats.org/officeDocument/2006/relationships" id="291" r:id="R1526368383ce4ceb"/>
    <p:sldId xmlns:r="http://schemas.openxmlformats.org/officeDocument/2006/relationships" id="292" r:id="R370f6ccc6c8b404b"/>
    <p:sldId xmlns:r="http://schemas.openxmlformats.org/officeDocument/2006/relationships" id="293" r:id="Rbec9a4e4704743eb"/>
    <p:sldId xmlns:r="http://schemas.openxmlformats.org/officeDocument/2006/relationships" id="294" r:id="Ra7c503f0f5534ba6"/>
    <p:sldId xmlns:r="http://schemas.openxmlformats.org/officeDocument/2006/relationships" id="295" r:id="Rb7a70c201e4a4335"/>
    <p:sldId xmlns:r="http://schemas.openxmlformats.org/officeDocument/2006/relationships" id="296" r:id="Rf7e9664ae9c9435e"/>
    <p:sldId xmlns:r="http://schemas.openxmlformats.org/officeDocument/2006/relationships" id="297" r:id="Rffc03d40f3f145b1"/>
    <p:sldId xmlns:r="http://schemas.openxmlformats.org/officeDocument/2006/relationships" id="298" r:id="R2a351aa3bbfb49a4"/>
    <p:sldId xmlns:r="http://schemas.openxmlformats.org/officeDocument/2006/relationships" id="299" r:id="R20d370ee4a034484"/>
    <p:sldId xmlns:r="http://schemas.openxmlformats.org/officeDocument/2006/relationships" id="300" r:id="R288ac355ddb54f24"/>
    <p:sldId xmlns:r="http://schemas.openxmlformats.org/officeDocument/2006/relationships" id="301" r:id="Rb0d0c1a727dc4160"/>
    <p:sldId xmlns:r="http://schemas.openxmlformats.org/officeDocument/2006/relationships" id="302" r:id="Rfb0ecf36468240d7"/>
    <p:sldId xmlns:r="http://schemas.openxmlformats.org/officeDocument/2006/relationships" id="303" r:id="R7b3339ed2ff3477b"/>
    <p:sldId xmlns:r="http://schemas.openxmlformats.org/officeDocument/2006/relationships" id="304" r:id="Rd9f92e8e7c544a32"/>
    <p:sldId xmlns:r="http://schemas.openxmlformats.org/officeDocument/2006/relationships" id="305" r:id="R3c3fba9963e14798"/>
    <p:sldId xmlns:r="http://schemas.openxmlformats.org/officeDocument/2006/relationships" id="306" r:id="R7550196892d74442"/>
    <p:sldId xmlns:r="http://schemas.openxmlformats.org/officeDocument/2006/relationships" id="307" r:id="Rab15f85558cc42f7"/>
    <p:sldId xmlns:r="http://schemas.openxmlformats.org/officeDocument/2006/relationships" id="308" r:id="Rcf3ad48cb8eb4f05"/>
    <p:sldId xmlns:r="http://schemas.openxmlformats.org/officeDocument/2006/relationships" id="309" r:id="Rc2bb1c2c6a66411e"/>
    <p:sldId xmlns:r="http://schemas.openxmlformats.org/officeDocument/2006/relationships" id="310" r:id="R51ce2258eedc477e"/>
    <p:sldId xmlns:r="http://schemas.openxmlformats.org/officeDocument/2006/relationships" id="311" r:id="R65497f3aca4c4501"/>
    <p:sldId xmlns:r="http://schemas.openxmlformats.org/officeDocument/2006/relationships" id="312" r:id="R1b0329dc374249fe"/>
    <p:sldId xmlns:r="http://schemas.openxmlformats.org/officeDocument/2006/relationships" id="313" r:id="R131cd19127974b71"/>
    <p:sldId xmlns:r="http://schemas.openxmlformats.org/officeDocument/2006/relationships" id="314" r:id="R62633924abb74469"/>
    <p:sldId xmlns:r="http://schemas.openxmlformats.org/officeDocument/2006/relationships" id="315" r:id="R268206ab97c0437b"/>
    <p:sldId xmlns:r="http://schemas.openxmlformats.org/officeDocument/2006/relationships" id="316" r:id="R099921702f7d4690"/>
    <p:sldId xmlns:r="http://schemas.openxmlformats.org/officeDocument/2006/relationships" id="317" r:id="Reda0b6f061d44dc5"/>
    <p:sldId xmlns:r="http://schemas.openxmlformats.org/officeDocument/2006/relationships" id="318" r:id="R89730ad50a164391"/>
    <p:sldId xmlns:r="http://schemas.openxmlformats.org/officeDocument/2006/relationships" id="319" r:id="R3dadea3fd4d34520"/>
    <p:sldId xmlns:r="http://schemas.openxmlformats.org/officeDocument/2006/relationships" id="320" r:id="Rbf4933e941654dac"/>
    <p:sldId xmlns:r="http://schemas.openxmlformats.org/officeDocument/2006/relationships" id="321" r:id="Raa9c109d0c104376"/>
    <p:sldId xmlns:r="http://schemas.openxmlformats.org/officeDocument/2006/relationships" id="322" r:id="Rbe78b3f4c6534d4e"/>
    <p:sldId xmlns:r="http://schemas.openxmlformats.org/officeDocument/2006/relationships" id="323" r:id="Rda482087bb6549c9"/>
    <p:sldId xmlns:r="http://schemas.openxmlformats.org/officeDocument/2006/relationships" id="324" r:id="Rac332a5321e5429d"/>
    <p:sldId xmlns:r="http://schemas.openxmlformats.org/officeDocument/2006/relationships" id="325" r:id="R486d45f6aa48411e"/>
    <p:sldId xmlns:r="http://schemas.openxmlformats.org/officeDocument/2006/relationships" id="326" r:id="Rbaa9909a073b4564"/>
    <p:sldId xmlns:r="http://schemas.openxmlformats.org/officeDocument/2006/relationships" id="327" r:id="Rf003ebf637304147"/>
    <p:sldId xmlns:r="http://schemas.openxmlformats.org/officeDocument/2006/relationships" id="328" r:id="R1d943d839cdb49dd"/>
    <p:sldId xmlns:r="http://schemas.openxmlformats.org/officeDocument/2006/relationships" id="329" r:id="Rf6245160e725452e"/>
    <p:sldId xmlns:r="http://schemas.openxmlformats.org/officeDocument/2006/relationships" id="330" r:id="Rbbfdc7ce04b24aa8"/>
    <p:sldId xmlns:r="http://schemas.openxmlformats.org/officeDocument/2006/relationships" id="331" r:id="Re611625e3d09418c"/>
    <p:sldId xmlns:r="http://schemas.openxmlformats.org/officeDocument/2006/relationships" id="332" r:id="R49e4d6ff10dd44b6"/>
    <p:sldId xmlns:r="http://schemas.openxmlformats.org/officeDocument/2006/relationships" id="333" r:id="Rfbb4b248449d4095"/>
    <p:sldId xmlns:r="http://schemas.openxmlformats.org/officeDocument/2006/relationships" id="334" r:id="R094fc04f30bd4d8f"/>
    <p:sldId xmlns:r="http://schemas.openxmlformats.org/officeDocument/2006/relationships" id="335" r:id="R182bc400268348fc"/>
    <p:sldId xmlns:r="http://schemas.openxmlformats.org/officeDocument/2006/relationships" id="336" r:id="Rc3acd9b03f8c4f9f"/>
    <p:sldId xmlns:r="http://schemas.openxmlformats.org/officeDocument/2006/relationships" id="337" r:id="Rc573c06192324b13"/>
    <p:sldId xmlns:r="http://schemas.openxmlformats.org/officeDocument/2006/relationships" id="338" r:id="Rab3b8722c44b47f8"/>
    <p:sldId xmlns:r="http://schemas.openxmlformats.org/officeDocument/2006/relationships" id="339" r:id="R5a046a913bd34cdf"/>
    <p:sldId xmlns:r="http://schemas.openxmlformats.org/officeDocument/2006/relationships" id="340" r:id="Rde893a948e404900"/>
    <p:sldId xmlns:r="http://schemas.openxmlformats.org/officeDocument/2006/relationships" id="341" r:id="R50b47a19b8194964"/>
    <p:sldId xmlns:r="http://schemas.openxmlformats.org/officeDocument/2006/relationships" id="342" r:id="Rc7980c26e95a431c"/>
    <p:sldId xmlns:r="http://schemas.openxmlformats.org/officeDocument/2006/relationships" id="343" r:id="R584455a172da4385"/>
    <p:sldId xmlns:r="http://schemas.openxmlformats.org/officeDocument/2006/relationships" id="344" r:id="Rfff108db192a407b"/>
    <p:sldId xmlns:r="http://schemas.openxmlformats.org/officeDocument/2006/relationships" id="345" r:id="R6284512869084729"/>
    <p:sldId xmlns:r="http://schemas.openxmlformats.org/officeDocument/2006/relationships" id="346" r:id="R18f74a1dac1a47b6"/>
    <p:sldId xmlns:r="http://schemas.openxmlformats.org/officeDocument/2006/relationships" id="347" r:id="Re408e0f98ecb4ec3"/>
    <p:sldId xmlns:r="http://schemas.openxmlformats.org/officeDocument/2006/relationships" id="348" r:id="Rcc17ee6e661a4074"/>
    <p:sldId xmlns:r="http://schemas.openxmlformats.org/officeDocument/2006/relationships" id="349" r:id="Rb1ca77b74616469f"/>
    <p:sldId xmlns:r="http://schemas.openxmlformats.org/officeDocument/2006/relationships" id="350" r:id="Rd1fcf8d6ce5c4bbd"/>
    <p:sldId xmlns:r="http://schemas.openxmlformats.org/officeDocument/2006/relationships" id="351" r:id="Re0157f50f2914130"/>
    <p:sldId xmlns:r="http://schemas.openxmlformats.org/officeDocument/2006/relationships" id="352" r:id="R2fb03a3cf3534fec"/>
    <p:sldId xmlns:r="http://schemas.openxmlformats.org/officeDocument/2006/relationships" id="353" r:id="R081adacb857149e5"/>
    <p:sldId xmlns:r="http://schemas.openxmlformats.org/officeDocument/2006/relationships" id="354" r:id="Rc0e961da65d44dcc"/>
    <p:sldId xmlns:r="http://schemas.openxmlformats.org/officeDocument/2006/relationships" id="355" r:id="Rfc6721fb3d3f4208"/>
    <p:sldId xmlns:r="http://schemas.openxmlformats.org/officeDocument/2006/relationships" id="356" r:id="R7ea09eea3d274095"/>
    <p:sldId xmlns:r="http://schemas.openxmlformats.org/officeDocument/2006/relationships" id="357" r:id="Rc80a381d537f4cf1"/>
    <p:sldId xmlns:r="http://schemas.openxmlformats.org/officeDocument/2006/relationships" id="358" r:id="R6f7c85e0fb2e474c"/>
    <p:sldId xmlns:r="http://schemas.openxmlformats.org/officeDocument/2006/relationships" id="359" r:id="R87b682a1646f4d47"/>
    <p:sldId xmlns:r="http://schemas.openxmlformats.org/officeDocument/2006/relationships" id="360" r:id="Rd6ea0801b31148d3"/>
    <p:sldId xmlns:r="http://schemas.openxmlformats.org/officeDocument/2006/relationships" id="361" r:id="Rb0009f1febc744cf"/>
    <p:sldId xmlns:r="http://schemas.openxmlformats.org/officeDocument/2006/relationships" id="362" r:id="R05c096164f00423e"/>
    <p:sldId xmlns:r="http://schemas.openxmlformats.org/officeDocument/2006/relationships" id="363" r:id="Rf5653668d58c4f6d"/>
    <p:sldId xmlns:r="http://schemas.openxmlformats.org/officeDocument/2006/relationships" id="364" r:id="R4429715612e44ce9"/>
    <p:sldId xmlns:r="http://schemas.openxmlformats.org/officeDocument/2006/relationships" id="365" r:id="Rcddcb90950c7445a"/>
    <p:sldId xmlns:r="http://schemas.openxmlformats.org/officeDocument/2006/relationships" id="366" r:id="R2b9530997fb04ffc"/>
    <p:sldId xmlns:r="http://schemas.openxmlformats.org/officeDocument/2006/relationships" id="367" r:id="R87594efb85984ed8"/>
    <p:sldId xmlns:r="http://schemas.openxmlformats.org/officeDocument/2006/relationships" id="368" r:id="R6035dcdd35f64b21"/>
    <p:sldId xmlns:r="http://schemas.openxmlformats.org/officeDocument/2006/relationships" id="369" r:id="Rab3c540466204e8c"/>
    <p:sldId xmlns:r="http://schemas.openxmlformats.org/officeDocument/2006/relationships" id="370" r:id="Rbf0fe71817234c3b"/>
    <p:sldId xmlns:r="http://schemas.openxmlformats.org/officeDocument/2006/relationships" id="371" r:id="Ref644080321d410b"/>
    <p:sldId xmlns:r="http://schemas.openxmlformats.org/officeDocument/2006/relationships" id="372" r:id="R522a7b37fe184919"/>
    <p:sldId xmlns:r="http://schemas.openxmlformats.org/officeDocument/2006/relationships" id="373" r:id="R1f5a9edece214a47"/>
    <p:sldId xmlns:r="http://schemas.openxmlformats.org/officeDocument/2006/relationships" id="374" r:id="Rf0e7495b45624981"/>
    <p:sldId xmlns:r="http://schemas.openxmlformats.org/officeDocument/2006/relationships" id="375" r:id="R117943141f2e48d1"/>
    <p:sldId xmlns:r="http://schemas.openxmlformats.org/officeDocument/2006/relationships" id="376" r:id="R94fcf442e7a04dc6"/>
    <p:sldId xmlns:r="http://schemas.openxmlformats.org/officeDocument/2006/relationships" id="377" r:id="R4183278d1ba44cea"/>
    <p:sldId xmlns:r="http://schemas.openxmlformats.org/officeDocument/2006/relationships" id="378" r:id="Rf10529f179c24acf"/>
    <p:sldId xmlns:r="http://schemas.openxmlformats.org/officeDocument/2006/relationships" id="379" r:id="R831827fe5ef44fc5"/>
    <p:sldId xmlns:r="http://schemas.openxmlformats.org/officeDocument/2006/relationships" id="380" r:id="R6d6f943e0763400a"/>
    <p:sldId xmlns:r="http://schemas.openxmlformats.org/officeDocument/2006/relationships" id="381" r:id="R23d134383dfb4259"/>
    <p:sldId xmlns:r="http://schemas.openxmlformats.org/officeDocument/2006/relationships" id="382" r:id="Rbf55166aec504c84"/>
    <p:sldId xmlns:r="http://schemas.openxmlformats.org/officeDocument/2006/relationships" id="383" r:id="Rb0b8e7e24b3a45a9"/>
    <p:sldId xmlns:r="http://schemas.openxmlformats.org/officeDocument/2006/relationships" id="384" r:id="Rd7d6f21dfc5a4bfb"/>
    <p:sldId xmlns:r="http://schemas.openxmlformats.org/officeDocument/2006/relationships" id="385" r:id="Rdf43ca82245f4a74"/>
    <p:sldId xmlns:r="http://schemas.openxmlformats.org/officeDocument/2006/relationships" id="386" r:id="R14e4234e2f07481e"/>
    <p:sldId xmlns:r="http://schemas.openxmlformats.org/officeDocument/2006/relationships" id="387" r:id="R85fbdb4570864e36"/>
    <p:sldId xmlns:r="http://schemas.openxmlformats.org/officeDocument/2006/relationships" id="388" r:id="Reeaf0e1b1d024691"/>
    <p:sldId xmlns:r="http://schemas.openxmlformats.org/officeDocument/2006/relationships" id="389" r:id="R4c5e9d9864c843ec"/>
    <p:sldId xmlns:r="http://schemas.openxmlformats.org/officeDocument/2006/relationships" id="390" r:id="R007c303bac0d419a"/>
    <p:sldId xmlns:r="http://schemas.openxmlformats.org/officeDocument/2006/relationships" id="391" r:id="R0404f7a44a7c4a90"/>
    <p:sldId xmlns:r="http://schemas.openxmlformats.org/officeDocument/2006/relationships" id="392" r:id="R9c52023dde734c8e"/>
    <p:sldId xmlns:r="http://schemas.openxmlformats.org/officeDocument/2006/relationships" id="393" r:id="R96aa5bdf50f246d3"/>
    <p:sldId xmlns:r="http://schemas.openxmlformats.org/officeDocument/2006/relationships" id="394" r:id="R218e9e5e45c342c4"/>
    <p:sldId xmlns:r="http://schemas.openxmlformats.org/officeDocument/2006/relationships" id="395" r:id="R504060ad892148b3"/>
    <p:sldId xmlns:r="http://schemas.openxmlformats.org/officeDocument/2006/relationships" id="396" r:id="R9bb7884f928d40e1"/>
    <p:sldId xmlns:r="http://schemas.openxmlformats.org/officeDocument/2006/relationships" id="397" r:id="R79669fb9f2df4ff8"/>
    <p:sldId xmlns:r="http://schemas.openxmlformats.org/officeDocument/2006/relationships" id="398" r:id="R9b48ad4efebb46e4"/>
    <p:sldId xmlns:r="http://schemas.openxmlformats.org/officeDocument/2006/relationships" id="399" r:id="Rff2ed1762a154c5a"/>
    <p:sldId xmlns:r="http://schemas.openxmlformats.org/officeDocument/2006/relationships" id="400" r:id="R6a7eb89c8ed044d7"/>
    <p:sldId xmlns:r="http://schemas.openxmlformats.org/officeDocument/2006/relationships" id="401" r:id="Re6f1ad12c89d410d"/>
    <p:sldId xmlns:r="http://schemas.openxmlformats.org/officeDocument/2006/relationships" id="402" r:id="R6ff08954cb714784"/>
    <p:sldId xmlns:r="http://schemas.openxmlformats.org/officeDocument/2006/relationships" id="403" r:id="R1378fc5dec614f5a"/>
    <p:sldId xmlns:r="http://schemas.openxmlformats.org/officeDocument/2006/relationships" id="404" r:id="R1a022b3c978847ba"/>
    <p:sldId xmlns:r="http://schemas.openxmlformats.org/officeDocument/2006/relationships" id="405" r:id="Rdbb4d2ebf5914ac3"/>
    <p:sldId xmlns:r="http://schemas.openxmlformats.org/officeDocument/2006/relationships" id="406" r:id="R753a3d77909548aa"/>
    <p:sldId xmlns:r="http://schemas.openxmlformats.org/officeDocument/2006/relationships" id="407" r:id="R7c5c6d0914cf4c61"/>
    <p:sldId xmlns:r="http://schemas.openxmlformats.org/officeDocument/2006/relationships" id="408" r:id="R2f492a5b387a4918"/>
    <p:sldId xmlns:r="http://schemas.openxmlformats.org/officeDocument/2006/relationships" id="409" r:id="R86088cf648be48cc"/>
    <p:sldId xmlns:r="http://schemas.openxmlformats.org/officeDocument/2006/relationships" id="410" r:id="R62b66ff1864b4c9e"/>
    <p:sldId xmlns:r="http://schemas.openxmlformats.org/officeDocument/2006/relationships" id="411" r:id="R90222cd0df8842bb"/>
    <p:sldId xmlns:r="http://schemas.openxmlformats.org/officeDocument/2006/relationships" id="412" r:id="R09b96cd04553409e"/>
    <p:sldId xmlns:r="http://schemas.openxmlformats.org/officeDocument/2006/relationships" id="413" r:id="Rc919ec1035f440de"/>
    <p:sldId xmlns:r="http://schemas.openxmlformats.org/officeDocument/2006/relationships" id="414" r:id="R3f010c9d98f04012"/>
    <p:sldId xmlns:r="http://schemas.openxmlformats.org/officeDocument/2006/relationships" id="415" r:id="Raef9969051e145b3"/>
    <p:sldId xmlns:r="http://schemas.openxmlformats.org/officeDocument/2006/relationships" id="416" r:id="R1491276543a6405f"/>
    <p:sldId xmlns:r="http://schemas.openxmlformats.org/officeDocument/2006/relationships" id="417" r:id="Red04e4dbe8c54922"/>
    <p:sldId xmlns:r="http://schemas.openxmlformats.org/officeDocument/2006/relationships" id="418" r:id="Ra40f0767b9d747e0"/>
    <p:sldId xmlns:r="http://schemas.openxmlformats.org/officeDocument/2006/relationships" id="419" r:id="Rdc77a8aae60d4be0"/>
    <p:sldId xmlns:r="http://schemas.openxmlformats.org/officeDocument/2006/relationships" id="420" r:id="R889a1b3058b44dd4"/>
    <p:sldId xmlns:r="http://schemas.openxmlformats.org/officeDocument/2006/relationships" id="421" r:id="Rd213d9312f3e478f"/>
    <p:sldId xmlns:r="http://schemas.openxmlformats.org/officeDocument/2006/relationships" id="422" r:id="R02efaf20049c4874"/>
    <p:sldId xmlns:r="http://schemas.openxmlformats.org/officeDocument/2006/relationships" id="423" r:id="R15cab43f4e3e4179"/>
    <p:sldId xmlns:r="http://schemas.openxmlformats.org/officeDocument/2006/relationships" id="424" r:id="R87499c5246294dcc"/>
    <p:sldId xmlns:r="http://schemas.openxmlformats.org/officeDocument/2006/relationships" id="425" r:id="R170b59e9aea5464b"/>
    <p:sldId xmlns:r="http://schemas.openxmlformats.org/officeDocument/2006/relationships" id="426" r:id="Rfb453a24d4a24bc4"/>
    <p:sldId xmlns:r="http://schemas.openxmlformats.org/officeDocument/2006/relationships" id="427" r:id="R0bb47f15427e4548"/>
    <p:sldId xmlns:r="http://schemas.openxmlformats.org/officeDocument/2006/relationships" id="428" r:id="R786d1f2b2ea54078"/>
    <p:sldId xmlns:r="http://schemas.openxmlformats.org/officeDocument/2006/relationships" id="429" r:id="R9a098b9c20c349f0"/>
    <p:sldId xmlns:r="http://schemas.openxmlformats.org/officeDocument/2006/relationships" id="430" r:id="R62af825638fa4b04"/>
    <p:sldId xmlns:r="http://schemas.openxmlformats.org/officeDocument/2006/relationships" id="431" r:id="Rb9595001400e4274"/>
    <p:sldId xmlns:r="http://schemas.openxmlformats.org/officeDocument/2006/relationships" id="432" r:id="Rbad2c8a21cb048cf"/>
    <p:sldId xmlns:r="http://schemas.openxmlformats.org/officeDocument/2006/relationships" id="433" r:id="Rff60291b5e1c4313"/>
    <p:sldId xmlns:r="http://schemas.openxmlformats.org/officeDocument/2006/relationships" id="434" r:id="R0067bfc2060a4525"/>
    <p:sldId xmlns:r="http://schemas.openxmlformats.org/officeDocument/2006/relationships" id="435" r:id="R0d8cb137a945458c"/>
    <p:sldId xmlns:r="http://schemas.openxmlformats.org/officeDocument/2006/relationships" id="436" r:id="R6fd5447e51a544ae"/>
    <p:sldId xmlns:r="http://schemas.openxmlformats.org/officeDocument/2006/relationships" id="437" r:id="R94793084cb0e433b"/>
    <p:sldId xmlns:r="http://schemas.openxmlformats.org/officeDocument/2006/relationships" id="438" r:id="Rfb4dc41dd0fe43e7"/>
    <p:sldId xmlns:r="http://schemas.openxmlformats.org/officeDocument/2006/relationships" id="439" r:id="Re87264888493410e"/>
    <p:sldId xmlns:r="http://schemas.openxmlformats.org/officeDocument/2006/relationships" id="440" r:id="Rffa9cbf2f2ce4d8a"/>
    <p:sldId xmlns:r="http://schemas.openxmlformats.org/officeDocument/2006/relationships" id="441" r:id="R703591eb6cc4496b"/>
    <p:sldId xmlns:r="http://schemas.openxmlformats.org/officeDocument/2006/relationships" id="442" r:id="R26aa8cf94c91495e"/>
    <p:sldId xmlns:r="http://schemas.openxmlformats.org/officeDocument/2006/relationships" id="443" r:id="Ra4adfbab163e419e"/>
    <p:sldId xmlns:r="http://schemas.openxmlformats.org/officeDocument/2006/relationships" id="444" r:id="Rafd0c9435bf842b3"/>
    <p:sldId xmlns:r="http://schemas.openxmlformats.org/officeDocument/2006/relationships" id="445" r:id="Raa2cfb919eed45eb"/>
    <p:sldId xmlns:r="http://schemas.openxmlformats.org/officeDocument/2006/relationships" id="446" r:id="R214e590ed1c74697"/>
    <p:sldId xmlns:r="http://schemas.openxmlformats.org/officeDocument/2006/relationships" id="447" r:id="Rcec16c6a4d494145"/>
    <p:sldId xmlns:r="http://schemas.openxmlformats.org/officeDocument/2006/relationships" id="448" r:id="Reba41e5ae7dd44a8"/>
    <p:sldId xmlns:r="http://schemas.openxmlformats.org/officeDocument/2006/relationships" id="449" r:id="R094b9a9d0c444d51"/>
    <p:sldId xmlns:r="http://schemas.openxmlformats.org/officeDocument/2006/relationships" id="450" r:id="R2bb6084a98994e92"/>
    <p:sldId xmlns:r="http://schemas.openxmlformats.org/officeDocument/2006/relationships" id="451" r:id="R14c08632bdb64ccf"/>
    <p:sldId xmlns:r="http://schemas.openxmlformats.org/officeDocument/2006/relationships" id="452" r:id="R440d3cf26f704138"/>
    <p:sldId xmlns:r="http://schemas.openxmlformats.org/officeDocument/2006/relationships" id="453" r:id="R478c26f65c86443c"/>
    <p:sldId xmlns:r="http://schemas.openxmlformats.org/officeDocument/2006/relationships" id="454" r:id="R1310a9b3044c426d"/>
    <p:sldId xmlns:r="http://schemas.openxmlformats.org/officeDocument/2006/relationships" id="455" r:id="R5268c4c197ae4f17"/>
    <p:sldId xmlns:r="http://schemas.openxmlformats.org/officeDocument/2006/relationships" id="456" r:id="R43e4267d02c145af"/>
    <p:sldId xmlns:r="http://schemas.openxmlformats.org/officeDocument/2006/relationships" id="457" r:id="R21ea117b34444efc"/>
    <p:sldId xmlns:r="http://schemas.openxmlformats.org/officeDocument/2006/relationships" id="458" r:id="Rf95554a0f85749f2"/>
    <p:sldId xmlns:r="http://schemas.openxmlformats.org/officeDocument/2006/relationships" id="459" r:id="R01b3b38589664704"/>
    <p:sldId xmlns:r="http://schemas.openxmlformats.org/officeDocument/2006/relationships" id="460" r:id="R097c606223e844a1"/>
    <p:sldId xmlns:r="http://schemas.openxmlformats.org/officeDocument/2006/relationships" id="461" r:id="R4d86db54b37d41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c1d78de6284e9b" /><Relationship Type="http://schemas.openxmlformats.org/officeDocument/2006/relationships/slideMaster" Target="/ppt/slideMasters/slideMaster1.xml" Id="R8e71026f12d04f58" /><Relationship Type="http://schemas.openxmlformats.org/officeDocument/2006/relationships/notesMaster" Target="/ppt/notesMasters/notesMaster1.xml" Id="R2bb1c0192652404b" /><Relationship Type="http://schemas.openxmlformats.org/officeDocument/2006/relationships/presProps" Target="/ppt/presProps.xml" Id="R0a35df8c715a4cf8" /><Relationship Type="http://schemas.openxmlformats.org/officeDocument/2006/relationships/tableStyles" Target="/ppt/tableStyles.xml" Id="R967835515d5a421b" /><Relationship Type="http://schemas.openxmlformats.org/officeDocument/2006/relationships/slide" Target="/ppt/slides/slide1.xml" Id="R0e74be8a220a4366" /><Relationship Type="http://schemas.openxmlformats.org/officeDocument/2006/relationships/slide" Target="/ppt/slides/slide2.xml" Id="Rc089c6e837bd4b68" /><Relationship Type="http://schemas.openxmlformats.org/officeDocument/2006/relationships/slide" Target="/ppt/slides/slide3.xml" Id="R8a53b90b7e364316" /><Relationship Type="http://schemas.openxmlformats.org/officeDocument/2006/relationships/slide" Target="/ppt/slides/slide4.xml" Id="Ra4b7809b47564d67" /><Relationship Type="http://schemas.openxmlformats.org/officeDocument/2006/relationships/slide" Target="/ppt/slides/slide5.xml" Id="Rb14cb3551e4a4e44" /><Relationship Type="http://schemas.openxmlformats.org/officeDocument/2006/relationships/slide" Target="/ppt/slides/slide6.xml" Id="R1d4839f940cc49a9" /><Relationship Type="http://schemas.openxmlformats.org/officeDocument/2006/relationships/slide" Target="/ppt/slides/slide7.xml" Id="R80191977e6f441e9" /><Relationship Type="http://schemas.openxmlformats.org/officeDocument/2006/relationships/slide" Target="/ppt/slides/slide8.xml" Id="R9a241830aab145fa" /><Relationship Type="http://schemas.openxmlformats.org/officeDocument/2006/relationships/slide" Target="/ppt/slides/slide9.xml" Id="R0d3eaedbc14b4d92" /><Relationship Type="http://schemas.openxmlformats.org/officeDocument/2006/relationships/slide" Target="/ppt/slides/slide10.xml" Id="R859c79ec56ae4d62" /><Relationship Type="http://schemas.openxmlformats.org/officeDocument/2006/relationships/slide" Target="/ppt/slides/slide11.xml" Id="R4227758383e1430a" /><Relationship Type="http://schemas.openxmlformats.org/officeDocument/2006/relationships/slide" Target="/ppt/slides/slide12.xml" Id="Rcda051cd12fe464a" /><Relationship Type="http://schemas.openxmlformats.org/officeDocument/2006/relationships/slide" Target="/ppt/slides/slide13.xml" Id="R781dfbc5f4bd4e54" /><Relationship Type="http://schemas.openxmlformats.org/officeDocument/2006/relationships/slide" Target="/ppt/slides/slide14.xml" Id="R44ce0b7e3a304ab6" /><Relationship Type="http://schemas.openxmlformats.org/officeDocument/2006/relationships/slide" Target="/ppt/slides/slide15.xml" Id="Rda02e12f8dca41b4" /><Relationship Type="http://schemas.openxmlformats.org/officeDocument/2006/relationships/slide" Target="/ppt/slides/slide16.xml" Id="R7a81b6a4f17b45bd" /><Relationship Type="http://schemas.openxmlformats.org/officeDocument/2006/relationships/slide" Target="/ppt/slides/slide17.xml" Id="R97d67b9751da406b" /><Relationship Type="http://schemas.openxmlformats.org/officeDocument/2006/relationships/slide" Target="/ppt/slides/slide18.xml" Id="Rbc991e38872f4707" /><Relationship Type="http://schemas.openxmlformats.org/officeDocument/2006/relationships/slide" Target="/ppt/slides/slide19.xml" Id="R0ea38b9b0dcb402b" /><Relationship Type="http://schemas.openxmlformats.org/officeDocument/2006/relationships/slide" Target="/ppt/slides/slide20.xml" Id="R8afde16a87b14f24" /><Relationship Type="http://schemas.openxmlformats.org/officeDocument/2006/relationships/slide" Target="/ppt/slides/slide21.xml" Id="R3072759b6a524b03" /><Relationship Type="http://schemas.openxmlformats.org/officeDocument/2006/relationships/slide" Target="/ppt/slides/slide22.xml" Id="Rb4c8e4fb5bae4a34" /><Relationship Type="http://schemas.openxmlformats.org/officeDocument/2006/relationships/slide" Target="/ppt/slides/slide23.xml" Id="R6895841c1130481d" /><Relationship Type="http://schemas.openxmlformats.org/officeDocument/2006/relationships/slide" Target="/ppt/slides/slide24.xml" Id="R4123dd20fd8f469d" /><Relationship Type="http://schemas.openxmlformats.org/officeDocument/2006/relationships/slide" Target="/ppt/slides/slide25.xml" Id="Rde06ff5c92e7424b" /><Relationship Type="http://schemas.openxmlformats.org/officeDocument/2006/relationships/slide" Target="/ppt/slides/slide26.xml" Id="R44a757af8c34447b" /><Relationship Type="http://schemas.openxmlformats.org/officeDocument/2006/relationships/slide" Target="/ppt/slides/slide27.xml" Id="R6e134e45ad7e470a" /><Relationship Type="http://schemas.openxmlformats.org/officeDocument/2006/relationships/slide" Target="/ppt/slides/slide28.xml" Id="R310cb63d712943c4" /><Relationship Type="http://schemas.openxmlformats.org/officeDocument/2006/relationships/slide" Target="/ppt/slides/slide29.xml" Id="Rf163fb94102d462b" /><Relationship Type="http://schemas.openxmlformats.org/officeDocument/2006/relationships/slide" Target="/ppt/slides/slide30.xml" Id="R6b459496070a43b4" /><Relationship Type="http://schemas.openxmlformats.org/officeDocument/2006/relationships/slide" Target="/ppt/slides/slide31.xml" Id="R01d36123b06a476d" /><Relationship Type="http://schemas.openxmlformats.org/officeDocument/2006/relationships/slide" Target="/ppt/slides/slide32.xml" Id="Ree2ee2b37b71482d" /><Relationship Type="http://schemas.openxmlformats.org/officeDocument/2006/relationships/slide" Target="/ppt/slides/slide33.xml" Id="Rf50b1318f09c4df9" /><Relationship Type="http://schemas.openxmlformats.org/officeDocument/2006/relationships/slide" Target="/ppt/slides/slide34.xml" Id="Rd761da9de20141de" /><Relationship Type="http://schemas.openxmlformats.org/officeDocument/2006/relationships/slide" Target="/ppt/slides/slide35.xml" Id="R8a76064a9afd4e71" /><Relationship Type="http://schemas.openxmlformats.org/officeDocument/2006/relationships/slide" Target="/ppt/slides/slide36.xml" Id="R1526368383ce4ceb" /><Relationship Type="http://schemas.openxmlformats.org/officeDocument/2006/relationships/slide" Target="/ppt/slides/slide37.xml" Id="R370f6ccc6c8b404b" /><Relationship Type="http://schemas.openxmlformats.org/officeDocument/2006/relationships/slide" Target="/ppt/slides/slide38.xml" Id="Rbec9a4e4704743eb" /><Relationship Type="http://schemas.openxmlformats.org/officeDocument/2006/relationships/slide" Target="/ppt/slides/slide39.xml" Id="Ra7c503f0f5534ba6" /><Relationship Type="http://schemas.openxmlformats.org/officeDocument/2006/relationships/slide" Target="/ppt/slides/slide40.xml" Id="Rb7a70c201e4a4335" /><Relationship Type="http://schemas.openxmlformats.org/officeDocument/2006/relationships/slide" Target="/ppt/slides/slide41.xml" Id="Rf7e9664ae9c9435e" /><Relationship Type="http://schemas.openxmlformats.org/officeDocument/2006/relationships/slide" Target="/ppt/slides/slide42.xml" Id="Rffc03d40f3f145b1" /><Relationship Type="http://schemas.openxmlformats.org/officeDocument/2006/relationships/slide" Target="/ppt/slides/slide43.xml" Id="R2a351aa3bbfb49a4" /><Relationship Type="http://schemas.openxmlformats.org/officeDocument/2006/relationships/slide" Target="/ppt/slides/slide44.xml" Id="R20d370ee4a034484" /><Relationship Type="http://schemas.openxmlformats.org/officeDocument/2006/relationships/slide" Target="/ppt/slides/slide45.xml" Id="R288ac355ddb54f24" /><Relationship Type="http://schemas.openxmlformats.org/officeDocument/2006/relationships/slide" Target="/ppt/slides/slide46.xml" Id="Rb0d0c1a727dc4160" /><Relationship Type="http://schemas.openxmlformats.org/officeDocument/2006/relationships/slide" Target="/ppt/slides/slide47.xml" Id="Rfb0ecf36468240d7" /><Relationship Type="http://schemas.openxmlformats.org/officeDocument/2006/relationships/slide" Target="/ppt/slides/slide48.xml" Id="R7b3339ed2ff3477b" /><Relationship Type="http://schemas.openxmlformats.org/officeDocument/2006/relationships/slide" Target="/ppt/slides/slide49.xml" Id="Rd9f92e8e7c544a32" /><Relationship Type="http://schemas.openxmlformats.org/officeDocument/2006/relationships/slide" Target="/ppt/slides/slide50.xml" Id="R3c3fba9963e14798" /><Relationship Type="http://schemas.openxmlformats.org/officeDocument/2006/relationships/slide" Target="/ppt/slides/slide51.xml" Id="R7550196892d74442" /><Relationship Type="http://schemas.openxmlformats.org/officeDocument/2006/relationships/slide" Target="/ppt/slides/slide52.xml" Id="Rab15f85558cc42f7" /><Relationship Type="http://schemas.openxmlformats.org/officeDocument/2006/relationships/slide" Target="/ppt/slides/slide53.xml" Id="Rcf3ad48cb8eb4f05" /><Relationship Type="http://schemas.openxmlformats.org/officeDocument/2006/relationships/slide" Target="/ppt/slides/slide54.xml" Id="Rc2bb1c2c6a66411e" /><Relationship Type="http://schemas.openxmlformats.org/officeDocument/2006/relationships/slide" Target="/ppt/slides/slide55.xml" Id="R51ce2258eedc477e" /><Relationship Type="http://schemas.openxmlformats.org/officeDocument/2006/relationships/slide" Target="/ppt/slides/slide56.xml" Id="R65497f3aca4c4501" /><Relationship Type="http://schemas.openxmlformats.org/officeDocument/2006/relationships/slide" Target="/ppt/slides/slide57.xml" Id="R1b0329dc374249fe" /><Relationship Type="http://schemas.openxmlformats.org/officeDocument/2006/relationships/slide" Target="/ppt/slides/slide58.xml" Id="R131cd19127974b71" /><Relationship Type="http://schemas.openxmlformats.org/officeDocument/2006/relationships/slide" Target="/ppt/slides/slide59.xml" Id="R62633924abb74469" /><Relationship Type="http://schemas.openxmlformats.org/officeDocument/2006/relationships/slide" Target="/ppt/slides/slide60.xml" Id="R268206ab97c0437b" /><Relationship Type="http://schemas.openxmlformats.org/officeDocument/2006/relationships/slide" Target="/ppt/slides/slide61.xml" Id="R099921702f7d4690" /><Relationship Type="http://schemas.openxmlformats.org/officeDocument/2006/relationships/slide" Target="/ppt/slides/slide62.xml" Id="Reda0b6f061d44dc5" /><Relationship Type="http://schemas.openxmlformats.org/officeDocument/2006/relationships/slide" Target="/ppt/slides/slide63.xml" Id="R89730ad50a164391" /><Relationship Type="http://schemas.openxmlformats.org/officeDocument/2006/relationships/slide" Target="/ppt/slides/slide64.xml" Id="R3dadea3fd4d34520" /><Relationship Type="http://schemas.openxmlformats.org/officeDocument/2006/relationships/slide" Target="/ppt/slides/slide65.xml" Id="Rbf4933e941654dac" /><Relationship Type="http://schemas.openxmlformats.org/officeDocument/2006/relationships/slide" Target="/ppt/slides/slide66.xml" Id="Raa9c109d0c104376" /><Relationship Type="http://schemas.openxmlformats.org/officeDocument/2006/relationships/slide" Target="/ppt/slides/slide67.xml" Id="Rbe78b3f4c6534d4e" /><Relationship Type="http://schemas.openxmlformats.org/officeDocument/2006/relationships/slide" Target="/ppt/slides/slide68.xml" Id="Rda482087bb6549c9" /><Relationship Type="http://schemas.openxmlformats.org/officeDocument/2006/relationships/slide" Target="/ppt/slides/slide69.xml" Id="Rac332a5321e5429d" /><Relationship Type="http://schemas.openxmlformats.org/officeDocument/2006/relationships/slide" Target="/ppt/slides/slide70.xml" Id="R486d45f6aa48411e" /><Relationship Type="http://schemas.openxmlformats.org/officeDocument/2006/relationships/slide" Target="/ppt/slides/slide71.xml" Id="Rbaa9909a073b4564" /><Relationship Type="http://schemas.openxmlformats.org/officeDocument/2006/relationships/slide" Target="/ppt/slides/slide72.xml" Id="Rf003ebf637304147" /><Relationship Type="http://schemas.openxmlformats.org/officeDocument/2006/relationships/slide" Target="/ppt/slides/slide73.xml" Id="R1d943d839cdb49dd" /><Relationship Type="http://schemas.openxmlformats.org/officeDocument/2006/relationships/slide" Target="/ppt/slides/slide74.xml" Id="Rf6245160e725452e" /><Relationship Type="http://schemas.openxmlformats.org/officeDocument/2006/relationships/slide" Target="/ppt/slides/slide75.xml" Id="Rbbfdc7ce04b24aa8" /><Relationship Type="http://schemas.openxmlformats.org/officeDocument/2006/relationships/slide" Target="/ppt/slides/slide76.xml" Id="Re611625e3d09418c" /><Relationship Type="http://schemas.openxmlformats.org/officeDocument/2006/relationships/slide" Target="/ppt/slides/slide77.xml" Id="R49e4d6ff10dd44b6" /><Relationship Type="http://schemas.openxmlformats.org/officeDocument/2006/relationships/slide" Target="/ppt/slides/slide78.xml" Id="Rfbb4b248449d4095" /><Relationship Type="http://schemas.openxmlformats.org/officeDocument/2006/relationships/slide" Target="/ppt/slides/slide79.xml" Id="R094fc04f30bd4d8f" /><Relationship Type="http://schemas.openxmlformats.org/officeDocument/2006/relationships/slide" Target="/ppt/slides/slide80.xml" Id="R182bc400268348fc" /><Relationship Type="http://schemas.openxmlformats.org/officeDocument/2006/relationships/slide" Target="/ppt/slides/slide81.xml" Id="Rc3acd9b03f8c4f9f" /><Relationship Type="http://schemas.openxmlformats.org/officeDocument/2006/relationships/slide" Target="/ppt/slides/slide82.xml" Id="Rc573c06192324b13" /><Relationship Type="http://schemas.openxmlformats.org/officeDocument/2006/relationships/slide" Target="/ppt/slides/slide83.xml" Id="Rab3b8722c44b47f8" /><Relationship Type="http://schemas.openxmlformats.org/officeDocument/2006/relationships/slide" Target="/ppt/slides/slide84.xml" Id="R5a046a913bd34cdf" /><Relationship Type="http://schemas.openxmlformats.org/officeDocument/2006/relationships/slide" Target="/ppt/slides/slide85.xml" Id="Rde893a948e404900" /><Relationship Type="http://schemas.openxmlformats.org/officeDocument/2006/relationships/slide" Target="/ppt/slides/slide86.xml" Id="R50b47a19b8194964" /><Relationship Type="http://schemas.openxmlformats.org/officeDocument/2006/relationships/slide" Target="/ppt/slides/slide87.xml" Id="Rc7980c26e95a431c" /><Relationship Type="http://schemas.openxmlformats.org/officeDocument/2006/relationships/slide" Target="/ppt/slides/slide88.xml" Id="R584455a172da4385" /><Relationship Type="http://schemas.openxmlformats.org/officeDocument/2006/relationships/slide" Target="/ppt/slides/slide89.xml" Id="Rfff108db192a407b" /><Relationship Type="http://schemas.openxmlformats.org/officeDocument/2006/relationships/slide" Target="/ppt/slides/slide90.xml" Id="R6284512869084729" /><Relationship Type="http://schemas.openxmlformats.org/officeDocument/2006/relationships/slide" Target="/ppt/slides/slide91.xml" Id="R18f74a1dac1a47b6" /><Relationship Type="http://schemas.openxmlformats.org/officeDocument/2006/relationships/slide" Target="/ppt/slides/slide92.xml" Id="Re408e0f98ecb4ec3" /><Relationship Type="http://schemas.openxmlformats.org/officeDocument/2006/relationships/slide" Target="/ppt/slides/slide93.xml" Id="Rcc17ee6e661a4074" /><Relationship Type="http://schemas.openxmlformats.org/officeDocument/2006/relationships/slide" Target="/ppt/slides/slide94.xml" Id="Rb1ca77b74616469f" /><Relationship Type="http://schemas.openxmlformats.org/officeDocument/2006/relationships/slide" Target="/ppt/slides/slide95.xml" Id="Rd1fcf8d6ce5c4bbd" /><Relationship Type="http://schemas.openxmlformats.org/officeDocument/2006/relationships/slide" Target="/ppt/slides/slide96.xml" Id="Re0157f50f2914130" /><Relationship Type="http://schemas.openxmlformats.org/officeDocument/2006/relationships/slide" Target="/ppt/slides/slide97.xml" Id="R2fb03a3cf3534fec" /><Relationship Type="http://schemas.openxmlformats.org/officeDocument/2006/relationships/slide" Target="/ppt/slides/slide98.xml" Id="R081adacb857149e5" /><Relationship Type="http://schemas.openxmlformats.org/officeDocument/2006/relationships/slide" Target="/ppt/slides/slide99.xml" Id="Rc0e961da65d44dcc" /><Relationship Type="http://schemas.openxmlformats.org/officeDocument/2006/relationships/slide" Target="/ppt/slides/slide100.xml" Id="Rfc6721fb3d3f4208" /><Relationship Type="http://schemas.openxmlformats.org/officeDocument/2006/relationships/slide" Target="/ppt/slides/slide101.xml" Id="R7ea09eea3d274095" /><Relationship Type="http://schemas.openxmlformats.org/officeDocument/2006/relationships/slide" Target="/ppt/slides/slide102.xml" Id="Rc80a381d537f4cf1" /><Relationship Type="http://schemas.openxmlformats.org/officeDocument/2006/relationships/slide" Target="/ppt/slides/slide103.xml" Id="R6f7c85e0fb2e474c" /><Relationship Type="http://schemas.openxmlformats.org/officeDocument/2006/relationships/slide" Target="/ppt/slides/slide104.xml" Id="R87b682a1646f4d47" /><Relationship Type="http://schemas.openxmlformats.org/officeDocument/2006/relationships/slide" Target="/ppt/slides/slide105.xml" Id="Rd6ea0801b31148d3" /><Relationship Type="http://schemas.openxmlformats.org/officeDocument/2006/relationships/slide" Target="/ppt/slides/slide106.xml" Id="Rb0009f1febc744cf" /><Relationship Type="http://schemas.openxmlformats.org/officeDocument/2006/relationships/slide" Target="/ppt/slides/slide107.xml" Id="R05c096164f00423e" /><Relationship Type="http://schemas.openxmlformats.org/officeDocument/2006/relationships/slide" Target="/ppt/slides/slide108.xml" Id="Rf5653668d58c4f6d" /><Relationship Type="http://schemas.openxmlformats.org/officeDocument/2006/relationships/slide" Target="/ppt/slides/slide109.xml" Id="R4429715612e44ce9" /><Relationship Type="http://schemas.openxmlformats.org/officeDocument/2006/relationships/slide" Target="/ppt/slides/slide110.xml" Id="Rcddcb90950c7445a" /><Relationship Type="http://schemas.openxmlformats.org/officeDocument/2006/relationships/slide" Target="/ppt/slides/slide111.xml" Id="R2b9530997fb04ffc" /><Relationship Type="http://schemas.openxmlformats.org/officeDocument/2006/relationships/slide" Target="/ppt/slides/slide112.xml" Id="R87594efb85984ed8" /><Relationship Type="http://schemas.openxmlformats.org/officeDocument/2006/relationships/slide" Target="/ppt/slides/slide113.xml" Id="R6035dcdd35f64b21" /><Relationship Type="http://schemas.openxmlformats.org/officeDocument/2006/relationships/slide" Target="/ppt/slides/slide114.xml" Id="Rab3c540466204e8c" /><Relationship Type="http://schemas.openxmlformats.org/officeDocument/2006/relationships/slide" Target="/ppt/slides/slide115.xml" Id="Rbf0fe71817234c3b" /><Relationship Type="http://schemas.openxmlformats.org/officeDocument/2006/relationships/slide" Target="/ppt/slides/slide116.xml" Id="Ref644080321d410b" /><Relationship Type="http://schemas.openxmlformats.org/officeDocument/2006/relationships/slide" Target="/ppt/slides/slide117.xml" Id="R522a7b37fe184919" /><Relationship Type="http://schemas.openxmlformats.org/officeDocument/2006/relationships/slide" Target="/ppt/slides/slide118.xml" Id="R1f5a9edece214a47" /><Relationship Type="http://schemas.openxmlformats.org/officeDocument/2006/relationships/slide" Target="/ppt/slides/slide119.xml" Id="Rf0e7495b45624981" /><Relationship Type="http://schemas.openxmlformats.org/officeDocument/2006/relationships/slide" Target="/ppt/slides/slide120.xml" Id="R117943141f2e48d1" /><Relationship Type="http://schemas.openxmlformats.org/officeDocument/2006/relationships/slide" Target="/ppt/slides/slide121.xml" Id="R94fcf442e7a04dc6" /><Relationship Type="http://schemas.openxmlformats.org/officeDocument/2006/relationships/slide" Target="/ppt/slides/slide122.xml" Id="R4183278d1ba44cea" /><Relationship Type="http://schemas.openxmlformats.org/officeDocument/2006/relationships/slide" Target="/ppt/slides/slide123.xml" Id="Rf10529f179c24acf" /><Relationship Type="http://schemas.openxmlformats.org/officeDocument/2006/relationships/slide" Target="/ppt/slides/slide124.xml" Id="R831827fe5ef44fc5" /><Relationship Type="http://schemas.openxmlformats.org/officeDocument/2006/relationships/slide" Target="/ppt/slides/slide125.xml" Id="R6d6f943e0763400a" /><Relationship Type="http://schemas.openxmlformats.org/officeDocument/2006/relationships/slide" Target="/ppt/slides/slide126.xml" Id="R23d134383dfb4259" /><Relationship Type="http://schemas.openxmlformats.org/officeDocument/2006/relationships/slide" Target="/ppt/slides/slide127.xml" Id="Rbf55166aec504c84" /><Relationship Type="http://schemas.openxmlformats.org/officeDocument/2006/relationships/slide" Target="/ppt/slides/slide128.xml" Id="Rb0b8e7e24b3a45a9" /><Relationship Type="http://schemas.openxmlformats.org/officeDocument/2006/relationships/slide" Target="/ppt/slides/slide129.xml" Id="Rd7d6f21dfc5a4bfb" /><Relationship Type="http://schemas.openxmlformats.org/officeDocument/2006/relationships/slide" Target="/ppt/slides/slide130.xml" Id="Rdf43ca82245f4a74" /><Relationship Type="http://schemas.openxmlformats.org/officeDocument/2006/relationships/slide" Target="/ppt/slides/slide131.xml" Id="R14e4234e2f07481e" /><Relationship Type="http://schemas.openxmlformats.org/officeDocument/2006/relationships/slide" Target="/ppt/slides/slide132.xml" Id="R85fbdb4570864e36" /><Relationship Type="http://schemas.openxmlformats.org/officeDocument/2006/relationships/slide" Target="/ppt/slides/slide133.xml" Id="Reeaf0e1b1d024691" /><Relationship Type="http://schemas.openxmlformats.org/officeDocument/2006/relationships/slide" Target="/ppt/slides/slide134.xml" Id="R4c5e9d9864c843ec" /><Relationship Type="http://schemas.openxmlformats.org/officeDocument/2006/relationships/slide" Target="/ppt/slides/slide135.xml" Id="R007c303bac0d419a" /><Relationship Type="http://schemas.openxmlformats.org/officeDocument/2006/relationships/slide" Target="/ppt/slides/slide136.xml" Id="R0404f7a44a7c4a90" /><Relationship Type="http://schemas.openxmlformats.org/officeDocument/2006/relationships/slide" Target="/ppt/slides/slide137.xml" Id="R9c52023dde734c8e" /><Relationship Type="http://schemas.openxmlformats.org/officeDocument/2006/relationships/slide" Target="/ppt/slides/slide138.xml" Id="R96aa5bdf50f246d3" /><Relationship Type="http://schemas.openxmlformats.org/officeDocument/2006/relationships/slide" Target="/ppt/slides/slide139.xml" Id="R218e9e5e45c342c4" /><Relationship Type="http://schemas.openxmlformats.org/officeDocument/2006/relationships/slide" Target="/ppt/slides/slide140.xml" Id="R504060ad892148b3" /><Relationship Type="http://schemas.openxmlformats.org/officeDocument/2006/relationships/slide" Target="/ppt/slides/slide141.xml" Id="R9bb7884f928d40e1" /><Relationship Type="http://schemas.openxmlformats.org/officeDocument/2006/relationships/slide" Target="/ppt/slides/slide142.xml" Id="R79669fb9f2df4ff8" /><Relationship Type="http://schemas.openxmlformats.org/officeDocument/2006/relationships/slide" Target="/ppt/slides/slide143.xml" Id="R9b48ad4efebb46e4" /><Relationship Type="http://schemas.openxmlformats.org/officeDocument/2006/relationships/slide" Target="/ppt/slides/slide144.xml" Id="Rff2ed1762a154c5a" /><Relationship Type="http://schemas.openxmlformats.org/officeDocument/2006/relationships/slide" Target="/ppt/slides/slide145.xml" Id="R6a7eb89c8ed044d7" /><Relationship Type="http://schemas.openxmlformats.org/officeDocument/2006/relationships/slide" Target="/ppt/slides/slide146.xml" Id="Re6f1ad12c89d410d" /><Relationship Type="http://schemas.openxmlformats.org/officeDocument/2006/relationships/slide" Target="/ppt/slides/slide147.xml" Id="R6ff08954cb714784" /><Relationship Type="http://schemas.openxmlformats.org/officeDocument/2006/relationships/slide" Target="/ppt/slides/slide148.xml" Id="R1378fc5dec614f5a" /><Relationship Type="http://schemas.openxmlformats.org/officeDocument/2006/relationships/slide" Target="/ppt/slides/slide149.xml" Id="R1a022b3c978847ba" /><Relationship Type="http://schemas.openxmlformats.org/officeDocument/2006/relationships/slide" Target="/ppt/slides/slide150.xml" Id="Rdbb4d2ebf5914ac3" /><Relationship Type="http://schemas.openxmlformats.org/officeDocument/2006/relationships/slide" Target="/ppt/slides/slide151.xml" Id="R753a3d77909548aa" /><Relationship Type="http://schemas.openxmlformats.org/officeDocument/2006/relationships/slide" Target="/ppt/slides/slide152.xml" Id="R7c5c6d0914cf4c61" /><Relationship Type="http://schemas.openxmlformats.org/officeDocument/2006/relationships/slide" Target="/ppt/slides/slide153.xml" Id="R2f492a5b387a4918" /><Relationship Type="http://schemas.openxmlformats.org/officeDocument/2006/relationships/slide" Target="/ppt/slides/slide154.xml" Id="R86088cf648be48cc" /><Relationship Type="http://schemas.openxmlformats.org/officeDocument/2006/relationships/slide" Target="/ppt/slides/slide155.xml" Id="R62b66ff1864b4c9e" /><Relationship Type="http://schemas.openxmlformats.org/officeDocument/2006/relationships/slide" Target="/ppt/slides/slide156.xml" Id="R90222cd0df8842bb" /><Relationship Type="http://schemas.openxmlformats.org/officeDocument/2006/relationships/slide" Target="/ppt/slides/slide157.xml" Id="R09b96cd04553409e" /><Relationship Type="http://schemas.openxmlformats.org/officeDocument/2006/relationships/slide" Target="/ppt/slides/slide158.xml" Id="Rc919ec1035f440de" /><Relationship Type="http://schemas.openxmlformats.org/officeDocument/2006/relationships/slide" Target="/ppt/slides/slide159.xml" Id="R3f010c9d98f04012" /><Relationship Type="http://schemas.openxmlformats.org/officeDocument/2006/relationships/slide" Target="/ppt/slides/slide160.xml" Id="Raef9969051e145b3" /><Relationship Type="http://schemas.openxmlformats.org/officeDocument/2006/relationships/slide" Target="/ppt/slides/slide161.xml" Id="R1491276543a6405f" /><Relationship Type="http://schemas.openxmlformats.org/officeDocument/2006/relationships/slide" Target="/ppt/slides/slide162.xml" Id="Red04e4dbe8c54922" /><Relationship Type="http://schemas.openxmlformats.org/officeDocument/2006/relationships/slide" Target="/ppt/slides/slide163.xml" Id="Ra40f0767b9d747e0" /><Relationship Type="http://schemas.openxmlformats.org/officeDocument/2006/relationships/slide" Target="/ppt/slides/slide164.xml" Id="Rdc77a8aae60d4be0" /><Relationship Type="http://schemas.openxmlformats.org/officeDocument/2006/relationships/slide" Target="/ppt/slides/slide165.xml" Id="R889a1b3058b44dd4" /><Relationship Type="http://schemas.openxmlformats.org/officeDocument/2006/relationships/slide" Target="/ppt/slides/slide166.xml" Id="Rd213d9312f3e478f" /><Relationship Type="http://schemas.openxmlformats.org/officeDocument/2006/relationships/slide" Target="/ppt/slides/slide167.xml" Id="R02efaf20049c4874" /><Relationship Type="http://schemas.openxmlformats.org/officeDocument/2006/relationships/slide" Target="/ppt/slides/slide168.xml" Id="R15cab43f4e3e4179" /><Relationship Type="http://schemas.openxmlformats.org/officeDocument/2006/relationships/slide" Target="/ppt/slides/slide169.xml" Id="R87499c5246294dcc" /><Relationship Type="http://schemas.openxmlformats.org/officeDocument/2006/relationships/slide" Target="/ppt/slides/slide170.xml" Id="R170b59e9aea5464b" /><Relationship Type="http://schemas.openxmlformats.org/officeDocument/2006/relationships/slide" Target="/ppt/slides/slide171.xml" Id="Rfb453a24d4a24bc4" /><Relationship Type="http://schemas.openxmlformats.org/officeDocument/2006/relationships/slide" Target="/ppt/slides/slide172.xml" Id="R0bb47f15427e4548" /><Relationship Type="http://schemas.openxmlformats.org/officeDocument/2006/relationships/slide" Target="/ppt/slides/slide173.xml" Id="R786d1f2b2ea54078" /><Relationship Type="http://schemas.openxmlformats.org/officeDocument/2006/relationships/slide" Target="/ppt/slides/slide174.xml" Id="R9a098b9c20c349f0" /><Relationship Type="http://schemas.openxmlformats.org/officeDocument/2006/relationships/slide" Target="/ppt/slides/slide175.xml" Id="R62af825638fa4b04" /><Relationship Type="http://schemas.openxmlformats.org/officeDocument/2006/relationships/slide" Target="/ppt/slides/slide176.xml" Id="Rb9595001400e4274" /><Relationship Type="http://schemas.openxmlformats.org/officeDocument/2006/relationships/slide" Target="/ppt/slides/slide177.xml" Id="Rbad2c8a21cb048cf" /><Relationship Type="http://schemas.openxmlformats.org/officeDocument/2006/relationships/slide" Target="/ppt/slides/slide178.xml" Id="Rff60291b5e1c4313" /><Relationship Type="http://schemas.openxmlformats.org/officeDocument/2006/relationships/slide" Target="/ppt/slides/slide179.xml" Id="R0067bfc2060a4525" /><Relationship Type="http://schemas.openxmlformats.org/officeDocument/2006/relationships/slide" Target="/ppt/slides/slide180.xml" Id="R0d8cb137a945458c" /><Relationship Type="http://schemas.openxmlformats.org/officeDocument/2006/relationships/slide" Target="/ppt/slides/slide181.xml" Id="R6fd5447e51a544ae" /><Relationship Type="http://schemas.openxmlformats.org/officeDocument/2006/relationships/slide" Target="/ppt/slides/slide182.xml" Id="R94793084cb0e433b" /><Relationship Type="http://schemas.openxmlformats.org/officeDocument/2006/relationships/slide" Target="/ppt/slides/slide183.xml" Id="Rfb4dc41dd0fe43e7" /><Relationship Type="http://schemas.openxmlformats.org/officeDocument/2006/relationships/slide" Target="/ppt/slides/slide184.xml" Id="Re87264888493410e" /><Relationship Type="http://schemas.openxmlformats.org/officeDocument/2006/relationships/slide" Target="/ppt/slides/slide185.xml" Id="Rffa9cbf2f2ce4d8a" /><Relationship Type="http://schemas.openxmlformats.org/officeDocument/2006/relationships/slide" Target="/ppt/slides/slide186.xml" Id="R703591eb6cc4496b" /><Relationship Type="http://schemas.openxmlformats.org/officeDocument/2006/relationships/slide" Target="/ppt/slides/slide187.xml" Id="R26aa8cf94c91495e" /><Relationship Type="http://schemas.openxmlformats.org/officeDocument/2006/relationships/slide" Target="/ppt/slides/slide188.xml" Id="Ra4adfbab163e419e" /><Relationship Type="http://schemas.openxmlformats.org/officeDocument/2006/relationships/slide" Target="/ppt/slides/slide189.xml" Id="Rafd0c9435bf842b3" /><Relationship Type="http://schemas.openxmlformats.org/officeDocument/2006/relationships/slide" Target="/ppt/slides/slide190.xml" Id="Raa2cfb919eed45eb" /><Relationship Type="http://schemas.openxmlformats.org/officeDocument/2006/relationships/slide" Target="/ppt/slides/slide191.xml" Id="R214e590ed1c74697" /><Relationship Type="http://schemas.openxmlformats.org/officeDocument/2006/relationships/slide" Target="/ppt/slides/slide192.xml" Id="Rcec16c6a4d494145" /><Relationship Type="http://schemas.openxmlformats.org/officeDocument/2006/relationships/slide" Target="/ppt/slides/slide193.xml" Id="Reba41e5ae7dd44a8" /><Relationship Type="http://schemas.openxmlformats.org/officeDocument/2006/relationships/slide" Target="/ppt/slides/slide194.xml" Id="R094b9a9d0c444d51" /><Relationship Type="http://schemas.openxmlformats.org/officeDocument/2006/relationships/slide" Target="/ppt/slides/slide195.xml" Id="R2bb6084a98994e92" /><Relationship Type="http://schemas.openxmlformats.org/officeDocument/2006/relationships/slide" Target="/ppt/slides/slide196.xml" Id="R14c08632bdb64ccf" /><Relationship Type="http://schemas.openxmlformats.org/officeDocument/2006/relationships/slide" Target="/ppt/slides/slide197.xml" Id="R440d3cf26f704138" /><Relationship Type="http://schemas.openxmlformats.org/officeDocument/2006/relationships/slide" Target="/ppt/slides/slide198.xml" Id="R478c26f65c86443c" /><Relationship Type="http://schemas.openxmlformats.org/officeDocument/2006/relationships/slide" Target="/ppt/slides/slide199.xml" Id="R1310a9b3044c426d" /><Relationship Type="http://schemas.openxmlformats.org/officeDocument/2006/relationships/slide" Target="/ppt/slides/slide200.xml" Id="R5268c4c197ae4f17" /><Relationship Type="http://schemas.openxmlformats.org/officeDocument/2006/relationships/slide" Target="/ppt/slides/slide201.xml" Id="R43e4267d02c145af" /><Relationship Type="http://schemas.openxmlformats.org/officeDocument/2006/relationships/slide" Target="/ppt/slides/slide202.xml" Id="R21ea117b34444efc" /><Relationship Type="http://schemas.openxmlformats.org/officeDocument/2006/relationships/slide" Target="/ppt/slides/slide203.xml" Id="Rf95554a0f85749f2" /><Relationship Type="http://schemas.openxmlformats.org/officeDocument/2006/relationships/slide" Target="/ppt/slides/slide204.xml" Id="R01b3b38589664704" /><Relationship Type="http://schemas.openxmlformats.org/officeDocument/2006/relationships/slide" Target="/ppt/slides/slide205.xml" Id="R097c606223e844a1" /><Relationship Type="http://schemas.openxmlformats.org/officeDocument/2006/relationships/slide" Target="/ppt/slides/slide206.xml" Id="R4d86db54b37d41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a76c0cdf6142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7f67d82d1e4357" /><Relationship Type="http://schemas.openxmlformats.org/officeDocument/2006/relationships/notesMaster" Target="/ppt/notesMasters/notesMaster1.xml" Id="R253b94fb6d5d46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67610a84a84615" /><Relationship Type="http://schemas.openxmlformats.org/officeDocument/2006/relationships/notesMaster" Target="/ppt/notesMasters/notesMaster1.xml" Id="R85b773edf55a4f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365997647a4dcb" /><Relationship Type="http://schemas.openxmlformats.org/officeDocument/2006/relationships/notesMaster" Target="/ppt/notesMasters/notesMaster1.xml" Id="R9eaf08ec82c94c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011dd34a494aec" /><Relationship Type="http://schemas.openxmlformats.org/officeDocument/2006/relationships/notesMaster" Target="/ppt/notesMasters/notesMaster1.xml" Id="R12c14dcb2a2f4d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4b88c54b1c480b" /><Relationship Type="http://schemas.openxmlformats.org/officeDocument/2006/relationships/notesMaster" Target="/ppt/notesMasters/notesMaster1.xml" Id="Rd00b415f68f242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2a86a8c5424935" /><Relationship Type="http://schemas.openxmlformats.org/officeDocument/2006/relationships/notesMaster" Target="/ppt/notesMasters/notesMaster1.xml" Id="R484ea2c896b340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0969c573474b44" /><Relationship Type="http://schemas.openxmlformats.org/officeDocument/2006/relationships/notesMaster" Target="/ppt/notesMasters/notesMaster1.xml" Id="Rf83cce97e0da474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03780d9e834d70" /><Relationship Type="http://schemas.openxmlformats.org/officeDocument/2006/relationships/notesMaster" Target="/ppt/notesMasters/notesMaster1.xml" Id="R2b12db9e80b641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59530081a54552" /><Relationship Type="http://schemas.openxmlformats.org/officeDocument/2006/relationships/notesMaster" Target="/ppt/notesMasters/notesMaster1.xml" Id="Ra12b70d811554b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0b0e62099b42c7" /><Relationship Type="http://schemas.openxmlformats.org/officeDocument/2006/relationships/notesMaster" Target="/ppt/notesMasters/notesMaster1.xml" Id="R82609e61b6924f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e784df394d4283" /><Relationship Type="http://schemas.openxmlformats.org/officeDocument/2006/relationships/notesMaster" Target="/ppt/notesMasters/notesMaster1.xml" Id="R27f0b6381c444a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31d17a15a54c46" /><Relationship Type="http://schemas.openxmlformats.org/officeDocument/2006/relationships/notesMaster" Target="/ppt/notesMasters/notesMaster1.xml" Id="R34b328171f144d7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525a906629405b" /><Relationship Type="http://schemas.openxmlformats.org/officeDocument/2006/relationships/notesMaster" Target="/ppt/notesMasters/notesMaster1.xml" Id="Rbb7e3935f25047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99a5b808534ade" /><Relationship Type="http://schemas.openxmlformats.org/officeDocument/2006/relationships/notesMaster" Target="/ppt/notesMasters/notesMaster1.xml" Id="R093175df141344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3c433be429f42a4" /><Relationship Type="http://schemas.openxmlformats.org/officeDocument/2006/relationships/notesMaster" Target="/ppt/notesMasters/notesMaster1.xml" Id="Rd9d9730b8b9748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05c324973ef43e0" /><Relationship Type="http://schemas.openxmlformats.org/officeDocument/2006/relationships/notesMaster" Target="/ppt/notesMasters/notesMaster1.xml" Id="R6b6d7ca149d049b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cb7b4f2e1ff4842" /><Relationship Type="http://schemas.openxmlformats.org/officeDocument/2006/relationships/notesMaster" Target="/ppt/notesMasters/notesMaster1.xml" Id="R30f633b9155045a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a571bf73d044c4" /><Relationship Type="http://schemas.openxmlformats.org/officeDocument/2006/relationships/notesMaster" Target="/ppt/notesMasters/notesMaster1.xml" Id="Rce5f5920dd9940f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28d9627a18e4d88" /><Relationship Type="http://schemas.openxmlformats.org/officeDocument/2006/relationships/notesMaster" Target="/ppt/notesMasters/notesMaster1.xml" Id="R41c01bec6d7a4e1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f289369d73b41b9" /><Relationship Type="http://schemas.openxmlformats.org/officeDocument/2006/relationships/notesMaster" Target="/ppt/notesMasters/notesMaster1.xml" Id="R325c3f218a1b446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1093921bd24c41" /><Relationship Type="http://schemas.openxmlformats.org/officeDocument/2006/relationships/notesMaster" Target="/ppt/notesMasters/notesMaster1.xml" Id="Rc136ae91a221401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69611d1d7484a82" /><Relationship Type="http://schemas.openxmlformats.org/officeDocument/2006/relationships/notesMaster" Target="/ppt/notesMasters/notesMaster1.xml" Id="Ra2d48d015df14c3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e79bedadba4be0" /><Relationship Type="http://schemas.openxmlformats.org/officeDocument/2006/relationships/notesMaster" Target="/ppt/notesMasters/notesMaster1.xml" Id="R9ed551ca61e8439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6eb67dfbc2e4f04" /><Relationship Type="http://schemas.openxmlformats.org/officeDocument/2006/relationships/notesMaster" Target="/ppt/notesMasters/notesMaster1.xml" Id="Rf391cd18a6aa46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c3d43522de245b6" /><Relationship Type="http://schemas.openxmlformats.org/officeDocument/2006/relationships/notesMaster" Target="/ppt/notesMasters/notesMaster1.xml" Id="R1dd3b58e9dc743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a15cdc1254c4633" /><Relationship Type="http://schemas.openxmlformats.org/officeDocument/2006/relationships/notesMaster" Target="/ppt/notesMasters/notesMaster1.xml" Id="R29f254cde1e24cd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636816f9a8e49b8" /><Relationship Type="http://schemas.openxmlformats.org/officeDocument/2006/relationships/notesMaster" Target="/ppt/notesMasters/notesMaster1.xml" Id="Re97b7ddde3dd454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f401aff86c4c89" /><Relationship Type="http://schemas.openxmlformats.org/officeDocument/2006/relationships/notesMaster" Target="/ppt/notesMasters/notesMaster1.xml" Id="Rf37493d568f44a3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a2824ed8a244fa0" /><Relationship Type="http://schemas.openxmlformats.org/officeDocument/2006/relationships/notesMaster" Target="/ppt/notesMasters/notesMaster1.xml" Id="Rf25e77cea895470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a3ae3bec9d147fc" /><Relationship Type="http://schemas.openxmlformats.org/officeDocument/2006/relationships/notesMaster" Target="/ppt/notesMasters/notesMaster1.xml" Id="Rd0a75d4b4a5a466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fa4cbec0a974426" /><Relationship Type="http://schemas.openxmlformats.org/officeDocument/2006/relationships/notesMaster" Target="/ppt/notesMasters/notesMaster1.xml" Id="R33eca321b82848d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4a0b79cbbaf43c6" /><Relationship Type="http://schemas.openxmlformats.org/officeDocument/2006/relationships/notesMaster" Target="/ppt/notesMasters/notesMaster1.xml" Id="Ra695b469a18a434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fef35bd2db246ce" /><Relationship Type="http://schemas.openxmlformats.org/officeDocument/2006/relationships/notesMaster" Target="/ppt/notesMasters/notesMaster1.xml" Id="Rd2eec7716def405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a644e0d821d4f75" /><Relationship Type="http://schemas.openxmlformats.org/officeDocument/2006/relationships/notesMaster" Target="/ppt/notesMasters/notesMaster1.xml" Id="R00a534997b10495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2f2b14671984f9e" /><Relationship Type="http://schemas.openxmlformats.org/officeDocument/2006/relationships/notesMaster" Target="/ppt/notesMasters/notesMaster1.xml" Id="Rcc3db4a24dda4fd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9e4982fbf9c400f" /><Relationship Type="http://schemas.openxmlformats.org/officeDocument/2006/relationships/notesMaster" Target="/ppt/notesMasters/notesMaster1.xml" Id="Rfe284ce8adc24f2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26fa46b535b4490" /><Relationship Type="http://schemas.openxmlformats.org/officeDocument/2006/relationships/notesMaster" Target="/ppt/notesMasters/notesMaster1.xml" Id="R73a0ba266351417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7eb78cbcd7f4d61" /><Relationship Type="http://schemas.openxmlformats.org/officeDocument/2006/relationships/notesMaster" Target="/ppt/notesMasters/notesMaster1.xml" Id="R42d8d4f3ac0b446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f8c0696230f48e4" /><Relationship Type="http://schemas.openxmlformats.org/officeDocument/2006/relationships/notesMaster" Target="/ppt/notesMasters/notesMaster1.xml" Id="Rcbf22cd5e39f422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b147b0392384ec7" /><Relationship Type="http://schemas.openxmlformats.org/officeDocument/2006/relationships/notesMaster" Target="/ppt/notesMasters/notesMaster1.xml" Id="Re3c46cec2a5d418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e2d6f62130740b5" /><Relationship Type="http://schemas.openxmlformats.org/officeDocument/2006/relationships/notesMaster" Target="/ppt/notesMasters/notesMaster1.xml" Id="Rfbaed4f7f85944c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e48377ecbfd45aa" /><Relationship Type="http://schemas.openxmlformats.org/officeDocument/2006/relationships/notesMaster" Target="/ppt/notesMasters/notesMaster1.xml" Id="R9a33ed35a0ac4ec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567e721296e4d74" /><Relationship Type="http://schemas.openxmlformats.org/officeDocument/2006/relationships/notesMaster" Target="/ppt/notesMasters/notesMaster1.xml" Id="R7a213900d3ea470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b9951c8c7774c0a" /><Relationship Type="http://schemas.openxmlformats.org/officeDocument/2006/relationships/notesMaster" Target="/ppt/notesMasters/notesMaster1.xml" Id="R3b76e56c7c1d47b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e583eb79a404903" /><Relationship Type="http://schemas.openxmlformats.org/officeDocument/2006/relationships/notesMaster" Target="/ppt/notesMasters/notesMaster1.xml" Id="R105f79bf2d4b410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0e7393bd5304e1b" /><Relationship Type="http://schemas.openxmlformats.org/officeDocument/2006/relationships/notesMaster" Target="/ppt/notesMasters/notesMaster1.xml" Id="R38822ad0f77d423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b77c5a89ade4891" /><Relationship Type="http://schemas.openxmlformats.org/officeDocument/2006/relationships/notesMaster" Target="/ppt/notesMasters/notesMaster1.xml" Id="Rbb4480c41691434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9f6db2e10ff40fb" /><Relationship Type="http://schemas.openxmlformats.org/officeDocument/2006/relationships/notesMaster" Target="/ppt/notesMasters/notesMaster1.xml" Id="Rb76e1681fd3c4a6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e403c0f22b14772" /><Relationship Type="http://schemas.openxmlformats.org/officeDocument/2006/relationships/notesMaster" Target="/ppt/notesMasters/notesMaster1.xml" Id="R7ef936dd8e3d450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0365c6068f9438c" /><Relationship Type="http://schemas.openxmlformats.org/officeDocument/2006/relationships/notesMaster" Target="/ppt/notesMasters/notesMaster1.xml" Id="Ra29ef32a0ef5431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ae653ff28dd4ee1" /><Relationship Type="http://schemas.openxmlformats.org/officeDocument/2006/relationships/notesMaster" Target="/ppt/notesMasters/notesMaster1.xml" Id="R1787e23f05e14f8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e326a6201a84e14" /><Relationship Type="http://schemas.openxmlformats.org/officeDocument/2006/relationships/notesMaster" Target="/ppt/notesMasters/notesMaster1.xml" Id="R7898b214eb13496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9a6b1217c6d49ed" /><Relationship Type="http://schemas.openxmlformats.org/officeDocument/2006/relationships/notesMaster" Target="/ppt/notesMasters/notesMaster1.xml" Id="R592feb3a1f4b45a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ea96c8d0c054f09" /><Relationship Type="http://schemas.openxmlformats.org/officeDocument/2006/relationships/notesMaster" Target="/ppt/notesMasters/notesMaster1.xml" Id="Rb04a77bf9d9a473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ab785756d514d41" /><Relationship Type="http://schemas.openxmlformats.org/officeDocument/2006/relationships/notesMaster" Target="/ppt/notesMasters/notesMaster1.xml" Id="R99631f3629a84c1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cafbf223b984256" /><Relationship Type="http://schemas.openxmlformats.org/officeDocument/2006/relationships/notesMaster" Target="/ppt/notesMasters/notesMaster1.xml" Id="R065712203e794c3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c555a2dc6c9449b" /><Relationship Type="http://schemas.openxmlformats.org/officeDocument/2006/relationships/notesMaster" Target="/ppt/notesMasters/notesMaster1.xml" Id="R96fab70a95d34e8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90f061da9c7451a" /><Relationship Type="http://schemas.openxmlformats.org/officeDocument/2006/relationships/notesMaster" Target="/ppt/notesMasters/notesMaster1.xml" Id="R4d8d57f2a24b43b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e676fdf320e4e55" /><Relationship Type="http://schemas.openxmlformats.org/officeDocument/2006/relationships/notesMaster" Target="/ppt/notesMasters/notesMaster1.xml" Id="Rf95a0eb9497c4c4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4973668414c4e8f" /><Relationship Type="http://schemas.openxmlformats.org/officeDocument/2006/relationships/notesMaster" Target="/ppt/notesMasters/notesMaster1.xml" Id="R32e781255a6b462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5f6909472d249aa" /><Relationship Type="http://schemas.openxmlformats.org/officeDocument/2006/relationships/notesMaster" Target="/ppt/notesMasters/notesMaster1.xml" Id="R4831487a53c7447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8fb9f328e314992" /><Relationship Type="http://schemas.openxmlformats.org/officeDocument/2006/relationships/notesMaster" Target="/ppt/notesMasters/notesMaster1.xml" Id="Ra7dbe623a9fd47c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660dc173e5f4620" /><Relationship Type="http://schemas.openxmlformats.org/officeDocument/2006/relationships/notesMaster" Target="/ppt/notesMasters/notesMaster1.xml" Id="R6dc1107a59844f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ce598635bc94b4a" /><Relationship Type="http://schemas.openxmlformats.org/officeDocument/2006/relationships/notesMaster" Target="/ppt/notesMasters/notesMaster1.xml" Id="R54e2979d940b4fc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25d97bcf3bc4dda" /><Relationship Type="http://schemas.openxmlformats.org/officeDocument/2006/relationships/notesMaster" Target="/ppt/notesMasters/notesMaster1.xml" Id="R426e72b268b9486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80599ed6b274988" /><Relationship Type="http://schemas.openxmlformats.org/officeDocument/2006/relationships/notesMaster" Target="/ppt/notesMasters/notesMaster1.xml" Id="R920591f561254fa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cbcd1e0a03e42f2" /><Relationship Type="http://schemas.openxmlformats.org/officeDocument/2006/relationships/notesMaster" Target="/ppt/notesMasters/notesMaster1.xml" Id="Ra616960a5217480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5bfef565a4c4a09" /><Relationship Type="http://schemas.openxmlformats.org/officeDocument/2006/relationships/notesMaster" Target="/ppt/notesMasters/notesMaster1.xml" Id="R77a351041b8142e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946cd575cbb42d8" /><Relationship Type="http://schemas.openxmlformats.org/officeDocument/2006/relationships/notesMaster" Target="/ppt/notesMasters/notesMaster1.xml" Id="Red6d29025eb3419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546a626f01e4166" /><Relationship Type="http://schemas.openxmlformats.org/officeDocument/2006/relationships/notesMaster" Target="/ppt/notesMasters/notesMaster1.xml" Id="R48825238433a4f2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2e71a9a2b894fbd" /><Relationship Type="http://schemas.openxmlformats.org/officeDocument/2006/relationships/notesMaster" Target="/ppt/notesMasters/notesMaster1.xml" Id="R5e3afc4a43cb4bf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9a23e552fd24632" /><Relationship Type="http://schemas.openxmlformats.org/officeDocument/2006/relationships/notesMaster" Target="/ppt/notesMasters/notesMaster1.xml" Id="Redc64319f2ce4bf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d57ac5ec59a4b22" /><Relationship Type="http://schemas.openxmlformats.org/officeDocument/2006/relationships/notesMaster" Target="/ppt/notesMasters/notesMaster1.xml" Id="R02b288e5b928433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e027740c6ac4904" /><Relationship Type="http://schemas.openxmlformats.org/officeDocument/2006/relationships/notesMaster" Target="/ppt/notesMasters/notesMaster1.xml" Id="R76687a94ecc5462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b1d5dbfe5614f75" /><Relationship Type="http://schemas.openxmlformats.org/officeDocument/2006/relationships/notesMaster" Target="/ppt/notesMasters/notesMaster1.xml" Id="Rb06f7efd78a447c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d8b232f596c4621" /><Relationship Type="http://schemas.openxmlformats.org/officeDocument/2006/relationships/notesMaster" Target="/ppt/notesMasters/notesMaster1.xml" Id="Rfbfb29a72f81436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25320464f0241ae" /><Relationship Type="http://schemas.openxmlformats.org/officeDocument/2006/relationships/notesMaster" Target="/ppt/notesMasters/notesMaster1.xml" Id="R053e9c0ca17441d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5aeffbe74fe4e94" /><Relationship Type="http://schemas.openxmlformats.org/officeDocument/2006/relationships/notesMaster" Target="/ppt/notesMasters/notesMaster1.xml" Id="R81568f629db744e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5342311f1d1f4fd2" /><Relationship Type="http://schemas.openxmlformats.org/officeDocument/2006/relationships/notesMaster" Target="/ppt/notesMasters/notesMaster1.xml" Id="R39ca601ef7ba4f9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cb5a1fde2a244ef" /><Relationship Type="http://schemas.openxmlformats.org/officeDocument/2006/relationships/notesMaster" Target="/ppt/notesMasters/notesMaster1.xml" Id="Rf99d82b705804c4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248f7edde2a44ca" /><Relationship Type="http://schemas.openxmlformats.org/officeDocument/2006/relationships/notesMaster" Target="/ppt/notesMasters/notesMaster1.xml" Id="Re905af4b09f4434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dc2073891fb477c" /><Relationship Type="http://schemas.openxmlformats.org/officeDocument/2006/relationships/notesMaster" Target="/ppt/notesMasters/notesMaster1.xml" Id="R9597a07ece0845d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631035bf65542e7" /><Relationship Type="http://schemas.openxmlformats.org/officeDocument/2006/relationships/notesMaster" Target="/ppt/notesMasters/notesMaster1.xml" Id="Ra8561ce86ac7457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6b119a14c35470a" /><Relationship Type="http://schemas.openxmlformats.org/officeDocument/2006/relationships/notesMaster" Target="/ppt/notesMasters/notesMaster1.xml" Id="R3a282b473bb646b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1419e9878344faf" /><Relationship Type="http://schemas.openxmlformats.org/officeDocument/2006/relationships/notesMaster" Target="/ppt/notesMasters/notesMaster1.xml" Id="R722636f0f39f48cc"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ba57f0fc53e4b20" /><Relationship Type="http://schemas.openxmlformats.org/officeDocument/2006/relationships/notesMaster" Target="/ppt/notesMasters/notesMaster1.xml" Id="Rcfaf2aa813d948e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b1f6153ce884a9c" /><Relationship Type="http://schemas.openxmlformats.org/officeDocument/2006/relationships/notesMaster" Target="/ppt/notesMasters/notesMaster1.xml" Id="R8a8ba74e26f24d0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c78566d5e5e4f77" /><Relationship Type="http://schemas.openxmlformats.org/officeDocument/2006/relationships/notesMaster" Target="/ppt/notesMasters/notesMaster1.xml" Id="R8f07300bae41460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a894a1b01494035" /><Relationship Type="http://schemas.openxmlformats.org/officeDocument/2006/relationships/notesMaster" Target="/ppt/notesMasters/notesMaster1.xml" Id="R435c20f3e26840b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43de83b23274ad3" /><Relationship Type="http://schemas.openxmlformats.org/officeDocument/2006/relationships/notesMaster" Target="/ppt/notesMasters/notesMaster1.xml" Id="R597a8a0eeae3450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5951b6cd4e147e2" /><Relationship Type="http://schemas.openxmlformats.org/officeDocument/2006/relationships/notesMaster" Target="/ppt/notesMasters/notesMaster1.xml" Id="R68d45892a85b491d"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e1352b4ad844a18" /><Relationship Type="http://schemas.openxmlformats.org/officeDocument/2006/relationships/notesMaster" Target="/ppt/notesMasters/notesMaster1.xml" Id="R0aa40fa5dea1427b"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4eaa63a2bd9547d1" /><Relationship Type="http://schemas.openxmlformats.org/officeDocument/2006/relationships/notesMaster" Target="/ppt/notesMasters/notesMaster1.xml" Id="R74653a4244034a2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39a0087e713d4bab" /><Relationship Type="http://schemas.openxmlformats.org/officeDocument/2006/relationships/notesMaster" Target="/ppt/notesMasters/notesMaster1.xml" Id="R6c6937731f47437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55bc32e588b248e9" /><Relationship Type="http://schemas.openxmlformats.org/officeDocument/2006/relationships/notesMaster" Target="/ppt/notesMasters/notesMaster1.xml" Id="R12df921febe64ee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9dd2025c583463b" /><Relationship Type="http://schemas.openxmlformats.org/officeDocument/2006/relationships/notesMaster" Target="/ppt/notesMasters/notesMaster1.xml" Id="R5919714ec3bf4d2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23f092d0dce84921" /><Relationship Type="http://schemas.openxmlformats.org/officeDocument/2006/relationships/notesMaster" Target="/ppt/notesMasters/notesMaster1.xml" Id="R466e4fc357b44c6e"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aeff5a75fd249c2" /><Relationship Type="http://schemas.openxmlformats.org/officeDocument/2006/relationships/notesMaster" Target="/ppt/notesMasters/notesMaster1.xml" Id="Re31091948e4441c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1053ba221744388" /><Relationship Type="http://schemas.openxmlformats.org/officeDocument/2006/relationships/notesMaster" Target="/ppt/notesMasters/notesMaster1.xml" Id="Re52087bc136d4fe1"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f683ab01d58b4711" /><Relationship Type="http://schemas.openxmlformats.org/officeDocument/2006/relationships/notesMaster" Target="/ppt/notesMasters/notesMaster1.xml" Id="Rfd07fa8da42b4899"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9078ded409244343" /><Relationship Type="http://schemas.openxmlformats.org/officeDocument/2006/relationships/notesMaster" Target="/ppt/notesMasters/notesMaster1.xml" Id="R4a7590cfa8004958"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20fac25dcad841b0" /><Relationship Type="http://schemas.openxmlformats.org/officeDocument/2006/relationships/notesMaster" Target="/ppt/notesMasters/notesMaster1.xml" Id="R181d2965f7e64260"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1b0ccdc589084817" /><Relationship Type="http://schemas.openxmlformats.org/officeDocument/2006/relationships/notesMaster" Target="/ppt/notesMasters/notesMaster1.xml" Id="R4490c29b48e54539"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444e40340fc54035" /><Relationship Type="http://schemas.openxmlformats.org/officeDocument/2006/relationships/notesMaster" Target="/ppt/notesMasters/notesMaster1.xml" Id="Rdf280430ab534184"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983acc5092a1489a" /><Relationship Type="http://schemas.openxmlformats.org/officeDocument/2006/relationships/notesMaster" Target="/ppt/notesMasters/notesMaster1.xml" Id="R4ac7b16728cc4cd6"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1166f59e7cdb4439" /><Relationship Type="http://schemas.openxmlformats.org/officeDocument/2006/relationships/notesMaster" Target="/ppt/notesMasters/notesMaster1.xml" Id="Rc0db63a8d48b4427"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8b955445c3cf473f" /><Relationship Type="http://schemas.openxmlformats.org/officeDocument/2006/relationships/notesMaster" Target="/ppt/notesMasters/notesMaster1.xml" Id="R7c1a9de6ef784070"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737026ad91bd43c2" /><Relationship Type="http://schemas.openxmlformats.org/officeDocument/2006/relationships/notesMaster" Target="/ppt/notesMasters/notesMaster1.xml" Id="R208357c36a494ade"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3afadb9910d14cca" /><Relationship Type="http://schemas.openxmlformats.org/officeDocument/2006/relationships/notesMaster" Target="/ppt/notesMasters/notesMaster1.xml" Id="R4447f94dab2a4243"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f2ff0ac3ec764251" /><Relationship Type="http://schemas.openxmlformats.org/officeDocument/2006/relationships/notesMaster" Target="/ppt/notesMasters/notesMaster1.xml" Id="Re8c5c75c0a5f47ae"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bca923e6f754e1b" /><Relationship Type="http://schemas.openxmlformats.org/officeDocument/2006/relationships/notesMaster" Target="/ppt/notesMasters/notesMaster1.xml" Id="R69efbed500b34d50"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ceea8a8b0ec641e1" /><Relationship Type="http://schemas.openxmlformats.org/officeDocument/2006/relationships/notesMaster" Target="/ppt/notesMasters/notesMaster1.xml" Id="Re26c41521d5f44e4"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79b0e9ff89f44c03" /><Relationship Type="http://schemas.openxmlformats.org/officeDocument/2006/relationships/notesMaster" Target="/ppt/notesMasters/notesMaster1.xml" Id="R3dbc1765f4f64a2d"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dd2b223cbd984140" /><Relationship Type="http://schemas.openxmlformats.org/officeDocument/2006/relationships/notesMaster" Target="/ppt/notesMasters/notesMaster1.xml" Id="R057f0d74e2754a6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ee360047e0784fe4" /><Relationship Type="http://schemas.openxmlformats.org/officeDocument/2006/relationships/notesMaster" Target="/ppt/notesMasters/notesMaster1.xml" Id="R53d4d510d6e84aac"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2d39617ff3e44594" /><Relationship Type="http://schemas.openxmlformats.org/officeDocument/2006/relationships/notesMaster" Target="/ppt/notesMasters/notesMaster1.xml" Id="R48a0efa8242c4dbf"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0abe3fc21a4342bf" /><Relationship Type="http://schemas.openxmlformats.org/officeDocument/2006/relationships/notesMaster" Target="/ppt/notesMasters/notesMaster1.xml" Id="Rcf868ae317a74182"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b0045a4d5f2b4679" /><Relationship Type="http://schemas.openxmlformats.org/officeDocument/2006/relationships/notesMaster" Target="/ppt/notesMasters/notesMaster1.xml" Id="R4b991e72c49a4850"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a72c241e23574d03" /><Relationship Type="http://schemas.openxmlformats.org/officeDocument/2006/relationships/notesMaster" Target="/ppt/notesMasters/notesMaster1.xml" Id="R2780a93039a64e08"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57d7b9f550a54f67" /><Relationship Type="http://schemas.openxmlformats.org/officeDocument/2006/relationships/notesMaster" Target="/ppt/notesMasters/notesMaster1.xml" Id="Rd09bd9fe59f94e7a"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8a8bcb033be1409f" /><Relationship Type="http://schemas.openxmlformats.org/officeDocument/2006/relationships/notesMaster" Target="/ppt/notesMasters/notesMaster1.xml" Id="R7e5721ef18954280"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7472b19c231f4017" /><Relationship Type="http://schemas.openxmlformats.org/officeDocument/2006/relationships/notesMaster" Target="/ppt/notesMasters/notesMaster1.xml" Id="R37c3d310eec44c53"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32446f13b1214193" /><Relationship Type="http://schemas.openxmlformats.org/officeDocument/2006/relationships/notesMaster" Target="/ppt/notesMasters/notesMaster1.xml" Id="R55654bd8a8ee494e"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ee4721ce5eb94708" /><Relationship Type="http://schemas.openxmlformats.org/officeDocument/2006/relationships/notesMaster" Target="/ppt/notesMasters/notesMaster1.xml" Id="R8c5b4d5a3c964da3"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df7cf6ed18414a8a" /><Relationship Type="http://schemas.openxmlformats.org/officeDocument/2006/relationships/notesMaster" Target="/ppt/notesMasters/notesMaster1.xml" Id="R2eb3d01c16da4ce0"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bc509eaae0604866" /><Relationship Type="http://schemas.openxmlformats.org/officeDocument/2006/relationships/notesMaster" Target="/ppt/notesMasters/notesMaster1.xml" Id="R77d0bd33dcbb480b"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c428d5bafda04739" /><Relationship Type="http://schemas.openxmlformats.org/officeDocument/2006/relationships/notesMaster" Target="/ppt/notesMasters/notesMaster1.xml" Id="R51e049defa434a0e"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ee6d4cbf954c47ac" /><Relationship Type="http://schemas.openxmlformats.org/officeDocument/2006/relationships/notesMaster" Target="/ppt/notesMasters/notesMaster1.xml" Id="Rf0bd11f3edf84f36"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441ea8661a1d462a" /><Relationship Type="http://schemas.openxmlformats.org/officeDocument/2006/relationships/notesMaster" Target="/ppt/notesMasters/notesMaster1.xml" Id="Rf6b90f079f5945e9"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e3775e06a9874c50" /><Relationship Type="http://schemas.openxmlformats.org/officeDocument/2006/relationships/notesMaster" Target="/ppt/notesMasters/notesMaster1.xml" Id="Re135f6d8dd2b4208"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a9ab4c2c6c074efa" /><Relationship Type="http://schemas.openxmlformats.org/officeDocument/2006/relationships/notesMaster" Target="/ppt/notesMasters/notesMaster1.xml" Id="R256353881ab94c4f"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50d1a02b42444b2e" /><Relationship Type="http://schemas.openxmlformats.org/officeDocument/2006/relationships/notesMaster" Target="/ppt/notesMasters/notesMaster1.xml" Id="Rb8636af9d6044757"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db7fd0ecaf1448e0" /><Relationship Type="http://schemas.openxmlformats.org/officeDocument/2006/relationships/notesMaster" Target="/ppt/notesMasters/notesMaster1.xml" Id="R5b47469d44a54e8c"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74c23a0a18454d6a" /><Relationship Type="http://schemas.openxmlformats.org/officeDocument/2006/relationships/notesMaster" Target="/ppt/notesMasters/notesMaster1.xml" Id="Re1d2008899ad46f7"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c9494997956e4acc" /><Relationship Type="http://schemas.openxmlformats.org/officeDocument/2006/relationships/notesMaster" Target="/ppt/notesMasters/notesMaster1.xml" Id="R084fe07f6cd24468"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66ab392b0ddf4c93" /><Relationship Type="http://schemas.openxmlformats.org/officeDocument/2006/relationships/notesMaster" Target="/ppt/notesMasters/notesMaster1.xml" Id="R44fe98d5bb494697"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e8114a6691a84893" /><Relationship Type="http://schemas.openxmlformats.org/officeDocument/2006/relationships/notesMaster" Target="/ppt/notesMasters/notesMaster1.xml" Id="R20b7bf8022f54173"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1ba65089f6294bc1" /><Relationship Type="http://schemas.openxmlformats.org/officeDocument/2006/relationships/notesMaster" Target="/ppt/notesMasters/notesMaster1.xml" Id="Rf7a6e13a50354c87"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422e151fb6ed4065" /><Relationship Type="http://schemas.openxmlformats.org/officeDocument/2006/relationships/notesMaster" Target="/ppt/notesMasters/notesMaster1.xml" Id="R9a9343a965ba4897"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0e8933e24e0f4eb2" /><Relationship Type="http://schemas.openxmlformats.org/officeDocument/2006/relationships/notesMaster" Target="/ppt/notesMasters/notesMaster1.xml" Id="R0bbc7b34455347d8"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43cf8e0893bc43dc" /><Relationship Type="http://schemas.openxmlformats.org/officeDocument/2006/relationships/notesMaster" Target="/ppt/notesMasters/notesMaster1.xml" Id="Rb751a2e0d8d5412c"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3e73301562f24011" /><Relationship Type="http://schemas.openxmlformats.org/officeDocument/2006/relationships/notesMaster" Target="/ppt/notesMasters/notesMaster1.xml" Id="R870916b3fef942e1"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619d1aa3315040d8" /><Relationship Type="http://schemas.openxmlformats.org/officeDocument/2006/relationships/notesMaster" Target="/ppt/notesMasters/notesMaster1.xml" Id="R7eff65b3ba6841de"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bafee4c5251c4a2c" /><Relationship Type="http://schemas.openxmlformats.org/officeDocument/2006/relationships/notesMaster" Target="/ppt/notesMasters/notesMaster1.xml" Id="R3cb24967efec4f97"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9fdecb16e7da4f90" /><Relationship Type="http://schemas.openxmlformats.org/officeDocument/2006/relationships/notesMaster" Target="/ppt/notesMasters/notesMaster1.xml" Id="Ra5d4e28ea1a14426"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1b96dbc2ff4f4364" /><Relationship Type="http://schemas.openxmlformats.org/officeDocument/2006/relationships/notesMaster" Target="/ppt/notesMasters/notesMaster1.xml" Id="R5b99eb3c7afc4fdb"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149a1e95c8294312" /><Relationship Type="http://schemas.openxmlformats.org/officeDocument/2006/relationships/notesMaster" Target="/ppt/notesMasters/notesMaster1.xml" Id="R3f856e0a0ad94012"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0d557a12036449aa" /><Relationship Type="http://schemas.openxmlformats.org/officeDocument/2006/relationships/notesMaster" Target="/ppt/notesMasters/notesMaster1.xml" Id="R45d842ba83f84b55"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dac4904bd3b44eea" /><Relationship Type="http://schemas.openxmlformats.org/officeDocument/2006/relationships/notesMaster" Target="/ppt/notesMasters/notesMaster1.xml" Id="R419e3a71cddf464c"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24e4e208b3ce4a34" /><Relationship Type="http://schemas.openxmlformats.org/officeDocument/2006/relationships/notesMaster" Target="/ppt/notesMasters/notesMaster1.xml" Id="R966c62cf96f24c3b"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5ff2c47fc90d4da2" /><Relationship Type="http://schemas.openxmlformats.org/officeDocument/2006/relationships/notesMaster" Target="/ppt/notesMasters/notesMaster1.xml" Id="R720601f4b2bf4775"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5f4b9ab0521d423a" /><Relationship Type="http://schemas.openxmlformats.org/officeDocument/2006/relationships/notesMaster" Target="/ppt/notesMasters/notesMaster1.xml" Id="R129e0fa041e449bd"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67dfc2fdcd7944ef" /><Relationship Type="http://schemas.openxmlformats.org/officeDocument/2006/relationships/notesMaster" Target="/ppt/notesMasters/notesMaster1.xml" Id="Ra22df53fbc2f46b5"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698bdb15b9b54cb7" /><Relationship Type="http://schemas.openxmlformats.org/officeDocument/2006/relationships/notesMaster" Target="/ppt/notesMasters/notesMaster1.xml" Id="R14376d58dae74bf2"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c332f61a68264d37" /><Relationship Type="http://schemas.openxmlformats.org/officeDocument/2006/relationships/notesMaster" Target="/ppt/notesMasters/notesMaster1.xml" Id="R2d2178f0a1eb4e46"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9dd449f888124da4" /><Relationship Type="http://schemas.openxmlformats.org/officeDocument/2006/relationships/notesMaster" Target="/ppt/notesMasters/notesMaster1.xml" Id="R0c616029e07b43dd"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bc9d94a84fe04035" /><Relationship Type="http://schemas.openxmlformats.org/officeDocument/2006/relationships/notesMaster" Target="/ppt/notesMasters/notesMaster1.xml" Id="R7a1f1258dba44167"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03b8dfc4d568419a" /><Relationship Type="http://schemas.openxmlformats.org/officeDocument/2006/relationships/notesMaster" Target="/ppt/notesMasters/notesMaster1.xml" Id="R66574d7926a34b93"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88a1a65e9ca147a5" /><Relationship Type="http://schemas.openxmlformats.org/officeDocument/2006/relationships/notesMaster" Target="/ppt/notesMasters/notesMaster1.xml" Id="R62a44812cf67454d"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0ebcfe3a463341cc" /><Relationship Type="http://schemas.openxmlformats.org/officeDocument/2006/relationships/notesMaster" Target="/ppt/notesMasters/notesMaster1.xml" Id="Rf00f6cfc715d468d"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694c819c2fd74d39" /><Relationship Type="http://schemas.openxmlformats.org/officeDocument/2006/relationships/notesMaster" Target="/ppt/notesMasters/notesMaster1.xml" Id="Rf943062dfbfd4752"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f38615bc5b3a4b07" /><Relationship Type="http://schemas.openxmlformats.org/officeDocument/2006/relationships/notesMaster" Target="/ppt/notesMasters/notesMaster1.xml" Id="R5b8ae61b96554679"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da729dc7a2264525" /><Relationship Type="http://schemas.openxmlformats.org/officeDocument/2006/relationships/notesMaster" Target="/ppt/notesMasters/notesMaster1.xml" Id="R3cb7875a9991407d"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2bdf0c658c27433c" /><Relationship Type="http://schemas.openxmlformats.org/officeDocument/2006/relationships/notesMaster" Target="/ppt/notesMasters/notesMaster1.xml" Id="Rf94d6f79adf74b20"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db692eb4a50d44a6" /><Relationship Type="http://schemas.openxmlformats.org/officeDocument/2006/relationships/notesMaster" Target="/ppt/notesMasters/notesMaster1.xml" Id="R6498d251c8794bf7"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3d67d565c3f84629" /><Relationship Type="http://schemas.openxmlformats.org/officeDocument/2006/relationships/notesMaster" Target="/ppt/notesMasters/notesMaster1.xml" Id="R4e4d521cedb8447d"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1ab30cc3bdc94984" /><Relationship Type="http://schemas.openxmlformats.org/officeDocument/2006/relationships/notesMaster" Target="/ppt/notesMasters/notesMaster1.xml" Id="R872093a75d08435f"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e549926375bf4e85" /><Relationship Type="http://schemas.openxmlformats.org/officeDocument/2006/relationships/notesMaster" Target="/ppt/notesMasters/notesMaster1.xml" Id="R5b81670298a14e8b"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2db2054b31224b15" /><Relationship Type="http://schemas.openxmlformats.org/officeDocument/2006/relationships/notesMaster" Target="/ppt/notesMasters/notesMaster1.xml" Id="R38822c2b443546c9"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7f555801b8aa4b1e" /><Relationship Type="http://schemas.openxmlformats.org/officeDocument/2006/relationships/notesMaster" Target="/ppt/notesMasters/notesMaster1.xml" Id="R4cd05d01b3ef46fe"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6eac347816df4b95" /><Relationship Type="http://schemas.openxmlformats.org/officeDocument/2006/relationships/notesMaster" Target="/ppt/notesMasters/notesMaster1.xml" Id="R90d846d2004e4c61"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87175695cd364a27" /><Relationship Type="http://schemas.openxmlformats.org/officeDocument/2006/relationships/notesMaster" Target="/ppt/notesMasters/notesMaster1.xml" Id="Rf0bde8f529584b9d"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5578a37abcb149a2" /><Relationship Type="http://schemas.openxmlformats.org/officeDocument/2006/relationships/notesMaster" Target="/ppt/notesMasters/notesMaster1.xml" Id="Ra133dd197dd448f3"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ba5b0825d69f406d" /><Relationship Type="http://schemas.openxmlformats.org/officeDocument/2006/relationships/notesMaster" Target="/ppt/notesMasters/notesMaster1.xml" Id="R27f68fd3ec8b421d"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d74f5bcf425d4df1" /><Relationship Type="http://schemas.openxmlformats.org/officeDocument/2006/relationships/notesMaster" Target="/ppt/notesMasters/notesMaster1.xml" Id="R8f3d497e8a694f73"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628c075f0b484abf" /><Relationship Type="http://schemas.openxmlformats.org/officeDocument/2006/relationships/notesMaster" Target="/ppt/notesMasters/notesMaster1.xml" Id="R549ca38e7b324e93"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212d94d5bcc140b3" /><Relationship Type="http://schemas.openxmlformats.org/officeDocument/2006/relationships/notesMaster" Target="/ppt/notesMasters/notesMaster1.xml" Id="R77743d4093374fa9"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8bd86b1ba11046e7" /><Relationship Type="http://schemas.openxmlformats.org/officeDocument/2006/relationships/notesMaster" Target="/ppt/notesMasters/notesMaster1.xml" Id="Rd111599c59ef4f1a"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c74a8b3b1a6941d2" /><Relationship Type="http://schemas.openxmlformats.org/officeDocument/2006/relationships/notesMaster" Target="/ppt/notesMasters/notesMaster1.xml" Id="R82599c7205d24743"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df06263d529d49fa" /><Relationship Type="http://schemas.openxmlformats.org/officeDocument/2006/relationships/notesMaster" Target="/ppt/notesMasters/notesMaster1.xml" Id="R9d68c4ecac644b06"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5fcb52a5f44e4eb9" /><Relationship Type="http://schemas.openxmlformats.org/officeDocument/2006/relationships/notesMaster" Target="/ppt/notesMasters/notesMaster1.xml" Id="R65521f4aa13d4d3c"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978210966546487c" /><Relationship Type="http://schemas.openxmlformats.org/officeDocument/2006/relationships/notesMaster" Target="/ppt/notesMasters/notesMaster1.xml" Id="R844925cab0534612"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3d2547d906a24be4" /><Relationship Type="http://schemas.openxmlformats.org/officeDocument/2006/relationships/notesMaster" Target="/ppt/notesMasters/notesMaster1.xml" Id="R64d40969fbf74be6"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b321b11468294336" /><Relationship Type="http://schemas.openxmlformats.org/officeDocument/2006/relationships/notesMaster" Target="/ppt/notesMasters/notesMaster1.xml" Id="R8322abd3c19f4e10"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ac5002cdaa964d7a" /><Relationship Type="http://schemas.openxmlformats.org/officeDocument/2006/relationships/notesMaster" Target="/ppt/notesMasters/notesMaster1.xml" Id="R90f4704232dd4951"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4fff45bd2a1a4019" /><Relationship Type="http://schemas.openxmlformats.org/officeDocument/2006/relationships/notesMaster" Target="/ppt/notesMasters/notesMaster1.xml" Id="Red7a166857ae421f"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433dfb6c26c14d52" /><Relationship Type="http://schemas.openxmlformats.org/officeDocument/2006/relationships/notesMaster" Target="/ppt/notesMasters/notesMaster1.xml" Id="Rff6082d192764384"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54fc0e0a18fe4171" /><Relationship Type="http://schemas.openxmlformats.org/officeDocument/2006/relationships/notesMaster" Target="/ppt/notesMasters/notesMaster1.xml" Id="Re836b2795a2848b2"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b434fc5943f6423a" /><Relationship Type="http://schemas.openxmlformats.org/officeDocument/2006/relationships/notesMaster" Target="/ppt/notesMasters/notesMaster1.xml" Id="R99ea063fc2034a28"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467f34bbde56457c" /><Relationship Type="http://schemas.openxmlformats.org/officeDocument/2006/relationships/notesMaster" Target="/ppt/notesMasters/notesMaster1.xml" Id="R0b06112b912e498e"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be8adb528cb94f29" /><Relationship Type="http://schemas.openxmlformats.org/officeDocument/2006/relationships/notesMaster" Target="/ppt/notesMasters/notesMaster1.xml" Id="R270fa1e497de461a"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70eb1273f7b04eb1" /><Relationship Type="http://schemas.openxmlformats.org/officeDocument/2006/relationships/notesMaster" Target="/ppt/notesMasters/notesMaster1.xml" Id="Rb0472cc82b34467a"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65b6cdb4c43645e6" /><Relationship Type="http://schemas.openxmlformats.org/officeDocument/2006/relationships/notesMaster" Target="/ppt/notesMasters/notesMaster1.xml" Id="Ra73e59acf3304420"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3ebe099346db4b92" /><Relationship Type="http://schemas.openxmlformats.org/officeDocument/2006/relationships/notesMaster" Target="/ppt/notesMasters/notesMaster1.xml" Id="Rd24e693c233c4236"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b65f491dee8a4790" /><Relationship Type="http://schemas.openxmlformats.org/officeDocument/2006/relationships/notesMaster" Target="/ppt/notesMasters/notesMaster1.xml" Id="R3808921630a94190"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98c13857342a48e0" /><Relationship Type="http://schemas.openxmlformats.org/officeDocument/2006/relationships/notesMaster" Target="/ppt/notesMasters/notesMaster1.xml" Id="R0d2d65f5a4004f03"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790c9bedcdb346cf" /><Relationship Type="http://schemas.openxmlformats.org/officeDocument/2006/relationships/notesMaster" Target="/ppt/notesMasters/notesMaster1.xml" Id="R180281a2332c49fd"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61983dc19e7f4187" /><Relationship Type="http://schemas.openxmlformats.org/officeDocument/2006/relationships/notesMaster" Target="/ppt/notesMasters/notesMaster1.xml" Id="R34b134af70b04dce"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8651220fa8f9432a" /><Relationship Type="http://schemas.openxmlformats.org/officeDocument/2006/relationships/notesMaster" Target="/ppt/notesMasters/notesMaster1.xml" Id="R12f769eadcb940b7"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05adcfcb985f40a2" /><Relationship Type="http://schemas.openxmlformats.org/officeDocument/2006/relationships/notesMaster" Target="/ppt/notesMasters/notesMaster1.xml" Id="R1b723e7caf114678" /></Relationships>
</file>

<file path=ppt/notesSlides/_rels/notesSlide201.xml.rels>&#65279;<?xml version="1.0" encoding="utf-8"?><Relationships xmlns="http://schemas.openxmlformats.org/package/2006/relationships"><Relationship Type="http://schemas.openxmlformats.org/officeDocument/2006/relationships/slide" Target="/ppt/slides/slide201.xml" Id="R3596235a5f074367" /><Relationship Type="http://schemas.openxmlformats.org/officeDocument/2006/relationships/notesMaster" Target="/ppt/notesMasters/notesMaster1.xml" Id="R1c4039a4321a4ba2" /></Relationships>
</file>

<file path=ppt/notesSlides/_rels/notesSlide202.xml.rels>&#65279;<?xml version="1.0" encoding="utf-8"?><Relationships xmlns="http://schemas.openxmlformats.org/package/2006/relationships"><Relationship Type="http://schemas.openxmlformats.org/officeDocument/2006/relationships/slide" Target="/ppt/slides/slide202.xml" Id="R5bfaed6b4bf140db" /><Relationship Type="http://schemas.openxmlformats.org/officeDocument/2006/relationships/notesMaster" Target="/ppt/notesMasters/notesMaster1.xml" Id="R08b707cda33a4168" /></Relationships>
</file>

<file path=ppt/notesSlides/_rels/notesSlide203.xml.rels>&#65279;<?xml version="1.0" encoding="utf-8"?><Relationships xmlns="http://schemas.openxmlformats.org/package/2006/relationships"><Relationship Type="http://schemas.openxmlformats.org/officeDocument/2006/relationships/slide" Target="/ppt/slides/slide203.xml" Id="R4117e3efee6d4062" /><Relationship Type="http://schemas.openxmlformats.org/officeDocument/2006/relationships/notesMaster" Target="/ppt/notesMasters/notesMaster1.xml" Id="R9c8a788f365248c2" /></Relationships>
</file>

<file path=ppt/notesSlides/_rels/notesSlide204.xml.rels>&#65279;<?xml version="1.0" encoding="utf-8"?><Relationships xmlns="http://schemas.openxmlformats.org/package/2006/relationships"><Relationship Type="http://schemas.openxmlformats.org/officeDocument/2006/relationships/slide" Target="/ppt/slides/slide204.xml" Id="Ref5b70edd90b4924" /><Relationship Type="http://schemas.openxmlformats.org/officeDocument/2006/relationships/notesMaster" Target="/ppt/notesMasters/notesMaster1.xml" Id="Ra889e27c5a7c4eec" /></Relationships>
</file>

<file path=ppt/notesSlides/_rels/notesSlide205.xml.rels>&#65279;<?xml version="1.0" encoding="utf-8"?><Relationships xmlns="http://schemas.openxmlformats.org/package/2006/relationships"><Relationship Type="http://schemas.openxmlformats.org/officeDocument/2006/relationships/slide" Target="/ppt/slides/slide205.xml" Id="Rf0392b8e973b4d2c" /><Relationship Type="http://schemas.openxmlformats.org/officeDocument/2006/relationships/notesMaster" Target="/ppt/notesMasters/notesMaster1.xml" Id="R72840fdfdfc045ef" /></Relationships>
</file>

<file path=ppt/notesSlides/_rels/notesSlide206.xml.rels>&#65279;<?xml version="1.0" encoding="utf-8"?><Relationships xmlns="http://schemas.openxmlformats.org/package/2006/relationships"><Relationship Type="http://schemas.openxmlformats.org/officeDocument/2006/relationships/slide" Target="/ppt/slides/slide206.xml" Id="Rff4e7b9f6b5841b2" /><Relationship Type="http://schemas.openxmlformats.org/officeDocument/2006/relationships/notesMaster" Target="/ppt/notesMasters/notesMaster1.xml" Id="Rcdcfa70a56c646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홈페이지와 동일한 사례·분석·요구사항 데이터 사용.</a:t>
            </a:r>
          </a:p>
          <a:p xmlns:a="http://schemas.openxmlformats.org/drawingml/2006/main">
            <a:r>
              <a:t>사실과 요구사항은 출처 기준. 아키텍처의 연결·운영 환류는 CCK 논리 설계. 실제 설치 배치도와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a:p xmlns:a="http://schemas.openxmlformats.org/drawingml/2006/main">
            <a:r>
              <a:t>한계: 전세보증과 TS 전세버스는 업무 기준이 다름. 공통 기능만 이식 가능</a:t>
            </a:r>
          </a:p>
          <a:p xmlns:a="http://schemas.openxmlformats.org/drawingml/2006/main">
            <a:r>
              <a:t>실패 위험: OCR 오독에 따른 누락 판단 / 요구 명세와 운영 효과의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a:p xmlns:a="http://schemas.openxmlformats.org/drawingml/2006/main">
            <a:r>
              <a:t>성과 대조</a:t>
            </a:r>
          </a:p>
          <a:p xmlns:a="http://schemas.openxmlformats.org/drawingml/2006/main">
            <a:r>
              <a:t>{</a:t>
            </a:r>
          </a:p>
          <a:p xmlns:a="http://schemas.openxmlformats.org/drawingml/2006/main">
            <a:r>
              <a:t>  "caseId": "PF-R01",</a:t>
            </a:r>
          </a:p>
          <a:p xmlns:a="http://schemas.openxmlformats.org/drawingml/2006/main">
            <a:r>
              <a:t>  "asIs": "전세보증 심사 서류·규정·민원 자료를 담당자가 사건별로 대조하는 업무",</a:t>
            </a:r>
          </a:p>
          <a:p xmlns:a="http://schemas.openxmlformats.org/drawingml/2006/main">
            <a:r>
              <a:t>  "toBe": "사건 ID로 원본·OCR 추출값·필수서류·규정을 연결하고 누락·상충을 표시한 뒤 담당자 확정",</a:t>
            </a:r>
          </a:p>
          <a:p xmlns:a="http://schemas.openxmlformats.org/drawingml/2006/main">
            <a:r>
              <a:t>  "expectedEffect": "서류 대조시간·누락률·재보완 횟수 감소",</a:t>
            </a:r>
          </a:p>
          <a:p xmlns:a="http://schemas.openxmlformats.org/drawingml/2006/main">
            <a:r>
              <a:t>  "observed": "공개 RFP의 목표 구성과 기능요구 확인. 준공·운영 결과 및 전후 성능 공개 근거 없음",</a:t>
            </a:r>
          </a:p>
          <a:p xmlns:a="http://schemas.openxmlformats.org/drawingml/2006/main">
            <a:r>
              <a:t>  "verdict": "성과 미검증",</a:t>
            </a:r>
          </a:p>
          <a:p xmlns:a="http://schemas.openxmlformats.org/drawingml/2006/main">
            <a:r>
              <a:t>  "verdictReason": "목표 아키텍처는 확인되나 추출 정확도·심사시간의 운영 측정치 부재",</a:t>
            </a:r>
          </a:p>
          <a:p xmlns:a="http://schemas.openxmlformats.org/drawingml/2006/main">
            <a:r>
              <a:t>  "limits": "RFP의 목표 구성도는 실제 설치도 아님; 사건 난도와 사람 검토시간을 통제한 기준선 필요",</a:t>
            </a:r>
          </a:p>
          <a:p xmlns:a="http://schemas.openxmlformats.org/drawingml/2006/main">
            <a:r>
              <a:t>  "evidenceStage": "RFP 목표",</a:t>
            </a:r>
          </a:p>
          <a:p xmlns:a="http://schemas.openxmlformats.org/drawingml/2006/main">
            <a:r>
              <a:t>  "sourceUrl": "https://www.g2b.go.kr/pn/pnp/pnpe/UntyAtchFile/downloadFile.do?bidPbancNo=R26BK01639098&amp;bidPbancOrd=000&amp;fileSeq=3&amp;fileType=&amp;prcmBsneSeCd=03"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a:p xmlns:a="http://schemas.openxmlformats.org/drawingml/2006/main">
            <a:r>
              <a:t>원문 도면 {"caseId":"PF-R01","path":"assets/casebook-sources/PF-R01-01.png","title":"HUG AI 인프라·업무시스템 연계","status":"RFP 목표 구성도","caption":"통합 클라우드·GPU Kubernetes·AI 웹서비스·그룹웨어 연계","locator":"rId10 / BinData/image4_jpg","checked":"2026-10-16","sha256":"435b1f344867be6beab5f24852d1c79cba1e48a9361c9e0976f78dab55a1e9c9","explanation":{"read":"클라우드·GPU Kubernetes는 AI 처리 자원, 웹서비스는 직원 접점, 그룹웨어는 기존 업무와의 연결 영역. 인프라 블록만으로 문서 심사 승인 절차까지 구현됐다고 해석하지 않는 구조.","requirements":["SFR-006","SFR-007","SFR-008"],"connection":"문서 반입·검색·추출은 공통 자원을 사용하되 지식검색, 보증이행 심사, 민원답변의 결과 저장·승인 경로는 각각 분리하는 CCK 재구성."}}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한계: 추천답변 도출시간·배정 처리시간·최종 답변 처리시간의 정의와 분모를 구분해야 함</a:t>
            </a:r>
          </a:p>
          <a:p xmlns:a="http://schemas.openxmlformats.org/drawingml/2006/main">
            <a:r>
              <a:t>실패 위험: 다른 사건의 무리한 병합 / 답변 추천을 공식 회신으로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성과 대조</a:t>
            </a:r>
          </a:p>
          <a:p xmlns:a="http://schemas.openxmlformats.org/drawingml/2006/main">
            <a:r>
              <a:t>{</a:t>
            </a:r>
          </a:p>
          <a:p xmlns:a="http://schemas.openxmlformats.org/drawingml/2006/main">
            <a:r>
              <a:t>  "caseId": "PF-R02",</a:t>
            </a:r>
          </a:p>
          <a:p xmlns:a="http://schemas.openxmlformats.org/drawingml/2006/main">
            <a:r>
              <a:t>  "asIs": "민원 유형 분류·유사 건 확인·회신 초안을 담당자가 검색·작성하는 절차",</a:t>
            </a:r>
          </a:p>
          <a:p xmlns:a="http://schemas.openxmlformats.org/drawingml/2006/main">
            <a:r>
              <a:t>  "toBe": "국민신문고 민원과 지침을 정제·검색해 유사 민원·답변을 추천하고 담당자 수정 내역을 환류",</a:t>
            </a:r>
          </a:p>
          <a:p xmlns:a="http://schemas.openxmlformats.org/drawingml/2006/main">
            <a:r>
              <a:t>  "expectedEffect": "분류·답변 준비시간 단축, 중복 민원 분석 정밀화, 오병합 감소",</a:t>
            </a:r>
          </a:p>
          <a:p xmlns:a="http://schemas.openxmlformats.org/drawingml/2006/main">
            <a:r>
              <a:t>  "observed": "공식 서비스 개시 발표 확인. 민원 분류 정확도·오병합률·최종 회신 처리시간의 전후값 미공개",</a:t>
            </a:r>
          </a:p>
          <a:p xmlns:a="http://schemas.openxmlformats.org/drawingml/2006/main">
            <a:r>
              <a:t>  "verdict": "성과 미검증",</a:t>
            </a:r>
          </a:p>
          <a:p xmlns:a="http://schemas.openxmlformats.org/drawingml/2006/main">
            <a:r>
              <a:t>  "verdictReason": "가동 확인은 가능하나 기대한 행정 처리효과를 계측한 공개 결과 부재",</a:t>
            </a:r>
          </a:p>
          <a:p xmlns:a="http://schemas.openxmlformats.org/drawingml/2006/main">
            <a:r>
              <a:t>  "limits": "추천답변 생성시간과 최종 회신시간을 분리해야 함; RFP 데이터흐름은 운영 배치도 아님",</a:t>
            </a:r>
          </a:p>
          <a:p xmlns:a="http://schemas.openxmlformats.org/drawingml/2006/main">
            <a:r>
              <a:t>  "evidenceStage": "RFP 목표 + 서비스 개시",</a:t>
            </a:r>
          </a:p>
          <a:p xmlns:a="http://schemas.openxmlformats.org/drawingml/2006/main">
            <a:r>
              <a:t>  "sourceUrl": "https://www.nia.or.kr/common/board/Download.do?bcIdx=28233&amp;cbIdx=78336&amp;fileNo=2"</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{"caseId":"PF-R02","path":"assets/casebook-sources/PF-R02-01.png","title":"국민소통 플랫폼 목표시스템","status":"RFP 목표시스템 개념도","caption":"접점·API Gateway·업무 모듈·데이터 처리·운영 관리","locator":"NIA_RFP_RFP / BinData/image33_bmp","checked":"2026-10-16","sha256":"91feb890184edf04ccccd8d86995147aa6c2181b0a66c58436263cafccdae911","explanation":{"read":"접점에서 받은 요청을 API Gateway를 통해 민원 답변·분석·중복 식별 모듈로 전달하는 목표 구성. 데이터 처리 계층은 공통 근거를 공급하고 운영 관리 계층은 서비스·모델 상태를 관찰하는 역할.","requirements":["SFR-005","SFR-006","SFR-019","SFR-020"],"connection":"담당자 답변 초안, 유사민원 후보, 정책 분석 결과를 서로 다른 출력 계약으로 정의하고 기존 민원시스템의 확정·회신 절차에 연결하는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{"caseId":"PF-R02","path":"assets/casebook-sources/PF-R02-02.png","title":"키워드·벡터 검색과 Reranker","status":"RFP RAG 구성 예시","caption":"키워드/벡터 검색 병렬 처리 → 재정렬 → 근거 응답","locator":"NIA_RFP_RFP / BinData/image18_bmp","checked":"2026-10-16","sha256":"a6ab4248256ee300422789627dbe5b8f09ec60657419e13d082c95b32f3f4f90","explanation":{"read":"키워드 검색은 정확한 용어·조항의 일치 후보, 벡터 검색은 표현이 다른 유사 의미 후보를 제공. Reranker는 통합 후보를 질의 관련성에 따라 다시 정렬하고 생성 모델에 근거를 전달하는 역할.","requirements":["SFR-005","SFR-006","SFR-011"],"connection":"재정렬 점수를 법적 정답이나 민원 병합 승인으로 해석하지 않고 기관·사건·시점과 출처 일치를 별도로 확인하는 검증 단계의 추가."}}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{"caseId":"PF-R02","path":"assets/casebook-sources/PF-R02-03.png","title":"민원 AI 입출력 데이터","status":"RFP 데이터 흐름도","caption":"국민신문고·시범기관 매뉴얼 → 전처리·RAG → 답변·유사도","locator":"NIA_RFP_RFP / BinData/image34_bmp","checked":"2026-10-16","sha256":"0e09409295bbb0aae0a61666cf01982d012392b3f4bccd2e98499654b4b690d0","explanation":{"read":"국민신문고 데이터와 시범기관 매뉴얼 등 입력을 전처리·RAG 경로에 투입하고 업무별 답변·유사도 결과로 변환하는 입출력 구조. 동일 원천을 이용하더라도 답변과 군집의 산출물은 별도 관리 대상.","requirements":["SFR-005","SFR-006","SFR-015","SFR-018"],"connection":"원천 민원 ID·문서 판본·근거 위치를 결과에 유지해 담당자 수정과 최종 회신의 차이를 재현할 수 있도록 하는 데이터 계약."}}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{"caseId":"PF-R02","path":"assets/casebook-sources/PF-R02-04.png","title":"데이터 구축·학습·운영 흐름","status":"RFP 데이터 처리 구조","caption":"수집·정제·가공·학습·운영의 환류","locator":"NIA_RFP_RFP / BinData/image32_png","checked":"2026-10-16","sha256":"b6c466b110d91bceff5a9f806d658aa54f010e0a5b8a358a16771181bea77c50","explanation":{"read":"수집·정제·가공·학습·운영이 연결된 데이터 생애주기. 온라인 요청 처리와 모델·지식 갱신의 작업이 서로 다른 주기로 수행되는 구성.","requirements":["SFR-015","SFR-018","SFR-020"],"connection":"원천 변경 시 수집 완료·정제 완료·색인 반영 상태를 분리하고 실패 자료만 재처리하는 운영 설계. 검토 피드백의 자동 학습 투입 전 품질 확인 단계 필요."}}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a:p xmlns:a="http://schemas.openxmlformats.org/drawingml/2006/main">
            <a:r>
              <a:t>한계: 연구원 외부 TechGPT 성과와 본 내부사업을 혼동하지 않음</a:t>
            </a:r>
          </a:p>
          <a:p xmlns:a="http://schemas.openxmlformats.org/drawingml/2006/main">
            <a:r>
              <a:t>실패 위험: 검색 재정렬의 근거 누락 / 후속 공고와 도입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a:p xmlns:a="http://schemas.openxmlformats.org/drawingml/2006/main">
            <a:r>
              <a:t>성과 대조</a:t>
            </a:r>
          </a:p>
          <a:p xmlns:a="http://schemas.openxmlformats.org/drawingml/2006/main">
            <a:r>
              <a:t>{</a:t>
            </a:r>
          </a:p>
          <a:p xmlns:a="http://schemas.openxmlformats.org/drawingml/2006/main">
            <a:r>
              <a:t>  "caseId": "PF-R03",</a:t>
            </a:r>
          </a:p>
          <a:p xmlns:a="http://schemas.openxmlformats.org/drawingml/2006/main">
            <a:r>
              <a:t>  "asIs": "기존 연구행정 정보시스템과 검색·문서 작성 기능을 직원이 각각 사용하는 상태",</a:t>
            </a:r>
          </a:p>
          <a:p xmlns:a="http://schemas.openxmlformats.org/drawingml/2006/main">
            <a:r>
              <a:t>  "toBe": "소속·직무·권한을 검색 재정렬과 연구행정 에이전트·정형문서 생성에 연결",</a:t>
            </a:r>
          </a:p>
          <a:p xmlns:a="http://schemas.openxmlformats.org/drawingml/2006/main">
            <a:r>
              <a:t>  "expectedEffect": "직무별 검색·문서 작성시간 감소와 과업 성공률 향상",</a:t>
            </a:r>
          </a:p>
          <a:p xmlns:a="http://schemas.openxmlformats.org/drawingml/2006/main">
            <a:r>
              <a:t>  "observed": "후속 고도화 RFP 확인. 제시된 정보시스템 그림은 기존 현황이며 AI 목표 배치·계약·운영 성과 미확인",</a:t>
            </a:r>
          </a:p>
          <a:p xmlns:a="http://schemas.openxmlformats.org/drawingml/2006/main">
            <a:r>
              <a:t>  "verdict": "성과 미검증",</a:t>
            </a:r>
          </a:p>
          <a:p xmlns:a="http://schemas.openxmlformats.org/drawingml/2006/main">
            <a:r>
              <a:t>  "verdictReason": "기존 시스템 현황을 신규 AI 구현 성과로 볼 수 없고 전후 비교값 없음",</a:t>
            </a:r>
          </a:p>
          <a:p xmlns:a="http://schemas.openxmlformats.org/drawingml/2006/main">
            <a:r>
              <a:t>  "limits": "외부 TechGPT 성과와 별도 사업; 전보 후 권한 및 부서별 토큰비용 검수 필요",</a:t>
            </a:r>
          </a:p>
          <a:p xmlns:a="http://schemas.openxmlformats.org/drawingml/2006/main">
            <a:r>
              <a:t>  "evidenceStage": "후속 RFP 목표",</a:t>
            </a:r>
          </a:p>
          <a:p xmlns:a="http://schemas.openxmlformats.org/drawingml/2006/main">
            <a:r>
              <a:t>  "sourceUrl": "https://www.g2b.go.kr/pn/pnp/pnpe/UntyAtchFile/downloadFile.do?bidPbancNo=R26BK01670411&amp;bidPbancOrd=000&amp;fileType=&amp;fileSeq=1&amp;prcmBsneSeCd=03"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a:p xmlns:a="http://schemas.openxmlformats.org/drawingml/2006/main">
            <a:r>
              <a:t>원문 도면 {"caseId":"PF-R03","path":"assets/casebook-sources/PF-R03-01.png","title":"생산기술연구원 정보시스템 연계","status":"RFP 수록 기존 정보시스템 현황","caption":"연구행정·경영정보·업무지원·지능형 포털 간 연계","locator":"rId13 / BinData/BIN0002_png","checked":"2026-10-16","sha256":"0b49ad15a2d50888b15fdc4d6bb439874425106d7d0a2cf9b92b1c3debb0025b","explanation":{"read":"연구행정·경영정보·업무지원과 지능형 포털의 기존 연결 현황. 새 AI 모델의 배치도가 아니라 어떤 업무 데이터와 시스템을 고도화 시 연결해야 하는지를 보여 주는 원문.","requirements":["SFR-003","SFR-004","SFR-007","SFR-010"],"connection":"기존 사용자·조직·권한과 연구행정 자료를 재사용하고 직무별 검색, 도메인 도구, 정형 문서 생성을 추가하는 대상 경계의 설정."}}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한계: Temperature를 상세도와 동일시한 원문 표현은 구현 검증 필요</a:t>
            </a:r>
          </a:p>
          <a:p xmlns:a="http://schemas.openxmlformats.org/drawingml/2006/main">
            <a:r>
              <a:t>실패 위험: 부서 자료의 권한 혼입 / 계약 발표를 안전 품질 검수로 간주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성과 대조</a:t>
            </a:r>
          </a:p>
          <a:p xmlns:a="http://schemas.openxmlformats.org/drawingml/2006/main">
            <a:r>
              <a:t>{</a:t>
            </a:r>
          </a:p>
          <a:p xmlns:a="http://schemas.openxmlformats.org/drawingml/2006/main">
            <a:r>
              <a:t>  "caseId": "PF-R04",</a:t>
            </a:r>
          </a:p>
          <a:p xmlns:a="http://schemas.openxmlformats.org/drawingml/2006/main">
            <a:r>
              <a:t>  "asIs": "안전 규정·점검문서의 판본 확인과 대조를 담당자가 수행하는 상태",</a:t>
            </a:r>
          </a:p>
          <a:p xmlns:a="http://schemas.openxmlformats.org/drawingml/2006/main">
            <a:r>
              <a:t>  "toBe": "안전 LLM과 승인된 지식공간을 연결해 최신 규정 검색·문서 상충 표시·담당자 검토 지원",</a:t>
            </a:r>
          </a:p>
          <a:p xmlns:a="http://schemas.openxmlformats.org/drawingml/2006/main">
            <a:r>
              <a:t>  "expectedEffect": "구판 인용·안전 검토 누락·개정 반영 지연 감소",</a:t>
            </a:r>
          </a:p>
          <a:p xmlns:a="http://schemas.openxmlformats.org/drawingml/2006/main">
            <a:r>
              <a:t>  "observed": "공식 RFP와 공급사 계약 발표 확인. 사고 예방·검토 누락·판본 오류의 운영 전후값 미공개",</a:t>
            </a:r>
          </a:p>
          <a:p xmlns:a="http://schemas.openxmlformats.org/drawingml/2006/main">
            <a:r>
              <a:t>  "verdict": "성과 미검증",</a:t>
            </a:r>
          </a:p>
          <a:p xmlns:a="http://schemas.openxmlformats.org/drawingml/2006/main">
            <a:r>
              <a:t>  "verdictReason": "계약은 사업 진행 근거이나 안전 업무효과를 입증하지 않음",</a:t>
            </a:r>
          </a:p>
          <a:p xmlns:a="http://schemas.openxmlformats.org/drawingml/2006/main">
            <a:r>
              <a:t>  "limits": "RFP 예시 구성도와 실제 망 배치 구분; 공급사 발표는 독립 평가가 아님",</a:t>
            </a:r>
          </a:p>
          <a:p xmlns:a="http://schemas.openxmlformats.org/drawingml/2006/main">
            <a:r>
              <a:t>  "evidenceStage": "RFP 목표 + 계약 발표",</a:t>
            </a:r>
          </a:p>
          <a:p xmlns:a="http://schemas.openxmlformats.org/drawingml/2006/main">
            <a:r>
              <a:t>  "sourceUrl": "https://www.g2b.go.kr/pn/pnp/pnpe/UntyAtchFile/downloadFile.do?bidPbancNo=R25BK00790330&amp;bidPbancOrd=000&amp;fileSeq=8&amp;fileType="</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원문 도면 {"caseId":"PF-R04","path":"assets/casebook-sources/PF-R04-01.png","title":"안전 AI H/W 구성","status":"과업내용서 H/W 구성도 예시","caption":"DMZ AI 서치와 내부 안전 AI·RAG·LLM·DB 구성","locator":"rId14 / BinData/BIN0001_bmp","checked":"2026-10-16","sha256":"47450653a73f8241e06210e73728a502e3d332cafb949494da1a9833622e77a3","explanation":{"read":"DMZ와 내부 영역의 AI 서치·안전 AI·RAG·LLM·DB 배치를 구분한 H/W 구성 예시. 외부 접점과 내부 지식의 접근 경계를 인프라 관점에서 표현.","requirements":["SFR-005","SFR-006","SFR-007"],"connection":"공개 조회와 내부 안전 문서의 경계를 분리하고 개인·부서 지식공간의 권한이 검색과 응답 양쪽에 적용되는지 확인하는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원문 도면 {"caseId":"PF-R04","path":"assets/casebook-sources/PF-R04-02.png","title":"안전 AI S/W 구성","status":"과업내용서 S/W 구성도 예시","caption":"안전 지식·RAG와 외부 LLM API 업무 지원의 구분","locator":"rId14 / BinData/BIN0002_bmp","checked":"2026-10-16","sha256":"607e9e60f0ab618fa7cdca53b108478e11e89b59866b5f5e7bd063e5d01aac5c","explanation":{"read":"안전 지식의 검색·RAG 경로와 외부 모델 API를 활용하는 업무 지원 경로를 구분한 S/W 구성 예시. 문서 최신화와 지식공간 관리는 생성 기능을 유지하기 위한 별도 운영 기능.","requirements":["SFR-005","SFR-006","SFR-007","SFR-008"],"connection":"외부 모델로 전송할 입력 범위, 문서 개정 후 색인 갱신, 청크 오류와 임베딩 재처리의 상태를 서로 구분하는 서비스·운영 계약."}}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한계: 착수자료의 2025년 11월 예정과 실제 개시·정량 성과를 구분</a:t>
            </a:r>
          </a:p>
          <a:p xmlns:a="http://schemas.openxmlformats.org/drawingml/2006/main">
            <a:r>
              <a:t>실패 위험: 마감·지역·자격조건 오안내 / 착수와 정식 운영 성과의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성과 대조</a:t>
            </a:r>
          </a:p>
          <a:p xmlns:a="http://schemas.openxmlformats.org/drawingml/2006/main">
            <a:r>
              <a:t>{</a:t>
            </a:r>
          </a:p>
          <a:p xmlns:a="http://schemas.openxmlformats.org/drawingml/2006/main">
            <a:r>
              <a:t>  "caseId": "PF-R05",</a:t>
            </a:r>
          </a:p>
          <a:p xmlns:a="http://schemas.openxmlformats.org/drawingml/2006/main">
            <a:r>
              <a:t>  "asIs": "도민이 정책·복지·공고 메뉴를 순회하며 지역·대상·마감조건을 직접 비교",</a:t>
            </a:r>
          </a:p>
          <a:p xmlns:a="http://schemas.openxmlformats.org/drawingml/2006/main">
            <a:r>
              <a:t>  "toBe": "자연어 의도·지역 조건으로 최신 공고를 비교·설명하고 공식 원문·신청 경로로 연결",</a:t>
            </a:r>
          </a:p>
          <a:p xmlns:a="http://schemas.openxmlformats.org/drawingml/2006/main">
            <a:r>
              <a:t>  "expectedEffect": "유효 공고 도달률 향상, 탐색시간·이용 포기율 감소",</a:t>
            </a:r>
          </a:p>
          <a:p xmlns:a="http://schemas.openxmlformats.org/drawingml/2006/main">
            <a:r>
              <a:t>  "observed": "공식 RFP·착수 발표 확인. 계획한 개시일과 실제 운영·도달률·신청 전환 실적은 별도 확인 불가",</a:t>
            </a:r>
          </a:p>
          <a:p xmlns:a="http://schemas.openxmlformats.org/drawingml/2006/main">
            <a:r>
              <a:t>  "verdict": "성과 미검증",</a:t>
            </a:r>
          </a:p>
          <a:p xmlns:a="http://schemas.openxmlformats.org/drawingml/2006/main">
            <a:r>
              <a:t>  "verdictReason": "착수는 서비스 품질이나 국민의 실제 업무 완료를 보여주지 않음",</a:t>
            </a:r>
          </a:p>
          <a:p xmlns:a="http://schemas.openxmlformats.org/drawingml/2006/main">
            <a:r>
              <a:t>  "limits": "동일 지역·신청 자격·마감일 기준 비교군 필요; 안내와 신청 완료 구분",</a:t>
            </a:r>
          </a:p>
          <a:p xmlns:a="http://schemas.openxmlformats.org/drawingml/2006/main">
            <a:r>
              <a:t>  "evidenceStage": "RFP 목표 + 착수",</a:t>
            </a:r>
          </a:p>
          <a:p xmlns:a="http://schemas.openxmlformats.org/drawingml/2006/main">
            <a:r>
              <a:t>  "sourceUrl": "https://www.g2b.go.kr/pn/pnp/pnpe/UntyAtchFile/downloadFile.do?bidPbancNo=R25BK00751232&amp;bidPbancOrd=000&amp;fileType=&amp;fileSeq=2&amp;prcmBsneSeCd=03"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원문 도면 {"caseId":"PF-R05","path":"assets/casebook-sources/PF-R05-01.png","title":"홈페이지 AI 목표기능","status":"RFP 목표기능 구성도","caption":"챗봇·RAG·데이터 파이프라인·모델 관리의 분리","locator":"rId17 / BinData/image3_png","checked":"2026-10-16","sha256":"dbf8455e9d661c8a3db51e5677f25fc751cb2ade3a7b0abaf602d57a8aaf1ba8","explanation":{"read":"도민의 대화형 탐색 접점에서 정책·복지·공고 정보의 검색과 AI 응답을 제공하는 목표 기능 구조. 대화 응답 이후 실제 신청 서비스로 이동하는 연결이 업무 완료의 다음 단계.","requirements":["SFR-003","SFR-004","SFR-005","SFR-006"],"connection":"지역·대상·신청기간의 추가 질문과 공식 신청 링크를 구성하고 답변 정확도와 신청 화면 도달률을 분리해 평가하는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원문 도면 {"caseId":"PF-R05","path":"assets/casebook-sources/PF-R05-02.png","title":"홈페이지–RAG–외부 LLM","status":"RFP 서비스 아키텍처 구성도","caption":"홈페이지 RDB → 공공클라우드 Vector DB → 외부 LLM","locator":"rId17 / BinData/image4_bmp","checked":"2026-10-16","sha256":"04b7bff411913589529c68490addbddd2c84b7abce61ecd7c873e971bab7bf7e","explanation":{"read":"홈페이지 RDB의 자료를 공공클라우드 검색 계층으로 반영하고 검색 근거를 외부 LLM에 전달하는 구조. 원천 데이터 갱신과 이용자 질문의 실시간 처리를 나누는 연결.","requirements":["SFR-003","SFR-004","SFR-005"],"connection":"원천 수정·종료·삭제가 색인에 반영되는지 추적하고 외부 전송 문맥과 답변 인용의 출처·판본을 보존하는 데이터 흐름."}}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a:p xmlns:a="http://schemas.openxmlformats.org/drawingml/2006/main">
            <a:r>
              <a:t>한계: RFP 요구 범위 · MIS API 계층 신규 개발 포함 · 운영 성과와 구분</a:t>
            </a:r>
          </a:p>
          <a:p xmlns:a="http://schemas.openxmlformats.org/drawingml/2006/main">
            <a:r>
              <a:t>실패 위험: 잘못된 날짜·출장 항목 추출 / 재시도에 따른 중복 신청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a:p xmlns:a="http://schemas.openxmlformats.org/drawingml/2006/main">
            <a:r>
              <a:t>성과 대조</a:t>
            </a:r>
          </a:p>
          <a:p xmlns:a="http://schemas.openxmlformats.org/drawingml/2006/main">
            <a:r>
              <a:t>{</a:t>
            </a:r>
          </a:p>
          <a:p xmlns:a="http://schemas.openxmlformats.org/drawingml/2006/main">
            <a:r>
              <a:t>  "caseId": "PF-R06",</a:t>
            </a:r>
          </a:p>
          <a:p xmlns:a="http://schemas.openxmlformats.org/drawingml/2006/main">
            <a:r>
              <a:t>  "asIs": "휴가·출장·복명 신청을 직원이 MIS와 전자결재에 직접 입력·상신",</a:t>
            </a:r>
          </a:p>
          <a:p xmlns:a="http://schemas.openxmlformats.org/drawingml/2006/main">
            <a:r>
              <a:t>  "toBe": "음성·자연어로 신청 내용을 구조화하고 사용자 확인 뒤 신규 MIS API·결재선으로 기안",</a:t>
            </a:r>
          </a:p>
          <a:p xmlns:a="http://schemas.openxmlformats.org/drawingml/2006/main">
            <a:r>
              <a:t>  "expectedEffect": "입력·상신시간 및 재입력·중복 신청 감소",</a:t>
            </a:r>
          </a:p>
          <a:p xmlns:a="http://schemas.openxmlformats.org/drawingml/2006/main">
            <a:r>
              <a:t>  "observed": "공식 RFP의 신규 API 요구와 기존 정보시스템 현황도 확인. 자동 신청·결재 운영 결과 미확인",</a:t>
            </a:r>
          </a:p>
          <a:p xmlns:a="http://schemas.openxmlformats.org/drawingml/2006/main">
            <a:r>
              <a:t>  "verdict": "성과 미검증",</a:t>
            </a:r>
          </a:p>
          <a:p xmlns:a="http://schemas.openxmlformats.org/drawingml/2006/main">
            <a:r>
              <a:t>  "verdictReason": "기존 시스템 그림은 AI To-Be 구현 증거가 아니며 신청 완료율·오접수 실측 없음",</a:t>
            </a:r>
          </a:p>
          <a:p xmlns:a="http://schemas.openxmlformats.org/drawingml/2006/main">
            <a:r>
              <a:t>  "limits": "직원 확인과 공식 접수번호 수신을 별도 검수; 인사이동 후 결재선 변경 반영 필요",</a:t>
            </a:r>
          </a:p>
          <a:p xmlns:a="http://schemas.openxmlformats.org/drawingml/2006/main">
            <a:r>
              <a:t>  "evidenceStage": "RFP 목표",</a:t>
            </a:r>
          </a:p>
          <a:p xmlns:a="http://schemas.openxmlformats.org/drawingml/2006/main">
            <a:r>
              <a:t>  "sourceUrl": "https://www.g2b.go.kr/pn/pnp/pnpe/UntyAtchFile/downloadFile.do?bidPbancNo=R26BK01719764&amp;bidPbancOrd=000&amp;fileSeq=4&amp;fileType=&amp;prcmBsneSeCd=03"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a:p xmlns:a="http://schemas.openxmlformats.org/drawingml/2006/main">
            <a:r>
              <a:t>원문 도면 {"caseId":"PF-R06","path":"assets/casebook-sources/PF-R06-01.png","title":"철도기술연구원 업무시스템","status":"RFP 수록 기존 시스템 구성","caption":"협업 포털·통합경영정보·전자결재·외부 연계 현황","locator":"rId18 / BinData/image1_bmp","checked":"2026-10-16","sha256":"419b833abe927fb60c98c0b17c83b79039658d9fc8f1bf2295db634a55a2c424","explanation":{"read":"포털·MIS·전자결재의 기존 정보시스템 구성. 음성 AI의 신규 배치가 아니라 행정 요청을 실제 처리할 기간계와 결재 경로의 현황을 설명하는 도면.","requirements":["FUR-003","FUR-004","FUR-007","FUR-009"],"connection":"STT·의도 추출·사용자 확인을 앞단에 추가하고 기존 MIS API·결재선으로 인계하는 재구성. 음성 인식 성공과 업무 등록 성공을 별도 상태로 관리."}}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a:p xmlns:a="http://schemas.openxmlformats.org/drawingml/2006/main">
            <a:r>
              <a:t>한계: 사전본 동시300명→본공고100명. 오픈소스 모델/라이브러리 문구→외부 생성형AI API+RAG 방식</a:t>
            </a:r>
          </a:p>
          <a:p xmlns:a="http://schemas.openxmlformats.org/drawingml/2006/main">
            <a:r>
              <a:t>실패 위험: 구버전 법령·상충 답변 / 입찰 요구를 구현 기능으로 인식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a:p xmlns:a="http://schemas.openxmlformats.org/drawingml/2006/main">
            <a:r>
              <a:t>성과 대조</a:t>
            </a:r>
          </a:p>
          <a:p xmlns:a="http://schemas.openxmlformats.org/drawingml/2006/main">
            <a:r>
              <a:t>{</a:t>
            </a:r>
          </a:p>
          <a:p xmlns:a="http://schemas.openxmlformats.org/drawingml/2006/main">
            <a:r>
              <a:t>  "caseId": "PF-R07",</a:t>
            </a:r>
          </a:p>
          <a:p xmlns:a="http://schemas.openxmlformats.org/drawingml/2006/main">
            <a:r>
              <a:t>  "asIs": "스팸 관련 법령·자율규제 문의에 상담·홈페이지 자료로 대응",</a:t>
            </a:r>
          </a:p>
          <a:p xmlns:a="http://schemas.openxmlformats.org/drawingml/2006/main">
            <a:r>
              <a:t>  "toBe": "최신 법령·체크리스트 RAG로 근거형 답변을 제공하고 답변 불가·전문가 평가를 운영",</a:t>
            </a:r>
          </a:p>
          <a:p xmlns:a="http://schemas.openxmlformats.org/drawingml/2006/main">
            <a:r>
              <a:t>  "expectedEffect": "응답 속도와 근거 적합도 개선, 오안내·재문의 감소",</a:t>
            </a:r>
          </a:p>
          <a:p xmlns:a="http://schemas.openxmlformats.org/drawingml/2006/main">
            <a:r>
              <a:t>  "observed": "최종 본공고 첨부 확인. 사전본과 본공고의 동시접속·모델 방식 변경은 확인되나 구축 성과 없음",</a:t>
            </a:r>
          </a:p>
          <a:p xmlns:a="http://schemas.openxmlformats.org/drawingml/2006/main">
            <a:r>
              <a:t>  "verdict": "성과 미검증",</a:t>
            </a:r>
          </a:p>
          <a:p xmlns:a="http://schemas.openxmlformats.org/drawingml/2006/main">
            <a:r>
              <a:t>  "verdictReason": "입찰 요구 변경은 결과가 아니며 전문가 평가·실사용 부하 결과 미공개",</a:t>
            </a:r>
          </a:p>
          <a:p xmlns:a="http://schemas.openxmlformats.org/drawingml/2006/main">
            <a:r>
              <a:t>  "limits": "사전본 수치를 최종 요구로 재사용 금지; 법령 효력일별 정답·보류 평가 필요",</a:t>
            </a:r>
          </a:p>
          <a:p xmlns:a="http://schemas.openxmlformats.org/drawingml/2006/main">
            <a:r>
              <a:t>  "evidenceStage": "본공고 RFP 목표",</a:t>
            </a:r>
          </a:p>
          <a:p xmlns:a="http://schemas.openxmlformats.org/drawingml/2006/main">
            <a:r>
              <a:t>  "sourceUrl": "https://www.kisa.kr/post/fileDownload?menuSeq=403&amp;postSeq=10891&amp;attachSeq=2&amp;lang_type=KO"</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a:p xmlns:a="http://schemas.openxmlformats.org/drawingml/2006/main">
            <a:r>
              <a:t>이미지 모델 재구성 {"path":"assets/casebook-reconstructions/PF-R07.png","title":"KISA 스팸 민원 AI · RFP 기반 서비스 흐름 재구성","basis":"최종 RFP SFR-001~006·QUR-001","method":"이미지 모델 생성 후 RFP 요구와 경로 대조","status":"CCK 분석 재구성 · 원문 도면 아님","sha256":"e4c175bd06fd2572567d1c70407d3261570f247eabf211022a9096c60ed63637"}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한계: 학습용 FAQ500건과 서비스별 검증셋500건은 별도 요구. 계획상 수치를 운영 실적으로 사용하지 않음</a:t>
            </a:r>
          </a:p>
          <a:p xmlns:a="http://schemas.openxmlformats.org/drawingml/2006/main">
            <a:r>
              <a:t>실패 위험: DRM·접근권한 전파 누락 / 금융 산식·단위 오류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성과 대조</a:t>
            </a:r>
          </a:p>
          <a:p xmlns:a="http://schemas.openxmlformats.org/drawingml/2006/main">
            <a:r>
              <a:t>{</a:t>
            </a:r>
          </a:p>
          <a:p xmlns:a="http://schemas.openxmlformats.org/drawingml/2006/main">
            <a:r>
              <a:t>  "caseId": "PF-R08",</a:t>
            </a:r>
          </a:p>
          <a:p xmlns:a="http://schemas.openxmlformats.org/drawingml/2006/main">
            <a:r>
              <a:t>  "asIs": "대국민 안내·내부 질의·금융위원회 안건 검색과 데이터 목록 관리가 분리",</a:t>
            </a:r>
          </a:p>
          <a:p xmlns:a="http://schemas.openxmlformats.org/drawingml/2006/main">
            <a:r>
              <a:t>  "toBe": "권한·망·DRM을 연계한 챗봇과 안건 검색·카탈로그를 공통 플랫폼으로 제공",</a:t>
            </a:r>
          </a:p>
          <a:p xmlns:a="http://schemas.openxmlformats.org/drawingml/2006/main">
            <a:r>
              <a:t>  "expectedEffect": "안건 검토시간 감소, 데이터 원천 추적 및 비인가 노출 통제",</a:t>
            </a:r>
          </a:p>
          <a:p xmlns:a="http://schemas.openxmlformats.org/drawingml/2006/main">
            <a:r>
              <a:t>  "observed": "사전규격 RFP와 공급사 계약 발표 확인. 최종 요구사항·준공 품질·권한 오노출 실적 미확인",</a:t>
            </a:r>
          </a:p>
          <a:p xmlns:a="http://schemas.openxmlformats.org/drawingml/2006/main">
            <a:r>
              <a:t>  "verdict": "성과 미검증",</a:t>
            </a:r>
          </a:p>
          <a:p xmlns:a="http://schemas.openxmlformats.org/drawingml/2006/main">
            <a:r>
              <a:t>  "verdictReason": "계약과 시험셋 요구만으로 서비스별 정확도·보안 성과 판단 불가",</a:t>
            </a:r>
          </a:p>
          <a:p xmlns:a="http://schemas.openxmlformats.org/drawingml/2006/main">
            <a:r>
              <a:t>  "limits": "FAQ 학습자료와 검증셋의 규모·용도를 혼동하지 않아야 함",</a:t>
            </a:r>
          </a:p>
          <a:p xmlns:a="http://schemas.openxmlformats.org/drawingml/2006/main">
            <a:r>
              <a:t>  "evidenceStage": "사전규격 RFP + 계약 발표",</a:t>
            </a:r>
          </a:p>
          <a:p xmlns:a="http://schemas.openxmlformats.org/drawingml/2006/main">
            <a:r>
              <a:t>  "sourceUrl": "https://www.g2b.go.kr/pn/pnz/pnza/UntyAtchFile/downloadFile.do?bfSpecRegNo=R26BD00217546&amp;fileType=BFDTL&amp;fileSeq=1"</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원문 도면 {"caseId":"PF-R08","path":"assets/casebook-sources/PF-R08-01.png","title":"대민·임직원 AI 서비스 분리","status":"사전공개 RFP 목표 구성도","caption":"보안·서비스·데이터·관리 서브넷과 SSO·업무 데이터 경계","locator":"rId20 / BinData/BIN0002_bmp","checked":"2026-10-16","sha256":"dbd84b9d88acec3c54802ec4cc6eacaf8a872223e2a7ee89fadf50a173e38803","explanation":{"read":"사전공개 요구의 대국민·임직원 서비스와 데이터·네트워크 경계를 구분한 목표 구성. 공개 상담용 자료와 내부 안건·업무 자료를 서비스·저장 계층에서 분리하는 구조.","requirements":["SFR-003","SFR-004","SFR-005","SFR-009"],"connection":"같은 AI 기반을 쓰더라도 공개·내부 검색 범위와 문서 반입 경로를 별도로 검수하고 사용자 문맥·SSO·DRM 등 기존 통제와 연결하는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원문 도면 {"caseId":"PF-R08","path":"assets/casebook-sources/PF-R08-02.png","title":"데이터 카탈로그·업무 매핑","status":"사전공개 RFP 데이터 구성도","caption":"대시보드·통합검색·데이터등록·표준·품질과 업무 매핑","locator":"rId20 / BinData/BIN0001_bmp","checked":"2026-10-16","sha256":"e91edef465c1a60d5edcd6288eefa4a5d158cd9980b9b941428685ef6e32a0f5","explanation":{"read":"카탈로그와 MDMS·ECM 등 기존 데이터·문서 체계의 업무 연결. AI 답변에 앞서 어떤 데이터가 존재하고 누가 관리하며 어떤 업무에서 쓰는지 찾을 수 있도록 하는 정보 기반.","requirements":["SFR-012","SFR-013","SFR-014"],"connection":"TS의 조직·업무 ID와 데이터 자산·소관 부서를 연결하고 문서 검색 권한과 카탈로그 설명의 공개 범위를 분리해 관리하는 적용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a:p xmlns:a="http://schemas.openxmlformats.org/drawingml/2006/main">
            <a:r>
              <a:t>한계: 별도 과제(오피넷 AICC·적정유가 등)를 이번 개발로 합산하지 않음</a:t>
            </a:r>
          </a:p>
          <a:p xmlns:a="http://schemas.openxmlformats.org/drawingml/2006/main">
            <a:r>
              <a:t>실패 위험: 도메인 지식의 혼합 / 안전·시추 권고를 자동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a:p xmlns:a="http://schemas.openxmlformats.org/drawingml/2006/main">
            <a:r>
              <a:t>성과 대조</a:t>
            </a:r>
          </a:p>
          <a:p xmlns:a="http://schemas.openxmlformats.org/drawingml/2006/main">
            <a:r>
              <a:t>{</a:t>
            </a:r>
          </a:p>
          <a:p xmlns:a="http://schemas.openxmlformats.org/drawingml/2006/main">
            <a:r>
              <a:t>  "caseId": "PF-R09",</a:t>
            </a:r>
          </a:p>
          <a:p xmlns:a="http://schemas.openxmlformats.org/drawingml/2006/main">
            <a:r>
              <a:t>  "asIs": "인사복지·안전·시추·지질·비축설비·시장보고가 다른 데이터와 절차로 처리",</a:t>
            </a:r>
          </a:p>
          <a:p xmlns:a="http://schemas.openxmlformats.org/drawingml/2006/main">
            <a:r>
              <a:t>  "toBe": "공통 챗봇·에이전트 기반에 여섯 도메인의 ERP·문서·정형데이터 연결과 전용 업무화면 구성",</a:t>
            </a:r>
          </a:p>
          <a:p xmlns:a="http://schemas.openxmlformats.org/drawingml/2006/main">
            <a:r>
              <a:t>  "expectedEffect": "업무 분류·근거 적합도 향상과 신규 도메인 구축 공수 감소",</a:t>
            </a:r>
          </a:p>
          <a:p xmlns:a="http://schemas.openxmlformats.org/drawingml/2006/main">
            <a:r>
              <a:t>  "observed": "정정 RFP의 여섯 과제 범위 확인. 각 과제 준공·사용·시간절감 및 실제 공통화율 미확인",</a:t>
            </a:r>
          </a:p>
          <a:p xmlns:a="http://schemas.openxmlformats.org/drawingml/2006/main">
            <a:r>
              <a:t>  "verdict": "성과 미검증",</a:t>
            </a:r>
          </a:p>
          <a:p xmlns:a="http://schemas.openxmlformats.org/drawingml/2006/main">
            <a:r>
              <a:t>  "verdictReason": "계획된 공통기반 재사용이 실제 재사용 효과로 측정되지 않음",</a:t>
            </a:r>
          </a:p>
          <a:p xmlns:a="http://schemas.openxmlformats.org/drawingml/2006/main">
            <a:r>
              <a:t>  "limits": "오피넷 AICC 등 다른 사업 성과와 합산 금지; 도메인별 기준선 필요",</a:t>
            </a:r>
          </a:p>
          <a:p xmlns:a="http://schemas.openxmlformats.org/drawingml/2006/main">
            <a:r>
              <a:t>  "evidenceStage": "정정 RFP 목표",</a:t>
            </a:r>
          </a:p>
          <a:p xmlns:a="http://schemas.openxmlformats.org/drawingml/2006/main">
            <a:r>
              <a:t>  "sourceUrl": "https://www.g2b.go.kr/pn/pnp/pnpe/UntyAtchFile/downloadFile.do?bidPbancNo=R26BK01705928&amp;bidPbancOrd=001&amp;fileSeq=4&amp;fileType=&amp;prcmBsneSeCd=03"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a:p xmlns:a="http://schemas.openxmlformats.org/drawingml/2006/main">
            <a:r>
              <a:t>이미지 모델 재구성 {"path":"assets/casebook-reconstructions/PF-R09.png","title":"석유공사 생성형 AI · 6개 업무 영역 재구성","basis":"정정 RFP SER-001~004·FUR-001~006","method":"이미지 모델 생성 후 RFP 요구와 경로 대조","status":"CCK 분석 재구성 · 원문 도면 아님","sha256":"23cb5bd40e90220c6e266428f74d1ed719a884bce99a06dd57d9b2542fc377e7"}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a:p xmlns:a="http://schemas.openxmlformats.org/drawingml/2006/main">
            <a:r>
              <a:t>한계: 시범 개시와 범정부 확산 계획의 구분 · 업무시간 절감 실측 별도</a:t>
            </a:r>
          </a:p>
          <a:p xmlns:a="http://schemas.openxmlformats.org/drawingml/2006/main">
            <a:r>
              <a:t>실패 위험: 범용 답변과 적용 조문 판단의 차이 / 시범 서비스의 성과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a:p xmlns:a="http://schemas.openxmlformats.org/drawingml/2006/main">
            <a:r>
              <a:t>성과 대조</a:t>
            </a:r>
          </a:p>
          <a:p xmlns:a="http://schemas.openxmlformats.org/drawingml/2006/main">
            <a:r>
              <a:t>{</a:t>
            </a:r>
          </a:p>
          <a:p xmlns:a="http://schemas.openxmlformats.org/drawingml/2006/main">
            <a:r>
              <a:t>  "caseId": "PF01",</a:t>
            </a:r>
          </a:p>
          <a:p xmlns:a="http://schemas.openxmlformats.org/drawingml/2006/main">
            <a:r>
              <a:t>  "asIs": "기관별 AI 도입·법령 검색 환경과 업무 지식 연결 방식이 제각각인 상태",</a:t>
            </a:r>
          </a:p>
          <a:p xmlns:a="http://schemas.openxmlformats.org/drawingml/2006/main">
            <a:r>
              <a:t>  "toBe": "범정부 공통 AI 이용환경 위에 법령·판례 지식과 기관별 법령비서 업무앱을 구성",</a:t>
            </a:r>
          </a:p>
          <a:p xmlns:a="http://schemas.openxmlformats.org/drawingml/2006/main">
            <a:r>
              <a:t>  "expectedEffect": "반복 구축비 감소, 법령 검색·초안 작성시간 단축, 근거 일치 향상",</a:t>
            </a:r>
          </a:p>
          <a:p xmlns:a="http://schemas.openxmlformats.org/drawingml/2006/main">
            <a:r>
              <a:t>  "observed": "공통기반 운영과 법령비서 시범 공개. 동일 업무의 시간·오답·기관별 도입비 전후값 미공개",</a:t>
            </a:r>
          </a:p>
          <a:p xmlns:a="http://schemas.openxmlformats.org/drawingml/2006/main">
            <a:r>
              <a:t>  "verdict": "성과 미검증",</a:t>
            </a:r>
          </a:p>
          <a:p xmlns:a="http://schemas.openxmlformats.org/drawingml/2006/main">
            <a:r>
              <a:t>  "verdictReason": "공통환경 및 시범 확인은 가능하나 목표한 업무효율·재사용 절감의 비교자료 부재",</a:t>
            </a:r>
          </a:p>
          <a:p xmlns:a="http://schemas.openxmlformats.org/drawingml/2006/main">
            <a:r>
              <a:t>  "limits": "시범 대상·범정부 확산과 공무원의 법 적용 판단을 구분",</a:t>
            </a:r>
          </a:p>
          <a:p xmlns:a="http://schemas.openxmlformats.org/drawingml/2006/main">
            <a:r>
              <a:t>  "evidenceStage": "공통기반 운영 + 업무앱 시범",</a:t>
            </a:r>
          </a:p>
          <a:p xmlns:a="http://schemas.openxmlformats.org/drawingml/2006/main">
            <a:r>
              <a:t>  "sourceUrl": "https://www.mois.go.kr/frt/bbs/type010/commonSelectBoardArticle.do?bbsId=BBSMSTR_000000000008&amp;nttId=127770"</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a:p xmlns:a="http://schemas.openxmlformats.org/drawingml/2006/main">
            <a:r>
              <a:t>한계: 문서번호·답변 근거의 정비 부담 공개 · 제시된 절감 기대와 실측 성과의 구분</a:t>
            </a:r>
          </a:p>
          <a:p xmlns:a="http://schemas.openxmlformats.org/drawingml/2006/main">
            <a:r>
              <a:t>실패 위험: 규정 판본·효력일 불일치 / 개정 초안의 무승인 배포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a:p xmlns:a="http://schemas.openxmlformats.org/drawingml/2006/main">
            <a:r>
              <a:t>성과 대조</a:t>
            </a:r>
          </a:p>
          <a:p xmlns:a="http://schemas.openxmlformats.org/drawingml/2006/main">
            <a:r>
              <a:t>{</a:t>
            </a:r>
          </a:p>
          <a:p xmlns:a="http://schemas.openxmlformats.org/drawingml/2006/main">
            <a:r>
              <a:t>  "caseId": "PF02",</a:t>
            </a:r>
          </a:p>
          <a:p xmlns:a="http://schemas.openxmlformats.org/drawingml/2006/main">
            <a:r>
              <a:t>  "asIs": "사내표준 원문·개정 이력 검색과 변경 검토·전자결재가 수작업에 의존",</a:t>
            </a:r>
          </a:p>
          <a:p xmlns:a="http://schemas.openxmlformats.org/drawingml/2006/main">
            <a:r>
              <a:t>  "toBe": "표준 조문·판본 색인과 AI 질의응답, 개정 영향 검토, 소관부서 결재를 하나의 업무 흐름으로 연결",</a:t>
            </a:r>
          </a:p>
          <a:p xmlns:a="http://schemas.openxmlformats.org/drawingml/2006/main">
            <a:r>
              <a:t>  "expectedEffect": "표준 검색·개정 검토시간 감소와 구판 인용 오류 축소",</a:t>
            </a:r>
          </a:p>
          <a:p xmlns:a="http://schemas.openxmlformats.org/drawingml/2006/main">
            <a:r>
              <a:t>  "observed": "기관 사보에서 플랫폼 정식 운영과 근거 정비 부담 설명. 절감 기대치는 있으나 독립 전후 측정 미확인",</a:t>
            </a:r>
          </a:p>
          <a:p xmlns:a="http://schemas.openxmlformats.org/drawingml/2006/main">
            <a:r>
              <a:t>  "verdict": "성과 미검증",</a:t>
            </a:r>
          </a:p>
          <a:p xmlns:a="http://schemas.openxmlformats.org/drawingml/2006/main">
            <a:r>
              <a:t>  "verdictReason": "실사용은 확인되지만 표준 업무의 품질·시간 개선 수치가 기준선과 대조되지 않음",</a:t>
            </a:r>
          </a:p>
          <a:p xmlns:a="http://schemas.openxmlformats.org/drawingml/2006/main">
            <a:r>
              <a:t>  "limits": "승인 전 개정안과 효력 있는 판본 분리 필요; 기관의 기대효과를 실현 절감으로 기재 금지",</a:t>
            </a:r>
          </a:p>
          <a:p xmlns:a="http://schemas.openxmlformats.org/drawingml/2006/main">
            <a:r>
              <a:t>  "evidenceStage": "기관 발표·운영",</a:t>
            </a:r>
          </a:p>
          <a:p xmlns:a="http://schemas.openxmlformats.org/drawingml/2006/main">
            <a:r>
              <a:t>  "sourceUrl": "https://www.kepco.co.kr/KEPCO_FILE/html/2026_09/issue.html"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a:p xmlns:a="http://schemas.openxmlformats.org/drawingml/2006/main">
            <a:r>
              <a:t>한계: 로컬 PUBLIC 원본 재사용 사례. 최신 계약·검수·운영 상황은 별도 확인 필요</a:t>
            </a:r>
          </a:p>
          <a:p xmlns:a="http://schemas.openxmlformats.org/drawingml/2006/main">
            <a:r>
              <a:t>실패 위험: 해외사업 문서별 접근 차이 / RFP와 운영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a:p xmlns:a="http://schemas.openxmlformats.org/drawingml/2006/main">
            <a:r>
              <a:t>성과 대조</a:t>
            </a:r>
          </a:p>
          <a:p xmlns:a="http://schemas.openxmlformats.org/drawingml/2006/main">
            <a:r>
              <a:t>{</a:t>
            </a:r>
          </a:p>
          <a:p xmlns:a="http://schemas.openxmlformats.org/drawingml/2006/main">
            <a:r>
              <a:t>  "caseId": "PF-A03",</a:t>
            </a:r>
          </a:p>
          <a:p xmlns:a="http://schemas.openxmlformats.org/drawingml/2006/main">
            <a:r>
              <a:t>  "asIs": "해외사업 산출물·암호문서·내부 업무시스템 정보가 부서별로 분산",</a:t>
            </a:r>
          </a:p>
          <a:p xmlns:a="http://schemas.openxmlformats.org/drawingml/2006/main">
            <a:r>
              <a:t>  "toBe": "문서권한을 원문·청크·검색결과까지 전파하는 RAG와 승인된 내부 API 업무 에이전트",</a:t>
            </a:r>
          </a:p>
          <a:p xmlns:a="http://schemas.openxmlformats.org/drawingml/2006/main">
            <a:r>
              <a:t>  "expectedEffect": "사업자료 탐색시간 단축과 권한 오노출·지식 갱신 지연 감소",</a:t>
            </a:r>
          </a:p>
          <a:p xmlns:a="http://schemas.openxmlformats.org/drawingml/2006/main">
            <a:r>
              <a:t>  "observed": "KIND 본공고 RFP의 목표기능 확인. 계약·인수·권한 회수 시험·운영 성과 미확인",</a:t>
            </a:r>
          </a:p>
          <a:p xmlns:a="http://schemas.openxmlformats.org/drawingml/2006/main">
            <a:r>
              <a:t>  "verdict": "성과 미검증",</a:t>
            </a:r>
          </a:p>
          <a:p xmlns:a="http://schemas.openxmlformats.org/drawingml/2006/main">
            <a:r>
              <a:t>  "verdictReason": "권한 필터 요구는 실제 차단 성능이나 과업 완료의 증거가 아님",</a:t>
            </a:r>
          </a:p>
          <a:p xmlns:a="http://schemas.openxmlformats.org/drawingml/2006/main">
            <a:r>
              <a:t>  "limits": "검색 권한과 API 실행 권한을 분리해야 함; 동적 필터 위치 미확인",</a:t>
            </a:r>
          </a:p>
          <a:p xmlns:a="http://schemas.openxmlformats.org/drawingml/2006/main">
            <a:r>
              <a:t>  "evidenceStage": "본공고 RFP 목표",</a:t>
            </a:r>
          </a:p>
          <a:p xmlns:a="http://schemas.openxmlformats.org/drawingml/2006/main">
            <a:r>
              <a:t>  "sourceUrl": "https://www.kindkorea.or.kr/pages/72?id=11391&amp;menuMode=READ&amp;q=page%3D1"</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a:p xmlns:a="http://schemas.openxmlformats.org/drawingml/2006/main">
            <a:r>
              <a:t>이미지 모델 재구성 {"path":"assets/casebook-reconstructions/PF-A03.png","title":"KIND 대내 생성형 AI · 권한 검색과 업무 실행 재구성","basis":"공식 사전규격 RFP Ⅰ.3·권한 메타데이터·API 에이전트","method":"이미지 모델 생성 후 RFP 요구와 경로 대조","status":"CCK 분석 재구성 · 원문 도면 아님","sha256":"416a3fdc64f81332d72e4c459fd0e51f83af0872e920e44e96824c2a7baa6f59"}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a:p xmlns:a="http://schemas.openxmlformats.org/drawingml/2006/main">
            <a:r>
              <a:t>한계: 공개 조회의 구축 사례 · 내부 결재·수정 실행의 검증과 별개</a:t>
            </a:r>
          </a:p>
          <a:p xmlns:a="http://schemas.openxmlformats.org/drawingml/2006/main">
            <a:r>
              <a:t>실패 위험: 도구 응답 지연·스키마 변경 / 조회 성공을 신청 완료로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a:p xmlns:a="http://schemas.openxmlformats.org/drawingml/2006/main">
            <a:r>
              <a:t>성과 대조</a:t>
            </a:r>
          </a:p>
          <a:p xmlns:a="http://schemas.openxmlformats.org/drawingml/2006/main">
            <a:r>
              <a:t>{</a:t>
            </a:r>
          </a:p>
          <a:p xmlns:a="http://schemas.openxmlformats.org/drawingml/2006/main">
            <a:r>
              <a:t>  "caseId": "PF03",</a:t>
            </a:r>
          </a:p>
          <a:p xmlns:a="http://schemas.openxmlformats.org/drawingml/2006/main">
            <a:r>
              <a:t>  "asIs": "자격·훈련 정보가 공식 공공 API와 외부 AI 이용 경로로 분리",</a:t>
            </a:r>
          </a:p>
          <a:p xmlns:a="http://schemas.openxmlformats.org/drawingml/2006/main">
            <a:r>
              <a:t>  "toBe": "기존 공식 API를 MCP 도구로 노출해 AI가 최신 자격·훈련 데이터를 조회",</a:t>
            </a:r>
          </a:p>
          <a:p xmlns:a="http://schemas.openxmlformats.org/drawingml/2006/main">
            <a:r>
              <a:t>  "expectedEffect": "공식 데이터 연결 공수·오래된 답변 감소, 서비스 제작 속도 개선",</a:t>
            </a:r>
          </a:p>
          <a:p xmlns:a="http://schemas.openxmlformats.org/drawingml/2006/main">
            <a:r>
              <a:t>  "observed": "고용노동부 공식 보도자료에서 공개 데이터 MCP 서비스 개시 확인. 개발 공수·정확도 전후값 없음",</a:t>
            </a:r>
          </a:p>
          <a:p xmlns:a="http://schemas.openxmlformats.org/drawingml/2006/main">
            <a:r>
              <a:t>  "verdict": "성과 미검증",</a:t>
            </a:r>
          </a:p>
          <a:p xmlns:a="http://schemas.openxmlformats.org/drawingml/2006/main">
            <a:r>
              <a:t>  "verdictReason": "서비스 공개는 확인되나 사용성과·행정 실행 효과의 정량 검증 부재",</a:t>
            </a:r>
          </a:p>
          <a:p xmlns:a="http://schemas.openxmlformats.org/drawingml/2006/main">
            <a:r>
              <a:t>  "limits": "읽기 API 공개를 내부 신청·결재 실행 권한으로 확대 해석 불가",</a:t>
            </a:r>
          </a:p>
          <a:p xmlns:a="http://schemas.openxmlformats.org/drawingml/2006/main">
            <a:r>
              <a:t>  "evidenceStage": "공식 서비스 개시",</a:t>
            </a:r>
          </a:p>
          <a:p xmlns:a="http://schemas.openxmlformats.org/drawingml/2006/main">
            <a:r>
              <a:t>  "sourceUrl": "https://www.moel.go.kr/news/enews/report/enewsView.do?news_seq=19787"</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a:p xmlns:a="http://schemas.openxmlformats.org/drawingml/2006/main">
            <a:r>
              <a:t>한계: 자사 발표 · 특정 직무 성과를 전사 생산성으로 일반화 불가</a:t>
            </a:r>
          </a:p>
          <a:p xmlns:a="http://schemas.openxmlformats.org/drawingml/2006/main">
            <a:r>
              <a:t>실패 위험: API별 권한·실패 상태 차이 / 전사 도입과 모든 업무의 효과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a:p xmlns:a="http://schemas.openxmlformats.org/drawingml/2006/main">
            <a:r>
              <a:t>성과 대조</a:t>
            </a:r>
          </a:p>
          <a:p xmlns:a="http://schemas.openxmlformats.org/drawingml/2006/main">
            <a:r>
              <a:t>{</a:t>
            </a:r>
          </a:p>
          <a:p xmlns:a="http://schemas.openxmlformats.org/drawingml/2006/main">
            <a:r>
              <a:t>  "caseId": "PF04",</a:t>
            </a:r>
          </a:p>
          <a:p xmlns:a="http://schemas.openxmlformats.org/drawingml/2006/main">
            <a:r>
              <a:t>  "asIs": "기업 시스템·협업 도구마다 지식검색·모델 이용과 업무 자동화 연결이 분산",</a:t>
            </a:r>
          </a:p>
          <a:p xmlns:a="http://schemas.openxmlformats.org/drawingml/2006/main">
            <a:r>
              <a:t>  "toBe": "FabriX 공통 AI 접점에 사내 데이터·API·개발 도구를 결합한 업무별 AI 서비스",</a:t>
            </a:r>
          </a:p>
          <a:p xmlns:a="http://schemas.openxmlformats.org/drawingml/2006/main">
            <a:r>
              <a:t>  "expectedEffect": "업무 초안·검색시간 감소와 공통 기반 재사용을 통한 구축 공수 절감",</a:t>
            </a:r>
          </a:p>
          <a:p xmlns:a="http://schemas.openxmlformats.org/drawingml/2006/main">
            <a:r>
              <a:t>  "observed": "삼성SDS의 사내 운영·활용 발표 확인. 독립적인 직무별 완료시간·오류·전체비용 평가 부재",</a:t>
            </a:r>
          </a:p>
          <a:p xmlns:a="http://schemas.openxmlformats.org/drawingml/2006/main">
            <a:r>
              <a:t>  "verdict": "성과 미검증",</a:t>
            </a:r>
          </a:p>
          <a:p xmlns:a="http://schemas.openxmlformats.org/drawingml/2006/main">
            <a:r>
              <a:t>  "verdictReason": "공급사 겸 운영사의 채택·활용 설명만으로 업무효율 인과효과 확인 불가",</a:t>
            </a:r>
          </a:p>
          <a:p xmlns:a="http://schemas.openxmlformats.org/drawingml/2006/main">
            <a:r>
              <a:t>  "limits": "특정 직무의 편익을 전사 또는 TS 공공업무에 그대로 전용 불가",</a:t>
            </a:r>
          </a:p>
          <a:p xmlns:a="http://schemas.openxmlformats.org/drawingml/2006/main">
            <a:r>
              <a:t>  "evidenceStage": "공급사 발표·사내 운영",</a:t>
            </a:r>
          </a:p>
          <a:p xmlns:a="http://schemas.openxmlformats.org/drawingml/2006/main">
            <a:r>
              <a:t>  "sourceUrl": "https://www.samsungsds.com/kr/insights/samsung-sds-ai-journey.html"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a:p xmlns:a="http://schemas.openxmlformats.org/drawingml/2006/main">
            <a:r>
              <a:t>한계: 사용량은 시간·비용 절감이 아님. 2026 현재 사용률로 제시하지 않음</a:t>
            </a:r>
          </a:p>
          <a:p xmlns:a="http://schemas.openxmlformats.org/drawingml/2006/main">
            <a:r>
              <a:t>실패 위험: 코드 보안·품질 편차 / 생성 코드의 무검토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a:p xmlns:a="http://schemas.openxmlformats.org/drawingml/2006/main">
            <a:r>
              <a:t>성과 대조</a:t>
            </a:r>
          </a:p>
          <a:p xmlns:a="http://schemas.openxmlformats.org/drawingml/2006/main">
            <a:r>
              <a:t>{</a:t>
            </a:r>
          </a:p>
          <a:p xmlns:a="http://schemas.openxmlformats.org/drawingml/2006/main">
            <a:r>
              <a:t>  "caseId": "PF-A06",</a:t>
            </a:r>
          </a:p>
          <a:p xmlns:a="http://schemas.openxmlformats.org/drawingml/2006/main">
            <a:r>
              <a:t>  "asIs": "범용 AI와 개발 직무의 코드 지원 도구가 따로 필요했던 사내 업무",</a:t>
            </a:r>
          </a:p>
          <a:p xmlns:a="http://schemas.openxmlformats.org/drawingml/2006/main">
            <a:r>
              <a:t>  "toBe": "Gauss 모델군을 포털과 code.i에 적용해 일반 업무와 개발 업무의 AI 접점을 구분",</a:t>
            </a:r>
          </a:p>
          <a:p xmlns:a="http://schemas.openxmlformats.org/drawingml/2006/main">
            <a:r>
              <a:t>  "expectedEffect": "반복 문서·코딩 작업시간 감소와 내부 도구 사용 통제",</a:t>
            </a:r>
          </a:p>
          <a:p xmlns:a="http://schemas.openxmlformats.org/drawingml/2006/main">
            <a:r>
              <a:t>  "observed": "삼성전자의 포털·code.i 사내 운영 발표 확인. 사용량 대비 실제 시간·비용·결함률 비교자료 없음",</a:t>
            </a:r>
          </a:p>
          <a:p xmlns:a="http://schemas.openxmlformats.org/drawingml/2006/main">
            <a:r>
              <a:t>  "verdict": "성과 미검증",</a:t>
            </a:r>
          </a:p>
          <a:p xmlns:a="http://schemas.openxmlformats.org/drawingml/2006/main">
            <a:r>
              <a:t>  "verdictReason": "제품 운용과 생산성 개선을 구분할 전후 기준선 부재",</a:t>
            </a:r>
          </a:p>
          <a:p xmlns:a="http://schemas.openxmlformats.org/drawingml/2006/main">
            <a:r>
              <a:t>  "limits": "발표 당시 사용수치를 현재 채택률이나 절감량으로 환산 금지",</a:t>
            </a:r>
          </a:p>
          <a:p xmlns:a="http://schemas.openxmlformats.org/drawingml/2006/main">
            <a:r>
              <a:t>  "evidenceStage": "기업 발표·사내 운영",</a:t>
            </a:r>
          </a:p>
          <a:p xmlns:a="http://schemas.openxmlformats.org/drawingml/2006/main">
            <a:r>
              <a:t>  "sourceUrl": "https://news.samsung.com/ca/samsung-electronics-hosts-samsung-developer-conference-korea-2024-unveils-its-improved-gen-ai-model"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a:p xmlns:a="http://schemas.openxmlformats.org/drawingml/2006/main">
            <a:r>
              <a:t>한계: 청내 운영 실적과 범정부 실증 대상 규모의 분리 · 도입 인원과 생산성 구분</a:t>
            </a:r>
          </a:p>
          <a:p xmlns:a="http://schemas.openxmlformats.org/drawingml/2006/main">
            <a:r>
              <a:t>실패 위험: 기관별 규정·문서 경계 차이 / 청내 운영 결과의 범정부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a:p xmlns:a="http://schemas.openxmlformats.org/drawingml/2006/main">
            <a:r>
              <a:t>성과 대조</a:t>
            </a:r>
          </a:p>
          <a:p xmlns:a="http://schemas.openxmlformats.org/drawingml/2006/main">
            <a:r>
              <a:t>{</a:t>
            </a:r>
          </a:p>
          <a:p xmlns:a="http://schemas.openxmlformats.org/drawingml/2006/main">
            <a:r>
              <a:t>  "caseId": "PF05",</a:t>
            </a:r>
          </a:p>
          <a:p xmlns:a="http://schemas.openxmlformats.org/drawingml/2006/main">
            <a:r>
              <a:t>  "asIs": "중앙부처마다 생성형 AI 실험 환경과 업무 프롬프트·안전 통제가 개별 구성",</a:t>
            </a:r>
          </a:p>
          <a:p xmlns:a="http://schemas.openxmlformats.org/drawingml/2006/main">
            <a:r>
              <a:t>  "toBe": "일본 디지털청 공통 생성형 AI 환경 源内에 업무 앱·템플릿을 구성하고 기관별 실증",</a:t>
            </a:r>
          </a:p>
          <a:p xmlns:a="http://schemas.openxmlformats.org/drawingml/2006/main">
            <a:r>
              <a:t>  "expectedEffect": "중복 구축 감소, 안전한 접근 확대, 업무별 초안·조사시간 단축",</a:t>
            </a:r>
          </a:p>
          <a:p xmlns:a="http://schemas.openxmlformats.org/drawingml/2006/main">
            <a:r>
              <a:t>  "observed": "디지털청 내부 운영과 범정부 실증 발표 확인. 참여인원과 과업별 생산성·품질은 별도 결과",</a:t>
            </a:r>
          </a:p>
          <a:p xmlns:a="http://schemas.openxmlformats.org/drawingml/2006/main">
            <a:r>
              <a:t>  "verdict": "성과 미검증",</a:t>
            </a:r>
          </a:p>
          <a:p xmlns:a="http://schemas.openxmlformats.org/drawingml/2006/main">
            <a:r>
              <a:t>  "verdictReason": "도입·실증 범위만으로 시간절감이나 비용절감 성과 단정 불가",</a:t>
            </a:r>
          </a:p>
          <a:p xmlns:a="http://schemas.openxmlformats.org/drawingml/2006/main">
            <a:r>
              <a:t>  "limits": "기관별 비교군·과업 난도와 실제 활성 사용자 분모 필요",</a:t>
            </a:r>
          </a:p>
          <a:p xmlns:a="http://schemas.openxmlformats.org/drawingml/2006/main">
            <a:r>
              <a:t>  "evidenceStage": "청내 운영 + 범정부 실증",</a:t>
            </a:r>
          </a:p>
          <a:p xmlns:a="http://schemas.openxmlformats.org/drawingml/2006/main">
            <a:r>
              <a:t>  "sourceUrl": "https://www.digital.go.jp/policies/genai"</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a:p xmlns:a="http://schemas.openxmlformats.org/drawingml/2006/main">
            <a:r>
              <a:t>한계: 봇 개수·사용량이 업무성과는 아님. 2025 AIBots와 2026 Desk를 독립 실적으로 합산하지 않음</a:t>
            </a:r>
          </a:p>
          <a:p xmlns:a="http://schemas.openxmlformats.org/drawingml/2006/main">
            <a:r>
              <a:t>실패 위험: 출처 문서 갱신 누락 / 봇 공유 시 권한 확대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a:p xmlns:a="http://schemas.openxmlformats.org/drawingml/2006/main">
            <a:r>
              <a:t>성과 대조</a:t>
            </a:r>
          </a:p>
          <a:p xmlns:a="http://schemas.openxmlformats.org/drawingml/2006/main">
            <a:r>
              <a:t>{</a:t>
            </a:r>
          </a:p>
          <a:p xmlns:a="http://schemas.openxmlformats.org/drawingml/2006/main">
            <a:r>
              <a:t>  "caseId": "PF-A08",</a:t>
            </a:r>
          </a:p>
          <a:p xmlns:a="http://schemas.openxmlformats.org/drawingml/2006/main">
            <a:r>
              <a:t>  "asIs": "싱가포르 정부기관이 문서형 Q&amp;A 봇을 개별 구성·공유",</a:t>
            </a:r>
          </a:p>
          <a:p xmlns:a="http://schemas.openxmlformats.org/drawingml/2006/main">
            <a:r>
              <a:t>  "toBe": "AIBots의 셀프서비스 RAG 구성과 Desk의 업무시스템 탐색·실행 지향 기능을 통합",</a:t>
            </a:r>
          </a:p>
          <a:p xmlns:a="http://schemas.openxmlformats.org/drawingml/2006/main">
            <a:r>
              <a:t>  "expectedEffect": "중복 봇 개발·지식 갱신 공수 감소와 담당자 업무 연결 개선",</a:t>
            </a:r>
          </a:p>
          <a:p xmlns:a="http://schemas.openxmlformats.org/drawingml/2006/main">
            <a:r>
              <a:t>  "observed": "GovTech의 AIBots 이용 실적과 Desk 제품 카탈로그·POV 단계 확인. 이전 완료와 업무성과 미공개",</a:t>
            </a:r>
          </a:p>
          <a:p xmlns:a="http://schemas.openxmlformats.org/drawingml/2006/main">
            <a:r>
              <a:t>  "verdict": "성과 미검증",</a:t>
            </a:r>
          </a:p>
          <a:p xmlns:a="http://schemas.openxmlformats.org/drawingml/2006/main">
            <a:r>
              <a:t>  "verdictReason": "봇 수·도구 등록 상태는 부서 과업 완료율과 다름",</a:t>
            </a:r>
          </a:p>
          <a:p xmlns:a="http://schemas.openxmlformats.org/drawingml/2006/main">
            <a:r>
              <a:t>  "limits": "AIBots와 Desk를 독립적 두 건의 성과로 중복 집계 금지; 고위험 용도 승인 별도",</a:t>
            </a:r>
          </a:p>
          <a:p xmlns:a="http://schemas.openxmlformats.org/drawingml/2006/main">
            <a:r>
              <a:t>  "evidenceStage": "AIBots 이용 + Desk 제품 단계",</a:t>
            </a:r>
          </a:p>
          <a:p xmlns:a="http://schemas.openxmlformats.org/drawingml/2006/main">
            <a:r>
              <a:t>  "sourceUrl": "https://www.tech.gov.sg/products-and-services/for-government-agencies/productivity-and-marketing/aibots/"</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a:p xmlns:a="http://schemas.openxmlformats.org/drawingml/2006/main">
            <a:r>
              <a:t>한계: 오래된 소개 지표로 현재 규모를 추정하지 않음. 독립 정량 업무효과 미확인</a:t>
            </a:r>
          </a:p>
          <a:p xmlns:a="http://schemas.openxmlformats.org/drawingml/2006/main">
            <a:r>
              <a:t>실패 위험: 범용 도구의 전문 규정 한계 / 민감 정보 입력·검증 없는 재사용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a:p xmlns:a="http://schemas.openxmlformats.org/drawingml/2006/main">
            <a:r>
              <a:t>성과 대조</a:t>
            </a:r>
          </a:p>
          <a:p xmlns:a="http://schemas.openxmlformats.org/drawingml/2006/main">
            <a:r>
              <a:t>{</a:t>
            </a:r>
          </a:p>
          <a:p xmlns:a="http://schemas.openxmlformats.org/drawingml/2006/main">
            <a:r>
              <a:t>  "caseId": "PF-A09",</a:t>
            </a:r>
          </a:p>
          <a:p xmlns:a="http://schemas.openxmlformats.org/drawingml/2006/main">
            <a:r>
              <a:t>  "asIs": "정부 직원이 범용 LLM을 별도로 이용하거나 기관별 보안 설정을 반복",</a:t>
            </a:r>
          </a:p>
          <a:p xmlns:a="http://schemas.openxmlformats.org/drawingml/2006/main">
            <a:r>
              <a:t>  "toBe": "정부 기기에서 Pair 공통 AI 보조도구를 제공하고 안전한 업무 사용환경을 공유",</a:t>
            </a:r>
          </a:p>
          <a:p xmlns:a="http://schemas.openxmlformats.org/drawingml/2006/main">
            <a:r>
              <a:t>  "expectedEffect": "기관별 도입 공수 감소와 문서·조사 업무시간 단축",</a:t>
            </a:r>
          </a:p>
          <a:p xmlns:a="http://schemas.openxmlformats.org/drawingml/2006/main">
            <a:r>
              <a:t>  "observed": "GovTech 공식 제품 목록에서 Pair 운영 확인. 현재 사용 규모와 동일 과업 시간·품질 독립평가 미확인",</a:t>
            </a:r>
          </a:p>
          <a:p xmlns:a="http://schemas.openxmlformats.org/drawingml/2006/main">
            <a:r>
              <a:t>  "verdict": "성과 미검증",</a:t>
            </a:r>
          </a:p>
          <a:p xmlns:a="http://schemas.openxmlformats.org/drawingml/2006/main">
            <a:r>
              <a:t>  "verdictReason": "Active 제품 상태나 과거 이용 지표는 업무 개선의 직접 증거 아님",</a:t>
            </a:r>
          </a:p>
          <a:p xmlns:a="http://schemas.openxmlformats.org/drawingml/2006/main">
            <a:r>
              <a:t>  "limits": "일반 초안 생산성과 기관별 공식 업무완료를 구분",</a:t>
            </a:r>
          </a:p>
          <a:p xmlns:a="http://schemas.openxmlformats.org/drawingml/2006/main">
            <a:r>
              <a:t>  "evidenceStage": "정부 공통도구 운영",</a:t>
            </a:r>
          </a:p>
          <a:p xmlns:a="http://schemas.openxmlformats.org/drawingml/2006/main">
            <a:r>
              <a:t>  "sourceUrl": "https://www.tech.gov.sg/products-and-services/for-government-agencies/productivity-and-marketing/pair/"</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a:p xmlns:a="http://schemas.openxmlformats.org/drawingml/2006/main">
            <a:r>
              <a:t>한계: 서비스 기능 확인 · 공개 이용 통계와 업무성과의 별도 평가</a:t>
            </a:r>
          </a:p>
          <a:p xmlns:a="http://schemas.openxmlformats.org/drawingml/2006/main">
            <a:r>
              <a:t>실패 위험: 공통 API 의존·장애 영향 / 기관별 정책을 공통 기능으로 대체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a:p xmlns:a="http://schemas.openxmlformats.org/drawingml/2006/main">
            <a:r>
              <a:t>성과 대조</a:t>
            </a:r>
          </a:p>
          <a:p xmlns:a="http://schemas.openxmlformats.org/drawingml/2006/main">
            <a:r>
              <a:t>{</a:t>
            </a:r>
          </a:p>
          <a:p xmlns:a="http://schemas.openxmlformats.org/drawingml/2006/main">
            <a:r>
              <a:t>  "caseId": "PF06",</a:t>
            </a:r>
          </a:p>
          <a:p xmlns:a="http://schemas.openxmlformats.org/drawingml/2006/main">
            <a:r>
              <a:t>  "asIs": "기관별로 모델 호출·검색·OCR·음성전사 기능을 개별 조합",</a:t>
            </a:r>
          </a:p>
          <a:p xmlns:a="http://schemas.openxmlformats.org/drawingml/2006/main">
            <a:r>
              <a:t>  "toBe": "프랑스 정부 Albert API의 공통 AI 기능을 기관 서비스가 표준 API로 호출",</a:t>
            </a:r>
          </a:p>
          <a:p xmlns:a="http://schemas.openxmlformats.org/drawingml/2006/main">
            <a:r>
              <a:t>  "expectedEffect": "중복 구축·기능 연결 공수 감소와 품질 관리 일원화",</a:t>
            </a:r>
          </a:p>
          <a:p xmlns:a="http://schemas.openxmlformats.org/drawingml/2006/main">
            <a:r>
              <a:t>  "observed": "공식 서비스 목록과 공개 API 이용통계 확인. 도입 전후 구축비·기관별 업무성과 비교 없음",</a:t>
            </a:r>
          </a:p>
          <a:p xmlns:a="http://schemas.openxmlformats.org/drawingml/2006/main">
            <a:r>
              <a:t>  "verdict": "성과 미검증",</a:t>
            </a:r>
          </a:p>
          <a:p xmlns:a="http://schemas.openxmlformats.org/drawingml/2006/main">
            <a:r>
              <a:t>  "verdictReason": "API 제공·호출 건수는 동일 업무의 성능·비용 개선을 입증하지 않음",</a:t>
            </a:r>
          </a:p>
          <a:p xmlns:a="http://schemas.openxmlformats.org/drawingml/2006/main">
            <a:r>
              <a:t>  "limits": "요청 수와 고유 이용자·완료 업무를 구별; 기관별 SLA와 장기 품질 미확인",</a:t>
            </a:r>
          </a:p>
          <a:p xmlns:a="http://schemas.openxmlformats.org/drawingml/2006/main">
            <a:r>
              <a:t>  "evidenceStage": "공통 API 운영",</a:t>
            </a:r>
          </a:p>
          <a:p xmlns:a="http://schemas.openxmlformats.org/drawingml/2006/main">
            <a:r>
              <a:t>  "sourceUrl": "https://ia.numerique.gouv.fr/outils-ia/albert-api/offre-de-services/"</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한계: 운영기관 목록 확인 · 자율 행정 처리나 최신 LLM 스택의 근거와 구분</a:t>
            </a:r>
          </a:p>
          <a:p xmlns:a="http://schemas.openxmlformats.org/drawingml/2006/main">
            <a:r>
              <a:t>실패 위험: 기관 간 지식·소관 불일치 / 안내와 접수·처리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성과 대조</a:t>
            </a:r>
          </a:p>
          <a:p xmlns:a="http://schemas.openxmlformats.org/drawingml/2006/main">
            <a:r>
              <a:t>{</a:t>
            </a:r>
          </a:p>
          <a:p xmlns:a="http://schemas.openxmlformats.org/drawingml/2006/main">
            <a:r>
              <a:t>  "caseId": "PF07",</a:t>
            </a:r>
          </a:p>
          <a:p xmlns:a="http://schemas.openxmlformats.org/drawingml/2006/main">
            <a:r>
              <a:t>  "asIs": "국민이 기관별 안내 페이지를 검색하고 필요 시 별도 상담 채널로 이동",</a:t>
            </a:r>
          </a:p>
          <a:p xmlns:a="http://schemas.openxmlformats.org/drawingml/2006/main">
            <a:r>
              <a:t>  "toBe": "Bürokratt 공통 기반에서 기관별 안내 지식·챗봇·사람 상담 인계를 제공",</a:t>
            </a:r>
          </a:p>
          <a:p xmlns:a="http://schemas.openxmlformats.org/drawingml/2006/main">
            <a:r>
              <a:t>  "expectedEffect": "올바른 서비스 도달·상담 연결률 향상과 반복 문의 감소",</a:t>
            </a:r>
          </a:p>
          <a:p xmlns:a="http://schemas.openxmlformats.org/drawingml/2006/main">
            <a:r>
              <a:t>  "observed": "RIA 공식 설명과 공개 소스 구조, 다기관 안내 운영 확인. 문의 해결률·상담 인계 완료율 미공개",</a:t>
            </a:r>
          </a:p>
          <a:p xmlns:a="http://schemas.openxmlformats.org/drawingml/2006/main">
            <a:r>
              <a:t>  "verdict": "성과 미검증",</a:t>
            </a:r>
          </a:p>
          <a:p xmlns:a="http://schemas.openxmlformats.org/drawingml/2006/main">
            <a:r>
              <a:t>  "verdictReason": "다기관 배치가 대민 과업 완결 또는 행정 자동 처리의 증거는 아님",</a:t>
            </a:r>
          </a:p>
          <a:p xmlns:a="http://schemas.openxmlformats.org/drawingml/2006/main">
            <a:r>
              <a:t>  "limits": "공개 저장소 구조와 각 기관 운영 형상 차이 및 자율 처분 권한 구분",</a:t>
            </a:r>
          </a:p>
          <a:p xmlns:a="http://schemas.openxmlformats.org/drawingml/2006/main">
            <a:r>
              <a:t>  "evidenceStage": "공개 소스 + 다기관 운영",</a:t>
            </a:r>
          </a:p>
          <a:p xmlns:a="http://schemas.openxmlformats.org/drawingml/2006/main">
            <a:r>
              <a:t>  "sourceUrl": "https://ria.ee/en/state-information-system/artificial-intelligence/burokratt"</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{"caseId":"PF07","path":"assets/casebook-sources/PF07-01.png","title":"Bürokratt 지식 기반 전체 구조","status":"공식 저장소 Mermaid 구성도 렌더","caption":"Ruuter·Resql·수집/정제/파일처리·PostgreSQL·S3 계층","locator":"Common-Knowledge/ARCHITECTURE.md / High-Level Architecture","sourceUrl":"https://github.com/buerokratt/Common-Knowledge/blob/main/ARCHITECTURE.md","sourceType":"mermaid","checked":"2026-10-16","sha256":"5b5d6850ad0bc4b47aed02003c3a77c2ed5bbd2308555d80e3b25feb249ec66d","explanation":{"read":"에스토니아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않는다.","requirements":[],"connection":"TS 대민 상담의 공통 지식 수집·정제·조회 계층과 소관 부서별 업무 인계 계층을 분리해 설계할 때 참고할 원본 구조."}}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{"caseId":"PF07","path":"assets/casebook-sources/PF07-02.png","title":"Bürokratt 정형 질의 흐름","status":"공식 저장소 Mermaid 시퀀스 렌더","caption":"Ruuter → Resql의 매개변수 검증·바인딩 → PostgreSQL","locator":"Common-Knowledge/ARCHITECTURE.md / Database Query Flow","sourceUrl":"https://github.com/buerokratt/Common-Knowledge/blob/main/ARCHITECTURE.md","sourceType":"mermaid","checked":"2026-10-16","sha256":"4c5c039a7109ebfecb9d0f236a4b191af971af62a672ab74e47f4bec36a32413","explanation":{"read":"공식 Mermaid 시퀀스를 렌더링한 정형 질의 경로. Ruuter가 이름 있는 질의를 Resql에 전달하고, Resql이 SQL 파일·메타데이터·매개변수를 검증한 뒤 PostgreSQL을 조회하여 형식화된 JSON을 반환한다.","requirements":[],"connection":"TS 업무시스템 조회 시 생성 모델이 임의 SQL을 작성·실행하는 경로와 승인된 질의 계약을 구분하고 입력 매개변수·결과 형식을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{"caseId":"PF07","path":"assets/casebook-sources/PF07-03.png","title":"Bürokratt 공식 콘텐츠 수집 흐름","status":"공식 저장소 Mermaid 시퀀스 렌더","caption":"출처 설정 → 수집 → 원본 저장·메타데이터 → 정제·상태 갱신","locator":"Common-Knowledge/ARCHITECTURE.md / Content Ingestion Pipeline","sourceUrl":"https://github.com/buerokratt/Common-Knowledge/blob/main/ARCHITECTURE.md","sourceType":"mermaid","checked":"2026-10-16","sha256":"a533875bb4e31c3d18fd48336358d1cb2d0c6f35a63adab7c789ef72732ec198","explanation":{"read":"공식 Mermaid 시퀀스를 렌더링한 콘텐츠 수집 경로. 출처 설정 이후 Scrapper가 원본과 메타데이터를 저장하고 Cleaning이 정제 텍스트와 처리 상태를 갱신한다. 공개된 도면의 수집·정제 경계를 그대로 유지했다.","requirements":[],"connection":"TS 규정·안내 자료의 원본·판본·정제 상태·색인 반영을 분리해 추적하고 갱신 실패 시 해당 원천만 재처리하도록 하는 적용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{"caseId":"PF07","path":"assets/casebook-sources/PF07-04.png","title":"Bürokratt 파일 업로드 흐름","status":"공식 저장소 Mermaid 시퀀스 렌더","caption":"업로드 URL 발급 → 저장 → 파일 처리·메타데이터 등록","locator":"Common-Knowledge/ARCHITECTURE.md / File Upload Pipeline","sourceUrl":"https://github.com/buerokratt/Common-Knowledge/blob/main/ARCHITECTURE.md","sourceType":"mermaid","checked":"2026-10-16","sha256":"aedf90f3fcf44725fe2d56af59b040cd474826f76efe9bccdf3c712deec9a077","explanation":{"read":"공식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한다.","requirements":[],"connection":"TS 직원 문서 반입에서는 업로드 URL·원본 저장·메타데이터 등록 이후 권한 승인·악성코드 검사·색인 반영을 별도 검수 항목으로 연결한다."}}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한계: 2026-03 시험: 모호한 질문은 추가 확인으로 개선, 개인자료 상담 연결 미지원. 범위 내 답변률88%, 평균응답10.7초. 정확도·답변률·앱 설문을 구분.</a:t>
            </a:r>
          </a:p>
          <a:p xmlns:a="http://schemas.openxmlformats.org/drawingml/2006/main">
            <a:r>
              <a:t>실패 위험: 지연·범위 밖 질문 / 안내 서비스를 행정 처리로 확대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성과 대조</a:t>
            </a:r>
          </a:p>
          <a:p xmlns:a="http://schemas.openxmlformats.org/drawingml/2006/main">
            <a:r>
              <a:t>{</a:t>
            </a:r>
          </a:p>
          <a:p xmlns:a="http://schemas.openxmlformats.org/drawingml/2006/main">
            <a:r>
              <a:t>  "caseId": "PF-A12",</a:t>
            </a:r>
          </a:p>
          <a:p xmlns:a="http://schemas.openxmlformats.org/drawingml/2006/main">
            <a:r>
              <a:t>  "asIs": "국민이 GOV.UK 문서를 검색해 여러 페이지를 읽고 서비스 절차를 직접 종합",</a:t>
            </a:r>
          </a:p>
          <a:p xmlns:a="http://schemas.openxmlformats.org/drawingml/2006/main">
            <a:r>
              <a:t>  "toBe": "공식 공개 콘텐츠만 검색해 출처가 있는 단계형 답변을 제공하고 모호한 질문은 재확인",</a:t>
            </a:r>
          </a:p>
          <a:p xmlns:a="http://schemas.openxmlformats.org/drawingml/2006/main">
            <a:r>
              <a:t>  "expectedEffect": "정확한 정보 도달·탐색시간 단축과 전화 문의 감소",</a:t>
            </a:r>
          </a:p>
          <a:p xmlns:a="http://schemas.openxmlformats.org/drawingml/2006/main">
            <a:r>
              <a:t>  "observed": "GDS의 두 실증 평가에서 정확도 76%→90%, 범위 내 응답률 88%, 평균 10.7초, 앱 설문 유용 73%·만족 64% 발표",</a:t>
            </a:r>
          </a:p>
          <a:p xmlns:a="http://schemas.openxmlformats.org/drawingml/2006/main">
            <a:r>
              <a:t>  "verdict": "부분 성과",</a:t>
            </a:r>
          </a:p>
          <a:p xmlns:a="http://schemas.openxmlformats.org/drawingml/2006/main">
            <a:r>
              <a:t>  "verdictReason": "공식문서 한정 검색·전문가/자동 평가·모호한 질문 재확인과 함께 시범 답변 품질 개선 관찰. 개인정보 상담 인계·실제 신청 완료는 미지원/미측정",</a:t>
            </a:r>
          </a:p>
          <a:p xmlns:a="http://schemas.openxmlformats.org/drawingml/2006/main">
            <a:r>
              <a:t>  "limits": "기관 자체 실증 수치이며 전 국민 배포 성과 아님; 응답률과 정확도·서비스 완료율 분리",</a:t>
            </a:r>
          </a:p>
          <a:p xmlns:a="http://schemas.openxmlformats.org/drawingml/2006/main">
            <a:r>
              <a:t>  "evidenceStage": "공식 기술 공개 + 웹·앱 실증",</a:t>
            </a:r>
          </a:p>
          <a:p xmlns:a="http://schemas.openxmlformats.org/drawingml/2006/main">
            <a:r>
              <a:t>  "metric": "정확도 76→90%(자체 평가); 범위 내 응답률 88%; 평균 응답 10.7초",</a:t>
            </a:r>
          </a:p>
          <a:p xmlns:a="http://schemas.openxmlformats.org/drawingml/2006/main">
            <a:r>
              <a:t>  "sourceUrl": "https://insidegovuk.blog.gov.uk/2026/03/16/5-things-we-learned-testing-gov-uk-chat-an-ai-assistant-for-government/"</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원문 도면 {"caseId":"AX06","path":"assets/casebook-sources/AX06-01.png","title":"GOV.UK Chat 2025년 공개 베타 구성","status":"영국 정부 ATRS 공식 C4 아키텍처","caption":"앱·인증·Rails·Bedrock·OpenSearch·PostgreSQL·BigQuery의 운영 경계","locator":"DSIT ATRS 2025-10-07 / 4.1.1 System Architecture / August 2025 public beta","sourceUrl":"https://www.gov.uk/algorithmic-transparency-records/dsit-gov-dot-uk-chat","checked":"2026-10-16","sha256":"8efe82dfdfa8df7ee5312dd13369be76aaf53cb39df42957cad9be1de605fc25","explanation":{"read":"영국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없다.","requirements":[],"connection":"TS 대민 서비스에서는 로그인·공개 콘텐츠·대화 생성·품질 분석의 경계를 구분하고, 검색 원문과 응답·로그의 식별자 및 보존 정책을 별도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원문 도면 {"caseId":"AX06","path":"assets/casebook-sources/AX06-02.png","title":"GOV.UK Chat 초기 파일럿 구성","status":"영국 정부 개발문서 초기 설계도","caption":"2023년 파일럿의 Rails·Redis·PostgreSQL·OpenAI·OpenSearch 계획. 2025년 운영 구성과 구분","locator":"govuk-chat ADR-0001 / Pilot Technical Architecture","sourceUrl":"https://docs.publishing.service.gov.uk/repos/govuk-chat/adr/0001-pilot-technical-architecture.html","checked":"2026-10-16","sha256":"220db41f02597aff9a66bca8744a6772cdc9190c34324538f7862519fb434fc2","explanation":{"read":"GOV.UK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된다.","requirements":[],"connection":"TS 고도화 시 파일럿과 운영 구성의 차이를 사례로 삼아 모델·인증·색인 교체 가능성을 인터페이스와 운영 이력에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a:p xmlns:a="http://schemas.openxmlformats.org/drawingml/2006/main">
            <a:r>
              <a:t>한계: 두 보고서는 모집단 중복. 자기보고 시간은 객관 실측/예산절감 아님; HMRC는 무작위 배정 포함</a:t>
            </a:r>
          </a:p>
          <a:p xmlns:a="http://schemas.openxmlformats.org/drawingml/2006/main">
            <a:r>
              <a:t>실패 위험: 과업별 성과 편차 / 자기보고 절감시간의 과대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a:p xmlns:a="http://schemas.openxmlformats.org/drawingml/2006/main">
            <a:r>
              <a:t>성과 대조</a:t>
            </a:r>
          </a:p>
          <a:p xmlns:a="http://schemas.openxmlformats.org/drawingml/2006/main">
            <a:r>
              <a:t>{</a:t>
            </a:r>
          </a:p>
          <a:p xmlns:a="http://schemas.openxmlformats.org/drawingml/2006/main">
            <a:r>
              <a:t>  "caseId": "PF-A13",</a:t>
            </a:r>
          </a:p>
          <a:p xmlns:a="http://schemas.openxmlformats.org/drawingml/2006/main">
            <a:r>
              <a:t>  "asIs": "영국 공무원이 M365 문서·회의·메일의 검색·초안·요약을 수작업으로 처리",</a:t>
            </a:r>
          </a:p>
          <a:p xmlns:a="http://schemas.openxmlformats.org/drawingml/2006/main">
            <a:r>
              <a:t>  "toBe": "기존 M365 권한·문서 환경 안에 Copilot을 배포하고 교육·활용 로그·설문으로 평가",</a:t>
            </a:r>
          </a:p>
          <a:p xmlns:a="http://schemas.openxmlformats.org/drawingml/2006/main">
            <a:r>
              <a:t>  "expectedEffect": "반복 작업시간 감소와 전략 업무에 쓸 시간 증가",</a:t>
            </a:r>
          </a:p>
          <a:p xmlns:a="http://schemas.openxmlformats.org/drawingml/2006/main">
            <a:r>
              <a:t>  "observed": "정부 2만 명 실험에서 일평균 26분 절감 자기보고, 약 80%의 이용 참여, 복잡·정교한 데이터 업무의 한계 보고",</a:t>
            </a:r>
          </a:p>
          <a:p xmlns:a="http://schemas.openxmlformats.org/drawingml/2006/main">
            <a:r>
              <a:t>  "verdict": "부분 성과",</a:t>
            </a:r>
          </a:p>
          <a:p xmlns:a="http://schemas.openxmlformats.org/drawingml/2006/main">
            <a:r>
              <a:t>  "verdictReason": "기존 M365 작업환경 통합과 교육을 동반한 실험에서 일상 업무의 체감 시간절약 확인. 객관 전후시간·예산절감과 복잡 업무의 품질 개선은 미입증",</a:t>
            </a:r>
          </a:p>
          <a:p xmlns:a="http://schemas.openxmlformats.org/drawingml/2006/main">
            <a:r>
              <a:t>  "limits": "동일 모집단의 후속 HMRC 평가와 중복 합산 금지; 교육·부서별 편차·자기보고 편향",</a:t>
            </a:r>
          </a:p>
          <a:p xmlns:a="http://schemas.openxmlformats.org/drawingml/2006/main">
            <a:r>
              <a:t>  "evidenceStage": "정부 실험·평가",</a:t>
            </a:r>
          </a:p>
          <a:p xmlns:a="http://schemas.openxmlformats.org/drawingml/2006/main">
            <a:r>
              <a:t>  "metric": "사용자 자기보고 평균 26분/일; 약 80% 이용 참여",</a:t>
            </a:r>
          </a:p>
          <a:p xmlns:a="http://schemas.openxmlformats.org/drawingml/2006/main">
            <a:r>
              <a:t>  "sourceUrl": "https://www.gov.uk/government/publications/microsoft-365-copilot-experiment-cross-government-findings-report/microsoft-365-copilot-experiment-cross-government-findings-report-html"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a:p xmlns:a="http://schemas.openxmlformats.org/drawingml/2006/main">
            <a:r>
              <a:t>한계: F1을 정확도76%로 쓰지 않음. 연7.5만일/2천만파운드는 전정부 확산 추정, 실현절감 아님</a:t>
            </a:r>
          </a:p>
          <a:p xmlns:a="http://schemas.openxmlformats.org/drawingml/2006/main">
            <a:r>
              <a:t>실패 위험: 소수 의견·반대 근거 누락 / 주제 빈도와 정책 타당성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a:p xmlns:a="http://schemas.openxmlformats.org/drawingml/2006/main">
            <a:r>
              <a:t>성과 대조</a:t>
            </a:r>
          </a:p>
          <a:p xmlns:a="http://schemas.openxmlformats.org/drawingml/2006/main">
            <a:r>
              <a:t>{</a:t>
            </a:r>
          </a:p>
          <a:p xmlns:a="http://schemas.openxmlformats.org/drawingml/2006/main">
            <a:r>
              <a:t>  "caseId": "PF-A14",</a:t>
            </a:r>
          </a:p>
          <a:p xmlns:a="http://schemas.openxmlformats.org/drawingml/2006/main">
            <a:r>
              <a:t>  "asIs": "대량 정책 의견을 공무원이 하나씩 읽고 주제·소수 의견을 분류·요약",</a:t>
            </a:r>
          </a:p>
          <a:p xmlns:a="http://schemas.openxmlformats.org/drawingml/2006/main">
            <a:r>
              <a:t>  "toBe": "Consult가 주제 후보·요약을 만들고 담당자가 원문과 대조·수정하는 병행 검토",</a:t>
            </a:r>
          </a:p>
          <a:p xmlns:a="http://schemas.openxmlformats.org/drawingml/2006/main">
            <a:r>
              <a:t>  "expectedEffect": "검토 인력·시간 절감과 의견 누락 감소",</a:t>
            </a:r>
          </a:p>
          <a:p xmlns:a="http://schemas.openxmlformats.org/drawingml/2006/main">
            <a:r>
              <a:t>  "observed": "영국 정부의 첫 정책 의견수렴 실증 발표. 전정부 연간 절감 추정은 제시됐으나 실현절감·소수 의견 재현율 미공개",</a:t>
            </a:r>
          </a:p>
          <a:p xmlns:a="http://schemas.openxmlformats.org/drawingml/2006/main">
            <a:r>
              <a:t>  "verdict": "성과 미검증",</a:t>
            </a:r>
          </a:p>
          <a:p xmlns:a="http://schemas.openxmlformats.org/drawingml/2006/main">
            <a:r>
              <a:t>  "verdictReason": "최초 사용과 전국 확산 추정치를 실제 절감으로 바꿀 수 없음",</a:t>
            </a:r>
          </a:p>
          <a:p xmlns:a="http://schemas.openxmlformats.org/drawingml/2006/main">
            <a:r>
              <a:t>  "limits": "주제 분류 F1과 일반 정확도는 다른 지표; 수작업 병행 비용 포함 필요",</a:t>
            </a:r>
          </a:p>
          <a:p xmlns:a="http://schemas.openxmlformats.org/drawingml/2006/main">
            <a:r>
              <a:t>  "evidenceStage": "업무 앱 최초 실증",</a:t>
            </a:r>
          </a:p>
          <a:p xmlns:a="http://schemas.openxmlformats.org/drawingml/2006/main">
            <a:r>
              <a:t>  "sourceUrl": "https://www.gov.uk/government/news/government-built-humphrey-ai-tool-reviews-responses-to-consultation-for-first-time-in-bid-to-save-millions"</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a:p xmlns:a="http://schemas.openxmlformats.org/drawingml/2006/main">
            <a:r>
              <a:t>한계: 무작위 실험 아님. 일부 업무 하루1시간 체감 절감을 전직원 실측값으로 사용 금지</a:t>
            </a:r>
          </a:p>
          <a:p xmlns:a="http://schemas.openxmlformats.org/drawingml/2006/main">
            <a:r>
              <a:t>실패 위험: 학습·조직 준비도 차이 / 설문 변화의 인과효과 단정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a:p xmlns:a="http://schemas.openxmlformats.org/drawingml/2006/main">
            <a:r>
              <a:t>성과 대조</a:t>
            </a:r>
          </a:p>
          <a:p xmlns:a="http://schemas.openxmlformats.org/drawingml/2006/main">
            <a:r>
              <a:t>{</a:t>
            </a:r>
          </a:p>
          <a:p xmlns:a="http://schemas.openxmlformats.org/drawingml/2006/main">
            <a:r>
              <a:t>  "caseId": "PF-A15",</a:t>
            </a:r>
          </a:p>
          <a:p xmlns:a="http://schemas.openxmlformats.org/drawingml/2006/main">
            <a:r>
              <a:t>  "asIs": "호주 공무원의 문서 요약·초안·정보검색과 협업이 수작업 중심",</a:t>
            </a:r>
          </a:p>
          <a:p xmlns:a="http://schemas.openxmlformats.org/drawingml/2006/main">
            <a:r>
              <a:t>  "toBe": "M365 Copilot을 여러 기관에 시험 배포하고 업무 맥락 교육·전후 설문으로 사용성과 평가",</a:t>
            </a:r>
          </a:p>
          <a:p xmlns:a="http://schemas.openxmlformats.org/drawingml/2006/main">
            <a:r>
              <a:t>  "expectedEffect": "요약·초안·검색의 작업시간 감소와 품질 향상",</a:t>
            </a:r>
          </a:p>
          <a:p xmlns:a="http://schemas.openxmlformats.org/drawingml/2006/main">
            <a:r>
              <a:t>  "observed": "공식 평가에서 속도 개선 동의 69%, 품질 개선 동의 61%, 일일 사용 약 1/3. 일부 7%는 작업시간 증가 보고",</a:t>
            </a:r>
          </a:p>
          <a:p xmlns:a="http://schemas.openxmlformats.org/drawingml/2006/main">
            <a:r>
              <a:t>  "verdict": "부분 성과",</a:t>
            </a:r>
          </a:p>
          <a:p xmlns:a="http://schemas.openxmlformats.org/drawingml/2006/main">
            <a:r>
              <a:t>  "verdictReason": "요약·초안·검색과 기관 맥락 교육에서 체감 효과 확인. 낮은 일일 사용·출력 검토와 재작업으로 전사 효과는 제한",</a:t>
            </a:r>
          </a:p>
          <a:p xmlns:a="http://schemas.openxmlformats.org/drawingml/2006/main">
            <a:r>
              <a:t>  "limits": "비무작위 참여·자기보고·기관별 버전 편차; 하루 1시간 체감 절약을 전체 직원의 실측 절감으로 일반화 금지",</a:t>
            </a:r>
          </a:p>
          <a:p xmlns:a="http://schemas.openxmlformats.org/drawingml/2006/main">
            <a:r>
              <a:t>  "evidenceStage": "정부 실험·외부 평가",</a:t>
            </a:r>
          </a:p>
          <a:p xmlns:a="http://schemas.openxmlformats.org/drawingml/2006/main">
            <a:r>
              <a:t>  "metric": "속도 개선 동의 69%; 품질 개선 동의 61%; 일일 사용 약 1/3; 최대 7% 시간 증가",</a:t>
            </a:r>
          </a:p>
          <a:p xmlns:a="http://schemas.openxmlformats.org/drawingml/2006/main">
            <a:r>
              <a:t>  "sourceUrl": "https://www.digital.gov.au/initiatives/copilot-trial/microsoft-365-copilot-evaluation-report-full/executive-summary-glossary"</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a:p xmlns:a="http://schemas.openxmlformats.org/drawingml/2006/main">
            <a:r>
              <a:t>한계: 12만명 전사 확대는 발표 계획과 초기11,000명 실적을 구분. 독립 ROI 검증 아님</a:t>
            </a:r>
          </a:p>
          <a:p xmlns:a="http://schemas.openxmlformats.org/drawingml/2006/main">
            <a:r>
              <a:t>실패 위험: 활용자 수와 업무 완결성의 차이 / 규제·민감자료 통제의 확장 부담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a:p xmlns:a="http://schemas.openxmlformats.org/drawingml/2006/main">
            <a:r>
              <a:t>성과 대조</a:t>
            </a:r>
          </a:p>
          <a:p xmlns:a="http://schemas.openxmlformats.org/drawingml/2006/main">
            <a:r>
              <a:t>{</a:t>
            </a:r>
          </a:p>
          <a:p xmlns:a="http://schemas.openxmlformats.org/drawingml/2006/main">
            <a:r>
              <a:t>  "caseId": "PF-A16",</a:t>
            </a:r>
          </a:p>
          <a:p xmlns:a="http://schemas.openxmlformats.org/drawingml/2006/main">
            <a:r>
              <a:t>  "asIs": "은행 부서마다 안전한 생성형 AI 이용과 업무별 GPT 구성·교육 필요",</a:t>
            </a:r>
          </a:p>
          <a:p xmlns:a="http://schemas.openxmlformats.org/drawingml/2006/main">
            <a:r>
              <a:t>  "toBe": "ChatGPT Enterprise와 전문화 GPT를 단계적으로 전사 확대하고 Global AI Adoption 조직이 활용 지원",</a:t>
            </a:r>
          </a:p>
          <a:p xmlns:a="http://schemas.openxmlformats.org/drawingml/2006/main">
            <a:r>
              <a:t>  "expectedEffect": "업무 준비시간 감소와 부서별 혁신 사례의 빠른 확산",</a:t>
            </a:r>
          </a:p>
          <a:p xmlns:a="http://schemas.openxmlformats.org/drawingml/2006/main">
            <a:r>
              <a:t>  "observed": "BBVA의 초기 1.1만 명 활용 및 전사 확대 협약 발표. 발표한 확대 대상과 실제 활성 이용·독립 ROI는 다름",</a:t>
            </a:r>
          </a:p>
          <a:p xmlns:a="http://schemas.openxmlformats.org/drawingml/2006/main">
            <a:r>
              <a:t>  "verdict": "성과 미검증",</a:t>
            </a:r>
          </a:p>
          <a:p xmlns:a="http://schemas.openxmlformats.org/drawingml/2006/main">
            <a:r>
              <a:t>  "verdictReason": "활용 인원·확대 계획만으로 고객 서비스 품질·업무별 생산성 효과 확인 불가",</a:t>
            </a:r>
          </a:p>
          <a:p xmlns:a="http://schemas.openxmlformats.org/drawingml/2006/main">
            <a:r>
              <a:t>  "limits": "기업 자체 발표에 한정; 은행 규제·민감자료 통제와 부서별 재작업 비용 포함",</a:t>
            </a:r>
          </a:p>
          <a:p xmlns:a="http://schemas.openxmlformats.org/drawingml/2006/main">
            <a:r>
              <a:t>  "evidenceStage": "기업 활용 발표 + 확대 계획",</a:t>
            </a:r>
          </a:p>
          <a:p xmlns:a="http://schemas.openxmlformats.org/drawingml/2006/main">
            <a:r>
              <a:t>  "sourceUrl": "https://www.bbva.com/en/innovation/bbva-and-openai-seal-a-strategic-alliance-to-redefine-banking-with-artificial-intelligence/"</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a:p xmlns:a="http://schemas.openxmlformats.org/drawingml/2006/main">
            <a:r>
              <a:t>한계: Assistant 채택률과 Debrief 시간절감의 구분 · 사용자 동의·편집 판단 포함</a:t>
            </a:r>
          </a:p>
          <a:p xmlns:a="http://schemas.openxmlformats.org/drawingml/2006/main">
            <a:r>
              <a:t>실패 위험: 대화의 잘못된 요약·할일 추출 / 확인 전 CRM·이메일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a:p xmlns:a="http://schemas.openxmlformats.org/drawingml/2006/main">
            <a:r>
              <a:t>성과 대조</a:t>
            </a:r>
          </a:p>
          <a:p xmlns:a="http://schemas.openxmlformats.org/drawingml/2006/main">
            <a:r>
              <a:t>{</a:t>
            </a:r>
          </a:p>
          <a:p xmlns:a="http://schemas.openxmlformats.org/drawingml/2006/main">
            <a:r>
              <a:t>  "caseId": "PF08",</a:t>
            </a:r>
          </a:p>
          <a:p xmlns:a="http://schemas.openxmlformats.org/drawingml/2006/main">
            <a:r>
              <a:t>  "asIs": "자문가가 회의 필기·요약·후속 메일·CRM 기록을 직접 수행하고 사내 지식을 별도 검색",</a:t>
            </a:r>
          </a:p>
          <a:p xmlns:a="http://schemas.openxmlformats.org/drawingml/2006/main">
            <a:r>
              <a:t>  "toBe": "Assistant로 승인된 지식을 조회하고 동의받은 회의를 Debrief가 초안화한 뒤 자문가 편집·발송·기록",</a:t>
            </a:r>
          </a:p>
          <a:p xmlns:a="http://schemas.openxmlformats.org/drawingml/2006/main">
            <a:r>
              <a:t>  "expectedEffect": "회의 후 기록시간 단축과 고객 대화 집중도 향상",</a:t>
            </a:r>
          </a:p>
          <a:p xmlns:a="http://schemas.openxmlformats.org/drawingml/2006/main">
            <a:r>
              <a:t>  "observed": "Morgan Stanley는 Assistant 자문팀 채택 98%와 Debrief 출시를 발표. 자문가 1인의 회의당 약 30분 절약 발언은 사례담",</a:t>
            </a:r>
          </a:p>
          <a:p xmlns:a="http://schemas.openxmlformats.org/drawingml/2006/main">
            <a:r>
              <a:t>  "verdict": "부분 성과",</a:t>
            </a:r>
          </a:p>
          <a:p xmlns:a="http://schemas.openxmlformats.org/drawingml/2006/main">
            <a:r>
              <a:t>  "verdictReason": "사내 지식검색과 동의·자문가 편집을 둔 회의 후속흐름에서 채택·활용 사례 확인. 평균 절감·고객 결과의 독립 비교 미공개",</a:t>
            </a:r>
          </a:p>
          <a:p xmlns:a="http://schemas.openxmlformats.org/drawingml/2006/main">
            <a:r>
              <a:t>  "limits": "Assistant 채택률을 Debrief 사용률로 대체 금지; 동의·편집 후 CRM 반영 경계",</a:t>
            </a:r>
          </a:p>
          <a:p xmlns:a="http://schemas.openxmlformats.org/drawingml/2006/main">
            <a:r>
              <a:t>  "evidenceStage": "기업 발표·업무 도구 운영",</a:t>
            </a:r>
          </a:p>
          <a:p xmlns:a="http://schemas.openxmlformats.org/drawingml/2006/main">
            <a:r>
              <a:t>  "metric": "Assistant 자문팀 채택 98%(기업 발표); Debrief 1인 사례담 약 30분/회의",</a:t>
            </a:r>
          </a:p>
          <a:p xmlns:a="http://schemas.openxmlformats.org/drawingml/2006/main">
            <a:r>
              <a:t>  "sourceUrl": "https://www.morganstanley.com/press-releases/ai-at-morgan-stanley-debrief-launch"</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a:p xmlns:a="http://schemas.openxmlformats.org/drawingml/2006/main">
            <a:r>
              <a:t>한계: 접근 가능과 활성이용 분모 다름. 거래심사 효율은 별도 AI 사례이며 LLM Suite 성과로 귀속 금지</a:t>
            </a:r>
          </a:p>
          <a:p xmlns:a="http://schemas.openxmlformats.org/drawingml/2006/main">
            <a:r>
              <a:t>실패 위험: 사업부별 지식·권한 차이 / 전사 확산을 일률적 효과로 환산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a:p xmlns:a="http://schemas.openxmlformats.org/drawingml/2006/main">
            <a:r>
              <a:t>성과 대조</a:t>
            </a:r>
          </a:p>
          <a:p xmlns:a="http://schemas.openxmlformats.org/drawingml/2006/main">
            <a:r>
              <a:t>{</a:t>
            </a:r>
          </a:p>
          <a:p xmlns:a="http://schemas.openxmlformats.org/drawingml/2006/main">
            <a:r>
              <a:t>  "caseId": "PF-A18",</a:t>
            </a:r>
          </a:p>
          <a:p xmlns:a="http://schemas.openxmlformats.org/drawingml/2006/main">
            <a:r>
              <a:t>  "asIs": "대형 금융그룹 내 사업부별 생성형 AI 도입·데이터 접근·교육이 분산",</a:t>
            </a:r>
          </a:p>
          <a:p xmlns:a="http://schemas.openxmlformats.org/drawingml/2006/main">
            <a:r>
              <a:t>  "toBe": "LLM Suite 공통 도구를 제공하고 사업부별 승인된 데이터·업무 문맥에 적용",</a:t>
            </a:r>
          </a:p>
          <a:p xmlns:a="http://schemas.openxmlformats.org/drawingml/2006/main">
            <a:r>
              <a:t>  "expectedEffect": "도입기간·반복 개발비 감소와 각 사업부 업무 생산성 향상",</a:t>
            </a:r>
          </a:p>
          <a:p xmlns:a="http://schemas.openxmlformats.org/drawingml/2006/main">
            <a:r>
              <a:t>  "observed": "JPMorganChase의 공통도구 출시·전사 접근 확대 발표. 사업부별 실제 사용과 목표 업무의 전후 비용·품질 자료 없음",</a:t>
            </a:r>
          </a:p>
          <a:p xmlns:a="http://schemas.openxmlformats.org/drawingml/2006/main">
            <a:r>
              <a:t>  "verdict": "성과 미검증",</a:t>
            </a:r>
          </a:p>
          <a:p xmlns:a="http://schemas.openxmlformats.org/drawingml/2006/main">
            <a:r>
              <a:t>  "verdictReason": "접근 가능한 직원 수와 활성 이용, 별도 거래심사 AI 성과를 구분해야 함",</a:t>
            </a:r>
          </a:p>
          <a:p xmlns:a="http://schemas.openxmlformats.org/drawingml/2006/main">
            <a:r>
              <a:t>  "limits": "LLM Suite가 아닌 타 AI 업무 사례의 성과를 귀속하지 않음",</a:t>
            </a:r>
          </a:p>
          <a:p xmlns:a="http://schemas.openxmlformats.org/drawingml/2006/main">
            <a:r>
              <a:t>  "evidenceStage": "전사 공통도구 운영·기업 발표",</a:t>
            </a:r>
          </a:p>
          <a:p xmlns:a="http://schemas.openxmlformats.org/drawingml/2006/main">
            <a:r>
              <a:t>  "sourceUrl": "https://www.jpmorganchase.com/about/technology/blog/innovation-week25"</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a:p xmlns:a="http://schemas.openxmlformats.org/drawingml/2006/main">
            <a:r>
              <a:t>한계: 지원 관계·데이터 조건에 따름. TS 업무분장·권한 변경 처리 품질은 별도 시험 필요</a:t>
            </a:r>
          </a:p>
          <a:p xmlns:a="http://schemas.openxmlformats.org/drawingml/2006/main">
            <a:r>
              <a:t>실패 위험: 조직 관계를 접근권한으로 오인 / 전보·겸직 정보의 지연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a:p xmlns:a="http://schemas.openxmlformats.org/drawingml/2006/main">
            <a:r>
              <a:t>성과 대조</a:t>
            </a:r>
          </a:p>
          <a:p xmlns:a="http://schemas.openxmlformats.org/drawingml/2006/main">
            <a:r>
              <a:t>{</a:t>
            </a:r>
          </a:p>
          <a:p xmlns:a="http://schemas.openxmlformats.org/drawingml/2006/main">
            <a:r>
              <a:t>  "caseId": "PF-C01",</a:t>
            </a:r>
          </a:p>
          <a:p xmlns:a="http://schemas.openxmlformats.org/drawingml/2006/main">
            <a:r>
              <a:t>  "asIs": "직원 상사·보좌·점선 보고 관계를 개인 검색이나 수동 프로필에 의존",</a:t>
            </a:r>
          </a:p>
          <a:p xmlns:a="http://schemas.openxmlformats.org/drawingml/2006/main">
            <a:r>
              <a:t>  "toBe": "M365 공식 People 관계 데이터를 지원 커넥터로 질의응답 문맥에 반영",</a:t>
            </a:r>
          </a:p>
          <a:p xmlns:a="http://schemas.openxmlformats.org/drawingml/2006/main">
            <a:r>
              <a:t>  "expectedEffect": "인물·관계 식별 정확도 향상과 소속 설명 반복 감소",</a:t>
            </a:r>
          </a:p>
          <a:p xmlns:a="http://schemas.openxmlformats.org/drawingml/2006/main">
            <a:r>
              <a:t>  "observed": "Microsoft 공식 문서의 지원 필드·관계 기능 확인. 특정 기관의 도입·업무성과 사례는 아님",</a:t>
            </a:r>
          </a:p>
          <a:p xmlns:a="http://schemas.openxmlformats.org/drawingml/2006/main">
            <a:r>
              <a:t>  "verdict": "성과 미검증",</a:t>
            </a:r>
          </a:p>
          <a:p xmlns:a="http://schemas.openxmlformats.org/drawingml/2006/main">
            <a:r>
              <a:t>  "verdictReason": "기능 존재만으로 TS 조직·직무 매핑 정확도나 권한 통제 검증 불가",</a:t>
            </a:r>
          </a:p>
          <a:p xmlns:a="http://schemas.openxmlformats.org/drawingml/2006/main">
            <a:r>
              <a:t>  "limits": "관계 데이터와 업무분장·실행 권한을 별도로 설계해야 함",</a:t>
            </a:r>
          </a:p>
          <a:p xmlns:a="http://schemas.openxmlformats.org/drawingml/2006/main">
            <a:r>
              <a:t>  "evidenceStage": "제품 기능 문서",</a:t>
            </a:r>
          </a:p>
          <a:p xmlns:a="http://schemas.openxmlformats.org/drawingml/2006/main">
            <a:r>
              <a:t>  "sourceUrl": "https://learn.microsoft.com/en-us/microsoft-365/admin/people-relationships-m365?view=o365-worldwide"</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a:p xmlns:a="http://schemas.openxmlformats.org/drawingml/2006/main">
            <a:r>
              <a:t>한계: CSV 방식은 인사 변경마다 재업로드 필요. 자동 커넥터도 제공. 동기화·조직 맥락 자체는 CCK 독점 기능 아님</a:t>
            </a:r>
          </a:p>
          <a:p xmlns:a="http://schemas.openxmlformats.org/drawingml/2006/main">
            <a:r>
              <a:t>실패 위험: 복수 원천의 직원 중복 / 삭제·퇴직·부서 변경 반영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a:p xmlns:a="http://schemas.openxmlformats.org/drawingml/2006/main">
            <a:r>
              <a:t>성과 대조</a:t>
            </a:r>
          </a:p>
          <a:p xmlns:a="http://schemas.openxmlformats.org/drawingml/2006/main">
            <a:r>
              <a:t>{</a:t>
            </a:r>
          </a:p>
          <a:p xmlns:a="http://schemas.openxmlformats.org/drawingml/2006/main">
            <a:r>
              <a:t>  "caseId": "PF-C02",</a:t>
            </a:r>
          </a:p>
          <a:p xmlns:a="http://schemas.openxmlformats.org/drawingml/2006/main">
            <a:r>
              <a:t>  "asIs": "직원 디렉터리와 부서·직책·상사 정보가 검색 서비스와 별도로 관리",</a:t>
            </a:r>
          </a:p>
          <a:p xmlns:a="http://schemas.openxmlformats.org/drawingml/2006/main">
            <a:r>
              <a:t>  "toBe": "Glean People 커넥터로 공식 인물 속성을 동기화하고 권한 범위 안에서 검색 개인화",</a:t>
            </a:r>
          </a:p>
          <a:p xmlns:a="http://schemas.openxmlformats.org/drawingml/2006/main">
            <a:r>
              <a:t>  "expectedEffect": "인물 찾기·조직 문맥 정확도 향상과 변경 반영 지연 감소",</a:t>
            </a:r>
          </a:p>
          <a:p xmlns:a="http://schemas.openxmlformats.org/drawingml/2006/main">
            <a:r>
              <a:t>  "observed": "Glean 공식 동기화·필드 매핑 문서 확인. TS 원천 연계나 동기화 지연의 측정 결과 없음",</a:t>
            </a:r>
          </a:p>
          <a:p xmlns:a="http://schemas.openxmlformats.org/drawingml/2006/main">
            <a:r>
              <a:t>  "verdict": "성과 미검증",</a:t>
            </a:r>
          </a:p>
          <a:p xmlns:a="http://schemas.openxmlformats.org/drawingml/2006/main">
            <a:r>
              <a:t>  "verdictReason": "제품 사양은 기관별 운영 성과 또는 자동 권한 회수 검수 결과가 아님",</a:t>
            </a:r>
          </a:p>
          <a:p xmlns:a="http://schemas.openxmlformats.org/drawingml/2006/main">
            <a:r>
              <a:t>  "limits": "CSV 재업로드 방식과 자동 커넥터 방식 구분; 업무분장 표준 필드의 지원 범위 확인 필요",</a:t>
            </a:r>
          </a:p>
          <a:p xmlns:a="http://schemas.openxmlformats.org/drawingml/2006/main">
            <a:r>
              <a:t>  "evidenceStage": "제품 기능 문서",</a:t>
            </a:r>
          </a:p>
          <a:p xmlns:a="http://schemas.openxmlformats.org/drawingml/2006/main">
            <a:r>
              <a:t>  "sourceUrl": "https://docs.glean.com/get-started/setup/sync-people-data"</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a:p xmlns:a="http://schemas.openxmlformats.org/drawingml/2006/main">
            <a:r>
              <a:t>한계: 제품 기능 설명과 고객 구현·성과를 구분. 특정 ERP 의존성 및 TS 타 시스템 연계 공수는 미확인</a:t>
            </a:r>
          </a:p>
          <a:p xmlns:a="http://schemas.openxmlformats.org/drawingml/2006/main">
            <a:r>
              <a:t>실패 위험: 제품 소개와 실제 고객 동작 차이 / 업무 실행 권한의 과도한 위임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a:p xmlns:a="http://schemas.openxmlformats.org/drawingml/2006/main">
            <a:r>
              <a:t>성과 대조</a:t>
            </a:r>
          </a:p>
          <a:p xmlns:a="http://schemas.openxmlformats.org/drawingml/2006/main">
            <a:r>
              <a:t>{</a:t>
            </a:r>
          </a:p>
          <a:p xmlns:a="http://schemas.openxmlformats.org/drawingml/2006/main">
            <a:r>
              <a:t>  "caseId": "PF-C03",</a:t>
            </a:r>
          </a:p>
          <a:p xmlns:a="http://schemas.openxmlformats.org/drawingml/2006/main">
            <a:r>
              <a:t>  "asIs": "ERP·그룹웨어에 흩어진 근태·결재·업무 정보와 일반 AI 질의가 분리",</a:t>
            </a:r>
          </a:p>
          <a:p xmlns:a="http://schemas.openxmlformats.org/drawingml/2006/main">
            <a:r>
              <a:t>  "toBe": "Amaranth 10·ONE AI 제품 설명처럼 ERP·전자결재·RAG·업무 에이전트를 연결",</a:t>
            </a:r>
          </a:p>
          <a:p xmlns:a="http://schemas.openxmlformats.org/drawingml/2006/main">
            <a:r>
              <a:t>  "expectedEffect": "근태·결재 과업 완료시간과 재입력·중복 처리 감소",</a:t>
            </a:r>
          </a:p>
          <a:p xmlns:a="http://schemas.openxmlformats.org/drawingml/2006/main">
            <a:r>
              <a:t>  "observed": "공급사 제안서의 제품 기능 확인. 특정 고객의 설치·업무 완료율·전후 비용 자료 없음",</a:t>
            </a:r>
          </a:p>
          <a:p xmlns:a="http://schemas.openxmlformats.org/drawingml/2006/main">
            <a:r>
              <a:t>  "verdict": "성과 미검증",</a:t>
            </a:r>
          </a:p>
          <a:p xmlns:a="http://schemas.openxmlformats.org/drawingml/2006/main">
            <a:r>
              <a:t>  "verdictReason": "판매 자료의 기능 범위가 실제 고객 운영·성과의 증거는 아님",</a:t>
            </a:r>
          </a:p>
          <a:p xmlns:a="http://schemas.openxmlformats.org/drawingml/2006/main">
            <a:r>
              <a:t>  "limits": "TS 기간계 적합성·라이선스·연계 공수는 별도 검토 대상",</a:t>
            </a:r>
          </a:p>
          <a:p xmlns:a="http://schemas.openxmlformats.org/drawingml/2006/main">
            <a:r>
              <a:t>  "evidenceStage": "제품 제안서",</a:t>
            </a:r>
          </a:p>
          <a:p xmlns:a="http://schemas.openxmlformats.org/drawingml/2006/main">
            <a:r>
              <a:t>  "sourceUrl": "https://idouzone.com/customer/solutionroom.php?boardid=data&amp;idx=39&amp;mNum=3&amp;mode=view&amp;sNum=3"</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a:p xmlns:a="http://schemas.openxmlformats.org/drawingml/2006/main">
            <a:r>
              <a:t>한계: 운영기관의 정확도 주장과 감사 판단의 차이 존재 · 개별 질의·평가 방식 대조 필요</a:t>
            </a:r>
          </a:p>
          <a:p xmlns:a="http://schemas.openxmlformats.org/drawingml/2006/main">
            <a:r>
              <a:t>재발 방지 조건: 통합 서비스의 완료조건 정의 / 응답 품질·계약 증빙의 독립 검토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a:p xmlns:a="http://schemas.openxmlformats.org/drawingml/2006/main">
            <a:r>
              <a:t>성과 대조</a:t>
            </a:r>
          </a:p>
          <a:p xmlns:a="http://schemas.openxmlformats.org/drawingml/2006/main">
            <a:r>
              <a:t>{</a:t>
            </a:r>
          </a:p>
          <a:p xmlns:a="http://schemas.openxmlformats.org/drawingml/2006/main">
            <a:r>
              <a:t>  "caseId": "PF31",</a:t>
            </a:r>
          </a:p>
          <a:p xmlns:a="http://schemas.openxmlformats.org/drawingml/2006/main">
            <a:r>
              <a:t>  "asIs": "뉴욕시 시민서비스가 기관별 사이트·양식에 분산되고 혜택 안내가 단절",</a:t>
            </a:r>
          </a:p>
          <a:p xmlns:a="http://schemas.openxmlformats.org/drawingml/2006/main">
            <a:r>
              <a:t>  "toBe": "MyCity 단일 창구·통합 신청·디지털 지갑과 신뢰할 수 있는 대화형 안내",</a:t>
            </a:r>
          </a:p>
          <a:p xmlns:a="http://schemas.openxmlformats.org/drawingml/2006/main">
            <a:r>
              <a:t>  "expectedEffect": "시민의 원스톱 신청 완료, 일관된 안내, 처리 상태 추적 및 접근성 개선",</a:t>
            </a:r>
          </a:p>
          <a:p xmlns:a="http://schemas.openxmlformats.org/drawingml/2006/main">
            <a:r>
              <a:t>  "observed": "시 감사는 4년·1억 달러 이상 지출 후 단일 양식·디지털 지갑 미구현, 챗봇 부정확·비일관 응답 및 p90 12.4~16.2초 지적",</a:t>
            </a:r>
          </a:p>
          <a:p xmlns:a="http://schemas.openxmlformats.org/drawingml/2006/main">
            <a:r>
              <a:t>  "verdict": "실패 확인",</a:t>
            </a:r>
          </a:p>
          <a:p xmlns:a="http://schemas.openxmlformats.org/drawingml/2006/main">
            <a:r>
              <a:t>  "verdictReason": "감사 기준의 단일 신청·지갑 미구현과 답변 일관성·응답시간 미달 확인. 계획·계약 감독 및 시험 증빙도 지적; 운영기관은 정확도에 이견 제기",</a:t>
            </a:r>
          </a:p>
          <a:p xmlns:a="http://schemas.openxmlformats.org/drawingml/2006/main">
            <a:r>
              <a:t>  "limits": "사업 전체의 모든 구성 실패로 일반화 금지; 부정 피드백 50/70은 응답자 분모이며 전체 질문 비율 아님",</a:t>
            </a:r>
          </a:p>
          <a:p xmlns:a="http://schemas.openxmlformats.org/drawingml/2006/main">
            <a:r>
              <a:t>  "evidenceStage": "독립 공식 감사",</a:t>
            </a:r>
          </a:p>
          <a:p xmlns:a="http://schemas.openxmlformats.org/drawingml/2006/main">
            <a:r>
              <a:t>  "metric": "감사: 부정 피드백 응답 50/70, 챗봇 질문 p90 12.4~16.2초",</a:t>
            </a:r>
          </a:p>
          <a:p xmlns:a="http://schemas.openxmlformats.org/drawingml/2006/main">
            <a:r>
              <a:t>  "sourceUrl": "https://comptroller.nyc.gov/reports/audit-report-on-the-new-york-city-office-of-technology-and-innovations-mycity-system/"</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후속계획 https://heen1987-ops.github.io/TS-business-Plan-001/index.html?view=casebook&amp;tab=strategy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b6edce51ba4f5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168c5cb452f4a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d088f76ee7447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b1f8f4015b4fc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0be73e384d4c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74790827a641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853547-D1DA-47A2-ACE5-76863E57191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A7876E-E3F1-4203-944B-6822A9E78F3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0C8501E-C881-4FA6-ACE2-5427F6A33A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9783EE-CB7D-41C4-AD0F-E05B2212CF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2F29D05-F32D-4C54-904F-7CAC438811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736E14F-8968-47FB-97B9-EE157D54CA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16DA86-B03C-4923-87B4-A0C13FF856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6B1F6A-854D-4B43-A240-D5F21DB44B0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4F2BF1-5275-4E6A-A1DD-541977D4A3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ED3B90-A28F-4068-A474-7E7EDEC842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716126e74a42fb" /><Relationship Type="http://schemas.openxmlformats.org/officeDocument/2006/relationships/slideLayout" Target="/ppt/slideLayouts/slideLayout1.xml" Id="Rac25792989e2478a" /><Relationship Type="http://schemas.openxmlformats.org/officeDocument/2006/relationships/slideLayout" Target="/ppt/slideLayouts/slideLayout2.xml" Id="Rdee6d998decb49c8" /><Relationship Type="http://schemas.openxmlformats.org/officeDocument/2006/relationships/slideLayout" Target="/ppt/slideLayouts/slideLayout3.xml" Id="Rc0ca14bf2cd3431c" /><Relationship Type="http://schemas.openxmlformats.org/officeDocument/2006/relationships/slideLayout" Target="/ppt/slideLayouts/slideLayout4.xml" Id="R1ccdbf5f026541bc" /><Relationship Type="http://schemas.openxmlformats.org/officeDocument/2006/relationships/slideLayout" Target="/ppt/slideLayouts/slideLayout5.xml" Id="Rd324a88ecab644ac" /><Relationship Type="http://schemas.openxmlformats.org/officeDocument/2006/relationships/slideLayout" Target="/ppt/slideLayouts/slideLayout6.xml" Id="R7ebe3656b53f4b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25792989e2478a"/>
    <p:sldLayoutId xmlns:r="http://schemas.openxmlformats.org/officeDocument/2006/relationships" id="2147483650" r:id="Rdee6d998decb49c8"/>
    <p:sldLayoutId xmlns:r="http://schemas.openxmlformats.org/officeDocument/2006/relationships" id="2147483651" r:id="Rc0ca14bf2cd3431c"/>
    <p:sldLayoutId xmlns:r="http://schemas.openxmlformats.org/officeDocument/2006/relationships" id="2147483652" r:id="R1ccdbf5f026541bc"/>
    <p:sldLayoutId xmlns:r="http://schemas.openxmlformats.org/officeDocument/2006/relationships" id="2147483653" r:id="Rd324a88ecab644ac"/>
    <p:sldLayoutId xmlns:r="http://schemas.openxmlformats.org/officeDocument/2006/relationships" id="2147483654" r:id="R7ebe3656b53f4b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4c2893c0cb04c7b" /><Relationship Type="http://schemas.openxmlformats.org/officeDocument/2006/relationships/notesSlide" Target="/ppt/notesSlides/notesSlide1.xml" Id="R80f34b65174842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d2209559d634243" /><Relationship Type="http://schemas.openxmlformats.org/officeDocument/2006/relationships/notesSlide" Target="/ppt/notesSlides/notesSlide2.xml" Id="R1830e4588f1048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0c26fdfb336435a" /><Relationship Type="http://schemas.openxmlformats.org/officeDocument/2006/relationships/notesSlide" Target="/ppt/notesSlides/notesSlide3.xml" Id="R82120dedb86342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c14d1ae56b4ab0" /><Relationship Type="http://schemas.openxmlformats.org/officeDocument/2006/relationships/notesSlide" Target="/ppt/notesSlides/notesSlide4.xml" Id="Rae2df241488b43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7af815bfb044b4e" /><Relationship Type="http://schemas.openxmlformats.org/officeDocument/2006/relationships/image" Target="/ppt/media/image.png" Id="Rd849e5dcbe174583" /><Relationship Type="http://schemas.openxmlformats.org/officeDocument/2006/relationships/notesSlide" Target="/ppt/notesSlides/notesSlide5.xml" Id="R5df7ad1c21414d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661b84fd61740a9" /><Relationship Type="http://schemas.openxmlformats.org/officeDocument/2006/relationships/notesSlide" Target="/ppt/notesSlides/notesSlide6.xml" Id="R6ae9bbbdd51344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1425846bd264d09" /><Relationship Type="http://schemas.openxmlformats.org/officeDocument/2006/relationships/notesSlide" Target="/ppt/notesSlides/notesSlide7.xml" Id="R44e20555f1d14b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4bcdfb16bdc4607" /><Relationship Type="http://schemas.openxmlformats.org/officeDocument/2006/relationships/notesSlide" Target="/ppt/notesSlides/notesSlide8.xml" Id="Rd43b752240c049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9a044f08f0a48c0" /><Relationship Type="http://schemas.openxmlformats.org/officeDocument/2006/relationships/notesSlide" Target="/ppt/notesSlides/notesSlide9.xml" Id="R4d6735d5f39341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ad4f0d8a7744d2a" /><Relationship Type="http://schemas.openxmlformats.org/officeDocument/2006/relationships/notesSlide" Target="/ppt/notesSlides/notesSlide10.xml" Id="Ref9ce30148f041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3ed2bc7aabf403b" /><Relationship Type="http://schemas.openxmlformats.org/officeDocument/2006/relationships/notesSlide" Target="/ppt/notesSlides/notesSlide11.xml" Id="R8ba1713a6b7748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399abbdd6224c63" /><Relationship Type="http://schemas.openxmlformats.org/officeDocument/2006/relationships/notesSlide" Target="/ppt/notesSlides/notesSlide12.xml" Id="Rf3d324c896bc4fc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c0785e93fa04fe2" /><Relationship Type="http://schemas.openxmlformats.org/officeDocument/2006/relationships/notesSlide" Target="/ppt/notesSlides/notesSlide13.xml" Id="Rcf30875031f84d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06da630e36c443f" /><Relationship Type="http://schemas.openxmlformats.org/officeDocument/2006/relationships/image" Target="/ppt/media/image2.png" Id="R11caebe239564cec" /><Relationship Type="http://schemas.openxmlformats.org/officeDocument/2006/relationships/notesSlide" Target="/ppt/notesSlides/notesSlide14.xml" Id="R35e972dc59a0495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932dd89fed94f40" /><Relationship Type="http://schemas.openxmlformats.org/officeDocument/2006/relationships/image" Target="/ppt/media/image3.png" Id="Rd2124e235691466c" /><Relationship Type="http://schemas.openxmlformats.org/officeDocument/2006/relationships/notesSlide" Target="/ppt/notesSlides/notesSlide15.xml" Id="R14291838c91c482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3e390ddbec6457f" /><Relationship Type="http://schemas.openxmlformats.org/officeDocument/2006/relationships/image" Target="/ppt/media/image4.png" Id="R0ec300f04f824fd0" /><Relationship Type="http://schemas.openxmlformats.org/officeDocument/2006/relationships/notesSlide" Target="/ppt/notesSlides/notesSlide16.xml" Id="Re775db3ad8104b5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cde447348444ccf" /><Relationship Type="http://schemas.openxmlformats.org/officeDocument/2006/relationships/image" Target="/ppt/media/image5.png" Id="R2aa0ff5d3a384024" /><Relationship Type="http://schemas.openxmlformats.org/officeDocument/2006/relationships/notesSlide" Target="/ppt/notesSlides/notesSlide17.xml" Id="R76689b4a39c1402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ce9d40f92494969" /><Relationship Type="http://schemas.openxmlformats.org/officeDocument/2006/relationships/notesSlide" Target="/ppt/notesSlides/notesSlide18.xml" Id="Rb95a7aada16541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69c0f8f39ce4df3" /><Relationship Type="http://schemas.openxmlformats.org/officeDocument/2006/relationships/notesSlide" Target="/ppt/notesSlides/notesSlide19.xml" Id="R9a371ed5349b40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9bf04261c204cca" /><Relationship Type="http://schemas.openxmlformats.org/officeDocument/2006/relationships/notesSlide" Target="/ppt/notesSlides/notesSlide20.xml" Id="Redd09b5071a44a9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53cc801649a42ef" /><Relationship Type="http://schemas.openxmlformats.org/officeDocument/2006/relationships/notesSlide" Target="/ppt/notesSlides/notesSlide21.xml" Id="Ra455c79065b446e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130f285cc4d4711" /><Relationship Type="http://schemas.openxmlformats.org/officeDocument/2006/relationships/notesSlide" Target="/ppt/notesSlides/notesSlide22.xml" Id="Rc6ffbc5833654fd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d66716fcdd44ff3" /><Relationship Type="http://schemas.openxmlformats.org/officeDocument/2006/relationships/notesSlide" Target="/ppt/notesSlides/notesSlide23.xml" Id="Rbb3a5019dfcd476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24b069b434548d9" /><Relationship Type="http://schemas.openxmlformats.org/officeDocument/2006/relationships/notesSlide" Target="/ppt/notesSlides/notesSlide24.xml" Id="Rd71d6cb82bb6462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3b353f6dd034054" /><Relationship Type="http://schemas.openxmlformats.org/officeDocument/2006/relationships/notesSlide" Target="/ppt/notesSlides/notesSlide25.xml" Id="R7c31f730b11f4b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bb6640c94784923" /><Relationship Type="http://schemas.openxmlformats.org/officeDocument/2006/relationships/image" Target="/ppt/media/image6.png" Id="R479cdd15cf644893" /><Relationship Type="http://schemas.openxmlformats.org/officeDocument/2006/relationships/notesSlide" Target="/ppt/notesSlides/notesSlide26.xml" Id="R630f19d7bb744cc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4146d86b8be404f" /><Relationship Type="http://schemas.openxmlformats.org/officeDocument/2006/relationships/notesSlide" Target="/ppt/notesSlides/notesSlide27.xml" Id="Reabbd442095742f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f1436e944c14102" /><Relationship Type="http://schemas.openxmlformats.org/officeDocument/2006/relationships/notesSlide" Target="/ppt/notesSlides/notesSlide28.xml" Id="R788bdce5e2ef4b3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33f772beafd40c1" /><Relationship Type="http://schemas.openxmlformats.org/officeDocument/2006/relationships/notesSlide" Target="/ppt/notesSlides/notesSlide29.xml" Id="Rb47f4db2292f4cf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c3eed7caa034a32" /><Relationship Type="http://schemas.openxmlformats.org/officeDocument/2006/relationships/notesSlide" Target="/ppt/notesSlides/notesSlide30.xml" Id="R850ed49cb3c3457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7bf44f991b9406d" /><Relationship Type="http://schemas.openxmlformats.org/officeDocument/2006/relationships/notesSlide" Target="/ppt/notesSlides/notesSlide31.xml" Id="R11ff346e02e1469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236f1e2203b4e3e" /><Relationship Type="http://schemas.openxmlformats.org/officeDocument/2006/relationships/notesSlide" Target="/ppt/notesSlides/notesSlide32.xml" Id="Rdaee8269102a437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38f89016d4f43e8" /><Relationship Type="http://schemas.openxmlformats.org/officeDocument/2006/relationships/notesSlide" Target="/ppt/notesSlides/notesSlide33.xml" Id="R4b2e6c93f56242a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bef12e96578459b" /><Relationship Type="http://schemas.openxmlformats.org/officeDocument/2006/relationships/image" Target="/ppt/media/image7.png" Id="R9faa908c4be54102" /><Relationship Type="http://schemas.openxmlformats.org/officeDocument/2006/relationships/notesSlide" Target="/ppt/notesSlides/notesSlide34.xml" Id="R5ff4a898a8bc4f7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bd340751bce4ea3" /><Relationship Type="http://schemas.openxmlformats.org/officeDocument/2006/relationships/image" Target="/ppt/media/image8.png" Id="R82458bfac46e410e" /><Relationship Type="http://schemas.openxmlformats.org/officeDocument/2006/relationships/notesSlide" Target="/ppt/notesSlides/notesSlide35.xml" Id="Rd0a12b2cc44c4bb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82d3a8cf0274b92" /><Relationship Type="http://schemas.openxmlformats.org/officeDocument/2006/relationships/notesSlide" Target="/ppt/notesSlides/notesSlide36.xml" Id="Rd5bf25f886c24aa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672b0de91a04aef" /><Relationship Type="http://schemas.openxmlformats.org/officeDocument/2006/relationships/notesSlide" Target="/ppt/notesSlides/notesSlide37.xml" Id="R8816446af29747b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9927c52f91d4171" /><Relationship Type="http://schemas.openxmlformats.org/officeDocument/2006/relationships/notesSlide" Target="/ppt/notesSlides/notesSlide38.xml" Id="Rab7d08b9308c472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5c3563931504349" /><Relationship Type="http://schemas.openxmlformats.org/officeDocument/2006/relationships/notesSlide" Target="/ppt/notesSlides/notesSlide39.xml" Id="Rbf90c69eefd84ab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b14397ba1884d1a" /><Relationship Type="http://schemas.openxmlformats.org/officeDocument/2006/relationships/notesSlide" Target="/ppt/notesSlides/notesSlide40.xml" Id="R623fc4ea3148431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549a6036ef64786" /><Relationship Type="http://schemas.openxmlformats.org/officeDocument/2006/relationships/notesSlide" Target="/ppt/notesSlides/notesSlide41.xml" Id="R689ed702028e431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1da4bfcddee4409" /><Relationship Type="http://schemas.openxmlformats.org/officeDocument/2006/relationships/notesSlide" Target="/ppt/notesSlides/notesSlide42.xml" Id="R086fdf04fc3d4e2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cd588f4b4ad41ba" /><Relationship Type="http://schemas.openxmlformats.org/officeDocument/2006/relationships/image" Target="/ppt/media/image9.png" Id="Rcc139f0893b14ff7" /><Relationship Type="http://schemas.openxmlformats.org/officeDocument/2006/relationships/notesSlide" Target="/ppt/notesSlides/notesSlide43.xml" Id="R1ee081698db6443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3b14488591345a6" /><Relationship Type="http://schemas.openxmlformats.org/officeDocument/2006/relationships/image" Target="/ppt/media/image10.png" Id="R35e82fc627f541fe" /><Relationship Type="http://schemas.openxmlformats.org/officeDocument/2006/relationships/notesSlide" Target="/ppt/notesSlides/notesSlide44.xml" Id="Rf7edc11c1c4b4cb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5885e9afe584d42" /><Relationship Type="http://schemas.openxmlformats.org/officeDocument/2006/relationships/notesSlide" Target="/ppt/notesSlides/notesSlide45.xml" Id="Red79fbe0727c4aa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82aa4a5700149ef" /><Relationship Type="http://schemas.openxmlformats.org/officeDocument/2006/relationships/notesSlide" Target="/ppt/notesSlides/notesSlide46.xml" Id="Rb43b691ea1b74a5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875c3f053424004" /><Relationship Type="http://schemas.openxmlformats.org/officeDocument/2006/relationships/notesSlide" Target="/ppt/notesSlides/notesSlide47.xml" Id="R0e19f24ab879485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80499aa8d764bc0" /><Relationship Type="http://schemas.openxmlformats.org/officeDocument/2006/relationships/notesSlide" Target="/ppt/notesSlides/notesSlide48.xml" Id="R45bb1bb380c844c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5675817d09446fa" /><Relationship Type="http://schemas.openxmlformats.org/officeDocument/2006/relationships/notesSlide" Target="/ppt/notesSlides/notesSlide49.xml" Id="R48fa167e213b4f7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8019317ab4e4946" /><Relationship Type="http://schemas.openxmlformats.org/officeDocument/2006/relationships/notesSlide" Target="/ppt/notesSlides/notesSlide50.xml" Id="R4c394986696c4cb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60fce733fb74964" /><Relationship Type="http://schemas.openxmlformats.org/officeDocument/2006/relationships/notesSlide" Target="/ppt/notesSlides/notesSlide51.xml" Id="R61fc6b6376c0402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82abeab39a341dc" /><Relationship Type="http://schemas.openxmlformats.org/officeDocument/2006/relationships/image" Target="/ppt/media/image11.png" Id="R973d3bfdbe2e442a" /><Relationship Type="http://schemas.openxmlformats.org/officeDocument/2006/relationships/notesSlide" Target="/ppt/notesSlides/notesSlide52.xml" Id="Raa6856f759194cb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58676d7426f4df4" /><Relationship Type="http://schemas.openxmlformats.org/officeDocument/2006/relationships/notesSlide" Target="/ppt/notesSlides/notesSlide53.xml" Id="R7c25aeac27934b2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3e87ac397614be9" /><Relationship Type="http://schemas.openxmlformats.org/officeDocument/2006/relationships/notesSlide" Target="/ppt/notesSlides/notesSlide54.xml" Id="R85074b261d2b46f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a475b5a862c4657" /><Relationship Type="http://schemas.openxmlformats.org/officeDocument/2006/relationships/notesSlide" Target="/ppt/notesSlides/notesSlide55.xml" Id="R2936ff723d59480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886611d6a7e4878" /><Relationship Type="http://schemas.openxmlformats.org/officeDocument/2006/relationships/notesSlide" Target="/ppt/notesSlides/notesSlide56.xml" Id="R567de9072dd5456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f49a261cb1a401a" /><Relationship Type="http://schemas.openxmlformats.org/officeDocument/2006/relationships/notesSlide" Target="/ppt/notesSlides/notesSlide57.xml" Id="R94c73a6f2ce440a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634264cd8eb14921" /><Relationship Type="http://schemas.openxmlformats.org/officeDocument/2006/relationships/notesSlide" Target="/ppt/notesSlides/notesSlide58.xml" Id="Rf07aaf3a7bbb4bd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e2d47bea10044941" /><Relationship Type="http://schemas.openxmlformats.org/officeDocument/2006/relationships/notesSlide" Target="/ppt/notesSlides/notesSlide59.xml" Id="R2d6efe083979447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ae199c39ac1347df" /><Relationship Type="http://schemas.openxmlformats.org/officeDocument/2006/relationships/notesSlide" Target="/ppt/notesSlides/notesSlide60.xml" Id="R6186027737df48f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c92841dcf024ae4" /><Relationship Type="http://schemas.openxmlformats.org/officeDocument/2006/relationships/image" Target="/ppt/media/image12.png" Id="R71cd2e1380c84363" /><Relationship Type="http://schemas.openxmlformats.org/officeDocument/2006/relationships/notesSlide" Target="/ppt/notesSlides/notesSlide61.xml" Id="R909acac0d20b4a3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bc51b417efb4d91" /><Relationship Type="http://schemas.openxmlformats.org/officeDocument/2006/relationships/notesSlide" Target="/ppt/notesSlides/notesSlide62.xml" Id="Rb8f4fcc5d4fd4c4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18bbeffae874585" /><Relationship Type="http://schemas.openxmlformats.org/officeDocument/2006/relationships/notesSlide" Target="/ppt/notesSlides/notesSlide63.xml" Id="R24db623a6196426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4bd444fdba44ca1" /><Relationship Type="http://schemas.openxmlformats.org/officeDocument/2006/relationships/notesSlide" Target="/ppt/notesSlides/notesSlide64.xml" Id="Rb0707679d2f0495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4f524da868e94154" /><Relationship Type="http://schemas.openxmlformats.org/officeDocument/2006/relationships/notesSlide" Target="/ppt/notesSlides/notesSlide65.xml" Id="R651bf1ed037646c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bb6629d73764a89" /><Relationship Type="http://schemas.openxmlformats.org/officeDocument/2006/relationships/notesSlide" Target="/ppt/notesSlides/notesSlide66.xml" Id="R300f0d28eb2f4f6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1ff51875c604d1a" /><Relationship Type="http://schemas.openxmlformats.org/officeDocument/2006/relationships/notesSlide" Target="/ppt/notesSlides/notesSlide67.xml" Id="Rd8404e223b65498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780d25d30a33410f" /><Relationship Type="http://schemas.openxmlformats.org/officeDocument/2006/relationships/notesSlide" Target="/ppt/notesSlides/notesSlide68.xml" Id="Rd6d6184fd3114d7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dc21ac01549498d" /><Relationship Type="http://schemas.openxmlformats.org/officeDocument/2006/relationships/notesSlide" Target="/ppt/notesSlides/notesSlide69.xml" Id="R586656a9a2f1468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adba8fd2c9c34b48" /><Relationship Type="http://schemas.openxmlformats.org/officeDocument/2006/relationships/image" Target="/ppt/media/image13.png" Id="R87878e54ba994d22" /><Relationship Type="http://schemas.openxmlformats.org/officeDocument/2006/relationships/notesSlide" Target="/ppt/notesSlides/notesSlide70.xml" Id="R40de51db8970482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66cc96c9be2046ec" /><Relationship Type="http://schemas.openxmlformats.org/officeDocument/2006/relationships/image" Target="/ppt/media/image14.png" Id="Rc93189d216444b92" /><Relationship Type="http://schemas.openxmlformats.org/officeDocument/2006/relationships/notesSlide" Target="/ppt/notesSlides/notesSlide71.xml" Id="Rf9b4828199234079"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d929cfc3af141a5" /><Relationship Type="http://schemas.openxmlformats.org/officeDocument/2006/relationships/notesSlide" Target="/ppt/notesSlides/notesSlide72.xml" Id="R281c138ab8a0459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b442dbd3b224b25" /><Relationship Type="http://schemas.openxmlformats.org/officeDocument/2006/relationships/notesSlide" Target="/ppt/notesSlides/notesSlide73.xml" Id="Rcb67d8a7cd4941c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f3a5e355e584a52" /><Relationship Type="http://schemas.openxmlformats.org/officeDocument/2006/relationships/notesSlide" Target="/ppt/notesSlides/notesSlide74.xml" Id="Re18f9d71e2ca417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25166b684e8e4049" /><Relationship Type="http://schemas.openxmlformats.org/officeDocument/2006/relationships/notesSlide" Target="/ppt/notesSlides/notesSlide75.xml" Id="R543e7ad03aef418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03f9549215c45d3" /><Relationship Type="http://schemas.openxmlformats.org/officeDocument/2006/relationships/notesSlide" Target="/ppt/notesSlides/notesSlide76.xml" Id="R1cf06f8643f8417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66fb9f872474a24" /><Relationship Type="http://schemas.openxmlformats.org/officeDocument/2006/relationships/notesSlide" Target="/ppt/notesSlides/notesSlide77.xml" Id="R3dedf0099361422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17e93acc5cf4f1b" /><Relationship Type="http://schemas.openxmlformats.org/officeDocument/2006/relationships/notesSlide" Target="/ppt/notesSlides/notesSlide78.xml" Id="R5038fbf9c474468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1676f7afbfcd4262" /><Relationship Type="http://schemas.openxmlformats.org/officeDocument/2006/relationships/notesSlide" Target="/ppt/notesSlides/notesSlide79.xml" Id="R28f3060c5a5c46c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d69b4ead5ab43e7" /><Relationship Type="http://schemas.openxmlformats.org/officeDocument/2006/relationships/notesSlide" Target="/ppt/notesSlides/notesSlide80.xml" Id="R753185239fad423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15dad6b0342145dd" /><Relationship Type="http://schemas.openxmlformats.org/officeDocument/2006/relationships/image" Target="/ppt/media/image15.png" Id="R9fa8aa423e474058" /><Relationship Type="http://schemas.openxmlformats.org/officeDocument/2006/relationships/notesSlide" Target="/ppt/notesSlides/notesSlide81.xml" Id="R9a5b00d5849645e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ffa45e4254444a3" /><Relationship Type="http://schemas.openxmlformats.org/officeDocument/2006/relationships/notesSlide" Target="/ppt/notesSlides/notesSlide82.xml" Id="R6f208a2754b9498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2df2a78883f24818" /><Relationship Type="http://schemas.openxmlformats.org/officeDocument/2006/relationships/notesSlide" Target="/ppt/notesSlides/notesSlide83.xml" Id="R74a384d95e0c412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dcdcc8c461b6438e" /><Relationship Type="http://schemas.openxmlformats.org/officeDocument/2006/relationships/notesSlide" Target="/ppt/notesSlides/notesSlide84.xml" Id="Rdb61a51ef5c84b9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2d6ae009b0fa4529" /><Relationship Type="http://schemas.openxmlformats.org/officeDocument/2006/relationships/notesSlide" Target="/ppt/notesSlides/notesSlide85.xml" Id="R7041b28606b9465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2ab63b2329214830" /><Relationship Type="http://schemas.openxmlformats.org/officeDocument/2006/relationships/notesSlide" Target="/ppt/notesSlides/notesSlide86.xml" Id="Rd21ccb0c246f453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4eed43227d44840" /><Relationship Type="http://schemas.openxmlformats.org/officeDocument/2006/relationships/notesSlide" Target="/ppt/notesSlides/notesSlide87.xml" Id="R7306bae9f54f441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fffdde03f47145d8" /><Relationship Type="http://schemas.openxmlformats.org/officeDocument/2006/relationships/notesSlide" Target="/ppt/notesSlides/notesSlide88.xml" Id="R6685bade7d89443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749dc60f1e0a45c6" /><Relationship Type="http://schemas.openxmlformats.org/officeDocument/2006/relationships/notesSlide" Target="/ppt/notesSlides/notesSlide89.xml" Id="R3aa205cb319940a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627a4904d9541cf" /><Relationship Type="http://schemas.openxmlformats.org/officeDocument/2006/relationships/notesSlide" Target="/ppt/notesSlides/notesSlide90.xml" Id="R2a87f1c5e13948a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4390a842ae0f44f9" /><Relationship Type="http://schemas.openxmlformats.org/officeDocument/2006/relationships/notesSlide" Target="/ppt/notesSlides/notesSlide91.xml" Id="Rb47782f541484701"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04a8531356fc4eda" /><Relationship Type="http://schemas.openxmlformats.org/officeDocument/2006/relationships/notesSlide" Target="/ppt/notesSlides/notesSlide92.xml" Id="R5f4294430f8c465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c83319b129114332" /><Relationship Type="http://schemas.openxmlformats.org/officeDocument/2006/relationships/notesSlide" Target="/ppt/notesSlides/notesSlide93.xml" Id="R8bef2b2ef3e04917"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80eb738b161943b1" /><Relationship Type="http://schemas.openxmlformats.org/officeDocument/2006/relationships/notesSlide" Target="/ppt/notesSlides/notesSlide94.xml" Id="Ra79172cee93a49a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88911f398fd54248" /><Relationship Type="http://schemas.openxmlformats.org/officeDocument/2006/relationships/notesSlide" Target="/ppt/notesSlides/notesSlide95.xml" Id="Rdb1008844b0a4e5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3dfd8a13070c4e5e" /><Relationship Type="http://schemas.openxmlformats.org/officeDocument/2006/relationships/notesSlide" Target="/ppt/notesSlides/notesSlide96.xml" Id="Rf2899e30b031456f"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77d5c204a83c4e3c" /><Relationship Type="http://schemas.openxmlformats.org/officeDocument/2006/relationships/notesSlide" Target="/ppt/notesSlides/notesSlide97.xml" Id="R2672029ef89445c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d0b70dd2535347d7" /><Relationship Type="http://schemas.openxmlformats.org/officeDocument/2006/relationships/image" Target="/ppt/media/image16.png" Id="R0762f868388849c3" /><Relationship Type="http://schemas.openxmlformats.org/officeDocument/2006/relationships/notesSlide" Target="/ppt/notesSlides/notesSlide98.xml" Id="R3439097e11ea409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84c00c36e9ca4bca" /><Relationship Type="http://schemas.openxmlformats.org/officeDocument/2006/relationships/notesSlide" Target="/ppt/notesSlides/notesSlide99.xml" Id="R63a6b13f2d9242ca"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3e02d74ad0ff4950" /><Relationship Type="http://schemas.openxmlformats.org/officeDocument/2006/relationships/notesSlide" Target="/ppt/notesSlides/notesSlide100.xml" Id="Rc9cb45b08dda490a"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b586f36f7c3049c2" /><Relationship Type="http://schemas.openxmlformats.org/officeDocument/2006/relationships/notesSlide" Target="/ppt/notesSlides/notesSlide101.xml" Id="Rd9620d94ff7b4bc8"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79cf13fe5eb7498f" /><Relationship Type="http://schemas.openxmlformats.org/officeDocument/2006/relationships/notesSlide" Target="/ppt/notesSlides/notesSlide102.xml" Id="R2d370f8de6ea4ce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7af25ceaf6e2473e" /><Relationship Type="http://schemas.openxmlformats.org/officeDocument/2006/relationships/notesSlide" Target="/ppt/notesSlides/notesSlide103.xml" Id="R020553d5b6824778"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87cc50c6144244e1" /><Relationship Type="http://schemas.openxmlformats.org/officeDocument/2006/relationships/notesSlide" Target="/ppt/notesSlides/notesSlide104.xml" Id="Rce624425fb8049f4"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ea2e8af76bbb4f8f" /><Relationship Type="http://schemas.openxmlformats.org/officeDocument/2006/relationships/notesSlide" Target="/ppt/notesSlides/notesSlide105.xml" Id="R22dcace1c33f4695"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666eb9fcc75f4e29" /><Relationship Type="http://schemas.openxmlformats.org/officeDocument/2006/relationships/notesSlide" Target="/ppt/notesSlides/notesSlide106.xml" Id="Re0a200f02dcc4975"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df4e236f5f0f4cea" /><Relationship Type="http://schemas.openxmlformats.org/officeDocument/2006/relationships/notesSlide" Target="/ppt/notesSlides/notesSlide107.xml" Id="Rf6982f9e71494f69"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6e9e6173f8114e92" /><Relationship Type="http://schemas.openxmlformats.org/officeDocument/2006/relationships/notesSlide" Target="/ppt/notesSlides/notesSlide108.xml" Id="Rca1e981d2c504f44"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252e0205d1f8470a" /><Relationship Type="http://schemas.openxmlformats.org/officeDocument/2006/relationships/notesSlide" Target="/ppt/notesSlides/notesSlide109.xml" Id="R6946b2702a1b4bd3"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2bf7f92004cf46da" /><Relationship Type="http://schemas.openxmlformats.org/officeDocument/2006/relationships/notesSlide" Target="/ppt/notesSlides/notesSlide110.xml" Id="R96cddfa7e6674221"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91c4615236314a47" /><Relationship Type="http://schemas.openxmlformats.org/officeDocument/2006/relationships/notesSlide" Target="/ppt/notesSlides/notesSlide111.xml" Id="Rf38a4e90ec4f4a50"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fe8b26b1c31d41ef" /><Relationship Type="http://schemas.openxmlformats.org/officeDocument/2006/relationships/notesSlide" Target="/ppt/notesSlides/notesSlide112.xml" Id="R0084bb06c7444d1a"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085121c4849d4d23" /><Relationship Type="http://schemas.openxmlformats.org/officeDocument/2006/relationships/notesSlide" Target="/ppt/notesSlides/notesSlide113.xml" Id="Re54ca355244841b4"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c159379813be45a0" /><Relationship Type="http://schemas.openxmlformats.org/officeDocument/2006/relationships/notesSlide" Target="/ppt/notesSlides/notesSlide114.xml" Id="R963449363de2448e"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13ae793ee9dd4695" /><Relationship Type="http://schemas.openxmlformats.org/officeDocument/2006/relationships/notesSlide" Target="/ppt/notesSlides/notesSlide115.xml" Id="Rf5c9703630144e43"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a7d9771ee2194811" /><Relationship Type="http://schemas.openxmlformats.org/officeDocument/2006/relationships/notesSlide" Target="/ppt/notesSlides/notesSlide116.xml" Id="R139aa0d89800466c"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6.xml" Id="R89af1b9104404e92" /><Relationship Type="http://schemas.openxmlformats.org/officeDocument/2006/relationships/notesSlide" Target="/ppt/notesSlides/notesSlide117.xml" Id="R9be6eb9000dc4d5d"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6.xml" Id="Ra2150221c2694a10" /><Relationship Type="http://schemas.openxmlformats.org/officeDocument/2006/relationships/notesSlide" Target="/ppt/notesSlides/notesSlide118.xml" Id="Rf2d7488384744a16"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6.xml" Id="Re9f3db501f484e34" /><Relationship Type="http://schemas.openxmlformats.org/officeDocument/2006/relationships/notesSlide" Target="/ppt/notesSlides/notesSlide119.xml" Id="R63b825efebe34fb5"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6.xml" Id="R1ba82a2f10a143d0" /><Relationship Type="http://schemas.openxmlformats.org/officeDocument/2006/relationships/notesSlide" Target="/ppt/notesSlides/notesSlide120.xml" Id="Rd518dd254fce4edd"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6.xml" Id="R88cc2b1840fe4706" /><Relationship Type="http://schemas.openxmlformats.org/officeDocument/2006/relationships/notesSlide" Target="/ppt/notesSlides/notesSlide121.xml" Id="R974149b0ccc64e90"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6.xml" Id="Rbdb2fedb2727495d" /><Relationship Type="http://schemas.openxmlformats.org/officeDocument/2006/relationships/notesSlide" Target="/ppt/notesSlides/notesSlide122.xml" Id="R34db678ec3574667"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6.xml" Id="Rc08831deb1b344c1" /><Relationship Type="http://schemas.openxmlformats.org/officeDocument/2006/relationships/notesSlide" Target="/ppt/notesSlides/notesSlide123.xml" Id="R3e13d1be51704c08"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6.xml" Id="R5dcf80a9ee5c49a6" /><Relationship Type="http://schemas.openxmlformats.org/officeDocument/2006/relationships/notesSlide" Target="/ppt/notesSlides/notesSlide124.xml" Id="R5958d05741bb43c4"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6.xml" Id="R8e86dd03e87e4235" /><Relationship Type="http://schemas.openxmlformats.org/officeDocument/2006/relationships/notesSlide" Target="/ppt/notesSlides/notesSlide125.xml" Id="R6855744d47534cc4"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6.xml" Id="R40730b91b61d4b8c" /><Relationship Type="http://schemas.openxmlformats.org/officeDocument/2006/relationships/notesSlide" Target="/ppt/notesSlides/notesSlide126.xml" Id="R5010caa7910f4fdd"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6.xml" Id="Re4f8adaad45b4a4e" /><Relationship Type="http://schemas.openxmlformats.org/officeDocument/2006/relationships/notesSlide" Target="/ppt/notesSlides/notesSlide127.xml" Id="R4b9345d56a234429"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6.xml" Id="R47be89192d1d4e11" /><Relationship Type="http://schemas.openxmlformats.org/officeDocument/2006/relationships/notesSlide" Target="/ppt/notesSlides/notesSlide128.xml" Id="R1498fcafdc8c4746"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6.xml" Id="R8f208e3e72f74274" /><Relationship Type="http://schemas.openxmlformats.org/officeDocument/2006/relationships/notesSlide" Target="/ppt/notesSlides/notesSlide129.xml" Id="Rce0814416d194038"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6.xml" Id="R1f98e0a8b2ca4cce" /><Relationship Type="http://schemas.openxmlformats.org/officeDocument/2006/relationships/notesSlide" Target="/ppt/notesSlides/notesSlide130.xml" Id="Rb465e32226814bc4"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6.xml" Id="R8e65e981c04b4c57" /><Relationship Type="http://schemas.openxmlformats.org/officeDocument/2006/relationships/notesSlide" Target="/ppt/notesSlides/notesSlide131.xml" Id="Re806d245f3634544"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6.xml" Id="R53eee3ef62944a96" /><Relationship Type="http://schemas.openxmlformats.org/officeDocument/2006/relationships/notesSlide" Target="/ppt/notesSlides/notesSlide132.xml" Id="Radb64c6262eb4c0e"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6.xml" Id="R800ea81801844121" /><Relationship Type="http://schemas.openxmlformats.org/officeDocument/2006/relationships/notesSlide" Target="/ppt/notesSlides/notesSlide133.xml" Id="Re5916f08b34c4652"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6.xml" Id="R41da511c4edc420d" /><Relationship Type="http://schemas.openxmlformats.org/officeDocument/2006/relationships/notesSlide" Target="/ppt/notesSlides/notesSlide134.xml" Id="R6d404a4eb7d341bf"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6.xml" Id="Rfc2446f98ccb43da" /><Relationship Type="http://schemas.openxmlformats.org/officeDocument/2006/relationships/notesSlide" Target="/ppt/notesSlides/notesSlide135.xml" Id="Rc20d57721cdd45ea"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6.xml" Id="R886ef848bb0546ae" /><Relationship Type="http://schemas.openxmlformats.org/officeDocument/2006/relationships/notesSlide" Target="/ppt/notesSlides/notesSlide136.xml" Id="R8da32a3d56bf4573"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6.xml" Id="R7f038178d9ec4790" /><Relationship Type="http://schemas.openxmlformats.org/officeDocument/2006/relationships/notesSlide" Target="/ppt/notesSlides/notesSlide137.xml" Id="R4f426590bb714541"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6.xml" Id="R2a72180c514449b7" /><Relationship Type="http://schemas.openxmlformats.org/officeDocument/2006/relationships/notesSlide" Target="/ppt/notesSlides/notesSlide138.xml" Id="R4db95127453a47e1"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6.xml" Id="R25063703e2754443" /><Relationship Type="http://schemas.openxmlformats.org/officeDocument/2006/relationships/image" Target="/ppt/media/image17.png" Id="R3843009829fc47fb" /><Relationship Type="http://schemas.openxmlformats.org/officeDocument/2006/relationships/notesSlide" Target="/ppt/notesSlides/notesSlide139.xml" Id="R3fd3c56d1f6a4986"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6.xml" Id="R0ca871f7c01441b9" /><Relationship Type="http://schemas.openxmlformats.org/officeDocument/2006/relationships/image" Target="/ppt/media/image18.png" Id="Rb2b9c4f8a9e14d38" /><Relationship Type="http://schemas.openxmlformats.org/officeDocument/2006/relationships/notesSlide" Target="/ppt/notesSlides/notesSlide140.xml" Id="Rfafe0dfe76564ec1"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6.xml" Id="R6112fe8ce3524931" /><Relationship Type="http://schemas.openxmlformats.org/officeDocument/2006/relationships/image" Target="/ppt/media/image19.png" Id="Refe265d8a4c04524" /><Relationship Type="http://schemas.openxmlformats.org/officeDocument/2006/relationships/notesSlide" Target="/ppt/notesSlides/notesSlide141.xml" Id="Rb068f853de144db3"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6.xml" Id="Rb51b0b8b7b9642d3" /><Relationship Type="http://schemas.openxmlformats.org/officeDocument/2006/relationships/image" Target="/ppt/media/image20.png" Id="Rb6d113d865e14fe2" /><Relationship Type="http://schemas.openxmlformats.org/officeDocument/2006/relationships/notesSlide" Target="/ppt/notesSlides/notesSlide142.xml" Id="Ra3c888257a684dec"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6.xml" Id="R0979cdc5cf7e4359" /><Relationship Type="http://schemas.openxmlformats.org/officeDocument/2006/relationships/notesSlide" Target="/ppt/notesSlides/notesSlide143.xml" Id="R8e1000a63f924864"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6.xml" Id="R7eddec3284394a59" /><Relationship Type="http://schemas.openxmlformats.org/officeDocument/2006/relationships/notesSlide" Target="/ppt/notesSlides/notesSlide144.xml" Id="Rb316a506d90244d7"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6.xml" Id="Rad34f5387eb343af" /><Relationship Type="http://schemas.openxmlformats.org/officeDocument/2006/relationships/notesSlide" Target="/ppt/notesSlides/notesSlide145.xml" Id="Rb9f564336a524f03"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6.xml" Id="R41e7cc5304e94128" /><Relationship Type="http://schemas.openxmlformats.org/officeDocument/2006/relationships/notesSlide" Target="/ppt/notesSlides/notesSlide146.xml" Id="Re69cd320366a4bed"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6.xml" Id="R2cd5d5835ecc4eb8" /><Relationship Type="http://schemas.openxmlformats.org/officeDocument/2006/relationships/notesSlide" Target="/ppt/notesSlides/notesSlide147.xml" Id="Rf0e910627d084ca0"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6.xml" Id="Rf8bc1b17179944f2" /><Relationship Type="http://schemas.openxmlformats.org/officeDocument/2006/relationships/image" Target="/ppt/media/image21.png" Id="R4ad293747be9472b" /><Relationship Type="http://schemas.openxmlformats.org/officeDocument/2006/relationships/notesSlide" Target="/ppt/notesSlides/notesSlide148.xml" Id="R412c92ff18974db6"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6.xml" Id="Rccf5915778c94565" /><Relationship Type="http://schemas.openxmlformats.org/officeDocument/2006/relationships/image" Target="/ppt/media/image22.png" Id="R5809f9bd2f534b79" /><Relationship Type="http://schemas.openxmlformats.org/officeDocument/2006/relationships/notesSlide" Target="/ppt/notesSlides/notesSlide149.xml" Id="Rd673b90ca17a4a8c"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6.xml" Id="Ra575515f33d14dc4" /><Relationship Type="http://schemas.openxmlformats.org/officeDocument/2006/relationships/notesSlide" Target="/ppt/notesSlides/notesSlide150.xml" Id="Ra45f42780bc1491b"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6.xml" Id="R2c87cad0265d4f0d" /><Relationship Type="http://schemas.openxmlformats.org/officeDocument/2006/relationships/notesSlide" Target="/ppt/notesSlides/notesSlide151.xml" Id="Re7d641433b2e4b31"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6.xml" Id="R3aa5f3359f7c47a9" /><Relationship Type="http://schemas.openxmlformats.org/officeDocument/2006/relationships/notesSlide" Target="/ppt/notesSlides/notesSlide152.xml" Id="R224c19b862b34556"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6.xml" Id="R332c4f8d92784c47" /><Relationship Type="http://schemas.openxmlformats.org/officeDocument/2006/relationships/notesSlide" Target="/ppt/notesSlides/notesSlide153.xml" Id="R0751c99e33de408d"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6.xml" Id="Ra9778048d2e247bd" /><Relationship Type="http://schemas.openxmlformats.org/officeDocument/2006/relationships/notesSlide" Target="/ppt/notesSlides/notesSlide154.xml" Id="Raa92b32bf6aa4578"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6.xml" Id="R04774fde329542e7" /><Relationship Type="http://schemas.openxmlformats.org/officeDocument/2006/relationships/notesSlide" Target="/ppt/notesSlides/notesSlide155.xml" Id="Re1ac9b4400a24015"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6.xml" Id="R4ec3a75d83d74000" /><Relationship Type="http://schemas.openxmlformats.org/officeDocument/2006/relationships/notesSlide" Target="/ppt/notesSlides/notesSlide156.xml" Id="R05e0dad400c94b66"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6.xml" Id="Rc2431f8518874ab5" /><Relationship Type="http://schemas.openxmlformats.org/officeDocument/2006/relationships/notesSlide" Target="/ppt/notesSlides/notesSlide157.xml" Id="R4f84b6dda3db4ecb"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6.xml" Id="R6cb80f8b10b0400e" /><Relationship Type="http://schemas.openxmlformats.org/officeDocument/2006/relationships/notesSlide" Target="/ppt/notesSlides/notesSlide158.xml" Id="R487f94ec2b5b4e0c"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6.xml" Id="R7e93f208512741ef" /><Relationship Type="http://schemas.openxmlformats.org/officeDocument/2006/relationships/notesSlide" Target="/ppt/notesSlides/notesSlide159.xml" Id="R6df3a6c24fcf4dd3"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6.xml" Id="R1f2d7c8fd3844440" /><Relationship Type="http://schemas.openxmlformats.org/officeDocument/2006/relationships/notesSlide" Target="/ppt/notesSlides/notesSlide160.xml" Id="Rbfa1d41c7aaa4467"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6.xml" Id="Rbc4f167135da41ec" /><Relationship Type="http://schemas.openxmlformats.org/officeDocument/2006/relationships/notesSlide" Target="/ppt/notesSlides/notesSlide161.xml" Id="R539c42889d9e412c"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6.xml" Id="R18b3737f3fba4f87" /><Relationship Type="http://schemas.openxmlformats.org/officeDocument/2006/relationships/notesSlide" Target="/ppt/notesSlides/notesSlide162.xml" Id="R171031129fa245aa"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6.xml" Id="R5038c8de082444d6" /><Relationship Type="http://schemas.openxmlformats.org/officeDocument/2006/relationships/notesSlide" Target="/ppt/notesSlides/notesSlide163.xml" Id="R89c3a3fed1664af5"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6.xml" Id="Re5ae2a3f161d40fa" /><Relationship Type="http://schemas.openxmlformats.org/officeDocument/2006/relationships/notesSlide" Target="/ppt/notesSlides/notesSlide164.xml" Id="Rec69944638df402c"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6.xml" Id="Rb7829a0b4bf14886" /><Relationship Type="http://schemas.openxmlformats.org/officeDocument/2006/relationships/notesSlide" Target="/ppt/notesSlides/notesSlide165.xml" Id="R7e0d0cff4ee34200"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6.xml" Id="R370e658bc7904e0a" /><Relationship Type="http://schemas.openxmlformats.org/officeDocument/2006/relationships/notesSlide" Target="/ppt/notesSlides/notesSlide166.xml" Id="R8f7eae4105e141bb"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6.xml" Id="Rfe84106d09b84360" /><Relationship Type="http://schemas.openxmlformats.org/officeDocument/2006/relationships/notesSlide" Target="/ppt/notesSlides/notesSlide167.xml" Id="R42b88d2a06c848ff"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6.xml" Id="Rb270cb415c754b57" /><Relationship Type="http://schemas.openxmlformats.org/officeDocument/2006/relationships/notesSlide" Target="/ppt/notesSlides/notesSlide168.xml" Id="R5a11dbb31de9463d"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6.xml" Id="R64f66c03ceca4a4d" /><Relationship Type="http://schemas.openxmlformats.org/officeDocument/2006/relationships/notesSlide" Target="/ppt/notesSlides/notesSlide169.xml" Id="R589bdc344a2a4185"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6.xml" Id="R214413a83efc4590" /><Relationship Type="http://schemas.openxmlformats.org/officeDocument/2006/relationships/notesSlide" Target="/ppt/notesSlides/notesSlide170.xml" Id="Rc050df5bee5f43f6"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6.xml" Id="R0a7fbc9ca540463f" /><Relationship Type="http://schemas.openxmlformats.org/officeDocument/2006/relationships/notesSlide" Target="/ppt/notesSlides/notesSlide171.xml" Id="Ra7f67053e0eb47f1"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6.xml" Id="Raa64d30b380a4fbe" /><Relationship Type="http://schemas.openxmlformats.org/officeDocument/2006/relationships/notesSlide" Target="/ppt/notesSlides/notesSlide172.xml" Id="R29238c372f4c4be5"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6.xml" Id="R141d132a568140f4" /><Relationship Type="http://schemas.openxmlformats.org/officeDocument/2006/relationships/notesSlide" Target="/ppt/notesSlides/notesSlide173.xml" Id="Rdc0a405672064ac9"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6.xml" Id="R36b0c5e7eac84360" /><Relationship Type="http://schemas.openxmlformats.org/officeDocument/2006/relationships/notesSlide" Target="/ppt/notesSlides/notesSlide174.xml" Id="Ra3039f74f22c47e7"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6.xml" Id="R77ecfe042aa04c77" /><Relationship Type="http://schemas.openxmlformats.org/officeDocument/2006/relationships/notesSlide" Target="/ppt/notesSlides/notesSlide175.xml" Id="R8ec918baf39c48f7"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6.xml" Id="Rbddd8d68752646e3" /><Relationship Type="http://schemas.openxmlformats.org/officeDocument/2006/relationships/notesSlide" Target="/ppt/notesSlides/notesSlide176.xml" Id="Rde6652d71b934e0c"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6.xml" Id="Rde8ba27bfeae463a" /><Relationship Type="http://schemas.openxmlformats.org/officeDocument/2006/relationships/notesSlide" Target="/ppt/notesSlides/notesSlide177.xml" Id="R64d9b57087ea44b7"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6.xml" Id="R06abaf57396447c9" /><Relationship Type="http://schemas.openxmlformats.org/officeDocument/2006/relationships/notesSlide" Target="/ppt/notesSlides/notesSlide178.xml" Id="R3a6c53f6b4aa467e"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6.xml" Id="Rfad3f816fb9e4495" /><Relationship Type="http://schemas.openxmlformats.org/officeDocument/2006/relationships/notesSlide" Target="/ppt/notesSlides/notesSlide179.xml" Id="R2fbe7d8326c64996"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6.xml" Id="R91105f11099a43f5" /><Relationship Type="http://schemas.openxmlformats.org/officeDocument/2006/relationships/notesSlide" Target="/ppt/notesSlides/notesSlide180.xml" Id="R4e4a07744a19424b"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6.xml" Id="R857f8f32cd004768" /><Relationship Type="http://schemas.openxmlformats.org/officeDocument/2006/relationships/notesSlide" Target="/ppt/notesSlides/notesSlide181.xml" Id="R5d3c38dfbfe1407d"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6.xml" Id="R9f2b062ddc774b20" /><Relationship Type="http://schemas.openxmlformats.org/officeDocument/2006/relationships/notesSlide" Target="/ppt/notesSlides/notesSlide182.xml" Id="Ra1f0a58ef84546f4"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6.xml" Id="Rbd82b6735c3b4d53" /><Relationship Type="http://schemas.openxmlformats.org/officeDocument/2006/relationships/notesSlide" Target="/ppt/notesSlides/notesSlide183.xml" Id="Rfa1da39358d34eee"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6.xml" Id="Rc62104e13d564a01" /><Relationship Type="http://schemas.openxmlformats.org/officeDocument/2006/relationships/notesSlide" Target="/ppt/notesSlides/notesSlide184.xml" Id="R1813f6f03a954c98"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6.xml" Id="Rf41209e394cd41af" /><Relationship Type="http://schemas.openxmlformats.org/officeDocument/2006/relationships/notesSlide" Target="/ppt/notesSlides/notesSlide185.xml" Id="Rfae3532276e04f3f"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6.xml" Id="Rb0d8e73ad8984894" /><Relationship Type="http://schemas.openxmlformats.org/officeDocument/2006/relationships/notesSlide" Target="/ppt/notesSlides/notesSlide186.xml" Id="R095c5547c5ff4761"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6.xml" Id="R70cd6f9809614d48" /><Relationship Type="http://schemas.openxmlformats.org/officeDocument/2006/relationships/notesSlide" Target="/ppt/notesSlides/notesSlide187.xml" Id="Rd3ae949ac6fa4da0"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6.xml" Id="R268d4d9aae034be5" /><Relationship Type="http://schemas.openxmlformats.org/officeDocument/2006/relationships/notesSlide" Target="/ppt/notesSlides/notesSlide188.xml" Id="Rf6f35576652342b8"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6.xml" Id="R8c738cb3f212441f" /><Relationship Type="http://schemas.openxmlformats.org/officeDocument/2006/relationships/notesSlide" Target="/ppt/notesSlides/notesSlide189.xml" Id="R7a498b955d8f4ace"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6.xml" Id="Re28fde647054493e" /><Relationship Type="http://schemas.openxmlformats.org/officeDocument/2006/relationships/notesSlide" Target="/ppt/notesSlides/notesSlide190.xml" Id="Rf9265bc2739e42fb"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6.xml" Id="R1e8a99bc310f4c38" /><Relationship Type="http://schemas.openxmlformats.org/officeDocument/2006/relationships/notesSlide" Target="/ppt/notesSlides/notesSlide191.xml" Id="R771528330d774450"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6.xml" Id="Raccabcd16ce2439c" /><Relationship Type="http://schemas.openxmlformats.org/officeDocument/2006/relationships/notesSlide" Target="/ppt/notesSlides/notesSlide192.xml" Id="R28f6d37bd46e4a2a"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6.xml" Id="Rcd726ec6dd954019" /><Relationship Type="http://schemas.openxmlformats.org/officeDocument/2006/relationships/notesSlide" Target="/ppt/notesSlides/notesSlide193.xml" Id="R749ffad75b0a499c"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6.xml" Id="Rfd13ab006e8f4346" /><Relationship Type="http://schemas.openxmlformats.org/officeDocument/2006/relationships/notesSlide" Target="/ppt/notesSlides/notesSlide194.xml" Id="Rd849bdf767b9426a"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6.xml" Id="Rf06c87e6744e4176" /><Relationship Type="http://schemas.openxmlformats.org/officeDocument/2006/relationships/notesSlide" Target="/ppt/notesSlides/notesSlide195.xml" Id="R6da0edf5570645d8"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6.xml" Id="Rcf43d5f122684d14" /><Relationship Type="http://schemas.openxmlformats.org/officeDocument/2006/relationships/notesSlide" Target="/ppt/notesSlides/notesSlide196.xml" Id="R35b79780219c4b01"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6.xml" Id="R45dcdeea469d4bb0" /><Relationship Type="http://schemas.openxmlformats.org/officeDocument/2006/relationships/notesSlide" Target="/ppt/notesSlides/notesSlide197.xml" Id="R0843c26e2b904d66"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6.xml" Id="R362361ab400e4c61" /><Relationship Type="http://schemas.openxmlformats.org/officeDocument/2006/relationships/notesSlide" Target="/ppt/notesSlides/notesSlide198.xml" Id="R8bb93f4cae974bb8"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6.xml" Id="Ra67c62636c44451d" /><Relationship Type="http://schemas.openxmlformats.org/officeDocument/2006/relationships/notesSlide" Target="/ppt/notesSlides/notesSlide199.xml" Id="Ree190b0017e04b67"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6.xml" Id="Rc24ce7a5ca844990" /><Relationship Type="http://schemas.openxmlformats.org/officeDocument/2006/relationships/notesSlide" Target="/ppt/notesSlides/notesSlide200.xml" Id="R829382001bea43ea" /></Relationships>
</file>

<file path=ppt/slides/_rels/slide201.xml.rels>&#65279;<?xml version="1.0" encoding="utf-8"?><Relationships xmlns="http://schemas.openxmlformats.org/package/2006/relationships"><Relationship Type="http://schemas.openxmlformats.org/officeDocument/2006/relationships/slideLayout" Target="/ppt/slideLayouts/slideLayout6.xml" Id="R64c107acaeed47d4" /><Relationship Type="http://schemas.openxmlformats.org/officeDocument/2006/relationships/notesSlide" Target="/ppt/notesSlides/notesSlide201.xml" Id="R970860ccce6f414a" /></Relationships>
</file>

<file path=ppt/slides/_rels/slide202.xml.rels>&#65279;<?xml version="1.0" encoding="utf-8"?><Relationships xmlns="http://schemas.openxmlformats.org/package/2006/relationships"><Relationship Type="http://schemas.openxmlformats.org/officeDocument/2006/relationships/slideLayout" Target="/ppt/slideLayouts/slideLayout6.xml" Id="R5850f934a6374d18" /><Relationship Type="http://schemas.openxmlformats.org/officeDocument/2006/relationships/notesSlide" Target="/ppt/notesSlides/notesSlide202.xml" Id="Re3605992e4d94421" /></Relationships>
</file>

<file path=ppt/slides/_rels/slide203.xml.rels>&#65279;<?xml version="1.0" encoding="utf-8"?><Relationships xmlns="http://schemas.openxmlformats.org/package/2006/relationships"><Relationship Type="http://schemas.openxmlformats.org/officeDocument/2006/relationships/slideLayout" Target="/ppt/slideLayouts/slideLayout6.xml" Id="R54f40484da594795" /><Relationship Type="http://schemas.openxmlformats.org/officeDocument/2006/relationships/notesSlide" Target="/ppt/notesSlides/notesSlide203.xml" Id="R8ecc3c1b38534611" /></Relationships>
</file>

<file path=ppt/slides/_rels/slide204.xml.rels>&#65279;<?xml version="1.0" encoding="utf-8"?><Relationships xmlns="http://schemas.openxmlformats.org/package/2006/relationships"><Relationship Type="http://schemas.openxmlformats.org/officeDocument/2006/relationships/slideLayout" Target="/ppt/slideLayouts/slideLayout6.xml" Id="Re9ef6d823c684531" /><Relationship Type="http://schemas.openxmlformats.org/officeDocument/2006/relationships/notesSlide" Target="/ppt/notesSlides/notesSlide204.xml" Id="Rdb654035c1364914" /></Relationships>
</file>

<file path=ppt/slides/_rels/slide205.xml.rels>&#65279;<?xml version="1.0" encoding="utf-8"?><Relationships xmlns="http://schemas.openxmlformats.org/package/2006/relationships"><Relationship Type="http://schemas.openxmlformats.org/officeDocument/2006/relationships/slideLayout" Target="/ppt/slideLayouts/slideLayout6.xml" Id="R3cbdb090879c4a62" /><Relationship Type="http://schemas.openxmlformats.org/officeDocument/2006/relationships/notesSlide" Target="/ppt/notesSlides/notesSlide205.xml" Id="Ree450f810d764bee" /></Relationships>
</file>

<file path=ppt/slides/_rels/slide206.xml.rels>&#65279;<?xml version="1.0" encoding="utf-8"?><Relationships xmlns="http://schemas.openxmlformats.org/package/2006/relationships"><Relationship Type="http://schemas.openxmlformats.org/officeDocument/2006/relationships/slideLayout" Target="/ppt/slideLayouts/slideLayout6.xml" Id="R234ddaa0bc604c76" /><Relationship Type="http://schemas.openxmlformats.org/officeDocument/2006/relationships/notesSlide" Target="/ppt/notesSlides/notesSlide206.xml" Id="Rc3d65fbfe1964a49" /></Relationships>
</file>

<file path=ppt/slides/slide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01235A-5179-4602-9998-B4E95B76BE9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GROWTH AI / TS ORGANIZATION-NATIVE AI</a:t>
            </a:r>
          </a:p>
        </p:txBody>
      </p:sp>
      <p:sp>
        <p:nvSpPr>
          <p:cNvPr id="2" name="">
            <a:extLst xmlns:a="http://schemas.openxmlformats.org/drawingml/2006/main">
              <a:ext uri="{FF2B5EF4-FFF2-40B4-BE49-F238E27FC236}">
                <a16:creationId xmlns:a16="http://schemas.microsoft.com/office/drawing/2014/main" id="{2A8B08C9-AFF8-422C-B80F-20AC023EC0C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AI 플랫폼 구축 사례집</a:t>
            </a:r>
          </a:p>
        </p:txBody>
      </p:sp>
      <p:sp>
        <p:nvSpPr>
          <p:cNvPr id="3" name="">
            <a:extLst xmlns:a="http://schemas.openxmlformats.org/drawingml/2006/main">
              <a:ext uri="{FF2B5EF4-FFF2-40B4-BE49-F238E27FC236}">
                <a16:creationId xmlns:a16="http://schemas.microsoft.com/office/drawing/2014/main" id="{A88C94FB-619E-4E2D-8055-34D0A7FBAF8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94622B-B4CB-4820-AA79-F97FA0A6F4B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214D308-CA37-46D3-B5FE-93AA6AB8CF3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01</a:t>
            </a:r>
          </a:p>
        </p:txBody>
      </p:sp>
      <p:sp>
        <p:nvSpPr>
          <p:cNvPr id="6" name="">
            <a:extLst xmlns:a="http://schemas.openxmlformats.org/drawingml/2006/main">
              <a:ext uri="{FF2B5EF4-FFF2-40B4-BE49-F238E27FC236}">
                <a16:creationId xmlns:a16="http://schemas.microsoft.com/office/drawing/2014/main" id="{55C0D9D1-FC5C-4384-B5C5-769D67122D6A}"/>
              </a:ext>
            </a:extLst>
          </p:cNvPr>
          <p:cNvSpPr>
            <a:spLocks xmlns:a="http://schemas.openxmlformats.org/drawingml/2006/main" noGrp="1"/>
          </p:cNvSpPr>
          <p:nvPr/>
        </p:nvSpPr>
        <p:spPr>
          <a:xfrm xmlns:a="http://schemas.openxmlformats.org/drawingml/2006/main">
            <a:off x="571500" y="24765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42634B"/>
                </a:solidFill>
                <a:latin typeface="Pretendard"/>
                <a:ea typeface="Pretendard"/>
                <a:cs typeface="Pretendard"/>
              </a:defRPr>
            </a:defPPr>
            <a:lvl1pPr>
              <a:defRPr sz="3000" b="1">
                <a:solidFill>
                  <a:srgbClr val="42634B"/>
                </a:solidFill>
                <a:latin typeface="Pretendard"/>
                <a:ea typeface="Pretendard"/>
                <a:cs typeface="Pretendard"/>
              </a:defRPr>
            </a:lvl1pPr>
            <a:lvl2pPr>
              <a:defRPr sz="3000" b="1">
                <a:solidFill>
                  <a:srgbClr val="42634B"/>
                </a:solidFill>
                <a:latin typeface="Pretendard"/>
                <a:ea typeface="Pretendard"/>
                <a:cs typeface="Pretendard"/>
              </a:defRPr>
            </a:lvl2pPr>
            <a:lvl3pPr>
              <a:defRPr sz="3000" b="1">
                <a:solidFill>
                  <a:srgbClr val="42634B"/>
                </a:solidFill>
                <a:latin typeface="Pretendard"/>
                <a:ea typeface="Pretendard"/>
                <a:cs typeface="Pretendard"/>
              </a:defRPr>
            </a:lvl3pPr>
            <a:lvl4pPr>
              <a:defRPr sz="3000" b="1">
                <a:solidFill>
                  <a:srgbClr val="42634B"/>
                </a:solidFill>
                <a:latin typeface="Pretendard"/>
                <a:ea typeface="Pretendard"/>
                <a:cs typeface="Pretendard"/>
              </a:defRPr>
            </a:lvl4pPr>
            <a:lvl5pPr>
              <a:defRPr sz="3000" b="1">
                <a:solidFill>
                  <a:srgbClr val="42634B"/>
                </a:solidFill>
                <a:latin typeface="Pretendard"/>
                <a:ea typeface="Pretendard"/>
                <a:cs typeface="Pretendard"/>
              </a:defRPr>
            </a:lvl5pPr>
            <a:lvl6pPr>
              <a:defRPr sz="3000" b="1">
                <a:solidFill>
                  <a:srgbClr val="42634B"/>
                </a:solidFill>
                <a:latin typeface="Pretendard"/>
                <a:ea typeface="Pretendard"/>
                <a:cs typeface="Pretendard"/>
              </a:defRPr>
            </a:lvl6pPr>
            <a:lvl7pPr>
              <a:defRPr sz="3000" b="1">
                <a:solidFill>
                  <a:srgbClr val="42634B"/>
                </a:solidFill>
                <a:latin typeface="Pretendard"/>
                <a:ea typeface="Pretendard"/>
                <a:cs typeface="Pretendard"/>
              </a:defRPr>
            </a:lvl7pPr>
            <a:lvl8pPr>
              <a:defRPr sz="3000" b="1">
                <a:solidFill>
                  <a:srgbClr val="42634B"/>
                </a:solidFill>
                <a:latin typeface="Pretendard"/>
                <a:ea typeface="Pretendard"/>
                <a:cs typeface="Pretendard"/>
              </a:defRPr>
            </a:lvl8pPr>
            <a:lvl9pPr>
              <a:defRPr sz="3000" b="1">
                <a:solidFill>
                  <a:srgbClr val="42634B"/>
                </a:solidFill>
                <a:latin typeface="Pretendard"/>
                <a:ea typeface="Pretendard"/>
                <a:cs typeface="Pretendard"/>
              </a:defRPr>
            </a:lvl9pPr>
          </a:lstStyle>
          <a:p xmlns:a="http://schemas.openxmlformats.org/drawingml/2006/main">
            <a:pPr>
              <a:defRPr sz="3000" b="1">
                <a:solidFill>
                  <a:srgbClr val="42634B"/>
                </a:solidFill>
                <a:latin typeface="Pretendard"/>
                <a:ea typeface="Pretendard"/>
                <a:cs typeface="Pretendard"/>
              </a:defRPr>
            </a:pPr>
            <a:r>
              <a:rPr sz="3000" b="1">
                <a:solidFill>
                  <a:srgbClr val="42634B"/>
                </a:solidFill>
                <a:latin typeface="Pretendard"/>
                <a:ea typeface="Pretendard"/>
                <a:cs typeface="Pretendard"/>
              </a:rPr>
              <a:t>조직 기반과 업무 서비스의 구성</a:t>
            </a:r>
          </a:p>
        </p:txBody>
      </p:sp>
      <p:sp>
        <p:nvSpPr>
          <p:cNvPr id="7" name="">
            <a:extLst xmlns:a="http://schemas.openxmlformats.org/drawingml/2006/main">
              <a:ext uri="{FF2B5EF4-FFF2-40B4-BE49-F238E27FC236}">
                <a16:creationId xmlns:a16="http://schemas.microsoft.com/office/drawing/2014/main" id="{B20FCFEB-87EC-4A2A-8392-7447C5497BA1}"/>
              </a:ext>
            </a:extLst>
          </p:cNvPr>
          <p:cNvSpPr>
            <a:spLocks xmlns:a="http://schemas.openxmlformats.org/drawingml/2006/main" noGrp="1"/>
          </p:cNvSpPr>
          <p:nvPr/>
        </p:nvSpPr>
        <p:spPr>
          <a:xfrm xmlns:a="http://schemas.openxmlformats.org/drawingml/2006/main">
            <a:off x="571500" y="4000500"/>
            <a:ext cx="1104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8352B"/>
                </a:solidFill>
                <a:latin typeface="Pretendard"/>
                <a:ea typeface="Pretendard"/>
                <a:cs typeface="Pretendard"/>
              </a:defRPr>
            </a:defPPr>
            <a:lvl1pPr>
              <a:defRPr sz="2025" b="0">
                <a:solidFill>
                  <a:srgbClr val="28352B"/>
                </a:solidFill>
                <a:latin typeface="Pretendard"/>
                <a:ea typeface="Pretendard"/>
                <a:cs typeface="Pretendard"/>
              </a:defRPr>
            </a:lvl1pPr>
            <a:lvl2pPr>
              <a:defRPr sz="2025" b="0">
                <a:solidFill>
                  <a:srgbClr val="28352B"/>
                </a:solidFill>
                <a:latin typeface="Pretendard"/>
                <a:ea typeface="Pretendard"/>
                <a:cs typeface="Pretendard"/>
              </a:defRPr>
            </a:lvl2pPr>
            <a:lvl3pPr>
              <a:defRPr sz="2025" b="0">
                <a:solidFill>
                  <a:srgbClr val="28352B"/>
                </a:solidFill>
                <a:latin typeface="Pretendard"/>
                <a:ea typeface="Pretendard"/>
                <a:cs typeface="Pretendard"/>
              </a:defRPr>
            </a:lvl3pPr>
            <a:lvl4pPr>
              <a:defRPr sz="2025" b="0">
                <a:solidFill>
                  <a:srgbClr val="28352B"/>
                </a:solidFill>
                <a:latin typeface="Pretendard"/>
                <a:ea typeface="Pretendard"/>
                <a:cs typeface="Pretendard"/>
              </a:defRPr>
            </a:lvl4pPr>
            <a:lvl5pPr>
              <a:defRPr sz="2025" b="0">
                <a:solidFill>
                  <a:srgbClr val="28352B"/>
                </a:solidFill>
                <a:latin typeface="Pretendard"/>
                <a:ea typeface="Pretendard"/>
                <a:cs typeface="Pretendard"/>
              </a:defRPr>
            </a:lvl5pPr>
            <a:lvl6pPr>
              <a:defRPr sz="2025" b="0">
                <a:solidFill>
                  <a:srgbClr val="28352B"/>
                </a:solidFill>
                <a:latin typeface="Pretendard"/>
                <a:ea typeface="Pretendard"/>
                <a:cs typeface="Pretendard"/>
              </a:defRPr>
            </a:lvl6pPr>
            <a:lvl7pPr>
              <a:defRPr sz="2025" b="0">
                <a:solidFill>
                  <a:srgbClr val="28352B"/>
                </a:solidFill>
                <a:latin typeface="Pretendard"/>
                <a:ea typeface="Pretendard"/>
                <a:cs typeface="Pretendard"/>
              </a:defRPr>
            </a:lvl7pPr>
            <a:lvl8pPr>
              <a:defRPr sz="2025" b="0">
                <a:solidFill>
                  <a:srgbClr val="28352B"/>
                </a:solidFill>
                <a:latin typeface="Pretendard"/>
                <a:ea typeface="Pretendard"/>
                <a:cs typeface="Pretendard"/>
              </a:defRPr>
            </a:lvl8pPr>
            <a:lvl9pPr>
              <a:defRPr sz="2025" b="0">
                <a:solidFill>
                  <a:srgbClr val="28352B"/>
                </a:solidFill>
                <a:latin typeface="Pretendard"/>
                <a:ea typeface="Pretendard"/>
                <a:cs typeface="Pretendard"/>
              </a:defRPr>
            </a:lvl9pPr>
          </a:lstStyle>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31개 상세 사례 / RFP 확보 10개</a:t>
            </a:r>
          </a:p>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원문 자료 19개 / 세부 서비스·데이터·예외 흐름</a:t>
            </a:r>
          </a:p>
        </p:txBody>
      </p:sp>
      <p:sp>
        <p:nvSpPr>
          <p:cNvPr id="8" name="">
            <a:extLst xmlns:a="http://schemas.openxmlformats.org/drawingml/2006/main">
              <a:ext uri="{FF2B5EF4-FFF2-40B4-BE49-F238E27FC236}">
                <a16:creationId xmlns:a16="http://schemas.microsoft.com/office/drawing/2014/main" id="{2BD7D587-D8B4-4013-BB3D-A69E56EF6BBB}"/>
              </a:ext>
            </a:extLst>
          </p:cNvPr>
          <p:cNvSpPr>
            <a:spLocks xmlns:a="http://schemas.openxmlformats.org/drawingml/2006/main" noGrp="1"/>
          </p:cNvSpPr>
          <p:nvPr/>
        </p:nvSpPr>
        <p:spPr>
          <a:xfrm xmlns:a="http://schemas.openxmlformats.org/drawingml/2006/main">
            <a:off x="571500" y="556260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687369"/>
                </a:solidFill>
                <a:latin typeface="Pretendard"/>
                <a:ea typeface="Pretendard"/>
                <a:cs typeface="Pretendard"/>
              </a:defRPr>
            </a:defPPr>
            <a:lvl1pPr>
              <a:defRPr sz="1575" b="0">
                <a:solidFill>
                  <a:srgbClr val="687369"/>
                </a:solidFill>
                <a:latin typeface="Pretendard"/>
                <a:ea typeface="Pretendard"/>
                <a:cs typeface="Pretendard"/>
              </a:defRPr>
            </a:lvl1pPr>
            <a:lvl2pPr>
              <a:defRPr sz="1575" b="0">
                <a:solidFill>
                  <a:srgbClr val="687369"/>
                </a:solidFill>
                <a:latin typeface="Pretendard"/>
                <a:ea typeface="Pretendard"/>
                <a:cs typeface="Pretendard"/>
              </a:defRPr>
            </a:lvl2pPr>
            <a:lvl3pPr>
              <a:defRPr sz="1575" b="0">
                <a:solidFill>
                  <a:srgbClr val="687369"/>
                </a:solidFill>
                <a:latin typeface="Pretendard"/>
                <a:ea typeface="Pretendard"/>
                <a:cs typeface="Pretendard"/>
              </a:defRPr>
            </a:lvl3pPr>
            <a:lvl4pPr>
              <a:defRPr sz="1575" b="0">
                <a:solidFill>
                  <a:srgbClr val="687369"/>
                </a:solidFill>
                <a:latin typeface="Pretendard"/>
                <a:ea typeface="Pretendard"/>
                <a:cs typeface="Pretendard"/>
              </a:defRPr>
            </a:lvl4pPr>
            <a:lvl5pPr>
              <a:defRPr sz="1575" b="0">
                <a:solidFill>
                  <a:srgbClr val="687369"/>
                </a:solidFill>
                <a:latin typeface="Pretendard"/>
                <a:ea typeface="Pretendard"/>
                <a:cs typeface="Pretendard"/>
              </a:defRPr>
            </a:lvl5pPr>
            <a:lvl6pPr>
              <a:defRPr sz="1575" b="0">
                <a:solidFill>
                  <a:srgbClr val="687369"/>
                </a:solidFill>
                <a:latin typeface="Pretendard"/>
                <a:ea typeface="Pretendard"/>
                <a:cs typeface="Pretendard"/>
              </a:defRPr>
            </a:lvl6pPr>
            <a:lvl7pPr>
              <a:defRPr sz="1575" b="0">
                <a:solidFill>
                  <a:srgbClr val="687369"/>
                </a:solidFill>
                <a:latin typeface="Pretendard"/>
                <a:ea typeface="Pretendard"/>
                <a:cs typeface="Pretendard"/>
              </a:defRPr>
            </a:lvl7pPr>
            <a:lvl8pPr>
              <a:defRPr sz="1575" b="0">
                <a:solidFill>
                  <a:srgbClr val="687369"/>
                </a:solidFill>
                <a:latin typeface="Pretendard"/>
                <a:ea typeface="Pretendard"/>
                <a:cs typeface="Pretendard"/>
              </a:defRPr>
            </a:lvl8pPr>
            <a:lvl9pPr>
              <a:defRPr sz="1575" b="0">
                <a:solidFill>
                  <a:srgbClr val="687369"/>
                </a:solidFill>
                <a:latin typeface="Pretendard"/>
                <a:ea typeface="Pretendard"/>
                <a:cs typeface="Pretendard"/>
              </a:defRPr>
            </a:lvl9pPr>
          </a:lstStyle>
          <a:p xmlns:a="http://schemas.openxmlformats.org/drawingml/2006/main">
            <a:pPr>
              <a:defRPr sz="1575" b="0">
                <a:solidFill>
                  <a:srgbClr val="687369"/>
                </a:solidFill>
                <a:latin typeface="Pretendard"/>
                <a:ea typeface="Pretendard"/>
                <a:cs typeface="Pretendard"/>
              </a:defRPr>
            </a:pPr>
            <a:r>
              <a:rPr sz="1575" b="0">
                <a:solidFill>
                  <a:srgbClr val="687369"/>
                </a:solidFill>
                <a:latin typeface="Pretendard"/>
                <a:ea typeface="Pretendard"/>
                <a:cs typeface="Pretendard"/>
              </a:rPr>
              <a:t>공개자료·RFP 기반 CCK 분석 및 적용 설계</a:t>
            </a:r>
          </a:p>
        </p:txBody>
      </p:sp>
    </p:spTree>
    <p:extLst>
      <p:ext uri="{BB962C8B-B14F-4D97-AF65-F5344CB8AC3E}">
        <p14:creationId xmlns:p14="http://schemas.microsoft.com/office/powerpoint/2010/main" val="1321001127"/>
      </p:ext>
    </p:extLst>
  </p:cSld>
</p:sld>
</file>

<file path=ppt/slides/slide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D1D333E-4E30-4C9D-8E00-3E3FC2A493D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성과 미검증 / 국내</a:t>
            </a:r>
          </a:p>
        </p:txBody>
      </p:sp>
      <p:sp>
        <p:nvSpPr>
          <p:cNvPr id="2" name="">
            <a:extLst xmlns:a="http://schemas.openxmlformats.org/drawingml/2006/main">
              <a:ext uri="{FF2B5EF4-FFF2-40B4-BE49-F238E27FC236}">
                <a16:creationId xmlns:a16="http://schemas.microsoft.com/office/drawing/2014/main" id="{FA6554BC-88B5-4524-B3A8-83A7C02B2F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a:t>
            </a:r>
          </a:p>
        </p:txBody>
      </p:sp>
      <p:sp>
        <p:nvSpPr>
          <p:cNvPr id="3" name="">
            <a:extLst xmlns:a="http://schemas.openxmlformats.org/drawingml/2006/main">
              <a:ext uri="{FF2B5EF4-FFF2-40B4-BE49-F238E27FC236}">
                <a16:creationId xmlns:a16="http://schemas.microsoft.com/office/drawing/2014/main" id="{644C07E5-51E5-4434-9CD0-72FFB521791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47DEB3-C314-4D81-B120-5F9C421CDB9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D65343E-B139-4E3F-9B92-01F00273D72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02</a:t>
            </a:r>
          </a:p>
        </p:txBody>
      </p:sp>
      <p:sp>
        <p:nvSpPr>
          <p:cNvPr id="6" name="">
            <a:extLst xmlns:a="http://schemas.openxmlformats.org/drawingml/2006/main">
              <a:ext uri="{FF2B5EF4-FFF2-40B4-BE49-F238E27FC236}">
                <a16:creationId xmlns:a16="http://schemas.microsoft.com/office/drawing/2014/main" id="{87C5CCAD-DAEC-473F-A242-21AE55080F0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5AF3273-B171-4004-B17E-163FAEA8BB0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규정 검색, 전세보증 이행서류 심사, 민원 처리의 세 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무를 공통 AI 기반 위에 구성하는 사업. 심사자가 여러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서류의 주소·계약·보증정보를 맞춰 보는 과정과 민원 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당자가 관련 규정·과거 답변을 찾는 과정을 각각 지원하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범위.</a:t>
            </a:r>
          </a:p>
        </p:txBody>
      </p:sp>
      <p:sp>
        <p:nvSpPr>
          <p:cNvPr id="8" name="">
            <a:extLst xmlns:a="http://schemas.openxmlformats.org/drawingml/2006/main">
              <a:ext uri="{FF2B5EF4-FFF2-40B4-BE49-F238E27FC236}">
                <a16:creationId xmlns:a16="http://schemas.microsoft.com/office/drawing/2014/main" id="{414B2E91-5A97-4A13-AF5E-56C3A66E40A7}"/>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026674B-7C58-42C5-AA05-3AF34BEF798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SFR-007의 핵심은 OCR 도입을 넘어 업무 건별 서류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묶음, 원본 위치와 추출값의 연결, 서류 간 비교, 심사자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수정·승인, 승인값의 후속 전달까지 이어지는 처리 구조.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검색용 청크와 심사용 구조화 항목을 별도 데이터로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리하는 설계 필요.</a:t>
            </a:r>
          </a:p>
        </p:txBody>
      </p:sp>
      <p:sp>
        <p:nvSpPr>
          <p:cNvPr id="10" name="">
            <a:extLst xmlns:a="http://schemas.openxmlformats.org/drawingml/2006/main">
              <a:ext uri="{FF2B5EF4-FFF2-40B4-BE49-F238E27FC236}">
                <a16:creationId xmlns:a16="http://schemas.microsoft.com/office/drawing/2014/main" id="{30831D40-45F3-4524-B2CA-CBED2B2BA5D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CFF3FB3-642D-4524-985A-5C94F1A95DA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원문 인식률만으로 심사 지원 품질을 평가하기 어려운 구조.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문서 종류별 항목 추출, 다른 서류 간 정합성 판정, 누락 탐지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사람 확인 후 전달을 단계별로 분리해 비교할 대상. TS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사·인증 서류에도 사건 ID와 원본 좌표를 유지하는 방식의 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용 가능성.</a:t>
            </a:r>
          </a:p>
        </p:txBody>
      </p:sp>
      <p:sp>
        <p:nvSpPr>
          <p:cNvPr id="12" name="">
            <a:extLst xmlns:a="http://schemas.openxmlformats.org/drawingml/2006/main">
              <a:ext uri="{FF2B5EF4-FFF2-40B4-BE49-F238E27FC236}">
                <a16:creationId xmlns:a16="http://schemas.microsoft.com/office/drawing/2014/main" id="{676DBF2D-68D5-4A0D-8A81-F9AA457461F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448E09B-C127-4B32-8AAB-EF544DBCB3B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서류 종류·필수항목 사전 / 추출값–원본 좌표 / 사건별 비교 규</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칙</a:t>
            </a:r>
          </a:p>
        </p:txBody>
      </p:sp>
      <p:sp>
        <p:nvSpPr>
          <p:cNvPr id="14" name="">
            <a:extLst xmlns:a="http://schemas.openxmlformats.org/drawingml/2006/main">
              <a:ext uri="{FF2B5EF4-FFF2-40B4-BE49-F238E27FC236}">
                <a16:creationId xmlns:a16="http://schemas.microsoft.com/office/drawing/2014/main" id="{DCF6F994-E1F7-4A92-988F-711B7310167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06BD433-71F7-4B4A-875B-88CD654F434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저화질·누락·다른 사건 서류 주입 후 원본 대조·판정 보류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확인</a:t>
            </a:r>
          </a:p>
        </p:txBody>
      </p:sp>
      <p:sp>
        <p:nvSpPr>
          <p:cNvPr id="16" name="">
            <a:extLst xmlns:a="http://schemas.openxmlformats.org/drawingml/2006/main">
              <a:ext uri="{FF2B5EF4-FFF2-40B4-BE49-F238E27FC236}">
                <a16:creationId xmlns:a16="http://schemas.microsoft.com/office/drawing/2014/main" id="{EE7CD41C-FDBC-4AF9-AED4-6A1651158B1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E2DB272-267F-4430-89B5-4E7F83DB508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심사 검토시간 / 필수 항목 누락률 / 재보완 횟수</a:t>
            </a:r>
          </a:p>
        </p:txBody>
      </p:sp>
      <p:sp>
        <p:nvSpPr>
          <p:cNvPr id="18" name="">
            <a:extLst xmlns:a="http://schemas.openxmlformats.org/drawingml/2006/main">
              <a:ext uri="{FF2B5EF4-FFF2-40B4-BE49-F238E27FC236}">
                <a16:creationId xmlns:a16="http://schemas.microsoft.com/office/drawing/2014/main" id="{CDB7A1AA-C704-4BB1-ACD4-12B7DCA12FA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전세보증과 TS 전세버스는 업무 기준이 다름. 공통 기능만 이식 가능</a:t>
            </a:r>
          </a:p>
        </p:txBody>
      </p:sp>
    </p:spTree>
    <p:extLst>
      <p:ext uri="{BB962C8B-B14F-4D97-AF65-F5344CB8AC3E}">
        <p14:creationId xmlns:p14="http://schemas.microsoft.com/office/powerpoint/2010/main" val="405303011"/>
      </p:ext>
    </p:extLst>
  </p:cSld>
</p:sld>
</file>

<file path=ppt/slides/slide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8102466-FA1B-42E9-9C62-6F42F4DA46F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As-Is → To-Be → 기대효과 → 확인 결과</a:t>
            </a:r>
          </a:p>
        </p:txBody>
      </p:sp>
      <p:sp>
        <p:nvSpPr>
          <p:cNvPr id="2" name="">
            <a:extLst xmlns:a="http://schemas.openxmlformats.org/drawingml/2006/main">
              <a:ext uri="{FF2B5EF4-FFF2-40B4-BE49-F238E27FC236}">
                <a16:creationId xmlns:a16="http://schemas.microsoft.com/office/drawing/2014/main" id="{3A6D809B-CF23-43E6-B605-54352D189ED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기대와 결과</a:t>
            </a:r>
          </a:p>
        </p:txBody>
      </p:sp>
      <p:sp>
        <p:nvSpPr>
          <p:cNvPr id="3" name="">
            <a:extLst xmlns:a="http://schemas.openxmlformats.org/drawingml/2006/main">
              <a:ext uri="{FF2B5EF4-FFF2-40B4-BE49-F238E27FC236}">
                <a16:creationId xmlns:a16="http://schemas.microsoft.com/office/drawing/2014/main" id="{6D60BAB5-909F-417C-AF6F-7BCA75D0850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4F5812-FC8C-4A14-8DA9-B1402088113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9DC6961-7CB3-499C-B253-F94E869667A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03</a:t>
            </a:r>
          </a:p>
        </p:txBody>
      </p:sp>
      <p:sp>
        <p:nvSpPr>
          <p:cNvPr id="6" name="">
            <a:extLst xmlns:a="http://schemas.openxmlformats.org/drawingml/2006/main">
              <a:ext uri="{FF2B5EF4-FFF2-40B4-BE49-F238E27FC236}">
                <a16:creationId xmlns:a16="http://schemas.microsoft.com/office/drawing/2014/main" id="{CEEC9EC6-2532-4CF1-97F4-5862A8EF86FE}"/>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C5F7A2BA-4C64-4192-B2D7-2FB64CCEB4A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전세보증 심사 서류·규정·민원 자료를 담당자가 사건별로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대조하는 업무</a:t>
            </a:r>
          </a:p>
        </p:txBody>
      </p:sp>
      <p:sp>
        <p:nvSpPr>
          <p:cNvPr id="8" name="">
            <a:extLst xmlns:a="http://schemas.openxmlformats.org/drawingml/2006/main">
              <a:ext uri="{FF2B5EF4-FFF2-40B4-BE49-F238E27FC236}">
                <a16:creationId xmlns:a16="http://schemas.microsoft.com/office/drawing/2014/main" id="{6A658840-E553-4CFC-A013-85FAE134D515}"/>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E98A2BCF-1BDA-46B3-BD00-5EBA0D3A3561}"/>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사건 ID로 원본·OCR 추출값·필수서류·규정을 연결하고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누락·상충을 표시한 뒤 담당자 확정</a:t>
            </a:r>
          </a:p>
        </p:txBody>
      </p:sp>
      <p:sp>
        <p:nvSpPr>
          <p:cNvPr id="10" name="">
            <a:extLst xmlns:a="http://schemas.openxmlformats.org/drawingml/2006/main">
              <a:ext uri="{FF2B5EF4-FFF2-40B4-BE49-F238E27FC236}">
                <a16:creationId xmlns:a16="http://schemas.microsoft.com/office/drawing/2014/main" id="{B2D71720-5041-498D-8813-428100529471}"/>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2E03134E-1506-441E-B77D-1527246F150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서류 대조시간·누락률·재보완 횟수 감소</a:t>
            </a:r>
          </a:p>
        </p:txBody>
      </p:sp>
      <p:sp>
        <p:nvSpPr>
          <p:cNvPr id="12" name="">
            <a:extLst xmlns:a="http://schemas.openxmlformats.org/drawingml/2006/main">
              <a:ext uri="{FF2B5EF4-FFF2-40B4-BE49-F238E27FC236}">
                <a16:creationId xmlns:a16="http://schemas.microsoft.com/office/drawing/2014/main" id="{3423DD42-C533-45E4-9B38-54610399B276}"/>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F58CEC6A-0310-4D08-95B1-69022E63D6D3}"/>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공개 RFP의 목표 구성과 기능요구 확인. 준공·운영 결과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및 전후 성능 공개 근거 없음</a:t>
            </a:r>
          </a:p>
        </p:txBody>
      </p:sp>
      <p:sp>
        <p:nvSpPr>
          <p:cNvPr id="14" name="">
            <a:extLst xmlns:a="http://schemas.openxmlformats.org/drawingml/2006/main">
              <a:ext uri="{FF2B5EF4-FFF2-40B4-BE49-F238E27FC236}">
                <a16:creationId xmlns:a16="http://schemas.microsoft.com/office/drawing/2014/main" id="{880816FB-48D4-4305-99D7-76258442132C}"/>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목표 아키텍처는 확인되나 추출 정확도·심사시간의 운영 측정치 부재</a:t>
            </a:r>
          </a:p>
        </p:txBody>
      </p:sp>
      <p:sp>
        <p:nvSpPr>
          <p:cNvPr id="15" name="">
            <a:extLst xmlns:a="http://schemas.openxmlformats.org/drawingml/2006/main">
              <a:ext uri="{FF2B5EF4-FFF2-40B4-BE49-F238E27FC236}">
                <a16:creationId xmlns:a16="http://schemas.microsoft.com/office/drawing/2014/main" id="{819887D3-E9F9-4527-BEAB-650A5FD02395}"/>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RFP 목표 · RFP의 목표 구성도는 실제 설치도 아님; 사건 난도와 사람 검토시간을 통제한 기준선 필요</a:t>
            </a:r>
          </a:p>
        </p:txBody>
      </p:sp>
    </p:spTree>
    <p:extLst>
      <p:ext uri="{BB962C8B-B14F-4D97-AF65-F5344CB8AC3E}">
        <p14:creationId xmlns:p14="http://schemas.microsoft.com/office/powerpoint/2010/main" val="1330536499"/>
      </p:ext>
    </p:extLst>
  </p:cSld>
</p:sld>
</file>

<file path=ppt/slides/slide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275212D-98DD-4AA7-9C29-CFBCD773B2C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본공고 RFP · SFR-006~008 / 1–3</a:t>
            </a:r>
          </a:p>
        </p:txBody>
      </p:sp>
      <p:sp>
        <p:nvSpPr>
          <p:cNvPr id="2" name="">
            <a:extLst xmlns:a="http://schemas.openxmlformats.org/drawingml/2006/main">
              <a:ext uri="{FF2B5EF4-FFF2-40B4-BE49-F238E27FC236}">
                <a16:creationId xmlns:a16="http://schemas.microsoft.com/office/drawing/2014/main" id="{C703B730-1AB3-454A-B7F2-D4EEF4E3FE7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RFP 요구사항</a:t>
            </a:r>
          </a:p>
        </p:txBody>
      </p:sp>
      <p:sp>
        <p:nvSpPr>
          <p:cNvPr id="3" name="">
            <a:extLst xmlns:a="http://schemas.openxmlformats.org/drawingml/2006/main">
              <a:ext uri="{FF2B5EF4-FFF2-40B4-BE49-F238E27FC236}">
                <a16:creationId xmlns:a16="http://schemas.microsoft.com/office/drawing/2014/main" id="{E8DCCA71-8521-4CB9-81F0-8CDBC00BC3C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632BE1-356B-4671-BBE3-319D50D6CF0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B5F1D4B-D817-4717-8885-97B776E7C6D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04</a:t>
            </a:r>
          </a:p>
        </p:txBody>
      </p:sp>
      <p:sp>
        <p:nvSpPr>
          <p:cNvPr id="6" name="">
            <a:extLst xmlns:a="http://schemas.openxmlformats.org/drawingml/2006/main">
              <a:ext uri="{FF2B5EF4-FFF2-40B4-BE49-F238E27FC236}">
                <a16:creationId xmlns:a16="http://schemas.microsoft.com/office/drawing/2014/main" id="{C7778EC4-ED5D-4B7E-8BA6-F5C9F879C1A1}"/>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4864517-1FAA-4FEE-B617-98537D844FAC}"/>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AI 서비스_직원용 지식검색</a:t>
            </a:r>
          </a:p>
        </p:txBody>
      </p:sp>
      <p:sp>
        <p:nvSpPr>
          <p:cNvPr id="8" name="">
            <a:extLst xmlns:a="http://schemas.openxmlformats.org/drawingml/2006/main">
              <a:ext uri="{FF2B5EF4-FFF2-40B4-BE49-F238E27FC236}">
                <a16:creationId xmlns:a16="http://schemas.microsoft.com/office/drawing/2014/main" id="{B0388A3F-F439-44F3-B1D1-7769721AA59C}"/>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규정·매뉴얼·판례의 구조를 추출하고 키워드·문맥 검색을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결합하는 직원용 지식검색. 승인 문서의 판본·개정일·보안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등급 관리와 근거 조항·페이지 제공.</a:t>
            </a:r>
          </a:p>
        </p:txBody>
      </p:sp>
      <p:sp>
        <p:nvSpPr>
          <p:cNvPr id="9" name="">
            <a:extLst xmlns:a="http://schemas.openxmlformats.org/drawingml/2006/main">
              <a:ext uri="{FF2B5EF4-FFF2-40B4-BE49-F238E27FC236}">
                <a16:creationId xmlns:a16="http://schemas.microsoft.com/office/drawing/2014/main" id="{AEBBCE16-6250-4096-B286-FDD8AD59E7A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표·각주 포함 문서, 개정·삭제 문서, 다른 보안등급 문서를 투</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입해 인용 위치·최신성·검색 제외 여부 대사</a:t>
            </a:r>
          </a:p>
        </p:txBody>
      </p:sp>
      <p:sp>
        <p:nvSpPr>
          <p:cNvPr id="10" name="">
            <a:extLst xmlns:a="http://schemas.openxmlformats.org/drawingml/2006/main">
              <a:ext uri="{FF2B5EF4-FFF2-40B4-BE49-F238E27FC236}">
                <a16:creationId xmlns:a16="http://schemas.microsoft.com/office/drawing/2014/main" id="{399A3A11-8E2F-460F-A9B8-6125BD2A6F02}"/>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2892EE-38A6-4EEA-A4BE-D1E6F7022AD7}"/>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AI 서비스_전세이행 업무지원</a:t>
            </a:r>
          </a:p>
        </p:txBody>
      </p:sp>
      <p:sp>
        <p:nvSpPr>
          <p:cNvPr id="12" name="">
            <a:extLst xmlns:a="http://schemas.openxmlformats.org/drawingml/2006/main">
              <a:ext uri="{FF2B5EF4-FFF2-40B4-BE49-F238E27FC236}">
                <a16:creationId xmlns:a16="http://schemas.microsoft.com/office/drawing/2014/main" id="{D8C4443B-B873-4C4A-8303-A40F5E4D1426}"/>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건별 제출서류 묶음과 OCR/VLM 추출값 관리. 원본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좌표 표시, 필드 수정, 유효기간·누락·서류 간 일치 검사,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심사표 생성, 승인값의 후속 전달.</a:t>
            </a:r>
          </a:p>
        </p:txBody>
      </p:sp>
      <p:sp>
        <p:nvSpPr>
          <p:cNvPr id="13" name="">
            <a:extLst xmlns:a="http://schemas.openxmlformats.org/drawingml/2006/main">
              <a:ext uri="{FF2B5EF4-FFF2-40B4-BE49-F238E27FC236}">
                <a16:creationId xmlns:a16="http://schemas.microsoft.com/office/drawing/2014/main" id="{C834A5B7-5A77-4281-A1FC-83001E1E82E7}"/>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흐린 스캔·다른 주소·누락 서류를 투입해 경고와 원본 위치 확</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 미승인 값의 전달 차단 확인</a:t>
            </a:r>
          </a:p>
        </p:txBody>
      </p:sp>
      <p:sp>
        <p:nvSpPr>
          <p:cNvPr id="14" name="">
            <a:extLst xmlns:a="http://schemas.openxmlformats.org/drawingml/2006/main">
              <a:ext uri="{FF2B5EF4-FFF2-40B4-BE49-F238E27FC236}">
                <a16:creationId xmlns:a16="http://schemas.microsoft.com/office/drawing/2014/main" id="{28FA1A34-8E12-455A-A630-68B366B8D1C9}"/>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2350BE8-EAE6-4F05-AF80-F77C1024B024}"/>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AI 서비스_지능형 민원처리 시스템</a:t>
            </a:r>
          </a:p>
        </p:txBody>
      </p:sp>
      <p:sp>
        <p:nvSpPr>
          <p:cNvPr id="16" name="">
            <a:extLst xmlns:a="http://schemas.openxmlformats.org/drawingml/2006/main">
              <a:ext uri="{FF2B5EF4-FFF2-40B4-BE49-F238E27FC236}">
                <a16:creationId xmlns:a16="http://schemas.microsoft.com/office/drawing/2014/main" id="{88F1F9E0-F9E1-411F-9739-A15228DA6A01}"/>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 부서 후보 추천, 유사민원 검색, 답변 초안·요약 제공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사용자의 부서 선택·답변 확정과 담당 부서의 FAQ 후보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a:t>
            </a:r>
          </a:p>
        </p:txBody>
      </p:sp>
      <p:sp>
        <p:nvSpPr>
          <p:cNvPr id="17" name="">
            <a:extLst xmlns:a="http://schemas.openxmlformats.org/drawingml/2006/main">
              <a:ext uri="{FF2B5EF4-FFF2-40B4-BE49-F238E27FC236}">
                <a16:creationId xmlns:a16="http://schemas.microsoft.com/office/drawing/2014/main" id="{613494F1-1CEA-4892-9C96-9BF58824981F}"/>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다부서 민원·유사사례 없음·FAQ 중복 입력 시 후보와 규정 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체 근거, 확정 전후 변경 이력 대사</a:t>
            </a:r>
          </a:p>
        </p:txBody>
      </p:sp>
    </p:spTree>
    <p:extLst>
      <p:ext uri="{BB962C8B-B14F-4D97-AF65-F5344CB8AC3E}">
        <p14:creationId xmlns:p14="http://schemas.microsoft.com/office/powerpoint/2010/main" val="1600361999"/>
      </p:ext>
    </p:extLst>
  </p:cSld>
</p:sld>
</file>

<file path=ppt/slides/slide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BEF1BE-7E1F-40A5-B122-6F4592F98F8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RFP 목표 구성도 / RFP 원문 추출</a:t>
            </a:r>
          </a:p>
        </p:txBody>
      </p:sp>
      <p:sp>
        <p:nvSpPr>
          <p:cNvPr id="2" name="">
            <a:extLst xmlns:a="http://schemas.openxmlformats.org/drawingml/2006/main">
              <a:ext uri="{FF2B5EF4-FFF2-40B4-BE49-F238E27FC236}">
                <a16:creationId xmlns:a16="http://schemas.microsoft.com/office/drawing/2014/main" id="{647840B1-BF22-4066-A1E7-446162CC8D0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AI 인프라·업무시스템 연계</a:t>
            </a:r>
          </a:p>
        </p:txBody>
      </p:sp>
      <p:sp>
        <p:nvSpPr>
          <p:cNvPr id="3" name="">
            <a:extLst xmlns:a="http://schemas.openxmlformats.org/drawingml/2006/main">
              <a:ext uri="{FF2B5EF4-FFF2-40B4-BE49-F238E27FC236}">
                <a16:creationId xmlns:a16="http://schemas.microsoft.com/office/drawing/2014/main" id="{AAC1DF3B-DC72-4F61-A2B6-29CA238F431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DD7EB8-DA84-481A-B5A1-4F5C68B76C3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1F58583-90D4-4B93-81B2-DE4CAA46B89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05</a:t>
            </a:r>
          </a:p>
        </p:txBody>
      </p:sp>
      <p:pic>
        <p:nvPicPr>
          <p:cNvPr id="6" name="">
            <a:extLst xmlns:a="http://schemas.openxmlformats.org/drawingml/2006/main">
              <a:ext uri="{FF2B5EF4-FFF2-40B4-BE49-F238E27FC236}">
                <a16:creationId xmlns:a16="http://schemas.microsoft.com/office/drawing/2014/main" id="{727D56EB-C316-4037-BAEA-D920AB0ED86D}"/>
              </a:ext>
            </a:extLst>
          </p:cNvPr>
          <p:cNvPicPr>
            <a:picLocks xmlns:a="http://schemas.openxmlformats.org/drawingml/2006/main" noChangeAspect="1"/>
          </p:cNvPicPr>
          <p:nvPr/>
        </p:nvPicPr>
        <p:blipFill>
          <a:blip xmlns:r="http://schemas.openxmlformats.org/officeDocument/2006/relationships" xmlns:a="http://schemas.openxmlformats.org/drawingml/2006/main" r:embed="Rd849e5dcbe174583"/>
          <a:stretch xmlns:a="http://schemas.openxmlformats.org/drawingml/2006/main"/>
        </p:blipFill>
        <p:spPr>
          <a:xfrm xmlns:a="http://schemas.openxmlformats.org/drawingml/2006/main">
            <a:off x="3296920" y="1657350"/>
            <a:ext cx="55981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E61AC93-BA3D-458E-9082-43FF5077209F}"/>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통합 클라우드·GPU Kubernetes·AI 웹서비스·그룹웨어 연계</a:t>
            </a:r>
          </a:p>
        </p:txBody>
      </p:sp>
    </p:spTree>
    <p:extLst>
      <p:ext uri="{BB962C8B-B14F-4D97-AF65-F5344CB8AC3E}">
        <p14:creationId xmlns:p14="http://schemas.microsoft.com/office/powerpoint/2010/main" val="424096274"/>
      </p:ext>
    </p:extLst>
  </p:cSld>
</p:sld>
</file>

<file path=ppt/slides/slide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D902EA9-F0EB-4829-BBF8-12767A9BD96B}"/>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11B3E539-8A17-45F1-B803-81CE47CE722F}"/>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B11C965-7C23-40CB-BC95-C15D4FAA8570}"/>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B6ADB0CA-2337-44D3-945A-4E6D0B4F646B}"/>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2397CF68-2FFD-49D8-9363-F61EC5454BB5}"/>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C2E3CE5-599A-46BE-A265-E30565DBDE87}"/>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E5577D6-2A06-41F8-A963-3551596C4D6F}"/>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0845046D-939B-47B6-9E5E-4DDFEAC5B2DD}"/>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8B6E4F3-092D-468B-8158-2AFCA7A9518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998014F0-A7A2-4EEE-B592-F5B80C61BF7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원문 추출·대조·사람 확정</a:t>
            </a:r>
          </a:p>
        </p:txBody>
      </p:sp>
      <p:sp>
        <p:nvSpPr>
          <p:cNvPr id="2" name="">
            <a:extLst xmlns:a="http://schemas.openxmlformats.org/drawingml/2006/main">
              <a:ext uri="{FF2B5EF4-FFF2-40B4-BE49-F238E27FC236}">
                <a16:creationId xmlns:a16="http://schemas.microsoft.com/office/drawing/2014/main" id="{630DAB63-7053-4C36-9A6D-89950BECEC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세부 서비스 구조</a:t>
            </a:r>
          </a:p>
        </p:txBody>
      </p:sp>
      <p:sp>
        <p:nvSpPr>
          <p:cNvPr id="3" name="">
            <a:extLst xmlns:a="http://schemas.openxmlformats.org/drawingml/2006/main">
              <a:ext uri="{FF2B5EF4-FFF2-40B4-BE49-F238E27FC236}">
                <a16:creationId xmlns:a16="http://schemas.microsoft.com/office/drawing/2014/main" id="{BB8CA640-702E-4794-9BE8-3589A3B478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B6C864-486E-4028-AABE-D19460D4A9F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58BCE2F-1F13-490C-AE96-119DB304C11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06</a:t>
            </a:r>
          </a:p>
        </p:txBody>
      </p:sp>
      <p:sp>
        <p:nvSpPr>
          <p:cNvPr id="6" name="">
            <a:extLst xmlns:a="http://schemas.openxmlformats.org/drawingml/2006/main">
              <a:ext uri="{FF2B5EF4-FFF2-40B4-BE49-F238E27FC236}">
                <a16:creationId xmlns:a16="http://schemas.microsoft.com/office/drawing/2014/main" id="{EE0DAA43-67DF-4764-AA2C-5F1929C85EB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보증 서류 → OCR·원본 대조 → 규칙·누락 검토 → 담당자 확정</a:t>
            </a:r>
          </a:p>
        </p:txBody>
      </p:sp>
      <p:sp>
        <p:nvSpPr>
          <p:cNvPr id="7" name="">
            <a:extLst xmlns:a="http://schemas.openxmlformats.org/drawingml/2006/main">
              <a:ext uri="{FF2B5EF4-FFF2-40B4-BE49-F238E27FC236}">
                <a16:creationId xmlns:a16="http://schemas.microsoft.com/office/drawing/2014/main" id="{73DCFB8E-2CA5-4FAB-9A55-CB8633E401B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8228A67-AB1E-4202-B6B3-67046F484C5B}"/>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92456CD8-F826-43AA-9EB0-81D22FE3BE4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직원·문서 접점</a:t>
            </a:r>
          </a:p>
        </p:txBody>
      </p:sp>
      <p:sp>
        <p:nvSpPr>
          <p:cNvPr id="10" name="">
            <a:extLst xmlns:a="http://schemas.openxmlformats.org/drawingml/2006/main">
              <a:ext uri="{FF2B5EF4-FFF2-40B4-BE49-F238E27FC236}">
                <a16:creationId xmlns:a16="http://schemas.microsoft.com/office/drawing/2014/main" id="{09C887ED-94F5-47CC-93D0-4EC7244840EA}"/>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BD8B50E-D017-403D-ABA0-DBC70748F26E}"/>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055CF6AD-2092-4DF3-9959-EFA14D19A9FA}"/>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OCR·VLM 추출</a:t>
            </a:r>
          </a:p>
        </p:txBody>
      </p:sp>
      <p:sp>
        <p:nvSpPr>
          <p:cNvPr id="13" name="">
            <a:extLst xmlns:a="http://schemas.openxmlformats.org/drawingml/2006/main">
              <a:ext uri="{FF2B5EF4-FFF2-40B4-BE49-F238E27FC236}">
                <a16:creationId xmlns:a16="http://schemas.microsoft.com/office/drawing/2014/main" id="{90ED7739-0EE2-40EE-A9E8-60C8E91050FE}"/>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45519C1-86CA-4AB4-934A-27AFEB77BC11}"/>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EB2303F4-9ACB-48B0-8B2C-9ADA3B540CB1}"/>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누락·정합성 비교</a:t>
            </a:r>
          </a:p>
        </p:txBody>
      </p:sp>
      <p:sp>
        <p:nvSpPr>
          <p:cNvPr id="16" name="">
            <a:extLst xmlns:a="http://schemas.openxmlformats.org/drawingml/2006/main">
              <a:ext uri="{FF2B5EF4-FFF2-40B4-BE49-F238E27FC236}">
                <a16:creationId xmlns:a16="http://schemas.microsoft.com/office/drawing/2014/main" id="{B0AB3042-B8A7-45FF-82E0-4DD40DF6A40B}"/>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EA753E8-30BF-40DA-9FC5-D56FC6C63E30}"/>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FF9CF30D-BB02-4096-B37E-629992D421AA}"/>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원본·값 사람 확인</a:t>
            </a:r>
          </a:p>
        </p:txBody>
      </p:sp>
      <p:sp>
        <p:nvSpPr>
          <p:cNvPr id="19" name="">
            <a:extLst xmlns:a="http://schemas.openxmlformats.org/drawingml/2006/main">
              <a:ext uri="{FF2B5EF4-FFF2-40B4-BE49-F238E27FC236}">
                <a16:creationId xmlns:a16="http://schemas.microsoft.com/office/drawing/2014/main" id="{D3727948-15FB-4003-AFB5-6E73C7E3C59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B81C678-33EB-48DA-8687-D23FC53E4AE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ABD98BD7-CBA6-4CF3-A83C-FE2165684506}"/>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심사·민원 초안</a:t>
            </a:r>
          </a:p>
        </p:txBody>
      </p:sp>
      <p:sp>
        <p:nvSpPr>
          <p:cNvPr id="22" name="">
            <a:extLst xmlns:a="http://schemas.openxmlformats.org/drawingml/2006/main">
              <a:ext uri="{FF2B5EF4-FFF2-40B4-BE49-F238E27FC236}">
                <a16:creationId xmlns:a16="http://schemas.microsoft.com/office/drawing/2014/main" id="{7CE364AA-DA95-43AD-B656-82F9ED4F70D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173BC8D-8623-4E3B-8730-F87E85DEC92E}"/>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DCF1E0A7-7B2E-47FC-A6A9-67F7BB80B8AF}"/>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이행서류·규정</a:t>
            </a:r>
          </a:p>
        </p:txBody>
      </p:sp>
      <p:sp>
        <p:nvSpPr>
          <p:cNvPr id="25" name="">
            <a:extLst xmlns:a="http://schemas.openxmlformats.org/drawingml/2006/main">
              <a:ext uri="{FF2B5EF4-FFF2-40B4-BE49-F238E27FC236}">
                <a16:creationId xmlns:a16="http://schemas.microsoft.com/office/drawing/2014/main" id="{D0151A88-3328-4660-9A11-B84E529C8D3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1A48DFAC-47A6-44A7-8EB4-B053C0D62928}"/>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A966AEF9-E10A-4929-89D1-316167E2F6E4}"/>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좌표·판본·승인태그</a:t>
            </a:r>
          </a:p>
        </p:txBody>
      </p:sp>
      <p:sp>
        <p:nvSpPr>
          <p:cNvPr id="28" name="">
            <a:extLst xmlns:a="http://schemas.openxmlformats.org/drawingml/2006/main">
              <a:ext uri="{FF2B5EF4-FFF2-40B4-BE49-F238E27FC236}">
                <a16:creationId xmlns:a16="http://schemas.microsoft.com/office/drawing/2014/main" id="{AF3CDD88-ADF7-45FD-99EE-C385E04C8678}"/>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2AF3E0BC-4FFB-4F2A-86DC-22DF4878CAAE}"/>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4CEF6C4E-9DD3-40A5-8620-13DF90DD3C6B}"/>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문서·규정 조회</a:t>
            </a:r>
          </a:p>
        </p:txBody>
      </p:sp>
      <p:sp>
        <p:nvSpPr>
          <p:cNvPr id="31" name="">
            <a:extLst xmlns:a="http://schemas.openxmlformats.org/drawingml/2006/main">
              <a:ext uri="{FF2B5EF4-FFF2-40B4-BE49-F238E27FC236}">
                <a16:creationId xmlns:a16="http://schemas.microsoft.com/office/drawing/2014/main" id="{D83CD62E-A44D-47FB-B0E6-602955A9A1F4}"/>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02CADFC-B93D-460A-A0B4-F93AC9D6320B}"/>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CA2995DF-0A42-4A67-AF3F-638FF91D1475}"/>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원본·추출값·색인</a:t>
            </a:r>
          </a:p>
        </p:txBody>
      </p:sp>
      <p:sp>
        <p:nvSpPr>
          <p:cNvPr id="34" name="">
            <a:extLst xmlns:a="http://schemas.openxmlformats.org/drawingml/2006/main">
              <a:ext uri="{FF2B5EF4-FFF2-40B4-BE49-F238E27FC236}">
                <a16:creationId xmlns:a16="http://schemas.microsoft.com/office/drawing/2014/main" id="{13258BEE-7A1A-458D-842E-535D5A22C826}"/>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677106F-95A7-458F-BA9A-6E0374DF7A3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D4C3C49-501C-4364-96F4-C5CB6F03F5EC}"/>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항목별 오류 평가</a:t>
            </a:r>
          </a:p>
        </p:txBody>
      </p:sp>
      <p:sp>
        <p:nvSpPr>
          <p:cNvPr id="46" name="">
            <a:extLst xmlns:a="http://schemas.openxmlformats.org/drawingml/2006/main">
              <a:ext uri="{FF2B5EF4-FFF2-40B4-BE49-F238E27FC236}">
                <a16:creationId xmlns:a16="http://schemas.microsoft.com/office/drawing/2014/main" id="{974E3495-373C-432E-A9E8-3602266C2A6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99596215"/>
      </p:ext>
    </p:extLst>
  </p:cSld>
</p:sld>
</file>

<file path=ppt/slides/slide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F9AF9E7-E465-4219-8D12-8FB29DAD4FF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논리 인터페이스·복구 설계</a:t>
            </a:r>
          </a:p>
        </p:txBody>
      </p:sp>
      <p:sp>
        <p:nvSpPr>
          <p:cNvPr id="2" name="">
            <a:extLst xmlns:a="http://schemas.openxmlformats.org/drawingml/2006/main">
              <a:ext uri="{FF2B5EF4-FFF2-40B4-BE49-F238E27FC236}">
                <a16:creationId xmlns:a16="http://schemas.microsoft.com/office/drawing/2014/main" id="{56ADC86A-D29C-4109-B5B1-1FC03658782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데이터와 예외 처리</a:t>
            </a:r>
          </a:p>
        </p:txBody>
      </p:sp>
      <p:sp>
        <p:nvSpPr>
          <p:cNvPr id="3" name="">
            <a:extLst xmlns:a="http://schemas.openxmlformats.org/drawingml/2006/main">
              <a:ext uri="{FF2B5EF4-FFF2-40B4-BE49-F238E27FC236}">
                <a16:creationId xmlns:a16="http://schemas.microsoft.com/office/drawing/2014/main" id="{72106E97-F064-489D-9005-7E75B894C82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333D165-5C40-4C3B-AEA0-AEE6E1788CA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2FBB647-913E-4641-B9B0-0BD57F68DED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07</a:t>
            </a:r>
          </a:p>
        </p:txBody>
      </p:sp>
      <p:sp>
        <p:nvSpPr>
          <p:cNvPr id="6" name="">
            <a:extLst xmlns:a="http://schemas.openxmlformats.org/drawingml/2006/main">
              <a:ext uri="{FF2B5EF4-FFF2-40B4-BE49-F238E27FC236}">
                <a16:creationId xmlns:a16="http://schemas.microsoft.com/office/drawing/2014/main" id="{514D40CB-2747-4BDD-B9E1-70AB460834C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0B03AB81-654E-4D24-A9CA-6401C591579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85E50F49-406F-4A8A-B0B3-47ED3BE8AFE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07F0E56A-12E5-439B-9D3A-F80DD9B5A37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원본·추출 항목</a:t>
            </a:r>
          </a:p>
        </p:txBody>
      </p:sp>
      <p:sp>
        <p:nvSpPr>
          <p:cNvPr id="10" name="">
            <a:extLst xmlns:a="http://schemas.openxmlformats.org/drawingml/2006/main">
              <a:ext uri="{FF2B5EF4-FFF2-40B4-BE49-F238E27FC236}">
                <a16:creationId xmlns:a16="http://schemas.microsoft.com/office/drawing/2014/main" id="{AB0E9397-5DE0-46FA-9AA4-D45F8A72EF5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5E8BA-863D-40A7-92A7-8AB02EF227D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F4F85235-8CC8-4E03-9D21-F16D4223967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CF2518F1-ED38-487C-95FD-4AB18A4D72D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9F6BCB9-9106-43FB-8BB5-5DC1DC86394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EE566041-A990-4D3D-89F5-71C43092ABEA}"/>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누락·불일치</a:t>
            </a:r>
          </a:p>
        </p:txBody>
      </p:sp>
      <p:sp>
        <p:nvSpPr>
          <p:cNvPr id="16" name="">
            <a:extLst xmlns:a="http://schemas.openxmlformats.org/drawingml/2006/main">
              <a:ext uri="{FF2B5EF4-FFF2-40B4-BE49-F238E27FC236}">
                <a16:creationId xmlns:a16="http://schemas.microsoft.com/office/drawing/2014/main" id="{84C419F4-9EF2-43DD-972B-54513845F02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FBEA45D-3AC3-4987-AC85-4EBDA783B75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FE84E694-4C75-4166-8F03-2A2C1CB9AB6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추출 항목</a:t>
            </a:r>
          </a:p>
        </p:txBody>
      </p:sp>
      <p:sp>
        <p:nvSpPr>
          <p:cNvPr id="19" name="">
            <a:extLst xmlns:a="http://schemas.openxmlformats.org/drawingml/2006/main">
              <a:ext uri="{FF2B5EF4-FFF2-40B4-BE49-F238E27FC236}">
                <a16:creationId xmlns:a16="http://schemas.microsoft.com/office/drawing/2014/main" id="{88EF0B42-EA33-4120-9691-E234271385ED}"/>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202C18C-16BF-43CE-9D21-2ED035CF78E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390DEC62-2C77-4C96-A8A8-CC3614A1A52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누락·불일치</a:t>
            </a:r>
          </a:p>
        </p:txBody>
      </p:sp>
      <p:sp>
        <p:nvSpPr>
          <p:cNvPr id="22" name="">
            <a:extLst xmlns:a="http://schemas.openxmlformats.org/drawingml/2006/main">
              <a:ext uri="{FF2B5EF4-FFF2-40B4-BE49-F238E27FC236}">
                <a16:creationId xmlns:a16="http://schemas.microsoft.com/office/drawing/2014/main" id="{6A7F2C35-9BD1-43B8-8A92-8219220FC0B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E3E668C-BF57-4CA5-A8DF-756F96E26B00}"/>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FE9D7F83-6393-4250-9515-78247CA428C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123EF73A-AA7E-4100-9112-C2A0FFF23CD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857ED17-962E-48A4-A12E-6D296539B6B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스캔 저화질·서명 누락·주소 불일치·다른 사건 서류</a:t>
            </a:r>
          </a:p>
        </p:txBody>
      </p:sp>
      <p:sp>
        <p:nvSpPr>
          <p:cNvPr id="27" name="">
            <a:extLst xmlns:a="http://schemas.openxmlformats.org/drawingml/2006/main">
              <a:ext uri="{FF2B5EF4-FFF2-40B4-BE49-F238E27FC236}">
                <a16:creationId xmlns:a16="http://schemas.microsoft.com/office/drawing/2014/main" id="{0EB81465-CB6F-453A-A786-43A54690827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8861FD7C-AEE2-417F-A174-6564A5B83BF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원본·추출값 대조와 자동 확정 제한</a:t>
            </a:r>
          </a:p>
        </p:txBody>
      </p:sp>
      <p:sp>
        <p:nvSpPr>
          <p:cNvPr id="29" name="">
            <a:extLst xmlns:a="http://schemas.openxmlformats.org/drawingml/2006/main">
              <a:ext uri="{FF2B5EF4-FFF2-40B4-BE49-F238E27FC236}">
                <a16:creationId xmlns:a16="http://schemas.microsoft.com/office/drawing/2014/main" id="{44C29BA8-1704-4B74-8182-0E3C09A734D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EFE0B91-ECAB-4CE4-9C48-867AD842FB8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사람 확정값과 인식 오류를 품질 개선에 반영</a:t>
            </a:r>
          </a:p>
        </p:txBody>
      </p:sp>
      <p:sp>
        <p:nvSpPr>
          <p:cNvPr id="31" name="">
            <a:extLst xmlns:a="http://schemas.openxmlformats.org/drawingml/2006/main">
              <a:ext uri="{FF2B5EF4-FFF2-40B4-BE49-F238E27FC236}">
                <a16:creationId xmlns:a16="http://schemas.microsoft.com/office/drawing/2014/main" id="{D8E7B7DB-4986-48B2-B658-A69ABE4261E6}"/>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C35DDEEC-2FD1-4163-BAB6-7C08724F9ECF}"/>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추출값–원본 좌표–불일치 판정–심사자 확정 추적표</a:t>
            </a:r>
          </a:p>
        </p:txBody>
      </p:sp>
    </p:spTree>
    <p:extLst>
      <p:ext uri="{BB962C8B-B14F-4D97-AF65-F5344CB8AC3E}">
        <p14:creationId xmlns:p14="http://schemas.microsoft.com/office/powerpoint/2010/main" val="1253532827"/>
      </p:ext>
    </p:extLst>
  </p:cSld>
</p:sld>
</file>

<file path=ppt/slides/slide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3DE35FD-E5B7-4C98-BAF6-CF49F1DEBFB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CCK 비교·재현 시험 설계</a:t>
            </a:r>
          </a:p>
        </p:txBody>
      </p:sp>
      <p:sp>
        <p:nvSpPr>
          <p:cNvPr id="2" name="">
            <a:extLst xmlns:a="http://schemas.openxmlformats.org/drawingml/2006/main">
              <a:ext uri="{FF2B5EF4-FFF2-40B4-BE49-F238E27FC236}">
                <a16:creationId xmlns:a16="http://schemas.microsoft.com/office/drawing/2014/main" id="{1828DC03-A348-4016-9532-2C4BB212A54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벤치마킹</a:t>
            </a:r>
          </a:p>
        </p:txBody>
      </p:sp>
      <p:sp>
        <p:nvSpPr>
          <p:cNvPr id="3" name="">
            <a:extLst xmlns:a="http://schemas.openxmlformats.org/drawingml/2006/main">
              <a:ext uri="{FF2B5EF4-FFF2-40B4-BE49-F238E27FC236}">
                <a16:creationId xmlns:a16="http://schemas.microsoft.com/office/drawing/2014/main" id="{C0637ADA-678B-47A1-9F37-FEF07E63B92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539A2E-5F19-4D83-B98C-0575C1CD335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CC3E497-7EBD-4219-8518-FC46FD5C27D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08</a:t>
            </a:r>
          </a:p>
        </p:txBody>
      </p:sp>
      <p:sp>
        <p:nvSpPr>
          <p:cNvPr id="6" name="">
            <a:extLst xmlns:a="http://schemas.openxmlformats.org/drawingml/2006/main">
              <a:ext uri="{FF2B5EF4-FFF2-40B4-BE49-F238E27FC236}">
                <a16:creationId xmlns:a16="http://schemas.microsoft.com/office/drawing/2014/main" id="{12E35C29-C5C4-4A0D-A46D-18EFC22B69D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D8C17D39-AE79-484C-A713-31A9B9135F4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보증서류와 검토 규칙의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검색·민원 지원의 공통 기반 활용</a:t>
            </a:r>
          </a:p>
        </p:txBody>
      </p:sp>
      <p:sp>
        <p:nvSpPr>
          <p:cNvPr id="8" name="">
            <a:extLst xmlns:a="http://schemas.openxmlformats.org/drawingml/2006/main">
              <a:ext uri="{FF2B5EF4-FFF2-40B4-BE49-F238E27FC236}">
                <a16:creationId xmlns:a16="http://schemas.microsoft.com/office/drawing/2014/main" id="{F9CFD5EF-1D17-4E3A-8CEA-680008E2670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8C507C64-FB4E-460C-AED0-FBDE2F849F0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OCR 오독에 따른 누락 판단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요구 명세와 운영 효과의 혼동</a:t>
            </a:r>
          </a:p>
        </p:txBody>
      </p:sp>
      <p:sp>
        <p:nvSpPr>
          <p:cNvPr id="10" name="">
            <a:extLst xmlns:a="http://schemas.openxmlformats.org/drawingml/2006/main">
              <a:ext uri="{FF2B5EF4-FFF2-40B4-BE49-F238E27FC236}">
                <a16:creationId xmlns:a16="http://schemas.microsoft.com/office/drawing/2014/main" id="{F16FC4B6-172A-474F-97F3-F505A295E5E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1928AAAC-2AC1-4596-804B-3FFAACF4E0B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원본·추출값 대조와 자동 확정 제한</a:t>
            </a:r>
          </a:p>
        </p:txBody>
      </p:sp>
      <p:sp>
        <p:nvSpPr>
          <p:cNvPr id="12" name="">
            <a:extLst xmlns:a="http://schemas.openxmlformats.org/drawingml/2006/main">
              <a:ext uri="{FF2B5EF4-FFF2-40B4-BE49-F238E27FC236}">
                <a16:creationId xmlns:a16="http://schemas.microsoft.com/office/drawing/2014/main" id="{26B5D948-7CB9-4DD9-9DCB-417FAB35E8C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B3A21BE-4B19-402C-845C-E1742BE71D1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한 사건의 신청 서류에서 필수 항목과 문서 간 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여부 확인</a:t>
            </a:r>
          </a:p>
        </p:txBody>
      </p:sp>
      <p:sp>
        <p:nvSpPr>
          <p:cNvPr id="14" name="">
            <a:extLst xmlns:a="http://schemas.openxmlformats.org/drawingml/2006/main">
              <a:ext uri="{FF2B5EF4-FFF2-40B4-BE49-F238E27FC236}">
                <a16:creationId xmlns:a16="http://schemas.microsoft.com/office/drawing/2014/main" id="{1F4AAA31-9C77-4D2C-BE47-87EE1E7F328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CDABC68-E878-4714-BC62-7D159063E1D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스캔 저화질·서명 누락·주소 불일치·다른 사건 서류</a:t>
            </a:r>
          </a:p>
        </p:txBody>
      </p:sp>
      <p:sp>
        <p:nvSpPr>
          <p:cNvPr id="16" name="">
            <a:extLst xmlns:a="http://schemas.openxmlformats.org/drawingml/2006/main">
              <a:ext uri="{FF2B5EF4-FFF2-40B4-BE49-F238E27FC236}">
                <a16:creationId xmlns:a16="http://schemas.microsoft.com/office/drawing/2014/main" id="{323E5B67-1195-4D1E-8EBE-8E954D8C424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BA6AC2B-D03D-4525-9A29-9FB4B90F6D4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추출값–원본 좌표–불일치 판정–심사자 확정 추적</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표</a:t>
            </a:r>
          </a:p>
        </p:txBody>
      </p:sp>
    </p:spTree>
    <p:extLst>
      <p:ext uri="{BB962C8B-B14F-4D97-AF65-F5344CB8AC3E}">
        <p14:creationId xmlns:p14="http://schemas.microsoft.com/office/powerpoint/2010/main" val="376417154"/>
      </p:ext>
    </p:extLst>
  </p:cSld>
</p:sld>
</file>

<file path=ppt/slides/slide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6AECEC-2DC9-47BC-B6FC-942484F4DE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성과 미검증 / 국내</a:t>
            </a:r>
          </a:p>
        </p:txBody>
      </p:sp>
      <p:sp>
        <p:nvSpPr>
          <p:cNvPr id="2" name="">
            <a:extLst xmlns:a="http://schemas.openxmlformats.org/drawingml/2006/main">
              <a:ext uri="{FF2B5EF4-FFF2-40B4-BE49-F238E27FC236}">
                <a16:creationId xmlns:a16="http://schemas.microsoft.com/office/drawing/2014/main" id="{B4C4511A-274A-4675-AF89-BFC8DDACF05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a:t>
            </a:r>
          </a:p>
        </p:txBody>
      </p:sp>
      <p:sp>
        <p:nvSpPr>
          <p:cNvPr id="3" name="">
            <a:extLst xmlns:a="http://schemas.openxmlformats.org/drawingml/2006/main">
              <a:ext uri="{FF2B5EF4-FFF2-40B4-BE49-F238E27FC236}">
                <a16:creationId xmlns:a16="http://schemas.microsoft.com/office/drawing/2014/main" id="{96C2699D-6A54-416A-AD8C-9CF75B8A408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4E270F-E9D7-4954-AFAF-F51A1B93B88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B2E00FF-51C7-4053-9738-41690D47DE5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09</a:t>
            </a:r>
          </a:p>
        </p:txBody>
      </p:sp>
      <p:sp>
        <p:nvSpPr>
          <p:cNvPr id="6" name="">
            <a:extLst xmlns:a="http://schemas.openxmlformats.org/drawingml/2006/main">
              <a:ext uri="{FF2B5EF4-FFF2-40B4-BE49-F238E27FC236}">
                <a16:creationId xmlns:a16="http://schemas.microsoft.com/office/drawing/2014/main" id="{FFA1A17C-E579-40D7-899D-5F192D98092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E0F5480-A868-4954-A271-033A5F039F04}"/>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국민신문고의 접수·처리와 민원정보분석 업무를 연결하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AI 고도화. 담당자의 답변 초안 작성과 유사민원 식별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정책 분석자의 의미 기반 이슈 탐색을 서로 다른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결과로 구분하는 사업.</a:t>
            </a:r>
          </a:p>
        </p:txBody>
      </p:sp>
      <p:sp>
        <p:nvSpPr>
          <p:cNvPr id="8" name="">
            <a:extLst xmlns:a="http://schemas.openxmlformats.org/drawingml/2006/main">
              <a:ext uri="{FF2B5EF4-FFF2-40B4-BE49-F238E27FC236}">
                <a16:creationId xmlns:a16="http://schemas.microsoft.com/office/drawing/2014/main" id="{4F34F20B-E76D-4DD9-B41C-6A05D0F1E1D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F72694B-3D72-4256-8748-FC9BB058C3B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목표 구성도는 기존 포털·DB, API Gateway, 답변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·분석·중복 검색 모듈, 데이터 처리 계층, 운영 관리 계층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으로 구성. OCR·메타정보 추출 후 키워드·벡터 검색을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병렬 수행하고, 재정렬된 근거를 업무 모듈에 전달하는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구조. 서비스 화면과 모델 운영의 별도 책임 분리가 핵심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t>
            </a:r>
          </a:p>
        </p:txBody>
      </p:sp>
      <p:sp>
        <p:nvSpPr>
          <p:cNvPr id="10" name="">
            <a:extLst xmlns:a="http://schemas.openxmlformats.org/drawingml/2006/main">
              <a:ext uri="{FF2B5EF4-FFF2-40B4-BE49-F238E27FC236}">
                <a16:creationId xmlns:a16="http://schemas.microsoft.com/office/drawing/2014/main" id="{618E9F51-CBEB-46DE-96BC-A0867FEF9F5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1AB2DCD-3233-42C2-9519-C893894DC09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표현이 비슷하다는 이유만으로 같은 사건으로 병합하면 이의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·반대 민원의 취지 소실 가능성. CCK 비교시험에서는 문장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유사도 외에 사건·기관·지역·처리 단계의 일치 여부와 담당자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의 수정·채택 이력을 함께 평가할 필요. 답변 추천시간과 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종 회신시간의 별도 계측.</a:t>
            </a:r>
          </a:p>
        </p:txBody>
      </p:sp>
      <p:sp>
        <p:nvSpPr>
          <p:cNvPr id="12" name="">
            <a:extLst xmlns:a="http://schemas.openxmlformats.org/drawingml/2006/main">
              <a:ext uri="{FF2B5EF4-FFF2-40B4-BE49-F238E27FC236}">
                <a16:creationId xmlns:a16="http://schemas.microsoft.com/office/drawing/2014/main" id="{5335FA21-AEB1-49CB-A814-2D81BEA56F7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5490705-6D36-46AC-9ECD-4094895473E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민원 사건·기관·업무 분류 / 유사군 검토 UI / 현업 수정 이력</a:t>
            </a:r>
          </a:p>
        </p:txBody>
      </p:sp>
      <p:sp>
        <p:nvSpPr>
          <p:cNvPr id="14" name="">
            <a:extLst xmlns:a="http://schemas.openxmlformats.org/drawingml/2006/main">
              <a:ext uri="{FF2B5EF4-FFF2-40B4-BE49-F238E27FC236}">
                <a16:creationId xmlns:a16="http://schemas.microsoft.com/office/drawing/2014/main" id="{1C341E34-71EB-4544-BB7D-CA5BC0EE390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94F8019-1A71-41CC-94CD-D807315BD8F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같은 표현의 다른 사건·반대 취지 민원에 대한 오병합·답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 오류 측정</a:t>
            </a:r>
          </a:p>
        </p:txBody>
      </p:sp>
      <p:sp>
        <p:nvSpPr>
          <p:cNvPr id="16" name="">
            <a:extLst xmlns:a="http://schemas.openxmlformats.org/drawingml/2006/main">
              <a:ext uri="{FF2B5EF4-FFF2-40B4-BE49-F238E27FC236}">
                <a16:creationId xmlns:a16="http://schemas.microsoft.com/office/drawing/2014/main" id="{84CBAE02-3CBF-4E22-8A33-2E15BE88BF79}"/>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8FDE9B1-93D6-440D-90F9-2BA77277D2E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민원 분류 정확도 / 오병합률 / 최종 답변 작성시간</a:t>
            </a:r>
          </a:p>
        </p:txBody>
      </p:sp>
      <p:sp>
        <p:nvSpPr>
          <p:cNvPr id="18" name="">
            <a:extLst xmlns:a="http://schemas.openxmlformats.org/drawingml/2006/main">
              <a:ext uri="{FF2B5EF4-FFF2-40B4-BE49-F238E27FC236}">
                <a16:creationId xmlns:a16="http://schemas.microsoft.com/office/drawing/2014/main" id="{D1F69E31-A2A9-43DF-B1DB-D03C8CBA5C7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추천답변 도출시간·배정 처리시간·최종 답변 처리시간의 정의와 분모를 구분해야 함</a:t>
            </a:r>
          </a:p>
        </p:txBody>
      </p:sp>
    </p:spTree>
    <p:extLst>
      <p:ext uri="{BB962C8B-B14F-4D97-AF65-F5344CB8AC3E}">
        <p14:creationId xmlns:p14="http://schemas.microsoft.com/office/powerpoint/2010/main" val="384104852"/>
      </p:ext>
    </p:extLst>
  </p:cSld>
</p:sld>
</file>

<file path=ppt/slides/slide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48D5C7D-22C2-4DBF-B44C-1A8A01656E4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As-Is → To-Be → 기대효과 → 확인 결과</a:t>
            </a:r>
          </a:p>
        </p:txBody>
      </p:sp>
      <p:sp>
        <p:nvSpPr>
          <p:cNvPr id="2" name="">
            <a:extLst xmlns:a="http://schemas.openxmlformats.org/drawingml/2006/main">
              <a:ext uri="{FF2B5EF4-FFF2-40B4-BE49-F238E27FC236}">
                <a16:creationId xmlns:a16="http://schemas.microsoft.com/office/drawing/2014/main" id="{7823E9CF-873C-4BC2-A2F0-F23A4CD5C8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기대와 결과</a:t>
            </a:r>
          </a:p>
        </p:txBody>
      </p:sp>
      <p:sp>
        <p:nvSpPr>
          <p:cNvPr id="3" name="">
            <a:extLst xmlns:a="http://schemas.openxmlformats.org/drawingml/2006/main">
              <a:ext uri="{FF2B5EF4-FFF2-40B4-BE49-F238E27FC236}">
                <a16:creationId xmlns:a16="http://schemas.microsoft.com/office/drawing/2014/main" id="{A71AE927-1798-43E2-8DFF-C0659E94EFB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1893F3-A840-45BC-A978-2BB3F9C83B0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C71E16B-9EBB-41C0-A0E9-AD892841532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a:t>
            </a:r>
          </a:p>
        </p:txBody>
      </p:sp>
      <p:sp>
        <p:nvSpPr>
          <p:cNvPr id="6" name="">
            <a:extLst xmlns:a="http://schemas.openxmlformats.org/drawingml/2006/main">
              <a:ext uri="{FF2B5EF4-FFF2-40B4-BE49-F238E27FC236}">
                <a16:creationId xmlns:a16="http://schemas.microsoft.com/office/drawing/2014/main" id="{A1B1FBD4-A9AC-49FA-948A-34CFD29327FF}"/>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6015185F-F9D3-4A67-B3BA-78A0253D4BA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 유형 분류·유사 건 확인·회신 초안을 담당자가 검색·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작성하는 절차</a:t>
            </a:r>
          </a:p>
        </p:txBody>
      </p:sp>
      <p:sp>
        <p:nvSpPr>
          <p:cNvPr id="8" name="">
            <a:extLst xmlns:a="http://schemas.openxmlformats.org/drawingml/2006/main">
              <a:ext uri="{FF2B5EF4-FFF2-40B4-BE49-F238E27FC236}">
                <a16:creationId xmlns:a16="http://schemas.microsoft.com/office/drawing/2014/main" id="{B181CD86-F00C-4A3D-805C-2AC59F625EB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F87259D8-9812-4F82-B467-23632087D20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국민신문고 민원과 지침을 정제·검색해 유사 민원·답변을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추천하고 담당자 수정 내역을 환류</a:t>
            </a:r>
          </a:p>
        </p:txBody>
      </p:sp>
      <p:sp>
        <p:nvSpPr>
          <p:cNvPr id="10" name="">
            <a:extLst xmlns:a="http://schemas.openxmlformats.org/drawingml/2006/main">
              <a:ext uri="{FF2B5EF4-FFF2-40B4-BE49-F238E27FC236}">
                <a16:creationId xmlns:a16="http://schemas.microsoft.com/office/drawing/2014/main" id="{CEB6D408-36E2-4B11-A40A-9645F53F5521}"/>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3A8C3E67-16A5-4C63-A858-40760EE739DF}"/>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분류·답변 준비시간 단축, 중복 민원 분석 정밀화, 오병합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감소</a:t>
            </a:r>
          </a:p>
        </p:txBody>
      </p:sp>
      <p:sp>
        <p:nvSpPr>
          <p:cNvPr id="12" name="">
            <a:extLst xmlns:a="http://schemas.openxmlformats.org/drawingml/2006/main">
              <a:ext uri="{FF2B5EF4-FFF2-40B4-BE49-F238E27FC236}">
                <a16:creationId xmlns:a16="http://schemas.microsoft.com/office/drawing/2014/main" id="{86085A3B-2856-45F6-894F-E99DE8BD30CE}"/>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FD2100DA-66E1-49C8-ACF6-EB422EB8345B}"/>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서비스 개시 발표 확인. 민원 분류 정확도·오병합률·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최종 회신 처리시간의 전후값 미공개</a:t>
            </a:r>
          </a:p>
        </p:txBody>
      </p:sp>
      <p:sp>
        <p:nvSpPr>
          <p:cNvPr id="14" name="">
            <a:extLst xmlns:a="http://schemas.openxmlformats.org/drawingml/2006/main">
              <a:ext uri="{FF2B5EF4-FFF2-40B4-BE49-F238E27FC236}">
                <a16:creationId xmlns:a16="http://schemas.microsoft.com/office/drawing/2014/main" id="{ED83D5D3-94DB-4722-872B-F2691E98F121}"/>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가동 확인은 가능하나 기대한 행정 처리효과를 계측한 공개 결과 부재</a:t>
            </a:r>
          </a:p>
        </p:txBody>
      </p:sp>
      <p:sp>
        <p:nvSpPr>
          <p:cNvPr id="15" name="">
            <a:extLst xmlns:a="http://schemas.openxmlformats.org/drawingml/2006/main">
              <a:ext uri="{FF2B5EF4-FFF2-40B4-BE49-F238E27FC236}">
                <a16:creationId xmlns:a16="http://schemas.microsoft.com/office/drawing/2014/main" id="{C63F5E17-829B-4DA2-879B-BDCF5BF68070}"/>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RFP 목표 + 서비스 개시 · 추천답변 생성시간과 최종 회신시간을 분리해야 함; RFP 데이터흐름은 운영 배치도 아님</a:t>
            </a:r>
          </a:p>
        </p:txBody>
      </p:sp>
    </p:spTree>
    <p:extLst>
      <p:ext uri="{BB962C8B-B14F-4D97-AF65-F5344CB8AC3E}">
        <p14:creationId xmlns:p14="http://schemas.microsoft.com/office/powerpoint/2010/main" val="141926161"/>
      </p:ext>
    </p:extLst>
  </p:cSld>
</p:sld>
</file>

<file path=ppt/slides/slide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CA75143-395E-404A-8D57-7C24FB0EF17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1–3</a:t>
            </a:r>
          </a:p>
        </p:txBody>
      </p:sp>
      <p:sp>
        <p:nvSpPr>
          <p:cNvPr id="2" name="">
            <a:extLst xmlns:a="http://schemas.openxmlformats.org/drawingml/2006/main">
              <a:ext uri="{FF2B5EF4-FFF2-40B4-BE49-F238E27FC236}">
                <a16:creationId xmlns:a16="http://schemas.microsoft.com/office/drawing/2014/main" id="{A3C42D30-4BF8-4C8C-B603-4A0DE6CB1B9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412B9270-6D7D-465C-A1A5-E824EA1E316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00F75B4-E1E3-4EBE-BC06-B8748EDCFA8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6D8F7EE-C687-4989-938A-FAA3E2800F8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a:t>
            </a:r>
          </a:p>
        </p:txBody>
      </p:sp>
      <p:sp>
        <p:nvSpPr>
          <p:cNvPr id="6" name="">
            <a:extLst xmlns:a="http://schemas.openxmlformats.org/drawingml/2006/main">
              <a:ext uri="{FF2B5EF4-FFF2-40B4-BE49-F238E27FC236}">
                <a16:creationId xmlns:a16="http://schemas.microsoft.com/office/drawing/2014/main" id="{5A8B24F8-C059-4BC1-9A6E-430CF664BF86}"/>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9BD791C-2B5B-4C71-8254-D95A48DCDC6C}"/>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민원 종류 분류</a:t>
            </a:r>
          </a:p>
        </p:txBody>
      </p:sp>
      <p:sp>
        <p:nvSpPr>
          <p:cNvPr id="8" name="">
            <a:extLst xmlns:a="http://schemas.openxmlformats.org/drawingml/2006/main">
              <a:ext uri="{FF2B5EF4-FFF2-40B4-BE49-F238E27FC236}">
                <a16:creationId xmlns:a16="http://schemas.microsoft.com/office/drawing/2014/main" id="{53A51EC6-0577-4AB1-BBDD-E8A35CC40360}"/>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 본문을 민원 종류로 분류해 담당 업무의 처리 경로를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지원하는 기능.</a:t>
            </a:r>
          </a:p>
        </p:txBody>
      </p:sp>
      <p:sp>
        <p:nvSpPr>
          <p:cNvPr id="9" name="">
            <a:extLst xmlns:a="http://schemas.openxmlformats.org/drawingml/2006/main">
              <a:ext uri="{FF2B5EF4-FFF2-40B4-BE49-F238E27FC236}">
                <a16:creationId xmlns:a16="http://schemas.microsoft.com/office/drawing/2014/main" id="{9BBA6DF5-D887-4D9C-A81D-07B23ECC7499}"/>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복합 주제·짧은 문장·오탈자 민원의 오분류와 담당자 수정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비교</a:t>
            </a:r>
          </a:p>
        </p:txBody>
      </p:sp>
      <p:sp>
        <p:nvSpPr>
          <p:cNvPr id="10" name="">
            <a:extLst xmlns:a="http://schemas.openxmlformats.org/drawingml/2006/main">
              <a:ext uri="{FF2B5EF4-FFF2-40B4-BE49-F238E27FC236}">
                <a16:creationId xmlns:a16="http://schemas.microsoft.com/office/drawing/2014/main" id="{157AFEDB-F22C-4A08-92F2-6E92ACF18FC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8E10851-57C9-402B-AEBC-7898262D7C12}"/>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민원 처리내용 초안 제공</a:t>
            </a:r>
          </a:p>
        </p:txBody>
      </p:sp>
      <p:sp>
        <p:nvSpPr>
          <p:cNvPr id="12" name="">
            <a:extLst xmlns:a="http://schemas.openxmlformats.org/drawingml/2006/main">
              <a:ext uri="{FF2B5EF4-FFF2-40B4-BE49-F238E27FC236}">
                <a16:creationId xmlns:a16="http://schemas.microsoft.com/office/drawing/2014/main" id="{8BC9E9AA-D5BD-4C23-BB01-2F40E601FF4B}"/>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관련 규정과 기존 처리내용을 참조한 민원답변 초안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초안과 최종 답변의 담당자 확인 경로 구성.</a:t>
            </a:r>
          </a:p>
        </p:txBody>
      </p:sp>
      <p:sp>
        <p:nvSpPr>
          <p:cNvPr id="13" name="">
            <a:extLst xmlns:a="http://schemas.openxmlformats.org/drawingml/2006/main">
              <a:ext uri="{FF2B5EF4-FFF2-40B4-BE49-F238E27FC236}">
                <a16:creationId xmlns:a16="http://schemas.microsoft.com/office/drawing/2014/main" id="{7F49B131-E132-4103-8EF3-486AD6B4436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과거 규정과 현행 규정이 충돌하는 사례의 근거 판본 및 담당</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 수정 흔적 확인</a:t>
            </a:r>
          </a:p>
        </p:txBody>
      </p:sp>
      <p:sp>
        <p:nvSpPr>
          <p:cNvPr id="14" name="">
            <a:extLst xmlns:a="http://schemas.openxmlformats.org/drawingml/2006/main">
              <a:ext uri="{FF2B5EF4-FFF2-40B4-BE49-F238E27FC236}">
                <a16:creationId xmlns:a16="http://schemas.microsoft.com/office/drawing/2014/main" id="{DBC9D3DC-A373-43C3-8CEC-2C0D50F1EE7C}"/>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265CC0E-A5B4-4AA2-869C-C40F905AC4CE}"/>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유사민원 식별 기능 제공</a:t>
            </a:r>
          </a:p>
        </p:txBody>
      </p:sp>
      <p:sp>
        <p:nvSpPr>
          <p:cNvPr id="16" name="">
            <a:extLst xmlns:a="http://schemas.openxmlformats.org/drawingml/2006/main">
              <a:ext uri="{FF2B5EF4-FFF2-40B4-BE49-F238E27FC236}">
                <a16:creationId xmlns:a16="http://schemas.microsoft.com/office/drawing/2014/main" id="{A08BFA89-503F-4CBF-B799-44DA0089D7B1}"/>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같거나 유사한 민원을 식별해 반복 업무를 지원하는 기능.</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검색 후보와 실제 병합 판단의 구분.</a:t>
            </a:r>
          </a:p>
        </p:txBody>
      </p:sp>
      <p:sp>
        <p:nvSpPr>
          <p:cNvPr id="17" name="">
            <a:extLst xmlns:a="http://schemas.openxmlformats.org/drawingml/2006/main">
              <a:ext uri="{FF2B5EF4-FFF2-40B4-BE49-F238E27FC236}">
                <a16:creationId xmlns:a16="http://schemas.microsoft.com/office/drawing/2014/main" id="{2EB3EA46-0974-4C7A-8D38-90EE6453BD99}"/>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문장은 같지만 사건·지역·신청인이 다른 사례로 오병합 여부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와 원문 복원 가능성 확인</a:t>
            </a:r>
          </a:p>
        </p:txBody>
      </p:sp>
    </p:spTree>
    <p:extLst>
      <p:ext uri="{BB962C8B-B14F-4D97-AF65-F5344CB8AC3E}">
        <p14:creationId xmlns:p14="http://schemas.microsoft.com/office/powerpoint/2010/main" val="1068096577"/>
      </p:ext>
    </p:extLst>
  </p:cSld>
</p:sld>
</file>

<file path=ppt/slides/slide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F88749A-D0B7-4E1F-885C-C12F7398736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4–6</a:t>
            </a:r>
          </a:p>
        </p:txBody>
      </p:sp>
      <p:sp>
        <p:nvSpPr>
          <p:cNvPr id="2" name="">
            <a:extLst xmlns:a="http://schemas.openxmlformats.org/drawingml/2006/main">
              <a:ext uri="{FF2B5EF4-FFF2-40B4-BE49-F238E27FC236}">
                <a16:creationId xmlns:a16="http://schemas.microsoft.com/office/drawing/2014/main" id="{85DBD8A5-C9CF-49BD-9F0D-A08311F36D2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EF70FE9B-278F-4CB1-9FA9-B4106A067F9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108A51-B8D0-45EE-B971-8FA8F77C763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59BB4CB-701F-44BE-A4AC-808691B1664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a:t>
            </a:r>
          </a:p>
        </p:txBody>
      </p:sp>
      <p:sp>
        <p:nvSpPr>
          <p:cNvPr id="6" name="">
            <a:extLst xmlns:a="http://schemas.openxmlformats.org/drawingml/2006/main">
              <a:ext uri="{FF2B5EF4-FFF2-40B4-BE49-F238E27FC236}">
                <a16:creationId xmlns:a16="http://schemas.microsoft.com/office/drawing/2014/main" id="{58ED883C-A609-46BA-92D4-24A746A7ECAF}"/>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9BF8B38-F50A-4044-8606-1CF9991F15B8}"/>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SFR-010 민원업무 고도화 서비스 관리기능</a:t>
            </a:r>
          </a:p>
        </p:txBody>
      </p:sp>
      <p:sp>
        <p:nvSpPr>
          <p:cNvPr id="8" name="">
            <a:extLst xmlns:a="http://schemas.openxmlformats.org/drawingml/2006/main">
              <a:ext uri="{FF2B5EF4-FFF2-40B4-BE49-F238E27FC236}">
                <a16:creationId xmlns:a16="http://schemas.microsoft.com/office/drawing/2014/main" id="{DE20DE34-8AF5-4E79-9821-6CEE007F3166}"/>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민원업무 고도화 서비스의 이용·관리 기능 구성. 운영자가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업무별 서비스 상태와 관리 대상을 확인하는 경로.</a:t>
            </a:r>
          </a:p>
        </p:txBody>
      </p:sp>
      <p:sp>
        <p:nvSpPr>
          <p:cNvPr id="9" name="">
            <a:extLst xmlns:a="http://schemas.openxmlformats.org/drawingml/2006/main">
              <a:ext uri="{FF2B5EF4-FFF2-40B4-BE49-F238E27FC236}">
                <a16:creationId xmlns:a16="http://schemas.microsoft.com/office/drawing/2014/main" id="{6F31192B-515A-47CF-8662-25B5BF6B1B1E}"/>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C06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관리 역할별 허용 작업과 변경 이력, 설정 변경 후 서비스 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영 결과 비교</a:t>
            </a:r>
          </a:p>
        </p:txBody>
      </p:sp>
      <p:sp>
        <p:nvSpPr>
          <p:cNvPr id="10" name="">
            <a:extLst xmlns:a="http://schemas.openxmlformats.org/drawingml/2006/main">
              <a:ext uri="{FF2B5EF4-FFF2-40B4-BE49-F238E27FC236}">
                <a16:creationId xmlns:a16="http://schemas.microsoft.com/office/drawing/2014/main" id="{159D6B2E-524C-487C-B3AF-793D2442E22F}"/>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9C482C-98FE-4592-9B28-7768CE734C70}"/>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SFR-011 의미 기반 검색과 분석</a:t>
            </a:r>
          </a:p>
        </p:txBody>
      </p:sp>
      <p:sp>
        <p:nvSpPr>
          <p:cNvPr id="12" name="">
            <a:extLst xmlns:a="http://schemas.openxmlformats.org/drawingml/2006/main">
              <a:ext uri="{FF2B5EF4-FFF2-40B4-BE49-F238E27FC236}">
                <a16:creationId xmlns:a16="http://schemas.microsoft.com/office/drawing/2014/main" id="{490D1772-3607-453C-96B4-3E92F8E42E59}"/>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단순 키워드 일치를 넘어 민원 의미를 이용한 검색·분석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지원.</a:t>
            </a:r>
          </a:p>
        </p:txBody>
      </p:sp>
      <p:sp>
        <p:nvSpPr>
          <p:cNvPr id="13" name="">
            <a:extLst xmlns:a="http://schemas.openxmlformats.org/drawingml/2006/main">
              <a:ext uri="{FF2B5EF4-FFF2-40B4-BE49-F238E27FC236}">
                <a16:creationId xmlns:a16="http://schemas.microsoft.com/office/drawing/2014/main" id="{BA712D6C-F62E-43FE-BD7F-B3A58F421F62}"/>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표현의 같은 의도와 같은 단어의 다른 의도를 구분한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색 정답셋 비교</a:t>
            </a:r>
          </a:p>
        </p:txBody>
      </p:sp>
      <p:sp>
        <p:nvSpPr>
          <p:cNvPr id="14" name="">
            <a:extLst xmlns:a="http://schemas.openxmlformats.org/drawingml/2006/main">
              <a:ext uri="{FF2B5EF4-FFF2-40B4-BE49-F238E27FC236}">
                <a16:creationId xmlns:a16="http://schemas.microsoft.com/office/drawing/2014/main" id="{B0745F2C-23C5-4D92-899D-49EB52BC878A}"/>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6893AF5-CF45-4DF8-91C8-2296DFD50B27}"/>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SFR-015 실시간 데이터 수집 및 검증</a:t>
            </a:r>
          </a:p>
        </p:txBody>
      </p:sp>
      <p:sp>
        <p:nvSpPr>
          <p:cNvPr id="16" name="">
            <a:extLst xmlns:a="http://schemas.openxmlformats.org/drawingml/2006/main">
              <a:ext uri="{FF2B5EF4-FFF2-40B4-BE49-F238E27FC236}">
                <a16:creationId xmlns:a16="http://schemas.microsoft.com/office/drawing/2014/main" id="{63966DEF-A6D0-48E9-9EE6-47C819644372}"/>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OGG 기반 원천 변경 수집과 데이터 검증을 통한 실시간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연계. 수집 이후 정합성 확인이 필요한 데이터 흐름.</a:t>
            </a:r>
          </a:p>
        </p:txBody>
      </p:sp>
      <p:sp>
        <p:nvSpPr>
          <p:cNvPr id="17" name="">
            <a:extLst xmlns:a="http://schemas.openxmlformats.org/drawingml/2006/main">
              <a:ext uri="{FF2B5EF4-FFF2-40B4-BE49-F238E27FC236}">
                <a16:creationId xmlns:a16="http://schemas.microsoft.com/office/drawing/2014/main" id="{3CF9F2EB-228D-448B-A952-F5FF4E4FB9EE}"/>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삽입·수정·삭제·중단 후 재개 시 건수·키·시점 대사와 중복 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 여부 확인</a:t>
            </a:r>
          </a:p>
        </p:txBody>
      </p:sp>
    </p:spTree>
    <p:extLst>
      <p:ext uri="{BB962C8B-B14F-4D97-AF65-F5344CB8AC3E}">
        <p14:creationId xmlns:p14="http://schemas.microsoft.com/office/powerpoint/2010/main" val="117340002"/>
      </p:ext>
    </p:extLst>
  </p:cSld>
</p:sld>
</file>

<file path=ppt/slides/slide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AC482F9-464D-4009-9688-BE903241624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7–9</a:t>
            </a:r>
          </a:p>
        </p:txBody>
      </p:sp>
      <p:sp>
        <p:nvSpPr>
          <p:cNvPr id="2" name="">
            <a:extLst xmlns:a="http://schemas.openxmlformats.org/drawingml/2006/main">
              <a:ext uri="{FF2B5EF4-FFF2-40B4-BE49-F238E27FC236}">
                <a16:creationId xmlns:a16="http://schemas.microsoft.com/office/drawing/2014/main" id="{166EF36F-8F4C-46E6-9945-89FDB815257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A66AB739-B070-4D40-9C57-D486E62FF68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2C0666-AC8F-490D-91EC-CF2CCE6F84D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4896407-9388-4C03-AC34-502435B738E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a:t>
            </a:r>
          </a:p>
        </p:txBody>
      </p:sp>
      <p:sp>
        <p:nvSpPr>
          <p:cNvPr id="6" name="">
            <a:extLst xmlns:a="http://schemas.openxmlformats.org/drawingml/2006/main">
              <a:ext uri="{FF2B5EF4-FFF2-40B4-BE49-F238E27FC236}">
                <a16:creationId xmlns:a16="http://schemas.microsoft.com/office/drawing/2014/main" id="{22867408-1FFD-4984-B353-08ACA1819B68}"/>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59E20A-6331-4EC2-9001-DE3794E98292}"/>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SFR-018 AI 기반 민원 자동 처리</a:t>
            </a:r>
          </a:p>
        </p:txBody>
      </p:sp>
      <p:sp>
        <p:nvSpPr>
          <p:cNvPr id="8" name="">
            <a:extLst xmlns:a="http://schemas.openxmlformats.org/drawingml/2006/main">
              <a:ext uri="{FF2B5EF4-FFF2-40B4-BE49-F238E27FC236}">
                <a16:creationId xmlns:a16="http://schemas.microsoft.com/office/drawing/2014/main" id="{5B798609-4038-4241-873F-4CEB50CEF4B8}"/>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기반 민원 처리 지원에 담당자 검토·채택 결과를 연결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하고 운영 개선에 활용하는 흐름.</a:t>
            </a:r>
          </a:p>
        </p:txBody>
      </p:sp>
      <p:sp>
        <p:nvSpPr>
          <p:cNvPr id="9" name="">
            <a:extLst xmlns:a="http://schemas.openxmlformats.org/drawingml/2006/main">
              <a:ext uri="{FF2B5EF4-FFF2-40B4-BE49-F238E27FC236}">
                <a16:creationId xmlns:a16="http://schemas.microsoft.com/office/drawing/2014/main" id="{6AE67618-6B61-4999-95DB-CEA73662E646}"/>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추천과 확정 상태를 구분하고 수정·반려가 다음 처리 기록에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누락 없이 남는지 확인</a:t>
            </a:r>
          </a:p>
        </p:txBody>
      </p:sp>
      <p:sp>
        <p:nvSpPr>
          <p:cNvPr id="10" name="">
            <a:extLst xmlns:a="http://schemas.openxmlformats.org/drawingml/2006/main">
              <a:ext uri="{FF2B5EF4-FFF2-40B4-BE49-F238E27FC236}">
                <a16:creationId xmlns:a16="http://schemas.microsoft.com/office/drawing/2014/main" id="{B54EF572-591F-418A-A2EA-2657FFCFFBCB}"/>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B1F7C3-0706-4C16-BBA7-32E1ABB7FB25}"/>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SFR-019 API 통합 관리 및 성능 모니터링</a:t>
            </a:r>
          </a:p>
        </p:txBody>
      </p:sp>
      <p:sp>
        <p:nvSpPr>
          <p:cNvPr id="12" name="">
            <a:extLst xmlns:a="http://schemas.openxmlformats.org/drawingml/2006/main">
              <a:ext uri="{FF2B5EF4-FFF2-40B4-BE49-F238E27FC236}">
                <a16:creationId xmlns:a16="http://schemas.microsoft.com/office/drawing/2014/main" id="{0913FB71-C2A8-4C58-A71B-34AD769D133D}"/>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통합 관리와 성능 모니터링을 통한 업무 모듈·기간계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 관리.</a:t>
            </a:r>
          </a:p>
        </p:txBody>
      </p:sp>
      <p:sp>
        <p:nvSpPr>
          <p:cNvPr id="13" name="">
            <a:extLst xmlns:a="http://schemas.openxmlformats.org/drawingml/2006/main">
              <a:ext uri="{FF2B5EF4-FFF2-40B4-BE49-F238E27FC236}">
                <a16:creationId xmlns:a16="http://schemas.microsoft.com/office/drawing/2014/main" id="{5AE97583-8ABD-4CFE-BF70-DFC61BE7339E}"/>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C07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호출 실패·시간초과·중복 요청을 주입하고 호출 경로별 원인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처리 상태 추적</a:t>
            </a:r>
          </a:p>
        </p:txBody>
      </p:sp>
      <p:sp>
        <p:nvSpPr>
          <p:cNvPr id="14" name="">
            <a:extLst xmlns:a="http://schemas.openxmlformats.org/drawingml/2006/main">
              <a:ext uri="{FF2B5EF4-FFF2-40B4-BE49-F238E27FC236}">
                <a16:creationId xmlns:a16="http://schemas.microsoft.com/office/drawing/2014/main" id="{DE8173F6-E9A3-4B7D-92F9-5C19289B6FFC}"/>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43B602C-D56F-4D49-9556-16C55240A04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SFR-020 시스템 설정 및 운영 모니터링 통합 관리</a:t>
            </a:r>
          </a:p>
        </p:txBody>
      </p:sp>
      <p:sp>
        <p:nvSpPr>
          <p:cNvPr id="16" name="">
            <a:extLst xmlns:a="http://schemas.openxmlformats.org/drawingml/2006/main">
              <a:ext uri="{FF2B5EF4-FFF2-40B4-BE49-F238E27FC236}">
                <a16:creationId xmlns:a16="http://schemas.microsoft.com/office/drawing/2014/main" id="{51C0EE13-E4DB-4CB2-91F1-0A503BCAD7F9}"/>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시스템 설정과 운영 모니터링의 통합 관리. 업무 기능과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 정책의 일관된 상태 확인.</a:t>
            </a:r>
          </a:p>
        </p:txBody>
      </p:sp>
      <p:sp>
        <p:nvSpPr>
          <p:cNvPr id="17" name="">
            <a:extLst xmlns:a="http://schemas.openxmlformats.org/drawingml/2006/main">
              <a:ext uri="{FF2B5EF4-FFF2-40B4-BE49-F238E27FC236}">
                <a16:creationId xmlns:a16="http://schemas.microsoft.com/office/drawing/2014/main" id="{268E87D9-AC4C-49D3-A977-931175758167}"/>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설정 변경 권한, 변경 전후 상태, 장애 탐지·복구 기록의 연결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Tree>
    <p:extLst>
      <p:ext uri="{BB962C8B-B14F-4D97-AF65-F5344CB8AC3E}">
        <p14:creationId xmlns:p14="http://schemas.microsoft.com/office/powerpoint/2010/main" val="1860116910"/>
      </p:ext>
    </p:extLst>
  </p:cSld>
</p:sld>
</file>

<file path=ppt/slides/slide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42FBE0-429B-4AAD-AC62-DB37E2F21B3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목표시스템 개념도 / RFP 원문 추출</a:t>
            </a:r>
          </a:p>
        </p:txBody>
      </p:sp>
      <p:sp>
        <p:nvSpPr>
          <p:cNvPr id="2" name="">
            <a:extLst xmlns:a="http://schemas.openxmlformats.org/drawingml/2006/main">
              <a:ext uri="{FF2B5EF4-FFF2-40B4-BE49-F238E27FC236}">
                <a16:creationId xmlns:a16="http://schemas.microsoft.com/office/drawing/2014/main" id="{79068A2B-7D96-4A36-BEE2-D9D94408583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국민소통 플랫폼 목표시스템</a:t>
            </a:r>
          </a:p>
        </p:txBody>
      </p:sp>
      <p:sp>
        <p:nvSpPr>
          <p:cNvPr id="3" name="">
            <a:extLst xmlns:a="http://schemas.openxmlformats.org/drawingml/2006/main">
              <a:ext uri="{FF2B5EF4-FFF2-40B4-BE49-F238E27FC236}">
                <a16:creationId xmlns:a16="http://schemas.microsoft.com/office/drawing/2014/main" id="{01BED061-1DBB-4D9F-A482-7985D5BB20A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2232B4C-A520-49E3-9A3A-0C23DB99D67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706A64D-C0FD-4A92-9351-57174896243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a:t>
            </a:r>
          </a:p>
        </p:txBody>
      </p:sp>
      <p:pic>
        <p:nvPicPr>
          <p:cNvPr id="6" name="">
            <a:extLst xmlns:a="http://schemas.openxmlformats.org/drawingml/2006/main">
              <a:ext uri="{FF2B5EF4-FFF2-40B4-BE49-F238E27FC236}">
                <a16:creationId xmlns:a16="http://schemas.microsoft.com/office/drawing/2014/main" id="{E3D6D650-07D2-45A9-AF4E-7AD656B26345}"/>
              </a:ext>
            </a:extLst>
          </p:cNvPr>
          <p:cNvPicPr>
            <a:picLocks xmlns:a="http://schemas.openxmlformats.org/drawingml/2006/main" noChangeAspect="1"/>
          </p:cNvPicPr>
          <p:nvPr/>
        </p:nvPicPr>
        <p:blipFill>
          <a:blip xmlns:r="http://schemas.openxmlformats.org/officeDocument/2006/relationships" xmlns:a="http://schemas.openxmlformats.org/drawingml/2006/main" r:embed="R11caebe239564cec"/>
          <a:stretch xmlns:a="http://schemas.openxmlformats.org/drawingml/2006/main"/>
        </p:blipFill>
        <p:spPr>
          <a:xfrm xmlns:a="http://schemas.openxmlformats.org/drawingml/2006/main">
            <a:off x="2067652" y="1657350"/>
            <a:ext cx="805669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49D153F-E10F-4025-91E9-1DE36A69BB16}"/>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접점·API Gateway·업무 모듈·데이터 처리·운영 관리</a:t>
            </a:r>
          </a:p>
        </p:txBody>
      </p:sp>
    </p:spTree>
    <p:extLst>
      <p:ext uri="{BB962C8B-B14F-4D97-AF65-F5344CB8AC3E}">
        <p14:creationId xmlns:p14="http://schemas.microsoft.com/office/powerpoint/2010/main" val="556134033"/>
      </p:ext>
    </p:extLst>
  </p:cSld>
</p:sld>
</file>

<file path=ppt/slides/slide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6F6E6F-D67D-40B2-A604-23EC5D4FAEA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RAG 구성 예시 / RFP 원문 추출</a:t>
            </a:r>
          </a:p>
        </p:txBody>
      </p:sp>
      <p:sp>
        <p:nvSpPr>
          <p:cNvPr id="2" name="">
            <a:extLst xmlns:a="http://schemas.openxmlformats.org/drawingml/2006/main">
              <a:ext uri="{FF2B5EF4-FFF2-40B4-BE49-F238E27FC236}">
                <a16:creationId xmlns:a16="http://schemas.microsoft.com/office/drawing/2014/main" id="{620371BF-4F65-4937-B008-AC5E8CDAE1D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키워드·벡터 검색과 Reranker</a:t>
            </a:r>
          </a:p>
        </p:txBody>
      </p:sp>
      <p:sp>
        <p:nvSpPr>
          <p:cNvPr id="3" name="">
            <a:extLst xmlns:a="http://schemas.openxmlformats.org/drawingml/2006/main">
              <a:ext uri="{FF2B5EF4-FFF2-40B4-BE49-F238E27FC236}">
                <a16:creationId xmlns:a16="http://schemas.microsoft.com/office/drawing/2014/main" id="{FDD6723C-AEBB-4B2C-9825-48A04A18FB7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92AB7B-12C1-4D92-AEA5-60974EA8618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08674F6-11AC-4204-AEB8-00FF7068228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a:t>
            </a:r>
          </a:p>
        </p:txBody>
      </p:sp>
      <p:pic>
        <p:nvPicPr>
          <p:cNvPr id="6" name="">
            <a:extLst xmlns:a="http://schemas.openxmlformats.org/drawingml/2006/main">
              <a:ext uri="{FF2B5EF4-FFF2-40B4-BE49-F238E27FC236}">
                <a16:creationId xmlns:a16="http://schemas.microsoft.com/office/drawing/2014/main" id="{E2C37975-967C-45D4-8446-968829866576}"/>
              </a:ext>
            </a:extLst>
          </p:cNvPr>
          <p:cNvPicPr>
            <a:picLocks xmlns:a="http://schemas.openxmlformats.org/drawingml/2006/main" noChangeAspect="1"/>
          </p:cNvPicPr>
          <p:nvPr/>
        </p:nvPicPr>
        <p:blipFill>
          <a:blip xmlns:r="http://schemas.openxmlformats.org/officeDocument/2006/relationships" xmlns:a="http://schemas.openxmlformats.org/drawingml/2006/main" r:embed="Rd2124e235691466c"/>
          <a:stretch xmlns:a="http://schemas.openxmlformats.org/drawingml/2006/main"/>
        </p:blipFill>
        <p:spPr>
          <a:xfrm xmlns:a="http://schemas.openxmlformats.org/drawingml/2006/main">
            <a:off x="1704611" y="1657350"/>
            <a:ext cx="878277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2D74F07-0458-4846-8D88-843402F0BB68}"/>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키워드/벡터 검색 병렬 처리 → 재정렬 → 근거 응답</a:t>
            </a:r>
          </a:p>
        </p:txBody>
      </p:sp>
    </p:spTree>
    <p:extLst>
      <p:ext uri="{BB962C8B-B14F-4D97-AF65-F5344CB8AC3E}">
        <p14:creationId xmlns:p14="http://schemas.microsoft.com/office/powerpoint/2010/main" val="2128665953"/>
      </p:ext>
    </p:extLst>
  </p:cSld>
</p:sld>
</file>

<file path=ppt/slides/slide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1E027B-7BBC-44A7-B4AF-1A0F406611A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데이터 흐름도 / RFP 원문 추출</a:t>
            </a:r>
          </a:p>
        </p:txBody>
      </p:sp>
      <p:sp>
        <p:nvSpPr>
          <p:cNvPr id="2" name="">
            <a:extLst xmlns:a="http://schemas.openxmlformats.org/drawingml/2006/main">
              <a:ext uri="{FF2B5EF4-FFF2-40B4-BE49-F238E27FC236}">
                <a16:creationId xmlns:a16="http://schemas.microsoft.com/office/drawing/2014/main" id="{86C638E7-799E-4DF0-B552-FF1AEE001B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민원 AI 입출력 데이터</a:t>
            </a:r>
          </a:p>
        </p:txBody>
      </p:sp>
      <p:sp>
        <p:nvSpPr>
          <p:cNvPr id="3" name="">
            <a:extLst xmlns:a="http://schemas.openxmlformats.org/drawingml/2006/main">
              <a:ext uri="{FF2B5EF4-FFF2-40B4-BE49-F238E27FC236}">
                <a16:creationId xmlns:a16="http://schemas.microsoft.com/office/drawing/2014/main" id="{2AB8627A-6C25-4698-A7E0-8D04C69BEE0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F8AEA2-37C5-4CD0-9925-950EE704CCA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4B19A22-8780-4CF0-AB49-9D947EEB24D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a:t>
            </a:r>
          </a:p>
        </p:txBody>
      </p:sp>
      <p:pic>
        <p:nvPicPr>
          <p:cNvPr id="6" name="">
            <a:extLst xmlns:a="http://schemas.openxmlformats.org/drawingml/2006/main">
              <a:ext uri="{FF2B5EF4-FFF2-40B4-BE49-F238E27FC236}">
                <a16:creationId xmlns:a16="http://schemas.microsoft.com/office/drawing/2014/main" id="{EF3ABC96-21AC-4C52-AB14-3EC3564C92F5}"/>
              </a:ext>
            </a:extLst>
          </p:cNvPr>
          <p:cNvPicPr>
            <a:picLocks xmlns:a="http://schemas.openxmlformats.org/drawingml/2006/main" noChangeAspect="1"/>
          </p:cNvPicPr>
          <p:nvPr/>
        </p:nvPicPr>
        <p:blipFill>
          <a:blip xmlns:r="http://schemas.openxmlformats.org/officeDocument/2006/relationships" xmlns:a="http://schemas.openxmlformats.org/drawingml/2006/main" r:embed="R0ec300f04f824fd0"/>
          <a:stretch xmlns:a="http://schemas.openxmlformats.org/drawingml/2006/main"/>
        </p:blipFill>
        <p:spPr>
          <a:xfrm xmlns:a="http://schemas.openxmlformats.org/drawingml/2006/main">
            <a:off x="1033420" y="1657350"/>
            <a:ext cx="1012515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1F52BB9-8E54-43D9-9955-A7B27B6BEB75}"/>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국민신문고·시범기관 매뉴얼 → 전처리·RAG → 답변·유사도</a:t>
            </a:r>
          </a:p>
        </p:txBody>
      </p:sp>
    </p:spTree>
    <p:extLst>
      <p:ext uri="{BB962C8B-B14F-4D97-AF65-F5344CB8AC3E}">
        <p14:creationId xmlns:p14="http://schemas.microsoft.com/office/powerpoint/2010/main" val="1902226120"/>
      </p:ext>
    </p:extLst>
  </p:cSld>
</p:sld>
</file>

<file path=ppt/slides/slide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6E9929-D054-4B5F-989D-9B226726717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데이터 처리 구조 / RFP 원문 추출</a:t>
            </a:r>
          </a:p>
        </p:txBody>
      </p:sp>
      <p:sp>
        <p:nvSpPr>
          <p:cNvPr id="2" name="">
            <a:extLst xmlns:a="http://schemas.openxmlformats.org/drawingml/2006/main">
              <a:ext uri="{FF2B5EF4-FFF2-40B4-BE49-F238E27FC236}">
                <a16:creationId xmlns:a16="http://schemas.microsoft.com/office/drawing/2014/main" id="{EA8432A8-BDFE-497C-9C56-98444FDF52E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데이터 구축·학습·운영 흐름</a:t>
            </a:r>
          </a:p>
        </p:txBody>
      </p:sp>
      <p:sp>
        <p:nvSpPr>
          <p:cNvPr id="3" name="">
            <a:extLst xmlns:a="http://schemas.openxmlformats.org/drawingml/2006/main">
              <a:ext uri="{FF2B5EF4-FFF2-40B4-BE49-F238E27FC236}">
                <a16:creationId xmlns:a16="http://schemas.microsoft.com/office/drawing/2014/main" id="{2D3E327A-96BE-4BB8-A6D7-21B45961EEC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F0A887-E1D4-423A-904A-36FDF138C17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5994742-368C-4327-BE83-D734219A22E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a:t>
            </a:r>
          </a:p>
        </p:txBody>
      </p:sp>
      <p:pic>
        <p:nvPicPr>
          <p:cNvPr id="6" name="">
            <a:extLst xmlns:a="http://schemas.openxmlformats.org/drawingml/2006/main">
              <a:ext uri="{FF2B5EF4-FFF2-40B4-BE49-F238E27FC236}">
                <a16:creationId xmlns:a16="http://schemas.microsoft.com/office/drawing/2014/main" id="{75274D27-7A64-437A-AD5B-0456A43CADE3}"/>
              </a:ext>
            </a:extLst>
          </p:cNvPr>
          <p:cNvPicPr>
            <a:picLocks xmlns:a="http://schemas.openxmlformats.org/drawingml/2006/main" noChangeAspect="1"/>
          </p:cNvPicPr>
          <p:nvPr/>
        </p:nvPicPr>
        <p:blipFill>
          <a:blip xmlns:r="http://schemas.openxmlformats.org/officeDocument/2006/relationships" xmlns:a="http://schemas.openxmlformats.org/drawingml/2006/main" r:embed="R2aa0ff5d3a384024"/>
          <a:stretch xmlns:a="http://schemas.openxmlformats.org/drawingml/2006/main"/>
        </p:blipFill>
        <p:spPr>
          <a:xfrm xmlns:a="http://schemas.openxmlformats.org/drawingml/2006/main">
            <a:off x="1406071" y="1657350"/>
            <a:ext cx="937985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2AC2BC2-0548-4657-BC53-298C78706E3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수집·정제·가공·학습·운영의 환류</a:t>
            </a:r>
          </a:p>
        </p:txBody>
      </p:sp>
    </p:spTree>
    <p:extLst>
      <p:ext uri="{BB962C8B-B14F-4D97-AF65-F5344CB8AC3E}">
        <p14:creationId xmlns:p14="http://schemas.microsoft.com/office/powerpoint/2010/main" val="98744445"/>
      </p:ext>
    </p:extLst>
  </p:cSld>
</p:sld>
</file>

<file path=ppt/slides/slide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E72959EB-D44B-47EA-92C0-EA72CCB31DF1}"/>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087D6EB7-55DD-47A7-B51F-C4A1A58B12DF}"/>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42662F62-9138-434C-A580-B6CDD6AACFE5}"/>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869C455B-BF6C-4242-8164-8804FFA5F347}"/>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133C5782-5A86-4646-8F27-5D5C8F4F5FD1}"/>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A327E90D-3B2D-40BA-B5EC-FD8A9FE59C43}"/>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C02F6EC0-5C22-493A-AD89-344A5CE6D53C}"/>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3CFA2BD9-9A84-4BB3-8DD1-B6085930B149}"/>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93AEA860-8A5C-4584-AEE1-6B08A78DDBF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복수 자료 결합·분석·검토·평가</a:t>
            </a:r>
          </a:p>
        </p:txBody>
      </p:sp>
      <p:sp>
        <p:nvSpPr>
          <p:cNvPr id="2" name="">
            <a:extLst xmlns:a="http://schemas.openxmlformats.org/drawingml/2006/main">
              <a:ext uri="{FF2B5EF4-FFF2-40B4-BE49-F238E27FC236}">
                <a16:creationId xmlns:a16="http://schemas.microsoft.com/office/drawing/2014/main" id="{1B9143BA-1D60-4755-8FE8-FDF1A1CCC96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세부 서비스 구조</a:t>
            </a:r>
          </a:p>
        </p:txBody>
      </p:sp>
      <p:sp>
        <p:nvSpPr>
          <p:cNvPr id="3" name="">
            <a:extLst xmlns:a="http://schemas.openxmlformats.org/drawingml/2006/main">
              <a:ext uri="{FF2B5EF4-FFF2-40B4-BE49-F238E27FC236}">
                <a16:creationId xmlns:a16="http://schemas.microsoft.com/office/drawing/2014/main" id="{FF9FDDD1-BED0-49D4-9EFD-96BFA4532BE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04BD63A-ED62-40BE-90CC-DFA5D498300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57BA19A-17A2-4F92-9559-31406566691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a:t>
            </a:r>
          </a:p>
        </p:txBody>
      </p:sp>
      <p:sp>
        <p:nvSpPr>
          <p:cNvPr id="6" name="">
            <a:extLst xmlns:a="http://schemas.openxmlformats.org/drawingml/2006/main">
              <a:ext uri="{FF2B5EF4-FFF2-40B4-BE49-F238E27FC236}">
                <a16:creationId xmlns:a16="http://schemas.microsoft.com/office/drawing/2014/main" id="{91B4EB6C-83F4-4BB7-8DBA-31B2621BCA4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국민신문고 → 분류·유사민원 → 답변 추천 → 현업 수정</a:t>
            </a:r>
          </a:p>
        </p:txBody>
      </p:sp>
      <p:sp>
        <p:nvSpPr>
          <p:cNvPr id="7" name="">
            <a:extLst xmlns:a="http://schemas.openxmlformats.org/drawingml/2006/main">
              <a:ext uri="{FF2B5EF4-FFF2-40B4-BE49-F238E27FC236}">
                <a16:creationId xmlns:a16="http://schemas.microsoft.com/office/drawing/2014/main" id="{BF297C1F-5692-47FD-9934-DD629051D07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564DE8C-031E-4E05-967D-C913CB731A1F}"/>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9B38726-2997-469A-9D3E-8A0A65BA295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민원·답변·지침</a:t>
            </a:r>
          </a:p>
        </p:txBody>
      </p:sp>
      <p:sp>
        <p:nvSpPr>
          <p:cNvPr id="10" name="">
            <a:extLst xmlns:a="http://schemas.openxmlformats.org/drawingml/2006/main">
              <a:ext uri="{FF2B5EF4-FFF2-40B4-BE49-F238E27FC236}">
                <a16:creationId xmlns:a16="http://schemas.microsoft.com/office/drawing/2014/main" id="{9004FDEB-ABC3-4388-9736-64FBC625F471}"/>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C4EB156-1E7C-4A06-ABAC-874FD022C8C6}"/>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52A9E4A7-0C04-4E41-866B-F8B60D219F02}"/>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키워드·벡터 검색</a:t>
            </a:r>
          </a:p>
        </p:txBody>
      </p:sp>
      <p:sp>
        <p:nvSpPr>
          <p:cNvPr id="13" name="">
            <a:extLst xmlns:a="http://schemas.openxmlformats.org/drawingml/2006/main">
              <a:ext uri="{FF2B5EF4-FFF2-40B4-BE49-F238E27FC236}">
                <a16:creationId xmlns:a16="http://schemas.microsoft.com/office/drawing/2014/main" id="{C83B9A5D-368A-4ABA-94AE-573401D8E174}"/>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1AFDC68-5177-4343-8DA4-CE190A711EF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9C49AA4C-6C33-4CB5-AA59-B766BDB3803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OCR·메타정보 추출</a:t>
            </a:r>
          </a:p>
        </p:txBody>
      </p:sp>
      <p:sp>
        <p:nvSpPr>
          <p:cNvPr id="16" name="">
            <a:extLst xmlns:a="http://schemas.openxmlformats.org/drawingml/2006/main">
              <a:ext uri="{FF2B5EF4-FFF2-40B4-BE49-F238E27FC236}">
                <a16:creationId xmlns:a16="http://schemas.microsoft.com/office/drawing/2014/main" id="{FD42557D-37F8-4D4F-9CA3-9D2D6F9834E1}"/>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A46F698-9C59-45FA-95B1-AD8A9AA6535F}"/>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040893D2-9057-4CE3-B037-3B485354F7B8}"/>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재정렬·답변·군집</a:t>
            </a:r>
          </a:p>
        </p:txBody>
      </p:sp>
      <p:sp>
        <p:nvSpPr>
          <p:cNvPr id="19" name="">
            <a:extLst xmlns:a="http://schemas.openxmlformats.org/drawingml/2006/main">
              <a:ext uri="{FF2B5EF4-FFF2-40B4-BE49-F238E27FC236}">
                <a16:creationId xmlns:a16="http://schemas.microsoft.com/office/drawing/2014/main" id="{2917049F-FDE0-40DC-A968-923F7E32B5D1}"/>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D608AB9-9B8F-4645-8CC5-E7EDC74F72F7}"/>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1282A804-F3E3-4C58-B4D1-D503C31A9056}"/>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동일 사건 대조</a:t>
            </a:r>
          </a:p>
        </p:txBody>
      </p:sp>
      <p:sp>
        <p:nvSpPr>
          <p:cNvPr id="22" name="">
            <a:extLst xmlns:a="http://schemas.openxmlformats.org/drawingml/2006/main">
              <a:ext uri="{FF2B5EF4-FFF2-40B4-BE49-F238E27FC236}">
                <a16:creationId xmlns:a16="http://schemas.microsoft.com/office/drawing/2014/main" id="{798856DA-74CC-4BF5-9967-E0BC900A0296}"/>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AE20D7E-CF2E-4F34-99C8-89344D160CDA}"/>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73491FEE-B2A9-47E1-950F-8F2520F903B3}"/>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담당자 수정</a:t>
            </a:r>
          </a:p>
        </p:txBody>
      </p:sp>
      <p:sp>
        <p:nvSpPr>
          <p:cNvPr id="25" name="">
            <a:extLst xmlns:a="http://schemas.openxmlformats.org/drawingml/2006/main">
              <a:ext uri="{FF2B5EF4-FFF2-40B4-BE49-F238E27FC236}">
                <a16:creationId xmlns:a16="http://schemas.microsoft.com/office/drawing/2014/main" id="{424ABBD5-CE37-4A81-AE5D-C8A196613734}"/>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E4EFC38-FABB-422E-BD3D-10A2C1CA2880}"/>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ED0F2180-F265-40AB-987F-6D53B690C4F4}"/>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 처리·분석</a:t>
            </a:r>
          </a:p>
        </p:txBody>
      </p:sp>
      <p:sp>
        <p:nvSpPr>
          <p:cNvPr id="28" name="">
            <a:extLst xmlns:a="http://schemas.openxmlformats.org/drawingml/2006/main">
              <a:ext uri="{FF2B5EF4-FFF2-40B4-BE49-F238E27FC236}">
                <a16:creationId xmlns:a16="http://schemas.microsoft.com/office/drawing/2014/main" id="{09B917C1-7233-458D-9794-310FBB216AF3}"/>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E1380B0-2582-40BD-8447-B4104DAD81C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779A3825-E023-4866-A30C-C470E1146424}"/>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오답·병합 오류</a:t>
            </a:r>
          </a:p>
        </p:txBody>
      </p:sp>
      <p:sp>
        <p:nvSpPr>
          <p:cNvPr id="39" name="">
            <a:extLst xmlns:a="http://schemas.openxmlformats.org/drawingml/2006/main">
              <a:ext uri="{FF2B5EF4-FFF2-40B4-BE49-F238E27FC236}">
                <a16:creationId xmlns:a16="http://schemas.microsoft.com/office/drawing/2014/main" id="{E09A9E0F-09FE-4DC0-B949-C5F831DD23D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94662234"/>
      </p:ext>
    </p:extLst>
  </p:cSld>
</p:sld>
</file>

<file path=ppt/slides/slide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A409A9D-883F-407A-BB21-2532015520A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논리 인터페이스·복구 설계</a:t>
            </a:r>
          </a:p>
        </p:txBody>
      </p:sp>
      <p:sp>
        <p:nvSpPr>
          <p:cNvPr id="2" name="">
            <a:extLst xmlns:a="http://schemas.openxmlformats.org/drawingml/2006/main">
              <a:ext uri="{FF2B5EF4-FFF2-40B4-BE49-F238E27FC236}">
                <a16:creationId xmlns:a16="http://schemas.microsoft.com/office/drawing/2014/main" id="{FA4AC312-01A9-45CC-B904-943BF1BEF5A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데이터와 예외 처리</a:t>
            </a:r>
          </a:p>
        </p:txBody>
      </p:sp>
      <p:sp>
        <p:nvSpPr>
          <p:cNvPr id="3" name="">
            <a:extLst xmlns:a="http://schemas.openxmlformats.org/drawingml/2006/main">
              <a:ext uri="{FF2B5EF4-FFF2-40B4-BE49-F238E27FC236}">
                <a16:creationId xmlns:a16="http://schemas.microsoft.com/office/drawing/2014/main" id="{6E142660-E1C9-46B2-AE99-A01778BAF44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6A3060-C98D-4D21-AC25-64956210440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FB91C07-14DF-48C4-AF06-21DA4AE6206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a:t>
            </a:r>
          </a:p>
        </p:txBody>
      </p:sp>
      <p:sp>
        <p:nvSpPr>
          <p:cNvPr id="6" name="">
            <a:extLst xmlns:a="http://schemas.openxmlformats.org/drawingml/2006/main">
              <a:ext uri="{FF2B5EF4-FFF2-40B4-BE49-F238E27FC236}">
                <a16:creationId xmlns:a16="http://schemas.microsoft.com/office/drawing/2014/main" id="{69312785-FF77-45D5-AF06-95C5F18CEC7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61D32E0-DD18-42E3-AA31-A31FA030B8D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C0C5810-EEB4-4DCE-863E-4F250144D72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697DDDBF-FD99-4B4A-85EE-D7C85979F64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민원·답변 자료</a:t>
            </a:r>
          </a:p>
        </p:txBody>
      </p:sp>
      <p:sp>
        <p:nvSpPr>
          <p:cNvPr id="10" name="">
            <a:extLst xmlns:a="http://schemas.openxmlformats.org/drawingml/2006/main">
              <a:ext uri="{FF2B5EF4-FFF2-40B4-BE49-F238E27FC236}">
                <a16:creationId xmlns:a16="http://schemas.microsoft.com/office/drawing/2014/main" id="{1A6D19C7-0F66-4777-A6CF-0ED5DEEDCF7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43C1395-103B-467A-9C05-584855100A6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C8586F8B-324C-4CF8-AF8B-6DE238BA7B1E}"/>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유사 사건</a:t>
            </a:r>
          </a:p>
        </p:txBody>
      </p:sp>
      <p:sp>
        <p:nvSpPr>
          <p:cNvPr id="13" name="">
            <a:extLst xmlns:a="http://schemas.openxmlformats.org/drawingml/2006/main">
              <a:ext uri="{FF2B5EF4-FFF2-40B4-BE49-F238E27FC236}">
                <a16:creationId xmlns:a16="http://schemas.microsoft.com/office/drawing/2014/main" id="{A2F9E0BB-B105-44FD-B648-0C97481E7E6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9D17EA9-1BD3-4210-8393-C0A836CD6EB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E9B1787A-9580-48C8-A627-0A2DB4B2101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59645774-A410-4CA5-B67A-6724D6ED20E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2F9B3B7-5CDF-4082-8B3C-05FCD0BEC625}"/>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3EDCFF7E-CF22-483C-B669-6B7690EEBF8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추천 답변</a:t>
            </a:r>
          </a:p>
        </p:txBody>
      </p:sp>
      <p:sp>
        <p:nvSpPr>
          <p:cNvPr id="19" name="">
            <a:extLst xmlns:a="http://schemas.openxmlformats.org/drawingml/2006/main">
              <a:ext uri="{FF2B5EF4-FFF2-40B4-BE49-F238E27FC236}">
                <a16:creationId xmlns:a16="http://schemas.microsoft.com/office/drawing/2014/main" id="{D0829993-BDA6-4CAF-A20B-35F602270E6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711CB2B-23B4-4193-BC7D-ACEE36989DA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87E60045-3F14-4E6D-891B-236E326180F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추천 답변</a:t>
            </a:r>
          </a:p>
        </p:txBody>
      </p:sp>
      <p:sp>
        <p:nvSpPr>
          <p:cNvPr id="22" name="">
            <a:extLst xmlns:a="http://schemas.openxmlformats.org/drawingml/2006/main">
              <a:ext uri="{FF2B5EF4-FFF2-40B4-BE49-F238E27FC236}">
                <a16:creationId xmlns:a16="http://schemas.microsoft.com/office/drawing/2014/main" id="{E7D90F5C-845F-43BC-9A74-15F912AE15D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4DCAD95-9EE7-4972-AD26-74503575745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751467D5-6C6A-4991-9C91-21DC2D7E84D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수정·회신</a:t>
            </a:r>
          </a:p>
        </p:txBody>
      </p:sp>
      <p:sp>
        <p:nvSpPr>
          <p:cNvPr id="25" name="">
            <a:extLst xmlns:a="http://schemas.openxmlformats.org/drawingml/2006/main">
              <a:ext uri="{FF2B5EF4-FFF2-40B4-BE49-F238E27FC236}">
                <a16:creationId xmlns:a16="http://schemas.microsoft.com/office/drawing/2014/main" id="{914BF6B2-4E7E-4894-B485-397994A3DD3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4CD8D11-F211-4024-B7A5-A0DF680B842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표현이 같은 다른 사건·소관기관 차이·반대 취지</a:t>
            </a:r>
          </a:p>
        </p:txBody>
      </p:sp>
      <p:sp>
        <p:nvSpPr>
          <p:cNvPr id="27" name="">
            <a:extLst xmlns:a="http://schemas.openxmlformats.org/drawingml/2006/main">
              <a:ext uri="{FF2B5EF4-FFF2-40B4-BE49-F238E27FC236}">
                <a16:creationId xmlns:a16="http://schemas.microsoft.com/office/drawing/2014/main" id="{54E19E12-8D3D-4EEB-BC4A-0D9A2E3E913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43B6965-3A74-4852-90FF-EF428D7B922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사건 여부·개인정보 범위 검토</a:t>
            </a:r>
          </a:p>
        </p:txBody>
      </p:sp>
      <p:sp>
        <p:nvSpPr>
          <p:cNvPr id="29" name="">
            <a:extLst xmlns:a="http://schemas.openxmlformats.org/drawingml/2006/main">
              <a:ext uri="{FF2B5EF4-FFF2-40B4-BE49-F238E27FC236}">
                <a16:creationId xmlns:a16="http://schemas.microsoft.com/office/drawing/2014/main" id="{665145D4-E9A2-4793-A303-EE49274B12B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6C6CFE7B-C137-4D3D-8D18-8A6A48B0735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기관별 답변 적합성과 병합 오류 분석</a:t>
            </a:r>
          </a:p>
        </p:txBody>
      </p:sp>
      <p:sp>
        <p:nvSpPr>
          <p:cNvPr id="31" name="">
            <a:extLst xmlns:a="http://schemas.openxmlformats.org/drawingml/2006/main">
              <a:ext uri="{FF2B5EF4-FFF2-40B4-BE49-F238E27FC236}">
                <a16:creationId xmlns:a16="http://schemas.microsoft.com/office/drawing/2014/main" id="{5332C757-C5E4-4F54-91B7-5F7E6B7762D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A35B23B0-541C-4097-A9BE-18023822CA0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군집 정답표·잘못된 병합 건·담당자 수정 이력</a:t>
            </a:r>
          </a:p>
        </p:txBody>
      </p:sp>
    </p:spTree>
    <p:extLst>
      <p:ext uri="{BB962C8B-B14F-4D97-AF65-F5344CB8AC3E}">
        <p14:creationId xmlns:p14="http://schemas.microsoft.com/office/powerpoint/2010/main" val="1923087707"/>
      </p:ext>
    </p:extLst>
  </p:cSld>
</p:sld>
</file>

<file path=ppt/slides/slide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1AF7AF8-C69E-47AA-A210-1CBAB7B30A6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CCK 비교·재현 시험 설계</a:t>
            </a:r>
          </a:p>
        </p:txBody>
      </p:sp>
      <p:sp>
        <p:nvSpPr>
          <p:cNvPr id="2" name="">
            <a:extLst xmlns:a="http://schemas.openxmlformats.org/drawingml/2006/main">
              <a:ext uri="{FF2B5EF4-FFF2-40B4-BE49-F238E27FC236}">
                <a16:creationId xmlns:a16="http://schemas.microsoft.com/office/drawing/2014/main" id="{559CBF0E-5DD2-4212-AC69-367DABF597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벤치마킹</a:t>
            </a:r>
          </a:p>
        </p:txBody>
      </p:sp>
      <p:sp>
        <p:nvSpPr>
          <p:cNvPr id="3" name="">
            <a:extLst xmlns:a="http://schemas.openxmlformats.org/drawingml/2006/main">
              <a:ext uri="{FF2B5EF4-FFF2-40B4-BE49-F238E27FC236}">
                <a16:creationId xmlns:a16="http://schemas.microsoft.com/office/drawing/2014/main" id="{65908D7B-E4B1-4B57-990B-9EC75CBBF02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674FC4-0210-4EE0-8465-D4BBDBB8A30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83D3DA6-F02D-409C-BC19-E083636E189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a:t>
            </a:r>
          </a:p>
        </p:txBody>
      </p:sp>
      <p:sp>
        <p:nvSpPr>
          <p:cNvPr id="6" name="">
            <a:extLst xmlns:a="http://schemas.openxmlformats.org/drawingml/2006/main">
              <a:ext uri="{FF2B5EF4-FFF2-40B4-BE49-F238E27FC236}">
                <a16:creationId xmlns:a16="http://schemas.microsoft.com/office/drawing/2014/main" id="{A4DF31FD-4CB6-49A0-BC96-D7DE221A87B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10203F0A-5B37-4F3E-A26B-EEBDF8EFD1EE}"/>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유사민원과 답변 추천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수정을 반영한 활용</a:t>
            </a:r>
          </a:p>
        </p:txBody>
      </p:sp>
      <p:sp>
        <p:nvSpPr>
          <p:cNvPr id="8" name="">
            <a:extLst xmlns:a="http://schemas.openxmlformats.org/drawingml/2006/main">
              <a:ext uri="{FF2B5EF4-FFF2-40B4-BE49-F238E27FC236}">
                <a16:creationId xmlns:a16="http://schemas.microsoft.com/office/drawing/2014/main" id="{6F90987D-1E19-4F3C-8F6D-B8CBE4E5460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46851F7-B463-4932-80E2-94E543C52479}"/>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사건의 무리한 병합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답변 추천을 공식 회신으로 오인</a:t>
            </a:r>
          </a:p>
        </p:txBody>
      </p:sp>
      <p:sp>
        <p:nvSpPr>
          <p:cNvPr id="10" name="">
            <a:extLst xmlns:a="http://schemas.openxmlformats.org/drawingml/2006/main">
              <a:ext uri="{FF2B5EF4-FFF2-40B4-BE49-F238E27FC236}">
                <a16:creationId xmlns:a16="http://schemas.microsoft.com/office/drawing/2014/main" id="{916BBCDC-7A12-449D-B604-B7451D81A5A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50AB55E-87E3-44D5-BB27-728728356CB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동일 사건 여부·개인정보 범위 검토</a:t>
            </a:r>
          </a:p>
        </p:txBody>
      </p:sp>
      <p:sp>
        <p:nvSpPr>
          <p:cNvPr id="12" name="">
            <a:extLst xmlns:a="http://schemas.openxmlformats.org/drawingml/2006/main">
              <a:ext uri="{FF2B5EF4-FFF2-40B4-BE49-F238E27FC236}">
                <a16:creationId xmlns:a16="http://schemas.microsoft.com/office/drawing/2014/main" id="{B77BAD97-B318-45A5-93BD-C1712F7AF2E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9EEB5C8-7004-4DA5-963D-67BC07F143A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사안의 반복 민원을 묶고 기관별 답변 초안 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a:t>
            </a:r>
          </a:p>
        </p:txBody>
      </p:sp>
      <p:sp>
        <p:nvSpPr>
          <p:cNvPr id="14" name="">
            <a:extLst xmlns:a="http://schemas.openxmlformats.org/drawingml/2006/main">
              <a:ext uri="{FF2B5EF4-FFF2-40B4-BE49-F238E27FC236}">
                <a16:creationId xmlns:a16="http://schemas.microsoft.com/office/drawing/2014/main" id="{E50522CA-0D51-442A-BEE4-28DDB445F57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9610A2B-2CB8-4C58-85E9-78573AE4D38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표현이 같은 다른 사건·소관기관 차이·반대 취지</a:t>
            </a:r>
          </a:p>
        </p:txBody>
      </p:sp>
      <p:sp>
        <p:nvSpPr>
          <p:cNvPr id="16" name="">
            <a:extLst xmlns:a="http://schemas.openxmlformats.org/drawingml/2006/main">
              <a:ext uri="{FF2B5EF4-FFF2-40B4-BE49-F238E27FC236}">
                <a16:creationId xmlns:a16="http://schemas.microsoft.com/office/drawing/2014/main" id="{F6296BC6-EFE6-426B-AC01-D492DF25A75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3E893BB-52CF-4CA7-87DA-17302EB3A9CD}"/>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군집 정답표·잘못된 병합 건·담당자 수정 이력</a:t>
            </a:r>
          </a:p>
        </p:txBody>
      </p:sp>
    </p:spTree>
    <p:extLst>
      <p:ext uri="{BB962C8B-B14F-4D97-AF65-F5344CB8AC3E}">
        <p14:creationId xmlns:p14="http://schemas.microsoft.com/office/powerpoint/2010/main" val="860143409"/>
      </p:ext>
    </p:extLst>
  </p:cSld>
</p:sld>
</file>

<file path=ppt/slides/slide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DE5BE47-5BA2-4D90-81C3-A7FA7E58A5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성과 미검증 / 국내</a:t>
            </a:r>
          </a:p>
        </p:txBody>
      </p:sp>
      <p:sp>
        <p:nvSpPr>
          <p:cNvPr id="2" name="">
            <a:extLst xmlns:a="http://schemas.openxmlformats.org/drawingml/2006/main">
              <a:ext uri="{FF2B5EF4-FFF2-40B4-BE49-F238E27FC236}">
                <a16:creationId xmlns:a16="http://schemas.microsoft.com/office/drawing/2014/main" id="{FC92BF02-7C1A-4073-B9B3-D559C8F9E71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a:t>
            </a:r>
          </a:p>
        </p:txBody>
      </p:sp>
      <p:sp>
        <p:nvSpPr>
          <p:cNvPr id="3" name="">
            <a:extLst xmlns:a="http://schemas.openxmlformats.org/drawingml/2006/main">
              <a:ext uri="{FF2B5EF4-FFF2-40B4-BE49-F238E27FC236}">
                <a16:creationId xmlns:a16="http://schemas.microsoft.com/office/drawing/2014/main" id="{12B97D00-4FAF-47E0-B573-F8205B5F399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86105A-422B-4A2B-8802-CC587F4F5A5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9D9548A-1F1B-4854-A305-525C2A7EF2E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21</a:t>
            </a:r>
          </a:p>
        </p:txBody>
      </p:sp>
      <p:sp>
        <p:nvSpPr>
          <p:cNvPr id="6" name="">
            <a:extLst xmlns:a="http://schemas.openxmlformats.org/drawingml/2006/main">
              <a:ext uri="{FF2B5EF4-FFF2-40B4-BE49-F238E27FC236}">
                <a16:creationId xmlns:a16="http://schemas.microsoft.com/office/drawing/2014/main" id="{30E3AA93-BF85-45F4-A4FF-968FDEAE922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7ADD7D7-5C68-4600-BC26-FEAC1F8711D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생산기술연구원의 기존 연구행정 검색·AI 환경에 직무별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검색, 에이전트 처리, 문서 생성, 운영 관리 기능을 추가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고도화. 연구직과 행정직의 관심 자료가 다른 상황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에서 동일 질의의 결과 순서를 다르게 구성하는 요구가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a:t>
            </a:r>
          </a:p>
        </p:txBody>
      </p:sp>
      <p:sp>
        <p:nvSpPr>
          <p:cNvPr id="8" name="">
            <a:extLst xmlns:a="http://schemas.openxmlformats.org/drawingml/2006/main">
              <a:ext uri="{FF2B5EF4-FFF2-40B4-BE49-F238E27FC236}">
                <a16:creationId xmlns:a16="http://schemas.microsoft.com/office/drawing/2014/main" id="{B3C70579-1B4D-424F-BE5E-E3153E13C83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7909A9D-D15F-430F-BD87-902BB198220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SFR-007은 부서·직무·검색 이력·진행 업무를 이용한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검색 최적화, SFR-009는 복합 질문의 태스크 분해와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도메인 에이전트 호출, SFR-010은 문서 양식·필수 항목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과제정보의 결합을 요구. 인사 연동과 역할별 접근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제어를 검색 추천보다 먼저 연결하는 설계.</a:t>
            </a:r>
          </a:p>
        </p:txBody>
      </p:sp>
      <p:sp>
        <p:nvSpPr>
          <p:cNvPr id="10" name="">
            <a:extLst xmlns:a="http://schemas.openxmlformats.org/drawingml/2006/main">
              <a:ext uri="{FF2B5EF4-FFF2-40B4-BE49-F238E27FC236}">
                <a16:creationId xmlns:a16="http://schemas.microsoft.com/office/drawing/2014/main" id="{9979CCFD-DFD6-412B-BA63-CF1BB8DB0D9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33D0F6E-6BC8-44B5-9C96-E4392B9A20E2}"/>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조직 네이티브 AI와 직접 비교할 지점은 공식 소속·직무</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를 검색 문맥으로 사용하는 방식. 추천 순위 개선과 접근권한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확대를 분리하고, 전보 전후 동일 질의의 검색 범위·서식·근</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거 차이를 검수할 필요. 기존 검색·LLM의 재사용과 조직 매</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핑 추가분의 구분.</a:t>
            </a:r>
          </a:p>
        </p:txBody>
      </p:sp>
      <p:sp>
        <p:nvSpPr>
          <p:cNvPr id="12" name="">
            <a:extLst xmlns:a="http://schemas.openxmlformats.org/drawingml/2006/main">
              <a:ext uri="{FF2B5EF4-FFF2-40B4-BE49-F238E27FC236}">
                <a16:creationId xmlns:a16="http://schemas.microsoft.com/office/drawing/2014/main" id="{A2699326-4E18-4E21-AEF9-636D8035D99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575B231-4DDC-4B23-A0D1-863ED3F0F99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사번–부서–직무–업무 연결 / 검색 재정렬 / 직무별 문서 양식</a:t>
            </a:r>
          </a:p>
        </p:txBody>
      </p:sp>
      <p:sp>
        <p:nvSpPr>
          <p:cNvPr id="14" name="">
            <a:extLst xmlns:a="http://schemas.openxmlformats.org/drawingml/2006/main">
              <a:ext uri="{FF2B5EF4-FFF2-40B4-BE49-F238E27FC236}">
                <a16:creationId xmlns:a16="http://schemas.microsoft.com/office/drawing/2014/main" id="{FCB55AC0-58EB-43BE-9ECF-AD91AFA152B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02C7AAD-3C34-49D1-8B44-39585C717C5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질의의 직무별 정답·문서 순위·서식 비교 및 전보 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시험</a:t>
            </a:r>
          </a:p>
        </p:txBody>
      </p:sp>
      <p:sp>
        <p:nvSpPr>
          <p:cNvPr id="16" name="">
            <a:extLst xmlns:a="http://schemas.openxmlformats.org/drawingml/2006/main">
              <a:ext uri="{FF2B5EF4-FFF2-40B4-BE49-F238E27FC236}">
                <a16:creationId xmlns:a16="http://schemas.microsoft.com/office/drawing/2014/main" id="{53467178-4DC8-43CB-851F-4F567F9FA06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D5BDFCC1-5727-4D59-80D1-907A2F27BB9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직무별 과업 성공률 / 검색·문서 작성시간 / 요청당 비용</a:t>
            </a:r>
          </a:p>
        </p:txBody>
      </p:sp>
      <p:sp>
        <p:nvSpPr>
          <p:cNvPr id="18" name="">
            <a:extLst xmlns:a="http://schemas.openxmlformats.org/drawingml/2006/main">
              <a:ext uri="{FF2B5EF4-FFF2-40B4-BE49-F238E27FC236}">
                <a16:creationId xmlns:a16="http://schemas.microsoft.com/office/drawing/2014/main" id="{DAD1F9F0-CF42-45F3-872F-6529E798AD02}"/>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연구원 외부 TechGPT 성과와 본 내부사업을 혼동하지 않음</a:t>
            </a:r>
          </a:p>
        </p:txBody>
      </p:sp>
    </p:spTree>
    <p:extLst>
      <p:ext uri="{BB962C8B-B14F-4D97-AF65-F5344CB8AC3E}">
        <p14:creationId xmlns:p14="http://schemas.microsoft.com/office/powerpoint/2010/main" val="220408473"/>
      </p:ext>
    </p:extLst>
  </p:cSld>
</p:sld>
</file>

<file path=ppt/slides/slide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9CC908B-BDAC-4A36-95F7-9923161F9CB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As-Is → To-Be → 기대효과 → 확인 결과</a:t>
            </a:r>
          </a:p>
        </p:txBody>
      </p:sp>
      <p:sp>
        <p:nvSpPr>
          <p:cNvPr id="2" name="">
            <a:extLst xmlns:a="http://schemas.openxmlformats.org/drawingml/2006/main">
              <a:ext uri="{FF2B5EF4-FFF2-40B4-BE49-F238E27FC236}">
                <a16:creationId xmlns:a16="http://schemas.microsoft.com/office/drawing/2014/main" id="{9D53ADD7-DD65-4B41-9673-9167EE30F32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기대와 결과</a:t>
            </a:r>
          </a:p>
        </p:txBody>
      </p:sp>
      <p:sp>
        <p:nvSpPr>
          <p:cNvPr id="3" name="">
            <a:extLst xmlns:a="http://schemas.openxmlformats.org/drawingml/2006/main">
              <a:ext uri="{FF2B5EF4-FFF2-40B4-BE49-F238E27FC236}">
                <a16:creationId xmlns:a16="http://schemas.microsoft.com/office/drawing/2014/main" id="{78666E30-1DE0-4716-B333-9D5D6C1ACB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8ECC42B-B4AA-4EFA-8E05-BF2D7FF4601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DC6046F-3C29-49AC-B3FD-DD8801ECB3F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22</a:t>
            </a:r>
          </a:p>
        </p:txBody>
      </p:sp>
      <p:sp>
        <p:nvSpPr>
          <p:cNvPr id="6" name="">
            <a:extLst xmlns:a="http://schemas.openxmlformats.org/drawingml/2006/main">
              <a:ext uri="{FF2B5EF4-FFF2-40B4-BE49-F238E27FC236}">
                <a16:creationId xmlns:a16="http://schemas.microsoft.com/office/drawing/2014/main" id="{5015EE78-FF87-4F74-9BEE-0BA7B5740BAE}"/>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13611196-4205-45C7-B8B2-3B139A4BDA12}"/>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연구행정 정보시스템과 검색·문서 작성 기능을 직원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 각각 사용하는 상태</a:t>
            </a:r>
          </a:p>
        </p:txBody>
      </p:sp>
      <p:sp>
        <p:nvSpPr>
          <p:cNvPr id="8" name="">
            <a:extLst xmlns:a="http://schemas.openxmlformats.org/drawingml/2006/main">
              <a:ext uri="{FF2B5EF4-FFF2-40B4-BE49-F238E27FC236}">
                <a16:creationId xmlns:a16="http://schemas.microsoft.com/office/drawing/2014/main" id="{3BC3D602-6FA4-42C1-9401-684485A2FA60}"/>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EA5259D6-90F3-4FA7-A58B-CFB2B043A11A}"/>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소속·직무·권한을 검색 재정렬과 연구행정 에이전트·정형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생성에 연결</a:t>
            </a:r>
          </a:p>
        </p:txBody>
      </p:sp>
      <p:sp>
        <p:nvSpPr>
          <p:cNvPr id="10" name="">
            <a:extLst xmlns:a="http://schemas.openxmlformats.org/drawingml/2006/main">
              <a:ext uri="{FF2B5EF4-FFF2-40B4-BE49-F238E27FC236}">
                <a16:creationId xmlns:a16="http://schemas.microsoft.com/office/drawing/2014/main" id="{6DE5875D-E417-400D-8611-F73EC9D850A7}"/>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278DDF7-DBF0-4CD7-A433-6133FB8A2731}"/>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검색·문서 작성시간 감소와 과업 성공률 향상</a:t>
            </a:r>
          </a:p>
        </p:txBody>
      </p:sp>
      <p:sp>
        <p:nvSpPr>
          <p:cNvPr id="12" name="">
            <a:extLst xmlns:a="http://schemas.openxmlformats.org/drawingml/2006/main">
              <a:ext uri="{FF2B5EF4-FFF2-40B4-BE49-F238E27FC236}">
                <a16:creationId xmlns:a16="http://schemas.microsoft.com/office/drawing/2014/main" id="{47AB47D0-6172-4D1C-9F52-64A67D43C99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54A987DA-49B5-48B0-9C03-9F60E5928ED4}"/>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후속 고도화 RFP 확인. 제시된 정보시스템 그림은 기존 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황이며 AI 목표 배치·계약·운영 성과 미확인</a:t>
            </a:r>
          </a:p>
        </p:txBody>
      </p:sp>
      <p:sp>
        <p:nvSpPr>
          <p:cNvPr id="14" name="">
            <a:extLst xmlns:a="http://schemas.openxmlformats.org/drawingml/2006/main">
              <a:ext uri="{FF2B5EF4-FFF2-40B4-BE49-F238E27FC236}">
                <a16:creationId xmlns:a16="http://schemas.microsoft.com/office/drawing/2014/main" id="{EAC6E2C5-5900-4FE5-8510-EB7411A2F913}"/>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기존 시스템 현황을 신규 AI 구현 성과로 볼 수 없고 전후 비교값 없음</a:t>
            </a:r>
          </a:p>
        </p:txBody>
      </p:sp>
      <p:sp>
        <p:nvSpPr>
          <p:cNvPr id="15" name="">
            <a:extLst xmlns:a="http://schemas.openxmlformats.org/drawingml/2006/main">
              <a:ext uri="{FF2B5EF4-FFF2-40B4-BE49-F238E27FC236}">
                <a16:creationId xmlns:a16="http://schemas.microsoft.com/office/drawing/2014/main" id="{9D89B2E1-8FF8-4181-9916-46A47DD791E8}"/>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후속 RFP 목표 · 외부 TechGPT 성과와 별도 사업; 전보 후 권한 및 부서별 토큰비용 검수 필요</a:t>
            </a:r>
          </a:p>
        </p:txBody>
      </p:sp>
    </p:spTree>
    <p:extLst>
      <p:ext uri="{BB962C8B-B14F-4D97-AF65-F5344CB8AC3E}">
        <p14:creationId xmlns:p14="http://schemas.microsoft.com/office/powerpoint/2010/main" val="982051337"/>
      </p:ext>
    </p:extLst>
  </p:cSld>
</p:sld>
</file>

<file path=ppt/slides/slide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AC199A9-A00E-4FB0-92C4-9E3A0AC8D97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1–3</a:t>
            </a:r>
          </a:p>
        </p:txBody>
      </p:sp>
      <p:sp>
        <p:nvSpPr>
          <p:cNvPr id="2" name="">
            <a:extLst xmlns:a="http://schemas.openxmlformats.org/drawingml/2006/main">
              <a:ext uri="{FF2B5EF4-FFF2-40B4-BE49-F238E27FC236}">
                <a16:creationId xmlns:a16="http://schemas.microsoft.com/office/drawing/2014/main" id="{A12DA6C2-6E31-4CF0-9015-8AB5C3D0C3B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A3255FD5-7ED5-4876-B288-72F0D7EE5F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51D5625-4C0F-4EA6-8222-92D946AC15D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3DF4970-FA96-4A06-8EAD-778968FD857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23</a:t>
            </a:r>
          </a:p>
        </p:txBody>
      </p:sp>
      <p:sp>
        <p:nvSpPr>
          <p:cNvPr id="6" name="">
            <a:extLst xmlns:a="http://schemas.openxmlformats.org/drawingml/2006/main">
              <a:ext uri="{FF2B5EF4-FFF2-40B4-BE49-F238E27FC236}">
                <a16:creationId xmlns:a16="http://schemas.microsoft.com/office/drawing/2014/main" id="{97182309-3D41-4B55-A037-4BD7BE5EC0E4}"/>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C37680-45ED-4990-BB76-669DB534319C}"/>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SFR-002 Agent 일반 사항</a:t>
            </a:r>
          </a:p>
        </p:txBody>
      </p:sp>
      <p:sp>
        <p:nvSpPr>
          <p:cNvPr id="8" name="">
            <a:extLst xmlns:a="http://schemas.openxmlformats.org/drawingml/2006/main">
              <a:ext uri="{FF2B5EF4-FFF2-40B4-BE49-F238E27FC236}">
                <a16:creationId xmlns:a16="http://schemas.microsoft.com/office/drawing/2014/main" id="{76EE6FB0-F3FC-464E-A33B-91FE93080C17}"/>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MCP 도구 등을 이용한 에이전트 실행의 공통 기능 구성.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요청과 도구 호출의 연결 관리.</a:t>
            </a:r>
          </a:p>
        </p:txBody>
      </p:sp>
      <p:sp>
        <p:nvSpPr>
          <p:cNvPr id="9" name="">
            <a:extLst xmlns:a="http://schemas.openxmlformats.org/drawingml/2006/main">
              <a:ext uri="{FF2B5EF4-FFF2-40B4-BE49-F238E27FC236}">
                <a16:creationId xmlns:a16="http://schemas.microsoft.com/office/drawing/2014/main" id="{B364852F-37B7-4B7C-93CD-28DEDE9D471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미등록 도구·잘못된 인자·호출 실패 상황의 실행 보류와 오류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반환 확인</a:t>
            </a:r>
          </a:p>
        </p:txBody>
      </p:sp>
      <p:sp>
        <p:nvSpPr>
          <p:cNvPr id="10" name="">
            <a:extLst xmlns:a="http://schemas.openxmlformats.org/drawingml/2006/main">
              <a:ext uri="{FF2B5EF4-FFF2-40B4-BE49-F238E27FC236}">
                <a16:creationId xmlns:a16="http://schemas.microsoft.com/office/drawing/2014/main" id="{25FFA1EA-164F-4B61-BC84-59148198A27B}"/>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1E1413-851C-4151-9F87-1E98DF9030DD}"/>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접근 및 권한관리</a:t>
            </a:r>
          </a:p>
        </p:txBody>
      </p:sp>
      <p:sp>
        <p:nvSpPr>
          <p:cNvPr id="12" name="">
            <a:extLst xmlns:a="http://schemas.openxmlformats.org/drawingml/2006/main">
              <a:ext uri="{FF2B5EF4-FFF2-40B4-BE49-F238E27FC236}">
                <a16:creationId xmlns:a16="http://schemas.microsoft.com/office/drawing/2014/main" id="{DBDA22E1-F691-43FE-B76C-D41CCCBD78C7}"/>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인사·조직 정보를 반영한 접근 및 권한 관리. 사용자 역할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 맞는 데이터·기능 범위 적용.</a:t>
            </a:r>
          </a:p>
        </p:txBody>
      </p:sp>
      <p:sp>
        <p:nvSpPr>
          <p:cNvPr id="13" name="">
            <a:extLst xmlns:a="http://schemas.openxmlformats.org/drawingml/2006/main">
              <a:ext uri="{FF2B5EF4-FFF2-40B4-BE49-F238E27FC236}">
                <a16:creationId xmlns:a16="http://schemas.microsoft.com/office/drawing/2014/main" id="{959DE9D4-7D5E-441C-9FA8-55B7BBCF246B}"/>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전보·겸직·퇴직·권한 해제 시 검색과 실행 양쪽의 접근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비교</a:t>
            </a:r>
          </a:p>
        </p:txBody>
      </p:sp>
      <p:sp>
        <p:nvSpPr>
          <p:cNvPr id="14" name="">
            <a:extLst xmlns:a="http://schemas.openxmlformats.org/drawingml/2006/main">
              <a:ext uri="{FF2B5EF4-FFF2-40B4-BE49-F238E27FC236}">
                <a16:creationId xmlns:a16="http://schemas.microsoft.com/office/drawing/2014/main" id="{8A334DD1-ACCA-48B8-ACAA-143933CB1202}"/>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8545CE9-DCAF-4D99-A635-5CDCEDAEAAAB}"/>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데이터 통합 파이프라인 구축</a:t>
            </a:r>
          </a:p>
        </p:txBody>
      </p:sp>
      <p:sp>
        <p:nvSpPr>
          <p:cNvPr id="16" name="">
            <a:extLst xmlns:a="http://schemas.openxmlformats.org/drawingml/2006/main">
              <a:ext uri="{FF2B5EF4-FFF2-40B4-BE49-F238E27FC236}">
                <a16:creationId xmlns:a16="http://schemas.microsoft.com/office/drawing/2014/main" id="{19168005-553C-4426-8446-7326F01F1630}"/>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분산 데이터를 수집·정제·연계하는 통합 파이프라인 구축.</a:t>
            </a:r>
          </a:p>
        </p:txBody>
      </p:sp>
      <p:sp>
        <p:nvSpPr>
          <p:cNvPr id="17" name="">
            <a:extLst xmlns:a="http://schemas.openxmlformats.org/drawingml/2006/main">
              <a:ext uri="{FF2B5EF4-FFF2-40B4-BE49-F238E27FC236}">
                <a16:creationId xmlns:a16="http://schemas.microsoft.com/office/drawing/2014/main" id="{409198F4-F228-4467-89C0-53C9C6CB3F7E}"/>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파일 형식 오류·중복·갱신·삭제 자료의 재처리와 원천-색인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건수 대사</a:t>
            </a:r>
          </a:p>
        </p:txBody>
      </p:sp>
    </p:spTree>
    <p:extLst>
      <p:ext uri="{BB962C8B-B14F-4D97-AF65-F5344CB8AC3E}">
        <p14:creationId xmlns:p14="http://schemas.microsoft.com/office/powerpoint/2010/main" val="483220566"/>
      </p:ext>
    </p:extLst>
  </p:cSld>
</p:sld>
</file>

<file path=ppt/slides/slide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AC1C7E0-61FD-4E3E-BE99-0B7BAD4D730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4–6</a:t>
            </a:r>
          </a:p>
        </p:txBody>
      </p:sp>
      <p:sp>
        <p:nvSpPr>
          <p:cNvPr id="2" name="">
            <a:extLst xmlns:a="http://schemas.openxmlformats.org/drawingml/2006/main">
              <a:ext uri="{FF2B5EF4-FFF2-40B4-BE49-F238E27FC236}">
                <a16:creationId xmlns:a16="http://schemas.microsoft.com/office/drawing/2014/main" id="{27A73251-0319-4BDF-872C-A17D2527B44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305B73C3-B2C0-40B3-99F2-846B735E5E0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6838D75-C37E-40A1-A015-56DAB9F354E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5425729-04CB-4D75-B586-17527144A98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24</a:t>
            </a:r>
          </a:p>
        </p:txBody>
      </p:sp>
      <p:sp>
        <p:nvSpPr>
          <p:cNvPr id="6" name="">
            <a:extLst xmlns:a="http://schemas.openxmlformats.org/drawingml/2006/main">
              <a:ext uri="{FF2B5EF4-FFF2-40B4-BE49-F238E27FC236}">
                <a16:creationId xmlns:a16="http://schemas.microsoft.com/office/drawing/2014/main" id="{82C9DBC6-5E4C-48CA-944F-2B2E8247F08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974E038-E825-4260-B0E0-B1A692F76CB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AI 기반 지능형 검색 서비스</a:t>
            </a:r>
          </a:p>
        </p:txBody>
      </p:sp>
      <p:sp>
        <p:nvSpPr>
          <p:cNvPr id="8" name="">
            <a:extLst xmlns:a="http://schemas.openxmlformats.org/drawingml/2006/main">
              <a:ext uri="{FF2B5EF4-FFF2-40B4-BE49-F238E27FC236}">
                <a16:creationId xmlns:a16="http://schemas.microsoft.com/office/drawing/2014/main" id="{39BB1D85-F2C5-429D-9F7F-19F192A96B0D}"/>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부서·직무·사용 이력 등을 반영한 AI 검색과 결과 재정렬.</a:t>
            </a:r>
          </a:p>
        </p:txBody>
      </p:sp>
      <p:sp>
        <p:nvSpPr>
          <p:cNvPr id="9" name="">
            <a:extLst xmlns:a="http://schemas.openxmlformats.org/drawingml/2006/main">
              <a:ext uri="{FF2B5EF4-FFF2-40B4-BE49-F238E27FC236}">
                <a16:creationId xmlns:a16="http://schemas.microsoft.com/office/drawing/2014/main" id="{00BD6B30-D4BC-406F-A6F7-17A710FA722D}"/>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연구직·행정직의 동일 질의에서 관련성 변화와 권한 밖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제외를 함께 평가</a:t>
            </a:r>
          </a:p>
        </p:txBody>
      </p:sp>
      <p:sp>
        <p:nvSpPr>
          <p:cNvPr id="10" name="">
            <a:extLst xmlns:a="http://schemas.openxmlformats.org/drawingml/2006/main">
              <a:ext uri="{FF2B5EF4-FFF2-40B4-BE49-F238E27FC236}">
                <a16:creationId xmlns:a16="http://schemas.microsoft.com/office/drawing/2014/main" id="{A86BBD2B-8671-4952-B4D5-31D5F201A093}"/>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6C3BDC-0931-4705-8A84-C5130421BE39}"/>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멀티 모델 적용</a:t>
            </a:r>
          </a:p>
        </p:txBody>
      </p:sp>
      <p:sp>
        <p:nvSpPr>
          <p:cNvPr id="12" name="">
            <a:extLst xmlns:a="http://schemas.openxmlformats.org/drawingml/2006/main">
              <a:ext uri="{FF2B5EF4-FFF2-40B4-BE49-F238E27FC236}">
                <a16:creationId xmlns:a16="http://schemas.microsoft.com/office/drawing/2014/main" id="{8078A057-3C6D-4B13-B797-9960ACF9EC24}"/>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복수 모델의 적용·선택·비교를 지원하는 멀티모델 구조.</a:t>
            </a:r>
          </a:p>
        </p:txBody>
      </p:sp>
      <p:sp>
        <p:nvSpPr>
          <p:cNvPr id="13" name="">
            <a:extLst xmlns:a="http://schemas.openxmlformats.org/drawingml/2006/main">
              <a:ext uri="{FF2B5EF4-FFF2-40B4-BE49-F238E27FC236}">
                <a16:creationId xmlns:a16="http://schemas.microsoft.com/office/drawing/2014/main" id="{A5429B5D-FC3F-470E-B318-8DF300EC09C9}"/>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같은 입력의 모델별 정확성·시간·비용과 오류 발생 시 처리 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로 비교</a:t>
            </a:r>
          </a:p>
        </p:txBody>
      </p:sp>
      <p:sp>
        <p:nvSpPr>
          <p:cNvPr id="14" name="">
            <a:extLst xmlns:a="http://schemas.openxmlformats.org/drawingml/2006/main">
              <a:ext uri="{FF2B5EF4-FFF2-40B4-BE49-F238E27FC236}">
                <a16:creationId xmlns:a16="http://schemas.microsoft.com/office/drawing/2014/main" id="{1C81C94E-CD62-494C-96A1-9561EB6FB3AE}"/>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EF7E2BC-517E-464A-8614-F7E0165BB1C2}"/>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SFR-009 지능형 질의응답 고도화 체계 구축</a:t>
            </a:r>
          </a:p>
        </p:txBody>
      </p:sp>
      <p:sp>
        <p:nvSpPr>
          <p:cNvPr id="16" name="">
            <a:extLst xmlns:a="http://schemas.openxmlformats.org/drawingml/2006/main">
              <a:ext uri="{FF2B5EF4-FFF2-40B4-BE49-F238E27FC236}">
                <a16:creationId xmlns:a16="http://schemas.microsoft.com/office/drawing/2014/main" id="{DBD83F75-195D-4492-85C0-632ED97F0C46}"/>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질의의 업무 계획 수립과 도메인 에이전트 연결을 통한 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의응답 고도화.</a:t>
            </a:r>
          </a:p>
        </p:txBody>
      </p:sp>
      <p:sp>
        <p:nvSpPr>
          <p:cNvPr id="17" name="">
            <a:extLst xmlns:a="http://schemas.openxmlformats.org/drawingml/2006/main">
              <a:ext uri="{FF2B5EF4-FFF2-40B4-BE49-F238E27FC236}">
                <a16:creationId xmlns:a16="http://schemas.microsoft.com/office/drawing/2014/main" id="{AE88DA0C-920B-4EA0-B7DF-1E44D3501915}"/>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계획 일부 실패·불필요한 도구 호출·담당 영역 혼동 시 중단·</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재계획 경로 확인</a:t>
            </a:r>
          </a:p>
        </p:txBody>
      </p:sp>
    </p:spTree>
    <p:extLst>
      <p:ext uri="{BB962C8B-B14F-4D97-AF65-F5344CB8AC3E}">
        <p14:creationId xmlns:p14="http://schemas.microsoft.com/office/powerpoint/2010/main" val="1180612543"/>
      </p:ext>
    </p:extLst>
  </p:cSld>
</p:sld>
</file>

<file path=ppt/slides/slide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8BD56F-68A7-4C58-B5E4-A615CF1DE3A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7–8</a:t>
            </a:r>
          </a:p>
        </p:txBody>
      </p:sp>
      <p:sp>
        <p:nvSpPr>
          <p:cNvPr id="2" name="">
            <a:extLst xmlns:a="http://schemas.openxmlformats.org/drawingml/2006/main">
              <a:ext uri="{FF2B5EF4-FFF2-40B4-BE49-F238E27FC236}">
                <a16:creationId xmlns:a16="http://schemas.microsoft.com/office/drawing/2014/main" id="{B681518F-065E-4E13-BE29-E91CDEB9A74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726B2E2D-0469-4BFB-8E9B-FEAF9C91EF5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69EAAE-32AD-4B29-94FE-364FBAF7CD0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29B54CC-B06F-4EFA-80FF-89D718CFD66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25</a:t>
            </a:r>
          </a:p>
        </p:txBody>
      </p:sp>
      <p:sp>
        <p:nvSpPr>
          <p:cNvPr id="6" name="">
            <a:extLst xmlns:a="http://schemas.openxmlformats.org/drawingml/2006/main">
              <a:ext uri="{FF2B5EF4-FFF2-40B4-BE49-F238E27FC236}">
                <a16:creationId xmlns:a16="http://schemas.microsoft.com/office/drawing/2014/main" id="{B00B35EF-993C-4FAE-975A-9B0117DF7B59}"/>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2F15D3-7807-4FDC-B6DB-9E797B0A071E}"/>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SFR-010 문서 자동 생성 지원</a:t>
            </a:r>
          </a:p>
        </p:txBody>
      </p:sp>
      <p:sp>
        <p:nvSpPr>
          <p:cNvPr id="8" name="">
            <a:extLst xmlns:a="http://schemas.openxmlformats.org/drawingml/2006/main">
              <a:ext uri="{FF2B5EF4-FFF2-40B4-BE49-F238E27FC236}">
                <a16:creationId xmlns:a16="http://schemas.microsoft.com/office/drawing/2014/main" id="{5DF2635F-1B0D-45BA-824F-A87947C44B0C}"/>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템플릿·메타데이터·내부 자료를 활용한 정형 문서 생성 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a:t>
            </a:r>
          </a:p>
        </p:txBody>
      </p:sp>
      <p:sp>
        <p:nvSpPr>
          <p:cNvPr id="9" name="">
            <a:extLst xmlns:a="http://schemas.openxmlformats.org/drawingml/2006/main">
              <a:ext uri="{FF2B5EF4-FFF2-40B4-BE49-F238E27FC236}">
                <a16:creationId xmlns:a16="http://schemas.microsoft.com/office/drawing/2014/main" id="{83D6A91E-2F8D-470B-ABD7-E282642FA33B}"/>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항목 누락·다른 양식 판본·숫자 인용 오류의 검출과 사용</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 수정 확인</a:t>
            </a:r>
          </a:p>
        </p:txBody>
      </p:sp>
      <p:sp>
        <p:nvSpPr>
          <p:cNvPr id="10" name="">
            <a:extLst xmlns:a="http://schemas.openxmlformats.org/drawingml/2006/main">
              <a:ext uri="{FF2B5EF4-FFF2-40B4-BE49-F238E27FC236}">
                <a16:creationId xmlns:a16="http://schemas.microsoft.com/office/drawing/2014/main" id="{D95D8088-C696-446D-9B64-7B8131277434}"/>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992D83-13A8-4F1F-940E-B9F6A5A9F97D}"/>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SFR-012 AI 서비스 운영 모니터링 체계구축</a:t>
            </a:r>
          </a:p>
        </p:txBody>
      </p:sp>
      <p:sp>
        <p:nvSpPr>
          <p:cNvPr id="12" name="">
            <a:extLst xmlns:a="http://schemas.openxmlformats.org/drawingml/2006/main">
              <a:ext uri="{FF2B5EF4-FFF2-40B4-BE49-F238E27FC236}">
                <a16:creationId xmlns:a16="http://schemas.microsoft.com/office/drawing/2014/main" id="{1FCBBBD4-318A-430C-ADAE-5FFF71EA90D2}"/>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서비스의 처리·이용·품질 상태를 확인하는 운영 모니터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링 체계.</a:t>
            </a:r>
          </a:p>
        </p:txBody>
      </p:sp>
      <p:sp>
        <p:nvSpPr>
          <p:cNvPr id="13" name="">
            <a:extLst xmlns:a="http://schemas.openxmlformats.org/drawingml/2006/main">
              <a:ext uri="{FF2B5EF4-FFF2-40B4-BE49-F238E27FC236}">
                <a16:creationId xmlns:a16="http://schemas.microsoft.com/office/drawing/2014/main" id="{D43CB877-6AE5-430D-A0B9-31B9C89221A3}"/>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 요청의 검색·모델·도구 단계를 연결해 실패 지점과 지연 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 추적</a:t>
            </a:r>
          </a:p>
        </p:txBody>
      </p:sp>
    </p:spTree>
    <p:extLst>
      <p:ext uri="{BB962C8B-B14F-4D97-AF65-F5344CB8AC3E}">
        <p14:creationId xmlns:p14="http://schemas.microsoft.com/office/powerpoint/2010/main" val="1134499377"/>
      </p:ext>
    </p:extLst>
  </p:cSld>
</p:sld>
</file>

<file path=ppt/slides/slide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E1EC65-7DA0-4DBA-BF1F-F8C485DA307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수록 기존 정보시스템 현황 / RFP 원문 추출</a:t>
            </a:r>
          </a:p>
        </p:txBody>
      </p:sp>
      <p:sp>
        <p:nvSpPr>
          <p:cNvPr id="2" name="">
            <a:extLst xmlns:a="http://schemas.openxmlformats.org/drawingml/2006/main">
              <a:ext uri="{FF2B5EF4-FFF2-40B4-BE49-F238E27FC236}">
                <a16:creationId xmlns:a16="http://schemas.microsoft.com/office/drawing/2014/main" id="{8B2D9FB4-4A86-4121-97C2-F90D1A54E2A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정보시스템 연계</a:t>
            </a:r>
          </a:p>
        </p:txBody>
      </p:sp>
      <p:sp>
        <p:nvSpPr>
          <p:cNvPr id="3" name="">
            <a:extLst xmlns:a="http://schemas.openxmlformats.org/drawingml/2006/main">
              <a:ext uri="{FF2B5EF4-FFF2-40B4-BE49-F238E27FC236}">
                <a16:creationId xmlns:a16="http://schemas.microsoft.com/office/drawing/2014/main" id="{53E0D9E5-C9A1-43C2-9DFB-D9E3FAC5498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CD1867-19D4-4A44-8489-F3EE28185BC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6486B65-F2D0-4102-843E-44C25B67478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26</a:t>
            </a:r>
          </a:p>
        </p:txBody>
      </p:sp>
      <p:pic>
        <p:nvPicPr>
          <p:cNvPr id="6" name="">
            <a:extLst xmlns:a="http://schemas.openxmlformats.org/drawingml/2006/main">
              <a:ext uri="{FF2B5EF4-FFF2-40B4-BE49-F238E27FC236}">
                <a16:creationId xmlns:a16="http://schemas.microsoft.com/office/drawing/2014/main" id="{BC2BFFA7-386F-4296-A5F2-557AFCEA9558}"/>
              </a:ext>
            </a:extLst>
          </p:cNvPr>
          <p:cNvPicPr>
            <a:picLocks xmlns:a="http://schemas.openxmlformats.org/drawingml/2006/main" noChangeAspect="1"/>
          </p:cNvPicPr>
          <p:nvPr/>
        </p:nvPicPr>
        <p:blipFill>
          <a:blip xmlns:r="http://schemas.openxmlformats.org/officeDocument/2006/relationships" xmlns:a="http://schemas.openxmlformats.org/drawingml/2006/main" r:embed="R479cdd15cf644893"/>
          <a:stretch xmlns:a="http://schemas.openxmlformats.org/drawingml/2006/main"/>
        </p:blipFill>
        <p:spPr>
          <a:xfrm xmlns:a="http://schemas.openxmlformats.org/drawingml/2006/main">
            <a:off x="2273908" y="1657350"/>
            <a:ext cx="7644183"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DCF577A-9F52-4BC4-BD47-CEE45639011C}"/>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연구행정·경영정보·업무지원·지능형 포털 간 연계</a:t>
            </a:r>
          </a:p>
        </p:txBody>
      </p:sp>
    </p:spTree>
    <p:extLst>
      <p:ext uri="{BB962C8B-B14F-4D97-AF65-F5344CB8AC3E}">
        <p14:creationId xmlns:p14="http://schemas.microsoft.com/office/powerpoint/2010/main" val="134079236"/>
      </p:ext>
    </p:extLst>
  </p:cSld>
</p:sld>
</file>

<file path=ppt/slides/slide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B54B1C3-9607-4AC9-9047-B127335E1693}"/>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8A51B0C-0539-4E88-85B7-64A066B5C7A9}"/>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01978CE6-BBFE-4D1C-A0AA-26CC05AEFEBA}"/>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B784F2FE-1BD3-4884-B9D7-2BB845D17712}"/>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80A3959C-B7C8-4A89-B58E-BC8E5AEB558C}"/>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08C02C1-86BA-4ABB-BFD0-66AC9ABD3A39}"/>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98B23B22-D786-4D28-BB77-87F8285EBE7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E69E7EC-2678-465A-97C0-0C7CE0FB734E}"/>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277CABDB-F3FA-4B23-A3B7-661ACC3B883E}"/>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1C1B151C-F0EE-4A00-A283-FC195724D10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지식 갱신·검색·근거 응답</a:t>
            </a:r>
          </a:p>
        </p:txBody>
      </p:sp>
      <p:sp>
        <p:nvSpPr>
          <p:cNvPr id="2" name="">
            <a:extLst xmlns:a="http://schemas.openxmlformats.org/drawingml/2006/main">
              <a:ext uri="{FF2B5EF4-FFF2-40B4-BE49-F238E27FC236}">
                <a16:creationId xmlns:a16="http://schemas.microsoft.com/office/drawing/2014/main" id="{6043DBB5-3BAC-4B22-AE6B-5711AB3ABF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세부 서비스 구조</a:t>
            </a:r>
          </a:p>
        </p:txBody>
      </p:sp>
      <p:sp>
        <p:nvSpPr>
          <p:cNvPr id="3" name="">
            <a:extLst xmlns:a="http://schemas.openxmlformats.org/drawingml/2006/main">
              <a:ext uri="{FF2B5EF4-FFF2-40B4-BE49-F238E27FC236}">
                <a16:creationId xmlns:a16="http://schemas.microsoft.com/office/drawing/2014/main" id="{6554F2D9-FF3C-45B5-919F-B7D2D1C58A9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A02778-F8C3-4A26-B10C-CE1982F5DD0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675B1C2-C727-400C-A240-7795195D25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27</a:t>
            </a:r>
          </a:p>
        </p:txBody>
      </p:sp>
      <p:sp>
        <p:nvSpPr>
          <p:cNvPr id="6" name="">
            <a:extLst xmlns:a="http://schemas.openxmlformats.org/drawingml/2006/main">
              <a:ext uri="{FF2B5EF4-FFF2-40B4-BE49-F238E27FC236}">
                <a16:creationId xmlns:a16="http://schemas.microsoft.com/office/drawing/2014/main" id="{43E807EC-1E27-4437-B467-254B4A0D976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직원·직무 → 검색 재정렬 → 업무 에이전트 → 문서·운영 관리</a:t>
            </a:r>
          </a:p>
        </p:txBody>
      </p:sp>
      <p:sp>
        <p:nvSpPr>
          <p:cNvPr id="7" name="">
            <a:extLst xmlns:a="http://schemas.openxmlformats.org/drawingml/2006/main">
              <a:ext uri="{FF2B5EF4-FFF2-40B4-BE49-F238E27FC236}">
                <a16:creationId xmlns:a16="http://schemas.microsoft.com/office/drawing/2014/main" id="{67E9B733-80DA-48F3-877B-925F05DB29F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5371691-0D9A-466D-B8F5-9F4444CB4E9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9A1A1070-2E9D-4E14-A802-F0928BEF5F6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연구행정 자료</a:t>
            </a:r>
          </a:p>
        </p:txBody>
      </p:sp>
      <p:sp>
        <p:nvSpPr>
          <p:cNvPr id="10" name="">
            <a:extLst xmlns:a="http://schemas.openxmlformats.org/drawingml/2006/main">
              <a:ext uri="{FF2B5EF4-FFF2-40B4-BE49-F238E27FC236}">
                <a16:creationId xmlns:a16="http://schemas.microsoft.com/office/drawing/2014/main" id="{A34956D2-CFAF-4DF7-8F4D-1BD6722B67F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B10F4F4-E5F9-4D70-AE7A-B1BCE4109213}"/>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5E5054AA-E3D5-4E30-94EC-24D3536A8C6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목차·문서 구조화</a:t>
            </a:r>
          </a:p>
        </p:txBody>
      </p:sp>
      <p:sp>
        <p:nvSpPr>
          <p:cNvPr id="13" name="">
            <a:extLst xmlns:a="http://schemas.openxmlformats.org/drawingml/2006/main">
              <a:ext uri="{FF2B5EF4-FFF2-40B4-BE49-F238E27FC236}">
                <a16:creationId xmlns:a16="http://schemas.microsoft.com/office/drawing/2014/main" id="{9CBAF896-FEA2-4B68-9FA0-C61A7FA9F82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5ED4731-9161-45A5-AA4A-78AE3E90D62E}"/>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09064D38-545E-4DC3-9457-05759333FC9A}"/>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지식·색인</a:t>
            </a:r>
          </a:p>
        </p:txBody>
      </p:sp>
      <p:sp>
        <p:nvSpPr>
          <p:cNvPr id="16" name="">
            <a:extLst xmlns:a="http://schemas.openxmlformats.org/drawingml/2006/main">
              <a:ext uri="{FF2B5EF4-FFF2-40B4-BE49-F238E27FC236}">
                <a16:creationId xmlns:a16="http://schemas.microsoft.com/office/drawing/2014/main" id="{F7094342-531F-4E84-9668-A395792DEB5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C7985577-823C-4E44-9B0E-F991B989DAC6}"/>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C99AF73D-7BAE-4C46-A1C5-1CDA0267D68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검색 재정렬</a:t>
            </a:r>
          </a:p>
        </p:txBody>
      </p:sp>
      <p:sp>
        <p:nvSpPr>
          <p:cNvPr id="19" name="">
            <a:extLst xmlns:a="http://schemas.openxmlformats.org/drawingml/2006/main">
              <a:ext uri="{FF2B5EF4-FFF2-40B4-BE49-F238E27FC236}">
                <a16:creationId xmlns:a16="http://schemas.microsoft.com/office/drawing/2014/main" id="{24567269-F2A7-4A32-B88C-61C0DD9C8831}"/>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B809C15-CEFF-4FBB-9BFF-D50F9D5650D2}"/>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2AA896E1-B871-47E8-8507-F74121F0712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연구행정 접점</a:t>
            </a:r>
          </a:p>
        </p:txBody>
      </p:sp>
      <p:sp>
        <p:nvSpPr>
          <p:cNvPr id="22" name="">
            <a:extLst xmlns:a="http://schemas.openxmlformats.org/drawingml/2006/main">
              <a:ext uri="{FF2B5EF4-FFF2-40B4-BE49-F238E27FC236}">
                <a16:creationId xmlns:a16="http://schemas.microsoft.com/office/drawing/2014/main" id="{7EC4863C-731C-4396-8274-4F2EE98C1059}"/>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382794F-85CB-4284-901C-3B70BC1A4D45}"/>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C97F2B95-D59F-4FEB-BF9D-51857154943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소속·직무·이력</a:t>
            </a:r>
          </a:p>
        </p:txBody>
      </p:sp>
      <p:sp>
        <p:nvSpPr>
          <p:cNvPr id="25" name="">
            <a:extLst xmlns:a="http://schemas.openxmlformats.org/drawingml/2006/main">
              <a:ext uri="{FF2B5EF4-FFF2-40B4-BE49-F238E27FC236}">
                <a16:creationId xmlns:a16="http://schemas.microsoft.com/office/drawing/2014/main" id="{2704DA5D-B6D3-40D6-8DFC-8C96D1315E0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31A98595-5092-4886-9AAB-5F904F6101A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4E3C0A68-0369-43B4-9F40-7843CC832B4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에이전트·정형 생</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성</a:t>
            </a:r>
          </a:p>
        </p:txBody>
      </p:sp>
      <p:sp>
        <p:nvSpPr>
          <p:cNvPr id="28" name="">
            <a:extLst xmlns:a="http://schemas.openxmlformats.org/drawingml/2006/main">
              <a:ext uri="{FF2B5EF4-FFF2-40B4-BE49-F238E27FC236}">
                <a16:creationId xmlns:a16="http://schemas.microsoft.com/office/drawing/2014/main" id="{6AA9E48D-B1BA-4CE3-AC1D-4D69C7C09412}"/>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3192DF23-5D1C-4B46-91A2-CADF0E143FD9}"/>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9A5FB2D8-6ABD-4F83-8C95-6ACE3D981C81}"/>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양식·근거 검사</a:t>
            </a:r>
          </a:p>
        </p:txBody>
      </p:sp>
      <p:sp>
        <p:nvSpPr>
          <p:cNvPr id="31" name="">
            <a:extLst xmlns:a="http://schemas.openxmlformats.org/drawingml/2006/main">
              <a:ext uri="{FF2B5EF4-FFF2-40B4-BE49-F238E27FC236}">
                <a16:creationId xmlns:a16="http://schemas.microsoft.com/office/drawing/2014/main" id="{E6F6B5B3-615C-417D-AE9A-52DABBD22917}"/>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0A7188A-4177-475A-8AC4-9DF689C6A35E}"/>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47F3271B-FD9D-4631-B12E-52F8D2854C9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 담당 확인</a:t>
            </a:r>
          </a:p>
        </p:txBody>
      </p:sp>
      <p:sp>
        <p:nvSpPr>
          <p:cNvPr id="34" name="">
            <a:extLst xmlns:a="http://schemas.openxmlformats.org/drawingml/2006/main">
              <a:ext uri="{FF2B5EF4-FFF2-40B4-BE49-F238E27FC236}">
                <a16:creationId xmlns:a16="http://schemas.microsoft.com/office/drawing/2014/main" id="{94B54B99-E2DA-4F31-BEB6-3074200F2DA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A14A27C8-CBB0-49A9-80AA-8AD5B264A662}"/>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85411508-06F8-4AA3-959D-529BACEFACAC}"/>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업무 연결</a:t>
            </a:r>
          </a:p>
        </p:txBody>
      </p:sp>
      <p:sp>
        <p:nvSpPr>
          <p:cNvPr id="46" name="">
            <a:extLst xmlns:a="http://schemas.openxmlformats.org/drawingml/2006/main">
              <a:ext uri="{FF2B5EF4-FFF2-40B4-BE49-F238E27FC236}">
                <a16:creationId xmlns:a16="http://schemas.microsoft.com/office/drawing/2014/main" id="{BBD41C10-F8ED-44A1-9EEB-294C245C1D8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19737633"/>
      </p:ext>
    </p:extLst>
  </p:cSld>
</p:sld>
</file>

<file path=ppt/slides/slide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74A5B04-3B3C-49C2-8130-750167E79AE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논리 인터페이스·복구 설계</a:t>
            </a:r>
          </a:p>
        </p:txBody>
      </p:sp>
      <p:sp>
        <p:nvSpPr>
          <p:cNvPr id="2" name="">
            <a:extLst xmlns:a="http://schemas.openxmlformats.org/drawingml/2006/main">
              <a:ext uri="{FF2B5EF4-FFF2-40B4-BE49-F238E27FC236}">
                <a16:creationId xmlns:a16="http://schemas.microsoft.com/office/drawing/2014/main" id="{190D7961-E85C-4387-AB71-57F9900487E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데이터와 예외 처리</a:t>
            </a:r>
          </a:p>
        </p:txBody>
      </p:sp>
      <p:sp>
        <p:nvSpPr>
          <p:cNvPr id="3" name="">
            <a:extLst xmlns:a="http://schemas.openxmlformats.org/drawingml/2006/main">
              <a:ext uri="{FF2B5EF4-FFF2-40B4-BE49-F238E27FC236}">
                <a16:creationId xmlns:a16="http://schemas.microsoft.com/office/drawing/2014/main" id="{818F0D20-A541-4EBE-88C1-9FD90A59DDC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B91C52B-C49E-4D49-91BD-64DFEBE1539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6ABE881-0D73-408A-A776-9D32F051964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28</a:t>
            </a:r>
          </a:p>
        </p:txBody>
      </p:sp>
      <p:sp>
        <p:nvSpPr>
          <p:cNvPr id="6" name="">
            <a:extLst xmlns:a="http://schemas.openxmlformats.org/drawingml/2006/main">
              <a:ext uri="{FF2B5EF4-FFF2-40B4-BE49-F238E27FC236}">
                <a16:creationId xmlns:a16="http://schemas.microsoft.com/office/drawing/2014/main" id="{612A2480-FF09-41E4-B265-A01B5F14243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0FE04A5-56CC-43E2-B17B-64AA772FE1C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3168E5A0-F4D7-4416-B791-2C2DDF978E0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AA4421CF-8048-49EA-9CFE-FE56DC1958A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연구행정 지식</a:t>
            </a:r>
          </a:p>
        </p:txBody>
      </p:sp>
      <p:sp>
        <p:nvSpPr>
          <p:cNvPr id="10" name="">
            <a:extLst xmlns:a="http://schemas.openxmlformats.org/drawingml/2006/main">
              <a:ext uri="{FF2B5EF4-FFF2-40B4-BE49-F238E27FC236}">
                <a16:creationId xmlns:a16="http://schemas.microsoft.com/office/drawing/2014/main" id="{F5DA3978-C4D6-4064-8149-FCCAA9F0C92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6043C82-EEBC-4A86-8036-A33A96D6410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0F157A47-80F1-42C6-8CA8-B803327EF8E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25763026-8036-492E-97C2-B10FB960F0C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8E4E2D-02E4-491F-AE85-E124847895B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65107F67-0143-45CD-9BFA-D0777D4DA99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소속·직무·검색 이력·진행업무 연결</a:t>
            </a:r>
          </a:p>
        </p:txBody>
      </p:sp>
      <p:sp>
        <p:nvSpPr>
          <p:cNvPr id="16" name="">
            <a:extLst xmlns:a="http://schemas.openxmlformats.org/drawingml/2006/main">
              <a:ext uri="{FF2B5EF4-FFF2-40B4-BE49-F238E27FC236}">
                <a16:creationId xmlns:a16="http://schemas.microsoft.com/office/drawing/2014/main" id="{195884B1-F958-4163-B709-B422A17A756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83CCE0F-820D-40E6-811A-95D108F26619}"/>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E1C9B1AB-045B-4F25-BAEF-367062D70A6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직무별 순위·근거·서식과 모델 전환·복구 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과</a:t>
            </a:r>
          </a:p>
        </p:txBody>
      </p:sp>
      <p:sp>
        <p:nvSpPr>
          <p:cNvPr id="19" name="">
            <a:extLst xmlns:a="http://schemas.openxmlformats.org/drawingml/2006/main">
              <a:ext uri="{FF2B5EF4-FFF2-40B4-BE49-F238E27FC236}">
                <a16:creationId xmlns:a16="http://schemas.microsoft.com/office/drawing/2014/main" id="{55A55818-5445-401A-BB81-6EE9DE98D71D}"/>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E0AB272-010E-42A0-BFB3-2FBFAC17F62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0FE5EC0-1CC2-449D-A68D-229B47CEB0E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재정렬 근거</a:t>
            </a:r>
          </a:p>
        </p:txBody>
      </p:sp>
      <p:sp>
        <p:nvSpPr>
          <p:cNvPr id="22" name="">
            <a:extLst xmlns:a="http://schemas.openxmlformats.org/drawingml/2006/main">
              <a:ext uri="{FF2B5EF4-FFF2-40B4-BE49-F238E27FC236}">
                <a16:creationId xmlns:a16="http://schemas.microsoft.com/office/drawing/2014/main" id="{8AA8C62D-8EDB-46CD-8492-67C90FCC2F7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A1F7222-8ACE-4DBE-98FC-3C0D3C540AB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F079E02B-8EC6-4844-B37A-251F7616D8E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정형 초안</a:t>
            </a:r>
          </a:p>
        </p:txBody>
      </p:sp>
      <p:sp>
        <p:nvSpPr>
          <p:cNvPr id="25" name="">
            <a:extLst xmlns:a="http://schemas.openxmlformats.org/drawingml/2006/main">
              <a:ext uri="{FF2B5EF4-FFF2-40B4-BE49-F238E27FC236}">
                <a16:creationId xmlns:a16="http://schemas.microsoft.com/office/drawing/2014/main" id="{D3691227-4D3E-45A8-871C-551C1F631F7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23AD89FB-2975-4AAD-A9FB-FF8BEDB1BC2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 전 캐시·권한 없는 연구자료·모델 장애</a:t>
            </a:r>
          </a:p>
        </p:txBody>
      </p:sp>
      <p:sp>
        <p:nvSpPr>
          <p:cNvPr id="27" name="">
            <a:extLst xmlns:a="http://schemas.openxmlformats.org/drawingml/2006/main">
              <a:ext uri="{FF2B5EF4-FFF2-40B4-BE49-F238E27FC236}">
                <a16:creationId xmlns:a16="http://schemas.microsoft.com/office/drawing/2014/main" id="{56F84B3F-8803-4464-A167-44F61CE4640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87D01C3-73E4-44B8-B6C3-57202FE7BAF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검색 대비 근거·완료시간 평가</a:t>
            </a:r>
          </a:p>
        </p:txBody>
      </p:sp>
      <p:sp>
        <p:nvSpPr>
          <p:cNvPr id="29" name="">
            <a:extLst xmlns:a="http://schemas.openxmlformats.org/drawingml/2006/main">
              <a:ext uri="{FF2B5EF4-FFF2-40B4-BE49-F238E27FC236}">
                <a16:creationId xmlns:a16="http://schemas.microsoft.com/office/drawing/2014/main" id="{122F65C0-D203-4BCA-8904-5E294AFE4F5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893BBAD6-DCF6-4518-80AC-F50C61FB0B1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GPU 이중화·모델 롤백·부서별 토큰 계측</a:t>
            </a:r>
          </a:p>
        </p:txBody>
      </p:sp>
      <p:sp>
        <p:nvSpPr>
          <p:cNvPr id="31" name="">
            <a:extLst xmlns:a="http://schemas.openxmlformats.org/drawingml/2006/main">
              <a:ext uri="{FF2B5EF4-FFF2-40B4-BE49-F238E27FC236}">
                <a16:creationId xmlns:a16="http://schemas.microsoft.com/office/drawing/2014/main" id="{314A8F79-72D4-4D4D-813D-12736982F74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A3BCF54-7F2B-4608-981E-455535412EE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순위·근거·서식과 모델 전환·복구 결과</a:t>
            </a:r>
          </a:p>
        </p:txBody>
      </p:sp>
    </p:spTree>
    <p:extLst>
      <p:ext uri="{BB962C8B-B14F-4D97-AF65-F5344CB8AC3E}">
        <p14:creationId xmlns:p14="http://schemas.microsoft.com/office/powerpoint/2010/main" val="515658395"/>
      </p:ext>
    </p:extLst>
  </p:cSld>
</p:sld>
</file>

<file path=ppt/slides/slide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F38A898-251C-4B49-93DE-28288971AA8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CCK 비교·재현 시험 설계</a:t>
            </a:r>
          </a:p>
        </p:txBody>
      </p:sp>
      <p:sp>
        <p:nvSpPr>
          <p:cNvPr id="2" name="">
            <a:extLst xmlns:a="http://schemas.openxmlformats.org/drawingml/2006/main">
              <a:ext uri="{FF2B5EF4-FFF2-40B4-BE49-F238E27FC236}">
                <a16:creationId xmlns:a16="http://schemas.microsoft.com/office/drawing/2014/main" id="{DBEA2704-06DE-4734-9076-E2E4A044988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벤치마킹</a:t>
            </a:r>
          </a:p>
        </p:txBody>
      </p:sp>
      <p:sp>
        <p:nvSpPr>
          <p:cNvPr id="3" name="">
            <a:extLst xmlns:a="http://schemas.openxmlformats.org/drawingml/2006/main">
              <a:ext uri="{FF2B5EF4-FFF2-40B4-BE49-F238E27FC236}">
                <a16:creationId xmlns:a16="http://schemas.microsoft.com/office/drawing/2014/main" id="{D83D2942-45A5-4670-A228-EDEF3418DAB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B7005FA-B6E1-47E9-B2EC-7D36C8D5F64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E245546-4F35-43C2-BC04-D1467920B27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29</a:t>
            </a:r>
          </a:p>
        </p:txBody>
      </p:sp>
      <p:sp>
        <p:nvSpPr>
          <p:cNvPr id="6" name="">
            <a:extLst xmlns:a="http://schemas.openxmlformats.org/drawingml/2006/main">
              <a:ext uri="{FF2B5EF4-FFF2-40B4-BE49-F238E27FC236}">
                <a16:creationId xmlns:a16="http://schemas.microsoft.com/office/drawing/2014/main" id="{7B0236CD-5EF7-48E9-9C2C-84C9EB0751E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74F9C410-160E-4A30-AA90-A664F63BB6B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연구행정 검색의 고도화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에이전트·정형 출력 구성</a:t>
            </a:r>
          </a:p>
        </p:txBody>
      </p:sp>
      <p:sp>
        <p:nvSpPr>
          <p:cNvPr id="8" name="">
            <a:extLst xmlns:a="http://schemas.openxmlformats.org/drawingml/2006/main">
              <a:ext uri="{FF2B5EF4-FFF2-40B4-BE49-F238E27FC236}">
                <a16:creationId xmlns:a16="http://schemas.microsoft.com/office/drawing/2014/main" id="{DB6B0F97-4B3E-4BFE-92A2-1DF46702F30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4045CB7-22E0-4255-AFF1-851151E91B8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검색 재정렬의 근거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후속 공고와 도입 완료의 혼동</a:t>
            </a:r>
          </a:p>
        </p:txBody>
      </p:sp>
      <p:sp>
        <p:nvSpPr>
          <p:cNvPr id="10" name="">
            <a:extLst xmlns:a="http://schemas.openxmlformats.org/drawingml/2006/main">
              <a:ext uri="{FF2B5EF4-FFF2-40B4-BE49-F238E27FC236}">
                <a16:creationId xmlns:a16="http://schemas.microsoft.com/office/drawing/2014/main" id="{829768E9-8D18-481D-8876-D6D710F1B89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1B3A730-9651-4A4B-9974-B43455FA62B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검색 대비 근거·완료시간 평가</a:t>
            </a:r>
          </a:p>
        </p:txBody>
      </p:sp>
      <p:sp>
        <p:nvSpPr>
          <p:cNvPr id="12" name="">
            <a:extLst xmlns:a="http://schemas.openxmlformats.org/drawingml/2006/main">
              <a:ext uri="{FF2B5EF4-FFF2-40B4-BE49-F238E27FC236}">
                <a16:creationId xmlns:a16="http://schemas.microsoft.com/office/drawing/2014/main" id="{EAEAC161-B5F4-49A9-A06F-0DF283D9358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D653627-DF41-4911-9923-46A2AA2306A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질의를 연구직·행정직 계정으로 실행해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 비교</a:t>
            </a:r>
          </a:p>
        </p:txBody>
      </p:sp>
      <p:sp>
        <p:nvSpPr>
          <p:cNvPr id="14" name="">
            <a:extLst xmlns:a="http://schemas.openxmlformats.org/drawingml/2006/main">
              <a:ext uri="{FF2B5EF4-FFF2-40B4-BE49-F238E27FC236}">
                <a16:creationId xmlns:a16="http://schemas.microsoft.com/office/drawing/2014/main" id="{2565886C-7CFD-4DDC-A55F-966ECFCE2867}"/>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5C18B4B-1B3B-480E-81A2-90EE489C800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전보 전 캐시·권한 없는 연구자료·모델 장애</a:t>
            </a:r>
          </a:p>
        </p:txBody>
      </p:sp>
      <p:sp>
        <p:nvSpPr>
          <p:cNvPr id="16" name="">
            <a:extLst xmlns:a="http://schemas.openxmlformats.org/drawingml/2006/main">
              <a:ext uri="{FF2B5EF4-FFF2-40B4-BE49-F238E27FC236}">
                <a16:creationId xmlns:a16="http://schemas.microsoft.com/office/drawing/2014/main" id="{C4A020C0-6125-4B44-9F74-9BA2F8ADF81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8DB5E6F-47F3-45A3-B9D3-B9A058401FFF}"/>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직무별 순위·근거·서식과 모델 전환·복구 결과</a:t>
            </a:r>
          </a:p>
        </p:txBody>
      </p:sp>
    </p:spTree>
    <p:extLst>
      <p:ext uri="{BB962C8B-B14F-4D97-AF65-F5344CB8AC3E}">
        <p14:creationId xmlns:p14="http://schemas.microsoft.com/office/powerpoint/2010/main" val="652436441"/>
      </p:ext>
    </p:extLst>
  </p:cSld>
</p:sld>
</file>

<file path=ppt/slides/slide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0773D1B-CF30-4DEE-9C9D-1173DFD80D1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성과 미검증 / 국내</a:t>
            </a:r>
          </a:p>
        </p:txBody>
      </p:sp>
      <p:sp>
        <p:nvSpPr>
          <p:cNvPr id="2" name="">
            <a:extLst xmlns:a="http://schemas.openxmlformats.org/drawingml/2006/main">
              <a:ext uri="{FF2B5EF4-FFF2-40B4-BE49-F238E27FC236}">
                <a16:creationId xmlns:a16="http://schemas.microsoft.com/office/drawing/2014/main" id="{3DEE0E22-1837-498A-BFFC-B7405FA0072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a:t>
            </a:r>
          </a:p>
        </p:txBody>
      </p:sp>
      <p:sp>
        <p:nvSpPr>
          <p:cNvPr id="3" name="">
            <a:extLst xmlns:a="http://schemas.openxmlformats.org/drawingml/2006/main">
              <a:ext uri="{FF2B5EF4-FFF2-40B4-BE49-F238E27FC236}">
                <a16:creationId xmlns:a16="http://schemas.microsoft.com/office/drawing/2014/main" id="{4E43F96E-3A28-41FF-925F-31E45081949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AEC74D-E2FB-4FB9-8935-26A81851CD4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22437AB-D6EF-4554-8145-3AD3F6C0C11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30</a:t>
            </a:r>
          </a:p>
        </p:txBody>
      </p:sp>
      <p:sp>
        <p:nvSpPr>
          <p:cNvPr id="6" name="">
            <a:extLst xmlns:a="http://schemas.openxmlformats.org/drawingml/2006/main">
              <a:ext uri="{FF2B5EF4-FFF2-40B4-BE49-F238E27FC236}">
                <a16:creationId xmlns:a16="http://schemas.microsoft.com/office/drawing/2014/main" id="{93BDA4EC-6C46-48DC-B079-CAB6DE49BA9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7AEED5E-47F1-4C44-9D37-D63536F21C8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안전 규정·작업절차를 활용하는 안전 AI와 외부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 LLM을 이용하는 AI 서치를 구분한 시범구축. 범용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작성뿐 아니라 제출 문서를 규정과 대조하고, 개인·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부서 지식공간을 구성하는 업무 범위.</a:t>
            </a:r>
          </a:p>
        </p:txBody>
      </p:sp>
      <p:sp>
        <p:nvSpPr>
          <p:cNvPr id="8" name="">
            <a:extLst xmlns:a="http://schemas.openxmlformats.org/drawingml/2006/main">
              <a:ext uri="{FF2B5EF4-FFF2-40B4-BE49-F238E27FC236}">
                <a16:creationId xmlns:a16="http://schemas.microsoft.com/office/drawing/2014/main" id="{209A9DA0-6EB3-4573-9C20-E3C55C99BC1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4ECA2C6-3ECC-4867-A9AC-04EDF853999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예시 도면에서는 통합 UI 아래 DMZ의 AI 서치와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안전 AI·RAG·LLM·DB를 분리. 과업내용서는 문서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자동 최신화, 부서별 접근권한, 청크·임베딩 품질 확인,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실패 문서 재처리까지 요구. 업로드 성공과 검색 가능한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지식 등록 완료의 별도 상태 관리.</a:t>
            </a:r>
          </a:p>
        </p:txBody>
      </p:sp>
      <p:sp>
        <p:nvSpPr>
          <p:cNvPr id="10" name="">
            <a:extLst xmlns:a="http://schemas.openxmlformats.org/drawingml/2006/main">
              <a:ext uri="{FF2B5EF4-FFF2-40B4-BE49-F238E27FC236}">
                <a16:creationId xmlns:a16="http://schemas.microsoft.com/office/drawing/2014/main" id="{DA360877-20B8-44CA-989D-CC884E80485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3A72DA9-6776-4B05-BCCD-8AA978C06DA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CCK에서는 안전 답변의 문장 품질과 규정 판본·접근권한의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정확성을 별도 시험할 필요. 상충하는 두 규정이 검색될 때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한쪽을 감추기보다 근거와 적용 시점을 함께 제시하는 구조.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외부 모델과 내부 자료의 전달 경계를 TS 보안 환경에 맞춰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재설계할 대상.</a:t>
            </a:r>
          </a:p>
        </p:txBody>
      </p:sp>
      <p:sp>
        <p:nvSpPr>
          <p:cNvPr id="12" name="">
            <a:extLst xmlns:a="http://schemas.openxmlformats.org/drawingml/2006/main">
              <a:ext uri="{FF2B5EF4-FFF2-40B4-BE49-F238E27FC236}">
                <a16:creationId xmlns:a16="http://schemas.microsoft.com/office/drawing/2014/main" id="{DD16A338-2998-4275-A768-2791FC966B3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D66345F-5D12-4207-AEFD-4641FCC832B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규정 효력일·소유부서 / 자동 갱신 / 상충 근거 표시</a:t>
            </a:r>
          </a:p>
        </p:txBody>
      </p:sp>
      <p:sp>
        <p:nvSpPr>
          <p:cNvPr id="14" name="">
            <a:extLst xmlns:a="http://schemas.openxmlformats.org/drawingml/2006/main">
              <a:ext uri="{FF2B5EF4-FFF2-40B4-BE49-F238E27FC236}">
                <a16:creationId xmlns:a16="http://schemas.microsoft.com/office/drawing/2014/main" id="{65BCC529-7D8D-4D58-A848-AE0321A6B36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1F8E8E5-2392-47BC-9B0E-3B8A4A47DC1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개정·폐지·권한 제한·상충 문서의 검색 및 검토 결과 대조</a:t>
            </a:r>
          </a:p>
        </p:txBody>
      </p:sp>
      <p:sp>
        <p:nvSpPr>
          <p:cNvPr id="16" name="">
            <a:extLst xmlns:a="http://schemas.openxmlformats.org/drawingml/2006/main">
              <a:ext uri="{FF2B5EF4-FFF2-40B4-BE49-F238E27FC236}">
                <a16:creationId xmlns:a16="http://schemas.microsoft.com/office/drawing/2014/main" id="{633C5B6B-5086-42CB-99C7-9A4635D6568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2209804-941A-4178-B266-8AEC89F4741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구버전 인용률 / 개정 반영 지연 / 검토 누락률</a:t>
            </a:r>
          </a:p>
        </p:txBody>
      </p:sp>
      <p:sp>
        <p:nvSpPr>
          <p:cNvPr id="18" name="">
            <a:extLst xmlns:a="http://schemas.openxmlformats.org/drawingml/2006/main">
              <a:ext uri="{FF2B5EF4-FFF2-40B4-BE49-F238E27FC236}">
                <a16:creationId xmlns:a16="http://schemas.microsoft.com/office/drawing/2014/main" id="{52505C84-3B04-45CD-A517-5A2237AAB73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Temperature를 상세도와 동일시한 원문 표현은 구현 검증 필요</a:t>
            </a:r>
          </a:p>
        </p:txBody>
      </p:sp>
    </p:spTree>
    <p:extLst>
      <p:ext uri="{BB962C8B-B14F-4D97-AF65-F5344CB8AC3E}">
        <p14:creationId xmlns:p14="http://schemas.microsoft.com/office/powerpoint/2010/main" val="41407604"/>
      </p:ext>
    </p:extLst>
  </p:cSld>
</p:sld>
</file>

<file path=ppt/slides/slide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5CCA66-A473-44F5-BA83-4DA97EE1E4F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As-Is → To-Be → 기대효과 → 확인 결과</a:t>
            </a:r>
          </a:p>
        </p:txBody>
      </p:sp>
      <p:sp>
        <p:nvSpPr>
          <p:cNvPr id="2" name="">
            <a:extLst xmlns:a="http://schemas.openxmlformats.org/drawingml/2006/main">
              <a:ext uri="{FF2B5EF4-FFF2-40B4-BE49-F238E27FC236}">
                <a16:creationId xmlns:a16="http://schemas.microsoft.com/office/drawing/2014/main" id="{B6C8ECC8-9874-4033-8838-DC7492097CA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기대와 결과</a:t>
            </a:r>
          </a:p>
        </p:txBody>
      </p:sp>
      <p:sp>
        <p:nvSpPr>
          <p:cNvPr id="3" name="">
            <a:extLst xmlns:a="http://schemas.openxmlformats.org/drawingml/2006/main">
              <a:ext uri="{FF2B5EF4-FFF2-40B4-BE49-F238E27FC236}">
                <a16:creationId xmlns:a16="http://schemas.microsoft.com/office/drawing/2014/main" id="{B059DAA3-C8AE-490E-93D1-E5432AFDB89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3FF21D-48B0-4731-85D0-39D599BBE05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42BDB46-581F-47E1-A9AD-1AA2AA8CD0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31</a:t>
            </a:r>
          </a:p>
        </p:txBody>
      </p:sp>
      <p:sp>
        <p:nvSpPr>
          <p:cNvPr id="6" name="">
            <a:extLst xmlns:a="http://schemas.openxmlformats.org/drawingml/2006/main">
              <a:ext uri="{FF2B5EF4-FFF2-40B4-BE49-F238E27FC236}">
                <a16:creationId xmlns:a16="http://schemas.microsoft.com/office/drawing/2014/main" id="{A566B894-0FEE-4536-9D7E-6BC3E81DBF72}"/>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076ADB4D-4D1E-437E-A5B7-D283A290C381}"/>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규정·점검문서의 판본 확인과 대조를 담당자가 수행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하는 상태</a:t>
            </a:r>
          </a:p>
        </p:txBody>
      </p:sp>
      <p:sp>
        <p:nvSpPr>
          <p:cNvPr id="8" name="">
            <a:extLst xmlns:a="http://schemas.openxmlformats.org/drawingml/2006/main">
              <a:ext uri="{FF2B5EF4-FFF2-40B4-BE49-F238E27FC236}">
                <a16:creationId xmlns:a16="http://schemas.microsoft.com/office/drawing/2014/main" id="{1A1295EF-ED64-4131-AD38-991CED7AFF1B}"/>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F7423553-A721-4DF9-876C-6CAFE612AB88}"/>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LLM과 승인된 지식공간을 연결해 최신 규정 검색·문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 상충 표시·담당자 검토 지원</a:t>
            </a:r>
          </a:p>
        </p:txBody>
      </p:sp>
      <p:sp>
        <p:nvSpPr>
          <p:cNvPr id="10" name="">
            <a:extLst xmlns:a="http://schemas.openxmlformats.org/drawingml/2006/main">
              <a:ext uri="{FF2B5EF4-FFF2-40B4-BE49-F238E27FC236}">
                <a16:creationId xmlns:a16="http://schemas.microsoft.com/office/drawing/2014/main" id="{488AF734-CAC7-4FD5-BC13-6DC29B05AB50}"/>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EA8C7EF6-427F-4A61-B2F3-BF3A5918DBAE}"/>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구판 인용·안전 검토 누락·개정 반영 지연 감소</a:t>
            </a:r>
          </a:p>
        </p:txBody>
      </p:sp>
      <p:sp>
        <p:nvSpPr>
          <p:cNvPr id="12" name="">
            <a:extLst xmlns:a="http://schemas.openxmlformats.org/drawingml/2006/main">
              <a:ext uri="{FF2B5EF4-FFF2-40B4-BE49-F238E27FC236}">
                <a16:creationId xmlns:a16="http://schemas.microsoft.com/office/drawing/2014/main" id="{CA1321BC-C1E4-4AD1-95C3-1E48D09B6ABF}"/>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64BFF944-1CBF-4133-AA9B-AF1E2D1931C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RFP와 공급사 계약 발표 확인. 사고 예방·검토 누락·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 오류의 운영 전후값 미공개</a:t>
            </a:r>
          </a:p>
        </p:txBody>
      </p:sp>
      <p:sp>
        <p:nvSpPr>
          <p:cNvPr id="14" name="">
            <a:extLst xmlns:a="http://schemas.openxmlformats.org/drawingml/2006/main">
              <a:ext uri="{FF2B5EF4-FFF2-40B4-BE49-F238E27FC236}">
                <a16:creationId xmlns:a16="http://schemas.microsoft.com/office/drawing/2014/main" id="{BE65C751-7363-485C-846B-21990B1979D9}"/>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계약은 사업 진행 근거이나 안전 업무효과를 입증하지 않음</a:t>
            </a:r>
          </a:p>
        </p:txBody>
      </p:sp>
      <p:sp>
        <p:nvSpPr>
          <p:cNvPr id="15" name="">
            <a:extLst xmlns:a="http://schemas.openxmlformats.org/drawingml/2006/main">
              <a:ext uri="{FF2B5EF4-FFF2-40B4-BE49-F238E27FC236}">
                <a16:creationId xmlns:a16="http://schemas.microsoft.com/office/drawing/2014/main" id="{2FEC7D95-9847-441B-8889-55BADF9FAB88}"/>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RFP 목표 + 계약 발표 · RFP 예시 구성도와 실제 망 배치 구분; 공급사 발표는 독립 평가가 아님</a:t>
            </a:r>
          </a:p>
        </p:txBody>
      </p:sp>
    </p:spTree>
    <p:extLst>
      <p:ext uri="{BB962C8B-B14F-4D97-AF65-F5344CB8AC3E}">
        <p14:creationId xmlns:p14="http://schemas.microsoft.com/office/powerpoint/2010/main" val="1095578059"/>
      </p:ext>
    </p:extLst>
  </p:cSld>
</p:sld>
</file>

<file path=ppt/slides/slide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CE76218-1772-4C91-96FD-997E53C6443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2025.03 · SFR-005~008 / 1–3</a:t>
            </a:r>
          </a:p>
        </p:txBody>
      </p:sp>
      <p:sp>
        <p:nvSpPr>
          <p:cNvPr id="2" name="">
            <a:extLst xmlns:a="http://schemas.openxmlformats.org/drawingml/2006/main">
              <a:ext uri="{FF2B5EF4-FFF2-40B4-BE49-F238E27FC236}">
                <a16:creationId xmlns:a16="http://schemas.microsoft.com/office/drawing/2014/main" id="{04DCD757-C8FB-485C-A74B-EDEC1BE214C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RFP 요구사항</a:t>
            </a:r>
          </a:p>
        </p:txBody>
      </p:sp>
      <p:sp>
        <p:nvSpPr>
          <p:cNvPr id="3" name="">
            <a:extLst xmlns:a="http://schemas.openxmlformats.org/drawingml/2006/main">
              <a:ext uri="{FF2B5EF4-FFF2-40B4-BE49-F238E27FC236}">
                <a16:creationId xmlns:a16="http://schemas.microsoft.com/office/drawing/2014/main" id="{F8EE6215-CACC-45E4-B40E-E8C2F2709D8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F60478E-0A5C-4AF3-BAB4-D284E0CA6BA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D8409C4-DC84-4CA8-8F4A-595EA415A5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32</a:t>
            </a:r>
          </a:p>
        </p:txBody>
      </p:sp>
      <p:sp>
        <p:nvSpPr>
          <p:cNvPr id="6" name="">
            <a:extLst xmlns:a="http://schemas.openxmlformats.org/drawingml/2006/main">
              <a:ext uri="{FF2B5EF4-FFF2-40B4-BE49-F238E27FC236}">
                <a16:creationId xmlns:a16="http://schemas.microsoft.com/office/drawing/2014/main" id="{039094A3-1948-4E06-9660-E9DFE2DEECEF}"/>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B44DE5-6D5E-4CA2-8B33-3F24A21C74D7}"/>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생성형 AI 활용 서비스 개발(1/2)</a:t>
            </a:r>
          </a:p>
        </p:txBody>
      </p:sp>
      <p:sp>
        <p:nvSpPr>
          <p:cNvPr id="8" name="">
            <a:extLst xmlns:a="http://schemas.openxmlformats.org/drawingml/2006/main">
              <a:ext uri="{FF2B5EF4-FFF2-40B4-BE49-F238E27FC236}">
                <a16:creationId xmlns:a16="http://schemas.microsoft.com/office/drawing/2014/main" id="{637369B5-0E57-44F6-ACF6-03A8B3674B38}"/>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지식 검색, 근거 링크, 최신 문서 활용, 문서·규칙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토와 번역 등 생성형 AI 서비스.</a:t>
            </a:r>
          </a:p>
        </p:txBody>
      </p:sp>
      <p:sp>
        <p:nvSpPr>
          <p:cNvPr id="9" name="">
            <a:extLst xmlns:a="http://schemas.openxmlformats.org/drawingml/2006/main">
              <a:ext uri="{FF2B5EF4-FFF2-40B4-BE49-F238E27FC236}">
                <a16:creationId xmlns:a16="http://schemas.microsoft.com/office/drawing/2014/main" id="{49590ABF-D739-4CC9-981F-E8BA2710FAD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폐기 기준과 현행 기준의 충돌, 문서 인용 오류, 번역의 수치·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단위 보존 확인</a:t>
            </a:r>
          </a:p>
        </p:txBody>
      </p:sp>
      <p:sp>
        <p:nvSpPr>
          <p:cNvPr id="10" name="">
            <a:extLst xmlns:a="http://schemas.openxmlformats.org/drawingml/2006/main">
              <a:ext uri="{FF2B5EF4-FFF2-40B4-BE49-F238E27FC236}">
                <a16:creationId xmlns:a16="http://schemas.microsoft.com/office/drawing/2014/main" id="{4895E598-92B4-41EA-9673-6A74BCA24182}"/>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A287F5-3239-4DAF-AC84-73814BA93FA2}"/>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생성형 AI 활용 서비스 개발(2/2)</a:t>
            </a:r>
          </a:p>
        </p:txBody>
      </p:sp>
      <p:sp>
        <p:nvSpPr>
          <p:cNvPr id="12" name="">
            <a:extLst xmlns:a="http://schemas.openxmlformats.org/drawingml/2006/main">
              <a:ext uri="{FF2B5EF4-FFF2-40B4-BE49-F238E27FC236}">
                <a16:creationId xmlns:a16="http://schemas.microsoft.com/office/drawing/2014/main" id="{B88F0E07-82CD-48CB-BC9C-A3BEFC5C4845}"/>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개인·부서 지식공간, 접근 이력, 답변 품질 피드백을 포함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서비스 운영.</a:t>
            </a:r>
          </a:p>
        </p:txBody>
      </p:sp>
      <p:sp>
        <p:nvSpPr>
          <p:cNvPr id="13" name="">
            <a:extLst xmlns:a="http://schemas.openxmlformats.org/drawingml/2006/main">
              <a:ext uri="{FF2B5EF4-FFF2-40B4-BE49-F238E27FC236}">
                <a16:creationId xmlns:a16="http://schemas.microsoft.com/office/drawing/2014/main" id="{9362BBCC-75A6-4419-932C-B8383A5DC3C4}"/>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C05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부서 간 공유 해제·소유자 변경·상충 문서 입력 후 접근·경고·</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피드백 반영 확인</a:t>
            </a:r>
          </a:p>
        </p:txBody>
      </p:sp>
      <p:sp>
        <p:nvSpPr>
          <p:cNvPr id="14" name="">
            <a:extLst xmlns:a="http://schemas.openxmlformats.org/drawingml/2006/main">
              <a:ext uri="{FF2B5EF4-FFF2-40B4-BE49-F238E27FC236}">
                <a16:creationId xmlns:a16="http://schemas.microsoft.com/office/drawing/2014/main" id="{1E6114AB-AE2F-4744-9731-41B50935CA93}"/>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90A3986-3FB4-4B8D-8259-963299D0DA21}"/>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RAG 파이프라인 기본 기능</a:t>
            </a:r>
          </a:p>
        </p:txBody>
      </p:sp>
      <p:sp>
        <p:nvSpPr>
          <p:cNvPr id="16" name="">
            <a:extLst xmlns:a="http://schemas.openxmlformats.org/drawingml/2006/main">
              <a:ext uri="{FF2B5EF4-FFF2-40B4-BE49-F238E27FC236}">
                <a16:creationId xmlns:a16="http://schemas.microsoft.com/office/drawing/2014/main" id="{88C2B9B8-5C10-4A96-A8C7-7C451EB5DF71}"/>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메타데이터·최신성·권한을 반영하는 RAG 파이프라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인과 검색 결과 재정렬.</a:t>
            </a:r>
          </a:p>
        </p:txBody>
      </p:sp>
      <p:sp>
        <p:nvSpPr>
          <p:cNvPr id="17" name="">
            <a:extLst xmlns:a="http://schemas.openxmlformats.org/drawingml/2006/main">
              <a:ext uri="{FF2B5EF4-FFF2-40B4-BE49-F238E27FC236}">
                <a16:creationId xmlns:a16="http://schemas.microsoft.com/office/drawing/2014/main" id="{1C26B7B4-7ECD-4B8F-8D6F-220006B66B7C}"/>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동일 문서 개정·삭제와 권한 변경 후 검색 결과·인용 판본의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일치 확인</a:t>
            </a:r>
          </a:p>
        </p:txBody>
      </p:sp>
    </p:spTree>
    <p:extLst>
      <p:ext uri="{BB962C8B-B14F-4D97-AF65-F5344CB8AC3E}">
        <p14:creationId xmlns:p14="http://schemas.microsoft.com/office/powerpoint/2010/main" val="49152899"/>
      </p:ext>
    </p:extLst>
  </p:cSld>
</p:sld>
</file>

<file path=ppt/slides/slide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84D7775-8DF5-4B10-BF7F-D4886436C41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2025.03 · SFR-005~008 / 4–4</a:t>
            </a:r>
          </a:p>
        </p:txBody>
      </p:sp>
      <p:sp>
        <p:nvSpPr>
          <p:cNvPr id="2" name="">
            <a:extLst xmlns:a="http://schemas.openxmlformats.org/drawingml/2006/main">
              <a:ext uri="{FF2B5EF4-FFF2-40B4-BE49-F238E27FC236}">
                <a16:creationId xmlns:a16="http://schemas.microsoft.com/office/drawing/2014/main" id="{458450CC-02CA-414C-84AD-7406421783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RFP 요구사항</a:t>
            </a:r>
          </a:p>
        </p:txBody>
      </p:sp>
      <p:sp>
        <p:nvSpPr>
          <p:cNvPr id="3" name="">
            <a:extLst xmlns:a="http://schemas.openxmlformats.org/drawingml/2006/main">
              <a:ext uri="{FF2B5EF4-FFF2-40B4-BE49-F238E27FC236}">
                <a16:creationId xmlns:a16="http://schemas.microsoft.com/office/drawing/2014/main" id="{85F01CD1-DD68-4C9E-9346-5EF6F23C801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9CF3C7-13B0-4204-9B52-5D6C99ACE7A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FF8C3BC-49F9-4E33-BD17-63547158A9C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33</a:t>
            </a:r>
          </a:p>
        </p:txBody>
      </p:sp>
      <p:sp>
        <p:nvSpPr>
          <p:cNvPr id="6" name="">
            <a:extLst xmlns:a="http://schemas.openxmlformats.org/drawingml/2006/main">
              <a:ext uri="{FF2B5EF4-FFF2-40B4-BE49-F238E27FC236}">
                <a16:creationId xmlns:a16="http://schemas.microsoft.com/office/drawing/2014/main" id="{0C226680-07EA-49CE-9B9E-EF73CC2C8F4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713F50-CA22-448A-965B-A0FAAD37F4CD}"/>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RAG 파이프라인 품질 관리 도구</a:t>
            </a:r>
          </a:p>
        </p:txBody>
      </p:sp>
      <p:sp>
        <p:nvSpPr>
          <p:cNvPr id="8" name="">
            <a:extLst xmlns:a="http://schemas.openxmlformats.org/drawingml/2006/main">
              <a:ext uri="{FF2B5EF4-FFF2-40B4-BE49-F238E27FC236}">
                <a16:creationId xmlns:a16="http://schemas.microsoft.com/office/drawing/2014/main" id="{22223117-E673-4A7B-8E62-B294122A912F}"/>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청크 품질 확인, 미리보기, 임베딩 실패와 재처리 대기열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관리하는 RAG 품질 도구.</a:t>
            </a:r>
          </a:p>
        </p:txBody>
      </p:sp>
      <p:sp>
        <p:nvSpPr>
          <p:cNvPr id="9" name="">
            <a:extLst xmlns:a="http://schemas.openxmlformats.org/drawingml/2006/main">
              <a:ext uri="{FF2B5EF4-FFF2-40B4-BE49-F238E27FC236}">
                <a16:creationId xmlns:a16="http://schemas.microsoft.com/office/drawing/2014/main" id="{497EC53C-C618-4A7A-9410-3402731887FC}"/>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 분절·빈 청크·임베딩 실패를 주입해 탐지·재처리·색인 반영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까지 추적</a:t>
            </a:r>
          </a:p>
        </p:txBody>
      </p:sp>
    </p:spTree>
    <p:extLst>
      <p:ext uri="{BB962C8B-B14F-4D97-AF65-F5344CB8AC3E}">
        <p14:creationId xmlns:p14="http://schemas.microsoft.com/office/powerpoint/2010/main" val="1559955005"/>
      </p:ext>
    </p:extLst>
  </p:cSld>
</p:sld>
</file>

<file path=ppt/slides/slide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713C79-6C7D-4D0B-8C6A-CF140F1165A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H/W 구성도 예시 / RFP 원문 추출</a:t>
            </a:r>
          </a:p>
        </p:txBody>
      </p:sp>
      <p:sp>
        <p:nvSpPr>
          <p:cNvPr id="2" name="">
            <a:extLst xmlns:a="http://schemas.openxmlformats.org/drawingml/2006/main">
              <a:ext uri="{FF2B5EF4-FFF2-40B4-BE49-F238E27FC236}">
                <a16:creationId xmlns:a16="http://schemas.microsoft.com/office/drawing/2014/main" id="{8413A0DD-F90C-43DB-8691-79DFB2D23AF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AI H/W 구성</a:t>
            </a:r>
          </a:p>
        </p:txBody>
      </p:sp>
      <p:sp>
        <p:nvSpPr>
          <p:cNvPr id="3" name="">
            <a:extLst xmlns:a="http://schemas.openxmlformats.org/drawingml/2006/main">
              <a:ext uri="{FF2B5EF4-FFF2-40B4-BE49-F238E27FC236}">
                <a16:creationId xmlns:a16="http://schemas.microsoft.com/office/drawing/2014/main" id="{C07947D9-5777-4046-B4B1-00DA8B696C6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44809B-F228-4C5E-99DA-D6A31D40EA9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6F0D6FB-D80A-4962-8B21-FEC095802C3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34</a:t>
            </a:r>
          </a:p>
        </p:txBody>
      </p:sp>
      <p:pic>
        <p:nvPicPr>
          <p:cNvPr id="6" name="">
            <a:extLst xmlns:a="http://schemas.openxmlformats.org/drawingml/2006/main">
              <a:ext uri="{FF2B5EF4-FFF2-40B4-BE49-F238E27FC236}">
                <a16:creationId xmlns:a16="http://schemas.microsoft.com/office/drawing/2014/main" id="{A24DBA63-00DE-40FF-9A33-C00358EB5594}"/>
              </a:ext>
            </a:extLst>
          </p:cNvPr>
          <p:cNvPicPr>
            <a:picLocks xmlns:a="http://schemas.openxmlformats.org/drawingml/2006/main" noChangeAspect="1"/>
          </p:cNvPicPr>
          <p:nvPr/>
        </p:nvPicPr>
        <p:blipFill>
          <a:blip xmlns:r="http://schemas.openxmlformats.org/officeDocument/2006/relationships" xmlns:a="http://schemas.openxmlformats.org/drawingml/2006/main" r:embed="R9faa908c4be54102"/>
          <a:stretch xmlns:a="http://schemas.openxmlformats.org/drawingml/2006/main"/>
        </p:blipFill>
        <p:spPr>
          <a:xfrm xmlns:a="http://schemas.openxmlformats.org/drawingml/2006/main">
            <a:off x="2067287" y="1657350"/>
            <a:ext cx="805742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2E0E488-4C5A-4B7C-9427-65222F84323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DMZ AI 서치와 내부 안전 AI·RAG·LLM·DB 구성</a:t>
            </a:r>
          </a:p>
        </p:txBody>
      </p:sp>
    </p:spTree>
    <p:extLst>
      <p:ext uri="{BB962C8B-B14F-4D97-AF65-F5344CB8AC3E}">
        <p14:creationId xmlns:p14="http://schemas.microsoft.com/office/powerpoint/2010/main" val="1888546908"/>
      </p:ext>
    </p:extLst>
  </p:cSld>
</p:sld>
</file>

<file path=ppt/slides/slide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4B8582-8089-43BD-AB2C-2AD5B69C2EE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S/W 구성도 예시 / RFP 원문 추출</a:t>
            </a:r>
          </a:p>
        </p:txBody>
      </p:sp>
      <p:sp>
        <p:nvSpPr>
          <p:cNvPr id="2" name="">
            <a:extLst xmlns:a="http://schemas.openxmlformats.org/drawingml/2006/main">
              <a:ext uri="{FF2B5EF4-FFF2-40B4-BE49-F238E27FC236}">
                <a16:creationId xmlns:a16="http://schemas.microsoft.com/office/drawing/2014/main" id="{BB2F18A6-ED10-4501-AE4B-C6D9883787C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AI S/W 구성</a:t>
            </a:r>
          </a:p>
        </p:txBody>
      </p:sp>
      <p:sp>
        <p:nvSpPr>
          <p:cNvPr id="3" name="">
            <a:extLst xmlns:a="http://schemas.openxmlformats.org/drawingml/2006/main">
              <a:ext uri="{FF2B5EF4-FFF2-40B4-BE49-F238E27FC236}">
                <a16:creationId xmlns:a16="http://schemas.microsoft.com/office/drawing/2014/main" id="{67EE41D0-D04B-4748-A088-18B17B3E497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24BB97-58B9-4AC9-92B0-C589FAFCB37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3AC67D2-697D-475D-93E6-5877B919504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35</a:t>
            </a:r>
          </a:p>
        </p:txBody>
      </p:sp>
      <p:pic>
        <p:nvPicPr>
          <p:cNvPr id="6" name="">
            <a:extLst xmlns:a="http://schemas.openxmlformats.org/drawingml/2006/main">
              <a:ext uri="{FF2B5EF4-FFF2-40B4-BE49-F238E27FC236}">
                <a16:creationId xmlns:a16="http://schemas.microsoft.com/office/drawing/2014/main" id="{82CB81C3-DB9D-40D1-867A-4C6E124A4945}"/>
              </a:ext>
            </a:extLst>
          </p:cNvPr>
          <p:cNvPicPr>
            <a:picLocks xmlns:a="http://schemas.openxmlformats.org/drawingml/2006/main" noChangeAspect="1"/>
          </p:cNvPicPr>
          <p:nvPr/>
        </p:nvPicPr>
        <p:blipFill>
          <a:blip xmlns:r="http://schemas.openxmlformats.org/officeDocument/2006/relationships" xmlns:a="http://schemas.openxmlformats.org/drawingml/2006/main" r:embed="R82458bfac46e410e"/>
          <a:stretch xmlns:a="http://schemas.openxmlformats.org/drawingml/2006/main"/>
        </p:blipFill>
        <p:spPr>
          <a:xfrm xmlns:a="http://schemas.openxmlformats.org/drawingml/2006/main">
            <a:off x="2370667" y="1657350"/>
            <a:ext cx="745066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D78C8D4-F885-40DA-9102-B1674EFF290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안전 지식·RAG와 외부 LLM API 업무 지원의 구분</a:t>
            </a:r>
          </a:p>
        </p:txBody>
      </p:sp>
    </p:spTree>
    <p:extLst>
      <p:ext uri="{BB962C8B-B14F-4D97-AF65-F5344CB8AC3E}">
        <p14:creationId xmlns:p14="http://schemas.microsoft.com/office/powerpoint/2010/main" val="1819067263"/>
      </p:ext>
    </p:extLst>
  </p:cSld>
</p:sld>
</file>

<file path=ppt/slides/slide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6C3273EA-0A4F-4D3F-80CA-414558AF1F74}"/>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B75B53B-E3E1-45AA-811E-A004B41EF297}"/>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38C3916-967D-4138-A9B7-CF7589A1A680}"/>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64817EE-68A7-4C70-ADEE-3B7B19F1B7D8}"/>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713B20EC-842F-4F9B-AC49-91ED166EB204}"/>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79C5404-F09E-46BC-B06C-7EE20D61042E}"/>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C362544-E03D-479B-A08D-764E9B2D8016}"/>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B6520E77-BB0B-4B3A-A23C-C11BC2E1D59A}"/>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3854F809-C786-4644-9BB0-83DBC6DE734D}"/>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E5AF1713-3186-4A59-8969-7D45A106765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원문 추출·대조·사람 확정</a:t>
            </a:r>
          </a:p>
        </p:txBody>
      </p:sp>
      <p:sp>
        <p:nvSpPr>
          <p:cNvPr id="2" name="">
            <a:extLst xmlns:a="http://schemas.openxmlformats.org/drawingml/2006/main">
              <a:ext uri="{FF2B5EF4-FFF2-40B4-BE49-F238E27FC236}">
                <a16:creationId xmlns:a16="http://schemas.microsoft.com/office/drawing/2014/main" id="{49B154EB-1138-4D9B-B30A-932A9A10D5D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세부 서비스 구조</a:t>
            </a:r>
          </a:p>
        </p:txBody>
      </p:sp>
      <p:sp>
        <p:nvSpPr>
          <p:cNvPr id="3" name="">
            <a:extLst xmlns:a="http://schemas.openxmlformats.org/drawingml/2006/main">
              <a:ext uri="{FF2B5EF4-FFF2-40B4-BE49-F238E27FC236}">
                <a16:creationId xmlns:a16="http://schemas.microsoft.com/office/drawing/2014/main" id="{7B9442A4-956B-4878-AFE2-DE4B638AAA9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83F738-43BD-40A6-A359-B72F20808BC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393D5EF-9FEC-4A32-9331-0EB3C324EB0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36</a:t>
            </a:r>
          </a:p>
        </p:txBody>
      </p:sp>
      <p:sp>
        <p:nvSpPr>
          <p:cNvPr id="6" name="">
            <a:extLst xmlns:a="http://schemas.openxmlformats.org/drawingml/2006/main">
              <a:ext uri="{FF2B5EF4-FFF2-40B4-BE49-F238E27FC236}">
                <a16:creationId xmlns:a16="http://schemas.microsoft.com/office/drawing/2014/main" id="{EE14AF19-4178-40C6-AB05-E625F60D6A0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안전·규정 지식 → 권한별 검색 → 문서 검토 → 현업 피드백</a:t>
            </a:r>
          </a:p>
        </p:txBody>
      </p:sp>
      <p:sp>
        <p:nvSpPr>
          <p:cNvPr id="7" name="">
            <a:extLst xmlns:a="http://schemas.openxmlformats.org/drawingml/2006/main">
              <a:ext uri="{FF2B5EF4-FFF2-40B4-BE49-F238E27FC236}">
                <a16:creationId xmlns:a16="http://schemas.microsoft.com/office/drawing/2014/main" id="{154B3DF4-EFEF-4D8A-90A6-7A8780FA09F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8C900E9-EED3-4F1E-A5C2-16A5613B2A0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DFD61EAB-FAA1-453E-AD59-77D3C8480282}"/>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현업 접점</a:t>
            </a:r>
          </a:p>
        </p:txBody>
      </p:sp>
      <p:sp>
        <p:nvSpPr>
          <p:cNvPr id="10" name="">
            <a:extLst xmlns:a="http://schemas.openxmlformats.org/drawingml/2006/main">
              <a:ext uri="{FF2B5EF4-FFF2-40B4-BE49-F238E27FC236}">
                <a16:creationId xmlns:a16="http://schemas.microsoft.com/office/drawing/2014/main" id="{4E86C237-731E-40CD-B061-D289CE26A596}"/>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F1E71A4-4D76-4E43-99AD-5D68234F2701}"/>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5CAB1A64-EF78-427E-A529-2F6E20D3C91F}"/>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문서·규정 대조</a:t>
            </a:r>
          </a:p>
        </p:txBody>
      </p:sp>
      <p:sp>
        <p:nvSpPr>
          <p:cNvPr id="13" name="">
            <a:extLst xmlns:a="http://schemas.openxmlformats.org/drawingml/2006/main">
              <a:ext uri="{FF2B5EF4-FFF2-40B4-BE49-F238E27FC236}">
                <a16:creationId xmlns:a16="http://schemas.microsoft.com/office/drawing/2014/main" id="{A8E2E064-A821-43BC-9C02-AF0886A5E85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9F34A7C-E2E4-4581-80AE-52CD89C5A81A}"/>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86279B08-5C60-447C-9CD4-BADAE6B69E3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상충·구판 검사</a:t>
            </a:r>
          </a:p>
        </p:txBody>
      </p:sp>
      <p:sp>
        <p:nvSpPr>
          <p:cNvPr id="16" name="">
            <a:extLst xmlns:a="http://schemas.openxmlformats.org/drawingml/2006/main">
              <a:ext uri="{FF2B5EF4-FFF2-40B4-BE49-F238E27FC236}">
                <a16:creationId xmlns:a16="http://schemas.microsoft.com/office/drawing/2014/main" id="{0506F635-8A6D-4216-AAB2-809E1A906D36}"/>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91595D78-813D-4340-B1B2-DB0F8C2FEE57}"/>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57550CE4-C534-4126-AADA-7B946E7AA2F3}"/>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검토</a:t>
            </a:r>
          </a:p>
        </p:txBody>
      </p:sp>
      <p:sp>
        <p:nvSpPr>
          <p:cNvPr id="19" name="">
            <a:extLst xmlns:a="http://schemas.openxmlformats.org/drawingml/2006/main">
              <a:ext uri="{FF2B5EF4-FFF2-40B4-BE49-F238E27FC236}">
                <a16:creationId xmlns:a16="http://schemas.microsoft.com/office/drawing/2014/main" id="{ADED01D3-D38D-42EE-98EE-F82FDCB06E43}"/>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16A00678-7371-499E-9414-8FA28F740F0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9C1A15D5-9C1F-4AA0-BAAA-5D9AD1BBD18C}"/>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검토 의견</a:t>
            </a:r>
          </a:p>
        </p:txBody>
      </p:sp>
      <p:sp>
        <p:nvSpPr>
          <p:cNvPr id="22" name="">
            <a:extLst xmlns:a="http://schemas.openxmlformats.org/drawingml/2006/main">
              <a:ext uri="{FF2B5EF4-FFF2-40B4-BE49-F238E27FC236}">
                <a16:creationId xmlns:a16="http://schemas.microsoft.com/office/drawing/2014/main" id="{510BB058-7384-411F-90EC-93AE889B2F7E}"/>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2633104-93C5-497C-ADF8-AAB3A1467836}"/>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B7FC6330-F0E6-49BA-8095-214045792CD8}"/>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안전규정·부서문서</a:t>
            </a:r>
          </a:p>
        </p:txBody>
      </p:sp>
      <p:sp>
        <p:nvSpPr>
          <p:cNvPr id="25" name="">
            <a:extLst xmlns:a="http://schemas.openxmlformats.org/drawingml/2006/main">
              <a:ext uri="{FF2B5EF4-FFF2-40B4-BE49-F238E27FC236}">
                <a16:creationId xmlns:a16="http://schemas.microsoft.com/office/drawing/2014/main" id="{1EB228DD-3FC3-4578-BC29-D91736609536}"/>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F6E27B40-7335-4EEE-8B6C-6F0888ABEF6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3E7E26C6-6744-4F9B-AE99-13F6D4AA41C5}"/>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자동 문서 최신화</a:t>
            </a:r>
          </a:p>
        </p:txBody>
      </p:sp>
      <p:sp>
        <p:nvSpPr>
          <p:cNvPr id="28" name="">
            <a:extLst xmlns:a="http://schemas.openxmlformats.org/drawingml/2006/main">
              <a:ext uri="{FF2B5EF4-FFF2-40B4-BE49-F238E27FC236}">
                <a16:creationId xmlns:a16="http://schemas.microsoft.com/office/drawing/2014/main" id="{7368BE43-2AC7-4E70-B88B-FCD6CD229262}"/>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6BA8115-9E9A-46BB-BEC1-724CCCCA9B91}"/>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E1D01EE6-CE82-4C1C-AF23-16FFA61E888C}"/>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지식 검색</a:t>
            </a:r>
          </a:p>
        </p:txBody>
      </p:sp>
      <p:sp>
        <p:nvSpPr>
          <p:cNvPr id="31" name="">
            <a:extLst xmlns:a="http://schemas.openxmlformats.org/drawingml/2006/main">
              <a:ext uri="{FF2B5EF4-FFF2-40B4-BE49-F238E27FC236}">
                <a16:creationId xmlns:a16="http://schemas.microsoft.com/office/drawing/2014/main" id="{0A01D2F9-B982-4690-A42F-F540073ED694}"/>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4F0322E5-6B9C-4F1C-B3F8-00F18CE84C57}"/>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E0F5E88E-CC38-4BD6-A3A7-5EAF413EC0CB}"/>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폴더·RAG 색인</a:t>
            </a:r>
          </a:p>
        </p:txBody>
      </p:sp>
      <p:sp>
        <p:nvSpPr>
          <p:cNvPr id="34" name="">
            <a:extLst xmlns:a="http://schemas.openxmlformats.org/drawingml/2006/main">
              <a:ext uri="{FF2B5EF4-FFF2-40B4-BE49-F238E27FC236}">
                <a16:creationId xmlns:a16="http://schemas.microsoft.com/office/drawing/2014/main" id="{39B5FFBF-CC43-4D9B-A752-0654DFB4A3B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6D25886C-70AB-475A-9938-B35351AAC1A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D14C0E82-461D-42B2-92ED-1557D0B982F5}"/>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피드백·권한 시험</a:t>
            </a:r>
          </a:p>
        </p:txBody>
      </p:sp>
      <p:sp>
        <p:nvSpPr>
          <p:cNvPr id="46" name="">
            <a:extLst xmlns:a="http://schemas.openxmlformats.org/drawingml/2006/main">
              <a:ext uri="{FF2B5EF4-FFF2-40B4-BE49-F238E27FC236}">
                <a16:creationId xmlns:a16="http://schemas.microsoft.com/office/drawing/2014/main" id="{1756A6F2-C0D0-4867-8115-0D2EEBD525E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62202623"/>
      </p:ext>
    </p:extLst>
  </p:cSld>
</p:sld>
</file>

<file path=ppt/slides/slide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B532A50-2BD2-428A-A44F-A96237D0DA5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논리 인터페이스·복구 설계</a:t>
            </a:r>
          </a:p>
        </p:txBody>
      </p:sp>
      <p:sp>
        <p:nvSpPr>
          <p:cNvPr id="2" name="">
            <a:extLst xmlns:a="http://schemas.openxmlformats.org/drawingml/2006/main">
              <a:ext uri="{FF2B5EF4-FFF2-40B4-BE49-F238E27FC236}">
                <a16:creationId xmlns:a16="http://schemas.microsoft.com/office/drawing/2014/main" id="{F47BD3F4-FD27-47B9-BC38-17CA585447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데이터와 예외 처리</a:t>
            </a:r>
          </a:p>
        </p:txBody>
      </p:sp>
      <p:sp>
        <p:nvSpPr>
          <p:cNvPr id="3" name="">
            <a:extLst xmlns:a="http://schemas.openxmlformats.org/drawingml/2006/main">
              <a:ext uri="{FF2B5EF4-FFF2-40B4-BE49-F238E27FC236}">
                <a16:creationId xmlns:a16="http://schemas.microsoft.com/office/drawing/2014/main" id="{C6B71B76-28AB-4F46-8BBC-47A6B9D1885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0224B4-7AB8-4086-988F-96C3DBC7783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EDC367E-508C-4481-A02D-FC12CF90374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37</a:t>
            </a:r>
          </a:p>
        </p:txBody>
      </p:sp>
      <p:sp>
        <p:nvSpPr>
          <p:cNvPr id="6" name="">
            <a:extLst xmlns:a="http://schemas.openxmlformats.org/drawingml/2006/main">
              <a:ext uri="{FF2B5EF4-FFF2-40B4-BE49-F238E27FC236}">
                <a16:creationId xmlns:a16="http://schemas.microsoft.com/office/drawing/2014/main" id="{3D82F928-174E-4E2C-91A5-90C541F433F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0C23FD4E-EA5C-4E1D-BA3C-4B31ABC57AB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13EB1EF-53F6-4DD5-BB02-6BE4508501C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3197F30E-76F3-4C83-B774-911270878AC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규정·부서 지식</a:t>
            </a:r>
          </a:p>
        </p:txBody>
      </p:sp>
      <p:sp>
        <p:nvSpPr>
          <p:cNvPr id="10" name="">
            <a:extLst xmlns:a="http://schemas.openxmlformats.org/drawingml/2006/main">
              <a:ext uri="{FF2B5EF4-FFF2-40B4-BE49-F238E27FC236}">
                <a16:creationId xmlns:a16="http://schemas.microsoft.com/office/drawing/2014/main" id="{04EDA7AF-46A6-4730-9036-AECE354884F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03A505-3FA3-402B-AAD9-CF8C2758D357}"/>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4D2DB27F-52B7-4C19-9EC8-1D5A1B48DB00}"/>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FED04C01-8AFC-45A0-A08A-517A1373E80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D4FF5C8-5079-418D-BD03-6C7223CBEE4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BCC0D7CC-C6CA-4DD9-A040-79F6B1A0380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16" name="">
            <a:extLst xmlns:a="http://schemas.openxmlformats.org/drawingml/2006/main">
              <a:ext uri="{FF2B5EF4-FFF2-40B4-BE49-F238E27FC236}">
                <a16:creationId xmlns:a16="http://schemas.microsoft.com/office/drawing/2014/main" id="{4F6FCF14-D8D6-434A-A98A-17E06C09480F}"/>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C230CE0-F9C7-4670-88BA-18803491F5F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AAA2CE47-F3E7-4907-80D1-30D99326671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지식</a:t>
            </a:r>
          </a:p>
        </p:txBody>
      </p:sp>
      <p:sp>
        <p:nvSpPr>
          <p:cNvPr id="19" name="">
            <a:extLst xmlns:a="http://schemas.openxmlformats.org/drawingml/2006/main">
              <a:ext uri="{FF2B5EF4-FFF2-40B4-BE49-F238E27FC236}">
                <a16:creationId xmlns:a16="http://schemas.microsoft.com/office/drawing/2014/main" id="{533EBC7B-376B-42C7-8B7F-01275C261BB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C44382A-D30C-414F-8435-51F3586C3D4B}"/>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40C03916-F3AF-42EA-97AD-D707B741EBD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22" name="">
            <a:extLst xmlns:a="http://schemas.openxmlformats.org/drawingml/2006/main">
              <a:ext uri="{FF2B5EF4-FFF2-40B4-BE49-F238E27FC236}">
                <a16:creationId xmlns:a16="http://schemas.microsoft.com/office/drawing/2014/main" id="{A514BCDF-C5BA-41E6-97DD-11E4ADF38A1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AA323FE-49CA-4613-8431-EAE5BDED664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92B65133-FBDB-4708-AD04-EB58B3A38D6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피드백</a:t>
            </a:r>
          </a:p>
        </p:txBody>
      </p:sp>
      <p:sp>
        <p:nvSpPr>
          <p:cNvPr id="25" name="">
            <a:extLst xmlns:a="http://schemas.openxmlformats.org/drawingml/2006/main">
              <a:ext uri="{FF2B5EF4-FFF2-40B4-BE49-F238E27FC236}">
                <a16:creationId xmlns:a16="http://schemas.microsoft.com/office/drawing/2014/main" id="{8D491DF5-73E6-4C96-B517-DBBC14643EF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DBCD557-FA57-47C1-812F-C51AA945423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규정·부서 제한 문서·서로 상충하는 출처</a:t>
            </a:r>
          </a:p>
        </p:txBody>
      </p:sp>
      <p:sp>
        <p:nvSpPr>
          <p:cNvPr id="27" name="">
            <a:extLst xmlns:a="http://schemas.openxmlformats.org/drawingml/2006/main">
              <a:ext uri="{FF2B5EF4-FFF2-40B4-BE49-F238E27FC236}">
                <a16:creationId xmlns:a16="http://schemas.microsoft.com/office/drawing/2014/main" id="{31D6C3F2-5CA9-4130-B7E4-9168E996D44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B218274-595E-412D-BC66-5A5A267A469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권한·판본별 안전 질의 정답 대조</a:t>
            </a:r>
          </a:p>
        </p:txBody>
      </p:sp>
      <p:sp>
        <p:nvSpPr>
          <p:cNvPr id="29" name="">
            <a:extLst xmlns:a="http://schemas.openxmlformats.org/drawingml/2006/main">
              <a:ext uri="{FF2B5EF4-FFF2-40B4-BE49-F238E27FC236}">
                <a16:creationId xmlns:a16="http://schemas.microsoft.com/office/drawing/2014/main" id="{ACC5ABFD-F9EB-4157-B00D-C133C5491DD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368D3A7-D5A6-4F55-B964-C88E9A9AD3C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피드백·개정 반영·권한별 검색 결과 검사</a:t>
            </a:r>
          </a:p>
        </p:txBody>
      </p:sp>
      <p:sp>
        <p:nvSpPr>
          <p:cNvPr id="31" name="">
            <a:extLst xmlns:a="http://schemas.openxmlformats.org/drawingml/2006/main">
              <a:ext uri="{FF2B5EF4-FFF2-40B4-BE49-F238E27FC236}">
                <a16:creationId xmlns:a16="http://schemas.microsoft.com/office/drawing/2014/main" id="{122A421A-62F2-40A8-A00D-B6B6F5621FA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81E5FE3-8C54-4E98-A8CC-6B5DA0A7555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판본·권한별 응답과 상충 근거 표시·수정 이력</a:t>
            </a:r>
          </a:p>
        </p:txBody>
      </p:sp>
    </p:spTree>
    <p:extLst>
      <p:ext uri="{BB962C8B-B14F-4D97-AF65-F5344CB8AC3E}">
        <p14:creationId xmlns:p14="http://schemas.microsoft.com/office/powerpoint/2010/main" val="399845937"/>
      </p:ext>
    </p:extLst>
  </p:cSld>
</p:sld>
</file>

<file path=ppt/slides/slide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AA523C0-4405-4062-B30C-0B740A76769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CCK 비교·재현 시험 설계</a:t>
            </a:r>
          </a:p>
        </p:txBody>
      </p:sp>
      <p:sp>
        <p:nvSpPr>
          <p:cNvPr id="2" name="">
            <a:extLst xmlns:a="http://schemas.openxmlformats.org/drawingml/2006/main">
              <a:ext uri="{FF2B5EF4-FFF2-40B4-BE49-F238E27FC236}">
                <a16:creationId xmlns:a16="http://schemas.microsoft.com/office/drawing/2014/main" id="{7E3901EE-A37B-4B81-9F49-613146E2959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벤치마킹</a:t>
            </a:r>
          </a:p>
        </p:txBody>
      </p:sp>
      <p:sp>
        <p:nvSpPr>
          <p:cNvPr id="3" name="">
            <a:extLst xmlns:a="http://schemas.openxmlformats.org/drawingml/2006/main">
              <a:ext uri="{FF2B5EF4-FFF2-40B4-BE49-F238E27FC236}">
                <a16:creationId xmlns:a16="http://schemas.microsoft.com/office/drawing/2014/main" id="{BADB4605-721E-47D2-B460-14DE7D80533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535FC3-25E9-4CD9-8046-0585D78D4E5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342AA28-D177-4837-95D5-1D4B79A6D14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38</a:t>
            </a:r>
          </a:p>
        </p:txBody>
      </p:sp>
      <p:sp>
        <p:nvSpPr>
          <p:cNvPr id="6" name="">
            <a:extLst xmlns:a="http://schemas.openxmlformats.org/drawingml/2006/main">
              <a:ext uri="{FF2B5EF4-FFF2-40B4-BE49-F238E27FC236}">
                <a16:creationId xmlns:a16="http://schemas.microsoft.com/office/drawing/2014/main" id="{861BB7DB-4385-441C-8F46-D9220DF6E91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48DF970-FC5F-4D41-AE37-3D5B9A1C4D6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도메인 지식 집중</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개인·부서 지식공간의 구분</a:t>
            </a:r>
          </a:p>
        </p:txBody>
      </p:sp>
      <p:sp>
        <p:nvSpPr>
          <p:cNvPr id="8" name="">
            <a:extLst xmlns:a="http://schemas.openxmlformats.org/drawingml/2006/main">
              <a:ext uri="{FF2B5EF4-FFF2-40B4-BE49-F238E27FC236}">
                <a16:creationId xmlns:a16="http://schemas.microsoft.com/office/drawing/2014/main" id="{4EEE7435-D76B-4603-A56A-9C40E0A2E25C}"/>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B631871-D15F-4D53-9772-9C440294619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 자료의 권한 혼입</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계약 발표를 안전 품질 검수로 간주</a:t>
            </a:r>
          </a:p>
        </p:txBody>
      </p:sp>
      <p:sp>
        <p:nvSpPr>
          <p:cNvPr id="10" name="">
            <a:extLst xmlns:a="http://schemas.openxmlformats.org/drawingml/2006/main">
              <a:ext uri="{FF2B5EF4-FFF2-40B4-BE49-F238E27FC236}">
                <a16:creationId xmlns:a16="http://schemas.microsoft.com/office/drawing/2014/main" id="{2C6C6EE3-0605-401B-8C85-0D919D769F5B}"/>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5371C94E-EF25-4092-BC21-E9752EB4BD5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권한·판본별 안전 질의 정답 대조</a:t>
            </a:r>
          </a:p>
        </p:txBody>
      </p:sp>
      <p:sp>
        <p:nvSpPr>
          <p:cNvPr id="12" name="">
            <a:extLst xmlns:a="http://schemas.openxmlformats.org/drawingml/2006/main">
              <a:ext uri="{FF2B5EF4-FFF2-40B4-BE49-F238E27FC236}">
                <a16:creationId xmlns:a16="http://schemas.microsoft.com/office/drawing/2014/main" id="{7644DB01-B6F3-4795-8EB5-9E145A19976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FCE0CA66-1FBB-4564-81B5-B95590033A86}"/>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문서를 최신 규정과 대조하고 부서 공간에서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검토</a:t>
            </a:r>
          </a:p>
        </p:txBody>
      </p:sp>
      <p:sp>
        <p:nvSpPr>
          <p:cNvPr id="14" name="">
            <a:extLst xmlns:a="http://schemas.openxmlformats.org/drawingml/2006/main">
              <a:ext uri="{FF2B5EF4-FFF2-40B4-BE49-F238E27FC236}">
                <a16:creationId xmlns:a16="http://schemas.microsoft.com/office/drawing/2014/main" id="{80FE2FC2-C9F0-4EF1-8B3E-CF7C30454BD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C1A9D2F-4DFA-44AC-90F2-1A62F9BF52D5}"/>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규정·부서 제한 문서·서로 상충하는 출처</a:t>
            </a:r>
          </a:p>
        </p:txBody>
      </p:sp>
      <p:sp>
        <p:nvSpPr>
          <p:cNvPr id="16" name="">
            <a:extLst xmlns:a="http://schemas.openxmlformats.org/drawingml/2006/main">
              <a:ext uri="{FF2B5EF4-FFF2-40B4-BE49-F238E27FC236}">
                <a16:creationId xmlns:a16="http://schemas.microsoft.com/office/drawing/2014/main" id="{ECA747AF-708D-4259-A31F-AE90E192A45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322428D3-99CE-4AC3-82F7-A2BFD6D9668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판본·권한별 응답과 상충 근거 표시·수정 이력</a:t>
            </a:r>
          </a:p>
        </p:txBody>
      </p:sp>
    </p:spTree>
    <p:extLst>
      <p:ext uri="{BB962C8B-B14F-4D97-AF65-F5344CB8AC3E}">
        <p14:creationId xmlns:p14="http://schemas.microsoft.com/office/powerpoint/2010/main" val="1495383643"/>
      </p:ext>
    </p:extLst>
  </p:cSld>
</p:sld>
</file>

<file path=ppt/slides/slide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D157159-8864-44DD-91EF-BA1555F57B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성과 미검증 / 국내</a:t>
            </a:r>
          </a:p>
        </p:txBody>
      </p:sp>
      <p:sp>
        <p:nvSpPr>
          <p:cNvPr id="2" name="">
            <a:extLst xmlns:a="http://schemas.openxmlformats.org/drawingml/2006/main">
              <a:ext uri="{FF2B5EF4-FFF2-40B4-BE49-F238E27FC236}">
                <a16:creationId xmlns:a16="http://schemas.microsoft.com/office/drawing/2014/main" id="{34A6F1C7-1F69-4204-9C7B-D53FD7713E4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a:t>
            </a:r>
          </a:p>
        </p:txBody>
      </p:sp>
      <p:sp>
        <p:nvSpPr>
          <p:cNvPr id="3" name="">
            <a:extLst xmlns:a="http://schemas.openxmlformats.org/drawingml/2006/main">
              <a:ext uri="{FF2B5EF4-FFF2-40B4-BE49-F238E27FC236}">
                <a16:creationId xmlns:a16="http://schemas.microsoft.com/office/drawing/2014/main" id="{3E70217F-A770-4A24-941F-0F61EDF7362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AA9B1C9-AD42-4758-BEF2-DC2DF33A5A2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684CB9A-B44B-4C2C-8E80-A987B2789B0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39</a:t>
            </a:r>
          </a:p>
        </p:txBody>
      </p:sp>
      <p:sp>
        <p:nvSpPr>
          <p:cNvPr id="6" name="">
            <a:extLst xmlns:a="http://schemas.openxmlformats.org/drawingml/2006/main">
              <a:ext uri="{FF2B5EF4-FFF2-40B4-BE49-F238E27FC236}">
                <a16:creationId xmlns:a16="http://schemas.microsoft.com/office/drawing/2014/main" id="{6BDAE303-348D-4D90-8AD8-B70B1CD65BB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EF7EA61-4046-492F-B50B-4DBBDD0A5F01}"/>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경기도 홈페이지에 축적된 정책·복지·공고 정보를 자연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어로 찾도록 하는 검색 접점 고도화. 국민의 요청을 신청</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자격·지역·기간 등의 조건으로 정리하고, 맞는 공고와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신청 화면으로 연결하는 업무.</a:t>
            </a:r>
          </a:p>
        </p:txBody>
      </p:sp>
      <p:sp>
        <p:nvSpPr>
          <p:cNvPr id="8" name="">
            <a:extLst xmlns:a="http://schemas.openxmlformats.org/drawingml/2006/main">
              <a:ext uri="{FF2B5EF4-FFF2-40B4-BE49-F238E27FC236}">
                <a16:creationId xmlns:a16="http://schemas.microsoft.com/office/drawing/2014/main" id="{EB53BBBA-5A7E-40EB-9215-DAD4797826B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9160BF0-FFF1-42B5-8F71-CD76DAD5BD0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서비스 도면은 홈페이지 RDB의 대상 자료를 공공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클라우드 RAG 영역에 수집·임베딩하고, 질의와 검색 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거를 외부 LLM에 전달한 뒤 홈페이지 채팅 UI로 답변하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구성. 기능도에는 데이터·프롬프트·이력·모델·통계를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관리 영역으로 명시.</a:t>
            </a:r>
          </a:p>
        </p:txBody>
      </p:sp>
      <p:sp>
        <p:nvSpPr>
          <p:cNvPr id="10" name="">
            <a:extLst xmlns:a="http://schemas.openxmlformats.org/drawingml/2006/main">
              <a:ext uri="{FF2B5EF4-FFF2-40B4-BE49-F238E27FC236}">
                <a16:creationId xmlns:a16="http://schemas.microsoft.com/office/drawing/2014/main" id="{12DFC240-E2AF-4904-8878-4AD94E0226F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A140C4BD-0EB1-4E35-9B07-C9DC0DC01C8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챗봇이 답한 것과 국민이 원하는 서비스를 찾은 것을 구분해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평가할 사례. 마감 공고·지역 불일치·자격 예외를 포함한 질</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문으로 원문 링크 도달과 다음 절차 안내를 검증할 필요. TS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대국민 접점에서는 기존 메뉴·신청 시스템을 유지하면서 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연어·음성 진입을 추가하는 방향.</a:t>
            </a:r>
          </a:p>
        </p:txBody>
      </p:sp>
      <p:sp>
        <p:nvSpPr>
          <p:cNvPr id="12" name="">
            <a:extLst xmlns:a="http://schemas.openxmlformats.org/drawingml/2006/main">
              <a:ext uri="{FF2B5EF4-FFF2-40B4-BE49-F238E27FC236}">
                <a16:creationId xmlns:a16="http://schemas.microsoft.com/office/drawing/2014/main" id="{7150F664-36C3-4144-B115-E73E6CEA70F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5D5BC70-E6AB-4E9B-8215-2F4958807A69}"/>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서비스·조건·기한 사전 / 유사 공고 비교 / 원문·신청 경로 연결</a:t>
            </a:r>
          </a:p>
        </p:txBody>
      </p:sp>
      <p:sp>
        <p:nvSpPr>
          <p:cNvPr id="14" name="">
            <a:extLst xmlns:a="http://schemas.openxmlformats.org/drawingml/2006/main">
              <a:ext uri="{FF2B5EF4-FFF2-40B4-BE49-F238E27FC236}">
                <a16:creationId xmlns:a16="http://schemas.microsoft.com/office/drawing/2014/main" id="{017CB83D-A741-4B40-AE37-5918FCE8DFB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A277A25-0DF5-41D6-A494-ABEF1C534D0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마감·유사 공고·갱신 지연 질의의 조건 일치와 서비스 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달 확인</a:t>
            </a:r>
          </a:p>
        </p:txBody>
      </p:sp>
      <p:sp>
        <p:nvSpPr>
          <p:cNvPr id="16" name="">
            <a:extLst xmlns:a="http://schemas.openxmlformats.org/drawingml/2006/main">
              <a:ext uri="{FF2B5EF4-FFF2-40B4-BE49-F238E27FC236}">
                <a16:creationId xmlns:a16="http://schemas.microsoft.com/office/drawing/2014/main" id="{1BF73BF2-CDF9-4806-9B43-A02E0AB4512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7D54D43-B1EF-4905-8CFD-09BB36CA7F4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정확한 공고 도달률 / 탐색시간 / 이용 포기율</a:t>
            </a:r>
          </a:p>
        </p:txBody>
      </p:sp>
      <p:sp>
        <p:nvSpPr>
          <p:cNvPr id="18" name="">
            <a:extLst xmlns:a="http://schemas.openxmlformats.org/drawingml/2006/main">
              <a:ext uri="{FF2B5EF4-FFF2-40B4-BE49-F238E27FC236}">
                <a16:creationId xmlns:a16="http://schemas.microsoft.com/office/drawing/2014/main" id="{E7206328-59B1-4B60-B5CA-A6FE47E72842}"/>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착수자료의 2025년 11월 예정과 실제 개시·정량 성과를 구분</a:t>
            </a:r>
          </a:p>
        </p:txBody>
      </p:sp>
    </p:spTree>
    <p:extLst>
      <p:ext uri="{BB962C8B-B14F-4D97-AF65-F5344CB8AC3E}">
        <p14:creationId xmlns:p14="http://schemas.microsoft.com/office/powerpoint/2010/main" val="1953301876"/>
      </p:ext>
    </p:extLst>
  </p:cSld>
</p:sld>
</file>

<file path=ppt/slides/slide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FB6901A-C9CE-423C-83E1-AB974D6D6F7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As-Is → To-Be → 기대효과 → 확인 결과</a:t>
            </a:r>
          </a:p>
        </p:txBody>
      </p:sp>
      <p:sp>
        <p:nvSpPr>
          <p:cNvPr id="2" name="">
            <a:extLst xmlns:a="http://schemas.openxmlformats.org/drawingml/2006/main">
              <a:ext uri="{FF2B5EF4-FFF2-40B4-BE49-F238E27FC236}">
                <a16:creationId xmlns:a16="http://schemas.microsoft.com/office/drawing/2014/main" id="{57208B11-224D-4861-81CE-B81C4ECA481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기대와 결과</a:t>
            </a:r>
          </a:p>
        </p:txBody>
      </p:sp>
      <p:sp>
        <p:nvSpPr>
          <p:cNvPr id="3" name="">
            <a:extLst xmlns:a="http://schemas.openxmlformats.org/drawingml/2006/main">
              <a:ext uri="{FF2B5EF4-FFF2-40B4-BE49-F238E27FC236}">
                <a16:creationId xmlns:a16="http://schemas.microsoft.com/office/drawing/2014/main" id="{0EB5F565-CCC3-4913-BA1E-2065980C386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B582567-B3AF-42AE-B4C3-02D599218AC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B45D553-AA26-4D66-960F-1E4671F41CB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40</a:t>
            </a:r>
          </a:p>
        </p:txBody>
      </p:sp>
      <p:sp>
        <p:nvSpPr>
          <p:cNvPr id="6" name="">
            <a:extLst xmlns:a="http://schemas.openxmlformats.org/drawingml/2006/main">
              <a:ext uri="{FF2B5EF4-FFF2-40B4-BE49-F238E27FC236}">
                <a16:creationId xmlns:a16="http://schemas.microsoft.com/office/drawing/2014/main" id="{1DA1FC28-7EA9-4571-A263-16675B1215A2}"/>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D36DADEF-F970-4605-9187-CA2814BE84AF}"/>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도민이 정책·복지·공고 메뉴를 순회하며 지역·대상·마감조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건을 직접 비교</a:t>
            </a:r>
          </a:p>
        </p:txBody>
      </p:sp>
      <p:sp>
        <p:nvSpPr>
          <p:cNvPr id="8" name="">
            <a:extLst xmlns:a="http://schemas.openxmlformats.org/drawingml/2006/main">
              <a:ext uri="{FF2B5EF4-FFF2-40B4-BE49-F238E27FC236}">
                <a16:creationId xmlns:a16="http://schemas.microsoft.com/office/drawing/2014/main" id="{AE86AA22-F0D5-488A-BE38-50ABAE1FBC23}"/>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D9334A9C-9226-4EF3-970F-3687D891FA7D}"/>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자연어 의도·지역 조건으로 최신 공고를 비교·설명하고 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 원문·신청 경로로 연결</a:t>
            </a:r>
          </a:p>
        </p:txBody>
      </p:sp>
      <p:sp>
        <p:nvSpPr>
          <p:cNvPr id="10" name="">
            <a:extLst xmlns:a="http://schemas.openxmlformats.org/drawingml/2006/main">
              <a:ext uri="{FF2B5EF4-FFF2-40B4-BE49-F238E27FC236}">
                <a16:creationId xmlns:a16="http://schemas.microsoft.com/office/drawing/2014/main" id="{20A95B16-E22C-44FE-A588-A07EA8C4A844}"/>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D53B95F-F902-465C-831D-2CB3A1B22CC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유효 공고 도달률 향상, 탐색시간·이용 포기율 감소</a:t>
            </a:r>
          </a:p>
        </p:txBody>
      </p:sp>
      <p:sp>
        <p:nvSpPr>
          <p:cNvPr id="12" name="">
            <a:extLst xmlns:a="http://schemas.openxmlformats.org/drawingml/2006/main">
              <a:ext uri="{FF2B5EF4-FFF2-40B4-BE49-F238E27FC236}">
                <a16:creationId xmlns:a16="http://schemas.microsoft.com/office/drawing/2014/main" id="{351867EE-7770-4178-BE6F-66D09261271C}"/>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E351BBA3-3FB6-4958-9054-356FD26D3FA8}"/>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RFP·착수 발표 확인. 계획한 개시일과 실제 운영·도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달률·신청 전환 실적은 별도 확인 불가</a:t>
            </a:r>
          </a:p>
        </p:txBody>
      </p:sp>
      <p:sp>
        <p:nvSpPr>
          <p:cNvPr id="14" name="">
            <a:extLst xmlns:a="http://schemas.openxmlformats.org/drawingml/2006/main">
              <a:ext uri="{FF2B5EF4-FFF2-40B4-BE49-F238E27FC236}">
                <a16:creationId xmlns:a16="http://schemas.microsoft.com/office/drawing/2014/main" id="{A9555519-DB42-45FD-9554-DF467754356F}"/>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착수는 서비스 품질이나 국민의 실제 업무 완료를 보여주지 않음</a:t>
            </a:r>
          </a:p>
        </p:txBody>
      </p:sp>
      <p:sp>
        <p:nvSpPr>
          <p:cNvPr id="15" name="">
            <a:extLst xmlns:a="http://schemas.openxmlformats.org/drawingml/2006/main">
              <a:ext uri="{FF2B5EF4-FFF2-40B4-BE49-F238E27FC236}">
                <a16:creationId xmlns:a16="http://schemas.microsoft.com/office/drawing/2014/main" id="{AD8C48E4-1EDC-4B1A-AFC2-137C69F66A1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RFP 목표 + 착수 · 동일 지역·신청 자격·마감일 기준 비교군 필요; 안내와 신청 완료 구분</a:t>
            </a:r>
          </a:p>
        </p:txBody>
      </p:sp>
    </p:spTree>
    <p:extLst>
      <p:ext uri="{BB962C8B-B14F-4D97-AF65-F5344CB8AC3E}">
        <p14:creationId xmlns:p14="http://schemas.microsoft.com/office/powerpoint/2010/main" val="1190191830"/>
      </p:ext>
    </p:extLst>
  </p:cSld>
</p:sld>
</file>

<file path=ppt/slides/slide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05F4DC3-ECEF-48BC-8BC2-804B048FE89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 SFR-003~006 / 1–3</a:t>
            </a:r>
          </a:p>
        </p:txBody>
      </p:sp>
      <p:sp>
        <p:nvSpPr>
          <p:cNvPr id="2" name="">
            <a:extLst xmlns:a="http://schemas.openxmlformats.org/drawingml/2006/main">
              <a:ext uri="{FF2B5EF4-FFF2-40B4-BE49-F238E27FC236}">
                <a16:creationId xmlns:a16="http://schemas.microsoft.com/office/drawing/2014/main" id="{943854D2-94B1-4586-9B2C-FA8C5986186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RFP 요구사항</a:t>
            </a:r>
          </a:p>
        </p:txBody>
      </p:sp>
      <p:sp>
        <p:nvSpPr>
          <p:cNvPr id="3" name="">
            <a:extLst xmlns:a="http://schemas.openxmlformats.org/drawingml/2006/main">
              <a:ext uri="{FF2B5EF4-FFF2-40B4-BE49-F238E27FC236}">
                <a16:creationId xmlns:a16="http://schemas.microsoft.com/office/drawing/2014/main" id="{E3DCCB1F-5107-430C-A78A-173A309BBF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618728-37F1-494E-8564-1A144F9F413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DD72A7D-16EC-4FF7-9AD9-8E0B7D6AC4C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41</a:t>
            </a:r>
          </a:p>
        </p:txBody>
      </p:sp>
      <p:sp>
        <p:nvSpPr>
          <p:cNvPr id="6" name="">
            <a:extLst xmlns:a="http://schemas.openxmlformats.org/drawingml/2006/main">
              <a:ext uri="{FF2B5EF4-FFF2-40B4-BE49-F238E27FC236}">
                <a16:creationId xmlns:a16="http://schemas.microsoft.com/office/drawing/2014/main" id="{0F251772-9370-4ECB-A389-45CE0A21EA6A}"/>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BB575B7-D5DE-49F1-B8AB-12A101083E45}"/>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생성형 AI 챗봇 검색 서비스 대상 데이터 수집·정제·전처리</a:t>
            </a:r>
          </a:p>
        </p:txBody>
      </p:sp>
      <p:sp>
        <p:nvSpPr>
          <p:cNvPr id="8" name="">
            <a:extLst xmlns:a="http://schemas.openxmlformats.org/drawingml/2006/main">
              <a:ext uri="{FF2B5EF4-FFF2-40B4-BE49-F238E27FC236}">
                <a16:creationId xmlns:a16="http://schemas.microsoft.com/office/drawing/2014/main" id="{C05B1900-05AE-4BD7-96B1-E7FD0C67842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정책·복지·공고 등 대상 데이터를 수집하고 정제·전처리하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는 기능.</a:t>
            </a:r>
          </a:p>
        </p:txBody>
      </p:sp>
      <p:sp>
        <p:nvSpPr>
          <p:cNvPr id="9" name="">
            <a:extLst xmlns:a="http://schemas.openxmlformats.org/drawingml/2006/main">
              <a:ext uri="{FF2B5EF4-FFF2-40B4-BE49-F238E27FC236}">
                <a16:creationId xmlns:a16="http://schemas.microsoft.com/office/drawing/2014/main" id="{099B01FC-9CEB-4FEF-8EF5-4911D43ABB2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첨부·표·중복 URL·깨진 링크 입력의 수집 범위와 정제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
        <p:nvSpPr>
          <p:cNvPr id="10" name="">
            <a:extLst xmlns:a="http://schemas.openxmlformats.org/drawingml/2006/main">
              <a:ext uri="{FF2B5EF4-FFF2-40B4-BE49-F238E27FC236}">
                <a16:creationId xmlns:a16="http://schemas.microsoft.com/office/drawing/2014/main" id="{14C8218C-579A-4704-BB52-F9F25D310EA0}"/>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52376B7-6EB0-484D-8C63-C49279B85FDB}"/>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실시간 데이터 파이프라인 자동화 구축</a:t>
            </a:r>
          </a:p>
        </p:txBody>
      </p:sp>
      <p:sp>
        <p:nvSpPr>
          <p:cNvPr id="12" name="">
            <a:extLst xmlns:a="http://schemas.openxmlformats.org/drawingml/2006/main">
              <a:ext uri="{FF2B5EF4-FFF2-40B4-BE49-F238E27FC236}">
                <a16:creationId xmlns:a16="http://schemas.microsoft.com/office/drawing/2014/main" id="{5DA9E965-1DB7-4CC7-8391-6E9B4F74F81F}"/>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신규·변경 정보를 반영하는 데이터 파이프라인 자동화.</a:t>
            </a:r>
          </a:p>
        </p:txBody>
      </p:sp>
      <p:sp>
        <p:nvSpPr>
          <p:cNvPr id="13" name="">
            <a:extLst xmlns:a="http://schemas.openxmlformats.org/drawingml/2006/main">
              <a:ext uri="{FF2B5EF4-FFF2-40B4-BE49-F238E27FC236}">
                <a16:creationId xmlns:a16="http://schemas.microsoft.com/office/drawing/2014/main" id="{DD9B266C-5127-40D8-A377-2DBDA2B66714}"/>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공고 수정·종료·삭제 후 색인 갱신과 수집 실패 후 재개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4" name="">
            <a:extLst xmlns:a="http://schemas.openxmlformats.org/drawingml/2006/main">
              <a:ext uri="{FF2B5EF4-FFF2-40B4-BE49-F238E27FC236}">
                <a16:creationId xmlns:a16="http://schemas.microsoft.com/office/drawing/2014/main" id="{AF0DDB9D-1B63-4EA8-ABB2-53F0973ECD54}"/>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397483B-269A-4CAD-A433-43AD66695DDF}"/>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RAG(Retrieval Augmented Generation) 구축</a:t>
            </a:r>
          </a:p>
        </p:txBody>
      </p:sp>
      <p:sp>
        <p:nvSpPr>
          <p:cNvPr id="16" name="">
            <a:extLst xmlns:a="http://schemas.openxmlformats.org/drawingml/2006/main">
              <a:ext uri="{FF2B5EF4-FFF2-40B4-BE49-F238E27FC236}">
                <a16:creationId xmlns:a16="http://schemas.microsoft.com/office/drawing/2014/main" id="{3E4E61C6-5E05-4496-A3DF-4E3DB9243373}"/>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정제 자료를 검색 근거로 제공하는 RAG 기반 구성.</a:t>
            </a:r>
          </a:p>
        </p:txBody>
      </p:sp>
      <p:sp>
        <p:nvSpPr>
          <p:cNvPr id="17" name="">
            <a:extLst xmlns:a="http://schemas.openxmlformats.org/drawingml/2006/main">
              <a:ext uri="{FF2B5EF4-FFF2-40B4-BE49-F238E27FC236}">
                <a16:creationId xmlns:a16="http://schemas.microsoft.com/office/drawing/2014/main" id="{67136D0D-8A8C-43A6-AB50-39FA3FBE32A0}"/>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기간·지역·대상 조건이 다른 유사 정책의 구분과 근거 페이지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정확성 평가</a:t>
            </a:r>
          </a:p>
        </p:txBody>
      </p:sp>
    </p:spTree>
    <p:extLst>
      <p:ext uri="{BB962C8B-B14F-4D97-AF65-F5344CB8AC3E}">
        <p14:creationId xmlns:p14="http://schemas.microsoft.com/office/powerpoint/2010/main" val="1488979156"/>
      </p:ext>
    </p:extLst>
  </p:cSld>
</p:sld>
</file>

<file path=ppt/slides/slide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1643955-44FC-43F9-82CB-D2F83DD9DFC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 SFR-003~006 / 4–4</a:t>
            </a:r>
          </a:p>
        </p:txBody>
      </p:sp>
      <p:sp>
        <p:nvSpPr>
          <p:cNvPr id="2" name="">
            <a:extLst xmlns:a="http://schemas.openxmlformats.org/drawingml/2006/main">
              <a:ext uri="{FF2B5EF4-FFF2-40B4-BE49-F238E27FC236}">
                <a16:creationId xmlns:a16="http://schemas.microsoft.com/office/drawing/2014/main" id="{3AE6734F-732B-4B37-8523-96B3F7D8C7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RFP 요구사항</a:t>
            </a:r>
          </a:p>
        </p:txBody>
      </p:sp>
      <p:sp>
        <p:nvSpPr>
          <p:cNvPr id="3" name="">
            <a:extLst xmlns:a="http://schemas.openxmlformats.org/drawingml/2006/main">
              <a:ext uri="{FF2B5EF4-FFF2-40B4-BE49-F238E27FC236}">
                <a16:creationId xmlns:a16="http://schemas.microsoft.com/office/drawing/2014/main" id="{C15F3F6D-2053-4E30-A97C-BA5A034DFB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F86A266-4AF6-4DB2-A8B2-3688CFC70EA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F184C09-A344-414B-835D-91EE44AFC2B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42</a:t>
            </a:r>
          </a:p>
        </p:txBody>
      </p:sp>
      <p:sp>
        <p:nvSpPr>
          <p:cNvPr id="6" name="">
            <a:extLst xmlns:a="http://schemas.openxmlformats.org/drawingml/2006/main">
              <a:ext uri="{FF2B5EF4-FFF2-40B4-BE49-F238E27FC236}">
                <a16:creationId xmlns:a16="http://schemas.microsoft.com/office/drawing/2014/main" id="{7E36F203-1264-4867-AC83-D165B368A60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4894A8-8AE6-4F28-A936-ADE05227BAF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생성형 AI 챗봇 검색 서비스 개발</a:t>
            </a:r>
          </a:p>
        </p:txBody>
      </p:sp>
      <p:sp>
        <p:nvSpPr>
          <p:cNvPr id="8" name="">
            <a:extLst xmlns:a="http://schemas.openxmlformats.org/drawingml/2006/main">
              <a:ext uri="{FF2B5EF4-FFF2-40B4-BE49-F238E27FC236}">
                <a16:creationId xmlns:a16="http://schemas.microsoft.com/office/drawing/2014/main" id="{541556D6-85BF-4B3B-AF8F-A0B88F3931C9}"/>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도민의 대화형 정보 탐색을 위한 챗봇·검색 서비스 구현.</a:t>
            </a:r>
          </a:p>
        </p:txBody>
      </p:sp>
      <p:sp>
        <p:nvSpPr>
          <p:cNvPr id="9" name="">
            <a:extLst xmlns:a="http://schemas.openxmlformats.org/drawingml/2006/main">
              <a:ext uri="{FF2B5EF4-FFF2-40B4-BE49-F238E27FC236}">
                <a16:creationId xmlns:a16="http://schemas.microsoft.com/office/drawing/2014/main" id="{F2041AD3-16DD-43AB-A06C-B310A3666DB0}"/>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모호한 문의의 추가 질문, 잘못된 서비스 링크, 응답 실패 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기존 탐색 경로 확인</a:t>
            </a:r>
          </a:p>
        </p:txBody>
      </p:sp>
    </p:spTree>
    <p:extLst>
      <p:ext uri="{BB962C8B-B14F-4D97-AF65-F5344CB8AC3E}">
        <p14:creationId xmlns:p14="http://schemas.microsoft.com/office/powerpoint/2010/main" val="1358438300"/>
      </p:ext>
    </p:extLst>
  </p:cSld>
</p:sld>
</file>

<file path=ppt/slides/slide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DDA3C6-616B-4102-B9A2-6FAD1233F4F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목표기능 구성도 / RFP 원문 추출</a:t>
            </a:r>
          </a:p>
        </p:txBody>
      </p:sp>
      <p:sp>
        <p:nvSpPr>
          <p:cNvPr id="2" name="">
            <a:extLst xmlns:a="http://schemas.openxmlformats.org/drawingml/2006/main">
              <a:ext uri="{FF2B5EF4-FFF2-40B4-BE49-F238E27FC236}">
                <a16:creationId xmlns:a16="http://schemas.microsoft.com/office/drawing/2014/main" id="{D6097F96-A2E0-4E6A-9D11-A3281D91102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홈페이지 AI 목표기능</a:t>
            </a:r>
          </a:p>
        </p:txBody>
      </p:sp>
      <p:sp>
        <p:nvSpPr>
          <p:cNvPr id="3" name="">
            <a:extLst xmlns:a="http://schemas.openxmlformats.org/drawingml/2006/main">
              <a:ext uri="{FF2B5EF4-FFF2-40B4-BE49-F238E27FC236}">
                <a16:creationId xmlns:a16="http://schemas.microsoft.com/office/drawing/2014/main" id="{FAF00524-F5D3-48DB-A41F-F1BE42C188B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BD6A27-1C80-42E8-B33F-FF55F6A638B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6013BC9-C7B6-48C9-98E3-7CFD67ADBAC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43</a:t>
            </a:r>
          </a:p>
        </p:txBody>
      </p:sp>
      <p:pic>
        <p:nvPicPr>
          <p:cNvPr id="6" name="">
            <a:extLst xmlns:a="http://schemas.openxmlformats.org/drawingml/2006/main">
              <a:ext uri="{FF2B5EF4-FFF2-40B4-BE49-F238E27FC236}">
                <a16:creationId xmlns:a16="http://schemas.microsoft.com/office/drawing/2014/main" id="{11BC500D-7A58-4644-9241-FB8695714A50}"/>
              </a:ext>
            </a:extLst>
          </p:cNvPr>
          <p:cNvPicPr>
            <a:picLocks xmlns:a="http://schemas.openxmlformats.org/drawingml/2006/main" noChangeAspect="1"/>
          </p:cNvPicPr>
          <p:nvPr/>
        </p:nvPicPr>
        <p:blipFill>
          <a:blip xmlns:r="http://schemas.openxmlformats.org/officeDocument/2006/relationships" xmlns:a="http://schemas.openxmlformats.org/drawingml/2006/main" r:embed="Rcc139f0893b14ff7"/>
          <a:stretch xmlns:a="http://schemas.openxmlformats.org/drawingml/2006/main"/>
        </p:blipFill>
        <p:spPr>
          <a:xfrm xmlns:a="http://schemas.openxmlformats.org/drawingml/2006/main">
            <a:off x="2692765" y="1657350"/>
            <a:ext cx="680647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55A336E-17CD-4218-B8F0-F6625E6AE2B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챗봇·RAG·데이터 파이프라인·모델 관리의 분리</a:t>
            </a:r>
          </a:p>
        </p:txBody>
      </p:sp>
    </p:spTree>
    <p:extLst>
      <p:ext uri="{BB962C8B-B14F-4D97-AF65-F5344CB8AC3E}">
        <p14:creationId xmlns:p14="http://schemas.microsoft.com/office/powerpoint/2010/main" val="784965709"/>
      </p:ext>
    </p:extLst>
  </p:cSld>
</p:sld>
</file>

<file path=ppt/slides/slide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9382E6-5BA0-44CF-9BA2-7D00946C416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서비스 아키텍처 구성도 / RFP 원문 추출</a:t>
            </a:r>
          </a:p>
        </p:txBody>
      </p:sp>
      <p:sp>
        <p:nvSpPr>
          <p:cNvPr id="2" name="">
            <a:extLst xmlns:a="http://schemas.openxmlformats.org/drawingml/2006/main">
              <a:ext uri="{FF2B5EF4-FFF2-40B4-BE49-F238E27FC236}">
                <a16:creationId xmlns:a16="http://schemas.microsoft.com/office/drawing/2014/main" id="{A763E4FB-1E0E-4616-9310-DF38F17C7D6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홈페이지–RAG–외부 LLM</a:t>
            </a:r>
          </a:p>
        </p:txBody>
      </p:sp>
      <p:sp>
        <p:nvSpPr>
          <p:cNvPr id="3" name="">
            <a:extLst xmlns:a="http://schemas.openxmlformats.org/drawingml/2006/main">
              <a:ext uri="{FF2B5EF4-FFF2-40B4-BE49-F238E27FC236}">
                <a16:creationId xmlns:a16="http://schemas.microsoft.com/office/drawing/2014/main" id="{D7C00767-869E-4CBD-A599-DCFC061389D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4A5CB02-C633-46AF-9AB8-FC98844FE98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AFEF596-8504-4BF0-AB59-40FB152545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44</a:t>
            </a:r>
          </a:p>
        </p:txBody>
      </p:sp>
      <p:pic>
        <p:nvPicPr>
          <p:cNvPr id="6" name="">
            <a:extLst xmlns:a="http://schemas.openxmlformats.org/drawingml/2006/main">
              <a:ext uri="{FF2B5EF4-FFF2-40B4-BE49-F238E27FC236}">
                <a16:creationId xmlns:a16="http://schemas.microsoft.com/office/drawing/2014/main" id="{10A256E3-3BD9-4E37-AAA8-A2E7B60BE30A}"/>
              </a:ext>
            </a:extLst>
          </p:cNvPr>
          <p:cNvPicPr>
            <a:picLocks xmlns:a="http://schemas.openxmlformats.org/drawingml/2006/main" noChangeAspect="1"/>
          </p:cNvPicPr>
          <p:nvPr/>
        </p:nvPicPr>
        <p:blipFill>
          <a:blip xmlns:r="http://schemas.openxmlformats.org/officeDocument/2006/relationships" xmlns:a="http://schemas.openxmlformats.org/drawingml/2006/main" r:embed="R35e82fc627f541fe"/>
          <a:stretch xmlns:a="http://schemas.openxmlformats.org/drawingml/2006/main"/>
        </p:blipFill>
        <p:spPr>
          <a:xfrm xmlns:a="http://schemas.openxmlformats.org/drawingml/2006/main">
            <a:off x="2939707" y="1657350"/>
            <a:ext cx="631258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819C46E-D43C-4D55-ACFB-E1B23D1011EF}"/>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홈페이지 RDB → 공공클라우드 Vector DB → 외부 LLM</a:t>
            </a:r>
          </a:p>
        </p:txBody>
      </p:sp>
    </p:spTree>
    <p:extLst>
      <p:ext uri="{BB962C8B-B14F-4D97-AF65-F5344CB8AC3E}">
        <p14:creationId xmlns:p14="http://schemas.microsoft.com/office/powerpoint/2010/main" val="889965974"/>
      </p:ext>
    </p:extLst>
  </p:cSld>
</p:sld>
</file>

<file path=ppt/slides/slide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DA224CE-37F1-4AE2-8937-60FFCEF5727C}"/>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0A0A9C3-74E0-430B-9950-C5B1ED744CA3}"/>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74BAD2F-2CE9-4089-8556-C13FB6AAB1CD}"/>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68D41CFA-2CFA-471C-BAD9-AD82EEE3BA80}"/>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BAFFBF0-5B3F-4B0F-8B6F-3D5088F5379E}"/>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1D4DBB8-33F9-41F5-A423-F939EAD75B36}"/>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DDC054D1-8018-4E75-9CDF-398A16AB06B7}"/>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14B8AE0-1094-4CA2-ACD7-496796F557E4}"/>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040C22EB-BA56-43AF-A2DA-9C8DDC3D22F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40A5F678-11AC-4AC7-859C-21B6A4753E0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지식 갱신·검색·근거 응답</a:t>
            </a:r>
          </a:p>
        </p:txBody>
      </p:sp>
      <p:sp>
        <p:nvSpPr>
          <p:cNvPr id="2" name="">
            <a:extLst xmlns:a="http://schemas.openxmlformats.org/drawingml/2006/main">
              <a:ext uri="{FF2B5EF4-FFF2-40B4-BE49-F238E27FC236}">
                <a16:creationId xmlns:a16="http://schemas.microsoft.com/office/drawing/2014/main" id="{7F0740A2-8E4E-4532-863C-508888D225D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세부 서비스 구조</a:t>
            </a:r>
          </a:p>
        </p:txBody>
      </p:sp>
      <p:sp>
        <p:nvSpPr>
          <p:cNvPr id="3" name="">
            <a:extLst xmlns:a="http://schemas.openxmlformats.org/drawingml/2006/main">
              <a:ext uri="{FF2B5EF4-FFF2-40B4-BE49-F238E27FC236}">
                <a16:creationId xmlns:a16="http://schemas.microsoft.com/office/drawing/2014/main" id="{0D980A60-E808-4CA4-B3A8-847A706147E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3E78A7-8107-46F1-A1FA-60D6AC99868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65CA150-5601-4BF8-8465-D540E45D9EB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45</a:t>
            </a:r>
          </a:p>
        </p:txBody>
      </p:sp>
      <p:sp>
        <p:nvSpPr>
          <p:cNvPr id="6" name="">
            <a:extLst xmlns:a="http://schemas.openxmlformats.org/drawingml/2006/main">
              <a:ext uri="{FF2B5EF4-FFF2-40B4-BE49-F238E27FC236}">
                <a16:creationId xmlns:a16="http://schemas.microsoft.com/office/drawing/2014/main" id="{686A6BC3-9787-4E4E-995A-B31941429F2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정책·공고 → 지식 갱신 → 의도·정보 비교 → 원문 안내</a:t>
            </a:r>
          </a:p>
        </p:txBody>
      </p:sp>
      <p:sp>
        <p:nvSpPr>
          <p:cNvPr id="7" name="">
            <a:extLst xmlns:a="http://schemas.openxmlformats.org/drawingml/2006/main">
              <a:ext uri="{FF2B5EF4-FFF2-40B4-BE49-F238E27FC236}">
                <a16:creationId xmlns:a16="http://schemas.microsoft.com/office/drawing/2014/main" id="{39E65897-46DB-476B-B12A-5C97D3D5812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F8685020-7F73-47AE-B637-AF9A9ADA728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3630A340-F331-41A4-99D4-063470379BA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홈페이지·공고 DB</a:t>
            </a:r>
          </a:p>
        </p:txBody>
      </p:sp>
      <p:sp>
        <p:nvSpPr>
          <p:cNvPr id="10" name="">
            <a:extLst xmlns:a="http://schemas.openxmlformats.org/drawingml/2006/main">
              <a:ext uri="{FF2B5EF4-FFF2-40B4-BE49-F238E27FC236}">
                <a16:creationId xmlns:a16="http://schemas.microsoft.com/office/drawing/2014/main" id="{B44AC334-5DF0-4CA1-A1B5-18158A8A8AC7}"/>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729B0A1-1EB4-45AA-8625-6BADB06FADDD}"/>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91B72BC7-C76F-45C9-97A6-64FC2D1E6B9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수집·갱신·벡터화</a:t>
            </a:r>
          </a:p>
        </p:txBody>
      </p:sp>
      <p:sp>
        <p:nvSpPr>
          <p:cNvPr id="13" name="">
            <a:extLst xmlns:a="http://schemas.openxmlformats.org/drawingml/2006/main">
              <a:ext uri="{FF2B5EF4-FFF2-40B4-BE49-F238E27FC236}">
                <a16:creationId xmlns:a16="http://schemas.microsoft.com/office/drawing/2014/main" id="{A1BEBA6B-E7C4-4D79-B839-033A99CA299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8E95790-6D40-4710-A1CB-DFFE09147057}"/>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B7AD186E-F3C4-4508-AC72-FFD91D91E365}"/>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공공클라우드 RAG</a:t>
            </a:r>
          </a:p>
        </p:txBody>
      </p:sp>
      <p:sp>
        <p:nvSpPr>
          <p:cNvPr id="16" name="">
            <a:extLst xmlns:a="http://schemas.openxmlformats.org/drawingml/2006/main">
              <a:ext uri="{FF2B5EF4-FFF2-40B4-BE49-F238E27FC236}">
                <a16:creationId xmlns:a16="http://schemas.microsoft.com/office/drawing/2014/main" id="{89E88161-491E-4857-BCF5-EA317DFCA018}"/>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12E743F-137B-48A1-A032-26CC38EA860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14B2CDCE-78F3-4CA8-87E4-A380B88D3CB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공고 검색</a:t>
            </a:r>
          </a:p>
        </p:txBody>
      </p:sp>
      <p:sp>
        <p:nvSpPr>
          <p:cNvPr id="19" name="">
            <a:extLst xmlns:a="http://schemas.openxmlformats.org/drawingml/2006/main">
              <a:ext uri="{FF2B5EF4-FFF2-40B4-BE49-F238E27FC236}">
                <a16:creationId xmlns:a16="http://schemas.microsoft.com/office/drawing/2014/main" id="{65BB416C-2F08-48D2-A9BF-0F964F99E985}"/>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DAD9101-E7EF-4244-9C47-396E490E35E7}"/>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5D2E26EF-39A5-4EFD-8CCF-A0CA37052ADA}"/>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 챗봇</a:t>
            </a:r>
          </a:p>
        </p:txBody>
      </p:sp>
      <p:sp>
        <p:nvSpPr>
          <p:cNvPr id="22" name="">
            <a:extLst xmlns:a="http://schemas.openxmlformats.org/drawingml/2006/main">
              <a:ext uri="{FF2B5EF4-FFF2-40B4-BE49-F238E27FC236}">
                <a16:creationId xmlns:a16="http://schemas.microsoft.com/office/drawing/2014/main" id="{843192BC-C8E9-4EA7-9CF3-07D3C286D094}"/>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5D4CA06-4E05-40C3-A278-E60D89470BB1}"/>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C580FADF-16C5-4DAF-9DFF-567CB9C805F0}"/>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지역·대상·기간</a:t>
            </a:r>
          </a:p>
        </p:txBody>
      </p:sp>
      <p:sp>
        <p:nvSpPr>
          <p:cNvPr id="25" name="">
            <a:extLst xmlns:a="http://schemas.openxmlformats.org/drawingml/2006/main">
              <a:ext uri="{FF2B5EF4-FFF2-40B4-BE49-F238E27FC236}">
                <a16:creationId xmlns:a16="http://schemas.microsoft.com/office/drawing/2014/main" id="{7544F196-BD72-48B5-8089-12445DB6CAE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4C00A2F-E3EB-4050-84C6-9E7FD85B59AA}"/>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DA34AA4E-A25F-49F3-854D-759A92CCECF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의도·조건 비교</a:t>
            </a:r>
          </a:p>
        </p:txBody>
      </p:sp>
      <p:sp>
        <p:nvSpPr>
          <p:cNvPr id="28" name="">
            <a:extLst xmlns:a="http://schemas.openxmlformats.org/drawingml/2006/main">
              <a:ext uri="{FF2B5EF4-FFF2-40B4-BE49-F238E27FC236}">
                <a16:creationId xmlns:a16="http://schemas.microsoft.com/office/drawing/2014/main" id="{D476923D-7751-4F8B-8145-2A63A5E13321}"/>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EA77727-232D-4652-B068-16DFC457837F}"/>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B878174B-31E4-4130-9AB8-EA651B675BC6}"/>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마감·자격 검사</a:t>
            </a:r>
          </a:p>
        </p:txBody>
      </p:sp>
      <p:sp>
        <p:nvSpPr>
          <p:cNvPr id="31" name="">
            <a:extLst xmlns:a="http://schemas.openxmlformats.org/drawingml/2006/main">
              <a:ext uri="{FF2B5EF4-FFF2-40B4-BE49-F238E27FC236}">
                <a16:creationId xmlns:a16="http://schemas.microsoft.com/office/drawing/2014/main" id="{0A7BD645-AC1B-4FBB-9221-EAC90738C13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CC67CA0-161C-4ABA-B6AD-4D77B6C9A41D}"/>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278D1DD5-6125-402D-B1AA-2C097B7CCD81}"/>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조건 확인</a:t>
            </a:r>
          </a:p>
        </p:txBody>
      </p:sp>
      <p:sp>
        <p:nvSpPr>
          <p:cNvPr id="34" name="">
            <a:extLst xmlns:a="http://schemas.openxmlformats.org/drawingml/2006/main">
              <a:ext uri="{FF2B5EF4-FFF2-40B4-BE49-F238E27FC236}">
                <a16:creationId xmlns:a16="http://schemas.microsoft.com/office/drawing/2014/main" id="{A4E061F6-3290-41F0-BE34-80D2B1821187}"/>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19E05E1F-C7C7-41E5-B2C7-39370C0ECE79}"/>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D81C616E-AB37-45D5-8E4C-4CA851C177E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신청 안내</a:t>
            </a:r>
          </a:p>
        </p:txBody>
      </p:sp>
      <p:sp>
        <p:nvSpPr>
          <p:cNvPr id="46" name="">
            <a:extLst xmlns:a="http://schemas.openxmlformats.org/drawingml/2006/main">
              <a:ext uri="{FF2B5EF4-FFF2-40B4-BE49-F238E27FC236}">
                <a16:creationId xmlns:a16="http://schemas.microsoft.com/office/drawing/2014/main" id="{C989059E-97E5-44BA-BE30-A0FCECBA02A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54158629"/>
      </p:ext>
    </p:extLst>
  </p:cSld>
</p:sld>
</file>

<file path=ppt/slides/slide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45C0D8E-2DBA-4D41-B13A-7A85D961EC5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논리 인터페이스·복구 설계</a:t>
            </a:r>
          </a:p>
        </p:txBody>
      </p:sp>
      <p:sp>
        <p:nvSpPr>
          <p:cNvPr id="2" name="">
            <a:extLst xmlns:a="http://schemas.openxmlformats.org/drawingml/2006/main">
              <a:ext uri="{FF2B5EF4-FFF2-40B4-BE49-F238E27FC236}">
                <a16:creationId xmlns:a16="http://schemas.microsoft.com/office/drawing/2014/main" id="{C21AAE78-E873-4912-B12A-C1F1DACDF90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데이터와 예외 처리</a:t>
            </a:r>
          </a:p>
        </p:txBody>
      </p:sp>
      <p:sp>
        <p:nvSpPr>
          <p:cNvPr id="3" name="">
            <a:extLst xmlns:a="http://schemas.openxmlformats.org/drawingml/2006/main">
              <a:ext uri="{FF2B5EF4-FFF2-40B4-BE49-F238E27FC236}">
                <a16:creationId xmlns:a16="http://schemas.microsoft.com/office/drawing/2014/main" id="{2E667E5A-ED50-44C3-9145-7DA2A89A850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E66090-DD47-4B7A-B9DF-CB64A5FF8A6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540109D-59F2-498D-AA71-67FC041D9D1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46</a:t>
            </a:r>
          </a:p>
        </p:txBody>
      </p:sp>
      <p:sp>
        <p:nvSpPr>
          <p:cNvPr id="6" name="">
            <a:extLst xmlns:a="http://schemas.openxmlformats.org/drawingml/2006/main">
              <a:ext uri="{FF2B5EF4-FFF2-40B4-BE49-F238E27FC236}">
                <a16:creationId xmlns:a16="http://schemas.microsoft.com/office/drawing/2014/main" id="{B3DF63FA-6CB9-4D9C-A65E-17DDBFED9AD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EC15EAE-1EA8-4622-AE90-E3291777F53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C19844C-3E45-4672-8BAE-035C7A45C88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9E6DC0F0-E0F4-40E6-873A-1FEAD2DD24CA}"/>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정책·공고 지식</a:t>
            </a:r>
          </a:p>
        </p:txBody>
      </p:sp>
      <p:sp>
        <p:nvSpPr>
          <p:cNvPr id="10" name="">
            <a:extLst xmlns:a="http://schemas.openxmlformats.org/drawingml/2006/main">
              <a:ext uri="{FF2B5EF4-FFF2-40B4-BE49-F238E27FC236}">
                <a16:creationId xmlns:a16="http://schemas.microsoft.com/office/drawing/2014/main" id="{9CCD414C-DDCE-4054-B5F6-516FDB71AA6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A6B00B-A3A3-4904-BB1D-F7F2208350E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34DBA51C-14EC-45B4-82C4-E873693F2F5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FA3890FD-3219-460E-A563-4402E56F3C0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F171C8-DD29-4D0D-AE7F-C94DAD181D5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A2FB72D4-70B5-4FCC-8469-5F5A2F71B63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목적·대상 조건·대화 이력 구성</a:t>
            </a:r>
          </a:p>
        </p:txBody>
      </p:sp>
      <p:sp>
        <p:nvSpPr>
          <p:cNvPr id="16" name="">
            <a:extLst xmlns:a="http://schemas.openxmlformats.org/drawingml/2006/main">
              <a:ext uri="{FF2B5EF4-FFF2-40B4-BE49-F238E27FC236}">
                <a16:creationId xmlns:a16="http://schemas.microsoft.com/office/drawing/2014/main" id="{A0D6BC79-2B9B-430E-AA30-77FCB5FF8B71}"/>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D17FDBA-3DC9-4AFD-AC40-0B4B18AEE78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2ADC59E9-225B-4263-8790-0B3E2A40F8DE}"/>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조건·기한별 정답 공고와 원문 링크·변경 반</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 시각</a:t>
            </a:r>
          </a:p>
        </p:txBody>
      </p:sp>
      <p:sp>
        <p:nvSpPr>
          <p:cNvPr id="19" name="">
            <a:extLst xmlns:a="http://schemas.openxmlformats.org/drawingml/2006/main">
              <a:ext uri="{FF2B5EF4-FFF2-40B4-BE49-F238E27FC236}">
                <a16:creationId xmlns:a16="http://schemas.microsoft.com/office/drawing/2014/main" id="{40243B81-A380-4E5F-9BE0-3968902A901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972759A-D7C4-49EC-9B45-86EFE76C8AC3}"/>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02EE6D7D-F754-4438-9009-3C0332F8B35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유효 공고</a:t>
            </a:r>
          </a:p>
        </p:txBody>
      </p:sp>
      <p:sp>
        <p:nvSpPr>
          <p:cNvPr id="22" name="">
            <a:extLst xmlns:a="http://schemas.openxmlformats.org/drawingml/2006/main">
              <a:ext uri="{FF2B5EF4-FFF2-40B4-BE49-F238E27FC236}">
                <a16:creationId xmlns:a16="http://schemas.microsoft.com/office/drawing/2014/main" id="{0F88048F-75B9-4AD0-8723-4F3C2287BC8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397E5F5-607A-4319-A809-7E128622D42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3E84763D-C240-4B59-A973-B9DA0CD02F8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 비교</a:t>
            </a:r>
          </a:p>
        </p:txBody>
      </p:sp>
      <p:sp>
        <p:nvSpPr>
          <p:cNvPr id="25" name="">
            <a:extLst xmlns:a="http://schemas.openxmlformats.org/drawingml/2006/main">
              <a:ext uri="{FF2B5EF4-FFF2-40B4-BE49-F238E27FC236}">
                <a16:creationId xmlns:a16="http://schemas.microsoft.com/office/drawing/2014/main" id="{648DA83E-DC93-44A4-9553-2B18B7DAF08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382FC7E-50BF-4350-A36E-6F86AAB84D7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마감 공고·유사한 다른 제도·갱신 전 색인</a:t>
            </a:r>
          </a:p>
        </p:txBody>
      </p:sp>
      <p:sp>
        <p:nvSpPr>
          <p:cNvPr id="27" name="">
            <a:extLst xmlns:a="http://schemas.openxmlformats.org/drawingml/2006/main">
              <a:ext uri="{FF2B5EF4-FFF2-40B4-BE49-F238E27FC236}">
                <a16:creationId xmlns:a16="http://schemas.microsoft.com/office/drawing/2014/main" id="{B5796E2A-0847-4C5C-B89F-924353BC9CE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91E969C-7F8F-4DDA-ACCB-8A116872D48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유효기간·대상조건·링크 점검</a:t>
            </a:r>
          </a:p>
        </p:txBody>
      </p:sp>
      <p:sp>
        <p:nvSpPr>
          <p:cNvPr id="29" name="">
            <a:extLst xmlns:a="http://schemas.openxmlformats.org/drawingml/2006/main">
              <a:ext uri="{FF2B5EF4-FFF2-40B4-BE49-F238E27FC236}">
                <a16:creationId xmlns:a16="http://schemas.microsoft.com/office/drawing/2014/main" id="{B89FD617-4960-434C-9BCC-73CAB6F7F03D}"/>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53157222-8BDB-4DE9-A3E3-ED3BF1318CD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예외 질문·오류·만족도 기반 지식 보완</a:t>
            </a:r>
          </a:p>
        </p:txBody>
      </p:sp>
      <p:sp>
        <p:nvSpPr>
          <p:cNvPr id="31" name="">
            <a:extLst xmlns:a="http://schemas.openxmlformats.org/drawingml/2006/main">
              <a:ext uri="{FF2B5EF4-FFF2-40B4-BE49-F238E27FC236}">
                <a16:creationId xmlns:a16="http://schemas.microsoft.com/office/drawing/2014/main" id="{E1197B79-7E7B-4D7E-99A9-AF36354D311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A1C7185-C058-489D-B17E-ED4E529346E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조건·기한별 정답 공고와 원문 링크·변경 반영 시각</a:t>
            </a:r>
          </a:p>
        </p:txBody>
      </p:sp>
    </p:spTree>
    <p:extLst>
      <p:ext uri="{BB962C8B-B14F-4D97-AF65-F5344CB8AC3E}">
        <p14:creationId xmlns:p14="http://schemas.microsoft.com/office/powerpoint/2010/main" val="689331498"/>
      </p:ext>
    </p:extLst>
  </p:cSld>
</p:sld>
</file>

<file path=ppt/slides/slide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40F6041-9560-4530-83CF-C7A650C57C2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CCK 비교·재현 시험 설계</a:t>
            </a:r>
          </a:p>
        </p:txBody>
      </p:sp>
      <p:sp>
        <p:nvSpPr>
          <p:cNvPr id="2" name="">
            <a:extLst xmlns:a="http://schemas.openxmlformats.org/drawingml/2006/main">
              <a:ext uri="{FF2B5EF4-FFF2-40B4-BE49-F238E27FC236}">
                <a16:creationId xmlns:a16="http://schemas.microsoft.com/office/drawing/2014/main" id="{EE69749C-B84F-46B5-ABD2-C4D50EEAF8A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벤치마킹</a:t>
            </a:r>
          </a:p>
        </p:txBody>
      </p:sp>
      <p:sp>
        <p:nvSpPr>
          <p:cNvPr id="3" name="">
            <a:extLst xmlns:a="http://schemas.openxmlformats.org/drawingml/2006/main">
              <a:ext uri="{FF2B5EF4-FFF2-40B4-BE49-F238E27FC236}">
                <a16:creationId xmlns:a16="http://schemas.microsoft.com/office/drawing/2014/main" id="{F4824FEF-EB60-43B4-A3CD-5D9C6D9525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7B92EFF-C6B7-4B84-B64B-9D20FAA391A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1C9048A-0AE7-4486-B34B-A2520171693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47</a:t>
            </a:r>
          </a:p>
        </p:txBody>
      </p:sp>
      <p:sp>
        <p:nvSpPr>
          <p:cNvPr id="6" name="">
            <a:extLst xmlns:a="http://schemas.openxmlformats.org/drawingml/2006/main">
              <a:ext uri="{FF2B5EF4-FFF2-40B4-BE49-F238E27FC236}">
                <a16:creationId xmlns:a16="http://schemas.microsoft.com/office/drawing/2014/main" id="{7B504CD2-FC5E-496E-AB16-7497CE7C1965}"/>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DEFDC064-42D4-4C0A-9D33-C4C7D3630F5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정책·복지·공고의 통합 탐색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원문을 통한 후속 절차 연결</a:t>
            </a:r>
          </a:p>
        </p:txBody>
      </p:sp>
      <p:sp>
        <p:nvSpPr>
          <p:cNvPr id="8" name="">
            <a:extLst xmlns:a="http://schemas.openxmlformats.org/drawingml/2006/main">
              <a:ext uri="{FF2B5EF4-FFF2-40B4-BE49-F238E27FC236}">
                <a16:creationId xmlns:a16="http://schemas.microsoft.com/office/drawing/2014/main" id="{9C4EA64A-B11D-42AF-B6A6-49C1410DFBA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9420007-7F76-489B-9DBC-14831884C20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마감·지역·자격조건 오안내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착수와 정식 운영 성과의 차이</a:t>
            </a:r>
          </a:p>
        </p:txBody>
      </p:sp>
      <p:sp>
        <p:nvSpPr>
          <p:cNvPr id="10" name="">
            <a:extLst xmlns:a="http://schemas.openxmlformats.org/drawingml/2006/main">
              <a:ext uri="{FF2B5EF4-FFF2-40B4-BE49-F238E27FC236}">
                <a16:creationId xmlns:a16="http://schemas.microsoft.com/office/drawing/2014/main" id="{7E5DD2BB-E6D1-46DD-BD83-CF2E3437F35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94EA013-91B5-4747-B015-E217A68D735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유효기간·대상조건·링크 점검</a:t>
            </a:r>
          </a:p>
        </p:txBody>
      </p:sp>
      <p:sp>
        <p:nvSpPr>
          <p:cNvPr id="12" name="">
            <a:extLst xmlns:a="http://schemas.openxmlformats.org/drawingml/2006/main">
              <a:ext uri="{FF2B5EF4-FFF2-40B4-BE49-F238E27FC236}">
                <a16:creationId xmlns:a16="http://schemas.microsoft.com/office/drawing/2014/main" id="{819AA5F3-0728-4223-8F65-7C423EFB2C7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8231DC2B-8DBA-448E-8D1B-22F1BA281556}"/>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자격조건을 설명하고 관련 공고와 신청 페이지 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a:t>
            </a:r>
          </a:p>
        </p:txBody>
      </p:sp>
      <p:sp>
        <p:nvSpPr>
          <p:cNvPr id="14" name="">
            <a:extLst xmlns:a="http://schemas.openxmlformats.org/drawingml/2006/main">
              <a:ext uri="{FF2B5EF4-FFF2-40B4-BE49-F238E27FC236}">
                <a16:creationId xmlns:a16="http://schemas.microsoft.com/office/drawing/2014/main" id="{2AA32606-6B44-4388-A7B7-3A33E99ED03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F03E270-06E8-4762-BD09-5246EF30E24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마감 공고·유사한 다른 제도·갱신 전 색인</a:t>
            </a:r>
          </a:p>
        </p:txBody>
      </p:sp>
      <p:sp>
        <p:nvSpPr>
          <p:cNvPr id="16" name="">
            <a:extLst xmlns:a="http://schemas.openxmlformats.org/drawingml/2006/main">
              <a:ext uri="{FF2B5EF4-FFF2-40B4-BE49-F238E27FC236}">
                <a16:creationId xmlns:a16="http://schemas.microsoft.com/office/drawing/2014/main" id="{981EFD33-71E1-4297-A811-D825CD96CEE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FFB5877-8B8D-44B1-8590-760258097A3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조건·기한별 정답 공고와 원문 링크·변경 반영 시각</a:t>
            </a:r>
          </a:p>
        </p:txBody>
      </p:sp>
    </p:spTree>
    <p:extLst>
      <p:ext uri="{BB962C8B-B14F-4D97-AF65-F5344CB8AC3E}">
        <p14:creationId xmlns:p14="http://schemas.microsoft.com/office/powerpoint/2010/main" val="1814170519"/>
      </p:ext>
    </p:extLst>
  </p:cSld>
</p:sld>
</file>

<file path=ppt/slides/slide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81A25C0-F06C-437C-9895-4EC861195BA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성과 미검증 / 국내</a:t>
            </a:r>
          </a:p>
        </p:txBody>
      </p:sp>
      <p:sp>
        <p:nvSpPr>
          <p:cNvPr id="2" name="">
            <a:extLst xmlns:a="http://schemas.openxmlformats.org/drawingml/2006/main">
              <a:ext uri="{FF2B5EF4-FFF2-40B4-BE49-F238E27FC236}">
                <a16:creationId xmlns:a16="http://schemas.microsoft.com/office/drawing/2014/main" id="{4E71926E-58C7-412C-8C04-362A5A7F2AB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a:t>
            </a:r>
          </a:p>
        </p:txBody>
      </p:sp>
      <p:sp>
        <p:nvSpPr>
          <p:cNvPr id="3" name="">
            <a:extLst xmlns:a="http://schemas.openxmlformats.org/drawingml/2006/main">
              <a:ext uri="{FF2B5EF4-FFF2-40B4-BE49-F238E27FC236}">
                <a16:creationId xmlns:a16="http://schemas.microsoft.com/office/drawing/2014/main" id="{15285C42-3908-4A2C-AAE5-FA2F3448A1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37FDC5-045E-4484-AC9B-A1110C5914B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7BED79D-4FDF-47E0-BC8D-739877AD57D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48</a:t>
            </a:r>
          </a:p>
        </p:txBody>
      </p:sp>
      <p:sp>
        <p:nvSpPr>
          <p:cNvPr id="6" name="">
            <a:extLst xmlns:a="http://schemas.openxmlformats.org/drawingml/2006/main">
              <a:ext uri="{FF2B5EF4-FFF2-40B4-BE49-F238E27FC236}">
                <a16:creationId xmlns:a16="http://schemas.microsoft.com/office/drawing/2014/main" id="{2B1D233A-044C-4BAE-81D9-BD9F371D06D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93974AA-6F5F-49DA-83FB-E7684CF2532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휴가·출장 등 행정업무를 음성·텍스트 요청에서 시작해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MIS와 전자결재까지 연결하는 사업. 기존 서식·데이터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로직이 MIS에 있고 AI·모바일 호출용 API가 없다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연계 제약을 RFP에 명시.</a:t>
            </a:r>
          </a:p>
        </p:txBody>
      </p:sp>
      <p:sp>
        <p:nvSpPr>
          <p:cNvPr id="8" name="">
            <a:extLst xmlns:a="http://schemas.openxmlformats.org/drawingml/2006/main">
              <a:ext uri="{FF2B5EF4-FFF2-40B4-BE49-F238E27FC236}">
                <a16:creationId xmlns:a16="http://schemas.microsoft.com/office/drawing/2014/main" id="{28FC99CF-0D74-47FF-9CC6-5783CA76E883}"/>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C9D9932-4350-444A-A7FB-5FF9EE5486D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발화의 STT 변환, NLU 의도·개체 추출, 필수 항목 검증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사용자 확인, MIS 서식 생성, 결재선 추천, 상신·상태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조회를 구분하는 처리 구조. FUR-009의 신규 API는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서식 메타데이터, 잔여연차·근태 조회, 업무규칙 검증,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전자결재 상신을 포함하는 범위.</a:t>
            </a:r>
          </a:p>
        </p:txBody>
      </p:sp>
      <p:sp>
        <p:nvSpPr>
          <p:cNvPr id="10" name="">
            <a:extLst xmlns:a="http://schemas.openxmlformats.org/drawingml/2006/main">
              <a:ext uri="{FF2B5EF4-FFF2-40B4-BE49-F238E27FC236}">
                <a16:creationId xmlns:a16="http://schemas.microsoft.com/office/drawing/2014/main" id="{E3D05AC2-729E-40D4-8FBA-4AD29E3BB83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6C5F9E8-E5AE-4BDD-8E85-529325D65AB2}"/>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AI 모델 정확도 외에 실제 업무 시스템의 접수 상태까지 확인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해야 하는 사례. 같은 요청의 재시도, 날짜 수정, 결재선 변경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상신 후 취소를 검수 시나리오로 분리할 필요. CCK 재사용</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도구와 별개로 TS 기간계 API 개발·멱등성·상태 대사를 추</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가 범위로 산정.</a:t>
            </a:r>
          </a:p>
        </p:txBody>
      </p:sp>
      <p:sp>
        <p:nvSpPr>
          <p:cNvPr id="12" name="">
            <a:extLst xmlns:a="http://schemas.openxmlformats.org/drawingml/2006/main">
              <a:ext uri="{FF2B5EF4-FFF2-40B4-BE49-F238E27FC236}">
                <a16:creationId xmlns:a16="http://schemas.microsoft.com/office/drawing/2014/main" id="{187F28AF-1A11-4F36-AA00-EF34883CAE9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9B65F23-9456-4B17-80C1-244BACE7FE0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발화 필드·확인 화면 / TS 기간계 API 차분 / 전결·취소·재시도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연결</a:t>
            </a:r>
          </a:p>
        </p:txBody>
      </p:sp>
      <p:sp>
        <p:nvSpPr>
          <p:cNvPr id="14" name="">
            <a:extLst xmlns:a="http://schemas.openxmlformats.org/drawingml/2006/main">
              <a:ext uri="{FF2B5EF4-FFF2-40B4-BE49-F238E27FC236}">
                <a16:creationId xmlns:a16="http://schemas.microsoft.com/office/drawing/2014/main" id="{79DA2E56-9580-4785-ACDE-9F136DE755A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78C7FDF-7D5A-4BC9-AEBE-A41905F042B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날짜 오류·중복 전송·취소 시 승인 전 차단·멱등성·원천 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태 대사</a:t>
            </a:r>
          </a:p>
        </p:txBody>
      </p:sp>
      <p:sp>
        <p:nvSpPr>
          <p:cNvPr id="16" name="">
            <a:extLst xmlns:a="http://schemas.openxmlformats.org/drawingml/2006/main">
              <a:ext uri="{FF2B5EF4-FFF2-40B4-BE49-F238E27FC236}">
                <a16:creationId xmlns:a16="http://schemas.microsoft.com/office/drawing/2014/main" id="{BB3E6B19-5A3D-4C98-B494-362BB6E92E5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3D1660E-1AD0-441E-AC87-6759A469C3E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신청 완료시간 / 재입력률 / 중복·미접수 건수</a:t>
            </a:r>
          </a:p>
        </p:txBody>
      </p:sp>
      <p:sp>
        <p:nvSpPr>
          <p:cNvPr id="18" name="">
            <a:extLst xmlns:a="http://schemas.openxmlformats.org/drawingml/2006/main">
              <a:ext uri="{FF2B5EF4-FFF2-40B4-BE49-F238E27FC236}">
                <a16:creationId xmlns:a16="http://schemas.microsoft.com/office/drawing/2014/main" id="{2F3FEF1B-85F8-4C18-BAD9-894B35A28142}"/>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RFP 요구 범위 · MIS API 계층 신규 개발 포함 · 운영 성과와 구분</a:t>
            </a:r>
          </a:p>
        </p:txBody>
      </p:sp>
    </p:spTree>
    <p:extLst>
      <p:ext uri="{BB962C8B-B14F-4D97-AF65-F5344CB8AC3E}">
        <p14:creationId xmlns:p14="http://schemas.microsoft.com/office/powerpoint/2010/main" val="225980816"/>
      </p:ext>
    </p:extLst>
  </p:cSld>
</p:sld>
</file>

<file path=ppt/slides/slide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C72395B-0616-4CB6-AA9C-A9862B8799A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As-Is → To-Be → 기대효과 → 확인 결과</a:t>
            </a:r>
          </a:p>
        </p:txBody>
      </p:sp>
      <p:sp>
        <p:nvSpPr>
          <p:cNvPr id="2" name="">
            <a:extLst xmlns:a="http://schemas.openxmlformats.org/drawingml/2006/main">
              <a:ext uri="{FF2B5EF4-FFF2-40B4-BE49-F238E27FC236}">
                <a16:creationId xmlns:a16="http://schemas.microsoft.com/office/drawing/2014/main" id="{B57CFB66-8548-425E-AAE0-73D67BFAEC5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기대와 결과</a:t>
            </a:r>
          </a:p>
        </p:txBody>
      </p:sp>
      <p:sp>
        <p:nvSpPr>
          <p:cNvPr id="3" name="">
            <a:extLst xmlns:a="http://schemas.openxmlformats.org/drawingml/2006/main">
              <a:ext uri="{FF2B5EF4-FFF2-40B4-BE49-F238E27FC236}">
                <a16:creationId xmlns:a16="http://schemas.microsoft.com/office/drawing/2014/main" id="{5B27AC16-039B-44E0-94B4-B82BD52D31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716EC3-2771-4FAE-936B-DCACA272DD8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333B82-EBE0-47C6-B174-65A0F903136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49</a:t>
            </a:r>
          </a:p>
        </p:txBody>
      </p:sp>
      <p:sp>
        <p:nvSpPr>
          <p:cNvPr id="6" name="">
            <a:extLst xmlns:a="http://schemas.openxmlformats.org/drawingml/2006/main">
              <a:ext uri="{FF2B5EF4-FFF2-40B4-BE49-F238E27FC236}">
                <a16:creationId xmlns:a16="http://schemas.microsoft.com/office/drawing/2014/main" id="{704C4535-290E-47ED-A426-C57E10A2E08E}"/>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6A661A6-6055-4F65-8D9F-09CADB3B6A4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휴가·출장·복명 신청을 직원이 MIS와 전자결재에 직접 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력·상신</a:t>
            </a:r>
          </a:p>
        </p:txBody>
      </p:sp>
      <p:sp>
        <p:nvSpPr>
          <p:cNvPr id="8" name="">
            <a:extLst xmlns:a="http://schemas.openxmlformats.org/drawingml/2006/main">
              <a:ext uri="{FF2B5EF4-FFF2-40B4-BE49-F238E27FC236}">
                <a16:creationId xmlns:a16="http://schemas.microsoft.com/office/drawing/2014/main" id="{B3578909-5F01-44F6-A37C-03C0C128D61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209CE0C-AB84-48E9-9010-A0F5F9F0CAA6}"/>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음성·자연어로 신청 내용을 구조화하고 사용자 확인 뒤 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 MIS API·결재선으로 기안</a:t>
            </a:r>
          </a:p>
        </p:txBody>
      </p:sp>
      <p:sp>
        <p:nvSpPr>
          <p:cNvPr id="10" name="">
            <a:extLst xmlns:a="http://schemas.openxmlformats.org/drawingml/2006/main">
              <a:ext uri="{FF2B5EF4-FFF2-40B4-BE49-F238E27FC236}">
                <a16:creationId xmlns:a16="http://schemas.microsoft.com/office/drawing/2014/main" id="{209D5E39-9A3E-4992-8D58-6D36E835065B}"/>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9A7D9F12-CCA5-4AD4-BA9D-8D87A4F1D2C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입력·상신시간 및 재입력·중복 신청 감소</a:t>
            </a:r>
          </a:p>
        </p:txBody>
      </p:sp>
      <p:sp>
        <p:nvSpPr>
          <p:cNvPr id="12" name="">
            <a:extLst xmlns:a="http://schemas.openxmlformats.org/drawingml/2006/main">
              <a:ext uri="{FF2B5EF4-FFF2-40B4-BE49-F238E27FC236}">
                <a16:creationId xmlns:a16="http://schemas.microsoft.com/office/drawing/2014/main" id="{7DBC587F-236E-43A8-834A-64596F8C0DA0}"/>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BE897B0-F061-4C70-A151-5033C61C02DB}"/>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RFP의 신규 API 요구와 기존 정보시스템 현황도 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 자동 신청·결재 운영 결과 미확인</a:t>
            </a:r>
          </a:p>
        </p:txBody>
      </p:sp>
      <p:sp>
        <p:nvSpPr>
          <p:cNvPr id="14" name="">
            <a:extLst xmlns:a="http://schemas.openxmlformats.org/drawingml/2006/main">
              <a:ext uri="{FF2B5EF4-FFF2-40B4-BE49-F238E27FC236}">
                <a16:creationId xmlns:a16="http://schemas.microsoft.com/office/drawing/2014/main" id="{60F4A2F2-6078-4BA7-B519-EBAEB312E567}"/>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기존 시스템 그림은 AI To-Be 구현 증거가 아니며 신청 완료율·오접수 실측 없음</a:t>
            </a:r>
          </a:p>
        </p:txBody>
      </p:sp>
      <p:sp>
        <p:nvSpPr>
          <p:cNvPr id="15" name="">
            <a:extLst xmlns:a="http://schemas.openxmlformats.org/drawingml/2006/main">
              <a:ext uri="{FF2B5EF4-FFF2-40B4-BE49-F238E27FC236}">
                <a16:creationId xmlns:a16="http://schemas.microsoft.com/office/drawing/2014/main" id="{784FA6DF-5FEA-4968-ACD7-6FC518EC8574}"/>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RFP 목표 · 직원 확인과 공식 접수번호 수신을 별도 검수; 인사이동 후 결재선 변경 반영 필요</a:t>
            </a:r>
          </a:p>
        </p:txBody>
      </p:sp>
    </p:spTree>
    <p:extLst>
      <p:ext uri="{BB962C8B-B14F-4D97-AF65-F5344CB8AC3E}">
        <p14:creationId xmlns:p14="http://schemas.microsoft.com/office/powerpoint/2010/main" val="1691082762"/>
      </p:ext>
    </p:extLst>
  </p:cSld>
</p:sld>
</file>

<file path=ppt/slides/slide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3AB92B7-0D48-4DC5-A2E5-9E6585AB0FC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 FUR-001~009·TER-005 / 1–3</a:t>
            </a:r>
          </a:p>
        </p:txBody>
      </p:sp>
      <p:sp>
        <p:nvSpPr>
          <p:cNvPr id="2" name="">
            <a:extLst xmlns:a="http://schemas.openxmlformats.org/drawingml/2006/main">
              <a:ext uri="{FF2B5EF4-FFF2-40B4-BE49-F238E27FC236}">
                <a16:creationId xmlns:a16="http://schemas.microsoft.com/office/drawing/2014/main" id="{62E7CB37-8307-4904-BFF0-1AD1C609E2F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RFP 요구사항</a:t>
            </a:r>
          </a:p>
        </p:txBody>
      </p:sp>
      <p:sp>
        <p:nvSpPr>
          <p:cNvPr id="3" name="">
            <a:extLst xmlns:a="http://schemas.openxmlformats.org/drawingml/2006/main">
              <a:ext uri="{FF2B5EF4-FFF2-40B4-BE49-F238E27FC236}">
                <a16:creationId xmlns:a16="http://schemas.microsoft.com/office/drawing/2014/main" id="{9BAC6D7A-6582-4CE3-9398-120C10179AC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FD4B3D-C65D-4B17-87FD-EA3A757E592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3E5395B-A0F9-4F03-9477-9EE372C0C13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50</a:t>
            </a:r>
          </a:p>
        </p:txBody>
      </p:sp>
      <p:sp>
        <p:nvSpPr>
          <p:cNvPr id="6" name="">
            <a:extLst xmlns:a="http://schemas.openxmlformats.org/drawingml/2006/main">
              <a:ext uri="{FF2B5EF4-FFF2-40B4-BE49-F238E27FC236}">
                <a16:creationId xmlns:a16="http://schemas.microsoft.com/office/drawing/2014/main" id="{F960D8C1-CABA-49AB-92E7-61E66F74D2C1}"/>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7A6770-8094-460A-9905-3B41C0B6BD59}"/>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FUR-001 음성 인식(STT) 기반 입력 처리</a:t>
            </a:r>
          </a:p>
        </p:txBody>
      </p:sp>
      <p:sp>
        <p:nvSpPr>
          <p:cNvPr id="8" name="">
            <a:extLst xmlns:a="http://schemas.openxmlformats.org/drawingml/2006/main">
              <a:ext uri="{FF2B5EF4-FFF2-40B4-BE49-F238E27FC236}">
                <a16:creationId xmlns:a16="http://schemas.microsoft.com/office/drawing/2014/main" id="{9FD2D59D-EF45-47AC-A288-0FE3B3696BA5}"/>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음성 발화를 행정 요청의 텍스트 입력으로 변환하는 STT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기능.</a:t>
            </a:r>
          </a:p>
        </p:txBody>
      </p:sp>
      <p:sp>
        <p:nvSpPr>
          <p:cNvPr id="9" name="">
            <a:extLst xmlns:a="http://schemas.openxmlformats.org/drawingml/2006/main">
              <a:ext uri="{FF2B5EF4-FFF2-40B4-BE49-F238E27FC236}">
                <a16:creationId xmlns:a16="http://schemas.microsoft.com/office/drawing/2014/main" id="{2DA31941-586D-497C-B971-6E3669AA134A}"/>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잡음·기관 고유어·날짜·숫자·수정 발화의 전사 결과를 정답과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0" name="">
            <a:extLst xmlns:a="http://schemas.openxmlformats.org/drawingml/2006/main">
              <a:ext uri="{FF2B5EF4-FFF2-40B4-BE49-F238E27FC236}">
                <a16:creationId xmlns:a16="http://schemas.microsoft.com/office/drawing/2014/main" id="{141EFE1D-3071-4E04-9805-474908F88C80}"/>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6ED450-77AD-4784-A92E-4CDCFAC3C11D}"/>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FUR-002 자연어 이해(NLU) 및 사용자 의도 분석</a:t>
            </a:r>
          </a:p>
        </p:txBody>
      </p:sp>
      <p:sp>
        <p:nvSpPr>
          <p:cNvPr id="12" name="">
            <a:extLst xmlns:a="http://schemas.openxmlformats.org/drawingml/2006/main">
              <a:ext uri="{FF2B5EF4-FFF2-40B4-BE49-F238E27FC236}">
                <a16:creationId xmlns:a16="http://schemas.microsoft.com/office/drawing/2014/main" id="{2D527B8D-EC7A-4074-B8BD-F8F532A896A7}"/>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전사·텍스트에서 사용자의 의도와 업무에 필요한 항목을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식별하는 NLU 기능.</a:t>
            </a:r>
          </a:p>
        </p:txBody>
      </p:sp>
      <p:sp>
        <p:nvSpPr>
          <p:cNvPr id="13" name="">
            <a:extLst xmlns:a="http://schemas.openxmlformats.org/drawingml/2006/main">
              <a:ext uri="{FF2B5EF4-FFF2-40B4-BE49-F238E27FC236}">
                <a16:creationId xmlns:a16="http://schemas.microsoft.com/office/drawing/2014/main" id="{21855659-09A6-4C48-AB52-AF58F41E9839}"/>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휴가·출장·복명 의도 혼동, 날짜 누락, 정정 발화 처리의 슬롯</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별 평가</a:t>
            </a:r>
          </a:p>
        </p:txBody>
      </p:sp>
      <p:sp>
        <p:nvSpPr>
          <p:cNvPr id="14" name="">
            <a:extLst xmlns:a="http://schemas.openxmlformats.org/drawingml/2006/main">
              <a:ext uri="{FF2B5EF4-FFF2-40B4-BE49-F238E27FC236}">
                <a16:creationId xmlns:a16="http://schemas.microsoft.com/office/drawing/2014/main" id="{B2CBCCA7-A2D6-4CB8-982A-585E4C289AB7}"/>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4F24C37-434C-4C7C-BD94-5053A84D3507}"/>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FUR-003 지능형 업무 자동화 엔진</a:t>
            </a:r>
          </a:p>
        </p:txBody>
      </p:sp>
      <p:sp>
        <p:nvSpPr>
          <p:cNvPr id="16" name="">
            <a:extLst xmlns:a="http://schemas.openxmlformats.org/drawingml/2006/main">
              <a:ext uri="{FF2B5EF4-FFF2-40B4-BE49-F238E27FC236}">
                <a16:creationId xmlns:a16="http://schemas.microsoft.com/office/drawing/2014/main" id="{1314380B-3D1C-4173-AE61-E0696F86557B}"/>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식별한 의도를 업무자동화 절차로 연결하는 실행 엔진.</a:t>
            </a:r>
          </a:p>
        </p:txBody>
      </p:sp>
      <p:sp>
        <p:nvSpPr>
          <p:cNvPr id="17" name="">
            <a:extLst xmlns:a="http://schemas.openxmlformats.org/drawingml/2006/main">
              <a:ext uri="{FF2B5EF4-FFF2-40B4-BE49-F238E27FC236}">
                <a16:creationId xmlns:a16="http://schemas.microsoft.com/office/drawing/2014/main" id="{EC118DC1-2BA2-47E5-BE2B-9AADEBA110A4}"/>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필수값 누락·비허용 업무·중간 실패 조건의 실행 보류와 재개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Tree>
    <p:extLst>
      <p:ext uri="{BB962C8B-B14F-4D97-AF65-F5344CB8AC3E}">
        <p14:creationId xmlns:p14="http://schemas.microsoft.com/office/powerpoint/2010/main" val="752214154"/>
      </p:ext>
    </p:extLst>
  </p:cSld>
</p:sld>
</file>

<file path=ppt/slides/slide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F38D28A-EC9E-4ACD-B0D5-2F83C3A2DE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 FUR-001~009·TER-005 / 4–6</a:t>
            </a:r>
          </a:p>
        </p:txBody>
      </p:sp>
      <p:sp>
        <p:nvSpPr>
          <p:cNvPr id="2" name="">
            <a:extLst xmlns:a="http://schemas.openxmlformats.org/drawingml/2006/main">
              <a:ext uri="{FF2B5EF4-FFF2-40B4-BE49-F238E27FC236}">
                <a16:creationId xmlns:a16="http://schemas.microsoft.com/office/drawing/2014/main" id="{D2DAC928-F46A-4371-B6F1-71F378D3EC6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RFP 요구사항</a:t>
            </a:r>
          </a:p>
        </p:txBody>
      </p:sp>
      <p:sp>
        <p:nvSpPr>
          <p:cNvPr id="3" name="">
            <a:extLst xmlns:a="http://schemas.openxmlformats.org/drawingml/2006/main">
              <a:ext uri="{FF2B5EF4-FFF2-40B4-BE49-F238E27FC236}">
                <a16:creationId xmlns:a16="http://schemas.microsoft.com/office/drawing/2014/main" id="{E2E25B35-B7AE-439C-A4CD-29394CB1AB8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3D2EF45-4050-4AB2-B4CB-3397BBCC84B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C6E4B66-EC73-4A05-AB35-FC15FAE829C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51</a:t>
            </a:r>
          </a:p>
        </p:txBody>
      </p:sp>
      <p:sp>
        <p:nvSpPr>
          <p:cNvPr id="6" name="">
            <a:extLst xmlns:a="http://schemas.openxmlformats.org/drawingml/2006/main">
              <a:ext uri="{FF2B5EF4-FFF2-40B4-BE49-F238E27FC236}">
                <a16:creationId xmlns:a16="http://schemas.microsoft.com/office/drawing/2014/main" id="{BB557ADA-99AB-4587-A98A-687DAD98CE1F}"/>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E82DDD6-08B8-4F37-AE8A-2F341DD6DDD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FUR-004 행정서식 생성(MIS)·전자결재 연동 및 결재선 자동 추천</a:t>
            </a:r>
          </a:p>
        </p:txBody>
      </p:sp>
      <p:sp>
        <p:nvSpPr>
          <p:cNvPr id="8" name="">
            <a:extLst xmlns:a="http://schemas.openxmlformats.org/drawingml/2006/main">
              <a:ext uri="{FF2B5EF4-FFF2-40B4-BE49-F238E27FC236}">
                <a16:creationId xmlns:a16="http://schemas.microsoft.com/office/drawing/2014/main" id="{ECD68424-DA3D-4579-9E8E-8570263E65D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MIS 행정서식 생성과 전자결재·결재선 연계.</a:t>
            </a:r>
          </a:p>
        </p:txBody>
      </p:sp>
      <p:sp>
        <p:nvSpPr>
          <p:cNvPr id="9" name="">
            <a:extLst xmlns:a="http://schemas.openxmlformats.org/drawingml/2006/main">
              <a:ext uri="{FF2B5EF4-FFF2-40B4-BE49-F238E27FC236}">
                <a16:creationId xmlns:a16="http://schemas.microsoft.com/office/drawing/2014/main" id="{F15F4C20-35C3-4FFF-86D0-0CE9E195A90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직원의 결재선, 수정 전 날짜, 중복 신청을 포함해 확인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화면과 최종 등록값 대사</a:t>
            </a:r>
          </a:p>
        </p:txBody>
      </p:sp>
      <p:sp>
        <p:nvSpPr>
          <p:cNvPr id="10" name="">
            <a:extLst xmlns:a="http://schemas.openxmlformats.org/drawingml/2006/main">
              <a:ext uri="{FF2B5EF4-FFF2-40B4-BE49-F238E27FC236}">
                <a16:creationId xmlns:a16="http://schemas.microsoft.com/office/drawing/2014/main" id="{99DCA8DA-4333-4607-948F-63380D99047C}"/>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43DAC9-2D23-4201-B36C-975B5C81AD88}"/>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FUR-007 그룹웨어·기간계 시스템 연계</a:t>
            </a:r>
          </a:p>
        </p:txBody>
      </p:sp>
      <p:sp>
        <p:nvSpPr>
          <p:cNvPr id="12" name="">
            <a:extLst xmlns:a="http://schemas.openxmlformats.org/drawingml/2006/main">
              <a:ext uri="{FF2B5EF4-FFF2-40B4-BE49-F238E27FC236}">
                <a16:creationId xmlns:a16="http://schemas.microsoft.com/office/drawing/2014/main" id="{E1ACAE78-C184-4C8D-B675-3A746DA4FED2}"/>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그룹웨어·기간계와 연계해 요청 및 처리 결과를 교환하는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기능.</a:t>
            </a:r>
          </a:p>
        </p:txBody>
      </p:sp>
      <p:sp>
        <p:nvSpPr>
          <p:cNvPr id="13" name="">
            <a:extLst xmlns:a="http://schemas.openxmlformats.org/drawingml/2006/main">
              <a:ext uri="{FF2B5EF4-FFF2-40B4-BE49-F238E27FC236}">
                <a16:creationId xmlns:a16="http://schemas.microsoft.com/office/drawing/2014/main" id="{67E50709-0E7B-401E-BC8D-D72C7E84E60B}"/>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C07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인증 만료·연계 장애·응답 지연 시 실제 등록 상태와 사용자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안내의 일치 확인</a:t>
            </a:r>
          </a:p>
        </p:txBody>
      </p:sp>
      <p:sp>
        <p:nvSpPr>
          <p:cNvPr id="14" name="">
            <a:extLst xmlns:a="http://schemas.openxmlformats.org/drawingml/2006/main">
              <a:ext uri="{FF2B5EF4-FFF2-40B4-BE49-F238E27FC236}">
                <a16:creationId xmlns:a16="http://schemas.microsoft.com/office/drawing/2014/main" id="{B8922BC9-8465-4163-9CEB-0CB765DBCD84}"/>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E604A92-CE40-4F57-A6D3-54BE1375B1AE}"/>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FUR-009 통합경영정보시스템(MIS) 행정업무 API 개발</a:t>
            </a:r>
          </a:p>
        </p:txBody>
      </p:sp>
      <p:sp>
        <p:nvSpPr>
          <p:cNvPr id="16" name="">
            <a:extLst xmlns:a="http://schemas.openxmlformats.org/drawingml/2006/main">
              <a:ext uri="{FF2B5EF4-FFF2-40B4-BE49-F238E27FC236}">
                <a16:creationId xmlns:a16="http://schemas.microsoft.com/office/drawing/2014/main" id="{04359A07-D74B-487B-9193-0F9350EB0B15}"/>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자연어 행정 서비스에 필요한 MIS 업무 API의 신규 개발.</a:t>
            </a:r>
          </a:p>
        </p:txBody>
      </p:sp>
      <p:sp>
        <p:nvSpPr>
          <p:cNvPr id="17" name="">
            <a:extLst xmlns:a="http://schemas.openxmlformats.org/drawingml/2006/main">
              <a:ext uri="{FF2B5EF4-FFF2-40B4-BE49-F238E27FC236}">
                <a16:creationId xmlns:a16="http://schemas.microsoft.com/office/drawing/2014/main" id="{F15C963C-FCED-47AB-82FA-BF2333042F84}"/>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인자·권한·중복 요청·취소 가능 상태를 API 계약 및 실제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데이터와 대조</a:t>
            </a:r>
          </a:p>
        </p:txBody>
      </p:sp>
    </p:spTree>
    <p:extLst>
      <p:ext uri="{BB962C8B-B14F-4D97-AF65-F5344CB8AC3E}">
        <p14:creationId xmlns:p14="http://schemas.microsoft.com/office/powerpoint/2010/main" val="90543770"/>
      </p:ext>
    </p:extLst>
  </p:cSld>
</p:sld>
</file>

<file path=ppt/slides/slide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3964B5-B7F6-48F1-8FDB-DBCF4D1CFE7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수록 기존 시스템 구성 / RFP 원문 추출</a:t>
            </a:r>
          </a:p>
        </p:txBody>
      </p:sp>
      <p:sp>
        <p:nvSpPr>
          <p:cNvPr id="2" name="">
            <a:extLst xmlns:a="http://schemas.openxmlformats.org/drawingml/2006/main">
              <a:ext uri="{FF2B5EF4-FFF2-40B4-BE49-F238E27FC236}">
                <a16:creationId xmlns:a16="http://schemas.microsoft.com/office/drawing/2014/main" id="{F471995A-7147-402E-B2BB-15F15D16148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업무시스템</a:t>
            </a:r>
          </a:p>
        </p:txBody>
      </p:sp>
      <p:sp>
        <p:nvSpPr>
          <p:cNvPr id="3" name="">
            <a:extLst xmlns:a="http://schemas.openxmlformats.org/drawingml/2006/main">
              <a:ext uri="{FF2B5EF4-FFF2-40B4-BE49-F238E27FC236}">
                <a16:creationId xmlns:a16="http://schemas.microsoft.com/office/drawing/2014/main" id="{B1086181-F374-4FA6-B44D-2C74C2D1B7C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401DEA-884F-4D29-83F7-67D4E0557DD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E50B830-93A4-4179-B49D-3FF3743BF16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52</a:t>
            </a:r>
          </a:p>
        </p:txBody>
      </p:sp>
      <p:pic>
        <p:nvPicPr>
          <p:cNvPr id="6" name="">
            <a:extLst xmlns:a="http://schemas.openxmlformats.org/drawingml/2006/main">
              <a:ext uri="{FF2B5EF4-FFF2-40B4-BE49-F238E27FC236}">
                <a16:creationId xmlns:a16="http://schemas.microsoft.com/office/drawing/2014/main" id="{79FF4E9D-8D23-4B28-8A05-2963082D7596}"/>
              </a:ext>
            </a:extLst>
          </p:cNvPr>
          <p:cNvPicPr>
            <a:picLocks xmlns:a="http://schemas.openxmlformats.org/drawingml/2006/main" noChangeAspect="1"/>
          </p:cNvPicPr>
          <p:nvPr/>
        </p:nvPicPr>
        <p:blipFill>
          <a:blip xmlns:r="http://schemas.openxmlformats.org/officeDocument/2006/relationships" xmlns:a="http://schemas.openxmlformats.org/drawingml/2006/main" r:embed="R973d3bfdbe2e442a"/>
          <a:stretch xmlns:a="http://schemas.openxmlformats.org/drawingml/2006/main"/>
        </p:blipFill>
        <p:spPr>
          <a:xfrm xmlns:a="http://schemas.openxmlformats.org/drawingml/2006/main">
            <a:off x="2003569" y="1657350"/>
            <a:ext cx="8184862"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456AAE4-163B-4F20-A48C-37E7D9D41EF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협업 포털·통합경영정보·전자결재·외부 연계 현황</a:t>
            </a:r>
          </a:p>
        </p:txBody>
      </p:sp>
    </p:spTree>
    <p:extLst>
      <p:ext uri="{BB962C8B-B14F-4D97-AF65-F5344CB8AC3E}">
        <p14:creationId xmlns:p14="http://schemas.microsoft.com/office/powerpoint/2010/main" val="1772041599"/>
      </p:ext>
    </p:extLst>
  </p:cSld>
</p:sld>
</file>

<file path=ppt/slides/slide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9AEE5B3B-A236-4CCC-BE6F-41CCEF14DAEA}"/>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0B272BE-38B6-4BCA-BB0C-3798336A4902}"/>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27B64F3-63A9-4F0B-AEFE-9A4A703C678A}"/>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A09AA5D-C1D3-45FC-A87F-A51EAF38D55E}"/>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3F08AADB-F052-4D4A-AC30-02718C724146}"/>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5303962-4E6D-441F-9501-9A720D31A1D4}"/>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ED9A043D-90CB-4B02-8628-D58784407286}"/>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1773BD29-D813-492B-91A2-17068835DE8B}"/>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E9BD674C-F3FF-4CA2-A9E1-14C6C51A4D5A}"/>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87B83708-420F-4CA9-8526-690E77B6F7D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입력 구조화·확인·업무시스템 처리</a:t>
            </a:r>
          </a:p>
        </p:txBody>
      </p:sp>
      <p:sp>
        <p:nvSpPr>
          <p:cNvPr id="2" name="">
            <a:extLst xmlns:a="http://schemas.openxmlformats.org/drawingml/2006/main">
              <a:ext uri="{FF2B5EF4-FFF2-40B4-BE49-F238E27FC236}">
                <a16:creationId xmlns:a16="http://schemas.microsoft.com/office/drawing/2014/main" id="{048E8642-2198-4698-B0D7-1A14CFC3EB2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세부 서비스 구조</a:t>
            </a:r>
          </a:p>
        </p:txBody>
      </p:sp>
      <p:sp>
        <p:nvSpPr>
          <p:cNvPr id="3" name="">
            <a:extLst xmlns:a="http://schemas.openxmlformats.org/drawingml/2006/main">
              <a:ext uri="{FF2B5EF4-FFF2-40B4-BE49-F238E27FC236}">
                <a16:creationId xmlns:a16="http://schemas.microsoft.com/office/drawing/2014/main" id="{21F527D0-7211-4A03-922A-E2DB0881610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A5E504-46E4-48AD-95E1-82CB9D12FDB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693587C-55E4-4BB3-9A1C-159F8019787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53</a:t>
            </a:r>
          </a:p>
        </p:txBody>
      </p:sp>
      <p:sp>
        <p:nvSpPr>
          <p:cNvPr id="6" name="">
            <a:extLst xmlns:a="http://schemas.openxmlformats.org/drawingml/2006/main">
              <a:ext uri="{FF2B5EF4-FFF2-40B4-BE49-F238E27FC236}">
                <a16:creationId xmlns:a16="http://schemas.microsoft.com/office/drawing/2014/main" id="{22394EF5-7219-4BC5-B01A-9FA0A57A944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음성·자연어 → 필드 추출 → 사용자 확인 → MIS·결재 연계</a:t>
            </a:r>
          </a:p>
        </p:txBody>
      </p:sp>
      <p:sp>
        <p:nvSpPr>
          <p:cNvPr id="7" name="">
            <a:extLst xmlns:a="http://schemas.openxmlformats.org/drawingml/2006/main">
              <a:ext uri="{FF2B5EF4-FFF2-40B4-BE49-F238E27FC236}">
                <a16:creationId xmlns:a16="http://schemas.microsoft.com/office/drawing/2014/main" id="{23CE4466-4E64-4F97-B4A0-EA700436A08E}"/>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AB4FD5F-5CA4-44C4-A1A2-4D7C161F35F4}"/>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1411E541-C843-4A17-993B-E3278B6CC314}"/>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음성·텍스트 입력</a:t>
            </a:r>
          </a:p>
        </p:txBody>
      </p:sp>
      <p:sp>
        <p:nvSpPr>
          <p:cNvPr id="10" name="">
            <a:extLst xmlns:a="http://schemas.openxmlformats.org/drawingml/2006/main">
              <a:ext uri="{FF2B5EF4-FFF2-40B4-BE49-F238E27FC236}">
                <a16:creationId xmlns:a16="http://schemas.microsoft.com/office/drawing/2014/main" id="{9AAB3B10-3751-4DF1-8709-73ABE4ABC923}"/>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63BB900-37F3-407B-8E44-F52C0D72DADD}"/>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E58BE65-8BD1-46BC-AFE5-F507A27C08BE}"/>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직원·조직·직무</a:t>
            </a:r>
          </a:p>
        </p:txBody>
      </p:sp>
      <p:sp>
        <p:nvSpPr>
          <p:cNvPr id="13" name="">
            <a:extLst xmlns:a="http://schemas.openxmlformats.org/drawingml/2006/main">
              <a:ext uri="{FF2B5EF4-FFF2-40B4-BE49-F238E27FC236}">
                <a16:creationId xmlns:a16="http://schemas.microsoft.com/office/drawing/2014/main" id="{335428A0-8FA5-47B2-82AF-08355417828D}"/>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5980DC0-6D1C-4341-9ADC-11A04EC82556}"/>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DB1120D8-D936-44A6-8A5F-533D911689A8}"/>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STT·의도·필드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추출</a:t>
            </a:r>
          </a:p>
        </p:txBody>
      </p:sp>
      <p:sp>
        <p:nvSpPr>
          <p:cNvPr id="16" name="">
            <a:extLst xmlns:a="http://schemas.openxmlformats.org/drawingml/2006/main">
              <a:ext uri="{FF2B5EF4-FFF2-40B4-BE49-F238E27FC236}">
                <a16:creationId xmlns:a16="http://schemas.microsoft.com/office/drawing/2014/main" id="{6FE7AB72-44E9-4320-9236-6E09A14F802B}"/>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BDC008C-ADEE-4F17-9EA7-6B8D007ED7E3}"/>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4FCBBAB-0385-4532-95F7-51FCC532BD74}"/>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날짜·필수값 검사</a:t>
            </a:r>
          </a:p>
        </p:txBody>
      </p:sp>
      <p:sp>
        <p:nvSpPr>
          <p:cNvPr id="19" name="">
            <a:extLst xmlns:a="http://schemas.openxmlformats.org/drawingml/2006/main">
              <a:ext uri="{FF2B5EF4-FFF2-40B4-BE49-F238E27FC236}">
                <a16:creationId xmlns:a16="http://schemas.microsoft.com/office/drawing/2014/main" id="{403E7AC7-67BE-4C7F-A0A0-B248F0EBCE09}"/>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D36B479-330B-432C-B5ED-B99C29E42D8B}"/>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65D49712-45B7-4ABA-9112-E365476E5B9F}"/>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사용자 최종 확인</a:t>
            </a:r>
          </a:p>
        </p:txBody>
      </p:sp>
      <p:sp>
        <p:nvSpPr>
          <p:cNvPr id="22" name="">
            <a:extLst xmlns:a="http://schemas.openxmlformats.org/drawingml/2006/main">
              <a:ext uri="{FF2B5EF4-FFF2-40B4-BE49-F238E27FC236}">
                <a16:creationId xmlns:a16="http://schemas.microsoft.com/office/drawing/2014/main" id="{96E806FD-BC50-4BE3-879C-A2C587AAA3BD}"/>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1160FB1-8CE3-4FEF-93B0-EC62FE72B0EF}"/>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338AEE46-7E61-48AE-A605-8EF8B6B1058C}"/>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신규 MIS API·상</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a:t>
            </a:r>
          </a:p>
        </p:txBody>
      </p:sp>
      <p:sp>
        <p:nvSpPr>
          <p:cNvPr id="25" name="">
            <a:extLst xmlns:a="http://schemas.openxmlformats.org/drawingml/2006/main">
              <a:ext uri="{FF2B5EF4-FFF2-40B4-BE49-F238E27FC236}">
                <a16:creationId xmlns:a16="http://schemas.microsoft.com/office/drawing/2014/main" id="{A58A69CA-22F8-47D6-8CB3-EAD640116C53}"/>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D4289E1-8946-4DC2-9852-9E228A47F338}"/>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7C47B7F7-23BE-497A-8AA0-3CC52D2F42EF}"/>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인사·근태·결재선</a:t>
            </a:r>
          </a:p>
        </p:txBody>
      </p:sp>
      <p:sp>
        <p:nvSpPr>
          <p:cNvPr id="28" name="">
            <a:extLst xmlns:a="http://schemas.openxmlformats.org/drawingml/2006/main">
              <a:ext uri="{FF2B5EF4-FFF2-40B4-BE49-F238E27FC236}">
                <a16:creationId xmlns:a16="http://schemas.microsoft.com/office/drawing/2014/main" id="{AABF137C-DD1F-4946-BC37-96A3613378A6}"/>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31B4E6C-31B6-470B-AD33-4096B675BB74}"/>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2C044E95-BA79-490E-B303-12541DB338AE}"/>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근태·서식 조회</a:t>
            </a:r>
          </a:p>
        </p:txBody>
      </p:sp>
      <p:sp>
        <p:nvSpPr>
          <p:cNvPr id="31" name="">
            <a:extLst xmlns:a="http://schemas.openxmlformats.org/drawingml/2006/main">
              <a:ext uri="{FF2B5EF4-FFF2-40B4-BE49-F238E27FC236}">
                <a16:creationId xmlns:a16="http://schemas.microsoft.com/office/drawing/2014/main" id="{32550853-0828-4E8A-B361-95D310022ECC}"/>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D8E27E4-CE4E-4935-99D3-F0674C31BBB7}"/>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017A0CC1-DF3A-4CD1-AEDB-208E2E845B43}"/>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초안·접수 상태</a:t>
            </a:r>
          </a:p>
        </p:txBody>
      </p:sp>
      <p:sp>
        <p:nvSpPr>
          <p:cNvPr id="34" name="">
            <a:extLst xmlns:a="http://schemas.openxmlformats.org/drawingml/2006/main">
              <a:ext uri="{FF2B5EF4-FFF2-40B4-BE49-F238E27FC236}">
                <a16:creationId xmlns:a16="http://schemas.microsoft.com/office/drawing/2014/main" id="{EF6EF9CB-E123-451E-9D49-339A057D707B}"/>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CD3FE67-6D9C-4A27-9C47-93B82E19C42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37F1DBD2-29CE-4D92-83E9-B194B34F6DB6}"/>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취소·중복 대사</a:t>
            </a:r>
          </a:p>
        </p:txBody>
      </p:sp>
      <p:sp>
        <p:nvSpPr>
          <p:cNvPr id="46" name="">
            <a:extLst xmlns:a="http://schemas.openxmlformats.org/drawingml/2006/main">
              <a:ext uri="{FF2B5EF4-FFF2-40B4-BE49-F238E27FC236}">
                <a16:creationId xmlns:a16="http://schemas.microsoft.com/office/drawing/2014/main" id="{F6589654-ED0C-483C-B4E2-0CC39B0DCF5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96954362"/>
      </p:ext>
    </p:extLst>
  </p:cSld>
</p:sld>
</file>

<file path=ppt/slides/slide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B090614-7F4D-404D-ABC1-3E7E5A5A0A4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논리 인터페이스·복구 설계</a:t>
            </a:r>
          </a:p>
        </p:txBody>
      </p:sp>
      <p:sp>
        <p:nvSpPr>
          <p:cNvPr id="2" name="">
            <a:extLst xmlns:a="http://schemas.openxmlformats.org/drawingml/2006/main">
              <a:ext uri="{FF2B5EF4-FFF2-40B4-BE49-F238E27FC236}">
                <a16:creationId xmlns:a16="http://schemas.microsoft.com/office/drawing/2014/main" id="{7BC479A9-FDB6-4981-B3D2-C070210F00D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데이터와 예외 처리</a:t>
            </a:r>
          </a:p>
        </p:txBody>
      </p:sp>
      <p:sp>
        <p:nvSpPr>
          <p:cNvPr id="3" name="">
            <a:extLst xmlns:a="http://schemas.openxmlformats.org/drawingml/2006/main">
              <a:ext uri="{FF2B5EF4-FFF2-40B4-BE49-F238E27FC236}">
                <a16:creationId xmlns:a16="http://schemas.microsoft.com/office/drawing/2014/main" id="{8F43DF37-FBF3-4BAA-BCA7-22FC89FD03F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9B7939-ED4A-4B93-8A5C-18B957D688F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705A54B-BF7F-4657-8B51-51E867B8529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54</a:t>
            </a:r>
          </a:p>
        </p:txBody>
      </p:sp>
      <p:sp>
        <p:nvSpPr>
          <p:cNvPr id="6" name="">
            <a:extLst xmlns:a="http://schemas.openxmlformats.org/drawingml/2006/main">
              <a:ext uri="{FF2B5EF4-FFF2-40B4-BE49-F238E27FC236}">
                <a16:creationId xmlns:a16="http://schemas.microsoft.com/office/drawing/2014/main" id="{E1E19B30-36F6-41DA-B640-B9825A78D4F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46233C6-995F-4F7B-915F-6AE00F5363AF}"/>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E67E9BC-558B-4E80-8099-C0A2756A1C3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22E129DA-A446-461C-BBC0-DAF0896BA4E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음성/텍스트 입력과 조직·직무·권한 확인</a:t>
            </a:r>
          </a:p>
        </p:txBody>
      </p:sp>
      <p:sp>
        <p:nvSpPr>
          <p:cNvPr id="10" name="">
            <a:extLst xmlns:a="http://schemas.openxmlformats.org/drawingml/2006/main">
              <a:ext uri="{FF2B5EF4-FFF2-40B4-BE49-F238E27FC236}">
                <a16:creationId xmlns:a16="http://schemas.microsoft.com/office/drawing/2014/main" id="{EDE27C16-A5B4-44EE-BBC7-0DD6169F65B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316AA80-DE82-41A4-8B27-C5F6509FE4E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7D0C2517-2E8C-480E-92D6-46CE895B7D60}"/>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 발화</a:t>
            </a:r>
          </a:p>
        </p:txBody>
      </p:sp>
      <p:sp>
        <p:nvSpPr>
          <p:cNvPr id="13" name="">
            <a:extLst xmlns:a="http://schemas.openxmlformats.org/drawingml/2006/main">
              <a:ext uri="{FF2B5EF4-FFF2-40B4-BE49-F238E27FC236}">
                <a16:creationId xmlns:a16="http://schemas.microsoft.com/office/drawing/2014/main" id="{5CDC62C9-E450-4E43-BD12-0237C3C8E5E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858E1D0-8D8A-4DA4-BD91-ED324639D3CF}"/>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643BC956-80EF-487C-B810-7D970C0D7FF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신청 초안·처리 상태</a:t>
            </a:r>
          </a:p>
        </p:txBody>
      </p:sp>
      <p:sp>
        <p:nvSpPr>
          <p:cNvPr id="16" name="">
            <a:extLst xmlns:a="http://schemas.openxmlformats.org/drawingml/2006/main">
              <a:ext uri="{FF2B5EF4-FFF2-40B4-BE49-F238E27FC236}">
                <a16:creationId xmlns:a16="http://schemas.microsoft.com/office/drawing/2014/main" id="{6E5E423C-C402-47F0-88B9-EDCCA2A6CD6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4F320F9-140C-4F55-A447-C129F1565C9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52840555-F24D-43AC-B313-675E695117C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확인된 초안</a:t>
            </a:r>
          </a:p>
        </p:txBody>
      </p:sp>
      <p:sp>
        <p:nvSpPr>
          <p:cNvPr id="19" name="">
            <a:extLst xmlns:a="http://schemas.openxmlformats.org/drawingml/2006/main">
              <a:ext uri="{FF2B5EF4-FFF2-40B4-BE49-F238E27FC236}">
                <a16:creationId xmlns:a16="http://schemas.microsoft.com/office/drawing/2014/main" id="{FEE0D9D8-624C-4EF3-9BAE-EC268633E352}"/>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D11C13D-BDCC-43E4-B4B2-4BEE9C8403F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2DE04D0A-D4FF-40FD-A76E-8713E9A1574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접수 결과</a:t>
            </a:r>
          </a:p>
        </p:txBody>
      </p:sp>
      <p:sp>
        <p:nvSpPr>
          <p:cNvPr id="22" name="">
            <a:extLst xmlns:a="http://schemas.openxmlformats.org/drawingml/2006/main">
              <a:ext uri="{FF2B5EF4-FFF2-40B4-BE49-F238E27FC236}">
                <a16:creationId xmlns:a16="http://schemas.microsoft.com/office/drawing/2014/main" id="{EAE7FE67-4B5C-4AB1-9712-7AA731B8D75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1D9A800-703E-49BB-8DE2-1A51B679B027}"/>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9B3CD570-227F-42CD-BE73-6133A16896C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접수 결과</a:t>
            </a:r>
          </a:p>
        </p:txBody>
      </p:sp>
      <p:sp>
        <p:nvSpPr>
          <p:cNvPr id="25" name="">
            <a:extLst xmlns:a="http://schemas.openxmlformats.org/drawingml/2006/main">
              <a:ext uri="{FF2B5EF4-FFF2-40B4-BE49-F238E27FC236}">
                <a16:creationId xmlns:a16="http://schemas.microsoft.com/office/drawing/2014/main" id="{16B97802-A898-4F6F-8338-CA2E39C86D6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0DA89DE-2B7D-42CA-8FC9-69B9C3E7B18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날짜 오인식·필수 항목 누락·API 재시도·취소</a:t>
            </a:r>
          </a:p>
        </p:txBody>
      </p:sp>
      <p:sp>
        <p:nvSpPr>
          <p:cNvPr id="27" name="">
            <a:extLst xmlns:a="http://schemas.openxmlformats.org/drawingml/2006/main">
              <a:ext uri="{FF2B5EF4-FFF2-40B4-BE49-F238E27FC236}">
                <a16:creationId xmlns:a16="http://schemas.microsoft.com/office/drawing/2014/main" id="{49199F0C-D7DE-4434-8ABB-C362BEA6171E}"/>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091AB96-956B-41BE-9528-A355227C046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필드 재확인·멱등성·상태 대사</a:t>
            </a:r>
          </a:p>
        </p:txBody>
      </p:sp>
      <p:sp>
        <p:nvSpPr>
          <p:cNvPr id="29" name="">
            <a:extLst xmlns:a="http://schemas.openxmlformats.org/drawingml/2006/main">
              <a:ext uri="{FF2B5EF4-FFF2-40B4-BE49-F238E27FC236}">
                <a16:creationId xmlns:a16="http://schemas.microsoft.com/office/drawing/2014/main" id="{506B9A05-C3E7-4571-BC9F-606A5DE6A40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CE57B66-51DB-48E0-8EAA-93288485421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수정·취소·재시도 상태의 원천 대사</a:t>
            </a:r>
          </a:p>
        </p:txBody>
      </p:sp>
      <p:sp>
        <p:nvSpPr>
          <p:cNvPr id="31" name="">
            <a:extLst xmlns:a="http://schemas.openxmlformats.org/drawingml/2006/main">
              <a:ext uri="{FF2B5EF4-FFF2-40B4-BE49-F238E27FC236}">
                <a16:creationId xmlns:a16="http://schemas.microsoft.com/office/drawing/2014/main" id="{4A8C6BA6-38B0-4615-9113-6216F3B23C5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4C28602-FA35-4584-A6E5-C852FA55979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확인 전 실행 차단·중복 방지·MIS 접수 상태 대사</a:t>
            </a:r>
          </a:p>
        </p:txBody>
      </p:sp>
    </p:spTree>
    <p:extLst>
      <p:ext uri="{BB962C8B-B14F-4D97-AF65-F5344CB8AC3E}">
        <p14:creationId xmlns:p14="http://schemas.microsoft.com/office/powerpoint/2010/main" val="586527925"/>
      </p:ext>
    </p:extLst>
  </p:cSld>
</p:sld>
</file>

<file path=ppt/slides/slide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B5315ED-2E8F-4131-9EC2-DEDFF002E15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CCK 비교·재현 시험 설계</a:t>
            </a:r>
          </a:p>
        </p:txBody>
      </p:sp>
      <p:sp>
        <p:nvSpPr>
          <p:cNvPr id="2" name="">
            <a:extLst xmlns:a="http://schemas.openxmlformats.org/drawingml/2006/main">
              <a:ext uri="{FF2B5EF4-FFF2-40B4-BE49-F238E27FC236}">
                <a16:creationId xmlns:a16="http://schemas.microsoft.com/office/drawing/2014/main" id="{0ABDB974-147E-4DCB-BD48-37BC641E78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벤치마킹</a:t>
            </a:r>
          </a:p>
        </p:txBody>
      </p:sp>
      <p:sp>
        <p:nvSpPr>
          <p:cNvPr id="3" name="">
            <a:extLst xmlns:a="http://schemas.openxmlformats.org/drawingml/2006/main">
              <a:ext uri="{FF2B5EF4-FFF2-40B4-BE49-F238E27FC236}">
                <a16:creationId xmlns:a16="http://schemas.microsoft.com/office/drawing/2014/main" id="{B059F86D-AD6D-453E-B13C-29DD24C3864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B72483-3CA2-452F-9D5E-1C8C1B69D3F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E05548D-C025-409F-9EEE-F048E462D3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55</a:t>
            </a:r>
          </a:p>
        </p:txBody>
      </p:sp>
      <p:sp>
        <p:nvSpPr>
          <p:cNvPr id="6" name="">
            <a:extLst xmlns:a="http://schemas.openxmlformats.org/drawingml/2006/main">
              <a:ext uri="{FF2B5EF4-FFF2-40B4-BE49-F238E27FC236}">
                <a16:creationId xmlns:a16="http://schemas.microsoft.com/office/drawing/2014/main" id="{7EA49CBB-F2D1-487D-989D-AEE89E39613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BE696D58-1EBF-4D7A-84D3-C8C76D8399F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발화 구조화와 기존 MIS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실행 전 사용자 확인</a:t>
            </a:r>
          </a:p>
        </p:txBody>
      </p:sp>
      <p:sp>
        <p:nvSpPr>
          <p:cNvPr id="8" name="">
            <a:extLst xmlns:a="http://schemas.openxmlformats.org/drawingml/2006/main">
              <a:ext uri="{FF2B5EF4-FFF2-40B4-BE49-F238E27FC236}">
                <a16:creationId xmlns:a16="http://schemas.microsoft.com/office/drawing/2014/main" id="{8E7A153B-B254-4947-B6EB-70798DC24A8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8CFE6A1-A8DB-4A31-BC54-038CC6F9741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날짜·출장 항목 추출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재시도에 따른 중복 신청</a:t>
            </a:r>
          </a:p>
        </p:txBody>
      </p:sp>
      <p:sp>
        <p:nvSpPr>
          <p:cNvPr id="10" name="">
            <a:extLst xmlns:a="http://schemas.openxmlformats.org/drawingml/2006/main">
              <a:ext uri="{FF2B5EF4-FFF2-40B4-BE49-F238E27FC236}">
                <a16:creationId xmlns:a16="http://schemas.microsoft.com/office/drawing/2014/main" id="{125DCF7D-987F-4700-8DDD-533C11C6F069}"/>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AAC4BCF-8CC0-49AE-A552-278AA95EFF7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필수 필드 재확인·멱등성·상태 대사</a:t>
            </a:r>
          </a:p>
        </p:txBody>
      </p:sp>
      <p:sp>
        <p:nvSpPr>
          <p:cNvPr id="12" name="">
            <a:extLst xmlns:a="http://schemas.openxmlformats.org/drawingml/2006/main">
              <a:ext uri="{FF2B5EF4-FFF2-40B4-BE49-F238E27FC236}">
                <a16:creationId xmlns:a16="http://schemas.microsoft.com/office/drawing/2014/main" id="{93F465BE-73C5-46C2-A89A-3CB11A8010B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F8AAEE8-0401-4794-8570-731C252D782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출장 목적·기간·장소를 말하고 확인 후 기안·상신</a:t>
            </a:r>
          </a:p>
        </p:txBody>
      </p:sp>
      <p:sp>
        <p:nvSpPr>
          <p:cNvPr id="14" name="">
            <a:extLst xmlns:a="http://schemas.openxmlformats.org/drawingml/2006/main">
              <a:ext uri="{FF2B5EF4-FFF2-40B4-BE49-F238E27FC236}">
                <a16:creationId xmlns:a16="http://schemas.microsoft.com/office/drawing/2014/main" id="{34FE5733-BEE1-4ED8-8FB5-1BCBB37617E7}"/>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B5836D5-2A0E-4B36-9181-ED18E3FB9E0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날짜 오인식·필수 항목 누락·API 재시도·취소</a:t>
            </a:r>
          </a:p>
        </p:txBody>
      </p:sp>
      <p:sp>
        <p:nvSpPr>
          <p:cNvPr id="16" name="">
            <a:extLst xmlns:a="http://schemas.openxmlformats.org/drawingml/2006/main">
              <a:ext uri="{FF2B5EF4-FFF2-40B4-BE49-F238E27FC236}">
                <a16:creationId xmlns:a16="http://schemas.microsoft.com/office/drawing/2014/main" id="{C3125D0D-3144-445A-A0F1-4DBAC595BEF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A0613EA-F08A-4794-BA8F-FEED9DB7DBA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확인 전 실행 차단·중복 방지·MIS 접수 상태 대사</a:t>
            </a:r>
          </a:p>
        </p:txBody>
      </p:sp>
    </p:spTree>
    <p:extLst>
      <p:ext uri="{BB962C8B-B14F-4D97-AF65-F5344CB8AC3E}">
        <p14:creationId xmlns:p14="http://schemas.microsoft.com/office/powerpoint/2010/main" val="1016136479"/>
      </p:ext>
    </p:extLst>
  </p:cSld>
</p:sld>
</file>

<file path=ppt/slides/slide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921770E-58C8-4FCD-A533-A3DDC686103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성과 미검증 / 국내</a:t>
            </a:r>
          </a:p>
        </p:txBody>
      </p:sp>
      <p:sp>
        <p:nvSpPr>
          <p:cNvPr id="2" name="">
            <a:extLst xmlns:a="http://schemas.openxmlformats.org/drawingml/2006/main">
              <a:ext uri="{FF2B5EF4-FFF2-40B4-BE49-F238E27FC236}">
                <a16:creationId xmlns:a16="http://schemas.microsoft.com/office/drawing/2014/main" id="{95022231-18E9-47AF-8816-D7F3A318FF1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a:t>
            </a:r>
          </a:p>
        </p:txBody>
      </p:sp>
      <p:sp>
        <p:nvSpPr>
          <p:cNvPr id="3" name="">
            <a:extLst xmlns:a="http://schemas.openxmlformats.org/drawingml/2006/main">
              <a:ext uri="{FF2B5EF4-FFF2-40B4-BE49-F238E27FC236}">
                <a16:creationId xmlns:a16="http://schemas.microsoft.com/office/drawing/2014/main" id="{39C2134D-8D01-4FA9-B264-6606ABAD7BA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17C1E65-9FBB-475D-8CDE-1E9C38EEA55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B070499-D5C7-4CA0-A8A8-0138B86DA6C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56</a:t>
            </a:r>
          </a:p>
        </p:txBody>
      </p:sp>
      <p:sp>
        <p:nvSpPr>
          <p:cNvPr id="6" name="">
            <a:extLst xmlns:a="http://schemas.openxmlformats.org/drawingml/2006/main">
              <a:ext uri="{FF2B5EF4-FFF2-40B4-BE49-F238E27FC236}">
                <a16:creationId xmlns:a16="http://schemas.microsoft.com/office/drawing/2014/main" id="{A66B3C3B-2AB1-423D-80DF-FFA7C81382C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A445494-56F6-49E2-B036-CC8BF49C6D8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스팸 관련 법령·가이드·체크리스트를 국민의 질문에 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결하는 대민 AI 상담 구축. 홈페이지·앱 접점과 지식베이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스·외부 생성형 AI API·관리자·운영 기능을 함께 요구하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사업.</a:t>
            </a:r>
          </a:p>
        </p:txBody>
      </p:sp>
      <p:sp>
        <p:nvSpPr>
          <p:cNvPr id="8" name="">
            <a:extLst xmlns:a="http://schemas.openxmlformats.org/drawingml/2006/main">
              <a:ext uri="{FF2B5EF4-FFF2-40B4-BE49-F238E27FC236}">
                <a16:creationId xmlns:a16="http://schemas.microsoft.com/office/drawing/2014/main" id="{00E09B15-008B-415E-AFCC-8E8B75561E1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DFDD284-2623-45CC-85D0-C4D79BAC0DF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 입력 점검 후 최신 법령 근거를 검색하고 외부 AI A</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PI로 답변을 생성하는 구조. 검색·답변 단계에서 출처와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답변불가 처리를 분리하고, 자동 평가와 전문가 검토를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운영 과정에 결합하는 설계. 최종 RFP 판본의 성능·품질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요구를 기준으로 비교.</a:t>
            </a:r>
          </a:p>
        </p:txBody>
      </p:sp>
      <p:sp>
        <p:nvSpPr>
          <p:cNvPr id="10" name="">
            <a:extLst xmlns:a="http://schemas.openxmlformats.org/drawingml/2006/main">
              <a:ext uri="{FF2B5EF4-FFF2-40B4-BE49-F238E27FC236}">
                <a16:creationId xmlns:a16="http://schemas.microsoft.com/office/drawing/2014/main" id="{6EACE505-9E46-48AA-9789-0D05D4C80F0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ABA61FF8-DBD9-4B72-B93B-08D71CC3044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규정 검색 성공이 적절한 민원 안내를 보장하지 않는 점을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수에 반영할 필요. 법령 개정, 유사 조문, 근거 없는 질문, 공</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격성 입력을 구분한 시험셋과 전문가 판정의 연결. TS 안내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서비스에 적용할 경우 법정 판단·신청 처리는 해당 업무 시스</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템과 담당자의 책임으로 연결.</a:t>
            </a:r>
          </a:p>
        </p:txBody>
      </p:sp>
      <p:sp>
        <p:nvSpPr>
          <p:cNvPr id="12" name="">
            <a:extLst xmlns:a="http://schemas.openxmlformats.org/drawingml/2006/main">
              <a:ext uri="{FF2B5EF4-FFF2-40B4-BE49-F238E27FC236}">
                <a16:creationId xmlns:a16="http://schemas.microsoft.com/office/drawing/2014/main" id="{BFA936EF-050D-41FB-8464-D5A826E3B39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24DF3E9-6122-43C2-9285-D86DBCDF5BA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법령·체크리스트 판본 / 응답 보류 / 전문가 정답셋·부하 시험</a:t>
            </a:r>
          </a:p>
        </p:txBody>
      </p:sp>
      <p:sp>
        <p:nvSpPr>
          <p:cNvPr id="14" name="">
            <a:extLst xmlns:a="http://schemas.openxmlformats.org/drawingml/2006/main">
              <a:ext uri="{FF2B5EF4-FFF2-40B4-BE49-F238E27FC236}">
                <a16:creationId xmlns:a16="http://schemas.microsoft.com/office/drawing/2014/main" id="{0E9646E6-99A4-416F-9707-5BBCF258847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079BA31-6DAB-4D0E-B772-71FBE5A13B8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조문·근거 부재·공격 입력·동시 요청의 품질·성능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a:t>
            </a:r>
          </a:p>
        </p:txBody>
      </p:sp>
      <p:sp>
        <p:nvSpPr>
          <p:cNvPr id="16" name="">
            <a:extLst xmlns:a="http://schemas.openxmlformats.org/drawingml/2006/main">
              <a:ext uri="{FF2B5EF4-FFF2-40B4-BE49-F238E27FC236}">
                <a16:creationId xmlns:a16="http://schemas.microsoft.com/office/drawing/2014/main" id="{FB030B3F-2ECF-410F-ABEC-69351283B9D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1E5AD66-E94A-40CB-9959-2AE4F7699A3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정답률 / 보류 적정률 / 응답시간·오류율</a:t>
            </a:r>
          </a:p>
        </p:txBody>
      </p:sp>
      <p:sp>
        <p:nvSpPr>
          <p:cNvPr id="18" name="">
            <a:extLst xmlns:a="http://schemas.openxmlformats.org/drawingml/2006/main">
              <a:ext uri="{FF2B5EF4-FFF2-40B4-BE49-F238E27FC236}">
                <a16:creationId xmlns:a16="http://schemas.microsoft.com/office/drawing/2014/main" id="{018B561B-4730-4164-90DC-96CFAD86697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사전본 동시300명→본공고100명. 오픈소스 모델/라이브러리 문구→외부 생성형AI API+RAG 방식</a:t>
            </a:r>
          </a:p>
        </p:txBody>
      </p:sp>
    </p:spTree>
    <p:extLst>
      <p:ext uri="{BB962C8B-B14F-4D97-AF65-F5344CB8AC3E}">
        <p14:creationId xmlns:p14="http://schemas.microsoft.com/office/powerpoint/2010/main" val="462474763"/>
      </p:ext>
    </p:extLst>
  </p:cSld>
</p:sld>
</file>

<file path=ppt/slides/slide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101458-3086-4E11-B445-EA0C40A84BA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As-Is → To-Be → 기대효과 → 확인 결과</a:t>
            </a:r>
          </a:p>
        </p:txBody>
      </p:sp>
      <p:sp>
        <p:nvSpPr>
          <p:cNvPr id="2" name="">
            <a:extLst xmlns:a="http://schemas.openxmlformats.org/drawingml/2006/main">
              <a:ext uri="{FF2B5EF4-FFF2-40B4-BE49-F238E27FC236}">
                <a16:creationId xmlns:a16="http://schemas.microsoft.com/office/drawing/2014/main" id="{BA8D63C6-BCE8-4E11-BFE9-4D1235BB7B0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기대와 결과</a:t>
            </a:r>
          </a:p>
        </p:txBody>
      </p:sp>
      <p:sp>
        <p:nvSpPr>
          <p:cNvPr id="3" name="">
            <a:extLst xmlns:a="http://schemas.openxmlformats.org/drawingml/2006/main">
              <a:ext uri="{FF2B5EF4-FFF2-40B4-BE49-F238E27FC236}">
                <a16:creationId xmlns:a16="http://schemas.microsoft.com/office/drawing/2014/main" id="{9D001AE8-A393-4A71-A8F5-3A133995969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690DACE-6728-40FF-BA0E-001F6B39757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FC4A88A-460C-4C71-8D59-A9807B75CDD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57</a:t>
            </a:r>
          </a:p>
        </p:txBody>
      </p:sp>
      <p:sp>
        <p:nvSpPr>
          <p:cNvPr id="6" name="">
            <a:extLst xmlns:a="http://schemas.openxmlformats.org/drawingml/2006/main">
              <a:ext uri="{FF2B5EF4-FFF2-40B4-BE49-F238E27FC236}">
                <a16:creationId xmlns:a16="http://schemas.microsoft.com/office/drawing/2014/main" id="{FECBD281-5266-4EA9-9CB8-4D6803B14F88}"/>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461287A8-EDF4-4906-BE49-EBE9BDE3DDC1}"/>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관련 법령·자율규제 문의에 상담·홈페이지 자료로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응</a:t>
            </a:r>
          </a:p>
        </p:txBody>
      </p:sp>
      <p:sp>
        <p:nvSpPr>
          <p:cNvPr id="8" name="">
            <a:extLst xmlns:a="http://schemas.openxmlformats.org/drawingml/2006/main">
              <a:ext uri="{FF2B5EF4-FFF2-40B4-BE49-F238E27FC236}">
                <a16:creationId xmlns:a16="http://schemas.microsoft.com/office/drawing/2014/main" id="{BFE701DA-50AC-4444-8614-778882F1F153}"/>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0CB11A85-9730-4DE6-989E-6095176BB725}"/>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최신 법령·체크리스트 RAG로 근거형 답변을 제공하고 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 불가·전문가 평가를 운영</a:t>
            </a:r>
          </a:p>
        </p:txBody>
      </p:sp>
      <p:sp>
        <p:nvSpPr>
          <p:cNvPr id="10" name="">
            <a:extLst xmlns:a="http://schemas.openxmlformats.org/drawingml/2006/main">
              <a:ext uri="{FF2B5EF4-FFF2-40B4-BE49-F238E27FC236}">
                <a16:creationId xmlns:a16="http://schemas.microsoft.com/office/drawing/2014/main" id="{E14369CD-E116-4319-A17F-4E983804FE31}"/>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798436B-C474-4CCA-8300-4EF77FE6C1A1}"/>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응답 속도와 근거 적합도 개선, 오안내·재문의 감소</a:t>
            </a:r>
          </a:p>
        </p:txBody>
      </p:sp>
      <p:sp>
        <p:nvSpPr>
          <p:cNvPr id="12" name="">
            <a:extLst xmlns:a="http://schemas.openxmlformats.org/drawingml/2006/main">
              <a:ext uri="{FF2B5EF4-FFF2-40B4-BE49-F238E27FC236}">
                <a16:creationId xmlns:a16="http://schemas.microsoft.com/office/drawing/2014/main" id="{BD006089-5C80-40A3-9903-42D10731D3DE}"/>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A58DA23A-ADB9-4636-980E-253209433362}"/>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최종 본공고 첨부 확인. 사전본과 본공고의 동시접속·모델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방식 변경은 확인되나 구축 성과 없음</a:t>
            </a:r>
          </a:p>
        </p:txBody>
      </p:sp>
      <p:sp>
        <p:nvSpPr>
          <p:cNvPr id="14" name="">
            <a:extLst xmlns:a="http://schemas.openxmlformats.org/drawingml/2006/main">
              <a:ext uri="{FF2B5EF4-FFF2-40B4-BE49-F238E27FC236}">
                <a16:creationId xmlns:a16="http://schemas.microsoft.com/office/drawing/2014/main" id="{E33CEC53-0EDB-4106-9FA3-6EBA9BAB0DCE}"/>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입찰 요구 변경은 결과가 아니며 전문가 평가·실사용 부하 결과 미공개</a:t>
            </a:r>
          </a:p>
        </p:txBody>
      </p:sp>
      <p:sp>
        <p:nvSpPr>
          <p:cNvPr id="15" name="">
            <a:extLst xmlns:a="http://schemas.openxmlformats.org/drawingml/2006/main">
              <a:ext uri="{FF2B5EF4-FFF2-40B4-BE49-F238E27FC236}">
                <a16:creationId xmlns:a16="http://schemas.microsoft.com/office/drawing/2014/main" id="{40E22F52-A9FB-47EF-BB19-875C37C4785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본공고 RFP 목표 · 사전본 수치를 최종 요구로 재사용 금지; 법령 효력일별 정답·보류 평가 필요</a:t>
            </a:r>
          </a:p>
        </p:txBody>
      </p:sp>
    </p:spTree>
    <p:extLst>
      <p:ext uri="{BB962C8B-B14F-4D97-AF65-F5344CB8AC3E}">
        <p14:creationId xmlns:p14="http://schemas.microsoft.com/office/powerpoint/2010/main" val="1962168999"/>
      </p:ext>
    </p:extLst>
  </p:cSld>
</p:sld>
</file>

<file path=ppt/slides/slide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EAB3E92-618D-45FB-ADE2-AE9B62CF8F5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1–3</a:t>
            </a:r>
          </a:p>
        </p:txBody>
      </p:sp>
      <p:sp>
        <p:nvSpPr>
          <p:cNvPr id="2" name="">
            <a:extLst xmlns:a="http://schemas.openxmlformats.org/drawingml/2006/main">
              <a:ext uri="{FF2B5EF4-FFF2-40B4-BE49-F238E27FC236}">
                <a16:creationId xmlns:a16="http://schemas.microsoft.com/office/drawing/2014/main" id="{D2FB54CA-81D7-41B8-9669-5486F12182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3D692E23-6B9D-43C0-8C03-B4BB9C20167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6A20C5-33E2-4DD1-8DCE-A8693ED8451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1E735C1-4FAF-4302-BF12-1F6F2557C8E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58</a:t>
            </a:r>
          </a:p>
        </p:txBody>
      </p:sp>
      <p:sp>
        <p:nvSpPr>
          <p:cNvPr id="6" name="">
            <a:extLst xmlns:a="http://schemas.openxmlformats.org/drawingml/2006/main">
              <a:ext uri="{FF2B5EF4-FFF2-40B4-BE49-F238E27FC236}">
                <a16:creationId xmlns:a16="http://schemas.microsoft.com/office/drawing/2014/main" id="{85619D8E-862C-436D-9AE8-873E839303E9}"/>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A1DDA53-343D-4188-A0DA-2298D0501FC7}"/>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SFR-001 AI 스팸 챗봇 서비스 구축</a:t>
            </a:r>
          </a:p>
        </p:txBody>
      </p:sp>
      <p:sp>
        <p:nvSpPr>
          <p:cNvPr id="8" name="">
            <a:extLst xmlns:a="http://schemas.openxmlformats.org/drawingml/2006/main">
              <a:ext uri="{FF2B5EF4-FFF2-40B4-BE49-F238E27FC236}">
                <a16:creationId xmlns:a16="http://schemas.microsoft.com/office/drawing/2014/main" id="{B91C7064-9FC0-4140-83C4-C574408BAEEA}"/>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관련 법령·업무 문의에 대응하는 AI 챗봇 구축.</a:t>
            </a:r>
          </a:p>
        </p:txBody>
      </p:sp>
      <p:sp>
        <p:nvSpPr>
          <p:cNvPr id="9" name="">
            <a:extLst xmlns:a="http://schemas.openxmlformats.org/drawingml/2006/main">
              <a:ext uri="{FF2B5EF4-FFF2-40B4-BE49-F238E27FC236}">
                <a16:creationId xmlns:a16="http://schemas.microsoft.com/office/drawing/2014/main" id="{0B3DFC78-237C-43CE-A06A-E7866EA3E80A}"/>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법령 설명·신고 절차·예외 사유 질문을 구분해 올바른 안내 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로 확인</a:t>
            </a:r>
          </a:p>
        </p:txBody>
      </p:sp>
      <p:sp>
        <p:nvSpPr>
          <p:cNvPr id="10" name="">
            <a:extLst xmlns:a="http://schemas.openxmlformats.org/drawingml/2006/main">
              <a:ext uri="{FF2B5EF4-FFF2-40B4-BE49-F238E27FC236}">
                <a16:creationId xmlns:a16="http://schemas.microsoft.com/office/drawing/2014/main" id="{90A8BEDC-E068-4C38-BF41-1AD8A88E7E99}"/>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2C85B3B-334C-4C91-BFAD-1A190478AE98}"/>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SFR-002 AI 스팸 챗봇 서비스 지식베이스 관리</a:t>
            </a:r>
          </a:p>
        </p:txBody>
      </p:sp>
      <p:sp>
        <p:nvSpPr>
          <p:cNvPr id="12" name="">
            <a:extLst xmlns:a="http://schemas.openxmlformats.org/drawingml/2006/main">
              <a:ext uri="{FF2B5EF4-FFF2-40B4-BE49-F238E27FC236}">
                <a16:creationId xmlns:a16="http://schemas.microsoft.com/office/drawing/2014/main" id="{FF438DB3-6FDE-4DE6-9CFC-99DC91ED7387}"/>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관련 지식자료를 등록·정비·활용하는 지식베이스 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성.</a:t>
            </a:r>
          </a:p>
        </p:txBody>
      </p:sp>
      <p:sp>
        <p:nvSpPr>
          <p:cNvPr id="13" name="">
            <a:extLst xmlns:a="http://schemas.openxmlformats.org/drawingml/2006/main">
              <a:ext uri="{FF2B5EF4-FFF2-40B4-BE49-F238E27FC236}">
                <a16:creationId xmlns:a16="http://schemas.microsoft.com/office/drawing/2014/main" id="{DD7F2E81-7990-44E4-908E-4C12E38A6505}"/>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개정 자료·폐기 자료·상충 FAQ의 승인·갱신 및 검색 제외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확인</a:t>
            </a:r>
          </a:p>
        </p:txBody>
      </p:sp>
      <p:sp>
        <p:nvSpPr>
          <p:cNvPr id="14" name="">
            <a:extLst xmlns:a="http://schemas.openxmlformats.org/drawingml/2006/main">
              <a:ext uri="{FF2B5EF4-FFF2-40B4-BE49-F238E27FC236}">
                <a16:creationId xmlns:a16="http://schemas.microsoft.com/office/drawing/2014/main" id="{0A10C92E-F778-4C63-99E6-92FE7A119CEB}"/>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7F64254-538B-4770-BFF1-7F1CBE0B6402}"/>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AI 스팸 챗봇 서비스 모델</a:t>
            </a:r>
          </a:p>
        </p:txBody>
      </p:sp>
      <p:sp>
        <p:nvSpPr>
          <p:cNvPr id="16" name="">
            <a:extLst xmlns:a="http://schemas.openxmlformats.org/drawingml/2006/main">
              <a:ext uri="{FF2B5EF4-FFF2-40B4-BE49-F238E27FC236}">
                <a16:creationId xmlns:a16="http://schemas.microsoft.com/office/drawing/2014/main" id="{0B5110DD-99D4-4A98-A815-F2B6781444AB}"/>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업무 질의응답을 위한 AI 모델 구성·적용.</a:t>
            </a:r>
          </a:p>
        </p:txBody>
      </p:sp>
      <p:sp>
        <p:nvSpPr>
          <p:cNvPr id="17" name="">
            <a:extLst xmlns:a="http://schemas.openxmlformats.org/drawingml/2006/main">
              <a:ext uri="{FF2B5EF4-FFF2-40B4-BE49-F238E27FC236}">
                <a16:creationId xmlns:a16="http://schemas.microsoft.com/office/drawing/2014/main" id="{E92743B6-D90F-4FB0-A9A8-48243D7B65F0}"/>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없는 법적 단정, 문맥 누락, 질의와 무관한 응답을 업무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정답셋으로 평가</a:t>
            </a:r>
          </a:p>
        </p:txBody>
      </p:sp>
    </p:spTree>
    <p:extLst>
      <p:ext uri="{BB962C8B-B14F-4D97-AF65-F5344CB8AC3E}">
        <p14:creationId xmlns:p14="http://schemas.microsoft.com/office/powerpoint/2010/main" val="2102795043"/>
      </p:ext>
    </p:extLst>
  </p:cSld>
</p:sld>
</file>

<file path=ppt/slides/slide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C965257-6BAD-488D-927C-0EFBBA259FD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4–6</a:t>
            </a:r>
          </a:p>
        </p:txBody>
      </p:sp>
      <p:sp>
        <p:nvSpPr>
          <p:cNvPr id="2" name="">
            <a:extLst xmlns:a="http://schemas.openxmlformats.org/drawingml/2006/main">
              <a:ext uri="{FF2B5EF4-FFF2-40B4-BE49-F238E27FC236}">
                <a16:creationId xmlns:a16="http://schemas.microsoft.com/office/drawing/2014/main" id="{FA3CFF54-60F1-4ED0-BB9C-798EA9ADB47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0BF36613-49D6-42CA-BC42-894C0EB3602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DF414F-7B59-4CF6-B9D1-A5CA4410EC0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843925D-0B2E-43DE-AAAF-2F741C4946D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59</a:t>
            </a:r>
          </a:p>
        </p:txBody>
      </p:sp>
      <p:sp>
        <p:nvSpPr>
          <p:cNvPr id="6" name="">
            <a:extLst xmlns:a="http://schemas.openxmlformats.org/drawingml/2006/main">
              <a:ext uri="{FF2B5EF4-FFF2-40B4-BE49-F238E27FC236}">
                <a16:creationId xmlns:a16="http://schemas.microsoft.com/office/drawing/2014/main" id="{C18EB965-8FBA-46C7-A208-7C34FED534D3}"/>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3863DAC-D1B7-4FBC-9602-6BC1BF35FE56}"/>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AI 스팸 챗봇 서비스 관리자 기능</a:t>
            </a:r>
          </a:p>
        </p:txBody>
      </p:sp>
      <p:sp>
        <p:nvSpPr>
          <p:cNvPr id="8" name="">
            <a:extLst xmlns:a="http://schemas.openxmlformats.org/drawingml/2006/main">
              <a:ext uri="{FF2B5EF4-FFF2-40B4-BE49-F238E27FC236}">
                <a16:creationId xmlns:a16="http://schemas.microsoft.com/office/drawing/2014/main" id="{AB520E06-0E78-4B21-AF74-C6C9323E3C06}"/>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관리자의 지식·서비스 관리 기능 제공.</a:t>
            </a:r>
          </a:p>
        </p:txBody>
      </p:sp>
      <p:sp>
        <p:nvSpPr>
          <p:cNvPr id="9" name="">
            <a:extLst xmlns:a="http://schemas.openxmlformats.org/drawingml/2006/main">
              <a:ext uri="{FF2B5EF4-FFF2-40B4-BE49-F238E27FC236}">
                <a16:creationId xmlns:a16="http://schemas.microsoft.com/office/drawing/2014/main" id="{7AF0EBF0-6139-4E75-B078-0B8447D6CE0B}"/>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C06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지식 수정·게시·삭제의 역할별 허용 범위와 변경 이력 확인</a:t>
            </a:r>
          </a:p>
        </p:txBody>
      </p:sp>
      <p:sp>
        <p:nvSpPr>
          <p:cNvPr id="10" name="">
            <a:extLst xmlns:a="http://schemas.openxmlformats.org/drawingml/2006/main">
              <a:ext uri="{FF2B5EF4-FFF2-40B4-BE49-F238E27FC236}">
                <a16:creationId xmlns:a16="http://schemas.microsoft.com/office/drawing/2014/main" id="{2867DB95-6092-456D-A39F-76B727735A1C}"/>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F8CC39-B831-4F34-9CC6-53B07EE9B869}"/>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AI 스팸 챗봇 서비스 시스템 연계</a:t>
            </a:r>
          </a:p>
        </p:txBody>
      </p:sp>
      <p:sp>
        <p:nvSpPr>
          <p:cNvPr id="12" name="">
            <a:extLst xmlns:a="http://schemas.openxmlformats.org/drawingml/2006/main">
              <a:ext uri="{FF2B5EF4-FFF2-40B4-BE49-F238E27FC236}">
                <a16:creationId xmlns:a16="http://schemas.microsoft.com/office/drawing/2014/main" id="{3BDC1680-7E3B-499A-B496-0084FCE31BB1}"/>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업무시스템과 AI 챗봇의 연계 기능.</a:t>
            </a:r>
          </a:p>
        </p:txBody>
      </p:sp>
      <p:sp>
        <p:nvSpPr>
          <p:cNvPr id="13" name="">
            <a:extLst xmlns:a="http://schemas.openxmlformats.org/drawingml/2006/main">
              <a:ext uri="{FF2B5EF4-FFF2-40B4-BE49-F238E27FC236}">
                <a16:creationId xmlns:a16="http://schemas.microsoft.com/office/drawing/2014/main" id="{D4F529EC-BE01-4723-9FF3-AAD9B135398C}"/>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인증 오류·미존재 데이터·연계 실패 시 비정상 결과의 차단과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 확인</a:t>
            </a:r>
          </a:p>
        </p:txBody>
      </p:sp>
      <p:sp>
        <p:nvSpPr>
          <p:cNvPr id="14" name="">
            <a:extLst xmlns:a="http://schemas.openxmlformats.org/drawingml/2006/main">
              <a:ext uri="{FF2B5EF4-FFF2-40B4-BE49-F238E27FC236}">
                <a16:creationId xmlns:a16="http://schemas.microsoft.com/office/drawing/2014/main" id="{71C99EEE-DD85-41B1-827C-3FB3B8178E48}"/>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6492DD-8B63-4F9A-89E8-80E7699C72DD}"/>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AI 스팸 챗봇 서비스 운영 관리</a:t>
            </a:r>
          </a:p>
        </p:txBody>
      </p:sp>
      <p:sp>
        <p:nvSpPr>
          <p:cNvPr id="16" name="">
            <a:extLst xmlns:a="http://schemas.openxmlformats.org/drawingml/2006/main">
              <a:ext uri="{FF2B5EF4-FFF2-40B4-BE49-F238E27FC236}">
                <a16:creationId xmlns:a16="http://schemas.microsoft.com/office/drawing/2014/main" id="{2581575A-FB34-4AF0-BA32-BC933C9C8B53}"/>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서비스의 운영 상태와 처리 이력을 관리하는 기능.</a:t>
            </a:r>
          </a:p>
        </p:txBody>
      </p:sp>
      <p:sp>
        <p:nvSpPr>
          <p:cNvPr id="17" name="">
            <a:extLst xmlns:a="http://schemas.openxmlformats.org/drawingml/2006/main">
              <a:ext uri="{FF2B5EF4-FFF2-40B4-BE49-F238E27FC236}">
                <a16:creationId xmlns:a16="http://schemas.microsoft.com/office/drawing/2014/main" id="{D8388AB6-238E-4FA4-8C32-230997D18B42}"/>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장애·오답 접수부터 보정·재시험까지의 처리 상태 추적</a:t>
            </a:r>
          </a:p>
        </p:txBody>
      </p:sp>
    </p:spTree>
    <p:extLst>
      <p:ext uri="{BB962C8B-B14F-4D97-AF65-F5344CB8AC3E}">
        <p14:creationId xmlns:p14="http://schemas.microsoft.com/office/powerpoint/2010/main" val="736452932"/>
      </p:ext>
    </p:extLst>
  </p:cSld>
</p:sld>
</file>

<file path=ppt/slides/slide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E37A7E-AB0F-4C98-92D3-75009A785D7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7–7</a:t>
            </a:r>
          </a:p>
        </p:txBody>
      </p:sp>
      <p:sp>
        <p:nvSpPr>
          <p:cNvPr id="2" name="">
            <a:extLst xmlns:a="http://schemas.openxmlformats.org/drawingml/2006/main">
              <a:ext uri="{FF2B5EF4-FFF2-40B4-BE49-F238E27FC236}">
                <a16:creationId xmlns:a16="http://schemas.microsoft.com/office/drawing/2014/main" id="{B04EFB30-9FF1-4DF3-BA58-3CF470E92B8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2B3F774B-A189-4AE8-AD6E-5D66F766D9A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4901F5-D2D9-45FF-9453-F72CA01D652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C2D5B91-CFEE-4BB9-9DFF-95D5D411177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60</a:t>
            </a:r>
          </a:p>
        </p:txBody>
      </p:sp>
      <p:sp>
        <p:nvSpPr>
          <p:cNvPr id="6" name="">
            <a:extLst xmlns:a="http://schemas.openxmlformats.org/drawingml/2006/main">
              <a:ext uri="{FF2B5EF4-FFF2-40B4-BE49-F238E27FC236}">
                <a16:creationId xmlns:a16="http://schemas.microsoft.com/office/drawing/2014/main" id="{F7502860-5774-444D-959A-849BFA76E27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B1C517-3318-4EE2-8003-498E5EC09F7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QUR-001 AI 스팸 챗봇 서비스 답변 품질</a:t>
            </a:r>
          </a:p>
        </p:txBody>
      </p:sp>
      <p:sp>
        <p:nvSpPr>
          <p:cNvPr id="8" name="">
            <a:extLst xmlns:a="http://schemas.openxmlformats.org/drawingml/2006/main">
              <a:ext uri="{FF2B5EF4-FFF2-40B4-BE49-F238E27FC236}">
                <a16:creationId xmlns:a16="http://schemas.microsoft.com/office/drawing/2014/main" id="{7C282DBC-B31F-4E92-A2F6-2563A555E3BF}"/>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답변 품질을 점검하고 개선하는 품질 요구.</a:t>
            </a:r>
          </a:p>
        </p:txBody>
      </p:sp>
      <p:sp>
        <p:nvSpPr>
          <p:cNvPr id="9" name="">
            <a:extLst xmlns:a="http://schemas.openxmlformats.org/drawingml/2006/main">
              <a:ext uri="{FF2B5EF4-FFF2-40B4-BE49-F238E27FC236}">
                <a16:creationId xmlns:a16="http://schemas.microsoft.com/office/drawing/2014/main" id="{4692017E-39E9-4294-BD67-90E5B31888E0}"/>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C05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 질문별 근거 정확성·완전성·일관성 평가와 보정 전후 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교 증빙</a:t>
            </a:r>
          </a:p>
        </p:txBody>
      </p:sp>
    </p:spTree>
    <p:extLst>
      <p:ext uri="{BB962C8B-B14F-4D97-AF65-F5344CB8AC3E}">
        <p14:creationId xmlns:p14="http://schemas.microsoft.com/office/powerpoint/2010/main" val="994536923"/>
      </p:ext>
    </p:extLst>
  </p:cSld>
</p:sld>
</file>

<file path=ppt/slides/slide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F2899C-3624-47DC-97E4-C7FFFC2826B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CCK 분석 재구성 · 원문 도면 아님</a:t>
            </a:r>
          </a:p>
        </p:txBody>
      </p:sp>
      <p:sp>
        <p:nvSpPr>
          <p:cNvPr id="2" name="">
            <a:extLst xmlns:a="http://schemas.openxmlformats.org/drawingml/2006/main">
              <a:ext uri="{FF2B5EF4-FFF2-40B4-BE49-F238E27FC236}">
                <a16:creationId xmlns:a16="http://schemas.microsoft.com/office/drawing/2014/main" id="{445D8484-02DC-4897-B3C8-D143E9241E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기반 서비스 흐름 재구성</a:t>
            </a:r>
          </a:p>
        </p:txBody>
      </p:sp>
      <p:sp>
        <p:nvSpPr>
          <p:cNvPr id="3" name="">
            <a:extLst xmlns:a="http://schemas.openxmlformats.org/drawingml/2006/main">
              <a:ext uri="{FF2B5EF4-FFF2-40B4-BE49-F238E27FC236}">
                <a16:creationId xmlns:a16="http://schemas.microsoft.com/office/drawing/2014/main" id="{9E1BAEA2-AC71-4612-8DB3-6132773F4C1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AF5C4B-4FBF-459B-A371-A24E19CD31D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A9DF212-1DF7-4FDD-B17D-CA6EB72364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61</a:t>
            </a:r>
          </a:p>
        </p:txBody>
      </p:sp>
      <p:pic>
        <p:nvPicPr>
          <p:cNvPr id="6" name="">
            <a:extLst xmlns:a="http://schemas.openxmlformats.org/drawingml/2006/main">
              <a:ext uri="{FF2B5EF4-FFF2-40B4-BE49-F238E27FC236}">
                <a16:creationId xmlns:a16="http://schemas.microsoft.com/office/drawing/2014/main" id="{58365661-2A03-4F81-B7C3-A2D241E8957C}"/>
              </a:ext>
            </a:extLst>
          </p:cNvPr>
          <p:cNvPicPr>
            <a:picLocks xmlns:a="http://schemas.openxmlformats.org/drawingml/2006/main" noChangeAspect="1"/>
          </p:cNvPicPr>
          <p:nvPr/>
        </p:nvPicPr>
        <p:blipFill>
          <a:blip xmlns:r="http://schemas.openxmlformats.org/officeDocument/2006/relationships" xmlns:a="http://schemas.openxmlformats.org/drawingml/2006/main" r:embed="R71cd2e1380c84363"/>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2E55916-342D-4B35-917D-1C32687F7478}"/>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최종 RFP SFR-001~006·QUR-001 / 원문 서비스 도면 미확인</a:t>
            </a:r>
          </a:p>
        </p:txBody>
      </p:sp>
    </p:spTree>
    <p:extLst>
      <p:ext uri="{BB962C8B-B14F-4D97-AF65-F5344CB8AC3E}">
        <p14:creationId xmlns:p14="http://schemas.microsoft.com/office/powerpoint/2010/main" val="1264961974"/>
      </p:ext>
    </p:extLst>
  </p:cSld>
</p:sld>
</file>

<file path=ppt/slides/slide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E4F7933A-63F5-4997-A6C1-E350E0C18A34}"/>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C5A2C01-CE56-4F18-9FF3-5A8C1F033170}"/>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6E09346-E29B-4A80-A407-FBF846B49AA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2D9134AA-4C7D-4C94-ADDD-B990CC94C7BD}"/>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CB6610A0-A15D-438B-BEE6-87330B1FF08C}"/>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B4946C7-CA69-438B-A8B0-FB12ECC868FF}"/>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74E79BA7-3AAC-460C-B89B-D0240AF99F68}"/>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655F709-6DAF-4AE1-AC03-1FFD88E12B7A}"/>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FE181F2D-656B-4EC2-BB31-DEC677F1366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06DD5297-26B9-4D12-87C1-ADA6C168304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지식 갱신·검색·근거 응답</a:t>
            </a:r>
          </a:p>
        </p:txBody>
      </p:sp>
      <p:sp>
        <p:nvSpPr>
          <p:cNvPr id="2" name="">
            <a:extLst xmlns:a="http://schemas.openxmlformats.org/drawingml/2006/main">
              <a:ext uri="{FF2B5EF4-FFF2-40B4-BE49-F238E27FC236}">
                <a16:creationId xmlns:a16="http://schemas.microsoft.com/office/drawing/2014/main" id="{9924DBC9-AC88-4233-A6E2-C92B6179429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세부 서비스 구조</a:t>
            </a:r>
          </a:p>
        </p:txBody>
      </p:sp>
      <p:sp>
        <p:nvSpPr>
          <p:cNvPr id="3" name="">
            <a:extLst xmlns:a="http://schemas.openxmlformats.org/drawingml/2006/main">
              <a:ext uri="{FF2B5EF4-FFF2-40B4-BE49-F238E27FC236}">
                <a16:creationId xmlns:a16="http://schemas.microsoft.com/office/drawing/2014/main" id="{A5AA0107-D51D-4F64-8CCD-1F382F58168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7658BB3-2157-44D9-B6B0-8749D93BE75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26C64C6-B53C-489D-8DB8-73457AE0F7F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62</a:t>
            </a:r>
          </a:p>
        </p:txBody>
      </p:sp>
      <p:sp>
        <p:nvSpPr>
          <p:cNvPr id="6" name="">
            <a:extLst xmlns:a="http://schemas.openxmlformats.org/drawingml/2006/main">
              <a:ext uri="{FF2B5EF4-FFF2-40B4-BE49-F238E27FC236}">
                <a16:creationId xmlns:a16="http://schemas.microsoft.com/office/drawing/2014/main" id="{437F9BD4-C83E-41B3-8056-B47AA5C14F0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법령·지식 → 외부 AI·RAG → 출처·답변 보류 → 전문가 평가</a:t>
            </a:r>
          </a:p>
        </p:txBody>
      </p:sp>
      <p:sp>
        <p:nvSpPr>
          <p:cNvPr id="7" name="">
            <a:extLst xmlns:a="http://schemas.openxmlformats.org/drawingml/2006/main">
              <a:ext uri="{FF2B5EF4-FFF2-40B4-BE49-F238E27FC236}">
                <a16:creationId xmlns:a16="http://schemas.microsoft.com/office/drawing/2014/main" id="{5E91E95E-7DB0-485C-8E55-CD1BD475080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E68A428-2B31-4A7A-8459-FB7E3B9C1A11}"/>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C4A551DE-3EAB-495C-B866-A748303E8CA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스팸법령·가이드</a:t>
            </a:r>
          </a:p>
        </p:txBody>
      </p:sp>
      <p:sp>
        <p:nvSpPr>
          <p:cNvPr id="10" name="">
            <a:extLst xmlns:a="http://schemas.openxmlformats.org/drawingml/2006/main">
              <a:ext uri="{FF2B5EF4-FFF2-40B4-BE49-F238E27FC236}">
                <a16:creationId xmlns:a16="http://schemas.microsoft.com/office/drawing/2014/main" id="{F7D94A17-B593-40A9-84F6-32A999B7C982}"/>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1B02D9C-2C1D-460C-9200-E19D62677BF4}"/>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D4C9188-3554-4D27-8DB6-A40F65613902}"/>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조문·판본 정비</a:t>
            </a:r>
          </a:p>
        </p:txBody>
      </p:sp>
      <p:sp>
        <p:nvSpPr>
          <p:cNvPr id="13" name="">
            <a:extLst xmlns:a="http://schemas.openxmlformats.org/drawingml/2006/main">
              <a:ext uri="{FF2B5EF4-FFF2-40B4-BE49-F238E27FC236}">
                <a16:creationId xmlns:a16="http://schemas.microsoft.com/office/drawing/2014/main" id="{021DE157-7219-4332-9BB2-540D76FECAD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429A00F-40B2-45BA-9D70-CCCE8ECD589E}"/>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29FF9F89-F652-441D-930A-FCDEF8125392}"/>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지식·평가셋</a:t>
            </a:r>
          </a:p>
        </p:txBody>
      </p:sp>
      <p:sp>
        <p:nvSpPr>
          <p:cNvPr id="16" name="">
            <a:extLst xmlns:a="http://schemas.openxmlformats.org/drawingml/2006/main">
              <a:ext uri="{FF2B5EF4-FFF2-40B4-BE49-F238E27FC236}">
                <a16:creationId xmlns:a16="http://schemas.microsoft.com/office/drawing/2014/main" id="{AD207218-6239-4ADB-8207-3D15F0AF5AA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4439FE7-93D0-40ED-8D41-F04CC4EE9F25}"/>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64260962-28E6-4544-B9DD-C655550A566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 RAG 검색</a:t>
            </a:r>
          </a:p>
        </p:txBody>
      </p:sp>
      <p:sp>
        <p:nvSpPr>
          <p:cNvPr id="19" name="">
            <a:extLst xmlns:a="http://schemas.openxmlformats.org/drawingml/2006/main">
              <a:ext uri="{FF2B5EF4-FFF2-40B4-BE49-F238E27FC236}">
                <a16:creationId xmlns:a16="http://schemas.microsoft.com/office/drawing/2014/main" id="{F5C1104B-FB10-4F32-A224-753449FE5925}"/>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E2DCE8E-3CC6-4468-86F3-748818372066}"/>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7C446E64-47E2-4736-AE24-A3FF39481715}"/>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홈페이지·앱 질의</a:t>
            </a:r>
          </a:p>
        </p:txBody>
      </p:sp>
      <p:sp>
        <p:nvSpPr>
          <p:cNvPr id="22" name="">
            <a:extLst xmlns:a="http://schemas.openxmlformats.org/drawingml/2006/main">
              <a:ext uri="{FF2B5EF4-FFF2-40B4-BE49-F238E27FC236}">
                <a16:creationId xmlns:a16="http://schemas.microsoft.com/office/drawing/2014/main" id="{76FA369D-9A06-4A01-9447-0CC791576483}"/>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D8F4C66-0ABB-4CE6-AC0D-3F11560E97DE}"/>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5ED1B984-C03B-48D9-8216-2E297F2A25F8}"/>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문의·민감정보</a:t>
            </a:r>
          </a:p>
        </p:txBody>
      </p:sp>
      <p:sp>
        <p:nvSpPr>
          <p:cNvPr id="25" name="">
            <a:extLst xmlns:a="http://schemas.openxmlformats.org/drawingml/2006/main">
              <a:ext uri="{FF2B5EF4-FFF2-40B4-BE49-F238E27FC236}">
                <a16:creationId xmlns:a16="http://schemas.microsoft.com/office/drawing/2014/main" id="{AFA09131-2AF7-492E-884A-E8EFD3F67E35}"/>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C9C1F59-03BA-4298-9FCC-FC6A0781FCFF}"/>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7761A9EA-7463-4E0F-BC1F-EA7DD0224FC7}"/>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외부 생성 AI API</a:t>
            </a:r>
          </a:p>
        </p:txBody>
      </p:sp>
      <p:sp>
        <p:nvSpPr>
          <p:cNvPr id="28" name="">
            <a:extLst xmlns:a="http://schemas.openxmlformats.org/drawingml/2006/main">
              <a:ext uri="{FF2B5EF4-FFF2-40B4-BE49-F238E27FC236}">
                <a16:creationId xmlns:a16="http://schemas.microsoft.com/office/drawing/2014/main" id="{6C3AAD0F-9277-4DDF-ADAC-777316154C2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69F5570-E598-40E6-BF02-0A68B73F555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81E9F25A-4EDC-40AE-923E-40A718A7039C}"/>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출처·답변불가 판</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a:t>
            </a:r>
          </a:p>
        </p:txBody>
      </p:sp>
      <p:sp>
        <p:nvSpPr>
          <p:cNvPr id="31" name="">
            <a:extLst xmlns:a="http://schemas.openxmlformats.org/drawingml/2006/main">
              <a:ext uri="{FF2B5EF4-FFF2-40B4-BE49-F238E27FC236}">
                <a16:creationId xmlns:a16="http://schemas.microsoft.com/office/drawing/2014/main" id="{FFA28C25-3286-4126-B5B8-D1C5056F7CA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BF27BC1-0613-48C7-A9CF-5DA58C59560D}"/>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4E1FD534-E3BD-4EC5-A2F8-44EED1C62284}"/>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민원인·전문가</a:t>
            </a:r>
          </a:p>
        </p:txBody>
      </p:sp>
      <p:sp>
        <p:nvSpPr>
          <p:cNvPr id="34" name="">
            <a:extLst xmlns:a="http://schemas.openxmlformats.org/drawingml/2006/main">
              <a:ext uri="{FF2B5EF4-FFF2-40B4-BE49-F238E27FC236}">
                <a16:creationId xmlns:a16="http://schemas.microsoft.com/office/drawing/2014/main" id="{189F99EF-C452-4472-8267-6F1D082E3AF8}"/>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8F56EC9-AB06-4DCE-A285-9E6095F4AF5C}"/>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B1B7BE78-5A33-4C0D-A87A-9F4F5EDD3563}"/>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답변·후속 안내</a:t>
            </a:r>
          </a:p>
        </p:txBody>
      </p:sp>
      <p:sp>
        <p:nvSpPr>
          <p:cNvPr id="46" name="">
            <a:extLst xmlns:a="http://schemas.openxmlformats.org/drawingml/2006/main">
              <a:ext uri="{FF2B5EF4-FFF2-40B4-BE49-F238E27FC236}">
                <a16:creationId xmlns:a16="http://schemas.microsoft.com/office/drawing/2014/main" id="{DA57DA36-B7CD-4069-BC6B-3B818679480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28892473"/>
      </p:ext>
    </p:extLst>
  </p:cSld>
</p:sld>
</file>

<file path=ppt/slides/slide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466206A-70FE-4FFE-9F30-1A6B7DE7E94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논리 인터페이스·복구 설계</a:t>
            </a:r>
          </a:p>
        </p:txBody>
      </p:sp>
      <p:sp>
        <p:nvSpPr>
          <p:cNvPr id="2" name="">
            <a:extLst xmlns:a="http://schemas.openxmlformats.org/drawingml/2006/main">
              <a:ext uri="{FF2B5EF4-FFF2-40B4-BE49-F238E27FC236}">
                <a16:creationId xmlns:a16="http://schemas.microsoft.com/office/drawing/2014/main" id="{344C9D83-7C41-4A29-BCBA-23AF480291E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데이터와 예외 처리</a:t>
            </a:r>
          </a:p>
        </p:txBody>
      </p:sp>
      <p:sp>
        <p:nvSpPr>
          <p:cNvPr id="3" name="">
            <a:extLst xmlns:a="http://schemas.openxmlformats.org/drawingml/2006/main">
              <a:ext uri="{FF2B5EF4-FFF2-40B4-BE49-F238E27FC236}">
                <a16:creationId xmlns:a16="http://schemas.microsoft.com/office/drawing/2014/main" id="{0DF9DC9D-717F-4E26-9258-B59E69469F2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21CD5D-707D-4082-89FE-F7198D4A4F4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1774103-29AB-4C61-800A-05A6CFADA4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63</a:t>
            </a:r>
          </a:p>
        </p:txBody>
      </p:sp>
      <p:sp>
        <p:nvSpPr>
          <p:cNvPr id="6" name="">
            <a:extLst xmlns:a="http://schemas.openxmlformats.org/drawingml/2006/main">
              <a:ext uri="{FF2B5EF4-FFF2-40B4-BE49-F238E27FC236}">
                <a16:creationId xmlns:a16="http://schemas.microsoft.com/office/drawing/2014/main" id="{7D35416F-1A75-4379-AF9A-04B8AD11EB6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FD9CEDDE-E5F9-4837-B911-E5FDE012049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99B773F-367B-4F26-AEDF-C95ACE289A5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D05DD6D1-029E-465E-BBA3-EA0FDE686B1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법령·체크리스트</a:t>
            </a:r>
          </a:p>
        </p:txBody>
      </p:sp>
      <p:sp>
        <p:nvSpPr>
          <p:cNvPr id="10" name="">
            <a:extLst xmlns:a="http://schemas.openxmlformats.org/drawingml/2006/main">
              <a:ext uri="{FF2B5EF4-FFF2-40B4-BE49-F238E27FC236}">
                <a16:creationId xmlns:a16="http://schemas.microsoft.com/office/drawing/2014/main" id="{0CB38756-E4E1-46F0-B35E-88B1739A885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79B35F-81FE-44F0-8DA6-6DAF29AAADC5}"/>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BC562EC3-367C-45CA-B82C-CA3C7D0BEE40}"/>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32143F8-8569-4902-B494-B06A4CA8DE0D}"/>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E85C521-BDB4-4A10-BF01-08339F9DA55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9F12976-739A-4DA7-9E23-7855AEFCAD3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질의 길이·민감정보·공격 입력 점검</a:t>
            </a:r>
          </a:p>
        </p:txBody>
      </p:sp>
      <p:sp>
        <p:nvSpPr>
          <p:cNvPr id="16" name="">
            <a:extLst xmlns:a="http://schemas.openxmlformats.org/drawingml/2006/main">
              <a:ext uri="{FF2B5EF4-FFF2-40B4-BE49-F238E27FC236}">
                <a16:creationId xmlns:a16="http://schemas.microsoft.com/office/drawing/2014/main" id="{8931B343-5001-41C2-AC3B-C3A525C6A03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968EBDB-A3D6-456D-8EEC-C2BA14E8E4F2}"/>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BE16C6B5-342C-4062-988A-8B4D4C02B71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정답표·거부셋·최종 RFP 성능조건</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별 측정</a:t>
            </a:r>
          </a:p>
        </p:txBody>
      </p:sp>
      <p:sp>
        <p:nvSpPr>
          <p:cNvPr id="19" name="">
            <a:extLst xmlns:a="http://schemas.openxmlformats.org/drawingml/2006/main">
              <a:ext uri="{FF2B5EF4-FFF2-40B4-BE49-F238E27FC236}">
                <a16:creationId xmlns:a16="http://schemas.microsoft.com/office/drawing/2014/main" id="{36821624-60E8-48C2-913B-4F91BA18250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E08DF03-987A-4459-847E-665A18458C4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1155FBC3-2C14-4F11-96AF-AC3C52EE61A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 근거</a:t>
            </a:r>
          </a:p>
        </p:txBody>
      </p:sp>
      <p:sp>
        <p:nvSpPr>
          <p:cNvPr id="22" name="">
            <a:extLst xmlns:a="http://schemas.openxmlformats.org/drawingml/2006/main">
              <a:ext uri="{FF2B5EF4-FFF2-40B4-BE49-F238E27FC236}">
                <a16:creationId xmlns:a16="http://schemas.microsoft.com/office/drawing/2014/main" id="{4284C0F8-041D-4420-A9FC-5730171C961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EBDCC1A-5CF6-4703-A0DF-23FDF90B8C45}"/>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305A7D32-8D68-41BB-BAD3-BF879441112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답변·보류</a:t>
            </a:r>
          </a:p>
        </p:txBody>
      </p:sp>
      <p:sp>
        <p:nvSpPr>
          <p:cNvPr id="25" name="">
            <a:extLst xmlns:a="http://schemas.openxmlformats.org/drawingml/2006/main">
              <a:ext uri="{FF2B5EF4-FFF2-40B4-BE49-F238E27FC236}">
                <a16:creationId xmlns:a16="http://schemas.microsoft.com/office/drawing/2014/main" id="{38F04535-2A34-41CD-B4AF-23B5FA7809E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CE8BE40-A3DD-47F8-9ABF-21612873F05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전 조문·근거 없는 질의·공격 입력·부하 증가</a:t>
            </a:r>
          </a:p>
        </p:txBody>
      </p:sp>
      <p:sp>
        <p:nvSpPr>
          <p:cNvPr id="27" name="">
            <a:extLst xmlns:a="http://schemas.openxmlformats.org/drawingml/2006/main">
              <a:ext uri="{FF2B5EF4-FFF2-40B4-BE49-F238E27FC236}">
                <a16:creationId xmlns:a16="http://schemas.microsoft.com/office/drawing/2014/main" id="{39122E48-CA54-4635-918D-759F7DCDFD6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3CD05C9-98D5-4CD3-BDCF-97FC1EDEF30B}"/>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조문별 정답·근거 없음 거부셋</a:t>
            </a:r>
          </a:p>
        </p:txBody>
      </p:sp>
      <p:sp>
        <p:nvSpPr>
          <p:cNvPr id="29" name="">
            <a:extLst xmlns:a="http://schemas.openxmlformats.org/drawingml/2006/main">
              <a:ext uri="{FF2B5EF4-FFF2-40B4-BE49-F238E27FC236}">
                <a16:creationId xmlns:a16="http://schemas.microsoft.com/office/drawing/2014/main" id="{3D5285F5-55D0-45DC-A333-C0C10794AE4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9B72366-5B0E-4299-B96D-F520342E043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자동 평가·전문가 판정·호출량·지연 관리</a:t>
            </a:r>
          </a:p>
        </p:txBody>
      </p:sp>
      <p:sp>
        <p:nvSpPr>
          <p:cNvPr id="31" name="">
            <a:extLst xmlns:a="http://schemas.openxmlformats.org/drawingml/2006/main">
              <a:ext uri="{FF2B5EF4-FFF2-40B4-BE49-F238E27FC236}">
                <a16:creationId xmlns:a16="http://schemas.microsoft.com/office/drawing/2014/main" id="{64722516-7C7A-453F-9FC2-331BF214967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E72F201-1FB6-42F6-9ADF-88FDB9AC3B42}"/>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정답표·거부셋·최종 RFP 성능조건별 측정</a:t>
            </a:r>
          </a:p>
        </p:txBody>
      </p:sp>
    </p:spTree>
    <p:extLst>
      <p:ext uri="{BB962C8B-B14F-4D97-AF65-F5344CB8AC3E}">
        <p14:creationId xmlns:p14="http://schemas.microsoft.com/office/powerpoint/2010/main" val="816609069"/>
      </p:ext>
    </p:extLst>
  </p:cSld>
</p:sld>
</file>

<file path=ppt/slides/slide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C26F064-1EC4-4BD3-A5FF-F2BAD259801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CCK 비교·재현 시험 설계</a:t>
            </a:r>
          </a:p>
        </p:txBody>
      </p:sp>
      <p:sp>
        <p:nvSpPr>
          <p:cNvPr id="2" name="">
            <a:extLst xmlns:a="http://schemas.openxmlformats.org/drawingml/2006/main">
              <a:ext uri="{FF2B5EF4-FFF2-40B4-BE49-F238E27FC236}">
                <a16:creationId xmlns:a16="http://schemas.microsoft.com/office/drawing/2014/main" id="{6463A00E-8425-4A2C-9EB0-5BFCD296F42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벤치마킹</a:t>
            </a:r>
          </a:p>
        </p:txBody>
      </p:sp>
      <p:sp>
        <p:nvSpPr>
          <p:cNvPr id="3" name="">
            <a:extLst xmlns:a="http://schemas.openxmlformats.org/drawingml/2006/main">
              <a:ext uri="{FF2B5EF4-FFF2-40B4-BE49-F238E27FC236}">
                <a16:creationId xmlns:a16="http://schemas.microsoft.com/office/drawing/2014/main" id="{7797BDE6-574B-4354-BE55-D09AA7AFDF1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F665A3F-E6CE-4FFC-A4A1-16EDCEA21A1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C011ACC-6091-4E00-8676-EF0FCFA4620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64</a:t>
            </a:r>
          </a:p>
        </p:txBody>
      </p:sp>
      <p:sp>
        <p:nvSpPr>
          <p:cNvPr id="6" name="">
            <a:extLst xmlns:a="http://schemas.openxmlformats.org/drawingml/2006/main">
              <a:ext uri="{FF2B5EF4-FFF2-40B4-BE49-F238E27FC236}">
                <a16:creationId xmlns:a16="http://schemas.microsoft.com/office/drawing/2014/main" id="{4D70AD04-6532-40A6-92EA-4FF8C5CC7EB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23CD2E3A-D96C-4C47-A2E5-D4215075F45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법령·체크리스트의 RAG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출처·보류·전문가 평가 요구</a:t>
            </a:r>
          </a:p>
        </p:txBody>
      </p:sp>
      <p:sp>
        <p:nvSpPr>
          <p:cNvPr id="8" name="">
            <a:extLst xmlns:a="http://schemas.openxmlformats.org/drawingml/2006/main">
              <a:ext uri="{FF2B5EF4-FFF2-40B4-BE49-F238E27FC236}">
                <a16:creationId xmlns:a16="http://schemas.microsoft.com/office/drawing/2014/main" id="{A7C78A22-AB8C-4312-8448-2DA53030124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27576E7-5FBD-4C49-8736-FE4191F2CE7D}"/>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구버전 법령·상충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입찰 요구를 구현 기능으로 인식</a:t>
            </a:r>
          </a:p>
        </p:txBody>
      </p:sp>
      <p:sp>
        <p:nvSpPr>
          <p:cNvPr id="10" name="">
            <a:extLst xmlns:a="http://schemas.openxmlformats.org/drawingml/2006/main">
              <a:ext uri="{FF2B5EF4-FFF2-40B4-BE49-F238E27FC236}">
                <a16:creationId xmlns:a16="http://schemas.microsoft.com/office/drawing/2014/main" id="{28212047-8ED0-4FC2-BBF7-5F4E5256C23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419F617-B53B-4CA4-8C4A-2B0C04BB110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조문별 정답·근거 없음 거부셋</a:t>
            </a:r>
          </a:p>
        </p:txBody>
      </p:sp>
      <p:sp>
        <p:nvSpPr>
          <p:cNvPr id="12" name="">
            <a:extLst xmlns:a="http://schemas.openxmlformats.org/drawingml/2006/main">
              <a:ext uri="{FF2B5EF4-FFF2-40B4-BE49-F238E27FC236}">
                <a16:creationId xmlns:a16="http://schemas.microsoft.com/office/drawing/2014/main" id="{5CF7BF6F-AC38-4AC3-A009-19E8DD1D98B3}"/>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7E808EE2-E76D-4544-9487-0735EAD1F6F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스팸 전송 상황을 질문하고 관련 법령·체크리스트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a:t>
            </a:r>
          </a:p>
        </p:txBody>
      </p:sp>
      <p:sp>
        <p:nvSpPr>
          <p:cNvPr id="14" name="">
            <a:extLst xmlns:a="http://schemas.openxmlformats.org/drawingml/2006/main">
              <a:ext uri="{FF2B5EF4-FFF2-40B4-BE49-F238E27FC236}">
                <a16:creationId xmlns:a16="http://schemas.microsoft.com/office/drawing/2014/main" id="{78C732F7-FAE2-468C-96C0-FAA699E645E9}"/>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C9FC4487-DB37-4EAE-83E0-4295809861F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개정 전 조문·근거 없는 질의·공격 입력·부하 증가</a:t>
            </a:r>
          </a:p>
        </p:txBody>
      </p:sp>
      <p:sp>
        <p:nvSpPr>
          <p:cNvPr id="16" name="">
            <a:extLst xmlns:a="http://schemas.openxmlformats.org/drawingml/2006/main">
              <a:ext uri="{FF2B5EF4-FFF2-40B4-BE49-F238E27FC236}">
                <a16:creationId xmlns:a16="http://schemas.microsoft.com/office/drawing/2014/main" id="{2C8E0FAE-663B-4EF4-8E88-EB1636DEFB25}"/>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F6611FA-BC1E-49F2-85F7-01AE5182FB3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정답표·거부셋·최종 RFP 성능조건별 측정</a:t>
            </a:r>
          </a:p>
        </p:txBody>
      </p:sp>
    </p:spTree>
    <p:extLst>
      <p:ext uri="{BB962C8B-B14F-4D97-AF65-F5344CB8AC3E}">
        <p14:creationId xmlns:p14="http://schemas.microsoft.com/office/powerpoint/2010/main" val="931019477"/>
      </p:ext>
    </p:extLst>
  </p:cSld>
</p:sld>
</file>

<file path=ppt/slides/slide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9388D7-D2B8-4BE2-93C2-A8DBC495905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성과 미검증 / 국내</a:t>
            </a:r>
          </a:p>
        </p:txBody>
      </p:sp>
      <p:sp>
        <p:nvSpPr>
          <p:cNvPr id="2" name="">
            <a:extLst xmlns:a="http://schemas.openxmlformats.org/drawingml/2006/main">
              <a:ext uri="{FF2B5EF4-FFF2-40B4-BE49-F238E27FC236}">
                <a16:creationId xmlns:a16="http://schemas.microsoft.com/office/drawing/2014/main" id="{3A34A9BD-FA3C-4C76-8D44-73BA6039B33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a:t>
            </a:r>
          </a:p>
        </p:txBody>
      </p:sp>
      <p:sp>
        <p:nvSpPr>
          <p:cNvPr id="3" name="">
            <a:extLst xmlns:a="http://schemas.openxmlformats.org/drawingml/2006/main">
              <a:ext uri="{FF2B5EF4-FFF2-40B4-BE49-F238E27FC236}">
                <a16:creationId xmlns:a16="http://schemas.microsoft.com/office/drawing/2014/main" id="{0D213AE6-003B-4017-8013-45CE2258D9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14C877-BD13-4356-9438-66DF0A91EA7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161B26B-A564-423A-9135-17BB8C48C76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65</a:t>
            </a:r>
          </a:p>
        </p:txBody>
      </p:sp>
      <p:sp>
        <p:nvSpPr>
          <p:cNvPr id="6" name="">
            <a:extLst xmlns:a="http://schemas.openxmlformats.org/drawingml/2006/main">
              <a:ext uri="{FF2B5EF4-FFF2-40B4-BE49-F238E27FC236}">
                <a16:creationId xmlns:a16="http://schemas.microsoft.com/office/drawing/2014/main" id="{081DAB1B-835A-4FEA-BE17-27105364A87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62EE0E4-324E-4718-BDAF-2AA1979019F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대국민 챗봇, 임직원 지식 활용, 안건 검색·요약과 데이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터 카탈로그를 함께 다루는 생성형 AI 플랫폼 계획. 대외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공개 지식과 내부 업무 자료를 같은 검색 범위로 취급하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 않는 것이 구성의 출발점.</a:t>
            </a:r>
          </a:p>
        </p:txBody>
      </p:sp>
      <p:sp>
        <p:nvSpPr>
          <p:cNvPr id="8" name="">
            <a:extLst xmlns:a="http://schemas.openxmlformats.org/drawingml/2006/main">
              <a:ext uri="{FF2B5EF4-FFF2-40B4-BE49-F238E27FC236}">
                <a16:creationId xmlns:a16="http://schemas.microsoft.com/office/drawing/2014/main" id="{95929F90-59DA-475C-8B37-B40E9698E0D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5596AFF-EB6B-4CD3-8A74-CB4C9AB34E1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사전공개 RFP 도면은 대민·임직원 서비스를 나누고 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각 보안·서비스·데이터·관리 서브넷을 배치. 내부 영역은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SSO/EAM·ECM·업무 시스템과 연결하고, 별도 데이터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카탈로그는 업무분류체계·담당부서·메타데이터·사용승</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인을 연결하는 구조.</a:t>
            </a:r>
          </a:p>
        </p:txBody>
      </p:sp>
      <p:sp>
        <p:nvSpPr>
          <p:cNvPr id="10" name="">
            <a:extLst xmlns:a="http://schemas.openxmlformats.org/drawingml/2006/main">
              <a:ext uri="{FF2B5EF4-FFF2-40B4-BE49-F238E27FC236}">
                <a16:creationId xmlns:a16="http://schemas.microsoft.com/office/drawing/2014/main" id="{7C49DCE2-DBC6-4B34-9D9F-CC5B4E54970B}"/>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F5EB13D-359E-4B24-940D-8D547C3C991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조직 기반 플랫폼에서는 직원이 누구인지뿐 아니라 특정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데이터의 업무 소관·활용 목적·승인 조건을 함께 관리하는 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고 사례. CCK 추가 개발은 조직·업무 사전과 카탈로그의 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결, DRM·권한 전파, 안건 범위검색, 산식 검증의 업무별 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리. 사전공개 요구와 실제 운영 성과는 별도 증빙으로 평가.</a:t>
            </a:r>
          </a:p>
        </p:txBody>
      </p:sp>
      <p:sp>
        <p:nvSpPr>
          <p:cNvPr id="12" name="">
            <a:extLst xmlns:a="http://schemas.openxmlformats.org/drawingml/2006/main">
              <a:ext uri="{FF2B5EF4-FFF2-40B4-BE49-F238E27FC236}">
                <a16:creationId xmlns:a16="http://schemas.microsoft.com/office/drawing/2014/main" id="{05C79061-9FE2-4BC7-8BED-4A1E9F5F894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3A07A9B-8F07-4267-BB56-0564CD6765F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내외부 지식·망 분리 / 문서 DRM·권한 / 안건·산식·데이터 카탈</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a:t>
            </a:r>
          </a:p>
        </p:txBody>
      </p:sp>
      <p:sp>
        <p:nvSpPr>
          <p:cNvPr id="14" name="">
            <a:extLst xmlns:a="http://schemas.openxmlformats.org/drawingml/2006/main">
              <a:ext uri="{FF2B5EF4-FFF2-40B4-BE49-F238E27FC236}">
                <a16:creationId xmlns:a16="http://schemas.microsoft.com/office/drawing/2014/main" id="{C67D80BB-5D5B-45A5-BA41-EB21FD3C5AA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4D8C96D-3577-4147-B26E-0896D80400C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외부 계정의 내부자료 요청·DRM·산식 오류에 대한 독립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검증</a:t>
            </a:r>
          </a:p>
        </p:txBody>
      </p:sp>
      <p:sp>
        <p:nvSpPr>
          <p:cNvPr id="16" name="">
            <a:extLst xmlns:a="http://schemas.openxmlformats.org/drawingml/2006/main">
              <a:ext uri="{FF2B5EF4-FFF2-40B4-BE49-F238E27FC236}">
                <a16:creationId xmlns:a16="http://schemas.microsoft.com/office/drawing/2014/main" id="{4441AE52-CC29-420F-9D76-90C95F7DF64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B5E6613-3250-4BEB-884B-77FB8965D8E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비인가 노출 건수 / 원천 추적률 / 안건 검토시간</a:t>
            </a:r>
          </a:p>
        </p:txBody>
      </p:sp>
      <p:sp>
        <p:nvSpPr>
          <p:cNvPr id="18" name="">
            <a:extLst xmlns:a="http://schemas.openxmlformats.org/drawingml/2006/main">
              <a:ext uri="{FF2B5EF4-FFF2-40B4-BE49-F238E27FC236}">
                <a16:creationId xmlns:a16="http://schemas.microsoft.com/office/drawing/2014/main" id="{99E54EE3-05F0-434E-92A2-51E4B5948FF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학습용 FAQ500건과 서비스별 검증셋500건은 별도 요구. 계획상 수치를 운영 실적으로 사용하지 않음</a:t>
            </a:r>
          </a:p>
        </p:txBody>
      </p:sp>
    </p:spTree>
    <p:extLst>
      <p:ext uri="{BB962C8B-B14F-4D97-AF65-F5344CB8AC3E}">
        <p14:creationId xmlns:p14="http://schemas.microsoft.com/office/powerpoint/2010/main" val="1976459491"/>
      </p:ext>
    </p:extLst>
  </p:cSld>
</p:sld>
</file>

<file path=ppt/slides/slide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E9E88FF-7D52-4A21-BDFA-E2F7CBFF8B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As-Is → To-Be → 기대효과 → 확인 결과</a:t>
            </a:r>
          </a:p>
        </p:txBody>
      </p:sp>
      <p:sp>
        <p:nvSpPr>
          <p:cNvPr id="2" name="">
            <a:extLst xmlns:a="http://schemas.openxmlformats.org/drawingml/2006/main">
              <a:ext uri="{FF2B5EF4-FFF2-40B4-BE49-F238E27FC236}">
                <a16:creationId xmlns:a16="http://schemas.microsoft.com/office/drawing/2014/main" id="{D0B55021-7567-4D2D-A048-D5B925C2278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기대와 결과</a:t>
            </a:r>
          </a:p>
        </p:txBody>
      </p:sp>
      <p:sp>
        <p:nvSpPr>
          <p:cNvPr id="3" name="">
            <a:extLst xmlns:a="http://schemas.openxmlformats.org/drawingml/2006/main">
              <a:ext uri="{FF2B5EF4-FFF2-40B4-BE49-F238E27FC236}">
                <a16:creationId xmlns:a16="http://schemas.microsoft.com/office/drawing/2014/main" id="{299D9BB5-9DF8-4684-9568-D36EDF37E3A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5780AC-3E68-4BD1-9DB7-370825B7FEA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2B5DCFC-B378-4829-AE60-0C8A395B20B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66</a:t>
            </a:r>
          </a:p>
        </p:txBody>
      </p:sp>
      <p:sp>
        <p:nvSpPr>
          <p:cNvPr id="6" name="">
            <a:extLst xmlns:a="http://schemas.openxmlformats.org/drawingml/2006/main">
              <a:ext uri="{FF2B5EF4-FFF2-40B4-BE49-F238E27FC236}">
                <a16:creationId xmlns:a16="http://schemas.microsoft.com/office/drawing/2014/main" id="{925593EF-68FD-4905-83EC-D079EB905007}"/>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8279ED22-E26C-4D05-879F-AF5D0C12180A}"/>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대국민 안내·내부 질의·금융위원회 안건 검색과 데이터 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록 관리가 분리</a:t>
            </a:r>
          </a:p>
        </p:txBody>
      </p:sp>
      <p:sp>
        <p:nvSpPr>
          <p:cNvPr id="8" name="">
            <a:extLst xmlns:a="http://schemas.openxmlformats.org/drawingml/2006/main">
              <a:ext uri="{FF2B5EF4-FFF2-40B4-BE49-F238E27FC236}">
                <a16:creationId xmlns:a16="http://schemas.microsoft.com/office/drawing/2014/main" id="{D4C68942-DA81-4EB7-9391-FFF92E064EC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C9326EF-E90E-498E-A0A5-C87554F26651}"/>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권한·망·DRM을 연계한 챗봇과 안건 검색·카탈로그를 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통 플랫폼으로 제공</a:t>
            </a:r>
          </a:p>
        </p:txBody>
      </p:sp>
      <p:sp>
        <p:nvSpPr>
          <p:cNvPr id="10" name="">
            <a:extLst xmlns:a="http://schemas.openxmlformats.org/drawingml/2006/main">
              <a:ext uri="{FF2B5EF4-FFF2-40B4-BE49-F238E27FC236}">
                <a16:creationId xmlns:a16="http://schemas.microsoft.com/office/drawing/2014/main" id="{6D03FC9A-0F39-4B2A-9315-2DFC86D69BD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B0213C6C-8647-4256-B74B-AD6BEA0694E8}"/>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안건 검토시간 감소, 데이터 원천 추적 및 비인가 노출 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a:t>
            </a:r>
          </a:p>
        </p:txBody>
      </p:sp>
      <p:sp>
        <p:nvSpPr>
          <p:cNvPr id="12" name="">
            <a:extLst xmlns:a="http://schemas.openxmlformats.org/drawingml/2006/main">
              <a:ext uri="{FF2B5EF4-FFF2-40B4-BE49-F238E27FC236}">
                <a16:creationId xmlns:a16="http://schemas.microsoft.com/office/drawing/2014/main" id="{1832BA3D-45AB-4940-AAA0-05D123FFEF1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5506D821-530D-428B-B46F-7CEE1B0EEDE7}"/>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사전규격 RFP와 공급사 계약 발표 확인. 최종 요구사항·준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 품질·권한 오노출 실적 미확인</a:t>
            </a:r>
          </a:p>
        </p:txBody>
      </p:sp>
      <p:sp>
        <p:nvSpPr>
          <p:cNvPr id="14" name="">
            <a:extLst xmlns:a="http://schemas.openxmlformats.org/drawingml/2006/main">
              <a:ext uri="{FF2B5EF4-FFF2-40B4-BE49-F238E27FC236}">
                <a16:creationId xmlns:a16="http://schemas.microsoft.com/office/drawing/2014/main" id="{7EBD7424-5B62-4C39-B2C4-70E0BBAAF6DE}"/>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계약과 시험셋 요구만으로 서비스별 정확도·보안 성과 판단 불가</a:t>
            </a:r>
          </a:p>
        </p:txBody>
      </p:sp>
      <p:sp>
        <p:nvSpPr>
          <p:cNvPr id="15" name="">
            <a:extLst xmlns:a="http://schemas.openxmlformats.org/drawingml/2006/main">
              <a:ext uri="{FF2B5EF4-FFF2-40B4-BE49-F238E27FC236}">
                <a16:creationId xmlns:a16="http://schemas.microsoft.com/office/drawing/2014/main" id="{4EE96EE5-0667-4A24-9EA0-41D23BAA3BAE}"/>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사전규격 RFP + 계약 발표 · FAQ 학습자료와 검증셋의 규모·용도를 혼동하지 않아야 함</a:t>
            </a:r>
          </a:p>
        </p:txBody>
      </p:sp>
    </p:spTree>
    <p:extLst>
      <p:ext uri="{BB962C8B-B14F-4D97-AF65-F5344CB8AC3E}">
        <p14:creationId xmlns:p14="http://schemas.microsoft.com/office/powerpoint/2010/main" val="478972092"/>
      </p:ext>
    </p:extLst>
  </p:cSld>
</p:sld>
</file>

<file path=ppt/slides/slide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3F53AFC-79E6-491C-AC9D-8EEBDA32A87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1–3</a:t>
            </a:r>
          </a:p>
        </p:txBody>
      </p:sp>
      <p:sp>
        <p:nvSpPr>
          <p:cNvPr id="2" name="">
            <a:extLst xmlns:a="http://schemas.openxmlformats.org/drawingml/2006/main">
              <a:ext uri="{FF2B5EF4-FFF2-40B4-BE49-F238E27FC236}">
                <a16:creationId xmlns:a16="http://schemas.microsoft.com/office/drawing/2014/main" id="{0BBA56D2-D1DE-4946-B1FC-0930A61117B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5F0241FB-28D5-40E6-9FD9-904D51FFC56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061BE3-1E13-4686-B224-7D176C8A8FB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572A705-D12C-40D9-9015-B19625F575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67</a:t>
            </a:r>
          </a:p>
        </p:txBody>
      </p:sp>
      <p:sp>
        <p:nvSpPr>
          <p:cNvPr id="6" name="">
            <a:extLst xmlns:a="http://schemas.openxmlformats.org/drawingml/2006/main">
              <a:ext uri="{FF2B5EF4-FFF2-40B4-BE49-F238E27FC236}">
                <a16:creationId xmlns:a16="http://schemas.microsoft.com/office/drawing/2014/main" id="{7F655DB5-9954-485D-84D4-0AA08F54DDF1}"/>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D62317-7AEE-4233-8BEC-3AA3CFAB32B0}"/>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AI 서비스 에이전트 관리 기능</a:t>
            </a:r>
          </a:p>
        </p:txBody>
      </p:sp>
      <p:sp>
        <p:nvSpPr>
          <p:cNvPr id="8" name="">
            <a:extLst xmlns:a="http://schemas.openxmlformats.org/drawingml/2006/main">
              <a:ext uri="{FF2B5EF4-FFF2-40B4-BE49-F238E27FC236}">
                <a16:creationId xmlns:a16="http://schemas.microsoft.com/office/drawing/2014/main" id="{DE563434-0CB8-4AD0-A56C-07044B0E787B}"/>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에이전트의 구성·운영 관리 기능.</a:t>
            </a:r>
          </a:p>
        </p:txBody>
      </p:sp>
      <p:sp>
        <p:nvSpPr>
          <p:cNvPr id="9" name="">
            <a:extLst xmlns:a="http://schemas.openxmlformats.org/drawingml/2006/main">
              <a:ext uri="{FF2B5EF4-FFF2-40B4-BE49-F238E27FC236}">
                <a16:creationId xmlns:a16="http://schemas.microsoft.com/office/drawing/2014/main" id="{9F5CE4B2-979A-4A96-B7B2-DF0F674F552E}"/>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잘못된 도구 권한과 구성 변경 시 실행 차단·판본 추적 확인</a:t>
            </a:r>
          </a:p>
        </p:txBody>
      </p:sp>
      <p:sp>
        <p:nvSpPr>
          <p:cNvPr id="10" name="">
            <a:extLst xmlns:a="http://schemas.openxmlformats.org/drawingml/2006/main">
              <a:ext uri="{FF2B5EF4-FFF2-40B4-BE49-F238E27FC236}">
                <a16:creationId xmlns:a16="http://schemas.microsoft.com/office/drawing/2014/main" id="{59B053F1-290A-46D8-B4AF-375F68FA9C6A}"/>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6F805F-6548-4055-9A36-560F3F695DAB}"/>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AI 서비스 RAG 기능</a:t>
            </a:r>
          </a:p>
        </p:txBody>
      </p:sp>
      <p:sp>
        <p:nvSpPr>
          <p:cNvPr id="12" name="">
            <a:extLst xmlns:a="http://schemas.openxmlformats.org/drawingml/2006/main">
              <a:ext uri="{FF2B5EF4-FFF2-40B4-BE49-F238E27FC236}">
                <a16:creationId xmlns:a16="http://schemas.microsoft.com/office/drawing/2014/main" id="{100DB885-4D16-470B-8E1A-545E8AB5ECF6}"/>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지식을 검색해 생성 응답에 연결하는 RAG 기능.</a:t>
            </a:r>
          </a:p>
        </p:txBody>
      </p:sp>
      <p:sp>
        <p:nvSpPr>
          <p:cNvPr id="13" name="">
            <a:extLst xmlns:a="http://schemas.openxmlformats.org/drawingml/2006/main">
              <a:ext uri="{FF2B5EF4-FFF2-40B4-BE49-F238E27FC236}">
                <a16:creationId xmlns:a16="http://schemas.microsoft.com/office/drawing/2014/main" id="{2EB893BC-C945-4112-B61D-7C3EB49F36C2}"/>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사내·대국민 문서 혼재 시 검색 범위 분리와 출처 정확성 대사</a:t>
            </a:r>
          </a:p>
        </p:txBody>
      </p:sp>
      <p:sp>
        <p:nvSpPr>
          <p:cNvPr id="14" name="">
            <a:extLst xmlns:a="http://schemas.openxmlformats.org/drawingml/2006/main">
              <a:ext uri="{FF2B5EF4-FFF2-40B4-BE49-F238E27FC236}">
                <a16:creationId xmlns:a16="http://schemas.microsoft.com/office/drawing/2014/main" id="{8652BEED-28F9-42AA-92F7-69CEFAEAF89B}"/>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1699DFF-1D70-4D13-A4EC-66F2C3EE1982}"/>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AI 서비스 데이터 파이프라인 자동화 기능</a:t>
            </a:r>
          </a:p>
        </p:txBody>
      </p:sp>
      <p:sp>
        <p:nvSpPr>
          <p:cNvPr id="16" name="">
            <a:extLst xmlns:a="http://schemas.openxmlformats.org/drawingml/2006/main">
              <a:ext uri="{FF2B5EF4-FFF2-40B4-BE49-F238E27FC236}">
                <a16:creationId xmlns:a16="http://schemas.microsoft.com/office/drawing/2014/main" id="{DDBE4AF5-2A7E-43C8-AF17-09A2AEDEB2F4}"/>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자료의 수집·전처리·검색 반영 데이터 파이프라인.</a:t>
            </a:r>
          </a:p>
        </p:txBody>
      </p:sp>
      <p:sp>
        <p:nvSpPr>
          <p:cNvPr id="17" name="">
            <a:extLst xmlns:a="http://schemas.openxmlformats.org/drawingml/2006/main">
              <a:ext uri="{FF2B5EF4-FFF2-40B4-BE49-F238E27FC236}">
                <a16:creationId xmlns:a16="http://schemas.microsoft.com/office/drawing/2014/main" id="{1751E283-C900-4F00-8C5A-2DC44A62DA2A}"/>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등록·개정·삭제·정제 실패의 처리 결과와 원천 변경 대사</a:t>
            </a:r>
          </a:p>
        </p:txBody>
      </p:sp>
    </p:spTree>
    <p:extLst>
      <p:ext uri="{BB962C8B-B14F-4D97-AF65-F5344CB8AC3E}">
        <p14:creationId xmlns:p14="http://schemas.microsoft.com/office/powerpoint/2010/main" val="1144221530"/>
      </p:ext>
    </p:extLst>
  </p:cSld>
</p:sld>
</file>

<file path=ppt/slides/slide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504E4BF-CE3A-4A63-B124-69E07639F92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4–6</a:t>
            </a:r>
          </a:p>
        </p:txBody>
      </p:sp>
      <p:sp>
        <p:nvSpPr>
          <p:cNvPr id="2" name="">
            <a:extLst xmlns:a="http://schemas.openxmlformats.org/drawingml/2006/main">
              <a:ext uri="{FF2B5EF4-FFF2-40B4-BE49-F238E27FC236}">
                <a16:creationId xmlns:a16="http://schemas.microsoft.com/office/drawing/2014/main" id="{A7ACBF62-8542-45F1-9DAA-82EA28F38FB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116D88CD-9FF8-455E-9F14-5EBC0633516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D2D4627-49D4-47CA-A3FA-EA2E3798ACE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4453595-B163-49AD-A55F-2D6B1A554FC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68</a:t>
            </a:r>
          </a:p>
        </p:txBody>
      </p:sp>
      <p:sp>
        <p:nvSpPr>
          <p:cNvPr id="6" name="">
            <a:extLst xmlns:a="http://schemas.openxmlformats.org/drawingml/2006/main">
              <a:ext uri="{FF2B5EF4-FFF2-40B4-BE49-F238E27FC236}">
                <a16:creationId xmlns:a16="http://schemas.microsoft.com/office/drawing/2014/main" id="{FC3DEEFB-E4D3-477C-B288-0BF7A1A859B3}"/>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7705A7-929A-4714-B8E0-CB629E5B87F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SFR-009 AI 서비스(사내 AI 챗봇 서비스) 구축</a:t>
            </a:r>
          </a:p>
        </p:txBody>
      </p:sp>
      <p:sp>
        <p:nvSpPr>
          <p:cNvPr id="8" name="">
            <a:extLst xmlns:a="http://schemas.openxmlformats.org/drawingml/2006/main">
              <a:ext uri="{FF2B5EF4-FFF2-40B4-BE49-F238E27FC236}">
                <a16:creationId xmlns:a16="http://schemas.microsoft.com/office/drawing/2014/main" id="{8BECFC21-0DFB-43C7-9D23-07021988E4C0}"/>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사내 직원용 업무 지식 챗봇 기능.</a:t>
            </a:r>
          </a:p>
        </p:txBody>
      </p:sp>
      <p:sp>
        <p:nvSpPr>
          <p:cNvPr id="9" name="">
            <a:extLst xmlns:a="http://schemas.openxmlformats.org/drawingml/2006/main">
              <a:ext uri="{FF2B5EF4-FFF2-40B4-BE49-F238E27FC236}">
                <a16:creationId xmlns:a16="http://schemas.microsoft.com/office/drawing/2014/main" id="{15FEC40E-C6B7-4BB1-B68A-73EB014E8D6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C03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동일 질의의 직무별 관련성, 비공개 자료 접근, 최신 규정 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용 확인</a:t>
            </a:r>
          </a:p>
        </p:txBody>
      </p:sp>
      <p:sp>
        <p:nvSpPr>
          <p:cNvPr id="10" name="">
            <a:extLst xmlns:a="http://schemas.openxmlformats.org/drawingml/2006/main">
              <a:ext uri="{FF2B5EF4-FFF2-40B4-BE49-F238E27FC236}">
                <a16:creationId xmlns:a16="http://schemas.microsoft.com/office/drawing/2014/main" id="{BE4E9728-2EB5-401C-B5E2-E806E58AC197}"/>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2780BE-601A-4D65-AF0F-9714F4EB5EEA}"/>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SFR-012 데이터 카탈로그 일반 사항</a:t>
            </a:r>
          </a:p>
        </p:txBody>
      </p:sp>
      <p:sp>
        <p:nvSpPr>
          <p:cNvPr id="12" name="">
            <a:extLst xmlns:a="http://schemas.openxmlformats.org/drawingml/2006/main">
              <a:ext uri="{FF2B5EF4-FFF2-40B4-BE49-F238E27FC236}">
                <a16:creationId xmlns:a16="http://schemas.microsoft.com/office/drawing/2014/main" id="{9B0BEA4D-9880-4721-8D1B-042B0429201F}"/>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전사 데이터 카탈로그의 공통 기능 구성.</a:t>
            </a:r>
          </a:p>
        </p:txBody>
      </p:sp>
      <p:sp>
        <p:nvSpPr>
          <p:cNvPr id="13" name="">
            <a:extLst xmlns:a="http://schemas.openxmlformats.org/drawingml/2006/main">
              <a:ext uri="{FF2B5EF4-FFF2-40B4-BE49-F238E27FC236}">
                <a16:creationId xmlns:a16="http://schemas.microsoft.com/office/drawing/2014/main" id="{A45EF6C9-57EB-4DA0-83AE-19E2173B3BED}"/>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자산 식별자·담당자·설명의 원천 일치와 누락 항목 확인</a:t>
            </a:r>
          </a:p>
        </p:txBody>
      </p:sp>
      <p:sp>
        <p:nvSpPr>
          <p:cNvPr id="14" name="">
            <a:extLst xmlns:a="http://schemas.openxmlformats.org/drawingml/2006/main">
              <a:ext uri="{FF2B5EF4-FFF2-40B4-BE49-F238E27FC236}">
                <a16:creationId xmlns:a16="http://schemas.microsoft.com/office/drawing/2014/main" id="{5AE25002-DEF2-449A-987E-FD6BDDF3CB62}"/>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5F86FF5-1C3D-4813-AC93-367059EE2049}"/>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SFR-013 데이터 카탈로그 공사 맞춤 개발</a:t>
            </a:r>
          </a:p>
        </p:txBody>
      </p:sp>
      <p:sp>
        <p:nvSpPr>
          <p:cNvPr id="16" name="">
            <a:extLst xmlns:a="http://schemas.openxmlformats.org/drawingml/2006/main">
              <a:ext uri="{FF2B5EF4-FFF2-40B4-BE49-F238E27FC236}">
                <a16:creationId xmlns:a16="http://schemas.microsoft.com/office/drawing/2014/main" id="{44C7B836-1A5B-464C-9C3C-3254DD21C4BC}"/>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업무에 맞춘 데이터 카탈로그 구성과 활용.</a:t>
            </a:r>
          </a:p>
        </p:txBody>
      </p:sp>
      <p:sp>
        <p:nvSpPr>
          <p:cNvPr id="17" name="">
            <a:extLst xmlns:a="http://schemas.openxmlformats.org/drawingml/2006/main">
              <a:ext uri="{FF2B5EF4-FFF2-40B4-BE49-F238E27FC236}">
                <a16:creationId xmlns:a16="http://schemas.microsoft.com/office/drawing/2014/main" id="{7DF2815D-96AE-4331-8634-C94315F31A28}"/>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C11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부서·업무 분류 변경과 사용자 권한에 따른 자산 정보 표시 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a:t>
            </a:r>
          </a:p>
        </p:txBody>
      </p:sp>
    </p:spTree>
    <p:extLst>
      <p:ext uri="{BB962C8B-B14F-4D97-AF65-F5344CB8AC3E}">
        <p14:creationId xmlns:p14="http://schemas.microsoft.com/office/powerpoint/2010/main" val="1098452019"/>
      </p:ext>
    </p:extLst>
  </p:cSld>
</p:sld>
</file>

<file path=ppt/slides/slide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8413DD0-287C-4C9C-BDDD-2057A931F0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7–7</a:t>
            </a:r>
          </a:p>
        </p:txBody>
      </p:sp>
      <p:sp>
        <p:nvSpPr>
          <p:cNvPr id="2" name="">
            <a:extLst xmlns:a="http://schemas.openxmlformats.org/drawingml/2006/main">
              <a:ext uri="{FF2B5EF4-FFF2-40B4-BE49-F238E27FC236}">
                <a16:creationId xmlns:a16="http://schemas.microsoft.com/office/drawing/2014/main" id="{1B89605C-4A2D-4480-B933-1A88F663EDA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67381CB1-E507-4FA9-9516-2230910994F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49ED1D-4777-4A12-9A12-CAEBEB80E9D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C68B8A3-5A65-41FE-AA88-2FA8D3DA6B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69</a:t>
            </a:r>
          </a:p>
        </p:txBody>
      </p:sp>
      <p:sp>
        <p:nvSpPr>
          <p:cNvPr id="6" name="">
            <a:extLst xmlns:a="http://schemas.openxmlformats.org/drawingml/2006/main">
              <a:ext uri="{FF2B5EF4-FFF2-40B4-BE49-F238E27FC236}">
                <a16:creationId xmlns:a16="http://schemas.microsoft.com/office/drawing/2014/main" id="{988D7B6D-1CD3-4226-916F-2E4BE398BD4B}"/>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661964-3A4C-4170-952A-0625F2A9D355}"/>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SFR-014 데이터 카탈로그 검색 기능</a:t>
            </a:r>
          </a:p>
        </p:txBody>
      </p:sp>
      <p:sp>
        <p:nvSpPr>
          <p:cNvPr id="8" name="">
            <a:extLst xmlns:a="http://schemas.openxmlformats.org/drawingml/2006/main">
              <a:ext uri="{FF2B5EF4-FFF2-40B4-BE49-F238E27FC236}">
                <a16:creationId xmlns:a16="http://schemas.microsoft.com/office/drawing/2014/main" id="{6DF8EA5A-CA6B-48FA-980E-2715A692271F}"/>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카탈로그의 데이터 자산 검색 기능.</a:t>
            </a:r>
          </a:p>
        </p:txBody>
      </p:sp>
      <p:sp>
        <p:nvSpPr>
          <p:cNvPr id="9" name="">
            <a:extLst xmlns:a="http://schemas.openxmlformats.org/drawingml/2006/main">
              <a:ext uri="{FF2B5EF4-FFF2-40B4-BE49-F238E27FC236}">
                <a16:creationId xmlns:a16="http://schemas.microsoft.com/office/drawing/2014/main" id="{8A5E49B2-31BA-4077-870E-1DC434AD818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업무 용어로 같은 자산 탐색, 동명이자산 구분, 검색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권한 확인</a:t>
            </a:r>
          </a:p>
        </p:txBody>
      </p:sp>
    </p:spTree>
    <p:extLst>
      <p:ext uri="{BB962C8B-B14F-4D97-AF65-F5344CB8AC3E}">
        <p14:creationId xmlns:p14="http://schemas.microsoft.com/office/powerpoint/2010/main" val="938664805"/>
      </p:ext>
    </p:extLst>
  </p:cSld>
</p:sld>
</file>

<file path=ppt/slides/slide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D6B351-8EDE-4765-ABA8-6BE1F8DE9D2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목표 구성도 / RFP 원문 추출</a:t>
            </a:r>
          </a:p>
        </p:txBody>
      </p:sp>
      <p:sp>
        <p:nvSpPr>
          <p:cNvPr id="2" name="">
            <a:extLst xmlns:a="http://schemas.openxmlformats.org/drawingml/2006/main">
              <a:ext uri="{FF2B5EF4-FFF2-40B4-BE49-F238E27FC236}">
                <a16:creationId xmlns:a16="http://schemas.microsoft.com/office/drawing/2014/main" id="{32E949BA-E979-4F77-BF2F-31028786134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대민·임직원 AI 서비스 분리</a:t>
            </a:r>
          </a:p>
        </p:txBody>
      </p:sp>
      <p:sp>
        <p:nvSpPr>
          <p:cNvPr id="3" name="">
            <a:extLst xmlns:a="http://schemas.openxmlformats.org/drawingml/2006/main">
              <a:ext uri="{FF2B5EF4-FFF2-40B4-BE49-F238E27FC236}">
                <a16:creationId xmlns:a16="http://schemas.microsoft.com/office/drawing/2014/main" id="{FC0C2C44-5B48-4A52-88A0-AF5B631F1DF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7CECAA3-F767-4514-A87A-9E2A989FD1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041DFA3-FE92-48BA-8803-C5F9799D583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70</a:t>
            </a:r>
          </a:p>
        </p:txBody>
      </p:sp>
      <p:pic>
        <p:nvPicPr>
          <p:cNvPr id="6" name="">
            <a:extLst xmlns:a="http://schemas.openxmlformats.org/drawingml/2006/main">
              <a:ext uri="{FF2B5EF4-FFF2-40B4-BE49-F238E27FC236}">
                <a16:creationId xmlns:a16="http://schemas.microsoft.com/office/drawing/2014/main" id="{96738624-63BB-474F-8D13-78BD42207925}"/>
              </a:ext>
            </a:extLst>
          </p:cNvPr>
          <p:cNvPicPr>
            <a:picLocks xmlns:a="http://schemas.openxmlformats.org/drawingml/2006/main" noChangeAspect="1"/>
          </p:cNvPicPr>
          <p:nvPr/>
        </p:nvPicPr>
        <p:blipFill>
          <a:blip xmlns:r="http://schemas.openxmlformats.org/officeDocument/2006/relationships" xmlns:a="http://schemas.openxmlformats.org/drawingml/2006/main" r:embed="R87878e54ba994d22"/>
          <a:stretch xmlns:a="http://schemas.openxmlformats.org/drawingml/2006/main"/>
        </p:blipFill>
        <p:spPr>
          <a:xfrm xmlns:a="http://schemas.openxmlformats.org/drawingml/2006/main">
            <a:off x="2342322" y="1657350"/>
            <a:ext cx="750735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858B198-4DE0-49DB-BE0B-0D82BAF763A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보안·서비스·데이터·관리 서브넷과 SSO·업무 데이터 경계</a:t>
            </a:r>
          </a:p>
        </p:txBody>
      </p:sp>
    </p:spTree>
    <p:extLst>
      <p:ext uri="{BB962C8B-B14F-4D97-AF65-F5344CB8AC3E}">
        <p14:creationId xmlns:p14="http://schemas.microsoft.com/office/powerpoint/2010/main" val="61459178"/>
      </p:ext>
    </p:extLst>
  </p:cSld>
</p:sld>
</file>

<file path=ppt/slides/slide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A866F5-CB39-4903-A06A-D213176FA4B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데이터 구성도 / RFP 원문 추출</a:t>
            </a:r>
          </a:p>
        </p:txBody>
      </p:sp>
      <p:sp>
        <p:nvSpPr>
          <p:cNvPr id="2" name="">
            <a:extLst xmlns:a="http://schemas.openxmlformats.org/drawingml/2006/main">
              <a:ext uri="{FF2B5EF4-FFF2-40B4-BE49-F238E27FC236}">
                <a16:creationId xmlns:a16="http://schemas.microsoft.com/office/drawing/2014/main" id="{63AB35C9-2A57-4F2D-A024-A50FD5C205F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데이터 카탈로그·업무 매핑</a:t>
            </a:r>
          </a:p>
        </p:txBody>
      </p:sp>
      <p:sp>
        <p:nvSpPr>
          <p:cNvPr id="3" name="">
            <a:extLst xmlns:a="http://schemas.openxmlformats.org/drawingml/2006/main">
              <a:ext uri="{FF2B5EF4-FFF2-40B4-BE49-F238E27FC236}">
                <a16:creationId xmlns:a16="http://schemas.microsoft.com/office/drawing/2014/main" id="{AD664D9C-1C78-408E-A94A-F465556E4C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2F8AAF-41D7-4F27-931B-7B460AEF681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ED1BDEC-4C19-4D7A-A4E4-29ED9598312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71</a:t>
            </a:r>
          </a:p>
        </p:txBody>
      </p:sp>
      <p:pic>
        <p:nvPicPr>
          <p:cNvPr id="6" name="">
            <a:extLst xmlns:a="http://schemas.openxmlformats.org/drawingml/2006/main">
              <a:ext uri="{FF2B5EF4-FFF2-40B4-BE49-F238E27FC236}">
                <a16:creationId xmlns:a16="http://schemas.microsoft.com/office/drawing/2014/main" id="{3ED38450-C24C-44FB-A15D-5D32B67C6649}"/>
              </a:ext>
            </a:extLst>
          </p:cNvPr>
          <p:cNvPicPr>
            <a:picLocks xmlns:a="http://schemas.openxmlformats.org/drawingml/2006/main" noChangeAspect="1"/>
          </p:cNvPicPr>
          <p:nvPr/>
        </p:nvPicPr>
        <p:blipFill>
          <a:blip xmlns:r="http://schemas.openxmlformats.org/officeDocument/2006/relationships" xmlns:a="http://schemas.openxmlformats.org/drawingml/2006/main" r:embed="Rc93189d216444b92"/>
          <a:stretch xmlns:a="http://schemas.openxmlformats.org/drawingml/2006/main"/>
        </p:blipFill>
        <p:spPr>
          <a:xfrm xmlns:a="http://schemas.openxmlformats.org/drawingml/2006/main">
            <a:off x="1935307" y="1657350"/>
            <a:ext cx="832138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46E995C-4025-4291-9FA5-2FCF2C0A581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대시보드·통합검색·데이터등록·표준·품질과 업무 매핑</a:t>
            </a:r>
          </a:p>
        </p:txBody>
      </p:sp>
    </p:spTree>
    <p:extLst>
      <p:ext uri="{BB962C8B-B14F-4D97-AF65-F5344CB8AC3E}">
        <p14:creationId xmlns:p14="http://schemas.microsoft.com/office/powerpoint/2010/main" val="635502115"/>
      </p:ext>
    </p:extLst>
  </p:cSld>
</p:sld>
</file>

<file path=ppt/slides/slide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5FE713B-CC48-4BB6-A3EA-5DCEFAD244CB}"/>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E42EBE0-4CD7-4A26-AECF-0540198A4838}"/>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0321D41-5FF5-45F1-B929-618817D08521}"/>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A549B887-10A1-4832-9CFD-5DAD5AA857CA}"/>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D5E2EA61-1461-4C9A-A631-8431DE3864A5}"/>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5D96C59-C195-4F73-A126-0C797DC0CEAD}"/>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854FD873-D6ED-42E9-A3A2-6FBD3E3D7A98}"/>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AC1203C3-26A0-4676-BA8A-CEC3CE23D13E}"/>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9158EEB2-65B8-42D6-ABD6-4872722D86C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22A77F39-53EA-488D-B721-BD18A17B669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권한·목적 판정 후 허용·차단 분기</a:t>
            </a:r>
          </a:p>
        </p:txBody>
      </p:sp>
      <p:sp>
        <p:nvSpPr>
          <p:cNvPr id="2" name="">
            <a:extLst xmlns:a="http://schemas.openxmlformats.org/drawingml/2006/main">
              <a:ext uri="{FF2B5EF4-FFF2-40B4-BE49-F238E27FC236}">
                <a16:creationId xmlns:a16="http://schemas.microsoft.com/office/drawing/2014/main" id="{792F04DE-55D9-4CA0-9800-89451AC0F71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세부 서비스 구조</a:t>
            </a:r>
          </a:p>
        </p:txBody>
      </p:sp>
      <p:sp>
        <p:nvSpPr>
          <p:cNvPr id="3" name="">
            <a:extLst xmlns:a="http://schemas.openxmlformats.org/drawingml/2006/main">
              <a:ext uri="{FF2B5EF4-FFF2-40B4-BE49-F238E27FC236}">
                <a16:creationId xmlns:a16="http://schemas.microsoft.com/office/drawing/2014/main" id="{4301C580-A832-4D5C-9F00-C101421234E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8795AF-92FE-4F73-9279-137411CC5A6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4783AE1-F647-437F-BE6C-CFB1318468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72</a:t>
            </a:r>
          </a:p>
        </p:txBody>
      </p:sp>
      <p:sp>
        <p:nvSpPr>
          <p:cNvPr id="6" name="">
            <a:extLst xmlns:a="http://schemas.openxmlformats.org/drawingml/2006/main">
              <a:ext uri="{FF2B5EF4-FFF2-40B4-BE49-F238E27FC236}">
                <a16:creationId xmlns:a16="http://schemas.microsoft.com/office/drawing/2014/main" id="{57058959-169C-4B6C-9895-AC2E1BC1DF65}"/>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지식·안건 → 권한·망·DRM → 검색·산식 검증 → 평가·운영</a:t>
            </a:r>
          </a:p>
        </p:txBody>
      </p:sp>
      <p:sp>
        <p:nvSpPr>
          <p:cNvPr id="7" name="">
            <a:extLst xmlns:a="http://schemas.openxmlformats.org/drawingml/2006/main">
              <a:ext uri="{FF2B5EF4-FFF2-40B4-BE49-F238E27FC236}">
                <a16:creationId xmlns:a16="http://schemas.microsoft.com/office/drawing/2014/main" id="{D9619198-85D3-4EC6-82D0-A4FFE4BA74F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25A4112C-7BF5-42B7-AE68-C9CDADA261F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74088B89-653A-41BA-B6A5-29E46F153D2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국민·사내 접점</a:t>
            </a:r>
          </a:p>
        </p:txBody>
      </p:sp>
      <p:sp>
        <p:nvSpPr>
          <p:cNvPr id="10" name="">
            <a:extLst xmlns:a="http://schemas.openxmlformats.org/drawingml/2006/main">
              <a:ext uri="{FF2B5EF4-FFF2-40B4-BE49-F238E27FC236}">
                <a16:creationId xmlns:a16="http://schemas.microsoft.com/office/drawing/2014/main" id="{1AC7AE49-3B88-48F8-BE26-0B3DF0209EDB}"/>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9A9C061-A43C-40E5-8DB4-DAAA4E5665FE}"/>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60854065-3765-42E3-A9E5-B657060F24B7}"/>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SSO·DRM·망 구분</a:t>
            </a:r>
          </a:p>
        </p:txBody>
      </p:sp>
      <p:sp>
        <p:nvSpPr>
          <p:cNvPr id="13" name="">
            <a:extLst xmlns:a="http://schemas.openxmlformats.org/drawingml/2006/main">
              <a:ext uri="{FF2B5EF4-FFF2-40B4-BE49-F238E27FC236}">
                <a16:creationId xmlns:a16="http://schemas.microsoft.com/office/drawing/2014/main" id="{B46CD07D-8F34-4ECD-B1BA-314D438C1835}"/>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7E41134-6EC9-4122-801D-83B5266F123E}"/>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F3D07B11-07B9-45A5-ABE0-CC18DAF5E63A}"/>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권한·망·모델 관리</a:t>
            </a:r>
          </a:p>
        </p:txBody>
      </p:sp>
      <p:sp>
        <p:nvSpPr>
          <p:cNvPr id="16" name="">
            <a:extLst xmlns:a="http://schemas.openxmlformats.org/drawingml/2006/main">
              <a:ext uri="{FF2B5EF4-FFF2-40B4-BE49-F238E27FC236}">
                <a16:creationId xmlns:a16="http://schemas.microsoft.com/office/drawing/2014/main" id="{A0B860FF-6FC7-43E9-B511-0727C079D97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8D728BA-48E2-4E16-BB7F-3006C10C56A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A10207E8-259D-475F-812E-CE4306ECB1F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산식·단위 대조</a:t>
            </a:r>
          </a:p>
        </p:txBody>
      </p:sp>
      <p:sp>
        <p:nvSpPr>
          <p:cNvPr id="19" name="">
            <a:extLst xmlns:a="http://schemas.openxmlformats.org/drawingml/2006/main">
              <a:ext uri="{FF2B5EF4-FFF2-40B4-BE49-F238E27FC236}">
                <a16:creationId xmlns:a16="http://schemas.microsoft.com/office/drawing/2014/main" id="{52266E1E-CFAE-4E71-BA70-1C0AF9C71A2F}"/>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D5457EF-693C-4C7F-825F-47939A779237}"/>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7F5FBA67-7A86-40F3-AE5B-2DB620A94F3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ECM·안건·공개</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자료</a:t>
            </a:r>
          </a:p>
        </p:txBody>
      </p:sp>
      <p:sp>
        <p:nvSpPr>
          <p:cNvPr id="22" name="">
            <a:extLst xmlns:a="http://schemas.openxmlformats.org/drawingml/2006/main">
              <a:ext uri="{FF2B5EF4-FFF2-40B4-BE49-F238E27FC236}">
                <a16:creationId xmlns:a16="http://schemas.microsoft.com/office/drawing/2014/main" id="{CF109322-144A-44A2-B367-569559E196E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68C713A-ACC8-4218-9B19-502C2797EB59}"/>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207BEFEC-B9DA-4F62-A088-928EC6B22152}"/>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모델·요약·산식</a:t>
            </a:r>
          </a:p>
        </p:txBody>
      </p:sp>
      <p:sp>
        <p:nvSpPr>
          <p:cNvPr id="25" name="">
            <a:extLst xmlns:a="http://schemas.openxmlformats.org/drawingml/2006/main">
              <a:ext uri="{FF2B5EF4-FFF2-40B4-BE49-F238E27FC236}">
                <a16:creationId xmlns:a16="http://schemas.microsoft.com/office/drawing/2014/main" id="{1F509BA2-1B3E-4ABA-A25C-D98CD9BA7D31}"/>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EF27895-C46C-47D0-9352-D1EABE0D21B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2AB92935-D5FB-4D8B-B86E-5E13D2FB556C}"/>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담당 검토</a:t>
            </a:r>
          </a:p>
        </p:txBody>
      </p:sp>
      <p:sp>
        <p:nvSpPr>
          <p:cNvPr id="28" name="">
            <a:extLst xmlns:a="http://schemas.openxmlformats.org/drawingml/2006/main">
              <a:ext uri="{FF2B5EF4-FFF2-40B4-BE49-F238E27FC236}">
                <a16:creationId xmlns:a16="http://schemas.microsoft.com/office/drawing/2014/main" id="{2022B786-9052-4F4F-A980-35821D2E036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2046DEB-B695-4F10-B4FD-87E7383C50C7}"/>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BA192CEC-0262-4414-85A6-36C1C20DBF47}"/>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요약·계산</a:t>
            </a:r>
          </a:p>
        </p:txBody>
      </p:sp>
      <p:sp>
        <p:nvSpPr>
          <p:cNvPr id="31" name="">
            <a:extLst xmlns:a="http://schemas.openxmlformats.org/drawingml/2006/main">
              <a:ext uri="{FF2B5EF4-FFF2-40B4-BE49-F238E27FC236}">
                <a16:creationId xmlns:a16="http://schemas.microsoft.com/office/drawing/2014/main" id="{B62B140A-C9DA-4119-AD80-2AA2616BF536}"/>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73ADED07-AD12-4CA1-83C7-BF15CC710DA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CA285DCF-46CE-431E-833F-E1388CF241D2}"/>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품질·민감정보 점</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a:t>
            </a:r>
          </a:p>
        </p:txBody>
      </p:sp>
      <p:sp>
        <p:nvSpPr>
          <p:cNvPr id="34" name="">
            <a:extLst xmlns:a="http://schemas.openxmlformats.org/drawingml/2006/main">
              <a:ext uri="{FF2B5EF4-FFF2-40B4-BE49-F238E27FC236}">
                <a16:creationId xmlns:a16="http://schemas.microsoft.com/office/drawing/2014/main" id="{142CB942-F3D0-400D-AF2F-658C4DC7B4FB}"/>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1D0E078B-FC77-47C9-83B4-CCDF8F649795}"/>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DFBA3301-DCBB-4367-A3F4-E8726BE29E48}"/>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대민·사내 DB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리</a:t>
            </a:r>
          </a:p>
        </p:txBody>
      </p:sp>
      <p:sp>
        <p:nvSpPr>
          <p:cNvPr id="46" name="">
            <a:extLst xmlns:a="http://schemas.openxmlformats.org/drawingml/2006/main">
              <a:ext uri="{FF2B5EF4-FFF2-40B4-BE49-F238E27FC236}">
                <a16:creationId xmlns:a16="http://schemas.microsoft.com/office/drawing/2014/main" id="{95CF3F54-C76E-4E76-A204-6C4539B251D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99544931"/>
      </p:ext>
    </p:extLst>
  </p:cSld>
</p:sld>
</file>

<file path=ppt/slides/slide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67B3DB5-9D2A-498C-8A47-73186158B1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논리 인터페이스·복구 설계</a:t>
            </a:r>
          </a:p>
        </p:txBody>
      </p:sp>
      <p:sp>
        <p:nvSpPr>
          <p:cNvPr id="2" name="">
            <a:extLst xmlns:a="http://schemas.openxmlformats.org/drawingml/2006/main">
              <a:ext uri="{FF2B5EF4-FFF2-40B4-BE49-F238E27FC236}">
                <a16:creationId xmlns:a16="http://schemas.microsoft.com/office/drawing/2014/main" id="{FB4B80DF-5576-43DC-9504-F6DA4267D32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데이터와 예외 처리</a:t>
            </a:r>
          </a:p>
        </p:txBody>
      </p:sp>
      <p:sp>
        <p:nvSpPr>
          <p:cNvPr id="3" name="">
            <a:extLst xmlns:a="http://schemas.openxmlformats.org/drawingml/2006/main">
              <a:ext uri="{FF2B5EF4-FFF2-40B4-BE49-F238E27FC236}">
                <a16:creationId xmlns:a16="http://schemas.microsoft.com/office/drawing/2014/main" id="{EF006CF4-6401-4916-A525-74C1963C1B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1E1A897-CE2D-40DB-BB6F-282D7177761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22F5383-D777-4122-BCDB-B9162D45597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73</a:t>
            </a:r>
          </a:p>
        </p:txBody>
      </p:sp>
      <p:sp>
        <p:nvSpPr>
          <p:cNvPr id="6" name="">
            <a:extLst xmlns:a="http://schemas.openxmlformats.org/drawingml/2006/main">
              <a:ext uri="{FF2B5EF4-FFF2-40B4-BE49-F238E27FC236}">
                <a16:creationId xmlns:a16="http://schemas.microsoft.com/office/drawing/2014/main" id="{935F7EA6-E012-42C4-B59A-14035A40CC6E}"/>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C54C148-661C-4356-A6E9-564A9FA62378}"/>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85F6DA98-CD1F-48F4-95C0-5D64B9B2B55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B4CC85BB-B6C2-46F2-B80F-E7DEC43448C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외부·내부 접점과 망·계정·DRM 경계 분리</a:t>
            </a:r>
          </a:p>
        </p:txBody>
      </p:sp>
      <p:sp>
        <p:nvSpPr>
          <p:cNvPr id="10" name="">
            <a:extLst xmlns:a="http://schemas.openxmlformats.org/drawingml/2006/main">
              <a:ext uri="{FF2B5EF4-FFF2-40B4-BE49-F238E27FC236}">
                <a16:creationId xmlns:a16="http://schemas.microsoft.com/office/drawing/2014/main" id="{5D020F0E-6FFF-4B6D-B0FC-73174DA049A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244BAD-B419-462E-AE2A-629D08F1702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18208C97-42CA-46BA-8959-5E012C2EEDB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질의·권한</a:t>
            </a:r>
          </a:p>
        </p:txBody>
      </p:sp>
      <p:sp>
        <p:nvSpPr>
          <p:cNvPr id="13" name="">
            <a:extLst xmlns:a="http://schemas.openxmlformats.org/drawingml/2006/main">
              <a:ext uri="{FF2B5EF4-FFF2-40B4-BE49-F238E27FC236}">
                <a16:creationId xmlns:a16="http://schemas.microsoft.com/office/drawing/2014/main" id="{4EBD8377-CAC9-4937-96E6-2CF98D1A146D}"/>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1B6B330-6BFD-4EA0-8423-B41586932C4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C816DE49-B46D-4740-86F9-612F16167F3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권한·망·모델 관리</a:t>
            </a:r>
          </a:p>
        </p:txBody>
      </p:sp>
      <p:sp>
        <p:nvSpPr>
          <p:cNvPr id="16" name="">
            <a:extLst xmlns:a="http://schemas.openxmlformats.org/drawingml/2006/main">
              <a:ext uri="{FF2B5EF4-FFF2-40B4-BE49-F238E27FC236}">
                <a16:creationId xmlns:a16="http://schemas.microsoft.com/office/drawing/2014/main" id="{3C4C9190-650F-4476-804D-F603388C5AB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340BEFE-F583-4A90-9313-0697BC4CB6D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76A8B10F-C60D-4929-AED3-F2BBFCA0069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요약·계산</a:t>
            </a:r>
          </a:p>
        </p:txBody>
      </p:sp>
      <p:sp>
        <p:nvSpPr>
          <p:cNvPr id="19" name="">
            <a:extLst xmlns:a="http://schemas.openxmlformats.org/drawingml/2006/main">
              <a:ext uri="{FF2B5EF4-FFF2-40B4-BE49-F238E27FC236}">
                <a16:creationId xmlns:a16="http://schemas.microsoft.com/office/drawing/2014/main" id="{3D56516E-25F9-41EF-9268-AC13AC468AA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F5BDAEC-6EA7-4F88-B410-48DE522531B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AF94D95D-06E3-40BB-AF0B-5AA3EAC5C4C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요약·계산</a:t>
            </a:r>
          </a:p>
        </p:txBody>
      </p:sp>
      <p:sp>
        <p:nvSpPr>
          <p:cNvPr id="22" name="">
            <a:extLst xmlns:a="http://schemas.openxmlformats.org/drawingml/2006/main">
              <a:ext uri="{FF2B5EF4-FFF2-40B4-BE49-F238E27FC236}">
                <a16:creationId xmlns:a16="http://schemas.microsoft.com/office/drawing/2014/main" id="{F4D60D69-E8A3-418B-9B57-C9FC1D08949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AFA5EEC-486A-4321-AED8-522F6038D77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E8D08394-5192-4E48-81BA-88DBB7436FB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999657CA-C18F-495A-A610-3A2BA59FE01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C8709E9-DB2C-4DEE-BC6E-1B4BF71E1EE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외부 계정의 내부 안건 요청·DRM 제한·단위 오류</a:t>
            </a:r>
          </a:p>
        </p:txBody>
      </p:sp>
      <p:sp>
        <p:nvSpPr>
          <p:cNvPr id="27" name="">
            <a:extLst xmlns:a="http://schemas.openxmlformats.org/drawingml/2006/main">
              <a:ext uri="{FF2B5EF4-FFF2-40B4-BE49-F238E27FC236}">
                <a16:creationId xmlns:a16="http://schemas.microsoft.com/office/drawing/2014/main" id="{EED8A7B4-5BA7-4751-B8AF-1C281D3B89A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0BA0375-5D62-4BF6-83E8-06D44D96E36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망·권한·산식별 독립 검증</a:t>
            </a:r>
          </a:p>
        </p:txBody>
      </p:sp>
      <p:sp>
        <p:nvSpPr>
          <p:cNvPr id="29" name="">
            <a:extLst xmlns:a="http://schemas.openxmlformats.org/drawingml/2006/main">
              <a:ext uri="{FF2B5EF4-FFF2-40B4-BE49-F238E27FC236}">
                <a16:creationId xmlns:a16="http://schemas.microsoft.com/office/drawing/2014/main" id="{F974EA7F-792A-4504-A355-0102FE6BA9C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AB44D22-1A4E-40D3-B142-55C7A9C7C2C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 품질·민감정보·답변 품질 모니터링</a:t>
            </a:r>
          </a:p>
        </p:txBody>
      </p:sp>
      <p:sp>
        <p:nvSpPr>
          <p:cNvPr id="31" name="">
            <a:extLst xmlns:a="http://schemas.openxmlformats.org/drawingml/2006/main">
              <a:ext uri="{FF2B5EF4-FFF2-40B4-BE49-F238E27FC236}">
                <a16:creationId xmlns:a16="http://schemas.microsoft.com/office/drawing/2014/main" id="{20433406-855D-43C6-9472-01DE326E1A7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67B0B4A-B6C0-4115-B6A1-831E6AD70AA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망·권한별 노출 결과와 원문·계산·카탈로그 대사</a:t>
            </a:r>
          </a:p>
        </p:txBody>
      </p:sp>
    </p:spTree>
    <p:extLst>
      <p:ext uri="{BB962C8B-B14F-4D97-AF65-F5344CB8AC3E}">
        <p14:creationId xmlns:p14="http://schemas.microsoft.com/office/powerpoint/2010/main" val="149170293"/>
      </p:ext>
    </p:extLst>
  </p:cSld>
</p:sld>
</file>

<file path=ppt/slides/slide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1E679BD-4FF7-4571-A877-3141B1CCC2E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CCK 비교·재현 시험 설계</a:t>
            </a:r>
          </a:p>
        </p:txBody>
      </p:sp>
      <p:sp>
        <p:nvSpPr>
          <p:cNvPr id="2" name="">
            <a:extLst xmlns:a="http://schemas.openxmlformats.org/drawingml/2006/main">
              <a:ext uri="{FF2B5EF4-FFF2-40B4-BE49-F238E27FC236}">
                <a16:creationId xmlns:a16="http://schemas.microsoft.com/office/drawing/2014/main" id="{E588DBAA-CDBD-4088-AD37-4D6BA939916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벤치마킹</a:t>
            </a:r>
          </a:p>
        </p:txBody>
      </p:sp>
      <p:sp>
        <p:nvSpPr>
          <p:cNvPr id="3" name="">
            <a:extLst xmlns:a="http://schemas.openxmlformats.org/drawingml/2006/main">
              <a:ext uri="{FF2B5EF4-FFF2-40B4-BE49-F238E27FC236}">
                <a16:creationId xmlns:a16="http://schemas.microsoft.com/office/drawing/2014/main" id="{C4328963-9F5A-4945-9C45-8330327133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3AAB81C-C118-4CD2-9DED-1D137E16AF8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054E04C-AF85-46D0-B652-5033D726971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74</a:t>
            </a:r>
          </a:p>
        </p:txBody>
      </p:sp>
      <p:sp>
        <p:nvSpPr>
          <p:cNvPr id="6" name="">
            <a:extLst xmlns:a="http://schemas.openxmlformats.org/drawingml/2006/main">
              <a:ext uri="{FF2B5EF4-FFF2-40B4-BE49-F238E27FC236}">
                <a16:creationId xmlns:a16="http://schemas.microsoft.com/office/drawing/2014/main" id="{78EBC601-C6EB-4DFE-9B16-DAEE7F7BD90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C3468241-FB55-499F-BE8D-7CEF0924879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대국민·사내 지식 경계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카탈로그와 데이터 통제 결합</a:t>
            </a:r>
          </a:p>
        </p:txBody>
      </p:sp>
      <p:sp>
        <p:nvSpPr>
          <p:cNvPr id="8" name="">
            <a:extLst xmlns:a="http://schemas.openxmlformats.org/drawingml/2006/main">
              <a:ext uri="{FF2B5EF4-FFF2-40B4-BE49-F238E27FC236}">
                <a16:creationId xmlns:a16="http://schemas.microsoft.com/office/drawing/2014/main" id="{9F2BBE3B-9FA2-4184-8B04-25A1E307056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D4DB940-3DB2-4E0C-B20C-D42D77E6AD2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DRM·접근권한 전파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금융 산식·단위 오류</a:t>
            </a:r>
          </a:p>
        </p:txBody>
      </p:sp>
      <p:sp>
        <p:nvSpPr>
          <p:cNvPr id="10" name="">
            <a:extLst xmlns:a="http://schemas.openxmlformats.org/drawingml/2006/main">
              <a:ext uri="{FF2B5EF4-FFF2-40B4-BE49-F238E27FC236}">
                <a16:creationId xmlns:a16="http://schemas.microsoft.com/office/drawing/2014/main" id="{64ED4B7B-5293-4739-9649-B5DBE1337D9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F017F7B-51B2-4431-9AE8-6032EA43D86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망·권한·산식별 독립 검증</a:t>
            </a:r>
          </a:p>
        </p:txBody>
      </p:sp>
      <p:sp>
        <p:nvSpPr>
          <p:cNvPr id="12" name="">
            <a:extLst xmlns:a="http://schemas.openxmlformats.org/drawingml/2006/main">
              <a:ext uri="{FF2B5EF4-FFF2-40B4-BE49-F238E27FC236}">
                <a16:creationId xmlns:a16="http://schemas.microsoft.com/office/drawing/2014/main" id="{FA8EEAF5-DED0-44A2-BAF2-29C6E93084F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DFD4664-EAF0-414D-A0B1-23EA491961B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허용된 안건만 검색·요약하고 규정 산식을 독립 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인</a:t>
            </a:r>
          </a:p>
        </p:txBody>
      </p:sp>
      <p:sp>
        <p:nvSpPr>
          <p:cNvPr id="14" name="">
            <a:extLst xmlns:a="http://schemas.openxmlformats.org/drawingml/2006/main">
              <a:ext uri="{FF2B5EF4-FFF2-40B4-BE49-F238E27FC236}">
                <a16:creationId xmlns:a16="http://schemas.microsoft.com/office/drawing/2014/main" id="{7853226B-BF82-41EF-BCA7-89DF99F38492}"/>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FD76C1D-ACBC-4D44-979E-3C67F9CE042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외부 계정의 내부 안건 요청·DRM 제한·단위 오류</a:t>
            </a:r>
          </a:p>
        </p:txBody>
      </p:sp>
      <p:sp>
        <p:nvSpPr>
          <p:cNvPr id="16" name="">
            <a:extLst xmlns:a="http://schemas.openxmlformats.org/drawingml/2006/main">
              <a:ext uri="{FF2B5EF4-FFF2-40B4-BE49-F238E27FC236}">
                <a16:creationId xmlns:a16="http://schemas.microsoft.com/office/drawing/2014/main" id="{0D7F3B3F-9C2C-4B68-9F80-030E4A20E7C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CBB464C-DAF8-4123-AA3E-5A21D1353D8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망·권한별 노출 결과와 원문·계산·카탈로그 대사</a:t>
            </a:r>
          </a:p>
        </p:txBody>
      </p:sp>
    </p:spTree>
    <p:extLst>
      <p:ext uri="{BB962C8B-B14F-4D97-AF65-F5344CB8AC3E}">
        <p14:creationId xmlns:p14="http://schemas.microsoft.com/office/powerpoint/2010/main" val="1475697552"/>
      </p:ext>
    </p:extLst>
  </p:cSld>
</p:sld>
</file>

<file path=ppt/slides/slide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3E0793F-226B-4802-8F1F-AEACC8ADF0F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성과 미검증 / 국내</a:t>
            </a:r>
          </a:p>
        </p:txBody>
      </p:sp>
      <p:sp>
        <p:nvSpPr>
          <p:cNvPr id="2" name="">
            <a:extLst xmlns:a="http://schemas.openxmlformats.org/drawingml/2006/main">
              <a:ext uri="{FF2B5EF4-FFF2-40B4-BE49-F238E27FC236}">
                <a16:creationId xmlns:a16="http://schemas.microsoft.com/office/drawing/2014/main" id="{889D433F-6D79-4D86-947B-2BB104F2994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a:t>
            </a:r>
          </a:p>
        </p:txBody>
      </p:sp>
      <p:sp>
        <p:nvSpPr>
          <p:cNvPr id="3" name="">
            <a:extLst xmlns:a="http://schemas.openxmlformats.org/drawingml/2006/main">
              <a:ext uri="{FF2B5EF4-FFF2-40B4-BE49-F238E27FC236}">
                <a16:creationId xmlns:a16="http://schemas.microsoft.com/office/drawing/2014/main" id="{6357019E-689F-4981-B181-67C24078C1D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437AAA-C445-4C1B-8A3A-962BD581F98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9E5562F-9961-46BD-B8D7-7D1CE83436B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75</a:t>
            </a:r>
          </a:p>
        </p:txBody>
      </p:sp>
      <p:sp>
        <p:nvSpPr>
          <p:cNvPr id="6" name="">
            <a:extLst xmlns:a="http://schemas.openxmlformats.org/drawingml/2006/main">
              <a:ext uri="{FF2B5EF4-FFF2-40B4-BE49-F238E27FC236}">
                <a16:creationId xmlns:a16="http://schemas.microsoft.com/office/drawing/2014/main" id="{01F54EEC-7769-4FA2-9343-93C033B2FAB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6D05214-0C42-4927-9F56-F9913A17A84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공통 AI 대화·전용 업무 화면 위에 인사복지, 안전관리,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시추, 지질, 비축설비, 석유시장 보고서의 6개 업무를 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성하는 사업. 전사 공통 기반과 도메인별 지식·산출물의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경계를 비교하기 적합한 사례.</a:t>
            </a:r>
          </a:p>
        </p:txBody>
      </p:sp>
      <p:sp>
        <p:nvSpPr>
          <p:cNvPr id="8" name="">
            <a:extLst xmlns:a="http://schemas.openxmlformats.org/drawingml/2006/main">
              <a:ext uri="{FF2B5EF4-FFF2-40B4-BE49-F238E27FC236}">
                <a16:creationId xmlns:a16="http://schemas.microsoft.com/office/drawing/2014/main" id="{96F51CCB-D77A-431C-BD78-052CB5990B9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CFCEBBE-CB5F-4EE0-BEEB-60B7AACDF18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SER 요구는 공통 접점·업무 범위·권한과 응용 서비스를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정의하고, FUR-001~006은 업무별 자료와 출력 기능</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분리. 직원 사번·소속·직급·업무분장, 문서 접근조건,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정형 데이터·ERP 연계를 각 업무 처리의 문맥으로 사용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구조.</a:t>
            </a:r>
          </a:p>
        </p:txBody>
      </p:sp>
      <p:sp>
        <p:nvSpPr>
          <p:cNvPr id="10" name="">
            <a:extLst xmlns:a="http://schemas.openxmlformats.org/drawingml/2006/main">
              <a:ext uri="{FF2B5EF4-FFF2-40B4-BE49-F238E27FC236}">
                <a16:creationId xmlns:a16="http://schemas.microsoft.com/office/drawing/2014/main" id="{C8011987-BB66-4A02-BC9E-BB6018CC627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40B1371-E8B0-47C8-AA70-67C98430BAA5}"/>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TS의 1차 조직·권한·업무 분류 기반을 만든 뒤 부서별 특화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서비스를 붙이는 순서에 활용할 대상. 공통 챗봇 설치와 6개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업무의 인수 완료를 같은 실적으로 보지 않고, 업무별 데이터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원천·전문가 정답셋·실행 승인·결과 대사를 따로 관리할 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079FF11B-6343-49C0-A80D-C91ED15AE15A}"/>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EC0305F-2A42-4ED9-91EE-5238C7099FA2}"/>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TS 업무 도메인 라우터 / 사용자 역할·효력일 / 업무별 검색·원</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천 연계</a:t>
            </a:r>
          </a:p>
        </p:txBody>
      </p:sp>
      <p:sp>
        <p:nvSpPr>
          <p:cNvPr id="14" name="">
            <a:extLst xmlns:a="http://schemas.openxmlformats.org/drawingml/2006/main">
              <a:ext uri="{FF2B5EF4-FFF2-40B4-BE49-F238E27FC236}">
                <a16:creationId xmlns:a16="http://schemas.microsoft.com/office/drawing/2014/main" id="{8D69EC22-D3C0-4662-92C1-B3BD5CA0AC9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B61DE3C-4D60-4195-83D2-9AAC875AA063}"/>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전보·겸직·다른 도메인 질의의 라우팅·근거·접근 허용 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 대조</a:t>
            </a:r>
          </a:p>
        </p:txBody>
      </p:sp>
      <p:sp>
        <p:nvSpPr>
          <p:cNvPr id="16" name="">
            <a:extLst xmlns:a="http://schemas.openxmlformats.org/drawingml/2006/main">
              <a:ext uri="{FF2B5EF4-FFF2-40B4-BE49-F238E27FC236}">
                <a16:creationId xmlns:a16="http://schemas.microsoft.com/office/drawing/2014/main" id="{D40347CA-CFDC-416B-AC9A-43682128E36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8F88288-1962-463D-B31F-72300FAEAFA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 분류 정확도 / 근거 적합률 / 도메인 추가 구축 공수</a:t>
            </a:r>
          </a:p>
        </p:txBody>
      </p:sp>
      <p:sp>
        <p:nvSpPr>
          <p:cNvPr id="18" name="">
            <a:extLst xmlns:a="http://schemas.openxmlformats.org/drawingml/2006/main">
              <a:ext uri="{FF2B5EF4-FFF2-40B4-BE49-F238E27FC236}">
                <a16:creationId xmlns:a16="http://schemas.microsoft.com/office/drawing/2014/main" id="{D5D1AC40-11C4-4D47-ADAF-D304ADCE400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별도 과제(오피넷 AICC·적정유가 등)를 이번 개발로 합산하지 않음</a:t>
            </a:r>
          </a:p>
        </p:txBody>
      </p:sp>
    </p:spTree>
    <p:extLst>
      <p:ext uri="{BB962C8B-B14F-4D97-AF65-F5344CB8AC3E}">
        <p14:creationId xmlns:p14="http://schemas.microsoft.com/office/powerpoint/2010/main" val="1847097953"/>
      </p:ext>
    </p:extLst>
  </p:cSld>
</p:sld>
</file>

<file path=ppt/slides/slide7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A119E05-480A-4EE2-8BDE-9D9E82F613D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As-Is → To-Be → 기대효과 → 확인 결과</a:t>
            </a:r>
          </a:p>
        </p:txBody>
      </p:sp>
      <p:sp>
        <p:nvSpPr>
          <p:cNvPr id="2" name="">
            <a:extLst xmlns:a="http://schemas.openxmlformats.org/drawingml/2006/main">
              <a:ext uri="{FF2B5EF4-FFF2-40B4-BE49-F238E27FC236}">
                <a16:creationId xmlns:a16="http://schemas.microsoft.com/office/drawing/2014/main" id="{A47FD630-35ED-4338-815A-640B5B9D3EB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기대와 결과</a:t>
            </a:r>
          </a:p>
        </p:txBody>
      </p:sp>
      <p:sp>
        <p:nvSpPr>
          <p:cNvPr id="3" name="">
            <a:extLst xmlns:a="http://schemas.openxmlformats.org/drawingml/2006/main">
              <a:ext uri="{FF2B5EF4-FFF2-40B4-BE49-F238E27FC236}">
                <a16:creationId xmlns:a16="http://schemas.microsoft.com/office/drawing/2014/main" id="{3823AE2A-7708-406C-AE03-B2F0352B44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454A99-E6F8-4209-84D3-523695C6820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AF8B149-6591-481B-A852-11DD35670FE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76</a:t>
            </a:r>
          </a:p>
        </p:txBody>
      </p:sp>
      <p:sp>
        <p:nvSpPr>
          <p:cNvPr id="6" name="">
            <a:extLst xmlns:a="http://schemas.openxmlformats.org/drawingml/2006/main">
              <a:ext uri="{FF2B5EF4-FFF2-40B4-BE49-F238E27FC236}">
                <a16:creationId xmlns:a16="http://schemas.microsoft.com/office/drawing/2014/main" id="{A0F1A41B-3594-4945-A273-9829B551C4A7}"/>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CA9C2DA4-0A9C-48AA-A59E-5DC28AFE0C70}"/>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인사복지·안전·시추·지질·비축설비·시장보고가 다른 데이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터와 절차로 처리</a:t>
            </a:r>
          </a:p>
        </p:txBody>
      </p:sp>
      <p:sp>
        <p:nvSpPr>
          <p:cNvPr id="8" name="">
            <a:extLst xmlns:a="http://schemas.openxmlformats.org/drawingml/2006/main">
              <a:ext uri="{FF2B5EF4-FFF2-40B4-BE49-F238E27FC236}">
                <a16:creationId xmlns:a16="http://schemas.microsoft.com/office/drawing/2014/main" id="{64815817-6758-487C-A772-CBD3C757D30A}"/>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5F359C91-8D7C-4E31-8D10-6FBC5A8C555F}"/>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 챗봇·에이전트 기반에 여섯 도메인의 ERP·문서·정형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 연결과 전용 업무화면 구성</a:t>
            </a:r>
          </a:p>
        </p:txBody>
      </p:sp>
      <p:sp>
        <p:nvSpPr>
          <p:cNvPr id="10" name="">
            <a:extLst xmlns:a="http://schemas.openxmlformats.org/drawingml/2006/main">
              <a:ext uri="{FF2B5EF4-FFF2-40B4-BE49-F238E27FC236}">
                <a16:creationId xmlns:a16="http://schemas.microsoft.com/office/drawing/2014/main" id="{36B02C66-7531-43D2-9E87-2478CD926F9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895B7E9-DB7D-47EB-83D2-7B8852502742}"/>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분류·근거 적합도 향상과 신규 도메인 구축 공수 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a:t>
            </a:r>
          </a:p>
        </p:txBody>
      </p:sp>
      <p:sp>
        <p:nvSpPr>
          <p:cNvPr id="12" name="">
            <a:extLst xmlns:a="http://schemas.openxmlformats.org/drawingml/2006/main">
              <a:ext uri="{FF2B5EF4-FFF2-40B4-BE49-F238E27FC236}">
                <a16:creationId xmlns:a16="http://schemas.microsoft.com/office/drawing/2014/main" id="{9A6C8A81-75E4-47C9-AEF5-6C01A06D4E63}"/>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7C5D4FB-D849-4310-8397-1F88611B2530}"/>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정정 RFP의 여섯 과제 범위 확인. 각 과제 준공·사용·시간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절감 및 실제 공통화율 미확인</a:t>
            </a:r>
          </a:p>
        </p:txBody>
      </p:sp>
      <p:sp>
        <p:nvSpPr>
          <p:cNvPr id="14" name="">
            <a:extLst xmlns:a="http://schemas.openxmlformats.org/drawingml/2006/main">
              <a:ext uri="{FF2B5EF4-FFF2-40B4-BE49-F238E27FC236}">
                <a16:creationId xmlns:a16="http://schemas.microsoft.com/office/drawing/2014/main" id="{08A151C5-BFB3-48B2-A6DD-6329FA78E2DB}"/>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계획된 공통기반 재사용이 실제 재사용 효과로 측정되지 않음</a:t>
            </a:r>
          </a:p>
        </p:txBody>
      </p:sp>
      <p:sp>
        <p:nvSpPr>
          <p:cNvPr id="15" name="">
            <a:extLst xmlns:a="http://schemas.openxmlformats.org/drawingml/2006/main">
              <a:ext uri="{FF2B5EF4-FFF2-40B4-BE49-F238E27FC236}">
                <a16:creationId xmlns:a16="http://schemas.microsoft.com/office/drawing/2014/main" id="{4B27412B-C372-496B-9375-82317A8D3E8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정정 RFP 목표 · 오피넷 AICC 등 다른 사업 성과와 합산 금지; 도메인별 기준선 필요</a:t>
            </a:r>
          </a:p>
        </p:txBody>
      </p:sp>
    </p:spTree>
    <p:extLst>
      <p:ext uri="{BB962C8B-B14F-4D97-AF65-F5344CB8AC3E}">
        <p14:creationId xmlns:p14="http://schemas.microsoft.com/office/powerpoint/2010/main" val="1134591476"/>
      </p:ext>
    </p:extLst>
  </p:cSld>
</p:sld>
</file>

<file path=ppt/slides/slide7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5F6CB92-7515-496E-868F-BA4EC194D60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1–3</a:t>
            </a:r>
          </a:p>
        </p:txBody>
      </p:sp>
      <p:sp>
        <p:nvSpPr>
          <p:cNvPr id="2" name="">
            <a:extLst xmlns:a="http://schemas.openxmlformats.org/drawingml/2006/main">
              <a:ext uri="{FF2B5EF4-FFF2-40B4-BE49-F238E27FC236}">
                <a16:creationId xmlns:a16="http://schemas.microsoft.com/office/drawing/2014/main" id="{16CC3208-C367-42BF-92DC-E56F2040B32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9492F693-1324-442A-A368-9AF60801FFF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F055FE-0F7B-4B73-8193-D46850AFD77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39DA21-057C-4134-8B5A-3D4E823EDE6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77</a:t>
            </a:r>
          </a:p>
        </p:txBody>
      </p:sp>
      <p:sp>
        <p:nvSpPr>
          <p:cNvPr id="6" name="">
            <a:extLst xmlns:a="http://schemas.openxmlformats.org/drawingml/2006/main">
              <a:ext uri="{FF2B5EF4-FFF2-40B4-BE49-F238E27FC236}">
                <a16:creationId xmlns:a16="http://schemas.microsoft.com/office/drawing/2014/main" id="{1E3BB760-E7F3-4E1B-9400-A1B284413535}"/>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048646-D9E5-4C57-BC10-57BB878D0B1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SER-001 AI 대화형 서비스</a:t>
            </a:r>
          </a:p>
        </p:txBody>
      </p:sp>
      <p:sp>
        <p:nvSpPr>
          <p:cNvPr id="8" name="">
            <a:extLst xmlns:a="http://schemas.openxmlformats.org/drawingml/2006/main">
              <a:ext uri="{FF2B5EF4-FFF2-40B4-BE49-F238E27FC236}">
                <a16:creationId xmlns:a16="http://schemas.microsoft.com/office/drawing/2014/main" id="{C3478969-B984-4F18-8558-547E09290AF9}"/>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 AI 대화형 서비스 제공.</a:t>
            </a:r>
          </a:p>
        </p:txBody>
      </p:sp>
      <p:sp>
        <p:nvSpPr>
          <p:cNvPr id="9" name="">
            <a:extLst xmlns:a="http://schemas.openxmlformats.org/drawingml/2006/main">
              <a:ext uri="{FF2B5EF4-FFF2-40B4-BE49-F238E27FC236}">
                <a16:creationId xmlns:a16="http://schemas.microsoft.com/office/drawing/2014/main" id="{B96EEE0E-76BA-497E-90FE-124FC0EB2315}"/>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C03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문맥 유지·출처 확인·입력 범위·오류 안내의 대화 시나리오 평</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가</a:t>
            </a:r>
          </a:p>
        </p:txBody>
      </p:sp>
      <p:sp>
        <p:nvSpPr>
          <p:cNvPr id="10" name="">
            <a:extLst xmlns:a="http://schemas.openxmlformats.org/drawingml/2006/main">
              <a:ext uri="{FF2B5EF4-FFF2-40B4-BE49-F238E27FC236}">
                <a16:creationId xmlns:a16="http://schemas.microsoft.com/office/drawing/2014/main" id="{75B8E68D-194F-40F4-A090-27DA00BC6D29}"/>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FDEFA9-14D2-4D3B-AB10-15F47A07085C}"/>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SER-002 업무 특화 화면 서비스</a:t>
            </a:r>
          </a:p>
        </p:txBody>
      </p:sp>
      <p:sp>
        <p:nvSpPr>
          <p:cNvPr id="12" name="">
            <a:extLst xmlns:a="http://schemas.openxmlformats.org/drawingml/2006/main">
              <a:ext uri="{FF2B5EF4-FFF2-40B4-BE49-F238E27FC236}">
                <a16:creationId xmlns:a16="http://schemas.microsoft.com/office/drawing/2014/main" id="{A05B400D-31FE-4079-B4E4-857901136A8F}"/>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특화 화면에서 필요한 입력과 결과를 제공.</a:t>
            </a:r>
          </a:p>
        </p:txBody>
      </p:sp>
      <p:sp>
        <p:nvSpPr>
          <p:cNvPr id="13" name="">
            <a:extLst xmlns:a="http://schemas.openxmlformats.org/drawingml/2006/main">
              <a:ext uri="{FF2B5EF4-FFF2-40B4-BE49-F238E27FC236}">
                <a16:creationId xmlns:a16="http://schemas.microsoft.com/office/drawing/2014/main" id="{6295BFFA-BE30-41FB-A683-2C4C85A3C289}"/>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업무별 필수 항목 누락·정정·결과 편집의 화면 동작 확인</a:t>
            </a:r>
          </a:p>
        </p:txBody>
      </p:sp>
      <p:sp>
        <p:nvSpPr>
          <p:cNvPr id="14" name="">
            <a:extLst xmlns:a="http://schemas.openxmlformats.org/drawingml/2006/main">
              <a:ext uri="{FF2B5EF4-FFF2-40B4-BE49-F238E27FC236}">
                <a16:creationId xmlns:a16="http://schemas.microsoft.com/office/drawing/2014/main" id="{39B0BA50-C68A-41F0-B011-E3868DEA5D87}"/>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EF36024-A819-4C61-AAA6-8A601E67E38A}"/>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SER-003 AI 응용 서비스 대상 업무</a:t>
            </a:r>
          </a:p>
        </p:txBody>
      </p:sp>
      <p:sp>
        <p:nvSpPr>
          <p:cNvPr id="16" name="">
            <a:extLst xmlns:a="http://schemas.openxmlformats.org/drawingml/2006/main">
              <a:ext uri="{FF2B5EF4-FFF2-40B4-BE49-F238E27FC236}">
                <a16:creationId xmlns:a16="http://schemas.microsoft.com/office/drawing/2014/main" id="{181C3FA5-C614-4689-8BEC-AF7D9C29306E}"/>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응용서비스 대상 업무의 범위 구성.</a:t>
            </a:r>
          </a:p>
        </p:txBody>
      </p:sp>
      <p:sp>
        <p:nvSpPr>
          <p:cNvPr id="17" name="">
            <a:extLst xmlns:a="http://schemas.openxmlformats.org/drawingml/2006/main">
              <a:ext uri="{FF2B5EF4-FFF2-40B4-BE49-F238E27FC236}">
                <a16:creationId xmlns:a16="http://schemas.microsoft.com/office/drawing/2014/main" id="{7C3B617E-A11F-4F85-9E3E-809265CE37AE}"/>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인사·안전·시추·지질·설비·시장 업무의 잘못된 라우팅과 복합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요청 확인</a:t>
            </a:r>
          </a:p>
        </p:txBody>
      </p:sp>
    </p:spTree>
    <p:extLst>
      <p:ext uri="{BB962C8B-B14F-4D97-AF65-F5344CB8AC3E}">
        <p14:creationId xmlns:p14="http://schemas.microsoft.com/office/powerpoint/2010/main" val="1786154638"/>
      </p:ext>
    </p:extLst>
  </p:cSld>
</p:sld>
</file>

<file path=ppt/slides/slide7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8651FA1-C5A5-4C59-ADFA-E0444D50F31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4–6</a:t>
            </a:r>
          </a:p>
        </p:txBody>
      </p:sp>
      <p:sp>
        <p:nvSpPr>
          <p:cNvPr id="2" name="">
            <a:extLst xmlns:a="http://schemas.openxmlformats.org/drawingml/2006/main">
              <a:ext uri="{FF2B5EF4-FFF2-40B4-BE49-F238E27FC236}">
                <a16:creationId xmlns:a16="http://schemas.microsoft.com/office/drawing/2014/main" id="{3DCBB52A-C863-440B-AA44-7A7EF1DD5EC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FBD350A5-9B64-4C7C-A539-938F0957269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4144C75-0DD3-4DEE-9AB0-A64696749D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79C3877-7B09-45EC-9CF5-45596E05320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78</a:t>
            </a:r>
          </a:p>
        </p:txBody>
      </p:sp>
      <p:sp>
        <p:nvSpPr>
          <p:cNvPr id="6" name="">
            <a:extLst xmlns:a="http://schemas.openxmlformats.org/drawingml/2006/main">
              <a:ext uri="{FF2B5EF4-FFF2-40B4-BE49-F238E27FC236}">
                <a16:creationId xmlns:a16="http://schemas.microsoft.com/office/drawing/2014/main" id="{1FDD517E-7930-40B2-8CA4-CD97C69FEEB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F302FC-5F58-4D6F-B735-B3F998EA9EAE}"/>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SER-004 응용 서비스 공통</a:t>
            </a:r>
          </a:p>
        </p:txBody>
      </p:sp>
      <p:sp>
        <p:nvSpPr>
          <p:cNvPr id="8" name="">
            <a:extLst xmlns:a="http://schemas.openxmlformats.org/drawingml/2006/main">
              <a:ext uri="{FF2B5EF4-FFF2-40B4-BE49-F238E27FC236}">
                <a16:creationId xmlns:a16="http://schemas.microsoft.com/office/drawing/2014/main" id="{9F160D64-C830-4CFC-87C3-EEAC2B5E62E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응용서비스에 공통 적용할 기능과 운영 기준 구성.</a:t>
            </a:r>
          </a:p>
        </p:txBody>
      </p:sp>
      <p:sp>
        <p:nvSpPr>
          <p:cNvPr id="9" name="">
            <a:extLst xmlns:a="http://schemas.openxmlformats.org/drawingml/2006/main">
              <a:ext uri="{FF2B5EF4-FFF2-40B4-BE49-F238E27FC236}">
                <a16:creationId xmlns:a16="http://schemas.microsoft.com/office/drawing/2014/main" id="{8C1FAFF8-EEEB-4E57-8CD0-F6B08C37FCB4}"/>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C05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개별 서비스 추가 시 공통 인증·통제·운영 기록 적용의 누락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a:t>
            </a:r>
          </a:p>
        </p:txBody>
      </p:sp>
      <p:sp>
        <p:nvSpPr>
          <p:cNvPr id="10" name="">
            <a:extLst xmlns:a="http://schemas.openxmlformats.org/drawingml/2006/main">
              <a:ext uri="{FF2B5EF4-FFF2-40B4-BE49-F238E27FC236}">
                <a16:creationId xmlns:a16="http://schemas.microsoft.com/office/drawing/2014/main" id="{58BFA992-CD08-4E4A-87D5-390D4BDD1C5C}"/>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470DC90-62DA-4BA8-9E25-7EBEEB36312E}"/>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FUR-001 [일반행정] 인사·복지 AI 서비스</a:t>
            </a:r>
          </a:p>
        </p:txBody>
      </p:sp>
      <p:sp>
        <p:nvSpPr>
          <p:cNvPr id="12" name="">
            <a:extLst xmlns:a="http://schemas.openxmlformats.org/drawingml/2006/main">
              <a:ext uri="{FF2B5EF4-FFF2-40B4-BE49-F238E27FC236}">
                <a16:creationId xmlns:a16="http://schemas.microsoft.com/office/drawing/2014/main" id="{D87C7A21-CD72-42AF-B7E4-DA4C5C3CC7AF}"/>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인사·복지 규정과 업무 지식을 활용한 직원 지원.</a:t>
            </a:r>
          </a:p>
        </p:txBody>
      </p:sp>
      <p:sp>
        <p:nvSpPr>
          <p:cNvPr id="13" name="">
            <a:extLst xmlns:a="http://schemas.openxmlformats.org/drawingml/2006/main">
              <a:ext uri="{FF2B5EF4-FFF2-40B4-BE49-F238E27FC236}">
                <a16:creationId xmlns:a16="http://schemas.microsoft.com/office/drawing/2014/main" id="{36F08B96-B6E2-452E-8A84-E7D94977FAD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근무 조건·시행일·예외 조항이 다른 질문의 근거 선택 비교</a:t>
            </a:r>
          </a:p>
        </p:txBody>
      </p:sp>
      <p:sp>
        <p:nvSpPr>
          <p:cNvPr id="14" name="">
            <a:extLst xmlns:a="http://schemas.openxmlformats.org/drawingml/2006/main">
              <a:ext uri="{FF2B5EF4-FFF2-40B4-BE49-F238E27FC236}">
                <a16:creationId xmlns:a16="http://schemas.microsoft.com/office/drawing/2014/main" id="{FAF6B835-9392-44CA-949A-7429BD8655FC}"/>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8E6C84-1537-4496-A521-9D43290C061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FUR-002 [안전관리] 안전관리 AI 서비스</a:t>
            </a:r>
          </a:p>
        </p:txBody>
      </p:sp>
      <p:sp>
        <p:nvSpPr>
          <p:cNvPr id="16" name="">
            <a:extLst xmlns:a="http://schemas.openxmlformats.org/drawingml/2006/main">
              <a:ext uri="{FF2B5EF4-FFF2-40B4-BE49-F238E27FC236}">
                <a16:creationId xmlns:a16="http://schemas.microsoft.com/office/drawing/2014/main" id="{39C3D17A-5C11-46BF-822A-D1C832A4440D}"/>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분야 자료를 활용한 업무 지원.</a:t>
            </a:r>
          </a:p>
        </p:txBody>
      </p:sp>
      <p:sp>
        <p:nvSpPr>
          <p:cNvPr id="17" name="">
            <a:extLst xmlns:a="http://schemas.openxmlformats.org/drawingml/2006/main">
              <a:ext uri="{FF2B5EF4-FFF2-40B4-BE49-F238E27FC236}">
                <a16:creationId xmlns:a16="http://schemas.microsoft.com/office/drawing/2014/main" id="{88C68B23-E8AB-4C49-9E0F-F2AB8778D2C7}"/>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현장 조건과 적용 기준의 불일치·필수 조치 누락을 포함한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토 평가</a:t>
            </a:r>
          </a:p>
        </p:txBody>
      </p:sp>
    </p:spTree>
    <p:extLst>
      <p:ext uri="{BB962C8B-B14F-4D97-AF65-F5344CB8AC3E}">
        <p14:creationId xmlns:p14="http://schemas.microsoft.com/office/powerpoint/2010/main" val="1184082909"/>
      </p:ext>
    </p:extLst>
  </p:cSld>
</p:sld>
</file>

<file path=ppt/slides/slide7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49BBEF7-4CD0-413D-9E25-6B13B523DB6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7–9</a:t>
            </a:r>
          </a:p>
        </p:txBody>
      </p:sp>
      <p:sp>
        <p:nvSpPr>
          <p:cNvPr id="2" name="">
            <a:extLst xmlns:a="http://schemas.openxmlformats.org/drawingml/2006/main">
              <a:ext uri="{FF2B5EF4-FFF2-40B4-BE49-F238E27FC236}">
                <a16:creationId xmlns:a16="http://schemas.microsoft.com/office/drawing/2014/main" id="{C100A42C-01D2-47CB-B15A-2A9B26A531C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34535933-0122-4CA3-BF85-B81E5A9FC1F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8CC8A0-8512-4427-BEB1-E61A263AA0B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A028C0F-7BA2-4526-8638-1495CA900E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79</a:t>
            </a:r>
          </a:p>
        </p:txBody>
      </p:sp>
      <p:sp>
        <p:nvSpPr>
          <p:cNvPr id="6" name="">
            <a:extLst xmlns:a="http://schemas.openxmlformats.org/drawingml/2006/main">
              <a:ext uri="{FF2B5EF4-FFF2-40B4-BE49-F238E27FC236}">
                <a16:creationId xmlns:a16="http://schemas.microsoft.com/office/drawing/2014/main" id="{433CC217-079E-4D2D-8EF5-EE369A5F6FAB}"/>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71999E7-6FC4-42B5-9A8B-A3373CA47DD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FUR-003 [석유개발] 석유 시추 정보 AI 서비스</a:t>
            </a:r>
          </a:p>
        </p:txBody>
      </p:sp>
      <p:sp>
        <p:nvSpPr>
          <p:cNvPr id="8" name="">
            <a:extLst xmlns:a="http://schemas.openxmlformats.org/drawingml/2006/main">
              <a:ext uri="{FF2B5EF4-FFF2-40B4-BE49-F238E27FC236}">
                <a16:creationId xmlns:a16="http://schemas.microsoft.com/office/drawing/2014/main" id="{D0F38DB5-3C06-462D-9635-3CA0FF855F69}"/>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시추 분야 자료와 전문 지식의 업무 활용.</a:t>
            </a:r>
          </a:p>
        </p:txBody>
      </p:sp>
      <p:sp>
        <p:nvSpPr>
          <p:cNvPr id="9" name="">
            <a:extLst xmlns:a="http://schemas.openxmlformats.org/drawingml/2006/main">
              <a:ext uri="{FF2B5EF4-FFF2-40B4-BE49-F238E27FC236}">
                <a16:creationId xmlns:a16="http://schemas.microsoft.com/office/drawing/2014/main" id="{12E151E1-AAE6-4A3D-8C0F-86231D76CFB2}"/>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전문 용어·설비 조건·단위 오류와 출처 없는 추론의 구분 평가</a:t>
            </a:r>
          </a:p>
        </p:txBody>
      </p:sp>
      <p:sp>
        <p:nvSpPr>
          <p:cNvPr id="10" name="">
            <a:extLst xmlns:a="http://schemas.openxmlformats.org/drawingml/2006/main">
              <a:ext uri="{FF2B5EF4-FFF2-40B4-BE49-F238E27FC236}">
                <a16:creationId xmlns:a16="http://schemas.microsoft.com/office/drawing/2014/main" id="{FFF2B7E1-598F-4744-A5FF-46CC9A83503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34E85DA-30EC-4BA6-8333-C0B849E03B2B}"/>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FUR-004 [석유개발] 석유 지질 정보 AI 서비스</a:t>
            </a:r>
          </a:p>
        </p:txBody>
      </p:sp>
      <p:sp>
        <p:nvSpPr>
          <p:cNvPr id="12" name="">
            <a:extLst xmlns:a="http://schemas.openxmlformats.org/drawingml/2006/main">
              <a:ext uri="{FF2B5EF4-FFF2-40B4-BE49-F238E27FC236}">
                <a16:creationId xmlns:a16="http://schemas.microsoft.com/office/drawing/2014/main" id="{C003A526-4A60-4B80-9D41-56B28C8EABA7}"/>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지질 자료와 분석 업무의 AI 지원.</a:t>
            </a:r>
          </a:p>
        </p:txBody>
      </p:sp>
      <p:sp>
        <p:nvSpPr>
          <p:cNvPr id="13" name="">
            <a:extLst xmlns:a="http://schemas.openxmlformats.org/drawingml/2006/main">
              <a:ext uri="{FF2B5EF4-FFF2-40B4-BE49-F238E27FC236}">
                <a16:creationId xmlns:a16="http://schemas.microsoft.com/office/drawing/2014/main" id="{EE96592D-04E1-4322-B9A9-56C007DE775F}"/>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서로 다른 지역·시기 자료의 혼용과 전문 수치·그림 근거 연결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확인</a:t>
            </a:r>
          </a:p>
        </p:txBody>
      </p:sp>
      <p:sp>
        <p:nvSpPr>
          <p:cNvPr id="14" name="">
            <a:extLst xmlns:a="http://schemas.openxmlformats.org/drawingml/2006/main">
              <a:ext uri="{FF2B5EF4-FFF2-40B4-BE49-F238E27FC236}">
                <a16:creationId xmlns:a16="http://schemas.microsoft.com/office/drawing/2014/main" id="{DDBBFBAC-CF58-412A-ADE7-1C4FD1008147}"/>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A21535-51E2-4E75-9B4C-0A936E09BD2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FUR-005 [석유비축] 비축설비 정비·운영 AI 서비스</a:t>
            </a:r>
          </a:p>
        </p:txBody>
      </p:sp>
      <p:sp>
        <p:nvSpPr>
          <p:cNvPr id="16" name="">
            <a:extLst xmlns:a="http://schemas.openxmlformats.org/drawingml/2006/main">
              <a:ext uri="{FF2B5EF4-FFF2-40B4-BE49-F238E27FC236}">
                <a16:creationId xmlns:a16="http://schemas.microsoft.com/office/drawing/2014/main" id="{78B70B36-49F0-41ED-8243-B2B7174D6C67}"/>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비축설비 관련 자료의 검색·업무 지원.</a:t>
            </a:r>
          </a:p>
        </p:txBody>
      </p:sp>
      <p:sp>
        <p:nvSpPr>
          <p:cNvPr id="17" name="">
            <a:extLst xmlns:a="http://schemas.openxmlformats.org/drawingml/2006/main">
              <a:ext uri="{FF2B5EF4-FFF2-40B4-BE49-F238E27FC236}">
                <a16:creationId xmlns:a16="http://schemas.microsoft.com/office/drawing/2014/main" id="{21775B21-095A-4DA4-A0CF-5B4FD1D6BFE8}"/>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설비 번호·점검 시점·부품 조건이 다른 자료의 구분과 최신 이</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력 확인</a:t>
            </a:r>
          </a:p>
        </p:txBody>
      </p:sp>
    </p:spTree>
    <p:extLst>
      <p:ext uri="{BB962C8B-B14F-4D97-AF65-F5344CB8AC3E}">
        <p14:creationId xmlns:p14="http://schemas.microsoft.com/office/powerpoint/2010/main" val="227113282"/>
      </p:ext>
    </p:extLst>
  </p:cSld>
</p:sld>
</file>

<file path=ppt/slides/slide8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3E779A-F353-4DFD-B3B2-AE21123D1E5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10–10</a:t>
            </a:r>
          </a:p>
        </p:txBody>
      </p:sp>
      <p:sp>
        <p:nvSpPr>
          <p:cNvPr id="2" name="">
            <a:extLst xmlns:a="http://schemas.openxmlformats.org/drawingml/2006/main">
              <a:ext uri="{FF2B5EF4-FFF2-40B4-BE49-F238E27FC236}">
                <a16:creationId xmlns:a16="http://schemas.microsoft.com/office/drawing/2014/main" id="{F7B148B3-31B0-4FD8-B2DF-6497E521126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8BEEF544-C0CA-47DB-BBE9-BBF4F62BED6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9C6FE5C-AE74-42F7-BAB8-4BD850F6FCA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CE22E6E-7C0B-43A7-8C46-B8021D3BDF2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80</a:t>
            </a:r>
          </a:p>
        </p:txBody>
      </p:sp>
      <p:sp>
        <p:nvSpPr>
          <p:cNvPr id="6" name="">
            <a:extLst xmlns:a="http://schemas.openxmlformats.org/drawingml/2006/main">
              <a:ext uri="{FF2B5EF4-FFF2-40B4-BE49-F238E27FC236}">
                <a16:creationId xmlns:a16="http://schemas.microsoft.com/office/drawing/2014/main" id="{079827BE-4FC6-4780-B6C5-FF4EC8AC4183}"/>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C08047D-59C4-4B8C-8272-95ED9EF8E16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FUR-006 [석유정보] 석유시장 보고서 작성 AI 서비스</a:t>
            </a:r>
          </a:p>
        </p:txBody>
      </p:sp>
      <p:sp>
        <p:nvSpPr>
          <p:cNvPr id="8" name="">
            <a:extLst xmlns:a="http://schemas.openxmlformats.org/drawingml/2006/main">
              <a:ext uri="{FF2B5EF4-FFF2-40B4-BE49-F238E27FC236}">
                <a16:creationId xmlns:a16="http://schemas.microsoft.com/office/drawing/2014/main" id="{26B6EE98-FC2E-48D4-AE38-EB18D362ABA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시장 자료를 활용한 보고서 작성 지원.</a:t>
            </a:r>
          </a:p>
        </p:txBody>
      </p:sp>
      <p:sp>
        <p:nvSpPr>
          <p:cNvPr id="9" name="">
            <a:extLst xmlns:a="http://schemas.openxmlformats.org/drawingml/2006/main">
              <a:ext uri="{FF2B5EF4-FFF2-40B4-BE49-F238E27FC236}">
                <a16:creationId xmlns:a16="http://schemas.microsoft.com/office/drawing/2014/main" id="{712D1560-517D-462B-A800-78D77C0B70AE}"/>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기준일·통화·단위 혼용, 숫자 인용, 최신 자료 누락의 항목별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a:t>
            </a:r>
          </a:p>
        </p:txBody>
      </p:sp>
    </p:spTree>
    <p:extLst>
      <p:ext uri="{BB962C8B-B14F-4D97-AF65-F5344CB8AC3E}">
        <p14:creationId xmlns:p14="http://schemas.microsoft.com/office/powerpoint/2010/main" val="947369116"/>
      </p:ext>
    </p:extLst>
  </p:cSld>
</p:sld>
</file>

<file path=ppt/slides/slide8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5D8393-FDCE-44CE-880A-B4FAEC8554A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CCK 분석 재구성 · 원문 도면 아님</a:t>
            </a:r>
          </a:p>
        </p:txBody>
      </p:sp>
      <p:sp>
        <p:nvSpPr>
          <p:cNvPr id="2" name="">
            <a:extLst xmlns:a="http://schemas.openxmlformats.org/drawingml/2006/main">
              <a:ext uri="{FF2B5EF4-FFF2-40B4-BE49-F238E27FC236}">
                <a16:creationId xmlns:a16="http://schemas.microsoft.com/office/drawing/2014/main" id="{445EAE1B-F9A4-4D7B-B001-A46D1C8C40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생성형 AI · 6개 업무 영역 재구성</a:t>
            </a:r>
          </a:p>
        </p:txBody>
      </p:sp>
      <p:sp>
        <p:nvSpPr>
          <p:cNvPr id="3" name="">
            <a:extLst xmlns:a="http://schemas.openxmlformats.org/drawingml/2006/main">
              <a:ext uri="{FF2B5EF4-FFF2-40B4-BE49-F238E27FC236}">
                <a16:creationId xmlns:a16="http://schemas.microsoft.com/office/drawing/2014/main" id="{4342959F-1687-4E14-A5A2-906E484F13F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FDAA7D-F791-4176-B510-BC5FA5DEC2D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366F302-3D68-49F9-A947-79628E3846F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81</a:t>
            </a:r>
          </a:p>
        </p:txBody>
      </p:sp>
      <p:pic>
        <p:nvPicPr>
          <p:cNvPr id="6" name="">
            <a:extLst xmlns:a="http://schemas.openxmlformats.org/drawingml/2006/main">
              <a:ext uri="{FF2B5EF4-FFF2-40B4-BE49-F238E27FC236}">
                <a16:creationId xmlns:a16="http://schemas.microsoft.com/office/drawing/2014/main" id="{69F39332-F80E-4078-ABCE-76143CD87618}"/>
              </a:ext>
            </a:extLst>
          </p:cNvPr>
          <p:cNvPicPr>
            <a:picLocks xmlns:a="http://schemas.openxmlformats.org/drawingml/2006/main" noChangeAspect="1"/>
          </p:cNvPicPr>
          <p:nvPr/>
        </p:nvPicPr>
        <p:blipFill>
          <a:blip xmlns:r="http://schemas.openxmlformats.org/officeDocument/2006/relationships" xmlns:a="http://schemas.openxmlformats.org/drawingml/2006/main" r:embed="R9fa8aa423e474058"/>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76F178C-4C17-4FEB-BBB1-BBE9DD2DEA91}"/>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정정 RFP SER-001~004·FUR-001~006 / 원문 서비스 도면 미확인</a:t>
            </a:r>
          </a:p>
        </p:txBody>
      </p:sp>
    </p:spTree>
    <p:extLst>
      <p:ext uri="{BB962C8B-B14F-4D97-AF65-F5344CB8AC3E}">
        <p14:creationId xmlns:p14="http://schemas.microsoft.com/office/powerpoint/2010/main" val="1825559759"/>
      </p:ext>
    </p:extLst>
  </p:cSld>
</p:sld>
</file>

<file path=ppt/slides/slide8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18184DA-3C39-4997-AFB1-31C306235CE9}"/>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77D69D7-8E71-4B10-9979-CE7ECC967CC1}"/>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CB18DB8-D0EA-4CE9-94BD-799BBAC6C8C0}"/>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860864E-BE54-4996-916D-2AD3F7EF6307}"/>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DCD91399-E6DD-4BE6-A8E3-B92F66A8A7B4}"/>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524D0ECB-749F-41B4-903C-520B69119FE6}"/>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D31778C4-F805-40EE-A374-4782157F45F5}"/>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492EC561-E433-4CE8-A43B-A3CA7161C37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5FBC2764-5C0F-4970-BB12-D0A07FABDD8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36F946DC-E9E8-413E-B35D-28C772DDAE5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권한·목적 판정 후 허용·차단 분기</a:t>
            </a:r>
          </a:p>
        </p:txBody>
      </p:sp>
      <p:sp>
        <p:nvSpPr>
          <p:cNvPr id="2" name="">
            <a:extLst xmlns:a="http://schemas.openxmlformats.org/drawingml/2006/main">
              <a:ext uri="{FF2B5EF4-FFF2-40B4-BE49-F238E27FC236}">
                <a16:creationId xmlns:a16="http://schemas.microsoft.com/office/drawing/2014/main" id="{4717FF8F-C5A1-42B8-A7F7-D2743F9ACA4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세부 서비스 구조</a:t>
            </a:r>
          </a:p>
        </p:txBody>
      </p:sp>
      <p:sp>
        <p:nvSpPr>
          <p:cNvPr id="3" name="">
            <a:extLst xmlns:a="http://schemas.openxmlformats.org/drawingml/2006/main">
              <a:ext uri="{FF2B5EF4-FFF2-40B4-BE49-F238E27FC236}">
                <a16:creationId xmlns:a16="http://schemas.microsoft.com/office/drawing/2014/main" id="{A7E47024-55FC-4989-BBC9-E3E0363770A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EA8077-BCE0-4672-A1D0-C3DAE2DEE87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1654C43-33D9-42B2-ABDA-AC912843AD5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82</a:t>
            </a:r>
          </a:p>
        </p:txBody>
      </p:sp>
      <p:sp>
        <p:nvSpPr>
          <p:cNvPr id="6" name="">
            <a:extLst xmlns:a="http://schemas.openxmlformats.org/drawingml/2006/main">
              <a:ext uri="{FF2B5EF4-FFF2-40B4-BE49-F238E27FC236}">
                <a16:creationId xmlns:a16="http://schemas.microsoft.com/office/drawing/2014/main" id="{287AF4EF-D025-452B-B67B-E4AEDB8AAF1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인사·안전 등 지식 → 도메인 RAG → 업무 앱·ERP → 권한·성과 관리</a:t>
            </a:r>
          </a:p>
        </p:txBody>
      </p:sp>
      <p:sp>
        <p:nvSpPr>
          <p:cNvPr id="7" name="">
            <a:extLst xmlns:a="http://schemas.openxmlformats.org/drawingml/2006/main">
              <a:ext uri="{FF2B5EF4-FFF2-40B4-BE49-F238E27FC236}">
                <a16:creationId xmlns:a16="http://schemas.microsoft.com/office/drawing/2014/main" id="{2C8B1952-19BC-4554-8C90-E117EAFBF3FC}"/>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1ED46CA-4444-4E89-9FB5-7ED5F6DB2AA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975684D5-E7AB-44DE-BB1F-EB6781C0073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직원·업무 앱</a:t>
            </a:r>
          </a:p>
        </p:txBody>
      </p:sp>
      <p:sp>
        <p:nvSpPr>
          <p:cNvPr id="10" name="">
            <a:extLst xmlns:a="http://schemas.openxmlformats.org/drawingml/2006/main">
              <a:ext uri="{FF2B5EF4-FFF2-40B4-BE49-F238E27FC236}">
                <a16:creationId xmlns:a16="http://schemas.microsoft.com/office/drawing/2014/main" id="{21AC3739-E3AA-4C06-A96A-9681FDBA13FD}"/>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D46658D-EC40-42A9-9EBD-09B9A57A3F95}"/>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EC8FA5D2-4E7B-4FEF-A1F5-22CE9F5A3DE8}"/>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사번·소속·업무</a:t>
            </a:r>
          </a:p>
        </p:txBody>
      </p:sp>
      <p:sp>
        <p:nvSpPr>
          <p:cNvPr id="13" name="">
            <a:extLst xmlns:a="http://schemas.openxmlformats.org/drawingml/2006/main">
              <a:ext uri="{FF2B5EF4-FFF2-40B4-BE49-F238E27FC236}">
                <a16:creationId xmlns:a16="http://schemas.microsoft.com/office/drawing/2014/main" id="{33D9F6F0-F493-4990-A1F2-29DCF692CF99}"/>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AF427C6-D644-4CB0-B7D0-9336BC21F335}"/>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3E704231-D0F6-4354-9143-07C1F51687CF}"/>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문서·ERP 권한</a:t>
            </a:r>
          </a:p>
        </p:txBody>
      </p:sp>
      <p:sp>
        <p:nvSpPr>
          <p:cNvPr id="16" name="">
            <a:extLst xmlns:a="http://schemas.openxmlformats.org/drawingml/2006/main">
              <a:ext uri="{FF2B5EF4-FFF2-40B4-BE49-F238E27FC236}">
                <a16:creationId xmlns:a16="http://schemas.microsoft.com/office/drawing/2014/main" id="{0C7A8433-E281-447F-88A5-FB9568F826A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910B0C2-EE9C-426E-82D7-C8565A31199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1488ECB8-A26F-45F9-8682-24F25ABCDAB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권한·근거 대조</a:t>
            </a:r>
          </a:p>
        </p:txBody>
      </p:sp>
      <p:sp>
        <p:nvSpPr>
          <p:cNvPr id="19" name="">
            <a:extLst xmlns:a="http://schemas.openxmlformats.org/drawingml/2006/main">
              <a:ext uri="{FF2B5EF4-FFF2-40B4-BE49-F238E27FC236}">
                <a16:creationId xmlns:a16="http://schemas.microsoft.com/office/drawing/2014/main" id="{C17978FC-243C-4821-9D86-B69DDBA586BA}"/>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82717AC-0D07-406C-97D4-8D2B96AF5561}"/>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A8BA06F7-057B-498F-AF96-BA4094C982A2}"/>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시추·설비·규정</a:t>
            </a:r>
          </a:p>
        </p:txBody>
      </p:sp>
      <p:sp>
        <p:nvSpPr>
          <p:cNvPr id="22" name="">
            <a:extLst xmlns:a="http://schemas.openxmlformats.org/drawingml/2006/main">
              <a:ext uri="{FF2B5EF4-FFF2-40B4-BE49-F238E27FC236}">
                <a16:creationId xmlns:a16="http://schemas.microsoft.com/office/drawing/2014/main" id="{3A5D7AA6-51F0-4FFC-A6CD-E0996784E579}"/>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DCFAF5F-1F1E-47D4-82B0-2D5538C07949}"/>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89832F41-448A-41CB-8F50-35587C5E7A4F}"/>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6개 특화 AI 처리</a:t>
            </a:r>
          </a:p>
        </p:txBody>
      </p:sp>
      <p:sp>
        <p:nvSpPr>
          <p:cNvPr id="25" name="">
            <a:extLst xmlns:a="http://schemas.openxmlformats.org/drawingml/2006/main">
              <a:ext uri="{FF2B5EF4-FFF2-40B4-BE49-F238E27FC236}">
                <a16:creationId xmlns:a16="http://schemas.microsoft.com/office/drawing/2014/main" id="{887C9EAC-F945-4EC5-B916-3137BEDCE777}"/>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A42AE33-9C62-4136-84C8-30A076122482}"/>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00A5AB67-0C2C-443F-AD7E-2EB56F2D018B}"/>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승인</a:t>
            </a:r>
          </a:p>
        </p:txBody>
      </p:sp>
      <p:sp>
        <p:nvSpPr>
          <p:cNvPr id="28" name="">
            <a:extLst xmlns:a="http://schemas.openxmlformats.org/drawingml/2006/main">
              <a:ext uri="{FF2B5EF4-FFF2-40B4-BE49-F238E27FC236}">
                <a16:creationId xmlns:a16="http://schemas.microsoft.com/office/drawing/2014/main" id="{CD51EBD7-3C80-46EF-B52C-0FA63A96F11E}"/>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DF23A8A-F42C-4264-A5F8-CB89ED1C099D}"/>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9E75AA01-D812-4C48-8256-361FE4B1126E}"/>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ERP·보고서 연계</a:t>
            </a:r>
          </a:p>
        </p:txBody>
      </p:sp>
      <p:sp>
        <p:nvSpPr>
          <p:cNvPr id="31" name="">
            <a:extLst xmlns:a="http://schemas.openxmlformats.org/drawingml/2006/main">
              <a:ext uri="{FF2B5EF4-FFF2-40B4-BE49-F238E27FC236}">
                <a16:creationId xmlns:a16="http://schemas.microsoft.com/office/drawing/2014/main" id="{001FA53D-8B80-4BEE-B1EF-9EAA35B136FF}"/>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7F0B74D-BC00-4102-9A4C-A2A99AE5CF24}"/>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660E0D32-294C-4D5E-A811-E619F479108D}"/>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도메인별 평가</a:t>
            </a:r>
          </a:p>
        </p:txBody>
      </p:sp>
      <p:sp>
        <p:nvSpPr>
          <p:cNvPr id="34" name="">
            <a:extLst xmlns:a="http://schemas.openxmlformats.org/drawingml/2006/main">
              <a:ext uri="{FF2B5EF4-FFF2-40B4-BE49-F238E27FC236}">
                <a16:creationId xmlns:a16="http://schemas.microsoft.com/office/drawing/2014/main" id="{3E38BB48-E39C-4CA3-B377-71CBEC2733A5}"/>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C9E3914-4B1B-4DBE-927A-757094AE949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516BE4BF-87D0-4886-AD1E-AF4977F5D88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도메인 RAG 색</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a:t>
            </a:r>
          </a:p>
        </p:txBody>
      </p:sp>
      <p:sp>
        <p:nvSpPr>
          <p:cNvPr id="46" name="">
            <a:extLst xmlns:a="http://schemas.openxmlformats.org/drawingml/2006/main">
              <a:ext uri="{FF2B5EF4-FFF2-40B4-BE49-F238E27FC236}">
                <a16:creationId xmlns:a16="http://schemas.microsoft.com/office/drawing/2014/main" id="{7929D85B-E161-4B11-81E8-6785CBB6B82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80132420"/>
      </p:ext>
    </p:extLst>
  </p:cSld>
</p:sld>
</file>

<file path=ppt/slides/slide8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565F10A-3F0B-48A6-B0E6-B6ACF54D721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논리 인터페이스·복구 설계</a:t>
            </a:r>
          </a:p>
        </p:txBody>
      </p:sp>
      <p:sp>
        <p:nvSpPr>
          <p:cNvPr id="2" name="">
            <a:extLst xmlns:a="http://schemas.openxmlformats.org/drawingml/2006/main">
              <a:ext uri="{FF2B5EF4-FFF2-40B4-BE49-F238E27FC236}">
                <a16:creationId xmlns:a16="http://schemas.microsoft.com/office/drawing/2014/main" id="{ABA82DDD-83B7-4F00-A5AF-947D6452272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데이터와 예외 처리</a:t>
            </a:r>
          </a:p>
        </p:txBody>
      </p:sp>
      <p:sp>
        <p:nvSpPr>
          <p:cNvPr id="3" name="">
            <a:extLst xmlns:a="http://schemas.openxmlformats.org/drawingml/2006/main">
              <a:ext uri="{FF2B5EF4-FFF2-40B4-BE49-F238E27FC236}">
                <a16:creationId xmlns:a16="http://schemas.microsoft.com/office/drawing/2014/main" id="{1CDE940B-A5C7-4779-9112-8F52F6359F5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0F0E97-AD86-4029-BD3C-359B8FCD7DD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B485ACB-E625-46E8-AF6C-BF06AE7A679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83</a:t>
            </a:r>
          </a:p>
        </p:txBody>
      </p:sp>
      <p:sp>
        <p:nvSpPr>
          <p:cNvPr id="6" name="">
            <a:extLst xmlns:a="http://schemas.openxmlformats.org/drawingml/2006/main">
              <a:ext uri="{FF2B5EF4-FFF2-40B4-BE49-F238E27FC236}">
                <a16:creationId xmlns:a16="http://schemas.microsoft.com/office/drawing/2014/main" id="{28D5DC96-5E9D-4E53-86DF-D3932892D01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90C2018-4E67-40E3-8125-73F108D565E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14594BF-DB5A-4AB8-A28A-FB066C3B446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8639CC50-66D2-4447-A911-FF904D106B7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사번·소속·직급·업무분장 기반 접근 판정</a:t>
            </a:r>
          </a:p>
        </p:txBody>
      </p:sp>
      <p:sp>
        <p:nvSpPr>
          <p:cNvPr id="10" name="">
            <a:extLst xmlns:a="http://schemas.openxmlformats.org/drawingml/2006/main">
              <a:ext uri="{FF2B5EF4-FFF2-40B4-BE49-F238E27FC236}">
                <a16:creationId xmlns:a16="http://schemas.microsoft.com/office/drawing/2014/main" id="{7C8C800B-0813-4D05-897D-E4CB5385A398}"/>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664ACB-ADF8-4831-AB66-DC45A118098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D7577B12-7E30-482C-B50A-88A5374869C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목적</a:t>
            </a:r>
          </a:p>
        </p:txBody>
      </p:sp>
      <p:sp>
        <p:nvSpPr>
          <p:cNvPr id="13" name="">
            <a:extLst xmlns:a="http://schemas.openxmlformats.org/drawingml/2006/main">
              <a:ext uri="{FF2B5EF4-FFF2-40B4-BE49-F238E27FC236}">
                <a16:creationId xmlns:a16="http://schemas.microsoft.com/office/drawing/2014/main" id="{7F36D887-F346-4A81-9AB5-9F5AAC61CF2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9925A0-DC95-43A0-BA53-71E744C7BA6A}"/>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59107CBC-FE19-4475-A41E-6628C7A8036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문서·ERP 권한</a:t>
            </a:r>
          </a:p>
        </p:txBody>
      </p:sp>
      <p:sp>
        <p:nvSpPr>
          <p:cNvPr id="16" name="">
            <a:extLst xmlns:a="http://schemas.openxmlformats.org/drawingml/2006/main">
              <a:ext uri="{FF2B5EF4-FFF2-40B4-BE49-F238E27FC236}">
                <a16:creationId xmlns:a16="http://schemas.microsoft.com/office/drawing/2014/main" id="{94959A05-8793-4DCE-BDC7-B62913B0C8E9}"/>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8EF161-50E6-4283-9388-64455F1054B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FDDC7F82-B696-4BD1-AACA-7D56CD2AEDE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19" name="">
            <a:extLst xmlns:a="http://schemas.openxmlformats.org/drawingml/2006/main">
              <a:ext uri="{FF2B5EF4-FFF2-40B4-BE49-F238E27FC236}">
                <a16:creationId xmlns:a16="http://schemas.microsoft.com/office/drawing/2014/main" id="{56FCCDCA-694F-407E-8B25-8A29C8FD199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1731957-8137-4419-89C6-14F26E79CC3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C59B8EDC-92A8-41E5-9239-9A353C7BB50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22" name="">
            <a:extLst xmlns:a="http://schemas.openxmlformats.org/drawingml/2006/main">
              <a:ext uri="{FF2B5EF4-FFF2-40B4-BE49-F238E27FC236}">
                <a16:creationId xmlns:a16="http://schemas.microsoft.com/office/drawing/2014/main" id="{97012A2E-F754-4840-AE5F-E509143F2A4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FB21D12-63F9-4378-8430-1CED27D004E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A2700C72-7AA8-46F6-990F-B8D93AB5D5F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업무 처리</a:t>
            </a:r>
          </a:p>
        </p:txBody>
      </p:sp>
      <p:sp>
        <p:nvSpPr>
          <p:cNvPr id="25" name="">
            <a:extLst xmlns:a="http://schemas.openxmlformats.org/drawingml/2006/main">
              <a:ext uri="{FF2B5EF4-FFF2-40B4-BE49-F238E27FC236}">
                <a16:creationId xmlns:a16="http://schemas.microsoft.com/office/drawing/2014/main" id="{22CDA541-16F2-4E2E-9554-35A73DD2E4B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B7BBFBB-7D14-4AC1-9A6D-99F0C5FD89C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직급·근속 변경·다른 도메인 자료·시추 원문 누락</a:t>
            </a:r>
          </a:p>
        </p:txBody>
      </p:sp>
      <p:sp>
        <p:nvSpPr>
          <p:cNvPr id="27" name="">
            <a:extLst xmlns:a="http://schemas.openxmlformats.org/drawingml/2006/main">
              <a:ext uri="{FF2B5EF4-FFF2-40B4-BE49-F238E27FC236}">
                <a16:creationId xmlns:a16="http://schemas.microsoft.com/office/drawing/2014/main" id="{1FC40A42-3EAE-4B7E-ABBA-20F1D70AF7C3}"/>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54433EE-542B-4EE4-B90F-40BB9F6702E0}"/>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도메인 경계·현업 승인·결과 대사</a:t>
            </a:r>
          </a:p>
        </p:txBody>
      </p:sp>
      <p:sp>
        <p:nvSpPr>
          <p:cNvPr id="29" name="">
            <a:extLst xmlns:a="http://schemas.openxmlformats.org/drawingml/2006/main">
              <a:ext uri="{FF2B5EF4-FFF2-40B4-BE49-F238E27FC236}">
                <a16:creationId xmlns:a16="http://schemas.microsoft.com/office/drawing/2014/main" id="{D3B40D12-F563-4A16-8DF3-571C096119E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D81886A-9FD7-42EA-AE42-1A8F1750EE9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변경 이력·도메인 평가·업무별 운영 관리</a:t>
            </a:r>
          </a:p>
        </p:txBody>
      </p:sp>
      <p:sp>
        <p:nvSpPr>
          <p:cNvPr id="31" name="">
            <a:extLst xmlns:a="http://schemas.openxmlformats.org/drawingml/2006/main">
              <a:ext uri="{FF2B5EF4-FFF2-40B4-BE49-F238E27FC236}">
                <a16:creationId xmlns:a16="http://schemas.microsoft.com/office/drawing/2014/main" id="{43C27530-9141-4F48-A6E0-18CC5F6D1780}"/>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379ADA21-944E-42C8-AA80-67D00EA11F96}"/>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라우팅·접근 결과와 원천 인용·변경 이력</a:t>
            </a:r>
          </a:p>
        </p:txBody>
      </p:sp>
    </p:spTree>
    <p:extLst>
      <p:ext uri="{BB962C8B-B14F-4D97-AF65-F5344CB8AC3E}">
        <p14:creationId xmlns:p14="http://schemas.microsoft.com/office/powerpoint/2010/main" val="1260136611"/>
      </p:ext>
    </p:extLst>
  </p:cSld>
</p:sld>
</file>

<file path=ppt/slides/slide8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DF0E7C8-28AB-4B87-8E95-06D157BCC93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CCK 비교·재현 시험 설계</a:t>
            </a:r>
          </a:p>
        </p:txBody>
      </p:sp>
      <p:sp>
        <p:nvSpPr>
          <p:cNvPr id="2" name="">
            <a:extLst xmlns:a="http://schemas.openxmlformats.org/drawingml/2006/main">
              <a:ext uri="{FF2B5EF4-FFF2-40B4-BE49-F238E27FC236}">
                <a16:creationId xmlns:a16="http://schemas.microsoft.com/office/drawing/2014/main" id="{EC9CB289-D880-46BD-B01A-FAC9E11D9B8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벤치마킹</a:t>
            </a:r>
          </a:p>
        </p:txBody>
      </p:sp>
      <p:sp>
        <p:nvSpPr>
          <p:cNvPr id="3" name="">
            <a:extLst xmlns:a="http://schemas.openxmlformats.org/drawingml/2006/main">
              <a:ext uri="{FF2B5EF4-FFF2-40B4-BE49-F238E27FC236}">
                <a16:creationId xmlns:a16="http://schemas.microsoft.com/office/drawing/2014/main" id="{AA9E122F-B017-4CA6-BC81-3F42358CF89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2140A4-8267-4AEE-B65D-0BEB6729C87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02675E2-9536-43A2-BCB4-232DBB031C6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84</a:t>
            </a:r>
          </a:p>
        </p:txBody>
      </p:sp>
      <p:sp>
        <p:nvSpPr>
          <p:cNvPr id="6" name="">
            <a:extLst xmlns:a="http://schemas.openxmlformats.org/drawingml/2006/main">
              <a:ext uri="{FF2B5EF4-FFF2-40B4-BE49-F238E27FC236}">
                <a16:creationId xmlns:a16="http://schemas.microsoft.com/office/drawing/2014/main" id="{11AAB53D-1677-4896-B3F4-1CB231906CB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8158FB5F-A867-4AA0-83A6-2C166981D2D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챗봇과 6개 도메인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지식·ERP 경로의 결합</a:t>
            </a:r>
          </a:p>
        </p:txBody>
      </p:sp>
      <p:sp>
        <p:nvSpPr>
          <p:cNvPr id="8" name="">
            <a:extLst xmlns:a="http://schemas.openxmlformats.org/drawingml/2006/main">
              <a:ext uri="{FF2B5EF4-FFF2-40B4-BE49-F238E27FC236}">
                <a16:creationId xmlns:a16="http://schemas.microsoft.com/office/drawing/2014/main" id="{710F78C8-5D93-4A06-BDB2-F589F9144AA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6F00B23-5F08-410E-A49F-3E5285FA3F5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도메인 지식의 혼합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안전·시추 권고를 자동 실행</a:t>
            </a:r>
          </a:p>
        </p:txBody>
      </p:sp>
      <p:sp>
        <p:nvSpPr>
          <p:cNvPr id="10" name="">
            <a:extLst xmlns:a="http://schemas.openxmlformats.org/drawingml/2006/main">
              <a:ext uri="{FF2B5EF4-FFF2-40B4-BE49-F238E27FC236}">
                <a16:creationId xmlns:a16="http://schemas.microsoft.com/office/drawing/2014/main" id="{2BB9230F-59D1-47A6-93EC-C5FCC6DFE7A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D86FDAC-E716-4FE3-8072-C04C0A0A61C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도메인 경계·현업 승인·결과 대사</a:t>
            </a:r>
          </a:p>
        </p:txBody>
      </p:sp>
      <p:sp>
        <p:nvSpPr>
          <p:cNvPr id="12" name="">
            <a:extLst xmlns:a="http://schemas.openxmlformats.org/drawingml/2006/main">
              <a:ext uri="{FF2B5EF4-FFF2-40B4-BE49-F238E27FC236}">
                <a16:creationId xmlns:a16="http://schemas.microsoft.com/office/drawing/2014/main" id="{856E6FF5-5128-465C-9FDE-BF654F96376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461F34B-3DB0-43A6-BBB9-5DB1733EF31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직원의 업무 목적을 6개 도메인 중 해당 앱으로 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결</a:t>
            </a:r>
          </a:p>
        </p:txBody>
      </p:sp>
      <p:sp>
        <p:nvSpPr>
          <p:cNvPr id="14" name="">
            <a:extLst xmlns:a="http://schemas.openxmlformats.org/drawingml/2006/main">
              <a:ext uri="{FF2B5EF4-FFF2-40B4-BE49-F238E27FC236}">
                <a16:creationId xmlns:a16="http://schemas.microsoft.com/office/drawing/2014/main" id="{4718FDE5-F06D-4E2E-97CD-B35F8645808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D4F67C3-3381-4F54-897F-8718065036E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직급·근속 변경·다른 도메인 자료·시추 원문 누락</a:t>
            </a:r>
          </a:p>
        </p:txBody>
      </p:sp>
      <p:sp>
        <p:nvSpPr>
          <p:cNvPr id="16" name="">
            <a:extLst xmlns:a="http://schemas.openxmlformats.org/drawingml/2006/main">
              <a:ext uri="{FF2B5EF4-FFF2-40B4-BE49-F238E27FC236}">
                <a16:creationId xmlns:a16="http://schemas.microsoft.com/office/drawing/2014/main" id="{2F613524-AC9C-4753-9C45-C7D128F7774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A410526-AF58-4B67-BFB2-FC44132FDF7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라우팅·접근 결과와 원천 인용·변경 이력</a:t>
            </a:r>
          </a:p>
        </p:txBody>
      </p:sp>
    </p:spTree>
    <p:extLst>
      <p:ext uri="{BB962C8B-B14F-4D97-AF65-F5344CB8AC3E}">
        <p14:creationId xmlns:p14="http://schemas.microsoft.com/office/powerpoint/2010/main" val="742537762"/>
      </p:ext>
    </p:extLst>
  </p:cSld>
</p:sld>
</file>

<file path=ppt/slides/slide8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8F9051A-333B-4243-9C22-76D1399DFD4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성과 미검증 / 국내</a:t>
            </a:r>
          </a:p>
        </p:txBody>
      </p:sp>
      <p:sp>
        <p:nvSpPr>
          <p:cNvPr id="2" name="">
            <a:extLst xmlns:a="http://schemas.openxmlformats.org/drawingml/2006/main">
              <a:ext uri="{FF2B5EF4-FFF2-40B4-BE49-F238E27FC236}">
                <a16:creationId xmlns:a16="http://schemas.microsoft.com/office/drawing/2014/main" id="{5053C4AB-4060-47E3-BF88-70D438856E2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a:t>
            </a:r>
          </a:p>
        </p:txBody>
      </p:sp>
      <p:sp>
        <p:nvSpPr>
          <p:cNvPr id="3" name="">
            <a:extLst xmlns:a="http://schemas.openxmlformats.org/drawingml/2006/main">
              <a:ext uri="{FF2B5EF4-FFF2-40B4-BE49-F238E27FC236}">
                <a16:creationId xmlns:a16="http://schemas.microsoft.com/office/drawing/2014/main" id="{55427DBF-E072-4238-AC9A-23030FCF3A6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B436FE-1DD3-4D34-926E-B0265EF4C54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3CA64F4-D1E8-4CA1-BE76-D99E84951A4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85</a:t>
            </a:r>
          </a:p>
        </p:txBody>
      </p:sp>
      <p:sp>
        <p:nvSpPr>
          <p:cNvPr id="6" name="">
            <a:extLst xmlns:a="http://schemas.openxmlformats.org/drawingml/2006/main">
              <a:ext uri="{FF2B5EF4-FFF2-40B4-BE49-F238E27FC236}">
                <a16:creationId xmlns:a16="http://schemas.microsoft.com/office/drawing/2014/main" id="{34D30825-7905-4E1D-982A-FFAF6B44A80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4563D83-79F0-4FF8-AFAE-50366B4D4FD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범정부 AI 공통기반과 법령비서의 시범 서비스 사례. 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통 AI 이용 환경에 법령·판례 자료를 결합해 직원의 규정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탐색과 근거 확인을 지원하는 구조.</a:t>
            </a:r>
          </a:p>
        </p:txBody>
      </p:sp>
      <p:sp>
        <p:nvSpPr>
          <p:cNvPr id="8" name="">
            <a:extLst xmlns:a="http://schemas.openxmlformats.org/drawingml/2006/main">
              <a:ext uri="{FF2B5EF4-FFF2-40B4-BE49-F238E27FC236}">
                <a16:creationId xmlns:a16="http://schemas.microsoft.com/office/drawing/2014/main" id="{1FF16B76-DBC6-4136-ABDF-ADCDA206503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BBBAA5D-FA20-496A-9AE3-030500651EC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공개된 서비스 범위에 따라 로그인·질의 문맥·법령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근거 응답·사용자 검토로 재구성. 적용 시점과 법령·판례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관계를 검색 메타데이터로 유지하고 생성 답변에서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해당 원문으로 돌아가는 확인 경로의 구성.</a:t>
            </a:r>
          </a:p>
        </p:txBody>
      </p:sp>
      <p:sp>
        <p:nvSpPr>
          <p:cNvPr id="10" name="">
            <a:extLst xmlns:a="http://schemas.openxmlformats.org/drawingml/2006/main">
              <a:ext uri="{FF2B5EF4-FFF2-40B4-BE49-F238E27FC236}">
                <a16:creationId xmlns:a16="http://schemas.microsoft.com/office/drawing/2014/main" id="{839C21B6-BC9F-4778-98AA-C6494C04186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77AFD74-1C49-4274-9C17-8B7E9596336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법령 지식의 공통 이용과 부서별 업무 책임의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연결을 구분해 추가 개발할 필요. 같은 질문의 담당 직무·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시행일별 적용 기준, 폐지·개정 조문 혼용, 근거 없는 단정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응답을 검수 대상으로 설정.</a:t>
            </a:r>
          </a:p>
        </p:txBody>
      </p:sp>
      <p:sp>
        <p:nvSpPr>
          <p:cNvPr id="12" name="">
            <a:extLst xmlns:a="http://schemas.openxmlformats.org/drawingml/2006/main">
              <a:ext uri="{FF2B5EF4-FFF2-40B4-BE49-F238E27FC236}">
                <a16:creationId xmlns:a16="http://schemas.microsoft.com/office/drawing/2014/main" id="{33E6B4FB-8AAF-4460-9004-33AA6067C87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448B470-BB62-4357-A4BF-FA7DE168E78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소관·직무·규정 판본 연결 및 부서별 정답셋</a:t>
            </a:r>
          </a:p>
        </p:txBody>
      </p:sp>
      <p:sp>
        <p:nvSpPr>
          <p:cNvPr id="14" name="">
            <a:extLst xmlns:a="http://schemas.openxmlformats.org/drawingml/2006/main">
              <a:ext uri="{FF2B5EF4-FFF2-40B4-BE49-F238E27FC236}">
                <a16:creationId xmlns:a16="http://schemas.microsoft.com/office/drawing/2014/main" id="{403A5FB8-7BBB-442E-9221-AEEE0EC0D0F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DB523DC-2D9B-4F8B-82DD-78DAB037006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규정 질의의 판본·출처·소관 일치 검증</a:t>
            </a:r>
          </a:p>
        </p:txBody>
      </p:sp>
      <p:sp>
        <p:nvSpPr>
          <p:cNvPr id="16" name="">
            <a:extLst xmlns:a="http://schemas.openxmlformats.org/drawingml/2006/main">
              <a:ext uri="{FF2B5EF4-FFF2-40B4-BE49-F238E27FC236}">
                <a16:creationId xmlns:a16="http://schemas.microsoft.com/office/drawing/2014/main" id="{757748CD-0914-4AFB-A78A-936B16142D4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A950D2B-443B-4504-BA1A-F7167CC9D11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6FF05FD8-0ECE-4E93-A5E2-A4EB1A2AB7F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시범 개시와 범정부 확산 계획의 구분 · 업무시간 절감 실측 별도</a:t>
            </a:r>
          </a:p>
        </p:txBody>
      </p:sp>
    </p:spTree>
    <p:extLst>
      <p:ext uri="{BB962C8B-B14F-4D97-AF65-F5344CB8AC3E}">
        <p14:creationId xmlns:p14="http://schemas.microsoft.com/office/powerpoint/2010/main" val="2128917042"/>
      </p:ext>
    </p:extLst>
  </p:cSld>
</p:sld>
</file>

<file path=ppt/slides/slide8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C2EA9C2-20B1-43A1-B1E7-323E78E33F1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As-Is → To-Be → 기대효과 → 확인 결과</a:t>
            </a:r>
          </a:p>
        </p:txBody>
      </p:sp>
      <p:sp>
        <p:nvSpPr>
          <p:cNvPr id="2" name="">
            <a:extLst xmlns:a="http://schemas.openxmlformats.org/drawingml/2006/main">
              <a:ext uri="{FF2B5EF4-FFF2-40B4-BE49-F238E27FC236}">
                <a16:creationId xmlns:a16="http://schemas.microsoft.com/office/drawing/2014/main" id="{B09759DF-F79B-42D5-BD5B-DFA4FBFE061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기대와 결과</a:t>
            </a:r>
          </a:p>
        </p:txBody>
      </p:sp>
      <p:sp>
        <p:nvSpPr>
          <p:cNvPr id="3" name="">
            <a:extLst xmlns:a="http://schemas.openxmlformats.org/drawingml/2006/main">
              <a:ext uri="{FF2B5EF4-FFF2-40B4-BE49-F238E27FC236}">
                <a16:creationId xmlns:a16="http://schemas.microsoft.com/office/drawing/2014/main" id="{8F485960-59E0-4F84-833A-D38FE626F76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567D3CE-55DB-43C7-B446-E3D3460D8E1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804CD70-FA7C-4E47-87CC-921AB32644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86</a:t>
            </a:r>
          </a:p>
        </p:txBody>
      </p:sp>
      <p:sp>
        <p:nvSpPr>
          <p:cNvPr id="6" name="">
            <a:extLst xmlns:a="http://schemas.openxmlformats.org/drawingml/2006/main">
              <a:ext uri="{FF2B5EF4-FFF2-40B4-BE49-F238E27FC236}">
                <a16:creationId xmlns:a16="http://schemas.microsoft.com/office/drawing/2014/main" id="{9E1D9064-D2D3-4C03-BA07-2EB6E7BDA565}"/>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DDF5B99-1B23-421A-B645-200CFCACD41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기관별 AI 도입·법령 검색 환경과 업무 지식 연결 방식이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제각각인 상태</a:t>
            </a:r>
          </a:p>
        </p:txBody>
      </p:sp>
      <p:sp>
        <p:nvSpPr>
          <p:cNvPr id="8" name="">
            <a:extLst xmlns:a="http://schemas.openxmlformats.org/drawingml/2006/main">
              <a:ext uri="{FF2B5EF4-FFF2-40B4-BE49-F238E27FC236}">
                <a16:creationId xmlns:a16="http://schemas.microsoft.com/office/drawing/2014/main" id="{3D452A39-583C-427A-9558-89C8C2E6AE11}"/>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6542C261-7FEE-43F0-BFC0-E7C489DAAA0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범정부 공통 AI 이용환경 위에 법령·판례 지식과 기관별 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령비서 업무앱을 구성</a:t>
            </a:r>
          </a:p>
        </p:txBody>
      </p:sp>
      <p:sp>
        <p:nvSpPr>
          <p:cNvPr id="10" name="">
            <a:extLst xmlns:a="http://schemas.openxmlformats.org/drawingml/2006/main">
              <a:ext uri="{FF2B5EF4-FFF2-40B4-BE49-F238E27FC236}">
                <a16:creationId xmlns:a16="http://schemas.microsoft.com/office/drawing/2014/main" id="{E4708D16-8F9E-4A1B-B97F-D5BDA21136CF}"/>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5F74786-C0EF-42FA-83C2-1557CDF92E6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구축비 감소, 법령 검색·초안 작성시간 단축, 근거 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치 향상</a:t>
            </a:r>
          </a:p>
        </p:txBody>
      </p:sp>
      <p:sp>
        <p:nvSpPr>
          <p:cNvPr id="12" name="">
            <a:extLst xmlns:a="http://schemas.openxmlformats.org/drawingml/2006/main">
              <a:ext uri="{FF2B5EF4-FFF2-40B4-BE49-F238E27FC236}">
                <a16:creationId xmlns:a16="http://schemas.microsoft.com/office/drawing/2014/main" id="{47684C8D-6AE3-4B5E-BF99-F121129F6EDB}"/>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963D707-A164-4D46-8DED-E888731AA3A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공통기반 운영과 법령비서 시범 공개. 동일 업무의 시간·오</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답·기관별 도입비 전후값 미공개</a:t>
            </a:r>
          </a:p>
        </p:txBody>
      </p:sp>
      <p:sp>
        <p:nvSpPr>
          <p:cNvPr id="14" name="">
            <a:extLst xmlns:a="http://schemas.openxmlformats.org/drawingml/2006/main">
              <a:ext uri="{FF2B5EF4-FFF2-40B4-BE49-F238E27FC236}">
                <a16:creationId xmlns:a16="http://schemas.microsoft.com/office/drawing/2014/main" id="{4E32F8CD-2EAE-40F5-ABBD-874959C1014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공통환경 및 시범 확인은 가능하나 목표한 업무효율·재사용 절감의 비교자료 부재</a:t>
            </a:r>
          </a:p>
        </p:txBody>
      </p:sp>
      <p:sp>
        <p:nvSpPr>
          <p:cNvPr id="15" name="">
            <a:extLst xmlns:a="http://schemas.openxmlformats.org/drawingml/2006/main">
              <a:ext uri="{FF2B5EF4-FFF2-40B4-BE49-F238E27FC236}">
                <a16:creationId xmlns:a16="http://schemas.microsoft.com/office/drawing/2014/main" id="{E6CDAF3D-A02A-4C55-88F9-EF003DF2996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공통기반 운영 + 업무앱 시범 · 시범 대상·범정부 확산과 공무원의 법 적용 판단을 구분</a:t>
            </a:r>
          </a:p>
        </p:txBody>
      </p:sp>
    </p:spTree>
    <p:extLst>
      <p:ext uri="{BB962C8B-B14F-4D97-AF65-F5344CB8AC3E}">
        <p14:creationId xmlns:p14="http://schemas.microsoft.com/office/powerpoint/2010/main" val="1551561500"/>
      </p:ext>
    </p:extLst>
  </p:cSld>
</p:sld>
</file>

<file path=ppt/slides/slide8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C778CBE-6463-4519-852C-98B97967E7A5}"/>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3C74C5AD-8305-458A-88C4-08F917AB08A3}"/>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80B0868-D892-4B65-8938-CBBE5388B43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46F1AB59-0962-408C-B5B2-EF0D8A6ACDD6}"/>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C1B2250-FBAF-4D6B-AA2A-FFC30B0C9DC2}"/>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5B980B4-DFCC-4999-9A3A-E4AC18219649}"/>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2AF54389-A360-4EE4-820F-E85423DD7C32}"/>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42DBE0C-49B9-4777-84DC-9C050BBF9124}"/>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2A928C0B-8171-4B97-B49F-54AD59CCF54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E8BE7679-2898-478C-AC5D-8B189DD1A59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지식 갱신·검색·근거 응답</a:t>
            </a:r>
          </a:p>
        </p:txBody>
      </p:sp>
      <p:sp>
        <p:nvSpPr>
          <p:cNvPr id="2" name="">
            <a:extLst xmlns:a="http://schemas.openxmlformats.org/drawingml/2006/main">
              <a:ext uri="{FF2B5EF4-FFF2-40B4-BE49-F238E27FC236}">
                <a16:creationId xmlns:a16="http://schemas.microsoft.com/office/drawing/2014/main" id="{1D0F6CB1-C5FB-44C9-973A-AA17E69D414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세부 서비스 구조</a:t>
            </a:r>
          </a:p>
        </p:txBody>
      </p:sp>
      <p:sp>
        <p:nvSpPr>
          <p:cNvPr id="3" name="">
            <a:extLst xmlns:a="http://schemas.openxmlformats.org/drawingml/2006/main">
              <a:ext uri="{FF2B5EF4-FFF2-40B4-BE49-F238E27FC236}">
                <a16:creationId xmlns:a16="http://schemas.microsoft.com/office/drawing/2014/main" id="{18C9EF0B-0AF3-4C2B-8D45-9F2710F7EA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F33BCD-28DB-432C-8E2B-5A9F38B2E40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C79BD9D-304A-4865-BAA9-1D1341B2AE9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87</a:t>
            </a:r>
          </a:p>
        </p:txBody>
      </p:sp>
      <p:sp>
        <p:nvSpPr>
          <p:cNvPr id="6" name="">
            <a:extLst xmlns:a="http://schemas.openxmlformats.org/drawingml/2006/main">
              <a:ext uri="{FF2B5EF4-FFF2-40B4-BE49-F238E27FC236}">
                <a16:creationId xmlns:a16="http://schemas.microsoft.com/office/drawing/2014/main" id="{90F73B71-B3FF-4259-B2C0-24F4E117178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공통 이용환경 → 공통 모델·검색 → 법령·판례 지식 → 법령비서·직원 검토</a:t>
            </a:r>
          </a:p>
        </p:txBody>
      </p:sp>
      <p:sp>
        <p:nvSpPr>
          <p:cNvPr id="7" name="">
            <a:extLst xmlns:a="http://schemas.openxmlformats.org/drawingml/2006/main">
              <a:ext uri="{FF2B5EF4-FFF2-40B4-BE49-F238E27FC236}">
                <a16:creationId xmlns:a16="http://schemas.microsoft.com/office/drawing/2014/main" id="{D4A3CFDD-96BA-4505-BAA8-DBAADD15150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5FA5CBF1-29DD-4373-8BCF-39F078AD32D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FD7505A-E5AF-42B0-B71A-C3C204E07BE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법령·문서</a:t>
            </a:r>
          </a:p>
        </p:txBody>
      </p:sp>
      <p:sp>
        <p:nvSpPr>
          <p:cNvPr id="10" name="">
            <a:extLst xmlns:a="http://schemas.openxmlformats.org/drawingml/2006/main">
              <a:ext uri="{FF2B5EF4-FFF2-40B4-BE49-F238E27FC236}">
                <a16:creationId xmlns:a16="http://schemas.microsoft.com/office/drawing/2014/main" id="{225A5CFE-02FD-4395-908D-0B3DE8A83BBB}"/>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BC039BE7-25BE-488F-B1D4-79E1BB6BD697}"/>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3820E5B0-B734-4F4B-B53A-5377A1439830}"/>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기준일·근거 정리</a:t>
            </a:r>
          </a:p>
        </p:txBody>
      </p:sp>
      <p:sp>
        <p:nvSpPr>
          <p:cNvPr id="13" name="">
            <a:extLst xmlns:a="http://schemas.openxmlformats.org/drawingml/2006/main">
              <a:ext uri="{FF2B5EF4-FFF2-40B4-BE49-F238E27FC236}">
                <a16:creationId xmlns:a16="http://schemas.microsoft.com/office/drawing/2014/main" id="{19AE56DB-2A6E-4778-87C3-8E5C3CE40C8E}"/>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1AD418DB-0771-4499-A4D6-483B9B3A607A}"/>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2CCF0FB7-E865-476C-95ED-08BD613647C1}"/>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지식·평가 자료</a:t>
            </a:r>
          </a:p>
        </p:txBody>
      </p:sp>
      <p:sp>
        <p:nvSpPr>
          <p:cNvPr id="16" name="">
            <a:extLst xmlns:a="http://schemas.openxmlformats.org/drawingml/2006/main">
              <a:ext uri="{FF2B5EF4-FFF2-40B4-BE49-F238E27FC236}">
                <a16:creationId xmlns:a16="http://schemas.microsoft.com/office/drawing/2014/main" id="{C45725BF-3872-40C1-A2E5-4F663D566AD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70CC19E-505B-4C4B-A52B-F1063A90A61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7D812C58-CFE8-4B9C-9E41-4F8448DC0A62}"/>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법령·판례 검색</a:t>
            </a:r>
          </a:p>
        </p:txBody>
      </p:sp>
      <p:sp>
        <p:nvSpPr>
          <p:cNvPr id="19" name="">
            <a:extLst xmlns:a="http://schemas.openxmlformats.org/drawingml/2006/main">
              <a:ext uri="{FF2B5EF4-FFF2-40B4-BE49-F238E27FC236}">
                <a16:creationId xmlns:a16="http://schemas.microsoft.com/office/drawing/2014/main" id="{21ACE711-1922-4634-AD75-4EF319ACA7B2}"/>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5C87E7D-C614-4BB0-A716-991506A6A9DC}"/>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3759F8D5-99BC-4905-B833-670153A6553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직원 접점</a:t>
            </a:r>
          </a:p>
        </p:txBody>
      </p:sp>
      <p:sp>
        <p:nvSpPr>
          <p:cNvPr id="22" name="">
            <a:extLst xmlns:a="http://schemas.openxmlformats.org/drawingml/2006/main">
              <a:ext uri="{FF2B5EF4-FFF2-40B4-BE49-F238E27FC236}">
                <a16:creationId xmlns:a16="http://schemas.microsoft.com/office/drawing/2014/main" id="{7EDB56DB-4A89-4ABF-B282-4E161EA499D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3755442F-3E4C-4ACB-81D0-5BF1F1A77688}"/>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3540482-64ED-4F6F-A86F-A1563406A6B0}"/>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질의·적용시점</a:t>
            </a:r>
          </a:p>
        </p:txBody>
      </p:sp>
      <p:sp>
        <p:nvSpPr>
          <p:cNvPr id="25" name="">
            <a:extLst xmlns:a="http://schemas.openxmlformats.org/drawingml/2006/main">
              <a:ext uri="{FF2B5EF4-FFF2-40B4-BE49-F238E27FC236}">
                <a16:creationId xmlns:a16="http://schemas.microsoft.com/office/drawing/2014/main" id="{D70CA147-A2F2-408D-A1FD-CA6A349F4F2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7326947-DC15-4DCA-9578-75BAF090F978}"/>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F8DD2CBF-0EE4-4ACE-8CED-0CF1EF9B85B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공통 AI·법령비서</a:t>
            </a:r>
          </a:p>
        </p:txBody>
      </p:sp>
      <p:sp>
        <p:nvSpPr>
          <p:cNvPr id="28" name="">
            <a:extLst xmlns:a="http://schemas.openxmlformats.org/drawingml/2006/main">
              <a:ext uri="{FF2B5EF4-FFF2-40B4-BE49-F238E27FC236}">
                <a16:creationId xmlns:a16="http://schemas.microsoft.com/office/drawing/2014/main" id="{3D21557D-423D-45DA-BACD-16D230D0F22F}"/>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E29D8BD-3F81-4AC9-B8E5-A12544B13D4C}"/>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1C7A7C5A-BE81-460A-A0EB-9C1937F954B7}"/>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조문·시점 대조</a:t>
            </a:r>
          </a:p>
        </p:txBody>
      </p:sp>
      <p:sp>
        <p:nvSpPr>
          <p:cNvPr id="31" name="">
            <a:extLst xmlns:a="http://schemas.openxmlformats.org/drawingml/2006/main">
              <a:ext uri="{FF2B5EF4-FFF2-40B4-BE49-F238E27FC236}">
                <a16:creationId xmlns:a16="http://schemas.microsoft.com/office/drawing/2014/main" id="{87DA4B26-500B-413A-A9DE-C36C3B6AB79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14008F3-58DA-431B-9B92-9DDD23B5E4E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9CDAD849-D58E-4F47-BD80-34B797743EF2}"/>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법제 담당 검토</a:t>
            </a:r>
          </a:p>
        </p:txBody>
      </p:sp>
      <p:sp>
        <p:nvSpPr>
          <p:cNvPr id="34" name="">
            <a:extLst xmlns:a="http://schemas.openxmlformats.org/drawingml/2006/main">
              <a:ext uri="{FF2B5EF4-FFF2-40B4-BE49-F238E27FC236}">
                <a16:creationId xmlns:a16="http://schemas.microsoft.com/office/drawing/2014/main" id="{0F626AAC-2EBB-4AAA-838B-C43279EE4621}"/>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D639ED2-45A6-49D1-9237-6A7529B31A9C}"/>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2ED120A6-12ED-41FB-88DC-E9FD42C2E00C}"/>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문서 참고</a:t>
            </a:r>
          </a:p>
        </p:txBody>
      </p:sp>
      <p:sp>
        <p:nvSpPr>
          <p:cNvPr id="46" name="">
            <a:extLst xmlns:a="http://schemas.openxmlformats.org/drawingml/2006/main">
              <a:ext uri="{FF2B5EF4-FFF2-40B4-BE49-F238E27FC236}">
                <a16:creationId xmlns:a16="http://schemas.microsoft.com/office/drawing/2014/main" id="{6B48D0E5-008D-4CE5-87E8-27A1CE46905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545990908"/>
      </p:ext>
    </p:extLst>
  </p:cSld>
</p:sld>
</file>

<file path=ppt/slides/slide8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AE199E8-7C70-42BE-AE9F-391FFE37557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논리 인터페이스·복구 설계</a:t>
            </a:r>
          </a:p>
        </p:txBody>
      </p:sp>
      <p:sp>
        <p:nvSpPr>
          <p:cNvPr id="2" name="">
            <a:extLst xmlns:a="http://schemas.openxmlformats.org/drawingml/2006/main">
              <a:ext uri="{FF2B5EF4-FFF2-40B4-BE49-F238E27FC236}">
                <a16:creationId xmlns:a16="http://schemas.microsoft.com/office/drawing/2014/main" id="{39E01039-1940-4454-9ECC-6673882F997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데이터와 예외 처리</a:t>
            </a:r>
          </a:p>
        </p:txBody>
      </p:sp>
      <p:sp>
        <p:nvSpPr>
          <p:cNvPr id="3" name="">
            <a:extLst xmlns:a="http://schemas.openxmlformats.org/drawingml/2006/main">
              <a:ext uri="{FF2B5EF4-FFF2-40B4-BE49-F238E27FC236}">
                <a16:creationId xmlns:a16="http://schemas.microsoft.com/office/drawing/2014/main" id="{8AB21EC0-BE98-423C-B83B-49C077759B0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86C1678-2656-409A-9C52-628227A79E6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831C830-B50D-44F5-AF4D-8BB03B12019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88</a:t>
            </a:r>
          </a:p>
        </p:txBody>
      </p:sp>
      <p:sp>
        <p:nvSpPr>
          <p:cNvPr id="6" name="">
            <a:extLst xmlns:a="http://schemas.openxmlformats.org/drawingml/2006/main">
              <a:ext uri="{FF2B5EF4-FFF2-40B4-BE49-F238E27FC236}">
                <a16:creationId xmlns:a16="http://schemas.microsoft.com/office/drawing/2014/main" id="{8C0CB74B-9842-42C7-95B3-82E882EF25D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7EC1154-DE71-435F-9DC5-EE35E98CAB2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C26AC6B-E411-4597-B7D0-B0BD151CB92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B9C8F7CD-3BDD-4F42-9C41-AED59EAFC61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법령·판례 지식</a:t>
            </a:r>
          </a:p>
        </p:txBody>
      </p:sp>
      <p:sp>
        <p:nvSpPr>
          <p:cNvPr id="10" name="">
            <a:extLst xmlns:a="http://schemas.openxmlformats.org/drawingml/2006/main">
              <a:ext uri="{FF2B5EF4-FFF2-40B4-BE49-F238E27FC236}">
                <a16:creationId xmlns:a16="http://schemas.microsoft.com/office/drawing/2014/main" id="{19CE6847-B977-43CF-AD98-417482ED86F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3B011A0-2DFD-4813-A866-438CBEC587A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E6F995C0-45FE-4300-96B9-F2E30544865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13E7E29C-D37A-4707-892C-D2A986545F4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C09D062-A614-416D-A5A7-4E1708516AA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589B2A81-6E49-4C87-A540-535BCAE7A95B}"/>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계정·업무 질의·적용 시점 구성</a:t>
            </a:r>
          </a:p>
        </p:txBody>
      </p:sp>
      <p:sp>
        <p:nvSpPr>
          <p:cNvPr id="16" name="">
            <a:extLst xmlns:a="http://schemas.openxmlformats.org/drawingml/2006/main">
              <a:ext uri="{FF2B5EF4-FFF2-40B4-BE49-F238E27FC236}">
                <a16:creationId xmlns:a16="http://schemas.microsoft.com/office/drawing/2014/main" id="{1159F923-4355-4783-B633-8C814CDDFB49}"/>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2E8752F-8201-4C9C-9EDF-C315AD17185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412750C7-7721-4566-953A-706480421AFD}"/>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조문·시점·소관 정답셋과 검토자 판정</a:t>
            </a:r>
          </a:p>
        </p:txBody>
      </p:sp>
      <p:sp>
        <p:nvSpPr>
          <p:cNvPr id="19" name="">
            <a:extLst xmlns:a="http://schemas.openxmlformats.org/drawingml/2006/main">
              <a:ext uri="{FF2B5EF4-FFF2-40B4-BE49-F238E27FC236}">
                <a16:creationId xmlns:a16="http://schemas.microsoft.com/office/drawing/2014/main" id="{F11780D9-DE98-446E-9226-C8E5D7A96E6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2F00B02-67D5-4892-84EB-730A50D27CDA}"/>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FE35EF5-4FC0-46C2-8F88-DE9E791B156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근거</a:t>
            </a:r>
          </a:p>
        </p:txBody>
      </p:sp>
      <p:sp>
        <p:nvSpPr>
          <p:cNvPr id="22" name="">
            <a:extLst xmlns:a="http://schemas.openxmlformats.org/drawingml/2006/main">
              <a:ext uri="{FF2B5EF4-FFF2-40B4-BE49-F238E27FC236}">
                <a16:creationId xmlns:a16="http://schemas.microsoft.com/office/drawing/2014/main" id="{989A357A-4B32-49F7-855F-614F9F803E6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41FF18B-D0BD-47D8-9BFA-9951F0B6EFC5}"/>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07D2313E-8DCF-4D08-91B0-ABCF71D1632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답변</a:t>
            </a:r>
          </a:p>
        </p:txBody>
      </p:sp>
      <p:sp>
        <p:nvSpPr>
          <p:cNvPr id="25" name="">
            <a:extLst xmlns:a="http://schemas.openxmlformats.org/drawingml/2006/main">
              <a:ext uri="{FF2B5EF4-FFF2-40B4-BE49-F238E27FC236}">
                <a16:creationId xmlns:a16="http://schemas.microsoft.com/office/drawing/2014/main" id="{613F3944-27AC-480E-B988-7E6B00A8FA7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0C99FD1-54A1-45BF-8180-320236807B7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조문·유사 명칭 법률·소관 차이</a:t>
            </a:r>
          </a:p>
        </p:txBody>
      </p:sp>
      <p:sp>
        <p:nvSpPr>
          <p:cNvPr id="27" name="">
            <a:extLst xmlns:a="http://schemas.openxmlformats.org/drawingml/2006/main">
              <a:ext uri="{FF2B5EF4-FFF2-40B4-BE49-F238E27FC236}">
                <a16:creationId xmlns:a16="http://schemas.microsoft.com/office/drawing/2014/main" id="{AA7BD9E1-A32B-460B-891E-0DB25865524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7B8D0800-E33D-40E8-BDC4-A1C64CA2E473}"/>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적용 시점·소관·근거 일치</a:t>
            </a:r>
          </a:p>
        </p:txBody>
      </p:sp>
      <p:sp>
        <p:nvSpPr>
          <p:cNvPr id="29" name="">
            <a:extLst xmlns:a="http://schemas.openxmlformats.org/drawingml/2006/main">
              <a:ext uri="{FF2B5EF4-FFF2-40B4-BE49-F238E27FC236}">
                <a16:creationId xmlns:a16="http://schemas.microsoft.com/office/drawing/2014/main" id="{45AF7111-AC90-4405-B3E8-9F84DD87791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268F94C-B690-452C-A3B1-FEF97926535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시범 질의의 정답·근거·사용성 평가</a:t>
            </a:r>
          </a:p>
        </p:txBody>
      </p:sp>
      <p:sp>
        <p:nvSpPr>
          <p:cNvPr id="31" name="">
            <a:extLst xmlns:a="http://schemas.openxmlformats.org/drawingml/2006/main">
              <a:ext uri="{FF2B5EF4-FFF2-40B4-BE49-F238E27FC236}">
                <a16:creationId xmlns:a16="http://schemas.microsoft.com/office/drawing/2014/main" id="{C9F79DE6-7BA3-4DC8-869A-49D2FA3A882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A5A9F56D-0BAB-4BD8-A648-1A6402D3255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조문·시점·소관 정답셋과 검토자 판정</a:t>
            </a:r>
          </a:p>
        </p:txBody>
      </p:sp>
    </p:spTree>
    <p:extLst>
      <p:ext uri="{BB962C8B-B14F-4D97-AF65-F5344CB8AC3E}">
        <p14:creationId xmlns:p14="http://schemas.microsoft.com/office/powerpoint/2010/main" val="787036509"/>
      </p:ext>
    </p:extLst>
  </p:cSld>
</p:sld>
</file>

<file path=ppt/slides/slide8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AE3A944-18FB-4880-B191-9603041F4CA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CCK 비교·재현 시험 설계</a:t>
            </a:r>
          </a:p>
        </p:txBody>
      </p:sp>
      <p:sp>
        <p:nvSpPr>
          <p:cNvPr id="2" name="">
            <a:extLst xmlns:a="http://schemas.openxmlformats.org/drawingml/2006/main">
              <a:ext uri="{FF2B5EF4-FFF2-40B4-BE49-F238E27FC236}">
                <a16:creationId xmlns:a16="http://schemas.microsoft.com/office/drawing/2014/main" id="{B2A9C62C-A874-4F8A-96C8-9EF8A6230A2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벤치마킹</a:t>
            </a:r>
          </a:p>
        </p:txBody>
      </p:sp>
      <p:sp>
        <p:nvSpPr>
          <p:cNvPr id="3" name="">
            <a:extLst xmlns:a="http://schemas.openxmlformats.org/drawingml/2006/main">
              <a:ext uri="{FF2B5EF4-FFF2-40B4-BE49-F238E27FC236}">
                <a16:creationId xmlns:a16="http://schemas.microsoft.com/office/drawing/2014/main" id="{3C0554CE-5C57-4D0B-91FA-098C6D6AA7B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890AFD8-CB9A-449B-9FEB-DCFC291A508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6064167-5C90-4324-BFAB-32715A6EE7C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89</a:t>
            </a:r>
          </a:p>
        </p:txBody>
      </p:sp>
      <p:sp>
        <p:nvSpPr>
          <p:cNvPr id="6" name="">
            <a:extLst xmlns:a="http://schemas.openxmlformats.org/drawingml/2006/main">
              <a:ext uri="{FF2B5EF4-FFF2-40B4-BE49-F238E27FC236}">
                <a16:creationId xmlns:a16="http://schemas.microsoft.com/office/drawing/2014/main" id="{268CB093-1B67-4D2B-A3BA-E34F6BF1F00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3B09E65-3D3C-4334-A50A-349D2ED2EF6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이용환경의 공동 활용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법령비서 등 업무 앱 결합</a:t>
            </a:r>
          </a:p>
        </p:txBody>
      </p:sp>
      <p:sp>
        <p:nvSpPr>
          <p:cNvPr id="8" name="">
            <a:extLst xmlns:a="http://schemas.openxmlformats.org/drawingml/2006/main">
              <a:ext uri="{FF2B5EF4-FFF2-40B4-BE49-F238E27FC236}">
                <a16:creationId xmlns:a16="http://schemas.microsoft.com/office/drawing/2014/main" id="{65D18D25-286A-49E1-B7D7-12B35F29F83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7BBAB16-E178-43A6-A60A-3AA1CF372E2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답변과 적용 조문 판단의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서비스의 성과 일반화</a:t>
            </a:r>
          </a:p>
        </p:txBody>
      </p:sp>
      <p:sp>
        <p:nvSpPr>
          <p:cNvPr id="10" name="">
            <a:extLst xmlns:a="http://schemas.openxmlformats.org/drawingml/2006/main">
              <a:ext uri="{FF2B5EF4-FFF2-40B4-BE49-F238E27FC236}">
                <a16:creationId xmlns:a16="http://schemas.microsoft.com/office/drawing/2014/main" id="{977D872D-86BE-4857-BF91-02C9853A775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58496E7-B449-4A28-8ABA-D8592CD37E8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적용 시점·소관·근거 일치</a:t>
            </a:r>
          </a:p>
        </p:txBody>
      </p:sp>
      <p:sp>
        <p:nvSpPr>
          <p:cNvPr id="12" name="">
            <a:extLst xmlns:a="http://schemas.openxmlformats.org/drawingml/2006/main">
              <a:ext uri="{FF2B5EF4-FFF2-40B4-BE49-F238E27FC236}">
                <a16:creationId xmlns:a16="http://schemas.microsoft.com/office/drawing/2014/main" id="{4D7FF928-46CD-4492-80A3-2113C5EAE94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2AAC52D-B4D3-4F9D-940B-EA3BB19BFA9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적용 업무와 시점에 맞는 법령·판례 근거 검토</a:t>
            </a:r>
          </a:p>
        </p:txBody>
      </p:sp>
      <p:sp>
        <p:nvSpPr>
          <p:cNvPr id="14" name="">
            <a:extLst xmlns:a="http://schemas.openxmlformats.org/drawingml/2006/main">
              <a:ext uri="{FF2B5EF4-FFF2-40B4-BE49-F238E27FC236}">
                <a16:creationId xmlns:a16="http://schemas.microsoft.com/office/drawing/2014/main" id="{D701C4F1-6645-4DBE-AB57-1B88F18BA59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31959CC-D100-496A-9E0F-604607C5EC2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조문·유사 명칭 법률·소관 차이</a:t>
            </a:r>
          </a:p>
        </p:txBody>
      </p:sp>
      <p:sp>
        <p:nvSpPr>
          <p:cNvPr id="16" name="">
            <a:extLst xmlns:a="http://schemas.openxmlformats.org/drawingml/2006/main">
              <a:ext uri="{FF2B5EF4-FFF2-40B4-BE49-F238E27FC236}">
                <a16:creationId xmlns:a16="http://schemas.microsoft.com/office/drawing/2014/main" id="{268FC7C6-7184-4BE5-A280-503BE34A2CA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3981005-B1D0-4295-910A-6BC24DB1830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조문·시점·소관 정답셋과 검토자 판정</a:t>
            </a:r>
          </a:p>
        </p:txBody>
      </p:sp>
    </p:spTree>
    <p:extLst>
      <p:ext uri="{BB962C8B-B14F-4D97-AF65-F5344CB8AC3E}">
        <p14:creationId xmlns:p14="http://schemas.microsoft.com/office/powerpoint/2010/main" val="1034329246"/>
      </p:ext>
    </p:extLst>
  </p:cSld>
</p:sld>
</file>

<file path=ppt/slides/slide9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00A8D70-FCE1-45EE-9A67-3C5C8DFA3DE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성과 미검증 / 국내</a:t>
            </a:r>
          </a:p>
        </p:txBody>
      </p:sp>
      <p:sp>
        <p:nvSpPr>
          <p:cNvPr id="2" name="">
            <a:extLst xmlns:a="http://schemas.openxmlformats.org/drawingml/2006/main">
              <a:ext uri="{FF2B5EF4-FFF2-40B4-BE49-F238E27FC236}">
                <a16:creationId xmlns:a16="http://schemas.microsoft.com/office/drawing/2014/main" id="{2C1CAD61-6863-487E-90D6-3D20D23DAB5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a:t>
            </a:r>
          </a:p>
        </p:txBody>
      </p:sp>
      <p:sp>
        <p:nvSpPr>
          <p:cNvPr id="3" name="">
            <a:extLst xmlns:a="http://schemas.openxmlformats.org/drawingml/2006/main">
              <a:ext uri="{FF2B5EF4-FFF2-40B4-BE49-F238E27FC236}">
                <a16:creationId xmlns:a16="http://schemas.microsoft.com/office/drawing/2014/main" id="{072277D5-5E4E-46A6-8B79-3DCC0301CE4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CBB32AC-FE63-4479-97AF-DF448CD6310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C945931-DA46-472F-A655-8DC7BDD72F7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90</a:t>
            </a:r>
          </a:p>
        </p:txBody>
      </p:sp>
      <p:sp>
        <p:nvSpPr>
          <p:cNvPr id="6" name="">
            <a:extLst xmlns:a="http://schemas.openxmlformats.org/drawingml/2006/main">
              <a:ext uri="{FF2B5EF4-FFF2-40B4-BE49-F238E27FC236}">
                <a16:creationId xmlns:a16="http://schemas.microsoft.com/office/drawing/2014/main" id="{D7905FEC-CFC8-41FA-85F4-A542DFB99322}"/>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7984374-09C7-47BA-A801-DE290BEA1950}"/>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한국전력의 사내표준 AI 플랫폼 사례. 직원의 표준 질의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 근거 조문을 연결하고 표준 개정 검토와 전자결재까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 이어지는 업무 지원 구조.</a:t>
            </a:r>
          </a:p>
        </p:txBody>
      </p:sp>
      <p:sp>
        <p:nvSpPr>
          <p:cNvPr id="8" name="">
            <a:extLst xmlns:a="http://schemas.openxmlformats.org/drawingml/2006/main">
              <a:ext uri="{FF2B5EF4-FFF2-40B4-BE49-F238E27FC236}">
                <a16:creationId xmlns:a16="http://schemas.microsoft.com/office/drawing/2014/main" id="{7168F660-F4E3-4B8B-BB4F-81EA0EB6181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B6AE9A8-4C3F-4E8C-883A-31B8DB294FFA}"/>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표준 문서의 조문·판본을 검색 단위로 구성하고 질의 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답에 근거를 제시하는 흐름. 개정 검토에서는 변경 대상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 관련 조문을 비교하고 검토자가 확인한 내용을 결재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과정으로 연결하는 논리 설계.</a:t>
            </a:r>
          </a:p>
        </p:txBody>
      </p:sp>
      <p:sp>
        <p:nvSpPr>
          <p:cNvPr id="10" name="">
            <a:extLst xmlns:a="http://schemas.openxmlformats.org/drawingml/2006/main">
              <a:ext uri="{FF2B5EF4-FFF2-40B4-BE49-F238E27FC236}">
                <a16:creationId xmlns:a16="http://schemas.microsoft.com/office/drawing/2014/main" id="{0D88D67F-0020-4443-B335-12FCB922394B}"/>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86C178E-3E78-41C0-8476-7926628A4AF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 참고할 지점은 검색 결과가 규정 개정·결재 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무로 이어지는 연결. TS 지침의 시행일·관련 조항·개정 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임 부서를 함께 관리하고 최신 조문 검색, 개정 영향 누락,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승인 전 반영을 각각 시험할 필요.</a:t>
            </a:r>
          </a:p>
        </p:txBody>
      </p:sp>
      <p:sp>
        <p:nvSpPr>
          <p:cNvPr id="12" name="">
            <a:extLst xmlns:a="http://schemas.openxmlformats.org/drawingml/2006/main">
              <a:ext uri="{FF2B5EF4-FFF2-40B4-BE49-F238E27FC236}">
                <a16:creationId xmlns:a16="http://schemas.microsoft.com/office/drawing/2014/main" id="{61C8BC58-1AF1-4A0C-B6AB-31B316FFF88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F8662139-09C4-4EFA-B67F-A0B98830B079}"/>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규정 개정 영향 업무 탐색 / 폐지 지식 차단 / 승인판본 배포</a:t>
            </a:r>
          </a:p>
        </p:txBody>
      </p:sp>
      <p:sp>
        <p:nvSpPr>
          <p:cNvPr id="14" name="">
            <a:extLst xmlns:a="http://schemas.openxmlformats.org/drawingml/2006/main">
              <a:ext uri="{FF2B5EF4-FFF2-40B4-BE49-F238E27FC236}">
                <a16:creationId xmlns:a16="http://schemas.microsoft.com/office/drawing/2014/main" id="{DCEF4D97-464F-4C31-BF3C-4972C12FF52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A4A2FEC7-43E8-4F04-B1DC-366F79BC1A4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전후 질문의 판본 일치 및 영향 업무 재평가</a:t>
            </a:r>
          </a:p>
        </p:txBody>
      </p:sp>
      <p:sp>
        <p:nvSpPr>
          <p:cNvPr id="16" name="">
            <a:extLst xmlns:a="http://schemas.openxmlformats.org/drawingml/2006/main">
              <a:ext uri="{FF2B5EF4-FFF2-40B4-BE49-F238E27FC236}">
                <a16:creationId xmlns:a16="http://schemas.microsoft.com/office/drawing/2014/main" id="{6D3DCF5E-7FBC-47AD-A463-B0CFB774D0D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1CB1C83-8017-4257-9D03-C66B0445430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CD352DAD-EB97-4CF2-BA7C-A581126D248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문서번호·답변 근거의 정비 부담 공개 · 제시된 절감 기대와 실측 성과의 구분</a:t>
            </a:r>
          </a:p>
        </p:txBody>
      </p:sp>
    </p:spTree>
    <p:extLst>
      <p:ext uri="{BB962C8B-B14F-4D97-AF65-F5344CB8AC3E}">
        <p14:creationId xmlns:p14="http://schemas.microsoft.com/office/powerpoint/2010/main" val="1691743214"/>
      </p:ext>
    </p:extLst>
  </p:cSld>
</p:sld>
</file>

<file path=ppt/slides/slide9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3A30F06-90C1-4F7D-B5ED-040804DFE53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As-Is → To-Be → 기대효과 → 확인 결과</a:t>
            </a:r>
          </a:p>
        </p:txBody>
      </p:sp>
      <p:sp>
        <p:nvSpPr>
          <p:cNvPr id="2" name="">
            <a:extLst xmlns:a="http://schemas.openxmlformats.org/drawingml/2006/main">
              <a:ext uri="{FF2B5EF4-FFF2-40B4-BE49-F238E27FC236}">
                <a16:creationId xmlns:a16="http://schemas.microsoft.com/office/drawing/2014/main" id="{88DA30FE-CA5C-4EA0-A6FF-ACBDA3BFF3D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기대와 결과</a:t>
            </a:r>
          </a:p>
        </p:txBody>
      </p:sp>
      <p:sp>
        <p:nvSpPr>
          <p:cNvPr id="3" name="">
            <a:extLst xmlns:a="http://schemas.openxmlformats.org/drawingml/2006/main">
              <a:ext uri="{FF2B5EF4-FFF2-40B4-BE49-F238E27FC236}">
                <a16:creationId xmlns:a16="http://schemas.microsoft.com/office/drawing/2014/main" id="{4DACF4ED-6272-4B33-BC8F-BA01C6BF89B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6E78AA2-C745-4878-9ADE-9D10AE2C567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834285B-ABDC-4034-BC7D-F397F20FBCD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91</a:t>
            </a:r>
          </a:p>
        </p:txBody>
      </p:sp>
      <p:sp>
        <p:nvSpPr>
          <p:cNvPr id="6" name="">
            <a:extLst xmlns:a="http://schemas.openxmlformats.org/drawingml/2006/main">
              <a:ext uri="{FF2B5EF4-FFF2-40B4-BE49-F238E27FC236}">
                <a16:creationId xmlns:a16="http://schemas.microsoft.com/office/drawing/2014/main" id="{15C5C5EC-6037-41F4-9D9C-0EC756B0128F}"/>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5C5DF532-3D91-4F74-B914-4C8F66E32ABD}"/>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사내표준 원문·개정 이력 검색과 변경 검토·전자결재가 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작업에 의존</a:t>
            </a:r>
          </a:p>
        </p:txBody>
      </p:sp>
      <p:sp>
        <p:nvSpPr>
          <p:cNvPr id="8" name="">
            <a:extLst xmlns:a="http://schemas.openxmlformats.org/drawingml/2006/main">
              <a:ext uri="{FF2B5EF4-FFF2-40B4-BE49-F238E27FC236}">
                <a16:creationId xmlns:a16="http://schemas.microsoft.com/office/drawing/2014/main" id="{BF36B900-709B-44C8-8E83-FF27BB355D6A}"/>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842D870D-E302-43A5-8F40-6DB633100B5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표준 조문·판본 색인과 AI 질의응답, 개정 영향 검토, 소관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 결재를 하나의 업무 흐름으로 연결</a:t>
            </a:r>
          </a:p>
        </p:txBody>
      </p:sp>
      <p:sp>
        <p:nvSpPr>
          <p:cNvPr id="10" name="">
            <a:extLst xmlns:a="http://schemas.openxmlformats.org/drawingml/2006/main">
              <a:ext uri="{FF2B5EF4-FFF2-40B4-BE49-F238E27FC236}">
                <a16:creationId xmlns:a16="http://schemas.microsoft.com/office/drawing/2014/main" id="{F0C79747-3A33-4CB3-93E3-C9A34D5C2844}"/>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1BB483BA-C322-4E98-992B-732E1F84B559}"/>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표준 검색·개정 검토시간 감소와 구판 인용 오류 축소</a:t>
            </a:r>
          </a:p>
        </p:txBody>
      </p:sp>
      <p:sp>
        <p:nvSpPr>
          <p:cNvPr id="12" name="">
            <a:extLst xmlns:a="http://schemas.openxmlformats.org/drawingml/2006/main">
              <a:ext uri="{FF2B5EF4-FFF2-40B4-BE49-F238E27FC236}">
                <a16:creationId xmlns:a16="http://schemas.microsoft.com/office/drawing/2014/main" id="{780823BC-040E-43F8-9533-7FC644C0DBFA}"/>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9B63FC71-2FC9-419F-9469-4CEDFDDADE40}"/>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사보에서 플랫폼 정식 운영과 근거 정비 부담 설명.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절감 기대치는 있으나 독립 전후 측정 미확인</a:t>
            </a:r>
          </a:p>
        </p:txBody>
      </p:sp>
      <p:sp>
        <p:nvSpPr>
          <p:cNvPr id="14" name="">
            <a:extLst xmlns:a="http://schemas.openxmlformats.org/drawingml/2006/main">
              <a:ext uri="{FF2B5EF4-FFF2-40B4-BE49-F238E27FC236}">
                <a16:creationId xmlns:a16="http://schemas.microsoft.com/office/drawing/2014/main" id="{389CBEBC-C9C6-4D2E-AFFB-D40D63ECCF15}"/>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실사용은 확인되지만 표준 업무의 품질·시간 개선 수치가 기준선과 대조되지 않음</a:t>
            </a:r>
          </a:p>
        </p:txBody>
      </p:sp>
      <p:sp>
        <p:nvSpPr>
          <p:cNvPr id="15" name="">
            <a:extLst xmlns:a="http://schemas.openxmlformats.org/drawingml/2006/main">
              <a:ext uri="{FF2B5EF4-FFF2-40B4-BE49-F238E27FC236}">
                <a16:creationId xmlns:a16="http://schemas.microsoft.com/office/drawing/2014/main" id="{857DEB6C-BCFC-4713-A80C-8E0A1EFFEB2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기관 발표·운영 · 승인 전 개정안과 효력 있는 판본 분리 필요; 기관의 기대효과를 실현 절감으로 기재 금지</a:t>
            </a:r>
          </a:p>
        </p:txBody>
      </p:sp>
    </p:spTree>
    <p:extLst>
      <p:ext uri="{BB962C8B-B14F-4D97-AF65-F5344CB8AC3E}">
        <p14:creationId xmlns:p14="http://schemas.microsoft.com/office/powerpoint/2010/main" val="1245394981"/>
      </p:ext>
    </p:extLst>
  </p:cSld>
</p:sld>
</file>

<file path=ppt/slides/slide9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5D735885-8955-4370-941C-362EB7A8B5FF}"/>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B8AB52A-AF2A-47BA-B7F5-83DBF998E5B4}"/>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28296E87-6CE9-4BD3-98D6-80E4E0887685}"/>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CAD9C1C-4F61-4309-8E14-8F7E159A5532}"/>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A0A31D0-E03B-4E00-A334-8A5A33A89CB5}"/>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D6235F1-F026-4A42-9D44-A524B728804B}"/>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457BE4AB-76EC-41E3-A24C-D09DEDBCD36A}"/>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76BA6BBF-DB5D-4CCE-8A8D-7B7B5A7E36E2}"/>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D06D8E09-9DA0-48BB-A223-F0CF8873AF9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25F99495-94DE-4AD0-AB31-BF750691777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원문 추출·대조·사람 확정</a:t>
            </a:r>
          </a:p>
        </p:txBody>
      </p:sp>
      <p:sp>
        <p:nvSpPr>
          <p:cNvPr id="2" name="">
            <a:extLst xmlns:a="http://schemas.openxmlformats.org/drawingml/2006/main">
              <a:ext uri="{FF2B5EF4-FFF2-40B4-BE49-F238E27FC236}">
                <a16:creationId xmlns:a16="http://schemas.microsoft.com/office/drawing/2014/main" id="{CFAC2606-6F6F-471A-B712-7B5DBDE5BCB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세부 서비스 구조</a:t>
            </a:r>
          </a:p>
        </p:txBody>
      </p:sp>
      <p:sp>
        <p:nvSpPr>
          <p:cNvPr id="3" name="">
            <a:extLst xmlns:a="http://schemas.openxmlformats.org/drawingml/2006/main">
              <a:ext uri="{FF2B5EF4-FFF2-40B4-BE49-F238E27FC236}">
                <a16:creationId xmlns:a16="http://schemas.microsoft.com/office/drawing/2014/main" id="{414CDB42-86F2-4B59-B67C-EA18E412191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255234-C189-4E56-94C0-10096234E48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6611B3C-23C7-4675-9507-CF9A480DEB1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92</a:t>
            </a:r>
          </a:p>
        </p:txBody>
      </p:sp>
      <p:sp>
        <p:nvSpPr>
          <p:cNvPr id="6" name="">
            <a:extLst xmlns:a="http://schemas.openxmlformats.org/drawingml/2006/main">
              <a:ext uri="{FF2B5EF4-FFF2-40B4-BE49-F238E27FC236}">
                <a16:creationId xmlns:a16="http://schemas.microsoft.com/office/drawing/2014/main" id="{6EB9F70F-2740-4DD4-9624-45C4AFF1594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사내표준 정비 → 근거 질의·응답 → 개정·오류 점검 → 전자결재·담당 검토</a:t>
            </a:r>
          </a:p>
        </p:txBody>
      </p:sp>
      <p:sp>
        <p:nvSpPr>
          <p:cNvPr id="7" name="">
            <a:extLst xmlns:a="http://schemas.openxmlformats.org/drawingml/2006/main">
              <a:ext uri="{FF2B5EF4-FFF2-40B4-BE49-F238E27FC236}">
                <a16:creationId xmlns:a16="http://schemas.microsoft.com/office/drawing/2014/main" id="{0C70FD0F-7969-4F09-B874-16F8F582B0D6}"/>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B6E88F2-AECD-4EBB-A973-47F8B45E7C2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6A5AE798-D100-45B0-8024-02C926E5B6E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사내표준 질의</a:t>
            </a:r>
          </a:p>
        </p:txBody>
      </p:sp>
      <p:sp>
        <p:nvSpPr>
          <p:cNvPr id="10" name="">
            <a:extLst xmlns:a="http://schemas.openxmlformats.org/drawingml/2006/main">
              <a:ext uri="{FF2B5EF4-FFF2-40B4-BE49-F238E27FC236}">
                <a16:creationId xmlns:a16="http://schemas.microsoft.com/office/drawing/2014/main" id="{1CE4B3ED-EBA2-4E92-B7D3-614B7740A156}"/>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AA25DFA6-F2B4-4DCC-BBE8-969A4EF4937F}"/>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276F0ABD-040A-40A7-9182-0FF327E15199}"/>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 대조·초안</a:t>
            </a:r>
          </a:p>
        </p:txBody>
      </p:sp>
      <p:sp>
        <p:nvSpPr>
          <p:cNvPr id="13" name="">
            <a:extLst xmlns:a="http://schemas.openxmlformats.org/drawingml/2006/main">
              <a:ext uri="{FF2B5EF4-FFF2-40B4-BE49-F238E27FC236}">
                <a16:creationId xmlns:a16="http://schemas.microsoft.com/office/drawing/2014/main" id="{C9BED296-D74C-4247-BFF9-02AA8A9744B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1CDA447-D419-4DEC-A2D0-A657D452061F}"/>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8D6970E7-CC6C-4DAE-86A2-DA2A2BFC6BCE}"/>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영향·판본 검사</a:t>
            </a:r>
          </a:p>
        </p:txBody>
      </p:sp>
      <p:sp>
        <p:nvSpPr>
          <p:cNvPr id="16" name="">
            <a:extLst xmlns:a="http://schemas.openxmlformats.org/drawingml/2006/main">
              <a:ext uri="{FF2B5EF4-FFF2-40B4-BE49-F238E27FC236}">
                <a16:creationId xmlns:a16="http://schemas.microsoft.com/office/drawing/2014/main" id="{B18FBFF1-24F2-44F7-A32D-2BB8C7752B0C}"/>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8AADEB9-0C0E-4FC1-871B-7AC487BB8852}"/>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D5894F11-50EC-4EDA-8F1F-D8B0C57D078E}"/>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소관부서 검토</a:t>
            </a:r>
          </a:p>
        </p:txBody>
      </p:sp>
      <p:sp>
        <p:nvSpPr>
          <p:cNvPr id="19" name="">
            <a:extLst xmlns:a="http://schemas.openxmlformats.org/drawingml/2006/main">
              <a:ext uri="{FF2B5EF4-FFF2-40B4-BE49-F238E27FC236}">
                <a16:creationId xmlns:a16="http://schemas.microsoft.com/office/drawing/2014/main" id="{28D525BB-A8A0-4A08-907D-08CCEBA3CA5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B087FD6-483B-4877-894B-01C6246719C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1E091220-D047-45E7-B650-C996D0B63E2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전자결재 연결</a:t>
            </a:r>
          </a:p>
        </p:txBody>
      </p:sp>
      <p:sp>
        <p:nvSpPr>
          <p:cNvPr id="22" name="">
            <a:extLst xmlns:a="http://schemas.openxmlformats.org/drawingml/2006/main">
              <a:ext uri="{FF2B5EF4-FFF2-40B4-BE49-F238E27FC236}">
                <a16:creationId xmlns:a16="http://schemas.microsoft.com/office/drawing/2014/main" id="{E40BC008-2BC4-42CE-8994-A51009280758}"/>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F2B5E36F-4238-4738-8E6C-0DCD109F5F1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D6D76A1D-9944-49FA-B1C3-D1868D1C49B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사내표준·개정이력</a:t>
            </a:r>
          </a:p>
        </p:txBody>
      </p:sp>
      <p:sp>
        <p:nvSpPr>
          <p:cNvPr id="25" name="">
            <a:extLst xmlns:a="http://schemas.openxmlformats.org/drawingml/2006/main">
              <a:ext uri="{FF2B5EF4-FFF2-40B4-BE49-F238E27FC236}">
                <a16:creationId xmlns:a16="http://schemas.microsoft.com/office/drawing/2014/main" id="{3AF16110-2B44-43E0-915F-5C6D858FED54}"/>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BC28506-74BC-440E-BBCC-6958105204B4}"/>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8AFE922F-27CE-4518-A552-B38970EB2275}"/>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조문·효력일 정합화</a:t>
            </a:r>
          </a:p>
        </p:txBody>
      </p:sp>
      <p:sp>
        <p:nvSpPr>
          <p:cNvPr id="28" name="">
            <a:extLst xmlns:a="http://schemas.openxmlformats.org/drawingml/2006/main">
              <a:ext uri="{FF2B5EF4-FFF2-40B4-BE49-F238E27FC236}">
                <a16:creationId xmlns:a16="http://schemas.microsoft.com/office/drawing/2014/main" id="{BB9FD268-F1B0-4281-89FE-352608983F1D}"/>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67EB744-3F72-4274-99C6-51E126AB78BA}"/>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885ED224-2939-41BB-AD2E-B46A81FA423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표준 검색</a:t>
            </a:r>
          </a:p>
        </p:txBody>
      </p:sp>
      <p:sp>
        <p:nvSpPr>
          <p:cNvPr id="31" name="">
            <a:extLst xmlns:a="http://schemas.openxmlformats.org/drawingml/2006/main">
              <a:ext uri="{FF2B5EF4-FFF2-40B4-BE49-F238E27FC236}">
                <a16:creationId xmlns:a16="http://schemas.microsoft.com/office/drawing/2014/main" id="{365E1C10-528A-400D-A11D-A354FD621E97}"/>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93203BB-45AB-4317-801B-436B452F522D}"/>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69697669-1052-449F-AC68-8C45469EEEC5}"/>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표준·개정 후보</a:t>
            </a:r>
          </a:p>
        </p:txBody>
      </p:sp>
      <p:sp>
        <p:nvSpPr>
          <p:cNvPr id="34" name="">
            <a:extLst xmlns:a="http://schemas.openxmlformats.org/drawingml/2006/main">
              <a:ext uri="{FF2B5EF4-FFF2-40B4-BE49-F238E27FC236}">
                <a16:creationId xmlns:a16="http://schemas.microsoft.com/office/drawing/2014/main" id="{55F5FBCF-5284-4814-8296-BAB6D10B95E9}"/>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7640FC6-1B1C-49EC-B2A4-09A6E0D1A8A0}"/>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4349D26-355F-4643-9316-05F7631030C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승인본 갱신</a:t>
            </a:r>
          </a:p>
        </p:txBody>
      </p:sp>
      <p:sp>
        <p:nvSpPr>
          <p:cNvPr id="46" name="">
            <a:extLst xmlns:a="http://schemas.openxmlformats.org/drawingml/2006/main">
              <a:ext uri="{FF2B5EF4-FFF2-40B4-BE49-F238E27FC236}">
                <a16:creationId xmlns:a16="http://schemas.microsoft.com/office/drawing/2014/main" id="{154D6027-4F34-40F6-B054-C7E7A5F2009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272214729"/>
      </p:ext>
    </p:extLst>
  </p:cSld>
</p:sld>
</file>

<file path=ppt/slides/slide9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ED83918-505F-4003-9CEC-0F9AE5E9158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논리 인터페이스·복구 설계</a:t>
            </a:r>
          </a:p>
        </p:txBody>
      </p:sp>
      <p:sp>
        <p:nvSpPr>
          <p:cNvPr id="2" name="">
            <a:extLst xmlns:a="http://schemas.openxmlformats.org/drawingml/2006/main">
              <a:ext uri="{FF2B5EF4-FFF2-40B4-BE49-F238E27FC236}">
                <a16:creationId xmlns:a16="http://schemas.microsoft.com/office/drawing/2014/main" id="{F364281E-67C2-4439-8116-50D4FD8E009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데이터와 예외 처리</a:t>
            </a:r>
          </a:p>
        </p:txBody>
      </p:sp>
      <p:sp>
        <p:nvSpPr>
          <p:cNvPr id="3" name="">
            <a:extLst xmlns:a="http://schemas.openxmlformats.org/drawingml/2006/main">
              <a:ext uri="{FF2B5EF4-FFF2-40B4-BE49-F238E27FC236}">
                <a16:creationId xmlns:a16="http://schemas.microsoft.com/office/drawing/2014/main" id="{4E65BE50-22E8-47F5-90E8-C740CCD0A87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97E61E-3942-4A53-8A7A-2030095A4B4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851B8C1-B4D3-40DD-845E-71EA666AB77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93</a:t>
            </a:r>
          </a:p>
        </p:txBody>
      </p:sp>
      <p:sp>
        <p:nvSpPr>
          <p:cNvPr id="6" name="">
            <a:extLst xmlns:a="http://schemas.openxmlformats.org/drawingml/2006/main">
              <a:ext uri="{FF2B5EF4-FFF2-40B4-BE49-F238E27FC236}">
                <a16:creationId xmlns:a16="http://schemas.microsoft.com/office/drawing/2014/main" id="{9FFEDA6D-C494-43F0-8F0A-3255D9DBF96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0D29CA1-BF69-4955-8052-C91728D46D6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2B2EA63-5E30-4E70-9CEA-C6756D78ADB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6970C899-6BEA-4F90-A400-E37C9BF717D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사내표준·개정 이력</a:t>
            </a:r>
          </a:p>
        </p:txBody>
      </p:sp>
      <p:sp>
        <p:nvSpPr>
          <p:cNvPr id="10" name="">
            <a:extLst xmlns:a="http://schemas.openxmlformats.org/drawingml/2006/main">
              <a:ext uri="{FF2B5EF4-FFF2-40B4-BE49-F238E27FC236}">
                <a16:creationId xmlns:a16="http://schemas.microsoft.com/office/drawing/2014/main" id="{3582273F-3E23-4518-B704-A106BCB75E6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7CE39D-2928-4692-9F10-B95BF40D3B8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E2FE05FE-1265-49D2-996E-CCEC1F33351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00E6293E-1E4A-452A-A28E-79E72CA9FDC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290C61F-5734-4E64-BED0-84A77937855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8F98B5D9-3C50-48BC-8556-44CACD38659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개정·오류 후보</a:t>
            </a:r>
          </a:p>
        </p:txBody>
      </p:sp>
      <p:sp>
        <p:nvSpPr>
          <p:cNvPr id="16" name="">
            <a:extLst xmlns:a="http://schemas.openxmlformats.org/drawingml/2006/main">
              <a:ext uri="{FF2B5EF4-FFF2-40B4-BE49-F238E27FC236}">
                <a16:creationId xmlns:a16="http://schemas.microsoft.com/office/drawing/2014/main" id="{6D715544-53BB-4025-8398-184F5597BBA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930DC83-B43E-4727-9943-9EB756BC62D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7ACC9943-4956-48BF-A234-8A62935AB0D6}"/>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조문</a:t>
            </a:r>
          </a:p>
        </p:txBody>
      </p:sp>
      <p:sp>
        <p:nvSpPr>
          <p:cNvPr id="19" name="">
            <a:extLst xmlns:a="http://schemas.openxmlformats.org/drawingml/2006/main">
              <a:ext uri="{FF2B5EF4-FFF2-40B4-BE49-F238E27FC236}">
                <a16:creationId xmlns:a16="http://schemas.microsoft.com/office/drawing/2014/main" id="{8907F6AD-AB36-4BDB-96E5-303C211EC14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57DB779-0920-4131-BC16-26BE321798C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73DA2D65-4166-40CB-AD35-F9681557FCF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개정·오류 후보</a:t>
            </a:r>
          </a:p>
        </p:txBody>
      </p:sp>
      <p:sp>
        <p:nvSpPr>
          <p:cNvPr id="22" name="">
            <a:extLst xmlns:a="http://schemas.openxmlformats.org/drawingml/2006/main">
              <a:ext uri="{FF2B5EF4-FFF2-40B4-BE49-F238E27FC236}">
                <a16:creationId xmlns:a16="http://schemas.microsoft.com/office/drawing/2014/main" id="{A76BD61B-0E06-4C9B-9AD3-14A2DBEA386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80D2BD1-2A04-4519-B714-B86B2386931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2A9464EB-5E00-4BB1-9235-0F6A475ED80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결재 검토</a:t>
            </a:r>
          </a:p>
        </p:txBody>
      </p:sp>
      <p:sp>
        <p:nvSpPr>
          <p:cNvPr id="25" name="">
            <a:extLst xmlns:a="http://schemas.openxmlformats.org/drawingml/2006/main">
              <a:ext uri="{FF2B5EF4-FFF2-40B4-BE49-F238E27FC236}">
                <a16:creationId xmlns:a16="http://schemas.microsoft.com/office/drawing/2014/main" id="{A18CCE0D-DFB4-4B4E-8784-99EA1F73412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E166707-60AE-4AFC-838E-D69300FE872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미승인 개정안·참조 조문 삭제·구판 재인용</a:t>
            </a:r>
          </a:p>
        </p:txBody>
      </p:sp>
      <p:sp>
        <p:nvSpPr>
          <p:cNvPr id="27" name="">
            <a:extLst xmlns:a="http://schemas.openxmlformats.org/drawingml/2006/main">
              <a:ext uri="{FF2B5EF4-FFF2-40B4-BE49-F238E27FC236}">
                <a16:creationId xmlns:a16="http://schemas.microsoft.com/office/drawing/2014/main" id="{9CB4D639-60EE-4914-A5EF-9AFE5B147DF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365AF1B-CF75-423D-9F28-3A969B93BDEB}"/>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 판본·효력일·영향 조문 대사</a:t>
            </a:r>
          </a:p>
        </p:txBody>
      </p:sp>
      <p:sp>
        <p:nvSpPr>
          <p:cNvPr id="29" name="">
            <a:extLst xmlns:a="http://schemas.openxmlformats.org/drawingml/2006/main">
              <a:ext uri="{FF2B5EF4-FFF2-40B4-BE49-F238E27FC236}">
                <a16:creationId xmlns:a16="http://schemas.microsoft.com/office/drawing/2014/main" id="{DD9D6DF4-6C4E-4BF4-8BA1-1CE5A2FDFB9A}"/>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62BBC88E-096A-4621-B4FD-29B095EDBB9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승인본 반영·구판 회수·개정 영향 점검</a:t>
            </a:r>
          </a:p>
        </p:txBody>
      </p:sp>
      <p:sp>
        <p:nvSpPr>
          <p:cNvPr id="31" name="">
            <a:extLst xmlns:a="http://schemas.openxmlformats.org/drawingml/2006/main">
              <a:ext uri="{FF2B5EF4-FFF2-40B4-BE49-F238E27FC236}">
                <a16:creationId xmlns:a16="http://schemas.microsoft.com/office/drawing/2014/main" id="{2FE7E63A-1445-429F-A2DF-EDEB42C1C160}"/>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D571CFC-4643-4325-B58D-C3B67FCB9F4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판본별 변경·영향·결재·색인 반영 연결표</a:t>
            </a:r>
          </a:p>
        </p:txBody>
      </p:sp>
    </p:spTree>
    <p:extLst>
      <p:ext uri="{BB962C8B-B14F-4D97-AF65-F5344CB8AC3E}">
        <p14:creationId xmlns:p14="http://schemas.microsoft.com/office/powerpoint/2010/main" val="934171500"/>
      </p:ext>
    </p:extLst>
  </p:cSld>
</p:sld>
</file>

<file path=ppt/slides/slide9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D18C223-B4E5-4F19-A8AA-2EAF3203663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CCK 비교·재현 시험 설계</a:t>
            </a:r>
          </a:p>
        </p:txBody>
      </p:sp>
      <p:sp>
        <p:nvSpPr>
          <p:cNvPr id="2" name="">
            <a:extLst xmlns:a="http://schemas.openxmlformats.org/drawingml/2006/main">
              <a:ext uri="{FF2B5EF4-FFF2-40B4-BE49-F238E27FC236}">
                <a16:creationId xmlns:a16="http://schemas.microsoft.com/office/drawing/2014/main" id="{F5867F99-22E0-416F-81B2-2B8ED9595E3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벤치마킹</a:t>
            </a:r>
          </a:p>
        </p:txBody>
      </p:sp>
      <p:sp>
        <p:nvSpPr>
          <p:cNvPr id="3" name="">
            <a:extLst xmlns:a="http://schemas.openxmlformats.org/drawingml/2006/main">
              <a:ext uri="{FF2B5EF4-FFF2-40B4-BE49-F238E27FC236}">
                <a16:creationId xmlns:a16="http://schemas.microsoft.com/office/drawing/2014/main" id="{95695ECE-6684-4003-892C-81CE0F69D94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3D99C2-FE3F-40AA-BD77-8751233F1E1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2F6F098-AF1B-4A23-9F9F-EA3D3FD5CDA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94</a:t>
            </a:r>
          </a:p>
        </p:txBody>
      </p:sp>
      <p:sp>
        <p:nvSpPr>
          <p:cNvPr id="6" name="">
            <a:extLst xmlns:a="http://schemas.openxmlformats.org/drawingml/2006/main">
              <a:ext uri="{FF2B5EF4-FFF2-40B4-BE49-F238E27FC236}">
                <a16:creationId xmlns:a16="http://schemas.microsoft.com/office/drawing/2014/main" id="{43452899-E108-41EF-AC89-6222CF772C3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7F68BE21-AA66-4483-88E4-1608998DDF3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사내표준 검색과 개정 검토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전자결재 흐름에서의 활용</a:t>
            </a:r>
          </a:p>
        </p:txBody>
      </p:sp>
      <p:sp>
        <p:nvSpPr>
          <p:cNvPr id="8" name="">
            <a:extLst xmlns:a="http://schemas.openxmlformats.org/drawingml/2006/main">
              <a:ext uri="{FF2B5EF4-FFF2-40B4-BE49-F238E27FC236}">
                <a16:creationId xmlns:a16="http://schemas.microsoft.com/office/drawing/2014/main" id="{0A8618D2-9BB6-4D99-9C8F-1C052103398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84F2DD86-5C60-4162-BBDC-BBC3E9D7640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규정 판본·효력일 불일치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개정 초안의 무승인 배포</a:t>
            </a:r>
          </a:p>
        </p:txBody>
      </p:sp>
      <p:sp>
        <p:nvSpPr>
          <p:cNvPr id="10" name="">
            <a:extLst xmlns:a="http://schemas.openxmlformats.org/drawingml/2006/main">
              <a:ext uri="{FF2B5EF4-FFF2-40B4-BE49-F238E27FC236}">
                <a16:creationId xmlns:a16="http://schemas.microsoft.com/office/drawing/2014/main" id="{8D5C1766-734D-4B72-857A-D9B58D24DDC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5DCB8804-4107-49B8-A486-B946EE2DD6A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승인 판본·효력일·영향 조문 대사</a:t>
            </a:r>
          </a:p>
        </p:txBody>
      </p:sp>
      <p:sp>
        <p:nvSpPr>
          <p:cNvPr id="12" name="">
            <a:extLst xmlns:a="http://schemas.openxmlformats.org/drawingml/2006/main">
              <a:ext uri="{FF2B5EF4-FFF2-40B4-BE49-F238E27FC236}">
                <a16:creationId xmlns:a16="http://schemas.microsoft.com/office/drawing/2014/main" id="{47C96596-2531-45F4-968D-74FF4DE9975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EB72C20-89DD-4B6B-B266-E466946FA0D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특정 사내표준을 개정하고 영향 조문을 검토해 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재</a:t>
            </a:r>
          </a:p>
        </p:txBody>
      </p:sp>
      <p:sp>
        <p:nvSpPr>
          <p:cNvPr id="14" name="">
            <a:extLst xmlns:a="http://schemas.openxmlformats.org/drawingml/2006/main">
              <a:ext uri="{FF2B5EF4-FFF2-40B4-BE49-F238E27FC236}">
                <a16:creationId xmlns:a16="http://schemas.microsoft.com/office/drawing/2014/main" id="{078633F6-9248-4082-806F-166BC317C77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A575347-0052-4D7B-9481-9AA316830BD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미승인 개정안·참조 조문 삭제·구판 재인용</a:t>
            </a:r>
          </a:p>
        </p:txBody>
      </p:sp>
      <p:sp>
        <p:nvSpPr>
          <p:cNvPr id="16" name="">
            <a:extLst xmlns:a="http://schemas.openxmlformats.org/drawingml/2006/main">
              <a:ext uri="{FF2B5EF4-FFF2-40B4-BE49-F238E27FC236}">
                <a16:creationId xmlns:a16="http://schemas.microsoft.com/office/drawing/2014/main" id="{881B641E-481D-4A74-BA2F-C7400E09C61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988B427-CA2A-48BA-8AEA-B86DA0BCA3F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판본별 변경·영향·결재·색인 반영 연결표</a:t>
            </a:r>
          </a:p>
        </p:txBody>
      </p:sp>
    </p:spTree>
    <p:extLst>
      <p:ext uri="{BB962C8B-B14F-4D97-AF65-F5344CB8AC3E}">
        <p14:creationId xmlns:p14="http://schemas.microsoft.com/office/powerpoint/2010/main" val="1111392636"/>
      </p:ext>
    </p:extLst>
  </p:cSld>
</p:sld>
</file>

<file path=ppt/slides/slide9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CEA639E-EA38-4398-97D1-509A236ECB6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성과 미검증 / 국내</a:t>
            </a:r>
          </a:p>
        </p:txBody>
      </p:sp>
      <p:sp>
        <p:nvSpPr>
          <p:cNvPr id="2" name="">
            <a:extLst xmlns:a="http://schemas.openxmlformats.org/drawingml/2006/main">
              <a:ext uri="{FF2B5EF4-FFF2-40B4-BE49-F238E27FC236}">
                <a16:creationId xmlns:a16="http://schemas.microsoft.com/office/drawing/2014/main" id="{3E09B761-75E1-492A-A9BF-EF8A0C7C02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a:t>
            </a:r>
          </a:p>
        </p:txBody>
      </p:sp>
      <p:sp>
        <p:nvSpPr>
          <p:cNvPr id="3" name="">
            <a:extLst xmlns:a="http://schemas.openxmlformats.org/drawingml/2006/main">
              <a:ext uri="{FF2B5EF4-FFF2-40B4-BE49-F238E27FC236}">
                <a16:creationId xmlns:a16="http://schemas.microsoft.com/office/drawing/2014/main" id="{B79E8593-D596-4FE9-BB6B-1B7C3243335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837964-5C22-43D8-B363-42CC4E568FF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FE233B9-071C-41E5-994C-BEE313B1927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95</a:t>
            </a:r>
          </a:p>
        </p:txBody>
      </p:sp>
      <p:sp>
        <p:nvSpPr>
          <p:cNvPr id="6" name="">
            <a:extLst xmlns:a="http://schemas.openxmlformats.org/drawingml/2006/main">
              <a:ext uri="{FF2B5EF4-FFF2-40B4-BE49-F238E27FC236}">
                <a16:creationId xmlns:a16="http://schemas.microsoft.com/office/drawing/2014/main" id="{C2E6E007-974F-4C58-9991-08F4953BBA0E}"/>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74B33E3-6247-4EDA-84EC-9AA8996DD53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해외 인프라 사업 산출물의 검색과 업무별 에이전트 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용을 기관 공통 서비스로 구성하는 요구. 사업·부서마다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보유 문서와 접근조건이 달라 문서 수집 단계부터 소유·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권한·업무 문맥을 연결해야 하는 유형.</a:t>
            </a:r>
          </a:p>
        </p:txBody>
      </p:sp>
      <p:sp>
        <p:nvSpPr>
          <p:cNvPr id="8" name="">
            <a:extLst xmlns:a="http://schemas.openxmlformats.org/drawingml/2006/main">
              <a:ext uri="{FF2B5EF4-FFF2-40B4-BE49-F238E27FC236}">
                <a16:creationId xmlns:a16="http://schemas.microsoft.com/office/drawing/2014/main" id="{D01CB3D0-A293-47FD-9A25-64AF2B5122C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5B93587-1FB6-43D5-AE2D-094A8E6B35CA}"/>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RFP 사업범위의 핵심은 문서 메타데이터 자동 부착, 청</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킹, 하이브리드 검색의 동적 권한 필터, API 기반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에이전트. 검색 결과를 나중에 가리는 방식보다 검색 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보를 구성할 때 허용 자료만 전달하는 설계가 주요 비교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지점.</a:t>
            </a:r>
          </a:p>
        </p:txBody>
      </p:sp>
      <p:sp>
        <p:nvSpPr>
          <p:cNvPr id="10" name="">
            <a:extLst xmlns:a="http://schemas.openxmlformats.org/drawingml/2006/main">
              <a:ext uri="{FF2B5EF4-FFF2-40B4-BE49-F238E27FC236}">
                <a16:creationId xmlns:a16="http://schemas.microsoft.com/office/drawing/2014/main" id="{4899B52F-EA26-402C-853F-247E5CFE410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AD40D45-BEF6-4814-ABAE-4F545AA2123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기관 공통 RAG를 재사용하면서 공식 조직·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 ID와 문서 권한을 추가 연결하는 범위로 구체화. 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보·겸직·사업 종료·문서 회수에 따른 색인과 캐시의 갱신,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도구별 실행권한을 별도 검수할 필요.</a:t>
            </a:r>
          </a:p>
        </p:txBody>
      </p:sp>
      <p:sp>
        <p:nvSpPr>
          <p:cNvPr id="12" name="">
            <a:extLst xmlns:a="http://schemas.openxmlformats.org/drawingml/2006/main">
              <a:ext uri="{FF2B5EF4-FFF2-40B4-BE49-F238E27FC236}">
                <a16:creationId xmlns:a16="http://schemas.microsoft.com/office/drawing/2014/main" id="{6C13B2B8-6C02-4514-AA96-FEB5FD6F78E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62CAD44-2226-4677-AC06-E59C559481E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사업·문서·청크 메타데이터 / 동적 권한 필터 / 부서별 API 어댑</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터</a:t>
            </a:r>
          </a:p>
        </p:txBody>
      </p:sp>
      <p:sp>
        <p:nvSpPr>
          <p:cNvPr id="14" name="">
            <a:extLst xmlns:a="http://schemas.openxmlformats.org/drawingml/2006/main">
              <a:ext uri="{FF2B5EF4-FFF2-40B4-BE49-F238E27FC236}">
                <a16:creationId xmlns:a16="http://schemas.microsoft.com/office/drawing/2014/main" id="{842649B1-1BDB-4053-9844-A53DE965765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7D49103-FE43-4B0F-8C16-324393A359D7}"/>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암호문서·권한 회수·메타데이터 누락 상태에서 검색 결과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원천 대사</a:t>
            </a:r>
          </a:p>
        </p:txBody>
      </p:sp>
      <p:sp>
        <p:nvSpPr>
          <p:cNvPr id="16" name="">
            <a:extLst xmlns:a="http://schemas.openxmlformats.org/drawingml/2006/main">
              <a:ext uri="{FF2B5EF4-FFF2-40B4-BE49-F238E27FC236}">
                <a16:creationId xmlns:a16="http://schemas.microsoft.com/office/drawing/2014/main" id="{A6CD65FF-D0F4-4364-9C65-B4706B053C8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EB69E7F-9622-456C-AAF4-9600208EC6A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권한 오노출 / 근거 일치율 / 지식 갱신 지연</a:t>
            </a:r>
          </a:p>
        </p:txBody>
      </p:sp>
      <p:sp>
        <p:nvSpPr>
          <p:cNvPr id="18" name="">
            <a:extLst xmlns:a="http://schemas.openxmlformats.org/drawingml/2006/main">
              <a:ext uri="{FF2B5EF4-FFF2-40B4-BE49-F238E27FC236}">
                <a16:creationId xmlns:a16="http://schemas.microsoft.com/office/drawing/2014/main" id="{D880BA26-E84F-402C-B604-D5E5753B603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로컬 PUBLIC 원본 재사용 사례. 최신 계약·검수·운영 상황은 별도 확인 필요</a:t>
            </a:r>
          </a:p>
        </p:txBody>
      </p:sp>
    </p:spTree>
    <p:extLst>
      <p:ext uri="{BB962C8B-B14F-4D97-AF65-F5344CB8AC3E}">
        <p14:creationId xmlns:p14="http://schemas.microsoft.com/office/powerpoint/2010/main" val="1609542996"/>
      </p:ext>
    </p:extLst>
  </p:cSld>
</p:sld>
</file>

<file path=ppt/slides/slide9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8A9347-AF77-4879-BC3B-CA3AEEE2F91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As-Is → To-Be → 기대효과 → 확인 결과</a:t>
            </a:r>
          </a:p>
        </p:txBody>
      </p:sp>
      <p:sp>
        <p:nvSpPr>
          <p:cNvPr id="2" name="">
            <a:extLst xmlns:a="http://schemas.openxmlformats.org/drawingml/2006/main">
              <a:ext uri="{FF2B5EF4-FFF2-40B4-BE49-F238E27FC236}">
                <a16:creationId xmlns:a16="http://schemas.microsoft.com/office/drawing/2014/main" id="{9B8CC641-8EE2-444D-9421-5313CD5F113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기대와 결과</a:t>
            </a:r>
          </a:p>
        </p:txBody>
      </p:sp>
      <p:sp>
        <p:nvSpPr>
          <p:cNvPr id="3" name="">
            <a:extLst xmlns:a="http://schemas.openxmlformats.org/drawingml/2006/main">
              <a:ext uri="{FF2B5EF4-FFF2-40B4-BE49-F238E27FC236}">
                <a16:creationId xmlns:a16="http://schemas.microsoft.com/office/drawing/2014/main" id="{55D0BCE2-B6EE-4C9C-9F0D-3777CA6CDBB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A20042-585C-4EA5-B1DC-F3CE178D803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52962A4-AE9E-42C4-AA6A-837EA79F05D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96</a:t>
            </a:r>
          </a:p>
        </p:txBody>
      </p:sp>
      <p:sp>
        <p:nvSpPr>
          <p:cNvPr id="6" name="">
            <a:extLst xmlns:a="http://schemas.openxmlformats.org/drawingml/2006/main">
              <a:ext uri="{FF2B5EF4-FFF2-40B4-BE49-F238E27FC236}">
                <a16:creationId xmlns:a16="http://schemas.microsoft.com/office/drawing/2014/main" id="{403E6E13-1DB7-443D-88A9-EB287B8658F8}"/>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A8F2BB92-C3BC-4FC6-AE54-7EE557F876BC}"/>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해외사업 산출물·암호문서·내부 업무시스템 정보가 부서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별로 분산</a:t>
            </a:r>
          </a:p>
        </p:txBody>
      </p:sp>
      <p:sp>
        <p:nvSpPr>
          <p:cNvPr id="8" name="">
            <a:extLst xmlns:a="http://schemas.openxmlformats.org/drawingml/2006/main">
              <a:ext uri="{FF2B5EF4-FFF2-40B4-BE49-F238E27FC236}">
                <a16:creationId xmlns:a16="http://schemas.microsoft.com/office/drawing/2014/main" id="{CFCE05D1-BEF6-4688-BF60-BC90BD875A2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D31DB3E0-FA88-47CE-B591-99198142B34F}"/>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문서권한을 원문·청크·검색결과까지 전파하는 RAG와 승</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인된 내부 API 업무 에이전트</a:t>
            </a:r>
          </a:p>
        </p:txBody>
      </p:sp>
      <p:sp>
        <p:nvSpPr>
          <p:cNvPr id="10" name="">
            <a:extLst xmlns:a="http://schemas.openxmlformats.org/drawingml/2006/main">
              <a:ext uri="{FF2B5EF4-FFF2-40B4-BE49-F238E27FC236}">
                <a16:creationId xmlns:a16="http://schemas.microsoft.com/office/drawing/2014/main" id="{2A8E82D4-FDE2-4770-BFDA-03125D95383A}"/>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5004E157-270B-4464-9568-84966472BC4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사업자료 탐색시간 단축과 권한 오노출·지식 갱신 지연 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a:t>
            </a:r>
          </a:p>
        </p:txBody>
      </p:sp>
      <p:sp>
        <p:nvSpPr>
          <p:cNvPr id="12" name="">
            <a:extLst xmlns:a="http://schemas.openxmlformats.org/drawingml/2006/main">
              <a:ext uri="{FF2B5EF4-FFF2-40B4-BE49-F238E27FC236}">
                <a16:creationId xmlns:a16="http://schemas.microsoft.com/office/drawing/2014/main" id="{4153F35A-4A5D-44D2-BEAE-CE483D36F64A}"/>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FABE2F1D-D613-4760-BC0C-F08BBC0A6CE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KIND 본공고 RFP의 목표기능 확인. 계약·인수·권한 회수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시험·운영 성과 미확인</a:t>
            </a:r>
          </a:p>
        </p:txBody>
      </p:sp>
      <p:sp>
        <p:nvSpPr>
          <p:cNvPr id="14" name="">
            <a:extLst xmlns:a="http://schemas.openxmlformats.org/drawingml/2006/main">
              <a:ext uri="{FF2B5EF4-FFF2-40B4-BE49-F238E27FC236}">
                <a16:creationId xmlns:a16="http://schemas.microsoft.com/office/drawing/2014/main" id="{C72689B3-AA0E-48D8-93B6-D9A70C0E081D}"/>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권한 필터 요구는 실제 차단 성능이나 과업 완료의 증거가 아님</a:t>
            </a:r>
          </a:p>
        </p:txBody>
      </p:sp>
      <p:sp>
        <p:nvSpPr>
          <p:cNvPr id="15" name="">
            <a:extLst xmlns:a="http://schemas.openxmlformats.org/drawingml/2006/main">
              <a:ext uri="{FF2B5EF4-FFF2-40B4-BE49-F238E27FC236}">
                <a16:creationId xmlns:a16="http://schemas.microsoft.com/office/drawing/2014/main" id="{C2442774-E2D7-46A9-82B1-8272E4ADA367}"/>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본공고 RFP 목표 · 검색 권한과 API 실행 권한을 분리해야 함; 동적 필터 위치 미확인</a:t>
            </a:r>
          </a:p>
        </p:txBody>
      </p:sp>
    </p:spTree>
    <p:extLst>
      <p:ext uri="{BB962C8B-B14F-4D97-AF65-F5344CB8AC3E}">
        <p14:creationId xmlns:p14="http://schemas.microsoft.com/office/powerpoint/2010/main" val="2080161739"/>
      </p:ext>
    </p:extLst>
  </p:cSld>
</p:sld>
</file>

<file path=ppt/slides/slide9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4B2EE6D-A7B2-4620-A824-B1C1C5E6FAC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대내 생성형 AI 서비스 구축 RFP · Ⅰ.3 사업범위·메타데이터 및 동적 권한 필터 / 1–3</a:t>
            </a:r>
          </a:p>
        </p:txBody>
      </p:sp>
      <p:sp>
        <p:nvSpPr>
          <p:cNvPr id="2" name="">
            <a:extLst xmlns:a="http://schemas.openxmlformats.org/drawingml/2006/main">
              <a:ext uri="{FF2B5EF4-FFF2-40B4-BE49-F238E27FC236}">
                <a16:creationId xmlns:a16="http://schemas.microsoft.com/office/drawing/2014/main" id="{F59C9E1D-A612-4F36-9C50-20CC5B14603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RFP 요구사항</a:t>
            </a:r>
          </a:p>
        </p:txBody>
      </p:sp>
      <p:sp>
        <p:nvSpPr>
          <p:cNvPr id="3" name="">
            <a:extLst xmlns:a="http://schemas.openxmlformats.org/drawingml/2006/main">
              <a:ext uri="{FF2B5EF4-FFF2-40B4-BE49-F238E27FC236}">
                <a16:creationId xmlns:a16="http://schemas.microsoft.com/office/drawing/2014/main" id="{C4E89306-FE5B-408D-97B2-F8568C7A4FC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544B33-051B-4B59-846D-A330735F2D4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3969EF3-F374-4C2F-B4BC-10D548D48BD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97</a:t>
            </a:r>
          </a:p>
        </p:txBody>
      </p:sp>
      <p:sp>
        <p:nvSpPr>
          <p:cNvPr id="6" name="">
            <a:extLst xmlns:a="http://schemas.openxmlformats.org/drawingml/2006/main">
              <a:ext uri="{FF2B5EF4-FFF2-40B4-BE49-F238E27FC236}">
                <a16:creationId xmlns:a16="http://schemas.microsoft.com/office/drawing/2014/main" id="{4B305976-464D-4B15-9518-083F41709585}"/>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CB52C34-EA9B-45A5-A0B7-053453F96BDF}"/>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지식검색 사내 산출물 기반 RAG</a:t>
            </a:r>
          </a:p>
        </p:txBody>
      </p:sp>
      <p:sp>
        <p:nvSpPr>
          <p:cNvPr id="8" name="">
            <a:extLst xmlns:a="http://schemas.openxmlformats.org/drawingml/2006/main">
              <a:ext uri="{FF2B5EF4-FFF2-40B4-BE49-F238E27FC236}">
                <a16:creationId xmlns:a16="http://schemas.microsoft.com/office/drawing/2014/main" id="{1D8223FC-3EF8-4884-A9B6-4D0127C1AEED}"/>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 산출물의 수집·정제·메타데이터와 검색 증강 기반 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의응답 구성.</a:t>
            </a:r>
          </a:p>
        </p:txBody>
      </p:sp>
      <p:sp>
        <p:nvSpPr>
          <p:cNvPr id="9" name="">
            <a:extLst xmlns:a="http://schemas.openxmlformats.org/drawingml/2006/main">
              <a:ext uri="{FF2B5EF4-FFF2-40B4-BE49-F238E27FC236}">
                <a16:creationId xmlns:a16="http://schemas.microsoft.com/office/drawing/2014/main" id="{173CD9D5-8678-41BF-8F81-C0427F7BB7C9}"/>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문서 개정·삭제·다른 업무 자료 혼재 시 원문·판본·인용 위치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0" name="">
            <a:extLst xmlns:a="http://schemas.openxmlformats.org/drawingml/2006/main">
              <a:ext uri="{FF2B5EF4-FFF2-40B4-BE49-F238E27FC236}">
                <a16:creationId xmlns:a16="http://schemas.microsoft.com/office/drawing/2014/main" id="{AE9EA582-3037-4C9C-B7EF-802B4049B4FF}"/>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2C891A4-5CB0-4ABF-B8BE-DBDD7E68AF51}"/>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권한 메타데이터·동적 권한 필터</a:t>
            </a:r>
          </a:p>
        </p:txBody>
      </p:sp>
      <p:sp>
        <p:nvSpPr>
          <p:cNvPr id="12" name="">
            <a:extLst xmlns:a="http://schemas.openxmlformats.org/drawingml/2006/main">
              <a:ext uri="{FF2B5EF4-FFF2-40B4-BE49-F238E27FC236}">
                <a16:creationId xmlns:a16="http://schemas.microsoft.com/office/drawing/2014/main" id="{BFDDE2E3-7510-473F-BF81-649C06F61BA9}"/>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메타데이터와 사용자 권한을 이용해 검색·응답 대상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제한하는 요구.</a:t>
            </a:r>
          </a:p>
        </p:txBody>
      </p:sp>
      <p:sp>
        <p:nvSpPr>
          <p:cNvPr id="13" name="">
            <a:extLst xmlns:a="http://schemas.openxmlformats.org/drawingml/2006/main">
              <a:ext uri="{FF2B5EF4-FFF2-40B4-BE49-F238E27FC236}">
                <a16:creationId xmlns:a16="http://schemas.microsoft.com/office/drawing/2014/main" id="{BDEB4287-4E80-4E67-94CA-34FB9B7FBC53}"/>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전보·공유 해제·권한 회수 직후 검색 후보와 답변 인용에서 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허용 자료 제외 확인</a:t>
            </a:r>
          </a:p>
        </p:txBody>
      </p:sp>
      <p:sp>
        <p:nvSpPr>
          <p:cNvPr id="14" name="">
            <a:extLst xmlns:a="http://schemas.openxmlformats.org/drawingml/2006/main">
              <a:ext uri="{FF2B5EF4-FFF2-40B4-BE49-F238E27FC236}">
                <a16:creationId xmlns:a16="http://schemas.microsoft.com/office/drawing/2014/main" id="{2708B6EF-83DB-4068-A8FA-DF98FE8E902B}"/>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36E3ED-5060-467B-92A5-85F90B7B436D}"/>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업무연계 내부 API 기반 업무 에이전트</a:t>
            </a:r>
          </a:p>
        </p:txBody>
      </p:sp>
      <p:sp>
        <p:nvSpPr>
          <p:cNvPr id="16" name="">
            <a:extLst xmlns:a="http://schemas.openxmlformats.org/drawingml/2006/main">
              <a:ext uri="{FF2B5EF4-FFF2-40B4-BE49-F238E27FC236}">
                <a16:creationId xmlns:a16="http://schemas.microsoft.com/office/drawing/2014/main" id="{E1006567-2D02-435B-8421-230721017177}"/>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 업무시스템의 API를 활용해 요청을 처리하는 업무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에이전트 구성.</a:t>
            </a:r>
          </a:p>
        </p:txBody>
      </p:sp>
      <p:sp>
        <p:nvSpPr>
          <p:cNvPr id="17" name="">
            <a:extLst xmlns:a="http://schemas.openxmlformats.org/drawingml/2006/main">
              <a:ext uri="{FF2B5EF4-FFF2-40B4-BE49-F238E27FC236}">
                <a16:creationId xmlns:a16="http://schemas.microsoft.com/office/drawing/2014/main" id="{6E4D6D33-BE3E-4579-A18F-6C268DA7F07A}"/>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권한 없는 실행·필수값 누락·중복 호출·부분 실패의 보류 및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처리 결과 대사</a:t>
            </a:r>
          </a:p>
        </p:txBody>
      </p:sp>
    </p:spTree>
    <p:extLst>
      <p:ext uri="{BB962C8B-B14F-4D97-AF65-F5344CB8AC3E}">
        <p14:creationId xmlns:p14="http://schemas.microsoft.com/office/powerpoint/2010/main" val="667208711"/>
      </p:ext>
    </p:extLst>
  </p:cSld>
</p:sld>
</file>

<file path=ppt/slides/slide9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064487-8899-4806-B456-E3A6C271B5A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CCK 분석 재구성 · 원문 도면 아님</a:t>
            </a:r>
          </a:p>
        </p:txBody>
      </p:sp>
      <p:sp>
        <p:nvSpPr>
          <p:cNvPr id="2" name="">
            <a:extLst xmlns:a="http://schemas.openxmlformats.org/drawingml/2006/main">
              <a:ext uri="{FF2B5EF4-FFF2-40B4-BE49-F238E27FC236}">
                <a16:creationId xmlns:a16="http://schemas.microsoft.com/office/drawing/2014/main" id="{27DE1EFA-EC19-46E9-9B2B-D8275A344AE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대내 생성형 AI · 권한 검색과 업무 실행 재구성</a:t>
            </a:r>
          </a:p>
        </p:txBody>
      </p:sp>
      <p:sp>
        <p:nvSpPr>
          <p:cNvPr id="3" name="">
            <a:extLst xmlns:a="http://schemas.openxmlformats.org/drawingml/2006/main">
              <a:ext uri="{FF2B5EF4-FFF2-40B4-BE49-F238E27FC236}">
                <a16:creationId xmlns:a16="http://schemas.microsoft.com/office/drawing/2014/main" id="{64C9731F-D6BA-4FE7-940F-764EE1C22FD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4FE11C-BB2E-4573-8DC2-2D454A3D281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7612928-8982-43DB-9AFC-2AABF1045C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98</a:t>
            </a:r>
          </a:p>
        </p:txBody>
      </p:sp>
      <p:pic>
        <p:nvPicPr>
          <p:cNvPr id="6" name="">
            <a:extLst xmlns:a="http://schemas.openxmlformats.org/drawingml/2006/main">
              <a:ext uri="{FF2B5EF4-FFF2-40B4-BE49-F238E27FC236}">
                <a16:creationId xmlns:a16="http://schemas.microsoft.com/office/drawing/2014/main" id="{05812D0A-9D7E-410C-BBDA-DF5EF534A7A8}"/>
              </a:ext>
            </a:extLst>
          </p:cNvPr>
          <p:cNvPicPr>
            <a:picLocks xmlns:a="http://schemas.openxmlformats.org/drawingml/2006/main" noChangeAspect="1"/>
          </p:cNvPicPr>
          <p:nvPr/>
        </p:nvPicPr>
        <p:blipFill>
          <a:blip xmlns:r="http://schemas.openxmlformats.org/officeDocument/2006/relationships" xmlns:a="http://schemas.openxmlformats.org/drawingml/2006/main" r:embed="R0762f868388849c3"/>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5314C10-D11B-4D7C-A3E1-4B768B546924}"/>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공식 사전규격 RFP Ⅰ.3·권한 메타데이터·API 에이전트 / 원문 서비스 도면 미확인</a:t>
            </a:r>
          </a:p>
        </p:txBody>
      </p:sp>
    </p:spTree>
    <p:extLst>
      <p:ext uri="{BB962C8B-B14F-4D97-AF65-F5344CB8AC3E}">
        <p14:creationId xmlns:p14="http://schemas.microsoft.com/office/powerpoint/2010/main" val="2141274694"/>
      </p:ext>
    </p:extLst>
  </p:cSld>
</p:sld>
</file>

<file path=ppt/slides/slide9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F48BB3E-AA74-453B-ABFE-0404F7F26BAE}"/>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0AAC23C-ED3D-4712-A470-72BF6CFADD5F}"/>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3896F90-54E3-488B-B4BA-DABAC0A0151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89FA294-2469-4A74-A358-6194B957D6C8}"/>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A3BF80B-BCFD-454A-9451-753866AA720A}"/>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E861187-9383-48C0-81B1-7D25FB7C4ED0}"/>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CDA09B2B-8136-4FAE-AA7B-2326EF1884F9}"/>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748F8457-80AB-43AB-A6A9-A67132B99BDA}"/>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D0926B27-2C7B-45B8-9A88-3E4FD149CCB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C2F21D9C-243C-4B05-A602-F1778E3A24E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지식 갱신·검색·근거 응답</a:t>
            </a:r>
          </a:p>
        </p:txBody>
      </p:sp>
      <p:sp>
        <p:nvSpPr>
          <p:cNvPr id="2" name="">
            <a:extLst xmlns:a="http://schemas.openxmlformats.org/drawingml/2006/main">
              <a:ext uri="{FF2B5EF4-FFF2-40B4-BE49-F238E27FC236}">
                <a16:creationId xmlns:a16="http://schemas.microsoft.com/office/drawing/2014/main" id="{D3A8BF22-39F6-4718-BB81-07D28D3D775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세부 서비스 구조</a:t>
            </a:r>
          </a:p>
        </p:txBody>
      </p:sp>
      <p:sp>
        <p:nvSpPr>
          <p:cNvPr id="3" name="">
            <a:extLst xmlns:a="http://schemas.openxmlformats.org/drawingml/2006/main">
              <a:ext uri="{FF2B5EF4-FFF2-40B4-BE49-F238E27FC236}">
                <a16:creationId xmlns:a16="http://schemas.microsoft.com/office/drawing/2014/main" id="{50773433-9E2F-45B9-A62A-8B7BA100619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9B1413-A244-4488-BA7D-B763AA105BC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F674012-27B6-4A05-81BD-F5ED7AEBB7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99</a:t>
            </a:r>
          </a:p>
        </p:txBody>
      </p:sp>
      <p:sp>
        <p:nvSpPr>
          <p:cNvPr id="6" name="">
            <a:extLst xmlns:a="http://schemas.openxmlformats.org/drawingml/2006/main">
              <a:ext uri="{FF2B5EF4-FFF2-40B4-BE49-F238E27FC236}">
                <a16:creationId xmlns:a16="http://schemas.microsoft.com/office/drawing/2014/main" id="{0608AD87-CAF9-4AC6-BB1A-F9189FF5D2A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권한별 자료 → RAG·지식 갱신 → 업무 에이전트 → 현업 검토</a:t>
            </a:r>
          </a:p>
        </p:txBody>
      </p:sp>
      <p:sp>
        <p:nvSpPr>
          <p:cNvPr id="7" name="">
            <a:extLst xmlns:a="http://schemas.openxmlformats.org/drawingml/2006/main">
              <a:ext uri="{FF2B5EF4-FFF2-40B4-BE49-F238E27FC236}">
                <a16:creationId xmlns:a16="http://schemas.microsoft.com/office/drawing/2014/main" id="{374A0333-907C-4CFC-BC40-7F52782071B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52B567F-0999-4C70-BCE2-F579F40C90A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22134AF-01DC-465B-8E45-426F0A85894A}"/>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사업 산출물</a:t>
            </a:r>
          </a:p>
        </p:txBody>
      </p:sp>
      <p:sp>
        <p:nvSpPr>
          <p:cNvPr id="10" name="">
            <a:extLst xmlns:a="http://schemas.openxmlformats.org/drawingml/2006/main">
              <a:ext uri="{FF2B5EF4-FFF2-40B4-BE49-F238E27FC236}">
                <a16:creationId xmlns:a16="http://schemas.microsoft.com/office/drawing/2014/main" id="{D5794468-1928-4FE9-B4B0-122541E292E9}"/>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E1874FD-1BD1-4E0A-A824-41B34E486902}"/>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CEF73C4E-8EDA-4F35-AD0B-FCC183B94D7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청킹·메타데이터</a:t>
            </a:r>
          </a:p>
        </p:txBody>
      </p:sp>
      <p:sp>
        <p:nvSpPr>
          <p:cNvPr id="13" name="">
            <a:extLst xmlns:a="http://schemas.openxmlformats.org/drawingml/2006/main">
              <a:ext uri="{FF2B5EF4-FFF2-40B4-BE49-F238E27FC236}">
                <a16:creationId xmlns:a16="http://schemas.microsoft.com/office/drawing/2014/main" id="{001B0243-C976-4A1F-82FA-28CD3E706CB5}"/>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1EC70902-E3D7-4715-B4A6-B81DE35F9D42}"/>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47622F49-2CE9-435E-8CF3-2D4119F620C3}"/>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하이브리드 색인</a:t>
            </a:r>
          </a:p>
        </p:txBody>
      </p:sp>
      <p:sp>
        <p:nvSpPr>
          <p:cNvPr id="16" name="">
            <a:extLst xmlns:a="http://schemas.openxmlformats.org/drawingml/2006/main">
              <a:ext uri="{FF2B5EF4-FFF2-40B4-BE49-F238E27FC236}">
                <a16:creationId xmlns:a16="http://schemas.microsoft.com/office/drawing/2014/main" id="{0F52C326-12C6-4F34-86CF-C4CF5C15E56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C298BF7-897B-4318-9E70-9CA48AB3CDD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C49255BA-DE5A-4CA4-8F94-49982F60229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동적 권한 검색</a:t>
            </a:r>
          </a:p>
        </p:txBody>
      </p:sp>
      <p:sp>
        <p:nvSpPr>
          <p:cNvPr id="19" name="">
            <a:extLst xmlns:a="http://schemas.openxmlformats.org/drawingml/2006/main">
              <a:ext uri="{FF2B5EF4-FFF2-40B4-BE49-F238E27FC236}">
                <a16:creationId xmlns:a16="http://schemas.microsoft.com/office/drawing/2014/main" id="{1D2B16B9-5518-4D7A-BC89-F3510F1B6118}"/>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0396637-C15F-471F-B2DA-78ABB7385DCA}"/>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BD7DA7F5-7DB0-4D5A-89CB-CB9E36B20117}"/>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사용자 접점</a:t>
            </a:r>
          </a:p>
        </p:txBody>
      </p:sp>
      <p:sp>
        <p:nvSpPr>
          <p:cNvPr id="22" name="">
            <a:extLst xmlns:a="http://schemas.openxmlformats.org/drawingml/2006/main">
              <a:ext uri="{FF2B5EF4-FFF2-40B4-BE49-F238E27FC236}">
                <a16:creationId xmlns:a16="http://schemas.microsoft.com/office/drawing/2014/main" id="{F3215F39-4947-43E7-BB60-8D8F9E42EA7F}"/>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B4A7BB79-55C4-4FCD-BE1C-762E6955ED77}"/>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26E17BCF-B21A-4641-A23A-F62A738E247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SSO·부서·문서</a:t>
            </a:r>
          </a:p>
        </p:txBody>
      </p:sp>
      <p:sp>
        <p:nvSpPr>
          <p:cNvPr id="25" name="">
            <a:extLst xmlns:a="http://schemas.openxmlformats.org/drawingml/2006/main">
              <a:ext uri="{FF2B5EF4-FFF2-40B4-BE49-F238E27FC236}">
                <a16:creationId xmlns:a16="http://schemas.microsoft.com/office/drawing/2014/main" id="{9382559B-E0F7-4F37-B668-0DED36D783D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F818C5B-F5D8-44D8-9133-DBD778AAA596}"/>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CE829810-6B21-48DB-B6ED-901EC3E63CA1}"/>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RAG·API 에이전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트</a:t>
            </a:r>
          </a:p>
        </p:txBody>
      </p:sp>
      <p:sp>
        <p:nvSpPr>
          <p:cNvPr id="28" name="">
            <a:extLst xmlns:a="http://schemas.openxmlformats.org/drawingml/2006/main">
              <a:ext uri="{FF2B5EF4-FFF2-40B4-BE49-F238E27FC236}">
                <a16:creationId xmlns:a16="http://schemas.microsoft.com/office/drawing/2014/main" id="{2DEE0A3D-75DB-40ED-BFB2-25C470C94D0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026530C-0920-4DB2-AA27-DCDC82289D9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F61AC795-3539-47A2-994E-9AF848D0D8A7}"/>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원문·도구 결과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대조</a:t>
            </a:r>
          </a:p>
        </p:txBody>
      </p:sp>
      <p:sp>
        <p:nvSpPr>
          <p:cNvPr id="31" name="">
            <a:extLst xmlns:a="http://schemas.openxmlformats.org/drawingml/2006/main">
              <a:ext uri="{FF2B5EF4-FFF2-40B4-BE49-F238E27FC236}">
                <a16:creationId xmlns:a16="http://schemas.microsoft.com/office/drawing/2014/main" id="{9A1A7B87-C0D7-48C6-A0C6-C300975DE473}"/>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1C3F06FE-C359-4D80-A61D-FA9912A874BE}"/>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1CB26432-92CB-42D3-BB95-AB1E055A960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사업부서 검토</a:t>
            </a:r>
          </a:p>
        </p:txBody>
      </p:sp>
      <p:sp>
        <p:nvSpPr>
          <p:cNvPr id="34" name="">
            <a:extLst xmlns:a="http://schemas.openxmlformats.org/drawingml/2006/main">
              <a:ext uri="{FF2B5EF4-FFF2-40B4-BE49-F238E27FC236}">
                <a16:creationId xmlns:a16="http://schemas.microsoft.com/office/drawing/2014/main" id="{CC4FD67B-596A-4676-B58A-5EFD1121E7E3}"/>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011AAA3-110E-46C0-8D0D-785DF0755268}"/>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B66E5BE4-A3E5-48D3-A444-A34C7660913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해외사업 업무 초</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a:t>
            </a:r>
          </a:p>
        </p:txBody>
      </p:sp>
      <p:sp>
        <p:nvSpPr>
          <p:cNvPr id="46" name="">
            <a:extLst xmlns:a="http://schemas.openxmlformats.org/drawingml/2006/main">
              <a:ext uri="{FF2B5EF4-FFF2-40B4-BE49-F238E27FC236}">
                <a16:creationId xmlns:a16="http://schemas.microsoft.com/office/drawing/2014/main" id="{5A0438D6-1BC7-49D8-A6AC-C1282CBC517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95104860"/>
      </p:ext>
    </p:extLst>
  </p:cSld>
</p:sld>
</file>

<file path=ppt/slides/slide10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7769D5C-BF3A-4ADF-BB45-135418184AA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논리 인터페이스·복구 설계</a:t>
            </a:r>
          </a:p>
        </p:txBody>
      </p:sp>
      <p:sp>
        <p:nvSpPr>
          <p:cNvPr id="2" name="">
            <a:extLst xmlns:a="http://schemas.openxmlformats.org/drawingml/2006/main">
              <a:ext uri="{FF2B5EF4-FFF2-40B4-BE49-F238E27FC236}">
                <a16:creationId xmlns:a16="http://schemas.microsoft.com/office/drawing/2014/main" id="{183D2434-C91A-4144-8004-DA3E311C516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데이터와 예외 처리</a:t>
            </a:r>
          </a:p>
        </p:txBody>
      </p:sp>
      <p:sp>
        <p:nvSpPr>
          <p:cNvPr id="3" name="">
            <a:extLst xmlns:a="http://schemas.openxmlformats.org/drawingml/2006/main">
              <a:ext uri="{FF2B5EF4-FFF2-40B4-BE49-F238E27FC236}">
                <a16:creationId xmlns:a16="http://schemas.microsoft.com/office/drawing/2014/main" id="{0D7C7108-E59A-44F3-A117-985C91797F8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CC3F38-8202-4365-8A27-26B4A991A9A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B9A1150-C47C-43AC-BE75-4AA2684C8FF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100</a:t>
            </a:r>
          </a:p>
        </p:txBody>
      </p:sp>
      <p:sp>
        <p:nvSpPr>
          <p:cNvPr id="6" name="">
            <a:extLst xmlns:a="http://schemas.openxmlformats.org/drawingml/2006/main">
              <a:ext uri="{FF2B5EF4-FFF2-40B4-BE49-F238E27FC236}">
                <a16:creationId xmlns:a16="http://schemas.microsoft.com/office/drawing/2014/main" id="{D4C69074-3D04-4474-8D35-661F37F9D7A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1E2DBED-8B7A-4AC3-B5F7-A73D61BC51D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7FCCF44-0022-4520-8014-5F78F7DBF2D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4A677C3F-2E96-4A6D-B23F-7147E7D390AC}"/>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문서</a:t>
            </a:r>
          </a:p>
        </p:txBody>
      </p:sp>
      <p:sp>
        <p:nvSpPr>
          <p:cNvPr id="10" name="">
            <a:extLst xmlns:a="http://schemas.openxmlformats.org/drawingml/2006/main">
              <a:ext uri="{FF2B5EF4-FFF2-40B4-BE49-F238E27FC236}">
                <a16:creationId xmlns:a16="http://schemas.microsoft.com/office/drawing/2014/main" id="{5C4ED7B7-F1E5-4B4F-AAB5-7A4679C8981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768761D-A999-47DF-A0A8-DE91BF0837A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F3F3D004-C0BE-4243-8AC8-F1538328F96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18ED4D63-FF94-46AB-9BDD-01833D551AB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FB1D7DB-4ADC-4980-B747-C716B470223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0FBDACC1-1BA4-47EA-A5C3-D6A0645D9D4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SSO와 부서·암호문서 접근조건 연결</a:t>
            </a:r>
          </a:p>
        </p:txBody>
      </p:sp>
      <p:sp>
        <p:nvSpPr>
          <p:cNvPr id="16" name="">
            <a:extLst xmlns:a="http://schemas.openxmlformats.org/drawingml/2006/main">
              <a:ext uri="{FF2B5EF4-FFF2-40B4-BE49-F238E27FC236}">
                <a16:creationId xmlns:a16="http://schemas.microsoft.com/office/drawing/2014/main" id="{A5F065F4-1E5A-4CFD-8DDD-9B42523D0285}"/>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B64EED1-3B69-4467-9AE5-AC8B41BA7D50}"/>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7B78DCD2-1C2F-400C-8BE3-FB2BA0D7713D}"/>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문서·청크별 접근시험과 근거·갱신 이력</a:t>
            </a:r>
          </a:p>
        </p:txBody>
      </p:sp>
      <p:sp>
        <p:nvSpPr>
          <p:cNvPr id="19" name="">
            <a:extLst xmlns:a="http://schemas.openxmlformats.org/drawingml/2006/main">
              <a:ext uri="{FF2B5EF4-FFF2-40B4-BE49-F238E27FC236}">
                <a16:creationId xmlns:a16="http://schemas.microsoft.com/office/drawing/2014/main" id="{92FA63B5-B3EB-41C7-A995-1859BBFAE4A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4574D68-5E05-4DC9-B9AC-89EE50A15A0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4FA51336-B574-4873-957A-E479A70732E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근거</a:t>
            </a:r>
          </a:p>
        </p:txBody>
      </p:sp>
      <p:sp>
        <p:nvSpPr>
          <p:cNvPr id="22" name="">
            <a:extLst xmlns:a="http://schemas.openxmlformats.org/drawingml/2006/main">
              <a:ext uri="{FF2B5EF4-FFF2-40B4-BE49-F238E27FC236}">
                <a16:creationId xmlns:a16="http://schemas.microsoft.com/office/drawing/2014/main" id="{87BC29F2-DBA2-4C57-A2BA-8F04AA36C57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C21E94C-E5F9-494C-AA47-E9FE89FE940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A77AFC71-3C4E-4C45-91A4-3BED05CF475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초안</a:t>
            </a:r>
          </a:p>
        </p:txBody>
      </p:sp>
      <p:sp>
        <p:nvSpPr>
          <p:cNvPr id="25" name="">
            <a:extLst xmlns:a="http://schemas.openxmlformats.org/drawingml/2006/main">
              <a:ext uri="{FF2B5EF4-FFF2-40B4-BE49-F238E27FC236}">
                <a16:creationId xmlns:a16="http://schemas.microsoft.com/office/drawing/2014/main" id="{C61355E6-AEC8-45DF-9E5B-D2C0ED7E541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4DD0E1B-89DC-482F-99CA-264942B0313F}"/>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암호문서·다른 부서 자료·메타데이터 누락</a:t>
            </a:r>
          </a:p>
        </p:txBody>
      </p:sp>
      <p:sp>
        <p:nvSpPr>
          <p:cNvPr id="27" name="">
            <a:extLst xmlns:a="http://schemas.openxmlformats.org/drawingml/2006/main">
              <a:ext uri="{FF2B5EF4-FFF2-40B4-BE49-F238E27FC236}">
                <a16:creationId xmlns:a16="http://schemas.microsoft.com/office/drawing/2014/main" id="{CD5A40A0-D864-4AFE-94E9-44593F8A4FE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A4C15F9-6E3F-4653-8218-B9F9F3EC42D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사업·문서별 권한과 최신 판본 검증</a:t>
            </a:r>
          </a:p>
        </p:txBody>
      </p:sp>
      <p:sp>
        <p:nvSpPr>
          <p:cNvPr id="29" name="">
            <a:extLst xmlns:a="http://schemas.openxmlformats.org/drawingml/2006/main">
              <a:ext uri="{FF2B5EF4-FFF2-40B4-BE49-F238E27FC236}">
                <a16:creationId xmlns:a16="http://schemas.microsoft.com/office/drawing/2014/main" id="{FD58625D-766B-4F98-9638-23664E69B82A}"/>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78F1586-190B-4E16-A362-AE68EF6637B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지식 갱신·응답 정확도·질의 유형의 지속 관측</a:t>
            </a:r>
          </a:p>
        </p:txBody>
      </p:sp>
      <p:sp>
        <p:nvSpPr>
          <p:cNvPr id="31" name="">
            <a:extLst xmlns:a="http://schemas.openxmlformats.org/drawingml/2006/main">
              <a:ext uri="{FF2B5EF4-FFF2-40B4-BE49-F238E27FC236}">
                <a16:creationId xmlns:a16="http://schemas.microsoft.com/office/drawing/2014/main" id="{29FB2927-BEB8-4E53-B0B6-47BAE99A854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25F80AF-545F-4D54-A876-FA7DBB7A092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문서·청크별 접근시험과 근거·갱신 이력</a:t>
            </a:r>
          </a:p>
        </p:txBody>
      </p:sp>
    </p:spTree>
    <p:extLst>
      <p:ext uri="{BB962C8B-B14F-4D97-AF65-F5344CB8AC3E}">
        <p14:creationId xmlns:p14="http://schemas.microsoft.com/office/powerpoint/2010/main" val="1642278864"/>
      </p:ext>
    </p:extLst>
  </p:cSld>
</p:sld>
</file>

<file path=ppt/slides/slide10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6EA9366-66C7-45E8-AACA-A58385B009E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CCK 비교·재현 시험 설계</a:t>
            </a:r>
          </a:p>
        </p:txBody>
      </p:sp>
      <p:sp>
        <p:nvSpPr>
          <p:cNvPr id="2" name="">
            <a:extLst xmlns:a="http://schemas.openxmlformats.org/drawingml/2006/main">
              <a:ext uri="{FF2B5EF4-FFF2-40B4-BE49-F238E27FC236}">
                <a16:creationId xmlns:a16="http://schemas.microsoft.com/office/drawing/2014/main" id="{11EC3512-9A1B-4EBF-9104-D9E95EEE18E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벤치마킹</a:t>
            </a:r>
          </a:p>
        </p:txBody>
      </p:sp>
      <p:sp>
        <p:nvSpPr>
          <p:cNvPr id="3" name="">
            <a:extLst xmlns:a="http://schemas.openxmlformats.org/drawingml/2006/main">
              <a:ext uri="{FF2B5EF4-FFF2-40B4-BE49-F238E27FC236}">
                <a16:creationId xmlns:a16="http://schemas.microsoft.com/office/drawing/2014/main" id="{4772C161-90F4-4001-B6CC-4C0EC7D5D0F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9613DA-B528-4CE8-8C64-391D889E457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B99680C-A0FF-40F0-B8D6-77C8404A810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101</a:t>
            </a:r>
          </a:p>
        </p:txBody>
      </p:sp>
      <p:sp>
        <p:nvSpPr>
          <p:cNvPr id="6" name="">
            <a:extLst xmlns:a="http://schemas.openxmlformats.org/drawingml/2006/main">
              <a:ext uri="{FF2B5EF4-FFF2-40B4-BE49-F238E27FC236}">
                <a16:creationId xmlns:a16="http://schemas.microsoft.com/office/drawing/2014/main" id="{459F5F0F-8D47-4198-8A13-ADA7A24E5AF5}"/>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E6E02C43-84F0-4116-A19A-33B63EAE8572}"/>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자료와 공통 검색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에이전트의 현업 검토</a:t>
            </a:r>
          </a:p>
        </p:txBody>
      </p:sp>
      <p:sp>
        <p:nvSpPr>
          <p:cNvPr id="8" name="">
            <a:extLst xmlns:a="http://schemas.openxmlformats.org/drawingml/2006/main">
              <a:ext uri="{FF2B5EF4-FFF2-40B4-BE49-F238E27FC236}">
                <a16:creationId xmlns:a16="http://schemas.microsoft.com/office/drawing/2014/main" id="{3A4D9582-A443-4C93-A563-FF355933E04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105FB14-C281-4854-B40A-56363501DAE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해외사업 문서별 접근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RFP와 운영 완료의 혼동</a:t>
            </a:r>
          </a:p>
        </p:txBody>
      </p:sp>
      <p:sp>
        <p:nvSpPr>
          <p:cNvPr id="10" name="">
            <a:extLst xmlns:a="http://schemas.openxmlformats.org/drawingml/2006/main">
              <a:ext uri="{FF2B5EF4-FFF2-40B4-BE49-F238E27FC236}">
                <a16:creationId xmlns:a16="http://schemas.microsoft.com/office/drawing/2014/main" id="{CAB4E4E8-DBCC-434F-AD5B-B9EC343861D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0D13994C-1AAC-4597-9EDA-26C520F2160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사업·문서별 권한과 최신 판본 검증</a:t>
            </a:r>
          </a:p>
        </p:txBody>
      </p:sp>
      <p:sp>
        <p:nvSpPr>
          <p:cNvPr id="12" name="">
            <a:extLst xmlns:a="http://schemas.openxmlformats.org/drawingml/2006/main">
              <a:ext uri="{FF2B5EF4-FFF2-40B4-BE49-F238E27FC236}">
                <a16:creationId xmlns:a16="http://schemas.microsoft.com/office/drawing/2014/main" id="{EF955502-8D2D-43BB-985C-F794FF78796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AA338C8A-3AE0-4BA7-92E6-65ADF39EC0A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 문서 질의에서 권한 내 근거를 찾고 업무 초안</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생성</a:t>
            </a:r>
          </a:p>
        </p:txBody>
      </p:sp>
      <p:sp>
        <p:nvSpPr>
          <p:cNvPr id="14" name="">
            <a:extLst xmlns:a="http://schemas.openxmlformats.org/drawingml/2006/main">
              <a:ext uri="{FF2B5EF4-FFF2-40B4-BE49-F238E27FC236}">
                <a16:creationId xmlns:a16="http://schemas.microsoft.com/office/drawing/2014/main" id="{3DAF2434-521D-4759-BBC6-C8CFFFB1DE27}"/>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B554914-46CE-41EE-9E92-A9F1BECFC0A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암호문서·다른 부서 자료·메타데이터 누락</a:t>
            </a:r>
          </a:p>
        </p:txBody>
      </p:sp>
      <p:sp>
        <p:nvSpPr>
          <p:cNvPr id="16" name="">
            <a:extLst xmlns:a="http://schemas.openxmlformats.org/drawingml/2006/main">
              <a:ext uri="{FF2B5EF4-FFF2-40B4-BE49-F238E27FC236}">
                <a16:creationId xmlns:a16="http://schemas.microsoft.com/office/drawing/2014/main" id="{1B202E67-A7EF-48AD-8548-489076D056E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CD4D351-7479-47B9-A307-9B9F68A85C73}"/>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문서·청크별 접근시험과 근거·갱신 이력</a:t>
            </a:r>
          </a:p>
        </p:txBody>
      </p:sp>
    </p:spTree>
    <p:extLst>
      <p:ext uri="{BB962C8B-B14F-4D97-AF65-F5344CB8AC3E}">
        <p14:creationId xmlns:p14="http://schemas.microsoft.com/office/powerpoint/2010/main" val="1496042651"/>
      </p:ext>
    </p:extLst>
  </p:cSld>
</p:sld>
</file>

<file path=ppt/slides/slide10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100453-17C9-4B9D-A0AF-D7EBE4615C9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성과 미검증 / 국내</a:t>
            </a:r>
          </a:p>
        </p:txBody>
      </p:sp>
      <p:sp>
        <p:nvSpPr>
          <p:cNvPr id="2" name="">
            <a:extLst xmlns:a="http://schemas.openxmlformats.org/drawingml/2006/main">
              <a:ext uri="{FF2B5EF4-FFF2-40B4-BE49-F238E27FC236}">
                <a16:creationId xmlns:a16="http://schemas.microsoft.com/office/drawing/2014/main" id="{16B363DA-BCDE-4E67-870E-A2E8EF249F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a:t>
            </a:r>
          </a:p>
        </p:txBody>
      </p:sp>
      <p:sp>
        <p:nvSpPr>
          <p:cNvPr id="3" name="">
            <a:extLst xmlns:a="http://schemas.openxmlformats.org/drawingml/2006/main">
              <a:ext uri="{FF2B5EF4-FFF2-40B4-BE49-F238E27FC236}">
                <a16:creationId xmlns:a16="http://schemas.microsoft.com/office/drawing/2014/main" id="{313B9401-57E9-41D5-B03E-9C31BCB9F15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4DBFD43-DD6B-4483-9C62-527CB61B91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B5011A0-DA68-43A7-A128-A732CF0CCAB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102</a:t>
            </a:r>
          </a:p>
        </p:txBody>
      </p:sp>
      <p:sp>
        <p:nvSpPr>
          <p:cNvPr id="6" name="">
            <a:extLst xmlns:a="http://schemas.openxmlformats.org/drawingml/2006/main">
              <a:ext uri="{FF2B5EF4-FFF2-40B4-BE49-F238E27FC236}">
                <a16:creationId xmlns:a16="http://schemas.microsoft.com/office/drawing/2014/main" id="{66D572D0-0B6D-4943-AFCF-F8050464C2E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4AD608A-0EE9-4BA8-9FC6-494BC6A1526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한국산업인력공단의 공공 API를 MCP 도구로 제공하는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외부 AI가 추정한 답을 생성하기 전에 기관의 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 데이터를 조회할 수 있도록 접근 수단을 제공하는 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a:t>
            </a:r>
          </a:p>
        </p:txBody>
      </p:sp>
      <p:sp>
        <p:nvSpPr>
          <p:cNvPr id="8" name="">
            <a:extLst xmlns:a="http://schemas.openxmlformats.org/drawingml/2006/main">
              <a:ext uri="{FF2B5EF4-FFF2-40B4-BE49-F238E27FC236}">
                <a16:creationId xmlns:a16="http://schemas.microsoft.com/office/drawing/2014/main" id="{7F04F42A-EEAF-44F5-A172-8C3FA42EE1F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2129570-4922-4F52-85DA-681F4966FAD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AI 클라이언트의 도구 요청을 MCP 서버에서 공식 API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호출로 변환하고 결과를 구조화해 반환하는 흐름. 도구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이름·입력 스키마·오류 형식·데이터 시점을 명확히 정의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것이 서비스 연결의 핵심.</a:t>
            </a:r>
          </a:p>
        </p:txBody>
      </p:sp>
      <p:sp>
        <p:nvSpPr>
          <p:cNvPr id="10" name="">
            <a:extLst xmlns:a="http://schemas.openxmlformats.org/drawingml/2006/main">
              <a:ext uri="{FF2B5EF4-FFF2-40B4-BE49-F238E27FC236}">
                <a16:creationId xmlns:a16="http://schemas.microsoft.com/office/drawing/2014/main" id="{AAB3E0DF-1865-40D6-B2DE-A6026F13266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3CEDF3A-F931-45B4-BB7A-75BF8A567FD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공공데이터·자격·검사 안내에서도 공식 조회와 자연어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설명을 분리하는 참고. 잘못된 인자, 결과 없음, API 장애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오래된 데이터의 처리와 읽기 전용 권한을 검수하고 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 AI의 최종 설명에서 출처를 확인할 수 있도록 제공.</a:t>
            </a:r>
          </a:p>
        </p:txBody>
      </p:sp>
      <p:sp>
        <p:nvSpPr>
          <p:cNvPr id="12" name="">
            <a:extLst xmlns:a="http://schemas.openxmlformats.org/drawingml/2006/main">
              <a:ext uri="{FF2B5EF4-FFF2-40B4-BE49-F238E27FC236}">
                <a16:creationId xmlns:a16="http://schemas.microsoft.com/office/drawing/2014/main" id="{9FFBFA01-9958-4C6E-A46C-EF2A48EA597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F04291A-EC5E-4645-9F4E-EE0822FFD4F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기관·직무별 도구 권한 / 요청키 / 오류·중복 처리</a:t>
            </a:r>
          </a:p>
        </p:txBody>
      </p:sp>
      <p:sp>
        <p:nvSpPr>
          <p:cNvPr id="14" name="">
            <a:extLst xmlns:a="http://schemas.openxmlformats.org/drawingml/2006/main">
              <a:ext uri="{FF2B5EF4-FFF2-40B4-BE49-F238E27FC236}">
                <a16:creationId xmlns:a16="http://schemas.microsoft.com/office/drawing/2014/main" id="{5EA8B211-7F52-4CC6-8694-AD3A68B11B0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273C9CC-31C3-4636-97B1-A03AA271C8F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도구별 입력·응답·인증·오류 처리 계약 및 쓰기 요청 차단</a:t>
            </a:r>
          </a:p>
        </p:txBody>
      </p:sp>
      <p:sp>
        <p:nvSpPr>
          <p:cNvPr id="16" name="">
            <a:extLst xmlns:a="http://schemas.openxmlformats.org/drawingml/2006/main">
              <a:ext uri="{FF2B5EF4-FFF2-40B4-BE49-F238E27FC236}">
                <a16:creationId xmlns:a16="http://schemas.microsoft.com/office/drawing/2014/main" id="{05FB4E8F-836D-4055-9E46-69C4784F9CE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8DFDB29-AE95-4E28-822D-4317670A7B4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FDF4E352-A1BB-441B-AE9F-EF811BB26B77}"/>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공개 조회의 구축 사례 · 내부 결재·수정 실행의 검증과 별개</a:t>
            </a:r>
          </a:p>
        </p:txBody>
      </p:sp>
    </p:spTree>
    <p:extLst>
      <p:ext uri="{BB962C8B-B14F-4D97-AF65-F5344CB8AC3E}">
        <p14:creationId xmlns:p14="http://schemas.microsoft.com/office/powerpoint/2010/main" val="1968433306"/>
      </p:ext>
    </p:extLst>
  </p:cSld>
</p:sld>
</file>

<file path=ppt/slides/slide10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E3C6A8-B0B9-43B6-939F-90B795797BB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As-Is → To-Be → 기대효과 → 확인 결과</a:t>
            </a:r>
          </a:p>
        </p:txBody>
      </p:sp>
      <p:sp>
        <p:nvSpPr>
          <p:cNvPr id="2" name="">
            <a:extLst xmlns:a="http://schemas.openxmlformats.org/drawingml/2006/main">
              <a:ext uri="{FF2B5EF4-FFF2-40B4-BE49-F238E27FC236}">
                <a16:creationId xmlns:a16="http://schemas.microsoft.com/office/drawing/2014/main" id="{5056DF1F-74A7-4B8A-A3F1-5325C2BA58B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기대와 결과</a:t>
            </a:r>
          </a:p>
        </p:txBody>
      </p:sp>
      <p:sp>
        <p:nvSpPr>
          <p:cNvPr id="3" name="">
            <a:extLst xmlns:a="http://schemas.openxmlformats.org/drawingml/2006/main">
              <a:ext uri="{FF2B5EF4-FFF2-40B4-BE49-F238E27FC236}">
                <a16:creationId xmlns:a16="http://schemas.microsoft.com/office/drawing/2014/main" id="{7B16FEDE-2AFB-496B-9862-CFBF0ED8FB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0F6977-E723-47E0-8A62-E1C88F26D37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91C17C1-E888-40B9-8CA5-99FC969D5A5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103</a:t>
            </a:r>
          </a:p>
        </p:txBody>
      </p:sp>
      <p:sp>
        <p:nvSpPr>
          <p:cNvPr id="6" name="">
            <a:extLst xmlns:a="http://schemas.openxmlformats.org/drawingml/2006/main">
              <a:ext uri="{FF2B5EF4-FFF2-40B4-BE49-F238E27FC236}">
                <a16:creationId xmlns:a16="http://schemas.microsoft.com/office/drawing/2014/main" id="{4F6F8C3F-B150-4FEC-8843-C6D95E8B596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9CEDAF74-C699-43C0-8270-34F7F98A9705}"/>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자격·훈련 정보가 공식 공공 API와 외부 AI 이용 경로로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분리</a:t>
            </a:r>
          </a:p>
        </p:txBody>
      </p:sp>
      <p:sp>
        <p:nvSpPr>
          <p:cNvPr id="8" name="">
            <a:extLst xmlns:a="http://schemas.openxmlformats.org/drawingml/2006/main">
              <a:ext uri="{FF2B5EF4-FFF2-40B4-BE49-F238E27FC236}">
                <a16:creationId xmlns:a16="http://schemas.microsoft.com/office/drawing/2014/main" id="{D08AD3D7-655C-412D-8887-D116027A4C9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17E362C-589F-4419-95E9-90ED035A17FB}"/>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공식 API를 MCP 도구로 노출해 AI가 최신 자격·훈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련 데이터를 조회</a:t>
            </a:r>
          </a:p>
        </p:txBody>
      </p:sp>
      <p:sp>
        <p:nvSpPr>
          <p:cNvPr id="10" name="">
            <a:extLst xmlns:a="http://schemas.openxmlformats.org/drawingml/2006/main">
              <a:ext uri="{FF2B5EF4-FFF2-40B4-BE49-F238E27FC236}">
                <a16:creationId xmlns:a16="http://schemas.microsoft.com/office/drawing/2014/main" id="{37725B3E-94F8-4086-A405-BA8F655190F3}"/>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F5ED6007-BAEC-4241-A174-75A8E9A16053}"/>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데이터 연결 공수·오래된 답변 감소, 서비스 제작 속</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 개선</a:t>
            </a:r>
          </a:p>
        </p:txBody>
      </p:sp>
      <p:sp>
        <p:nvSpPr>
          <p:cNvPr id="12" name="">
            <a:extLst xmlns:a="http://schemas.openxmlformats.org/drawingml/2006/main">
              <a:ext uri="{FF2B5EF4-FFF2-40B4-BE49-F238E27FC236}">
                <a16:creationId xmlns:a16="http://schemas.microsoft.com/office/drawing/2014/main" id="{9F26C298-21BA-4985-9EEE-9771D55E55C7}"/>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5DF1355-5D37-43C0-BBAC-3BC4E3E4B840}"/>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고용노동부 공식 보도자료에서 공개 데이터 MCP 서비스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개시 확인. 개발 공수·정확도 전후값 없음</a:t>
            </a:r>
          </a:p>
        </p:txBody>
      </p:sp>
      <p:sp>
        <p:nvSpPr>
          <p:cNvPr id="14" name="">
            <a:extLst xmlns:a="http://schemas.openxmlformats.org/drawingml/2006/main">
              <a:ext uri="{FF2B5EF4-FFF2-40B4-BE49-F238E27FC236}">
                <a16:creationId xmlns:a16="http://schemas.microsoft.com/office/drawing/2014/main" id="{5AA3EB4B-599E-48D4-BECA-57B7E32E9DE2}"/>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서비스 공개는 확인되나 사용성과·행정 실행 효과의 정량 검증 부재</a:t>
            </a:r>
          </a:p>
        </p:txBody>
      </p:sp>
      <p:sp>
        <p:nvSpPr>
          <p:cNvPr id="15" name="">
            <a:extLst xmlns:a="http://schemas.openxmlformats.org/drawingml/2006/main">
              <a:ext uri="{FF2B5EF4-FFF2-40B4-BE49-F238E27FC236}">
                <a16:creationId xmlns:a16="http://schemas.microsoft.com/office/drawing/2014/main" id="{75324BAC-DE21-4AA4-B629-75E6AB70684B}"/>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공식 서비스 개시 · 읽기 API 공개를 내부 신청·결재 실행 권한으로 확대 해석 불가</a:t>
            </a:r>
          </a:p>
        </p:txBody>
      </p:sp>
    </p:spTree>
    <p:extLst>
      <p:ext uri="{BB962C8B-B14F-4D97-AF65-F5344CB8AC3E}">
        <p14:creationId xmlns:p14="http://schemas.microsoft.com/office/powerpoint/2010/main" val="1701698449"/>
      </p:ext>
    </p:extLst>
  </p:cSld>
</p:sld>
</file>

<file path=ppt/slides/slide10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6B086221-FA13-4628-9EF3-B7C36CB9A2AB}"/>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396EABF-254D-4BDA-95B7-BF9017A7F89C}"/>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DD9FD05-69F1-4B06-BF57-B7B0CE4E425D}"/>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4E81DC76-2B9F-42A8-AA97-9E15320BEB86}"/>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EC69504-5982-478F-A591-9E27DAF9BF68}"/>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09A8FE3-EE97-4EE4-963E-C2183199E6BF}"/>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4528A581-627E-462B-9255-FBA58003D9ED}"/>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67A454DB-6CF1-496B-A206-A88F69879F04}"/>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B5F9A035-8947-4C49-8BBD-85AFB4A52350}"/>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56090518-42BD-4099-AA6E-3AFAE99B375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입력 구조화·확인·업무시스템 처리</a:t>
            </a:r>
          </a:p>
        </p:txBody>
      </p:sp>
      <p:sp>
        <p:nvSpPr>
          <p:cNvPr id="2" name="">
            <a:extLst xmlns:a="http://schemas.openxmlformats.org/drawingml/2006/main">
              <a:ext uri="{FF2B5EF4-FFF2-40B4-BE49-F238E27FC236}">
                <a16:creationId xmlns:a16="http://schemas.microsoft.com/office/drawing/2014/main" id="{7E612CC5-0DB5-4FF1-B9EB-685685EE93A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세부 서비스 구조</a:t>
            </a:r>
          </a:p>
        </p:txBody>
      </p:sp>
      <p:sp>
        <p:nvSpPr>
          <p:cNvPr id="3" name="">
            <a:extLst xmlns:a="http://schemas.openxmlformats.org/drawingml/2006/main">
              <a:ext uri="{FF2B5EF4-FFF2-40B4-BE49-F238E27FC236}">
                <a16:creationId xmlns:a16="http://schemas.microsoft.com/office/drawing/2014/main" id="{10149813-E330-4D4D-AE3D-85505F2327E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67EE19-E7C0-4A23-BD58-70A8FE5CC4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E928845-8936-4437-872F-0D9FE4DBF6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104</a:t>
            </a:r>
          </a:p>
        </p:txBody>
      </p:sp>
      <p:sp>
        <p:nvSpPr>
          <p:cNvPr id="6" name="">
            <a:extLst xmlns:a="http://schemas.openxmlformats.org/drawingml/2006/main">
              <a:ext uri="{FF2B5EF4-FFF2-40B4-BE49-F238E27FC236}">
                <a16:creationId xmlns:a16="http://schemas.microsoft.com/office/drawing/2014/main" id="{2C141664-E00D-4BF0-A653-5FFA3DF4A67B}"/>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외부 AI 요청 → MCP 도구 선택 → 기존 공식 API → 최신 데이터 안내</a:t>
            </a:r>
          </a:p>
        </p:txBody>
      </p:sp>
      <p:sp>
        <p:nvSpPr>
          <p:cNvPr id="7" name="">
            <a:extLst xmlns:a="http://schemas.openxmlformats.org/drawingml/2006/main">
              <a:ext uri="{FF2B5EF4-FFF2-40B4-BE49-F238E27FC236}">
                <a16:creationId xmlns:a16="http://schemas.microsoft.com/office/drawing/2014/main" id="{2DCA2740-C66A-4549-B0D8-F00985CB66EF}"/>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9E24C78-5630-42ED-85F2-333D88B50AA6}"/>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39F1E778-E78C-4E4E-8275-04937F10688E}"/>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외부 AI 질의</a:t>
            </a:r>
          </a:p>
        </p:txBody>
      </p:sp>
      <p:sp>
        <p:nvSpPr>
          <p:cNvPr id="10" name="">
            <a:extLst xmlns:a="http://schemas.openxmlformats.org/drawingml/2006/main">
              <a:ext uri="{FF2B5EF4-FFF2-40B4-BE49-F238E27FC236}">
                <a16:creationId xmlns:a16="http://schemas.microsoft.com/office/drawing/2014/main" id="{1931EB10-F948-4439-BCE2-7616B72FE7DB}"/>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863D4C6-5B10-445B-A630-80E088B919ED}"/>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7089C6C4-DB36-4D82-8FCB-AC7DCB9AF6D3}"/>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도구·인자 정의</a:t>
            </a:r>
          </a:p>
        </p:txBody>
      </p:sp>
      <p:sp>
        <p:nvSpPr>
          <p:cNvPr id="13" name="">
            <a:extLst xmlns:a="http://schemas.openxmlformats.org/drawingml/2006/main">
              <a:ext uri="{FF2B5EF4-FFF2-40B4-BE49-F238E27FC236}">
                <a16:creationId xmlns:a16="http://schemas.microsoft.com/office/drawing/2014/main" id="{D46735E0-3797-4FC5-B38A-843D2B092F46}"/>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32E7BC4-BE9C-4898-B687-EF53AC9B4492}"/>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02ADED28-B730-42C3-8766-5CDA4D3AC44E}"/>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MCP 호출 조정</a:t>
            </a:r>
          </a:p>
        </p:txBody>
      </p:sp>
      <p:sp>
        <p:nvSpPr>
          <p:cNvPr id="16" name="">
            <a:extLst xmlns:a="http://schemas.openxmlformats.org/drawingml/2006/main">
              <a:ext uri="{FF2B5EF4-FFF2-40B4-BE49-F238E27FC236}">
                <a16:creationId xmlns:a16="http://schemas.microsoft.com/office/drawing/2014/main" id="{90497209-E897-4D21-82A2-AB0BF312D08A}"/>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3B3DF6E-714A-4DF8-81A7-AABAD20571ED}"/>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234C0467-266F-4417-B43B-A200F54EF9D1}"/>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스키마·상태 검사</a:t>
            </a:r>
          </a:p>
        </p:txBody>
      </p:sp>
      <p:sp>
        <p:nvSpPr>
          <p:cNvPr id="19" name="">
            <a:extLst xmlns:a="http://schemas.openxmlformats.org/drawingml/2006/main">
              <a:ext uri="{FF2B5EF4-FFF2-40B4-BE49-F238E27FC236}">
                <a16:creationId xmlns:a16="http://schemas.microsoft.com/office/drawing/2014/main" id="{4C85DFEE-A9C6-4D74-9F4E-BD640E59E3B8}"/>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E44D9A2-5D4B-45BE-A2F4-A20B3D57234B}"/>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9426E9CE-3F8F-4666-8F0C-A23A64D04DC9}"/>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확인</a:t>
            </a:r>
          </a:p>
        </p:txBody>
      </p:sp>
      <p:sp>
        <p:nvSpPr>
          <p:cNvPr id="22" name="">
            <a:extLst xmlns:a="http://schemas.openxmlformats.org/drawingml/2006/main">
              <a:ext uri="{FF2B5EF4-FFF2-40B4-BE49-F238E27FC236}">
                <a16:creationId xmlns:a16="http://schemas.microsoft.com/office/drawing/2014/main" id="{7A6995A7-B7F5-4CD4-8C3A-3EDA68947B9C}"/>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EA9BFE5-908C-4E7B-B980-6AC0F3EC105C}"/>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DCAE93D0-95A6-458D-9735-ADD8283AAB44}"/>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 조회 결과</a:t>
            </a:r>
          </a:p>
        </p:txBody>
      </p:sp>
      <p:sp>
        <p:nvSpPr>
          <p:cNvPr id="25" name="">
            <a:extLst xmlns:a="http://schemas.openxmlformats.org/drawingml/2006/main">
              <a:ext uri="{FF2B5EF4-FFF2-40B4-BE49-F238E27FC236}">
                <a16:creationId xmlns:a16="http://schemas.microsoft.com/office/drawing/2014/main" id="{C7BB7FEA-9590-47FB-9B33-14A42C5FE818}"/>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5406A4B-0252-43FC-B56B-C04AC61C7B7C}"/>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001BD5B7-32DB-413B-8999-9F4D65AB419D}"/>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공공 API·코드</a:t>
            </a:r>
          </a:p>
        </p:txBody>
      </p:sp>
      <p:sp>
        <p:nvSpPr>
          <p:cNvPr id="28" name="">
            <a:extLst xmlns:a="http://schemas.openxmlformats.org/drawingml/2006/main">
              <a:ext uri="{FF2B5EF4-FFF2-40B4-BE49-F238E27FC236}">
                <a16:creationId xmlns:a16="http://schemas.microsoft.com/office/drawing/2014/main" id="{78270E77-F470-4F09-BBFF-B49491D81FA6}"/>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AE7023A-1167-4237-8485-ACCAE72E8F08}"/>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FA2F2ABF-E928-43B1-B675-02B4F3491A48}"/>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API 선택</a:t>
            </a:r>
          </a:p>
        </p:txBody>
      </p:sp>
      <p:sp>
        <p:nvSpPr>
          <p:cNvPr id="31" name="">
            <a:extLst xmlns:a="http://schemas.openxmlformats.org/drawingml/2006/main">
              <a:ext uri="{FF2B5EF4-FFF2-40B4-BE49-F238E27FC236}">
                <a16:creationId xmlns:a16="http://schemas.microsoft.com/office/drawing/2014/main" id="{6D66C332-A409-4A34-8A25-6830120812E0}"/>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E893C18-64BF-4AB5-93CF-C90B564279AE}"/>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3EB4A87-912D-4B69-95AE-89E86ACB0BEB}"/>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도구·호출 기록</a:t>
            </a:r>
          </a:p>
        </p:txBody>
      </p:sp>
      <p:sp>
        <p:nvSpPr>
          <p:cNvPr id="34" name="">
            <a:extLst xmlns:a="http://schemas.openxmlformats.org/drawingml/2006/main">
              <a:ext uri="{FF2B5EF4-FFF2-40B4-BE49-F238E27FC236}">
                <a16:creationId xmlns:a16="http://schemas.microsoft.com/office/drawing/2014/main" id="{3E12557E-4D4D-4BA1-A9E3-B2A102D0962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BD394CA-5A8C-4615-AEFF-59CD0C106E48}"/>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BB20D147-EA61-40EB-9EBF-E3EDBF3B7604}"/>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호출·변경 검사</a:t>
            </a:r>
          </a:p>
        </p:txBody>
      </p:sp>
      <p:sp>
        <p:nvSpPr>
          <p:cNvPr id="46" name="">
            <a:extLst xmlns:a="http://schemas.openxmlformats.org/drawingml/2006/main">
              <a:ext uri="{FF2B5EF4-FFF2-40B4-BE49-F238E27FC236}">
                <a16:creationId xmlns:a16="http://schemas.microsoft.com/office/drawing/2014/main" id="{644AC8A7-15D2-4D6C-9E9C-7068C75D8CAB}"/>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305583035"/>
      </p:ext>
    </p:extLst>
  </p:cSld>
</p:sld>
</file>

<file path=ppt/slides/slide10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1E47A4D-685D-4944-B6B1-B5C6474AAE8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논리 인터페이스·복구 설계</a:t>
            </a:r>
          </a:p>
        </p:txBody>
      </p:sp>
      <p:sp>
        <p:nvSpPr>
          <p:cNvPr id="2" name="">
            <a:extLst xmlns:a="http://schemas.openxmlformats.org/drawingml/2006/main">
              <a:ext uri="{FF2B5EF4-FFF2-40B4-BE49-F238E27FC236}">
                <a16:creationId xmlns:a16="http://schemas.microsoft.com/office/drawing/2014/main" id="{287B52CB-9B5C-49A2-BB37-8245CA25CA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데이터와 예외 처리</a:t>
            </a:r>
          </a:p>
        </p:txBody>
      </p:sp>
      <p:sp>
        <p:nvSpPr>
          <p:cNvPr id="3" name="">
            <a:extLst xmlns:a="http://schemas.openxmlformats.org/drawingml/2006/main">
              <a:ext uri="{FF2B5EF4-FFF2-40B4-BE49-F238E27FC236}">
                <a16:creationId xmlns:a16="http://schemas.microsoft.com/office/drawing/2014/main" id="{1ED0A5EE-A8F8-4B70-B07F-EDA7B495BDD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BD39E73-C122-4C9F-83D7-2E76554F2D1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948EB10-7BC6-477A-840D-ADE04D42ED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105</a:t>
            </a:r>
          </a:p>
        </p:txBody>
      </p:sp>
      <p:sp>
        <p:nvSpPr>
          <p:cNvPr id="6" name="">
            <a:extLst xmlns:a="http://schemas.openxmlformats.org/drawingml/2006/main">
              <a:ext uri="{FF2B5EF4-FFF2-40B4-BE49-F238E27FC236}">
                <a16:creationId xmlns:a16="http://schemas.microsoft.com/office/drawing/2014/main" id="{6EF45DC2-5933-4E65-9781-246F624A6FF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C6BD648-8E8D-4090-8994-430739C3C58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8F2F1A4-DEB5-4F2A-B4AF-D639511929B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865B2E85-45A2-4B07-A4B8-6FF45ADE16E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자연어 질의를 조회 도구와 인자로 변환</a:t>
            </a:r>
          </a:p>
        </p:txBody>
      </p:sp>
      <p:sp>
        <p:nvSpPr>
          <p:cNvPr id="10" name="">
            <a:extLst xmlns:a="http://schemas.openxmlformats.org/drawingml/2006/main">
              <a:ext uri="{FF2B5EF4-FFF2-40B4-BE49-F238E27FC236}">
                <a16:creationId xmlns:a16="http://schemas.microsoft.com/office/drawing/2014/main" id="{990D1F94-0F04-4578-A0DA-37F6BD117FA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BD9F3D0-5490-4A0B-A96F-3A68C4313FC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141788EC-6816-403D-9041-94EDEB58B9C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조회 의도</a:t>
            </a:r>
          </a:p>
        </p:txBody>
      </p:sp>
      <p:sp>
        <p:nvSpPr>
          <p:cNvPr id="13" name="">
            <a:extLst xmlns:a="http://schemas.openxmlformats.org/drawingml/2006/main">
              <a:ext uri="{FF2B5EF4-FFF2-40B4-BE49-F238E27FC236}">
                <a16:creationId xmlns:a16="http://schemas.microsoft.com/office/drawing/2014/main" id="{EB12D892-4D53-4F44-8E6B-11F93C29C69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3C7339-2824-4B72-8A0D-A353D8C4C97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A2C5358F-76ED-4203-AB15-0A2CDFCBE06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기존 공공 API</a:t>
            </a:r>
          </a:p>
        </p:txBody>
      </p:sp>
      <p:sp>
        <p:nvSpPr>
          <p:cNvPr id="16" name="">
            <a:extLst xmlns:a="http://schemas.openxmlformats.org/drawingml/2006/main">
              <a:ext uri="{FF2B5EF4-FFF2-40B4-BE49-F238E27FC236}">
                <a16:creationId xmlns:a16="http://schemas.microsoft.com/office/drawing/2014/main" id="{DEAC3D90-ED17-435A-98FD-099689FA32D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8FE22EC-351D-477E-BAFF-72D0FA60C65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752835F4-365F-4E04-9F0B-E72B6DCAA1D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API 결과</a:t>
            </a:r>
          </a:p>
        </p:txBody>
      </p:sp>
      <p:sp>
        <p:nvSpPr>
          <p:cNvPr id="19" name="">
            <a:extLst xmlns:a="http://schemas.openxmlformats.org/drawingml/2006/main">
              <a:ext uri="{FF2B5EF4-FFF2-40B4-BE49-F238E27FC236}">
                <a16:creationId xmlns:a16="http://schemas.microsoft.com/office/drawing/2014/main" id="{BC78B7CF-C9C9-4020-9F66-BC9A1FCAFDE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744D44D-DAFB-4E57-B4E0-A0890FE0288D}"/>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08A86FC7-76CA-4481-9D60-0623630867F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안내</a:t>
            </a:r>
          </a:p>
        </p:txBody>
      </p:sp>
      <p:sp>
        <p:nvSpPr>
          <p:cNvPr id="22" name="">
            <a:extLst xmlns:a="http://schemas.openxmlformats.org/drawingml/2006/main">
              <a:ext uri="{FF2B5EF4-FFF2-40B4-BE49-F238E27FC236}">
                <a16:creationId xmlns:a16="http://schemas.microsoft.com/office/drawing/2014/main" id="{35E01D11-2660-4806-BBC3-84F568198C5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99E6641-880B-4C15-9D09-E5988A91A26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4EFB904E-939F-4B11-A4E7-E182D38DD68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안내</a:t>
            </a:r>
          </a:p>
        </p:txBody>
      </p:sp>
      <p:sp>
        <p:nvSpPr>
          <p:cNvPr id="25" name="">
            <a:extLst xmlns:a="http://schemas.openxmlformats.org/drawingml/2006/main">
              <a:ext uri="{FF2B5EF4-FFF2-40B4-BE49-F238E27FC236}">
                <a16:creationId xmlns:a16="http://schemas.microsoft.com/office/drawing/2014/main" id="{419E6B51-5488-4B6A-9712-52D2C97421D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AF5E997-BE51-49E1-8F61-45656781CD0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인자 누락·스키마 변경·API 지연·빈 결과</a:t>
            </a:r>
          </a:p>
        </p:txBody>
      </p:sp>
      <p:sp>
        <p:nvSpPr>
          <p:cNvPr id="27" name="">
            <a:extLst xmlns:a="http://schemas.openxmlformats.org/drawingml/2006/main">
              <a:ext uri="{FF2B5EF4-FFF2-40B4-BE49-F238E27FC236}">
                <a16:creationId xmlns:a16="http://schemas.microsoft.com/office/drawing/2014/main" id="{58BAC4F3-7FF0-4EE5-950B-51AE96162DA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BF7112DD-15D4-463C-B399-0887F957208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인자·스키마·오류·최신성 대사</a:t>
            </a:r>
          </a:p>
        </p:txBody>
      </p:sp>
      <p:sp>
        <p:nvSpPr>
          <p:cNvPr id="29" name="">
            <a:extLst xmlns:a="http://schemas.openxmlformats.org/drawingml/2006/main">
              <a:ext uri="{FF2B5EF4-FFF2-40B4-BE49-F238E27FC236}">
                <a16:creationId xmlns:a16="http://schemas.microsoft.com/office/drawing/2014/main" id="{CEAA5744-26AE-48FB-8329-68BF52796F0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41E3A8B-D579-4C78-A8C7-D93D999863C5}"/>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실패 응답·스키마 변경·호출량의 검사</a:t>
            </a:r>
          </a:p>
        </p:txBody>
      </p:sp>
      <p:sp>
        <p:nvSpPr>
          <p:cNvPr id="31" name="">
            <a:extLst xmlns:a="http://schemas.openxmlformats.org/drawingml/2006/main">
              <a:ext uri="{FF2B5EF4-FFF2-40B4-BE49-F238E27FC236}">
                <a16:creationId xmlns:a16="http://schemas.microsoft.com/office/drawing/2014/main" id="{85268DEF-78C1-496D-83EF-77F48C7075D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C801D2D-0D1D-4D61-B1B9-813894921B5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도구 인자·원천 응답·사용자 안내의 일치 기록</a:t>
            </a:r>
          </a:p>
        </p:txBody>
      </p:sp>
    </p:spTree>
    <p:extLst>
      <p:ext uri="{BB962C8B-B14F-4D97-AF65-F5344CB8AC3E}">
        <p14:creationId xmlns:p14="http://schemas.microsoft.com/office/powerpoint/2010/main" val="1411651576"/>
      </p:ext>
    </p:extLst>
  </p:cSld>
</p:sld>
</file>

<file path=ppt/slides/slide10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631EE11-EF0C-4508-A26C-103A0AF569B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CCK 비교·재현 시험 설계</a:t>
            </a:r>
          </a:p>
        </p:txBody>
      </p:sp>
      <p:sp>
        <p:nvSpPr>
          <p:cNvPr id="2" name="">
            <a:extLst xmlns:a="http://schemas.openxmlformats.org/drawingml/2006/main">
              <a:ext uri="{FF2B5EF4-FFF2-40B4-BE49-F238E27FC236}">
                <a16:creationId xmlns:a16="http://schemas.microsoft.com/office/drawing/2014/main" id="{6FB714A7-E96D-4EDE-AFC6-D82CCC13C2F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벤치마킹</a:t>
            </a:r>
          </a:p>
        </p:txBody>
      </p:sp>
      <p:sp>
        <p:nvSpPr>
          <p:cNvPr id="3" name="">
            <a:extLst xmlns:a="http://schemas.openxmlformats.org/drawingml/2006/main">
              <a:ext uri="{FF2B5EF4-FFF2-40B4-BE49-F238E27FC236}">
                <a16:creationId xmlns:a16="http://schemas.microsoft.com/office/drawing/2014/main" id="{BED6EAF8-D655-470A-9FE3-90C60B45FB3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CBA917-FEE1-429D-AE74-F8430EE063D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5632F93-A020-4C2B-AAE9-98A734C0B7A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106</a:t>
            </a:r>
          </a:p>
        </p:txBody>
      </p:sp>
      <p:sp>
        <p:nvSpPr>
          <p:cNvPr id="6" name="">
            <a:extLst xmlns:a="http://schemas.openxmlformats.org/drawingml/2006/main">
              <a:ext uri="{FF2B5EF4-FFF2-40B4-BE49-F238E27FC236}">
                <a16:creationId xmlns:a16="http://schemas.microsoft.com/office/drawing/2014/main" id="{84F78140-E86B-4840-8184-5CBEBB655A3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D946613F-8BA7-4CCC-96EE-058023E790E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공식 API의 재사용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AI 도구의 공식 데이터 조회 연결</a:t>
            </a:r>
          </a:p>
        </p:txBody>
      </p:sp>
      <p:sp>
        <p:nvSpPr>
          <p:cNvPr id="8" name="">
            <a:extLst xmlns:a="http://schemas.openxmlformats.org/drawingml/2006/main">
              <a:ext uri="{FF2B5EF4-FFF2-40B4-BE49-F238E27FC236}">
                <a16:creationId xmlns:a16="http://schemas.microsoft.com/office/drawing/2014/main" id="{48177B56-F048-4598-93E0-29A09D53EB64}"/>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E1F507C-447F-48BC-8ADA-CDFD31CB683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도구 응답 지연·스키마 변경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조회 성공을 신청 완료로 오인</a:t>
            </a:r>
          </a:p>
        </p:txBody>
      </p:sp>
      <p:sp>
        <p:nvSpPr>
          <p:cNvPr id="10" name="">
            <a:extLst xmlns:a="http://schemas.openxmlformats.org/drawingml/2006/main">
              <a:ext uri="{FF2B5EF4-FFF2-40B4-BE49-F238E27FC236}">
                <a16:creationId xmlns:a16="http://schemas.microsoft.com/office/drawing/2014/main" id="{8F87D9D0-7375-4DD6-92A2-9EC7E0D2A5B9}"/>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E0A0BF0-BD4D-470B-97C3-C1F6F6E0A8E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인자·스키마·오류·최신성 대사</a:t>
            </a:r>
          </a:p>
        </p:txBody>
      </p:sp>
      <p:sp>
        <p:nvSpPr>
          <p:cNvPr id="12" name="">
            <a:extLst xmlns:a="http://schemas.openxmlformats.org/drawingml/2006/main">
              <a:ext uri="{FF2B5EF4-FFF2-40B4-BE49-F238E27FC236}">
                <a16:creationId xmlns:a16="http://schemas.microsoft.com/office/drawing/2014/main" id="{F1B4C2B8-3C13-4D76-9EC2-29F3B53F54C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B592D76-E330-4F7B-9ABF-F9A08FEE7DC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자연어 요청을 공식 API 인자로 변환해 조회</a:t>
            </a:r>
          </a:p>
        </p:txBody>
      </p:sp>
      <p:sp>
        <p:nvSpPr>
          <p:cNvPr id="14" name="">
            <a:extLst xmlns:a="http://schemas.openxmlformats.org/drawingml/2006/main">
              <a:ext uri="{FF2B5EF4-FFF2-40B4-BE49-F238E27FC236}">
                <a16:creationId xmlns:a16="http://schemas.microsoft.com/office/drawing/2014/main" id="{CC293E75-E919-4868-86D0-166B4311ED9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7008565-D74B-4F5A-9AE1-E7D09826409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인자 누락·스키마 변경·API 지연·빈 결과</a:t>
            </a:r>
          </a:p>
        </p:txBody>
      </p:sp>
      <p:sp>
        <p:nvSpPr>
          <p:cNvPr id="16" name="">
            <a:extLst xmlns:a="http://schemas.openxmlformats.org/drawingml/2006/main">
              <a:ext uri="{FF2B5EF4-FFF2-40B4-BE49-F238E27FC236}">
                <a16:creationId xmlns:a16="http://schemas.microsoft.com/office/drawing/2014/main" id="{236C0811-644A-4262-B98E-0F40392CF32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03F53B5-BB48-4E81-A4BC-6F8DFCE8537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도구 인자·원천 응답·사용자 안내의 일치 기록</a:t>
            </a:r>
          </a:p>
        </p:txBody>
      </p:sp>
    </p:spTree>
    <p:extLst>
      <p:ext uri="{BB962C8B-B14F-4D97-AF65-F5344CB8AC3E}">
        <p14:creationId xmlns:p14="http://schemas.microsoft.com/office/powerpoint/2010/main" val="13134898"/>
      </p:ext>
    </p:extLst>
  </p:cSld>
</p:sld>
</file>

<file path=ppt/slides/slide10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3BB424C-3712-496A-BF39-F2324933DF2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성과 미검증 / 국내</a:t>
            </a:r>
          </a:p>
        </p:txBody>
      </p:sp>
      <p:sp>
        <p:nvSpPr>
          <p:cNvPr id="2" name="">
            <a:extLst xmlns:a="http://schemas.openxmlformats.org/drawingml/2006/main">
              <a:ext uri="{FF2B5EF4-FFF2-40B4-BE49-F238E27FC236}">
                <a16:creationId xmlns:a16="http://schemas.microsoft.com/office/drawing/2014/main" id="{A5BA1DB8-F8F6-4C52-9B0C-5A2903A0C31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a:t>
            </a:r>
          </a:p>
        </p:txBody>
      </p:sp>
      <p:sp>
        <p:nvSpPr>
          <p:cNvPr id="3" name="">
            <a:extLst xmlns:a="http://schemas.openxmlformats.org/drawingml/2006/main">
              <a:ext uri="{FF2B5EF4-FFF2-40B4-BE49-F238E27FC236}">
                <a16:creationId xmlns:a16="http://schemas.microsoft.com/office/drawing/2014/main" id="{011F9A91-D28B-4499-ADBB-F9AE1D589E8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D10E096-8455-49D0-B01E-AA298AC80F5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C1EFAA7-D828-4BEC-881C-174FFD6A59D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107</a:t>
            </a:r>
          </a:p>
        </p:txBody>
      </p:sp>
      <p:sp>
        <p:nvSpPr>
          <p:cNvPr id="6" name="">
            <a:extLst xmlns:a="http://schemas.openxmlformats.org/drawingml/2006/main">
              <a:ext uri="{FF2B5EF4-FFF2-40B4-BE49-F238E27FC236}">
                <a16:creationId xmlns:a16="http://schemas.microsoft.com/office/drawing/2014/main" id="{7E769003-6DD4-40C7-B26C-33B092474BC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E7EE0B7-9D4B-4AF3-A893-85A265F0ED3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삼성SDS의 FabriX 공통 AI와 사내 시스템·협업·개발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도구의 연계 사례. 공통 대화 접점에서 API 기반 업무 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 협업 도구, 개발 플러그인으로 활용 경로를 확대하는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a:t>
            </a:r>
          </a:p>
        </p:txBody>
      </p:sp>
      <p:sp>
        <p:nvSpPr>
          <p:cNvPr id="8" name="">
            <a:extLst xmlns:a="http://schemas.openxmlformats.org/drawingml/2006/main">
              <a:ext uri="{FF2B5EF4-FFF2-40B4-BE49-F238E27FC236}">
                <a16:creationId xmlns:a16="http://schemas.microsoft.com/office/drawing/2014/main" id="{A48F510A-57EA-442A-8F01-066A363A885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E52F9B0-3EBF-45DE-B0A2-04F2104982D1}"/>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도입 설명은 업무 문서 정비와 공통 플랫폼 제공,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시스템 API 연계, 현장 담당자·전담 조직의 운영을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함께 제시. MCP·권한 연계는 후속 고도화 방향으로 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명된 범위이며 모든 단계의 완료 성과로 묶지 않는 해석.</a:t>
            </a:r>
          </a:p>
        </p:txBody>
      </p:sp>
      <p:sp>
        <p:nvSpPr>
          <p:cNvPr id="10" name="">
            <a:extLst xmlns:a="http://schemas.openxmlformats.org/drawingml/2006/main">
              <a:ext uri="{FF2B5EF4-FFF2-40B4-BE49-F238E27FC236}">
                <a16:creationId xmlns:a16="http://schemas.microsoft.com/office/drawing/2014/main" id="{66A95062-2D3E-49B6-8029-D76960C8BC5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F6BD18A0-4735-4D1E-8222-5D6FDEF4540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데이터 표준·업무 소유자·운영 책임을 플랫폼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 함께 구축하는 참고. AI혁신처의 공통 기반과 부서별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API·검수 책임을 분리해 확장비용과 업무 완료 품질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비교할 필요.</a:t>
            </a:r>
          </a:p>
        </p:txBody>
      </p:sp>
      <p:sp>
        <p:nvSpPr>
          <p:cNvPr id="12" name="">
            <a:extLst xmlns:a="http://schemas.openxmlformats.org/drawingml/2006/main">
              <a:ext uri="{FF2B5EF4-FFF2-40B4-BE49-F238E27FC236}">
                <a16:creationId xmlns:a16="http://schemas.microsoft.com/office/drawing/2014/main" id="{4A77B19D-6AEF-4D14-B69E-15822D2E80D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5A0C4D9-DE04-4D95-8D0A-C7CD17760E2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업무단위 연계 모듈 / 현업 교육 / 품질·비용 관측</a:t>
            </a:r>
          </a:p>
        </p:txBody>
      </p:sp>
      <p:sp>
        <p:nvSpPr>
          <p:cNvPr id="14" name="">
            <a:extLst xmlns:a="http://schemas.openxmlformats.org/drawingml/2006/main">
              <a:ext uri="{FF2B5EF4-FFF2-40B4-BE49-F238E27FC236}">
                <a16:creationId xmlns:a16="http://schemas.microsoft.com/office/drawing/2014/main" id="{B27F25D2-BF9E-4D85-BC9C-80BD72D3723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25CA0AA-4D57-4BB7-8CAE-FD8672A1C94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완료율·오실행·재작업·총소요시간 동시 평가</a:t>
            </a:r>
          </a:p>
        </p:txBody>
      </p:sp>
      <p:sp>
        <p:nvSpPr>
          <p:cNvPr id="16" name="">
            <a:extLst xmlns:a="http://schemas.openxmlformats.org/drawingml/2006/main">
              <a:ext uri="{FF2B5EF4-FFF2-40B4-BE49-F238E27FC236}">
                <a16:creationId xmlns:a16="http://schemas.microsoft.com/office/drawing/2014/main" id="{7F8A968C-DEE4-4F0E-BE8F-E4FF5E27520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0ED0FDE-AB4D-4A0D-9C3C-7C27A3C0043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227D8BC9-24B8-4468-B13B-7009A22470C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자사 발표 · 특정 직무 성과를 전사 생산성으로 일반화 불가</a:t>
            </a:r>
          </a:p>
        </p:txBody>
      </p:sp>
    </p:spTree>
    <p:extLst>
      <p:ext uri="{BB962C8B-B14F-4D97-AF65-F5344CB8AC3E}">
        <p14:creationId xmlns:p14="http://schemas.microsoft.com/office/powerpoint/2010/main" val="1647565932"/>
      </p:ext>
    </p:extLst>
  </p:cSld>
</p:sld>
</file>

<file path=ppt/slides/slide10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EFB8DB-8DDB-43C9-88F4-36889918FBB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As-Is → To-Be → 기대효과 → 확인 결과</a:t>
            </a:r>
          </a:p>
        </p:txBody>
      </p:sp>
      <p:sp>
        <p:nvSpPr>
          <p:cNvPr id="2" name="">
            <a:extLst xmlns:a="http://schemas.openxmlformats.org/drawingml/2006/main">
              <a:ext uri="{FF2B5EF4-FFF2-40B4-BE49-F238E27FC236}">
                <a16:creationId xmlns:a16="http://schemas.microsoft.com/office/drawing/2014/main" id="{4BD64307-BE41-48F5-8E54-7B28A3382A5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기대와 결과</a:t>
            </a:r>
          </a:p>
        </p:txBody>
      </p:sp>
      <p:sp>
        <p:nvSpPr>
          <p:cNvPr id="3" name="">
            <a:extLst xmlns:a="http://schemas.openxmlformats.org/drawingml/2006/main">
              <a:ext uri="{FF2B5EF4-FFF2-40B4-BE49-F238E27FC236}">
                <a16:creationId xmlns:a16="http://schemas.microsoft.com/office/drawing/2014/main" id="{2E23DC17-69A4-4BF5-9A5C-B738C691D40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5CA3CF4-FFD6-4B65-BD17-15AAECD8A08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286B0A-EECB-4B77-890B-61795C02CB4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108</a:t>
            </a:r>
          </a:p>
        </p:txBody>
      </p:sp>
      <p:sp>
        <p:nvSpPr>
          <p:cNvPr id="6" name="">
            <a:extLst xmlns:a="http://schemas.openxmlformats.org/drawingml/2006/main">
              <a:ext uri="{FF2B5EF4-FFF2-40B4-BE49-F238E27FC236}">
                <a16:creationId xmlns:a16="http://schemas.microsoft.com/office/drawing/2014/main" id="{3D60938A-1B99-4A75-B70B-A74AA3B5806A}"/>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03F3233-65BB-4327-A129-ADDC1839E1B9}"/>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기업 시스템·협업 도구마다 지식검색·모델 이용과 업무 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동화 연결이 분산</a:t>
            </a:r>
          </a:p>
        </p:txBody>
      </p:sp>
      <p:sp>
        <p:nvSpPr>
          <p:cNvPr id="8" name="">
            <a:extLst xmlns:a="http://schemas.openxmlformats.org/drawingml/2006/main">
              <a:ext uri="{FF2B5EF4-FFF2-40B4-BE49-F238E27FC236}">
                <a16:creationId xmlns:a16="http://schemas.microsoft.com/office/drawing/2014/main" id="{ECB72EB8-2718-4060-BD37-F1A8A82B40C8}"/>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0A31189F-5760-4BE1-9591-677A401B4F7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FabriX 공통 AI 접점에 사내 데이터·API·개발 도구를 결합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업무별 AI 서비스</a:t>
            </a:r>
          </a:p>
        </p:txBody>
      </p:sp>
      <p:sp>
        <p:nvSpPr>
          <p:cNvPr id="10" name="">
            <a:extLst xmlns:a="http://schemas.openxmlformats.org/drawingml/2006/main">
              <a:ext uri="{FF2B5EF4-FFF2-40B4-BE49-F238E27FC236}">
                <a16:creationId xmlns:a16="http://schemas.microsoft.com/office/drawing/2014/main" id="{E60C1195-9A00-497C-9300-5271982FC5AC}"/>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0EF1014-78C6-44FF-8CF6-16CC21160C3C}"/>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초안·검색시간 감소와 공통 기반 재사용을 통한 구축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공수 절감</a:t>
            </a:r>
          </a:p>
        </p:txBody>
      </p:sp>
      <p:sp>
        <p:nvSpPr>
          <p:cNvPr id="12" name="">
            <a:extLst xmlns:a="http://schemas.openxmlformats.org/drawingml/2006/main">
              <a:ext uri="{FF2B5EF4-FFF2-40B4-BE49-F238E27FC236}">
                <a16:creationId xmlns:a16="http://schemas.microsoft.com/office/drawing/2014/main" id="{1C7C8E0F-7875-4381-89C5-189DAA9562BB}"/>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715D2733-6AFE-4711-ADB5-2B3A4A10351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삼성SDS의 사내 운영·활용 발표 확인. 독립적인 직무별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완료시간·오류·전체비용 평가 부재</a:t>
            </a:r>
          </a:p>
        </p:txBody>
      </p:sp>
      <p:sp>
        <p:nvSpPr>
          <p:cNvPr id="14" name="">
            <a:extLst xmlns:a="http://schemas.openxmlformats.org/drawingml/2006/main">
              <a:ext uri="{FF2B5EF4-FFF2-40B4-BE49-F238E27FC236}">
                <a16:creationId xmlns:a16="http://schemas.microsoft.com/office/drawing/2014/main" id="{0C6FD480-8B2B-41EB-949A-345461557470}"/>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공급사 겸 운영사의 채택·활용 설명만으로 업무효율 인과효과 확인 불가</a:t>
            </a:r>
          </a:p>
        </p:txBody>
      </p:sp>
      <p:sp>
        <p:nvSpPr>
          <p:cNvPr id="15" name="">
            <a:extLst xmlns:a="http://schemas.openxmlformats.org/drawingml/2006/main">
              <a:ext uri="{FF2B5EF4-FFF2-40B4-BE49-F238E27FC236}">
                <a16:creationId xmlns:a16="http://schemas.microsoft.com/office/drawing/2014/main" id="{62857CFA-433A-4227-AD44-9E13616F652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공급사 발표·사내 운영 · 특정 직무의 편익을 전사 또는 TS 공공업무에 그대로 전용 불가</a:t>
            </a:r>
          </a:p>
        </p:txBody>
      </p:sp>
    </p:spTree>
    <p:extLst>
      <p:ext uri="{BB962C8B-B14F-4D97-AF65-F5344CB8AC3E}">
        <p14:creationId xmlns:p14="http://schemas.microsoft.com/office/powerpoint/2010/main" val="1336464218"/>
      </p:ext>
    </p:extLst>
  </p:cSld>
</p:sld>
</file>

<file path=ppt/slides/slide10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1D62F636-3CF4-497C-8C99-F264B73F3725}"/>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A07E8C0-6746-4917-99F0-2D0B611EF446}"/>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3BE9481-9003-411A-AFB9-C7D5569DE1D6}"/>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CB0E749-2661-4C9E-AECC-61E9A75E0E33}"/>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63837638-D720-461D-BDB3-C8A1029BC32B}"/>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03752E4-8468-4BC8-B061-206BCC8BEED9}"/>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00DCCFD-2AF2-4AC3-A974-BC456C58911D}"/>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DB489D8-431B-4E6F-853C-7C88723B13DB}"/>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AF6DAAAC-AE65-41E6-BEF5-F69EBF8B8311}"/>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8011C2E-CD53-4C29-8181-B94710DD9F8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입력 구조화·확인·업무시스템 처리</a:t>
            </a:r>
          </a:p>
        </p:txBody>
      </p:sp>
      <p:sp>
        <p:nvSpPr>
          <p:cNvPr id="2" name="">
            <a:extLst xmlns:a="http://schemas.openxmlformats.org/drawingml/2006/main">
              <a:ext uri="{FF2B5EF4-FFF2-40B4-BE49-F238E27FC236}">
                <a16:creationId xmlns:a16="http://schemas.microsoft.com/office/drawing/2014/main" id="{7D651699-2E53-44AF-AF80-FC9AA211109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세부 서비스 구조</a:t>
            </a:r>
          </a:p>
        </p:txBody>
      </p:sp>
      <p:sp>
        <p:nvSpPr>
          <p:cNvPr id="3" name="">
            <a:extLst xmlns:a="http://schemas.openxmlformats.org/drawingml/2006/main">
              <a:ext uri="{FF2B5EF4-FFF2-40B4-BE49-F238E27FC236}">
                <a16:creationId xmlns:a16="http://schemas.microsoft.com/office/drawing/2014/main" id="{497AC410-A395-4258-AEA4-ACC5820698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832F34-8EC6-4FB6-A89F-746FD56B8A2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801E0D6-FF75-495E-849D-8A84F8A73D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109</a:t>
            </a:r>
          </a:p>
        </p:txBody>
      </p:sp>
      <p:sp>
        <p:nvSpPr>
          <p:cNvPr id="6" name="">
            <a:extLst xmlns:a="http://schemas.openxmlformats.org/drawingml/2006/main">
              <a:ext uri="{FF2B5EF4-FFF2-40B4-BE49-F238E27FC236}">
                <a16:creationId xmlns:a16="http://schemas.microsoft.com/office/drawing/2014/main" id="{0A97EA67-CDF6-416C-99D9-6BC57D45D74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공통 AI 접점 → FabriX·검색 → 사내 시스템 API → 직무 도구·현업 피드백</a:t>
            </a:r>
          </a:p>
        </p:txBody>
      </p:sp>
      <p:sp>
        <p:nvSpPr>
          <p:cNvPr id="7" name="">
            <a:extLst xmlns:a="http://schemas.openxmlformats.org/drawingml/2006/main">
              <a:ext uri="{FF2B5EF4-FFF2-40B4-BE49-F238E27FC236}">
                <a16:creationId xmlns:a16="http://schemas.microsoft.com/office/drawing/2014/main" id="{468F7016-1943-440F-A632-AFEA880989DA}"/>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8BE8575-1108-4536-9B89-B76EF3A67F58}"/>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1CAEAFF3-3855-49E4-8CF1-A663711B57A1}"/>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직무용 AI 접점</a:t>
            </a:r>
          </a:p>
        </p:txBody>
      </p:sp>
      <p:sp>
        <p:nvSpPr>
          <p:cNvPr id="10" name="">
            <a:extLst xmlns:a="http://schemas.openxmlformats.org/drawingml/2006/main">
              <a:ext uri="{FF2B5EF4-FFF2-40B4-BE49-F238E27FC236}">
                <a16:creationId xmlns:a16="http://schemas.microsoft.com/office/drawing/2014/main" id="{DA8725B4-6972-41C0-9D71-8A1DD77EF03F}"/>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98507A0-70DA-4093-B74F-EE9ACB011C5D}"/>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C1050BAF-6C6C-4A6D-ABCE-69906835535C}"/>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직원·목적·도구</a:t>
            </a:r>
          </a:p>
        </p:txBody>
      </p:sp>
      <p:sp>
        <p:nvSpPr>
          <p:cNvPr id="13" name="">
            <a:extLst xmlns:a="http://schemas.openxmlformats.org/drawingml/2006/main">
              <a:ext uri="{FF2B5EF4-FFF2-40B4-BE49-F238E27FC236}">
                <a16:creationId xmlns:a16="http://schemas.microsoft.com/office/drawing/2014/main" id="{E8B1CB39-3A57-4AD6-87CC-52E32DA2FB0C}"/>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DD2EE78-6BE3-4D19-BDB2-B4FD45AB7944}"/>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4351D04D-CE4A-4D69-A757-6FD819CD7914}"/>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FabriX·API 조</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a:t>
            </a:r>
          </a:p>
        </p:txBody>
      </p:sp>
      <p:sp>
        <p:nvSpPr>
          <p:cNvPr id="16" name="">
            <a:extLst xmlns:a="http://schemas.openxmlformats.org/drawingml/2006/main">
              <a:ext uri="{FF2B5EF4-FFF2-40B4-BE49-F238E27FC236}">
                <a16:creationId xmlns:a16="http://schemas.microsoft.com/office/drawing/2014/main" id="{5AC5F95E-EB0E-4E2A-A876-41B6955F4265}"/>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5EE0ED8-F9CB-49B0-BAC6-C1932A90151F}"/>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B71A6793-7DC6-4D73-B14D-6926B25391A3}"/>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실행·결과 검사</a:t>
            </a:r>
          </a:p>
        </p:txBody>
      </p:sp>
      <p:sp>
        <p:nvSpPr>
          <p:cNvPr id="19" name="">
            <a:extLst xmlns:a="http://schemas.openxmlformats.org/drawingml/2006/main">
              <a:ext uri="{FF2B5EF4-FFF2-40B4-BE49-F238E27FC236}">
                <a16:creationId xmlns:a16="http://schemas.microsoft.com/office/drawing/2014/main" id="{123F0ED9-4F95-4323-8DB2-7BF94B5A7370}"/>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63C0386-5E02-42E3-8905-838223ACF45B}"/>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BFC9F0E9-3BC3-4603-971E-B8803C9EC4D7}"/>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확인</a:t>
            </a:r>
          </a:p>
        </p:txBody>
      </p:sp>
      <p:sp>
        <p:nvSpPr>
          <p:cNvPr id="22" name="">
            <a:extLst xmlns:a="http://schemas.openxmlformats.org/drawingml/2006/main">
              <a:ext uri="{FF2B5EF4-FFF2-40B4-BE49-F238E27FC236}">
                <a16:creationId xmlns:a16="http://schemas.microsoft.com/office/drawing/2014/main" id="{9AE0E217-A747-4968-92C1-4461197AF3F1}"/>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24F73151-E97C-406E-8C03-777D6BD6926F}"/>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BB7D6920-1098-46FD-A901-6039B741F4E0}"/>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 시스템 연결</a:t>
            </a:r>
          </a:p>
        </p:txBody>
      </p:sp>
      <p:sp>
        <p:nvSpPr>
          <p:cNvPr id="25" name="">
            <a:extLst xmlns:a="http://schemas.openxmlformats.org/drawingml/2006/main">
              <a:ext uri="{FF2B5EF4-FFF2-40B4-BE49-F238E27FC236}">
                <a16:creationId xmlns:a16="http://schemas.microsoft.com/office/drawing/2014/main" id="{164C79C8-B891-405C-ADF1-20479F187AA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6C678234-2F8A-40EA-86E5-579AFDDF7369}"/>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BA12EC02-B09D-4D0D-953F-12E8C8E16833}"/>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지식·API</a:t>
            </a:r>
          </a:p>
        </p:txBody>
      </p:sp>
      <p:sp>
        <p:nvSpPr>
          <p:cNvPr id="28" name="">
            <a:extLst xmlns:a="http://schemas.openxmlformats.org/drawingml/2006/main">
              <a:ext uri="{FF2B5EF4-FFF2-40B4-BE49-F238E27FC236}">
                <a16:creationId xmlns:a16="http://schemas.microsoft.com/office/drawing/2014/main" id="{1DE774CA-1515-4219-A7FB-0AA6D6D11D00}"/>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50F4028-E181-4CC8-979D-566EA0EF7DF3}"/>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FD6770F0-F3D9-4DF1-A3FF-041E757BEADE}"/>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지식 검색</a:t>
            </a:r>
          </a:p>
        </p:txBody>
      </p:sp>
      <p:sp>
        <p:nvSpPr>
          <p:cNvPr id="31" name="">
            <a:extLst xmlns:a="http://schemas.openxmlformats.org/drawingml/2006/main">
              <a:ext uri="{FF2B5EF4-FFF2-40B4-BE49-F238E27FC236}">
                <a16:creationId xmlns:a16="http://schemas.microsoft.com/office/drawing/2014/main" id="{9FDF47CD-02BE-48EC-979A-A958EB0D4203}"/>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152F651-1D05-49D3-84C6-B52F90350EFA}"/>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71267BDC-FDEE-43B4-A911-3FF1734AC37E}"/>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지식·처리 상태</a:t>
            </a:r>
          </a:p>
        </p:txBody>
      </p:sp>
      <p:sp>
        <p:nvSpPr>
          <p:cNvPr id="34" name="">
            <a:extLst xmlns:a="http://schemas.openxmlformats.org/drawingml/2006/main">
              <a:ext uri="{FF2B5EF4-FFF2-40B4-BE49-F238E27FC236}">
                <a16:creationId xmlns:a16="http://schemas.microsoft.com/office/drawing/2014/main" id="{258F5ADC-ADF9-41CF-AA9F-2B1DAC523B3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C6C8FCB-A41D-42AC-B591-F6DF3ECA5E34}"/>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29E4BD6-8D7E-4322-9DC6-CF92CCBD3B56}"/>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실패·피드백 분석</a:t>
            </a:r>
          </a:p>
        </p:txBody>
      </p:sp>
      <p:sp>
        <p:nvSpPr>
          <p:cNvPr id="46" name="">
            <a:extLst xmlns:a="http://schemas.openxmlformats.org/drawingml/2006/main">
              <a:ext uri="{FF2B5EF4-FFF2-40B4-BE49-F238E27FC236}">
                <a16:creationId xmlns:a16="http://schemas.microsoft.com/office/drawing/2014/main" id="{F8E8B6F8-DD7A-47DC-A2A4-3EAFDA176A3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53076588"/>
      </p:ext>
    </p:extLst>
  </p:cSld>
</p:sld>
</file>

<file path=ppt/slides/slide1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0F7A52C-39E2-4430-B685-C67205A9454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논리 인터페이스·복구 설계</a:t>
            </a:r>
          </a:p>
        </p:txBody>
      </p:sp>
      <p:sp>
        <p:nvSpPr>
          <p:cNvPr id="2" name="">
            <a:extLst xmlns:a="http://schemas.openxmlformats.org/drawingml/2006/main">
              <a:ext uri="{FF2B5EF4-FFF2-40B4-BE49-F238E27FC236}">
                <a16:creationId xmlns:a16="http://schemas.microsoft.com/office/drawing/2014/main" id="{95812561-17EB-4FCA-860E-EB6EE07566E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데이터와 예외 처리</a:t>
            </a:r>
          </a:p>
        </p:txBody>
      </p:sp>
      <p:sp>
        <p:nvSpPr>
          <p:cNvPr id="3" name="">
            <a:extLst xmlns:a="http://schemas.openxmlformats.org/drawingml/2006/main">
              <a:ext uri="{FF2B5EF4-FFF2-40B4-BE49-F238E27FC236}">
                <a16:creationId xmlns:a16="http://schemas.microsoft.com/office/drawing/2014/main" id="{D54B61CA-258C-4703-8D8C-7B7B698E0AB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D91B24-F61C-4A15-850C-86470B88F6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E9780A1-3746-43F7-8470-DA9AC1BD11D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110</a:t>
            </a:r>
          </a:p>
        </p:txBody>
      </p:sp>
      <p:sp>
        <p:nvSpPr>
          <p:cNvPr id="6" name="">
            <a:extLst xmlns:a="http://schemas.openxmlformats.org/drawingml/2006/main">
              <a:ext uri="{FF2B5EF4-FFF2-40B4-BE49-F238E27FC236}">
                <a16:creationId xmlns:a16="http://schemas.microsoft.com/office/drawing/2014/main" id="{EC138DB1-0270-445D-A5CA-2EC11A7225FE}"/>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A4111F2-82FD-4228-8A67-A0F3EA38878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4D9D6B7-ACDD-4DF3-981C-31ED81779BC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F3EF0769-04E6-4520-BD97-4471EF1B429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계정·업무 목적·도구 권한 확인</a:t>
            </a:r>
          </a:p>
        </p:txBody>
      </p:sp>
      <p:sp>
        <p:nvSpPr>
          <p:cNvPr id="10" name="">
            <a:extLst xmlns:a="http://schemas.openxmlformats.org/drawingml/2006/main">
              <a:ext uri="{FF2B5EF4-FFF2-40B4-BE49-F238E27FC236}">
                <a16:creationId xmlns:a16="http://schemas.microsoft.com/office/drawing/2014/main" id="{CA9AF12D-174C-44BD-ABC1-93E8F36668F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A216FB-F43C-4F1D-9CA7-52B6B68A3C5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32EE2E81-7516-49B8-ACDC-7FAFE14FB7E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A245A622-651E-4072-9ADA-4CF37E971C63}"/>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2643F2-6914-4E91-96C3-4E869BB3594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243D6323-DA43-4089-8EEE-88746C01F08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 지식·API</a:t>
            </a:r>
          </a:p>
        </p:txBody>
      </p:sp>
      <p:sp>
        <p:nvSpPr>
          <p:cNvPr id="16" name="">
            <a:extLst xmlns:a="http://schemas.openxmlformats.org/drawingml/2006/main">
              <a:ext uri="{FF2B5EF4-FFF2-40B4-BE49-F238E27FC236}">
                <a16:creationId xmlns:a16="http://schemas.microsoft.com/office/drawing/2014/main" id="{A8CE2A8B-F360-4B0C-98B4-07AD486E309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2334E2C-6643-44E8-B38A-1DB9C3B9D43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BAEBF951-A62A-4B54-B21D-6B350083668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시스템 결과</a:t>
            </a:r>
          </a:p>
        </p:txBody>
      </p:sp>
      <p:sp>
        <p:nvSpPr>
          <p:cNvPr id="19" name="">
            <a:extLst xmlns:a="http://schemas.openxmlformats.org/drawingml/2006/main">
              <a:ext uri="{FF2B5EF4-FFF2-40B4-BE49-F238E27FC236}">
                <a16:creationId xmlns:a16="http://schemas.microsoft.com/office/drawing/2014/main" id="{E4B40DE6-E6E9-4682-A0D4-C4CC7B873B5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530AF92-0CE9-469A-84FD-5D9CB0A136C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D7380736-CD76-4435-A417-7C4D19385A3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검토·후속조치</a:t>
            </a:r>
          </a:p>
        </p:txBody>
      </p:sp>
      <p:sp>
        <p:nvSpPr>
          <p:cNvPr id="22" name="">
            <a:extLst xmlns:a="http://schemas.openxmlformats.org/drawingml/2006/main">
              <a:ext uri="{FF2B5EF4-FFF2-40B4-BE49-F238E27FC236}">
                <a16:creationId xmlns:a16="http://schemas.microsoft.com/office/drawing/2014/main" id="{5D26F8F7-486A-426E-96BC-100BE15C1DD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0062441-6A68-4B03-BC25-B448825C1650}"/>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1BC0ED89-6E7A-4CBF-A601-049F984829B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검토·후속조치</a:t>
            </a:r>
          </a:p>
        </p:txBody>
      </p:sp>
      <p:sp>
        <p:nvSpPr>
          <p:cNvPr id="25" name="">
            <a:extLst xmlns:a="http://schemas.openxmlformats.org/drawingml/2006/main">
              <a:ext uri="{FF2B5EF4-FFF2-40B4-BE49-F238E27FC236}">
                <a16:creationId xmlns:a16="http://schemas.microsoft.com/office/drawing/2014/main" id="{A828ADB2-45E6-43E1-B0E9-BFCE3F9FB3C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B880783-D519-4B95-A052-696ECF84F5C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부족·API 부분 실패·같은 요청 재전송</a:t>
            </a:r>
          </a:p>
        </p:txBody>
      </p:sp>
      <p:sp>
        <p:nvSpPr>
          <p:cNvPr id="27" name="">
            <a:extLst xmlns:a="http://schemas.openxmlformats.org/drawingml/2006/main">
              <a:ext uri="{FF2B5EF4-FFF2-40B4-BE49-F238E27FC236}">
                <a16:creationId xmlns:a16="http://schemas.microsoft.com/office/drawing/2014/main" id="{A225847E-77F9-4E02-8957-7417E188270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4504AB2-2853-4FF2-8841-C03FF1EEBEC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실행 권한·중복 호출·실패 복구</a:t>
            </a:r>
          </a:p>
        </p:txBody>
      </p:sp>
      <p:sp>
        <p:nvSpPr>
          <p:cNvPr id="29" name="">
            <a:extLst xmlns:a="http://schemas.openxmlformats.org/drawingml/2006/main">
              <a:ext uri="{FF2B5EF4-FFF2-40B4-BE49-F238E27FC236}">
                <a16:creationId xmlns:a16="http://schemas.microsoft.com/office/drawing/2014/main" id="{D0978B67-8284-4122-A6CD-FE9DC39D39C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33E6D44-6C1A-464B-B7E0-0DA52D48DFD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사용자 피드백·업무별 품질·실행 오류 분석</a:t>
            </a:r>
          </a:p>
        </p:txBody>
      </p:sp>
      <p:sp>
        <p:nvSpPr>
          <p:cNvPr id="31" name="">
            <a:extLst xmlns:a="http://schemas.openxmlformats.org/drawingml/2006/main">
              <a:ext uri="{FF2B5EF4-FFF2-40B4-BE49-F238E27FC236}">
                <a16:creationId xmlns:a16="http://schemas.microsoft.com/office/drawing/2014/main" id="{40CA8B68-D4C6-4546-8A56-027D1E1BDC0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E5252AE-15D8-40CB-979D-4763D0FA4EF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도구 선택·실행 결과·복구 로그</a:t>
            </a:r>
          </a:p>
        </p:txBody>
      </p:sp>
    </p:spTree>
    <p:extLst>
      <p:ext uri="{BB962C8B-B14F-4D97-AF65-F5344CB8AC3E}">
        <p14:creationId xmlns:p14="http://schemas.microsoft.com/office/powerpoint/2010/main" val="1093715754"/>
      </p:ext>
    </p:extLst>
  </p:cSld>
</p:sld>
</file>

<file path=ppt/slides/slide1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99E78B-E5F9-4ADF-8621-D10FA6CF9F5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CCK 비교·재현 시험 설계</a:t>
            </a:r>
          </a:p>
        </p:txBody>
      </p:sp>
      <p:sp>
        <p:nvSpPr>
          <p:cNvPr id="2" name="">
            <a:extLst xmlns:a="http://schemas.openxmlformats.org/drawingml/2006/main">
              <a:ext uri="{FF2B5EF4-FFF2-40B4-BE49-F238E27FC236}">
                <a16:creationId xmlns:a16="http://schemas.microsoft.com/office/drawing/2014/main" id="{F51D1EDA-D586-4B34-AA94-3A49BFED0F4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벤치마킹</a:t>
            </a:r>
          </a:p>
        </p:txBody>
      </p:sp>
      <p:sp>
        <p:nvSpPr>
          <p:cNvPr id="3" name="">
            <a:extLst xmlns:a="http://schemas.openxmlformats.org/drawingml/2006/main">
              <a:ext uri="{FF2B5EF4-FFF2-40B4-BE49-F238E27FC236}">
                <a16:creationId xmlns:a16="http://schemas.microsoft.com/office/drawing/2014/main" id="{9A11248D-2F64-442E-99DF-19D2CC424C2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00CC09-2967-412E-8E8D-6B73C1A5CBF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3E8A908-4F72-48BC-9E7B-5D0A71CD453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111</a:t>
            </a:r>
          </a:p>
        </p:txBody>
      </p:sp>
      <p:sp>
        <p:nvSpPr>
          <p:cNvPr id="6" name="">
            <a:extLst xmlns:a="http://schemas.openxmlformats.org/drawingml/2006/main">
              <a:ext uri="{FF2B5EF4-FFF2-40B4-BE49-F238E27FC236}">
                <a16:creationId xmlns:a16="http://schemas.microsoft.com/office/drawing/2014/main" id="{994821A8-3106-4C98-97F9-507DC385D25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0B7952C5-5741-4E8E-BFFB-677AA6CF4AF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AI와 사내 시스템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직무 도구·피드백을 통한 확산</a:t>
            </a:r>
          </a:p>
        </p:txBody>
      </p:sp>
      <p:sp>
        <p:nvSpPr>
          <p:cNvPr id="8" name="">
            <a:extLst xmlns:a="http://schemas.openxmlformats.org/drawingml/2006/main">
              <a:ext uri="{FF2B5EF4-FFF2-40B4-BE49-F238E27FC236}">
                <a16:creationId xmlns:a16="http://schemas.microsoft.com/office/drawing/2014/main" id="{4B4D0A5E-9299-42A7-9E65-1C5236D2E8E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E4DD74C-EA54-4479-B399-66FBE3633CA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API별 권한·실패 상태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도입과 모든 업무의 효과 혼동</a:t>
            </a:r>
          </a:p>
        </p:txBody>
      </p:sp>
      <p:sp>
        <p:nvSpPr>
          <p:cNvPr id="10" name="">
            <a:extLst xmlns:a="http://schemas.openxmlformats.org/drawingml/2006/main">
              <a:ext uri="{FF2B5EF4-FFF2-40B4-BE49-F238E27FC236}">
                <a16:creationId xmlns:a16="http://schemas.microsoft.com/office/drawing/2014/main" id="{518EFAFC-746B-49EA-BBAC-15EED3543DB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202CAB6-51F7-45A7-A562-39AC791E068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실행 권한·중복 호출·실패 복구</a:t>
            </a:r>
          </a:p>
        </p:txBody>
      </p:sp>
      <p:sp>
        <p:nvSpPr>
          <p:cNvPr id="12" name="">
            <a:extLst xmlns:a="http://schemas.openxmlformats.org/drawingml/2006/main">
              <a:ext uri="{FF2B5EF4-FFF2-40B4-BE49-F238E27FC236}">
                <a16:creationId xmlns:a16="http://schemas.microsoft.com/office/drawing/2014/main" id="{20FF1791-BBA2-47A1-AAAE-B9A6A50A7910}"/>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A314C844-5920-4A1B-B4F6-7017E267CFE0}"/>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사내 업무 목적을 검색·도구 호출에 연결</a:t>
            </a:r>
          </a:p>
        </p:txBody>
      </p:sp>
      <p:sp>
        <p:nvSpPr>
          <p:cNvPr id="14" name="">
            <a:extLst xmlns:a="http://schemas.openxmlformats.org/drawingml/2006/main">
              <a:ext uri="{FF2B5EF4-FFF2-40B4-BE49-F238E27FC236}">
                <a16:creationId xmlns:a16="http://schemas.microsoft.com/office/drawing/2014/main" id="{DA876306-8503-4913-B14F-07508AF14F6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1CFE13E-D253-49CC-8B85-C914F049B60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 부족·API 부분 실패·같은 요청 재전송</a:t>
            </a:r>
          </a:p>
        </p:txBody>
      </p:sp>
      <p:sp>
        <p:nvSpPr>
          <p:cNvPr id="16" name="">
            <a:extLst xmlns:a="http://schemas.openxmlformats.org/drawingml/2006/main">
              <a:ext uri="{FF2B5EF4-FFF2-40B4-BE49-F238E27FC236}">
                <a16:creationId xmlns:a16="http://schemas.microsoft.com/office/drawing/2014/main" id="{87BB0EF7-A587-4DB3-8579-035D2D6218F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1A06E33-BA40-4DAD-A3AB-E4B80EE1082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도구 선택·실행 결과·복구 로그</a:t>
            </a:r>
          </a:p>
        </p:txBody>
      </p:sp>
    </p:spTree>
    <p:extLst>
      <p:ext uri="{BB962C8B-B14F-4D97-AF65-F5344CB8AC3E}">
        <p14:creationId xmlns:p14="http://schemas.microsoft.com/office/powerpoint/2010/main" val="993910977"/>
      </p:ext>
    </p:extLst>
  </p:cSld>
</p:sld>
</file>

<file path=ppt/slides/slide1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813754E-2C9A-4F15-93B3-9A5F79E11E0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성과 미검증 / 국내</a:t>
            </a:r>
          </a:p>
        </p:txBody>
      </p:sp>
      <p:sp>
        <p:nvSpPr>
          <p:cNvPr id="2" name="">
            <a:extLst xmlns:a="http://schemas.openxmlformats.org/drawingml/2006/main">
              <a:ext uri="{FF2B5EF4-FFF2-40B4-BE49-F238E27FC236}">
                <a16:creationId xmlns:a16="http://schemas.microsoft.com/office/drawing/2014/main" id="{D52A92A7-8B89-4C35-BEE8-00358BBFDD3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a:t>
            </a:r>
          </a:p>
        </p:txBody>
      </p:sp>
      <p:sp>
        <p:nvSpPr>
          <p:cNvPr id="3" name="">
            <a:extLst xmlns:a="http://schemas.openxmlformats.org/drawingml/2006/main">
              <a:ext uri="{FF2B5EF4-FFF2-40B4-BE49-F238E27FC236}">
                <a16:creationId xmlns:a16="http://schemas.microsoft.com/office/drawing/2014/main" id="{39B28283-0BC3-46E7-A364-79848573853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85AA02B-B769-4B07-9072-A2771B4DC31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95EF6FC-4FA7-40AB-8CAD-8720C932AA3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112</a:t>
            </a:r>
          </a:p>
        </p:txBody>
      </p:sp>
      <p:sp>
        <p:nvSpPr>
          <p:cNvPr id="6" name="">
            <a:extLst xmlns:a="http://schemas.openxmlformats.org/drawingml/2006/main">
              <a:ext uri="{FF2B5EF4-FFF2-40B4-BE49-F238E27FC236}">
                <a16:creationId xmlns:a16="http://schemas.microsoft.com/office/drawing/2014/main" id="{CE3AB50A-8F2F-47E0-88A2-BA7D185F289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236E5BB-A592-438F-B603-3F63E7753B9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삼성 Gauss Portal과 code.i의 기업 공통 AI·개발 지원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전 직원의 문서 업무와 개발자의 코드 작업을 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른 접점으로 지원하는 도입 방식.</a:t>
            </a:r>
          </a:p>
        </p:txBody>
      </p:sp>
      <p:sp>
        <p:nvSpPr>
          <p:cNvPr id="8" name="">
            <a:extLst xmlns:a="http://schemas.openxmlformats.org/drawingml/2006/main">
              <a:ext uri="{FF2B5EF4-FFF2-40B4-BE49-F238E27FC236}">
                <a16:creationId xmlns:a16="http://schemas.microsoft.com/office/drawing/2014/main" id="{43DFDAD7-10C5-4D15-8659-0ADE9F514CD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6671676-6C26-456B-8320-A781C1689111}"/>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제품 발표의 업무 지원 범위를 기준으로 직원 포털,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개발 도구 접점, AI 처리, 업무 자료·코드 문맥, 결과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 계층으로 재구성. 문서 작성과 코드 생성은 입력 데이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터와 오류 판정 기준이 다른 서비스로 설계.</a:t>
            </a:r>
          </a:p>
        </p:txBody>
      </p:sp>
      <p:sp>
        <p:nvSpPr>
          <p:cNvPr id="10" name="">
            <a:extLst xmlns:a="http://schemas.openxmlformats.org/drawingml/2006/main">
              <a:ext uri="{FF2B5EF4-FFF2-40B4-BE49-F238E27FC236}">
                <a16:creationId xmlns:a16="http://schemas.microsoft.com/office/drawing/2014/main" id="{E2481CB2-5DF9-4280-963D-8E3289DD302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86640EF-B649-40A1-9536-CFBF5EE3F75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동일 모델의 이용률보다 직무별 결과물의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증 가능성을 비교할 필요. 문서의 근거·서식 점검과 코드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 빌드·시험·보안 검토를 각각 수행하고 데이터 반출·소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스코드 접근 범위를 공통 정책과 연결.</a:t>
            </a:r>
          </a:p>
        </p:txBody>
      </p:sp>
      <p:sp>
        <p:nvSpPr>
          <p:cNvPr id="12" name="">
            <a:extLst xmlns:a="http://schemas.openxmlformats.org/drawingml/2006/main">
              <a:ext uri="{FF2B5EF4-FFF2-40B4-BE49-F238E27FC236}">
                <a16:creationId xmlns:a16="http://schemas.microsoft.com/office/drawing/2014/main" id="{82A6C560-FC05-4467-AD00-BE3C141ECEB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2EC1EE7-11FB-4016-827D-82B119D38AC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D3F6855C-F48D-41BA-BE04-25AE7F3748D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89A87A1F-82B0-45E7-AD1C-25CEDC0DFED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21F87191-D74F-4ADA-9159-003D9FCCEB1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03415D2-9CE8-4F2E-BB95-BF0F0D5735B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25E40D5C-FE5E-49C1-B62D-61AD23D3836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사용량은 시간·비용 절감이 아님. 2026 현재 사용률로 제시하지 않음</a:t>
            </a:r>
          </a:p>
        </p:txBody>
      </p:sp>
    </p:spTree>
    <p:extLst>
      <p:ext uri="{BB962C8B-B14F-4D97-AF65-F5344CB8AC3E}">
        <p14:creationId xmlns:p14="http://schemas.microsoft.com/office/powerpoint/2010/main" val="1250511456"/>
      </p:ext>
    </p:extLst>
  </p:cSld>
</p:sld>
</file>

<file path=ppt/slides/slide1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AB91BF-8F1D-4679-AB15-3B8B58EC971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As-Is → To-Be → 기대효과 → 확인 결과</a:t>
            </a:r>
          </a:p>
        </p:txBody>
      </p:sp>
      <p:sp>
        <p:nvSpPr>
          <p:cNvPr id="2" name="">
            <a:extLst xmlns:a="http://schemas.openxmlformats.org/drawingml/2006/main">
              <a:ext uri="{FF2B5EF4-FFF2-40B4-BE49-F238E27FC236}">
                <a16:creationId xmlns:a16="http://schemas.microsoft.com/office/drawing/2014/main" id="{628253D0-47DF-4969-BFE4-D81514B8F58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기대와 결과</a:t>
            </a:r>
          </a:p>
        </p:txBody>
      </p:sp>
      <p:sp>
        <p:nvSpPr>
          <p:cNvPr id="3" name="">
            <a:extLst xmlns:a="http://schemas.openxmlformats.org/drawingml/2006/main">
              <a:ext uri="{FF2B5EF4-FFF2-40B4-BE49-F238E27FC236}">
                <a16:creationId xmlns:a16="http://schemas.microsoft.com/office/drawing/2014/main" id="{59E89D7E-8963-4D9A-AD24-B1CD02F7314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EC38D36-9840-4096-9341-9FCE981A05E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2E7807A-C362-40D4-AEBD-6DD82773EC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113</a:t>
            </a:r>
          </a:p>
        </p:txBody>
      </p:sp>
      <p:sp>
        <p:nvSpPr>
          <p:cNvPr id="6" name="">
            <a:extLst xmlns:a="http://schemas.openxmlformats.org/drawingml/2006/main">
              <a:ext uri="{FF2B5EF4-FFF2-40B4-BE49-F238E27FC236}">
                <a16:creationId xmlns:a16="http://schemas.microsoft.com/office/drawing/2014/main" id="{2ED437D7-D08C-4FDB-BD7C-C171E4CA0531}"/>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72A939F2-F99B-4662-A495-04FCC85CC6D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범용 AI와 개발 직무의 코드 지원 도구가 따로 필요했던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사내 업무</a:t>
            </a:r>
          </a:p>
        </p:txBody>
      </p:sp>
      <p:sp>
        <p:nvSpPr>
          <p:cNvPr id="8" name="">
            <a:extLst xmlns:a="http://schemas.openxmlformats.org/drawingml/2006/main">
              <a:ext uri="{FF2B5EF4-FFF2-40B4-BE49-F238E27FC236}">
                <a16:creationId xmlns:a16="http://schemas.microsoft.com/office/drawing/2014/main" id="{4399AA52-1D09-4762-8669-4F094030A5A2}"/>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DA8EAE1B-0190-40EC-984A-377C2BC7A25D}"/>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Gauss 모델군을 포털과 code.i에 적용해 일반 업무와 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 업무의 AI 접점을 구분</a:t>
            </a:r>
          </a:p>
        </p:txBody>
      </p:sp>
      <p:sp>
        <p:nvSpPr>
          <p:cNvPr id="10" name="">
            <a:extLst xmlns:a="http://schemas.openxmlformats.org/drawingml/2006/main">
              <a:ext uri="{FF2B5EF4-FFF2-40B4-BE49-F238E27FC236}">
                <a16:creationId xmlns:a16="http://schemas.microsoft.com/office/drawing/2014/main" id="{DC2D37BC-FAD0-4B15-A610-D39C7505EA22}"/>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58F5A3FB-BE3F-403B-9CF1-888FA9904E2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문서·코딩 작업시간 감소와 내부 도구 사용 통제</a:t>
            </a:r>
          </a:p>
        </p:txBody>
      </p:sp>
      <p:sp>
        <p:nvSpPr>
          <p:cNvPr id="12" name="">
            <a:extLst xmlns:a="http://schemas.openxmlformats.org/drawingml/2006/main">
              <a:ext uri="{FF2B5EF4-FFF2-40B4-BE49-F238E27FC236}">
                <a16:creationId xmlns:a16="http://schemas.microsoft.com/office/drawing/2014/main" id="{3B2B0FC3-6074-46F7-AB84-5414C5CE3E45}"/>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86AA14D-9678-4216-A873-818B2C75A5D6}"/>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삼성전자의 포털·code.i 사내 운영 발표 확인. 사용량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비 실제 시간·비용·결함률 비교자료 없음</a:t>
            </a:r>
          </a:p>
        </p:txBody>
      </p:sp>
      <p:sp>
        <p:nvSpPr>
          <p:cNvPr id="14" name="">
            <a:extLst xmlns:a="http://schemas.openxmlformats.org/drawingml/2006/main">
              <a:ext uri="{FF2B5EF4-FFF2-40B4-BE49-F238E27FC236}">
                <a16:creationId xmlns:a16="http://schemas.microsoft.com/office/drawing/2014/main" id="{40D31FFB-1D2D-452F-9F35-7D58846C3828}"/>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제품 운용과 생산성 개선을 구분할 전후 기준선 부재</a:t>
            </a:r>
          </a:p>
        </p:txBody>
      </p:sp>
      <p:sp>
        <p:nvSpPr>
          <p:cNvPr id="15" name="">
            <a:extLst xmlns:a="http://schemas.openxmlformats.org/drawingml/2006/main">
              <a:ext uri="{FF2B5EF4-FFF2-40B4-BE49-F238E27FC236}">
                <a16:creationId xmlns:a16="http://schemas.microsoft.com/office/drawing/2014/main" id="{4462AE33-0FD2-4B1C-A05F-C0EECDE0BF9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기업 발표·사내 운영 · 발표 당시 사용수치를 현재 채택률이나 절감량으로 환산 금지</a:t>
            </a:r>
          </a:p>
        </p:txBody>
      </p:sp>
    </p:spTree>
    <p:extLst>
      <p:ext uri="{BB962C8B-B14F-4D97-AF65-F5344CB8AC3E}">
        <p14:creationId xmlns:p14="http://schemas.microsoft.com/office/powerpoint/2010/main" val="457203157"/>
      </p:ext>
    </p:extLst>
  </p:cSld>
</p:sld>
</file>

<file path=ppt/slides/slide1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2A984062-FEA8-497E-BBE6-57D202FF059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9627A08-1594-4396-A6BF-45E5A38C041E}"/>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7DF708C-D410-4E75-B6E5-3DA050537B96}"/>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D72197B6-AC80-42CF-8FF3-A7117EB9BF5A}"/>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57FE2A2A-EE75-4358-A2A5-B738F0284B31}"/>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DBDB1205-7AE3-414C-A23F-8EA2D28A4069}"/>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5732301-8696-4253-9AAC-378C5703C728}"/>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AC14796D-922A-450E-ADF8-4981BE4E5A03}"/>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02265D20-2201-4267-A5E9-3BC8703DD81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6DA50A9-3527-4E75-A3E5-AB2483DA2A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권한·목적 판정 후 허용·차단 분기</a:t>
            </a:r>
          </a:p>
        </p:txBody>
      </p:sp>
      <p:sp>
        <p:nvSpPr>
          <p:cNvPr id="2" name="">
            <a:extLst xmlns:a="http://schemas.openxmlformats.org/drawingml/2006/main">
              <a:ext uri="{FF2B5EF4-FFF2-40B4-BE49-F238E27FC236}">
                <a16:creationId xmlns:a16="http://schemas.microsoft.com/office/drawing/2014/main" id="{B6CE4CDB-B5FA-4EAF-8ED8-A743F20B3B8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세부 서비스 구조</a:t>
            </a:r>
          </a:p>
        </p:txBody>
      </p:sp>
      <p:sp>
        <p:nvSpPr>
          <p:cNvPr id="3" name="">
            <a:extLst xmlns:a="http://schemas.openxmlformats.org/drawingml/2006/main">
              <a:ext uri="{FF2B5EF4-FFF2-40B4-BE49-F238E27FC236}">
                <a16:creationId xmlns:a16="http://schemas.microsoft.com/office/drawing/2014/main" id="{3B8B7539-5BA3-49B3-B081-44468665060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C36DA8C-45D5-4E48-A833-6BF54795C2D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C847CFF-E1D3-4F6D-87E7-F6E03603B9F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114</a:t>
            </a:r>
          </a:p>
        </p:txBody>
      </p:sp>
      <p:sp>
        <p:nvSpPr>
          <p:cNvPr id="6" name="">
            <a:extLst xmlns:a="http://schemas.openxmlformats.org/drawingml/2006/main">
              <a:ext uri="{FF2B5EF4-FFF2-40B4-BE49-F238E27FC236}">
                <a16:creationId xmlns:a16="http://schemas.microsoft.com/office/drawing/2014/main" id="{0A32E8D6-2A4F-4715-ADEB-16971DB2CD1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사내 사용자 → Gauss 모델군 → 일반·개발 도구 → 업무 결과 검토</a:t>
            </a:r>
          </a:p>
        </p:txBody>
      </p:sp>
      <p:sp>
        <p:nvSpPr>
          <p:cNvPr id="7" name="">
            <a:extLst xmlns:a="http://schemas.openxmlformats.org/drawingml/2006/main">
              <a:ext uri="{FF2B5EF4-FFF2-40B4-BE49-F238E27FC236}">
                <a16:creationId xmlns:a16="http://schemas.microsoft.com/office/drawing/2014/main" id="{192AD198-6C35-4806-BE71-18BDCB809E5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A203398-1CD6-45DF-8DE0-CCB8FA0F9C1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E03335A1-3845-4394-8265-722B8797F64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포털·개발 도구</a:t>
            </a:r>
          </a:p>
        </p:txBody>
      </p:sp>
      <p:sp>
        <p:nvSpPr>
          <p:cNvPr id="10" name="">
            <a:extLst xmlns:a="http://schemas.openxmlformats.org/drawingml/2006/main">
              <a:ext uri="{FF2B5EF4-FFF2-40B4-BE49-F238E27FC236}">
                <a16:creationId xmlns:a16="http://schemas.microsoft.com/office/drawing/2014/main" id="{FE9BE158-57E9-462D-8490-7CC091D22562}"/>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2544700-7A8F-487A-BCC4-23787E6C30A0}"/>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26886F73-956C-4B91-8847-0CBE19A0AA0A}"/>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문서·코드 문맥</a:t>
            </a:r>
          </a:p>
        </p:txBody>
      </p:sp>
      <p:sp>
        <p:nvSpPr>
          <p:cNvPr id="13" name="">
            <a:extLst xmlns:a="http://schemas.openxmlformats.org/drawingml/2006/main">
              <a:ext uri="{FF2B5EF4-FFF2-40B4-BE49-F238E27FC236}">
                <a16:creationId xmlns:a16="http://schemas.microsoft.com/office/drawing/2014/main" id="{FE6D256E-3D73-48C0-A0C8-3F12F68C0FBA}"/>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4645FFC-31AC-4B33-A99D-2A54C9AD21CB}"/>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05964CB6-068F-4F13-A8A3-FA80D730B97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업무별 이용정책</a:t>
            </a:r>
          </a:p>
        </p:txBody>
      </p:sp>
      <p:sp>
        <p:nvSpPr>
          <p:cNvPr id="16" name="">
            <a:extLst xmlns:a="http://schemas.openxmlformats.org/drawingml/2006/main">
              <a:ext uri="{FF2B5EF4-FFF2-40B4-BE49-F238E27FC236}">
                <a16:creationId xmlns:a16="http://schemas.microsoft.com/office/drawing/2014/main" id="{F5FC9BCF-AAC7-40E0-82B3-0C8609A8DFC3}"/>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3B36D4C-ECD7-4C93-8729-B4D0BD612D0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35C70384-3F48-4AD9-B320-728848018C0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코드·보안 검사</a:t>
            </a:r>
          </a:p>
        </p:txBody>
      </p:sp>
      <p:sp>
        <p:nvSpPr>
          <p:cNvPr id="19" name="">
            <a:extLst xmlns:a="http://schemas.openxmlformats.org/drawingml/2006/main">
              <a:ext uri="{FF2B5EF4-FFF2-40B4-BE49-F238E27FC236}">
                <a16:creationId xmlns:a16="http://schemas.microsoft.com/office/drawing/2014/main" id="{D486CA5A-46C9-4CAB-ACB9-EF32BE284E06}"/>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4D07D88-1115-4ED6-84E2-C0E2B56C5149}"/>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156DFEDE-D649-415D-98BD-1624135F0D4E}"/>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업무문서·코드</a:t>
            </a:r>
          </a:p>
        </p:txBody>
      </p:sp>
      <p:sp>
        <p:nvSpPr>
          <p:cNvPr id="22" name="">
            <a:extLst xmlns:a="http://schemas.openxmlformats.org/drawingml/2006/main">
              <a:ext uri="{FF2B5EF4-FFF2-40B4-BE49-F238E27FC236}">
                <a16:creationId xmlns:a16="http://schemas.microsoft.com/office/drawing/2014/main" id="{6249DF63-2B74-43B5-B32D-ECD7B86774EF}"/>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B23F8D0A-EB0E-4371-93AE-CC8A23BFC57B}"/>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97974015-53D7-4CC0-90EC-DBD5E7F726D2}"/>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Gauss 모델군</a:t>
            </a:r>
          </a:p>
        </p:txBody>
      </p:sp>
      <p:sp>
        <p:nvSpPr>
          <p:cNvPr id="25" name="">
            <a:extLst xmlns:a="http://schemas.openxmlformats.org/drawingml/2006/main">
              <a:ext uri="{FF2B5EF4-FFF2-40B4-BE49-F238E27FC236}">
                <a16:creationId xmlns:a16="http://schemas.microsoft.com/office/drawing/2014/main" id="{114BBCF8-DBB9-4CE9-993B-13DF5E637689}"/>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5209B17-5621-46C3-AA16-52F8EB44F7E8}"/>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49215F65-19F9-478F-898D-109EA6D183D8}"/>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직원·개발자 검토</a:t>
            </a:r>
          </a:p>
        </p:txBody>
      </p:sp>
      <p:sp>
        <p:nvSpPr>
          <p:cNvPr id="28" name="">
            <a:extLst xmlns:a="http://schemas.openxmlformats.org/drawingml/2006/main">
              <a:ext uri="{FF2B5EF4-FFF2-40B4-BE49-F238E27FC236}">
                <a16:creationId xmlns:a16="http://schemas.microsoft.com/office/drawing/2014/main" id="{5A63C680-DEB3-4DF3-BF60-EFA4D3C1614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AB41FE9-9648-48E6-ACA9-7064678B01A7}"/>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CFF6A916-3F65-49F7-85E7-D21E54CE37D2}"/>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업무·코드 초안</a:t>
            </a:r>
          </a:p>
        </p:txBody>
      </p:sp>
      <p:sp>
        <p:nvSpPr>
          <p:cNvPr id="31" name="">
            <a:extLst xmlns:a="http://schemas.openxmlformats.org/drawingml/2006/main">
              <a:ext uri="{FF2B5EF4-FFF2-40B4-BE49-F238E27FC236}">
                <a16:creationId xmlns:a16="http://schemas.microsoft.com/office/drawing/2014/main" id="{D08D11A8-DFCA-4605-9CF7-C2248B3F37F4}"/>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09B1DE2-DBDF-464F-8650-20AAE7CE1E1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EB6652CE-08A5-42D3-9A45-95E4B546D911}"/>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회귀시험 환류</a:t>
            </a:r>
          </a:p>
        </p:txBody>
      </p:sp>
      <p:sp>
        <p:nvSpPr>
          <p:cNvPr id="34" name="">
            <a:extLst xmlns:a="http://schemas.openxmlformats.org/drawingml/2006/main">
              <a:ext uri="{FF2B5EF4-FFF2-40B4-BE49-F238E27FC236}">
                <a16:creationId xmlns:a16="http://schemas.microsoft.com/office/drawing/2014/main" id="{389D9F52-704C-4786-AA38-64068050F6C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6EBE132-3CC6-49AE-85B5-5EFC811DAE27}"/>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0073CAB0-29A1-4233-8FB0-3057B33EDEFE}"/>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초안·시험 기록</a:t>
            </a:r>
          </a:p>
        </p:txBody>
      </p:sp>
      <p:sp>
        <p:nvSpPr>
          <p:cNvPr id="46" name="">
            <a:extLst xmlns:a="http://schemas.openxmlformats.org/drawingml/2006/main">
              <a:ext uri="{FF2B5EF4-FFF2-40B4-BE49-F238E27FC236}">
                <a16:creationId xmlns:a16="http://schemas.microsoft.com/office/drawing/2014/main" id="{AB04FC09-3841-4674-837D-6AC4C3A3259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31444088"/>
      </p:ext>
    </p:extLst>
  </p:cSld>
</p:sld>
</file>

<file path=ppt/slides/slide1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011B785-2F89-45AA-8125-7F9D6734C3A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논리 인터페이스·복구 설계</a:t>
            </a:r>
          </a:p>
        </p:txBody>
      </p:sp>
      <p:sp>
        <p:nvSpPr>
          <p:cNvPr id="2" name="">
            <a:extLst xmlns:a="http://schemas.openxmlformats.org/drawingml/2006/main">
              <a:ext uri="{FF2B5EF4-FFF2-40B4-BE49-F238E27FC236}">
                <a16:creationId xmlns:a16="http://schemas.microsoft.com/office/drawing/2014/main" id="{FD3D7EDD-24C4-45EE-8117-938691E35D6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데이터와 예외 처리</a:t>
            </a:r>
          </a:p>
        </p:txBody>
      </p:sp>
      <p:sp>
        <p:nvSpPr>
          <p:cNvPr id="3" name="">
            <a:extLst xmlns:a="http://schemas.openxmlformats.org/drawingml/2006/main">
              <a:ext uri="{FF2B5EF4-FFF2-40B4-BE49-F238E27FC236}">
                <a16:creationId xmlns:a16="http://schemas.microsoft.com/office/drawing/2014/main" id="{B2FEEE55-54C7-4BDC-B207-CB9DCF1149A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B6B21E-C892-4241-8D13-369C200267B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B31D2AE-0CE1-49E8-8B0D-D6A5A5850F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115</a:t>
            </a:r>
          </a:p>
        </p:txBody>
      </p:sp>
      <p:sp>
        <p:nvSpPr>
          <p:cNvPr id="6" name="">
            <a:extLst xmlns:a="http://schemas.openxmlformats.org/drawingml/2006/main">
              <a:ext uri="{FF2B5EF4-FFF2-40B4-BE49-F238E27FC236}">
                <a16:creationId xmlns:a16="http://schemas.microsoft.com/office/drawing/2014/main" id="{F2227C71-A365-4595-B0F1-BC3BCC3F573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47E898B-A8C1-4616-99B5-2C424F6771CB}"/>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565A935-9161-4162-BB17-6ADED414B503}"/>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323CC516-03C6-4F5B-9DDA-FA8C84EBA93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포털 요청 또는 개발 도구의 코드 문맥</a:t>
            </a:r>
          </a:p>
        </p:txBody>
      </p:sp>
      <p:sp>
        <p:nvSpPr>
          <p:cNvPr id="10" name="">
            <a:extLst xmlns:a="http://schemas.openxmlformats.org/drawingml/2006/main">
              <a:ext uri="{FF2B5EF4-FFF2-40B4-BE49-F238E27FC236}">
                <a16:creationId xmlns:a16="http://schemas.microsoft.com/office/drawing/2014/main" id="{1C35DFA0-9F54-45E6-A3E8-ABDDE1868B6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AD6A30-0086-43DE-9D59-BEACB6A164F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26D78E33-1BFC-4A16-8993-9D187474D72E}"/>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요청·코드 문맥</a:t>
            </a:r>
          </a:p>
        </p:txBody>
      </p:sp>
      <p:sp>
        <p:nvSpPr>
          <p:cNvPr id="13" name="">
            <a:extLst xmlns:a="http://schemas.openxmlformats.org/drawingml/2006/main">
              <a:ext uri="{FF2B5EF4-FFF2-40B4-BE49-F238E27FC236}">
                <a16:creationId xmlns:a16="http://schemas.microsoft.com/office/drawing/2014/main" id="{29009ED3-5FAD-4A33-A9E5-ACB9B17DC9A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7C1A44B-527E-4736-AF5C-EFE399D9B5F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1EF2CA5F-1C58-4132-987F-DAAB39EFF2DA}"/>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업무별 이용정책</a:t>
            </a:r>
          </a:p>
        </p:txBody>
      </p:sp>
      <p:sp>
        <p:nvSpPr>
          <p:cNvPr id="16" name="">
            <a:extLst xmlns:a="http://schemas.openxmlformats.org/drawingml/2006/main">
              <a:ext uri="{FF2B5EF4-FFF2-40B4-BE49-F238E27FC236}">
                <a16:creationId xmlns:a16="http://schemas.microsoft.com/office/drawing/2014/main" id="{1B8C7D42-974D-48EB-BD6D-5AE81697427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0CDA716-699E-4211-A3C4-0457CB89CBF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EE378C44-F852-4089-A35D-A3F0AFB1F01C}"/>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결과</a:t>
            </a:r>
          </a:p>
        </p:txBody>
      </p:sp>
      <p:sp>
        <p:nvSpPr>
          <p:cNvPr id="19" name="">
            <a:extLst xmlns:a="http://schemas.openxmlformats.org/drawingml/2006/main">
              <a:ext uri="{FF2B5EF4-FFF2-40B4-BE49-F238E27FC236}">
                <a16:creationId xmlns:a16="http://schemas.microsoft.com/office/drawing/2014/main" id="{220E2F08-B626-4CE9-ADF1-72E6318E332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4C24966-399E-464C-AFCE-567B4E011EE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1834188B-3DC6-421F-9D0C-13C1D0BB282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결과</a:t>
            </a:r>
          </a:p>
        </p:txBody>
      </p:sp>
      <p:sp>
        <p:nvSpPr>
          <p:cNvPr id="22" name="">
            <a:extLst xmlns:a="http://schemas.openxmlformats.org/drawingml/2006/main">
              <a:ext uri="{FF2B5EF4-FFF2-40B4-BE49-F238E27FC236}">
                <a16:creationId xmlns:a16="http://schemas.microsoft.com/office/drawing/2014/main" id="{7ADE4A02-98ED-4FB8-9800-F9F4CDDAD0C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6A63953-B94D-435A-AF65-1A548A0B898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61B56AC0-7C3D-4B51-AC13-21BE9712EEF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검토·시험</a:t>
            </a:r>
          </a:p>
        </p:txBody>
      </p:sp>
      <p:sp>
        <p:nvSpPr>
          <p:cNvPr id="25" name="">
            <a:extLst xmlns:a="http://schemas.openxmlformats.org/drawingml/2006/main">
              <a:ext uri="{FF2B5EF4-FFF2-40B4-BE49-F238E27FC236}">
                <a16:creationId xmlns:a16="http://schemas.microsoft.com/office/drawing/2014/main" id="{70DD2DA2-F945-4AE9-9856-0A0B37FF318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83DD4F1-C702-48E9-B28C-1E237FFF30A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민감 코드 입력·취약 코드 생성·시험 실패</a:t>
            </a:r>
          </a:p>
        </p:txBody>
      </p:sp>
      <p:sp>
        <p:nvSpPr>
          <p:cNvPr id="27" name="">
            <a:extLst xmlns:a="http://schemas.openxmlformats.org/drawingml/2006/main">
              <a:ext uri="{FF2B5EF4-FFF2-40B4-BE49-F238E27FC236}">
                <a16:creationId xmlns:a16="http://schemas.microsoft.com/office/drawing/2014/main" id="{22EAB14B-BA24-40A0-ABA3-5467E6D31B9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051F153-0FEC-4A2C-AFC0-4396E4F70D5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보안 검사·회귀 시험·현업 검토</a:t>
            </a:r>
          </a:p>
        </p:txBody>
      </p:sp>
      <p:sp>
        <p:nvSpPr>
          <p:cNvPr id="29" name="">
            <a:extLst xmlns:a="http://schemas.openxmlformats.org/drawingml/2006/main">
              <a:ext uri="{FF2B5EF4-FFF2-40B4-BE49-F238E27FC236}">
                <a16:creationId xmlns:a16="http://schemas.microsoft.com/office/drawing/2014/main" id="{7D5673D0-91A2-4701-8E85-22F8EEF81A2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814A441-A77A-44AD-861F-930665D8A365}"/>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생성 코드 검토·보안·회귀시험 결과 환류</a:t>
            </a:r>
          </a:p>
        </p:txBody>
      </p:sp>
      <p:sp>
        <p:nvSpPr>
          <p:cNvPr id="31" name="">
            <a:extLst xmlns:a="http://schemas.openxmlformats.org/drawingml/2006/main">
              <a:ext uri="{FF2B5EF4-FFF2-40B4-BE49-F238E27FC236}">
                <a16:creationId xmlns:a16="http://schemas.microsoft.com/office/drawing/2014/main" id="{F47D7CC8-1F75-4741-85B1-0FFA2E8ECFB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6CA1995D-E687-4B2A-8C96-11AA2A1F32C3}"/>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입력 경계·코드 검토·보안·회귀시험 결과</a:t>
            </a:r>
          </a:p>
        </p:txBody>
      </p:sp>
    </p:spTree>
    <p:extLst>
      <p:ext uri="{BB962C8B-B14F-4D97-AF65-F5344CB8AC3E}">
        <p14:creationId xmlns:p14="http://schemas.microsoft.com/office/powerpoint/2010/main" val="1801143609"/>
      </p:ext>
    </p:extLst>
  </p:cSld>
</p:sld>
</file>

<file path=ppt/slides/slide1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99CA3CD-607B-4B33-BDCC-5AFA2DA55F0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CCK 비교·재현 시험 설계</a:t>
            </a:r>
          </a:p>
        </p:txBody>
      </p:sp>
      <p:sp>
        <p:nvSpPr>
          <p:cNvPr id="2" name="">
            <a:extLst xmlns:a="http://schemas.openxmlformats.org/drawingml/2006/main">
              <a:ext uri="{FF2B5EF4-FFF2-40B4-BE49-F238E27FC236}">
                <a16:creationId xmlns:a16="http://schemas.microsoft.com/office/drawing/2014/main" id="{6BD003F3-8229-446E-A573-62D60E33ACE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벤치마킹</a:t>
            </a:r>
          </a:p>
        </p:txBody>
      </p:sp>
      <p:sp>
        <p:nvSpPr>
          <p:cNvPr id="3" name="">
            <a:extLst xmlns:a="http://schemas.openxmlformats.org/drawingml/2006/main">
              <a:ext uri="{FF2B5EF4-FFF2-40B4-BE49-F238E27FC236}">
                <a16:creationId xmlns:a16="http://schemas.microsoft.com/office/drawing/2014/main" id="{7223C797-13FC-4E6E-8E37-35B317F3CBD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7E3A60-0B31-4E89-979C-0CDDF596D2C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BB1899C-0426-4E67-9DED-6ADE22239AF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116</a:t>
            </a:r>
          </a:p>
        </p:txBody>
      </p:sp>
      <p:sp>
        <p:nvSpPr>
          <p:cNvPr id="6" name="">
            <a:extLst xmlns:a="http://schemas.openxmlformats.org/drawingml/2006/main">
              <a:ext uri="{FF2B5EF4-FFF2-40B4-BE49-F238E27FC236}">
                <a16:creationId xmlns:a16="http://schemas.microsoft.com/office/drawing/2014/main" id="{02C828BC-4D3E-4F18-9B68-5E9C91CB41E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9E9B2114-7044-4245-8B42-45593D098A9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지원과 개발 지원의 구분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모델군의 업무 도구 적용</a:t>
            </a:r>
          </a:p>
        </p:txBody>
      </p:sp>
      <p:sp>
        <p:nvSpPr>
          <p:cNvPr id="8" name="">
            <a:extLst xmlns:a="http://schemas.openxmlformats.org/drawingml/2006/main">
              <a:ext uri="{FF2B5EF4-FFF2-40B4-BE49-F238E27FC236}">
                <a16:creationId xmlns:a16="http://schemas.microsoft.com/office/drawing/2014/main" id="{DA043345-F119-41FE-B502-CCED3AEA81A7}"/>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62AAA76D-4865-4B26-AC31-8384BACAB90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코드 보안·품질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생성 코드의 무검토 반영</a:t>
            </a:r>
          </a:p>
        </p:txBody>
      </p:sp>
      <p:sp>
        <p:nvSpPr>
          <p:cNvPr id="10" name="">
            <a:extLst xmlns:a="http://schemas.openxmlformats.org/drawingml/2006/main">
              <a:ext uri="{FF2B5EF4-FFF2-40B4-BE49-F238E27FC236}">
                <a16:creationId xmlns:a16="http://schemas.microsoft.com/office/drawing/2014/main" id="{993D9EA9-E94B-40AE-816A-6B85002B8B18}"/>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3D295C9-AF92-4E09-B963-772386AA266A}"/>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보안 검사·회귀 시험·현업 검토</a:t>
            </a:r>
          </a:p>
        </p:txBody>
      </p:sp>
      <p:sp>
        <p:nvSpPr>
          <p:cNvPr id="12" name="">
            <a:extLst xmlns:a="http://schemas.openxmlformats.org/drawingml/2006/main">
              <a:ext uri="{FF2B5EF4-FFF2-40B4-BE49-F238E27FC236}">
                <a16:creationId xmlns:a16="http://schemas.microsoft.com/office/drawing/2014/main" id="{BA8B5BE4-DC24-4319-B16C-F1A1BFC25DC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9D7FA8D3-9272-4E49-85C9-A42A77FFFA6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일반 문서와 개발 코드를 각 업무 도구에서 작성</a:t>
            </a:r>
          </a:p>
        </p:txBody>
      </p:sp>
      <p:sp>
        <p:nvSpPr>
          <p:cNvPr id="14" name="">
            <a:extLst xmlns:a="http://schemas.openxmlformats.org/drawingml/2006/main">
              <a:ext uri="{FF2B5EF4-FFF2-40B4-BE49-F238E27FC236}">
                <a16:creationId xmlns:a16="http://schemas.microsoft.com/office/drawing/2014/main" id="{30FDE11F-4320-4138-8F67-92BC1C206FDC}"/>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D1C7520-FCC4-43B5-9089-19459F777DA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민감 코드 입력·취약 코드 생성·시험 실패</a:t>
            </a:r>
          </a:p>
        </p:txBody>
      </p:sp>
      <p:sp>
        <p:nvSpPr>
          <p:cNvPr id="16" name="">
            <a:extLst xmlns:a="http://schemas.openxmlformats.org/drawingml/2006/main">
              <a:ext uri="{FF2B5EF4-FFF2-40B4-BE49-F238E27FC236}">
                <a16:creationId xmlns:a16="http://schemas.microsoft.com/office/drawing/2014/main" id="{237DB29B-B3B9-4B34-9E00-34C72C6BCA7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7CBE3A3-E2D0-42F2-8B2A-874E8E8EFC4F}"/>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입력 경계·코드 검토·보안·회귀시험 결과</a:t>
            </a:r>
          </a:p>
        </p:txBody>
      </p:sp>
    </p:spTree>
    <p:extLst>
      <p:ext uri="{BB962C8B-B14F-4D97-AF65-F5344CB8AC3E}">
        <p14:creationId xmlns:p14="http://schemas.microsoft.com/office/powerpoint/2010/main" val="759878742"/>
      </p:ext>
    </p:extLst>
  </p:cSld>
</p:sld>
</file>

<file path=ppt/slides/slide1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AEDE00A-6152-4B63-BBC0-F4289FA5754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성과 미검증 / 해외</a:t>
            </a:r>
          </a:p>
        </p:txBody>
      </p:sp>
      <p:sp>
        <p:nvSpPr>
          <p:cNvPr id="2" name="">
            <a:extLst xmlns:a="http://schemas.openxmlformats.org/drawingml/2006/main">
              <a:ext uri="{FF2B5EF4-FFF2-40B4-BE49-F238E27FC236}">
                <a16:creationId xmlns:a16="http://schemas.microsoft.com/office/drawing/2014/main" id="{7C75C189-124B-45BA-9BA7-086381F320A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a:t>
            </a:r>
          </a:p>
        </p:txBody>
      </p:sp>
      <p:sp>
        <p:nvSpPr>
          <p:cNvPr id="3" name="">
            <a:extLst xmlns:a="http://schemas.openxmlformats.org/drawingml/2006/main">
              <a:ext uri="{FF2B5EF4-FFF2-40B4-BE49-F238E27FC236}">
                <a16:creationId xmlns:a16="http://schemas.microsoft.com/office/drawing/2014/main" id="{12F676E4-4A2E-4E5A-838C-8F045444DBD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782BE8-BF18-4F62-B824-7FCE72F6F6A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E16982A-B8F5-4DEE-9C7E-0E96A8404D4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117</a:t>
            </a:r>
          </a:p>
        </p:txBody>
      </p:sp>
      <p:sp>
        <p:nvSpPr>
          <p:cNvPr id="6" name="">
            <a:extLst xmlns:a="http://schemas.openxmlformats.org/drawingml/2006/main">
              <a:ext uri="{FF2B5EF4-FFF2-40B4-BE49-F238E27FC236}">
                <a16:creationId xmlns:a16="http://schemas.microsoft.com/office/drawing/2014/main" id="{C4D71064-7F49-4914-ADBA-D46CF85487A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79F48C1-8BCA-4678-A516-53DA93B801E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일본 정부 AI 源内의 공통 AI 도구와 업무 앱 확산 사례.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범용 도구 제공과 특정 업무를 수행하는 앱 개발을 함께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운영해 직원의 활용 진입점과 기관별 확장 경로를 마련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접근.</a:t>
            </a:r>
          </a:p>
        </p:txBody>
      </p:sp>
      <p:sp>
        <p:nvSpPr>
          <p:cNvPr id="8" name="">
            <a:extLst xmlns:a="http://schemas.openxmlformats.org/drawingml/2006/main">
              <a:ext uri="{FF2B5EF4-FFF2-40B4-BE49-F238E27FC236}">
                <a16:creationId xmlns:a16="http://schemas.microsoft.com/office/drawing/2014/main" id="{F9ADA33C-F802-4D7C-8E28-34F51BD7458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F89DA87-1DF0-4AEB-AB1E-2ABDCB0199C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공통 계정·모델 접근 계층 위에 업무 앱·지식·템플릿을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연결하는 논리 구성. 앱별 소유자, 사용 가능한 자료, 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력 형식, 출력 검토 절차를 정의하고 공통 운영에서 이용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·오류·비용을 관찰하는 구조.</a:t>
            </a:r>
          </a:p>
        </p:txBody>
      </p:sp>
      <p:sp>
        <p:nvSpPr>
          <p:cNvPr id="10" name="">
            <a:extLst xmlns:a="http://schemas.openxmlformats.org/drawingml/2006/main">
              <a:ext uri="{FF2B5EF4-FFF2-40B4-BE49-F238E27FC236}">
                <a16:creationId xmlns:a16="http://schemas.microsoft.com/office/drawing/2014/main" id="{680FF2C1-F177-4959-9599-F4DCF8B7C0F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5CA9C87-933B-4008-ABCA-A8A1B288292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TS의 AI혁신처는 공통 접속·권한·관측 기반을 담당하고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각 부서는 업무 지식과 결과물의 책임을 담당하는 운영 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 공통 기반 검수와 업무 앱 검수를 분리해 부서 확장 때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구축을 줄이는 방식의 적용.</a:t>
            </a:r>
          </a:p>
        </p:txBody>
      </p:sp>
      <p:sp>
        <p:nvSpPr>
          <p:cNvPr id="12" name="">
            <a:extLst xmlns:a="http://schemas.openxmlformats.org/drawingml/2006/main">
              <a:ext uri="{FF2B5EF4-FFF2-40B4-BE49-F238E27FC236}">
                <a16:creationId xmlns:a16="http://schemas.microsoft.com/office/drawing/2014/main" id="{A810D1FB-AF37-43AF-8ECD-F35603A9A22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1B3C80E-EA64-4228-AE6C-49083CB5297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설정·조직 사전·업무 스킬·배포판본 관리</a:t>
            </a:r>
          </a:p>
        </p:txBody>
      </p:sp>
      <p:sp>
        <p:nvSpPr>
          <p:cNvPr id="14" name="">
            <a:extLst xmlns:a="http://schemas.openxmlformats.org/drawingml/2006/main">
              <a:ext uri="{FF2B5EF4-FFF2-40B4-BE49-F238E27FC236}">
                <a16:creationId xmlns:a16="http://schemas.microsoft.com/office/drawing/2014/main" id="{9F809460-F927-465D-BBE1-1926C5C3820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2B7F51C-B24B-41AC-BA31-1672B08113B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두 번째 부서 적용의 수정 범위·추가 공수·격리 평가</a:t>
            </a:r>
          </a:p>
        </p:txBody>
      </p:sp>
      <p:sp>
        <p:nvSpPr>
          <p:cNvPr id="16" name="">
            <a:extLst xmlns:a="http://schemas.openxmlformats.org/drawingml/2006/main">
              <a:ext uri="{FF2B5EF4-FFF2-40B4-BE49-F238E27FC236}">
                <a16:creationId xmlns:a16="http://schemas.microsoft.com/office/drawing/2014/main" id="{19F63EC8-4CCD-4B62-BB4E-9B22A10319BC}"/>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15789A9-60B7-42DC-85BB-6A94B635DF1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F725CC25-84A0-440C-84DE-C9F6F74D350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청내 운영 실적과 범정부 실증 대상 규모의 분리 · 도입 인원과 생산성 구분</a:t>
            </a:r>
          </a:p>
        </p:txBody>
      </p:sp>
    </p:spTree>
    <p:extLst>
      <p:ext uri="{BB962C8B-B14F-4D97-AF65-F5344CB8AC3E}">
        <p14:creationId xmlns:p14="http://schemas.microsoft.com/office/powerpoint/2010/main" val="11485837"/>
      </p:ext>
    </p:extLst>
  </p:cSld>
</p:sld>
</file>

<file path=ppt/slides/slide1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C085A21-6604-4A5E-BCFA-8660B292FAA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As-Is → To-Be → 기대효과 → 확인 결과</a:t>
            </a:r>
          </a:p>
        </p:txBody>
      </p:sp>
      <p:sp>
        <p:nvSpPr>
          <p:cNvPr id="2" name="">
            <a:extLst xmlns:a="http://schemas.openxmlformats.org/drawingml/2006/main">
              <a:ext uri="{FF2B5EF4-FFF2-40B4-BE49-F238E27FC236}">
                <a16:creationId xmlns:a16="http://schemas.microsoft.com/office/drawing/2014/main" id="{3DBAE224-1710-475E-8071-F8E1C862036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기대와 결과</a:t>
            </a:r>
          </a:p>
        </p:txBody>
      </p:sp>
      <p:sp>
        <p:nvSpPr>
          <p:cNvPr id="3" name="">
            <a:extLst xmlns:a="http://schemas.openxmlformats.org/drawingml/2006/main">
              <a:ext uri="{FF2B5EF4-FFF2-40B4-BE49-F238E27FC236}">
                <a16:creationId xmlns:a16="http://schemas.microsoft.com/office/drawing/2014/main" id="{3C11F076-CA9B-4B78-9192-499B1D46428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3638DE-8A5A-41DE-AB52-317C745647F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366B42-81C7-49A0-B6D9-FBCA3C74488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118</a:t>
            </a:r>
          </a:p>
        </p:txBody>
      </p:sp>
      <p:sp>
        <p:nvSpPr>
          <p:cNvPr id="6" name="">
            <a:extLst xmlns:a="http://schemas.openxmlformats.org/drawingml/2006/main">
              <a:ext uri="{FF2B5EF4-FFF2-40B4-BE49-F238E27FC236}">
                <a16:creationId xmlns:a16="http://schemas.microsoft.com/office/drawing/2014/main" id="{70FA96A7-5F2E-44EE-ADEC-8ABC83ADBD0E}"/>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85775BCE-2821-4A31-B5B4-E21DFD61688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중앙부처마다 생성형 AI 실험 환경과 업무 프롬프트·안전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통제가 개별 구성</a:t>
            </a:r>
          </a:p>
        </p:txBody>
      </p:sp>
      <p:sp>
        <p:nvSpPr>
          <p:cNvPr id="8" name="">
            <a:extLst xmlns:a="http://schemas.openxmlformats.org/drawingml/2006/main">
              <a:ext uri="{FF2B5EF4-FFF2-40B4-BE49-F238E27FC236}">
                <a16:creationId xmlns:a16="http://schemas.microsoft.com/office/drawing/2014/main" id="{5D4F94D8-46E3-4346-A8D7-E7C865B40A5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A71EE929-6A46-4DCD-898B-65113CC24A28}"/>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일본 디지털청 공통 생성형 AI 환경 源内에 업무 앱·템플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릿을 구성하고 기관별 실증</a:t>
            </a:r>
          </a:p>
        </p:txBody>
      </p:sp>
      <p:sp>
        <p:nvSpPr>
          <p:cNvPr id="10" name="">
            <a:extLst xmlns:a="http://schemas.openxmlformats.org/drawingml/2006/main">
              <a:ext uri="{FF2B5EF4-FFF2-40B4-BE49-F238E27FC236}">
                <a16:creationId xmlns:a16="http://schemas.microsoft.com/office/drawing/2014/main" id="{D356C144-FE1E-46CF-AF26-643FE03716F1}"/>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FA79E8D4-D462-411A-9FC8-4CBDDC3D821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구축 감소, 안전한 접근 확대, 업무별 초안·조사시간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단축</a:t>
            </a:r>
          </a:p>
        </p:txBody>
      </p:sp>
      <p:sp>
        <p:nvSpPr>
          <p:cNvPr id="12" name="">
            <a:extLst xmlns:a="http://schemas.openxmlformats.org/drawingml/2006/main">
              <a:ext uri="{FF2B5EF4-FFF2-40B4-BE49-F238E27FC236}">
                <a16:creationId xmlns:a16="http://schemas.microsoft.com/office/drawing/2014/main" id="{DD7C6E89-2EA4-485A-9DB7-E65CA2B679D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3EEC659-04BF-4E67-B456-2496D79A3CE3}"/>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디지털청 내부 운영과 범정부 실증 발표 확인. 참여인원과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과업별 생산성·품질은 별도 결과</a:t>
            </a:r>
          </a:p>
        </p:txBody>
      </p:sp>
      <p:sp>
        <p:nvSpPr>
          <p:cNvPr id="14" name="">
            <a:extLst xmlns:a="http://schemas.openxmlformats.org/drawingml/2006/main">
              <a:ext uri="{FF2B5EF4-FFF2-40B4-BE49-F238E27FC236}">
                <a16:creationId xmlns:a16="http://schemas.microsoft.com/office/drawing/2014/main" id="{7577F030-D9C8-45CF-B545-59D89BA6D68B}"/>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도입·실증 범위만으로 시간절감이나 비용절감 성과 단정 불가</a:t>
            </a:r>
          </a:p>
        </p:txBody>
      </p:sp>
      <p:sp>
        <p:nvSpPr>
          <p:cNvPr id="15" name="">
            <a:extLst xmlns:a="http://schemas.openxmlformats.org/drawingml/2006/main">
              <a:ext uri="{FF2B5EF4-FFF2-40B4-BE49-F238E27FC236}">
                <a16:creationId xmlns:a16="http://schemas.microsoft.com/office/drawing/2014/main" id="{6E86FFB9-6234-413B-9457-C8BC65B39071}"/>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청내 운영 + 범정부 실증 · 기관별 비교군·과업 난도와 실제 활성 사용자 분모 필요</a:t>
            </a:r>
          </a:p>
        </p:txBody>
      </p:sp>
    </p:spTree>
    <p:extLst>
      <p:ext uri="{BB962C8B-B14F-4D97-AF65-F5344CB8AC3E}">
        <p14:creationId xmlns:p14="http://schemas.microsoft.com/office/powerpoint/2010/main" val="1195384532"/>
      </p:ext>
    </p:extLst>
  </p:cSld>
</p:sld>
</file>

<file path=ppt/slides/slide1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53093A75-D3FC-4DCA-8710-6BBCFD5213B5}"/>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C072281-23F7-44DA-AFD5-E85BB707A803}"/>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196ABB8E-D2E2-419D-B56F-25C50D945F56}"/>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B9065093-7B70-4853-B052-380948601FD0}"/>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26F070D1-A90F-45BD-AE09-D32D986B2375}"/>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B5A8931-A397-49EE-BEAF-EFB9567FAA23}"/>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B6003157-BFAA-4C8E-9393-933C17C383AA}"/>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6A7C80C8-A9D3-46D2-8B90-0DC60F3AA2F5}"/>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C4FFDD5-77FC-4499-8773-DD482C8B756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990C4A8C-A159-4637-A8FC-797C9F70663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지식 갱신·검색·근거 응답</a:t>
            </a:r>
          </a:p>
        </p:txBody>
      </p:sp>
      <p:sp>
        <p:nvSpPr>
          <p:cNvPr id="2" name="">
            <a:extLst xmlns:a="http://schemas.openxmlformats.org/drawingml/2006/main">
              <a:ext uri="{FF2B5EF4-FFF2-40B4-BE49-F238E27FC236}">
                <a16:creationId xmlns:a16="http://schemas.microsoft.com/office/drawing/2014/main" id="{E77E6911-2032-4A56-BE1A-41AB7D04196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세부 서비스 구조</a:t>
            </a:r>
          </a:p>
        </p:txBody>
      </p:sp>
      <p:sp>
        <p:nvSpPr>
          <p:cNvPr id="3" name="">
            <a:extLst xmlns:a="http://schemas.openxmlformats.org/drawingml/2006/main">
              <a:ext uri="{FF2B5EF4-FFF2-40B4-BE49-F238E27FC236}">
                <a16:creationId xmlns:a16="http://schemas.microsoft.com/office/drawing/2014/main" id="{077880E9-43C5-40EB-9CEE-0289130C2B5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3BB3F12-97C2-4640-B530-1035E6C46D0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DD29770-8A2D-4ED2-AD98-88BA76512E4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119</a:t>
            </a:r>
          </a:p>
        </p:txBody>
      </p:sp>
      <p:sp>
        <p:nvSpPr>
          <p:cNvPr id="6" name="">
            <a:extLst xmlns:a="http://schemas.openxmlformats.org/drawingml/2006/main">
              <a:ext uri="{FF2B5EF4-FFF2-40B4-BE49-F238E27FC236}">
                <a16:creationId xmlns:a16="http://schemas.microsoft.com/office/drawing/2014/main" id="{763B3D52-C0C8-4D37-87D8-AA33F61E4212}"/>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인증·접점 → 공통 AI 환경 → 법제·답변 업무 앱 → 이용 관측·현업 개선</a:t>
            </a:r>
          </a:p>
        </p:txBody>
      </p:sp>
      <p:sp>
        <p:nvSpPr>
          <p:cNvPr id="7" name="">
            <a:extLst xmlns:a="http://schemas.openxmlformats.org/drawingml/2006/main">
              <a:ext uri="{FF2B5EF4-FFF2-40B4-BE49-F238E27FC236}">
                <a16:creationId xmlns:a16="http://schemas.microsoft.com/office/drawing/2014/main" id="{036F1B68-841E-4A32-ACFA-923158C3C7C6}"/>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5F59545-2053-4DA0-AEFF-0214E6F2FE9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19D978E7-C56A-43BE-8DD7-D4C1FD4CE0AC}"/>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문서·템플릿</a:t>
            </a:r>
          </a:p>
        </p:txBody>
      </p:sp>
      <p:sp>
        <p:nvSpPr>
          <p:cNvPr id="10" name="">
            <a:extLst xmlns:a="http://schemas.openxmlformats.org/drawingml/2006/main">
              <a:ext uri="{FF2B5EF4-FFF2-40B4-BE49-F238E27FC236}">
                <a16:creationId xmlns:a16="http://schemas.microsoft.com/office/drawing/2014/main" id="{B6C8A8FE-3AC5-4AEB-A4DA-69512487E1B5}"/>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B0A4275-EC28-4C58-89B5-434B1338A420}"/>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7697ABF1-31A9-41A3-BA65-8A1165AE39F6}"/>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판본·소유부서 정리</a:t>
            </a:r>
          </a:p>
        </p:txBody>
      </p:sp>
      <p:sp>
        <p:nvSpPr>
          <p:cNvPr id="13" name="">
            <a:extLst xmlns:a="http://schemas.openxmlformats.org/drawingml/2006/main">
              <a:ext uri="{FF2B5EF4-FFF2-40B4-BE49-F238E27FC236}">
                <a16:creationId xmlns:a16="http://schemas.microsoft.com/office/drawing/2014/main" id="{87D45875-0112-4062-867D-04A22918CF47}"/>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FCC4445-B1F4-4486-AEE4-D063AD1F51E2}"/>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075AF8FB-FBE4-49F7-A468-2596CAA19466}"/>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앱별 지식</a:t>
            </a:r>
          </a:p>
        </p:txBody>
      </p:sp>
      <p:sp>
        <p:nvSpPr>
          <p:cNvPr id="16" name="">
            <a:extLst xmlns:a="http://schemas.openxmlformats.org/drawingml/2006/main">
              <a:ext uri="{FF2B5EF4-FFF2-40B4-BE49-F238E27FC236}">
                <a16:creationId xmlns:a16="http://schemas.microsoft.com/office/drawing/2014/main" id="{0EE7BA60-1F22-4943-BB69-F76B96262877}"/>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5EA7418-1959-431B-87B7-64B871321865}"/>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1240EAF9-68AA-4B3E-964C-11ECAA1D3A9F}"/>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 지식 검색</a:t>
            </a:r>
          </a:p>
        </p:txBody>
      </p:sp>
      <p:sp>
        <p:nvSpPr>
          <p:cNvPr id="19" name="">
            <a:extLst xmlns:a="http://schemas.openxmlformats.org/drawingml/2006/main">
              <a:ext uri="{FF2B5EF4-FFF2-40B4-BE49-F238E27FC236}">
                <a16:creationId xmlns:a16="http://schemas.microsoft.com/office/drawing/2014/main" id="{4CBF1F3D-1881-4A41-B340-D28891A1D933}"/>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13D86C41-4041-44BF-965F-C9EDB9F8B58C}"/>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B50916FC-C8BA-414C-954C-AE4B822BC407}"/>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업무 접점</a:t>
            </a:r>
          </a:p>
        </p:txBody>
      </p:sp>
      <p:sp>
        <p:nvSpPr>
          <p:cNvPr id="22" name="">
            <a:extLst xmlns:a="http://schemas.openxmlformats.org/drawingml/2006/main">
              <a:ext uri="{FF2B5EF4-FFF2-40B4-BE49-F238E27FC236}">
                <a16:creationId xmlns:a16="http://schemas.microsoft.com/office/drawing/2014/main" id="{D0749169-FE11-4221-92BC-7EAC083B3CBD}"/>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EA13CFC-DB07-47CF-8786-5842ED93958C}"/>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6A6B2042-19BC-4B3C-85DD-BEDFF66E4E31}"/>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앱·업무 목적</a:t>
            </a:r>
          </a:p>
        </p:txBody>
      </p:sp>
      <p:sp>
        <p:nvSpPr>
          <p:cNvPr id="25" name="">
            <a:extLst xmlns:a="http://schemas.openxmlformats.org/drawingml/2006/main">
              <a:ext uri="{FF2B5EF4-FFF2-40B4-BE49-F238E27FC236}">
                <a16:creationId xmlns:a16="http://schemas.microsoft.com/office/drawing/2014/main" id="{76621260-23AB-4CC4-BA28-6D698A810D5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6BE4A3A-30FA-4C8E-92FB-175CC162F08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876EC54F-1A68-4903-9D3F-872CFA86AD0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源内 공통 AI</a:t>
            </a:r>
          </a:p>
        </p:txBody>
      </p:sp>
      <p:sp>
        <p:nvSpPr>
          <p:cNvPr id="28" name="">
            <a:extLst xmlns:a="http://schemas.openxmlformats.org/drawingml/2006/main">
              <a:ext uri="{FF2B5EF4-FFF2-40B4-BE49-F238E27FC236}">
                <a16:creationId xmlns:a16="http://schemas.microsoft.com/office/drawing/2014/main" id="{524AE5F9-37B2-4541-AA33-E040592EA5E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2413174-F52D-45CF-BAE8-B7A576791300}"/>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D5610608-017A-4FF6-9601-B5F0A54B437A}"/>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근거·용도 검사</a:t>
            </a:r>
          </a:p>
        </p:txBody>
      </p:sp>
      <p:sp>
        <p:nvSpPr>
          <p:cNvPr id="31" name="">
            <a:extLst xmlns:a="http://schemas.openxmlformats.org/drawingml/2006/main">
              <a:ext uri="{FF2B5EF4-FFF2-40B4-BE49-F238E27FC236}">
                <a16:creationId xmlns:a16="http://schemas.microsoft.com/office/drawing/2014/main" id="{E0F3C815-0FF5-4930-848C-7CC10E50DFC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466FE825-E29C-4B4D-BAC4-4BD763487086}"/>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023593AC-06C0-4273-A2CD-10134E0CAABE}"/>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공무원 확인</a:t>
            </a:r>
          </a:p>
        </p:txBody>
      </p:sp>
      <p:sp>
        <p:nvSpPr>
          <p:cNvPr id="34" name="">
            <a:extLst xmlns:a="http://schemas.openxmlformats.org/drawingml/2006/main">
              <a:ext uri="{FF2B5EF4-FFF2-40B4-BE49-F238E27FC236}">
                <a16:creationId xmlns:a16="http://schemas.microsoft.com/office/drawing/2014/main" id="{01CA7647-9F3F-43A6-A6CE-09FC67975980}"/>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4A5C282-A51B-4E51-ADEC-E06794932E88}"/>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5E58A883-689C-458E-B555-F1F0BDDD88C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앱 결과</a:t>
            </a:r>
          </a:p>
        </p:txBody>
      </p:sp>
      <p:sp>
        <p:nvSpPr>
          <p:cNvPr id="46" name="">
            <a:extLst xmlns:a="http://schemas.openxmlformats.org/drawingml/2006/main">
              <a:ext uri="{FF2B5EF4-FFF2-40B4-BE49-F238E27FC236}">
                <a16:creationId xmlns:a16="http://schemas.microsoft.com/office/drawing/2014/main" id="{58A6CEAB-14C0-422B-9CD7-913DE05678B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31577580"/>
      </p:ext>
    </p:extLst>
  </p:cSld>
</p:sld>
</file>

<file path=ppt/slides/slide1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A4905A7-131C-4ADA-BA13-1A2693A84E7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논리 인터페이스·복구 설계</a:t>
            </a:r>
          </a:p>
        </p:txBody>
      </p:sp>
      <p:sp>
        <p:nvSpPr>
          <p:cNvPr id="2" name="">
            <a:extLst xmlns:a="http://schemas.openxmlformats.org/drawingml/2006/main">
              <a:ext uri="{FF2B5EF4-FFF2-40B4-BE49-F238E27FC236}">
                <a16:creationId xmlns:a16="http://schemas.microsoft.com/office/drawing/2014/main" id="{5FF77AF4-A8BD-4450-913C-A556315F124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데이터와 예외 처리</a:t>
            </a:r>
          </a:p>
        </p:txBody>
      </p:sp>
      <p:sp>
        <p:nvSpPr>
          <p:cNvPr id="3" name="">
            <a:extLst xmlns:a="http://schemas.openxmlformats.org/drawingml/2006/main">
              <a:ext uri="{FF2B5EF4-FFF2-40B4-BE49-F238E27FC236}">
                <a16:creationId xmlns:a16="http://schemas.microsoft.com/office/drawing/2014/main" id="{DC0E8770-145E-44C2-B4CC-8658094AF97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7364C99-5581-4537-B44C-BAE1BFF3BB2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2EF06F8-2CD9-487B-ABF4-CE10D289B7A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120</a:t>
            </a:r>
          </a:p>
        </p:txBody>
      </p:sp>
      <p:sp>
        <p:nvSpPr>
          <p:cNvPr id="6" name="">
            <a:extLst xmlns:a="http://schemas.openxmlformats.org/drawingml/2006/main">
              <a:ext uri="{FF2B5EF4-FFF2-40B4-BE49-F238E27FC236}">
                <a16:creationId xmlns:a16="http://schemas.microsoft.com/office/drawing/2014/main" id="{731201B4-A045-4368-A632-5EF0896E09A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7A5C00B-ED28-4C7D-90AB-97AECD87C228}"/>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746DEDAD-AAFC-468E-928C-3956B45E352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BE52F90C-41F2-413B-A94F-40A9937C23F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문서·템플릿</a:t>
            </a:r>
          </a:p>
        </p:txBody>
      </p:sp>
      <p:sp>
        <p:nvSpPr>
          <p:cNvPr id="10" name="">
            <a:extLst xmlns:a="http://schemas.openxmlformats.org/drawingml/2006/main">
              <a:ext uri="{FF2B5EF4-FFF2-40B4-BE49-F238E27FC236}">
                <a16:creationId xmlns:a16="http://schemas.microsoft.com/office/drawing/2014/main" id="{C5B31E02-24AB-432E-9F00-548A103EBADB}"/>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ED9591-3EC3-43D2-9DED-274D937326F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BF179658-7D8B-455D-AA99-BBD7F4DD943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59D45AD-121B-4265-890B-D59EF868B8E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E223DF9-48B5-4F0C-8DDA-9C6C67971F8B}"/>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79A1105D-E85D-48DF-BD83-FC7C9D8B175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이용자·앱·업무 목적의 문맥 구성</a:t>
            </a:r>
          </a:p>
        </p:txBody>
      </p:sp>
      <p:sp>
        <p:nvSpPr>
          <p:cNvPr id="16" name="">
            <a:extLst xmlns:a="http://schemas.openxmlformats.org/drawingml/2006/main">
              <a:ext uri="{FF2B5EF4-FFF2-40B4-BE49-F238E27FC236}">
                <a16:creationId xmlns:a16="http://schemas.microsoft.com/office/drawing/2014/main" id="{AEC8F82B-29BC-468A-A99C-9E440056DDE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83FAE8F-B9D5-4186-AEA2-DBE11474F14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8080A09A-6CE0-4C04-8BA6-1F6DC88192E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앱·판본·소관별 결과와 갱신·승인 기록</a:t>
            </a:r>
          </a:p>
        </p:txBody>
      </p:sp>
      <p:sp>
        <p:nvSpPr>
          <p:cNvPr id="19" name="">
            <a:extLst xmlns:a="http://schemas.openxmlformats.org/drawingml/2006/main">
              <a:ext uri="{FF2B5EF4-FFF2-40B4-BE49-F238E27FC236}">
                <a16:creationId xmlns:a16="http://schemas.microsoft.com/office/drawing/2014/main" id="{27729020-7EDC-4D47-AFE4-736D146457CD}"/>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0EC945D-2D1D-4B98-90D8-995B3BF06573}"/>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DA8D3E8-D64D-457B-B4B1-85A9958593C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앱별 맥락</a:t>
            </a:r>
          </a:p>
        </p:txBody>
      </p:sp>
      <p:sp>
        <p:nvSpPr>
          <p:cNvPr id="22" name="">
            <a:extLst xmlns:a="http://schemas.openxmlformats.org/drawingml/2006/main">
              <a:ext uri="{FF2B5EF4-FFF2-40B4-BE49-F238E27FC236}">
                <a16:creationId xmlns:a16="http://schemas.microsoft.com/office/drawing/2014/main" id="{6745BBA5-2D98-47CB-8904-AC8379C5BEA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196A879-DC89-4FE3-9C8D-A25BA230DE8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830AEB4-E7E9-457E-8792-E409D1A8484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답변·초안</a:t>
            </a:r>
          </a:p>
        </p:txBody>
      </p:sp>
      <p:sp>
        <p:nvSpPr>
          <p:cNvPr id="25" name="">
            <a:extLst xmlns:a="http://schemas.openxmlformats.org/drawingml/2006/main">
              <a:ext uri="{FF2B5EF4-FFF2-40B4-BE49-F238E27FC236}">
                <a16:creationId xmlns:a16="http://schemas.microsoft.com/office/drawing/2014/main" id="{FEFCA14A-2FC0-4F24-B490-BE7528D8673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6E2E4E9-244A-4FEF-84EE-87026BF61A5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 간 문서 혼입·구판 템플릿·담당자 변경</a:t>
            </a:r>
          </a:p>
        </p:txBody>
      </p:sp>
      <p:sp>
        <p:nvSpPr>
          <p:cNvPr id="27" name="">
            <a:extLst xmlns:a="http://schemas.openxmlformats.org/drawingml/2006/main">
              <a:ext uri="{FF2B5EF4-FFF2-40B4-BE49-F238E27FC236}">
                <a16:creationId xmlns:a16="http://schemas.microsoft.com/office/drawing/2014/main" id="{4ECB1286-B5AD-4D02-92F2-C620EEEA30F2}"/>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F0D11383-B8FA-487E-860C-E1370427381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평가·기관별 데이터 경계</a:t>
            </a:r>
          </a:p>
        </p:txBody>
      </p:sp>
      <p:sp>
        <p:nvSpPr>
          <p:cNvPr id="29" name="">
            <a:extLst xmlns:a="http://schemas.openxmlformats.org/drawingml/2006/main">
              <a:ext uri="{FF2B5EF4-FFF2-40B4-BE49-F238E27FC236}">
                <a16:creationId xmlns:a16="http://schemas.microsoft.com/office/drawing/2014/main" id="{6C6A9EF9-9C3A-4EF3-95D8-90E4A732A45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6559E45-5DD7-4F7C-ABC4-2291A3F2672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 이용·품질·개선 요청의 공통 운영</a:t>
            </a:r>
          </a:p>
        </p:txBody>
      </p:sp>
      <p:sp>
        <p:nvSpPr>
          <p:cNvPr id="31" name="">
            <a:extLst xmlns:a="http://schemas.openxmlformats.org/drawingml/2006/main">
              <a:ext uri="{FF2B5EF4-FFF2-40B4-BE49-F238E27FC236}">
                <a16:creationId xmlns:a16="http://schemas.microsoft.com/office/drawing/2014/main" id="{2DA967F0-07B2-46D8-9B86-6583432FABE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24FD3FF7-71C7-462A-ABBE-07B8DBBA6D0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앱·판본·소관별 결과와 갱신·승인 기록</a:t>
            </a:r>
          </a:p>
        </p:txBody>
      </p:sp>
    </p:spTree>
    <p:extLst>
      <p:ext uri="{BB962C8B-B14F-4D97-AF65-F5344CB8AC3E}">
        <p14:creationId xmlns:p14="http://schemas.microsoft.com/office/powerpoint/2010/main" val="1681950756"/>
      </p:ext>
    </p:extLst>
  </p:cSld>
</p:sld>
</file>

<file path=ppt/slides/slide1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EA89C26-D73A-4022-A151-1CF98C4BBC5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CCK 비교·재현 시험 설계</a:t>
            </a:r>
          </a:p>
        </p:txBody>
      </p:sp>
      <p:sp>
        <p:nvSpPr>
          <p:cNvPr id="2" name="">
            <a:extLst xmlns:a="http://schemas.openxmlformats.org/drawingml/2006/main">
              <a:ext uri="{FF2B5EF4-FFF2-40B4-BE49-F238E27FC236}">
                <a16:creationId xmlns:a16="http://schemas.microsoft.com/office/drawing/2014/main" id="{B4FA02E2-6FBD-4448-A29B-6D15B45EB28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벤치마킹</a:t>
            </a:r>
          </a:p>
        </p:txBody>
      </p:sp>
      <p:sp>
        <p:nvSpPr>
          <p:cNvPr id="3" name="">
            <a:extLst xmlns:a="http://schemas.openxmlformats.org/drawingml/2006/main">
              <a:ext uri="{FF2B5EF4-FFF2-40B4-BE49-F238E27FC236}">
                <a16:creationId xmlns:a16="http://schemas.microsoft.com/office/drawing/2014/main" id="{1407143A-5D03-4B00-853D-B66A99D2B25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CCAFE97-E528-4D10-A9BD-F86B0081F7A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69D90A0-7F30-4CCF-B39B-08D3F71D362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121</a:t>
            </a:r>
          </a:p>
        </p:txBody>
      </p:sp>
      <p:sp>
        <p:nvSpPr>
          <p:cNvPr id="6" name="">
            <a:extLst xmlns:a="http://schemas.openxmlformats.org/drawingml/2006/main">
              <a:ext uri="{FF2B5EF4-FFF2-40B4-BE49-F238E27FC236}">
                <a16:creationId xmlns:a16="http://schemas.microsoft.com/office/drawing/2014/main" id="{DF2EC554-73F4-4B16-BC89-1726FBE718D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8E5DAE20-1EDD-44FB-BA84-2A9E52749246}"/>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정부 공통 환경과 업무 앱의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템플릿·이용 관측을 통한 개선</a:t>
            </a:r>
          </a:p>
        </p:txBody>
      </p:sp>
      <p:sp>
        <p:nvSpPr>
          <p:cNvPr id="8" name="">
            <a:extLst xmlns:a="http://schemas.openxmlformats.org/drawingml/2006/main">
              <a:ext uri="{FF2B5EF4-FFF2-40B4-BE49-F238E27FC236}">
                <a16:creationId xmlns:a16="http://schemas.microsoft.com/office/drawing/2014/main" id="{5ED8E7CD-41C7-4666-BE4B-35E0B1476DC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1CF5808-EFEF-4272-B925-D0C4EA31CD3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기관별 규정·문서 경계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청내 운영 결과의 범정부 일반화</a:t>
            </a:r>
          </a:p>
        </p:txBody>
      </p:sp>
      <p:sp>
        <p:nvSpPr>
          <p:cNvPr id="10" name="">
            <a:extLst xmlns:a="http://schemas.openxmlformats.org/drawingml/2006/main">
              <a:ext uri="{FF2B5EF4-FFF2-40B4-BE49-F238E27FC236}">
                <a16:creationId xmlns:a16="http://schemas.microsoft.com/office/drawing/2014/main" id="{4B5BDAA4-B3C2-4220-A1A1-B8F394CA667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0EEA885-6849-4BFB-A188-EA89644F0E0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업무별 평가·기관별 데이터 경계</a:t>
            </a:r>
          </a:p>
        </p:txBody>
      </p:sp>
      <p:sp>
        <p:nvSpPr>
          <p:cNvPr id="12" name="">
            <a:extLst xmlns:a="http://schemas.openxmlformats.org/drawingml/2006/main">
              <a:ext uri="{FF2B5EF4-FFF2-40B4-BE49-F238E27FC236}">
                <a16:creationId xmlns:a16="http://schemas.microsoft.com/office/drawing/2014/main" id="{FA8F377A-FE9A-4625-BE53-8A596D9C106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7E7CF449-FDF1-47DD-BCEF-9666B6D58CB2}"/>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앱에서 승인된 지식과 템플릿으로 초안 작성</a:t>
            </a:r>
          </a:p>
        </p:txBody>
      </p:sp>
      <p:sp>
        <p:nvSpPr>
          <p:cNvPr id="14" name="">
            <a:extLst xmlns:a="http://schemas.openxmlformats.org/drawingml/2006/main">
              <a:ext uri="{FF2B5EF4-FFF2-40B4-BE49-F238E27FC236}">
                <a16:creationId xmlns:a16="http://schemas.microsoft.com/office/drawing/2014/main" id="{0E71A092-1CA6-4833-B387-7B45FDB3EE8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75A8E3A-D0EE-450A-8273-D7CAC82A290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앱 간 문서 혼입·구판 템플릿·담당자 변경</a:t>
            </a:r>
          </a:p>
        </p:txBody>
      </p:sp>
      <p:sp>
        <p:nvSpPr>
          <p:cNvPr id="16" name="">
            <a:extLst xmlns:a="http://schemas.openxmlformats.org/drawingml/2006/main">
              <a:ext uri="{FF2B5EF4-FFF2-40B4-BE49-F238E27FC236}">
                <a16:creationId xmlns:a16="http://schemas.microsoft.com/office/drawing/2014/main" id="{8ED9AC36-21EB-4072-B1FA-777EEE373D8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80FF304-DE74-4799-A443-E35E03D06373}"/>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앱·판본·소관별 결과와 갱신·승인 기록</a:t>
            </a:r>
          </a:p>
        </p:txBody>
      </p:sp>
    </p:spTree>
    <p:extLst>
      <p:ext uri="{BB962C8B-B14F-4D97-AF65-F5344CB8AC3E}">
        <p14:creationId xmlns:p14="http://schemas.microsoft.com/office/powerpoint/2010/main" val="1089229353"/>
      </p:ext>
    </p:extLst>
  </p:cSld>
</p:sld>
</file>

<file path=ppt/slides/slide1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2BA806-AA6D-468F-B857-B66063B8D35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성과 미검증 / 해외</a:t>
            </a:r>
          </a:p>
        </p:txBody>
      </p:sp>
      <p:sp>
        <p:nvSpPr>
          <p:cNvPr id="2" name="">
            <a:extLst xmlns:a="http://schemas.openxmlformats.org/drawingml/2006/main">
              <a:ext uri="{FF2B5EF4-FFF2-40B4-BE49-F238E27FC236}">
                <a16:creationId xmlns:a16="http://schemas.microsoft.com/office/drawing/2014/main" id="{C3950C1F-AE96-45D2-99F4-60C180F893A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a:t>
            </a:r>
          </a:p>
        </p:txBody>
      </p:sp>
      <p:sp>
        <p:nvSpPr>
          <p:cNvPr id="3" name="">
            <a:extLst xmlns:a="http://schemas.openxmlformats.org/drawingml/2006/main">
              <a:ext uri="{FF2B5EF4-FFF2-40B4-BE49-F238E27FC236}">
                <a16:creationId xmlns:a16="http://schemas.microsoft.com/office/drawing/2014/main" id="{D56610D5-7C69-48D2-ACF6-A889BD3DCDB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F11F2D-BD58-4462-9B9A-5C7825D16A3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6321209-D8DC-4919-B564-CA320B26C2B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122</a:t>
            </a:r>
          </a:p>
        </p:txBody>
      </p:sp>
      <p:sp>
        <p:nvSpPr>
          <p:cNvPr id="6" name="">
            <a:extLst xmlns:a="http://schemas.openxmlformats.org/drawingml/2006/main">
              <a:ext uri="{FF2B5EF4-FFF2-40B4-BE49-F238E27FC236}">
                <a16:creationId xmlns:a16="http://schemas.microsoft.com/office/drawing/2014/main" id="{51A1276F-CED2-4072-80C7-C8BED4DEE7D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68033DC-A462-4D24-8AE4-1D1D978DC864}"/>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싱가포르 AIBots의 문서 기반 봇 제작·공유 사례. 전문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개발자 외의 직원이 지시와 문서를 설정해 팀의 반복 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문에 대응하는 봇을 구성하는 접근.</a:t>
            </a:r>
          </a:p>
        </p:txBody>
      </p:sp>
      <p:sp>
        <p:nvSpPr>
          <p:cNvPr id="8" name="">
            <a:extLst xmlns:a="http://schemas.openxmlformats.org/drawingml/2006/main">
              <a:ext uri="{FF2B5EF4-FFF2-40B4-BE49-F238E27FC236}">
                <a16:creationId xmlns:a16="http://schemas.microsoft.com/office/drawing/2014/main" id="{4786C05D-727C-422D-A564-B6F712A919D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902CC6F-6963-4DE9-BC7B-DD14EE7A116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업로드·색인, 봇 지시 설정, 팀 공유, 질의 검색, 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 응답의 흐름으로 재구성. 봇 소유자와 문서 소유자가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다를 수 있으므로 공유 권한 변경과 문서 삭제를 검색 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과에 함께 반영하는 통제 설계.</a:t>
            </a:r>
          </a:p>
        </p:txBody>
      </p:sp>
      <p:sp>
        <p:nvSpPr>
          <p:cNvPr id="10" name="">
            <a:extLst xmlns:a="http://schemas.openxmlformats.org/drawingml/2006/main">
              <a:ext uri="{FF2B5EF4-FFF2-40B4-BE49-F238E27FC236}">
                <a16:creationId xmlns:a16="http://schemas.microsoft.com/office/drawing/2014/main" id="{B4559836-A9C7-4716-A278-B26DD1E04B9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AB4717B-221E-4206-8DDA-047635B499F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부서 봇을 개인 계정의 지식 저장소로 방치하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운영이 중요. 소유자 전보·퇴직, 공유 해제, 규정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이후 검색 결과를 비교하고 봇의 인수인계와 자료 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 이력을 공통 관리 대상으로 설정.</a:t>
            </a:r>
          </a:p>
        </p:txBody>
      </p:sp>
      <p:sp>
        <p:nvSpPr>
          <p:cNvPr id="12" name="">
            <a:extLst xmlns:a="http://schemas.openxmlformats.org/drawingml/2006/main">
              <a:ext uri="{FF2B5EF4-FFF2-40B4-BE49-F238E27FC236}">
                <a16:creationId xmlns:a16="http://schemas.microsoft.com/office/drawing/2014/main" id="{A2574143-78A4-48F4-8252-08BF68A0A99C}"/>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FC5D2938-6023-47C5-B15E-B3C427FBB44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담당·승인판본·배포·폐기 조건</a:t>
            </a:r>
          </a:p>
        </p:txBody>
      </p:sp>
      <p:sp>
        <p:nvSpPr>
          <p:cNvPr id="14" name="">
            <a:extLst xmlns:a="http://schemas.openxmlformats.org/drawingml/2006/main">
              <a:ext uri="{FF2B5EF4-FFF2-40B4-BE49-F238E27FC236}">
                <a16:creationId xmlns:a16="http://schemas.microsoft.com/office/drawing/2014/main" id="{BE2F809E-50BC-43E4-B0AE-46773855D5B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1C5D25C-57DD-4D25-917B-C52DFDDCDE8C}"/>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도구·갱신 공수의 기준선·비교 평가</a:t>
            </a:r>
          </a:p>
        </p:txBody>
      </p:sp>
      <p:sp>
        <p:nvSpPr>
          <p:cNvPr id="16" name="">
            <a:extLst xmlns:a="http://schemas.openxmlformats.org/drawingml/2006/main">
              <a:ext uri="{FF2B5EF4-FFF2-40B4-BE49-F238E27FC236}">
                <a16:creationId xmlns:a16="http://schemas.microsoft.com/office/drawing/2014/main" id="{DB9A3176-BFF9-46A4-B5E1-DB09E37FDA5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6C9C7E9-382E-4B98-89B2-A7DCDEB4BC3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중복 도구·갱신 공수</a:t>
            </a:r>
          </a:p>
        </p:txBody>
      </p:sp>
      <p:sp>
        <p:nvSpPr>
          <p:cNvPr id="18" name="">
            <a:extLst xmlns:a="http://schemas.openxmlformats.org/drawingml/2006/main">
              <a:ext uri="{FF2B5EF4-FFF2-40B4-BE49-F238E27FC236}">
                <a16:creationId xmlns:a16="http://schemas.microsoft.com/office/drawing/2014/main" id="{8E6C76C0-B25A-419F-A180-4D357D667A8D}"/>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봇 개수·사용량이 업무성과는 아님. 2025 AIBots와 2026 Desk를 독립 실적으로 합산하지 않음</a:t>
            </a:r>
          </a:p>
        </p:txBody>
      </p:sp>
    </p:spTree>
    <p:extLst>
      <p:ext uri="{BB962C8B-B14F-4D97-AF65-F5344CB8AC3E}">
        <p14:creationId xmlns:p14="http://schemas.microsoft.com/office/powerpoint/2010/main" val="930852135"/>
      </p:ext>
    </p:extLst>
  </p:cSld>
</p:sld>
</file>

<file path=ppt/slides/slide1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52A62B-1E6D-45EF-B701-2DE8728EE5A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As-Is → To-Be → 기대효과 → 확인 결과</a:t>
            </a:r>
          </a:p>
        </p:txBody>
      </p:sp>
      <p:sp>
        <p:nvSpPr>
          <p:cNvPr id="2" name="">
            <a:extLst xmlns:a="http://schemas.openxmlformats.org/drawingml/2006/main">
              <a:ext uri="{FF2B5EF4-FFF2-40B4-BE49-F238E27FC236}">
                <a16:creationId xmlns:a16="http://schemas.microsoft.com/office/drawing/2014/main" id="{28E360F6-D67A-4035-B001-A3B92660142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기대와 결과</a:t>
            </a:r>
          </a:p>
        </p:txBody>
      </p:sp>
      <p:sp>
        <p:nvSpPr>
          <p:cNvPr id="3" name="">
            <a:extLst xmlns:a="http://schemas.openxmlformats.org/drawingml/2006/main">
              <a:ext uri="{FF2B5EF4-FFF2-40B4-BE49-F238E27FC236}">
                <a16:creationId xmlns:a16="http://schemas.microsoft.com/office/drawing/2014/main" id="{9839CCBE-ABC0-48E6-A9F9-D921D8675A1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6E9DB6-2F6E-4193-88C4-C3234D79E9F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F295E5-1A76-4E62-910C-796509754FB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123</a:t>
            </a:r>
          </a:p>
        </p:txBody>
      </p:sp>
      <p:sp>
        <p:nvSpPr>
          <p:cNvPr id="6" name="">
            <a:extLst xmlns:a="http://schemas.openxmlformats.org/drawingml/2006/main">
              <a:ext uri="{FF2B5EF4-FFF2-40B4-BE49-F238E27FC236}">
                <a16:creationId xmlns:a16="http://schemas.microsoft.com/office/drawing/2014/main" id="{53230821-78C8-4BC3-B614-C9CE6019F077}"/>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07A2510D-4766-4A83-BAAD-B8700C0D2D75}"/>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싱가포르 정부기관이 문서형 Q&amp;A 봇을 개별 구성·공유</a:t>
            </a:r>
          </a:p>
        </p:txBody>
      </p:sp>
      <p:sp>
        <p:nvSpPr>
          <p:cNvPr id="8" name="">
            <a:extLst xmlns:a="http://schemas.openxmlformats.org/drawingml/2006/main">
              <a:ext uri="{FF2B5EF4-FFF2-40B4-BE49-F238E27FC236}">
                <a16:creationId xmlns:a16="http://schemas.microsoft.com/office/drawing/2014/main" id="{E79FFC02-B268-4AAF-9136-79824282FDF9}"/>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FA0E2D76-30C3-46CC-B807-43D889274340}"/>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AIBots의 셀프서비스 RAG 구성과 Desk의 업무시스템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탐색·실행 지향 기능을 통합</a:t>
            </a:r>
          </a:p>
        </p:txBody>
      </p:sp>
      <p:sp>
        <p:nvSpPr>
          <p:cNvPr id="10" name="">
            <a:extLst xmlns:a="http://schemas.openxmlformats.org/drawingml/2006/main">
              <a:ext uri="{FF2B5EF4-FFF2-40B4-BE49-F238E27FC236}">
                <a16:creationId xmlns:a16="http://schemas.microsoft.com/office/drawing/2014/main" id="{A87CC3DA-E7B1-4FC0-A7AE-6A444DA8DA30}"/>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0910FD01-E743-4065-BB6E-ACD3EF6C9768}"/>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봇 개발·지식 갱신 공수 감소와 담당자 업무 연결 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a:t>
            </a:r>
          </a:p>
        </p:txBody>
      </p:sp>
      <p:sp>
        <p:nvSpPr>
          <p:cNvPr id="12" name="">
            <a:extLst xmlns:a="http://schemas.openxmlformats.org/drawingml/2006/main">
              <a:ext uri="{FF2B5EF4-FFF2-40B4-BE49-F238E27FC236}">
                <a16:creationId xmlns:a16="http://schemas.microsoft.com/office/drawing/2014/main" id="{2BA4EC8D-44CB-4D64-80E4-13575667E22B}"/>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DA62D4D-2C76-4BA8-877F-6449571DDCCC}"/>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GovTech의 AIBots 이용 실적과 Desk 제품 카탈로그·P</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OV 단계 확인. 이전 완료와 업무성과 미공개</a:t>
            </a:r>
          </a:p>
        </p:txBody>
      </p:sp>
      <p:sp>
        <p:nvSpPr>
          <p:cNvPr id="14" name="">
            <a:extLst xmlns:a="http://schemas.openxmlformats.org/drawingml/2006/main">
              <a:ext uri="{FF2B5EF4-FFF2-40B4-BE49-F238E27FC236}">
                <a16:creationId xmlns:a16="http://schemas.microsoft.com/office/drawing/2014/main" id="{A6B73242-ADD1-4C1A-8C4B-D68D4A2D1EB6}"/>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봇 수·도구 등록 상태는 부서 과업 완료율과 다름</a:t>
            </a:r>
          </a:p>
        </p:txBody>
      </p:sp>
      <p:sp>
        <p:nvSpPr>
          <p:cNvPr id="15" name="">
            <a:extLst xmlns:a="http://schemas.openxmlformats.org/drawingml/2006/main">
              <a:ext uri="{FF2B5EF4-FFF2-40B4-BE49-F238E27FC236}">
                <a16:creationId xmlns:a16="http://schemas.microsoft.com/office/drawing/2014/main" id="{B48BDBB4-8F9C-4A43-BF14-7A031CC1C027}"/>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AIBots 이용 + Desk 제품 단계 · AIBots와 Desk를 독립적 두 건의 성과로 중복 집계 금지; 고위험 용도 승인 별도</a:t>
            </a:r>
          </a:p>
        </p:txBody>
      </p:sp>
    </p:spTree>
    <p:extLst>
      <p:ext uri="{BB962C8B-B14F-4D97-AF65-F5344CB8AC3E}">
        <p14:creationId xmlns:p14="http://schemas.microsoft.com/office/powerpoint/2010/main" val="55274473"/>
      </p:ext>
    </p:extLst>
  </p:cSld>
</p:sld>
</file>

<file path=ppt/slides/slide1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BC23B7A-0A72-4006-B434-3DE21C2849C9}"/>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6533BFB-C7B3-4DDF-8479-D8C1A312EA1D}"/>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627F468-1299-49AA-BAB9-313247A6CBA2}"/>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30A5757-561A-477F-B8C4-B04589C4AC37}"/>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059FC7F2-149C-4CD1-BE33-DF34B7B4ACC8}"/>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32ECC02-010D-469E-A7B8-3DFC609B133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8E83AA48-0A48-491B-98B4-157D7E7C614A}"/>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59FAA7C-BC84-43C4-8251-B8B91284D2FF}"/>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3ABD69CF-2A15-47D6-BC36-11CD609B8D4B}"/>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8A6036A6-4F6D-4A56-B270-7CBA1DBC33A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지식 갱신·검색·근거 응답</a:t>
            </a:r>
          </a:p>
        </p:txBody>
      </p:sp>
      <p:sp>
        <p:nvSpPr>
          <p:cNvPr id="2" name="">
            <a:extLst xmlns:a="http://schemas.openxmlformats.org/drawingml/2006/main">
              <a:ext uri="{FF2B5EF4-FFF2-40B4-BE49-F238E27FC236}">
                <a16:creationId xmlns:a16="http://schemas.microsoft.com/office/drawing/2014/main" id="{F7486A86-8583-478D-A18B-03615C2CB43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세부 서비스 구조</a:t>
            </a:r>
          </a:p>
        </p:txBody>
      </p:sp>
      <p:sp>
        <p:nvSpPr>
          <p:cNvPr id="3" name="">
            <a:extLst xmlns:a="http://schemas.openxmlformats.org/drawingml/2006/main">
              <a:ext uri="{FF2B5EF4-FFF2-40B4-BE49-F238E27FC236}">
                <a16:creationId xmlns:a16="http://schemas.microsoft.com/office/drawing/2014/main" id="{4664E301-4B65-4424-97C6-70B79792876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647EAE-26A6-45A0-ADAD-927CAAB591A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49062D6-79CF-48E5-A274-4E6A390B3D0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124</a:t>
            </a:r>
          </a:p>
        </p:txBody>
      </p:sp>
      <p:sp>
        <p:nvSpPr>
          <p:cNvPr id="6" name="">
            <a:extLst xmlns:a="http://schemas.openxmlformats.org/drawingml/2006/main">
              <a:ext uri="{FF2B5EF4-FFF2-40B4-BE49-F238E27FC236}">
                <a16:creationId xmlns:a16="http://schemas.microsoft.com/office/drawing/2014/main" id="{138D23A2-A0C6-4C3B-B3DA-43020195DB9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부서 문서 → RAG·업무 봇 → 공유·이용 통제 → 업무 접점</a:t>
            </a:r>
          </a:p>
        </p:txBody>
      </p:sp>
      <p:sp>
        <p:nvSpPr>
          <p:cNvPr id="7" name="">
            <a:extLst xmlns:a="http://schemas.openxmlformats.org/drawingml/2006/main">
              <a:ext uri="{FF2B5EF4-FFF2-40B4-BE49-F238E27FC236}">
                <a16:creationId xmlns:a16="http://schemas.microsoft.com/office/drawing/2014/main" id="{2CD65192-2312-45A6-A30D-6AF62DBF7C5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6B45CAB-1E8E-4DB0-A765-B7BF6E840F7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C105022-73D0-45D6-94B4-73DD6172E64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업로드 문서</a:t>
            </a:r>
          </a:p>
        </p:txBody>
      </p:sp>
      <p:sp>
        <p:nvSpPr>
          <p:cNvPr id="10" name="">
            <a:extLst xmlns:a="http://schemas.openxmlformats.org/drawingml/2006/main">
              <a:ext uri="{FF2B5EF4-FFF2-40B4-BE49-F238E27FC236}">
                <a16:creationId xmlns:a16="http://schemas.microsoft.com/office/drawing/2014/main" id="{4B795492-19CE-422F-9D4F-D3D8DC4CB0B9}"/>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A5AD523-1663-417D-878A-ECB6E8FA8858}"/>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99CDA41-213D-4B21-96A4-9F46D12933C5}"/>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청킹·소유팀 매핑</a:t>
            </a:r>
          </a:p>
        </p:txBody>
      </p:sp>
      <p:sp>
        <p:nvSpPr>
          <p:cNvPr id="13" name="">
            <a:extLst xmlns:a="http://schemas.openxmlformats.org/drawingml/2006/main">
              <a:ext uri="{FF2B5EF4-FFF2-40B4-BE49-F238E27FC236}">
                <a16:creationId xmlns:a16="http://schemas.microsoft.com/office/drawing/2014/main" id="{9C233FA4-A159-4A74-9A52-30D8A62EB47E}"/>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A39DEBA-86CE-491E-90C3-19FFD93808AB}"/>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36129A66-92B3-489A-8F5E-C20EA5588118}"/>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지식·설정</a:t>
            </a:r>
          </a:p>
        </p:txBody>
      </p:sp>
      <p:sp>
        <p:nvSpPr>
          <p:cNvPr id="16" name="">
            <a:extLst xmlns:a="http://schemas.openxmlformats.org/drawingml/2006/main">
              <a:ext uri="{FF2B5EF4-FFF2-40B4-BE49-F238E27FC236}">
                <a16:creationId xmlns:a16="http://schemas.microsoft.com/office/drawing/2014/main" id="{3A5EF2F1-1FAF-4CFA-8EE0-FCD4B99A6AB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2B54653-8689-47A1-8539-EB8CBEFB89E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91FB79BF-33EE-4F78-83E9-AA13C1EAC54C}"/>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문서 검색</a:t>
            </a:r>
          </a:p>
        </p:txBody>
      </p:sp>
      <p:sp>
        <p:nvSpPr>
          <p:cNvPr id="19" name="">
            <a:extLst xmlns:a="http://schemas.openxmlformats.org/drawingml/2006/main">
              <a:ext uri="{FF2B5EF4-FFF2-40B4-BE49-F238E27FC236}">
                <a16:creationId xmlns:a16="http://schemas.microsoft.com/office/drawing/2014/main" id="{A5FB08A3-8B37-4F9B-85B1-B280EC89415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F83E68B-3A9E-400A-BBD5-EF856DEB39A7}"/>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315F0E1F-0823-4FC9-99A0-866E2F8F87B3}"/>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제작·대화</a:t>
            </a:r>
          </a:p>
        </p:txBody>
      </p:sp>
      <p:sp>
        <p:nvSpPr>
          <p:cNvPr id="22" name="">
            <a:extLst xmlns:a="http://schemas.openxmlformats.org/drawingml/2006/main">
              <a:ext uri="{FF2B5EF4-FFF2-40B4-BE49-F238E27FC236}">
                <a16:creationId xmlns:a16="http://schemas.microsoft.com/office/drawing/2014/main" id="{38FF653E-979D-4DFE-9A1F-2132B879559F}"/>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E7540B2-9D42-444F-84D6-C7D664780E57}"/>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CD396105-A29B-47C9-923E-49534B5FF6D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계정·봇·공유범위</a:t>
            </a:r>
          </a:p>
        </p:txBody>
      </p:sp>
      <p:sp>
        <p:nvSpPr>
          <p:cNvPr id="25" name="">
            <a:extLst xmlns:a="http://schemas.openxmlformats.org/drawingml/2006/main">
              <a:ext uri="{FF2B5EF4-FFF2-40B4-BE49-F238E27FC236}">
                <a16:creationId xmlns:a16="http://schemas.microsoft.com/office/drawing/2014/main" id="{3F331A7C-A8A2-41D6-BE1D-0A9BAF763DB2}"/>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97BC417-1C5C-4395-9EED-1D9DDEA74785}"/>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03DD633A-667E-48A3-AEF1-A591CEA887F3}"/>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AIBots 지시 처</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리</a:t>
            </a:r>
          </a:p>
        </p:txBody>
      </p:sp>
      <p:sp>
        <p:nvSpPr>
          <p:cNvPr id="28" name="">
            <a:extLst xmlns:a="http://schemas.openxmlformats.org/drawingml/2006/main">
              <a:ext uri="{FF2B5EF4-FFF2-40B4-BE49-F238E27FC236}">
                <a16:creationId xmlns:a16="http://schemas.microsoft.com/office/drawing/2014/main" id="{D6C2AE09-56D8-41F3-9AE7-693476CE161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3C65BD5-20AE-4C50-8F96-B135423FC64C}"/>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755ACC03-A351-49B7-9753-E9BF1B12EF0D}"/>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출처·정보등급 검</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a:t>
            </a:r>
          </a:p>
        </p:txBody>
      </p:sp>
      <p:sp>
        <p:nvSpPr>
          <p:cNvPr id="31" name="">
            <a:extLst xmlns:a="http://schemas.openxmlformats.org/drawingml/2006/main">
              <a:ext uri="{FF2B5EF4-FFF2-40B4-BE49-F238E27FC236}">
                <a16:creationId xmlns:a16="http://schemas.microsoft.com/office/drawing/2014/main" id="{11CF2A17-34C7-44A5-8309-DF7EF9320C23}"/>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7060D53-FC0D-42C4-B0BD-178FC9EAB45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1A1136B4-2DEF-4D3D-8B40-8BCC1FFC11EE}"/>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팀 검토</a:t>
            </a:r>
          </a:p>
        </p:txBody>
      </p:sp>
      <p:sp>
        <p:nvSpPr>
          <p:cNvPr id="34" name="">
            <a:extLst xmlns:a="http://schemas.openxmlformats.org/drawingml/2006/main">
              <a:ext uri="{FF2B5EF4-FFF2-40B4-BE49-F238E27FC236}">
                <a16:creationId xmlns:a16="http://schemas.microsoft.com/office/drawing/2014/main" id="{D8F505B5-C0C7-4F3B-995F-0995B8268D1A}"/>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A0D23D85-7A05-4AA7-AD2F-31C06766ABA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5D311B68-F6CB-47DE-84DC-0652B1BB4F65}"/>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공유·응답</a:t>
            </a:r>
          </a:p>
        </p:txBody>
      </p:sp>
      <p:sp>
        <p:nvSpPr>
          <p:cNvPr id="46" name="">
            <a:extLst xmlns:a="http://schemas.openxmlformats.org/drawingml/2006/main">
              <a:ext uri="{FF2B5EF4-FFF2-40B4-BE49-F238E27FC236}">
                <a16:creationId xmlns:a16="http://schemas.microsoft.com/office/drawing/2014/main" id="{D3E84086-52AC-4525-9639-A6B5FEFBE55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17156941"/>
      </p:ext>
    </p:extLst>
  </p:cSld>
</p:sld>
</file>

<file path=ppt/slides/slide1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9BF318F-86AC-4D42-99EA-3EBAE7401F1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논리 인터페이스·복구 설계</a:t>
            </a:r>
          </a:p>
        </p:txBody>
      </p:sp>
      <p:sp>
        <p:nvSpPr>
          <p:cNvPr id="2" name="">
            <a:extLst xmlns:a="http://schemas.openxmlformats.org/drawingml/2006/main">
              <a:ext uri="{FF2B5EF4-FFF2-40B4-BE49-F238E27FC236}">
                <a16:creationId xmlns:a16="http://schemas.microsoft.com/office/drawing/2014/main" id="{066552B5-96C5-44B6-9372-046E37B91B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데이터와 예외 처리</a:t>
            </a:r>
          </a:p>
        </p:txBody>
      </p:sp>
      <p:sp>
        <p:nvSpPr>
          <p:cNvPr id="3" name="">
            <a:extLst xmlns:a="http://schemas.openxmlformats.org/drawingml/2006/main">
              <a:ext uri="{FF2B5EF4-FFF2-40B4-BE49-F238E27FC236}">
                <a16:creationId xmlns:a16="http://schemas.microsoft.com/office/drawing/2014/main" id="{A99E8BD8-6B83-4DEB-B947-75DC370D081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AC56B8-1A2C-4008-B801-9FB58CDAFEA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E1CAA33-7185-46B7-A4F6-D212A2B7D7E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125</a:t>
            </a:r>
          </a:p>
        </p:txBody>
      </p:sp>
      <p:sp>
        <p:nvSpPr>
          <p:cNvPr id="6" name="">
            <a:extLst xmlns:a="http://schemas.openxmlformats.org/drawingml/2006/main">
              <a:ext uri="{FF2B5EF4-FFF2-40B4-BE49-F238E27FC236}">
                <a16:creationId xmlns:a16="http://schemas.microsoft.com/office/drawing/2014/main" id="{196ABB58-AC64-4AF4-BC3C-7F11AAD07FD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8EC3BAFA-E953-432C-8F5F-571EC3B252E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8232FAF-6235-4FF9-914C-9DE8E26A7F8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2A232262-E4E5-4AC8-A284-3520BA613C7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부서 문서</a:t>
            </a:r>
          </a:p>
        </p:txBody>
      </p:sp>
      <p:sp>
        <p:nvSpPr>
          <p:cNvPr id="10" name="">
            <a:extLst xmlns:a="http://schemas.openxmlformats.org/drawingml/2006/main">
              <a:ext uri="{FF2B5EF4-FFF2-40B4-BE49-F238E27FC236}">
                <a16:creationId xmlns:a16="http://schemas.microsoft.com/office/drawing/2014/main" id="{5E65EE40-F6AE-4F55-879F-F0E6F8A1650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426CC0-936C-42C3-B639-4DF36E7BDC4E}"/>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910F8486-031C-4A60-A338-54F9FE66846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D8E5BE38-7088-42A7-9D38-18B31AFE3C7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9170FBC-9466-4344-A6B0-4E116B4AF38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9AE1CF5-92DC-4B45-9684-0A7AE3B340F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계정·봇 접근범위·입력정보 등급 확인</a:t>
            </a:r>
          </a:p>
        </p:txBody>
      </p:sp>
      <p:sp>
        <p:nvSpPr>
          <p:cNvPr id="16" name="">
            <a:extLst xmlns:a="http://schemas.openxmlformats.org/drawingml/2006/main">
              <a:ext uri="{FF2B5EF4-FFF2-40B4-BE49-F238E27FC236}">
                <a16:creationId xmlns:a16="http://schemas.microsoft.com/office/drawing/2014/main" id="{D99471CE-836B-4611-9E9E-E003010EBB2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3BFF52E-7148-4C75-BE64-541495170A6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6A461130-177C-438D-ADE7-42F8CEC5AC8C}"/>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등급·봇 권한·심사·답변 출처 확인표</a:t>
            </a:r>
          </a:p>
        </p:txBody>
      </p:sp>
      <p:sp>
        <p:nvSpPr>
          <p:cNvPr id="19" name="">
            <a:extLst xmlns:a="http://schemas.openxmlformats.org/drawingml/2006/main">
              <a:ext uri="{FF2B5EF4-FFF2-40B4-BE49-F238E27FC236}">
                <a16:creationId xmlns:a16="http://schemas.microsoft.com/office/drawing/2014/main" id="{0C0EBBF5-642D-488C-BD93-EB255CB91DE3}"/>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3D80487-333F-44D5-AF57-8637B5F4090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AC3BBD6F-B9D4-4F06-AFF2-B5F12C7AF67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지식</a:t>
            </a:r>
          </a:p>
        </p:txBody>
      </p:sp>
      <p:sp>
        <p:nvSpPr>
          <p:cNvPr id="22" name="">
            <a:extLst xmlns:a="http://schemas.openxmlformats.org/drawingml/2006/main">
              <a:ext uri="{FF2B5EF4-FFF2-40B4-BE49-F238E27FC236}">
                <a16:creationId xmlns:a16="http://schemas.microsoft.com/office/drawing/2014/main" id="{AE5AE5D7-B7DE-4AA4-9AC9-0EDCD253288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E424544-3780-49D6-A436-9977A0C5569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71689AE-F959-4601-A8AD-CBC21F6BE3C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봇 응답</a:t>
            </a:r>
          </a:p>
        </p:txBody>
      </p:sp>
      <p:sp>
        <p:nvSpPr>
          <p:cNvPr id="25" name="">
            <a:extLst xmlns:a="http://schemas.openxmlformats.org/drawingml/2006/main">
              <a:ext uri="{FF2B5EF4-FFF2-40B4-BE49-F238E27FC236}">
                <a16:creationId xmlns:a16="http://schemas.microsoft.com/office/drawing/2014/main" id="{E2DB69A2-6CA6-4365-92D1-1D9954298D6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63FE439B-A435-4FE6-AF21-F3094DB0E6A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허용 등급 초과·공유 대상 오류·고위험 용도</a:t>
            </a:r>
          </a:p>
        </p:txBody>
      </p:sp>
      <p:sp>
        <p:nvSpPr>
          <p:cNvPr id="27" name="">
            <a:extLst xmlns:a="http://schemas.openxmlformats.org/drawingml/2006/main">
              <a:ext uri="{FF2B5EF4-FFF2-40B4-BE49-F238E27FC236}">
                <a16:creationId xmlns:a16="http://schemas.microsoft.com/office/drawing/2014/main" id="{7FCC95E1-FA77-4754-BF40-51E8CEFCF30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6CE3352-7E04-4546-A5B2-E278DCC0367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 회수·봇 공유 범위 검증</a:t>
            </a:r>
          </a:p>
        </p:txBody>
      </p:sp>
      <p:sp>
        <p:nvSpPr>
          <p:cNvPr id="29" name="">
            <a:extLst xmlns:a="http://schemas.openxmlformats.org/drawingml/2006/main">
              <a:ext uri="{FF2B5EF4-FFF2-40B4-BE49-F238E27FC236}">
                <a16:creationId xmlns:a16="http://schemas.microsoft.com/office/drawing/2014/main" id="{DBF6FC0B-88DE-476E-BCF6-06741F26EB4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ED041E3-B74F-4B2A-BECC-CB77B1024F1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봇 갱신·공유 범위·오답 피드백 관리</a:t>
            </a:r>
          </a:p>
        </p:txBody>
      </p:sp>
      <p:sp>
        <p:nvSpPr>
          <p:cNvPr id="31" name="">
            <a:extLst xmlns:a="http://schemas.openxmlformats.org/drawingml/2006/main">
              <a:ext uri="{FF2B5EF4-FFF2-40B4-BE49-F238E27FC236}">
                <a16:creationId xmlns:a16="http://schemas.microsoft.com/office/drawing/2014/main" id="{E23959CA-74CF-4A96-9E60-DA11FEC1A28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303D9746-0018-4B06-8FD0-859EC086F3A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등급·봇 권한·심사·답변 출처 확인표</a:t>
            </a:r>
          </a:p>
        </p:txBody>
      </p:sp>
    </p:spTree>
    <p:extLst>
      <p:ext uri="{BB962C8B-B14F-4D97-AF65-F5344CB8AC3E}">
        <p14:creationId xmlns:p14="http://schemas.microsoft.com/office/powerpoint/2010/main" val="1201840299"/>
      </p:ext>
    </p:extLst>
  </p:cSld>
</p:sld>
</file>

<file path=ppt/slides/slide1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7A95482-595F-4489-B7B6-185E944403D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CCK 비교·재현 시험 설계</a:t>
            </a:r>
          </a:p>
        </p:txBody>
      </p:sp>
      <p:sp>
        <p:nvSpPr>
          <p:cNvPr id="2" name="">
            <a:extLst xmlns:a="http://schemas.openxmlformats.org/drawingml/2006/main">
              <a:ext uri="{FF2B5EF4-FFF2-40B4-BE49-F238E27FC236}">
                <a16:creationId xmlns:a16="http://schemas.microsoft.com/office/drawing/2014/main" id="{9E322951-BB84-4C2F-9706-5F295B9EDA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벤치마킹</a:t>
            </a:r>
          </a:p>
        </p:txBody>
      </p:sp>
      <p:sp>
        <p:nvSpPr>
          <p:cNvPr id="3" name="">
            <a:extLst xmlns:a="http://schemas.openxmlformats.org/drawingml/2006/main">
              <a:ext uri="{FF2B5EF4-FFF2-40B4-BE49-F238E27FC236}">
                <a16:creationId xmlns:a16="http://schemas.microsoft.com/office/drawing/2014/main" id="{A9535830-BFC5-4AA9-857C-3A9410AA7F0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7EC263-7D39-414D-9BEE-34503EF81F1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B3D5F79-6736-4E1B-94EC-304CFFB876D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126</a:t>
            </a:r>
          </a:p>
        </p:txBody>
      </p:sp>
      <p:sp>
        <p:nvSpPr>
          <p:cNvPr id="6" name="">
            <a:extLst xmlns:a="http://schemas.openxmlformats.org/drawingml/2006/main">
              <a:ext uri="{FF2B5EF4-FFF2-40B4-BE49-F238E27FC236}">
                <a16:creationId xmlns:a16="http://schemas.microsoft.com/office/drawing/2014/main" id="{7FE64C61-51D4-42B9-820E-AC4CF4566E0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E60DB8A-0B52-4A48-8F79-9042790DAED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 문서로 업무 봇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공유·이용 범위의 관리</a:t>
            </a:r>
          </a:p>
        </p:txBody>
      </p:sp>
      <p:sp>
        <p:nvSpPr>
          <p:cNvPr id="8" name="">
            <a:extLst xmlns:a="http://schemas.openxmlformats.org/drawingml/2006/main">
              <a:ext uri="{FF2B5EF4-FFF2-40B4-BE49-F238E27FC236}">
                <a16:creationId xmlns:a16="http://schemas.microsoft.com/office/drawing/2014/main" id="{01AE4F69-69A7-4EFC-91EC-ECDFE442FA1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8C896D1-2106-41C4-A7D8-B920F89B348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 문서 갱신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봇 공유 시 권한 확대</a:t>
            </a:r>
          </a:p>
        </p:txBody>
      </p:sp>
      <p:sp>
        <p:nvSpPr>
          <p:cNvPr id="10" name="">
            <a:extLst xmlns:a="http://schemas.openxmlformats.org/drawingml/2006/main">
              <a:ext uri="{FF2B5EF4-FFF2-40B4-BE49-F238E27FC236}">
                <a16:creationId xmlns:a16="http://schemas.microsoft.com/office/drawing/2014/main" id="{832A0EC6-92F4-4D66-9DA7-582F30CFDEE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20F0F46-A515-4CEA-9809-8DFF7F4C810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회수·봇 공유 범위 검증</a:t>
            </a:r>
          </a:p>
        </p:txBody>
      </p:sp>
      <p:sp>
        <p:nvSpPr>
          <p:cNvPr id="12" name="">
            <a:extLst xmlns:a="http://schemas.openxmlformats.org/drawingml/2006/main">
              <a:ext uri="{FF2B5EF4-FFF2-40B4-BE49-F238E27FC236}">
                <a16:creationId xmlns:a16="http://schemas.microsoft.com/office/drawing/2014/main" id="{DD4168CA-7BCE-41A3-B470-0EC8C0380B5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8C0C4D94-9F1E-4134-8D0B-24801B6D426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팀이 지식 봇을 만들고 팀원에게 공유</a:t>
            </a:r>
          </a:p>
        </p:txBody>
      </p:sp>
      <p:sp>
        <p:nvSpPr>
          <p:cNvPr id="14" name="">
            <a:extLst xmlns:a="http://schemas.openxmlformats.org/drawingml/2006/main">
              <a:ext uri="{FF2B5EF4-FFF2-40B4-BE49-F238E27FC236}">
                <a16:creationId xmlns:a16="http://schemas.microsoft.com/office/drawing/2014/main" id="{EBD04EA5-4D86-4A24-A201-A971A087895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139013F-C818-4199-8A79-1F9695BD8FA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허용 등급 초과·공유 대상 오류·고위험 용도</a:t>
            </a:r>
          </a:p>
        </p:txBody>
      </p:sp>
      <p:sp>
        <p:nvSpPr>
          <p:cNvPr id="16" name="">
            <a:extLst xmlns:a="http://schemas.openxmlformats.org/drawingml/2006/main">
              <a:ext uri="{FF2B5EF4-FFF2-40B4-BE49-F238E27FC236}">
                <a16:creationId xmlns:a16="http://schemas.microsoft.com/office/drawing/2014/main" id="{0EE3CC5E-AEA7-44D3-8B22-E12764AF695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22F236D-13A1-4DAD-807D-4D204C6E7E7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 등급·봇 권한·심사·답변 출처 확인표</a:t>
            </a:r>
          </a:p>
        </p:txBody>
      </p:sp>
    </p:spTree>
    <p:extLst>
      <p:ext uri="{BB962C8B-B14F-4D97-AF65-F5344CB8AC3E}">
        <p14:creationId xmlns:p14="http://schemas.microsoft.com/office/powerpoint/2010/main" val="52411308"/>
      </p:ext>
    </p:extLst>
  </p:cSld>
</p:sld>
</file>

<file path=ppt/slides/slide1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D0141F0-9517-44D4-9579-CBFE8025E1F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성과 미검증 / 해외</a:t>
            </a:r>
          </a:p>
        </p:txBody>
      </p:sp>
      <p:sp>
        <p:nvSpPr>
          <p:cNvPr id="2" name="">
            <a:extLst xmlns:a="http://schemas.openxmlformats.org/drawingml/2006/main">
              <a:ext uri="{FF2B5EF4-FFF2-40B4-BE49-F238E27FC236}">
                <a16:creationId xmlns:a16="http://schemas.microsoft.com/office/drawing/2014/main" id="{9DAB727D-F754-42D0-A9F0-A9E8191F412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a:t>
            </a:r>
          </a:p>
        </p:txBody>
      </p:sp>
      <p:sp>
        <p:nvSpPr>
          <p:cNvPr id="3" name="">
            <a:extLst xmlns:a="http://schemas.openxmlformats.org/drawingml/2006/main">
              <a:ext uri="{FF2B5EF4-FFF2-40B4-BE49-F238E27FC236}">
                <a16:creationId xmlns:a16="http://schemas.microsoft.com/office/drawing/2014/main" id="{79900B47-B00B-4EB4-8285-2A9C1FEE52E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B23992-9ED8-43F0-9151-0A17761C813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CD4BAE5-20F8-4DD1-A246-4C01CB7A370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127</a:t>
            </a:r>
          </a:p>
        </p:txBody>
      </p:sp>
      <p:sp>
        <p:nvSpPr>
          <p:cNvPr id="6" name="">
            <a:extLst xmlns:a="http://schemas.openxmlformats.org/drawingml/2006/main">
              <a:ext uri="{FF2B5EF4-FFF2-40B4-BE49-F238E27FC236}">
                <a16:creationId xmlns:a16="http://schemas.microsoft.com/office/drawing/2014/main" id="{17C89631-A012-4237-9ECC-3CCC54B9903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7B429E3-D58C-4EE6-85A9-CC1286C2F6F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싱가포르 Pair의 공공부문 업무 지원 사례. 직원의 조사·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작성·분석을 지원하면서 정부 사용 조건과 업무 자료 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급 기준을 적용하는 도입 방식.</a:t>
            </a:r>
          </a:p>
        </p:txBody>
      </p:sp>
      <p:sp>
        <p:nvSpPr>
          <p:cNvPr id="8" name="">
            <a:extLst xmlns:a="http://schemas.openxmlformats.org/drawingml/2006/main">
              <a:ext uri="{FF2B5EF4-FFF2-40B4-BE49-F238E27FC236}">
                <a16:creationId xmlns:a16="http://schemas.microsoft.com/office/drawing/2014/main" id="{1CF4C271-E945-4872-9E1E-1C2EDB7047F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E6943E2-DF79-4FC6-904D-E231CFBCBC31}"/>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사용자 접근, 허용된 업무 입력, 모델 처리, 결과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토·활용으로 재구성. 공급사의 일반 제품 기능과 정부 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 조건, 실제 이용 범위를 구분하고 기관 내부 시스템과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자동 연계 여부를 별도 확인하는 구조.</a:t>
            </a:r>
          </a:p>
        </p:txBody>
      </p:sp>
      <p:sp>
        <p:nvSpPr>
          <p:cNvPr id="10" name="">
            <a:extLst xmlns:a="http://schemas.openxmlformats.org/drawingml/2006/main">
              <a:ext uri="{FF2B5EF4-FFF2-40B4-BE49-F238E27FC236}">
                <a16:creationId xmlns:a16="http://schemas.microsoft.com/office/drawing/2014/main" id="{E139DA75-44EF-439C-8D25-62CAADBDC43B}"/>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CD46136-4C7E-4233-B129-36F007A4B82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서비스 구매 자체를 조직 네이티브 기능 구현으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로 보지 않는 것이 비교의 출발점. 공식 직원 ID·부서·업무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책임·자료 권한과 모델의 이용 문맥을 연결하는 추가 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발·운영 책임의 별도 정의.</a:t>
            </a:r>
          </a:p>
        </p:txBody>
      </p:sp>
      <p:sp>
        <p:nvSpPr>
          <p:cNvPr id="12" name="">
            <a:extLst xmlns:a="http://schemas.openxmlformats.org/drawingml/2006/main">
              <a:ext uri="{FF2B5EF4-FFF2-40B4-BE49-F238E27FC236}">
                <a16:creationId xmlns:a16="http://schemas.microsoft.com/office/drawing/2014/main" id="{58308B8C-66B8-4428-8A86-E8D55B035B2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D533D47-8255-4D2A-8D0E-379E3C78029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기관·직무별 설정과 품질 기준</a:t>
            </a:r>
          </a:p>
        </p:txBody>
      </p:sp>
      <p:sp>
        <p:nvSpPr>
          <p:cNvPr id="14" name="">
            <a:extLst xmlns:a="http://schemas.openxmlformats.org/drawingml/2006/main">
              <a:ext uri="{FF2B5EF4-FFF2-40B4-BE49-F238E27FC236}">
                <a16:creationId xmlns:a16="http://schemas.microsoft.com/office/drawing/2014/main" id="{585FFB73-4464-44E1-B007-94195071E04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83159D4-BBC4-4626-A314-06C8F5E9944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신규 연결 공수·요청당 비용의 기준선·비교 평가</a:t>
            </a:r>
          </a:p>
        </p:txBody>
      </p:sp>
      <p:sp>
        <p:nvSpPr>
          <p:cNvPr id="16" name="">
            <a:extLst xmlns:a="http://schemas.openxmlformats.org/drawingml/2006/main">
              <a:ext uri="{FF2B5EF4-FFF2-40B4-BE49-F238E27FC236}">
                <a16:creationId xmlns:a16="http://schemas.microsoft.com/office/drawing/2014/main" id="{7679882F-618E-4B12-B15F-F0A199444ED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16104D4-22CB-4DCD-A956-D7764C3FEC5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신규 연결 공수·요청당 비용</a:t>
            </a:r>
          </a:p>
        </p:txBody>
      </p:sp>
      <p:sp>
        <p:nvSpPr>
          <p:cNvPr id="18" name="">
            <a:extLst xmlns:a="http://schemas.openxmlformats.org/drawingml/2006/main">
              <a:ext uri="{FF2B5EF4-FFF2-40B4-BE49-F238E27FC236}">
                <a16:creationId xmlns:a16="http://schemas.microsoft.com/office/drawing/2014/main" id="{97081B98-D478-41E6-A97F-02856668D6D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오래된 소개 지표로 현재 규모를 추정하지 않음. 독립 정량 업무효과 미확인</a:t>
            </a:r>
          </a:p>
        </p:txBody>
      </p:sp>
    </p:spTree>
    <p:extLst>
      <p:ext uri="{BB962C8B-B14F-4D97-AF65-F5344CB8AC3E}">
        <p14:creationId xmlns:p14="http://schemas.microsoft.com/office/powerpoint/2010/main" val="487558067"/>
      </p:ext>
    </p:extLst>
  </p:cSld>
</p:sld>
</file>

<file path=ppt/slides/slide1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A2BF0D-A46D-48C3-9648-4F8A137E4C5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As-Is → To-Be → 기대효과 → 확인 결과</a:t>
            </a:r>
          </a:p>
        </p:txBody>
      </p:sp>
      <p:sp>
        <p:nvSpPr>
          <p:cNvPr id="2" name="">
            <a:extLst xmlns:a="http://schemas.openxmlformats.org/drawingml/2006/main">
              <a:ext uri="{FF2B5EF4-FFF2-40B4-BE49-F238E27FC236}">
                <a16:creationId xmlns:a16="http://schemas.microsoft.com/office/drawing/2014/main" id="{A6179EEF-5038-4570-B9E4-B0ADE6BB59C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기대와 결과</a:t>
            </a:r>
          </a:p>
        </p:txBody>
      </p:sp>
      <p:sp>
        <p:nvSpPr>
          <p:cNvPr id="3" name="">
            <a:extLst xmlns:a="http://schemas.openxmlformats.org/drawingml/2006/main">
              <a:ext uri="{FF2B5EF4-FFF2-40B4-BE49-F238E27FC236}">
                <a16:creationId xmlns:a16="http://schemas.microsoft.com/office/drawing/2014/main" id="{95CF42BD-4284-4E9F-AD67-25856762D3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A79F0C-6F6B-4875-B67E-BBAB341AA09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9DFE881-FFC7-4867-A5DC-4885546B9F3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128</a:t>
            </a:r>
          </a:p>
        </p:txBody>
      </p:sp>
      <p:sp>
        <p:nvSpPr>
          <p:cNvPr id="6" name="">
            <a:extLst xmlns:a="http://schemas.openxmlformats.org/drawingml/2006/main">
              <a:ext uri="{FF2B5EF4-FFF2-40B4-BE49-F238E27FC236}">
                <a16:creationId xmlns:a16="http://schemas.microsoft.com/office/drawing/2014/main" id="{2A35574F-DCAA-47BE-996F-8DFF74202369}"/>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F0B3CD5C-92A9-4C36-9D37-A26512309D60}"/>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정부 직원이 범용 LLM을 별도로 이용하거나 기관별 보안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설정을 반복</a:t>
            </a:r>
          </a:p>
        </p:txBody>
      </p:sp>
      <p:sp>
        <p:nvSpPr>
          <p:cNvPr id="8" name="">
            <a:extLst xmlns:a="http://schemas.openxmlformats.org/drawingml/2006/main">
              <a:ext uri="{FF2B5EF4-FFF2-40B4-BE49-F238E27FC236}">
                <a16:creationId xmlns:a16="http://schemas.microsoft.com/office/drawing/2014/main" id="{44893BC1-E94B-4C3B-AAF7-75EE2BC1CA9D}"/>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A1976B4-0476-418E-9505-3B574F6E495A}"/>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정부 기기에서 Pair 공통 AI 보조도구를 제공하고 안전한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사용환경을 공유</a:t>
            </a:r>
          </a:p>
        </p:txBody>
      </p:sp>
      <p:sp>
        <p:nvSpPr>
          <p:cNvPr id="10" name="">
            <a:extLst xmlns:a="http://schemas.openxmlformats.org/drawingml/2006/main">
              <a:ext uri="{FF2B5EF4-FFF2-40B4-BE49-F238E27FC236}">
                <a16:creationId xmlns:a16="http://schemas.microsoft.com/office/drawing/2014/main" id="{22130C64-B61A-401E-8719-857CF55397B3}"/>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9FBC960E-F8D4-49BE-A08E-F5B9BC12A0D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기관별 도입 공수 감소와 문서·조사 업무시간 단축</a:t>
            </a:r>
          </a:p>
        </p:txBody>
      </p:sp>
      <p:sp>
        <p:nvSpPr>
          <p:cNvPr id="12" name="">
            <a:extLst xmlns:a="http://schemas.openxmlformats.org/drawingml/2006/main">
              <a:ext uri="{FF2B5EF4-FFF2-40B4-BE49-F238E27FC236}">
                <a16:creationId xmlns:a16="http://schemas.microsoft.com/office/drawing/2014/main" id="{5161E481-90F5-49E4-AACF-6B17C5061A06}"/>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45F89B53-1413-49F6-BB72-F68B7FF9937D}"/>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GovTech 공식 제품 목록에서 Pair 운영 확인. 현재 사용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규모와 동일 과업 시간·품질 독립평가 미확인</a:t>
            </a:r>
          </a:p>
        </p:txBody>
      </p:sp>
      <p:sp>
        <p:nvSpPr>
          <p:cNvPr id="14" name="">
            <a:extLst xmlns:a="http://schemas.openxmlformats.org/drawingml/2006/main">
              <a:ext uri="{FF2B5EF4-FFF2-40B4-BE49-F238E27FC236}">
                <a16:creationId xmlns:a16="http://schemas.microsoft.com/office/drawing/2014/main" id="{AB73ED11-EBF1-4493-A703-EC57AF58D764}"/>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Active 제품 상태나 과거 이용 지표는 업무 개선의 직접 증거 아님</a:t>
            </a:r>
          </a:p>
        </p:txBody>
      </p:sp>
      <p:sp>
        <p:nvSpPr>
          <p:cNvPr id="15" name="">
            <a:extLst xmlns:a="http://schemas.openxmlformats.org/drawingml/2006/main">
              <a:ext uri="{FF2B5EF4-FFF2-40B4-BE49-F238E27FC236}">
                <a16:creationId xmlns:a16="http://schemas.microsoft.com/office/drawing/2014/main" id="{79278071-7414-4DC1-9B48-0273B8402A4D}"/>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공통도구 운영 · 일반 초안 생산성과 기관별 공식 업무완료를 구분</a:t>
            </a:r>
          </a:p>
        </p:txBody>
      </p:sp>
    </p:spTree>
    <p:extLst>
      <p:ext uri="{BB962C8B-B14F-4D97-AF65-F5344CB8AC3E}">
        <p14:creationId xmlns:p14="http://schemas.microsoft.com/office/powerpoint/2010/main" val="890455893"/>
      </p:ext>
    </p:extLst>
  </p:cSld>
</p:sld>
</file>

<file path=ppt/slides/slide1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0296FAB-ECF0-4DD3-B67C-AE50D8E0BA10}"/>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AFA6ED86-65C3-4BF8-8091-99C6437284B7}"/>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C07869B-7359-4B87-A3CF-0DBDCDD24BC3}"/>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A846FB86-B70A-43C5-920A-A530D22F9828}"/>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92182E2A-0CF6-4025-87DA-63B19CB25CB8}"/>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B12E439-A0FC-4D9A-80EB-422AA04A88E8}"/>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0E873860-A494-47D9-A97B-1857EF8BD0E4}"/>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F5D94F9-6289-4961-9DB0-6D4EA640EF13}"/>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80D1C8DA-2754-4576-AC74-CDA9A7D48F7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56648EA1-2136-4D17-8CDF-CFFD56985CC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지식 갱신·검색·근거 응답</a:t>
            </a:r>
          </a:p>
        </p:txBody>
      </p:sp>
      <p:sp>
        <p:nvSpPr>
          <p:cNvPr id="2" name="">
            <a:extLst xmlns:a="http://schemas.openxmlformats.org/drawingml/2006/main">
              <a:ext uri="{FF2B5EF4-FFF2-40B4-BE49-F238E27FC236}">
                <a16:creationId xmlns:a16="http://schemas.microsoft.com/office/drawing/2014/main" id="{86A50BC4-DD84-48F0-BFD0-8DF1F83B5B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세부 서비스 구조</a:t>
            </a:r>
          </a:p>
        </p:txBody>
      </p:sp>
      <p:sp>
        <p:nvSpPr>
          <p:cNvPr id="3" name="">
            <a:extLst xmlns:a="http://schemas.openxmlformats.org/drawingml/2006/main">
              <a:ext uri="{FF2B5EF4-FFF2-40B4-BE49-F238E27FC236}">
                <a16:creationId xmlns:a16="http://schemas.microsoft.com/office/drawing/2014/main" id="{9D9459B4-2C63-456D-812C-2FE4C48E8A5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B63BBB-9837-4945-A2F2-E82EB652B88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2A6364B-CF09-43D3-9DC2-CCBCE0249DA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129</a:t>
            </a:r>
          </a:p>
        </p:txBody>
      </p:sp>
      <p:sp>
        <p:nvSpPr>
          <p:cNvPr id="6" name="">
            <a:extLst xmlns:a="http://schemas.openxmlformats.org/drawingml/2006/main">
              <a:ext uri="{FF2B5EF4-FFF2-40B4-BE49-F238E27FC236}">
                <a16:creationId xmlns:a16="http://schemas.microsoft.com/office/drawing/2014/main" id="{DCCDE3B5-93CF-465B-ADF4-D9C51381A03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사용자 → 공통 LLM 도구 → 작성·조사 지원 → 공무원 검토</a:t>
            </a:r>
          </a:p>
        </p:txBody>
      </p:sp>
      <p:sp>
        <p:nvSpPr>
          <p:cNvPr id="7" name="">
            <a:extLst xmlns:a="http://schemas.openxmlformats.org/drawingml/2006/main">
              <a:ext uri="{FF2B5EF4-FFF2-40B4-BE49-F238E27FC236}">
                <a16:creationId xmlns:a16="http://schemas.microsoft.com/office/drawing/2014/main" id="{FEFE01DA-827E-4709-8E4E-F9342B25703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50D6783-4BCC-4932-B288-36ED3F9C107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4BBA15C-3076-4DAB-A6DE-2671AD72C80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업무 입력</a:t>
            </a:r>
          </a:p>
        </p:txBody>
      </p:sp>
      <p:sp>
        <p:nvSpPr>
          <p:cNvPr id="10" name="">
            <a:extLst xmlns:a="http://schemas.openxmlformats.org/drawingml/2006/main">
              <a:ext uri="{FF2B5EF4-FFF2-40B4-BE49-F238E27FC236}">
                <a16:creationId xmlns:a16="http://schemas.microsoft.com/office/drawing/2014/main" id="{498E0A24-D17F-4057-9F64-08F57B595987}"/>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00D4939-CB74-4689-A739-D6B71D48635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3C494E94-84EF-4359-97CA-50F6D206CA05}"/>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보관조건 정리</a:t>
            </a:r>
          </a:p>
        </p:txBody>
      </p:sp>
      <p:sp>
        <p:nvSpPr>
          <p:cNvPr id="13" name="">
            <a:extLst xmlns:a="http://schemas.openxmlformats.org/drawingml/2006/main">
              <a:ext uri="{FF2B5EF4-FFF2-40B4-BE49-F238E27FC236}">
                <a16:creationId xmlns:a16="http://schemas.microsoft.com/office/drawing/2014/main" id="{25D0CCCE-16B3-407B-8DCC-93C45C84810B}"/>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ADCDC5C-3E78-4A77-961C-9D58EDD1978C}"/>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14ADDC31-F487-4EBB-9419-BFFFBD9D97B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과업·평가 기록</a:t>
            </a:r>
          </a:p>
        </p:txBody>
      </p:sp>
      <p:sp>
        <p:nvSpPr>
          <p:cNvPr id="16" name="">
            <a:extLst xmlns:a="http://schemas.openxmlformats.org/drawingml/2006/main">
              <a:ext uri="{FF2B5EF4-FFF2-40B4-BE49-F238E27FC236}">
                <a16:creationId xmlns:a16="http://schemas.microsoft.com/office/drawing/2014/main" id="{65D820E7-26A4-49CE-824D-7ACE1CBC92E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4D83726-1851-476E-B362-7D005D526BD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59044E41-7D6E-4585-A4D1-F6BF47618AA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문맥 구성</a:t>
            </a:r>
          </a:p>
        </p:txBody>
      </p:sp>
      <p:sp>
        <p:nvSpPr>
          <p:cNvPr id="19" name="">
            <a:extLst xmlns:a="http://schemas.openxmlformats.org/drawingml/2006/main">
              <a:ext uri="{FF2B5EF4-FFF2-40B4-BE49-F238E27FC236}">
                <a16:creationId xmlns:a16="http://schemas.microsoft.com/office/drawing/2014/main" id="{95E9263E-0B50-4AD6-B4E6-CAA64FE9002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16D9DF31-D950-4ECF-938F-79DABAD6CFF7}"/>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2FE5FA09-D899-4E03-B759-DF18BCD2C72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직원 접점</a:t>
            </a:r>
          </a:p>
        </p:txBody>
      </p:sp>
      <p:sp>
        <p:nvSpPr>
          <p:cNvPr id="22" name="">
            <a:extLst xmlns:a="http://schemas.openxmlformats.org/drawingml/2006/main">
              <a:ext uri="{FF2B5EF4-FFF2-40B4-BE49-F238E27FC236}">
                <a16:creationId xmlns:a16="http://schemas.microsoft.com/office/drawing/2014/main" id="{DD969572-EF74-4D62-B808-CD8FA3625CA9}"/>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C8A6535-C0EF-4362-B2E2-3282B2A0B163}"/>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7EC2202C-5849-41C3-ACB9-D3DC9413B965}"/>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업무·입력등급</a:t>
            </a:r>
          </a:p>
        </p:txBody>
      </p:sp>
      <p:sp>
        <p:nvSpPr>
          <p:cNvPr id="25" name="">
            <a:extLst xmlns:a="http://schemas.openxmlformats.org/drawingml/2006/main">
              <a:ext uri="{FF2B5EF4-FFF2-40B4-BE49-F238E27FC236}">
                <a16:creationId xmlns:a16="http://schemas.microsoft.com/office/drawing/2014/main" id="{65A65B25-1739-45DE-9309-D249230E558F}"/>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F1AD37F-54C7-4491-AA17-DC60F81552E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321C61F6-C91B-4A4D-AA79-482F3AE1F5B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Pair 공통 LLM</a:t>
            </a:r>
          </a:p>
        </p:txBody>
      </p:sp>
      <p:sp>
        <p:nvSpPr>
          <p:cNvPr id="28" name="">
            <a:extLst xmlns:a="http://schemas.openxmlformats.org/drawingml/2006/main">
              <a:ext uri="{FF2B5EF4-FFF2-40B4-BE49-F238E27FC236}">
                <a16:creationId xmlns:a16="http://schemas.microsoft.com/office/drawing/2014/main" id="{9493826E-6F05-4F9F-83EC-00E616373425}"/>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95DDDE7-69B5-48EC-9902-804D0F335B71}"/>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E437A15F-B0F4-4A93-89A0-FD9707D16CFA}"/>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근거·민감정보 검</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a:t>
            </a:r>
          </a:p>
        </p:txBody>
      </p:sp>
      <p:sp>
        <p:nvSpPr>
          <p:cNvPr id="31" name="">
            <a:extLst xmlns:a="http://schemas.openxmlformats.org/drawingml/2006/main">
              <a:ext uri="{FF2B5EF4-FFF2-40B4-BE49-F238E27FC236}">
                <a16:creationId xmlns:a16="http://schemas.microsoft.com/office/drawing/2014/main" id="{279B3535-E4FC-4103-92DD-59C92581397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7190334-2889-4E5A-8D5B-9FA9B9E9197D}"/>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EE9254B0-7756-40B5-8BF0-4EAD3FF432A5}"/>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검토</a:t>
            </a:r>
          </a:p>
        </p:txBody>
      </p:sp>
      <p:sp>
        <p:nvSpPr>
          <p:cNvPr id="34" name="">
            <a:extLst xmlns:a="http://schemas.openxmlformats.org/drawingml/2006/main">
              <a:ext uri="{FF2B5EF4-FFF2-40B4-BE49-F238E27FC236}">
                <a16:creationId xmlns:a16="http://schemas.microsoft.com/office/drawing/2014/main" id="{AA0A1306-AD20-42AC-9329-E9819E0B7A05}"/>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63246B4-6D0C-4896-870E-38662A26101A}"/>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AE239C2A-832E-4EB2-B975-04B10EDB444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작성·조사 초안</a:t>
            </a:r>
          </a:p>
        </p:txBody>
      </p:sp>
      <p:sp>
        <p:nvSpPr>
          <p:cNvPr id="46" name="">
            <a:extLst xmlns:a="http://schemas.openxmlformats.org/drawingml/2006/main">
              <a:ext uri="{FF2B5EF4-FFF2-40B4-BE49-F238E27FC236}">
                <a16:creationId xmlns:a16="http://schemas.microsoft.com/office/drawing/2014/main" id="{225F4874-9AC2-444F-9BD5-387E33C9D4C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50494260"/>
      </p:ext>
    </p:extLst>
  </p:cSld>
</p:sld>
</file>

<file path=ppt/slides/slide1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C894E97-4B84-4371-9524-38A3987FD43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논리 인터페이스·복구 설계</a:t>
            </a:r>
          </a:p>
        </p:txBody>
      </p:sp>
      <p:sp>
        <p:nvSpPr>
          <p:cNvPr id="2" name="">
            <a:extLst xmlns:a="http://schemas.openxmlformats.org/drawingml/2006/main">
              <a:ext uri="{FF2B5EF4-FFF2-40B4-BE49-F238E27FC236}">
                <a16:creationId xmlns:a16="http://schemas.microsoft.com/office/drawing/2014/main" id="{6E96F786-4DB0-4EE0-880C-F3B18B1DA10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데이터와 예외 처리</a:t>
            </a:r>
          </a:p>
        </p:txBody>
      </p:sp>
      <p:sp>
        <p:nvSpPr>
          <p:cNvPr id="3" name="">
            <a:extLst xmlns:a="http://schemas.openxmlformats.org/drawingml/2006/main">
              <a:ext uri="{FF2B5EF4-FFF2-40B4-BE49-F238E27FC236}">
                <a16:creationId xmlns:a16="http://schemas.microsoft.com/office/drawing/2014/main" id="{CA3D6A20-AF09-4E98-A69E-49ACB5C2AFA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7506A76-AC7E-4F7A-B3DA-F13CA638316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F5AAA4B-252B-4FCB-B325-583606C06CD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130</a:t>
            </a:r>
          </a:p>
        </p:txBody>
      </p:sp>
      <p:sp>
        <p:nvSpPr>
          <p:cNvPr id="6" name="">
            <a:extLst xmlns:a="http://schemas.openxmlformats.org/drawingml/2006/main">
              <a:ext uri="{FF2B5EF4-FFF2-40B4-BE49-F238E27FC236}">
                <a16:creationId xmlns:a16="http://schemas.microsoft.com/office/drawing/2014/main" id="{F584ECB1-A985-442E-B280-E0E3748993D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AE3610D-4197-49DB-814B-9FB45A4E4AFF}"/>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DF29B74-C4E6-4996-B0E8-AB2AB0CF283F}"/>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029E18E8-A225-4188-9F80-587565D14A0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문맥</a:t>
            </a:r>
          </a:p>
        </p:txBody>
      </p:sp>
      <p:sp>
        <p:nvSpPr>
          <p:cNvPr id="10" name="">
            <a:extLst xmlns:a="http://schemas.openxmlformats.org/drawingml/2006/main">
              <a:ext uri="{FF2B5EF4-FFF2-40B4-BE49-F238E27FC236}">
                <a16:creationId xmlns:a16="http://schemas.microsoft.com/office/drawing/2014/main" id="{37C3E939-E32E-4AE3-94E6-414CE84444A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2ED162-5F75-4350-B3A1-201A198978D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F3E0BDBD-3009-4568-82E8-C68CA6DA59B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B6D679B0-99B2-48B7-B1E3-D6C376A8A9E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D230A8C-1F9B-4555-A7B8-648863901DF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49D50D21-5A07-4A02-95E3-DE8E4FD75B9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정부 기기·사용자 문맥·업무 입력 구분</a:t>
            </a:r>
          </a:p>
        </p:txBody>
      </p:sp>
      <p:sp>
        <p:nvSpPr>
          <p:cNvPr id="16" name="">
            <a:extLst xmlns:a="http://schemas.openxmlformats.org/drawingml/2006/main">
              <a:ext uri="{FF2B5EF4-FFF2-40B4-BE49-F238E27FC236}">
                <a16:creationId xmlns:a16="http://schemas.microsoft.com/office/drawing/2014/main" id="{65B62A20-6D14-42D6-9CCB-D544DFE2D9E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FB3AAB7-479B-44D4-8245-9F2F0CBAAC2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3B688C8D-0D4C-4741-A1FF-2BFC918015D5}"/>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입력 정책·답변 품질·서비스 실패 대응 기록</a:t>
            </a:r>
          </a:p>
        </p:txBody>
      </p:sp>
      <p:sp>
        <p:nvSpPr>
          <p:cNvPr id="19" name="">
            <a:extLst xmlns:a="http://schemas.openxmlformats.org/drawingml/2006/main">
              <a:ext uri="{FF2B5EF4-FFF2-40B4-BE49-F238E27FC236}">
                <a16:creationId xmlns:a16="http://schemas.microsoft.com/office/drawing/2014/main" id="{B4D61317-9425-414B-B9EA-0694F77E800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30076F4-9411-4196-882C-0DC6405AED1A}"/>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4A99A9D7-20E9-4A89-93F6-0B5FF6ED321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도구 입력</a:t>
            </a:r>
          </a:p>
        </p:txBody>
      </p:sp>
      <p:sp>
        <p:nvSpPr>
          <p:cNvPr id="22" name="">
            <a:extLst xmlns:a="http://schemas.openxmlformats.org/drawingml/2006/main">
              <a:ext uri="{FF2B5EF4-FFF2-40B4-BE49-F238E27FC236}">
                <a16:creationId xmlns:a16="http://schemas.microsoft.com/office/drawing/2014/main" id="{338715CA-4FA6-4D36-AC53-6A9292DF5E3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BBA2E07-69B6-45B5-A600-E03194027DA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71C46C69-3566-4BC8-B85D-69F793BF0EC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작성·조사 초안</a:t>
            </a:r>
          </a:p>
        </p:txBody>
      </p:sp>
      <p:sp>
        <p:nvSpPr>
          <p:cNvPr id="25" name="">
            <a:extLst xmlns:a="http://schemas.openxmlformats.org/drawingml/2006/main">
              <a:ext uri="{FF2B5EF4-FFF2-40B4-BE49-F238E27FC236}">
                <a16:creationId xmlns:a16="http://schemas.microsoft.com/office/drawing/2014/main" id="{DFDE6727-69A2-4000-8CCA-399346ACF1A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7F2D451-74C1-4F7B-93AA-F9C6ACC48C1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금지 입력·근거 없는 질문·장시간 응답</a:t>
            </a:r>
          </a:p>
        </p:txBody>
      </p:sp>
      <p:sp>
        <p:nvSpPr>
          <p:cNvPr id="27" name="">
            <a:extLst xmlns:a="http://schemas.openxmlformats.org/drawingml/2006/main">
              <a:ext uri="{FF2B5EF4-FFF2-40B4-BE49-F238E27FC236}">
                <a16:creationId xmlns:a16="http://schemas.microsoft.com/office/drawing/2014/main" id="{E5BF3893-112C-40B0-B4BC-182DCEDB971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5F125F4E-867E-4AA1-9141-65DA6EBA848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공개 범위·근거·내용 대조</a:t>
            </a:r>
          </a:p>
        </p:txBody>
      </p:sp>
      <p:sp>
        <p:nvSpPr>
          <p:cNvPr id="29" name="">
            <a:extLst xmlns:a="http://schemas.openxmlformats.org/drawingml/2006/main">
              <a:ext uri="{FF2B5EF4-FFF2-40B4-BE49-F238E27FC236}">
                <a16:creationId xmlns:a16="http://schemas.microsoft.com/office/drawing/2014/main" id="{35C9D281-DAEB-4790-8F12-0A26F69E763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7C2011E-4C54-4B02-BEB2-B1EB1ACF661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오류·사용성·정책 준수의 운영 점검</a:t>
            </a:r>
          </a:p>
        </p:txBody>
      </p:sp>
      <p:sp>
        <p:nvSpPr>
          <p:cNvPr id="31" name="">
            <a:extLst xmlns:a="http://schemas.openxmlformats.org/drawingml/2006/main">
              <a:ext uri="{FF2B5EF4-FFF2-40B4-BE49-F238E27FC236}">
                <a16:creationId xmlns:a16="http://schemas.microsoft.com/office/drawing/2014/main" id="{CC6AB231-8CB3-410B-9773-BD5018DA108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9AB0331-C90B-4290-9BDB-9F17F419299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입력 정책·답변 품질·서비스 실패 대응 기록</a:t>
            </a:r>
          </a:p>
        </p:txBody>
      </p:sp>
    </p:spTree>
    <p:extLst>
      <p:ext uri="{BB962C8B-B14F-4D97-AF65-F5344CB8AC3E}">
        <p14:creationId xmlns:p14="http://schemas.microsoft.com/office/powerpoint/2010/main" val="1930230760"/>
      </p:ext>
    </p:extLst>
  </p:cSld>
</p:sld>
</file>

<file path=ppt/slides/slide1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3B5CF8-C225-42DD-A928-BED9EECBFE0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CCK 비교·재현 시험 설계</a:t>
            </a:r>
          </a:p>
        </p:txBody>
      </p:sp>
      <p:sp>
        <p:nvSpPr>
          <p:cNvPr id="2" name="">
            <a:extLst xmlns:a="http://schemas.openxmlformats.org/drawingml/2006/main">
              <a:ext uri="{FF2B5EF4-FFF2-40B4-BE49-F238E27FC236}">
                <a16:creationId xmlns:a16="http://schemas.microsoft.com/office/drawing/2014/main" id="{CB127D7C-D0DB-4CEC-BFE8-F71CD994021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벤치마킹</a:t>
            </a:r>
          </a:p>
        </p:txBody>
      </p:sp>
      <p:sp>
        <p:nvSpPr>
          <p:cNvPr id="3" name="">
            <a:extLst xmlns:a="http://schemas.openxmlformats.org/drawingml/2006/main">
              <a:ext uri="{FF2B5EF4-FFF2-40B4-BE49-F238E27FC236}">
                <a16:creationId xmlns:a16="http://schemas.microsoft.com/office/drawing/2014/main" id="{576F51E2-F903-470A-A52E-745B2283439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B033F75-DAF4-48C0-A615-5D0665377F0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33F2D89-E1F4-45C9-9DDF-D2E63EFC101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131</a:t>
            </a:r>
          </a:p>
        </p:txBody>
      </p:sp>
      <p:sp>
        <p:nvSpPr>
          <p:cNvPr id="6" name="">
            <a:extLst xmlns:a="http://schemas.openxmlformats.org/drawingml/2006/main">
              <a:ext uri="{FF2B5EF4-FFF2-40B4-BE49-F238E27FC236}">
                <a16:creationId xmlns:a16="http://schemas.microsoft.com/office/drawing/2014/main" id="{A42E55C3-8C39-4D08-9F31-C4547D2A71B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64069C7F-6190-4C44-AC2D-09AE357F33A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작성·조사 도구 접근</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공무원의 결과 검토</a:t>
            </a:r>
          </a:p>
        </p:txBody>
      </p:sp>
      <p:sp>
        <p:nvSpPr>
          <p:cNvPr id="8" name="">
            <a:extLst xmlns:a="http://schemas.openxmlformats.org/drawingml/2006/main">
              <a:ext uri="{FF2B5EF4-FFF2-40B4-BE49-F238E27FC236}">
                <a16:creationId xmlns:a16="http://schemas.microsoft.com/office/drawing/2014/main" id="{94799AF3-CD16-4DE0-B320-2BB0BF5F41F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CC6A507-4888-49CC-83BA-A1E27F7FE5B9}"/>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도구의 전문 규정 한계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민감 정보 입력·검증 없는 재사용</a:t>
            </a:r>
          </a:p>
        </p:txBody>
      </p:sp>
      <p:sp>
        <p:nvSpPr>
          <p:cNvPr id="10" name="">
            <a:extLst xmlns:a="http://schemas.openxmlformats.org/drawingml/2006/main">
              <a:ext uri="{FF2B5EF4-FFF2-40B4-BE49-F238E27FC236}">
                <a16:creationId xmlns:a16="http://schemas.microsoft.com/office/drawing/2014/main" id="{87E15FEB-4357-46CA-AEA7-B67012800085}"/>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5875A6A-AB10-4D58-8257-D19944F457D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범위·근거·내용 대조</a:t>
            </a:r>
          </a:p>
        </p:txBody>
      </p:sp>
      <p:sp>
        <p:nvSpPr>
          <p:cNvPr id="12" name="">
            <a:extLst xmlns:a="http://schemas.openxmlformats.org/drawingml/2006/main">
              <a:ext uri="{FF2B5EF4-FFF2-40B4-BE49-F238E27FC236}">
                <a16:creationId xmlns:a16="http://schemas.microsoft.com/office/drawing/2014/main" id="{FB9468B5-C167-424C-92B7-2F5ABE35D8E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B5A3FC7-C987-444C-8F7A-863E8729D70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정부 업무자료를 허용 범위에서 요약·작성</a:t>
            </a:r>
          </a:p>
        </p:txBody>
      </p:sp>
      <p:sp>
        <p:nvSpPr>
          <p:cNvPr id="14" name="">
            <a:extLst xmlns:a="http://schemas.openxmlformats.org/drawingml/2006/main">
              <a:ext uri="{FF2B5EF4-FFF2-40B4-BE49-F238E27FC236}">
                <a16:creationId xmlns:a16="http://schemas.microsoft.com/office/drawing/2014/main" id="{21975422-D233-4C9B-9864-DEA32B37E8B9}"/>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94507E5-599C-44CD-A8C2-F4BCBBCD627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금지 입력·근거 없는 질문·장시간 응답</a:t>
            </a:r>
          </a:p>
        </p:txBody>
      </p:sp>
      <p:sp>
        <p:nvSpPr>
          <p:cNvPr id="16" name="">
            <a:extLst xmlns:a="http://schemas.openxmlformats.org/drawingml/2006/main">
              <a:ext uri="{FF2B5EF4-FFF2-40B4-BE49-F238E27FC236}">
                <a16:creationId xmlns:a16="http://schemas.microsoft.com/office/drawing/2014/main" id="{E2518445-79C3-492C-8DB6-60A5C72FE970}"/>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249797F-7E1A-4087-A2FA-25FC87D4306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입력 정책·답변 품질·서비스 실패 대응 기록</a:t>
            </a:r>
          </a:p>
        </p:txBody>
      </p:sp>
    </p:spTree>
    <p:extLst>
      <p:ext uri="{BB962C8B-B14F-4D97-AF65-F5344CB8AC3E}">
        <p14:creationId xmlns:p14="http://schemas.microsoft.com/office/powerpoint/2010/main" val="2135730044"/>
      </p:ext>
    </p:extLst>
  </p:cSld>
</p:sld>
</file>

<file path=ppt/slides/slide1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1326DDC-68B7-4D44-A140-4501BCF775B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성과 미검증 / 해외</a:t>
            </a:r>
          </a:p>
        </p:txBody>
      </p:sp>
      <p:sp>
        <p:nvSpPr>
          <p:cNvPr id="2" name="">
            <a:extLst xmlns:a="http://schemas.openxmlformats.org/drawingml/2006/main">
              <a:ext uri="{FF2B5EF4-FFF2-40B4-BE49-F238E27FC236}">
                <a16:creationId xmlns:a16="http://schemas.microsoft.com/office/drawing/2014/main" id="{8E2B0F2E-8E58-488E-8F84-1B44DDF518C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a:t>
            </a:r>
          </a:p>
        </p:txBody>
      </p:sp>
      <p:sp>
        <p:nvSpPr>
          <p:cNvPr id="3" name="">
            <a:extLst xmlns:a="http://schemas.openxmlformats.org/drawingml/2006/main">
              <a:ext uri="{FF2B5EF4-FFF2-40B4-BE49-F238E27FC236}">
                <a16:creationId xmlns:a16="http://schemas.microsoft.com/office/drawing/2014/main" id="{5F4295F7-6494-4309-BFC1-447F812904B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9BC7E8-4F7E-4154-BDEA-F14A5126B91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CB5B09F-CDD0-4F45-87EE-CF87A42754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132</a:t>
            </a:r>
          </a:p>
        </p:txBody>
      </p:sp>
      <p:sp>
        <p:nvSpPr>
          <p:cNvPr id="6" name="">
            <a:extLst xmlns:a="http://schemas.openxmlformats.org/drawingml/2006/main">
              <a:ext uri="{FF2B5EF4-FFF2-40B4-BE49-F238E27FC236}">
                <a16:creationId xmlns:a16="http://schemas.microsoft.com/office/drawing/2014/main" id="{9EE20ECF-052A-487F-8910-8F43601EA18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0BEE09D-3DEA-4B6E-8220-28FAA15360E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프랑스 Albert API는 공공기관이 자체 업무 서비스에 A</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I 기능을 붙일 수 있도록 공통 API를 제공하는 사례. 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성형 챗봇뿐 아니라 문서·음성 처리와 모델 기능을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앱에서 선택해 활용하는 구조.</a:t>
            </a:r>
          </a:p>
        </p:txBody>
      </p:sp>
      <p:sp>
        <p:nvSpPr>
          <p:cNvPr id="8" name="">
            <a:extLst xmlns:a="http://schemas.openxmlformats.org/drawingml/2006/main">
              <a:ext uri="{FF2B5EF4-FFF2-40B4-BE49-F238E27FC236}">
                <a16:creationId xmlns:a16="http://schemas.microsoft.com/office/drawing/2014/main" id="{A6E363CB-4DA0-4942-B9A7-21E30FA1DEF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87B9A23-2C23-444C-AE9C-E74AC0758B6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API 명세의 Bearer 인증, 모델 조회, OCR, 음성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전사, 사용량 관측 기능을 기준으로 요청·변환·추론·결과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반환 계층을 구성. 업무 서비스는 인증·입력 제약·오류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처리·출력 활용을 담당하고 공통 API는 호출 가능한 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능을 제공하는 책임 분리.</a:t>
            </a:r>
          </a:p>
        </p:txBody>
      </p:sp>
      <p:sp>
        <p:nvSpPr>
          <p:cNvPr id="10" name="">
            <a:extLst xmlns:a="http://schemas.openxmlformats.org/drawingml/2006/main">
              <a:ext uri="{FF2B5EF4-FFF2-40B4-BE49-F238E27FC236}">
                <a16:creationId xmlns:a16="http://schemas.microsoft.com/office/drawing/2014/main" id="{B15C11D6-0630-4729-9C5F-4D165F92716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8F8E10B5-22D0-48E0-B004-87C508411EC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기능 재사용 단위를 화면보다 API 계약으로 정의하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는 참고. 요청 크기·형식 오류·인증 실패·타임아웃·재시도·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호출에 대한 시험과 부서별 호출 이력·비용·개인정보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처리 기준의 연결 필요.</a:t>
            </a:r>
          </a:p>
        </p:txBody>
      </p:sp>
      <p:sp>
        <p:nvSpPr>
          <p:cNvPr id="12" name="">
            <a:extLst xmlns:a="http://schemas.openxmlformats.org/drawingml/2006/main">
              <a:ext uri="{FF2B5EF4-FFF2-40B4-BE49-F238E27FC236}">
                <a16:creationId xmlns:a16="http://schemas.microsoft.com/office/drawing/2014/main" id="{CA643FBE-6EE9-4275-B101-F1258D6D957D}"/>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00CFC25-2EFD-4DB1-9D25-B9447C1E40C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계약·사용 정책·부서별 사용량·장애 격리</a:t>
            </a:r>
          </a:p>
        </p:txBody>
      </p:sp>
      <p:sp>
        <p:nvSpPr>
          <p:cNvPr id="14" name="">
            <a:extLst xmlns:a="http://schemas.openxmlformats.org/drawingml/2006/main">
              <a:ext uri="{FF2B5EF4-FFF2-40B4-BE49-F238E27FC236}">
                <a16:creationId xmlns:a16="http://schemas.microsoft.com/office/drawing/2014/main" id="{1A6279BD-92D3-4232-87E1-44DBEC8F750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824B0E9-F35F-4A20-B432-4F0EEC3BDA8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 기능 계약 시험 / 지연·실패·비용의 업무별 분리</a:t>
            </a:r>
          </a:p>
        </p:txBody>
      </p:sp>
      <p:sp>
        <p:nvSpPr>
          <p:cNvPr id="16" name="">
            <a:extLst xmlns:a="http://schemas.openxmlformats.org/drawingml/2006/main">
              <a:ext uri="{FF2B5EF4-FFF2-40B4-BE49-F238E27FC236}">
                <a16:creationId xmlns:a16="http://schemas.microsoft.com/office/drawing/2014/main" id="{3CB7892A-30B2-46C3-8DD8-0F9220A0AC1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8190E0D-3700-4A74-91E0-E0A7E43E649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0E141A8C-EF06-4927-A281-E04E49470B1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서비스 기능 확인 · 공개 이용 통계와 업무성과의 별도 평가</a:t>
            </a:r>
          </a:p>
        </p:txBody>
      </p:sp>
    </p:spTree>
    <p:extLst>
      <p:ext uri="{BB962C8B-B14F-4D97-AF65-F5344CB8AC3E}">
        <p14:creationId xmlns:p14="http://schemas.microsoft.com/office/powerpoint/2010/main" val="1545799584"/>
      </p:ext>
    </p:extLst>
  </p:cSld>
</p:sld>
</file>

<file path=ppt/slides/slide1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DEFCB4C-2BB7-47B6-986B-EF46D81E3E2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As-Is → To-Be → 기대효과 → 확인 결과</a:t>
            </a:r>
          </a:p>
        </p:txBody>
      </p:sp>
      <p:sp>
        <p:nvSpPr>
          <p:cNvPr id="2" name="">
            <a:extLst xmlns:a="http://schemas.openxmlformats.org/drawingml/2006/main">
              <a:ext uri="{FF2B5EF4-FFF2-40B4-BE49-F238E27FC236}">
                <a16:creationId xmlns:a16="http://schemas.microsoft.com/office/drawing/2014/main" id="{588320F6-E152-49D0-881B-A780A8DB03F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기대와 결과</a:t>
            </a:r>
          </a:p>
        </p:txBody>
      </p:sp>
      <p:sp>
        <p:nvSpPr>
          <p:cNvPr id="3" name="">
            <a:extLst xmlns:a="http://schemas.openxmlformats.org/drawingml/2006/main">
              <a:ext uri="{FF2B5EF4-FFF2-40B4-BE49-F238E27FC236}">
                <a16:creationId xmlns:a16="http://schemas.microsoft.com/office/drawing/2014/main" id="{AD8CA4E0-CCB9-4291-8CBA-2A16DB3B2EE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644447-052A-4DCA-A492-EC5608E108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79AD174-0550-4B1A-9634-FA51ADD7E5E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133</a:t>
            </a:r>
          </a:p>
        </p:txBody>
      </p:sp>
      <p:sp>
        <p:nvSpPr>
          <p:cNvPr id="6" name="">
            <a:extLst xmlns:a="http://schemas.openxmlformats.org/drawingml/2006/main">
              <a:ext uri="{FF2B5EF4-FFF2-40B4-BE49-F238E27FC236}">
                <a16:creationId xmlns:a16="http://schemas.microsoft.com/office/drawing/2014/main" id="{47BFCB9D-7434-453F-9A1C-3464B418A08A}"/>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69C5D2C8-7B34-460A-B15B-002F8F9D70C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기관별로 모델 호출·검색·OCR·음성전사 기능을 개별 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합</a:t>
            </a:r>
          </a:p>
        </p:txBody>
      </p:sp>
      <p:sp>
        <p:nvSpPr>
          <p:cNvPr id="8" name="">
            <a:extLst xmlns:a="http://schemas.openxmlformats.org/drawingml/2006/main">
              <a:ext uri="{FF2B5EF4-FFF2-40B4-BE49-F238E27FC236}">
                <a16:creationId xmlns:a16="http://schemas.microsoft.com/office/drawing/2014/main" id="{9550604B-8755-4069-83DB-85B48D919B18}"/>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E26E6E29-CAE0-4D1C-90EF-C24BBE3FB6D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프랑스 정부 Albert API의 공통 AI 기능을 기관 서비스가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표준 API로 호출</a:t>
            </a:r>
          </a:p>
        </p:txBody>
      </p:sp>
      <p:sp>
        <p:nvSpPr>
          <p:cNvPr id="10" name="">
            <a:extLst xmlns:a="http://schemas.openxmlformats.org/drawingml/2006/main">
              <a:ext uri="{FF2B5EF4-FFF2-40B4-BE49-F238E27FC236}">
                <a16:creationId xmlns:a16="http://schemas.microsoft.com/office/drawing/2014/main" id="{C420ED14-6204-4FC1-BC64-5B79523165E6}"/>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88EF4EB-148B-4C5A-923B-8630B95C97B8}"/>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구축·기능 연결 공수 감소와 품질 관리 일원화</a:t>
            </a:r>
          </a:p>
        </p:txBody>
      </p:sp>
      <p:sp>
        <p:nvSpPr>
          <p:cNvPr id="12" name="">
            <a:extLst xmlns:a="http://schemas.openxmlformats.org/drawingml/2006/main">
              <a:ext uri="{FF2B5EF4-FFF2-40B4-BE49-F238E27FC236}">
                <a16:creationId xmlns:a16="http://schemas.microsoft.com/office/drawing/2014/main" id="{574A7F46-4914-42B6-AA8E-EAD047324BA2}"/>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0F5AD483-EE9E-42FE-868B-16B5E169748C}"/>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서비스 목록과 공개 API 이용통계 확인. 도입 전후 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축비·기관별 업무성과 비교 없음</a:t>
            </a:r>
          </a:p>
        </p:txBody>
      </p:sp>
      <p:sp>
        <p:nvSpPr>
          <p:cNvPr id="14" name="">
            <a:extLst xmlns:a="http://schemas.openxmlformats.org/drawingml/2006/main">
              <a:ext uri="{FF2B5EF4-FFF2-40B4-BE49-F238E27FC236}">
                <a16:creationId xmlns:a16="http://schemas.microsoft.com/office/drawing/2014/main" id="{A02C1676-9FE2-4C5D-8ADD-DAF245FEF864}"/>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API 제공·호출 건수는 동일 업무의 성능·비용 개선을 입증하지 않음</a:t>
            </a:r>
          </a:p>
        </p:txBody>
      </p:sp>
      <p:sp>
        <p:nvSpPr>
          <p:cNvPr id="15" name="">
            <a:extLst xmlns:a="http://schemas.openxmlformats.org/drawingml/2006/main">
              <a:ext uri="{FF2B5EF4-FFF2-40B4-BE49-F238E27FC236}">
                <a16:creationId xmlns:a16="http://schemas.microsoft.com/office/drawing/2014/main" id="{C090D8F5-2B1B-40F5-BF3B-7567DE94E444}"/>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공통 API 운영 · 요청 수와 고유 이용자·완료 업무를 구별; 기관별 SLA와 장기 품질 미확인</a:t>
            </a:r>
          </a:p>
        </p:txBody>
      </p:sp>
    </p:spTree>
    <p:extLst>
      <p:ext uri="{BB962C8B-B14F-4D97-AF65-F5344CB8AC3E}">
        <p14:creationId xmlns:p14="http://schemas.microsoft.com/office/powerpoint/2010/main" val="1832422555"/>
      </p:ext>
    </p:extLst>
  </p:cSld>
</p:sld>
</file>

<file path=ppt/slides/slide1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5035AECB-20BC-4549-81CA-69D2AD30CF24}"/>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52DFE73-20B9-4C34-858B-E30BF9A808B5}"/>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80B9038-D0CE-4FD3-9142-A303C6008E38}"/>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DADBC7FD-5E72-43F4-8D1E-D5031477D592}"/>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F43D934A-714F-4A73-A110-719A84DC9A8D}"/>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C762668-38BC-4334-A7A9-713C27AD9D64}"/>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170D4F37-8173-4C3C-AC8D-9D39060F35EB}"/>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B905BF3-C3AD-4D0E-BB06-B00A2C1CD213}"/>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30D007E9-3990-4A2B-B953-93D65219B9F4}"/>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9D9FA3CF-2065-4527-91AE-9EC73007A6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입력 구조화·확인·업무시스템 처리</a:t>
            </a:r>
          </a:p>
        </p:txBody>
      </p:sp>
      <p:sp>
        <p:nvSpPr>
          <p:cNvPr id="2" name="">
            <a:extLst xmlns:a="http://schemas.openxmlformats.org/drawingml/2006/main">
              <a:ext uri="{FF2B5EF4-FFF2-40B4-BE49-F238E27FC236}">
                <a16:creationId xmlns:a16="http://schemas.microsoft.com/office/drawing/2014/main" id="{7D4A961C-81EB-4708-963A-410DCE6FE10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세부 서비스 구조</a:t>
            </a:r>
          </a:p>
        </p:txBody>
      </p:sp>
      <p:sp>
        <p:nvSpPr>
          <p:cNvPr id="3" name="">
            <a:extLst xmlns:a="http://schemas.openxmlformats.org/drawingml/2006/main">
              <a:ext uri="{FF2B5EF4-FFF2-40B4-BE49-F238E27FC236}">
                <a16:creationId xmlns:a16="http://schemas.microsoft.com/office/drawing/2014/main" id="{C9F7A3F6-4DA0-4401-969C-2C4A044973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50144E-86E3-4502-B8EC-D9A352F7EC2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2BBD353-6C4D-4A37-A3ED-45695DB9E27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134</a:t>
            </a:r>
          </a:p>
        </p:txBody>
      </p:sp>
      <p:sp>
        <p:nvSpPr>
          <p:cNvPr id="6" name="">
            <a:extLst xmlns:a="http://schemas.openxmlformats.org/drawingml/2006/main">
              <a:ext uri="{FF2B5EF4-FFF2-40B4-BE49-F238E27FC236}">
                <a16:creationId xmlns:a16="http://schemas.microsoft.com/office/drawing/2014/main" id="{B4C20F26-0A87-4B84-BFF2-9FD8DB1AA9E5}"/>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업무 앱 → 공통 API·접근관리 → 모델·검색·문서·음성 → 프로젝트·사용량 관리</a:t>
            </a:r>
          </a:p>
        </p:txBody>
      </p:sp>
      <p:sp>
        <p:nvSpPr>
          <p:cNvPr id="7" name="">
            <a:extLst xmlns:a="http://schemas.openxmlformats.org/drawingml/2006/main">
              <a:ext uri="{FF2B5EF4-FFF2-40B4-BE49-F238E27FC236}">
                <a16:creationId xmlns:a16="http://schemas.microsoft.com/office/drawing/2014/main" id="{DA803C42-EF1E-4E77-86FF-9D759E711630}"/>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4529974-350D-4A79-B1E8-7E8C6168E41D}"/>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B68A90AE-FC96-43BC-B8CA-0779B9CE26E2}"/>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앱 API</a:t>
            </a:r>
          </a:p>
        </p:txBody>
      </p:sp>
      <p:sp>
        <p:nvSpPr>
          <p:cNvPr id="10" name="">
            <a:extLst xmlns:a="http://schemas.openxmlformats.org/drawingml/2006/main">
              <a:ext uri="{FF2B5EF4-FFF2-40B4-BE49-F238E27FC236}">
                <a16:creationId xmlns:a16="http://schemas.microsoft.com/office/drawing/2014/main" id="{CF7F0DA2-A9F9-4D26-AAC8-0F5FB0176CE3}"/>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DCFA369-D0C3-4162-80C6-869BCB288956}"/>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10D7E0B-6223-43B9-BB5E-6CCE3703589D}"/>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Bearer 인증</a:t>
            </a:r>
          </a:p>
        </p:txBody>
      </p:sp>
      <p:sp>
        <p:nvSpPr>
          <p:cNvPr id="13" name="">
            <a:extLst xmlns:a="http://schemas.openxmlformats.org/drawingml/2006/main">
              <a:ext uri="{FF2B5EF4-FFF2-40B4-BE49-F238E27FC236}">
                <a16:creationId xmlns:a16="http://schemas.microsoft.com/office/drawing/2014/main" id="{4E7D24D8-591D-4E8B-B7A6-8424531ECE31}"/>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30705C5-1DFC-4E80-B135-0B4B6D559D9F}"/>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3A39DD6C-4875-420D-9F32-AA6E428C0154}"/>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검색·OCR·전사</a:t>
            </a:r>
          </a:p>
        </p:txBody>
      </p:sp>
      <p:sp>
        <p:nvSpPr>
          <p:cNvPr id="16" name="">
            <a:extLst xmlns:a="http://schemas.openxmlformats.org/drawingml/2006/main">
              <a:ext uri="{FF2B5EF4-FFF2-40B4-BE49-F238E27FC236}">
                <a16:creationId xmlns:a16="http://schemas.microsoft.com/office/drawing/2014/main" id="{EE62B67E-058F-4A44-9722-5FE693195A00}"/>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60A5ACB-A120-4FBF-8EBA-24995B6FFF4D}"/>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869DEDEA-27D7-4D5C-A76F-110064431D06}"/>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응답·오류 검사</a:t>
            </a:r>
          </a:p>
        </p:txBody>
      </p:sp>
      <p:sp>
        <p:nvSpPr>
          <p:cNvPr id="19" name="">
            <a:extLst xmlns:a="http://schemas.openxmlformats.org/drawingml/2006/main">
              <a:ext uri="{FF2B5EF4-FFF2-40B4-BE49-F238E27FC236}">
                <a16:creationId xmlns:a16="http://schemas.microsoft.com/office/drawing/2014/main" id="{3EDC9897-1AF0-4165-87DB-9E6C9D0C8843}"/>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9F44FF4-8E81-43C9-8395-6FECA5F975B9}"/>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DC6822AE-32F4-4E15-9E68-6C1206870891}"/>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 후처리</a:t>
            </a:r>
          </a:p>
        </p:txBody>
      </p:sp>
      <p:sp>
        <p:nvSpPr>
          <p:cNvPr id="22" name="">
            <a:extLst xmlns:a="http://schemas.openxmlformats.org/drawingml/2006/main">
              <a:ext uri="{FF2B5EF4-FFF2-40B4-BE49-F238E27FC236}">
                <a16:creationId xmlns:a16="http://schemas.microsoft.com/office/drawing/2014/main" id="{96A499AF-78F6-473F-9DBE-BB546FA274D1}"/>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92095761-AE95-4F9E-B0C8-1A125345A2CE}"/>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AD216328-D29B-4739-9E72-0996044FB803}"/>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구조화 API 결과</a:t>
            </a:r>
          </a:p>
        </p:txBody>
      </p:sp>
      <p:sp>
        <p:nvSpPr>
          <p:cNvPr id="25" name="">
            <a:extLst xmlns:a="http://schemas.openxmlformats.org/drawingml/2006/main">
              <a:ext uri="{FF2B5EF4-FFF2-40B4-BE49-F238E27FC236}">
                <a16:creationId xmlns:a16="http://schemas.microsoft.com/office/drawing/2014/main" id="{462A6ED5-EDBF-4AA3-9239-6AFC0080A8AB}"/>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407B0AE-4BF6-496F-B4CD-2AC38E0F9139}"/>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80BBE200-D528-47B1-B635-2A2CF0F1C502}"/>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문서·음성·질의</a:t>
            </a:r>
          </a:p>
        </p:txBody>
      </p:sp>
      <p:sp>
        <p:nvSpPr>
          <p:cNvPr id="28" name="">
            <a:extLst xmlns:a="http://schemas.openxmlformats.org/drawingml/2006/main">
              <a:ext uri="{FF2B5EF4-FFF2-40B4-BE49-F238E27FC236}">
                <a16:creationId xmlns:a16="http://schemas.microsoft.com/office/drawing/2014/main" id="{FE154A47-05CD-4929-A8D3-CC875A79D4AF}"/>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903963D-F00A-4712-A424-0A692E0B78D4}"/>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32F215F1-603D-4E8C-92E2-DF2F1F0711CC}"/>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모델·기능 선택</a:t>
            </a:r>
          </a:p>
        </p:txBody>
      </p:sp>
      <p:sp>
        <p:nvSpPr>
          <p:cNvPr id="31" name="">
            <a:extLst xmlns:a="http://schemas.openxmlformats.org/drawingml/2006/main">
              <a:ext uri="{FF2B5EF4-FFF2-40B4-BE49-F238E27FC236}">
                <a16:creationId xmlns:a16="http://schemas.microsoft.com/office/drawing/2014/main" id="{3C3C0321-412E-4110-AE51-04D54A4252F2}"/>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3A70A53-CDC5-4818-81FA-D453725B6354}"/>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1C33183-F7E9-4D01-ACB2-F54A655377DB}"/>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처리·사용 기록</a:t>
            </a:r>
          </a:p>
        </p:txBody>
      </p:sp>
      <p:sp>
        <p:nvSpPr>
          <p:cNvPr id="34" name="">
            <a:extLst xmlns:a="http://schemas.openxmlformats.org/drawingml/2006/main">
              <a:ext uri="{FF2B5EF4-FFF2-40B4-BE49-F238E27FC236}">
                <a16:creationId xmlns:a16="http://schemas.microsoft.com/office/drawing/2014/main" id="{FC2DCFA4-F07A-454E-9E05-1DA21C10A0E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E5F36AE-F944-47CD-B064-824547A2B63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1C53B4FB-4C31-46E8-9E12-7613193EFB9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상태·지표 수집</a:t>
            </a:r>
          </a:p>
        </p:txBody>
      </p:sp>
      <p:sp>
        <p:nvSpPr>
          <p:cNvPr id="46" name="">
            <a:extLst xmlns:a="http://schemas.openxmlformats.org/drawingml/2006/main">
              <a:ext uri="{FF2B5EF4-FFF2-40B4-BE49-F238E27FC236}">
                <a16:creationId xmlns:a16="http://schemas.microsoft.com/office/drawing/2014/main" id="{2F3A937F-E7FE-4945-9DBE-B98149EB07E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6902888"/>
      </p:ext>
    </p:extLst>
  </p:cSld>
</p:sld>
</file>

<file path=ppt/slides/slide1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31285D3-0FB3-4CF0-B465-27A4430F44E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논리 인터페이스·복구 설계</a:t>
            </a:r>
          </a:p>
        </p:txBody>
      </p:sp>
      <p:sp>
        <p:nvSpPr>
          <p:cNvPr id="2" name="">
            <a:extLst xmlns:a="http://schemas.openxmlformats.org/drawingml/2006/main">
              <a:ext uri="{FF2B5EF4-FFF2-40B4-BE49-F238E27FC236}">
                <a16:creationId xmlns:a16="http://schemas.microsoft.com/office/drawing/2014/main" id="{FEAFC502-1178-4EA9-92BE-2A8F917D05A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데이터와 예외 처리</a:t>
            </a:r>
          </a:p>
        </p:txBody>
      </p:sp>
      <p:sp>
        <p:nvSpPr>
          <p:cNvPr id="3" name="">
            <a:extLst xmlns:a="http://schemas.openxmlformats.org/drawingml/2006/main">
              <a:ext uri="{FF2B5EF4-FFF2-40B4-BE49-F238E27FC236}">
                <a16:creationId xmlns:a16="http://schemas.microsoft.com/office/drawing/2014/main" id="{C689EFA0-574B-4D15-AADF-7FB1B977C11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7443E86-C627-4668-B25D-FEF6E4EA1ED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1E0A70C-254B-4CC6-BE83-7C9B3FABB3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135</a:t>
            </a:r>
          </a:p>
        </p:txBody>
      </p:sp>
      <p:sp>
        <p:nvSpPr>
          <p:cNvPr id="6" name="">
            <a:extLst xmlns:a="http://schemas.openxmlformats.org/drawingml/2006/main">
              <a:ext uri="{FF2B5EF4-FFF2-40B4-BE49-F238E27FC236}">
                <a16:creationId xmlns:a16="http://schemas.microsoft.com/office/drawing/2014/main" id="{A087C9A2-D8F1-4895-A720-9314A2EBB6E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38A549A-01C8-4F4C-B2C2-0A3236AB507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87970E0-968D-44A9-BFA7-C0E70B326D3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94583FD6-9288-4F34-8702-DA3B7FA2FE5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앱별 인증과 요청 종류·용량 확인</a:t>
            </a:r>
          </a:p>
        </p:txBody>
      </p:sp>
      <p:sp>
        <p:nvSpPr>
          <p:cNvPr id="10" name="">
            <a:extLst xmlns:a="http://schemas.openxmlformats.org/drawingml/2006/main">
              <a:ext uri="{FF2B5EF4-FFF2-40B4-BE49-F238E27FC236}">
                <a16:creationId xmlns:a16="http://schemas.microsoft.com/office/drawing/2014/main" id="{2C097412-FEA6-4723-B01E-4AD95302FFB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1BFC91C-9D6F-4826-98E4-5A1779FFFB75}"/>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ACBF4F95-66A1-4650-A56C-ECD8089E152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API 요청</a:t>
            </a:r>
          </a:p>
        </p:txBody>
      </p:sp>
      <p:sp>
        <p:nvSpPr>
          <p:cNvPr id="13" name="">
            <a:extLst xmlns:a="http://schemas.openxmlformats.org/drawingml/2006/main">
              <a:ext uri="{FF2B5EF4-FFF2-40B4-BE49-F238E27FC236}">
                <a16:creationId xmlns:a16="http://schemas.microsoft.com/office/drawing/2014/main" id="{28728066-F3F3-4B1C-9B14-BB270BBA00D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BB69579-1344-4B87-BB8E-76A8892954FF}"/>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31376C63-3DD3-448A-A628-959E23DD56A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문서·검색·모델 서비스</a:t>
            </a:r>
          </a:p>
        </p:txBody>
      </p:sp>
      <p:sp>
        <p:nvSpPr>
          <p:cNvPr id="16" name="">
            <a:extLst xmlns:a="http://schemas.openxmlformats.org/drawingml/2006/main">
              <a:ext uri="{FF2B5EF4-FFF2-40B4-BE49-F238E27FC236}">
                <a16:creationId xmlns:a16="http://schemas.microsoft.com/office/drawing/2014/main" id="{C5F2C488-7B51-4CC8-93A3-3675A65FF48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AE9FAC-1012-4E15-B5FB-1AD728C95C3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74010BCB-0CF2-43A9-9F06-8ECECD949FA6}"/>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공통 처리 결과</a:t>
            </a:r>
          </a:p>
        </p:txBody>
      </p:sp>
      <p:sp>
        <p:nvSpPr>
          <p:cNvPr id="19" name="">
            <a:extLst xmlns:a="http://schemas.openxmlformats.org/drawingml/2006/main">
              <a:ext uri="{FF2B5EF4-FFF2-40B4-BE49-F238E27FC236}">
                <a16:creationId xmlns:a16="http://schemas.microsoft.com/office/drawing/2014/main" id="{44BCBCDA-FDC2-4053-85A7-C2707F157F62}"/>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47B1A3F-A180-485E-9265-740D6CCC25D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2F7AD329-DA5C-43FE-A638-1C39A801544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사용량·업무 결과</a:t>
            </a:r>
          </a:p>
        </p:txBody>
      </p:sp>
      <p:sp>
        <p:nvSpPr>
          <p:cNvPr id="22" name="">
            <a:extLst xmlns:a="http://schemas.openxmlformats.org/drawingml/2006/main">
              <a:ext uri="{FF2B5EF4-FFF2-40B4-BE49-F238E27FC236}">
                <a16:creationId xmlns:a16="http://schemas.microsoft.com/office/drawing/2014/main" id="{53BB23B5-2A1C-4A8B-B3B7-E1BAD9516D5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ECE69F0-6D34-44CE-9098-4E6848CECF9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DCCBC41A-D344-4E6F-AD92-E532FBC4F3F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사용량·업무 결과</a:t>
            </a:r>
          </a:p>
        </p:txBody>
      </p:sp>
      <p:sp>
        <p:nvSpPr>
          <p:cNvPr id="25" name="">
            <a:extLst xmlns:a="http://schemas.openxmlformats.org/drawingml/2006/main">
              <a:ext uri="{FF2B5EF4-FFF2-40B4-BE49-F238E27FC236}">
                <a16:creationId xmlns:a16="http://schemas.microsoft.com/office/drawing/2014/main" id="{2EC63599-8D95-47CB-BB51-423349EE744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E2202CD-F290-4FC4-AA16-90BA4D22F0D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잘못된 파일·과도한 요청·일부 단계 실패</a:t>
            </a:r>
          </a:p>
        </p:txBody>
      </p:sp>
      <p:sp>
        <p:nvSpPr>
          <p:cNvPr id="27" name="">
            <a:extLst xmlns:a="http://schemas.openxmlformats.org/drawingml/2006/main">
              <a:ext uri="{FF2B5EF4-FFF2-40B4-BE49-F238E27FC236}">
                <a16:creationId xmlns:a16="http://schemas.microsoft.com/office/drawing/2014/main" id="{804AB1FA-0C5F-4F2E-BBE0-D2FFFEB96C5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EB9E3D4-B6CB-4223-A37B-DB2E3067A8A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호출 계약·오류·단가·대체 경로</a:t>
            </a:r>
          </a:p>
        </p:txBody>
      </p:sp>
      <p:sp>
        <p:nvSpPr>
          <p:cNvPr id="29" name="">
            <a:extLst xmlns:a="http://schemas.openxmlformats.org/drawingml/2006/main">
              <a:ext uri="{FF2B5EF4-FFF2-40B4-BE49-F238E27FC236}">
                <a16:creationId xmlns:a16="http://schemas.microsoft.com/office/drawing/2014/main" id="{114CBF39-FC3B-4362-A0AB-14E969CD098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3B4853D-0780-421B-AEB9-BA35174C1A6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호출 실패·처리시간·사용량·품질 관측</a:t>
            </a:r>
          </a:p>
        </p:txBody>
      </p:sp>
      <p:sp>
        <p:nvSpPr>
          <p:cNvPr id="31" name="">
            <a:extLst xmlns:a="http://schemas.openxmlformats.org/drawingml/2006/main">
              <a:ext uri="{FF2B5EF4-FFF2-40B4-BE49-F238E27FC236}">
                <a16:creationId xmlns:a16="http://schemas.microsoft.com/office/drawing/2014/main" id="{DEED8924-1CBD-48C5-856D-65EA6AB6528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631A1D5-1D5D-43F9-AD89-1B6EA97B67C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요청 ID별 API 입력·결과·오류·재시도 대사</a:t>
            </a:r>
          </a:p>
        </p:txBody>
      </p:sp>
    </p:spTree>
    <p:extLst>
      <p:ext uri="{BB962C8B-B14F-4D97-AF65-F5344CB8AC3E}">
        <p14:creationId xmlns:p14="http://schemas.microsoft.com/office/powerpoint/2010/main" val="1522714724"/>
      </p:ext>
    </p:extLst>
  </p:cSld>
</p:sld>
</file>

<file path=ppt/slides/slide1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7D90DAB-4464-4CDA-98D9-41839FCD750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CCK 비교·재현 시험 설계</a:t>
            </a:r>
          </a:p>
        </p:txBody>
      </p:sp>
      <p:sp>
        <p:nvSpPr>
          <p:cNvPr id="2" name="">
            <a:extLst xmlns:a="http://schemas.openxmlformats.org/drawingml/2006/main">
              <a:ext uri="{FF2B5EF4-FFF2-40B4-BE49-F238E27FC236}">
                <a16:creationId xmlns:a16="http://schemas.microsoft.com/office/drawing/2014/main" id="{7856588A-BE49-4124-9221-28CDCC89D02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벤치마킹</a:t>
            </a:r>
          </a:p>
        </p:txBody>
      </p:sp>
      <p:sp>
        <p:nvSpPr>
          <p:cNvPr id="3" name="">
            <a:extLst xmlns:a="http://schemas.openxmlformats.org/drawingml/2006/main">
              <a:ext uri="{FF2B5EF4-FFF2-40B4-BE49-F238E27FC236}">
                <a16:creationId xmlns:a16="http://schemas.microsoft.com/office/drawing/2014/main" id="{7A11D8CE-FE2D-4B6E-8070-51E93EC4791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CE974A-C520-4D96-B08C-04CA6C6D423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EF89B21-F2D7-44B3-9AB9-5E08143E6A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136</a:t>
            </a:r>
          </a:p>
        </p:txBody>
      </p:sp>
      <p:sp>
        <p:nvSpPr>
          <p:cNvPr id="6" name="">
            <a:extLst xmlns:a="http://schemas.openxmlformats.org/drawingml/2006/main">
              <a:ext uri="{FF2B5EF4-FFF2-40B4-BE49-F238E27FC236}">
                <a16:creationId xmlns:a16="http://schemas.microsoft.com/office/drawing/2014/main" id="{4FAF8853-A943-484A-9E1A-6BAAB2BA54AC}"/>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C25A45C2-EB01-4FB8-BD3B-06D2133CF48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모델·검색·문서·음성 기능의 API화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프로젝트별 사용량 관리</a:t>
            </a:r>
          </a:p>
        </p:txBody>
      </p:sp>
      <p:sp>
        <p:nvSpPr>
          <p:cNvPr id="8" name="">
            <a:extLst xmlns:a="http://schemas.openxmlformats.org/drawingml/2006/main">
              <a:ext uri="{FF2B5EF4-FFF2-40B4-BE49-F238E27FC236}">
                <a16:creationId xmlns:a16="http://schemas.microsoft.com/office/drawing/2014/main" id="{F8F47944-2935-45D0-9F5B-0B6B594C102C}"/>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65E0BCFD-4783-499C-83E3-FEA7B6677F6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API 의존·장애 영향</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기관별 정책을 공통 기능으로 대체</a:t>
            </a:r>
          </a:p>
        </p:txBody>
      </p:sp>
      <p:sp>
        <p:nvSpPr>
          <p:cNvPr id="10" name="">
            <a:extLst xmlns:a="http://schemas.openxmlformats.org/drawingml/2006/main">
              <a:ext uri="{FF2B5EF4-FFF2-40B4-BE49-F238E27FC236}">
                <a16:creationId xmlns:a16="http://schemas.microsoft.com/office/drawing/2014/main" id="{013DFAEF-AB6E-4D8D-AA55-F9B4C2066E3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4F4FFFF-DE21-4067-836F-E7F25FE7E503}"/>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호출 계약·오류·단가·대체 경로</a:t>
            </a:r>
          </a:p>
        </p:txBody>
      </p:sp>
      <p:sp>
        <p:nvSpPr>
          <p:cNvPr id="12" name="">
            <a:extLst xmlns:a="http://schemas.openxmlformats.org/drawingml/2006/main">
              <a:ext uri="{FF2B5EF4-FFF2-40B4-BE49-F238E27FC236}">
                <a16:creationId xmlns:a16="http://schemas.microsoft.com/office/drawing/2014/main" id="{571E4889-CD4B-497B-969A-B52A94C363B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A0EBEC23-DA0D-4D3B-9DB0-A01B488CFCC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앱이 문서 OCR 후 검색·요약 API를 호출</a:t>
            </a:r>
          </a:p>
        </p:txBody>
      </p:sp>
      <p:sp>
        <p:nvSpPr>
          <p:cNvPr id="14" name="">
            <a:extLst xmlns:a="http://schemas.openxmlformats.org/drawingml/2006/main">
              <a:ext uri="{FF2B5EF4-FFF2-40B4-BE49-F238E27FC236}">
                <a16:creationId xmlns:a16="http://schemas.microsoft.com/office/drawing/2014/main" id="{3C786F72-D598-43E6-AA09-5224C675FEC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A1819B0-C259-41A7-9786-BE23E2DAF0F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파일·과도한 요청·일부 단계 실패</a:t>
            </a:r>
          </a:p>
        </p:txBody>
      </p:sp>
      <p:sp>
        <p:nvSpPr>
          <p:cNvPr id="16" name="">
            <a:extLst xmlns:a="http://schemas.openxmlformats.org/drawingml/2006/main">
              <a:ext uri="{FF2B5EF4-FFF2-40B4-BE49-F238E27FC236}">
                <a16:creationId xmlns:a16="http://schemas.microsoft.com/office/drawing/2014/main" id="{568E8170-A9C8-4AF0-AB13-D505C81B9140}"/>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BC069C2-F6B6-42E0-B6F7-1D9E644BB9E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요청 ID별 API 입력·결과·오류·재시도 대사</a:t>
            </a:r>
          </a:p>
        </p:txBody>
      </p:sp>
    </p:spTree>
    <p:extLst>
      <p:ext uri="{BB962C8B-B14F-4D97-AF65-F5344CB8AC3E}">
        <p14:creationId xmlns:p14="http://schemas.microsoft.com/office/powerpoint/2010/main" val="593055481"/>
      </p:ext>
    </p:extLst>
  </p:cSld>
</p:sld>
</file>

<file path=ppt/slides/slide1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80972F7-5F7C-4629-AC1F-14A4326D599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성과 미검증 / 해외</a:t>
            </a:r>
          </a:p>
        </p:txBody>
      </p:sp>
      <p:sp>
        <p:nvSpPr>
          <p:cNvPr id="2" name="">
            <a:extLst xmlns:a="http://schemas.openxmlformats.org/drawingml/2006/main">
              <a:ext uri="{FF2B5EF4-FFF2-40B4-BE49-F238E27FC236}">
                <a16:creationId xmlns:a16="http://schemas.microsoft.com/office/drawing/2014/main" id="{9AB00FEC-7A95-4B59-97E3-43DFF78CD41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a:t>
            </a:r>
          </a:p>
        </p:txBody>
      </p:sp>
      <p:sp>
        <p:nvSpPr>
          <p:cNvPr id="3" name="">
            <a:extLst xmlns:a="http://schemas.openxmlformats.org/drawingml/2006/main">
              <a:ext uri="{FF2B5EF4-FFF2-40B4-BE49-F238E27FC236}">
                <a16:creationId xmlns:a16="http://schemas.microsoft.com/office/drawing/2014/main" id="{36FFB5EE-1045-4EB1-9719-CC170BD10B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80094B-8282-4107-B2EB-DE2EA5A4F04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7706DB7-5823-47D8-BEC1-199090FD156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137</a:t>
            </a:r>
          </a:p>
        </p:txBody>
      </p:sp>
      <p:sp>
        <p:nvSpPr>
          <p:cNvPr id="6" name="">
            <a:extLst xmlns:a="http://schemas.openxmlformats.org/drawingml/2006/main">
              <a:ext uri="{FF2B5EF4-FFF2-40B4-BE49-F238E27FC236}">
                <a16:creationId xmlns:a16="http://schemas.microsoft.com/office/drawing/2014/main" id="{873C0E0C-B758-4189-B400-A6B17D410DA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1E918EF-8FA1-4467-859F-54B02FA2CD28}"/>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에스토니아 Bürokratt의 기관 간 대화형 안내·상담 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계 사례. 질문이 한 기관 안에서 해결되지 않는 경우 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 기관과 상담 경로를 연결하는 서비스 목표.</a:t>
            </a:r>
          </a:p>
        </p:txBody>
      </p:sp>
      <p:sp>
        <p:nvSpPr>
          <p:cNvPr id="8" name="">
            <a:extLst xmlns:a="http://schemas.openxmlformats.org/drawingml/2006/main">
              <a:ext uri="{FF2B5EF4-FFF2-40B4-BE49-F238E27FC236}">
                <a16:creationId xmlns:a16="http://schemas.microsoft.com/office/drawing/2014/main" id="{782BA047-875F-4E87-9A83-D4EACF843E2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5327A26-4231-4010-BC86-8822A7050E8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Common Knowledge 구성은 수집·정제·파일 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리·스케줄러·내보내기와 Ruuter·Resql·저장소로 구성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된 지식 기반 영역. 수집 설정에서 원시 자료·메타데이터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저장, 텍스트 정제와 처리 상태 관리로 이어지는 흐름이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며 전체 상담 엔진과는 별도 범위.</a:t>
            </a:r>
          </a:p>
        </p:txBody>
      </p:sp>
      <p:sp>
        <p:nvSpPr>
          <p:cNvPr id="10" name="">
            <a:extLst xmlns:a="http://schemas.openxmlformats.org/drawingml/2006/main">
              <a:ext uri="{FF2B5EF4-FFF2-40B4-BE49-F238E27FC236}">
                <a16:creationId xmlns:a16="http://schemas.microsoft.com/office/drawing/2014/main" id="{E35714DC-05D8-401D-A8EC-ACF784B1204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12AC607-CEA4-482B-9472-62AA3A55398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대국민 업무에서는 답변 생성보다 관할 부서 인계와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접수 완료까지의 책임 연결이 중요. 기관 지식 갱신 주기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상담 수신 여부를 관리하고 이관 실패·담당 부서 변경·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접수의 복구 경로를 검수 대상으로 설정.</a:t>
            </a:r>
          </a:p>
        </p:txBody>
      </p:sp>
      <p:sp>
        <p:nvSpPr>
          <p:cNvPr id="12" name="">
            <a:extLst xmlns:a="http://schemas.openxmlformats.org/drawingml/2006/main">
              <a:ext uri="{FF2B5EF4-FFF2-40B4-BE49-F238E27FC236}">
                <a16:creationId xmlns:a16="http://schemas.microsoft.com/office/drawing/2014/main" id="{48E2E569-7C05-410F-880F-3DF8F56AA98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A932541-9461-4BD3-8E5A-F14B2F3E534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관할·복수부서·개인정보 경계 및 인계 수락 상태</a:t>
            </a:r>
          </a:p>
        </p:txBody>
      </p:sp>
      <p:sp>
        <p:nvSpPr>
          <p:cNvPr id="14" name="">
            <a:extLst xmlns:a="http://schemas.openxmlformats.org/drawingml/2006/main">
              <a:ext uri="{FF2B5EF4-FFF2-40B4-BE49-F238E27FC236}">
                <a16:creationId xmlns:a16="http://schemas.microsoft.com/office/drawing/2014/main" id="{E06EAC06-AE4A-416B-89C2-B317B3BD4B7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A93802A-2A1F-49E6-BE45-860D916BCB7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미해결·관할외·복수부서 문의의 상담 전환 완료 검증</a:t>
            </a:r>
          </a:p>
        </p:txBody>
      </p:sp>
      <p:sp>
        <p:nvSpPr>
          <p:cNvPr id="16" name="">
            <a:extLst xmlns:a="http://schemas.openxmlformats.org/drawingml/2006/main">
              <a:ext uri="{FF2B5EF4-FFF2-40B4-BE49-F238E27FC236}">
                <a16:creationId xmlns:a16="http://schemas.microsoft.com/office/drawing/2014/main" id="{1298835B-03F2-44F4-9BB7-F6FB8BEF1A6E}"/>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E6543D1-1739-403B-A735-50558958F9FB}"/>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97B2778A-F4AF-43F0-8BFA-6754FF6C1C7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목록 확인 · 자율 행정 처리나 최신 LLM 스택의 근거와 구분</a:t>
            </a:r>
          </a:p>
        </p:txBody>
      </p:sp>
    </p:spTree>
    <p:extLst>
      <p:ext uri="{BB962C8B-B14F-4D97-AF65-F5344CB8AC3E}">
        <p14:creationId xmlns:p14="http://schemas.microsoft.com/office/powerpoint/2010/main" val="1148730491"/>
      </p:ext>
    </p:extLst>
  </p:cSld>
</p:sld>
</file>

<file path=ppt/slides/slide1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58D1DFD-E032-4F36-9203-049DA1E04A5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As-Is → To-Be → 기대효과 → 확인 결과</a:t>
            </a:r>
          </a:p>
        </p:txBody>
      </p:sp>
      <p:sp>
        <p:nvSpPr>
          <p:cNvPr id="2" name="">
            <a:extLst xmlns:a="http://schemas.openxmlformats.org/drawingml/2006/main">
              <a:ext uri="{FF2B5EF4-FFF2-40B4-BE49-F238E27FC236}">
                <a16:creationId xmlns:a16="http://schemas.microsoft.com/office/drawing/2014/main" id="{6467E626-9C46-4E78-A5DF-87ADA8E68BF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기대와 결과</a:t>
            </a:r>
          </a:p>
        </p:txBody>
      </p:sp>
      <p:sp>
        <p:nvSpPr>
          <p:cNvPr id="3" name="">
            <a:extLst xmlns:a="http://schemas.openxmlformats.org/drawingml/2006/main">
              <a:ext uri="{FF2B5EF4-FFF2-40B4-BE49-F238E27FC236}">
                <a16:creationId xmlns:a16="http://schemas.microsoft.com/office/drawing/2014/main" id="{956BEBF1-6C28-420B-BE90-65FA986B7F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FD86D7-F0C1-49D2-9232-BAEC8A9CB99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0A7D0D7-F1C2-4339-B4E5-56E35BA86CB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138</a:t>
            </a:r>
          </a:p>
        </p:txBody>
      </p:sp>
      <p:sp>
        <p:nvSpPr>
          <p:cNvPr id="6" name="">
            <a:extLst xmlns:a="http://schemas.openxmlformats.org/drawingml/2006/main">
              <a:ext uri="{FF2B5EF4-FFF2-40B4-BE49-F238E27FC236}">
                <a16:creationId xmlns:a16="http://schemas.microsoft.com/office/drawing/2014/main" id="{8DF1AB56-F4AC-4E22-A098-17E279214B7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27A418B3-B2BA-4A54-B494-8342D1B11423}"/>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국민이 기관별 안내 페이지를 검색하고 필요 시 별도 상담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채널로 이동</a:t>
            </a:r>
          </a:p>
        </p:txBody>
      </p:sp>
      <p:sp>
        <p:nvSpPr>
          <p:cNvPr id="8" name="">
            <a:extLst xmlns:a="http://schemas.openxmlformats.org/drawingml/2006/main">
              <a:ext uri="{FF2B5EF4-FFF2-40B4-BE49-F238E27FC236}">
                <a16:creationId xmlns:a16="http://schemas.microsoft.com/office/drawing/2014/main" id="{747EAC3E-5AA3-48D4-BC0A-26EE475334CE}"/>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6BFB7F5D-C217-46E1-8D15-ED535AE291B7}"/>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Bürokratt 공통 기반에서 기관별 안내 지식·챗봇·사람 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담 인계를 제공</a:t>
            </a:r>
          </a:p>
        </p:txBody>
      </p:sp>
      <p:sp>
        <p:nvSpPr>
          <p:cNvPr id="10" name="">
            <a:extLst xmlns:a="http://schemas.openxmlformats.org/drawingml/2006/main">
              <a:ext uri="{FF2B5EF4-FFF2-40B4-BE49-F238E27FC236}">
                <a16:creationId xmlns:a16="http://schemas.microsoft.com/office/drawing/2014/main" id="{0BE7E333-76F1-446C-9D8D-0FEC9F67562B}"/>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7B67E5D4-6B28-4D98-BC4B-1A5ED1639AE5}"/>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올바른 서비스 도달·상담 연결률 향상과 반복 문의 감소</a:t>
            </a:r>
          </a:p>
        </p:txBody>
      </p:sp>
      <p:sp>
        <p:nvSpPr>
          <p:cNvPr id="12" name="">
            <a:extLst xmlns:a="http://schemas.openxmlformats.org/drawingml/2006/main">
              <a:ext uri="{FF2B5EF4-FFF2-40B4-BE49-F238E27FC236}">
                <a16:creationId xmlns:a16="http://schemas.microsoft.com/office/drawing/2014/main" id="{ECB6B35A-AE89-4A50-AAB9-16DB882B07E9}"/>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EF56F00-01E3-4DAE-9EFA-B8613EBA615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RIA 공식 설명과 공개 소스 구조, 다기관 안내 운영 확인.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문의 해결률·상담 인계 완료율 미공개</a:t>
            </a:r>
          </a:p>
        </p:txBody>
      </p:sp>
      <p:sp>
        <p:nvSpPr>
          <p:cNvPr id="14" name="">
            <a:extLst xmlns:a="http://schemas.openxmlformats.org/drawingml/2006/main">
              <a:ext uri="{FF2B5EF4-FFF2-40B4-BE49-F238E27FC236}">
                <a16:creationId xmlns:a16="http://schemas.microsoft.com/office/drawing/2014/main" id="{EC7EECC3-FA9A-443A-A227-19F2BAE07820}"/>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다기관 배치가 대민 과업 완결 또는 행정 자동 처리의 증거는 아님</a:t>
            </a:r>
          </a:p>
        </p:txBody>
      </p:sp>
      <p:sp>
        <p:nvSpPr>
          <p:cNvPr id="15" name="">
            <a:extLst xmlns:a="http://schemas.openxmlformats.org/drawingml/2006/main">
              <a:ext uri="{FF2B5EF4-FFF2-40B4-BE49-F238E27FC236}">
                <a16:creationId xmlns:a16="http://schemas.microsoft.com/office/drawing/2014/main" id="{BC3E8DEF-27A2-48C3-B5DC-FD75251F4663}"/>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공개 소스 + 다기관 운영 · 공개 저장소 구조와 각 기관 운영 형상 차이 및 자율 처분 권한 구분</a:t>
            </a:r>
          </a:p>
        </p:txBody>
      </p:sp>
    </p:spTree>
    <p:extLst>
      <p:ext uri="{BB962C8B-B14F-4D97-AF65-F5344CB8AC3E}">
        <p14:creationId xmlns:p14="http://schemas.microsoft.com/office/powerpoint/2010/main" val="1484538238"/>
      </p:ext>
    </p:extLst>
  </p:cSld>
</p:sld>
</file>

<file path=ppt/slides/slide1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AB1B90-DE37-48D0-AF09-AD990868046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구성도 렌더 / 공식 Mermaid 렌더</a:t>
            </a:r>
          </a:p>
        </p:txBody>
      </p:sp>
      <p:sp>
        <p:nvSpPr>
          <p:cNvPr id="2" name="">
            <a:extLst xmlns:a="http://schemas.openxmlformats.org/drawingml/2006/main">
              <a:ext uri="{FF2B5EF4-FFF2-40B4-BE49-F238E27FC236}">
                <a16:creationId xmlns:a16="http://schemas.microsoft.com/office/drawing/2014/main" id="{C936B73A-4B7D-48FA-97BF-1E8D874B765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지식 기반 전체 구조</a:t>
            </a:r>
          </a:p>
        </p:txBody>
      </p:sp>
      <p:sp>
        <p:nvSpPr>
          <p:cNvPr id="3" name="">
            <a:extLst xmlns:a="http://schemas.openxmlformats.org/drawingml/2006/main">
              <a:ext uri="{FF2B5EF4-FFF2-40B4-BE49-F238E27FC236}">
                <a16:creationId xmlns:a16="http://schemas.microsoft.com/office/drawing/2014/main" id="{536BB2F0-DFA7-4F6F-95DC-6692BA40DE1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6CCE56-0C12-442B-A59D-07F3A594AF5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85D1B75-A090-4E86-A135-30BA0E1B8EB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139</a:t>
            </a:r>
          </a:p>
        </p:txBody>
      </p:sp>
      <p:pic>
        <p:nvPicPr>
          <p:cNvPr id="6" name="">
            <a:extLst xmlns:a="http://schemas.openxmlformats.org/drawingml/2006/main">
              <a:ext uri="{FF2B5EF4-FFF2-40B4-BE49-F238E27FC236}">
                <a16:creationId xmlns:a16="http://schemas.microsoft.com/office/drawing/2014/main" id="{20B7FD12-EECA-4B17-898A-6227B5732536}"/>
              </a:ext>
            </a:extLst>
          </p:cNvPr>
          <p:cNvPicPr>
            <a:picLocks xmlns:a="http://schemas.openxmlformats.org/drawingml/2006/main" noChangeAspect="1"/>
          </p:cNvPicPr>
          <p:nvPr/>
        </p:nvPicPr>
        <p:blipFill>
          <a:blip xmlns:r="http://schemas.openxmlformats.org/officeDocument/2006/relationships" xmlns:a="http://schemas.openxmlformats.org/drawingml/2006/main" r:embed="R3843009829fc47fb"/>
          <a:stretch xmlns:a="http://schemas.openxmlformats.org/drawingml/2006/main"/>
        </p:blipFill>
        <p:spPr>
          <a:xfrm xmlns:a="http://schemas.openxmlformats.org/drawingml/2006/main">
            <a:off x="1432424" y="1657350"/>
            <a:ext cx="9327151"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E640300-F1B5-4646-A98F-341BB120ADC3}"/>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Ruuter·Resql·수집/정제/파일처리·PostgreSQL·S3 계층</a:t>
            </a:r>
          </a:p>
        </p:txBody>
      </p:sp>
    </p:spTree>
    <p:extLst>
      <p:ext uri="{BB962C8B-B14F-4D97-AF65-F5344CB8AC3E}">
        <p14:creationId xmlns:p14="http://schemas.microsoft.com/office/powerpoint/2010/main" val="132323639"/>
      </p:ext>
    </p:extLst>
  </p:cSld>
</p:sld>
</file>

<file path=ppt/slides/slide1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66EF48-2B46-4818-9C98-A7969D6CBD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F7EA978B-F3DC-4E5B-BD08-A76CA61DC10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정형 질의 흐름</a:t>
            </a:r>
          </a:p>
        </p:txBody>
      </p:sp>
      <p:sp>
        <p:nvSpPr>
          <p:cNvPr id="3" name="">
            <a:extLst xmlns:a="http://schemas.openxmlformats.org/drawingml/2006/main">
              <a:ext uri="{FF2B5EF4-FFF2-40B4-BE49-F238E27FC236}">
                <a16:creationId xmlns:a16="http://schemas.microsoft.com/office/drawing/2014/main" id="{47ACEDC7-581D-4767-808C-299A91AD660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CF317C-1E4C-495C-B9AA-D25E8596AF8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03DEBCA-2FEC-4988-A5A6-645B6363954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140</a:t>
            </a:r>
          </a:p>
        </p:txBody>
      </p:sp>
      <p:pic>
        <p:nvPicPr>
          <p:cNvPr id="6" name="">
            <a:extLst xmlns:a="http://schemas.openxmlformats.org/drawingml/2006/main">
              <a:ext uri="{FF2B5EF4-FFF2-40B4-BE49-F238E27FC236}">
                <a16:creationId xmlns:a16="http://schemas.microsoft.com/office/drawing/2014/main" id="{73FE1C56-7274-4B77-9C51-1FE3CFAD912B}"/>
              </a:ext>
            </a:extLst>
          </p:cNvPr>
          <p:cNvPicPr>
            <a:picLocks xmlns:a="http://schemas.openxmlformats.org/drawingml/2006/main" noChangeAspect="1"/>
          </p:cNvPicPr>
          <p:nvPr/>
        </p:nvPicPr>
        <p:blipFill>
          <a:blip xmlns:r="http://schemas.openxmlformats.org/officeDocument/2006/relationships" xmlns:a="http://schemas.openxmlformats.org/drawingml/2006/main" r:embed="Rb2b9c4f8a9e14d38"/>
          <a:stretch xmlns:a="http://schemas.openxmlformats.org/drawingml/2006/main"/>
        </p:blipFill>
        <p:spPr>
          <a:xfrm xmlns:a="http://schemas.openxmlformats.org/drawingml/2006/main">
            <a:off x="1949232" y="1657350"/>
            <a:ext cx="829353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0FD89D1-C68F-4561-8449-C53668664AA9}"/>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Ruuter → Resql의 매개변수 검증·바인딩 → PostgreSQL</a:t>
            </a:r>
          </a:p>
        </p:txBody>
      </p:sp>
    </p:spTree>
    <p:extLst>
      <p:ext uri="{BB962C8B-B14F-4D97-AF65-F5344CB8AC3E}">
        <p14:creationId xmlns:p14="http://schemas.microsoft.com/office/powerpoint/2010/main" val="1142726454"/>
      </p:ext>
    </p:extLst>
  </p:cSld>
</p:sld>
</file>

<file path=ppt/slides/slide1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EB6EA5-8DD9-478E-9801-691546E4F5C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288AC31E-DA1D-40CD-8448-9B63ECF7EC2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공식 콘텐츠 수집 흐름</a:t>
            </a:r>
          </a:p>
        </p:txBody>
      </p:sp>
      <p:sp>
        <p:nvSpPr>
          <p:cNvPr id="3" name="">
            <a:extLst xmlns:a="http://schemas.openxmlformats.org/drawingml/2006/main">
              <a:ext uri="{FF2B5EF4-FFF2-40B4-BE49-F238E27FC236}">
                <a16:creationId xmlns:a16="http://schemas.microsoft.com/office/drawing/2014/main" id="{066E92F0-CC17-4782-9361-586BB305747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71548CE-D06A-4D6A-87A5-951FF4DA3F1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962E6C5-29B9-4767-B34B-54EC4F6F1A2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141</a:t>
            </a:r>
          </a:p>
        </p:txBody>
      </p:sp>
      <p:pic>
        <p:nvPicPr>
          <p:cNvPr id="6" name="">
            <a:extLst xmlns:a="http://schemas.openxmlformats.org/drawingml/2006/main">
              <a:ext uri="{FF2B5EF4-FFF2-40B4-BE49-F238E27FC236}">
                <a16:creationId xmlns:a16="http://schemas.microsoft.com/office/drawing/2014/main" id="{9AB06F0E-C7D4-400E-88B8-67D7F0037545}"/>
              </a:ext>
            </a:extLst>
          </p:cNvPr>
          <p:cNvPicPr>
            <a:picLocks xmlns:a="http://schemas.openxmlformats.org/drawingml/2006/main" noChangeAspect="1"/>
          </p:cNvPicPr>
          <p:nvPr/>
        </p:nvPicPr>
        <p:blipFill>
          <a:blip xmlns:r="http://schemas.openxmlformats.org/officeDocument/2006/relationships" xmlns:a="http://schemas.openxmlformats.org/drawingml/2006/main" r:embed="Refe265d8a4c04524"/>
          <a:stretch xmlns:a="http://schemas.openxmlformats.org/drawingml/2006/main"/>
        </p:blipFill>
        <p:spPr>
          <a:xfrm xmlns:a="http://schemas.openxmlformats.org/drawingml/2006/main">
            <a:off x="2024433" y="1657350"/>
            <a:ext cx="814313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AA643EB-CA47-4B76-8748-B3B6200E21FC}"/>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출처 설정 → 수집 → 원본 저장·메타데이터 → 정제·상태 갱신</a:t>
            </a:r>
          </a:p>
        </p:txBody>
      </p:sp>
    </p:spTree>
    <p:extLst>
      <p:ext uri="{BB962C8B-B14F-4D97-AF65-F5344CB8AC3E}">
        <p14:creationId xmlns:p14="http://schemas.microsoft.com/office/powerpoint/2010/main" val="1332292888"/>
      </p:ext>
    </p:extLst>
  </p:cSld>
</p:sld>
</file>

<file path=ppt/slides/slide1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5CDA9B-6E0E-4853-AB52-4A91E1D328D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0175BF67-5335-4229-AA38-E89581F2DD3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파일 업로드 흐름</a:t>
            </a:r>
          </a:p>
        </p:txBody>
      </p:sp>
      <p:sp>
        <p:nvSpPr>
          <p:cNvPr id="3" name="">
            <a:extLst xmlns:a="http://schemas.openxmlformats.org/drawingml/2006/main">
              <a:ext uri="{FF2B5EF4-FFF2-40B4-BE49-F238E27FC236}">
                <a16:creationId xmlns:a16="http://schemas.microsoft.com/office/drawing/2014/main" id="{A6FC97D2-495F-4E3F-A5FF-5F5F6CE6700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9ECDB20-0C5F-4D22-8F3A-FA6BE6B0AA7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E5779C7-BD25-4E60-971D-A2822E8F8A7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142</a:t>
            </a:r>
          </a:p>
        </p:txBody>
      </p:sp>
      <p:pic>
        <p:nvPicPr>
          <p:cNvPr id="6" name="">
            <a:extLst xmlns:a="http://schemas.openxmlformats.org/drawingml/2006/main">
              <a:ext uri="{FF2B5EF4-FFF2-40B4-BE49-F238E27FC236}">
                <a16:creationId xmlns:a16="http://schemas.microsoft.com/office/drawing/2014/main" id="{4A897702-44F7-4766-A060-44593224E422}"/>
              </a:ext>
            </a:extLst>
          </p:cNvPr>
          <p:cNvPicPr>
            <a:picLocks xmlns:a="http://schemas.openxmlformats.org/drawingml/2006/main" noChangeAspect="1"/>
          </p:cNvPicPr>
          <p:nvPr/>
        </p:nvPicPr>
        <p:blipFill>
          <a:blip xmlns:r="http://schemas.openxmlformats.org/officeDocument/2006/relationships" xmlns:a="http://schemas.openxmlformats.org/drawingml/2006/main" r:embed="Rb6d113d865e14fe2"/>
          <a:stretch xmlns:a="http://schemas.openxmlformats.org/drawingml/2006/main"/>
        </p:blipFill>
        <p:spPr>
          <a:xfrm xmlns:a="http://schemas.openxmlformats.org/drawingml/2006/main">
            <a:off x="732092" y="1657350"/>
            <a:ext cx="1072781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EBF3A95-7961-4232-963F-07BD0258ED4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업로드 URL 발급 → 저장 → 파일 처리·메타데이터 등록</a:t>
            </a:r>
          </a:p>
        </p:txBody>
      </p:sp>
    </p:spTree>
    <p:extLst>
      <p:ext uri="{BB962C8B-B14F-4D97-AF65-F5344CB8AC3E}">
        <p14:creationId xmlns:p14="http://schemas.microsoft.com/office/powerpoint/2010/main" val="1604006313"/>
      </p:ext>
    </p:extLst>
  </p:cSld>
</p:sld>
</file>

<file path=ppt/slides/slide1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54D404D-E582-4CB7-8D37-ED3CABC56EB0}"/>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76810FB-3C63-47C8-9AA5-1C963EE1DAEC}"/>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BB2E8EF-2B06-4ECE-B4E3-D17C8DCC56DB}"/>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80408AB-7F36-45BA-BEEB-0B36750CB550}"/>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0A6705A-0F67-4719-8170-973F0EEF1C53}"/>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B892E82-E6CA-46BE-AB82-D15947221624}"/>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808B66F4-6C66-49AD-A62D-F2A25667DB55}"/>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BAD8E32-4715-4FB5-8C94-4A944BFB82BB}"/>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B4F58110-8BF9-481E-AC2F-259B3A0886F8}"/>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F51E36D0-0DFB-48B8-AF92-3EDB3C4AFC4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입력 구조화·확인·업무시스템 처리</a:t>
            </a:r>
          </a:p>
        </p:txBody>
      </p:sp>
      <p:sp>
        <p:nvSpPr>
          <p:cNvPr id="2" name="">
            <a:extLst xmlns:a="http://schemas.openxmlformats.org/drawingml/2006/main">
              <a:ext uri="{FF2B5EF4-FFF2-40B4-BE49-F238E27FC236}">
                <a16:creationId xmlns:a16="http://schemas.microsoft.com/office/drawing/2014/main" id="{AD95A563-3094-46CF-B36D-8F1ADD13A07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세부 서비스 구조</a:t>
            </a:r>
          </a:p>
        </p:txBody>
      </p:sp>
      <p:sp>
        <p:nvSpPr>
          <p:cNvPr id="3" name="">
            <a:extLst xmlns:a="http://schemas.openxmlformats.org/drawingml/2006/main">
              <a:ext uri="{FF2B5EF4-FFF2-40B4-BE49-F238E27FC236}">
                <a16:creationId xmlns:a16="http://schemas.microsoft.com/office/drawing/2014/main" id="{3E7AD353-6019-4E53-8DAC-42871C53955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796D17-3B8C-4168-970F-4D08158E687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244C55A-220F-4EA4-B2E7-06FBBEF258A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143</a:t>
            </a:r>
          </a:p>
        </p:txBody>
      </p:sp>
      <p:sp>
        <p:nvSpPr>
          <p:cNvPr id="6" name="">
            <a:extLst xmlns:a="http://schemas.openxmlformats.org/drawingml/2006/main">
              <a:ext uri="{FF2B5EF4-FFF2-40B4-BE49-F238E27FC236}">
                <a16:creationId xmlns:a16="http://schemas.microsoft.com/office/drawing/2014/main" id="{1CDB5B96-7790-4280-B99F-287C3B86566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자연어 질문 → 기관별 안내 지식 → 공통 대화 서비스 → 해결·상담원 연결</a:t>
            </a:r>
          </a:p>
        </p:txBody>
      </p:sp>
      <p:sp>
        <p:nvSpPr>
          <p:cNvPr id="7" name="">
            <a:extLst xmlns:a="http://schemas.openxmlformats.org/drawingml/2006/main">
              <a:ext uri="{FF2B5EF4-FFF2-40B4-BE49-F238E27FC236}">
                <a16:creationId xmlns:a16="http://schemas.microsoft.com/office/drawing/2014/main" id="{170EF7CC-401A-411E-88DC-BF4130BF435B}"/>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378E1A7-7BEE-43BE-88CD-DCC17D80DFA3}"/>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AE1C5A4C-3B70-4FF1-9260-EC02C8903B63}"/>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국민 대화 접점</a:t>
            </a:r>
          </a:p>
        </p:txBody>
      </p:sp>
      <p:sp>
        <p:nvSpPr>
          <p:cNvPr id="10" name="">
            <a:extLst xmlns:a="http://schemas.openxmlformats.org/drawingml/2006/main">
              <a:ext uri="{FF2B5EF4-FFF2-40B4-BE49-F238E27FC236}">
                <a16:creationId xmlns:a16="http://schemas.microsoft.com/office/drawing/2014/main" id="{4437AE91-F43F-40D9-BED3-7F3DA0BF7749}"/>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87613A4-00D0-425F-8059-43704BC1BA38}"/>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E701B9A8-7158-4098-8B41-0CEBD6AFA055}"/>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의도·소관기관</a:t>
            </a:r>
          </a:p>
        </p:txBody>
      </p:sp>
      <p:sp>
        <p:nvSpPr>
          <p:cNvPr id="13" name="">
            <a:extLst xmlns:a="http://schemas.openxmlformats.org/drawingml/2006/main">
              <a:ext uri="{FF2B5EF4-FFF2-40B4-BE49-F238E27FC236}">
                <a16:creationId xmlns:a16="http://schemas.microsoft.com/office/drawing/2014/main" id="{4696B606-96EF-46E8-8C06-E24044AB5495}"/>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6DFEB3E-21A5-417C-994D-991674263E23}"/>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106A7940-FFA0-4ACA-9C8E-C1B57BC24345}"/>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Ruuter 대화 라</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우팅</a:t>
            </a:r>
          </a:p>
        </p:txBody>
      </p:sp>
      <p:sp>
        <p:nvSpPr>
          <p:cNvPr id="16" name="">
            <a:extLst xmlns:a="http://schemas.openxmlformats.org/drawingml/2006/main">
              <a:ext uri="{FF2B5EF4-FFF2-40B4-BE49-F238E27FC236}">
                <a16:creationId xmlns:a16="http://schemas.microsoft.com/office/drawing/2014/main" id="{B3B04B18-22C7-424A-A136-7D7763E61443}"/>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94585227-B9D1-4265-9A5E-104EBC7D09DC}"/>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C97FA300-17F0-449D-B123-8B18426EE6C4}"/>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미해결·소관 검사</a:t>
            </a:r>
          </a:p>
        </p:txBody>
      </p:sp>
      <p:sp>
        <p:nvSpPr>
          <p:cNvPr id="19" name="">
            <a:extLst xmlns:a="http://schemas.openxmlformats.org/drawingml/2006/main">
              <a:ext uri="{FF2B5EF4-FFF2-40B4-BE49-F238E27FC236}">
                <a16:creationId xmlns:a16="http://schemas.microsoft.com/office/drawing/2014/main" id="{42E7D3C6-4501-4044-8AA1-438A16898A60}"/>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22AD1A9-514A-4C10-BDEE-8499E9447E59}"/>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10248F85-6FF3-44A7-B252-F8B17CC89F22}"/>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상담원 확인</a:t>
            </a:r>
          </a:p>
        </p:txBody>
      </p:sp>
      <p:sp>
        <p:nvSpPr>
          <p:cNvPr id="22" name="">
            <a:extLst xmlns:a="http://schemas.openxmlformats.org/drawingml/2006/main">
              <a:ext uri="{FF2B5EF4-FFF2-40B4-BE49-F238E27FC236}">
                <a16:creationId xmlns:a16="http://schemas.microsoft.com/office/drawing/2014/main" id="{04E28281-474D-446D-A177-6C87A91CA40B}"/>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334B644-4A72-4B69-8FDF-C6DBC8DDF803}"/>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0E3F7E1B-75EB-4829-A6A5-BCBAC2045562}"/>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맥락 포함 인계</a:t>
            </a:r>
          </a:p>
        </p:txBody>
      </p:sp>
      <p:sp>
        <p:nvSpPr>
          <p:cNvPr id="25" name="">
            <a:extLst xmlns:a="http://schemas.openxmlformats.org/drawingml/2006/main">
              <a:ext uri="{FF2B5EF4-FFF2-40B4-BE49-F238E27FC236}">
                <a16:creationId xmlns:a16="http://schemas.microsoft.com/office/drawing/2014/main" id="{11197341-8B6E-444D-BE6E-2C83BB081F2F}"/>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B45D9C3-7522-4323-A122-59ECD06FE6DC}"/>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3A9004C2-3ABE-46A7-ABE8-ADEEDA8035CD}"/>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웹·API</a:t>
            </a:r>
          </a:p>
        </p:txBody>
      </p:sp>
      <p:sp>
        <p:nvSpPr>
          <p:cNvPr id="28" name="">
            <a:extLst xmlns:a="http://schemas.openxmlformats.org/drawingml/2006/main">
              <a:ext uri="{FF2B5EF4-FFF2-40B4-BE49-F238E27FC236}">
                <a16:creationId xmlns:a16="http://schemas.microsoft.com/office/drawing/2014/main" id="{F31CB090-DC8A-409A-9653-E79DA3FBB965}"/>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DCABA681-EDC4-4E59-B916-1B6C988436DF}"/>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9C1DA2A5-AA40-445E-A50C-89915409C5C0}"/>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Resql·지식 조회</a:t>
            </a:r>
          </a:p>
        </p:txBody>
      </p:sp>
      <p:sp>
        <p:nvSpPr>
          <p:cNvPr id="31" name="">
            <a:extLst xmlns:a="http://schemas.openxmlformats.org/drawingml/2006/main">
              <a:ext uri="{FF2B5EF4-FFF2-40B4-BE49-F238E27FC236}">
                <a16:creationId xmlns:a16="http://schemas.microsoft.com/office/drawing/2014/main" id="{00CFB32C-B746-4038-9882-D877E79082C1}"/>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ABE647F9-75E2-473C-8196-17DCA262A5BA}"/>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F3A40ED3-713E-4E0F-857C-96F4A5AE70F4}"/>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PostgreSQL·S3 이</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력</a:t>
            </a:r>
          </a:p>
        </p:txBody>
      </p:sp>
      <p:sp>
        <p:nvSpPr>
          <p:cNvPr id="34" name="">
            <a:extLst xmlns:a="http://schemas.openxmlformats.org/drawingml/2006/main">
              <a:ext uri="{FF2B5EF4-FFF2-40B4-BE49-F238E27FC236}">
                <a16:creationId xmlns:a16="http://schemas.microsoft.com/office/drawing/2014/main" id="{DF6EDD50-D982-4E00-A18D-A42BAE4A6C6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9E08BA4-B4DE-4E2C-81C6-E7D40B02E54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51A5FB0D-E299-44C7-8873-BD420CFE0BFA}"/>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수신·해결 추적</a:t>
            </a:r>
          </a:p>
        </p:txBody>
      </p:sp>
      <p:sp>
        <p:nvSpPr>
          <p:cNvPr id="46" name="">
            <a:extLst xmlns:a="http://schemas.openxmlformats.org/drawingml/2006/main">
              <a:ext uri="{FF2B5EF4-FFF2-40B4-BE49-F238E27FC236}">
                <a16:creationId xmlns:a16="http://schemas.microsoft.com/office/drawing/2014/main" id="{18AC126B-D8FF-4CD4-BEDD-99C396AC420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242925493"/>
      </p:ext>
    </p:extLst>
  </p:cSld>
</p:sld>
</file>

<file path=ppt/slides/slide1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A651FAF-6088-4704-BEC8-CDC7BA4E305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논리 인터페이스·복구 설계</a:t>
            </a:r>
          </a:p>
        </p:txBody>
      </p:sp>
      <p:sp>
        <p:nvSpPr>
          <p:cNvPr id="2" name="">
            <a:extLst xmlns:a="http://schemas.openxmlformats.org/drawingml/2006/main">
              <a:ext uri="{FF2B5EF4-FFF2-40B4-BE49-F238E27FC236}">
                <a16:creationId xmlns:a16="http://schemas.microsoft.com/office/drawing/2014/main" id="{448D2EB3-AED6-4B26-8A19-FC97C630664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데이터와 예외 처리</a:t>
            </a:r>
          </a:p>
        </p:txBody>
      </p:sp>
      <p:sp>
        <p:nvSpPr>
          <p:cNvPr id="3" name="">
            <a:extLst xmlns:a="http://schemas.openxmlformats.org/drawingml/2006/main">
              <a:ext uri="{FF2B5EF4-FFF2-40B4-BE49-F238E27FC236}">
                <a16:creationId xmlns:a16="http://schemas.microsoft.com/office/drawing/2014/main" id="{4F337E3D-739B-481E-85B0-59497E0898B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204CD8-1D41-422D-B575-47A6075D059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843E1FF-A3E8-44AA-B790-E185974DE91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144</a:t>
            </a:r>
          </a:p>
        </p:txBody>
      </p:sp>
      <p:sp>
        <p:nvSpPr>
          <p:cNvPr id="6" name="">
            <a:extLst xmlns:a="http://schemas.openxmlformats.org/drawingml/2006/main">
              <a:ext uri="{FF2B5EF4-FFF2-40B4-BE49-F238E27FC236}">
                <a16:creationId xmlns:a16="http://schemas.microsoft.com/office/drawing/2014/main" id="{04AE35BC-4C46-4623-83FC-FCD9928287A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2B2C01E-C170-4898-A98D-65D402D5A2D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711D5EC-DDE4-4EC0-9B0A-532E4CB750F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9335ACDC-6DF8-477F-8CB1-25ED467DA0C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문의 의도·소관기관·대화 맥락 확인</a:t>
            </a:r>
          </a:p>
        </p:txBody>
      </p:sp>
      <p:sp>
        <p:nvSpPr>
          <p:cNvPr id="10" name="">
            <a:extLst xmlns:a="http://schemas.openxmlformats.org/drawingml/2006/main">
              <a:ext uri="{FF2B5EF4-FFF2-40B4-BE49-F238E27FC236}">
                <a16:creationId xmlns:a16="http://schemas.microsoft.com/office/drawing/2014/main" id="{F842F3B7-9343-4944-9E69-2A20FEF7969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9EE027-DCA8-4309-810C-15D3409101C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E339469C-F644-4B6F-A07C-77C42DAB19AE}"/>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자연어 질문</a:t>
            </a:r>
          </a:p>
        </p:txBody>
      </p:sp>
      <p:sp>
        <p:nvSpPr>
          <p:cNvPr id="13" name="">
            <a:extLst xmlns:a="http://schemas.openxmlformats.org/drawingml/2006/main">
              <a:ext uri="{FF2B5EF4-FFF2-40B4-BE49-F238E27FC236}">
                <a16:creationId xmlns:a16="http://schemas.microsoft.com/office/drawing/2014/main" id="{ED43C1F3-3D52-42E8-942C-50FFECA92203}"/>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32F07C-3127-4060-8085-A180638082A9}"/>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6ED20998-E891-4B2F-AB2D-FF5F871C05B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기관 안내 지식</a:t>
            </a:r>
          </a:p>
        </p:txBody>
      </p:sp>
      <p:sp>
        <p:nvSpPr>
          <p:cNvPr id="16" name="">
            <a:extLst xmlns:a="http://schemas.openxmlformats.org/drawingml/2006/main">
              <a:ext uri="{FF2B5EF4-FFF2-40B4-BE49-F238E27FC236}">
                <a16:creationId xmlns:a16="http://schemas.microsoft.com/office/drawing/2014/main" id="{F36BA5C7-CAD9-40AE-A498-7D00A3C1A19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F3BF934-8EF2-4B9B-897D-04F30DE351F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1B27E150-424A-453B-8774-FD7A8E79ABB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 응답</a:t>
            </a:r>
          </a:p>
        </p:txBody>
      </p:sp>
      <p:sp>
        <p:nvSpPr>
          <p:cNvPr id="19" name="">
            <a:extLst xmlns:a="http://schemas.openxmlformats.org/drawingml/2006/main">
              <a:ext uri="{FF2B5EF4-FFF2-40B4-BE49-F238E27FC236}">
                <a16:creationId xmlns:a16="http://schemas.microsoft.com/office/drawing/2014/main" id="{C1499F27-9F00-4D3D-AA14-7A0E57C613F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B11C317-B590-4B07-BDB2-7BE72737FD2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18709449-C9D2-42BE-9EDE-B8B6DD64361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인계</a:t>
            </a:r>
          </a:p>
        </p:txBody>
      </p:sp>
      <p:sp>
        <p:nvSpPr>
          <p:cNvPr id="22" name="">
            <a:extLst xmlns:a="http://schemas.openxmlformats.org/drawingml/2006/main">
              <a:ext uri="{FF2B5EF4-FFF2-40B4-BE49-F238E27FC236}">
                <a16:creationId xmlns:a16="http://schemas.microsoft.com/office/drawing/2014/main" id="{C3CDEC08-BE74-4C00-9923-EB565617336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4799B48-9426-4E06-A5BD-7F88B0E4A28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326ABC0D-94A2-4EED-895F-43808E987F4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인계</a:t>
            </a:r>
          </a:p>
        </p:txBody>
      </p:sp>
      <p:sp>
        <p:nvSpPr>
          <p:cNvPr id="25" name="">
            <a:extLst xmlns:a="http://schemas.openxmlformats.org/drawingml/2006/main">
              <a:ext uri="{FF2B5EF4-FFF2-40B4-BE49-F238E27FC236}">
                <a16:creationId xmlns:a16="http://schemas.microsoft.com/office/drawing/2014/main" id="{5D8E8D2D-3929-4957-B06C-66EEFF43C34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83BEB85-347C-40E0-BA77-C20932A1DDD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소관 불명확·상담원 부재·대화 맥락 누락</a:t>
            </a:r>
          </a:p>
        </p:txBody>
      </p:sp>
      <p:sp>
        <p:nvSpPr>
          <p:cNvPr id="27" name="">
            <a:extLst xmlns:a="http://schemas.openxmlformats.org/drawingml/2006/main">
              <a:ext uri="{FF2B5EF4-FFF2-40B4-BE49-F238E27FC236}">
                <a16:creationId xmlns:a16="http://schemas.microsoft.com/office/drawing/2014/main" id="{8F423418-F115-43DD-86FB-F95C8F7D361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5839B12C-F092-4413-B789-4DBE624C63D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인계 대상·대화 맥락·수신 확인</a:t>
            </a:r>
          </a:p>
        </p:txBody>
      </p:sp>
      <p:sp>
        <p:nvSpPr>
          <p:cNvPr id="29" name="">
            <a:extLst xmlns:a="http://schemas.openxmlformats.org/drawingml/2006/main">
              <a:ext uri="{FF2B5EF4-FFF2-40B4-BE49-F238E27FC236}">
                <a16:creationId xmlns:a16="http://schemas.microsoft.com/office/drawing/2014/main" id="{22917434-0842-4368-8662-E629253D750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21000EF-CE0E-4B26-A647-116AA910017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이관 수신·미해결 질의·지식 갱신 확인</a:t>
            </a:r>
          </a:p>
        </p:txBody>
      </p:sp>
      <p:sp>
        <p:nvSpPr>
          <p:cNvPr id="31" name="">
            <a:extLst xmlns:a="http://schemas.openxmlformats.org/drawingml/2006/main">
              <a:ext uri="{FF2B5EF4-FFF2-40B4-BE49-F238E27FC236}">
                <a16:creationId xmlns:a16="http://schemas.microsoft.com/office/drawing/2014/main" id="{A7F6AB3E-C551-40AE-ABBD-B6B066D3118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84A71A9-095D-4EE1-AA0E-5FB540CC1BC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선택·인계 내용·수신·해결 여부 기록</a:t>
            </a:r>
          </a:p>
        </p:txBody>
      </p:sp>
    </p:spTree>
    <p:extLst>
      <p:ext uri="{BB962C8B-B14F-4D97-AF65-F5344CB8AC3E}">
        <p14:creationId xmlns:p14="http://schemas.microsoft.com/office/powerpoint/2010/main" val="687259368"/>
      </p:ext>
    </p:extLst>
  </p:cSld>
</p:sld>
</file>

<file path=ppt/slides/slide1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694DB46-B7C7-46FC-B72A-AADC4538867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CCK 비교·재현 시험 설계</a:t>
            </a:r>
          </a:p>
        </p:txBody>
      </p:sp>
      <p:sp>
        <p:nvSpPr>
          <p:cNvPr id="2" name="">
            <a:extLst xmlns:a="http://schemas.openxmlformats.org/drawingml/2006/main">
              <a:ext uri="{FF2B5EF4-FFF2-40B4-BE49-F238E27FC236}">
                <a16:creationId xmlns:a16="http://schemas.microsoft.com/office/drawing/2014/main" id="{78545A40-752B-4AC3-BB65-53939112272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벤치마킹</a:t>
            </a:r>
          </a:p>
        </p:txBody>
      </p:sp>
      <p:sp>
        <p:nvSpPr>
          <p:cNvPr id="3" name="">
            <a:extLst xmlns:a="http://schemas.openxmlformats.org/drawingml/2006/main">
              <a:ext uri="{FF2B5EF4-FFF2-40B4-BE49-F238E27FC236}">
                <a16:creationId xmlns:a16="http://schemas.microsoft.com/office/drawing/2014/main" id="{2BAF57E8-A35B-4307-9436-B4CC976D7AE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0B76157-73FF-4018-A649-353DB85080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BB09619-6A11-4425-9BEC-1900977BC87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145</a:t>
            </a:r>
          </a:p>
        </p:txBody>
      </p:sp>
      <p:sp>
        <p:nvSpPr>
          <p:cNvPr id="6" name="">
            <a:extLst xmlns:a="http://schemas.openxmlformats.org/drawingml/2006/main">
              <a:ext uri="{FF2B5EF4-FFF2-40B4-BE49-F238E27FC236}">
                <a16:creationId xmlns:a16="http://schemas.microsoft.com/office/drawing/2014/main" id="{D885DF5F-EA08-42D9-8058-A5D3531BD82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2EA89750-2611-4E44-A79B-DE59A9FA79A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안내 지식의 공동 기반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해결 불가 시 상담원 연결</a:t>
            </a:r>
          </a:p>
        </p:txBody>
      </p:sp>
      <p:sp>
        <p:nvSpPr>
          <p:cNvPr id="8" name="">
            <a:extLst xmlns:a="http://schemas.openxmlformats.org/drawingml/2006/main">
              <a:ext uri="{FF2B5EF4-FFF2-40B4-BE49-F238E27FC236}">
                <a16:creationId xmlns:a16="http://schemas.microsoft.com/office/drawing/2014/main" id="{4CD918F4-24C9-402F-8188-E937818E062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563E471-D389-421E-938F-BE6F9C99923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간 지식·소관 불일치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안내와 접수·처리 완료의 혼동</a:t>
            </a:r>
          </a:p>
        </p:txBody>
      </p:sp>
      <p:sp>
        <p:nvSpPr>
          <p:cNvPr id="10" name="">
            <a:extLst xmlns:a="http://schemas.openxmlformats.org/drawingml/2006/main">
              <a:ext uri="{FF2B5EF4-FFF2-40B4-BE49-F238E27FC236}">
                <a16:creationId xmlns:a16="http://schemas.microsoft.com/office/drawing/2014/main" id="{DC45E963-E193-4A67-9BE5-030891820FE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1A5F144-C6FC-4B03-A122-016AC589DBC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대상·대화 맥락·수신 확인</a:t>
            </a:r>
          </a:p>
        </p:txBody>
      </p:sp>
      <p:sp>
        <p:nvSpPr>
          <p:cNvPr id="12" name="">
            <a:extLst xmlns:a="http://schemas.openxmlformats.org/drawingml/2006/main">
              <a:ext uri="{FF2B5EF4-FFF2-40B4-BE49-F238E27FC236}">
                <a16:creationId xmlns:a16="http://schemas.microsoft.com/office/drawing/2014/main" id="{378AD883-7C96-4BCC-9CB6-79EE9EE35DC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8416DC50-DE1F-45EF-8DA9-ACB421570D5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안내 후 해결이 어려운 문의를 상담원에게 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a:t>
            </a:r>
          </a:p>
        </p:txBody>
      </p:sp>
      <p:sp>
        <p:nvSpPr>
          <p:cNvPr id="14" name="">
            <a:extLst xmlns:a="http://schemas.openxmlformats.org/drawingml/2006/main">
              <a:ext uri="{FF2B5EF4-FFF2-40B4-BE49-F238E27FC236}">
                <a16:creationId xmlns:a16="http://schemas.microsoft.com/office/drawing/2014/main" id="{0F7F1F3E-FCA5-4D0C-8328-82495B1A09F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C2453F8E-7E8D-4CAA-B019-2C18F5E7BA9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소관 불명확·상담원 부재·대화 맥락 누락</a:t>
            </a:r>
          </a:p>
        </p:txBody>
      </p:sp>
      <p:sp>
        <p:nvSpPr>
          <p:cNvPr id="16" name="">
            <a:extLst xmlns:a="http://schemas.openxmlformats.org/drawingml/2006/main">
              <a:ext uri="{FF2B5EF4-FFF2-40B4-BE49-F238E27FC236}">
                <a16:creationId xmlns:a16="http://schemas.microsoft.com/office/drawing/2014/main" id="{4CFFB7C5-416B-47FD-98D9-7E7011B6BFB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042A52E-E864-4D37-86E6-77696838130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선택·인계 내용·수신·해결 여부 기록</a:t>
            </a:r>
          </a:p>
        </p:txBody>
      </p:sp>
    </p:spTree>
    <p:extLst>
      <p:ext uri="{BB962C8B-B14F-4D97-AF65-F5344CB8AC3E}">
        <p14:creationId xmlns:p14="http://schemas.microsoft.com/office/powerpoint/2010/main" val="382411555"/>
      </p:ext>
    </p:extLst>
  </p:cSld>
</p:sld>
</file>

<file path=ppt/slides/slide1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424886A-9B0C-447E-9EE4-6028DB2FCB9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부분 성과 / 해외</a:t>
            </a:r>
          </a:p>
        </p:txBody>
      </p:sp>
      <p:sp>
        <p:nvSpPr>
          <p:cNvPr id="2" name="">
            <a:extLst xmlns:a="http://schemas.openxmlformats.org/drawingml/2006/main">
              <a:ext uri="{FF2B5EF4-FFF2-40B4-BE49-F238E27FC236}">
                <a16:creationId xmlns:a16="http://schemas.microsoft.com/office/drawing/2014/main" id="{33F3D0F3-746E-4664-BB44-6911D0B72C7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a:t>
            </a:r>
          </a:p>
        </p:txBody>
      </p:sp>
      <p:sp>
        <p:nvSpPr>
          <p:cNvPr id="3" name="">
            <a:extLst xmlns:a="http://schemas.openxmlformats.org/drawingml/2006/main">
              <a:ext uri="{FF2B5EF4-FFF2-40B4-BE49-F238E27FC236}">
                <a16:creationId xmlns:a16="http://schemas.microsoft.com/office/drawing/2014/main" id="{8F50FB19-CEDC-44BD-8C1B-BB137B34894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67E3E2-2CE8-4F54-9810-AF932792001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614B3BD-7D03-4DB9-AA95-C252A0C947E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146</a:t>
            </a:r>
          </a:p>
        </p:txBody>
      </p:sp>
      <p:sp>
        <p:nvSpPr>
          <p:cNvPr id="6" name="">
            <a:extLst xmlns:a="http://schemas.openxmlformats.org/drawingml/2006/main">
              <a:ext uri="{FF2B5EF4-FFF2-40B4-BE49-F238E27FC236}">
                <a16:creationId xmlns:a16="http://schemas.microsoft.com/office/drawing/2014/main" id="{07F1BFC8-C6AA-4111-B595-0ED3198931C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2543EEC-2C47-4C59-A0E8-D091B116D3A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안내 페이지를 이용자가 직접 탐색하는 과정에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연어 질의 접점을 추가한 사례. 질문에 대한 설명과 실제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공공서비스 신청은 별도 단계이며 원문·공식 서비스로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이동이 중요한 완료조건.</a:t>
            </a:r>
          </a:p>
        </p:txBody>
      </p:sp>
      <p:sp>
        <p:nvSpPr>
          <p:cNvPr id="8" name="">
            <a:extLst xmlns:a="http://schemas.openxmlformats.org/drawingml/2006/main">
              <a:ext uri="{FF2B5EF4-FFF2-40B4-BE49-F238E27FC236}">
                <a16:creationId xmlns:a16="http://schemas.microsoft.com/office/drawing/2014/main" id="{EDB0FF1D-424A-47D2-8DCA-7AA0EFBCCB9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907B4EF-648F-429F-86A8-06469C5FB96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기술기록의 Rails·Claude/Bedrock·OpenSearc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h·BigQuery를 기준으로 콘텐츠 준비, 질의 검색, 응답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품질 관측을 구분. 2023년 파일럿 설계와 2025</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년 공개 기술기록은 판본이 다른 자료로 취급.</a:t>
            </a:r>
          </a:p>
        </p:txBody>
      </p:sp>
      <p:sp>
        <p:nvSpPr>
          <p:cNvPr id="10" name="">
            <a:extLst xmlns:a="http://schemas.openxmlformats.org/drawingml/2006/main">
              <a:ext uri="{FF2B5EF4-FFF2-40B4-BE49-F238E27FC236}">
                <a16:creationId xmlns:a16="http://schemas.microsoft.com/office/drawing/2014/main" id="{A5239DF5-08EC-4229-9C2A-F4473F32791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4FE7759-86ED-4F3F-8F73-00A4AA1E0C8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TS 메뉴를 없애기보다 질문의 소관·지역·자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격을 정리하고 검증된 메뉴에 연결하는 방식으로 현지화.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 없음·범위 밖 질의·느린 응답·틀린 신청 경로를 별도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과업으로 시험할 필요.</a:t>
            </a:r>
          </a:p>
        </p:txBody>
      </p:sp>
      <p:sp>
        <p:nvSpPr>
          <p:cNvPr id="12" name="">
            <a:extLst xmlns:a="http://schemas.openxmlformats.org/drawingml/2006/main">
              <a:ext uri="{FF2B5EF4-FFF2-40B4-BE49-F238E27FC236}">
                <a16:creationId xmlns:a16="http://schemas.microsoft.com/office/drawing/2014/main" id="{54758119-8664-4959-BCEA-3A74A97C1CFA}"/>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C85E401-8729-4986-A31F-52E5A535672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확인·준비서류·공식 메뉴·상담 연결</a:t>
            </a:r>
          </a:p>
        </p:txBody>
      </p:sp>
      <p:sp>
        <p:nvSpPr>
          <p:cNvPr id="14" name="">
            <a:extLst xmlns:a="http://schemas.openxmlformats.org/drawingml/2006/main">
              <a:ext uri="{FF2B5EF4-FFF2-40B4-BE49-F238E27FC236}">
                <a16:creationId xmlns:a16="http://schemas.microsoft.com/office/drawing/2014/main" id="{E665B0A5-7FBB-4419-AD7E-E6F56F433E7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58D70AE-B009-4308-B2B4-90A31EEF265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서비스 도달률·포기율의 기준선·비교 평가</a:t>
            </a:r>
          </a:p>
        </p:txBody>
      </p:sp>
      <p:sp>
        <p:nvSpPr>
          <p:cNvPr id="16" name="">
            <a:extLst xmlns:a="http://schemas.openxmlformats.org/drawingml/2006/main">
              <a:ext uri="{FF2B5EF4-FFF2-40B4-BE49-F238E27FC236}">
                <a16:creationId xmlns:a16="http://schemas.microsoft.com/office/drawing/2014/main" id="{2BBF4BB2-6826-4CF3-9828-391535A6E14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6A610E3A-FF96-4A0C-A348-D336ADB1181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 도달률·포기율</a:t>
            </a:r>
          </a:p>
        </p:txBody>
      </p:sp>
      <p:sp>
        <p:nvSpPr>
          <p:cNvPr id="18" name="">
            <a:extLst xmlns:a="http://schemas.openxmlformats.org/drawingml/2006/main">
              <a:ext uri="{FF2B5EF4-FFF2-40B4-BE49-F238E27FC236}">
                <a16:creationId xmlns:a16="http://schemas.microsoft.com/office/drawing/2014/main" id="{7C6787BF-F3B5-4A5B-B310-ECF98C80B52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2026-03 시험: 모호한 질문은 추가 확인으로 개선, 개인자료 상담 연결 미지원. 범위 내 답변률88%, 평균응답10.7초. 정확도·답변률·앱 설문을 구분.</a:t>
            </a:r>
          </a:p>
        </p:txBody>
      </p:sp>
    </p:spTree>
    <p:extLst>
      <p:ext uri="{BB962C8B-B14F-4D97-AF65-F5344CB8AC3E}">
        <p14:creationId xmlns:p14="http://schemas.microsoft.com/office/powerpoint/2010/main" val="1070696451"/>
      </p:ext>
    </p:extLst>
  </p:cSld>
</p:sld>
</file>

<file path=ppt/slides/slide1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5F7FEB-89FD-4E20-B3E8-74C56B92C15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As-Is → To-Be → 기대효과 → 확인 결과</a:t>
            </a:r>
          </a:p>
        </p:txBody>
      </p:sp>
      <p:sp>
        <p:nvSpPr>
          <p:cNvPr id="2" name="">
            <a:extLst xmlns:a="http://schemas.openxmlformats.org/drawingml/2006/main">
              <a:ext uri="{FF2B5EF4-FFF2-40B4-BE49-F238E27FC236}">
                <a16:creationId xmlns:a16="http://schemas.microsoft.com/office/drawing/2014/main" id="{63E35259-D4D0-4097-B618-E9A9A1BBB61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기대와 결과</a:t>
            </a:r>
          </a:p>
        </p:txBody>
      </p:sp>
      <p:sp>
        <p:nvSpPr>
          <p:cNvPr id="3" name="">
            <a:extLst xmlns:a="http://schemas.openxmlformats.org/drawingml/2006/main">
              <a:ext uri="{FF2B5EF4-FFF2-40B4-BE49-F238E27FC236}">
                <a16:creationId xmlns:a16="http://schemas.microsoft.com/office/drawing/2014/main" id="{2FD12462-7489-484C-820D-6287918F30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5AD798-26BF-4CA1-BCD2-DEC832F4FD7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3C4D3BF-4BDC-4B33-9981-893422B8462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147</a:t>
            </a:r>
          </a:p>
        </p:txBody>
      </p:sp>
      <p:sp>
        <p:nvSpPr>
          <p:cNvPr id="6" name="">
            <a:extLst xmlns:a="http://schemas.openxmlformats.org/drawingml/2006/main">
              <a:ext uri="{FF2B5EF4-FFF2-40B4-BE49-F238E27FC236}">
                <a16:creationId xmlns:a16="http://schemas.microsoft.com/office/drawing/2014/main" id="{C37B8867-570E-41E2-A45D-2BEAAB26E601}"/>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D1D50CBE-0F83-4160-94C3-36AAC621D249}"/>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국민이 GOV.UK 문서를 검색해 여러 페이지를 읽고 서비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 절차를 직접 종합</a:t>
            </a:r>
          </a:p>
        </p:txBody>
      </p:sp>
      <p:sp>
        <p:nvSpPr>
          <p:cNvPr id="8" name="">
            <a:extLst xmlns:a="http://schemas.openxmlformats.org/drawingml/2006/main">
              <a:ext uri="{FF2B5EF4-FFF2-40B4-BE49-F238E27FC236}">
                <a16:creationId xmlns:a16="http://schemas.microsoft.com/office/drawing/2014/main" id="{D2ABB854-E370-4592-8F6C-8B62A36515F2}"/>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2F7A6728-2D91-46CD-A37B-5E45DBDD7E2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공개 콘텐츠만 검색해 출처가 있는 단계형 답변을 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공하고 모호한 질문은 재확인</a:t>
            </a:r>
          </a:p>
        </p:txBody>
      </p:sp>
      <p:sp>
        <p:nvSpPr>
          <p:cNvPr id="10" name="">
            <a:extLst xmlns:a="http://schemas.openxmlformats.org/drawingml/2006/main">
              <a:ext uri="{FF2B5EF4-FFF2-40B4-BE49-F238E27FC236}">
                <a16:creationId xmlns:a16="http://schemas.microsoft.com/office/drawing/2014/main" id="{86EACE05-8320-49A9-8694-57B5373424C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D6F28F8C-7FE9-40B4-8C42-F980B6472925}"/>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정확한 정보 도달·탐색시간 단축과 전화 문의 감소</a:t>
            </a:r>
          </a:p>
        </p:txBody>
      </p:sp>
      <p:sp>
        <p:nvSpPr>
          <p:cNvPr id="12" name="">
            <a:extLst xmlns:a="http://schemas.openxmlformats.org/drawingml/2006/main">
              <a:ext uri="{FF2B5EF4-FFF2-40B4-BE49-F238E27FC236}">
                <a16:creationId xmlns:a16="http://schemas.microsoft.com/office/drawing/2014/main" id="{B867CCFD-1946-4C81-889D-2764E080C52D}"/>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06733A1-CECF-485C-894E-338B0EE7951B}"/>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GDS의 두 실증 평가에서 정확도 76%→90%, 범위 내 응</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답률 88%, 평균 10.7초, 앱 설문 유용 73%·만족 64%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발표</a:t>
            </a:r>
          </a:p>
        </p:txBody>
      </p:sp>
      <p:sp>
        <p:nvSpPr>
          <p:cNvPr id="14" name="">
            <a:extLst xmlns:a="http://schemas.openxmlformats.org/drawingml/2006/main">
              <a:ext uri="{FF2B5EF4-FFF2-40B4-BE49-F238E27FC236}">
                <a16:creationId xmlns:a16="http://schemas.microsoft.com/office/drawing/2014/main" id="{6453730C-3997-4757-93D0-E95B538DC7D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공식문서 한정 검색·전문가/자동 평가·모호한 질문 재확인과 함께 시범 답변 품질 개선 관찰. 개인정보 상담 인</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계·실제 신청 완료는 미지원/미측정</a:t>
            </a:r>
          </a:p>
        </p:txBody>
      </p:sp>
      <p:sp>
        <p:nvSpPr>
          <p:cNvPr id="15" name="">
            <a:extLst xmlns:a="http://schemas.openxmlformats.org/drawingml/2006/main">
              <a:ext uri="{FF2B5EF4-FFF2-40B4-BE49-F238E27FC236}">
                <a16:creationId xmlns:a16="http://schemas.microsoft.com/office/drawing/2014/main" id="{60B26EA7-0DA9-4A60-873E-BC772A8C2761}"/>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공식 기술 공개 + 웹·앱 실증 · 기관 자체 실증 수치이며 전 국민 배포 성과 아님; 응답률과 정확도·서비스 완료율 분리</a:t>
            </a:r>
          </a:p>
        </p:txBody>
      </p:sp>
    </p:spTree>
    <p:extLst>
      <p:ext uri="{BB962C8B-B14F-4D97-AF65-F5344CB8AC3E}">
        <p14:creationId xmlns:p14="http://schemas.microsoft.com/office/powerpoint/2010/main" val="1032549928"/>
      </p:ext>
    </p:extLst>
  </p:cSld>
</p:sld>
</file>

<file path=ppt/slides/slide1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C87412-74B0-41DF-A5E7-D50658D66C0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영국 정부 ATRS 공식 C4 아키텍처 / 공식 웹 원본</a:t>
            </a:r>
          </a:p>
        </p:txBody>
      </p:sp>
      <p:sp>
        <p:nvSpPr>
          <p:cNvPr id="2" name="">
            <a:extLst xmlns:a="http://schemas.openxmlformats.org/drawingml/2006/main">
              <a:ext uri="{FF2B5EF4-FFF2-40B4-BE49-F238E27FC236}">
                <a16:creationId xmlns:a16="http://schemas.microsoft.com/office/drawing/2014/main" id="{688CAB46-55F3-4099-838C-636C485934D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2025년 공개 베타 구성</a:t>
            </a:r>
          </a:p>
        </p:txBody>
      </p:sp>
      <p:sp>
        <p:nvSpPr>
          <p:cNvPr id="3" name="">
            <a:extLst xmlns:a="http://schemas.openxmlformats.org/drawingml/2006/main">
              <a:ext uri="{FF2B5EF4-FFF2-40B4-BE49-F238E27FC236}">
                <a16:creationId xmlns:a16="http://schemas.microsoft.com/office/drawing/2014/main" id="{A2307A4A-D3E3-4C4A-A4BF-2444B2C2C37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D052E18-0DDA-4B65-A6CD-0E0FAE61629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2B8853A-C932-4F11-97DC-122F40AB560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148</a:t>
            </a:r>
          </a:p>
        </p:txBody>
      </p:sp>
      <p:pic>
        <p:nvPicPr>
          <p:cNvPr id="6" name="">
            <a:extLst xmlns:a="http://schemas.openxmlformats.org/drawingml/2006/main">
              <a:ext uri="{FF2B5EF4-FFF2-40B4-BE49-F238E27FC236}">
                <a16:creationId xmlns:a16="http://schemas.microsoft.com/office/drawing/2014/main" id="{E0051E51-CA3D-45D3-8BAE-CD62378030B3}"/>
              </a:ext>
            </a:extLst>
          </p:cNvPr>
          <p:cNvPicPr>
            <a:picLocks xmlns:a="http://schemas.openxmlformats.org/drawingml/2006/main" noChangeAspect="1"/>
          </p:cNvPicPr>
          <p:nvPr/>
        </p:nvPicPr>
        <p:blipFill>
          <a:blip xmlns:r="http://schemas.openxmlformats.org/officeDocument/2006/relationships" xmlns:a="http://schemas.openxmlformats.org/drawingml/2006/main" r:embed="R4ad293747be9472b"/>
          <a:stretch xmlns:a="http://schemas.openxmlformats.org/drawingml/2006/main"/>
        </p:blipFill>
        <p:spPr>
          <a:xfrm xmlns:a="http://schemas.openxmlformats.org/drawingml/2006/main">
            <a:off x="2379270" y="1657350"/>
            <a:ext cx="74334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C0EEAB7-DEEE-4DFB-A499-6D11E31D2CA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앱·인증·Rails·Bedrock·OpenSearch·PostgreSQL·BigQuery의 운영 경계</a:t>
            </a:r>
          </a:p>
        </p:txBody>
      </p:sp>
    </p:spTree>
    <p:extLst>
      <p:ext uri="{BB962C8B-B14F-4D97-AF65-F5344CB8AC3E}">
        <p14:creationId xmlns:p14="http://schemas.microsoft.com/office/powerpoint/2010/main" val="1412034732"/>
      </p:ext>
    </p:extLst>
  </p:cSld>
</p:sld>
</file>

<file path=ppt/slides/slide1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3A897C-DA4D-4977-BD4C-C944413386D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영국 정부 개발문서 초기 설계도 / 공식 웹 원본</a:t>
            </a:r>
          </a:p>
        </p:txBody>
      </p:sp>
      <p:sp>
        <p:nvSpPr>
          <p:cNvPr id="2" name="">
            <a:extLst xmlns:a="http://schemas.openxmlformats.org/drawingml/2006/main">
              <a:ext uri="{FF2B5EF4-FFF2-40B4-BE49-F238E27FC236}">
                <a16:creationId xmlns:a16="http://schemas.microsoft.com/office/drawing/2014/main" id="{D0688988-117A-4941-820C-5A014D46E06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초기 파일럿 구성</a:t>
            </a:r>
          </a:p>
        </p:txBody>
      </p:sp>
      <p:sp>
        <p:nvSpPr>
          <p:cNvPr id="3" name="">
            <a:extLst xmlns:a="http://schemas.openxmlformats.org/drawingml/2006/main">
              <a:ext uri="{FF2B5EF4-FFF2-40B4-BE49-F238E27FC236}">
                <a16:creationId xmlns:a16="http://schemas.microsoft.com/office/drawing/2014/main" id="{29E41779-F98D-40AB-8FB4-91E67BA7D2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160062E-7AD2-4A27-A8E8-C763D662A8D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3A0EB36-7A8B-40A3-9683-A24B5CFEB1A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149</a:t>
            </a:r>
          </a:p>
        </p:txBody>
      </p:sp>
      <p:pic>
        <p:nvPicPr>
          <p:cNvPr id="6" name="">
            <a:extLst xmlns:a="http://schemas.openxmlformats.org/drawingml/2006/main">
              <a:ext uri="{FF2B5EF4-FFF2-40B4-BE49-F238E27FC236}">
                <a16:creationId xmlns:a16="http://schemas.microsoft.com/office/drawing/2014/main" id="{1A863825-7C86-4C8B-9500-F1666020E74C}"/>
              </a:ext>
            </a:extLst>
          </p:cNvPr>
          <p:cNvPicPr>
            <a:picLocks xmlns:a="http://schemas.openxmlformats.org/drawingml/2006/main" noChangeAspect="1"/>
          </p:cNvPicPr>
          <p:nvPr/>
        </p:nvPicPr>
        <p:blipFill>
          <a:blip xmlns:r="http://schemas.openxmlformats.org/officeDocument/2006/relationships" xmlns:a="http://schemas.openxmlformats.org/drawingml/2006/main" r:embed="R5809f9bd2f534b79"/>
          <a:stretch xmlns:a="http://schemas.openxmlformats.org/drawingml/2006/main"/>
        </p:blipFill>
        <p:spPr>
          <a:xfrm xmlns:a="http://schemas.openxmlformats.org/drawingml/2006/main">
            <a:off x="3902427" y="1657350"/>
            <a:ext cx="438714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AAD2C59-A8B8-45A5-BF31-11FF8208190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2023년 파일럿의 Rails·Redis·PostgreSQL·OpenAI·OpenSearch 계획. 2025년 운영 구성과 구분</a:t>
            </a:r>
          </a:p>
        </p:txBody>
      </p:sp>
    </p:spTree>
    <p:extLst>
      <p:ext uri="{BB962C8B-B14F-4D97-AF65-F5344CB8AC3E}">
        <p14:creationId xmlns:p14="http://schemas.microsoft.com/office/powerpoint/2010/main" val="1726798365"/>
      </p:ext>
    </p:extLst>
  </p:cSld>
</p:sld>
</file>

<file path=ppt/slides/slide1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9" name="">
            <a:extLst xmlns:a="http://schemas.openxmlformats.org/drawingml/2006/main">
              <a:ext uri="{FF2B5EF4-FFF2-40B4-BE49-F238E27FC236}">
                <a16:creationId xmlns:a16="http://schemas.microsoft.com/office/drawing/2014/main" id="{3FA2A9EB-4B59-4A16-9756-59CF47D8AF72}"/>
              </a:ext>
            </a:extLst>
          </p:cNvPr>
          <p:cNvCxnSpPr>
            <a:stCxn xmlns:a="http://schemas.openxmlformats.org/drawingml/2006/main" id="37" idx="0"/>
            <a:endCxn xmlns:a="http://schemas.openxmlformats.org/drawingml/2006/main" id="19" idx="2"/>
          </p:cNvCxnSpPr>
          <p:nvPr/>
        </p:nvCxnSpPr>
        <p:spPr>
          <a:xfrm xmlns:a="http://schemas.openxmlformats.org/drawingml/2006/main" flipH="1" flipV="1">
            <a:off x="10620375" y="2905125"/>
            <a:ext cx="161925"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8" name="">
            <a:extLst xmlns:a="http://schemas.openxmlformats.org/drawingml/2006/main">
              <a:ext uri="{FF2B5EF4-FFF2-40B4-BE49-F238E27FC236}">
                <a16:creationId xmlns:a16="http://schemas.microsoft.com/office/drawing/2014/main" id="{2654C57C-18E7-4D3A-A3D7-E1CF09CACE0F}"/>
              </a:ext>
            </a:extLst>
          </p:cNvPr>
          <p:cNvCxnSpPr>
            <a:stCxn xmlns:a="http://schemas.openxmlformats.org/drawingml/2006/main" id="34" idx="3"/>
            <a:endCxn xmlns:a="http://schemas.openxmlformats.org/drawingml/2006/main" id="37"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7" name="">
            <a:extLst xmlns:a="http://schemas.openxmlformats.org/drawingml/2006/main">
              <a:ext uri="{FF2B5EF4-FFF2-40B4-BE49-F238E27FC236}">
                <a16:creationId xmlns:a16="http://schemas.microsoft.com/office/drawing/2014/main" id="{239B4199-EF45-41F0-8F91-E5BA76AEF371}"/>
              </a:ext>
            </a:extLst>
          </p:cNvPr>
          <p:cNvCxnSpPr>
            <a:stCxn xmlns:a="http://schemas.openxmlformats.org/drawingml/2006/main" id="31" idx="3"/>
            <a:endCxn xmlns:a="http://schemas.openxmlformats.org/drawingml/2006/main" id="34"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6" name="">
            <a:extLst xmlns:a="http://schemas.openxmlformats.org/drawingml/2006/main">
              <a:ext uri="{FF2B5EF4-FFF2-40B4-BE49-F238E27FC236}">
                <a16:creationId xmlns:a16="http://schemas.microsoft.com/office/drawing/2014/main" id="{5BCB2A1C-6DAA-4314-8316-E919783AE593}"/>
              </a:ext>
            </a:extLst>
          </p:cNvPr>
          <p:cNvCxnSpPr>
            <a:stCxn xmlns:a="http://schemas.openxmlformats.org/drawingml/2006/main" id="28" idx="3"/>
            <a:endCxn xmlns:a="http://schemas.openxmlformats.org/drawingml/2006/main" id="31"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5" name="">
            <a:extLst xmlns:a="http://schemas.openxmlformats.org/drawingml/2006/main">
              <a:ext uri="{FF2B5EF4-FFF2-40B4-BE49-F238E27FC236}">
                <a16:creationId xmlns:a16="http://schemas.microsoft.com/office/drawing/2014/main" id="{58F94B27-FE96-4E4A-B5DB-13A9C573A01C}"/>
              </a:ext>
            </a:extLst>
          </p:cNvPr>
          <p:cNvCxnSpPr>
            <a:stCxn xmlns:a="http://schemas.openxmlformats.org/drawingml/2006/main" id="16" idx="1"/>
            <a:endCxn xmlns:a="http://schemas.openxmlformats.org/drawingml/2006/main" id="28" idx="3"/>
          </p:cNvCxnSpPr>
          <p:nvPr/>
        </p:nvCxnSpPr>
        <p:spPr>
          <a:xfrm xmlns:a="http://schemas.openxmlformats.org/drawingml/2006/main" flipH="1">
            <a:off x="5996940" y="2352675"/>
            <a:ext cx="136112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8FD1824-6E4C-461E-BA6F-D11D9D7B56C5}"/>
              </a:ext>
            </a:extLst>
          </p:cNvPr>
          <p:cNvCxnSpPr>
            <a:stCxn xmlns:a="http://schemas.openxmlformats.org/drawingml/2006/main" id="25" idx="3"/>
            <a:endCxn xmlns:a="http://schemas.openxmlformats.org/drawingml/2006/main" id="16" idx="1"/>
          </p:cNvCxnSpPr>
          <p:nvPr/>
        </p:nvCxnSpPr>
        <p:spPr>
          <a:xfrm xmlns:a="http://schemas.openxmlformats.org/drawingml/2006/main" flipV="1">
            <a:off x="4122420" y="2352675"/>
            <a:ext cx="323564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289984C-1990-464E-9027-C14C3E8A70CD}"/>
              </a:ext>
            </a:extLst>
          </p:cNvPr>
          <p:cNvCxnSpPr>
            <a:stCxn xmlns:a="http://schemas.openxmlformats.org/drawingml/2006/main" id="22" idx="3"/>
            <a:endCxn xmlns:a="http://schemas.openxmlformats.org/drawingml/2006/main" id="25"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290C26DF-A89B-426E-8F1A-565869C8B8D6}"/>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1" name="">
            <a:extLst xmlns:a="http://schemas.openxmlformats.org/drawingml/2006/main">
              <a:ext uri="{FF2B5EF4-FFF2-40B4-BE49-F238E27FC236}">
                <a16:creationId xmlns:a16="http://schemas.microsoft.com/office/drawing/2014/main" id="{3B20D5F6-8B6C-4DDF-8884-12D351A99C28}"/>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0" name="">
            <a:extLst xmlns:a="http://schemas.openxmlformats.org/drawingml/2006/main">
              <a:ext uri="{FF2B5EF4-FFF2-40B4-BE49-F238E27FC236}">
                <a16:creationId xmlns:a16="http://schemas.microsoft.com/office/drawing/2014/main" id="{357A68CB-F9F4-4A00-90AC-41E35919D05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51" name="">
            <a:extLst xmlns:a="http://schemas.openxmlformats.org/drawingml/2006/main">
              <a:ext uri="{FF2B5EF4-FFF2-40B4-BE49-F238E27FC236}">
                <a16:creationId xmlns:a16="http://schemas.microsoft.com/office/drawing/2014/main" id="{F951FF58-96DF-44C1-A521-24B59723BF3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지식 갱신·검색·근거 응답</a:t>
            </a:r>
          </a:p>
        </p:txBody>
      </p:sp>
      <p:sp>
        <p:nvSpPr>
          <p:cNvPr id="2" name="">
            <a:extLst xmlns:a="http://schemas.openxmlformats.org/drawingml/2006/main">
              <a:ext uri="{FF2B5EF4-FFF2-40B4-BE49-F238E27FC236}">
                <a16:creationId xmlns:a16="http://schemas.microsoft.com/office/drawing/2014/main" id="{387398FA-086C-4478-B638-3E9C510D746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세부 서비스 구조</a:t>
            </a:r>
          </a:p>
        </p:txBody>
      </p:sp>
      <p:sp>
        <p:nvSpPr>
          <p:cNvPr id="3" name="">
            <a:extLst xmlns:a="http://schemas.openxmlformats.org/drawingml/2006/main">
              <a:ext uri="{FF2B5EF4-FFF2-40B4-BE49-F238E27FC236}">
                <a16:creationId xmlns:a16="http://schemas.microsoft.com/office/drawing/2014/main" id="{E8EAABB7-11E3-4BC7-8866-19EA80DC068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9B3DC6-6495-4D4E-8B5C-0F51F1E2004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B69C2DF-62BB-44E1-A35D-2147034EF5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150</a:t>
            </a:r>
          </a:p>
        </p:txBody>
      </p:sp>
      <p:sp>
        <p:nvSpPr>
          <p:cNvPr id="6" name="">
            <a:extLst xmlns:a="http://schemas.openxmlformats.org/drawingml/2006/main">
              <a:ext uri="{FF2B5EF4-FFF2-40B4-BE49-F238E27FC236}">
                <a16:creationId xmlns:a16="http://schemas.microsoft.com/office/drawing/2014/main" id="{3776AFC2-4191-4C53-B65C-76909F3AD02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공식 공개 자료 → 질문·범위 분류 → RAG 응답 → 사용자 실증</a:t>
            </a:r>
          </a:p>
        </p:txBody>
      </p:sp>
      <p:sp>
        <p:nvSpPr>
          <p:cNvPr id="7" name="">
            <a:extLst xmlns:a="http://schemas.openxmlformats.org/drawingml/2006/main">
              <a:ext uri="{FF2B5EF4-FFF2-40B4-BE49-F238E27FC236}">
                <a16:creationId xmlns:a16="http://schemas.microsoft.com/office/drawing/2014/main" id="{77320F1A-8993-4365-973F-896BEB18AA1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8C628F3-CAED-44C0-9CA7-45B1D9BF675A}"/>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680776D-7EE2-464D-ABCD-165C2EF6C865}"/>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콘텐츠</a:t>
            </a:r>
          </a:p>
        </p:txBody>
      </p:sp>
      <p:sp>
        <p:nvSpPr>
          <p:cNvPr id="10" name="">
            <a:extLst xmlns:a="http://schemas.openxmlformats.org/drawingml/2006/main">
              <a:ext uri="{FF2B5EF4-FFF2-40B4-BE49-F238E27FC236}">
                <a16:creationId xmlns:a16="http://schemas.microsoft.com/office/drawing/2014/main" id="{E0D2385F-9A2D-4B7B-8D7F-A3798D52BA34}"/>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6A3E98C-C35E-42BA-8A37-1CB5893DAB57}"/>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CA6ACF93-C1F2-4CF9-9D17-3E89C4983AAE}"/>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선별·청킹·벡터화</a:t>
            </a:r>
          </a:p>
        </p:txBody>
      </p:sp>
      <p:sp>
        <p:nvSpPr>
          <p:cNvPr id="13" name="">
            <a:extLst xmlns:a="http://schemas.openxmlformats.org/drawingml/2006/main">
              <a:ext uri="{FF2B5EF4-FFF2-40B4-BE49-F238E27FC236}">
                <a16:creationId xmlns:a16="http://schemas.microsoft.com/office/drawing/2014/main" id="{52AB19E6-C9B9-4573-9FF5-32AB49F8E209}"/>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1BF63623-8AA8-4984-A8D5-7D19C3F66DAB}"/>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A24D5C66-3B44-4FC5-BC7A-F740755F3094}"/>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색인</a:t>
            </a:r>
          </a:p>
        </p:txBody>
      </p:sp>
      <p:sp>
        <p:nvSpPr>
          <p:cNvPr id="16" name="">
            <a:extLst xmlns:a="http://schemas.openxmlformats.org/drawingml/2006/main">
              <a:ext uri="{FF2B5EF4-FFF2-40B4-BE49-F238E27FC236}">
                <a16:creationId xmlns:a16="http://schemas.microsoft.com/office/drawing/2014/main" id="{440932A2-90BD-4CB5-9615-10F5888B1702}"/>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3979BC3-6E17-4FEE-BF12-3F63965F9F61}"/>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850C1D90-4D5A-479A-8807-93D29FAB919C}"/>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검색</a:t>
            </a:r>
          </a:p>
        </p:txBody>
      </p:sp>
      <p:sp>
        <p:nvSpPr>
          <p:cNvPr id="19" name="">
            <a:extLst xmlns:a="http://schemas.openxmlformats.org/drawingml/2006/main">
              <a:ext uri="{FF2B5EF4-FFF2-40B4-BE49-F238E27FC236}">
                <a16:creationId xmlns:a16="http://schemas.microsoft.com/office/drawing/2014/main" id="{AF97AFC0-88AD-42AC-8CBF-443AC2D2BC9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18C372D-BCE6-42BB-9D0B-3FC09A98626D}"/>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21" name="">
            <a:extLst xmlns:a="http://schemas.openxmlformats.org/drawingml/2006/main">
              <a:ext uri="{FF2B5EF4-FFF2-40B4-BE49-F238E27FC236}">
                <a16:creationId xmlns:a16="http://schemas.microsoft.com/office/drawing/2014/main" id="{79A16BDE-E5B1-4FED-8939-FB80C7955CD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BigQuery 품질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석</a:t>
            </a:r>
          </a:p>
        </p:txBody>
      </p:sp>
      <p:sp>
        <p:nvSpPr>
          <p:cNvPr id="22" name="">
            <a:extLst xmlns:a="http://schemas.openxmlformats.org/drawingml/2006/main">
              <a:ext uri="{FF2B5EF4-FFF2-40B4-BE49-F238E27FC236}">
                <a16:creationId xmlns:a16="http://schemas.microsoft.com/office/drawing/2014/main" id="{0A64EF78-56B7-41D5-A5E0-AEEB0C8991A1}"/>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3679374-D0CD-4DF4-BE5C-1B117415485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4" name="">
            <a:extLst xmlns:a="http://schemas.openxmlformats.org/drawingml/2006/main">
              <a:ext uri="{FF2B5EF4-FFF2-40B4-BE49-F238E27FC236}">
                <a16:creationId xmlns:a16="http://schemas.microsoft.com/office/drawing/2014/main" id="{C8999BC8-F6D7-4DB9-AA2C-288BEF2AAD60}"/>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앱 질의</a:t>
            </a:r>
          </a:p>
        </p:txBody>
      </p:sp>
      <p:sp>
        <p:nvSpPr>
          <p:cNvPr id="25" name="">
            <a:extLst xmlns:a="http://schemas.openxmlformats.org/drawingml/2006/main">
              <a:ext uri="{FF2B5EF4-FFF2-40B4-BE49-F238E27FC236}">
                <a16:creationId xmlns:a16="http://schemas.microsoft.com/office/drawing/2014/main" id="{46C45134-A0C4-4489-BE0F-27871B2B2BB3}"/>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C980B7C4-F656-4E12-8343-8E9A6D09B11D}"/>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7" name="">
            <a:extLst xmlns:a="http://schemas.openxmlformats.org/drawingml/2006/main">
              <a:ext uri="{FF2B5EF4-FFF2-40B4-BE49-F238E27FC236}">
                <a16:creationId xmlns:a16="http://schemas.microsoft.com/office/drawing/2014/main" id="{BBDAF46A-BDCB-4633-991C-338866244FC6}"/>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질문·대화 문맥</a:t>
            </a:r>
          </a:p>
        </p:txBody>
      </p:sp>
      <p:sp>
        <p:nvSpPr>
          <p:cNvPr id="28" name="">
            <a:extLst xmlns:a="http://schemas.openxmlformats.org/drawingml/2006/main">
              <a:ext uri="{FF2B5EF4-FFF2-40B4-BE49-F238E27FC236}">
                <a16:creationId xmlns:a16="http://schemas.microsoft.com/office/drawing/2014/main" id="{17952581-758A-48E5-804B-EEF925BF76CA}"/>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5D7E807-0EB1-433B-9FE0-2BB57EEA8A3F}"/>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30" name="">
            <a:extLst xmlns:a="http://schemas.openxmlformats.org/drawingml/2006/main">
              <a:ext uri="{FF2B5EF4-FFF2-40B4-BE49-F238E27FC236}">
                <a16:creationId xmlns:a16="http://schemas.microsoft.com/office/drawing/2014/main" id="{6AE687FC-9987-4393-907F-A244AFC7DE62}"/>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Claude / Bedr</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ock</a:t>
            </a:r>
          </a:p>
        </p:txBody>
      </p:sp>
      <p:sp>
        <p:nvSpPr>
          <p:cNvPr id="31" name="">
            <a:extLst xmlns:a="http://schemas.openxmlformats.org/drawingml/2006/main">
              <a:ext uri="{FF2B5EF4-FFF2-40B4-BE49-F238E27FC236}">
                <a16:creationId xmlns:a16="http://schemas.microsoft.com/office/drawing/2014/main" id="{29D2F303-1C32-4D26-825D-61A2F5F9ADE2}"/>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81CA10F1-0197-4939-8104-A91431CAA6D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3" name="">
            <a:extLst xmlns:a="http://schemas.openxmlformats.org/drawingml/2006/main">
              <a:ext uri="{FF2B5EF4-FFF2-40B4-BE49-F238E27FC236}">
                <a16:creationId xmlns:a16="http://schemas.microsoft.com/office/drawing/2014/main" id="{0068A66D-C71E-4C8A-889D-2B6F8BFA3F82}"/>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범위·근거 검사</a:t>
            </a:r>
          </a:p>
        </p:txBody>
      </p:sp>
      <p:sp>
        <p:nvSpPr>
          <p:cNvPr id="34" name="">
            <a:extLst xmlns:a="http://schemas.openxmlformats.org/drawingml/2006/main">
              <a:ext uri="{FF2B5EF4-FFF2-40B4-BE49-F238E27FC236}">
                <a16:creationId xmlns:a16="http://schemas.microsoft.com/office/drawing/2014/main" id="{B46D7D24-32BA-4273-945A-73E081A58778}"/>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72D10ABC-0E69-413D-97AB-903BB6B49968}"/>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6" name="">
            <a:extLst xmlns:a="http://schemas.openxmlformats.org/drawingml/2006/main">
              <a:ext uri="{FF2B5EF4-FFF2-40B4-BE49-F238E27FC236}">
                <a16:creationId xmlns:a16="http://schemas.microsoft.com/office/drawing/2014/main" id="{479746C3-4643-414A-A091-AC6B9C0643F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원문 확인</a:t>
            </a:r>
          </a:p>
        </p:txBody>
      </p:sp>
      <p:sp>
        <p:nvSpPr>
          <p:cNvPr id="37" name="">
            <a:extLst xmlns:a="http://schemas.openxmlformats.org/drawingml/2006/main">
              <a:ext uri="{FF2B5EF4-FFF2-40B4-BE49-F238E27FC236}">
                <a16:creationId xmlns:a16="http://schemas.microsoft.com/office/drawing/2014/main" id="{933E42AE-B7DF-48E9-BA22-7BD70FBE4937}"/>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8" name="">
            <a:extLst xmlns:a="http://schemas.openxmlformats.org/drawingml/2006/main">
              <a:ext uri="{FF2B5EF4-FFF2-40B4-BE49-F238E27FC236}">
                <a16:creationId xmlns:a16="http://schemas.microsoft.com/office/drawing/2014/main" id="{22AC76DB-0C96-4C94-82E2-0C68EC00F7F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9" name="">
            <a:extLst xmlns:a="http://schemas.openxmlformats.org/drawingml/2006/main">
              <a:ext uri="{FF2B5EF4-FFF2-40B4-BE49-F238E27FC236}">
                <a16:creationId xmlns:a16="http://schemas.microsoft.com/office/drawing/2014/main" id="{EB58CF3D-F55B-4648-9942-CAC8040DED8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서비스 연결</a:t>
            </a:r>
          </a:p>
        </p:txBody>
      </p:sp>
      <p:sp>
        <p:nvSpPr>
          <p:cNvPr id="50" name="">
            <a:extLst xmlns:a="http://schemas.openxmlformats.org/drawingml/2006/main">
              <a:ext uri="{FF2B5EF4-FFF2-40B4-BE49-F238E27FC236}">
                <a16:creationId xmlns:a16="http://schemas.microsoft.com/office/drawing/2014/main" id="{6698E6EC-E218-4078-93B9-17C8B61AF1F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554056999"/>
      </p:ext>
    </p:extLst>
  </p:cSld>
</p:sld>
</file>

<file path=ppt/slides/slide1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B785DE-CF84-4CAB-ACDB-F7B0503DE7D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논리 인터페이스·복구 설계</a:t>
            </a:r>
          </a:p>
        </p:txBody>
      </p:sp>
      <p:sp>
        <p:nvSpPr>
          <p:cNvPr id="2" name="">
            <a:extLst xmlns:a="http://schemas.openxmlformats.org/drawingml/2006/main">
              <a:ext uri="{FF2B5EF4-FFF2-40B4-BE49-F238E27FC236}">
                <a16:creationId xmlns:a16="http://schemas.microsoft.com/office/drawing/2014/main" id="{EA0C83BC-C96C-421B-A880-AB3D07D034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데이터와 예외 처리</a:t>
            </a:r>
          </a:p>
        </p:txBody>
      </p:sp>
      <p:sp>
        <p:nvSpPr>
          <p:cNvPr id="3" name="">
            <a:extLst xmlns:a="http://schemas.openxmlformats.org/drawingml/2006/main">
              <a:ext uri="{FF2B5EF4-FFF2-40B4-BE49-F238E27FC236}">
                <a16:creationId xmlns:a16="http://schemas.microsoft.com/office/drawing/2014/main" id="{0FCCA45B-F7A4-44AC-822F-BEC5EA44DAE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3CA36F-12AE-4418-A3A8-E1252512C4D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A87EBAB-0CA7-4901-B72A-9CA424D5F4C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151</a:t>
            </a:r>
          </a:p>
        </p:txBody>
      </p:sp>
      <p:sp>
        <p:nvSpPr>
          <p:cNvPr id="6" name="">
            <a:extLst xmlns:a="http://schemas.openxmlformats.org/drawingml/2006/main">
              <a:ext uri="{FF2B5EF4-FFF2-40B4-BE49-F238E27FC236}">
                <a16:creationId xmlns:a16="http://schemas.microsoft.com/office/drawing/2014/main" id="{9D4C38EB-1891-45B8-BCBF-2D870C898657}"/>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1362A1B-F5A7-4AFC-A03A-8F9605E7C7A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3168BE9-6466-445D-9F67-32DE1FD8955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DA119726-DA90-4AF8-90DD-439C1C9F127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OpenSearch·품질 분석 기록</a:t>
            </a:r>
          </a:p>
        </p:txBody>
      </p:sp>
      <p:sp>
        <p:nvSpPr>
          <p:cNvPr id="10" name="">
            <a:extLst xmlns:a="http://schemas.openxmlformats.org/drawingml/2006/main">
              <a:ext uri="{FF2B5EF4-FFF2-40B4-BE49-F238E27FC236}">
                <a16:creationId xmlns:a16="http://schemas.microsoft.com/office/drawing/2014/main" id="{D1A6DED0-F6EE-4F9C-8356-A51B8AA2FBA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579228-D51D-448C-9FA2-6A9343D09EB7}"/>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66D039B8-161B-401D-A577-2DFA4D51C3D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B0814AFD-DD93-4E86-B12D-5E56D398EE9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875A32-BC80-4DB4-86F7-4D3C38C6BA8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EBECB405-2E02-49B0-A45C-40B0012FD66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 질문과 이전 대화의 문맥 구성</a:t>
            </a:r>
          </a:p>
        </p:txBody>
      </p:sp>
      <p:sp>
        <p:nvSpPr>
          <p:cNvPr id="16" name="">
            <a:extLst xmlns:a="http://schemas.openxmlformats.org/drawingml/2006/main">
              <a:ext uri="{FF2B5EF4-FFF2-40B4-BE49-F238E27FC236}">
                <a16:creationId xmlns:a16="http://schemas.microsoft.com/office/drawing/2014/main" id="{2FB8BBF4-6B3B-4A0C-A392-7A61BA73B9C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972D8F5-423E-4E43-9691-C02941D3009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22381EE7-FE43-46F2-900E-374D062CE9F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정답 안내 페이지·근거 문단·응답 보류·처리</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 대조</a:t>
            </a:r>
          </a:p>
        </p:txBody>
      </p:sp>
      <p:sp>
        <p:nvSpPr>
          <p:cNvPr id="19" name="">
            <a:extLst xmlns:a="http://schemas.openxmlformats.org/drawingml/2006/main">
              <a:ext uri="{FF2B5EF4-FFF2-40B4-BE49-F238E27FC236}">
                <a16:creationId xmlns:a16="http://schemas.microsoft.com/office/drawing/2014/main" id="{C598D813-B3B7-4705-9CC0-452DE753DCF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59AB57-5226-4F7A-9E4F-0C9B2B9BC7A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72B01158-CE18-44FD-A403-CDA8EB72D2DC}"/>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문서 조각</a:t>
            </a:r>
          </a:p>
        </p:txBody>
      </p:sp>
      <p:sp>
        <p:nvSpPr>
          <p:cNvPr id="22" name="">
            <a:extLst xmlns:a="http://schemas.openxmlformats.org/drawingml/2006/main">
              <a:ext uri="{FF2B5EF4-FFF2-40B4-BE49-F238E27FC236}">
                <a16:creationId xmlns:a16="http://schemas.microsoft.com/office/drawing/2014/main" id="{B29E71BA-4A6A-4B82-B59A-445DCB3E233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C957806-E56C-449E-B064-EC795C7643E7}"/>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6A91182A-94FA-4C18-BEA6-2C734909941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답변</a:t>
            </a:r>
          </a:p>
        </p:txBody>
      </p:sp>
      <p:sp>
        <p:nvSpPr>
          <p:cNvPr id="25" name="">
            <a:extLst xmlns:a="http://schemas.openxmlformats.org/drawingml/2006/main">
              <a:ext uri="{FF2B5EF4-FFF2-40B4-BE49-F238E27FC236}">
                <a16:creationId xmlns:a16="http://schemas.microsoft.com/office/drawing/2014/main" id="{C01A6DCC-6A64-46F4-ABCE-2BC97FB4817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6352F706-4AA6-448D-865C-C996E5C2F30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범위 밖 질문·상충 안내·개인 업무의 실행 요청</a:t>
            </a:r>
          </a:p>
        </p:txBody>
      </p:sp>
      <p:sp>
        <p:nvSpPr>
          <p:cNvPr id="27" name="">
            <a:extLst xmlns:a="http://schemas.openxmlformats.org/drawingml/2006/main">
              <a:ext uri="{FF2B5EF4-FFF2-40B4-BE49-F238E27FC236}">
                <a16:creationId xmlns:a16="http://schemas.microsoft.com/office/drawing/2014/main" id="{F7EC9CCE-AB2C-45AD-A1FD-5AC0C07BE2D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5828A613-8AFC-4678-9357-D23251EEAD6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의도 분류·근거·응답 품질 대조</a:t>
            </a:r>
          </a:p>
        </p:txBody>
      </p:sp>
      <p:sp>
        <p:nvSpPr>
          <p:cNvPr id="29" name="">
            <a:extLst xmlns:a="http://schemas.openxmlformats.org/drawingml/2006/main">
              <a:ext uri="{FF2B5EF4-FFF2-40B4-BE49-F238E27FC236}">
                <a16:creationId xmlns:a16="http://schemas.microsoft.com/office/drawing/2014/main" id="{F73F7EA0-5E5F-4E5F-AEF2-04F8F6E5C6B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8460E380-6BE5-4D07-B6FC-345B323BFF6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 도구·BigQuery 기반 품질 분석</a:t>
            </a:r>
          </a:p>
        </p:txBody>
      </p:sp>
      <p:sp>
        <p:nvSpPr>
          <p:cNvPr id="31" name="">
            <a:extLst xmlns:a="http://schemas.openxmlformats.org/drawingml/2006/main">
              <a:ext uri="{FF2B5EF4-FFF2-40B4-BE49-F238E27FC236}">
                <a16:creationId xmlns:a16="http://schemas.microsoft.com/office/drawing/2014/main" id="{19FA7F5C-E8E7-4158-9C9E-634A47C17E4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BDC5CDD-5A02-4715-BE67-5072742EAC6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안내 페이지·근거 문단·응답 보류·처리시간 대조</a:t>
            </a:r>
          </a:p>
        </p:txBody>
      </p:sp>
    </p:spTree>
    <p:extLst>
      <p:ext uri="{BB962C8B-B14F-4D97-AF65-F5344CB8AC3E}">
        <p14:creationId xmlns:p14="http://schemas.microsoft.com/office/powerpoint/2010/main" val="675296479"/>
      </p:ext>
    </p:extLst>
  </p:cSld>
</p:sld>
</file>

<file path=ppt/slides/slide1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A9C6836-B969-4A32-AFB5-B4184CB0686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CCK 비교·재현 시험 설계</a:t>
            </a:r>
          </a:p>
        </p:txBody>
      </p:sp>
      <p:sp>
        <p:nvSpPr>
          <p:cNvPr id="2" name="">
            <a:extLst xmlns:a="http://schemas.openxmlformats.org/drawingml/2006/main">
              <a:ext uri="{FF2B5EF4-FFF2-40B4-BE49-F238E27FC236}">
                <a16:creationId xmlns:a16="http://schemas.microsoft.com/office/drawing/2014/main" id="{85465AE7-0509-4EAD-9036-09577958B48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벤치마킹</a:t>
            </a:r>
          </a:p>
        </p:txBody>
      </p:sp>
      <p:sp>
        <p:nvSpPr>
          <p:cNvPr id="3" name="">
            <a:extLst xmlns:a="http://schemas.openxmlformats.org/drawingml/2006/main">
              <a:ext uri="{FF2B5EF4-FFF2-40B4-BE49-F238E27FC236}">
                <a16:creationId xmlns:a16="http://schemas.microsoft.com/office/drawing/2014/main" id="{64E44A5A-AA5B-4A6B-9550-3174D5F9783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3ACB80-40EC-46EE-81D1-9329A8279BC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A0222C2-A0A0-435D-8336-BCCFD41F3D3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152</a:t>
            </a:r>
          </a:p>
        </p:txBody>
      </p:sp>
      <p:sp>
        <p:nvSpPr>
          <p:cNvPr id="6" name="">
            <a:extLst xmlns:a="http://schemas.openxmlformats.org/drawingml/2006/main">
              <a:ext uri="{FF2B5EF4-FFF2-40B4-BE49-F238E27FC236}">
                <a16:creationId xmlns:a16="http://schemas.microsoft.com/office/drawing/2014/main" id="{D1C4B622-5756-4E29-B2D7-F32DB2C2F51B}"/>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25A035A8-67A9-4A38-B029-19BC16B6B672}"/>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공개 지식에 한정한 RAG</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실제 이용자 실증 평가</a:t>
            </a:r>
          </a:p>
        </p:txBody>
      </p:sp>
      <p:sp>
        <p:nvSpPr>
          <p:cNvPr id="8" name="">
            <a:extLst xmlns:a="http://schemas.openxmlformats.org/drawingml/2006/main">
              <a:ext uri="{FF2B5EF4-FFF2-40B4-BE49-F238E27FC236}">
                <a16:creationId xmlns:a16="http://schemas.microsoft.com/office/drawing/2014/main" id="{E7A94767-5447-4A73-ACE6-A9FDFAE9351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B75DD08-43CC-4561-B1DD-3380BF489958}"/>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지연·범위 밖 질문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 서비스를 행정 처리로 확대</a:t>
            </a:r>
          </a:p>
        </p:txBody>
      </p:sp>
      <p:sp>
        <p:nvSpPr>
          <p:cNvPr id="10" name="">
            <a:extLst xmlns:a="http://schemas.openxmlformats.org/drawingml/2006/main">
              <a:ext uri="{FF2B5EF4-FFF2-40B4-BE49-F238E27FC236}">
                <a16:creationId xmlns:a16="http://schemas.microsoft.com/office/drawing/2014/main" id="{01B51DA2-3697-455C-BA7A-E4C94A26038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96F9CD1-7AFB-4E1B-A85F-C5BCDD8602B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의도 분류·근거·응답 품질 대조</a:t>
            </a:r>
          </a:p>
        </p:txBody>
      </p:sp>
      <p:sp>
        <p:nvSpPr>
          <p:cNvPr id="12" name="">
            <a:extLst xmlns:a="http://schemas.openxmlformats.org/drawingml/2006/main">
              <a:ext uri="{FF2B5EF4-FFF2-40B4-BE49-F238E27FC236}">
                <a16:creationId xmlns:a16="http://schemas.microsoft.com/office/drawing/2014/main" id="{05394262-4823-4E73-9F97-7B22535D680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27DDE26-F1D7-4F0D-B836-47DFF6F734F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신청 방법을 질문하고 근거 안내와 해당 공식 페이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 확인</a:t>
            </a:r>
          </a:p>
        </p:txBody>
      </p:sp>
      <p:sp>
        <p:nvSpPr>
          <p:cNvPr id="14" name="">
            <a:extLst xmlns:a="http://schemas.openxmlformats.org/drawingml/2006/main">
              <a:ext uri="{FF2B5EF4-FFF2-40B4-BE49-F238E27FC236}">
                <a16:creationId xmlns:a16="http://schemas.microsoft.com/office/drawing/2014/main" id="{F18A41DA-DB16-4A8E-9CCE-10FB99B3514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9BEA1AB-8143-45AB-A5B4-C8F36AF0F047}"/>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범위 밖 질문·상충 안내·개인 업무의 실행 요청</a:t>
            </a:r>
          </a:p>
        </p:txBody>
      </p:sp>
      <p:sp>
        <p:nvSpPr>
          <p:cNvPr id="16" name="">
            <a:extLst xmlns:a="http://schemas.openxmlformats.org/drawingml/2006/main">
              <a:ext uri="{FF2B5EF4-FFF2-40B4-BE49-F238E27FC236}">
                <a16:creationId xmlns:a16="http://schemas.microsoft.com/office/drawing/2014/main" id="{E3B768FA-98E4-48C8-AC20-120FBD57BBD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61D302F-B698-46AF-B729-B62605F3B78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정답 안내 페이지·근거 문단·응답 보류·처리시간 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a:t>
            </a:r>
          </a:p>
        </p:txBody>
      </p:sp>
    </p:spTree>
    <p:extLst>
      <p:ext uri="{BB962C8B-B14F-4D97-AF65-F5344CB8AC3E}">
        <p14:creationId xmlns:p14="http://schemas.microsoft.com/office/powerpoint/2010/main" val="774078798"/>
      </p:ext>
    </p:extLst>
  </p:cSld>
</p:sld>
</file>

<file path=ppt/slides/slide1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5367C41-A1E5-4A5F-90D7-9408A880E48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부분 성과 / 해외</a:t>
            </a:r>
          </a:p>
        </p:txBody>
      </p:sp>
      <p:sp>
        <p:nvSpPr>
          <p:cNvPr id="2" name="">
            <a:extLst xmlns:a="http://schemas.openxmlformats.org/drawingml/2006/main">
              <a:ext uri="{FF2B5EF4-FFF2-40B4-BE49-F238E27FC236}">
                <a16:creationId xmlns:a16="http://schemas.microsoft.com/office/drawing/2014/main" id="{09FD28D2-3065-4E66-B168-02E489E4EA3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a:t>
            </a:r>
          </a:p>
        </p:txBody>
      </p:sp>
      <p:sp>
        <p:nvSpPr>
          <p:cNvPr id="3" name="">
            <a:extLst xmlns:a="http://schemas.openxmlformats.org/drawingml/2006/main">
              <a:ext uri="{FF2B5EF4-FFF2-40B4-BE49-F238E27FC236}">
                <a16:creationId xmlns:a16="http://schemas.microsoft.com/office/drawing/2014/main" id="{2F7479A3-89A7-43FF-9691-5595C57C746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DA9059E-9D6E-4E0E-B1F3-71B3BC23193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21C6AB3-A8A2-4654-91A4-D189B2D5F1F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153</a:t>
            </a:r>
          </a:p>
        </p:txBody>
      </p:sp>
      <p:sp>
        <p:nvSpPr>
          <p:cNvPr id="6" name="">
            <a:extLst xmlns:a="http://schemas.openxmlformats.org/drawingml/2006/main">
              <a:ext uri="{FF2B5EF4-FFF2-40B4-BE49-F238E27FC236}">
                <a16:creationId xmlns:a16="http://schemas.microsoft.com/office/drawing/2014/main" id="{D01C237E-C5AD-48F5-989B-9C4BFF81849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32DD80E-C062-4E24-8ED4-2772D3BEA8AE}"/>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M365 문서·회의 접점에서 공무원의 작성·검색·요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약을 지원한 실험. 새 업무 시스템 구축보다 직원이 이미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접근하는 자료와 협업 도구 안에 AI를 배치한 유형.</a:t>
            </a:r>
          </a:p>
        </p:txBody>
      </p:sp>
      <p:sp>
        <p:nvSpPr>
          <p:cNvPr id="8" name="">
            <a:extLst xmlns:a="http://schemas.openxmlformats.org/drawingml/2006/main">
              <a:ext uri="{FF2B5EF4-FFF2-40B4-BE49-F238E27FC236}">
                <a16:creationId xmlns:a16="http://schemas.microsoft.com/office/drawing/2014/main" id="{9F436042-6B17-45D6-82EE-71D420EE5FF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53600CB-C062-4CFA-85CB-28E0FEBB62F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접근권한을 전제로 요청 문맥을 만들고 검색·생성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결과를 직원이 검토하는 흐름. 조직·직무별 동일 과업을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정의한 뒤 AI 사용 전후의 초안 작성, 사실 확인, 수정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간을 함께 기록하는 CCK 비교 설계.</a:t>
            </a:r>
          </a:p>
        </p:txBody>
      </p:sp>
      <p:sp>
        <p:nvSpPr>
          <p:cNvPr id="10" name="">
            <a:extLst xmlns:a="http://schemas.openxmlformats.org/drawingml/2006/main">
              <a:ext uri="{FF2B5EF4-FFF2-40B4-BE49-F238E27FC236}">
                <a16:creationId xmlns:a16="http://schemas.microsoft.com/office/drawing/2014/main" id="{0D2129AF-46DB-4119-88CB-1D9D3D00C2D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FF5FF19-FBD2-406C-B3B3-496698EA2F0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설문 자기보고 절감시간을 TS의 예상 절감률로 직접 전환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하지 않는 평가. 과다공유 문서, 복잡한 질의, 숙련도 차이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재작업을 포함해 부서별 완료시간·오류율을 산정할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F219C23F-263D-4D3C-AE6D-1079A50F276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6331482-F37F-41E5-9811-1B88A058B05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부서·직무·권한·변경 교차 평가</a:t>
            </a:r>
          </a:p>
        </p:txBody>
      </p:sp>
      <p:sp>
        <p:nvSpPr>
          <p:cNvPr id="14" name="">
            <a:extLst xmlns:a="http://schemas.openxmlformats.org/drawingml/2006/main">
              <a:ext uri="{FF2B5EF4-FFF2-40B4-BE49-F238E27FC236}">
                <a16:creationId xmlns:a16="http://schemas.microsoft.com/office/drawing/2014/main" id="{32FC1239-178D-47E9-9772-0811C68A62D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5FC7E5F-02C7-43E0-8C81-A364C8C657C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완료시간·오류·총비용의 기준선·비교 평가</a:t>
            </a:r>
          </a:p>
        </p:txBody>
      </p:sp>
      <p:sp>
        <p:nvSpPr>
          <p:cNvPr id="16" name="">
            <a:extLst xmlns:a="http://schemas.openxmlformats.org/drawingml/2006/main">
              <a:ext uri="{FF2B5EF4-FFF2-40B4-BE49-F238E27FC236}">
                <a16:creationId xmlns:a16="http://schemas.microsoft.com/office/drawing/2014/main" id="{5731A661-D4F0-48D5-8831-52D785AFA11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2AF953B-0991-4D68-AEA7-156C6B151E2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완료시간·오류·총비용</a:t>
            </a:r>
          </a:p>
        </p:txBody>
      </p:sp>
      <p:sp>
        <p:nvSpPr>
          <p:cNvPr id="18" name="">
            <a:extLst xmlns:a="http://schemas.openxmlformats.org/drawingml/2006/main">
              <a:ext uri="{FF2B5EF4-FFF2-40B4-BE49-F238E27FC236}">
                <a16:creationId xmlns:a16="http://schemas.microsoft.com/office/drawing/2014/main" id="{14F22185-4DD8-4395-AA3B-C9408C53C31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두 보고서는 모집단 중복. 자기보고 시간은 객관 실측/예산절감 아님; HMRC는 무작위 배정 포함</a:t>
            </a:r>
          </a:p>
        </p:txBody>
      </p:sp>
    </p:spTree>
    <p:extLst>
      <p:ext uri="{BB962C8B-B14F-4D97-AF65-F5344CB8AC3E}">
        <p14:creationId xmlns:p14="http://schemas.microsoft.com/office/powerpoint/2010/main" val="1022447732"/>
      </p:ext>
    </p:extLst>
  </p:cSld>
</p:sld>
</file>

<file path=ppt/slides/slide1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25730DE-7DF2-4027-95E7-453E2C002E8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As-Is → To-Be → 기대효과 → 확인 결과</a:t>
            </a:r>
          </a:p>
        </p:txBody>
      </p:sp>
      <p:sp>
        <p:nvSpPr>
          <p:cNvPr id="2" name="">
            <a:extLst xmlns:a="http://schemas.openxmlformats.org/drawingml/2006/main">
              <a:ext uri="{FF2B5EF4-FFF2-40B4-BE49-F238E27FC236}">
                <a16:creationId xmlns:a16="http://schemas.microsoft.com/office/drawing/2014/main" id="{9C616354-D2BE-4224-842D-9F34CADBC97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기대와 결과</a:t>
            </a:r>
          </a:p>
        </p:txBody>
      </p:sp>
      <p:sp>
        <p:nvSpPr>
          <p:cNvPr id="3" name="">
            <a:extLst xmlns:a="http://schemas.openxmlformats.org/drawingml/2006/main">
              <a:ext uri="{FF2B5EF4-FFF2-40B4-BE49-F238E27FC236}">
                <a16:creationId xmlns:a16="http://schemas.microsoft.com/office/drawing/2014/main" id="{267B3C62-905F-409D-936A-30FB55C7E4D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EBF19B-B042-455F-B34B-83BE38D17E6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C85028B-F64F-44F2-96DE-2B5EE6A8CBA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154</a:t>
            </a:r>
          </a:p>
        </p:txBody>
      </p:sp>
      <p:sp>
        <p:nvSpPr>
          <p:cNvPr id="6" name="">
            <a:extLst xmlns:a="http://schemas.openxmlformats.org/drawingml/2006/main">
              <a:ext uri="{FF2B5EF4-FFF2-40B4-BE49-F238E27FC236}">
                <a16:creationId xmlns:a16="http://schemas.microsoft.com/office/drawing/2014/main" id="{B7854FCE-B045-4249-99D0-3FA4861A4BBC}"/>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F21900B7-3728-480F-AB1C-CC6DAE80EF07}"/>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영국 공무원이 M365 문서·회의·메일의 검색·초안·요약을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수작업으로 처리</a:t>
            </a:r>
          </a:p>
        </p:txBody>
      </p:sp>
      <p:sp>
        <p:nvSpPr>
          <p:cNvPr id="8" name="">
            <a:extLst xmlns:a="http://schemas.openxmlformats.org/drawingml/2006/main">
              <a:ext uri="{FF2B5EF4-FFF2-40B4-BE49-F238E27FC236}">
                <a16:creationId xmlns:a16="http://schemas.microsoft.com/office/drawing/2014/main" id="{77F7AFA8-50E0-44E3-9513-FD94ABA455F5}"/>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26332233-B612-4E33-83E5-E2A92AED49AD}"/>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M365 권한·문서 환경 안에 Copilot을 배포하고 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육·활용 로그·설문으로 평가</a:t>
            </a:r>
          </a:p>
        </p:txBody>
      </p:sp>
      <p:sp>
        <p:nvSpPr>
          <p:cNvPr id="10" name="">
            <a:extLst xmlns:a="http://schemas.openxmlformats.org/drawingml/2006/main">
              <a:ext uri="{FF2B5EF4-FFF2-40B4-BE49-F238E27FC236}">
                <a16:creationId xmlns:a16="http://schemas.microsoft.com/office/drawing/2014/main" id="{7BB96A43-0065-4D48-96EB-D5097AD0445F}"/>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0C3D23A-793F-40E9-8DF2-91901B309736}"/>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작업시간 감소와 전략 업무에 쓸 시간 증가</a:t>
            </a:r>
          </a:p>
        </p:txBody>
      </p:sp>
      <p:sp>
        <p:nvSpPr>
          <p:cNvPr id="12" name="">
            <a:extLst xmlns:a="http://schemas.openxmlformats.org/drawingml/2006/main">
              <a:ext uri="{FF2B5EF4-FFF2-40B4-BE49-F238E27FC236}">
                <a16:creationId xmlns:a16="http://schemas.microsoft.com/office/drawing/2014/main" id="{09B57EA5-F36E-401B-AC10-9676D9B9D67C}"/>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5FCA8F7D-C16D-4376-928C-42DBBFA82D7D}"/>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정부 2만 명 실험에서 일평균 26분 절감 자기보고, 약 80</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 이용 참여, 복잡·정교한 데이터 업무의 한계 보고</a:t>
            </a:r>
          </a:p>
        </p:txBody>
      </p:sp>
      <p:sp>
        <p:nvSpPr>
          <p:cNvPr id="14" name="">
            <a:extLst xmlns:a="http://schemas.openxmlformats.org/drawingml/2006/main">
              <a:ext uri="{FF2B5EF4-FFF2-40B4-BE49-F238E27FC236}">
                <a16:creationId xmlns:a16="http://schemas.microsoft.com/office/drawing/2014/main" id="{27A67013-4B77-4FA9-B75F-52AE6D4346E3}"/>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기존 M365 작업환경 통합과 교육을 동반한 실험에서 일상 업무의 체감 시간절약 확인. 객관 전후시간·예산절</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감과 복잡 업무의 품질 개선은 미입증</a:t>
            </a:r>
          </a:p>
        </p:txBody>
      </p:sp>
      <p:sp>
        <p:nvSpPr>
          <p:cNvPr id="15" name="">
            <a:extLst xmlns:a="http://schemas.openxmlformats.org/drawingml/2006/main">
              <a:ext uri="{FF2B5EF4-FFF2-40B4-BE49-F238E27FC236}">
                <a16:creationId xmlns:a16="http://schemas.microsoft.com/office/drawing/2014/main" id="{68AF0A28-3FBA-4513-946D-9291D45563C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실험·평가 · 동일 모집단의 후속 HMRC 평가와 중복 합산 금지; 교육·부서별 편차·자기보고 편향</a:t>
            </a:r>
          </a:p>
        </p:txBody>
      </p:sp>
    </p:spTree>
    <p:extLst>
      <p:ext uri="{BB962C8B-B14F-4D97-AF65-F5344CB8AC3E}">
        <p14:creationId xmlns:p14="http://schemas.microsoft.com/office/powerpoint/2010/main" val="1819889660"/>
      </p:ext>
    </p:extLst>
  </p:cSld>
</p:sld>
</file>

<file path=ppt/slides/slide1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705AEC2-CD90-4A2B-82A7-56A3A400367C}"/>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F21AF9D-ECCB-41D8-A051-A9C7B4A541B6}"/>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1FDBF83-55EF-494C-A3EC-72A31292AD30}"/>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C545F21-EA07-4141-9F88-C435E0E2BDAD}"/>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E578AB74-1116-4911-8640-E53938EC291D}"/>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858D86FD-38CA-455D-B8B8-2B57D25D33A2}"/>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98394A54-5458-4344-B680-1D64C2859522}"/>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4B387E94-0E1D-47EC-B171-46871EB03353}"/>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6D4C1818-8587-496F-ACD1-4AB320D38BA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C2861A8E-0581-4029-809A-40BD6BB30F2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권한·목적 판정 후 허용·차단 분기</a:t>
            </a:r>
          </a:p>
        </p:txBody>
      </p:sp>
      <p:sp>
        <p:nvSpPr>
          <p:cNvPr id="2" name="">
            <a:extLst xmlns:a="http://schemas.openxmlformats.org/drawingml/2006/main">
              <a:ext uri="{FF2B5EF4-FFF2-40B4-BE49-F238E27FC236}">
                <a16:creationId xmlns:a16="http://schemas.microsoft.com/office/drawing/2014/main" id="{0FEF477F-44E6-4037-B769-801FC4F9C55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세부 서비스 구조</a:t>
            </a:r>
          </a:p>
        </p:txBody>
      </p:sp>
      <p:sp>
        <p:nvSpPr>
          <p:cNvPr id="3" name="">
            <a:extLst xmlns:a="http://schemas.openxmlformats.org/drawingml/2006/main">
              <a:ext uri="{FF2B5EF4-FFF2-40B4-BE49-F238E27FC236}">
                <a16:creationId xmlns:a16="http://schemas.microsoft.com/office/drawing/2014/main" id="{0DDFA804-7195-4695-8DDB-2AEF2C3223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4C55FE-BBE5-46C1-B941-CED945E0938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E0819FD-9C9D-4364-B1F8-5C3EBC91733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155</a:t>
            </a:r>
          </a:p>
        </p:txBody>
      </p:sp>
      <p:sp>
        <p:nvSpPr>
          <p:cNvPr id="6" name="">
            <a:extLst xmlns:a="http://schemas.openxmlformats.org/drawingml/2006/main">
              <a:ext uri="{FF2B5EF4-FFF2-40B4-BE49-F238E27FC236}">
                <a16:creationId xmlns:a16="http://schemas.microsoft.com/office/drawing/2014/main" id="{8AD68243-9C05-4321-9CD1-C273074E6C1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직원·기존 권한 → M365 업무 → AI 작성·검색 → 로그·설문 평가</a:t>
            </a:r>
          </a:p>
        </p:txBody>
      </p:sp>
      <p:sp>
        <p:nvSpPr>
          <p:cNvPr id="7" name="">
            <a:extLst xmlns:a="http://schemas.openxmlformats.org/drawingml/2006/main">
              <a:ext uri="{FF2B5EF4-FFF2-40B4-BE49-F238E27FC236}">
                <a16:creationId xmlns:a16="http://schemas.microsoft.com/office/drawing/2014/main" id="{DFA820AB-51CC-466E-A618-C3E5C066CF2A}"/>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82ACDE0-FE5E-4D3F-ADAF-4EDE620BDF2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4A06D2E3-DF2E-4032-B47E-26407E2E7BF5}"/>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업무 요청</a:t>
            </a:r>
          </a:p>
        </p:txBody>
      </p:sp>
      <p:sp>
        <p:nvSpPr>
          <p:cNvPr id="10" name="">
            <a:extLst xmlns:a="http://schemas.openxmlformats.org/drawingml/2006/main">
              <a:ext uri="{FF2B5EF4-FFF2-40B4-BE49-F238E27FC236}">
                <a16:creationId xmlns:a16="http://schemas.microsoft.com/office/drawing/2014/main" id="{67C4C5CC-808A-43BB-A760-2B1D829CA6F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A7A90EFA-7403-488B-966C-1428B044C18D}"/>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06FE6E8C-9449-4F21-8A7D-59B428838997}"/>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직원·과업 맥락</a:t>
            </a:r>
          </a:p>
        </p:txBody>
      </p:sp>
      <p:sp>
        <p:nvSpPr>
          <p:cNvPr id="13" name="">
            <a:extLst xmlns:a="http://schemas.openxmlformats.org/drawingml/2006/main">
              <a:ext uri="{FF2B5EF4-FFF2-40B4-BE49-F238E27FC236}">
                <a16:creationId xmlns:a16="http://schemas.microsoft.com/office/drawing/2014/main" id="{5CC7718F-47B5-4377-AABC-DCB7F5192EE3}"/>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14AAF99A-1409-4C0C-A327-8FBAADD517D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79957B14-1C5E-469E-B91F-6A708C138350}"/>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65399BAF-243E-42D9-95DD-F320C79D1C5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0D5AFF8-84DD-4997-89E8-761659EEEBF5}"/>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C8AE0855-7BEB-4EE1-AEBE-6069A044F51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근거·사실 대조</a:t>
            </a:r>
          </a:p>
        </p:txBody>
      </p:sp>
      <p:sp>
        <p:nvSpPr>
          <p:cNvPr id="19" name="">
            <a:extLst xmlns:a="http://schemas.openxmlformats.org/drawingml/2006/main">
              <a:ext uri="{FF2B5EF4-FFF2-40B4-BE49-F238E27FC236}">
                <a16:creationId xmlns:a16="http://schemas.microsoft.com/office/drawing/2014/main" id="{BB290E2F-8254-4F49-AF5F-D2619FAA21D1}"/>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43EE5F3-37A4-4C72-A280-A68E504AC734}"/>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9103BAB1-A4B5-43C3-8BC3-45103607251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자료</a:t>
            </a:r>
          </a:p>
        </p:txBody>
      </p:sp>
      <p:sp>
        <p:nvSpPr>
          <p:cNvPr id="22" name="">
            <a:extLst xmlns:a="http://schemas.openxmlformats.org/drawingml/2006/main">
              <a:ext uri="{FF2B5EF4-FFF2-40B4-BE49-F238E27FC236}">
                <a16:creationId xmlns:a16="http://schemas.microsoft.com/office/drawing/2014/main" id="{DD010277-B75D-4335-9E05-E9BA14DCD56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53BA0E2-9B14-4DC8-95D1-96FEA3AC4A47}"/>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B17445A6-83FF-49C0-A390-9B4EFB1E5AD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검색·요약·작성</a:t>
            </a:r>
          </a:p>
        </p:txBody>
      </p:sp>
      <p:sp>
        <p:nvSpPr>
          <p:cNvPr id="25" name="">
            <a:extLst xmlns:a="http://schemas.openxmlformats.org/drawingml/2006/main">
              <a:ext uri="{FF2B5EF4-FFF2-40B4-BE49-F238E27FC236}">
                <a16:creationId xmlns:a16="http://schemas.microsoft.com/office/drawing/2014/main" id="{0A3C6C4F-704E-4CFE-B2CD-7E615D5DA860}"/>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2BAFA62-21C5-422A-BB07-20E02408C1D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DB22E84A-06BC-48FD-B841-A2BE6F30B73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편집·확인</a:t>
            </a:r>
          </a:p>
        </p:txBody>
      </p:sp>
      <p:sp>
        <p:nvSpPr>
          <p:cNvPr id="28" name="">
            <a:extLst xmlns:a="http://schemas.openxmlformats.org/drawingml/2006/main">
              <a:ext uri="{FF2B5EF4-FFF2-40B4-BE49-F238E27FC236}">
                <a16:creationId xmlns:a16="http://schemas.microsoft.com/office/drawing/2014/main" id="{4DA9BCD7-D699-4CF9-84F6-0DB41A739AD4}"/>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7D9324C8-4D7A-4E4B-9592-764F841DAA9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60E0EE60-667A-4A88-83CD-5BFE3FF66B5D}"/>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후속업</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무</a:t>
            </a:r>
          </a:p>
        </p:txBody>
      </p:sp>
      <p:sp>
        <p:nvSpPr>
          <p:cNvPr id="31" name="">
            <a:extLst xmlns:a="http://schemas.openxmlformats.org/drawingml/2006/main">
              <a:ext uri="{FF2B5EF4-FFF2-40B4-BE49-F238E27FC236}">
                <a16:creationId xmlns:a16="http://schemas.microsoft.com/office/drawing/2014/main" id="{3CD61679-481F-4AB1-B14C-B90A891FE5EE}"/>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7B15B18-6731-465E-ACA1-6D78561F5AF1}"/>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3E655B04-3EB4-4CFC-9642-B39B230024D9}"/>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검토시간 비교</a:t>
            </a:r>
          </a:p>
        </p:txBody>
      </p:sp>
      <p:sp>
        <p:nvSpPr>
          <p:cNvPr id="34" name="">
            <a:extLst xmlns:a="http://schemas.openxmlformats.org/drawingml/2006/main">
              <a:ext uri="{FF2B5EF4-FFF2-40B4-BE49-F238E27FC236}">
                <a16:creationId xmlns:a16="http://schemas.microsoft.com/office/drawing/2014/main" id="{ECEFD9D7-5965-4B48-9CF2-A373D06A976E}"/>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6431CC1-76E4-42CF-9444-47107211A941}"/>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48B9C72D-1636-453E-9660-328CC1F33F49}"/>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업무·평가 기록</a:t>
            </a:r>
          </a:p>
        </p:txBody>
      </p:sp>
      <p:sp>
        <p:nvSpPr>
          <p:cNvPr id="46" name="">
            <a:extLst xmlns:a="http://schemas.openxmlformats.org/drawingml/2006/main">
              <a:ext uri="{FF2B5EF4-FFF2-40B4-BE49-F238E27FC236}">
                <a16:creationId xmlns:a16="http://schemas.microsoft.com/office/drawing/2014/main" id="{86DC2FE3-9F08-425D-913C-B2FA4A1BF56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53188490"/>
      </p:ext>
    </p:extLst>
  </p:cSld>
</p:sld>
</file>

<file path=ppt/slides/slide1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FFFF08E-8F19-4134-8344-0AC3BC3A633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논리 인터페이스·복구 설계</a:t>
            </a:r>
          </a:p>
        </p:txBody>
      </p:sp>
      <p:sp>
        <p:nvSpPr>
          <p:cNvPr id="2" name="">
            <a:extLst xmlns:a="http://schemas.openxmlformats.org/drawingml/2006/main">
              <a:ext uri="{FF2B5EF4-FFF2-40B4-BE49-F238E27FC236}">
                <a16:creationId xmlns:a16="http://schemas.microsoft.com/office/drawing/2014/main" id="{A75058AB-0A55-4F69-AA68-69DCBF8653C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데이터와 예외 처리</a:t>
            </a:r>
          </a:p>
        </p:txBody>
      </p:sp>
      <p:sp>
        <p:nvSpPr>
          <p:cNvPr id="3" name="">
            <a:extLst xmlns:a="http://schemas.openxmlformats.org/drawingml/2006/main">
              <a:ext uri="{FF2B5EF4-FFF2-40B4-BE49-F238E27FC236}">
                <a16:creationId xmlns:a16="http://schemas.microsoft.com/office/drawing/2014/main" id="{1015C716-C1C2-4861-9CCC-F0BC509DC41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F907246-FA10-4EBA-8A7B-8487FC20E2F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1DB3357-7319-47B8-8F4B-DADC29A8438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156</a:t>
            </a:r>
          </a:p>
        </p:txBody>
      </p:sp>
      <p:sp>
        <p:nvSpPr>
          <p:cNvPr id="6" name="">
            <a:extLst xmlns:a="http://schemas.openxmlformats.org/drawingml/2006/main">
              <a:ext uri="{FF2B5EF4-FFF2-40B4-BE49-F238E27FC236}">
                <a16:creationId xmlns:a16="http://schemas.microsoft.com/office/drawing/2014/main" id="{6EF19E10-E9F8-41C2-8DA5-82F6873C11B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C99F549-63AB-4F8F-888D-7FB2273AF36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9C46B4B-D337-4ADC-98E7-4E06E423D55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E3A1B775-2729-4783-B7B9-824CAE42E98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계정과 과업별 접근 문맥</a:t>
            </a:r>
          </a:p>
        </p:txBody>
      </p:sp>
      <p:sp>
        <p:nvSpPr>
          <p:cNvPr id="10" name="">
            <a:extLst xmlns:a="http://schemas.openxmlformats.org/drawingml/2006/main">
              <a:ext uri="{FF2B5EF4-FFF2-40B4-BE49-F238E27FC236}">
                <a16:creationId xmlns:a16="http://schemas.microsoft.com/office/drawing/2014/main" id="{E5264D74-23CA-4546-8DFB-A9853190D0B8}"/>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4E6AE3-8C4B-4441-B0F7-AEA3A1763F4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394EC2FD-C9D8-493A-A71D-BD41D8661EF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a:t>
            </a:r>
          </a:p>
        </p:txBody>
      </p:sp>
      <p:sp>
        <p:nvSpPr>
          <p:cNvPr id="13" name="">
            <a:extLst xmlns:a="http://schemas.openxmlformats.org/drawingml/2006/main">
              <a:ext uri="{FF2B5EF4-FFF2-40B4-BE49-F238E27FC236}">
                <a16:creationId xmlns:a16="http://schemas.microsoft.com/office/drawing/2014/main" id="{501DBE85-B7CF-4A0A-B3BA-1ADE97A44E4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3A09334-96C1-4FF8-9456-951229A9853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0251E506-4F1C-40D0-8320-F5E4F898670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587AEF2B-64DA-4B00-81BA-FDA7EAEBF7A9}"/>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D7CFBA4-BD95-4E4C-B362-8F38063DFD75}"/>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55FDEA92-85D0-4F35-9134-C1B6C7B2363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초안</a:t>
            </a:r>
          </a:p>
        </p:txBody>
      </p:sp>
      <p:sp>
        <p:nvSpPr>
          <p:cNvPr id="19" name="">
            <a:extLst xmlns:a="http://schemas.openxmlformats.org/drawingml/2006/main">
              <a:ext uri="{FF2B5EF4-FFF2-40B4-BE49-F238E27FC236}">
                <a16:creationId xmlns:a16="http://schemas.microsoft.com/office/drawing/2014/main" id="{8BADD269-6113-4562-9699-8FA0193F62B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77725E-80B4-4E4E-AE9B-C0B3E71D9CD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0E160679-5FED-4DD8-B9D3-BAB53B1541BC}"/>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초안</a:t>
            </a:r>
          </a:p>
        </p:txBody>
      </p:sp>
      <p:sp>
        <p:nvSpPr>
          <p:cNvPr id="22" name="">
            <a:extLst xmlns:a="http://schemas.openxmlformats.org/drawingml/2006/main">
              <a:ext uri="{FF2B5EF4-FFF2-40B4-BE49-F238E27FC236}">
                <a16:creationId xmlns:a16="http://schemas.microsoft.com/office/drawing/2014/main" id="{9268E683-920E-4ACA-A29E-7F5F3272F1C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6F4020C-2CB3-4BEB-B4C6-6EB387B0EA8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74320AA4-AACB-425A-9826-1D37C2D3B77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검토·설문</a:t>
            </a:r>
          </a:p>
        </p:txBody>
      </p:sp>
      <p:sp>
        <p:nvSpPr>
          <p:cNvPr id="25" name="">
            <a:extLst xmlns:a="http://schemas.openxmlformats.org/drawingml/2006/main">
              <a:ext uri="{FF2B5EF4-FFF2-40B4-BE49-F238E27FC236}">
                <a16:creationId xmlns:a16="http://schemas.microsoft.com/office/drawing/2014/main" id="{7C2BC250-ECCD-4D67-AF92-88AC848557F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928197D5-76FB-46F0-85DF-B829E90E307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부서 공유문서·누락된 발언·잘못된 할일 배정</a:t>
            </a:r>
          </a:p>
        </p:txBody>
      </p:sp>
      <p:sp>
        <p:nvSpPr>
          <p:cNvPr id="27" name="">
            <a:extLst xmlns:a="http://schemas.openxmlformats.org/drawingml/2006/main">
              <a:ext uri="{FF2B5EF4-FFF2-40B4-BE49-F238E27FC236}">
                <a16:creationId xmlns:a16="http://schemas.microsoft.com/office/drawing/2014/main" id="{F4D8811F-798D-4DBB-B8BD-105AC46F2A7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BE3387E6-75AB-4B44-BE5D-DE4CD9EA92F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과업의 실제 검토시간 비교</a:t>
            </a:r>
          </a:p>
        </p:txBody>
      </p:sp>
      <p:sp>
        <p:nvSpPr>
          <p:cNvPr id="29" name="">
            <a:extLst xmlns:a="http://schemas.openxmlformats.org/drawingml/2006/main">
              <a:ext uri="{FF2B5EF4-FFF2-40B4-BE49-F238E27FC236}">
                <a16:creationId xmlns:a16="http://schemas.microsoft.com/office/drawing/2014/main" id="{551ED2C9-6BC6-455F-8092-27F475516E1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7D2B761-0F2E-4A15-ACE5-D4B58081E8D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검토·재작업 시간과 사용 로그의 과업별 비교</a:t>
            </a:r>
          </a:p>
        </p:txBody>
      </p:sp>
      <p:sp>
        <p:nvSpPr>
          <p:cNvPr id="31" name="">
            <a:extLst xmlns:a="http://schemas.openxmlformats.org/drawingml/2006/main">
              <a:ext uri="{FF2B5EF4-FFF2-40B4-BE49-F238E27FC236}">
                <a16:creationId xmlns:a16="http://schemas.microsoft.com/office/drawing/2014/main" id="{ED59B664-138E-4074-B29F-1BFADBB3E84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37900C05-5074-4A2E-AF98-ECCFA0E9AF43}"/>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권한별 결과와 검토·재작업을 포함한 과업 완료시간</a:t>
            </a:r>
          </a:p>
        </p:txBody>
      </p:sp>
    </p:spTree>
    <p:extLst>
      <p:ext uri="{BB962C8B-B14F-4D97-AF65-F5344CB8AC3E}">
        <p14:creationId xmlns:p14="http://schemas.microsoft.com/office/powerpoint/2010/main" val="1816143401"/>
      </p:ext>
    </p:extLst>
  </p:cSld>
</p:sld>
</file>

<file path=ppt/slides/slide1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991EE56-A35B-4BCB-81F3-D05C1C4FAAF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CCK 비교·재현 시험 설계</a:t>
            </a:r>
          </a:p>
        </p:txBody>
      </p:sp>
      <p:sp>
        <p:nvSpPr>
          <p:cNvPr id="2" name="">
            <a:extLst xmlns:a="http://schemas.openxmlformats.org/drawingml/2006/main">
              <a:ext uri="{FF2B5EF4-FFF2-40B4-BE49-F238E27FC236}">
                <a16:creationId xmlns:a16="http://schemas.microsoft.com/office/drawing/2014/main" id="{C0206CF4-C749-4886-AFBE-97FD4B755BA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벤치마킹</a:t>
            </a:r>
          </a:p>
        </p:txBody>
      </p:sp>
      <p:sp>
        <p:nvSpPr>
          <p:cNvPr id="3" name="">
            <a:extLst xmlns:a="http://schemas.openxmlformats.org/drawingml/2006/main">
              <a:ext uri="{FF2B5EF4-FFF2-40B4-BE49-F238E27FC236}">
                <a16:creationId xmlns:a16="http://schemas.microsoft.com/office/drawing/2014/main" id="{81972009-5A47-4C0E-B14C-77F5A384445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C3D582-5181-40DE-B9A9-7F6619C93A6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7951D97-2859-4990-BE40-55E27A0A6A4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157</a:t>
            </a:r>
          </a:p>
        </p:txBody>
      </p:sp>
      <p:sp>
        <p:nvSpPr>
          <p:cNvPr id="6" name="">
            <a:extLst xmlns:a="http://schemas.openxmlformats.org/drawingml/2006/main">
              <a:ext uri="{FF2B5EF4-FFF2-40B4-BE49-F238E27FC236}">
                <a16:creationId xmlns:a16="http://schemas.microsoft.com/office/drawing/2014/main" id="{586B8F65-9532-4D63-B63C-AE974E650CA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BEE551F7-25E4-4392-B56A-F174C134C54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협업 도구 내 AI 지원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교육·설문·활용 관측</a:t>
            </a:r>
          </a:p>
        </p:txBody>
      </p:sp>
      <p:sp>
        <p:nvSpPr>
          <p:cNvPr id="8" name="">
            <a:extLst xmlns:a="http://schemas.openxmlformats.org/drawingml/2006/main">
              <a:ext uri="{FF2B5EF4-FFF2-40B4-BE49-F238E27FC236}">
                <a16:creationId xmlns:a16="http://schemas.microsoft.com/office/drawing/2014/main" id="{25718ABD-4FB1-4817-A280-B8BEA5B5D53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129D1B1-87D1-4ECE-B1E9-4E1A9F35DC3F}"/>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과업별 성과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자기보고 절감시간의 과대 일반화</a:t>
            </a:r>
          </a:p>
        </p:txBody>
      </p:sp>
      <p:sp>
        <p:nvSpPr>
          <p:cNvPr id="10" name="">
            <a:extLst xmlns:a="http://schemas.openxmlformats.org/drawingml/2006/main">
              <a:ext uri="{FF2B5EF4-FFF2-40B4-BE49-F238E27FC236}">
                <a16:creationId xmlns:a16="http://schemas.microsoft.com/office/drawing/2014/main" id="{00F67402-2047-4013-9EB2-F8AFF4E86D5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2F7457C2-1A09-42B7-BEA8-A80929F9284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동일 과업의 실제 검토시간 비교</a:t>
            </a:r>
          </a:p>
        </p:txBody>
      </p:sp>
      <p:sp>
        <p:nvSpPr>
          <p:cNvPr id="12" name="">
            <a:extLst xmlns:a="http://schemas.openxmlformats.org/drawingml/2006/main">
              <a:ext uri="{FF2B5EF4-FFF2-40B4-BE49-F238E27FC236}">
                <a16:creationId xmlns:a16="http://schemas.microsoft.com/office/drawing/2014/main" id="{C5BEE652-0B4E-4001-AD41-C524F435CB0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C2D1E6C7-2CA7-442F-858A-AE6885AEC8E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회의자료로 회의록 초안을 작성하고 직원이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수정·확정</a:t>
            </a:r>
          </a:p>
        </p:txBody>
      </p:sp>
      <p:sp>
        <p:nvSpPr>
          <p:cNvPr id="14" name="">
            <a:extLst xmlns:a="http://schemas.openxmlformats.org/drawingml/2006/main">
              <a:ext uri="{FF2B5EF4-FFF2-40B4-BE49-F238E27FC236}">
                <a16:creationId xmlns:a16="http://schemas.microsoft.com/office/drawing/2014/main" id="{958F352D-11E5-4F81-B4B7-79C109603E8C}"/>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257E394-DA7E-48A5-B278-598010A8EDC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부서 공유문서·누락된 발언·잘못된 할일 배정</a:t>
            </a:r>
          </a:p>
        </p:txBody>
      </p:sp>
      <p:sp>
        <p:nvSpPr>
          <p:cNvPr id="16" name="">
            <a:extLst xmlns:a="http://schemas.openxmlformats.org/drawingml/2006/main">
              <a:ext uri="{FF2B5EF4-FFF2-40B4-BE49-F238E27FC236}">
                <a16:creationId xmlns:a16="http://schemas.microsoft.com/office/drawing/2014/main" id="{0BAA450B-DB18-459D-8523-60F9408495E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DBDFF91-4DD0-4D98-B8E0-375C2ADE185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결과와 검토·재작업을 포함한 과업 완료시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간</a:t>
            </a:r>
          </a:p>
        </p:txBody>
      </p:sp>
    </p:spTree>
    <p:extLst>
      <p:ext uri="{BB962C8B-B14F-4D97-AF65-F5344CB8AC3E}">
        <p14:creationId xmlns:p14="http://schemas.microsoft.com/office/powerpoint/2010/main" val="1448411485"/>
      </p:ext>
    </p:extLst>
  </p:cSld>
</p:sld>
</file>

<file path=ppt/slides/slide1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0806471-A141-4976-8DB6-4DDAF1976ED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성과 미검증 / 해외</a:t>
            </a:r>
          </a:p>
        </p:txBody>
      </p:sp>
      <p:sp>
        <p:nvSpPr>
          <p:cNvPr id="2" name="">
            <a:extLst xmlns:a="http://schemas.openxmlformats.org/drawingml/2006/main">
              <a:ext uri="{FF2B5EF4-FFF2-40B4-BE49-F238E27FC236}">
                <a16:creationId xmlns:a16="http://schemas.microsoft.com/office/drawing/2014/main" id="{60A851BA-3464-45B0-B610-2413E51CD23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a:t>
            </a:r>
          </a:p>
        </p:txBody>
      </p:sp>
      <p:sp>
        <p:nvSpPr>
          <p:cNvPr id="3" name="">
            <a:extLst xmlns:a="http://schemas.openxmlformats.org/drawingml/2006/main">
              <a:ext uri="{FF2B5EF4-FFF2-40B4-BE49-F238E27FC236}">
                <a16:creationId xmlns:a16="http://schemas.microsoft.com/office/drawing/2014/main" id="{62FE82C8-0982-4A71-A243-95F5EBDD0AE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EF573C-AF79-4BB7-AA94-20700C46EFF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018A8AE-3FE6-4C86-8A57-2ED601B5A6F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158</a:t>
            </a:r>
          </a:p>
        </p:txBody>
      </p:sp>
      <p:sp>
        <p:nvSpPr>
          <p:cNvPr id="6" name="">
            <a:extLst xmlns:a="http://schemas.openxmlformats.org/drawingml/2006/main">
              <a:ext uri="{FF2B5EF4-FFF2-40B4-BE49-F238E27FC236}">
                <a16:creationId xmlns:a16="http://schemas.microsoft.com/office/drawing/2014/main" id="{D5132FD6-E1DE-4848-BBEA-2F878F2F751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33310FE-ACE5-4338-8445-89AEBBAAA6C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영국 Consult의 정책 의견수렴 분석 사례. 다수의 응답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주제별로 분류·요약해 정책 담당자의 검토를 돕는 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식이며 의견의 채택이나 정책 결정을 자동화하는 기능과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구분.</a:t>
            </a:r>
          </a:p>
        </p:txBody>
      </p:sp>
      <p:sp>
        <p:nvSpPr>
          <p:cNvPr id="8" name="">
            <a:extLst xmlns:a="http://schemas.openxmlformats.org/drawingml/2006/main">
              <a:ext uri="{FF2B5EF4-FFF2-40B4-BE49-F238E27FC236}">
                <a16:creationId xmlns:a16="http://schemas.microsoft.com/office/drawing/2014/main" id="{5E10E71E-01FC-4B0E-AF78-B7C2CDB62CC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1D3FC4F-71B3-4C44-823B-3AA691F237D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설문 문항·응답 원문을 입력하고 주제 후보 생성, 응답별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분류, 주제별 요약, 검토자의 수정으로 이어지는 논리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흐름. 원문 응답과 요약의 연결을 유지해 소수·반대 의견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 요약에서 누락됐는지 추적하는 구성.</a:t>
            </a:r>
          </a:p>
        </p:txBody>
      </p:sp>
      <p:sp>
        <p:nvSpPr>
          <p:cNvPr id="10" name="">
            <a:extLst xmlns:a="http://schemas.openxmlformats.org/drawingml/2006/main">
              <a:ext uri="{FF2B5EF4-FFF2-40B4-BE49-F238E27FC236}">
                <a16:creationId xmlns:a16="http://schemas.microsoft.com/office/drawing/2014/main" id="{0E090F38-E7ED-4075-8B75-7D8061F83BF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A44FA6E9-1DD9-4813-A08B-C38A3828B1B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CCK의 민원·의견 분석에서는 전체 빈도만으로 성과를 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단하기 어려움. 다중 주제, 소수 의견, 상반된 입장, 부정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확한 인용을 포함한 정답셋과 담당자의 수정 시간을 함께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측정하는 방식의 적용.</a:t>
            </a:r>
          </a:p>
        </p:txBody>
      </p:sp>
      <p:sp>
        <p:nvSpPr>
          <p:cNvPr id="12" name="">
            <a:extLst xmlns:a="http://schemas.openxmlformats.org/drawingml/2006/main">
              <a:ext uri="{FF2B5EF4-FFF2-40B4-BE49-F238E27FC236}">
                <a16:creationId xmlns:a16="http://schemas.microsoft.com/office/drawing/2014/main" id="{29FDD68F-22D1-46CD-9252-581C4DADE16C}"/>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BA4E3394-0602-4670-A919-A9A22CB1C78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업무분장·관할·복수부서 배정</a:t>
            </a:r>
          </a:p>
        </p:txBody>
      </p:sp>
      <p:sp>
        <p:nvSpPr>
          <p:cNvPr id="14" name="">
            <a:extLst xmlns:a="http://schemas.openxmlformats.org/drawingml/2006/main">
              <a:ext uri="{FF2B5EF4-FFF2-40B4-BE49-F238E27FC236}">
                <a16:creationId xmlns:a16="http://schemas.microsoft.com/office/drawing/2014/main" id="{F64414B4-DDE1-42DC-B001-F6E7E44669A5}"/>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59DD9BC-C97B-4B0B-81C6-7C27C873FD1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재배정률·최종 해결시간의 기준선·비교 평가</a:t>
            </a:r>
          </a:p>
        </p:txBody>
      </p:sp>
      <p:sp>
        <p:nvSpPr>
          <p:cNvPr id="16" name="">
            <a:extLst xmlns:a="http://schemas.openxmlformats.org/drawingml/2006/main">
              <a:ext uri="{FF2B5EF4-FFF2-40B4-BE49-F238E27FC236}">
                <a16:creationId xmlns:a16="http://schemas.microsoft.com/office/drawing/2014/main" id="{478D82D0-3CD3-4AC8-BB82-716D086E8F5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B79B942-C28C-4D25-95F9-4F679903D03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재배정률·최종 해결시간</a:t>
            </a:r>
          </a:p>
        </p:txBody>
      </p:sp>
      <p:sp>
        <p:nvSpPr>
          <p:cNvPr id="18" name="">
            <a:extLst xmlns:a="http://schemas.openxmlformats.org/drawingml/2006/main">
              <a:ext uri="{FF2B5EF4-FFF2-40B4-BE49-F238E27FC236}">
                <a16:creationId xmlns:a16="http://schemas.microsoft.com/office/drawing/2014/main" id="{6B821D9E-EE85-4ECA-90B9-C607B7CCD28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F1을 정확도76%로 쓰지 않음. 연7.5만일/2천만파운드는 전정부 확산 추정, 실현절감 아님</a:t>
            </a:r>
          </a:p>
        </p:txBody>
      </p:sp>
    </p:spTree>
    <p:extLst>
      <p:ext uri="{BB962C8B-B14F-4D97-AF65-F5344CB8AC3E}">
        <p14:creationId xmlns:p14="http://schemas.microsoft.com/office/powerpoint/2010/main" val="545467956"/>
      </p:ext>
    </p:extLst>
  </p:cSld>
</p:sld>
</file>

<file path=ppt/slides/slide1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414CCA-8F63-4C40-B454-03192523512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As-Is → To-Be → 기대효과 → 확인 결과</a:t>
            </a:r>
          </a:p>
        </p:txBody>
      </p:sp>
      <p:sp>
        <p:nvSpPr>
          <p:cNvPr id="2" name="">
            <a:extLst xmlns:a="http://schemas.openxmlformats.org/drawingml/2006/main">
              <a:ext uri="{FF2B5EF4-FFF2-40B4-BE49-F238E27FC236}">
                <a16:creationId xmlns:a16="http://schemas.microsoft.com/office/drawing/2014/main" id="{E4CDED87-22A6-47AA-9182-9DCDCDCB6AC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기대와 결과</a:t>
            </a:r>
          </a:p>
        </p:txBody>
      </p:sp>
      <p:sp>
        <p:nvSpPr>
          <p:cNvPr id="3" name="">
            <a:extLst xmlns:a="http://schemas.openxmlformats.org/drawingml/2006/main">
              <a:ext uri="{FF2B5EF4-FFF2-40B4-BE49-F238E27FC236}">
                <a16:creationId xmlns:a16="http://schemas.microsoft.com/office/drawing/2014/main" id="{C1237D01-E98A-42A1-AF97-0FB74A5F008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AADC12-0421-4C3A-B092-E6C0AFB48A6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8B5F6AA-9D83-4AAB-BC2B-1E84F2A149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159</a:t>
            </a:r>
          </a:p>
        </p:txBody>
      </p:sp>
      <p:sp>
        <p:nvSpPr>
          <p:cNvPr id="6" name="">
            <a:extLst xmlns:a="http://schemas.openxmlformats.org/drawingml/2006/main">
              <a:ext uri="{FF2B5EF4-FFF2-40B4-BE49-F238E27FC236}">
                <a16:creationId xmlns:a16="http://schemas.microsoft.com/office/drawing/2014/main" id="{4889F575-5C88-4702-AD85-577C9A2360F5}"/>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4DEDF28-71E7-4D55-94D9-371EB724EF86}"/>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대량 정책 의견을 공무원이 하나씩 읽고 주제·소수 의견을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분류·요약</a:t>
            </a:r>
          </a:p>
        </p:txBody>
      </p:sp>
      <p:sp>
        <p:nvSpPr>
          <p:cNvPr id="8" name="">
            <a:extLst xmlns:a="http://schemas.openxmlformats.org/drawingml/2006/main">
              <a:ext uri="{FF2B5EF4-FFF2-40B4-BE49-F238E27FC236}">
                <a16:creationId xmlns:a16="http://schemas.microsoft.com/office/drawing/2014/main" id="{7096390E-1A87-4329-B387-9D7873AC0D10}"/>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9C8C8B45-6528-41DD-A56B-A1FB79F2C41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Consult가 주제 후보·요약을 만들고 담당자가 원문과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조·수정하는 병행 검토</a:t>
            </a:r>
          </a:p>
        </p:txBody>
      </p:sp>
      <p:sp>
        <p:nvSpPr>
          <p:cNvPr id="10" name="">
            <a:extLst xmlns:a="http://schemas.openxmlformats.org/drawingml/2006/main">
              <a:ext uri="{FF2B5EF4-FFF2-40B4-BE49-F238E27FC236}">
                <a16:creationId xmlns:a16="http://schemas.microsoft.com/office/drawing/2014/main" id="{88D51320-7563-4AF6-A5DF-698AD9464B55}"/>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5A751EBC-73BC-4A2F-85E6-FEEA0A7F6FAF}"/>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검토 인력·시간 절감과 의견 누락 감소</a:t>
            </a:r>
          </a:p>
        </p:txBody>
      </p:sp>
      <p:sp>
        <p:nvSpPr>
          <p:cNvPr id="12" name="">
            <a:extLst xmlns:a="http://schemas.openxmlformats.org/drawingml/2006/main">
              <a:ext uri="{FF2B5EF4-FFF2-40B4-BE49-F238E27FC236}">
                <a16:creationId xmlns:a16="http://schemas.microsoft.com/office/drawing/2014/main" id="{805326AA-7714-4B61-971D-4C438404A915}"/>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2243D1AC-8526-4486-8D7F-E6E29346705A}"/>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영국 정부의 첫 정책 의견수렴 실증 발표. 전정부 연간 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감 추정은 제시됐으나 실현절감·소수 의견 재현율 미공개</a:t>
            </a:r>
          </a:p>
        </p:txBody>
      </p:sp>
      <p:sp>
        <p:nvSpPr>
          <p:cNvPr id="14" name="">
            <a:extLst xmlns:a="http://schemas.openxmlformats.org/drawingml/2006/main">
              <a:ext uri="{FF2B5EF4-FFF2-40B4-BE49-F238E27FC236}">
                <a16:creationId xmlns:a16="http://schemas.microsoft.com/office/drawing/2014/main" id="{1EB14763-0DF3-4A93-8AF3-9D52822C695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최초 사용과 전국 확산 추정치를 실제 절감으로 바꿀 수 없음</a:t>
            </a:r>
          </a:p>
        </p:txBody>
      </p:sp>
      <p:sp>
        <p:nvSpPr>
          <p:cNvPr id="15" name="">
            <a:extLst xmlns:a="http://schemas.openxmlformats.org/drawingml/2006/main">
              <a:ext uri="{FF2B5EF4-FFF2-40B4-BE49-F238E27FC236}">
                <a16:creationId xmlns:a16="http://schemas.microsoft.com/office/drawing/2014/main" id="{AC6676FE-C864-420C-A33B-D5C55E8E38A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업무 앱 최초 실증 · 주제 분류 F1과 일반 정확도는 다른 지표; 수작업 병행 비용 포함 필요</a:t>
            </a:r>
          </a:p>
        </p:txBody>
      </p:sp>
    </p:spTree>
    <p:extLst>
      <p:ext uri="{BB962C8B-B14F-4D97-AF65-F5344CB8AC3E}">
        <p14:creationId xmlns:p14="http://schemas.microsoft.com/office/powerpoint/2010/main" val="421267167"/>
      </p:ext>
    </p:extLst>
  </p:cSld>
</p:sld>
</file>

<file path=ppt/slides/slide1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D23D4EE-21F8-4F64-9DBE-95BB2CF0C19D}"/>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87C2A41-301E-4DBE-801C-86EB81CEB122}"/>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9DC4CA3-E8CC-4C1A-A5F4-1171381EC986}"/>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AAF47207-20FE-4B73-BAA7-9EBB3D29EA4A}"/>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FEE88C1-B949-4140-BFBA-B5F5C31D702A}"/>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7544CC4-9D03-49DE-813C-F06BBD63C113}"/>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5900E1C-8ABD-4934-A4EC-652735039215}"/>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48CB2E7-2A4C-4B55-A9B4-0BD4DADFF6DC}"/>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A5DC770-57FC-488B-ADAE-CE47A10A340D}"/>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9DEF4E9-13FE-416A-9B91-0C0E6AD0A7E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원문 추출·대조·사람 확정</a:t>
            </a:r>
          </a:p>
        </p:txBody>
      </p:sp>
      <p:sp>
        <p:nvSpPr>
          <p:cNvPr id="2" name="">
            <a:extLst xmlns:a="http://schemas.openxmlformats.org/drawingml/2006/main">
              <a:ext uri="{FF2B5EF4-FFF2-40B4-BE49-F238E27FC236}">
                <a16:creationId xmlns:a16="http://schemas.microsoft.com/office/drawing/2014/main" id="{5982C28A-7797-4689-9161-B8E767B2A2A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세부 서비스 구조</a:t>
            </a:r>
          </a:p>
        </p:txBody>
      </p:sp>
      <p:sp>
        <p:nvSpPr>
          <p:cNvPr id="3" name="">
            <a:extLst xmlns:a="http://schemas.openxmlformats.org/drawingml/2006/main">
              <a:ext uri="{FF2B5EF4-FFF2-40B4-BE49-F238E27FC236}">
                <a16:creationId xmlns:a16="http://schemas.microsoft.com/office/drawing/2014/main" id="{988E1CD8-6A92-462B-ABCD-8B8BBC1B87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D5F612-E9C2-4ECE-9478-17A8EE2B849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3E9B36-3C96-4939-88FF-887BEF0DE85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160</a:t>
            </a:r>
          </a:p>
        </p:txBody>
      </p:sp>
      <p:sp>
        <p:nvSpPr>
          <p:cNvPr id="6" name="">
            <a:extLst xmlns:a="http://schemas.openxmlformats.org/drawingml/2006/main">
              <a:ext uri="{FF2B5EF4-FFF2-40B4-BE49-F238E27FC236}">
                <a16:creationId xmlns:a16="http://schemas.microsoft.com/office/drawing/2014/main" id="{E37FBC75-5CD0-416F-86ED-C541EBAFDF15}"/>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정책 의견 → 주제 분류 → 분석·요약 → 공무원 수정</a:t>
            </a:r>
          </a:p>
        </p:txBody>
      </p:sp>
      <p:sp>
        <p:nvSpPr>
          <p:cNvPr id="7" name="">
            <a:extLst xmlns:a="http://schemas.openxmlformats.org/drawingml/2006/main">
              <a:ext uri="{FF2B5EF4-FFF2-40B4-BE49-F238E27FC236}">
                <a16:creationId xmlns:a16="http://schemas.microsoft.com/office/drawing/2014/main" id="{67802311-3A15-49C6-B094-92CEF2826E2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8F4C10B-4C3F-46F5-AA2D-7C8D000F212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C0712B41-66CF-479F-88DE-605CFD6A584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 의견 접수</a:t>
            </a:r>
          </a:p>
        </p:txBody>
      </p:sp>
      <p:sp>
        <p:nvSpPr>
          <p:cNvPr id="10" name="">
            <a:extLst xmlns:a="http://schemas.openxmlformats.org/drawingml/2006/main">
              <a:ext uri="{FF2B5EF4-FFF2-40B4-BE49-F238E27FC236}">
                <a16:creationId xmlns:a16="http://schemas.microsoft.com/office/drawing/2014/main" id="{2D4C1484-5C1A-4D67-BF9C-A09BD5355C59}"/>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8440B07-4103-4B9C-B35A-F305193CF4C9}"/>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B69C8804-F4EC-4B0A-9E13-325EE7EF0A12}"/>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주제 분류·요약</a:t>
            </a:r>
          </a:p>
        </p:txBody>
      </p:sp>
      <p:sp>
        <p:nvSpPr>
          <p:cNvPr id="13" name="">
            <a:extLst xmlns:a="http://schemas.openxmlformats.org/drawingml/2006/main">
              <a:ext uri="{FF2B5EF4-FFF2-40B4-BE49-F238E27FC236}">
                <a16:creationId xmlns:a16="http://schemas.microsoft.com/office/drawing/2014/main" id="{5673BC81-A737-4829-94E1-9B7102EFA989}"/>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275E453-56CE-4C97-9887-9090F77D489B}"/>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5748DED7-9CD6-48D6-96D8-8F7324DA412E}"/>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소수·반대 의견 검사</a:t>
            </a:r>
          </a:p>
        </p:txBody>
      </p:sp>
      <p:sp>
        <p:nvSpPr>
          <p:cNvPr id="16" name="">
            <a:extLst xmlns:a="http://schemas.openxmlformats.org/drawingml/2006/main">
              <a:ext uri="{FF2B5EF4-FFF2-40B4-BE49-F238E27FC236}">
                <a16:creationId xmlns:a16="http://schemas.microsoft.com/office/drawing/2014/main" id="{A35DC04C-B571-4135-BCBA-E311C3138067}"/>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4E1B7CEB-2A1F-4608-88D5-04CEE18D144F}"/>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E9A1F293-22C7-4BD5-98D7-61D0A125C10C}"/>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공무원 수정</a:t>
            </a:r>
          </a:p>
        </p:txBody>
      </p:sp>
      <p:sp>
        <p:nvSpPr>
          <p:cNvPr id="19" name="">
            <a:extLst xmlns:a="http://schemas.openxmlformats.org/drawingml/2006/main">
              <a:ext uri="{FF2B5EF4-FFF2-40B4-BE49-F238E27FC236}">
                <a16:creationId xmlns:a16="http://schemas.microsoft.com/office/drawing/2014/main" id="{5886103B-61B3-4EC5-92A1-5B8089704B1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71A746A-3F42-4054-8B1F-FB0D9428E64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7C1DE2EE-A0B0-4879-B170-976377F73705}"/>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 분석 자료</a:t>
            </a:r>
          </a:p>
        </p:txBody>
      </p:sp>
      <p:sp>
        <p:nvSpPr>
          <p:cNvPr id="22" name="">
            <a:extLst xmlns:a="http://schemas.openxmlformats.org/drawingml/2006/main">
              <a:ext uri="{FF2B5EF4-FFF2-40B4-BE49-F238E27FC236}">
                <a16:creationId xmlns:a16="http://schemas.microsoft.com/office/drawing/2014/main" id="{9BB4B90B-1AFA-4025-8C96-E93BF6147597}"/>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0C735FBC-7333-43B6-82B6-8D0271CBE6A4}"/>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C8EF69BB-EAE2-472A-B6F7-8E17D75CFAEC}"/>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응답·문항 자료</a:t>
            </a:r>
          </a:p>
        </p:txBody>
      </p:sp>
      <p:sp>
        <p:nvSpPr>
          <p:cNvPr id="25" name="">
            <a:extLst xmlns:a="http://schemas.openxmlformats.org/drawingml/2006/main">
              <a:ext uri="{FF2B5EF4-FFF2-40B4-BE49-F238E27FC236}">
                <a16:creationId xmlns:a16="http://schemas.microsoft.com/office/drawing/2014/main" id="{7CFDA207-944C-4345-9A44-07DE43416319}"/>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07DA825-84E7-4A74-9072-63A59A29F398}"/>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1118753F-6306-4F4E-B6E7-0901C4A358E2}"/>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원문·분류 연결</a:t>
            </a:r>
          </a:p>
        </p:txBody>
      </p:sp>
      <p:sp>
        <p:nvSpPr>
          <p:cNvPr id="28" name="">
            <a:extLst xmlns:a="http://schemas.openxmlformats.org/drawingml/2006/main">
              <a:ext uri="{FF2B5EF4-FFF2-40B4-BE49-F238E27FC236}">
                <a16:creationId xmlns:a16="http://schemas.microsoft.com/office/drawing/2014/main" id="{3C74B103-B83A-4A71-9248-BAC15552CDA7}"/>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36C69CCD-45C0-4F8E-83A8-3DD8C55A5264}"/>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A250594B-BCEA-49BE-8B3F-8E70F35E35A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 원문 조회</a:t>
            </a:r>
          </a:p>
        </p:txBody>
      </p:sp>
      <p:sp>
        <p:nvSpPr>
          <p:cNvPr id="31" name="">
            <a:extLst xmlns:a="http://schemas.openxmlformats.org/drawingml/2006/main">
              <a:ext uri="{FF2B5EF4-FFF2-40B4-BE49-F238E27FC236}">
                <a16:creationId xmlns:a16="http://schemas.microsoft.com/office/drawing/2014/main" id="{E38FBFCF-531D-44C1-A7E9-BFCE17979E19}"/>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9F6176C-DE6D-4635-93C3-8C07ED87E951}"/>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2395A57B-0E43-4601-AEDE-A67AF5F81BEB}"/>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주제·검토 이력</a:t>
            </a:r>
          </a:p>
        </p:txBody>
      </p:sp>
      <p:sp>
        <p:nvSpPr>
          <p:cNvPr id="34" name="">
            <a:extLst xmlns:a="http://schemas.openxmlformats.org/drawingml/2006/main">
              <a:ext uri="{FF2B5EF4-FFF2-40B4-BE49-F238E27FC236}">
                <a16:creationId xmlns:a16="http://schemas.microsoft.com/office/drawing/2014/main" id="{D6A6383D-F402-4485-B7D6-F1FE21C4D69A}"/>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9C3848F-0948-4638-953F-6C12852B5104}"/>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D73D65E9-FBCE-4CA4-9AA4-41FB145856AC}"/>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수작업 대조</a:t>
            </a:r>
          </a:p>
        </p:txBody>
      </p:sp>
      <p:sp>
        <p:nvSpPr>
          <p:cNvPr id="46" name="">
            <a:extLst xmlns:a="http://schemas.openxmlformats.org/drawingml/2006/main">
              <a:ext uri="{FF2B5EF4-FFF2-40B4-BE49-F238E27FC236}">
                <a16:creationId xmlns:a16="http://schemas.microsoft.com/office/drawing/2014/main" id="{4F7FB033-DC2F-4F2F-9E83-EF9A1E4856A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38709415"/>
      </p:ext>
    </p:extLst>
  </p:cSld>
</p:sld>
</file>

<file path=ppt/slides/slide1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75B9986-199A-4DEC-8D22-F04F2A23F96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논리 인터페이스·복구 설계</a:t>
            </a:r>
          </a:p>
        </p:txBody>
      </p:sp>
      <p:sp>
        <p:nvSpPr>
          <p:cNvPr id="2" name="">
            <a:extLst xmlns:a="http://schemas.openxmlformats.org/drawingml/2006/main">
              <a:ext uri="{FF2B5EF4-FFF2-40B4-BE49-F238E27FC236}">
                <a16:creationId xmlns:a16="http://schemas.microsoft.com/office/drawing/2014/main" id="{E5C695B1-BADF-4E49-98D0-979F7F27701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데이터와 예외 처리</a:t>
            </a:r>
          </a:p>
        </p:txBody>
      </p:sp>
      <p:sp>
        <p:nvSpPr>
          <p:cNvPr id="3" name="">
            <a:extLst xmlns:a="http://schemas.openxmlformats.org/drawingml/2006/main">
              <a:ext uri="{FF2B5EF4-FFF2-40B4-BE49-F238E27FC236}">
                <a16:creationId xmlns:a16="http://schemas.microsoft.com/office/drawing/2014/main" id="{355811B6-C912-444C-AB48-0B3B22EDA00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F4424C7-5369-489A-BDAF-0617280A496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0DCD484-1F6A-4739-B762-915B6392746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161</a:t>
            </a:r>
          </a:p>
        </p:txBody>
      </p:sp>
      <p:sp>
        <p:nvSpPr>
          <p:cNvPr id="6" name="">
            <a:extLst xmlns:a="http://schemas.openxmlformats.org/drawingml/2006/main">
              <a:ext uri="{FF2B5EF4-FFF2-40B4-BE49-F238E27FC236}">
                <a16:creationId xmlns:a16="http://schemas.microsoft.com/office/drawing/2014/main" id="{362DEC74-6942-437A-A72F-18D34EC3369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B97634D-F7A1-443A-AF90-8C419AD8E1D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4558E18-FD77-41C9-964C-05ED4AC4499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DEC17F54-F2CA-4E44-BA61-BCFD1BEAED9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의견 원문·주제</a:t>
            </a:r>
          </a:p>
        </p:txBody>
      </p:sp>
      <p:sp>
        <p:nvSpPr>
          <p:cNvPr id="10" name="">
            <a:extLst xmlns:a="http://schemas.openxmlformats.org/drawingml/2006/main">
              <a:ext uri="{FF2B5EF4-FFF2-40B4-BE49-F238E27FC236}">
                <a16:creationId xmlns:a16="http://schemas.microsoft.com/office/drawing/2014/main" id="{067575D2-24A1-4D12-AC03-FED2C4DAD83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D4CB7AF-C51E-4293-9B7D-FF85C3C8C237}"/>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ED1FEA14-4392-4BF9-9143-08F9B3595C0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D0B435DD-435B-48E8-9F68-A67722F397F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DF2BC8-E24C-4BFE-B67E-91C623CA7DD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5C1C9C44-997E-4F43-B232-A2B57C84B11E}"/>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주제별 요약</a:t>
            </a:r>
          </a:p>
        </p:txBody>
      </p:sp>
      <p:sp>
        <p:nvSpPr>
          <p:cNvPr id="16" name="">
            <a:extLst xmlns:a="http://schemas.openxmlformats.org/drawingml/2006/main">
              <a:ext uri="{FF2B5EF4-FFF2-40B4-BE49-F238E27FC236}">
                <a16:creationId xmlns:a16="http://schemas.microsoft.com/office/drawing/2014/main" id="{37D4C324-2FAE-42CD-A306-3612E7F70F0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A4BE45A-4E6D-42B6-B112-E8470ABC55A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36435C0D-288C-4587-B5B3-D20A329AC19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 후보</a:t>
            </a:r>
          </a:p>
        </p:txBody>
      </p:sp>
      <p:sp>
        <p:nvSpPr>
          <p:cNvPr id="19" name="">
            <a:extLst xmlns:a="http://schemas.openxmlformats.org/drawingml/2006/main">
              <a:ext uri="{FF2B5EF4-FFF2-40B4-BE49-F238E27FC236}">
                <a16:creationId xmlns:a16="http://schemas.microsoft.com/office/drawing/2014/main" id="{7291B848-D627-4D1B-9BB6-C1D2820DC89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587E87E-D814-4D7B-91B1-23A116DF4AC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EC8B819E-0A08-4227-9975-E51508D6103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주제별 요약</a:t>
            </a:r>
          </a:p>
        </p:txBody>
      </p:sp>
      <p:sp>
        <p:nvSpPr>
          <p:cNvPr id="22" name="">
            <a:extLst xmlns:a="http://schemas.openxmlformats.org/drawingml/2006/main">
              <a:ext uri="{FF2B5EF4-FFF2-40B4-BE49-F238E27FC236}">
                <a16:creationId xmlns:a16="http://schemas.microsoft.com/office/drawing/2014/main" id="{8186FE79-1807-4002-BDC5-CCC8D7ABADB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42BC4DB-EB69-49F8-B392-28E1B5528A4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A9E5A02D-DF7C-4752-AD69-7B0E314C564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검증</a:t>
            </a:r>
          </a:p>
        </p:txBody>
      </p:sp>
      <p:sp>
        <p:nvSpPr>
          <p:cNvPr id="25" name="">
            <a:extLst xmlns:a="http://schemas.openxmlformats.org/drawingml/2006/main">
              <a:ext uri="{FF2B5EF4-FFF2-40B4-BE49-F238E27FC236}">
                <a16:creationId xmlns:a16="http://schemas.microsoft.com/office/drawing/2014/main" id="{5ADB5472-093A-4B98-AE11-8FB0846120F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2733F66-B57E-4581-8E30-D6AD0492EBFE}"/>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소수 의견·반대 의견·복수 주제·중복 제출</a:t>
            </a:r>
          </a:p>
        </p:txBody>
      </p:sp>
      <p:sp>
        <p:nvSpPr>
          <p:cNvPr id="27" name="">
            <a:extLst xmlns:a="http://schemas.openxmlformats.org/drawingml/2006/main">
              <a:ext uri="{FF2B5EF4-FFF2-40B4-BE49-F238E27FC236}">
                <a16:creationId xmlns:a16="http://schemas.microsoft.com/office/drawing/2014/main" id="{193ABD22-D13A-4CD3-A7F7-3F995A843EF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5FB6B2E-9B0B-4F51-B104-337C5BBB410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소수 의견 재현·원문 역추적</a:t>
            </a:r>
          </a:p>
        </p:txBody>
      </p:sp>
      <p:sp>
        <p:nvSpPr>
          <p:cNvPr id="29" name="">
            <a:extLst xmlns:a="http://schemas.openxmlformats.org/drawingml/2006/main">
              <a:ext uri="{FF2B5EF4-FFF2-40B4-BE49-F238E27FC236}">
                <a16:creationId xmlns:a16="http://schemas.microsoft.com/office/drawing/2014/main" id="{5D505294-A2AB-4AAC-BB77-8A5644ADA34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ECD6280-B9CE-4F20-840F-1AC03DD5E2F5}"/>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수작업 결과와 대조해 분류·누락 오류 보정</a:t>
            </a:r>
          </a:p>
        </p:txBody>
      </p:sp>
      <p:sp>
        <p:nvSpPr>
          <p:cNvPr id="31" name="">
            <a:extLst xmlns:a="http://schemas.openxmlformats.org/drawingml/2006/main">
              <a:ext uri="{FF2B5EF4-FFF2-40B4-BE49-F238E27FC236}">
                <a16:creationId xmlns:a16="http://schemas.microsoft.com/office/drawing/2014/main" id="{0C7A0CB8-E08F-4279-AD42-0892B70C9DE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17D9C2A-B469-4E7F-9D94-C4E0F43B149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주제별 원문 재현과 누락·오분류 수정 기록</a:t>
            </a:r>
          </a:p>
        </p:txBody>
      </p:sp>
    </p:spTree>
    <p:extLst>
      <p:ext uri="{BB962C8B-B14F-4D97-AF65-F5344CB8AC3E}">
        <p14:creationId xmlns:p14="http://schemas.microsoft.com/office/powerpoint/2010/main" val="1023008400"/>
      </p:ext>
    </p:extLst>
  </p:cSld>
</p:sld>
</file>

<file path=ppt/slides/slide1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196A7F4-653E-42D7-85BC-97630F0FB45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CCK 비교·재현 시험 설계</a:t>
            </a:r>
          </a:p>
        </p:txBody>
      </p:sp>
      <p:sp>
        <p:nvSpPr>
          <p:cNvPr id="2" name="">
            <a:extLst xmlns:a="http://schemas.openxmlformats.org/drawingml/2006/main">
              <a:ext uri="{FF2B5EF4-FFF2-40B4-BE49-F238E27FC236}">
                <a16:creationId xmlns:a16="http://schemas.microsoft.com/office/drawing/2014/main" id="{FB91CADB-1952-47B4-A400-C07ECD84CD7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벤치마킹</a:t>
            </a:r>
          </a:p>
        </p:txBody>
      </p:sp>
      <p:sp>
        <p:nvSpPr>
          <p:cNvPr id="3" name="">
            <a:extLst xmlns:a="http://schemas.openxmlformats.org/drawingml/2006/main">
              <a:ext uri="{FF2B5EF4-FFF2-40B4-BE49-F238E27FC236}">
                <a16:creationId xmlns:a16="http://schemas.microsoft.com/office/drawing/2014/main" id="{E2B84C2D-8B9D-40F5-9393-9CD4629643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8BDE6F-3679-433D-8706-29C48687EFC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4E65FA0-287C-41C1-B76D-C708B477567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162</a:t>
            </a:r>
          </a:p>
        </p:txBody>
      </p:sp>
      <p:sp>
        <p:nvSpPr>
          <p:cNvPr id="6" name="">
            <a:extLst xmlns:a="http://schemas.openxmlformats.org/drawingml/2006/main">
              <a:ext uri="{FF2B5EF4-FFF2-40B4-BE49-F238E27FC236}">
                <a16:creationId xmlns:a16="http://schemas.microsoft.com/office/drawing/2014/main" id="{359103F5-0524-49F6-8FF7-29700444616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65159783-A690-4796-8F3F-DCDCAA5305E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대량 의견의 주제 분류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공무원 수정·해석과 결합</a:t>
            </a:r>
          </a:p>
        </p:txBody>
      </p:sp>
      <p:sp>
        <p:nvSpPr>
          <p:cNvPr id="8" name="">
            <a:extLst xmlns:a="http://schemas.openxmlformats.org/drawingml/2006/main">
              <a:ext uri="{FF2B5EF4-FFF2-40B4-BE49-F238E27FC236}">
                <a16:creationId xmlns:a16="http://schemas.microsoft.com/office/drawing/2014/main" id="{CB1E42F5-488C-4EF1-8ADA-264ACD2DE06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CD87874-9EC2-48AC-89D0-C0DAD6777B0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소수 의견·반대 근거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주제 빈도와 정책 타당성 혼동</a:t>
            </a:r>
          </a:p>
        </p:txBody>
      </p:sp>
      <p:sp>
        <p:nvSpPr>
          <p:cNvPr id="10" name="">
            <a:extLst xmlns:a="http://schemas.openxmlformats.org/drawingml/2006/main">
              <a:ext uri="{FF2B5EF4-FFF2-40B4-BE49-F238E27FC236}">
                <a16:creationId xmlns:a16="http://schemas.microsoft.com/office/drawing/2014/main" id="{1F272481-0801-4E70-A56C-6911904EE7B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77720C2B-9D6C-4C42-AA11-391F6F5702B1}"/>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소수 의견 재현·원문 역추적</a:t>
            </a:r>
          </a:p>
        </p:txBody>
      </p:sp>
      <p:sp>
        <p:nvSpPr>
          <p:cNvPr id="12" name="">
            <a:extLst xmlns:a="http://schemas.openxmlformats.org/drawingml/2006/main">
              <a:ext uri="{FF2B5EF4-FFF2-40B4-BE49-F238E27FC236}">
                <a16:creationId xmlns:a16="http://schemas.microsoft.com/office/drawing/2014/main" id="{D1276EE1-3F0F-45AD-A415-1904A379AF6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27EEE38-5B7B-4F4E-9429-7EF50BAF117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정책 의견을 주제별 분류하고 원문을 검토</a:t>
            </a:r>
          </a:p>
        </p:txBody>
      </p:sp>
      <p:sp>
        <p:nvSpPr>
          <p:cNvPr id="14" name="">
            <a:extLst xmlns:a="http://schemas.openxmlformats.org/drawingml/2006/main">
              <a:ext uri="{FF2B5EF4-FFF2-40B4-BE49-F238E27FC236}">
                <a16:creationId xmlns:a16="http://schemas.microsoft.com/office/drawing/2014/main" id="{DB337B20-5D45-4A91-8194-F23EC938B85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94B9CD4-4630-44C1-973C-58FA819ACC4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소수 의견·반대 의견·복수 주제·중복 제출</a:t>
            </a:r>
          </a:p>
        </p:txBody>
      </p:sp>
      <p:sp>
        <p:nvSpPr>
          <p:cNvPr id="16" name="">
            <a:extLst xmlns:a="http://schemas.openxmlformats.org/drawingml/2006/main">
              <a:ext uri="{FF2B5EF4-FFF2-40B4-BE49-F238E27FC236}">
                <a16:creationId xmlns:a16="http://schemas.microsoft.com/office/drawing/2014/main" id="{CEA8944F-38E6-422F-B836-37BFDF513D6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0526EB9-E676-48B1-AF43-F2231F1805E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주제별 원문 재현과 누락·오분류 수정 기록</a:t>
            </a:r>
          </a:p>
        </p:txBody>
      </p:sp>
    </p:spTree>
    <p:extLst>
      <p:ext uri="{BB962C8B-B14F-4D97-AF65-F5344CB8AC3E}">
        <p14:creationId xmlns:p14="http://schemas.microsoft.com/office/powerpoint/2010/main" val="16539811"/>
      </p:ext>
    </p:extLst>
  </p:cSld>
</p:sld>
</file>

<file path=ppt/slides/slide1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A410322-BB7B-47E9-9C01-5611BCD6BC2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부분 성과 / 해외</a:t>
            </a:r>
          </a:p>
        </p:txBody>
      </p:sp>
      <p:sp>
        <p:nvSpPr>
          <p:cNvPr id="2" name="">
            <a:extLst xmlns:a="http://schemas.openxmlformats.org/drawingml/2006/main">
              <a:ext uri="{FF2B5EF4-FFF2-40B4-BE49-F238E27FC236}">
                <a16:creationId xmlns:a16="http://schemas.microsoft.com/office/drawing/2014/main" id="{C0F623C6-A9AF-499D-8C80-B0BC77760F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a:t>
            </a:r>
          </a:p>
        </p:txBody>
      </p:sp>
      <p:sp>
        <p:nvSpPr>
          <p:cNvPr id="3" name="">
            <a:extLst xmlns:a="http://schemas.openxmlformats.org/drawingml/2006/main">
              <a:ext uri="{FF2B5EF4-FFF2-40B4-BE49-F238E27FC236}">
                <a16:creationId xmlns:a16="http://schemas.microsoft.com/office/drawing/2014/main" id="{573AF288-C5E6-4527-8E43-DB2ABEFF376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991784E-4ECD-4058-ABAA-B4346B94282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11781BA-F2F8-4AEE-B4BA-1A2F2A1F3AB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163</a:t>
            </a:r>
          </a:p>
        </p:txBody>
      </p:sp>
      <p:sp>
        <p:nvSpPr>
          <p:cNvPr id="6" name="">
            <a:extLst xmlns:a="http://schemas.openxmlformats.org/drawingml/2006/main">
              <a:ext uri="{FF2B5EF4-FFF2-40B4-BE49-F238E27FC236}">
                <a16:creationId xmlns:a16="http://schemas.microsoft.com/office/drawing/2014/main" id="{1AA3F6CA-2722-4D0D-B041-4D5AC2023F1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93566C6-EF97-410C-90A7-83393DB4575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호주 공공부문 Microsoft 365 Copilot 시험의 평가 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례. 기관 직원이 실제 업무에서 협업 AI를 사용하고 이용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경험·과업 효과·교육 부담을 비교하는 접근.</a:t>
            </a:r>
          </a:p>
        </p:txBody>
      </p:sp>
      <p:sp>
        <p:nvSpPr>
          <p:cNvPr id="8" name="">
            <a:extLst xmlns:a="http://schemas.openxmlformats.org/drawingml/2006/main">
              <a:ext uri="{FF2B5EF4-FFF2-40B4-BE49-F238E27FC236}">
                <a16:creationId xmlns:a16="http://schemas.microsoft.com/office/drawing/2014/main" id="{3F3D87C8-88EE-4F44-8106-E097629EA44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F99E9F9-BE96-4B24-B3A2-6FD1C4F3387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협업 도구와 문서 공유 권한 위에서 문서·회의·검색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지원을 수행하는 구조. 이용 로그·설문 응답·과업 평가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분리해 수집하고 기관·업무·숙련도에 따른 효과 편차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확인하는 평가 설계.</a:t>
            </a:r>
          </a:p>
        </p:txBody>
      </p:sp>
      <p:sp>
        <p:nvSpPr>
          <p:cNvPr id="10" name="">
            <a:extLst xmlns:a="http://schemas.openxmlformats.org/drawingml/2006/main">
              <a:ext uri="{FF2B5EF4-FFF2-40B4-BE49-F238E27FC236}">
                <a16:creationId xmlns:a16="http://schemas.microsoft.com/office/drawing/2014/main" id="{F3300715-495F-4250-801D-0EBAA6A78D8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7EF3162-260A-4859-B5AC-200C336D2E8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보고된 시간 절감 수치를 TS의 기대효과로 직접 전용하지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않는 것이 핵심. 도구 이용자와 미이용자의 업무 난도,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토시간, 오류 수정비용을 맞추어 비교하고 과도하게 공유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된 기존 문서의 검색 노출도 별도 점검.</a:t>
            </a:r>
          </a:p>
        </p:txBody>
      </p:sp>
      <p:sp>
        <p:nvSpPr>
          <p:cNvPr id="12" name="">
            <a:extLst xmlns:a="http://schemas.openxmlformats.org/drawingml/2006/main">
              <a:ext uri="{FF2B5EF4-FFF2-40B4-BE49-F238E27FC236}">
                <a16:creationId xmlns:a16="http://schemas.microsoft.com/office/drawing/2014/main" id="{E12E4412-515B-44F1-ADD3-99B0B9D85B9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7977A3E-9A7E-4C51-B17E-4B5909C836C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부서·직무·권한·변경 교차 평가</a:t>
            </a:r>
          </a:p>
        </p:txBody>
      </p:sp>
      <p:sp>
        <p:nvSpPr>
          <p:cNvPr id="14" name="">
            <a:extLst xmlns:a="http://schemas.openxmlformats.org/drawingml/2006/main">
              <a:ext uri="{FF2B5EF4-FFF2-40B4-BE49-F238E27FC236}">
                <a16:creationId xmlns:a16="http://schemas.microsoft.com/office/drawing/2014/main" id="{9370F686-93E4-4A57-A56F-7E40D184201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B1D4E0A-0572-448B-8D98-DA5D003247C3}"/>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완료시간·오류·총비용의 기준선·비교 평가</a:t>
            </a:r>
          </a:p>
        </p:txBody>
      </p:sp>
      <p:sp>
        <p:nvSpPr>
          <p:cNvPr id="16" name="">
            <a:extLst xmlns:a="http://schemas.openxmlformats.org/drawingml/2006/main">
              <a:ext uri="{FF2B5EF4-FFF2-40B4-BE49-F238E27FC236}">
                <a16:creationId xmlns:a16="http://schemas.microsoft.com/office/drawing/2014/main" id="{5ABEC489-E5D3-486B-806E-235AC2C226A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9BDBB3D-DE86-458D-86AA-6EBFA9E5DB4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완료시간·오류·총비용</a:t>
            </a:r>
          </a:p>
        </p:txBody>
      </p:sp>
      <p:sp>
        <p:nvSpPr>
          <p:cNvPr id="18" name="">
            <a:extLst xmlns:a="http://schemas.openxmlformats.org/drawingml/2006/main">
              <a:ext uri="{FF2B5EF4-FFF2-40B4-BE49-F238E27FC236}">
                <a16:creationId xmlns:a16="http://schemas.microsoft.com/office/drawing/2014/main" id="{CF3890FB-7CCB-45CC-8795-EA594C5C321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무작위 실험 아님. 일부 업무 하루1시간 체감 절감을 전직원 실측값으로 사용 금지</a:t>
            </a:r>
          </a:p>
        </p:txBody>
      </p:sp>
    </p:spTree>
    <p:extLst>
      <p:ext uri="{BB962C8B-B14F-4D97-AF65-F5344CB8AC3E}">
        <p14:creationId xmlns:p14="http://schemas.microsoft.com/office/powerpoint/2010/main" val="1180022004"/>
      </p:ext>
    </p:extLst>
  </p:cSld>
</p:sld>
</file>

<file path=ppt/slides/slide1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1CC95FB-343C-406E-9D3E-8223CA1BA8D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As-Is → To-Be → 기대효과 → 확인 결과</a:t>
            </a:r>
          </a:p>
        </p:txBody>
      </p:sp>
      <p:sp>
        <p:nvSpPr>
          <p:cNvPr id="2" name="">
            <a:extLst xmlns:a="http://schemas.openxmlformats.org/drawingml/2006/main">
              <a:ext uri="{FF2B5EF4-FFF2-40B4-BE49-F238E27FC236}">
                <a16:creationId xmlns:a16="http://schemas.microsoft.com/office/drawing/2014/main" id="{53958729-4FAE-4631-8545-13685A92B5F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기대와 결과</a:t>
            </a:r>
          </a:p>
        </p:txBody>
      </p:sp>
      <p:sp>
        <p:nvSpPr>
          <p:cNvPr id="3" name="">
            <a:extLst xmlns:a="http://schemas.openxmlformats.org/drawingml/2006/main">
              <a:ext uri="{FF2B5EF4-FFF2-40B4-BE49-F238E27FC236}">
                <a16:creationId xmlns:a16="http://schemas.microsoft.com/office/drawing/2014/main" id="{94BD80A5-4894-4622-980E-2B471360527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47B3931-6712-41E6-ABCC-C3ADF3E01D9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F2A87BB-7AB3-4B68-B5D5-84E27149A60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164</a:t>
            </a:r>
          </a:p>
        </p:txBody>
      </p:sp>
      <p:sp>
        <p:nvSpPr>
          <p:cNvPr id="6" name="">
            <a:extLst xmlns:a="http://schemas.openxmlformats.org/drawingml/2006/main">
              <a:ext uri="{FF2B5EF4-FFF2-40B4-BE49-F238E27FC236}">
                <a16:creationId xmlns:a16="http://schemas.microsoft.com/office/drawing/2014/main" id="{411FB989-D5CC-4997-987B-E93DA2BCD472}"/>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9DB735DD-862E-4DA5-9EB9-22FE0DBEB3E6}"/>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호주 공무원의 문서 요약·초안·정보검색과 협업이 수작업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중심</a:t>
            </a:r>
          </a:p>
        </p:txBody>
      </p:sp>
      <p:sp>
        <p:nvSpPr>
          <p:cNvPr id="8" name="">
            <a:extLst xmlns:a="http://schemas.openxmlformats.org/drawingml/2006/main">
              <a:ext uri="{FF2B5EF4-FFF2-40B4-BE49-F238E27FC236}">
                <a16:creationId xmlns:a16="http://schemas.microsoft.com/office/drawing/2014/main" id="{8FE23834-0BFF-4BC9-9BCC-AB84D63CE4E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E7F25724-D819-4D35-8D8D-0543A27E9A1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M365 Copilot을 여러 기관에 시험 배포하고 업무 맥락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교육·전후 설문으로 사용성과 평가</a:t>
            </a:r>
          </a:p>
        </p:txBody>
      </p:sp>
      <p:sp>
        <p:nvSpPr>
          <p:cNvPr id="10" name="">
            <a:extLst xmlns:a="http://schemas.openxmlformats.org/drawingml/2006/main">
              <a:ext uri="{FF2B5EF4-FFF2-40B4-BE49-F238E27FC236}">
                <a16:creationId xmlns:a16="http://schemas.microsoft.com/office/drawing/2014/main" id="{8E58A76D-6FE6-49AD-9761-AB3899C4C3FC}"/>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256C5304-AB53-4DF9-9662-5D332C7CC92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요약·초안·검색의 작업시간 감소와 품질 향상</a:t>
            </a:r>
          </a:p>
        </p:txBody>
      </p:sp>
      <p:sp>
        <p:nvSpPr>
          <p:cNvPr id="12" name="">
            <a:extLst xmlns:a="http://schemas.openxmlformats.org/drawingml/2006/main">
              <a:ext uri="{FF2B5EF4-FFF2-40B4-BE49-F238E27FC236}">
                <a16:creationId xmlns:a16="http://schemas.microsoft.com/office/drawing/2014/main" id="{CE465604-2099-444B-9544-4E1052FEBF0E}"/>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6AB5C810-87BA-4A6F-B02C-A6ADF7057EA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공식 평가에서 속도 개선 동의 69%, 품질 개선 동의 61%</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일일 사용 약 1/3. 일부 7%는 작업시간 증가 보고</a:t>
            </a:r>
          </a:p>
        </p:txBody>
      </p:sp>
      <p:sp>
        <p:nvSpPr>
          <p:cNvPr id="14" name="">
            <a:extLst xmlns:a="http://schemas.openxmlformats.org/drawingml/2006/main">
              <a:ext uri="{FF2B5EF4-FFF2-40B4-BE49-F238E27FC236}">
                <a16:creationId xmlns:a16="http://schemas.microsoft.com/office/drawing/2014/main" id="{CE54BE1A-4544-41F8-80A2-C4552FC41231}"/>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요약·초안·검색과 기관 맥락 교육에서 체감 효과 확인. 낮은 일일 사용·출력 검토와 재작업으로 전사 효과는 제</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한</a:t>
            </a:r>
          </a:p>
        </p:txBody>
      </p:sp>
      <p:sp>
        <p:nvSpPr>
          <p:cNvPr id="15" name="">
            <a:extLst xmlns:a="http://schemas.openxmlformats.org/drawingml/2006/main">
              <a:ext uri="{FF2B5EF4-FFF2-40B4-BE49-F238E27FC236}">
                <a16:creationId xmlns:a16="http://schemas.microsoft.com/office/drawing/2014/main" id="{4F3711A4-CDD1-41F0-96B2-F669ACC54DE3}"/>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실험·외부 평가 · 비무작위 참여·자기보고·기관별 버전 편차; 하루 1시간 체감 절약을 전체 직원의 실측 절감으로 일반화 금지</a:t>
            </a:r>
          </a:p>
        </p:txBody>
      </p:sp>
    </p:spTree>
    <p:extLst>
      <p:ext uri="{BB962C8B-B14F-4D97-AF65-F5344CB8AC3E}">
        <p14:creationId xmlns:p14="http://schemas.microsoft.com/office/powerpoint/2010/main" val="786898384"/>
      </p:ext>
    </p:extLst>
  </p:cSld>
</p:sld>
</file>

<file path=ppt/slides/slide1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DE748D2D-B91F-4B3C-998D-0DBD3C7D50D8}"/>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B1D743CA-9D0F-4479-9EAA-A3C545B6D5C4}"/>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B27BC9C3-5C38-4D7C-AD65-BAF0B91E97C0}"/>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37CB6272-B7B1-4221-9ED1-747E22BE80D3}"/>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51E90E33-7548-4BA5-A247-1817F60D2B7E}"/>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48E54730-A579-48FD-AB30-3590BC4B4F98}"/>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BDCC4464-13A7-4346-BC1A-C51BE28AA57A}"/>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91EA05AC-0599-4D9E-A959-EAAE4029A59C}"/>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9E81337D-1288-49BE-950A-72EA4D2920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복수 자료 결합·분석·검토·평가</a:t>
            </a:r>
          </a:p>
        </p:txBody>
      </p:sp>
      <p:sp>
        <p:nvSpPr>
          <p:cNvPr id="2" name="">
            <a:extLst xmlns:a="http://schemas.openxmlformats.org/drawingml/2006/main">
              <a:ext uri="{FF2B5EF4-FFF2-40B4-BE49-F238E27FC236}">
                <a16:creationId xmlns:a16="http://schemas.microsoft.com/office/drawing/2014/main" id="{B4020473-F5A9-44AD-94D7-B384C202216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세부 서비스 구조</a:t>
            </a:r>
          </a:p>
        </p:txBody>
      </p:sp>
      <p:sp>
        <p:nvSpPr>
          <p:cNvPr id="3" name="">
            <a:extLst xmlns:a="http://schemas.openxmlformats.org/drawingml/2006/main">
              <a:ext uri="{FF2B5EF4-FFF2-40B4-BE49-F238E27FC236}">
                <a16:creationId xmlns:a16="http://schemas.microsoft.com/office/drawing/2014/main" id="{2E5B0E32-AD91-4B20-8E99-46D1A2E4DCC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D28092-89F5-4DAE-9DEB-C66AB8514FE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CF247FD-767B-471F-BF42-16380A988B8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165</a:t>
            </a:r>
          </a:p>
        </p:txBody>
      </p:sp>
      <p:sp>
        <p:nvSpPr>
          <p:cNvPr id="6" name="">
            <a:extLst xmlns:a="http://schemas.openxmlformats.org/drawingml/2006/main">
              <a:ext uri="{FF2B5EF4-FFF2-40B4-BE49-F238E27FC236}">
                <a16:creationId xmlns:a16="http://schemas.microsoft.com/office/drawing/2014/main" id="{6E558F37-76F2-4CCE-B1A5-9B0E23476322}"/>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참여 기관 → 협업 AI 도구 → 교육·업무 활용 → 전후 설문 평가</a:t>
            </a:r>
          </a:p>
        </p:txBody>
      </p:sp>
      <p:sp>
        <p:nvSpPr>
          <p:cNvPr id="7" name="">
            <a:extLst xmlns:a="http://schemas.openxmlformats.org/drawingml/2006/main">
              <a:ext uri="{FF2B5EF4-FFF2-40B4-BE49-F238E27FC236}">
                <a16:creationId xmlns:a16="http://schemas.microsoft.com/office/drawing/2014/main" id="{6AF3C866-18CF-4CFA-A71B-EFCCA0F82E8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775758F-3735-49CD-9146-EC063A21E39A}"/>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2B2AFC97-556F-4A99-BF70-FC776DC4584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업무·설문 자료</a:t>
            </a:r>
          </a:p>
        </p:txBody>
      </p:sp>
      <p:sp>
        <p:nvSpPr>
          <p:cNvPr id="10" name="">
            <a:extLst xmlns:a="http://schemas.openxmlformats.org/drawingml/2006/main">
              <a:ext uri="{FF2B5EF4-FFF2-40B4-BE49-F238E27FC236}">
                <a16:creationId xmlns:a16="http://schemas.microsoft.com/office/drawing/2014/main" id="{DCC61E13-6EE3-4024-80BB-5752FF219A5D}"/>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74F9932-7112-4668-A3AA-0B4799416DC1}"/>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2737BDD1-FB50-4744-8038-AF361FDD5AC3}"/>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문맥 검색</a:t>
            </a:r>
          </a:p>
        </p:txBody>
      </p:sp>
      <p:sp>
        <p:nvSpPr>
          <p:cNvPr id="13" name="">
            <a:extLst xmlns:a="http://schemas.openxmlformats.org/drawingml/2006/main">
              <a:ext uri="{FF2B5EF4-FFF2-40B4-BE49-F238E27FC236}">
                <a16:creationId xmlns:a16="http://schemas.microsoft.com/office/drawing/2014/main" id="{49575583-BDA2-447A-AAA6-626B342E3868}"/>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80F1546-3C64-41FB-B33E-7B88410511D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2FC89893-926C-41F7-AA97-9164F649FED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평가 표본 분리</a:t>
            </a:r>
          </a:p>
        </p:txBody>
      </p:sp>
      <p:sp>
        <p:nvSpPr>
          <p:cNvPr id="16" name="">
            <a:extLst xmlns:a="http://schemas.openxmlformats.org/drawingml/2006/main">
              <a:ext uri="{FF2B5EF4-FFF2-40B4-BE49-F238E27FC236}">
                <a16:creationId xmlns:a16="http://schemas.microsoft.com/office/drawing/2014/main" id="{327AF041-0F2D-497B-AEE4-0093D4335744}"/>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36857DF-B5E2-4D94-85AC-25B32055FAB6}"/>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A0E5706C-3C08-471D-904F-84C266180F90}"/>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Copilot 업무 지원</a:t>
            </a:r>
          </a:p>
        </p:txBody>
      </p:sp>
      <p:sp>
        <p:nvSpPr>
          <p:cNvPr id="19" name="">
            <a:extLst xmlns:a="http://schemas.openxmlformats.org/drawingml/2006/main">
              <a:ext uri="{FF2B5EF4-FFF2-40B4-BE49-F238E27FC236}">
                <a16:creationId xmlns:a16="http://schemas.microsoft.com/office/drawing/2014/main" id="{11DF33B8-20D6-496C-AA3F-A76A276CFC9B}"/>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A60BEB3-38A2-43C3-81D5-695FCAD53596}"/>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67E2EE35-D81E-415D-B6BE-8F655CB614C9}"/>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내용·공유 검사</a:t>
            </a:r>
          </a:p>
        </p:txBody>
      </p:sp>
      <p:sp>
        <p:nvSpPr>
          <p:cNvPr id="22" name="">
            <a:extLst xmlns:a="http://schemas.openxmlformats.org/drawingml/2006/main">
              <a:ext uri="{FF2B5EF4-FFF2-40B4-BE49-F238E27FC236}">
                <a16:creationId xmlns:a16="http://schemas.microsoft.com/office/drawing/2014/main" id="{8AA5328E-DBF6-4DDC-9C59-99E01E5614F3}"/>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553B6B9-4EEE-4A95-B23F-39BADE72B10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7D0DA7A4-2438-41D9-9290-EAAFD1FD4551}"/>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검토</a:t>
            </a:r>
          </a:p>
        </p:txBody>
      </p:sp>
      <p:sp>
        <p:nvSpPr>
          <p:cNvPr id="25" name="">
            <a:extLst xmlns:a="http://schemas.openxmlformats.org/drawingml/2006/main">
              <a:ext uri="{FF2B5EF4-FFF2-40B4-BE49-F238E27FC236}">
                <a16:creationId xmlns:a16="http://schemas.microsoft.com/office/drawing/2014/main" id="{E8347F19-224B-4107-8FD3-25EF71CB4000}"/>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C39F8928-61F1-4CEE-9902-0C694EF543C4}"/>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E0B86001-10D5-4634-9D8D-38B245B8AB14}"/>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결과 활용</a:t>
            </a:r>
          </a:p>
        </p:txBody>
      </p:sp>
      <p:sp>
        <p:nvSpPr>
          <p:cNvPr id="28" name="">
            <a:extLst xmlns:a="http://schemas.openxmlformats.org/drawingml/2006/main">
              <a:ext uri="{FF2B5EF4-FFF2-40B4-BE49-F238E27FC236}">
                <a16:creationId xmlns:a16="http://schemas.microsoft.com/office/drawing/2014/main" id="{6F3B0293-5915-4D77-9997-ED0825FD1B3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660923E-EA15-4A3A-B97D-EC74A7F5C0BA}"/>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9F2896E2-8B21-4664-A4FB-10706DEF3087}"/>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기관·과업 평가</a:t>
            </a:r>
          </a:p>
        </p:txBody>
      </p:sp>
      <p:sp>
        <p:nvSpPr>
          <p:cNvPr id="39" name="">
            <a:extLst xmlns:a="http://schemas.openxmlformats.org/drawingml/2006/main">
              <a:ext uri="{FF2B5EF4-FFF2-40B4-BE49-F238E27FC236}">
                <a16:creationId xmlns:a16="http://schemas.microsoft.com/office/drawing/2014/main" id="{1019CD74-6E05-431A-A428-9A3D37F3078B}"/>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17518456"/>
      </p:ext>
    </p:extLst>
  </p:cSld>
</p:sld>
</file>

<file path=ppt/slides/slide1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3F028BD-077F-4071-9A1C-0ACFCF85585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논리 인터페이스·복구 설계</a:t>
            </a:r>
          </a:p>
        </p:txBody>
      </p:sp>
      <p:sp>
        <p:nvSpPr>
          <p:cNvPr id="2" name="">
            <a:extLst xmlns:a="http://schemas.openxmlformats.org/drawingml/2006/main">
              <a:ext uri="{FF2B5EF4-FFF2-40B4-BE49-F238E27FC236}">
                <a16:creationId xmlns:a16="http://schemas.microsoft.com/office/drawing/2014/main" id="{6A91F233-95DD-4378-AB75-B273F588E5D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데이터와 예외 처리</a:t>
            </a:r>
          </a:p>
        </p:txBody>
      </p:sp>
      <p:sp>
        <p:nvSpPr>
          <p:cNvPr id="3" name="">
            <a:extLst xmlns:a="http://schemas.openxmlformats.org/drawingml/2006/main">
              <a:ext uri="{FF2B5EF4-FFF2-40B4-BE49-F238E27FC236}">
                <a16:creationId xmlns:a16="http://schemas.microsoft.com/office/drawing/2014/main" id="{444291F9-BD3F-4D65-96DB-912D560462C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8D22FA0-7E42-41F0-A41A-C59B16621CE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65FC64F-E040-45BD-A3A1-4AF149E6454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166</a:t>
            </a:r>
          </a:p>
        </p:txBody>
      </p:sp>
      <p:sp>
        <p:nvSpPr>
          <p:cNvPr id="6" name="">
            <a:extLst xmlns:a="http://schemas.openxmlformats.org/drawingml/2006/main">
              <a:ext uri="{FF2B5EF4-FFF2-40B4-BE49-F238E27FC236}">
                <a16:creationId xmlns:a16="http://schemas.microsoft.com/office/drawing/2014/main" id="{590427D8-9AB0-4A89-AF86-23E971FE98AA}"/>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3BBE785-5914-428B-AEB8-E3367B39EAD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5BC1BE3-F725-4AF2-B4D1-E45BBDC4703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89D3AAE2-31B7-4700-B723-FCF9D19BD6F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문맥·평가 기록</a:t>
            </a:r>
          </a:p>
        </p:txBody>
      </p:sp>
      <p:sp>
        <p:nvSpPr>
          <p:cNvPr id="10" name="">
            <a:extLst xmlns:a="http://schemas.openxmlformats.org/drawingml/2006/main">
              <a:ext uri="{FF2B5EF4-FFF2-40B4-BE49-F238E27FC236}">
                <a16:creationId xmlns:a16="http://schemas.microsoft.com/office/drawing/2014/main" id="{BCF8C3AC-E1C9-4B33-9EFB-159FF1D0EBD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1EA4D7-F2A1-403A-9456-C0797210AD37}"/>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F933040B-EA0E-44DA-A93B-B9D9E54E7C4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지원 결과</a:t>
            </a:r>
          </a:p>
        </p:txBody>
      </p:sp>
      <p:sp>
        <p:nvSpPr>
          <p:cNvPr id="13" name="">
            <a:extLst xmlns:a="http://schemas.openxmlformats.org/drawingml/2006/main">
              <a:ext uri="{FF2B5EF4-FFF2-40B4-BE49-F238E27FC236}">
                <a16:creationId xmlns:a16="http://schemas.microsoft.com/office/drawing/2014/main" id="{37B53A8E-EC14-4708-9829-979F9B7BB7E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09AFE7-7891-44A4-BB02-D5DE05D1D01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E56FB144-CEAD-4D9A-B8E1-40D37A59F33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30B3437F-BEE2-4C47-9543-3D2D2A62360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54728D9-75FE-4AB9-94F8-C69CD11CF8A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14C2D4A0-DAFB-4DB6-8912-ACEEE8854E6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현업 활용</a:t>
            </a:r>
          </a:p>
        </p:txBody>
      </p:sp>
      <p:sp>
        <p:nvSpPr>
          <p:cNvPr id="19" name="">
            <a:extLst xmlns:a="http://schemas.openxmlformats.org/drawingml/2006/main">
              <a:ext uri="{FF2B5EF4-FFF2-40B4-BE49-F238E27FC236}">
                <a16:creationId xmlns:a16="http://schemas.microsoft.com/office/drawing/2014/main" id="{0B0E12B7-17F6-45FB-9FC3-F13964ED6E07}"/>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032DAEA-2D50-4417-ADFA-A67A0558BE3B}"/>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F6F12AE4-7D7C-4C55-AC69-BB692B931F2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현업 활용</a:t>
            </a:r>
          </a:p>
        </p:txBody>
      </p:sp>
      <p:sp>
        <p:nvSpPr>
          <p:cNvPr id="22" name="">
            <a:extLst xmlns:a="http://schemas.openxmlformats.org/drawingml/2006/main">
              <a:ext uri="{FF2B5EF4-FFF2-40B4-BE49-F238E27FC236}">
                <a16:creationId xmlns:a16="http://schemas.microsoft.com/office/drawing/2014/main" id="{7BC49667-080A-47E9-A216-4B1D9CDF009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47127A9-23BE-4019-BE0E-A8176C755B4D}"/>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D2767090-C0E8-4F61-81F9-11A58C50928E}"/>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전후 평가</a:t>
            </a:r>
          </a:p>
        </p:txBody>
      </p:sp>
      <p:sp>
        <p:nvSpPr>
          <p:cNvPr id="25" name="">
            <a:extLst xmlns:a="http://schemas.openxmlformats.org/drawingml/2006/main">
              <a:ext uri="{FF2B5EF4-FFF2-40B4-BE49-F238E27FC236}">
                <a16:creationId xmlns:a16="http://schemas.microsoft.com/office/drawing/2014/main" id="{B2D8EAF6-AD97-4C89-9DC7-74DF24B7F59A}"/>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26B9BCD5-413B-4654-91D1-4C407C8D48A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숙련도 차이·미사용자 제외·어려운 과업 누락</a:t>
            </a:r>
          </a:p>
        </p:txBody>
      </p:sp>
      <p:sp>
        <p:nvSpPr>
          <p:cNvPr id="27" name="">
            <a:extLst xmlns:a="http://schemas.openxmlformats.org/drawingml/2006/main">
              <a:ext uri="{FF2B5EF4-FFF2-40B4-BE49-F238E27FC236}">
                <a16:creationId xmlns:a16="http://schemas.microsoft.com/office/drawing/2014/main" id="{E930245F-03B3-4BF5-B5D8-E87DED2B171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5DD37E8-0A3A-405B-89D7-F3CDA916289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과업·숙련도별 비교와 실패 비용 포함</a:t>
            </a:r>
          </a:p>
        </p:txBody>
      </p:sp>
      <p:sp>
        <p:nvSpPr>
          <p:cNvPr id="29" name="">
            <a:extLst xmlns:a="http://schemas.openxmlformats.org/drawingml/2006/main">
              <a:ext uri="{FF2B5EF4-FFF2-40B4-BE49-F238E27FC236}">
                <a16:creationId xmlns:a16="http://schemas.microsoft.com/office/drawing/2014/main" id="{26A2BEEE-04CF-4314-A8E7-81861D69969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A18F9A3-7210-4F66-8F8C-5CF23BEF381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기관·과업별 효과와 학습 부담·실패 비용 분석</a:t>
            </a:r>
          </a:p>
        </p:txBody>
      </p:sp>
      <p:sp>
        <p:nvSpPr>
          <p:cNvPr id="31" name="">
            <a:extLst xmlns:a="http://schemas.openxmlformats.org/drawingml/2006/main">
              <a:ext uri="{FF2B5EF4-FFF2-40B4-BE49-F238E27FC236}">
                <a16:creationId xmlns:a16="http://schemas.microsoft.com/office/drawing/2014/main" id="{33499FB7-3325-47BD-943D-9A9FDE5BA07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898DFC5-CBBB-4D81-B4FF-34371DDE57DF}"/>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기관·과업·숙련도별 비교표와 오류·재작업 기록</a:t>
            </a:r>
          </a:p>
        </p:txBody>
      </p:sp>
    </p:spTree>
    <p:extLst>
      <p:ext uri="{BB962C8B-B14F-4D97-AF65-F5344CB8AC3E}">
        <p14:creationId xmlns:p14="http://schemas.microsoft.com/office/powerpoint/2010/main" val="460658883"/>
      </p:ext>
    </p:extLst>
  </p:cSld>
</p:sld>
</file>

<file path=ppt/slides/slide1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4D77936-F5E8-492D-B691-82D06BB64F8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CCK 비교·재현 시험 설계</a:t>
            </a:r>
          </a:p>
        </p:txBody>
      </p:sp>
      <p:sp>
        <p:nvSpPr>
          <p:cNvPr id="2" name="">
            <a:extLst xmlns:a="http://schemas.openxmlformats.org/drawingml/2006/main">
              <a:ext uri="{FF2B5EF4-FFF2-40B4-BE49-F238E27FC236}">
                <a16:creationId xmlns:a16="http://schemas.microsoft.com/office/drawing/2014/main" id="{DA20CFE4-21FC-40A2-BC79-A4DADD7A356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벤치마킹</a:t>
            </a:r>
          </a:p>
        </p:txBody>
      </p:sp>
      <p:sp>
        <p:nvSpPr>
          <p:cNvPr id="3" name="">
            <a:extLst xmlns:a="http://schemas.openxmlformats.org/drawingml/2006/main">
              <a:ext uri="{FF2B5EF4-FFF2-40B4-BE49-F238E27FC236}">
                <a16:creationId xmlns:a16="http://schemas.microsoft.com/office/drawing/2014/main" id="{1E77DC84-E206-46FE-BA40-581C3B21174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238E451-A366-47F0-BCE5-98DD5773249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DAAEF34-29FB-4BB6-872E-5E36B0ACEF4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167</a:t>
            </a:r>
          </a:p>
        </p:txBody>
      </p:sp>
      <p:sp>
        <p:nvSpPr>
          <p:cNvPr id="6" name="">
            <a:extLst xmlns:a="http://schemas.openxmlformats.org/drawingml/2006/main">
              <a:ext uri="{FF2B5EF4-FFF2-40B4-BE49-F238E27FC236}">
                <a16:creationId xmlns:a16="http://schemas.microsoft.com/office/drawing/2014/main" id="{3D14907D-29E9-4158-9B9A-B928A460F4E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75EE3281-16A7-47E1-9146-6CE61E22A3B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협업 환경과 교육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참여기관의 전후 평가</a:t>
            </a:r>
          </a:p>
        </p:txBody>
      </p:sp>
      <p:sp>
        <p:nvSpPr>
          <p:cNvPr id="8" name="">
            <a:extLst xmlns:a="http://schemas.openxmlformats.org/drawingml/2006/main">
              <a:ext uri="{FF2B5EF4-FFF2-40B4-BE49-F238E27FC236}">
                <a16:creationId xmlns:a16="http://schemas.microsoft.com/office/drawing/2014/main" id="{001C894E-6E86-48AC-B4CD-02913601C3D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7F8C6B8-1B3B-4F12-BCF5-1A5C141B499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학습·조직 준비도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설문 변화의 인과효과 단정</a:t>
            </a:r>
          </a:p>
        </p:txBody>
      </p:sp>
      <p:sp>
        <p:nvSpPr>
          <p:cNvPr id="10" name="">
            <a:extLst xmlns:a="http://schemas.openxmlformats.org/drawingml/2006/main">
              <a:ext uri="{FF2B5EF4-FFF2-40B4-BE49-F238E27FC236}">
                <a16:creationId xmlns:a16="http://schemas.microsoft.com/office/drawing/2014/main" id="{22C457F4-30A4-4069-80A9-CC07DF3F8DB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206766AA-E3C2-4C1D-8E2E-559F8FA8DC9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과업·숙련도별 비교와 실패 비용 포함</a:t>
            </a:r>
          </a:p>
        </p:txBody>
      </p:sp>
      <p:sp>
        <p:nvSpPr>
          <p:cNvPr id="12" name="">
            <a:extLst xmlns:a="http://schemas.openxmlformats.org/drawingml/2006/main">
              <a:ext uri="{FF2B5EF4-FFF2-40B4-BE49-F238E27FC236}">
                <a16:creationId xmlns:a16="http://schemas.microsoft.com/office/drawing/2014/main" id="{50296738-3FF4-43F4-AEF4-8D9F506EAA3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162BB35-4CDB-440F-9D07-4B53B43DA11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업무를 지원 전후 수행하고 검토시간까지 측</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a:t>
            </a:r>
          </a:p>
        </p:txBody>
      </p:sp>
      <p:sp>
        <p:nvSpPr>
          <p:cNvPr id="14" name="">
            <a:extLst xmlns:a="http://schemas.openxmlformats.org/drawingml/2006/main">
              <a:ext uri="{FF2B5EF4-FFF2-40B4-BE49-F238E27FC236}">
                <a16:creationId xmlns:a16="http://schemas.microsoft.com/office/drawing/2014/main" id="{2D1276B2-B0A2-4061-A139-C23B5B6899B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571350D-9A7A-4749-A3BF-D95ED63C0CE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숙련도 차이·미사용자 제외·어려운 과업 누락</a:t>
            </a:r>
          </a:p>
        </p:txBody>
      </p:sp>
      <p:sp>
        <p:nvSpPr>
          <p:cNvPr id="16" name="">
            <a:extLst xmlns:a="http://schemas.openxmlformats.org/drawingml/2006/main">
              <a:ext uri="{FF2B5EF4-FFF2-40B4-BE49-F238E27FC236}">
                <a16:creationId xmlns:a16="http://schemas.microsoft.com/office/drawing/2014/main" id="{30FD96AF-9AF4-4707-9980-B6643F01B5E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41299F3-42F4-4729-9B24-B2685BBEC70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기관·과업·숙련도별 비교표와 오류·재작업 기록</a:t>
            </a:r>
          </a:p>
        </p:txBody>
      </p:sp>
    </p:spTree>
    <p:extLst>
      <p:ext uri="{BB962C8B-B14F-4D97-AF65-F5344CB8AC3E}">
        <p14:creationId xmlns:p14="http://schemas.microsoft.com/office/powerpoint/2010/main" val="1477773869"/>
      </p:ext>
    </p:extLst>
  </p:cSld>
</p:sld>
</file>

<file path=ppt/slides/slide1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0FA0C71-CDC6-4434-BBE8-2138D8A8FBF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성과 미검증 / 해외</a:t>
            </a:r>
          </a:p>
        </p:txBody>
      </p:sp>
      <p:sp>
        <p:nvSpPr>
          <p:cNvPr id="2" name="">
            <a:extLst xmlns:a="http://schemas.openxmlformats.org/drawingml/2006/main">
              <a:ext uri="{FF2B5EF4-FFF2-40B4-BE49-F238E27FC236}">
                <a16:creationId xmlns:a16="http://schemas.microsoft.com/office/drawing/2014/main" id="{104DB68E-F67E-45F5-A6CC-11CE4F1183F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a:t>
            </a:r>
          </a:p>
        </p:txBody>
      </p:sp>
      <p:sp>
        <p:nvSpPr>
          <p:cNvPr id="3" name="">
            <a:extLst xmlns:a="http://schemas.openxmlformats.org/drawingml/2006/main">
              <a:ext uri="{FF2B5EF4-FFF2-40B4-BE49-F238E27FC236}">
                <a16:creationId xmlns:a16="http://schemas.microsoft.com/office/drawing/2014/main" id="{D2CBB4F1-C97E-40BC-BEDD-E78B105148F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70D1970-7919-43A2-BFEB-DE3B2CA368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5426329-DBEF-4B30-B79D-67803DCC76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168</a:t>
            </a:r>
          </a:p>
        </p:txBody>
      </p:sp>
      <p:sp>
        <p:nvSpPr>
          <p:cNvPr id="6" name="">
            <a:extLst xmlns:a="http://schemas.openxmlformats.org/drawingml/2006/main">
              <a:ext uri="{FF2B5EF4-FFF2-40B4-BE49-F238E27FC236}">
                <a16:creationId xmlns:a16="http://schemas.microsoft.com/office/drawing/2014/main" id="{9D098EDD-AE21-4186-BF24-8645BA9D82B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F78627B-C784-41E2-A2C8-FE68627186C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BBVA의 전사 AI 활용과 전문화 GPT 확산 사례. 공통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도구 도입 이후 현업 사용자가 자신의 업무에 맞는 지시·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자료를 구성하고 전담 조직이 활용과 교육을 지원하는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운영 방식.</a:t>
            </a:r>
          </a:p>
        </p:txBody>
      </p:sp>
      <p:sp>
        <p:nvSpPr>
          <p:cNvPr id="8" name="">
            <a:extLst xmlns:a="http://schemas.openxmlformats.org/drawingml/2006/main">
              <a:ext uri="{FF2B5EF4-FFF2-40B4-BE49-F238E27FC236}">
                <a16:creationId xmlns:a16="http://schemas.microsoft.com/office/drawing/2014/main" id="{944DEE67-5373-4054-93A7-67FC26F1080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C7A10E2-5666-4D3D-8675-AD73573D7A9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직원 접근, 기업용 AI 환경, 업무별 GPT, 지식·프롬프트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관리, 현업 검토, 활용 피드백의 흐름으로 재구성. 실제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권한 구현은 공개된 활용 설명과 구분하고 민감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 입력과 업무 결과 사용의 책임을 별도 설계.</a:t>
            </a:r>
          </a:p>
        </p:txBody>
      </p:sp>
      <p:sp>
        <p:nvSpPr>
          <p:cNvPr id="10" name="">
            <a:extLst xmlns:a="http://schemas.openxmlformats.org/drawingml/2006/main">
              <a:ext uri="{FF2B5EF4-FFF2-40B4-BE49-F238E27FC236}">
                <a16:creationId xmlns:a16="http://schemas.microsoft.com/office/drawing/2014/main" id="{7353091A-D883-4981-A184-03B89D7ED89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AAEA721-0244-4F29-99A8-24B2B95EA05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TS에서의 비교 기준은 생성한 봇 수보다 검증된 업무 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위의 정착 여부. 부서 소유자·업무 범위·근거 자료·시험 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과·중단 조건을 갖춘 서비스 목록을 운영하고 전보 이후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소유권 이전을 공통 기능으로 관리할 필요.</a:t>
            </a:r>
          </a:p>
        </p:txBody>
      </p:sp>
      <p:sp>
        <p:nvSpPr>
          <p:cNvPr id="12" name="">
            <a:extLst xmlns:a="http://schemas.openxmlformats.org/drawingml/2006/main">
              <a:ext uri="{FF2B5EF4-FFF2-40B4-BE49-F238E27FC236}">
                <a16:creationId xmlns:a16="http://schemas.microsoft.com/office/drawing/2014/main" id="{F8CD97FA-7ABF-496B-BDD1-08330B81118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14DF185-0C36-4CB9-8047-03225FD9E4F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883EC452-4AB6-4351-92F5-CE6478E34B1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0808AEA-C619-47B2-9BEC-8718B29C8DB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B466E300-C41A-468C-A180-15897F6404B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1D0731C-7BFD-42C7-B196-6F45B28630E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C78A4BF3-981D-4C44-A460-104EA0E3BD4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12만명 전사 확대는 발표 계획과 초기11,000명 실적을 구분. 독립 ROI 검증 아님</a:t>
            </a:r>
          </a:p>
        </p:txBody>
      </p:sp>
    </p:spTree>
    <p:extLst>
      <p:ext uri="{BB962C8B-B14F-4D97-AF65-F5344CB8AC3E}">
        <p14:creationId xmlns:p14="http://schemas.microsoft.com/office/powerpoint/2010/main" val="693497300"/>
      </p:ext>
    </p:extLst>
  </p:cSld>
</p:sld>
</file>

<file path=ppt/slides/slide1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E7105F-BCB2-4B66-9AD7-8681E8317EB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As-Is → To-Be → 기대효과 → 확인 결과</a:t>
            </a:r>
          </a:p>
        </p:txBody>
      </p:sp>
      <p:sp>
        <p:nvSpPr>
          <p:cNvPr id="2" name="">
            <a:extLst xmlns:a="http://schemas.openxmlformats.org/drawingml/2006/main">
              <a:ext uri="{FF2B5EF4-FFF2-40B4-BE49-F238E27FC236}">
                <a16:creationId xmlns:a16="http://schemas.microsoft.com/office/drawing/2014/main" id="{021EB18B-1394-4260-B782-1AB1A8D4F34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기대와 결과</a:t>
            </a:r>
          </a:p>
        </p:txBody>
      </p:sp>
      <p:sp>
        <p:nvSpPr>
          <p:cNvPr id="3" name="">
            <a:extLst xmlns:a="http://schemas.openxmlformats.org/drawingml/2006/main">
              <a:ext uri="{FF2B5EF4-FFF2-40B4-BE49-F238E27FC236}">
                <a16:creationId xmlns:a16="http://schemas.microsoft.com/office/drawing/2014/main" id="{0EE5386F-E5B2-43D3-A6E6-7BECBB85393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4946B4-8F46-4855-9526-D5F6694DA4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775EA00-796A-4E13-A35C-812036A16D1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169</a:t>
            </a:r>
          </a:p>
        </p:txBody>
      </p:sp>
      <p:sp>
        <p:nvSpPr>
          <p:cNvPr id="6" name="">
            <a:extLst xmlns:a="http://schemas.openxmlformats.org/drawingml/2006/main">
              <a:ext uri="{FF2B5EF4-FFF2-40B4-BE49-F238E27FC236}">
                <a16:creationId xmlns:a16="http://schemas.microsoft.com/office/drawing/2014/main" id="{F075BFF1-569B-4A5F-A86B-BA065EBAD7D6}"/>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F2500883-A7FD-4FC1-8DF4-F31CB13A8575}"/>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은행 부서마다 안전한 생성형 AI 이용과 업무별 GPT 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성·교육 필요</a:t>
            </a:r>
          </a:p>
        </p:txBody>
      </p:sp>
      <p:sp>
        <p:nvSpPr>
          <p:cNvPr id="8" name="">
            <a:extLst xmlns:a="http://schemas.openxmlformats.org/drawingml/2006/main">
              <a:ext uri="{FF2B5EF4-FFF2-40B4-BE49-F238E27FC236}">
                <a16:creationId xmlns:a16="http://schemas.microsoft.com/office/drawing/2014/main" id="{4C27CB87-87EF-434D-B417-8ACD53088B11}"/>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8664CFD0-80F2-48C8-8694-7A5B61209E73}"/>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ChatGPT Enterprise와 전문화 GPT를 단계적으로 전사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확대하고 Global AI Adoption 조직이 활용 지원</a:t>
            </a:r>
          </a:p>
        </p:txBody>
      </p:sp>
      <p:sp>
        <p:nvSpPr>
          <p:cNvPr id="10" name="">
            <a:extLst xmlns:a="http://schemas.openxmlformats.org/drawingml/2006/main">
              <a:ext uri="{FF2B5EF4-FFF2-40B4-BE49-F238E27FC236}">
                <a16:creationId xmlns:a16="http://schemas.microsoft.com/office/drawing/2014/main" id="{04881E09-9238-45EE-BB66-49724B493A7A}"/>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7E2FF07A-809B-418D-9F11-EC9EBF0F8C7E}"/>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준비시간 감소와 부서별 혁신 사례의 빠른 확산</a:t>
            </a:r>
          </a:p>
        </p:txBody>
      </p:sp>
      <p:sp>
        <p:nvSpPr>
          <p:cNvPr id="12" name="">
            <a:extLst xmlns:a="http://schemas.openxmlformats.org/drawingml/2006/main">
              <a:ext uri="{FF2B5EF4-FFF2-40B4-BE49-F238E27FC236}">
                <a16:creationId xmlns:a16="http://schemas.microsoft.com/office/drawing/2014/main" id="{341EA099-4460-4171-A5B1-61D24331DF69}"/>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3ADF0806-3B72-4C46-801A-4CB80995FFB9}"/>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BBVA의 초기 1.1만 명 활용 및 전사 확대 협약 발표. 발표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확대 대상과 실제 활성 이용·독립 ROI는 다름</a:t>
            </a:r>
          </a:p>
        </p:txBody>
      </p:sp>
      <p:sp>
        <p:nvSpPr>
          <p:cNvPr id="14" name="">
            <a:extLst xmlns:a="http://schemas.openxmlformats.org/drawingml/2006/main">
              <a:ext uri="{FF2B5EF4-FFF2-40B4-BE49-F238E27FC236}">
                <a16:creationId xmlns:a16="http://schemas.microsoft.com/office/drawing/2014/main" id="{72469FDB-01A2-439F-90A4-3BB64364C8CD}"/>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활용 인원·확대 계획만으로 고객 서비스 품질·업무별 생산성 효과 확인 불가</a:t>
            </a:r>
          </a:p>
        </p:txBody>
      </p:sp>
      <p:sp>
        <p:nvSpPr>
          <p:cNvPr id="15" name="">
            <a:extLst xmlns:a="http://schemas.openxmlformats.org/drawingml/2006/main">
              <a:ext uri="{FF2B5EF4-FFF2-40B4-BE49-F238E27FC236}">
                <a16:creationId xmlns:a16="http://schemas.microsoft.com/office/drawing/2014/main" id="{2E17DF51-6D8F-474F-BD21-6B544BDB20C8}"/>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기업 활용 발표 + 확대 계획 · 기업 자체 발표에 한정; 은행 규제·민감자료 통제와 부서별 재작업 비용 포함</a:t>
            </a:r>
          </a:p>
        </p:txBody>
      </p:sp>
    </p:spTree>
    <p:extLst>
      <p:ext uri="{BB962C8B-B14F-4D97-AF65-F5344CB8AC3E}">
        <p14:creationId xmlns:p14="http://schemas.microsoft.com/office/powerpoint/2010/main" val="1304830072"/>
      </p:ext>
    </p:extLst>
  </p:cSld>
</p:sld>
</file>

<file path=ppt/slides/slide1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B6B5118-0870-41AE-A840-9C3ECDC6E8DC}"/>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8291305-E611-4C3A-9DFD-9516B161A6EE}"/>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37E63E02-99EE-4D13-A5F3-34C1810A8376}"/>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1B0C2C3-F824-48CC-B802-E0FCCD6B5657}"/>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44E6FD3A-F1CF-43D8-A062-36177D2A8C99}"/>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9D2E4DE-FE25-4416-900B-F8A54FDCAA09}"/>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A8A11A71-C358-495F-B388-A71F53D3516F}"/>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67185ACC-5AD2-4068-BFBF-AAA8DD5AEEF2}"/>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94C77CA2-17CD-49B5-8443-DE79E5099A5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1AC974FF-2F92-461D-A557-6B2A84E5895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권한·목적 판정 후 허용·차단 분기</a:t>
            </a:r>
          </a:p>
        </p:txBody>
      </p:sp>
      <p:sp>
        <p:nvSpPr>
          <p:cNvPr id="2" name="">
            <a:extLst xmlns:a="http://schemas.openxmlformats.org/drawingml/2006/main">
              <a:ext uri="{FF2B5EF4-FFF2-40B4-BE49-F238E27FC236}">
                <a16:creationId xmlns:a16="http://schemas.microsoft.com/office/drawing/2014/main" id="{AF939D1E-CDF2-482B-B125-4C9C617E3A1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세부 서비스 구조</a:t>
            </a:r>
          </a:p>
        </p:txBody>
      </p:sp>
      <p:sp>
        <p:nvSpPr>
          <p:cNvPr id="3" name="">
            <a:extLst xmlns:a="http://schemas.openxmlformats.org/drawingml/2006/main">
              <a:ext uri="{FF2B5EF4-FFF2-40B4-BE49-F238E27FC236}">
                <a16:creationId xmlns:a16="http://schemas.microsoft.com/office/drawing/2014/main" id="{91542D5D-F2BC-409A-B2B9-3DEF0349FC3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C857CC8-9443-4663-96F2-DABFDF33A70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28ADA43-1130-4A14-9595-6E2FC1C2011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170</a:t>
            </a:r>
          </a:p>
        </p:txBody>
      </p:sp>
      <p:sp>
        <p:nvSpPr>
          <p:cNvPr id="6" name="">
            <a:extLst xmlns:a="http://schemas.openxmlformats.org/drawingml/2006/main">
              <a:ext uri="{FF2B5EF4-FFF2-40B4-BE49-F238E27FC236}">
                <a16:creationId xmlns:a16="http://schemas.microsoft.com/office/drawing/2014/main" id="{171144E4-8305-4459-8A17-24CFE221447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기업 AI 환경 → 업무 GPT → 현업 활용 지원 → 확산·성과 관측</a:t>
            </a:r>
          </a:p>
        </p:txBody>
      </p:sp>
      <p:sp>
        <p:nvSpPr>
          <p:cNvPr id="7" name="">
            <a:extLst xmlns:a="http://schemas.openxmlformats.org/drawingml/2006/main">
              <a:ext uri="{FF2B5EF4-FFF2-40B4-BE49-F238E27FC236}">
                <a16:creationId xmlns:a16="http://schemas.microsoft.com/office/drawing/2014/main" id="{85654595-F3B7-44A2-9A7F-34F1CE5B5F4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F114643-9C22-48A3-B2A5-838EEF7D579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B1C83E72-100F-491C-92ED-CC7F51EFC8CA}"/>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직원·GPT 접점</a:t>
            </a:r>
          </a:p>
        </p:txBody>
      </p:sp>
      <p:sp>
        <p:nvSpPr>
          <p:cNvPr id="10" name="">
            <a:extLst xmlns:a="http://schemas.openxmlformats.org/drawingml/2006/main">
              <a:ext uri="{FF2B5EF4-FFF2-40B4-BE49-F238E27FC236}">
                <a16:creationId xmlns:a16="http://schemas.microsoft.com/office/drawing/2014/main" id="{DCC7ADE5-60EC-4716-B54A-F09D33163F47}"/>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51660390-324E-44DD-AFEE-26A3023C9B0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ABBE2538-1551-44F0-929B-A2C7D48BD756}"/>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업무·민감범위</a:t>
            </a:r>
          </a:p>
        </p:txBody>
      </p:sp>
      <p:sp>
        <p:nvSpPr>
          <p:cNvPr id="13" name="">
            <a:extLst xmlns:a="http://schemas.openxmlformats.org/drawingml/2006/main">
              <a:ext uri="{FF2B5EF4-FFF2-40B4-BE49-F238E27FC236}">
                <a16:creationId xmlns:a16="http://schemas.microsoft.com/office/drawing/2014/main" id="{7500E6BC-6325-4068-91A4-9749E6AB2319}"/>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BF745DC-A0C7-42AF-867B-9D46DF11661A}"/>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C3E6B7D3-4C21-4694-B78E-AE2E67FB3338}"/>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부서별 이용범위</a:t>
            </a:r>
          </a:p>
        </p:txBody>
      </p:sp>
      <p:sp>
        <p:nvSpPr>
          <p:cNvPr id="16" name="">
            <a:extLst xmlns:a="http://schemas.openxmlformats.org/drawingml/2006/main">
              <a:ext uri="{FF2B5EF4-FFF2-40B4-BE49-F238E27FC236}">
                <a16:creationId xmlns:a16="http://schemas.microsoft.com/office/drawing/2014/main" id="{7234EEB7-126A-44B1-8125-E4B150EC4FE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6BFA2FB-D9AB-40DA-AFB8-1AE47DB5BC1D}"/>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125BFDF8-DCD9-4DAF-B725-64E357B62F7C}"/>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근거·권한 검사</a:t>
            </a:r>
          </a:p>
        </p:txBody>
      </p:sp>
      <p:sp>
        <p:nvSpPr>
          <p:cNvPr id="19" name="">
            <a:extLst xmlns:a="http://schemas.openxmlformats.org/drawingml/2006/main">
              <a:ext uri="{FF2B5EF4-FFF2-40B4-BE49-F238E27FC236}">
                <a16:creationId xmlns:a16="http://schemas.microsoft.com/office/drawing/2014/main" id="{1654AED9-29F6-4D51-94B0-0C5E2945950E}"/>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A623160-F645-4EFD-81BC-C091F3A613BE}"/>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372FBC9E-0690-4646-BBD5-787315BE8943}"/>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지식·지시</a:t>
            </a:r>
          </a:p>
        </p:txBody>
      </p:sp>
      <p:sp>
        <p:nvSpPr>
          <p:cNvPr id="22" name="">
            <a:extLst xmlns:a="http://schemas.openxmlformats.org/drawingml/2006/main">
              <a:ext uri="{FF2B5EF4-FFF2-40B4-BE49-F238E27FC236}">
                <a16:creationId xmlns:a16="http://schemas.microsoft.com/office/drawing/2014/main" id="{6FF5DF33-E9E7-491B-91C8-1084CFF06AA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3178081-CA34-4B14-B8C3-F84E45F72A64}"/>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BC4CB31A-F14F-482D-B0BB-34EE52229C18}"/>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기업 AI·전문화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GPT</a:t>
            </a:r>
          </a:p>
        </p:txBody>
      </p:sp>
      <p:sp>
        <p:nvSpPr>
          <p:cNvPr id="25" name="">
            <a:extLst xmlns:a="http://schemas.openxmlformats.org/drawingml/2006/main">
              <a:ext uri="{FF2B5EF4-FFF2-40B4-BE49-F238E27FC236}">
                <a16:creationId xmlns:a16="http://schemas.microsoft.com/office/drawing/2014/main" id="{48FECA07-5A37-47C9-B718-7901B84B150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CFBE5E4-2C62-4F46-BB6F-356CC9DA066F}"/>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73060C5D-4F26-4B78-8620-69BAEE9A362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담당 확인</a:t>
            </a:r>
          </a:p>
        </p:txBody>
      </p:sp>
      <p:sp>
        <p:nvSpPr>
          <p:cNvPr id="28" name="">
            <a:extLst xmlns:a="http://schemas.openxmlformats.org/drawingml/2006/main">
              <a:ext uri="{FF2B5EF4-FFF2-40B4-BE49-F238E27FC236}">
                <a16:creationId xmlns:a16="http://schemas.microsoft.com/office/drawing/2014/main" id="{A847978A-61C7-4EB7-A443-80B0396BC38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40140E8F-1B8F-4816-86F7-0E305367552F}"/>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07F006E8-27FC-4021-B58F-A9A9D8CE68BE}"/>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결과 활용</a:t>
            </a:r>
          </a:p>
        </p:txBody>
      </p:sp>
      <p:sp>
        <p:nvSpPr>
          <p:cNvPr id="31" name="">
            <a:extLst xmlns:a="http://schemas.openxmlformats.org/drawingml/2006/main">
              <a:ext uri="{FF2B5EF4-FFF2-40B4-BE49-F238E27FC236}">
                <a16:creationId xmlns:a16="http://schemas.microsoft.com/office/drawing/2014/main" id="{B0DB84BF-B91F-4685-9201-676B33C826B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9EF6FFA-236A-43DD-8D46-7F1DBFEBA342}"/>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490A93EF-739E-4697-ACC4-7C2BF6F5EDA8}"/>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채택 조직 평가</a:t>
            </a:r>
          </a:p>
        </p:txBody>
      </p:sp>
      <p:sp>
        <p:nvSpPr>
          <p:cNvPr id="34" name="">
            <a:extLst xmlns:a="http://schemas.openxmlformats.org/drawingml/2006/main">
              <a:ext uri="{FF2B5EF4-FFF2-40B4-BE49-F238E27FC236}">
                <a16:creationId xmlns:a16="http://schemas.microsoft.com/office/drawing/2014/main" id="{93397817-1ECE-4407-AA0C-67A9FC8938B8}"/>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48EFF27-8915-4249-B01C-6F495BBAA0E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44FFDB04-0557-4C58-89AA-782730BD0D5F}"/>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GPT·활용 기록</a:t>
            </a:r>
          </a:p>
        </p:txBody>
      </p:sp>
      <p:sp>
        <p:nvSpPr>
          <p:cNvPr id="46" name="">
            <a:extLst xmlns:a="http://schemas.openxmlformats.org/drawingml/2006/main">
              <a:ext uri="{FF2B5EF4-FFF2-40B4-BE49-F238E27FC236}">
                <a16:creationId xmlns:a16="http://schemas.microsoft.com/office/drawing/2014/main" id="{C30E9F39-9D85-44BA-A8F5-46B17516CD3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049323443"/>
      </p:ext>
    </p:extLst>
  </p:cSld>
</p:sld>
</file>

<file path=ppt/slides/slide1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EE3A6A9-6B6E-4C47-8406-6750487DBA4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논리 인터페이스·복구 설계</a:t>
            </a:r>
          </a:p>
        </p:txBody>
      </p:sp>
      <p:sp>
        <p:nvSpPr>
          <p:cNvPr id="2" name="">
            <a:extLst xmlns:a="http://schemas.openxmlformats.org/drawingml/2006/main">
              <a:ext uri="{FF2B5EF4-FFF2-40B4-BE49-F238E27FC236}">
                <a16:creationId xmlns:a16="http://schemas.microsoft.com/office/drawing/2014/main" id="{ED686D23-418B-41EC-B42F-E1BBFC3AD9C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데이터와 예외 처리</a:t>
            </a:r>
          </a:p>
        </p:txBody>
      </p:sp>
      <p:sp>
        <p:nvSpPr>
          <p:cNvPr id="3" name="">
            <a:extLst xmlns:a="http://schemas.openxmlformats.org/drawingml/2006/main">
              <a:ext uri="{FF2B5EF4-FFF2-40B4-BE49-F238E27FC236}">
                <a16:creationId xmlns:a16="http://schemas.microsoft.com/office/drawing/2014/main" id="{AB83728A-71B0-4AAC-8915-77FDED319CC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DE00F5-3A4E-4D8D-854D-743671208B3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406C242-74D0-424D-B184-C7F0C2CEE85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171</a:t>
            </a:r>
          </a:p>
        </p:txBody>
      </p:sp>
      <p:sp>
        <p:nvSpPr>
          <p:cNvPr id="6" name="">
            <a:extLst xmlns:a="http://schemas.openxmlformats.org/drawingml/2006/main">
              <a:ext uri="{FF2B5EF4-FFF2-40B4-BE49-F238E27FC236}">
                <a16:creationId xmlns:a16="http://schemas.microsoft.com/office/drawing/2014/main" id="{71C5E81A-430F-4D52-896E-BDC5D598F25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BC715B6-3FDC-4C7B-AE37-A4E11CF9CA0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1A7C86B-288A-4962-9618-01CB8516EA2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53E67FE0-CAB7-4B74-8767-397BFE672E4A}"/>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사용자·업무 목적·민감자료 범위 확인</a:t>
            </a:r>
          </a:p>
        </p:txBody>
      </p:sp>
      <p:sp>
        <p:nvSpPr>
          <p:cNvPr id="10" name="">
            <a:extLst xmlns:a="http://schemas.openxmlformats.org/drawingml/2006/main">
              <a:ext uri="{FF2B5EF4-FFF2-40B4-BE49-F238E27FC236}">
                <a16:creationId xmlns:a16="http://schemas.microsoft.com/office/drawing/2014/main" id="{1AB38576-F603-4C37-B786-0526F16BBC9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16F636-DB7E-4A9B-B5C2-9BF07AACDE9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28463664-897B-4A31-96AA-5DA73C3B767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목적</a:t>
            </a:r>
          </a:p>
        </p:txBody>
      </p:sp>
      <p:sp>
        <p:nvSpPr>
          <p:cNvPr id="13" name="">
            <a:extLst xmlns:a="http://schemas.openxmlformats.org/drawingml/2006/main">
              <a:ext uri="{FF2B5EF4-FFF2-40B4-BE49-F238E27FC236}">
                <a16:creationId xmlns:a16="http://schemas.microsoft.com/office/drawing/2014/main" id="{8F9B3084-3A06-4AD0-963A-29A5A9420C8D}"/>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B85C2B6-A3FD-4966-A143-CE1ED73E194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D9394DAD-A478-40CF-8B91-489C6FACDD0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부서별 이용범위</a:t>
            </a:r>
          </a:p>
        </p:txBody>
      </p:sp>
      <p:sp>
        <p:nvSpPr>
          <p:cNvPr id="16" name="">
            <a:extLst xmlns:a="http://schemas.openxmlformats.org/drawingml/2006/main">
              <a:ext uri="{FF2B5EF4-FFF2-40B4-BE49-F238E27FC236}">
                <a16:creationId xmlns:a16="http://schemas.microsoft.com/office/drawing/2014/main" id="{5B7F837D-F7D6-4467-A3AB-37F9DC316B73}"/>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7DB0B36-14AC-40E2-8A53-BE3346569F2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713B6818-0162-4D77-B4ED-24CD6224D24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결과</a:t>
            </a:r>
          </a:p>
        </p:txBody>
      </p:sp>
      <p:sp>
        <p:nvSpPr>
          <p:cNvPr id="19" name="">
            <a:extLst xmlns:a="http://schemas.openxmlformats.org/drawingml/2006/main">
              <a:ext uri="{FF2B5EF4-FFF2-40B4-BE49-F238E27FC236}">
                <a16:creationId xmlns:a16="http://schemas.microsoft.com/office/drawing/2014/main" id="{F6599E70-3C06-4493-9103-7853C685067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1E4C28-5FE6-4008-B7B9-56C59749A03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55090B6E-0536-4D2F-B4AB-6958E6EE483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결과</a:t>
            </a:r>
          </a:p>
        </p:txBody>
      </p:sp>
      <p:sp>
        <p:nvSpPr>
          <p:cNvPr id="22" name="">
            <a:extLst xmlns:a="http://schemas.openxmlformats.org/drawingml/2006/main">
              <a:ext uri="{FF2B5EF4-FFF2-40B4-BE49-F238E27FC236}">
                <a16:creationId xmlns:a16="http://schemas.microsoft.com/office/drawing/2014/main" id="{608A37B0-8F9C-4B67-99EC-66C9D99A9F3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057947C-ECF8-4FE6-B597-7D33B011FEF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7BFFFDA1-860C-411E-AC1C-8740EE10715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활용·평가 기록</a:t>
            </a:r>
          </a:p>
        </p:txBody>
      </p:sp>
      <p:sp>
        <p:nvSpPr>
          <p:cNvPr id="25" name="">
            <a:extLst xmlns:a="http://schemas.openxmlformats.org/drawingml/2006/main">
              <a:ext uri="{FF2B5EF4-FFF2-40B4-BE49-F238E27FC236}">
                <a16:creationId xmlns:a16="http://schemas.microsoft.com/office/drawing/2014/main" id="{1772A2A7-E251-4B07-8B5E-3286DE82B64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D017FF6-1A0D-4C99-9EFA-F69D0748F57F}"/>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승인되지 않은 지식·민감 입력·성과 자기보고 편향</a:t>
            </a:r>
          </a:p>
        </p:txBody>
      </p:sp>
      <p:sp>
        <p:nvSpPr>
          <p:cNvPr id="27" name="">
            <a:extLst xmlns:a="http://schemas.openxmlformats.org/drawingml/2006/main">
              <a:ext uri="{FF2B5EF4-FFF2-40B4-BE49-F238E27FC236}">
                <a16:creationId xmlns:a16="http://schemas.microsoft.com/office/drawing/2014/main" id="{1887505E-BD80-4A09-A333-D26AA6F8451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1D4B113-45C3-4F6C-A0BD-A1F8477D408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부서별 권한·완료율·재작업 평가</a:t>
            </a:r>
          </a:p>
        </p:txBody>
      </p:sp>
      <p:sp>
        <p:nvSpPr>
          <p:cNvPr id="29" name="">
            <a:extLst xmlns:a="http://schemas.openxmlformats.org/drawingml/2006/main">
              <a:ext uri="{FF2B5EF4-FFF2-40B4-BE49-F238E27FC236}">
                <a16:creationId xmlns:a16="http://schemas.microsoft.com/office/drawing/2014/main" id="{88A098AE-4132-4656-AF52-7DE957AA637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6B642F1-8D22-44A3-90F0-53735A7E19A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전담 조직의 교육·활용 발굴·성과 검토</a:t>
            </a:r>
          </a:p>
        </p:txBody>
      </p:sp>
      <p:sp>
        <p:nvSpPr>
          <p:cNvPr id="31" name="">
            <a:extLst xmlns:a="http://schemas.openxmlformats.org/drawingml/2006/main">
              <a:ext uri="{FF2B5EF4-FFF2-40B4-BE49-F238E27FC236}">
                <a16:creationId xmlns:a16="http://schemas.microsoft.com/office/drawing/2014/main" id="{1C039ED5-E425-41E0-BA54-1C10125FDD0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78847B8-1645-4239-BADC-4E9A0BDD0B0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수용률·오류·완료시간·입력 통제 결과</a:t>
            </a:r>
          </a:p>
        </p:txBody>
      </p:sp>
    </p:spTree>
    <p:extLst>
      <p:ext uri="{BB962C8B-B14F-4D97-AF65-F5344CB8AC3E}">
        <p14:creationId xmlns:p14="http://schemas.microsoft.com/office/powerpoint/2010/main" val="191180016"/>
      </p:ext>
    </p:extLst>
  </p:cSld>
</p:sld>
</file>

<file path=ppt/slides/slide1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EBFD7A1-0B91-4B7E-9D91-4911C613D8A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CCK 비교·재현 시험 설계</a:t>
            </a:r>
          </a:p>
        </p:txBody>
      </p:sp>
      <p:sp>
        <p:nvSpPr>
          <p:cNvPr id="2" name="">
            <a:extLst xmlns:a="http://schemas.openxmlformats.org/drawingml/2006/main">
              <a:ext uri="{FF2B5EF4-FFF2-40B4-BE49-F238E27FC236}">
                <a16:creationId xmlns:a16="http://schemas.microsoft.com/office/drawing/2014/main" id="{717885A4-D5DF-4222-898F-9322CAA1967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벤치마킹</a:t>
            </a:r>
          </a:p>
        </p:txBody>
      </p:sp>
      <p:sp>
        <p:nvSpPr>
          <p:cNvPr id="3" name="">
            <a:extLst xmlns:a="http://schemas.openxmlformats.org/drawingml/2006/main">
              <a:ext uri="{FF2B5EF4-FFF2-40B4-BE49-F238E27FC236}">
                <a16:creationId xmlns:a16="http://schemas.microsoft.com/office/drawing/2014/main" id="{F432A66D-9C2E-46F7-92DA-27273FFD434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A1ECF1-C8EE-4E1B-8502-D813C9E9E7C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7F2DFC6-ACD6-4087-AFC9-D72D5FB6AD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172</a:t>
            </a:r>
          </a:p>
        </p:txBody>
      </p:sp>
      <p:sp>
        <p:nvSpPr>
          <p:cNvPr id="6" name="">
            <a:extLst xmlns:a="http://schemas.openxmlformats.org/drawingml/2006/main">
              <a:ext uri="{FF2B5EF4-FFF2-40B4-BE49-F238E27FC236}">
                <a16:creationId xmlns:a16="http://schemas.microsoft.com/office/drawing/2014/main" id="{A807726C-FBF5-4080-934C-20A72B23236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E13626CD-6529-4470-9E75-1A72CB5CD47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업무 GPT의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교육·활용 지원과 단계적 확산</a:t>
            </a:r>
          </a:p>
        </p:txBody>
      </p:sp>
      <p:sp>
        <p:nvSpPr>
          <p:cNvPr id="8" name="">
            <a:extLst xmlns:a="http://schemas.openxmlformats.org/drawingml/2006/main">
              <a:ext uri="{FF2B5EF4-FFF2-40B4-BE49-F238E27FC236}">
                <a16:creationId xmlns:a16="http://schemas.microsoft.com/office/drawing/2014/main" id="{139F3601-92F6-4D1A-B659-7F3431B0D81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831D39D-0EF5-4DC7-A14D-3ABE3699917F}"/>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활용자 수와 업무 완결성의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규제·민감자료 통제의 확장 부담</a:t>
            </a:r>
          </a:p>
        </p:txBody>
      </p:sp>
      <p:sp>
        <p:nvSpPr>
          <p:cNvPr id="10" name="">
            <a:extLst xmlns:a="http://schemas.openxmlformats.org/drawingml/2006/main">
              <a:ext uri="{FF2B5EF4-FFF2-40B4-BE49-F238E27FC236}">
                <a16:creationId xmlns:a16="http://schemas.microsoft.com/office/drawing/2014/main" id="{B2249FAF-D310-4FBE-9611-E6E0FCD9667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1F2729B7-7AFD-43D8-A605-46298BAFF72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부서별 권한·완료율·재작업 평가</a:t>
            </a:r>
          </a:p>
        </p:txBody>
      </p:sp>
      <p:sp>
        <p:nvSpPr>
          <p:cNvPr id="12" name="">
            <a:extLst xmlns:a="http://schemas.openxmlformats.org/drawingml/2006/main">
              <a:ext uri="{FF2B5EF4-FFF2-40B4-BE49-F238E27FC236}">
                <a16:creationId xmlns:a16="http://schemas.microsoft.com/office/drawing/2014/main" id="{E77FC03F-C942-4EE8-B19A-A0E8C5D4BB0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AB9B0E40-5A09-45BA-956B-B645DA37F84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GPT를 구성하고 담당 조직이 교육·활용 지원</a:t>
            </a:r>
          </a:p>
        </p:txBody>
      </p:sp>
      <p:sp>
        <p:nvSpPr>
          <p:cNvPr id="14" name="">
            <a:extLst xmlns:a="http://schemas.openxmlformats.org/drawingml/2006/main">
              <a:ext uri="{FF2B5EF4-FFF2-40B4-BE49-F238E27FC236}">
                <a16:creationId xmlns:a16="http://schemas.microsoft.com/office/drawing/2014/main" id="{678F67D9-66C1-4EA9-B23A-A69D8377F59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83A39540-3A90-49C8-AD7C-D5A45F0ECB3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승인되지 않은 지식·민감 입력·성과 자기보고 편향</a:t>
            </a:r>
          </a:p>
        </p:txBody>
      </p:sp>
      <p:sp>
        <p:nvSpPr>
          <p:cNvPr id="16" name="">
            <a:extLst xmlns:a="http://schemas.openxmlformats.org/drawingml/2006/main">
              <a:ext uri="{FF2B5EF4-FFF2-40B4-BE49-F238E27FC236}">
                <a16:creationId xmlns:a16="http://schemas.microsoft.com/office/drawing/2014/main" id="{1D05D904-5D95-4CCF-ACD8-9673FE0D298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4B71C37-22D6-4AFC-93E4-5D82E1D8617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수용률·오류·완료시간·입력 통제 결과</a:t>
            </a:r>
          </a:p>
        </p:txBody>
      </p:sp>
    </p:spTree>
    <p:extLst>
      <p:ext uri="{BB962C8B-B14F-4D97-AF65-F5344CB8AC3E}">
        <p14:creationId xmlns:p14="http://schemas.microsoft.com/office/powerpoint/2010/main" val="2079838875"/>
      </p:ext>
    </p:extLst>
  </p:cSld>
</p:sld>
</file>

<file path=ppt/slides/slide1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CD9B6A0-201F-4F43-9917-7BDF5B0B28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부분 성과 / 해외</a:t>
            </a:r>
          </a:p>
        </p:txBody>
      </p:sp>
      <p:sp>
        <p:nvSpPr>
          <p:cNvPr id="2" name="">
            <a:extLst xmlns:a="http://schemas.openxmlformats.org/drawingml/2006/main">
              <a:ext uri="{FF2B5EF4-FFF2-40B4-BE49-F238E27FC236}">
                <a16:creationId xmlns:a16="http://schemas.microsoft.com/office/drawing/2014/main" id="{6A482D5F-D0D9-4629-84E5-8A102D892BA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a:t>
            </a:r>
          </a:p>
        </p:txBody>
      </p:sp>
      <p:sp>
        <p:nvSpPr>
          <p:cNvPr id="3" name="">
            <a:extLst xmlns:a="http://schemas.openxmlformats.org/drawingml/2006/main">
              <a:ext uri="{FF2B5EF4-FFF2-40B4-BE49-F238E27FC236}">
                <a16:creationId xmlns:a16="http://schemas.microsoft.com/office/drawing/2014/main" id="{897F8B15-D505-4C45-BAB9-5F083733468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279401-AC0C-4545-B52F-D14C8B3E171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60E6DE8-5C34-4E53-883A-A6C103409AE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173</a:t>
            </a:r>
          </a:p>
        </p:txBody>
      </p:sp>
      <p:sp>
        <p:nvSpPr>
          <p:cNvPr id="6" name="">
            <a:extLst xmlns:a="http://schemas.openxmlformats.org/drawingml/2006/main">
              <a:ext uri="{FF2B5EF4-FFF2-40B4-BE49-F238E27FC236}">
                <a16:creationId xmlns:a16="http://schemas.microsoft.com/office/drawing/2014/main" id="{C6ECD186-0FF6-4B7E-8D99-1FF75ABF143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3E9BCC9-C9F8-4264-926B-B6607DE0419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Morgan Stanley의 지식 검색 Assistant와 회의 후속</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 Debrief 사례. 자문가가 승인된 지식을 찾는 업무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와 고객 회의에서 요약·할일을 정리하는 업무를 서로 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른 입력 경로로 지원.</a:t>
            </a:r>
          </a:p>
        </p:txBody>
      </p:sp>
      <p:sp>
        <p:nvSpPr>
          <p:cNvPr id="8" name="">
            <a:extLst xmlns:a="http://schemas.openxmlformats.org/drawingml/2006/main">
              <a:ext uri="{FF2B5EF4-FFF2-40B4-BE49-F238E27FC236}">
                <a16:creationId xmlns:a16="http://schemas.microsoft.com/office/drawing/2014/main" id="{FE0F632E-DFEF-45FE-9A5C-36E0D4A695E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FE98E48-61C2-4377-8B40-B150ADA287B0}"/>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지식 검색은 승인 문서의 검색·근거 응답으로, 회의 지원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은 동의받은 기록의 요약·실행 항목 초안·자문가 검토·C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RM 또는 후속 메시지 연결로 재구성. 검색 근거와 고객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대화 기록의 접근·보관 정책을 분리하는 설계.</a:t>
            </a:r>
          </a:p>
        </p:txBody>
      </p:sp>
      <p:sp>
        <p:nvSpPr>
          <p:cNvPr id="10" name="">
            <a:extLst xmlns:a="http://schemas.openxmlformats.org/drawingml/2006/main">
              <a:ext uri="{FF2B5EF4-FFF2-40B4-BE49-F238E27FC236}">
                <a16:creationId xmlns:a16="http://schemas.microsoft.com/office/drawing/2014/main" id="{EB111D2F-1440-4F7C-853A-5EE5966A07ED}"/>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98F60F4-FBC7-4359-B10F-E88BFB4761BF}"/>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CCK의 상담·민원 후속 처리에서는 생성된 요약과 실제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등록·발송을 구분할 필요. 화자·수신자·기한·해야 할 일의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누락과 중복을 시험하고 담당자 확인 이후 업무 시스템에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반영된 결과까지 추적.</a:t>
            </a:r>
          </a:p>
        </p:txBody>
      </p:sp>
      <p:sp>
        <p:nvSpPr>
          <p:cNvPr id="12" name="">
            <a:extLst xmlns:a="http://schemas.openxmlformats.org/drawingml/2006/main">
              <a:ext uri="{FF2B5EF4-FFF2-40B4-BE49-F238E27FC236}">
                <a16:creationId xmlns:a16="http://schemas.microsoft.com/office/drawing/2014/main" id="{88E75E77-3351-4B46-9B14-57F48E43D3E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DF48B65-F873-479C-94CA-DD70248AC4E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전결·발송 확인 / 원문 근거 / 진행상태·인사이동 인계</a:t>
            </a:r>
          </a:p>
        </p:txBody>
      </p:sp>
      <p:sp>
        <p:nvSpPr>
          <p:cNvPr id="14" name="">
            <a:extLst xmlns:a="http://schemas.openxmlformats.org/drawingml/2006/main">
              <a:ext uri="{FF2B5EF4-FFF2-40B4-BE49-F238E27FC236}">
                <a16:creationId xmlns:a16="http://schemas.microsoft.com/office/drawing/2014/main" id="{17DA1EE6-96A3-4D6C-B3BA-7C573A5FF70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2EAD451-C07F-4085-BD6B-FB78A747E04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발송 전 확인·판본 변경 재승인·담당 변경 후 인계 대사</a:t>
            </a:r>
          </a:p>
        </p:txBody>
      </p:sp>
      <p:sp>
        <p:nvSpPr>
          <p:cNvPr id="16" name="">
            <a:extLst xmlns:a="http://schemas.openxmlformats.org/drawingml/2006/main">
              <a:ext uri="{FF2B5EF4-FFF2-40B4-BE49-F238E27FC236}">
                <a16:creationId xmlns:a16="http://schemas.microsoft.com/office/drawing/2014/main" id="{393B0C15-EDEA-4B3C-AB7D-299A9A65055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4F9579C-5FDF-4B1D-9EB8-C5C171A6188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AAF59B59-D8CE-4760-8714-76845DA4EF9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Assistant 채택률과 Debrief 시간절감의 구분 · 사용자 동의·편집 판단 포함</a:t>
            </a:r>
          </a:p>
        </p:txBody>
      </p:sp>
    </p:spTree>
    <p:extLst>
      <p:ext uri="{BB962C8B-B14F-4D97-AF65-F5344CB8AC3E}">
        <p14:creationId xmlns:p14="http://schemas.microsoft.com/office/powerpoint/2010/main" val="1743733550"/>
      </p:ext>
    </p:extLst>
  </p:cSld>
</p:sld>
</file>

<file path=ppt/slides/slide1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351EA85-75D2-4138-A853-244A2D25790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As-Is → To-Be → 기대효과 → 확인 결과</a:t>
            </a:r>
          </a:p>
        </p:txBody>
      </p:sp>
      <p:sp>
        <p:nvSpPr>
          <p:cNvPr id="2" name="">
            <a:extLst xmlns:a="http://schemas.openxmlformats.org/drawingml/2006/main">
              <a:ext uri="{FF2B5EF4-FFF2-40B4-BE49-F238E27FC236}">
                <a16:creationId xmlns:a16="http://schemas.microsoft.com/office/drawing/2014/main" id="{8AB85D76-6C5B-4ECF-AD01-7ECDB88BA84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기대와 결과</a:t>
            </a:r>
          </a:p>
        </p:txBody>
      </p:sp>
      <p:sp>
        <p:nvSpPr>
          <p:cNvPr id="3" name="">
            <a:extLst xmlns:a="http://schemas.openxmlformats.org/drawingml/2006/main">
              <a:ext uri="{FF2B5EF4-FFF2-40B4-BE49-F238E27FC236}">
                <a16:creationId xmlns:a16="http://schemas.microsoft.com/office/drawing/2014/main" id="{771D2098-EB5A-438E-AE9B-9FB04831B0B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6A059E-BCED-47E7-AFD8-E69050496BF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2F0174F-491E-4088-90BE-414844BAF22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174</a:t>
            </a:r>
          </a:p>
        </p:txBody>
      </p:sp>
      <p:sp>
        <p:nvSpPr>
          <p:cNvPr id="6" name="">
            <a:extLst xmlns:a="http://schemas.openxmlformats.org/drawingml/2006/main">
              <a:ext uri="{FF2B5EF4-FFF2-40B4-BE49-F238E27FC236}">
                <a16:creationId xmlns:a16="http://schemas.microsoft.com/office/drawing/2014/main" id="{CB7B7E44-FF90-462E-BCF6-A7341C2BAA9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D652F290-0BC0-4A7A-93BF-A7A8FBFE076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자문가가 회의 필기·요약·후속 메일·CRM 기록을 직접 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행하고 사내 지식을 별도 검색</a:t>
            </a:r>
          </a:p>
        </p:txBody>
      </p:sp>
      <p:sp>
        <p:nvSpPr>
          <p:cNvPr id="8" name="">
            <a:extLst xmlns:a="http://schemas.openxmlformats.org/drawingml/2006/main">
              <a:ext uri="{FF2B5EF4-FFF2-40B4-BE49-F238E27FC236}">
                <a16:creationId xmlns:a16="http://schemas.microsoft.com/office/drawing/2014/main" id="{C61C582C-C034-4E7D-8376-07EC0F1E0E9A}"/>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89A2B63E-2E8A-41B8-A942-83A552473E95}"/>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Assistant로 승인된 지식을 조회하고 동의받은 회의를 D</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ebrief가 초안화한 뒤 자문가 편집·발송·기록</a:t>
            </a:r>
          </a:p>
        </p:txBody>
      </p:sp>
      <p:sp>
        <p:nvSpPr>
          <p:cNvPr id="10" name="">
            <a:extLst xmlns:a="http://schemas.openxmlformats.org/drawingml/2006/main">
              <a:ext uri="{FF2B5EF4-FFF2-40B4-BE49-F238E27FC236}">
                <a16:creationId xmlns:a16="http://schemas.microsoft.com/office/drawing/2014/main" id="{720A839E-48DA-463C-914D-91DA76E4FE26}"/>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DE2DF70-0834-4A5C-ACAD-A287DDB7258D}"/>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회의 후 기록시간 단축과 고객 대화 집중도 향상</a:t>
            </a:r>
          </a:p>
        </p:txBody>
      </p:sp>
      <p:sp>
        <p:nvSpPr>
          <p:cNvPr id="12" name="">
            <a:extLst xmlns:a="http://schemas.openxmlformats.org/drawingml/2006/main">
              <a:ext uri="{FF2B5EF4-FFF2-40B4-BE49-F238E27FC236}">
                <a16:creationId xmlns:a16="http://schemas.microsoft.com/office/drawing/2014/main" id="{5BCD687D-2CF7-463B-932F-F33DB25E4BBF}"/>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819A75AA-81CA-404E-91F7-C4BDE7BC97B7}"/>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Morgan Stanley는 Assistant 자문팀 채택 98%와 De</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brief 출시를 발표. 자문가 1인의 회의당 약 30분 절약 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언은 사례담</a:t>
            </a:r>
          </a:p>
        </p:txBody>
      </p:sp>
      <p:sp>
        <p:nvSpPr>
          <p:cNvPr id="14" name="">
            <a:extLst xmlns:a="http://schemas.openxmlformats.org/drawingml/2006/main">
              <a:ext uri="{FF2B5EF4-FFF2-40B4-BE49-F238E27FC236}">
                <a16:creationId xmlns:a16="http://schemas.microsoft.com/office/drawing/2014/main" id="{3EF2991C-C4D5-4B6C-9374-8AE76D253039}"/>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사내 지식검색과 동의·자문가 편집을 둔 회의 후속흐름에서 채택·활용 사례 확인. 평균 절감·고객 결과의 독립 </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비교 미공개</a:t>
            </a:r>
          </a:p>
        </p:txBody>
      </p:sp>
      <p:sp>
        <p:nvSpPr>
          <p:cNvPr id="15" name="">
            <a:extLst xmlns:a="http://schemas.openxmlformats.org/drawingml/2006/main">
              <a:ext uri="{FF2B5EF4-FFF2-40B4-BE49-F238E27FC236}">
                <a16:creationId xmlns:a16="http://schemas.microsoft.com/office/drawing/2014/main" id="{DE3FC4B0-7E59-4A43-9984-449E136EA3E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기업 발표·업무 도구 운영 · Assistant 채택률을 Debrief 사용률로 대체 금지; 동의·편집 후 CRM 반영 경계</a:t>
            </a:r>
          </a:p>
        </p:txBody>
      </p:sp>
    </p:spTree>
    <p:extLst>
      <p:ext uri="{BB962C8B-B14F-4D97-AF65-F5344CB8AC3E}">
        <p14:creationId xmlns:p14="http://schemas.microsoft.com/office/powerpoint/2010/main" val="245004324"/>
      </p:ext>
    </p:extLst>
  </p:cSld>
</p:sld>
</file>

<file path=ppt/slides/slide1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6671B59-7E4E-4E2A-814B-BC6A57C339F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6D51640-7982-4371-8F4E-9178A8C32A98}"/>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A469171-58F8-4664-BB71-33D2472B896B}"/>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4743745-4C7E-4E60-9385-49DA460BB333}"/>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FD38045E-4B67-47D9-A278-BF591E98F286}"/>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6D14639-D8A0-48EB-92F9-9D382984D509}"/>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472B5058-9F6F-4CA6-B1A3-7C3760FBA1C5}"/>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491FF88B-54E7-4E88-9003-A908F3FD7B8A}"/>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BBBF4B5E-9C20-47B7-B8AB-56CF7178078A}"/>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13C12283-E2EE-4D49-B11B-4BEDEF5FEDB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입력 구조화·확인·업무시스템 처리</a:t>
            </a:r>
          </a:p>
        </p:txBody>
      </p:sp>
      <p:sp>
        <p:nvSpPr>
          <p:cNvPr id="2" name="">
            <a:extLst xmlns:a="http://schemas.openxmlformats.org/drawingml/2006/main">
              <a:ext uri="{FF2B5EF4-FFF2-40B4-BE49-F238E27FC236}">
                <a16:creationId xmlns:a16="http://schemas.microsoft.com/office/drawing/2014/main" id="{8F7BC493-CB35-4A3A-9CB9-315E4CE1275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세부 서비스 구조</a:t>
            </a:r>
          </a:p>
        </p:txBody>
      </p:sp>
      <p:sp>
        <p:nvSpPr>
          <p:cNvPr id="3" name="">
            <a:extLst xmlns:a="http://schemas.openxmlformats.org/drawingml/2006/main">
              <a:ext uri="{FF2B5EF4-FFF2-40B4-BE49-F238E27FC236}">
                <a16:creationId xmlns:a16="http://schemas.microsoft.com/office/drawing/2014/main" id="{4BEDFF87-D185-4F33-83BB-11AEE6D80C9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746274-6AC8-4CED-B53B-861B99671E7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CB9902-0EA4-4215-BDF9-0514AFBDD72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175</a:t>
            </a:r>
          </a:p>
        </p:txBody>
      </p:sp>
      <p:sp>
        <p:nvSpPr>
          <p:cNvPr id="6" name="">
            <a:extLst xmlns:a="http://schemas.openxmlformats.org/drawingml/2006/main">
              <a:ext uri="{FF2B5EF4-FFF2-40B4-BE49-F238E27FC236}">
                <a16:creationId xmlns:a16="http://schemas.microsoft.com/office/drawing/2014/main" id="{87B83B9A-68F2-47A6-BD31-C9F3210D315B}"/>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동의받은 회의 → 요약·후속조치 초안 → 자문가 편집·확인 → CRM·이메일 업무</a:t>
            </a:r>
          </a:p>
        </p:txBody>
      </p:sp>
      <p:sp>
        <p:nvSpPr>
          <p:cNvPr id="7" name="">
            <a:extLst xmlns:a="http://schemas.openxmlformats.org/drawingml/2006/main">
              <a:ext uri="{FF2B5EF4-FFF2-40B4-BE49-F238E27FC236}">
                <a16:creationId xmlns:a16="http://schemas.microsoft.com/office/drawing/2014/main" id="{0EEA36AA-5EED-4066-A75D-CA5B9E284C02}"/>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D12248D0-592D-4B70-A3C2-CCAD2ED1DC5B}"/>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4A735948-45EB-4B6E-8552-C6DB9DEEAC7B}"/>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질문·회의 접점</a:t>
            </a:r>
          </a:p>
        </p:txBody>
      </p:sp>
      <p:sp>
        <p:nvSpPr>
          <p:cNvPr id="10" name="">
            <a:extLst xmlns:a="http://schemas.openxmlformats.org/drawingml/2006/main">
              <a:ext uri="{FF2B5EF4-FFF2-40B4-BE49-F238E27FC236}">
                <a16:creationId xmlns:a16="http://schemas.microsoft.com/office/drawing/2014/main" id="{CC86E6F6-799B-4D3B-8DE0-717007F8D83D}"/>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1BCEDCD-E88C-406F-BDAF-86F6FFBA397E}"/>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821F55FF-5CC1-48DF-8D44-63A84581C026}"/>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동의·고객 문맥</a:t>
            </a:r>
          </a:p>
        </p:txBody>
      </p:sp>
      <p:sp>
        <p:nvSpPr>
          <p:cNvPr id="13" name="">
            <a:extLst xmlns:a="http://schemas.openxmlformats.org/drawingml/2006/main">
              <a:ext uri="{FF2B5EF4-FFF2-40B4-BE49-F238E27FC236}">
                <a16:creationId xmlns:a16="http://schemas.microsoft.com/office/drawing/2014/main" id="{DBE09693-9AD0-4DFD-BF67-7C733CD195C7}"/>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3F4C1E5-0B8F-4246-B558-501616C66C25}"/>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011F3AB7-F0C7-48FC-988C-6B00D4FF5136}"/>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요약·할일 생성</a:t>
            </a:r>
          </a:p>
        </p:txBody>
      </p:sp>
      <p:sp>
        <p:nvSpPr>
          <p:cNvPr id="16" name="">
            <a:extLst xmlns:a="http://schemas.openxmlformats.org/drawingml/2006/main">
              <a:ext uri="{FF2B5EF4-FFF2-40B4-BE49-F238E27FC236}">
                <a16:creationId xmlns:a16="http://schemas.microsoft.com/office/drawing/2014/main" id="{75DFA18A-AF9B-4838-82D2-D38023A7BB6F}"/>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5A5B742-B7DB-47F1-96C9-F8319791CC62}"/>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318BA4A-0C1E-4A0A-BA59-AD78A13564D5}"/>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사실·수신자 검사</a:t>
            </a:r>
          </a:p>
        </p:txBody>
      </p:sp>
      <p:sp>
        <p:nvSpPr>
          <p:cNvPr id="19" name="">
            <a:extLst xmlns:a="http://schemas.openxmlformats.org/drawingml/2006/main">
              <a:ext uri="{FF2B5EF4-FFF2-40B4-BE49-F238E27FC236}">
                <a16:creationId xmlns:a16="http://schemas.microsoft.com/office/drawing/2014/main" id="{15A1D453-95A8-4C18-8E30-9C5AC5139E2B}"/>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EC64692-E486-442C-915C-3659AC0DCE45}"/>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23A18C46-D9BF-44C3-8AC6-447BCB1619A5}"/>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편집·확인</a:t>
            </a:r>
          </a:p>
        </p:txBody>
      </p:sp>
      <p:sp>
        <p:nvSpPr>
          <p:cNvPr id="22" name="">
            <a:extLst xmlns:a="http://schemas.openxmlformats.org/drawingml/2006/main">
              <a:ext uri="{FF2B5EF4-FFF2-40B4-BE49-F238E27FC236}">
                <a16:creationId xmlns:a16="http://schemas.microsoft.com/office/drawing/2014/main" id="{3412E3E1-6BA8-4AC0-A61F-3D8DCC4C0DCC}"/>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1434EF3-0ECC-4DD1-9D80-C14D78B3107E}"/>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12530549-7BD8-443E-B6EE-7BF2B43A572A}"/>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CRM·이메일 반</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a:t>
            </a:r>
          </a:p>
        </p:txBody>
      </p:sp>
      <p:sp>
        <p:nvSpPr>
          <p:cNvPr id="25" name="">
            <a:extLst xmlns:a="http://schemas.openxmlformats.org/drawingml/2006/main">
              <a:ext uri="{FF2B5EF4-FFF2-40B4-BE49-F238E27FC236}">
                <a16:creationId xmlns:a16="http://schemas.microsoft.com/office/drawing/2014/main" id="{524688C3-E7C7-4A7D-BC2D-70CA20660F28}"/>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E75340E-D7FD-46A9-8484-323D256E7AA9}"/>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831BBC41-85FC-4C95-B0E7-DFB9D0ADAC89}"/>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지식·회의</a:t>
            </a:r>
          </a:p>
        </p:txBody>
      </p:sp>
      <p:sp>
        <p:nvSpPr>
          <p:cNvPr id="28" name="">
            <a:extLst xmlns:a="http://schemas.openxmlformats.org/drawingml/2006/main">
              <a:ext uri="{FF2B5EF4-FFF2-40B4-BE49-F238E27FC236}">
                <a16:creationId xmlns:a16="http://schemas.microsoft.com/office/drawing/2014/main" id="{2FC24621-F4A2-4775-8865-D14BD052423C}"/>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024C057-D874-45A1-BC34-C4C0AAE49F88}"/>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2F69785A-8167-475A-B46C-4EE72CA668EA}"/>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 조회</a:t>
            </a:r>
          </a:p>
        </p:txBody>
      </p:sp>
      <p:sp>
        <p:nvSpPr>
          <p:cNvPr id="31" name="">
            <a:extLst xmlns:a="http://schemas.openxmlformats.org/drawingml/2006/main">
              <a:ext uri="{FF2B5EF4-FFF2-40B4-BE49-F238E27FC236}">
                <a16:creationId xmlns:a16="http://schemas.microsoft.com/office/drawing/2014/main" id="{8FDB92CF-72B2-4F70-B150-CAF6470EFEB3}"/>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40F60FE-40A1-4325-97DA-184525A22CAD}"/>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B23C886-28B4-4EC9-BDA8-2AC9516DB79C}"/>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요약·확인 기록</a:t>
            </a:r>
          </a:p>
        </p:txBody>
      </p:sp>
      <p:sp>
        <p:nvSpPr>
          <p:cNvPr id="34" name="">
            <a:extLst xmlns:a="http://schemas.openxmlformats.org/drawingml/2006/main">
              <a:ext uri="{FF2B5EF4-FFF2-40B4-BE49-F238E27FC236}">
                <a16:creationId xmlns:a16="http://schemas.microsoft.com/office/drawing/2014/main" id="{6DFEEB99-5DED-4B3A-95AF-FFA6F109E81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1BF6A5D9-2610-411C-B4D7-DB426F53EB91}"/>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62C94F6E-73BC-444D-9806-FD7EAC87B15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후속조치 추적</a:t>
            </a:r>
          </a:p>
        </p:txBody>
      </p:sp>
      <p:sp>
        <p:nvSpPr>
          <p:cNvPr id="46" name="">
            <a:extLst xmlns:a="http://schemas.openxmlformats.org/drawingml/2006/main">
              <a:ext uri="{FF2B5EF4-FFF2-40B4-BE49-F238E27FC236}">
                <a16:creationId xmlns:a16="http://schemas.microsoft.com/office/drawing/2014/main" id="{21952527-01CB-4D98-A766-B3FD7971FF6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570756758"/>
      </p:ext>
    </p:extLst>
  </p:cSld>
</p:sld>
</file>

<file path=ppt/slides/slide17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B990E77-4C9B-4199-9BBA-4ADB977F0C1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논리 인터페이스·복구 설계</a:t>
            </a:r>
          </a:p>
        </p:txBody>
      </p:sp>
      <p:sp>
        <p:nvSpPr>
          <p:cNvPr id="2" name="">
            <a:extLst xmlns:a="http://schemas.openxmlformats.org/drawingml/2006/main">
              <a:ext uri="{FF2B5EF4-FFF2-40B4-BE49-F238E27FC236}">
                <a16:creationId xmlns:a16="http://schemas.microsoft.com/office/drawing/2014/main" id="{9877D656-D7D2-4096-89DF-0585DA23D3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데이터와 예외 처리</a:t>
            </a:r>
          </a:p>
        </p:txBody>
      </p:sp>
      <p:sp>
        <p:nvSpPr>
          <p:cNvPr id="3" name="">
            <a:extLst xmlns:a="http://schemas.openxmlformats.org/drawingml/2006/main">
              <a:ext uri="{FF2B5EF4-FFF2-40B4-BE49-F238E27FC236}">
                <a16:creationId xmlns:a16="http://schemas.microsoft.com/office/drawing/2014/main" id="{A647E5B1-B59D-4B66-B303-09A077F7E20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EA47BA-5BB7-4A9A-A132-CCCFD185A05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F6A22B5-AA40-4B70-A322-F1750610FE5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176</a:t>
            </a:r>
          </a:p>
        </p:txBody>
      </p:sp>
      <p:sp>
        <p:nvSpPr>
          <p:cNvPr id="6" name="">
            <a:extLst xmlns:a="http://schemas.openxmlformats.org/drawingml/2006/main">
              <a:ext uri="{FF2B5EF4-FFF2-40B4-BE49-F238E27FC236}">
                <a16:creationId xmlns:a16="http://schemas.microsoft.com/office/drawing/2014/main" id="{2C77E9FB-CE65-46A5-A273-2857E382A35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6840F00-5ACF-493A-ADA8-26106544E9D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AAE7B1A-611E-4DDD-BE80-183E4228808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F0892ACF-6F2E-4039-87D9-8E55809D1609}"/>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지식 질의와 동의받은 회의 입력 분리</a:t>
            </a:r>
          </a:p>
        </p:txBody>
      </p:sp>
      <p:sp>
        <p:nvSpPr>
          <p:cNvPr id="10" name="">
            <a:extLst xmlns:a="http://schemas.openxmlformats.org/drawingml/2006/main">
              <a:ext uri="{FF2B5EF4-FFF2-40B4-BE49-F238E27FC236}">
                <a16:creationId xmlns:a16="http://schemas.microsoft.com/office/drawing/2014/main" id="{AC92D01C-4811-4438-9302-E78F0958714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5086A4-5623-465F-B2F3-F546553C23EA}"/>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327009BA-9469-4291-99C0-972E7C90AB33}"/>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회의 내용</a:t>
            </a:r>
          </a:p>
        </p:txBody>
      </p:sp>
      <p:sp>
        <p:nvSpPr>
          <p:cNvPr id="13" name="">
            <a:extLst xmlns:a="http://schemas.openxmlformats.org/drawingml/2006/main">
              <a:ext uri="{FF2B5EF4-FFF2-40B4-BE49-F238E27FC236}">
                <a16:creationId xmlns:a16="http://schemas.microsoft.com/office/drawing/2014/main" id="{E675ECFB-9D32-4A7F-83C9-711E00818BB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74339C7-0663-4A6C-A35B-2031424C81EE}"/>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0A002BD7-ABEA-45BD-9145-7636E6AC15F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회의·업무 기록</a:t>
            </a:r>
          </a:p>
        </p:txBody>
      </p:sp>
      <p:sp>
        <p:nvSpPr>
          <p:cNvPr id="16" name="">
            <a:extLst xmlns:a="http://schemas.openxmlformats.org/drawingml/2006/main">
              <a:ext uri="{FF2B5EF4-FFF2-40B4-BE49-F238E27FC236}">
                <a16:creationId xmlns:a16="http://schemas.microsoft.com/office/drawing/2014/main" id="{6C66614F-D50C-4215-92F3-FEF92282A44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0E19AF6-DE3D-49B6-9195-B4943AF2901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3C855D83-93A2-4463-BB3E-188DEE21894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자문가 확인</a:t>
            </a:r>
          </a:p>
        </p:txBody>
      </p:sp>
      <p:sp>
        <p:nvSpPr>
          <p:cNvPr id="19" name="">
            <a:extLst xmlns:a="http://schemas.openxmlformats.org/drawingml/2006/main">
              <a:ext uri="{FF2B5EF4-FFF2-40B4-BE49-F238E27FC236}">
                <a16:creationId xmlns:a16="http://schemas.microsoft.com/office/drawing/2014/main" id="{84770D4B-D786-464B-A11A-97E8BF2E91C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CE2E272-FDB3-43A0-833C-BB97A123438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723BA167-FB3F-4DA3-A5A6-75E05C28FC3C}"/>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CRM·이메일 기록</a:t>
            </a:r>
          </a:p>
        </p:txBody>
      </p:sp>
      <p:sp>
        <p:nvSpPr>
          <p:cNvPr id="22" name="">
            <a:extLst xmlns:a="http://schemas.openxmlformats.org/drawingml/2006/main">
              <a:ext uri="{FF2B5EF4-FFF2-40B4-BE49-F238E27FC236}">
                <a16:creationId xmlns:a16="http://schemas.microsoft.com/office/drawing/2014/main" id="{BA8471EA-276A-4B2F-B452-CCD4317D683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BC17B76-8DE8-4EBB-B8CB-06FF2283C3C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182716E3-03C3-4197-8870-F4C59148460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CRM·이메일 기록</a:t>
            </a:r>
          </a:p>
        </p:txBody>
      </p:sp>
      <p:sp>
        <p:nvSpPr>
          <p:cNvPr id="25" name="">
            <a:extLst xmlns:a="http://schemas.openxmlformats.org/drawingml/2006/main">
              <a:ext uri="{FF2B5EF4-FFF2-40B4-BE49-F238E27FC236}">
                <a16:creationId xmlns:a16="http://schemas.microsoft.com/office/drawing/2014/main" id="{087B96A5-D654-49C9-9C50-8C6658B7188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5168331-1E7E-4A81-8CFB-C758A3F6FEA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잘못된 수신자·발언자 혼동·삭제 요청·미확인 할일</a:t>
            </a:r>
          </a:p>
        </p:txBody>
      </p:sp>
      <p:sp>
        <p:nvSpPr>
          <p:cNvPr id="27" name="">
            <a:extLst xmlns:a="http://schemas.openxmlformats.org/drawingml/2006/main">
              <a:ext uri="{FF2B5EF4-FFF2-40B4-BE49-F238E27FC236}">
                <a16:creationId xmlns:a16="http://schemas.microsoft.com/office/drawing/2014/main" id="{18DCD2DE-FE08-42F1-8A00-D7A8DB3C061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3F82FD6-2F1C-494E-BA74-C7F6DBEBB49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녹취 동의·사실·수신자·실행 확인</a:t>
            </a:r>
          </a:p>
        </p:txBody>
      </p:sp>
      <p:sp>
        <p:nvSpPr>
          <p:cNvPr id="29" name="">
            <a:extLst xmlns:a="http://schemas.openxmlformats.org/drawingml/2006/main">
              <a:ext uri="{FF2B5EF4-FFF2-40B4-BE49-F238E27FC236}">
                <a16:creationId xmlns:a16="http://schemas.microsoft.com/office/drawing/2014/main" id="{C8406F17-687A-4585-8660-7BDCB55FF3F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0CE8BA7-FA13-400C-A6B8-C2351CAE317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요약 사실·할일·수신자·후속조치 완료 확인</a:t>
            </a:r>
          </a:p>
        </p:txBody>
      </p:sp>
      <p:sp>
        <p:nvSpPr>
          <p:cNvPr id="31" name="">
            <a:extLst xmlns:a="http://schemas.openxmlformats.org/drawingml/2006/main">
              <a:ext uri="{FF2B5EF4-FFF2-40B4-BE49-F238E27FC236}">
                <a16:creationId xmlns:a16="http://schemas.microsoft.com/office/drawing/2014/main" id="{E5970A41-4345-4023-9DAD-7CA61A8D6EB6}"/>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69C2B83-F75D-4969-9281-56AC979A9FE2}"/>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동의·원 발화·수정·승인·CRM 반영 이력</a:t>
            </a:r>
          </a:p>
        </p:txBody>
      </p:sp>
    </p:spTree>
    <p:extLst>
      <p:ext uri="{BB962C8B-B14F-4D97-AF65-F5344CB8AC3E}">
        <p14:creationId xmlns:p14="http://schemas.microsoft.com/office/powerpoint/2010/main" val="1982249652"/>
      </p:ext>
    </p:extLst>
  </p:cSld>
</p:sld>
</file>

<file path=ppt/slides/slide17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4992FB5-E59C-43A3-9BE6-88BF2471CD0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CCK 비교·재현 시험 설계</a:t>
            </a:r>
          </a:p>
        </p:txBody>
      </p:sp>
      <p:sp>
        <p:nvSpPr>
          <p:cNvPr id="2" name="">
            <a:extLst xmlns:a="http://schemas.openxmlformats.org/drawingml/2006/main">
              <a:ext uri="{FF2B5EF4-FFF2-40B4-BE49-F238E27FC236}">
                <a16:creationId xmlns:a16="http://schemas.microsoft.com/office/drawing/2014/main" id="{AF3381ED-C713-471F-9AC9-AFF6ED48D8C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벤치마킹</a:t>
            </a:r>
          </a:p>
        </p:txBody>
      </p:sp>
      <p:sp>
        <p:nvSpPr>
          <p:cNvPr id="3" name="">
            <a:extLst xmlns:a="http://schemas.openxmlformats.org/drawingml/2006/main">
              <a:ext uri="{FF2B5EF4-FFF2-40B4-BE49-F238E27FC236}">
                <a16:creationId xmlns:a16="http://schemas.microsoft.com/office/drawing/2014/main" id="{F7CAC908-BF37-4E0A-A88C-49B3AD1BF74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E3CB16D-9800-48B3-9D8E-FFE7CDA63D9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EB83481-1B06-4EEE-A7A9-5D170A8713F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177</a:t>
            </a:r>
          </a:p>
        </p:txBody>
      </p:sp>
      <p:sp>
        <p:nvSpPr>
          <p:cNvPr id="6" name="">
            <a:extLst xmlns:a="http://schemas.openxmlformats.org/drawingml/2006/main">
              <a:ext uri="{FF2B5EF4-FFF2-40B4-BE49-F238E27FC236}">
                <a16:creationId xmlns:a16="http://schemas.microsoft.com/office/drawing/2014/main" id="{F4826FA2-F10F-467D-A4D1-0194C3E4F5B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50AC993B-C7C7-4CDB-B1B5-20F89749974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회의 요약과 후속 업무의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동의와 자문가 편집·확인</a:t>
            </a:r>
          </a:p>
        </p:txBody>
      </p:sp>
      <p:sp>
        <p:nvSpPr>
          <p:cNvPr id="8" name="">
            <a:extLst xmlns:a="http://schemas.openxmlformats.org/drawingml/2006/main">
              <a:ext uri="{FF2B5EF4-FFF2-40B4-BE49-F238E27FC236}">
                <a16:creationId xmlns:a16="http://schemas.microsoft.com/office/drawing/2014/main" id="{577D9737-5B01-49EE-A593-4E2BEAC039E4}"/>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E5277CF-0EED-4F73-AFB0-94ECA96865F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대화의 잘못된 요약·할일 추출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확인 전 CRM·이메일 반영</a:t>
            </a:r>
          </a:p>
        </p:txBody>
      </p:sp>
      <p:sp>
        <p:nvSpPr>
          <p:cNvPr id="10" name="">
            <a:extLst xmlns:a="http://schemas.openxmlformats.org/drawingml/2006/main">
              <a:ext uri="{FF2B5EF4-FFF2-40B4-BE49-F238E27FC236}">
                <a16:creationId xmlns:a16="http://schemas.microsoft.com/office/drawing/2014/main" id="{9685888E-BC37-4209-8918-B24675F883D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9F61CE12-DA86-46CB-8619-C9BDE961964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녹취 동의·사실·수신자·실행 확인</a:t>
            </a:r>
          </a:p>
        </p:txBody>
      </p:sp>
      <p:sp>
        <p:nvSpPr>
          <p:cNvPr id="12" name="">
            <a:extLst xmlns:a="http://schemas.openxmlformats.org/drawingml/2006/main">
              <a:ext uri="{FF2B5EF4-FFF2-40B4-BE49-F238E27FC236}">
                <a16:creationId xmlns:a16="http://schemas.microsoft.com/office/drawing/2014/main" id="{619C6A90-CFB2-4D9C-9E22-96D06E186D8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7EC35B3-E36E-4828-A9E8-9C9E559485B0}"/>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동의받은 회의에서 요약·할일을 만든 뒤 CRM 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a:t>
            </a:r>
          </a:p>
        </p:txBody>
      </p:sp>
      <p:sp>
        <p:nvSpPr>
          <p:cNvPr id="14" name="">
            <a:extLst xmlns:a="http://schemas.openxmlformats.org/drawingml/2006/main">
              <a:ext uri="{FF2B5EF4-FFF2-40B4-BE49-F238E27FC236}">
                <a16:creationId xmlns:a16="http://schemas.microsoft.com/office/drawing/2014/main" id="{183600B5-053A-4740-8C76-375632DB23F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421CBAD-FB9B-4980-9EAC-A9C6889F974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수신자·발언자 혼동·삭제 요청·미확인 할일</a:t>
            </a:r>
          </a:p>
        </p:txBody>
      </p:sp>
      <p:sp>
        <p:nvSpPr>
          <p:cNvPr id="16" name="">
            <a:extLst xmlns:a="http://schemas.openxmlformats.org/drawingml/2006/main">
              <a:ext uri="{FF2B5EF4-FFF2-40B4-BE49-F238E27FC236}">
                <a16:creationId xmlns:a16="http://schemas.microsoft.com/office/drawing/2014/main" id="{C1DC0071-8C82-4727-B3DC-6583580452D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7D7D930-B6D3-4F31-BA2E-3EB11DA7FBCD}"/>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동의·원 발화·수정·승인·CRM 반영 이력</a:t>
            </a:r>
          </a:p>
        </p:txBody>
      </p:sp>
    </p:spTree>
    <p:extLst>
      <p:ext uri="{BB962C8B-B14F-4D97-AF65-F5344CB8AC3E}">
        <p14:creationId xmlns:p14="http://schemas.microsoft.com/office/powerpoint/2010/main" val="552843753"/>
      </p:ext>
    </p:extLst>
  </p:cSld>
</p:sld>
</file>

<file path=ppt/slides/slide17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A96112-EA25-42E4-9F7D-778B028ED63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성과 미검증 / 해외</a:t>
            </a:r>
          </a:p>
        </p:txBody>
      </p:sp>
      <p:sp>
        <p:nvSpPr>
          <p:cNvPr id="2" name="">
            <a:extLst xmlns:a="http://schemas.openxmlformats.org/drawingml/2006/main">
              <a:ext uri="{FF2B5EF4-FFF2-40B4-BE49-F238E27FC236}">
                <a16:creationId xmlns:a16="http://schemas.microsoft.com/office/drawing/2014/main" id="{8228940F-0F26-4F6B-893B-486E213BE22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a:t>
            </a:r>
          </a:p>
        </p:txBody>
      </p:sp>
      <p:sp>
        <p:nvSpPr>
          <p:cNvPr id="3" name="">
            <a:extLst xmlns:a="http://schemas.openxmlformats.org/drawingml/2006/main">
              <a:ext uri="{FF2B5EF4-FFF2-40B4-BE49-F238E27FC236}">
                <a16:creationId xmlns:a16="http://schemas.microsoft.com/office/drawing/2014/main" id="{48F202E7-2EFE-47FC-843F-B2DF2A7A911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1E7AF8B-EB91-40CE-A741-F98E09EB436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B037690-1563-4747-98A6-F90738F406D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178</a:t>
            </a:r>
          </a:p>
        </p:txBody>
      </p:sp>
      <p:sp>
        <p:nvSpPr>
          <p:cNvPr id="6" name="">
            <a:extLst xmlns:a="http://schemas.openxmlformats.org/drawingml/2006/main">
              <a:ext uri="{FF2B5EF4-FFF2-40B4-BE49-F238E27FC236}">
                <a16:creationId xmlns:a16="http://schemas.microsoft.com/office/drawing/2014/main" id="{C4B12CB8-FF05-4298-9E79-2EABD6A0C48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5274EF5-E668-4B85-B824-4313B5D32582}"/>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JPMorgan Chase의 공통 LLM Suite와 사업부 활용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확산 사례. 공통 도구와 전사 데이터 기반을 마련한 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사업부의 업무별 적용을 확대하는 접근.</a:t>
            </a:r>
          </a:p>
        </p:txBody>
      </p:sp>
      <p:sp>
        <p:nvSpPr>
          <p:cNvPr id="8" name="">
            <a:extLst xmlns:a="http://schemas.openxmlformats.org/drawingml/2006/main">
              <a:ext uri="{FF2B5EF4-FFF2-40B4-BE49-F238E27FC236}">
                <a16:creationId xmlns:a16="http://schemas.microsoft.com/office/drawing/2014/main" id="{18629411-F973-49C1-900C-87F2226C5D0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238128D-4F16-46F0-BF76-DE972EC3AD1B}"/>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직원·사업부 문맥, 공통 AI 호출, 허용 자료 연결, 결과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 운영 관측의 계층으로 재구성. 공개 사례에서 확인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 이용 범위와 실제 내부 배치·데이터 연계·권한 구현은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분리해 해석하는 방식.</a:t>
            </a:r>
          </a:p>
        </p:txBody>
      </p:sp>
      <p:sp>
        <p:nvSpPr>
          <p:cNvPr id="10" name="">
            <a:extLst xmlns:a="http://schemas.openxmlformats.org/drawingml/2006/main">
              <a:ext uri="{FF2B5EF4-FFF2-40B4-BE49-F238E27FC236}">
                <a16:creationId xmlns:a16="http://schemas.microsoft.com/office/drawing/2014/main" id="{E2E4776E-C6FF-43EE-A0E0-E0348607787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B3F0D37-A795-4DBB-A59B-4AFD2E23FF0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1차 구축에서는 공통 계층의 조직 매핑·권한·감사·지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 운영을 우선 인수하고 후속 부서 업무를 단계별로 추가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하는 참고. 이용량 증가와 업무 완료 품질·비용·위험을 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께 관찰하는 확산 기준 필요.</a:t>
            </a:r>
          </a:p>
        </p:txBody>
      </p:sp>
      <p:sp>
        <p:nvSpPr>
          <p:cNvPr id="12" name="">
            <a:extLst xmlns:a="http://schemas.openxmlformats.org/drawingml/2006/main">
              <a:ext uri="{FF2B5EF4-FFF2-40B4-BE49-F238E27FC236}">
                <a16:creationId xmlns:a16="http://schemas.microsoft.com/office/drawing/2014/main" id="{2191EE15-D6B9-46F3-B1A3-0B50EC5E8A6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55CE231-C352-4BF2-BA8D-15FFA4E2159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28266751-6567-4CB1-8C80-1F3950C80B6E}"/>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A03FD83-17FE-465F-BD44-7AC41E0F3A1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7E0A3AF7-4985-4DF3-9E4F-6477D847CD8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5B9FC7F-B85F-4A1C-A753-3C5471170EF6}"/>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D3716F9E-3AED-4D23-BB0E-2C0B91E23E2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접근 가능과 활성이용 분모 다름. 거래심사 효율은 별도 AI 사례이며 LLM Suite 성과로 귀속 금지</a:t>
            </a:r>
          </a:p>
        </p:txBody>
      </p:sp>
    </p:spTree>
    <p:extLst>
      <p:ext uri="{BB962C8B-B14F-4D97-AF65-F5344CB8AC3E}">
        <p14:creationId xmlns:p14="http://schemas.microsoft.com/office/powerpoint/2010/main" val="1543171353"/>
      </p:ext>
    </p:extLst>
  </p:cSld>
</p:sld>
</file>

<file path=ppt/slides/slide17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A97564D-6F28-47E7-A2EC-4A134B0C217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As-Is → To-Be → 기대효과 → 확인 결과</a:t>
            </a:r>
          </a:p>
        </p:txBody>
      </p:sp>
      <p:sp>
        <p:nvSpPr>
          <p:cNvPr id="2" name="">
            <a:extLst xmlns:a="http://schemas.openxmlformats.org/drawingml/2006/main">
              <a:ext uri="{FF2B5EF4-FFF2-40B4-BE49-F238E27FC236}">
                <a16:creationId xmlns:a16="http://schemas.microsoft.com/office/drawing/2014/main" id="{85D507F3-064F-40F4-BB3E-56535B65D12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기대와 결과</a:t>
            </a:r>
          </a:p>
        </p:txBody>
      </p:sp>
      <p:sp>
        <p:nvSpPr>
          <p:cNvPr id="3" name="">
            <a:extLst xmlns:a="http://schemas.openxmlformats.org/drawingml/2006/main">
              <a:ext uri="{FF2B5EF4-FFF2-40B4-BE49-F238E27FC236}">
                <a16:creationId xmlns:a16="http://schemas.microsoft.com/office/drawing/2014/main" id="{7A4FE0D5-CD85-4CC3-A16B-3E37D5FF0FF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2A6B42-996C-4D02-A8EB-8E9EA672B0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5F1ABFD-4920-406B-B10B-693457F3051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179</a:t>
            </a:r>
          </a:p>
        </p:txBody>
      </p:sp>
      <p:sp>
        <p:nvSpPr>
          <p:cNvPr id="6" name="">
            <a:extLst xmlns:a="http://schemas.openxmlformats.org/drawingml/2006/main">
              <a:ext uri="{FF2B5EF4-FFF2-40B4-BE49-F238E27FC236}">
                <a16:creationId xmlns:a16="http://schemas.microsoft.com/office/drawing/2014/main" id="{1897E4E0-FA4F-4882-B29A-9E85087A9075}"/>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ED824C65-17E5-4AF3-8990-1CAEB92C1149}"/>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대형 금융그룹 내 사업부별 생성형 AI 도입·데이터 접근·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교육이 분산</a:t>
            </a:r>
          </a:p>
        </p:txBody>
      </p:sp>
      <p:sp>
        <p:nvSpPr>
          <p:cNvPr id="8" name="">
            <a:extLst xmlns:a="http://schemas.openxmlformats.org/drawingml/2006/main">
              <a:ext uri="{FF2B5EF4-FFF2-40B4-BE49-F238E27FC236}">
                <a16:creationId xmlns:a16="http://schemas.microsoft.com/office/drawing/2014/main" id="{B1653195-35C2-4EF3-80E4-A808F8C8F8B3}"/>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97AB0506-8B0A-45A8-A108-E01744D22F3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LLM Suite 공통 도구를 제공하고 사업부별 승인된 데이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터·업무 문맥에 적용</a:t>
            </a:r>
          </a:p>
        </p:txBody>
      </p:sp>
      <p:sp>
        <p:nvSpPr>
          <p:cNvPr id="10" name="">
            <a:extLst xmlns:a="http://schemas.openxmlformats.org/drawingml/2006/main">
              <a:ext uri="{FF2B5EF4-FFF2-40B4-BE49-F238E27FC236}">
                <a16:creationId xmlns:a16="http://schemas.microsoft.com/office/drawing/2014/main" id="{C8C062D4-CAC0-4557-8EC1-C7986914157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9460B1F-43C7-4B88-BEF4-C177E02DE488}"/>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도입기간·반복 개발비 감소와 각 사업부 업무 생산성 향상</a:t>
            </a:r>
          </a:p>
        </p:txBody>
      </p:sp>
      <p:sp>
        <p:nvSpPr>
          <p:cNvPr id="12" name="">
            <a:extLst xmlns:a="http://schemas.openxmlformats.org/drawingml/2006/main">
              <a:ext uri="{FF2B5EF4-FFF2-40B4-BE49-F238E27FC236}">
                <a16:creationId xmlns:a16="http://schemas.microsoft.com/office/drawing/2014/main" id="{D06C215C-18CD-41E2-B75B-A7493C2E8BCD}"/>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0BA6F38-724D-4E87-BDE9-2848B04837C9}"/>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JPMorganChase의 공통도구 출시·전사 접근 확대 발표.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사업부별 실제 사용과 목표 업무의 전후 비용·품질 자료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없음</a:t>
            </a:r>
          </a:p>
        </p:txBody>
      </p:sp>
      <p:sp>
        <p:nvSpPr>
          <p:cNvPr id="14" name="">
            <a:extLst xmlns:a="http://schemas.openxmlformats.org/drawingml/2006/main">
              <a:ext uri="{FF2B5EF4-FFF2-40B4-BE49-F238E27FC236}">
                <a16:creationId xmlns:a16="http://schemas.microsoft.com/office/drawing/2014/main" id="{BBEE846C-475B-481D-80C9-529B5508D0A7}"/>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접근 가능한 직원 수와 활성 이용, 별도 거래심사 AI 성과를 구분해야 함</a:t>
            </a:r>
          </a:p>
        </p:txBody>
      </p:sp>
      <p:sp>
        <p:nvSpPr>
          <p:cNvPr id="15" name="">
            <a:extLst xmlns:a="http://schemas.openxmlformats.org/drawingml/2006/main">
              <a:ext uri="{FF2B5EF4-FFF2-40B4-BE49-F238E27FC236}">
                <a16:creationId xmlns:a16="http://schemas.microsoft.com/office/drawing/2014/main" id="{CA0F5884-199B-4890-AE2B-370CC004ACC8}"/>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전사 공통도구 운영·기업 발표 · LLM Suite가 아닌 타 AI 업무 사례의 성과를 귀속하지 않음</a:t>
            </a:r>
          </a:p>
        </p:txBody>
      </p:sp>
    </p:spTree>
    <p:extLst>
      <p:ext uri="{BB962C8B-B14F-4D97-AF65-F5344CB8AC3E}">
        <p14:creationId xmlns:p14="http://schemas.microsoft.com/office/powerpoint/2010/main" val="1575439949"/>
      </p:ext>
    </p:extLst>
  </p:cSld>
</p:sld>
</file>

<file path=ppt/slides/slide18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5CD7AA3-335B-45F9-8DE4-311B329765EE}"/>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C5B6480-FAFC-40D6-9335-6691BB5D07EA}"/>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32C81AEC-46E4-4BCA-8447-DE88B6482001}"/>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4A804AC1-0EA0-406F-AF37-A25AE00C5C9B}"/>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3F99FD86-7019-48BF-AB9C-1168BA57E738}"/>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EE3B9C2-ACBA-40CB-A6E6-F2FF8D7370BB}"/>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FF681B9-DA89-41FC-B520-2FABA795C55A}"/>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F7E231ED-0E22-4707-8D64-44141145A7BE}"/>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91CE10D1-EABC-44BE-B995-47ABAE32B82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B22933A8-9746-4FCF-86F8-D765EACD19C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권한·목적 판정 후 허용·차단 분기</a:t>
            </a:r>
          </a:p>
        </p:txBody>
      </p:sp>
      <p:sp>
        <p:nvSpPr>
          <p:cNvPr id="2" name="">
            <a:extLst xmlns:a="http://schemas.openxmlformats.org/drawingml/2006/main">
              <a:ext uri="{FF2B5EF4-FFF2-40B4-BE49-F238E27FC236}">
                <a16:creationId xmlns:a16="http://schemas.microsoft.com/office/drawing/2014/main" id="{9832F639-5213-41BD-9EA3-081D03BA381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세부 서비스 구조</a:t>
            </a:r>
          </a:p>
        </p:txBody>
      </p:sp>
      <p:sp>
        <p:nvSpPr>
          <p:cNvPr id="3" name="">
            <a:extLst xmlns:a="http://schemas.openxmlformats.org/drawingml/2006/main">
              <a:ext uri="{FF2B5EF4-FFF2-40B4-BE49-F238E27FC236}">
                <a16:creationId xmlns:a16="http://schemas.microsoft.com/office/drawing/2014/main" id="{1A20F15A-22E2-48FF-B314-21E3A0C9913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0022D9-C003-4BF7-B5AD-F633AF2DE3C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C8956D2-BBEE-4C89-9431-B1CC6FB718B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180</a:t>
            </a:r>
          </a:p>
        </p:txBody>
      </p:sp>
      <p:sp>
        <p:nvSpPr>
          <p:cNvPr id="6" name="">
            <a:extLst xmlns:a="http://schemas.openxmlformats.org/drawingml/2006/main">
              <a:ext uri="{FF2B5EF4-FFF2-40B4-BE49-F238E27FC236}">
                <a16:creationId xmlns:a16="http://schemas.microsoft.com/office/drawing/2014/main" id="{A7172C86-2CD7-464C-9450-049F0ADFCFC7}"/>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공통 데이터 → LLM Suite → 사업부 업무 → 이용·운영 관리</a:t>
            </a:r>
          </a:p>
        </p:txBody>
      </p:sp>
      <p:sp>
        <p:nvSpPr>
          <p:cNvPr id="7" name="">
            <a:extLst xmlns:a="http://schemas.openxmlformats.org/drawingml/2006/main">
              <a:ext uri="{FF2B5EF4-FFF2-40B4-BE49-F238E27FC236}">
                <a16:creationId xmlns:a16="http://schemas.microsoft.com/office/drawing/2014/main" id="{45B1EA8C-A662-4E3D-AA58-22392F8DAA1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A9FF8B5-90ED-44FD-A30E-13E42F51CE2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A8D9229D-F64A-4F74-8174-E81DBB71E87E}"/>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AI 접점</a:t>
            </a:r>
          </a:p>
        </p:txBody>
      </p:sp>
      <p:sp>
        <p:nvSpPr>
          <p:cNvPr id="10" name="">
            <a:extLst xmlns:a="http://schemas.openxmlformats.org/drawingml/2006/main">
              <a:ext uri="{FF2B5EF4-FFF2-40B4-BE49-F238E27FC236}">
                <a16:creationId xmlns:a16="http://schemas.microsoft.com/office/drawing/2014/main" id="{FD7A7EF2-2230-4CD2-A3DC-AB88EB4553C9}"/>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8004BEC3-E2DB-4EF4-9C22-933DB44C1511}"/>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C6C07C0A-4B7A-4BF3-B893-179FB06FE82F}"/>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직무·자료 권한</a:t>
            </a:r>
          </a:p>
        </p:txBody>
      </p:sp>
      <p:sp>
        <p:nvSpPr>
          <p:cNvPr id="13" name="">
            <a:extLst xmlns:a="http://schemas.openxmlformats.org/drawingml/2006/main">
              <a:ext uri="{FF2B5EF4-FFF2-40B4-BE49-F238E27FC236}">
                <a16:creationId xmlns:a16="http://schemas.microsoft.com/office/drawing/2014/main" id="{D3571259-1DC0-4E4D-A6B9-919758277AEA}"/>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6CFF510-DEDF-4FED-B474-EB519818AFCD}"/>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0E099F48-D3D7-48D7-A40E-0953D4099FC6}"/>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실행 경계</a:t>
            </a:r>
          </a:p>
        </p:txBody>
      </p:sp>
      <p:sp>
        <p:nvSpPr>
          <p:cNvPr id="16" name="">
            <a:extLst xmlns:a="http://schemas.openxmlformats.org/drawingml/2006/main">
              <a:ext uri="{FF2B5EF4-FFF2-40B4-BE49-F238E27FC236}">
                <a16:creationId xmlns:a16="http://schemas.microsoft.com/office/drawing/2014/main" id="{9C719EC9-77C5-4167-8D7F-1335A32C389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53A426E5-F965-44AF-86DF-99EC44A4057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80FC9A4E-EEEB-4605-9117-7B8CB25B40D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근거·위험 검사</a:t>
            </a:r>
          </a:p>
        </p:txBody>
      </p:sp>
      <p:sp>
        <p:nvSpPr>
          <p:cNvPr id="19" name="">
            <a:extLst xmlns:a="http://schemas.openxmlformats.org/drawingml/2006/main">
              <a:ext uri="{FF2B5EF4-FFF2-40B4-BE49-F238E27FC236}">
                <a16:creationId xmlns:a16="http://schemas.microsoft.com/office/drawing/2014/main" id="{88ADEB4E-D66B-481E-9BD1-144E75FB5C55}"/>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A2E0C90-C4EA-4B2A-9539-6C13D39B9429}"/>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43A3447E-0B42-4417-84E0-144C16901884}"/>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전사·업무 자료</a:t>
            </a:r>
          </a:p>
        </p:txBody>
      </p:sp>
      <p:sp>
        <p:nvSpPr>
          <p:cNvPr id="22" name="">
            <a:extLst xmlns:a="http://schemas.openxmlformats.org/drawingml/2006/main">
              <a:ext uri="{FF2B5EF4-FFF2-40B4-BE49-F238E27FC236}">
                <a16:creationId xmlns:a16="http://schemas.microsoft.com/office/drawing/2014/main" id="{1C21E80F-88BE-4EEB-A7DA-C10E3E6A07A3}"/>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BF42487C-39A3-432E-8EE4-F8CC40133930}"/>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E853FB95-AFBB-448C-B032-885F3FAB315C}"/>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LLM Suite 지원</a:t>
            </a:r>
          </a:p>
        </p:txBody>
      </p:sp>
      <p:sp>
        <p:nvSpPr>
          <p:cNvPr id="25" name="">
            <a:extLst xmlns:a="http://schemas.openxmlformats.org/drawingml/2006/main">
              <a:ext uri="{FF2B5EF4-FFF2-40B4-BE49-F238E27FC236}">
                <a16:creationId xmlns:a16="http://schemas.microsoft.com/office/drawing/2014/main" id="{EFDBD7BB-C561-4FFF-B2BF-98B9DC849687}"/>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16D02F24-DED1-4800-A355-AD0F84D5856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85A712D4-143C-4BBE-B7F7-446E0CF8489A}"/>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직원 검토</a:t>
            </a:r>
          </a:p>
        </p:txBody>
      </p:sp>
      <p:sp>
        <p:nvSpPr>
          <p:cNvPr id="28" name="">
            <a:extLst xmlns:a="http://schemas.openxmlformats.org/drawingml/2006/main">
              <a:ext uri="{FF2B5EF4-FFF2-40B4-BE49-F238E27FC236}">
                <a16:creationId xmlns:a16="http://schemas.microsoft.com/office/drawing/2014/main" id="{E96B3DC3-C654-410D-BF9C-EFF35655E4AF}"/>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DDB9E97D-C347-4FC6-9AE4-76CB6C2649B9}"/>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370A7CCE-7613-40FC-8BBA-C9ABBB60A90E}"/>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사업별 업무 활용</a:t>
            </a:r>
          </a:p>
        </p:txBody>
      </p:sp>
      <p:sp>
        <p:nvSpPr>
          <p:cNvPr id="31" name="">
            <a:extLst xmlns:a="http://schemas.openxmlformats.org/drawingml/2006/main">
              <a:ext uri="{FF2B5EF4-FFF2-40B4-BE49-F238E27FC236}">
                <a16:creationId xmlns:a16="http://schemas.microsoft.com/office/drawing/2014/main" id="{10B1EC7F-C013-469F-B223-10357DD8BDC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B20FD44-BB4B-4C3B-84C3-5DF50458BFE2}"/>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DD646C47-E097-4AE0-AA58-0E82438EA3B8}"/>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비용·정답 평가</a:t>
            </a:r>
          </a:p>
        </p:txBody>
      </p:sp>
      <p:sp>
        <p:nvSpPr>
          <p:cNvPr id="34" name="">
            <a:extLst xmlns:a="http://schemas.openxmlformats.org/drawingml/2006/main">
              <a:ext uri="{FF2B5EF4-FFF2-40B4-BE49-F238E27FC236}">
                <a16:creationId xmlns:a16="http://schemas.microsoft.com/office/drawing/2014/main" id="{3893A942-C46B-4000-AAD9-1B9D75FE2E42}"/>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322755AA-C5CF-46EF-AA47-920E07E10221}"/>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DBE9A92A-7E79-443A-959F-CC0DDEA4FD6B}"/>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문맥·평가 기록</a:t>
            </a:r>
          </a:p>
        </p:txBody>
      </p:sp>
      <p:sp>
        <p:nvSpPr>
          <p:cNvPr id="46" name="">
            <a:extLst xmlns:a="http://schemas.openxmlformats.org/drawingml/2006/main">
              <a:ext uri="{FF2B5EF4-FFF2-40B4-BE49-F238E27FC236}">
                <a16:creationId xmlns:a16="http://schemas.microsoft.com/office/drawing/2014/main" id="{E6E646A7-F552-411D-937F-06164548315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9034373"/>
      </p:ext>
    </p:extLst>
  </p:cSld>
</p:sld>
</file>

<file path=ppt/slides/slide18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632BA90-9968-43B9-9EE7-11D5BD3038A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논리 인터페이스·복구 설계</a:t>
            </a:r>
          </a:p>
        </p:txBody>
      </p:sp>
      <p:sp>
        <p:nvSpPr>
          <p:cNvPr id="2" name="">
            <a:extLst xmlns:a="http://schemas.openxmlformats.org/drawingml/2006/main">
              <a:ext uri="{FF2B5EF4-FFF2-40B4-BE49-F238E27FC236}">
                <a16:creationId xmlns:a16="http://schemas.microsoft.com/office/drawing/2014/main" id="{37D403CE-5184-47CB-8697-1074F3CF26A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데이터와 예외 처리</a:t>
            </a:r>
          </a:p>
        </p:txBody>
      </p:sp>
      <p:sp>
        <p:nvSpPr>
          <p:cNvPr id="3" name="">
            <a:extLst xmlns:a="http://schemas.openxmlformats.org/drawingml/2006/main">
              <a:ext uri="{FF2B5EF4-FFF2-40B4-BE49-F238E27FC236}">
                <a16:creationId xmlns:a16="http://schemas.microsoft.com/office/drawing/2014/main" id="{ED674CD1-BE25-4DB2-9038-AE5E4101CFB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428DD57-E153-41F9-B624-CB2DCAD5BB4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56333A9-6D54-4F0B-BF88-3DAC95C5ECD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181</a:t>
            </a:r>
          </a:p>
        </p:txBody>
      </p:sp>
      <p:sp>
        <p:nvSpPr>
          <p:cNvPr id="6" name="">
            <a:extLst xmlns:a="http://schemas.openxmlformats.org/drawingml/2006/main">
              <a:ext uri="{FF2B5EF4-FFF2-40B4-BE49-F238E27FC236}">
                <a16:creationId xmlns:a16="http://schemas.microsoft.com/office/drawing/2014/main" id="{912960EE-45F2-44A1-9A92-B84F003DDF1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0B8F580-0E69-4E09-8527-D9BD0BC25A3D}"/>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AF52FD6-63F6-4B38-8308-1F48F1F8FB9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6ACE01F3-ACDC-41B8-92E6-22E47A0CDE8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사업부·직무·자료 접근조건 구성</a:t>
            </a:r>
          </a:p>
        </p:txBody>
      </p:sp>
      <p:sp>
        <p:nvSpPr>
          <p:cNvPr id="10" name="">
            <a:extLst xmlns:a="http://schemas.openxmlformats.org/drawingml/2006/main">
              <a:ext uri="{FF2B5EF4-FFF2-40B4-BE49-F238E27FC236}">
                <a16:creationId xmlns:a16="http://schemas.microsoft.com/office/drawing/2014/main" id="{1DC20CC0-0EAB-4509-A047-4DEB5866073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469E22-A5C4-474C-BA93-2A5D3D1DBEC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B788450F-8E02-4A15-871D-F37FE931822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27A9D306-7D67-4AC3-8A1A-B9E231AFF5B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6B8A365-C2C2-4229-9A2E-4630925F2A0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096672CF-4323-414F-90C6-CB1B64657A38}"/>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사업부 실행 경계</a:t>
            </a:r>
          </a:p>
        </p:txBody>
      </p:sp>
      <p:sp>
        <p:nvSpPr>
          <p:cNvPr id="16" name="">
            <a:extLst xmlns:a="http://schemas.openxmlformats.org/drawingml/2006/main">
              <a:ext uri="{FF2B5EF4-FFF2-40B4-BE49-F238E27FC236}">
                <a16:creationId xmlns:a16="http://schemas.microsoft.com/office/drawing/2014/main" id="{1DA6D10A-9CAE-47D1-B2AB-492A0296878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A9F1AB0-084F-4186-AEFC-F11659FD89A5}"/>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2511F73C-E649-453D-A9EE-A7FC601F20B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AI 결과</a:t>
            </a:r>
          </a:p>
        </p:txBody>
      </p:sp>
      <p:sp>
        <p:nvSpPr>
          <p:cNvPr id="19" name="">
            <a:extLst xmlns:a="http://schemas.openxmlformats.org/drawingml/2006/main">
              <a:ext uri="{FF2B5EF4-FFF2-40B4-BE49-F238E27FC236}">
                <a16:creationId xmlns:a16="http://schemas.microsoft.com/office/drawing/2014/main" id="{44C2919C-F3E8-45F1-A644-DB55902CAE5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BB4138-D3B3-44DA-B8A5-74E4891C96E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99C87640-AA0F-407D-983D-C04608268BC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AI 결과</a:t>
            </a:r>
          </a:p>
        </p:txBody>
      </p:sp>
      <p:sp>
        <p:nvSpPr>
          <p:cNvPr id="22" name="">
            <a:extLst xmlns:a="http://schemas.openxmlformats.org/drawingml/2006/main">
              <a:ext uri="{FF2B5EF4-FFF2-40B4-BE49-F238E27FC236}">
                <a16:creationId xmlns:a16="http://schemas.microsoft.com/office/drawing/2014/main" id="{A1551CBD-9DF4-4056-B0FC-FDE5D8BAD83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EB584A5-18C0-40B8-A8E7-63FABB93844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526E2447-9850-4F33-B120-68CD7733EEC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이용·운영 기록</a:t>
            </a:r>
          </a:p>
        </p:txBody>
      </p:sp>
      <p:sp>
        <p:nvSpPr>
          <p:cNvPr id="25" name="">
            <a:extLst xmlns:a="http://schemas.openxmlformats.org/drawingml/2006/main">
              <a:ext uri="{FF2B5EF4-FFF2-40B4-BE49-F238E27FC236}">
                <a16:creationId xmlns:a16="http://schemas.microsoft.com/office/drawing/2014/main" id="{5D4BD7FB-652B-4373-B7D8-E99390F7DE7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914466C-9B68-43AE-88AB-1C3D3B16C9D7}"/>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 간 지식 노출·개정 지연·비용 급증</a:t>
            </a:r>
          </a:p>
        </p:txBody>
      </p:sp>
      <p:sp>
        <p:nvSpPr>
          <p:cNvPr id="27" name="">
            <a:extLst xmlns:a="http://schemas.openxmlformats.org/drawingml/2006/main">
              <a:ext uri="{FF2B5EF4-FFF2-40B4-BE49-F238E27FC236}">
                <a16:creationId xmlns:a16="http://schemas.microsoft.com/office/drawing/2014/main" id="{69A31D63-9981-4797-AC1A-862165AAB6B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742EFCD1-FF95-4097-82DA-7D883146FC6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사업부별 정답·권한·비용 평가</a:t>
            </a:r>
          </a:p>
        </p:txBody>
      </p:sp>
      <p:sp>
        <p:nvSpPr>
          <p:cNvPr id="29" name="">
            <a:extLst xmlns:a="http://schemas.openxmlformats.org/drawingml/2006/main">
              <a:ext uri="{FF2B5EF4-FFF2-40B4-BE49-F238E27FC236}">
                <a16:creationId xmlns:a16="http://schemas.microsoft.com/office/drawing/2014/main" id="{25056F20-0D65-45E7-9303-40D74FBBFFD4}"/>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B65CDD9-C807-4421-AA6E-CC547E26C175}"/>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사업부별 이용·정답·위험·운영 비용 평가</a:t>
            </a:r>
          </a:p>
        </p:txBody>
      </p:sp>
      <p:sp>
        <p:nvSpPr>
          <p:cNvPr id="31" name="">
            <a:extLst xmlns:a="http://schemas.openxmlformats.org/drawingml/2006/main">
              <a:ext uri="{FF2B5EF4-FFF2-40B4-BE49-F238E27FC236}">
                <a16:creationId xmlns:a16="http://schemas.microsoft.com/office/drawing/2014/main" id="{EE1EA9FA-BCD3-4A7A-98E6-CBF19E80D07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7740D98-D87D-4B24-9E38-D5DA07EF690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부서별 권한·정답·응답비용·운영 로그</a:t>
            </a:r>
          </a:p>
        </p:txBody>
      </p:sp>
    </p:spTree>
    <p:extLst>
      <p:ext uri="{BB962C8B-B14F-4D97-AF65-F5344CB8AC3E}">
        <p14:creationId xmlns:p14="http://schemas.microsoft.com/office/powerpoint/2010/main" val="124150460"/>
      </p:ext>
    </p:extLst>
  </p:cSld>
</p:sld>
</file>

<file path=ppt/slides/slide18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8BEC677-7CBA-48D5-8DA0-358D2B6EA85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CCK 비교·재현 시험 설계</a:t>
            </a:r>
          </a:p>
        </p:txBody>
      </p:sp>
      <p:sp>
        <p:nvSpPr>
          <p:cNvPr id="2" name="">
            <a:extLst xmlns:a="http://schemas.openxmlformats.org/drawingml/2006/main">
              <a:ext uri="{FF2B5EF4-FFF2-40B4-BE49-F238E27FC236}">
                <a16:creationId xmlns:a16="http://schemas.microsoft.com/office/drawing/2014/main" id="{925785D7-0189-49DF-8223-E4E7FC64577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벤치마킹</a:t>
            </a:r>
          </a:p>
        </p:txBody>
      </p:sp>
      <p:sp>
        <p:nvSpPr>
          <p:cNvPr id="3" name="">
            <a:extLst xmlns:a="http://schemas.openxmlformats.org/drawingml/2006/main">
              <a:ext uri="{FF2B5EF4-FFF2-40B4-BE49-F238E27FC236}">
                <a16:creationId xmlns:a16="http://schemas.microsoft.com/office/drawing/2014/main" id="{5D6688AB-40D1-428F-8485-F407C17D6C0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FB15B6-6B08-4913-BC00-21414F85DD7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122E26F-466C-4765-B3CD-F040A74CE09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182</a:t>
            </a:r>
          </a:p>
        </p:txBody>
      </p:sp>
      <p:sp>
        <p:nvSpPr>
          <p:cNvPr id="6" name="">
            <a:extLst xmlns:a="http://schemas.openxmlformats.org/drawingml/2006/main">
              <a:ext uri="{FF2B5EF4-FFF2-40B4-BE49-F238E27FC236}">
                <a16:creationId xmlns:a16="http://schemas.microsoft.com/office/drawing/2014/main" id="{DC4971B1-49E6-49C2-9357-8309AAC29E33}"/>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24B37CAE-1E9D-4E24-9279-92DD02EC631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공통 AI 기반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사업부별 활용 접점의 확장</a:t>
            </a:r>
          </a:p>
        </p:txBody>
      </p:sp>
      <p:sp>
        <p:nvSpPr>
          <p:cNvPr id="8" name="">
            <a:extLst xmlns:a="http://schemas.openxmlformats.org/drawingml/2006/main">
              <a:ext uri="{FF2B5EF4-FFF2-40B4-BE49-F238E27FC236}">
                <a16:creationId xmlns:a16="http://schemas.microsoft.com/office/drawing/2014/main" id="{E7FD0DEA-E0F4-4901-B942-C2A5C2C7C040}"/>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25FC937F-A13E-46A6-B0D6-E39164543C9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사업부별 지식·권한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확산을 일률적 효과로 환산</a:t>
            </a:r>
          </a:p>
        </p:txBody>
      </p:sp>
      <p:sp>
        <p:nvSpPr>
          <p:cNvPr id="10" name="">
            <a:extLst xmlns:a="http://schemas.openxmlformats.org/drawingml/2006/main">
              <a:ext uri="{FF2B5EF4-FFF2-40B4-BE49-F238E27FC236}">
                <a16:creationId xmlns:a16="http://schemas.microsoft.com/office/drawing/2014/main" id="{E3B68F8E-D658-40A2-B11A-415471D2CE0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76C8BB8-C9A0-461A-9A07-06818750576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사업부별 정답·권한·비용 평가</a:t>
            </a:r>
          </a:p>
        </p:txBody>
      </p:sp>
      <p:sp>
        <p:nvSpPr>
          <p:cNvPr id="12" name="">
            <a:extLst xmlns:a="http://schemas.openxmlformats.org/drawingml/2006/main">
              <a:ext uri="{FF2B5EF4-FFF2-40B4-BE49-F238E27FC236}">
                <a16:creationId xmlns:a16="http://schemas.microsoft.com/office/drawing/2014/main" id="{4750CC6B-0AA8-476D-A2BB-DD6E0BA7487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E5FDC32-F6D0-46C5-BDEC-E96F1CBEA9D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 업무 문맥으로 공통 AI 지원 결과 활용</a:t>
            </a:r>
          </a:p>
        </p:txBody>
      </p:sp>
      <p:sp>
        <p:nvSpPr>
          <p:cNvPr id="14" name="">
            <a:extLst xmlns:a="http://schemas.openxmlformats.org/drawingml/2006/main">
              <a:ext uri="{FF2B5EF4-FFF2-40B4-BE49-F238E27FC236}">
                <a16:creationId xmlns:a16="http://schemas.microsoft.com/office/drawing/2014/main" id="{3FD77698-0E65-44F4-8E15-F7835506E2D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5CBA964-5756-42E5-BC68-5A0F23EF752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 간 지식 노출·개정 지연·비용 급증</a:t>
            </a:r>
          </a:p>
        </p:txBody>
      </p:sp>
      <p:sp>
        <p:nvSpPr>
          <p:cNvPr id="16" name="">
            <a:extLst xmlns:a="http://schemas.openxmlformats.org/drawingml/2006/main">
              <a:ext uri="{FF2B5EF4-FFF2-40B4-BE49-F238E27FC236}">
                <a16:creationId xmlns:a16="http://schemas.microsoft.com/office/drawing/2014/main" id="{2FBAA574-7040-4BA1-951B-B3DE3B6EA10A}"/>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D8EE0FF-CF1B-45CE-9958-D1DFC6C647A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부서별 권한·정답·응답비용·운영 로그</a:t>
            </a:r>
          </a:p>
        </p:txBody>
      </p:sp>
    </p:spTree>
    <p:extLst>
      <p:ext uri="{BB962C8B-B14F-4D97-AF65-F5344CB8AC3E}">
        <p14:creationId xmlns:p14="http://schemas.microsoft.com/office/powerpoint/2010/main" val="785539929"/>
      </p:ext>
    </p:extLst>
  </p:cSld>
</p:sld>
</file>

<file path=ppt/slides/slide18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69E38B0-36B2-4F9F-B80F-5A7629AD584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성과 미검증 / 해외</a:t>
            </a:r>
          </a:p>
        </p:txBody>
      </p:sp>
      <p:sp>
        <p:nvSpPr>
          <p:cNvPr id="2" name="">
            <a:extLst xmlns:a="http://schemas.openxmlformats.org/drawingml/2006/main">
              <a:ext uri="{FF2B5EF4-FFF2-40B4-BE49-F238E27FC236}">
                <a16:creationId xmlns:a16="http://schemas.microsoft.com/office/drawing/2014/main" id="{C61C324F-A34E-4F80-B594-4AB1DEA60D9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a:t>
            </a:r>
          </a:p>
        </p:txBody>
      </p:sp>
      <p:sp>
        <p:nvSpPr>
          <p:cNvPr id="3" name="">
            <a:extLst xmlns:a="http://schemas.openxmlformats.org/drawingml/2006/main">
              <a:ext uri="{FF2B5EF4-FFF2-40B4-BE49-F238E27FC236}">
                <a16:creationId xmlns:a16="http://schemas.microsoft.com/office/drawing/2014/main" id="{71ED5CAF-368A-48DD-9663-18AFADCD01A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04CF058-61F7-41E1-93E5-9491C9E0497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56E5D6C-AFE0-4CA4-8039-E25D722A5AA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183</a:t>
            </a:r>
          </a:p>
        </p:txBody>
      </p:sp>
      <p:sp>
        <p:nvSpPr>
          <p:cNvPr id="6" name="">
            <a:extLst xmlns:a="http://schemas.openxmlformats.org/drawingml/2006/main">
              <a:ext uri="{FF2B5EF4-FFF2-40B4-BE49-F238E27FC236}">
                <a16:creationId xmlns:a16="http://schemas.microsoft.com/office/drawing/2014/main" id="{01E5E7A5-36AE-4311-BE4A-800574F4468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B9EC1A1-BB88-4B5C-AAEE-4CD688725C7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Microsoft Graph의 조직 관계 활용 기능을 조직 네이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티브 AI의 구성요소 관점에서 분석한 사례. 상사·보고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계·추가 관계를 식별해 질의 대상과 업무 문맥을 연결하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기능 범위.</a:t>
            </a:r>
          </a:p>
        </p:txBody>
      </p:sp>
      <p:sp>
        <p:nvSpPr>
          <p:cNvPr id="8" name="">
            <a:extLst xmlns:a="http://schemas.openxmlformats.org/drawingml/2006/main">
              <a:ext uri="{FF2B5EF4-FFF2-40B4-BE49-F238E27FC236}">
                <a16:creationId xmlns:a16="http://schemas.microsoft.com/office/drawing/2014/main" id="{1C8AAB33-CA27-4791-9342-E7B9B637675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6B54930-6DD0-46A1-898C-544E6A7398A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지원되는 디렉터리·관계 유형과 직원 식별정보를 대조하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요청자에게 허용된 관계 정보를 조회하는 흐름. 직원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이름을 단순 검색어로 사용하는 방식과 공식 ID·관계 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형·효력일을 이용하는 방식의 차이를 비교하는 설계.</a:t>
            </a:r>
          </a:p>
        </p:txBody>
      </p:sp>
      <p:sp>
        <p:nvSpPr>
          <p:cNvPr id="10" name="">
            <a:extLst xmlns:a="http://schemas.openxmlformats.org/drawingml/2006/main">
              <a:ext uri="{FF2B5EF4-FFF2-40B4-BE49-F238E27FC236}">
                <a16:creationId xmlns:a16="http://schemas.microsoft.com/office/drawing/2014/main" id="{524926E6-7D0F-4935-BE3E-0858B692B1F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CD75D43C-E1F3-4367-80EA-FF22D4CCB1E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직속 상사 관계가 문서 열람·결재 권한을 자동 부여하는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근거는 아님. TS에서는 조직 관계 그래프와 업무시스템의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권한 정책을 분리하고 겸직·파견·대결·전보·동명이인 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건에서 허용된 관계와 실제 접근 권한을 함께 시험.</a:t>
            </a:r>
          </a:p>
        </p:txBody>
      </p:sp>
      <p:sp>
        <p:nvSpPr>
          <p:cNvPr id="12" name="">
            <a:extLst xmlns:a="http://schemas.openxmlformats.org/drawingml/2006/main">
              <a:ext uri="{FF2B5EF4-FFF2-40B4-BE49-F238E27FC236}">
                <a16:creationId xmlns:a16="http://schemas.microsoft.com/office/drawing/2014/main" id="{29FE6BD7-2F8D-4FF7-A890-2B4901DC17D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2CF44EE-D721-48FC-AE84-C5D9A92FA95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사번·직무·별칭·겸직·책임업무 매핑</a:t>
            </a:r>
          </a:p>
        </p:txBody>
      </p:sp>
      <p:sp>
        <p:nvSpPr>
          <p:cNvPr id="14" name="">
            <a:extLst xmlns:a="http://schemas.openxmlformats.org/drawingml/2006/main">
              <a:ext uri="{FF2B5EF4-FFF2-40B4-BE49-F238E27FC236}">
                <a16:creationId xmlns:a16="http://schemas.microsoft.com/office/drawing/2014/main" id="{BFBBBD2A-A5C2-4F5A-9816-1ACBC598BBE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6D18C39-C4AF-4D5C-9733-F43E94F218B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인물 식별·직무 매핑 정확도의 기준선·비교 평가</a:t>
            </a:r>
          </a:p>
        </p:txBody>
      </p:sp>
      <p:sp>
        <p:nvSpPr>
          <p:cNvPr id="16" name="">
            <a:extLst xmlns:a="http://schemas.openxmlformats.org/drawingml/2006/main">
              <a:ext uri="{FF2B5EF4-FFF2-40B4-BE49-F238E27FC236}">
                <a16:creationId xmlns:a16="http://schemas.microsoft.com/office/drawing/2014/main" id="{0F23FA92-3BDB-40AF-8D26-0A27B915CF3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1D8FCA6-1B05-49A4-94F5-6BDC43EC3916}"/>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인물 식별·직무 매핑 정확도</a:t>
            </a:r>
          </a:p>
        </p:txBody>
      </p:sp>
      <p:sp>
        <p:nvSpPr>
          <p:cNvPr id="18" name="">
            <a:extLst xmlns:a="http://schemas.openxmlformats.org/drawingml/2006/main">
              <a:ext uri="{FF2B5EF4-FFF2-40B4-BE49-F238E27FC236}">
                <a16:creationId xmlns:a16="http://schemas.microsoft.com/office/drawing/2014/main" id="{7F364CD2-217D-4FF6-9D0C-5BBBB6BC1E77}"/>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지원 관계·데이터 조건에 따름. TS 업무분장·권한 변경 처리 품질은 별도 시험 필요</a:t>
            </a:r>
          </a:p>
        </p:txBody>
      </p:sp>
    </p:spTree>
    <p:extLst>
      <p:ext uri="{BB962C8B-B14F-4D97-AF65-F5344CB8AC3E}">
        <p14:creationId xmlns:p14="http://schemas.microsoft.com/office/powerpoint/2010/main" val="1454085373"/>
      </p:ext>
    </p:extLst>
  </p:cSld>
</p:sld>
</file>

<file path=ppt/slides/slide18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40297D-606C-439A-910E-340555E9D86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As-Is → To-Be → 기대효과 → 확인 결과</a:t>
            </a:r>
          </a:p>
        </p:txBody>
      </p:sp>
      <p:sp>
        <p:nvSpPr>
          <p:cNvPr id="2" name="">
            <a:extLst xmlns:a="http://schemas.openxmlformats.org/drawingml/2006/main">
              <a:ext uri="{FF2B5EF4-FFF2-40B4-BE49-F238E27FC236}">
                <a16:creationId xmlns:a16="http://schemas.microsoft.com/office/drawing/2014/main" id="{F879B07A-82E1-4C0F-846E-1C8EEAA67C9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기대와 결과</a:t>
            </a:r>
          </a:p>
        </p:txBody>
      </p:sp>
      <p:sp>
        <p:nvSpPr>
          <p:cNvPr id="3" name="">
            <a:extLst xmlns:a="http://schemas.openxmlformats.org/drawingml/2006/main">
              <a:ext uri="{FF2B5EF4-FFF2-40B4-BE49-F238E27FC236}">
                <a16:creationId xmlns:a16="http://schemas.microsoft.com/office/drawing/2014/main" id="{DA3ADAF0-AB14-43FC-B002-171E82591C4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747A94-FB24-496B-A4A3-6A182EA43A5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47CF2D9-E26F-40D8-A90F-121A957FA4F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184</a:t>
            </a:r>
          </a:p>
        </p:txBody>
      </p:sp>
      <p:sp>
        <p:nvSpPr>
          <p:cNvPr id="6" name="">
            <a:extLst xmlns:a="http://schemas.openxmlformats.org/drawingml/2006/main">
              <a:ext uri="{FF2B5EF4-FFF2-40B4-BE49-F238E27FC236}">
                <a16:creationId xmlns:a16="http://schemas.microsoft.com/office/drawing/2014/main" id="{ACCA266B-B6A9-42F3-9726-2C77C728C020}"/>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210BF4C4-113C-4360-AC3E-7BF2F15FE3B4}"/>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직원 상사·보좌·점선 보고 관계를 개인 검색이나 수동 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로필에 의존</a:t>
            </a:r>
          </a:p>
        </p:txBody>
      </p:sp>
      <p:sp>
        <p:nvSpPr>
          <p:cNvPr id="8" name="">
            <a:extLst xmlns:a="http://schemas.openxmlformats.org/drawingml/2006/main">
              <a:ext uri="{FF2B5EF4-FFF2-40B4-BE49-F238E27FC236}">
                <a16:creationId xmlns:a16="http://schemas.microsoft.com/office/drawing/2014/main" id="{69B5B134-EBA3-48CB-AC53-401DC7CE546C}"/>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118A349F-11BB-49F2-A9B7-1B4E669195A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M365 공식 People 관계 데이터를 지원 커넥터로 질의응</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 문맥에 반영</a:t>
            </a:r>
          </a:p>
        </p:txBody>
      </p:sp>
      <p:sp>
        <p:nvSpPr>
          <p:cNvPr id="10" name="">
            <a:extLst xmlns:a="http://schemas.openxmlformats.org/drawingml/2006/main">
              <a:ext uri="{FF2B5EF4-FFF2-40B4-BE49-F238E27FC236}">
                <a16:creationId xmlns:a16="http://schemas.microsoft.com/office/drawing/2014/main" id="{348B8B4B-F9CC-4CA8-BC6E-32723CF2D463}"/>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7AF00013-C605-42A0-8056-FFCFED68B7E5}"/>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인물·관계 식별 정확도 향상과 소속 설명 반복 감소</a:t>
            </a:r>
          </a:p>
        </p:txBody>
      </p:sp>
      <p:sp>
        <p:nvSpPr>
          <p:cNvPr id="12" name="">
            <a:extLst xmlns:a="http://schemas.openxmlformats.org/drawingml/2006/main">
              <a:ext uri="{FF2B5EF4-FFF2-40B4-BE49-F238E27FC236}">
                <a16:creationId xmlns:a16="http://schemas.microsoft.com/office/drawing/2014/main" id="{92302670-61D4-4638-A465-44523D9A7E5B}"/>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2811361B-112C-433D-B9F2-A6CC5FA23036}"/>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Microsoft 공식 문서의 지원 필드·관계 기능 확인. 특정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기관의 도입·업무성과 사례는 아님</a:t>
            </a:r>
          </a:p>
        </p:txBody>
      </p:sp>
      <p:sp>
        <p:nvSpPr>
          <p:cNvPr id="14" name="">
            <a:extLst xmlns:a="http://schemas.openxmlformats.org/drawingml/2006/main">
              <a:ext uri="{FF2B5EF4-FFF2-40B4-BE49-F238E27FC236}">
                <a16:creationId xmlns:a16="http://schemas.microsoft.com/office/drawing/2014/main" id="{F8D006F2-AD44-4186-AB6F-BDB93611559E}"/>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기능 존재만으로 TS 조직·직무 매핑 정확도나 권한 통제 검증 불가</a:t>
            </a:r>
          </a:p>
        </p:txBody>
      </p:sp>
      <p:sp>
        <p:nvSpPr>
          <p:cNvPr id="15" name="">
            <a:extLst xmlns:a="http://schemas.openxmlformats.org/drawingml/2006/main">
              <a:ext uri="{FF2B5EF4-FFF2-40B4-BE49-F238E27FC236}">
                <a16:creationId xmlns:a16="http://schemas.microsoft.com/office/drawing/2014/main" id="{6F1D84A7-D388-4165-AC3F-AA4EA0672A03}"/>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제품 기능 문서 · 관계 데이터와 업무분장·실행 권한을 별도로 설계해야 함</a:t>
            </a:r>
          </a:p>
        </p:txBody>
      </p:sp>
    </p:spTree>
    <p:extLst>
      <p:ext uri="{BB962C8B-B14F-4D97-AF65-F5344CB8AC3E}">
        <p14:creationId xmlns:p14="http://schemas.microsoft.com/office/powerpoint/2010/main" val="1044054924"/>
      </p:ext>
    </p:extLst>
  </p:cSld>
</p:sld>
</file>

<file path=ppt/slides/slide18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299A7ABD-D1C9-4FF7-87C3-4EF278DCAB42}"/>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31B1633B-8AEB-4914-8F6F-26A6B371AC42}"/>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1F1283B-86D1-438C-8876-93932C468634}"/>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D7A0552-82A8-4FEF-B714-1F140A477C78}"/>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B8E0D37E-3852-458C-BC64-9C748B7B7B3B}"/>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822DEF6-8DCC-4588-8BB4-B5573F9FF4DE}"/>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A1396C40-4DDD-4258-9D42-D003EFCF2425}"/>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61A08E60-F9CF-4078-88F9-7F811F513D15}"/>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8444B6AD-48E7-478A-8F20-50BEC729BC0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E6C9F5CA-9556-4A42-B62D-FD5BE001B46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권한·목적 판정 후 허용·차단 분기</a:t>
            </a:r>
          </a:p>
        </p:txBody>
      </p:sp>
      <p:sp>
        <p:nvSpPr>
          <p:cNvPr id="2" name="">
            <a:extLst xmlns:a="http://schemas.openxmlformats.org/drawingml/2006/main">
              <a:ext uri="{FF2B5EF4-FFF2-40B4-BE49-F238E27FC236}">
                <a16:creationId xmlns:a16="http://schemas.microsoft.com/office/drawing/2014/main" id="{BCFAEC59-047F-410B-942E-C94DA8E0833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세부 서비스 구조</a:t>
            </a:r>
          </a:p>
        </p:txBody>
      </p:sp>
      <p:sp>
        <p:nvSpPr>
          <p:cNvPr id="3" name="">
            <a:extLst xmlns:a="http://schemas.openxmlformats.org/drawingml/2006/main">
              <a:ext uri="{FF2B5EF4-FFF2-40B4-BE49-F238E27FC236}">
                <a16:creationId xmlns:a16="http://schemas.microsoft.com/office/drawing/2014/main" id="{A3470E7A-7FD4-469A-8AD1-E21840DFE4A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A4E477-D5D6-476D-966D-F2EAC7A157D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F25323B-61D7-4033-8770-24173A25CB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185</a:t>
            </a:r>
          </a:p>
        </p:txBody>
      </p:sp>
      <p:sp>
        <p:nvSpPr>
          <p:cNvPr id="6" name="">
            <a:extLst xmlns:a="http://schemas.openxmlformats.org/drawingml/2006/main">
              <a:ext uri="{FF2B5EF4-FFF2-40B4-BE49-F238E27FC236}">
                <a16:creationId xmlns:a16="http://schemas.microsoft.com/office/drawing/2014/main" id="{2A600D78-9044-46AB-A719-FCCEA58909D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정보 → 관계 커넥터 → 조직 관계 질의 → 접근 범위 응답</a:t>
            </a:r>
          </a:p>
        </p:txBody>
      </p:sp>
      <p:sp>
        <p:nvSpPr>
          <p:cNvPr id="7" name="">
            <a:extLst xmlns:a="http://schemas.openxmlformats.org/drawingml/2006/main">
              <a:ext uri="{FF2B5EF4-FFF2-40B4-BE49-F238E27FC236}">
                <a16:creationId xmlns:a16="http://schemas.microsoft.com/office/drawing/2014/main" id="{DE30AC87-0B3C-4C31-997A-406D8EA90E4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63FB35D-E84E-4590-85DB-6D13000F904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EC2F06EC-714E-4B49-B808-B242FA50029D}"/>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조직 관계 질의</a:t>
            </a:r>
          </a:p>
        </p:txBody>
      </p:sp>
      <p:sp>
        <p:nvSpPr>
          <p:cNvPr id="10" name="">
            <a:extLst xmlns:a="http://schemas.openxmlformats.org/drawingml/2006/main">
              <a:ext uri="{FF2B5EF4-FFF2-40B4-BE49-F238E27FC236}">
                <a16:creationId xmlns:a16="http://schemas.microsoft.com/office/drawing/2014/main" id="{90A959D8-F6D9-41A9-AB87-1DF93D75EB72}"/>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25B084BE-9942-45EE-8711-C7F7932A1FD7}"/>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899ED9B8-2748-4B16-B688-235AC63C1DC2}"/>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로그인·대상 ID</a:t>
            </a:r>
          </a:p>
        </p:txBody>
      </p:sp>
      <p:sp>
        <p:nvSpPr>
          <p:cNvPr id="13" name="">
            <a:extLst xmlns:a="http://schemas.openxmlformats.org/drawingml/2006/main">
              <a:ext uri="{FF2B5EF4-FFF2-40B4-BE49-F238E27FC236}">
                <a16:creationId xmlns:a16="http://schemas.microsoft.com/office/drawing/2014/main" id="{EB5084C4-A975-432D-8FC2-29A0FBC56CAC}"/>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10307DC-DB69-405A-98B7-F0B6B17983F9}"/>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8B166E10-82B6-4171-8D9A-336294FE89B2}"/>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관계와 권한 분리</a:t>
            </a:r>
          </a:p>
        </p:txBody>
      </p:sp>
      <p:sp>
        <p:nvSpPr>
          <p:cNvPr id="16" name="">
            <a:extLst xmlns:a="http://schemas.openxmlformats.org/drawingml/2006/main">
              <a:ext uri="{FF2B5EF4-FFF2-40B4-BE49-F238E27FC236}">
                <a16:creationId xmlns:a16="http://schemas.microsoft.com/office/drawing/2014/main" id="{F24BF2E7-5D5E-4083-BC38-50903FD74E3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17C316C-6DF4-47BD-9CF9-C67C9DE60C7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30E6DCD4-C31D-404D-90EE-45597944FE0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효력일·동명 검사</a:t>
            </a:r>
          </a:p>
        </p:txBody>
      </p:sp>
      <p:sp>
        <p:nvSpPr>
          <p:cNvPr id="19" name="">
            <a:extLst xmlns:a="http://schemas.openxmlformats.org/drawingml/2006/main">
              <a:ext uri="{FF2B5EF4-FFF2-40B4-BE49-F238E27FC236}">
                <a16:creationId xmlns:a16="http://schemas.microsoft.com/office/drawing/2014/main" id="{68039119-3E64-426E-B121-7494072BCA3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A6B8880-6D6A-4BE2-A688-31CEBCF9905F}"/>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80CF4277-7F0F-48B6-AE7E-A9171815E7E5}"/>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디렉터리</a:t>
            </a:r>
          </a:p>
        </p:txBody>
      </p:sp>
      <p:sp>
        <p:nvSpPr>
          <p:cNvPr id="22" name="">
            <a:extLst xmlns:a="http://schemas.openxmlformats.org/drawingml/2006/main">
              <a:ext uri="{FF2B5EF4-FFF2-40B4-BE49-F238E27FC236}">
                <a16:creationId xmlns:a16="http://schemas.microsoft.com/office/drawing/2014/main" id="{06EFFCBA-EDDB-42CF-9301-DA1F3AB512EF}"/>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4DAA187-6EAB-40F1-A176-ADFC2579C63C}"/>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46739388-7CBC-4870-9B76-BEC8151C1E7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 유형 매칭</a:t>
            </a:r>
          </a:p>
        </p:txBody>
      </p:sp>
      <p:sp>
        <p:nvSpPr>
          <p:cNvPr id="25" name="">
            <a:extLst xmlns:a="http://schemas.openxmlformats.org/drawingml/2006/main">
              <a:ext uri="{FF2B5EF4-FFF2-40B4-BE49-F238E27FC236}">
                <a16:creationId xmlns:a16="http://schemas.microsoft.com/office/drawing/2014/main" id="{FEF51B76-F5A1-4D6D-90D3-05CEC7B5E5E6}"/>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4390ABE-7616-47AA-933A-76210574CE0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5C6AC3B7-3502-496D-BF3A-792520077FCC}"/>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확인</a:t>
            </a:r>
          </a:p>
        </p:txBody>
      </p:sp>
      <p:sp>
        <p:nvSpPr>
          <p:cNvPr id="28" name="">
            <a:extLst xmlns:a="http://schemas.openxmlformats.org/drawingml/2006/main">
              <a:ext uri="{FF2B5EF4-FFF2-40B4-BE49-F238E27FC236}">
                <a16:creationId xmlns:a16="http://schemas.microsoft.com/office/drawing/2014/main" id="{2D9D4E4A-1485-4B12-9686-CA7232F49B6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701A91E-0127-48DA-98C9-A92CA81D73D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5386E650-E117-4D8C-9BE3-0F22FECD72D9}"/>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관계 응답</a:t>
            </a:r>
          </a:p>
        </p:txBody>
      </p:sp>
      <p:sp>
        <p:nvSpPr>
          <p:cNvPr id="31" name="">
            <a:extLst xmlns:a="http://schemas.openxmlformats.org/drawingml/2006/main">
              <a:ext uri="{FF2B5EF4-FFF2-40B4-BE49-F238E27FC236}">
                <a16:creationId xmlns:a16="http://schemas.microsoft.com/office/drawing/2014/main" id="{08ECF377-749C-4BD7-BF49-4900426331D5}"/>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1128A01B-C43E-4DA7-98B2-ADFAD1C35AEB}"/>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B77B480A-F7DE-42FB-B837-EDA3BF044BA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전보·해제 대사</a:t>
            </a:r>
          </a:p>
        </p:txBody>
      </p:sp>
      <p:sp>
        <p:nvSpPr>
          <p:cNvPr id="34" name="">
            <a:extLst xmlns:a="http://schemas.openxmlformats.org/drawingml/2006/main">
              <a:ext uri="{FF2B5EF4-FFF2-40B4-BE49-F238E27FC236}">
                <a16:creationId xmlns:a16="http://schemas.microsoft.com/office/drawing/2014/main" id="{F599EEF4-2078-4743-B6EB-204D3F1187BB}"/>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D36D816-00F5-461F-83E6-6389178402DA}"/>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98218A6A-4FFB-4644-BFF1-3A2648F8656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관계·효력일 원장</a:t>
            </a:r>
          </a:p>
        </p:txBody>
      </p:sp>
      <p:sp>
        <p:nvSpPr>
          <p:cNvPr id="46" name="">
            <a:extLst xmlns:a="http://schemas.openxmlformats.org/drawingml/2006/main">
              <a:ext uri="{FF2B5EF4-FFF2-40B4-BE49-F238E27FC236}">
                <a16:creationId xmlns:a16="http://schemas.microsoft.com/office/drawing/2014/main" id="{830C550C-51DD-4748-AA32-6F603F52CDB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9684053"/>
      </p:ext>
    </p:extLst>
  </p:cSld>
</p:sld>
</file>

<file path=ppt/slides/slide18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E538DFE-96F2-47A7-996E-5697BCE6CC4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논리 인터페이스·복구 설계</a:t>
            </a:r>
          </a:p>
        </p:txBody>
      </p:sp>
      <p:sp>
        <p:nvSpPr>
          <p:cNvPr id="2" name="">
            <a:extLst xmlns:a="http://schemas.openxmlformats.org/drawingml/2006/main">
              <a:ext uri="{FF2B5EF4-FFF2-40B4-BE49-F238E27FC236}">
                <a16:creationId xmlns:a16="http://schemas.microsoft.com/office/drawing/2014/main" id="{D8E2F278-E59E-4B5F-9ACB-D5D47622926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데이터와 예외 처리</a:t>
            </a:r>
          </a:p>
        </p:txBody>
      </p:sp>
      <p:sp>
        <p:nvSpPr>
          <p:cNvPr id="3" name="">
            <a:extLst xmlns:a="http://schemas.openxmlformats.org/drawingml/2006/main">
              <a:ext uri="{FF2B5EF4-FFF2-40B4-BE49-F238E27FC236}">
                <a16:creationId xmlns:a16="http://schemas.microsoft.com/office/drawing/2014/main" id="{B0166EB5-F26B-4079-A488-CDABDD54B1F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26E6D4-8A0A-41C7-9B98-4B2CD80C483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CE12272-4079-4B2E-8723-13930D9EF81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186</a:t>
            </a:r>
          </a:p>
        </p:txBody>
      </p:sp>
      <p:sp>
        <p:nvSpPr>
          <p:cNvPr id="6" name="">
            <a:extLst xmlns:a="http://schemas.openxmlformats.org/drawingml/2006/main">
              <a:ext uri="{FF2B5EF4-FFF2-40B4-BE49-F238E27FC236}">
                <a16:creationId xmlns:a16="http://schemas.microsoft.com/office/drawing/2014/main" id="{FAF72198-9E49-4A47-85AF-CDA29E2DBFC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A495C7C-CC6C-4232-AB88-2D2E985DCA8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76BA5A1-909D-4A88-8A9C-28404C25276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432BD2DE-8113-4AFB-8A6D-679AC1FECC0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로그인 사용자와 관계 질의 대상 식별</a:t>
            </a:r>
          </a:p>
        </p:txBody>
      </p:sp>
      <p:sp>
        <p:nvSpPr>
          <p:cNvPr id="10" name="">
            <a:extLst xmlns:a="http://schemas.openxmlformats.org/drawingml/2006/main">
              <a:ext uri="{FF2B5EF4-FFF2-40B4-BE49-F238E27FC236}">
                <a16:creationId xmlns:a16="http://schemas.microsoft.com/office/drawing/2014/main" id="{F236A3DF-C233-4AA1-B376-198B1BD912B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443E24-D9DB-4A20-8F52-4C11654B68F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55F48CF1-6A4C-4427-A4A0-3DC66CDBBB6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정보</a:t>
            </a:r>
          </a:p>
        </p:txBody>
      </p:sp>
      <p:sp>
        <p:nvSpPr>
          <p:cNvPr id="13" name="">
            <a:extLst xmlns:a="http://schemas.openxmlformats.org/drawingml/2006/main">
              <a:ext uri="{FF2B5EF4-FFF2-40B4-BE49-F238E27FC236}">
                <a16:creationId xmlns:a16="http://schemas.microsoft.com/office/drawing/2014/main" id="{7D9841AD-6F0E-4AAB-8F02-62FA8C8D46A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C34B217-FA58-454A-87EE-EA50FFB9424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644E8420-4215-460D-8E93-A22D264F85F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관계와 권한 분리</a:t>
            </a:r>
          </a:p>
        </p:txBody>
      </p:sp>
      <p:sp>
        <p:nvSpPr>
          <p:cNvPr id="16" name="">
            <a:extLst xmlns:a="http://schemas.openxmlformats.org/drawingml/2006/main">
              <a:ext uri="{FF2B5EF4-FFF2-40B4-BE49-F238E27FC236}">
                <a16:creationId xmlns:a16="http://schemas.microsoft.com/office/drawing/2014/main" id="{09EB83DA-AE1C-4C3E-9BBB-6EF765E9A29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F5C5A2-872D-478C-B2A9-E4B044F23F1B}"/>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E8441846-477F-4F43-8020-36490E7AF0F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 질의</a:t>
            </a:r>
          </a:p>
        </p:txBody>
      </p:sp>
      <p:sp>
        <p:nvSpPr>
          <p:cNvPr id="19" name="">
            <a:extLst xmlns:a="http://schemas.openxmlformats.org/drawingml/2006/main">
              <a:ext uri="{FF2B5EF4-FFF2-40B4-BE49-F238E27FC236}">
                <a16:creationId xmlns:a16="http://schemas.microsoft.com/office/drawing/2014/main" id="{BA19F7B2-9168-47EA-93C5-D760E672CFA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96A9B07-8AD4-4473-A050-E0C3D5AC9A8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47AE7470-5E0F-49F2-A250-D96DC62A415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 질의</a:t>
            </a:r>
          </a:p>
        </p:txBody>
      </p:sp>
      <p:sp>
        <p:nvSpPr>
          <p:cNvPr id="22" name="">
            <a:extLst xmlns:a="http://schemas.openxmlformats.org/drawingml/2006/main">
              <a:ext uri="{FF2B5EF4-FFF2-40B4-BE49-F238E27FC236}">
                <a16:creationId xmlns:a16="http://schemas.microsoft.com/office/drawing/2014/main" id="{2FFD3831-9E58-4087-87A8-72200AE8599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BDF8CC2-9E6F-41D2-9AC2-19F44DCDFA5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5951C39A-1630-4567-B1DF-56B6BA78E92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응답</a:t>
            </a:r>
          </a:p>
        </p:txBody>
      </p:sp>
      <p:sp>
        <p:nvSpPr>
          <p:cNvPr id="25" name="">
            <a:extLst xmlns:a="http://schemas.openxmlformats.org/drawingml/2006/main">
              <a:ext uri="{FF2B5EF4-FFF2-40B4-BE49-F238E27FC236}">
                <a16:creationId xmlns:a16="http://schemas.microsoft.com/office/drawing/2014/main" id="{B23770A6-75CD-425F-B322-561D10EB6C5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3A7BDA2-A092-4213-A93E-6807ACB500FC}"/>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동명이인·전보일 경계·종료된 대행관계</a:t>
            </a:r>
          </a:p>
        </p:txBody>
      </p:sp>
      <p:sp>
        <p:nvSpPr>
          <p:cNvPr id="27" name="">
            <a:extLst xmlns:a="http://schemas.openxmlformats.org/drawingml/2006/main">
              <a:ext uri="{FF2B5EF4-FFF2-40B4-BE49-F238E27FC236}">
                <a16:creationId xmlns:a16="http://schemas.microsoft.com/office/drawing/2014/main" id="{FF633D3B-AF88-41AC-AFBA-D64C6E5AB5E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F5299CE-6BE4-4957-9FC1-93B0AABE4630}"/>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신원·효력일과 권한 원천 분리</a:t>
            </a:r>
          </a:p>
        </p:txBody>
      </p:sp>
      <p:sp>
        <p:nvSpPr>
          <p:cNvPr id="29" name="">
            <a:extLst xmlns:a="http://schemas.openxmlformats.org/drawingml/2006/main">
              <a:ext uri="{FF2B5EF4-FFF2-40B4-BE49-F238E27FC236}">
                <a16:creationId xmlns:a16="http://schemas.microsoft.com/office/drawing/2014/main" id="{87726B39-6D56-46A9-8322-AB1717A10A2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F07EB65-E09F-4AE4-BFCE-2D95C36CCE2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전보·겸직·관계 해제 이후 결과 대사</a:t>
            </a:r>
          </a:p>
        </p:txBody>
      </p:sp>
      <p:sp>
        <p:nvSpPr>
          <p:cNvPr id="31" name="">
            <a:extLst xmlns:a="http://schemas.openxmlformats.org/drawingml/2006/main">
              <a:ext uri="{FF2B5EF4-FFF2-40B4-BE49-F238E27FC236}">
                <a16:creationId xmlns:a16="http://schemas.microsoft.com/office/drawing/2014/main" id="{AFA5D036-15FC-4E48-8C29-8E892507CB3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0BA120B-93F5-4237-9206-E4E8B9EB21C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관계와 응답의 ID·효력일·권한 대사</a:t>
            </a:r>
          </a:p>
        </p:txBody>
      </p:sp>
    </p:spTree>
    <p:extLst>
      <p:ext uri="{BB962C8B-B14F-4D97-AF65-F5344CB8AC3E}">
        <p14:creationId xmlns:p14="http://schemas.microsoft.com/office/powerpoint/2010/main" val="1550367935"/>
      </p:ext>
    </p:extLst>
  </p:cSld>
</p:sld>
</file>

<file path=ppt/slides/slide18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382C934-A26F-4949-ADFB-FD73EF7757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CCK 비교·재현 시험 설계</a:t>
            </a:r>
          </a:p>
        </p:txBody>
      </p:sp>
      <p:sp>
        <p:nvSpPr>
          <p:cNvPr id="2" name="">
            <a:extLst xmlns:a="http://schemas.openxmlformats.org/drawingml/2006/main">
              <a:ext uri="{FF2B5EF4-FFF2-40B4-BE49-F238E27FC236}">
                <a16:creationId xmlns:a16="http://schemas.microsoft.com/office/drawing/2014/main" id="{F71F8E8D-EAD3-4473-B055-64500BBB436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벤치마킹</a:t>
            </a:r>
          </a:p>
        </p:txBody>
      </p:sp>
      <p:sp>
        <p:nvSpPr>
          <p:cNvPr id="3" name="">
            <a:extLst xmlns:a="http://schemas.openxmlformats.org/drawingml/2006/main">
              <a:ext uri="{FF2B5EF4-FFF2-40B4-BE49-F238E27FC236}">
                <a16:creationId xmlns:a16="http://schemas.microsoft.com/office/drawing/2014/main" id="{F4B6EED7-F284-46B5-AB80-36D1F7340A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1E130CE-A4EB-413D-8D45-40A07F4978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F932043-76EF-4771-9F0D-8ACE5AEB3F6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187</a:t>
            </a:r>
          </a:p>
        </p:txBody>
      </p:sp>
      <p:sp>
        <p:nvSpPr>
          <p:cNvPr id="6" name="">
            <a:extLst xmlns:a="http://schemas.openxmlformats.org/drawingml/2006/main">
              <a:ext uri="{FF2B5EF4-FFF2-40B4-BE49-F238E27FC236}">
                <a16:creationId xmlns:a16="http://schemas.microsoft.com/office/drawing/2014/main" id="{5FB1A2B4-7D4D-454E-A9D8-1E7BE799405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57FCC0CB-A143-41F4-A370-1BE83F961E8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직원 관계의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질의의 데이터 기반 구성</a:t>
            </a:r>
          </a:p>
        </p:txBody>
      </p:sp>
      <p:sp>
        <p:nvSpPr>
          <p:cNvPr id="8" name="">
            <a:extLst xmlns:a="http://schemas.openxmlformats.org/drawingml/2006/main">
              <a:ext uri="{FF2B5EF4-FFF2-40B4-BE49-F238E27FC236}">
                <a16:creationId xmlns:a16="http://schemas.microsoft.com/office/drawing/2014/main" id="{E97901BE-3D5D-4BD2-A356-D91AC20A9E04}"/>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4EF8738A-FDAA-467D-A4D6-242931933AA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관계를 접근권한으로 오인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전보·겸직 정보의 지연</a:t>
            </a:r>
          </a:p>
        </p:txBody>
      </p:sp>
      <p:sp>
        <p:nvSpPr>
          <p:cNvPr id="10" name="">
            <a:extLst xmlns:a="http://schemas.openxmlformats.org/drawingml/2006/main">
              <a:ext uri="{FF2B5EF4-FFF2-40B4-BE49-F238E27FC236}">
                <a16:creationId xmlns:a16="http://schemas.microsoft.com/office/drawing/2014/main" id="{B6C1CE78-1012-4A9B-947E-67D370A65F0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FA9C6C1-0382-4B92-BF39-A1B8F4E82E8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신원·효력일과 권한 원천 분리</a:t>
            </a:r>
          </a:p>
        </p:txBody>
      </p:sp>
      <p:sp>
        <p:nvSpPr>
          <p:cNvPr id="12" name="">
            <a:extLst xmlns:a="http://schemas.openxmlformats.org/drawingml/2006/main">
              <a:ext uri="{FF2B5EF4-FFF2-40B4-BE49-F238E27FC236}">
                <a16:creationId xmlns:a16="http://schemas.microsoft.com/office/drawing/2014/main" id="{05A33F4A-C987-4DB7-8AF1-7031E84BDBD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718A199-BB6E-428C-8A36-5736B3C0A6A9}"/>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상사·겸직·점선 보고 관계를 대상 직원 ID로 조회</a:t>
            </a:r>
          </a:p>
        </p:txBody>
      </p:sp>
      <p:sp>
        <p:nvSpPr>
          <p:cNvPr id="14" name="">
            <a:extLst xmlns:a="http://schemas.openxmlformats.org/drawingml/2006/main">
              <a:ext uri="{FF2B5EF4-FFF2-40B4-BE49-F238E27FC236}">
                <a16:creationId xmlns:a16="http://schemas.microsoft.com/office/drawing/2014/main" id="{01F40F10-F87B-4991-A677-6DC1B78786A2}"/>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EF4B92C-2CA1-45E5-95F1-6C8C883A974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동명이인·전보일 경계·종료된 대행관계</a:t>
            </a:r>
          </a:p>
        </p:txBody>
      </p:sp>
      <p:sp>
        <p:nvSpPr>
          <p:cNvPr id="16" name="">
            <a:extLst xmlns:a="http://schemas.openxmlformats.org/drawingml/2006/main">
              <a:ext uri="{FF2B5EF4-FFF2-40B4-BE49-F238E27FC236}">
                <a16:creationId xmlns:a16="http://schemas.microsoft.com/office/drawing/2014/main" id="{AF90981A-615F-4F5E-B5CD-C8090541943F}"/>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7EEE8BC-8D30-44D7-91B1-69AB8313305B}"/>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원천 관계와 응답의 ID·효력일·권한 대사</a:t>
            </a:r>
          </a:p>
        </p:txBody>
      </p:sp>
    </p:spTree>
    <p:extLst>
      <p:ext uri="{BB962C8B-B14F-4D97-AF65-F5344CB8AC3E}">
        <p14:creationId xmlns:p14="http://schemas.microsoft.com/office/powerpoint/2010/main" val="971507663"/>
      </p:ext>
    </p:extLst>
  </p:cSld>
</p:sld>
</file>

<file path=ppt/slides/slide18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4D32DBA-9CCB-4E85-A2FF-A55B4F94515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성과 미검증 / 해외</a:t>
            </a:r>
          </a:p>
        </p:txBody>
      </p:sp>
      <p:sp>
        <p:nvSpPr>
          <p:cNvPr id="2" name="">
            <a:extLst xmlns:a="http://schemas.openxmlformats.org/drawingml/2006/main">
              <a:ext uri="{FF2B5EF4-FFF2-40B4-BE49-F238E27FC236}">
                <a16:creationId xmlns:a16="http://schemas.microsoft.com/office/drawing/2014/main" id="{4290F6F4-881F-4451-900A-1AD5FCEE810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a:t>
            </a:r>
          </a:p>
        </p:txBody>
      </p:sp>
      <p:sp>
        <p:nvSpPr>
          <p:cNvPr id="3" name="">
            <a:extLst xmlns:a="http://schemas.openxmlformats.org/drawingml/2006/main">
              <a:ext uri="{FF2B5EF4-FFF2-40B4-BE49-F238E27FC236}">
                <a16:creationId xmlns:a16="http://schemas.microsoft.com/office/drawing/2014/main" id="{F09D4F2B-9EDA-43DC-8ECD-C6067654C2C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344897-8E25-46CA-A0A2-22B0BD6853E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72CAB13-3D9C-4467-A2B3-95A4B4751D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188</a:t>
            </a:r>
          </a:p>
        </p:txBody>
      </p:sp>
      <p:sp>
        <p:nvSpPr>
          <p:cNvPr id="6" name="">
            <a:extLst xmlns:a="http://schemas.openxmlformats.org/drawingml/2006/main">
              <a:ext uri="{FF2B5EF4-FFF2-40B4-BE49-F238E27FC236}">
                <a16:creationId xmlns:a16="http://schemas.microsoft.com/office/drawing/2014/main" id="{104EBAE1-4A09-4C6C-B7BF-D9884C92994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EA3EEEC-D4B7-47DE-BB0F-C330E32E806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Glean People connector의 직원 정보 동기화 기능을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조직 기반 검색 관점에서 분석한 사례. 인물·부서·직책·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관리자 필드를 검색 문맥과 연결하는 구성요소.</a:t>
            </a:r>
          </a:p>
        </p:txBody>
      </p:sp>
      <p:sp>
        <p:nvSpPr>
          <p:cNvPr id="8" name="">
            <a:extLst xmlns:a="http://schemas.openxmlformats.org/drawingml/2006/main">
              <a:ext uri="{FF2B5EF4-FFF2-40B4-BE49-F238E27FC236}">
                <a16:creationId xmlns:a16="http://schemas.microsoft.com/office/drawing/2014/main" id="{E869E130-E1AD-4235-8FF0-81B638C4FE0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4665EEE4-C05F-4D9E-AEDE-EE9C6114078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직원 데이터의 식별자·필드 매핑, 동기화, 검색 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 접근 통제와 삭제 반영의 흐름으로 재구성. 복수 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천의 같은 사람과 동명이인을 구분하고 변경 이벤트가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검색 결과에 반영되는 상태를 관측하는 설계.</a:t>
            </a:r>
          </a:p>
        </p:txBody>
      </p:sp>
      <p:sp>
        <p:nvSpPr>
          <p:cNvPr id="10" name="">
            <a:extLst xmlns:a="http://schemas.openxmlformats.org/drawingml/2006/main">
              <a:ext uri="{FF2B5EF4-FFF2-40B4-BE49-F238E27FC236}">
                <a16:creationId xmlns:a16="http://schemas.microsoft.com/office/drawing/2014/main" id="{BEB447A9-32ED-40D7-8839-EBAF72400345}"/>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7C9DDEE-4D51-4EF9-A127-E56C33F6B4A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데이터 연계 성공과 조직 기반 추론 성공을 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 검수할 필요. 사번 매칭·조직 코드 변경·퇴직 삭제의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사와 동일 요청의 직무별 결과 비교를 나누고 오류 발생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 원천과 색인의 어느 단계에서 지연됐는지 추적.</a:t>
            </a:r>
          </a:p>
        </p:txBody>
      </p:sp>
      <p:sp>
        <p:nvSpPr>
          <p:cNvPr id="12" name="">
            <a:extLst xmlns:a="http://schemas.openxmlformats.org/drawingml/2006/main">
              <a:ext uri="{FF2B5EF4-FFF2-40B4-BE49-F238E27FC236}">
                <a16:creationId xmlns:a16="http://schemas.microsoft.com/office/drawing/2014/main" id="{1330884B-BA81-43AB-88ED-40271C7D510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26E7F2D-C09C-4FF1-A2FD-874597311E8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전보·퇴직·겸직 이후 검색·인계·캐시 회수</a:t>
            </a:r>
          </a:p>
        </p:txBody>
      </p:sp>
      <p:sp>
        <p:nvSpPr>
          <p:cNvPr id="14" name="">
            <a:extLst xmlns:a="http://schemas.openxmlformats.org/drawingml/2006/main">
              <a:ext uri="{FF2B5EF4-FFF2-40B4-BE49-F238E27FC236}">
                <a16:creationId xmlns:a16="http://schemas.microsoft.com/office/drawing/2014/main" id="{A8A6EF20-CDF3-4418-BC2B-6FD41E0C1CB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1F3968E-7FEE-49E3-BDAC-B1128B3C0C6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오노출 건수·변경 반영 지연의 기준선·비교 평가</a:t>
            </a:r>
          </a:p>
        </p:txBody>
      </p:sp>
      <p:sp>
        <p:nvSpPr>
          <p:cNvPr id="16" name="">
            <a:extLst xmlns:a="http://schemas.openxmlformats.org/drawingml/2006/main">
              <a:ext uri="{FF2B5EF4-FFF2-40B4-BE49-F238E27FC236}">
                <a16:creationId xmlns:a16="http://schemas.microsoft.com/office/drawing/2014/main" id="{9E0CD3FD-926C-4CD8-98FD-1E8851073A4E}"/>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689BAA6-A3C5-4661-B424-071439C795E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오노출 건수·변경 반영 지연</a:t>
            </a:r>
          </a:p>
        </p:txBody>
      </p:sp>
      <p:sp>
        <p:nvSpPr>
          <p:cNvPr id="18" name="">
            <a:extLst xmlns:a="http://schemas.openxmlformats.org/drawingml/2006/main">
              <a:ext uri="{FF2B5EF4-FFF2-40B4-BE49-F238E27FC236}">
                <a16:creationId xmlns:a16="http://schemas.microsoft.com/office/drawing/2014/main" id="{4ABC5EE6-1C4F-490B-AE81-FFFCC579B60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CSV 방식은 인사 변경마다 재업로드 필요. 자동 커넥터도 제공. 동기화·조직 맥락 자체는 CCK 독점 기능 아님</a:t>
            </a:r>
          </a:p>
        </p:txBody>
      </p:sp>
    </p:spTree>
    <p:extLst>
      <p:ext uri="{BB962C8B-B14F-4D97-AF65-F5344CB8AC3E}">
        <p14:creationId xmlns:p14="http://schemas.microsoft.com/office/powerpoint/2010/main" val="1948052514"/>
      </p:ext>
    </p:extLst>
  </p:cSld>
</p:sld>
</file>

<file path=ppt/slides/slide18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54C709-9800-466C-B3BA-82D3FAE90DE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As-Is → To-Be → 기대효과 → 확인 결과</a:t>
            </a:r>
          </a:p>
        </p:txBody>
      </p:sp>
      <p:sp>
        <p:nvSpPr>
          <p:cNvPr id="2" name="">
            <a:extLst xmlns:a="http://schemas.openxmlformats.org/drawingml/2006/main">
              <a:ext uri="{FF2B5EF4-FFF2-40B4-BE49-F238E27FC236}">
                <a16:creationId xmlns:a16="http://schemas.microsoft.com/office/drawing/2014/main" id="{3CEF076E-9555-4A5B-81D1-821B4EC1D50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기대와 결과</a:t>
            </a:r>
          </a:p>
        </p:txBody>
      </p:sp>
      <p:sp>
        <p:nvSpPr>
          <p:cNvPr id="3" name="">
            <a:extLst xmlns:a="http://schemas.openxmlformats.org/drawingml/2006/main">
              <a:ext uri="{FF2B5EF4-FFF2-40B4-BE49-F238E27FC236}">
                <a16:creationId xmlns:a16="http://schemas.microsoft.com/office/drawing/2014/main" id="{0047BF94-C915-4843-AC33-CC7D513013E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619EE6-233D-4795-B002-E5EC3CD3559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E27915C-5540-459D-8097-B257FB40F5E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189</a:t>
            </a:r>
          </a:p>
        </p:txBody>
      </p:sp>
      <p:sp>
        <p:nvSpPr>
          <p:cNvPr id="6" name="">
            <a:extLst xmlns:a="http://schemas.openxmlformats.org/drawingml/2006/main">
              <a:ext uri="{FF2B5EF4-FFF2-40B4-BE49-F238E27FC236}">
                <a16:creationId xmlns:a16="http://schemas.microsoft.com/office/drawing/2014/main" id="{C9F43E1E-68DC-4134-8333-795FF41BB29B}"/>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02B559C-6B9D-4512-A7EF-2EA79FBE0E3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직원 디렉터리와 부서·직책·상사 정보가 검색 서비스와 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도로 관리</a:t>
            </a:r>
          </a:p>
        </p:txBody>
      </p:sp>
      <p:sp>
        <p:nvSpPr>
          <p:cNvPr id="8" name="">
            <a:extLst xmlns:a="http://schemas.openxmlformats.org/drawingml/2006/main">
              <a:ext uri="{FF2B5EF4-FFF2-40B4-BE49-F238E27FC236}">
                <a16:creationId xmlns:a16="http://schemas.microsoft.com/office/drawing/2014/main" id="{25CAEF7F-1F84-4F89-B50A-74F54ED10FC4}"/>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1715894E-1EF0-4BC8-AF64-41B1BD003183}"/>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Glean People 커넥터로 공식 인물 속성을 동기화하고 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범위 안에서 검색 개인화</a:t>
            </a:r>
          </a:p>
        </p:txBody>
      </p:sp>
      <p:sp>
        <p:nvSpPr>
          <p:cNvPr id="10" name="">
            <a:extLst xmlns:a="http://schemas.openxmlformats.org/drawingml/2006/main">
              <a:ext uri="{FF2B5EF4-FFF2-40B4-BE49-F238E27FC236}">
                <a16:creationId xmlns:a16="http://schemas.microsoft.com/office/drawing/2014/main" id="{097D479E-3531-4FC8-A1D7-014F1AD4749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80A6ED6-E822-4172-B035-0B88E4EB7F2C}"/>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인물 찾기·조직 문맥 정확도 향상과 변경 반영 지연 감소</a:t>
            </a:r>
          </a:p>
        </p:txBody>
      </p:sp>
      <p:sp>
        <p:nvSpPr>
          <p:cNvPr id="12" name="">
            <a:extLst xmlns:a="http://schemas.openxmlformats.org/drawingml/2006/main">
              <a:ext uri="{FF2B5EF4-FFF2-40B4-BE49-F238E27FC236}">
                <a16:creationId xmlns:a16="http://schemas.microsoft.com/office/drawing/2014/main" id="{A2DCE7B0-4B31-4720-AEFC-501C457F43A8}"/>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424E3AFD-A9EB-4EF1-A133-64691679DEBA}"/>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Glean 공식 동기화·필드 매핑 문서 확인. TS 원천 연계나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동기화 지연의 측정 결과 없음</a:t>
            </a:r>
          </a:p>
        </p:txBody>
      </p:sp>
      <p:sp>
        <p:nvSpPr>
          <p:cNvPr id="14" name="">
            <a:extLst xmlns:a="http://schemas.openxmlformats.org/drawingml/2006/main">
              <a:ext uri="{FF2B5EF4-FFF2-40B4-BE49-F238E27FC236}">
                <a16:creationId xmlns:a16="http://schemas.microsoft.com/office/drawing/2014/main" id="{89285B96-957E-4C06-BFAA-EB4C9A371CD3}"/>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제품 사양은 기관별 운영 성과 또는 자동 권한 회수 검수 결과가 아님</a:t>
            </a:r>
          </a:p>
        </p:txBody>
      </p:sp>
      <p:sp>
        <p:nvSpPr>
          <p:cNvPr id="15" name="">
            <a:extLst xmlns:a="http://schemas.openxmlformats.org/drawingml/2006/main">
              <a:ext uri="{FF2B5EF4-FFF2-40B4-BE49-F238E27FC236}">
                <a16:creationId xmlns:a16="http://schemas.microsoft.com/office/drawing/2014/main" id="{5604D1A9-52EF-497C-9C88-0E532D9DDA60}"/>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제품 기능 문서 · CSV 재업로드 방식과 자동 커넥터 방식 구분; 업무분장 표준 필드의 지원 범위 확인 필요</a:t>
            </a:r>
          </a:p>
        </p:txBody>
      </p:sp>
    </p:spTree>
    <p:extLst>
      <p:ext uri="{BB962C8B-B14F-4D97-AF65-F5344CB8AC3E}">
        <p14:creationId xmlns:p14="http://schemas.microsoft.com/office/powerpoint/2010/main" val="1826260033"/>
      </p:ext>
    </p:extLst>
  </p:cSld>
</p:sld>
</file>

<file path=ppt/slides/slide19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EB20D008-156E-4AF6-B547-1BD04066C2BF}"/>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A439C3EA-A0A5-4B78-ADEE-0B7A625BEEE1}"/>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69051F75-E7A0-41F9-9891-3120646F1F20}"/>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6D267DE-2ED0-41B8-B506-15B4701F3475}"/>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3B07BE5C-9861-4B92-AA17-79640D09A1D5}"/>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FE2E9D2-8E7C-4144-B86D-D7575D3F0F62}"/>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D6924C4-7650-4359-BE55-2DC9953A8234}"/>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78B8FD7A-6C7C-4B0B-A59E-FAFFDF0606E5}"/>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A716A4EF-B6FA-44F7-8383-CC0BCCE24CB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AB3ECB06-451D-46EB-AE22-FD4ADC0056D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권한·목적 판정 후 허용·차단 분기</a:t>
            </a:r>
          </a:p>
        </p:txBody>
      </p:sp>
      <p:sp>
        <p:nvSpPr>
          <p:cNvPr id="2" name="">
            <a:extLst xmlns:a="http://schemas.openxmlformats.org/drawingml/2006/main">
              <a:ext uri="{FF2B5EF4-FFF2-40B4-BE49-F238E27FC236}">
                <a16:creationId xmlns:a16="http://schemas.microsoft.com/office/drawing/2014/main" id="{B50D1307-C76A-4991-9DFC-B1E0E20B090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세부 서비스 구조</a:t>
            </a:r>
          </a:p>
        </p:txBody>
      </p:sp>
      <p:sp>
        <p:nvSpPr>
          <p:cNvPr id="3" name="">
            <a:extLst xmlns:a="http://schemas.openxmlformats.org/drawingml/2006/main">
              <a:ext uri="{FF2B5EF4-FFF2-40B4-BE49-F238E27FC236}">
                <a16:creationId xmlns:a16="http://schemas.microsoft.com/office/drawing/2014/main" id="{7E07E600-8F52-4F3A-B4E5-43ED5F91024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054B0E-CDFB-4905-B131-AFF0C0DC6D4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90B10D1-4AC3-47BA-B0F0-BC34C107B70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190</a:t>
            </a:r>
          </a:p>
        </p:txBody>
      </p:sp>
      <p:sp>
        <p:nvSpPr>
          <p:cNvPr id="6" name="">
            <a:extLst xmlns:a="http://schemas.openxmlformats.org/drawingml/2006/main">
              <a:ext uri="{FF2B5EF4-FFF2-40B4-BE49-F238E27FC236}">
                <a16:creationId xmlns:a16="http://schemas.microsoft.com/office/drawing/2014/main" id="{F1DA7B0A-9499-4FB5-8889-3AC728B27377}"/>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디렉터리 → 동기화·필드 매핑 → 권한별 검색 → 직원 정보 활용</a:t>
            </a:r>
          </a:p>
        </p:txBody>
      </p:sp>
      <p:sp>
        <p:nvSpPr>
          <p:cNvPr id="7" name="">
            <a:extLst xmlns:a="http://schemas.openxmlformats.org/drawingml/2006/main">
              <a:ext uri="{FF2B5EF4-FFF2-40B4-BE49-F238E27FC236}">
                <a16:creationId xmlns:a16="http://schemas.microsoft.com/office/drawing/2014/main" id="{865CC5A7-7A21-46FA-A8D1-C11A36E015C9}"/>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349FCB3-0455-42AB-A192-BBF556289ED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DD2DFD9E-2922-4626-9E10-02884B62C441}"/>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인물 검색 접점</a:t>
            </a:r>
          </a:p>
        </p:txBody>
      </p:sp>
      <p:sp>
        <p:nvSpPr>
          <p:cNvPr id="10" name="">
            <a:extLst xmlns:a="http://schemas.openxmlformats.org/drawingml/2006/main">
              <a:ext uri="{FF2B5EF4-FFF2-40B4-BE49-F238E27FC236}">
                <a16:creationId xmlns:a16="http://schemas.microsoft.com/office/drawing/2014/main" id="{129792CC-2F49-479A-A518-29CB6732A3CD}"/>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2306C782-B6DA-4EFA-9368-99CC8EA780BC}"/>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1E124D6-1645-458B-B530-3AC0FB61A386}"/>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사람 ID·부서</a:t>
            </a:r>
          </a:p>
        </p:txBody>
      </p:sp>
      <p:sp>
        <p:nvSpPr>
          <p:cNvPr id="13" name="">
            <a:extLst xmlns:a="http://schemas.openxmlformats.org/drawingml/2006/main">
              <a:ext uri="{FF2B5EF4-FFF2-40B4-BE49-F238E27FC236}">
                <a16:creationId xmlns:a16="http://schemas.microsoft.com/office/drawing/2014/main" id="{7A8ED830-1412-435A-9D3D-2A678CE48D0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020BB01-CE64-4C76-A8F5-9153FDEE52D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486F3350-F1D7-41C0-93ED-36138CB71DC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원천 우선순위</a:t>
            </a:r>
          </a:p>
        </p:txBody>
      </p:sp>
      <p:sp>
        <p:nvSpPr>
          <p:cNvPr id="16" name="">
            <a:extLst xmlns:a="http://schemas.openxmlformats.org/drawingml/2006/main">
              <a:ext uri="{FF2B5EF4-FFF2-40B4-BE49-F238E27FC236}">
                <a16:creationId xmlns:a16="http://schemas.microsoft.com/office/drawing/2014/main" id="{95F8F6C0-E933-4001-96CE-252AE552F0B3}"/>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06064BE-8793-41DF-9CE6-D49DFAA35666}"/>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E072B96A-4885-4CB2-844D-F0E3B5F0FE4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중복·삭제 검사</a:t>
            </a:r>
          </a:p>
        </p:txBody>
      </p:sp>
      <p:sp>
        <p:nvSpPr>
          <p:cNvPr id="19" name="">
            <a:extLst xmlns:a="http://schemas.openxmlformats.org/drawingml/2006/main">
              <a:ext uri="{FF2B5EF4-FFF2-40B4-BE49-F238E27FC236}">
                <a16:creationId xmlns:a16="http://schemas.microsoft.com/office/drawing/2014/main" id="{E6979292-5F90-4DE5-B6F7-3D15A76F49AD}"/>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16A3624-3609-48ED-B20D-2A1FFEF2035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32014B10-9907-4E74-B23E-3ACFC4BE1640}"/>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지정 직원 원천</a:t>
            </a:r>
          </a:p>
        </p:txBody>
      </p:sp>
      <p:sp>
        <p:nvSpPr>
          <p:cNvPr id="22" name="">
            <a:extLst xmlns:a="http://schemas.openxmlformats.org/drawingml/2006/main">
              <a:ext uri="{FF2B5EF4-FFF2-40B4-BE49-F238E27FC236}">
                <a16:creationId xmlns:a16="http://schemas.microsoft.com/office/drawing/2014/main" id="{EB065077-51E7-401B-9491-506F0A6BF31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A46499F-15FF-4CEE-9587-CCB2FF2A2E6E}"/>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96B68AF6-B0EA-4B62-A583-8FC84E9431B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People 필드 매</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핑</a:t>
            </a:r>
          </a:p>
        </p:txBody>
      </p:sp>
      <p:sp>
        <p:nvSpPr>
          <p:cNvPr id="25" name="">
            <a:extLst xmlns:a="http://schemas.openxmlformats.org/drawingml/2006/main">
              <a:ext uri="{FF2B5EF4-FFF2-40B4-BE49-F238E27FC236}">
                <a16:creationId xmlns:a16="http://schemas.microsoft.com/office/drawing/2014/main" id="{60D69F94-B3F3-458A-B7AA-B8B89AE46309}"/>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727C677-6C75-4CB4-A57B-304F853010EF}"/>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3445671C-08B1-49D6-801F-89D53CA56B5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관리자 대사</a:t>
            </a:r>
          </a:p>
        </p:txBody>
      </p:sp>
      <p:sp>
        <p:nvSpPr>
          <p:cNvPr id="28" name="">
            <a:extLst xmlns:a="http://schemas.openxmlformats.org/drawingml/2006/main">
              <a:ext uri="{FF2B5EF4-FFF2-40B4-BE49-F238E27FC236}">
                <a16:creationId xmlns:a16="http://schemas.microsoft.com/office/drawing/2014/main" id="{FEE1576D-BE2A-4126-8126-D20F922E5E54}"/>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2F9A2726-030A-4E90-B3B2-C1DF4CC0B0DF}"/>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B83BB909-2CEF-433D-ADE1-8553A282D27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 문맥 제공</a:t>
            </a:r>
          </a:p>
        </p:txBody>
      </p:sp>
      <p:sp>
        <p:nvSpPr>
          <p:cNvPr id="31" name="">
            <a:extLst xmlns:a="http://schemas.openxmlformats.org/drawingml/2006/main">
              <a:ext uri="{FF2B5EF4-FFF2-40B4-BE49-F238E27FC236}">
                <a16:creationId xmlns:a16="http://schemas.microsoft.com/office/drawing/2014/main" id="{8869D45B-D45B-466C-8F49-5B54FAE0EF8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CE3D956-0EE5-4475-A760-2C1295C1963F}"/>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4FC29878-BE38-4340-A279-8ED5DA89A33B}"/>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전보·퇴직 반영</a:t>
            </a:r>
          </a:p>
        </p:txBody>
      </p:sp>
      <p:sp>
        <p:nvSpPr>
          <p:cNvPr id="34" name="">
            <a:extLst xmlns:a="http://schemas.openxmlformats.org/drawingml/2006/main">
              <a:ext uri="{FF2B5EF4-FFF2-40B4-BE49-F238E27FC236}">
                <a16:creationId xmlns:a16="http://schemas.microsoft.com/office/drawing/2014/main" id="{710F18FB-1CAF-4DED-B6A9-1997A14A1DE5}"/>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BE34A56-C32D-446F-BB29-B3F6BB8B0A4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49262F9D-B353-4711-B055-381CB059C89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사람·조직 색인</a:t>
            </a:r>
          </a:p>
        </p:txBody>
      </p:sp>
      <p:sp>
        <p:nvSpPr>
          <p:cNvPr id="46" name="">
            <a:extLst xmlns:a="http://schemas.openxmlformats.org/drawingml/2006/main">
              <a:ext uri="{FF2B5EF4-FFF2-40B4-BE49-F238E27FC236}">
                <a16:creationId xmlns:a16="http://schemas.microsoft.com/office/drawing/2014/main" id="{31A36B01-9134-454C-8107-554DB993BDC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00620385"/>
      </p:ext>
    </p:extLst>
  </p:cSld>
</p:sld>
</file>

<file path=ppt/slides/slide19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42F5221-813B-4FE7-9B02-BC62205290E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논리 인터페이스·복구 설계</a:t>
            </a:r>
          </a:p>
        </p:txBody>
      </p:sp>
      <p:sp>
        <p:nvSpPr>
          <p:cNvPr id="2" name="">
            <a:extLst xmlns:a="http://schemas.openxmlformats.org/drawingml/2006/main">
              <a:ext uri="{FF2B5EF4-FFF2-40B4-BE49-F238E27FC236}">
                <a16:creationId xmlns:a16="http://schemas.microsoft.com/office/drawing/2014/main" id="{2D4FBE7C-6058-4555-A5BB-FE68E0BBF0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데이터와 예외 처리</a:t>
            </a:r>
          </a:p>
        </p:txBody>
      </p:sp>
      <p:sp>
        <p:nvSpPr>
          <p:cNvPr id="3" name="">
            <a:extLst xmlns:a="http://schemas.openxmlformats.org/drawingml/2006/main">
              <a:ext uri="{FF2B5EF4-FFF2-40B4-BE49-F238E27FC236}">
                <a16:creationId xmlns:a16="http://schemas.microsoft.com/office/drawing/2014/main" id="{6B2D8850-7DEF-4F78-9AB4-E3246639695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D05954-3E08-4B84-96F8-CBAC94EB5C0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E6EBEE7-D857-4024-A4DC-40D4E9771FB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191</a:t>
            </a:r>
          </a:p>
        </p:txBody>
      </p:sp>
      <p:sp>
        <p:nvSpPr>
          <p:cNvPr id="6" name="">
            <a:extLst xmlns:a="http://schemas.openxmlformats.org/drawingml/2006/main">
              <a:ext uri="{FF2B5EF4-FFF2-40B4-BE49-F238E27FC236}">
                <a16:creationId xmlns:a16="http://schemas.microsoft.com/office/drawing/2014/main" id="{0A407134-9FC6-4153-AF74-9C2C1D20585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DA86573-7484-4107-98AE-FF4122DB417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C900056-4A6D-430A-BF16-424294F7D69C}"/>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D02FFB80-673E-4A1B-9148-01341CD2551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사람 ID·부서·직책·관리자 필드 정의</a:t>
            </a:r>
          </a:p>
        </p:txBody>
      </p:sp>
      <p:sp>
        <p:nvSpPr>
          <p:cNvPr id="10" name="">
            <a:extLst xmlns:a="http://schemas.openxmlformats.org/drawingml/2006/main">
              <a:ext uri="{FF2B5EF4-FFF2-40B4-BE49-F238E27FC236}">
                <a16:creationId xmlns:a16="http://schemas.microsoft.com/office/drawing/2014/main" id="{A78121AA-A603-43A0-BE5B-DDC11956E20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C4D474-34DB-402E-BD08-0FF4CA12B8D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73C0A52D-89E7-4AF7-B2C1-01A93076644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필드</a:t>
            </a:r>
          </a:p>
        </p:txBody>
      </p:sp>
      <p:sp>
        <p:nvSpPr>
          <p:cNvPr id="13" name="">
            <a:extLst xmlns:a="http://schemas.openxmlformats.org/drawingml/2006/main">
              <a:ext uri="{FF2B5EF4-FFF2-40B4-BE49-F238E27FC236}">
                <a16:creationId xmlns:a16="http://schemas.microsoft.com/office/drawing/2014/main" id="{133899BB-1711-426F-967A-F2E6EDC78EC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14751B-AC21-4189-8F21-F602A905BE5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CCCEA610-93A6-4757-820D-B4D771F98C00}"/>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원천 우선순위</a:t>
            </a:r>
          </a:p>
        </p:txBody>
      </p:sp>
      <p:sp>
        <p:nvSpPr>
          <p:cNvPr id="16" name="">
            <a:extLst xmlns:a="http://schemas.openxmlformats.org/drawingml/2006/main">
              <a:ext uri="{FF2B5EF4-FFF2-40B4-BE49-F238E27FC236}">
                <a16:creationId xmlns:a16="http://schemas.microsoft.com/office/drawing/2014/main" id="{69319262-EEA2-479D-8E52-099E0B3F1D5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730790A-F2AD-409F-B7FA-959094BF94F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EE839E60-5209-49F7-A9C3-495915AC113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문맥</a:t>
            </a:r>
          </a:p>
        </p:txBody>
      </p:sp>
      <p:sp>
        <p:nvSpPr>
          <p:cNvPr id="19" name="">
            <a:extLst xmlns:a="http://schemas.openxmlformats.org/drawingml/2006/main">
              <a:ext uri="{FF2B5EF4-FFF2-40B4-BE49-F238E27FC236}">
                <a16:creationId xmlns:a16="http://schemas.microsoft.com/office/drawing/2014/main" id="{57169A97-081D-4231-A5B7-6217499B9B3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ECD0D43-1105-42D5-9017-4869CFACB2B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4878469C-961B-4040-B093-9C25948B340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문맥</a:t>
            </a:r>
          </a:p>
        </p:txBody>
      </p:sp>
      <p:sp>
        <p:nvSpPr>
          <p:cNvPr id="22" name="">
            <a:extLst xmlns:a="http://schemas.openxmlformats.org/drawingml/2006/main">
              <a:ext uri="{FF2B5EF4-FFF2-40B4-BE49-F238E27FC236}">
                <a16:creationId xmlns:a16="http://schemas.microsoft.com/office/drawing/2014/main" id="{742D239D-866D-4A29-ADC0-99E5E4A0FBE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3B85E52-030F-49CA-96A5-CEC6E6BFCDF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03ABA528-31A6-4F96-8B58-3D863F654C6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정보 결과</a:t>
            </a:r>
          </a:p>
        </p:txBody>
      </p:sp>
      <p:sp>
        <p:nvSpPr>
          <p:cNvPr id="25" name="">
            <a:extLst xmlns:a="http://schemas.openxmlformats.org/drawingml/2006/main">
              <a:ext uri="{FF2B5EF4-FFF2-40B4-BE49-F238E27FC236}">
                <a16:creationId xmlns:a16="http://schemas.microsoft.com/office/drawing/2014/main" id="{C5649A84-DBF0-4E15-94C7-1A14393D55A8}"/>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922E7DB8-8C90-4EE3-ACC6-239EA717B67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계정·삭제 이벤트 누락·CSV 갱신 지연</a:t>
            </a:r>
          </a:p>
        </p:txBody>
      </p:sp>
      <p:sp>
        <p:nvSpPr>
          <p:cNvPr id="27" name="">
            <a:extLst xmlns:a="http://schemas.openxmlformats.org/drawingml/2006/main">
              <a:ext uri="{FF2B5EF4-FFF2-40B4-BE49-F238E27FC236}">
                <a16:creationId xmlns:a16="http://schemas.microsoft.com/office/drawing/2014/main" id="{2CF9A029-880C-4B3B-9A8E-6698D7547D6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F36CEA9A-11C5-4A9B-A68A-9EF38FFB6DA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우선순위·중복·변경 대사</a:t>
            </a:r>
          </a:p>
        </p:txBody>
      </p:sp>
      <p:sp>
        <p:nvSpPr>
          <p:cNvPr id="29" name="">
            <a:extLst xmlns:a="http://schemas.openxmlformats.org/drawingml/2006/main">
              <a:ext uri="{FF2B5EF4-FFF2-40B4-BE49-F238E27FC236}">
                <a16:creationId xmlns:a16="http://schemas.microsoft.com/office/drawing/2014/main" id="{8BC6EEF0-106B-4FF0-BC9B-72B66B2794C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3B250B95-04F9-4E23-BDB4-40B8BF8527A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변경·퇴직·삭제의 동기화 결과 대사</a:t>
            </a:r>
          </a:p>
        </p:txBody>
      </p:sp>
      <p:sp>
        <p:nvSpPr>
          <p:cNvPr id="31" name="">
            <a:extLst xmlns:a="http://schemas.openxmlformats.org/drawingml/2006/main">
              <a:ext uri="{FF2B5EF4-FFF2-40B4-BE49-F238E27FC236}">
                <a16:creationId xmlns:a16="http://schemas.microsoft.com/office/drawing/2014/main" id="{14A142B5-9D05-4371-A626-A99813FCB48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257880AA-BA1F-4CF7-B4A6-4169916A535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원천–동기화–검색 결과의 전후 스냅샷과 지연</a:t>
            </a:r>
          </a:p>
        </p:txBody>
      </p:sp>
    </p:spTree>
    <p:extLst>
      <p:ext uri="{BB962C8B-B14F-4D97-AF65-F5344CB8AC3E}">
        <p14:creationId xmlns:p14="http://schemas.microsoft.com/office/powerpoint/2010/main" val="779964886"/>
      </p:ext>
    </p:extLst>
  </p:cSld>
</p:sld>
</file>

<file path=ppt/slides/slide19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0002008-2D39-49F4-875E-2296C67AC8B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CCK 비교·재현 시험 설계</a:t>
            </a:r>
          </a:p>
        </p:txBody>
      </p:sp>
      <p:sp>
        <p:nvSpPr>
          <p:cNvPr id="2" name="">
            <a:extLst xmlns:a="http://schemas.openxmlformats.org/drawingml/2006/main">
              <a:ext uri="{FF2B5EF4-FFF2-40B4-BE49-F238E27FC236}">
                <a16:creationId xmlns:a16="http://schemas.microsoft.com/office/drawing/2014/main" id="{25DEA3F9-B4CA-47E8-82D2-3246660608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벤치마킹</a:t>
            </a:r>
          </a:p>
        </p:txBody>
      </p:sp>
      <p:sp>
        <p:nvSpPr>
          <p:cNvPr id="3" name="">
            <a:extLst xmlns:a="http://schemas.openxmlformats.org/drawingml/2006/main">
              <a:ext uri="{FF2B5EF4-FFF2-40B4-BE49-F238E27FC236}">
                <a16:creationId xmlns:a16="http://schemas.microsoft.com/office/drawing/2014/main" id="{691D1A49-7319-4864-9781-F34B4360DBC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969928-F8C1-44B4-91F8-5FF291D4BE3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A007EA1-D745-4414-ACB6-0F45A9991CB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192</a:t>
            </a:r>
          </a:p>
        </p:txBody>
      </p:sp>
      <p:sp>
        <p:nvSpPr>
          <p:cNvPr id="6" name="">
            <a:extLst xmlns:a="http://schemas.openxmlformats.org/drawingml/2006/main">
              <a:ext uri="{FF2B5EF4-FFF2-40B4-BE49-F238E27FC236}">
                <a16:creationId xmlns:a16="http://schemas.microsoft.com/office/drawing/2014/main" id="{761D51BA-0751-45E5-BCB9-DEC6D40E8F1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AABA6C0-E1CE-4BDC-B7CB-4A1A125E67A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사람 정보의 지정 원천 동기화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필드의 일관된 매핑</a:t>
            </a:r>
          </a:p>
        </p:txBody>
      </p:sp>
      <p:sp>
        <p:nvSpPr>
          <p:cNvPr id="8" name="">
            <a:extLst xmlns:a="http://schemas.openxmlformats.org/drawingml/2006/main">
              <a:ext uri="{FF2B5EF4-FFF2-40B4-BE49-F238E27FC236}">
                <a16:creationId xmlns:a16="http://schemas.microsoft.com/office/drawing/2014/main" id="{D85013CE-5357-42E3-96B6-6F07F25D28D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EC32293-9E8C-4175-8690-515EABFB53D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복수 원천의 직원 중복</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삭제·퇴직·부서 변경 반영 누락</a:t>
            </a:r>
          </a:p>
        </p:txBody>
      </p:sp>
      <p:sp>
        <p:nvSpPr>
          <p:cNvPr id="10" name="">
            <a:extLst xmlns:a="http://schemas.openxmlformats.org/drawingml/2006/main">
              <a:ext uri="{FF2B5EF4-FFF2-40B4-BE49-F238E27FC236}">
                <a16:creationId xmlns:a16="http://schemas.microsoft.com/office/drawing/2014/main" id="{1843D14B-2806-4BAC-9EE2-09900BBEE99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2BF5543-00C5-4256-B03D-680B8711B03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우선순위·중복·변경 대사</a:t>
            </a:r>
          </a:p>
        </p:txBody>
      </p:sp>
      <p:sp>
        <p:nvSpPr>
          <p:cNvPr id="12" name="">
            <a:extLst xmlns:a="http://schemas.openxmlformats.org/drawingml/2006/main">
              <a:ext uri="{FF2B5EF4-FFF2-40B4-BE49-F238E27FC236}">
                <a16:creationId xmlns:a16="http://schemas.microsoft.com/office/drawing/2014/main" id="{714B864D-9BD4-4D80-9A3F-C152DD2C94B3}"/>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3329CEC-AA51-4174-AACE-CA9D1492D45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직원 원천의 부서·직책 변경을 검색에 반영</a:t>
            </a:r>
          </a:p>
        </p:txBody>
      </p:sp>
      <p:sp>
        <p:nvSpPr>
          <p:cNvPr id="14" name="">
            <a:extLst xmlns:a="http://schemas.openxmlformats.org/drawingml/2006/main">
              <a:ext uri="{FF2B5EF4-FFF2-40B4-BE49-F238E27FC236}">
                <a16:creationId xmlns:a16="http://schemas.microsoft.com/office/drawing/2014/main" id="{3968B590-90EB-4985-9442-9521891A98F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5827643-7560-42A6-BCC0-0635C95904E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중복 계정·삭제 이벤트 누락·CSV 갱신 지연</a:t>
            </a:r>
          </a:p>
        </p:txBody>
      </p:sp>
      <p:sp>
        <p:nvSpPr>
          <p:cNvPr id="16" name="">
            <a:extLst xmlns:a="http://schemas.openxmlformats.org/drawingml/2006/main">
              <a:ext uri="{FF2B5EF4-FFF2-40B4-BE49-F238E27FC236}">
                <a16:creationId xmlns:a16="http://schemas.microsoft.com/office/drawing/2014/main" id="{875D4915-5630-494C-B537-782F14C027A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5C1AC10-6EC2-4388-BB86-5C4D99015953}"/>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원천–동기화–검색 결과의 전후 스냅샷과 지연</a:t>
            </a:r>
          </a:p>
        </p:txBody>
      </p:sp>
    </p:spTree>
    <p:extLst>
      <p:ext uri="{BB962C8B-B14F-4D97-AF65-F5344CB8AC3E}">
        <p14:creationId xmlns:p14="http://schemas.microsoft.com/office/powerpoint/2010/main" val="940256638"/>
      </p:ext>
    </p:extLst>
  </p:cSld>
</p:sld>
</file>

<file path=ppt/slides/slide19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E21522-3B36-45B0-AC48-FBC738B2DA9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성과 미검증 / 국내</a:t>
            </a:r>
          </a:p>
        </p:txBody>
      </p:sp>
      <p:sp>
        <p:nvSpPr>
          <p:cNvPr id="2" name="">
            <a:extLst xmlns:a="http://schemas.openxmlformats.org/drawingml/2006/main">
              <a:ext uri="{FF2B5EF4-FFF2-40B4-BE49-F238E27FC236}">
                <a16:creationId xmlns:a16="http://schemas.microsoft.com/office/drawing/2014/main" id="{54E0E42B-85A8-4A22-A834-CC021553142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a:t>
            </a:r>
          </a:p>
        </p:txBody>
      </p:sp>
      <p:sp>
        <p:nvSpPr>
          <p:cNvPr id="3" name="">
            <a:extLst xmlns:a="http://schemas.openxmlformats.org/drawingml/2006/main">
              <a:ext uri="{FF2B5EF4-FFF2-40B4-BE49-F238E27FC236}">
                <a16:creationId xmlns:a16="http://schemas.microsoft.com/office/drawing/2014/main" id="{3216D30C-F45D-47F3-8764-5FC6335E33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DE9FFF5-4BEC-47D8-9BDD-DD373C4C93A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DE57B9E-497B-439E-80C7-6636716DBB1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193</a:t>
            </a:r>
          </a:p>
        </p:txBody>
      </p:sp>
      <p:sp>
        <p:nvSpPr>
          <p:cNvPr id="6" name="">
            <a:extLst xmlns:a="http://schemas.openxmlformats.org/drawingml/2006/main">
              <a:ext uri="{FF2B5EF4-FFF2-40B4-BE49-F238E27FC236}">
                <a16:creationId xmlns:a16="http://schemas.microsoft.com/office/drawing/2014/main" id="{D31859FB-8722-427E-BD0C-D0370151C3ED}"/>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9E00FA4-73D9-4D21-869E-52FD78EB5202}"/>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ERP·그룹웨어의 AI 업무 지원을 문서 검색과 행정 실행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연결 관점에서 분석한 사례. 직원이 정보를 찾는 단계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에서 근태·결재 등 업무 요청을 구성하는 단계로 확장하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기능 범위.</a:t>
            </a:r>
          </a:p>
        </p:txBody>
      </p:sp>
      <p:sp>
        <p:nvSpPr>
          <p:cNvPr id="8" name="">
            <a:extLst xmlns:a="http://schemas.openxmlformats.org/drawingml/2006/main">
              <a:ext uri="{FF2B5EF4-FFF2-40B4-BE49-F238E27FC236}">
                <a16:creationId xmlns:a16="http://schemas.microsoft.com/office/drawing/2014/main" id="{CBF20369-AAA7-4749-84DF-DF348CC2469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7776BE0-F9F3-44AB-8C41-4A59CEAAD16B}"/>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로그인 직원과 업무 목적 확인, 필요한 문서·인사 정보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조회, 실행 요청 구조화, 사용자 확인, 시스템 등록·처리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 반환으로 재구성. 제품 소개의 기능 범위와 실제 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 버전·연계 API 지원 여부를 구분하는 방식.</a:t>
            </a:r>
          </a:p>
        </p:txBody>
      </p:sp>
      <p:sp>
        <p:nvSpPr>
          <p:cNvPr id="10" name="">
            <a:extLst xmlns:a="http://schemas.openxmlformats.org/drawingml/2006/main">
              <a:ext uri="{FF2B5EF4-FFF2-40B4-BE49-F238E27FC236}">
                <a16:creationId xmlns:a16="http://schemas.microsoft.com/office/drawing/2014/main" id="{5005B2B8-141B-41B7-86A5-0E378C1F851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3A4BC6F-D06F-4923-AF5E-B47ED42FD99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기존 ERP·그룹웨어의 권한·결재 로직을 유지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하며 AI가 입력과 초안을 지원하는 접근. 실행 대상·결재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선·중복 요청·부분 실패·취소 조건을 시험하고 조회용 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큰과 쓰기 권한의 분리를 추가 개발 범위로 검토.</a:t>
            </a:r>
          </a:p>
        </p:txBody>
      </p:sp>
      <p:sp>
        <p:nvSpPr>
          <p:cNvPr id="12" name="">
            <a:extLst xmlns:a="http://schemas.openxmlformats.org/drawingml/2006/main">
              <a:ext uri="{FF2B5EF4-FFF2-40B4-BE49-F238E27FC236}">
                <a16:creationId xmlns:a16="http://schemas.microsoft.com/office/drawing/2014/main" id="{57775804-C3F3-4B4E-ADB4-D623329688D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25239B1-A543-437C-A93F-255B43DDDC9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항목·담당자·승인·API 처리 연결</a:t>
            </a:r>
          </a:p>
        </p:txBody>
      </p:sp>
      <p:sp>
        <p:nvSpPr>
          <p:cNvPr id="14" name="">
            <a:extLst xmlns:a="http://schemas.openxmlformats.org/drawingml/2006/main">
              <a:ext uri="{FF2B5EF4-FFF2-40B4-BE49-F238E27FC236}">
                <a16:creationId xmlns:a16="http://schemas.microsoft.com/office/drawing/2014/main" id="{74E5FB9D-800A-46EC-8DE5-74032723F396}"/>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1426E3C-4247-4A7B-9E61-F22776E88F3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완료율·재작업·중복 처리의 기준선·비교 평가</a:t>
            </a:r>
          </a:p>
        </p:txBody>
      </p:sp>
      <p:sp>
        <p:nvSpPr>
          <p:cNvPr id="16" name="">
            <a:extLst xmlns:a="http://schemas.openxmlformats.org/drawingml/2006/main">
              <a:ext uri="{FF2B5EF4-FFF2-40B4-BE49-F238E27FC236}">
                <a16:creationId xmlns:a16="http://schemas.microsoft.com/office/drawing/2014/main" id="{37FD6C87-F4A0-4F38-A877-6DF436F0EC9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B77564E-4346-4C75-BD28-74D97AAA356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완료율·재작업·중복 처리</a:t>
            </a:r>
          </a:p>
        </p:txBody>
      </p:sp>
      <p:sp>
        <p:nvSpPr>
          <p:cNvPr id="18" name="">
            <a:extLst xmlns:a="http://schemas.openxmlformats.org/drawingml/2006/main">
              <a:ext uri="{FF2B5EF4-FFF2-40B4-BE49-F238E27FC236}">
                <a16:creationId xmlns:a16="http://schemas.microsoft.com/office/drawing/2014/main" id="{2FB7AB3F-4B34-47A5-983D-128A14269C7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제품 기능 설명과 고객 구현·성과를 구분. 특정 ERP 의존성 및 TS 타 시스템 연계 공수는 미확인</a:t>
            </a:r>
          </a:p>
        </p:txBody>
      </p:sp>
    </p:spTree>
    <p:extLst>
      <p:ext uri="{BB962C8B-B14F-4D97-AF65-F5344CB8AC3E}">
        <p14:creationId xmlns:p14="http://schemas.microsoft.com/office/powerpoint/2010/main" val="723467642"/>
      </p:ext>
    </p:extLst>
  </p:cSld>
</p:sld>
</file>

<file path=ppt/slides/slide19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FBB2F20-B113-42DE-BFC6-23714FC0031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As-Is → To-Be → 기대효과 → 확인 결과</a:t>
            </a:r>
          </a:p>
        </p:txBody>
      </p:sp>
      <p:sp>
        <p:nvSpPr>
          <p:cNvPr id="2" name="">
            <a:extLst xmlns:a="http://schemas.openxmlformats.org/drawingml/2006/main">
              <a:ext uri="{FF2B5EF4-FFF2-40B4-BE49-F238E27FC236}">
                <a16:creationId xmlns:a16="http://schemas.microsoft.com/office/drawing/2014/main" id="{F2129038-2451-4D04-AD91-189F32213F7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기대와 결과</a:t>
            </a:r>
          </a:p>
        </p:txBody>
      </p:sp>
      <p:sp>
        <p:nvSpPr>
          <p:cNvPr id="3" name="">
            <a:extLst xmlns:a="http://schemas.openxmlformats.org/drawingml/2006/main">
              <a:ext uri="{FF2B5EF4-FFF2-40B4-BE49-F238E27FC236}">
                <a16:creationId xmlns:a16="http://schemas.microsoft.com/office/drawing/2014/main" id="{6F921B3F-04AA-43E3-A1C8-7360F034142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5CEB45-37A1-49D1-8BD3-A23FCF2051F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6861877-4584-474F-8323-801CBDA083E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194</a:t>
            </a:r>
          </a:p>
        </p:txBody>
      </p:sp>
      <p:sp>
        <p:nvSpPr>
          <p:cNvPr id="6" name="">
            <a:extLst xmlns:a="http://schemas.openxmlformats.org/drawingml/2006/main">
              <a:ext uri="{FF2B5EF4-FFF2-40B4-BE49-F238E27FC236}">
                <a16:creationId xmlns:a16="http://schemas.microsoft.com/office/drawing/2014/main" id="{38B223E5-9E4C-43C1-99A9-8D6B56E3FECA}"/>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4B459CB9-00C4-4A74-824F-DE00306847B7}"/>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ERP·그룹웨어에 흩어진 근태·결재·업무 정보와 일반 AI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질의가 분리</a:t>
            </a:r>
          </a:p>
        </p:txBody>
      </p:sp>
      <p:sp>
        <p:nvSpPr>
          <p:cNvPr id="8" name="">
            <a:extLst xmlns:a="http://schemas.openxmlformats.org/drawingml/2006/main">
              <a:ext uri="{FF2B5EF4-FFF2-40B4-BE49-F238E27FC236}">
                <a16:creationId xmlns:a16="http://schemas.microsoft.com/office/drawing/2014/main" id="{688169F4-D978-4801-B794-83F546B20599}"/>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773D00AD-4C00-4165-9DB8-238A12DA5AD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Amaranth 10·ONE AI 제품 설명처럼 ERP·전자결재·RA</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G·업무 에이전트를 연결</a:t>
            </a:r>
          </a:p>
        </p:txBody>
      </p:sp>
      <p:sp>
        <p:nvSpPr>
          <p:cNvPr id="10" name="">
            <a:extLst xmlns:a="http://schemas.openxmlformats.org/drawingml/2006/main">
              <a:ext uri="{FF2B5EF4-FFF2-40B4-BE49-F238E27FC236}">
                <a16:creationId xmlns:a16="http://schemas.microsoft.com/office/drawing/2014/main" id="{F8D3F35C-9D9B-4692-90DC-1DC6EF157D8E}"/>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5FE3251-613D-42B2-957D-3300D12CEE51}"/>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근태·결재 과업 완료시간과 재입력·중복 처리 감소</a:t>
            </a:r>
          </a:p>
        </p:txBody>
      </p:sp>
      <p:sp>
        <p:nvSpPr>
          <p:cNvPr id="12" name="">
            <a:extLst xmlns:a="http://schemas.openxmlformats.org/drawingml/2006/main">
              <a:ext uri="{FF2B5EF4-FFF2-40B4-BE49-F238E27FC236}">
                <a16:creationId xmlns:a16="http://schemas.microsoft.com/office/drawing/2014/main" id="{AE81626A-D9ED-4254-B74C-06C5CD5AA827}"/>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83A4CD1F-64E6-406B-9ABF-BF09CBF07B15}"/>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공급사 제안서의 제품 기능 확인. 특정 고객의 설치·업무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완료율·전후 비용 자료 없음</a:t>
            </a:r>
          </a:p>
        </p:txBody>
      </p:sp>
      <p:sp>
        <p:nvSpPr>
          <p:cNvPr id="14" name="">
            <a:extLst xmlns:a="http://schemas.openxmlformats.org/drawingml/2006/main">
              <a:ext uri="{FF2B5EF4-FFF2-40B4-BE49-F238E27FC236}">
                <a16:creationId xmlns:a16="http://schemas.microsoft.com/office/drawing/2014/main" id="{043617BD-051B-48F9-B393-1CF0E91FE365}"/>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판매 자료의 기능 범위가 실제 고객 운영·성과의 증거는 아님</a:t>
            </a:r>
          </a:p>
        </p:txBody>
      </p:sp>
      <p:sp>
        <p:nvSpPr>
          <p:cNvPr id="15" name="">
            <a:extLst xmlns:a="http://schemas.openxmlformats.org/drawingml/2006/main">
              <a:ext uri="{FF2B5EF4-FFF2-40B4-BE49-F238E27FC236}">
                <a16:creationId xmlns:a16="http://schemas.microsoft.com/office/drawing/2014/main" id="{7A64A9E2-1838-43FA-B298-2FC67BF9E48E}"/>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제품 제안서 · TS 기간계 적합성·라이선스·연계 공수는 별도 검토 대상</a:t>
            </a:r>
          </a:p>
        </p:txBody>
      </p:sp>
    </p:spTree>
    <p:extLst>
      <p:ext uri="{BB962C8B-B14F-4D97-AF65-F5344CB8AC3E}">
        <p14:creationId xmlns:p14="http://schemas.microsoft.com/office/powerpoint/2010/main" val="1422382222"/>
      </p:ext>
    </p:extLst>
  </p:cSld>
</p:sld>
</file>

<file path=ppt/slides/slide19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8D32CA8-9EC2-43C9-95CE-A66A2024A7D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249B727-A18E-492B-B465-2D7D5C1266E1}"/>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DD1A84E-433D-4679-9A55-D6C2B56FB310}"/>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33EA0915-CAD6-40A2-8052-8066F32CCAFE}"/>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CB129F8-051A-4D89-BEC9-45A2D62A6BE9}"/>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0759892E-DA0A-4471-8944-3207DE6391EA}"/>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C564676-75D8-4DD1-B7A2-6EDD620D3603}"/>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3B4D2604-151A-4F55-9F1A-4D891A46940D}"/>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93634481-713E-4AB6-A7FE-BCBE888A6C5E}"/>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F53C9DDA-E092-4639-ADC8-4F7D4914536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입력 구조화·확인·업무시스템 처리</a:t>
            </a:r>
          </a:p>
        </p:txBody>
      </p:sp>
      <p:sp>
        <p:nvSpPr>
          <p:cNvPr id="2" name="">
            <a:extLst xmlns:a="http://schemas.openxmlformats.org/drawingml/2006/main">
              <a:ext uri="{FF2B5EF4-FFF2-40B4-BE49-F238E27FC236}">
                <a16:creationId xmlns:a16="http://schemas.microsoft.com/office/drawing/2014/main" id="{7E788EF5-3AA6-49BC-BCA6-9B2DC37067A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세부 서비스 구조</a:t>
            </a:r>
          </a:p>
        </p:txBody>
      </p:sp>
      <p:sp>
        <p:nvSpPr>
          <p:cNvPr id="3" name="">
            <a:extLst xmlns:a="http://schemas.openxmlformats.org/drawingml/2006/main">
              <a:ext uri="{FF2B5EF4-FFF2-40B4-BE49-F238E27FC236}">
                <a16:creationId xmlns:a16="http://schemas.microsoft.com/office/drawing/2014/main" id="{2CC71ECA-039D-4814-8E1A-2BDF7A0757E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230717-0118-4044-9F75-23FBEA658B2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2A4CEA6-130A-472B-B97C-EB1B0F3FE0E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195</a:t>
            </a:r>
          </a:p>
        </p:txBody>
      </p:sp>
      <p:sp>
        <p:nvSpPr>
          <p:cNvPr id="6" name="">
            <a:extLst xmlns:a="http://schemas.openxmlformats.org/drawingml/2006/main">
              <a:ext uri="{FF2B5EF4-FFF2-40B4-BE49-F238E27FC236}">
                <a16:creationId xmlns:a16="http://schemas.microsoft.com/office/drawing/2014/main" id="{983578EA-787D-4D05-AD64-30D5DCE6ACB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ERP·그룹웨어 → 문서·업무 지식 → 업무 에이전트 → 근태·결재 연계</a:t>
            </a:r>
          </a:p>
        </p:txBody>
      </p:sp>
      <p:sp>
        <p:nvSpPr>
          <p:cNvPr id="7" name="">
            <a:extLst xmlns:a="http://schemas.openxmlformats.org/drawingml/2006/main">
              <a:ext uri="{FF2B5EF4-FFF2-40B4-BE49-F238E27FC236}">
                <a16:creationId xmlns:a16="http://schemas.microsoft.com/office/drawing/2014/main" id="{D5260C25-363D-4825-80FE-444B7E0B204E}"/>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394EC89-EDD9-4612-A42C-0625F54EFBD3}"/>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25071243-B7A7-4E08-9E83-3EF1451DAB29}"/>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ERP·그룹웨어</a:t>
            </a:r>
          </a:p>
        </p:txBody>
      </p:sp>
      <p:sp>
        <p:nvSpPr>
          <p:cNvPr id="10" name="">
            <a:extLst xmlns:a="http://schemas.openxmlformats.org/drawingml/2006/main">
              <a:ext uri="{FF2B5EF4-FFF2-40B4-BE49-F238E27FC236}">
                <a16:creationId xmlns:a16="http://schemas.microsoft.com/office/drawing/2014/main" id="{3DED8081-07D9-4261-84B3-C02B2C75A0D2}"/>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CB58F50-EECB-4B36-B726-0DC8A15DCD44}"/>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0E1C7ACB-612D-476B-8B0D-A7887CF0F48A}"/>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직원·업무·권한</a:t>
            </a:r>
          </a:p>
        </p:txBody>
      </p:sp>
      <p:sp>
        <p:nvSpPr>
          <p:cNvPr id="13" name="">
            <a:extLst xmlns:a="http://schemas.openxmlformats.org/drawingml/2006/main">
              <a:ext uri="{FF2B5EF4-FFF2-40B4-BE49-F238E27FC236}">
                <a16:creationId xmlns:a16="http://schemas.microsoft.com/office/drawing/2014/main" id="{9E75002B-35FE-4873-B1DE-F0DF0A47AE67}"/>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2A610CA-2762-4257-948D-3163FCB011B4}"/>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F991AF5F-B33E-4514-95BA-2D9D03DBDC84}"/>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ONE AI 구조화</a:t>
            </a:r>
          </a:p>
        </p:txBody>
      </p:sp>
      <p:sp>
        <p:nvSpPr>
          <p:cNvPr id="16" name="">
            <a:extLst xmlns:a="http://schemas.openxmlformats.org/drawingml/2006/main">
              <a:ext uri="{FF2B5EF4-FFF2-40B4-BE49-F238E27FC236}">
                <a16:creationId xmlns:a16="http://schemas.microsoft.com/office/drawing/2014/main" id="{2CF052FE-53F4-4F0D-A648-40688BD09BE3}"/>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575F7CEF-57AC-40A3-A45F-755898EE0A10}"/>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768E1AC-7B90-4D27-B3E2-D91A72D06E27}"/>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필드·권한 검사</a:t>
            </a:r>
          </a:p>
        </p:txBody>
      </p:sp>
      <p:sp>
        <p:nvSpPr>
          <p:cNvPr id="19" name="">
            <a:extLst xmlns:a="http://schemas.openxmlformats.org/drawingml/2006/main">
              <a:ext uri="{FF2B5EF4-FFF2-40B4-BE49-F238E27FC236}">
                <a16:creationId xmlns:a16="http://schemas.microsoft.com/office/drawing/2014/main" id="{39FA09D0-3A4B-4026-9FF9-9980613F6CF2}"/>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7CF6BD9-D038-482A-8636-EE66A2E5C726}"/>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05375E74-8855-4BFC-83BE-EA2A0CB2817C}"/>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사용자·결재자</a:t>
            </a:r>
          </a:p>
        </p:txBody>
      </p:sp>
      <p:sp>
        <p:nvSpPr>
          <p:cNvPr id="22" name="">
            <a:extLst xmlns:a="http://schemas.openxmlformats.org/drawingml/2006/main">
              <a:ext uri="{FF2B5EF4-FFF2-40B4-BE49-F238E27FC236}">
                <a16:creationId xmlns:a16="http://schemas.microsoft.com/office/drawing/2014/main" id="{7E57EDE9-1981-4916-BEEA-6C9166A02B85}"/>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2CAEA0C-EBB8-49B7-A889-22F8E78E7162}"/>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CC3C29B8-36EE-4326-9E8B-79A91AF3527A}"/>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근태·전자결재</a:t>
            </a:r>
          </a:p>
        </p:txBody>
      </p:sp>
      <p:sp>
        <p:nvSpPr>
          <p:cNvPr id="25" name="">
            <a:extLst xmlns:a="http://schemas.openxmlformats.org/drawingml/2006/main">
              <a:ext uri="{FF2B5EF4-FFF2-40B4-BE49-F238E27FC236}">
                <a16:creationId xmlns:a16="http://schemas.microsoft.com/office/drawing/2014/main" id="{35C4FD95-8C96-4CA3-B846-D51FBBD7403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8E91BC7-44D8-4DC6-A194-5BF29A11C18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F0763B97-2BC9-483B-9860-3C7D1E460FF3}"/>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ERP·인사·문서</a:t>
            </a:r>
          </a:p>
        </p:txBody>
      </p:sp>
      <p:sp>
        <p:nvSpPr>
          <p:cNvPr id="28" name="">
            <a:extLst xmlns:a="http://schemas.openxmlformats.org/drawingml/2006/main">
              <a:ext uri="{FF2B5EF4-FFF2-40B4-BE49-F238E27FC236}">
                <a16:creationId xmlns:a16="http://schemas.microsoft.com/office/drawing/2014/main" id="{F67A0DD5-46FD-4264-A6BE-C8CB4E777B6E}"/>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EC7B10D-EADA-42BE-B20E-E01FFFA35DEC}"/>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C60B1F5D-4212-471C-AD4B-B5DE89CD7779}"/>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문서·근태 조회</a:t>
            </a:r>
          </a:p>
        </p:txBody>
      </p:sp>
      <p:sp>
        <p:nvSpPr>
          <p:cNvPr id="31" name="">
            <a:extLst xmlns:a="http://schemas.openxmlformats.org/drawingml/2006/main">
              <a:ext uri="{FF2B5EF4-FFF2-40B4-BE49-F238E27FC236}">
                <a16:creationId xmlns:a16="http://schemas.microsoft.com/office/drawing/2014/main" id="{E21C81B7-1E31-4F3E-ACC7-36BE329A4BF9}"/>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CDEEEC7-15E7-484B-80DC-6EC9CF352172}"/>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373736F-4E21-4CE6-AB57-8E802452BB56}"/>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초안·처리 상태</a:t>
            </a:r>
          </a:p>
        </p:txBody>
      </p:sp>
      <p:sp>
        <p:nvSpPr>
          <p:cNvPr id="34" name="">
            <a:extLst xmlns:a="http://schemas.openxmlformats.org/drawingml/2006/main">
              <a:ext uri="{FF2B5EF4-FFF2-40B4-BE49-F238E27FC236}">
                <a16:creationId xmlns:a16="http://schemas.microsoft.com/office/drawing/2014/main" id="{9F02960E-B23B-4F42-B09E-829816D0F8A7}"/>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082D903-3E5B-4A9E-BD8C-A86F9AB58AC3}"/>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83726289-AD68-4680-BFD6-3A14E941AAF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실행 결과 확인</a:t>
            </a:r>
          </a:p>
        </p:txBody>
      </p:sp>
      <p:sp>
        <p:nvSpPr>
          <p:cNvPr id="46" name="">
            <a:extLst xmlns:a="http://schemas.openxmlformats.org/drawingml/2006/main">
              <a:ext uri="{FF2B5EF4-FFF2-40B4-BE49-F238E27FC236}">
                <a16:creationId xmlns:a16="http://schemas.microsoft.com/office/drawing/2014/main" id="{468F9B80-6A31-4085-9FFA-AD83359FF1A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16039290"/>
      </p:ext>
    </p:extLst>
  </p:cSld>
</p:sld>
</file>

<file path=ppt/slides/slide19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78153CF-C6EE-42F5-8E1E-8EB18BD8D3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논리 인터페이스·복구 설계</a:t>
            </a:r>
          </a:p>
        </p:txBody>
      </p:sp>
      <p:sp>
        <p:nvSpPr>
          <p:cNvPr id="2" name="">
            <a:extLst xmlns:a="http://schemas.openxmlformats.org/drawingml/2006/main">
              <a:ext uri="{FF2B5EF4-FFF2-40B4-BE49-F238E27FC236}">
                <a16:creationId xmlns:a16="http://schemas.microsoft.com/office/drawing/2014/main" id="{B1C54AB7-FC3A-49E0-95BC-AB24844E230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데이터와 예외 처리</a:t>
            </a:r>
          </a:p>
        </p:txBody>
      </p:sp>
      <p:sp>
        <p:nvSpPr>
          <p:cNvPr id="3" name="">
            <a:extLst xmlns:a="http://schemas.openxmlformats.org/drawingml/2006/main">
              <a:ext uri="{FF2B5EF4-FFF2-40B4-BE49-F238E27FC236}">
                <a16:creationId xmlns:a16="http://schemas.microsoft.com/office/drawing/2014/main" id="{539C10DD-5519-4959-893A-8449ECD27EF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7DA0A6-7AD8-4D77-9586-6029AF6DE9D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CE1E2D7-43FF-4F6D-A3C2-AD9F25FFD7A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196</a:t>
            </a:r>
          </a:p>
        </p:txBody>
      </p:sp>
      <p:sp>
        <p:nvSpPr>
          <p:cNvPr id="6" name="">
            <a:extLst xmlns:a="http://schemas.openxmlformats.org/drawingml/2006/main">
              <a:ext uri="{FF2B5EF4-FFF2-40B4-BE49-F238E27FC236}">
                <a16:creationId xmlns:a16="http://schemas.microsoft.com/office/drawing/2014/main" id="{CF8D9803-7D94-4D04-8CB5-58E4EC5C56A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6896374-5DD2-430D-A99A-CBE96AC3489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427A6E6-218B-480F-B561-4B90E37C366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130F9DDC-AC95-4BB2-B9B5-D8A807EEE63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직원·대상 업무·실행 권한 확인</a:t>
            </a:r>
          </a:p>
        </p:txBody>
      </p:sp>
      <p:sp>
        <p:nvSpPr>
          <p:cNvPr id="10" name="">
            <a:extLst xmlns:a="http://schemas.openxmlformats.org/drawingml/2006/main">
              <a:ext uri="{FF2B5EF4-FFF2-40B4-BE49-F238E27FC236}">
                <a16:creationId xmlns:a16="http://schemas.microsoft.com/office/drawing/2014/main" id="{33F38D72-BEF3-45FA-88DF-195E13000D5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456E9BC-C381-4B8B-8C3F-7F1C58AEB4C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AC2C0E85-06FF-4744-86FE-E1EA1D05DE4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153B4C2D-04D3-4586-80A9-9146C7027B0D}"/>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408308B-66D2-440A-9D74-82AA6B87F3A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CAADC63A-523E-440B-B64E-6C6D9A8E0E6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문서·업무 지식</a:t>
            </a:r>
          </a:p>
        </p:txBody>
      </p:sp>
      <p:sp>
        <p:nvSpPr>
          <p:cNvPr id="16" name="">
            <a:extLst xmlns:a="http://schemas.openxmlformats.org/drawingml/2006/main">
              <a:ext uri="{FF2B5EF4-FFF2-40B4-BE49-F238E27FC236}">
                <a16:creationId xmlns:a16="http://schemas.microsoft.com/office/drawing/2014/main" id="{74248AB4-31F9-4FD2-B694-F58925A4864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A66F12-2E83-4B69-B77E-0ACD761E965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89AF0292-8130-47E5-85E1-EF133B80019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초안</a:t>
            </a:r>
          </a:p>
        </p:txBody>
      </p:sp>
      <p:sp>
        <p:nvSpPr>
          <p:cNvPr id="19" name="">
            <a:extLst xmlns:a="http://schemas.openxmlformats.org/drawingml/2006/main">
              <a:ext uri="{FF2B5EF4-FFF2-40B4-BE49-F238E27FC236}">
                <a16:creationId xmlns:a16="http://schemas.microsoft.com/office/drawing/2014/main" id="{8DA26D8B-5DA4-4113-8BED-C71632F3E68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6FF0209-B91D-4E8C-A0F4-C0D04FE3187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65AFE658-4895-4420-8F80-5CF5E4F0C1C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근태·결재 결과</a:t>
            </a:r>
          </a:p>
        </p:txBody>
      </p:sp>
      <p:sp>
        <p:nvSpPr>
          <p:cNvPr id="22" name="">
            <a:extLst xmlns:a="http://schemas.openxmlformats.org/drawingml/2006/main">
              <a:ext uri="{FF2B5EF4-FFF2-40B4-BE49-F238E27FC236}">
                <a16:creationId xmlns:a16="http://schemas.microsoft.com/office/drawing/2014/main" id="{EF927A3F-2AB9-48A9-811F-ECA9CAFCC1E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E98C417-DD5F-43D8-9287-0E4A82C855A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7C4D73B5-22FC-4D20-A3A9-323026E0BAF1}"/>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근태·결재 결과</a:t>
            </a:r>
          </a:p>
        </p:txBody>
      </p:sp>
      <p:sp>
        <p:nvSpPr>
          <p:cNvPr id="25" name="">
            <a:extLst xmlns:a="http://schemas.openxmlformats.org/drawingml/2006/main">
              <a:ext uri="{FF2B5EF4-FFF2-40B4-BE49-F238E27FC236}">
                <a16:creationId xmlns:a16="http://schemas.microsoft.com/office/drawing/2014/main" id="{76D2C6A5-3F3E-495C-B803-3ED6E2ACAE0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DEFFF88F-57D2-45F4-BF74-8D5E57ED790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잔여일수 부족·전결권 부재·중복 상신</a:t>
            </a:r>
          </a:p>
        </p:txBody>
      </p:sp>
      <p:sp>
        <p:nvSpPr>
          <p:cNvPr id="27" name="">
            <a:extLst xmlns:a="http://schemas.openxmlformats.org/drawingml/2006/main">
              <a:ext uri="{FF2B5EF4-FFF2-40B4-BE49-F238E27FC236}">
                <a16:creationId xmlns:a16="http://schemas.microsoft.com/office/drawing/2014/main" id="{C254918B-7572-4B99-B53C-921B62AD15A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8543CE7-1459-41ED-AF0A-64D5D71278B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기능·승인·결과 확인</a:t>
            </a:r>
          </a:p>
        </p:txBody>
      </p:sp>
      <p:sp>
        <p:nvSpPr>
          <p:cNvPr id="29" name="">
            <a:extLst xmlns:a="http://schemas.openxmlformats.org/drawingml/2006/main">
              <a:ext uri="{FF2B5EF4-FFF2-40B4-BE49-F238E27FC236}">
                <a16:creationId xmlns:a16="http://schemas.microsoft.com/office/drawing/2014/main" id="{AFD04027-8553-4688-B514-A9A91A2BB37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11E212D-FBF1-45F4-99AD-61B38731D8C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기능·승인·실행 결과의 비교 시험</a:t>
            </a:r>
          </a:p>
        </p:txBody>
      </p:sp>
      <p:sp>
        <p:nvSpPr>
          <p:cNvPr id="31" name="">
            <a:extLst xmlns:a="http://schemas.openxmlformats.org/drawingml/2006/main">
              <a:ext uri="{FF2B5EF4-FFF2-40B4-BE49-F238E27FC236}">
                <a16:creationId xmlns:a16="http://schemas.microsoft.com/office/drawing/2014/main" id="{413683B1-A205-4D5B-B8AB-A347FCB0083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D7CF142-BE03-4B33-9102-0B80DD0D8FE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 목록·사용자 확인·원천 접수 결과</a:t>
            </a:r>
          </a:p>
        </p:txBody>
      </p:sp>
    </p:spTree>
    <p:extLst>
      <p:ext uri="{BB962C8B-B14F-4D97-AF65-F5344CB8AC3E}">
        <p14:creationId xmlns:p14="http://schemas.microsoft.com/office/powerpoint/2010/main" val="1366317197"/>
      </p:ext>
    </p:extLst>
  </p:cSld>
</p:sld>
</file>

<file path=ppt/slides/slide19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976E4B0-C60D-484E-9F2B-FCBA0830128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CCK 비교·재현 시험 설계</a:t>
            </a:r>
          </a:p>
        </p:txBody>
      </p:sp>
      <p:sp>
        <p:nvSpPr>
          <p:cNvPr id="2" name="">
            <a:extLst xmlns:a="http://schemas.openxmlformats.org/drawingml/2006/main">
              <a:ext uri="{FF2B5EF4-FFF2-40B4-BE49-F238E27FC236}">
                <a16:creationId xmlns:a16="http://schemas.microsoft.com/office/drawing/2014/main" id="{7E4F5A81-E366-47CC-A56C-CDFE396D1A3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벤치마킹</a:t>
            </a:r>
          </a:p>
        </p:txBody>
      </p:sp>
      <p:sp>
        <p:nvSpPr>
          <p:cNvPr id="3" name="">
            <a:extLst xmlns:a="http://schemas.openxmlformats.org/drawingml/2006/main">
              <a:ext uri="{FF2B5EF4-FFF2-40B4-BE49-F238E27FC236}">
                <a16:creationId xmlns:a16="http://schemas.microsoft.com/office/drawing/2014/main" id="{C12146A6-2A57-454D-87B9-940F4C9077F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774D77-A4F0-419C-A7A8-974521E7199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1382553-255D-4355-B158-B6C7D6B2900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197</a:t>
            </a:r>
          </a:p>
        </p:txBody>
      </p:sp>
      <p:sp>
        <p:nvSpPr>
          <p:cNvPr id="6" name="">
            <a:extLst xmlns:a="http://schemas.openxmlformats.org/drawingml/2006/main">
              <a:ext uri="{FF2B5EF4-FFF2-40B4-BE49-F238E27FC236}">
                <a16:creationId xmlns:a16="http://schemas.microsoft.com/office/drawing/2014/main" id="{7BE2FF09-9279-44AA-88C5-42E72326BE0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B8FEADCA-C7B6-45F1-87AB-28AFC10F1A7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ERP·그룹웨어의 업무 문맥</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문서·근태·결재 접점 연결</a:t>
            </a:r>
          </a:p>
        </p:txBody>
      </p:sp>
      <p:sp>
        <p:nvSpPr>
          <p:cNvPr id="8" name="">
            <a:extLst xmlns:a="http://schemas.openxmlformats.org/drawingml/2006/main">
              <a:ext uri="{FF2B5EF4-FFF2-40B4-BE49-F238E27FC236}">
                <a16:creationId xmlns:a16="http://schemas.microsoft.com/office/drawing/2014/main" id="{82F0455E-1990-4949-A8C5-1A4F8264AEB7}"/>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139A07B-FB99-4442-8FF6-E481158645A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제품 소개와 실제 고객 동작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실행 권한의 과도한 위임</a:t>
            </a:r>
          </a:p>
        </p:txBody>
      </p:sp>
      <p:sp>
        <p:nvSpPr>
          <p:cNvPr id="10" name="">
            <a:extLst xmlns:a="http://schemas.openxmlformats.org/drawingml/2006/main">
              <a:ext uri="{FF2B5EF4-FFF2-40B4-BE49-F238E27FC236}">
                <a16:creationId xmlns:a16="http://schemas.microsoft.com/office/drawing/2014/main" id="{F0FC848E-0043-4336-8095-C245D1E2631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30E95EF-B9C1-480F-BC16-C0C699190FE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도입본 기능·승인·결과 확인</a:t>
            </a:r>
          </a:p>
        </p:txBody>
      </p:sp>
      <p:sp>
        <p:nvSpPr>
          <p:cNvPr id="12" name="">
            <a:extLst xmlns:a="http://schemas.openxmlformats.org/drawingml/2006/main">
              <a:ext uri="{FF2B5EF4-FFF2-40B4-BE49-F238E27FC236}">
                <a16:creationId xmlns:a16="http://schemas.microsoft.com/office/drawing/2014/main" id="{2C55EB70-1036-4768-8012-BC23D4F6BBE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9E21B17-D846-4543-B303-F2A3568AB50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근태 요청을 확인하고 해당 전자결재 절차로 연결</a:t>
            </a:r>
          </a:p>
        </p:txBody>
      </p:sp>
      <p:sp>
        <p:nvSpPr>
          <p:cNvPr id="14" name="">
            <a:extLst xmlns:a="http://schemas.openxmlformats.org/drawingml/2006/main">
              <a:ext uri="{FF2B5EF4-FFF2-40B4-BE49-F238E27FC236}">
                <a16:creationId xmlns:a16="http://schemas.microsoft.com/office/drawing/2014/main" id="{F2D4EB51-F357-41C3-B283-BD4F340C5E2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3114121-E5F5-4D1A-88EF-44BE37301DB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잔여일수 부족·전결권 부재·중복 상신</a:t>
            </a:r>
          </a:p>
        </p:txBody>
      </p:sp>
      <p:sp>
        <p:nvSpPr>
          <p:cNvPr id="16" name="">
            <a:extLst xmlns:a="http://schemas.openxmlformats.org/drawingml/2006/main">
              <a:ext uri="{FF2B5EF4-FFF2-40B4-BE49-F238E27FC236}">
                <a16:creationId xmlns:a16="http://schemas.microsoft.com/office/drawing/2014/main" id="{91F1EDBF-9BD6-49CC-A75F-015B57D54BC2}"/>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D55C3A2-41B0-4D86-8886-D77CF6F47F8C}"/>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도입본 기능 목록·사용자 확인·원천 접수 결과</a:t>
            </a:r>
          </a:p>
        </p:txBody>
      </p:sp>
    </p:spTree>
    <p:extLst>
      <p:ext uri="{BB962C8B-B14F-4D97-AF65-F5344CB8AC3E}">
        <p14:creationId xmlns:p14="http://schemas.microsoft.com/office/powerpoint/2010/main" val="1271973295"/>
      </p:ext>
    </p:extLst>
  </p:cSld>
</p:sld>
</file>

<file path=ppt/slides/slide19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9EBD79-C945-4E0C-8BDF-C18BF378F2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실패 확인 / 해외</a:t>
            </a:r>
          </a:p>
        </p:txBody>
      </p:sp>
      <p:sp>
        <p:nvSpPr>
          <p:cNvPr id="2" name="">
            <a:extLst xmlns:a="http://schemas.openxmlformats.org/drawingml/2006/main">
              <a:ext uri="{FF2B5EF4-FFF2-40B4-BE49-F238E27FC236}">
                <a16:creationId xmlns:a16="http://schemas.microsoft.com/office/drawing/2014/main" id="{2BCF362E-8436-43E4-B98C-366AC2E602A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a:t>
            </a:r>
          </a:p>
        </p:txBody>
      </p:sp>
      <p:sp>
        <p:nvSpPr>
          <p:cNvPr id="3" name="">
            <a:extLst xmlns:a="http://schemas.openxmlformats.org/drawingml/2006/main">
              <a:ext uri="{FF2B5EF4-FFF2-40B4-BE49-F238E27FC236}">
                <a16:creationId xmlns:a16="http://schemas.microsoft.com/office/drawing/2014/main" id="{FB851F45-0F18-4FA3-A810-1A964974200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CFB31B-D586-46FB-90B9-787E7902FF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B4AA093-2D5A-488F-ADF9-600D47477D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198</a:t>
            </a:r>
          </a:p>
        </p:txBody>
      </p:sp>
      <p:sp>
        <p:nvSpPr>
          <p:cNvPr id="6" name="">
            <a:extLst xmlns:a="http://schemas.openxmlformats.org/drawingml/2006/main">
              <a:ext uri="{FF2B5EF4-FFF2-40B4-BE49-F238E27FC236}">
                <a16:creationId xmlns:a16="http://schemas.microsoft.com/office/drawing/2014/main" id="{A1A91F02-5872-4914-AB38-E2B536482ECE}"/>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CA8BEE5-AC12-4805-B0D1-8F50EB67BB8E}"/>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뉴욕 MyCity의 챗봇 답변 품질과 통합서비스 사업관리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문제를 다룬 감사 사례. 공식 안내의 정확성과 서비스 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합·계약 감독을 함께 봐야 하는 대민 AI 사업의 사례.</a:t>
            </a:r>
          </a:p>
        </p:txBody>
      </p:sp>
      <p:sp>
        <p:nvSpPr>
          <p:cNvPr id="8" name="">
            <a:extLst xmlns:a="http://schemas.openxmlformats.org/drawingml/2006/main">
              <a:ext uri="{FF2B5EF4-FFF2-40B4-BE49-F238E27FC236}">
                <a16:creationId xmlns:a16="http://schemas.microsoft.com/office/drawing/2014/main" id="{89F01CB1-BF3D-451B-88CF-D28FEED026D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D725901-EBDC-415A-86D0-B250C266527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질문별 근거 문서, 답변 결과, 공식 신청 경로, 오류 수정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이력을 연결하는 재구성. 독립 시험셋과 계약 산출물 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록을 대응시키고 감사 지적·기관 반론을 근거별로 구분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비교하는 방식.</a:t>
            </a:r>
          </a:p>
        </p:txBody>
      </p:sp>
      <p:sp>
        <p:nvSpPr>
          <p:cNvPr id="10" name="">
            <a:extLst xmlns:a="http://schemas.openxmlformats.org/drawingml/2006/main">
              <a:ext uri="{FF2B5EF4-FFF2-40B4-BE49-F238E27FC236}">
                <a16:creationId xmlns:a16="http://schemas.microsoft.com/office/drawing/2014/main" id="{AEC16813-F283-45C3-8CA7-F2D9452F3FC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F5FC006-D49E-40B6-80D0-C5D82C55A50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챗봇 공개와 민원 업무 완결을 같은 성과로 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설계에 활용. 부정확·상충 안내의 회귀시험, 완료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 정의, 변경 요구와 인수 증빙의 연결을 CCK 사업관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리 기능에 반영할 필요.</a:t>
            </a:r>
          </a:p>
        </p:txBody>
      </p:sp>
      <p:sp>
        <p:nvSpPr>
          <p:cNvPr id="12" name="">
            <a:extLst xmlns:a="http://schemas.openxmlformats.org/drawingml/2006/main">
              <a:ext uri="{FF2B5EF4-FFF2-40B4-BE49-F238E27FC236}">
                <a16:creationId xmlns:a16="http://schemas.microsoft.com/office/drawing/2014/main" id="{81B1EF83-EAE3-44C7-99E4-07D3FDC3E2A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DA461D8-D001-4BEA-8F4A-89AD7A7FD13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반례 정답셋·오안내 신고·책임부서 인계</a:t>
            </a:r>
          </a:p>
        </p:txBody>
      </p:sp>
      <p:sp>
        <p:nvSpPr>
          <p:cNvPr id="14" name="">
            <a:extLst xmlns:a="http://schemas.openxmlformats.org/drawingml/2006/main">
              <a:ext uri="{FF2B5EF4-FFF2-40B4-BE49-F238E27FC236}">
                <a16:creationId xmlns:a16="http://schemas.microsoft.com/office/drawing/2014/main" id="{3C2C0BB8-0604-44C4-B89D-EB5EFB0A195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E1F4818-5DB5-4881-A3D1-B6762221D20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규정과 상충하는 안내 및 미완료 신청 재현</a:t>
            </a:r>
          </a:p>
        </p:txBody>
      </p:sp>
      <p:sp>
        <p:nvSpPr>
          <p:cNvPr id="16" name="">
            <a:extLst xmlns:a="http://schemas.openxmlformats.org/drawingml/2006/main">
              <a:ext uri="{FF2B5EF4-FFF2-40B4-BE49-F238E27FC236}">
                <a16:creationId xmlns:a16="http://schemas.microsoft.com/office/drawing/2014/main" id="{9F3B100E-6B2B-4D2B-9034-D2BAE64496F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A05E157-1D7A-4346-9698-8F304FEFD90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오안내율 / 신청 완료율 / 재접촉률</a:t>
            </a:r>
          </a:p>
        </p:txBody>
      </p:sp>
      <p:sp>
        <p:nvSpPr>
          <p:cNvPr id="18" name="">
            <a:extLst xmlns:a="http://schemas.openxmlformats.org/drawingml/2006/main">
              <a:ext uri="{FF2B5EF4-FFF2-40B4-BE49-F238E27FC236}">
                <a16:creationId xmlns:a16="http://schemas.microsoft.com/office/drawing/2014/main" id="{010E1D90-DF69-4E82-A842-27469FB4E81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운영기관의 정확도 주장과 감사 판단의 차이 존재 · 개별 질의·평가 방식 대조 필요</a:t>
            </a:r>
          </a:p>
        </p:txBody>
      </p:sp>
    </p:spTree>
    <p:extLst>
      <p:ext uri="{BB962C8B-B14F-4D97-AF65-F5344CB8AC3E}">
        <p14:creationId xmlns:p14="http://schemas.microsoft.com/office/powerpoint/2010/main" val="499319822"/>
      </p:ext>
    </p:extLst>
  </p:cSld>
</p:sld>
</file>

<file path=ppt/slides/slide19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1965878-7282-4949-A33E-3861AEBB662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As-Is → To-Be → 기대효과 → 확인 결과</a:t>
            </a:r>
          </a:p>
        </p:txBody>
      </p:sp>
      <p:sp>
        <p:nvSpPr>
          <p:cNvPr id="2" name="">
            <a:extLst xmlns:a="http://schemas.openxmlformats.org/drawingml/2006/main">
              <a:ext uri="{FF2B5EF4-FFF2-40B4-BE49-F238E27FC236}">
                <a16:creationId xmlns:a16="http://schemas.microsoft.com/office/drawing/2014/main" id="{28C13EDA-3F2C-4F26-80DA-FE786BC027D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기대와 결과</a:t>
            </a:r>
          </a:p>
        </p:txBody>
      </p:sp>
      <p:sp>
        <p:nvSpPr>
          <p:cNvPr id="3" name="">
            <a:extLst xmlns:a="http://schemas.openxmlformats.org/drawingml/2006/main">
              <a:ext uri="{FF2B5EF4-FFF2-40B4-BE49-F238E27FC236}">
                <a16:creationId xmlns:a16="http://schemas.microsoft.com/office/drawing/2014/main" id="{1ADAE09E-1DD0-4178-920A-E8EE7D3046C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D11FAB2-5001-4157-9C03-26ED0A42837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C6E45FF-5828-4F68-8628-62D648029A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199</a:t>
            </a:r>
          </a:p>
        </p:txBody>
      </p:sp>
      <p:sp>
        <p:nvSpPr>
          <p:cNvPr id="6" name="">
            <a:extLst xmlns:a="http://schemas.openxmlformats.org/drawingml/2006/main">
              <a:ext uri="{FF2B5EF4-FFF2-40B4-BE49-F238E27FC236}">
                <a16:creationId xmlns:a16="http://schemas.microsoft.com/office/drawing/2014/main" id="{0144777D-3CED-4012-A16C-A1180BC30026}"/>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142CCE6-E9F1-4B83-87D9-3C1678C20524}"/>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뉴욕시 시민서비스가 기관별 사이트·양식에 분산되고 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택 안내가 단절</a:t>
            </a:r>
          </a:p>
        </p:txBody>
      </p:sp>
      <p:sp>
        <p:nvSpPr>
          <p:cNvPr id="8" name="">
            <a:extLst xmlns:a="http://schemas.openxmlformats.org/drawingml/2006/main">
              <a:ext uri="{FF2B5EF4-FFF2-40B4-BE49-F238E27FC236}">
                <a16:creationId xmlns:a16="http://schemas.microsoft.com/office/drawing/2014/main" id="{55511A1C-3B6B-4153-B8A6-337849128F8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F6F1D4CE-AA92-40DC-93C5-5D3517AA30C9}"/>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MyCity 단일 창구·통합 신청·디지털 지갑과 신뢰할 수 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는 대화형 안내</a:t>
            </a:r>
          </a:p>
        </p:txBody>
      </p:sp>
      <p:sp>
        <p:nvSpPr>
          <p:cNvPr id="10" name="">
            <a:extLst xmlns:a="http://schemas.openxmlformats.org/drawingml/2006/main">
              <a:ext uri="{FF2B5EF4-FFF2-40B4-BE49-F238E27FC236}">
                <a16:creationId xmlns:a16="http://schemas.microsoft.com/office/drawing/2014/main" id="{6419D6FD-2A7B-46A5-A042-618F284B1B25}"/>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2A3BF028-17CD-40BF-9354-1BC502F1E78C}"/>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시민의 원스톱 신청 완료, 일관된 안내, 처리 상태 추적 및</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접근성 개선</a:t>
            </a:r>
          </a:p>
        </p:txBody>
      </p:sp>
      <p:sp>
        <p:nvSpPr>
          <p:cNvPr id="12" name="">
            <a:extLst xmlns:a="http://schemas.openxmlformats.org/drawingml/2006/main">
              <a:ext uri="{FF2B5EF4-FFF2-40B4-BE49-F238E27FC236}">
                <a16:creationId xmlns:a16="http://schemas.microsoft.com/office/drawing/2014/main" id="{24B1CE66-7F93-45BA-BCE1-503FEA99509C}"/>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8DF644DE-3B11-471C-8CA5-D41EA7DC89EC}"/>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 감사는 4년·1억 달러 이상 지출 후 단일 양식·디지털 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갑 미구현, 챗봇 부정확·비일관 응답 및 p90 12.4~16.2</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초 지적</a:t>
            </a:r>
          </a:p>
        </p:txBody>
      </p:sp>
      <p:sp>
        <p:nvSpPr>
          <p:cNvPr id="14" name="">
            <a:extLst xmlns:a="http://schemas.openxmlformats.org/drawingml/2006/main">
              <a:ext uri="{FF2B5EF4-FFF2-40B4-BE49-F238E27FC236}">
                <a16:creationId xmlns:a16="http://schemas.microsoft.com/office/drawing/2014/main" id="{408748B7-83DD-4A6E-A8A5-AAEF26066F8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확인 · 감사 기준의 단일 신청·지갑 미구현과 답변 일관성·응답시간 미달 확인. 계획·계약 감독 및 시험 증빙도 지적; 운</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영기관은 정확도에 이견 제기</a:t>
            </a:r>
          </a:p>
        </p:txBody>
      </p:sp>
      <p:sp>
        <p:nvSpPr>
          <p:cNvPr id="15" name="">
            <a:extLst xmlns:a="http://schemas.openxmlformats.org/drawingml/2006/main">
              <a:ext uri="{FF2B5EF4-FFF2-40B4-BE49-F238E27FC236}">
                <a16:creationId xmlns:a16="http://schemas.microsoft.com/office/drawing/2014/main" id="{41B652B7-7FE2-4481-976F-4709B81CE81F}"/>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독립 공식 감사 · 사업 전체의 모든 구성 실패로 일반화 금지; 부정 피드백 50/70은 응답자 분모이며 전체 질문 비율 아님</a:t>
            </a:r>
          </a:p>
        </p:txBody>
      </p:sp>
    </p:spTree>
    <p:extLst>
      <p:ext uri="{BB962C8B-B14F-4D97-AF65-F5344CB8AC3E}">
        <p14:creationId xmlns:p14="http://schemas.microsoft.com/office/powerpoint/2010/main" val="600985323"/>
      </p:ext>
    </p:extLst>
  </p:cSld>
</p:sld>
</file>

<file path=ppt/slides/slide20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072F1692-041A-4635-91AC-BF6F26AB08E8}"/>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8AFEDA7-28F1-40A4-9A3B-55DC9073F22D}"/>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1B20C29-BAB9-49EA-880A-E500DC8A6158}"/>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33E68FE1-DC59-4EAF-9E7C-EF1E08D83076}"/>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EB818538-0F51-4D91-BFA2-48A894A7C9C5}"/>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2E1AED0-B5F0-4960-AA54-BF82A39518E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71931580-BAE1-4D5B-97C0-628A7FBBECED}"/>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0F3AD3E-03D1-4F17-BFB4-0F3C3DC5B904}"/>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862D041D-1A85-4440-BD10-2EF73A45FEA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E0442C57-AA23-451E-BCD2-EF8AD0CA3F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지식 갱신·검색·근거 응답</a:t>
            </a:r>
          </a:p>
        </p:txBody>
      </p:sp>
      <p:sp>
        <p:nvSpPr>
          <p:cNvPr id="2" name="">
            <a:extLst xmlns:a="http://schemas.openxmlformats.org/drawingml/2006/main">
              <a:ext uri="{FF2B5EF4-FFF2-40B4-BE49-F238E27FC236}">
                <a16:creationId xmlns:a16="http://schemas.microsoft.com/office/drawing/2014/main" id="{ABF82357-05B0-4BD6-A561-D8D6009FBAA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세부 서비스 구조</a:t>
            </a:r>
          </a:p>
        </p:txBody>
      </p:sp>
      <p:sp>
        <p:nvSpPr>
          <p:cNvPr id="3" name="">
            <a:extLst xmlns:a="http://schemas.openxmlformats.org/drawingml/2006/main">
              <a:ext uri="{FF2B5EF4-FFF2-40B4-BE49-F238E27FC236}">
                <a16:creationId xmlns:a16="http://schemas.microsoft.com/office/drawing/2014/main" id="{2E863836-08C9-4E99-A2FC-CD79026FCB6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862DB0-7166-4CA7-BEB7-70E512D8D13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D6608EC-2900-4ED8-B765-1AAF0FBDAEC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200</a:t>
            </a:r>
          </a:p>
        </p:txBody>
      </p:sp>
      <p:sp>
        <p:nvSpPr>
          <p:cNvPr id="6" name="">
            <a:extLst xmlns:a="http://schemas.openxmlformats.org/drawingml/2006/main">
              <a:ext uri="{FF2B5EF4-FFF2-40B4-BE49-F238E27FC236}">
                <a16:creationId xmlns:a16="http://schemas.microsoft.com/office/drawing/2014/main" id="{A1E5D8BF-3FC4-4E1D-8D0F-646271B1BC5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공공 안내 자료 → AI 챗봇 → 사업자 안내 → 감사·개선 요청</a:t>
            </a:r>
          </a:p>
        </p:txBody>
      </p:sp>
      <p:sp>
        <p:nvSpPr>
          <p:cNvPr id="7" name="">
            <a:extLst xmlns:a="http://schemas.openxmlformats.org/drawingml/2006/main">
              <a:ext uri="{FF2B5EF4-FFF2-40B4-BE49-F238E27FC236}">
                <a16:creationId xmlns:a16="http://schemas.microsoft.com/office/drawing/2014/main" id="{7B057A4C-D3BE-41A5-A195-0284F5205C9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AC373F3-7325-4EC5-BEF2-D42B3904943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B76712A-6DD4-49DB-9457-F5C1D9E0BB8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정책·서비스 목록</a:t>
            </a:r>
          </a:p>
        </p:txBody>
      </p:sp>
      <p:sp>
        <p:nvSpPr>
          <p:cNvPr id="10" name="">
            <a:extLst xmlns:a="http://schemas.openxmlformats.org/drawingml/2006/main">
              <a:ext uri="{FF2B5EF4-FFF2-40B4-BE49-F238E27FC236}">
                <a16:creationId xmlns:a16="http://schemas.microsoft.com/office/drawing/2014/main" id="{71516F53-32AC-45A8-A8AA-035654555341}"/>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8C35FF6A-44D6-4B42-8758-6E31388C8E2A}"/>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DBA7D235-0785-4738-8DDC-37679935CE60}"/>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판본·적용조건 정리</a:t>
            </a:r>
          </a:p>
        </p:txBody>
      </p:sp>
      <p:sp>
        <p:nvSpPr>
          <p:cNvPr id="13" name="">
            <a:extLst xmlns:a="http://schemas.openxmlformats.org/drawingml/2006/main">
              <a:ext uri="{FF2B5EF4-FFF2-40B4-BE49-F238E27FC236}">
                <a16:creationId xmlns:a16="http://schemas.microsoft.com/office/drawing/2014/main" id="{32B02AB6-D32E-49A8-A4F0-FEF0D26CFA21}"/>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D787999-56D9-49BF-B87B-4C7C2D869499}"/>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D58B73CE-7C25-470B-A8D1-436F1DEC4FD5}"/>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안내·회귀시험셋</a:t>
            </a:r>
          </a:p>
        </p:txBody>
      </p:sp>
      <p:sp>
        <p:nvSpPr>
          <p:cNvPr id="16" name="">
            <a:extLst xmlns:a="http://schemas.openxmlformats.org/drawingml/2006/main">
              <a:ext uri="{FF2B5EF4-FFF2-40B4-BE49-F238E27FC236}">
                <a16:creationId xmlns:a16="http://schemas.microsoft.com/office/drawing/2014/main" id="{A05FD867-ED47-4541-BDD7-C4E17E517DD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430C1197-56C0-443D-B01B-FC9D4C0CF47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AC5823EB-CA0B-4CE2-95FF-CE0DF90130DF}"/>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안내 검색</a:t>
            </a:r>
          </a:p>
        </p:txBody>
      </p:sp>
      <p:sp>
        <p:nvSpPr>
          <p:cNvPr id="19" name="">
            <a:extLst xmlns:a="http://schemas.openxmlformats.org/drawingml/2006/main">
              <a:ext uri="{FF2B5EF4-FFF2-40B4-BE49-F238E27FC236}">
                <a16:creationId xmlns:a16="http://schemas.microsoft.com/office/drawing/2014/main" id="{DDDDF23E-FBAB-4102-8D27-B393728D2DD7}"/>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5D13AFB-B678-4CF2-989C-A9DECB6F46D5}"/>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606D4861-4494-487B-8710-9A1008897B03}"/>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MyCity 질의</a:t>
            </a:r>
          </a:p>
        </p:txBody>
      </p:sp>
      <p:sp>
        <p:nvSpPr>
          <p:cNvPr id="22" name="">
            <a:extLst xmlns:a="http://schemas.openxmlformats.org/drawingml/2006/main">
              <a:ext uri="{FF2B5EF4-FFF2-40B4-BE49-F238E27FC236}">
                <a16:creationId xmlns:a16="http://schemas.microsoft.com/office/drawing/2014/main" id="{C6D445D4-1FEE-4B3F-8EFC-C773499A13FB}"/>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E74E755-2920-4082-9CD4-5A59A70135A0}"/>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CD55DB10-EE97-4771-90EB-110A801BD975}"/>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소관·이용조건</a:t>
            </a:r>
          </a:p>
        </p:txBody>
      </p:sp>
      <p:sp>
        <p:nvSpPr>
          <p:cNvPr id="25" name="">
            <a:extLst xmlns:a="http://schemas.openxmlformats.org/drawingml/2006/main">
              <a:ext uri="{FF2B5EF4-FFF2-40B4-BE49-F238E27FC236}">
                <a16:creationId xmlns:a16="http://schemas.microsoft.com/office/drawing/2014/main" id="{643C1D93-63BF-4B0F-B04A-308DFBB5336D}"/>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61821D2-5F87-4C6C-9FA8-6484998FAE1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4F3518F0-76EB-4FEE-BDE0-F7A6C5E87EFA}"/>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근거형 답변 구성</a:t>
            </a:r>
          </a:p>
        </p:txBody>
      </p:sp>
      <p:sp>
        <p:nvSpPr>
          <p:cNvPr id="28" name="">
            <a:extLst xmlns:a="http://schemas.openxmlformats.org/drawingml/2006/main">
              <a:ext uri="{FF2B5EF4-FFF2-40B4-BE49-F238E27FC236}">
                <a16:creationId xmlns:a16="http://schemas.microsoft.com/office/drawing/2014/main" id="{4D1F5CC2-CFE3-4B44-AAD1-26D85B704F0C}"/>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DDF07C41-9398-4F97-A47A-66C174BB029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F5F80CDD-51A1-4CAB-859C-DF2CE9668DDF}"/>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위법·상충 안내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검사</a:t>
            </a:r>
          </a:p>
        </p:txBody>
      </p:sp>
      <p:sp>
        <p:nvSpPr>
          <p:cNvPr id="31" name="">
            <a:extLst xmlns:a="http://schemas.openxmlformats.org/drawingml/2006/main">
              <a:ext uri="{FF2B5EF4-FFF2-40B4-BE49-F238E27FC236}">
                <a16:creationId xmlns:a16="http://schemas.microsoft.com/office/drawing/2014/main" id="{14ECFBE1-17CF-43E1-9CD0-C9B6831C3B2B}"/>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C112F0A1-DCE2-4EBF-A53C-A2DF78C9501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1B29894D-95CD-4EE4-8E35-6E7ED3E1994A}"/>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서비스 담당 검토</a:t>
            </a:r>
          </a:p>
        </p:txBody>
      </p:sp>
      <p:sp>
        <p:nvSpPr>
          <p:cNvPr id="34" name="">
            <a:extLst xmlns:a="http://schemas.openxmlformats.org/drawingml/2006/main">
              <a:ext uri="{FF2B5EF4-FFF2-40B4-BE49-F238E27FC236}">
                <a16:creationId xmlns:a16="http://schemas.microsoft.com/office/drawing/2014/main" id="{3A929641-8533-4306-9913-86DE91E5F70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DF0D7213-1532-485F-9C3C-FFABCD5D294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F4B3F6BC-FB65-44A9-B07B-1F793468955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경로 안내</a:t>
            </a:r>
          </a:p>
        </p:txBody>
      </p:sp>
      <p:sp>
        <p:nvSpPr>
          <p:cNvPr id="46" name="">
            <a:extLst xmlns:a="http://schemas.openxmlformats.org/drawingml/2006/main">
              <a:ext uri="{FF2B5EF4-FFF2-40B4-BE49-F238E27FC236}">
                <a16:creationId xmlns:a16="http://schemas.microsoft.com/office/drawing/2014/main" id="{19016EC7-5AA1-4165-A951-5105B7C6D0B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61485655"/>
      </p:ext>
    </p:extLst>
  </p:cSld>
</p:sld>
</file>

<file path=ppt/slides/slide20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CD319BE-2F6D-4031-8015-206B8007E35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논리 인터페이스·복구 설계</a:t>
            </a:r>
          </a:p>
        </p:txBody>
      </p:sp>
      <p:sp>
        <p:nvSpPr>
          <p:cNvPr id="2" name="">
            <a:extLst xmlns:a="http://schemas.openxmlformats.org/drawingml/2006/main">
              <a:ext uri="{FF2B5EF4-FFF2-40B4-BE49-F238E27FC236}">
                <a16:creationId xmlns:a16="http://schemas.microsoft.com/office/drawing/2014/main" id="{D87E00AA-31FD-4EA6-A441-1E465C429BB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데이터와 예외 처리</a:t>
            </a:r>
          </a:p>
        </p:txBody>
      </p:sp>
      <p:sp>
        <p:nvSpPr>
          <p:cNvPr id="3" name="">
            <a:extLst xmlns:a="http://schemas.openxmlformats.org/drawingml/2006/main">
              <a:ext uri="{FF2B5EF4-FFF2-40B4-BE49-F238E27FC236}">
                <a16:creationId xmlns:a16="http://schemas.microsoft.com/office/drawing/2014/main" id="{AE5EB20B-76FB-4446-96D9-4144DD041D4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441A3D6-F4EF-4906-B011-4D3C4ED5ACC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76B2B56-B753-4C03-AC6D-688072D4324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201</a:t>
            </a:r>
          </a:p>
        </p:txBody>
      </p:sp>
      <p:sp>
        <p:nvSpPr>
          <p:cNvPr id="6" name="">
            <a:extLst xmlns:a="http://schemas.openxmlformats.org/drawingml/2006/main">
              <a:ext uri="{FF2B5EF4-FFF2-40B4-BE49-F238E27FC236}">
                <a16:creationId xmlns:a16="http://schemas.microsoft.com/office/drawing/2014/main" id="{9DAF3EEF-D7A7-46C3-9220-34B5391F5D8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936D891-1428-43EF-967B-800052357E9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4362F72-3031-4494-B142-5C01D7FF240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1545CD80-45D1-479B-BDAB-12442815DC2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안내·응답·평가 기록</a:t>
            </a:r>
          </a:p>
        </p:txBody>
      </p:sp>
      <p:sp>
        <p:nvSpPr>
          <p:cNvPr id="10" name="">
            <a:extLst xmlns:a="http://schemas.openxmlformats.org/drawingml/2006/main">
              <a:ext uri="{FF2B5EF4-FFF2-40B4-BE49-F238E27FC236}">
                <a16:creationId xmlns:a16="http://schemas.microsoft.com/office/drawing/2014/main" id="{94CAD9C3-551E-420F-A2DD-D2AAD5FD13E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BC4F496-280A-493B-A7D4-D92C46AA029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63AC6F99-93F9-4640-91B8-B6B44E3247C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7896A010-D48F-461A-8402-1ED29F08481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130A2D9-2B24-47D2-8F06-ACD9ED840BC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07B9D52-F2BF-4AA6-8FE8-45772F80693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업무와 공식 소관·이용조건 식별</a:t>
            </a:r>
          </a:p>
        </p:txBody>
      </p:sp>
      <p:sp>
        <p:nvSpPr>
          <p:cNvPr id="16" name="">
            <a:extLst xmlns:a="http://schemas.openxmlformats.org/drawingml/2006/main">
              <a:ext uri="{FF2B5EF4-FFF2-40B4-BE49-F238E27FC236}">
                <a16:creationId xmlns:a16="http://schemas.microsoft.com/office/drawing/2014/main" id="{DBAB029C-F368-438B-9B7F-771737B2ECC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AA4CB04-F886-4269-AC47-CC06CA41627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8ADF1D77-7AF0-4023-BB3C-3AEEF55EA08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질문별 정답·변형 질의 일관성·실제 서비스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도달 기록</a:t>
            </a:r>
          </a:p>
        </p:txBody>
      </p:sp>
      <p:sp>
        <p:nvSpPr>
          <p:cNvPr id="19" name="">
            <a:extLst xmlns:a="http://schemas.openxmlformats.org/drawingml/2006/main">
              <a:ext uri="{FF2B5EF4-FFF2-40B4-BE49-F238E27FC236}">
                <a16:creationId xmlns:a16="http://schemas.microsoft.com/office/drawing/2014/main" id="{D6661BD4-B3C7-465C-862D-761FE64A7C1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ED07784-9A97-44B0-BF46-0D71BF36528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406AEEEE-7186-4427-986F-9393E89836A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 지식</a:t>
            </a:r>
          </a:p>
        </p:txBody>
      </p:sp>
      <p:sp>
        <p:nvSpPr>
          <p:cNvPr id="22" name="">
            <a:extLst xmlns:a="http://schemas.openxmlformats.org/drawingml/2006/main">
              <a:ext uri="{FF2B5EF4-FFF2-40B4-BE49-F238E27FC236}">
                <a16:creationId xmlns:a16="http://schemas.microsoft.com/office/drawing/2014/main" id="{1A939EAB-5A99-4D7E-9989-8DEC3996E45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427304D-A053-449D-A40D-364D0D09760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AA7B8241-EF91-4702-B601-174A1B84A05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챗봇 답변</a:t>
            </a:r>
          </a:p>
        </p:txBody>
      </p:sp>
      <p:sp>
        <p:nvSpPr>
          <p:cNvPr id="25" name="">
            <a:extLst xmlns:a="http://schemas.openxmlformats.org/drawingml/2006/main">
              <a:ext uri="{FF2B5EF4-FFF2-40B4-BE49-F238E27FC236}">
                <a16:creationId xmlns:a16="http://schemas.microsoft.com/office/drawing/2014/main" id="{7FE6C6A8-9E15-4FBE-92E3-B2C5CC60E73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2F64D6CD-B7A7-4526-B50B-68D3BC7A38A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 표현 변경·상충 규정·폐지된 서비스</a:t>
            </a:r>
          </a:p>
        </p:txBody>
      </p:sp>
      <p:sp>
        <p:nvSpPr>
          <p:cNvPr id="27" name="">
            <a:extLst xmlns:a="http://schemas.openxmlformats.org/drawingml/2006/main">
              <a:ext uri="{FF2B5EF4-FFF2-40B4-BE49-F238E27FC236}">
                <a16:creationId xmlns:a16="http://schemas.microsoft.com/office/drawing/2014/main" id="{8CA78290-01EF-43BF-9E0F-F7ED46E0238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50E5571-3F64-4E54-8824-8F9A76663DB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감사 지적과 기관 반론의 근거별 추적</a:t>
            </a:r>
          </a:p>
        </p:txBody>
      </p:sp>
      <p:sp>
        <p:nvSpPr>
          <p:cNvPr id="29" name="">
            <a:extLst xmlns:a="http://schemas.openxmlformats.org/drawingml/2006/main">
              <a:ext uri="{FF2B5EF4-FFF2-40B4-BE49-F238E27FC236}">
                <a16:creationId xmlns:a16="http://schemas.microsoft.com/office/drawing/2014/main" id="{52753CEB-E47F-4AA6-A6FA-E88DE1DB5E29}"/>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07EADB0C-57E3-40E5-8412-54229221FAF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회귀시험·오답 보완·계약 산출물의 대사</a:t>
            </a:r>
          </a:p>
        </p:txBody>
      </p:sp>
      <p:sp>
        <p:nvSpPr>
          <p:cNvPr id="31" name="">
            <a:extLst xmlns:a="http://schemas.openxmlformats.org/drawingml/2006/main">
              <a:ext uri="{FF2B5EF4-FFF2-40B4-BE49-F238E27FC236}">
                <a16:creationId xmlns:a16="http://schemas.microsoft.com/office/drawing/2014/main" id="{DD37AEDB-8A4A-4869-B9DD-CDD32CCD068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AAC1545-7268-4C2D-A3B3-0C8AF572EDCF}"/>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질문별 정답·변형 질의 일관성·실제 서비스 도달 기록</a:t>
            </a:r>
          </a:p>
        </p:txBody>
      </p:sp>
    </p:spTree>
    <p:extLst>
      <p:ext uri="{BB962C8B-B14F-4D97-AF65-F5344CB8AC3E}">
        <p14:creationId xmlns:p14="http://schemas.microsoft.com/office/powerpoint/2010/main" val="2146237330"/>
      </p:ext>
    </p:extLst>
  </p:cSld>
</p:sld>
</file>

<file path=ppt/slides/slide20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2876A77-71C5-4CF4-AA1D-57CE02FA735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CCK 비교·재현 시험 설계</a:t>
            </a:r>
          </a:p>
        </p:txBody>
      </p:sp>
      <p:sp>
        <p:nvSpPr>
          <p:cNvPr id="2" name="">
            <a:extLst xmlns:a="http://schemas.openxmlformats.org/drawingml/2006/main">
              <a:ext uri="{FF2B5EF4-FFF2-40B4-BE49-F238E27FC236}">
                <a16:creationId xmlns:a16="http://schemas.microsoft.com/office/drawing/2014/main" id="{9F30B517-C6FD-4527-872B-7C3196459CB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벤치마킹</a:t>
            </a:r>
          </a:p>
        </p:txBody>
      </p:sp>
      <p:sp>
        <p:nvSpPr>
          <p:cNvPr id="3" name="">
            <a:extLst xmlns:a="http://schemas.openxmlformats.org/drawingml/2006/main">
              <a:ext uri="{FF2B5EF4-FFF2-40B4-BE49-F238E27FC236}">
                <a16:creationId xmlns:a16="http://schemas.microsoft.com/office/drawing/2014/main" id="{74E01668-A96D-47D8-869C-2DD8C21BD63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568ACB-0754-46C0-8EED-48C6D968B03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D3E164A-3779-451F-BB5D-E72CEDB057A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202</a:t>
            </a:r>
          </a:p>
        </p:txBody>
      </p:sp>
      <p:sp>
        <p:nvSpPr>
          <p:cNvPr id="6" name="">
            <a:extLst xmlns:a="http://schemas.openxmlformats.org/drawingml/2006/main">
              <a:ext uri="{FF2B5EF4-FFF2-40B4-BE49-F238E27FC236}">
                <a16:creationId xmlns:a16="http://schemas.microsoft.com/office/drawing/2014/main" id="{C99DBB70-65A4-4B80-A4A6-425978CA763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F82D5023-5ED1-4FD2-9A06-37DC4EA4DA6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통합 서비스의 완료조건 정의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응답 품질·계약 증빙의 독립 검토</a:t>
            </a:r>
          </a:p>
        </p:txBody>
      </p:sp>
      <p:sp>
        <p:nvSpPr>
          <p:cNvPr id="8" name="">
            <a:extLst xmlns:a="http://schemas.openxmlformats.org/drawingml/2006/main">
              <a:ext uri="{FF2B5EF4-FFF2-40B4-BE49-F238E27FC236}">
                <a16:creationId xmlns:a16="http://schemas.microsoft.com/office/drawing/2014/main" id="{F8A4D286-9C5C-4BA2-9B5F-BDFE089C205C}"/>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BECE4A2F-89A0-4221-B072-41B3682A0CD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감사에서 지적된 비일관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사업계획·계약 감독·서비스 통합의 미비</a:t>
            </a:r>
          </a:p>
        </p:txBody>
      </p:sp>
      <p:sp>
        <p:nvSpPr>
          <p:cNvPr id="10" name="">
            <a:extLst xmlns:a="http://schemas.openxmlformats.org/drawingml/2006/main">
              <a:ext uri="{FF2B5EF4-FFF2-40B4-BE49-F238E27FC236}">
                <a16:creationId xmlns:a16="http://schemas.microsoft.com/office/drawing/2014/main" id="{4E7B5475-CF56-474B-89EE-821905BBC6E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A527541-195C-42D1-81AA-1B8375C7000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감사 지적과 기관 반론의 근거별 추적</a:t>
            </a:r>
          </a:p>
        </p:txBody>
      </p:sp>
      <p:sp>
        <p:nvSpPr>
          <p:cNvPr id="12" name="">
            <a:extLst xmlns:a="http://schemas.openxmlformats.org/drawingml/2006/main">
              <a:ext uri="{FF2B5EF4-FFF2-40B4-BE49-F238E27FC236}">
                <a16:creationId xmlns:a16="http://schemas.microsoft.com/office/drawing/2014/main" id="{296C01B1-D42E-4099-A847-D0B45C45E86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C629B7F8-14C5-48D7-A0A9-7B2E32EEFDBA}"/>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사업자가 허가 조건을 질문해 공식 안내로 이동</a:t>
            </a:r>
          </a:p>
        </p:txBody>
      </p:sp>
      <p:sp>
        <p:nvSpPr>
          <p:cNvPr id="14" name="">
            <a:extLst xmlns:a="http://schemas.openxmlformats.org/drawingml/2006/main">
              <a:ext uri="{FF2B5EF4-FFF2-40B4-BE49-F238E27FC236}">
                <a16:creationId xmlns:a16="http://schemas.microsoft.com/office/drawing/2014/main" id="{5E2FE3BE-670F-4DDC-954B-0B192B6B48A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00E0720-3C5A-48EF-B096-1D1A9ADF553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질문 표현 변경·상충 규정·폐지된 서비스</a:t>
            </a:r>
          </a:p>
        </p:txBody>
      </p:sp>
      <p:sp>
        <p:nvSpPr>
          <p:cNvPr id="16" name="">
            <a:extLst xmlns:a="http://schemas.openxmlformats.org/drawingml/2006/main">
              <a:ext uri="{FF2B5EF4-FFF2-40B4-BE49-F238E27FC236}">
                <a16:creationId xmlns:a16="http://schemas.microsoft.com/office/drawing/2014/main" id="{DBAE33E6-C239-4E45-AE98-04D48164E40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D7C3CB1-ADFC-43F4-83C2-992E07493DB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질문별 정답·변형 질의 일관성·실제 서비스 도달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2018116899"/>
      </p:ext>
    </p:extLst>
  </p:cSld>
</p:sld>
</file>

<file path=ppt/slides/slide20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D01E320-A737-4A65-BE68-DF6CF3F2D23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EE893C04-AF23-4B37-97F2-E91D06949E9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05623DEB-56E7-4695-8A9E-B5A5B5B2C31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66AD0D-2745-4409-BC3B-DE54D3CA0CC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FE71F23-1A72-4AAA-AF5F-C73AE74A4B1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203</a:t>
            </a:r>
          </a:p>
        </p:txBody>
      </p:sp>
      <p:sp>
        <p:nvSpPr>
          <p:cNvPr id="6" name="">
            <a:extLst xmlns:a="http://schemas.openxmlformats.org/drawingml/2006/main">
              <a:ext uri="{FF2B5EF4-FFF2-40B4-BE49-F238E27FC236}">
                <a16:creationId xmlns:a16="http://schemas.microsoft.com/office/drawing/2014/main" id="{8CA15A41-760B-4484-9045-2AADD569DB54}"/>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22CEC29E-0651-42A8-B8DA-DB4301ADE18B}"/>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B4A1290-ED78-4234-89BD-3A1CEC9DAD6B}"/>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AI미래전략실</a:t>
            </a:r>
          </a:p>
        </p:txBody>
      </p:sp>
      <p:sp>
        <p:nvSpPr>
          <p:cNvPr id="9" name="">
            <a:extLst xmlns:a="http://schemas.openxmlformats.org/drawingml/2006/main">
              <a:ext uri="{FF2B5EF4-FFF2-40B4-BE49-F238E27FC236}">
                <a16:creationId xmlns:a16="http://schemas.microsoft.com/office/drawing/2014/main" id="{5F067B1A-C30C-4B54-9D00-DC94E79EF172}"/>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전략·윤리</a:t>
            </a:r>
          </a:p>
        </p:txBody>
      </p:sp>
      <p:sp>
        <p:nvSpPr>
          <p:cNvPr id="10" name="">
            <a:extLst xmlns:a="http://schemas.openxmlformats.org/drawingml/2006/main">
              <a:ext uri="{FF2B5EF4-FFF2-40B4-BE49-F238E27FC236}">
                <a16:creationId xmlns:a16="http://schemas.microsoft.com/office/drawing/2014/main" id="{BB3DF1CF-D4C7-4FC0-B193-47A91FF1E3B6}"/>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인공지능(AI) 전환 전략 수립․조정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인공지능(AI) 제도 및 지침, 윤리기준 관리</a:t>
            </a:r>
          </a:p>
        </p:txBody>
      </p:sp>
      <p:sp>
        <p:nvSpPr>
          <p:cNvPr id="11" name="">
            <a:extLst xmlns:a="http://schemas.openxmlformats.org/drawingml/2006/main">
              <a:ext uri="{FF2B5EF4-FFF2-40B4-BE49-F238E27FC236}">
                <a16:creationId xmlns:a16="http://schemas.microsoft.com/office/drawing/2014/main" id="{F28E5A39-E612-4327-B92F-80E8DE040CE5}"/>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EFE7224-815F-4BAC-8E71-B1AE496641D3}"/>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13" name="">
            <a:extLst xmlns:a="http://schemas.openxmlformats.org/drawingml/2006/main">
              <a:ext uri="{FF2B5EF4-FFF2-40B4-BE49-F238E27FC236}">
                <a16:creationId xmlns:a16="http://schemas.microsoft.com/office/drawing/2014/main" id="{E12D2B55-2F2C-4C44-90B6-3F6A454ACBFD}"/>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사업 조정·데이터 표준</a:t>
            </a:r>
          </a:p>
        </p:txBody>
      </p:sp>
      <p:sp>
        <p:nvSpPr>
          <p:cNvPr id="14" name="">
            <a:extLst xmlns:a="http://schemas.openxmlformats.org/drawingml/2006/main">
              <a:ext uri="{FF2B5EF4-FFF2-40B4-BE49-F238E27FC236}">
                <a16:creationId xmlns:a16="http://schemas.microsoft.com/office/drawing/2014/main" id="{08114FC2-E7BF-4A2A-87BB-C84C95EFFBB4}"/>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활용 서비스 구축 지원 및 성과관리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p:txBody>
      </p:sp>
      <p:sp>
        <p:nvSpPr>
          <p:cNvPr id="15" name="">
            <a:extLst xmlns:a="http://schemas.openxmlformats.org/drawingml/2006/main">
              <a:ext uri="{FF2B5EF4-FFF2-40B4-BE49-F238E27FC236}">
                <a16:creationId xmlns:a16="http://schemas.microsoft.com/office/drawing/2014/main" id="{9C167532-B6DD-478E-AE55-E0A999258479}"/>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B7328D-761B-499F-A18D-5B5A38F55273}"/>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AI서비스개발팀</a:t>
            </a:r>
          </a:p>
        </p:txBody>
      </p:sp>
      <p:sp>
        <p:nvSpPr>
          <p:cNvPr id="17" name="">
            <a:extLst xmlns:a="http://schemas.openxmlformats.org/drawingml/2006/main">
              <a:ext uri="{FF2B5EF4-FFF2-40B4-BE49-F238E27FC236}">
                <a16:creationId xmlns:a16="http://schemas.microsoft.com/office/drawing/2014/main" id="{82CE58F1-C533-4C19-A2F5-63D768BB786E}"/>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공통플랫폼·모델 품질</a:t>
            </a:r>
          </a:p>
        </p:txBody>
      </p:sp>
      <p:sp>
        <p:nvSpPr>
          <p:cNvPr id="18" name="">
            <a:extLst xmlns:a="http://schemas.openxmlformats.org/drawingml/2006/main">
              <a:ext uri="{FF2B5EF4-FFF2-40B4-BE49-F238E27FC236}">
                <a16:creationId xmlns:a16="http://schemas.microsoft.com/office/drawing/2014/main" id="{A6EFE60F-7938-44AB-903D-66DA7CEED5A8}"/>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공통플랫폼 구축․운영 인공지능(AI) 모델 고도화․품질관리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인공지능(AI) 시범 서비스(PoC) 추진</a:t>
            </a:r>
          </a:p>
        </p:txBody>
      </p:sp>
      <p:sp>
        <p:nvSpPr>
          <p:cNvPr id="19" name="">
            <a:extLst xmlns:a="http://schemas.openxmlformats.org/drawingml/2006/main">
              <a:ext uri="{FF2B5EF4-FFF2-40B4-BE49-F238E27FC236}">
                <a16:creationId xmlns:a16="http://schemas.microsoft.com/office/drawing/2014/main" id="{47570760-DAB5-49DF-A8BE-833BE4C440F3}"/>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27D2C10-46BF-4EF8-8D7B-0181CF02B9A1}"/>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21" name="">
            <a:extLst xmlns:a="http://schemas.openxmlformats.org/drawingml/2006/main">
              <a:ext uri="{FF2B5EF4-FFF2-40B4-BE49-F238E27FC236}">
                <a16:creationId xmlns:a16="http://schemas.microsoft.com/office/drawing/2014/main" id="{3CFC1E43-9CE9-436E-A6F0-1C7FE91F0C76}"/>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조직·분장·전결 관리</a:t>
            </a:r>
          </a:p>
        </p:txBody>
      </p:sp>
      <p:sp>
        <p:nvSpPr>
          <p:cNvPr id="22" name="">
            <a:extLst xmlns:a="http://schemas.openxmlformats.org/drawingml/2006/main">
              <a:ext uri="{FF2B5EF4-FFF2-40B4-BE49-F238E27FC236}">
                <a16:creationId xmlns:a16="http://schemas.microsoft.com/office/drawing/2014/main" id="{C9A40EC5-D71D-4D46-9729-9272095F6EC3}"/>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조직 및 정원관리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위임전결에 관한 사항</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업무분장 조정‧관리</a:t>
            </a:r>
          </a:p>
        </p:txBody>
      </p:sp>
      <p:sp>
        <p:nvSpPr>
          <p:cNvPr id="23" name="">
            <a:extLst xmlns:a="http://schemas.openxmlformats.org/drawingml/2006/main">
              <a:ext uri="{FF2B5EF4-FFF2-40B4-BE49-F238E27FC236}">
                <a16:creationId xmlns:a16="http://schemas.microsoft.com/office/drawing/2014/main" id="{F9704EFB-7117-4559-BF55-F30760F4C1B2}"/>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179993731"/>
      </p:ext>
    </p:extLst>
  </p:cSld>
</p:sld>
</file>

<file path=ppt/slides/slide20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390ADBC-44FA-4326-9B3C-2738167E9B2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A5DBD166-347F-476D-A914-9380B39E847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AAFE914B-3F30-4417-8337-131F4F17E81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FCC6EE-C872-4344-921D-FD6F25FDDD4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1BCD487-AA03-421E-8B4A-8ADD118897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204</a:t>
            </a:r>
          </a:p>
        </p:txBody>
      </p:sp>
      <p:sp>
        <p:nvSpPr>
          <p:cNvPr id="6" name="">
            <a:extLst xmlns:a="http://schemas.openxmlformats.org/drawingml/2006/main">
              <a:ext uri="{FF2B5EF4-FFF2-40B4-BE49-F238E27FC236}">
                <a16:creationId xmlns:a16="http://schemas.microsoft.com/office/drawing/2014/main" id="{7D56E01A-59DC-43DB-A9D5-88F2EE2942D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9A3C8C08-4C0F-4C65-BAFB-0495BC117599}"/>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94473-2C97-472F-8011-D656AD00B05C}"/>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1FE94FB2-36AF-4511-AF72-0BB1E28F4E0A}"/>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발령·인사정보 관리</a:t>
            </a:r>
          </a:p>
        </p:txBody>
      </p:sp>
      <p:sp>
        <p:nvSpPr>
          <p:cNvPr id="10" name="">
            <a:extLst xmlns:a="http://schemas.openxmlformats.org/drawingml/2006/main">
              <a:ext uri="{FF2B5EF4-FFF2-40B4-BE49-F238E27FC236}">
                <a16:creationId xmlns:a16="http://schemas.microsoft.com/office/drawing/2014/main" id="{B2C26D7E-4D41-418F-8797-D72E71BEFFD9}"/>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인사통계자료․인사정보 관리 및 인사 관련 제증명 발급</a:t>
            </a:r>
          </a:p>
        </p:txBody>
      </p:sp>
      <p:sp>
        <p:nvSpPr>
          <p:cNvPr id="11" name="">
            <a:extLst xmlns:a="http://schemas.openxmlformats.org/drawingml/2006/main">
              <a:ext uri="{FF2B5EF4-FFF2-40B4-BE49-F238E27FC236}">
                <a16:creationId xmlns:a16="http://schemas.microsoft.com/office/drawing/2014/main" id="{A306160C-044B-4093-A8B0-331B930E8D69}"/>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E7C658-D7A3-4DD1-B543-1E6098EAF8E9}"/>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65D4FE40-6CAC-400A-B60E-4A379AD2DF8B}"/>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정보화·데이터 품질</a:t>
            </a:r>
          </a:p>
        </p:txBody>
      </p:sp>
      <p:sp>
        <p:nvSpPr>
          <p:cNvPr id="14" name="">
            <a:extLst xmlns:a="http://schemas.openxmlformats.org/drawingml/2006/main">
              <a:ext uri="{FF2B5EF4-FFF2-40B4-BE49-F238E27FC236}">
                <a16:creationId xmlns:a16="http://schemas.microsoft.com/office/drawing/2014/main" id="{C23A52C2-154B-4597-A7FE-9BAD8BA87FE6}"/>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정보화사업 사전검토(과업지시서 등) 및 시스템 구축 지원(기술분야)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97B65769-A30A-41DF-A564-4E7E3E37ED1D}"/>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962E2D8-EC57-4F4B-8F5A-D84155EC52F4}"/>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BE2646B7-3A7B-4B3A-9D74-804B323632D2}"/>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보안·개인정보 관리</a:t>
            </a:r>
          </a:p>
        </p:txBody>
      </p:sp>
      <p:sp>
        <p:nvSpPr>
          <p:cNvPr id="18" name="">
            <a:extLst xmlns:a="http://schemas.openxmlformats.org/drawingml/2006/main">
              <a:ext uri="{FF2B5EF4-FFF2-40B4-BE49-F238E27FC236}">
                <a16:creationId xmlns:a16="http://schemas.microsoft.com/office/drawing/2014/main" id="{21C7B818-150B-4EA4-8385-8802989B90FB}"/>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정보보안 업무총괄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F2C1918A-76A0-43F6-A4FC-9A2DC4456D40}"/>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550420285"/>
      </p:ext>
    </p:extLst>
  </p:cSld>
</p:sld>
</file>

<file path=ppt/slides/slide20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5B8C170-A338-4814-843A-1A4B45983E9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CCK 재사용·추가 개발·검수·기대효과</a:t>
            </a:r>
          </a:p>
        </p:txBody>
      </p:sp>
      <p:sp>
        <p:nvSpPr>
          <p:cNvPr id="2" name="">
            <a:extLst xmlns:a="http://schemas.openxmlformats.org/drawingml/2006/main">
              <a:ext uri="{FF2B5EF4-FFF2-40B4-BE49-F238E27FC236}">
                <a16:creationId xmlns:a16="http://schemas.microsoft.com/office/drawing/2014/main" id="{1B7C59B9-1C63-4BD5-96B2-7CCD4111D4D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5D55BB32-DB1A-4B7E-B5A2-CFC7BE6EC8C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B352408-00DF-448F-A9A4-D111A92150F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2E7966F-9312-4340-9FB3-4135F9BBA26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205</a:t>
            </a:r>
          </a:p>
        </p:txBody>
      </p:sp>
      <p:sp>
        <p:nvSpPr>
          <p:cNvPr id="6" name="">
            <a:extLst xmlns:a="http://schemas.openxmlformats.org/drawingml/2006/main">
              <a:ext uri="{FF2B5EF4-FFF2-40B4-BE49-F238E27FC236}">
                <a16:creationId xmlns:a16="http://schemas.microsoft.com/office/drawing/2014/main" id="{5D19566D-9671-4B01-BD7D-3B8773C931D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93BE8247-AC85-411D-A411-6E64C8EB6FEE}"/>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대화·검색·서식·스킬</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6DFE80FF-5BF1-439F-82FA-51500C3F2898}"/>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A8B1889-97B3-40E1-9B22-F0659088FF93}"/>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사람–조직–직무–업무 관계·효력일 모델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업무 분류기·검색 전 정책 집행 연결</a:t>
            </a:r>
          </a:p>
        </p:txBody>
      </p:sp>
      <p:sp>
        <p:nvSpPr>
          <p:cNvPr id="10" name="">
            <a:extLst xmlns:a="http://schemas.openxmlformats.org/drawingml/2006/main">
              <a:ext uri="{FF2B5EF4-FFF2-40B4-BE49-F238E27FC236}">
                <a16:creationId xmlns:a16="http://schemas.microsoft.com/office/drawing/2014/main" id="{3E867CE9-39D2-46DF-BDC0-94940E73CB58}"/>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AA8D7E94-2A5B-4C56-B2E2-0AF66CDC18AF}"/>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맥락 입력·부서 간 오인계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직무·업무 분류 정답 건수 ÷ 평가 건수 / 변경 전파 지연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 비인가 노출 건수</a:t>
            </a:r>
          </a:p>
        </p:txBody>
      </p:sp>
      <p:sp>
        <p:nvSpPr>
          <p:cNvPr id="12" name="">
            <a:extLst xmlns:a="http://schemas.openxmlformats.org/drawingml/2006/main">
              <a:ext uri="{FF2B5EF4-FFF2-40B4-BE49-F238E27FC236}">
                <a16:creationId xmlns:a16="http://schemas.microsoft.com/office/drawing/2014/main" id="{97BCEE3B-57FB-4B2C-BAF6-EAD505C56288}"/>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A37124B1-0FF4-4AC7-BD94-C7D57490A5C5}"/>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동명이인·겸직·전보·회수 전후 동일 요청</a:t>
            </a:r>
          </a:p>
        </p:txBody>
      </p:sp>
      <p:sp>
        <p:nvSpPr>
          <p:cNvPr id="14" name="">
            <a:extLst xmlns:a="http://schemas.openxmlformats.org/drawingml/2006/main">
              <a:ext uri="{FF2B5EF4-FFF2-40B4-BE49-F238E27FC236}">
                <a16:creationId xmlns:a16="http://schemas.microsoft.com/office/drawing/2014/main" id="{771F5104-ECEA-42B5-A813-0D737C766932}"/>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A7D57D6A-D74B-4D38-B723-BDB4BA8B66C4}"/>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정답 조직·업무·서식 일치, 모호한 식별 보류, 비인가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노출·실행 0건 기준안</a:t>
            </a:r>
          </a:p>
        </p:txBody>
      </p:sp>
      <p:sp>
        <p:nvSpPr>
          <p:cNvPr id="16" name="">
            <a:extLst xmlns:a="http://schemas.openxmlformats.org/drawingml/2006/main">
              <a:ext uri="{FF2B5EF4-FFF2-40B4-BE49-F238E27FC236}">
                <a16:creationId xmlns:a16="http://schemas.microsoft.com/office/drawing/2014/main" id="{3329E41B-3763-4746-A3FD-46D65A870A3C}"/>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C9401C8-FCF0-4F81-9C08-92C0F66915E4}"/>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 매핑 정답셋·교차권한 결과·변경 전파·복구 기록</a:t>
            </a:r>
          </a:p>
        </p:txBody>
      </p:sp>
      <p:sp>
        <p:nvSpPr>
          <p:cNvPr id="18" name="">
            <a:extLst xmlns:a="http://schemas.openxmlformats.org/drawingml/2006/main">
              <a:ext uri="{FF2B5EF4-FFF2-40B4-BE49-F238E27FC236}">
                <a16:creationId xmlns:a16="http://schemas.microsoft.com/office/drawing/2014/main" id="{4D9E160D-8C57-4D0B-835E-7E1528CE536B}"/>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BM-ST-04-R01 / BM-ST-04-T01</a:t>
            </a:r>
          </a:p>
        </p:txBody>
      </p:sp>
      <p:sp>
        <p:nvSpPr>
          <p:cNvPr id="19" name="">
            <a:extLst xmlns:a="http://schemas.openxmlformats.org/drawingml/2006/main">
              <a:ext uri="{FF2B5EF4-FFF2-40B4-BE49-F238E27FC236}">
                <a16:creationId xmlns:a16="http://schemas.microsoft.com/office/drawing/2014/main" id="{5278146F-8B56-452F-80E3-88EF835C9F64}"/>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604740484"/>
      </p:ext>
    </p:extLst>
  </p:cSld>
</p:sld>
</file>

<file path=ppt/slides/slide20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573B669-FBE2-4FE7-8482-93EB906F3E9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12대 전략 / 공통 기반 인수 후 업무 특화</a:t>
            </a:r>
          </a:p>
        </p:txBody>
      </p:sp>
      <p:sp>
        <p:nvSpPr>
          <p:cNvPr id="2" name="">
            <a:extLst xmlns:a="http://schemas.openxmlformats.org/drawingml/2006/main">
              <a:ext uri="{FF2B5EF4-FFF2-40B4-BE49-F238E27FC236}">
                <a16:creationId xmlns:a16="http://schemas.microsoft.com/office/drawing/2014/main" id="{872B1D66-886E-4B23-AE4E-ED1817C1DA8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부서별 후속 적용의 연결</a:t>
            </a:r>
          </a:p>
        </p:txBody>
      </p:sp>
      <p:sp>
        <p:nvSpPr>
          <p:cNvPr id="3" name="">
            <a:extLst xmlns:a="http://schemas.openxmlformats.org/drawingml/2006/main">
              <a:ext uri="{FF2B5EF4-FFF2-40B4-BE49-F238E27FC236}">
                <a16:creationId xmlns:a16="http://schemas.microsoft.com/office/drawing/2014/main" id="{E90722B0-606F-4361-9B18-B3B021693EC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6A2CE9D-4C50-4062-85E6-3047C0EC71A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26C2F8D-855C-41E9-8AC7-B6C695EAF25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206</a:t>
            </a:r>
          </a:p>
        </p:txBody>
      </p:sp>
      <p:sp>
        <p:nvSpPr>
          <p:cNvPr id="6" name="">
            <a:extLst xmlns:a="http://schemas.openxmlformats.org/drawingml/2006/main">
              <a:ext uri="{FF2B5EF4-FFF2-40B4-BE49-F238E27FC236}">
                <a16:creationId xmlns:a16="http://schemas.microsoft.com/office/drawing/2014/main" id="{DDCF9AEE-00DA-4286-B1B2-47317B14A7D3}"/>
              </a:ext>
            </a:extLst>
          </p:cNvPr>
          <p:cNvSpPr>
            <a:spLocks xmlns:a="http://schemas.openxmlformats.org/drawingml/2006/main" noGrp="1"/>
          </p:cNvSpPr>
          <p:nvPr/>
        </p:nvSpPr>
        <p:spPr>
          <a:xfrm xmlns:a="http://schemas.openxmlformats.org/drawingml/2006/main">
            <a:off x="571500" y="1857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ST-01 지역·취약계층 안전조치 근거 지원</a:t>
            </a:r>
          </a:p>
        </p:txBody>
      </p:sp>
      <p:sp>
        <p:nvSpPr>
          <p:cNvPr id="7" name="">
            <a:extLst xmlns:a="http://schemas.openxmlformats.org/drawingml/2006/main">
              <a:ext uri="{FF2B5EF4-FFF2-40B4-BE49-F238E27FC236}">
                <a16:creationId xmlns:a16="http://schemas.microsoft.com/office/drawing/2014/main" id="{AA1E504C-16B9-4021-9B28-5BBF7BD7E070}"/>
              </a:ext>
            </a:extLst>
          </p:cNvPr>
          <p:cNvSpPr>
            <a:spLocks xmlns:a="http://schemas.openxmlformats.org/drawingml/2006/main" noGrp="1"/>
          </p:cNvSpPr>
          <p:nvPr/>
        </p:nvSpPr>
        <p:spPr>
          <a:xfrm xmlns:a="http://schemas.openxmlformats.org/drawingml/2006/main">
            <a:off x="571500" y="2524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ST-02 검사·소비자 권익 검토 지원</a:t>
            </a:r>
          </a:p>
        </p:txBody>
      </p:sp>
      <p:sp>
        <p:nvSpPr>
          <p:cNvPr id="8" name="">
            <a:extLst xmlns:a="http://schemas.openxmlformats.org/drawingml/2006/main">
              <a:ext uri="{FF2B5EF4-FFF2-40B4-BE49-F238E27FC236}">
                <a16:creationId xmlns:a16="http://schemas.microsoft.com/office/drawing/2014/main" id="{A0C34FF6-81E6-45BD-9759-A77C0F50A9B6}"/>
              </a:ext>
            </a:extLst>
          </p:cNvPr>
          <p:cNvSpPr>
            <a:spLocks xmlns:a="http://schemas.openxmlformats.org/drawingml/2006/main" noGrp="1"/>
          </p:cNvSpPr>
          <p:nvPr/>
        </p:nvSpPr>
        <p:spPr>
          <a:xfrm xmlns:a="http://schemas.openxmlformats.org/drawingml/2006/main">
            <a:off x="571500" y="31908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ST-03 중대사고 예방·보고 완전성</a:t>
            </a:r>
          </a:p>
        </p:txBody>
      </p:sp>
      <p:sp>
        <p:nvSpPr>
          <p:cNvPr id="9" name="">
            <a:extLst xmlns:a="http://schemas.openxmlformats.org/drawingml/2006/main">
              <a:ext uri="{FF2B5EF4-FFF2-40B4-BE49-F238E27FC236}">
                <a16:creationId xmlns:a16="http://schemas.microsoft.com/office/drawing/2014/main" id="{1F2EF338-AF4E-473A-8954-DD8E31169709}"/>
              </a:ext>
            </a:extLst>
          </p:cNvPr>
          <p:cNvSpPr>
            <a:spLocks xmlns:a="http://schemas.openxmlformats.org/drawingml/2006/main" noGrp="1"/>
          </p:cNvSpPr>
          <p:nvPr/>
        </p:nvSpPr>
        <p:spPr>
          <a:xfrm xmlns:a="http://schemas.openxmlformats.org/drawingml/2006/main">
            <a:off x="571500" y="38576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ST-04 조직 네이티브 공통 기반</a:t>
            </a:r>
          </a:p>
        </p:txBody>
      </p:sp>
      <p:sp>
        <p:nvSpPr>
          <p:cNvPr id="10" name="">
            <a:extLst xmlns:a="http://schemas.openxmlformats.org/drawingml/2006/main">
              <a:ext uri="{FF2B5EF4-FFF2-40B4-BE49-F238E27FC236}">
                <a16:creationId xmlns:a16="http://schemas.microsoft.com/office/drawing/2014/main" id="{FD11F50C-A740-4AEB-A29B-A66DF7E1F0EF}"/>
              </a:ext>
            </a:extLst>
          </p:cNvPr>
          <p:cNvSpPr>
            <a:spLocks xmlns:a="http://schemas.openxmlformats.org/drawingml/2006/main" noGrp="1"/>
          </p:cNvSpPr>
          <p:nvPr/>
        </p:nvSpPr>
        <p:spPr>
          <a:xfrm xmlns:a="http://schemas.openxmlformats.org/drawingml/2006/main">
            <a:off x="571500" y="4524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ST-05 모빌리티 실증 증거·안전 검증</a:t>
            </a:r>
          </a:p>
        </p:txBody>
      </p:sp>
      <p:sp>
        <p:nvSpPr>
          <p:cNvPr id="11" name="">
            <a:extLst xmlns:a="http://schemas.openxmlformats.org/drawingml/2006/main">
              <a:ext uri="{FF2B5EF4-FFF2-40B4-BE49-F238E27FC236}">
                <a16:creationId xmlns:a16="http://schemas.microsoft.com/office/drawing/2014/main" id="{9E7EBBDB-552E-4D71-A353-C54886CED200}"/>
              </a:ext>
            </a:extLst>
          </p:cNvPr>
          <p:cNvSpPr>
            <a:spLocks xmlns:a="http://schemas.openxmlformats.org/drawingml/2006/main" noGrp="1"/>
          </p:cNvSpPr>
          <p:nvPr/>
        </p:nvSpPr>
        <p:spPr>
          <a:xfrm xmlns:a="http://schemas.openxmlformats.org/drawingml/2006/main">
            <a:off x="5715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ST-06 친환경 운행·탄소 검증 지원</a:t>
            </a:r>
          </a:p>
        </p:txBody>
      </p:sp>
      <p:sp>
        <p:nvSpPr>
          <p:cNvPr id="12" name="">
            <a:extLst xmlns:a="http://schemas.openxmlformats.org/drawingml/2006/main">
              <a:ext uri="{FF2B5EF4-FFF2-40B4-BE49-F238E27FC236}">
                <a16:creationId xmlns:a16="http://schemas.microsoft.com/office/drawing/2014/main" id="{FE092B60-3A68-4DDC-AA50-A4BA9DB00097}"/>
              </a:ext>
            </a:extLst>
          </p:cNvPr>
          <p:cNvSpPr>
            <a:spLocks xmlns:a="http://schemas.openxmlformats.org/drawingml/2006/main" noGrp="1"/>
          </p:cNvSpPr>
          <p:nvPr/>
        </p:nvSpPr>
        <p:spPr>
          <a:xfrm xmlns:a="http://schemas.openxmlformats.org/drawingml/2006/main">
            <a:off x="6286500" y="1857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ST-07 교통데이터 제공·연계 지원</a:t>
            </a:r>
          </a:p>
        </p:txBody>
      </p:sp>
      <p:sp>
        <p:nvSpPr>
          <p:cNvPr id="13" name="">
            <a:extLst xmlns:a="http://schemas.openxmlformats.org/drawingml/2006/main">
              <a:ext uri="{FF2B5EF4-FFF2-40B4-BE49-F238E27FC236}">
                <a16:creationId xmlns:a16="http://schemas.microsoft.com/office/drawing/2014/main" id="{FB8460C3-3256-4697-9156-F54F28007A6A}"/>
              </a:ext>
            </a:extLst>
          </p:cNvPr>
          <p:cNvSpPr>
            <a:spLocks xmlns:a="http://schemas.openxmlformats.org/drawingml/2006/main" noGrp="1"/>
          </p:cNvSpPr>
          <p:nvPr/>
        </p:nvSpPr>
        <p:spPr>
          <a:xfrm xmlns:a="http://schemas.openxmlformats.org/drawingml/2006/main">
            <a:off x="6286500" y="2524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ST-08 자연어·음성 이동 서비스 접점</a:t>
            </a:r>
          </a:p>
        </p:txBody>
      </p:sp>
      <p:sp>
        <p:nvSpPr>
          <p:cNvPr id="14" name="">
            <a:extLst xmlns:a="http://schemas.openxmlformats.org/drawingml/2006/main">
              <a:ext uri="{FF2B5EF4-FFF2-40B4-BE49-F238E27FC236}">
                <a16:creationId xmlns:a16="http://schemas.microsoft.com/office/drawing/2014/main" id="{F6986E96-9E0F-49BA-BCCF-5B4992C8CCB3}"/>
              </a:ext>
            </a:extLst>
          </p:cNvPr>
          <p:cNvSpPr>
            <a:spLocks xmlns:a="http://schemas.openxmlformats.org/drawingml/2006/main" noGrp="1"/>
          </p:cNvSpPr>
          <p:nvPr/>
        </p:nvSpPr>
        <p:spPr>
          <a:xfrm xmlns:a="http://schemas.openxmlformats.org/drawingml/2006/main">
            <a:off x="6286500" y="31908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ST-09 지역·산업 지원 검토 근거</a:t>
            </a:r>
          </a:p>
        </p:txBody>
      </p:sp>
      <p:sp>
        <p:nvSpPr>
          <p:cNvPr id="15" name="">
            <a:extLst xmlns:a="http://schemas.openxmlformats.org/drawingml/2006/main">
              <a:ext uri="{FF2B5EF4-FFF2-40B4-BE49-F238E27FC236}">
                <a16:creationId xmlns:a16="http://schemas.microsoft.com/office/drawing/2014/main" id="{3591B51E-AF29-47E3-8961-1EDA8046D273}"/>
              </a:ext>
            </a:extLst>
          </p:cNvPr>
          <p:cNvSpPr>
            <a:spLocks xmlns:a="http://schemas.openxmlformats.org/drawingml/2006/main" noGrp="1"/>
          </p:cNvSpPr>
          <p:nvPr/>
        </p:nvSpPr>
        <p:spPr>
          <a:xfrm xmlns:a="http://schemas.openxmlformats.org/drawingml/2006/main">
            <a:off x="6286500" y="38576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ST-10 성과·경영 문서 검토 지원</a:t>
            </a:r>
          </a:p>
        </p:txBody>
      </p:sp>
      <p:sp>
        <p:nvSpPr>
          <p:cNvPr id="16" name="">
            <a:extLst xmlns:a="http://schemas.openxmlformats.org/drawingml/2006/main">
              <a:ext uri="{FF2B5EF4-FFF2-40B4-BE49-F238E27FC236}">
                <a16:creationId xmlns:a16="http://schemas.microsoft.com/office/drawing/2014/main" id="{E85450AD-4936-412B-A45D-267778E18B04}"/>
              </a:ext>
            </a:extLst>
          </p:cNvPr>
          <p:cNvSpPr>
            <a:spLocks xmlns:a="http://schemas.openxmlformats.org/drawingml/2006/main" noGrp="1"/>
          </p:cNvSpPr>
          <p:nvPr/>
        </p:nvSpPr>
        <p:spPr>
          <a:xfrm xmlns:a="http://schemas.openxmlformats.org/drawingml/2006/main">
            <a:off x="6286500" y="4524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ST-11 ESG 증빙·공시 검토 지원</a:t>
            </a:r>
          </a:p>
        </p:txBody>
      </p:sp>
      <p:sp>
        <p:nvSpPr>
          <p:cNvPr id="17" name="">
            <a:extLst xmlns:a="http://schemas.openxmlformats.org/drawingml/2006/main">
              <a:ext uri="{FF2B5EF4-FFF2-40B4-BE49-F238E27FC236}">
                <a16:creationId xmlns:a16="http://schemas.microsoft.com/office/drawing/2014/main" id="{22D9DD30-5401-49A6-9096-91DB8EC0AFB3}"/>
              </a:ext>
            </a:extLst>
          </p:cNvPr>
          <p:cNvSpPr>
            <a:spLocks xmlns:a="http://schemas.openxmlformats.org/drawingml/2006/main" noGrp="1"/>
          </p:cNvSpPr>
          <p:nvPr/>
        </p:nvSpPr>
        <p:spPr>
          <a:xfrm xmlns:a="http://schemas.openxmlformats.org/drawingml/2006/main">
            <a:off x="62865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ST-12 조직 협업·참여·공정성 지원</a:t>
            </a:r>
          </a:p>
        </p:txBody>
      </p:sp>
    </p:spTree>
    <p:extLst>
      <p:ext uri="{BB962C8B-B14F-4D97-AF65-F5344CB8AC3E}">
        <p14:creationId xmlns:p14="http://schemas.microsoft.com/office/powerpoint/2010/main" val="12420842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2026-10-19T04:09:13.1960000Z</dcterms:created>
  <dcterms:modified xsi:type="dcterms:W3CDTF">2026-10-19T04:09:13.1960000Z</dcterms:modified>
</coreProperties>
</file>